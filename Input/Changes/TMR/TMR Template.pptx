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drawings/drawing1.xml" ContentType="application/vnd.openxmlformats-officedocument.drawingml.chartshapes+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theme/themeOverride1.xml" ContentType="application/vnd.openxmlformats-officedocument.themeOverr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drawings/drawing2.xml" ContentType="application/vnd.openxmlformats-officedocument.drawingml.chartshapes+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drawings/drawing3.xml" ContentType="application/vnd.openxmlformats-officedocument.drawingml.chartshapes+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19.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20.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1.xml" ContentType="application/vnd.openxmlformats-officedocument.drawingml.chart+xml"/>
  <Override PartName="/ppt/charts/style21.xml" ContentType="application/vnd.ms-office.chartstyle+xml"/>
  <Override PartName="/ppt/charts/colors21.xml" ContentType="application/vnd.ms-office.chartcolorstyle+xml"/>
  <Override PartName="/ppt/drawings/drawing4.xml" ContentType="application/vnd.openxmlformats-officedocument.drawingml.chartshapes+xml"/>
  <Override PartName="/ppt/charts/chart22.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23.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24.xml" ContentType="application/vnd.openxmlformats-officedocument.drawingml.chart+xml"/>
  <Override PartName="/ppt/charts/style24.xml" ContentType="application/vnd.ms-office.chartstyle+xml"/>
  <Override PartName="/ppt/charts/colors24.xml" ContentType="application/vnd.ms-office.chartcolorstyle+xml"/>
  <Override PartName="/ppt/drawings/drawing5.xml" ContentType="application/vnd.openxmlformats-officedocument.drawingml.chartshapes+xml"/>
  <Override PartName="/ppt/charts/chart25.xml" ContentType="application/vnd.openxmlformats-officedocument.drawingml.chart+xml"/>
  <Override PartName="/ppt/charts/style25.xml" ContentType="application/vnd.ms-office.chartstyle+xml"/>
  <Override PartName="/ppt/charts/colors25.xml" ContentType="application/vnd.ms-office.chartcolorstyle+xml"/>
  <Override PartName="/ppt/drawings/drawing6.xml" ContentType="application/vnd.openxmlformats-officedocument.drawingml.chartshapes+xml"/>
  <Override PartName="/ppt/charts/chart26.xml" ContentType="application/vnd.openxmlformats-officedocument.drawingml.chart+xml"/>
  <Override PartName="/ppt/charts/style26.xml" ContentType="application/vnd.ms-office.chartstyle+xml"/>
  <Override PartName="/ppt/charts/colors26.xml" ContentType="application/vnd.ms-office.chartcolorstyl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charts/chart27.xml" ContentType="application/vnd.openxmlformats-officedocument.drawingml.chart+xml"/>
  <Override PartName="/ppt/charts/style27.xml" ContentType="application/vnd.ms-office.chartstyle+xml"/>
  <Override PartName="/ppt/charts/colors27.xml" ContentType="application/vnd.ms-office.chartcolorstyle+xml"/>
  <Override PartName="/ppt/drawings/drawing7.xml" ContentType="application/vnd.openxmlformats-officedocument.drawingml.chartshapes+xml"/>
  <Override PartName="/ppt/charts/chart28.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29.xml" ContentType="application/vnd.openxmlformats-officedocument.drawingml.chart+xml"/>
  <Override PartName="/ppt/charts/style29.xml" ContentType="application/vnd.ms-office.chartstyle+xml"/>
  <Override PartName="/ppt/charts/colors29.xml" ContentType="application/vnd.ms-office.chartcolorstyle+xml"/>
  <Override PartName="/ppt/drawings/drawing8.xml" ContentType="application/vnd.openxmlformats-officedocument.drawingml.chartshapes+xml"/>
  <Override PartName="/ppt/charts/chart30.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31.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32.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33.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34.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35.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36.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37.xml" ContentType="application/vnd.openxmlformats-officedocument.drawingml.chart+xml"/>
  <Override PartName="/ppt/charts/style37.xml" ContentType="application/vnd.ms-office.chartstyle+xml"/>
  <Override PartName="/ppt/charts/colors37.xml" ContentType="application/vnd.ms-office.chartcolorstyle+xml"/>
  <Override PartName="/ppt/theme/themeOverride2.xml" ContentType="application/vnd.openxmlformats-officedocument.themeOverr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comments/modernComment_3BC_E3329BA9.xml" ContentType="application/vnd.ms-powerpoint.comments+xml"/>
  <Override PartName="/ppt/charts/chart38.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39.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40.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41.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42.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43.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44.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45.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46.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47.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48.xml" ContentType="application/vnd.openxmlformats-officedocument.drawingml.chart+xml"/>
  <Override PartName="/ppt/charts/style48.xml" ContentType="application/vnd.ms-office.chartstyle+xml"/>
  <Override PartName="/ppt/charts/colors48.xml" ContentType="application/vnd.ms-office.chartcolorstyle+xml"/>
  <Override PartName="/ppt/comments/modernComment_3BD_BA0FB856.xml" ContentType="application/vnd.ms-powerpoint.comments+xml"/>
  <Override PartName="/ppt/charts/chart49.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50.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51.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52.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53.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54.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55.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56.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57.xml" ContentType="application/vnd.openxmlformats-officedocument.drawingml.chart+xml"/>
  <Override PartName="/ppt/charts/style57.xml" ContentType="application/vnd.ms-office.chartstyle+xml"/>
  <Override PartName="/ppt/charts/colors57.xml" ContentType="application/vnd.ms-office.chartcolorstyl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rts/chart58.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59.xml" ContentType="application/vnd.openxmlformats-officedocument.drawingml.chart+xml"/>
  <Override PartName="/ppt/charts/chart60.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61.xml" ContentType="application/vnd.openxmlformats-officedocument.drawingml.chart+xml"/>
  <Override PartName="/ppt/charts/style60.xml" ContentType="application/vnd.ms-office.chartstyle+xml"/>
  <Override PartName="/ppt/charts/colors60.xml" ContentType="application/vnd.ms-office.chartcolorstyle+xml"/>
  <Override PartName="/ppt/theme/themeOverride3.xml" ContentType="application/vnd.openxmlformats-officedocument.themeOverride+xml"/>
  <Override PartName="/ppt/charts/chart62.xml" ContentType="application/vnd.openxmlformats-officedocument.drawingml.chart+xml"/>
  <Override PartName="/ppt/charts/style61.xml" ContentType="application/vnd.ms-office.chartstyle+xml"/>
  <Override PartName="/ppt/charts/colors61.xml" ContentType="application/vnd.ms-office.chartcolorstyle+xml"/>
  <Override PartName="/ppt/theme/themeOverride4.xml" ContentType="application/vnd.openxmlformats-officedocument.themeOverride+xml"/>
  <Override PartName="/ppt/charts/chart63.xml" ContentType="application/vnd.openxmlformats-officedocument.drawingml.chart+xml"/>
  <Override PartName="/ppt/charts/style62.xml" ContentType="application/vnd.ms-office.chartstyle+xml"/>
  <Override PartName="/ppt/charts/colors62.xml" ContentType="application/vnd.ms-office.chartcolorstyle+xml"/>
  <Override PartName="/ppt/theme/themeOverride5.xml" ContentType="application/vnd.openxmlformats-officedocument.themeOverride+xml"/>
  <Override PartName="/ppt/charts/chart64.xml" ContentType="application/vnd.openxmlformats-officedocument.drawingml.chart+xml"/>
  <Override PartName="/ppt/charts/style63.xml" ContentType="application/vnd.ms-office.chartstyle+xml"/>
  <Override PartName="/ppt/charts/colors63.xml" ContentType="application/vnd.ms-office.chartcolorstyle+xml"/>
  <Override PartName="/ppt/theme/themeOverride6.xml" ContentType="application/vnd.openxmlformats-officedocument.themeOverride+xml"/>
  <Override PartName="/ppt/charts/chart65.xml" ContentType="application/vnd.openxmlformats-officedocument.drawingml.chart+xml"/>
  <Override PartName="/ppt/charts/style64.xml" ContentType="application/vnd.ms-office.chartstyle+xml"/>
  <Override PartName="/ppt/charts/colors64.xml" ContentType="application/vnd.ms-office.chartcolorstyle+xml"/>
  <Override PartName="/ppt/theme/themeOverride7.xml" ContentType="application/vnd.openxmlformats-officedocument.themeOverride+xml"/>
  <Override PartName="/ppt/charts/chart66.xml" ContentType="application/vnd.openxmlformats-officedocument.drawingml.chart+xml"/>
  <Override PartName="/ppt/charts/style65.xml" ContentType="application/vnd.ms-office.chartstyle+xml"/>
  <Override PartName="/ppt/charts/colors65.xml" ContentType="application/vnd.ms-office.chartcolorstyle+xml"/>
  <Override PartName="/ppt/theme/themeOverride8.xml" ContentType="application/vnd.openxmlformats-officedocument.themeOverride+xml"/>
  <Override PartName="/ppt/charts/chart67.xml" ContentType="application/vnd.openxmlformats-officedocument.drawingml.chart+xml"/>
  <Override PartName="/ppt/charts/style66.xml" ContentType="application/vnd.ms-office.chartstyle+xml"/>
  <Override PartName="/ppt/charts/colors66.xml" ContentType="application/vnd.ms-office.chartcolorstyle+xml"/>
  <Override PartName="/ppt/theme/themeOverride9.xml" ContentType="application/vnd.openxmlformats-officedocument.themeOverride+xml"/>
  <Override PartName="/ppt/charts/chart68.xml" ContentType="application/vnd.openxmlformats-officedocument.drawingml.chart+xml"/>
  <Override PartName="/ppt/charts/style67.xml" ContentType="application/vnd.ms-office.chartstyle+xml"/>
  <Override PartName="/ppt/charts/colors67.xml" ContentType="application/vnd.ms-office.chartcolorstyle+xml"/>
  <Override PartName="/ppt/theme/themeOverride10.xml" ContentType="application/vnd.openxmlformats-officedocument.themeOverr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charts/chart69.xml" ContentType="application/vnd.openxmlformats-officedocument.drawingml.chart+xml"/>
  <Override PartName="/ppt/charts/style68.xml" ContentType="application/vnd.ms-office.chartstyle+xml"/>
  <Override PartName="/ppt/charts/colors68.xml" ContentType="application/vnd.ms-office.chartcolorstyle+xml"/>
  <Override PartName="/ppt/charts/chart70.xml" ContentType="application/vnd.openxmlformats-officedocument.drawingml.chart+xml"/>
  <Override PartName="/ppt/charts/chart71.xml" ContentType="application/vnd.openxmlformats-officedocument.drawingml.chart+xml"/>
  <Override PartName="/ppt/charts/style69.xml" ContentType="application/vnd.ms-office.chartstyle+xml"/>
  <Override PartName="/ppt/charts/colors69.xml" ContentType="application/vnd.ms-office.chartcolorstyle+xml"/>
  <Override PartName="/ppt/charts/chart72.xml" ContentType="application/vnd.openxmlformats-officedocument.drawingml.chart+xml"/>
  <Override PartName="/ppt/charts/style70.xml" ContentType="application/vnd.ms-office.chartstyle+xml"/>
  <Override PartName="/ppt/charts/colors70.xml" ContentType="application/vnd.ms-office.chartcolorstyle+xml"/>
  <Override PartName="/ppt/theme/themeOverride11.xml" ContentType="application/vnd.openxmlformats-officedocument.themeOverride+xml"/>
  <Override PartName="/ppt/charts/chart73.xml" ContentType="application/vnd.openxmlformats-officedocument.drawingml.chart+xml"/>
  <Override PartName="/ppt/charts/style71.xml" ContentType="application/vnd.ms-office.chartstyle+xml"/>
  <Override PartName="/ppt/charts/colors71.xml" ContentType="application/vnd.ms-office.chartcolorstyle+xml"/>
  <Override PartName="/ppt/theme/themeOverride12.xml" ContentType="application/vnd.openxmlformats-officedocument.themeOverride+xml"/>
  <Override PartName="/ppt/charts/chart74.xml" ContentType="application/vnd.openxmlformats-officedocument.drawingml.chart+xml"/>
  <Override PartName="/ppt/charts/style72.xml" ContentType="application/vnd.ms-office.chartstyle+xml"/>
  <Override PartName="/ppt/charts/colors72.xml" ContentType="application/vnd.ms-office.chartcolorstyle+xml"/>
  <Override PartName="/ppt/theme/themeOverride13.xml" ContentType="application/vnd.openxmlformats-officedocument.themeOverride+xml"/>
  <Override PartName="/ppt/charts/chart75.xml" ContentType="application/vnd.openxmlformats-officedocument.drawingml.chart+xml"/>
  <Override PartName="/ppt/charts/style73.xml" ContentType="application/vnd.ms-office.chartstyle+xml"/>
  <Override PartName="/ppt/charts/colors73.xml" ContentType="application/vnd.ms-office.chartcolorstyle+xml"/>
  <Override PartName="/ppt/theme/themeOverride14.xml" ContentType="application/vnd.openxmlformats-officedocument.themeOverride+xml"/>
  <Override PartName="/ppt/charts/chart76.xml" ContentType="application/vnd.openxmlformats-officedocument.drawingml.chart+xml"/>
  <Override PartName="/ppt/charts/style74.xml" ContentType="application/vnd.ms-office.chartstyle+xml"/>
  <Override PartName="/ppt/charts/colors74.xml" ContentType="application/vnd.ms-office.chartcolorstyle+xml"/>
  <Override PartName="/ppt/theme/themeOverride15.xml" ContentType="application/vnd.openxmlformats-officedocument.themeOverride+xml"/>
  <Override PartName="/ppt/charts/chart77.xml" ContentType="application/vnd.openxmlformats-officedocument.drawingml.chart+xml"/>
  <Override PartName="/ppt/charts/style75.xml" ContentType="application/vnd.ms-office.chartstyle+xml"/>
  <Override PartName="/ppt/charts/colors75.xml" ContentType="application/vnd.ms-office.chartcolorstyle+xml"/>
  <Override PartName="/ppt/theme/themeOverride16.xml" ContentType="application/vnd.openxmlformats-officedocument.themeOverride+xml"/>
  <Override PartName="/ppt/charts/chart78.xml" ContentType="application/vnd.openxmlformats-officedocument.drawingml.chart+xml"/>
  <Override PartName="/ppt/charts/style76.xml" ContentType="application/vnd.ms-office.chartstyle+xml"/>
  <Override PartName="/ppt/charts/colors76.xml" ContentType="application/vnd.ms-office.chartcolorstyle+xml"/>
  <Override PartName="/ppt/theme/themeOverride17.xml" ContentType="application/vnd.openxmlformats-officedocument.themeOverride+xml"/>
  <Override PartName="/ppt/charts/chart79.xml" ContentType="application/vnd.openxmlformats-officedocument.drawingml.chart+xml"/>
  <Override PartName="/ppt/charts/style77.xml" ContentType="application/vnd.ms-office.chartstyle+xml"/>
  <Override PartName="/ppt/charts/colors77.xml" ContentType="application/vnd.ms-office.chartcolorstyle+xml"/>
  <Override PartName="/ppt/theme/themeOverride18.xml" ContentType="application/vnd.openxmlformats-officedocument.themeOverr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charts/chart80.xml" ContentType="application/vnd.openxmlformats-officedocument.drawingml.chart+xml"/>
  <Override PartName="/ppt/charts/style78.xml" ContentType="application/vnd.ms-office.chartstyle+xml"/>
  <Override PartName="/ppt/charts/colors78.xml" ContentType="application/vnd.ms-office.chartcolorstyle+xml"/>
  <Override PartName="/ppt/charts/chart81.xml" ContentType="application/vnd.openxmlformats-officedocument.drawingml.chart+xml"/>
  <Override PartName="/ppt/charts/chart82.xml" ContentType="application/vnd.openxmlformats-officedocument.drawingml.chart+xml"/>
  <Override PartName="/ppt/charts/style79.xml" ContentType="application/vnd.ms-office.chartstyle+xml"/>
  <Override PartName="/ppt/charts/colors79.xml" ContentType="application/vnd.ms-office.chartcolorstyle+xml"/>
  <Override PartName="/ppt/charts/chart83.xml" ContentType="application/vnd.openxmlformats-officedocument.drawingml.chart+xml"/>
  <Override PartName="/ppt/charts/style80.xml" ContentType="application/vnd.ms-office.chartstyle+xml"/>
  <Override PartName="/ppt/charts/colors80.xml" ContentType="application/vnd.ms-office.chartcolorstyle+xml"/>
  <Override PartName="/ppt/theme/themeOverride19.xml" ContentType="application/vnd.openxmlformats-officedocument.themeOverride+xml"/>
  <Override PartName="/ppt/charts/chart84.xml" ContentType="application/vnd.openxmlformats-officedocument.drawingml.chart+xml"/>
  <Override PartName="/ppt/charts/style81.xml" ContentType="application/vnd.ms-office.chartstyle+xml"/>
  <Override PartName="/ppt/charts/colors81.xml" ContentType="application/vnd.ms-office.chartcolorstyle+xml"/>
  <Override PartName="/ppt/theme/themeOverride20.xml" ContentType="application/vnd.openxmlformats-officedocument.themeOverride+xml"/>
  <Override PartName="/ppt/charts/chart85.xml" ContentType="application/vnd.openxmlformats-officedocument.drawingml.chart+xml"/>
  <Override PartName="/ppt/charts/style82.xml" ContentType="application/vnd.ms-office.chartstyle+xml"/>
  <Override PartName="/ppt/charts/colors82.xml" ContentType="application/vnd.ms-office.chartcolorstyle+xml"/>
  <Override PartName="/ppt/theme/themeOverride21.xml" ContentType="application/vnd.openxmlformats-officedocument.themeOverride+xml"/>
  <Override PartName="/ppt/charts/chart86.xml" ContentType="application/vnd.openxmlformats-officedocument.drawingml.chart+xml"/>
  <Override PartName="/ppt/charts/style83.xml" ContentType="application/vnd.ms-office.chartstyle+xml"/>
  <Override PartName="/ppt/charts/colors83.xml" ContentType="application/vnd.ms-office.chartcolorstyle+xml"/>
  <Override PartName="/ppt/theme/themeOverride22.xml" ContentType="application/vnd.openxmlformats-officedocument.themeOverride+xml"/>
  <Override PartName="/ppt/charts/chart87.xml" ContentType="application/vnd.openxmlformats-officedocument.drawingml.chart+xml"/>
  <Override PartName="/ppt/charts/style84.xml" ContentType="application/vnd.ms-office.chartstyle+xml"/>
  <Override PartName="/ppt/charts/colors84.xml" ContentType="application/vnd.ms-office.chartcolorstyle+xml"/>
  <Override PartName="/ppt/theme/themeOverride23.xml" ContentType="application/vnd.openxmlformats-officedocument.themeOverride+xml"/>
  <Override PartName="/ppt/charts/chart88.xml" ContentType="application/vnd.openxmlformats-officedocument.drawingml.chart+xml"/>
  <Override PartName="/ppt/charts/style85.xml" ContentType="application/vnd.ms-office.chartstyle+xml"/>
  <Override PartName="/ppt/charts/colors85.xml" ContentType="application/vnd.ms-office.chartcolorstyle+xml"/>
  <Override PartName="/ppt/theme/themeOverride24.xml" ContentType="application/vnd.openxmlformats-officedocument.themeOverride+xml"/>
  <Override PartName="/ppt/charts/chart89.xml" ContentType="application/vnd.openxmlformats-officedocument.drawingml.chart+xml"/>
  <Override PartName="/ppt/charts/style86.xml" ContentType="application/vnd.ms-office.chartstyle+xml"/>
  <Override PartName="/ppt/charts/colors86.xml" ContentType="application/vnd.ms-office.chartcolorstyle+xml"/>
  <Override PartName="/ppt/theme/themeOverride25.xml" ContentType="application/vnd.openxmlformats-officedocument.themeOverride+xml"/>
  <Override PartName="/ppt/charts/chart90.xml" ContentType="application/vnd.openxmlformats-officedocument.drawingml.chart+xml"/>
  <Override PartName="/ppt/charts/style87.xml" ContentType="application/vnd.ms-office.chartstyle+xml"/>
  <Override PartName="/ppt/charts/colors87.xml" ContentType="application/vnd.ms-office.chartcolorstyle+xml"/>
  <Override PartName="/ppt/theme/themeOverride26.xml" ContentType="application/vnd.openxmlformats-officedocument.themeOverr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charts/chart91.xml" ContentType="application/vnd.openxmlformats-officedocument.drawingml.chart+xml"/>
  <Override PartName="/ppt/charts/style88.xml" ContentType="application/vnd.ms-office.chartstyle+xml"/>
  <Override PartName="/ppt/charts/colors88.xml" ContentType="application/vnd.ms-office.chartcolorstyle+xml"/>
  <Override PartName="/ppt/charts/chart92.xml" ContentType="application/vnd.openxmlformats-officedocument.drawingml.chart+xml"/>
  <Override PartName="/ppt/charts/chart93.xml" ContentType="application/vnd.openxmlformats-officedocument.drawingml.chart+xml"/>
  <Override PartName="/ppt/charts/style89.xml" ContentType="application/vnd.ms-office.chartstyle+xml"/>
  <Override PartName="/ppt/charts/colors89.xml" ContentType="application/vnd.ms-office.chartcolorstyle+xml"/>
  <Override PartName="/ppt/charts/chart94.xml" ContentType="application/vnd.openxmlformats-officedocument.drawingml.chart+xml"/>
  <Override PartName="/ppt/charts/style90.xml" ContentType="application/vnd.ms-office.chartstyle+xml"/>
  <Override PartName="/ppt/charts/colors90.xml" ContentType="application/vnd.ms-office.chartcolorstyle+xml"/>
  <Override PartName="/ppt/theme/themeOverride27.xml" ContentType="application/vnd.openxmlformats-officedocument.themeOverride+xml"/>
  <Override PartName="/ppt/charts/chart95.xml" ContentType="application/vnd.openxmlformats-officedocument.drawingml.chart+xml"/>
  <Override PartName="/ppt/charts/style91.xml" ContentType="application/vnd.ms-office.chartstyle+xml"/>
  <Override PartName="/ppt/charts/colors91.xml" ContentType="application/vnd.ms-office.chartcolorstyle+xml"/>
  <Override PartName="/ppt/theme/themeOverride28.xml" ContentType="application/vnd.openxmlformats-officedocument.themeOverride+xml"/>
  <Override PartName="/ppt/charts/chart96.xml" ContentType="application/vnd.openxmlformats-officedocument.drawingml.chart+xml"/>
  <Override PartName="/ppt/charts/style92.xml" ContentType="application/vnd.ms-office.chartstyle+xml"/>
  <Override PartName="/ppt/charts/colors92.xml" ContentType="application/vnd.ms-office.chartcolorstyle+xml"/>
  <Override PartName="/ppt/theme/themeOverride29.xml" ContentType="application/vnd.openxmlformats-officedocument.themeOverride+xml"/>
  <Override PartName="/ppt/charts/chart97.xml" ContentType="application/vnd.openxmlformats-officedocument.drawingml.chart+xml"/>
  <Override PartName="/ppt/charts/style93.xml" ContentType="application/vnd.ms-office.chartstyle+xml"/>
  <Override PartName="/ppt/charts/colors93.xml" ContentType="application/vnd.ms-office.chartcolorstyle+xml"/>
  <Override PartName="/ppt/theme/themeOverride30.xml" ContentType="application/vnd.openxmlformats-officedocument.themeOverride+xml"/>
  <Override PartName="/ppt/charts/chart98.xml" ContentType="application/vnd.openxmlformats-officedocument.drawingml.chart+xml"/>
  <Override PartName="/ppt/charts/style94.xml" ContentType="application/vnd.ms-office.chartstyle+xml"/>
  <Override PartName="/ppt/charts/colors94.xml" ContentType="application/vnd.ms-office.chartcolorstyle+xml"/>
  <Override PartName="/ppt/theme/themeOverride31.xml" ContentType="application/vnd.openxmlformats-officedocument.themeOverride+xml"/>
  <Override PartName="/ppt/charts/chart99.xml" ContentType="application/vnd.openxmlformats-officedocument.drawingml.chart+xml"/>
  <Override PartName="/ppt/charts/style95.xml" ContentType="application/vnd.ms-office.chartstyle+xml"/>
  <Override PartName="/ppt/charts/colors95.xml" ContentType="application/vnd.ms-office.chartcolorstyle+xml"/>
  <Override PartName="/ppt/theme/themeOverride32.xml" ContentType="application/vnd.openxmlformats-officedocument.themeOverride+xml"/>
  <Override PartName="/ppt/charts/chart100.xml" ContentType="application/vnd.openxmlformats-officedocument.drawingml.chart+xml"/>
  <Override PartName="/ppt/charts/style96.xml" ContentType="application/vnd.ms-office.chartstyle+xml"/>
  <Override PartName="/ppt/charts/colors96.xml" ContentType="application/vnd.ms-office.chartcolorstyle+xml"/>
  <Override PartName="/ppt/theme/themeOverride33.xml" ContentType="application/vnd.openxmlformats-officedocument.themeOverride+xml"/>
  <Override PartName="/ppt/charts/chart101.xml" ContentType="application/vnd.openxmlformats-officedocument.drawingml.chart+xml"/>
  <Override PartName="/ppt/charts/style97.xml" ContentType="application/vnd.ms-office.chartstyle+xml"/>
  <Override PartName="/ppt/charts/colors97.xml" ContentType="application/vnd.ms-office.chartcolorstyle+xml"/>
  <Override PartName="/ppt/theme/themeOverride34.xml" ContentType="application/vnd.openxmlformats-officedocument.themeOverr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charts/chart102.xml" ContentType="application/vnd.openxmlformats-officedocument.drawingml.chart+xml"/>
  <Override PartName="/ppt/charts/style98.xml" ContentType="application/vnd.ms-office.chartstyle+xml"/>
  <Override PartName="/ppt/charts/colors98.xml" ContentType="application/vnd.ms-office.chartcolorstyle+xml"/>
  <Override PartName="/ppt/charts/chart103.xml" ContentType="application/vnd.openxmlformats-officedocument.drawingml.chart+xml"/>
  <Override PartName="/ppt/charts/chart104.xml" ContentType="application/vnd.openxmlformats-officedocument.drawingml.chart+xml"/>
  <Override PartName="/ppt/charts/style99.xml" ContentType="application/vnd.ms-office.chartstyle+xml"/>
  <Override PartName="/ppt/charts/colors99.xml" ContentType="application/vnd.ms-office.chartcolorstyle+xml"/>
  <Override PartName="/ppt/charts/chart105.xml" ContentType="application/vnd.openxmlformats-officedocument.drawingml.chart+xml"/>
  <Override PartName="/ppt/charts/style100.xml" ContentType="application/vnd.ms-office.chartstyle+xml"/>
  <Override PartName="/ppt/charts/colors100.xml" ContentType="application/vnd.ms-office.chartcolorstyle+xml"/>
  <Override PartName="/ppt/theme/themeOverride35.xml" ContentType="application/vnd.openxmlformats-officedocument.themeOverride+xml"/>
  <Override PartName="/ppt/charts/chart106.xml" ContentType="application/vnd.openxmlformats-officedocument.drawingml.chart+xml"/>
  <Override PartName="/ppt/charts/style101.xml" ContentType="application/vnd.ms-office.chartstyle+xml"/>
  <Override PartName="/ppt/charts/colors101.xml" ContentType="application/vnd.ms-office.chartcolorstyle+xml"/>
  <Override PartName="/ppt/theme/themeOverride36.xml" ContentType="application/vnd.openxmlformats-officedocument.themeOverride+xml"/>
  <Override PartName="/ppt/charts/chart107.xml" ContentType="application/vnd.openxmlformats-officedocument.drawingml.chart+xml"/>
  <Override PartName="/ppt/charts/style102.xml" ContentType="application/vnd.ms-office.chartstyle+xml"/>
  <Override PartName="/ppt/charts/colors102.xml" ContentType="application/vnd.ms-office.chartcolorstyle+xml"/>
  <Override PartName="/ppt/theme/themeOverride37.xml" ContentType="application/vnd.openxmlformats-officedocument.themeOverride+xml"/>
  <Override PartName="/ppt/charts/chart108.xml" ContentType="application/vnd.openxmlformats-officedocument.drawingml.chart+xml"/>
  <Override PartName="/ppt/charts/style103.xml" ContentType="application/vnd.ms-office.chartstyle+xml"/>
  <Override PartName="/ppt/charts/colors103.xml" ContentType="application/vnd.ms-office.chartcolorstyle+xml"/>
  <Override PartName="/ppt/theme/themeOverride38.xml" ContentType="application/vnd.openxmlformats-officedocument.themeOverride+xml"/>
  <Override PartName="/ppt/charts/chart109.xml" ContentType="application/vnd.openxmlformats-officedocument.drawingml.chart+xml"/>
  <Override PartName="/ppt/charts/style104.xml" ContentType="application/vnd.ms-office.chartstyle+xml"/>
  <Override PartName="/ppt/charts/colors104.xml" ContentType="application/vnd.ms-office.chartcolorstyle+xml"/>
  <Override PartName="/ppt/theme/themeOverride39.xml" ContentType="application/vnd.openxmlformats-officedocument.themeOverride+xml"/>
  <Override PartName="/ppt/charts/chart110.xml" ContentType="application/vnd.openxmlformats-officedocument.drawingml.chart+xml"/>
  <Override PartName="/ppt/charts/style105.xml" ContentType="application/vnd.ms-office.chartstyle+xml"/>
  <Override PartName="/ppt/charts/colors105.xml" ContentType="application/vnd.ms-office.chartcolorstyle+xml"/>
  <Override PartName="/ppt/theme/themeOverride40.xml" ContentType="application/vnd.openxmlformats-officedocument.themeOverride+xml"/>
  <Override PartName="/ppt/charts/chart111.xml" ContentType="application/vnd.openxmlformats-officedocument.drawingml.chart+xml"/>
  <Override PartName="/ppt/charts/style106.xml" ContentType="application/vnd.ms-office.chartstyle+xml"/>
  <Override PartName="/ppt/charts/colors106.xml" ContentType="application/vnd.ms-office.chartcolorstyle+xml"/>
  <Override PartName="/ppt/theme/themeOverride41.xml" ContentType="application/vnd.openxmlformats-officedocument.themeOverride+xml"/>
  <Override PartName="/ppt/charts/chart112.xml" ContentType="application/vnd.openxmlformats-officedocument.drawingml.chart+xml"/>
  <Override PartName="/ppt/charts/style107.xml" ContentType="application/vnd.ms-office.chartstyle+xml"/>
  <Override PartName="/ppt/charts/colors107.xml" ContentType="application/vnd.ms-office.chartcolorstyle+xml"/>
  <Override PartName="/ppt/theme/themeOverride42.xml" ContentType="application/vnd.openxmlformats-officedocument.themeOverr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charts/chart113.xml" ContentType="application/vnd.openxmlformats-officedocument.drawingml.chart+xml"/>
  <Override PartName="/ppt/charts/style108.xml" ContentType="application/vnd.ms-office.chartstyle+xml"/>
  <Override PartName="/ppt/charts/colors108.xml" ContentType="application/vnd.ms-office.chartcolorstyle+xml"/>
  <Override PartName="/ppt/charts/chart114.xml" ContentType="application/vnd.openxmlformats-officedocument.drawingml.chart+xml"/>
  <Override PartName="/ppt/charts/chart115.xml" ContentType="application/vnd.openxmlformats-officedocument.drawingml.chart+xml"/>
  <Override PartName="/ppt/charts/style109.xml" ContentType="application/vnd.ms-office.chartstyle+xml"/>
  <Override PartName="/ppt/charts/colors109.xml" ContentType="application/vnd.ms-office.chartcolorstyle+xml"/>
  <Override PartName="/ppt/charts/chart116.xml" ContentType="application/vnd.openxmlformats-officedocument.drawingml.chart+xml"/>
  <Override PartName="/ppt/charts/style110.xml" ContentType="application/vnd.ms-office.chartstyle+xml"/>
  <Override PartName="/ppt/charts/colors110.xml" ContentType="application/vnd.ms-office.chartcolorstyle+xml"/>
  <Override PartName="/ppt/theme/themeOverride43.xml" ContentType="application/vnd.openxmlformats-officedocument.themeOverride+xml"/>
  <Override PartName="/ppt/charts/chart117.xml" ContentType="application/vnd.openxmlformats-officedocument.drawingml.chart+xml"/>
  <Override PartName="/ppt/charts/style111.xml" ContentType="application/vnd.ms-office.chartstyle+xml"/>
  <Override PartName="/ppt/charts/colors111.xml" ContentType="application/vnd.ms-office.chartcolorstyle+xml"/>
  <Override PartName="/ppt/theme/themeOverride44.xml" ContentType="application/vnd.openxmlformats-officedocument.themeOverride+xml"/>
  <Override PartName="/ppt/charts/chart118.xml" ContentType="application/vnd.openxmlformats-officedocument.drawingml.chart+xml"/>
  <Override PartName="/ppt/charts/style112.xml" ContentType="application/vnd.ms-office.chartstyle+xml"/>
  <Override PartName="/ppt/charts/colors112.xml" ContentType="application/vnd.ms-office.chartcolorstyle+xml"/>
  <Override PartName="/ppt/theme/themeOverride45.xml" ContentType="application/vnd.openxmlformats-officedocument.themeOverride+xml"/>
  <Override PartName="/ppt/charts/chart119.xml" ContentType="application/vnd.openxmlformats-officedocument.drawingml.chart+xml"/>
  <Override PartName="/ppt/charts/style113.xml" ContentType="application/vnd.ms-office.chartstyle+xml"/>
  <Override PartName="/ppt/charts/colors113.xml" ContentType="application/vnd.ms-office.chartcolorstyle+xml"/>
  <Override PartName="/ppt/theme/themeOverride46.xml" ContentType="application/vnd.openxmlformats-officedocument.themeOverride+xml"/>
  <Override PartName="/ppt/charts/chart120.xml" ContentType="application/vnd.openxmlformats-officedocument.drawingml.chart+xml"/>
  <Override PartName="/ppt/charts/style114.xml" ContentType="application/vnd.ms-office.chartstyle+xml"/>
  <Override PartName="/ppt/charts/colors114.xml" ContentType="application/vnd.ms-office.chartcolorstyle+xml"/>
  <Override PartName="/ppt/theme/themeOverride47.xml" ContentType="application/vnd.openxmlformats-officedocument.themeOverride+xml"/>
  <Override PartName="/ppt/charts/chart121.xml" ContentType="application/vnd.openxmlformats-officedocument.drawingml.chart+xml"/>
  <Override PartName="/ppt/charts/style115.xml" ContentType="application/vnd.ms-office.chartstyle+xml"/>
  <Override PartName="/ppt/charts/colors115.xml" ContentType="application/vnd.ms-office.chartcolorstyle+xml"/>
  <Override PartName="/ppt/theme/themeOverride48.xml" ContentType="application/vnd.openxmlformats-officedocument.themeOverride+xml"/>
  <Override PartName="/ppt/charts/chart122.xml" ContentType="application/vnd.openxmlformats-officedocument.drawingml.chart+xml"/>
  <Override PartName="/ppt/charts/style116.xml" ContentType="application/vnd.ms-office.chartstyle+xml"/>
  <Override PartName="/ppt/charts/colors116.xml" ContentType="application/vnd.ms-office.chartcolorstyle+xml"/>
  <Override PartName="/ppt/theme/themeOverride49.xml" ContentType="application/vnd.openxmlformats-officedocument.themeOverride+xml"/>
  <Override PartName="/ppt/charts/chart123.xml" ContentType="application/vnd.openxmlformats-officedocument.drawingml.chart+xml"/>
  <Override PartName="/ppt/charts/style117.xml" ContentType="application/vnd.ms-office.chartstyle+xml"/>
  <Override PartName="/ppt/charts/colors117.xml" ContentType="application/vnd.ms-office.chartcolorstyle+xml"/>
  <Override PartName="/ppt/theme/themeOverride50.xml" ContentType="application/vnd.openxmlformats-officedocument.themeOverride+xml"/>
  <Override PartName="/ppt/charts/chart124.xml" ContentType="application/vnd.openxmlformats-officedocument.drawingml.chart+xml"/>
  <Override PartName="/ppt/charts/style118.xml" ContentType="application/vnd.ms-office.chartstyle+xml"/>
  <Override PartName="/ppt/charts/colors118.xml" ContentType="application/vnd.ms-office.chartcolorstyle+xml"/>
  <Override PartName="/ppt/charts/chart125.xml" ContentType="application/vnd.openxmlformats-officedocument.drawingml.chart+xml"/>
  <Override PartName="/ppt/charts/chart126.xml" ContentType="application/vnd.openxmlformats-officedocument.drawingml.chart+xml"/>
  <Override PartName="/ppt/charts/style119.xml" ContentType="application/vnd.ms-office.chartstyle+xml"/>
  <Override PartName="/ppt/charts/colors119.xml" ContentType="application/vnd.ms-office.chartcolorstyle+xml"/>
  <Override PartName="/ppt/charts/chart127.xml" ContentType="application/vnd.openxmlformats-officedocument.drawingml.chart+xml"/>
  <Override PartName="/ppt/charts/style120.xml" ContentType="application/vnd.ms-office.chartstyle+xml"/>
  <Override PartName="/ppt/charts/colors120.xml" ContentType="application/vnd.ms-office.chartcolorstyle+xml"/>
  <Override PartName="/ppt/theme/themeOverride51.xml" ContentType="application/vnd.openxmlformats-officedocument.themeOverride+xml"/>
  <Override PartName="/ppt/charts/chart128.xml" ContentType="application/vnd.openxmlformats-officedocument.drawingml.chart+xml"/>
  <Override PartName="/ppt/charts/style121.xml" ContentType="application/vnd.ms-office.chartstyle+xml"/>
  <Override PartName="/ppt/charts/colors121.xml" ContentType="application/vnd.ms-office.chartcolorstyle+xml"/>
  <Override PartName="/ppt/theme/themeOverride52.xml" ContentType="application/vnd.openxmlformats-officedocument.themeOverride+xml"/>
  <Override PartName="/ppt/charts/chart129.xml" ContentType="application/vnd.openxmlformats-officedocument.drawingml.chart+xml"/>
  <Override PartName="/ppt/charts/style122.xml" ContentType="application/vnd.ms-office.chartstyle+xml"/>
  <Override PartName="/ppt/charts/colors122.xml" ContentType="application/vnd.ms-office.chartcolorstyle+xml"/>
  <Override PartName="/ppt/theme/themeOverride53.xml" ContentType="application/vnd.openxmlformats-officedocument.themeOverride+xml"/>
  <Override PartName="/ppt/charts/chart130.xml" ContentType="application/vnd.openxmlformats-officedocument.drawingml.chart+xml"/>
  <Override PartName="/ppt/charts/style123.xml" ContentType="application/vnd.ms-office.chartstyle+xml"/>
  <Override PartName="/ppt/charts/colors123.xml" ContentType="application/vnd.ms-office.chartcolorstyle+xml"/>
  <Override PartName="/ppt/theme/themeOverride54.xml" ContentType="application/vnd.openxmlformats-officedocument.themeOverride+xml"/>
  <Override PartName="/ppt/charts/chart131.xml" ContentType="application/vnd.openxmlformats-officedocument.drawingml.chart+xml"/>
  <Override PartName="/ppt/charts/style124.xml" ContentType="application/vnd.ms-office.chartstyle+xml"/>
  <Override PartName="/ppt/charts/colors124.xml" ContentType="application/vnd.ms-office.chartcolorstyle+xml"/>
  <Override PartName="/ppt/theme/themeOverride55.xml" ContentType="application/vnd.openxmlformats-officedocument.themeOverride+xml"/>
  <Override PartName="/ppt/charts/chart132.xml" ContentType="application/vnd.openxmlformats-officedocument.drawingml.chart+xml"/>
  <Override PartName="/ppt/charts/style125.xml" ContentType="application/vnd.ms-office.chartstyle+xml"/>
  <Override PartName="/ppt/charts/colors125.xml" ContentType="application/vnd.ms-office.chartcolorstyle+xml"/>
  <Override PartName="/ppt/theme/themeOverride56.xml" ContentType="application/vnd.openxmlformats-officedocument.themeOverride+xml"/>
  <Override PartName="/ppt/charts/chart133.xml" ContentType="application/vnd.openxmlformats-officedocument.drawingml.chart+xml"/>
  <Override PartName="/ppt/charts/style126.xml" ContentType="application/vnd.ms-office.chartstyle+xml"/>
  <Override PartName="/ppt/charts/colors126.xml" ContentType="application/vnd.ms-office.chartcolorstyle+xml"/>
  <Override PartName="/ppt/theme/themeOverride57.xml" ContentType="application/vnd.openxmlformats-officedocument.themeOverride+xml"/>
  <Override PartName="/ppt/charts/chart134.xml" ContentType="application/vnd.openxmlformats-officedocument.drawingml.chart+xml"/>
  <Override PartName="/ppt/charts/style127.xml" ContentType="application/vnd.ms-office.chartstyle+xml"/>
  <Override PartName="/ppt/charts/colors127.xml" ContentType="application/vnd.ms-office.chartcolorstyle+xml"/>
  <Override PartName="/ppt/theme/themeOverride58.xml" ContentType="application/vnd.openxmlformats-officedocument.themeOverride+xml"/>
  <Override PartName="/ppt/charts/chart135.xml" ContentType="application/vnd.openxmlformats-officedocument.drawingml.chart+xml"/>
  <Override PartName="/ppt/charts/style128.xml" ContentType="application/vnd.ms-office.chartstyle+xml"/>
  <Override PartName="/ppt/charts/colors128.xml" ContentType="application/vnd.ms-office.chartcolorstyle+xml"/>
  <Override PartName="/ppt/charts/chart136.xml" ContentType="application/vnd.openxmlformats-officedocument.drawingml.chart+xml"/>
  <Override PartName="/ppt/charts/chart137.xml" ContentType="application/vnd.openxmlformats-officedocument.drawingml.chart+xml"/>
  <Override PartName="/ppt/charts/style129.xml" ContentType="application/vnd.ms-office.chartstyle+xml"/>
  <Override PartName="/ppt/charts/colors129.xml" ContentType="application/vnd.ms-office.chartcolorstyle+xml"/>
  <Override PartName="/ppt/charts/chart138.xml" ContentType="application/vnd.openxmlformats-officedocument.drawingml.chart+xml"/>
  <Override PartName="/ppt/charts/style130.xml" ContentType="application/vnd.ms-office.chartstyle+xml"/>
  <Override PartName="/ppt/charts/colors130.xml" ContentType="application/vnd.ms-office.chartcolorstyle+xml"/>
  <Override PartName="/ppt/charts/chart139.xml" ContentType="application/vnd.openxmlformats-officedocument.drawingml.chart+xml"/>
  <Override PartName="/ppt/charts/style131.xml" ContentType="application/vnd.ms-office.chartstyle+xml"/>
  <Override PartName="/ppt/charts/colors131.xml" ContentType="application/vnd.ms-office.chartcolorstyle+xml"/>
  <Override PartName="/ppt/theme/themeOverride59.xml" ContentType="application/vnd.openxmlformats-officedocument.themeOverride+xml"/>
  <Override PartName="/ppt/charts/chart140.xml" ContentType="application/vnd.openxmlformats-officedocument.drawingml.chart+xml"/>
  <Override PartName="/ppt/charts/style132.xml" ContentType="application/vnd.ms-office.chartstyle+xml"/>
  <Override PartName="/ppt/charts/colors132.xml" ContentType="application/vnd.ms-office.chartcolorstyle+xml"/>
  <Override PartName="/ppt/charts/chart141.xml" ContentType="application/vnd.openxmlformats-officedocument.drawingml.chart+xml"/>
  <Override PartName="/ppt/charts/chart142.xml" ContentType="application/vnd.openxmlformats-officedocument.drawingml.chart+xml"/>
  <Override PartName="/ppt/charts/style133.xml" ContentType="application/vnd.ms-office.chartstyle+xml"/>
  <Override PartName="/ppt/charts/colors133.xml" ContentType="application/vnd.ms-office.chartcolorstyle+xml"/>
  <Override PartName="/ppt/charts/chart143.xml" ContentType="application/vnd.openxmlformats-officedocument.drawingml.chart+xml"/>
  <Override PartName="/ppt/charts/style134.xml" ContentType="application/vnd.ms-office.chartstyle+xml"/>
  <Override PartName="/ppt/charts/colors134.xml" ContentType="application/vnd.ms-office.chartcolorstyle+xml"/>
  <Override PartName="/ppt/charts/chart144.xml" ContentType="application/vnd.openxmlformats-officedocument.drawingml.chart+xml"/>
  <Override PartName="/ppt/charts/style135.xml" ContentType="application/vnd.ms-office.chartstyle+xml"/>
  <Override PartName="/ppt/charts/colors135.xml" ContentType="application/vnd.ms-office.chartcolorstyle+xml"/>
  <Override PartName="/ppt/theme/themeOverride60.xml" ContentType="application/vnd.openxmlformats-officedocument.themeOverride+xml"/>
  <Override PartName="/ppt/charts/chart145.xml" ContentType="application/vnd.openxmlformats-officedocument.drawingml.chart+xml"/>
  <Override PartName="/ppt/charts/style136.xml" ContentType="application/vnd.ms-office.chartstyle+xml"/>
  <Override PartName="/ppt/charts/colors136.xml" ContentType="application/vnd.ms-office.chartcolorstyle+xml"/>
  <Override PartName="/ppt/charts/chart146.xml" ContentType="application/vnd.openxmlformats-officedocument.drawingml.chart+xml"/>
  <Override PartName="/ppt/charts/style137.xml" ContentType="application/vnd.ms-office.chartstyle+xml"/>
  <Override PartName="/ppt/charts/colors137.xml" ContentType="application/vnd.ms-office.chartcolorstyle+xml"/>
  <Override PartName="/ppt/charts/chart147.xml" ContentType="application/vnd.openxmlformats-officedocument.drawingml.chart+xml"/>
  <Override PartName="/ppt/charts/chart148.xml" ContentType="application/vnd.openxmlformats-officedocument.drawingml.chart+xml"/>
  <Override PartName="/ppt/charts/style138.xml" ContentType="application/vnd.ms-office.chartstyle+xml"/>
  <Override PartName="/ppt/charts/colors138.xml" ContentType="application/vnd.ms-office.chartcolorstyle+xml"/>
  <Override PartName="/ppt/charts/chart149.xml" ContentType="application/vnd.openxmlformats-officedocument.drawingml.chart+xml"/>
  <Override PartName="/ppt/charts/style139.xml" ContentType="application/vnd.ms-office.chartstyle+xml"/>
  <Override PartName="/ppt/charts/colors139.xml" ContentType="application/vnd.ms-office.chartcolorstyle+xml"/>
  <Override PartName="/ppt/theme/themeOverride61.xml" ContentType="application/vnd.openxmlformats-officedocument.themeOverride+xml"/>
  <Override PartName="/ppt/charts/chart150.xml" ContentType="application/vnd.openxmlformats-officedocument.drawingml.chart+xml"/>
  <Override PartName="/ppt/charts/chart151.xml" ContentType="application/vnd.openxmlformats-officedocument.drawingml.chart+xml"/>
  <Override PartName="/ppt/charts/style140.xml" ContentType="application/vnd.ms-office.chartstyle+xml"/>
  <Override PartName="/ppt/charts/colors140.xml" ContentType="application/vnd.ms-office.chartcolorstyle+xml"/>
  <Override PartName="/ppt/charts/chart152.xml" ContentType="application/vnd.openxmlformats-officedocument.drawingml.chart+xml"/>
  <Override PartName="/ppt/charts/style141.xml" ContentType="application/vnd.ms-office.chartstyle+xml"/>
  <Override PartName="/ppt/charts/colors141.xml" ContentType="application/vnd.ms-office.chartcolorstyle+xml"/>
  <Override PartName="/ppt/charts/chart153.xml" ContentType="application/vnd.openxmlformats-officedocument.drawingml.chart+xml"/>
  <Override PartName="/ppt/charts/style142.xml" ContentType="application/vnd.ms-office.chartstyle+xml"/>
  <Override PartName="/ppt/charts/colors142.xml" ContentType="application/vnd.ms-office.chartcolorstyle+xml"/>
  <Override PartName="/ppt/charts/chart154.xml" ContentType="application/vnd.openxmlformats-officedocument.drawingml.chart+xml"/>
  <Override PartName="/ppt/charts/style143.xml" ContentType="application/vnd.ms-office.chartstyle+xml"/>
  <Override PartName="/ppt/charts/colors143.xml" ContentType="application/vnd.ms-office.chartcolorstyle+xml"/>
  <Override PartName="/ppt/theme/themeOverride62.xml" ContentType="application/vnd.openxmlformats-officedocument.themeOverride+xml"/>
  <Override PartName="/ppt/charts/chart155.xml" ContentType="application/vnd.openxmlformats-officedocument.drawingml.chart+xml"/>
  <Override PartName="/ppt/charts/style144.xml" ContentType="application/vnd.ms-office.chartstyle+xml"/>
  <Override PartName="/ppt/charts/colors144.xml" ContentType="application/vnd.ms-office.chartcolorstyle+xml"/>
  <Override PartName="/ppt/charts/chart156.xml" ContentType="application/vnd.openxmlformats-officedocument.drawingml.chart+xml"/>
  <Override PartName="/ppt/charts/style145.xml" ContentType="application/vnd.ms-office.chartstyle+xml"/>
  <Override PartName="/ppt/charts/colors145.xml" ContentType="application/vnd.ms-office.chartcolorstyle+xml"/>
  <Override PartName="/ppt/charts/chart157.xml" ContentType="application/vnd.openxmlformats-officedocument.drawingml.chart+xml"/>
  <Override PartName="/ppt/charts/chart158.xml" ContentType="application/vnd.openxmlformats-officedocument.drawingml.chart+xml"/>
  <Override PartName="/ppt/charts/style146.xml" ContentType="application/vnd.ms-office.chartstyle+xml"/>
  <Override PartName="/ppt/charts/colors146.xml" ContentType="application/vnd.ms-office.chartcolorstyle+xml"/>
  <Override PartName="/ppt/charts/chart159.xml" ContentType="application/vnd.openxmlformats-officedocument.drawingml.chart+xml"/>
  <Override PartName="/ppt/charts/style147.xml" ContentType="application/vnd.ms-office.chartstyle+xml"/>
  <Override PartName="/ppt/charts/colors147.xml" ContentType="application/vnd.ms-office.chartcolorstyle+xml"/>
  <Override PartName="/ppt/theme/themeOverride63.xml" ContentType="application/vnd.openxmlformats-officedocument.themeOverride+xml"/>
  <Override PartName="/ppt/charts/chart160.xml" ContentType="application/vnd.openxmlformats-officedocument.drawingml.chart+xml"/>
  <Override PartName="/ppt/charts/style148.xml" ContentType="application/vnd.ms-office.chartstyle+xml"/>
  <Override PartName="/ppt/charts/colors148.xml" ContentType="application/vnd.ms-office.chartcolorstyle+xml"/>
  <Override PartName="/ppt/charts/chart161.xml" ContentType="application/vnd.openxmlformats-officedocument.drawingml.chart+xml"/>
  <Override PartName="/ppt/charts/chart162.xml" ContentType="application/vnd.openxmlformats-officedocument.drawingml.chart+xml"/>
  <Override PartName="/ppt/charts/style149.xml" ContentType="application/vnd.ms-office.chartstyle+xml"/>
  <Override PartName="/ppt/charts/colors149.xml" ContentType="application/vnd.ms-office.chartcolorstyle+xml"/>
  <Override PartName="/ppt/charts/chart163.xml" ContentType="application/vnd.openxmlformats-officedocument.drawingml.chart+xml"/>
  <Override PartName="/ppt/charts/style150.xml" ContentType="application/vnd.ms-office.chartstyle+xml"/>
  <Override PartName="/ppt/charts/colors150.xml" ContentType="application/vnd.ms-office.chartcolorstyle+xml"/>
  <Override PartName="/ppt/charts/chart164.xml" ContentType="application/vnd.openxmlformats-officedocument.drawingml.chart+xml"/>
  <Override PartName="/ppt/charts/style151.xml" ContentType="application/vnd.ms-office.chartstyle+xml"/>
  <Override PartName="/ppt/charts/colors151.xml" ContentType="application/vnd.ms-office.chartcolorstyle+xml"/>
  <Override PartName="/ppt/theme/themeOverride64.xml" ContentType="application/vnd.openxmlformats-officedocument.themeOverride+xml"/>
  <Override PartName="/ppt/charts/chart165.xml" ContentType="application/vnd.openxmlformats-officedocument.drawingml.chart+xml"/>
  <Override PartName="/ppt/charts/style152.xml" ContentType="application/vnd.ms-office.chartstyle+xml"/>
  <Override PartName="/ppt/charts/colors152.xml" ContentType="application/vnd.ms-office.chartcolorstyle+xml"/>
  <Override PartName="/ppt/charts/chart166.xml" ContentType="application/vnd.openxmlformats-officedocument.drawingml.chart+xml"/>
  <Override PartName="/ppt/charts/style153.xml" ContentType="application/vnd.ms-office.chartstyle+xml"/>
  <Override PartName="/ppt/charts/colors153.xml" ContentType="application/vnd.ms-office.chartcolorstyle+xml"/>
  <Override PartName="/ppt/charts/chart167.xml" ContentType="application/vnd.openxmlformats-officedocument.drawingml.chart+xml"/>
  <Override PartName="/ppt/charts/chart168.xml" ContentType="application/vnd.openxmlformats-officedocument.drawingml.chart+xml"/>
  <Override PartName="/ppt/charts/style154.xml" ContentType="application/vnd.ms-office.chartstyle+xml"/>
  <Override PartName="/ppt/charts/colors154.xml" ContentType="application/vnd.ms-office.chartcolorstyle+xml"/>
  <Override PartName="/ppt/charts/chart169.xml" ContentType="application/vnd.openxmlformats-officedocument.drawingml.chart+xml"/>
  <Override PartName="/ppt/charts/style155.xml" ContentType="application/vnd.ms-office.chartstyle+xml"/>
  <Override PartName="/ppt/charts/colors155.xml" ContentType="application/vnd.ms-office.chartcolorstyle+xml"/>
  <Override PartName="/ppt/charts/chart170.xml" ContentType="application/vnd.openxmlformats-officedocument.drawingml.chart+xml"/>
  <Override PartName="/ppt/charts/style156.xml" ContentType="application/vnd.ms-office.chartstyle+xml"/>
  <Override PartName="/ppt/charts/colors156.xml" ContentType="application/vnd.ms-office.chartcolorstyle+xml"/>
  <Override PartName="/ppt/charts/chart171.xml" ContentType="application/vnd.openxmlformats-officedocument.drawingml.chart+xml"/>
  <Override PartName="/ppt/charts/style157.xml" ContentType="application/vnd.ms-office.chartstyle+xml"/>
  <Override PartName="/ppt/charts/colors157.xml" ContentType="application/vnd.ms-office.chartcolorstyl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charts/chart172.xml" ContentType="application/vnd.openxmlformats-officedocument.drawingml.chart+xml"/>
  <Override PartName="/ppt/charts/style158.xml" ContentType="application/vnd.ms-office.chartstyle+xml"/>
  <Override PartName="/ppt/charts/colors158.xml" ContentType="application/vnd.ms-office.chartcolorstyle+xml"/>
  <Override PartName="/ppt/theme/themeOverride65.xml" ContentType="application/vnd.openxmlformats-officedocument.themeOverride+xml"/>
  <Override PartName="/ppt/charts/chart173.xml" ContentType="application/vnd.openxmlformats-officedocument.drawingml.chart+xml"/>
  <Override PartName="/ppt/charts/style159.xml" ContentType="application/vnd.ms-office.chartstyle+xml"/>
  <Override PartName="/ppt/charts/colors159.xml" ContentType="application/vnd.ms-office.chartcolorstyle+xml"/>
  <Override PartName="/ppt/theme/themeOverride66.xml" ContentType="application/vnd.openxmlformats-officedocument.themeOverride+xml"/>
  <Override PartName="/ppt/charts/chart174.xml" ContentType="application/vnd.openxmlformats-officedocument.drawingml.chart+xml"/>
  <Override PartName="/ppt/charts/style160.xml" ContentType="application/vnd.ms-office.chartstyle+xml"/>
  <Override PartName="/ppt/charts/colors160.xml" ContentType="application/vnd.ms-office.chartcolorstyle+xml"/>
  <Override PartName="/ppt/theme/themeOverride67.xml" ContentType="application/vnd.openxmlformats-officedocument.themeOverride+xml"/>
  <Override PartName="/ppt/charts/chart175.xml" ContentType="application/vnd.openxmlformats-officedocument.drawingml.chart+xml"/>
  <Override PartName="/ppt/charts/style161.xml" ContentType="application/vnd.ms-office.chartstyle+xml"/>
  <Override PartName="/ppt/charts/colors161.xml" ContentType="application/vnd.ms-office.chartcolorstyle+xml"/>
  <Override PartName="/ppt/theme/themeOverride68.xml" ContentType="application/vnd.openxmlformats-officedocument.themeOverride+xml"/>
  <Override PartName="/ppt/charts/chart176.xml" ContentType="application/vnd.openxmlformats-officedocument.drawingml.chart+xml"/>
  <Override PartName="/ppt/charts/style162.xml" ContentType="application/vnd.ms-office.chartstyle+xml"/>
  <Override PartName="/ppt/charts/colors162.xml" ContentType="application/vnd.ms-office.chartcolorstyle+xml"/>
  <Override PartName="/ppt/theme/themeOverride69.xml" ContentType="application/vnd.openxmlformats-officedocument.themeOverride+xml"/>
  <Override PartName="/ppt/charts/chart177.xml" ContentType="application/vnd.openxmlformats-officedocument.drawingml.chart+xml"/>
  <Override PartName="/ppt/charts/style163.xml" ContentType="application/vnd.ms-office.chartstyle+xml"/>
  <Override PartName="/ppt/charts/colors163.xml" ContentType="application/vnd.ms-office.chartcolorstyle+xml"/>
  <Override PartName="/ppt/theme/themeOverride70.xml" ContentType="application/vnd.openxmlformats-officedocument.themeOverride+xml"/>
  <Override PartName="/ppt/charts/chart178.xml" ContentType="application/vnd.openxmlformats-officedocument.drawingml.chart+xml"/>
  <Override PartName="/ppt/charts/style164.xml" ContentType="application/vnd.ms-office.chartstyle+xml"/>
  <Override PartName="/ppt/charts/colors164.xml" ContentType="application/vnd.ms-office.chartcolorstyle+xml"/>
  <Override PartName="/ppt/theme/themeOverride71.xml" ContentType="application/vnd.openxmlformats-officedocument.themeOverride+xml"/>
  <Override PartName="/ppt/charts/chart179.xml" ContentType="application/vnd.openxmlformats-officedocument.drawingml.chart+xml"/>
  <Override PartName="/ppt/charts/style165.xml" ContentType="application/vnd.ms-office.chartstyle+xml"/>
  <Override PartName="/ppt/charts/colors165.xml" ContentType="application/vnd.ms-office.chartcolorstyle+xml"/>
  <Override PartName="/ppt/theme/themeOverride72.xml" ContentType="application/vnd.openxmlformats-officedocument.themeOverride+xml"/>
  <Override PartName="/ppt/charts/chart180.xml" ContentType="application/vnd.openxmlformats-officedocument.drawingml.chart+xml"/>
  <Override PartName="/ppt/charts/style166.xml" ContentType="application/vnd.ms-office.chartstyle+xml"/>
  <Override PartName="/ppt/charts/colors166.xml" ContentType="application/vnd.ms-office.chartcolorstyle+xml"/>
  <Override PartName="/ppt/theme/themeOverride73.xml" ContentType="application/vnd.openxmlformats-officedocument.themeOverride+xml"/>
  <Override PartName="/ppt/charts/chart181.xml" ContentType="application/vnd.openxmlformats-officedocument.drawingml.chart+xml"/>
  <Override PartName="/ppt/charts/style167.xml" ContentType="application/vnd.ms-office.chartstyle+xml"/>
  <Override PartName="/ppt/charts/colors167.xml" ContentType="application/vnd.ms-office.chartcolorstyle+xml"/>
  <Override PartName="/ppt/charts/chart182.xml" ContentType="application/vnd.openxmlformats-officedocument.drawingml.chart+xml"/>
  <Override PartName="/ppt/charts/chart183.xml" ContentType="application/vnd.openxmlformats-officedocument.drawingml.chart+xml"/>
  <Override PartName="/ppt/charts/style168.xml" ContentType="application/vnd.ms-office.chartstyle+xml"/>
  <Override PartName="/ppt/charts/colors168.xml" ContentType="application/vnd.ms-office.chartcolorstyle+xml"/>
  <Override PartName="/ppt/charts/chart184.xml" ContentType="application/vnd.openxmlformats-officedocument.drawingml.chart+xml"/>
  <Override PartName="/ppt/charts/style169.xml" ContentType="application/vnd.ms-office.chartstyle+xml"/>
  <Override PartName="/ppt/charts/colors169.xml" ContentType="application/vnd.ms-office.chartcolorstyle+xml"/>
  <Override PartName="/ppt/charts/chart185.xml" ContentType="application/vnd.openxmlformats-officedocument.drawingml.chart+xml"/>
  <Override PartName="/ppt/charts/style170.xml" ContentType="application/vnd.ms-office.chartstyle+xml"/>
  <Override PartName="/ppt/charts/colors170.xml" ContentType="application/vnd.ms-office.chartcolorstyl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5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4"/>
  </p:sldMasterIdLst>
  <p:notesMasterIdLst>
    <p:notesMasterId r:id="rId299"/>
  </p:notesMasterIdLst>
  <p:handoutMasterIdLst>
    <p:handoutMasterId r:id="rId300"/>
  </p:handoutMasterIdLst>
  <p:sldIdLst>
    <p:sldId id="256" r:id="rId5"/>
    <p:sldId id="540" r:id="rId6"/>
    <p:sldId id="1034" r:id="rId7"/>
    <p:sldId id="544" r:id="rId8"/>
    <p:sldId id="546" r:id="rId9"/>
    <p:sldId id="547" r:id="rId10"/>
    <p:sldId id="548" r:id="rId11"/>
    <p:sldId id="1025" r:id="rId12"/>
    <p:sldId id="542" r:id="rId13"/>
    <p:sldId id="550" r:id="rId14"/>
    <p:sldId id="747" r:id="rId15"/>
    <p:sldId id="551" r:id="rId16"/>
    <p:sldId id="748" r:id="rId17"/>
    <p:sldId id="788" r:id="rId18"/>
    <p:sldId id="552" r:id="rId19"/>
    <p:sldId id="553" r:id="rId20"/>
    <p:sldId id="745" r:id="rId21"/>
    <p:sldId id="750" r:id="rId22"/>
    <p:sldId id="554" r:id="rId23"/>
    <p:sldId id="555" r:id="rId24"/>
    <p:sldId id="556" r:id="rId25"/>
    <p:sldId id="557" r:id="rId26"/>
    <p:sldId id="746" r:id="rId27"/>
    <p:sldId id="751" r:id="rId28"/>
    <p:sldId id="752" r:id="rId29"/>
    <p:sldId id="558" r:id="rId30"/>
    <p:sldId id="559" r:id="rId31"/>
    <p:sldId id="560" r:id="rId32"/>
    <p:sldId id="561" r:id="rId33"/>
    <p:sldId id="753" r:id="rId34"/>
    <p:sldId id="754" r:id="rId35"/>
    <p:sldId id="755" r:id="rId36"/>
    <p:sldId id="756" r:id="rId37"/>
    <p:sldId id="757" r:id="rId38"/>
    <p:sldId id="1033" r:id="rId39"/>
    <p:sldId id="765" r:id="rId40"/>
    <p:sldId id="759" r:id="rId41"/>
    <p:sldId id="760" r:id="rId42"/>
    <p:sldId id="761" r:id="rId43"/>
    <p:sldId id="764" r:id="rId44"/>
    <p:sldId id="762" r:id="rId45"/>
    <p:sldId id="766" r:id="rId46"/>
    <p:sldId id="767" r:id="rId47"/>
    <p:sldId id="769" r:id="rId48"/>
    <p:sldId id="768" r:id="rId49"/>
    <p:sldId id="763" r:id="rId50"/>
    <p:sldId id="563" r:id="rId51"/>
    <p:sldId id="564" r:id="rId52"/>
    <p:sldId id="568" r:id="rId53"/>
    <p:sldId id="770" r:id="rId54"/>
    <p:sldId id="1026" r:id="rId55"/>
    <p:sldId id="571" r:id="rId56"/>
    <p:sldId id="572" r:id="rId57"/>
    <p:sldId id="772" r:id="rId58"/>
    <p:sldId id="573" r:id="rId59"/>
    <p:sldId id="574" r:id="rId60"/>
    <p:sldId id="773" r:id="rId61"/>
    <p:sldId id="775" r:id="rId62"/>
    <p:sldId id="776" r:id="rId63"/>
    <p:sldId id="777" r:id="rId64"/>
    <p:sldId id="778" r:id="rId65"/>
    <p:sldId id="781" r:id="rId66"/>
    <p:sldId id="779" r:id="rId67"/>
    <p:sldId id="780" r:id="rId68"/>
    <p:sldId id="782" r:id="rId69"/>
    <p:sldId id="577" r:id="rId70"/>
    <p:sldId id="578" r:id="rId71"/>
    <p:sldId id="783" r:id="rId72"/>
    <p:sldId id="784" r:id="rId73"/>
    <p:sldId id="787" r:id="rId74"/>
    <p:sldId id="789" r:id="rId75"/>
    <p:sldId id="790" r:id="rId76"/>
    <p:sldId id="839" r:id="rId77"/>
    <p:sldId id="840" r:id="rId78"/>
    <p:sldId id="793" r:id="rId79"/>
    <p:sldId id="1032" r:id="rId80"/>
    <p:sldId id="795" r:id="rId81"/>
    <p:sldId id="796" r:id="rId82"/>
    <p:sldId id="797" r:id="rId83"/>
    <p:sldId id="798" r:id="rId84"/>
    <p:sldId id="799" r:id="rId85"/>
    <p:sldId id="800" r:id="rId86"/>
    <p:sldId id="801" r:id="rId87"/>
    <p:sldId id="591" r:id="rId88"/>
    <p:sldId id="956" r:id="rId89"/>
    <p:sldId id="957" r:id="rId90"/>
    <p:sldId id="955" r:id="rId91"/>
    <p:sldId id="802" r:id="rId92"/>
    <p:sldId id="803" r:id="rId93"/>
    <p:sldId id="593" r:id="rId94"/>
    <p:sldId id="594" r:id="rId95"/>
    <p:sldId id="959" r:id="rId96"/>
    <p:sldId id="960" r:id="rId97"/>
    <p:sldId id="961" r:id="rId98"/>
    <p:sldId id="962" r:id="rId99"/>
    <p:sldId id="963" r:id="rId100"/>
    <p:sldId id="964" r:id="rId101"/>
    <p:sldId id="965" r:id="rId102"/>
    <p:sldId id="966" r:id="rId103"/>
    <p:sldId id="603" r:id="rId104"/>
    <p:sldId id="604" r:id="rId105"/>
    <p:sldId id="605" r:id="rId106"/>
    <p:sldId id="606" r:id="rId107"/>
    <p:sldId id="607" r:id="rId108"/>
    <p:sldId id="841" r:id="rId109"/>
    <p:sldId id="842" r:id="rId110"/>
    <p:sldId id="843" r:id="rId111"/>
    <p:sldId id="844" r:id="rId112"/>
    <p:sldId id="967" r:id="rId113"/>
    <p:sldId id="968" r:id="rId114"/>
    <p:sldId id="969" r:id="rId115"/>
    <p:sldId id="970" r:id="rId116"/>
    <p:sldId id="971" r:id="rId117"/>
    <p:sldId id="972" r:id="rId118"/>
    <p:sldId id="973" r:id="rId119"/>
    <p:sldId id="974" r:id="rId120"/>
    <p:sldId id="975" r:id="rId121"/>
    <p:sldId id="854" r:id="rId122"/>
    <p:sldId id="855" r:id="rId123"/>
    <p:sldId id="856" r:id="rId124"/>
    <p:sldId id="857" r:id="rId125"/>
    <p:sldId id="858" r:id="rId126"/>
    <p:sldId id="859" r:id="rId127"/>
    <p:sldId id="860" r:id="rId128"/>
    <p:sldId id="861" r:id="rId129"/>
    <p:sldId id="862" r:id="rId130"/>
    <p:sldId id="976" r:id="rId131"/>
    <p:sldId id="977" r:id="rId132"/>
    <p:sldId id="978" r:id="rId133"/>
    <p:sldId id="979" r:id="rId134"/>
    <p:sldId id="980" r:id="rId135"/>
    <p:sldId id="981" r:id="rId136"/>
    <p:sldId id="982" r:id="rId137"/>
    <p:sldId id="983" r:id="rId138"/>
    <p:sldId id="984" r:id="rId139"/>
    <p:sldId id="872" r:id="rId140"/>
    <p:sldId id="873" r:id="rId141"/>
    <p:sldId id="874" r:id="rId142"/>
    <p:sldId id="875" r:id="rId143"/>
    <p:sldId id="876" r:id="rId144"/>
    <p:sldId id="877" r:id="rId145"/>
    <p:sldId id="878" r:id="rId146"/>
    <p:sldId id="879" r:id="rId147"/>
    <p:sldId id="880" r:id="rId148"/>
    <p:sldId id="985" r:id="rId149"/>
    <p:sldId id="986" r:id="rId150"/>
    <p:sldId id="987" r:id="rId151"/>
    <p:sldId id="988" r:id="rId152"/>
    <p:sldId id="989" r:id="rId153"/>
    <p:sldId id="990" r:id="rId154"/>
    <p:sldId id="991" r:id="rId155"/>
    <p:sldId id="992" r:id="rId156"/>
    <p:sldId id="993" r:id="rId157"/>
    <p:sldId id="890" r:id="rId158"/>
    <p:sldId id="891" r:id="rId159"/>
    <p:sldId id="892" r:id="rId160"/>
    <p:sldId id="893" r:id="rId161"/>
    <p:sldId id="894" r:id="rId162"/>
    <p:sldId id="895" r:id="rId163"/>
    <p:sldId id="896" r:id="rId164"/>
    <p:sldId id="897" r:id="rId165"/>
    <p:sldId id="898" r:id="rId166"/>
    <p:sldId id="994" r:id="rId167"/>
    <p:sldId id="995" r:id="rId168"/>
    <p:sldId id="996" r:id="rId169"/>
    <p:sldId id="997" r:id="rId170"/>
    <p:sldId id="998" r:id="rId171"/>
    <p:sldId id="999" r:id="rId172"/>
    <p:sldId id="1000" r:id="rId173"/>
    <p:sldId id="1001" r:id="rId174"/>
    <p:sldId id="1002" r:id="rId175"/>
    <p:sldId id="908" r:id="rId176"/>
    <p:sldId id="909" r:id="rId177"/>
    <p:sldId id="910" r:id="rId178"/>
    <p:sldId id="911" r:id="rId179"/>
    <p:sldId id="912" r:id="rId180"/>
    <p:sldId id="913" r:id="rId181"/>
    <p:sldId id="914" r:id="rId182"/>
    <p:sldId id="915" r:id="rId183"/>
    <p:sldId id="916" r:id="rId184"/>
    <p:sldId id="1003" r:id="rId185"/>
    <p:sldId id="1004" r:id="rId186"/>
    <p:sldId id="1005" r:id="rId187"/>
    <p:sldId id="1006" r:id="rId188"/>
    <p:sldId id="1007" r:id="rId189"/>
    <p:sldId id="1008" r:id="rId190"/>
    <p:sldId id="1009" r:id="rId191"/>
    <p:sldId id="1010" r:id="rId192"/>
    <p:sldId id="1011" r:id="rId193"/>
    <p:sldId id="926" r:id="rId194"/>
    <p:sldId id="927" r:id="rId195"/>
    <p:sldId id="928" r:id="rId196"/>
    <p:sldId id="929" r:id="rId197"/>
    <p:sldId id="930" r:id="rId198"/>
    <p:sldId id="931" r:id="rId199"/>
    <p:sldId id="932" r:id="rId200"/>
    <p:sldId id="933" r:id="rId201"/>
    <p:sldId id="683" r:id="rId202"/>
    <p:sldId id="1012" r:id="rId203"/>
    <p:sldId id="685" r:id="rId204"/>
    <p:sldId id="686" r:id="rId205"/>
    <p:sldId id="687" r:id="rId206"/>
    <p:sldId id="936" r:id="rId207"/>
    <p:sldId id="938" r:id="rId208"/>
    <p:sldId id="940" r:id="rId209"/>
    <p:sldId id="939" r:id="rId210"/>
    <p:sldId id="689" r:id="rId211"/>
    <p:sldId id="942" r:id="rId212"/>
    <p:sldId id="935" r:id="rId213"/>
    <p:sldId id="691" r:id="rId214"/>
    <p:sldId id="941" r:id="rId215"/>
    <p:sldId id="692" r:id="rId216"/>
    <p:sldId id="943" r:id="rId217"/>
    <p:sldId id="693" r:id="rId218"/>
    <p:sldId id="694" r:id="rId219"/>
    <p:sldId id="949" r:id="rId220"/>
    <p:sldId id="695" r:id="rId221"/>
    <p:sldId id="944" r:id="rId222"/>
    <p:sldId id="696" r:id="rId223"/>
    <p:sldId id="697" r:id="rId224"/>
    <p:sldId id="950" r:id="rId225"/>
    <p:sldId id="698" r:id="rId226"/>
    <p:sldId id="945" r:id="rId227"/>
    <p:sldId id="699" r:id="rId228"/>
    <p:sldId id="700" r:id="rId229"/>
    <p:sldId id="951" r:id="rId230"/>
    <p:sldId id="701" r:id="rId231"/>
    <p:sldId id="946" r:id="rId232"/>
    <p:sldId id="702" r:id="rId233"/>
    <p:sldId id="703" r:id="rId234"/>
    <p:sldId id="952" r:id="rId235"/>
    <p:sldId id="704" r:id="rId236"/>
    <p:sldId id="947" r:id="rId237"/>
    <p:sldId id="705" r:id="rId238"/>
    <p:sldId id="706" r:id="rId239"/>
    <p:sldId id="953" r:id="rId240"/>
    <p:sldId id="707" r:id="rId241"/>
    <p:sldId id="948" r:id="rId242"/>
    <p:sldId id="708" r:id="rId243"/>
    <p:sldId id="709" r:id="rId244"/>
    <p:sldId id="954" r:id="rId245"/>
    <p:sldId id="710" r:id="rId246"/>
    <p:sldId id="711" r:id="rId247"/>
    <p:sldId id="1014" r:id="rId248"/>
    <p:sldId id="1015" r:id="rId249"/>
    <p:sldId id="1016" r:id="rId250"/>
    <p:sldId id="1017" r:id="rId251"/>
    <p:sldId id="1018" r:id="rId252"/>
    <p:sldId id="1019" r:id="rId253"/>
    <p:sldId id="1020" r:id="rId254"/>
    <p:sldId id="807" r:id="rId255"/>
    <p:sldId id="808" r:id="rId256"/>
    <p:sldId id="809" r:id="rId257"/>
    <p:sldId id="810" r:id="rId258"/>
    <p:sldId id="811" r:id="rId259"/>
    <p:sldId id="812" r:id="rId260"/>
    <p:sldId id="958" r:id="rId261"/>
    <p:sldId id="1013" r:id="rId262"/>
    <p:sldId id="813" r:id="rId263"/>
    <p:sldId id="814" r:id="rId264"/>
    <p:sldId id="815" r:id="rId265"/>
    <p:sldId id="1031" r:id="rId266"/>
    <p:sldId id="817" r:id="rId267"/>
    <p:sldId id="818" r:id="rId268"/>
    <p:sldId id="819" r:id="rId269"/>
    <p:sldId id="820" r:id="rId270"/>
    <p:sldId id="821" r:id="rId271"/>
    <p:sldId id="822" r:id="rId272"/>
    <p:sldId id="823" r:id="rId273"/>
    <p:sldId id="824" r:id="rId274"/>
    <p:sldId id="825" r:id="rId275"/>
    <p:sldId id="826" r:id="rId276"/>
    <p:sldId id="827" r:id="rId277"/>
    <p:sldId id="828" r:id="rId278"/>
    <p:sldId id="829" r:id="rId279"/>
    <p:sldId id="830" r:id="rId280"/>
    <p:sldId id="831" r:id="rId281"/>
    <p:sldId id="832" r:id="rId282"/>
    <p:sldId id="833" r:id="rId283"/>
    <p:sldId id="834" r:id="rId284"/>
    <p:sldId id="835" r:id="rId285"/>
    <p:sldId id="836" r:id="rId286"/>
    <p:sldId id="837" r:id="rId287"/>
    <p:sldId id="736" r:id="rId288"/>
    <p:sldId id="737" r:id="rId289"/>
    <p:sldId id="1027" r:id="rId290"/>
    <p:sldId id="739" r:id="rId291"/>
    <p:sldId id="740" r:id="rId292"/>
    <p:sldId id="806" r:id="rId293"/>
    <p:sldId id="1028" r:id="rId294"/>
    <p:sldId id="1029" r:id="rId295"/>
    <p:sldId id="744" r:id="rId296"/>
    <p:sldId id="1030" r:id="rId297"/>
    <p:sldId id="539" r:id="rId298"/>
  </p:sldIdLst>
  <p:sldSz cx="12192000" cy="6858000"/>
  <p:notesSz cx="6858000" cy="9144000"/>
  <p:defaultTex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0F5E7"/>
    <a:srgbClr val="F3FBFB"/>
    <a:srgbClr val="FFF7F3"/>
    <a:srgbClr val="FF9933"/>
    <a:srgbClr val="188509"/>
    <a:srgbClr val="9E7E0A"/>
    <a:srgbClr val="F2C72A"/>
    <a:srgbClr val="1A71B6"/>
    <a:srgbClr val="0D416F"/>
    <a:srgbClr val="00354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2119" autoAdjust="0"/>
    <p:restoredTop sz="94660"/>
  </p:normalViewPr>
  <p:slideViewPr>
    <p:cSldViewPr snapToGrid="0">
      <p:cViewPr varScale="1">
        <p:scale>
          <a:sx n="61" d="100"/>
          <a:sy n="61" d="100"/>
        </p:scale>
        <p:origin x="924" y="52"/>
      </p:cViewPr>
      <p:guideLst/>
    </p:cSldViewPr>
  </p:slideViewPr>
  <p:notesTextViewPr>
    <p:cViewPr>
      <p:scale>
        <a:sx n="3" d="2"/>
        <a:sy n="3" d="2"/>
      </p:scale>
      <p:origin x="0" y="0"/>
    </p:cViewPr>
  </p:notesTextViewPr>
  <p:sorterViewPr>
    <p:cViewPr>
      <p:scale>
        <a:sx n="100" d="100"/>
        <a:sy n="100" d="100"/>
      </p:scale>
      <p:origin x="0" y="-7230"/>
    </p:cViewPr>
  </p:sorterViewPr>
  <p:notesViewPr>
    <p:cSldViewPr snapToGrid="0">
      <p:cViewPr varScale="1">
        <p:scale>
          <a:sx n="54" d="100"/>
          <a:sy n="54" d="100"/>
        </p:scale>
        <p:origin x="2796" y="42"/>
      </p:cViewPr>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99" Type="http://schemas.openxmlformats.org/officeDocument/2006/relationships/notesMaster" Target="notesMasters/notesMaster1.xml"/><Relationship Id="rId21" Type="http://schemas.openxmlformats.org/officeDocument/2006/relationships/slide" Target="slides/slide17.xml"/><Relationship Id="rId63" Type="http://schemas.openxmlformats.org/officeDocument/2006/relationships/slide" Target="slides/slide59.xml"/><Relationship Id="rId159" Type="http://schemas.openxmlformats.org/officeDocument/2006/relationships/slide" Target="slides/slide155.xml"/><Relationship Id="rId170" Type="http://schemas.openxmlformats.org/officeDocument/2006/relationships/slide" Target="slides/slide166.xml"/><Relationship Id="rId226" Type="http://schemas.openxmlformats.org/officeDocument/2006/relationships/slide" Target="slides/slide222.xml"/><Relationship Id="rId268" Type="http://schemas.openxmlformats.org/officeDocument/2006/relationships/slide" Target="slides/slide264.xml"/><Relationship Id="rId32" Type="http://schemas.openxmlformats.org/officeDocument/2006/relationships/slide" Target="slides/slide28.xml"/><Relationship Id="rId74" Type="http://schemas.openxmlformats.org/officeDocument/2006/relationships/slide" Target="slides/slide70.xml"/><Relationship Id="rId128" Type="http://schemas.openxmlformats.org/officeDocument/2006/relationships/slide" Target="slides/slide124.xml"/><Relationship Id="rId5" Type="http://schemas.openxmlformats.org/officeDocument/2006/relationships/slide" Target="slides/slide1.xml"/><Relationship Id="rId181" Type="http://schemas.openxmlformats.org/officeDocument/2006/relationships/slide" Target="slides/slide177.xml"/><Relationship Id="rId237" Type="http://schemas.openxmlformats.org/officeDocument/2006/relationships/slide" Target="slides/slide233.xml"/><Relationship Id="rId279" Type="http://schemas.openxmlformats.org/officeDocument/2006/relationships/slide" Target="slides/slide275.xml"/><Relationship Id="rId43" Type="http://schemas.openxmlformats.org/officeDocument/2006/relationships/slide" Target="slides/slide39.xml"/><Relationship Id="rId139" Type="http://schemas.openxmlformats.org/officeDocument/2006/relationships/slide" Target="slides/slide135.xml"/><Relationship Id="rId290" Type="http://schemas.openxmlformats.org/officeDocument/2006/relationships/slide" Target="slides/slide286.xml"/><Relationship Id="rId304" Type="http://schemas.openxmlformats.org/officeDocument/2006/relationships/tableStyles" Target="tableStyles.xml"/><Relationship Id="rId85" Type="http://schemas.openxmlformats.org/officeDocument/2006/relationships/slide" Target="slides/slide81.xml"/><Relationship Id="rId150" Type="http://schemas.openxmlformats.org/officeDocument/2006/relationships/slide" Target="slides/slide146.xml"/><Relationship Id="rId192" Type="http://schemas.openxmlformats.org/officeDocument/2006/relationships/slide" Target="slides/slide188.xml"/><Relationship Id="rId206" Type="http://schemas.openxmlformats.org/officeDocument/2006/relationships/slide" Target="slides/slide202.xml"/><Relationship Id="rId248" Type="http://schemas.openxmlformats.org/officeDocument/2006/relationships/slide" Target="slides/slide244.xml"/><Relationship Id="rId12" Type="http://schemas.openxmlformats.org/officeDocument/2006/relationships/slide" Target="slides/slide8.xml"/><Relationship Id="rId108" Type="http://schemas.openxmlformats.org/officeDocument/2006/relationships/slide" Target="slides/slide104.xml"/><Relationship Id="rId54" Type="http://schemas.openxmlformats.org/officeDocument/2006/relationships/slide" Target="slides/slide50.xml"/><Relationship Id="rId96" Type="http://schemas.openxmlformats.org/officeDocument/2006/relationships/slide" Target="slides/slide92.xml"/><Relationship Id="rId161" Type="http://schemas.openxmlformats.org/officeDocument/2006/relationships/slide" Target="slides/slide157.xml"/><Relationship Id="rId217" Type="http://schemas.openxmlformats.org/officeDocument/2006/relationships/slide" Target="slides/slide213.xml"/><Relationship Id="rId6" Type="http://schemas.openxmlformats.org/officeDocument/2006/relationships/slide" Target="slides/slide2.xml"/><Relationship Id="rId238" Type="http://schemas.openxmlformats.org/officeDocument/2006/relationships/slide" Target="slides/slide234.xml"/><Relationship Id="rId259" Type="http://schemas.openxmlformats.org/officeDocument/2006/relationships/slide" Target="slides/slide255.xml"/><Relationship Id="rId23" Type="http://schemas.openxmlformats.org/officeDocument/2006/relationships/slide" Target="slides/slide19.xml"/><Relationship Id="rId119" Type="http://schemas.openxmlformats.org/officeDocument/2006/relationships/slide" Target="slides/slide115.xml"/><Relationship Id="rId270" Type="http://schemas.openxmlformats.org/officeDocument/2006/relationships/slide" Target="slides/slide266.xml"/><Relationship Id="rId291" Type="http://schemas.openxmlformats.org/officeDocument/2006/relationships/slide" Target="slides/slide287.xml"/><Relationship Id="rId44" Type="http://schemas.openxmlformats.org/officeDocument/2006/relationships/slide" Target="slides/slide40.xml"/><Relationship Id="rId65" Type="http://schemas.openxmlformats.org/officeDocument/2006/relationships/slide" Target="slides/slide61.xml"/><Relationship Id="rId86" Type="http://schemas.openxmlformats.org/officeDocument/2006/relationships/slide" Target="slides/slide82.xml"/><Relationship Id="rId130" Type="http://schemas.openxmlformats.org/officeDocument/2006/relationships/slide" Target="slides/slide126.xml"/><Relationship Id="rId151" Type="http://schemas.openxmlformats.org/officeDocument/2006/relationships/slide" Target="slides/slide147.xml"/><Relationship Id="rId172" Type="http://schemas.openxmlformats.org/officeDocument/2006/relationships/slide" Target="slides/slide168.xml"/><Relationship Id="rId193" Type="http://schemas.openxmlformats.org/officeDocument/2006/relationships/slide" Target="slides/slide189.xml"/><Relationship Id="rId207" Type="http://schemas.openxmlformats.org/officeDocument/2006/relationships/slide" Target="slides/slide203.xml"/><Relationship Id="rId228" Type="http://schemas.openxmlformats.org/officeDocument/2006/relationships/slide" Target="slides/slide224.xml"/><Relationship Id="rId249" Type="http://schemas.openxmlformats.org/officeDocument/2006/relationships/slide" Target="slides/slide245.xml"/><Relationship Id="rId13" Type="http://schemas.openxmlformats.org/officeDocument/2006/relationships/slide" Target="slides/slide9.xml"/><Relationship Id="rId109" Type="http://schemas.openxmlformats.org/officeDocument/2006/relationships/slide" Target="slides/slide105.xml"/><Relationship Id="rId260" Type="http://schemas.openxmlformats.org/officeDocument/2006/relationships/slide" Target="slides/slide256.xml"/><Relationship Id="rId281" Type="http://schemas.openxmlformats.org/officeDocument/2006/relationships/slide" Target="slides/slide277.xml"/><Relationship Id="rId34" Type="http://schemas.openxmlformats.org/officeDocument/2006/relationships/slide" Target="slides/slide30.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20" Type="http://schemas.openxmlformats.org/officeDocument/2006/relationships/slide" Target="slides/slide116.xml"/><Relationship Id="rId141" Type="http://schemas.openxmlformats.org/officeDocument/2006/relationships/slide" Target="slides/slide137.xml"/><Relationship Id="rId7" Type="http://schemas.openxmlformats.org/officeDocument/2006/relationships/slide" Target="slides/slide3.xml"/><Relationship Id="rId162" Type="http://schemas.openxmlformats.org/officeDocument/2006/relationships/slide" Target="slides/slide158.xml"/><Relationship Id="rId183" Type="http://schemas.openxmlformats.org/officeDocument/2006/relationships/slide" Target="slides/slide179.xml"/><Relationship Id="rId218" Type="http://schemas.openxmlformats.org/officeDocument/2006/relationships/slide" Target="slides/slide214.xml"/><Relationship Id="rId239" Type="http://schemas.openxmlformats.org/officeDocument/2006/relationships/slide" Target="slides/slide235.xml"/><Relationship Id="rId250" Type="http://schemas.openxmlformats.org/officeDocument/2006/relationships/slide" Target="slides/slide246.xml"/><Relationship Id="rId271" Type="http://schemas.openxmlformats.org/officeDocument/2006/relationships/slide" Target="slides/slide267.xml"/><Relationship Id="rId292" Type="http://schemas.openxmlformats.org/officeDocument/2006/relationships/slide" Target="slides/slide288.xml"/><Relationship Id="rId24" Type="http://schemas.openxmlformats.org/officeDocument/2006/relationships/slide" Target="slides/slide20.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31" Type="http://schemas.openxmlformats.org/officeDocument/2006/relationships/slide" Target="slides/slide127.xml"/><Relationship Id="rId152" Type="http://schemas.openxmlformats.org/officeDocument/2006/relationships/slide" Target="slides/slide148.xml"/><Relationship Id="rId173" Type="http://schemas.openxmlformats.org/officeDocument/2006/relationships/slide" Target="slides/slide169.xml"/><Relationship Id="rId194" Type="http://schemas.openxmlformats.org/officeDocument/2006/relationships/slide" Target="slides/slide190.xml"/><Relationship Id="rId208" Type="http://schemas.openxmlformats.org/officeDocument/2006/relationships/slide" Target="slides/slide204.xml"/><Relationship Id="rId229" Type="http://schemas.openxmlformats.org/officeDocument/2006/relationships/slide" Target="slides/slide225.xml"/><Relationship Id="rId240" Type="http://schemas.openxmlformats.org/officeDocument/2006/relationships/slide" Target="slides/slide236.xml"/><Relationship Id="rId261" Type="http://schemas.openxmlformats.org/officeDocument/2006/relationships/slide" Target="slides/slide257.xml"/><Relationship Id="rId14" Type="http://schemas.openxmlformats.org/officeDocument/2006/relationships/slide" Target="slides/slide10.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282" Type="http://schemas.openxmlformats.org/officeDocument/2006/relationships/slide" Target="slides/slide278.xml"/><Relationship Id="rId8" Type="http://schemas.openxmlformats.org/officeDocument/2006/relationships/slide" Target="slides/slide4.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slide" Target="slides/slide138.xml"/><Relationship Id="rId163" Type="http://schemas.openxmlformats.org/officeDocument/2006/relationships/slide" Target="slides/slide159.xml"/><Relationship Id="rId184" Type="http://schemas.openxmlformats.org/officeDocument/2006/relationships/slide" Target="slides/slide180.xml"/><Relationship Id="rId219" Type="http://schemas.openxmlformats.org/officeDocument/2006/relationships/slide" Target="slides/slide215.xml"/><Relationship Id="rId230" Type="http://schemas.openxmlformats.org/officeDocument/2006/relationships/slide" Target="slides/slide226.xml"/><Relationship Id="rId251" Type="http://schemas.openxmlformats.org/officeDocument/2006/relationships/slide" Target="slides/slide247.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272" Type="http://schemas.openxmlformats.org/officeDocument/2006/relationships/slide" Target="slides/slide268.xml"/><Relationship Id="rId293" Type="http://schemas.openxmlformats.org/officeDocument/2006/relationships/slide" Target="slides/slide289.xml"/><Relationship Id="rId88" Type="http://schemas.openxmlformats.org/officeDocument/2006/relationships/slide" Target="slides/slide84.xml"/><Relationship Id="rId111" Type="http://schemas.openxmlformats.org/officeDocument/2006/relationships/slide" Target="slides/slide107.xml"/><Relationship Id="rId132" Type="http://schemas.openxmlformats.org/officeDocument/2006/relationships/slide" Target="slides/slide128.xml"/><Relationship Id="rId153" Type="http://schemas.openxmlformats.org/officeDocument/2006/relationships/slide" Target="slides/slide149.xml"/><Relationship Id="rId174" Type="http://schemas.openxmlformats.org/officeDocument/2006/relationships/slide" Target="slides/slide170.xml"/><Relationship Id="rId195" Type="http://schemas.openxmlformats.org/officeDocument/2006/relationships/slide" Target="slides/slide191.xml"/><Relationship Id="rId209" Type="http://schemas.openxmlformats.org/officeDocument/2006/relationships/slide" Target="slides/slide205.xml"/><Relationship Id="rId220" Type="http://schemas.openxmlformats.org/officeDocument/2006/relationships/slide" Target="slides/slide216.xml"/><Relationship Id="rId241" Type="http://schemas.openxmlformats.org/officeDocument/2006/relationships/slide" Target="slides/slide237.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262" Type="http://schemas.openxmlformats.org/officeDocument/2006/relationships/slide" Target="slides/slide258.xml"/><Relationship Id="rId283" Type="http://schemas.openxmlformats.org/officeDocument/2006/relationships/slide" Target="slides/slide279.xml"/><Relationship Id="rId78" Type="http://schemas.openxmlformats.org/officeDocument/2006/relationships/slide" Target="slides/slide74.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43" Type="http://schemas.openxmlformats.org/officeDocument/2006/relationships/slide" Target="slides/slide139.xml"/><Relationship Id="rId164" Type="http://schemas.openxmlformats.org/officeDocument/2006/relationships/slide" Target="slides/slide160.xml"/><Relationship Id="rId185" Type="http://schemas.openxmlformats.org/officeDocument/2006/relationships/slide" Target="slides/slide181.xml"/><Relationship Id="rId9" Type="http://schemas.openxmlformats.org/officeDocument/2006/relationships/slide" Target="slides/slide5.xml"/><Relationship Id="rId210" Type="http://schemas.openxmlformats.org/officeDocument/2006/relationships/slide" Target="slides/slide206.xml"/><Relationship Id="rId26" Type="http://schemas.openxmlformats.org/officeDocument/2006/relationships/slide" Target="slides/slide22.xml"/><Relationship Id="rId231" Type="http://schemas.openxmlformats.org/officeDocument/2006/relationships/slide" Target="slides/slide227.xml"/><Relationship Id="rId252" Type="http://schemas.openxmlformats.org/officeDocument/2006/relationships/slide" Target="slides/slide248.xml"/><Relationship Id="rId273" Type="http://schemas.openxmlformats.org/officeDocument/2006/relationships/slide" Target="slides/slide269.xml"/><Relationship Id="rId294" Type="http://schemas.openxmlformats.org/officeDocument/2006/relationships/slide" Target="slides/slide290.xml"/><Relationship Id="rId47" Type="http://schemas.openxmlformats.org/officeDocument/2006/relationships/slide" Target="slides/slide43.xml"/><Relationship Id="rId68" Type="http://schemas.openxmlformats.org/officeDocument/2006/relationships/slide" Target="slides/slide64.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54" Type="http://schemas.openxmlformats.org/officeDocument/2006/relationships/slide" Target="slides/slide150.xml"/><Relationship Id="rId175" Type="http://schemas.openxmlformats.org/officeDocument/2006/relationships/slide" Target="slides/slide171.xml"/><Relationship Id="rId196" Type="http://schemas.openxmlformats.org/officeDocument/2006/relationships/slide" Target="slides/slide192.xml"/><Relationship Id="rId200" Type="http://schemas.openxmlformats.org/officeDocument/2006/relationships/slide" Target="slides/slide196.xml"/><Relationship Id="rId16" Type="http://schemas.openxmlformats.org/officeDocument/2006/relationships/slide" Target="slides/slide12.xml"/><Relationship Id="rId221" Type="http://schemas.openxmlformats.org/officeDocument/2006/relationships/slide" Target="slides/slide217.xml"/><Relationship Id="rId242" Type="http://schemas.openxmlformats.org/officeDocument/2006/relationships/slide" Target="slides/slide238.xml"/><Relationship Id="rId263" Type="http://schemas.openxmlformats.org/officeDocument/2006/relationships/slide" Target="slides/slide259.xml"/><Relationship Id="rId284" Type="http://schemas.openxmlformats.org/officeDocument/2006/relationships/slide" Target="slides/slide280.xml"/><Relationship Id="rId37" Type="http://schemas.openxmlformats.org/officeDocument/2006/relationships/slide" Target="slides/slide33.xml"/><Relationship Id="rId58" Type="http://schemas.openxmlformats.org/officeDocument/2006/relationships/slide" Target="slides/slide54.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44" Type="http://schemas.openxmlformats.org/officeDocument/2006/relationships/slide" Target="slides/slide140.xml"/><Relationship Id="rId90" Type="http://schemas.openxmlformats.org/officeDocument/2006/relationships/slide" Target="slides/slide86.xml"/><Relationship Id="rId165" Type="http://schemas.openxmlformats.org/officeDocument/2006/relationships/slide" Target="slides/slide161.xml"/><Relationship Id="rId186" Type="http://schemas.openxmlformats.org/officeDocument/2006/relationships/slide" Target="slides/slide182.xml"/><Relationship Id="rId211" Type="http://schemas.openxmlformats.org/officeDocument/2006/relationships/slide" Target="slides/slide207.xml"/><Relationship Id="rId232" Type="http://schemas.openxmlformats.org/officeDocument/2006/relationships/slide" Target="slides/slide228.xml"/><Relationship Id="rId253" Type="http://schemas.openxmlformats.org/officeDocument/2006/relationships/slide" Target="slides/slide249.xml"/><Relationship Id="rId274" Type="http://schemas.openxmlformats.org/officeDocument/2006/relationships/slide" Target="slides/slide270.xml"/><Relationship Id="rId295" Type="http://schemas.openxmlformats.org/officeDocument/2006/relationships/slide" Target="slides/slide291.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201" Type="http://schemas.openxmlformats.org/officeDocument/2006/relationships/slide" Target="slides/slide197.xml"/><Relationship Id="rId222" Type="http://schemas.openxmlformats.org/officeDocument/2006/relationships/slide" Target="slides/slide218.xml"/><Relationship Id="rId243" Type="http://schemas.openxmlformats.org/officeDocument/2006/relationships/slide" Target="slides/slide239.xml"/><Relationship Id="rId264" Type="http://schemas.openxmlformats.org/officeDocument/2006/relationships/slide" Target="slides/slide260.xml"/><Relationship Id="rId285" Type="http://schemas.openxmlformats.org/officeDocument/2006/relationships/slide" Target="slides/slide281.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1" Type="http://schemas.openxmlformats.org/officeDocument/2006/relationships/customXml" Target="../customXml/item1.xml"/><Relationship Id="rId212" Type="http://schemas.openxmlformats.org/officeDocument/2006/relationships/slide" Target="slides/slide208.xml"/><Relationship Id="rId233" Type="http://schemas.openxmlformats.org/officeDocument/2006/relationships/slide" Target="slides/slide229.xml"/><Relationship Id="rId254" Type="http://schemas.openxmlformats.org/officeDocument/2006/relationships/slide" Target="slides/slide250.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275" Type="http://schemas.openxmlformats.org/officeDocument/2006/relationships/slide" Target="slides/slide271.xml"/><Relationship Id="rId296" Type="http://schemas.openxmlformats.org/officeDocument/2006/relationships/slide" Target="slides/slide292.xml"/><Relationship Id="rId300" Type="http://schemas.openxmlformats.org/officeDocument/2006/relationships/handoutMaster" Target="handoutMasters/handoutMaster1.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202" Type="http://schemas.openxmlformats.org/officeDocument/2006/relationships/slide" Target="slides/slide198.xml"/><Relationship Id="rId223" Type="http://schemas.openxmlformats.org/officeDocument/2006/relationships/slide" Target="slides/slide219.xml"/><Relationship Id="rId244" Type="http://schemas.openxmlformats.org/officeDocument/2006/relationships/slide" Target="slides/slide240.xml"/><Relationship Id="rId18" Type="http://schemas.openxmlformats.org/officeDocument/2006/relationships/slide" Target="slides/slide14.xml"/><Relationship Id="rId39" Type="http://schemas.openxmlformats.org/officeDocument/2006/relationships/slide" Target="slides/slide35.xml"/><Relationship Id="rId265" Type="http://schemas.openxmlformats.org/officeDocument/2006/relationships/slide" Target="slides/slide261.xml"/><Relationship Id="rId286" Type="http://schemas.openxmlformats.org/officeDocument/2006/relationships/slide" Target="slides/slide282.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slide" Target="slides/slide209.xml"/><Relationship Id="rId234" Type="http://schemas.openxmlformats.org/officeDocument/2006/relationships/slide" Target="slides/slide230.xml"/><Relationship Id="rId2" Type="http://schemas.openxmlformats.org/officeDocument/2006/relationships/customXml" Target="../customXml/item2.xml"/><Relationship Id="rId29" Type="http://schemas.openxmlformats.org/officeDocument/2006/relationships/slide" Target="slides/slide25.xml"/><Relationship Id="rId255" Type="http://schemas.openxmlformats.org/officeDocument/2006/relationships/slide" Target="slides/slide251.xml"/><Relationship Id="rId276" Type="http://schemas.openxmlformats.org/officeDocument/2006/relationships/slide" Target="slides/slide272.xml"/><Relationship Id="rId297" Type="http://schemas.openxmlformats.org/officeDocument/2006/relationships/slide" Target="slides/slide293.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301" Type="http://schemas.openxmlformats.org/officeDocument/2006/relationships/presProps" Target="presProps.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 Id="rId19" Type="http://schemas.openxmlformats.org/officeDocument/2006/relationships/slide" Target="slides/slide15.xml"/><Relationship Id="rId224" Type="http://schemas.openxmlformats.org/officeDocument/2006/relationships/slide" Target="slides/slide220.xml"/><Relationship Id="rId245" Type="http://schemas.openxmlformats.org/officeDocument/2006/relationships/slide" Target="slides/slide241.xml"/><Relationship Id="rId266" Type="http://schemas.openxmlformats.org/officeDocument/2006/relationships/slide" Target="slides/slide262.xml"/><Relationship Id="rId287" Type="http://schemas.openxmlformats.org/officeDocument/2006/relationships/slide" Target="slides/slide283.xml"/><Relationship Id="rId30" Type="http://schemas.openxmlformats.org/officeDocument/2006/relationships/slide" Target="slides/slide2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189" Type="http://schemas.openxmlformats.org/officeDocument/2006/relationships/slide" Target="slides/slide185.xml"/><Relationship Id="rId3" Type="http://schemas.openxmlformats.org/officeDocument/2006/relationships/customXml" Target="../customXml/item3.xml"/><Relationship Id="rId214" Type="http://schemas.openxmlformats.org/officeDocument/2006/relationships/slide" Target="slides/slide210.xml"/><Relationship Id="rId235" Type="http://schemas.openxmlformats.org/officeDocument/2006/relationships/slide" Target="slides/slide231.xml"/><Relationship Id="rId256" Type="http://schemas.openxmlformats.org/officeDocument/2006/relationships/slide" Target="slides/slide252.xml"/><Relationship Id="rId277" Type="http://schemas.openxmlformats.org/officeDocument/2006/relationships/slide" Target="slides/slide273.xml"/><Relationship Id="rId298" Type="http://schemas.openxmlformats.org/officeDocument/2006/relationships/slide" Target="slides/slide294.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302" Type="http://schemas.openxmlformats.org/officeDocument/2006/relationships/viewProps" Target="viewProps.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179" Type="http://schemas.openxmlformats.org/officeDocument/2006/relationships/slide" Target="slides/slide175.xml"/><Relationship Id="rId190" Type="http://schemas.openxmlformats.org/officeDocument/2006/relationships/slide" Target="slides/slide186.xml"/><Relationship Id="rId204" Type="http://schemas.openxmlformats.org/officeDocument/2006/relationships/slide" Target="slides/slide200.xml"/><Relationship Id="rId225" Type="http://schemas.openxmlformats.org/officeDocument/2006/relationships/slide" Target="slides/slide221.xml"/><Relationship Id="rId246" Type="http://schemas.openxmlformats.org/officeDocument/2006/relationships/slide" Target="slides/slide242.xml"/><Relationship Id="rId267" Type="http://schemas.openxmlformats.org/officeDocument/2006/relationships/slide" Target="slides/slide263.xml"/><Relationship Id="rId288" Type="http://schemas.openxmlformats.org/officeDocument/2006/relationships/slide" Target="slides/slide284.xml"/><Relationship Id="rId106" Type="http://schemas.openxmlformats.org/officeDocument/2006/relationships/slide" Target="slides/slide102.xml"/><Relationship Id="rId127" Type="http://schemas.openxmlformats.org/officeDocument/2006/relationships/slide" Target="slides/slide123.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94" Type="http://schemas.openxmlformats.org/officeDocument/2006/relationships/slide" Target="slides/slide90.xml"/><Relationship Id="rId148" Type="http://schemas.openxmlformats.org/officeDocument/2006/relationships/slide" Target="slides/slide144.xml"/><Relationship Id="rId169" Type="http://schemas.openxmlformats.org/officeDocument/2006/relationships/slide" Target="slides/slide165.xml"/><Relationship Id="rId4" Type="http://schemas.openxmlformats.org/officeDocument/2006/relationships/slideMaster" Target="slideMasters/slideMaster1.xml"/><Relationship Id="rId180" Type="http://schemas.openxmlformats.org/officeDocument/2006/relationships/slide" Target="slides/slide176.xml"/><Relationship Id="rId215" Type="http://schemas.openxmlformats.org/officeDocument/2006/relationships/slide" Target="slides/slide211.xml"/><Relationship Id="rId236" Type="http://schemas.openxmlformats.org/officeDocument/2006/relationships/slide" Target="slides/slide232.xml"/><Relationship Id="rId257" Type="http://schemas.openxmlformats.org/officeDocument/2006/relationships/slide" Target="slides/slide253.xml"/><Relationship Id="rId278" Type="http://schemas.openxmlformats.org/officeDocument/2006/relationships/slide" Target="slides/slide274.xml"/><Relationship Id="rId303" Type="http://schemas.openxmlformats.org/officeDocument/2006/relationships/theme" Target="theme/theme1.xml"/><Relationship Id="rId42" Type="http://schemas.openxmlformats.org/officeDocument/2006/relationships/slide" Target="slides/slide38.xml"/><Relationship Id="rId84" Type="http://schemas.openxmlformats.org/officeDocument/2006/relationships/slide" Target="slides/slide80.xml"/><Relationship Id="rId138" Type="http://schemas.openxmlformats.org/officeDocument/2006/relationships/slide" Target="slides/slide134.xml"/><Relationship Id="rId191" Type="http://schemas.openxmlformats.org/officeDocument/2006/relationships/slide" Target="slides/slide187.xml"/><Relationship Id="rId205" Type="http://schemas.openxmlformats.org/officeDocument/2006/relationships/slide" Target="slides/slide201.xml"/><Relationship Id="rId247" Type="http://schemas.openxmlformats.org/officeDocument/2006/relationships/slide" Target="slides/slide243.xml"/><Relationship Id="rId107" Type="http://schemas.openxmlformats.org/officeDocument/2006/relationships/slide" Target="slides/slide103.xml"/><Relationship Id="rId289" Type="http://schemas.openxmlformats.org/officeDocument/2006/relationships/slide" Target="slides/slide285.xml"/><Relationship Id="rId11" Type="http://schemas.openxmlformats.org/officeDocument/2006/relationships/slide" Target="slides/slide7.xml"/><Relationship Id="rId53" Type="http://schemas.openxmlformats.org/officeDocument/2006/relationships/slide" Target="slides/slide49.xml"/><Relationship Id="rId149" Type="http://schemas.openxmlformats.org/officeDocument/2006/relationships/slide" Target="slides/slide145.xml"/><Relationship Id="rId95" Type="http://schemas.openxmlformats.org/officeDocument/2006/relationships/slide" Target="slides/slide91.xml"/><Relationship Id="rId160" Type="http://schemas.openxmlformats.org/officeDocument/2006/relationships/slide" Target="slides/slide156.xml"/><Relationship Id="rId216" Type="http://schemas.openxmlformats.org/officeDocument/2006/relationships/slide" Target="slides/slide212.xml"/><Relationship Id="rId258" Type="http://schemas.openxmlformats.org/officeDocument/2006/relationships/slide" Target="slides/slide254.xml"/><Relationship Id="rId22" Type="http://schemas.openxmlformats.org/officeDocument/2006/relationships/slide" Target="slides/slide18.xml"/><Relationship Id="rId64" Type="http://schemas.openxmlformats.org/officeDocument/2006/relationships/slide" Target="slides/slide60.xml"/><Relationship Id="rId118" Type="http://schemas.openxmlformats.org/officeDocument/2006/relationships/slide" Target="slides/slide114.xml"/><Relationship Id="rId171" Type="http://schemas.openxmlformats.org/officeDocument/2006/relationships/slide" Target="slides/slide167.xml"/><Relationship Id="rId227" Type="http://schemas.openxmlformats.org/officeDocument/2006/relationships/slide" Target="slides/slide223.xml"/><Relationship Id="rId269" Type="http://schemas.openxmlformats.org/officeDocument/2006/relationships/slide" Target="slides/slide265.xml"/><Relationship Id="rId33" Type="http://schemas.openxmlformats.org/officeDocument/2006/relationships/slide" Target="slides/slide29.xml"/><Relationship Id="rId129" Type="http://schemas.openxmlformats.org/officeDocument/2006/relationships/slide" Target="slides/slide125.xml"/><Relationship Id="rId280" Type="http://schemas.openxmlformats.org/officeDocument/2006/relationships/slide" Target="slides/slide276.xml"/><Relationship Id="rId75" Type="http://schemas.openxmlformats.org/officeDocument/2006/relationships/slide" Target="slides/slide71.xml"/><Relationship Id="rId140" Type="http://schemas.openxmlformats.org/officeDocument/2006/relationships/slide" Target="slides/slide136.xml"/><Relationship Id="rId182" Type="http://schemas.openxmlformats.org/officeDocument/2006/relationships/slide" Target="slides/slide178.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chartUserShapes" Target="../drawings/drawing1.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chartUserShapes" Target="../drawings/drawing2.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6.xml"/><Relationship Id="rId1" Type="http://schemas.microsoft.com/office/2011/relationships/chartStyle" Target="style16.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7.xml"/><Relationship Id="rId1" Type="http://schemas.microsoft.com/office/2011/relationships/chartStyle" Target="style17.xml"/><Relationship Id="rId4" Type="http://schemas.openxmlformats.org/officeDocument/2006/relationships/chartUserShapes" Target="../drawings/drawing3.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18.xml"/><Relationship Id="rId1" Type="http://schemas.microsoft.com/office/2011/relationships/chartStyle" Target="style18.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19.xml"/><Relationship Id="rId1" Type="http://schemas.microsoft.com/office/2011/relationships/chartStyle" Target="style19.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20.xml"/><Relationship Id="rId1" Type="http://schemas.microsoft.com/office/2011/relationships/chartStyle" Target="style20.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1.xml"/><Relationship Id="rId1" Type="http://schemas.microsoft.com/office/2011/relationships/chartStyle" Target="style21.xml"/><Relationship Id="rId4" Type="http://schemas.openxmlformats.org/officeDocument/2006/relationships/chartUserShapes" Target="../drawings/drawing4.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22.xml"/><Relationship Id="rId1" Type="http://schemas.microsoft.com/office/2011/relationships/chartStyle" Target="style22.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23.xml"/><Relationship Id="rId1" Type="http://schemas.microsoft.com/office/2011/relationships/chartStyle" Target="style23.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24.xml"/><Relationship Id="rId1" Type="http://schemas.microsoft.com/office/2011/relationships/chartStyle" Target="style24.xml"/><Relationship Id="rId4" Type="http://schemas.openxmlformats.org/officeDocument/2006/relationships/chartUserShapes" Target="../drawings/drawing5.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25.xml"/><Relationship Id="rId1" Type="http://schemas.microsoft.com/office/2011/relationships/chartStyle" Target="style25.xml"/><Relationship Id="rId4" Type="http://schemas.openxmlformats.org/officeDocument/2006/relationships/chartUserShapes" Target="../drawings/drawing6.xml"/></Relationships>
</file>

<file path=ppt/charts/_rels/chart26.xml.rels><?xml version="1.0" encoding="UTF-8" standalone="yes"?>
<Relationships xmlns="http://schemas.openxmlformats.org/package/2006/relationships"><Relationship Id="rId3" Type="http://schemas.openxmlformats.org/officeDocument/2006/relationships/oleObject" Target="NULL" TargetMode="External"/><Relationship Id="rId2" Type="http://schemas.microsoft.com/office/2011/relationships/chartColorStyle" Target="colors26.xml"/><Relationship Id="rId1" Type="http://schemas.microsoft.com/office/2011/relationships/chartStyle" Target="style26.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27.xml"/><Relationship Id="rId1" Type="http://schemas.microsoft.com/office/2011/relationships/chartStyle" Target="style27.xml"/><Relationship Id="rId4" Type="http://schemas.openxmlformats.org/officeDocument/2006/relationships/chartUserShapes" Target="../drawings/drawing7.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28.xml"/><Relationship Id="rId1" Type="http://schemas.microsoft.com/office/2011/relationships/chartStyle" Target="style28.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29.xml"/><Relationship Id="rId1" Type="http://schemas.microsoft.com/office/2011/relationships/chartStyle" Target="style29.xml"/><Relationship Id="rId4" Type="http://schemas.openxmlformats.org/officeDocument/2006/relationships/chartUserShapes" Target="../drawings/drawing8.xml"/></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30.xml"/><Relationship Id="rId1" Type="http://schemas.microsoft.com/office/2011/relationships/chartStyle" Target="style30.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31.xml"/><Relationship Id="rId1" Type="http://schemas.microsoft.com/office/2011/relationships/chartStyle" Target="style31.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32.xml"/><Relationship Id="rId1" Type="http://schemas.microsoft.com/office/2011/relationships/chartStyle" Target="style32.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33.xml"/><Relationship Id="rId1" Type="http://schemas.microsoft.com/office/2011/relationships/chartStyle" Target="style33.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34.xml"/><Relationship Id="rId1" Type="http://schemas.microsoft.com/office/2011/relationships/chartStyle" Target="style34.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35.xml"/><Relationship Id="rId1" Type="http://schemas.microsoft.com/office/2011/relationships/chartStyle" Target="style35.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36.xml"/><Relationship Id="rId1" Type="http://schemas.microsoft.com/office/2011/relationships/chartStyle" Target="style36.xml"/></Relationships>
</file>

<file path=ppt/charts/_rels/chart37.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37.xml"/><Relationship Id="rId1" Type="http://schemas.microsoft.com/office/2011/relationships/chartStyle" Target="style37.xml"/><Relationship Id="rId4" Type="http://schemas.openxmlformats.org/officeDocument/2006/relationships/package" Target="../embeddings/Microsoft_Excel_Worksheet35.xlsx"/></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38.xml"/><Relationship Id="rId1" Type="http://schemas.microsoft.com/office/2011/relationships/chartStyle" Target="style38.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39.xml"/><Relationship Id="rId1" Type="http://schemas.microsoft.com/office/2011/relationships/chartStyle" Target="style39.xml"/></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40.xml"/><Relationship Id="rId1" Type="http://schemas.microsoft.com/office/2011/relationships/chartStyle" Target="style40.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41.xml"/><Relationship Id="rId1" Type="http://schemas.microsoft.com/office/2011/relationships/chartStyle" Target="style41.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42.xml"/><Relationship Id="rId1" Type="http://schemas.microsoft.com/office/2011/relationships/chartStyle" Target="style42.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43.xml"/><Relationship Id="rId1" Type="http://schemas.microsoft.com/office/2011/relationships/chartStyle" Target="style43.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44.xml"/><Relationship Id="rId1" Type="http://schemas.microsoft.com/office/2011/relationships/chartStyle" Target="style44.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45.xml"/><Relationship Id="rId1" Type="http://schemas.microsoft.com/office/2011/relationships/chartStyle" Target="style45.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46.xml"/><Relationship Id="rId1" Type="http://schemas.microsoft.com/office/2011/relationships/chartStyle" Target="style46.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47.xml"/><Relationship Id="rId1" Type="http://schemas.microsoft.com/office/2011/relationships/chartStyle" Target="style47.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48.xml"/><Relationship Id="rId1" Type="http://schemas.microsoft.com/office/2011/relationships/chartStyle" Target="style48.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49.xml"/><Relationship Id="rId1" Type="http://schemas.microsoft.com/office/2011/relationships/chartStyle" Target="style49.xml"/></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50.xml"/><Relationship Id="rId1" Type="http://schemas.microsoft.com/office/2011/relationships/chartStyle" Target="style50.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51.xml"/><Relationship Id="rId1" Type="http://schemas.microsoft.com/office/2011/relationships/chartStyle" Target="style51.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52.xml"/><Relationship Id="rId1" Type="http://schemas.microsoft.com/office/2011/relationships/chartStyle" Target="style52.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53.xml"/><Relationship Id="rId1" Type="http://schemas.microsoft.com/office/2011/relationships/chartStyle" Target="style53.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54.xml"/><Relationship Id="rId1" Type="http://schemas.microsoft.com/office/2011/relationships/chartStyle" Target="style54.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55.xml"/><Relationship Id="rId1" Type="http://schemas.microsoft.com/office/2011/relationships/chartStyle" Target="style55.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56.xml"/><Relationship Id="rId1" Type="http://schemas.microsoft.com/office/2011/relationships/chartStyle" Target="style56.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57.xml"/><Relationship Id="rId1" Type="http://schemas.microsoft.com/office/2011/relationships/chartStyle" Target="style57.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58.xml"/><Relationship Id="rId1" Type="http://schemas.microsoft.com/office/2011/relationships/chartStyle" Target="style58.xml"/></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Worksheet57.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59.xml"/><Relationship Id="rId1" Type="http://schemas.microsoft.com/office/2011/relationships/chartStyle" Target="style59.xml"/></Relationships>
</file>

<file path=ppt/charts/_rels/chart61.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60.xml"/><Relationship Id="rId1" Type="http://schemas.microsoft.com/office/2011/relationships/chartStyle" Target="style60.xml"/><Relationship Id="rId4" Type="http://schemas.openxmlformats.org/officeDocument/2006/relationships/package" Target="../embeddings/Microsoft_Excel_Worksheet59.xlsx"/></Relationships>
</file>

<file path=ppt/charts/_rels/chart62.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61.xml"/><Relationship Id="rId1" Type="http://schemas.microsoft.com/office/2011/relationships/chartStyle" Target="style61.xml"/><Relationship Id="rId4" Type="http://schemas.openxmlformats.org/officeDocument/2006/relationships/package" Target="../embeddings/Microsoft_Excel_Worksheet60.xlsx"/></Relationships>
</file>

<file path=ppt/charts/_rels/chart63.xml.rels><?xml version="1.0" encoding="UTF-8" standalone="yes"?>
<Relationships xmlns="http://schemas.openxmlformats.org/package/2006/relationships"><Relationship Id="rId3" Type="http://schemas.openxmlformats.org/officeDocument/2006/relationships/themeOverride" Target="../theme/themeOverride5.xml"/><Relationship Id="rId2" Type="http://schemas.microsoft.com/office/2011/relationships/chartColorStyle" Target="colors62.xml"/><Relationship Id="rId1" Type="http://schemas.microsoft.com/office/2011/relationships/chartStyle" Target="style62.xml"/><Relationship Id="rId4" Type="http://schemas.openxmlformats.org/officeDocument/2006/relationships/package" Target="../embeddings/Microsoft_Excel_Worksheet61.xlsx"/></Relationships>
</file>

<file path=ppt/charts/_rels/chart64.xml.rels><?xml version="1.0" encoding="UTF-8" standalone="yes"?>
<Relationships xmlns="http://schemas.openxmlformats.org/package/2006/relationships"><Relationship Id="rId3" Type="http://schemas.openxmlformats.org/officeDocument/2006/relationships/themeOverride" Target="../theme/themeOverride6.xml"/><Relationship Id="rId2" Type="http://schemas.microsoft.com/office/2011/relationships/chartColorStyle" Target="colors63.xml"/><Relationship Id="rId1" Type="http://schemas.microsoft.com/office/2011/relationships/chartStyle" Target="style63.xml"/><Relationship Id="rId4" Type="http://schemas.openxmlformats.org/officeDocument/2006/relationships/package" Target="../embeddings/Microsoft_Excel_Worksheet62.xlsx"/></Relationships>
</file>

<file path=ppt/charts/_rels/chart65.xml.rels><?xml version="1.0" encoding="UTF-8" standalone="yes"?>
<Relationships xmlns="http://schemas.openxmlformats.org/package/2006/relationships"><Relationship Id="rId3" Type="http://schemas.openxmlformats.org/officeDocument/2006/relationships/themeOverride" Target="../theme/themeOverride7.xml"/><Relationship Id="rId2" Type="http://schemas.microsoft.com/office/2011/relationships/chartColorStyle" Target="colors64.xml"/><Relationship Id="rId1" Type="http://schemas.microsoft.com/office/2011/relationships/chartStyle" Target="style64.xml"/><Relationship Id="rId4" Type="http://schemas.openxmlformats.org/officeDocument/2006/relationships/package" Target="../embeddings/Microsoft_Excel_Worksheet63.xlsx"/></Relationships>
</file>

<file path=ppt/charts/_rels/chart66.xml.rels><?xml version="1.0" encoding="UTF-8" standalone="yes"?>
<Relationships xmlns="http://schemas.openxmlformats.org/package/2006/relationships"><Relationship Id="rId3" Type="http://schemas.openxmlformats.org/officeDocument/2006/relationships/themeOverride" Target="../theme/themeOverride8.xml"/><Relationship Id="rId2" Type="http://schemas.microsoft.com/office/2011/relationships/chartColorStyle" Target="colors65.xml"/><Relationship Id="rId1" Type="http://schemas.microsoft.com/office/2011/relationships/chartStyle" Target="style65.xml"/><Relationship Id="rId4" Type="http://schemas.openxmlformats.org/officeDocument/2006/relationships/package" Target="../embeddings/Microsoft_Excel_Worksheet64.xlsx"/></Relationships>
</file>

<file path=ppt/charts/_rels/chart67.xml.rels><?xml version="1.0" encoding="UTF-8" standalone="yes"?>
<Relationships xmlns="http://schemas.openxmlformats.org/package/2006/relationships"><Relationship Id="rId3" Type="http://schemas.openxmlformats.org/officeDocument/2006/relationships/themeOverride" Target="../theme/themeOverride9.xml"/><Relationship Id="rId2" Type="http://schemas.microsoft.com/office/2011/relationships/chartColorStyle" Target="colors66.xml"/><Relationship Id="rId1" Type="http://schemas.microsoft.com/office/2011/relationships/chartStyle" Target="style66.xml"/><Relationship Id="rId4" Type="http://schemas.openxmlformats.org/officeDocument/2006/relationships/package" Target="../embeddings/Microsoft_Excel_Worksheet65.xlsx"/></Relationships>
</file>

<file path=ppt/charts/_rels/chart68.xml.rels><?xml version="1.0" encoding="UTF-8" standalone="yes"?>
<Relationships xmlns="http://schemas.openxmlformats.org/package/2006/relationships"><Relationship Id="rId3" Type="http://schemas.openxmlformats.org/officeDocument/2006/relationships/themeOverride" Target="../theme/themeOverride10.xml"/><Relationship Id="rId2" Type="http://schemas.microsoft.com/office/2011/relationships/chartColorStyle" Target="colors67.xml"/><Relationship Id="rId1" Type="http://schemas.microsoft.com/office/2011/relationships/chartStyle" Target="style67.xml"/><Relationship Id="rId4" Type="http://schemas.openxmlformats.org/officeDocument/2006/relationships/package" Target="../embeddings/Microsoft_Excel_Worksheet66.xlsx"/></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68.xml"/><Relationship Id="rId1" Type="http://schemas.microsoft.com/office/2011/relationships/chartStyle" Target="style68.xml"/></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Worksheet68.xlsx"/></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69.xml"/><Relationship Id="rId1" Type="http://schemas.microsoft.com/office/2011/relationships/chartStyle" Target="style69.xml"/></Relationships>
</file>

<file path=ppt/charts/_rels/chart72.xml.rels><?xml version="1.0" encoding="UTF-8" standalone="yes"?>
<Relationships xmlns="http://schemas.openxmlformats.org/package/2006/relationships"><Relationship Id="rId3" Type="http://schemas.openxmlformats.org/officeDocument/2006/relationships/themeOverride" Target="../theme/themeOverride11.xml"/><Relationship Id="rId2" Type="http://schemas.microsoft.com/office/2011/relationships/chartColorStyle" Target="colors70.xml"/><Relationship Id="rId1" Type="http://schemas.microsoft.com/office/2011/relationships/chartStyle" Target="style70.xml"/><Relationship Id="rId4" Type="http://schemas.openxmlformats.org/officeDocument/2006/relationships/package" Target="../embeddings/Microsoft_Excel_Worksheet70.xlsx"/></Relationships>
</file>

<file path=ppt/charts/_rels/chart73.xml.rels><?xml version="1.0" encoding="UTF-8" standalone="yes"?>
<Relationships xmlns="http://schemas.openxmlformats.org/package/2006/relationships"><Relationship Id="rId3" Type="http://schemas.openxmlformats.org/officeDocument/2006/relationships/themeOverride" Target="../theme/themeOverride12.xml"/><Relationship Id="rId2" Type="http://schemas.microsoft.com/office/2011/relationships/chartColorStyle" Target="colors71.xml"/><Relationship Id="rId1" Type="http://schemas.microsoft.com/office/2011/relationships/chartStyle" Target="style71.xml"/><Relationship Id="rId4" Type="http://schemas.openxmlformats.org/officeDocument/2006/relationships/package" Target="../embeddings/Microsoft_Excel_Worksheet71.xlsx"/></Relationships>
</file>

<file path=ppt/charts/_rels/chart74.xml.rels><?xml version="1.0" encoding="UTF-8" standalone="yes"?>
<Relationships xmlns="http://schemas.openxmlformats.org/package/2006/relationships"><Relationship Id="rId3" Type="http://schemas.openxmlformats.org/officeDocument/2006/relationships/themeOverride" Target="../theme/themeOverride13.xml"/><Relationship Id="rId2" Type="http://schemas.microsoft.com/office/2011/relationships/chartColorStyle" Target="colors72.xml"/><Relationship Id="rId1" Type="http://schemas.microsoft.com/office/2011/relationships/chartStyle" Target="style72.xml"/><Relationship Id="rId4" Type="http://schemas.openxmlformats.org/officeDocument/2006/relationships/package" Target="../embeddings/Microsoft_Excel_Worksheet72.xlsx"/></Relationships>
</file>

<file path=ppt/charts/_rels/chart75.xml.rels><?xml version="1.0" encoding="UTF-8" standalone="yes"?>
<Relationships xmlns="http://schemas.openxmlformats.org/package/2006/relationships"><Relationship Id="rId3" Type="http://schemas.openxmlformats.org/officeDocument/2006/relationships/themeOverride" Target="../theme/themeOverride14.xml"/><Relationship Id="rId2" Type="http://schemas.microsoft.com/office/2011/relationships/chartColorStyle" Target="colors73.xml"/><Relationship Id="rId1" Type="http://schemas.microsoft.com/office/2011/relationships/chartStyle" Target="style73.xml"/><Relationship Id="rId4" Type="http://schemas.openxmlformats.org/officeDocument/2006/relationships/package" Target="../embeddings/Microsoft_Excel_Worksheet73.xlsx"/></Relationships>
</file>

<file path=ppt/charts/_rels/chart76.xml.rels><?xml version="1.0" encoding="UTF-8" standalone="yes"?>
<Relationships xmlns="http://schemas.openxmlformats.org/package/2006/relationships"><Relationship Id="rId3" Type="http://schemas.openxmlformats.org/officeDocument/2006/relationships/themeOverride" Target="../theme/themeOverride15.xml"/><Relationship Id="rId2" Type="http://schemas.microsoft.com/office/2011/relationships/chartColorStyle" Target="colors74.xml"/><Relationship Id="rId1" Type="http://schemas.microsoft.com/office/2011/relationships/chartStyle" Target="style74.xml"/><Relationship Id="rId4" Type="http://schemas.openxmlformats.org/officeDocument/2006/relationships/package" Target="../embeddings/Microsoft_Excel_Worksheet74.xlsx"/></Relationships>
</file>

<file path=ppt/charts/_rels/chart77.xml.rels><?xml version="1.0" encoding="UTF-8" standalone="yes"?>
<Relationships xmlns="http://schemas.openxmlformats.org/package/2006/relationships"><Relationship Id="rId3" Type="http://schemas.openxmlformats.org/officeDocument/2006/relationships/themeOverride" Target="../theme/themeOverride16.xml"/><Relationship Id="rId2" Type="http://schemas.microsoft.com/office/2011/relationships/chartColorStyle" Target="colors75.xml"/><Relationship Id="rId1" Type="http://schemas.microsoft.com/office/2011/relationships/chartStyle" Target="style75.xml"/><Relationship Id="rId4" Type="http://schemas.openxmlformats.org/officeDocument/2006/relationships/package" Target="../embeddings/Microsoft_Excel_Worksheet75.xlsx"/></Relationships>
</file>

<file path=ppt/charts/_rels/chart78.xml.rels><?xml version="1.0" encoding="UTF-8" standalone="yes"?>
<Relationships xmlns="http://schemas.openxmlformats.org/package/2006/relationships"><Relationship Id="rId3" Type="http://schemas.openxmlformats.org/officeDocument/2006/relationships/themeOverride" Target="../theme/themeOverride17.xml"/><Relationship Id="rId2" Type="http://schemas.microsoft.com/office/2011/relationships/chartColorStyle" Target="colors76.xml"/><Relationship Id="rId1" Type="http://schemas.microsoft.com/office/2011/relationships/chartStyle" Target="style76.xml"/><Relationship Id="rId4" Type="http://schemas.openxmlformats.org/officeDocument/2006/relationships/package" Target="../embeddings/Microsoft_Excel_Worksheet76.xlsx"/></Relationships>
</file>

<file path=ppt/charts/_rels/chart79.xml.rels><?xml version="1.0" encoding="UTF-8" standalone="yes"?>
<Relationships xmlns="http://schemas.openxmlformats.org/package/2006/relationships"><Relationship Id="rId3" Type="http://schemas.openxmlformats.org/officeDocument/2006/relationships/themeOverride" Target="../theme/themeOverride18.xml"/><Relationship Id="rId2" Type="http://schemas.microsoft.com/office/2011/relationships/chartColorStyle" Target="colors77.xml"/><Relationship Id="rId1" Type="http://schemas.microsoft.com/office/2011/relationships/chartStyle" Target="style77.xml"/><Relationship Id="rId4" Type="http://schemas.openxmlformats.org/officeDocument/2006/relationships/package" Target="../embeddings/Microsoft_Excel_Worksheet77.xlsx"/></Relationships>
</file>

<file path=ppt/charts/_rels/chart80.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78.xml"/><Relationship Id="rId1" Type="http://schemas.microsoft.com/office/2011/relationships/chartStyle" Target="style78.xml"/></Relationships>
</file>

<file path=ppt/charts/_rels/chart81.xml.rels><?xml version="1.0" encoding="UTF-8" standalone="yes"?>
<Relationships xmlns="http://schemas.openxmlformats.org/package/2006/relationships"><Relationship Id="rId1" Type="http://schemas.openxmlformats.org/officeDocument/2006/relationships/package" Target="../embeddings/Microsoft_Excel_Worksheet79.xlsx"/></Relationships>
</file>

<file path=ppt/charts/_rels/chart82.xml.rels><?xml version="1.0" encoding="UTF-8" standalone="yes"?>
<Relationships xmlns="http://schemas.openxmlformats.org/package/2006/relationships"><Relationship Id="rId3" Type="http://schemas.openxmlformats.org/officeDocument/2006/relationships/package" Target="../embeddings/Microsoft_Excel_Worksheet80.xlsx"/><Relationship Id="rId2" Type="http://schemas.microsoft.com/office/2011/relationships/chartColorStyle" Target="colors79.xml"/><Relationship Id="rId1" Type="http://schemas.microsoft.com/office/2011/relationships/chartStyle" Target="style79.xml"/></Relationships>
</file>

<file path=ppt/charts/_rels/chart83.xml.rels><?xml version="1.0" encoding="UTF-8" standalone="yes"?>
<Relationships xmlns="http://schemas.openxmlformats.org/package/2006/relationships"><Relationship Id="rId3" Type="http://schemas.openxmlformats.org/officeDocument/2006/relationships/themeOverride" Target="../theme/themeOverride19.xml"/><Relationship Id="rId2" Type="http://schemas.microsoft.com/office/2011/relationships/chartColorStyle" Target="colors80.xml"/><Relationship Id="rId1" Type="http://schemas.microsoft.com/office/2011/relationships/chartStyle" Target="style80.xml"/><Relationship Id="rId4" Type="http://schemas.openxmlformats.org/officeDocument/2006/relationships/package" Target="../embeddings/Microsoft_Excel_Worksheet81.xlsx"/></Relationships>
</file>

<file path=ppt/charts/_rels/chart84.xml.rels><?xml version="1.0" encoding="UTF-8" standalone="yes"?>
<Relationships xmlns="http://schemas.openxmlformats.org/package/2006/relationships"><Relationship Id="rId3" Type="http://schemas.openxmlformats.org/officeDocument/2006/relationships/themeOverride" Target="../theme/themeOverride20.xml"/><Relationship Id="rId2" Type="http://schemas.microsoft.com/office/2011/relationships/chartColorStyle" Target="colors81.xml"/><Relationship Id="rId1" Type="http://schemas.microsoft.com/office/2011/relationships/chartStyle" Target="style81.xml"/><Relationship Id="rId4" Type="http://schemas.openxmlformats.org/officeDocument/2006/relationships/package" Target="../embeddings/Microsoft_Excel_Worksheet82.xlsx"/></Relationships>
</file>

<file path=ppt/charts/_rels/chart85.xml.rels><?xml version="1.0" encoding="UTF-8" standalone="yes"?>
<Relationships xmlns="http://schemas.openxmlformats.org/package/2006/relationships"><Relationship Id="rId3" Type="http://schemas.openxmlformats.org/officeDocument/2006/relationships/themeOverride" Target="../theme/themeOverride21.xml"/><Relationship Id="rId2" Type="http://schemas.microsoft.com/office/2011/relationships/chartColorStyle" Target="colors82.xml"/><Relationship Id="rId1" Type="http://schemas.microsoft.com/office/2011/relationships/chartStyle" Target="style82.xml"/><Relationship Id="rId4" Type="http://schemas.openxmlformats.org/officeDocument/2006/relationships/package" Target="../embeddings/Microsoft_Excel_Worksheet83.xlsx"/></Relationships>
</file>

<file path=ppt/charts/_rels/chart86.xml.rels><?xml version="1.0" encoding="UTF-8" standalone="yes"?>
<Relationships xmlns="http://schemas.openxmlformats.org/package/2006/relationships"><Relationship Id="rId3" Type="http://schemas.openxmlformats.org/officeDocument/2006/relationships/themeOverride" Target="../theme/themeOverride22.xml"/><Relationship Id="rId2" Type="http://schemas.microsoft.com/office/2011/relationships/chartColorStyle" Target="colors83.xml"/><Relationship Id="rId1" Type="http://schemas.microsoft.com/office/2011/relationships/chartStyle" Target="style83.xml"/><Relationship Id="rId4" Type="http://schemas.openxmlformats.org/officeDocument/2006/relationships/package" Target="../embeddings/Microsoft_Excel_Worksheet84.xlsx"/></Relationships>
</file>

<file path=ppt/charts/_rels/chart87.xml.rels><?xml version="1.0" encoding="UTF-8" standalone="yes"?>
<Relationships xmlns="http://schemas.openxmlformats.org/package/2006/relationships"><Relationship Id="rId3" Type="http://schemas.openxmlformats.org/officeDocument/2006/relationships/themeOverride" Target="../theme/themeOverride23.xml"/><Relationship Id="rId2" Type="http://schemas.microsoft.com/office/2011/relationships/chartColorStyle" Target="colors84.xml"/><Relationship Id="rId1" Type="http://schemas.microsoft.com/office/2011/relationships/chartStyle" Target="style84.xml"/><Relationship Id="rId4" Type="http://schemas.openxmlformats.org/officeDocument/2006/relationships/package" Target="../embeddings/Microsoft_Excel_Worksheet85.xlsx"/></Relationships>
</file>

<file path=ppt/charts/_rels/chart88.xml.rels><?xml version="1.0" encoding="UTF-8" standalone="yes"?>
<Relationships xmlns="http://schemas.openxmlformats.org/package/2006/relationships"><Relationship Id="rId3" Type="http://schemas.openxmlformats.org/officeDocument/2006/relationships/themeOverride" Target="../theme/themeOverride24.xml"/><Relationship Id="rId2" Type="http://schemas.microsoft.com/office/2011/relationships/chartColorStyle" Target="colors85.xml"/><Relationship Id="rId1" Type="http://schemas.microsoft.com/office/2011/relationships/chartStyle" Target="style85.xml"/><Relationship Id="rId4" Type="http://schemas.openxmlformats.org/officeDocument/2006/relationships/package" Target="../embeddings/Microsoft_Excel_Worksheet86.xlsx"/></Relationships>
</file>

<file path=ppt/charts/_rels/chart89.xml.rels><?xml version="1.0" encoding="UTF-8" standalone="yes"?>
<Relationships xmlns="http://schemas.openxmlformats.org/package/2006/relationships"><Relationship Id="rId3" Type="http://schemas.openxmlformats.org/officeDocument/2006/relationships/themeOverride" Target="../theme/themeOverride25.xml"/><Relationship Id="rId2" Type="http://schemas.microsoft.com/office/2011/relationships/chartColorStyle" Target="colors86.xml"/><Relationship Id="rId1" Type="http://schemas.microsoft.com/office/2011/relationships/chartStyle" Target="style86.xml"/><Relationship Id="rId4" Type="http://schemas.openxmlformats.org/officeDocument/2006/relationships/package" Target="../embeddings/Microsoft_Excel_Worksheet87.xlsx"/></Relationships>
</file>

<file path=ppt/charts/_rels/chart90.xml.rels><?xml version="1.0" encoding="UTF-8" standalone="yes"?>
<Relationships xmlns="http://schemas.openxmlformats.org/package/2006/relationships"><Relationship Id="rId3" Type="http://schemas.openxmlformats.org/officeDocument/2006/relationships/themeOverride" Target="../theme/themeOverride26.xml"/><Relationship Id="rId2" Type="http://schemas.microsoft.com/office/2011/relationships/chartColorStyle" Target="colors87.xml"/><Relationship Id="rId1" Type="http://schemas.microsoft.com/office/2011/relationships/chartStyle" Target="style87.xml"/><Relationship Id="rId4" Type="http://schemas.openxmlformats.org/officeDocument/2006/relationships/package" Target="../embeddings/Microsoft_Excel_Worksheet88.xlsx"/></Relationships>
</file>

<file path=ppt/charts/_rels/chart91.xml.rels><?xml version="1.0" encoding="UTF-8" standalone="yes"?>
<Relationships xmlns="http://schemas.openxmlformats.org/package/2006/relationships"><Relationship Id="rId3" Type="http://schemas.openxmlformats.org/officeDocument/2006/relationships/package" Target="../embeddings/Microsoft_Excel_Worksheet89.xlsx"/><Relationship Id="rId2" Type="http://schemas.microsoft.com/office/2011/relationships/chartColorStyle" Target="colors88.xml"/><Relationship Id="rId1" Type="http://schemas.microsoft.com/office/2011/relationships/chartStyle" Target="style88.xml"/></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Worksheet90.xlsx"/></Relationships>
</file>

<file path=ppt/charts/_rels/chart93.xml.rels><?xml version="1.0" encoding="UTF-8" standalone="yes"?>
<Relationships xmlns="http://schemas.openxmlformats.org/package/2006/relationships"><Relationship Id="rId3" Type="http://schemas.openxmlformats.org/officeDocument/2006/relationships/package" Target="../embeddings/Microsoft_Excel_Worksheet91.xlsx"/><Relationship Id="rId2" Type="http://schemas.microsoft.com/office/2011/relationships/chartColorStyle" Target="colors89.xml"/><Relationship Id="rId1" Type="http://schemas.microsoft.com/office/2011/relationships/chartStyle" Target="style89.xml"/></Relationships>
</file>

<file path=ppt/charts/_rels/chart94.xml.rels><?xml version="1.0" encoding="UTF-8" standalone="yes"?>
<Relationships xmlns="http://schemas.openxmlformats.org/package/2006/relationships"><Relationship Id="rId3" Type="http://schemas.openxmlformats.org/officeDocument/2006/relationships/themeOverride" Target="../theme/themeOverride27.xml"/><Relationship Id="rId2" Type="http://schemas.microsoft.com/office/2011/relationships/chartColorStyle" Target="colors90.xml"/><Relationship Id="rId1" Type="http://schemas.microsoft.com/office/2011/relationships/chartStyle" Target="style90.xml"/><Relationship Id="rId4" Type="http://schemas.openxmlformats.org/officeDocument/2006/relationships/package" Target="../embeddings/Microsoft_Excel_Worksheet92.xlsx"/></Relationships>
</file>

<file path=ppt/charts/_rels/chart95.xml.rels><?xml version="1.0" encoding="UTF-8" standalone="yes"?>
<Relationships xmlns="http://schemas.openxmlformats.org/package/2006/relationships"><Relationship Id="rId3" Type="http://schemas.openxmlformats.org/officeDocument/2006/relationships/themeOverride" Target="../theme/themeOverride28.xml"/><Relationship Id="rId2" Type="http://schemas.microsoft.com/office/2011/relationships/chartColorStyle" Target="colors91.xml"/><Relationship Id="rId1" Type="http://schemas.microsoft.com/office/2011/relationships/chartStyle" Target="style91.xml"/><Relationship Id="rId4" Type="http://schemas.openxmlformats.org/officeDocument/2006/relationships/package" Target="../embeddings/Microsoft_Excel_Worksheet93.xlsx"/></Relationships>
</file>

<file path=ppt/charts/_rels/chart96.xml.rels><?xml version="1.0" encoding="UTF-8" standalone="yes"?>
<Relationships xmlns="http://schemas.openxmlformats.org/package/2006/relationships"><Relationship Id="rId3" Type="http://schemas.openxmlformats.org/officeDocument/2006/relationships/themeOverride" Target="../theme/themeOverride29.xml"/><Relationship Id="rId2" Type="http://schemas.microsoft.com/office/2011/relationships/chartColorStyle" Target="colors92.xml"/><Relationship Id="rId1" Type="http://schemas.microsoft.com/office/2011/relationships/chartStyle" Target="style92.xml"/><Relationship Id="rId4" Type="http://schemas.openxmlformats.org/officeDocument/2006/relationships/package" Target="../embeddings/Microsoft_Excel_Worksheet94.xlsx"/></Relationships>
</file>

<file path=ppt/charts/_rels/chart97.xml.rels><?xml version="1.0" encoding="UTF-8" standalone="yes"?>
<Relationships xmlns="http://schemas.openxmlformats.org/package/2006/relationships"><Relationship Id="rId3" Type="http://schemas.openxmlformats.org/officeDocument/2006/relationships/themeOverride" Target="../theme/themeOverride30.xml"/><Relationship Id="rId2" Type="http://schemas.microsoft.com/office/2011/relationships/chartColorStyle" Target="colors93.xml"/><Relationship Id="rId1" Type="http://schemas.microsoft.com/office/2011/relationships/chartStyle" Target="style93.xml"/><Relationship Id="rId4" Type="http://schemas.openxmlformats.org/officeDocument/2006/relationships/package" Target="../embeddings/Microsoft_Excel_Worksheet95.xlsx"/></Relationships>
</file>

<file path=ppt/charts/_rels/chart98.xml.rels><?xml version="1.0" encoding="UTF-8" standalone="yes"?>
<Relationships xmlns="http://schemas.openxmlformats.org/package/2006/relationships"><Relationship Id="rId3" Type="http://schemas.openxmlformats.org/officeDocument/2006/relationships/themeOverride" Target="../theme/themeOverride31.xml"/><Relationship Id="rId2" Type="http://schemas.microsoft.com/office/2011/relationships/chartColorStyle" Target="colors94.xml"/><Relationship Id="rId1" Type="http://schemas.microsoft.com/office/2011/relationships/chartStyle" Target="style94.xml"/><Relationship Id="rId4" Type="http://schemas.openxmlformats.org/officeDocument/2006/relationships/package" Target="../embeddings/Microsoft_Excel_Worksheet96.xlsx"/></Relationships>
</file>

<file path=ppt/charts/_rels/chart99.xml.rels><?xml version="1.0" encoding="UTF-8" standalone="yes"?>
<Relationships xmlns="http://schemas.openxmlformats.org/package/2006/relationships"><Relationship Id="rId3" Type="http://schemas.openxmlformats.org/officeDocument/2006/relationships/themeOverride" Target="../theme/themeOverride32.xml"/><Relationship Id="rId2" Type="http://schemas.microsoft.com/office/2011/relationships/chartColorStyle" Target="colors95.xml"/><Relationship Id="rId1" Type="http://schemas.microsoft.com/office/2011/relationships/chartStyle" Target="style95.xml"/><Relationship Id="rId4" Type="http://schemas.openxmlformats.org/officeDocument/2006/relationships/package" Target="../embeddings/Microsoft_Excel_Worksheet97.xlsx"/></Relationships>
</file>

<file path=ppt/charts/_rels/chart100.xml.rels><?xml version="1.0" encoding="UTF-8" standalone="yes"?>
<Relationships xmlns="http://schemas.openxmlformats.org/package/2006/relationships"><Relationship Id="rId3" Type="http://schemas.openxmlformats.org/officeDocument/2006/relationships/themeOverride" Target="../theme/themeOverride33.xml"/><Relationship Id="rId2" Type="http://schemas.microsoft.com/office/2011/relationships/chartColorStyle" Target="colors96.xml"/><Relationship Id="rId1" Type="http://schemas.microsoft.com/office/2011/relationships/chartStyle" Target="style96.xml"/><Relationship Id="rId4" Type="http://schemas.openxmlformats.org/officeDocument/2006/relationships/package" Target="../embeddings/Microsoft_Excel_Worksheet98.xlsx"/></Relationships>
</file>

<file path=ppt/charts/_rels/chart101.xml.rels><?xml version="1.0" encoding="UTF-8" standalone="yes"?>
<Relationships xmlns="http://schemas.openxmlformats.org/package/2006/relationships"><Relationship Id="rId3" Type="http://schemas.openxmlformats.org/officeDocument/2006/relationships/themeOverride" Target="../theme/themeOverride34.xml"/><Relationship Id="rId2" Type="http://schemas.microsoft.com/office/2011/relationships/chartColorStyle" Target="colors97.xml"/><Relationship Id="rId1" Type="http://schemas.microsoft.com/office/2011/relationships/chartStyle" Target="style97.xml"/><Relationship Id="rId4" Type="http://schemas.openxmlformats.org/officeDocument/2006/relationships/package" Target="../embeddings/Microsoft_Excel_Worksheet99.xlsx"/></Relationships>
</file>

<file path=ppt/charts/_rels/chart102.xml.rels><?xml version="1.0" encoding="UTF-8" standalone="yes"?>
<Relationships xmlns="http://schemas.openxmlformats.org/package/2006/relationships"><Relationship Id="rId3" Type="http://schemas.openxmlformats.org/officeDocument/2006/relationships/package" Target="../embeddings/Microsoft_Excel_Worksheet100.xlsx"/><Relationship Id="rId2" Type="http://schemas.microsoft.com/office/2011/relationships/chartColorStyle" Target="colors98.xml"/><Relationship Id="rId1" Type="http://schemas.microsoft.com/office/2011/relationships/chartStyle" Target="style98.xml"/></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Worksheet101.xlsx"/></Relationships>
</file>

<file path=ppt/charts/_rels/chart104.xml.rels><?xml version="1.0" encoding="UTF-8" standalone="yes"?>
<Relationships xmlns="http://schemas.openxmlformats.org/package/2006/relationships"><Relationship Id="rId3" Type="http://schemas.openxmlformats.org/officeDocument/2006/relationships/package" Target="../embeddings/Microsoft_Excel_Worksheet102.xlsx"/><Relationship Id="rId2" Type="http://schemas.microsoft.com/office/2011/relationships/chartColorStyle" Target="colors99.xml"/><Relationship Id="rId1" Type="http://schemas.microsoft.com/office/2011/relationships/chartStyle" Target="style99.xml"/></Relationships>
</file>

<file path=ppt/charts/_rels/chart105.xml.rels><?xml version="1.0" encoding="UTF-8" standalone="yes"?>
<Relationships xmlns="http://schemas.openxmlformats.org/package/2006/relationships"><Relationship Id="rId3" Type="http://schemas.openxmlformats.org/officeDocument/2006/relationships/themeOverride" Target="../theme/themeOverride35.xml"/><Relationship Id="rId2" Type="http://schemas.microsoft.com/office/2011/relationships/chartColorStyle" Target="colors100.xml"/><Relationship Id="rId1" Type="http://schemas.microsoft.com/office/2011/relationships/chartStyle" Target="style100.xml"/><Relationship Id="rId4" Type="http://schemas.openxmlformats.org/officeDocument/2006/relationships/package" Target="../embeddings/Microsoft_Excel_Worksheet103.xlsx"/></Relationships>
</file>

<file path=ppt/charts/_rels/chart106.xml.rels><?xml version="1.0" encoding="UTF-8" standalone="yes"?>
<Relationships xmlns="http://schemas.openxmlformats.org/package/2006/relationships"><Relationship Id="rId3" Type="http://schemas.openxmlformats.org/officeDocument/2006/relationships/themeOverride" Target="../theme/themeOverride36.xml"/><Relationship Id="rId2" Type="http://schemas.microsoft.com/office/2011/relationships/chartColorStyle" Target="colors101.xml"/><Relationship Id="rId1" Type="http://schemas.microsoft.com/office/2011/relationships/chartStyle" Target="style101.xml"/><Relationship Id="rId4" Type="http://schemas.openxmlformats.org/officeDocument/2006/relationships/package" Target="../embeddings/Microsoft_Excel_Worksheet104.xlsx"/></Relationships>
</file>

<file path=ppt/charts/_rels/chart107.xml.rels><?xml version="1.0" encoding="UTF-8" standalone="yes"?>
<Relationships xmlns="http://schemas.openxmlformats.org/package/2006/relationships"><Relationship Id="rId3" Type="http://schemas.openxmlformats.org/officeDocument/2006/relationships/themeOverride" Target="../theme/themeOverride37.xml"/><Relationship Id="rId2" Type="http://schemas.microsoft.com/office/2011/relationships/chartColorStyle" Target="colors102.xml"/><Relationship Id="rId1" Type="http://schemas.microsoft.com/office/2011/relationships/chartStyle" Target="style102.xml"/><Relationship Id="rId4" Type="http://schemas.openxmlformats.org/officeDocument/2006/relationships/package" Target="../embeddings/Microsoft_Excel_Worksheet105.xlsx"/></Relationships>
</file>

<file path=ppt/charts/_rels/chart108.xml.rels><?xml version="1.0" encoding="UTF-8" standalone="yes"?>
<Relationships xmlns="http://schemas.openxmlformats.org/package/2006/relationships"><Relationship Id="rId3" Type="http://schemas.openxmlformats.org/officeDocument/2006/relationships/themeOverride" Target="../theme/themeOverride38.xml"/><Relationship Id="rId2" Type="http://schemas.microsoft.com/office/2011/relationships/chartColorStyle" Target="colors103.xml"/><Relationship Id="rId1" Type="http://schemas.microsoft.com/office/2011/relationships/chartStyle" Target="style103.xml"/><Relationship Id="rId4" Type="http://schemas.openxmlformats.org/officeDocument/2006/relationships/package" Target="../embeddings/Microsoft_Excel_Worksheet106.xlsx"/></Relationships>
</file>

<file path=ppt/charts/_rels/chart109.xml.rels><?xml version="1.0" encoding="UTF-8" standalone="yes"?>
<Relationships xmlns="http://schemas.openxmlformats.org/package/2006/relationships"><Relationship Id="rId3" Type="http://schemas.openxmlformats.org/officeDocument/2006/relationships/themeOverride" Target="../theme/themeOverride39.xml"/><Relationship Id="rId2" Type="http://schemas.microsoft.com/office/2011/relationships/chartColorStyle" Target="colors104.xml"/><Relationship Id="rId1" Type="http://schemas.microsoft.com/office/2011/relationships/chartStyle" Target="style104.xml"/><Relationship Id="rId4" Type="http://schemas.openxmlformats.org/officeDocument/2006/relationships/package" Target="../embeddings/Microsoft_Excel_Worksheet107.xlsx"/></Relationships>
</file>

<file path=ppt/charts/_rels/chart110.xml.rels><?xml version="1.0" encoding="UTF-8" standalone="yes"?>
<Relationships xmlns="http://schemas.openxmlformats.org/package/2006/relationships"><Relationship Id="rId3" Type="http://schemas.openxmlformats.org/officeDocument/2006/relationships/themeOverride" Target="../theme/themeOverride40.xml"/><Relationship Id="rId2" Type="http://schemas.microsoft.com/office/2011/relationships/chartColorStyle" Target="colors105.xml"/><Relationship Id="rId1" Type="http://schemas.microsoft.com/office/2011/relationships/chartStyle" Target="style105.xml"/><Relationship Id="rId4" Type="http://schemas.openxmlformats.org/officeDocument/2006/relationships/package" Target="../embeddings/Microsoft_Excel_Worksheet108.xlsx"/></Relationships>
</file>

<file path=ppt/charts/_rels/chart111.xml.rels><?xml version="1.0" encoding="UTF-8" standalone="yes"?>
<Relationships xmlns="http://schemas.openxmlformats.org/package/2006/relationships"><Relationship Id="rId3" Type="http://schemas.openxmlformats.org/officeDocument/2006/relationships/themeOverride" Target="../theme/themeOverride41.xml"/><Relationship Id="rId2" Type="http://schemas.microsoft.com/office/2011/relationships/chartColorStyle" Target="colors106.xml"/><Relationship Id="rId1" Type="http://schemas.microsoft.com/office/2011/relationships/chartStyle" Target="style106.xml"/><Relationship Id="rId4" Type="http://schemas.openxmlformats.org/officeDocument/2006/relationships/package" Target="../embeddings/Microsoft_Excel_Worksheet109.xlsx"/></Relationships>
</file>

<file path=ppt/charts/_rels/chart112.xml.rels><?xml version="1.0" encoding="UTF-8" standalone="yes"?>
<Relationships xmlns="http://schemas.openxmlformats.org/package/2006/relationships"><Relationship Id="rId3" Type="http://schemas.openxmlformats.org/officeDocument/2006/relationships/themeOverride" Target="../theme/themeOverride42.xml"/><Relationship Id="rId2" Type="http://schemas.microsoft.com/office/2011/relationships/chartColorStyle" Target="colors107.xml"/><Relationship Id="rId1" Type="http://schemas.microsoft.com/office/2011/relationships/chartStyle" Target="style107.xml"/><Relationship Id="rId4" Type="http://schemas.openxmlformats.org/officeDocument/2006/relationships/package" Target="../embeddings/Microsoft_Excel_Worksheet110.xlsx"/></Relationships>
</file>

<file path=ppt/charts/_rels/chart113.xml.rels><?xml version="1.0" encoding="UTF-8" standalone="yes"?>
<Relationships xmlns="http://schemas.openxmlformats.org/package/2006/relationships"><Relationship Id="rId3" Type="http://schemas.openxmlformats.org/officeDocument/2006/relationships/package" Target="../embeddings/Microsoft_Excel_Worksheet111.xlsx"/><Relationship Id="rId2" Type="http://schemas.microsoft.com/office/2011/relationships/chartColorStyle" Target="colors108.xml"/><Relationship Id="rId1" Type="http://schemas.microsoft.com/office/2011/relationships/chartStyle" Target="style108.xml"/></Relationships>
</file>

<file path=ppt/charts/_rels/chart114.xml.rels><?xml version="1.0" encoding="UTF-8" standalone="yes"?>
<Relationships xmlns="http://schemas.openxmlformats.org/package/2006/relationships"><Relationship Id="rId1" Type="http://schemas.openxmlformats.org/officeDocument/2006/relationships/package" Target="../embeddings/Microsoft_Excel_Worksheet112.xlsx"/></Relationships>
</file>

<file path=ppt/charts/_rels/chart115.xml.rels><?xml version="1.0" encoding="UTF-8" standalone="yes"?>
<Relationships xmlns="http://schemas.openxmlformats.org/package/2006/relationships"><Relationship Id="rId3" Type="http://schemas.openxmlformats.org/officeDocument/2006/relationships/package" Target="../embeddings/Microsoft_Excel_Worksheet113.xlsx"/><Relationship Id="rId2" Type="http://schemas.microsoft.com/office/2011/relationships/chartColorStyle" Target="colors109.xml"/><Relationship Id="rId1" Type="http://schemas.microsoft.com/office/2011/relationships/chartStyle" Target="style109.xml"/></Relationships>
</file>

<file path=ppt/charts/_rels/chart116.xml.rels><?xml version="1.0" encoding="UTF-8" standalone="yes"?>
<Relationships xmlns="http://schemas.openxmlformats.org/package/2006/relationships"><Relationship Id="rId3" Type="http://schemas.openxmlformats.org/officeDocument/2006/relationships/themeOverride" Target="../theme/themeOverride43.xml"/><Relationship Id="rId2" Type="http://schemas.microsoft.com/office/2011/relationships/chartColorStyle" Target="colors110.xml"/><Relationship Id="rId1" Type="http://schemas.microsoft.com/office/2011/relationships/chartStyle" Target="style110.xml"/><Relationship Id="rId4" Type="http://schemas.openxmlformats.org/officeDocument/2006/relationships/package" Target="../embeddings/Microsoft_Excel_Worksheet114.xlsx"/></Relationships>
</file>

<file path=ppt/charts/_rels/chart117.xml.rels><?xml version="1.0" encoding="UTF-8" standalone="yes"?>
<Relationships xmlns="http://schemas.openxmlformats.org/package/2006/relationships"><Relationship Id="rId3" Type="http://schemas.openxmlformats.org/officeDocument/2006/relationships/themeOverride" Target="../theme/themeOverride44.xml"/><Relationship Id="rId2" Type="http://schemas.microsoft.com/office/2011/relationships/chartColorStyle" Target="colors111.xml"/><Relationship Id="rId1" Type="http://schemas.microsoft.com/office/2011/relationships/chartStyle" Target="style111.xml"/><Relationship Id="rId4" Type="http://schemas.openxmlformats.org/officeDocument/2006/relationships/package" Target="../embeddings/Microsoft_Excel_Worksheet115.xlsx"/></Relationships>
</file>

<file path=ppt/charts/_rels/chart118.xml.rels><?xml version="1.0" encoding="UTF-8" standalone="yes"?>
<Relationships xmlns="http://schemas.openxmlformats.org/package/2006/relationships"><Relationship Id="rId3" Type="http://schemas.openxmlformats.org/officeDocument/2006/relationships/themeOverride" Target="../theme/themeOverride45.xml"/><Relationship Id="rId2" Type="http://schemas.microsoft.com/office/2011/relationships/chartColorStyle" Target="colors112.xml"/><Relationship Id="rId1" Type="http://schemas.microsoft.com/office/2011/relationships/chartStyle" Target="style112.xml"/><Relationship Id="rId4" Type="http://schemas.openxmlformats.org/officeDocument/2006/relationships/package" Target="../embeddings/Microsoft_Excel_Worksheet116.xlsx"/></Relationships>
</file>

<file path=ppt/charts/_rels/chart119.xml.rels><?xml version="1.0" encoding="UTF-8" standalone="yes"?>
<Relationships xmlns="http://schemas.openxmlformats.org/package/2006/relationships"><Relationship Id="rId3" Type="http://schemas.openxmlformats.org/officeDocument/2006/relationships/themeOverride" Target="../theme/themeOverride46.xml"/><Relationship Id="rId2" Type="http://schemas.microsoft.com/office/2011/relationships/chartColorStyle" Target="colors113.xml"/><Relationship Id="rId1" Type="http://schemas.microsoft.com/office/2011/relationships/chartStyle" Target="style113.xml"/><Relationship Id="rId4" Type="http://schemas.openxmlformats.org/officeDocument/2006/relationships/package" Target="../embeddings/Microsoft_Excel_Worksheet117.xlsx"/></Relationships>
</file>

<file path=ppt/charts/_rels/chart120.xml.rels><?xml version="1.0" encoding="UTF-8" standalone="yes"?>
<Relationships xmlns="http://schemas.openxmlformats.org/package/2006/relationships"><Relationship Id="rId3" Type="http://schemas.openxmlformats.org/officeDocument/2006/relationships/themeOverride" Target="../theme/themeOverride47.xml"/><Relationship Id="rId2" Type="http://schemas.microsoft.com/office/2011/relationships/chartColorStyle" Target="colors114.xml"/><Relationship Id="rId1" Type="http://schemas.microsoft.com/office/2011/relationships/chartStyle" Target="style114.xml"/><Relationship Id="rId4" Type="http://schemas.openxmlformats.org/officeDocument/2006/relationships/package" Target="../embeddings/Microsoft_Excel_Worksheet118.xlsx"/></Relationships>
</file>

<file path=ppt/charts/_rels/chart121.xml.rels><?xml version="1.0" encoding="UTF-8" standalone="yes"?>
<Relationships xmlns="http://schemas.openxmlformats.org/package/2006/relationships"><Relationship Id="rId3" Type="http://schemas.openxmlformats.org/officeDocument/2006/relationships/themeOverride" Target="../theme/themeOverride48.xml"/><Relationship Id="rId2" Type="http://schemas.microsoft.com/office/2011/relationships/chartColorStyle" Target="colors115.xml"/><Relationship Id="rId1" Type="http://schemas.microsoft.com/office/2011/relationships/chartStyle" Target="style115.xml"/><Relationship Id="rId4" Type="http://schemas.openxmlformats.org/officeDocument/2006/relationships/package" Target="../embeddings/Microsoft_Excel_Worksheet119.xlsx"/></Relationships>
</file>

<file path=ppt/charts/_rels/chart122.xml.rels><?xml version="1.0" encoding="UTF-8" standalone="yes"?>
<Relationships xmlns="http://schemas.openxmlformats.org/package/2006/relationships"><Relationship Id="rId3" Type="http://schemas.openxmlformats.org/officeDocument/2006/relationships/themeOverride" Target="../theme/themeOverride49.xml"/><Relationship Id="rId2" Type="http://schemas.microsoft.com/office/2011/relationships/chartColorStyle" Target="colors116.xml"/><Relationship Id="rId1" Type="http://schemas.microsoft.com/office/2011/relationships/chartStyle" Target="style116.xml"/><Relationship Id="rId4" Type="http://schemas.openxmlformats.org/officeDocument/2006/relationships/package" Target="../embeddings/Microsoft_Excel_Worksheet120.xlsx"/></Relationships>
</file>

<file path=ppt/charts/_rels/chart123.xml.rels><?xml version="1.0" encoding="UTF-8" standalone="yes"?>
<Relationships xmlns="http://schemas.openxmlformats.org/package/2006/relationships"><Relationship Id="rId3" Type="http://schemas.openxmlformats.org/officeDocument/2006/relationships/themeOverride" Target="../theme/themeOverride50.xml"/><Relationship Id="rId2" Type="http://schemas.microsoft.com/office/2011/relationships/chartColorStyle" Target="colors117.xml"/><Relationship Id="rId1" Type="http://schemas.microsoft.com/office/2011/relationships/chartStyle" Target="style117.xml"/><Relationship Id="rId4" Type="http://schemas.openxmlformats.org/officeDocument/2006/relationships/package" Target="../embeddings/Microsoft_Excel_Worksheet121.xlsx"/></Relationships>
</file>

<file path=ppt/charts/_rels/chart124.xml.rels><?xml version="1.0" encoding="UTF-8" standalone="yes"?>
<Relationships xmlns="http://schemas.openxmlformats.org/package/2006/relationships"><Relationship Id="rId3" Type="http://schemas.openxmlformats.org/officeDocument/2006/relationships/package" Target="../embeddings/Microsoft_Excel_Worksheet122.xlsx"/><Relationship Id="rId2" Type="http://schemas.microsoft.com/office/2011/relationships/chartColorStyle" Target="colors118.xml"/><Relationship Id="rId1" Type="http://schemas.microsoft.com/office/2011/relationships/chartStyle" Target="style118.xml"/></Relationships>
</file>

<file path=ppt/charts/_rels/chart125.xml.rels><?xml version="1.0" encoding="UTF-8" standalone="yes"?>
<Relationships xmlns="http://schemas.openxmlformats.org/package/2006/relationships"><Relationship Id="rId1" Type="http://schemas.openxmlformats.org/officeDocument/2006/relationships/package" Target="../embeddings/Microsoft_Excel_Worksheet123.xlsx"/></Relationships>
</file>

<file path=ppt/charts/_rels/chart126.xml.rels><?xml version="1.0" encoding="UTF-8" standalone="yes"?>
<Relationships xmlns="http://schemas.openxmlformats.org/package/2006/relationships"><Relationship Id="rId3" Type="http://schemas.openxmlformats.org/officeDocument/2006/relationships/package" Target="../embeddings/Microsoft_Excel_Worksheet124.xlsx"/><Relationship Id="rId2" Type="http://schemas.microsoft.com/office/2011/relationships/chartColorStyle" Target="colors119.xml"/><Relationship Id="rId1" Type="http://schemas.microsoft.com/office/2011/relationships/chartStyle" Target="style119.xml"/></Relationships>
</file>

<file path=ppt/charts/_rels/chart127.xml.rels><?xml version="1.0" encoding="UTF-8" standalone="yes"?>
<Relationships xmlns="http://schemas.openxmlformats.org/package/2006/relationships"><Relationship Id="rId3" Type="http://schemas.openxmlformats.org/officeDocument/2006/relationships/themeOverride" Target="../theme/themeOverride51.xml"/><Relationship Id="rId2" Type="http://schemas.microsoft.com/office/2011/relationships/chartColorStyle" Target="colors120.xml"/><Relationship Id="rId1" Type="http://schemas.microsoft.com/office/2011/relationships/chartStyle" Target="style120.xml"/><Relationship Id="rId4" Type="http://schemas.openxmlformats.org/officeDocument/2006/relationships/package" Target="../embeddings/Microsoft_Excel_Worksheet125.xlsx"/></Relationships>
</file>

<file path=ppt/charts/_rels/chart128.xml.rels><?xml version="1.0" encoding="UTF-8" standalone="yes"?>
<Relationships xmlns="http://schemas.openxmlformats.org/package/2006/relationships"><Relationship Id="rId3" Type="http://schemas.openxmlformats.org/officeDocument/2006/relationships/themeOverride" Target="../theme/themeOverride52.xml"/><Relationship Id="rId2" Type="http://schemas.microsoft.com/office/2011/relationships/chartColorStyle" Target="colors121.xml"/><Relationship Id="rId1" Type="http://schemas.microsoft.com/office/2011/relationships/chartStyle" Target="style121.xml"/><Relationship Id="rId4" Type="http://schemas.openxmlformats.org/officeDocument/2006/relationships/package" Target="../embeddings/Microsoft_Excel_Worksheet126.xlsx"/></Relationships>
</file>

<file path=ppt/charts/_rels/chart129.xml.rels><?xml version="1.0" encoding="UTF-8" standalone="yes"?>
<Relationships xmlns="http://schemas.openxmlformats.org/package/2006/relationships"><Relationship Id="rId3" Type="http://schemas.openxmlformats.org/officeDocument/2006/relationships/themeOverride" Target="../theme/themeOverride53.xml"/><Relationship Id="rId2" Type="http://schemas.microsoft.com/office/2011/relationships/chartColorStyle" Target="colors122.xml"/><Relationship Id="rId1" Type="http://schemas.microsoft.com/office/2011/relationships/chartStyle" Target="style122.xml"/><Relationship Id="rId4" Type="http://schemas.openxmlformats.org/officeDocument/2006/relationships/package" Target="../embeddings/Microsoft_Excel_Worksheet127.xlsx"/></Relationships>
</file>

<file path=ppt/charts/_rels/chart130.xml.rels><?xml version="1.0" encoding="UTF-8" standalone="yes"?>
<Relationships xmlns="http://schemas.openxmlformats.org/package/2006/relationships"><Relationship Id="rId3" Type="http://schemas.openxmlformats.org/officeDocument/2006/relationships/themeOverride" Target="../theme/themeOverride54.xml"/><Relationship Id="rId2" Type="http://schemas.microsoft.com/office/2011/relationships/chartColorStyle" Target="colors123.xml"/><Relationship Id="rId1" Type="http://schemas.microsoft.com/office/2011/relationships/chartStyle" Target="style123.xml"/><Relationship Id="rId4" Type="http://schemas.openxmlformats.org/officeDocument/2006/relationships/package" Target="../embeddings/Microsoft_Excel_Worksheet128.xlsx"/></Relationships>
</file>

<file path=ppt/charts/_rels/chart131.xml.rels><?xml version="1.0" encoding="UTF-8" standalone="yes"?>
<Relationships xmlns="http://schemas.openxmlformats.org/package/2006/relationships"><Relationship Id="rId3" Type="http://schemas.openxmlformats.org/officeDocument/2006/relationships/themeOverride" Target="../theme/themeOverride55.xml"/><Relationship Id="rId2" Type="http://schemas.microsoft.com/office/2011/relationships/chartColorStyle" Target="colors124.xml"/><Relationship Id="rId1" Type="http://schemas.microsoft.com/office/2011/relationships/chartStyle" Target="style124.xml"/><Relationship Id="rId4" Type="http://schemas.openxmlformats.org/officeDocument/2006/relationships/package" Target="../embeddings/Microsoft_Excel_Worksheet129.xlsx"/></Relationships>
</file>

<file path=ppt/charts/_rels/chart132.xml.rels><?xml version="1.0" encoding="UTF-8" standalone="yes"?>
<Relationships xmlns="http://schemas.openxmlformats.org/package/2006/relationships"><Relationship Id="rId3" Type="http://schemas.openxmlformats.org/officeDocument/2006/relationships/themeOverride" Target="../theme/themeOverride56.xml"/><Relationship Id="rId2" Type="http://schemas.microsoft.com/office/2011/relationships/chartColorStyle" Target="colors125.xml"/><Relationship Id="rId1" Type="http://schemas.microsoft.com/office/2011/relationships/chartStyle" Target="style125.xml"/><Relationship Id="rId4" Type="http://schemas.openxmlformats.org/officeDocument/2006/relationships/package" Target="../embeddings/Microsoft_Excel_Worksheet130.xlsx"/></Relationships>
</file>

<file path=ppt/charts/_rels/chart133.xml.rels><?xml version="1.0" encoding="UTF-8" standalone="yes"?>
<Relationships xmlns="http://schemas.openxmlformats.org/package/2006/relationships"><Relationship Id="rId3" Type="http://schemas.openxmlformats.org/officeDocument/2006/relationships/themeOverride" Target="../theme/themeOverride57.xml"/><Relationship Id="rId2" Type="http://schemas.microsoft.com/office/2011/relationships/chartColorStyle" Target="colors126.xml"/><Relationship Id="rId1" Type="http://schemas.microsoft.com/office/2011/relationships/chartStyle" Target="style126.xml"/><Relationship Id="rId4" Type="http://schemas.openxmlformats.org/officeDocument/2006/relationships/package" Target="../embeddings/Microsoft_Excel_Worksheet131.xlsx"/></Relationships>
</file>

<file path=ppt/charts/_rels/chart134.xml.rels><?xml version="1.0" encoding="UTF-8" standalone="yes"?>
<Relationships xmlns="http://schemas.openxmlformats.org/package/2006/relationships"><Relationship Id="rId3" Type="http://schemas.openxmlformats.org/officeDocument/2006/relationships/themeOverride" Target="../theme/themeOverride58.xml"/><Relationship Id="rId2" Type="http://schemas.microsoft.com/office/2011/relationships/chartColorStyle" Target="colors127.xml"/><Relationship Id="rId1" Type="http://schemas.microsoft.com/office/2011/relationships/chartStyle" Target="style127.xml"/><Relationship Id="rId4" Type="http://schemas.openxmlformats.org/officeDocument/2006/relationships/package" Target="../embeddings/Microsoft_Excel_Worksheet132.xlsx"/></Relationships>
</file>

<file path=ppt/charts/_rels/chart135.xml.rels><?xml version="1.0" encoding="UTF-8" standalone="yes"?>
<Relationships xmlns="http://schemas.openxmlformats.org/package/2006/relationships"><Relationship Id="rId3" Type="http://schemas.openxmlformats.org/officeDocument/2006/relationships/package" Target="../embeddings/Microsoft_Excel_Worksheet133.xlsx"/><Relationship Id="rId2" Type="http://schemas.microsoft.com/office/2011/relationships/chartColorStyle" Target="colors128.xml"/><Relationship Id="rId1" Type="http://schemas.microsoft.com/office/2011/relationships/chartStyle" Target="style128.xml"/></Relationships>
</file>

<file path=ppt/charts/_rels/chart136.xml.rels><?xml version="1.0" encoding="UTF-8" standalone="yes"?>
<Relationships xmlns="http://schemas.openxmlformats.org/package/2006/relationships"><Relationship Id="rId1" Type="http://schemas.openxmlformats.org/officeDocument/2006/relationships/package" Target="../embeddings/Microsoft_Excel_Worksheet134.xlsx"/></Relationships>
</file>

<file path=ppt/charts/_rels/chart137.xml.rels><?xml version="1.0" encoding="UTF-8" standalone="yes"?>
<Relationships xmlns="http://schemas.openxmlformats.org/package/2006/relationships"><Relationship Id="rId3" Type="http://schemas.openxmlformats.org/officeDocument/2006/relationships/package" Target="../embeddings/Microsoft_Excel_Worksheet135.xlsx"/><Relationship Id="rId2" Type="http://schemas.microsoft.com/office/2011/relationships/chartColorStyle" Target="colors129.xml"/><Relationship Id="rId1" Type="http://schemas.microsoft.com/office/2011/relationships/chartStyle" Target="style129.xml"/></Relationships>
</file>

<file path=ppt/charts/_rels/chart138.xml.rels><?xml version="1.0" encoding="UTF-8" standalone="yes"?>
<Relationships xmlns="http://schemas.openxmlformats.org/package/2006/relationships"><Relationship Id="rId3" Type="http://schemas.openxmlformats.org/officeDocument/2006/relationships/package" Target="../embeddings/Microsoft_Excel_Worksheet136.xlsx"/><Relationship Id="rId2" Type="http://schemas.microsoft.com/office/2011/relationships/chartColorStyle" Target="colors130.xml"/><Relationship Id="rId1" Type="http://schemas.microsoft.com/office/2011/relationships/chartStyle" Target="style130.xml"/></Relationships>
</file>

<file path=ppt/charts/_rels/chart139.xml.rels><?xml version="1.0" encoding="UTF-8" standalone="yes"?>
<Relationships xmlns="http://schemas.openxmlformats.org/package/2006/relationships"><Relationship Id="rId3" Type="http://schemas.openxmlformats.org/officeDocument/2006/relationships/themeOverride" Target="../theme/themeOverride59.xml"/><Relationship Id="rId2" Type="http://schemas.microsoft.com/office/2011/relationships/chartColorStyle" Target="colors131.xml"/><Relationship Id="rId1" Type="http://schemas.microsoft.com/office/2011/relationships/chartStyle" Target="style131.xml"/><Relationship Id="rId4" Type="http://schemas.openxmlformats.org/officeDocument/2006/relationships/package" Target="../embeddings/Microsoft_Excel_Worksheet137.xlsx"/></Relationships>
</file>

<file path=ppt/charts/_rels/chart140.xml.rels><?xml version="1.0" encoding="UTF-8" standalone="yes"?>
<Relationships xmlns="http://schemas.openxmlformats.org/package/2006/relationships"><Relationship Id="rId3" Type="http://schemas.openxmlformats.org/officeDocument/2006/relationships/package" Target="../embeddings/Microsoft_Excel_Worksheet138.xlsx"/><Relationship Id="rId2" Type="http://schemas.microsoft.com/office/2011/relationships/chartColorStyle" Target="colors132.xml"/><Relationship Id="rId1" Type="http://schemas.microsoft.com/office/2011/relationships/chartStyle" Target="style132.xml"/></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Excel_Worksheet139.xlsx"/></Relationships>
</file>

<file path=ppt/charts/_rels/chart142.xml.rels><?xml version="1.0" encoding="UTF-8" standalone="yes"?>
<Relationships xmlns="http://schemas.openxmlformats.org/package/2006/relationships"><Relationship Id="rId3" Type="http://schemas.openxmlformats.org/officeDocument/2006/relationships/package" Target="../embeddings/Microsoft_Excel_Worksheet140.xlsx"/><Relationship Id="rId2" Type="http://schemas.microsoft.com/office/2011/relationships/chartColorStyle" Target="colors133.xml"/><Relationship Id="rId1" Type="http://schemas.microsoft.com/office/2011/relationships/chartStyle" Target="style133.xml"/></Relationships>
</file>

<file path=ppt/charts/_rels/chart143.xml.rels><?xml version="1.0" encoding="UTF-8" standalone="yes"?>
<Relationships xmlns="http://schemas.openxmlformats.org/package/2006/relationships"><Relationship Id="rId3" Type="http://schemas.openxmlformats.org/officeDocument/2006/relationships/package" Target="../embeddings/Microsoft_Excel_Worksheet141.xlsx"/><Relationship Id="rId2" Type="http://schemas.microsoft.com/office/2011/relationships/chartColorStyle" Target="colors134.xml"/><Relationship Id="rId1" Type="http://schemas.microsoft.com/office/2011/relationships/chartStyle" Target="style134.xml"/></Relationships>
</file>

<file path=ppt/charts/_rels/chart144.xml.rels><?xml version="1.0" encoding="UTF-8" standalone="yes"?>
<Relationships xmlns="http://schemas.openxmlformats.org/package/2006/relationships"><Relationship Id="rId3" Type="http://schemas.openxmlformats.org/officeDocument/2006/relationships/themeOverride" Target="../theme/themeOverride60.xml"/><Relationship Id="rId2" Type="http://schemas.microsoft.com/office/2011/relationships/chartColorStyle" Target="colors135.xml"/><Relationship Id="rId1" Type="http://schemas.microsoft.com/office/2011/relationships/chartStyle" Target="style135.xml"/><Relationship Id="rId4" Type="http://schemas.openxmlformats.org/officeDocument/2006/relationships/package" Target="../embeddings/Microsoft_Excel_Worksheet142.xlsx"/></Relationships>
</file>

<file path=ppt/charts/_rels/chart145.xml.rels><?xml version="1.0" encoding="UTF-8" standalone="yes"?>
<Relationships xmlns="http://schemas.openxmlformats.org/package/2006/relationships"><Relationship Id="rId3" Type="http://schemas.openxmlformats.org/officeDocument/2006/relationships/package" Target="../embeddings/Microsoft_Excel_Worksheet143.xlsx"/><Relationship Id="rId2" Type="http://schemas.microsoft.com/office/2011/relationships/chartColorStyle" Target="colors136.xml"/><Relationship Id="rId1" Type="http://schemas.microsoft.com/office/2011/relationships/chartStyle" Target="style136.xml"/></Relationships>
</file>

<file path=ppt/charts/_rels/chart146.xml.rels><?xml version="1.0" encoding="UTF-8" standalone="yes"?>
<Relationships xmlns="http://schemas.openxmlformats.org/package/2006/relationships"><Relationship Id="rId3" Type="http://schemas.openxmlformats.org/officeDocument/2006/relationships/package" Target="../embeddings/Microsoft_Excel_Worksheet144.xlsx"/><Relationship Id="rId2" Type="http://schemas.microsoft.com/office/2011/relationships/chartColorStyle" Target="colors137.xml"/><Relationship Id="rId1" Type="http://schemas.microsoft.com/office/2011/relationships/chartStyle" Target="style137.xml"/></Relationships>
</file>

<file path=ppt/charts/_rels/chart147.xml.rels><?xml version="1.0" encoding="UTF-8" standalone="yes"?>
<Relationships xmlns="http://schemas.openxmlformats.org/package/2006/relationships"><Relationship Id="rId1" Type="http://schemas.openxmlformats.org/officeDocument/2006/relationships/package" Target="../embeddings/Microsoft_Excel_Worksheet145.xlsx"/></Relationships>
</file>

<file path=ppt/charts/_rels/chart148.xml.rels><?xml version="1.0" encoding="UTF-8" standalone="yes"?>
<Relationships xmlns="http://schemas.openxmlformats.org/package/2006/relationships"><Relationship Id="rId3" Type="http://schemas.openxmlformats.org/officeDocument/2006/relationships/package" Target="../embeddings/Microsoft_Excel_Worksheet146.xlsx"/><Relationship Id="rId2" Type="http://schemas.microsoft.com/office/2011/relationships/chartColorStyle" Target="colors138.xml"/><Relationship Id="rId1" Type="http://schemas.microsoft.com/office/2011/relationships/chartStyle" Target="style138.xml"/></Relationships>
</file>

<file path=ppt/charts/_rels/chart149.xml.rels><?xml version="1.0" encoding="UTF-8" standalone="yes"?>
<Relationships xmlns="http://schemas.openxmlformats.org/package/2006/relationships"><Relationship Id="rId3" Type="http://schemas.openxmlformats.org/officeDocument/2006/relationships/themeOverride" Target="../theme/themeOverride61.xml"/><Relationship Id="rId2" Type="http://schemas.microsoft.com/office/2011/relationships/chartColorStyle" Target="colors139.xml"/><Relationship Id="rId1" Type="http://schemas.microsoft.com/office/2011/relationships/chartStyle" Target="style139.xml"/><Relationship Id="rId4" Type="http://schemas.openxmlformats.org/officeDocument/2006/relationships/package" Target="../embeddings/Microsoft_Excel_Worksheet147.xlsx"/></Relationships>
</file>

<file path=ppt/charts/_rels/chart150.xml.rels><?xml version="1.0" encoding="UTF-8" standalone="yes"?>
<Relationships xmlns="http://schemas.openxmlformats.org/package/2006/relationships"><Relationship Id="rId1" Type="http://schemas.openxmlformats.org/officeDocument/2006/relationships/package" Target="../embeddings/Microsoft_Excel_Worksheet148.xlsx"/></Relationships>
</file>

<file path=ppt/charts/_rels/chart151.xml.rels><?xml version="1.0" encoding="UTF-8" standalone="yes"?>
<Relationships xmlns="http://schemas.openxmlformats.org/package/2006/relationships"><Relationship Id="rId3" Type="http://schemas.openxmlformats.org/officeDocument/2006/relationships/package" Target="../embeddings/Microsoft_Excel_Worksheet149.xlsx"/><Relationship Id="rId2" Type="http://schemas.microsoft.com/office/2011/relationships/chartColorStyle" Target="colors140.xml"/><Relationship Id="rId1" Type="http://schemas.microsoft.com/office/2011/relationships/chartStyle" Target="style140.xml"/></Relationships>
</file>

<file path=ppt/charts/_rels/chart152.xml.rels><?xml version="1.0" encoding="UTF-8" standalone="yes"?>
<Relationships xmlns="http://schemas.openxmlformats.org/package/2006/relationships"><Relationship Id="rId3" Type="http://schemas.openxmlformats.org/officeDocument/2006/relationships/package" Target="../embeddings/Microsoft_Excel_Worksheet150.xlsx"/><Relationship Id="rId2" Type="http://schemas.microsoft.com/office/2011/relationships/chartColorStyle" Target="colors141.xml"/><Relationship Id="rId1" Type="http://schemas.microsoft.com/office/2011/relationships/chartStyle" Target="style141.xml"/></Relationships>
</file>

<file path=ppt/charts/_rels/chart153.xml.rels><?xml version="1.0" encoding="UTF-8" standalone="yes"?>
<Relationships xmlns="http://schemas.openxmlformats.org/package/2006/relationships"><Relationship Id="rId3" Type="http://schemas.openxmlformats.org/officeDocument/2006/relationships/package" Target="../embeddings/Microsoft_Excel_Worksheet151.xlsx"/><Relationship Id="rId2" Type="http://schemas.microsoft.com/office/2011/relationships/chartColorStyle" Target="colors142.xml"/><Relationship Id="rId1" Type="http://schemas.microsoft.com/office/2011/relationships/chartStyle" Target="style142.xml"/></Relationships>
</file>

<file path=ppt/charts/_rels/chart154.xml.rels><?xml version="1.0" encoding="UTF-8" standalone="yes"?>
<Relationships xmlns="http://schemas.openxmlformats.org/package/2006/relationships"><Relationship Id="rId3" Type="http://schemas.openxmlformats.org/officeDocument/2006/relationships/themeOverride" Target="../theme/themeOverride62.xml"/><Relationship Id="rId2" Type="http://schemas.microsoft.com/office/2011/relationships/chartColorStyle" Target="colors143.xml"/><Relationship Id="rId1" Type="http://schemas.microsoft.com/office/2011/relationships/chartStyle" Target="style143.xml"/><Relationship Id="rId4" Type="http://schemas.openxmlformats.org/officeDocument/2006/relationships/package" Target="../embeddings/Microsoft_Excel_Worksheet152.xlsx"/></Relationships>
</file>

<file path=ppt/charts/_rels/chart155.xml.rels><?xml version="1.0" encoding="UTF-8" standalone="yes"?>
<Relationships xmlns="http://schemas.openxmlformats.org/package/2006/relationships"><Relationship Id="rId3" Type="http://schemas.openxmlformats.org/officeDocument/2006/relationships/package" Target="../embeddings/Microsoft_Excel_Worksheet153.xlsx"/><Relationship Id="rId2" Type="http://schemas.microsoft.com/office/2011/relationships/chartColorStyle" Target="colors144.xml"/><Relationship Id="rId1" Type="http://schemas.microsoft.com/office/2011/relationships/chartStyle" Target="style144.xml"/></Relationships>
</file>

<file path=ppt/charts/_rels/chart156.xml.rels><?xml version="1.0" encoding="UTF-8" standalone="yes"?>
<Relationships xmlns="http://schemas.openxmlformats.org/package/2006/relationships"><Relationship Id="rId3" Type="http://schemas.openxmlformats.org/officeDocument/2006/relationships/package" Target="../embeddings/Microsoft_Excel_Worksheet154.xlsx"/><Relationship Id="rId2" Type="http://schemas.microsoft.com/office/2011/relationships/chartColorStyle" Target="colors145.xml"/><Relationship Id="rId1" Type="http://schemas.microsoft.com/office/2011/relationships/chartStyle" Target="style145.xml"/></Relationships>
</file>

<file path=ppt/charts/_rels/chart157.xml.rels><?xml version="1.0" encoding="UTF-8" standalone="yes"?>
<Relationships xmlns="http://schemas.openxmlformats.org/package/2006/relationships"><Relationship Id="rId1" Type="http://schemas.openxmlformats.org/officeDocument/2006/relationships/package" Target="../embeddings/Microsoft_Excel_Worksheet155.xlsx"/></Relationships>
</file>

<file path=ppt/charts/_rels/chart158.xml.rels><?xml version="1.0" encoding="UTF-8" standalone="yes"?>
<Relationships xmlns="http://schemas.openxmlformats.org/package/2006/relationships"><Relationship Id="rId3" Type="http://schemas.openxmlformats.org/officeDocument/2006/relationships/package" Target="../embeddings/Microsoft_Excel_Worksheet156.xlsx"/><Relationship Id="rId2" Type="http://schemas.microsoft.com/office/2011/relationships/chartColorStyle" Target="colors146.xml"/><Relationship Id="rId1" Type="http://schemas.microsoft.com/office/2011/relationships/chartStyle" Target="style146.xml"/></Relationships>
</file>

<file path=ppt/charts/_rels/chart159.xml.rels><?xml version="1.0" encoding="UTF-8" standalone="yes"?>
<Relationships xmlns="http://schemas.openxmlformats.org/package/2006/relationships"><Relationship Id="rId3" Type="http://schemas.openxmlformats.org/officeDocument/2006/relationships/themeOverride" Target="../theme/themeOverride63.xml"/><Relationship Id="rId2" Type="http://schemas.microsoft.com/office/2011/relationships/chartColorStyle" Target="colors147.xml"/><Relationship Id="rId1" Type="http://schemas.microsoft.com/office/2011/relationships/chartStyle" Target="style147.xml"/><Relationship Id="rId4" Type="http://schemas.openxmlformats.org/officeDocument/2006/relationships/package" Target="../embeddings/Microsoft_Excel_Worksheet157.xlsx"/></Relationships>
</file>

<file path=ppt/charts/_rels/chart160.xml.rels><?xml version="1.0" encoding="UTF-8" standalone="yes"?>
<Relationships xmlns="http://schemas.openxmlformats.org/package/2006/relationships"><Relationship Id="rId3" Type="http://schemas.openxmlformats.org/officeDocument/2006/relationships/package" Target="../embeddings/Microsoft_Excel_Worksheet158.xlsx"/><Relationship Id="rId2" Type="http://schemas.microsoft.com/office/2011/relationships/chartColorStyle" Target="colors148.xml"/><Relationship Id="rId1" Type="http://schemas.microsoft.com/office/2011/relationships/chartStyle" Target="style148.xml"/></Relationships>
</file>

<file path=ppt/charts/_rels/chart161.xml.rels><?xml version="1.0" encoding="UTF-8" standalone="yes"?>
<Relationships xmlns="http://schemas.openxmlformats.org/package/2006/relationships"><Relationship Id="rId1" Type="http://schemas.openxmlformats.org/officeDocument/2006/relationships/package" Target="../embeddings/Microsoft_Excel_Worksheet159.xlsx"/></Relationships>
</file>

<file path=ppt/charts/_rels/chart162.xml.rels><?xml version="1.0" encoding="UTF-8" standalone="yes"?>
<Relationships xmlns="http://schemas.openxmlformats.org/package/2006/relationships"><Relationship Id="rId3" Type="http://schemas.openxmlformats.org/officeDocument/2006/relationships/package" Target="../embeddings/Microsoft_Excel_Worksheet160.xlsx"/><Relationship Id="rId2" Type="http://schemas.microsoft.com/office/2011/relationships/chartColorStyle" Target="colors149.xml"/><Relationship Id="rId1" Type="http://schemas.microsoft.com/office/2011/relationships/chartStyle" Target="style149.xml"/></Relationships>
</file>

<file path=ppt/charts/_rels/chart163.xml.rels><?xml version="1.0" encoding="UTF-8" standalone="yes"?>
<Relationships xmlns="http://schemas.openxmlformats.org/package/2006/relationships"><Relationship Id="rId3" Type="http://schemas.openxmlformats.org/officeDocument/2006/relationships/package" Target="../embeddings/Microsoft_Excel_Worksheet161.xlsx"/><Relationship Id="rId2" Type="http://schemas.microsoft.com/office/2011/relationships/chartColorStyle" Target="colors150.xml"/><Relationship Id="rId1" Type="http://schemas.microsoft.com/office/2011/relationships/chartStyle" Target="style150.xml"/></Relationships>
</file>

<file path=ppt/charts/_rels/chart164.xml.rels><?xml version="1.0" encoding="UTF-8" standalone="yes"?>
<Relationships xmlns="http://schemas.openxmlformats.org/package/2006/relationships"><Relationship Id="rId3" Type="http://schemas.openxmlformats.org/officeDocument/2006/relationships/themeOverride" Target="../theme/themeOverride64.xml"/><Relationship Id="rId2" Type="http://schemas.microsoft.com/office/2011/relationships/chartColorStyle" Target="colors151.xml"/><Relationship Id="rId1" Type="http://schemas.microsoft.com/office/2011/relationships/chartStyle" Target="style151.xml"/><Relationship Id="rId4" Type="http://schemas.openxmlformats.org/officeDocument/2006/relationships/package" Target="../embeddings/Microsoft_Excel_Worksheet162.xlsx"/></Relationships>
</file>

<file path=ppt/charts/_rels/chart165.xml.rels><?xml version="1.0" encoding="UTF-8" standalone="yes"?>
<Relationships xmlns="http://schemas.openxmlformats.org/package/2006/relationships"><Relationship Id="rId3" Type="http://schemas.openxmlformats.org/officeDocument/2006/relationships/package" Target="../embeddings/Microsoft_Excel_Worksheet163.xlsx"/><Relationship Id="rId2" Type="http://schemas.microsoft.com/office/2011/relationships/chartColorStyle" Target="colors152.xml"/><Relationship Id="rId1" Type="http://schemas.microsoft.com/office/2011/relationships/chartStyle" Target="style152.xml"/></Relationships>
</file>

<file path=ppt/charts/_rels/chart166.xml.rels><?xml version="1.0" encoding="UTF-8" standalone="yes"?>
<Relationships xmlns="http://schemas.openxmlformats.org/package/2006/relationships"><Relationship Id="rId3" Type="http://schemas.openxmlformats.org/officeDocument/2006/relationships/package" Target="../embeddings/Microsoft_Excel_Worksheet164.xlsx"/><Relationship Id="rId2" Type="http://schemas.microsoft.com/office/2011/relationships/chartColorStyle" Target="colors153.xml"/><Relationship Id="rId1" Type="http://schemas.microsoft.com/office/2011/relationships/chartStyle" Target="style153.xml"/></Relationships>
</file>

<file path=ppt/charts/_rels/chart167.xml.rels><?xml version="1.0" encoding="UTF-8" standalone="yes"?>
<Relationships xmlns="http://schemas.openxmlformats.org/package/2006/relationships"><Relationship Id="rId1" Type="http://schemas.openxmlformats.org/officeDocument/2006/relationships/package" Target="../embeddings/Microsoft_Excel_Worksheet165.xlsx"/></Relationships>
</file>

<file path=ppt/charts/_rels/chart168.xml.rels><?xml version="1.0" encoding="UTF-8" standalone="yes"?>
<Relationships xmlns="http://schemas.openxmlformats.org/package/2006/relationships"><Relationship Id="rId3" Type="http://schemas.openxmlformats.org/officeDocument/2006/relationships/package" Target="../embeddings/Microsoft_Excel_Worksheet166.xlsx"/><Relationship Id="rId2" Type="http://schemas.microsoft.com/office/2011/relationships/chartColorStyle" Target="colors154.xml"/><Relationship Id="rId1" Type="http://schemas.microsoft.com/office/2011/relationships/chartStyle" Target="style154.xml"/></Relationships>
</file>

<file path=ppt/charts/_rels/chart169.xml.rels><?xml version="1.0" encoding="UTF-8" standalone="yes"?>
<Relationships xmlns="http://schemas.openxmlformats.org/package/2006/relationships"><Relationship Id="rId3" Type="http://schemas.openxmlformats.org/officeDocument/2006/relationships/package" Target="../embeddings/Microsoft_Excel_Worksheet167.xlsx"/><Relationship Id="rId2" Type="http://schemas.microsoft.com/office/2011/relationships/chartColorStyle" Target="colors155.xml"/><Relationship Id="rId1" Type="http://schemas.microsoft.com/office/2011/relationships/chartStyle" Target="style155.xml"/></Relationships>
</file>

<file path=ppt/charts/_rels/chart170.xml.rels><?xml version="1.0" encoding="UTF-8" standalone="yes"?>
<Relationships xmlns="http://schemas.openxmlformats.org/package/2006/relationships"><Relationship Id="rId3" Type="http://schemas.openxmlformats.org/officeDocument/2006/relationships/package" Target="../embeddings/Microsoft_Excel_Worksheet168.xlsx"/><Relationship Id="rId2" Type="http://schemas.microsoft.com/office/2011/relationships/chartColorStyle" Target="colors156.xml"/><Relationship Id="rId1" Type="http://schemas.microsoft.com/office/2011/relationships/chartStyle" Target="style156.xml"/></Relationships>
</file>

<file path=ppt/charts/_rels/chart171.xml.rels><?xml version="1.0" encoding="UTF-8" standalone="yes"?>
<Relationships xmlns="http://schemas.openxmlformats.org/package/2006/relationships"><Relationship Id="rId3" Type="http://schemas.openxmlformats.org/officeDocument/2006/relationships/package" Target="../embeddings/Microsoft_Excel_Worksheet169.xlsx"/><Relationship Id="rId2" Type="http://schemas.microsoft.com/office/2011/relationships/chartColorStyle" Target="colors157.xml"/><Relationship Id="rId1" Type="http://schemas.microsoft.com/office/2011/relationships/chartStyle" Target="style157.xml"/></Relationships>
</file>

<file path=ppt/charts/_rels/chart172.xml.rels><?xml version="1.0" encoding="UTF-8" standalone="yes"?>
<Relationships xmlns="http://schemas.openxmlformats.org/package/2006/relationships"><Relationship Id="rId3" Type="http://schemas.openxmlformats.org/officeDocument/2006/relationships/themeOverride" Target="../theme/themeOverride65.xml"/><Relationship Id="rId2" Type="http://schemas.microsoft.com/office/2011/relationships/chartColorStyle" Target="colors158.xml"/><Relationship Id="rId1" Type="http://schemas.microsoft.com/office/2011/relationships/chartStyle" Target="style158.xml"/><Relationship Id="rId4" Type="http://schemas.openxmlformats.org/officeDocument/2006/relationships/package" Target="../embeddings/Microsoft_Excel_Worksheet170.xlsx"/></Relationships>
</file>

<file path=ppt/charts/_rels/chart173.xml.rels><?xml version="1.0" encoding="UTF-8" standalone="yes"?>
<Relationships xmlns="http://schemas.openxmlformats.org/package/2006/relationships"><Relationship Id="rId3" Type="http://schemas.openxmlformats.org/officeDocument/2006/relationships/themeOverride" Target="../theme/themeOverride66.xml"/><Relationship Id="rId2" Type="http://schemas.microsoft.com/office/2011/relationships/chartColorStyle" Target="colors159.xml"/><Relationship Id="rId1" Type="http://schemas.microsoft.com/office/2011/relationships/chartStyle" Target="style159.xml"/><Relationship Id="rId4" Type="http://schemas.openxmlformats.org/officeDocument/2006/relationships/package" Target="../embeddings/Microsoft_Excel_Worksheet171.xlsx"/></Relationships>
</file>

<file path=ppt/charts/_rels/chart174.xml.rels><?xml version="1.0" encoding="UTF-8" standalone="yes"?>
<Relationships xmlns="http://schemas.openxmlformats.org/package/2006/relationships"><Relationship Id="rId3" Type="http://schemas.openxmlformats.org/officeDocument/2006/relationships/themeOverride" Target="../theme/themeOverride67.xml"/><Relationship Id="rId2" Type="http://schemas.microsoft.com/office/2011/relationships/chartColorStyle" Target="colors160.xml"/><Relationship Id="rId1" Type="http://schemas.microsoft.com/office/2011/relationships/chartStyle" Target="style160.xml"/><Relationship Id="rId4" Type="http://schemas.openxmlformats.org/officeDocument/2006/relationships/package" Target="../embeddings/Microsoft_Excel_Worksheet172.xlsx"/></Relationships>
</file>

<file path=ppt/charts/_rels/chart175.xml.rels><?xml version="1.0" encoding="UTF-8" standalone="yes"?>
<Relationships xmlns="http://schemas.openxmlformats.org/package/2006/relationships"><Relationship Id="rId3" Type="http://schemas.openxmlformats.org/officeDocument/2006/relationships/themeOverride" Target="../theme/themeOverride68.xml"/><Relationship Id="rId2" Type="http://schemas.microsoft.com/office/2011/relationships/chartColorStyle" Target="colors161.xml"/><Relationship Id="rId1" Type="http://schemas.microsoft.com/office/2011/relationships/chartStyle" Target="style161.xml"/><Relationship Id="rId4" Type="http://schemas.openxmlformats.org/officeDocument/2006/relationships/package" Target="../embeddings/Microsoft_Excel_Worksheet173.xlsx"/></Relationships>
</file>

<file path=ppt/charts/_rels/chart176.xml.rels><?xml version="1.0" encoding="UTF-8" standalone="yes"?>
<Relationships xmlns="http://schemas.openxmlformats.org/package/2006/relationships"><Relationship Id="rId3" Type="http://schemas.openxmlformats.org/officeDocument/2006/relationships/themeOverride" Target="../theme/themeOverride69.xml"/><Relationship Id="rId2" Type="http://schemas.microsoft.com/office/2011/relationships/chartColorStyle" Target="colors162.xml"/><Relationship Id="rId1" Type="http://schemas.microsoft.com/office/2011/relationships/chartStyle" Target="style162.xml"/><Relationship Id="rId4" Type="http://schemas.openxmlformats.org/officeDocument/2006/relationships/package" Target="../embeddings/Microsoft_Excel_Worksheet174.xlsx"/></Relationships>
</file>

<file path=ppt/charts/_rels/chart177.xml.rels><?xml version="1.0" encoding="UTF-8" standalone="yes"?>
<Relationships xmlns="http://schemas.openxmlformats.org/package/2006/relationships"><Relationship Id="rId3" Type="http://schemas.openxmlformats.org/officeDocument/2006/relationships/themeOverride" Target="../theme/themeOverride70.xml"/><Relationship Id="rId2" Type="http://schemas.microsoft.com/office/2011/relationships/chartColorStyle" Target="colors163.xml"/><Relationship Id="rId1" Type="http://schemas.microsoft.com/office/2011/relationships/chartStyle" Target="style163.xml"/><Relationship Id="rId4" Type="http://schemas.openxmlformats.org/officeDocument/2006/relationships/package" Target="../embeddings/Microsoft_Excel_Worksheet175.xlsx"/></Relationships>
</file>

<file path=ppt/charts/_rels/chart178.xml.rels><?xml version="1.0" encoding="UTF-8" standalone="yes"?>
<Relationships xmlns="http://schemas.openxmlformats.org/package/2006/relationships"><Relationship Id="rId3" Type="http://schemas.openxmlformats.org/officeDocument/2006/relationships/themeOverride" Target="../theme/themeOverride71.xml"/><Relationship Id="rId2" Type="http://schemas.microsoft.com/office/2011/relationships/chartColorStyle" Target="colors164.xml"/><Relationship Id="rId1" Type="http://schemas.microsoft.com/office/2011/relationships/chartStyle" Target="style164.xml"/><Relationship Id="rId4" Type="http://schemas.openxmlformats.org/officeDocument/2006/relationships/package" Target="../embeddings/Microsoft_Excel_Worksheet176.xlsx"/></Relationships>
</file>

<file path=ppt/charts/_rels/chart179.xml.rels><?xml version="1.0" encoding="UTF-8" standalone="yes"?>
<Relationships xmlns="http://schemas.openxmlformats.org/package/2006/relationships"><Relationship Id="rId3" Type="http://schemas.openxmlformats.org/officeDocument/2006/relationships/themeOverride" Target="../theme/themeOverride72.xml"/><Relationship Id="rId2" Type="http://schemas.microsoft.com/office/2011/relationships/chartColorStyle" Target="colors165.xml"/><Relationship Id="rId1" Type="http://schemas.microsoft.com/office/2011/relationships/chartStyle" Target="style165.xml"/><Relationship Id="rId4" Type="http://schemas.openxmlformats.org/officeDocument/2006/relationships/package" Target="../embeddings/Microsoft_Excel_Worksheet177.xlsx"/></Relationships>
</file>

<file path=ppt/charts/_rels/chart180.xml.rels><?xml version="1.0" encoding="UTF-8" standalone="yes"?>
<Relationships xmlns="http://schemas.openxmlformats.org/package/2006/relationships"><Relationship Id="rId3" Type="http://schemas.openxmlformats.org/officeDocument/2006/relationships/themeOverride" Target="../theme/themeOverride73.xml"/><Relationship Id="rId2" Type="http://schemas.microsoft.com/office/2011/relationships/chartColorStyle" Target="colors166.xml"/><Relationship Id="rId1" Type="http://schemas.microsoft.com/office/2011/relationships/chartStyle" Target="style166.xml"/><Relationship Id="rId4" Type="http://schemas.openxmlformats.org/officeDocument/2006/relationships/package" Target="../embeddings/Microsoft_Excel_Worksheet178.xlsx"/></Relationships>
</file>

<file path=ppt/charts/_rels/chart181.xml.rels><?xml version="1.0" encoding="UTF-8" standalone="yes"?>
<Relationships xmlns="http://schemas.openxmlformats.org/package/2006/relationships"><Relationship Id="rId3" Type="http://schemas.openxmlformats.org/officeDocument/2006/relationships/package" Target="../embeddings/Microsoft_Excel_Worksheet179.xlsx"/><Relationship Id="rId2" Type="http://schemas.microsoft.com/office/2011/relationships/chartColorStyle" Target="colors167.xml"/><Relationship Id="rId1" Type="http://schemas.microsoft.com/office/2011/relationships/chartStyle" Target="style167.xml"/></Relationships>
</file>

<file path=ppt/charts/_rels/chart182.xml.rels><?xml version="1.0" encoding="UTF-8" standalone="yes"?>
<Relationships xmlns="http://schemas.openxmlformats.org/package/2006/relationships"><Relationship Id="rId1" Type="http://schemas.openxmlformats.org/officeDocument/2006/relationships/package" Target="../embeddings/Microsoft_Excel_Worksheet180.xlsx"/></Relationships>
</file>

<file path=ppt/charts/_rels/chart183.xml.rels><?xml version="1.0" encoding="UTF-8" standalone="yes"?>
<Relationships xmlns="http://schemas.openxmlformats.org/package/2006/relationships"><Relationship Id="rId3" Type="http://schemas.openxmlformats.org/officeDocument/2006/relationships/package" Target="../embeddings/Microsoft_Excel_Worksheet181.xlsx"/><Relationship Id="rId2" Type="http://schemas.microsoft.com/office/2011/relationships/chartColorStyle" Target="colors168.xml"/><Relationship Id="rId1" Type="http://schemas.microsoft.com/office/2011/relationships/chartStyle" Target="style168.xml"/></Relationships>
</file>

<file path=ppt/charts/_rels/chart184.xml.rels><?xml version="1.0" encoding="UTF-8" standalone="yes"?>
<Relationships xmlns="http://schemas.openxmlformats.org/package/2006/relationships"><Relationship Id="rId3" Type="http://schemas.openxmlformats.org/officeDocument/2006/relationships/package" Target="../embeddings/Microsoft_Excel_Worksheet182.xlsx"/><Relationship Id="rId2" Type="http://schemas.microsoft.com/office/2011/relationships/chartColorStyle" Target="colors169.xml"/><Relationship Id="rId1" Type="http://schemas.microsoft.com/office/2011/relationships/chartStyle" Target="style169.xml"/></Relationships>
</file>

<file path=ppt/charts/_rels/chart185.xml.rels><?xml version="1.0" encoding="UTF-8" standalone="yes"?>
<Relationships xmlns="http://schemas.openxmlformats.org/package/2006/relationships"><Relationship Id="rId3" Type="http://schemas.openxmlformats.org/officeDocument/2006/relationships/package" Target="../embeddings/Microsoft_Excel_Worksheet183.xlsx"/><Relationship Id="rId2" Type="http://schemas.microsoft.com/office/2011/relationships/chartColorStyle" Target="colors170.xml"/><Relationship Id="rId1" Type="http://schemas.microsoft.com/office/2011/relationships/chartStyle" Target="style170.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1.7028383080021973E-2"/>
          <c:y val="4.3054982176424561E-2"/>
          <c:w val="0.98297161691997803"/>
          <c:h val="0.69616810159051967"/>
        </c:manualLayout>
      </c:layout>
      <c:barChart>
        <c:barDir val="col"/>
        <c:grouping val="clustered"/>
        <c:varyColors val="0"/>
        <c:ser>
          <c:idx val="0"/>
          <c:order val="0"/>
          <c:tx>
            <c:strRef>
              <c:f>Sheet1!$B$1</c:f>
              <c:strCache>
                <c:ptCount val="1"/>
                <c:pt idx="0">
                  <c:v>Volume</c:v>
                </c:pt>
              </c:strCache>
            </c:strRef>
          </c:tx>
          <c:spPr>
            <a:solidFill>
              <a:schemeClr val="accent1"/>
            </a:solidFill>
            <a:ln>
              <a:noFill/>
            </a:ln>
            <a:effectLst/>
          </c:spPr>
          <c:invertIfNegative val="0"/>
          <c:cat>
            <c:strRef>
              <c:f>Sheet1!$A$2:$A$6</c:f>
              <c:strCache>
                <c:ptCount val="5"/>
                <c:pt idx="0">
                  <c:v>2019A</c:v>
                </c:pt>
                <c:pt idx="1">
                  <c:v>2020A</c:v>
                </c:pt>
                <c:pt idx="2">
                  <c:v>2021A</c:v>
                </c:pt>
                <c:pt idx="3">
                  <c:v>2022A</c:v>
                </c:pt>
                <c:pt idx="4">
                  <c:v>2023A</c:v>
                </c:pt>
              </c:strCache>
            </c:strRef>
          </c:cat>
          <c:val>
            <c:numRef>
              <c:f>Sheet1!$B$2:$B$6</c:f>
              <c:numCache>
                <c:formatCode>#,##0</c:formatCode>
                <c:ptCount val="5"/>
                <c:pt idx="0">
                  <c:v>61941.126805044318</c:v>
                </c:pt>
                <c:pt idx="1">
                  <c:v>64073.488072206965</c:v>
                </c:pt>
                <c:pt idx="2">
                  <c:v>66341.845185758793</c:v>
                </c:pt>
                <c:pt idx="3">
                  <c:v>63480.774188164003</c:v>
                </c:pt>
                <c:pt idx="4">
                  <c:v>65900.150571567894</c:v>
                </c:pt>
              </c:numCache>
            </c:numRef>
          </c:val>
          <c:extLst>
            <c:ext xmlns:c16="http://schemas.microsoft.com/office/drawing/2014/chart" uri="{C3380CC4-5D6E-409C-BE32-E72D297353CC}">
              <c16:uniqueId val="{00000000-6394-4E70-9184-CC2666B23386}"/>
            </c:ext>
          </c:extLst>
        </c:ser>
        <c:dLbls>
          <c:showLegendKey val="0"/>
          <c:showVal val="0"/>
          <c:showCatName val="0"/>
          <c:showSerName val="0"/>
          <c:showPercent val="0"/>
          <c:showBubbleSize val="0"/>
        </c:dLbls>
        <c:gapWidth val="75"/>
        <c:axId val="958772752"/>
        <c:axId val="958773296"/>
      </c:barChart>
      <c:catAx>
        <c:axId val="9587727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958773296"/>
        <c:crosses val="autoZero"/>
        <c:auto val="1"/>
        <c:lblAlgn val="ctr"/>
        <c:lblOffset val="100"/>
        <c:noMultiLvlLbl val="0"/>
      </c:catAx>
      <c:valAx>
        <c:axId val="958773296"/>
        <c:scaling>
          <c:orientation val="minMax"/>
          <c:min val="160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95877275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1.7975428243628758E-2"/>
          <c:y val="0.1276914363137612"/>
          <c:w val="0.95394153410276061"/>
          <c:h val="0.52047310729318219"/>
        </c:manualLayout>
      </c:layout>
      <c:barChart>
        <c:barDir val="col"/>
        <c:grouping val="clustered"/>
        <c:varyColors val="0"/>
        <c:ser>
          <c:idx val="0"/>
          <c:order val="0"/>
          <c:tx>
            <c:strRef>
              <c:f>Sheet1!$B$1</c:f>
              <c:strCache>
                <c:ptCount val="1"/>
                <c:pt idx="0">
                  <c:v>Volume </c:v>
                </c:pt>
              </c:strCache>
            </c:strRef>
          </c:tx>
          <c:spPr>
            <a:solidFill>
              <a:schemeClr val="accent1">
                <a:shade val="76000"/>
              </a:schemeClr>
            </a:solidFill>
            <a:ln>
              <a:noFill/>
            </a:ln>
            <a:effectLst/>
          </c:spPr>
          <c:invertIfNegative val="0"/>
          <c:cat>
            <c:strRef>
              <c:f>Sheet1!$A$3:$A$13</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Sheet1!$B$3:$B$13</c:f>
              <c:numCache>
                <c:formatCode>#,##0</c:formatCode>
                <c:ptCount val="11"/>
                <c:pt idx="0">
                  <c:v>68499.818155852699</c:v>
                </c:pt>
                <c:pt idx="1">
                  <c:v>71257.450397412744</c:v>
                </c:pt>
                <c:pt idx="2">
                  <c:v>74209.049155120258</c:v>
                </c:pt>
                <c:pt idx="3">
                  <c:v>77375.774716196262</c:v>
                </c:pt>
                <c:pt idx="4">
                  <c:v>80800.730907142119</c:v>
                </c:pt>
                <c:pt idx="5">
                  <c:v>84597.577636479604</c:v>
                </c:pt>
                <c:pt idx="6">
                  <c:v>88601.733155830647</c:v>
                </c:pt>
                <c:pt idx="7">
                  <c:v>92815.917145390442</c:v>
                </c:pt>
                <c:pt idx="8">
                  <c:v>97265.91296513725</c:v>
                </c:pt>
                <c:pt idx="9">
                  <c:v>101932.40985151008</c:v>
                </c:pt>
                <c:pt idx="10">
                  <c:v>106751.36766817454</c:v>
                </c:pt>
              </c:numCache>
            </c:numRef>
          </c:val>
          <c:extLst>
            <c:ext xmlns:c16="http://schemas.microsoft.com/office/drawing/2014/chart" uri="{C3380CC4-5D6E-409C-BE32-E72D297353CC}">
              <c16:uniqueId val="{00000000-8C3D-47E0-8B57-F67060B2543E}"/>
            </c:ext>
          </c:extLst>
        </c:ser>
        <c:dLbls>
          <c:showLegendKey val="0"/>
          <c:showVal val="0"/>
          <c:showCatName val="0"/>
          <c:showSerName val="0"/>
          <c:showPercent val="0"/>
          <c:showBubbleSize val="0"/>
        </c:dLbls>
        <c:gapWidth val="50"/>
        <c:overlap val="100"/>
        <c:axId val="958666128"/>
        <c:axId val="958774384"/>
      </c:barChart>
      <c:lineChart>
        <c:grouping val="standard"/>
        <c:varyColors val="0"/>
        <c:ser>
          <c:idx val="1"/>
          <c:order val="1"/>
          <c:tx>
            <c:strRef>
              <c:f>Sheet1!$C$1</c:f>
              <c:strCache>
                <c:ptCount val="1"/>
                <c:pt idx="0">
                  <c:v>Y-o-Y Growth (%)</c:v>
                </c:pt>
              </c:strCache>
            </c:strRef>
          </c:tx>
          <c:spPr>
            <a:ln w="19050" cap="rnd" cmpd="sng" algn="ctr">
              <a:solidFill>
                <a:srgbClr val="C00000"/>
              </a:solidFill>
              <a:prstDash val="solid"/>
              <a:round/>
            </a:ln>
            <a:effectLst/>
          </c:spPr>
          <c:marker>
            <c:symbol val="none"/>
          </c:marker>
          <c:cat>
            <c:strRef>
              <c:f>Sheet1!$A$3:$A$13</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Sheet1!$C$3:$C$13</c:f>
              <c:numCache>
                <c:formatCode>0.0%</c:formatCode>
                <c:ptCount val="11"/>
                <c:pt idx="0">
                  <c:v>3.9448583375565338E-2</c:v>
                </c:pt>
                <c:pt idx="1">
                  <c:v>4.0257511856247596E-2</c:v>
                </c:pt>
                <c:pt idx="2">
                  <c:v>4.1421616143238804E-2</c:v>
                </c:pt>
                <c:pt idx="3">
                  <c:v>4.2673037818562465E-2</c:v>
                </c:pt>
                <c:pt idx="4">
                  <c:v>4.426393407378626E-2</c:v>
                </c:pt>
                <c:pt idx="5">
                  <c:v>4.6990252275080246E-2</c:v>
                </c:pt>
                <c:pt idx="6">
                  <c:v>4.7331798749097986E-2</c:v>
                </c:pt>
                <c:pt idx="7">
                  <c:v>4.7563222969329466E-2</c:v>
                </c:pt>
                <c:pt idx="8">
                  <c:v>4.7944317705508999E-2</c:v>
                </c:pt>
                <c:pt idx="9">
                  <c:v>4.7976693418231964E-2</c:v>
                </c:pt>
                <c:pt idx="10">
                  <c:v>4.7276011856135502E-2</c:v>
                </c:pt>
              </c:numCache>
            </c:numRef>
          </c:val>
          <c:smooth val="1"/>
          <c:extLst>
            <c:ext xmlns:c16="http://schemas.microsoft.com/office/drawing/2014/chart" uri="{C3380CC4-5D6E-409C-BE32-E72D297353CC}">
              <c16:uniqueId val="{00000001-8C3D-47E0-8B57-F67060B2543E}"/>
            </c:ext>
          </c:extLst>
        </c:ser>
        <c:dLbls>
          <c:showLegendKey val="0"/>
          <c:showVal val="0"/>
          <c:showCatName val="0"/>
          <c:showSerName val="0"/>
          <c:showPercent val="0"/>
          <c:showBubbleSize val="0"/>
        </c:dLbls>
        <c:marker val="1"/>
        <c:smooth val="0"/>
        <c:axId val="958773840"/>
        <c:axId val="958765136"/>
        <c:extLst/>
      </c:lineChart>
      <c:valAx>
        <c:axId val="958765136"/>
        <c:scaling>
          <c:orientation val="minMax"/>
          <c:min val="2.0000000000000004E-2"/>
        </c:scaling>
        <c:delete val="0"/>
        <c:axPos val="l"/>
        <c:numFmt formatCode="0.0%" sourceLinked="0"/>
        <c:majorTickMark val="out"/>
        <c:minorTickMark val="none"/>
        <c:tickLblPos val="nextTo"/>
        <c:spPr>
          <a:noFill/>
          <a:ln w="6350" cap="flat" cmpd="sng" algn="ctr">
            <a:noFill/>
            <a:prstDash val="solid"/>
            <a:round/>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958773840"/>
        <c:crosses val="autoZero"/>
        <c:crossBetween val="between"/>
      </c:valAx>
      <c:catAx>
        <c:axId val="958773840"/>
        <c:scaling>
          <c:orientation val="minMax"/>
        </c:scaling>
        <c:delete val="1"/>
        <c:axPos val="b"/>
        <c:numFmt formatCode="General" sourceLinked="1"/>
        <c:majorTickMark val="out"/>
        <c:minorTickMark val="none"/>
        <c:tickLblPos val="nextTo"/>
        <c:crossAx val="958765136"/>
        <c:crosses val="autoZero"/>
        <c:auto val="1"/>
        <c:lblAlgn val="ctr"/>
        <c:lblOffset val="100"/>
        <c:noMultiLvlLbl val="0"/>
      </c:catAx>
      <c:valAx>
        <c:axId val="958774384"/>
        <c:scaling>
          <c:orientation val="minMax"/>
        </c:scaling>
        <c:delete val="0"/>
        <c:axPos val="r"/>
        <c:numFmt formatCode="#,##0" sourceLinked="1"/>
        <c:majorTickMark val="out"/>
        <c:minorTickMark val="none"/>
        <c:tickLblPos val="nextTo"/>
        <c:spPr>
          <a:noFill/>
          <a:ln w="6350" cap="flat" cmpd="sng" algn="ctr">
            <a:noFill/>
            <a:prstDash val="solid"/>
            <a:round/>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958666128"/>
        <c:crosses val="max"/>
        <c:crossBetween val="between"/>
      </c:valAx>
      <c:catAx>
        <c:axId val="958666128"/>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prstDash val="solid"/>
            <a:round/>
          </a:ln>
          <a:effectLst/>
        </c:spPr>
        <c:txPr>
          <a:bodyPr rot="-5400000" spcFirstLastPara="1" vertOverflow="ellipsis" wrap="square" anchor="ctr" anchorCtr="1"/>
          <a:lstStyle/>
          <a:p>
            <a:pPr algn="ctr">
              <a:defRPr sz="1100" b="0" i="0" u="none" strike="noStrike" kern="1200" baseline="0">
                <a:solidFill>
                  <a:schemeClr val="tx1"/>
                </a:solidFill>
                <a:latin typeface="+mn-lt"/>
                <a:ea typeface="+mn-ea"/>
                <a:cs typeface="+mn-cs"/>
              </a:defRPr>
            </a:pPr>
            <a:endParaRPr lang="en-US"/>
          </a:p>
        </c:txPr>
        <c:crossAx val="958774384"/>
        <c:crosses val="autoZero"/>
        <c:auto val="1"/>
        <c:lblAlgn val="ctr"/>
        <c:lblOffset val="100"/>
        <c:noMultiLvlLbl val="0"/>
      </c:catAx>
      <c:spPr>
        <a:noFill/>
        <a:ln>
          <a:noFill/>
        </a:ln>
        <a:effectLst/>
      </c:spPr>
    </c:plotArea>
    <c:legend>
      <c:legendPos val="b"/>
      <c:layout>
        <c:manualLayout>
          <c:xMode val="edge"/>
          <c:yMode val="edge"/>
          <c:x val="0"/>
          <c:y val="0.84538142887287182"/>
          <c:w val="0.99658358148409298"/>
          <c:h val="0.15461857112712818"/>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6350" cap="flat" cmpd="sng" algn="ctr">
      <a:noFill/>
      <a:prstDash val="solid"/>
      <a:miter lim="800000"/>
    </a:ln>
    <a:effectLst/>
  </c:spPr>
  <c:txPr>
    <a:bodyPr/>
    <a:lstStyle/>
    <a:p>
      <a:pPr>
        <a:defRPr sz="1100"/>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0674764467316548E-3"/>
          <c:y val="6.1111111111111109E-2"/>
          <c:w val="0.95911429665553027"/>
          <c:h val="0.73266683695567669"/>
        </c:manualLayout>
      </c:layout>
      <c:barChart>
        <c:barDir val="col"/>
        <c:grouping val="clustered"/>
        <c:varyColors val="0"/>
        <c:ser>
          <c:idx val="0"/>
          <c:order val="0"/>
          <c:tx>
            <c:strRef>
              <c:f>Sheet1!$B$1</c:f>
              <c:strCache>
                <c:ptCount val="1"/>
                <c:pt idx="0">
                  <c:v>Value</c:v>
                </c:pt>
              </c:strCache>
            </c:strRef>
          </c:tx>
          <c:spPr>
            <a:solidFill>
              <a:schemeClr val="accent1"/>
            </a:solidFill>
            <a:ln>
              <a:noFill/>
            </a:ln>
            <a:effectLst/>
          </c:spPr>
          <c:invertIfNegative val="0"/>
          <c:cat>
            <c:strRef>
              <c:f>Sheet1!$A$2:$A$6</c:f>
              <c:strCache>
                <c:ptCount val="5"/>
                <c:pt idx="0">
                  <c:v>2019A</c:v>
                </c:pt>
                <c:pt idx="1">
                  <c:v>2020A</c:v>
                </c:pt>
                <c:pt idx="2">
                  <c:v>2021A</c:v>
                </c:pt>
                <c:pt idx="3">
                  <c:v>2022A</c:v>
                </c:pt>
                <c:pt idx="4">
                  <c:v>2023A</c:v>
                </c:pt>
              </c:strCache>
            </c:strRef>
          </c:cat>
          <c:val>
            <c:numRef>
              <c:f>Sheet1!$B$2:$B$6</c:f>
              <c:numCache>
                <c:formatCode>#,##0.0</c:formatCode>
                <c:ptCount val="5"/>
                <c:pt idx="0">
                  <c:v>257.85367609956529</c:v>
                </c:pt>
                <c:pt idx="1">
                  <c:v>267.30598404578598</c:v>
                </c:pt>
                <c:pt idx="2">
                  <c:v>277.45254769909064</c:v>
                </c:pt>
                <c:pt idx="3">
                  <c:v>266.20565823829958</c:v>
                </c:pt>
                <c:pt idx="4">
                  <c:v>277.30025921471673</c:v>
                </c:pt>
              </c:numCache>
            </c:numRef>
          </c:val>
          <c:extLst>
            <c:ext xmlns:c16="http://schemas.microsoft.com/office/drawing/2014/chart" uri="{C3380CC4-5D6E-409C-BE32-E72D297353CC}">
              <c16:uniqueId val="{00000000-C097-4C56-881F-02CFFBB7BCB3}"/>
            </c:ext>
          </c:extLst>
        </c:ser>
        <c:dLbls>
          <c:showLegendKey val="0"/>
          <c:showVal val="0"/>
          <c:showCatName val="0"/>
          <c:showSerName val="0"/>
          <c:showPercent val="0"/>
          <c:showBubbleSize val="0"/>
        </c:dLbls>
        <c:gapWidth val="50"/>
        <c:axId val="958675920"/>
        <c:axId val="958657424"/>
      </c:barChart>
      <c:valAx>
        <c:axId val="958657424"/>
        <c:scaling>
          <c:orientation val="minMax"/>
        </c:scaling>
        <c:delete val="1"/>
        <c:axPos val="r"/>
        <c:numFmt formatCode="#,##0.0" sourceLinked="1"/>
        <c:majorTickMark val="out"/>
        <c:minorTickMark val="none"/>
        <c:tickLblPos val="nextTo"/>
        <c:crossAx val="958675920"/>
        <c:crosses val="max"/>
        <c:crossBetween val="between"/>
      </c:valAx>
      <c:catAx>
        <c:axId val="95867592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958657424"/>
        <c:crosses val="autoZero"/>
        <c:auto val="1"/>
        <c:lblAlgn val="ctr"/>
        <c:lblOffset val="100"/>
        <c:noMultiLvlLbl val="0"/>
      </c:catAx>
      <c:spPr>
        <a:noFill/>
        <a:ln>
          <a:noFill/>
        </a:ln>
        <a:effectLst/>
      </c:spPr>
    </c:plotArea>
    <c:legend>
      <c:legendPos val="b"/>
      <c:layout>
        <c:manualLayout>
          <c:xMode val="edge"/>
          <c:yMode val="edge"/>
          <c:x val="0.35179076501373896"/>
          <c:y val="0.90624934383202105"/>
          <c:w val="0.42249199961481698"/>
          <c:h val="9.3750763524094047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solidFill>
            <a:schemeClr val="tx1"/>
          </a:solidFill>
        </a:defRPr>
      </a:pPr>
      <a:endParaRPr lang="en-US"/>
    </a:p>
  </c:txPr>
  <c:externalData r:id="rId3">
    <c:autoUpdate val="0"/>
  </c:externalData>
  <c:userShapes r:id="rId4"/>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1.7975428243628758E-2"/>
          <c:y val="0.10512423447069115"/>
          <c:w val="0.95394153410276061"/>
          <c:h val="0.54304010306187045"/>
        </c:manualLayout>
      </c:layout>
      <c:barChart>
        <c:barDir val="col"/>
        <c:grouping val="clustered"/>
        <c:varyColors val="0"/>
        <c:ser>
          <c:idx val="0"/>
          <c:order val="0"/>
          <c:tx>
            <c:strRef>
              <c:f>Sheet1!$B$1</c:f>
              <c:strCache>
                <c:ptCount val="1"/>
                <c:pt idx="0">
                  <c:v>Value</c:v>
                </c:pt>
              </c:strCache>
            </c:strRef>
          </c:tx>
          <c:spPr>
            <a:solidFill>
              <a:schemeClr val="accent1">
                <a:shade val="76000"/>
              </a:schemeClr>
            </a:solidFill>
            <a:ln>
              <a:noFill/>
            </a:ln>
            <a:effectLst/>
          </c:spPr>
          <c:invertIfNegative val="0"/>
          <c:cat>
            <c:strRef>
              <c:f>Sheet1!$A$3:$A$13</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Sheet1!$B$3:$B$13</c:f>
              <c:numCache>
                <c:formatCode>#,##0.0</c:formatCode>
                <c:ptCount val="11"/>
                <c:pt idx="0">
                  <c:v>289.27041009943105</c:v>
                </c:pt>
                <c:pt idx="1">
                  <c:v>302.05488343392142</c:v>
                </c:pt>
                <c:pt idx="2">
                  <c:v>315.84573807377939</c:v>
                </c:pt>
                <c:pt idx="3">
                  <c:v>330.72206998114672</c:v>
                </c:pt>
                <c:pt idx="4">
                  <c:v>346.86126653869553</c:v>
                </c:pt>
                <c:pt idx="5">
                  <c:v>364.97160097769387</c:v>
                </c:pt>
                <c:pt idx="6">
                  <c:v>384.27101339712374</c:v>
                </c:pt>
                <c:pt idx="7">
                  <c:v>404.88706836216431</c:v>
                </c:pt>
                <c:pt idx="8">
                  <c:v>426.95178222818686</c:v>
                </c:pt>
                <c:pt idx="9">
                  <c:v>450.31006976148626</c:v>
                </c:pt>
                <c:pt idx="10">
                  <c:v>474.72369585075523</c:v>
                </c:pt>
              </c:numCache>
            </c:numRef>
          </c:val>
          <c:extLst>
            <c:ext xmlns:c16="http://schemas.microsoft.com/office/drawing/2014/chart" uri="{C3380CC4-5D6E-409C-BE32-E72D297353CC}">
              <c16:uniqueId val="{00000000-7D30-40F5-B6BE-2606E24BDE5C}"/>
            </c:ext>
          </c:extLst>
        </c:ser>
        <c:dLbls>
          <c:showLegendKey val="0"/>
          <c:showVal val="0"/>
          <c:showCatName val="0"/>
          <c:showSerName val="0"/>
          <c:showPercent val="0"/>
          <c:showBubbleSize val="0"/>
        </c:dLbls>
        <c:gapWidth val="50"/>
        <c:overlap val="100"/>
        <c:axId val="958657968"/>
        <c:axId val="958653616"/>
      </c:barChart>
      <c:lineChart>
        <c:grouping val="standard"/>
        <c:varyColors val="0"/>
        <c:ser>
          <c:idx val="1"/>
          <c:order val="1"/>
          <c:tx>
            <c:strRef>
              <c:f>Sheet1!$C$1</c:f>
              <c:strCache>
                <c:ptCount val="1"/>
                <c:pt idx="0">
                  <c:v>Y-o-Y Growth (%)</c:v>
                </c:pt>
              </c:strCache>
            </c:strRef>
          </c:tx>
          <c:spPr>
            <a:ln w="19050" cap="rnd" cmpd="sng" algn="ctr">
              <a:solidFill>
                <a:srgbClr val="C00000"/>
              </a:solidFill>
              <a:prstDash val="solid"/>
              <a:round/>
            </a:ln>
            <a:effectLst/>
          </c:spPr>
          <c:marker>
            <c:symbol val="none"/>
          </c:marker>
          <c:cat>
            <c:strRef>
              <c:f>Sheet1!$A$3:$A$13</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Sheet1!$C$3:$C$13</c:f>
              <c:numCache>
                <c:formatCode>0.0%</c:formatCode>
                <c:ptCount val="11"/>
                <c:pt idx="0">
                  <c:v>4.3166749712432395E-2</c:v>
                </c:pt>
                <c:pt idx="1">
                  <c:v>4.4195579250902117E-2</c:v>
                </c:pt>
                <c:pt idx="2">
                  <c:v>4.5656784234295866E-2</c:v>
                </c:pt>
                <c:pt idx="3">
                  <c:v>4.709999254095476E-2</c:v>
                </c:pt>
                <c:pt idx="4">
                  <c:v>4.8799877669091885E-2</c:v>
                </c:pt>
                <c:pt idx="5">
                  <c:v>5.22120403345121E-2</c:v>
                </c:pt>
                <c:pt idx="6">
                  <c:v>5.2879216815034935E-2</c:v>
                </c:pt>
                <c:pt idx="7">
                  <c:v>5.3649779052512114E-2</c:v>
                </c:pt>
                <c:pt idx="8">
                  <c:v>5.4495970827811213E-2</c:v>
                </c:pt>
                <c:pt idx="9">
                  <c:v>5.4709427400435162E-2</c:v>
                </c:pt>
                <c:pt idx="10">
                  <c:v>5.4215145804312304E-2</c:v>
                </c:pt>
              </c:numCache>
            </c:numRef>
          </c:val>
          <c:smooth val="1"/>
          <c:extLst>
            <c:ext xmlns:c16="http://schemas.microsoft.com/office/drawing/2014/chart" uri="{C3380CC4-5D6E-409C-BE32-E72D297353CC}">
              <c16:uniqueId val="{00000001-7D30-40F5-B6BE-2606E24BDE5C}"/>
            </c:ext>
          </c:extLst>
        </c:ser>
        <c:dLbls>
          <c:showLegendKey val="0"/>
          <c:showVal val="0"/>
          <c:showCatName val="0"/>
          <c:showSerName val="0"/>
          <c:showPercent val="0"/>
          <c:showBubbleSize val="0"/>
        </c:dLbls>
        <c:marker val="1"/>
        <c:smooth val="0"/>
        <c:axId val="958676464"/>
        <c:axId val="958653072"/>
        <c:extLst/>
      </c:lineChart>
      <c:valAx>
        <c:axId val="958653072"/>
        <c:scaling>
          <c:orientation val="minMax"/>
          <c:min val="2.0000000000000004E-2"/>
        </c:scaling>
        <c:delete val="0"/>
        <c:axPos val="l"/>
        <c:numFmt formatCode="0.0%" sourceLinked="0"/>
        <c:majorTickMark val="out"/>
        <c:minorTickMark val="none"/>
        <c:tickLblPos val="nextTo"/>
        <c:spPr>
          <a:noFill/>
          <a:ln w="6350" cap="flat" cmpd="sng" algn="ctr">
            <a:noFill/>
            <a:prstDash val="solid"/>
            <a:round/>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958676464"/>
        <c:crosses val="autoZero"/>
        <c:crossBetween val="between"/>
      </c:valAx>
      <c:catAx>
        <c:axId val="958676464"/>
        <c:scaling>
          <c:orientation val="minMax"/>
        </c:scaling>
        <c:delete val="1"/>
        <c:axPos val="b"/>
        <c:numFmt formatCode="General" sourceLinked="1"/>
        <c:majorTickMark val="out"/>
        <c:minorTickMark val="none"/>
        <c:tickLblPos val="nextTo"/>
        <c:crossAx val="958653072"/>
        <c:crosses val="autoZero"/>
        <c:auto val="1"/>
        <c:lblAlgn val="ctr"/>
        <c:lblOffset val="100"/>
        <c:noMultiLvlLbl val="0"/>
      </c:catAx>
      <c:valAx>
        <c:axId val="958653616"/>
        <c:scaling>
          <c:orientation val="minMax"/>
        </c:scaling>
        <c:delete val="0"/>
        <c:axPos val="r"/>
        <c:numFmt formatCode="#,##0.0" sourceLinked="1"/>
        <c:majorTickMark val="out"/>
        <c:minorTickMark val="none"/>
        <c:tickLblPos val="nextTo"/>
        <c:spPr>
          <a:noFill/>
          <a:ln w="6350" cap="flat" cmpd="sng" algn="ctr">
            <a:noFill/>
            <a:prstDash val="solid"/>
            <a:round/>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958657968"/>
        <c:crosses val="max"/>
        <c:crossBetween val="between"/>
      </c:valAx>
      <c:catAx>
        <c:axId val="958657968"/>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prstDash val="solid"/>
            <a:round/>
          </a:ln>
          <a:effectLst/>
        </c:spPr>
        <c:txPr>
          <a:bodyPr rot="-5400000" spcFirstLastPara="1" vertOverflow="ellipsis" wrap="square" anchor="ctr" anchorCtr="1"/>
          <a:lstStyle/>
          <a:p>
            <a:pPr algn="ctr">
              <a:defRPr sz="1100" b="0" i="0" u="none" strike="noStrike" kern="1200" baseline="0">
                <a:solidFill>
                  <a:schemeClr val="tx1"/>
                </a:solidFill>
                <a:latin typeface="+mn-lt"/>
                <a:ea typeface="+mn-ea"/>
                <a:cs typeface="+mn-cs"/>
              </a:defRPr>
            </a:pPr>
            <a:endParaRPr lang="en-US"/>
          </a:p>
        </c:txPr>
        <c:crossAx val="958653616"/>
        <c:crosses val="autoZero"/>
        <c:auto val="1"/>
        <c:lblAlgn val="ctr"/>
        <c:lblOffset val="100"/>
        <c:noMultiLvlLbl val="0"/>
      </c:catAx>
      <c:spPr>
        <a:noFill/>
        <a:ln>
          <a:noFill/>
        </a:ln>
        <a:effectLst/>
      </c:spPr>
    </c:plotArea>
    <c:legend>
      <c:legendPos val="b"/>
      <c:layout>
        <c:manualLayout>
          <c:xMode val="edge"/>
          <c:yMode val="edge"/>
          <c:x val="0"/>
          <c:y val="0.84538142887287182"/>
          <c:w val="0.99658358148409298"/>
          <c:h val="0.15461857112712818"/>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6350" cap="flat" cmpd="sng" algn="ctr">
      <a:noFill/>
      <a:prstDash val="solid"/>
      <a:miter lim="800000"/>
    </a:ln>
    <a:effectLst/>
  </c:spPr>
  <c:txPr>
    <a:bodyPr/>
    <a:lstStyle/>
    <a:p>
      <a:pPr>
        <a:defRPr sz="1100"/>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7C20-459D-9CD9-DE19D7C0ED6A}"/>
              </c:ext>
            </c:extLst>
          </c:dPt>
          <c:dPt>
            <c:idx val="1"/>
            <c:invertIfNegative val="0"/>
            <c:bubble3D val="0"/>
            <c:spPr>
              <a:noFill/>
              <a:ln>
                <a:noFill/>
              </a:ln>
              <a:effectLst/>
            </c:spPr>
            <c:extLst>
              <c:ext xmlns:c16="http://schemas.microsoft.com/office/drawing/2014/chart" uri="{C3380CC4-5D6E-409C-BE32-E72D297353CC}">
                <c16:uniqueId val="{00000003-7C20-459D-9CD9-DE19D7C0ED6A}"/>
              </c:ext>
            </c:extLst>
          </c:dPt>
          <c:dPt>
            <c:idx val="2"/>
            <c:invertIfNegative val="0"/>
            <c:bubble3D val="0"/>
            <c:spPr>
              <a:solidFill>
                <a:srgbClr val="9E7E0A"/>
              </a:solidFill>
              <a:ln>
                <a:noFill/>
              </a:ln>
              <a:effectLst/>
            </c:spPr>
            <c:extLst>
              <c:ext xmlns:c16="http://schemas.microsoft.com/office/drawing/2014/chart" uri="{C3380CC4-5D6E-409C-BE32-E72D297353CC}">
                <c16:uniqueId val="{00000005-7C20-459D-9CD9-DE19D7C0ED6A}"/>
              </c:ext>
            </c:extLst>
          </c:dPt>
          <c:dPt>
            <c:idx val="3"/>
            <c:invertIfNegative val="0"/>
            <c:bubble3D val="0"/>
            <c:spPr>
              <a:noFill/>
              <a:ln>
                <a:noFill/>
              </a:ln>
              <a:effectLst/>
            </c:spPr>
            <c:extLst>
              <c:ext xmlns:c16="http://schemas.microsoft.com/office/drawing/2014/chart" uri="{C3380CC4-5D6E-409C-BE32-E72D297353CC}">
                <c16:uniqueId val="{00000007-7C20-459D-9CD9-DE19D7C0ED6A}"/>
              </c:ext>
            </c:extLst>
          </c:dPt>
          <c:dPt>
            <c:idx val="4"/>
            <c:invertIfNegative val="0"/>
            <c:bubble3D val="0"/>
            <c:spPr>
              <a:noFill/>
              <a:ln>
                <a:noFill/>
              </a:ln>
              <a:effectLst/>
            </c:spPr>
            <c:extLst>
              <c:ext xmlns:c16="http://schemas.microsoft.com/office/drawing/2014/chart" uri="{C3380CC4-5D6E-409C-BE32-E72D297353CC}">
                <c16:uniqueId val="{00000009-7C20-459D-9CD9-DE19D7C0ED6A}"/>
              </c:ext>
            </c:extLst>
          </c:dPt>
          <c:dPt>
            <c:idx val="5"/>
            <c:invertIfNegative val="0"/>
            <c:bubble3D val="0"/>
            <c:spPr>
              <a:noFill/>
              <a:ln>
                <a:noFill/>
              </a:ln>
              <a:effectLst/>
            </c:spPr>
            <c:extLst>
              <c:ext xmlns:c16="http://schemas.microsoft.com/office/drawing/2014/chart" uri="{C3380CC4-5D6E-409C-BE32-E72D297353CC}">
                <c16:uniqueId val="{0000000B-7C20-459D-9CD9-DE19D7C0ED6A}"/>
              </c:ext>
            </c:extLst>
          </c:dPt>
          <c:dPt>
            <c:idx val="6"/>
            <c:invertIfNegative val="0"/>
            <c:bubble3D val="0"/>
            <c:spPr>
              <a:noFill/>
              <a:ln>
                <a:noFill/>
              </a:ln>
              <a:effectLst/>
            </c:spPr>
            <c:extLst>
              <c:ext xmlns:c16="http://schemas.microsoft.com/office/drawing/2014/chart" uri="{C3380CC4-5D6E-409C-BE32-E72D297353CC}">
                <c16:uniqueId val="{0000000D-7C20-459D-9CD9-DE19D7C0ED6A}"/>
              </c:ext>
            </c:extLst>
          </c:dPt>
          <c:dPt>
            <c:idx val="7"/>
            <c:invertIfNegative val="0"/>
            <c:bubble3D val="0"/>
            <c:spPr>
              <a:noFill/>
              <a:ln>
                <a:noFill/>
              </a:ln>
              <a:effectLst/>
            </c:spPr>
            <c:extLst>
              <c:ext xmlns:c16="http://schemas.microsoft.com/office/drawing/2014/chart" uri="{C3380CC4-5D6E-409C-BE32-E72D297353CC}">
                <c16:uniqueId val="{0000000F-7C20-459D-9CD9-DE19D7C0ED6A}"/>
              </c:ext>
            </c:extLst>
          </c:dPt>
          <c:dPt>
            <c:idx val="8"/>
            <c:invertIfNegative val="0"/>
            <c:bubble3D val="0"/>
            <c:spPr>
              <a:noFill/>
              <a:ln>
                <a:noFill/>
              </a:ln>
              <a:effectLst/>
            </c:spPr>
            <c:extLst>
              <c:ext xmlns:c16="http://schemas.microsoft.com/office/drawing/2014/chart" uri="{C3380CC4-5D6E-409C-BE32-E72D297353CC}">
                <c16:uniqueId val="{00000011-7C20-459D-9CD9-DE19D7C0ED6A}"/>
              </c:ext>
            </c:extLst>
          </c:dPt>
          <c:dPt>
            <c:idx val="9"/>
            <c:invertIfNegative val="0"/>
            <c:bubble3D val="0"/>
            <c:spPr>
              <a:noFill/>
              <a:ln>
                <a:noFill/>
              </a:ln>
              <a:effectLst/>
            </c:spPr>
            <c:extLst>
              <c:ext xmlns:c16="http://schemas.microsoft.com/office/drawing/2014/chart" uri="{C3380CC4-5D6E-409C-BE32-E72D297353CC}">
                <c16:uniqueId val="{00000013-7C20-459D-9CD9-DE19D7C0ED6A}"/>
              </c:ext>
            </c:extLst>
          </c:dPt>
          <c:dPt>
            <c:idx val="10"/>
            <c:invertIfNegative val="0"/>
            <c:bubble3D val="0"/>
            <c:spPr>
              <a:noFill/>
              <a:ln>
                <a:noFill/>
              </a:ln>
              <a:effectLst/>
            </c:spPr>
            <c:extLst>
              <c:ext xmlns:c16="http://schemas.microsoft.com/office/drawing/2014/chart" uri="{C3380CC4-5D6E-409C-BE32-E72D297353CC}">
                <c16:uniqueId val="{00000015-7C20-459D-9CD9-DE19D7C0ED6A}"/>
              </c:ext>
            </c:extLst>
          </c:dPt>
          <c:dPt>
            <c:idx val="11"/>
            <c:invertIfNegative val="0"/>
            <c:bubble3D val="0"/>
            <c:spPr>
              <a:noFill/>
              <a:ln>
                <a:noFill/>
              </a:ln>
              <a:effectLst/>
            </c:spPr>
            <c:extLst>
              <c:ext xmlns:c16="http://schemas.microsoft.com/office/drawing/2014/chart" uri="{C3380CC4-5D6E-409C-BE32-E72D297353CC}">
                <c16:uniqueId val="{00000017-7C20-459D-9CD9-DE19D7C0ED6A}"/>
              </c:ext>
            </c:extLst>
          </c:dPt>
          <c:dPt>
            <c:idx val="12"/>
            <c:invertIfNegative val="0"/>
            <c:bubble3D val="0"/>
            <c:spPr>
              <a:noFill/>
              <a:ln>
                <a:noFill/>
              </a:ln>
              <a:effectLst/>
            </c:spPr>
            <c:extLst>
              <c:ext xmlns:c16="http://schemas.microsoft.com/office/drawing/2014/chart" uri="{C3380CC4-5D6E-409C-BE32-E72D297353CC}">
                <c16:uniqueId val="{00000019-7C20-459D-9CD9-DE19D7C0ED6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7C20-459D-9CD9-DE19D7C0ED6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257.85367609956529</c:v>
                </c:pt>
                <c:pt idx="1">
                  <c:v>257.85367609956529</c:v>
                </c:pt>
                <c:pt idx="2">
                  <c:v>277.30025921471673</c:v>
                </c:pt>
                <c:pt idx="3">
                  <c:v>277.30025921471673</c:v>
                </c:pt>
                <c:pt idx="4">
                  <c:v>289.27041009943105</c:v>
                </c:pt>
                <c:pt idx="5">
                  <c:v>302.05488343392142</c:v>
                </c:pt>
                <c:pt idx="6">
                  <c:v>315.84573807377939</c:v>
                </c:pt>
                <c:pt idx="7">
                  <c:v>330.72206998114672</c:v>
                </c:pt>
                <c:pt idx="8">
                  <c:v>346.86126653869553</c:v>
                </c:pt>
                <c:pt idx="9">
                  <c:v>364.97160097769387</c:v>
                </c:pt>
                <c:pt idx="10">
                  <c:v>384.27101339712374</c:v>
                </c:pt>
                <c:pt idx="11">
                  <c:v>404.88706836216431</c:v>
                </c:pt>
                <c:pt idx="12">
                  <c:v>426.95178222818686</c:v>
                </c:pt>
                <c:pt idx="13">
                  <c:v>474.72369585075523</c:v>
                </c:pt>
              </c:numCache>
            </c:numRef>
          </c:val>
          <c:extLst>
            <c:ext xmlns:c16="http://schemas.microsoft.com/office/drawing/2014/chart" uri="{C3380CC4-5D6E-409C-BE32-E72D297353CC}">
              <c16:uniqueId val="{0000001C-7C20-459D-9CD9-DE19D7C0ED6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19.446583115151441</c:v>
                </c:pt>
                <c:pt idx="3">
                  <c:v>11.970150884714315</c:v>
                </c:pt>
                <c:pt idx="4">
                  <c:v>12.784473334490372</c:v>
                </c:pt>
                <c:pt idx="5">
                  <c:v>13.790854639857969</c:v>
                </c:pt>
                <c:pt idx="6">
                  <c:v>14.87633190736733</c:v>
                </c:pt>
                <c:pt idx="7">
                  <c:v>16.139196557548814</c:v>
                </c:pt>
                <c:pt idx="8">
                  <c:v>18.110334438998336</c:v>
                </c:pt>
                <c:pt idx="9">
                  <c:v>19.299412419429871</c:v>
                </c:pt>
                <c:pt idx="10">
                  <c:v>20.616054965040576</c:v>
                </c:pt>
                <c:pt idx="11">
                  <c:v>22.064713866022544</c:v>
                </c:pt>
                <c:pt idx="12">
                  <c:v>23.358287533299404</c:v>
                </c:pt>
              </c:numCache>
            </c:numRef>
          </c:val>
          <c:extLst>
            <c:ext xmlns:c16="http://schemas.microsoft.com/office/drawing/2014/chart" uri="{C3380CC4-5D6E-409C-BE32-E72D297353CC}">
              <c16:uniqueId val="{0000001D-7C20-459D-9CD9-DE19D7C0ED6A}"/>
            </c:ext>
          </c:extLst>
        </c:ser>
        <c:dLbls>
          <c:showLegendKey val="0"/>
          <c:showVal val="0"/>
          <c:showCatName val="0"/>
          <c:showSerName val="0"/>
          <c:showPercent val="0"/>
          <c:showBubbleSize val="0"/>
        </c:dLbls>
        <c:gapWidth val="50"/>
        <c:overlap val="100"/>
        <c:axId val="958667760"/>
        <c:axId val="958648176"/>
      </c:barChart>
      <c:catAx>
        <c:axId val="9586677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958648176"/>
        <c:crosses val="autoZero"/>
        <c:auto val="1"/>
        <c:lblAlgn val="ctr"/>
        <c:lblOffset val="100"/>
        <c:noMultiLvlLbl val="0"/>
      </c:catAx>
      <c:valAx>
        <c:axId val="958648176"/>
        <c:scaling>
          <c:orientation val="minMax"/>
        </c:scaling>
        <c:delete val="1"/>
        <c:axPos val="l"/>
        <c:numFmt formatCode="#,##0.0" sourceLinked="1"/>
        <c:majorTickMark val="none"/>
        <c:minorTickMark val="none"/>
        <c:tickLblPos val="nextTo"/>
        <c:crossAx val="958667760"/>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1" i="0" u="none" strike="noStrike" kern="1200" spc="0" baseline="0">
                <a:solidFill>
                  <a:schemeClr val="tx1">
                    <a:lumMod val="65000"/>
                    <a:lumOff val="35000"/>
                  </a:schemeClr>
                </a:solidFill>
                <a:latin typeface="+mn-lt"/>
                <a:ea typeface="+mn-ea"/>
                <a:cs typeface="+mn-cs"/>
              </a:defRPr>
            </a:pPr>
            <a:r>
              <a:rPr lang="en-US" b="1" dirty="0"/>
              <a:t>Real</a:t>
            </a:r>
            <a:r>
              <a:rPr lang="en-US" b="1" baseline="0" dirty="0"/>
              <a:t> GDP Growth – Annual Percentage Change for Key Countries</a:t>
            </a:r>
            <a:endParaRPr lang="en-US" b="1" dirty="0"/>
          </a:p>
        </c:rich>
      </c:tx>
      <c:overlay val="0"/>
      <c:spPr>
        <a:noFill/>
        <a:ln>
          <a:noFill/>
        </a:ln>
        <a:effectLst/>
      </c:spPr>
      <c:txPr>
        <a:bodyPr rot="0" spcFirstLastPara="1" vertOverflow="ellipsis" vert="horz" wrap="square" anchor="ctr" anchorCtr="1"/>
        <a:lstStyle/>
        <a:p>
          <a:pPr>
            <a:defRPr sz="1862" b="1"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Sheet1!$B$1</c:f>
              <c:strCache>
                <c:ptCount val="1"/>
                <c:pt idx="0">
                  <c:v>Canada</c:v>
                </c:pt>
              </c:strCache>
            </c:strRef>
          </c:tx>
          <c:spPr>
            <a:ln w="28575" cap="rnd">
              <a:solidFill>
                <a:schemeClr val="accent1"/>
              </a:solidFill>
              <a:round/>
            </a:ln>
            <a:effectLst/>
          </c:spPr>
          <c:marker>
            <c:symbol val="none"/>
          </c:marker>
          <c:cat>
            <c:numRef>
              <c:f>Sheet1!$A$2:$A$19</c:f>
              <c:numCache>
                <c:formatCode>General</c:formatCode>
                <c:ptCount val="18"/>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pt idx="14">
                  <c:v>2024</c:v>
                </c:pt>
                <c:pt idx="15">
                  <c:v>2025</c:v>
                </c:pt>
                <c:pt idx="16">
                  <c:v>2026</c:v>
                </c:pt>
                <c:pt idx="17">
                  <c:v>2027</c:v>
                </c:pt>
              </c:numCache>
            </c:numRef>
          </c:cat>
          <c:val>
            <c:numRef>
              <c:f>Sheet1!$B$2:$B$19</c:f>
              <c:numCache>
                <c:formatCode>General</c:formatCode>
                <c:ptCount val="18"/>
                <c:pt idx="0">
                  <c:v>3.1</c:v>
                </c:pt>
                <c:pt idx="1">
                  <c:v>3.1</c:v>
                </c:pt>
                <c:pt idx="2">
                  <c:v>1.8</c:v>
                </c:pt>
                <c:pt idx="3">
                  <c:v>2.2999999999999998</c:v>
                </c:pt>
                <c:pt idx="4">
                  <c:v>2.9</c:v>
                </c:pt>
                <c:pt idx="5">
                  <c:v>0.7</c:v>
                </c:pt>
                <c:pt idx="6">
                  <c:v>1</c:v>
                </c:pt>
                <c:pt idx="7">
                  <c:v>3</c:v>
                </c:pt>
                <c:pt idx="8">
                  <c:v>2.8</c:v>
                </c:pt>
                <c:pt idx="9">
                  <c:v>1.9</c:v>
                </c:pt>
                <c:pt idx="10">
                  <c:v>-5.2</c:v>
                </c:pt>
                <c:pt idx="11">
                  <c:v>4.5999999999999996</c:v>
                </c:pt>
                <c:pt idx="12">
                  <c:v>3.9</c:v>
                </c:pt>
                <c:pt idx="13">
                  <c:v>2.8</c:v>
                </c:pt>
                <c:pt idx="14">
                  <c:v>1.7</c:v>
                </c:pt>
                <c:pt idx="15">
                  <c:v>1.7</c:v>
                </c:pt>
                <c:pt idx="16">
                  <c:v>1.6</c:v>
                </c:pt>
                <c:pt idx="17">
                  <c:v>1.6</c:v>
                </c:pt>
              </c:numCache>
            </c:numRef>
          </c:val>
          <c:smooth val="1"/>
          <c:extLst>
            <c:ext xmlns:c16="http://schemas.microsoft.com/office/drawing/2014/chart" uri="{C3380CC4-5D6E-409C-BE32-E72D297353CC}">
              <c16:uniqueId val="{00000000-6F99-4503-B2BF-740EA98A2FC8}"/>
            </c:ext>
          </c:extLst>
        </c:ser>
        <c:ser>
          <c:idx val="1"/>
          <c:order val="1"/>
          <c:tx>
            <c:strRef>
              <c:f>Sheet1!$C$1</c:f>
              <c:strCache>
                <c:ptCount val="1"/>
                <c:pt idx="0">
                  <c:v>China</c:v>
                </c:pt>
              </c:strCache>
            </c:strRef>
          </c:tx>
          <c:spPr>
            <a:ln w="28575" cap="rnd">
              <a:solidFill>
                <a:schemeClr val="accent2"/>
              </a:solidFill>
              <a:round/>
            </a:ln>
            <a:effectLst/>
          </c:spPr>
          <c:marker>
            <c:symbol val="none"/>
          </c:marker>
          <c:cat>
            <c:numRef>
              <c:f>Sheet1!$A$2:$A$19</c:f>
              <c:numCache>
                <c:formatCode>General</c:formatCode>
                <c:ptCount val="18"/>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pt idx="14">
                  <c:v>2024</c:v>
                </c:pt>
                <c:pt idx="15">
                  <c:v>2025</c:v>
                </c:pt>
                <c:pt idx="16">
                  <c:v>2026</c:v>
                </c:pt>
                <c:pt idx="17">
                  <c:v>2027</c:v>
                </c:pt>
              </c:numCache>
            </c:numRef>
          </c:cat>
          <c:val>
            <c:numRef>
              <c:f>Sheet1!$C$2:$C$19</c:f>
              <c:numCache>
                <c:formatCode>General</c:formatCode>
                <c:ptCount val="18"/>
                <c:pt idx="0">
                  <c:v>10.6</c:v>
                </c:pt>
                <c:pt idx="1">
                  <c:v>9.6</c:v>
                </c:pt>
                <c:pt idx="2">
                  <c:v>7.8</c:v>
                </c:pt>
                <c:pt idx="3">
                  <c:v>7.8</c:v>
                </c:pt>
                <c:pt idx="4">
                  <c:v>7.4</c:v>
                </c:pt>
                <c:pt idx="5">
                  <c:v>7</c:v>
                </c:pt>
                <c:pt idx="6">
                  <c:v>6.9</c:v>
                </c:pt>
                <c:pt idx="7">
                  <c:v>6.9</c:v>
                </c:pt>
                <c:pt idx="8">
                  <c:v>6.8</c:v>
                </c:pt>
                <c:pt idx="9">
                  <c:v>6</c:v>
                </c:pt>
                <c:pt idx="10">
                  <c:v>2.2000000000000002</c:v>
                </c:pt>
                <c:pt idx="11">
                  <c:v>8.1</c:v>
                </c:pt>
                <c:pt idx="12">
                  <c:v>4.4000000000000004</c:v>
                </c:pt>
                <c:pt idx="13">
                  <c:v>5.0999999999999996</c:v>
                </c:pt>
                <c:pt idx="14">
                  <c:v>5.0999999999999996</c:v>
                </c:pt>
                <c:pt idx="15">
                  <c:v>5</c:v>
                </c:pt>
                <c:pt idx="16">
                  <c:v>4.9000000000000004</c:v>
                </c:pt>
                <c:pt idx="17">
                  <c:v>4.8</c:v>
                </c:pt>
              </c:numCache>
            </c:numRef>
          </c:val>
          <c:smooth val="1"/>
          <c:extLst>
            <c:ext xmlns:c16="http://schemas.microsoft.com/office/drawing/2014/chart" uri="{C3380CC4-5D6E-409C-BE32-E72D297353CC}">
              <c16:uniqueId val="{00000001-6F99-4503-B2BF-740EA98A2FC8}"/>
            </c:ext>
          </c:extLst>
        </c:ser>
        <c:ser>
          <c:idx val="2"/>
          <c:order val="2"/>
          <c:tx>
            <c:strRef>
              <c:f>Sheet1!$D$1</c:f>
              <c:strCache>
                <c:ptCount val="1"/>
                <c:pt idx="0">
                  <c:v>France</c:v>
                </c:pt>
              </c:strCache>
            </c:strRef>
          </c:tx>
          <c:spPr>
            <a:ln w="28575" cap="rnd">
              <a:solidFill>
                <a:schemeClr val="accent3"/>
              </a:solidFill>
              <a:round/>
            </a:ln>
            <a:effectLst/>
          </c:spPr>
          <c:marker>
            <c:symbol val="none"/>
          </c:marker>
          <c:cat>
            <c:numRef>
              <c:f>Sheet1!$A$2:$A$19</c:f>
              <c:numCache>
                <c:formatCode>General</c:formatCode>
                <c:ptCount val="18"/>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pt idx="14">
                  <c:v>2024</c:v>
                </c:pt>
                <c:pt idx="15">
                  <c:v>2025</c:v>
                </c:pt>
                <c:pt idx="16">
                  <c:v>2026</c:v>
                </c:pt>
                <c:pt idx="17">
                  <c:v>2027</c:v>
                </c:pt>
              </c:numCache>
            </c:numRef>
          </c:cat>
          <c:val>
            <c:numRef>
              <c:f>Sheet1!$D$2:$D$19</c:f>
              <c:numCache>
                <c:formatCode>General</c:formatCode>
                <c:ptCount val="18"/>
                <c:pt idx="0">
                  <c:v>1.8</c:v>
                </c:pt>
                <c:pt idx="1">
                  <c:v>2.2000000000000002</c:v>
                </c:pt>
                <c:pt idx="2">
                  <c:v>0.4</c:v>
                </c:pt>
                <c:pt idx="3">
                  <c:v>0.6</c:v>
                </c:pt>
                <c:pt idx="4">
                  <c:v>1</c:v>
                </c:pt>
                <c:pt idx="5">
                  <c:v>1</c:v>
                </c:pt>
                <c:pt idx="6">
                  <c:v>1</c:v>
                </c:pt>
                <c:pt idx="7">
                  <c:v>2.4</c:v>
                </c:pt>
                <c:pt idx="8">
                  <c:v>1.8</c:v>
                </c:pt>
                <c:pt idx="9">
                  <c:v>1.8</c:v>
                </c:pt>
                <c:pt idx="10">
                  <c:v>-8</c:v>
                </c:pt>
                <c:pt idx="11">
                  <c:v>7</c:v>
                </c:pt>
                <c:pt idx="12">
                  <c:v>2.9</c:v>
                </c:pt>
                <c:pt idx="13">
                  <c:v>1.4</c:v>
                </c:pt>
                <c:pt idx="14">
                  <c:v>1.5</c:v>
                </c:pt>
                <c:pt idx="15">
                  <c:v>1.4</c:v>
                </c:pt>
                <c:pt idx="16">
                  <c:v>1.4</c:v>
                </c:pt>
                <c:pt idx="17">
                  <c:v>1.4</c:v>
                </c:pt>
              </c:numCache>
            </c:numRef>
          </c:val>
          <c:smooth val="1"/>
          <c:extLst>
            <c:ext xmlns:c16="http://schemas.microsoft.com/office/drawing/2014/chart" uri="{C3380CC4-5D6E-409C-BE32-E72D297353CC}">
              <c16:uniqueId val="{00000002-6F99-4503-B2BF-740EA98A2FC8}"/>
            </c:ext>
          </c:extLst>
        </c:ser>
        <c:ser>
          <c:idx val="3"/>
          <c:order val="3"/>
          <c:tx>
            <c:strRef>
              <c:f>Sheet1!$E$1</c:f>
              <c:strCache>
                <c:ptCount val="1"/>
                <c:pt idx="0">
                  <c:v>Germany</c:v>
                </c:pt>
              </c:strCache>
            </c:strRef>
          </c:tx>
          <c:spPr>
            <a:ln w="28575" cap="rnd">
              <a:solidFill>
                <a:schemeClr val="accent4"/>
              </a:solidFill>
              <a:round/>
            </a:ln>
            <a:effectLst/>
          </c:spPr>
          <c:marker>
            <c:symbol val="none"/>
          </c:marker>
          <c:cat>
            <c:numRef>
              <c:f>Sheet1!$A$2:$A$19</c:f>
              <c:numCache>
                <c:formatCode>General</c:formatCode>
                <c:ptCount val="18"/>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pt idx="14">
                  <c:v>2024</c:v>
                </c:pt>
                <c:pt idx="15">
                  <c:v>2025</c:v>
                </c:pt>
                <c:pt idx="16">
                  <c:v>2026</c:v>
                </c:pt>
                <c:pt idx="17">
                  <c:v>2027</c:v>
                </c:pt>
              </c:numCache>
            </c:numRef>
          </c:cat>
          <c:val>
            <c:numRef>
              <c:f>Sheet1!$E$2:$E$19</c:f>
              <c:numCache>
                <c:formatCode>General</c:formatCode>
                <c:ptCount val="18"/>
                <c:pt idx="0">
                  <c:v>4.2</c:v>
                </c:pt>
                <c:pt idx="1">
                  <c:v>3.9</c:v>
                </c:pt>
                <c:pt idx="2">
                  <c:v>0.4</c:v>
                </c:pt>
                <c:pt idx="3">
                  <c:v>0.4</c:v>
                </c:pt>
                <c:pt idx="4">
                  <c:v>2.2000000000000002</c:v>
                </c:pt>
                <c:pt idx="5">
                  <c:v>1.5</c:v>
                </c:pt>
                <c:pt idx="6">
                  <c:v>2.2000000000000002</c:v>
                </c:pt>
                <c:pt idx="7">
                  <c:v>2.7</c:v>
                </c:pt>
                <c:pt idx="8">
                  <c:v>1.1000000000000001</c:v>
                </c:pt>
                <c:pt idx="9">
                  <c:v>1.1000000000000001</c:v>
                </c:pt>
                <c:pt idx="10">
                  <c:v>-4.5999999999999996</c:v>
                </c:pt>
                <c:pt idx="11">
                  <c:v>2.8</c:v>
                </c:pt>
                <c:pt idx="12">
                  <c:v>2.1</c:v>
                </c:pt>
                <c:pt idx="13">
                  <c:v>2.7</c:v>
                </c:pt>
                <c:pt idx="14">
                  <c:v>1.5</c:v>
                </c:pt>
                <c:pt idx="15">
                  <c:v>1.4</c:v>
                </c:pt>
                <c:pt idx="16">
                  <c:v>1.2</c:v>
                </c:pt>
                <c:pt idx="17">
                  <c:v>1.1000000000000001</c:v>
                </c:pt>
              </c:numCache>
            </c:numRef>
          </c:val>
          <c:smooth val="1"/>
          <c:extLst>
            <c:ext xmlns:c16="http://schemas.microsoft.com/office/drawing/2014/chart" uri="{C3380CC4-5D6E-409C-BE32-E72D297353CC}">
              <c16:uniqueId val="{00000003-6F99-4503-B2BF-740EA98A2FC8}"/>
            </c:ext>
          </c:extLst>
        </c:ser>
        <c:ser>
          <c:idx val="4"/>
          <c:order val="4"/>
          <c:tx>
            <c:strRef>
              <c:f>Sheet1!$F$1</c:f>
              <c:strCache>
                <c:ptCount val="1"/>
                <c:pt idx="0">
                  <c:v>India</c:v>
                </c:pt>
              </c:strCache>
            </c:strRef>
          </c:tx>
          <c:spPr>
            <a:ln w="28575" cap="rnd">
              <a:solidFill>
                <a:schemeClr val="accent5"/>
              </a:solidFill>
              <a:round/>
            </a:ln>
            <a:effectLst/>
          </c:spPr>
          <c:marker>
            <c:symbol val="none"/>
          </c:marker>
          <c:cat>
            <c:numRef>
              <c:f>Sheet1!$A$2:$A$19</c:f>
              <c:numCache>
                <c:formatCode>General</c:formatCode>
                <c:ptCount val="18"/>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pt idx="14">
                  <c:v>2024</c:v>
                </c:pt>
                <c:pt idx="15">
                  <c:v>2025</c:v>
                </c:pt>
                <c:pt idx="16">
                  <c:v>2026</c:v>
                </c:pt>
                <c:pt idx="17">
                  <c:v>2027</c:v>
                </c:pt>
              </c:numCache>
            </c:numRef>
          </c:cat>
          <c:val>
            <c:numRef>
              <c:f>Sheet1!$F$2:$F$19</c:f>
              <c:numCache>
                <c:formatCode>General</c:formatCode>
                <c:ptCount val="18"/>
                <c:pt idx="0">
                  <c:v>10.3</c:v>
                </c:pt>
                <c:pt idx="1">
                  <c:v>6.6</c:v>
                </c:pt>
                <c:pt idx="2">
                  <c:v>5.5</c:v>
                </c:pt>
                <c:pt idx="3">
                  <c:v>6.4</c:v>
                </c:pt>
                <c:pt idx="4">
                  <c:v>7.4</c:v>
                </c:pt>
                <c:pt idx="5">
                  <c:v>8</c:v>
                </c:pt>
                <c:pt idx="6">
                  <c:v>8.3000000000000007</c:v>
                </c:pt>
                <c:pt idx="7">
                  <c:v>6.8</c:v>
                </c:pt>
                <c:pt idx="8">
                  <c:v>6.5</c:v>
                </c:pt>
                <c:pt idx="9">
                  <c:v>3.7</c:v>
                </c:pt>
                <c:pt idx="10">
                  <c:v>-6.6</c:v>
                </c:pt>
                <c:pt idx="11">
                  <c:v>8.9</c:v>
                </c:pt>
                <c:pt idx="12">
                  <c:v>8.1999999999999993</c:v>
                </c:pt>
                <c:pt idx="13">
                  <c:v>6.9</c:v>
                </c:pt>
                <c:pt idx="14">
                  <c:v>7</c:v>
                </c:pt>
                <c:pt idx="15">
                  <c:v>7</c:v>
                </c:pt>
                <c:pt idx="16">
                  <c:v>6.5</c:v>
                </c:pt>
                <c:pt idx="17">
                  <c:v>6.2</c:v>
                </c:pt>
              </c:numCache>
            </c:numRef>
          </c:val>
          <c:smooth val="1"/>
          <c:extLst>
            <c:ext xmlns:c16="http://schemas.microsoft.com/office/drawing/2014/chart" uri="{C3380CC4-5D6E-409C-BE32-E72D297353CC}">
              <c16:uniqueId val="{00000004-6F99-4503-B2BF-740EA98A2FC8}"/>
            </c:ext>
          </c:extLst>
        </c:ser>
        <c:ser>
          <c:idx val="5"/>
          <c:order val="5"/>
          <c:tx>
            <c:strRef>
              <c:f>Sheet1!$G$1</c:f>
              <c:strCache>
                <c:ptCount val="1"/>
                <c:pt idx="0">
                  <c:v>Italy</c:v>
                </c:pt>
              </c:strCache>
            </c:strRef>
          </c:tx>
          <c:spPr>
            <a:ln w="28575" cap="rnd">
              <a:solidFill>
                <a:schemeClr val="accent6"/>
              </a:solidFill>
              <a:round/>
            </a:ln>
            <a:effectLst/>
          </c:spPr>
          <c:marker>
            <c:symbol val="none"/>
          </c:marker>
          <c:cat>
            <c:numRef>
              <c:f>Sheet1!$A$2:$A$19</c:f>
              <c:numCache>
                <c:formatCode>General</c:formatCode>
                <c:ptCount val="18"/>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pt idx="14">
                  <c:v>2024</c:v>
                </c:pt>
                <c:pt idx="15">
                  <c:v>2025</c:v>
                </c:pt>
                <c:pt idx="16">
                  <c:v>2026</c:v>
                </c:pt>
                <c:pt idx="17">
                  <c:v>2027</c:v>
                </c:pt>
              </c:numCache>
            </c:numRef>
          </c:cat>
          <c:val>
            <c:numRef>
              <c:f>Sheet1!$G$2:$G$19</c:f>
              <c:numCache>
                <c:formatCode>General</c:formatCode>
                <c:ptCount val="18"/>
                <c:pt idx="0">
                  <c:v>1.7</c:v>
                </c:pt>
                <c:pt idx="1">
                  <c:v>0.7</c:v>
                </c:pt>
                <c:pt idx="2">
                  <c:v>-3</c:v>
                </c:pt>
                <c:pt idx="3">
                  <c:v>-1.8</c:v>
                </c:pt>
                <c:pt idx="4">
                  <c:v>0</c:v>
                </c:pt>
                <c:pt idx="5">
                  <c:v>0.8</c:v>
                </c:pt>
                <c:pt idx="6">
                  <c:v>1.3</c:v>
                </c:pt>
                <c:pt idx="7">
                  <c:v>1.7</c:v>
                </c:pt>
                <c:pt idx="8">
                  <c:v>0.9</c:v>
                </c:pt>
                <c:pt idx="9">
                  <c:v>0.5</c:v>
                </c:pt>
                <c:pt idx="10">
                  <c:v>-9</c:v>
                </c:pt>
                <c:pt idx="11">
                  <c:v>6.6</c:v>
                </c:pt>
                <c:pt idx="12">
                  <c:v>2.2999999999999998</c:v>
                </c:pt>
                <c:pt idx="13">
                  <c:v>1.7</c:v>
                </c:pt>
                <c:pt idx="14">
                  <c:v>1.3</c:v>
                </c:pt>
                <c:pt idx="15">
                  <c:v>1.1000000000000001</c:v>
                </c:pt>
                <c:pt idx="16">
                  <c:v>1</c:v>
                </c:pt>
                <c:pt idx="17">
                  <c:v>0.5</c:v>
                </c:pt>
              </c:numCache>
            </c:numRef>
          </c:val>
          <c:smooth val="1"/>
          <c:extLst>
            <c:ext xmlns:c16="http://schemas.microsoft.com/office/drawing/2014/chart" uri="{C3380CC4-5D6E-409C-BE32-E72D297353CC}">
              <c16:uniqueId val="{00000005-6F99-4503-B2BF-740EA98A2FC8}"/>
            </c:ext>
          </c:extLst>
        </c:ser>
        <c:ser>
          <c:idx val="6"/>
          <c:order val="6"/>
          <c:tx>
            <c:strRef>
              <c:f>Sheet1!$H$1</c:f>
              <c:strCache>
                <c:ptCount val="1"/>
                <c:pt idx="0">
                  <c:v>Japan</c:v>
                </c:pt>
              </c:strCache>
            </c:strRef>
          </c:tx>
          <c:spPr>
            <a:ln w="28575" cap="rnd">
              <a:solidFill>
                <a:schemeClr val="accent1">
                  <a:lumMod val="60000"/>
                </a:schemeClr>
              </a:solidFill>
              <a:round/>
            </a:ln>
            <a:effectLst/>
          </c:spPr>
          <c:marker>
            <c:symbol val="none"/>
          </c:marker>
          <c:cat>
            <c:numRef>
              <c:f>Sheet1!$A$2:$A$19</c:f>
              <c:numCache>
                <c:formatCode>General</c:formatCode>
                <c:ptCount val="18"/>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pt idx="14">
                  <c:v>2024</c:v>
                </c:pt>
                <c:pt idx="15">
                  <c:v>2025</c:v>
                </c:pt>
                <c:pt idx="16">
                  <c:v>2026</c:v>
                </c:pt>
                <c:pt idx="17">
                  <c:v>2027</c:v>
                </c:pt>
              </c:numCache>
            </c:numRef>
          </c:cat>
          <c:val>
            <c:numRef>
              <c:f>Sheet1!$H$2:$H$19</c:f>
              <c:numCache>
                <c:formatCode>General</c:formatCode>
                <c:ptCount val="18"/>
                <c:pt idx="0">
                  <c:v>4.0999999999999996</c:v>
                </c:pt>
                <c:pt idx="1">
                  <c:v>0</c:v>
                </c:pt>
                <c:pt idx="2">
                  <c:v>1.4</c:v>
                </c:pt>
                <c:pt idx="3">
                  <c:v>2</c:v>
                </c:pt>
                <c:pt idx="4">
                  <c:v>0.3</c:v>
                </c:pt>
                <c:pt idx="5">
                  <c:v>1.6</c:v>
                </c:pt>
                <c:pt idx="6">
                  <c:v>0.8</c:v>
                </c:pt>
                <c:pt idx="7">
                  <c:v>1.7</c:v>
                </c:pt>
                <c:pt idx="8">
                  <c:v>0.6</c:v>
                </c:pt>
                <c:pt idx="9">
                  <c:v>-0.2</c:v>
                </c:pt>
                <c:pt idx="10">
                  <c:v>-4.5</c:v>
                </c:pt>
                <c:pt idx="11">
                  <c:v>1.6</c:v>
                </c:pt>
                <c:pt idx="12">
                  <c:v>2.4</c:v>
                </c:pt>
                <c:pt idx="13">
                  <c:v>2.2999999999999998</c:v>
                </c:pt>
                <c:pt idx="14">
                  <c:v>0.8</c:v>
                </c:pt>
                <c:pt idx="15">
                  <c:v>0.7</c:v>
                </c:pt>
                <c:pt idx="16">
                  <c:v>0.5</c:v>
                </c:pt>
                <c:pt idx="17">
                  <c:v>0.4</c:v>
                </c:pt>
              </c:numCache>
            </c:numRef>
          </c:val>
          <c:smooth val="1"/>
          <c:extLst>
            <c:ext xmlns:c16="http://schemas.microsoft.com/office/drawing/2014/chart" uri="{C3380CC4-5D6E-409C-BE32-E72D297353CC}">
              <c16:uniqueId val="{00000006-6F99-4503-B2BF-740EA98A2FC8}"/>
            </c:ext>
          </c:extLst>
        </c:ser>
        <c:ser>
          <c:idx val="7"/>
          <c:order val="7"/>
          <c:tx>
            <c:strRef>
              <c:f>Sheet1!$I$1</c:f>
              <c:strCache>
                <c:ptCount val="1"/>
                <c:pt idx="0">
                  <c:v>U.S.</c:v>
                </c:pt>
              </c:strCache>
            </c:strRef>
          </c:tx>
          <c:spPr>
            <a:ln w="28575" cap="rnd">
              <a:solidFill>
                <a:schemeClr val="accent2">
                  <a:lumMod val="60000"/>
                </a:schemeClr>
              </a:solidFill>
              <a:round/>
            </a:ln>
            <a:effectLst/>
          </c:spPr>
          <c:marker>
            <c:symbol val="none"/>
          </c:marker>
          <c:cat>
            <c:numRef>
              <c:f>Sheet1!$A$2:$A$19</c:f>
              <c:numCache>
                <c:formatCode>General</c:formatCode>
                <c:ptCount val="18"/>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pt idx="14">
                  <c:v>2024</c:v>
                </c:pt>
                <c:pt idx="15">
                  <c:v>2025</c:v>
                </c:pt>
                <c:pt idx="16">
                  <c:v>2026</c:v>
                </c:pt>
                <c:pt idx="17">
                  <c:v>2027</c:v>
                </c:pt>
              </c:numCache>
            </c:numRef>
          </c:cat>
          <c:val>
            <c:numRef>
              <c:f>Sheet1!$I$2:$I$19</c:f>
              <c:numCache>
                <c:formatCode>General</c:formatCode>
                <c:ptCount val="18"/>
                <c:pt idx="0">
                  <c:v>2.7</c:v>
                </c:pt>
                <c:pt idx="1">
                  <c:v>1.5</c:v>
                </c:pt>
                <c:pt idx="2">
                  <c:v>2.2999999999999998</c:v>
                </c:pt>
                <c:pt idx="3">
                  <c:v>1.8</c:v>
                </c:pt>
                <c:pt idx="4">
                  <c:v>2.2999999999999998</c:v>
                </c:pt>
                <c:pt idx="5">
                  <c:v>2.7</c:v>
                </c:pt>
                <c:pt idx="6">
                  <c:v>1.7</c:v>
                </c:pt>
                <c:pt idx="7">
                  <c:v>2.2999999999999998</c:v>
                </c:pt>
                <c:pt idx="8">
                  <c:v>2.9</c:v>
                </c:pt>
                <c:pt idx="9">
                  <c:v>2.2999999999999998</c:v>
                </c:pt>
                <c:pt idx="10">
                  <c:v>-3.4</c:v>
                </c:pt>
                <c:pt idx="11">
                  <c:v>5.7</c:v>
                </c:pt>
                <c:pt idx="12">
                  <c:v>3.7</c:v>
                </c:pt>
                <c:pt idx="13">
                  <c:v>2.2999999999999998</c:v>
                </c:pt>
                <c:pt idx="14">
                  <c:v>1.4</c:v>
                </c:pt>
                <c:pt idx="15">
                  <c:v>1.7</c:v>
                </c:pt>
                <c:pt idx="16">
                  <c:v>1.7</c:v>
                </c:pt>
                <c:pt idx="17">
                  <c:v>1.7</c:v>
                </c:pt>
              </c:numCache>
            </c:numRef>
          </c:val>
          <c:smooth val="1"/>
          <c:extLst>
            <c:ext xmlns:c16="http://schemas.microsoft.com/office/drawing/2014/chart" uri="{C3380CC4-5D6E-409C-BE32-E72D297353CC}">
              <c16:uniqueId val="{00000007-6F99-4503-B2BF-740EA98A2FC8}"/>
            </c:ext>
          </c:extLst>
        </c:ser>
        <c:dLbls>
          <c:showLegendKey val="0"/>
          <c:showVal val="0"/>
          <c:showCatName val="0"/>
          <c:showSerName val="0"/>
          <c:showPercent val="0"/>
          <c:showBubbleSize val="0"/>
        </c:dLbls>
        <c:smooth val="0"/>
        <c:axId val="958678096"/>
        <c:axId val="958647632"/>
      </c:lineChart>
      <c:catAx>
        <c:axId val="9586780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958647632"/>
        <c:crosses val="autoZero"/>
        <c:auto val="1"/>
        <c:lblAlgn val="ctr"/>
        <c:lblOffset val="100"/>
        <c:noMultiLvlLbl val="0"/>
      </c:catAx>
      <c:valAx>
        <c:axId val="95864763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95867809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295467952499424E-2"/>
          <c:y val="3.2384352094205225E-2"/>
          <c:w val="0.94937228449049726"/>
          <c:h val="0.68205823615517303"/>
        </c:manualLayout>
      </c:layout>
      <c:barChart>
        <c:barDir val="col"/>
        <c:grouping val="clustered"/>
        <c:varyColors val="0"/>
        <c:ser>
          <c:idx val="0"/>
          <c:order val="0"/>
          <c:tx>
            <c:strRef>
              <c:f>Sheet1!$B$1</c:f>
              <c:strCache>
                <c:ptCount val="1"/>
                <c:pt idx="0">
                  <c:v>Australia</c:v>
                </c:pt>
              </c:strCache>
            </c:strRef>
          </c:tx>
          <c:spPr>
            <a:solidFill>
              <a:schemeClr val="accent1"/>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Sheet1!$B$2:$B$10</c:f>
              <c:numCache>
                <c:formatCode>General</c:formatCode>
                <c:ptCount val="9"/>
                <c:pt idx="0">
                  <c:v>7.3515729672417898</c:v>
                </c:pt>
                <c:pt idx="1">
                  <c:v>7.0301402240009372</c:v>
                </c:pt>
                <c:pt idx="2">
                  <c:v>6.5979651202526579</c:v>
                </c:pt>
                <c:pt idx="3">
                  <c:v>6.3582166115118275</c:v>
                </c:pt>
                <c:pt idx="4">
                  <c:v>6.2902829679410504</c:v>
                </c:pt>
                <c:pt idx="5">
                  <c:v>6.0776870671289576</c:v>
                </c:pt>
                <c:pt idx="6">
                  <c:v>5.7943658154473709</c:v>
                </c:pt>
                <c:pt idx="7">
                  <c:v>5.7759422232793476</c:v>
                </c:pt>
                <c:pt idx="8">
                  <c:v>5.6479253263326772</c:v>
                </c:pt>
              </c:numCache>
            </c:numRef>
          </c:val>
          <c:extLst>
            <c:ext xmlns:c16="http://schemas.microsoft.com/office/drawing/2014/chart" uri="{C3380CC4-5D6E-409C-BE32-E72D297353CC}">
              <c16:uniqueId val="{00000000-2A72-43C2-8483-F3B8632CF4CF}"/>
            </c:ext>
          </c:extLst>
        </c:ser>
        <c:ser>
          <c:idx val="1"/>
          <c:order val="1"/>
          <c:tx>
            <c:strRef>
              <c:f>Sheet1!$C$1</c:f>
              <c:strCache>
                <c:ptCount val="1"/>
                <c:pt idx="0">
                  <c:v>Belgium</c:v>
                </c:pt>
              </c:strCache>
            </c:strRef>
          </c:tx>
          <c:spPr>
            <a:solidFill>
              <a:schemeClr val="accent2"/>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Sheet1!$C$2:$C$10</c:f>
              <c:numCache>
                <c:formatCode>General</c:formatCode>
                <c:ptCount val="9"/>
                <c:pt idx="0">
                  <c:v>12.929059350295425</c:v>
                </c:pt>
                <c:pt idx="1">
                  <c:v>12.624208680682603</c:v>
                </c:pt>
                <c:pt idx="2">
                  <c:v>12.562639991855018</c:v>
                </c:pt>
                <c:pt idx="3">
                  <c:v>12.564686194877311</c:v>
                </c:pt>
                <c:pt idx="4">
                  <c:v>12.693333883687455</c:v>
                </c:pt>
                <c:pt idx="5">
                  <c:v>12.355568902387578</c:v>
                </c:pt>
                <c:pt idx="6">
                  <c:v>12.499848639979765</c:v>
                </c:pt>
                <c:pt idx="7">
                  <c:v>12.294214369588511</c:v>
                </c:pt>
                <c:pt idx="8">
                  <c:v>12.00316814036206</c:v>
                </c:pt>
              </c:numCache>
            </c:numRef>
          </c:val>
          <c:extLst>
            <c:ext xmlns:c16="http://schemas.microsoft.com/office/drawing/2014/chart" uri="{C3380CC4-5D6E-409C-BE32-E72D297353CC}">
              <c16:uniqueId val="{00000001-2A72-43C2-8483-F3B8632CF4CF}"/>
            </c:ext>
          </c:extLst>
        </c:ser>
        <c:ser>
          <c:idx val="2"/>
          <c:order val="2"/>
          <c:tx>
            <c:strRef>
              <c:f>Sheet1!$D$1</c:f>
              <c:strCache>
                <c:ptCount val="1"/>
                <c:pt idx="0">
                  <c:v>Brazil</c:v>
                </c:pt>
              </c:strCache>
            </c:strRef>
          </c:tx>
          <c:spPr>
            <a:solidFill>
              <a:schemeClr val="accent3"/>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Sheet1!$D$2:$D$10</c:f>
              <c:numCache>
                <c:formatCode>General</c:formatCode>
                <c:ptCount val="9"/>
                <c:pt idx="0">
                  <c:v>11.7838003592466</c:v>
                </c:pt>
                <c:pt idx="1">
                  <c:v>10.675942310727846</c:v>
                </c:pt>
                <c:pt idx="2">
                  <c:v>10.47963104640448</c:v>
                </c:pt>
                <c:pt idx="3">
                  <c:v>10.337097394631865</c:v>
                </c:pt>
                <c:pt idx="4">
                  <c:v>10.520920773202917</c:v>
                </c:pt>
                <c:pt idx="5">
                  <c:v>10.786451115653863</c:v>
                </c:pt>
                <c:pt idx="6">
                  <c:v>10.716980295197605</c:v>
                </c:pt>
                <c:pt idx="7">
                  <c:v>9.7824577020802721</c:v>
                </c:pt>
                <c:pt idx="8">
                  <c:v>9.4397644447954754</c:v>
                </c:pt>
              </c:numCache>
            </c:numRef>
          </c:val>
          <c:extLst>
            <c:ext xmlns:c16="http://schemas.microsoft.com/office/drawing/2014/chart" uri="{C3380CC4-5D6E-409C-BE32-E72D297353CC}">
              <c16:uniqueId val="{00000002-2A72-43C2-8483-F3B8632CF4CF}"/>
            </c:ext>
          </c:extLst>
        </c:ser>
        <c:ser>
          <c:idx val="3"/>
          <c:order val="3"/>
          <c:tx>
            <c:strRef>
              <c:f>Sheet1!$E$1</c:f>
              <c:strCache>
                <c:ptCount val="1"/>
                <c:pt idx="0">
                  <c:v>Canada</c:v>
                </c:pt>
              </c:strCache>
            </c:strRef>
          </c:tx>
          <c:spPr>
            <a:solidFill>
              <a:schemeClr val="accent4"/>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Sheet1!$E$2:$E$10</c:f>
              <c:numCache>
                <c:formatCode>General</c:formatCode>
                <c:ptCount val="9"/>
                <c:pt idx="0">
                  <c:v>10.297120438075801</c:v>
                </c:pt>
                <c:pt idx="1">
                  <c:v>10.020167414165352</c:v>
                </c:pt>
                <c:pt idx="2">
                  <c:v>9.5884923582559392</c:v>
                </c:pt>
                <c:pt idx="3">
                  <c:v>9.426150823826994</c:v>
                </c:pt>
                <c:pt idx="4">
                  <c:v>9.9754225443393985</c:v>
                </c:pt>
                <c:pt idx="5">
                  <c:v>9.9280041352078676</c:v>
                </c:pt>
              </c:numCache>
            </c:numRef>
          </c:val>
          <c:extLst>
            <c:ext xmlns:c16="http://schemas.microsoft.com/office/drawing/2014/chart" uri="{C3380CC4-5D6E-409C-BE32-E72D297353CC}">
              <c16:uniqueId val="{00000003-2A72-43C2-8483-F3B8632CF4CF}"/>
            </c:ext>
          </c:extLst>
        </c:ser>
        <c:ser>
          <c:idx val="4"/>
          <c:order val="4"/>
          <c:tx>
            <c:strRef>
              <c:f>Sheet1!$F$1</c:f>
              <c:strCache>
                <c:ptCount val="1"/>
                <c:pt idx="0">
                  <c:v>China</c:v>
                </c:pt>
              </c:strCache>
            </c:strRef>
          </c:tx>
          <c:spPr>
            <a:solidFill>
              <a:schemeClr val="accent5"/>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Sheet1!$F$2:$F$10</c:f>
              <c:numCache>
                <c:formatCode>General</c:formatCode>
                <c:ptCount val="9"/>
                <c:pt idx="0">
                  <c:v>32.064789906632001</c:v>
                </c:pt>
                <c:pt idx="1">
                  <c:v>31.528575142040179</c:v>
                </c:pt>
                <c:pt idx="2">
                  <c:v>30.671009600595788</c:v>
                </c:pt>
                <c:pt idx="3">
                  <c:v>30.396444420135339</c:v>
                </c:pt>
                <c:pt idx="4">
                  <c:v>28.951676847281487</c:v>
                </c:pt>
                <c:pt idx="5">
                  <c:v>28.069436683065042</c:v>
                </c:pt>
                <c:pt idx="6">
                  <c:v>28.108943376121147</c:v>
                </c:pt>
                <c:pt idx="7">
                  <c:v>27.841016202769751</c:v>
                </c:pt>
                <c:pt idx="8">
                  <c:v>27.165665639046114</c:v>
                </c:pt>
              </c:numCache>
            </c:numRef>
          </c:val>
          <c:extLst>
            <c:ext xmlns:c16="http://schemas.microsoft.com/office/drawing/2014/chart" uri="{C3380CC4-5D6E-409C-BE32-E72D297353CC}">
              <c16:uniqueId val="{00000004-2A72-43C2-8483-F3B8632CF4CF}"/>
            </c:ext>
          </c:extLst>
        </c:ser>
        <c:ser>
          <c:idx val="5"/>
          <c:order val="5"/>
          <c:tx>
            <c:strRef>
              <c:f>Sheet1!$G$1</c:f>
              <c:strCache>
                <c:ptCount val="1"/>
                <c:pt idx="0">
                  <c:v>Germany</c:v>
                </c:pt>
              </c:strCache>
            </c:strRef>
          </c:tx>
          <c:spPr>
            <a:solidFill>
              <a:schemeClr val="accent6"/>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Sheet1!$G$2:$G$10</c:f>
              <c:numCache>
                <c:formatCode>General</c:formatCode>
                <c:ptCount val="9"/>
                <c:pt idx="0">
                  <c:v>20.233000193053062</c:v>
                </c:pt>
                <c:pt idx="1">
                  <c:v>20.156448634216172</c:v>
                </c:pt>
                <c:pt idx="2">
                  <c:v>19.925196080175006</c:v>
                </c:pt>
                <c:pt idx="3">
                  <c:v>20.224394776305495</c:v>
                </c:pt>
                <c:pt idx="4">
                  <c:v>20.377186005603832</c:v>
                </c:pt>
                <c:pt idx="5">
                  <c:v>20.743722280718551</c:v>
                </c:pt>
                <c:pt idx="6">
                  <c:v>20.562128080517969</c:v>
                </c:pt>
                <c:pt idx="7">
                  <c:v>20.403633569252204</c:v>
                </c:pt>
                <c:pt idx="8">
                  <c:v>19.443673021445559</c:v>
                </c:pt>
              </c:numCache>
            </c:numRef>
          </c:val>
          <c:extLst>
            <c:ext xmlns:c16="http://schemas.microsoft.com/office/drawing/2014/chart" uri="{C3380CC4-5D6E-409C-BE32-E72D297353CC}">
              <c16:uniqueId val="{00000005-2A72-43C2-8483-F3B8632CF4CF}"/>
            </c:ext>
          </c:extLst>
        </c:ser>
        <c:ser>
          <c:idx val="6"/>
          <c:order val="6"/>
          <c:tx>
            <c:strRef>
              <c:f>Sheet1!$H$1</c:f>
              <c:strCache>
                <c:ptCount val="1"/>
                <c:pt idx="0">
                  <c:v>Spain</c:v>
                </c:pt>
              </c:strCache>
            </c:strRef>
          </c:tx>
          <c:spPr>
            <a:solidFill>
              <a:srgbClr val="7B8422"/>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Sheet1!$H$2:$H$10</c:f>
              <c:numCache>
                <c:formatCode>General</c:formatCode>
                <c:ptCount val="9"/>
                <c:pt idx="0">
                  <c:v>11.498613882979573</c:v>
                </c:pt>
                <c:pt idx="1">
                  <c:v>11.124925928548084</c:v>
                </c:pt>
                <c:pt idx="2">
                  <c:v>11.192651918757129</c:v>
                </c:pt>
                <c:pt idx="3">
                  <c:v>11.31038077503638</c:v>
                </c:pt>
                <c:pt idx="4">
                  <c:v>11.300401822585584</c:v>
                </c:pt>
                <c:pt idx="5">
                  <c:v>11.275317819435466</c:v>
                </c:pt>
                <c:pt idx="6">
                  <c:v>11.422886051719717</c:v>
                </c:pt>
                <c:pt idx="7">
                  <c:v>11.232888562818117</c:v>
                </c:pt>
                <c:pt idx="8">
                  <c:v>11.106203892780313</c:v>
                </c:pt>
              </c:numCache>
            </c:numRef>
          </c:val>
          <c:extLst>
            <c:ext xmlns:c16="http://schemas.microsoft.com/office/drawing/2014/chart" uri="{C3380CC4-5D6E-409C-BE32-E72D297353CC}">
              <c16:uniqueId val="{00000006-2A72-43C2-8483-F3B8632CF4CF}"/>
            </c:ext>
          </c:extLst>
        </c:ser>
        <c:ser>
          <c:idx val="7"/>
          <c:order val="7"/>
          <c:tx>
            <c:strRef>
              <c:f>Sheet1!$I$1</c:f>
              <c:strCache>
                <c:ptCount val="1"/>
                <c:pt idx="0">
                  <c:v>France</c:v>
                </c:pt>
              </c:strCache>
            </c:strRef>
          </c:tx>
          <c:spPr>
            <a:solidFill>
              <a:srgbClr val="7B1A60"/>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Sheet1!$I$2:$I$10</c:f>
              <c:numCache>
                <c:formatCode>General</c:formatCode>
                <c:ptCount val="9"/>
                <c:pt idx="0">
                  <c:v>10.395997996471964</c:v>
                </c:pt>
                <c:pt idx="1">
                  <c:v>10.361575332103921</c:v>
                </c:pt>
                <c:pt idx="2">
                  <c:v>10.354342479580236</c:v>
                </c:pt>
                <c:pt idx="3">
                  <c:v>10.280426000051168</c:v>
                </c:pt>
                <c:pt idx="4">
                  <c:v>10.433663629350374</c:v>
                </c:pt>
                <c:pt idx="5">
                  <c:v>10.283023048355759</c:v>
                </c:pt>
                <c:pt idx="6">
                  <c:v>10.136285162816979</c:v>
                </c:pt>
                <c:pt idx="7">
                  <c:v>9.8913155365366094</c:v>
                </c:pt>
                <c:pt idx="8">
                  <c:v>9.8189064800874633</c:v>
                </c:pt>
              </c:numCache>
            </c:numRef>
          </c:val>
          <c:extLst>
            <c:ext xmlns:c16="http://schemas.microsoft.com/office/drawing/2014/chart" uri="{C3380CC4-5D6E-409C-BE32-E72D297353CC}">
              <c16:uniqueId val="{00000007-2A72-43C2-8483-F3B8632CF4CF}"/>
            </c:ext>
          </c:extLst>
        </c:ser>
        <c:ser>
          <c:idx val="8"/>
          <c:order val="8"/>
          <c:tx>
            <c:strRef>
              <c:f>Sheet1!$J$1</c:f>
              <c:strCache>
                <c:ptCount val="1"/>
                <c:pt idx="0">
                  <c:v>United Kingdom</c:v>
                </c:pt>
              </c:strCache>
            </c:strRef>
          </c:tx>
          <c:spPr>
            <a:solidFill>
              <a:srgbClr val="C55A11"/>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Sheet1!$J$2:$J$10</c:f>
              <c:numCache>
                <c:formatCode>General</c:formatCode>
                <c:ptCount val="9"/>
                <c:pt idx="0">
                  <c:v>9.4651472721751748</c:v>
                </c:pt>
                <c:pt idx="1">
                  <c:v>9.3661176847098186</c:v>
                </c:pt>
                <c:pt idx="2">
                  <c:v>9.5817371440242987</c:v>
                </c:pt>
                <c:pt idx="3">
                  <c:v>9.3771415559054834</c:v>
                </c:pt>
                <c:pt idx="4">
                  <c:v>9.3004002303724356</c:v>
                </c:pt>
                <c:pt idx="5">
                  <c:v>9.0980160653156457</c:v>
                </c:pt>
                <c:pt idx="6">
                  <c:v>8.9802077264347986</c:v>
                </c:pt>
                <c:pt idx="7">
                  <c:v>8.8394182914362887</c:v>
                </c:pt>
                <c:pt idx="8">
                  <c:v>8.5993964480371012</c:v>
                </c:pt>
              </c:numCache>
            </c:numRef>
          </c:val>
          <c:extLst>
            <c:ext xmlns:c16="http://schemas.microsoft.com/office/drawing/2014/chart" uri="{C3380CC4-5D6E-409C-BE32-E72D297353CC}">
              <c16:uniqueId val="{00000008-2A72-43C2-8483-F3B8632CF4CF}"/>
            </c:ext>
          </c:extLst>
        </c:ser>
        <c:ser>
          <c:idx val="9"/>
          <c:order val="9"/>
          <c:tx>
            <c:strRef>
              <c:f>Sheet1!$K$1</c:f>
              <c:strCache>
                <c:ptCount val="1"/>
                <c:pt idx="0">
                  <c:v>India</c:v>
                </c:pt>
              </c:strCache>
            </c:strRef>
          </c:tx>
          <c:spPr>
            <a:solidFill>
              <a:srgbClr val="595959"/>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Sheet1!$K$2:$K$10</c:f>
              <c:numCache>
                <c:formatCode>General</c:formatCode>
                <c:ptCount val="9"/>
                <c:pt idx="0">
                  <c:v>16.139338127184054</c:v>
                </c:pt>
                <c:pt idx="1">
                  <c:v>15.816923007207196</c:v>
                </c:pt>
                <c:pt idx="2">
                  <c:v>15.253022692764024</c:v>
                </c:pt>
                <c:pt idx="3">
                  <c:v>15.065570111079724</c:v>
                </c:pt>
                <c:pt idx="4">
                  <c:v>15.583854562449922</c:v>
                </c:pt>
                <c:pt idx="5">
                  <c:v>15.162237147796512</c:v>
                </c:pt>
                <c:pt idx="6">
                  <c:v>14.893919609928677</c:v>
                </c:pt>
                <c:pt idx="7">
                  <c:v>14.584009409214694</c:v>
                </c:pt>
                <c:pt idx="8">
                  <c:v>13.722171681533704</c:v>
                </c:pt>
              </c:numCache>
            </c:numRef>
          </c:val>
          <c:extLst>
            <c:ext xmlns:c16="http://schemas.microsoft.com/office/drawing/2014/chart" uri="{C3380CC4-5D6E-409C-BE32-E72D297353CC}">
              <c16:uniqueId val="{00000009-2A72-43C2-8483-F3B8632CF4CF}"/>
            </c:ext>
          </c:extLst>
        </c:ser>
        <c:ser>
          <c:idx val="10"/>
          <c:order val="10"/>
          <c:tx>
            <c:strRef>
              <c:f>Sheet1!$L$1</c:f>
              <c:strCache>
                <c:ptCount val="1"/>
                <c:pt idx="0">
                  <c:v>Italy</c:v>
                </c:pt>
              </c:strCache>
            </c:strRef>
          </c:tx>
          <c:spPr>
            <a:solidFill>
              <a:srgbClr val="7AABD8"/>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Sheet1!$L$2:$L$10</c:f>
              <c:numCache>
                <c:formatCode>General</c:formatCode>
                <c:ptCount val="9"/>
                <c:pt idx="0">
                  <c:v>14.214045524510057</c:v>
                </c:pt>
                <c:pt idx="1">
                  <c:v>13.849625701515311</c:v>
                </c:pt>
                <c:pt idx="2">
                  <c:v>13.880019814586413</c:v>
                </c:pt>
                <c:pt idx="3">
                  <c:v>13.976239236242026</c:v>
                </c:pt>
                <c:pt idx="4">
                  <c:v>14.395371385594027</c:v>
                </c:pt>
                <c:pt idx="5">
                  <c:v>14.791033872890152</c:v>
                </c:pt>
                <c:pt idx="6">
                  <c:v>14.913870424891776</c:v>
                </c:pt>
                <c:pt idx="7">
                  <c:v>14.999250920722046</c:v>
                </c:pt>
                <c:pt idx="8">
                  <c:v>14.912851916643625</c:v>
                </c:pt>
              </c:numCache>
            </c:numRef>
          </c:val>
          <c:extLst>
            <c:ext xmlns:c16="http://schemas.microsoft.com/office/drawing/2014/chart" uri="{C3380CC4-5D6E-409C-BE32-E72D297353CC}">
              <c16:uniqueId val="{0000000A-2A72-43C2-8483-F3B8632CF4CF}"/>
            </c:ext>
          </c:extLst>
        </c:ser>
        <c:ser>
          <c:idx val="11"/>
          <c:order val="11"/>
          <c:tx>
            <c:strRef>
              <c:f>Sheet1!$M$1</c:f>
              <c:strCache>
                <c:ptCount val="1"/>
                <c:pt idx="0">
                  <c:v>Japan</c:v>
                </c:pt>
              </c:strCache>
            </c:strRef>
          </c:tx>
          <c:spPr>
            <a:solidFill>
              <a:srgbClr val="E5494D"/>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Sheet1!$M$2:$M$10</c:f>
              <c:numCache>
                <c:formatCode>General</c:formatCode>
                <c:ptCount val="9"/>
                <c:pt idx="0">
                  <c:v>19.665715997993523</c:v>
                </c:pt>
                <c:pt idx="1">
                  <c:v>19.731524261087625</c:v>
                </c:pt>
                <c:pt idx="2">
                  <c:v>19.43625644804716</c:v>
                </c:pt>
                <c:pt idx="3">
                  <c:v>19.731297044423169</c:v>
                </c:pt>
                <c:pt idx="4">
                  <c:v>20.813321844960416</c:v>
                </c:pt>
                <c:pt idx="5">
                  <c:v>20.728849461811429</c:v>
                </c:pt>
                <c:pt idx="6">
                  <c:v>20.78775242380711</c:v>
                </c:pt>
                <c:pt idx="7">
                  <c:v>20.74686703507696</c:v>
                </c:pt>
                <c:pt idx="8">
                  <c:v>0</c:v>
                </c:pt>
              </c:numCache>
            </c:numRef>
          </c:val>
          <c:extLst>
            <c:ext xmlns:c16="http://schemas.microsoft.com/office/drawing/2014/chart" uri="{C3380CC4-5D6E-409C-BE32-E72D297353CC}">
              <c16:uniqueId val="{0000000B-2A72-43C2-8483-F3B8632CF4CF}"/>
            </c:ext>
          </c:extLst>
        </c:ser>
        <c:ser>
          <c:idx val="12"/>
          <c:order val="12"/>
          <c:tx>
            <c:strRef>
              <c:f>Sheet1!$N$1</c:f>
              <c:strCache>
                <c:ptCount val="1"/>
                <c:pt idx="0">
                  <c:v>Korea, Rep.</c:v>
                </c:pt>
              </c:strCache>
            </c:strRef>
          </c:tx>
          <c:spPr>
            <a:solidFill>
              <a:srgbClr val="F3CE47"/>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Sheet1!$N$2:$N$10</c:f>
              <c:numCache>
                <c:formatCode>General</c:formatCode>
                <c:ptCount val="9"/>
                <c:pt idx="0">
                  <c:v>28.236798611197106</c:v>
                </c:pt>
                <c:pt idx="1">
                  <c:v>27.831895504750538</c:v>
                </c:pt>
                <c:pt idx="2">
                  <c:v>27.785853738135401</c:v>
                </c:pt>
                <c:pt idx="3">
                  <c:v>27.042452155053248</c:v>
                </c:pt>
                <c:pt idx="4">
                  <c:v>26.606035727907813</c:v>
                </c:pt>
                <c:pt idx="5">
                  <c:v>26.357765221972961</c:v>
                </c:pt>
                <c:pt idx="6">
                  <c:v>26.945872693016749</c:v>
                </c:pt>
                <c:pt idx="7">
                  <c:v>26.649474490849475</c:v>
                </c:pt>
                <c:pt idx="8">
                  <c:v>25.384072089981235</c:v>
                </c:pt>
              </c:numCache>
            </c:numRef>
          </c:val>
          <c:extLst>
            <c:ext xmlns:c16="http://schemas.microsoft.com/office/drawing/2014/chart" uri="{C3380CC4-5D6E-409C-BE32-E72D297353CC}">
              <c16:uniqueId val="{0000000C-2A72-43C2-8483-F3B8632CF4CF}"/>
            </c:ext>
          </c:extLst>
        </c:ser>
        <c:ser>
          <c:idx val="13"/>
          <c:order val="13"/>
          <c:tx>
            <c:strRef>
              <c:f>Sheet1!$O$1</c:f>
              <c:strCache>
                <c:ptCount val="1"/>
                <c:pt idx="0">
                  <c:v>Luxembourg</c:v>
                </c:pt>
              </c:strCache>
            </c:strRef>
          </c:tx>
          <c:spPr>
            <a:solidFill>
              <a:srgbClr val="A08EC4"/>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Sheet1!$O$2:$O$10</c:f>
              <c:numCache>
                <c:formatCode>General</c:formatCode>
                <c:ptCount val="9"/>
                <c:pt idx="0">
                  <c:v>4.9420560520755812</c:v>
                </c:pt>
                <c:pt idx="1">
                  <c:v>4.7667380114229445</c:v>
                </c:pt>
                <c:pt idx="2">
                  <c:v>4.8855150457337659</c:v>
                </c:pt>
                <c:pt idx="3">
                  <c:v>3.9525349232765099</c:v>
                </c:pt>
                <c:pt idx="4">
                  <c:v>4.6344503095006226</c:v>
                </c:pt>
                <c:pt idx="5">
                  <c:v>5.3164718548865038</c:v>
                </c:pt>
                <c:pt idx="6">
                  <c:v>5.0078544609199982</c:v>
                </c:pt>
                <c:pt idx="7">
                  <c:v>5.1434612465018859</c:v>
                </c:pt>
                <c:pt idx="8">
                  <c:v>4.5503348933729431</c:v>
                </c:pt>
              </c:numCache>
            </c:numRef>
          </c:val>
          <c:extLst>
            <c:ext xmlns:c16="http://schemas.microsoft.com/office/drawing/2014/chart" uri="{C3380CC4-5D6E-409C-BE32-E72D297353CC}">
              <c16:uniqueId val="{0000000D-2A72-43C2-8483-F3B8632CF4CF}"/>
            </c:ext>
          </c:extLst>
        </c:ser>
        <c:ser>
          <c:idx val="14"/>
          <c:order val="14"/>
          <c:tx>
            <c:strRef>
              <c:f>Sheet1!$P$1</c:f>
              <c:strCache>
                <c:ptCount val="1"/>
                <c:pt idx="0">
                  <c:v>Mexico</c:v>
                </c:pt>
              </c:strCache>
            </c:strRef>
          </c:tx>
          <c:spPr>
            <a:solidFill>
              <a:srgbClr val="4BF6FF"/>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Sheet1!$P$2:$P$10</c:f>
              <c:numCache>
                <c:formatCode>General</c:formatCode>
                <c:ptCount val="9"/>
                <c:pt idx="0">
                  <c:v>15.351284303745988</c:v>
                </c:pt>
                <c:pt idx="1">
                  <c:v>16.346724803882566</c:v>
                </c:pt>
                <c:pt idx="2">
                  <c:v>15.831823954908039</c:v>
                </c:pt>
                <c:pt idx="3">
                  <c:v>15.899177087747447</c:v>
                </c:pt>
                <c:pt idx="4">
                  <c:v>17.141160759401792</c:v>
                </c:pt>
                <c:pt idx="5">
                  <c:v>16.975051852955907</c:v>
                </c:pt>
                <c:pt idx="6">
                  <c:v>17.258793648782706</c:v>
                </c:pt>
                <c:pt idx="7">
                  <c:v>17.322364810397225</c:v>
                </c:pt>
                <c:pt idx="8">
                  <c:v>17.313432813136469</c:v>
                </c:pt>
              </c:numCache>
            </c:numRef>
          </c:val>
          <c:extLst>
            <c:ext xmlns:c16="http://schemas.microsoft.com/office/drawing/2014/chart" uri="{C3380CC4-5D6E-409C-BE32-E72D297353CC}">
              <c16:uniqueId val="{0000000E-2A72-43C2-8483-F3B8632CF4CF}"/>
            </c:ext>
          </c:extLst>
        </c:ser>
        <c:ser>
          <c:idx val="15"/>
          <c:order val="15"/>
          <c:tx>
            <c:strRef>
              <c:f>Sheet1!$Q$1</c:f>
              <c:strCache>
                <c:ptCount val="1"/>
                <c:pt idx="0">
                  <c:v>New Zealand</c:v>
                </c:pt>
              </c:strCache>
            </c:strRef>
          </c:tx>
          <c:spPr>
            <a:solidFill>
              <a:srgbClr val="EEA86E"/>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Sheet1!$Q$2:$Q$10</c:f>
              <c:numCache>
                <c:formatCode>General</c:formatCode>
                <c:ptCount val="9"/>
                <c:pt idx="0">
                  <c:v>10.930511668901371</c:v>
                </c:pt>
                <c:pt idx="1">
                  <c:v>10.605405902362785</c:v>
                </c:pt>
                <c:pt idx="2">
                  <c:v>10.238957712949952</c:v>
                </c:pt>
                <c:pt idx="3">
                  <c:v>11.072758652011991</c:v>
                </c:pt>
                <c:pt idx="4">
                  <c:v>11.289118372864305</c:v>
                </c:pt>
                <c:pt idx="5">
                  <c:v>10.094382886814504</c:v>
                </c:pt>
                <c:pt idx="6">
                  <c:v>10.243718523437932</c:v>
                </c:pt>
                <c:pt idx="7">
                  <c:v>0</c:v>
                </c:pt>
                <c:pt idx="8">
                  <c:v>0</c:v>
                </c:pt>
              </c:numCache>
            </c:numRef>
          </c:val>
          <c:extLst>
            <c:ext xmlns:c16="http://schemas.microsoft.com/office/drawing/2014/chart" uri="{C3380CC4-5D6E-409C-BE32-E72D297353CC}">
              <c16:uniqueId val="{0000000F-2A72-43C2-8483-F3B8632CF4CF}"/>
            </c:ext>
          </c:extLst>
        </c:ser>
        <c:ser>
          <c:idx val="16"/>
          <c:order val="16"/>
          <c:tx>
            <c:strRef>
              <c:f>Sheet1!$R$1</c:f>
              <c:strCache>
                <c:ptCount val="1"/>
                <c:pt idx="0">
                  <c:v>United States</c:v>
                </c:pt>
              </c:strCache>
            </c:strRef>
          </c:tx>
          <c:spPr>
            <a:solidFill>
              <a:srgbClr val="D5DE7E"/>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Sheet1!$R$2:$R$10</c:f>
              <c:numCache>
                <c:formatCode>General</c:formatCode>
                <c:ptCount val="9"/>
                <c:pt idx="0">
                  <c:v>11.952210669319987</c:v>
                </c:pt>
                <c:pt idx="1">
                  <c:v>11.852206840657647</c:v>
                </c:pt>
                <c:pt idx="2">
                  <c:v>11.806799921566649</c:v>
                </c:pt>
                <c:pt idx="3">
                  <c:v>11.639071961477788</c:v>
                </c:pt>
                <c:pt idx="4">
                  <c:v>11.615354051071963</c:v>
                </c:pt>
                <c:pt idx="5">
                  <c:v>11.122251435452025</c:v>
                </c:pt>
                <c:pt idx="6">
                  <c:v>11.153582788193898</c:v>
                </c:pt>
                <c:pt idx="7">
                  <c:v>0</c:v>
                </c:pt>
                <c:pt idx="8">
                  <c:v>0</c:v>
                </c:pt>
              </c:numCache>
            </c:numRef>
          </c:val>
          <c:extLst>
            <c:ext xmlns:c16="http://schemas.microsoft.com/office/drawing/2014/chart" uri="{C3380CC4-5D6E-409C-BE32-E72D297353CC}">
              <c16:uniqueId val="{00000010-2A72-43C2-8483-F3B8632CF4CF}"/>
            </c:ext>
          </c:extLst>
        </c:ser>
        <c:ser>
          <c:idx val="17"/>
          <c:order val="17"/>
          <c:tx>
            <c:strRef>
              <c:f>Sheet1!$S$1</c:f>
              <c:strCache>
                <c:ptCount val="1"/>
                <c:pt idx="0">
                  <c:v>Russian Federation</c:v>
                </c:pt>
              </c:strCache>
            </c:strRef>
          </c:tx>
          <c:spPr>
            <a:solidFill>
              <a:srgbClr val="E894D0"/>
            </a:solidFill>
            <a:ln>
              <a:noFill/>
            </a:ln>
            <a:effectLst/>
          </c:spPr>
          <c:invertIfNegative val="0"/>
          <c:cat>
            <c:strRef>
              <c:f>Sheet1!$A$2:$A$10</c:f>
              <c:strCache>
                <c:ptCount val="9"/>
                <c:pt idx="0">
                  <c:v>2011</c:v>
                </c:pt>
                <c:pt idx="1">
                  <c:v>2012</c:v>
                </c:pt>
                <c:pt idx="2">
                  <c:v>2013</c:v>
                </c:pt>
                <c:pt idx="3">
                  <c:v>2014</c:v>
                </c:pt>
                <c:pt idx="4">
                  <c:v>2015</c:v>
                </c:pt>
                <c:pt idx="5">
                  <c:v>2016</c:v>
                </c:pt>
                <c:pt idx="6">
                  <c:v>2017</c:v>
                </c:pt>
                <c:pt idx="7">
                  <c:v>2018</c:v>
                </c:pt>
                <c:pt idx="8">
                  <c:v>2019</c:v>
                </c:pt>
              </c:strCache>
            </c:strRef>
          </c:cat>
          <c:val>
            <c:numRef>
              <c:f>Sheet1!$S$2:$S$10</c:f>
              <c:numCache>
                <c:formatCode>General</c:formatCode>
                <c:ptCount val="9"/>
                <c:pt idx="0">
                  <c:v>11.470933715455036</c:v>
                </c:pt>
                <c:pt idx="1">
                  <c:v>11.415285438767052</c:v>
                </c:pt>
                <c:pt idx="2">
                  <c:v>11.057306336775492</c:v>
                </c:pt>
                <c:pt idx="3">
                  <c:v>11.335580414431318</c:v>
                </c:pt>
                <c:pt idx="4">
                  <c:v>12.383018865509932</c:v>
                </c:pt>
                <c:pt idx="5">
                  <c:v>11.700279102341732</c:v>
                </c:pt>
                <c:pt idx="6">
                  <c:v>12.31277212985839</c:v>
                </c:pt>
                <c:pt idx="7">
                  <c:v>13.028611313343069</c:v>
                </c:pt>
                <c:pt idx="8">
                  <c:v>13.091779210869536</c:v>
                </c:pt>
              </c:numCache>
            </c:numRef>
          </c:val>
          <c:extLst>
            <c:ext xmlns:c16="http://schemas.microsoft.com/office/drawing/2014/chart" uri="{C3380CC4-5D6E-409C-BE32-E72D297353CC}">
              <c16:uniqueId val="{00000011-2A72-43C2-8483-F3B8632CF4CF}"/>
            </c:ext>
          </c:extLst>
        </c:ser>
        <c:dLbls>
          <c:showLegendKey val="0"/>
          <c:showVal val="0"/>
          <c:showCatName val="0"/>
          <c:showSerName val="0"/>
          <c:showPercent val="0"/>
          <c:showBubbleSize val="0"/>
        </c:dLbls>
        <c:gapWidth val="122"/>
        <c:axId val="958648720"/>
        <c:axId val="958660144"/>
      </c:barChart>
      <c:catAx>
        <c:axId val="9586487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958660144"/>
        <c:crosses val="autoZero"/>
        <c:auto val="1"/>
        <c:lblAlgn val="ctr"/>
        <c:lblOffset val="100"/>
        <c:noMultiLvlLbl val="0"/>
      </c:catAx>
      <c:valAx>
        <c:axId val="958660144"/>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958648720"/>
        <c:crosses val="autoZero"/>
        <c:crossBetween val="between"/>
      </c:valAx>
      <c:spPr>
        <a:noFill/>
        <a:ln>
          <a:noFill/>
        </a:ln>
        <a:effectLst/>
      </c:spPr>
    </c:plotArea>
    <c:legend>
      <c:legendPos val="b"/>
      <c:layout>
        <c:manualLayout>
          <c:xMode val="edge"/>
          <c:yMode val="edge"/>
          <c:x val="0"/>
          <c:y val="0.79436901762538836"/>
          <c:w val="0.99947123547667294"/>
          <c:h val="0.18904494229168139"/>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8688860960783808E-2"/>
          <c:y val="3.401531270236003E-2"/>
          <c:w val="0.98131113903921618"/>
          <c:h val="0.70542950258105952"/>
        </c:manualLayout>
      </c:layout>
      <c:barChart>
        <c:barDir val="col"/>
        <c:grouping val="clustered"/>
        <c:varyColors val="0"/>
        <c:ser>
          <c:idx val="0"/>
          <c:order val="0"/>
          <c:tx>
            <c:strRef>
              <c:f>Sheet1!$B$1</c:f>
              <c:strCache>
                <c:ptCount val="1"/>
                <c:pt idx="0">
                  <c:v>2019</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Sheet1!$A$2:$A$21</c:f>
              <c:strCache>
                <c:ptCount val="20"/>
                <c:pt idx="0">
                  <c:v>China</c:v>
                </c:pt>
                <c:pt idx="1">
                  <c:v>Germany</c:v>
                </c:pt>
                <c:pt idx="2">
                  <c:v>India</c:v>
                </c:pt>
                <c:pt idx="3">
                  <c:v>Russia</c:v>
                </c:pt>
                <c:pt idx="4">
                  <c:v>South Korea</c:v>
                </c:pt>
                <c:pt idx="5">
                  <c:v>UK</c:v>
                </c:pt>
                <c:pt idx="6">
                  <c:v>France</c:v>
                </c:pt>
                <c:pt idx="7">
                  <c:v>Indonesia</c:v>
                </c:pt>
                <c:pt idx="8">
                  <c:v>Italy</c:v>
                </c:pt>
                <c:pt idx="9">
                  <c:v>Mexico</c:v>
                </c:pt>
                <c:pt idx="10">
                  <c:v>Saudi Arabia</c:v>
                </c:pt>
                <c:pt idx="11">
                  <c:v>Australia</c:v>
                </c:pt>
                <c:pt idx="12">
                  <c:v>Brazil</c:v>
                </c:pt>
                <c:pt idx="13">
                  <c:v>Spain</c:v>
                </c:pt>
                <c:pt idx="14">
                  <c:v>Turkey</c:v>
                </c:pt>
                <c:pt idx="15">
                  <c:v>UAE</c:v>
                </c:pt>
                <c:pt idx="16">
                  <c:v>Thailand</c:v>
                </c:pt>
                <c:pt idx="17">
                  <c:v>Switzerland</c:v>
                </c:pt>
                <c:pt idx="18">
                  <c:v>Poland</c:v>
                </c:pt>
                <c:pt idx="19">
                  <c:v>Netherland</c:v>
                </c:pt>
              </c:strCache>
            </c:strRef>
          </c:cat>
          <c:val>
            <c:numRef>
              <c:f>Sheet1!$B$2:$B$21</c:f>
              <c:numCache>
                <c:formatCode>_ * #,##0.0_ ;_ * \-#,##0.0_ ;_ * "-"??_ ;_ @_ </c:formatCode>
                <c:ptCount val="20"/>
                <c:pt idx="0">
                  <c:v>5589.79</c:v>
                </c:pt>
                <c:pt idx="1">
                  <c:v>1031.3599999999999</c:v>
                </c:pt>
                <c:pt idx="2">
                  <c:v>715.36</c:v>
                </c:pt>
                <c:pt idx="3">
                  <c:v>546.79</c:v>
                </c:pt>
                <c:pt idx="4">
                  <c:v>541.42999999999995</c:v>
                </c:pt>
                <c:pt idx="5">
                  <c:v>492.2</c:v>
                </c:pt>
                <c:pt idx="6">
                  <c:v>465.31</c:v>
                </c:pt>
                <c:pt idx="7">
                  <c:v>435.91</c:v>
                </c:pt>
                <c:pt idx="8">
                  <c:v>428.67</c:v>
                </c:pt>
                <c:pt idx="9">
                  <c:v>379.35</c:v>
                </c:pt>
                <c:pt idx="10">
                  <c:v>376.11</c:v>
                </c:pt>
                <c:pt idx="11">
                  <c:v>350.92</c:v>
                </c:pt>
                <c:pt idx="12">
                  <c:v>329.73</c:v>
                </c:pt>
                <c:pt idx="13">
                  <c:v>281.61</c:v>
                </c:pt>
                <c:pt idx="14">
                  <c:v>209.04</c:v>
                </c:pt>
                <c:pt idx="15">
                  <c:v>194.4</c:v>
                </c:pt>
                <c:pt idx="16">
                  <c:v>181.59</c:v>
                </c:pt>
                <c:pt idx="17">
                  <c:v>180.02</c:v>
                </c:pt>
                <c:pt idx="18">
                  <c:v>170.7</c:v>
                </c:pt>
                <c:pt idx="19">
                  <c:v>161.80000000000001</c:v>
                </c:pt>
              </c:numCache>
            </c:numRef>
          </c:val>
          <c:extLst>
            <c:ext xmlns:c16="http://schemas.microsoft.com/office/drawing/2014/chart" uri="{C3380CC4-5D6E-409C-BE32-E72D297353CC}">
              <c16:uniqueId val="{00000000-1743-4E84-AE40-E1B43C71D39D}"/>
            </c:ext>
          </c:extLst>
        </c:ser>
        <c:dLbls>
          <c:dLblPos val="outEnd"/>
          <c:showLegendKey val="0"/>
          <c:showVal val="1"/>
          <c:showCatName val="0"/>
          <c:showSerName val="0"/>
          <c:showPercent val="0"/>
          <c:showBubbleSize val="0"/>
        </c:dLbls>
        <c:gapWidth val="50"/>
        <c:axId val="958658512"/>
        <c:axId val="958659056"/>
      </c:barChart>
      <c:catAx>
        <c:axId val="9586585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200" b="0" i="0" u="none" strike="noStrike" kern="1200" baseline="0">
                <a:solidFill>
                  <a:schemeClr val="tx1"/>
                </a:solidFill>
                <a:latin typeface="+mn-lt"/>
                <a:ea typeface="+mn-ea"/>
                <a:cs typeface="+mn-cs"/>
              </a:defRPr>
            </a:pPr>
            <a:endParaRPr lang="en-US"/>
          </a:p>
        </c:txPr>
        <c:crossAx val="958659056"/>
        <c:crosses val="autoZero"/>
        <c:auto val="1"/>
        <c:lblAlgn val="ctr"/>
        <c:lblOffset val="100"/>
        <c:noMultiLvlLbl val="0"/>
      </c:catAx>
      <c:valAx>
        <c:axId val="958659056"/>
        <c:scaling>
          <c:orientation val="minMax"/>
        </c:scaling>
        <c:delete val="1"/>
        <c:axPos val="l"/>
        <c:numFmt formatCode="_ * #,##0.0_ ;_ * \-#,##0.0_ ;_ * &quot;-&quot;??_ ;_ @_ " sourceLinked="1"/>
        <c:majorTickMark val="none"/>
        <c:minorTickMark val="none"/>
        <c:tickLblPos val="nextTo"/>
        <c:crossAx val="958658512"/>
        <c:crosses val="autoZero"/>
        <c:crossBetween val="between"/>
      </c:valAx>
      <c:spPr>
        <a:noFill/>
        <a:ln>
          <a:noFill/>
        </a:ln>
        <a:effectLst/>
      </c:spPr>
    </c:plotArea>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userShapes r:id="rId4"/>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C957-4132-9082-10D29171F13E}"/>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C957-4132-9082-10D29171F13E}"/>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C957-4132-9082-10D29171F13E}"/>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C957-4132-9082-10D29171F13E}"/>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C957-4132-9082-10D29171F13E}"/>
              </c:ext>
            </c:extLst>
          </c:dPt>
          <c:cat>
            <c:strRef>
              <c:f>Sheet1!$A$2:$A$6</c:f>
              <c:strCache>
                <c:ptCount val="5"/>
                <c:pt idx="0">
                  <c:v>Region1</c:v>
                </c:pt>
                <c:pt idx="1">
                  <c:v>Region1</c:v>
                </c:pt>
                <c:pt idx="2">
                  <c:v>Region1</c:v>
                </c:pt>
                <c:pt idx="3">
                  <c:v>Region1</c:v>
                </c:pt>
                <c:pt idx="4">
                  <c:v>Region1</c:v>
                </c:pt>
              </c:strCache>
            </c:strRef>
          </c:cat>
          <c:val>
            <c:numRef>
              <c:f>Sheet1!$B$2:$B$6</c:f>
              <c:numCache>
                <c:formatCode>0%</c:formatCode>
                <c:ptCount val="5"/>
                <c:pt idx="0">
                  <c:v>0.2</c:v>
                </c:pt>
                <c:pt idx="1">
                  <c:v>0.2</c:v>
                </c:pt>
                <c:pt idx="2">
                  <c:v>0.2</c:v>
                </c:pt>
                <c:pt idx="3">
                  <c:v>0.2</c:v>
                </c:pt>
                <c:pt idx="4">
                  <c:v>0.2</c:v>
                </c:pt>
              </c:numCache>
            </c:numRef>
          </c:val>
          <c:extLst>
            <c:ext xmlns:c16="http://schemas.microsoft.com/office/drawing/2014/chart" uri="{C3380CC4-5D6E-409C-BE32-E72D297353CC}">
              <c16:uniqueId val="{0000000A-C957-4132-9082-10D29171F13E}"/>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C013-469B-A55F-C87456982C97}"/>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C013-469B-A55F-C87456982C97}"/>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C013-469B-A55F-C87456982C97}"/>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C013-469B-A55F-C87456982C97}"/>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C013-469B-A55F-C87456982C97}"/>
              </c:ext>
            </c:extLst>
          </c:dPt>
          <c:cat>
            <c:strRef>
              <c:f>Sheet1!$A$2:$A$6</c:f>
              <c:strCache>
                <c:ptCount val="5"/>
                <c:pt idx="0">
                  <c:v>Region1</c:v>
                </c:pt>
                <c:pt idx="1">
                  <c:v>Region1</c:v>
                </c:pt>
                <c:pt idx="2">
                  <c:v>Region1</c:v>
                </c:pt>
                <c:pt idx="3">
                  <c:v>Region1</c:v>
                </c:pt>
                <c:pt idx="4">
                  <c:v>Region1</c:v>
                </c:pt>
              </c:strCache>
            </c:strRef>
          </c:cat>
          <c:val>
            <c:numRef>
              <c:f>Sheet1!$B$2:$B$6</c:f>
              <c:numCache>
                <c:formatCode>0%</c:formatCode>
                <c:ptCount val="5"/>
                <c:pt idx="0">
                  <c:v>0.2</c:v>
                </c:pt>
                <c:pt idx="1">
                  <c:v>0.2</c:v>
                </c:pt>
                <c:pt idx="2">
                  <c:v>0.2</c:v>
                </c:pt>
                <c:pt idx="3">
                  <c:v>0.2</c:v>
                </c:pt>
                <c:pt idx="4">
                  <c:v>0.2</c:v>
                </c:pt>
              </c:numCache>
            </c:numRef>
          </c:val>
          <c:extLst>
            <c:ext xmlns:c16="http://schemas.microsoft.com/office/drawing/2014/chart" uri="{C3380CC4-5D6E-409C-BE32-E72D297353CC}">
              <c16:uniqueId val="{0000000A-C013-469B-A55F-C87456982C97}"/>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30B9-4599-A600-52530F52D1F8}"/>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30B9-4599-A600-52530F52D1F8}"/>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30B9-4599-A600-52530F52D1F8}"/>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30B9-4599-A600-52530F52D1F8}"/>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30B9-4599-A600-52530F52D1F8}"/>
              </c:ext>
            </c:extLst>
          </c:dPt>
          <c:cat>
            <c:strRef>
              <c:f>Sheet1!$A$2:$A$6</c:f>
              <c:strCache>
                <c:ptCount val="5"/>
                <c:pt idx="0">
                  <c:v>Region1</c:v>
                </c:pt>
                <c:pt idx="1">
                  <c:v>Region1</c:v>
                </c:pt>
                <c:pt idx="2">
                  <c:v>Region1</c:v>
                </c:pt>
                <c:pt idx="3">
                  <c:v>Region1</c:v>
                </c:pt>
                <c:pt idx="4">
                  <c:v>Region1</c:v>
                </c:pt>
              </c:strCache>
            </c:strRef>
          </c:cat>
          <c:val>
            <c:numRef>
              <c:f>Sheet1!$B$2:$B$6</c:f>
              <c:numCache>
                <c:formatCode>0%</c:formatCode>
                <c:ptCount val="5"/>
                <c:pt idx="0">
                  <c:v>0.2</c:v>
                </c:pt>
                <c:pt idx="1">
                  <c:v>0.2</c:v>
                </c:pt>
                <c:pt idx="2">
                  <c:v>0.2</c:v>
                </c:pt>
                <c:pt idx="3">
                  <c:v>0.2</c:v>
                </c:pt>
                <c:pt idx="4">
                  <c:v>0.2</c:v>
                </c:pt>
              </c:numCache>
            </c:numRef>
          </c:val>
          <c:extLst>
            <c:ext xmlns:c16="http://schemas.microsoft.com/office/drawing/2014/chart" uri="{C3380CC4-5D6E-409C-BE32-E72D297353CC}">
              <c16:uniqueId val="{0000000A-30B9-4599-A600-52530F52D1F8}"/>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4985183971886769"/>
          <c:y val="7.2818633647212749E-2"/>
          <c:w val="0.49236005423794332"/>
          <c:h val="0.56195812798252764"/>
        </c:manualLayout>
      </c:layout>
      <c:barChart>
        <c:barDir val="col"/>
        <c:grouping val="clustered"/>
        <c:varyColors val="0"/>
        <c:ser>
          <c:idx val="0"/>
          <c:order val="0"/>
          <c:tx>
            <c:strRef>
              <c:f>Sheet1!$B$1</c:f>
              <c:strCache>
                <c:ptCount val="1"/>
                <c:pt idx="0">
                  <c:v>Region 1</c:v>
                </c:pt>
              </c:strCache>
            </c:strRef>
          </c:tx>
          <c:spPr>
            <a:solidFill>
              <a:schemeClr val="accent1"/>
            </a:solidFill>
            <a:ln>
              <a:noFill/>
            </a:ln>
            <a:effectLst/>
          </c:spPr>
          <c:invertIfNegative val="0"/>
          <c:dPt>
            <c:idx val="0"/>
            <c:invertIfNegative val="0"/>
            <c:bubble3D val="0"/>
            <c:spPr>
              <a:solidFill>
                <a:srgbClr val="B2A880"/>
              </a:solidFill>
              <a:ln>
                <a:noFill/>
              </a:ln>
              <a:effectLst/>
            </c:spPr>
            <c:extLst>
              <c:ext xmlns:c16="http://schemas.microsoft.com/office/drawing/2014/chart" uri="{C3380CC4-5D6E-409C-BE32-E72D297353CC}">
                <c16:uniqueId val="{00000001-E1C1-4A46-9D70-834F5733FBCE}"/>
              </c:ext>
            </c:extLst>
          </c:dPt>
          <c:dPt>
            <c:idx val="1"/>
            <c:invertIfNegative val="0"/>
            <c:bubble3D val="0"/>
            <c:spPr>
              <a:solidFill>
                <a:srgbClr val="F2C545"/>
              </a:solidFill>
              <a:ln>
                <a:noFill/>
              </a:ln>
              <a:effectLst/>
            </c:spPr>
            <c:extLst>
              <c:ext xmlns:c16="http://schemas.microsoft.com/office/drawing/2014/chart" uri="{C3380CC4-5D6E-409C-BE32-E72D297353CC}">
                <c16:uniqueId val="{00000003-E1C1-4A46-9D70-834F5733FBCE}"/>
              </c:ext>
            </c:extLst>
          </c:dPt>
          <c:dPt>
            <c:idx val="2"/>
            <c:invertIfNegative val="0"/>
            <c:bubble3D val="0"/>
            <c:spPr>
              <a:solidFill>
                <a:srgbClr val="D8341E"/>
              </a:solidFill>
              <a:ln>
                <a:noFill/>
              </a:ln>
              <a:effectLst/>
            </c:spPr>
            <c:extLst>
              <c:ext xmlns:c16="http://schemas.microsoft.com/office/drawing/2014/chart" uri="{C3380CC4-5D6E-409C-BE32-E72D297353CC}">
                <c16:uniqueId val="{00000005-E1C1-4A46-9D70-834F5733FBCE}"/>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Sheet1!$A$2:$A$4</c:f>
              <c:numCache>
                <c:formatCode>General</c:formatCode>
                <c:ptCount val="3"/>
                <c:pt idx="0">
                  <c:v>2012</c:v>
                </c:pt>
                <c:pt idx="1">
                  <c:v>2016</c:v>
                </c:pt>
                <c:pt idx="2">
                  <c:v>2023</c:v>
                </c:pt>
              </c:numCache>
            </c:numRef>
          </c:cat>
          <c:val>
            <c:numRef>
              <c:f>Sheet1!$B$2:$B$4</c:f>
              <c:numCache>
                <c:formatCode>General</c:formatCode>
                <c:ptCount val="3"/>
                <c:pt idx="0" formatCode="#,##0">
                  <c:v>355</c:v>
                </c:pt>
                <c:pt idx="1">
                  <c:v>359.8</c:v>
                </c:pt>
                <c:pt idx="2">
                  <c:v>367.6</c:v>
                </c:pt>
              </c:numCache>
            </c:numRef>
          </c:val>
          <c:extLst>
            <c:ext xmlns:c16="http://schemas.microsoft.com/office/drawing/2014/chart" uri="{C3380CC4-5D6E-409C-BE32-E72D297353CC}">
              <c16:uniqueId val="{00000006-E1C1-4A46-9D70-834F5733FBCE}"/>
            </c:ext>
          </c:extLst>
        </c:ser>
        <c:dLbls>
          <c:showLegendKey val="0"/>
          <c:showVal val="0"/>
          <c:showCatName val="0"/>
          <c:showSerName val="0"/>
          <c:showPercent val="0"/>
          <c:showBubbleSize val="0"/>
        </c:dLbls>
        <c:gapWidth val="100"/>
        <c:overlap val="-27"/>
        <c:axId val="958668848"/>
        <c:axId val="958660688"/>
      </c:barChart>
      <c:catAx>
        <c:axId val="95866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958660688"/>
        <c:crosses val="autoZero"/>
        <c:auto val="1"/>
        <c:lblAlgn val="ctr"/>
        <c:lblOffset val="100"/>
        <c:noMultiLvlLbl val="0"/>
      </c:catAx>
      <c:valAx>
        <c:axId val="958660688"/>
        <c:scaling>
          <c:orientation val="minMax"/>
        </c:scaling>
        <c:delete val="1"/>
        <c:axPos val="l"/>
        <c:numFmt formatCode="#,##0" sourceLinked="1"/>
        <c:majorTickMark val="none"/>
        <c:minorTickMark val="none"/>
        <c:tickLblPos val="nextTo"/>
        <c:crossAx val="958668848"/>
        <c:crosses val="autoZero"/>
        <c:crossBetween val="between"/>
      </c:valAx>
      <c:spPr>
        <a:noFill/>
        <a:ln>
          <a:noFill/>
        </a:ln>
        <a:effectLst/>
      </c:spPr>
    </c:plotArea>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4985183971886769"/>
          <c:y val="7.2818633647212749E-2"/>
          <c:w val="0.49236005423794332"/>
          <c:h val="0.56195812798252764"/>
        </c:manualLayout>
      </c:layout>
      <c:barChart>
        <c:barDir val="col"/>
        <c:grouping val="clustered"/>
        <c:varyColors val="0"/>
        <c:ser>
          <c:idx val="0"/>
          <c:order val="0"/>
          <c:tx>
            <c:strRef>
              <c:f>Sheet1!$B$1</c:f>
              <c:strCache>
                <c:ptCount val="1"/>
                <c:pt idx="0">
                  <c:v>Region 1</c:v>
                </c:pt>
              </c:strCache>
            </c:strRef>
          </c:tx>
          <c:spPr>
            <a:solidFill>
              <a:schemeClr val="accent1"/>
            </a:solidFill>
            <a:ln>
              <a:noFill/>
            </a:ln>
            <a:effectLst/>
          </c:spPr>
          <c:invertIfNegative val="0"/>
          <c:dPt>
            <c:idx val="0"/>
            <c:invertIfNegative val="0"/>
            <c:bubble3D val="0"/>
            <c:spPr>
              <a:solidFill>
                <a:srgbClr val="B2A880"/>
              </a:solidFill>
              <a:ln>
                <a:noFill/>
              </a:ln>
              <a:effectLst/>
            </c:spPr>
            <c:extLst>
              <c:ext xmlns:c16="http://schemas.microsoft.com/office/drawing/2014/chart" uri="{C3380CC4-5D6E-409C-BE32-E72D297353CC}">
                <c16:uniqueId val="{00000001-C013-4514-BEFE-00309DA91DF5}"/>
              </c:ext>
            </c:extLst>
          </c:dPt>
          <c:dPt>
            <c:idx val="1"/>
            <c:invertIfNegative val="0"/>
            <c:bubble3D val="0"/>
            <c:spPr>
              <a:solidFill>
                <a:srgbClr val="F2C545"/>
              </a:solidFill>
              <a:ln>
                <a:noFill/>
              </a:ln>
              <a:effectLst/>
            </c:spPr>
            <c:extLst>
              <c:ext xmlns:c16="http://schemas.microsoft.com/office/drawing/2014/chart" uri="{C3380CC4-5D6E-409C-BE32-E72D297353CC}">
                <c16:uniqueId val="{00000003-C013-4514-BEFE-00309DA91DF5}"/>
              </c:ext>
            </c:extLst>
          </c:dPt>
          <c:dPt>
            <c:idx val="2"/>
            <c:invertIfNegative val="0"/>
            <c:bubble3D val="0"/>
            <c:spPr>
              <a:solidFill>
                <a:srgbClr val="D8341E"/>
              </a:solidFill>
              <a:ln>
                <a:noFill/>
              </a:ln>
              <a:effectLst/>
            </c:spPr>
            <c:extLst>
              <c:ext xmlns:c16="http://schemas.microsoft.com/office/drawing/2014/chart" uri="{C3380CC4-5D6E-409C-BE32-E72D297353CC}">
                <c16:uniqueId val="{00000005-C013-4514-BEFE-00309DA91DF5}"/>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Sheet1!$A$2:$A$4</c:f>
              <c:numCache>
                <c:formatCode>General</c:formatCode>
                <c:ptCount val="3"/>
                <c:pt idx="0">
                  <c:v>2012</c:v>
                </c:pt>
                <c:pt idx="1">
                  <c:v>2016</c:v>
                </c:pt>
                <c:pt idx="2">
                  <c:v>2023</c:v>
                </c:pt>
              </c:numCache>
            </c:numRef>
          </c:cat>
          <c:val>
            <c:numRef>
              <c:f>Sheet1!$B$2:$B$4</c:f>
              <c:numCache>
                <c:formatCode>General</c:formatCode>
                <c:ptCount val="3"/>
                <c:pt idx="0">
                  <c:v>617</c:v>
                </c:pt>
                <c:pt idx="1">
                  <c:v>640.20000000000005</c:v>
                </c:pt>
                <c:pt idx="2">
                  <c:v>677.90000000000009</c:v>
                </c:pt>
              </c:numCache>
            </c:numRef>
          </c:val>
          <c:extLst>
            <c:ext xmlns:c16="http://schemas.microsoft.com/office/drawing/2014/chart" uri="{C3380CC4-5D6E-409C-BE32-E72D297353CC}">
              <c16:uniqueId val="{00000006-C013-4514-BEFE-00309DA91DF5}"/>
            </c:ext>
          </c:extLst>
        </c:ser>
        <c:dLbls>
          <c:showLegendKey val="0"/>
          <c:showVal val="0"/>
          <c:showCatName val="0"/>
          <c:showSerName val="0"/>
          <c:showPercent val="0"/>
          <c:showBubbleSize val="0"/>
        </c:dLbls>
        <c:gapWidth val="100"/>
        <c:overlap val="-27"/>
        <c:axId val="958662320"/>
        <c:axId val="958662864"/>
      </c:barChart>
      <c:catAx>
        <c:axId val="9586623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958662864"/>
        <c:crosses val="autoZero"/>
        <c:auto val="1"/>
        <c:lblAlgn val="ctr"/>
        <c:lblOffset val="100"/>
        <c:noMultiLvlLbl val="0"/>
      </c:catAx>
      <c:valAx>
        <c:axId val="958662864"/>
        <c:scaling>
          <c:orientation val="minMax"/>
        </c:scaling>
        <c:delete val="1"/>
        <c:axPos val="l"/>
        <c:numFmt formatCode="General" sourceLinked="1"/>
        <c:majorTickMark val="none"/>
        <c:minorTickMark val="none"/>
        <c:tickLblPos val="nextTo"/>
        <c:crossAx val="958662320"/>
        <c:crosses val="autoZero"/>
        <c:crossBetween val="between"/>
      </c:valAx>
      <c:spPr>
        <a:noFill/>
        <a:ln>
          <a:noFill/>
        </a:ln>
        <a:effectLst/>
      </c:spPr>
    </c:plotArea>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4985183971886769"/>
          <c:y val="7.2818633647212749E-2"/>
          <c:w val="0.49236005423794332"/>
          <c:h val="0.56195812798252764"/>
        </c:manualLayout>
      </c:layout>
      <c:barChart>
        <c:barDir val="col"/>
        <c:grouping val="clustered"/>
        <c:varyColors val="0"/>
        <c:ser>
          <c:idx val="0"/>
          <c:order val="0"/>
          <c:tx>
            <c:strRef>
              <c:f>Sheet1!$B$1</c:f>
              <c:strCache>
                <c:ptCount val="1"/>
                <c:pt idx="0">
                  <c:v>Region 1</c:v>
                </c:pt>
              </c:strCache>
            </c:strRef>
          </c:tx>
          <c:spPr>
            <a:solidFill>
              <a:schemeClr val="accent1"/>
            </a:solidFill>
            <a:ln>
              <a:noFill/>
            </a:ln>
            <a:effectLst/>
          </c:spPr>
          <c:invertIfNegative val="0"/>
          <c:dPt>
            <c:idx val="0"/>
            <c:invertIfNegative val="0"/>
            <c:bubble3D val="0"/>
            <c:spPr>
              <a:solidFill>
                <a:srgbClr val="B2A880"/>
              </a:solidFill>
              <a:ln>
                <a:noFill/>
              </a:ln>
              <a:effectLst/>
            </c:spPr>
            <c:extLst>
              <c:ext xmlns:c16="http://schemas.microsoft.com/office/drawing/2014/chart" uri="{C3380CC4-5D6E-409C-BE32-E72D297353CC}">
                <c16:uniqueId val="{00000001-7914-407E-AE1E-02128B8E0CDA}"/>
              </c:ext>
            </c:extLst>
          </c:dPt>
          <c:dPt>
            <c:idx val="1"/>
            <c:invertIfNegative val="0"/>
            <c:bubble3D val="0"/>
            <c:spPr>
              <a:solidFill>
                <a:srgbClr val="F2C545"/>
              </a:solidFill>
              <a:ln>
                <a:noFill/>
              </a:ln>
              <a:effectLst/>
            </c:spPr>
            <c:extLst>
              <c:ext xmlns:c16="http://schemas.microsoft.com/office/drawing/2014/chart" uri="{C3380CC4-5D6E-409C-BE32-E72D297353CC}">
                <c16:uniqueId val="{00000003-7914-407E-AE1E-02128B8E0CDA}"/>
              </c:ext>
            </c:extLst>
          </c:dPt>
          <c:dPt>
            <c:idx val="2"/>
            <c:invertIfNegative val="0"/>
            <c:bubble3D val="0"/>
            <c:spPr>
              <a:solidFill>
                <a:srgbClr val="D8341E"/>
              </a:solidFill>
              <a:ln>
                <a:noFill/>
              </a:ln>
              <a:effectLst/>
            </c:spPr>
            <c:extLst>
              <c:ext xmlns:c16="http://schemas.microsoft.com/office/drawing/2014/chart" uri="{C3380CC4-5D6E-409C-BE32-E72D297353CC}">
                <c16:uniqueId val="{00000005-7914-407E-AE1E-02128B8E0CDA}"/>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Sheet1!$A$2:$A$4</c:f>
              <c:numCache>
                <c:formatCode>General</c:formatCode>
                <c:ptCount val="3"/>
                <c:pt idx="0">
                  <c:v>2012</c:v>
                </c:pt>
                <c:pt idx="1">
                  <c:v>2016</c:v>
                </c:pt>
                <c:pt idx="2">
                  <c:v>2023</c:v>
                </c:pt>
              </c:numCache>
            </c:numRef>
          </c:cat>
          <c:val>
            <c:numRef>
              <c:f>Sheet1!$B$2:$B$4</c:f>
              <c:numCache>
                <c:formatCode>General</c:formatCode>
                <c:ptCount val="3"/>
                <c:pt idx="0">
                  <c:v>1330</c:v>
                </c:pt>
                <c:pt idx="1">
                  <c:v>1441.2</c:v>
                </c:pt>
                <c:pt idx="2">
                  <c:v>1621.9</c:v>
                </c:pt>
              </c:numCache>
            </c:numRef>
          </c:val>
          <c:extLst>
            <c:ext xmlns:c16="http://schemas.microsoft.com/office/drawing/2014/chart" uri="{C3380CC4-5D6E-409C-BE32-E72D297353CC}">
              <c16:uniqueId val="{00000006-7914-407E-AE1E-02128B8E0CDA}"/>
            </c:ext>
          </c:extLst>
        </c:ser>
        <c:dLbls>
          <c:showLegendKey val="0"/>
          <c:showVal val="0"/>
          <c:showCatName val="0"/>
          <c:showSerName val="0"/>
          <c:showPercent val="0"/>
          <c:showBubbleSize val="0"/>
        </c:dLbls>
        <c:gapWidth val="100"/>
        <c:overlap val="-27"/>
        <c:axId val="958663952"/>
        <c:axId val="958664496"/>
      </c:barChart>
      <c:catAx>
        <c:axId val="9586639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958664496"/>
        <c:crosses val="autoZero"/>
        <c:auto val="1"/>
        <c:lblAlgn val="ctr"/>
        <c:lblOffset val="100"/>
        <c:noMultiLvlLbl val="0"/>
      </c:catAx>
      <c:valAx>
        <c:axId val="958664496"/>
        <c:scaling>
          <c:orientation val="minMax"/>
        </c:scaling>
        <c:delete val="1"/>
        <c:axPos val="l"/>
        <c:numFmt formatCode="General" sourceLinked="1"/>
        <c:majorTickMark val="none"/>
        <c:minorTickMark val="none"/>
        <c:tickLblPos val="nextTo"/>
        <c:crossAx val="958663952"/>
        <c:crosses val="autoZero"/>
        <c:crossBetween val="between"/>
      </c:valAx>
      <c:spPr>
        <a:noFill/>
        <a:ln>
          <a:noFill/>
        </a:ln>
        <a:effectLst/>
      </c:spPr>
    </c:plotArea>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4985183971886769"/>
          <c:y val="7.2818633647212749E-2"/>
          <c:w val="0.49236005423794332"/>
          <c:h val="0.56195812798252764"/>
        </c:manualLayout>
      </c:layout>
      <c:barChart>
        <c:barDir val="col"/>
        <c:grouping val="clustered"/>
        <c:varyColors val="0"/>
        <c:ser>
          <c:idx val="0"/>
          <c:order val="0"/>
          <c:tx>
            <c:strRef>
              <c:f>Sheet1!$B$1</c:f>
              <c:strCache>
                <c:ptCount val="1"/>
                <c:pt idx="0">
                  <c:v>Region 1</c:v>
                </c:pt>
              </c:strCache>
            </c:strRef>
          </c:tx>
          <c:spPr>
            <a:solidFill>
              <a:schemeClr val="accent1"/>
            </a:solidFill>
            <a:ln>
              <a:noFill/>
            </a:ln>
            <a:effectLst/>
          </c:spPr>
          <c:invertIfNegative val="0"/>
          <c:dPt>
            <c:idx val="0"/>
            <c:invertIfNegative val="0"/>
            <c:bubble3D val="0"/>
            <c:spPr>
              <a:solidFill>
                <a:srgbClr val="B2A880"/>
              </a:solidFill>
              <a:ln>
                <a:noFill/>
              </a:ln>
              <a:effectLst/>
            </c:spPr>
            <c:extLst>
              <c:ext xmlns:c16="http://schemas.microsoft.com/office/drawing/2014/chart" uri="{C3380CC4-5D6E-409C-BE32-E72D297353CC}">
                <c16:uniqueId val="{00000001-D4B6-467B-B268-3D4E33EBCC68}"/>
              </c:ext>
            </c:extLst>
          </c:dPt>
          <c:dPt>
            <c:idx val="1"/>
            <c:invertIfNegative val="0"/>
            <c:bubble3D val="0"/>
            <c:spPr>
              <a:solidFill>
                <a:srgbClr val="F2C545"/>
              </a:solidFill>
              <a:ln>
                <a:noFill/>
              </a:ln>
              <a:effectLst/>
            </c:spPr>
            <c:extLst>
              <c:ext xmlns:c16="http://schemas.microsoft.com/office/drawing/2014/chart" uri="{C3380CC4-5D6E-409C-BE32-E72D297353CC}">
                <c16:uniqueId val="{00000003-D4B6-467B-B268-3D4E33EBCC68}"/>
              </c:ext>
            </c:extLst>
          </c:dPt>
          <c:dPt>
            <c:idx val="2"/>
            <c:invertIfNegative val="0"/>
            <c:bubble3D val="0"/>
            <c:spPr>
              <a:solidFill>
                <a:srgbClr val="D8341E"/>
              </a:solidFill>
              <a:ln>
                <a:noFill/>
              </a:ln>
              <a:effectLst/>
            </c:spPr>
            <c:extLst>
              <c:ext xmlns:c16="http://schemas.microsoft.com/office/drawing/2014/chart" uri="{C3380CC4-5D6E-409C-BE32-E72D297353CC}">
                <c16:uniqueId val="{00000005-D4B6-467B-B268-3D4E33EBCC68}"/>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Sheet1!$A$2:$A$4</c:f>
              <c:numCache>
                <c:formatCode>General</c:formatCode>
                <c:ptCount val="3"/>
                <c:pt idx="0">
                  <c:v>2012</c:v>
                </c:pt>
                <c:pt idx="1">
                  <c:v>2016</c:v>
                </c:pt>
                <c:pt idx="2">
                  <c:v>2023</c:v>
                </c:pt>
              </c:numCache>
            </c:numRef>
          </c:cat>
          <c:val>
            <c:numRef>
              <c:f>Sheet1!$B$2:$B$4</c:f>
              <c:numCache>
                <c:formatCode>General</c:formatCode>
                <c:ptCount val="3"/>
                <c:pt idx="0">
                  <c:v>738</c:v>
                </c:pt>
                <c:pt idx="1">
                  <c:v>741.2</c:v>
                </c:pt>
                <c:pt idx="2">
                  <c:v>746.40000000000009</c:v>
                </c:pt>
              </c:numCache>
            </c:numRef>
          </c:val>
          <c:extLst>
            <c:ext xmlns:c16="http://schemas.microsoft.com/office/drawing/2014/chart" uri="{C3380CC4-5D6E-409C-BE32-E72D297353CC}">
              <c16:uniqueId val="{00000006-D4B6-467B-B268-3D4E33EBCC68}"/>
            </c:ext>
          </c:extLst>
        </c:ser>
        <c:dLbls>
          <c:showLegendKey val="0"/>
          <c:showVal val="0"/>
          <c:showCatName val="0"/>
          <c:showSerName val="0"/>
          <c:showPercent val="0"/>
          <c:showBubbleSize val="0"/>
        </c:dLbls>
        <c:gapWidth val="100"/>
        <c:overlap val="-27"/>
        <c:axId val="958665040"/>
        <c:axId val="958666672"/>
      </c:barChart>
      <c:catAx>
        <c:axId val="9586650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958666672"/>
        <c:crosses val="autoZero"/>
        <c:auto val="1"/>
        <c:lblAlgn val="ctr"/>
        <c:lblOffset val="100"/>
        <c:noMultiLvlLbl val="0"/>
      </c:catAx>
      <c:valAx>
        <c:axId val="958666672"/>
        <c:scaling>
          <c:orientation val="minMax"/>
        </c:scaling>
        <c:delete val="1"/>
        <c:axPos val="l"/>
        <c:numFmt formatCode="General" sourceLinked="1"/>
        <c:majorTickMark val="none"/>
        <c:minorTickMark val="none"/>
        <c:tickLblPos val="nextTo"/>
        <c:crossAx val="958665040"/>
        <c:crosses val="autoZero"/>
        <c:crossBetween val="between"/>
      </c:valAx>
      <c:spPr>
        <a:noFill/>
        <a:ln>
          <a:noFill/>
        </a:ln>
        <a:effectLst/>
      </c:spPr>
    </c:plotArea>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4985183971886769"/>
          <c:y val="7.2818633647212749E-2"/>
          <c:w val="0.49236005423794332"/>
          <c:h val="0.56195812798252764"/>
        </c:manualLayout>
      </c:layout>
      <c:barChart>
        <c:barDir val="col"/>
        <c:grouping val="clustered"/>
        <c:varyColors val="0"/>
        <c:ser>
          <c:idx val="0"/>
          <c:order val="0"/>
          <c:tx>
            <c:strRef>
              <c:f>Sheet1!$B$1</c:f>
              <c:strCache>
                <c:ptCount val="1"/>
                <c:pt idx="0">
                  <c:v>Region 1</c:v>
                </c:pt>
              </c:strCache>
            </c:strRef>
          </c:tx>
          <c:spPr>
            <a:solidFill>
              <a:schemeClr val="accent1"/>
            </a:solidFill>
            <a:ln>
              <a:noFill/>
            </a:ln>
            <a:effectLst/>
          </c:spPr>
          <c:invertIfNegative val="0"/>
          <c:dPt>
            <c:idx val="0"/>
            <c:invertIfNegative val="0"/>
            <c:bubble3D val="0"/>
            <c:spPr>
              <a:solidFill>
                <a:srgbClr val="B2A880"/>
              </a:solidFill>
              <a:ln>
                <a:noFill/>
              </a:ln>
              <a:effectLst/>
            </c:spPr>
            <c:extLst>
              <c:ext xmlns:c16="http://schemas.microsoft.com/office/drawing/2014/chart" uri="{C3380CC4-5D6E-409C-BE32-E72D297353CC}">
                <c16:uniqueId val="{00000001-178B-4F0A-B15F-42718D2076A5}"/>
              </c:ext>
            </c:extLst>
          </c:dPt>
          <c:dPt>
            <c:idx val="1"/>
            <c:invertIfNegative val="0"/>
            <c:bubble3D val="0"/>
            <c:spPr>
              <a:solidFill>
                <a:srgbClr val="F2C545"/>
              </a:solidFill>
              <a:ln>
                <a:noFill/>
              </a:ln>
              <a:effectLst/>
            </c:spPr>
            <c:extLst>
              <c:ext xmlns:c16="http://schemas.microsoft.com/office/drawing/2014/chart" uri="{C3380CC4-5D6E-409C-BE32-E72D297353CC}">
                <c16:uniqueId val="{00000003-178B-4F0A-B15F-42718D2076A5}"/>
              </c:ext>
            </c:extLst>
          </c:dPt>
          <c:dPt>
            <c:idx val="2"/>
            <c:invertIfNegative val="0"/>
            <c:bubble3D val="0"/>
            <c:spPr>
              <a:solidFill>
                <a:srgbClr val="D8341E"/>
              </a:solidFill>
              <a:ln>
                <a:noFill/>
              </a:ln>
              <a:effectLst/>
            </c:spPr>
            <c:extLst>
              <c:ext xmlns:c16="http://schemas.microsoft.com/office/drawing/2014/chart" uri="{C3380CC4-5D6E-409C-BE32-E72D297353CC}">
                <c16:uniqueId val="{00000005-178B-4F0A-B15F-42718D2076A5}"/>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Sheet1!$A$2:$A$4</c:f>
              <c:numCache>
                <c:formatCode>General</c:formatCode>
                <c:ptCount val="3"/>
                <c:pt idx="0">
                  <c:v>2012</c:v>
                </c:pt>
                <c:pt idx="1">
                  <c:v>2016</c:v>
                </c:pt>
                <c:pt idx="2">
                  <c:v>2023</c:v>
                </c:pt>
              </c:numCache>
            </c:numRef>
          </c:cat>
          <c:val>
            <c:numRef>
              <c:f>Sheet1!$B$2:$B$4</c:f>
              <c:numCache>
                <c:formatCode>General</c:formatCode>
                <c:ptCount val="3"/>
                <c:pt idx="0">
                  <c:v>4118</c:v>
                </c:pt>
                <c:pt idx="1">
                  <c:v>4289.2</c:v>
                </c:pt>
                <c:pt idx="2">
                  <c:v>4567.3999999999996</c:v>
                </c:pt>
              </c:numCache>
            </c:numRef>
          </c:val>
          <c:extLst>
            <c:ext xmlns:c16="http://schemas.microsoft.com/office/drawing/2014/chart" uri="{C3380CC4-5D6E-409C-BE32-E72D297353CC}">
              <c16:uniqueId val="{00000006-178B-4F0A-B15F-42718D2076A5}"/>
            </c:ext>
          </c:extLst>
        </c:ser>
        <c:dLbls>
          <c:showLegendKey val="0"/>
          <c:showVal val="0"/>
          <c:showCatName val="0"/>
          <c:showSerName val="0"/>
          <c:showPercent val="0"/>
          <c:showBubbleSize val="0"/>
        </c:dLbls>
        <c:gapWidth val="100"/>
        <c:overlap val="-27"/>
        <c:axId val="958669392"/>
        <c:axId val="958693328"/>
      </c:barChart>
      <c:catAx>
        <c:axId val="95866939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958693328"/>
        <c:crosses val="autoZero"/>
        <c:auto val="1"/>
        <c:lblAlgn val="ctr"/>
        <c:lblOffset val="100"/>
        <c:noMultiLvlLbl val="0"/>
      </c:catAx>
      <c:valAx>
        <c:axId val="958693328"/>
        <c:scaling>
          <c:orientation val="minMax"/>
        </c:scaling>
        <c:delete val="1"/>
        <c:axPos val="l"/>
        <c:numFmt formatCode="General" sourceLinked="1"/>
        <c:majorTickMark val="none"/>
        <c:minorTickMark val="none"/>
        <c:tickLblPos val="nextTo"/>
        <c:crossAx val="958669392"/>
        <c:crosses val="autoZero"/>
        <c:crossBetween val="between"/>
      </c:valAx>
      <c:spPr>
        <a:noFill/>
        <a:ln>
          <a:noFill/>
        </a:ln>
        <a:effectLst/>
      </c:spPr>
    </c:plotArea>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8355072636507917E-2"/>
          <c:y val="9.1091515664680253E-2"/>
          <c:w val="0.79202428122683488"/>
          <c:h val="0.80649729486833266"/>
        </c:manualLayout>
      </c:layout>
      <c:barChart>
        <c:barDir val="col"/>
        <c:grouping val="stacked"/>
        <c:varyColors val="0"/>
        <c:ser>
          <c:idx val="2"/>
          <c:order val="0"/>
          <c:tx>
            <c:strRef>
              <c:f>'Slide 2'!$B$31</c:f>
              <c:strCache>
                <c:ptCount val="1"/>
                <c:pt idx="0">
                  <c:v>OECD Americas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'Slide 2'!$C$30:$K$30</c:f>
              <c:numCache>
                <c:formatCode>General</c:formatCode>
                <c:ptCount val="9"/>
                <c:pt idx="0">
                  <c:v>1990</c:v>
                </c:pt>
                <c:pt idx="1">
                  <c:v>1995</c:v>
                </c:pt>
                <c:pt idx="2">
                  <c:v>2010</c:v>
                </c:pt>
                <c:pt idx="3">
                  <c:v>2015</c:v>
                </c:pt>
                <c:pt idx="4">
                  <c:v>2020</c:v>
                </c:pt>
                <c:pt idx="5">
                  <c:v>2025</c:v>
                </c:pt>
                <c:pt idx="6">
                  <c:v>2030</c:v>
                </c:pt>
                <c:pt idx="7">
                  <c:v>2035</c:v>
                </c:pt>
                <c:pt idx="8">
                  <c:v>2040</c:v>
                </c:pt>
              </c:numCache>
            </c:numRef>
          </c:cat>
          <c:val>
            <c:numRef>
              <c:f>'Slide 2'!$C$31:$K$31</c:f>
              <c:numCache>
                <c:formatCode>0.0</c:formatCode>
                <c:ptCount val="9"/>
                <c:pt idx="0">
                  <c:v>20.503299999999999</c:v>
                </c:pt>
                <c:pt idx="1">
                  <c:v>21.626799999999999</c:v>
                </c:pt>
                <c:pt idx="2">
                  <c:v>23.9986</c:v>
                </c:pt>
                <c:pt idx="3">
                  <c:v>24.302099999999999</c:v>
                </c:pt>
                <c:pt idx="4">
                  <c:v>24.701899999999998</c:v>
                </c:pt>
                <c:pt idx="5">
                  <c:v>24.329000000000001</c:v>
                </c:pt>
                <c:pt idx="6">
                  <c:v>23.719000000000001</c:v>
                </c:pt>
                <c:pt idx="7">
                  <c:v>23.666</c:v>
                </c:pt>
                <c:pt idx="8">
                  <c:v>24.144400000000001</c:v>
                </c:pt>
              </c:numCache>
            </c:numRef>
          </c:val>
          <c:extLst>
            <c:ext xmlns:c16="http://schemas.microsoft.com/office/drawing/2014/chart" uri="{C3380CC4-5D6E-409C-BE32-E72D297353CC}">
              <c16:uniqueId val="{00000000-4ABD-44AF-A47D-405243651DB9}"/>
            </c:ext>
          </c:extLst>
        </c:ser>
        <c:ser>
          <c:idx val="3"/>
          <c:order val="1"/>
          <c:tx>
            <c:strRef>
              <c:f>'Slide 2'!$B$32</c:f>
              <c:strCache>
                <c:ptCount val="1"/>
                <c:pt idx="0">
                  <c:v>OECD Europe</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'Slide 2'!$C$30:$K$30</c:f>
              <c:numCache>
                <c:formatCode>General</c:formatCode>
                <c:ptCount val="9"/>
                <c:pt idx="0">
                  <c:v>1990</c:v>
                </c:pt>
                <c:pt idx="1">
                  <c:v>1995</c:v>
                </c:pt>
                <c:pt idx="2">
                  <c:v>2010</c:v>
                </c:pt>
                <c:pt idx="3">
                  <c:v>2015</c:v>
                </c:pt>
                <c:pt idx="4">
                  <c:v>2020</c:v>
                </c:pt>
                <c:pt idx="5">
                  <c:v>2025</c:v>
                </c:pt>
                <c:pt idx="6">
                  <c:v>2030</c:v>
                </c:pt>
                <c:pt idx="7">
                  <c:v>2035</c:v>
                </c:pt>
                <c:pt idx="8">
                  <c:v>2040</c:v>
                </c:pt>
              </c:numCache>
            </c:numRef>
          </c:cat>
          <c:val>
            <c:numRef>
              <c:f>'Slide 2'!$C$32:$K$32</c:f>
              <c:numCache>
                <c:formatCode>0.0</c:formatCode>
                <c:ptCount val="9"/>
                <c:pt idx="0">
                  <c:v>13.9453</c:v>
                </c:pt>
                <c:pt idx="1">
                  <c:v>15.011799999999999</c:v>
                </c:pt>
                <c:pt idx="2">
                  <c:v>15.301</c:v>
                </c:pt>
                <c:pt idx="3">
                  <c:v>14.0227</c:v>
                </c:pt>
                <c:pt idx="4">
                  <c:v>13.9169</c:v>
                </c:pt>
                <c:pt idx="5">
                  <c:v>13.2912</c:v>
                </c:pt>
                <c:pt idx="6">
                  <c:v>13.100099999999999</c:v>
                </c:pt>
                <c:pt idx="7">
                  <c:v>13.005699999999999</c:v>
                </c:pt>
                <c:pt idx="8">
                  <c:v>12.9368</c:v>
                </c:pt>
              </c:numCache>
            </c:numRef>
          </c:val>
          <c:extLst>
            <c:ext xmlns:c16="http://schemas.microsoft.com/office/drawing/2014/chart" uri="{C3380CC4-5D6E-409C-BE32-E72D297353CC}">
              <c16:uniqueId val="{00000001-4ABD-44AF-A47D-405243651DB9}"/>
            </c:ext>
          </c:extLst>
        </c:ser>
        <c:ser>
          <c:idx val="4"/>
          <c:order val="2"/>
          <c:tx>
            <c:strRef>
              <c:f>'Slide 2'!$B$33</c:f>
              <c:strCache>
                <c:ptCount val="1"/>
                <c:pt idx="0">
                  <c:v>OECD Asia</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'Slide 2'!$C$30:$K$30</c:f>
              <c:numCache>
                <c:formatCode>General</c:formatCode>
                <c:ptCount val="9"/>
                <c:pt idx="0">
                  <c:v>1990</c:v>
                </c:pt>
                <c:pt idx="1">
                  <c:v>1995</c:v>
                </c:pt>
                <c:pt idx="2">
                  <c:v>2010</c:v>
                </c:pt>
                <c:pt idx="3">
                  <c:v>2015</c:v>
                </c:pt>
                <c:pt idx="4">
                  <c:v>2020</c:v>
                </c:pt>
                <c:pt idx="5">
                  <c:v>2025</c:v>
                </c:pt>
                <c:pt idx="6">
                  <c:v>2030</c:v>
                </c:pt>
                <c:pt idx="7">
                  <c:v>2035</c:v>
                </c:pt>
                <c:pt idx="8">
                  <c:v>2040</c:v>
                </c:pt>
              </c:numCache>
            </c:numRef>
          </c:cat>
          <c:val>
            <c:numRef>
              <c:f>'Slide 2'!$C$33:$K$33</c:f>
              <c:numCache>
                <c:formatCode>0.0</c:formatCode>
                <c:ptCount val="9"/>
                <c:pt idx="0">
                  <c:v>7.1859999999999999</c:v>
                </c:pt>
                <c:pt idx="1">
                  <c:v>8.6029999999999998</c:v>
                </c:pt>
                <c:pt idx="2">
                  <c:v>7.8019999999999996</c:v>
                </c:pt>
                <c:pt idx="3">
                  <c:v>7.8112000000000004</c:v>
                </c:pt>
                <c:pt idx="4">
                  <c:v>7.4519000000000002</c:v>
                </c:pt>
                <c:pt idx="5">
                  <c:v>7.4333999999999998</c:v>
                </c:pt>
                <c:pt idx="6">
                  <c:v>7.4678000000000004</c:v>
                </c:pt>
                <c:pt idx="7">
                  <c:v>7.5106999999999999</c:v>
                </c:pt>
                <c:pt idx="8">
                  <c:v>7.5796999999999999</c:v>
                </c:pt>
              </c:numCache>
            </c:numRef>
          </c:val>
          <c:extLst>
            <c:ext xmlns:c16="http://schemas.microsoft.com/office/drawing/2014/chart" uri="{C3380CC4-5D6E-409C-BE32-E72D297353CC}">
              <c16:uniqueId val="{00000002-4ABD-44AF-A47D-405243651DB9}"/>
            </c:ext>
          </c:extLst>
        </c:ser>
        <c:ser>
          <c:idx val="6"/>
          <c:order val="3"/>
          <c:tx>
            <c:strRef>
              <c:f>'Slide 2'!$B$34</c:f>
              <c:strCache>
                <c:ptCount val="1"/>
                <c:pt idx="0">
                  <c:v>Non-OECD Asia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'Slide 2'!$C$30:$K$30</c:f>
              <c:numCache>
                <c:formatCode>General</c:formatCode>
                <c:ptCount val="9"/>
                <c:pt idx="0">
                  <c:v>1990</c:v>
                </c:pt>
                <c:pt idx="1">
                  <c:v>1995</c:v>
                </c:pt>
                <c:pt idx="2">
                  <c:v>2010</c:v>
                </c:pt>
                <c:pt idx="3">
                  <c:v>2015</c:v>
                </c:pt>
                <c:pt idx="4">
                  <c:v>2020</c:v>
                </c:pt>
                <c:pt idx="5">
                  <c:v>2025</c:v>
                </c:pt>
                <c:pt idx="6">
                  <c:v>2030</c:v>
                </c:pt>
                <c:pt idx="7">
                  <c:v>2035</c:v>
                </c:pt>
                <c:pt idx="8">
                  <c:v>2040</c:v>
                </c:pt>
              </c:numCache>
            </c:numRef>
          </c:cat>
          <c:val>
            <c:numRef>
              <c:f>'Slide 2'!$C$34:$K$34</c:f>
              <c:numCache>
                <c:formatCode>0.0</c:formatCode>
                <c:ptCount val="9"/>
                <c:pt idx="0">
                  <c:v>6.6098999999999997</c:v>
                </c:pt>
                <c:pt idx="1">
                  <c:v>9.3783999999999992</c:v>
                </c:pt>
                <c:pt idx="2">
                  <c:v>19.943300000000001</c:v>
                </c:pt>
                <c:pt idx="3">
                  <c:v>24.3489</c:v>
                </c:pt>
                <c:pt idx="4">
                  <c:v>27.703600000000002</c:v>
                </c:pt>
                <c:pt idx="5">
                  <c:v>30.803699999999999</c:v>
                </c:pt>
                <c:pt idx="6">
                  <c:v>33.4604</c:v>
                </c:pt>
                <c:pt idx="7">
                  <c:v>36.146599999999999</c:v>
                </c:pt>
                <c:pt idx="8">
                  <c:v>38.958799999999997</c:v>
                </c:pt>
              </c:numCache>
            </c:numRef>
          </c:val>
          <c:extLst>
            <c:ext xmlns:c16="http://schemas.microsoft.com/office/drawing/2014/chart" uri="{C3380CC4-5D6E-409C-BE32-E72D297353CC}">
              <c16:uniqueId val="{00000003-4ABD-44AF-A47D-405243651DB9}"/>
            </c:ext>
          </c:extLst>
        </c:ser>
        <c:ser>
          <c:idx val="7"/>
          <c:order val="4"/>
          <c:tx>
            <c:strRef>
              <c:f>'Slide 2'!$B$35</c:f>
              <c:strCache>
                <c:ptCount val="1"/>
                <c:pt idx="0">
                  <c:v>Non-OECD Americas</c:v>
                </c:pt>
              </c:strCache>
            </c:strRef>
          </c:tx>
          <c:spPr>
            <a:solidFill>
              <a:schemeClr val="accent5"/>
            </a:solidFill>
            <a:ln>
              <a:noFill/>
            </a:ln>
            <a:effectLst/>
          </c:spPr>
          <c:invertIfNegative val="0"/>
          <c:dLbls>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'Slide 2'!$C$30:$K$30</c:f>
              <c:numCache>
                <c:formatCode>General</c:formatCode>
                <c:ptCount val="9"/>
                <c:pt idx="0">
                  <c:v>1990</c:v>
                </c:pt>
                <c:pt idx="1">
                  <c:v>1995</c:v>
                </c:pt>
                <c:pt idx="2">
                  <c:v>2010</c:v>
                </c:pt>
                <c:pt idx="3">
                  <c:v>2015</c:v>
                </c:pt>
                <c:pt idx="4">
                  <c:v>2020</c:v>
                </c:pt>
                <c:pt idx="5">
                  <c:v>2025</c:v>
                </c:pt>
                <c:pt idx="6">
                  <c:v>2030</c:v>
                </c:pt>
                <c:pt idx="7">
                  <c:v>2035</c:v>
                </c:pt>
                <c:pt idx="8">
                  <c:v>2040</c:v>
                </c:pt>
              </c:numCache>
            </c:numRef>
          </c:cat>
          <c:val>
            <c:numRef>
              <c:f>'Slide 2'!$C$35:$K$35</c:f>
              <c:numCache>
                <c:formatCode>0.0</c:formatCode>
                <c:ptCount val="9"/>
                <c:pt idx="0">
                  <c:v>3.8334000000000001</c:v>
                </c:pt>
                <c:pt idx="1">
                  <c:v>4.4885000000000002</c:v>
                </c:pt>
                <c:pt idx="2">
                  <c:v>6.5610999999999997</c:v>
                </c:pt>
                <c:pt idx="3">
                  <c:v>6.8362999999999996</c:v>
                </c:pt>
                <c:pt idx="4">
                  <c:v>6.8967000000000001</c:v>
                </c:pt>
                <c:pt idx="5">
                  <c:v>7.3076999999999996</c:v>
                </c:pt>
                <c:pt idx="6">
                  <c:v>7.5891999999999999</c:v>
                </c:pt>
                <c:pt idx="7">
                  <c:v>7.9166999999999996</c:v>
                </c:pt>
                <c:pt idx="8">
                  <c:v>8.3773999999999997</c:v>
                </c:pt>
              </c:numCache>
            </c:numRef>
          </c:val>
          <c:extLst>
            <c:ext xmlns:c16="http://schemas.microsoft.com/office/drawing/2014/chart" uri="{C3380CC4-5D6E-409C-BE32-E72D297353CC}">
              <c16:uniqueId val="{00000004-4ABD-44AF-A47D-405243651DB9}"/>
            </c:ext>
          </c:extLst>
        </c:ser>
        <c:ser>
          <c:idx val="0"/>
          <c:order val="5"/>
          <c:tx>
            <c:strRef>
              <c:f>'Slide 2'!$B$36</c:f>
              <c:strCache>
                <c:ptCount val="1"/>
                <c:pt idx="0">
                  <c:v>Other Non-OECD</c:v>
                </c:pt>
              </c:strCache>
            </c:strRef>
          </c:tx>
          <c:spPr>
            <a:solidFill>
              <a:srgbClr val="D6B784"/>
            </a:solidFill>
            <a:ln>
              <a:noFill/>
            </a:ln>
            <a:effectLst/>
          </c:spPr>
          <c:invertIfNegative val="0"/>
          <c:dLbls>
            <c:spPr>
              <a:noFill/>
              <a:ln>
                <a:noFill/>
              </a:ln>
              <a:effectLst/>
            </c:spPr>
            <c:txPr>
              <a:bodyPr rot="0" spcFirstLastPara="1" vertOverflow="ellipsis" vert="horz" wrap="square" anchor="ctr" anchorCtr="1"/>
              <a:lstStyle/>
              <a:p>
                <a:pPr>
                  <a:defRPr lang="ja-JP" sz="1000" b="0" i="0" u="none" strike="noStrike" kern="1200" baseline="0">
                    <a:solidFill>
                      <a:sysClr val="windowText" lastClr="000000"/>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'Slide 2'!$C$30:$K$30</c:f>
              <c:numCache>
                <c:formatCode>General</c:formatCode>
                <c:ptCount val="9"/>
                <c:pt idx="0">
                  <c:v>1990</c:v>
                </c:pt>
                <c:pt idx="1">
                  <c:v>1995</c:v>
                </c:pt>
                <c:pt idx="2">
                  <c:v>2010</c:v>
                </c:pt>
                <c:pt idx="3">
                  <c:v>2015</c:v>
                </c:pt>
                <c:pt idx="4">
                  <c:v>2020</c:v>
                </c:pt>
                <c:pt idx="5">
                  <c:v>2025</c:v>
                </c:pt>
                <c:pt idx="6">
                  <c:v>2030</c:v>
                </c:pt>
                <c:pt idx="7">
                  <c:v>2035</c:v>
                </c:pt>
                <c:pt idx="8">
                  <c:v>2040</c:v>
                </c:pt>
              </c:numCache>
            </c:numRef>
          </c:cat>
          <c:val>
            <c:numRef>
              <c:f>'Slide 2'!$C$36:$K$36</c:f>
              <c:numCache>
                <c:formatCode>0.0</c:formatCode>
                <c:ptCount val="9"/>
                <c:pt idx="0">
                  <c:v>14.697600000000001</c:v>
                </c:pt>
                <c:pt idx="1">
                  <c:v>11.438600000000001</c:v>
                </c:pt>
                <c:pt idx="2">
                  <c:v>15.571299999999999</c:v>
                </c:pt>
                <c:pt idx="3">
                  <c:v>18.023800000000001</c:v>
                </c:pt>
                <c:pt idx="4">
                  <c:v>19.264200000000002</c:v>
                </c:pt>
                <c:pt idx="5">
                  <c:v>18.8047</c:v>
                </c:pt>
                <c:pt idx="6">
                  <c:v>18.738</c:v>
                </c:pt>
                <c:pt idx="7">
                  <c:v>19.720700000000001</c:v>
                </c:pt>
                <c:pt idx="8">
                  <c:v>20.923199999999998</c:v>
                </c:pt>
              </c:numCache>
            </c:numRef>
          </c:val>
          <c:extLst>
            <c:ext xmlns:c16="http://schemas.microsoft.com/office/drawing/2014/chart" uri="{C3380CC4-5D6E-409C-BE32-E72D297353CC}">
              <c16:uniqueId val="{00000005-4ABD-44AF-A47D-405243651DB9}"/>
            </c:ext>
          </c:extLst>
        </c:ser>
        <c:dLbls>
          <c:dLblPos val="ctr"/>
          <c:showLegendKey val="0"/>
          <c:showVal val="1"/>
          <c:showCatName val="0"/>
          <c:showSerName val="0"/>
          <c:showPercent val="0"/>
          <c:showBubbleSize val="0"/>
        </c:dLbls>
        <c:gapWidth val="90"/>
        <c:overlap val="100"/>
        <c:axId val="958742832"/>
        <c:axId val="958725968"/>
      </c:barChart>
      <c:catAx>
        <c:axId val="958742832"/>
        <c:scaling>
          <c:orientation val="minMax"/>
        </c:scaling>
        <c:delete val="0"/>
        <c:axPos val="b"/>
        <c:numFmt formatCode="General" sourceLinked="1"/>
        <c:majorTickMark val="out"/>
        <c:minorTickMark val="none"/>
        <c:tickLblPos val="nextTo"/>
        <c:spPr>
          <a:noFill/>
          <a:ln w="12700" cap="flat" cmpd="sng" algn="ctr">
            <a:solidFill>
              <a:sysClr val="windowText" lastClr="000000"/>
            </a:solidFill>
            <a:round/>
          </a:ln>
          <a:effectLst/>
        </c:spPr>
        <c:txPr>
          <a:bodyPr rot="0" spcFirstLastPara="1" vertOverflow="ellipsis" wrap="square" anchor="ctr" anchorCtr="1"/>
          <a:lstStyle/>
          <a:p>
            <a:pPr>
              <a:defRPr lang="ja-JP" sz="1000" b="0" i="0" u="none" strike="noStrike" kern="1200" baseline="0">
                <a:solidFill>
                  <a:schemeClr val="tx1"/>
                </a:solidFill>
                <a:latin typeface="+mn-lt"/>
                <a:ea typeface="+mn-ea"/>
                <a:cs typeface="+mn-cs"/>
              </a:defRPr>
            </a:pPr>
            <a:endParaRPr lang="en-US"/>
          </a:p>
        </c:txPr>
        <c:crossAx val="958725968"/>
        <c:crosses val="autoZero"/>
        <c:auto val="1"/>
        <c:lblAlgn val="ctr"/>
        <c:lblOffset val="100"/>
        <c:noMultiLvlLbl val="0"/>
      </c:catAx>
      <c:valAx>
        <c:axId val="958725968"/>
        <c:scaling>
          <c:orientation val="minMax"/>
        </c:scaling>
        <c:delete val="0"/>
        <c:axPos val="l"/>
        <c:numFmt formatCode="0.0" sourceLinked="1"/>
        <c:majorTickMark val="none"/>
        <c:minorTickMark val="none"/>
        <c:tickLblPos val="nextTo"/>
        <c:spPr>
          <a:noFill/>
          <a:ln>
            <a:noFill/>
          </a:ln>
          <a:effectLst/>
        </c:spPr>
        <c:txPr>
          <a:bodyPr rot="-60000000" spcFirstLastPara="1" vertOverflow="ellipsis" vert="horz" wrap="square" anchor="ctr" anchorCtr="1"/>
          <a:lstStyle/>
          <a:p>
            <a:pPr>
              <a:defRPr lang="ja-JP" sz="1000" b="0" i="0" u="none" strike="noStrike" kern="1200" baseline="0">
                <a:solidFill>
                  <a:schemeClr val="tx1"/>
                </a:solidFill>
                <a:latin typeface="+mn-lt"/>
                <a:ea typeface="+mn-ea"/>
                <a:cs typeface="+mn-cs"/>
              </a:defRPr>
            </a:pPr>
            <a:endParaRPr lang="en-US"/>
          </a:p>
        </c:txPr>
        <c:crossAx val="958742832"/>
        <c:crosses val="autoZero"/>
        <c:crossBetween val="between"/>
      </c:valAx>
      <c:spPr>
        <a:noFill/>
        <a:ln>
          <a:noFill/>
        </a:ln>
        <a:effectLst/>
      </c:spPr>
    </c:plotArea>
    <c:legend>
      <c:legendPos val="r"/>
      <c:layout>
        <c:manualLayout>
          <c:xMode val="edge"/>
          <c:yMode val="edge"/>
          <c:x val="0.85008324436024074"/>
          <c:y val="0.23775418224237121"/>
          <c:w val="0.14210298346638622"/>
          <c:h val="0.58509769612131812"/>
        </c:manualLayout>
      </c:layout>
      <c:overlay val="0"/>
      <c:spPr>
        <a:noFill/>
        <a:ln>
          <a:noFill/>
        </a:ln>
        <a:effectLst/>
      </c:spPr>
      <c:txPr>
        <a:bodyPr rot="0" spcFirstLastPara="1" vertOverflow="ellipsis" vert="horz" wrap="square" anchor="ctr" anchorCtr="1"/>
        <a:lstStyle/>
        <a:p>
          <a:pPr>
            <a:defRPr lang="ja-JP" sz="1000" b="0" i="0" u="none" strike="noStrike" kern="1200" baseline="0">
              <a:solidFill>
                <a:schemeClr val="tx1"/>
              </a:solidFill>
              <a:latin typeface="+mn-lt"/>
              <a:ea typeface="+mn-ea"/>
              <a:cs typeface="+mn-cs"/>
            </a:defRPr>
          </a:pPr>
          <a:endParaRPr lang="en-US"/>
        </a:p>
      </c:txPr>
    </c:legend>
    <c:plotVisOnly val="1"/>
    <c:dispBlanksAs val="gap"/>
    <c:showDLblsOverMax val="0"/>
  </c:chart>
  <c:spPr>
    <a:solidFill>
      <a:schemeClr val="bg1"/>
    </a:solidFill>
    <a:ln w="9525" cap="flat" cmpd="sng" algn="ctr">
      <a:noFill/>
      <a:round/>
    </a:ln>
    <a:effectLst/>
  </c:spPr>
  <c:txPr>
    <a:bodyPr/>
    <a:lstStyle/>
    <a:p>
      <a:pPr>
        <a:defRPr sz="1000">
          <a:solidFill>
            <a:schemeClr val="tx1"/>
          </a:solidFill>
        </a:defRPr>
      </a:pPr>
      <a:endParaRPr lang="en-US"/>
    </a:p>
  </c:txPr>
  <c:externalData r:id="rId3">
    <c:autoUpdate val="0"/>
  </c:externalData>
  <c:userShapes r:id="rId4"/>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1" i="0" u="none" strike="noStrike" kern="1200" spc="0" baseline="0">
                <a:solidFill>
                  <a:schemeClr val="tx1"/>
                </a:solidFill>
                <a:latin typeface="+mn-lt"/>
                <a:ea typeface="+mn-ea"/>
                <a:cs typeface="+mn-cs"/>
              </a:defRPr>
            </a:pPr>
            <a:r>
              <a:rPr lang="en-IN" sz="1200" b="1"/>
              <a:t>(thousand barrels per day)</a:t>
            </a:r>
            <a:endParaRPr lang="en-US" sz="1200" b="1"/>
          </a:p>
        </c:rich>
      </c:tx>
      <c:overlay val="0"/>
      <c:spPr>
        <a:noFill/>
        <a:ln>
          <a:noFill/>
        </a:ln>
        <a:effectLst/>
      </c:spPr>
      <c:txPr>
        <a:bodyPr rot="0" spcFirstLastPara="1" vertOverflow="ellipsis" vert="horz" wrap="square" anchor="ctr" anchorCtr="1"/>
        <a:lstStyle/>
        <a:p>
          <a:pPr>
            <a:defRPr sz="1200" b="1" i="0" u="none" strike="noStrike" kern="1200" spc="0" baseline="0">
              <a:solidFill>
                <a:schemeClr val="tx1"/>
              </a:solidFill>
              <a:latin typeface="+mn-lt"/>
              <a:ea typeface="+mn-ea"/>
              <a:cs typeface="+mn-cs"/>
            </a:defRPr>
          </a:pPr>
          <a:endParaRPr lang="en-US"/>
        </a:p>
      </c:txPr>
    </c:title>
    <c:autoTitleDeleted val="0"/>
    <c:plotArea>
      <c:layout>
        <c:manualLayout>
          <c:layoutTarget val="inner"/>
          <c:xMode val="edge"/>
          <c:yMode val="edge"/>
          <c:x val="2.9382306929639366E-2"/>
          <c:y val="9.2411886662059434E-2"/>
          <c:w val="0.94123538614072122"/>
          <c:h val="0.79448960379606992"/>
        </c:manualLayout>
      </c:layout>
      <c:barChart>
        <c:barDir val="col"/>
        <c:grouping val="stacked"/>
        <c:varyColors val="0"/>
        <c:ser>
          <c:idx val="0"/>
          <c:order val="0"/>
          <c:tx>
            <c:strRef>
              <c:f>Sheet1!$B$1</c:f>
              <c:strCache>
                <c:ptCount val="1"/>
                <c:pt idx="0">
                  <c:v>2021</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bg1"/>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Africa</c:v>
                </c:pt>
                <c:pt idx="1">
                  <c:v>Americas</c:v>
                </c:pt>
                <c:pt idx="2">
                  <c:v>Asia/Pacific</c:v>
                </c:pt>
                <c:pt idx="3">
                  <c:v>Europe</c:v>
                </c:pt>
                <c:pt idx="4">
                  <c:v>Middle East</c:v>
                </c:pt>
              </c:strCache>
            </c:strRef>
          </c:cat>
          <c:val>
            <c:numRef>
              <c:f>Sheet1!$B$2:$B$6</c:f>
              <c:numCache>
                <c:formatCode>General</c:formatCode>
                <c:ptCount val="5"/>
                <c:pt idx="0">
                  <c:v>4005</c:v>
                </c:pt>
                <c:pt idx="1">
                  <c:v>30148</c:v>
                </c:pt>
                <c:pt idx="2">
                  <c:v>35618</c:v>
                </c:pt>
                <c:pt idx="3">
                  <c:v>18485</c:v>
                </c:pt>
                <c:pt idx="4">
                  <c:v>7936</c:v>
                </c:pt>
              </c:numCache>
            </c:numRef>
          </c:val>
          <c:extLst>
            <c:ext xmlns:c16="http://schemas.microsoft.com/office/drawing/2014/chart" uri="{C3380CC4-5D6E-409C-BE32-E72D297353CC}">
              <c16:uniqueId val="{00000000-0CD7-4B65-B69C-B2C06F86EBC6}"/>
            </c:ext>
          </c:extLst>
        </c:ser>
        <c:dLbls>
          <c:showLegendKey val="0"/>
          <c:showVal val="0"/>
          <c:showCatName val="0"/>
          <c:showSerName val="0"/>
          <c:showPercent val="0"/>
          <c:showBubbleSize val="0"/>
        </c:dLbls>
        <c:gapWidth val="39"/>
        <c:overlap val="100"/>
        <c:axId val="958743376"/>
        <c:axId val="958717808"/>
      </c:barChart>
      <c:catAx>
        <c:axId val="9587433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958717808"/>
        <c:crosses val="autoZero"/>
        <c:auto val="1"/>
        <c:lblAlgn val="ctr"/>
        <c:lblOffset val="100"/>
        <c:noMultiLvlLbl val="0"/>
      </c:catAx>
      <c:valAx>
        <c:axId val="958717808"/>
        <c:scaling>
          <c:orientation val="minMax"/>
        </c:scaling>
        <c:delete val="1"/>
        <c:axPos val="l"/>
        <c:numFmt formatCode="General" sourceLinked="1"/>
        <c:majorTickMark val="none"/>
        <c:minorTickMark val="none"/>
        <c:tickLblPos val="nextTo"/>
        <c:crossAx val="958743376"/>
        <c:crosses val="autoZero"/>
        <c:crossBetween val="between"/>
      </c:valAx>
      <c:spPr>
        <a:noFill/>
        <a:ln>
          <a:noFill/>
        </a:ln>
        <a:effectLst/>
      </c:spPr>
    </c:plotArea>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1" i="0" u="none" strike="noStrike" kern="1200" spc="0" baseline="0">
                <a:solidFill>
                  <a:schemeClr val="tx1"/>
                </a:solidFill>
                <a:latin typeface="+mn-lt"/>
                <a:ea typeface="+mn-ea"/>
                <a:cs typeface="+mn-cs"/>
              </a:defRPr>
            </a:pPr>
            <a:r>
              <a:rPr lang="en-US" sz="1200" b="1"/>
              <a:t>Millions barrels per day</a:t>
            </a:r>
          </a:p>
        </c:rich>
      </c:tx>
      <c:overlay val="0"/>
      <c:spPr>
        <a:noFill/>
        <a:ln>
          <a:noFill/>
        </a:ln>
        <a:effectLst/>
      </c:spPr>
      <c:txPr>
        <a:bodyPr rot="0" spcFirstLastPara="1" vertOverflow="ellipsis" vert="horz" wrap="square" anchor="ctr" anchorCtr="1"/>
        <a:lstStyle/>
        <a:p>
          <a:pPr>
            <a:defRPr sz="1200" b="1" i="0" u="none" strike="noStrike" kern="1200" spc="0" baseline="0">
              <a:solidFill>
                <a:schemeClr val="tx1"/>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2021</c:v>
                </c:pt>
              </c:strCache>
            </c:strRef>
          </c:tx>
          <c:spPr>
            <a:solidFill>
              <a:schemeClr val="accent1"/>
            </a:solidFill>
            <a:ln>
              <a:noFill/>
            </a:ln>
            <a:effectLst/>
          </c:spPr>
          <c:invertIfNegative val="0"/>
          <c:dLbls>
            <c:spPr>
              <a:noFill/>
              <a:ln>
                <a:noFill/>
              </a:ln>
              <a:effectLst/>
            </c:spPr>
            <c:txPr>
              <a:bodyPr rot="-5400000" spcFirstLastPara="1" vertOverflow="ellipsis" wrap="square" anchor="ctr" anchorCtr="1"/>
              <a:lstStyle/>
              <a:p>
                <a:pPr>
                  <a:defRPr sz="1100" b="0" i="0" u="none" strike="noStrike" kern="1200" baseline="0">
                    <a:solidFill>
                      <a:schemeClr val="bg1"/>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10"/>
                <c:pt idx="0">
                  <c:v>United States</c:v>
                </c:pt>
                <c:pt idx="1">
                  <c:v>Saudi Arabia</c:v>
                </c:pt>
                <c:pt idx="2">
                  <c:v>Russia</c:v>
                </c:pt>
                <c:pt idx="3">
                  <c:v>Canada</c:v>
                </c:pt>
                <c:pt idx="4">
                  <c:v>China</c:v>
                </c:pt>
                <c:pt idx="5">
                  <c:v>Iraq</c:v>
                </c:pt>
                <c:pt idx="6">
                  <c:v>UAE</c:v>
                </c:pt>
                <c:pt idx="7">
                  <c:v>Brazil</c:v>
                </c:pt>
                <c:pt idx="8">
                  <c:v>Iran</c:v>
                </c:pt>
                <c:pt idx="9">
                  <c:v>Kuwait</c:v>
                </c:pt>
              </c:strCache>
            </c:strRef>
          </c:cat>
          <c:val>
            <c:numRef>
              <c:f>Sheet1!$B$2:$B$11</c:f>
              <c:numCache>
                <c:formatCode>General</c:formatCode>
                <c:ptCount val="10"/>
                <c:pt idx="0">
                  <c:v>18.88</c:v>
                </c:pt>
                <c:pt idx="1">
                  <c:v>10.84</c:v>
                </c:pt>
                <c:pt idx="2">
                  <c:v>10.78</c:v>
                </c:pt>
                <c:pt idx="3">
                  <c:v>5.54</c:v>
                </c:pt>
                <c:pt idx="4">
                  <c:v>4.99</c:v>
                </c:pt>
                <c:pt idx="5">
                  <c:v>4.1500000000000004</c:v>
                </c:pt>
                <c:pt idx="6">
                  <c:v>3.79</c:v>
                </c:pt>
                <c:pt idx="7">
                  <c:v>3.69</c:v>
                </c:pt>
                <c:pt idx="8">
                  <c:v>3.46</c:v>
                </c:pt>
                <c:pt idx="9">
                  <c:v>2.72</c:v>
                </c:pt>
              </c:numCache>
            </c:numRef>
          </c:val>
          <c:extLst>
            <c:ext xmlns:c16="http://schemas.microsoft.com/office/drawing/2014/chart" uri="{C3380CC4-5D6E-409C-BE32-E72D297353CC}">
              <c16:uniqueId val="{00000000-4B13-4946-BEE1-FCA84298695F}"/>
            </c:ext>
          </c:extLst>
        </c:ser>
        <c:dLbls>
          <c:showLegendKey val="0"/>
          <c:showVal val="0"/>
          <c:showCatName val="0"/>
          <c:showSerName val="0"/>
          <c:showPercent val="0"/>
          <c:showBubbleSize val="0"/>
        </c:dLbls>
        <c:gapWidth val="50"/>
        <c:overlap val="10"/>
        <c:axId val="652787856"/>
        <c:axId val="652813424"/>
      </c:barChart>
      <c:catAx>
        <c:axId val="6527878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652813424"/>
        <c:crosses val="autoZero"/>
        <c:auto val="1"/>
        <c:lblAlgn val="ctr"/>
        <c:lblOffset val="100"/>
        <c:noMultiLvlLbl val="0"/>
      </c:catAx>
      <c:valAx>
        <c:axId val="652813424"/>
        <c:scaling>
          <c:orientation val="minMax"/>
        </c:scaling>
        <c:delete val="1"/>
        <c:axPos val="l"/>
        <c:numFmt formatCode="General" sourceLinked="1"/>
        <c:majorTickMark val="none"/>
        <c:minorTickMark val="none"/>
        <c:tickLblPos val="nextTo"/>
        <c:crossAx val="652787856"/>
        <c:crosses val="autoZero"/>
        <c:crossBetween val="between"/>
      </c:valAx>
      <c:spPr>
        <a:noFill/>
        <a:ln w="25400">
          <a:noFill/>
        </a:ln>
        <a:effectLst/>
      </c:spPr>
    </c:plotArea>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595283725070034"/>
          <c:y val="0.11084481060461775"/>
          <c:w val="0.81571954447585659"/>
          <c:h val="0.55217495877977241"/>
        </c:manualLayout>
      </c:layout>
      <c:pieChart>
        <c:varyColors val="1"/>
        <c:ser>
          <c:idx val="0"/>
          <c:order val="0"/>
          <c:tx>
            <c:strRef>
              <c:f>Sheet1!$B$1</c:f>
              <c:strCache>
                <c:ptCount val="1"/>
                <c:pt idx="0">
                  <c:v>Sales (2020)</c:v>
                </c:pt>
              </c:strCache>
            </c:strRef>
          </c:tx>
          <c:spPr>
            <a:ln w="3175">
              <a:solidFill>
                <a:schemeClr val="bg1"/>
              </a:solidFill>
            </a:ln>
          </c:spPr>
          <c:dPt>
            <c:idx val="0"/>
            <c:bubble3D val="0"/>
            <c:spPr>
              <a:solidFill>
                <a:schemeClr val="accent1"/>
              </a:solidFill>
              <a:ln w="3175">
                <a:solidFill>
                  <a:schemeClr val="bg1"/>
                </a:solidFill>
              </a:ln>
              <a:effectLst/>
            </c:spPr>
            <c:extLst>
              <c:ext xmlns:c16="http://schemas.microsoft.com/office/drawing/2014/chart" uri="{C3380CC4-5D6E-409C-BE32-E72D297353CC}">
                <c16:uniqueId val="{00000001-23E4-48C3-BDC7-B55D1D905DAA}"/>
              </c:ext>
            </c:extLst>
          </c:dPt>
          <c:dPt>
            <c:idx val="1"/>
            <c:bubble3D val="0"/>
            <c:spPr>
              <a:solidFill>
                <a:schemeClr val="accent2"/>
              </a:solidFill>
              <a:ln w="3175">
                <a:solidFill>
                  <a:schemeClr val="bg1"/>
                </a:solidFill>
              </a:ln>
              <a:effectLst/>
            </c:spPr>
            <c:extLst>
              <c:ext xmlns:c16="http://schemas.microsoft.com/office/drawing/2014/chart" uri="{C3380CC4-5D6E-409C-BE32-E72D297353CC}">
                <c16:uniqueId val="{00000003-23E4-48C3-BDC7-B55D1D905DAA}"/>
              </c:ext>
            </c:extLst>
          </c:dPt>
          <c:dPt>
            <c:idx val="2"/>
            <c:bubble3D val="0"/>
            <c:spPr>
              <a:solidFill>
                <a:schemeClr val="accent3"/>
              </a:solidFill>
              <a:ln w="3175">
                <a:solidFill>
                  <a:schemeClr val="bg1"/>
                </a:solidFill>
              </a:ln>
              <a:effectLst/>
            </c:spPr>
            <c:extLst>
              <c:ext xmlns:c16="http://schemas.microsoft.com/office/drawing/2014/chart" uri="{C3380CC4-5D6E-409C-BE32-E72D297353CC}">
                <c16:uniqueId val="{00000005-23E4-48C3-BDC7-B55D1D905DAA}"/>
              </c:ext>
            </c:extLst>
          </c:dPt>
          <c:dPt>
            <c:idx val="3"/>
            <c:bubble3D val="0"/>
            <c:spPr>
              <a:solidFill>
                <a:schemeClr val="accent4"/>
              </a:solidFill>
              <a:ln w="3175">
                <a:solidFill>
                  <a:schemeClr val="bg1"/>
                </a:solidFill>
              </a:ln>
              <a:effectLst/>
            </c:spPr>
            <c:extLst>
              <c:ext xmlns:c16="http://schemas.microsoft.com/office/drawing/2014/chart" uri="{C3380CC4-5D6E-409C-BE32-E72D297353CC}">
                <c16:uniqueId val="{00000007-23E4-48C3-BDC7-B55D1D905DAA}"/>
              </c:ext>
            </c:extLst>
          </c:dPt>
          <c:dPt>
            <c:idx val="4"/>
            <c:bubble3D val="0"/>
            <c:spPr>
              <a:solidFill>
                <a:schemeClr val="accent5"/>
              </a:solidFill>
              <a:ln w="3175">
                <a:solidFill>
                  <a:schemeClr val="bg1"/>
                </a:solidFill>
              </a:ln>
              <a:effectLst/>
            </c:spPr>
            <c:extLst>
              <c:ext xmlns:c16="http://schemas.microsoft.com/office/drawing/2014/chart" uri="{C3380CC4-5D6E-409C-BE32-E72D297353CC}">
                <c16:uniqueId val="{00000009-23E4-48C3-BDC7-B55D1D905DAA}"/>
              </c:ext>
            </c:extLst>
          </c:dPt>
          <c:dPt>
            <c:idx val="5"/>
            <c:bubble3D val="0"/>
            <c:spPr>
              <a:solidFill>
                <a:schemeClr val="accent6"/>
              </a:solidFill>
              <a:ln w="3175">
                <a:solidFill>
                  <a:schemeClr val="bg1"/>
                </a:solidFill>
              </a:ln>
              <a:effectLst/>
            </c:spPr>
            <c:extLst>
              <c:ext xmlns:c16="http://schemas.microsoft.com/office/drawing/2014/chart" uri="{C3380CC4-5D6E-409C-BE32-E72D297353CC}">
                <c16:uniqueId val="{0000000B-23E4-48C3-BDC7-B55D1D905DAA}"/>
              </c:ext>
            </c:extLst>
          </c:dPt>
          <c:dPt>
            <c:idx val="6"/>
            <c:bubble3D val="0"/>
            <c:spPr>
              <a:solidFill>
                <a:srgbClr val="7B8422"/>
              </a:solidFill>
              <a:ln w="3175">
                <a:solidFill>
                  <a:schemeClr val="bg1"/>
                </a:solidFill>
              </a:ln>
              <a:effectLst/>
            </c:spPr>
            <c:extLst>
              <c:ext xmlns:c16="http://schemas.microsoft.com/office/drawing/2014/chart" uri="{C3380CC4-5D6E-409C-BE32-E72D297353CC}">
                <c16:uniqueId val="{0000000D-23E4-48C3-BDC7-B55D1D905DAA}"/>
              </c:ext>
            </c:extLst>
          </c:dPt>
          <c:dPt>
            <c:idx val="7"/>
            <c:bubble3D val="0"/>
            <c:spPr>
              <a:solidFill>
                <a:schemeClr val="accent2">
                  <a:lumMod val="60000"/>
                </a:schemeClr>
              </a:solidFill>
              <a:ln w="3175">
                <a:solidFill>
                  <a:schemeClr val="bg1"/>
                </a:solidFill>
              </a:ln>
              <a:effectLst/>
            </c:spPr>
            <c:extLst>
              <c:ext xmlns:c16="http://schemas.microsoft.com/office/drawing/2014/chart" uri="{C3380CC4-5D6E-409C-BE32-E72D297353CC}">
                <c16:uniqueId val="{0000000F-FE00-43C0-9C15-F2BEFB3D2B42}"/>
              </c:ext>
            </c:extLst>
          </c:dPt>
          <c:dLbls>
            <c:dLbl>
              <c:idx val="0"/>
              <c:layout>
                <c:manualLayout>
                  <c:x val="-1.9077015049732509E-2"/>
                  <c:y val="3.6193196166843758E-2"/>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3E4-48C3-BDC7-B55D1D905DAA}"/>
                </c:ext>
              </c:extLst>
            </c:dLbl>
            <c:dLbl>
              <c:idx val="1"/>
              <c:layout>
                <c:manualLayout>
                  <c:x val="-3.3743411782033238E-2"/>
                  <c:y val="8.0869496488586001E-4"/>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3E4-48C3-BDC7-B55D1D905DAA}"/>
                </c:ext>
              </c:extLst>
            </c:dLbl>
            <c:dLbl>
              <c:idx val="2"/>
              <c:layout>
                <c:manualLayout>
                  <c:x val="4.9137862290341908E-2"/>
                  <c:y val="6.2538916637910925E-3"/>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3E4-48C3-BDC7-B55D1D905DAA}"/>
                </c:ext>
              </c:extLst>
            </c:dLbl>
            <c:dLbl>
              <c:idx val="3"/>
              <c:layout>
                <c:manualLayout>
                  <c:x val="6.8559595339185292E-2"/>
                  <c:y val="3.3970248892984306E-2"/>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3E4-48C3-BDC7-B55D1D905DAA}"/>
                </c:ext>
              </c:extLst>
            </c:dLbl>
            <c:dLbl>
              <c:idx val="4"/>
              <c:layout>
                <c:manualLayout>
                  <c:x val="5.4354940175043852E-2"/>
                  <c:y val="-3.9024833393415219E-2"/>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3E4-48C3-BDC7-B55D1D905DAA}"/>
                </c:ext>
              </c:extLst>
            </c:dLbl>
            <c:dLbl>
              <c:idx val="5"/>
              <c:layout>
                <c:manualLayout>
                  <c:x val="4.7322325204820499E-2"/>
                  <c:y val="-5.3348806813471955E-2"/>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3E4-48C3-BDC7-B55D1D905DAA}"/>
                </c:ext>
              </c:extLst>
            </c:dLbl>
            <c:dLbl>
              <c:idx val="6"/>
              <c:layout>
                <c:manualLayout>
                  <c:x val="3.6582905096727583E-2"/>
                  <c:y val="-1.9103129331433849E-2"/>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3E4-48C3-BDC7-B55D1D905DA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Sheet1!$A$2:$A$9</c:f>
              <c:strCache>
                <c:ptCount val="8"/>
                <c:pt idx="0">
                  <c:v>Polyester</c:v>
                </c:pt>
                <c:pt idx="1">
                  <c:v>Polyamide</c:v>
                </c:pt>
                <c:pt idx="2">
                  <c:v>Other Synthetic Fibers</c:v>
                </c:pt>
                <c:pt idx="3">
                  <c:v>Cotton</c:v>
                </c:pt>
                <c:pt idx="4">
                  <c:v>Other plant based Fibers</c:v>
                </c:pt>
                <c:pt idx="5">
                  <c:v>Man made cellulose Fibers</c:v>
                </c:pt>
                <c:pt idx="6">
                  <c:v>wool</c:v>
                </c:pt>
                <c:pt idx="7">
                  <c:v>Other Animal Fibers</c:v>
                </c:pt>
              </c:strCache>
            </c:strRef>
          </c:cat>
          <c:val>
            <c:numRef>
              <c:f>Sheet1!$B$2:$B$9</c:f>
              <c:numCache>
                <c:formatCode>0.0%</c:formatCode>
                <c:ptCount val="8"/>
                <c:pt idx="0">
                  <c:v>0.54</c:v>
                </c:pt>
                <c:pt idx="1">
                  <c:v>0.05</c:v>
                </c:pt>
                <c:pt idx="2">
                  <c:v>5.1999999999999998E-2</c:v>
                </c:pt>
                <c:pt idx="3">
                  <c:v>0.22</c:v>
                </c:pt>
                <c:pt idx="4">
                  <c:v>5.8999999999999997E-2</c:v>
                </c:pt>
                <c:pt idx="5">
                  <c:v>6.4000000000000001E-2</c:v>
                </c:pt>
                <c:pt idx="6">
                  <c:v>8.9999999999999993E-3</c:v>
                </c:pt>
                <c:pt idx="7">
                  <c:v>6.0000000000000001E-3</c:v>
                </c:pt>
              </c:numCache>
            </c:numRef>
          </c:val>
          <c:extLst>
            <c:ext xmlns:c16="http://schemas.microsoft.com/office/drawing/2014/chart" uri="{C3380CC4-5D6E-409C-BE32-E72D297353CC}">
              <c16:uniqueId val="{0000000E-23E4-48C3-BDC7-B55D1D905DAA}"/>
            </c:ext>
          </c:extLst>
        </c:ser>
        <c:dLbls>
          <c:dLblPos val="bestFit"/>
          <c:showLegendKey val="0"/>
          <c:showVal val="1"/>
          <c:showCatName val="0"/>
          <c:showSerName val="0"/>
          <c:showPercent val="0"/>
          <c:showBubbleSize val="0"/>
          <c:showLeaderLines val="1"/>
        </c:dLbls>
        <c:firstSliceAng val="158"/>
      </c:pieChart>
      <c:spPr>
        <a:noFill/>
        <a:ln>
          <a:noFill/>
        </a:ln>
        <a:effectLst/>
      </c:spPr>
    </c:plotArea>
    <c:legend>
      <c:legendPos val="b"/>
      <c:layout>
        <c:manualLayout>
          <c:xMode val="edge"/>
          <c:yMode val="edge"/>
          <c:x val="0"/>
          <c:y val="0.72716355859802251"/>
          <c:w val="1"/>
          <c:h val="0.27130604182424672"/>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8241509448031396E-2"/>
          <c:y val="7.8634601364863568E-2"/>
          <c:w val="0.68240855168136949"/>
          <c:h val="0.79717061338331119"/>
        </c:manualLayout>
      </c:layout>
      <c:doughnutChart>
        <c:varyColors val="1"/>
        <c:ser>
          <c:idx val="0"/>
          <c:order val="0"/>
          <c:tx>
            <c:strRef>
              <c:f>Sheet1!$B$1</c:f>
              <c:strCache>
                <c:ptCount val="1"/>
                <c:pt idx="0">
                  <c:v>Series 1</c:v>
                </c:pt>
              </c:strCache>
            </c:strRef>
          </c:tx>
          <c:dPt>
            <c:idx val="0"/>
            <c:bubble3D val="0"/>
            <c:spPr>
              <a:solidFill>
                <a:schemeClr val="accent2"/>
              </a:solidFill>
              <a:ln>
                <a:noFill/>
              </a:ln>
              <a:effectLst/>
            </c:spPr>
            <c:extLst>
              <c:ext xmlns:c16="http://schemas.microsoft.com/office/drawing/2014/chart" uri="{C3380CC4-5D6E-409C-BE32-E72D297353CC}">
                <c16:uniqueId val="{00000001-E3FA-43AF-93E5-786D085ACF18}"/>
              </c:ext>
            </c:extLst>
          </c:dPt>
          <c:dPt>
            <c:idx val="1"/>
            <c:bubble3D val="0"/>
            <c:spPr>
              <a:solidFill>
                <a:schemeClr val="accent4"/>
              </a:solidFill>
              <a:ln>
                <a:noFill/>
              </a:ln>
              <a:effectLst/>
            </c:spPr>
            <c:extLst>
              <c:ext xmlns:c16="http://schemas.microsoft.com/office/drawing/2014/chart" uri="{C3380CC4-5D6E-409C-BE32-E72D297353CC}">
                <c16:uniqueId val="{00000003-E3FA-43AF-93E5-786D085ACF18}"/>
              </c:ext>
            </c:extLst>
          </c:dPt>
          <c:dPt>
            <c:idx val="2"/>
            <c:bubble3D val="0"/>
            <c:spPr>
              <a:solidFill>
                <a:schemeClr val="accent6"/>
              </a:solidFill>
              <a:ln>
                <a:noFill/>
              </a:ln>
              <a:effectLst/>
            </c:spPr>
            <c:extLst>
              <c:ext xmlns:c16="http://schemas.microsoft.com/office/drawing/2014/chart" uri="{C3380CC4-5D6E-409C-BE32-E72D297353CC}">
                <c16:uniqueId val="{00000005-E3FA-43AF-93E5-786D085ACF18}"/>
              </c:ext>
            </c:extLst>
          </c:dPt>
          <c:dPt>
            <c:idx val="3"/>
            <c:bubble3D val="0"/>
            <c:spPr>
              <a:solidFill>
                <a:schemeClr val="accent2">
                  <a:lumMod val="60000"/>
                </a:schemeClr>
              </a:solidFill>
              <a:ln>
                <a:noFill/>
              </a:ln>
              <a:effectLst/>
            </c:spPr>
            <c:extLst>
              <c:ext xmlns:c16="http://schemas.microsoft.com/office/drawing/2014/chart" uri="{C3380CC4-5D6E-409C-BE32-E72D297353CC}">
                <c16:uniqueId val="{00000007-E3FA-43AF-93E5-786D085ACF18}"/>
              </c:ext>
            </c:extLst>
          </c:dPt>
          <c:dPt>
            <c:idx val="4"/>
            <c:bubble3D val="0"/>
            <c:spPr>
              <a:solidFill>
                <a:schemeClr val="accent4">
                  <a:lumMod val="60000"/>
                </a:schemeClr>
              </a:solidFill>
              <a:ln>
                <a:noFill/>
              </a:ln>
              <a:effectLst/>
            </c:spPr>
            <c:extLst>
              <c:ext xmlns:c16="http://schemas.microsoft.com/office/drawing/2014/chart" uri="{C3380CC4-5D6E-409C-BE32-E72D297353CC}">
                <c16:uniqueId val="{00000009-E3FA-43AF-93E5-786D085ACF18}"/>
              </c:ext>
            </c:extLst>
          </c:dPt>
          <c:dPt>
            <c:idx val="5"/>
            <c:bubble3D val="0"/>
            <c:spPr>
              <a:solidFill>
                <a:schemeClr val="accent6">
                  <a:lumMod val="60000"/>
                </a:schemeClr>
              </a:solidFill>
              <a:ln>
                <a:noFill/>
              </a:ln>
              <a:effectLst/>
            </c:spPr>
            <c:extLst>
              <c:ext xmlns:c16="http://schemas.microsoft.com/office/drawing/2014/chart" uri="{C3380CC4-5D6E-409C-BE32-E72D297353CC}">
                <c16:uniqueId val="{0000000B-E3FA-43AF-93E5-786D085ACF18}"/>
              </c:ext>
            </c:extLst>
          </c:dPt>
          <c:dPt>
            <c:idx val="6"/>
            <c:bubble3D val="0"/>
            <c:spPr>
              <a:solidFill>
                <a:schemeClr val="accent2">
                  <a:lumMod val="80000"/>
                  <a:lumOff val="20000"/>
                </a:schemeClr>
              </a:solidFill>
              <a:ln>
                <a:noFill/>
              </a:ln>
              <a:effectLst/>
            </c:spPr>
            <c:extLst>
              <c:ext xmlns:c16="http://schemas.microsoft.com/office/drawing/2014/chart" uri="{C3380CC4-5D6E-409C-BE32-E72D297353CC}">
                <c16:uniqueId val="{0000000D-E3FA-43AF-93E5-786D085ACF18}"/>
              </c:ext>
            </c:extLst>
          </c:dPt>
          <c:dPt>
            <c:idx val="7"/>
            <c:bubble3D val="0"/>
            <c:spPr>
              <a:solidFill>
                <a:schemeClr val="accent4">
                  <a:lumMod val="80000"/>
                  <a:lumOff val="20000"/>
                </a:schemeClr>
              </a:solidFill>
              <a:ln>
                <a:noFill/>
              </a:ln>
              <a:effectLst/>
            </c:spPr>
            <c:extLst>
              <c:ext xmlns:c16="http://schemas.microsoft.com/office/drawing/2014/chart" uri="{C3380CC4-5D6E-409C-BE32-E72D297353CC}">
                <c16:uniqueId val="{0000000F-E3FA-43AF-93E5-786D085ACF18}"/>
              </c:ext>
            </c:extLst>
          </c:dPt>
          <c:dPt>
            <c:idx val="8"/>
            <c:bubble3D val="0"/>
            <c:spPr>
              <a:solidFill>
                <a:schemeClr val="accent6">
                  <a:lumMod val="80000"/>
                  <a:lumOff val="20000"/>
                </a:schemeClr>
              </a:solidFill>
              <a:ln>
                <a:noFill/>
              </a:ln>
              <a:effectLst/>
            </c:spPr>
            <c:extLst>
              <c:ext xmlns:c16="http://schemas.microsoft.com/office/drawing/2014/chart" uri="{C3380CC4-5D6E-409C-BE32-E72D297353CC}">
                <c16:uniqueId val="{00000011-E3FA-43AF-93E5-786D085ACF18}"/>
              </c:ext>
            </c:extLst>
          </c:dPt>
          <c:dPt>
            <c:idx val="9"/>
            <c:bubble3D val="0"/>
            <c:spPr>
              <a:solidFill>
                <a:schemeClr val="accent2">
                  <a:lumMod val="80000"/>
                </a:schemeClr>
              </a:solidFill>
              <a:ln>
                <a:noFill/>
              </a:ln>
              <a:effectLst/>
            </c:spPr>
            <c:extLst>
              <c:ext xmlns:c16="http://schemas.microsoft.com/office/drawing/2014/chart" uri="{C3380CC4-5D6E-409C-BE32-E72D297353CC}">
                <c16:uniqueId val="{00000013-E3FA-43AF-93E5-786D085ACF18}"/>
              </c:ext>
            </c:extLst>
          </c:dPt>
          <c:dPt>
            <c:idx val="10"/>
            <c:bubble3D val="0"/>
            <c:spPr>
              <a:solidFill>
                <a:schemeClr val="accent4">
                  <a:lumMod val="80000"/>
                </a:schemeClr>
              </a:solidFill>
              <a:ln>
                <a:noFill/>
              </a:ln>
              <a:effectLst/>
            </c:spPr>
            <c:extLst>
              <c:ext xmlns:c16="http://schemas.microsoft.com/office/drawing/2014/chart" uri="{C3380CC4-5D6E-409C-BE32-E72D297353CC}">
                <c16:uniqueId val="{00000015-E3FA-43AF-93E5-786D085ACF18}"/>
              </c:ext>
            </c:extLst>
          </c:dPt>
          <c:dPt>
            <c:idx val="11"/>
            <c:bubble3D val="0"/>
            <c:spPr>
              <a:solidFill>
                <a:schemeClr val="accent6">
                  <a:lumMod val="80000"/>
                </a:schemeClr>
              </a:solidFill>
              <a:ln>
                <a:noFill/>
              </a:ln>
              <a:effectLst/>
            </c:spPr>
            <c:extLst>
              <c:ext xmlns:c16="http://schemas.microsoft.com/office/drawing/2014/chart" uri="{C3380CC4-5D6E-409C-BE32-E72D297353CC}">
                <c16:uniqueId val="{00000017-E3FA-43AF-93E5-786D085ACF18}"/>
              </c:ext>
            </c:extLst>
          </c:dPt>
          <c:dPt>
            <c:idx val="12"/>
            <c:bubble3D val="0"/>
            <c:spPr>
              <a:solidFill>
                <a:schemeClr val="accent2">
                  <a:lumMod val="60000"/>
                  <a:lumOff val="40000"/>
                </a:schemeClr>
              </a:solidFill>
              <a:ln>
                <a:noFill/>
              </a:ln>
              <a:effectLst/>
            </c:spPr>
            <c:extLst>
              <c:ext xmlns:c16="http://schemas.microsoft.com/office/drawing/2014/chart" uri="{C3380CC4-5D6E-409C-BE32-E72D297353CC}">
                <c16:uniqueId val="{00000019-E3FA-43AF-93E5-786D085ACF18}"/>
              </c:ext>
            </c:extLst>
          </c:dPt>
          <c:dPt>
            <c:idx val="13"/>
            <c:bubble3D val="0"/>
            <c:spPr>
              <a:solidFill>
                <a:schemeClr val="accent4">
                  <a:lumMod val="60000"/>
                  <a:lumOff val="40000"/>
                </a:schemeClr>
              </a:solidFill>
              <a:ln>
                <a:noFill/>
              </a:ln>
              <a:effectLst/>
            </c:spPr>
            <c:extLst>
              <c:ext xmlns:c16="http://schemas.microsoft.com/office/drawing/2014/chart" uri="{C3380CC4-5D6E-409C-BE32-E72D297353CC}">
                <c16:uniqueId val="{0000001B-E3FA-43AF-93E5-786D085ACF18}"/>
              </c:ext>
            </c:extLst>
          </c:dPt>
          <c:dPt>
            <c:idx val="14"/>
            <c:bubble3D val="0"/>
            <c:spPr>
              <a:solidFill>
                <a:schemeClr val="accent6">
                  <a:lumMod val="60000"/>
                  <a:lumOff val="40000"/>
                </a:schemeClr>
              </a:solidFill>
              <a:ln>
                <a:noFill/>
              </a:ln>
              <a:effectLst/>
            </c:spPr>
            <c:extLst>
              <c:ext xmlns:c16="http://schemas.microsoft.com/office/drawing/2014/chart" uri="{C3380CC4-5D6E-409C-BE32-E72D297353CC}">
                <c16:uniqueId val="{0000001D-E3FA-43AF-93E5-786D085ACF18}"/>
              </c:ext>
            </c:extLst>
          </c:dPt>
          <c:dPt>
            <c:idx val="15"/>
            <c:bubble3D val="0"/>
            <c:spPr>
              <a:solidFill>
                <a:schemeClr val="accent2">
                  <a:lumMod val="50000"/>
                </a:schemeClr>
              </a:solidFill>
              <a:ln>
                <a:noFill/>
              </a:ln>
              <a:effectLst/>
            </c:spPr>
            <c:extLst>
              <c:ext xmlns:c16="http://schemas.microsoft.com/office/drawing/2014/chart" uri="{C3380CC4-5D6E-409C-BE32-E72D297353CC}">
                <c16:uniqueId val="{0000001F-E3FA-43AF-93E5-786D085ACF18}"/>
              </c:ext>
            </c:extLst>
          </c:dPt>
          <c:dLbls>
            <c:dLbl>
              <c:idx val="2"/>
              <c:layout>
                <c:manualLayout>
                  <c:x val="-2.3674838214171556E-2"/>
                  <c:y val="3.680806522451582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3FA-43AF-93E5-786D085ACF18}"/>
                </c:ext>
              </c:extLst>
            </c:dLbl>
            <c:dLbl>
              <c:idx val="3"/>
              <c:layout>
                <c:manualLayout>
                  <c:x val="-2.6042322035588709E-2"/>
                  <c:y val="2.265111706124050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E3FA-43AF-93E5-786D085ACF18}"/>
                </c:ext>
              </c:extLst>
            </c:dLbl>
            <c:dLbl>
              <c:idx val="4"/>
              <c:layout>
                <c:manualLayout>
                  <c:x val="-3.3144773499840172E-2"/>
                  <c:y val="2.2651117061240504E-2"/>
                </c:manualLayout>
              </c:layout>
              <c:tx>
                <c:rich>
                  <a:bodyPr/>
                  <a:lstStyle/>
                  <a:p>
                    <a:fld id="{14FBAE89-7E86-440A-A7DA-BDABD8F38AB6}" type="VALUE">
                      <a:rPr lang="en-US">
                        <a:solidFill>
                          <a:schemeClr val="bg1"/>
                        </a:solidFill>
                      </a:rPr>
                      <a:pPr/>
                      <a:t>[VALUE]</a:t>
                    </a:fld>
                    <a:endParaRPr lang="en-US"/>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9-E3FA-43AF-93E5-786D085ACF18}"/>
                </c:ext>
              </c:extLst>
            </c:dLbl>
            <c:dLbl>
              <c:idx val="5"/>
              <c:layout>
                <c:manualLayout>
                  <c:x val="-4.024722496409161E-2"/>
                  <c:y val="1.6988337795930276E-2"/>
                </c:manualLayout>
              </c:layout>
              <c:tx>
                <c:rich>
                  <a:bodyPr/>
                  <a:lstStyle/>
                  <a:p>
                    <a:fld id="{115FA72A-3077-4B78-8784-A2380B11ACCC}" type="VALUE">
                      <a:rPr lang="en-US">
                        <a:solidFill>
                          <a:schemeClr val="bg1"/>
                        </a:solidFill>
                      </a:rPr>
                      <a:pPr/>
                      <a:t>[VALUE]</a:t>
                    </a:fld>
                    <a:endParaRPr lang="en-US"/>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B-E3FA-43AF-93E5-786D085ACF18}"/>
                </c:ext>
              </c:extLst>
            </c:dLbl>
            <c:dLbl>
              <c:idx val="6"/>
              <c:layout>
                <c:manualLayout>
                  <c:x val="-5.208464407117739E-2"/>
                  <c:y val="2.8313896326549594E-3"/>
                </c:manualLayout>
              </c:layout>
              <c:tx>
                <c:rich>
                  <a:bodyPr/>
                  <a:lstStyle/>
                  <a:p>
                    <a:fld id="{29332C3E-D8DC-4907-A6F6-6482CF4931BE}" type="VALUE">
                      <a:rPr lang="en-US">
                        <a:solidFill>
                          <a:schemeClr val="bg1"/>
                        </a:solidFill>
                      </a:rPr>
                      <a:pPr/>
                      <a:t>[VALUE]</a:t>
                    </a:fld>
                    <a:endParaRPr lang="en-US"/>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D-E3FA-43AF-93E5-786D085ACF18}"/>
                </c:ext>
              </c:extLst>
            </c:dLbl>
            <c:dLbl>
              <c:idx val="7"/>
              <c:layout>
                <c:manualLayout>
                  <c:x val="-4.734967642834307E-2"/>
                  <c:y val="0"/>
                </c:manualLayout>
              </c:layout>
              <c:tx>
                <c:rich>
                  <a:bodyPr/>
                  <a:lstStyle/>
                  <a:p>
                    <a:fld id="{E4999198-5025-4D29-9C55-D8363129BB60}" type="VALUE">
                      <a:rPr lang="en-US">
                        <a:solidFill>
                          <a:schemeClr val="bg1"/>
                        </a:solidFill>
                      </a:rPr>
                      <a:pPr/>
                      <a:t>[VALUE]</a:t>
                    </a:fld>
                    <a:endParaRPr lang="en-US"/>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F-E3FA-43AF-93E5-786D085ACF18}"/>
                </c:ext>
              </c:extLst>
            </c:dLbl>
            <c:dLbl>
              <c:idx val="8"/>
              <c:layout>
                <c:manualLayout>
                  <c:x val="-0.10910334812544682"/>
                  <c:y val="-1.1325558530620356E-2"/>
                </c:manualLayout>
              </c:layout>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E3FA-43AF-93E5-786D085ACF18}"/>
                </c:ext>
              </c:extLst>
            </c:dLbl>
            <c:dLbl>
              <c:idx val="9"/>
              <c:layout>
                <c:manualLayout>
                  <c:x val="-0.13036092943313676"/>
                  <c:y val="-2.1937250163306526E-2"/>
                </c:manualLayout>
              </c:layout>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E3FA-43AF-93E5-786D085ACF18}"/>
                </c:ext>
              </c:extLst>
            </c:dLbl>
            <c:dLbl>
              <c:idx val="10"/>
              <c:layout>
                <c:manualLayout>
                  <c:x val="-9.6632487284095264E-3"/>
                  <c:y val="-2.9003685265403763E-2"/>
                </c:manualLayout>
              </c:layout>
              <c:tx>
                <c:rich>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fld id="{4B0E201C-CEFD-4C7E-B872-98A6E62048E4}" type="VALUE">
                      <a:rPr lang="en-US">
                        <a:solidFill>
                          <a:schemeClr val="bg1"/>
                        </a:solidFill>
                      </a:rPr>
                      <a:pPr>
                        <a:defRPr/>
                      </a:pPr>
                      <a:t>[VALUE]</a:t>
                    </a:fld>
                    <a:endParaRPr lang="en-US"/>
                  </a:p>
                </c:rich>
              </c:tx>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15-E3FA-43AF-93E5-786D085ACF18}"/>
                </c:ext>
              </c:extLst>
            </c:dLbl>
            <c:dLbl>
              <c:idx val="11"/>
              <c:layout>
                <c:manualLayout>
                  <c:x val="-0.10221617770395905"/>
                  <c:y val="-4.5099563710288303E-2"/>
                </c:manualLayout>
              </c:layout>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E3FA-43AF-93E5-786D085ACF18}"/>
                </c:ext>
              </c:extLst>
            </c:dLbl>
            <c:dLbl>
              <c:idx val="12"/>
              <c:layout>
                <c:manualLayout>
                  <c:x val="-9.9893082756141796E-2"/>
                  <c:y val="-6.632288780924743E-2"/>
                </c:manualLayout>
              </c:layout>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E3FA-43AF-93E5-786D085ACF18}"/>
                </c:ext>
              </c:extLst>
            </c:dLbl>
            <c:dLbl>
              <c:idx val="13"/>
              <c:layout>
                <c:manualLayout>
                  <c:x val="-9.2923797912690051E-2"/>
                  <c:y val="-0.10081078947005613"/>
                </c:manualLayout>
              </c:layout>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E3FA-43AF-93E5-786D085ACF18}"/>
                </c:ext>
              </c:extLst>
            </c:dLbl>
            <c:dLbl>
              <c:idx val="14"/>
              <c:layout>
                <c:manualLayout>
                  <c:x val="-8.1308323173603786E-2"/>
                  <c:y val="-0.13529869113086479"/>
                </c:manualLayout>
              </c:layout>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D-E3FA-43AF-93E5-786D085ACF18}"/>
                </c:ext>
              </c:extLst>
            </c:dLbl>
            <c:spPr>
              <a:noFill/>
              <a:ln>
                <a:noFill/>
              </a:ln>
              <a:effectLst/>
            </c:spPr>
            <c:txPr>
              <a:bodyPr rot="0" spcFirstLastPara="1" vertOverflow="ellipsis" vert="horz" wrap="square" anchor="ctr" anchorCtr="1"/>
              <a:lstStyle/>
              <a:p>
                <a:pPr>
                  <a:defRPr sz="11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Sheet1!$A$2:$A$12</c:f>
              <c:strCache>
                <c:ptCount val="11"/>
                <c:pt idx="0">
                  <c:v>China</c:v>
                </c:pt>
                <c:pt idx="1">
                  <c:v>India</c:v>
                </c:pt>
                <c:pt idx="2">
                  <c:v>US</c:v>
                </c:pt>
                <c:pt idx="3">
                  <c:v>Pakistan</c:v>
                </c:pt>
                <c:pt idx="4">
                  <c:v>Brazil</c:v>
                </c:pt>
                <c:pt idx="5">
                  <c:v>Indonesia</c:v>
                </c:pt>
                <c:pt idx="6">
                  <c:v>Turkey</c:v>
                </c:pt>
                <c:pt idx="7">
                  <c:v>South Korea</c:v>
                </c:pt>
                <c:pt idx="8">
                  <c:v>Thailand</c:v>
                </c:pt>
                <c:pt idx="9">
                  <c:v>Mexico</c:v>
                </c:pt>
                <c:pt idx="10">
                  <c:v>Others</c:v>
                </c:pt>
              </c:strCache>
            </c:strRef>
          </c:cat>
          <c:val>
            <c:numRef>
              <c:f>Sheet1!$B$2:$B$12</c:f>
              <c:numCache>
                <c:formatCode>0.0%</c:formatCode>
                <c:ptCount val="11"/>
                <c:pt idx="0">
                  <c:v>0.52200000000000002</c:v>
                </c:pt>
                <c:pt idx="1">
                  <c:v>6.9000000000000006E-2</c:v>
                </c:pt>
                <c:pt idx="2">
                  <c:v>5.2999999999999999E-2</c:v>
                </c:pt>
                <c:pt idx="3">
                  <c:v>3.5999999999999997E-2</c:v>
                </c:pt>
                <c:pt idx="4">
                  <c:v>2.4E-2</c:v>
                </c:pt>
                <c:pt idx="5">
                  <c:v>2.4E-2</c:v>
                </c:pt>
                <c:pt idx="6">
                  <c:v>1.9E-2</c:v>
                </c:pt>
                <c:pt idx="7">
                  <c:v>1.7999999999999999E-2</c:v>
                </c:pt>
                <c:pt idx="8">
                  <c:v>1.0999999999999999E-2</c:v>
                </c:pt>
                <c:pt idx="9">
                  <c:v>8.9999999999999993E-3</c:v>
                </c:pt>
                <c:pt idx="10">
                  <c:v>0.215</c:v>
                </c:pt>
              </c:numCache>
            </c:numRef>
          </c:val>
          <c:extLst>
            <c:ext xmlns:c16="http://schemas.microsoft.com/office/drawing/2014/chart" uri="{C3380CC4-5D6E-409C-BE32-E72D297353CC}">
              <c16:uniqueId val="{00000020-E3FA-43AF-93E5-786D085ACF18}"/>
            </c:ext>
          </c:extLst>
        </c:ser>
        <c:dLbls>
          <c:showLegendKey val="0"/>
          <c:showVal val="0"/>
          <c:showCatName val="0"/>
          <c:showSerName val="0"/>
          <c:showPercent val="0"/>
          <c:showBubbleSize val="0"/>
          <c:showLeaderLines val="1"/>
        </c:dLbls>
        <c:firstSliceAng val="0"/>
        <c:holeSize val="50"/>
      </c:doughnutChart>
      <c:spPr>
        <a:noFill/>
        <a:ln>
          <a:noFill/>
        </a:ln>
        <a:effectLst/>
      </c:spPr>
    </c:plotArea>
    <c:legend>
      <c:legendPos val="b"/>
      <c:layout>
        <c:manualLayout>
          <c:xMode val="edge"/>
          <c:yMode val="edge"/>
          <c:x val="0.72746085654534376"/>
          <c:y val="3.4487901660808666E-2"/>
          <c:w val="0.27253914345465619"/>
          <c:h val="0.93898294321549236"/>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userShapes r:id="rId4"/>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Lbls>
            <c:spPr>
              <a:noFill/>
              <a:ln>
                <a:noFill/>
              </a:ln>
              <a:effectLst/>
            </c:spPr>
            <c:txPr>
              <a:bodyPr rot="-5400000" spcFirstLastPara="1" vertOverflow="ellipsis"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10"/>
                <c:pt idx="0">
                  <c:v>USA</c:v>
                </c:pt>
                <c:pt idx="1">
                  <c:v>China</c:v>
                </c:pt>
                <c:pt idx="2">
                  <c:v>Russia</c:v>
                </c:pt>
                <c:pt idx="3">
                  <c:v>India</c:v>
                </c:pt>
                <c:pt idx="4">
                  <c:v>KSA</c:v>
                </c:pt>
                <c:pt idx="5">
                  <c:v>U.K.</c:v>
                </c:pt>
                <c:pt idx="6">
                  <c:v>Germany</c:v>
                </c:pt>
                <c:pt idx="7">
                  <c:v>France</c:v>
                </c:pt>
                <c:pt idx="8">
                  <c:v>S. Korea</c:v>
                </c:pt>
                <c:pt idx="9">
                  <c:v>Japan</c:v>
                </c:pt>
              </c:strCache>
            </c:strRef>
          </c:cat>
          <c:val>
            <c:numRef>
              <c:f>Sheet1!$B$2:$B$11</c:f>
              <c:numCache>
                <c:formatCode>0.0</c:formatCode>
                <c:ptCount val="10"/>
                <c:pt idx="0">
                  <c:v>877</c:v>
                </c:pt>
                <c:pt idx="1">
                  <c:v>292</c:v>
                </c:pt>
                <c:pt idx="2">
                  <c:v>86.4</c:v>
                </c:pt>
                <c:pt idx="3">
                  <c:v>81.400000000000006</c:v>
                </c:pt>
                <c:pt idx="4">
                  <c:v>75</c:v>
                </c:pt>
                <c:pt idx="5">
                  <c:v>68.5</c:v>
                </c:pt>
                <c:pt idx="6">
                  <c:v>55.8</c:v>
                </c:pt>
                <c:pt idx="7">
                  <c:v>53.6</c:v>
                </c:pt>
                <c:pt idx="8">
                  <c:v>46.4</c:v>
                </c:pt>
                <c:pt idx="9">
                  <c:v>46</c:v>
                </c:pt>
              </c:numCache>
            </c:numRef>
          </c:val>
          <c:extLst>
            <c:ext xmlns:c16="http://schemas.microsoft.com/office/drawing/2014/chart" uri="{C3380CC4-5D6E-409C-BE32-E72D297353CC}">
              <c16:uniqueId val="{00000000-0657-4824-A1D7-384253273358}"/>
            </c:ext>
          </c:extLst>
        </c:ser>
        <c:dLbls>
          <c:dLblPos val="outEnd"/>
          <c:showLegendKey val="0"/>
          <c:showVal val="1"/>
          <c:showCatName val="0"/>
          <c:showSerName val="0"/>
          <c:showPercent val="0"/>
          <c:showBubbleSize val="0"/>
        </c:dLbls>
        <c:gapWidth val="219"/>
        <c:overlap val="-27"/>
        <c:axId val="652816688"/>
        <c:axId val="652794928"/>
      </c:barChart>
      <c:catAx>
        <c:axId val="652816688"/>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652794928"/>
        <c:crosses val="autoZero"/>
        <c:auto val="1"/>
        <c:lblAlgn val="ctr"/>
        <c:lblOffset val="100"/>
        <c:noMultiLvlLbl val="0"/>
      </c:catAx>
      <c:valAx>
        <c:axId val="652794928"/>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65281668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Expenditure (% of GDP)</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10"/>
                <c:pt idx="0">
                  <c:v>United States</c:v>
                </c:pt>
                <c:pt idx="1">
                  <c:v>China</c:v>
                </c:pt>
                <c:pt idx="2">
                  <c:v>Russia</c:v>
                </c:pt>
                <c:pt idx="3">
                  <c:v>India</c:v>
                </c:pt>
                <c:pt idx="4">
                  <c:v>Saudi Arabia</c:v>
                </c:pt>
                <c:pt idx="5">
                  <c:v>United Kingdom</c:v>
                </c:pt>
                <c:pt idx="6">
                  <c:v>Germany</c:v>
                </c:pt>
                <c:pt idx="7">
                  <c:v>France</c:v>
                </c:pt>
                <c:pt idx="8">
                  <c:v>South Korea</c:v>
                </c:pt>
                <c:pt idx="9">
                  <c:v>Japan</c:v>
                </c:pt>
              </c:strCache>
            </c:strRef>
          </c:cat>
          <c:val>
            <c:numRef>
              <c:f>Sheet1!$B$2:$B$11</c:f>
              <c:numCache>
                <c:formatCode>0.0%</c:formatCode>
                <c:ptCount val="10"/>
                <c:pt idx="0">
                  <c:v>3.5000000000000003E-2</c:v>
                </c:pt>
                <c:pt idx="1">
                  <c:v>1.6E-2</c:v>
                </c:pt>
                <c:pt idx="2">
                  <c:v>4.0999999999999995E-2</c:v>
                </c:pt>
                <c:pt idx="3">
                  <c:v>2.4E-2</c:v>
                </c:pt>
                <c:pt idx="4">
                  <c:v>7.400000000000001E-2</c:v>
                </c:pt>
                <c:pt idx="5">
                  <c:v>2.2000000000000002E-2</c:v>
                </c:pt>
                <c:pt idx="6">
                  <c:v>1.3999999999999999E-2</c:v>
                </c:pt>
                <c:pt idx="7">
                  <c:v>1.9E-2</c:v>
                </c:pt>
                <c:pt idx="8">
                  <c:v>2.7000000000000003E-2</c:v>
                </c:pt>
                <c:pt idx="9">
                  <c:v>1.1000000000000001E-2</c:v>
                </c:pt>
              </c:numCache>
            </c:numRef>
          </c:val>
          <c:extLst>
            <c:ext xmlns:c16="http://schemas.microsoft.com/office/drawing/2014/chart" uri="{C3380CC4-5D6E-409C-BE32-E72D297353CC}">
              <c16:uniqueId val="{00000000-2B42-4BBF-A0D7-61537D710434}"/>
            </c:ext>
          </c:extLst>
        </c:ser>
        <c:ser>
          <c:idx val="1"/>
          <c:order val="1"/>
          <c:tx>
            <c:strRef>
              <c:f>Sheet1!$C$1</c:f>
              <c:strCache>
                <c:ptCount val="1"/>
                <c:pt idx="0">
                  <c:v>Expenditure (% of Global Spending)</c:v>
                </c:pt>
              </c:strCache>
            </c:strRef>
          </c:tx>
          <c:spPr>
            <a:solidFill>
              <a:schemeClr val="accent2"/>
            </a:solidFill>
            <a:ln>
              <a:noFill/>
            </a:ln>
            <a:effectLst/>
          </c:spPr>
          <c:invertIfNegative val="0"/>
          <c:dLbls>
            <c:dLbl>
              <c:idx val="1"/>
              <c:layout>
                <c:manualLayout>
                  <c:x val="-2.9617320755329223E-17"/>
                  <c:y val="-3.874091024869935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B42-4BBF-A0D7-61537D710434}"/>
                </c:ext>
              </c:extLst>
            </c:dLbl>
            <c:dLbl>
              <c:idx val="2"/>
              <c:layout>
                <c:manualLayout>
                  <c:x val="-5.9234641510658446E-17"/>
                  <c:y val="-0.12913636749566454"/>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B42-4BBF-A0D7-61537D710434}"/>
                </c:ext>
              </c:extLst>
            </c:dLbl>
            <c:dLbl>
              <c:idx val="3"/>
              <c:layout>
                <c:manualLayout>
                  <c:x val="0"/>
                  <c:y val="-0.12913636749566454"/>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B42-4BBF-A0D7-61537D710434}"/>
                </c:ext>
              </c:extLst>
            </c:dLbl>
            <c:dLbl>
              <c:idx val="4"/>
              <c:layout>
                <c:manualLayout>
                  <c:x val="1.6155088852988692E-3"/>
                  <c:y val="-0.12913636749566448"/>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B42-4BBF-A0D7-61537D710434}"/>
                </c:ext>
              </c:extLst>
            </c:dLbl>
            <c:dLbl>
              <c:idx val="5"/>
              <c:layout>
                <c:manualLayout>
                  <c:x val="-1.1846928302131689E-16"/>
                  <c:y val="-0.13559318587044775"/>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B42-4BBF-A0D7-61537D710434}"/>
                </c:ext>
              </c:extLst>
            </c:dLbl>
            <c:dLbl>
              <c:idx val="6"/>
              <c:layout>
                <c:manualLayout>
                  <c:x val="-1.6155088852988692E-3"/>
                  <c:y val="-0.14205000424523098"/>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B42-4BBF-A0D7-61537D710434}"/>
                </c:ext>
              </c:extLst>
            </c:dLbl>
            <c:dLbl>
              <c:idx val="7"/>
              <c:layout>
                <c:manualLayout>
                  <c:x val="1.6155088852988692E-3"/>
                  <c:y val="-0.14205000424523101"/>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B42-4BBF-A0D7-61537D710434}"/>
                </c:ext>
              </c:extLst>
            </c:dLbl>
            <c:dLbl>
              <c:idx val="8"/>
              <c:layout>
                <c:manualLayout>
                  <c:x val="0"/>
                  <c:y val="-0.14205000424523098"/>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B42-4BBF-A0D7-61537D710434}"/>
                </c:ext>
              </c:extLst>
            </c:dLbl>
            <c:dLbl>
              <c:idx val="9"/>
              <c:layout>
                <c:manualLayout>
                  <c:x val="0"/>
                  <c:y val="-0.14205000424523098"/>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B42-4BBF-A0D7-61537D71043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10"/>
                <c:pt idx="0">
                  <c:v>United States</c:v>
                </c:pt>
                <c:pt idx="1">
                  <c:v>China</c:v>
                </c:pt>
                <c:pt idx="2">
                  <c:v>Russia</c:v>
                </c:pt>
                <c:pt idx="3">
                  <c:v>India</c:v>
                </c:pt>
                <c:pt idx="4">
                  <c:v>Saudi Arabia</c:v>
                </c:pt>
                <c:pt idx="5">
                  <c:v>United Kingdom</c:v>
                </c:pt>
                <c:pt idx="6">
                  <c:v>Germany</c:v>
                </c:pt>
                <c:pt idx="7">
                  <c:v>France</c:v>
                </c:pt>
                <c:pt idx="8">
                  <c:v>South Korea</c:v>
                </c:pt>
                <c:pt idx="9">
                  <c:v>Japan</c:v>
                </c:pt>
              </c:strCache>
            </c:strRef>
          </c:cat>
          <c:val>
            <c:numRef>
              <c:f>Sheet1!$C$2:$C$11</c:f>
              <c:numCache>
                <c:formatCode>0.0%</c:formatCode>
                <c:ptCount val="10"/>
                <c:pt idx="0">
                  <c:v>0.39</c:v>
                </c:pt>
                <c:pt idx="1">
                  <c:v>0.13</c:v>
                </c:pt>
                <c:pt idx="2">
                  <c:v>3.9E-2</c:v>
                </c:pt>
                <c:pt idx="3">
                  <c:v>3.6000000000000004E-2</c:v>
                </c:pt>
                <c:pt idx="4">
                  <c:v>3.3000000000000002E-2</c:v>
                </c:pt>
                <c:pt idx="5">
                  <c:v>3.1E-2</c:v>
                </c:pt>
                <c:pt idx="6">
                  <c:v>2.5000000000000001E-2</c:v>
                </c:pt>
                <c:pt idx="7">
                  <c:v>2.4E-2</c:v>
                </c:pt>
                <c:pt idx="8">
                  <c:v>2.1000000000000001E-2</c:v>
                </c:pt>
                <c:pt idx="9">
                  <c:v>2.1000000000000001E-2</c:v>
                </c:pt>
              </c:numCache>
            </c:numRef>
          </c:val>
          <c:extLst>
            <c:ext xmlns:c16="http://schemas.microsoft.com/office/drawing/2014/chart" uri="{C3380CC4-5D6E-409C-BE32-E72D297353CC}">
              <c16:uniqueId val="{0000000A-2B42-4BBF-A0D7-61537D710434}"/>
            </c:ext>
          </c:extLst>
        </c:ser>
        <c:dLbls>
          <c:dLblPos val="outEnd"/>
          <c:showLegendKey val="0"/>
          <c:showVal val="1"/>
          <c:showCatName val="0"/>
          <c:showSerName val="0"/>
          <c:showPercent val="0"/>
          <c:showBubbleSize val="0"/>
        </c:dLbls>
        <c:gapWidth val="219"/>
        <c:overlap val="-27"/>
        <c:axId val="652797104"/>
        <c:axId val="652802000"/>
      </c:barChart>
      <c:catAx>
        <c:axId val="6527971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652802000"/>
        <c:crosses val="autoZero"/>
        <c:auto val="1"/>
        <c:lblAlgn val="ctr"/>
        <c:lblOffset val="100"/>
        <c:noMultiLvlLbl val="0"/>
      </c:catAx>
      <c:valAx>
        <c:axId val="652802000"/>
        <c:scaling>
          <c:orientation val="minMax"/>
        </c:scaling>
        <c:delete val="0"/>
        <c:axPos val="l"/>
        <c:numFmt formatCode="0.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65279710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76422812448339"/>
          <c:y val="2.6130849055063698E-2"/>
          <c:w val="0.69272900427000428"/>
          <c:h val="0.71690502750735974"/>
        </c:manualLayout>
      </c:layout>
      <c:doughnutChart>
        <c:varyColors val="1"/>
        <c:ser>
          <c:idx val="0"/>
          <c:order val="0"/>
          <c:tx>
            <c:strRef>
              <c:f>Sheet1!$B$1</c:f>
              <c:strCache>
                <c:ptCount val="1"/>
                <c:pt idx="0">
                  <c:v>Sales</c:v>
                </c:pt>
              </c:strCache>
            </c:strRef>
          </c:tx>
          <c:spPr>
            <a:ln w="9525"/>
          </c:spPr>
          <c:dPt>
            <c:idx val="0"/>
            <c:bubble3D val="0"/>
            <c:spPr>
              <a:solidFill>
                <a:schemeClr val="accent1"/>
              </a:solidFill>
              <a:ln w="9525">
                <a:solidFill>
                  <a:schemeClr val="lt1"/>
                </a:solidFill>
              </a:ln>
              <a:effectLst/>
            </c:spPr>
            <c:extLst>
              <c:ext xmlns:c16="http://schemas.microsoft.com/office/drawing/2014/chart" uri="{C3380CC4-5D6E-409C-BE32-E72D297353CC}">
                <c16:uniqueId val="{00000001-A990-4588-94FF-DE97BDFACDAE}"/>
              </c:ext>
            </c:extLst>
          </c:dPt>
          <c:dPt>
            <c:idx val="1"/>
            <c:bubble3D val="0"/>
            <c:spPr>
              <a:solidFill>
                <a:schemeClr val="accent2"/>
              </a:solidFill>
              <a:ln w="9525">
                <a:solidFill>
                  <a:schemeClr val="lt1"/>
                </a:solidFill>
              </a:ln>
              <a:effectLst/>
            </c:spPr>
            <c:extLst>
              <c:ext xmlns:c16="http://schemas.microsoft.com/office/drawing/2014/chart" uri="{C3380CC4-5D6E-409C-BE32-E72D297353CC}">
                <c16:uniqueId val="{00000003-A990-4588-94FF-DE97BDFACDAE}"/>
              </c:ext>
            </c:extLst>
          </c:dPt>
          <c:dPt>
            <c:idx val="2"/>
            <c:bubble3D val="0"/>
            <c:spPr>
              <a:solidFill>
                <a:schemeClr val="accent3"/>
              </a:solidFill>
              <a:ln w="9525">
                <a:solidFill>
                  <a:schemeClr val="lt1"/>
                </a:solidFill>
              </a:ln>
              <a:effectLst/>
            </c:spPr>
            <c:extLst>
              <c:ext xmlns:c16="http://schemas.microsoft.com/office/drawing/2014/chart" uri="{C3380CC4-5D6E-409C-BE32-E72D297353CC}">
                <c16:uniqueId val="{00000005-A990-4588-94FF-DE97BDFACDAE}"/>
              </c:ext>
            </c:extLst>
          </c:dPt>
          <c:dPt>
            <c:idx val="3"/>
            <c:bubble3D val="0"/>
            <c:spPr>
              <a:solidFill>
                <a:schemeClr val="accent4"/>
              </a:solidFill>
              <a:ln w="9525">
                <a:solidFill>
                  <a:schemeClr val="lt1"/>
                </a:solidFill>
              </a:ln>
              <a:effectLst/>
            </c:spPr>
            <c:extLst>
              <c:ext xmlns:c16="http://schemas.microsoft.com/office/drawing/2014/chart" uri="{C3380CC4-5D6E-409C-BE32-E72D297353CC}">
                <c16:uniqueId val="{00000007-A990-4588-94FF-DE97BDFACDAE}"/>
              </c:ext>
            </c:extLst>
          </c:dPt>
          <c:dPt>
            <c:idx val="4"/>
            <c:bubble3D val="0"/>
            <c:spPr>
              <a:solidFill>
                <a:schemeClr val="accent5"/>
              </a:solidFill>
              <a:ln w="9525">
                <a:solidFill>
                  <a:schemeClr val="lt1"/>
                </a:solidFill>
              </a:ln>
              <a:effectLst/>
            </c:spPr>
            <c:extLst>
              <c:ext xmlns:c16="http://schemas.microsoft.com/office/drawing/2014/chart" uri="{C3380CC4-5D6E-409C-BE32-E72D297353CC}">
                <c16:uniqueId val="{00000009-A990-4588-94FF-DE97BDFACDAE}"/>
              </c:ext>
            </c:extLst>
          </c:dPt>
          <c:dPt>
            <c:idx val="5"/>
            <c:bubble3D val="0"/>
            <c:spPr>
              <a:solidFill>
                <a:schemeClr val="accent6"/>
              </a:solidFill>
              <a:ln w="9525">
                <a:solidFill>
                  <a:schemeClr val="lt1"/>
                </a:solidFill>
              </a:ln>
              <a:effectLst/>
            </c:spPr>
            <c:extLst>
              <c:ext xmlns:c16="http://schemas.microsoft.com/office/drawing/2014/chart" uri="{C3380CC4-5D6E-409C-BE32-E72D297353CC}">
                <c16:uniqueId val="{0000000B-A990-4588-94FF-DE97BDFACDAE}"/>
              </c:ext>
            </c:extLst>
          </c:dPt>
          <c:dPt>
            <c:idx val="6"/>
            <c:bubble3D val="0"/>
            <c:spPr>
              <a:solidFill>
                <a:srgbClr val="7B8422"/>
              </a:solidFill>
              <a:ln w="9525">
                <a:solidFill>
                  <a:schemeClr val="lt1"/>
                </a:solidFill>
              </a:ln>
              <a:effectLst/>
            </c:spPr>
            <c:extLst>
              <c:ext xmlns:c16="http://schemas.microsoft.com/office/drawing/2014/chart" uri="{C3380CC4-5D6E-409C-BE32-E72D297353CC}">
                <c16:uniqueId val="{0000000D-A990-4588-94FF-DE97BDFACDAE}"/>
              </c:ext>
            </c:extLst>
          </c:dPt>
          <c:dPt>
            <c:idx val="7"/>
            <c:bubble3D val="0"/>
            <c:spPr>
              <a:solidFill>
                <a:srgbClr val="7B1A60"/>
              </a:solidFill>
              <a:ln w="9525">
                <a:solidFill>
                  <a:schemeClr val="lt1"/>
                </a:solidFill>
              </a:ln>
              <a:effectLst/>
            </c:spPr>
            <c:extLst>
              <c:ext xmlns:c16="http://schemas.microsoft.com/office/drawing/2014/chart" uri="{C3380CC4-5D6E-409C-BE32-E72D297353CC}">
                <c16:uniqueId val="{0000000F-A990-4588-94FF-DE97BDFACDAE}"/>
              </c:ext>
            </c:extLst>
          </c:dPt>
          <c:dPt>
            <c:idx val="8"/>
            <c:bubble3D val="0"/>
            <c:spPr>
              <a:solidFill>
                <a:srgbClr val="C55A11"/>
              </a:solidFill>
              <a:ln w="9525">
                <a:solidFill>
                  <a:schemeClr val="lt1"/>
                </a:solidFill>
              </a:ln>
              <a:effectLst/>
            </c:spPr>
            <c:extLst>
              <c:ext xmlns:c16="http://schemas.microsoft.com/office/drawing/2014/chart" uri="{C3380CC4-5D6E-409C-BE32-E72D297353CC}">
                <c16:uniqueId val="{00000011-A990-4588-94FF-DE97BDFACDAE}"/>
              </c:ext>
            </c:extLst>
          </c:dPt>
          <c:dPt>
            <c:idx val="9"/>
            <c:bubble3D val="0"/>
            <c:spPr>
              <a:solidFill>
                <a:srgbClr val="595959"/>
              </a:solidFill>
              <a:ln w="9525">
                <a:solidFill>
                  <a:schemeClr val="lt1"/>
                </a:solidFill>
              </a:ln>
              <a:effectLst/>
            </c:spPr>
            <c:extLst>
              <c:ext xmlns:c16="http://schemas.microsoft.com/office/drawing/2014/chart" uri="{C3380CC4-5D6E-409C-BE32-E72D297353CC}">
                <c16:uniqueId val="{00000013-A990-4588-94FF-DE97BDFACDAE}"/>
              </c:ext>
            </c:extLst>
          </c:dPt>
          <c:dPt>
            <c:idx val="10"/>
            <c:bubble3D val="0"/>
            <c:spPr>
              <a:solidFill>
                <a:srgbClr val="7AABD8"/>
              </a:solidFill>
              <a:ln w="9525">
                <a:solidFill>
                  <a:schemeClr val="lt1"/>
                </a:solidFill>
              </a:ln>
              <a:effectLst/>
            </c:spPr>
            <c:extLst>
              <c:ext xmlns:c16="http://schemas.microsoft.com/office/drawing/2014/chart" uri="{C3380CC4-5D6E-409C-BE32-E72D297353CC}">
                <c16:uniqueId val="{00000015-A990-4588-94FF-DE97BDFACDAE}"/>
              </c:ext>
            </c:extLst>
          </c:dPt>
          <c:dPt>
            <c:idx val="11"/>
            <c:bubble3D val="0"/>
            <c:spPr>
              <a:solidFill>
                <a:srgbClr val="E5494D"/>
              </a:solidFill>
              <a:ln w="9525">
                <a:solidFill>
                  <a:schemeClr val="lt1"/>
                </a:solidFill>
              </a:ln>
              <a:effectLst/>
            </c:spPr>
            <c:extLst>
              <c:ext xmlns:c16="http://schemas.microsoft.com/office/drawing/2014/chart" uri="{C3380CC4-5D6E-409C-BE32-E72D297353CC}">
                <c16:uniqueId val="{00000017-A990-4588-94FF-DE97BDFACDAE}"/>
              </c:ext>
            </c:extLst>
          </c:dPt>
          <c:dPt>
            <c:idx val="12"/>
            <c:bubble3D val="0"/>
            <c:spPr>
              <a:solidFill>
                <a:srgbClr val="F3CE47"/>
              </a:solidFill>
              <a:ln w="9525">
                <a:solidFill>
                  <a:schemeClr val="lt1"/>
                </a:solidFill>
              </a:ln>
              <a:effectLst/>
            </c:spPr>
            <c:extLst>
              <c:ext xmlns:c16="http://schemas.microsoft.com/office/drawing/2014/chart" uri="{C3380CC4-5D6E-409C-BE32-E72D297353CC}">
                <c16:uniqueId val="{00000019-A990-4588-94FF-DE97BDFACDAE}"/>
              </c:ext>
            </c:extLst>
          </c:dPt>
          <c:dPt>
            <c:idx val="13"/>
            <c:bubble3D val="0"/>
            <c:spPr>
              <a:solidFill>
                <a:srgbClr val="A08EC4"/>
              </a:solidFill>
              <a:ln w="9525">
                <a:solidFill>
                  <a:schemeClr val="lt1"/>
                </a:solidFill>
              </a:ln>
              <a:effectLst/>
            </c:spPr>
            <c:extLst>
              <c:ext xmlns:c16="http://schemas.microsoft.com/office/drawing/2014/chart" uri="{C3380CC4-5D6E-409C-BE32-E72D297353CC}">
                <c16:uniqueId val="{0000001B-A990-4588-94FF-DE97BDFACDAE}"/>
              </c:ext>
            </c:extLst>
          </c:dPt>
          <c:dPt>
            <c:idx val="14"/>
            <c:bubble3D val="0"/>
            <c:spPr>
              <a:solidFill>
                <a:srgbClr val="4BF6FF"/>
              </a:solidFill>
              <a:ln w="9525">
                <a:solidFill>
                  <a:schemeClr val="lt1"/>
                </a:solidFill>
              </a:ln>
              <a:effectLst/>
            </c:spPr>
            <c:extLst>
              <c:ext xmlns:c16="http://schemas.microsoft.com/office/drawing/2014/chart" uri="{C3380CC4-5D6E-409C-BE32-E72D297353CC}">
                <c16:uniqueId val="{0000001D-A990-4588-94FF-DE97BDFACDAE}"/>
              </c:ext>
            </c:extLst>
          </c:dPt>
          <c:dPt>
            <c:idx val="15"/>
            <c:bubble3D val="0"/>
            <c:spPr>
              <a:solidFill>
                <a:srgbClr val="EEA86E"/>
              </a:solidFill>
              <a:ln w="9525">
                <a:solidFill>
                  <a:schemeClr val="lt1"/>
                </a:solidFill>
              </a:ln>
              <a:effectLst/>
            </c:spPr>
            <c:extLst>
              <c:ext xmlns:c16="http://schemas.microsoft.com/office/drawing/2014/chart" uri="{C3380CC4-5D6E-409C-BE32-E72D297353CC}">
                <c16:uniqueId val="{0000001F-A990-4588-94FF-DE97BDFACDAE}"/>
              </c:ext>
            </c:extLst>
          </c:dPt>
          <c:dPt>
            <c:idx val="16"/>
            <c:bubble3D val="0"/>
            <c:spPr>
              <a:solidFill>
                <a:srgbClr val="D5DE7E"/>
              </a:solidFill>
              <a:ln w="9525">
                <a:solidFill>
                  <a:schemeClr val="lt1"/>
                </a:solidFill>
              </a:ln>
              <a:effectLst/>
            </c:spPr>
            <c:extLst>
              <c:ext xmlns:c16="http://schemas.microsoft.com/office/drawing/2014/chart" uri="{C3380CC4-5D6E-409C-BE32-E72D297353CC}">
                <c16:uniqueId val="{00000021-A990-4588-94FF-DE97BDFACDAE}"/>
              </c:ext>
            </c:extLst>
          </c:dPt>
          <c:dPt>
            <c:idx val="17"/>
            <c:bubble3D val="0"/>
            <c:spPr>
              <a:solidFill>
                <a:srgbClr val="E894D0"/>
              </a:solidFill>
              <a:ln w="9525">
                <a:solidFill>
                  <a:schemeClr val="lt1"/>
                </a:solidFill>
              </a:ln>
              <a:effectLst/>
            </c:spPr>
            <c:extLst>
              <c:ext xmlns:c16="http://schemas.microsoft.com/office/drawing/2014/chart" uri="{C3380CC4-5D6E-409C-BE32-E72D297353CC}">
                <c16:uniqueId val="{00000023-A990-4588-94FF-DE97BDFACDAE}"/>
              </c:ext>
            </c:extLst>
          </c:dPt>
          <c:dPt>
            <c:idx val="18"/>
            <c:bubble3D val="0"/>
            <c:spPr>
              <a:solidFill>
                <a:srgbClr val="F19759"/>
              </a:solidFill>
              <a:ln w="9525">
                <a:solidFill>
                  <a:schemeClr val="lt1"/>
                </a:solidFill>
              </a:ln>
              <a:effectLst/>
            </c:spPr>
            <c:extLst>
              <c:ext xmlns:c16="http://schemas.microsoft.com/office/drawing/2014/chart" uri="{C3380CC4-5D6E-409C-BE32-E72D297353CC}">
                <c16:uniqueId val="{00000025-A990-4588-94FF-DE97BDFACDAE}"/>
              </c:ext>
            </c:extLst>
          </c:dPt>
          <c:dPt>
            <c:idx val="19"/>
            <c:bubble3D val="0"/>
            <c:spPr>
              <a:solidFill>
                <a:srgbClr val="D9D9D9"/>
              </a:solidFill>
              <a:ln w="9525">
                <a:solidFill>
                  <a:schemeClr val="lt1"/>
                </a:solidFill>
              </a:ln>
              <a:effectLst/>
            </c:spPr>
            <c:extLst>
              <c:ext xmlns:c16="http://schemas.microsoft.com/office/drawing/2014/chart" uri="{C3380CC4-5D6E-409C-BE32-E72D297353CC}">
                <c16:uniqueId val="{00000027-A990-4588-94FF-DE97BDFACDAE}"/>
              </c:ext>
            </c:extLst>
          </c:dPt>
          <c:dPt>
            <c:idx val="20"/>
            <c:bubble3D val="0"/>
            <c:spPr>
              <a:solidFill>
                <a:srgbClr val="2A5F8F"/>
              </a:solidFill>
              <a:ln w="9525">
                <a:solidFill>
                  <a:schemeClr val="lt1"/>
                </a:solidFill>
              </a:ln>
              <a:effectLst/>
            </c:spPr>
            <c:extLst>
              <c:ext xmlns:c16="http://schemas.microsoft.com/office/drawing/2014/chart" uri="{C3380CC4-5D6E-409C-BE32-E72D297353CC}">
                <c16:uniqueId val="{00000029-A990-4588-94FF-DE97BDFACDAE}"/>
              </c:ext>
            </c:extLst>
          </c:dPt>
          <c:dPt>
            <c:idx val="21"/>
            <c:bubble3D val="0"/>
            <c:spPr>
              <a:solidFill>
                <a:srgbClr val="8E1416"/>
              </a:solidFill>
              <a:ln w="9525">
                <a:solidFill>
                  <a:schemeClr val="lt1"/>
                </a:solidFill>
              </a:ln>
              <a:effectLst/>
            </c:spPr>
            <c:extLst>
              <c:ext xmlns:c16="http://schemas.microsoft.com/office/drawing/2014/chart" uri="{C3380CC4-5D6E-409C-BE32-E72D297353CC}">
                <c16:uniqueId val="{0000002B-A990-4588-94FF-DE97BDFACDAE}"/>
              </c:ext>
            </c:extLst>
          </c:dPt>
          <c:dPt>
            <c:idx val="22"/>
            <c:bubble3D val="0"/>
            <c:spPr>
              <a:solidFill>
                <a:srgbClr val="9E7E0A"/>
              </a:solidFill>
              <a:ln w="9525">
                <a:solidFill>
                  <a:schemeClr val="lt1"/>
                </a:solidFill>
              </a:ln>
              <a:effectLst/>
            </c:spPr>
            <c:extLst>
              <c:ext xmlns:c16="http://schemas.microsoft.com/office/drawing/2014/chart" uri="{C3380CC4-5D6E-409C-BE32-E72D297353CC}">
                <c16:uniqueId val="{0000002D-A990-4588-94FF-DE97BDFACDAE}"/>
              </c:ext>
            </c:extLst>
          </c:dPt>
          <c:dLbls>
            <c:dLbl>
              <c:idx val="10"/>
              <c:numFmt formatCode="0.0%" sourceLinked="0"/>
              <c:spPr>
                <a:noFill/>
                <a:ln>
                  <a:noFill/>
                </a:ln>
                <a:effectLst/>
              </c:spPr>
              <c:txPr>
                <a:bodyPr rot="0" spcFirstLastPara="1" vertOverflow="ellipsis" horzOverflow="clip" vert="horz" wrap="square" lIns="0" tIns="0" rIns="0" bIns="0" anchor="ctr" anchorCtr="1">
                  <a:spAutoFit/>
                </a:bodyPr>
                <a:lstStyle/>
                <a:p>
                  <a:pPr>
                    <a:defRPr sz="1100" b="0" i="0" u="none" strike="noStrike" kern="1200" baseline="0">
                      <a:solidFill>
                        <a:schemeClr val="tx1"/>
                      </a:solidFill>
                      <a:latin typeface="+mn-lt"/>
                      <a:ea typeface="+mn-ea"/>
                      <a:cs typeface="+mn-cs"/>
                    </a:defRPr>
                  </a:pPr>
                  <a:endParaRPr lang="en-US"/>
                </a:p>
              </c:txPr>
              <c:showLegendKey val="0"/>
              <c:showVal val="0"/>
              <c:showCatName val="0"/>
              <c:showSerName val="0"/>
              <c:showPercent val="1"/>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15-A990-4588-94FF-DE97BDFACDAE}"/>
                </c:ext>
              </c:extLst>
            </c:dLbl>
            <c:dLbl>
              <c:idx val="12"/>
              <c:numFmt formatCode="0.0%" sourceLinked="0"/>
              <c:spPr>
                <a:noFill/>
                <a:ln>
                  <a:noFill/>
                </a:ln>
                <a:effectLst/>
              </c:spPr>
              <c:txPr>
                <a:bodyPr rot="0" spcFirstLastPara="1" vertOverflow="ellipsis" horzOverflow="clip" vert="horz" wrap="square" lIns="0" tIns="0" rIns="0" bIns="0" anchor="ctr" anchorCtr="1">
                  <a:spAutoFit/>
                </a:bodyPr>
                <a:lstStyle/>
                <a:p>
                  <a:pPr>
                    <a:defRPr sz="1100" b="0" i="0" u="none" strike="noStrike" kern="1200" baseline="0">
                      <a:solidFill>
                        <a:schemeClr val="tx1"/>
                      </a:solidFill>
                      <a:latin typeface="+mn-lt"/>
                      <a:ea typeface="+mn-ea"/>
                      <a:cs typeface="+mn-cs"/>
                    </a:defRPr>
                  </a:pPr>
                  <a:endParaRPr lang="en-US"/>
                </a:p>
              </c:txPr>
              <c:showLegendKey val="0"/>
              <c:showVal val="0"/>
              <c:showCatName val="0"/>
              <c:showSerName val="0"/>
              <c:showPercent val="1"/>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19-A990-4588-94FF-DE97BDFACDAE}"/>
                </c:ext>
              </c:extLst>
            </c:dLbl>
            <c:dLbl>
              <c:idx val="13"/>
              <c:numFmt formatCode="0.0%" sourceLinked="0"/>
              <c:spPr>
                <a:noFill/>
                <a:ln>
                  <a:noFill/>
                </a:ln>
                <a:effectLst/>
              </c:spPr>
              <c:txPr>
                <a:bodyPr rot="0" spcFirstLastPara="1" vertOverflow="ellipsis" horzOverflow="clip" vert="horz" wrap="square" lIns="0" tIns="0" rIns="0" bIns="0" anchor="ctr" anchorCtr="1">
                  <a:spAutoFit/>
                </a:bodyPr>
                <a:lstStyle/>
                <a:p>
                  <a:pPr>
                    <a:defRPr sz="1100" b="0" i="0" u="none" strike="noStrike" kern="1200" baseline="0">
                      <a:solidFill>
                        <a:schemeClr val="tx1"/>
                      </a:solidFill>
                      <a:latin typeface="+mn-lt"/>
                      <a:ea typeface="+mn-ea"/>
                      <a:cs typeface="+mn-cs"/>
                    </a:defRPr>
                  </a:pPr>
                  <a:endParaRPr lang="en-US"/>
                </a:p>
              </c:txPr>
              <c:showLegendKey val="0"/>
              <c:showVal val="0"/>
              <c:showCatName val="0"/>
              <c:showSerName val="0"/>
              <c:showPercent val="1"/>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1B-A990-4588-94FF-DE97BDFACDAE}"/>
                </c:ext>
              </c:extLst>
            </c:dLbl>
            <c:dLbl>
              <c:idx val="14"/>
              <c:numFmt formatCode="0.0%" sourceLinked="0"/>
              <c:spPr>
                <a:noFill/>
                <a:ln>
                  <a:noFill/>
                </a:ln>
                <a:effectLst/>
              </c:spPr>
              <c:txPr>
                <a:bodyPr rot="0" spcFirstLastPara="1" vertOverflow="ellipsis" horzOverflow="clip" vert="horz" wrap="square" lIns="0" tIns="0" rIns="0" bIns="0" anchor="ctr" anchorCtr="1">
                  <a:spAutoFit/>
                </a:bodyPr>
                <a:lstStyle/>
                <a:p>
                  <a:pPr>
                    <a:defRPr sz="1100" b="0" i="0" u="none" strike="noStrike" kern="1200" baseline="0">
                      <a:solidFill>
                        <a:schemeClr val="tx1"/>
                      </a:solidFill>
                      <a:latin typeface="+mn-lt"/>
                      <a:ea typeface="+mn-ea"/>
                      <a:cs typeface="+mn-cs"/>
                    </a:defRPr>
                  </a:pPr>
                  <a:endParaRPr lang="en-US"/>
                </a:p>
              </c:txPr>
              <c:showLegendKey val="0"/>
              <c:showVal val="0"/>
              <c:showCatName val="0"/>
              <c:showSerName val="0"/>
              <c:showPercent val="1"/>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1D-A990-4588-94FF-DE97BDFACDAE}"/>
                </c:ext>
              </c:extLst>
            </c:dLbl>
            <c:dLbl>
              <c:idx val="15"/>
              <c:layout>
                <c:manualLayout>
                  <c:x val="-0.16560936633069459"/>
                  <c:y val="5.8051140290255702E-2"/>
                </c:manualLayout>
              </c:layout>
              <c:numFmt formatCode="0.0%" sourceLinked="0"/>
              <c:spPr>
                <a:noFill/>
                <a:ln>
                  <a:noFill/>
                </a:ln>
                <a:effectLst/>
              </c:spPr>
              <c:txPr>
                <a:bodyPr rot="0" spcFirstLastPara="1" vertOverflow="ellipsis" horzOverflow="clip" vert="horz" wrap="square" lIns="0" tIns="0" rIns="0" bIns="0" anchor="ctr" anchorCtr="1">
                  <a:spAutoFit/>
                </a:bodyPr>
                <a:lstStyle/>
                <a:p>
                  <a:pPr>
                    <a:defRPr sz="1100" b="0" i="0" u="none" strike="noStrike" kern="1200" baseline="0">
                      <a:solidFill>
                        <a:schemeClr val="tx1"/>
                      </a:solidFill>
                      <a:latin typeface="+mn-lt"/>
                      <a:ea typeface="+mn-ea"/>
                      <a:cs typeface="+mn-cs"/>
                    </a:defRPr>
                  </a:pPr>
                  <a:endParaRPr lang="en-US"/>
                </a:p>
              </c:txPr>
              <c:showLegendKey val="0"/>
              <c:showVal val="0"/>
              <c:showCatName val="0"/>
              <c:showSerName val="0"/>
              <c:showPercent val="1"/>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1F-A990-4588-94FF-DE97BDFACDAE}"/>
                </c:ext>
              </c:extLst>
            </c:dLbl>
            <c:dLbl>
              <c:idx val="16"/>
              <c:layout>
                <c:manualLayout>
                  <c:x val="-0.16560936633069459"/>
                  <c:y val="3.8700760193503804E-2"/>
                </c:manualLayout>
              </c:layout>
              <c:numFmt formatCode="0.0%" sourceLinked="0"/>
              <c:spPr>
                <a:noFill/>
                <a:ln>
                  <a:noFill/>
                </a:ln>
                <a:effectLst/>
              </c:spPr>
              <c:txPr>
                <a:bodyPr rot="0" spcFirstLastPara="1" vertOverflow="ellipsis" horzOverflow="clip" vert="horz" wrap="square" lIns="0" tIns="0" rIns="0" bIns="0" anchor="ctr" anchorCtr="1">
                  <a:spAutoFit/>
                </a:bodyPr>
                <a:lstStyle/>
                <a:p>
                  <a:pPr>
                    <a:defRPr sz="1100" b="0" i="0" u="none" strike="noStrike" kern="1200" baseline="0">
                      <a:solidFill>
                        <a:schemeClr val="tx1"/>
                      </a:solidFill>
                      <a:latin typeface="+mn-lt"/>
                      <a:ea typeface="+mn-ea"/>
                      <a:cs typeface="+mn-cs"/>
                    </a:defRPr>
                  </a:pPr>
                  <a:endParaRPr lang="en-US"/>
                </a:p>
              </c:txPr>
              <c:showLegendKey val="0"/>
              <c:showVal val="0"/>
              <c:showCatName val="0"/>
              <c:showSerName val="0"/>
              <c:showPercent val="1"/>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21-A990-4588-94FF-DE97BDFACDAE}"/>
                </c:ext>
              </c:extLst>
            </c:dLbl>
            <c:dLbl>
              <c:idx val="17"/>
              <c:layout>
                <c:manualLayout>
                  <c:x val="-0.17362272276605079"/>
                  <c:y val="2.2114720110573551E-2"/>
                </c:manualLayout>
              </c:layout>
              <c:numFmt formatCode="0.0%" sourceLinked="0"/>
              <c:spPr>
                <a:noFill/>
                <a:ln>
                  <a:noFill/>
                </a:ln>
                <a:effectLst/>
              </c:spPr>
              <c:txPr>
                <a:bodyPr rot="0" spcFirstLastPara="1" vertOverflow="ellipsis" horzOverflow="clip" vert="horz" wrap="square" lIns="0" tIns="0" rIns="0" bIns="0" anchor="ctr" anchorCtr="1">
                  <a:spAutoFit/>
                </a:bodyPr>
                <a:lstStyle/>
                <a:p>
                  <a:pPr>
                    <a:defRPr sz="1100" b="0" i="0" u="none" strike="noStrike" kern="1200" baseline="0">
                      <a:solidFill>
                        <a:schemeClr val="tx1"/>
                      </a:solidFill>
                      <a:latin typeface="+mn-lt"/>
                      <a:ea typeface="+mn-ea"/>
                      <a:cs typeface="+mn-cs"/>
                    </a:defRPr>
                  </a:pPr>
                  <a:endParaRPr lang="en-US"/>
                </a:p>
              </c:txPr>
              <c:showLegendKey val="0"/>
              <c:showVal val="0"/>
              <c:showCatName val="0"/>
              <c:showSerName val="0"/>
              <c:showPercent val="1"/>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23-A990-4588-94FF-DE97BDFACDAE}"/>
                </c:ext>
              </c:extLst>
            </c:dLbl>
            <c:dLbl>
              <c:idx val="18"/>
              <c:layout>
                <c:manualLayout>
                  <c:x val="-0.1629382475189092"/>
                  <c:y val="-2.7643400138217E-3"/>
                </c:manualLayout>
              </c:layout>
              <c:numFmt formatCode="0.0%" sourceLinked="0"/>
              <c:spPr>
                <a:noFill/>
                <a:ln>
                  <a:noFill/>
                </a:ln>
                <a:effectLst/>
              </c:spPr>
              <c:txPr>
                <a:bodyPr rot="0" spcFirstLastPara="1" vertOverflow="ellipsis" horzOverflow="clip" vert="horz" wrap="square" lIns="0" tIns="0" rIns="0" bIns="0" anchor="ctr" anchorCtr="1">
                  <a:spAutoFit/>
                </a:bodyPr>
                <a:lstStyle/>
                <a:p>
                  <a:pPr>
                    <a:defRPr sz="1100" b="0" i="0" u="none" strike="noStrike" kern="1200" baseline="0">
                      <a:solidFill>
                        <a:schemeClr val="tx1"/>
                      </a:solidFill>
                      <a:latin typeface="+mn-lt"/>
                      <a:ea typeface="+mn-ea"/>
                      <a:cs typeface="+mn-cs"/>
                    </a:defRPr>
                  </a:pPr>
                  <a:endParaRPr lang="en-US"/>
                </a:p>
              </c:txPr>
              <c:showLegendKey val="0"/>
              <c:showVal val="0"/>
              <c:showCatName val="0"/>
              <c:showSerName val="0"/>
              <c:showPercent val="1"/>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25-A990-4588-94FF-DE97BDFACDAE}"/>
                </c:ext>
              </c:extLst>
            </c:dLbl>
            <c:dLbl>
              <c:idx val="19"/>
              <c:layout>
                <c:manualLayout>
                  <c:x val="-0.16828048514248001"/>
                  <c:y val="-4.1465100207325502E-2"/>
                </c:manualLayout>
              </c:layout>
              <c:numFmt formatCode="0.0%" sourceLinked="0"/>
              <c:spPr>
                <a:noFill/>
                <a:ln>
                  <a:noFill/>
                </a:ln>
                <a:effectLst/>
              </c:spPr>
              <c:txPr>
                <a:bodyPr rot="0" spcFirstLastPara="1" vertOverflow="ellipsis" horzOverflow="clip" vert="horz" wrap="square" lIns="0" tIns="0" rIns="0" bIns="0" anchor="ctr" anchorCtr="1">
                  <a:spAutoFit/>
                </a:bodyPr>
                <a:lstStyle/>
                <a:p>
                  <a:pPr>
                    <a:defRPr sz="1100" b="0" i="0" u="none" strike="noStrike" kern="1200" baseline="0">
                      <a:solidFill>
                        <a:schemeClr val="tx1"/>
                      </a:solidFill>
                      <a:latin typeface="+mn-lt"/>
                      <a:ea typeface="+mn-ea"/>
                      <a:cs typeface="+mn-cs"/>
                    </a:defRPr>
                  </a:pPr>
                  <a:endParaRPr lang="en-US"/>
                </a:p>
              </c:txPr>
              <c:showLegendKey val="0"/>
              <c:showVal val="0"/>
              <c:showCatName val="0"/>
              <c:showSerName val="0"/>
              <c:showPercent val="1"/>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27-A990-4588-94FF-DE97BDFACDAE}"/>
                </c:ext>
              </c:extLst>
            </c:dLbl>
            <c:dLbl>
              <c:idx val="20"/>
              <c:layout>
                <c:manualLayout>
                  <c:x val="-0.16560936633069459"/>
                  <c:y val="-7.1872840359364226E-2"/>
                </c:manualLayout>
              </c:layout>
              <c:numFmt formatCode="0.0%" sourceLinked="0"/>
              <c:spPr>
                <a:noFill/>
                <a:ln>
                  <a:noFill/>
                </a:ln>
                <a:effectLst/>
              </c:spPr>
              <c:txPr>
                <a:bodyPr rot="0" spcFirstLastPara="1" vertOverflow="ellipsis" horzOverflow="clip" vert="horz" wrap="square" lIns="0" tIns="0" rIns="0" bIns="0" anchor="ctr" anchorCtr="1">
                  <a:spAutoFit/>
                </a:bodyPr>
                <a:lstStyle/>
                <a:p>
                  <a:pPr>
                    <a:defRPr sz="1100" b="0" i="0" u="none" strike="noStrike" kern="1200" baseline="0">
                      <a:solidFill>
                        <a:schemeClr val="tx1"/>
                      </a:solidFill>
                      <a:latin typeface="+mn-lt"/>
                      <a:ea typeface="+mn-ea"/>
                      <a:cs typeface="+mn-cs"/>
                    </a:defRPr>
                  </a:pPr>
                  <a:endParaRPr lang="en-US"/>
                </a:p>
              </c:txPr>
              <c:showLegendKey val="0"/>
              <c:showVal val="0"/>
              <c:showCatName val="0"/>
              <c:showSerName val="0"/>
              <c:showPercent val="1"/>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29-A990-4588-94FF-DE97BDFACDAE}"/>
                </c:ext>
              </c:extLst>
            </c:dLbl>
            <c:dLbl>
              <c:idx val="21"/>
              <c:layout>
                <c:manualLayout>
                  <c:x val="-0.12020045169250081"/>
                  <c:y val="-9.2605499295310992E-2"/>
                </c:manualLayout>
              </c:layout>
              <c:numFmt formatCode="0.0%" sourceLinked="0"/>
              <c:spPr>
                <a:noFill/>
                <a:ln>
                  <a:noFill/>
                </a:ln>
                <a:effectLst/>
              </c:spPr>
              <c:txPr>
                <a:bodyPr rot="0" spcFirstLastPara="1" vertOverflow="ellipsis" horzOverflow="clip" vert="horz" wrap="square" lIns="0" tIns="0" rIns="0" bIns="0" anchor="ctr" anchorCtr="1">
                  <a:spAutoFit/>
                </a:bodyPr>
                <a:lstStyle/>
                <a:p>
                  <a:pPr>
                    <a:defRPr sz="1100" b="0" i="0" u="none" strike="noStrike" kern="1200" baseline="0">
                      <a:solidFill>
                        <a:schemeClr val="tx1"/>
                      </a:solidFill>
                      <a:latin typeface="+mn-lt"/>
                      <a:ea typeface="+mn-ea"/>
                      <a:cs typeface="+mn-cs"/>
                    </a:defRPr>
                  </a:pPr>
                  <a:endParaRPr lang="en-US"/>
                </a:p>
              </c:txPr>
              <c:showLegendKey val="0"/>
              <c:showVal val="0"/>
              <c:showCatName val="0"/>
              <c:showSerName val="0"/>
              <c:showPercent val="1"/>
              <c:showBubbleSize val="0"/>
              <c:extLst>
                <c:ext xmlns:c15="http://schemas.microsoft.com/office/drawing/2012/chart" uri="{CE6537A1-D6FC-4f65-9D91-7224C49458BB}">
                  <c15:spPr xmlns:c15="http://schemas.microsoft.com/office/drawing/2012/chart">
                    <a:prstGeom prst="rect">
                      <a:avLst/>
                    </a:prstGeom>
                    <a:noFill/>
                    <a:ln>
                      <a:noFill/>
                    </a:ln>
                  </c15:spPr>
                  <c15:layout>
                    <c:manualLayout>
                      <c:w val="9.5990545501352165E-2"/>
                      <c:h val="5.1155091446326635E-2"/>
                    </c:manualLayout>
                  </c15:layout>
                </c:ext>
                <c:ext xmlns:c16="http://schemas.microsoft.com/office/drawing/2014/chart" uri="{C3380CC4-5D6E-409C-BE32-E72D297353CC}">
                  <c16:uniqueId val="{0000002B-A990-4588-94FF-DE97BDFACDAE}"/>
                </c:ext>
              </c:extLst>
            </c:dLbl>
            <c:numFmt formatCode="0.0%" sourceLinked="0"/>
            <c:spPr>
              <a:noFill/>
              <a:ln>
                <a:noFill/>
              </a:ln>
              <a:effectLst/>
            </c:spPr>
            <c:txPr>
              <a:bodyPr rot="0" spcFirstLastPara="1" vertOverflow="ellipsis" horzOverflow="clip" vert="horz" wrap="square" lIns="0" tIns="0" rIns="0" bIns="0" anchor="ctr" anchorCtr="1">
                <a:spAutoFit/>
              </a:bodyPr>
              <a:lstStyle/>
              <a:p>
                <a:pPr>
                  <a:defRPr sz="1100" b="0" i="0" u="none" strike="noStrike" kern="1200" baseline="0">
                    <a:solidFill>
                      <a:schemeClr val="bg1"/>
                    </a:solidFill>
                    <a:latin typeface="+mn-lt"/>
                    <a:ea typeface="+mn-ea"/>
                    <a:cs typeface="+mn-cs"/>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spPr xmlns:c15="http://schemas.microsoft.com/office/drawing/2012/chart">
                  <a:prstGeom prst="rect">
                    <a:avLst/>
                  </a:prstGeom>
                  <a:noFill/>
                  <a:ln>
                    <a:noFill/>
                  </a:ln>
                </c15:spPr>
              </c:ext>
            </c:extLst>
          </c:dLbls>
          <c:cat>
            <c:strRef>
              <c:f>Sheet1!$A$2:$A$24</c:f>
              <c:strCache>
                <c:ptCount val="23"/>
                <c:pt idx="0">
                  <c:v>TOYOTA</c:v>
                </c:pt>
                <c:pt idx="1">
                  <c:v>VOLKSWAGEN</c:v>
                </c:pt>
                <c:pt idx="2">
                  <c:v>HYUNDAI</c:v>
                </c:pt>
                <c:pt idx="3">
                  <c:v>G.M.</c:v>
                </c:pt>
                <c:pt idx="4">
                  <c:v>NISSAN</c:v>
                </c:pt>
                <c:pt idx="5">
                  <c:v>HONDA</c:v>
                </c:pt>
                <c:pt idx="6">
                  <c:v>FIAT</c:v>
                </c:pt>
                <c:pt idx="7">
                  <c:v>RENAULT</c:v>
                </c:pt>
                <c:pt idx="8">
                  <c:v>PSA</c:v>
                </c:pt>
                <c:pt idx="9">
                  <c:v>SUZUKI</c:v>
                </c:pt>
                <c:pt idx="10">
                  <c:v>SAIC</c:v>
                </c:pt>
                <c:pt idx="11">
                  <c:v>DAIMLER AG</c:v>
                </c:pt>
                <c:pt idx="12">
                  <c:v>B.M.W</c:v>
                </c:pt>
                <c:pt idx="13">
                  <c:v>CHANGAN</c:v>
                </c:pt>
                <c:pt idx="14">
                  <c:v>MAZDA</c:v>
                </c:pt>
                <c:pt idx="15">
                  <c:v>BAIC</c:v>
                </c:pt>
                <c:pt idx="16">
                  <c:v>DONGFENG MOTOR</c:v>
                </c:pt>
                <c:pt idx="17">
                  <c:v>GEELY</c:v>
                </c:pt>
                <c:pt idx="18">
                  <c:v>GREAT WALL</c:v>
                </c:pt>
                <c:pt idx="19">
                  <c:v>MITSUBISHI</c:v>
                </c:pt>
                <c:pt idx="20">
                  <c:v>TATA</c:v>
                </c:pt>
                <c:pt idx="21">
                  <c:v>FUJI</c:v>
                </c:pt>
                <c:pt idx="22">
                  <c:v>Others</c:v>
                </c:pt>
              </c:strCache>
            </c:strRef>
          </c:cat>
          <c:val>
            <c:numRef>
              <c:f>Sheet1!$B$2:$B$24</c:f>
              <c:numCache>
                <c:formatCode>#,##0</c:formatCode>
                <c:ptCount val="23"/>
                <c:pt idx="0">
                  <c:v>10213486</c:v>
                </c:pt>
                <c:pt idx="1">
                  <c:v>10126281</c:v>
                </c:pt>
                <c:pt idx="2">
                  <c:v>7889538</c:v>
                </c:pt>
                <c:pt idx="3">
                  <c:v>7793066</c:v>
                </c:pt>
                <c:pt idx="4">
                  <c:v>5556241</c:v>
                </c:pt>
                <c:pt idx="5">
                  <c:v>4999266</c:v>
                </c:pt>
                <c:pt idx="6">
                  <c:v>4681457</c:v>
                </c:pt>
                <c:pt idx="7">
                  <c:v>3373278</c:v>
                </c:pt>
                <c:pt idx="8">
                  <c:v>3152787</c:v>
                </c:pt>
                <c:pt idx="9">
                  <c:v>2945295</c:v>
                </c:pt>
                <c:pt idx="10">
                  <c:v>2566793</c:v>
                </c:pt>
                <c:pt idx="11">
                  <c:v>2526450</c:v>
                </c:pt>
                <c:pt idx="12">
                  <c:v>2359756</c:v>
                </c:pt>
                <c:pt idx="13">
                  <c:v>1715871</c:v>
                </c:pt>
                <c:pt idx="14">
                  <c:v>1586013</c:v>
                </c:pt>
                <c:pt idx="15">
                  <c:v>1391643</c:v>
                </c:pt>
                <c:pt idx="16">
                  <c:v>1315490</c:v>
                </c:pt>
                <c:pt idx="17">
                  <c:v>1266456</c:v>
                </c:pt>
                <c:pt idx="18">
                  <c:v>1094360</c:v>
                </c:pt>
                <c:pt idx="19">
                  <c:v>1091500</c:v>
                </c:pt>
                <c:pt idx="20">
                  <c:v>1084678</c:v>
                </c:pt>
                <c:pt idx="21">
                  <c:v>1024604</c:v>
                </c:pt>
                <c:pt idx="22">
                  <c:v>15017505</c:v>
                </c:pt>
              </c:numCache>
            </c:numRef>
          </c:val>
          <c:extLst>
            <c:ext xmlns:c16="http://schemas.microsoft.com/office/drawing/2014/chart" uri="{C3380CC4-5D6E-409C-BE32-E72D297353CC}">
              <c16:uniqueId val="{0000002E-A990-4588-94FF-DE97BDFACDAE}"/>
            </c:ext>
          </c:extLst>
        </c:ser>
        <c:dLbls>
          <c:showLegendKey val="0"/>
          <c:showVal val="1"/>
          <c:showCatName val="0"/>
          <c:showSerName val="0"/>
          <c:showPercent val="0"/>
          <c:showBubbleSize val="0"/>
          <c:showLeaderLines val="1"/>
        </c:dLbls>
        <c:firstSliceAng val="0"/>
        <c:holeSize val="50"/>
      </c:doughnutChart>
      <c:spPr>
        <a:noFill/>
        <a:ln>
          <a:noFill/>
        </a:ln>
        <a:effectLst/>
      </c:spPr>
    </c:plotArea>
    <c:legend>
      <c:legendPos val="b"/>
      <c:layout>
        <c:manualLayout>
          <c:xMode val="edge"/>
          <c:yMode val="edge"/>
          <c:x val="0"/>
          <c:y val="0.78230626493042899"/>
          <c:w val="0.99965885395962861"/>
          <c:h val="0.1789929748760672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251424385905253"/>
          <c:y val="8.3214019968237393E-2"/>
          <c:w val="0.4303486017736155"/>
          <c:h val="0.9135044367690992"/>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4EE0-4E85-8BAF-563EFF2EB011}"/>
              </c:ext>
            </c:extLst>
          </c:dPt>
          <c:dPt>
            <c:idx val="1"/>
            <c:bubble3D val="0"/>
            <c:spPr>
              <a:solidFill>
                <a:schemeClr val="accent3"/>
              </a:solidFill>
              <a:ln w="19050">
                <a:solidFill>
                  <a:schemeClr val="lt1"/>
                </a:solidFill>
              </a:ln>
              <a:effectLst/>
            </c:spPr>
            <c:extLst>
              <c:ext xmlns:c16="http://schemas.microsoft.com/office/drawing/2014/chart" uri="{C3380CC4-5D6E-409C-BE32-E72D297353CC}">
                <c16:uniqueId val="{00000003-4EE0-4E85-8BAF-563EFF2EB011}"/>
              </c:ext>
            </c:extLst>
          </c:dPt>
          <c:dPt>
            <c:idx val="2"/>
            <c:bubble3D val="0"/>
            <c:spPr>
              <a:solidFill>
                <a:schemeClr val="accent5"/>
              </a:solidFill>
              <a:ln w="19050">
                <a:solidFill>
                  <a:schemeClr val="lt1"/>
                </a:solidFill>
              </a:ln>
              <a:effectLst/>
            </c:spPr>
            <c:extLst>
              <c:ext xmlns:c16="http://schemas.microsoft.com/office/drawing/2014/chart" uri="{C3380CC4-5D6E-409C-BE32-E72D297353CC}">
                <c16:uniqueId val="{00000005-4EE0-4E85-8BAF-563EFF2EB011}"/>
              </c:ext>
            </c:extLst>
          </c:dPt>
          <c:dPt>
            <c:idx val="3"/>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7-4EE0-4E85-8BAF-563EFF2EB011}"/>
              </c:ext>
            </c:extLst>
          </c:dPt>
          <c:dPt>
            <c:idx val="4"/>
            <c:bubble3D val="0"/>
            <c:spPr>
              <a:solidFill>
                <a:schemeClr val="accent3">
                  <a:lumMod val="60000"/>
                </a:schemeClr>
              </a:solidFill>
              <a:ln w="19050">
                <a:solidFill>
                  <a:schemeClr val="lt1"/>
                </a:solidFill>
              </a:ln>
              <a:effectLst/>
            </c:spPr>
            <c:extLst>
              <c:ext xmlns:c16="http://schemas.microsoft.com/office/drawing/2014/chart" uri="{C3380CC4-5D6E-409C-BE32-E72D297353CC}">
                <c16:uniqueId val="{00000009-4EE0-4E85-8BAF-563EFF2EB011}"/>
              </c:ext>
            </c:extLst>
          </c:dPt>
          <c:dLbls>
            <c:dLbl>
              <c:idx val="3"/>
              <c:layout>
                <c:manualLayout>
                  <c:x val="4.207201261855046E-2"/>
                  <c:y val="0.1609628895634936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4EE0-4E85-8BAF-563EFF2EB011}"/>
                </c:ext>
              </c:extLst>
            </c:dLbl>
            <c:dLbl>
              <c:idx val="4"/>
              <c:layout>
                <c:manualLayout>
                  <c:x val="-0.18073932966071152"/>
                  <c:y val="-0.13528377315856399"/>
                </c:manualLayout>
              </c:layout>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4EE0-4E85-8BAF-563EFF2EB011}"/>
                </c:ext>
              </c:extLst>
            </c:dLbl>
            <c:spPr>
              <a:noFill/>
              <a:ln>
                <a:noFill/>
              </a:ln>
              <a:effectLst/>
            </c:spPr>
            <c:txPr>
              <a:bodyPr rot="0" spcFirstLastPara="1" vertOverflow="ellipsis" vert="horz" wrap="square" anchor="ctr" anchorCtr="1"/>
              <a:lstStyle/>
              <a:p>
                <a:pPr>
                  <a:defRPr sz="11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Sheet1!$A$2:$A$6</c:f>
              <c:strCache>
                <c:ptCount val="5"/>
                <c:pt idx="0">
                  <c:v>North America</c:v>
                </c:pt>
                <c:pt idx="1">
                  <c:v>Latin America</c:v>
                </c:pt>
                <c:pt idx="2">
                  <c:v>Europe</c:v>
                </c:pt>
                <c:pt idx="3">
                  <c:v>Asia-Pacific</c:v>
                </c:pt>
                <c:pt idx="4">
                  <c:v>Africa</c:v>
                </c:pt>
              </c:strCache>
            </c:strRef>
          </c:cat>
          <c:val>
            <c:numRef>
              <c:f>Sheet1!$B$2:$B$6</c:f>
              <c:numCache>
                <c:formatCode>0.0%</c:formatCode>
                <c:ptCount val="5"/>
                <c:pt idx="0">
                  <c:v>0.13933822512590682</c:v>
                </c:pt>
                <c:pt idx="1">
                  <c:v>7.7996783346315587E-2</c:v>
                </c:pt>
                <c:pt idx="2">
                  <c:v>0.22290750515224741</c:v>
                </c:pt>
                <c:pt idx="3">
                  <c:v>0.54802120483341676</c:v>
                </c:pt>
                <c:pt idx="4">
                  <c:v>1.1736281542113432E-2</c:v>
                </c:pt>
              </c:numCache>
            </c:numRef>
          </c:val>
          <c:extLst>
            <c:ext xmlns:c16="http://schemas.microsoft.com/office/drawing/2014/chart" uri="{C3380CC4-5D6E-409C-BE32-E72D297353CC}">
              <c16:uniqueId val="{0000000A-4EE0-4E85-8BAF-563EFF2EB011}"/>
            </c:ext>
          </c:extLst>
        </c:ser>
        <c:dLbls>
          <c:showLegendKey val="0"/>
          <c:showVal val="0"/>
          <c:showCatName val="0"/>
          <c:showSerName val="0"/>
          <c:showPercent val="0"/>
          <c:showBubbleSize val="0"/>
          <c:showLeaderLines val="1"/>
        </c:dLbls>
        <c:firstSliceAng val="0"/>
        <c:holeSize val="50"/>
      </c:doughnutChart>
      <c:spPr>
        <a:noFill/>
        <a:ln>
          <a:noFill/>
        </a:ln>
        <a:effectLst/>
      </c:spPr>
    </c:plotArea>
    <c:legend>
      <c:legendPos val="r"/>
      <c:layout>
        <c:manualLayout>
          <c:xMode val="edge"/>
          <c:yMode val="edge"/>
          <c:x val="0.64101025499299413"/>
          <c:y val="2.7031893803395973E-2"/>
          <c:w val="0.35633187662712151"/>
          <c:h val="0.91566267884082475"/>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userShapes r:id="rId4"/>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8094930921871335"/>
        </c:manualLayout>
      </c:layout>
      <c:barChart>
        <c:barDir val="col"/>
        <c:grouping val="clustered"/>
        <c:varyColors val="0"/>
        <c:ser>
          <c:idx val="0"/>
          <c:order val="0"/>
          <c:tx>
            <c:strRef>
              <c:f>Sheet1!$B$1</c:f>
              <c:strCache>
                <c:ptCount val="1"/>
                <c:pt idx="0">
                  <c:v>Volume ('000 Units)</c:v>
                </c:pt>
              </c:strCache>
            </c:strRef>
          </c:tx>
          <c:spPr>
            <a:solidFill>
              <a:schemeClr val="accent1"/>
            </a:solidFill>
            <a:ln>
              <a:noFill/>
            </a:ln>
            <a:effectLst/>
          </c:spPr>
          <c:invertIfNegative val="0"/>
          <c:dLbls>
            <c:dLbl>
              <c:idx val="0"/>
              <c:layout>
                <c:manualLayout>
                  <c:x val="-1.8494622215303323E-3"/>
                  <c:y val="-5.5701387115045034E-2"/>
                </c:manualLayout>
              </c:layout>
              <c:spPr>
                <a:noFill/>
                <a:ln>
                  <a:noFill/>
                </a:ln>
                <a:effectLst/>
              </c:spPr>
              <c:txPr>
                <a:bodyPr rot="-5400000" spcFirstLastPara="1" vertOverflow="ellipsis" wrap="square" lIns="38100" tIns="19050" rIns="38100" bIns="19050" anchor="ctr" anchorCtr="1">
                  <a:spAutoFit/>
                </a:bodyPr>
                <a:lstStyle/>
                <a:p>
                  <a:pPr>
                    <a:defRPr sz="11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04B-41C9-B9A8-EDAEED61BC24}"/>
                </c:ext>
              </c:extLst>
            </c:dLbl>
            <c:dLbl>
              <c:idx val="1"/>
              <c:layout>
                <c:manualLayout>
                  <c:x val="1.8494622215303323E-3"/>
                  <c:y val="6.695467720977755E-3"/>
                </c:manualLayout>
              </c:layout>
              <c:spPr>
                <a:noFill/>
                <a:ln>
                  <a:noFill/>
                </a:ln>
                <a:effectLst/>
              </c:spPr>
              <c:txPr>
                <a:bodyPr rot="-5400000" spcFirstLastPara="1" vertOverflow="ellipsis" wrap="square" lIns="38100" tIns="19050" rIns="38100" bIns="19050" anchor="ctr" anchorCtr="1">
                  <a:spAutoFit/>
                </a:bodyPr>
                <a:lstStyle/>
                <a:p>
                  <a:pPr>
                    <a:defRPr sz="11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04B-41C9-B9A8-EDAEED61BC24}"/>
                </c:ext>
              </c:extLst>
            </c:dLbl>
            <c:dLbl>
              <c:idx val="2"/>
              <c:layout>
                <c:manualLayout>
                  <c:x val="-3.3906415704915188E-17"/>
                  <c:y val="-2.3216907477538563E-2"/>
                </c:manualLayout>
              </c:layout>
              <c:spPr>
                <a:noFill/>
                <a:ln>
                  <a:noFill/>
                </a:ln>
                <a:effectLst/>
              </c:spPr>
              <c:txPr>
                <a:bodyPr rot="-5400000" spcFirstLastPara="1" vertOverflow="ellipsis" wrap="square" lIns="38100" tIns="19050" rIns="38100" bIns="19050" anchor="ctr" anchorCtr="1">
                  <a:spAutoFit/>
                </a:bodyPr>
                <a:lstStyle/>
                <a:p>
                  <a:pPr>
                    <a:defRPr sz="11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04B-41C9-B9A8-EDAEED61BC24}"/>
                </c:ext>
              </c:extLst>
            </c:dLbl>
            <c:dLbl>
              <c:idx val="3"/>
              <c:layout>
                <c:manualLayout>
                  <c:x val="-3.3906415704915188E-17"/>
                  <c:y val="1.3422475928167601E-2"/>
                </c:manualLayout>
              </c:layout>
              <c:spPr>
                <a:noFill/>
                <a:ln>
                  <a:noFill/>
                </a:ln>
                <a:effectLst/>
              </c:spPr>
              <c:txPr>
                <a:bodyPr rot="-5400000" spcFirstLastPara="1" vertOverflow="ellipsis" wrap="square" lIns="38100" tIns="19050" rIns="38100" bIns="19050" anchor="ctr" anchorCtr="1">
                  <a:spAutoFit/>
                </a:bodyPr>
                <a:lstStyle/>
                <a:p>
                  <a:pPr>
                    <a:defRPr sz="11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04B-41C9-B9A8-EDAEED61BC24}"/>
                </c:ext>
              </c:extLst>
            </c:dLbl>
            <c:dLbl>
              <c:idx val="4"/>
              <c:layout>
                <c:manualLayout>
                  <c:x val="-9.2473111076517307E-3"/>
                  <c:y val="-1.0747794677768215E-2"/>
                </c:manualLayout>
              </c:layout>
              <c:spPr>
                <a:noFill/>
                <a:ln>
                  <a:noFill/>
                </a:ln>
                <a:effectLst/>
              </c:spPr>
              <c:txPr>
                <a:bodyPr rot="-5400000" spcFirstLastPara="1" vertOverflow="ellipsis" wrap="square" lIns="38100" tIns="19050" rIns="38100" bIns="19050" anchor="ctr" anchorCtr="1">
                  <a:spAutoFit/>
                </a:bodyPr>
                <a:lstStyle/>
                <a:p>
                  <a:pPr>
                    <a:defRPr sz="11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04B-41C9-B9A8-EDAEED61BC24}"/>
                </c:ext>
              </c:extLst>
            </c:dLbl>
            <c:dLbl>
              <c:idx val="5"/>
              <c:layout>
                <c:manualLayout>
                  <c:x val="5.5483866645909975E-3"/>
                  <c:y val="-1.4197452299060465E-2"/>
                </c:manualLayout>
              </c:layout>
              <c:spPr>
                <a:noFill/>
                <a:ln>
                  <a:noFill/>
                </a:ln>
                <a:effectLst/>
              </c:spPr>
              <c:txPr>
                <a:bodyPr rot="-5400000" spcFirstLastPara="1" vertOverflow="ellipsis" wrap="square" lIns="38100" tIns="19050" rIns="38100" bIns="19050" anchor="ctr" anchorCtr="1">
                  <a:spAutoFit/>
                </a:bodyPr>
                <a:lstStyle/>
                <a:p>
                  <a:pPr>
                    <a:defRPr sz="11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04B-41C9-B9A8-EDAEED61BC24}"/>
                </c:ext>
              </c:extLst>
            </c:dLbl>
            <c:spPr>
              <a:noFill/>
              <a:ln>
                <a:noFill/>
              </a:ln>
              <a:effectLst/>
            </c:spPr>
            <c:txPr>
              <a:bodyPr rot="-5400000" spcFirstLastPara="1" vertOverflow="ellipsis" wrap="square" lIns="38100" tIns="19050" rIns="38100" bIns="19050" anchor="ctr" anchorCtr="1">
                <a:spAutoFit/>
              </a:bodyPr>
              <a:lstStyle/>
              <a:p>
                <a:pPr>
                  <a:defRPr sz="11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Sheet1!$A$2:$A$14</c:f>
              <c:strCache>
                <c:ptCount val="13"/>
                <c:pt idx="0">
                  <c:v>2018E</c:v>
                </c:pt>
                <c:pt idx="1">
                  <c:v>2019F</c:v>
                </c:pt>
                <c:pt idx="2">
                  <c:v>2020F</c:v>
                </c:pt>
                <c:pt idx="3">
                  <c:v>2021F</c:v>
                </c:pt>
                <c:pt idx="4">
                  <c:v>2022F</c:v>
                </c:pt>
                <c:pt idx="5">
                  <c:v>2023F</c:v>
                </c:pt>
                <c:pt idx="6">
                  <c:v>2024F</c:v>
                </c:pt>
                <c:pt idx="7">
                  <c:v>2025F</c:v>
                </c:pt>
                <c:pt idx="8">
                  <c:v>2026F</c:v>
                </c:pt>
                <c:pt idx="9">
                  <c:v>2027F</c:v>
                </c:pt>
                <c:pt idx="10">
                  <c:v>2028F</c:v>
                </c:pt>
                <c:pt idx="11">
                  <c:v>2029F</c:v>
                </c:pt>
                <c:pt idx="12">
                  <c:v>2030F</c:v>
                </c:pt>
              </c:strCache>
            </c:strRef>
          </c:cat>
          <c:val>
            <c:numRef>
              <c:f>Sheet1!$B$2:$B$15</c:f>
              <c:numCache>
                <c:formatCode>_(* #,##0_);_(* \(#,##0\);_(* "-"??_);_(@_)</c:formatCode>
                <c:ptCount val="14"/>
                <c:pt idx="0">
                  <c:v>5119.4033554774178</c:v>
                </c:pt>
                <c:pt idx="1">
                  <c:v>5418.7386432699686</c:v>
                </c:pt>
                <c:pt idx="2">
                  <c:v>5615.8717602430415</c:v>
                </c:pt>
                <c:pt idx="3">
                  <c:v>6037.896220881923</c:v>
                </c:pt>
                <c:pt idx="4">
                  <c:v>6378.9483363831077</c:v>
                </c:pt>
                <c:pt idx="5">
                  <c:v>6851.9473555259165</c:v>
                </c:pt>
                <c:pt idx="6">
                  <c:v>7802.5816832593409</c:v>
                </c:pt>
                <c:pt idx="7">
                  <c:v>9271.7475094778765</c:v>
                </c:pt>
                <c:pt idx="8">
                  <c:v>12356.755866456979</c:v>
                </c:pt>
                <c:pt idx="9">
                  <c:v>15138.213935768887</c:v>
                </c:pt>
                <c:pt idx="10">
                  <c:v>19963.438565943023</c:v>
                </c:pt>
                <c:pt idx="11">
                  <c:v>22639.147360686075</c:v>
                </c:pt>
                <c:pt idx="12">
                  <c:v>28715.258589957215</c:v>
                </c:pt>
              </c:numCache>
            </c:numRef>
          </c:val>
          <c:extLst>
            <c:ext xmlns:c16="http://schemas.microsoft.com/office/drawing/2014/chart" uri="{C3380CC4-5D6E-409C-BE32-E72D297353CC}">
              <c16:uniqueId val="{00000006-204B-41C9-B9A8-EDAEED61BC24}"/>
            </c:ext>
          </c:extLst>
        </c:ser>
        <c:dLbls>
          <c:showLegendKey val="0"/>
          <c:showVal val="0"/>
          <c:showCatName val="0"/>
          <c:showSerName val="0"/>
          <c:showPercent val="0"/>
          <c:showBubbleSize val="0"/>
        </c:dLbls>
        <c:gapWidth val="50"/>
        <c:overlap val="-27"/>
        <c:axId val="652793840"/>
        <c:axId val="652804720"/>
      </c:barChart>
      <c:catAx>
        <c:axId val="6527938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04720"/>
        <c:crosses val="autoZero"/>
        <c:auto val="1"/>
        <c:lblAlgn val="ctr"/>
        <c:lblOffset val="100"/>
        <c:noMultiLvlLbl val="0"/>
      </c:catAx>
      <c:valAx>
        <c:axId val="652804720"/>
        <c:scaling>
          <c:orientation val="minMax"/>
        </c:scaling>
        <c:delete val="1"/>
        <c:axPos val="l"/>
        <c:numFmt formatCode="_(* #,##0_);_(* \(#,##0\);_(* &quot;-&quot;??_);_(@_)" sourceLinked="1"/>
        <c:majorTickMark val="none"/>
        <c:minorTickMark val="none"/>
        <c:tickLblPos val="nextTo"/>
        <c:crossAx val="65279384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w="28575">
              <a:solidFill>
                <a:schemeClr val="accent1"/>
              </a:solidFill>
            </a:ln>
            <a:effectLst/>
          </c:spPr>
          <c:invertIfNegative val="0"/>
          <c:cat>
            <c:strRef>
              <c:f>Sheet1!$A$2:$A$3</c:f>
              <c:strCache>
                <c:ptCount val="2"/>
                <c:pt idx="0">
                  <c:v>2019A</c:v>
                </c:pt>
                <c:pt idx="1">
                  <c:v>2020A</c:v>
                </c:pt>
              </c:strCache>
            </c:strRef>
          </c:cat>
          <c:val>
            <c:numRef>
              <c:f>Sheet1!$B$2:$B$3</c:f>
              <c:numCache>
                <c:formatCode>General</c:formatCode>
                <c:ptCount val="2"/>
                <c:pt idx="0">
                  <c:v>87.8</c:v>
                </c:pt>
                <c:pt idx="1">
                  <c:v>83.5</c:v>
                </c:pt>
              </c:numCache>
            </c:numRef>
          </c:val>
          <c:extLst>
            <c:ext xmlns:c16="http://schemas.microsoft.com/office/drawing/2014/chart" uri="{C3380CC4-5D6E-409C-BE32-E72D297353CC}">
              <c16:uniqueId val="{00000000-2F0A-4CDA-B18F-A7C477927011}"/>
            </c:ext>
          </c:extLst>
        </c:ser>
        <c:ser>
          <c:idx val="1"/>
          <c:order val="1"/>
          <c:tx>
            <c:strRef>
              <c:f>Sheet1!$C$1</c:f>
              <c:strCache>
                <c:ptCount val="1"/>
                <c:pt idx="0">
                  <c:v>Series 2</c:v>
                </c:pt>
              </c:strCache>
            </c:strRef>
          </c:tx>
          <c:spPr>
            <a:solidFill>
              <a:schemeClr val="accent1">
                <a:lumMod val="20000"/>
                <a:lumOff val="80000"/>
              </a:schemeClr>
            </a:solidFill>
            <a:ln w="3175">
              <a:noFill/>
            </a:ln>
            <a:effectLst/>
          </c:spPr>
          <c:invertIfNegative val="0"/>
          <c:dPt>
            <c:idx val="1"/>
            <c:invertIfNegative val="0"/>
            <c:bubble3D val="0"/>
            <c:spPr>
              <a:solidFill>
                <a:schemeClr val="accent1">
                  <a:lumMod val="20000"/>
                  <a:lumOff val="80000"/>
                </a:schemeClr>
              </a:solidFill>
              <a:ln w="28575">
                <a:solidFill>
                  <a:schemeClr val="accent1"/>
                </a:solidFill>
              </a:ln>
              <a:effectLst/>
            </c:spPr>
            <c:extLst>
              <c:ext xmlns:c16="http://schemas.microsoft.com/office/drawing/2014/chart" uri="{C3380CC4-5D6E-409C-BE32-E72D297353CC}">
                <c16:uniqueId val="{00000002-2F0A-4CDA-B18F-A7C477927011}"/>
              </c:ext>
            </c:extLst>
          </c:dPt>
          <c:cat>
            <c:strRef>
              <c:f>Sheet1!$A$2:$A$3</c:f>
              <c:strCache>
                <c:ptCount val="2"/>
                <c:pt idx="0">
                  <c:v>2019A</c:v>
                </c:pt>
                <c:pt idx="1">
                  <c:v>2020A</c:v>
                </c:pt>
              </c:strCache>
            </c:strRef>
          </c:cat>
          <c:val>
            <c:numRef>
              <c:f>Sheet1!$C$2:$C$3</c:f>
              <c:numCache>
                <c:formatCode>General</c:formatCode>
                <c:ptCount val="2"/>
                <c:pt idx="0">
                  <c:v>0</c:v>
                </c:pt>
                <c:pt idx="1">
                  <c:v>6</c:v>
                </c:pt>
              </c:numCache>
            </c:numRef>
          </c:val>
          <c:extLst>
            <c:ext xmlns:c16="http://schemas.microsoft.com/office/drawing/2014/chart" uri="{C3380CC4-5D6E-409C-BE32-E72D297353CC}">
              <c16:uniqueId val="{00000003-2F0A-4CDA-B18F-A7C477927011}"/>
            </c:ext>
          </c:extLst>
        </c:ser>
        <c:dLbls>
          <c:showLegendKey val="0"/>
          <c:showVal val="0"/>
          <c:showCatName val="0"/>
          <c:showSerName val="0"/>
          <c:showPercent val="0"/>
          <c:showBubbleSize val="0"/>
        </c:dLbls>
        <c:gapWidth val="50"/>
        <c:overlap val="100"/>
        <c:axId val="652821040"/>
        <c:axId val="652807984"/>
      </c:barChart>
      <c:catAx>
        <c:axId val="6528210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652807984"/>
        <c:crosses val="autoZero"/>
        <c:auto val="1"/>
        <c:lblAlgn val="ctr"/>
        <c:lblOffset val="100"/>
        <c:noMultiLvlLbl val="0"/>
      </c:catAx>
      <c:valAx>
        <c:axId val="652807984"/>
        <c:scaling>
          <c:orientation val="minMax"/>
          <c:min val="75"/>
        </c:scaling>
        <c:delete val="1"/>
        <c:axPos val="l"/>
        <c:numFmt formatCode="General" sourceLinked="1"/>
        <c:majorTickMark val="none"/>
        <c:minorTickMark val="none"/>
        <c:tickLblPos val="nextTo"/>
        <c:crossAx val="65282104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Sheet1!$A$2:$A$22</c:f>
              <c:strCache>
                <c:ptCount val="21"/>
                <c:pt idx="0">
                  <c:v>Spain</c:v>
                </c:pt>
                <c:pt idx="1">
                  <c:v>Italy</c:v>
                </c:pt>
                <c:pt idx="2">
                  <c:v>U.K.</c:v>
                </c:pt>
                <c:pt idx="3">
                  <c:v>France</c:v>
                </c:pt>
                <c:pt idx="4">
                  <c:v>Mexico</c:v>
                </c:pt>
                <c:pt idx="5">
                  <c:v>Rest of Word</c:v>
                </c:pt>
                <c:pt idx="6">
                  <c:v>S. Africa</c:v>
                </c:pt>
                <c:pt idx="7">
                  <c:v>India</c:v>
                </c:pt>
                <c:pt idx="8">
                  <c:v>UAE</c:v>
                </c:pt>
                <c:pt idx="9">
                  <c:v>BENELUX</c:v>
                </c:pt>
                <c:pt idx="10">
                  <c:v>Germany</c:v>
                </c:pt>
                <c:pt idx="11">
                  <c:v>Brazil</c:v>
                </c:pt>
                <c:pt idx="12">
                  <c:v>KSA</c:v>
                </c:pt>
                <c:pt idx="13">
                  <c:v>Japan</c:v>
                </c:pt>
                <c:pt idx="14">
                  <c:v>Canada</c:v>
                </c:pt>
                <c:pt idx="15">
                  <c:v>Turkey</c:v>
                </c:pt>
                <c:pt idx="16">
                  <c:v>Russia</c:v>
                </c:pt>
                <c:pt idx="17">
                  <c:v>U.S.</c:v>
                </c:pt>
                <c:pt idx="18">
                  <c:v>Australia</c:v>
                </c:pt>
                <c:pt idx="19">
                  <c:v>ASEAN</c:v>
                </c:pt>
                <c:pt idx="20">
                  <c:v>South Korea</c:v>
                </c:pt>
              </c:strCache>
            </c:strRef>
          </c:cat>
          <c:val>
            <c:numRef>
              <c:f>Sheet1!$B$2:$B$22</c:f>
              <c:numCache>
                <c:formatCode>0.0%</c:formatCode>
                <c:ptCount val="21"/>
                <c:pt idx="0">
                  <c:v>0.12</c:v>
                </c:pt>
                <c:pt idx="1">
                  <c:v>0.10199999999999999</c:v>
                </c:pt>
                <c:pt idx="2">
                  <c:v>9.8000000000000004E-2</c:v>
                </c:pt>
                <c:pt idx="3">
                  <c:v>9.5000000000000001E-2</c:v>
                </c:pt>
                <c:pt idx="4">
                  <c:v>0.09</c:v>
                </c:pt>
                <c:pt idx="5">
                  <c:v>0.09</c:v>
                </c:pt>
                <c:pt idx="6">
                  <c:v>8.1000000000000003E-2</c:v>
                </c:pt>
                <c:pt idx="7">
                  <c:v>7.6999999999999999E-2</c:v>
                </c:pt>
                <c:pt idx="8">
                  <c:v>6.6000000000000003E-2</c:v>
                </c:pt>
                <c:pt idx="9">
                  <c:v>6.2E-2</c:v>
                </c:pt>
                <c:pt idx="10">
                  <c:v>0.06</c:v>
                </c:pt>
                <c:pt idx="11">
                  <c:v>5.8000000000000003E-2</c:v>
                </c:pt>
                <c:pt idx="12">
                  <c:v>5.3999999999999999E-2</c:v>
                </c:pt>
                <c:pt idx="13">
                  <c:v>5.2999999999999999E-2</c:v>
                </c:pt>
                <c:pt idx="14">
                  <c:v>5.0999999999999997E-2</c:v>
                </c:pt>
                <c:pt idx="15">
                  <c:v>0.05</c:v>
                </c:pt>
                <c:pt idx="16">
                  <c:v>4.2000000000000003E-2</c:v>
                </c:pt>
                <c:pt idx="17">
                  <c:v>4.1000000000000002E-2</c:v>
                </c:pt>
                <c:pt idx="18">
                  <c:v>4.1000000000000002E-2</c:v>
                </c:pt>
                <c:pt idx="19">
                  <c:v>0.04</c:v>
                </c:pt>
                <c:pt idx="20">
                  <c:v>0.02</c:v>
                </c:pt>
              </c:numCache>
            </c:numRef>
          </c:val>
          <c:extLst>
            <c:ext xmlns:c16="http://schemas.microsoft.com/office/drawing/2014/chart" uri="{C3380CC4-5D6E-409C-BE32-E72D297353CC}">
              <c16:uniqueId val="{00000000-D7EE-474D-9EB5-59C2B7DC5F48}"/>
            </c:ext>
          </c:extLst>
        </c:ser>
        <c:dLbls>
          <c:showLegendKey val="0"/>
          <c:showVal val="0"/>
          <c:showCatName val="0"/>
          <c:showSerName val="0"/>
          <c:showPercent val="0"/>
          <c:showBubbleSize val="0"/>
        </c:dLbls>
        <c:gapWidth val="182"/>
        <c:axId val="652795472"/>
        <c:axId val="652817776"/>
      </c:barChart>
      <c:catAx>
        <c:axId val="652795472"/>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652817776"/>
        <c:crosses val="autoZero"/>
        <c:auto val="1"/>
        <c:lblAlgn val="ctr"/>
        <c:lblOffset val="100"/>
        <c:noMultiLvlLbl val="0"/>
      </c:catAx>
      <c:valAx>
        <c:axId val="652817776"/>
        <c:scaling>
          <c:orientation val="minMax"/>
        </c:scaling>
        <c:delete val="0"/>
        <c:axPos val="b"/>
        <c:numFmt formatCode="0.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65279547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6772792109977742E-2"/>
          <c:y val="1.7682789651293589E-2"/>
          <c:w val="0.91932001307375943"/>
          <c:h val="0.79830700498996021"/>
        </c:manualLayout>
      </c:layout>
      <c:lineChart>
        <c:grouping val="standard"/>
        <c:varyColors val="0"/>
        <c:ser>
          <c:idx val="0"/>
          <c:order val="0"/>
          <c:tx>
            <c:strRef>
              <c:f>Sheet1!$B$1</c:f>
              <c:strCache>
                <c:ptCount val="1"/>
                <c:pt idx="0">
                  <c:v>Y-O-Y Growth</c:v>
                </c:pt>
              </c:strCache>
            </c:strRef>
          </c:tx>
          <c:spPr>
            <a:ln w="28575" cap="rnd">
              <a:solidFill>
                <a:schemeClr val="accent1"/>
              </a:solidFill>
              <a:round/>
            </a:ln>
            <a:effectLst/>
          </c:spPr>
          <c:marker>
            <c:symbol val="none"/>
          </c:marker>
          <c:cat>
            <c:strRef>
              <c:f>Sheet1!$A$2:$A$19</c:f>
              <c:strCache>
                <c:ptCount val="18"/>
                <c:pt idx="0">
                  <c:v>2019A</c:v>
                </c:pt>
                <c:pt idx="1">
                  <c:v>2020A</c:v>
                </c:pt>
                <c:pt idx="2">
                  <c:v>2021A</c:v>
                </c:pt>
                <c:pt idx="3">
                  <c:v>2022A</c:v>
                </c:pt>
                <c:pt idx="4">
                  <c:v>2023A</c:v>
                </c:pt>
                <c:pt idx="5">
                  <c:v>2024E</c:v>
                </c:pt>
                <c:pt idx="6">
                  <c:v>2025F</c:v>
                </c:pt>
                <c:pt idx="8">
                  <c:v>2026F</c:v>
                </c:pt>
                <c:pt idx="9">
                  <c:v>2027F</c:v>
                </c:pt>
                <c:pt idx="10">
                  <c:v>2028F</c:v>
                </c:pt>
                <c:pt idx="11">
                  <c:v>2029F</c:v>
                </c:pt>
                <c:pt idx="13">
                  <c:v>2030F</c:v>
                </c:pt>
                <c:pt idx="14">
                  <c:v>2031F</c:v>
                </c:pt>
                <c:pt idx="15">
                  <c:v>2032F</c:v>
                </c:pt>
                <c:pt idx="16">
                  <c:v>2033F</c:v>
                </c:pt>
                <c:pt idx="17">
                  <c:v>2034F</c:v>
                </c:pt>
              </c:strCache>
            </c:strRef>
          </c:cat>
          <c:val>
            <c:numRef>
              <c:f>Sheet1!$B$2:$B$19</c:f>
              <c:numCache>
                <c:formatCode>0.0%</c:formatCode>
                <c:ptCount val="18"/>
                <c:pt idx="0">
                  <c:v>4.0080600482191864E-2</c:v>
                </c:pt>
                <c:pt idx="1">
                  <c:v>-4.5484535300058027E-2</c:v>
                </c:pt>
                <c:pt idx="2">
                  <c:v>4.3630809133790915E-2</c:v>
                </c:pt>
                <c:pt idx="3">
                  <c:v>4.5328541157300561E-2</c:v>
                </c:pt>
                <c:pt idx="4">
                  <c:v>4.7410765899351226E-2</c:v>
                </c:pt>
                <c:pt idx="5">
                  <c:v>5.0181008276410921E-2</c:v>
                </c:pt>
                <c:pt idx="6">
                  <c:v>5.1810082764108999E-2</c:v>
                </c:pt>
                <c:pt idx="8">
                  <c:v>5.2665011405903003E-2</c:v>
                </c:pt>
                <c:pt idx="9">
                  <c:v>5.3593432835178367E-2</c:v>
                </c:pt>
                <c:pt idx="10">
                  <c:v>5.382662702801122E-2</c:v>
                </c:pt>
                <c:pt idx="11">
                  <c:v>5.3002409841142573E-2</c:v>
                </c:pt>
                <c:pt idx="13">
                  <c:v>5.2823120398222123E-2</c:v>
                </c:pt>
                <c:pt idx="14">
                  <c:v>5.2315513593679919E-2</c:v>
                </c:pt>
                <c:pt idx="15">
                  <c:v>5.1098725580241089E-2</c:v>
                </c:pt>
                <c:pt idx="16">
                  <c:v>4.9878793069662475E-2</c:v>
                </c:pt>
                <c:pt idx="17">
                  <c:v>4.9878793069662475E-2</c:v>
                </c:pt>
              </c:numCache>
            </c:numRef>
          </c:val>
          <c:smooth val="1"/>
          <c:extLst>
            <c:ext xmlns:c16="http://schemas.microsoft.com/office/drawing/2014/chart" uri="{C3380CC4-5D6E-409C-BE32-E72D297353CC}">
              <c16:uniqueId val="{00000000-3CF0-4BAB-A1DB-29B1D4653B05}"/>
            </c:ext>
          </c:extLst>
        </c:ser>
        <c:dLbls>
          <c:showLegendKey val="0"/>
          <c:showVal val="0"/>
          <c:showCatName val="0"/>
          <c:showSerName val="0"/>
          <c:showPercent val="0"/>
          <c:showBubbleSize val="0"/>
        </c:dLbls>
        <c:smooth val="0"/>
        <c:axId val="652798736"/>
        <c:axId val="652806352"/>
      </c:lineChart>
      <c:catAx>
        <c:axId val="652798736"/>
        <c:scaling>
          <c:orientation val="minMax"/>
        </c:scaling>
        <c:delete val="0"/>
        <c:axPos val="b"/>
        <c:numFmt formatCode="General" sourceLinked="1"/>
        <c:majorTickMark val="none"/>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06352"/>
        <c:crosses val="autoZero"/>
        <c:auto val="1"/>
        <c:lblAlgn val="ctr"/>
        <c:lblOffset val="100"/>
        <c:noMultiLvlLbl val="0"/>
      </c:catAx>
      <c:valAx>
        <c:axId val="652806352"/>
        <c:scaling>
          <c:orientation val="minMax"/>
          <c:max val="8.0000000000000016E-2"/>
        </c:scaling>
        <c:delete val="0"/>
        <c:axPos val="l"/>
        <c:numFmt formatCode="0.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652798736"/>
        <c:crosses val="autoZero"/>
        <c:crossBetween val="between"/>
      </c:valAx>
      <c:spPr>
        <a:noFill/>
        <a:ln>
          <a:noFill/>
        </a:ln>
        <a:effectLst/>
      </c:spPr>
    </c:plotArea>
    <c:legend>
      <c:legendPos val="b"/>
      <c:layout>
        <c:manualLayout>
          <c:xMode val="edge"/>
          <c:yMode val="edge"/>
          <c:x val="2.9025640894392069E-2"/>
          <c:y val="0.8894664497276471"/>
          <c:w val="0.96784490822794123"/>
          <c:h val="0.10847357280063559"/>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userShapes r:id="rId4"/>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486381255586553E-2"/>
          <c:y val="0.25626021509715691"/>
          <c:w val="0.93891915276536331"/>
          <c:h val="0.48747956980568613"/>
        </c:manualLayout>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delete val="1"/>
          </c:dLbls>
          <c:cat>
            <c:strRef>
              <c:f>Sheet1!$A$2:$A$6</c:f>
              <c:strCache>
                <c:ptCount val="5"/>
                <c:pt idx="0">
                  <c:v>2019 A</c:v>
                </c:pt>
                <c:pt idx="1">
                  <c:v>2020 A</c:v>
                </c:pt>
                <c:pt idx="2">
                  <c:v>2021 E</c:v>
                </c:pt>
                <c:pt idx="3">
                  <c:v>2022 F</c:v>
                </c:pt>
                <c:pt idx="4">
                  <c:v>2023 F</c:v>
                </c:pt>
              </c:strCache>
            </c:strRef>
          </c:cat>
          <c:val>
            <c:numRef>
              <c:f>Sheet1!$B$2:$B$6</c:f>
              <c:numCache>
                <c:formatCode>0.0%</c:formatCode>
                <c:ptCount val="5"/>
                <c:pt idx="0">
                  <c:v>6.2258750827826059E-2</c:v>
                </c:pt>
                <c:pt idx="1">
                  <c:v>-0.19979764582036097</c:v>
                </c:pt>
                <c:pt idx="2">
                  <c:v>6.4697354081651115E-2</c:v>
                </c:pt>
                <c:pt idx="3">
                  <c:v>7.2558478445874819E-2</c:v>
                </c:pt>
                <c:pt idx="4">
                  <c:v>7.9077514374146229E-2</c:v>
                </c:pt>
              </c:numCache>
            </c:numRef>
          </c:val>
          <c:smooth val="0"/>
          <c:extLst>
            <c:ext xmlns:c16="http://schemas.microsoft.com/office/drawing/2014/chart" uri="{C3380CC4-5D6E-409C-BE32-E72D297353CC}">
              <c16:uniqueId val="{00000000-C60E-432E-9B68-A3A2A6420F28}"/>
            </c:ext>
          </c:extLst>
        </c:ser>
        <c:dLbls>
          <c:dLblPos val="t"/>
          <c:showLegendKey val="0"/>
          <c:showVal val="1"/>
          <c:showCatName val="0"/>
          <c:showSerName val="0"/>
          <c:showPercent val="0"/>
          <c:showBubbleSize val="0"/>
        </c:dLbls>
        <c:marker val="1"/>
        <c:smooth val="0"/>
        <c:axId val="652800368"/>
        <c:axId val="652800912"/>
      </c:lineChart>
      <c:catAx>
        <c:axId val="652800368"/>
        <c:scaling>
          <c:orientation val="minMax"/>
        </c:scaling>
        <c:delete val="1"/>
        <c:axPos val="b"/>
        <c:numFmt formatCode="General" sourceLinked="1"/>
        <c:majorTickMark val="none"/>
        <c:minorTickMark val="none"/>
        <c:tickLblPos val="nextTo"/>
        <c:crossAx val="652800912"/>
        <c:crosses val="autoZero"/>
        <c:auto val="1"/>
        <c:lblAlgn val="ctr"/>
        <c:lblOffset val="100"/>
        <c:noMultiLvlLbl val="0"/>
      </c:catAx>
      <c:valAx>
        <c:axId val="652800912"/>
        <c:scaling>
          <c:orientation val="minMax"/>
        </c:scaling>
        <c:delete val="1"/>
        <c:axPos val="l"/>
        <c:majorGridlines>
          <c:spPr>
            <a:ln w="9525" cap="flat" cmpd="sng" algn="ctr">
              <a:solidFill>
                <a:schemeClr val="tx1">
                  <a:lumMod val="15000"/>
                  <a:lumOff val="85000"/>
                </a:schemeClr>
              </a:solidFill>
              <a:round/>
            </a:ln>
            <a:effectLst/>
          </c:spPr>
        </c:majorGridlines>
        <c:numFmt formatCode="0.0%" sourceLinked="1"/>
        <c:majorTickMark val="none"/>
        <c:minorTickMark val="none"/>
        <c:tickLblPos val="nextTo"/>
        <c:crossAx val="65280036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486381255586553E-2"/>
          <c:y val="0.25626021509715691"/>
          <c:w val="0.93891915276536331"/>
          <c:h val="0.48747956980568613"/>
        </c:manualLayout>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delete val="1"/>
          </c:dLbls>
          <c:cat>
            <c:strRef>
              <c:f>Sheet1!$A$2:$A$6</c:f>
              <c:strCache>
                <c:ptCount val="5"/>
                <c:pt idx="0">
                  <c:v>2019 A</c:v>
                </c:pt>
                <c:pt idx="1">
                  <c:v>2020 A</c:v>
                </c:pt>
                <c:pt idx="2">
                  <c:v>2021 E</c:v>
                </c:pt>
                <c:pt idx="3">
                  <c:v>2022 F</c:v>
                </c:pt>
                <c:pt idx="4">
                  <c:v>2023 F</c:v>
                </c:pt>
              </c:strCache>
            </c:strRef>
          </c:cat>
          <c:val>
            <c:numRef>
              <c:f>Sheet1!$B$2:$B$6</c:f>
              <c:numCache>
                <c:formatCode>0.0%</c:formatCode>
                <c:ptCount val="5"/>
                <c:pt idx="0">
                  <c:v>6.4540963543906482E-2</c:v>
                </c:pt>
                <c:pt idx="1">
                  <c:v>-6.4916715138188863E-2</c:v>
                </c:pt>
                <c:pt idx="2">
                  <c:v>6.9327597627146353E-2</c:v>
                </c:pt>
                <c:pt idx="3">
                  <c:v>7.2717056705905447E-2</c:v>
                </c:pt>
                <c:pt idx="4">
                  <c:v>7.5476444337442494E-2</c:v>
                </c:pt>
              </c:numCache>
            </c:numRef>
          </c:val>
          <c:smooth val="0"/>
          <c:extLst>
            <c:ext xmlns:c16="http://schemas.microsoft.com/office/drawing/2014/chart" uri="{C3380CC4-5D6E-409C-BE32-E72D297353CC}">
              <c16:uniqueId val="{00000000-384F-465E-A8A5-C5B99395AAE4}"/>
            </c:ext>
          </c:extLst>
        </c:ser>
        <c:dLbls>
          <c:dLblPos val="t"/>
          <c:showLegendKey val="0"/>
          <c:showVal val="1"/>
          <c:showCatName val="0"/>
          <c:showSerName val="0"/>
          <c:showPercent val="0"/>
          <c:showBubbleSize val="0"/>
        </c:dLbls>
        <c:marker val="1"/>
        <c:smooth val="0"/>
        <c:axId val="652792208"/>
        <c:axId val="652801456"/>
      </c:lineChart>
      <c:catAx>
        <c:axId val="652792208"/>
        <c:scaling>
          <c:orientation val="minMax"/>
        </c:scaling>
        <c:delete val="1"/>
        <c:axPos val="b"/>
        <c:numFmt formatCode="General" sourceLinked="1"/>
        <c:majorTickMark val="none"/>
        <c:minorTickMark val="none"/>
        <c:tickLblPos val="nextTo"/>
        <c:crossAx val="652801456"/>
        <c:crosses val="autoZero"/>
        <c:auto val="1"/>
        <c:lblAlgn val="ctr"/>
        <c:lblOffset val="100"/>
        <c:noMultiLvlLbl val="0"/>
      </c:catAx>
      <c:valAx>
        <c:axId val="652801456"/>
        <c:scaling>
          <c:orientation val="minMax"/>
        </c:scaling>
        <c:delete val="1"/>
        <c:axPos val="l"/>
        <c:majorGridlines>
          <c:spPr>
            <a:ln w="9525" cap="flat" cmpd="sng" algn="ctr">
              <a:solidFill>
                <a:schemeClr val="tx1">
                  <a:lumMod val="15000"/>
                  <a:lumOff val="85000"/>
                </a:schemeClr>
              </a:solidFill>
              <a:round/>
            </a:ln>
            <a:effectLst/>
          </c:spPr>
        </c:majorGridlines>
        <c:numFmt formatCode="0.0%" sourceLinked="1"/>
        <c:majorTickMark val="none"/>
        <c:minorTickMark val="none"/>
        <c:tickLblPos val="nextTo"/>
        <c:crossAx val="65279220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486381255586553E-2"/>
          <c:y val="0.25626021509715691"/>
          <c:w val="0.93891915276536331"/>
          <c:h val="0.48747956980568613"/>
        </c:manualLayout>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delete val="1"/>
          </c:dLbls>
          <c:cat>
            <c:strRef>
              <c:f>Sheet1!$A$2:$A$6</c:f>
              <c:strCache>
                <c:ptCount val="5"/>
                <c:pt idx="0">
                  <c:v>2019 A</c:v>
                </c:pt>
                <c:pt idx="1">
                  <c:v>2020 A</c:v>
                </c:pt>
                <c:pt idx="2">
                  <c:v>2021 E</c:v>
                </c:pt>
                <c:pt idx="3">
                  <c:v>2022 F</c:v>
                </c:pt>
                <c:pt idx="4">
                  <c:v>2023 F</c:v>
                </c:pt>
              </c:strCache>
            </c:strRef>
          </c:cat>
          <c:val>
            <c:numRef>
              <c:f>Sheet1!$B$2:$B$6</c:f>
              <c:numCache>
                <c:formatCode>0.0%</c:formatCode>
                <c:ptCount val="5"/>
                <c:pt idx="0">
                  <c:v>5.811604425867789E-2</c:v>
                </c:pt>
                <c:pt idx="1">
                  <c:v>-9.5974073082132905E-2</c:v>
                </c:pt>
                <c:pt idx="2">
                  <c:v>6.0609320711253467E-2</c:v>
                </c:pt>
                <c:pt idx="3">
                  <c:v>6.3121436561284661E-2</c:v>
                </c:pt>
                <c:pt idx="4">
                  <c:v>6.5613142871877583E-2</c:v>
                </c:pt>
              </c:numCache>
            </c:numRef>
          </c:val>
          <c:smooth val="0"/>
          <c:extLst>
            <c:ext xmlns:c16="http://schemas.microsoft.com/office/drawing/2014/chart" uri="{C3380CC4-5D6E-409C-BE32-E72D297353CC}">
              <c16:uniqueId val="{00000000-1DC2-4191-A976-B243DE1D485C}"/>
            </c:ext>
          </c:extLst>
        </c:ser>
        <c:dLbls>
          <c:dLblPos val="t"/>
          <c:showLegendKey val="0"/>
          <c:showVal val="1"/>
          <c:showCatName val="0"/>
          <c:showSerName val="0"/>
          <c:showPercent val="0"/>
          <c:showBubbleSize val="0"/>
        </c:dLbls>
        <c:marker val="1"/>
        <c:smooth val="0"/>
        <c:axId val="652819408"/>
        <c:axId val="652812880"/>
      </c:lineChart>
      <c:catAx>
        <c:axId val="652819408"/>
        <c:scaling>
          <c:orientation val="minMax"/>
        </c:scaling>
        <c:delete val="1"/>
        <c:axPos val="b"/>
        <c:numFmt formatCode="General" sourceLinked="1"/>
        <c:majorTickMark val="none"/>
        <c:minorTickMark val="none"/>
        <c:tickLblPos val="nextTo"/>
        <c:crossAx val="652812880"/>
        <c:crosses val="autoZero"/>
        <c:auto val="1"/>
        <c:lblAlgn val="ctr"/>
        <c:lblOffset val="100"/>
        <c:noMultiLvlLbl val="0"/>
      </c:catAx>
      <c:valAx>
        <c:axId val="652812880"/>
        <c:scaling>
          <c:orientation val="minMax"/>
        </c:scaling>
        <c:delete val="1"/>
        <c:axPos val="l"/>
        <c:majorGridlines>
          <c:spPr>
            <a:ln w="9525" cap="flat" cmpd="sng" algn="ctr">
              <a:solidFill>
                <a:schemeClr val="tx1">
                  <a:lumMod val="15000"/>
                  <a:lumOff val="85000"/>
                </a:schemeClr>
              </a:solidFill>
              <a:round/>
            </a:ln>
            <a:effectLst/>
          </c:spPr>
        </c:majorGridlines>
        <c:numFmt formatCode="0.0%" sourceLinked="1"/>
        <c:majorTickMark val="none"/>
        <c:minorTickMark val="none"/>
        <c:tickLblPos val="nextTo"/>
        <c:crossAx val="65281940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486381255586553E-2"/>
          <c:y val="0.25626021509715691"/>
          <c:w val="0.93891915276536331"/>
          <c:h val="0.48747956980568613"/>
        </c:manualLayout>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delete val="1"/>
          </c:dLbls>
          <c:cat>
            <c:strRef>
              <c:f>Sheet1!$A$2:$A$6</c:f>
              <c:strCache>
                <c:ptCount val="5"/>
                <c:pt idx="0">
                  <c:v>2019 A</c:v>
                </c:pt>
                <c:pt idx="1">
                  <c:v>2020 A</c:v>
                </c:pt>
                <c:pt idx="2">
                  <c:v>2021 E</c:v>
                </c:pt>
                <c:pt idx="3">
                  <c:v>2022 F</c:v>
                </c:pt>
                <c:pt idx="4">
                  <c:v>2023 F</c:v>
                </c:pt>
              </c:strCache>
            </c:strRef>
          </c:cat>
          <c:val>
            <c:numRef>
              <c:f>Sheet1!$B$2:$B$6</c:f>
              <c:numCache>
                <c:formatCode>0.0%</c:formatCode>
                <c:ptCount val="5"/>
                <c:pt idx="0">
                  <c:v>4.7138704495138573E-2</c:v>
                </c:pt>
                <c:pt idx="1">
                  <c:v>-7.3763949884914304E-2</c:v>
                </c:pt>
                <c:pt idx="2">
                  <c:v>5.087514624762135E-2</c:v>
                </c:pt>
                <c:pt idx="3">
                  <c:v>5.4527865276382981E-2</c:v>
                </c:pt>
                <c:pt idx="4">
                  <c:v>5.7059221189886378E-2</c:v>
                </c:pt>
              </c:numCache>
            </c:numRef>
          </c:val>
          <c:smooth val="0"/>
          <c:extLst>
            <c:ext xmlns:c16="http://schemas.microsoft.com/office/drawing/2014/chart" uri="{C3380CC4-5D6E-409C-BE32-E72D297353CC}">
              <c16:uniqueId val="{00000000-5224-446D-BB42-C9C45E95736B}"/>
            </c:ext>
          </c:extLst>
        </c:ser>
        <c:dLbls>
          <c:dLblPos val="t"/>
          <c:showLegendKey val="0"/>
          <c:showVal val="1"/>
          <c:showCatName val="0"/>
          <c:showSerName val="0"/>
          <c:showPercent val="0"/>
          <c:showBubbleSize val="0"/>
        </c:dLbls>
        <c:marker val="1"/>
        <c:smooth val="0"/>
        <c:axId val="652807440"/>
        <c:axId val="652808528"/>
      </c:lineChart>
      <c:catAx>
        <c:axId val="652807440"/>
        <c:scaling>
          <c:orientation val="minMax"/>
        </c:scaling>
        <c:delete val="1"/>
        <c:axPos val="b"/>
        <c:numFmt formatCode="General" sourceLinked="1"/>
        <c:majorTickMark val="none"/>
        <c:minorTickMark val="none"/>
        <c:tickLblPos val="nextTo"/>
        <c:crossAx val="652808528"/>
        <c:crosses val="autoZero"/>
        <c:auto val="1"/>
        <c:lblAlgn val="ctr"/>
        <c:lblOffset val="100"/>
        <c:noMultiLvlLbl val="0"/>
      </c:catAx>
      <c:valAx>
        <c:axId val="652808528"/>
        <c:scaling>
          <c:orientation val="minMax"/>
        </c:scaling>
        <c:delete val="1"/>
        <c:axPos val="l"/>
        <c:majorGridlines>
          <c:spPr>
            <a:ln w="9525" cap="flat" cmpd="sng" algn="ctr">
              <a:solidFill>
                <a:schemeClr val="tx1">
                  <a:lumMod val="15000"/>
                  <a:lumOff val="85000"/>
                </a:schemeClr>
              </a:solidFill>
              <a:round/>
            </a:ln>
            <a:effectLst/>
          </c:spPr>
        </c:majorGridlines>
        <c:numFmt formatCode="0.0%" sourceLinked="1"/>
        <c:majorTickMark val="none"/>
        <c:minorTickMark val="none"/>
        <c:tickLblPos val="nextTo"/>
        <c:crossAx val="65280744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486381255586553E-2"/>
          <c:y val="0.25626021509715691"/>
          <c:w val="0.93891915276536331"/>
          <c:h val="0.48747956980568613"/>
        </c:manualLayout>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delete val="1"/>
          </c:dLbls>
          <c:cat>
            <c:strRef>
              <c:f>Sheet1!$A$2:$A$6</c:f>
              <c:strCache>
                <c:ptCount val="5"/>
                <c:pt idx="0">
                  <c:v>2019 A</c:v>
                </c:pt>
                <c:pt idx="1">
                  <c:v>2020 A</c:v>
                </c:pt>
                <c:pt idx="2">
                  <c:v>2021 E</c:v>
                </c:pt>
                <c:pt idx="3">
                  <c:v>2022 F</c:v>
                </c:pt>
                <c:pt idx="4">
                  <c:v>2023 F</c:v>
                </c:pt>
              </c:strCache>
            </c:strRef>
          </c:cat>
          <c:val>
            <c:numRef>
              <c:f>Sheet1!$B$2:$B$6</c:f>
              <c:numCache>
                <c:formatCode>0.0%</c:formatCode>
                <c:ptCount val="5"/>
                <c:pt idx="0">
                  <c:v>7.2588082948997101E-2</c:v>
                </c:pt>
                <c:pt idx="1">
                  <c:v>-9.3133702064906787E-2</c:v>
                </c:pt>
                <c:pt idx="2">
                  <c:v>6.9487590074438721E-2</c:v>
                </c:pt>
                <c:pt idx="3">
                  <c:v>6.9658379421344563E-2</c:v>
                </c:pt>
                <c:pt idx="4">
                  <c:v>7.1423807566895148E-2</c:v>
                </c:pt>
              </c:numCache>
            </c:numRef>
          </c:val>
          <c:smooth val="0"/>
          <c:extLst>
            <c:ext xmlns:c16="http://schemas.microsoft.com/office/drawing/2014/chart" uri="{C3380CC4-5D6E-409C-BE32-E72D297353CC}">
              <c16:uniqueId val="{00000000-D5A9-437C-A22D-CD3C755A0DD8}"/>
            </c:ext>
          </c:extLst>
        </c:ser>
        <c:dLbls>
          <c:dLblPos val="t"/>
          <c:showLegendKey val="0"/>
          <c:showVal val="1"/>
          <c:showCatName val="0"/>
          <c:showSerName val="0"/>
          <c:showPercent val="0"/>
          <c:showBubbleSize val="0"/>
        </c:dLbls>
        <c:marker val="1"/>
        <c:smooth val="0"/>
        <c:axId val="652809072"/>
        <c:axId val="652818320"/>
      </c:lineChart>
      <c:catAx>
        <c:axId val="652809072"/>
        <c:scaling>
          <c:orientation val="minMax"/>
        </c:scaling>
        <c:delete val="1"/>
        <c:axPos val="b"/>
        <c:numFmt formatCode="General" sourceLinked="1"/>
        <c:majorTickMark val="none"/>
        <c:minorTickMark val="none"/>
        <c:tickLblPos val="nextTo"/>
        <c:crossAx val="652818320"/>
        <c:crosses val="autoZero"/>
        <c:auto val="1"/>
        <c:lblAlgn val="ctr"/>
        <c:lblOffset val="100"/>
        <c:noMultiLvlLbl val="0"/>
      </c:catAx>
      <c:valAx>
        <c:axId val="652818320"/>
        <c:scaling>
          <c:orientation val="minMax"/>
        </c:scaling>
        <c:delete val="1"/>
        <c:axPos val="l"/>
        <c:majorGridlines>
          <c:spPr>
            <a:ln w="9525" cap="flat" cmpd="sng" algn="ctr">
              <a:solidFill>
                <a:schemeClr val="tx1">
                  <a:lumMod val="15000"/>
                  <a:lumOff val="85000"/>
                </a:schemeClr>
              </a:solidFill>
              <a:round/>
            </a:ln>
            <a:effectLst/>
          </c:spPr>
        </c:majorGridlines>
        <c:numFmt formatCode="0.0%" sourceLinked="1"/>
        <c:majorTickMark val="none"/>
        <c:minorTickMark val="none"/>
        <c:tickLblPos val="nextTo"/>
        <c:crossAx val="65280907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486381255586553E-2"/>
          <c:y val="0.25626021509715691"/>
          <c:w val="0.93891915276536331"/>
          <c:h val="0.48747956980568613"/>
        </c:manualLayout>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delete val="1"/>
          </c:dLbls>
          <c:cat>
            <c:strRef>
              <c:f>Sheet1!$A$2:$A$6</c:f>
              <c:strCache>
                <c:ptCount val="5"/>
                <c:pt idx="0">
                  <c:v>2019 A</c:v>
                </c:pt>
                <c:pt idx="1">
                  <c:v>2020 A</c:v>
                </c:pt>
                <c:pt idx="2">
                  <c:v>2021 E</c:v>
                </c:pt>
                <c:pt idx="3">
                  <c:v>2022 F</c:v>
                </c:pt>
                <c:pt idx="4">
                  <c:v>2023 F</c:v>
                </c:pt>
              </c:strCache>
            </c:strRef>
          </c:cat>
          <c:val>
            <c:numRef>
              <c:f>Sheet1!$B$2:$B$6</c:f>
              <c:numCache>
                <c:formatCode>0.0%</c:formatCode>
                <c:ptCount val="5"/>
                <c:pt idx="0">
                  <c:v>7.5028361344555705E-2</c:v>
                </c:pt>
                <c:pt idx="1">
                  <c:v>-0.16620090750726857</c:v>
                </c:pt>
                <c:pt idx="2">
                  <c:v>7.4593094345856814E-2</c:v>
                </c:pt>
                <c:pt idx="3">
                  <c:v>8.0168824323035848E-2</c:v>
                </c:pt>
                <c:pt idx="4">
                  <c:v>8.5338785701918995E-2</c:v>
                </c:pt>
              </c:numCache>
            </c:numRef>
          </c:val>
          <c:smooth val="0"/>
          <c:extLst>
            <c:ext xmlns:c16="http://schemas.microsoft.com/office/drawing/2014/chart" uri="{C3380CC4-5D6E-409C-BE32-E72D297353CC}">
              <c16:uniqueId val="{00000000-9C7C-41A2-9A0C-B700543BF219}"/>
            </c:ext>
          </c:extLst>
        </c:ser>
        <c:dLbls>
          <c:dLblPos val="t"/>
          <c:showLegendKey val="0"/>
          <c:showVal val="1"/>
          <c:showCatName val="0"/>
          <c:showSerName val="0"/>
          <c:showPercent val="0"/>
          <c:showBubbleSize val="0"/>
        </c:dLbls>
        <c:marker val="1"/>
        <c:smooth val="0"/>
        <c:axId val="652809616"/>
        <c:axId val="652810160"/>
      </c:lineChart>
      <c:catAx>
        <c:axId val="652809616"/>
        <c:scaling>
          <c:orientation val="minMax"/>
        </c:scaling>
        <c:delete val="1"/>
        <c:axPos val="b"/>
        <c:numFmt formatCode="General" sourceLinked="1"/>
        <c:majorTickMark val="none"/>
        <c:minorTickMark val="none"/>
        <c:tickLblPos val="nextTo"/>
        <c:crossAx val="652810160"/>
        <c:crosses val="autoZero"/>
        <c:auto val="1"/>
        <c:lblAlgn val="ctr"/>
        <c:lblOffset val="100"/>
        <c:noMultiLvlLbl val="0"/>
      </c:catAx>
      <c:valAx>
        <c:axId val="652810160"/>
        <c:scaling>
          <c:orientation val="minMax"/>
        </c:scaling>
        <c:delete val="1"/>
        <c:axPos val="l"/>
        <c:majorGridlines>
          <c:spPr>
            <a:ln w="9525" cap="flat" cmpd="sng" algn="ctr">
              <a:solidFill>
                <a:schemeClr val="tx1">
                  <a:lumMod val="15000"/>
                  <a:lumOff val="85000"/>
                </a:schemeClr>
              </a:solidFill>
              <a:round/>
            </a:ln>
            <a:effectLst/>
          </c:spPr>
        </c:majorGridlines>
        <c:numFmt formatCode="0.0%" sourceLinked="1"/>
        <c:majorTickMark val="none"/>
        <c:minorTickMark val="none"/>
        <c:tickLblPos val="nextTo"/>
        <c:crossAx val="65280961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486381255586553E-2"/>
          <c:y val="0.25626021509715691"/>
          <c:w val="0.93891915276536331"/>
          <c:h val="0.48747956980568613"/>
        </c:manualLayout>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delete val="1"/>
          </c:dLbls>
          <c:cat>
            <c:strRef>
              <c:f>Sheet1!$A$2:$A$6</c:f>
              <c:strCache>
                <c:ptCount val="5"/>
                <c:pt idx="0">
                  <c:v>2019 A</c:v>
                </c:pt>
                <c:pt idx="1">
                  <c:v>2020 A</c:v>
                </c:pt>
                <c:pt idx="2">
                  <c:v>2021 E</c:v>
                </c:pt>
                <c:pt idx="3">
                  <c:v>2022 F</c:v>
                </c:pt>
                <c:pt idx="4">
                  <c:v>2023 F</c:v>
                </c:pt>
              </c:strCache>
            </c:strRef>
          </c:cat>
          <c:val>
            <c:numRef>
              <c:f>Sheet1!$B$2:$B$6</c:f>
              <c:numCache>
                <c:formatCode>0.0%</c:formatCode>
                <c:ptCount val="5"/>
                <c:pt idx="0">
                  <c:v>5.620002080843145E-2</c:v>
                </c:pt>
                <c:pt idx="1">
                  <c:v>-9.3982062786814535E-2</c:v>
                </c:pt>
                <c:pt idx="2">
                  <c:v>6.5418319066668396E-2</c:v>
                </c:pt>
                <c:pt idx="3">
                  <c:v>6.9875977564063829E-2</c:v>
                </c:pt>
                <c:pt idx="4">
                  <c:v>7.2543980328674706E-2</c:v>
                </c:pt>
              </c:numCache>
            </c:numRef>
          </c:val>
          <c:smooth val="0"/>
          <c:extLst>
            <c:ext xmlns:c16="http://schemas.microsoft.com/office/drawing/2014/chart" uri="{C3380CC4-5D6E-409C-BE32-E72D297353CC}">
              <c16:uniqueId val="{00000000-43F8-4E32-9A95-5E9E39AC76AD}"/>
            </c:ext>
          </c:extLst>
        </c:ser>
        <c:dLbls>
          <c:dLblPos val="t"/>
          <c:showLegendKey val="0"/>
          <c:showVal val="1"/>
          <c:showCatName val="0"/>
          <c:showSerName val="0"/>
          <c:showPercent val="0"/>
          <c:showBubbleSize val="0"/>
        </c:dLbls>
        <c:marker val="1"/>
        <c:smooth val="0"/>
        <c:axId val="652810704"/>
        <c:axId val="652789488"/>
      </c:lineChart>
      <c:catAx>
        <c:axId val="652810704"/>
        <c:scaling>
          <c:orientation val="minMax"/>
        </c:scaling>
        <c:delete val="1"/>
        <c:axPos val="b"/>
        <c:numFmt formatCode="General" sourceLinked="1"/>
        <c:majorTickMark val="none"/>
        <c:minorTickMark val="none"/>
        <c:tickLblPos val="nextTo"/>
        <c:crossAx val="652789488"/>
        <c:crosses val="autoZero"/>
        <c:auto val="1"/>
        <c:lblAlgn val="ctr"/>
        <c:lblOffset val="100"/>
        <c:noMultiLvlLbl val="0"/>
      </c:catAx>
      <c:valAx>
        <c:axId val="652789488"/>
        <c:scaling>
          <c:orientation val="minMax"/>
        </c:scaling>
        <c:delete val="1"/>
        <c:axPos val="l"/>
        <c:majorGridlines>
          <c:spPr>
            <a:ln w="9525" cap="flat" cmpd="sng" algn="ctr">
              <a:solidFill>
                <a:schemeClr val="tx1">
                  <a:lumMod val="15000"/>
                  <a:lumOff val="85000"/>
                </a:schemeClr>
              </a:solidFill>
              <a:round/>
            </a:ln>
            <a:effectLst/>
          </c:spPr>
        </c:majorGridlines>
        <c:numFmt formatCode="0.0%" sourceLinked="1"/>
        <c:majorTickMark val="none"/>
        <c:minorTickMark val="none"/>
        <c:tickLblPos val="nextTo"/>
        <c:crossAx val="65281070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3227841712093641E-3"/>
          <c:y val="8.5612016140302755E-2"/>
          <c:w val="0.99467721582879065"/>
          <c:h val="0.72700378752685735"/>
        </c:manualLayout>
      </c:layout>
      <c:barChart>
        <c:barDir val="col"/>
        <c:grouping val="clustered"/>
        <c:varyColors val="0"/>
        <c:ser>
          <c:idx val="0"/>
          <c:order val="0"/>
          <c:tx>
            <c:strRef>
              <c:f>Sheet1!$B$1</c:f>
              <c:strCache>
                <c:ptCount val="1"/>
                <c:pt idx="0">
                  <c:v>Demand (Tons)</c:v>
                </c:pt>
              </c:strCache>
            </c:strRef>
          </c:tx>
          <c:spPr>
            <a:solidFill>
              <a:srgbClr val="B2A880">
                <a:lumMod val="75000"/>
              </a:srgbClr>
            </a:solidFill>
            <a:ln>
              <a:noFill/>
            </a:ln>
            <a:effectLst/>
          </c:spPr>
          <c:invertIfNegative val="0"/>
          <c:cat>
            <c:strRef>
              <c:f>Sheet1!$A$2:$A$8</c:f>
              <c:strCache>
                <c:ptCount val="7"/>
                <c:pt idx="0">
                  <c:v>North America</c:v>
                </c:pt>
                <c:pt idx="1">
                  <c:v>Latin America</c:v>
                </c:pt>
                <c:pt idx="2">
                  <c:v>Western Europe</c:v>
                </c:pt>
                <c:pt idx="3">
                  <c:v>Eastern Europe</c:v>
                </c:pt>
                <c:pt idx="4">
                  <c:v>East Asia</c:v>
                </c:pt>
                <c:pt idx="5">
                  <c:v>South Asia Pacific</c:v>
                </c:pt>
                <c:pt idx="6">
                  <c:v>MEA</c:v>
                </c:pt>
              </c:strCache>
            </c:strRef>
          </c:cat>
          <c:val>
            <c:numRef>
              <c:f>Sheet1!$B$2:$B$8</c:f>
              <c:numCache>
                <c:formatCode>#,##0</c:formatCode>
                <c:ptCount val="7"/>
                <c:pt idx="0">
                  <c:v>190054.58676945735</c:v>
                </c:pt>
                <c:pt idx="1">
                  <c:v>45362.823179541236</c:v>
                </c:pt>
                <c:pt idx="2">
                  <c:v>147038.11651299577</c:v>
                </c:pt>
                <c:pt idx="3">
                  <c:v>89161.411077029319</c:v>
                </c:pt>
                <c:pt idx="4">
                  <c:v>143127.52830786287</c:v>
                </c:pt>
                <c:pt idx="5">
                  <c:v>98546.822769348204</c:v>
                </c:pt>
                <c:pt idx="6">
                  <c:v>68826.352410338397</c:v>
                </c:pt>
              </c:numCache>
            </c:numRef>
          </c:val>
          <c:extLst>
            <c:ext xmlns:c16="http://schemas.microsoft.com/office/drawing/2014/chart" uri="{C3380CC4-5D6E-409C-BE32-E72D297353CC}">
              <c16:uniqueId val="{00000000-9B10-46BE-AD88-64EB1F3A1CC2}"/>
            </c:ext>
          </c:extLst>
        </c:ser>
        <c:dLbls>
          <c:showLegendKey val="0"/>
          <c:showVal val="0"/>
          <c:showCatName val="0"/>
          <c:showSerName val="0"/>
          <c:showPercent val="0"/>
          <c:showBubbleSize val="0"/>
        </c:dLbls>
        <c:gapWidth val="50"/>
        <c:axId val="652811248"/>
        <c:axId val="652811792"/>
      </c:barChart>
      <c:barChart>
        <c:barDir val="col"/>
        <c:grouping val="clustered"/>
        <c:varyColors val="0"/>
        <c:ser>
          <c:idx val="1"/>
          <c:order val="1"/>
          <c:tx>
            <c:strRef>
              <c:f>Sheet1!$C$1</c:f>
              <c:strCache>
                <c:ptCount val="1"/>
                <c:pt idx="0">
                  <c:v>Supply (Tons)</c:v>
                </c:pt>
              </c:strCache>
            </c:strRef>
          </c:tx>
          <c:spPr>
            <a:solidFill>
              <a:srgbClr val="B2A880">
                <a:lumMod val="40000"/>
                <a:lumOff val="60000"/>
              </a:srgbClr>
            </a:solidFill>
            <a:ln>
              <a:noFill/>
            </a:ln>
            <a:effectLst/>
          </c:spPr>
          <c:invertIfNegative val="0"/>
          <c:cat>
            <c:strRef>
              <c:f>Sheet1!$A$2:$A$8</c:f>
              <c:strCache>
                <c:ptCount val="7"/>
                <c:pt idx="0">
                  <c:v>North America</c:v>
                </c:pt>
                <c:pt idx="1">
                  <c:v>Latin America</c:v>
                </c:pt>
                <c:pt idx="2">
                  <c:v>Western Europe</c:v>
                </c:pt>
                <c:pt idx="3">
                  <c:v>Eastern Europe</c:v>
                </c:pt>
                <c:pt idx="4">
                  <c:v>East Asia</c:v>
                </c:pt>
                <c:pt idx="5">
                  <c:v>South Asia Pacific</c:v>
                </c:pt>
                <c:pt idx="6">
                  <c:v>MEA</c:v>
                </c:pt>
              </c:strCache>
            </c:strRef>
          </c:cat>
          <c:val>
            <c:numRef>
              <c:f>Sheet1!$C$2:$C$8</c:f>
              <c:numCache>
                <c:formatCode>_(* #,##0_);_(* \(#,##0\);_(* "-"??_);_(@_)</c:formatCode>
                <c:ptCount val="7"/>
                <c:pt idx="0">
                  <c:v>195756.22437254107</c:v>
                </c:pt>
                <c:pt idx="1">
                  <c:v>40826.540861587113</c:v>
                </c:pt>
                <c:pt idx="2">
                  <c:v>141156.59185247592</c:v>
                </c:pt>
                <c:pt idx="3">
                  <c:v>86486.568744718432</c:v>
                </c:pt>
                <c:pt idx="4">
                  <c:v>157440.28113864918</c:v>
                </c:pt>
                <c:pt idx="5">
                  <c:v>83764.799353945971</c:v>
                </c:pt>
                <c:pt idx="6">
                  <c:v>55061.081928270723</c:v>
                </c:pt>
              </c:numCache>
            </c:numRef>
          </c:val>
          <c:extLst>
            <c:ext xmlns:c16="http://schemas.microsoft.com/office/drawing/2014/chart" uri="{C3380CC4-5D6E-409C-BE32-E72D297353CC}">
              <c16:uniqueId val="{00000001-9B10-46BE-AD88-64EB1F3A1CC2}"/>
            </c:ext>
          </c:extLst>
        </c:ser>
        <c:dLbls>
          <c:showLegendKey val="0"/>
          <c:showVal val="0"/>
          <c:showCatName val="0"/>
          <c:showSerName val="0"/>
          <c:showPercent val="0"/>
          <c:showBubbleSize val="0"/>
        </c:dLbls>
        <c:gapWidth val="100"/>
        <c:axId val="652812336"/>
        <c:axId val="652815600"/>
      </c:barChart>
      <c:catAx>
        <c:axId val="6528112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652811792"/>
        <c:crosses val="autoZero"/>
        <c:auto val="1"/>
        <c:lblAlgn val="ctr"/>
        <c:lblOffset val="100"/>
        <c:noMultiLvlLbl val="0"/>
      </c:catAx>
      <c:valAx>
        <c:axId val="652811792"/>
        <c:scaling>
          <c:orientation val="minMax"/>
        </c:scaling>
        <c:delete val="1"/>
        <c:axPos val="l"/>
        <c:numFmt formatCode="#,##0" sourceLinked="1"/>
        <c:majorTickMark val="none"/>
        <c:minorTickMark val="none"/>
        <c:tickLblPos val="nextTo"/>
        <c:crossAx val="652811248"/>
        <c:crosses val="autoZero"/>
        <c:crossBetween val="between"/>
      </c:valAx>
      <c:valAx>
        <c:axId val="652815600"/>
        <c:scaling>
          <c:orientation val="minMax"/>
          <c:max val="35000"/>
        </c:scaling>
        <c:delete val="1"/>
        <c:axPos val="r"/>
        <c:numFmt formatCode="_(* #,##0_);_(* \(#,##0\);_(* &quot;-&quot;??_);_(@_)" sourceLinked="1"/>
        <c:majorTickMark val="out"/>
        <c:minorTickMark val="none"/>
        <c:tickLblPos val="nextTo"/>
        <c:crossAx val="652812336"/>
        <c:crosses val="max"/>
        <c:crossBetween val="between"/>
      </c:valAx>
      <c:catAx>
        <c:axId val="652812336"/>
        <c:scaling>
          <c:orientation val="minMax"/>
        </c:scaling>
        <c:delete val="1"/>
        <c:axPos val="b"/>
        <c:numFmt formatCode="General" sourceLinked="1"/>
        <c:majorTickMark val="out"/>
        <c:minorTickMark val="none"/>
        <c:tickLblPos val="nextTo"/>
        <c:crossAx val="652815600"/>
        <c:crosses val="autoZero"/>
        <c:auto val="1"/>
        <c:lblAlgn val="ctr"/>
        <c:lblOffset val="100"/>
        <c:noMultiLvlLbl val="0"/>
      </c:catAx>
      <c:spPr>
        <a:noFill/>
        <a:ln>
          <a:noFill/>
        </a:ln>
        <a:effectLst/>
      </c:spPr>
    </c:plotArea>
    <c:legend>
      <c:legendPos val="r"/>
      <c:layout>
        <c:manualLayout>
          <c:xMode val="edge"/>
          <c:yMode val="edge"/>
          <c:x val="0.71733586025906826"/>
          <c:y val="1.0934854530987323E-2"/>
          <c:w val="0.26653931021689109"/>
          <c:h val="0.29876154983330883"/>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5757577611037289"/>
          <c:y val="4.8553424232850681E-2"/>
          <c:w val="0.64242422388962706"/>
          <c:h val="0.90289315153429861"/>
        </c:manualLayout>
      </c:layout>
      <c:barChart>
        <c:barDir val="bar"/>
        <c:grouping val="clustered"/>
        <c:varyColors val="0"/>
        <c:ser>
          <c:idx val="0"/>
          <c:order val="0"/>
          <c:tx>
            <c:strRef>
              <c:f>Sheet1!$B$1</c:f>
              <c:strCache>
                <c:ptCount val="1"/>
                <c:pt idx="0">
                  <c:v>Series 1</c:v>
                </c:pt>
              </c:strCache>
            </c:strRef>
          </c:tx>
          <c:spPr>
            <a:solidFill>
              <a:schemeClr val="accent1"/>
            </a:solidFill>
            <a:ln>
              <a:noFill/>
            </a:ln>
            <a:effectLst/>
          </c:spPr>
          <c:invertIfNegative val="0"/>
          <c:dLbls>
            <c:delete val="1"/>
          </c:dLbls>
          <c:cat>
            <c:strRef>
              <c:f>Sheet1!$A$2:$A$11</c:f>
              <c:strCache>
                <c:ptCount val="10"/>
                <c:pt idx="0">
                  <c:v>Italy</c:v>
                </c:pt>
                <c:pt idx="1">
                  <c:v>Netherland</c:v>
                </c:pt>
                <c:pt idx="2">
                  <c:v>Germany</c:v>
                </c:pt>
                <c:pt idx="3">
                  <c:v>Spain</c:v>
                </c:pt>
                <c:pt idx="4">
                  <c:v>France</c:v>
                </c:pt>
                <c:pt idx="5">
                  <c:v>Turkey</c:v>
                </c:pt>
                <c:pt idx="6">
                  <c:v>Belgium </c:v>
                </c:pt>
                <c:pt idx="7">
                  <c:v>USA</c:v>
                </c:pt>
                <c:pt idx="8">
                  <c:v>Pakistan</c:v>
                </c:pt>
                <c:pt idx="9">
                  <c:v>Poland</c:v>
                </c:pt>
              </c:strCache>
            </c:strRef>
          </c:cat>
          <c:val>
            <c:numRef>
              <c:f>Sheet1!$B$2:$B$11</c:f>
              <c:numCache>
                <c:formatCode>_(* #,##0.00_);_(* \(#,##0.00\);_(* "-"??_);_(@_)</c:formatCode>
                <c:ptCount val="10"/>
                <c:pt idx="0">
                  <c:v>177.75994942832017</c:v>
                </c:pt>
                <c:pt idx="1">
                  <c:v>140.28045294635007</c:v>
                </c:pt>
                <c:pt idx="2">
                  <c:v>112.98438874230432</c:v>
                </c:pt>
                <c:pt idx="3">
                  <c:v>84.369558047493413</c:v>
                </c:pt>
                <c:pt idx="4">
                  <c:v>53.04073218997361</c:v>
                </c:pt>
                <c:pt idx="5">
                  <c:v>52.218777484608616</c:v>
                </c:pt>
                <c:pt idx="6">
                  <c:v>19.712236147757256</c:v>
                </c:pt>
                <c:pt idx="7">
                  <c:v>16.001813984168866</c:v>
                </c:pt>
                <c:pt idx="8">
                  <c:v>14.327341688654355</c:v>
                </c:pt>
                <c:pt idx="9">
                  <c:v>13.965259454705365</c:v>
                </c:pt>
              </c:numCache>
            </c:numRef>
          </c:val>
          <c:extLst>
            <c:ext xmlns:c16="http://schemas.microsoft.com/office/drawing/2014/chart" uri="{C3380CC4-5D6E-409C-BE32-E72D297353CC}">
              <c16:uniqueId val="{00000002-9C6D-48C9-B98A-F10B0FECA5B3}"/>
            </c:ext>
          </c:extLst>
        </c:ser>
        <c:dLbls>
          <c:dLblPos val="outEnd"/>
          <c:showLegendKey val="0"/>
          <c:showVal val="1"/>
          <c:showCatName val="0"/>
          <c:showSerName val="0"/>
          <c:showPercent val="0"/>
          <c:showBubbleSize val="0"/>
        </c:dLbls>
        <c:gapWidth val="100"/>
        <c:axId val="652815056"/>
        <c:axId val="652788400"/>
      </c:barChart>
      <c:catAx>
        <c:axId val="652815056"/>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652788400"/>
        <c:crosses val="autoZero"/>
        <c:auto val="1"/>
        <c:lblAlgn val="ctr"/>
        <c:lblOffset val="100"/>
        <c:noMultiLvlLbl val="0"/>
      </c:catAx>
      <c:valAx>
        <c:axId val="652788400"/>
        <c:scaling>
          <c:orientation val="minMax"/>
        </c:scaling>
        <c:delete val="1"/>
        <c:axPos val="t"/>
        <c:numFmt formatCode="_(* #,##0.00_);_(* \(#,##0.00\);_(* &quot;-&quot;??_);_(@_)" sourceLinked="1"/>
        <c:majorTickMark val="none"/>
        <c:minorTickMark val="none"/>
        <c:tickLblPos val="nextTo"/>
        <c:crossAx val="65281505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5757581808224181"/>
          <c:y val="5.7381319547914443E-2"/>
          <c:w val="0.64242422388962706"/>
          <c:h val="0.90289315153429861"/>
        </c:manualLayout>
      </c:layout>
      <c:barChart>
        <c:barDir val="bar"/>
        <c:grouping val="clustered"/>
        <c:varyColors val="0"/>
        <c:ser>
          <c:idx val="0"/>
          <c:order val="0"/>
          <c:tx>
            <c:strRef>
              <c:f>Sheet1!$B$1</c:f>
              <c:strCache>
                <c:ptCount val="1"/>
                <c:pt idx="0">
                  <c:v>Series 1</c:v>
                </c:pt>
              </c:strCache>
            </c:strRef>
          </c:tx>
          <c:spPr>
            <a:solidFill>
              <a:schemeClr val="accent1"/>
            </a:solidFill>
            <a:ln>
              <a:noFill/>
            </a:ln>
            <a:effectLst/>
          </c:spPr>
          <c:invertIfNegative val="0"/>
          <c:dLbls>
            <c:delete val="1"/>
          </c:dLbls>
          <c:cat>
            <c:strRef>
              <c:f>Sheet1!$A$2:$A$11</c:f>
              <c:strCache>
                <c:ptCount val="10"/>
                <c:pt idx="0">
                  <c:v>Italy</c:v>
                </c:pt>
                <c:pt idx="1">
                  <c:v>Germany</c:v>
                </c:pt>
                <c:pt idx="2">
                  <c:v>Netherland</c:v>
                </c:pt>
                <c:pt idx="3">
                  <c:v>Turkey</c:v>
                </c:pt>
                <c:pt idx="4">
                  <c:v>Spain</c:v>
                </c:pt>
                <c:pt idx="5">
                  <c:v>USA</c:v>
                </c:pt>
                <c:pt idx="6">
                  <c:v>France</c:v>
                </c:pt>
                <c:pt idx="7">
                  <c:v>Belgium </c:v>
                </c:pt>
                <c:pt idx="8">
                  <c:v>Poland</c:v>
                </c:pt>
                <c:pt idx="9">
                  <c:v>Pakistan</c:v>
                </c:pt>
              </c:strCache>
            </c:strRef>
          </c:cat>
          <c:val>
            <c:numRef>
              <c:f>Sheet1!$B$2:$B$11</c:f>
              <c:numCache>
                <c:formatCode>_(* #,##0.00_);_(* \(#,##0.00\);_(* "-"??_);_(@_)</c:formatCode>
                <c:ptCount val="10"/>
                <c:pt idx="0">
                  <c:v>126.78381294964029</c:v>
                </c:pt>
                <c:pt idx="1">
                  <c:v>84.680071942446048</c:v>
                </c:pt>
                <c:pt idx="2">
                  <c:v>62.534892086330942</c:v>
                </c:pt>
                <c:pt idx="3">
                  <c:v>50.864100719424464</c:v>
                </c:pt>
                <c:pt idx="4">
                  <c:v>50.386330935251806</c:v>
                </c:pt>
                <c:pt idx="5">
                  <c:v>32.054604316546765</c:v>
                </c:pt>
                <c:pt idx="6">
                  <c:v>29.22834532374101</c:v>
                </c:pt>
                <c:pt idx="7">
                  <c:v>14.554172661870503</c:v>
                </c:pt>
                <c:pt idx="8">
                  <c:v>11.482158273381296</c:v>
                </c:pt>
                <c:pt idx="9">
                  <c:v>9.9664028776978419</c:v>
                </c:pt>
              </c:numCache>
            </c:numRef>
          </c:val>
          <c:extLst>
            <c:ext xmlns:c16="http://schemas.microsoft.com/office/drawing/2014/chart" uri="{C3380CC4-5D6E-409C-BE32-E72D297353CC}">
              <c16:uniqueId val="{00000001-BC3C-41F8-80C5-39D01983B365}"/>
            </c:ext>
          </c:extLst>
        </c:ser>
        <c:dLbls>
          <c:dLblPos val="outEnd"/>
          <c:showLegendKey val="0"/>
          <c:showVal val="1"/>
          <c:showCatName val="0"/>
          <c:showSerName val="0"/>
          <c:showPercent val="0"/>
          <c:showBubbleSize val="0"/>
        </c:dLbls>
        <c:gapWidth val="100"/>
        <c:axId val="652816144"/>
        <c:axId val="652818864"/>
      </c:barChart>
      <c:catAx>
        <c:axId val="652816144"/>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652818864"/>
        <c:crosses val="autoZero"/>
        <c:auto val="1"/>
        <c:lblAlgn val="ctr"/>
        <c:lblOffset val="100"/>
        <c:noMultiLvlLbl val="0"/>
      </c:catAx>
      <c:valAx>
        <c:axId val="652818864"/>
        <c:scaling>
          <c:orientation val="minMax"/>
        </c:scaling>
        <c:delete val="1"/>
        <c:axPos val="t"/>
        <c:numFmt formatCode="_(* #,##0.00_);_(* \(#,##0.00\);_(* &quot;-&quot;??_);_(@_)" sourceLinked="1"/>
        <c:majorTickMark val="none"/>
        <c:minorTickMark val="none"/>
        <c:tickLblPos val="nextTo"/>
        <c:crossAx val="65281614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514851541633664"/>
          <c:y val="0.13262675175576438"/>
          <c:w val="0.60102319177643249"/>
          <c:h val="0.55547094966764976"/>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7205-4059-BE88-33A6877A4530}"/>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7205-4059-BE88-33A6877A4530}"/>
              </c:ext>
            </c:extLst>
          </c:dPt>
          <c:dLbls>
            <c:delete val="1"/>
          </c:dLbls>
          <c:cat>
            <c:strRef>
              <c:f>Sheet1!$A$2:$A$3</c:f>
              <c:strCache>
                <c:ptCount val="2"/>
                <c:pt idx="0">
                  <c:v>Top 10 Countries</c:v>
                </c:pt>
                <c:pt idx="1">
                  <c:v>Rest of the World</c:v>
                </c:pt>
              </c:strCache>
            </c:strRef>
          </c:cat>
          <c:val>
            <c:numRef>
              <c:f>Sheet1!$B$2:$B$3</c:f>
              <c:numCache>
                <c:formatCode>0.0%</c:formatCode>
                <c:ptCount val="2"/>
                <c:pt idx="0">
                  <c:v>0.84826698723808569</c:v>
                </c:pt>
                <c:pt idx="1">
                  <c:v>0.15173301276191431</c:v>
                </c:pt>
              </c:numCache>
            </c:numRef>
          </c:val>
          <c:extLst>
            <c:ext xmlns:c16="http://schemas.microsoft.com/office/drawing/2014/chart" uri="{C3380CC4-5D6E-409C-BE32-E72D297353CC}">
              <c16:uniqueId val="{00000000-4C3A-4809-B074-2AA5B5AB6A1E}"/>
            </c:ext>
          </c:extLst>
        </c:ser>
        <c:dLbls>
          <c:showLegendKey val="0"/>
          <c:showVal val="1"/>
          <c:showCatName val="0"/>
          <c:showSerName val="0"/>
          <c:showPercent val="0"/>
          <c:showBubbleSize val="0"/>
          <c:showLeaderLines val="1"/>
        </c:dLbls>
        <c:firstSliceAng val="0"/>
        <c:holeSize val="65"/>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5757577611037289"/>
          <c:y val="4.8553424232850681E-2"/>
          <c:w val="0.64242422388962706"/>
          <c:h val="0.90289315153429861"/>
        </c:manualLayout>
      </c:layout>
      <c:barChart>
        <c:barDir val="bar"/>
        <c:grouping val="clustered"/>
        <c:varyColors val="0"/>
        <c:ser>
          <c:idx val="0"/>
          <c:order val="0"/>
          <c:tx>
            <c:strRef>
              <c:f>Sheet1!$B$1</c:f>
              <c:strCache>
                <c:ptCount val="1"/>
                <c:pt idx="0">
                  <c:v>Series 1</c:v>
                </c:pt>
              </c:strCache>
            </c:strRef>
          </c:tx>
          <c:spPr>
            <a:solidFill>
              <a:schemeClr val="accent1"/>
            </a:solidFill>
            <a:ln>
              <a:noFill/>
            </a:ln>
            <a:effectLst/>
          </c:spPr>
          <c:invertIfNegative val="0"/>
          <c:dLbls>
            <c:delete val="1"/>
          </c:dLbls>
          <c:cat>
            <c:strRef>
              <c:f>Sheet1!$A$2:$A$9</c:f>
              <c:strCache>
                <c:ptCount val="8"/>
                <c:pt idx="0">
                  <c:v>Italy</c:v>
                </c:pt>
                <c:pt idx="1">
                  <c:v>Germany</c:v>
                </c:pt>
                <c:pt idx="2">
                  <c:v>Netherland</c:v>
                </c:pt>
                <c:pt idx="3">
                  <c:v>Spain</c:v>
                </c:pt>
                <c:pt idx="4">
                  <c:v>France</c:v>
                </c:pt>
                <c:pt idx="5">
                  <c:v>Belgium </c:v>
                </c:pt>
                <c:pt idx="6">
                  <c:v>USA</c:v>
                </c:pt>
                <c:pt idx="7">
                  <c:v>Poland</c:v>
                </c:pt>
              </c:strCache>
            </c:strRef>
          </c:cat>
          <c:val>
            <c:numRef>
              <c:f>Sheet1!$B$2:$B$9</c:f>
              <c:numCache>
                <c:formatCode>_(* #,##0.00_);_(* \(#,##0.00\);_(* "-"??_);_(@_)</c:formatCode>
                <c:ptCount val="8"/>
                <c:pt idx="0">
                  <c:v>130</c:v>
                </c:pt>
                <c:pt idx="1">
                  <c:v>67.534495021337122</c:v>
                </c:pt>
                <c:pt idx="2">
                  <c:v>56.076932195353251</c:v>
                </c:pt>
                <c:pt idx="3">
                  <c:v>43.301683262209579</c:v>
                </c:pt>
                <c:pt idx="4">
                  <c:v>36.800972024656232</c:v>
                </c:pt>
                <c:pt idx="5">
                  <c:v>10.227477477477477</c:v>
                </c:pt>
                <c:pt idx="6">
                  <c:v>9.9838786154575629</c:v>
                </c:pt>
                <c:pt idx="7">
                  <c:v>8.9793741109530583</c:v>
                </c:pt>
              </c:numCache>
            </c:numRef>
          </c:val>
          <c:extLst>
            <c:ext xmlns:c16="http://schemas.microsoft.com/office/drawing/2014/chart" uri="{C3380CC4-5D6E-409C-BE32-E72D297353CC}">
              <c16:uniqueId val="{00000000-DFF1-43EB-9377-46721E08347E}"/>
            </c:ext>
          </c:extLst>
        </c:ser>
        <c:dLbls>
          <c:dLblPos val="outEnd"/>
          <c:showLegendKey val="0"/>
          <c:showVal val="1"/>
          <c:showCatName val="0"/>
          <c:showSerName val="0"/>
          <c:showPercent val="0"/>
          <c:showBubbleSize val="0"/>
        </c:dLbls>
        <c:gapWidth val="100"/>
        <c:axId val="652819952"/>
        <c:axId val="652820496"/>
      </c:barChart>
      <c:catAx>
        <c:axId val="652819952"/>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652820496"/>
        <c:crosses val="autoZero"/>
        <c:auto val="1"/>
        <c:lblAlgn val="ctr"/>
        <c:lblOffset val="100"/>
        <c:noMultiLvlLbl val="0"/>
      </c:catAx>
      <c:valAx>
        <c:axId val="652820496"/>
        <c:scaling>
          <c:orientation val="minMax"/>
        </c:scaling>
        <c:delete val="1"/>
        <c:axPos val="t"/>
        <c:numFmt formatCode="_(* #,##0.00_);_(* \(#,##0.00\);_(* &quot;-&quot;??_);_(@_)" sourceLinked="1"/>
        <c:majorTickMark val="none"/>
        <c:minorTickMark val="none"/>
        <c:tickLblPos val="nextTo"/>
        <c:crossAx val="6528199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2"/>
            </a:solidFill>
            <a:ln>
              <a:noFill/>
            </a:ln>
            <a:effectLst/>
          </c:spPr>
          <c:invertIfNegative val="0"/>
          <c:dLbls>
            <c:delete val="1"/>
          </c:dLbls>
          <c:cat>
            <c:numRef>
              <c:f>Sheet1!$A$2:$A$6</c:f>
              <c:numCache>
                <c:formatCode>General</c:formatCode>
                <c:ptCount val="5"/>
                <c:pt idx="0">
                  <c:v>2019</c:v>
                </c:pt>
                <c:pt idx="1">
                  <c:v>2020</c:v>
                </c:pt>
                <c:pt idx="2">
                  <c:v>2021</c:v>
                </c:pt>
                <c:pt idx="3">
                  <c:v>2022</c:v>
                </c:pt>
                <c:pt idx="4">
                  <c:v>2033</c:v>
                </c:pt>
              </c:numCache>
            </c:numRef>
          </c:cat>
          <c:val>
            <c:numRef>
              <c:f>Sheet1!$B$2:$B$6</c:f>
              <c:numCache>
                <c:formatCode>_ * #,##0.0_ ;_ * \-#,##0.0_ ;_ * "-"??_ ;_ @_ </c:formatCode>
                <c:ptCount val="5"/>
                <c:pt idx="0">
                  <c:v>419.8189307728781</c:v>
                </c:pt>
                <c:pt idx="1">
                  <c:v>388.61382606354334</c:v>
                </c:pt>
                <c:pt idx="2">
                  <c:v>809.7505496921724</c:v>
                </c:pt>
                <c:pt idx="3">
                  <c:v>699.06284090909082</c:v>
                </c:pt>
                <c:pt idx="4">
                  <c:v>587.77194244604323</c:v>
                </c:pt>
              </c:numCache>
            </c:numRef>
          </c:val>
          <c:extLst>
            <c:ext xmlns:c16="http://schemas.microsoft.com/office/drawing/2014/chart" uri="{C3380CC4-5D6E-409C-BE32-E72D297353CC}">
              <c16:uniqueId val="{00000000-C755-4346-B82D-6007FD05EF19}"/>
            </c:ext>
          </c:extLst>
        </c:ser>
        <c:dLbls>
          <c:dLblPos val="outEnd"/>
          <c:showLegendKey val="0"/>
          <c:showVal val="1"/>
          <c:showCatName val="0"/>
          <c:showSerName val="0"/>
          <c:showPercent val="0"/>
          <c:showBubbleSize val="0"/>
        </c:dLbls>
        <c:gapWidth val="50"/>
        <c:overlap val="-27"/>
        <c:axId val="652822128"/>
        <c:axId val="652788944"/>
      </c:barChart>
      <c:catAx>
        <c:axId val="6528221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652788944"/>
        <c:crosses val="autoZero"/>
        <c:auto val="1"/>
        <c:lblAlgn val="ctr"/>
        <c:lblOffset val="100"/>
        <c:noMultiLvlLbl val="0"/>
      </c:catAx>
      <c:valAx>
        <c:axId val="652788944"/>
        <c:scaling>
          <c:orientation val="minMax"/>
        </c:scaling>
        <c:delete val="1"/>
        <c:axPos val="l"/>
        <c:numFmt formatCode="_ * #,##0.0_ ;_ * \-#,##0.0_ ;_ * &quot;-&quot;??_ ;_ @_ " sourceLinked="1"/>
        <c:majorTickMark val="none"/>
        <c:minorTickMark val="none"/>
        <c:tickLblPos val="nextTo"/>
        <c:crossAx val="652822128"/>
        <c:crosses val="autoZero"/>
        <c:crossBetween val="between"/>
      </c:valAx>
      <c:spPr>
        <a:noFill/>
        <a:ln>
          <a:noFill/>
        </a:ln>
        <a:effectLst/>
      </c:spPr>
    </c:plotArea>
    <c:plotVisOnly val="1"/>
    <c:dispBlanksAs val="gap"/>
    <c:showDLblsOverMax val="0"/>
  </c:chart>
  <c:spPr>
    <a:noFill/>
    <a:ln>
      <a:noFill/>
    </a:ln>
    <a:effectLst/>
  </c:spPr>
  <c:txPr>
    <a:bodyPr/>
    <a:lstStyle/>
    <a:p>
      <a:pPr>
        <a:defRPr sz="900"/>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7533747452955142"/>
          <c:y val="0.13262675175576438"/>
          <c:w val="0.57083423266321764"/>
          <c:h val="0.52757004664503726"/>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784C-4E71-A080-0B132A93A742}"/>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784C-4E71-A080-0B132A93A742}"/>
              </c:ext>
            </c:extLst>
          </c:dPt>
          <c:dLbls>
            <c:delete val="1"/>
          </c:dLbls>
          <c:cat>
            <c:strRef>
              <c:f>Sheet1!$A$2:$A$3</c:f>
              <c:strCache>
                <c:ptCount val="2"/>
                <c:pt idx="0">
                  <c:v>Top 10 Countries</c:v>
                </c:pt>
                <c:pt idx="1">
                  <c:v>Rest of the World</c:v>
                </c:pt>
              </c:strCache>
            </c:strRef>
          </c:cat>
          <c:val>
            <c:numRef>
              <c:f>Sheet1!$B$2:$B$3</c:f>
              <c:numCache>
                <c:formatCode>0.0%</c:formatCode>
                <c:ptCount val="2"/>
                <c:pt idx="0">
                  <c:v>0.78561977341347078</c:v>
                </c:pt>
                <c:pt idx="1">
                  <c:v>0.21438022658652922</c:v>
                </c:pt>
              </c:numCache>
            </c:numRef>
          </c:val>
          <c:extLst>
            <c:ext xmlns:c16="http://schemas.microsoft.com/office/drawing/2014/chart" uri="{C3380CC4-5D6E-409C-BE32-E72D297353CC}">
              <c16:uniqueId val="{00000004-784C-4E71-A080-0B132A93A742}"/>
            </c:ext>
          </c:extLst>
        </c:ser>
        <c:dLbls>
          <c:showLegendKey val="0"/>
          <c:showVal val="1"/>
          <c:showCatName val="0"/>
          <c:showSerName val="0"/>
          <c:showPercent val="0"/>
          <c:showBubbleSize val="0"/>
          <c:showLeaderLines val="1"/>
        </c:dLbls>
        <c:firstSliceAng val="0"/>
        <c:holeSize val="65"/>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722409906162255"/>
          <c:y val="0.13262675175576438"/>
          <c:w val="0.58894760813114655"/>
          <c:h val="0.54431058845860469"/>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B1AD-490C-A46B-287C0DF5ED7D}"/>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B1AD-490C-A46B-287C0DF5ED7D}"/>
              </c:ext>
            </c:extLst>
          </c:dPt>
          <c:dLbls>
            <c:delete val="1"/>
          </c:dLbls>
          <c:cat>
            <c:strRef>
              <c:f>Sheet1!$A$2:$A$3</c:f>
              <c:strCache>
                <c:ptCount val="2"/>
                <c:pt idx="0">
                  <c:v>Top 10 Countries</c:v>
                </c:pt>
                <c:pt idx="1">
                  <c:v>Rest of the World</c:v>
                </c:pt>
              </c:strCache>
            </c:strRef>
          </c:cat>
          <c:val>
            <c:numRef>
              <c:f>Sheet1!$B$2:$B$3</c:f>
              <c:numCache>
                <c:formatCode>0.0%</c:formatCode>
                <c:ptCount val="2"/>
                <c:pt idx="0">
                  <c:v>0.84552027828151588</c:v>
                </c:pt>
                <c:pt idx="1">
                  <c:v>0.15447972171848412</c:v>
                </c:pt>
              </c:numCache>
            </c:numRef>
          </c:val>
          <c:extLst>
            <c:ext xmlns:c16="http://schemas.microsoft.com/office/drawing/2014/chart" uri="{C3380CC4-5D6E-409C-BE32-E72D297353CC}">
              <c16:uniqueId val="{00000004-B1AD-490C-A46B-287C0DF5ED7D}"/>
            </c:ext>
          </c:extLst>
        </c:ser>
        <c:dLbls>
          <c:showLegendKey val="0"/>
          <c:showVal val="1"/>
          <c:showCatName val="0"/>
          <c:showSerName val="0"/>
          <c:showPercent val="0"/>
          <c:showBubbleSize val="0"/>
          <c:showLeaderLines val="1"/>
        </c:dLbls>
        <c:firstSliceAng val="0"/>
        <c:holeSize val="65"/>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26189088426551"/>
          <c:y val="0.13262675175576438"/>
          <c:w val="0.58290981630850347"/>
          <c:h val="0.53873040785408211"/>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1979-426D-A2F8-5F776EBEAA49}"/>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1979-426D-A2F8-5F776EBEAA49}"/>
              </c:ext>
            </c:extLst>
          </c:dPt>
          <c:dLbls>
            <c:delete val="1"/>
          </c:dLbls>
          <c:cat>
            <c:strRef>
              <c:f>Sheet1!$A$2:$A$3</c:f>
              <c:strCache>
                <c:ptCount val="2"/>
                <c:pt idx="0">
                  <c:v>Top 10 Countries</c:v>
                </c:pt>
                <c:pt idx="1">
                  <c:v>Rest of the World</c:v>
                </c:pt>
              </c:strCache>
            </c:strRef>
          </c:cat>
          <c:val>
            <c:numRef>
              <c:f>Sheet1!$B$2:$B$3</c:f>
              <c:numCache>
                <c:formatCode>0.0%</c:formatCode>
                <c:ptCount val="2"/>
                <c:pt idx="0">
                  <c:v>0.82604031728842175</c:v>
                </c:pt>
                <c:pt idx="1">
                  <c:v>0.17395968271157825</c:v>
                </c:pt>
              </c:numCache>
            </c:numRef>
          </c:val>
          <c:extLst>
            <c:ext xmlns:c16="http://schemas.microsoft.com/office/drawing/2014/chart" uri="{C3380CC4-5D6E-409C-BE32-E72D297353CC}">
              <c16:uniqueId val="{00000004-1979-426D-A2F8-5F776EBEAA49}"/>
            </c:ext>
          </c:extLst>
        </c:ser>
        <c:dLbls>
          <c:showLegendKey val="0"/>
          <c:showVal val="1"/>
          <c:showCatName val="0"/>
          <c:showSerName val="0"/>
          <c:showPercent val="0"/>
          <c:showBubbleSize val="0"/>
          <c:showLeaderLines val="1"/>
        </c:dLbls>
        <c:firstSliceAng val="0"/>
        <c:holeSize val="65"/>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7533747452955142"/>
          <c:y val="0.13262675175576438"/>
          <c:w val="0.57083423266321764"/>
          <c:h val="0.52757004664503726"/>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1298-453D-A5AE-0E7CA680302E}"/>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1298-453D-A5AE-0E7CA680302E}"/>
              </c:ext>
            </c:extLst>
          </c:dPt>
          <c:dLbls>
            <c:delete val="1"/>
          </c:dLbls>
          <c:cat>
            <c:strRef>
              <c:f>Sheet1!$A$2:$A$3</c:f>
              <c:strCache>
                <c:ptCount val="2"/>
                <c:pt idx="0">
                  <c:v>Top 10 Countries</c:v>
                </c:pt>
                <c:pt idx="1">
                  <c:v>Rest of the World</c:v>
                </c:pt>
              </c:strCache>
            </c:strRef>
          </c:cat>
          <c:val>
            <c:numRef>
              <c:f>Sheet1!$B$2:$B$3</c:f>
              <c:numCache>
                <c:formatCode>0.0%</c:formatCode>
                <c:ptCount val="2"/>
                <c:pt idx="0">
                  <c:v>0.80394258038220168</c:v>
                </c:pt>
                <c:pt idx="1">
                  <c:v>0.19605741961779832</c:v>
                </c:pt>
              </c:numCache>
            </c:numRef>
          </c:val>
          <c:extLst>
            <c:ext xmlns:c16="http://schemas.microsoft.com/office/drawing/2014/chart" uri="{C3380CC4-5D6E-409C-BE32-E72D297353CC}">
              <c16:uniqueId val="{00000004-1298-453D-A5AE-0E7CA680302E}"/>
            </c:ext>
          </c:extLst>
        </c:ser>
        <c:dLbls>
          <c:showLegendKey val="0"/>
          <c:showVal val="1"/>
          <c:showCatName val="0"/>
          <c:showSerName val="0"/>
          <c:showPercent val="0"/>
          <c:showBubbleSize val="0"/>
          <c:showLeaderLines val="1"/>
        </c:dLbls>
        <c:firstSliceAng val="0"/>
        <c:holeSize val="65"/>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5757577611037289"/>
          <c:y val="4.8553424232850681E-2"/>
          <c:w val="0.64242422388962706"/>
          <c:h val="0.90289315153429861"/>
        </c:manualLayout>
      </c:layout>
      <c:barChart>
        <c:barDir val="bar"/>
        <c:grouping val="clustered"/>
        <c:varyColors val="0"/>
        <c:ser>
          <c:idx val="0"/>
          <c:order val="0"/>
          <c:tx>
            <c:strRef>
              <c:f>Sheet1!$B$1</c:f>
              <c:strCache>
                <c:ptCount val="1"/>
                <c:pt idx="0">
                  <c:v>Series 1</c:v>
                </c:pt>
              </c:strCache>
            </c:strRef>
          </c:tx>
          <c:spPr>
            <a:solidFill>
              <a:schemeClr val="accent1"/>
            </a:solidFill>
            <a:ln>
              <a:noFill/>
            </a:ln>
            <a:effectLst/>
          </c:spPr>
          <c:invertIfNegative val="0"/>
          <c:dLbls>
            <c:delete val="1"/>
          </c:dLbls>
          <c:cat>
            <c:strRef>
              <c:f>Sheet1!$A$2:$A$11</c:f>
              <c:strCache>
                <c:ptCount val="10"/>
                <c:pt idx="0">
                  <c:v>Italy</c:v>
                </c:pt>
                <c:pt idx="1">
                  <c:v>Germany</c:v>
                </c:pt>
                <c:pt idx="2">
                  <c:v>Spain</c:v>
                </c:pt>
                <c:pt idx="3">
                  <c:v>France</c:v>
                </c:pt>
                <c:pt idx="4">
                  <c:v>Netherland</c:v>
                </c:pt>
                <c:pt idx="5">
                  <c:v>Belgium </c:v>
                </c:pt>
                <c:pt idx="6">
                  <c:v>Pakistan</c:v>
                </c:pt>
                <c:pt idx="7">
                  <c:v>Poland</c:v>
                </c:pt>
                <c:pt idx="8">
                  <c:v>USA</c:v>
                </c:pt>
                <c:pt idx="9">
                  <c:v>Switzerland</c:v>
                </c:pt>
              </c:strCache>
            </c:strRef>
          </c:cat>
          <c:val>
            <c:numRef>
              <c:f>Sheet1!$B$2:$B$11</c:f>
              <c:numCache>
                <c:formatCode>_(* #,##0.00_);_(* \(#,##0.00\);_(* "-"??_);_(@_)</c:formatCode>
                <c:ptCount val="10"/>
                <c:pt idx="0">
                  <c:v>93.83575659666127</c:v>
                </c:pt>
                <c:pt idx="1">
                  <c:v>51.503298330640817</c:v>
                </c:pt>
                <c:pt idx="2">
                  <c:v>41.974892299407649</c:v>
                </c:pt>
                <c:pt idx="3">
                  <c:v>37.707323640280016</c:v>
                </c:pt>
                <c:pt idx="4">
                  <c:v>36.376952073236403</c:v>
                </c:pt>
                <c:pt idx="5">
                  <c:v>10.97872913301023</c:v>
                </c:pt>
                <c:pt idx="6">
                  <c:v>9.712910608508345</c:v>
                </c:pt>
                <c:pt idx="7">
                  <c:v>9.0428109854604184</c:v>
                </c:pt>
                <c:pt idx="8">
                  <c:v>7.7538368336025849</c:v>
                </c:pt>
                <c:pt idx="9">
                  <c:v>6.4161954765751208</c:v>
                </c:pt>
              </c:numCache>
            </c:numRef>
          </c:val>
          <c:extLst>
            <c:ext xmlns:c16="http://schemas.microsoft.com/office/drawing/2014/chart" uri="{C3380CC4-5D6E-409C-BE32-E72D297353CC}">
              <c16:uniqueId val="{00000002-02D2-4B55-BACC-A7FEF078B802}"/>
            </c:ext>
          </c:extLst>
        </c:ser>
        <c:dLbls>
          <c:dLblPos val="outEnd"/>
          <c:showLegendKey val="0"/>
          <c:showVal val="1"/>
          <c:showCatName val="0"/>
          <c:showSerName val="0"/>
          <c:showPercent val="0"/>
          <c:showBubbleSize val="0"/>
        </c:dLbls>
        <c:gapWidth val="100"/>
        <c:axId val="652823760"/>
        <c:axId val="652842800"/>
      </c:barChart>
      <c:catAx>
        <c:axId val="652823760"/>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652842800"/>
        <c:crosses val="autoZero"/>
        <c:auto val="1"/>
        <c:lblAlgn val="ctr"/>
        <c:lblOffset val="100"/>
        <c:noMultiLvlLbl val="0"/>
      </c:catAx>
      <c:valAx>
        <c:axId val="652842800"/>
        <c:scaling>
          <c:orientation val="minMax"/>
        </c:scaling>
        <c:delete val="1"/>
        <c:axPos val="t"/>
        <c:numFmt formatCode="_(* #,##0.00_);_(* \(#,##0.00\);_(* &quot;-&quot;??_);_(@_)" sourceLinked="1"/>
        <c:majorTickMark val="none"/>
        <c:minorTickMark val="none"/>
        <c:tickLblPos val="nextTo"/>
        <c:crossAx val="65282376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5757577611037289"/>
          <c:y val="4.8553424232850681E-2"/>
          <c:w val="0.64242422388962706"/>
          <c:h val="0.90289315153429861"/>
        </c:manualLayout>
      </c:layout>
      <c:barChart>
        <c:barDir val="bar"/>
        <c:grouping val="clustered"/>
        <c:varyColors val="0"/>
        <c:ser>
          <c:idx val="0"/>
          <c:order val="0"/>
          <c:tx>
            <c:strRef>
              <c:f>Sheet1!$B$1</c:f>
              <c:strCache>
                <c:ptCount val="1"/>
                <c:pt idx="0">
                  <c:v>Series 1</c:v>
                </c:pt>
              </c:strCache>
            </c:strRef>
          </c:tx>
          <c:spPr>
            <a:solidFill>
              <a:schemeClr val="accent1"/>
            </a:solidFill>
            <a:ln>
              <a:noFill/>
            </a:ln>
            <a:effectLst/>
          </c:spPr>
          <c:invertIfNegative val="0"/>
          <c:dLbls>
            <c:delete val="1"/>
          </c:dLbls>
          <c:cat>
            <c:strRef>
              <c:f>Sheet1!$A$2:$A$11</c:f>
              <c:strCache>
                <c:ptCount val="10"/>
                <c:pt idx="0">
                  <c:v>Italy</c:v>
                </c:pt>
                <c:pt idx="1">
                  <c:v>Netherland</c:v>
                </c:pt>
                <c:pt idx="2">
                  <c:v>Germany</c:v>
                </c:pt>
                <c:pt idx="3">
                  <c:v>Spain</c:v>
                </c:pt>
                <c:pt idx="4">
                  <c:v>Turkey</c:v>
                </c:pt>
                <c:pt idx="5">
                  <c:v>France</c:v>
                </c:pt>
                <c:pt idx="6">
                  <c:v>Belgium </c:v>
                </c:pt>
                <c:pt idx="7">
                  <c:v>Colombia</c:v>
                </c:pt>
                <c:pt idx="8">
                  <c:v>USA</c:v>
                </c:pt>
                <c:pt idx="9">
                  <c:v>Pakistan</c:v>
                </c:pt>
              </c:strCache>
            </c:strRef>
          </c:cat>
          <c:val>
            <c:numRef>
              <c:f>Sheet1!$B$2:$B$11</c:f>
              <c:numCache>
                <c:formatCode>_(* #,##0.00_);_(* \(#,##0.00\);_(* "-"??_);_(@_)</c:formatCode>
                <c:ptCount val="10"/>
                <c:pt idx="0">
                  <c:v>154.14882575757574</c:v>
                </c:pt>
                <c:pt idx="1">
                  <c:v>95.161212121212117</c:v>
                </c:pt>
                <c:pt idx="2">
                  <c:v>85.98060606060605</c:v>
                </c:pt>
                <c:pt idx="3">
                  <c:v>62.43507575757576</c:v>
                </c:pt>
                <c:pt idx="4">
                  <c:v>53.621477272727269</c:v>
                </c:pt>
                <c:pt idx="5">
                  <c:v>35.510719696969694</c:v>
                </c:pt>
                <c:pt idx="6">
                  <c:v>29.002765151515153</c:v>
                </c:pt>
                <c:pt idx="7">
                  <c:v>28.117424242424239</c:v>
                </c:pt>
                <c:pt idx="8">
                  <c:v>18.667992424242424</c:v>
                </c:pt>
                <c:pt idx="9">
                  <c:v>14.807992424242423</c:v>
                </c:pt>
              </c:numCache>
            </c:numRef>
          </c:val>
          <c:extLst>
            <c:ext xmlns:c16="http://schemas.microsoft.com/office/drawing/2014/chart" uri="{C3380CC4-5D6E-409C-BE32-E72D297353CC}">
              <c16:uniqueId val="{00000001-CF76-406D-86CB-79C183CDDD00}"/>
            </c:ext>
          </c:extLst>
        </c:ser>
        <c:dLbls>
          <c:dLblPos val="outEnd"/>
          <c:showLegendKey val="0"/>
          <c:showVal val="1"/>
          <c:showCatName val="0"/>
          <c:showSerName val="0"/>
          <c:showPercent val="0"/>
          <c:showBubbleSize val="0"/>
        </c:dLbls>
        <c:gapWidth val="100"/>
        <c:axId val="652847152"/>
        <c:axId val="652824304"/>
      </c:barChart>
      <c:catAx>
        <c:axId val="652847152"/>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652824304"/>
        <c:crosses val="autoZero"/>
        <c:auto val="1"/>
        <c:lblAlgn val="ctr"/>
        <c:lblOffset val="100"/>
        <c:noMultiLvlLbl val="0"/>
      </c:catAx>
      <c:valAx>
        <c:axId val="652824304"/>
        <c:scaling>
          <c:orientation val="minMax"/>
        </c:scaling>
        <c:delete val="1"/>
        <c:axPos val="t"/>
        <c:numFmt formatCode="_(* #,##0.00_);_(* \(#,##0.00\);_(* &quot;-&quot;??_);_(@_)" sourceLinked="1"/>
        <c:majorTickMark val="none"/>
        <c:minorTickMark val="none"/>
        <c:tickLblPos val="nextTo"/>
        <c:crossAx val="6528471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2"/>
            </a:solidFill>
            <a:ln>
              <a:noFill/>
            </a:ln>
            <a:effectLst/>
          </c:spPr>
          <c:invertIfNegative val="0"/>
          <c:dLbls>
            <c:delete val="1"/>
          </c:dLbls>
          <c:cat>
            <c:numRef>
              <c:f>Sheet1!$A$2:$A$6</c:f>
              <c:numCache>
                <c:formatCode>General</c:formatCode>
                <c:ptCount val="5"/>
                <c:pt idx="0">
                  <c:v>2019</c:v>
                </c:pt>
                <c:pt idx="1">
                  <c:v>2020</c:v>
                </c:pt>
                <c:pt idx="2">
                  <c:v>2021</c:v>
                </c:pt>
                <c:pt idx="3">
                  <c:v>2022</c:v>
                </c:pt>
                <c:pt idx="4">
                  <c:v>2033</c:v>
                </c:pt>
              </c:numCache>
            </c:numRef>
          </c:cat>
          <c:val>
            <c:numRef>
              <c:f>Sheet1!$B$2:$B$6</c:f>
              <c:numCache>
                <c:formatCode>0.00</c:formatCode>
                <c:ptCount val="5"/>
                <c:pt idx="0">
                  <c:v>679.76823416506716</c:v>
                </c:pt>
                <c:pt idx="1">
                  <c:v>593.95545267489706</c:v>
                </c:pt>
                <c:pt idx="2">
                  <c:v>956.55727272727268</c:v>
                </c:pt>
                <c:pt idx="3">
                  <c:v>895.88635922330093</c:v>
                </c:pt>
                <c:pt idx="4">
                  <c:v>396.60339805825242</c:v>
                </c:pt>
              </c:numCache>
            </c:numRef>
          </c:val>
          <c:extLst>
            <c:ext xmlns:c16="http://schemas.microsoft.com/office/drawing/2014/chart" uri="{C3380CC4-5D6E-409C-BE32-E72D297353CC}">
              <c16:uniqueId val="{00000000-C755-4346-B82D-6007FD05EF19}"/>
            </c:ext>
          </c:extLst>
        </c:ser>
        <c:dLbls>
          <c:dLblPos val="outEnd"/>
          <c:showLegendKey val="0"/>
          <c:showVal val="1"/>
          <c:showCatName val="0"/>
          <c:showSerName val="0"/>
          <c:showPercent val="0"/>
          <c:showBubbleSize val="0"/>
        </c:dLbls>
        <c:gapWidth val="50"/>
        <c:overlap val="-27"/>
        <c:axId val="652834096"/>
        <c:axId val="652844432"/>
      </c:barChart>
      <c:catAx>
        <c:axId val="6528340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652844432"/>
        <c:crosses val="autoZero"/>
        <c:auto val="1"/>
        <c:lblAlgn val="ctr"/>
        <c:lblOffset val="100"/>
        <c:noMultiLvlLbl val="0"/>
      </c:catAx>
      <c:valAx>
        <c:axId val="652844432"/>
        <c:scaling>
          <c:orientation val="minMax"/>
        </c:scaling>
        <c:delete val="1"/>
        <c:axPos val="l"/>
        <c:numFmt formatCode="0.00" sourceLinked="1"/>
        <c:majorTickMark val="none"/>
        <c:minorTickMark val="none"/>
        <c:tickLblPos val="nextTo"/>
        <c:crossAx val="652834096"/>
        <c:crosses val="autoZero"/>
        <c:crossBetween val="between"/>
      </c:valAx>
      <c:spPr>
        <a:noFill/>
        <a:ln>
          <a:noFill/>
        </a:ln>
        <a:effectLst/>
      </c:spPr>
    </c:plotArea>
    <c:plotVisOnly val="1"/>
    <c:dispBlanksAs val="gap"/>
    <c:showDLblsOverMax val="0"/>
  </c:chart>
  <c:spPr>
    <a:noFill/>
    <a:ln>
      <a:noFill/>
    </a:ln>
    <a:effectLst/>
  </c:spPr>
  <c:txPr>
    <a:bodyPr/>
    <a:lstStyle/>
    <a:p>
      <a:pPr>
        <a:defRPr sz="900"/>
      </a:pPr>
      <a:endParaRPr lang="en-US"/>
    </a:p>
  </c:txPr>
  <c:externalData r:id="rId3">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514851541633664"/>
          <c:y val="0.13262675175576438"/>
          <c:w val="0.60102319177643249"/>
          <c:h val="0.55547094966764976"/>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7205-4059-BE88-33A6877A4530}"/>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7205-4059-BE88-33A6877A4530}"/>
              </c:ext>
            </c:extLst>
          </c:dPt>
          <c:dLbls>
            <c:delete val="1"/>
          </c:dLbls>
          <c:cat>
            <c:strRef>
              <c:f>Sheet1!$A$2:$A$3</c:f>
              <c:strCache>
                <c:ptCount val="2"/>
                <c:pt idx="0">
                  <c:v>Top 10 Countries</c:v>
                </c:pt>
                <c:pt idx="1">
                  <c:v>Rest of the World</c:v>
                </c:pt>
              </c:strCache>
            </c:strRef>
          </c:cat>
          <c:val>
            <c:numRef>
              <c:f>Sheet1!$B$2:$B$3</c:f>
              <c:numCache>
                <c:formatCode>0.0%</c:formatCode>
                <c:ptCount val="2"/>
                <c:pt idx="0">
                  <c:v>0.82476689511850954</c:v>
                </c:pt>
                <c:pt idx="1">
                  <c:v>0.17523310488149046</c:v>
                </c:pt>
              </c:numCache>
            </c:numRef>
          </c:val>
          <c:extLst>
            <c:ext xmlns:c16="http://schemas.microsoft.com/office/drawing/2014/chart" uri="{C3380CC4-5D6E-409C-BE32-E72D297353CC}">
              <c16:uniqueId val="{00000000-4C3A-4809-B074-2AA5B5AB6A1E}"/>
            </c:ext>
          </c:extLst>
        </c:ser>
        <c:dLbls>
          <c:showLegendKey val="0"/>
          <c:showVal val="1"/>
          <c:showCatName val="0"/>
          <c:showSerName val="0"/>
          <c:showPercent val="0"/>
          <c:showBubbleSize val="0"/>
          <c:showLeaderLines val="1"/>
        </c:dLbls>
        <c:firstSliceAng val="0"/>
        <c:holeSize val="65"/>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5757577611037289"/>
          <c:y val="4.8553424232850681E-2"/>
          <c:w val="0.64242422388962706"/>
          <c:h val="0.90289315153429861"/>
        </c:manualLayout>
      </c:layout>
      <c:barChart>
        <c:barDir val="bar"/>
        <c:grouping val="clustered"/>
        <c:varyColors val="0"/>
        <c:ser>
          <c:idx val="0"/>
          <c:order val="0"/>
          <c:tx>
            <c:strRef>
              <c:f>Sheet1!$B$1</c:f>
              <c:strCache>
                <c:ptCount val="1"/>
                <c:pt idx="0">
                  <c:v>Series 1</c:v>
                </c:pt>
              </c:strCache>
            </c:strRef>
          </c:tx>
          <c:spPr>
            <a:solidFill>
              <a:schemeClr val="accent2"/>
            </a:solidFill>
            <a:ln>
              <a:noFill/>
            </a:ln>
            <a:effectLst/>
          </c:spPr>
          <c:invertIfNegative val="0"/>
          <c:dLbls>
            <c:delete val="1"/>
          </c:dLbls>
          <c:cat>
            <c:strRef>
              <c:f>Sheet1!$A$4:$A$11</c:f>
              <c:strCache>
                <c:ptCount val="8"/>
                <c:pt idx="0">
                  <c:v>China</c:v>
                </c:pt>
                <c:pt idx="1">
                  <c:v>Italy</c:v>
                </c:pt>
                <c:pt idx="2">
                  <c:v>Belgium</c:v>
                </c:pt>
                <c:pt idx="3">
                  <c:v>Brazil</c:v>
                </c:pt>
                <c:pt idx="4">
                  <c:v>U.K.</c:v>
                </c:pt>
                <c:pt idx="5">
                  <c:v>South Korea</c:v>
                </c:pt>
                <c:pt idx="6">
                  <c:v>Netherlands</c:v>
                </c:pt>
                <c:pt idx="7">
                  <c:v>U.S.</c:v>
                </c:pt>
              </c:strCache>
            </c:strRef>
          </c:cat>
          <c:val>
            <c:numRef>
              <c:f>Sheet1!$B$4:$B$11</c:f>
              <c:numCache>
                <c:formatCode>_(* #,##0.00_);_(* \(#,##0.00\);_(* "-"??_);_(@_)</c:formatCode>
                <c:ptCount val="8"/>
                <c:pt idx="0">
                  <c:v>83.221842610364675</c:v>
                </c:pt>
                <c:pt idx="1">
                  <c:v>62.903474088291738</c:v>
                </c:pt>
                <c:pt idx="2">
                  <c:v>27.898397312859885</c:v>
                </c:pt>
                <c:pt idx="3">
                  <c:v>24.633176583493281</c:v>
                </c:pt>
                <c:pt idx="4">
                  <c:v>20.897312859884835</c:v>
                </c:pt>
                <c:pt idx="5">
                  <c:v>13.362898272552782</c:v>
                </c:pt>
                <c:pt idx="6">
                  <c:v>11.281209213051824</c:v>
                </c:pt>
                <c:pt idx="7">
                  <c:v>10.688752399232246</c:v>
                </c:pt>
              </c:numCache>
            </c:numRef>
          </c:val>
          <c:extLst>
            <c:ext xmlns:c16="http://schemas.microsoft.com/office/drawing/2014/chart" uri="{C3380CC4-5D6E-409C-BE32-E72D297353CC}">
              <c16:uniqueId val="{00000000-DFF1-43EB-9377-46721E08347E}"/>
            </c:ext>
          </c:extLst>
        </c:ser>
        <c:dLbls>
          <c:dLblPos val="outEnd"/>
          <c:showLegendKey val="0"/>
          <c:showVal val="1"/>
          <c:showCatName val="0"/>
          <c:showSerName val="0"/>
          <c:showPercent val="0"/>
          <c:showBubbleSize val="0"/>
        </c:dLbls>
        <c:gapWidth val="100"/>
        <c:axId val="652837360"/>
        <c:axId val="652836816"/>
      </c:barChart>
      <c:catAx>
        <c:axId val="652837360"/>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652836816"/>
        <c:crosses val="autoZero"/>
        <c:auto val="1"/>
        <c:lblAlgn val="ctr"/>
        <c:lblOffset val="100"/>
        <c:noMultiLvlLbl val="0"/>
      </c:catAx>
      <c:valAx>
        <c:axId val="652836816"/>
        <c:scaling>
          <c:orientation val="minMax"/>
        </c:scaling>
        <c:delete val="1"/>
        <c:axPos val="t"/>
        <c:numFmt formatCode="_(* #,##0.00_);_(* \(#,##0.00\);_(* &quot;-&quot;??_);_(@_)" sourceLinked="1"/>
        <c:majorTickMark val="none"/>
        <c:minorTickMark val="none"/>
        <c:tickLblPos val="nextTo"/>
        <c:crossAx val="65283736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7533747452955142"/>
          <c:y val="0.13262675175576438"/>
          <c:w val="0.57083423266321764"/>
          <c:h val="0.52757004664503726"/>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784C-4E71-A080-0B132A93A742}"/>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784C-4E71-A080-0B132A93A742}"/>
              </c:ext>
            </c:extLst>
          </c:dPt>
          <c:dLbls>
            <c:delete val="1"/>
          </c:dLbls>
          <c:cat>
            <c:strRef>
              <c:f>Sheet1!$A$2:$A$3</c:f>
              <c:strCache>
                <c:ptCount val="2"/>
                <c:pt idx="0">
                  <c:v>Top 10 Countries</c:v>
                </c:pt>
                <c:pt idx="1">
                  <c:v>Rest of the World</c:v>
                </c:pt>
              </c:strCache>
            </c:strRef>
          </c:cat>
          <c:val>
            <c:numRef>
              <c:f>Sheet1!$B$2:$B$3</c:f>
              <c:numCache>
                <c:formatCode>0.0%</c:formatCode>
                <c:ptCount val="2"/>
                <c:pt idx="0">
                  <c:v>0.9179691601623835</c:v>
                </c:pt>
                <c:pt idx="1">
                  <c:v>8.2030839837616498E-2</c:v>
                </c:pt>
              </c:numCache>
            </c:numRef>
          </c:val>
          <c:extLst>
            <c:ext xmlns:c16="http://schemas.microsoft.com/office/drawing/2014/chart" uri="{C3380CC4-5D6E-409C-BE32-E72D297353CC}">
              <c16:uniqueId val="{00000004-784C-4E71-A080-0B132A93A742}"/>
            </c:ext>
          </c:extLst>
        </c:ser>
        <c:dLbls>
          <c:showLegendKey val="0"/>
          <c:showVal val="1"/>
          <c:showCatName val="0"/>
          <c:showSerName val="0"/>
          <c:showPercent val="0"/>
          <c:showBubbleSize val="0"/>
          <c:showLeaderLines val="1"/>
        </c:dLbls>
        <c:firstSliceAng val="0"/>
        <c:holeSize val="65"/>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5757577611037289"/>
          <c:y val="4.8553424232850681E-2"/>
          <c:w val="0.64242422388962706"/>
          <c:h val="0.90289315153429861"/>
        </c:manualLayout>
      </c:layout>
      <c:barChart>
        <c:barDir val="bar"/>
        <c:grouping val="clustered"/>
        <c:varyColors val="0"/>
        <c:ser>
          <c:idx val="0"/>
          <c:order val="0"/>
          <c:tx>
            <c:strRef>
              <c:f>Sheet1!$B$1</c:f>
              <c:strCache>
                <c:ptCount val="1"/>
                <c:pt idx="0">
                  <c:v>Series 1</c:v>
                </c:pt>
              </c:strCache>
            </c:strRef>
          </c:tx>
          <c:spPr>
            <a:solidFill>
              <a:schemeClr val="accent2"/>
            </a:solidFill>
            <a:ln>
              <a:noFill/>
            </a:ln>
            <a:effectLst/>
          </c:spPr>
          <c:invertIfNegative val="0"/>
          <c:dLbls>
            <c:delete val="1"/>
          </c:dLbls>
          <c:cat>
            <c:strRef>
              <c:f>Sheet1!$A$4:$A$11</c:f>
              <c:strCache>
                <c:ptCount val="8"/>
                <c:pt idx="0">
                  <c:v>China</c:v>
                </c:pt>
                <c:pt idx="1">
                  <c:v>Italy</c:v>
                </c:pt>
                <c:pt idx="2">
                  <c:v>Brazil</c:v>
                </c:pt>
                <c:pt idx="3">
                  <c:v>Belgium</c:v>
                </c:pt>
                <c:pt idx="4">
                  <c:v>U.K.</c:v>
                </c:pt>
                <c:pt idx="5">
                  <c:v>U.S.</c:v>
                </c:pt>
                <c:pt idx="6">
                  <c:v>South Korea</c:v>
                </c:pt>
                <c:pt idx="7">
                  <c:v>Netherlands</c:v>
                </c:pt>
              </c:strCache>
            </c:strRef>
          </c:cat>
          <c:val>
            <c:numRef>
              <c:f>Sheet1!$B$4:$B$11</c:f>
              <c:numCache>
                <c:formatCode>_(* #,##0.00_);_(* \(#,##0.00\);_(* "-"??_);_(@_)</c:formatCode>
                <c:ptCount val="8"/>
                <c:pt idx="0">
                  <c:v>96.149423868312752</c:v>
                </c:pt>
                <c:pt idx="1">
                  <c:v>74.355905349794241</c:v>
                </c:pt>
                <c:pt idx="2">
                  <c:v>27.117839506172835</c:v>
                </c:pt>
                <c:pt idx="3">
                  <c:v>21.558292181069955</c:v>
                </c:pt>
                <c:pt idx="4">
                  <c:v>19.240030864197532</c:v>
                </c:pt>
                <c:pt idx="5">
                  <c:v>16.266831275720165</c:v>
                </c:pt>
                <c:pt idx="6">
                  <c:v>15.762726337448559</c:v>
                </c:pt>
                <c:pt idx="7">
                  <c:v>9.8219753086419725</c:v>
                </c:pt>
              </c:numCache>
            </c:numRef>
          </c:val>
          <c:extLst>
            <c:ext xmlns:c16="http://schemas.microsoft.com/office/drawing/2014/chart" uri="{C3380CC4-5D6E-409C-BE32-E72D297353CC}">
              <c16:uniqueId val="{00000002-CD33-4288-9B49-1EFCE84A1C33}"/>
            </c:ext>
          </c:extLst>
        </c:ser>
        <c:dLbls>
          <c:dLblPos val="outEnd"/>
          <c:showLegendKey val="0"/>
          <c:showVal val="1"/>
          <c:showCatName val="0"/>
          <c:showSerName val="0"/>
          <c:showPercent val="0"/>
          <c:showBubbleSize val="0"/>
        </c:dLbls>
        <c:gapWidth val="100"/>
        <c:axId val="652834640"/>
        <c:axId val="652823216"/>
      </c:barChart>
      <c:catAx>
        <c:axId val="652834640"/>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652823216"/>
        <c:crosses val="autoZero"/>
        <c:auto val="1"/>
        <c:lblAlgn val="ctr"/>
        <c:lblOffset val="100"/>
        <c:noMultiLvlLbl val="0"/>
      </c:catAx>
      <c:valAx>
        <c:axId val="652823216"/>
        <c:scaling>
          <c:orientation val="minMax"/>
        </c:scaling>
        <c:delete val="1"/>
        <c:axPos val="t"/>
        <c:numFmt formatCode="_(* #,##0.00_);_(* \(#,##0.00\);_(* &quot;-&quot;??_);_(@_)" sourceLinked="1"/>
        <c:majorTickMark val="none"/>
        <c:minorTickMark val="none"/>
        <c:tickLblPos val="nextTo"/>
        <c:crossAx val="65283464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722409906162255"/>
          <c:y val="0.13262675175576438"/>
          <c:w val="0.58894760813114655"/>
          <c:h val="0.54431058845860469"/>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B1AD-490C-A46B-287C0DF5ED7D}"/>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B1AD-490C-A46B-287C0DF5ED7D}"/>
              </c:ext>
            </c:extLst>
          </c:dPt>
          <c:dLbls>
            <c:delete val="1"/>
          </c:dLbls>
          <c:cat>
            <c:strRef>
              <c:f>Sheet1!$A$2:$A$3</c:f>
              <c:strCache>
                <c:ptCount val="2"/>
                <c:pt idx="0">
                  <c:v>Top 10 Countries</c:v>
                </c:pt>
                <c:pt idx="1">
                  <c:v>Rest of the World</c:v>
                </c:pt>
              </c:strCache>
            </c:strRef>
          </c:cat>
          <c:val>
            <c:numRef>
              <c:f>Sheet1!$B$2:$B$3</c:f>
              <c:numCache>
                <c:formatCode>0.0%</c:formatCode>
                <c:ptCount val="2"/>
                <c:pt idx="0">
                  <c:v>0.95177294358244402</c:v>
                </c:pt>
                <c:pt idx="1">
                  <c:v>4.822705641755598E-2</c:v>
                </c:pt>
              </c:numCache>
            </c:numRef>
          </c:val>
          <c:extLst>
            <c:ext xmlns:c16="http://schemas.microsoft.com/office/drawing/2014/chart" uri="{C3380CC4-5D6E-409C-BE32-E72D297353CC}">
              <c16:uniqueId val="{00000004-B1AD-490C-A46B-287C0DF5ED7D}"/>
            </c:ext>
          </c:extLst>
        </c:ser>
        <c:dLbls>
          <c:showLegendKey val="0"/>
          <c:showVal val="1"/>
          <c:showCatName val="0"/>
          <c:showSerName val="0"/>
          <c:showPercent val="0"/>
          <c:showBubbleSize val="0"/>
          <c:showLeaderLines val="1"/>
        </c:dLbls>
        <c:firstSliceAng val="0"/>
        <c:holeSize val="65"/>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5757577611037289"/>
          <c:y val="4.8553424232850681E-2"/>
          <c:w val="0.64242422388962706"/>
          <c:h val="0.90289315153429861"/>
        </c:manualLayout>
      </c:layout>
      <c:barChart>
        <c:barDir val="bar"/>
        <c:grouping val="clustered"/>
        <c:varyColors val="0"/>
        <c:ser>
          <c:idx val="0"/>
          <c:order val="0"/>
          <c:tx>
            <c:strRef>
              <c:f>Sheet1!$B$1</c:f>
              <c:strCache>
                <c:ptCount val="1"/>
                <c:pt idx="0">
                  <c:v>Series 1</c:v>
                </c:pt>
              </c:strCache>
            </c:strRef>
          </c:tx>
          <c:spPr>
            <a:solidFill>
              <a:schemeClr val="accent2"/>
            </a:solidFill>
            <a:ln>
              <a:noFill/>
            </a:ln>
            <a:effectLst/>
          </c:spPr>
          <c:invertIfNegative val="0"/>
          <c:dLbls>
            <c:delete val="1"/>
          </c:dLbls>
          <c:cat>
            <c:strRef>
              <c:f>Sheet1!$A$4:$A$11</c:f>
              <c:strCache>
                <c:ptCount val="8"/>
                <c:pt idx="0">
                  <c:v>China</c:v>
                </c:pt>
                <c:pt idx="1">
                  <c:v>Italy</c:v>
                </c:pt>
                <c:pt idx="2">
                  <c:v>Netherlands</c:v>
                </c:pt>
                <c:pt idx="3">
                  <c:v>Brazil</c:v>
                </c:pt>
                <c:pt idx="4">
                  <c:v>Belgium</c:v>
                </c:pt>
                <c:pt idx="5">
                  <c:v>South Korea</c:v>
                </c:pt>
                <c:pt idx="6">
                  <c:v>U.S.</c:v>
                </c:pt>
                <c:pt idx="7">
                  <c:v>Spain</c:v>
                </c:pt>
              </c:strCache>
            </c:strRef>
          </c:cat>
          <c:val>
            <c:numRef>
              <c:f>Sheet1!$B$4:$B$11</c:f>
              <c:numCache>
                <c:formatCode>_(* #,##0.00_);_(* \(#,##0.00\);_(* "-"??_);_(@_)</c:formatCode>
                <c:ptCount val="8"/>
                <c:pt idx="0">
                  <c:v>207.50168831168827</c:v>
                </c:pt>
                <c:pt idx="1">
                  <c:v>69.347993506493509</c:v>
                </c:pt>
                <c:pt idx="2">
                  <c:v>54.191610389610389</c:v>
                </c:pt>
                <c:pt idx="3">
                  <c:v>33.402772727272726</c:v>
                </c:pt>
                <c:pt idx="4">
                  <c:v>28.700227272727272</c:v>
                </c:pt>
                <c:pt idx="5">
                  <c:v>24.915227272727272</c:v>
                </c:pt>
                <c:pt idx="6">
                  <c:v>20.280610389610388</c:v>
                </c:pt>
                <c:pt idx="7">
                  <c:v>9.1171623376623376</c:v>
                </c:pt>
              </c:numCache>
            </c:numRef>
          </c:val>
          <c:extLst>
            <c:ext xmlns:c16="http://schemas.microsoft.com/office/drawing/2014/chart" uri="{C3380CC4-5D6E-409C-BE32-E72D297353CC}">
              <c16:uniqueId val="{00000002-6611-444D-81EC-104A133FB8C9}"/>
            </c:ext>
          </c:extLst>
        </c:ser>
        <c:dLbls>
          <c:dLblPos val="outEnd"/>
          <c:showLegendKey val="0"/>
          <c:showVal val="1"/>
          <c:showCatName val="0"/>
          <c:showSerName val="0"/>
          <c:showPercent val="0"/>
          <c:showBubbleSize val="0"/>
        </c:dLbls>
        <c:gapWidth val="100"/>
        <c:axId val="652838448"/>
        <c:axId val="652843888"/>
      </c:barChart>
      <c:catAx>
        <c:axId val="652838448"/>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652843888"/>
        <c:crosses val="autoZero"/>
        <c:auto val="1"/>
        <c:lblAlgn val="ctr"/>
        <c:lblOffset val="100"/>
        <c:noMultiLvlLbl val="0"/>
      </c:catAx>
      <c:valAx>
        <c:axId val="652843888"/>
        <c:scaling>
          <c:orientation val="minMax"/>
        </c:scaling>
        <c:delete val="1"/>
        <c:axPos val="t"/>
        <c:numFmt formatCode="_(* #,##0.00_);_(* \(#,##0.00\);_(* &quot;-&quot;??_);_(@_)" sourceLinked="1"/>
        <c:majorTickMark val="none"/>
        <c:minorTickMark val="none"/>
        <c:tickLblPos val="nextTo"/>
        <c:crossAx val="65283844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26189088426551"/>
          <c:y val="0.13262675175576438"/>
          <c:w val="0.58290981630850347"/>
          <c:h val="0.53873040785408211"/>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1979-426D-A2F8-5F776EBEAA49}"/>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1979-426D-A2F8-5F776EBEAA49}"/>
              </c:ext>
            </c:extLst>
          </c:dPt>
          <c:dLbls>
            <c:delete val="1"/>
          </c:dLbls>
          <c:cat>
            <c:strRef>
              <c:f>Sheet1!$A$2:$A$3</c:f>
              <c:strCache>
                <c:ptCount val="2"/>
                <c:pt idx="0">
                  <c:v>Top 10 Countries</c:v>
                </c:pt>
                <c:pt idx="1">
                  <c:v>Rest of the World</c:v>
                </c:pt>
              </c:strCache>
            </c:strRef>
          </c:cat>
          <c:val>
            <c:numRef>
              <c:f>Sheet1!$B$2:$B$3</c:f>
              <c:numCache>
                <c:formatCode>0.0%</c:formatCode>
                <c:ptCount val="2"/>
                <c:pt idx="0">
                  <c:v>0.93996230017687643</c:v>
                </c:pt>
                <c:pt idx="1">
                  <c:v>6.0037699823123569E-2</c:v>
                </c:pt>
              </c:numCache>
            </c:numRef>
          </c:val>
          <c:extLst>
            <c:ext xmlns:c16="http://schemas.microsoft.com/office/drawing/2014/chart" uri="{C3380CC4-5D6E-409C-BE32-E72D297353CC}">
              <c16:uniqueId val="{00000004-1979-426D-A2F8-5F776EBEAA49}"/>
            </c:ext>
          </c:extLst>
        </c:ser>
        <c:dLbls>
          <c:showLegendKey val="0"/>
          <c:showVal val="1"/>
          <c:showCatName val="0"/>
          <c:showSerName val="0"/>
          <c:showPercent val="0"/>
          <c:showBubbleSize val="0"/>
          <c:showLeaderLines val="1"/>
        </c:dLbls>
        <c:firstSliceAng val="0"/>
        <c:holeSize val="65"/>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000">
          <a:solidFill>
            <a:schemeClr val="tx1"/>
          </a:solidFill>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5757577611037289"/>
          <c:y val="4.8553424232850681E-2"/>
          <c:w val="0.64242422388962706"/>
          <c:h val="0.90289315153429861"/>
        </c:manualLayout>
      </c:layout>
      <c:barChart>
        <c:barDir val="bar"/>
        <c:grouping val="clustered"/>
        <c:varyColors val="0"/>
        <c:ser>
          <c:idx val="0"/>
          <c:order val="0"/>
          <c:tx>
            <c:strRef>
              <c:f>Sheet1!$B$1</c:f>
              <c:strCache>
                <c:ptCount val="1"/>
                <c:pt idx="0">
                  <c:v>Series 1</c:v>
                </c:pt>
              </c:strCache>
            </c:strRef>
          </c:tx>
          <c:spPr>
            <a:solidFill>
              <a:schemeClr val="accent2"/>
            </a:solidFill>
            <a:ln>
              <a:noFill/>
            </a:ln>
            <a:effectLst/>
          </c:spPr>
          <c:invertIfNegative val="0"/>
          <c:dLbls>
            <c:delete val="1"/>
          </c:dLbls>
          <c:cat>
            <c:strRef>
              <c:f>Sheet1!$A$3:$A$11</c:f>
              <c:strCache>
                <c:ptCount val="9"/>
                <c:pt idx="0">
                  <c:v>China</c:v>
                </c:pt>
                <c:pt idx="1">
                  <c:v>Germany</c:v>
                </c:pt>
                <c:pt idx="2">
                  <c:v>Netherlands</c:v>
                </c:pt>
                <c:pt idx="3">
                  <c:v>Italy</c:v>
                </c:pt>
                <c:pt idx="4">
                  <c:v>Brazil</c:v>
                </c:pt>
                <c:pt idx="5">
                  <c:v>Belgium</c:v>
                </c:pt>
                <c:pt idx="6">
                  <c:v>South Korea</c:v>
                </c:pt>
                <c:pt idx="7">
                  <c:v>United States</c:v>
                </c:pt>
                <c:pt idx="8">
                  <c:v>Spain</c:v>
                </c:pt>
              </c:strCache>
            </c:strRef>
          </c:cat>
          <c:val>
            <c:numRef>
              <c:f>Sheet1!$B$3:$B$11</c:f>
              <c:numCache>
                <c:formatCode>_(* #,##0.00_);_(* \(#,##0.00\);_(* "-"??_);_(@_)</c:formatCode>
                <c:ptCount val="9"/>
                <c:pt idx="0">
                  <c:v>192.16979611650487</c:v>
                </c:pt>
                <c:pt idx="1">
                  <c:v>191.05901456310679</c:v>
                </c:pt>
                <c:pt idx="2">
                  <c:v>58.601563106796114</c:v>
                </c:pt>
                <c:pt idx="3">
                  <c:v>56.805228155339805</c:v>
                </c:pt>
                <c:pt idx="4">
                  <c:v>52.702325242718445</c:v>
                </c:pt>
                <c:pt idx="5">
                  <c:v>30.381548543689316</c:v>
                </c:pt>
                <c:pt idx="6">
                  <c:v>27.734766990291263</c:v>
                </c:pt>
                <c:pt idx="7">
                  <c:v>27.167456310679611</c:v>
                </c:pt>
                <c:pt idx="8">
                  <c:v>7.0391116504854363</c:v>
                </c:pt>
              </c:numCache>
            </c:numRef>
          </c:val>
          <c:extLst>
            <c:ext xmlns:c16="http://schemas.microsoft.com/office/drawing/2014/chart" uri="{C3380CC4-5D6E-409C-BE32-E72D297353CC}">
              <c16:uniqueId val="{00000002-AA7D-4C59-BA30-F5E6D059EA54}"/>
            </c:ext>
          </c:extLst>
        </c:ser>
        <c:dLbls>
          <c:dLblPos val="outEnd"/>
          <c:showLegendKey val="0"/>
          <c:showVal val="1"/>
          <c:showCatName val="0"/>
          <c:showSerName val="0"/>
          <c:showPercent val="0"/>
          <c:showBubbleSize val="0"/>
        </c:dLbls>
        <c:gapWidth val="100"/>
        <c:axId val="652832464"/>
        <c:axId val="652836272"/>
      </c:barChart>
      <c:catAx>
        <c:axId val="652832464"/>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652836272"/>
        <c:crosses val="autoZero"/>
        <c:auto val="1"/>
        <c:lblAlgn val="ctr"/>
        <c:lblOffset val="100"/>
        <c:noMultiLvlLbl val="0"/>
      </c:catAx>
      <c:valAx>
        <c:axId val="652836272"/>
        <c:scaling>
          <c:orientation val="minMax"/>
        </c:scaling>
        <c:delete val="1"/>
        <c:axPos val="t"/>
        <c:numFmt formatCode="_(* #,##0.00_);_(* \(#,##0.00\);_(* &quot;-&quot;??_);_(@_)" sourceLinked="1"/>
        <c:majorTickMark val="none"/>
        <c:minorTickMark val="none"/>
        <c:tickLblPos val="nextTo"/>
        <c:crossAx val="65283246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586017868029705E-2"/>
          <c:y val="5.6718815469420834E-2"/>
          <c:w val="0.92649309691078063"/>
          <c:h val="0.72664225195762067"/>
        </c:manualLayout>
      </c:layout>
      <c:barChart>
        <c:barDir val="col"/>
        <c:grouping val="percentStacked"/>
        <c:varyColors val="0"/>
        <c:ser>
          <c:idx val="0"/>
          <c:order val="0"/>
          <c:tx>
            <c:strRef>
              <c:f>Sheet1!$B$1</c:f>
              <c:strCache>
                <c:ptCount val="1"/>
                <c:pt idx="0">
                  <c:v>Segment 1</c:v>
                </c:pt>
              </c:strCache>
            </c:strRef>
          </c:tx>
          <c:spPr>
            <a:solidFill>
              <a:schemeClr val="accent1"/>
            </a:solidFill>
            <a:ln>
              <a:noFill/>
            </a:ln>
            <a:effectLst/>
          </c:spPr>
          <c:invertIfNegative val="0"/>
          <c:cat>
            <c:strRef>
              <c:f>Sheet1!$A$2:$A$3</c:f>
              <c:strCache>
                <c:ptCount val="2"/>
                <c:pt idx="0">
                  <c:v>2024E</c:v>
                </c:pt>
                <c:pt idx="1">
                  <c:v>2034F</c:v>
                </c:pt>
              </c:strCache>
            </c:strRef>
          </c:cat>
          <c:val>
            <c:numRef>
              <c:f>Sheet1!$B$2:$B$3</c:f>
              <c:numCache>
                <c:formatCode>0.0%</c:formatCode>
                <c:ptCount val="2"/>
                <c:pt idx="0">
                  <c:v>0.5</c:v>
                </c:pt>
                <c:pt idx="1">
                  <c:v>0.5</c:v>
                </c:pt>
              </c:numCache>
            </c:numRef>
          </c:val>
          <c:extLst>
            <c:ext xmlns:c16="http://schemas.microsoft.com/office/drawing/2014/chart" uri="{C3380CC4-5D6E-409C-BE32-E72D297353CC}">
              <c16:uniqueId val="{00000000-399A-4293-BB78-EFC0E0F10571}"/>
            </c:ext>
          </c:extLst>
        </c:ser>
        <c:ser>
          <c:idx val="1"/>
          <c:order val="1"/>
          <c:tx>
            <c:strRef>
              <c:f>Sheet1!$C$1</c:f>
              <c:strCache>
                <c:ptCount val="1"/>
                <c:pt idx="0">
                  <c:v>Segment 2</c:v>
                </c:pt>
              </c:strCache>
            </c:strRef>
          </c:tx>
          <c:spPr>
            <a:solidFill>
              <a:schemeClr val="accent2"/>
            </a:solidFill>
            <a:ln>
              <a:noFill/>
            </a:ln>
            <a:effectLst/>
          </c:spPr>
          <c:invertIfNegative val="0"/>
          <c:cat>
            <c:strRef>
              <c:f>Sheet1!$A$2:$A$3</c:f>
              <c:strCache>
                <c:ptCount val="2"/>
                <c:pt idx="0">
                  <c:v>2024E</c:v>
                </c:pt>
                <c:pt idx="1">
                  <c:v>2034F</c:v>
                </c:pt>
              </c:strCache>
            </c:strRef>
          </c:cat>
          <c:val>
            <c:numRef>
              <c:f>Sheet1!$C$2:$C$3</c:f>
              <c:numCache>
                <c:formatCode>0.0%</c:formatCode>
                <c:ptCount val="2"/>
                <c:pt idx="0">
                  <c:v>0.5</c:v>
                </c:pt>
                <c:pt idx="1">
                  <c:v>0.5</c:v>
                </c:pt>
              </c:numCache>
            </c:numRef>
          </c:val>
          <c:extLst>
            <c:ext xmlns:c16="http://schemas.microsoft.com/office/drawing/2014/chart" uri="{C3380CC4-5D6E-409C-BE32-E72D297353CC}">
              <c16:uniqueId val="{00000001-399A-4293-BB78-EFC0E0F10571}"/>
            </c:ext>
          </c:extLst>
        </c:ser>
        <c:ser>
          <c:idx val="2"/>
          <c:order val="2"/>
          <c:tx>
            <c:strRef>
              <c:f>Sheet1!$D$1</c:f>
              <c:strCache>
                <c:ptCount val="1"/>
                <c:pt idx="0">
                  <c:v>Segment 3</c:v>
                </c:pt>
              </c:strCache>
            </c:strRef>
          </c:tx>
          <c:spPr>
            <a:solidFill>
              <a:schemeClr val="accent3"/>
            </a:solidFill>
            <a:ln>
              <a:noFill/>
            </a:ln>
            <a:effectLst/>
          </c:spPr>
          <c:invertIfNegative val="0"/>
          <c:cat>
            <c:strRef>
              <c:f>Sheet1!$A$2:$A$3</c:f>
              <c:strCache>
                <c:ptCount val="2"/>
                <c:pt idx="0">
                  <c:v>2024E</c:v>
                </c:pt>
                <c:pt idx="1">
                  <c:v>2034F</c:v>
                </c:pt>
              </c:strCache>
            </c:strRef>
          </c:cat>
          <c:val>
            <c:numRef>
              <c:f>Sheet1!$D$2:$D$3</c:f>
              <c:numCache>
                <c:formatCode>0.0%</c:formatCode>
                <c:ptCount val="2"/>
                <c:pt idx="0">
                  <c:v>0.1</c:v>
                </c:pt>
                <c:pt idx="1">
                  <c:v>0.1</c:v>
                </c:pt>
              </c:numCache>
            </c:numRef>
          </c:val>
          <c:extLst>
            <c:ext xmlns:c16="http://schemas.microsoft.com/office/drawing/2014/chart" uri="{C3380CC4-5D6E-409C-BE32-E72D297353CC}">
              <c16:uniqueId val="{00000002-399A-4293-BB78-EFC0E0F10571}"/>
            </c:ext>
          </c:extLst>
        </c:ser>
        <c:ser>
          <c:idx val="3"/>
          <c:order val="3"/>
          <c:tx>
            <c:strRef>
              <c:f>Sheet1!$E$1</c:f>
              <c:strCache>
                <c:ptCount val="1"/>
                <c:pt idx="0">
                  <c:v>Segment 4</c:v>
                </c:pt>
              </c:strCache>
            </c:strRef>
          </c:tx>
          <c:spPr>
            <a:solidFill>
              <a:schemeClr val="accent4"/>
            </a:solidFill>
            <a:ln>
              <a:noFill/>
            </a:ln>
            <a:effectLst/>
          </c:spPr>
          <c:invertIfNegative val="0"/>
          <c:cat>
            <c:strRef>
              <c:f>Sheet1!$A$2:$A$3</c:f>
              <c:strCache>
                <c:ptCount val="2"/>
                <c:pt idx="0">
                  <c:v>2024E</c:v>
                </c:pt>
                <c:pt idx="1">
                  <c:v>2034F</c:v>
                </c:pt>
              </c:strCache>
            </c:strRef>
          </c:cat>
          <c:val>
            <c:numRef>
              <c:f>Sheet1!$E$2:$E$3</c:f>
              <c:numCache>
                <c:formatCode>0.0%</c:formatCode>
                <c:ptCount val="2"/>
                <c:pt idx="0">
                  <c:v>0.5</c:v>
                </c:pt>
                <c:pt idx="1">
                  <c:v>0.5</c:v>
                </c:pt>
              </c:numCache>
            </c:numRef>
          </c:val>
          <c:extLst>
            <c:ext xmlns:c16="http://schemas.microsoft.com/office/drawing/2014/chart" uri="{C3380CC4-5D6E-409C-BE32-E72D297353CC}">
              <c16:uniqueId val="{00000003-399A-4293-BB78-EFC0E0F10571}"/>
            </c:ext>
          </c:extLst>
        </c:ser>
        <c:ser>
          <c:idx val="4"/>
          <c:order val="4"/>
          <c:tx>
            <c:strRef>
              <c:f>Sheet1!$F$1</c:f>
              <c:strCache>
                <c:ptCount val="1"/>
                <c:pt idx="0">
                  <c:v>Segment 5</c:v>
                </c:pt>
              </c:strCache>
            </c:strRef>
          </c:tx>
          <c:spPr>
            <a:solidFill>
              <a:schemeClr val="accent5"/>
            </a:solidFill>
            <a:ln>
              <a:noFill/>
            </a:ln>
            <a:effectLst/>
          </c:spPr>
          <c:invertIfNegative val="0"/>
          <c:cat>
            <c:strRef>
              <c:f>Sheet1!$A$2:$A$3</c:f>
              <c:strCache>
                <c:ptCount val="2"/>
                <c:pt idx="0">
                  <c:v>2024E</c:v>
                </c:pt>
                <c:pt idx="1">
                  <c:v>2034F</c:v>
                </c:pt>
              </c:strCache>
            </c:strRef>
          </c:cat>
          <c:val>
            <c:numRef>
              <c:f>Sheet1!$F$2:$F$3</c:f>
              <c:numCache>
                <c:formatCode>0.0%</c:formatCode>
                <c:ptCount val="2"/>
                <c:pt idx="0">
                  <c:v>0.25</c:v>
                </c:pt>
                <c:pt idx="1">
                  <c:v>0.25</c:v>
                </c:pt>
              </c:numCache>
            </c:numRef>
          </c:val>
          <c:extLst>
            <c:ext xmlns:c16="http://schemas.microsoft.com/office/drawing/2014/chart" uri="{C3380CC4-5D6E-409C-BE32-E72D297353CC}">
              <c16:uniqueId val="{00000004-399A-4293-BB78-EFC0E0F10571}"/>
            </c:ext>
          </c:extLst>
        </c:ser>
        <c:ser>
          <c:idx val="5"/>
          <c:order val="5"/>
          <c:tx>
            <c:strRef>
              <c:f>Sheet1!$G$1</c:f>
              <c:strCache>
                <c:ptCount val="1"/>
                <c:pt idx="0">
                  <c:v>Segment 6</c:v>
                </c:pt>
              </c:strCache>
            </c:strRef>
          </c:tx>
          <c:spPr>
            <a:solidFill>
              <a:schemeClr val="accent6"/>
            </a:solidFill>
            <a:ln>
              <a:noFill/>
            </a:ln>
            <a:effectLst/>
          </c:spPr>
          <c:invertIfNegative val="0"/>
          <c:cat>
            <c:strRef>
              <c:f>Sheet1!$A$2:$A$3</c:f>
              <c:strCache>
                <c:ptCount val="2"/>
                <c:pt idx="0">
                  <c:v>2024E</c:v>
                </c:pt>
                <c:pt idx="1">
                  <c:v>2034F</c:v>
                </c:pt>
              </c:strCache>
            </c:strRef>
          </c:cat>
          <c:val>
            <c:numRef>
              <c:f>Sheet1!$G$2:$G$3</c:f>
              <c:numCache>
                <c:formatCode>0.0%</c:formatCode>
                <c:ptCount val="2"/>
                <c:pt idx="0">
                  <c:v>0.3</c:v>
                </c:pt>
                <c:pt idx="1">
                  <c:v>0.3</c:v>
                </c:pt>
              </c:numCache>
            </c:numRef>
          </c:val>
          <c:extLst>
            <c:ext xmlns:c16="http://schemas.microsoft.com/office/drawing/2014/chart" uri="{C3380CC4-5D6E-409C-BE32-E72D297353CC}">
              <c16:uniqueId val="{00000005-399A-4293-BB78-EFC0E0F10571}"/>
            </c:ext>
          </c:extLst>
        </c:ser>
        <c:ser>
          <c:idx val="6"/>
          <c:order val="6"/>
          <c:tx>
            <c:strRef>
              <c:f>Sheet1!$H$1</c:f>
              <c:strCache>
                <c:ptCount val="1"/>
                <c:pt idx="0">
                  <c:v>Segment 7</c:v>
                </c:pt>
              </c:strCache>
            </c:strRef>
          </c:tx>
          <c:spPr>
            <a:solidFill>
              <a:schemeClr val="accent1">
                <a:lumMod val="60000"/>
              </a:schemeClr>
            </a:solidFill>
            <a:ln>
              <a:noFill/>
            </a:ln>
            <a:effectLst/>
          </c:spPr>
          <c:invertIfNegative val="0"/>
          <c:cat>
            <c:strRef>
              <c:f>Sheet1!$A$2:$A$3</c:f>
              <c:strCache>
                <c:ptCount val="2"/>
                <c:pt idx="0">
                  <c:v>2024E</c:v>
                </c:pt>
                <c:pt idx="1">
                  <c:v>2034F</c:v>
                </c:pt>
              </c:strCache>
            </c:strRef>
          </c:cat>
          <c:val>
            <c:numRef>
              <c:f>Sheet1!$H$2:$H$3</c:f>
              <c:numCache>
                <c:formatCode>0.0%</c:formatCode>
                <c:ptCount val="2"/>
                <c:pt idx="0">
                  <c:v>0.5</c:v>
                </c:pt>
                <c:pt idx="1">
                  <c:v>0.5</c:v>
                </c:pt>
              </c:numCache>
            </c:numRef>
          </c:val>
          <c:extLst>
            <c:ext xmlns:c16="http://schemas.microsoft.com/office/drawing/2014/chart" uri="{C3380CC4-5D6E-409C-BE32-E72D297353CC}">
              <c16:uniqueId val="{00000006-399A-4293-BB78-EFC0E0F10571}"/>
            </c:ext>
          </c:extLst>
        </c:ser>
        <c:ser>
          <c:idx val="7"/>
          <c:order val="7"/>
          <c:tx>
            <c:strRef>
              <c:f>Sheet1!$I$1</c:f>
              <c:strCache>
                <c:ptCount val="1"/>
                <c:pt idx="0">
                  <c:v>Segment 8</c:v>
                </c:pt>
              </c:strCache>
            </c:strRef>
          </c:tx>
          <c:spPr>
            <a:solidFill>
              <a:schemeClr val="accent2">
                <a:lumMod val="60000"/>
              </a:schemeClr>
            </a:solidFill>
            <a:ln>
              <a:noFill/>
            </a:ln>
            <a:effectLst/>
          </c:spPr>
          <c:invertIfNegative val="0"/>
          <c:cat>
            <c:strRef>
              <c:f>Sheet1!$A$2:$A$3</c:f>
              <c:strCache>
                <c:ptCount val="2"/>
                <c:pt idx="0">
                  <c:v>2024E</c:v>
                </c:pt>
                <c:pt idx="1">
                  <c:v>2034F</c:v>
                </c:pt>
              </c:strCache>
            </c:strRef>
          </c:cat>
          <c:val>
            <c:numRef>
              <c:f>Sheet1!$I$2:$I$3</c:f>
              <c:numCache>
                <c:formatCode>0.0%</c:formatCode>
                <c:ptCount val="2"/>
                <c:pt idx="0">
                  <c:v>0.5</c:v>
                </c:pt>
                <c:pt idx="1">
                  <c:v>0.5</c:v>
                </c:pt>
              </c:numCache>
            </c:numRef>
          </c:val>
          <c:extLst>
            <c:ext xmlns:c16="http://schemas.microsoft.com/office/drawing/2014/chart" uri="{C3380CC4-5D6E-409C-BE32-E72D297353CC}">
              <c16:uniqueId val="{00000007-399A-4293-BB78-EFC0E0F10571}"/>
            </c:ext>
          </c:extLst>
        </c:ser>
        <c:ser>
          <c:idx val="8"/>
          <c:order val="8"/>
          <c:tx>
            <c:strRef>
              <c:f>Sheet1!$J$1</c:f>
              <c:strCache>
                <c:ptCount val="1"/>
                <c:pt idx="0">
                  <c:v>Segment 9</c:v>
                </c:pt>
              </c:strCache>
            </c:strRef>
          </c:tx>
          <c:spPr>
            <a:solidFill>
              <a:schemeClr val="accent3">
                <a:lumMod val="60000"/>
              </a:schemeClr>
            </a:solidFill>
            <a:ln>
              <a:noFill/>
            </a:ln>
            <a:effectLst/>
          </c:spPr>
          <c:invertIfNegative val="0"/>
          <c:cat>
            <c:strRef>
              <c:f>Sheet1!$A$2:$A$3</c:f>
              <c:strCache>
                <c:ptCount val="2"/>
                <c:pt idx="0">
                  <c:v>2024E</c:v>
                </c:pt>
                <c:pt idx="1">
                  <c:v>2034F</c:v>
                </c:pt>
              </c:strCache>
            </c:strRef>
          </c:cat>
          <c:val>
            <c:numRef>
              <c:f>Sheet1!$J$2:$J$3</c:f>
              <c:numCache>
                <c:formatCode>0.0%</c:formatCode>
                <c:ptCount val="2"/>
                <c:pt idx="0">
                  <c:v>0.56000000000000005</c:v>
                </c:pt>
                <c:pt idx="1">
                  <c:v>0.56000000000000005</c:v>
                </c:pt>
              </c:numCache>
            </c:numRef>
          </c:val>
          <c:extLst>
            <c:ext xmlns:c16="http://schemas.microsoft.com/office/drawing/2014/chart" uri="{C3380CC4-5D6E-409C-BE32-E72D297353CC}">
              <c16:uniqueId val="{00000008-399A-4293-BB78-EFC0E0F10571}"/>
            </c:ext>
          </c:extLst>
        </c:ser>
        <c:ser>
          <c:idx val="9"/>
          <c:order val="9"/>
          <c:tx>
            <c:strRef>
              <c:f>Sheet1!$K$1</c:f>
              <c:strCache>
                <c:ptCount val="1"/>
                <c:pt idx="0">
                  <c:v>Segment 10</c:v>
                </c:pt>
              </c:strCache>
            </c:strRef>
          </c:tx>
          <c:spPr>
            <a:solidFill>
              <a:schemeClr val="accent4">
                <a:lumMod val="60000"/>
              </a:schemeClr>
            </a:solidFill>
            <a:ln>
              <a:noFill/>
            </a:ln>
            <a:effectLst/>
          </c:spPr>
          <c:invertIfNegative val="0"/>
          <c:cat>
            <c:strRef>
              <c:f>Sheet1!$A$2:$A$3</c:f>
              <c:strCache>
                <c:ptCount val="2"/>
                <c:pt idx="0">
                  <c:v>2024E</c:v>
                </c:pt>
                <c:pt idx="1">
                  <c:v>2034F</c:v>
                </c:pt>
              </c:strCache>
            </c:strRef>
          </c:cat>
          <c:val>
            <c:numRef>
              <c:f>Sheet1!$K$2:$K$3</c:f>
              <c:numCache>
                <c:formatCode>0.0%</c:formatCode>
                <c:ptCount val="2"/>
                <c:pt idx="0">
                  <c:v>0.5</c:v>
                </c:pt>
                <c:pt idx="1">
                  <c:v>0.5</c:v>
                </c:pt>
              </c:numCache>
            </c:numRef>
          </c:val>
          <c:extLst>
            <c:ext xmlns:c16="http://schemas.microsoft.com/office/drawing/2014/chart" uri="{C3380CC4-5D6E-409C-BE32-E72D297353CC}">
              <c16:uniqueId val="{00000009-399A-4293-BB78-EFC0E0F10571}"/>
            </c:ext>
          </c:extLst>
        </c:ser>
        <c:ser>
          <c:idx val="10"/>
          <c:order val="10"/>
          <c:tx>
            <c:strRef>
              <c:f>Sheet1!$L$1</c:f>
              <c:strCache>
                <c:ptCount val="1"/>
                <c:pt idx="0">
                  <c:v>Segment 11</c:v>
                </c:pt>
              </c:strCache>
            </c:strRef>
          </c:tx>
          <c:spPr>
            <a:solidFill>
              <a:schemeClr val="accent5">
                <a:lumMod val="60000"/>
              </a:schemeClr>
            </a:solidFill>
            <a:ln>
              <a:noFill/>
            </a:ln>
            <a:effectLst/>
          </c:spPr>
          <c:invertIfNegative val="0"/>
          <c:cat>
            <c:strRef>
              <c:f>Sheet1!$A$2:$A$3</c:f>
              <c:strCache>
                <c:ptCount val="2"/>
                <c:pt idx="0">
                  <c:v>2024E</c:v>
                </c:pt>
                <c:pt idx="1">
                  <c:v>2034F</c:v>
                </c:pt>
              </c:strCache>
            </c:strRef>
          </c:cat>
          <c:val>
            <c:numRef>
              <c:f>Sheet1!$L$2:$L$3</c:f>
              <c:numCache>
                <c:formatCode>0.0%</c:formatCode>
                <c:ptCount val="2"/>
                <c:pt idx="0">
                  <c:v>0.7</c:v>
                </c:pt>
                <c:pt idx="1">
                  <c:v>0.7</c:v>
                </c:pt>
              </c:numCache>
            </c:numRef>
          </c:val>
          <c:extLst>
            <c:ext xmlns:c16="http://schemas.microsoft.com/office/drawing/2014/chart" uri="{C3380CC4-5D6E-409C-BE32-E72D297353CC}">
              <c16:uniqueId val="{0000000A-399A-4293-BB78-EFC0E0F10571}"/>
            </c:ext>
          </c:extLst>
        </c:ser>
        <c:ser>
          <c:idx val="11"/>
          <c:order val="11"/>
          <c:tx>
            <c:strRef>
              <c:f>Sheet1!$M$1</c:f>
              <c:strCache>
                <c:ptCount val="1"/>
                <c:pt idx="0">
                  <c:v>Segment 12</c:v>
                </c:pt>
              </c:strCache>
            </c:strRef>
          </c:tx>
          <c:spPr>
            <a:solidFill>
              <a:schemeClr val="accent6">
                <a:lumMod val="60000"/>
              </a:schemeClr>
            </a:solidFill>
            <a:ln>
              <a:noFill/>
            </a:ln>
            <a:effectLst/>
          </c:spPr>
          <c:invertIfNegative val="0"/>
          <c:cat>
            <c:strRef>
              <c:f>Sheet1!$A$2:$A$3</c:f>
              <c:strCache>
                <c:ptCount val="2"/>
                <c:pt idx="0">
                  <c:v>2024E</c:v>
                </c:pt>
                <c:pt idx="1">
                  <c:v>2034F</c:v>
                </c:pt>
              </c:strCache>
            </c:strRef>
          </c:cat>
          <c:val>
            <c:numRef>
              <c:f>Sheet1!$M$2:$M$3</c:f>
              <c:numCache>
                <c:formatCode>0.0%</c:formatCode>
                <c:ptCount val="2"/>
                <c:pt idx="0">
                  <c:v>0.5</c:v>
                </c:pt>
                <c:pt idx="1">
                  <c:v>0.5</c:v>
                </c:pt>
              </c:numCache>
            </c:numRef>
          </c:val>
          <c:extLst>
            <c:ext xmlns:c16="http://schemas.microsoft.com/office/drawing/2014/chart" uri="{C3380CC4-5D6E-409C-BE32-E72D297353CC}">
              <c16:uniqueId val="{0000000B-399A-4293-BB78-EFC0E0F10571}"/>
            </c:ext>
          </c:extLst>
        </c:ser>
        <c:dLbls>
          <c:showLegendKey val="0"/>
          <c:showVal val="0"/>
          <c:showCatName val="0"/>
          <c:showSerName val="0"/>
          <c:showPercent val="0"/>
          <c:showBubbleSize val="0"/>
        </c:dLbls>
        <c:gapWidth val="50"/>
        <c:overlap val="100"/>
        <c:axId val="652840624"/>
        <c:axId val="652851504"/>
      </c:barChart>
      <c:catAx>
        <c:axId val="6528406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652851504"/>
        <c:crosses val="autoZero"/>
        <c:auto val="1"/>
        <c:lblAlgn val="ctr"/>
        <c:lblOffset val="100"/>
        <c:noMultiLvlLbl val="0"/>
      </c:catAx>
      <c:valAx>
        <c:axId val="652851504"/>
        <c:scaling>
          <c:orientation val="minMax"/>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652840624"/>
        <c:crosses val="autoZero"/>
        <c:crossBetween val="between"/>
      </c:valAx>
      <c:spPr>
        <a:noFill/>
        <a:ln>
          <a:noFill/>
        </a:ln>
        <a:effectLst/>
      </c:spPr>
    </c:plotArea>
    <c:legend>
      <c:legendPos val="b"/>
      <c:layout>
        <c:manualLayout>
          <c:xMode val="edge"/>
          <c:yMode val="edge"/>
          <c:x val="0"/>
          <c:y val="0.83692483498304948"/>
          <c:w val="1"/>
          <c:h val="0.16307516501695063"/>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193926521544815"/>
          <c:y val="3.2403000316204716E-2"/>
          <c:w val="0.7016005889076895"/>
          <c:h val="0.82090372344009988"/>
        </c:manualLayout>
      </c:layout>
      <c:bubbleChart>
        <c:varyColors val="1"/>
        <c:ser>
          <c:idx val="0"/>
          <c:order val="0"/>
          <c:tx>
            <c:strRef>
              <c:f>Sheet1!$C$1</c:f>
              <c:strCache>
                <c:ptCount val="1"/>
                <c:pt idx="0">
                  <c:v>Y-Values</c:v>
                </c:pt>
              </c:strCache>
            </c:strRef>
          </c:tx>
          <c:invertIfNegative val="0"/>
          <c:dPt>
            <c:idx val="0"/>
            <c:invertIfNegative val="0"/>
            <c:bubble3D val="0"/>
            <c:spPr>
              <a:solidFill>
                <a:schemeClr val="accent1">
                  <a:alpha val="75000"/>
                </a:schemeClr>
              </a:solidFill>
              <a:ln>
                <a:noFill/>
              </a:ln>
              <a:effectLst/>
            </c:spPr>
            <c:extLst>
              <c:ext xmlns:c16="http://schemas.microsoft.com/office/drawing/2014/chart" uri="{C3380CC4-5D6E-409C-BE32-E72D297353CC}">
                <c16:uniqueId val="{00000001-DDE3-4D99-B865-1D4F4604A435}"/>
              </c:ext>
            </c:extLst>
          </c:dPt>
          <c:dPt>
            <c:idx val="1"/>
            <c:invertIfNegative val="0"/>
            <c:bubble3D val="0"/>
            <c:spPr>
              <a:solidFill>
                <a:schemeClr val="accent2">
                  <a:alpha val="75000"/>
                </a:schemeClr>
              </a:solidFill>
              <a:ln>
                <a:noFill/>
              </a:ln>
              <a:effectLst/>
            </c:spPr>
            <c:extLst>
              <c:ext xmlns:c16="http://schemas.microsoft.com/office/drawing/2014/chart" uri="{C3380CC4-5D6E-409C-BE32-E72D297353CC}">
                <c16:uniqueId val="{00000003-DDE3-4D99-B865-1D4F4604A435}"/>
              </c:ext>
            </c:extLst>
          </c:dPt>
          <c:dPt>
            <c:idx val="2"/>
            <c:invertIfNegative val="0"/>
            <c:bubble3D val="0"/>
            <c:spPr>
              <a:solidFill>
                <a:schemeClr val="accent3">
                  <a:alpha val="75000"/>
                </a:schemeClr>
              </a:solidFill>
              <a:ln>
                <a:noFill/>
              </a:ln>
              <a:effectLst/>
            </c:spPr>
            <c:extLst>
              <c:ext xmlns:c16="http://schemas.microsoft.com/office/drawing/2014/chart" uri="{C3380CC4-5D6E-409C-BE32-E72D297353CC}">
                <c16:uniqueId val="{00000005-DDE3-4D99-B865-1D4F4604A435}"/>
              </c:ext>
            </c:extLst>
          </c:dPt>
          <c:dPt>
            <c:idx val="3"/>
            <c:invertIfNegative val="0"/>
            <c:bubble3D val="0"/>
            <c:spPr>
              <a:solidFill>
                <a:schemeClr val="accent4">
                  <a:alpha val="75000"/>
                </a:schemeClr>
              </a:solidFill>
              <a:ln>
                <a:noFill/>
              </a:ln>
              <a:effectLst/>
            </c:spPr>
            <c:extLst>
              <c:ext xmlns:c16="http://schemas.microsoft.com/office/drawing/2014/chart" uri="{C3380CC4-5D6E-409C-BE32-E72D297353CC}">
                <c16:uniqueId val="{00000007-DDE3-4D99-B865-1D4F4604A435}"/>
              </c:ext>
            </c:extLst>
          </c:dPt>
          <c:dPt>
            <c:idx val="4"/>
            <c:invertIfNegative val="0"/>
            <c:bubble3D val="0"/>
            <c:spPr>
              <a:solidFill>
                <a:schemeClr val="accent5">
                  <a:alpha val="75000"/>
                </a:schemeClr>
              </a:solidFill>
              <a:ln>
                <a:noFill/>
              </a:ln>
              <a:effectLst/>
            </c:spPr>
            <c:extLst>
              <c:ext xmlns:c16="http://schemas.microsoft.com/office/drawing/2014/chart" uri="{C3380CC4-5D6E-409C-BE32-E72D297353CC}">
                <c16:uniqueId val="{00000009-DDE3-4D99-B865-1D4F4604A435}"/>
              </c:ext>
            </c:extLst>
          </c:dPt>
          <c:dPt>
            <c:idx val="5"/>
            <c:invertIfNegative val="0"/>
            <c:bubble3D val="0"/>
            <c:spPr>
              <a:solidFill>
                <a:schemeClr val="accent6">
                  <a:alpha val="75000"/>
                </a:schemeClr>
              </a:solidFill>
              <a:ln>
                <a:noFill/>
              </a:ln>
              <a:effectLst/>
            </c:spPr>
            <c:extLst>
              <c:ext xmlns:c16="http://schemas.microsoft.com/office/drawing/2014/chart" uri="{C3380CC4-5D6E-409C-BE32-E72D297353CC}">
                <c16:uniqueId val="{0000000B-DDE3-4D99-B865-1D4F4604A435}"/>
              </c:ext>
            </c:extLst>
          </c:dPt>
          <c:dPt>
            <c:idx val="6"/>
            <c:invertIfNegative val="0"/>
            <c:bubble3D val="0"/>
            <c:spPr>
              <a:solidFill>
                <a:schemeClr val="accent1">
                  <a:lumMod val="60000"/>
                  <a:alpha val="75000"/>
                </a:schemeClr>
              </a:solidFill>
              <a:ln>
                <a:noFill/>
              </a:ln>
              <a:effectLst/>
            </c:spPr>
            <c:extLst>
              <c:ext xmlns:c16="http://schemas.microsoft.com/office/drawing/2014/chart" uri="{C3380CC4-5D6E-409C-BE32-E72D297353CC}">
                <c16:uniqueId val="{0000000D-DDE3-4D99-B865-1D4F4604A435}"/>
              </c:ext>
            </c:extLst>
          </c:dPt>
          <c:dPt>
            <c:idx val="7"/>
            <c:invertIfNegative val="0"/>
            <c:bubble3D val="0"/>
            <c:spPr>
              <a:solidFill>
                <a:schemeClr val="accent2">
                  <a:lumMod val="60000"/>
                  <a:alpha val="75000"/>
                </a:schemeClr>
              </a:solidFill>
              <a:ln>
                <a:noFill/>
              </a:ln>
              <a:effectLst/>
            </c:spPr>
            <c:extLst>
              <c:ext xmlns:c16="http://schemas.microsoft.com/office/drawing/2014/chart" uri="{C3380CC4-5D6E-409C-BE32-E72D297353CC}">
                <c16:uniqueId val="{0000000F-DDE3-4D99-B865-1D4F4604A435}"/>
              </c:ext>
            </c:extLst>
          </c:dPt>
          <c:dPt>
            <c:idx val="8"/>
            <c:invertIfNegative val="0"/>
            <c:bubble3D val="0"/>
            <c:spPr>
              <a:solidFill>
                <a:schemeClr val="accent3">
                  <a:lumMod val="60000"/>
                  <a:alpha val="75000"/>
                </a:schemeClr>
              </a:solidFill>
              <a:ln>
                <a:noFill/>
              </a:ln>
              <a:effectLst/>
            </c:spPr>
            <c:extLst>
              <c:ext xmlns:c16="http://schemas.microsoft.com/office/drawing/2014/chart" uri="{C3380CC4-5D6E-409C-BE32-E72D297353CC}">
                <c16:uniqueId val="{00000011-DDE3-4D99-B865-1D4F4604A435}"/>
              </c:ext>
            </c:extLst>
          </c:dPt>
          <c:dPt>
            <c:idx val="9"/>
            <c:invertIfNegative val="0"/>
            <c:bubble3D val="0"/>
            <c:spPr>
              <a:solidFill>
                <a:schemeClr val="accent4">
                  <a:lumMod val="60000"/>
                  <a:alpha val="75000"/>
                </a:schemeClr>
              </a:solidFill>
              <a:ln>
                <a:noFill/>
              </a:ln>
              <a:effectLst/>
            </c:spPr>
            <c:extLst>
              <c:ext xmlns:c16="http://schemas.microsoft.com/office/drawing/2014/chart" uri="{C3380CC4-5D6E-409C-BE32-E72D297353CC}">
                <c16:uniqueId val="{00000013-DDE3-4D99-B865-1D4F4604A435}"/>
              </c:ext>
            </c:extLst>
          </c:dPt>
          <c:dPt>
            <c:idx val="10"/>
            <c:invertIfNegative val="0"/>
            <c:bubble3D val="0"/>
            <c:spPr>
              <a:solidFill>
                <a:schemeClr val="accent5">
                  <a:lumMod val="60000"/>
                  <a:alpha val="75000"/>
                </a:schemeClr>
              </a:solidFill>
              <a:ln>
                <a:noFill/>
              </a:ln>
              <a:effectLst/>
            </c:spPr>
            <c:extLst>
              <c:ext xmlns:c16="http://schemas.microsoft.com/office/drawing/2014/chart" uri="{C3380CC4-5D6E-409C-BE32-E72D297353CC}">
                <c16:uniqueId val="{00000015-DDE3-4D99-B865-1D4F4604A435}"/>
              </c:ext>
            </c:extLst>
          </c:dPt>
          <c:dPt>
            <c:idx val="11"/>
            <c:invertIfNegative val="0"/>
            <c:bubble3D val="0"/>
            <c:spPr>
              <a:solidFill>
                <a:schemeClr val="accent6">
                  <a:lumMod val="60000"/>
                  <a:alpha val="75000"/>
                </a:schemeClr>
              </a:solidFill>
              <a:ln>
                <a:noFill/>
              </a:ln>
              <a:effectLst/>
            </c:spPr>
            <c:extLst>
              <c:ext xmlns:c16="http://schemas.microsoft.com/office/drawing/2014/chart" uri="{C3380CC4-5D6E-409C-BE32-E72D297353CC}">
                <c16:uniqueId val="{00000017-DDE3-4D99-B865-1D4F4604A435}"/>
              </c:ext>
            </c:extLst>
          </c:dPt>
          <c:xVal>
            <c:numRef>
              <c:f>Sheet1!$B$2:$B$13</c:f>
              <c:numCache>
                <c:formatCode>_(* #,##0.0_);_(* \(#,##0.0\);_(* "-"??_);_(@_)</c:formatCode>
                <c:ptCount val="12"/>
                <c:pt idx="0">
                  <c:v>1.23845548712603</c:v>
                </c:pt>
                <c:pt idx="1">
                  <c:v>1.162113536969851</c:v>
                </c:pt>
                <c:pt idx="2">
                  <c:v>1.0302543225319352</c:v>
                </c:pt>
                <c:pt idx="3">
                  <c:v>0.84722981022347821</c:v>
                </c:pt>
                <c:pt idx="4">
                  <c:v>0.93741701489866014</c:v>
                </c:pt>
                <c:pt idx="5">
                  <c:v>0.16703967724697652</c:v>
                </c:pt>
                <c:pt idx="6">
                  <c:v>0.31547286921338047</c:v>
                </c:pt>
                <c:pt idx="7">
                  <c:v>1.889955916162251</c:v>
                </c:pt>
                <c:pt idx="8">
                  <c:v>1.3855301758593002</c:v>
                </c:pt>
                <c:pt idx="9">
                  <c:v>0.94636364010056717</c:v>
                </c:pt>
                <c:pt idx="10">
                  <c:v>0.83305684356707144</c:v>
                </c:pt>
                <c:pt idx="11">
                  <c:v>1.2471107061004996</c:v>
                </c:pt>
              </c:numCache>
            </c:numRef>
          </c:xVal>
          <c:yVal>
            <c:numRef>
              <c:f>Sheet1!$C$2:$C$13</c:f>
              <c:numCache>
                <c:formatCode>_(* #,##0.0_);_(* \(#,##0.0\);_(* "-"??_);_(@_)</c:formatCode>
                <c:ptCount val="12"/>
                <c:pt idx="0">
                  <c:v>4.2167112547800931</c:v>
                </c:pt>
                <c:pt idx="1">
                  <c:v>3.3980122714010847</c:v>
                </c:pt>
                <c:pt idx="2">
                  <c:v>1.2822227748390012</c:v>
                </c:pt>
                <c:pt idx="3">
                  <c:v>0.55922599312951515</c:v>
                </c:pt>
                <c:pt idx="4">
                  <c:v>0.51700126218067499</c:v>
                </c:pt>
                <c:pt idx="5">
                  <c:v>0.55959517973370299</c:v>
                </c:pt>
                <c:pt idx="6">
                  <c:v>0.4504058763710288</c:v>
                </c:pt>
                <c:pt idx="7">
                  <c:v>7.8479811791921719E-2</c:v>
                </c:pt>
                <c:pt idx="8">
                  <c:v>0.15695962358384338</c:v>
                </c:pt>
                <c:pt idx="9">
                  <c:v>0.26614892694651726</c:v>
                </c:pt>
                <c:pt idx="10">
                  <c:v>0.33098007581810435</c:v>
                </c:pt>
                <c:pt idx="11">
                  <c:v>0.1842569494245119</c:v>
                </c:pt>
              </c:numCache>
            </c:numRef>
          </c:yVal>
          <c:bubbleSize>
            <c:numRef>
              <c:f>Sheet1!$D$2:$D$13</c:f>
              <c:numCache>
                <c:formatCode>_(* #,##0.0_);_(* \(#,##0.0\);_(* "-"??_);_(@_)</c:formatCode>
                <c:ptCount val="12"/>
                <c:pt idx="0">
                  <c:v>4.9936297981998532</c:v>
                </c:pt>
                <c:pt idx="1">
                  <c:v>3.7099886852259316</c:v>
                </c:pt>
                <c:pt idx="2">
                  <c:v>1.2039612272959443</c:v>
                </c:pt>
                <c:pt idx="3">
                  <c:v>0.41406478695641968</c:v>
                </c:pt>
                <c:pt idx="4">
                  <c:v>0.43238574591390638</c:v>
                </c:pt>
                <c:pt idx="5">
                  <c:v>7.0054524456672831E-2</c:v>
                </c:pt>
                <c:pt idx="6">
                  <c:v>0.11008568128905516</c:v>
                </c:pt>
                <c:pt idx="7">
                  <c:v>0.16512852193358268</c:v>
                </c:pt>
                <c:pt idx="8">
                  <c:v>0.2151674679740625</c:v>
                </c:pt>
                <c:pt idx="9">
                  <c:v>0.22517525718215869</c:v>
                </c:pt>
                <c:pt idx="10">
                  <c:v>0.24018694099430174</c:v>
                </c:pt>
                <c:pt idx="11">
                  <c:v>0.22017136257811071</c:v>
                </c:pt>
              </c:numCache>
            </c:numRef>
          </c:bubbleSize>
          <c:bubble3D val="0"/>
          <c:extLst>
            <c:ext xmlns:c16="http://schemas.microsoft.com/office/drawing/2014/chart" uri="{C3380CC4-5D6E-409C-BE32-E72D297353CC}">
              <c16:uniqueId val="{00000018-DDE3-4D99-B865-1D4F4604A435}"/>
            </c:ext>
          </c:extLst>
        </c:ser>
        <c:dLbls>
          <c:showLegendKey val="0"/>
          <c:showVal val="0"/>
          <c:showCatName val="0"/>
          <c:showSerName val="0"/>
          <c:showPercent val="0"/>
          <c:showBubbleSize val="0"/>
        </c:dLbls>
        <c:bubbleScale val="100"/>
        <c:showNegBubbles val="0"/>
        <c:axId val="652852592"/>
        <c:axId val="652835184"/>
      </c:bubbleChart>
      <c:valAx>
        <c:axId val="652852592"/>
        <c:scaling>
          <c:orientation val="minMax"/>
          <c:min val="0"/>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CAGR Index (2024 – 2034)</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652835184"/>
        <c:crossesAt val="0"/>
        <c:crossBetween val="midCat"/>
      </c:valAx>
      <c:valAx>
        <c:axId val="652835184"/>
        <c:scaling>
          <c:orientation val="minMax"/>
          <c:min val="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Market Share Index (2024E)</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652852592"/>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910917822963"/>
          <c:y val="4.0225179225868664E-2"/>
          <c:w val="0.87507556483913373"/>
          <c:h val="0.65061484798850733"/>
        </c:manualLayout>
      </c:layout>
      <c:lineChart>
        <c:grouping val="standard"/>
        <c:varyColors val="0"/>
        <c:ser>
          <c:idx val="0"/>
          <c:order val="0"/>
          <c:tx>
            <c:strRef>
              <c:f>Sheet1!$B$1</c:f>
              <c:strCache>
                <c:ptCount val="1"/>
                <c:pt idx="0">
                  <c:v>Segment 1</c:v>
                </c:pt>
              </c:strCache>
            </c:strRef>
          </c:tx>
          <c:spPr>
            <a:ln w="28575" cap="rnd">
              <a:solidFill>
                <a:schemeClr val="accent1"/>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Sheet1!$B$2:$B$12</c:f>
              <c:numCache>
                <c:formatCode>0.0%</c:formatCode>
                <c:ptCount val="11"/>
                <c:pt idx="0">
                  <c:v>5.1500000000000004E-2</c:v>
                </c:pt>
                <c:pt idx="1">
                  <c:v>5.4166666666666669E-2</c:v>
                </c:pt>
                <c:pt idx="2">
                  <c:v>5.7000000000000009E-2</c:v>
                </c:pt>
                <c:pt idx="3">
                  <c:v>5.9333333333333335E-2</c:v>
                </c:pt>
                <c:pt idx="4">
                  <c:v>6.1166666666666675E-2</c:v>
                </c:pt>
                <c:pt idx="5">
                  <c:v>6.2833333333333338E-2</c:v>
                </c:pt>
                <c:pt idx="6">
                  <c:v>6.483333333333334E-2</c:v>
                </c:pt>
                <c:pt idx="7">
                  <c:v>6.7166666666666666E-2</c:v>
                </c:pt>
                <c:pt idx="8">
                  <c:v>6.8833333333333344E-2</c:v>
                </c:pt>
                <c:pt idx="9">
                  <c:v>6.9000000000000006E-2</c:v>
                </c:pt>
                <c:pt idx="10">
                  <c:v>6.7666666666666667E-2</c:v>
                </c:pt>
              </c:numCache>
            </c:numRef>
          </c:val>
          <c:smooth val="1"/>
          <c:extLst>
            <c:ext xmlns:c16="http://schemas.microsoft.com/office/drawing/2014/chart" uri="{C3380CC4-5D6E-409C-BE32-E72D297353CC}">
              <c16:uniqueId val="{00000000-D299-4B53-A6F6-A44322BE864B}"/>
            </c:ext>
          </c:extLst>
        </c:ser>
        <c:ser>
          <c:idx val="1"/>
          <c:order val="1"/>
          <c:tx>
            <c:strRef>
              <c:f>Sheet1!$C$1</c:f>
              <c:strCache>
                <c:ptCount val="1"/>
                <c:pt idx="0">
                  <c:v>Segment 2</c:v>
                </c:pt>
              </c:strCache>
            </c:strRef>
          </c:tx>
          <c:spPr>
            <a:ln w="28575" cap="rnd">
              <a:solidFill>
                <a:schemeClr val="accent2"/>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Sheet1!$C$2:$C$12</c:f>
              <c:numCache>
                <c:formatCode>0.0%</c:formatCode>
                <c:ptCount val="11"/>
                <c:pt idx="0">
                  <c:v>5.116830281459997E-2</c:v>
                </c:pt>
                <c:pt idx="1">
                  <c:v>5.1290221555306513E-2</c:v>
                </c:pt>
                <c:pt idx="2">
                  <c:v>5.1395302571985553E-2</c:v>
                </c:pt>
                <c:pt idx="3">
                  <c:v>5.151160873801626E-2</c:v>
                </c:pt>
                <c:pt idx="4">
                  <c:v>5.1620431471145853E-2</c:v>
                </c:pt>
                <c:pt idx="5">
                  <c:v>5.1734243159542857E-2</c:v>
                </c:pt>
                <c:pt idx="6">
                  <c:v>5.1844728877761585E-2</c:v>
                </c:pt>
                <c:pt idx="7">
                  <c:v>5.1961866536336859E-2</c:v>
                </c:pt>
                <c:pt idx="8">
                  <c:v>5.2074569568007774E-2</c:v>
                </c:pt>
                <c:pt idx="9">
                  <c:v>5.2190229017614928E-2</c:v>
                </c:pt>
                <c:pt idx="10">
                  <c:v>5.2299975631349596E-2</c:v>
                </c:pt>
              </c:numCache>
            </c:numRef>
          </c:val>
          <c:smooth val="1"/>
          <c:extLst>
            <c:ext xmlns:c16="http://schemas.microsoft.com/office/drawing/2014/chart" uri="{C3380CC4-5D6E-409C-BE32-E72D297353CC}">
              <c16:uniqueId val="{00000001-D299-4B53-A6F6-A44322BE864B}"/>
            </c:ext>
          </c:extLst>
        </c:ser>
        <c:ser>
          <c:idx val="2"/>
          <c:order val="2"/>
          <c:tx>
            <c:strRef>
              <c:f>Sheet1!$D$1</c:f>
              <c:strCache>
                <c:ptCount val="1"/>
                <c:pt idx="0">
                  <c:v>Segment 3</c:v>
                </c:pt>
              </c:strCache>
            </c:strRef>
          </c:tx>
          <c:spPr>
            <a:ln w="28575" cap="rnd">
              <a:solidFill>
                <a:schemeClr val="accent3"/>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Sheet1!$D$2:$D$12</c:f>
              <c:numCache>
                <c:formatCode>0.0%</c:formatCode>
                <c:ptCount val="11"/>
                <c:pt idx="0">
                  <c:v>5.0610918051856614E-2</c:v>
                </c:pt>
                <c:pt idx="1">
                  <c:v>5.1425475454332091E-2</c:v>
                </c:pt>
                <c:pt idx="2">
                  <c:v>5.2138213181498139E-2</c:v>
                </c:pt>
                <c:pt idx="3">
                  <c:v>5.274913123335475E-2</c:v>
                </c:pt>
                <c:pt idx="4">
                  <c:v>5.2850950908664179E-2</c:v>
                </c:pt>
                <c:pt idx="5">
                  <c:v>5.2647311558045314E-2</c:v>
                </c:pt>
                <c:pt idx="6">
                  <c:v>5.2036393506188702E-2</c:v>
                </c:pt>
                <c:pt idx="7">
                  <c:v>5.1323655779022655E-2</c:v>
                </c:pt>
                <c:pt idx="8">
                  <c:v>5.0610918051856614E-2</c:v>
                </c:pt>
                <c:pt idx="9">
                  <c:v>0.05</c:v>
                </c:pt>
                <c:pt idx="10">
                  <c:v>4.9490901623452828E-2</c:v>
                </c:pt>
              </c:numCache>
            </c:numRef>
          </c:val>
          <c:smooth val="1"/>
          <c:extLst>
            <c:ext xmlns:c16="http://schemas.microsoft.com/office/drawing/2014/chart" uri="{C3380CC4-5D6E-409C-BE32-E72D297353CC}">
              <c16:uniqueId val="{00000002-D299-4B53-A6F6-A44322BE864B}"/>
            </c:ext>
          </c:extLst>
        </c:ser>
        <c:ser>
          <c:idx val="3"/>
          <c:order val="3"/>
          <c:tx>
            <c:strRef>
              <c:f>Sheet1!$E$1</c:f>
              <c:strCache>
                <c:ptCount val="1"/>
                <c:pt idx="0">
                  <c:v>Segment 4</c:v>
                </c:pt>
              </c:strCache>
            </c:strRef>
          </c:tx>
          <c:spPr>
            <a:ln w="28575" cap="rnd">
              <a:solidFill>
                <a:schemeClr val="accent4"/>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Sheet1!$E$2:$E$12</c:f>
              <c:numCache>
                <c:formatCode>0.0%</c:formatCode>
                <c:ptCount val="11"/>
                <c:pt idx="0">
                  <c:v>5.3000000000000005E-2</c:v>
                </c:pt>
                <c:pt idx="1">
                  <c:v>5.5000000000000007E-2</c:v>
                </c:pt>
                <c:pt idx="2">
                  <c:v>5.7333333333333347E-2</c:v>
                </c:pt>
                <c:pt idx="3">
                  <c:v>5.9666666666666673E-2</c:v>
                </c:pt>
                <c:pt idx="4">
                  <c:v>6.3666666666666663E-2</c:v>
                </c:pt>
                <c:pt idx="5">
                  <c:v>6.8000000000000005E-2</c:v>
                </c:pt>
                <c:pt idx="6">
                  <c:v>6.7906765085174334E-2</c:v>
                </c:pt>
                <c:pt idx="7">
                  <c:v>6.6841312562606461E-2</c:v>
                </c:pt>
                <c:pt idx="8">
                  <c:v>6.5666666666666665E-2</c:v>
                </c:pt>
                <c:pt idx="9">
                  <c:v>6.4147353367754692E-2</c:v>
                </c:pt>
                <c:pt idx="10">
                  <c:v>6.0424365639398202E-2</c:v>
                </c:pt>
              </c:numCache>
            </c:numRef>
          </c:val>
          <c:smooth val="1"/>
          <c:extLst>
            <c:ext xmlns:c16="http://schemas.microsoft.com/office/drawing/2014/chart" uri="{C3380CC4-5D6E-409C-BE32-E72D297353CC}">
              <c16:uniqueId val="{00000003-D299-4B53-A6F6-A44322BE864B}"/>
            </c:ext>
          </c:extLst>
        </c:ser>
        <c:ser>
          <c:idx val="4"/>
          <c:order val="4"/>
          <c:tx>
            <c:strRef>
              <c:f>Sheet1!$F$1</c:f>
              <c:strCache>
                <c:ptCount val="1"/>
                <c:pt idx="0">
                  <c:v>Segment 5</c:v>
                </c:pt>
              </c:strCache>
            </c:strRef>
          </c:tx>
          <c:spPr>
            <a:ln w="28575" cap="rnd">
              <a:solidFill>
                <a:schemeClr val="accent5"/>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Sheet1!$F$2:$F$12</c:f>
              <c:numCache>
                <c:formatCode>0.0%</c:formatCode>
                <c:ptCount val="11"/>
                <c:pt idx="0">
                  <c:v>5.1263578005607567E-2</c:v>
                </c:pt>
                <c:pt idx="1">
                  <c:v>5.2412285283432627E-2</c:v>
                </c:pt>
                <c:pt idx="2">
                  <c:v>5.3446121833475177E-2</c:v>
                </c:pt>
                <c:pt idx="3">
                  <c:v>5.3905604744605207E-2</c:v>
                </c:pt>
                <c:pt idx="4">
                  <c:v>5.3905604744605207E-2</c:v>
                </c:pt>
                <c:pt idx="5">
                  <c:v>5.3101509650127658E-2</c:v>
                </c:pt>
                <c:pt idx="6">
                  <c:v>5.2297414555650117E-2</c:v>
                </c:pt>
                <c:pt idx="7">
                  <c:v>5.1493319461172575E-2</c:v>
                </c:pt>
                <c:pt idx="8">
                  <c:v>5.068922436669504E-2</c:v>
                </c:pt>
                <c:pt idx="9">
                  <c:v>4.9770258544434988E-2</c:v>
                </c:pt>
                <c:pt idx="10">
                  <c:v>4.8736421994392438E-2</c:v>
                </c:pt>
              </c:numCache>
            </c:numRef>
          </c:val>
          <c:smooth val="1"/>
          <c:extLst>
            <c:ext xmlns:c16="http://schemas.microsoft.com/office/drawing/2014/chart" uri="{C3380CC4-5D6E-409C-BE32-E72D297353CC}">
              <c16:uniqueId val="{00000004-D299-4B53-A6F6-A44322BE864B}"/>
            </c:ext>
          </c:extLst>
        </c:ser>
        <c:ser>
          <c:idx val="5"/>
          <c:order val="5"/>
          <c:tx>
            <c:strRef>
              <c:f>Sheet1!$G$1</c:f>
              <c:strCache>
                <c:ptCount val="1"/>
                <c:pt idx="0">
                  <c:v>Segment 6</c:v>
                </c:pt>
              </c:strCache>
            </c:strRef>
          </c:tx>
          <c:spPr>
            <a:ln w="28575" cap="rnd">
              <a:solidFill>
                <a:schemeClr val="accent6"/>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Sheet1!$G$2:$G$12</c:f>
              <c:numCache>
                <c:formatCode>0.0%</c:formatCode>
                <c:ptCount val="11"/>
                <c:pt idx="0">
                  <c:v>6.0676665024535163E-2</c:v>
                </c:pt>
                <c:pt idx="1">
                  <c:v>6.0811998029442191E-2</c:v>
                </c:pt>
                <c:pt idx="2">
                  <c:v>6.0405999014721101E-2</c:v>
                </c:pt>
                <c:pt idx="3">
                  <c:v>5.986466699509297E-2</c:v>
                </c:pt>
                <c:pt idx="4">
                  <c:v>5.9188001970557812E-2</c:v>
                </c:pt>
                <c:pt idx="5">
                  <c:v>5.8782002955836715E-2</c:v>
                </c:pt>
                <c:pt idx="6">
                  <c:v>5.7970004926394522E-2</c:v>
                </c:pt>
                <c:pt idx="7">
                  <c:v>5.7022673892045295E-2</c:v>
                </c:pt>
                <c:pt idx="8">
                  <c:v>5.6075342857696074E-2</c:v>
                </c:pt>
                <c:pt idx="9">
                  <c:v>5.5398677833160916E-2</c:v>
                </c:pt>
                <c:pt idx="10">
                  <c:v>5.472201280862575E-2</c:v>
                </c:pt>
              </c:numCache>
            </c:numRef>
          </c:val>
          <c:smooth val="1"/>
          <c:extLst>
            <c:ext xmlns:c16="http://schemas.microsoft.com/office/drawing/2014/chart" uri="{C3380CC4-5D6E-409C-BE32-E72D297353CC}">
              <c16:uniqueId val="{00000005-D299-4B53-A6F6-A44322BE864B}"/>
            </c:ext>
          </c:extLst>
        </c:ser>
        <c:ser>
          <c:idx val="6"/>
          <c:order val="6"/>
          <c:tx>
            <c:strRef>
              <c:f>Sheet1!$H$1</c:f>
              <c:strCache>
                <c:ptCount val="1"/>
                <c:pt idx="0">
                  <c:v>Segment 7</c:v>
                </c:pt>
              </c:strCache>
            </c:strRef>
          </c:tx>
          <c:spPr>
            <a:ln w="28575" cap="rnd">
              <a:solidFill>
                <a:schemeClr val="accent1">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Sheet1!$H$2:$H$12</c:f>
              <c:numCache>
                <c:formatCode>0.0%</c:formatCode>
                <c:ptCount val="11"/>
                <c:pt idx="0">
                  <c:v>4.9615229374212068E-2</c:v>
                </c:pt>
                <c:pt idx="1">
                  <c:v>4.9038073435530169E-2</c:v>
                </c:pt>
                <c:pt idx="2">
                  <c:v>4.8653302809742234E-2</c:v>
                </c:pt>
                <c:pt idx="3">
                  <c:v>4.8076146871060335E-2</c:v>
                </c:pt>
                <c:pt idx="4">
                  <c:v>4.7883761558166364E-2</c:v>
                </c:pt>
                <c:pt idx="5">
                  <c:v>4.8268532183954299E-2</c:v>
                </c:pt>
                <c:pt idx="6">
                  <c:v>4.8653302809742234E-2</c:v>
                </c:pt>
                <c:pt idx="7">
                  <c:v>4.9230458748424133E-2</c:v>
                </c:pt>
                <c:pt idx="8">
                  <c:v>5.0192385312893967E-2</c:v>
                </c:pt>
                <c:pt idx="9">
                  <c:v>5.0577155938681902E-2</c:v>
                </c:pt>
                <c:pt idx="10">
                  <c:v>5.0384770625787938E-2</c:v>
                </c:pt>
              </c:numCache>
            </c:numRef>
          </c:val>
          <c:smooth val="1"/>
          <c:extLst>
            <c:ext xmlns:c16="http://schemas.microsoft.com/office/drawing/2014/chart" uri="{C3380CC4-5D6E-409C-BE32-E72D297353CC}">
              <c16:uniqueId val="{00000006-D299-4B53-A6F6-A44322BE864B}"/>
            </c:ext>
          </c:extLst>
        </c:ser>
        <c:ser>
          <c:idx val="7"/>
          <c:order val="7"/>
          <c:tx>
            <c:strRef>
              <c:f>Sheet1!$I$1</c:f>
              <c:strCache>
                <c:ptCount val="1"/>
                <c:pt idx="0">
                  <c:v>Segment 8</c:v>
                </c:pt>
              </c:strCache>
            </c:strRef>
          </c:tx>
          <c:spPr>
            <a:ln w="28575" cap="rnd">
              <a:solidFill>
                <a:schemeClr val="accent2">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Sheet1!$I$2:$I$12</c:f>
              <c:numCache>
                <c:formatCode>0.0%</c:formatCode>
                <c:ptCount val="11"/>
                <c:pt idx="0">
                  <c:v>5.1000000000000004E-2</c:v>
                </c:pt>
                <c:pt idx="1">
                  <c:v>5.3000000000000005E-2</c:v>
                </c:pt>
                <c:pt idx="2">
                  <c:v>5.4000000000000006E-2</c:v>
                </c:pt>
                <c:pt idx="3">
                  <c:v>5.5E-2</c:v>
                </c:pt>
                <c:pt idx="4">
                  <c:v>5.5E-2</c:v>
                </c:pt>
                <c:pt idx="5">
                  <c:v>5.4000000000000006E-2</c:v>
                </c:pt>
                <c:pt idx="6">
                  <c:v>5.4000000000000006E-2</c:v>
                </c:pt>
                <c:pt idx="7">
                  <c:v>5.3000000000000005E-2</c:v>
                </c:pt>
                <c:pt idx="8">
                  <c:v>5.2000000000000005E-2</c:v>
                </c:pt>
                <c:pt idx="9">
                  <c:v>5.1000000000000004E-2</c:v>
                </c:pt>
                <c:pt idx="10">
                  <c:v>4.8000000000000001E-2</c:v>
                </c:pt>
              </c:numCache>
            </c:numRef>
          </c:val>
          <c:smooth val="1"/>
          <c:extLst>
            <c:ext xmlns:c16="http://schemas.microsoft.com/office/drawing/2014/chart" uri="{C3380CC4-5D6E-409C-BE32-E72D297353CC}">
              <c16:uniqueId val="{00000007-D299-4B53-A6F6-A44322BE864B}"/>
            </c:ext>
          </c:extLst>
        </c:ser>
        <c:ser>
          <c:idx val="8"/>
          <c:order val="8"/>
          <c:tx>
            <c:strRef>
              <c:f>Sheet1!$J$1</c:f>
              <c:strCache>
                <c:ptCount val="1"/>
                <c:pt idx="0">
                  <c:v>Segment 9</c:v>
                </c:pt>
              </c:strCache>
            </c:strRef>
          </c:tx>
          <c:spPr>
            <a:ln w="28575" cap="rnd">
              <a:solidFill>
                <a:schemeClr val="accent3">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Sheet1!$J$2:$J$12</c:f>
              <c:numCache>
                <c:formatCode>0.0%</c:formatCode>
                <c:ptCount val="11"/>
                <c:pt idx="0">
                  <c:v>4.8868290059229491E-2</c:v>
                </c:pt>
                <c:pt idx="1">
                  <c:v>4.8113816765382483E-2</c:v>
                </c:pt>
                <c:pt idx="2">
                  <c:v>4.7736580118458979E-2</c:v>
                </c:pt>
                <c:pt idx="3">
                  <c:v>4.7359343471535476E-2</c:v>
                </c:pt>
                <c:pt idx="4">
                  <c:v>4.7359343471535476E-2</c:v>
                </c:pt>
                <c:pt idx="5">
                  <c:v>4.7359343471535476E-2</c:v>
                </c:pt>
                <c:pt idx="6">
                  <c:v>4.7736580118458979E-2</c:v>
                </c:pt>
                <c:pt idx="7">
                  <c:v>4.8113816765382483E-2</c:v>
                </c:pt>
                <c:pt idx="8">
                  <c:v>4.8491053412305987E-2</c:v>
                </c:pt>
                <c:pt idx="9">
                  <c:v>4.8868290059229491E-2</c:v>
                </c:pt>
                <c:pt idx="10">
                  <c:v>4.9622763353076499E-2</c:v>
                </c:pt>
              </c:numCache>
            </c:numRef>
          </c:val>
          <c:smooth val="1"/>
          <c:extLst>
            <c:ext xmlns:c16="http://schemas.microsoft.com/office/drawing/2014/chart" uri="{C3380CC4-5D6E-409C-BE32-E72D297353CC}">
              <c16:uniqueId val="{00000008-D299-4B53-A6F6-A44322BE864B}"/>
            </c:ext>
          </c:extLst>
        </c:ser>
        <c:ser>
          <c:idx val="9"/>
          <c:order val="9"/>
          <c:tx>
            <c:strRef>
              <c:f>Sheet1!$K$1</c:f>
              <c:strCache>
                <c:ptCount val="1"/>
                <c:pt idx="0">
                  <c:v>Segment 10</c:v>
                </c:pt>
              </c:strCache>
            </c:strRef>
          </c:tx>
          <c:spPr>
            <a:ln w="28575" cap="rnd">
              <a:solidFill>
                <a:schemeClr val="accent4">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Sheet1!$K$2:$K$12</c:f>
              <c:numCache>
                <c:formatCode>0.0%</c:formatCode>
                <c:ptCount val="11"/>
                <c:pt idx="0">
                  <c:v>6.0000000000000005E-2</c:v>
                </c:pt>
                <c:pt idx="1">
                  <c:v>6.0000000000000005E-2</c:v>
                </c:pt>
                <c:pt idx="2">
                  <c:v>5.9500325887083094E-2</c:v>
                </c:pt>
                <c:pt idx="3">
                  <c:v>5.9500325887083094E-2</c:v>
                </c:pt>
                <c:pt idx="4">
                  <c:v>6.0000000000000005E-2</c:v>
                </c:pt>
                <c:pt idx="5">
                  <c:v>6.074951116937536E-2</c:v>
                </c:pt>
                <c:pt idx="6">
                  <c:v>6.074951116937536E-2</c:v>
                </c:pt>
                <c:pt idx="7">
                  <c:v>5.9750162943541546E-2</c:v>
                </c:pt>
                <c:pt idx="8">
                  <c:v>5.8750814717707739E-2</c:v>
                </c:pt>
                <c:pt idx="9">
                  <c:v>5.8500977661249287E-2</c:v>
                </c:pt>
                <c:pt idx="10">
                  <c:v>5.9250488830624642E-2</c:v>
                </c:pt>
              </c:numCache>
            </c:numRef>
          </c:val>
          <c:smooth val="1"/>
          <c:extLst>
            <c:ext xmlns:c16="http://schemas.microsoft.com/office/drawing/2014/chart" uri="{C3380CC4-5D6E-409C-BE32-E72D297353CC}">
              <c16:uniqueId val="{00000009-D299-4B53-A6F6-A44322BE864B}"/>
            </c:ext>
          </c:extLst>
        </c:ser>
        <c:ser>
          <c:idx val="10"/>
          <c:order val="10"/>
          <c:tx>
            <c:strRef>
              <c:f>Sheet1!$L$1</c:f>
              <c:strCache>
                <c:ptCount val="1"/>
                <c:pt idx="0">
                  <c:v>Segment 11</c:v>
                </c:pt>
              </c:strCache>
            </c:strRef>
          </c:tx>
          <c:spPr>
            <a:ln w="28575" cap="rnd">
              <a:solidFill>
                <a:schemeClr val="accent5">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Sheet1!$L$2:$L$12</c:f>
              <c:numCache>
                <c:formatCode>0.0%</c:formatCode>
                <c:ptCount val="11"/>
                <c:pt idx="0">
                  <c:v>5.4543972999083631E-2</c:v>
                </c:pt>
                <c:pt idx="1">
                  <c:v>5.5553744776657768E-2</c:v>
                </c:pt>
                <c:pt idx="2">
                  <c:v>5.6563516554231912E-2</c:v>
                </c:pt>
                <c:pt idx="3">
                  <c:v>5.706840244301898E-2</c:v>
                </c:pt>
                <c:pt idx="4">
                  <c:v>5.8583060109380192E-2</c:v>
                </c:pt>
                <c:pt idx="5">
                  <c:v>5.9592831886954335E-2</c:v>
                </c:pt>
                <c:pt idx="6">
                  <c:v>6.110748955331554E-2</c:v>
                </c:pt>
                <c:pt idx="7">
                  <c:v>6.1612375442102602E-2</c:v>
                </c:pt>
                <c:pt idx="8">
                  <c:v>6.2622147219676738E-2</c:v>
                </c:pt>
                <c:pt idx="9">
                  <c:v>6.3631918997250889E-2</c:v>
                </c:pt>
                <c:pt idx="10">
                  <c:v>6.4641690774825025E-2</c:v>
                </c:pt>
              </c:numCache>
            </c:numRef>
          </c:val>
          <c:smooth val="1"/>
          <c:extLst>
            <c:ext xmlns:c16="http://schemas.microsoft.com/office/drawing/2014/chart" uri="{C3380CC4-5D6E-409C-BE32-E72D297353CC}">
              <c16:uniqueId val="{0000000A-D299-4B53-A6F6-A44322BE864B}"/>
            </c:ext>
          </c:extLst>
        </c:ser>
        <c:ser>
          <c:idx val="11"/>
          <c:order val="11"/>
          <c:tx>
            <c:strRef>
              <c:f>Sheet1!$M$1</c:f>
              <c:strCache>
                <c:ptCount val="1"/>
                <c:pt idx="0">
                  <c:v>Segment 12</c:v>
                </c:pt>
              </c:strCache>
            </c:strRef>
          </c:tx>
          <c:spPr>
            <a:ln w="28575" cap="rnd">
              <a:solidFill>
                <a:schemeClr val="accent6">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Sheet1!$M$2:$M$12</c:f>
              <c:numCache>
                <c:formatCode>0.0%</c:formatCode>
                <c:ptCount val="11"/>
                <c:pt idx="0">
                  <c:v>6.1185047424354426E-2</c:v>
                </c:pt>
                <c:pt idx="1">
                  <c:v>6.2215657576482793E-2</c:v>
                </c:pt>
                <c:pt idx="2">
                  <c:v>6.3204322608910277E-2</c:v>
                </c:pt>
                <c:pt idx="3">
                  <c:v>6.4230895388622394E-2</c:v>
                </c:pt>
                <c:pt idx="4">
                  <c:v>6.5257468168334554E-2</c:v>
                </c:pt>
                <c:pt idx="5">
                  <c:v>7.1937864292673542E-2</c:v>
                </c:pt>
                <c:pt idx="6">
                  <c:v>7.306162280138255E-2</c:v>
                </c:pt>
                <c:pt idx="7">
                  <c:v>7.4185381310091544E-2</c:v>
                </c:pt>
                <c:pt idx="8">
                  <c:v>7.3988724749526127E-2</c:v>
                </c:pt>
                <c:pt idx="9">
                  <c:v>7.3264434409645862E-2</c:v>
                </c:pt>
                <c:pt idx="10">
                  <c:v>7.2860603058929149E-2</c:v>
                </c:pt>
              </c:numCache>
            </c:numRef>
          </c:val>
          <c:smooth val="1"/>
          <c:extLst>
            <c:ext xmlns:c16="http://schemas.microsoft.com/office/drawing/2014/chart" uri="{C3380CC4-5D6E-409C-BE32-E72D297353CC}">
              <c16:uniqueId val="{0000000B-D299-4B53-A6F6-A44322BE864B}"/>
            </c:ext>
          </c:extLst>
        </c:ser>
        <c:dLbls>
          <c:showLegendKey val="0"/>
          <c:showVal val="0"/>
          <c:showCatName val="0"/>
          <c:showSerName val="0"/>
          <c:showPercent val="0"/>
          <c:showBubbleSize val="0"/>
        </c:dLbls>
        <c:smooth val="0"/>
        <c:axId val="652837904"/>
        <c:axId val="652845520"/>
      </c:lineChart>
      <c:catAx>
        <c:axId val="652837904"/>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45520"/>
        <c:crossesAt val="-3.5000000000000003E-2"/>
        <c:auto val="1"/>
        <c:lblAlgn val="ctr"/>
        <c:lblOffset val="100"/>
        <c:noMultiLvlLbl val="0"/>
      </c:catAx>
      <c:valAx>
        <c:axId val="652845520"/>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652837904"/>
        <c:crosses val="autoZero"/>
        <c:crossBetween val="between"/>
      </c:valAx>
      <c:spPr>
        <a:noFill/>
        <a:ln w="25400">
          <a:noFill/>
        </a:ln>
        <a:effectLst/>
      </c:spPr>
    </c:plotArea>
    <c:legend>
      <c:legendPos val="b"/>
      <c:layout>
        <c:manualLayout>
          <c:xMode val="edge"/>
          <c:yMode val="edge"/>
          <c:x val="0"/>
          <c:y val="0.81733067057011788"/>
          <c:w val="1"/>
          <c:h val="0.1826693294298820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12700">
      <a:noFill/>
    </a:ln>
    <a:effectLst/>
  </c:spPr>
  <c:txPr>
    <a:bodyPr/>
    <a:lstStyle/>
    <a:p>
      <a:pPr>
        <a:defRPr sz="1100">
          <a:solidFill>
            <a:schemeClr val="tx1"/>
          </a:solidFill>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652847696"/>
        <c:axId val="652825936"/>
      </c:barChart>
      <c:catAx>
        <c:axId val="6528476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25936"/>
        <c:crosses val="autoZero"/>
        <c:auto val="1"/>
        <c:lblAlgn val="ctr"/>
        <c:lblOffset val="100"/>
        <c:noMultiLvlLbl val="0"/>
      </c:catAx>
      <c:valAx>
        <c:axId val="652825936"/>
        <c:scaling>
          <c:orientation val="minMax"/>
        </c:scaling>
        <c:delete val="1"/>
        <c:axPos val="l"/>
        <c:numFmt formatCode="#,##0.0" sourceLinked="1"/>
        <c:majorTickMark val="none"/>
        <c:minorTickMark val="none"/>
        <c:tickLblPos val="nextTo"/>
        <c:crossAx val="65284769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652848784"/>
        <c:axId val="652828112"/>
      </c:barChart>
      <c:catAx>
        <c:axId val="6528487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28112"/>
        <c:crosses val="autoZero"/>
        <c:auto val="1"/>
        <c:lblAlgn val="ctr"/>
        <c:lblOffset val="100"/>
        <c:noMultiLvlLbl val="0"/>
      </c:catAx>
      <c:valAx>
        <c:axId val="652828112"/>
        <c:scaling>
          <c:orientation val="minMax"/>
        </c:scaling>
        <c:delete val="1"/>
        <c:axPos val="l"/>
        <c:numFmt formatCode="#,##0.0" sourceLinked="1"/>
        <c:majorTickMark val="none"/>
        <c:minorTickMark val="none"/>
        <c:tickLblPos val="nextTo"/>
        <c:crossAx val="652848784"/>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652831920"/>
        <c:axId val="652833008"/>
      </c:barChart>
      <c:catAx>
        <c:axId val="6528319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33008"/>
        <c:crosses val="autoZero"/>
        <c:auto val="1"/>
        <c:lblAlgn val="ctr"/>
        <c:lblOffset val="100"/>
        <c:noMultiLvlLbl val="0"/>
      </c:catAx>
      <c:valAx>
        <c:axId val="652833008"/>
        <c:scaling>
          <c:orientation val="minMax"/>
        </c:scaling>
        <c:delete val="1"/>
        <c:axPos val="l"/>
        <c:numFmt formatCode="#,##0.0" sourceLinked="1"/>
        <c:majorTickMark val="none"/>
        <c:minorTickMark val="none"/>
        <c:tickLblPos val="nextTo"/>
        <c:crossAx val="652831920"/>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652833552"/>
        <c:axId val="652838992"/>
      </c:barChart>
      <c:catAx>
        <c:axId val="6528335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38992"/>
        <c:crosses val="autoZero"/>
        <c:auto val="1"/>
        <c:lblAlgn val="ctr"/>
        <c:lblOffset val="100"/>
        <c:noMultiLvlLbl val="0"/>
      </c:catAx>
      <c:valAx>
        <c:axId val="652838992"/>
        <c:scaling>
          <c:orientation val="minMax"/>
        </c:scaling>
        <c:delete val="1"/>
        <c:axPos val="l"/>
        <c:numFmt formatCode="#,##0.0" sourceLinked="1"/>
        <c:majorTickMark val="none"/>
        <c:minorTickMark val="none"/>
        <c:tickLblPos val="nextTo"/>
        <c:crossAx val="652833552"/>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652831376"/>
        <c:axId val="652841712"/>
      </c:barChart>
      <c:catAx>
        <c:axId val="6528313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41712"/>
        <c:crosses val="autoZero"/>
        <c:auto val="1"/>
        <c:lblAlgn val="ctr"/>
        <c:lblOffset val="100"/>
        <c:noMultiLvlLbl val="0"/>
      </c:catAx>
      <c:valAx>
        <c:axId val="652841712"/>
        <c:scaling>
          <c:orientation val="minMax"/>
        </c:scaling>
        <c:delete val="1"/>
        <c:axPos val="l"/>
        <c:numFmt formatCode="#,##0.0" sourceLinked="1"/>
        <c:majorTickMark val="none"/>
        <c:minorTickMark val="none"/>
        <c:tickLblPos val="nextTo"/>
        <c:crossAx val="65283137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652835728"/>
        <c:axId val="652843344"/>
      </c:barChart>
      <c:catAx>
        <c:axId val="6528357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43344"/>
        <c:crosses val="autoZero"/>
        <c:auto val="1"/>
        <c:lblAlgn val="ctr"/>
        <c:lblOffset val="100"/>
        <c:noMultiLvlLbl val="0"/>
      </c:catAx>
      <c:valAx>
        <c:axId val="652843344"/>
        <c:scaling>
          <c:orientation val="minMax"/>
        </c:scaling>
        <c:delete val="1"/>
        <c:axPos val="l"/>
        <c:numFmt formatCode="#,##0.0" sourceLinked="1"/>
        <c:majorTickMark val="none"/>
        <c:minorTickMark val="none"/>
        <c:tickLblPos val="nextTo"/>
        <c:crossAx val="652835728"/>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652839536"/>
        <c:axId val="652844976"/>
      </c:barChart>
      <c:catAx>
        <c:axId val="6528395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44976"/>
        <c:crosses val="autoZero"/>
        <c:auto val="1"/>
        <c:lblAlgn val="ctr"/>
        <c:lblOffset val="100"/>
        <c:noMultiLvlLbl val="0"/>
      </c:catAx>
      <c:valAx>
        <c:axId val="652844976"/>
        <c:scaling>
          <c:orientation val="minMax"/>
        </c:scaling>
        <c:delete val="1"/>
        <c:axPos val="l"/>
        <c:numFmt formatCode="#,##0.0" sourceLinked="1"/>
        <c:majorTickMark val="none"/>
        <c:minorTickMark val="none"/>
        <c:tickLblPos val="nextTo"/>
        <c:crossAx val="65283953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652822672"/>
        <c:axId val="652848240"/>
      </c:barChart>
      <c:catAx>
        <c:axId val="6528226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48240"/>
        <c:crosses val="autoZero"/>
        <c:auto val="1"/>
        <c:lblAlgn val="ctr"/>
        <c:lblOffset val="100"/>
        <c:noMultiLvlLbl val="0"/>
      </c:catAx>
      <c:valAx>
        <c:axId val="652848240"/>
        <c:scaling>
          <c:orientation val="minMax"/>
        </c:scaling>
        <c:delete val="1"/>
        <c:axPos val="l"/>
        <c:numFmt formatCode="#,##0.0" sourceLinked="1"/>
        <c:majorTickMark val="none"/>
        <c:minorTickMark val="none"/>
        <c:tickLblPos val="nextTo"/>
        <c:crossAx val="652822672"/>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586017868029705E-2"/>
          <c:y val="5.6718815469420834E-2"/>
          <c:w val="0.92649309691078063"/>
          <c:h val="0.72664225195762067"/>
        </c:manualLayout>
      </c:layout>
      <c:barChart>
        <c:barDir val="col"/>
        <c:grouping val="percentStacked"/>
        <c:varyColors val="0"/>
        <c:ser>
          <c:idx val="0"/>
          <c:order val="0"/>
          <c:tx>
            <c:strRef>
              <c:f>Sheet1!$B$1</c:f>
              <c:strCache>
                <c:ptCount val="1"/>
                <c:pt idx="0">
                  <c:v>Segment 1</c:v>
                </c:pt>
              </c:strCache>
            </c:strRef>
          </c:tx>
          <c:spPr>
            <a:solidFill>
              <a:schemeClr val="accent1"/>
            </a:solidFill>
            <a:ln>
              <a:noFill/>
            </a:ln>
            <a:effectLst/>
          </c:spPr>
          <c:invertIfNegative val="0"/>
          <c:cat>
            <c:strRef>
              <c:f>Sheet1!$A$2:$A$3</c:f>
              <c:strCache>
                <c:ptCount val="2"/>
                <c:pt idx="0">
                  <c:v>2024E</c:v>
                </c:pt>
                <c:pt idx="1">
                  <c:v>2034F</c:v>
                </c:pt>
              </c:strCache>
            </c:strRef>
          </c:cat>
          <c:val>
            <c:numRef>
              <c:f>Sheet1!$B$2:$B$3</c:f>
              <c:numCache>
                <c:formatCode>0.0%</c:formatCode>
                <c:ptCount val="2"/>
                <c:pt idx="0">
                  <c:v>0.5</c:v>
                </c:pt>
                <c:pt idx="1">
                  <c:v>0.5</c:v>
                </c:pt>
              </c:numCache>
            </c:numRef>
          </c:val>
          <c:extLst>
            <c:ext xmlns:c16="http://schemas.microsoft.com/office/drawing/2014/chart" uri="{C3380CC4-5D6E-409C-BE32-E72D297353CC}">
              <c16:uniqueId val="{00000000-399A-4293-BB78-EFC0E0F10571}"/>
            </c:ext>
          </c:extLst>
        </c:ser>
        <c:ser>
          <c:idx val="1"/>
          <c:order val="1"/>
          <c:tx>
            <c:strRef>
              <c:f>Sheet1!$C$1</c:f>
              <c:strCache>
                <c:ptCount val="1"/>
                <c:pt idx="0">
                  <c:v>Segment 2</c:v>
                </c:pt>
              </c:strCache>
            </c:strRef>
          </c:tx>
          <c:spPr>
            <a:solidFill>
              <a:schemeClr val="accent2"/>
            </a:solidFill>
            <a:ln>
              <a:noFill/>
            </a:ln>
            <a:effectLst/>
          </c:spPr>
          <c:invertIfNegative val="0"/>
          <c:cat>
            <c:strRef>
              <c:f>Sheet1!$A$2:$A$3</c:f>
              <c:strCache>
                <c:ptCount val="2"/>
                <c:pt idx="0">
                  <c:v>2024E</c:v>
                </c:pt>
                <c:pt idx="1">
                  <c:v>2034F</c:v>
                </c:pt>
              </c:strCache>
            </c:strRef>
          </c:cat>
          <c:val>
            <c:numRef>
              <c:f>Sheet1!$C$2:$C$3</c:f>
              <c:numCache>
                <c:formatCode>0.0%</c:formatCode>
                <c:ptCount val="2"/>
                <c:pt idx="0">
                  <c:v>0.5</c:v>
                </c:pt>
                <c:pt idx="1">
                  <c:v>0.5</c:v>
                </c:pt>
              </c:numCache>
            </c:numRef>
          </c:val>
          <c:extLst>
            <c:ext xmlns:c16="http://schemas.microsoft.com/office/drawing/2014/chart" uri="{C3380CC4-5D6E-409C-BE32-E72D297353CC}">
              <c16:uniqueId val="{00000001-399A-4293-BB78-EFC0E0F10571}"/>
            </c:ext>
          </c:extLst>
        </c:ser>
        <c:ser>
          <c:idx val="2"/>
          <c:order val="2"/>
          <c:tx>
            <c:strRef>
              <c:f>Sheet1!$D$1</c:f>
              <c:strCache>
                <c:ptCount val="1"/>
                <c:pt idx="0">
                  <c:v>Segment 3</c:v>
                </c:pt>
              </c:strCache>
            </c:strRef>
          </c:tx>
          <c:spPr>
            <a:solidFill>
              <a:schemeClr val="accent3"/>
            </a:solidFill>
            <a:ln>
              <a:noFill/>
            </a:ln>
            <a:effectLst/>
          </c:spPr>
          <c:invertIfNegative val="0"/>
          <c:cat>
            <c:strRef>
              <c:f>Sheet1!$A$2:$A$3</c:f>
              <c:strCache>
                <c:ptCount val="2"/>
                <c:pt idx="0">
                  <c:v>2024E</c:v>
                </c:pt>
                <c:pt idx="1">
                  <c:v>2034F</c:v>
                </c:pt>
              </c:strCache>
            </c:strRef>
          </c:cat>
          <c:val>
            <c:numRef>
              <c:f>Sheet1!$D$2:$D$3</c:f>
              <c:numCache>
                <c:formatCode>0.0%</c:formatCode>
                <c:ptCount val="2"/>
                <c:pt idx="0">
                  <c:v>0.1</c:v>
                </c:pt>
                <c:pt idx="1">
                  <c:v>0.1</c:v>
                </c:pt>
              </c:numCache>
            </c:numRef>
          </c:val>
          <c:extLst>
            <c:ext xmlns:c16="http://schemas.microsoft.com/office/drawing/2014/chart" uri="{C3380CC4-5D6E-409C-BE32-E72D297353CC}">
              <c16:uniqueId val="{00000002-399A-4293-BB78-EFC0E0F10571}"/>
            </c:ext>
          </c:extLst>
        </c:ser>
        <c:ser>
          <c:idx val="3"/>
          <c:order val="3"/>
          <c:tx>
            <c:strRef>
              <c:f>Sheet1!$E$1</c:f>
              <c:strCache>
                <c:ptCount val="1"/>
                <c:pt idx="0">
                  <c:v>Segment 4</c:v>
                </c:pt>
              </c:strCache>
            </c:strRef>
          </c:tx>
          <c:spPr>
            <a:solidFill>
              <a:schemeClr val="accent4"/>
            </a:solidFill>
            <a:ln>
              <a:noFill/>
            </a:ln>
            <a:effectLst/>
          </c:spPr>
          <c:invertIfNegative val="0"/>
          <c:cat>
            <c:strRef>
              <c:f>Sheet1!$A$2:$A$3</c:f>
              <c:strCache>
                <c:ptCount val="2"/>
                <c:pt idx="0">
                  <c:v>2024E</c:v>
                </c:pt>
                <c:pt idx="1">
                  <c:v>2034F</c:v>
                </c:pt>
              </c:strCache>
            </c:strRef>
          </c:cat>
          <c:val>
            <c:numRef>
              <c:f>Sheet1!$E$2:$E$3</c:f>
              <c:numCache>
                <c:formatCode>0.0%</c:formatCode>
                <c:ptCount val="2"/>
                <c:pt idx="0">
                  <c:v>0.5</c:v>
                </c:pt>
                <c:pt idx="1">
                  <c:v>0.5</c:v>
                </c:pt>
              </c:numCache>
            </c:numRef>
          </c:val>
          <c:extLst>
            <c:ext xmlns:c16="http://schemas.microsoft.com/office/drawing/2014/chart" uri="{C3380CC4-5D6E-409C-BE32-E72D297353CC}">
              <c16:uniqueId val="{00000003-399A-4293-BB78-EFC0E0F10571}"/>
            </c:ext>
          </c:extLst>
        </c:ser>
        <c:ser>
          <c:idx val="4"/>
          <c:order val="4"/>
          <c:tx>
            <c:strRef>
              <c:f>Sheet1!$F$1</c:f>
              <c:strCache>
                <c:ptCount val="1"/>
                <c:pt idx="0">
                  <c:v>Segment 5</c:v>
                </c:pt>
              </c:strCache>
            </c:strRef>
          </c:tx>
          <c:spPr>
            <a:solidFill>
              <a:schemeClr val="accent5"/>
            </a:solidFill>
            <a:ln>
              <a:noFill/>
            </a:ln>
            <a:effectLst/>
          </c:spPr>
          <c:invertIfNegative val="0"/>
          <c:cat>
            <c:strRef>
              <c:f>Sheet1!$A$2:$A$3</c:f>
              <c:strCache>
                <c:ptCount val="2"/>
                <c:pt idx="0">
                  <c:v>2024E</c:v>
                </c:pt>
                <c:pt idx="1">
                  <c:v>2034F</c:v>
                </c:pt>
              </c:strCache>
            </c:strRef>
          </c:cat>
          <c:val>
            <c:numRef>
              <c:f>Sheet1!$F$2:$F$3</c:f>
              <c:numCache>
                <c:formatCode>0.0%</c:formatCode>
                <c:ptCount val="2"/>
                <c:pt idx="0">
                  <c:v>0.25</c:v>
                </c:pt>
                <c:pt idx="1">
                  <c:v>0.25</c:v>
                </c:pt>
              </c:numCache>
            </c:numRef>
          </c:val>
          <c:extLst>
            <c:ext xmlns:c16="http://schemas.microsoft.com/office/drawing/2014/chart" uri="{C3380CC4-5D6E-409C-BE32-E72D297353CC}">
              <c16:uniqueId val="{00000004-399A-4293-BB78-EFC0E0F10571}"/>
            </c:ext>
          </c:extLst>
        </c:ser>
        <c:ser>
          <c:idx val="5"/>
          <c:order val="5"/>
          <c:tx>
            <c:strRef>
              <c:f>Sheet1!$G$1</c:f>
              <c:strCache>
                <c:ptCount val="1"/>
                <c:pt idx="0">
                  <c:v>Segment 6</c:v>
                </c:pt>
              </c:strCache>
            </c:strRef>
          </c:tx>
          <c:spPr>
            <a:solidFill>
              <a:schemeClr val="accent6"/>
            </a:solidFill>
            <a:ln>
              <a:noFill/>
            </a:ln>
            <a:effectLst/>
          </c:spPr>
          <c:invertIfNegative val="0"/>
          <c:cat>
            <c:strRef>
              <c:f>Sheet1!$A$2:$A$3</c:f>
              <c:strCache>
                <c:ptCount val="2"/>
                <c:pt idx="0">
                  <c:v>2024E</c:v>
                </c:pt>
                <c:pt idx="1">
                  <c:v>2034F</c:v>
                </c:pt>
              </c:strCache>
            </c:strRef>
          </c:cat>
          <c:val>
            <c:numRef>
              <c:f>Sheet1!$G$2:$G$3</c:f>
              <c:numCache>
                <c:formatCode>0.0%</c:formatCode>
                <c:ptCount val="2"/>
                <c:pt idx="0">
                  <c:v>0.3</c:v>
                </c:pt>
                <c:pt idx="1">
                  <c:v>0.3</c:v>
                </c:pt>
              </c:numCache>
            </c:numRef>
          </c:val>
          <c:extLst>
            <c:ext xmlns:c16="http://schemas.microsoft.com/office/drawing/2014/chart" uri="{C3380CC4-5D6E-409C-BE32-E72D297353CC}">
              <c16:uniqueId val="{00000005-399A-4293-BB78-EFC0E0F10571}"/>
            </c:ext>
          </c:extLst>
        </c:ser>
        <c:ser>
          <c:idx val="6"/>
          <c:order val="6"/>
          <c:tx>
            <c:strRef>
              <c:f>Sheet1!$H$1</c:f>
              <c:strCache>
                <c:ptCount val="1"/>
                <c:pt idx="0">
                  <c:v>Segment 7</c:v>
                </c:pt>
              </c:strCache>
            </c:strRef>
          </c:tx>
          <c:spPr>
            <a:solidFill>
              <a:schemeClr val="accent1">
                <a:lumMod val="60000"/>
              </a:schemeClr>
            </a:solidFill>
            <a:ln>
              <a:noFill/>
            </a:ln>
            <a:effectLst/>
          </c:spPr>
          <c:invertIfNegative val="0"/>
          <c:cat>
            <c:strRef>
              <c:f>Sheet1!$A$2:$A$3</c:f>
              <c:strCache>
                <c:ptCount val="2"/>
                <c:pt idx="0">
                  <c:v>2024E</c:v>
                </c:pt>
                <c:pt idx="1">
                  <c:v>2034F</c:v>
                </c:pt>
              </c:strCache>
            </c:strRef>
          </c:cat>
          <c:val>
            <c:numRef>
              <c:f>Sheet1!$H$2:$H$3</c:f>
              <c:numCache>
                <c:formatCode>0.0%</c:formatCode>
                <c:ptCount val="2"/>
                <c:pt idx="0">
                  <c:v>0.5</c:v>
                </c:pt>
                <c:pt idx="1">
                  <c:v>0.5</c:v>
                </c:pt>
              </c:numCache>
            </c:numRef>
          </c:val>
          <c:extLst>
            <c:ext xmlns:c16="http://schemas.microsoft.com/office/drawing/2014/chart" uri="{C3380CC4-5D6E-409C-BE32-E72D297353CC}">
              <c16:uniqueId val="{00000006-399A-4293-BB78-EFC0E0F10571}"/>
            </c:ext>
          </c:extLst>
        </c:ser>
        <c:ser>
          <c:idx val="7"/>
          <c:order val="7"/>
          <c:tx>
            <c:strRef>
              <c:f>Sheet1!$I$1</c:f>
              <c:strCache>
                <c:ptCount val="1"/>
                <c:pt idx="0">
                  <c:v>Segment 8</c:v>
                </c:pt>
              </c:strCache>
            </c:strRef>
          </c:tx>
          <c:spPr>
            <a:solidFill>
              <a:schemeClr val="accent2">
                <a:lumMod val="60000"/>
              </a:schemeClr>
            </a:solidFill>
            <a:ln>
              <a:noFill/>
            </a:ln>
            <a:effectLst/>
          </c:spPr>
          <c:invertIfNegative val="0"/>
          <c:cat>
            <c:strRef>
              <c:f>Sheet1!$A$2:$A$3</c:f>
              <c:strCache>
                <c:ptCount val="2"/>
                <c:pt idx="0">
                  <c:v>2024E</c:v>
                </c:pt>
                <c:pt idx="1">
                  <c:v>2034F</c:v>
                </c:pt>
              </c:strCache>
            </c:strRef>
          </c:cat>
          <c:val>
            <c:numRef>
              <c:f>Sheet1!$I$2:$I$3</c:f>
              <c:numCache>
                <c:formatCode>0.0%</c:formatCode>
                <c:ptCount val="2"/>
                <c:pt idx="0">
                  <c:v>0.5</c:v>
                </c:pt>
                <c:pt idx="1">
                  <c:v>0.5</c:v>
                </c:pt>
              </c:numCache>
            </c:numRef>
          </c:val>
          <c:extLst>
            <c:ext xmlns:c16="http://schemas.microsoft.com/office/drawing/2014/chart" uri="{C3380CC4-5D6E-409C-BE32-E72D297353CC}">
              <c16:uniqueId val="{00000007-399A-4293-BB78-EFC0E0F10571}"/>
            </c:ext>
          </c:extLst>
        </c:ser>
        <c:ser>
          <c:idx val="8"/>
          <c:order val="8"/>
          <c:tx>
            <c:strRef>
              <c:f>Sheet1!$J$1</c:f>
              <c:strCache>
                <c:ptCount val="1"/>
                <c:pt idx="0">
                  <c:v>Segment 9</c:v>
                </c:pt>
              </c:strCache>
            </c:strRef>
          </c:tx>
          <c:spPr>
            <a:solidFill>
              <a:schemeClr val="accent3">
                <a:lumMod val="60000"/>
              </a:schemeClr>
            </a:solidFill>
            <a:ln>
              <a:noFill/>
            </a:ln>
            <a:effectLst/>
          </c:spPr>
          <c:invertIfNegative val="0"/>
          <c:cat>
            <c:strRef>
              <c:f>Sheet1!$A$2:$A$3</c:f>
              <c:strCache>
                <c:ptCount val="2"/>
                <c:pt idx="0">
                  <c:v>2024E</c:v>
                </c:pt>
                <c:pt idx="1">
                  <c:v>2034F</c:v>
                </c:pt>
              </c:strCache>
            </c:strRef>
          </c:cat>
          <c:val>
            <c:numRef>
              <c:f>Sheet1!$J$2:$J$3</c:f>
              <c:numCache>
                <c:formatCode>0.0%</c:formatCode>
                <c:ptCount val="2"/>
                <c:pt idx="0">
                  <c:v>0.56000000000000005</c:v>
                </c:pt>
                <c:pt idx="1">
                  <c:v>0.56000000000000005</c:v>
                </c:pt>
              </c:numCache>
            </c:numRef>
          </c:val>
          <c:extLst>
            <c:ext xmlns:c16="http://schemas.microsoft.com/office/drawing/2014/chart" uri="{C3380CC4-5D6E-409C-BE32-E72D297353CC}">
              <c16:uniqueId val="{00000008-399A-4293-BB78-EFC0E0F10571}"/>
            </c:ext>
          </c:extLst>
        </c:ser>
        <c:ser>
          <c:idx val="9"/>
          <c:order val="9"/>
          <c:tx>
            <c:strRef>
              <c:f>Sheet1!$K$1</c:f>
              <c:strCache>
                <c:ptCount val="1"/>
                <c:pt idx="0">
                  <c:v>Segment 10</c:v>
                </c:pt>
              </c:strCache>
            </c:strRef>
          </c:tx>
          <c:spPr>
            <a:solidFill>
              <a:schemeClr val="accent4">
                <a:lumMod val="60000"/>
              </a:schemeClr>
            </a:solidFill>
            <a:ln>
              <a:noFill/>
            </a:ln>
            <a:effectLst/>
          </c:spPr>
          <c:invertIfNegative val="0"/>
          <c:cat>
            <c:strRef>
              <c:f>Sheet1!$A$2:$A$3</c:f>
              <c:strCache>
                <c:ptCount val="2"/>
                <c:pt idx="0">
                  <c:v>2024E</c:v>
                </c:pt>
                <c:pt idx="1">
                  <c:v>2034F</c:v>
                </c:pt>
              </c:strCache>
            </c:strRef>
          </c:cat>
          <c:val>
            <c:numRef>
              <c:f>Sheet1!$K$2:$K$3</c:f>
              <c:numCache>
                <c:formatCode>0.0%</c:formatCode>
                <c:ptCount val="2"/>
                <c:pt idx="0">
                  <c:v>0.5</c:v>
                </c:pt>
                <c:pt idx="1">
                  <c:v>0.5</c:v>
                </c:pt>
              </c:numCache>
            </c:numRef>
          </c:val>
          <c:extLst>
            <c:ext xmlns:c16="http://schemas.microsoft.com/office/drawing/2014/chart" uri="{C3380CC4-5D6E-409C-BE32-E72D297353CC}">
              <c16:uniqueId val="{00000009-399A-4293-BB78-EFC0E0F10571}"/>
            </c:ext>
          </c:extLst>
        </c:ser>
        <c:ser>
          <c:idx val="10"/>
          <c:order val="10"/>
          <c:tx>
            <c:strRef>
              <c:f>Sheet1!$L$1</c:f>
              <c:strCache>
                <c:ptCount val="1"/>
                <c:pt idx="0">
                  <c:v>Segment 11</c:v>
                </c:pt>
              </c:strCache>
            </c:strRef>
          </c:tx>
          <c:spPr>
            <a:solidFill>
              <a:schemeClr val="accent5">
                <a:lumMod val="60000"/>
              </a:schemeClr>
            </a:solidFill>
            <a:ln>
              <a:noFill/>
            </a:ln>
            <a:effectLst/>
          </c:spPr>
          <c:invertIfNegative val="0"/>
          <c:cat>
            <c:strRef>
              <c:f>Sheet1!$A$2:$A$3</c:f>
              <c:strCache>
                <c:ptCount val="2"/>
                <c:pt idx="0">
                  <c:v>2024E</c:v>
                </c:pt>
                <c:pt idx="1">
                  <c:v>2034F</c:v>
                </c:pt>
              </c:strCache>
            </c:strRef>
          </c:cat>
          <c:val>
            <c:numRef>
              <c:f>Sheet1!$L$2:$L$3</c:f>
              <c:numCache>
                <c:formatCode>0.0%</c:formatCode>
                <c:ptCount val="2"/>
                <c:pt idx="0">
                  <c:v>0.7</c:v>
                </c:pt>
                <c:pt idx="1">
                  <c:v>0.7</c:v>
                </c:pt>
              </c:numCache>
            </c:numRef>
          </c:val>
          <c:extLst>
            <c:ext xmlns:c16="http://schemas.microsoft.com/office/drawing/2014/chart" uri="{C3380CC4-5D6E-409C-BE32-E72D297353CC}">
              <c16:uniqueId val="{0000000A-399A-4293-BB78-EFC0E0F10571}"/>
            </c:ext>
          </c:extLst>
        </c:ser>
        <c:ser>
          <c:idx val="11"/>
          <c:order val="11"/>
          <c:tx>
            <c:strRef>
              <c:f>Sheet1!$M$1</c:f>
              <c:strCache>
                <c:ptCount val="1"/>
                <c:pt idx="0">
                  <c:v>Segment 12</c:v>
                </c:pt>
              </c:strCache>
            </c:strRef>
          </c:tx>
          <c:spPr>
            <a:solidFill>
              <a:schemeClr val="accent6">
                <a:lumMod val="60000"/>
              </a:schemeClr>
            </a:solidFill>
            <a:ln>
              <a:noFill/>
            </a:ln>
            <a:effectLst/>
          </c:spPr>
          <c:invertIfNegative val="0"/>
          <c:cat>
            <c:strRef>
              <c:f>Sheet1!$A$2:$A$3</c:f>
              <c:strCache>
                <c:ptCount val="2"/>
                <c:pt idx="0">
                  <c:v>2024E</c:v>
                </c:pt>
                <c:pt idx="1">
                  <c:v>2034F</c:v>
                </c:pt>
              </c:strCache>
            </c:strRef>
          </c:cat>
          <c:val>
            <c:numRef>
              <c:f>Sheet1!$M$2:$M$3</c:f>
              <c:numCache>
                <c:formatCode>0.0%</c:formatCode>
                <c:ptCount val="2"/>
                <c:pt idx="0">
                  <c:v>0.5</c:v>
                </c:pt>
                <c:pt idx="1">
                  <c:v>0.5</c:v>
                </c:pt>
              </c:numCache>
            </c:numRef>
          </c:val>
          <c:extLst>
            <c:ext xmlns:c16="http://schemas.microsoft.com/office/drawing/2014/chart" uri="{C3380CC4-5D6E-409C-BE32-E72D297353CC}">
              <c16:uniqueId val="{0000000B-399A-4293-BB78-EFC0E0F10571}"/>
            </c:ext>
          </c:extLst>
        </c:ser>
        <c:dLbls>
          <c:showLegendKey val="0"/>
          <c:showVal val="0"/>
          <c:showCatName val="0"/>
          <c:showSerName val="0"/>
          <c:showPercent val="0"/>
          <c:showBubbleSize val="0"/>
        </c:dLbls>
        <c:gapWidth val="50"/>
        <c:overlap val="100"/>
        <c:axId val="652829744"/>
        <c:axId val="652846064"/>
      </c:barChart>
      <c:catAx>
        <c:axId val="6528297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652846064"/>
        <c:crosses val="autoZero"/>
        <c:auto val="1"/>
        <c:lblAlgn val="ctr"/>
        <c:lblOffset val="100"/>
        <c:noMultiLvlLbl val="0"/>
      </c:catAx>
      <c:valAx>
        <c:axId val="652846064"/>
        <c:scaling>
          <c:orientation val="minMax"/>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652829744"/>
        <c:crosses val="autoZero"/>
        <c:crossBetween val="between"/>
      </c:valAx>
      <c:spPr>
        <a:noFill/>
        <a:ln>
          <a:noFill/>
        </a:ln>
        <a:effectLst/>
      </c:spPr>
    </c:plotArea>
    <c:legend>
      <c:legendPos val="b"/>
      <c:layout>
        <c:manualLayout>
          <c:xMode val="edge"/>
          <c:yMode val="edge"/>
          <c:x val="0"/>
          <c:y val="0.83692483498304948"/>
          <c:w val="1"/>
          <c:h val="0.16307516501695063"/>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193926521544815"/>
          <c:y val="3.2403000316204716E-2"/>
          <c:w val="0.7016005889076895"/>
          <c:h val="0.82090372344009988"/>
        </c:manualLayout>
      </c:layout>
      <c:bubbleChart>
        <c:varyColors val="1"/>
        <c:ser>
          <c:idx val="0"/>
          <c:order val="0"/>
          <c:tx>
            <c:strRef>
              <c:f>Sheet1!$C$1</c:f>
              <c:strCache>
                <c:ptCount val="1"/>
                <c:pt idx="0">
                  <c:v>Y-Values</c:v>
                </c:pt>
              </c:strCache>
            </c:strRef>
          </c:tx>
          <c:invertIfNegative val="0"/>
          <c:dPt>
            <c:idx val="0"/>
            <c:invertIfNegative val="0"/>
            <c:bubble3D val="0"/>
            <c:spPr>
              <a:solidFill>
                <a:schemeClr val="accent1">
                  <a:alpha val="75000"/>
                </a:schemeClr>
              </a:solidFill>
              <a:ln>
                <a:noFill/>
              </a:ln>
              <a:effectLst/>
            </c:spPr>
            <c:extLst>
              <c:ext xmlns:c16="http://schemas.microsoft.com/office/drawing/2014/chart" uri="{C3380CC4-5D6E-409C-BE32-E72D297353CC}">
                <c16:uniqueId val="{00000001-DDE3-4D99-B865-1D4F4604A435}"/>
              </c:ext>
            </c:extLst>
          </c:dPt>
          <c:dPt>
            <c:idx val="1"/>
            <c:invertIfNegative val="0"/>
            <c:bubble3D val="0"/>
            <c:spPr>
              <a:solidFill>
                <a:schemeClr val="accent2">
                  <a:alpha val="75000"/>
                </a:schemeClr>
              </a:solidFill>
              <a:ln>
                <a:noFill/>
              </a:ln>
              <a:effectLst/>
            </c:spPr>
            <c:extLst>
              <c:ext xmlns:c16="http://schemas.microsoft.com/office/drawing/2014/chart" uri="{C3380CC4-5D6E-409C-BE32-E72D297353CC}">
                <c16:uniqueId val="{00000003-DDE3-4D99-B865-1D4F4604A435}"/>
              </c:ext>
            </c:extLst>
          </c:dPt>
          <c:dPt>
            <c:idx val="2"/>
            <c:invertIfNegative val="0"/>
            <c:bubble3D val="0"/>
            <c:spPr>
              <a:solidFill>
                <a:schemeClr val="accent3">
                  <a:alpha val="75000"/>
                </a:schemeClr>
              </a:solidFill>
              <a:ln>
                <a:noFill/>
              </a:ln>
              <a:effectLst/>
            </c:spPr>
            <c:extLst>
              <c:ext xmlns:c16="http://schemas.microsoft.com/office/drawing/2014/chart" uri="{C3380CC4-5D6E-409C-BE32-E72D297353CC}">
                <c16:uniqueId val="{00000005-DDE3-4D99-B865-1D4F4604A435}"/>
              </c:ext>
            </c:extLst>
          </c:dPt>
          <c:dPt>
            <c:idx val="3"/>
            <c:invertIfNegative val="0"/>
            <c:bubble3D val="0"/>
            <c:spPr>
              <a:solidFill>
                <a:schemeClr val="accent4">
                  <a:alpha val="75000"/>
                </a:schemeClr>
              </a:solidFill>
              <a:ln>
                <a:noFill/>
              </a:ln>
              <a:effectLst/>
            </c:spPr>
            <c:extLst>
              <c:ext xmlns:c16="http://schemas.microsoft.com/office/drawing/2014/chart" uri="{C3380CC4-5D6E-409C-BE32-E72D297353CC}">
                <c16:uniqueId val="{00000007-DDE3-4D99-B865-1D4F4604A435}"/>
              </c:ext>
            </c:extLst>
          </c:dPt>
          <c:dPt>
            <c:idx val="4"/>
            <c:invertIfNegative val="0"/>
            <c:bubble3D val="0"/>
            <c:spPr>
              <a:solidFill>
                <a:schemeClr val="accent5">
                  <a:alpha val="75000"/>
                </a:schemeClr>
              </a:solidFill>
              <a:ln>
                <a:noFill/>
              </a:ln>
              <a:effectLst/>
            </c:spPr>
            <c:extLst>
              <c:ext xmlns:c16="http://schemas.microsoft.com/office/drawing/2014/chart" uri="{C3380CC4-5D6E-409C-BE32-E72D297353CC}">
                <c16:uniqueId val="{00000009-DDE3-4D99-B865-1D4F4604A435}"/>
              </c:ext>
            </c:extLst>
          </c:dPt>
          <c:dPt>
            <c:idx val="5"/>
            <c:invertIfNegative val="0"/>
            <c:bubble3D val="0"/>
            <c:spPr>
              <a:solidFill>
                <a:schemeClr val="accent6">
                  <a:alpha val="75000"/>
                </a:schemeClr>
              </a:solidFill>
              <a:ln>
                <a:noFill/>
              </a:ln>
              <a:effectLst/>
            </c:spPr>
            <c:extLst>
              <c:ext xmlns:c16="http://schemas.microsoft.com/office/drawing/2014/chart" uri="{C3380CC4-5D6E-409C-BE32-E72D297353CC}">
                <c16:uniqueId val="{0000000B-DDE3-4D99-B865-1D4F4604A435}"/>
              </c:ext>
            </c:extLst>
          </c:dPt>
          <c:dPt>
            <c:idx val="6"/>
            <c:invertIfNegative val="0"/>
            <c:bubble3D val="0"/>
            <c:spPr>
              <a:solidFill>
                <a:schemeClr val="accent1">
                  <a:lumMod val="60000"/>
                  <a:alpha val="75000"/>
                </a:schemeClr>
              </a:solidFill>
              <a:ln>
                <a:noFill/>
              </a:ln>
              <a:effectLst/>
            </c:spPr>
            <c:extLst>
              <c:ext xmlns:c16="http://schemas.microsoft.com/office/drawing/2014/chart" uri="{C3380CC4-5D6E-409C-BE32-E72D297353CC}">
                <c16:uniqueId val="{0000000D-DDE3-4D99-B865-1D4F4604A435}"/>
              </c:ext>
            </c:extLst>
          </c:dPt>
          <c:dPt>
            <c:idx val="7"/>
            <c:invertIfNegative val="0"/>
            <c:bubble3D val="0"/>
            <c:spPr>
              <a:solidFill>
                <a:schemeClr val="accent2">
                  <a:lumMod val="60000"/>
                  <a:alpha val="75000"/>
                </a:schemeClr>
              </a:solidFill>
              <a:ln>
                <a:noFill/>
              </a:ln>
              <a:effectLst/>
            </c:spPr>
            <c:extLst>
              <c:ext xmlns:c16="http://schemas.microsoft.com/office/drawing/2014/chart" uri="{C3380CC4-5D6E-409C-BE32-E72D297353CC}">
                <c16:uniqueId val="{0000000F-DDE3-4D99-B865-1D4F4604A435}"/>
              </c:ext>
            </c:extLst>
          </c:dPt>
          <c:dPt>
            <c:idx val="8"/>
            <c:invertIfNegative val="0"/>
            <c:bubble3D val="0"/>
            <c:spPr>
              <a:solidFill>
                <a:schemeClr val="accent3">
                  <a:lumMod val="60000"/>
                  <a:alpha val="75000"/>
                </a:schemeClr>
              </a:solidFill>
              <a:ln>
                <a:noFill/>
              </a:ln>
              <a:effectLst/>
            </c:spPr>
            <c:extLst>
              <c:ext xmlns:c16="http://schemas.microsoft.com/office/drawing/2014/chart" uri="{C3380CC4-5D6E-409C-BE32-E72D297353CC}">
                <c16:uniqueId val="{00000011-DDE3-4D99-B865-1D4F4604A435}"/>
              </c:ext>
            </c:extLst>
          </c:dPt>
          <c:dPt>
            <c:idx val="9"/>
            <c:invertIfNegative val="0"/>
            <c:bubble3D val="0"/>
            <c:spPr>
              <a:solidFill>
                <a:schemeClr val="accent4">
                  <a:lumMod val="60000"/>
                  <a:alpha val="75000"/>
                </a:schemeClr>
              </a:solidFill>
              <a:ln>
                <a:noFill/>
              </a:ln>
              <a:effectLst/>
            </c:spPr>
            <c:extLst>
              <c:ext xmlns:c16="http://schemas.microsoft.com/office/drawing/2014/chart" uri="{C3380CC4-5D6E-409C-BE32-E72D297353CC}">
                <c16:uniqueId val="{00000013-DDE3-4D99-B865-1D4F4604A435}"/>
              </c:ext>
            </c:extLst>
          </c:dPt>
          <c:dPt>
            <c:idx val="10"/>
            <c:invertIfNegative val="0"/>
            <c:bubble3D val="0"/>
            <c:spPr>
              <a:solidFill>
                <a:schemeClr val="accent5">
                  <a:lumMod val="60000"/>
                  <a:alpha val="75000"/>
                </a:schemeClr>
              </a:solidFill>
              <a:ln>
                <a:noFill/>
              </a:ln>
              <a:effectLst/>
            </c:spPr>
            <c:extLst>
              <c:ext xmlns:c16="http://schemas.microsoft.com/office/drawing/2014/chart" uri="{C3380CC4-5D6E-409C-BE32-E72D297353CC}">
                <c16:uniqueId val="{00000015-DDE3-4D99-B865-1D4F4604A435}"/>
              </c:ext>
            </c:extLst>
          </c:dPt>
          <c:dPt>
            <c:idx val="11"/>
            <c:invertIfNegative val="0"/>
            <c:bubble3D val="0"/>
            <c:spPr>
              <a:solidFill>
                <a:schemeClr val="accent6">
                  <a:lumMod val="60000"/>
                  <a:alpha val="75000"/>
                </a:schemeClr>
              </a:solidFill>
              <a:ln>
                <a:noFill/>
              </a:ln>
              <a:effectLst/>
            </c:spPr>
            <c:extLst>
              <c:ext xmlns:c16="http://schemas.microsoft.com/office/drawing/2014/chart" uri="{C3380CC4-5D6E-409C-BE32-E72D297353CC}">
                <c16:uniqueId val="{00000017-DDE3-4D99-B865-1D4F4604A435}"/>
              </c:ext>
            </c:extLst>
          </c:dPt>
          <c:xVal>
            <c:numRef>
              <c:f>Sheet1!$B$2:$B$13</c:f>
              <c:numCache>
                <c:formatCode>_(* #,##0.0_);_(* \(#,##0.0\);_(* "-"??_);_(@_)</c:formatCode>
                <c:ptCount val="12"/>
                <c:pt idx="0">
                  <c:v>1.23845548712603</c:v>
                </c:pt>
                <c:pt idx="1">
                  <c:v>1.162113536969851</c:v>
                </c:pt>
                <c:pt idx="2">
                  <c:v>1.0302543225319352</c:v>
                </c:pt>
                <c:pt idx="3">
                  <c:v>0.84722981022347821</c:v>
                </c:pt>
                <c:pt idx="4">
                  <c:v>0.93741701489866014</c:v>
                </c:pt>
                <c:pt idx="5">
                  <c:v>0.16703967724697652</c:v>
                </c:pt>
                <c:pt idx="6">
                  <c:v>0.31547286921338047</c:v>
                </c:pt>
                <c:pt idx="7">
                  <c:v>1.889955916162251</c:v>
                </c:pt>
                <c:pt idx="8">
                  <c:v>1.3855301758593002</c:v>
                </c:pt>
                <c:pt idx="9">
                  <c:v>0.94636364010056717</c:v>
                </c:pt>
                <c:pt idx="10">
                  <c:v>0.83305684356707144</c:v>
                </c:pt>
                <c:pt idx="11">
                  <c:v>1.2471107061004996</c:v>
                </c:pt>
              </c:numCache>
            </c:numRef>
          </c:xVal>
          <c:yVal>
            <c:numRef>
              <c:f>Sheet1!$C$2:$C$13</c:f>
              <c:numCache>
                <c:formatCode>_(* #,##0.0_);_(* \(#,##0.0\);_(* "-"??_);_(@_)</c:formatCode>
                <c:ptCount val="12"/>
                <c:pt idx="0">
                  <c:v>4.2167112547800931</c:v>
                </c:pt>
                <c:pt idx="1">
                  <c:v>3.3980122714010847</c:v>
                </c:pt>
                <c:pt idx="2">
                  <c:v>1.2822227748390012</c:v>
                </c:pt>
                <c:pt idx="3">
                  <c:v>0.55922599312951515</c:v>
                </c:pt>
                <c:pt idx="4">
                  <c:v>0.51700126218067499</c:v>
                </c:pt>
                <c:pt idx="5">
                  <c:v>0.55959517973370299</c:v>
                </c:pt>
                <c:pt idx="6">
                  <c:v>0.4504058763710288</c:v>
                </c:pt>
                <c:pt idx="7">
                  <c:v>7.8479811791921719E-2</c:v>
                </c:pt>
                <c:pt idx="8">
                  <c:v>0.15695962358384338</c:v>
                </c:pt>
                <c:pt idx="9">
                  <c:v>0.26614892694651726</c:v>
                </c:pt>
                <c:pt idx="10">
                  <c:v>0.33098007581810435</c:v>
                </c:pt>
                <c:pt idx="11">
                  <c:v>0.1842569494245119</c:v>
                </c:pt>
              </c:numCache>
            </c:numRef>
          </c:yVal>
          <c:bubbleSize>
            <c:numRef>
              <c:f>Sheet1!$D$2:$D$13</c:f>
              <c:numCache>
                <c:formatCode>_(* #,##0.0_);_(* \(#,##0.0\);_(* "-"??_);_(@_)</c:formatCode>
                <c:ptCount val="12"/>
                <c:pt idx="0">
                  <c:v>4.9936297981998532</c:v>
                </c:pt>
                <c:pt idx="1">
                  <c:v>3.7099886852259316</c:v>
                </c:pt>
                <c:pt idx="2">
                  <c:v>1.2039612272959443</c:v>
                </c:pt>
                <c:pt idx="3">
                  <c:v>0.41406478695641968</c:v>
                </c:pt>
                <c:pt idx="4">
                  <c:v>0.43238574591390638</c:v>
                </c:pt>
                <c:pt idx="5">
                  <c:v>7.0054524456672831E-2</c:v>
                </c:pt>
                <c:pt idx="6">
                  <c:v>0.11008568128905516</c:v>
                </c:pt>
                <c:pt idx="7">
                  <c:v>0.16512852193358268</c:v>
                </c:pt>
                <c:pt idx="8">
                  <c:v>0.2151674679740625</c:v>
                </c:pt>
                <c:pt idx="9">
                  <c:v>0.22517525718215869</c:v>
                </c:pt>
                <c:pt idx="10">
                  <c:v>0.24018694099430174</c:v>
                </c:pt>
                <c:pt idx="11">
                  <c:v>0.22017136257811071</c:v>
                </c:pt>
              </c:numCache>
            </c:numRef>
          </c:bubbleSize>
          <c:bubble3D val="0"/>
          <c:extLst>
            <c:ext xmlns:c16="http://schemas.microsoft.com/office/drawing/2014/chart" uri="{C3380CC4-5D6E-409C-BE32-E72D297353CC}">
              <c16:uniqueId val="{00000018-DDE3-4D99-B865-1D4F4604A435}"/>
            </c:ext>
          </c:extLst>
        </c:ser>
        <c:dLbls>
          <c:showLegendKey val="0"/>
          <c:showVal val="0"/>
          <c:showCatName val="0"/>
          <c:showSerName val="0"/>
          <c:showPercent val="0"/>
          <c:showBubbleSize val="0"/>
        </c:dLbls>
        <c:bubbleScale val="100"/>
        <c:showNegBubbles val="0"/>
        <c:axId val="652846608"/>
        <c:axId val="652824848"/>
      </c:bubbleChart>
      <c:valAx>
        <c:axId val="652846608"/>
        <c:scaling>
          <c:orientation val="minMax"/>
          <c:min val="0"/>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CAGR Index (2024 – 2034)</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652824848"/>
        <c:crossesAt val="0"/>
        <c:crossBetween val="midCat"/>
      </c:valAx>
      <c:valAx>
        <c:axId val="652824848"/>
        <c:scaling>
          <c:orientation val="minMax"/>
          <c:min val="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Market Share Index (2024E)</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652846608"/>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910917822963"/>
          <c:y val="4.0225179225868664E-2"/>
          <c:w val="0.87507556483913373"/>
          <c:h val="0.65061484798850733"/>
        </c:manualLayout>
      </c:layout>
      <c:lineChart>
        <c:grouping val="standard"/>
        <c:varyColors val="0"/>
        <c:ser>
          <c:idx val="0"/>
          <c:order val="0"/>
          <c:tx>
            <c:strRef>
              <c:f>Sheet1!$B$1</c:f>
              <c:strCache>
                <c:ptCount val="1"/>
                <c:pt idx="0">
                  <c:v>Segment 1</c:v>
                </c:pt>
              </c:strCache>
            </c:strRef>
          </c:tx>
          <c:spPr>
            <a:ln w="28575" cap="rnd">
              <a:solidFill>
                <a:schemeClr val="accent1"/>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Sheet1!$B$2:$B$12</c:f>
              <c:numCache>
                <c:formatCode>0.0%</c:formatCode>
                <c:ptCount val="11"/>
                <c:pt idx="0">
                  <c:v>5.1500000000000004E-2</c:v>
                </c:pt>
                <c:pt idx="1">
                  <c:v>5.4166666666666669E-2</c:v>
                </c:pt>
                <c:pt idx="2">
                  <c:v>5.7000000000000009E-2</c:v>
                </c:pt>
                <c:pt idx="3">
                  <c:v>5.9333333333333335E-2</c:v>
                </c:pt>
                <c:pt idx="4">
                  <c:v>6.1166666666666675E-2</c:v>
                </c:pt>
                <c:pt idx="5">
                  <c:v>6.2833333333333338E-2</c:v>
                </c:pt>
                <c:pt idx="6">
                  <c:v>6.483333333333334E-2</c:v>
                </c:pt>
                <c:pt idx="7">
                  <c:v>6.7166666666666666E-2</c:v>
                </c:pt>
                <c:pt idx="8">
                  <c:v>6.8833333333333344E-2</c:v>
                </c:pt>
                <c:pt idx="9">
                  <c:v>6.9000000000000006E-2</c:v>
                </c:pt>
                <c:pt idx="10">
                  <c:v>6.7666666666666667E-2</c:v>
                </c:pt>
              </c:numCache>
            </c:numRef>
          </c:val>
          <c:smooth val="1"/>
          <c:extLst>
            <c:ext xmlns:c16="http://schemas.microsoft.com/office/drawing/2014/chart" uri="{C3380CC4-5D6E-409C-BE32-E72D297353CC}">
              <c16:uniqueId val="{00000000-D299-4B53-A6F6-A44322BE864B}"/>
            </c:ext>
          </c:extLst>
        </c:ser>
        <c:ser>
          <c:idx val="1"/>
          <c:order val="1"/>
          <c:tx>
            <c:strRef>
              <c:f>Sheet1!$C$1</c:f>
              <c:strCache>
                <c:ptCount val="1"/>
                <c:pt idx="0">
                  <c:v>Segment 2</c:v>
                </c:pt>
              </c:strCache>
            </c:strRef>
          </c:tx>
          <c:spPr>
            <a:ln w="28575" cap="rnd">
              <a:solidFill>
                <a:schemeClr val="accent2"/>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Sheet1!$C$2:$C$12</c:f>
              <c:numCache>
                <c:formatCode>0.0%</c:formatCode>
                <c:ptCount val="11"/>
                <c:pt idx="0">
                  <c:v>5.116830281459997E-2</c:v>
                </c:pt>
                <c:pt idx="1">
                  <c:v>5.1290221555306513E-2</c:v>
                </c:pt>
                <c:pt idx="2">
                  <c:v>5.1395302571985553E-2</c:v>
                </c:pt>
                <c:pt idx="3">
                  <c:v>5.151160873801626E-2</c:v>
                </c:pt>
                <c:pt idx="4">
                  <c:v>5.1620431471145853E-2</c:v>
                </c:pt>
                <c:pt idx="5">
                  <c:v>5.1734243159542857E-2</c:v>
                </c:pt>
                <c:pt idx="6">
                  <c:v>5.1844728877761585E-2</c:v>
                </c:pt>
                <c:pt idx="7">
                  <c:v>5.1961866536336859E-2</c:v>
                </c:pt>
                <c:pt idx="8">
                  <c:v>5.2074569568007774E-2</c:v>
                </c:pt>
                <c:pt idx="9">
                  <c:v>5.2190229017614928E-2</c:v>
                </c:pt>
                <c:pt idx="10">
                  <c:v>5.2299975631349596E-2</c:v>
                </c:pt>
              </c:numCache>
            </c:numRef>
          </c:val>
          <c:smooth val="1"/>
          <c:extLst>
            <c:ext xmlns:c16="http://schemas.microsoft.com/office/drawing/2014/chart" uri="{C3380CC4-5D6E-409C-BE32-E72D297353CC}">
              <c16:uniqueId val="{00000001-D299-4B53-A6F6-A44322BE864B}"/>
            </c:ext>
          </c:extLst>
        </c:ser>
        <c:ser>
          <c:idx val="2"/>
          <c:order val="2"/>
          <c:tx>
            <c:strRef>
              <c:f>Sheet1!$D$1</c:f>
              <c:strCache>
                <c:ptCount val="1"/>
                <c:pt idx="0">
                  <c:v>Segment 3</c:v>
                </c:pt>
              </c:strCache>
            </c:strRef>
          </c:tx>
          <c:spPr>
            <a:ln w="28575" cap="rnd">
              <a:solidFill>
                <a:schemeClr val="accent3"/>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Sheet1!$D$2:$D$12</c:f>
              <c:numCache>
                <c:formatCode>0.0%</c:formatCode>
                <c:ptCount val="11"/>
                <c:pt idx="0">
                  <c:v>5.0610918051856614E-2</c:v>
                </c:pt>
                <c:pt idx="1">
                  <c:v>5.1425475454332091E-2</c:v>
                </c:pt>
                <c:pt idx="2">
                  <c:v>5.2138213181498139E-2</c:v>
                </c:pt>
                <c:pt idx="3">
                  <c:v>5.274913123335475E-2</c:v>
                </c:pt>
                <c:pt idx="4">
                  <c:v>5.2850950908664179E-2</c:v>
                </c:pt>
                <c:pt idx="5">
                  <c:v>5.2647311558045314E-2</c:v>
                </c:pt>
                <c:pt idx="6">
                  <c:v>5.2036393506188702E-2</c:v>
                </c:pt>
                <c:pt idx="7">
                  <c:v>5.1323655779022655E-2</c:v>
                </c:pt>
                <c:pt idx="8">
                  <c:v>5.0610918051856614E-2</c:v>
                </c:pt>
                <c:pt idx="9">
                  <c:v>0.05</c:v>
                </c:pt>
                <c:pt idx="10">
                  <c:v>4.9490901623452828E-2</c:v>
                </c:pt>
              </c:numCache>
            </c:numRef>
          </c:val>
          <c:smooth val="1"/>
          <c:extLst>
            <c:ext xmlns:c16="http://schemas.microsoft.com/office/drawing/2014/chart" uri="{C3380CC4-5D6E-409C-BE32-E72D297353CC}">
              <c16:uniqueId val="{00000002-D299-4B53-A6F6-A44322BE864B}"/>
            </c:ext>
          </c:extLst>
        </c:ser>
        <c:ser>
          <c:idx val="3"/>
          <c:order val="3"/>
          <c:tx>
            <c:strRef>
              <c:f>Sheet1!$E$1</c:f>
              <c:strCache>
                <c:ptCount val="1"/>
                <c:pt idx="0">
                  <c:v>Segment 4</c:v>
                </c:pt>
              </c:strCache>
            </c:strRef>
          </c:tx>
          <c:spPr>
            <a:ln w="28575" cap="rnd">
              <a:solidFill>
                <a:schemeClr val="accent4"/>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Sheet1!$E$2:$E$12</c:f>
              <c:numCache>
                <c:formatCode>0.0%</c:formatCode>
                <c:ptCount val="11"/>
                <c:pt idx="0">
                  <c:v>5.3000000000000005E-2</c:v>
                </c:pt>
                <c:pt idx="1">
                  <c:v>5.5000000000000007E-2</c:v>
                </c:pt>
                <c:pt idx="2">
                  <c:v>5.7333333333333347E-2</c:v>
                </c:pt>
                <c:pt idx="3">
                  <c:v>5.9666666666666673E-2</c:v>
                </c:pt>
                <c:pt idx="4">
                  <c:v>6.3666666666666663E-2</c:v>
                </c:pt>
                <c:pt idx="5">
                  <c:v>6.8000000000000005E-2</c:v>
                </c:pt>
                <c:pt idx="6">
                  <c:v>6.7906765085174334E-2</c:v>
                </c:pt>
                <c:pt idx="7">
                  <c:v>6.6841312562606461E-2</c:v>
                </c:pt>
                <c:pt idx="8">
                  <c:v>6.5666666666666665E-2</c:v>
                </c:pt>
                <c:pt idx="9">
                  <c:v>6.4147353367754692E-2</c:v>
                </c:pt>
                <c:pt idx="10">
                  <c:v>6.0424365639398202E-2</c:v>
                </c:pt>
              </c:numCache>
            </c:numRef>
          </c:val>
          <c:smooth val="1"/>
          <c:extLst>
            <c:ext xmlns:c16="http://schemas.microsoft.com/office/drawing/2014/chart" uri="{C3380CC4-5D6E-409C-BE32-E72D297353CC}">
              <c16:uniqueId val="{00000003-D299-4B53-A6F6-A44322BE864B}"/>
            </c:ext>
          </c:extLst>
        </c:ser>
        <c:ser>
          <c:idx val="4"/>
          <c:order val="4"/>
          <c:tx>
            <c:strRef>
              <c:f>Sheet1!$F$1</c:f>
              <c:strCache>
                <c:ptCount val="1"/>
                <c:pt idx="0">
                  <c:v>Segment 5</c:v>
                </c:pt>
              </c:strCache>
            </c:strRef>
          </c:tx>
          <c:spPr>
            <a:ln w="28575" cap="rnd">
              <a:solidFill>
                <a:schemeClr val="accent5"/>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Sheet1!$F$2:$F$12</c:f>
              <c:numCache>
                <c:formatCode>0.0%</c:formatCode>
                <c:ptCount val="11"/>
                <c:pt idx="0">
                  <c:v>5.1263578005607567E-2</c:v>
                </c:pt>
                <c:pt idx="1">
                  <c:v>5.2412285283432627E-2</c:v>
                </c:pt>
                <c:pt idx="2">
                  <c:v>5.3446121833475177E-2</c:v>
                </c:pt>
                <c:pt idx="3">
                  <c:v>5.3905604744605207E-2</c:v>
                </c:pt>
                <c:pt idx="4">
                  <c:v>5.3905604744605207E-2</c:v>
                </c:pt>
                <c:pt idx="5">
                  <c:v>5.3101509650127658E-2</c:v>
                </c:pt>
                <c:pt idx="6">
                  <c:v>5.2297414555650117E-2</c:v>
                </c:pt>
                <c:pt idx="7">
                  <c:v>5.1493319461172575E-2</c:v>
                </c:pt>
                <c:pt idx="8">
                  <c:v>5.068922436669504E-2</c:v>
                </c:pt>
                <c:pt idx="9">
                  <c:v>4.9770258544434988E-2</c:v>
                </c:pt>
                <c:pt idx="10">
                  <c:v>4.8736421994392438E-2</c:v>
                </c:pt>
              </c:numCache>
            </c:numRef>
          </c:val>
          <c:smooth val="1"/>
          <c:extLst>
            <c:ext xmlns:c16="http://schemas.microsoft.com/office/drawing/2014/chart" uri="{C3380CC4-5D6E-409C-BE32-E72D297353CC}">
              <c16:uniqueId val="{00000004-D299-4B53-A6F6-A44322BE864B}"/>
            </c:ext>
          </c:extLst>
        </c:ser>
        <c:ser>
          <c:idx val="5"/>
          <c:order val="5"/>
          <c:tx>
            <c:strRef>
              <c:f>Sheet1!$G$1</c:f>
              <c:strCache>
                <c:ptCount val="1"/>
                <c:pt idx="0">
                  <c:v>Segment 6</c:v>
                </c:pt>
              </c:strCache>
            </c:strRef>
          </c:tx>
          <c:spPr>
            <a:ln w="28575" cap="rnd">
              <a:solidFill>
                <a:schemeClr val="accent6"/>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Sheet1!$G$2:$G$12</c:f>
              <c:numCache>
                <c:formatCode>0.0%</c:formatCode>
                <c:ptCount val="11"/>
                <c:pt idx="0">
                  <c:v>6.0676665024535163E-2</c:v>
                </c:pt>
                <c:pt idx="1">
                  <c:v>6.0811998029442191E-2</c:v>
                </c:pt>
                <c:pt idx="2">
                  <c:v>6.0405999014721101E-2</c:v>
                </c:pt>
                <c:pt idx="3">
                  <c:v>5.986466699509297E-2</c:v>
                </c:pt>
                <c:pt idx="4">
                  <c:v>5.9188001970557812E-2</c:v>
                </c:pt>
                <c:pt idx="5">
                  <c:v>5.8782002955836715E-2</c:v>
                </c:pt>
                <c:pt idx="6">
                  <c:v>5.7970004926394522E-2</c:v>
                </c:pt>
                <c:pt idx="7">
                  <c:v>5.7022673892045295E-2</c:v>
                </c:pt>
                <c:pt idx="8">
                  <c:v>5.6075342857696074E-2</c:v>
                </c:pt>
                <c:pt idx="9">
                  <c:v>5.5398677833160916E-2</c:v>
                </c:pt>
                <c:pt idx="10">
                  <c:v>5.472201280862575E-2</c:v>
                </c:pt>
              </c:numCache>
            </c:numRef>
          </c:val>
          <c:smooth val="1"/>
          <c:extLst>
            <c:ext xmlns:c16="http://schemas.microsoft.com/office/drawing/2014/chart" uri="{C3380CC4-5D6E-409C-BE32-E72D297353CC}">
              <c16:uniqueId val="{00000005-D299-4B53-A6F6-A44322BE864B}"/>
            </c:ext>
          </c:extLst>
        </c:ser>
        <c:ser>
          <c:idx val="6"/>
          <c:order val="6"/>
          <c:tx>
            <c:strRef>
              <c:f>Sheet1!$H$1</c:f>
              <c:strCache>
                <c:ptCount val="1"/>
                <c:pt idx="0">
                  <c:v>Segment 7</c:v>
                </c:pt>
              </c:strCache>
            </c:strRef>
          </c:tx>
          <c:spPr>
            <a:ln w="28575" cap="rnd">
              <a:solidFill>
                <a:schemeClr val="accent1">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Sheet1!$H$2:$H$12</c:f>
              <c:numCache>
                <c:formatCode>0.0%</c:formatCode>
                <c:ptCount val="11"/>
                <c:pt idx="0">
                  <c:v>4.9615229374212068E-2</c:v>
                </c:pt>
                <c:pt idx="1">
                  <c:v>4.9038073435530169E-2</c:v>
                </c:pt>
                <c:pt idx="2">
                  <c:v>4.8653302809742234E-2</c:v>
                </c:pt>
                <c:pt idx="3">
                  <c:v>4.8076146871060335E-2</c:v>
                </c:pt>
                <c:pt idx="4">
                  <c:v>4.7883761558166364E-2</c:v>
                </c:pt>
                <c:pt idx="5">
                  <c:v>4.8268532183954299E-2</c:v>
                </c:pt>
                <c:pt idx="6">
                  <c:v>4.8653302809742234E-2</c:v>
                </c:pt>
                <c:pt idx="7">
                  <c:v>4.9230458748424133E-2</c:v>
                </c:pt>
                <c:pt idx="8">
                  <c:v>5.0192385312893967E-2</c:v>
                </c:pt>
                <c:pt idx="9">
                  <c:v>5.0577155938681902E-2</c:v>
                </c:pt>
                <c:pt idx="10">
                  <c:v>5.0384770625787938E-2</c:v>
                </c:pt>
              </c:numCache>
            </c:numRef>
          </c:val>
          <c:smooth val="1"/>
          <c:extLst>
            <c:ext xmlns:c16="http://schemas.microsoft.com/office/drawing/2014/chart" uri="{C3380CC4-5D6E-409C-BE32-E72D297353CC}">
              <c16:uniqueId val="{00000006-D299-4B53-A6F6-A44322BE864B}"/>
            </c:ext>
          </c:extLst>
        </c:ser>
        <c:ser>
          <c:idx val="7"/>
          <c:order val="7"/>
          <c:tx>
            <c:strRef>
              <c:f>Sheet1!$I$1</c:f>
              <c:strCache>
                <c:ptCount val="1"/>
                <c:pt idx="0">
                  <c:v>Segment 8</c:v>
                </c:pt>
              </c:strCache>
            </c:strRef>
          </c:tx>
          <c:spPr>
            <a:ln w="28575" cap="rnd">
              <a:solidFill>
                <a:schemeClr val="accent2">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Sheet1!$I$2:$I$12</c:f>
              <c:numCache>
                <c:formatCode>0.0%</c:formatCode>
                <c:ptCount val="11"/>
                <c:pt idx="0">
                  <c:v>5.1000000000000004E-2</c:v>
                </c:pt>
                <c:pt idx="1">
                  <c:v>5.3000000000000005E-2</c:v>
                </c:pt>
                <c:pt idx="2">
                  <c:v>5.4000000000000006E-2</c:v>
                </c:pt>
                <c:pt idx="3">
                  <c:v>5.5E-2</c:v>
                </c:pt>
                <c:pt idx="4">
                  <c:v>5.5E-2</c:v>
                </c:pt>
                <c:pt idx="5">
                  <c:v>5.4000000000000006E-2</c:v>
                </c:pt>
                <c:pt idx="6">
                  <c:v>5.4000000000000006E-2</c:v>
                </c:pt>
                <c:pt idx="7">
                  <c:v>5.3000000000000005E-2</c:v>
                </c:pt>
                <c:pt idx="8">
                  <c:v>5.2000000000000005E-2</c:v>
                </c:pt>
                <c:pt idx="9">
                  <c:v>5.1000000000000004E-2</c:v>
                </c:pt>
                <c:pt idx="10">
                  <c:v>4.8000000000000001E-2</c:v>
                </c:pt>
              </c:numCache>
            </c:numRef>
          </c:val>
          <c:smooth val="1"/>
          <c:extLst>
            <c:ext xmlns:c16="http://schemas.microsoft.com/office/drawing/2014/chart" uri="{C3380CC4-5D6E-409C-BE32-E72D297353CC}">
              <c16:uniqueId val="{00000007-D299-4B53-A6F6-A44322BE864B}"/>
            </c:ext>
          </c:extLst>
        </c:ser>
        <c:ser>
          <c:idx val="8"/>
          <c:order val="8"/>
          <c:tx>
            <c:strRef>
              <c:f>Sheet1!$J$1</c:f>
              <c:strCache>
                <c:ptCount val="1"/>
                <c:pt idx="0">
                  <c:v>Segment 9</c:v>
                </c:pt>
              </c:strCache>
            </c:strRef>
          </c:tx>
          <c:spPr>
            <a:ln w="28575" cap="rnd">
              <a:solidFill>
                <a:schemeClr val="accent3">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Sheet1!$J$2:$J$12</c:f>
              <c:numCache>
                <c:formatCode>0.0%</c:formatCode>
                <c:ptCount val="11"/>
                <c:pt idx="0">
                  <c:v>4.8868290059229491E-2</c:v>
                </c:pt>
                <c:pt idx="1">
                  <c:v>4.8113816765382483E-2</c:v>
                </c:pt>
                <c:pt idx="2">
                  <c:v>4.7736580118458979E-2</c:v>
                </c:pt>
                <c:pt idx="3">
                  <c:v>4.7359343471535476E-2</c:v>
                </c:pt>
                <c:pt idx="4">
                  <c:v>4.7359343471535476E-2</c:v>
                </c:pt>
                <c:pt idx="5">
                  <c:v>4.7359343471535476E-2</c:v>
                </c:pt>
                <c:pt idx="6">
                  <c:v>4.7736580118458979E-2</c:v>
                </c:pt>
                <c:pt idx="7">
                  <c:v>4.8113816765382483E-2</c:v>
                </c:pt>
                <c:pt idx="8">
                  <c:v>4.8491053412305987E-2</c:v>
                </c:pt>
                <c:pt idx="9">
                  <c:v>4.8868290059229491E-2</c:v>
                </c:pt>
                <c:pt idx="10">
                  <c:v>4.9622763353076499E-2</c:v>
                </c:pt>
              </c:numCache>
            </c:numRef>
          </c:val>
          <c:smooth val="1"/>
          <c:extLst>
            <c:ext xmlns:c16="http://schemas.microsoft.com/office/drawing/2014/chart" uri="{C3380CC4-5D6E-409C-BE32-E72D297353CC}">
              <c16:uniqueId val="{00000008-D299-4B53-A6F6-A44322BE864B}"/>
            </c:ext>
          </c:extLst>
        </c:ser>
        <c:ser>
          <c:idx val="9"/>
          <c:order val="9"/>
          <c:tx>
            <c:strRef>
              <c:f>Sheet1!$K$1</c:f>
              <c:strCache>
                <c:ptCount val="1"/>
                <c:pt idx="0">
                  <c:v>Segment 10</c:v>
                </c:pt>
              </c:strCache>
            </c:strRef>
          </c:tx>
          <c:spPr>
            <a:ln w="28575" cap="rnd">
              <a:solidFill>
                <a:schemeClr val="accent4">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Sheet1!$K$2:$K$12</c:f>
              <c:numCache>
                <c:formatCode>0.0%</c:formatCode>
                <c:ptCount val="11"/>
                <c:pt idx="0">
                  <c:v>6.0000000000000005E-2</c:v>
                </c:pt>
                <c:pt idx="1">
                  <c:v>6.0000000000000005E-2</c:v>
                </c:pt>
                <c:pt idx="2">
                  <c:v>5.9500325887083094E-2</c:v>
                </c:pt>
                <c:pt idx="3">
                  <c:v>5.9500325887083094E-2</c:v>
                </c:pt>
                <c:pt idx="4">
                  <c:v>6.0000000000000005E-2</c:v>
                </c:pt>
                <c:pt idx="5">
                  <c:v>6.074951116937536E-2</c:v>
                </c:pt>
                <c:pt idx="6">
                  <c:v>6.074951116937536E-2</c:v>
                </c:pt>
                <c:pt idx="7">
                  <c:v>5.9750162943541546E-2</c:v>
                </c:pt>
                <c:pt idx="8">
                  <c:v>5.8750814717707739E-2</c:v>
                </c:pt>
                <c:pt idx="9">
                  <c:v>5.8500977661249287E-2</c:v>
                </c:pt>
                <c:pt idx="10">
                  <c:v>5.9250488830624642E-2</c:v>
                </c:pt>
              </c:numCache>
            </c:numRef>
          </c:val>
          <c:smooth val="1"/>
          <c:extLst>
            <c:ext xmlns:c16="http://schemas.microsoft.com/office/drawing/2014/chart" uri="{C3380CC4-5D6E-409C-BE32-E72D297353CC}">
              <c16:uniqueId val="{00000009-D299-4B53-A6F6-A44322BE864B}"/>
            </c:ext>
          </c:extLst>
        </c:ser>
        <c:ser>
          <c:idx val="10"/>
          <c:order val="10"/>
          <c:tx>
            <c:strRef>
              <c:f>Sheet1!$L$1</c:f>
              <c:strCache>
                <c:ptCount val="1"/>
                <c:pt idx="0">
                  <c:v>Segment 11</c:v>
                </c:pt>
              </c:strCache>
            </c:strRef>
          </c:tx>
          <c:spPr>
            <a:ln w="28575" cap="rnd">
              <a:solidFill>
                <a:schemeClr val="accent5">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Sheet1!$L$2:$L$12</c:f>
              <c:numCache>
                <c:formatCode>0.0%</c:formatCode>
                <c:ptCount val="11"/>
                <c:pt idx="0">
                  <c:v>5.4543972999083631E-2</c:v>
                </c:pt>
                <c:pt idx="1">
                  <c:v>5.5553744776657768E-2</c:v>
                </c:pt>
                <c:pt idx="2">
                  <c:v>5.6563516554231912E-2</c:v>
                </c:pt>
                <c:pt idx="3">
                  <c:v>5.706840244301898E-2</c:v>
                </c:pt>
                <c:pt idx="4">
                  <c:v>5.8583060109380192E-2</c:v>
                </c:pt>
                <c:pt idx="5">
                  <c:v>5.9592831886954335E-2</c:v>
                </c:pt>
                <c:pt idx="6">
                  <c:v>6.110748955331554E-2</c:v>
                </c:pt>
                <c:pt idx="7">
                  <c:v>6.1612375442102602E-2</c:v>
                </c:pt>
                <c:pt idx="8">
                  <c:v>6.2622147219676738E-2</c:v>
                </c:pt>
                <c:pt idx="9">
                  <c:v>6.3631918997250889E-2</c:v>
                </c:pt>
                <c:pt idx="10">
                  <c:v>6.4641690774825025E-2</c:v>
                </c:pt>
              </c:numCache>
            </c:numRef>
          </c:val>
          <c:smooth val="1"/>
          <c:extLst>
            <c:ext xmlns:c16="http://schemas.microsoft.com/office/drawing/2014/chart" uri="{C3380CC4-5D6E-409C-BE32-E72D297353CC}">
              <c16:uniqueId val="{0000000A-D299-4B53-A6F6-A44322BE864B}"/>
            </c:ext>
          </c:extLst>
        </c:ser>
        <c:ser>
          <c:idx val="11"/>
          <c:order val="11"/>
          <c:tx>
            <c:strRef>
              <c:f>Sheet1!$M$1</c:f>
              <c:strCache>
                <c:ptCount val="1"/>
                <c:pt idx="0">
                  <c:v>Segment 12</c:v>
                </c:pt>
              </c:strCache>
            </c:strRef>
          </c:tx>
          <c:spPr>
            <a:ln w="28575" cap="rnd">
              <a:solidFill>
                <a:schemeClr val="accent6">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Sheet1!$M$2:$M$12</c:f>
              <c:numCache>
                <c:formatCode>0.0%</c:formatCode>
                <c:ptCount val="11"/>
                <c:pt idx="0">
                  <c:v>6.1185047424354426E-2</c:v>
                </c:pt>
                <c:pt idx="1">
                  <c:v>6.2215657576482793E-2</c:v>
                </c:pt>
                <c:pt idx="2">
                  <c:v>6.3204322608910277E-2</c:v>
                </c:pt>
                <c:pt idx="3">
                  <c:v>6.4230895388622394E-2</c:v>
                </c:pt>
                <c:pt idx="4">
                  <c:v>6.5257468168334554E-2</c:v>
                </c:pt>
                <c:pt idx="5">
                  <c:v>7.1937864292673542E-2</c:v>
                </c:pt>
                <c:pt idx="6">
                  <c:v>7.306162280138255E-2</c:v>
                </c:pt>
                <c:pt idx="7">
                  <c:v>7.4185381310091544E-2</c:v>
                </c:pt>
                <c:pt idx="8">
                  <c:v>7.3988724749526127E-2</c:v>
                </c:pt>
                <c:pt idx="9">
                  <c:v>7.3264434409645862E-2</c:v>
                </c:pt>
                <c:pt idx="10">
                  <c:v>7.2860603058929149E-2</c:v>
                </c:pt>
              </c:numCache>
            </c:numRef>
          </c:val>
          <c:smooth val="1"/>
          <c:extLst>
            <c:ext xmlns:c16="http://schemas.microsoft.com/office/drawing/2014/chart" uri="{C3380CC4-5D6E-409C-BE32-E72D297353CC}">
              <c16:uniqueId val="{0000000B-D299-4B53-A6F6-A44322BE864B}"/>
            </c:ext>
          </c:extLst>
        </c:ser>
        <c:dLbls>
          <c:showLegendKey val="0"/>
          <c:showVal val="0"/>
          <c:showCatName val="0"/>
          <c:showSerName val="0"/>
          <c:showPercent val="0"/>
          <c:showBubbleSize val="0"/>
        </c:dLbls>
        <c:smooth val="0"/>
        <c:axId val="652849328"/>
        <c:axId val="652840080"/>
      </c:lineChart>
      <c:catAx>
        <c:axId val="652849328"/>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40080"/>
        <c:crossesAt val="-3.5000000000000003E-2"/>
        <c:auto val="1"/>
        <c:lblAlgn val="ctr"/>
        <c:lblOffset val="100"/>
        <c:noMultiLvlLbl val="0"/>
      </c:catAx>
      <c:valAx>
        <c:axId val="652840080"/>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652849328"/>
        <c:crosses val="autoZero"/>
        <c:crossBetween val="between"/>
      </c:valAx>
      <c:spPr>
        <a:noFill/>
        <a:ln w="25400">
          <a:noFill/>
        </a:ln>
        <a:effectLst/>
      </c:spPr>
    </c:plotArea>
    <c:legend>
      <c:legendPos val="b"/>
      <c:layout>
        <c:manualLayout>
          <c:xMode val="edge"/>
          <c:yMode val="edge"/>
          <c:x val="0"/>
          <c:y val="0.81733067057011788"/>
          <c:w val="1"/>
          <c:h val="0.1826693294298820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12700">
      <a:noFill/>
    </a:ln>
    <a:effectLst/>
  </c:spPr>
  <c:txPr>
    <a:bodyPr/>
    <a:lstStyle/>
    <a:p>
      <a:pPr>
        <a:defRPr sz="1100">
          <a:solidFill>
            <a:schemeClr val="tx1"/>
          </a:solidFill>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652849872"/>
        <c:axId val="652825392"/>
      </c:barChart>
      <c:catAx>
        <c:axId val="6528498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25392"/>
        <c:crosses val="autoZero"/>
        <c:auto val="1"/>
        <c:lblAlgn val="ctr"/>
        <c:lblOffset val="100"/>
        <c:noMultiLvlLbl val="0"/>
      </c:catAx>
      <c:valAx>
        <c:axId val="652825392"/>
        <c:scaling>
          <c:orientation val="minMax"/>
        </c:scaling>
        <c:delete val="1"/>
        <c:axPos val="l"/>
        <c:numFmt formatCode="#,##0.0" sourceLinked="1"/>
        <c:majorTickMark val="none"/>
        <c:minorTickMark val="none"/>
        <c:tickLblPos val="nextTo"/>
        <c:crossAx val="652849872"/>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652850416"/>
        <c:axId val="652850960"/>
      </c:barChart>
      <c:catAx>
        <c:axId val="6528504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50960"/>
        <c:crosses val="autoZero"/>
        <c:auto val="1"/>
        <c:lblAlgn val="ctr"/>
        <c:lblOffset val="100"/>
        <c:noMultiLvlLbl val="0"/>
      </c:catAx>
      <c:valAx>
        <c:axId val="652850960"/>
        <c:scaling>
          <c:orientation val="minMax"/>
        </c:scaling>
        <c:delete val="1"/>
        <c:axPos val="l"/>
        <c:numFmt formatCode="#,##0.0" sourceLinked="1"/>
        <c:majorTickMark val="none"/>
        <c:minorTickMark val="none"/>
        <c:tickLblPos val="nextTo"/>
        <c:crossAx val="65285041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652852048"/>
        <c:axId val="652841168"/>
      </c:barChart>
      <c:catAx>
        <c:axId val="6528520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41168"/>
        <c:crosses val="autoZero"/>
        <c:auto val="1"/>
        <c:lblAlgn val="ctr"/>
        <c:lblOffset val="100"/>
        <c:noMultiLvlLbl val="0"/>
      </c:catAx>
      <c:valAx>
        <c:axId val="652841168"/>
        <c:scaling>
          <c:orientation val="minMax"/>
        </c:scaling>
        <c:delete val="1"/>
        <c:axPos val="l"/>
        <c:numFmt formatCode="#,##0.0" sourceLinked="1"/>
        <c:majorTickMark val="none"/>
        <c:minorTickMark val="none"/>
        <c:tickLblPos val="nextTo"/>
        <c:crossAx val="652852048"/>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652826480"/>
        <c:axId val="652842256"/>
      </c:barChart>
      <c:catAx>
        <c:axId val="65282648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42256"/>
        <c:crosses val="autoZero"/>
        <c:auto val="1"/>
        <c:lblAlgn val="ctr"/>
        <c:lblOffset val="100"/>
        <c:noMultiLvlLbl val="0"/>
      </c:catAx>
      <c:valAx>
        <c:axId val="652842256"/>
        <c:scaling>
          <c:orientation val="minMax"/>
        </c:scaling>
        <c:delete val="1"/>
        <c:axPos val="l"/>
        <c:numFmt formatCode="#,##0.0" sourceLinked="1"/>
        <c:majorTickMark val="none"/>
        <c:minorTickMark val="none"/>
        <c:tickLblPos val="nextTo"/>
        <c:crossAx val="652826480"/>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652827024"/>
        <c:axId val="652827568"/>
      </c:barChart>
      <c:catAx>
        <c:axId val="6528270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27568"/>
        <c:crosses val="autoZero"/>
        <c:auto val="1"/>
        <c:lblAlgn val="ctr"/>
        <c:lblOffset val="100"/>
        <c:noMultiLvlLbl val="0"/>
      </c:catAx>
      <c:valAx>
        <c:axId val="652827568"/>
        <c:scaling>
          <c:orientation val="minMax"/>
        </c:scaling>
        <c:delete val="1"/>
        <c:axPos val="l"/>
        <c:numFmt formatCode="#,##0.0" sourceLinked="1"/>
        <c:majorTickMark val="none"/>
        <c:minorTickMark val="none"/>
        <c:tickLblPos val="nextTo"/>
        <c:crossAx val="652827024"/>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652828656"/>
        <c:axId val="652829200"/>
      </c:barChart>
      <c:catAx>
        <c:axId val="6528286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29200"/>
        <c:crosses val="autoZero"/>
        <c:auto val="1"/>
        <c:lblAlgn val="ctr"/>
        <c:lblOffset val="100"/>
        <c:noMultiLvlLbl val="0"/>
      </c:catAx>
      <c:valAx>
        <c:axId val="652829200"/>
        <c:scaling>
          <c:orientation val="minMax"/>
        </c:scaling>
        <c:delete val="1"/>
        <c:axPos val="l"/>
        <c:numFmt formatCode="#,##0.0" sourceLinked="1"/>
        <c:majorTickMark val="none"/>
        <c:minorTickMark val="none"/>
        <c:tickLblPos val="nextTo"/>
        <c:crossAx val="65282865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652830288"/>
        <c:axId val="652830832"/>
      </c:barChart>
      <c:catAx>
        <c:axId val="6528302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652830832"/>
        <c:crosses val="autoZero"/>
        <c:auto val="1"/>
        <c:lblAlgn val="ctr"/>
        <c:lblOffset val="100"/>
        <c:noMultiLvlLbl val="0"/>
      </c:catAx>
      <c:valAx>
        <c:axId val="652830832"/>
        <c:scaling>
          <c:orientation val="minMax"/>
        </c:scaling>
        <c:delete val="1"/>
        <c:axPos val="l"/>
        <c:numFmt formatCode="#,##0.0" sourceLinked="1"/>
        <c:majorTickMark val="none"/>
        <c:minorTickMark val="none"/>
        <c:tickLblPos val="nextTo"/>
        <c:crossAx val="652830288"/>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336867040"/>
        <c:axId val="336852352"/>
      </c:barChart>
      <c:catAx>
        <c:axId val="3368670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52352"/>
        <c:crosses val="autoZero"/>
        <c:auto val="1"/>
        <c:lblAlgn val="ctr"/>
        <c:lblOffset val="100"/>
        <c:noMultiLvlLbl val="0"/>
      </c:catAx>
      <c:valAx>
        <c:axId val="336852352"/>
        <c:scaling>
          <c:orientation val="minMax"/>
        </c:scaling>
        <c:delete val="1"/>
        <c:axPos val="l"/>
        <c:numFmt formatCode="#,##0.0" sourceLinked="1"/>
        <c:majorTickMark val="none"/>
        <c:minorTickMark val="none"/>
        <c:tickLblPos val="nextTo"/>
        <c:crossAx val="336867040"/>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586017868029705E-2"/>
          <c:y val="5.6718815469420834E-2"/>
          <c:w val="0.92649309691078063"/>
          <c:h val="0.72664225195762067"/>
        </c:manualLayout>
      </c:layout>
      <c:barChart>
        <c:barDir val="col"/>
        <c:grouping val="percentStacked"/>
        <c:varyColors val="0"/>
        <c:ser>
          <c:idx val="0"/>
          <c:order val="0"/>
          <c:tx>
            <c:strRef>
              <c:f>Sheet1!$B$1</c:f>
              <c:strCache>
                <c:ptCount val="1"/>
                <c:pt idx="0">
                  <c:v>Segment 1</c:v>
                </c:pt>
              </c:strCache>
            </c:strRef>
          </c:tx>
          <c:spPr>
            <a:solidFill>
              <a:schemeClr val="accent1"/>
            </a:solidFill>
            <a:ln>
              <a:noFill/>
            </a:ln>
            <a:effectLst/>
          </c:spPr>
          <c:invertIfNegative val="0"/>
          <c:cat>
            <c:strRef>
              <c:f>Sheet1!$A$2:$A$3</c:f>
              <c:strCache>
                <c:ptCount val="2"/>
                <c:pt idx="0">
                  <c:v>2024E</c:v>
                </c:pt>
                <c:pt idx="1">
                  <c:v>2034F</c:v>
                </c:pt>
              </c:strCache>
            </c:strRef>
          </c:cat>
          <c:val>
            <c:numRef>
              <c:f>Sheet1!$B$2:$B$3</c:f>
              <c:numCache>
                <c:formatCode>0.0%</c:formatCode>
                <c:ptCount val="2"/>
                <c:pt idx="0">
                  <c:v>0.5</c:v>
                </c:pt>
                <c:pt idx="1">
                  <c:v>0.5</c:v>
                </c:pt>
              </c:numCache>
            </c:numRef>
          </c:val>
          <c:extLst>
            <c:ext xmlns:c16="http://schemas.microsoft.com/office/drawing/2014/chart" uri="{C3380CC4-5D6E-409C-BE32-E72D297353CC}">
              <c16:uniqueId val="{00000000-399A-4293-BB78-EFC0E0F10571}"/>
            </c:ext>
          </c:extLst>
        </c:ser>
        <c:ser>
          <c:idx val="1"/>
          <c:order val="1"/>
          <c:tx>
            <c:strRef>
              <c:f>Sheet1!$C$1</c:f>
              <c:strCache>
                <c:ptCount val="1"/>
                <c:pt idx="0">
                  <c:v>Segment 2</c:v>
                </c:pt>
              </c:strCache>
            </c:strRef>
          </c:tx>
          <c:spPr>
            <a:solidFill>
              <a:schemeClr val="accent2"/>
            </a:solidFill>
            <a:ln>
              <a:noFill/>
            </a:ln>
            <a:effectLst/>
          </c:spPr>
          <c:invertIfNegative val="0"/>
          <c:cat>
            <c:strRef>
              <c:f>Sheet1!$A$2:$A$3</c:f>
              <c:strCache>
                <c:ptCount val="2"/>
                <c:pt idx="0">
                  <c:v>2024E</c:v>
                </c:pt>
                <c:pt idx="1">
                  <c:v>2034F</c:v>
                </c:pt>
              </c:strCache>
            </c:strRef>
          </c:cat>
          <c:val>
            <c:numRef>
              <c:f>Sheet1!$C$2:$C$3</c:f>
              <c:numCache>
                <c:formatCode>0.0%</c:formatCode>
                <c:ptCount val="2"/>
                <c:pt idx="0">
                  <c:v>0.5</c:v>
                </c:pt>
                <c:pt idx="1">
                  <c:v>0.5</c:v>
                </c:pt>
              </c:numCache>
            </c:numRef>
          </c:val>
          <c:extLst>
            <c:ext xmlns:c16="http://schemas.microsoft.com/office/drawing/2014/chart" uri="{C3380CC4-5D6E-409C-BE32-E72D297353CC}">
              <c16:uniqueId val="{00000001-399A-4293-BB78-EFC0E0F10571}"/>
            </c:ext>
          </c:extLst>
        </c:ser>
        <c:ser>
          <c:idx val="2"/>
          <c:order val="2"/>
          <c:tx>
            <c:strRef>
              <c:f>Sheet1!$D$1</c:f>
              <c:strCache>
                <c:ptCount val="1"/>
                <c:pt idx="0">
                  <c:v>Segment 3</c:v>
                </c:pt>
              </c:strCache>
            </c:strRef>
          </c:tx>
          <c:spPr>
            <a:solidFill>
              <a:schemeClr val="accent3"/>
            </a:solidFill>
            <a:ln>
              <a:noFill/>
            </a:ln>
            <a:effectLst/>
          </c:spPr>
          <c:invertIfNegative val="0"/>
          <c:cat>
            <c:strRef>
              <c:f>Sheet1!$A$2:$A$3</c:f>
              <c:strCache>
                <c:ptCount val="2"/>
                <c:pt idx="0">
                  <c:v>2024E</c:v>
                </c:pt>
                <c:pt idx="1">
                  <c:v>2034F</c:v>
                </c:pt>
              </c:strCache>
            </c:strRef>
          </c:cat>
          <c:val>
            <c:numRef>
              <c:f>Sheet1!$D$2:$D$3</c:f>
              <c:numCache>
                <c:formatCode>0.0%</c:formatCode>
                <c:ptCount val="2"/>
                <c:pt idx="0">
                  <c:v>0.1</c:v>
                </c:pt>
                <c:pt idx="1">
                  <c:v>0.1</c:v>
                </c:pt>
              </c:numCache>
            </c:numRef>
          </c:val>
          <c:extLst>
            <c:ext xmlns:c16="http://schemas.microsoft.com/office/drawing/2014/chart" uri="{C3380CC4-5D6E-409C-BE32-E72D297353CC}">
              <c16:uniqueId val="{00000002-399A-4293-BB78-EFC0E0F10571}"/>
            </c:ext>
          </c:extLst>
        </c:ser>
        <c:ser>
          <c:idx val="3"/>
          <c:order val="3"/>
          <c:tx>
            <c:strRef>
              <c:f>Sheet1!$E$1</c:f>
              <c:strCache>
                <c:ptCount val="1"/>
                <c:pt idx="0">
                  <c:v>Segment 4</c:v>
                </c:pt>
              </c:strCache>
            </c:strRef>
          </c:tx>
          <c:spPr>
            <a:solidFill>
              <a:schemeClr val="accent4"/>
            </a:solidFill>
            <a:ln>
              <a:noFill/>
            </a:ln>
            <a:effectLst/>
          </c:spPr>
          <c:invertIfNegative val="0"/>
          <c:cat>
            <c:strRef>
              <c:f>Sheet1!$A$2:$A$3</c:f>
              <c:strCache>
                <c:ptCount val="2"/>
                <c:pt idx="0">
                  <c:v>2024E</c:v>
                </c:pt>
                <c:pt idx="1">
                  <c:v>2034F</c:v>
                </c:pt>
              </c:strCache>
            </c:strRef>
          </c:cat>
          <c:val>
            <c:numRef>
              <c:f>Sheet1!$E$2:$E$3</c:f>
              <c:numCache>
                <c:formatCode>0.0%</c:formatCode>
                <c:ptCount val="2"/>
                <c:pt idx="0">
                  <c:v>0.5</c:v>
                </c:pt>
                <c:pt idx="1">
                  <c:v>0.5</c:v>
                </c:pt>
              </c:numCache>
            </c:numRef>
          </c:val>
          <c:extLst>
            <c:ext xmlns:c16="http://schemas.microsoft.com/office/drawing/2014/chart" uri="{C3380CC4-5D6E-409C-BE32-E72D297353CC}">
              <c16:uniqueId val="{00000003-399A-4293-BB78-EFC0E0F10571}"/>
            </c:ext>
          </c:extLst>
        </c:ser>
        <c:ser>
          <c:idx val="4"/>
          <c:order val="4"/>
          <c:tx>
            <c:strRef>
              <c:f>Sheet1!$F$1</c:f>
              <c:strCache>
                <c:ptCount val="1"/>
                <c:pt idx="0">
                  <c:v>Segment 5</c:v>
                </c:pt>
              </c:strCache>
            </c:strRef>
          </c:tx>
          <c:spPr>
            <a:solidFill>
              <a:schemeClr val="accent5"/>
            </a:solidFill>
            <a:ln>
              <a:noFill/>
            </a:ln>
            <a:effectLst/>
          </c:spPr>
          <c:invertIfNegative val="0"/>
          <c:cat>
            <c:strRef>
              <c:f>Sheet1!$A$2:$A$3</c:f>
              <c:strCache>
                <c:ptCount val="2"/>
                <c:pt idx="0">
                  <c:v>2024E</c:v>
                </c:pt>
                <c:pt idx="1">
                  <c:v>2034F</c:v>
                </c:pt>
              </c:strCache>
            </c:strRef>
          </c:cat>
          <c:val>
            <c:numRef>
              <c:f>Sheet1!$F$2:$F$3</c:f>
              <c:numCache>
                <c:formatCode>0.0%</c:formatCode>
                <c:ptCount val="2"/>
                <c:pt idx="0">
                  <c:v>0.25</c:v>
                </c:pt>
                <c:pt idx="1">
                  <c:v>0.25</c:v>
                </c:pt>
              </c:numCache>
            </c:numRef>
          </c:val>
          <c:extLst>
            <c:ext xmlns:c16="http://schemas.microsoft.com/office/drawing/2014/chart" uri="{C3380CC4-5D6E-409C-BE32-E72D297353CC}">
              <c16:uniqueId val="{00000004-399A-4293-BB78-EFC0E0F10571}"/>
            </c:ext>
          </c:extLst>
        </c:ser>
        <c:ser>
          <c:idx val="5"/>
          <c:order val="5"/>
          <c:tx>
            <c:strRef>
              <c:f>Sheet1!$G$1</c:f>
              <c:strCache>
                <c:ptCount val="1"/>
                <c:pt idx="0">
                  <c:v>Segment 6</c:v>
                </c:pt>
              </c:strCache>
            </c:strRef>
          </c:tx>
          <c:spPr>
            <a:solidFill>
              <a:schemeClr val="accent6"/>
            </a:solidFill>
            <a:ln>
              <a:noFill/>
            </a:ln>
            <a:effectLst/>
          </c:spPr>
          <c:invertIfNegative val="0"/>
          <c:cat>
            <c:strRef>
              <c:f>Sheet1!$A$2:$A$3</c:f>
              <c:strCache>
                <c:ptCount val="2"/>
                <c:pt idx="0">
                  <c:v>2024E</c:v>
                </c:pt>
                <c:pt idx="1">
                  <c:v>2034F</c:v>
                </c:pt>
              </c:strCache>
            </c:strRef>
          </c:cat>
          <c:val>
            <c:numRef>
              <c:f>Sheet1!$G$2:$G$3</c:f>
              <c:numCache>
                <c:formatCode>0.0%</c:formatCode>
                <c:ptCount val="2"/>
                <c:pt idx="0">
                  <c:v>0.3</c:v>
                </c:pt>
                <c:pt idx="1">
                  <c:v>0.3</c:v>
                </c:pt>
              </c:numCache>
            </c:numRef>
          </c:val>
          <c:extLst>
            <c:ext xmlns:c16="http://schemas.microsoft.com/office/drawing/2014/chart" uri="{C3380CC4-5D6E-409C-BE32-E72D297353CC}">
              <c16:uniqueId val="{00000005-399A-4293-BB78-EFC0E0F10571}"/>
            </c:ext>
          </c:extLst>
        </c:ser>
        <c:ser>
          <c:idx val="6"/>
          <c:order val="6"/>
          <c:tx>
            <c:strRef>
              <c:f>Sheet1!$H$1</c:f>
              <c:strCache>
                <c:ptCount val="1"/>
                <c:pt idx="0">
                  <c:v>Segment 7</c:v>
                </c:pt>
              </c:strCache>
            </c:strRef>
          </c:tx>
          <c:spPr>
            <a:solidFill>
              <a:schemeClr val="accent1">
                <a:lumMod val="60000"/>
              </a:schemeClr>
            </a:solidFill>
            <a:ln>
              <a:noFill/>
            </a:ln>
            <a:effectLst/>
          </c:spPr>
          <c:invertIfNegative val="0"/>
          <c:cat>
            <c:strRef>
              <c:f>Sheet1!$A$2:$A$3</c:f>
              <c:strCache>
                <c:ptCount val="2"/>
                <c:pt idx="0">
                  <c:v>2024E</c:v>
                </c:pt>
                <c:pt idx="1">
                  <c:v>2034F</c:v>
                </c:pt>
              </c:strCache>
            </c:strRef>
          </c:cat>
          <c:val>
            <c:numRef>
              <c:f>Sheet1!$H$2:$H$3</c:f>
              <c:numCache>
                <c:formatCode>0.0%</c:formatCode>
                <c:ptCount val="2"/>
                <c:pt idx="0">
                  <c:v>0.5</c:v>
                </c:pt>
                <c:pt idx="1">
                  <c:v>0.5</c:v>
                </c:pt>
              </c:numCache>
            </c:numRef>
          </c:val>
          <c:extLst>
            <c:ext xmlns:c16="http://schemas.microsoft.com/office/drawing/2014/chart" uri="{C3380CC4-5D6E-409C-BE32-E72D297353CC}">
              <c16:uniqueId val="{00000006-399A-4293-BB78-EFC0E0F10571}"/>
            </c:ext>
          </c:extLst>
        </c:ser>
        <c:ser>
          <c:idx val="7"/>
          <c:order val="7"/>
          <c:tx>
            <c:strRef>
              <c:f>Sheet1!$I$1</c:f>
              <c:strCache>
                <c:ptCount val="1"/>
                <c:pt idx="0">
                  <c:v>Segment 8</c:v>
                </c:pt>
              </c:strCache>
            </c:strRef>
          </c:tx>
          <c:spPr>
            <a:solidFill>
              <a:schemeClr val="accent2">
                <a:lumMod val="60000"/>
              </a:schemeClr>
            </a:solidFill>
            <a:ln>
              <a:noFill/>
            </a:ln>
            <a:effectLst/>
          </c:spPr>
          <c:invertIfNegative val="0"/>
          <c:cat>
            <c:strRef>
              <c:f>Sheet1!$A$2:$A$3</c:f>
              <c:strCache>
                <c:ptCount val="2"/>
                <c:pt idx="0">
                  <c:v>2024E</c:v>
                </c:pt>
                <c:pt idx="1">
                  <c:v>2034F</c:v>
                </c:pt>
              </c:strCache>
            </c:strRef>
          </c:cat>
          <c:val>
            <c:numRef>
              <c:f>Sheet1!$I$2:$I$3</c:f>
              <c:numCache>
                <c:formatCode>0.0%</c:formatCode>
                <c:ptCount val="2"/>
                <c:pt idx="0">
                  <c:v>0.5</c:v>
                </c:pt>
                <c:pt idx="1">
                  <c:v>0.5</c:v>
                </c:pt>
              </c:numCache>
            </c:numRef>
          </c:val>
          <c:extLst>
            <c:ext xmlns:c16="http://schemas.microsoft.com/office/drawing/2014/chart" uri="{C3380CC4-5D6E-409C-BE32-E72D297353CC}">
              <c16:uniqueId val="{00000007-399A-4293-BB78-EFC0E0F10571}"/>
            </c:ext>
          </c:extLst>
        </c:ser>
        <c:ser>
          <c:idx val="8"/>
          <c:order val="8"/>
          <c:tx>
            <c:strRef>
              <c:f>Sheet1!$J$1</c:f>
              <c:strCache>
                <c:ptCount val="1"/>
                <c:pt idx="0">
                  <c:v>Segment 9</c:v>
                </c:pt>
              </c:strCache>
            </c:strRef>
          </c:tx>
          <c:spPr>
            <a:solidFill>
              <a:schemeClr val="accent3">
                <a:lumMod val="60000"/>
              </a:schemeClr>
            </a:solidFill>
            <a:ln>
              <a:noFill/>
            </a:ln>
            <a:effectLst/>
          </c:spPr>
          <c:invertIfNegative val="0"/>
          <c:cat>
            <c:strRef>
              <c:f>Sheet1!$A$2:$A$3</c:f>
              <c:strCache>
                <c:ptCount val="2"/>
                <c:pt idx="0">
                  <c:v>2024E</c:v>
                </c:pt>
                <c:pt idx="1">
                  <c:v>2034F</c:v>
                </c:pt>
              </c:strCache>
            </c:strRef>
          </c:cat>
          <c:val>
            <c:numRef>
              <c:f>Sheet1!$J$2:$J$3</c:f>
              <c:numCache>
                <c:formatCode>0.0%</c:formatCode>
                <c:ptCount val="2"/>
                <c:pt idx="0">
                  <c:v>0.56000000000000005</c:v>
                </c:pt>
                <c:pt idx="1">
                  <c:v>0.56000000000000005</c:v>
                </c:pt>
              </c:numCache>
            </c:numRef>
          </c:val>
          <c:extLst>
            <c:ext xmlns:c16="http://schemas.microsoft.com/office/drawing/2014/chart" uri="{C3380CC4-5D6E-409C-BE32-E72D297353CC}">
              <c16:uniqueId val="{00000008-399A-4293-BB78-EFC0E0F10571}"/>
            </c:ext>
          </c:extLst>
        </c:ser>
        <c:ser>
          <c:idx val="9"/>
          <c:order val="9"/>
          <c:tx>
            <c:strRef>
              <c:f>Sheet1!$K$1</c:f>
              <c:strCache>
                <c:ptCount val="1"/>
                <c:pt idx="0">
                  <c:v>Segment 10</c:v>
                </c:pt>
              </c:strCache>
            </c:strRef>
          </c:tx>
          <c:spPr>
            <a:solidFill>
              <a:schemeClr val="accent4">
                <a:lumMod val="60000"/>
              </a:schemeClr>
            </a:solidFill>
            <a:ln>
              <a:noFill/>
            </a:ln>
            <a:effectLst/>
          </c:spPr>
          <c:invertIfNegative val="0"/>
          <c:cat>
            <c:strRef>
              <c:f>Sheet1!$A$2:$A$3</c:f>
              <c:strCache>
                <c:ptCount val="2"/>
                <c:pt idx="0">
                  <c:v>2024E</c:v>
                </c:pt>
                <c:pt idx="1">
                  <c:v>2034F</c:v>
                </c:pt>
              </c:strCache>
            </c:strRef>
          </c:cat>
          <c:val>
            <c:numRef>
              <c:f>Sheet1!$K$2:$K$3</c:f>
              <c:numCache>
                <c:formatCode>0.0%</c:formatCode>
                <c:ptCount val="2"/>
                <c:pt idx="0">
                  <c:v>0.5</c:v>
                </c:pt>
                <c:pt idx="1">
                  <c:v>0.5</c:v>
                </c:pt>
              </c:numCache>
            </c:numRef>
          </c:val>
          <c:extLst>
            <c:ext xmlns:c16="http://schemas.microsoft.com/office/drawing/2014/chart" uri="{C3380CC4-5D6E-409C-BE32-E72D297353CC}">
              <c16:uniqueId val="{00000009-399A-4293-BB78-EFC0E0F10571}"/>
            </c:ext>
          </c:extLst>
        </c:ser>
        <c:ser>
          <c:idx val="10"/>
          <c:order val="10"/>
          <c:tx>
            <c:strRef>
              <c:f>Sheet1!$L$1</c:f>
              <c:strCache>
                <c:ptCount val="1"/>
                <c:pt idx="0">
                  <c:v>Segment 11</c:v>
                </c:pt>
              </c:strCache>
            </c:strRef>
          </c:tx>
          <c:spPr>
            <a:solidFill>
              <a:schemeClr val="accent5">
                <a:lumMod val="60000"/>
              </a:schemeClr>
            </a:solidFill>
            <a:ln>
              <a:noFill/>
            </a:ln>
            <a:effectLst/>
          </c:spPr>
          <c:invertIfNegative val="0"/>
          <c:cat>
            <c:strRef>
              <c:f>Sheet1!$A$2:$A$3</c:f>
              <c:strCache>
                <c:ptCount val="2"/>
                <c:pt idx="0">
                  <c:v>2024E</c:v>
                </c:pt>
                <c:pt idx="1">
                  <c:v>2034F</c:v>
                </c:pt>
              </c:strCache>
            </c:strRef>
          </c:cat>
          <c:val>
            <c:numRef>
              <c:f>Sheet1!$L$2:$L$3</c:f>
              <c:numCache>
                <c:formatCode>0.0%</c:formatCode>
                <c:ptCount val="2"/>
                <c:pt idx="0">
                  <c:v>0.7</c:v>
                </c:pt>
                <c:pt idx="1">
                  <c:v>0.7</c:v>
                </c:pt>
              </c:numCache>
            </c:numRef>
          </c:val>
          <c:extLst>
            <c:ext xmlns:c16="http://schemas.microsoft.com/office/drawing/2014/chart" uri="{C3380CC4-5D6E-409C-BE32-E72D297353CC}">
              <c16:uniqueId val="{0000000A-399A-4293-BB78-EFC0E0F10571}"/>
            </c:ext>
          </c:extLst>
        </c:ser>
        <c:ser>
          <c:idx val="11"/>
          <c:order val="11"/>
          <c:tx>
            <c:strRef>
              <c:f>Sheet1!$M$1</c:f>
              <c:strCache>
                <c:ptCount val="1"/>
                <c:pt idx="0">
                  <c:v>Segment 12</c:v>
                </c:pt>
              </c:strCache>
            </c:strRef>
          </c:tx>
          <c:spPr>
            <a:solidFill>
              <a:schemeClr val="accent6">
                <a:lumMod val="60000"/>
              </a:schemeClr>
            </a:solidFill>
            <a:ln>
              <a:noFill/>
            </a:ln>
            <a:effectLst/>
          </c:spPr>
          <c:invertIfNegative val="0"/>
          <c:cat>
            <c:strRef>
              <c:f>Sheet1!$A$2:$A$3</c:f>
              <c:strCache>
                <c:ptCount val="2"/>
                <c:pt idx="0">
                  <c:v>2024E</c:v>
                </c:pt>
                <c:pt idx="1">
                  <c:v>2034F</c:v>
                </c:pt>
              </c:strCache>
            </c:strRef>
          </c:cat>
          <c:val>
            <c:numRef>
              <c:f>Sheet1!$M$2:$M$3</c:f>
              <c:numCache>
                <c:formatCode>0.0%</c:formatCode>
                <c:ptCount val="2"/>
                <c:pt idx="0">
                  <c:v>0.5</c:v>
                </c:pt>
                <c:pt idx="1">
                  <c:v>0.5</c:v>
                </c:pt>
              </c:numCache>
            </c:numRef>
          </c:val>
          <c:extLst>
            <c:ext xmlns:c16="http://schemas.microsoft.com/office/drawing/2014/chart" uri="{C3380CC4-5D6E-409C-BE32-E72D297353CC}">
              <c16:uniqueId val="{0000000B-399A-4293-BB78-EFC0E0F10571}"/>
            </c:ext>
          </c:extLst>
        </c:ser>
        <c:dLbls>
          <c:showLegendKey val="0"/>
          <c:showVal val="0"/>
          <c:showCatName val="0"/>
          <c:showSerName val="0"/>
          <c:showPercent val="0"/>
          <c:showBubbleSize val="0"/>
        </c:dLbls>
        <c:gapWidth val="50"/>
        <c:overlap val="100"/>
        <c:axId val="336849632"/>
        <c:axId val="336861600"/>
      </c:barChart>
      <c:catAx>
        <c:axId val="3368496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336861600"/>
        <c:crosses val="autoZero"/>
        <c:auto val="1"/>
        <c:lblAlgn val="ctr"/>
        <c:lblOffset val="100"/>
        <c:noMultiLvlLbl val="0"/>
      </c:catAx>
      <c:valAx>
        <c:axId val="336861600"/>
        <c:scaling>
          <c:orientation val="minMax"/>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336849632"/>
        <c:crosses val="autoZero"/>
        <c:crossBetween val="between"/>
      </c:valAx>
      <c:spPr>
        <a:noFill/>
        <a:ln>
          <a:noFill/>
        </a:ln>
        <a:effectLst/>
      </c:spPr>
    </c:plotArea>
    <c:legend>
      <c:legendPos val="b"/>
      <c:layout>
        <c:manualLayout>
          <c:xMode val="edge"/>
          <c:yMode val="edge"/>
          <c:x val="0"/>
          <c:y val="0.83692483498304948"/>
          <c:w val="1"/>
          <c:h val="0.16307516501695063"/>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193926521544815"/>
          <c:y val="3.2403000316204716E-2"/>
          <c:w val="0.7016005889076895"/>
          <c:h val="0.82090372344009988"/>
        </c:manualLayout>
      </c:layout>
      <c:bubbleChart>
        <c:varyColors val="1"/>
        <c:ser>
          <c:idx val="0"/>
          <c:order val="0"/>
          <c:tx>
            <c:strRef>
              <c:f>Sheet1!$C$1</c:f>
              <c:strCache>
                <c:ptCount val="1"/>
                <c:pt idx="0">
                  <c:v>Y-Values</c:v>
                </c:pt>
              </c:strCache>
            </c:strRef>
          </c:tx>
          <c:invertIfNegative val="0"/>
          <c:dPt>
            <c:idx val="0"/>
            <c:invertIfNegative val="0"/>
            <c:bubble3D val="0"/>
            <c:spPr>
              <a:solidFill>
                <a:schemeClr val="accent1">
                  <a:alpha val="75000"/>
                </a:schemeClr>
              </a:solidFill>
              <a:ln>
                <a:noFill/>
              </a:ln>
              <a:effectLst/>
            </c:spPr>
            <c:extLst>
              <c:ext xmlns:c16="http://schemas.microsoft.com/office/drawing/2014/chart" uri="{C3380CC4-5D6E-409C-BE32-E72D297353CC}">
                <c16:uniqueId val="{00000001-DDE3-4D99-B865-1D4F4604A435}"/>
              </c:ext>
            </c:extLst>
          </c:dPt>
          <c:dPt>
            <c:idx val="1"/>
            <c:invertIfNegative val="0"/>
            <c:bubble3D val="0"/>
            <c:spPr>
              <a:solidFill>
                <a:schemeClr val="accent2">
                  <a:alpha val="75000"/>
                </a:schemeClr>
              </a:solidFill>
              <a:ln>
                <a:noFill/>
              </a:ln>
              <a:effectLst/>
            </c:spPr>
            <c:extLst>
              <c:ext xmlns:c16="http://schemas.microsoft.com/office/drawing/2014/chart" uri="{C3380CC4-5D6E-409C-BE32-E72D297353CC}">
                <c16:uniqueId val="{00000003-DDE3-4D99-B865-1D4F4604A435}"/>
              </c:ext>
            </c:extLst>
          </c:dPt>
          <c:dPt>
            <c:idx val="2"/>
            <c:invertIfNegative val="0"/>
            <c:bubble3D val="0"/>
            <c:spPr>
              <a:solidFill>
                <a:schemeClr val="accent3">
                  <a:alpha val="75000"/>
                </a:schemeClr>
              </a:solidFill>
              <a:ln>
                <a:noFill/>
              </a:ln>
              <a:effectLst/>
            </c:spPr>
            <c:extLst>
              <c:ext xmlns:c16="http://schemas.microsoft.com/office/drawing/2014/chart" uri="{C3380CC4-5D6E-409C-BE32-E72D297353CC}">
                <c16:uniqueId val="{00000005-DDE3-4D99-B865-1D4F4604A435}"/>
              </c:ext>
            </c:extLst>
          </c:dPt>
          <c:dPt>
            <c:idx val="3"/>
            <c:invertIfNegative val="0"/>
            <c:bubble3D val="0"/>
            <c:spPr>
              <a:solidFill>
                <a:schemeClr val="accent4">
                  <a:alpha val="75000"/>
                </a:schemeClr>
              </a:solidFill>
              <a:ln>
                <a:noFill/>
              </a:ln>
              <a:effectLst/>
            </c:spPr>
            <c:extLst>
              <c:ext xmlns:c16="http://schemas.microsoft.com/office/drawing/2014/chart" uri="{C3380CC4-5D6E-409C-BE32-E72D297353CC}">
                <c16:uniqueId val="{00000007-DDE3-4D99-B865-1D4F4604A435}"/>
              </c:ext>
            </c:extLst>
          </c:dPt>
          <c:dPt>
            <c:idx val="4"/>
            <c:invertIfNegative val="0"/>
            <c:bubble3D val="0"/>
            <c:spPr>
              <a:solidFill>
                <a:schemeClr val="accent5">
                  <a:alpha val="75000"/>
                </a:schemeClr>
              </a:solidFill>
              <a:ln>
                <a:noFill/>
              </a:ln>
              <a:effectLst/>
            </c:spPr>
            <c:extLst>
              <c:ext xmlns:c16="http://schemas.microsoft.com/office/drawing/2014/chart" uri="{C3380CC4-5D6E-409C-BE32-E72D297353CC}">
                <c16:uniqueId val="{00000009-DDE3-4D99-B865-1D4F4604A435}"/>
              </c:ext>
            </c:extLst>
          </c:dPt>
          <c:dPt>
            <c:idx val="5"/>
            <c:invertIfNegative val="0"/>
            <c:bubble3D val="0"/>
            <c:spPr>
              <a:solidFill>
                <a:schemeClr val="accent6">
                  <a:alpha val="75000"/>
                </a:schemeClr>
              </a:solidFill>
              <a:ln>
                <a:noFill/>
              </a:ln>
              <a:effectLst/>
            </c:spPr>
            <c:extLst>
              <c:ext xmlns:c16="http://schemas.microsoft.com/office/drawing/2014/chart" uri="{C3380CC4-5D6E-409C-BE32-E72D297353CC}">
                <c16:uniqueId val="{0000000B-DDE3-4D99-B865-1D4F4604A435}"/>
              </c:ext>
            </c:extLst>
          </c:dPt>
          <c:dPt>
            <c:idx val="6"/>
            <c:invertIfNegative val="0"/>
            <c:bubble3D val="0"/>
            <c:spPr>
              <a:solidFill>
                <a:schemeClr val="accent1">
                  <a:lumMod val="60000"/>
                  <a:alpha val="75000"/>
                </a:schemeClr>
              </a:solidFill>
              <a:ln>
                <a:noFill/>
              </a:ln>
              <a:effectLst/>
            </c:spPr>
            <c:extLst>
              <c:ext xmlns:c16="http://schemas.microsoft.com/office/drawing/2014/chart" uri="{C3380CC4-5D6E-409C-BE32-E72D297353CC}">
                <c16:uniqueId val="{0000000D-DDE3-4D99-B865-1D4F4604A435}"/>
              </c:ext>
            </c:extLst>
          </c:dPt>
          <c:dPt>
            <c:idx val="7"/>
            <c:invertIfNegative val="0"/>
            <c:bubble3D val="0"/>
            <c:spPr>
              <a:solidFill>
                <a:schemeClr val="accent2">
                  <a:lumMod val="60000"/>
                  <a:alpha val="75000"/>
                </a:schemeClr>
              </a:solidFill>
              <a:ln>
                <a:noFill/>
              </a:ln>
              <a:effectLst/>
            </c:spPr>
            <c:extLst>
              <c:ext xmlns:c16="http://schemas.microsoft.com/office/drawing/2014/chart" uri="{C3380CC4-5D6E-409C-BE32-E72D297353CC}">
                <c16:uniqueId val="{0000000F-DDE3-4D99-B865-1D4F4604A435}"/>
              </c:ext>
            </c:extLst>
          </c:dPt>
          <c:dPt>
            <c:idx val="8"/>
            <c:invertIfNegative val="0"/>
            <c:bubble3D val="0"/>
            <c:spPr>
              <a:solidFill>
                <a:schemeClr val="accent3">
                  <a:lumMod val="60000"/>
                  <a:alpha val="75000"/>
                </a:schemeClr>
              </a:solidFill>
              <a:ln>
                <a:noFill/>
              </a:ln>
              <a:effectLst/>
            </c:spPr>
            <c:extLst>
              <c:ext xmlns:c16="http://schemas.microsoft.com/office/drawing/2014/chart" uri="{C3380CC4-5D6E-409C-BE32-E72D297353CC}">
                <c16:uniqueId val="{00000011-DDE3-4D99-B865-1D4F4604A435}"/>
              </c:ext>
            </c:extLst>
          </c:dPt>
          <c:dPt>
            <c:idx val="9"/>
            <c:invertIfNegative val="0"/>
            <c:bubble3D val="0"/>
            <c:spPr>
              <a:solidFill>
                <a:schemeClr val="accent4">
                  <a:lumMod val="60000"/>
                  <a:alpha val="75000"/>
                </a:schemeClr>
              </a:solidFill>
              <a:ln>
                <a:noFill/>
              </a:ln>
              <a:effectLst/>
            </c:spPr>
            <c:extLst>
              <c:ext xmlns:c16="http://schemas.microsoft.com/office/drawing/2014/chart" uri="{C3380CC4-5D6E-409C-BE32-E72D297353CC}">
                <c16:uniqueId val="{00000013-DDE3-4D99-B865-1D4F4604A435}"/>
              </c:ext>
            </c:extLst>
          </c:dPt>
          <c:dPt>
            <c:idx val="10"/>
            <c:invertIfNegative val="0"/>
            <c:bubble3D val="0"/>
            <c:spPr>
              <a:solidFill>
                <a:schemeClr val="accent5">
                  <a:lumMod val="60000"/>
                  <a:alpha val="75000"/>
                </a:schemeClr>
              </a:solidFill>
              <a:ln>
                <a:noFill/>
              </a:ln>
              <a:effectLst/>
            </c:spPr>
            <c:extLst>
              <c:ext xmlns:c16="http://schemas.microsoft.com/office/drawing/2014/chart" uri="{C3380CC4-5D6E-409C-BE32-E72D297353CC}">
                <c16:uniqueId val="{00000015-DDE3-4D99-B865-1D4F4604A435}"/>
              </c:ext>
            </c:extLst>
          </c:dPt>
          <c:dPt>
            <c:idx val="11"/>
            <c:invertIfNegative val="0"/>
            <c:bubble3D val="0"/>
            <c:spPr>
              <a:solidFill>
                <a:schemeClr val="accent6">
                  <a:lumMod val="60000"/>
                  <a:alpha val="75000"/>
                </a:schemeClr>
              </a:solidFill>
              <a:ln>
                <a:noFill/>
              </a:ln>
              <a:effectLst/>
            </c:spPr>
            <c:extLst>
              <c:ext xmlns:c16="http://schemas.microsoft.com/office/drawing/2014/chart" uri="{C3380CC4-5D6E-409C-BE32-E72D297353CC}">
                <c16:uniqueId val="{00000017-DDE3-4D99-B865-1D4F4604A435}"/>
              </c:ext>
            </c:extLst>
          </c:dPt>
          <c:xVal>
            <c:numRef>
              <c:f>Sheet1!$B$2:$B$13</c:f>
              <c:numCache>
                <c:formatCode>_(* #,##0.0_);_(* \(#,##0.0\);_(* "-"??_);_(@_)</c:formatCode>
                <c:ptCount val="12"/>
                <c:pt idx="0">
                  <c:v>1.23845548712603</c:v>
                </c:pt>
                <c:pt idx="1">
                  <c:v>1.162113536969851</c:v>
                </c:pt>
                <c:pt idx="2">
                  <c:v>1.0302543225319352</c:v>
                </c:pt>
                <c:pt idx="3">
                  <c:v>0.84722981022347821</c:v>
                </c:pt>
                <c:pt idx="4">
                  <c:v>0.93741701489866014</c:v>
                </c:pt>
                <c:pt idx="5">
                  <c:v>0.16703967724697652</c:v>
                </c:pt>
                <c:pt idx="6">
                  <c:v>0.31547286921338047</c:v>
                </c:pt>
                <c:pt idx="7">
                  <c:v>1.889955916162251</c:v>
                </c:pt>
                <c:pt idx="8">
                  <c:v>1.3855301758593002</c:v>
                </c:pt>
                <c:pt idx="9">
                  <c:v>0.94636364010056717</c:v>
                </c:pt>
                <c:pt idx="10">
                  <c:v>0.83305684356707144</c:v>
                </c:pt>
                <c:pt idx="11">
                  <c:v>1.2471107061004996</c:v>
                </c:pt>
              </c:numCache>
            </c:numRef>
          </c:xVal>
          <c:yVal>
            <c:numRef>
              <c:f>Sheet1!$C$2:$C$13</c:f>
              <c:numCache>
                <c:formatCode>_(* #,##0.0_);_(* \(#,##0.0\);_(* "-"??_);_(@_)</c:formatCode>
                <c:ptCount val="12"/>
                <c:pt idx="0">
                  <c:v>4.2167112547800931</c:v>
                </c:pt>
                <c:pt idx="1">
                  <c:v>3.3980122714010847</c:v>
                </c:pt>
                <c:pt idx="2">
                  <c:v>1.2822227748390012</c:v>
                </c:pt>
                <c:pt idx="3">
                  <c:v>0.55922599312951515</c:v>
                </c:pt>
                <c:pt idx="4">
                  <c:v>0.51700126218067499</c:v>
                </c:pt>
                <c:pt idx="5">
                  <c:v>0.55959517973370299</c:v>
                </c:pt>
                <c:pt idx="6">
                  <c:v>0.4504058763710288</c:v>
                </c:pt>
                <c:pt idx="7">
                  <c:v>7.8479811791921719E-2</c:v>
                </c:pt>
                <c:pt idx="8">
                  <c:v>0.15695962358384338</c:v>
                </c:pt>
                <c:pt idx="9">
                  <c:v>0.26614892694651726</c:v>
                </c:pt>
                <c:pt idx="10">
                  <c:v>0.33098007581810435</c:v>
                </c:pt>
                <c:pt idx="11">
                  <c:v>0.1842569494245119</c:v>
                </c:pt>
              </c:numCache>
            </c:numRef>
          </c:yVal>
          <c:bubbleSize>
            <c:numRef>
              <c:f>Sheet1!$D$2:$D$13</c:f>
              <c:numCache>
                <c:formatCode>_(* #,##0.0_);_(* \(#,##0.0\);_(* "-"??_);_(@_)</c:formatCode>
                <c:ptCount val="12"/>
                <c:pt idx="0">
                  <c:v>4.9936297981998532</c:v>
                </c:pt>
                <c:pt idx="1">
                  <c:v>3.7099886852259316</c:v>
                </c:pt>
                <c:pt idx="2">
                  <c:v>1.2039612272959443</c:v>
                </c:pt>
                <c:pt idx="3">
                  <c:v>0.41406478695641968</c:v>
                </c:pt>
                <c:pt idx="4">
                  <c:v>0.43238574591390638</c:v>
                </c:pt>
                <c:pt idx="5">
                  <c:v>7.0054524456672831E-2</c:v>
                </c:pt>
                <c:pt idx="6">
                  <c:v>0.11008568128905516</c:v>
                </c:pt>
                <c:pt idx="7">
                  <c:v>0.16512852193358268</c:v>
                </c:pt>
                <c:pt idx="8">
                  <c:v>0.2151674679740625</c:v>
                </c:pt>
                <c:pt idx="9">
                  <c:v>0.22517525718215869</c:v>
                </c:pt>
                <c:pt idx="10">
                  <c:v>0.24018694099430174</c:v>
                </c:pt>
                <c:pt idx="11">
                  <c:v>0.22017136257811071</c:v>
                </c:pt>
              </c:numCache>
            </c:numRef>
          </c:bubbleSize>
          <c:bubble3D val="0"/>
          <c:extLst>
            <c:ext xmlns:c16="http://schemas.microsoft.com/office/drawing/2014/chart" uri="{C3380CC4-5D6E-409C-BE32-E72D297353CC}">
              <c16:uniqueId val="{00000018-DDE3-4D99-B865-1D4F4604A435}"/>
            </c:ext>
          </c:extLst>
        </c:ser>
        <c:dLbls>
          <c:showLegendKey val="0"/>
          <c:showVal val="0"/>
          <c:showCatName val="0"/>
          <c:showSerName val="0"/>
          <c:showPercent val="0"/>
          <c:showBubbleSize val="0"/>
        </c:dLbls>
        <c:bubbleScale val="100"/>
        <c:showNegBubbles val="0"/>
        <c:axId val="336843648"/>
        <c:axId val="336848544"/>
      </c:bubbleChart>
      <c:valAx>
        <c:axId val="336843648"/>
        <c:scaling>
          <c:orientation val="minMax"/>
          <c:min val="0"/>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CAGR Index (2024 – 2034)</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336848544"/>
        <c:crossesAt val="0"/>
        <c:crossBetween val="midCat"/>
      </c:valAx>
      <c:valAx>
        <c:axId val="336848544"/>
        <c:scaling>
          <c:orientation val="minMax"/>
          <c:min val="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Market Share Index (2024E)</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336843648"/>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910917822963"/>
          <c:y val="4.0225179225868664E-2"/>
          <c:w val="0.87507556483913373"/>
          <c:h val="0.65061484798850733"/>
        </c:manualLayout>
      </c:layout>
      <c:lineChart>
        <c:grouping val="standard"/>
        <c:varyColors val="0"/>
        <c:ser>
          <c:idx val="0"/>
          <c:order val="0"/>
          <c:tx>
            <c:strRef>
              <c:f>Sheet1!$B$1</c:f>
              <c:strCache>
                <c:ptCount val="1"/>
                <c:pt idx="0">
                  <c:v>Segment 1</c:v>
                </c:pt>
              </c:strCache>
            </c:strRef>
          </c:tx>
          <c:spPr>
            <a:ln w="28575" cap="rnd">
              <a:solidFill>
                <a:schemeClr val="accent1"/>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Sheet1!$B$2:$B$12</c:f>
              <c:numCache>
                <c:formatCode>0.0%</c:formatCode>
                <c:ptCount val="11"/>
                <c:pt idx="0">
                  <c:v>5.1500000000000004E-2</c:v>
                </c:pt>
                <c:pt idx="1">
                  <c:v>5.4166666666666669E-2</c:v>
                </c:pt>
                <c:pt idx="2">
                  <c:v>5.7000000000000009E-2</c:v>
                </c:pt>
                <c:pt idx="3">
                  <c:v>5.9333333333333335E-2</c:v>
                </c:pt>
                <c:pt idx="4">
                  <c:v>6.1166666666666675E-2</c:v>
                </c:pt>
                <c:pt idx="5">
                  <c:v>6.2833333333333338E-2</c:v>
                </c:pt>
                <c:pt idx="6">
                  <c:v>6.483333333333334E-2</c:v>
                </c:pt>
                <c:pt idx="7">
                  <c:v>6.7166666666666666E-2</c:v>
                </c:pt>
                <c:pt idx="8">
                  <c:v>6.8833333333333344E-2</c:v>
                </c:pt>
                <c:pt idx="9">
                  <c:v>6.9000000000000006E-2</c:v>
                </c:pt>
                <c:pt idx="10">
                  <c:v>6.7666666666666667E-2</c:v>
                </c:pt>
              </c:numCache>
            </c:numRef>
          </c:val>
          <c:smooth val="1"/>
          <c:extLst>
            <c:ext xmlns:c16="http://schemas.microsoft.com/office/drawing/2014/chart" uri="{C3380CC4-5D6E-409C-BE32-E72D297353CC}">
              <c16:uniqueId val="{00000000-D299-4B53-A6F6-A44322BE864B}"/>
            </c:ext>
          </c:extLst>
        </c:ser>
        <c:ser>
          <c:idx val="1"/>
          <c:order val="1"/>
          <c:tx>
            <c:strRef>
              <c:f>Sheet1!$C$1</c:f>
              <c:strCache>
                <c:ptCount val="1"/>
                <c:pt idx="0">
                  <c:v>Segment 2</c:v>
                </c:pt>
              </c:strCache>
            </c:strRef>
          </c:tx>
          <c:spPr>
            <a:ln w="28575" cap="rnd">
              <a:solidFill>
                <a:schemeClr val="accent2"/>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Sheet1!$C$2:$C$12</c:f>
              <c:numCache>
                <c:formatCode>0.0%</c:formatCode>
                <c:ptCount val="11"/>
                <c:pt idx="0">
                  <c:v>5.116830281459997E-2</c:v>
                </c:pt>
                <c:pt idx="1">
                  <c:v>5.1290221555306513E-2</c:v>
                </c:pt>
                <c:pt idx="2">
                  <c:v>5.1395302571985553E-2</c:v>
                </c:pt>
                <c:pt idx="3">
                  <c:v>5.151160873801626E-2</c:v>
                </c:pt>
                <c:pt idx="4">
                  <c:v>5.1620431471145853E-2</c:v>
                </c:pt>
                <c:pt idx="5">
                  <c:v>5.1734243159542857E-2</c:v>
                </c:pt>
                <c:pt idx="6">
                  <c:v>5.1844728877761585E-2</c:v>
                </c:pt>
                <c:pt idx="7">
                  <c:v>5.1961866536336859E-2</c:v>
                </c:pt>
                <c:pt idx="8">
                  <c:v>5.2074569568007774E-2</c:v>
                </c:pt>
                <c:pt idx="9">
                  <c:v>5.2190229017614928E-2</c:v>
                </c:pt>
                <c:pt idx="10">
                  <c:v>5.2299975631349596E-2</c:v>
                </c:pt>
              </c:numCache>
            </c:numRef>
          </c:val>
          <c:smooth val="1"/>
          <c:extLst>
            <c:ext xmlns:c16="http://schemas.microsoft.com/office/drawing/2014/chart" uri="{C3380CC4-5D6E-409C-BE32-E72D297353CC}">
              <c16:uniqueId val="{00000001-D299-4B53-A6F6-A44322BE864B}"/>
            </c:ext>
          </c:extLst>
        </c:ser>
        <c:ser>
          <c:idx val="2"/>
          <c:order val="2"/>
          <c:tx>
            <c:strRef>
              <c:f>Sheet1!$D$1</c:f>
              <c:strCache>
                <c:ptCount val="1"/>
                <c:pt idx="0">
                  <c:v>Segment 3</c:v>
                </c:pt>
              </c:strCache>
            </c:strRef>
          </c:tx>
          <c:spPr>
            <a:ln w="28575" cap="rnd">
              <a:solidFill>
                <a:schemeClr val="accent3"/>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Sheet1!$D$2:$D$12</c:f>
              <c:numCache>
                <c:formatCode>0.0%</c:formatCode>
                <c:ptCount val="11"/>
                <c:pt idx="0">
                  <c:v>5.0610918051856614E-2</c:v>
                </c:pt>
                <c:pt idx="1">
                  <c:v>5.1425475454332091E-2</c:v>
                </c:pt>
                <c:pt idx="2">
                  <c:v>5.2138213181498139E-2</c:v>
                </c:pt>
                <c:pt idx="3">
                  <c:v>5.274913123335475E-2</c:v>
                </c:pt>
                <c:pt idx="4">
                  <c:v>5.2850950908664179E-2</c:v>
                </c:pt>
                <c:pt idx="5">
                  <c:v>5.2647311558045314E-2</c:v>
                </c:pt>
                <c:pt idx="6">
                  <c:v>5.2036393506188702E-2</c:v>
                </c:pt>
                <c:pt idx="7">
                  <c:v>5.1323655779022655E-2</c:v>
                </c:pt>
                <c:pt idx="8">
                  <c:v>5.0610918051856614E-2</c:v>
                </c:pt>
                <c:pt idx="9">
                  <c:v>0.05</c:v>
                </c:pt>
                <c:pt idx="10">
                  <c:v>4.9490901623452828E-2</c:v>
                </c:pt>
              </c:numCache>
            </c:numRef>
          </c:val>
          <c:smooth val="1"/>
          <c:extLst>
            <c:ext xmlns:c16="http://schemas.microsoft.com/office/drawing/2014/chart" uri="{C3380CC4-5D6E-409C-BE32-E72D297353CC}">
              <c16:uniqueId val="{00000002-D299-4B53-A6F6-A44322BE864B}"/>
            </c:ext>
          </c:extLst>
        </c:ser>
        <c:ser>
          <c:idx val="3"/>
          <c:order val="3"/>
          <c:tx>
            <c:strRef>
              <c:f>Sheet1!$E$1</c:f>
              <c:strCache>
                <c:ptCount val="1"/>
                <c:pt idx="0">
                  <c:v>Segment 4</c:v>
                </c:pt>
              </c:strCache>
            </c:strRef>
          </c:tx>
          <c:spPr>
            <a:ln w="28575" cap="rnd">
              <a:solidFill>
                <a:schemeClr val="accent4"/>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Sheet1!$E$2:$E$12</c:f>
              <c:numCache>
                <c:formatCode>0.0%</c:formatCode>
                <c:ptCount val="11"/>
                <c:pt idx="0">
                  <c:v>5.3000000000000005E-2</c:v>
                </c:pt>
                <c:pt idx="1">
                  <c:v>5.5000000000000007E-2</c:v>
                </c:pt>
                <c:pt idx="2">
                  <c:v>5.7333333333333347E-2</c:v>
                </c:pt>
                <c:pt idx="3">
                  <c:v>5.9666666666666673E-2</c:v>
                </c:pt>
                <c:pt idx="4">
                  <c:v>6.3666666666666663E-2</c:v>
                </c:pt>
                <c:pt idx="5">
                  <c:v>6.8000000000000005E-2</c:v>
                </c:pt>
                <c:pt idx="6">
                  <c:v>6.7906765085174334E-2</c:v>
                </c:pt>
                <c:pt idx="7">
                  <c:v>6.6841312562606461E-2</c:v>
                </c:pt>
                <c:pt idx="8">
                  <c:v>6.5666666666666665E-2</c:v>
                </c:pt>
                <c:pt idx="9">
                  <c:v>6.4147353367754692E-2</c:v>
                </c:pt>
                <c:pt idx="10">
                  <c:v>6.0424365639398202E-2</c:v>
                </c:pt>
              </c:numCache>
            </c:numRef>
          </c:val>
          <c:smooth val="1"/>
          <c:extLst>
            <c:ext xmlns:c16="http://schemas.microsoft.com/office/drawing/2014/chart" uri="{C3380CC4-5D6E-409C-BE32-E72D297353CC}">
              <c16:uniqueId val="{00000003-D299-4B53-A6F6-A44322BE864B}"/>
            </c:ext>
          </c:extLst>
        </c:ser>
        <c:ser>
          <c:idx val="4"/>
          <c:order val="4"/>
          <c:tx>
            <c:strRef>
              <c:f>Sheet1!$F$1</c:f>
              <c:strCache>
                <c:ptCount val="1"/>
                <c:pt idx="0">
                  <c:v>Segment 5</c:v>
                </c:pt>
              </c:strCache>
            </c:strRef>
          </c:tx>
          <c:spPr>
            <a:ln w="28575" cap="rnd">
              <a:solidFill>
                <a:schemeClr val="accent5"/>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Sheet1!$F$2:$F$12</c:f>
              <c:numCache>
                <c:formatCode>0.0%</c:formatCode>
                <c:ptCount val="11"/>
                <c:pt idx="0">
                  <c:v>5.1263578005607567E-2</c:v>
                </c:pt>
                <c:pt idx="1">
                  <c:v>5.2412285283432627E-2</c:v>
                </c:pt>
                <c:pt idx="2">
                  <c:v>5.3446121833475177E-2</c:v>
                </c:pt>
                <c:pt idx="3">
                  <c:v>5.3905604744605207E-2</c:v>
                </c:pt>
                <c:pt idx="4">
                  <c:v>5.3905604744605207E-2</c:v>
                </c:pt>
                <c:pt idx="5">
                  <c:v>5.3101509650127658E-2</c:v>
                </c:pt>
                <c:pt idx="6">
                  <c:v>5.2297414555650117E-2</c:v>
                </c:pt>
                <c:pt idx="7">
                  <c:v>5.1493319461172575E-2</c:v>
                </c:pt>
                <c:pt idx="8">
                  <c:v>5.068922436669504E-2</c:v>
                </c:pt>
                <c:pt idx="9">
                  <c:v>4.9770258544434988E-2</c:v>
                </c:pt>
                <c:pt idx="10">
                  <c:v>4.8736421994392438E-2</c:v>
                </c:pt>
              </c:numCache>
            </c:numRef>
          </c:val>
          <c:smooth val="1"/>
          <c:extLst>
            <c:ext xmlns:c16="http://schemas.microsoft.com/office/drawing/2014/chart" uri="{C3380CC4-5D6E-409C-BE32-E72D297353CC}">
              <c16:uniqueId val="{00000004-D299-4B53-A6F6-A44322BE864B}"/>
            </c:ext>
          </c:extLst>
        </c:ser>
        <c:ser>
          <c:idx val="5"/>
          <c:order val="5"/>
          <c:tx>
            <c:strRef>
              <c:f>Sheet1!$G$1</c:f>
              <c:strCache>
                <c:ptCount val="1"/>
                <c:pt idx="0">
                  <c:v>Segment 6</c:v>
                </c:pt>
              </c:strCache>
            </c:strRef>
          </c:tx>
          <c:spPr>
            <a:ln w="28575" cap="rnd">
              <a:solidFill>
                <a:schemeClr val="accent6"/>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Sheet1!$G$2:$G$12</c:f>
              <c:numCache>
                <c:formatCode>0.0%</c:formatCode>
                <c:ptCount val="11"/>
                <c:pt idx="0">
                  <c:v>6.0676665024535163E-2</c:v>
                </c:pt>
                <c:pt idx="1">
                  <c:v>6.0811998029442191E-2</c:v>
                </c:pt>
                <c:pt idx="2">
                  <c:v>6.0405999014721101E-2</c:v>
                </c:pt>
                <c:pt idx="3">
                  <c:v>5.986466699509297E-2</c:v>
                </c:pt>
                <c:pt idx="4">
                  <c:v>5.9188001970557812E-2</c:v>
                </c:pt>
                <c:pt idx="5">
                  <c:v>5.8782002955836715E-2</c:v>
                </c:pt>
                <c:pt idx="6">
                  <c:v>5.7970004926394522E-2</c:v>
                </c:pt>
                <c:pt idx="7">
                  <c:v>5.7022673892045295E-2</c:v>
                </c:pt>
                <c:pt idx="8">
                  <c:v>5.6075342857696074E-2</c:v>
                </c:pt>
                <c:pt idx="9">
                  <c:v>5.5398677833160916E-2</c:v>
                </c:pt>
                <c:pt idx="10">
                  <c:v>5.472201280862575E-2</c:v>
                </c:pt>
              </c:numCache>
            </c:numRef>
          </c:val>
          <c:smooth val="1"/>
          <c:extLst>
            <c:ext xmlns:c16="http://schemas.microsoft.com/office/drawing/2014/chart" uri="{C3380CC4-5D6E-409C-BE32-E72D297353CC}">
              <c16:uniqueId val="{00000005-D299-4B53-A6F6-A44322BE864B}"/>
            </c:ext>
          </c:extLst>
        </c:ser>
        <c:ser>
          <c:idx val="6"/>
          <c:order val="6"/>
          <c:tx>
            <c:strRef>
              <c:f>Sheet1!$H$1</c:f>
              <c:strCache>
                <c:ptCount val="1"/>
                <c:pt idx="0">
                  <c:v>Segment 7</c:v>
                </c:pt>
              </c:strCache>
            </c:strRef>
          </c:tx>
          <c:spPr>
            <a:ln w="28575" cap="rnd">
              <a:solidFill>
                <a:schemeClr val="accent1">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Sheet1!$H$2:$H$12</c:f>
              <c:numCache>
                <c:formatCode>0.0%</c:formatCode>
                <c:ptCount val="11"/>
                <c:pt idx="0">
                  <c:v>4.9615229374212068E-2</c:v>
                </c:pt>
                <c:pt idx="1">
                  <c:v>4.9038073435530169E-2</c:v>
                </c:pt>
                <c:pt idx="2">
                  <c:v>4.8653302809742234E-2</c:v>
                </c:pt>
                <c:pt idx="3">
                  <c:v>4.8076146871060335E-2</c:v>
                </c:pt>
                <c:pt idx="4">
                  <c:v>4.7883761558166364E-2</c:v>
                </c:pt>
                <c:pt idx="5">
                  <c:v>4.8268532183954299E-2</c:v>
                </c:pt>
                <c:pt idx="6">
                  <c:v>4.8653302809742234E-2</c:v>
                </c:pt>
                <c:pt idx="7">
                  <c:v>4.9230458748424133E-2</c:v>
                </c:pt>
                <c:pt idx="8">
                  <c:v>5.0192385312893967E-2</c:v>
                </c:pt>
                <c:pt idx="9">
                  <c:v>5.0577155938681902E-2</c:v>
                </c:pt>
                <c:pt idx="10">
                  <c:v>5.0384770625787938E-2</c:v>
                </c:pt>
              </c:numCache>
            </c:numRef>
          </c:val>
          <c:smooth val="1"/>
          <c:extLst>
            <c:ext xmlns:c16="http://schemas.microsoft.com/office/drawing/2014/chart" uri="{C3380CC4-5D6E-409C-BE32-E72D297353CC}">
              <c16:uniqueId val="{00000006-D299-4B53-A6F6-A44322BE864B}"/>
            </c:ext>
          </c:extLst>
        </c:ser>
        <c:ser>
          <c:idx val="7"/>
          <c:order val="7"/>
          <c:tx>
            <c:strRef>
              <c:f>Sheet1!$I$1</c:f>
              <c:strCache>
                <c:ptCount val="1"/>
                <c:pt idx="0">
                  <c:v>Segment 8</c:v>
                </c:pt>
              </c:strCache>
            </c:strRef>
          </c:tx>
          <c:spPr>
            <a:ln w="28575" cap="rnd">
              <a:solidFill>
                <a:schemeClr val="accent2">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Sheet1!$I$2:$I$12</c:f>
              <c:numCache>
                <c:formatCode>0.0%</c:formatCode>
                <c:ptCount val="11"/>
                <c:pt idx="0">
                  <c:v>5.1000000000000004E-2</c:v>
                </c:pt>
                <c:pt idx="1">
                  <c:v>5.3000000000000005E-2</c:v>
                </c:pt>
                <c:pt idx="2">
                  <c:v>5.4000000000000006E-2</c:v>
                </c:pt>
                <c:pt idx="3">
                  <c:v>5.5E-2</c:v>
                </c:pt>
                <c:pt idx="4">
                  <c:v>5.5E-2</c:v>
                </c:pt>
                <c:pt idx="5">
                  <c:v>5.4000000000000006E-2</c:v>
                </c:pt>
                <c:pt idx="6">
                  <c:v>5.4000000000000006E-2</c:v>
                </c:pt>
                <c:pt idx="7">
                  <c:v>5.3000000000000005E-2</c:v>
                </c:pt>
                <c:pt idx="8">
                  <c:v>5.2000000000000005E-2</c:v>
                </c:pt>
                <c:pt idx="9">
                  <c:v>5.1000000000000004E-2</c:v>
                </c:pt>
                <c:pt idx="10">
                  <c:v>4.8000000000000001E-2</c:v>
                </c:pt>
              </c:numCache>
            </c:numRef>
          </c:val>
          <c:smooth val="1"/>
          <c:extLst>
            <c:ext xmlns:c16="http://schemas.microsoft.com/office/drawing/2014/chart" uri="{C3380CC4-5D6E-409C-BE32-E72D297353CC}">
              <c16:uniqueId val="{00000007-D299-4B53-A6F6-A44322BE864B}"/>
            </c:ext>
          </c:extLst>
        </c:ser>
        <c:ser>
          <c:idx val="8"/>
          <c:order val="8"/>
          <c:tx>
            <c:strRef>
              <c:f>Sheet1!$J$1</c:f>
              <c:strCache>
                <c:ptCount val="1"/>
                <c:pt idx="0">
                  <c:v>Segment 9</c:v>
                </c:pt>
              </c:strCache>
            </c:strRef>
          </c:tx>
          <c:spPr>
            <a:ln w="28575" cap="rnd">
              <a:solidFill>
                <a:schemeClr val="accent3">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Sheet1!$J$2:$J$12</c:f>
              <c:numCache>
                <c:formatCode>0.0%</c:formatCode>
                <c:ptCount val="11"/>
                <c:pt idx="0">
                  <c:v>4.8868290059229491E-2</c:v>
                </c:pt>
                <c:pt idx="1">
                  <c:v>4.8113816765382483E-2</c:v>
                </c:pt>
                <c:pt idx="2">
                  <c:v>4.7736580118458979E-2</c:v>
                </c:pt>
                <c:pt idx="3">
                  <c:v>4.7359343471535476E-2</c:v>
                </c:pt>
                <c:pt idx="4">
                  <c:v>4.7359343471535476E-2</c:v>
                </c:pt>
                <c:pt idx="5">
                  <c:v>4.7359343471535476E-2</c:v>
                </c:pt>
                <c:pt idx="6">
                  <c:v>4.7736580118458979E-2</c:v>
                </c:pt>
                <c:pt idx="7">
                  <c:v>4.8113816765382483E-2</c:v>
                </c:pt>
                <c:pt idx="8">
                  <c:v>4.8491053412305987E-2</c:v>
                </c:pt>
                <c:pt idx="9">
                  <c:v>4.8868290059229491E-2</c:v>
                </c:pt>
                <c:pt idx="10">
                  <c:v>4.9622763353076499E-2</c:v>
                </c:pt>
              </c:numCache>
            </c:numRef>
          </c:val>
          <c:smooth val="1"/>
          <c:extLst>
            <c:ext xmlns:c16="http://schemas.microsoft.com/office/drawing/2014/chart" uri="{C3380CC4-5D6E-409C-BE32-E72D297353CC}">
              <c16:uniqueId val="{00000008-D299-4B53-A6F6-A44322BE864B}"/>
            </c:ext>
          </c:extLst>
        </c:ser>
        <c:ser>
          <c:idx val="9"/>
          <c:order val="9"/>
          <c:tx>
            <c:strRef>
              <c:f>Sheet1!$K$1</c:f>
              <c:strCache>
                <c:ptCount val="1"/>
                <c:pt idx="0">
                  <c:v>Segment 10</c:v>
                </c:pt>
              </c:strCache>
            </c:strRef>
          </c:tx>
          <c:spPr>
            <a:ln w="28575" cap="rnd">
              <a:solidFill>
                <a:schemeClr val="accent4">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Sheet1!$K$2:$K$12</c:f>
              <c:numCache>
                <c:formatCode>0.0%</c:formatCode>
                <c:ptCount val="11"/>
                <c:pt idx="0">
                  <c:v>6.0000000000000005E-2</c:v>
                </c:pt>
                <c:pt idx="1">
                  <c:v>6.0000000000000005E-2</c:v>
                </c:pt>
                <c:pt idx="2">
                  <c:v>5.9500325887083094E-2</c:v>
                </c:pt>
                <c:pt idx="3">
                  <c:v>5.9500325887083094E-2</c:v>
                </c:pt>
                <c:pt idx="4">
                  <c:v>6.0000000000000005E-2</c:v>
                </c:pt>
                <c:pt idx="5">
                  <c:v>6.074951116937536E-2</c:v>
                </c:pt>
                <c:pt idx="6">
                  <c:v>6.074951116937536E-2</c:v>
                </c:pt>
                <c:pt idx="7">
                  <c:v>5.9750162943541546E-2</c:v>
                </c:pt>
                <c:pt idx="8">
                  <c:v>5.8750814717707739E-2</c:v>
                </c:pt>
                <c:pt idx="9">
                  <c:v>5.8500977661249287E-2</c:v>
                </c:pt>
                <c:pt idx="10">
                  <c:v>5.9250488830624642E-2</c:v>
                </c:pt>
              </c:numCache>
            </c:numRef>
          </c:val>
          <c:smooth val="1"/>
          <c:extLst>
            <c:ext xmlns:c16="http://schemas.microsoft.com/office/drawing/2014/chart" uri="{C3380CC4-5D6E-409C-BE32-E72D297353CC}">
              <c16:uniqueId val="{00000009-D299-4B53-A6F6-A44322BE864B}"/>
            </c:ext>
          </c:extLst>
        </c:ser>
        <c:ser>
          <c:idx val="10"/>
          <c:order val="10"/>
          <c:tx>
            <c:strRef>
              <c:f>Sheet1!$L$1</c:f>
              <c:strCache>
                <c:ptCount val="1"/>
                <c:pt idx="0">
                  <c:v>Segment 11</c:v>
                </c:pt>
              </c:strCache>
            </c:strRef>
          </c:tx>
          <c:spPr>
            <a:ln w="28575" cap="rnd">
              <a:solidFill>
                <a:schemeClr val="accent5">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Sheet1!$L$2:$L$12</c:f>
              <c:numCache>
                <c:formatCode>0.0%</c:formatCode>
                <c:ptCount val="11"/>
                <c:pt idx="0">
                  <c:v>5.4543972999083631E-2</c:v>
                </c:pt>
                <c:pt idx="1">
                  <c:v>5.5553744776657768E-2</c:v>
                </c:pt>
                <c:pt idx="2">
                  <c:v>5.6563516554231912E-2</c:v>
                </c:pt>
                <c:pt idx="3">
                  <c:v>5.706840244301898E-2</c:v>
                </c:pt>
                <c:pt idx="4">
                  <c:v>5.8583060109380192E-2</c:v>
                </c:pt>
                <c:pt idx="5">
                  <c:v>5.9592831886954335E-2</c:v>
                </c:pt>
                <c:pt idx="6">
                  <c:v>6.110748955331554E-2</c:v>
                </c:pt>
                <c:pt idx="7">
                  <c:v>6.1612375442102602E-2</c:v>
                </c:pt>
                <c:pt idx="8">
                  <c:v>6.2622147219676738E-2</c:v>
                </c:pt>
                <c:pt idx="9">
                  <c:v>6.3631918997250889E-2</c:v>
                </c:pt>
                <c:pt idx="10">
                  <c:v>6.4641690774825025E-2</c:v>
                </c:pt>
              </c:numCache>
            </c:numRef>
          </c:val>
          <c:smooth val="1"/>
          <c:extLst>
            <c:ext xmlns:c16="http://schemas.microsoft.com/office/drawing/2014/chart" uri="{C3380CC4-5D6E-409C-BE32-E72D297353CC}">
              <c16:uniqueId val="{0000000A-D299-4B53-A6F6-A44322BE864B}"/>
            </c:ext>
          </c:extLst>
        </c:ser>
        <c:ser>
          <c:idx val="11"/>
          <c:order val="11"/>
          <c:tx>
            <c:strRef>
              <c:f>Sheet1!$M$1</c:f>
              <c:strCache>
                <c:ptCount val="1"/>
                <c:pt idx="0">
                  <c:v>Segment 12</c:v>
                </c:pt>
              </c:strCache>
            </c:strRef>
          </c:tx>
          <c:spPr>
            <a:ln w="28575" cap="rnd">
              <a:solidFill>
                <a:schemeClr val="accent6">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Sheet1!$M$2:$M$12</c:f>
              <c:numCache>
                <c:formatCode>0.0%</c:formatCode>
                <c:ptCount val="11"/>
                <c:pt idx="0">
                  <c:v>6.1185047424354426E-2</c:v>
                </c:pt>
                <c:pt idx="1">
                  <c:v>6.2215657576482793E-2</c:v>
                </c:pt>
                <c:pt idx="2">
                  <c:v>6.3204322608910277E-2</c:v>
                </c:pt>
                <c:pt idx="3">
                  <c:v>6.4230895388622394E-2</c:v>
                </c:pt>
                <c:pt idx="4">
                  <c:v>6.5257468168334554E-2</c:v>
                </c:pt>
                <c:pt idx="5">
                  <c:v>7.1937864292673542E-2</c:v>
                </c:pt>
                <c:pt idx="6">
                  <c:v>7.306162280138255E-2</c:v>
                </c:pt>
                <c:pt idx="7">
                  <c:v>7.4185381310091544E-2</c:v>
                </c:pt>
                <c:pt idx="8">
                  <c:v>7.3988724749526127E-2</c:v>
                </c:pt>
                <c:pt idx="9">
                  <c:v>7.3264434409645862E-2</c:v>
                </c:pt>
                <c:pt idx="10">
                  <c:v>7.2860603058929149E-2</c:v>
                </c:pt>
              </c:numCache>
            </c:numRef>
          </c:val>
          <c:smooth val="1"/>
          <c:extLst>
            <c:ext xmlns:c16="http://schemas.microsoft.com/office/drawing/2014/chart" uri="{C3380CC4-5D6E-409C-BE32-E72D297353CC}">
              <c16:uniqueId val="{0000000B-D299-4B53-A6F6-A44322BE864B}"/>
            </c:ext>
          </c:extLst>
        </c:ser>
        <c:dLbls>
          <c:showLegendKey val="0"/>
          <c:showVal val="0"/>
          <c:showCatName val="0"/>
          <c:showSerName val="0"/>
          <c:showPercent val="0"/>
          <c:showBubbleSize val="0"/>
        </c:dLbls>
        <c:smooth val="0"/>
        <c:axId val="336846368"/>
        <c:axId val="336845824"/>
      </c:lineChart>
      <c:catAx>
        <c:axId val="336846368"/>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45824"/>
        <c:crossesAt val="-3.5000000000000003E-2"/>
        <c:auto val="1"/>
        <c:lblAlgn val="ctr"/>
        <c:lblOffset val="100"/>
        <c:noMultiLvlLbl val="0"/>
      </c:catAx>
      <c:valAx>
        <c:axId val="336845824"/>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336846368"/>
        <c:crosses val="autoZero"/>
        <c:crossBetween val="between"/>
      </c:valAx>
      <c:spPr>
        <a:noFill/>
        <a:ln w="25400">
          <a:noFill/>
        </a:ln>
        <a:effectLst/>
      </c:spPr>
    </c:plotArea>
    <c:legend>
      <c:legendPos val="b"/>
      <c:layout>
        <c:manualLayout>
          <c:xMode val="edge"/>
          <c:yMode val="edge"/>
          <c:x val="0"/>
          <c:y val="0.81733067057011788"/>
          <c:w val="1"/>
          <c:h val="0.1826693294298820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12700">
      <a:noFill/>
    </a:ln>
    <a:effectLst/>
  </c:spPr>
  <c:txPr>
    <a:bodyPr/>
    <a:lstStyle/>
    <a:p>
      <a:pPr>
        <a:defRPr sz="1100">
          <a:solidFill>
            <a:schemeClr val="tx1"/>
          </a:solidFill>
        </a:defRPr>
      </a:pPr>
      <a:endParaRPr lang="en-US"/>
    </a:p>
  </c:txPr>
  <c:externalData r:id="rId3">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336860512"/>
        <c:axId val="336847456"/>
      </c:barChart>
      <c:catAx>
        <c:axId val="3368605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47456"/>
        <c:crosses val="autoZero"/>
        <c:auto val="1"/>
        <c:lblAlgn val="ctr"/>
        <c:lblOffset val="100"/>
        <c:noMultiLvlLbl val="0"/>
      </c:catAx>
      <c:valAx>
        <c:axId val="336847456"/>
        <c:scaling>
          <c:orientation val="minMax"/>
        </c:scaling>
        <c:delete val="1"/>
        <c:axPos val="l"/>
        <c:numFmt formatCode="#,##0.0" sourceLinked="1"/>
        <c:majorTickMark val="none"/>
        <c:minorTickMark val="none"/>
        <c:tickLblPos val="nextTo"/>
        <c:crossAx val="336860512"/>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336870304"/>
        <c:axId val="336850176"/>
      </c:barChart>
      <c:catAx>
        <c:axId val="3368703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50176"/>
        <c:crosses val="autoZero"/>
        <c:auto val="1"/>
        <c:lblAlgn val="ctr"/>
        <c:lblOffset val="100"/>
        <c:noMultiLvlLbl val="0"/>
      </c:catAx>
      <c:valAx>
        <c:axId val="336850176"/>
        <c:scaling>
          <c:orientation val="minMax"/>
        </c:scaling>
        <c:delete val="1"/>
        <c:axPos val="l"/>
        <c:numFmt formatCode="#,##0.0" sourceLinked="1"/>
        <c:majorTickMark val="none"/>
        <c:minorTickMark val="none"/>
        <c:tickLblPos val="nextTo"/>
        <c:crossAx val="336870304"/>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336869216"/>
        <c:axId val="336863232"/>
      </c:barChart>
      <c:catAx>
        <c:axId val="3368692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63232"/>
        <c:crosses val="autoZero"/>
        <c:auto val="1"/>
        <c:lblAlgn val="ctr"/>
        <c:lblOffset val="100"/>
        <c:noMultiLvlLbl val="0"/>
      </c:catAx>
      <c:valAx>
        <c:axId val="336863232"/>
        <c:scaling>
          <c:orientation val="minMax"/>
        </c:scaling>
        <c:delete val="1"/>
        <c:axPos val="l"/>
        <c:numFmt formatCode="#,##0.0" sourceLinked="1"/>
        <c:majorTickMark val="none"/>
        <c:minorTickMark val="none"/>
        <c:tickLblPos val="nextTo"/>
        <c:crossAx val="33686921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336854528"/>
        <c:axId val="336856704"/>
      </c:barChart>
      <c:catAx>
        <c:axId val="3368545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56704"/>
        <c:crosses val="autoZero"/>
        <c:auto val="1"/>
        <c:lblAlgn val="ctr"/>
        <c:lblOffset val="100"/>
        <c:noMultiLvlLbl val="0"/>
      </c:catAx>
      <c:valAx>
        <c:axId val="336856704"/>
        <c:scaling>
          <c:orientation val="minMax"/>
        </c:scaling>
        <c:delete val="1"/>
        <c:axPos val="l"/>
        <c:numFmt formatCode="#,##0.0" sourceLinked="1"/>
        <c:majorTickMark val="none"/>
        <c:minorTickMark val="none"/>
        <c:tickLblPos val="nextTo"/>
        <c:crossAx val="336854528"/>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336849088"/>
        <c:axId val="336838752"/>
      </c:barChart>
      <c:catAx>
        <c:axId val="3368490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38752"/>
        <c:crosses val="autoZero"/>
        <c:auto val="1"/>
        <c:lblAlgn val="ctr"/>
        <c:lblOffset val="100"/>
        <c:noMultiLvlLbl val="0"/>
      </c:catAx>
      <c:valAx>
        <c:axId val="336838752"/>
        <c:scaling>
          <c:orientation val="minMax"/>
        </c:scaling>
        <c:delete val="1"/>
        <c:axPos val="l"/>
        <c:numFmt formatCode="#,##0.0" sourceLinked="1"/>
        <c:majorTickMark val="none"/>
        <c:minorTickMark val="none"/>
        <c:tickLblPos val="nextTo"/>
        <c:crossAx val="336849088"/>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336868672"/>
        <c:axId val="336850720"/>
      </c:barChart>
      <c:catAx>
        <c:axId val="3368686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50720"/>
        <c:crosses val="autoZero"/>
        <c:auto val="1"/>
        <c:lblAlgn val="ctr"/>
        <c:lblOffset val="100"/>
        <c:noMultiLvlLbl val="0"/>
      </c:catAx>
      <c:valAx>
        <c:axId val="336850720"/>
        <c:scaling>
          <c:orientation val="minMax"/>
        </c:scaling>
        <c:delete val="1"/>
        <c:axPos val="l"/>
        <c:numFmt formatCode="#,##0.0" sourceLinked="1"/>
        <c:majorTickMark val="none"/>
        <c:minorTickMark val="none"/>
        <c:tickLblPos val="nextTo"/>
        <c:crossAx val="336868672"/>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336840384"/>
        <c:axId val="336853984"/>
      </c:barChart>
      <c:catAx>
        <c:axId val="3368403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53984"/>
        <c:crosses val="autoZero"/>
        <c:auto val="1"/>
        <c:lblAlgn val="ctr"/>
        <c:lblOffset val="100"/>
        <c:noMultiLvlLbl val="0"/>
      </c:catAx>
      <c:valAx>
        <c:axId val="336853984"/>
        <c:scaling>
          <c:orientation val="minMax"/>
        </c:scaling>
        <c:delete val="1"/>
        <c:axPos val="l"/>
        <c:numFmt formatCode="#,##0.0" sourceLinked="1"/>
        <c:majorTickMark val="none"/>
        <c:minorTickMark val="none"/>
        <c:tickLblPos val="nextTo"/>
        <c:crossAx val="336840384"/>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336861056"/>
        <c:axId val="336869760"/>
      </c:barChart>
      <c:catAx>
        <c:axId val="3368610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69760"/>
        <c:crosses val="autoZero"/>
        <c:auto val="1"/>
        <c:lblAlgn val="ctr"/>
        <c:lblOffset val="100"/>
        <c:noMultiLvlLbl val="0"/>
      </c:catAx>
      <c:valAx>
        <c:axId val="336869760"/>
        <c:scaling>
          <c:orientation val="minMax"/>
        </c:scaling>
        <c:delete val="1"/>
        <c:axPos val="l"/>
        <c:numFmt formatCode="#,##0.0" sourceLinked="1"/>
        <c:majorTickMark val="none"/>
        <c:minorTickMark val="none"/>
        <c:tickLblPos val="nextTo"/>
        <c:crossAx val="33686105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586017868029705E-2"/>
          <c:y val="5.6718815469420834E-2"/>
          <c:w val="0.92649309691078063"/>
          <c:h val="0.72664225195762067"/>
        </c:manualLayout>
      </c:layout>
      <c:barChart>
        <c:barDir val="col"/>
        <c:grouping val="percentStacked"/>
        <c:varyColors val="0"/>
        <c:ser>
          <c:idx val="0"/>
          <c:order val="0"/>
          <c:tx>
            <c:strRef>
              <c:f>Sheet1!$B$1</c:f>
              <c:strCache>
                <c:ptCount val="1"/>
                <c:pt idx="0">
                  <c:v>Segment 1</c:v>
                </c:pt>
              </c:strCache>
            </c:strRef>
          </c:tx>
          <c:spPr>
            <a:solidFill>
              <a:schemeClr val="accent1"/>
            </a:solidFill>
            <a:ln>
              <a:noFill/>
            </a:ln>
            <a:effectLst/>
          </c:spPr>
          <c:invertIfNegative val="0"/>
          <c:cat>
            <c:strRef>
              <c:f>Sheet1!$A$2:$A$3</c:f>
              <c:strCache>
                <c:ptCount val="2"/>
                <c:pt idx="0">
                  <c:v>2024E</c:v>
                </c:pt>
                <c:pt idx="1">
                  <c:v>2034F</c:v>
                </c:pt>
              </c:strCache>
            </c:strRef>
          </c:cat>
          <c:val>
            <c:numRef>
              <c:f>Sheet1!$B$2:$B$3</c:f>
              <c:numCache>
                <c:formatCode>0.0%</c:formatCode>
                <c:ptCount val="2"/>
                <c:pt idx="0">
                  <c:v>0.5</c:v>
                </c:pt>
                <c:pt idx="1">
                  <c:v>0.5</c:v>
                </c:pt>
              </c:numCache>
            </c:numRef>
          </c:val>
          <c:extLst>
            <c:ext xmlns:c16="http://schemas.microsoft.com/office/drawing/2014/chart" uri="{C3380CC4-5D6E-409C-BE32-E72D297353CC}">
              <c16:uniqueId val="{00000000-399A-4293-BB78-EFC0E0F10571}"/>
            </c:ext>
          </c:extLst>
        </c:ser>
        <c:ser>
          <c:idx val="1"/>
          <c:order val="1"/>
          <c:tx>
            <c:strRef>
              <c:f>Sheet1!$C$1</c:f>
              <c:strCache>
                <c:ptCount val="1"/>
                <c:pt idx="0">
                  <c:v>Segment 2</c:v>
                </c:pt>
              </c:strCache>
            </c:strRef>
          </c:tx>
          <c:spPr>
            <a:solidFill>
              <a:schemeClr val="accent2"/>
            </a:solidFill>
            <a:ln>
              <a:noFill/>
            </a:ln>
            <a:effectLst/>
          </c:spPr>
          <c:invertIfNegative val="0"/>
          <c:cat>
            <c:strRef>
              <c:f>Sheet1!$A$2:$A$3</c:f>
              <c:strCache>
                <c:ptCount val="2"/>
                <c:pt idx="0">
                  <c:v>2024E</c:v>
                </c:pt>
                <c:pt idx="1">
                  <c:v>2034F</c:v>
                </c:pt>
              </c:strCache>
            </c:strRef>
          </c:cat>
          <c:val>
            <c:numRef>
              <c:f>Sheet1!$C$2:$C$3</c:f>
              <c:numCache>
                <c:formatCode>0.0%</c:formatCode>
                <c:ptCount val="2"/>
                <c:pt idx="0">
                  <c:v>0.5</c:v>
                </c:pt>
                <c:pt idx="1">
                  <c:v>0.5</c:v>
                </c:pt>
              </c:numCache>
            </c:numRef>
          </c:val>
          <c:extLst>
            <c:ext xmlns:c16="http://schemas.microsoft.com/office/drawing/2014/chart" uri="{C3380CC4-5D6E-409C-BE32-E72D297353CC}">
              <c16:uniqueId val="{00000001-399A-4293-BB78-EFC0E0F10571}"/>
            </c:ext>
          </c:extLst>
        </c:ser>
        <c:ser>
          <c:idx val="2"/>
          <c:order val="2"/>
          <c:tx>
            <c:strRef>
              <c:f>Sheet1!$D$1</c:f>
              <c:strCache>
                <c:ptCount val="1"/>
                <c:pt idx="0">
                  <c:v>Segment 3</c:v>
                </c:pt>
              </c:strCache>
            </c:strRef>
          </c:tx>
          <c:spPr>
            <a:solidFill>
              <a:schemeClr val="accent3"/>
            </a:solidFill>
            <a:ln>
              <a:noFill/>
            </a:ln>
            <a:effectLst/>
          </c:spPr>
          <c:invertIfNegative val="0"/>
          <c:cat>
            <c:strRef>
              <c:f>Sheet1!$A$2:$A$3</c:f>
              <c:strCache>
                <c:ptCount val="2"/>
                <c:pt idx="0">
                  <c:v>2024E</c:v>
                </c:pt>
                <c:pt idx="1">
                  <c:v>2034F</c:v>
                </c:pt>
              </c:strCache>
            </c:strRef>
          </c:cat>
          <c:val>
            <c:numRef>
              <c:f>Sheet1!$D$2:$D$3</c:f>
              <c:numCache>
                <c:formatCode>0.0%</c:formatCode>
                <c:ptCount val="2"/>
                <c:pt idx="0">
                  <c:v>0.1</c:v>
                </c:pt>
                <c:pt idx="1">
                  <c:v>0.1</c:v>
                </c:pt>
              </c:numCache>
            </c:numRef>
          </c:val>
          <c:extLst>
            <c:ext xmlns:c16="http://schemas.microsoft.com/office/drawing/2014/chart" uri="{C3380CC4-5D6E-409C-BE32-E72D297353CC}">
              <c16:uniqueId val="{00000002-399A-4293-BB78-EFC0E0F10571}"/>
            </c:ext>
          </c:extLst>
        </c:ser>
        <c:ser>
          <c:idx val="3"/>
          <c:order val="3"/>
          <c:tx>
            <c:strRef>
              <c:f>Sheet1!$E$1</c:f>
              <c:strCache>
                <c:ptCount val="1"/>
                <c:pt idx="0">
                  <c:v>Segment 4</c:v>
                </c:pt>
              </c:strCache>
            </c:strRef>
          </c:tx>
          <c:spPr>
            <a:solidFill>
              <a:schemeClr val="accent4"/>
            </a:solidFill>
            <a:ln>
              <a:noFill/>
            </a:ln>
            <a:effectLst/>
          </c:spPr>
          <c:invertIfNegative val="0"/>
          <c:cat>
            <c:strRef>
              <c:f>Sheet1!$A$2:$A$3</c:f>
              <c:strCache>
                <c:ptCount val="2"/>
                <c:pt idx="0">
                  <c:v>2024E</c:v>
                </c:pt>
                <c:pt idx="1">
                  <c:v>2034F</c:v>
                </c:pt>
              </c:strCache>
            </c:strRef>
          </c:cat>
          <c:val>
            <c:numRef>
              <c:f>Sheet1!$E$2:$E$3</c:f>
              <c:numCache>
                <c:formatCode>0.0%</c:formatCode>
                <c:ptCount val="2"/>
                <c:pt idx="0">
                  <c:v>0.5</c:v>
                </c:pt>
                <c:pt idx="1">
                  <c:v>0.5</c:v>
                </c:pt>
              </c:numCache>
            </c:numRef>
          </c:val>
          <c:extLst>
            <c:ext xmlns:c16="http://schemas.microsoft.com/office/drawing/2014/chart" uri="{C3380CC4-5D6E-409C-BE32-E72D297353CC}">
              <c16:uniqueId val="{00000003-399A-4293-BB78-EFC0E0F10571}"/>
            </c:ext>
          </c:extLst>
        </c:ser>
        <c:ser>
          <c:idx val="4"/>
          <c:order val="4"/>
          <c:tx>
            <c:strRef>
              <c:f>Sheet1!$F$1</c:f>
              <c:strCache>
                <c:ptCount val="1"/>
                <c:pt idx="0">
                  <c:v>Segment 5</c:v>
                </c:pt>
              </c:strCache>
            </c:strRef>
          </c:tx>
          <c:spPr>
            <a:solidFill>
              <a:schemeClr val="accent5"/>
            </a:solidFill>
            <a:ln>
              <a:noFill/>
            </a:ln>
            <a:effectLst/>
          </c:spPr>
          <c:invertIfNegative val="0"/>
          <c:cat>
            <c:strRef>
              <c:f>Sheet1!$A$2:$A$3</c:f>
              <c:strCache>
                <c:ptCount val="2"/>
                <c:pt idx="0">
                  <c:v>2024E</c:v>
                </c:pt>
                <c:pt idx="1">
                  <c:v>2034F</c:v>
                </c:pt>
              </c:strCache>
            </c:strRef>
          </c:cat>
          <c:val>
            <c:numRef>
              <c:f>Sheet1!$F$2:$F$3</c:f>
              <c:numCache>
                <c:formatCode>0.0%</c:formatCode>
                <c:ptCount val="2"/>
                <c:pt idx="0">
                  <c:v>0.25</c:v>
                </c:pt>
                <c:pt idx="1">
                  <c:v>0.25</c:v>
                </c:pt>
              </c:numCache>
            </c:numRef>
          </c:val>
          <c:extLst>
            <c:ext xmlns:c16="http://schemas.microsoft.com/office/drawing/2014/chart" uri="{C3380CC4-5D6E-409C-BE32-E72D297353CC}">
              <c16:uniqueId val="{00000004-399A-4293-BB78-EFC0E0F10571}"/>
            </c:ext>
          </c:extLst>
        </c:ser>
        <c:ser>
          <c:idx val="5"/>
          <c:order val="5"/>
          <c:tx>
            <c:strRef>
              <c:f>Sheet1!$G$1</c:f>
              <c:strCache>
                <c:ptCount val="1"/>
                <c:pt idx="0">
                  <c:v>Segment 6</c:v>
                </c:pt>
              </c:strCache>
            </c:strRef>
          </c:tx>
          <c:spPr>
            <a:solidFill>
              <a:schemeClr val="accent6"/>
            </a:solidFill>
            <a:ln>
              <a:noFill/>
            </a:ln>
            <a:effectLst/>
          </c:spPr>
          <c:invertIfNegative val="0"/>
          <c:cat>
            <c:strRef>
              <c:f>Sheet1!$A$2:$A$3</c:f>
              <c:strCache>
                <c:ptCount val="2"/>
                <c:pt idx="0">
                  <c:v>2024E</c:v>
                </c:pt>
                <c:pt idx="1">
                  <c:v>2034F</c:v>
                </c:pt>
              </c:strCache>
            </c:strRef>
          </c:cat>
          <c:val>
            <c:numRef>
              <c:f>Sheet1!$G$2:$G$3</c:f>
              <c:numCache>
                <c:formatCode>0.0%</c:formatCode>
                <c:ptCount val="2"/>
                <c:pt idx="0">
                  <c:v>0.3</c:v>
                </c:pt>
                <c:pt idx="1">
                  <c:v>0.3</c:v>
                </c:pt>
              </c:numCache>
            </c:numRef>
          </c:val>
          <c:extLst>
            <c:ext xmlns:c16="http://schemas.microsoft.com/office/drawing/2014/chart" uri="{C3380CC4-5D6E-409C-BE32-E72D297353CC}">
              <c16:uniqueId val="{00000005-399A-4293-BB78-EFC0E0F10571}"/>
            </c:ext>
          </c:extLst>
        </c:ser>
        <c:ser>
          <c:idx val="6"/>
          <c:order val="6"/>
          <c:tx>
            <c:strRef>
              <c:f>Sheet1!$H$1</c:f>
              <c:strCache>
                <c:ptCount val="1"/>
                <c:pt idx="0">
                  <c:v>Segment 7</c:v>
                </c:pt>
              </c:strCache>
            </c:strRef>
          </c:tx>
          <c:spPr>
            <a:solidFill>
              <a:schemeClr val="accent1">
                <a:lumMod val="60000"/>
              </a:schemeClr>
            </a:solidFill>
            <a:ln>
              <a:noFill/>
            </a:ln>
            <a:effectLst/>
          </c:spPr>
          <c:invertIfNegative val="0"/>
          <c:cat>
            <c:strRef>
              <c:f>Sheet1!$A$2:$A$3</c:f>
              <c:strCache>
                <c:ptCount val="2"/>
                <c:pt idx="0">
                  <c:v>2024E</c:v>
                </c:pt>
                <c:pt idx="1">
                  <c:v>2034F</c:v>
                </c:pt>
              </c:strCache>
            </c:strRef>
          </c:cat>
          <c:val>
            <c:numRef>
              <c:f>Sheet1!$H$2:$H$3</c:f>
              <c:numCache>
                <c:formatCode>0.0%</c:formatCode>
                <c:ptCount val="2"/>
                <c:pt idx="0">
                  <c:v>0.5</c:v>
                </c:pt>
                <c:pt idx="1">
                  <c:v>0.5</c:v>
                </c:pt>
              </c:numCache>
            </c:numRef>
          </c:val>
          <c:extLst>
            <c:ext xmlns:c16="http://schemas.microsoft.com/office/drawing/2014/chart" uri="{C3380CC4-5D6E-409C-BE32-E72D297353CC}">
              <c16:uniqueId val="{00000006-399A-4293-BB78-EFC0E0F10571}"/>
            </c:ext>
          </c:extLst>
        </c:ser>
        <c:ser>
          <c:idx val="7"/>
          <c:order val="7"/>
          <c:tx>
            <c:strRef>
              <c:f>Sheet1!$I$1</c:f>
              <c:strCache>
                <c:ptCount val="1"/>
                <c:pt idx="0">
                  <c:v>Segment 8</c:v>
                </c:pt>
              </c:strCache>
            </c:strRef>
          </c:tx>
          <c:spPr>
            <a:solidFill>
              <a:schemeClr val="accent2">
                <a:lumMod val="60000"/>
              </a:schemeClr>
            </a:solidFill>
            <a:ln>
              <a:noFill/>
            </a:ln>
            <a:effectLst/>
          </c:spPr>
          <c:invertIfNegative val="0"/>
          <c:cat>
            <c:strRef>
              <c:f>Sheet1!$A$2:$A$3</c:f>
              <c:strCache>
                <c:ptCount val="2"/>
                <c:pt idx="0">
                  <c:v>2024E</c:v>
                </c:pt>
                <c:pt idx="1">
                  <c:v>2034F</c:v>
                </c:pt>
              </c:strCache>
            </c:strRef>
          </c:cat>
          <c:val>
            <c:numRef>
              <c:f>Sheet1!$I$2:$I$3</c:f>
              <c:numCache>
                <c:formatCode>0.0%</c:formatCode>
                <c:ptCount val="2"/>
                <c:pt idx="0">
                  <c:v>0.5</c:v>
                </c:pt>
                <c:pt idx="1">
                  <c:v>0.5</c:v>
                </c:pt>
              </c:numCache>
            </c:numRef>
          </c:val>
          <c:extLst>
            <c:ext xmlns:c16="http://schemas.microsoft.com/office/drawing/2014/chart" uri="{C3380CC4-5D6E-409C-BE32-E72D297353CC}">
              <c16:uniqueId val="{00000007-399A-4293-BB78-EFC0E0F10571}"/>
            </c:ext>
          </c:extLst>
        </c:ser>
        <c:ser>
          <c:idx val="8"/>
          <c:order val="8"/>
          <c:tx>
            <c:strRef>
              <c:f>Sheet1!$J$1</c:f>
              <c:strCache>
                <c:ptCount val="1"/>
                <c:pt idx="0">
                  <c:v>Segment 9</c:v>
                </c:pt>
              </c:strCache>
            </c:strRef>
          </c:tx>
          <c:spPr>
            <a:solidFill>
              <a:schemeClr val="accent3">
                <a:lumMod val="60000"/>
              </a:schemeClr>
            </a:solidFill>
            <a:ln>
              <a:noFill/>
            </a:ln>
            <a:effectLst/>
          </c:spPr>
          <c:invertIfNegative val="0"/>
          <c:cat>
            <c:strRef>
              <c:f>Sheet1!$A$2:$A$3</c:f>
              <c:strCache>
                <c:ptCount val="2"/>
                <c:pt idx="0">
                  <c:v>2024E</c:v>
                </c:pt>
                <c:pt idx="1">
                  <c:v>2034F</c:v>
                </c:pt>
              </c:strCache>
            </c:strRef>
          </c:cat>
          <c:val>
            <c:numRef>
              <c:f>Sheet1!$J$2:$J$3</c:f>
              <c:numCache>
                <c:formatCode>0.0%</c:formatCode>
                <c:ptCount val="2"/>
                <c:pt idx="0">
                  <c:v>0.56000000000000005</c:v>
                </c:pt>
                <c:pt idx="1">
                  <c:v>0.56000000000000005</c:v>
                </c:pt>
              </c:numCache>
            </c:numRef>
          </c:val>
          <c:extLst>
            <c:ext xmlns:c16="http://schemas.microsoft.com/office/drawing/2014/chart" uri="{C3380CC4-5D6E-409C-BE32-E72D297353CC}">
              <c16:uniqueId val="{00000008-399A-4293-BB78-EFC0E0F10571}"/>
            </c:ext>
          </c:extLst>
        </c:ser>
        <c:ser>
          <c:idx val="9"/>
          <c:order val="9"/>
          <c:tx>
            <c:strRef>
              <c:f>Sheet1!$K$1</c:f>
              <c:strCache>
                <c:ptCount val="1"/>
                <c:pt idx="0">
                  <c:v>Segment 10</c:v>
                </c:pt>
              </c:strCache>
            </c:strRef>
          </c:tx>
          <c:spPr>
            <a:solidFill>
              <a:schemeClr val="accent4">
                <a:lumMod val="60000"/>
              </a:schemeClr>
            </a:solidFill>
            <a:ln>
              <a:noFill/>
            </a:ln>
            <a:effectLst/>
          </c:spPr>
          <c:invertIfNegative val="0"/>
          <c:cat>
            <c:strRef>
              <c:f>Sheet1!$A$2:$A$3</c:f>
              <c:strCache>
                <c:ptCount val="2"/>
                <c:pt idx="0">
                  <c:v>2024E</c:v>
                </c:pt>
                <c:pt idx="1">
                  <c:v>2034F</c:v>
                </c:pt>
              </c:strCache>
            </c:strRef>
          </c:cat>
          <c:val>
            <c:numRef>
              <c:f>Sheet1!$K$2:$K$3</c:f>
              <c:numCache>
                <c:formatCode>0.0%</c:formatCode>
                <c:ptCount val="2"/>
                <c:pt idx="0">
                  <c:v>0.5</c:v>
                </c:pt>
                <c:pt idx="1">
                  <c:v>0.5</c:v>
                </c:pt>
              </c:numCache>
            </c:numRef>
          </c:val>
          <c:extLst>
            <c:ext xmlns:c16="http://schemas.microsoft.com/office/drawing/2014/chart" uri="{C3380CC4-5D6E-409C-BE32-E72D297353CC}">
              <c16:uniqueId val="{00000009-399A-4293-BB78-EFC0E0F10571}"/>
            </c:ext>
          </c:extLst>
        </c:ser>
        <c:ser>
          <c:idx val="10"/>
          <c:order val="10"/>
          <c:tx>
            <c:strRef>
              <c:f>Sheet1!$L$1</c:f>
              <c:strCache>
                <c:ptCount val="1"/>
                <c:pt idx="0">
                  <c:v>Segment 11</c:v>
                </c:pt>
              </c:strCache>
            </c:strRef>
          </c:tx>
          <c:spPr>
            <a:solidFill>
              <a:schemeClr val="accent5">
                <a:lumMod val="60000"/>
              </a:schemeClr>
            </a:solidFill>
            <a:ln>
              <a:noFill/>
            </a:ln>
            <a:effectLst/>
          </c:spPr>
          <c:invertIfNegative val="0"/>
          <c:cat>
            <c:strRef>
              <c:f>Sheet1!$A$2:$A$3</c:f>
              <c:strCache>
                <c:ptCount val="2"/>
                <c:pt idx="0">
                  <c:v>2024E</c:v>
                </c:pt>
                <c:pt idx="1">
                  <c:v>2034F</c:v>
                </c:pt>
              </c:strCache>
            </c:strRef>
          </c:cat>
          <c:val>
            <c:numRef>
              <c:f>Sheet1!$L$2:$L$3</c:f>
              <c:numCache>
                <c:formatCode>0.0%</c:formatCode>
                <c:ptCount val="2"/>
                <c:pt idx="0">
                  <c:v>0.7</c:v>
                </c:pt>
                <c:pt idx="1">
                  <c:v>0.7</c:v>
                </c:pt>
              </c:numCache>
            </c:numRef>
          </c:val>
          <c:extLst>
            <c:ext xmlns:c16="http://schemas.microsoft.com/office/drawing/2014/chart" uri="{C3380CC4-5D6E-409C-BE32-E72D297353CC}">
              <c16:uniqueId val="{0000000A-399A-4293-BB78-EFC0E0F10571}"/>
            </c:ext>
          </c:extLst>
        </c:ser>
        <c:ser>
          <c:idx val="11"/>
          <c:order val="11"/>
          <c:tx>
            <c:strRef>
              <c:f>Sheet1!$M$1</c:f>
              <c:strCache>
                <c:ptCount val="1"/>
                <c:pt idx="0">
                  <c:v>Segment 12</c:v>
                </c:pt>
              </c:strCache>
            </c:strRef>
          </c:tx>
          <c:spPr>
            <a:solidFill>
              <a:schemeClr val="accent6">
                <a:lumMod val="60000"/>
              </a:schemeClr>
            </a:solidFill>
            <a:ln>
              <a:noFill/>
            </a:ln>
            <a:effectLst/>
          </c:spPr>
          <c:invertIfNegative val="0"/>
          <c:cat>
            <c:strRef>
              <c:f>Sheet1!$A$2:$A$3</c:f>
              <c:strCache>
                <c:ptCount val="2"/>
                <c:pt idx="0">
                  <c:v>2024E</c:v>
                </c:pt>
                <c:pt idx="1">
                  <c:v>2034F</c:v>
                </c:pt>
              </c:strCache>
            </c:strRef>
          </c:cat>
          <c:val>
            <c:numRef>
              <c:f>Sheet1!$M$2:$M$3</c:f>
              <c:numCache>
                <c:formatCode>0.0%</c:formatCode>
                <c:ptCount val="2"/>
                <c:pt idx="0">
                  <c:v>0.5</c:v>
                </c:pt>
                <c:pt idx="1">
                  <c:v>0.5</c:v>
                </c:pt>
              </c:numCache>
            </c:numRef>
          </c:val>
          <c:extLst>
            <c:ext xmlns:c16="http://schemas.microsoft.com/office/drawing/2014/chart" uri="{C3380CC4-5D6E-409C-BE32-E72D297353CC}">
              <c16:uniqueId val="{0000000B-399A-4293-BB78-EFC0E0F10571}"/>
            </c:ext>
          </c:extLst>
        </c:ser>
        <c:dLbls>
          <c:showLegendKey val="0"/>
          <c:showVal val="0"/>
          <c:showCatName val="0"/>
          <c:showSerName val="0"/>
          <c:showPercent val="0"/>
          <c:showBubbleSize val="0"/>
        </c:dLbls>
        <c:gapWidth val="50"/>
        <c:overlap val="100"/>
        <c:axId val="336855072"/>
        <c:axId val="336852896"/>
      </c:barChart>
      <c:catAx>
        <c:axId val="3368550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336852896"/>
        <c:crosses val="autoZero"/>
        <c:auto val="1"/>
        <c:lblAlgn val="ctr"/>
        <c:lblOffset val="100"/>
        <c:noMultiLvlLbl val="0"/>
      </c:catAx>
      <c:valAx>
        <c:axId val="336852896"/>
        <c:scaling>
          <c:orientation val="minMax"/>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336855072"/>
        <c:crosses val="autoZero"/>
        <c:crossBetween val="between"/>
      </c:valAx>
      <c:spPr>
        <a:noFill/>
        <a:ln>
          <a:noFill/>
        </a:ln>
        <a:effectLst/>
      </c:spPr>
    </c:plotArea>
    <c:legend>
      <c:legendPos val="b"/>
      <c:layout>
        <c:manualLayout>
          <c:xMode val="edge"/>
          <c:yMode val="edge"/>
          <c:x val="0"/>
          <c:y val="0.83692483498304948"/>
          <c:w val="1"/>
          <c:h val="0.16307516501695063"/>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193926521544815"/>
          <c:y val="3.2403000316204716E-2"/>
          <c:w val="0.7016005889076895"/>
          <c:h val="0.82090372344009988"/>
        </c:manualLayout>
      </c:layout>
      <c:bubbleChart>
        <c:varyColors val="1"/>
        <c:ser>
          <c:idx val="0"/>
          <c:order val="0"/>
          <c:tx>
            <c:strRef>
              <c:f>Sheet1!$C$1</c:f>
              <c:strCache>
                <c:ptCount val="1"/>
                <c:pt idx="0">
                  <c:v>Y-Values</c:v>
                </c:pt>
              </c:strCache>
            </c:strRef>
          </c:tx>
          <c:invertIfNegative val="0"/>
          <c:dPt>
            <c:idx val="0"/>
            <c:invertIfNegative val="0"/>
            <c:bubble3D val="0"/>
            <c:spPr>
              <a:solidFill>
                <a:schemeClr val="accent1">
                  <a:alpha val="75000"/>
                </a:schemeClr>
              </a:solidFill>
              <a:ln>
                <a:noFill/>
              </a:ln>
              <a:effectLst/>
            </c:spPr>
            <c:extLst>
              <c:ext xmlns:c16="http://schemas.microsoft.com/office/drawing/2014/chart" uri="{C3380CC4-5D6E-409C-BE32-E72D297353CC}">
                <c16:uniqueId val="{00000001-DDE3-4D99-B865-1D4F4604A435}"/>
              </c:ext>
            </c:extLst>
          </c:dPt>
          <c:dPt>
            <c:idx val="1"/>
            <c:invertIfNegative val="0"/>
            <c:bubble3D val="0"/>
            <c:spPr>
              <a:solidFill>
                <a:schemeClr val="accent2">
                  <a:alpha val="75000"/>
                </a:schemeClr>
              </a:solidFill>
              <a:ln>
                <a:noFill/>
              </a:ln>
              <a:effectLst/>
            </c:spPr>
            <c:extLst>
              <c:ext xmlns:c16="http://schemas.microsoft.com/office/drawing/2014/chart" uri="{C3380CC4-5D6E-409C-BE32-E72D297353CC}">
                <c16:uniqueId val="{00000003-DDE3-4D99-B865-1D4F4604A435}"/>
              </c:ext>
            </c:extLst>
          </c:dPt>
          <c:dPt>
            <c:idx val="2"/>
            <c:invertIfNegative val="0"/>
            <c:bubble3D val="0"/>
            <c:spPr>
              <a:solidFill>
                <a:schemeClr val="accent3">
                  <a:alpha val="75000"/>
                </a:schemeClr>
              </a:solidFill>
              <a:ln>
                <a:noFill/>
              </a:ln>
              <a:effectLst/>
            </c:spPr>
            <c:extLst>
              <c:ext xmlns:c16="http://schemas.microsoft.com/office/drawing/2014/chart" uri="{C3380CC4-5D6E-409C-BE32-E72D297353CC}">
                <c16:uniqueId val="{00000005-DDE3-4D99-B865-1D4F4604A435}"/>
              </c:ext>
            </c:extLst>
          </c:dPt>
          <c:dPt>
            <c:idx val="3"/>
            <c:invertIfNegative val="0"/>
            <c:bubble3D val="0"/>
            <c:spPr>
              <a:solidFill>
                <a:schemeClr val="accent4">
                  <a:alpha val="75000"/>
                </a:schemeClr>
              </a:solidFill>
              <a:ln>
                <a:noFill/>
              </a:ln>
              <a:effectLst/>
            </c:spPr>
            <c:extLst>
              <c:ext xmlns:c16="http://schemas.microsoft.com/office/drawing/2014/chart" uri="{C3380CC4-5D6E-409C-BE32-E72D297353CC}">
                <c16:uniqueId val="{00000007-DDE3-4D99-B865-1D4F4604A435}"/>
              </c:ext>
            </c:extLst>
          </c:dPt>
          <c:dPt>
            <c:idx val="4"/>
            <c:invertIfNegative val="0"/>
            <c:bubble3D val="0"/>
            <c:spPr>
              <a:solidFill>
                <a:schemeClr val="accent5">
                  <a:alpha val="75000"/>
                </a:schemeClr>
              </a:solidFill>
              <a:ln>
                <a:noFill/>
              </a:ln>
              <a:effectLst/>
            </c:spPr>
            <c:extLst>
              <c:ext xmlns:c16="http://schemas.microsoft.com/office/drawing/2014/chart" uri="{C3380CC4-5D6E-409C-BE32-E72D297353CC}">
                <c16:uniqueId val="{00000009-DDE3-4D99-B865-1D4F4604A435}"/>
              </c:ext>
            </c:extLst>
          </c:dPt>
          <c:dPt>
            <c:idx val="5"/>
            <c:invertIfNegative val="0"/>
            <c:bubble3D val="0"/>
            <c:spPr>
              <a:solidFill>
                <a:schemeClr val="accent6">
                  <a:alpha val="75000"/>
                </a:schemeClr>
              </a:solidFill>
              <a:ln>
                <a:noFill/>
              </a:ln>
              <a:effectLst/>
            </c:spPr>
            <c:extLst>
              <c:ext xmlns:c16="http://schemas.microsoft.com/office/drawing/2014/chart" uri="{C3380CC4-5D6E-409C-BE32-E72D297353CC}">
                <c16:uniqueId val="{0000000B-DDE3-4D99-B865-1D4F4604A435}"/>
              </c:ext>
            </c:extLst>
          </c:dPt>
          <c:dPt>
            <c:idx val="6"/>
            <c:invertIfNegative val="0"/>
            <c:bubble3D val="0"/>
            <c:spPr>
              <a:solidFill>
                <a:schemeClr val="accent1">
                  <a:lumMod val="60000"/>
                  <a:alpha val="75000"/>
                </a:schemeClr>
              </a:solidFill>
              <a:ln>
                <a:noFill/>
              </a:ln>
              <a:effectLst/>
            </c:spPr>
            <c:extLst>
              <c:ext xmlns:c16="http://schemas.microsoft.com/office/drawing/2014/chart" uri="{C3380CC4-5D6E-409C-BE32-E72D297353CC}">
                <c16:uniqueId val="{0000000D-DDE3-4D99-B865-1D4F4604A435}"/>
              </c:ext>
            </c:extLst>
          </c:dPt>
          <c:dPt>
            <c:idx val="7"/>
            <c:invertIfNegative val="0"/>
            <c:bubble3D val="0"/>
            <c:spPr>
              <a:solidFill>
                <a:schemeClr val="accent2">
                  <a:lumMod val="60000"/>
                  <a:alpha val="75000"/>
                </a:schemeClr>
              </a:solidFill>
              <a:ln>
                <a:noFill/>
              </a:ln>
              <a:effectLst/>
            </c:spPr>
            <c:extLst>
              <c:ext xmlns:c16="http://schemas.microsoft.com/office/drawing/2014/chart" uri="{C3380CC4-5D6E-409C-BE32-E72D297353CC}">
                <c16:uniqueId val="{0000000F-DDE3-4D99-B865-1D4F4604A435}"/>
              </c:ext>
            </c:extLst>
          </c:dPt>
          <c:dPt>
            <c:idx val="8"/>
            <c:invertIfNegative val="0"/>
            <c:bubble3D val="0"/>
            <c:spPr>
              <a:solidFill>
                <a:schemeClr val="accent3">
                  <a:lumMod val="60000"/>
                  <a:alpha val="75000"/>
                </a:schemeClr>
              </a:solidFill>
              <a:ln>
                <a:noFill/>
              </a:ln>
              <a:effectLst/>
            </c:spPr>
            <c:extLst>
              <c:ext xmlns:c16="http://schemas.microsoft.com/office/drawing/2014/chart" uri="{C3380CC4-5D6E-409C-BE32-E72D297353CC}">
                <c16:uniqueId val="{00000011-DDE3-4D99-B865-1D4F4604A435}"/>
              </c:ext>
            </c:extLst>
          </c:dPt>
          <c:dPt>
            <c:idx val="9"/>
            <c:invertIfNegative val="0"/>
            <c:bubble3D val="0"/>
            <c:spPr>
              <a:solidFill>
                <a:schemeClr val="accent4">
                  <a:lumMod val="60000"/>
                  <a:alpha val="75000"/>
                </a:schemeClr>
              </a:solidFill>
              <a:ln>
                <a:noFill/>
              </a:ln>
              <a:effectLst/>
            </c:spPr>
            <c:extLst>
              <c:ext xmlns:c16="http://schemas.microsoft.com/office/drawing/2014/chart" uri="{C3380CC4-5D6E-409C-BE32-E72D297353CC}">
                <c16:uniqueId val="{00000013-DDE3-4D99-B865-1D4F4604A435}"/>
              </c:ext>
            </c:extLst>
          </c:dPt>
          <c:dPt>
            <c:idx val="10"/>
            <c:invertIfNegative val="0"/>
            <c:bubble3D val="0"/>
            <c:spPr>
              <a:solidFill>
                <a:schemeClr val="accent5">
                  <a:lumMod val="60000"/>
                  <a:alpha val="75000"/>
                </a:schemeClr>
              </a:solidFill>
              <a:ln>
                <a:noFill/>
              </a:ln>
              <a:effectLst/>
            </c:spPr>
            <c:extLst>
              <c:ext xmlns:c16="http://schemas.microsoft.com/office/drawing/2014/chart" uri="{C3380CC4-5D6E-409C-BE32-E72D297353CC}">
                <c16:uniqueId val="{00000015-DDE3-4D99-B865-1D4F4604A435}"/>
              </c:ext>
            </c:extLst>
          </c:dPt>
          <c:dPt>
            <c:idx val="11"/>
            <c:invertIfNegative val="0"/>
            <c:bubble3D val="0"/>
            <c:spPr>
              <a:solidFill>
                <a:schemeClr val="accent6">
                  <a:lumMod val="60000"/>
                  <a:alpha val="75000"/>
                </a:schemeClr>
              </a:solidFill>
              <a:ln>
                <a:noFill/>
              </a:ln>
              <a:effectLst/>
            </c:spPr>
            <c:extLst>
              <c:ext xmlns:c16="http://schemas.microsoft.com/office/drawing/2014/chart" uri="{C3380CC4-5D6E-409C-BE32-E72D297353CC}">
                <c16:uniqueId val="{00000017-DDE3-4D99-B865-1D4F4604A435}"/>
              </c:ext>
            </c:extLst>
          </c:dPt>
          <c:xVal>
            <c:numRef>
              <c:f>Sheet1!$B$2:$B$13</c:f>
              <c:numCache>
                <c:formatCode>_(* #,##0.0_);_(* \(#,##0.0\);_(* "-"??_);_(@_)</c:formatCode>
                <c:ptCount val="12"/>
                <c:pt idx="0">
                  <c:v>1.23845548712603</c:v>
                </c:pt>
                <c:pt idx="1">
                  <c:v>1.162113536969851</c:v>
                </c:pt>
                <c:pt idx="2">
                  <c:v>1.0302543225319352</c:v>
                </c:pt>
                <c:pt idx="3">
                  <c:v>0.84722981022347821</c:v>
                </c:pt>
                <c:pt idx="4">
                  <c:v>0.93741701489866014</c:v>
                </c:pt>
                <c:pt idx="5">
                  <c:v>0.16703967724697652</c:v>
                </c:pt>
                <c:pt idx="6">
                  <c:v>0.31547286921338047</c:v>
                </c:pt>
                <c:pt idx="7">
                  <c:v>1.889955916162251</c:v>
                </c:pt>
                <c:pt idx="8">
                  <c:v>1.3855301758593002</c:v>
                </c:pt>
                <c:pt idx="9">
                  <c:v>0.94636364010056717</c:v>
                </c:pt>
                <c:pt idx="10">
                  <c:v>0.83305684356707144</c:v>
                </c:pt>
                <c:pt idx="11">
                  <c:v>1.2471107061004996</c:v>
                </c:pt>
              </c:numCache>
            </c:numRef>
          </c:xVal>
          <c:yVal>
            <c:numRef>
              <c:f>Sheet1!$C$2:$C$13</c:f>
              <c:numCache>
                <c:formatCode>_(* #,##0.0_);_(* \(#,##0.0\);_(* "-"??_);_(@_)</c:formatCode>
                <c:ptCount val="12"/>
                <c:pt idx="0">
                  <c:v>4.2167112547800931</c:v>
                </c:pt>
                <c:pt idx="1">
                  <c:v>3.3980122714010847</c:v>
                </c:pt>
                <c:pt idx="2">
                  <c:v>1.2822227748390012</c:v>
                </c:pt>
                <c:pt idx="3">
                  <c:v>0.55922599312951515</c:v>
                </c:pt>
                <c:pt idx="4">
                  <c:v>0.51700126218067499</c:v>
                </c:pt>
                <c:pt idx="5">
                  <c:v>0.55959517973370299</c:v>
                </c:pt>
                <c:pt idx="6">
                  <c:v>0.4504058763710288</c:v>
                </c:pt>
                <c:pt idx="7">
                  <c:v>7.8479811791921719E-2</c:v>
                </c:pt>
                <c:pt idx="8">
                  <c:v>0.15695962358384338</c:v>
                </c:pt>
                <c:pt idx="9">
                  <c:v>0.26614892694651726</c:v>
                </c:pt>
                <c:pt idx="10">
                  <c:v>0.33098007581810435</c:v>
                </c:pt>
                <c:pt idx="11">
                  <c:v>0.1842569494245119</c:v>
                </c:pt>
              </c:numCache>
            </c:numRef>
          </c:yVal>
          <c:bubbleSize>
            <c:numRef>
              <c:f>Sheet1!$D$2:$D$13</c:f>
              <c:numCache>
                <c:formatCode>_(* #,##0.0_);_(* \(#,##0.0\);_(* "-"??_);_(@_)</c:formatCode>
                <c:ptCount val="12"/>
                <c:pt idx="0">
                  <c:v>4.9936297981998532</c:v>
                </c:pt>
                <c:pt idx="1">
                  <c:v>3.7099886852259316</c:v>
                </c:pt>
                <c:pt idx="2">
                  <c:v>1.2039612272959443</c:v>
                </c:pt>
                <c:pt idx="3">
                  <c:v>0.41406478695641968</c:v>
                </c:pt>
                <c:pt idx="4">
                  <c:v>0.43238574591390638</c:v>
                </c:pt>
                <c:pt idx="5">
                  <c:v>7.0054524456672831E-2</c:v>
                </c:pt>
                <c:pt idx="6">
                  <c:v>0.11008568128905516</c:v>
                </c:pt>
                <c:pt idx="7">
                  <c:v>0.16512852193358268</c:v>
                </c:pt>
                <c:pt idx="8">
                  <c:v>0.2151674679740625</c:v>
                </c:pt>
                <c:pt idx="9">
                  <c:v>0.22517525718215869</c:v>
                </c:pt>
                <c:pt idx="10">
                  <c:v>0.24018694099430174</c:v>
                </c:pt>
                <c:pt idx="11">
                  <c:v>0.22017136257811071</c:v>
                </c:pt>
              </c:numCache>
            </c:numRef>
          </c:bubbleSize>
          <c:bubble3D val="0"/>
          <c:extLst>
            <c:ext xmlns:c16="http://schemas.microsoft.com/office/drawing/2014/chart" uri="{C3380CC4-5D6E-409C-BE32-E72D297353CC}">
              <c16:uniqueId val="{00000018-DDE3-4D99-B865-1D4F4604A435}"/>
            </c:ext>
          </c:extLst>
        </c:ser>
        <c:dLbls>
          <c:showLegendKey val="0"/>
          <c:showVal val="0"/>
          <c:showCatName val="0"/>
          <c:showSerName val="0"/>
          <c:showPercent val="0"/>
          <c:showBubbleSize val="0"/>
        </c:dLbls>
        <c:bubbleScale val="100"/>
        <c:showNegBubbles val="0"/>
        <c:axId val="336853440"/>
        <c:axId val="336867584"/>
      </c:bubbleChart>
      <c:valAx>
        <c:axId val="336853440"/>
        <c:scaling>
          <c:orientation val="minMax"/>
          <c:min val="0"/>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CAGR Index (2024 – 2034)</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336867584"/>
        <c:crossesAt val="0"/>
        <c:crossBetween val="midCat"/>
      </c:valAx>
      <c:valAx>
        <c:axId val="336867584"/>
        <c:scaling>
          <c:orientation val="minMax"/>
          <c:min val="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Market Share Index (2024E)</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336853440"/>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910917822963"/>
          <c:y val="4.0225179225868664E-2"/>
          <c:w val="0.87507556483913373"/>
          <c:h val="0.65061484798850733"/>
        </c:manualLayout>
      </c:layout>
      <c:lineChart>
        <c:grouping val="standard"/>
        <c:varyColors val="0"/>
        <c:ser>
          <c:idx val="0"/>
          <c:order val="0"/>
          <c:tx>
            <c:strRef>
              <c:f>Sheet1!$B$1</c:f>
              <c:strCache>
                <c:ptCount val="1"/>
                <c:pt idx="0">
                  <c:v>Segment 1</c:v>
                </c:pt>
              </c:strCache>
            </c:strRef>
          </c:tx>
          <c:spPr>
            <a:ln w="28575" cap="rnd">
              <a:solidFill>
                <a:schemeClr val="accent1"/>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Sheet1!$B$2:$B$12</c:f>
              <c:numCache>
                <c:formatCode>0.0%</c:formatCode>
                <c:ptCount val="11"/>
                <c:pt idx="0">
                  <c:v>5.1500000000000004E-2</c:v>
                </c:pt>
                <c:pt idx="1">
                  <c:v>5.4166666666666669E-2</c:v>
                </c:pt>
                <c:pt idx="2">
                  <c:v>5.7000000000000009E-2</c:v>
                </c:pt>
                <c:pt idx="3">
                  <c:v>5.9333333333333335E-2</c:v>
                </c:pt>
                <c:pt idx="4">
                  <c:v>6.1166666666666675E-2</c:v>
                </c:pt>
                <c:pt idx="5">
                  <c:v>6.2833333333333338E-2</c:v>
                </c:pt>
                <c:pt idx="6">
                  <c:v>6.483333333333334E-2</c:v>
                </c:pt>
                <c:pt idx="7">
                  <c:v>6.7166666666666666E-2</c:v>
                </c:pt>
                <c:pt idx="8">
                  <c:v>6.8833333333333344E-2</c:v>
                </c:pt>
                <c:pt idx="9">
                  <c:v>6.9000000000000006E-2</c:v>
                </c:pt>
                <c:pt idx="10">
                  <c:v>6.7666666666666667E-2</c:v>
                </c:pt>
              </c:numCache>
            </c:numRef>
          </c:val>
          <c:smooth val="1"/>
          <c:extLst>
            <c:ext xmlns:c16="http://schemas.microsoft.com/office/drawing/2014/chart" uri="{C3380CC4-5D6E-409C-BE32-E72D297353CC}">
              <c16:uniqueId val="{00000000-D299-4B53-A6F6-A44322BE864B}"/>
            </c:ext>
          </c:extLst>
        </c:ser>
        <c:ser>
          <c:idx val="1"/>
          <c:order val="1"/>
          <c:tx>
            <c:strRef>
              <c:f>Sheet1!$C$1</c:f>
              <c:strCache>
                <c:ptCount val="1"/>
                <c:pt idx="0">
                  <c:v>Segment 2</c:v>
                </c:pt>
              </c:strCache>
            </c:strRef>
          </c:tx>
          <c:spPr>
            <a:ln w="28575" cap="rnd">
              <a:solidFill>
                <a:schemeClr val="accent2"/>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Sheet1!$C$2:$C$12</c:f>
              <c:numCache>
                <c:formatCode>0.0%</c:formatCode>
                <c:ptCount val="11"/>
                <c:pt idx="0">
                  <c:v>5.116830281459997E-2</c:v>
                </c:pt>
                <c:pt idx="1">
                  <c:v>5.1290221555306513E-2</c:v>
                </c:pt>
                <c:pt idx="2">
                  <c:v>5.1395302571985553E-2</c:v>
                </c:pt>
                <c:pt idx="3">
                  <c:v>5.151160873801626E-2</c:v>
                </c:pt>
                <c:pt idx="4">
                  <c:v>5.1620431471145853E-2</c:v>
                </c:pt>
                <c:pt idx="5">
                  <c:v>5.1734243159542857E-2</c:v>
                </c:pt>
                <c:pt idx="6">
                  <c:v>5.1844728877761585E-2</c:v>
                </c:pt>
                <c:pt idx="7">
                  <c:v>5.1961866536336859E-2</c:v>
                </c:pt>
                <c:pt idx="8">
                  <c:v>5.2074569568007774E-2</c:v>
                </c:pt>
                <c:pt idx="9">
                  <c:v>5.2190229017614928E-2</c:v>
                </c:pt>
                <c:pt idx="10">
                  <c:v>5.2299975631349596E-2</c:v>
                </c:pt>
              </c:numCache>
            </c:numRef>
          </c:val>
          <c:smooth val="1"/>
          <c:extLst>
            <c:ext xmlns:c16="http://schemas.microsoft.com/office/drawing/2014/chart" uri="{C3380CC4-5D6E-409C-BE32-E72D297353CC}">
              <c16:uniqueId val="{00000001-D299-4B53-A6F6-A44322BE864B}"/>
            </c:ext>
          </c:extLst>
        </c:ser>
        <c:ser>
          <c:idx val="2"/>
          <c:order val="2"/>
          <c:tx>
            <c:strRef>
              <c:f>Sheet1!$D$1</c:f>
              <c:strCache>
                <c:ptCount val="1"/>
                <c:pt idx="0">
                  <c:v>Segment 3</c:v>
                </c:pt>
              </c:strCache>
            </c:strRef>
          </c:tx>
          <c:spPr>
            <a:ln w="28575" cap="rnd">
              <a:solidFill>
                <a:schemeClr val="accent3"/>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Sheet1!$D$2:$D$12</c:f>
              <c:numCache>
                <c:formatCode>0.0%</c:formatCode>
                <c:ptCount val="11"/>
                <c:pt idx="0">
                  <c:v>5.0610918051856614E-2</c:v>
                </c:pt>
                <c:pt idx="1">
                  <c:v>5.1425475454332091E-2</c:v>
                </c:pt>
                <c:pt idx="2">
                  <c:v>5.2138213181498139E-2</c:v>
                </c:pt>
                <c:pt idx="3">
                  <c:v>5.274913123335475E-2</c:v>
                </c:pt>
                <c:pt idx="4">
                  <c:v>5.2850950908664179E-2</c:v>
                </c:pt>
                <c:pt idx="5">
                  <c:v>5.2647311558045314E-2</c:v>
                </c:pt>
                <c:pt idx="6">
                  <c:v>5.2036393506188702E-2</c:v>
                </c:pt>
                <c:pt idx="7">
                  <c:v>5.1323655779022655E-2</c:v>
                </c:pt>
                <c:pt idx="8">
                  <c:v>5.0610918051856614E-2</c:v>
                </c:pt>
                <c:pt idx="9">
                  <c:v>0.05</c:v>
                </c:pt>
                <c:pt idx="10">
                  <c:v>4.9490901623452828E-2</c:v>
                </c:pt>
              </c:numCache>
            </c:numRef>
          </c:val>
          <c:smooth val="1"/>
          <c:extLst>
            <c:ext xmlns:c16="http://schemas.microsoft.com/office/drawing/2014/chart" uri="{C3380CC4-5D6E-409C-BE32-E72D297353CC}">
              <c16:uniqueId val="{00000002-D299-4B53-A6F6-A44322BE864B}"/>
            </c:ext>
          </c:extLst>
        </c:ser>
        <c:ser>
          <c:idx val="3"/>
          <c:order val="3"/>
          <c:tx>
            <c:strRef>
              <c:f>Sheet1!$E$1</c:f>
              <c:strCache>
                <c:ptCount val="1"/>
                <c:pt idx="0">
                  <c:v>Segment 4</c:v>
                </c:pt>
              </c:strCache>
            </c:strRef>
          </c:tx>
          <c:spPr>
            <a:ln w="28575" cap="rnd">
              <a:solidFill>
                <a:schemeClr val="accent4"/>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Sheet1!$E$2:$E$12</c:f>
              <c:numCache>
                <c:formatCode>0.0%</c:formatCode>
                <c:ptCount val="11"/>
                <c:pt idx="0">
                  <c:v>5.3000000000000005E-2</c:v>
                </c:pt>
                <c:pt idx="1">
                  <c:v>5.5000000000000007E-2</c:v>
                </c:pt>
                <c:pt idx="2">
                  <c:v>5.7333333333333347E-2</c:v>
                </c:pt>
                <c:pt idx="3">
                  <c:v>5.9666666666666673E-2</c:v>
                </c:pt>
                <c:pt idx="4">
                  <c:v>6.3666666666666663E-2</c:v>
                </c:pt>
                <c:pt idx="5">
                  <c:v>6.8000000000000005E-2</c:v>
                </c:pt>
                <c:pt idx="6">
                  <c:v>6.7906765085174334E-2</c:v>
                </c:pt>
                <c:pt idx="7">
                  <c:v>6.6841312562606461E-2</c:v>
                </c:pt>
                <c:pt idx="8">
                  <c:v>6.5666666666666665E-2</c:v>
                </c:pt>
                <c:pt idx="9">
                  <c:v>6.4147353367754692E-2</c:v>
                </c:pt>
                <c:pt idx="10">
                  <c:v>6.0424365639398202E-2</c:v>
                </c:pt>
              </c:numCache>
            </c:numRef>
          </c:val>
          <c:smooth val="1"/>
          <c:extLst>
            <c:ext xmlns:c16="http://schemas.microsoft.com/office/drawing/2014/chart" uri="{C3380CC4-5D6E-409C-BE32-E72D297353CC}">
              <c16:uniqueId val="{00000003-D299-4B53-A6F6-A44322BE864B}"/>
            </c:ext>
          </c:extLst>
        </c:ser>
        <c:ser>
          <c:idx val="4"/>
          <c:order val="4"/>
          <c:tx>
            <c:strRef>
              <c:f>Sheet1!$F$1</c:f>
              <c:strCache>
                <c:ptCount val="1"/>
                <c:pt idx="0">
                  <c:v>Segment 5</c:v>
                </c:pt>
              </c:strCache>
            </c:strRef>
          </c:tx>
          <c:spPr>
            <a:ln w="28575" cap="rnd">
              <a:solidFill>
                <a:schemeClr val="accent5"/>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Sheet1!$F$2:$F$12</c:f>
              <c:numCache>
                <c:formatCode>0.0%</c:formatCode>
                <c:ptCount val="11"/>
                <c:pt idx="0">
                  <c:v>5.1263578005607567E-2</c:v>
                </c:pt>
                <c:pt idx="1">
                  <c:v>5.2412285283432627E-2</c:v>
                </c:pt>
                <c:pt idx="2">
                  <c:v>5.3446121833475177E-2</c:v>
                </c:pt>
                <c:pt idx="3">
                  <c:v>5.3905604744605207E-2</c:v>
                </c:pt>
                <c:pt idx="4">
                  <c:v>5.3905604744605207E-2</c:v>
                </c:pt>
                <c:pt idx="5">
                  <c:v>5.3101509650127658E-2</c:v>
                </c:pt>
                <c:pt idx="6">
                  <c:v>5.2297414555650117E-2</c:v>
                </c:pt>
                <c:pt idx="7">
                  <c:v>5.1493319461172575E-2</c:v>
                </c:pt>
                <c:pt idx="8">
                  <c:v>5.068922436669504E-2</c:v>
                </c:pt>
                <c:pt idx="9">
                  <c:v>4.9770258544434988E-2</c:v>
                </c:pt>
                <c:pt idx="10">
                  <c:v>4.8736421994392438E-2</c:v>
                </c:pt>
              </c:numCache>
            </c:numRef>
          </c:val>
          <c:smooth val="1"/>
          <c:extLst>
            <c:ext xmlns:c16="http://schemas.microsoft.com/office/drawing/2014/chart" uri="{C3380CC4-5D6E-409C-BE32-E72D297353CC}">
              <c16:uniqueId val="{00000004-D299-4B53-A6F6-A44322BE864B}"/>
            </c:ext>
          </c:extLst>
        </c:ser>
        <c:ser>
          <c:idx val="5"/>
          <c:order val="5"/>
          <c:tx>
            <c:strRef>
              <c:f>Sheet1!$G$1</c:f>
              <c:strCache>
                <c:ptCount val="1"/>
                <c:pt idx="0">
                  <c:v>Segment 6</c:v>
                </c:pt>
              </c:strCache>
            </c:strRef>
          </c:tx>
          <c:spPr>
            <a:ln w="28575" cap="rnd">
              <a:solidFill>
                <a:schemeClr val="accent6"/>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Sheet1!$G$2:$G$12</c:f>
              <c:numCache>
                <c:formatCode>0.0%</c:formatCode>
                <c:ptCount val="11"/>
                <c:pt idx="0">
                  <c:v>6.0676665024535163E-2</c:v>
                </c:pt>
                <c:pt idx="1">
                  <c:v>6.0811998029442191E-2</c:v>
                </c:pt>
                <c:pt idx="2">
                  <c:v>6.0405999014721101E-2</c:v>
                </c:pt>
                <c:pt idx="3">
                  <c:v>5.986466699509297E-2</c:v>
                </c:pt>
                <c:pt idx="4">
                  <c:v>5.9188001970557812E-2</c:v>
                </c:pt>
                <c:pt idx="5">
                  <c:v>5.8782002955836715E-2</c:v>
                </c:pt>
                <c:pt idx="6">
                  <c:v>5.7970004926394522E-2</c:v>
                </c:pt>
                <c:pt idx="7">
                  <c:v>5.7022673892045295E-2</c:v>
                </c:pt>
                <c:pt idx="8">
                  <c:v>5.6075342857696074E-2</c:v>
                </c:pt>
                <c:pt idx="9">
                  <c:v>5.5398677833160916E-2</c:v>
                </c:pt>
                <c:pt idx="10">
                  <c:v>5.472201280862575E-2</c:v>
                </c:pt>
              </c:numCache>
            </c:numRef>
          </c:val>
          <c:smooth val="1"/>
          <c:extLst>
            <c:ext xmlns:c16="http://schemas.microsoft.com/office/drawing/2014/chart" uri="{C3380CC4-5D6E-409C-BE32-E72D297353CC}">
              <c16:uniqueId val="{00000005-D299-4B53-A6F6-A44322BE864B}"/>
            </c:ext>
          </c:extLst>
        </c:ser>
        <c:ser>
          <c:idx val="6"/>
          <c:order val="6"/>
          <c:tx>
            <c:strRef>
              <c:f>Sheet1!$H$1</c:f>
              <c:strCache>
                <c:ptCount val="1"/>
                <c:pt idx="0">
                  <c:v>Segment 7</c:v>
                </c:pt>
              </c:strCache>
            </c:strRef>
          </c:tx>
          <c:spPr>
            <a:ln w="28575" cap="rnd">
              <a:solidFill>
                <a:schemeClr val="accent1">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Sheet1!$H$2:$H$12</c:f>
              <c:numCache>
                <c:formatCode>0.0%</c:formatCode>
                <c:ptCount val="11"/>
                <c:pt idx="0">
                  <c:v>4.9615229374212068E-2</c:v>
                </c:pt>
                <c:pt idx="1">
                  <c:v>4.9038073435530169E-2</c:v>
                </c:pt>
                <c:pt idx="2">
                  <c:v>4.8653302809742234E-2</c:v>
                </c:pt>
                <c:pt idx="3">
                  <c:v>4.8076146871060335E-2</c:v>
                </c:pt>
                <c:pt idx="4">
                  <c:v>4.7883761558166364E-2</c:v>
                </c:pt>
                <c:pt idx="5">
                  <c:v>4.8268532183954299E-2</c:v>
                </c:pt>
                <c:pt idx="6">
                  <c:v>4.8653302809742234E-2</c:v>
                </c:pt>
                <c:pt idx="7">
                  <c:v>4.9230458748424133E-2</c:v>
                </c:pt>
                <c:pt idx="8">
                  <c:v>5.0192385312893967E-2</c:v>
                </c:pt>
                <c:pt idx="9">
                  <c:v>5.0577155938681902E-2</c:v>
                </c:pt>
                <c:pt idx="10">
                  <c:v>5.0384770625787938E-2</c:v>
                </c:pt>
              </c:numCache>
            </c:numRef>
          </c:val>
          <c:smooth val="1"/>
          <c:extLst>
            <c:ext xmlns:c16="http://schemas.microsoft.com/office/drawing/2014/chart" uri="{C3380CC4-5D6E-409C-BE32-E72D297353CC}">
              <c16:uniqueId val="{00000006-D299-4B53-A6F6-A44322BE864B}"/>
            </c:ext>
          </c:extLst>
        </c:ser>
        <c:ser>
          <c:idx val="7"/>
          <c:order val="7"/>
          <c:tx>
            <c:strRef>
              <c:f>Sheet1!$I$1</c:f>
              <c:strCache>
                <c:ptCount val="1"/>
                <c:pt idx="0">
                  <c:v>Segment 8</c:v>
                </c:pt>
              </c:strCache>
            </c:strRef>
          </c:tx>
          <c:spPr>
            <a:ln w="28575" cap="rnd">
              <a:solidFill>
                <a:schemeClr val="accent2">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Sheet1!$I$2:$I$12</c:f>
              <c:numCache>
                <c:formatCode>0.0%</c:formatCode>
                <c:ptCount val="11"/>
                <c:pt idx="0">
                  <c:v>5.1000000000000004E-2</c:v>
                </c:pt>
                <c:pt idx="1">
                  <c:v>5.3000000000000005E-2</c:v>
                </c:pt>
                <c:pt idx="2">
                  <c:v>5.4000000000000006E-2</c:v>
                </c:pt>
                <c:pt idx="3">
                  <c:v>5.5E-2</c:v>
                </c:pt>
                <c:pt idx="4">
                  <c:v>5.5E-2</c:v>
                </c:pt>
                <c:pt idx="5">
                  <c:v>5.4000000000000006E-2</c:v>
                </c:pt>
                <c:pt idx="6">
                  <c:v>5.4000000000000006E-2</c:v>
                </c:pt>
                <c:pt idx="7">
                  <c:v>5.3000000000000005E-2</c:v>
                </c:pt>
                <c:pt idx="8">
                  <c:v>5.2000000000000005E-2</c:v>
                </c:pt>
                <c:pt idx="9">
                  <c:v>5.1000000000000004E-2</c:v>
                </c:pt>
                <c:pt idx="10">
                  <c:v>4.8000000000000001E-2</c:v>
                </c:pt>
              </c:numCache>
            </c:numRef>
          </c:val>
          <c:smooth val="1"/>
          <c:extLst>
            <c:ext xmlns:c16="http://schemas.microsoft.com/office/drawing/2014/chart" uri="{C3380CC4-5D6E-409C-BE32-E72D297353CC}">
              <c16:uniqueId val="{00000007-D299-4B53-A6F6-A44322BE864B}"/>
            </c:ext>
          </c:extLst>
        </c:ser>
        <c:ser>
          <c:idx val="8"/>
          <c:order val="8"/>
          <c:tx>
            <c:strRef>
              <c:f>Sheet1!$J$1</c:f>
              <c:strCache>
                <c:ptCount val="1"/>
                <c:pt idx="0">
                  <c:v>Segment 9</c:v>
                </c:pt>
              </c:strCache>
            </c:strRef>
          </c:tx>
          <c:spPr>
            <a:ln w="28575" cap="rnd">
              <a:solidFill>
                <a:schemeClr val="accent3">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Sheet1!$J$2:$J$12</c:f>
              <c:numCache>
                <c:formatCode>0.0%</c:formatCode>
                <c:ptCount val="11"/>
                <c:pt idx="0">
                  <c:v>4.8868290059229491E-2</c:v>
                </c:pt>
                <c:pt idx="1">
                  <c:v>4.8113816765382483E-2</c:v>
                </c:pt>
                <c:pt idx="2">
                  <c:v>4.7736580118458979E-2</c:v>
                </c:pt>
                <c:pt idx="3">
                  <c:v>4.7359343471535476E-2</c:v>
                </c:pt>
                <c:pt idx="4">
                  <c:v>4.7359343471535476E-2</c:v>
                </c:pt>
                <c:pt idx="5">
                  <c:v>4.7359343471535476E-2</c:v>
                </c:pt>
                <c:pt idx="6">
                  <c:v>4.7736580118458979E-2</c:v>
                </c:pt>
                <c:pt idx="7">
                  <c:v>4.8113816765382483E-2</c:v>
                </c:pt>
                <c:pt idx="8">
                  <c:v>4.8491053412305987E-2</c:v>
                </c:pt>
                <c:pt idx="9">
                  <c:v>4.8868290059229491E-2</c:v>
                </c:pt>
                <c:pt idx="10">
                  <c:v>4.9622763353076499E-2</c:v>
                </c:pt>
              </c:numCache>
            </c:numRef>
          </c:val>
          <c:smooth val="1"/>
          <c:extLst>
            <c:ext xmlns:c16="http://schemas.microsoft.com/office/drawing/2014/chart" uri="{C3380CC4-5D6E-409C-BE32-E72D297353CC}">
              <c16:uniqueId val="{00000008-D299-4B53-A6F6-A44322BE864B}"/>
            </c:ext>
          </c:extLst>
        </c:ser>
        <c:ser>
          <c:idx val="9"/>
          <c:order val="9"/>
          <c:tx>
            <c:strRef>
              <c:f>Sheet1!$K$1</c:f>
              <c:strCache>
                <c:ptCount val="1"/>
                <c:pt idx="0">
                  <c:v>Segment 10</c:v>
                </c:pt>
              </c:strCache>
            </c:strRef>
          </c:tx>
          <c:spPr>
            <a:ln w="28575" cap="rnd">
              <a:solidFill>
                <a:schemeClr val="accent4">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Sheet1!$K$2:$K$12</c:f>
              <c:numCache>
                <c:formatCode>0.0%</c:formatCode>
                <c:ptCount val="11"/>
                <c:pt idx="0">
                  <c:v>6.0000000000000005E-2</c:v>
                </c:pt>
                <c:pt idx="1">
                  <c:v>6.0000000000000005E-2</c:v>
                </c:pt>
                <c:pt idx="2">
                  <c:v>5.9500325887083094E-2</c:v>
                </c:pt>
                <c:pt idx="3">
                  <c:v>5.9500325887083094E-2</c:v>
                </c:pt>
                <c:pt idx="4">
                  <c:v>6.0000000000000005E-2</c:v>
                </c:pt>
                <c:pt idx="5">
                  <c:v>6.074951116937536E-2</c:v>
                </c:pt>
                <c:pt idx="6">
                  <c:v>6.074951116937536E-2</c:v>
                </c:pt>
                <c:pt idx="7">
                  <c:v>5.9750162943541546E-2</c:v>
                </c:pt>
                <c:pt idx="8">
                  <c:v>5.8750814717707739E-2</c:v>
                </c:pt>
                <c:pt idx="9">
                  <c:v>5.8500977661249287E-2</c:v>
                </c:pt>
                <c:pt idx="10">
                  <c:v>5.9250488830624642E-2</c:v>
                </c:pt>
              </c:numCache>
            </c:numRef>
          </c:val>
          <c:smooth val="1"/>
          <c:extLst>
            <c:ext xmlns:c16="http://schemas.microsoft.com/office/drawing/2014/chart" uri="{C3380CC4-5D6E-409C-BE32-E72D297353CC}">
              <c16:uniqueId val="{00000009-D299-4B53-A6F6-A44322BE864B}"/>
            </c:ext>
          </c:extLst>
        </c:ser>
        <c:ser>
          <c:idx val="10"/>
          <c:order val="10"/>
          <c:tx>
            <c:strRef>
              <c:f>Sheet1!$L$1</c:f>
              <c:strCache>
                <c:ptCount val="1"/>
                <c:pt idx="0">
                  <c:v>Segment 11</c:v>
                </c:pt>
              </c:strCache>
            </c:strRef>
          </c:tx>
          <c:spPr>
            <a:ln w="28575" cap="rnd">
              <a:solidFill>
                <a:schemeClr val="accent5">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Sheet1!$L$2:$L$12</c:f>
              <c:numCache>
                <c:formatCode>0.0%</c:formatCode>
                <c:ptCount val="11"/>
                <c:pt idx="0">
                  <c:v>5.4543972999083631E-2</c:v>
                </c:pt>
                <c:pt idx="1">
                  <c:v>5.5553744776657768E-2</c:v>
                </c:pt>
                <c:pt idx="2">
                  <c:v>5.6563516554231912E-2</c:v>
                </c:pt>
                <c:pt idx="3">
                  <c:v>5.706840244301898E-2</c:v>
                </c:pt>
                <c:pt idx="4">
                  <c:v>5.8583060109380192E-2</c:v>
                </c:pt>
                <c:pt idx="5">
                  <c:v>5.9592831886954335E-2</c:v>
                </c:pt>
                <c:pt idx="6">
                  <c:v>6.110748955331554E-2</c:v>
                </c:pt>
                <c:pt idx="7">
                  <c:v>6.1612375442102602E-2</c:v>
                </c:pt>
                <c:pt idx="8">
                  <c:v>6.2622147219676738E-2</c:v>
                </c:pt>
                <c:pt idx="9">
                  <c:v>6.3631918997250889E-2</c:v>
                </c:pt>
                <c:pt idx="10">
                  <c:v>6.4641690774825025E-2</c:v>
                </c:pt>
              </c:numCache>
            </c:numRef>
          </c:val>
          <c:smooth val="1"/>
          <c:extLst>
            <c:ext xmlns:c16="http://schemas.microsoft.com/office/drawing/2014/chart" uri="{C3380CC4-5D6E-409C-BE32-E72D297353CC}">
              <c16:uniqueId val="{0000000A-D299-4B53-A6F6-A44322BE864B}"/>
            </c:ext>
          </c:extLst>
        </c:ser>
        <c:ser>
          <c:idx val="11"/>
          <c:order val="11"/>
          <c:tx>
            <c:strRef>
              <c:f>Sheet1!$M$1</c:f>
              <c:strCache>
                <c:ptCount val="1"/>
                <c:pt idx="0">
                  <c:v>Segment 12</c:v>
                </c:pt>
              </c:strCache>
            </c:strRef>
          </c:tx>
          <c:spPr>
            <a:ln w="28575" cap="rnd">
              <a:solidFill>
                <a:schemeClr val="accent6">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Sheet1!$M$2:$M$12</c:f>
              <c:numCache>
                <c:formatCode>0.0%</c:formatCode>
                <c:ptCount val="11"/>
                <c:pt idx="0">
                  <c:v>6.1185047424354426E-2</c:v>
                </c:pt>
                <c:pt idx="1">
                  <c:v>6.2215657576482793E-2</c:v>
                </c:pt>
                <c:pt idx="2">
                  <c:v>6.3204322608910277E-2</c:v>
                </c:pt>
                <c:pt idx="3">
                  <c:v>6.4230895388622394E-2</c:v>
                </c:pt>
                <c:pt idx="4">
                  <c:v>6.5257468168334554E-2</c:v>
                </c:pt>
                <c:pt idx="5">
                  <c:v>7.1937864292673542E-2</c:v>
                </c:pt>
                <c:pt idx="6">
                  <c:v>7.306162280138255E-2</c:v>
                </c:pt>
                <c:pt idx="7">
                  <c:v>7.4185381310091544E-2</c:v>
                </c:pt>
                <c:pt idx="8">
                  <c:v>7.3988724749526127E-2</c:v>
                </c:pt>
                <c:pt idx="9">
                  <c:v>7.3264434409645862E-2</c:v>
                </c:pt>
                <c:pt idx="10">
                  <c:v>7.2860603058929149E-2</c:v>
                </c:pt>
              </c:numCache>
            </c:numRef>
          </c:val>
          <c:smooth val="1"/>
          <c:extLst>
            <c:ext xmlns:c16="http://schemas.microsoft.com/office/drawing/2014/chart" uri="{C3380CC4-5D6E-409C-BE32-E72D297353CC}">
              <c16:uniqueId val="{0000000B-D299-4B53-A6F6-A44322BE864B}"/>
            </c:ext>
          </c:extLst>
        </c:ser>
        <c:dLbls>
          <c:showLegendKey val="0"/>
          <c:showVal val="0"/>
          <c:showCatName val="0"/>
          <c:showSerName val="0"/>
          <c:showPercent val="0"/>
          <c:showBubbleSize val="0"/>
        </c:dLbls>
        <c:smooth val="0"/>
        <c:axId val="336846912"/>
        <c:axId val="336855616"/>
      </c:lineChart>
      <c:catAx>
        <c:axId val="336846912"/>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55616"/>
        <c:crossesAt val="-3.5000000000000003E-2"/>
        <c:auto val="1"/>
        <c:lblAlgn val="ctr"/>
        <c:lblOffset val="100"/>
        <c:noMultiLvlLbl val="0"/>
      </c:catAx>
      <c:valAx>
        <c:axId val="336855616"/>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336846912"/>
        <c:crosses val="autoZero"/>
        <c:crossBetween val="between"/>
      </c:valAx>
      <c:spPr>
        <a:noFill/>
        <a:ln w="25400">
          <a:noFill/>
        </a:ln>
        <a:effectLst/>
      </c:spPr>
    </c:plotArea>
    <c:legend>
      <c:legendPos val="b"/>
      <c:layout>
        <c:manualLayout>
          <c:xMode val="edge"/>
          <c:yMode val="edge"/>
          <c:x val="0"/>
          <c:y val="0.81733067057011788"/>
          <c:w val="1"/>
          <c:h val="0.1826693294298820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12700">
      <a:noFill/>
    </a:ln>
    <a:effectLst/>
  </c:spPr>
  <c:txPr>
    <a:bodyPr/>
    <a:lstStyle/>
    <a:p>
      <a:pPr>
        <a:defRPr sz="1100">
          <a:solidFill>
            <a:schemeClr val="tx1"/>
          </a:solidFill>
        </a:defRPr>
      </a:pPr>
      <a:endParaRPr lang="en-US"/>
    </a:p>
  </c:txPr>
  <c:externalData r:id="rId3">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336868128"/>
        <c:axId val="336863776"/>
      </c:barChart>
      <c:catAx>
        <c:axId val="3368681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63776"/>
        <c:crosses val="autoZero"/>
        <c:auto val="1"/>
        <c:lblAlgn val="ctr"/>
        <c:lblOffset val="100"/>
        <c:noMultiLvlLbl val="0"/>
      </c:catAx>
      <c:valAx>
        <c:axId val="336863776"/>
        <c:scaling>
          <c:orientation val="minMax"/>
        </c:scaling>
        <c:delete val="1"/>
        <c:axPos val="l"/>
        <c:numFmt formatCode="#,##0.0" sourceLinked="1"/>
        <c:majorTickMark val="none"/>
        <c:minorTickMark val="none"/>
        <c:tickLblPos val="nextTo"/>
        <c:crossAx val="336868128"/>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336857248"/>
        <c:axId val="336857792"/>
      </c:barChart>
      <c:catAx>
        <c:axId val="3368572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57792"/>
        <c:crosses val="autoZero"/>
        <c:auto val="1"/>
        <c:lblAlgn val="ctr"/>
        <c:lblOffset val="100"/>
        <c:noMultiLvlLbl val="0"/>
      </c:catAx>
      <c:valAx>
        <c:axId val="336857792"/>
        <c:scaling>
          <c:orientation val="minMax"/>
        </c:scaling>
        <c:delete val="1"/>
        <c:axPos val="l"/>
        <c:numFmt formatCode="#,##0.0" sourceLinked="1"/>
        <c:majorTickMark val="none"/>
        <c:minorTickMark val="none"/>
        <c:tickLblPos val="nextTo"/>
        <c:crossAx val="336857248"/>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336844736"/>
        <c:axId val="336848000"/>
      </c:barChart>
      <c:catAx>
        <c:axId val="3368447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48000"/>
        <c:crosses val="autoZero"/>
        <c:auto val="1"/>
        <c:lblAlgn val="ctr"/>
        <c:lblOffset val="100"/>
        <c:noMultiLvlLbl val="0"/>
      </c:catAx>
      <c:valAx>
        <c:axId val="336848000"/>
        <c:scaling>
          <c:orientation val="minMax"/>
        </c:scaling>
        <c:delete val="1"/>
        <c:axPos val="l"/>
        <c:numFmt formatCode="#,##0.0" sourceLinked="1"/>
        <c:majorTickMark val="none"/>
        <c:minorTickMark val="none"/>
        <c:tickLblPos val="nextTo"/>
        <c:crossAx val="33684473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336870848"/>
        <c:axId val="336844192"/>
      </c:barChart>
      <c:catAx>
        <c:axId val="336870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44192"/>
        <c:crosses val="autoZero"/>
        <c:auto val="1"/>
        <c:lblAlgn val="ctr"/>
        <c:lblOffset val="100"/>
        <c:noMultiLvlLbl val="0"/>
      </c:catAx>
      <c:valAx>
        <c:axId val="336844192"/>
        <c:scaling>
          <c:orientation val="minMax"/>
        </c:scaling>
        <c:delete val="1"/>
        <c:axPos val="l"/>
        <c:numFmt formatCode="#,##0.0" sourceLinked="1"/>
        <c:majorTickMark val="none"/>
        <c:minorTickMark val="none"/>
        <c:tickLblPos val="nextTo"/>
        <c:crossAx val="336870848"/>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336839296"/>
        <c:axId val="336859424"/>
      </c:barChart>
      <c:catAx>
        <c:axId val="3368392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59424"/>
        <c:crosses val="autoZero"/>
        <c:auto val="1"/>
        <c:lblAlgn val="ctr"/>
        <c:lblOffset val="100"/>
        <c:noMultiLvlLbl val="0"/>
      </c:catAx>
      <c:valAx>
        <c:axId val="336859424"/>
        <c:scaling>
          <c:orientation val="minMax"/>
        </c:scaling>
        <c:delete val="1"/>
        <c:axPos val="l"/>
        <c:numFmt formatCode="#,##0.0" sourceLinked="1"/>
        <c:majorTickMark val="none"/>
        <c:minorTickMark val="none"/>
        <c:tickLblPos val="nextTo"/>
        <c:crossAx val="33683929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336842016"/>
        <c:axId val="336858336"/>
      </c:barChart>
      <c:catAx>
        <c:axId val="3368420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58336"/>
        <c:crosses val="autoZero"/>
        <c:auto val="1"/>
        <c:lblAlgn val="ctr"/>
        <c:lblOffset val="100"/>
        <c:noMultiLvlLbl val="0"/>
      </c:catAx>
      <c:valAx>
        <c:axId val="336858336"/>
        <c:scaling>
          <c:orientation val="minMax"/>
        </c:scaling>
        <c:delete val="1"/>
        <c:axPos val="l"/>
        <c:numFmt formatCode="#,##0.0" sourceLinked="1"/>
        <c:majorTickMark val="none"/>
        <c:minorTickMark val="none"/>
        <c:tickLblPos val="nextTo"/>
        <c:crossAx val="33684201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336864864"/>
        <c:axId val="336858880"/>
      </c:barChart>
      <c:catAx>
        <c:axId val="3368648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58880"/>
        <c:crosses val="autoZero"/>
        <c:auto val="1"/>
        <c:lblAlgn val="ctr"/>
        <c:lblOffset val="100"/>
        <c:noMultiLvlLbl val="0"/>
      </c:catAx>
      <c:valAx>
        <c:axId val="336858880"/>
        <c:scaling>
          <c:orientation val="minMax"/>
        </c:scaling>
        <c:delete val="1"/>
        <c:axPos val="l"/>
        <c:numFmt formatCode="#,##0.0" sourceLinked="1"/>
        <c:majorTickMark val="none"/>
        <c:minorTickMark val="none"/>
        <c:tickLblPos val="nextTo"/>
        <c:crossAx val="336864864"/>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336845280"/>
        <c:axId val="336864320"/>
      </c:barChart>
      <c:catAx>
        <c:axId val="33684528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64320"/>
        <c:crosses val="autoZero"/>
        <c:auto val="1"/>
        <c:lblAlgn val="ctr"/>
        <c:lblOffset val="100"/>
        <c:noMultiLvlLbl val="0"/>
      </c:catAx>
      <c:valAx>
        <c:axId val="336864320"/>
        <c:scaling>
          <c:orientation val="minMax"/>
        </c:scaling>
        <c:delete val="1"/>
        <c:axPos val="l"/>
        <c:numFmt formatCode="#,##0.0" sourceLinked="1"/>
        <c:majorTickMark val="none"/>
        <c:minorTickMark val="none"/>
        <c:tickLblPos val="nextTo"/>
        <c:crossAx val="336845280"/>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586017868029705E-2"/>
          <c:y val="5.6718815469420834E-2"/>
          <c:w val="0.92649309691078063"/>
          <c:h val="0.72664225195762067"/>
        </c:manualLayout>
      </c:layout>
      <c:barChart>
        <c:barDir val="col"/>
        <c:grouping val="percentStacked"/>
        <c:varyColors val="0"/>
        <c:ser>
          <c:idx val="0"/>
          <c:order val="0"/>
          <c:tx>
            <c:strRef>
              <c:f>Sheet1!$B$1</c:f>
              <c:strCache>
                <c:ptCount val="1"/>
                <c:pt idx="0">
                  <c:v>Segment 1</c:v>
                </c:pt>
              </c:strCache>
            </c:strRef>
          </c:tx>
          <c:spPr>
            <a:solidFill>
              <a:schemeClr val="accent1"/>
            </a:solidFill>
            <a:ln>
              <a:noFill/>
            </a:ln>
            <a:effectLst/>
          </c:spPr>
          <c:invertIfNegative val="0"/>
          <c:cat>
            <c:strRef>
              <c:f>Sheet1!$A$2:$A$3</c:f>
              <c:strCache>
                <c:ptCount val="2"/>
                <c:pt idx="0">
                  <c:v>2024E</c:v>
                </c:pt>
                <c:pt idx="1">
                  <c:v>2034F</c:v>
                </c:pt>
              </c:strCache>
            </c:strRef>
          </c:cat>
          <c:val>
            <c:numRef>
              <c:f>Sheet1!$B$2:$B$3</c:f>
              <c:numCache>
                <c:formatCode>0.0%</c:formatCode>
                <c:ptCount val="2"/>
                <c:pt idx="0">
                  <c:v>0.5</c:v>
                </c:pt>
                <c:pt idx="1">
                  <c:v>0.5</c:v>
                </c:pt>
              </c:numCache>
            </c:numRef>
          </c:val>
          <c:extLst>
            <c:ext xmlns:c16="http://schemas.microsoft.com/office/drawing/2014/chart" uri="{C3380CC4-5D6E-409C-BE32-E72D297353CC}">
              <c16:uniqueId val="{00000000-399A-4293-BB78-EFC0E0F10571}"/>
            </c:ext>
          </c:extLst>
        </c:ser>
        <c:ser>
          <c:idx val="1"/>
          <c:order val="1"/>
          <c:tx>
            <c:strRef>
              <c:f>Sheet1!$C$1</c:f>
              <c:strCache>
                <c:ptCount val="1"/>
                <c:pt idx="0">
                  <c:v>Segment 2</c:v>
                </c:pt>
              </c:strCache>
            </c:strRef>
          </c:tx>
          <c:spPr>
            <a:solidFill>
              <a:schemeClr val="accent2"/>
            </a:solidFill>
            <a:ln>
              <a:noFill/>
            </a:ln>
            <a:effectLst/>
          </c:spPr>
          <c:invertIfNegative val="0"/>
          <c:cat>
            <c:strRef>
              <c:f>Sheet1!$A$2:$A$3</c:f>
              <c:strCache>
                <c:ptCount val="2"/>
                <c:pt idx="0">
                  <c:v>2024E</c:v>
                </c:pt>
                <c:pt idx="1">
                  <c:v>2034F</c:v>
                </c:pt>
              </c:strCache>
            </c:strRef>
          </c:cat>
          <c:val>
            <c:numRef>
              <c:f>Sheet1!$C$2:$C$3</c:f>
              <c:numCache>
                <c:formatCode>0.0%</c:formatCode>
                <c:ptCount val="2"/>
                <c:pt idx="0">
                  <c:v>0.5</c:v>
                </c:pt>
                <c:pt idx="1">
                  <c:v>0.5</c:v>
                </c:pt>
              </c:numCache>
            </c:numRef>
          </c:val>
          <c:extLst>
            <c:ext xmlns:c16="http://schemas.microsoft.com/office/drawing/2014/chart" uri="{C3380CC4-5D6E-409C-BE32-E72D297353CC}">
              <c16:uniqueId val="{00000001-399A-4293-BB78-EFC0E0F10571}"/>
            </c:ext>
          </c:extLst>
        </c:ser>
        <c:ser>
          <c:idx val="2"/>
          <c:order val="2"/>
          <c:tx>
            <c:strRef>
              <c:f>Sheet1!$D$1</c:f>
              <c:strCache>
                <c:ptCount val="1"/>
                <c:pt idx="0">
                  <c:v>Segment 3</c:v>
                </c:pt>
              </c:strCache>
            </c:strRef>
          </c:tx>
          <c:spPr>
            <a:solidFill>
              <a:schemeClr val="accent3"/>
            </a:solidFill>
            <a:ln>
              <a:noFill/>
            </a:ln>
            <a:effectLst/>
          </c:spPr>
          <c:invertIfNegative val="0"/>
          <c:cat>
            <c:strRef>
              <c:f>Sheet1!$A$2:$A$3</c:f>
              <c:strCache>
                <c:ptCount val="2"/>
                <c:pt idx="0">
                  <c:v>2024E</c:v>
                </c:pt>
                <c:pt idx="1">
                  <c:v>2034F</c:v>
                </c:pt>
              </c:strCache>
            </c:strRef>
          </c:cat>
          <c:val>
            <c:numRef>
              <c:f>Sheet1!$D$2:$D$3</c:f>
              <c:numCache>
                <c:formatCode>0.0%</c:formatCode>
                <c:ptCount val="2"/>
                <c:pt idx="0">
                  <c:v>0.1</c:v>
                </c:pt>
                <c:pt idx="1">
                  <c:v>0.1</c:v>
                </c:pt>
              </c:numCache>
            </c:numRef>
          </c:val>
          <c:extLst>
            <c:ext xmlns:c16="http://schemas.microsoft.com/office/drawing/2014/chart" uri="{C3380CC4-5D6E-409C-BE32-E72D297353CC}">
              <c16:uniqueId val="{00000002-399A-4293-BB78-EFC0E0F10571}"/>
            </c:ext>
          </c:extLst>
        </c:ser>
        <c:ser>
          <c:idx val="3"/>
          <c:order val="3"/>
          <c:tx>
            <c:strRef>
              <c:f>Sheet1!$E$1</c:f>
              <c:strCache>
                <c:ptCount val="1"/>
                <c:pt idx="0">
                  <c:v>Segment 4</c:v>
                </c:pt>
              </c:strCache>
            </c:strRef>
          </c:tx>
          <c:spPr>
            <a:solidFill>
              <a:schemeClr val="accent4"/>
            </a:solidFill>
            <a:ln>
              <a:noFill/>
            </a:ln>
            <a:effectLst/>
          </c:spPr>
          <c:invertIfNegative val="0"/>
          <c:cat>
            <c:strRef>
              <c:f>Sheet1!$A$2:$A$3</c:f>
              <c:strCache>
                <c:ptCount val="2"/>
                <c:pt idx="0">
                  <c:v>2024E</c:v>
                </c:pt>
                <c:pt idx="1">
                  <c:v>2034F</c:v>
                </c:pt>
              </c:strCache>
            </c:strRef>
          </c:cat>
          <c:val>
            <c:numRef>
              <c:f>Sheet1!$E$2:$E$3</c:f>
              <c:numCache>
                <c:formatCode>0.0%</c:formatCode>
                <c:ptCount val="2"/>
                <c:pt idx="0">
                  <c:v>0.5</c:v>
                </c:pt>
                <c:pt idx="1">
                  <c:v>0.5</c:v>
                </c:pt>
              </c:numCache>
            </c:numRef>
          </c:val>
          <c:extLst>
            <c:ext xmlns:c16="http://schemas.microsoft.com/office/drawing/2014/chart" uri="{C3380CC4-5D6E-409C-BE32-E72D297353CC}">
              <c16:uniqueId val="{00000003-399A-4293-BB78-EFC0E0F10571}"/>
            </c:ext>
          </c:extLst>
        </c:ser>
        <c:ser>
          <c:idx val="4"/>
          <c:order val="4"/>
          <c:tx>
            <c:strRef>
              <c:f>Sheet1!$F$1</c:f>
              <c:strCache>
                <c:ptCount val="1"/>
                <c:pt idx="0">
                  <c:v>Segment 5</c:v>
                </c:pt>
              </c:strCache>
            </c:strRef>
          </c:tx>
          <c:spPr>
            <a:solidFill>
              <a:schemeClr val="accent5"/>
            </a:solidFill>
            <a:ln>
              <a:noFill/>
            </a:ln>
            <a:effectLst/>
          </c:spPr>
          <c:invertIfNegative val="0"/>
          <c:cat>
            <c:strRef>
              <c:f>Sheet1!$A$2:$A$3</c:f>
              <c:strCache>
                <c:ptCount val="2"/>
                <c:pt idx="0">
                  <c:v>2024E</c:v>
                </c:pt>
                <c:pt idx="1">
                  <c:v>2034F</c:v>
                </c:pt>
              </c:strCache>
            </c:strRef>
          </c:cat>
          <c:val>
            <c:numRef>
              <c:f>Sheet1!$F$2:$F$3</c:f>
              <c:numCache>
                <c:formatCode>0.0%</c:formatCode>
                <c:ptCount val="2"/>
                <c:pt idx="0">
                  <c:v>0.25</c:v>
                </c:pt>
                <c:pt idx="1">
                  <c:v>0.25</c:v>
                </c:pt>
              </c:numCache>
            </c:numRef>
          </c:val>
          <c:extLst>
            <c:ext xmlns:c16="http://schemas.microsoft.com/office/drawing/2014/chart" uri="{C3380CC4-5D6E-409C-BE32-E72D297353CC}">
              <c16:uniqueId val="{00000004-399A-4293-BB78-EFC0E0F10571}"/>
            </c:ext>
          </c:extLst>
        </c:ser>
        <c:ser>
          <c:idx val="5"/>
          <c:order val="5"/>
          <c:tx>
            <c:strRef>
              <c:f>Sheet1!$G$1</c:f>
              <c:strCache>
                <c:ptCount val="1"/>
                <c:pt idx="0">
                  <c:v>Segment 6</c:v>
                </c:pt>
              </c:strCache>
            </c:strRef>
          </c:tx>
          <c:spPr>
            <a:solidFill>
              <a:schemeClr val="accent6"/>
            </a:solidFill>
            <a:ln>
              <a:noFill/>
            </a:ln>
            <a:effectLst/>
          </c:spPr>
          <c:invertIfNegative val="0"/>
          <c:cat>
            <c:strRef>
              <c:f>Sheet1!$A$2:$A$3</c:f>
              <c:strCache>
                <c:ptCount val="2"/>
                <c:pt idx="0">
                  <c:v>2024E</c:v>
                </c:pt>
                <c:pt idx="1">
                  <c:v>2034F</c:v>
                </c:pt>
              </c:strCache>
            </c:strRef>
          </c:cat>
          <c:val>
            <c:numRef>
              <c:f>Sheet1!$G$2:$G$3</c:f>
              <c:numCache>
                <c:formatCode>0.0%</c:formatCode>
                <c:ptCount val="2"/>
                <c:pt idx="0">
                  <c:v>0.3</c:v>
                </c:pt>
                <c:pt idx="1">
                  <c:v>0.3</c:v>
                </c:pt>
              </c:numCache>
            </c:numRef>
          </c:val>
          <c:extLst>
            <c:ext xmlns:c16="http://schemas.microsoft.com/office/drawing/2014/chart" uri="{C3380CC4-5D6E-409C-BE32-E72D297353CC}">
              <c16:uniqueId val="{00000005-399A-4293-BB78-EFC0E0F10571}"/>
            </c:ext>
          </c:extLst>
        </c:ser>
        <c:ser>
          <c:idx val="6"/>
          <c:order val="6"/>
          <c:tx>
            <c:strRef>
              <c:f>Sheet1!$H$1</c:f>
              <c:strCache>
                <c:ptCount val="1"/>
                <c:pt idx="0">
                  <c:v>Segment 7</c:v>
                </c:pt>
              </c:strCache>
            </c:strRef>
          </c:tx>
          <c:spPr>
            <a:solidFill>
              <a:schemeClr val="accent1">
                <a:lumMod val="60000"/>
              </a:schemeClr>
            </a:solidFill>
            <a:ln>
              <a:noFill/>
            </a:ln>
            <a:effectLst/>
          </c:spPr>
          <c:invertIfNegative val="0"/>
          <c:cat>
            <c:strRef>
              <c:f>Sheet1!$A$2:$A$3</c:f>
              <c:strCache>
                <c:ptCount val="2"/>
                <c:pt idx="0">
                  <c:v>2024E</c:v>
                </c:pt>
                <c:pt idx="1">
                  <c:v>2034F</c:v>
                </c:pt>
              </c:strCache>
            </c:strRef>
          </c:cat>
          <c:val>
            <c:numRef>
              <c:f>Sheet1!$H$2:$H$3</c:f>
              <c:numCache>
                <c:formatCode>0.0%</c:formatCode>
                <c:ptCount val="2"/>
                <c:pt idx="0">
                  <c:v>0.5</c:v>
                </c:pt>
                <c:pt idx="1">
                  <c:v>0.5</c:v>
                </c:pt>
              </c:numCache>
            </c:numRef>
          </c:val>
          <c:extLst>
            <c:ext xmlns:c16="http://schemas.microsoft.com/office/drawing/2014/chart" uri="{C3380CC4-5D6E-409C-BE32-E72D297353CC}">
              <c16:uniqueId val="{00000006-399A-4293-BB78-EFC0E0F10571}"/>
            </c:ext>
          </c:extLst>
        </c:ser>
        <c:ser>
          <c:idx val="7"/>
          <c:order val="7"/>
          <c:tx>
            <c:strRef>
              <c:f>Sheet1!$I$1</c:f>
              <c:strCache>
                <c:ptCount val="1"/>
                <c:pt idx="0">
                  <c:v>Segment 8</c:v>
                </c:pt>
              </c:strCache>
            </c:strRef>
          </c:tx>
          <c:spPr>
            <a:solidFill>
              <a:schemeClr val="accent2">
                <a:lumMod val="60000"/>
              </a:schemeClr>
            </a:solidFill>
            <a:ln>
              <a:noFill/>
            </a:ln>
            <a:effectLst/>
          </c:spPr>
          <c:invertIfNegative val="0"/>
          <c:cat>
            <c:strRef>
              <c:f>Sheet1!$A$2:$A$3</c:f>
              <c:strCache>
                <c:ptCount val="2"/>
                <c:pt idx="0">
                  <c:v>2024E</c:v>
                </c:pt>
                <c:pt idx="1">
                  <c:v>2034F</c:v>
                </c:pt>
              </c:strCache>
            </c:strRef>
          </c:cat>
          <c:val>
            <c:numRef>
              <c:f>Sheet1!$I$2:$I$3</c:f>
              <c:numCache>
                <c:formatCode>0.0%</c:formatCode>
                <c:ptCount val="2"/>
                <c:pt idx="0">
                  <c:v>0.5</c:v>
                </c:pt>
                <c:pt idx="1">
                  <c:v>0.5</c:v>
                </c:pt>
              </c:numCache>
            </c:numRef>
          </c:val>
          <c:extLst>
            <c:ext xmlns:c16="http://schemas.microsoft.com/office/drawing/2014/chart" uri="{C3380CC4-5D6E-409C-BE32-E72D297353CC}">
              <c16:uniqueId val="{00000007-399A-4293-BB78-EFC0E0F10571}"/>
            </c:ext>
          </c:extLst>
        </c:ser>
        <c:ser>
          <c:idx val="8"/>
          <c:order val="8"/>
          <c:tx>
            <c:strRef>
              <c:f>Sheet1!$J$1</c:f>
              <c:strCache>
                <c:ptCount val="1"/>
                <c:pt idx="0">
                  <c:v>Segment 9</c:v>
                </c:pt>
              </c:strCache>
            </c:strRef>
          </c:tx>
          <c:spPr>
            <a:solidFill>
              <a:schemeClr val="accent3">
                <a:lumMod val="60000"/>
              </a:schemeClr>
            </a:solidFill>
            <a:ln>
              <a:noFill/>
            </a:ln>
            <a:effectLst/>
          </c:spPr>
          <c:invertIfNegative val="0"/>
          <c:cat>
            <c:strRef>
              <c:f>Sheet1!$A$2:$A$3</c:f>
              <c:strCache>
                <c:ptCount val="2"/>
                <c:pt idx="0">
                  <c:v>2024E</c:v>
                </c:pt>
                <c:pt idx="1">
                  <c:v>2034F</c:v>
                </c:pt>
              </c:strCache>
            </c:strRef>
          </c:cat>
          <c:val>
            <c:numRef>
              <c:f>Sheet1!$J$2:$J$3</c:f>
              <c:numCache>
                <c:formatCode>0.0%</c:formatCode>
                <c:ptCount val="2"/>
                <c:pt idx="0">
                  <c:v>0.56000000000000005</c:v>
                </c:pt>
                <c:pt idx="1">
                  <c:v>0.56000000000000005</c:v>
                </c:pt>
              </c:numCache>
            </c:numRef>
          </c:val>
          <c:extLst>
            <c:ext xmlns:c16="http://schemas.microsoft.com/office/drawing/2014/chart" uri="{C3380CC4-5D6E-409C-BE32-E72D297353CC}">
              <c16:uniqueId val="{00000008-399A-4293-BB78-EFC0E0F10571}"/>
            </c:ext>
          </c:extLst>
        </c:ser>
        <c:ser>
          <c:idx val="9"/>
          <c:order val="9"/>
          <c:tx>
            <c:strRef>
              <c:f>Sheet1!$K$1</c:f>
              <c:strCache>
                <c:ptCount val="1"/>
                <c:pt idx="0">
                  <c:v>Segment 10</c:v>
                </c:pt>
              </c:strCache>
            </c:strRef>
          </c:tx>
          <c:spPr>
            <a:solidFill>
              <a:schemeClr val="accent4">
                <a:lumMod val="60000"/>
              </a:schemeClr>
            </a:solidFill>
            <a:ln>
              <a:noFill/>
            </a:ln>
            <a:effectLst/>
          </c:spPr>
          <c:invertIfNegative val="0"/>
          <c:cat>
            <c:strRef>
              <c:f>Sheet1!$A$2:$A$3</c:f>
              <c:strCache>
                <c:ptCount val="2"/>
                <c:pt idx="0">
                  <c:v>2024E</c:v>
                </c:pt>
                <c:pt idx="1">
                  <c:v>2034F</c:v>
                </c:pt>
              </c:strCache>
            </c:strRef>
          </c:cat>
          <c:val>
            <c:numRef>
              <c:f>Sheet1!$K$2:$K$3</c:f>
              <c:numCache>
                <c:formatCode>0.0%</c:formatCode>
                <c:ptCount val="2"/>
                <c:pt idx="0">
                  <c:v>0.5</c:v>
                </c:pt>
                <c:pt idx="1">
                  <c:v>0.5</c:v>
                </c:pt>
              </c:numCache>
            </c:numRef>
          </c:val>
          <c:extLst>
            <c:ext xmlns:c16="http://schemas.microsoft.com/office/drawing/2014/chart" uri="{C3380CC4-5D6E-409C-BE32-E72D297353CC}">
              <c16:uniqueId val="{00000009-399A-4293-BB78-EFC0E0F10571}"/>
            </c:ext>
          </c:extLst>
        </c:ser>
        <c:ser>
          <c:idx val="10"/>
          <c:order val="10"/>
          <c:tx>
            <c:strRef>
              <c:f>Sheet1!$L$1</c:f>
              <c:strCache>
                <c:ptCount val="1"/>
                <c:pt idx="0">
                  <c:v>Segment 11</c:v>
                </c:pt>
              </c:strCache>
            </c:strRef>
          </c:tx>
          <c:spPr>
            <a:solidFill>
              <a:schemeClr val="accent5">
                <a:lumMod val="60000"/>
              </a:schemeClr>
            </a:solidFill>
            <a:ln>
              <a:noFill/>
            </a:ln>
            <a:effectLst/>
          </c:spPr>
          <c:invertIfNegative val="0"/>
          <c:cat>
            <c:strRef>
              <c:f>Sheet1!$A$2:$A$3</c:f>
              <c:strCache>
                <c:ptCount val="2"/>
                <c:pt idx="0">
                  <c:v>2024E</c:v>
                </c:pt>
                <c:pt idx="1">
                  <c:v>2034F</c:v>
                </c:pt>
              </c:strCache>
            </c:strRef>
          </c:cat>
          <c:val>
            <c:numRef>
              <c:f>Sheet1!$L$2:$L$3</c:f>
              <c:numCache>
                <c:formatCode>0.0%</c:formatCode>
                <c:ptCount val="2"/>
                <c:pt idx="0">
                  <c:v>0.7</c:v>
                </c:pt>
                <c:pt idx="1">
                  <c:v>0.7</c:v>
                </c:pt>
              </c:numCache>
            </c:numRef>
          </c:val>
          <c:extLst>
            <c:ext xmlns:c16="http://schemas.microsoft.com/office/drawing/2014/chart" uri="{C3380CC4-5D6E-409C-BE32-E72D297353CC}">
              <c16:uniqueId val="{0000000A-399A-4293-BB78-EFC0E0F10571}"/>
            </c:ext>
          </c:extLst>
        </c:ser>
        <c:ser>
          <c:idx val="11"/>
          <c:order val="11"/>
          <c:tx>
            <c:strRef>
              <c:f>Sheet1!$M$1</c:f>
              <c:strCache>
                <c:ptCount val="1"/>
                <c:pt idx="0">
                  <c:v>Segment 12</c:v>
                </c:pt>
              </c:strCache>
            </c:strRef>
          </c:tx>
          <c:spPr>
            <a:solidFill>
              <a:schemeClr val="accent6">
                <a:lumMod val="60000"/>
              </a:schemeClr>
            </a:solidFill>
            <a:ln>
              <a:noFill/>
            </a:ln>
            <a:effectLst/>
          </c:spPr>
          <c:invertIfNegative val="0"/>
          <c:cat>
            <c:strRef>
              <c:f>Sheet1!$A$2:$A$3</c:f>
              <c:strCache>
                <c:ptCount val="2"/>
                <c:pt idx="0">
                  <c:v>2024E</c:v>
                </c:pt>
                <c:pt idx="1">
                  <c:v>2034F</c:v>
                </c:pt>
              </c:strCache>
            </c:strRef>
          </c:cat>
          <c:val>
            <c:numRef>
              <c:f>Sheet1!$M$2:$M$3</c:f>
              <c:numCache>
                <c:formatCode>0.0%</c:formatCode>
                <c:ptCount val="2"/>
                <c:pt idx="0">
                  <c:v>0.5</c:v>
                </c:pt>
                <c:pt idx="1">
                  <c:v>0.5</c:v>
                </c:pt>
              </c:numCache>
            </c:numRef>
          </c:val>
          <c:extLst>
            <c:ext xmlns:c16="http://schemas.microsoft.com/office/drawing/2014/chart" uri="{C3380CC4-5D6E-409C-BE32-E72D297353CC}">
              <c16:uniqueId val="{0000000B-399A-4293-BB78-EFC0E0F10571}"/>
            </c:ext>
          </c:extLst>
        </c:ser>
        <c:dLbls>
          <c:showLegendKey val="0"/>
          <c:showVal val="0"/>
          <c:showCatName val="0"/>
          <c:showSerName val="0"/>
          <c:showPercent val="0"/>
          <c:showBubbleSize val="0"/>
        </c:dLbls>
        <c:gapWidth val="50"/>
        <c:overlap val="100"/>
        <c:axId val="336865408"/>
        <c:axId val="336859968"/>
      </c:barChart>
      <c:catAx>
        <c:axId val="3368654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336859968"/>
        <c:crosses val="autoZero"/>
        <c:auto val="1"/>
        <c:lblAlgn val="ctr"/>
        <c:lblOffset val="100"/>
        <c:noMultiLvlLbl val="0"/>
      </c:catAx>
      <c:valAx>
        <c:axId val="336859968"/>
        <c:scaling>
          <c:orientation val="minMax"/>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336865408"/>
        <c:crosses val="autoZero"/>
        <c:crossBetween val="between"/>
      </c:valAx>
      <c:spPr>
        <a:noFill/>
        <a:ln>
          <a:noFill/>
        </a:ln>
        <a:effectLst/>
      </c:spPr>
    </c:plotArea>
    <c:legend>
      <c:legendPos val="b"/>
      <c:layout>
        <c:manualLayout>
          <c:xMode val="edge"/>
          <c:yMode val="edge"/>
          <c:x val="0"/>
          <c:y val="0.83692483498304948"/>
          <c:w val="1"/>
          <c:h val="0.16307516501695063"/>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193926521544815"/>
          <c:y val="3.2403000316204716E-2"/>
          <c:w val="0.7016005889076895"/>
          <c:h val="0.82090372344009988"/>
        </c:manualLayout>
      </c:layout>
      <c:bubbleChart>
        <c:varyColors val="1"/>
        <c:ser>
          <c:idx val="0"/>
          <c:order val="0"/>
          <c:tx>
            <c:strRef>
              <c:f>Sheet1!$C$1</c:f>
              <c:strCache>
                <c:ptCount val="1"/>
                <c:pt idx="0">
                  <c:v>Y-Values</c:v>
                </c:pt>
              </c:strCache>
            </c:strRef>
          </c:tx>
          <c:invertIfNegative val="0"/>
          <c:dPt>
            <c:idx val="0"/>
            <c:invertIfNegative val="0"/>
            <c:bubble3D val="0"/>
            <c:spPr>
              <a:solidFill>
                <a:schemeClr val="accent1">
                  <a:alpha val="75000"/>
                </a:schemeClr>
              </a:solidFill>
              <a:ln>
                <a:noFill/>
              </a:ln>
              <a:effectLst/>
            </c:spPr>
            <c:extLst>
              <c:ext xmlns:c16="http://schemas.microsoft.com/office/drawing/2014/chart" uri="{C3380CC4-5D6E-409C-BE32-E72D297353CC}">
                <c16:uniqueId val="{00000001-DDE3-4D99-B865-1D4F4604A435}"/>
              </c:ext>
            </c:extLst>
          </c:dPt>
          <c:dPt>
            <c:idx val="1"/>
            <c:invertIfNegative val="0"/>
            <c:bubble3D val="0"/>
            <c:spPr>
              <a:solidFill>
                <a:schemeClr val="accent2">
                  <a:alpha val="75000"/>
                </a:schemeClr>
              </a:solidFill>
              <a:ln>
                <a:noFill/>
              </a:ln>
              <a:effectLst/>
            </c:spPr>
            <c:extLst>
              <c:ext xmlns:c16="http://schemas.microsoft.com/office/drawing/2014/chart" uri="{C3380CC4-5D6E-409C-BE32-E72D297353CC}">
                <c16:uniqueId val="{00000003-DDE3-4D99-B865-1D4F4604A435}"/>
              </c:ext>
            </c:extLst>
          </c:dPt>
          <c:dPt>
            <c:idx val="2"/>
            <c:invertIfNegative val="0"/>
            <c:bubble3D val="0"/>
            <c:spPr>
              <a:solidFill>
                <a:schemeClr val="accent3">
                  <a:alpha val="75000"/>
                </a:schemeClr>
              </a:solidFill>
              <a:ln>
                <a:noFill/>
              </a:ln>
              <a:effectLst/>
            </c:spPr>
            <c:extLst>
              <c:ext xmlns:c16="http://schemas.microsoft.com/office/drawing/2014/chart" uri="{C3380CC4-5D6E-409C-BE32-E72D297353CC}">
                <c16:uniqueId val="{00000005-DDE3-4D99-B865-1D4F4604A435}"/>
              </c:ext>
            </c:extLst>
          </c:dPt>
          <c:dPt>
            <c:idx val="3"/>
            <c:invertIfNegative val="0"/>
            <c:bubble3D val="0"/>
            <c:spPr>
              <a:solidFill>
                <a:schemeClr val="accent4">
                  <a:alpha val="75000"/>
                </a:schemeClr>
              </a:solidFill>
              <a:ln>
                <a:noFill/>
              </a:ln>
              <a:effectLst/>
            </c:spPr>
            <c:extLst>
              <c:ext xmlns:c16="http://schemas.microsoft.com/office/drawing/2014/chart" uri="{C3380CC4-5D6E-409C-BE32-E72D297353CC}">
                <c16:uniqueId val="{00000007-DDE3-4D99-B865-1D4F4604A435}"/>
              </c:ext>
            </c:extLst>
          </c:dPt>
          <c:dPt>
            <c:idx val="4"/>
            <c:invertIfNegative val="0"/>
            <c:bubble3D val="0"/>
            <c:spPr>
              <a:solidFill>
                <a:schemeClr val="accent5">
                  <a:alpha val="75000"/>
                </a:schemeClr>
              </a:solidFill>
              <a:ln>
                <a:noFill/>
              </a:ln>
              <a:effectLst/>
            </c:spPr>
            <c:extLst>
              <c:ext xmlns:c16="http://schemas.microsoft.com/office/drawing/2014/chart" uri="{C3380CC4-5D6E-409C-BE32-E72D297353CC}">
                <c16:uniqueId val="{00000009-DDE3-4D99-B865-1D4F4604A435}"/>
              </c:ext>
            </c:extLst>
          </c:dPt>
          <c:dPt>
            <c:idx val="5"/>
            <c:invertIfNegative val="0"/>
            <c:bubble3D val="0"/>
            <c:spPr>
              <a:solidFill>
                <a:schemeClr val="accent6">
                  <a:alpha val="75000"/>
                </a:schemeClr>
              </a:solidFill>
              <a:ln>
                <a:noFill/>
              </a:ln>
              <a:effectLst/>
            </c:spPr>
            <c:extLst>
              <c:ext xmlns:c16="http://schemas.microsoft.com/office/drawing/2014/chart" uri="{C3380CC4-5D6E-409C-BE32-E72D297353CC}">
                <c16:uniqueId val="{0000000B-DDE3-4D99-B865-1D4F4604A435}"/>
              </c:ext>
            </c:extLst>
          </c:dPt>
          <c:dPt>
            <c:idx val="6"/>
            <c:invertIfNegative val="0"/>
            <c:bubble3D val="0"/>
            <c:spPr>
              <a:solidFill>
                <a:schemeClr val="accent1">
                  <a:lumMod val="60000"/>
                  <a:alpha val="75000"/>
                </a:schemeClr>
              </a:solidFill>
              <a:ln>
                <a:noFill/>
              </a:ln>
              <a:effectLst/>
            </c:spPr>
            <c:extLst>
              <c:ext xmlns:c16="http://schemas.microsoft.com/office/drawing/2014/chart" uri="{C3380CC4-5D6E-409C-BE32-E72D297353CC}">
                <c16:uniqueId val="{0000000D-DDE3-4D99-B865-1D4F4604A435}"/>
              </c:ext>
            </c:extLst>
          </c:dPt>
          <c:dPt>
            <c:idx val="7"/>
            <c:invertIfNegative val="0"/>
            <c:bubble3D val="0"/>
            <c:spPr>
              <a:solidFill>
                <a:schemeClr val="accent2">
                  <a:lumMod val="60000"/>
                  <a:alpha val="75000"/>
                </a:schemeClr>
              </a:solidFill>
              <a:ln>
                <a:noFill/>
              </a:ln>
              <a:effectLst/>
            </c:spPr>
            <c:extLst>
              <c:ext xmlns:c16="http://schemas.microsoft.com/office/drawing/2014/chart" uri="{C3380CC4-5D6E-409C-BE32-E72D297353CC}">
                <c16:uniqueId val="{0000000F-DDE3-4D99-B865-1D4F4604A435}"/>
              </c:ext>
            </c:extLst>
          </c:dPt>
          <c:dPt>
            <c:idx val="8"/>
            <c:invertIfNegative val="0"/>
            <c:bubble3D val="0"/>
            <c:spPr>
              <a:solidFill>
                <a:schemeClr val="accent3">
                  <a:lumMod val="60000"/>
                  <a:alpha val="75000"/>
                </a:schemeClr>
              </a:solidFill>
              <a:ln>
                <a:noFill/>
              </a:ln>
              <a:effectLst/>
            </c:spPr>
            <c:extLst>
              <c:ext xmlns:c16="http://schemas.microsoft.com/office/drawing/2014/chart" uri="{C3380CC4-5D6E-409C-BE32-E72D297353CC}">
                <c16:uniqueId val="{00000011-DDE3-4D99-B865-1D4F4604A435}"/>
              </c:ext>
            </c:extLst>
          </c:dPt>
          <c:dPt>
            <c:idx val="9"/>
            <c:invertIfNegative val="0"/>
            <c:bubble3D val="0"/>
            <c:spPr>
              <a:solidFill>
                <a:schemeClr val="accent4">
                  <a:lumMod val="60000"/>
                  <a:alpha val="75000"/>
                </a:schemeClr>
              </a:solidFill>
              <a:ln>
                <a:noFill/>
              </a:ln>
              <a:effectLst/>
            </c:spPr>
            <c:extLst>
              <c:ext xmlns:c16="http://schemas.microsoft.com/office/drawing/2014/chart" uri="{C3380CC4-5D6E-409C-BE32-E72D297353CC}">
                <c16:uniqueId val="{00000013-DDE3-4D99-B865-1D4F4604A435}"/>
              </c:ext>
            </c:extLst>
          </c:dPt>
          <c:dPt>
            <c:idx val="10"/>
            <c:invertIfNegative val="0"/>
            <c:bubble3D val="0"/>
            <c:spPr>
              <a:solidFill>
                <a:schemeClr val="accent5">
                  <a:lumMod val="60000"/>
                  <a:alpha val="75000"/>
                </a:schemeClr>
              </a:solidFill>
              <a:ln>
                <a:noFill/>
              </a:ln>
              <a:effectLst/>
            </c:spPr>
            <c:extLst>
              <c:ext xmlns:c16="http://schemas.microsoft.com/office/drawing/2014/chart" uri="{C3380CC4-5D6E-409C-BE32-E72D297353CC}">
                <c16:uniqueId val="{00000015-DDE3-4D99-B865-1D4F4604A435}"/>
              </c:ext>
            </c:extLst>
          </c:dPt>
          <c:dPt>
            <c:idx val="11"/>
            <c:invertIfNegative val="0"/>
            <c:bubble3D val="0"/>
            <c:spPr>
              <a:solidFill>
                <a:schemeClr val="accent6">
                  <a:lumMod val="60000"/>
                  <a:alpha val="75000"/>
                </a:schemeClr>
              </a:solidFill>
              <a:ln>
                <a:noFill/>
              </a:ln>
              <a:effectLst/>
            </c:spPr>
            <c:extLst>
              <c:ext xmlns:c16="http://schemas.microsoft.com/office/drawing/2014/chart" uri="{C3380CC4-5D6E-409C-BE32-E72D297353CC}">
                <c16:uniqueId val="{00000017-DDE3-4D99-B865-1D4F4604A435}"/>
              </c:ext>
            </c:extLst>
          </c:dPt>
          <c:xVal>
            <c:numRef>
              <c:f>Sheet1!$B$2:$B$13</c:f>
              <c:numCache>
                <c:formatCode>_(* #,##0.0_);_(* \(#,##0.0\);_(* "-"??_);_(@_)</c:formatCode>
                <c:ptCount val="12"/>
                <c:pt idx="0">
                  <c:v>1.23845548712603</c:v>
                </c:pt>
                <c:pt idx="1">
                  <c:v>1.162113536969851</c:v>
                </c:pt>
                <c:pt idx="2">
                  <c:v>1.0302543225319352</c:v>
                </c:pt>
                <c:pt idx="3">
                  <c:v>0.84722981022347821</c:v>
                </c:pt>
                <c:pt idx="4">
                  <c:v>0.93741701489866014</c:v>
                </c:pt>
                <c:pt idx="5">
                  <c:v>0.16703967724697652</c:v>
                </c:pt>
                <c:pt idx="6">
                  <c:v>0.31547286921338047</c:v>
                </c:pt>
                <c:pt idx="7">
                  <c:v>1.889955916162251</c:v>
                </c:pt>
                <c:pt idx="8">
                  <c:v>1.3855301758593002</c:v>
                </c:pt>
                <c:pt idx="9">
                  <c:v>0.94636364010056717</c:v>
                </c:pt>
                <c:pt idx="10">
                  <c:v>0.83305684356707144</c:v>
                </c:pt>
                <c:pt idx="11">
                  <c:v>1.2471107061004996</c:v>
                </c:pt>
              </c:numCache>
            </c:numRef>
          </c:xVal>
          <c:yVal>
            <c:numRef>
              <c:f>Sheet1!$C$2:$C$13</c:f>
              <c:numCache>
                <c:formatCode>_(* #,##0.0_);_(* \(#,##0.0\);_(* "-"??_);_(@_)</c:formatCode>
                <c:ptCount val="12"/>
                <c:pt idx="0">
                  <c:v>4.2167112547800931</c:v>
                </c:pt>
                <c:pt idx="1">
                  <c:v>3.3980122714010847</c:v>
                </c:pt>
                <c:pt idx="2">
                  <c:v>1.2822227748390012</c:v>
                </c:pt>
                <c:pt idx="3">
                  <c:v>0.55922599312951515</c:v>
                </c:pt>
                <c:pt idx="4">
                  <c:v>0.51700126218067499</c:v>
                </c:pt>
                <c:pt idx="5">
                  <c:v>0.55959517973370299</c:v>
                </c:pt>
                <c:pt idx="6">
                  <c:v>0.4504058763710288</c:v>
                </c:pt>
                <c:pt idx="7">
                  <c:v>7.8479811791921719E-2</c:v>
                </c:pt>
                <c:pt idx="8">
                  <c:v>0.15695962358384338</c:v>
                </c:pt>
                <c:pt idx="9">
                  <c:v>0.26614892694651726</c:v>
                </c:pt>
                <c:pt idx="10">
                  <c:v>0.33098007581810435</c:v>
                </c:pt>
                <c:pt idx="11">
                  <c:v>0.1842569494245119</c:v>
                </c:pt>
              </c:numCache>
            </c:numRef>
          </c:yVal>
          <c:bubbleSize>
            <c:numRef>
              <c:f>Sheet1!$D$2:$D$13</c:f>
              <c:numCache>
                <c:formatCode>_(* #,##0.0_);_(* \(#,##0.0\);_(* "-"??_);_(@_)</c:formatCode>
                <c:ptCount val="12"/>
                <c:pt idx="0">
                  <c:v>4.9936297981998532</c:v>
                </c:pt>
                <c:pt idx="1">
                  <c:v>3.7099886852259316</c:v>
                </c:pt>
                <c:pt idx="2">
                  <c:v>1.2039612272959443</c:v>
                </c:pt>
                <c:pt idx="3">
                  <c:v>0.41406478695641968</c:v>
                </c:pt>
                <c:pt idx="4">
                  <c:v>0.43238574591390638</c:v>
                </c:pt>
                <c:pt idx="5">
                  <c:v>7.0054524456672831E-2</c:v>
                </c:pt>
                <c:pt idx="6">
                  <c:v>0.11008568128905516</c:v>
                </c:pt>
                <c:pt idx="7">
                  <c:v>0.16512852193358268</c:v>
                </c:pt>
                <c:pt idx="8">
                  <c:v>0.2151674679740625</c:v>
                </c:pt>
                <c:pt idx="9">
                  <c:v>0.22517525718215869</c:v>
                </c:pt>
                <c:pt idx="10">
                  <c:v>0.24018694099430174</c:v>
                </c:pt>
                <c:pt idx="11">
                  <c:v>0.22017136257811071</c:v>
                </c:pt>
              </c:numCache>
            </c:numRef>
          </c:bubbleSize>
          <c:bubble3D val="0"/>
          <c:extLst>
            <c:ext xmlns:c16="http://schemas.microsoft.com/office/drawing/2014/chart" uri="{C3380CC4-5D6E-409C-BE32-E72D297353CC}">
              <c16:uniqueId val="{00000018-DDE3-4D99-B865-1D4F4604A435}"/>
            </c:ext>
          </c:extLst>
        </c:ser>
        <c:dLbls>
          <c:showLegendKey val="0"/>
          <c:showVal val="0"/>
          <c:showCatName val="0"/>
          <c:showSerName val="0"/>
          <c:showPercent val="0"/>
          <c:showBubbleSize val="0"/>
        </c:dLbls>
        <c:bubbleScale val="100"/>
        <c:showNegBubbles val="0"/>
        <c:axId val="336865952"/>
        <c:axId val="336839840"/>
      </c:bubbleChart>
      <c:valAx>
        <c:axId val="336865952"/>
        <c:scaling>
          <c:orientation val="minMax"/>
          <c:min val="0"/>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CAGR Index (2024 – 2034)</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336839840"/>
        <c:crossesAt val="0"/>
        <c:crossBetween val="midCat"/>
      </c:valAx>
      <c:valAx>
        <c:axId val="336839840"/>
        <c:scaling>
          <c:orientation val="minMax"/>
          <c:min val="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Market Share Index (2024E)</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336865952"/>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910917822963"/>
          <c:y val="4.0225179225868664E-2"/>
          <c:w val="0.87507556483913373"/>
          <c:h val="0.65061484798850733"/>
        </c:manualLayout>
      </c:layout>
      <c:lineChart>
        <c:grouping val="standard"/>
        <c:varyColors val="0"/>
        <c:ser>
          <c:idx val="0"/>
          <c:order val="0"/>
          <c:tx>
            <c:strRef>
              <c:f>Sheet1!$B$1</c:f>
              <c:strCache>
                <c:ptCount val="1"/>
                <c:pt idx="0">
                  <c:v>Segment 1</c:v>
                </c:pt>
              </c:strCache>
            </c:strRef>
          </c:tx>
          <c:spPr>
            <a:ln w="28575" cap="rnd">
              <a:solidFill>
                <a:schemeClr val="accent1"/>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Sheet1!$B$2:$B$12</c:f>
              <c:numCache>
                <c:formatCode>0.0%</c:formatCode>
                <c:ptCount val="11"/>
                <c:pt idx="0">
                  <c:v>5.1500000000000004E-2</c:v>
                </c:pt>
                <c:pt idx="1">
                  <c:v>5.4166666666666669E-2</c:v>
                </c:pt>
                <c:pt idx="2">
                  <c:v>5.7000000000000009E-2</c:v>
                </c:pt>
                <c:pt idx="3">
                  <c:v>5.9333333333333335E-2</c:v>
                </c:pt>
                <c:pt idx="4">
                  <c:v>6.1166666666666675E-2</c:v>
                </c:pt>
                <c:pt idx="5">
                  <c:v>6.2833333333333338E-2</c:v>
                </c:pt>
                <c:pt idx="6">
                  <c:v>6.483333333333334E-2</c:v>
                </c:pt>
                <c:pt idx="7">
                  <c:v>6.7166666666666666E-2</c:v>
                </c:pt>
                <c:pt idx="8">
                  <c:v>6.8833333333333344E-2</c:v>
                </c:pt>
                <c:pt idx="9">
                  <c:v>6.9000000000000006E-2</c:v>
                </c:pt>
                <c:pt idx="10">
                  <c:v>6.7666666666666667E-2</c:v>
                </c:pt>
              </c:numCache>
            </c:numRef>
          </c:val>
          <c:smooth val="1"/>
          <c:extLst>
            <c:ext xmlns:c16="http://schemas.microsoft.com/office/drawing/2014/chart" uri="{C3380CC4-5D6E-409C-BE32-E72D297353CC}">
              <c16:uniqueId val="{00000000-D299-4B53-A6F6-A44322BE864B}"/>
            </c:ext>
          </c:extLst>
        </c:ser>
        <c:ser>
          <c:idx val="1"/>
          <c:order val="1"/>
          <c:tx>
            <c:strRef>
              <c:f>Sheet1!$C$1</c:f>
              <c:strCache>
                <c:ptCount val="1"/>
                <c:pt idx="0">
                  <c:v>Segment 2</c:v>
                </c:pt>
              </c:strCache>
            </c:strRef>
          </c:tx>
          <c:spPr>
            <a:ln w="28575" cap="rnd">
              <a:solidFill>
                <a:schemeClr val="accent2"/>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Sheet1!$C$2:$C$12</c:f>
              <c:numCache>
                <c:formatCode>0.0%</c:formatCode>
                <c:ptCount val="11"/>
                <c:pt idx="0">
                  <c:v>5.116830281459997E-2</c:v>
                </c:pt>
                <c:pt idx="1">
                  <c:v>5.1290221555306513E-2</c:v>
                </c:pt>
                <c:pt idx="2">
                  <c:v>5.1395302571985553E-2</c:v>
                </c:pt>
                <c:pt idx="3">
                  <c:v>5.151160873801626E-2</c:v>
                </c:pt>
                <c:pt idx="4">
                  <c:v>5.1620431471145853E-2</c:v>
                </c:pt>
                <c:pt idx="5">
                  <c:v>5.1734243159542857E-2</c:v>
                </c:pt>
                <c:pt idx="6">
                  <c:v>5.1844728877761585E-2</c:v>
                </c:pt>
                <c:pt idx="7">
                  <c:v>5.1961866536336859E-2</c:v>
                </c:pt>
                <c:pt idx="8">
                  <c:v>5.2074569568007774E-2</c:v>
                </c:pt>
                <c:pt idx="9">
                  <c:v>5.2190229017614928E-2</c:v>
                </c:pt>
                <c:pt idx="10">
                  <c:v>5.2299975631349596E-2</c:v>
                </c:pt>
              </c:numCache>
            </c:numRef>
          </c:val>
          <c:smooth val="1"/>
          <c:extLst>
            <c:ext xmlns:c16="http://schemas.microsoft.com/office/drawing/2014/chart" uri="{C3380CC4-5D6E-409C-BE32-E72D297353CC}">
              <c16:uniqueId val="{00000001-D299-4B53-A6F6-A44322BE864B}"/>
            </c:ext>
          </c:extLst>
        </c:ser>
        <c:ser>
          <c:idx val="2"/>
          <c:order val="2"/>
          <c:tx>
            <c:strRef>
              <c:f>Sheet1!$D$1</c:f>
              <c:strCache>
                <c:ptCount val="1"/>
                <c:pt idx="0">
                  <c:v>Segment 3</c:v>
                </c:pt>
              </c:strCache>
            </c:strRef>
          </c:tx>
          <c:spPr>
            <a:ln w="28575" cap="rnd">
              <a:solidFill>
                <a:schemeClr val="accent3"/>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Sheet1!$D$2:$D$12</c:f>
              <c:numCache>
                <c:formatCode>0.0%</c:formatCode>
                <c:ptCount val="11"/>
                <c:pt idx="0">
                  <c:v>5.0610918051856614E-2</c:v>
                </c:pt>
                <c:pt idx="1">
                  <c:v>5.1425475454332091E-2</c:v>
                </c:pt>
                <c:pt idx="2">
                  <c:v>5.2138213181498139E-2</c:v>
                </c:pt>
                <c:pt idx="3">
                  <c:v>5.274913123335475E-2</c:v>
                </c:pt>
                <c:pt idx="4">
                  <c:v>5.2850950908664179E-2</c:v>
                </c:pt>
                <c:pt idx="5">
                  <c:v>5.2647311558045314E-2</c:v>
                </c:pt>
                <c:pt idx="6">
                  <c:v>5.2036393506188702E-2</c:v>
                </c:pt>
                <c:pt idx="7">
                  <c:v>5.1323655779022655E-2</c:v>
                </c:pt>
                <c:pt idx="8">
                  <c:v>5.0610918051856614E-2</c:v>
                </c:pt>
                <c:pt idx="9">
                  <c:v>0.05</c:v>
                </c:pt>
                <c:pt idx="10">
                  <c:v>4.9490901623452828E-2</c:v>
                </c:pt>
              </c:numCache>
            </c:numRef>
          </c:val>
          <c:smooth val="1"/>
          <c:extLst>
            <c:ext xmlns:c16="http://schemas.microsoft.com/office/drawing/2014/chart" uri="{C3380CC4-5D6E-409C-BE32-E72D297353CC}">
              <c16:uniqueId val="{00000002-D299-4B53-A6F6-A44322BE864B}"/>
            </c:ext>
          </c:extLst>
        </c:ser>
        <c:ser>
          <c:idx val="3"/>
          <c:order val="3"/>
          <c:tx>
            <c:strRef>
              <c:f>Sheet1!$E$1</c:f>
              <c:strCache>
                <c:ptCount val="1"/>
                <c:pt idx="0">
                  <c:v>Segment 4</c:v>
                </c:pt>
              </c:strCache>
            </c:strRef>
          </c:tx>
          <c:spPr>
            <a:ln w="28575" cap="rnd">
              <a:solidFill>
                <a:schemeClr val="accent4"/>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Sheet1!$E$2:$E$12</c:f>
              <c:numCache>
                <c:formatCode>0.0%</c:formatCode>
                <c:ptCount val="11"/>
                <c:pt idx="0">
                  <c:v>5.3000000000000005E-2</c:v>
                </c:pt>
                <c:pt idx="1">
                  <c:v>5.5000000000000007E-2</c:v>
                </c:pt>
                <c:pt idx="2">
                  <c:v>5.7333333333333347E-2</c:v>
                </c:pt>
                <c:pt idx="3">
                  <c:v>5.9666666666666673E-2</c:v>
                </c:pt>
                <c:pt idx="4">
                  <c:v>6.3666666666666663E-2</c:v>
                </c:pt>
                <c:pt idx="5">
                  <c:v>6.8000000000000005E-2</c:v>
                </c:pt>
                <c:pt idx="6">
                  <c:v>6.7906765085174334E-2</c:v>
                </c:pt>
                <c:pt idx="7">
                  <c:v>6.6841312562606461E-2</c:v>
                </c:pt>
                <c:pt idx="8">
                  <c:v>6.5666666666666665E-2</c:v>
                </c:pt>
                <c:pt idx="9">
                  <c:v>6.4147353367754692E-2</c:v>
                </c:pt>
                <c:pt idx="10">
                  <c:v>6.0424365639398202E-2</c:v>
                </c:pt>
              </c:numCache>
            </c:numRef>
          </c:val>
          <c:smooth val="1"/>
          <c:extLst>
            <c:ext xmlns:c16="http://schemas.microsoft.com/office/drawing/2014/chart" uri="{C3380CC4-5D6E-409C-BE32-E72D297353CC}">
              <c16:uniqueId val="{00000003-D299-4B53-A6F6-A44322BE864B}"/>
            </c:ext>
          </c:extLst>
        </c:ser>
        <c:ser>
          <c:idx val="4"/>
          <c:order val="4"/>
          <c:tx>
            <c:strRef>
              <c:f>Sheet1!$F$1</c:f>
              <c:strCache>
                <c:ptCount val="1"/>
                <c:pt idx="0">
                  <c:v>Segment 5</c:v>
                </c:pt>
              </c:strCache>
            </c:strRef>
          </c:tx>
          <c:spPr>
            <a:ln w="28575" cap="rnd">
              <a:solidFill>
                <a:schemeClr val="accent5"/>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Sheet1!$F$2:$F$12</c:f>
              <c:numCache>
                <c:formatCode>0.0%</c:formatCode>
                <c:ptCount val="11"/>
                <c:pt idx="0">
                  <c:v>5.1263578005607567E-2</c:v>
                </c:pt>
                <c:pt idx="1">
                  <c:v>5.2412285283432627E-2</c:v>
                </c:pt>
                <c:pt idx="2">
                  <c:v>5.3446121833475177E-2</c:v>
                </c:pt>
                <c:pt idx="3">
                  <c:v>5.3905604744605207E-2</c:v>
                </c:pt>
                <c:pt idx="4">
                  <c:v>5.3905604744605207E-2</c:v>
                </c:pt>
                <c:pt idx="5">
                  <c:v>5.3101509650127658E-2</c:v>
                </c:pt>
                <c:pt idx="6">
                  <c:v>5.2297414555650117E-2</c:v>
                </c:pt>
                <c:pt idx="7">
                  <c:v>5.1493319461172575E-2</c:v>
                </c:pt>
                <c:pt idx="8">
                  <c:v>5.068922436669504E-2</c:v>
                </c:pt>
                <c:pt idx="9">
                  <c:v>4.9770258544434988E-2</c:v>
                </c:pt>
                <c:pt idx="10">
                  <c:v>4.8736421994392438E-2</c:v>
                </c:pt>
              </c:numCache>
            </c:numRef>
          </c:val>
          <c:smooth val="1"/>
          <c:extLst>
            <c:ext xmlns:c16="http://schemas.microsoft.com/office/drawing/2014/chart" uri="{C3380CC4-5D6E-409C-BE32-E72D297353CC}">
              <c16:uniqueId val="{00000004-D299-4B53-A6F6-A44322BE864B}"/>
            </c:ext>
          </c:extLst>
        </c:ser>
        <c:ser>
          <c:idx val="5"/>
          <c:order val="5"/>
          <c:tx>
            <c:strRef>
              <c:f>Sheet1!$G$1</c:f>
              <c:strCache>
                <c:ptCount val="1"/>
                <c:pt idx="0">
                  <c:v>Segment 6</c:v>
                </c:pt>
              </c:strCache>
            </c:strRef>
          </c:tx>
          <c:spPr>
            <a:ln w="28575" cap="rnd">
              <a:solidFill>
                <a:schemeClr val="accent6"/>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Sheet1!$G$2:$G$12</c:f>
              <c:numCache>
                <c:formatCode>0.0%</c:formatCode>
                <c:ptCount val="11"/>
                <c:pt idx="0">
                  <c:v>6.0676665024535163E-2</c:v>
                </c:pt>
                <c:pt idx="1">
                  <c:v>6.0811998029442191E-2</c:v>
                </c:pt>
                <c:pt idx="2">
                  <c:v>6.0405999014721101E-2</c:v>
                </c:pt>
                <c:pt idx="3">
                  <c:v>5.986466699509297E-2</c:v>
                </c:pt>
                <c:pt idx="4">
                  <c:v>5.9188001970557812E-2</c:v>
                </c:pt>
                <c:pt idx="5">
                  <c:v>5.8782002955836715E-2</c:v>
                </c:pt>
                <c:pt idx="6">
                  <c:v>5.7970004926394522E-2</c:v>
                </c:pt>
                <c:pt idx="7">
                  <c:v>5.7022673892045295E-2</c:v>
                </c:pt>
                <c:pt idx="8">
                  <c:v>5.6075342857696074E-2</c:v>
                </c:pt>
                <c:pt idx="9">
                  <c:v>5.5398677833160916E-2</c:v>
                </c:pt>
                <c:pt idx="10">
                  <c:v>5.472201280862575E-2</c:v>
                </c:pt>
              </c:numCache>
            </c:numRef>
          </c:val>
          <c:smooth val="1"/>
          <c:extLst>
            <c:ext xmlns:c16="http://schemas.microsoft.com/office/drawing/2014/chart" uri="{C3380CC4-5D6E-409C-BE32-E72D297353CC}">
              <c16:uniqueId val="{00000005-D299-4B53-A6F6-A44322BE864B}"/>
            </c:ext>
          </c:extLst>
        </c:ser>
        <c:ser>
          <c:idx val="6"/>
          <c:order val="6"/>
          <c:tx>
            <c:strRef>
              <c:f>Sheet1!$H$1</c:f>
              <c:strCache>
                <c:ptCount val="1"/>
                <c:pt idx="0">
                  <c:v>Segment 7</c:v>
                </c:pt>
              </c:strCache>
            </c:strRef>
          </c:tx>
          <c:spPr>
            <a:ln w="28575" cap="rnd">
              <a:solidFill>
                <a:schemeClr val="accent1">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Sheet1!$H$2:$H$12</c:f>
              <c:numCache>
                <c:formatCode>0.0%</c:formatCode>
                <c:ptCount val="11"/>
                <c:pt idx="0">
                  <c:v>4.9615229374212068E-2</c:v>
                </c:pt>
                <c:pt idx="1">
                  <c:v>4.9038073435530169E-2</c:v>
                </c:pt>
                <c:pt idx="2">
                  <c:v>4.8653302809742234E-2</c:v>
                </c:pt>
                <c:pt idx="3">
                  <c:v>4.8076146871060335E-2</c:v>
                </c:pt>
                <c:pt idx="4">
                  <c:v>4.7883761558166364E-2</c:v>
                </c:pt>
                <c:pt idx="5">
                  <c:v>4.8268532183954299E-2</c:v>
                </c:pt>
                <c:pt idx="6">
                  <c:v>4.8653302809742234E-2</c:v>
                </c:pt>
                <c:pt idx="7">
                  <c:v>4.9230458748424133E-2</c:v>
                </c:pt>
                <c:pt idx="8">
                  <c:v>5.0192385312893967E-2</c:v>
                </c:pt>
                <c:pt idx="9">
                  <c:v>5.0577155938681902E-2</c:v>
                </c:pt>
                <c:pt idx="10">
                  <c:v>5.0384770625787938E-2</c:v>
                </c:pt>
              </c:numCache>
            </c:numRef>
          </c:val>
          <c:smooth val="1"/>
          <c:extLst>
            <c:ext xmlns:c16="http://schemas.microsoft.com/office/drawing/2014/chart" uri="{C3380CC4-5D6E-409C-BE32-E72D297353CC}">
              <c16:uniqueId val="{00000006-D299-4B53-A6F6-A44322BE864B}"/>
            </c:ext>
          </c:extLst>
        </c:ser>
        <c:ser>
          <c:idx val="7"/>
          <c:order val="7"/>
          <c:tx>
            <c:strRef>
              <c:f>Sheet1!$I$1</c:f>
              <c:strCache>
                <c:ptCount val="1"/>
                <c:pt idx="0">
                  <c:v>Segment 8</c:v>
                </c:pt>
              </c:strCache>
            </c:strRef>
          </c:tx>
          <c:spPr>
            <a:ln w="28575" cap="rnd">
              <a:solidFill>
                <a:schemeClr val="accent2">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Sheet1!$I$2:$I$12</c:f>
              <c:numCache>
                <c:formatCode>0.0%</c:formatCode>
                <c:ptCount val="11"/>
                <c:pt idx="0">
                  <c:v>5.1000000000000004E-2</c:v>
                </c:pt>
                <c:pt idx="1">
                  <c:v>5.3000000000000005E-2</c:v>
                </c:pt>
                <c:pt idx="2">
                  <c:v>5.4000000000000006E-2</c:v>
                </c:pt>
                <c:pt idx="3">
                  <c:v>5.5E-2</c:v>
                </c:pt>
                <c:pt idx="4">
                  <c:v>5.5E-2</c:v>
                </c:pt>
                <c:pt idx="5">
                  <c:v>5.4000000000000006E-2</c:v>
                </c:pt>
                <c:pt idx="6">
                  <c:v>5.4000000000000006E-2</c:v>
                </c:pt>
                <c:pt idx="7">
                  <c:v>5.3000000000000005E-2</c:v>
                </c:pt>
                <c:pt idx="8">
                  <c:v>5.2000000000000005E-2</c:v>
                </c:pt>
                <c:pt idx="9">
                  <c:v>5.1000000000000004E-2</c:v>
                </c:pt>
                <c:pt idx="10">
                  <c:v>4.8000000000000001E-2</c:v>
                </c:pt>
              </c:numCache>
            </c:numRef>
          </c:val>
          <c:smooth val="1"/>
          <c:extLst>
            <c:ext xmlns:c16="http://schemas.microsoft.com/office/drawing/2014/chart" uri="{C3380CC4-5D6E-409C-BE32-E72D297353CC}">
              <c16:uniqueId val="{00000007-D299-4B53-A6F6-A44322BE864B}"/>
            </c:ext>
          </c:extLst>
        </c:ser>
        <c:ser>
          <c:idx val="8"/>
          <c:order val="8"/>
          <c:tx>
            <c:strRef>
              <c:f>Sheet1!$J$1</c:f>
              <c:strCache>
                <c:ptCount val="1"/>
                <c:pt idx="0">
                  <c:v>Segment 9</c:v>
                </c:pt>
              </c:strCache>
            </c:strRef>
          </c:tx>
          <c:spPr>
            <a:ln w="28575" cap="rnd">
              <a:solidFill>
                <a:schemeClr val="accent3">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Sheet1!$J$2:$J$12</c:f>
              <c:numCache>
                <c:formatCode>0.0%</c:formatCode>
                <c:ptCount val="11"/>
                <c:pt idx="0">
                  <c:v>4.8868290059229491E-2</c:v>
                </c:pt>
                <c:pt idx="1">
                  <c:v>4.8113816765382483E-2</c:v>
                </c:pt>
                <c:pt idx="2">
                  <c:v>4.7736580118458979E-2</c:v>
                </c:pt>
                <c:pt idx="3">
                  <c:v>4.7359343471535476E-2</c:v>
                </c:pt>
                <c:pt idx="4">
                  <c:v>4.7359343471535476E-2</c:v>
                </c:pt>
                <c:pt idx="5">
                  <c:v>4.7359343471535476E-2</c:v>
                </c:pt>
                <c:pt idx="6">
                  <c:v>4.7736580118458979E-2</c:v>
                </c:pt>
                <c:pt idx="7">
                  <c:v>4.8113816765382483E-2</c:v>
                </c:pt>
                <c:pt idx="8">
                  <c:v>4.8491053412305987E-2</c:v>
                </c:pt>
                <c:pt idx="9">
                  <c:v>4.8868290059229491E-2</c:v>
                </c:pt>
                <c:pt idx="10">
                  <c:v>4.9622763353076499E-2</c:v>
                </c:pt>
              </c:numCache>
            </c:numRef>
          </c:val>
          <c:smooth val="1"/>
          <c:extLst>
            <c:ext xmlns:c16="http://schemas.microsoft.com/office/drawing/2014/chart" uri="{C3380CC4-5D6E-409C-BE32-E72D297353CC}">
              <c16:uniqueId val="{00000008-D299-4B53-A6F6-A44322BE864B}"/>
            </c:ext>
          </c:extLst>
        </c:ser>
        <c:ser>
          <c:idx val="9"/>
          <c:order val="9"/>
          <c:tx>
            <c:strRef>
              <c:f>Sheet1!$K$1</c:f>
              <c:strCache>
                <c:ptCount val="1"/>
                <c:pt idx="0">
                  <c:v>Segment 10</c:v>
                </c:pt>
              </c:strCache>
            </c:strRef>
          </c:tx>
          <c:spPr>
            <a:ln w="28575" cap="rnd">
              <a:solidFill>
                <a:schemeClr val="accent4">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Sheet1!$K$2:$K$12</c:f>
              <c:numCache>
                <c:formatCode>0.0%</c:formatCode>
                <c:ptCount val="11"/>
                <c:pt idx="0">
                  <c:v>6.0000000000000005E-2</c:v>
                </c:pt>
                <c:pt idx="1">
                  <c:v>6.0000000000000005E-2</c:v>
                </c:pt>
                <c:pt idx="2">
                  <c:v>5.9500325887083094E-2</c:v>
                </c:pt>
                <c:pt idx="3">
                  <c:v>5.9500325887083094E-2</c:v>
                </c:pt>
                <c:pt idx="4">
                  <c:v>6.0000000000000005E-2</c:v>
                </c:pt>
                <c:pt idx="5">
                  <c:v>6.074951116937536E-2</c:v>
                </c:pt>
                <c:pt idx="6">
                  <c:v>6.074951116937536E-2</c:v>
                </c:pt>
                <c:pt idx="7">
                  <c:v>5.9750162943541546E-2</c:v>
                </c:pt>
                <c:pt idx="8">
                  <c:v>5.8750814717707739E-2</c:v>
                </c:pt>
                <c:pt idx="9">
                  <c:v>5.8500977661249287E-2</c:v>
                </c:pt>
                <c:pt idx="10">
                  <c:v>5.9250488830624642E-2</c:v>
                </c:pt>
              </c:numCache>
            </c:numRef>
          </c:val>
          <c:smooth val="1"/>
          <c:extLst>
            <c:ext xmlns:c16="http://schemas.microsoft.com/office/drawing/2014/chart" uri="{C3380CC4-5D6E-409C-BE32-E72D297353CC}">
              <c16:uniqueId val="{00000009-D299-4B53-A6F6-A44322BE864B}"/>
            </c:ext>
          </c:extLst>
        </c:ser>
        <c:ser>
          <c:idx val="10"/>
          <c:order val="10"/>
          <c:tx>
            <c:strRef>
              <c:f>Sheet1!$L$1</c:f>
              <c:strCache>
                <c:ptCount val="1"/>
                <c:pt idx="0">
                  <c:v>Segment 11</c:v>
                </c:pt>
              </c:strCache>
            </c:strRef>
          </c:tx>
          <c:spPr>
            <a:ln w="28575" cap="rnd">
              <a:solidFill>
                <a:schemeClr val="accent5">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Sheet1!$L$2:$L$12</c:f>
              <c:numCache>
                <c:formatCode>0.0%</c:formatCode>
                <c:ptCount val="11"/>
                <c:pt idx="0">
                  <c:v>5.4543972999083631E-2</c:v>
                </c:pt>
                <c:pt idx="1">
                  <c:v>5.5553744776657768E-2</c:v>
                </c:pt>
                <c:pt idx="2">
                  <c:v>5.6563516554231912E-2</c:v>
                </c:pt>
                <c:pt idx="3">
                  <c:v>5.706840244301898E-2</c:v>
                </c:pt>
                <c:pt idx="4">
                  <c:v>5.8583060109380192E-2</c:v>
                </c:pt>
                <c:pt idx="5">
                  <c:v>5.9592831886954335E-2</c:v>
                </c:pt>
                <c:pt idx="6">
                  <c:v>6.110748955331554E-2</c:v>
                </c:pt>
                <c:pt idx="7">
                  <c:v>6.1612375442102602E-2</c:v>
                </c:pt>
                <c:pt idx="8">
                  <c:v>6.2622147219676738E-2</c:v>
                </c:pt>
                <c:pt idx="9">
                  <c:v>6.3631918997250889E-2</c:v>
                </c:pt>
                <c:pt idx="10">
                  <c:v>6.4641690774825025E-2</c:v>
                </c:pt>
              </c:numCache>
            </c:numRef>
          </c:val>
          <c:smooth val="1"/>
          <c:extLst>
            <c:ext xmlns:c16="http://schemas.microsoft.com/office/drawing/2014/chart" uri="{C3380CC4-5D6E-409C-BE32-E72D297353CC}">
              <c16:uniqueId val="{0000000A-D299-4B53-A6F6-A44322BE864B}"/>
            </c:ext>
          </c:extLst>
        </c:ser>
        <c:ser>
          <c:idx val="11"/>
          <c:order val="11"/>
          <c:tx>
            <c:strRef>
              <c:f>Sheet1!$M$1</c:f>
              <c:strCache>
                <c:ptCount val="1"/>
                <c:pt idx="0">
                  <c:v>Segment 12</c:v>
                </c:pt>
              </c:strCache>
            </c:strRef>
          </c:tx>
          <c:spPr>
            <a:ln w="28575" cap="rnd">
              <a:solidFill>
                <a:schemeClr val="accent6">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Sheet1!$M$2:$M$12</c:f>
              <c:numCache>
                <c:formatCode>0.0%</c:formatCode>
                <c:ptCount val="11"/>
                <c:pt idx="0">
                  <c:v>6.1185047424354426E-2</c:v>
                </c:pt>
                <c:pt idx="1">
                  <c:v>6.2215657576482793E-2</c:v>
                </c:pt>
                <c:pt idx="2">
                  <c:v>6.3204322608910277E-2</c:v>
                </c:pt>
                <c:pt idx="3">
                  <c:v>6.4230895388622394E-2</c:v>
                </c:pt>
                <c:pt idx="4">
                  <c:v>6.5257468168334554E-2</c:v>
                </c:pt>
                <c:pt idx="5">
                  <c:v>7.1937864292673542E-2</c:v>
                </c:pt>
                <c:pt idx="6">
                  <c:v>7.306162280138255E-2</c:v>
                </c:pt>
                <c:pt idx="7">
                  <c:v>7.4185381310091544E-2</c:v>
                </c:pt>
                <c:pt idx="8">
                  <c:v>7.3988724749526127E-2</c:v>
                </c:pt>
                <c:pt idx="9">
                  <c:v>7.3264434409645862E-2</c:v>
                </c:pt>
                <c:pt idx="10">
                  <c:v>7.2860603058929149E-2</c:v>
                </c:pt>
              </c:numCache>
            </c:numRef>
          </c:val>
          <c:smooth val="1"/>
          <c:extLst>
            <c:ext xmlns:c16="http://schemas.microsoft.com/office/drawing/2014/chart" uri="{C3380CC4-5D6E-409C-BE32-E72D297353CC}">
              <c16:uniqueId val="{0000000B-D299-4B53-A6F6-A44322BE864B}"/>
            </c:ext>
          </c:extLst>
        </c:ser>
        <c:dLbls>
          <c:showLegendKey val="0"/>
          <c:showVal val="0"/>
          <c:showCatName val="0"/>
          <c:showSerName val="0"/>
          <c:showPercent val="0"/>
          <c:showBubbleSize val="0"/>
        </c:dLbls>
        <c:smooth val="0"/>
        <c:axId val="336862144"/>
        <c:axId val="336840928"/>
      </c:lineChart>
      <c:catAx>
        <c:axId val="336862144"/>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40928"/>
        <c:crossesAt val="-3.5000000000000003E-2"/>
        <c:auto val="1"/>
        <c:lblAlgn val="ctr"/>
        <c:lblOffset val="100"/>
        <c:noMultiLvlLbl val="0"/>
      </c:catAx>
      <c:valAx>
        <c:axId val="336840928"/>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336862144"/>
        <c:crosses val="autoZero"/>
        <c:crossBetween val="between"/>
      </c:valAx>
      <c:spPr>
        <a:noFill/>
        <a:ln w="25400">
          <a:noFill/>
        </a:ln>
        <a:effectLst/>
      </c:spPr>
    </c:plotArea>
    <c:legend>
      <c:legendPos val="b"/>
      <c:layout>
        <c:manualLayout>
          <c:xMode val="edge"/>
          <c:yMode val="edge"/>
          <c:x val="0"/>
          <c:y val="0.81733067057011788"/>
          <c:w val="1"/>
          <c:h val="0.1826693294298820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12700">
      <a:noFill/>
    </a:ln>
    <a:effectLst/>
  </c:spPr>
  <c:txPr>
    <a:bodyPr/>
    <a:lstStyle/>
    <a:p>
      <a:pPr>
        <a:defRPr sz="1100">
          <a:solidFill>
            <a:schemeClr val="tx1"/>
          </a:solidFill>
        </a:defRPr>
      </a:pPr>
      <a:endParaRPr lang="en-US"/>
    </a:p>
  </c:txPr>
  <c:externalData r:id="rId3">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336842560"/>
        <c:axId val="336862688"/>
      </c:barChart>
      <c:catAx>
        <c:axId val="3368425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336862688"/>
        <c:crosses val="autoZero"/>
        <c:auto val="1"/>
        <c:lblAlgn val="ctr"/>
        <c:lblOffset val="100"/>
        <c:noMultiLvlLbl val="0"/>
      </c:catAx>
      <c:valAx>
        <c:axId val="336862688"/>
        <c:scaling>
          <c:orientation val="minMax"/>
        </c:scaling>
        <c:delete val="1"/>
        <c:axPos val="l"/>
        <c:numFmt formatCode="#,##0.0" sourceLinked="1"/>
        <c:majorTickMark val="none"/>
        <c:minorTickMark val="none"/>
        <c:tickLblPos val="nextTo"/>
        <c:crossAx val="336842560"/>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336843104"/>
        <c:axId val="116061632"/>
      </c:barChart>
      <c:catAx>
        <c:axId val="3368431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6061632"/>
        <c:crosses val="autoZero"/>
        <c:auto val="1"/>
        <c:lblAlgn val="ctr"/>
        <c:lblOffset val="100"/>
        <c:noMultiLvlLbl val="0"/>
      </c:catAx>
      <c:valAx>
        <c:axId val="116061632"/>
        <c:scaling>
          <c:orientation val="minMax"/>
        </c:scaling>
        <c:delete val="1"/>
        <c:axPos val="l"/>
        <c:numFmt formatCode="#,##0.0" sourceLinked="1"/>
        <c:majorTickMark val="none"/>
        <c:minorTickMark val="none"/>
        <c:tickLblPos val="nextTo"/>
        <c:crossAx val="336843104"/>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116063808"/>
        <c:axId val="116068704"/>
      </c:barChart>
      <c:catAx>
        <c:axId val="1160638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6068704"/>
        <c:crosses val="autoZero"/>
        <c:auto val="1"/>
        <c:lblAlgn val="ctr"/>
        <c:lblOffset val="100"/>
        <c:noMultiLvlLbl val="0"/>
      </c:catAx>
      <c:valAx>
        <c:axId val="116068704"/>
        <c:scaling>
          <c:orientation val="minMax"/>
        </c:scaling>
        <c:delete val="1"/>
        <c:axPos val="l"/>
        <c:numFmt formatCode="#,##0.0" sourceLinked="1"/>
        <c:majorTickMark val="none"/>
        <c:minorTickMark val="none"/>
        <c:tickLblPos val="nextTo"/>
        <c:crossAx val="116063808"/>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116066528"/>
        <c:axId val="116064352"/>
      </c:barChart>
      <c:catAx>
        <c:axId val="1160665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6064352"/>
        <c:crosses val="autoZero"/>
        <c:auto val="1"/>
        <c:lblAlgn val="ctr"/>
        <c:lblOffset val="100"/>
        <c:noMultiLvlLbl val="0"/>
      </c:catAx>
      <c:valAx>
        <c:axId val="116064352"/>
        <c:scaling>
          <c:orientation val="minMax"/>
        </c:scaling>
        <c:delete val="1"/>
        <c:axPos val="l"/>
        <c:numFmt formatCode="#,##0.0" sourceLinked="1"/>
        <c:majorTickMark val="none"/>
        <c:minorTickMark val="none"/>
        <c:tickLblPos val="nextTo"/>
        <c:crossAx val="116066528"/>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116070336"/>
        <c:axId val="116061088"/>
      </c:barChart>
      <c:catAx>
        <c:axId val="1160703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6061088"/>
        <c:crosses val="autoZero"/>
        <c:auto val="1"/>
        <c:lblAlgn val="ctr"/>
        <c:lblOffset val="100"/>
        <c:noMultiLvlLbl val="0"/>
      </c:catAx>
      <c:valAx>
        <c:axId val="116061088"/>
        <c:scaling>
          <c:orientation val="minMax"/>
        </c:scaling>
        <c:delete val="1"/>
        <c:axPos val="l"/>
        <c:numFmt formatCode="#,##0.0" sourceLinked="1"/>
        <c:majorTickMark val="none"/>
        <c:minorTickMark val="none"/>
        <c:tickLblPos val="nextTo"/>
        <c:crossAx val="11607033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116065440"/>
        <c:axId val="116065984"/>
      </c:barChart>
      <c:catAx>
        <c:axId val="1160654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6065984"/>
        <c:crosses val="autoZero"/>
        <c:auto val="1"/>
        <c:lblAlgn val="ctr"/>
        <c:lblOffset val="100"/>
        <c:noMultiLvlLbl val="0"/>
      </c:catAx>
      <c:valAx>
        <c:axId val="116065984"/>
        <c:scaling>
          <c:orientation val="minMax"/>
        </c:scaling>
        <c:delete val="1"/>
        <c:axPos val="l"/>
        <c:numFmt formatCode="#,##0.0" sourceLinked="1"/>
        <c:majorTickMark val="none"/>
        <c:minorTickMark val="none"/>
        <c:tickLblPos val="nextTo"/>
        <c:crossAx val="116065440"/>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116072512"/>
        <c:axId val="116064896"/>
      </c:barChart>
      <c:catAx>
        <c:axId val="1160725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6064896"/>
        <c:crosses val="autoZero"/>
        <c:auto val="1"/>
        <c:lblAlgn val="ctr"/>
        <c:lblOffset val="100"/>
        <c:noMultiLvlLbl val="0"/>
      </c:catAx>
      <c:valAx>
        <c:axId val="116064896"/>
        <c:scaling>
          <c:orientation val="minMax"/>
        </c:scaling>
        <c:delete val="1"/>
        <c:axPos val="l"/>
        <c:numFmt formatCode="#,##0.0" sourceLinked="1"/>
        <c:majorTickMark val="none"/>
        <c:minorTickMark val="none"/>
        <c:tickLblPos val="nextTo"/>
        <c:crossAx val="116072512"/>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116071424"/>
        <c:axId val="116069248"/>
      </c:barChart>
      <c:catAx>
        <c:axId val="1160714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6069248"/>
        <c:crosses val="autoZero"/>
        <c:auto val="1"/>
        <c:lblAlgn val="ctr"/>
        <c:lblOffset val="100"/>
        <c:noMultiLvlLbl val="0"/>
      </c:catAx>
      <c:valAx>
        <c:axId val="116069248"/>
        <c:scaling>
          <c:orientation val="minMax"/>
        </c:scaling>
        <c:delete val="1"/>
        <c:axPos val="l"/>
        <c:numFmt formatCode="#,##0.0" sourceLinked="1"/>
        <c:majorTickMark val="none"/>
        <c:minorTickMark val="none"/>
        <c:tickLblPos val="nextTo"/>
        <c:crossAx val="116071424"/>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586017868029705E-2"/>
          <c:y val="5.6718815469420834E-2"/>
          <c:w val="0.92649309691078063"/>
          <c:h val="0.72664225195762067"/>
        </c:manualLayout>
      </c:layout>
      <c:barChart>
        <c:barDir val="col"/>
        <c:grouping val="percentStacked"/>
        <c:varyColors val="0"/>
        <c:ser>
          <c:idx val="0"/>
          <c:order val="0"/>
          <c:tx>
            <c:strRef>
              <c:f>Sheet1!$B$1</c:f>
              <c:strCache>
                <c:ptCount val="1"/>
                <c:pt idx="0">
                  <c:v>Segment 1</c:v>
                </c:pt>
              </c:strCache>
            </c:strRef>
          </c:tx>
          <c:spPr>
            <a:solidFill>
              <a:schemeClr val="accent1"/>
            </a:solidFill>
            <a:ln>
              <a:noFill/>
            </a:ln>
            <a:effectLst/>
          </c:spPr>
          <c:invertIfNegative val="0"/>
          <c:cat>
            <c:strRef>
              <c:f>Sheet1!$A$2:$A$3</c:f>
              <c:strCache>
                <c:ptCount val="2"/>
                <c:pt idx="0">
                  <c:v>2024E</c:v>
                </c:pt>
                <c:pt idx="1">
                  <c:v>2034F</c:v>
                </c:pt>
              </c:strCache>
            </c:strRef>
          </c:cat>
          <c:val>
            <c:numRef>
              <c:f>Sheet1!$B$2:$B$3</c:f>
              <c:numCache>
                <c:formatCode>0.0%</c:formatCode>
                <c:ptCount val="2"/>
                <c:pt idx="0">
                  <c:v>0.5</c:v>
                </c:pt>
                <c:pt idx="1">
                  <c:v>0.5</c:v>
                </c:pt>
              </c:numCache>
            </c:numRef>
          </c:val>
          <c:extLst>
            <c:ext xmlns:c16="http://schemas.microsoft.com/office/drawing/2014/chart" uri="{C3380CC4-5D6E-409C-BE32-E72D297353CC}">
              <c16:uniqueId val="{00000000-399A-4293-BB78-EFC0E0F10571}"/>
            </c:ext>
          </c:extLst>
        </c:ser>
        <c:ser>
          <c:idx val="1"/>
          <c:order val="1"/>
          <c:tx>
            <c:strRef>
              <c:f>Sheet1!$C$1</c:f>
              <c:strCache>
                <c:ptCount val="1"/>
                <c:pt idx="0">
                  <c:v>Segment 2</c:v>
                </c:pt>
              </c:strCache>
            </c:strRef>
          </c:tx>
          <c:spPr>
            <a:solidFill>
              <a:schemeClr val="accent2"/>
            </a:solidFill>
            <a:ln>
              <a:noFill/>
            </a:ln>
            <a:effectLst/>
          </c:spPr>
          <c:invertIfNegative val="0"/>
          <c:cat>
            <c:strRef>
              <c:f>Sheet1!$A$2:$A$3</c:f>
              <c:strCache>
                <c:ptCount val="2"/>
                <c:pt idx="0">
                  <c:v>2024E</c:v>
                </c:pt>
                <c:pt idx="1">
                  <c:v>2034F</c:v>
                </c:pt>
              </c:strCache>
            </c:strRef>
          </c:cat>
          <c:val>
            <c:numRef>
              <c:f>Sheet1!$C$2:$C$3</c:f>
              <c:numCache>
                <c:formatCode>0.0%</c:formatCode>
                <c:ptCount val="2"/>
                <c:pt idx="0">
                  <c:v>0.5</c:v>
                </c:pt>
                <c:pt idx="1">
                  <c:v>0.5</c:v>
                </c:pt>
              </c:numCache>
            </c:numRef>
          </c:val>
          <c:extLst>
            <c:ext xmlns:c16="http://schemas.microsoft.com/office/drawing/2014/chart" uri="{C3380CC4-5D6E-409C-BE32-E72D297353CC}">
              <c16:uniqueId val="{00000001-399A-4293-BB78-EFC0E0F10571}"/>
            </c:ext>
          </c:extLst>
        </c:ser>
        <c:ser>
          <c:idx val="2"/>
          <c:order val="2"/>
          <c:tx>
            <c:strRef>
              <c:f>Sheet1!$D$1</c:f>
              <c:strCache>
                <c:ptCount val="1"/>
                <c:pt idx="0">
                  <c:v>Segment 3</c:v>
                </c:pt>
              </c:strCache>
            </c:strRef>
          </c:tx>
          <c:spPr>
            <a:solidFill>
              <a:schemeClr val="accent3"/>
            </a:solidFill>
            <a:ln>
              <a:noFill/>
            </a:ln>
            <a:effectLst/>
          </c:spPr>
          <c:invertIfNegative val="0"/>
          <c:cat>
            <c:strRef>
              <c:f>Sheet1!$A$2:$A$3</c:f>
              <c:strCache>
                <c:ptCount val="2"/>
                <c:pt idx="0">
                  <c:v>2024E</c:v>
                </c:pt>
                <c:pt idx="1">
                  <c:v>2034F</c:v>
                </c:pt>
              </c:strCache>
            </c:strRef>
          </c:cat>
          <c:val>
            <c:numRef>
              <c:f>Sheet1!$D$2:$D$3</c:f>
              <c:numCache>
                <c:formatCode>0.0%</c:formatCode>
                <c:ptCount val="2"/>
                <c:pt idx="0">
                  <c:v>0.1</c:v>
                </c:pt>
                <c:pt idx="1">
                  <c:v>0.1</c:v>
                </c:pt>
              </c:numCache>
            </c:numRef>
          </c:val>
          <c:extLst>
            <c:ext xmlns:c16="http://schemas.microsoft.com/office/drawing/2014/chart" uri="{C3380CC4-5D6E-409C-BE32-E72D297353CC}">
              <c16:uniqueId val="{00000002-399A-4293-BB78-EFC0E0F10571}"/>
            </c:ext>
          </c:extLst>
        </c:ser>
        <c:ser>
          <c:idx val="3"/>
          <c:order val="3"/>
          <c:tx>
            <c:strRef>
              <c:f>Sheet1!$E$1</c:f>
              <c:strCache>
                <c:ptCount val="1"/>
                <c:pt idx="0">
                  <c:v>Segment 4</c:v>
                </c:pt>
              </c:strCache>
            </c:strRef>
          </c:tx>
          <c:spPr>
            <a:solidFill>
              <a:schemeClr val="accent4"/>
            </a:solidFill>
            <a:ln>
              <a:noFill/>
            </a:ln>
            <a:effectLst/>
          </c:spPr>
          <c:invertIfNegative val="0"/>
          <c:cat>
            <c:strRef>
              <c:f>Sheet1!$A$2:$A$3</c:f>
              <c:strCache>
                <c:ptCount val="2"/>
                <c:pt idx="0">
                  <c:v>2024E</c:v>
                </c:pt>
                <c:pt idx="1">
                  <c:v>2034F</c:v>
                </c:pt>
              </c:strCache>
            </c:strRef>
          </c:cat>
          <c:val>
            <c:numRef>
              <c:f>Sheet1!$E$2:$E$3</c:f>
              <c:numCache>
                <c:formatCode>0.0%</c:formatCode>
                <c:ptCount val="2"/>
                <c:pt idx="0">
                  <c:v>0.5</c:v>
                </c:pt>
                <c:pt idx="1">
                  <c:v>0.5</c:v>
                </c:pt>
              </c:numCache>
            </c:numRef>
          </c:val>
          <c:extLst>
            <c:ext xmlns:c16="http://schemas.microsoft.com/office/drawing/2014/chart" uri="{C3380CC4-5D6E-409C-BE32-E72D297353CC}">
              <c16:uniqueId val="{00000003-399A-4293-BB78-EFC0E0F10571}"/>
            </c:ext>
          </c:extLst>
        </c:ser>
        <c:ser>
          <c:idx val="4"/>
          <c:order val="4"/>
          <c:tx>
            <c:strRef>
              <c:f>Sheet1!$F$1</c:f>
              <c:strCache>
                <c:ptCount val="1"/>
                <c:pt idx="0">
                  <c:v>Segment 5</c:v>
                </c:pt>
              </c:strCache>
            </c:strRef>
          </c:tx>
          <c:spPr>
            <a:solidFill>
              <a:schemeClr val="accent5"/>
            </a:solidFill>
            <a:ln>
              <a:noFill/>
            </a:ln>
            <a:effectLst/>
          </c:spPr>
          <c:invertIfNegative val="0"/>
          <c:cat>
            <c:strRef>
              <c:f>Sheet1!$A$2:$A$3</c:f>
              <c:strCache>
                <c:ptCount val="2"/>
                <c:pt idx="0">
                  <c:v>2024E</c:v>
                </c:pt>
                <c:pt idx="1">
                  <c:v>2034F</c:v>
                </c:pt>
              </c:strCache>
            </c:strRef>
          </c:cat>
          <c:val>
            <c:numRef>
              <c:f>Sheet1!$F$2:$F$3</c:f>
              <c:numCache>
                <c:formatCode>0.0%</c:formatCode>
                <c:ptCount val="2"/>
                <c:pt idx="0">
                  <c:v>0.25</c:v>
                </c:pt>
                <c:pt idx="1">
                  <c:v>0.25</c:v>
                </c:pt>
              </c:numCache>
            </c:numRef>
          </c:val>
          <c:extLst>
            <c:ext xmlns:c16="http://schemas.microsoft.com/office/drawing/2014/chart" uri="{C3380CC4-5D6E-409C-BE32-E72D297353CC}">
              <c16:uniqueId val="{00000004-399A-4293-BB78-EFC0E0F10571}"/>
            </c:ext>
          </c:extLst>
        </c:ser>
        <c:ser>
          <c:idx val="5"/>
          <c:order val="5"/>
          <c:tx>
            <c:strRef>
              <c:f>Sheet1!$G$1</c:f>
              <c:strCache>
                <c:ptCount val="1"/>
                <c:pt idx="0">
                  <c:v>Segment 6</c:v>
                </c:pt>
              </c:strCache>
            </c:strRef>
          </c:tx>
          <c:spPr>
            <a:solidFill>
              <a:schemeClr val="accent6"/>
            </a:solidFill>
            <a:ln>
              <a:noFill/>
            </a:ln>
            <a:effectLst/>
          </c:spPr>
          <c:invertIfNegative val="0"/>
          <c:cat>
            <c:strRef>
              <c:f>Sheet1!$A$2:$A$3</c:f>
              <c:strCache>
                <c:ptCount val="2"/>
                <c:pt idx="0">
                  <c:v>2024E</c:v>
                </c:pt>
                <c:pt idx="1">
                  <c:v>2034F</c:v>
                </c:pt>
              </c:strCache>
            </c:strRef>
          </c:cat>
          <c:val>
            <c:numRef>
              <c:f>Sheet1!$G$2:$G$3</c:f>
              <c:numCache>
                <c:formatCode>0.0%</c:formatCode>
                <c:ptCount val="2"/>
                <c:pt idx="0">
                  <c:v>0.3</c:v>
                </c:pt>
                <c:pt idx="1">
                  <c:v>0.3</c:v>
                </c:pt>
              </c:numCache>
            </c:numRef>
          </c:val>
          <c:extLst>
            <c:ext xmlns:c16="http://schemas.microsoft.com/office/drawing/2014/chart" uri="{C3380CC4-5D6E-409C-BE32-E72D297353CC}">
              <c16:uniqueId val="{00000005-399A-4293-BB78-EFC0E0F10571}"/>
            </c:ext>
          </c:extLst>
        </c:ser>
        <c:ser>
          <c:idx val="6"/>
          <c:order val="6"/>
          <c:tx>
            <c:strRef>
              <c:f>Sheet1!$H$1</c:f>
              <c:strCache>
                <c:ptCount val="1"/>
                <c:pt idx="0">
                  <c:v>Segment 7</c:v>
                </c:pt>
              </c:strCache>
            </c:strRef>
          </c:tx>
          <c:spPr>
            <a:solidFill>
              <a:schemeClr val="accent1">
                <a:lumMod val="60000"/>
              </a:schemeClr>
            </a:solidFill>
            <a:ln>
              <a:noFill/>
            </a:ln>
            <a:effectLst/>
          </c:spPr>
          <c:invertIfNegative val="0"/>
          <c:cat>
            <c:strRef>
              <c:f>Sheet1!$A$2:$A$3</c:f>
              <c:strCache>
                <c:ptCount val="2"/>
                <c:pt idx="0">
                  <c:v>2024E</c:v>
                </c:pt>
                <c:pt idx="1">
                  <c:v>2034F</c:v>
                </c:pt>
              </c:strCache>
            </c:strRef>
          </c:cat>
          <c:val>
            <c:numRef>
              <c:f>Sheet1!$H$2:$H$3</c:f>
              <c:numCache>
                <c:formatCode>0.0%</c:formatCode>
                <c:ptCount val="2"/>
                <c:pt idx="0">
                  <c:v>0.5</c:v>
                </c:pt>
                <c:pt idx="1">
                  <c:v>0.5</c:v>
                </c:pt>
              </c:numCache>
            </c:numRef>
          </c:val>
          <c:extLst>
            <c:ext xmlns:c16="http://schemas.microsoft.com/office/drawing/2014/chart" uri="{C3380CC4-5D6E-409C-BE32-E72D297353CC}">
              <c16:uniqueId val="{00000006-399A-4293-BB78-EFC0E0F10571}"/>
            </c:ext>
          </c:extLst>
        </c:ser>
        <c:ser>
          <c:idx val="7"/>
          <c:order val="7"/>
          <c:tx>
            <c:strRef>
              <c:f>Sheet1!$I$1</c:f>
              <c:strCache>
                <c:ptCount val="1"/>
                <c:pt idx="0">
                  <c:v>Segment 8</c:v>
                </c:pt>
              </c:strCache>
            </c:strRef>
          </c:tx>
          <c:spPr>
            <a:solidFill>
              <a:schemeClr val="accent2">
                <a:lumMod val="60000"/>
              </a:schemeClr>
            </a:solidFill>
            <a:ln>
              <a:noFill/>
            </a:ln>
            <a:effectLst/>
          </c:spPr>
          <c:invertIfNegative val="0"/>
          <c:cat>
            <c:strRef>
              <c:f>Sheet1!$A$2:$A$3</c:f>
              <c:strCache>
                <c:ptCount val="2"/>
                <c:pt idx="0">
                  <c:v>2024E</c:v>
                </c:pt>
                <c:pt idx="1">
                  <c:v>2034F</c:v>
                </c:pt>
              </c:strCache>
            </c:strRef>
          </c:cat>
          <c:val>
            <c:numRef>
              <c:f>Sheet1!$I$2:$I$3</c:f>
              <c:numCache>
                <c:formatCode>0.0%</c:formatCode>
                <c:ptCount val="2"/>
                <c:pt idx="0">
                  <c:v>0.5</c:v>
                </c:pt>
                <c:pt idx="1">
                  <c:v>0.5</c:v>
                </c:pt>
              </c:numCache>
            </c:numRef>
          </c:val>
          <c:extLst>
            <c:ext xmlns:c16="http://schemas.microsoft.com/office/drawing/2014/chart" uri="{C3380CC4-5D6E-409C-BE32-E72D297353CC}">
              <c16:uniqueId val="{00000007-399A-4293-BB78-EFC0E0F10571}"/>
            </c:ext>
          </c:extLst>
        </c:ser>
        <c:ser>
          <c:idx val="8"/>
          <c:order val="8"/>
          <c:tx>
            <c:strRef>
              <c:f>Sheet1!$J$1</c:f>
              <c:strCache>
                <c:ptCount val="1"/>
                <c:pt idx="0">
                  <c:v>Segment 9</c:v>
                </c:pt>
              </c:strCache>
            </c:strRef>
          </c:tx>
          <c:spPr>
            <a:solidFill>
              <a:schemeClr val="accent3">
                <a:lumMod val="60000"/>
              </a:schemeClr>
            </a:solidFill>
            <a:ln>
              <a:noFill/>
            </a:ln>
            <a:effectLst/>
          </c:spPr>
          <c:invertIfNegative val="0"/>
          <c:cat>
            <c:strRef>
              <c:f>Sheet1!$A$2:$A$3</c:f>
              <c:strCache>
                <c:ptCount val="2"/>
                <c:pt idx="0">
                  <c:v>2024E</c:v>
                </c:pt>
                <c:pt idx="1">
                  <c:v>2034F</c:v>
                </c:pt>
              </c:strCache>
            </c:strRef>
          </c:cat>
          <c:val>
            <c:numRef>
              <c:f>Sheet1!$J$2:$J$3</c:f>
              <c:numCache>
                <c:formatCode>0.0%</c:formatCode>
                <c:ptCount val="2"/>
                <c:pt idx="0">
                  <c:v>0.56000000000000005</c:v>
                </c:pt>
                <c:pt idx="1">
                  <c:v>0.56000000000000005</c:v>
                </c:pt>
              </c:numCache>
            </c:numRef>
          </c:val>
          <c:extLst>
            <c:ext xmlns:c16="http://schemas.microsoft.com/office/drawing/2014/chart" uri="{C3380CC4-5D6E-409C-BE32-E72D297353CC}">
              <c16:uniqueId val="{00000008-399A-4293-BB78-EFC0E0F10571}"/>
            </c:ext>
          </c:extLst>
        </c:ser>
        <c:ser>
          <c:idx val="9"/>
          <c:order val="9"/>
          <c:tx>
            <c:strRef>
              <c:f>Sheet1!$K$1</c:f>
              <c:strCache>
                <c:ptCount val="1"/>
                <c:pt idx="0">
                  <c:v>Segment 10</c:v>
                </c:pt>
              </c:strCache>
            </c:strRef>
          </c:tx>
          <c:spPr>
            <a:solidFill>
              <a:schemeClr val="accent4">
                <a:lumMod val="60000"/>
              </a:schemeClr>
            </a:solidFill>
            <a:ln>
              <a:noFill/>
            </a:ln>
            <a:effectLst/>
          </c:spPr>
          <c:invertIfNegative val="0"/>
          <c:cat>
            <c:strRef>
              <c:f>Sheet1!$A$2:$A$3</c:f>
              <c:strCache>
                <c:ptCount val="2"/>
                <c:pt idx="0">
                  <c:v>2024E</c:v>
                </c:pt>
                <c:pt idx="1">
                  <c:v>2034F</c:v>
                </c:pt>
              </c:strCache>
            </c:strRef>
          </c:cat>
          <c:val>
            <c:numRef>
              <c:f>Sheet1!$K$2:$K$3</c:f>
              <c:numCache>
                <c:formatCode>0.0%</c:formatCode>
                <c:ptCount val="2"/>
                <c:pt idx="0">
                  <c:v>0.5</c:v>
                </c:pt>
                <c:pt idx="1">
                  <c:v>0.5</c:v>
                </c:pt>
              </c:numCache>
            </c:numRef>
          </c:val>
          <c:extLst>
            <c:ext xmlns:c16="http://schemas.microsoft.com/office/drawing/2014/chart" uri="{C3380CC4-5D6E-409C-BE32-E72D297353CC}">
              <c16:uniqueId val="{00000009-399A-4293-BB78-EFC0E0F10571}"/>
            </c:ext>
          </c:extLst>
        </c:ser>
        <c:ser>
          <c:idx val="10"/>
          <c:order val="10"/>
          <c:tx>
            <c:strRef>
              <c:f>Sheet1!$L$1</c:f>
              <c:strCache>
                <c:ptCount val="1"/>
                <c:pt idx="0">
                  <c:v>Segment 11</c:v>
                </c:pt>
              </c:strCache>
            </c:strRef>
          </c:tx>
          <c:spPr>
            <a:solidFill>
              <a:schemeClr val="accent5">
                <a:lumMod val="60000"/>
              </a:schemeClr>
            </a:solidFill>
            <a:ln>
              <a:noFill/>
            </a:ln>
            <a:effectLst/>
          </c:spPr>
          <c:invertIfNegative val="0"/>
          <c:cat>
            <c:strRef>
              <c:f>Sheet1!$A$2:$A$3</c:f>
              <c:strCache>
                <c:ptCount val="2"/>
                <c:pt idx="0">
                  <c:v>2024E</c:v>
                </c:pt>
                <c:pt idx="1">
                  <c:v>2034F</c:v>
                </c:pt>
              </c:strCache>
            </c:strRef>
          </c:cat>
          <c:val>
            <c:numRef>
              <c:f>Sheet1!$L$2:$L$3</c:f>
              <c:numCache>
                <c:formatCode>0.0%</c:formatCode>
                <c:ptCount val="2"/>
                <c:pt idx="0">
                  <c:v>0.7</c:v>
                </c:pt>
                <c:pt idx="1">
                  <c:v>0.7</c:v>
                </c:pt>
              </c:numCache>
            </c:numRef>
          </c:val>
          <c:extLst>
            <c:ext xmlns:c16="http://schemas.microsoft.com/office/drawing/2014/chart" uri="{C3380CC4-5D6E-409C-BE32-E72D297353CC}">
              <c16:uniqueId val="{0000000A-399A-4293-BB78-EFC0E0F10571}"/>
            </c:ext>
          </c:extLst>
        </c:ser>
        <c:ser>
          <c:idx val="11"/>
          <c:order val="11"/>
          <c:tx>
            <c:strRef>
              <c:f>Sheet1!$M$1</c:f>
              <c:strCache>
                <c:ptCount val="1"/>
                <c:pt idx="0">
                  <c:v>Segment 12</c:v>
                </c:pt>
              </c:strCache>
            </c:strRef>
          </c:tx>
          <c:spPr>
            <a:solidFill>
              <a:schemeClr val="accent6">
                <a:lumMod val="60000"/>
              </a:schemeClr>
            </a:solidFill>
            <a:ln>
              <a:noFill/>
            </a:ln>
            <a:effectLst/>
          </c:spPr>
          <c:invertIfNegative val="0"/>
          <c:cat>
            <c:strRef>
              <c:f>Sheet1!$A$2:$A$3</c:f>
              <c:strCache>
                <c:ptCount val="2"/>
                <c:pt idx="0">
                  <c:v>2024E</c:v>
                </c:pt>
                <c:pt idx="1">
                  <c:v>2034F</c:v>
                </c:pt>
              </c:strCache>
            </c:strRef>
          </c:cat>
          <c:val>
            <c:numRef>
              <c:f>Sheet1!$M$2:$M$3</c:f>
              <c:numCache>
                <c:formatCode>0.0%</c:formatCode>
                <c:ptCount val="2"/>
                <c:pt idx="0">
                  <c:v>0.5</c:v>
                </c:pt>
                <c:pt idx="1">
                  <c:v>0.5</c:v>
                </c:pt>
              </c:numCache>
            </c:numRef>
          </c:val>
          <c:extLst>
            <c:ext xmlns:c16="http://schemas.microsoft.com/office/drawing/2014/chart" uri="{C3380CC4-5D6E-409C-BE32-E72D297353CC}">
              <c16:uniqueId val="{0000000B-399A-4293-BB78-EFC0E0F10571}"/>
            </c:ext>
          </c:extLst>
        </c:ser>
        <c:dLbls>
          <c:showLegendKey val="0"/>
          <c:showVal val="0"/>
          <c:showCatName val="0"/>
          <c:showSerName val="0"/>
          <c:showPercent val="0"/>
          <c:showBubbleSize val="0"/>
        </c:dLbls>
        <c:gapWidth val="50"/>
        <c:overlap val="100"/>
        <c:axId val="116073056"/>
        <c:axId val="116067072"/>
      </c:barChart>
      <c:catAx>
        <c:axId val="1160730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16067072"/>
        <c:crosses val="autoZero"/>
        <c:auto val="1"/>
        <c:lblAlgn val="ctr"/>
        <c:lblOffset val="100"/>
        <c:noMultiLvlLbl val="0"/>
      </c:catAx>
      <c:valAx>
        <c:axId val="116067072"/>
        <c:scaling>
          <c:orientation val="minMax"/>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116073056"/>
        <c:crosses val="autoZero"/>
        <c:crossBetween val="between"/>
      </c:valAx>
      <c:spPr>
        <a:noFill/>
        <a:ln>
          <a:noFill/>
        </a:ln>
        <a:effectLst/>
      </c:spPr>
    </c:plotArea>
    <c:legend>
      <c:legendPos val="b"/>
      <c:layout>
        <c:manualLayout>
          <c:xMode val="edge"/>
          <c:yMode val="edge"/>
          <c:x val="0"/>
          <c:y val="0.83692483498304948"/>
          <c:w val="1"/>
          <c:h val="0.16307516501695063"/>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193926521544815"/>
          <c:y val="3.2403000316204716E-2"/>
          <c:w val="0.7016005889076895"/>
          <c:h val="0.82090372344009988"/>
        </c:manualLayout>
      </c:layout>
      <c:bubbleChart>
        <c:varyColors val="1"/>
        <c:ser>
          <c:idx val="0"/>
          <c:order val="0"/>
          <c:tx>
            <c:strRef>
              <c:f>Sheet1!$C$1</c:f>
              <c:strCache>
                <c:ptCount val="1"/>
                <c:pt idx="0">
                  <c:v>Y-Values</c:v>
                </c:pt>
              </c:strCache>
            </c:strRef>
          </c:tx>
          <c:invertIfNegative val="0"/>
          <c:dPt>
            <c:idx val="0"/>
            <c:invertIfNegative val="0"/>
            <c:bubble3D val="0"/>
            <c:spPr>
              <a:solidFill>
                <a:schemeClr val="accent1">
                  <a:alpha val="75000"/>
                </a:schemeClr>
              </a:solidFill>
              <a:ln>
                <a:noFill/>
              </a:ln>
              <a:effectLst/>
            </c:spPr>
            <c:extLst>
              <c:ext xmlns:c16="http://schemas.microsoft.com/office/drawing/2014/chart" uri="{C3380CC4-5D6E-409C-BE32-E72D297353CC}">
                <c16:uniqueId val="{00000001-DDE3-4D99-B865-1D4F4604A435}"/>
              </c:ext>
            </c:extLst>
          </c:dPt>
          <c:dPt>
            <c:idx val="1"/>
            <c:invertIfNegative val="0"/>
            <c:bubble3D val="0"/>
            <c:spPr>
              <a:solidFill>
                <a:schemeClr val="accent2">
                  <a:alpha val="75000"/>
                </a:schemeClr>
              </a:solidFill>
              <a:ln>
                <a:noFill/>
              </a:ln>
              <a:effectLst/>
            </c:spPr>
            <c:extLst>
              <c:ext xmlns:c16="http://schemas.microsoft.com/office/drawing/2014/chart" uri="{C3380CC4-5D6E-409C-BE32-E72D297353CC}">
                <c16:uniqueId val="{00000003-DDE3-4D99-B865-1D4F4604A435}"/>
              </c:ext>
            </c:extLst>
          </c:dPt>
          <c:dPt>
            <c:idx val="2"/>
            <c:invertIfNegative val="0"/>
            <c:bubble3D val="0"/>
            <c:spPr>
              <a:solidFill>
                <a:schemeClr val="accent3">
                  <a:alpha val="75000"/>
                </a:schemeClr>
              </a:solidFill>
              <a:ln>
                <a:noFill/>
              </a:ln>
              <a:effectLst/>
            </c:spPr>
            <c:extLst>
              <c:ext xmlns:c16="http://schemas.microsoft.com/office/drawing/2014/chart" uri="{C3380CC4-5D6E-409C-BE32-E72D297353CC}">
                <c16:uniqueId val="{00000005-DDE3-4D99-B865-1D4F4604A435}"/>
              </c:ext>
            </c:extLst>
          </c:dPt>
          <c:dPt>
            <c:idx val="3"/>
            <c:invertIfNegative val="0"/>
            <c:bubble3D val="0"/>
            <c:spPr>
              <a:solidFill>
                <a:schemeClr val="accent4">
                  <a:alpha val="75000"/>
                </a:schemeClr>
              </a:solidFill>
              <a:ln>
                <a:noFill/>
              </a:ln>
              <a:effectLst/>
            </c:spPr>
            <c:extLst>
              <c:ext xmlns:c16="http://schemas.microsoft.com/office/drawing/2014/chart" uri="{C3380CC4-5D6E-409C-BE32-E72D297353CC}">
                <c16:uniqueId val="{00000007-DDE3-4D99-B865-1D4F4604A435}"/>
              </c:ext>
            </c:extLst>
          </c:dPt>
          <c:dPt>
            <c:idx val="4"/>
            <c:invertIfNegative val="0"/>
            <c:bubble3D val="0"/>
            <c:spPr>
              <a:solidFill>
                <a:schemeClr val="accent5">
                  <a:alpha val="75000"/>
                </a:schemeClr>
              </a:solidFill>
              <a:ln>
                <a:noFill/>
              </a:ln>
              <a:effectLst/>
            </c:spPr>
            <c:extLst>
              <c:ext xmlns:c16="http://schemas.microsoft.com/office/drawing/2014/chart" uri="{C3380CC4-5D6E-409C-BE32-E72D297353CC}">
                <c16:uniqueId val="{00000009-DDE3-4D99-B865-1D4F4604A435}"/>
              </c:ext>
            </c:extLst>
          </c:dPt>
          <c:dPt>
            <c:idx val="5"/>
            <c:invertIfNegative val="0"/>
            <c:bubble3D val="0"/>
            <c:spPr>
              <a:solidFill>
                <a:schemeClr val="accent6">
                  <a:alpha val="75000"/>
                </a:schemeClr>
              </a:solidFill>
              <a:ln>
                <a:noFill/>
              </a:ln>
              <a:effectLst/>
            </c:spPr>
            <c:extLst>
              <c:ext xmlns:c16="http://schemas.microsoft.com/office/drawing/2014/chart" uri="{C3380CC4-5D6E-409C-BE32-E72D297353CC}">
                <c16:uniqueId val="{0000000B-DDE3-4D99-B865-1D4F4604A435}"/>
              </c:ext>
            </c:extLst>
          </c:dPt>
          <c:dPt>
            <c:idx val="6"/>
            <c:invertIfNegative val="0"/>
            <c:bubble3D val="0"/>
            <c:spPr>
              <a:solidFill>
                <a:schemeClr val="accent1">
                  <a:lumMod val="60000"/>
                  <a:alpha val="75000"/>
                </a:schemeClr>
              </a:solidFill>
              <a:ln>
                <a:noFill/>
              </a:ln>
              <a:effectLst/>
            </c:spPr>
            <c:extLst>
              <c:ext xmlns:c16="http://schemas.microsoft.com/office/drawing/2014/chart" uri="{C3380CC4-5D6E-409C-BE32-E72D297353CC}">
                <c16:uniqueId val="{0000000D-DDE3-4D99-B865-1D4F4604A435}"/>
              </c:ext>
            </c:extLst>
          </c:dPt>
          <c:dPt>
            <c:idx val="7"/>
            <c:invertIfNegative val="0"/>
            <c:bubble3D val="0"/>
            <c:spPr>
              <a:solidFill>
                <a:schemeClr val="accent2">
                  <a:lumMod val="60000"/>
                  <a:alpha val="75000"/>
                </a:schemeClr>
              </a:solidFill>
              <a:ln>
                <a:noFill/>
              </a:ln>
              <a:effectLst/>
            </c:spPr>
            <c:extLst>
              <c:ext xmlns:c16="http://schemas.microsoft.com/office/drawing/2014/chart" uri="{C3380CC4-5D6E-409C-BE32-E72D297353CC}">
                <c16:uniqueId val="{0000000F-DDE3-4D99-B865-1D4F4604A435}"/>
              </c:ext>
            </c:extLst>
          </c:dPt>
          <c:dPt>
            <c:idx val="8"/>
            <c:invertIfNegative val="0"/>
            <c:bubble3D val="0"/>
            <c:spPr>
              <a:solidFill>
                <a:schemeClr val="accent3">
                  <a:lumMod val="60000"/>
                  <a:alpha val="75000"/>
                </a:schemeClr>
              </a:solidFill>
              <a:ln>
                <a:noFill/>
              </a:ln>
              <a:effectLst/>
            </c:spPr>
            <c:extLst>
              <c:ext xmlns:c16="http://schemas.microsoft.com/office/drawing/2014/chart" uri="{C3380CC4-5D6E-409C-BE32-E72D297353CC}">
                <c16:uniqueId val="{00000011-DDE3-4D99-B865-1D4F4604A435}"/>
              </c:ext>
            </c:extLst>
          </c:dPt>
          <c:dPt>
            <c:idx val="9"/>
            <c:invertIfNegative val="0"/>
            <c:bubble3D val="0"/>
            <c:spPr>
              <a:solidFill>
                <a:schemeClr val="accent4">
                  <a:lumMod val="60000"/>
                  <a:alpha val="75000"/>
                </a:schemeClr>
              </a:solidFill>
              <a:ln>
                <a:noFill/>
              </a:ln>
              <a:effectLst/>
            </c:spPr>
            <c:extLst>
              <c:ext xmlns:c16="http://schemas.microsoft.com/office/drawing/2014/chart" uri="{C3380CC4-5D6E-409C-BE32-E72D297353CC}">
                <c16:uniqueId val="{00000013-DDE3-4D99-B865-1D4F4604A435}"/>
              </c:ext>
            </c:extLst>
          </c:dPt>
          <c:dPt>
            <c:idx val="10"/>
            <c:invertIfNegative val="0"/>
            <c:bubble3D val="0"/>
            <c:spPr>
              <a:solidFill>
                <a:schemeClr val="accent5">
                  <a:lumMod val="60000"/>
                  <a:alpha val="75000"/>
                </a:schemeClr>
              </a:solidFill>
              <a:ln>
                <a:noFill/>
              </a:ln>
              <a:effectLst/>
            </c:spPr>
            <c:extLst>
              <c:ext xmlns:c16="http://schemas.microsoft.com/office/drawing/2014/chart" uri="{C3380CC4-5D6E-409C-BE32-E72D297353CC}">
                <c16:uniqueId val="{00000015-DDE3-4D99-B865-1D4F4604A435}"/>
              </c:ext>
            </c:extLst>
          </c:dPt>
          <c:dPt>
            <c:idx val="11"/>
            <c:invertIfNegative val="0"/>
            <c:bubble3D val="0"/>
            <c:spPr>
              <a:solidFill>
                <a:schemeClr val="accent6">
                  <a:lumMod val="60000"/>
                  <a:alpha val="75000"/>
                </a:schemeClr>
              </a:solidFill>
              <a:ln>
                <a:noFill/>
              </a:ln>
              <a:effectLst/>
            </c:spPr>
            <c:extLst>
              <c:ext xmlns:c16="http://schemas.microsoft.com/office/drawing/2014/chart" uri="{C3380CC4-5D6E-409C-BE32-E72D297353CC}">
                <c16:uniqueId val="{00000017-DDE3-4D99-B865-1D4F4604A435}"/>
              </c:ext>
            </c:extLst>
          </c:dPt>
          <c:xVal>
            <c:numRef>
              <c:f>Sheet1!$B$2:$B$13</c:f>
              <c:numCache>
                <c:formatCode>_(* #,##0.0_);_(* \(#,##0.0\);_(* "-"??_);_(@_)</c:formatCode>
                <c:ptCount val="12"/>
                <c:pt idx="0">
                  <c:v>1.23845548712603</c:v>
                </c:pt>
                <c:pt idx="1">
                  <c:v>1.162113536969851</c:v>
                </c:pt>
                <c:pt idx="2">
                  <c:v>1.0302543225319352</c:v>
                </c:pt>
                <c:pt idx="3">
                  <c:v>0.84722981022347821</c:v>
                </c:pt>
                <c:pt idx="4">
                  <c:v>0.93741701489866014</c:v>
                </c:pt>
                <c:pt idx="5">
                  <c:v>0.16703967724697652</c:v>
                </c:pt>
                <c:pt idx="6">
                  <c:v>0.31547286921338047</c:v>
                </c:pt>
                <c:pt idx="7">
                  <c:v>1.889955916162251</c:v>
                </c:pt>
                <c:pt idx="8">
                  <c:v>1.3855301758593002</c:v>
                </c:pt>
                <c:pt idx="9">
                  <c:v>0.94636364010056717</c:v>
                </c:pt>
                <c:pt idx="10">
                  <c:v>0.83305684356707144</c:v>
                </c:pt>
                <c:pt idx="11">
                  <c:v>1.2471107061004996</c:v>
                </c:pt>
              </c:numCache>
            </c:numRef>
          </c:xVal>
          <c:yVal>
            <c:numRef>
              <c:f>Sheet1!$C$2:$C$13</c:f>
              <c:numCache>
                <c:formatCode>_(* #,##0.0_);_(* \(#,##0.0\);_(* "-"??_);_(@_)</c:formatCode>
                <c:ptCount val="12"/>
                <c:pt idx="0">
                  <c:v>4.2167112547800931</c:v>
                </c:pt>
                <c:pt idx="1">
                  <c:v>3.3980122714010847</c:v>
                </c:pt>
                <c:pt idx="2">
                  <c:v>1.2822227748390012</c:v>
                </c:pt>
                <c:pt idx="3">
                  <c:v>0.55922599312951515</c:v>
                </c:pt>
                <c:pt idx="4">
                  <c:v>0.51700126218067499</c:v>
                </c:pt>
                <c:pt idx="5">
                  <c:v>0.55959517973370299</c:v>
                </c:pt>
                <c:pt idx="6">
                  <c:v>0.4504058763710288</c:v>
                </c:pt>
                <c:pt idx="7">
                  <c:v>7.8479811791921719E-2</c:v>
                </c:pt>
                <c:pt idx="8">
                  <c:v>0.15695962358384338</c:v>
                </c:pt>
                <c:pt idx="9">
                  <c:v>0.26614892694651726</c:v>
                </c:pt>
                <c:pt idx="10">
                  <c:v>0.33098007581810435</c:v>
                </c:pt>
                <c:pt idx="11">
                  <c:v>0.1842569494245119</c:v>
                </c:pt>
              </c:numCache>
            </c:numRef>
          </c:yVal>
          <c:bubbleSize>
            <c:numRef>
              <c:f>Sheet1!$D$2:$D$13</c:f>
              <c:numCache>
                <c:formatCode>_(* #,##0.0_);_(* \(#,##0.0\);_(* "-"??_);_(@_)</c:formatCode>
                <c:ptCount val="12"/>
                <c:pt idx="0">
                  <c:v>4.9936297981998532</c:v>
                </c:pt>
                <c:pt idx="1">
                  <c:v>3.7099886852259316</c:v>
                </c:pt>
                <c:pt idx="2">
                  <c:v>1.2039612272959443</c:v>
                </c:pt>
                <c:pt idx="3">
                  <c:v>0.41406478695641968</c:v>
                </c:pt>
                <c:pt idx="4">
                  <c:v>0.43238574591390638</c:v>
                </c:pt>
                <c:pt idx="5">
                  <c:v>7.0054524456672831E-2</c:v>
                </c:pt>
                <c:pt idx="6">
                  <c:v>0.11008568128905516</c:v>
                </c:pt>
                <c:pt idx="7">
                  <c:v>0.16512852193358268</c:v>
                </c:pt>
                <c:pt idx="8">
                  <c:v>0.2151674679740625</c:v>
                </c:pt>
                <c:pt idx="9">
                  <c:v>0.22517525718215869</c:v>
                </c:pt>
                <c:pt idx="10">
                  <c:v>0.24018694099430174</c:v>
                </c:pt>
                <c:pt idx="11">
                  <c:v>0.22017136257811071</c:v>
                </c:pt>
              </c:numCache>
            </c:numRef>
          </c:bubbleSize>
          <c:bubble3D val="0"/>
          <c:extLst>
            <c:ext xmlns:c16="http://schemas.microsoft.com/office/drawing/2014/chart" uri="{C3380CC4-5D6E-409C-BE32-E72D297353CC}">
              <c16:uniqueId val="{00000018-DDE3-4D99-B865-1D4F4604A435}"/>
            </c:ext>
          </c:extLst>
        </c:ser>
        <c:dLbls>
          <c:showLegendKey val="0"/>
          <c:showVal val="0"/>
          <c:showCatName val="0"/>
          <c:showSerName val="0"/>
          <c:showPercent val="0"/>
          <c:showBubbleSize val="0"/>
        </c:dLbls>
        <c:bubbleScale val="100"/>
        <c:showNegBubbles val="0"/>
        <c:axId val="116060544"/>
        <c:axId val="116067616"/>
      </c:bubbleChart>
      <c:valAx>
        <c:axId val="116060544"/>
        <c:scaling>
          <c:orientation val="minMax"/>
          <c:min val="0"/>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CAGR Index (2024 – 2034)</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16067616"/>
        <c:crossesAt val="0"/>
        <c:crossBetween val="midCat"/>
      </c:valAx>
      <c:valAx>
        <c:axId val="116067616"/>
        <c:scaling>
          <c:orientation val="minMax"/>
          <c:min val="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Market Share Index (2024E)</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16060544"/>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910917822963"/>
          <c:y val="4.0225179225868664E-2"/>
          <c:w val="0.87507556483913373"/>
          <c:h val="0.65061484798850733"/>
        </c:manualLayout>
      </c:layout>
      <c:lineChart>
        <c:grouping val="standard"/>
        <c:varyColors val="0"/>
        <c:ser>
          <c:idx val="0"/>
          <c:order val="0"/>
          <c:tx>
            <c:strRef>
              <c:f>Sheet1!$B$1</c:f>
              <c:strCache>
                <c:ptCount val="1"/>
                <c:pt idx="0">
                  <c:v>Segment 1</c:v>
                </c:pt>
              </c:strCache>
            </c:strRef>
          </c:tx>
          <c:spPr>
            <a:ln w="28575" cap="rnd">
              <a:solidFill>
                <a:schemeClr val="accent1"/>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Sheet1!$B$2:$B$12</c:f>
              <c:numCache>
                <c:formatCode>0.0%</c:formatCode>
                <c:ptCount val="11"/>
                <c:pt idx="0">
                  <c:v>5.1500000000000004E-2</c:v>
                </c:pt>
                <c:pt idx="1">
                  <c:v>5.4166666666666669E-2</c:v>
                </c:pt>
                <c:pt idx="2">
                  <c:v>5.7000000000000009E-2</c:v>
                </c:pt>
                <c:pt idx="3">
                  <c:v>5.9333333333333335E-2</c:v>
                </c:pt>
                <c:pt idx="4">
                  <c:v>6.1166666666666675E-2</c:v>
                </c:pt>
                <c:pt idx="5">
                  <c:v>6.2833333333333338E-2</c:v>
                </c:pt>
                <c:pt idx="6">
                  <c:v>6.483333333333334E-2</c:v>
                </c:pt>
                <c:pt idx="7">
                  <c:v>6.7166666666666666E-2</c:v>
                </c:pt>
                <c:pt idx="8">
                  <c:v>6.8833333333333344E-2</c:v>
                </c:pt>
                <c:pt idx="9">
                  <c:v>6.9000000000000006E-2</c:v>
                </c:pt>
                <c:pt idx="10">
                  <c:v>6.7666666666666667E-2</c:v>
                </c:pt>
              </c:numCache>
            </c:numRef>
          </c:val>
          <c:smooth val="1"/>
          <c:extLst>
            <c:ext xmlns:c16="http://schemas.microsoft.com/office/drawing/2014/chart" uri="{C3380CC4-5D6E-409C-BE32-E72D297353CC}">
              <c16:uniqueId val="{00000000-D299-4B53-A6F6-A44322BE864B}"/>
            </c:ext>
          </c:extLst>
        </c:ser>
        <c:ser>
          <c:idx val="1"/>
          <c:order val="1"/>
          <c:tx>
            <c:strRef>
              <c:f>Sheet1!$C$1</c:f>
              <c:strCache>
                <c:ptCount val="1"/>
                <c:pt idx="0">
                  <c:v>Segment 2</c:v>
                </c:pt>
              </c:strCache>
            </c:strRef>
          </c:tx>
          <c:spPr>
            <a:ln w="28575" cap="rnd">
              <a:solidFill>
                <a:schemeClr val="accent2"/>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Sheet1!$C$2:$C$12</c:f>
              <c:numCache>
                <c:formatCode>0.0%</c:formatCode>
                <c:ptCount val="11"/>
                <c:pt idx="0">
                  <c:v>5.116830281459997E-2</c:v>
                </c:pt>
                <c:pt idx="1">
                  <c:v>5.1290221555306513E-2</c:v>
                </c:pt>
                <c:pt idx="2">
                  <c:v>5.1395302571985553E-2</c:v>
                </c:pt>
                <c:pt idx="3">
                  <c:v>5.151160873801626E-2</c:v>
                </c:pt>
                <c:pt idx="4">
                  <c:v>5.1620431471145853E-2</c:v>
                </c:pt>
                <c:pt idx="5">
                  <c:v>5.1734243159542857E-2</c:v>
                </c:pt>
                <c:pt idx="6">
                  <c:v>5.1844728877761585E-2</c:v>
                </c:pt>
                <c:pt idx="7">
                  <c:v>5.1961866536336859E-2</c:v>
                </c:pt>
                <c:pt idx="8">
                  <c:v>5.2074569568007774E-2</c:v>
                </c:pt>
                <c:pt idx="9">
                  <c:v>5.2190229017614928E-2</c:v>
                </c:pt>
                <c:pt idx="10">
                  <c:v>5.2299975631349596E-2</c:v>
                </c:pt>
              </c:numCache>
            </c:numRef>
          </c:val>
          <c:smooth val="1"/>
          <c:extLst>
            <c:ext xmlns:c16="http://schemas.microsoft.com/office/drawing/2014/chart" uri="{C3380CC4-5D6E-409C-BE32-E72D297353CC}">
              <c16:uniqueId val="{00000001-D299-4B53-A6F6-A44322BE864B}"/>
            </c:ext>
          </c:extLst>
        </c:ser>
        <c:ser>
          <c:idx val="2"/>
          <c:order val="2"/>
          <c:tx>
            <c:strRef>
              <c:f>Sheet1!$D$1</c:f>
              <c:strCache>
                <c:ptCount val="1"/>
                <c:pt idx="0">
                  <c:v>Segment 3</c:v>
                </c:pt>
              </c:strCache>
            </c:strRef>
          </c:tx>
          <c:spPr>
            <a:ln w="28575" cap="rnd">
              <a:solidFill>
                <a:schemeClr val="accent3"/>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Sheet1!$D$2:$D$12</c:f>
              <c:numCache>
                <c:formatCode>0.0%</c:formatCode>
                <c:ptCount val="11"/>
                <c:pt idx="0">
                  <c:v>5.0610918051856614E-2</c:v>
                </c:pt>
                <c:pt idx="1">
                  <c:v>5.1425475454332091E-2</c:v>
                </c:pt>
                <c:pt idx="2">
                  <c:v>5.2138213181498139E-2</c:v>
                </c:pt>
                <c:pt idx="3">
                  <c:v>5.274913123335475E-2</c:v>
                </c:pt>
                <c:pt idx="4">
                  <c:v>5.2850950908664179E-2</c:v>
                </c:pt>
                <c:pt idx="5">
                  <c:v>5.2647311558045314E-2</c:v>
                </c:pt>
                <c:pt idx="6">
                  <c:v>5.2036393506188702E-2</c:v>
                </c:pt>
                <c:pt idx="7">
                  <c:v>5.1323655779022655E-2</c:v>
                </c:pt>
                <c:pt idx="8">
                  <c:v>5.0610918051856614E-2</c:v>
                </c:pt>
                <c:pt idx="9">
                  <c:v>0.05</c:v>
                </c:pt>
                <c:pt idx="10">
                  <c:v>4.9490901623452828E-2</c:v>
                </c:pt>
              </c:numCache>
            </c:numRef>
          </c:val>
          <c:smooth val="1"/>
          <c:extLst>
            <c:ext xmlns:c16="http://schemas.microsoft.com/office/drawing/2014/chart" uri="{C3380CC4-5D6E-409C-BE32-E72D297353CC}">
              <c16:uniqueId val="{00000002-D299-4B53-A6F6-A44322BE864B}"/>
            </c:ext>
          </c:extLst>
        </c:ser>
        <c:ser>
          <c:idx val="3"/>
          <c:order val="3"/>
          <c:tx>
            <c:strRef>
              <c:f>Sheet1!$E$1</c:f>
              <c:strCache>
                <c:ptCount val="1"/>
                <c:pt idx="0">
                  <c:v>Segment 4</c:v>
                </c:pt>
              </c:strCache>
            </c:strRef>
          </c:tx>
          <c:spPr>
            <a:ln w="28575" cap="rnd">
              <a:solidFill>
                <a:schemeClr val="accent4"/>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Sheet1!$E$2:$E$12</c:f>
              <c:numCache>
                <c:formatCode>0.0%</c:formatCode>
                <c:ptCount val="11"/>
                <c:pt idx="0">
                  <c:v>5.3000000000000005E-2</c:v>
                </c:pt>
                <c:pt idx="1">
                  <c:v>5.5000000000000007E-2</c:v>
                </c:pt>
                <c:pt idx="2">
                  <c:v>5.7333333333333347E-2</c:v>
                </c:pt>
                <c:pt idx="3">
                  <c:v>5.9666666666666673E-2</c:v>
                </c:pt>
                <c:pt idx="4">
                  <c:v>6.3666666666666663E-2</c:v>
                </c:pt>
                <c:pt idx="5">
                  <c:v>6.8000000000000005E-2</c:v>
                </c:pt>
                <c:pt idx="6">
                  <c:v>6.7906765085174334E-2</c:v>
                </c:pt>
                <c:pt idx="7">
                  <c:v>6.6841312562606461E-2</c:v>
                </c:pt>
                <c:pt idx="8">
                  <c:v>6.5666666666666665E-2</c:v>
                </c:pt>
                <c:pt idx="9">
                  <c:v>6.4147353367754692E-2</c:v>
                </c:pt>
                <c:pt idx="10">
                  <c:v>6.0424365639398202E-2</c:v>
                </c:pt>
              </c:numCache>
            </c:numRef>
          </c:val>
          <c:smooth val="1"/>
          <c:extLst>
            <c:ext xmlns:c16="http://schemas.microsoft.com/office/drawing/2014/chart" uri="{C3380CC4-5D6E-409C-BE32-E72D297353CC}">
              <c16:uniqueId val="{00000003-D299-4B53-A6F6-A44322BE864B}"/>
            </c:ext>
          </c:extLst>
        </c:ser>
        <c:ser>
          <c:idx val="4"/>
          <c:order val="4"/>
          <c:tx>
            <c:strRef>
              <c:f>Sheet1!$F$1</c:f>
              <c:strCache>
                <c:ptCount val="1"/>
                <c:pt idx="0">
                  <c:v>Segment 5</c:v>
                </c:pt>
              </c:strCache>
            </c:strRef>
          </c:tx>
          <c:spPr>
            <a:ln w="28575" cap="rnd">
              <a:solidFill>
                <a:schemeClr val="accent5"/>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Sheet1!$F$2:$F$12</c:f>
              <c:numCache>
                <c:formatCode>0.0%</c:formatCode>
                <c:ptCount val="11"/>
                <c:pt idx="0">
                  <c:v>5.1263578005607567E-2</c:v>
                </c:pt>
                <c:pt idx="1">
                  <c:v>5.2412285283432627E-2</c:v>
                </c:pt>
                <c:pt idx="2">
                  <c:v>5.3446121833475177E-2</c:v>
                </c:pt>
                <c:pt idx="3">
                  <c:v>5.3905604744605207E-2</c:v>
                </c:pt>
                <c:pt idx="4">
                  <c:v>5.3905604744605207E-2</c:v>
                </c:pt>
                <c:pt idx="5">
                  <c:v>5.3101509650127658E-2</c:v>
                </c:pt>
                <c:pt idx="6">
                  <c:v>5.2297414555650117E-2</c:v>
                </c:pt>
                <c:pt idx="7">
                  <c:v>5.1493319461172575E-2</c:v>
                </c:pt>
                <c:pt idx="8">
                  <c:v>5.068922436669504E-2</c:v>
                </c:pt>
                <c:pt idx="9">
                  <c:v>4.9770258544434988E-2</c:v>
                </c:pt>
                <c:pt idx="10">
                  <c:v>4.8736421994392438E-2</c:v>
                </c:pt>
              </c:numCache>
            </c:numRef>
          </c:val>
          <c:smooth val="1"/>
          <c:extLst>
            <c:ext xmlns:c16="http://schemas.microsoft.com/office/drawing/2014/chart" uri="{C3380CC4-5D6E-409C-BE32-E72D297353CC}">
              <c16:uniqueId val="{00000004-D299-4B53-A6F6-A44322BE864B}"/>
            </c:ext>
          </c:extLst>
        </c:ser>
        <c:ser>
          <c:idx val="5"/>
          <c:order val="5"/>
          <c:tx>
            <c:strRef>
              <c:f>Sheet1!$G$1</c:f>
              <c:strCache>
                <c:ptCount val="1"/>
                <c:pt idx="0">
                  <c:v>Segment 6</c:v>
                </c:pt>
              </c:strCache>
            </c:strRef>
          </c:tx>
          <c:spPr>
            <a:ln w="28575" cap="rnd">
              <a:solidFill>
                <a:schemeClr val="accent6"/>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Sheet1!$G$2:$G$12</c:f>
              <c:numCache>
                <c:formatCode>0.0%</c:formatCode>
                <c:ptCount val="11"/>
                <c:pt idx="0">
                  <c:v>6.0676665024535163E-2</c:v>
                </c:pt>
                <c:pt idx="1">
                  <c:v>6.0811998029442191E-2</c:v>
                </c:pt>
                <c:pt idx="2">
                  <c:v>6.0405999014721101E-2</c:v>
                </c:pt>
                <c:pt idx="3">
                  <c:v>5.986466699509297E-2</c:v>
                </c:pt>
                <c:pt idx="4">
                  <c:v>5.9188001970557812E-2</c:v>
                </c:pt>
                <c:pt idx="5">
                  <c:v>5.8782002955836715E-2</c:v>
                </c:pt>
                <c:pt idx="6">
                  <c:v>5.7970004926394522E-2</c:v>
                </c:pt>
                <c:pt idx="7">
                  <c:v>5.7022673892045295E-2</c:v>
                </c:pt>
                <c:pt idx="8">
                  <c:v>5.6075342857696074E-2</c:v>
                </c:pt>
                <c:pt idx="9">
                  <c:v>5.5398677833160916E-2</c:v>
                </c:pt>
                <c:pt idx="10">
                  <c:v>5.472201280862575E-2</c:v>
                </c:pt>
              </c:numCache>
            </c:numRef>
          </c:val>
          <c:smooth val="1"/>
          <c:extLst>
            <c:ext xmlns:c16="http://schemas.microsoft.com/office/drawing/2014/chart" uri="{C3380CC4-5D6E-409C-BE32-E72D297353CC}">
              <c16:uniqueId val="{00000005-D299-4B53-A6F6-A44322BE864B}"/>
            </c:ext>
          </c:extLst>
        </c:ser>
        <c:ser>
          <c:idx val="6"/>
          <c:order val="6"/>
          <c:tx>
            <c:strRef>
              <c:f>Sheet1!$H$1</c:f>
              <c:strCache>
                <c:ptCount val="1"/>
                <c:pt idx="0">
                  <c:v>Segment 7</c:v>
                </c:pt>
              </c:strCache>
            </c:strRef>
          </c:tx>
          <c:spPr>
            <a:ln w="28575" cap="rnd">
              <a:solidFill>
                <a:schemeClr val="accent1">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Sheet1!$H$2:$H$12</c:f>
              <c:numCache>
                <c:formatCode>0.0%</c:formatCode>
                <c:ptCount val="11"/>
                <c:pt idx="0">
                  <c:v>4.9615229374212068E-2</c:v>
                </c:pt>
                <c:pt idx="1">
                  <c:v>4.9038073435530169E-2</c:v>
                </c:pt>
                <c:pt idx="2">
                  <c:v>4.8653302809742234E-2</c:v>
                </c:pt>
                <c:pt idx="3">
                  <c:v>4.8076146871060335E-2</c:v>
                </c:pt>
                <c:pt idx="4">
                  <c:v>4.7883761558166364E-2</c:v>
                </c:pt>
                <c:pt idx="5">
                  <c:v>4.8268532183954299E-2</c:v>
                </c:pt>
                <c:pt idx="6">
                  <c:v>4.8653302809742234E-2</c:v>
                </c:pt>
                <c:pt idx="7">
                  <c:v>4.9230458748424133E-2</c:v>
                </c:pt>
                <c:pt idx="8">
                  <c:v>5.0192385312893967E-2</c:v>
                </c:pt>
                <c:pt idx="9">
                  <c:v>5.0577155938681902E-2</c:v>
                </c:pt>
                <c:pt idx="10">
                  <c:v>5.0384770625787938E-2</c:v>
                </c:pt>
              </c:numCache>
            </c:numRef>
          </c:val>
          <c:smooth val="1"/>
          <c:extLst>
            <c:ext xmlns:c16="http://schemas.microsoft.com/office/drawing/2014/chart" uri="{C3380CC4-5D6E-409C-BE32-E72D297353CC}">
              <c16:uniqueId val="{00000006-D299-4B53-A6F6-A44322BE864B}"/>
            </c:ext>
          </c:extLst>
        </c:ser>
        <c:ser>
          <c:idx val="7"/>
          <c:order val="7"/>
          <c:tx>
            <c:strRef>
              <c:f>Sheet1!$I$1</c:f>
              <c:strCache>
                <c:ptCount val="1"/>
                <c:pt idx="0">
                  <c:v>Segment 8</c:v>
                </c:pt>
              </c:strCache>
            </c:strRef>
          </c:tx>
          <c:spPr>
            <a:ln w="28575" cap="rnd">
              <a:solidFill>
                <a:schemeClr val="accent2">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Sheet1!$I$2:$I$12</c:f>
              <c:numCache>
                <c:formatCode>0.0%</c:formatCode>
                <c:ptCount val="11"/>
                <c:pt idx="0">
                  <c:v>5.1000000000000004E-2</c:v>
                </c:pt>
                <c:pt idx="1">
                  <c:v>5.3000000000000005E-2</c:v>
                </c:pt>
                <c:pt idx="2">
                  <c:v>5.4000000000000006E-2</c:v>
                </c:pt>
                <c:pt idx="3">
                  <c:v>5.5E-2</c:v>
                </c:pt>
                <c:pt idx="4">
                  <c:v>5.5E-2</c:v>
                </c:pt>
                <c:pt idx="5">
                  <c:v>5.4000000000000006E-2</c:v>
                </c:pt>
                <c:pt idx="6">
                  <c:v>5.4000000000000006E-2</c:v>
                </c:pt>
                <c:pt idx="7">
                  <c:v>5.3000000000000005E-2</c:v>
                </c:pt>
                <c:pt idx="8">
                  <c:v>5.2000000000000005E-2</c:v>
                </c:pt>
                <c:pt idx="9">
                  <c:v>5.1000000000000004E-2</c:v>
                </c:pt>
                <c:pt idx="10">
                  <c:v>4.8000000000000001E-2</c:v>
                </c:pt>
              </c:numCache>
            </c:numRef>
          </c:val>
          <c:smooth val="1"/>
          <c:extLst>
            <c:ext xmlns:c16="http://schemas.microsoft.com/office/drawing/2014/chart" uri="{C3380CC4-5D6E-409C-BE32-E72D297353CC}">
              <c16:uniqueId val="{00000007-D299-4B53-A6F6-A44322BE864B}"/>
            </c:ext>
          </c:extLst>
        </c:ser>
        <c:ser>
          <c:idx val="8"/>
          <c:order val="8"/>
          <c:tx>
            <c:strRef>
              <c:f>Sheet1!$J$1</c:f>
              <c:strCache>
                <c:ptCount val="1"/>
                <c:pt idx="0">
                  <c:v>Segment 9</c:v>
                </c:pt>
              </c:strCache>
            </c:strRef>
          </c:tx>
          <c:spPr>
            <a:ln w="28575" cap="rnd">
              <a:solidFill>
                <a:schemeClr val="accent3">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Sheet1!$J$2:$J$12</c:f>
              <c:numCache>
                <c:formatCode>0.0%</c:formatCode>
                <c:ptCount val="11"/>
                <c:pt idx="0">
                  <c:v>4.8868290059229491E-2</c:v>
                </c:pt>
                <c:pt idx="1">
                  <c:v>4.8113816765382483E-2</c:v>
                </c:pt>
                <c:pt idx="2">
                  <c:v>4.7736580118458979E-2</c:v>
                </c:pt>
                <c:pt idx="3">
                  <c:v>4.7359343471535476E-2</c:v>
                </c:pt>
                <c:pt idx="4">
                  <c:v>4.7359343471535476E-2</c:v>
                </c:pt>
                <c:pt idx="5">
                  <c:v>4.7359343471535476E-2</c:v>
                </c:pt>
                <c:pt idx="6">
                  <c:v>4.7736580118458979E-2</c:v>
                </c:pt>
                <c:pt idx="7">
                  <c:v>4.8113816765382483E-2</c:v>
                </c:pt>
                <c:pt idx="8">
                  <c:v>4.8491053412305987E-2</c:v>
                </c:pt>
                <c:pt idx="9">
                  <c:v>4.8868290059229491E-2</c:v>
                </c:pt>
                <c:pt idx="10">
                  <c:v>4.9622763353076499E-2</c:v>
                </c:pt>
              </c:numCache>
            </c:numRef>
          </c:val>
          <c:smooth val="1"/>
          <c:extLst>
            <c:ext xmlns:c16="http://schemas.microsoft.com/office/drawing/2014/chart" uri="{C3380CC4-5D6E-409C-BE32-E72D297353CC}">
              <c16:uniqueId val="{00000008-D299-4B53-A6F6-A44322BE864B}"/>
            </c:ext>
          </c:extLst>
        </c:ser>
        <c:ser>
          <c:idx val="9"/>
          <c:order val="9"/>
          <c:tx>
            <c:strRef>
              <c:f>Sheet1!$K$1</c:f>
              <c:strCache>
                <c:ptCount val="1"/>
                <c:pt idx="0">
                  <c:v>Segment 10</c:v>
                </c:pt>
              </c:strCache>
            </c:strRef>
          </c:tx>
          <c:spPr>
            <a:ln w="28575" cap="rnd">
              <a:solidFill>
                <a:schemeClr val="accent4">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Sheet1!$K$2:$K$12</c:f>
              <c:numCache>
                <c:formatCode>0.0%</c:formatCode>
                <c:ptCount val="11"/>
                <c:pt idx="0">
                  <c:v>6.0000000000000005E-2</c:v>
                </c:pt>
                <c:pt idx="1">
                  <c:v>6.0000000000000005E-2</c:v>
                </c:pt>
                <c:pt idx="2">
                  <c:v>5.9500325887083094E-2</c:v>
                </c:pt>
                <c:pt idx="3">
                  <c:v>5.9500325887083094E-2</c:v>
                </c:pt>
                <c:pt idx="4">
                  <c:v>6.0000000000000005E-2</c:v>
                </c:pt>
                <c:pt idx="5">
                  <c:v>6.074951116937536E-2</c:v>
                </c:pt>
                <c:pt idx="6">
                  <c:v>6.074951116937536E-2</c:v>
                </c:pt>
                <c:pt idx="7">
                  <c:v>5.9750162943541546E-2</c:v>
                </c:pt>
                <c:pt idx="8">
                  <c:v>5.8750814717707739E-2</c:v>
                </c:pt>
                <c:pt idx="9">
                  <c:v>5.8500977661249287E-2</c:v>
                </c:pt>
                <c:pt idx="10">
                  <c:v>5.9250488830624642E-2</c:v>
                </c:pt>
              </c:numCache>
            </c:numRef>
          </c:val>
          <c:smooth val="1"/>
          <c:extLst>
            <c:ext xmlns:c16="http://schemas.microsoft.com/office/drawing/2014/chart" uri="{C3380CC4-5D6E-409C-BE32-E72D297353CC}">
              <c16:uniqueId val="{00000009-D299-4B53-A6F6-A44322BE864B}"/>
            </c:ext>
          </c:extLst>
        </c:ser>
        <c:ser>
          <c:idx val="10"/>
          <c:order val="10"/>
          <c:tx>
            <c:strRef>
              <c:f>Sheet1!$L$1</c:f>
              <c:strCache>
                <c:ptCount val="1"/>
                <c:pt idx="0">
                  <c:v>Segment 11</c:v>
                </c:pt>
              </c:strCache>
            </c:strRef>
          </c:tx>
          <c:spPr>
            <a:ln w="28575" cap="rnd">
              <a:solidFill>
                <a:schemeClr val="accent5">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Sheet1!$L$2:$L$12</c:f>
              <c:numCache>
                <c:formatCode>0.0%</c:formatCode>
                <c:ptCount val="11"/>
                <c:pt idx="0">
                  <c:v>5.4543972999083631E-2</c:v>
                </c:pt>
                <c:pt idx="1">
                  <c:v>5.5553744776657768E-2</c:v>
                </c:pt>
                <c:pt idx="2">
                  <c:v>5.6563516554231912E-2</c:v>
                </c:pt>
                <c:pt idx="3">
                  <c:v>5.706840244301898E-2</c:v>
                </c:pt>
                <c:pt idx="4">
                  <c:v>5.8583060109380192E-2</c:v>
                </c:pt>
                <c:pt idx="5">
                  <c:v>5.9592831886954335E-2</c:v>
                </c:pt>
                <c:pt idx="6">
                  <c:v>6.110748955331554E-2</c:v>
                </c:pt>
                <c:pt idx="7">
                  <c:v>6.1612375442102602E-2</c:v>
                </c:pt>
                <c:pt idx="8">
                  <c:v>6.2622147219676738E-2</c:v>
                </c:pt>
                <c:pt idx="9">
                  <c:v>6.3631918997250889E-2</c:v>
                </c:pt>
                <c:pt idx="10">
                  <c:v>6.4641690774825025E-2</c:v>
                </c:pt>
              </c:numCache>
            </c:numRef>
          </c:val>
          <c:smooth val="1"/>
          <c:extLst>
            <c:ext xmlns:c16="http://schemas.microsoft.com/office/drawing/2014/chart" uri="{C3380CC4-5D6E-409C-BE32-E72D297353CC}">
              <c16:uniqueId val="{0000000A-D299-4B53-A6F6-A44322BE864B}"/>
            </c:ext>
          </c:extLst>
        </c:ser>
        <c:ser>
          <c:idx val="11"/>
          <c:order val="11"/>
          <c:tx>
            <c:strRef>
              <c:f>Sheet1!$M$1</c:f>
              <c:strCache>
                <c:ptCount val="1"/>
                <c:pt idx="0">
                  <c:v>Segment 12</c:v>
                </c:pt>
              </c:strCache>
            </c:strRef>
          </c:tx>
          <c:spPr>
            <a:ln w="28575" cap="rnd">
              <a:solidFill>
                <a:schemeClr val="accent6">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Sheet1!$M$2:$M$12</c:f>
              <c:numCache>
                <c:formatCode>0.0%</c:formatCode>
                <c:ptCount val="11"/>
                <c:pt idx="0">
                  <c:v>6.1185047424354426E-2</c:v>
                </c:pt>
                <c:pt idx="1">
                  <c:v>6.2215657576482793E-2</c:v>
                </c:pt>
                <c:pt idx="2">
                  <c:v>6.3204322608910277E-2</c:v>
                </c:pt>
                <c:pt idx="3">
                  <c:v>6.4230895388622394E-2</c:v>
                </c:pt>
                <c:pt idx="4">
                  <c:v>6.5257468168334554E-2</c:v>
                </c:pt>
                <c:pt idx="5">
                  <c:v>7.1937864292673542E-2</c:v>
                </c:pt>
                <c:pt idx="6">
                  <c:v>7.306162280138255E-2</c:v>
                </c:pt>
                <c:pt idx="7">
                  <c:v>7.4185381310091544E-2</c:v>
                </c:pt>
                <c:pt idx="8">
                  <c:v>7.3988724749526127E-2</c:v>
                </c:pt>
                <c:pt idx="9">
                  <c:v>7.3264434409645862E-2</c:v>
                </c:pt>
                <c:pt idx="10">
                  <c:v>7.2860603058929149E-2</c:v>
                </c:pt>
              </c:numCache>
            </c:numRef>
          </c:val>
          <c:smooth val="1"/>
          <c:extLst>
            <c:ext xmlns:c16="http://schemas.microsoft.com/office/drawing/2014/chart" uri="{C3380CC4-5D6E-409C-BE32-E72D297353CC}">
              <c16:uniqueId val="{0000000B-D299-4B53-A6F6-A44322BE864B}"/>
            </c:ext>
          </c:extLst>
        </c:ser>
        <c:dLbls>
          <c:showLegendKey val="0"/>
          <c:showVal val="0"/>
          <c:showCatName val="0"/>
          <c:showSerName val="0"/>
          <c:showPercent val="0"/>
          <c:showBubbleSize val="0"/>
        </c:dLbls>
        <c:smooth val="0"/>
        <c:axId val="116068160"/>
        <c:axId val="116074144"/>
      </c:lineChart>
      <c:catAx>
        <c:axId val="116068160"/>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6074144"/>
        <c:crossesAt val="-3.5000000000000003E-2"/>
        <c:auto val="1"/>
        <c:lblAlgn val="ctr"/>
        <c:lblOffset val="100"/>
        <c:noMultiLvlLbl val="0"/>
      </c:catAx>
      <c:valAx>
        <c:axId val="116074144"/>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16068160"/>
        <c:crosses val="autoZero"/>
        <c:crossBetween val="between"/>
      </c:valAx>
      <c:spPr>
        <a:noFill/>
        <a:ln w="25400">
          <a:noFill/>
        </a:ln>
        <a:effectLst/>
      </c:spPr>
    </c:plotArea>
    <c:legend>
      <c:legendPos val="b"/>
      <c:layout>
        <c:manualLayout>
          <c:xMode val="edge"/>
          <c:yMode val="edge"/>
          <c:x val="0"/>
          <c:y val="0.81733067057011788"/>
          <c:w val="1"/>
          <c:h val="0.1826693294298820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12700">
      <a:noFill/>
    </a:ln>
    <a:effectLst/>
  </c:spPr>
  <c:txPr>
    <a:bodyPr/>
    <a:lstStyle/>
    <a:p>
      <a:pPr>
        <a:defRPr sz="1100">
          <a:solidFill>
            <a:schemeClr val="tx1"/>
          </a:solidFill>
        </a:defRPr>
      </a:pPr>
      <a:endParaRPr lang="en-US"/>
    </a:p>
  </c:txPr>
  <c:externalData r:id="rId3">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116058912"/>
        <c:axId val="116059456"/>
      </c:barChart>
      <c:catAx>
        <c:axId val="1160589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6059456"/>
        <c:crosses val="autoZero"/>
        <c:auto val="1"/>
        <c:lblAlgn val="ctr"/>
        <c:lblOffset val="100"/>
        <c:noMultiLvlLbl val="0"/>
      </c:catAx>
      <c:valAx>
        <c:axId val="116059456"/>
        <c:scaling>
          <c:orientation val="minMax"/>
        </c:scaling>
        <c:delete val="1"/>
        <c:axPos val="l"/>
        <c:numFmt formatCode="#,##0.0" sourceLinked="1"/>
        <c:majorTickMark val="none"/>
        <c:minorTickMark val="none"/>
        <c:tickLblPos val="nextTo"/>
        <c:crossAx val="116058912"/>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116062176"/>
        <c:axId val="116060000"/>
      </c:barChart>
      <c:catAx>
        <c:axId val="1160621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6060000"/>
        <c:crosses val="autoZero"/>
        <c:auto val="1"/>
        <c:lblAlgn val="ctr"/>
        <c:lblOffset val="100"/>
        <c:noMultiLvlLbl val="0"/>
      </c:catAx>
      <c:valAx>
        <c:axId val="116060000"/>
        <c:scaling>
          <c:orientation val="minMax"/>
        </c:scaling>
        <c:delete val="1"/>
        <c:axPos val="l"/>
        <c:numFmt formatCode="#,##0.0" sourceLinked="1"/>
        <c:majorTickMark val="none"/>
        <c:minorTickMark val="none"/>
        <c:tickLblPos val="nextTo"/>
        <c:crossAx val="11606217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116062720"/>
        <c:axId val="112901856"/>
      </c:barChart>
      <c:catAx>
        <c:axId val="1160627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2901856"/>
        <c:crosses val="autoZero"/>
        <c:auto val="1"/>
        <c:lblAlgn val="ctr"/>
        <c:lblOffset val="100"/>
        <c:noMultiLvlLbl val="0"/>
      </c:catAx>
      <c:valAx>
        <c:axId val="112901856"/>
        <c:scaling>
          <c:orientation val="minMax"/>
        </c:scaling>
        <c:delete val="1"/>
        <c:axPos val="l"/>
        <c:numFmt formatCode="#,##0.0" sourceLinked="1"/>
        <c:majorTickMark val="none"/>
        <c:minorTickMark val="none"/>
        <c:tickLblPos val="nextTo"/>
        <c:crossAx val="116062720"/>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112904032"/>
        <c:axId val="112898592"/>
      </c:barChart>
      <c:catAx>
        <c:axId val="1129040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2898592"/>
        <c:crosses val="autoZero"/>
        <c:auto val="1"/>
        <c:lblAlgn val="ctr"/>
        <c:lblOffset val="100"/>
        <c:noMultiLvlLbl val="0"/>
      </c:catAx>
      <c:valAx>
        <c:axId val="112898592"/>
        <c:scaling>
          <c:orientation val="minMax"/>
        </c:scaling>
        <c:delete val="1"/>
        <c:axPos val="l"/>
        <c:numFmt formatCode="#,##0.0" sourceLinked="1"/>
        <c:majorTickMark val="none"/>
        <c:minorTickMark val="none"/>
        <c:tickLblPos val="nextTo"/>
        <c:crossAx val="112904032"/>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112902400"/>
        <c:axId val="112897504"/>
      </c:barChart>
      <c:catAx>
        <c:axId val="112902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2897504"/>
        <c:crosses val="autoZero"/>
        <c:auto val="1"/>
        <c:lblAlgn val="ctr"/>
        <c:lblOffset val="100"/>
        <c:noMultiLvlLbl val="0"/>
      </c:catAx>
      <c:valAx>
        <c:axId val="112897504"/>
        <c:scaling>
          <c:orientation val="minMax"/>
        </c:scaling>
        <c:delete val="1"/>
        <c:axPos val="l"/>
        <c:numFmt formatCode="#,##0.0" sourceLinked="1"/>
        <c:majorTickMark val="none"/>
        <c:minorTickMark val="none"/>
        <c:tickLblPos val="nextTo"/>
        <c:crossAx val="112902400"/>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112905120"/>
        <c:axId val="112894784"/>
      </c:barChart>
      <c:catAx>
        <c:axId val="1129051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2894784"/>
        <c:crosses val="autoZero"/>
        <c:auto val="1"/>
        <c:lblAlgn val="ctr"/>
        <c:lblOffset val="100"/>
        <c:noMultiLvlLbl val="0"/>
      </c:catAx>
      <c:valAx>
        <c:axId val="112894784"/>
        <c:scaling>
          <c:orientation val="minMax"/>
        </c:scaling>
        <c:delete val="1"/>
        <c:axPos val="l"/>
        <c:numFmt formatCode="#,##0.0" sourceLinked="1"/>
        <c:majorTickMark val="none"/>
        <c:minorTickMark val="none"/>
        <c:tickLblPos val="nextTo"/>
        <c:crossAx val="112905120"/>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112905664"/>
        <c:axId val="112906208"/>
      </c:barChart>
      <c:catAx>
        <c:axId val="112905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2906208"/>
        <c:crosses val="autoZero"/>
        <c:auto val="1"/>
        <c:lblAlgn val="ctr"/>
        <c:lblOffset val="100"/>
        <c:noMultiLvlLbl val="0"/>
      </c:catAx>
      <c:valAx>
        <c:axId val="112906208"/>
        <c:scaling>
          <c:orientation val="minMax"/>
        </c:scaling>
        <c:delete val="1"/>
        <c:axPos val="l"/>
        <c:numFmt formatCode="#,##0.0" sourceLinked="1"/>
        <c:majorTickMark val="none"/>
        <c:minorTickMark val="none"/>
        <c:tickLblPos val="nextTo"/>
        <c:crossAx val="112905664"/>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112895328"/>
        <c:axId val="112893152"/>
      </c:barChart>
      <c:catAx>
        <c:axId val="1128953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2893152"/>
        <c:crosses val="autoZero"/>
        <c:auto val="1"/>
        <c:lblAlgn val="ctr"/>
        <c:lblOffset val="100"/>
        <c:noMultiLvlLbl val="0"/>
      </c:catAx>
      <c:valAx>
        <c:axId val="112893152"/>
        <c:scaling>
          <c:orientation val="minMax"/>
        </c:scaling>
        <c:delete val="1"/>
        <c:axPos val="l"/>
        <c:numFmt formatCode="#,##0.0" sourceLinked="1"/>
        <c:majorTickMark val="none"/>
        <c:minorTickMark val="none"/>
        <c:tickLblPos val="nextTo"/>
        <c:crossAx val="112895328"/>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586017868029705E-2"/>
          <c:y val="5.6718815469420834E-2"/>
          <c:w val="0.92649309691078063"/>
          <c:h val="0.72664225195762067"/>
        </c:manualLayout>
      </c:layout>
      <c:barChart>
        <c:barDir val="col"/>
        <c:grouping val="percentStacked"/>
        <c:varyColors val="0"/>
        <c:ser>
          <c:idx val="0"/>
          <c:order val="0"/>
          <c:tx>
            <c:strRef>
              <c:f>Sheet1!$B$1</c:f>
              <c:strCache>
                <c:ptCount val="1"/>
                <c:pt idx="0">
                  <c:v>North America</c:v>
                </c:pt>
              </c:strCache>
            </c:strRef>
          </c:tx>
          <c:spPr>
            <a:solidFill>
              <a:schemeClr val="accent1"/>
            </a:solidFill>
            <a:ln>
              <a:noFill/>
            </a:ln>
            <a:effectLst/>
          </c:spPr>
          <c:invertIfNegative val="0"/>
          <c:cat>
            <c:strRef>
              <c:f>Sheet1!$A$2:$A$3</c:f>
              <c:strCache>
                <c:ptCount val="2"/>
                <c:pt idx="0">
                  <c:v>2024E</c:v>
                </c:pt>
                <c:pt idx="1">
                  <c:v>2034F</c:v>
                </c:pt>
              </c:strCache>
            </c:strRef>
          </c:cat>
          <c:val>
            <c:numRef>
              <c:f>Sheet1!$B$2:$B$3</c:f>
              <c:numCache>
                <c:formatCode>0.0%</c:formatCode>
                <c:ptCount val="2"/>
                <c:pt idx="0">
                  <c:v>0.18</c:v>
                </c:pt>
                <c:pt idx="1">
                  <c:v>0.18</c:v>
                </c:pt>
              </c:numCache>
            </c:numRef>
          </c:val>
          <c:extLst>
            <c:ext xmlns:c16="http://schemas.microsoft.com/office/drawing/2014/chart" uri="{C3380CC4-5D6E-409C-BE32-E72D297353CC}">
              <c16:uniqueId val="{00000000-84A6-457C-9936-9F9AF7D5DE71}"/>
            </c:ext>
          </c:extLst>
        </c:ser>
        <c:ser>
          <c:idx val="1"/>
          <c:order val="1"/>
          <c:tx>
            <c:strRef>
              <c:f>Sheet1!$C$1</c:f>
              <c:strCache>
                <c:ptCount val="1"/>
                <c:pt idx="0">
                  <c:v>Latin America</c:v>
                </c:pt>
              </c:strCache>
            </c:strRef>
          </c:tx>
          <c:spPr>
            <a:solidFill>
              <a:schemeClr val="accent2"/>
            </a:solidFill>
            <a:ln>
              <a:noFill/>
            </a:ln>
            <a:effectLst/>
          </c:spPr>
          <c:invertIfNegative val="0"/>
          <c:cat>
            <c:strRef>
              <c:f>Sheet1!$A$2:$A$3</c:f>
              <c:strCache>
                <c:ptCount val="2"/>
                <c:pt idx="0">
                  <c:v>2024E</c:v>
                </c:pt>
                <c:pt idx="1">
                  <c:v>2034F</c:v>
                </c:pt>
              </c:strCache>
            </c:strRef>
          </c:cat>
          <c:val>
            <c:numRef>
              <c:f>Sheet1!$C$2:$C$3</c:f>
              <c:numCache>
                <c:formatCode>0.0%</c:formatCode>
                <c:ptCount val="2"/>
                <c:pt idx="0">
                  <c:v>0.06</c:v>
                </c:pt>
                <c:pt idx="1">
                  <c:v>0.06</c:v>
                </c:pt>
              </c:numCache>
            </c:numRef>
          </c:val>
          <c:extLst>
            <c:ext xmlns:c16="http://schemas.microsoft.com/office/drawing/2014/chart" uri="{C3380CC4-5D6E-409C-BE32-E72D297353CC}">
              <c16:uniqueId val="{00000001-84A6-457C-9936-9F9AF7D5DE71}"/>
            </c:ext>
          </c:extLst>
        </c:ser>
        <c:ser>
          <c:idx val="2"/>
          <c:order val="2"/>
          <c:tx>
            <c:strRef>
              <c:f>Sheet1!$D$1</c:f>
              <c:strCache>
                <c:ptCount val="1"/>
                <c:pt idx="0">
                  <c:v>Western Europe</c:v>
                </c:pt>
              </c:strCache>
            </c:strRef>
          </c:tx>
          <c:spPr>
            <a:solidFill>
              <a:schemeClr val="accent3"/>
            </a:solidFill>
            <a:ln>
              <a:noFill/>
            </a:ln>
            <a:effectLst/>
          </c:spPr>
          <c:invertIfNegative val="0"/>
          <c:cat>
            <c:strRef>
              <c:f>Sheet1!$A$2:$A$3</c:f>
              <c:strCache>
                <c:ptCount val="2"/>
                <c:pt idx="0">
                  <c:v>2024E</c:v>
                </c:pt>
                <c:pt idx="1">
                  <c:v>2034F</c:v>
                </c:pt>
              </c:strCache>
            </c:strRef>
          </c:cat>
          <c:val>
            <c:numRef>
              <c:f>Sheet1!$D$2:$D$3</c:f>
              <c:numCache>
                <c:formatCode>0.0%</c:formatCode>
                <c:ptCount val="2"/>
                <c:pt idx="0">
                  <c:v>0.13</c:v>
                </c:pt>
                <c:pt idx="1">
                  <c:v>0.13</c:v>
                </c:pt>
              </c:numCache>
            </c:numRef>
          </c:val>
          <c:extLst>
            <c:ext xmlns:c16="http://schemas.microsoft.com/office/drawing/2014/chart" uri="{C3380CC4-5D6E-409C-BE32-E72D297353CC}">
              <c16:uniqueId val="{00000002-84A6-457C-9936-9F9AF7D5DE71}"/>
            </c:ext>
          </c:extLst>
        </c:ser>
        <c:ser>
          <c:idx val="3"/>
          <c:order val="3"/>
          <c:tx>
            <c:strRef>
              <c:f>Sheet1!$E$1</c:f>
              <c:strCache>
                <c:ptCount val="1"/>
                <c:pt idx="0">
                  <c:v>Eastern Europe</c:v>
                </c:pt>
              </c:strCache>
            </c:strRef>
          </c:tx>
          <c:spPr>
            <a:solidFill>
              <a:schemeClr val="accent4"/>
            </a:solidFill>
            <a:ln>
              <a:noFill/>
            </a:ln>
            <a:effectLst/>
          </c:spPr>
          <c:invertIfNegative val="0"/>
          <c:cat>
            <c:strRef>
              <c:f>Sheet1!$A$2:$A$3</c:f>
              <c:strCache>
                <c:ptCount val="2"/>
                <c:pt idx="0">
                  <c:v>2024E</c:v>
                </c:pt>
                <c:pt idx="1">
                  <c:v>2034F</c:v>
                </c:pt>
              </c:strCache>
            </c:strRef>
          </c:cat>
          <c:val>
            <c:numRef>
              <c:f>Sheet1!$E$2:$E$3</c:f>
              <c:numCache>
                <c:formatCode>0.0%</c:formatCode>
                <c:ptCount val="2"/>
                <c:pt idx="0">
                  <c:v>2.1999999999999999E-2</c:v>
                </c:pt>
                <c:pt idx="1">
                  <c:v>2.1999999999999999E-2</c:v>
                </c:pt>
              </c:numCache>
            </c:numRef>
          </c:val>
          <c:extLst>
            <c:ext xmlns:c16="http://schemas.microsoft.com/office/drawing/2014/chart" uri="{C3380CC4-5D6E-409C-BE32-E72D297353CC}">
              <c16:uniqueId val="{00000003-84A6-457C-9936-9F9AF7D5DE71}"/>
            </c:ext>
          </c:extLst>
        </c:ser>
        <c:ser>
          <c:idx val="4"/>
          <c:order val="4"/>
          <c:tx>
            <c:strRef>
              <c:f>Sheet1!$F$1</c:f>
              <c:strCache>
                <c:ptCount val="1"/>
                <c:pt idx="0">
                  <c:v>East Asia</c:v>
                </c:pt>
              </c:strCache>
            </c:strRef>
          </c:tx>
          <c:spPr>
            <a:solidFill>
              <a:schemeClr val="accent5"/>
            </a:solidFill>
            <a:ln>
              <a:noFill/>
            </a:ln>
            <a:effectLst/>
          </c:spPr>
          <c:invertIfNegative val="0"/>
          <c:cat>
            <c:strRef>
              <c:f>Sheet1!$A$2:$A$3</c:f>
              <c:strCache>
                <c:ptCount val="2"/>
                <c:pt idx="0">
                  <c:v>2024E</c:v>
                </c:pt>
                <c:pt idx="1">
                  <c:v>2034F</c:v>
                </c:pt>
              </c:strCache>
            </c:strRef>
          </c:cat>
          <c:val>
            <c:numRef>
              <c:f>Sheet1!$F$2:$F$3</c:f>
              <c:numCache>
                <c:formatCode>0.0%</c:formatCode>
                <c:ptCount val="2"/>
                <c:pt idx="0">
                  <c:v>0.32400000000000001</c:v>
                </c:pt>
                <c:pt idx="1">
                  <c:v>0.32400000000000001</c:v>
                </c:pt>
              </c:numCache>
            </c:numRef>
          </c:val>
          <c:extLst>
            <c:ext xmlns:c16="http://schemas.microsoft.com/office/drawing/2014/chart" uri="{C3380CC4-5D6E-409C-BE32-E72D297353CC}">
              <c16:uniqueId val="{00000004-84A6-457C-9936-9F9AF7D5DE71}"/>
            </c:ext>
          </c:extLst>
        </c:ser>
        <c:ser>
          <c:idx val="5"/>
          <c:order val="5"/>
          <c:tx>
            <c:strRef>
              <c:f>Sheet1!$G$1</c:f>
              <c:strCache>
                <c:ptCount val="1"/>
                <c:pt idx="0">
                  <c:v>South Asia Pacific</c:v>
                </c:pt>
              </c:strCache>
            </c:strRef>
          </c:tx>
          <c:spPr>
            <a:solidFill>
              <a:schemeClr val="accent6"/>
            </a:solidFill>
            <a:ln>
              <a:noFill/>
            </a:ln>
            <a:effectLst/>
          </c:spPr>
          <c:invertIfNegative val="0"/>
          <c:cat>
            <c:strRef>
              <c:f>Sheet1!$A$2:$A$3</c:f>
              <c:strCache>
                <c:ptCount val="2"/>
                <c:pt idx="0">
                  <c:v>2024E</c:v>
                </c:pt>
                <c:pt idx="1">
                  <c:v>2034F</c:v>
                </c:pt>
              </c:strCache>
            </c:strRef>
          </c:cat>
          <c:val>
            <c:numRef>
              <c:f>Sheet1!$G$2:$G$3</c:f>
              <c:numCache>
                <c:formatCode>0.0%</c:formatCode>
                <c:ptCount val="2"/>
                <c:pt idx="0">
                  <c:v>0.13900000000000001</c:v>
                </c:pt>
                <c:pt idx="1">
                  <c:v>0.13900000000000001</c:v>
                </c:pt>
              </c:numCache>
            </c:numRef>
          </c:val>
          <c:extLst>
            <c:ext xmlns:c16="http://schemas.microsoft.com/office/drawing/2014/chart" uri="{C3380CC4-5D6E-409C-BE32-E72D297353CC}">
              <c16:uniqueId val="{00000005-84A6-457C-9936-9F9AF7D5DE71}"/>
            </c:ext>
          </c:extLst>
        </c:ser>
        <c:ser>
          <c:idx val="6"/>
          <c:order val="6"/>
          <c:tx>
            <c:strRef>
              <c:f>Sheet1!$H$1</c:f>
              <c:strCache>
                <c:ptCount val="1"/>
                <c:pt idx="0">
                  <c:v>Middle East &amp; Africa</c:v>
                </c:pt>
              </c:strCache>
            </c:strRef>
          </c:tx>
          <c:spPr>
            <a:solidFill>
              <a:schemeClr val="accent1">
                <a:lumMod val="60000"/>
              </a:schemeClr>
            </a:solidFill>
            <a:ln>
              <a:noFill/>
            </a:ln>
            <a:effectLst/>
          </c:spPr>
          <c:invertIfNegative val="0"/>
          <c:cat>
            <c:strRef>
              <c:f>Sheet1!$A$2:$A$3</c:f>
              <c:strCache>
                <c:ptCount val="2"/>
                <c:pt idx="0">
                  <c:v>2024E</c:v>
                </c:pt>
                <c:pt idx="1">
                  <c:v>2034F</c:v>
                </c:pt>
              </c:strCache>
            </c:strRef>
          </c:cat>
          <c:val>
            <c:numRef>
              <c:f>Sheet1!$H$2:$H$3</c:f>
              <c:numCache>
                <c:formatCode>0.0%</c:formatCode>
                <c:ptCount val="2"/>
                <c:pt idx="0">
                  <c:v>7.0000000000000007E-2</c:v>
                </c:pt>
                <c:pt idx="1">
                  <c:v>7.0000000000000007E-2</c:v>
                </c:pt>
              </c:numCache>
            </c:numRef>
          </c:val>
          <c:extLst>
            <c:ext xmlns:c16="http://schemas.microsoft.com/office/drawing/2014/chart" uri="{C3380CC4-5D6E-409C-BE32-E72D297353CC}">
              <c16:uniqueId val="{00000006-84A6-457C-9936-9F9AF7D5DE71}"/>
            </c:ext>
          </c:extLst>
        </c:ser>
        <c:dLbls>
          <c:showLegendKey val="0"/>
          <c:showVal val="0"/>
          <c:showCatName val="0"/>
          <c:showSerName val="0"/>
          <c:showPercent val="0"/>
          <c:showBubbleSize val="0"/>
        </c:dLbls>
        <c:gapWidth val="50"/>
        <c:overlap val="100"/>
        <c:axId val="112902944"/>
        <c:axId val="112907296"/>
      </c:barChart>
      <c:catAx>
        <c:axId val="1129029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12907296"/>
        <c:crosses val="autoZero"/>
        <c:auto val="1"/>
        <c:lblAlgn val="ctr"/>
        <c:lblOffset val="100"/>
        <c:noMultiLvlLbl val="0"/>
      </c:catAx>
      <c:valAx>
        <c:axId val="112907296"/>
        <c:scaling>
          <c:orientation val="minMax"/>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112902944"/>
        <c:crosses val="autoZero"/>
        <c:crossBetween val="between"/>
      </c:valAx>
      <c:spPr>
        <a:noFill/>
        <a:ln>
          <a:noFill/>
        </a:ln>
        <a:effectLst/>
      </c:spPr>
    </c:plotArea>
    <c:legend>
      <c:legendPos val="b"/>
      <c:layout>
        <c:manualLayout>
          <c:xMode val="edge"/>
          <c:yMode val="edge"/>
          <c:x val="0"/>
          <c:y val="0.83692483498304948"/>
          <c:w val="1"/>
          <c:h val="0.16307516501695063"/>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193926521544815"/>
          <c:y val="3.2403000316204716E-2"/>
          <c:w val="0.7016005889076895"/>
          <c:h val="0.82090372344009988"/>
        </c:manualLayout>
      </c:layout>
      <c:bubbleChart>
        <c:varyColors val="1"/>
        <c:ser>
          <c:idx val="0"/>
          <c:order val="0"/>
          <c:tx>
            <c:strRef>
              <c:f>Sheet1!$C$1</c:f>
              <c:strCache>
                <c:ptCount val="1"/>
                <c:pt idx="0">
                  <c:v>Y-Values</c:v>
                </c:pt>
              </c:strCache>
            </c:strRef>
          </c:tx>
          <c:invertIfNegative val="0"/>
          <c:dPt>
            <c:idx val="0"/>
            <c:invertIfNegative val="0"/>
            <c:bubble3D val="0"/>
            <c:spPr>
              <a:solidFill>
                <a:schemeClr val="accent1">
                  <a:alpha val="75000"/>
                </a:schemeClr>
              </a:solidFill>
              <a:ln>
                <a:noFill/>
              </a:ln>
              <a:effectLst/>
            </c:spPr>
            <c:extLst>
              <c:ext xmlns:c16="http://schemas.microsoft.com/office/drawing/2014/chart" uri="{C3380CC4-5D6E-409C-BE32-E72D297353CC}">
                <c16:uniqueId val="{00000001-5976-4265-ADA7-7397481C3D60}"/>
              </c:ext>
            </c:extLst>
          </c:dPt>
          <c:dPt>
            <c:idx val="1"/>
            <c:invertIfNegative val="0"/>
            <c:bubble3D val="0"/>
            <c:spPr>
              <a:solidFill>
                <a:schemeClr val="accent2">
                  <a:alpha val="75000"/>
                </a:schemeClr>
              </a:solidFill>
              <a:ln>
                <a:noFill/>
              </a:ln>
              <a:effectLst/>
            </c:spPr>
            <c:extLst>
              <c:ext xmlns:c16="http://schemas.microsoft.com/office/drawing/2014/chart" uri="{C3380CC4-5D6E-409C-BE32-E72D297353CC}">
                <c16:uniqueId val="{00000003-5976-4265-ADA7-7397481C3D60}"/>
              </c:ext>
            </c:extLst>
          </c:dPt>
          <c:dPt>
            <c:idx val="2"/>
            <c:invertIfNegative val="0"/>
            <c:bubble3D val="0"/>
            <c:spPr>
              <a:solidFill>
                <a:schemeClr val="accent3">
                  <a:alpha val="75000"/>
                </a:schemeClr>
              </a:solidFill>
              <a:ln>
                <a:noFill/>
              </a:ln>
              <a:effectLst/>
            </c:spPr>
            <c:extLst>
              <c:ext xmlns:c16="http://schemas.microsoft.com/office/drawing/2014/chart" uri="{C3380CC4-5D6E-409C-BE32-E72D297353CC}">
                <c16:uniqueId val="{00000005-5976-4265-ADA7-7397481C3D60}"/>
              </c:ext>
            </c:extLst>
          </c:dPt>
          <c:dPt>
            <c:idx val="3"/>
            <c:invertIfNegative val="0"/>
            <c:bubble3D val="0"/>
            <c:spPr>
              <a:solidFill>
                <a:schemeClr val="accent4">
                  <a:alpha val="75000"/>
                </a:schemeClr>
              </a:solidFill>
              <a:ln>
                <a:noFill/>
              </a:ln>
              <a:effectLst/>
            </c:spPr>
            <c:extLst>
              <c:ext xmlns:c16="http://schemas.microsoft.com/office/drawing/2014/chart" uri="{C3380CC4-5D6E-409C-BE32-E72D297353CC}">
                <c16:uniqueId val="{00000007-5976-4265-ADA7-7397481C3D60}"/>
              </c:ext>
            </c:extLst>
          </c:dPt>
          <c:dPt>
            <c:idx val="4"/>
            <c:invertIfNegative val="0"/>
            <c:bubble3D val="0"/>
            <c:spPr>
              <a:solidFill>
                <a:schemeClr val="accent5">
                  <a:alpha val="75000"/>
                </a:schemeClr>
              </a:solidFill>
              <a:ln>
                <a:noFill/>
              </a:ln>
              <a:effectLst/>
            </c:spPr>
            <c:extLst>
              <c:ext xmlns:c16="http://schemas.microsoft.com/office/drawing/2014/chart" uri="{C3380CC4-5D6E-409C-BE32-E72D297353CC}">
                <c16:uniqueId val="{00000009-5976-4265-ADA7-7397481C3D60}"/>
              </c:ext>
            </c:extLst>
          </c:dPt>
          <c:dPt>
            <c:idx val="5"/>
            <c:invertIfNegative val="0"/>
            <c:bubble3D val="0"/>
            <c:spPr>
              <a:solidFill>
                <a:schemeClr val="accent6">
                  <a:alpha val="75000"/>
                </a:schemeClr>
              </a:solidFill>
              <a:ln>
                <a:noFill/>
              </a:ln>
              <a:effectLst/>
            </c:spPr>
            <c:extLst>
              <c:ext xmlns:c16="http://schemas.microsoft.com/office/drawing/2014/chart" uri="{C3380CC4-5D6E-409C-BE32-E72D297353CC}">
                <c16:uniqueId val="{0000000B-5976-4265-ADA7-7397481C3D60}"/>
              </c:ext>
            </c:extLst>
          </c:dPt>
          <c:dPt>
            <c:idx val="6"/>
            <c:invertIfNegative val="0"/>
            <c:bubble3D val="0"/>
            <c:spPr>
              <a:solidFill>
                <a:schemeClr val="accent1">
                  <a:lumMod val="60000"/>
                  <a:alpha val="75000"/>
                </a:schemeClr>
              </a:solidFill>
              <a:ln>
                <a:noFill/>
              </a:ln>
              <a:effectLst/>
            </c:spPr>
            <c:extLst>
              <c:ext xmlns:c16="http://schemas.microsoft.com/office/drawing/2014/chart" uri="{C3380CC4-5D6E-409C-BE32-E72D297353CC}">
                <c16:uniqueId val="{0000000D-5976-4265-ADA7-7397481C3D60}"/>
              </c:ext>
            </c:extLst>
          </c:dPt>
          <c:xVal>
            <c:numRef>
              <c:f>Sheet1!$B$2:$B$8</c:f>
              <c:numCache>
                <c:formatCode>_(* #,##0.0_);_(* \(#,##0.0\);_(* "-"??_);_(@_)</c:formatCode>
                <c:ptCount val="7"/>
                <c:pt idx="0">
                  <c:v>1.2484641180451868</c:v>
                </c:pt>
                <c:pt idx="1">
                  <c:v>1.171505207157916</c:v>
                </c:pt>
                <c:pt idx="2">
                  <c:v>1.0385803668462259</c:v>
                </c:pt>
                <c:pt idx="3">
                  <c:v>0.8540767341237564</c:v>
                </c:pt>
                <c:pt idx="4">
                  <c:v>0.94499279054581786</c:v>
                </c:pt>
                <c:pt idx="5">
                  <c:v>0.16838961553365628</c:v>
                </c:pt>
                <c:pt idx="6">
                  <c:v>0.31802237668117916</c:v>
                </c:pt>
              </c:numCache>
            </c:numRef>
          </c:xVal>
          <c:yVal>
            <c:numRef>
              <c:f>Sheet1!$C$2:$C$8</c:f>
              <c:numCache>
                <c:formatCode>_(* #,##0.0_);_(* \(#,##0.0\);_(* "-"??_);_(@_)</c:formatCode>
                <c:ptCount val="7"/>
                <c:pt idx="0">
                  <c:v>3.671570117770909</c:v>
                </c:pt>
                <c:pt idx="1">
                  <c:v>2.9587134526586683</c:v>
                </c:pt>
                <c:pt idx="2">
                  <c:v>1.1164555835041849</c:v>
                </c:pt>
                <c:pt idx="3">
                  <c:v>0.48692863262276331</c:v>
                </c:pt>
                <c:pt idx="4">
                  <c:v>0.45016276201520544</c:v>
                </c:pt>
                <c:pt idx="5">
                  <c:v>0.48725009037073713</c:v>
                </c:pt>
                <c:pt idx="6">
                  <c:v>0.39217690200571492</c:v>
                </c:pt>
              </c:numCache>
            </c:numRef>
          </c:yVal>
          <c:bubbleSize>
            <c:numRef>
              <c:f>Sheet1!$D$2:$D$8</c:f>
              <c:numCache>
                <c:formatCode>_(* #,##0.0_);_(* \(#,##0.0\);_(* "-"??_);_(@_)</c:formatCode>
                <c:ptCount val="7"/>
                <c:pt idx="0">
                  <c:v>4.3273698868360606</c:v>
                </c:pt>
                <c:pt idx="1">
                  <c:v>3.2149946963903226</c:v>
                </c:pt>
                <c:pt idx="2">
                  <c:v>1.0433263518646889</c:v>
                </c:pt>
                <c:pt idx="3">
                  <c:v>0.35881944851425052</c:v>
                </c:pt>
                <c:pt idx="4">
                  <c:v>0.37469598908583379</c:v>
                </c:pt>
                <c:pt idx="5">
                  <c:v>6.070771198932471E-2</c:v>
                </c:pt>
                <c:pt idx="6">
                  <c:v>9.5397833126079828E-2</c:v>
                </c:pt>
              </c:numCache>
            </c:numRef>
          </c:bubbleSize>
          <c:bubble3D val="0"/>
          <c:extLst>
            <c:ext xmlns:c16="http://schemas.microsoft.com/office/drawing/2014/chart" uri="{C3380CC4-5D6E-409C-BE32-E72D297353CC}">
              <c16:uniqueId val="{0000000E-5976-4265-ADA7-7397481C3D60}"/>
            </c:ext>
          </c:extLst>
        </c:ser>
        <c:dLbls>
          <c:showLegendKey val="0"/>
          <c:showVal val="0"/>
          <c:showCatName val="0"/>
          <c:showSerName val="0"/>
          <c:showPercent val="0"/>
          <c:showBubbleSize val="0"/>
        </c:dLbls>
        <c:bubbleScale val="100"/>
        <c:showNegBubbles val="0"/>
        <c:axId val="112896960"/>
        <c:axId val="112903488"/>
      </c:bubbleChart>
      <c:valAx>
        <c:axId val="112896960"/>
        <c:scaling>
          <c:orientation val="minMax"/>
          <c:min val="0"/>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CAGR Index (2024 – 2034)</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12903488"/>
        <c:crossesAt val="0"/>
        <c:crossBetween val="midCat"/>
      </c:valAx>
      <c:valAx>
        <c:axId val="112903488"/>
        <c:scaling>
          <c:orientation val="minMax"/>
          <c:min val="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Market Share Index (2024E)</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12896960"/>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910917822963"/>
          <c:y val="4.0225179225868664E-2"/>
          <c:w val="0.87507556483913373"/>
          <c:h val="0.65061484798850733"/>
        </c:manualLayout>
      </c:layout>
      <c:lineChart>
        <c:grouping val="standard"/>
        <c:varyColors val="0"/>
        <c:ser>
          <c:idx val="0"/>
          <c:order val="0"/>
          <c:tx>
            <c:strRef>
              <c:f>Sheet1!$B$1</c:f>
              <c:strCache>
                <c:ptCount val="1"/>
                <c:pt idx="0">
                  <c:v>North America</c:v>
                </c:pt>
              </c:strCache>
            </c:strRef>
          </c:tx>
          <c:spPr>
            <a:ln w="28575" cap="rnd">
              <a:solidFill>
                <a:schemeClr val="accent1"/>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Sheet1!$B$2:$B$12</c:f>
              <c:numCache>
                <c:formatCode>0.0%</c:formatCode>
                <c:ptCount val="11"/>
                <c:pt idx="0">
                  <c:v>5.1500000000000004E-2</c:v>
                </c:pt>
                <c:pt idx="1">
                  <c:v>5.4166666666666669E-2</c:v>
                </c:pt>
                <c:pt idx="2">
                  <c:v>5.7000000000000009E-2</c:v>
                </c:pt>
                <c:pt idx="3">
                  <c:v>5.9333333333333335E-2</c:v>
                </c:pt>
                <c:pt idx="4">
                  <c:v>6.1166666666666675E-2</c:v>
                </c:pt>
                <c:pt idx="5">
                  <c:v>6.2833333333333338E-2</c:v>
                </c:pt>
                <c:pt idx="6">
                  <c:v>6.483333333333334E-2</c:v>
                </c:pt>
                <c:pt idx="7">
                  <c:v>6.7166666666666666E-2</c:v>
                </c:pt>
                <c:pt idx="8">
                  <c:v>6.8833333333333344E-2</c:v>
                </c:pt>
                <c:pt idx="9">
                  <c:v>6.9000000000000006E-2</c:v>
                </c:pt>
                <c:pt idx="10">
                  <c:v>6.7666666666666667E-2</c:v>
                </c:pt>
              </c:numCache>
            </c:numRef>
          </c:val>
          <c:smooth val="1"/>
          <c:extLst>
            <c:ext xmlns:c16="http://schemas.microsoft.com/office/drawing/2014/chart" uri="{C3380CC4-5D6E-409C-BE32-E72D297353CC}">
              <c16:uniqueId val="{00000000-887C-4D8B-A07C-6B790326AC00}"/>
            </c:ext>
          </c:extLst>
        </c:ser>
        <c:ser>
          <c:idx val="1"/>
          <c:order val="1"/>
          <c:tx>
            <c:strRef>
              <c:f>Sheet1!$C$1</c:f>
              <c:strCache>
                <c:ptCount val="1"/>
                <c:pt idx="0">
                  <c:v>Latin America</c:v>
                </c:pt>
              </c:strCache>
            </c:strRef>
          </c:tx>
          <c:spPr>
            <a:ln w="28575" cap="rnd">
              <a:solidFill>
                <a:schemeClr val="accent2"/>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Sheet1!$C$2:$C$12</c:f>
              <c:numCache>
                <c:formatCode>0.0%</c:formatCode>
                <c:ptCount val="11"/>
                <c:pt idx="0">
                  <c:v>5.116830281459997E-2</c:v>
                </c:pt>
                <c:pt idx="1">
                  <c:v>5.1290221555306513E-2</c:v>
                </c:pt>
                <c:pt idx="2">
                  <c:v>5.1395302571985553E-2</c:v>
                </c:pt>
                <c:pt idx="3">
                  <c:v>5.151160873801626E-2</c:v>
                </c:pt>
                <c:pt idx="4">
                  <c:v>5.1620431471145853E-2</c:v>
                </c:pt>
                <c:pt idx="5">
                  <c:v>5.1734243159542857E-2</c:v>
                </c:pt>
                <c:pt idx="6">
                  <c:v>5.1844728877761585E-2</c:v>
                </c:pt>
                <c:pt idx="7">
                  <c:v>5.1961866536336859E-2</c:v>
                </c:pt>
                <c:pt idx="8">
                  <c:v>5.2074569568007774E-2</c:v>
                </c:pt>
                <c:pt idx="9">
                  <c:v>5.2190229017614928E-2</c:v>
                </c:pt>
                <c:pt idx="10">
                  <c:v>5.2299975631349596E-2</c:v>
                </c:pt>
              </c:numCache>
            </c:numRef>
          </c:val>
          <c:smooth val="1"/>
          <c:extLst>
            <c:ext xmlns:c16="http://schemas.microsoft.com/office/drawing/2014/chart" uri="{C3380CC4-5D6E-409C-BE32-E72D297353CC}">
              <c16:uniqueId val="{00000001-887C-4D8B-A07C-6B790326AC00}"/>
            </c:ext>
          </c:extLst>
        </c:ser>
        <c:ser>
          <c:idx val="2"/>
          <c:order val="2"/>
          <c:tx>
            <c:strRef>
              <c:f>Sheet1!$D$1</c:f>
              <c:strCache>
                <c:ptCount val="1"/>
                <c:pt idx="0">
                  <c:v>East Asia</c:v>
                </c:pt>
              </c:strCache>
            </c:strRef>
          </c:tx>
          <c:spPr>
            <a:ln w="28575" cap="rnd">
              <a:solidFill>
                <a:schemeClr val="accent3"/>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Sheet1!$D$2:$D$12</c:f>
              <c:numCache>
                <c:formatCode>0.0%</c:formatCode>
                <c:ptCount val="11"/>
                <c:pt idx="0">
                  <c:v>5.0610918051856614E-2</c:v>
                </c:pt>
                <c:pt idx="1">
                  <c:v>5.1425475454332091E-2</c:v>
                </c:pt>
                <c:pt idx="2">
                  <c:v>5.2138213181498139E-2</c:v>
                </c:pt>
                <c:pt idx="3">
                  <c:v>5.274913123335475E-2</c:v>
                </c:pt>
                <c:pt idx="4">
                  <c:v>5.2850950908664179E-2</c:v>
                </c:pt>
                <c:pt idx="5">
                  <c:v>5.2647311558045314E-2</c:v>
                </c:pt>
                <c:pt idx="6">
                  <c:v>5.2036393506188702E-2</c:v>
                </c:pt>
                <c:pt idx="7">
                  <c:v>5.1323655779022655E-2</c:v>
                </c:pt>
                <c:pt idx="8">
                  <c:v>5.0610918051856614E-2</c:v>
                </c:pt>
                <c:pt idx="9">
                  <c:v>0.05</c:v>
                </c:pt>
                <c:pt idx="10">
                  <c:v>4.9490901623452828E-2</c:v>
                </c:pt>
              </c:numCache>
            </c:numRef>
          </c:val>
          <c:smooth val="1"/>
          <c:extLst>
            <c:ext xmlns:c16="http://schemas.microsoft.com/office/drawing/2014/chart" uri="{C3380CC4-5D6E-409C-BE32-E72D297353CC}">
              <c16:uniqueId val="{00000002-887C-4D8B-A07C-6B790326AC00}"/>
            </c:ext>
          </c:extLst>
        </c:ser>
        <c:ser>
          <c:idx val="3"/>
          <c:order val="3"/>
          <c:tx>
            <c:strRef>
              <c:f>Sheet1!$E$1</c:f>
              <c:strCache>
                <c:ptCount val="1"/>
                <c:pt idx="0">
                  <c:v>South Asia Pacific</c:v>
                </c:pt>
              </c:strCache>
            </c:strRef>
          </c:tx>
          <c:spPr>
            <a:ln w="28575" cap="rnd">
              <a:solidFill>
                <a:schemeClr val="accent4"/>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Sheet1!$E$2:$E$12</c:f>
              <c:numCache>
                <c:formatCode>0.0%</c:formatCode>
                <c:ptCount val="11"/>
                <c:pt idx="0">
                  <c:v>5.3000000000000005E-2</c:v>
                </c:pt>
                <c:pt idx="1">
                  <c:v>5.5000000000000007E-2</c:v>
                </c:pt>
                <c:pt idx="2">
                  <c:v>5.7333333333333347E-2</c:v>
                </c:pt>
                <c:pt idx="3">
                  <c:v>5.9666666666666673E-2</c:v>
                </c:pt>
                <c:pt idx="4">
                  <c:v>6.3666666666666663E-2</c:v>
                </c:pt>
                <c:pt idx="5">
                  <c:v>6.8000000000000005E-2</c:v>
                </c:pt>
                <c:pt idx="6">
                  <c:v>6.7906765085174334E-2</c:v>
                </c:pt>
                <c:pt idx="7">
                  <c:v>6.6841312562606461E-2</c:v>
                </c:pt>
                <c:pt idx="8">
                  <c:v>6.5666666666666665E-2</c:v>
                </c:pt>
                <c:pt idx="9">
                  <c:v>6.4147353367754692E-2</c:v>
                </c:pt>
                <c:pt idx="10">
                  <c:v>6.0424365639398202E-2</c:v>
                </c:pt>
              </c:numCache>
            </c:numRef>
          </c:val>
          <c:smooth val="1"/>
          <c:extLst>
            <c:ext xmlns:c16="http://schemas.microsoft.com/office/drawing/2014/chart" uri="{C3380CC4-5D6E-409C-BE32-E72D297353CC}">
              <c16:uniqueId val="{00000003-887C-4D8B-A07C-6B790326AC00}"/>
            </c:ext>
          </c:extLst>
        </c:ser>
        <c:ser>
          <c:idx val="4"/>
          <c:order val="4"/>
          <c:tx>
            <c:strRef>
              <c:f>Sheet1!$F$1</c:f>
              <c:strCache>
                <c:ptCount val="1"/>
                <c:pt idx="0">
                  <c:v>Western Europe</c:v>
                </c:pt>
              </c:strCache>
            </c:strRef>
          </c:tx>
          <c:spPr>
            <a:ln w="28575" cap="rnd">
              <a:solidFill>
                <a:schemeClr val="accent5"/>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Sheet1!$F$2:$F$12</c:f>
              <c:numCache>
                <c:formatCode>0.0%</c:formatCode>
                <c:ptCount val="11"/>
                <c:pt idx="0">
                  <c:v>5.1263578005607567E-2</c:v>
                </c:pt>
                <c:pt idx="1">
                  <c:v>5.2412285283432627E-2</c:v>
                </c:pt>
                <c:pt idx="2">
                  <c:v>5.3446121833475177E-2</c:v>
                </c:pt>
                <c:pt idx="3">
                  <c:v>5.3905604744605207E-2</c:v>
                </c:pt>
                <c:pt idx="4">
                  <c:v>5.3905604744605207E-2</c:v>
                </c:pt>
                <c:pt idx="5">
                  <c:v>5.3101509650127658E-2</c:v>
                </c:pt>
                <c:pt idx="6">
                  <c:v>5.2297414555650117E-2</c:v>
                </c:pt>
                <c:pt idx="7">
                  <c:v>5.1493319461172575E-2</c:v>
                </c:pt>
                <c:pt idx="8">
                  <c:v>5.068922436669504E-2</c:v>
                </c:pt>
                <c:pt idx="9">
                  <c:v>4.9770258544434988E-2</c:v>
                </c:pt>
                <c:pt idx="10">
                  <c:v>4.8736421994392438E-2</c:v>
                </c:pt>
              </c:numCache>
            </c:numRef>
          </c:val>
          <c:smooth val="1"/>
          <c:extLst>
            <c:ext xmlns:c16="http://schemas.microsoft.com/office/drawing/2014/chart" uri="{C3380CC4-5D6E-409C-BE32-E72D297353CC}">
              <c16:uniqueId val="{00000004-887C-4D8B-A07C-6B790326AC00}"/>
            </c:ext>
          </c:extLst>
        </c:ser>
        <c:ser>
          <c:idx val="5"/>
          <c:order val="5"/>
          <c:tx>
            <c:strRef>
              <c:f>Sheet1!$G$1</c:f>
              <c:strCache>
                <c:ptCount val="1"/>
                <c:pt idx="0">
                  <c:v>Eastern Europe</c:v>
                </c:pt>
              </c:strCache>
            </c:strRef>
          </c:tx>
          <c:spPr>
            <a:ln w="28575" cap="rnd">
              <a:solidFill>
                <a:schemeClr val="accent6"/>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Sheet1!$G$2:$G$12</c:f>
              <c:numCache>
                <c:formatCode>0.0%</c:formatCode>
                <c:ptCount val="11"/>
                <c:pt idx="0">
                  <c:v>6.0676665024535163E-2</c:v>
                </c:pt>
                <c:pt idx="1">
                  <c:v>6.0811998029442191E-2</c:v>
                </c:pt>
                <c:pt idx="2">
                  <c:v>6.0405999014721101E-2</c:v>
                </c:pt>
                <c:pt idx="3">
                  <c:v>5.986466699509297E-2</c:v>
                </c:pt>
                <c:pt idx="4">
                  <c:v>5.9188001970557812E-2</c:v>
                </c:pt>
                <c:pt idx="5">
                  <c:v>5.8782002955836715E-2</c:v>
                </c:pt>
                <c:pt idx="6">
                  <c:v>5.7970004926394522E-2</c:v>
                </c:pt>
                <c:pt idx="7">
                  <c:v>5.7022673892045295E-2</c:v>
                </c:pt>
                <c:pt idx="8">
                  <c:v>5.6075342857696074E-2</c:v>
                </c:pt>
                <c:pt idx="9">
                  <c:v>5.5398677833160916E-2</c:v>
                </c:pt>
                <c:pt idx="10">
                  <c:v>5.472201280862575E-2</c:v>
                </c:pt>
              </c:numCache>
            </c:numRef>
          </c:val>
          <c:smooth val="1"/>
          <c:extLst>
            <c:ext xmlns:c16="http://schemas.microsoft.com/office/drawing/2014/chart" uri="{C3380CC4-5D6E-409C-BE32-E72D297353CC}">
              <c16:uniqueId val="{00000005-887C-4D8B-A07C-6B790326AC00}"/>
            </c:ext>
          </c:extLst>
        </c:ser>
        <c:ser>
          <c:idx val="6"/>
          <c:order val="6"/>
          <c:tx>
            <c:strRef>
              <c:f>Sheet1!$H$1</c:f>
              <c:strCache>
                <c:ptCount val="1"/>
                <c:pt idx="0">
                  <c:v>Middle East &amp; Africa</c:v>
                </c:pt>
              </c:strCache>
            </c:strRef>
          </c:tx>
          <c:spPr>
            <a:ln w="28575" cap="rnd">
              <a:solidFill>
                <a:schemeClr val="accent1">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Sheet1!$H$2:$H$12</c:f>
              <c:numCache>
                <c:formatCode>0.0%</c:formatCode>
                <c:ptCount val="11"/>
                <c:pt idx="0">
                  <c:v>6.0000000000000005E-2</c:v>
                </c:pt>
                <c:pt idx="1">
                  <c:v>6.0000000000000005E-2</c:v>
                </c:pt>
                <c:pt idx="2">
                  <c:v>5.9500325887083094E-2</c:v>
                </c:pt>
                <c:pt idx="3">
                  <c:v>5.9500325887083094E-2</c:v>
                </c:pt>
                <c:pt idx="4">
                  <c:v>6.0000000000000005E-2</c:v>
                </c:pt>
                <c:pt idx="5">
                  <c:v>6.074951116937536E-2</c:v>
                </c:pt>
                <c:pt idx="6">
                  <c:v>6.074951116937536E-2</c:v>
                </c:pt>
                <c:pt idx="7">
                  <c:v>5.9750162943541546E-2</c:v>
                </c:pt>
                <c:pt idx="8">
                  <c:v>5.8750814717707739E-2</c:v>
                </c:pt>
                <c:pt idx="9">
                  <c:v>5.8500977661249287E-2</c:v>
                </c:pt>
                <c:pt idx="10">
                  <c:v>5.9250488830624642E-2</c:v>
                </c:pt>
              </c:numCache>
            </c:numRef>
          </c:val>
          <c:smooth val="1"/>
          <c:extLst>
            <c:ext xmlns:c16="http://schemas.microsoft.com/office/drawing/2014/chart" uri="{C3380CC4-5D6E-409C-BE32-E72D297353CC}">
              <c16:uniqueId val="{00000006-887C-4D8B-A07C-6B790326AC00}"/>
            </c:ext>
          </c:extLst>
        </c:ser>
        <c:dLbls>
          <c:showLegendKey val="0"/>
          <c:showVal val="0"/>
          <c:showCatName val="0"/>
          <c:showSerName val="0"/>
          <c:showPercent val="0"/>
          <c:showBubbleSize val="0"/>
        </c:dLbls>
        <c:smooth val="0"/>
        <c:axId val="112898048"/>
        <c:axId val="112908384"/>
      </c:lineChart>
      <c:catAx>
        <c:axId val="112898048"/>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2908384"/>
        <c:crossesAt val="-3.5000000000000003E-2"/>
        <c:auto val="1"/>
        <c:lblAlgn val="ctr"/>
        <c:lblOffset val="100"/>
        <c:noMultiLvlLbl val="0"/>
      </c:catAx>
      <c:valAx>
        <c:axId val="112908384"/>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12898048"/>
        <c:crosses val="autoZero"/>
        <c:crossBetween val="between"/>
      </c:valAx>
      <c:spPr>
        <a:noFill/>
        <a:ln w="25400">
          <a:noFill/>
        </a:ln>
        <a:effectLst/>
      </c:spPr>
    </c:plotArea>
    <c:legend>
      <c:legendPos val="b"/>
      <c:layout>
        <c:manualLayout>
          <c:xMode val="edge"/>
          <c:yMode val="edge"/>
          <c:x val="0"/>
          <c:y val="0.81733067057011788"/>
          <c:w val="1"/>
          <c:h val="0.18266932942988209"/>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12700">
      <a:noFill/>
    </a:ln>
    <a:effectLst/>
  </c:spPr>
  <c:txPr>
    <a:bodyPr/>
    <a:lstStyle/>
    <a:p>
      <a:pPr>
        <a:defRPr sz="1100">
          <a:solidFill>
            <a:schemeClr val="tx1"/>
          </a:solidFill>
        </a:defRPr>
      </a:pPr>
      <a:endParaRPr lang="en-US"/>
    </a:p>
  </c:txPr>
  <c:externalData r:id="rId3">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112893696"/>
        <c:axId val="112904576"/>
      </c:barChart>
      <c:catAx>
        <c:axId val="1128936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112904576"/>
        <c:crosses val="autoZero"/>
        <c:auto val="1"/>
        <c:lblAlgn val="ctr"/>
        <c:lblOffset val="100"/>
        <c:noMultiLvlLbl val="0"/>
      </c:catAx>
      <c:valAx>
        <c:axId val="112904576"/>
        <c:scaling>
          <c:orientation val="minMax"/>
        </c:scaling>
        <c:delete val="1"/>
        <c:axPos val="l"/>
        <c:numFmt formatCode="#,##0.0" sourceLinked="1"/>
        <c:majorTickMark val="none"/>
        <c:minorTickMark val="none"/>
        <c:tickLblPos val="nextTo"/>
        <c:crossAx val="11289369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72254800"/>
        <c:axId val="72255344"/>
      </c:barChart>
      <c:catAx>
        <c:axId val="722548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72255344"/>
        <c:crosses val="autoZero"/>
        <c:auto val="1"/>
        <c:lblAlgn val="ctr"/>
        <c:lblOffset val="100"/>
        <c:noMultiLvlLbl val="0"/>
      </c:catAx>
      <c:valAx>
        <c:axId val="72255344"/>
        <c:scaling>
          <c:orientation val="minMax"/>
        </c:scaling>
        <c:delete val="1"/>
        <c:axPos val="l"/>
        <c:numFmt formatCode="#,##0.0" sourceLinked="1"/>
        <c:majorTickMark val="none"/>
        <c:minorTickMark val="none"/>
        <c:tickLblPos val="nextTo"/>
        <c:crossAx val="72254800"/>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72264592"/>
        <c:axId val="207097136"/>
      </c:barChart>
      <c:catAx>
        <c:axId val="7226459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097136"/>
        <c:crosses val="autoZero"/>
        <c:auto val="1"/>
        <c:lblAlgn val="ctr"/>
        <c:lblOffset val="100"/>
        <c:noMultiLvlLbl val="0"/>
      </c:catAx>
      <c:valAx>
        <c:axId val="207097136"/>
        <c:scaling>
          <c:orientation val="minMax"/>
        </c:scaling>
        <c:delete val="1"/>
        <c:axPos val="l"/>
        <c:numFmt formatCode="#,##0.0" sourceLinked="1"/>
        <c:majorTickMark val="none"/>
        <c:minorTickMark val="none"/>
        <c:tickLblPos val="nextTo"/>
        <c:crossAx val="72264592"/>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207093328"/>
        <c:axId val="207116176"/>
      </c:barChart>
      <c:catAx>
        <c:axId val="2070933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16176"/>
        <c:crosses val="autoZero"/>
        <c:auto val="1"/>
        <c:lblAlgn val="ctr"/>
        <c:lblOffset val="100"/>
        <c:noMultiLvlLbl val="0"/>
      </c:catAx>
      <c:valAx>
        <c:axId val="207116176"/>
        <c:scaling>
          <c:orientation val="minMax"/>
        </c:scaling>
        <c:delete val="1"/>
        <c:axPos val="l"/>
        <c:numFmt formatCode="#,##0.0" sourceLinked="1"/>
        <c:majorTickMark val="none"/>
        <c:minorTickMark val="none"/>
        <c:tickLblPos val="nextTo"/>
        <c:crossAx val="207093328"/>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713-40DB-9F77-3DABFF046BC0}"/>
              </c:ext>
            </c:extLst>
          </c:dPt>
          <c:dPt>
            <c:idx val="1"/>
            <c:invertIfNegative val="0"/>
            <c:bubble3D val="0"/>
            <c:spPr>
              <a:noFill/>
              <a:ln>
                <a:noFill/>
              </a:ln>
              <a:effectLst/>
            </c:spPr>
            <c:extLst>
              <c:ext xmlns:c16="http://schemas.microsoft.com/office/drawing/2014/chart" uri="{C3380CC4-5D6E-409C-BE32-E72D297353CC}">
                <c16:uniqueId val="{00000003-E713-40DB-9F77-3DABFF046BC0}"/>
              </c:ext>
            </c:extLst>
          </c:dPt>
          <c:dPt>
            <c:idx val="2"/>
            <c:invertIfNegative val="0"/>
            <c:bubble3D val="0"/>
            <c:spPr>
              <a:solidFill>
                <a:srgbClr val="9E7E0A"/>
              </a:solidFill>
              <a:ln>
                <a:noFill/>
              </a:ln>
              <a:effectLst/>
            </c:spPr>
            <c:extLst>
              <c:ext xmlns:c16="http://schemas.microsoft.com/office/drawing/2014/chart" uri="{C3380CC4-5D6E-409C-BE32-E72D297353CC}">
                <c16:uniqueId val="{00000005-E713-40DB-9F77-3DABFF046BC0}"/>
              </c:ext>
            </c:extLst>
          </c:dPt>
          <c:dPt>
            <c:idx val="3"/>
            <c:invertIfNegative val="0"/>
            <c:bubble3D val="0"/>
            <c:spPr>
              <a:noFill/>
              <a:ln>
                <a:noFill/>
              </a:ln>
              <a:effectLst/>
            </c:spPr>
            <c:extLst>
              <c:ext xmlns:c16="http://schemas.microsoft.com/office/drawing/2014/chart" uri="{C3380CC4-5D6E-409C-BE32-E72D297353CC}">
                <c16:uniqueId val="{00000007-E713-40DB-9F77-3DABFF046BC0}"/>
              </c:ext>
            </c:extLst>
          </c:dPt>
          <c:dPt>
            <c:idx val="4"/>
            <c:invertIfNegative val="0"/>
            <c:bubble3D val="0"/>
            <c:spPr>
              <a:noFill/>
              <a:ln>
                <a:noFill/>
              </a:ln>
              <a:effectLst/>
            </c:spPr>
            <c:extLst>
              <c:ext xmlns:c16="http://schemas.microsoft.com/office/drawing/2014/chart" uri="{C3380CC4-5D6E-409C-BE32-E72D297353CC}">
                <c16:uniqueId val="{00000009-E713-40DB-9F77-3DABFF046BC0}"/>
              </c:ext>
            </c:extLst>
          </c:dPt>
          <c:dPt>
            <c:idx val="5"/>
            <c:invertIfNegative val="0"/>
            <c:bubble3D val="0"/>
            <c:spPr>
              <a:noFill/>
              <a:ln>
                <a:noFill/>
              </a:ln>
              <a:effectLst/>
            </c:spPr>
            <c:extLst>
              <c:ext xmlns:c16="http://schemas.microsoft.com/office/drawing/2014/chart" uri="{C3380CC4-5D6E-409C-BE32-E72D297353CC}">
                <c16:uniqueId val="{0000000B-E713-40DB-9F77-3DABFF046BC0}"/>
              </c:ext>
            </c:extLst>
          </c:dPt>
          <c:dPt>
            <c:idx val="6"/>
            <c:invertIfNegative val="0"/>
            <c:bubble3D val="0"/>
            <c:spPr>
              <a:noFill/>
              <a:ln>
                <a:noFill/>
              </a:ln>
              <a:effectLst/>
            </c:spPr>
            <c:extLst>
              <c:ext xmlns:c16="http://schemas.microsoft.com/office/drawing/2014/chart" uri="{C3380CC4-5D6E-409C-BE32-E72D297353CC}">
                <c16:uniqueId val="{0000000D-E713-40DB-9F77-3DABFF046BC0}"/>
              </c:ext>
            </c:extLst>
          </c:dPt>
          <c:dPt>
            <c:idx val="7"/>
            <c:invertIfNegative val="0"/>
            <c:bubble3D val="0"/>
            <c:spPr>
              <a:noFill/>
              <a:ln>
                <a:noFill/>
              </a:ln>
              <a:effectLst/>
            </c:spPr>
            <c:extLst>
              <c:ext xmlns:c16="http://schemas.microsoft.com/office/drawing/2014/chart" uri="{C3380CC4-5D6E-409C-BE32-E72D297353CC}">
                <c16:uniqueId val="{0000000F-E713-40DB-9F77-3DABFF046BC0}"/>
              </c:ext>
            </c:extLst>
          </c:dPt>
          <c:dPt>
            <c:idx val="8"/>
            <c:invertIfNegative val="0"/>
            <c:bubble3D val="0"/>
            <c:spPr>
              <a:noFill/>
              <a:ln>
                <a:noFill/>
              </a:ln>
              <a:effectLst/>
            </c:spPr>
            <c:extLst>
              <c:ext xmlns:c16="http://schemas.microsoft.com/office/drawing/2014/chart" uri="{C3380CC4-5D6E-409C-BE32-E72D297353CC}">
                <c16:uniqueId val="{00000011-E713-40DB-9F77-3DABFF046BC0}"/>
              </c:ext>
            </c:extLst>
          </c:dPt>
          <c:dPt>
            <c:idx val="9"/>
            <c:invertIfNegative val="0"/>
            <c:bubble3D val="0"/>
            <c:spPr>
              <a:noFill/>
              <a:ln>
                <a:noFill/>
              </a:ln>
              <a:effectLst/>
            </c:spPr>
            <c:extLst>
              <c:ext xmlns:c16="http://schemas.microsoft.com/office/drawing/2014/chart" uri="{C3380CC4-5D6E-409C-BE32-E72D297353CC}">
                <c16:uniqueId val="{00000013-E713-40DB-9F77-3DABFF046BC0}"/>
              </c:ext>
            </c:extLst>
          </c:dPt>
          <c:dPt>
            <c:idx val="10"/>
            <c:invertIfNegative val="0"/>
            <c:bubble3D val="0"/>
            <c:spPr>
              <a:noFill/>
              <a:ln>
                <a:noFill/>
              </a:ln>
              <a:effectLst/>
            </c:spPr>
            <c:extLst>
              <c:ext xmlns:c16="http://schemas.microsoft.com/office/drawing/2014/chart" uri="{C3380CC4-5D6E-409C-BE32-E72D297353CC}">
                <c16:uniqueId val="{00000015-E713-40DB-9F77-3DABFF046BC0}"/>
              </c:ext>
            </c:extLst>
          </c:dPt>
          <c:dPt>
            <c:idx val="11"/>
            <c:invertIfNegative val="0"/>
            <c:bubble3D val="0"/>
            <c:spPr>
              <a:noFill/>
              <a:ln>
                <a:noFill/>
              </a:ln>
              <a:effectLst/>
            </c:spPr>
            <c:extLst>
              <c:ext xmlns:c16="http://schemas.microsoft.com/office/drawing/2014/chart" uri="{C3380CC4-5D6E-409C-BE32-E72D297353CC}">
                <c16:uniqueId val="{00000017-E713-40DB-9F77-3DABFF046BC0}"/>
              </c:ext>
            </c:extLst>
          </c:dPt>
          <c:dPt>
            <c:idx val="12"/>
            <c:invertIfNegative val="0"/>
            <c:bubble3D val="0"/>
            <c:spPr>
              <a:noFill/>
              <a:ln>
                <a:noFill/>
              </a:ln>
              <a:effectLst/>
            </c:spPr>
            <c:extLst>
              <c:ext xmlns:c16="http://schemas.microsoft.com/office/drawing/2014/chart" uri="{C3380CC4-5D6E-409C-BE32-E72D297353CC}">
                <c16:uniqueId val="{00000019-E713-40DB-9F77-3DABFF046BC0}"/>
              </c:ext>
            </c:extLst>
          </c:dPt>
          <c:dPt>
            <c:idx val="13"/>
            <c:invertIfNegative val="0"/>
            <c:bubble3D val="0"/>
            <c:spPr>
              <a:solidFill>
                <a:srgbClr val="2A5F8F"/>
              </a:solidFill>
              <a:ln>
                <a:noFill/>
              </a:ln>
              <a:effectLst/>
            </c:spPr>
            <c:extLst>
              <c:ext xmlns:c16="http://schemas.microsoft.com/office/drawing/2014/chart" uri="{C3380CC4-5D6E-409C-BE32-E72D297353CC}">
                <c16:uniqueId val="{0000001B-E713-40DB-9F77-3DABFF046BC0}"/>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E713-40DB-9F77-3DABFF046BC0}"/>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E713-40DB-9F77-3DABFF046BC0}"/>
            </c:ext>
          </c:extLst>
        </c:ser>
        <c:dLbls>
          <c:showLegendKey val="0"/>
          <c:showVal val="0"/>
          <c:showCatName val="0"/>
          <c:showSerName val="0"/>
          <c:showPercent val="0"/>
          <c:showBubbleSize val="0"/>
        </c:dLbls>
        <c:gapWidth val="50"/>
        <c:overlap val="100"/>
        <c:axId val="207088432"/>
        <c:axId val="207090064"/>
      </c:barChart>
      <c:catAx>
        <c:axId val="2070884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090064"/>
        <c:crosses val="autoZero"/>
        <c:auto val="1"/>
        <c:lblAlgn val="ctr"/>
        <c:lblOffset val="100"/>
        <c:noMultiLvlLbl val="0"/>
      </c:catAx>
      <c:valAx>
        <c:axId val="207090064"/>
        <c:scaling>
          <c:orientation val="minMax"/>
        </c:scaling>
        <c:delete val="1"/>
        <c:axPos val="l"/>
        <c:numFmt formatCode="#,##0.0" sourceLinked="1"/>
        <c:majorTickMark val="none"/>
        <c:minorTickMark val="none"/>
        <c:tickLblPos val="nextTo"/>
        <c:crossAx val="207088432"/>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207090608"/>
        <c:axId val="207118896"/>
      </c:barChart>
      <c:catAx>
        <c:axId val="2070906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18896"/>
        <c:crosses val="autoZero"/>
        <c:auto val="1"/>
        <c:lblAlgn val="ctr"/>
        <c:lblOffset val="100"/>
        <c:noMultiLvlLbl val="0"/>
      </c:catAx>
      <c:valAx>
        <c:axId val="207118896"/>
        <c:scaling>
          <c:orientation val="minMax"/>
        </c:scaling>
        <c:delete val="1"/>
        <c:axPos val="l"/>
        <c:numFmt formatCode="#,##0.0" sourceLinked="1"/>
        <c:majorTickMark val="none"/>
        <c:minorTickMark val="none"/>
        <c:tickLblPos val="nextTo"/>
        <c:crossAx val="207090608"/>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16F-4479-AA0E-FBC6E2B1B68A}"/>
              </c:ext>
            </c:extLst>
          </c:dPt>
          <c:dPt>
            <c:idx val="1"/>
            <c:invertIfNegative val="0"/>
            <c:bubble3D val="0"/>
            <c:spPr>
              <a:noFill/>
              <a:ln>
                <a:noFill/>
              </a:ln>
              <a:effectLst/>
            </c:spPr>
            <c:extLst>
              <c:ext xmlns:c16="http://schemas.microsoft.com/office/drawing/2014/chart" uri="{C3380CC4-5D6E-409C-BE32-E72D297353CC}">
                <c16:uniqueId val="{00000003-016F-4479-AA0E-FBC6E2B1B68A}"/>
              </c:ext>
            </c:extLst>
          </c:dPt>
          <c:dPt>
            <c:idx val="2"/>
            <c:invertIfNegative val="0"/>
            <c:bubble3D val="0"/>
            <c:spPr>
              <a:solidFill>
                <a:srgbClr val="9E7E0A"/>
              </a:solidFill>
              <a:ln>
                <a:noFill/>
              </a:ln>
              <a:effectLst/>
            </c:spPr>
            <c:extLst>
              <c:ext xmlns:c16="http://schemas.microsoft.com/office/drawing/2014/chart" uri="{C3380CC4-5D6E-409C-BE32-E72D297353CC}">
                <c16:uniqueId val="{00000005-016F-4479-AA0E-FBC6E2B1B68A}"/>
              </c:ext>
            </c:extLst>
          </c:dPt>
          <c:dPt>
            <c:idx val="3"/>
            <c:invertIfNegative val="0"/>
            <c:bubble3D val="0"/>
            <c:spPr>
              <a:noFill/>
              <a:ln>
                <a:noFill/>
              </a:ln>
              <a:effectLst/>
            </c:spPr>
            <c:extLst>
              <c:ext xmlns:c16="http://schemas.microsoft.com/office/drawing/2014/chart" uri="{C3380CC4-5D6E-409C-BE32-E72D297353CC}">
                <c16:uniqueId val="{00000007-016F-4479-AA0E-FBC6E2B1B68A}"/>
              </c:ext>
            </c:extLst>
          </c:dPt>
          <c:dPt>
            <c:idx val="4"/>
            <c:invertIfNegative val="0"/>
            <c:bubble3D val="0"/>
            <c:spPr>
              <a:noFill/>
              <a:ln>
                <a:noFill/>
              </a:ln>
              <a:effectLst/>
            </c:spPr>
            <c:extLst>
              <c:ext xmlns:c16="http://schemas.microsoft.com/office/drawing/2014/chart" uri="{C3380CC4-5D6E-409C-BE32-E72D297353CC}">
                <c16:uniqueId val="{00000009-016F-4479-AA0E-FBC6E2B1B68A}"/>
              </c:ext>
            </c:extLst>
          </c:dPt>
          <c:dPt>
            <c:idx val="5"/>
            <c:invertIfNegative val="0"/>
            <c:bubble3D val="0"/>
            <c:spPr>
              <a:noFill/>
              <a:ln>
                <a:noFill/>
              </a:ln>
              <a:effectLst/>
            </c:spPr>
            <c:extLst>
              <c:ext xmlns:c16="http://schemas.microsoft.com/office/drawing/2014/chart" uri="{C3380CC4-5D6E-409C-BE32-E72D297353CC}">
                <c16:uniqueId val="{0000000B-016F-4479-AA0E-FBC6E2B1B68A}"/>
              </c:ext>
            </c:extLst>
          </c:dPt>
          <c:dPt>
            <c:idx val="6"/>
            <c:invertIfNegative val="0"/>
            <c:bubble3D val="0"/>
            <c:spPr>
              <a:noFill/>
              <a:ln>
                <a:noFill/>
              </a:ln>
              <a:effectLst/>
            </c:spPr>
            <c:extLst>
              <c:ext xmlns:c16="http://schemas.microsoft.com/office/drawing/2014/chart" uri="{C3380CC4-5D6E-409C-BE32-E72D297353CC}">
                <c16:uniqueId val="{0000000D-016F-4479-AA0E-FBC6E2B1B68A}"/>
              </c:ext>
            </c:extLst>
          </c:dPt>
          <c:dPt>
            <c:idx val="7"/>
            <c:invertIfNegative val="0"/>
            <c:bubble3D val="0"/>
            <c:spPr>
              <a:noFill/>
              <a:ln>
                <a:noFill/>
              </a:ln>
              <a:effectLst/>
            </c:spPr>
            <c:extLst>
              <c:ext xmlns:c16="http://schemas.microsoft.com/office/drawing/2014/chart" uri="{C3380CC4-5D6E-409C-BE32-E72D297353CC}">
                <c16:uniqueId val="{0000000F-016F-4479-AA0E-FBC6E2B1B68A}"/>
              </c:ext>
            </c:extLst>
          </c:dPt>
          <c:dPt>
            <c:idx val="8"/>
            <c:invertIfNegative val="0"/>
            <c:bubble3D val="0"/>
            <c:spPr>
              <a:noFill/>
              <a:ln>
                <a:noFill/>
              </a:ln>
              <a:effectLst/>
            </c:spPr>
            <c:extLst>
              <c:ext xmlns:c16="http://schemas.microsoft.com/office/drawing/2014/chart" uri="{C3380CC4-5D6E-409C-BE32-E72D297353CC}">
                <c16:uniqueId val="{00000011-016F-4479-AA0E-FBC6E2B1B68A}"/>
              </c:ext>
            </c:extLst>
          </c:dPt>
          <c:dPt>
            <c:idx val="9"/>
            <c:invertIfNegative val="0"/>
            <c:bubble3D val="0"/>
            <c:spPr>
              <a:noFill/>
              <a:ln>
                <a:noFill/>
              </a:ln>
              <a:effectLst/>
            </c:spPr>
            <c:extLst>
              <c:ext xmlns:c16="http://schemas.microsoft.com/office/drawing/2014/chart" uri="{C3380CC4-5D6E-409C-BE32-E72D297353CC}">
                <c16:uniqueId val="{00000013-016F-4479-AA0E-FBC6E2B1B68A}"/>
              </c:ext>
            </c:extLst>
          </c:dPt>
          <c:dPt>
            <c:idx val="10"/>
            <c:invertIfNegative val="0"/>
            <c:bubble3D val="0"/>
            <c:spPr>
              <a:noFill/>
              <a:ln>
                <a:noFill/>
              </a:ln>
              <a:effectLst/>
            </c:spPr>
            <c:extLst>
              <c:ext xmlns:c16="http://schemas.microsoft.com/office/drawing/2014/chart" uri="{C3380CC4-5D6E-409C-BE32-E72D297353CC}">
                <c16:uniqueId val="{00000015-016F-4479-AA0E-FBC6E2B1B68A}"/>
              </c:ext>
            </c:extLst>
          </c:dPt>
          <c:dPt>
            <c:idx val="11"/>
            <c:invertIfNegative val="0"/>
            <c:bubble3D val="0"/>
            <c:spPr>
              <a:noFill/>
              <a:ln>
                <a:noFill/>
              </a:ln>
              <a:effectLst/>
            </c:spPr>
            <c:extLst>
              <c:ext xmlns:c16="http://schemas.microsoft.com/office/drawing/2014/chart" uri="{C3380CC4-5D6E-409C-BE32-E72D297353CC}">
                <c16:uniqueId val="{00000017-016F-4479-AA0E-FBC6E2B1B68A}"/>
              </c:ext>
            </c:extLst>
          </c:dPt>
          <c:dPt>
            <c:idx val="12"/>
            <c:invertIfNegative val="0"/>
            <c:bubble3D val="0"/>
            <c:spPr>
              <a:noFill/>
              <a:ln>
                <a:noFill/>
              </a:ln>
              <a:effectLst/>
            </c:spPr>
            <c:extLst>
              <c:ext xmlns:c16="http://schemas.microsoft.com/office/drawing/2014/chart" uri="{C3380CC4-5D6E-409C-BE32-E72D297353CC}">
                <c16:uniqueId val="{00000019-016F-4479-AA0E-FBC6E2B1B68A}"/>
              </c:ext>
            </c:extLst>
          </c:dPt>
          <c:dPt>
            <c:idx val="13"/>
            <c:invertIfNegative val="0"/>
            <c:bubble3D val="0"/>
            <c:spPr>
              <a:solidFill>
                <a:srgbClr val="2A5F8F"/>
              </a:solidFill>
              <a:ln>
                <a:noFill/>
              </a:ln>
              <a:effectLst/>
            </c:spPr>
            <c:extLst>
              <c:ext xmlns:c16="http://schemas.microsoft.com/office/drawing/2014/chart" uri="{C3380CC4-5D6E-409C-BE32-E72D297353CC}">
                <c16:uniqueId val="{0000001B-016F-4479-AA0E-FBC6E2B1B68A}"/>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46151.395235057273</c:v>
                </c:pt>
                <c:pt idx="1">
                  <c:v>46151.395235057273</c:v>
                </c:pt>
                <c:pt idx="2">
                  <c:v>51262.466015889717</c:v>
                </c:pt>
                <c:pt idx="3">
                  <c:v>51262.466015889717</c:v>
                </c:pt>
                <c:pt idx="4">
                  <c:v>54139.564227251089</c:v>
                </c:pt>
                <c:pt idx="5">
                  <c:v>57332.713489978465</c:v>
                </c:pt>
                <c:pt idx="6">
                  <c:v>60908.072333987519</c:v>
                </c:pt>
                <c:pt idx="7">
                  <c:v>64917.185409796177</c:v>
                </c:pt>
                <c:pt idx="8">
                  <c:v>69390.106648352739</c:v>
                </c:pt>
                <c:pt idx="9">
                  <c:v>74345.68524265851</c:v>
                </c:pt>
                <c:pt idx="10">
                  <c:v>79648.179042765711</c:v>
                </c:pt>
                <c:pt idx="11">
                  <c:v>85248.48885559295</c:v>
                </c:pt>
                <c:pt idx="12">
                  <c:v>91166.293865998596</c:v>
                </c:pt>
                <c:pt idx="13">
                  <c:v>103827.59267879585</c:v>
                </c:pt>
              </c:numCache>
            </c:numRef>
          </c:val>
          <c:extLst>
            <c:ext xmlns:c16="http://schemas.microsoft.com/office/drawing/2014/chart" uri="{C3380CC4-5D6E-409C-BE32-E72D297353CC}">
              <c16:uniqueId val="{0000001C-016F-4479-AA0E-FBC6E2B1B68A}"/>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5111.0707808324441</c:v>
                </c:pt>
                <c:pt idx="3">
                  <c:v>2877.0982113613718</c:v>
                </c:pt>
                <c:pt idx="4">
                  <c:v>3193.1492627273765</c:v>
                </c:pt>
                <c:pt idx="5">
                  <c:v>3575.3588440090534</c:v>
                </c:pt>
                <c:pt idx="6">
                  <c:v>4009.1130758086583</c:v>
                </c:pt>
                <c:pt idx="7">
                  <c:v>4472.9212385565625</c:v>
                </c:pt>
                <c:pt idx="8">
                  <c:v>4955.5785943057708</c:v>
                </c:pt>
                <c:pt idx="9">
                  <c:v>5302.4938001072005</c:v>
                </c:pt>
                <c:pt idx="10">
                  <c:v>5600.3098128272395</c:v>
                </c:pt>
                <c:pt idx="11">
                  <c:v>5917.8050104056456</c:v>
                </c:pt>
                <c:pt idx="12">
                  <c:v>6186.1335866877489</c:v>
                </c:pt>
              </c:numCache>
            </c:numRef>
          </c:val>
          <c:extLst>
            <c:ext xmlns:c16="http://schemas.microsoft.com/office/drawing/2014/chart" uri="{C3380CC4-5D6E-409C-BE32-E72D297353CC}">
              <c16:uniqueId val="{0000001D-016F-4479-AA0E-FBC6E2B1B68A}"/>
            </c:ext>
          </c:extLst>
        </c:ser>
        <c:dLbls>
          <c:showLegendKey val="0"/>
          <c:showVal val="0"/>
          <c:showCatName val="0"/>
          <c:showSerName val="0"/>
          <c:showPercent val="0"/>
          <c:showBubbleSize val="0"/>
        </c:dLbls>
        <c:gapWidth val="50"/>
        <c:overlap val="100"/>
        <c:axId val="207103120"/>
        <c:axId val="207117264"/>
      </c:barChart>
      <c:catAx>
        <c:axId val="2071031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17264"/>
        <c:crosses val="autoZero"/>
        <c:auto val="1"/>
        <c:lblAlgn val="ctr"/>
        <c:lblOffset val="100"/>
        <c:noMultiLvlLbl val="0"/>
      </c:catAx>
      <c:valAx>
        <c:axId val="207117264"/>
        <c:scaling>
          <c:orientation val="minMax"/>
        </c:scaling>
        <c:delete val="1"/>
        <c:axPos val="l"/>
        <c:numFmt formatCode="#,##0.0" sourceLinked="1"/>
        <c:majorTickMark val="none"/>
        <c:minorTickMark val="none"/>
        <c:tickLblPos val="nextTo"/>
        <c:crossAx val="207103120"/>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1722-4F33-A3C6-59C57B6C6F36}"/>
              </c:ext>
            </c:extLst>
          </c:dPt>
          <c:dPt>
            <c:idx val="1"/>
            <c:invertIfNegative val="0"/>
            <c:bubble3D val="0"/>
            <c:spPr>
              <a:noFill/>
              <a:ln>
                <a:noFill/>
              </a:ln>
              <a:effectLst/>
            </c:spPr>
            <c:extLst>
              <c:ext xmlns:c16="http://schemas.microsoft.com/office/drawing/2014/chart" uri="{C3380CC4-5D6E-409C-BE32-E72D297353CC}">
                <c16:uniqueId val="{00000003-1722-4F33-A3C6-59C57B6C6F36}"/>
              </c:ext>
            </c:extLst>
          </c:dPt>
          <c:dPt>
            <c:idx val="2"/>
            <c:invertIfNegative val="0"/>
            <c:bubble3D val="0"/>
            <c:spPr>
              <a:solidFill>
                <a:srgbClr val="9E7E0A"/>
              </a:solidFill>
              <a:ln>
                <a:noFill/>
              </a:ln>
              <a:effectLst/>
            </c:spPr>
            <c:extLst>
              <c:ext xmlns:c16="http://schemas.microsoft.com/office/drawing/2014/chart" uri="{C3380CC4-5D6E-409C-BE32-E72D297353CC}">
                <c16:uniqueId val="{00000005-1722-4F33-A3C6-59C57B6C6F36}"/>
              </c:ext>
            </c:extLst>
          </c:dPt>
          <c:dPt>
            <c:idx val="3"/>
            <c:invertIfNegative val="0"/>
            <c:bubble3D val="0"/>
            <c:spPr>
              <a:noFill/>
              <a:ln>
                <a:noFill/>
              </a:ln>
              <a:effectLst/>
            </c:spPr>
            <c:extLst>
              <c:ext xmlns:c16="http://schemas.microsoft.com/office/drawing/2014/chart" uri="{C3380CC4-5D6E-409C-BE32-E72D297353CC}">
                <c16:uniqueId val="{00000007-1722-4F33-A3C6-59C57B6C6F36}"/>
              </c:ext>
            </c:extLst>
          </c:dPt>
          <c:dPt>
            <c:idx val="4"/>
            <c:invertIfNegative val="0"/>
            <c:bubble3D val="0"/>
            <c:spPr>
              <a:noFill/>
              <a:ln>
                <a:noFill/>
              </a:ln>
              <a:effectLst/>
            </c:spPr>
            <c:extLst>
              <c:ext xmlns:c16="http://schemas.microsoft.com/office/drawing/2014/chart" uri="{C3380CC4-5D6E-409C-BE32-E72D297353CC}">
                <c16:uniqueId val="{00000009-1722-4F33-A3C6-59C57B6C6F36}"/>
              </c:ext>
            </c:extLst>
          </c:dPt>
          <c:dPt>
            <c:idx val="5"/>
            <c:invertIfNegative val="0"/>
            <c:bubble3D val="0"/>
            <c:spPr>
              <a:noFill/>
              <a:ln>
                <a:noFill/>
              </a:ln>
              <a:effectLst/>
            </c:spPr>
            <c:extLst>
              <c:ext xmlns:c16="http://schemas.microsoft.com/office/drawing/2014/chart" uri="{C3380CC4-5D6E-409C-BE32-E72D297353CC}">
                <c16:uniqueId val="{0000000B-1722-4F33-A3C6-59C57B6C6F36}"/>
              </c:ext>
            </c:extLst>
          </c:dPt>
          <c:dPt>
            <c:idx val="6"/>
            <c:invertIfNegative val="0"/>
            <c:bubble3D val="0"/>
            <c:spPr>
              <a:noFill/>
              <a:ln>
                <a:noFill/>
              </a:ln>
              <a:effectLst/>
            </c:spPr>
            <c:extLst>
              <c:ext xmlns:c16="http://schemas.microsoft.com/office/drawing/2014/chart" uri="{C3380CC4-5D6E-409C-BE32-E72D297353CC}">
                <c16:uniqueId val="{0000000D-1722-4F33-A3C6-59C57B6C6F36}"/>
              </c:ext>
            </c:extLst>
          </c:dPt>
          <c:dPt>
            <c:idx val="7"/>
            <c:invertIfNegative val="0"/>
            <c:bubble3D val="0"/>
            <c:spPr>
              <a:noFill/>
              <a:ln>
                <a:noFill/>
              </a:ln>
              <a:effectLst/>
            </c:spPr>
            <c:extLst>
              <c:ext xmlns:c16="http://schemas.microsoft.com/office/drawing/2014/chart" uri="{C3380CC4-5D6E-409C-BE32-E72D297353CC}">
                <c16:uniqueId val="{0000000F-1722-4F33-A3C6-59C57B6C6F36}"/>
              </c:ext>
            </c:extLst>
          </c:dPt>
          <c:dPt>
            <c:idx val="8"/>
            <c:invertIfNegative val="0"/>
            <c:bubble3D val="0"/>
            <c:spPr>
              <a:noFill/>
              <a:ln>
                <a:noFill/>
              </a:ln>
              <a:effectLst/>
            </c:spPr>
            <c:extLst>
              <c:ext xmlns:c16="http://schemas.microsoft.com/office/drawing/2014/chart" uri="{C3380CC4-5D6E-409C-BE32-E72D297353CC}">
                <c16:uniqueId val="{00000011-1722-4F33-A3C6-59C57B6C6F36}"/>
              </c:ext>
            </c:extLst>
          </c:dPt>
          <c:dPt>
            <c:idx val="9"/>
            <c:invertIfNegative val="0"/>
            <c:bubble3D val="0"/>
            <c:spPr>
              <a:noFill/>
              <a:ln>
                <a:noFill/>
              </a:ln>
              <a:effectLst/>
            </c:spPr>
            <c:extLst>
              <c:ext xmlns:c16="http://schemas.microsoft.com/office/drawing/2014/chart" uri="{C3380CC4-5D6E-409C-BE32-E72D297353CC}">
                <c16:uniqueId val="{00000013-1722-4F33-A3C6-59C57B6C6F36}"/>
              </c:ext>
            </c:extLst>
          </c:dPt>
          <c:dPt>
            <c:idx val="10"/>
            <c:invertIfNegative val="0"/>
            <c:bubble3D val="0"/>
            <c:spPr>
              <a:noFill/>
              <a:ln>
                <a:noFill/>
              </a:ln>
              <a:effectLst/>
            </c:spPr>
            <c:extLst>
              <c:ext xmlns:c16="http://schemas.microsoft.com/office/drawing/2014/chart" uri="{C3380CC4-5D6E-409C-BE32-E72D297353CC}">
                <c16:uniqueId val="{00000015-1722-4F33-A3C6-59C57B6C6F36}"/>
              </c:ext>
            </c:extLst>
          </c:dPt>
          <c:dPt>
            <c:idx val="11"/>
            <c:invertIfNegative val="0"/>
            <c:bubble3D val="0"/>
            <c:spPr>
              <a:noFill/>
              <a:ln>
                <a:noFill/>
              </a:ln>
              <a:effectLst/>
            </c:spPr>
            <c:extLst>
              <c:ext xmlns:c16="http://schemas.microsoft.com/office/drawing/2014/chart" uri="{C3380CC4-5D6E-409C-BE32-E72D297353CC}">
                <c16:uniqueId val="{00000017-1722-4F33-A3C6-59C57B6C6F36}"/>
              </c:ext>
            </c:extLst>
          </c:dPt>
          <c:dPt>
            <c:idx val="12"/>
            <c:invertIfNegative val="0"/>
            <c:bubble3D val="0"/>
            <c:spPr>
              <a:noFill/>
              <a:ln>
                <a:noFill/>
              </a:ln>
              <a:effectLst/>
            </c:spPr>
            <c:extLst>
              <c:ext xmlns:c16="http://schemas.microsoft.com/office/drawing/2014/chart" uri="{C3380CC4-5D6E-409C-BE32-E72D297353CC}">
                <c16:uniqueId val="{00000019-1722-4F33-A3C6-59C57B6C6F36}"/>
              </c:ext>
            </c:extLst>
          </c:dPt>
          <c:dPt>
            <c:idx val="13"/>
            <c:invertIfNegative val="0"/>
            <c:bubble3D val="0"/>
            <c:spPr>
              <a:solidFill>
                <a:srgbClr val="2A5F8F"/>
              </a:solidFill>
              <a:ln>
                <a:noFill/>
              </a:ln>
              <a:effectLst/>
            </c:spPr>
            <c:extLst>
              <c:ext xmlns:c16="http://schemas.microsoft.com/office/drawing/2014/chart" uri="{C3380CC4-5D6E-409C-BE32-E72D297353CC}">
                <c16:uniqueId val="{0000001B-1722-4F33-A3C6-59C57B6C6F36}"/>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9.3147758164037526</c:v>
                </c:pt>
                <c:pt idx="1">
                  <c:v>9.3147758164037526</c:v>
                </c:pt>
                <c:pt idx="2">
                  <c:v>10.105301959682805</c:v>
                </c:pt>
                <c:pt idx="3">
                  <c:v>10.105301959682805</c:v>
                </c:pt>
                <c:pt idx="4">
                  <c:v>10.543542155425541</c:v>
                </c:pt>
                <c:pt idx="5">
                  <c:v>10.997954627278178</c:v>
                </c:pt>
                <c:pt idx="6">
                  <c:v>11.479778537252098</c:v>
                </c:pt>
                <c:pt idx="7">
                  <c:v>12.009101125277244</c:v>
                </c:pt>
                <c:pt idx="8">
                  <c:v>12.587238152391194</c:v>
                </c:pt>
                <c:pt idx="9">
                  <c:v>13.21334290235696</c:v>
                </c:pt>
                <c:pt idx="10">
                  <c:v>13.862447895049932</c:v>
                </c:pt>
                <c:pt idx="11">
                  <c:v>14.512025402275682</c:v>
                </c:pt>
                <c:pt idx="12">
                  <c:v>15.178014403425168</c:v>
                </c:pt>
                <c:pt idx="13">
                  <c:v>16.548458140869769</c:v>
                </c:pt>
              </c:numCache>
            </c:numRef>
          </c:val>
          <c:extLst>
            <c:ext xmlns:c16="http://schemas.microsoft.com/office/drawing/2014/chart" uri="{C3380CC4-5D6E-409C-BE32-E72D297353CC}">
              <c16:uniqueId val="{0000001C-1722-4F33-A3C6-59C57B6C6F36}"/>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0.79052614327905246</c:v>
                </c:pt>
                <c:pt idx="3">
                  <c:v>0.4382401957427362</c:v>
                </c:pt>
                <c:pt idx="4">
                  <c:v>0.45441247185263656</c:v>
                </c:pt>
                <c:pt idx="5">
                  <c:v>0.48182390997392055</c:v>
                </c:pt>
                <c:pt idx="6">
                  <c:v>0.52932258802514554</c:v>
                </c:pt>
                <c:pt idx="7">
                  <c:v>0.5781370271139501</c:v>
                </c:pt>
                <c:pt idx="8">
                  <c:v>0.62610474996576571</c:v>
                </c:pt>
                <c:pt idx="9">
                  <c:v>0.64910499269297262</c:v>
                </c:pt>
                <c:pt idx="10">
                  <c:v>0.64957750722575014</c:v>
                </c:pt>
                <c:pt idx="11">
                  <c:v>0.66598900114948556</c:v>
                </c:pt>
                <c:pt idx="12">
                  <c:v>0.67992822293363631</c:v>
                </c:pt>
              </c:numCache>
            </c:numRef>
          </c:val>
          <c:extLst>
            <c:ext xmlns:c16="http://schemas.microsoft.com/office/drawing/2014/chart" uri="{C3380CC4-5D6E-409C-BE32-E72D297353CC}">
              <c16:uniqueId val="{0000001D-1722-4F33-A3C6-59C57B6C6F36}"/>
            </c:ext>
          </c:extLst>
        </c:ser>
        <c:dLbls>
          <c:showLegendKey val="0"/>
          <c:showVal val="0"/>
          <c:showCatName val="0"/>
          <c:showSerName val="0"/>
          <c:showPercent val="0"/>
          <c:showBubbleSize val="0"/>
        </c:dLbls>
        <c:gapWidth val="50"/>
        <c:overlap val="100"/>
        <c:axId val="207089520"/>
        <c:axId val="207109104"/>
      </c:barChart>
      <c:catAx>
        <c:axId val="2070895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09104"/>
        <c:crosses val="autoZero"/>
        <c:auto val="1"/>
        <c:lblAlgn val="ctr"/>
        <c:lblOffset val="100"/>
        <c:noMultiLvlLbl val="0"/>
      </c:catAx>
      <c:valAx>
        <c:axId val="207109104"/>
        <c:scaling>
          <c:orientation val="minMax"/>
        </c:scaling>
        <c:delete val="1"/>
        <c:axPos val="l"/>
        <c:numFmt formatCode="0.0" sourceLinked="1"/>
        <c:majorTickMark val="none"/>
        <c:minorTickMark val="none"/>
        <c:tickLblPos val="nextTo"/>
        <c:crossAx val="207089520"/>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910917822963"/>
          <c:y val="4.0225179225868664E-2"/>
          <c:w val="0.87507556483913373"/>
          <c:h val="0.65061484798850733"/>
        </c:manualLayout>
      </c:layout>
      <c:lineChart>
        <c:grouping val="standard"/>
        <c:varyColors val="0"/>
        <c:ser>
          <c:idx val="0"/>
          <c:order val="0"/>
          <c:tx>
            <c:strRef>
              <c:f>Sheet1!$B$1</c:f>
              <c:strCache>
                <c:ptCount val="1"/>
                <c:pt idx="0">
                  <c:v>U.S.</c:v>
                </c:pt>
              </c:strCache>
            </c:strRef>
          </c:tx>
          <c:spPr>
            <a:ln w="28575" cap="rnd">
              <a:solidFill>
                <a:schemeClr val="accent1"/>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Sheet1!$B$2:$B$12</c:f>
              <c:numCache>
                <c:formatCode>0.0%</c:formatCode>
                <c:ptCount val="11"/>
                <c:pt idx="0">
                  <c:v>5.1500000000000004E-2</c:v>
                </c:pt>
                <c:pt idx="1">
                  <c:v>5.4166666666666669E-2</c:v>
                </c:pt>
                <c:pt idx="2">
                  <c:v>5.7000000000000009E-2</c:v>
                </c:pt>
                <c:pt idx="3">
                  <c:v>5.9333333333333335E-2</c:v>
                </c:pt>
                <c:pt idx="4">
                  <c:v>6.1166666666666675E-2</c:v>
                </c:pt>
                <c:pt idx="5">
                  <c:v>6.2833333333333338E-2</c:v>
                </c:pt>
                <c:pt idx="6">
                  <c:v>6.483333333333334E-2</c:v>
                </c:pt>
                <c:pt idx="7">
                  <c:v>6.7166666666666666E-2</c:v>
                </c:pt>
                <c:pt idx="8">
                  <c:v>6.8833333333333344E-2</c:v>
                </c:pt>
                <c:pt idx="9">
                  <c:v>6.9000000000000006E-2</c:v>
                </c:pt>
                <c:pt idx="10">
                  <c:v>6.7666666666666667E-2</c:v>
                </c:pt>
              </c:numCache>
            </c:numRef>
          </c:val>
          <c:smooth val="1"/>
          <c:extLst>
            <c:ext xmlns:c16="http://schemas.microsoft.com/office/drawing/2014/chart" uri="{C3380CC4-5D6E-409C-BE32-E72D297353CC}">
              <c16:uniqueId val="{00000000-6632-4D2B-86C8-7319BAC0FACD}"/>
            </c:ext>
          </c:extLst>
        </c:ser>
        <c:ser>
          <c:idx val="1"/>
          <c:order val="1"/>
          <c:tx>
            <c:strRef>
              <c:f>Sheet1!$C$1</c:f>
              <c:strCache>
                <c:ptCount val="1"/>
                <c:pt idx="0">
                  <c:v>Canada</c:v>
                </c:pt>
              </c:strCache>
            </c:strRef>
          </c:tx>
          <c:spPr>
            <a:ln w="28575" cap="rnd">
              <a:solidFill>
                <a:schemeClr val="accent2"/>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Sheet1!$C$2:$C$12</c:f>
              <c:numCache>
                <c:formatCode>0.0%</c:formatCode>
                <c:ptCount val="11"/>
                <c:pt idx="0">
                  <c:v>5.116830281459997E-2</c:v>
                </c:pt>
                <c:pt idx="1">
                  <c:v>5.1290221555306513E-2</c:v>
                </c:pt>
                <c:pt idx="2">
                  <c:v>5.1395302571985553E-2</c:v>
                </c:pt>
                <c:pt idx="3">
                  <c:v>5.151160873801626E-2</c:v>
                </c:pt>
                <c:pt idx="4">
                  <c:v>5.1620431471145853E-2</c:v>
                </c:pt>
                <c:pt idx="5">
                  <c:v>5.1734243159542857E-2</c:v>
                </c:pt>
                <c:pt idx="6">
                  <c:v>5.1844728877761585E-2</c:v>
                </c:pt>
                <c:pt idx="7">
                  <c:v>5.1961866536336859E-2</c:v>
                </c:pt>
                <c:pt idx="8">
                  <c:v>5.2074569568007774E-2</c:v>
                </c:pt>
                <c:pt idx="9">
                  <c:v>5.2190229017614928E-2</c:v>
                </c:pt>
                <c:pt idx="10">
                  <c:v>5.2299975631349596E-2</c:v>
                </c:pt>
              </c:numCache>
            </c:numRef>
          </c:val>
          <c:smooth val="1"/>
          <c:extLst>
            <c:ext xmlns:c16="http://schemas.microsoft.com/office/drawing/2014/chart" uri="{C3380CC4-5D6E-409C-BE32-E72D297353CC}">
              <c16:uniqueId val="{00000001-6632-4D2B-86C8-7319BAC0FACD}"/>
            </c:ext>
          </c:extLst>
        </c:ser>
        <c:ser>
          <c:idx val="2"/>
          <c:order val="2"/>
          <c:tx>
            <c:strRef>
              <c:f>Sheet1!$D$1</c:f>
              <c:strCache>
                <c:ptCount val="1"/>
                <c:pt idx="0">
                  <c:v>Mexico</c:v>
                </c:pt>
              </c:strCache>
            </c:strRef>
          </c:tx>
          <c:spPr>
            <a:ln w="28575" cap="rnd">
              <a:solidFill>
                <a:schemeClr val="accent3"/>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Sheet1!$D$2:$D$12</c:f>
              <c:numCache>
                <c:formatCode>0.0%</c:formatCode>
                <c:ptCount val="11"/>
                <c:pt idx="0">
                  <c:v>5.0610918051856614E-2</c:v>
                </c:pt>
                <c:pt idx="1">
                  <c:v>5.1425475454332091E-2</c:v>
                </c:pt>
                <c:pt idx="2">
                  <c:v>5.2138213181498139E-2</c:v>
                </c:pt>
                <c:pt idx="3">
                  <c:v>5.274913123335475E-2</c:v>
                </c:pt>
                <c:pt idx="4">
                  <c:v>5.2850950908664179E-2</c:v>
                </c:pt>
                <c:pt idx="5">
                  <c:v>5.2647311558045314E-2</c:v>
                </c:pt>
                <c:pt idx="6">
                  <c:v>5.2036393506188702E-2</c:v>
                </c:pt>
                <c:pt idx="7">
                  <c:v>5.1323655779022655E-2</c:v>
                </c:pt>
                <c:pt idx="8">
                  <c:v>5.0610918051856614E-2</c:v>
                </c:pt>
                <c:pt idx="9">
                  <c:v>0.05</c:v>
                </c:pt>
                <c:pt idx="10">
                  <c:v>4.9490901623452828E-2</c:v>
                </c:pt>
              </c:numCache>
            </c:numRef>
          </c:val>
          <c:smooth val="1"/>
          <c:extLst>
            <c:ext xmlns:c16="http://schemas.microsoft.com/office/drawing/2014/chart" uri="{C3380CC4-5D6E-409C-BE32-E72D297353CC}">
              <c16:uniqueId val="{00000002-6632-4D2B-86C8-7319BAC0FACD}"/>
            </c:ext>
          </c:extLst>
        </c:ser>
        <c:dLbls>
          <c:showLegendKey val="0"/>
          <c:showVal val="0"/>
          <c:showCatName val="0"/>
          <c:showSerName val="0"/>
          <c:showPercent val="0"/>
          <c:showBubbleSize val="0"/>
        </c:dLbls>
        <c:smooth val="0"/>
        <c:axId val="207113456"/>
        <c:axId val="207109648"/>
      </c:lineChart>
      <c:catAx>
        <c:axId val="207113456"/>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09648"/>
        <c:crossesAt val="-3.5000000000000003E-2"/>
        <c:auto val="1"/>
        <c:lblAlgn val="ctr"/>
        <c:lblOffset val="100"/>
        <c:noMultiLvlLbl val="0"/>
      </c:catAx>
      <c:valAx>
        <c:axId val="207109648"/>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207113456"/>
        <c:crosses val="autoZero"/>
        <c:crossBetween val="between"/>
      </c:valAx>
      <c:spPr>
        <a:noFill/>
        <a:ln w="25400">
          <a:noFill/>
        </a:ln>
        <a:effectLst/>
      </c:spPr>
    </c:plotArea>
    <c:legend>
      <c:legendPos val="b"/>
      <c:layout>
        <c:manualLayout>
          <c:xMode val="edge"/>
          <c:yMode val="edge"/>
          <c:x val="0"/>
          <c:y val="0.81733067057011788"/>
          <c:w val="1"/>
          <c:h val="0.1826693294298820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12700">
      <a:noFill/>
    </a:ln>
    <a:effectLst/>
  </c:spPr>
  <c:txPr>
    <a:bodyPr/>
    <a:lstStyle/>
    <a:p>
      <a:pPr>
        <a:defRPr sz="1100">
          <a:solidFill>
            <a:schemeClr val="tx1"/>
          </a:solidFill>
        </a:defRPr>
      </a:pPr>
      <a:endParaRPr lang="en-US"/>
    </a:p>
  </c:txPr>
  <c:externalData r:id="rId3">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193926521544815"/>
          <c:y val="3.2403000316204716E-2"/>
          <c:w val="0.7016005889076895"/>
          <c:h val="0.82090372344009988"/>
        </c:manualLayout>
      </c:layout>
      <c:bubbleChart>
        <c:varyColors val="1"/>
        <c:ser>
          <c:idx val="0"/>
          <c:order val="0"/>
          <c:tx>
            <c:strRef>
              <c:f>Sheet1!$C$1</c:f>
              <c:strCache>
                <c:ptCount val="1"/>
                <c:pt idx="0">
                  <c:v>Y-Values</c:v>
                </c:pt>
              </c:strCache>
            </c:strRef>
          </c:tx>
          <c:invertIfNegative val="0"/>
          <c:dPt>
            <c:idx val="0"/>
            <c:invertIfNegative val="0"/>
            <c:bubble3D val="0"/>
            <c:spPr>
              <a:solidFill>
                <a:schemeClr val="accent1">
                  <a:alpha val="75000"/>
                </a:schemeClr>
              </a:solidFill>
              <a:ln>
                <a:noFill/>
              </a:ln>
              <a:effectLst/>
            </c:spPr>
            <c:extLst>
              <c:ext xmlns:c16="http://schemas.microsoft.com/office/drawing/2014/chart" uri="{C3380CC4-5D6E-409C-BE32-E72D297353CC}">
                <c16:uniqueId val="{00000001-AFAA-4B90-BD10-4962D21B6EEE}"/>
              </c:ext>
            </c:extLst>
          </c:dPt>
          <c:dPt>
            <c:idx val="1"/>
            <c:invertIfNegative val="0"/>
            <c:bubble3D val="0"/>
            <c:spPr>
              <a:solidFill>
                <a:schemeClr val="accent2">
                  <a:alpha val="75000"/>
                </a:schemeClr>
              </a:solidFill>
              <a:ln>
                <a:noFill/>
              </a:ln>
              <a:effectLst/>
            </c:spPr>
            <c:extLst>
              <c:ext xmlns:c16="http://schemas.microsoft.com/office/drawing/2014/chart" uri="{C3380CC4-5D6E-409C-BE32-E72D297353CC}">
                <c16:uniqueId val="{00000003-AFAA-4B90-BD10-4962D21B6EEE}"/>
              </c:ext>
            </c:extLst>
          </c:dPt>
          <c:dPt>
            <c:idx val="2"/>
            <c:invertIfNegative val="0"/>
            <c:bubble3D val="0"/>
            <c:spPr>
              <a:solidFill>
                <a:schemeClr val="accent3">
                  <a:alpha val="75000"/>
                </a:schemeClr>
              </a:solidFill>
              <a:ln>
                <a:noFill/>
              </a:ln>
              <a:effectLst/>
            </c:spPr>
            <c:extLst>
              <c:ext xmlns:c16="http://schemas.microsoft.com/office/drawing/2014/chart" uri="{C3380CC4-5D6E-409C-BE32-E72D297353CC}">
                <c16:uniqueId val="{00000005-AFAA-4B90-BD10-4962D21B6EEE}"/>
              </c:ext>
            </c:extLst>
          </c:dPt>
          <c:xVal>
            <c:numRef>
              <c:f>Sheet1!$B$2:$B$4</c:f>
              <c:numCache>
                <c:formatCode>_(* #,##0.0_);_(* \(#,##0.0\);_(* "-"??_);_(@_)</c:formatCode>
                <c:ptCount val="3"/>
                <c:pt idx="0">
                  <c:v>1.2484641180451868</c:v>
                </c:pt>
                <c:pt idx="1">
                  <c:v>1.171505207157916</c:v>
                </c:pt>
                <c:pt idx="2">
                  <c:v>1.0385803668462259</c:v>
                </c:pt>
              </c:numCache>
            </c:numRef>
          </c:xVal>
          <c:yVal>
            <c:numRef>
              <c:f>Sheet1!$C$2:$C$4</c:f>
              <c:numCache>
                <c:formatCode>_(* #,##0.0_);_(* \(#,##0.0\);_(* "-"??_);_(@_)</c:formatCode>
                <c:ptCount val="3"/>
                <c:pt idx="0">
                  <c:v>3.671570117770909</c:v>
                </c:pt>
                <c:pt idx="1">
                  <c:v>2.9587134526586683</c:v>
                </c:pt>
                <c:pt idx="2">
                  <c:v>1.1164555835041849</c:v>
                </c:pt>
              </c:numCache>
            </c:numRef>
          </c:yVal>
          <c:bubbleSize>
            <c:numRef>
              <c:f>Sheet1!$D$2:$D$4</c:f>
              <c:numCache>
                <c:formatCode>_(* #,##0.0_);_(* \(#,##0.0\);_(* "-"??_);_(@_)</c:formatCode>
                <c:ptCount val="3"/>
                <c:pt idx="0">
                  <c:v>4.3273698868360606</c:v>
                </c:pt>
                <c:pt idx="1">
                  <c:v>3.2149946963903226</c:v>
                </c:pt>
                <c:pt idx="2">
                  <c:v>1.0433263518646889</c:v>
                </c:pt>
              </c:numCache>
            </c:numRef>
          </c:bubbleSize>
          <c:bubble3D val="0"/>
          <c:extLst>
            <c:ext xmlns:c16="http://schemas.microsoft.com/office/drawing/2014/chart" uri="{C3380CC4-5D6E-409C-BE32-E72D297353CC}">
              <c16:uniqueId val="{00000006-AFAA-4B90-BD10-4962D21B6EEE}"/>
            </c:ext>
          </c:extLst>
        </c:ser>
        <c:dLbls>
          <c:showLegendKey val="0"/>
          <c:showVal val="0"/>
          <c:showCatName val="0"/>
          <c:showSerName val="0"/>
          <c:showPercent val="0"/>
          <c:showBubbleSize val="0"/>
        </c:dLbls>
        <c:bubbleScale val="100"/>
        <c:showNegBubbles val="0"/>
        <c:axId val="207092240"/>
        <c:axId val="207111280"/>
      </c:bubbleChart>
      <c:valAx>
        <c:axId val="207092240"/>
        <c:scaling>
          <c:orientation val="minMax"/>
          <c:min val="0"/>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CAGR Index (2024 – 2034)</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111280"/>
        <c:crossesAt val="0"/>
        <c:crossBetween val="midCat"/>
      </c:valAx>
      <c:valAx>
        <c:axId val="207111280"/>
        <c:scaling>
          <c:orientation val="minMax"/>
          <c:min val="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Market Share Index (2024E)</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092240"/>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586017868029705E-2"/>
          <c:y val="5.6718815469420834E-2"/>
          <c:w val="0.92649309691078063"/>
          <c:h val="0.72664225195762067"/>
        </c:manualLayout>
      </c:layout>
      <c:barChart>
        <c:barDir val="col"/>
        <c:grouping val="percentStacked"/>
        <c:varyColors val="0"/>
        <c:ser>
          <c:idx val="0"/>
          <c:order val="0"/>
          <c:tx>
            <c:strRef>
              <c:f>Sheet1!$B$1</c:f>
              <c:strCache>
                <c:ptCount val="1"/>
                <c:pt idx="0">
                  <c:v>U.S.</c:v>
                </c:pt>
              </c:strCache>
            </c:strRef>
          </c:tx>
          <c:spPr>
            <a:solidFill>
              <a:schemeClr val="accent1"/>
            </a:solidFill>
            <a:ln>
              <a:noFill/>
            </a:ln>
            <a:effectLst/>
          </c:spPr>
          <c:invertIfNegative val="0"/>
          <c:cat>
            <c:strRef>
              <c:f>Sheet1!$A$2:$A$3</c:f>
              <c:strCache>
                <c:ptCount val="2"/>
                <c:pt idx="0">
                  <c:v>2024E</c:v>
                </c:pt>
                <c:pt idx="1">
                  <c:v>2034F</c:v>
                </c:pt>
              </c:strCache>
            </c:strRef>
          </c:cat>
          <c:val>
            <c:numRef>
              <c:f>Sheet1!$B$2:$B$3</c:f>
              <c:numCache>
                <c:formatCode>0.0%</c:formatCode>
                <c:ptCount val="2"/>
                <c:pt idx="0">
                  <c:v>0.18</c:v>
                </c:pt>
                <c:pt idx="1">
                  <c:v>0.18</c:v>
                </c:pt>
              </c:numCache>
            </c:numRef>
          </c:val>
          <c:extLst>
            <c:ext xmlns:c16="http://schemas.microsoft.com/office/drawing/2014/chart" uri="{C3380CC4-5D6E-409C-BE32-E72D297353CC}">
              <c16:uniqueId val="{00000000-12A2-48EE-BCB3-7D670141C4FE}"/>
            </c:ext>
          </c:extLst>
        </c:ser>
        <c:ser>
          <c:idx val="1"/>
          <c:order val="1"/>
          <c:tx>
            <c:strRef>
              <c:f>Sheet1!$C$1</c:f>
              <c:strCache>
                <c:ptCount val="1"/>
                <c:pt idx="0">
                  <c:v>Canada</c:v>
                </c:pt>
              </c:strCache>
            </c:strRef>
          </c:tx>
          <c:spPr>
            <a:solidFill>
              <a:schemeClr val="accent2"/>
            </a:solidFill>
            <a:ln>
              <a:noFill/>
            </a:ln>
            <a:effectLst/>
          </c:spPr>
          <c:invertIfNegative val="0"/>
          <c:cat>
            <c:strRef>
              <c:f>Sheet1!$A$2:$A$3</c:f>
              <c:strCache>
                <c:ptCount val="2"/>
                <c:pt idx="0">
                  <c:v>2024E</c:v>
                </c:pt>
                <c:pt idx="1">
                  <c:v>2034F</c:v>
                </c:pt>
              </c:strCache>
            </c:strRef>
          </c:cat>
          <c:val>
            <c:numRef>
              <c:f>Sheet1!$C$2:$C$3</c:f>
              <c:numCache>
                <c:formatCode>0.0%</c:formatCode>
                <c:ptCount val="2"/>
                <c:pt idx="0">
                  <c:v>0.06</c:v>
                </c:pt>
                <c:pt idx="1">
                  <c:v>0.06</c:v>
                </c:pt>
              </c:numCache>
            </c:numRef>
          </c:val>
          <c:extLst>
            <c:ext xmlns:c16="http://schemas.microsoft.com/office/drawing/2014/chart" uri="{C3380CC4-5D6E-409C-BE32-E72D297353CC}">
              <c16:uniqueId val="{00000001-12A2-48EE-BCB3-7D670141C4FE}"/>
            </c:ext>
          </c:extLst>
        </c:ser>
        <c:ser>
          <c:idx val="2"/>
          <c:order val="2"/>
          <c:tx>
            <c:strRef>
              <c:f>Sheet1!$D$1</c:f>
              <c:strCache>
                <c:ptCount val="1"/>
                <c:pt idx="0">
                  <c:v>Mexico</c:v>
                </c:pt>
              </c:strCache>
            </c:strRef>
          </c:tx>
          <c:spPr>
            <a:solidFill>
              <a:schemeClr val="accent3"/>
            </a:solidFill>
            <a:ln>
              <a:noFill/>
            </a:ln>
            <a:effectLst/>
          </c:spPr>
          <c:invertIfNegative val="0"/>
          <c:cat>
            <c:strRef>
              <c:f>Sheet1!$A$2:$A$3</c:f>
              <c:strCache>
                <c:ptCount val="2"/>
                <c:pt idx="0">
                  <c:v>2024E</c:v>
                </c:pt>
                <c:pt idx="1">
                  <c:v>2034F</c:v>
                </c:pt>
              </c:strCache>
            </c:strRef>
          </c:cat>
          <c:val>
            <c:numRef>
              <c:f>Sheet1!$D$2:$D$3</c:f>
              <c:numCache>
                <c:formatCode>0.0%</c:formatCode>
                <c:ptCount val="2"/>
                <c:pt idx="0">
                  <c:v>0.13</c:v>
                </c:pt>
                <c:pt idx="1">
                  <c:v>0.13</c:v>
                </c:pt>
              </c:numCache>
            </c:numRef>
          </c:val>
          <c:extLst>
            <c:ext xmlns:c16="http://schemas.microsoft.com/office/drawing/2014/chart" uri="{C3380CC4-5D6E-409C-BE32-E72D297353CC}">
              <c16:uniqueId val="{00000002-12A2-48EE-BCB3-7D670141C4FE}"/>
            </c:ext>
          </c:extLst>
        </c:ser>
        <c:dLbls>
          <c:showLegendKey val="0"/>
          <c:showVal val="0"/>
          <c:showCatName val="0"/>
          <c:showSerName val="0"/>
          <c:showPercent val="0"/>
          <c:showBubbleSize val="0"/>
        </c:dLbls>
        <c:gapWidth val="50"/>
        <c:overlap val="100"/>
        <c:axId val="207112912"/>
        <c:axId val="207094416"/>
      </c:barChart>
      <c:catAx>
        <c:axId val="2071129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207094416"/>
        <c:crosses val="autoZero"/>
        <c:auto val="1"/>
        <c:lblAlgn val="ctr"/>
        <c:lblOffset val="100"/>
        <c:noMultiLvlLbl val="0"/>
      </c:catAx>
      <c:valAx>
        <c:axId val="207094416"/>
        <c:scaling>
          <c:orientation val="minMax"/>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207112912"/>
        <c:crosses val="autoZero"/>
        <c:crossBetween val="between"/>
      </c:valAx>
      <c:spPr>
        <a:noFill/>
        <a:ln>
          <a:noFill/>
        </a:ln>
        <a:effectLst/>
      </c:spPr>
    </c:plotArea>
    <c:legend>
      <c:legendPos val="b"/>
      <c:layout>
        <c:manualLayout>
          <c:xMode val="edge"/>
          <c:yMode val="edge"/>
          <c:x val="0"/>
          <c:y val="0.83692483498304948"/>
          <c:w val="1"/>
          <c:h val="0.16307516501695063"/>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
          <c:y val="0.10852747093249289"/>
          <c:w val="0.99129804205946337"/>
          <c:h val="0.64471383473379196"/>
        </c:manualLayout>
      </c:layout>
      <c:barChart>
        <c:barDir val="col"/>
        <c:grouping val="stacked"/>
        <c:varyColors val="0"/>
        <c:ser>
          <c:idx val="0"/>
          <c:order val="0"/>
          <c:tx>
            <c:strRef>
              <c:f>Sheet1!$B$1</c:f>
              <c:strCache>
                <c:ptCount val="1"/>
                <c:pt idx="0">
                  <c:v>Value (US$ Mn)</c:v>
                </c:pt>
              </c:strCache>
            </c:strRef>
          </c:tx>
          <c:spPr>
            <a:no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BDA-45DC-8AD8-CB6A2EE967C6}"/>
              </c:ext>
            </c:extLst>
          </c:dPt>
          <c:dPt>
            <c:idx val="1"/>
            <c:invertIfNegative val="0"/>
            <c:bubble3D val="0"/>
            <c:spPr>
              <a:noFill/>
              <a:ln>
                <a:noFill/>
              </a:ln>
              <a:effectLst/>
            </c:spPr>
            <c:extLst>
              <c:ext xmlns:c16="http://schemas.microsoft.com/office/drawing/2014/chart" uri="{C3380CC4-5D6E-409C-BE32-E72D297353CC}">
                <c16:uniqueId val="{00000003-EBDA-45DC-8AD8-CB6A2EE967C6}"/>
              </c:ext>
            </c:extLst>
          </c:dPt>
          <c:dPt>
            <c:idx val="3"/>
            <c:invertIfNegative val="0"/>
            <c:bubble3D val="0"/>
            <c:spPr>
              <a:noFill/>
              <a:ln>
                <a:noFill/>
              </a:ln>
              <a:effectLst/>
            </c:spPr>
            <c:extLst>
              <c:ext xmlns:c16="http://schemas.microsoft.com/office/drawing/2014/chart" uri="{C3380CC4-5D6E-409C-BE32-E72D297353CC}">
                <c16:uniqueId val="{00000005-EBDA-45DC-8AD8-CB6A2EE967C6}"/>
              </c:ext>
            </c:extLst>
          </c:dPt>
          <c:dPt>
            <c:idx val="4"/>
            <c:invertIfNegative val="0"/>
            <c:bubble3D val="0"/>
            <c:spPr>
              <a:solidFill>
                <a:srgbClr val="2A5F8F"/>
              </a:solidFill>
              <a:ln>
                <a:noFill/>
              </a:ln>
              <a:effectLst/>
            </c:spPr>
            <c:extLst>
              <c:ext xmlns:c16="http://schemas.microsoft.com/office/drawing/2014/chart" uri="{C3380CC4-5D6E-409C-BE32-E72D297353CC}">
                <c16:uniqueId val="{00000007-EBDA-45DC-8AD8-CB6A2EE967C6}"/>
              </c:ext>
            </c:extLst>
          </c:dPt>
          <c:cat>
            <c:strRef>
              <c:f>Sheet1!$A$2:$A$8</c:f>
              <c:strCache>
                <c:ptCount val="5"/>
                <c:pt idx="0">
                  <c:v>2024E</c:v>
                </c:pt>
                <c:pt idx="1">
                  <c:v>U.S.</c:v>
                </c:pt>
                <c:pt idx="2">
                  <c:v>Canada</c:v>
                </c:pt>
                <c:pt idx="3">
                  <c:v>Mexico</c:v>
                </c:pt>
                <c:pt idx="4">
                  <c:v>2034F</c:v>
                </c:pt>
              </c:strCache>
            </c:strRef>
          </c:cat>
          <c:val>
            <c:numRef>
              <c:f>Sheet1!$B$2:$B$6</c:f>
              <c:numCache>
                <c:formatCode>0.0</c:formatCode>
                <c:ptCount val="5"/>
                <c:pt idx="0" formatCode="_ * #,##0.0_ ;_ * \-#,##0.0_ ;_ * &quot;-&quot;??_ ;_ @_ ">
                  <c:v>2923.4059275946483</c:v>
                </c:pt>
                <c:pt idx="1">
                  <c:v>2923.4059275946483</c:v>
                </c:pt>
                <c:pt idx="2">
                  <c:v>5423.4059275946483</c:v>
                </c:pt>
                <c:pt idx="3">
                  <c:v>6173.4059275946483</c:v>
                </c:pt>
                <c:pt idx="4">
                  <c:v>6723.4059275946483</c:v>
                </c:pt>
              </c:numCache>
            </c:numRef>
          </c:val>
          <c:extLst>
            <c:ext xmlns:c16="http://schemas.microsoft.com/office/drawing/2014/chart" uri="{C3380CC4-5D6E-409C-BE32-E72D297353CC}">
              <c16:uniqueId val="{00000008-EBDA-45DC-8AD8-CB6A2EE967C6}"/>
            </c:ext>
          </c:extLst>
        </c:ser>
        <c:ser>
          <c:idx val="1"/>
          <c:order val="1"/>
          <c:tx>
            <c:strRef>
              <c:f>Sheet1!$C$1</c:f>
              <c:strCache>
                <c:ptCount val="1"/>
                <c:pt idx="0">
                  <c:v>Abs. $ Opportunity</c:v>
                </c:pt>
              </c:strCache>
            </c:strRef>
          </c:tx>
          <c:spPr>
            <a:solidFill>
              <a:schemeClr val="accent2"/>
            </a:solidFill>
            <a:ln>
              <a:noFill/>
            </a:ln>
            <a:effectLst/>
          </c:spPr>
          <c:invertIfNegative val="0"/>
          <c:cat>
            <c:strRef>
              <c:f>Sheet1!$A$2:$A$8</c:f>
              <c:strCache>
                <c:ptCount val="5"/>
                <c:pt idx="0">
                  <c:v>2024E</c:v>
                </c:pt>
                <c:pt idx="1">
                  <c:v>U.S.</c:v>
                </c:pt>
                <c:pt idx="2">
                  <c:v>Canada</c:v>
                </c:pt>
                <c:pt idx="3">
                  <c:v>Mexico</c:v>
                </c:pt>
                <c:pt idx="4">
                  <c:v>2034F</c:v>
                </c:pt>
              </c:strCache>
            </c:strRef>
          </c:cat>
          <c:val>
            <c:numRef>
              <c:f>Sheet1!$C$2:$C$6</c:f>
              <c:numCache>
                <c:formatCode>0.0</c:formatCode>
                <c:ptCount val="5"/>
                <c:pt idx="1">
                  <c:v>2500</c:v>
                </c:pt>
                <c:pt idx="2">
                  <c:v>750</c:v>
                </c:pt>
                <c:pt idx="3">
                  <c:v>550</c:v>
                </c:pt>
              </c:numCache>
            </c:numRef>
          </c:val>
          <c:extLst>
            <c:ext xmlns:c16="http://schemas.microsoft.com/office/drawing/2014/chart" uri="{C3380CC4-5D6E-409C-BE32-E72D297353CC}">
              <c16:uniqueId val="{00000009-EBDA-45DC-8AD8-CB6A2EE967C6}"/>
            </c:ext>
          </c:extLst>
        </c:ser>
        <c:dLbls>
          <c:showLegendKey val="0"/>
          <c:showVal val="0"/>
          <c:showCatName val="0"/>
          <c:showSerName val="0"/>
          <c:showPercent val="0"/>
          <c:showBubbleSize val="0"/>
        </c:dLbls>
        <c:gapWidth val="50"/>
        <c:overlap val="100"/>
        <c:axId val="207096048"/>
        <c:axId val="207091696"/>
      </c:barChart>
      <c:catAx>
        <c:axId val="2070960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091696"/>
        <c:crosses val="autoZero"/>
        <c:auto val="1"/>
        <c:lblAlgn val="ctr"/>
        <c:lblOffset val="100"/>
        <c:noMultiLvlLbl val="0"/>
      </c:catAx>
      <c:valAx>
        <c:axId val="207091696"/>
        <c:scaling>
          <c:orientation val="minMax"/>
        </c:scaling>
        <c:delete val="1"/>
        <c:axPos val="l"/>
        <c:numFmt formatCode="_ * #,##0.0_ ;_ * \-#,##0.0_ ;_ * &quot;-&quot;??_ ;_ @_ " sourceLinked="1"/>
        <c:majorTickMark val="none"/>
        <c:minorTickMark val="none"/>
        <c:tickLblPos val="nextTo"/>
        <c:crossAx val="207096048"/>
        <c:crosses val="autoZero"/>
        <c:crossBetween val="between"/>
      </c:valAx>
      <c:spPr>
        <a:noFill/>
        <a:ln>
          <a:noFill/>
        </a:ln>
        <a:effectLst/>
      </c:spPr>
    </c:plotArea>
    <c:legend>
      <c:legendPos val="b"/>
      <c:layout>
        <c:manualLayout>
          <c:xMode val="edge"/>
          <c:yMode val="edge"/>
          <c:x val="0"/>
          <c:y val="0.95255500111553071"/>
          <c:w val="1"/>
          <c:h val="4.7444998884469083E-2"/>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1722-4F33-A3C6-59C57B6C6F36}"/>
              </c:ext>
            </c:extLst>
          </c:dPt>
          <c:dPt>
            <c:idx val="1"/>
            <c:invertIfNegative val="0"/>
            <c:bubble3D val="0"/>
            <c:spPr>
              <a:noFill/>
              <a:ln>
                <a:noFill/>
              </a:ln>
              <a:effectLst/>
            </c:spPr>
            <c:extLst>
              <c:ext xmlns:c16="http://schemas.microsoft.com/office/drawing/2014/chart" uri="{C3380CC4-5D6E-409C-BE32-E72D297353CC}">
                <c16:uniqueId val="{00000003-1722-4F33-A3C6-59C57B6C6F36}"/>
              </c:ext>
            </c:extLst>
          </c:dPt>
          <c:dPt>
            <c:idx val="2"/>
            <c:invertIfNegative val="0"/>
            <c:bubble3D val="0"/>
            <c:spPr>
              <a:solidFill>
                <a:srgbClr val="9E7E0A"/>
              </a:solidFill>
              <a:ln>
                <a:noFill/>
              </a:ln>
              <a:effectLst/>
            </c:spPr>
            <c:extLst>
              <c:ext xmlns:c16="http://schemas.microsoft.com/office/drawing/2014/chart" uri="{C3380CC4-5D6E-409C-BE32-E72D297353CC}">
                <c16:uniqueId val="{00000005-1722-4F33-A3C6-59C57B6C6F36}"/>
              </c:ext>
            </c:extLst>
          </c:dPt>
          <c:dPt>
            <c:idx val="3"/>
            <c:invertIfNegative val="0"/>
            <c:bubble3D val="0"/>
            <c:spPr>
              <a:noFill/>
              <a:ln>
                <a:noFill/>
              </a:ln>
              <a:effectLst/>
            </c:spPr>
            <c:extLst>
              <c:ext xmlns:c16="http://schemas.microsoft.com/office/drawing/2014/chart" uri="{C3380CC4-5D6E-409C-BE32-E72D297353CC}">
                <c16:uniqueId val="{00000007-1722-4F33-A3C6-59C57B6C6F36}"/>
              </c:ext>
            </c:extLst>
          </c:dPt>
          <c:dPt>
            <c:idx val="4"/>
            <c:invertIfNegative val="0"/>
            <c:bubble3D val="0"/>
            <c:spPr>
              <a:noFill/>
              <a:ln>
                <a:noFill/>
              </a:ln>
              <a:effectLst/>
            </c:spPr>
            <c:extLst>
              <c:ext xmlns:c16="http://schemas.microsoft.com/office/drawing/2014/chart" uri="{C3380CC4-5D6E-409C-BE32-E72D297353CC}">
                <c16:uniqueId val="{00000009-1722-4F33-A3C6-59C57B6C6F36}"/>
              </c:ext>
            </c:extLst>
          </c:dPt>
          <c:dPt>
            <c:idx val="5"/>
            <c:invertIfNegative val="0"/>
            <c:bubble3D val="0"/>
            <c:spPr>
              <a:noFill/>
              <a:ln>
                <a:noFill/>
              </a:ln>
              <a:effectLst/>
            </c:spPr>
            <c:extLst>
              <c:ext xmlns:c16="http://schemas.microsoft.com/office/drawing/2014/chart" uri="{C3380CC4-5D6E-409C-BE32-E72D297353CC}">
                <c16:uniqueId val="{0000000B-1722-4F33-A3C6-59C57B6C6F36}"/>
              </c:ext>
            </c:extLst>
          </c:dPt>
          <c:dPt>
            <c:idx val="6"/>
            <c:invertIfNegative val="0"/>
            <c:bubble3D val="0"/>
            <c:spPr>
              <a:noFill/>
              <a:ln>
                <a:noFill/>
              </a:ln>
              <a:effectLst/>
            </c:spPr>
            <c:extLst>
              <c:ext xmlns:c16="http://schemas.microsoft.com/office/drawing/2014/chart" uri="{C3380CC4-5D6E-409C-BE32-E72D297353CC}">
                <c16:uniqueId val="{0000000D-1722-4F33-A3C6-59C57B6C6F36}"/>
              </c:ext>
            </c:extLst>
          </c:dPt>
          <c:dPt>
            <c:idx val="7"/>
            <c:invertIfNegative val="0"/>
            <c:bubble3D val="0"/>
            <c:spPr>
              <a:noFill/>
              <a:ln>
                <a:noFill/>
              </a:ln>
              <a:effectLst/>
            </c:spPr>
            <c:extLst>
              <c:ext xmlns:c16="http://schemas.microsoft.com/office/drawing/2014/chart" uri="{C3380CC4-5D6E-409C-BE32-E72D297353CC}">
                <c16:uniqueId val="{0000000F-1722-4F33-A3C6-59C57B6C6F36}"/>
              </c:ext>
            </c:extLst>
          </c:dPt>
          <c:dPt>
            <c:idx val="8"/>
            <c:invertIfNegative val="0"/>
            <c:bubble3D val="0"/>
            <c:spPr>
              <a:noFill/>
              <a:ln>
                <a:noFill/>
              </a:ln>
              <a:effectLst/>
            </c:spPr>
            <c:extLst>
              <c:ext xmlns:c16="http://schemas.microsoft.com/office/drawing/2014/chart" uri="{C3380CC4-5D6E-409C-BE32-E72D297353CC}">
                <c16:uniqueId val="{00000011-1722-4F33-A3C6-59C57B6C6F36}"/>
              </c:ext>
            </c:extLst>
          </c:dPt>
          <c:dPt>
            <c:idx val="9"/>
            <c:invertIfNegative val="0"/>
            <c:bubble3D val="0"/>
            <c:spPr>
              <a:noFill/>
              <a:ln>
                <a:noFill/>
              </a:ln>
              <a:effectLst/>
            </c:spPr>
            <c:extLst>
              <c:ext xmlns:c16="http://schemas.microsoft.com/office/drawing/2014/chart" uri="{C3380CC4-5D6E-409C-BE32-E72D297353CC}">
                <c16:uniqueId val="{00000013-1722-4F33-A3C6-59C57B6C6F36}"/>
              </c:ext>
            </c:extLst>
          </c:dPt>
          <c:dPt>
            <c:idx val="10"/>
            <c:invertIfNegative val="0"/>
            <c:bubble3D val="0"/>
            <c:spPr>
              <a:noFill/>
              <a:ln>
                <a:noFill/>
              </a:ln>
              <a:effectLst/>
            </c:spPr>
            <c:extLst>
              <c:ext xmlns:c16="http://schemas.microsoft.com/office/drawing/2014/chart" uri="{C3380CC4-5D6E-409C-BE32-E72D297353CC}">
                <c16:uniqueId val="{00000015-1722-4F33-A3C6-59C57B6C6F36}"/>
              </c:ext>
            </c:extLst>
          </c:dPt>
          <c:dPt>
            <c:idx val="11"/>
            <c:invertIfNegative val="0"/>
            <c:bubble3D val="0"/>
            <c:spPr>
              <a:noFill/>
              <a:ln>
                <a:noFill/>
              </a:ln>
              <a:effectLst/>
            </c:spPr>
            <c:extLst>
              <c:ext xmlns:c16="http://schemas.microsoft.com/office/drawing/2014/chart" uri="{C3380CC4-5D6E-409C-BE32-E72D297353CC}">
                <c16:uniqueId val="{00000017-1722-4F33-A3C6-59C57B6C6F36}"/>
              </c:ext>
            </c:extLst>
          </c:dPt>
          <c:dPt>
            <c:idx val="12"/>
            <c:invertIfNegative val="0"/>
            <c:bubble3D val="0"/>
            <c:spPr>
              <a:noFill/>
              <a:ln>
                <a:noFill/>
              </a:ln>
              <a:effectLst/>
            </c:spPr>
            <c:extLst>
              <c:ext xmlns:c16="http://schemas.microsoft.com/office/drawing/2014/chart" uri="{C3380CC4-5D6E-409C-BE32-E72D297353CC}">
                <c16:uniqueId val="{00000019-1722-4F33-A3C6-59C57B6C6F36}"/>
              </c:ext>
            </c:extLst>
          </c:dPt>
          <c:dPt>
            <c:idx val="13"/>
            <c:invertIfNegative val="0"/>
            <c:bubble3D val="0"/>
            <c:spPr>
              <a:solidFill>
                <a:srgbClr val="2A5F8F"/>
              </a:solidFill>
              <a:ln>
                <a:noFill/>
              </a:ln>
              <a:effectLst/>
            </c:spPr>
            <c:extLst>
              <c:ext xmlns:c16="http://schemas.microsoft.com/office/drawing/2014/chart" uri="{C3380CC4-5D6E-409C-BE32-E72D297353CC}">
                <c16:uniqueId val="{0000001B-1722-4F33-A3C6-59C57B6C6F36}"/>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9.3147758164037526</c:v>
                </c:pt>
                <c:pt idx="1">
                  <c:v>9.3147758164037526</c:v>
                </c:pt>
                <c:pt idx="2">
                  <c:v>10.105301959682805</c:v>
                </c:pt>
                <c:pt idx="3">
                  <c:v>10.105301959682805</c:v>
                </c:pt>
                <c:pt idx="4">
                  <c:v>10.543542155425541</c:v>
                </c:pt>
                <c:pt idx="5">
                  <c:v>10.997954627278178</c:v>
                </c:pt>
                <c:pt idx="6">
                  <c:v>11.479778537252098</c:v>
                </c:pt>
                <c:pt idx="7">
                  <c:v>12.009101125277244</c:v>
                </c:pt>
                <c:pt idx="8">
                  <c:v>12.587238152391194</c:v>
                </c:pt>
                <c:pt idx="9">
                  <c:v>13.21334290235696</c:v>
                </c:pt>
                <c:pt idx="10">
                  <c:v>13.862447895049932</c:v>
                </c:pt>
                <c:pt idx="11">
                  <c:v>14.512025402275682</c:v>
                </c:pt>
                <c:pt idx="12">
                  <c:v>15.178014403425168</c:v>
                </c:pt>
                <c:pt idx="13">
                  <c:v>16.548458140869769</c:v>
                </c:pt>
              </c:numCache>
            </c:numRef>
          </c:val>
          <c:extLst>
            <c:ext xmlns:c16="http://schemas.microsoft.com/office/drawing/2014/chart" uri="{C3380CC4-5D6E-409C-BE32-E72D297353CC}">
              <c16:uniqueId val="{0000001C-1722-4F33-A3C6-59C57B6C6F36}"/>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0.79052614327905246</c:v>
                </c:pt>
                <c:pt idx="3">
                  <c:v>0.4382401957427362</c:v>
                </c:pt>
                <c:pt idx="4">
                  <c:v>0.45441247185263656</c:v>
                </c:pt>
                <c:pt idx="5">
                  <c:v>0.48182390997392055</c:v>
                </c:pt>
                <c:pt idx="6">
                  <c:v>0.52932258802514554</c:v>
                </c:pt>
                <c:pt idx="7">
                  <c:v>0.5781370271139501</c:v>
                </c:pt>
                <c:pt idx="8">
                  <c:v>0.62610474996576571</c:v>
                </c:pt>
                <c:pt idx="9">
                  <c:v>0.64910499269297262</c:v>
                </c:pt>
                <c:pt idx="10">
                  <c:v>0.64957750722575014</c:v>
                </c:pt>
                <c:pt idx="11">
                  <c:v>0.66598900114948556</c:v>
                </c:pt>
                <c:pt idx="12">
                  <c:v>0.67992822293363631</c:v>
                </c:pt>
              </c:numCache>
            </c:numRef>
          </c:val>
          <c:extLst>
            <c:ext xmlns:c16="http://schemas.microsoft.com/office/drawing/2014/chart" uri="{C3380CC4-5D6E-409C-BE32-E72D297353CC}">
              <c16:uniqueId val="{0000001D-1722-4F33-A3C6-59C57B6C6F36}"/>
            </c:ext>
          </c:extLst>
        </c:ser>
        <c:dLbls>
          <c:showLegendKey val="0"/>
          <c:showVal val="0"/>
          <c:showCatName val="0"/>
          <c:showSerName val="0"/>
          <c:showPercent val="0"/>
          <c:showBubbleSize val="0"/>
        </c:dLbls>
        <c:gapWidth val="50"/>
        <c:overlap val="100"/>
        <c:axId val="207112368"/>
        <c:axId val="207085712"/>
      </c:barChart>
      <c:catAx>
        <c:axId val="2071123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085712"/>
        <c:crosses val="autoZero"/>
        <c:auto val="1"/>
        <c:lblAlgn val="ctr"/>
        <c:lblOffset val="100"/>
        <c:noMultiLvlLbl val="0"/>
      </c:catAx>
      <c:valAx>
        <c:axId val="207085712"/>
        <c:scaling>
          <c:orientation val="minMax"/>
        </c:scaling>
        <c:delete val="1"/>
        <c:axPos val="l"/>
        <c:numFmt formatCode="0.0" sourceLinked="1"/>
        <c:majorTickMark val="none"/>
        <c:minorTickMark val="none"/>
        <c:tickLblPos val="nextTo"/>
        <c:crossAx val="207112368"/>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910917822963"/>
          <c:y val="4.0225179225868664E-2"/>
          <c:w val="0.87507556483913373"/>
          <c:h val="0.65061484798850733"/>
        </c:manualLayout>
      </c:layout>
      <c:lineChart>
        <c:grouping val="standard"/>
        <c:varyColors val="0"/>
        <c:ser>
          <c:idx val="0"/>
          <c:order val="0"/>
          <c:tx>
            <c:strRef>
              <c:f>Sheet1!$B$1</c:f>
              <c:strCache>
                <c:ptCount val="1"/>
                <c:pt idx="0">
                  <c:v>Brazil</c:v>
                </c:pt>
              </c:strCache>
            </c:strRef>
          </c:tx>
          <c:spPr>
            <a:ln w="28575" cap="rnd">
              <a:solidFill>
                <a:schemeClr val="accent1"/>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Sheet1!$B$2:$B$12</c:f>
              <c:numCache>
                <c:formatCode>0.0%</c:formatCode>
                <c:ptCount val="11"/>
                <c:pt idx="0">
                  <c:v>5.1500000000000004E-2</c:v>
                </c:pt>
                <c:pt idx="1">
                  <c:v>5.4166666666666669E-2</c:v>
                </c:pt>
                <c:pt idx="2">
                  <c:v>5.7000000000000009E-2</c:v>
                </c:pt>
                <c:pt idx="3">
                  <c:v>5.9333333333333335E-2</c:v>
                </c:pt>
                <c:pt idx="4">
                  <c:v>6.1166666666666675E-2</c:v>
                </c:pt>
                <c:pt idx="5">
                  <c:v>6.2833333333333338E-2</c:v>
                </c:pt>
                <c:pt idx="6">
                  <c:v>6.483333333333334E-2</c:v>
                </c:pt>
                <c:pt idx="7">
                  <c:v>6.7166666666666666E-2</c:v>
                </c:pt>
                <c:pt idx="8">
                  <c:v>6.8833333333333344E-2</c:v>
                </c:pt>
                <c:pt idx="9">
                  <c:v>6.9000000000000006E-2</c:v>
                </c:pt>
                <c:pt idx="10">
                  <c:v>6.7666666666666667E-2</c:v>
                </c:pt>
              </c:numCache>
            </c:numRef>
          </c:val>
          <c:smooth val="1"/>
          <c:extLst>
            <c:ext xmlns:c16="http://schemas.microsoft.com/office/drawing/2014/chart" uri="{C3380CC4-5D6E-409C-BE32-E72D297353CC}">
              <c16:uniqueId val="{00000000-6632-4D2B-86C8-7319BAC0FACD}"/>
            </c:ext>
          </c:extLst>
        </c:ser>
        <c:ser>
          <c:idx val="1"/>
          <c:order val="1"/>
          <c:tx>
            <c:strRef>
              <c:f>Sheet1!$C$1</c:f>
              <c:strCache>
                <c:ptCount val="1"/>
                <c:pt idx="0">
                  <c:v>Chile</c:v>
                </c:pt>
              </c:strCache>
            </c:strRef>
          </c:tx>
          <c:spPr>
            <a:ln w="28575" cap="rnd">
              <a:solidFill>
                <a:schemeClr val="accent2"/>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Sheet1!$C$2:$C$12</c:f>
              <c:numCache>
                <c:formatCode>0.0%</c:formatCode>
                <c:ptCount val="11"/>
                <c:pt idx="0">
                  <c:v>5.116830281459997E-2</c:v>
                </c:pt>
                <c:pt idx="1">
                  <c:v>5.1290221555306513E-2</c:v>
                </c:pt>
                <c:pt idx="2">
                  <c:v>5.1395302571985553E-2</c:v>
                </c:pt>
                <c:pt idx="3">
                  <c:v>5.151160873801626E-2</c:v>
                </c:pt>
                <c:pt idx="4">
                  <c:v>5.1620431471145853E-2</c:v>
                </c:pt>
                <c:pt idx="5">
                  <c:v>5.1734243159542857E-2</c:v>
                </c:pt>
                <c:pt idx="6">
                  <c:v>5.1844728877761585E-2</c:v>
                </c:pt>
                <c:pt idx="7">
                  <c:v>5.1961866536336859E-2</c:v>
                </c:pt>
                <c:pt idx="8">
                  <c:v>5.2074569568007774E-2</c:v>
                </c:pt>
                <c:pt idx="9">
                  <c:v>5.2190229017614928E-2</c:v>
                </c:pt>
                <c:pt idx="10">
                  <c:v>5.2299975631349596E-2</c:v>
                </c:pt>
              </c:numCache>
            </c:numRef>
          </c:val>
          <c:smooth val="1"/>
          <c:extLst>
            <c:ext xmlns:c16="http://schemas.microsoft.com/office/drawing/2014/chart" uri="{C3380CC4-5D6E-409C-BE32-E72D297353CC}">
              <c16:uniqueId val="{00000001-6632-4D2B-86C8-7319BAC0FACD}"/>
            </c:ext>
          </c:extLst>
        </c:ser>
        <c:ser>
          <c:idx val="2"/>
          <c:order val="2"/>
          <c:tx>
            <c:strRef>
              <c:f>Sheet1!$D$1</c:f>
              <c:strCache>
                <c:ptCount val="1"/>
                <c:pt idx="0">
                  <c:v>Rest of LATAM</c:v>
                </c:pt>
              </c:strCache>
            </c:strRef>
          </c:tx>
          <c:spPr>
            <a:ln w="28575" cap="rnd">
              <a:solidFill>
                <a:schemeClr val="accent3"/>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Sheet1!$D$2:$D$12</c:f>
              <c:numCache>
                <c:formatCode>0.0%</c:formatCode>
                <c:ptCount val="11"/>
                <c:pt idx="0">
                  <c:v>5.0610918051856614E-2</c:v>
                </c:pt>
                <c:pt idx="1">
                  <c:v>5.1425475454332091E-2</c:v>
                </c:pt>
                <c:pt idx="2">
                  <c:v>5.2138213181498139E-2</c:v>
                </c:pt>
                <c:pt idx="3">
                  <c:v>5.274913123335475E-2</c:v>
                </c:pt>
                <c:pt idx="4">
                  <c:v>5.2850950908664179E-2</c:v>
                </c:pt>
                <c:pt idx="5">
                  <c:v>5.2647311558045314E-2</c:v>
                </c:pt>
                <c:pt idx="6">
                  <c:v>5.2036393506188702E-2</c:v>
                </c:pt>
                <c:pt idx="7">
                  <c:v>5.1323655779022655E-2</c:v>
                </c:pt>
                <c:pt idx="8">
                  <c:v>5.0610918051856614E-2</c:v>
                </c:pt>
                <c:pt idx="9">
                  <c:v>0.05</c:v>
                </c:pt>
                <c:pt idx="10">
                  <c:v>4.9490901623452828E-2</c:v>
                </c:pt>
              </c:numCache>
            </c:numRef>
          </c:val>
          <c:smooth val="1"/>
          <c:extLst>
            <c:ext xmlns:c16="http://schemas.microsoft.com/office/drawing/2014/chart" uri="{C3380CC4-5D6E-409C-BE32-E72D297353CC}">
              <c16:uniqueId val="{00000002-6632-4D2B-86C8-7319BAC0FACD}"/>
            </c:ext>
          </c:extLst>
        </c:ser>
        <c:dLbls>
          <c:showLegendKey val="0"/>
          <c:showVal val="0"/>
          <c:showCatName val="0"/>
          <c:showSerName val="0"/>
          <c:showPercent val="0"/>
          <c:showBubbleSize val="0"/>
        </c:dLbls>
        <c:smooth val="0"/>
        <c:axId val="207096592"/>
        <c:axId val="207118352"/>
      </c:lineChart>
      <c:catAx>
        <c:axId val="207096592"/>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18352"/>
        <c:crossesAt val="-3.5000000000000003E-2"/>
        <c:auto val="1"/>
        <c:lblAlgn val="ctr"/>
        <c:lblOffset val="100"/>
        <c:noMultiLvlLbl val="0"/>
      </c:catAx>
      <c:valAx>
        <c:axId val="207118352"/>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207096592"/>
        <c:crosses val="autoZero"/>
        <c:crossBetween val="between"/>
      </c:valAx>
      <c:spPr>
        <a:noFill/>
        <a:ln w="25400">
          <a:noFill/>
        </a:ln>
        <a:effectLst/>
      </c:spPr>
    </c:plotArea>
    <c:legend>
      <c:legendPos val="b"/>
      <c:layout>
        <c:manualLayout>
          <c:xMode val="edge"/>
          <c:yMode val="edge"/>
          <c:x val="0"/>
          <c:y val="0.81733067057011788"/>
          <c:w val="1"/>
          <c:h val="0.1826693294298820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12700">
      <a:noFill/>
    </a:ln>
    <a:effectLst/>
  </c:spPr>
  <c:txPr>
    <a:bodyPr/>
    <a:lstStyle/>
    <a:p>
      <a:pPr>
        <a:defRPr sz="1100">
          <a:solidFill>
            <a:schemeClr val="tx1"/>
          </a:solidFill>
        </a:defRPr>
      </a:pPr>
      <a:endParaRPr lang="en-US"/>
    </a:p>
  </c:txPr>
  <c:externalData r:id="rId3">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193926521544815"/>
          <c:y val="3.2403000316204716E-2"/>
          <c:w val="0.7016005889076895"/>
          <c:h val="0.82090372344009988"/>
        </c:manualLayout>
      </c:layout>
      <c:bubbleChart>
        <c:varyColors val="1"/>
        <c:ser>
          <c:idx val="0"/>
          <c:order val="0"/>
          <c:tx>
            <c:strRef>
              <c:f>Sheet1!$C$1</c:f>
              <c:strCache>
                <c:ptCount val="1"/>
                <c:pt idx="0">
                  <c:v>Y-Values</c:v>
                </c:pt>
              </c:strCache>
            </c:strRef>
          </c:tx>
          <c:invertIfNegative val="0"/>
          <c:dPt>
            <c:idx val="0"/>
            <c:invertIfNegative val="0"/>
            <c:bubble3D val="0"/>
            <c:spPr>
              <a:solidFill>
                <a:schemeClr val="accent1">
                  <a:alpha val="75000"/>
                </a:schemeClr>
              </a:solidFill>
              <a:ln>
                <a:noFill/>
              </a:ln>
              <a:effectLst/>
            </c:spPr>
            <c:extLst>
              <c:ext xmlns:c16="http://schemas.microsoft.com/office/drawing/2014/chart" uri="{C3380CC4-5D6E-409C-BE32-E72D297353CC}">
                <c16:uniqueId val="{00000001-AFAA-4B90-BD10-4962D21B6EEE}"/>
              </c:ext>
            </c:extLst>
          </c:dPt>
          <c:dPt>
            <c:idx val="1"/>
            <c:invertIfNegative val="0"/>
            <c:bubble3D val="0"/>
            <c:spPr>
              <a:solidFill>
                <a:schemeClr val="accent2">
                  <a:alpha val="75000"/>
                </a:schemeClr>
              </a:solidFill>
              <a:ln>
                <a:noFill/>
              </a:ln>
              <a:effectLst/>
            </c:spPr>
            <c:extLst>
              <c:ext xmlns:c16="http://schemas.microsoft.com/office/drawing/2014/chart" uri="{C3380CC4-5D6E-409C-BE32-E72D297353CC}">
                <c16:uniqueId val="{00000003-AFAA-4B90-BD10-4962D21B6EEE}"/>
              </c:ext>
            </c:extLst>
          </c:dPt>
          <c:dPt>
            <c:idx val="2"/>
            <c:invertIfNegative val="0"/>
            <c:bubble3D val="0"/>
            <c:spPr>
              <a:solidFill>
                <a:schemeClr val="accent3">
                  <a:alpha val="75000"/>
                </a:schemeClr>
              </a:solidFill>
              <a:ln>
                <a:noFill/>
              </a:ln>
              <a:effectLst/>
            </c:spPr>
            <c:extLst>
              <c:ext xmlns:c16="http://schemas.microsoft.com/office/drawing/2014/chart" uri="{C3380CC4-5D6E-409C-BE32-E72D297353CC}">
                <c16:uniqueId val="{00000005-AFAA-4B90-BD10-4962D21B6EEE}"/>
              </c:ext>
            </c:extLst>
          </c:dPt>
          <c:xVal>
            <c:numRef>
              <c:f>Sheet1!$B$2:$B$4</c:f>
              <c:numCache>
                <c:formatCode>_(* #,##0.0_);_(* \(#,##0.0\);_(* "-"??_);_(@_)</c:formatCode>
                <c:ptCount val="3"/>
                <c:pt idx="0">
                  <c:v>1.2484641180451868</c:v>
                </c:pt>
                <c:pt idx="1">
                  <c:v>1.171505207157916</c:v>
                </c:pt>
                <c:pt idx="2">
                  <c:v>1.0385803668462259</c:v>
                </c:pt>
              </c:numCache>
            </c:numRef>
          </c:xVal>
          <c:yVal>
            <c:numRef>
              <c:f>Sheet1!$C$2:$C$4</c:f>
              <c:numCache>
                <c:formatCode>_(* #,##0.0_);_(* \(#,##0.0\);_(* "-"??_);_(@_)</c:formatCode>
                <c:ptCount val="3"/>
                <c:pt idx="0">
                  <c:v>3.671570117770909</c:v>
                </c:pt>
                <c:pt idx="1">
                  <c:v>2.9587134526586683</c:v>
                </c:pt>
                <c:pt idx="2">
                  <c:v>1.1164555835041849</c:v>
                </c:pt>
              </c:numCache>
            </c:numRef>
          </c:yVal>
          <c:bubbleSize>
            <c:numRef>
              <c:f>Sheet1!$D$2:$D$4</c:f>
              <c:numCache>
                <c:formatCode>_(* #,##0.0_);_(* \(#,##0.0\);_(* "-"??_);_(@_)</c:formatCode>
                <c:ptCount val="3"/>
                <c:pt idx="0">
                  <c:v>4.3273698868360606</c:v>
                </c:pt>
                <c:pt idx="1">
                  <c:v>3.2149946963903226</c:v>
                </c:pt>
                <c:pt idx="2">
                  <c:v>1.0433263518646889</c:v>
                </c:pt>
              </c:numCache>
            </c:numRef>
          </c:bubbleSize>
          <c:bubble3D val="0"/>
          <c:extLst>
            <c:ext xmlns:c16="http://schemas.microsoft.com/office/drawing/2014/chart" uri="{C3380CC4-5D6E-409C-BE32-E72D297353CC}">
              <c16:uniqueId val="{00000006-AFAA-4B90-BD10-4962D21B6EEE}"/>
            </c:ext>
          </c:extLst>
        </c:ser>
        <c:dLbls>
          <c:showLegendKey val="0"/>
          <c:showVal val="0"/>
          <c:showCatName val="0"/>
          <c:showSerName val="0"/>
          <c:showPercent val="0"/>
          <c:showBubbleSize val="0"/>
        </c:dLbls>
        <c:bubbleScale val="100"/>
        <c:showNegBubbles val="0"/>
        <c:axId val="207103664"/>
        <c:axId val="207095504"/>
      </c:bubbleChart>
      <c:valAx>
        <c:axId val="207103664"/>
        <c:scaling>
          <c:orientation val="minMax"/>
          <c:min val="0"/>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CAGR Index (2024 – 2034)</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095504"/>
        <c:crossesAt val="0"/>
        <c:crossBetween val="midCat"/>
      </c:valAx>
      <c:valAx>
        <c:axId val="207095504"/>
        <c:scaling>
          <c:orientation val="minMax"/>
          <c:min val="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Market Share Index (2024E)</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103664"/>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586017868029705E-2"/>
          <c:y val="5.6718815469420834E-2"/>
          <c:w val="0.92649309691078063"/>
          <c:h val="0.72664225195762067"/>
        </c:manualLayout>
      </c:layout>
      <c:barChart>
        <c:barDir val="col"/>
        <c:grouping val="percentStacked"/>
        <c:varyColors val="0"/>
        <c:ser>
          <c:idx val="0"/>
          <c:order val="0"/>
          <c:tx>
            <c:strRef>
              <c:f>Sheet1!$B$1</c:f>
              <c:strCache>
                <c:ptCount val="1"/>
                <c:pt idx="0">
                  <c:v>Brazil</c:v>
                </c:pt>
              </c:strCache>
            </c:strRef>
          </c:tx>
          <c:spPr>
            <a:solidFill>
              <a:schemeClr val="accent1"/>
            </a:solidFill>
            <a:ln>
              <a:noFill/>
            </a:ln>
            <a:effectLst/>
          </c:spPr>
          <c:invertIfNegative val="0"/>
          <c:cat>
            <c:strRef>
              <c:f>Sheet1!$A$2:$A$3</c:f>
              <c:strCache>
                <c:ptCount val="2"/>
                <c:pt idx="0">
                  <c:v>2024E</c:v>
                </c:pt>
                <c:pt idx="1">
                  <c:v>2034F</c:v>
                </c:pt>
              </c:strCache>
            </c:strRef>
          </c:cat>
          <c:val>
            <c:numRef>
              <c:f>Sheet1!$B$2:$B$3</c:f>
              <c:numCache>
                <c:formatCode>0.0%</c:formatCode>
                <c:ptCount val="2"/>
                <c:pt idx="0">
                  <c:v>0.18</c:v>
                </c:pt>
                <c:pt idx="1">
                  <c:v>0.18</c:v>
                </c:pt>
              </c:numCache>
            </c:numRef>
          </c:val>
          <c:extLst>
            <c:ext xmlns:c16="http://schemas.microsoft.com/office/drawing/2014/chart" uri="{C3380CC4-5D6E-409C-BE32-E72D297353CC}">
              <c16:uniqueId val="{00000000-12A2-48EE-BCB3-7D670141C4FE}"/>
            </c:ext>
          </c:extLst>
        </c:ser>
        <c:ser>
          <c:idx val="1"/>
          <c:order val="1"/>
          <c:tx>
            <c:strRef>
              <c:f>Sheet1!$C$1</c:f>
              <c:strCache>
                <c:ptCount val="1"/>
                <c:pt idx="0">
                  <c:v>Chile</c:v>
                </c:pt>
              </c:strCache>
            </c:strRef>
          </c:tx>
          <c:spPr>
            <a:solidFill>
              <a:schemeClr val="accent2"/>
            </a:solidFill>
            <a:ln>
              <a:noFill/>
            </a:ln>
            <a:effectLst/>
          </c:spPr>
          <c:invertIfNegative val="0"/>
          <c:cat>
            <c:strRef>
              <c:f>Sheet1!$A$2:$A$3</c:f>
              <c:strCache>
                <c:ptCount val="2"/>
                <c:pt idx="0">
                  <c:v>2024E</c:v>
                </c:pt>
                <c:pt idx="1">
                  <c:v>2034F</c:v>
                </c:pt>
              </c:strCache>
            </c:strRef>
          </c:cat>
          <c:val>
            <c:numRef>
              <c:f>Sheet1!$C$2:$C$3</c:f>
              <c:numCache>
                <c:formatCode>0.0%</c:formatCode>
                <c:ptCount val="2"/>
                <c:pt idx="0">
                  <c:v>0.06</c:v>
                </c:pt>
                <c:pt idx="1">
                  <c:v>0.06</c:v>
                </c:pt>
              </c:numCache>
            </c:numRef>
          </c:val>
          <c:extLst>
            <c:ext xmlns:c16="http://schemas.microsoft.com/office/drawing/2014/chart" uri="{C3380CC4-5D6E-409C-BE32-E72D297353CC}">
              <c16:uniqueId val="{00000001-12A2-48EE-BCB3-7D670141C4FE}"/>
            </c:ext>
          </c:extLst>
        </c:ser>
        <c:ser>
          <c:idx val="2"/>
          <c:order val="2"/>
          <c:tx>
            <c:strRef>
              <c:f>Sheet1!$D$1</c:f>
              <c:strCache>
                <c:ptCount val="1"/>
                <c:pt idx="0">
                  <c:v>Rest of LATAM</c:v>
                </c:pt>
              </c:strCache>
            </c:strRef>
          </c:tx>
          <c:spPr>
            <a:solidFill>
              <a:schemeClr val="accent3"/>
            </a:solidFill>
            <a:ln>
              <a:noFill/>
            </a:ln>
            <a:effectLst/>
          </c:spPr>
          <c:invertIfNegative val="0"/>
          <c:cat>
            <c:strRef>
              <c:f>Sheet1!$A$2:$A$3</c:f>
              <c:strCache>
                <c:ptCount val="2"/>
                <c:pt idx="0">
                  <c:v>2024E</c:v>
                </c:pt>
                <c:pt idx="1">
                  <c:v>2034F</c:v>
                </c:pt>
              </c:strCache>
            </c:strRef>
          </c:cat>
          <c:val>
            <c:numRef>
              <c:f>Sheet1!$D$2:$D$3</c:f>
              <c:numCache>
                <c:formatCode>0.0%</c:formatCode>
                <c:ptCount val="2"/>
                <c:pt idx="0">
                  <c:v>0.13</c:v>
                </c:pt>
                <c:pt idx="1">
                  <c:v>0.13</c:v>
                </c:pt>
              </c:numCache>
            </c:numRef>
          </c:val>
          <c:extLst>
            <c:ext xmlns:c16="http://schemas.microsoft.com/office/drawing/2014/chart" uri="{C3380CC4-5D6E-409C-BE32-E72D297353CC}">
              <c16:uniqueId val="{00000002-12A2-48EE-BCB3-7D670141C4FE}"/>
            </c:ext>
          </c:extLst>
        </c:ser>
        <c:dLbls>
          <c:showLegendKey val="0"/>
          <c:showVal val="0"/>
          <c:showCatName val="0"/>
          <c:showSerName val="0"/>
          <c:showPercent val="0"/>
          <c:showBubbleSize val="0"/>
        </c:dLbls>
        <c:gapWidth val="50"/>
        <c:overlap val="100"/>
        <c:axId val="207110192"/>
        <c:axId val="207092784"/>
      </c:barChart>
      <c:catAx>
        <c:axId val="20711019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207092784"/>
        <c:crosses val="autoZero"/>
        <c:auto val="1"/>
        <c:lblAlgn val="ctr"/>
        <c:lblOffset val="100"/>
        <c:noMultiLvlLbl val="0"/>
      </c:catAx>
      <c:valAx>
        <c:axId val="207092784"/>
        <c:scaling>
          <c:orientation val="minMax"/>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207110192"/>
        <c:crosses val="autoZero"/>
        <c:crossBetween val="between"/>
      </c:valAx>
      <c:spPr>
        <a:noFill/>
        <a:ln>
          <a:noFill/>
        </a:ln>
        <a:effectLst/>
      </c:spPr>
    </c:plotArea>
    <c:legend>
      <c:legendPos val="b"/>
      <c:layout>
        <c:manualLayout>
          <c:xMode val="edge"/>
          <c:yMode val="edge"/>
          <c:x val="0"/>
          <c:y val="0.83692483498304948"/>
          <c:w val="1"/>
          <c:h val="0.16307516501695063"/>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
          <c:y val="0.10852747093249289"/>
          <c:w val="0.99129804205946337"/>
          <c:h val="0.64471383473379196"/>
        </c:manualLayout>
      </c:layout>
      <c:barChart>
        <c:barDir val="col"/>
        <c:grouping val="stacked"/>
        <c:varyColors val="0"/>
        <c:ser>
          <c:idx val="0"/>
          <c:order val="0"/>
          <c:tx>
            <c:strRef>
              <c:f>Sheet1!$B$1</c:f>
              <c:strCache>
                <c:ptCount val="1"/>
                <c:pt idx="0">
                  <c:v>Value (US$ Mn)</c:v>
                </c:pt>
              </c:strCache>
            </c:strRef>
          </c:tx>
          <c:spPr>
            <a:no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965-41A6-BBF1-BD10132C530F}"/>
              </c:ext>
            </c:extLst>
          </c:dPt>
          <c:dPt>
            <c:idx val="1"/>
            <c:invertIfNegative val="0"/>
            <c:bubble3D val="0"/>
            <c:spPr>
              <a:noFill/>
              <a:ln>
                <a:noFill/>
              </a:ln>
              <a:effectLst/>
            </c:spPr>
            <c:extLst>
              <c:ext xmlns:c16="http://schemas.microsoft.com/office/drawing/2014/chart" uri="{C3380CC4-5D6E-409C-BE32-E72D297353CC}">
                <c16:uniqueId val="{00000003-0965-41A6-BBF1-BD10132C530F}"/>
              </c:ext>
            </c:extLst>
          </c:dPt>
          <c:dPt>
            <c:idx val="3"/>
            <c:invertIfNegative val="0"/>
            <c:bubble3D val="0"/>
            <c:spPr>
              <a:noFill/>
              <a:ln>
                <a:noFill/>
              </a:ln>
              <a:effectLst/>
            </c:spPr>
            <c:extLst>
              <c:ext xmlns:c16="http://schemas.microsoft.com/office/drawing/2014/chart" uri="{C3380CC4-5D6E-409C-BE32-E72D297353CC}">
                <c16:uniqueId val="{00000005-0965-41A6-BBF1-BD10132C530F}"/>
              </c:ext>
            </c:extLst>
          </c:dPt>
          <c:dPt>
            <c:idx val="4"/>
            <c:invertIfNegative val="0"/>
            <c:bubble3D val="0"/>
            <c:spPr>
              <a:solidFill>
                <a:srgbClr val="2A5F8F"/>
              </a:solidFill>
              <a:ln>
                <a:noFill/>
              </a:ln>
              <a:effectLst/>
            </c:spPr>
            <c:extLst>
              <c:ext xmlns:c16="http://schemas.microsoft.com/office/drawing/2014/chart" uri="{C3380CC4-5D6E-409C-BE32-E72D297353CC}">
                <c16:uniqueId val="{00000007-0965-41A6-BBF1-BD10132C530F}"/>
              </c:ext>
            </c:extLst>
          </c:dPt>
          <c:cat>
            <c:strRef>
              <c:f>Sheet1!$A$2:$A$8</c:f>
              <c:strCache>
                <c:ptCount val="5"/>
                <c:pt idx="0">
                  <c:v>2024E</c:v>
                </c:pt>
                <c:pt idx="1">
                  <c:v>Brazil</c:v>
                </c:pt>
                <c:pt idx="2">
                  <c:v>Chile</c:v>
                </c:pt>
                <c:pt idx="3">
                  <c:v>Rest of LATAM</c:v>
                </c:pt>
                <c:pt idx="4">
                  <c:v>2034F</c:v>
                </c:pt>
              </c:strCache>
            </c:strRef>
          </c:cat>
          <c:val>
            <c:numRef>
              <c:f>Sheet1!$B$2:$B$6</c:f>
              <c:numCache>
                <c:formatCode>0.0</c:formatCode>
                <c:ptCount val="5"/>
                <c:pt idx="0" formatCode="_ * #,##0.0_ ;_ * \-#,##0.0_ ;_ * &quot;-&quot;??_ ;_ @_ ">
                  <c:v>2923.4059275946483</c:v>
                </c:pt>
                <c:pt idx="1">
                  <c:v>2923.4059275946483</c:v>
                </c:pt>
                <c:pt idx="2">
                  <c:v>5423.4059275946483</c:v>
                </c:pt>
                <c:pt idx="3">
                  <c:v>5773.4059275946483</c:v>
                </c:pt>
                <c:pt idx="4">
                  <c:v>7173.4059275946483</c:v>
                </c:pt>
              </c:numCache>
            </c:numRef>
          </c:val>
          <c:extLst>
            <c:ext xmlns:c16="http://schemas.microsoft.com/office/drawing/2014/chart" uri="{C3380CC4-5D6E-409C-BE32-E72D297353CC}">
              <c16:uniqueId val="{00000008-0965-41A6-BBF1-BD10132C530F}"/>
            </c:ext>
          </c:extLst>
        </c:ser>
        <c:ser>
          <c:idx val="1"/>
          <c:order val="1"/>
          <c:tx>
            <c:strRef>
              <c:f>Sheet1!$C$1</c:f>
              <c:strCache>
                <c:ptCount val="1"/>
                <c:pt idx="0">
                  <c:v>Abs. $ Opportunity</c:v>
                </c:pt>
              </c:strCache>
            </c:strRef>
          </c:tx>
          <c:spPr>
            <a:solidFill>
              <a:schemeClr val="accent2"/>
            </a:solidFill>
            <a:ln>
              <a:noFill/>
            </a:ln>
            <a:effectLst/>
          </c:spPr>
          <c:invertIfNegative val="0"/>
          <c:cat>
            <c:strRef>
              <c:f>Sheet1!$A$2:$A$8</c:f>
              <c:strCache>
                <c:ptCount val="5"/>
                <c:pt idx="0">
                  <c:v>2024E</c:v>
                </c:pt>
                <c:pt idx="1">
                  <c:v>Brazil</c:v>
                </c:pt>
                <c:pt idx="2">
                  <c:v>Chile</c:v>
                </c:pt>
                <c:pt idx="3">
                  <c:v>Rest of LATAM</c:v>
                </c:pt>
                <c:pt idx="4">
                  <c:v>2034F</c:v>
                </c:pt>
              </c:strCache>
            </c:strRef>
          </c:cat>
          <c:val>
            <c:numRef>
              <c:f>Sheet1!$C$2:$C$6</c:f>
              <c:numCache>
                <c:formatCode>0.0</c:formatCode>
                <c:ptCount val="5"/>
                <c:pt idx="1">
                  <c:v>2500</c:v>
                </c:pt>
                <c:pt idx="2">
                  <c:v>350</c:v>
                </c:pt>
                <c:pt idx="3">
                  <c:v>1400</c:v>
                </c:pt>
              </c:numCache>
            </c:numRef>
          </c:val>
          <c:extLst>
            <c:ext xmlns:c16="http://schemas.microsoft.com/office/drawing/2014/chart" uri="{C3380CC4-5D6E-409C-BE32-E72D297353CC}">
              <c16:uniqueId val="{00000009-0965-41A6-BBF1-BD10132C530F}"/>
            </c:ext>
          </c:extLst>
        </c:ser>
        <c:dLbls>
          <c:showLegendKey val="0"/>
          <c:showVal val="0"/>
          <c:showCatName val="0"/>
          <c:showSerName val="0"/>
          <c:showPercent val="0"/>
          <c:showBubbleSize val="0"/>
        </c:dLbls>
        <c:gapWidth val="50"/>
        <c:overlap val="100"/>
        <c:axId val="207098224"/>
        <c:axId val="207086800"/>
      </c:barChart>
      <c:catAx>
        <c:axId val="2070982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086800"/>
        <c:crosses val="autoZero"/>
        <c:auto val="1"/>
        <c:lblAlgn val="ctr"/>
        <c:lblOffset val="100"/>
        <c:noMultiLvlLbl val="0"/>
      </c:catAx>
      <c:valAx>
        <c:axId val="207086800"/>
        <c:scaling>
          <c:orientation val="minMax"/>
        </c:scaling>
        <c:delete val="1"/>
        <c:axPos val="l"/>
        <c:numFmt formatCode="_ * #,##0.0_ ;_ * \-#,##0.0_ ;_ * &quot;-&quot;??_ ;_ @_ " sourceLinked="1"/>
        <c:majorTickMark val="none"/>
        <c:minorTickMark val="none"/>
        <c:tickLblPos val="nextTo"/>
        <c:crossAx val="207098224"/>
        <c:crosses val="autoZero"/>
        <c:crossBetween val="between"/>
      </c:valAx>
      <c:spPr>
        <a:noFill/>
        <a:ln>
          <a:noFill/>
        </a:ln>
        <a:effectLst/>
      </c:spPr>
    </c:plotArea>
    <c:legend>
      <c:legendPos val="b"/>
      <c:layout>
        <c:manualLayout>
          <c:xMode val="edge"/>
          <c:yMode val="edge"/>
          <c:x val="0"/>
          <c:y val="0.95255500111553071"/>
          <c:w val="1"/>
          <c:h val="4.7444998884469083E-2"/>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1722-4F33-A3C6-59C57B6C6F36}"/>
              </c:ext>
            </c:extLst>
          </c:dPt>
          <c:dPt>
            <c:idx val="1"/>
            <c:invertIfNegative val="0"/>
            <c:bubble3D val="0"/>
            <c:spPr>
              <a:noFill/>
              <a:ln>
                <a:noFill/>
              </a:ln>
              <a:effectLst/>
            </c:spPr>
            <c:extLst>
              <c:ext xmlns:c16="http://schemas.microsoft.com/office/drawing/2014/chart" uri="{C3380CC4-5D6E-409C-BE32-E72D297353CC}">
                <c16:uniqueId val="{00000003-1722-4F33-A3C6-59C57B6C6F36}"/>
              </c:ext>
            </c:extLst>
          </c:dPt>
          <c:dPt>
            <c:idx val="2"/>
            <c:invertIfNegative val="0"/>
            <c:bubble3D val="0"/>
            <c:spPr>
              <a:solidFill>
                <a:srgbClr val="9E7E0A"/>
              </a:solidFill>
              <a:ln>
                <a:noFill/>
              </a:ln>
              <a:effectLst/>
            </c:spPr>
            <c:extLst>
              <c:ext xmlns:c16="http://schemas.microsoft.com/office/drawing/2014/chart" uri="{C3380CC4-5D6E-409C-BE32-E72D297353CC}">
                <c16:uniqueId val="{00000005-1722-4F33-A3C6-59C57B6C6F36}"/>
              </c:ext>
            </c:extLst>
          </c:dPt>
          <c:dPt>
            <c:idx val="3"/>
            <c:invertIfNegative val="0"/>
            <c:bubble3D val="0"/>
            <c:spPr>
              <a:noFill/>
              <a:ln>
                <a:noFill/>
              </a:ln>
              <a:effectLst/>
            </c:spPr>
            <c:extLst>
              <c:ext xmlns:c16="http://schemas.microsoft.com/office/drawing/2014/chart" uri="{C3380CC4-5D6E-409C-BE32-E72D297353CC}">
                <c16:uniqueId val="{00000007-1722-4F33-A3C6-59C57B6C6F36}"/>
              </c:ext>
            </c:extLst>
          </c:dPt>
          <c:dPt>
            <c:idx val="4"/>
            <c:invertIfNegative val="0"/>
            <c:bubble3D val="0"/>
            <c:spPr>
              <a:noFill/>
              <a:ln>
                <a:noFill/>
              </a:ln>
              <a:effectLst/>
            </c:spPr>
            <c:extLst>
              <c:ext xmlns:c16="http://schemas.microsoft.com/office/drawing/2014/chart" uri="{C3380CC4-5D6E-409C-BE32-E72D297353CC}">
                <c16:uniqueId val="{00000009-1722-4F33-A3C6-59C57B6C6F36}"/>
              </c:ext>
            </c:extLst>
          </c:dPt>
          <c:dPt>
            <c:idx val="5"/>
            <c:invertIfNegative val="0"/>
            <c:bubble3D val="0"/>
            <c:spPr>
              <a:noFill/>
              <a:ln>
                <a:noFill/>
              </a:ln>
              <a:effectLst/>
            </c:spPr>
            <c:extLst>
              <c:ext xmlns:c16="http://schemas.microsoft.com/office/drawing/2014/chart" uri="{C3380CC4-5D6E-409C-BE32-E72D297353CC}">
                <c16:uniqueId val="{0000000B-1722-4F33-A3C6-59C57B6C6F36}"/>
              </c:ext>
            </c:extLst>
          </c:dPt>
          <c:dPt>
            <c:idx val="6"/>
            <c:invertIfNegative val="0"/>
            <c:bubble3D val="0"/>
            <c:spPr>
              <a:noFill/>
              <a:ln>
                <a:noFill/>
              </a:ln>
              <a:effectLst/>
            </c:spPr>
            <c:extLst>
              <c:ext xmlns:c16="http://schemas.microsoft.com/office/drawing/2014/chart" uri="{C3380CC4-5D6E-409C-BE32-E72D297353CC}">
                <c16:uniqueId val="{0000000D-1722-4F33-A3C6-59C57B6C6F36}"/>
              </c:ext>
            </c:extLst>
          </c:dPt>
          <c:dPt>
            <c:idx val="7"/>
            <c:invertIfNegative val="0"/>
            <c:bubble3D val="0"/>
            <c:spPr>
              <a:noFill/>
              <a:ln>
                <a:noFill/>
              </a:ln>
              <a:effectLst/>
            </c:spPr>
            <c:extLst>
              <c:ext xmlns:c16="http://schemas.microsoft.com/office/drawing/2014/chart" uri="{C3380CC4-5D6E-409C-BE32-E72D297353CC}">
                <c16:uniqueId val="{0000000F-1722-4F33-A3C6-59C57B6C6F36}"/>
              </c:ext>
            </c:extLst>
          </c:dPt>
          <c:dPt>
            <c:idx val="8"/>
            <c:invertIfNegative val="0"/>
            <c:bubble3D val="0"/>
            <c:spPr>
              <a:noFill/>
              <a:ln>
                <a:noFill/>
              </a:ln>
              <a:effectLst/>
            </c:spPr>
            <c:extLst>
              <c:ext xmlns:c16="http://schemas.microsoft.com/office/drawing/2014/chart" uri="{C3380CC4-5D6E-409C-BE32-E72D297353CC}">
                <c16:uniqueId val="{00000011-1722-4F33-A3C6-59C57B6C6F36}"/>
              </c:ext>
            </c:extLst>
          </c:dPt>
          <c:dPt>
            <c:idx val="9"/>
            <c:invertIfNegative val="0"/>
            <c:bubble3D val="0"/>
            <c:spPr>
              <a:noFill/>
              <a:ln>
                <a:noFill/>
              </a:ln>
              <a:effectLst/>
            </c:spPr>
            <c:extLst>
              <c:ext xmlns:c16="http://schemas.microsoft.com/office/drawing/2014/chart" uri="{C3380CC4-5D6E-409C-BE32-E72D297353CC}">
                <c16:uniqueId val="{00000013-1722-4F33-A3C6-59C57B6C6F36}"/>
              </c:ext>
            </c:extLst>
          </c:dPt>
          <c:dPt>
            <c:idx val="10"/>
            <c:invertIfNegative val="0"/>
            <c:bubble3D val="0"/>
            <c:spPr>
              <a:noFill/>
              <a:ln>
                <a:noFill/>
              </a:ln>
              <a:effectLst/>
            </c:spPr>
            <c:extLst>
              <c:ext xmlns:c16="http://schemas.microsoft.com/office/drawing/2014/chart" uri="{C3380CC4-5D6E-409C-BE32-E72D297353CC}">
                <c16:uniqueId val="{00000015-1722-4F33-A3C6-59C57B6C6F36}"/>
              </c:ext>
            </c:extLst>
          </c:dPt>
          <c:dPt>
            <c:idx val="11"/>
            <c:invertIfNegative val="0"/>
            <c:bubble3D val="0"/>
            <c:spPr>
              <a:noFill/>
              <a:ln>
                <a:noFill/>
              </a:ln>
              <a:effectLst/>
            </c:spPr>
            <c:extLst>
              <c:ext xmlns:c16="http://schemas.microsoft.com/office/drawing/2014/chart" uri="{C3380CC4-5D6E-409C-BE32-E72D297353CC}">
                <c16:uniqueId val="{00000017-1722-4F33-A3C6-59C57B6C6F36}"/>
              </c:ext>
            </c:extLst>
          </c:dPt>
          <c:dPt>
            <c:idx val="12"/>
            <c:invertIfNegative val="0"/>
            <c:bubble3D val="0"/>
            <c:spPr>
              <a:noFill/>
              <a:ln>
                <a:noFill/>
              </a:ln>
              <a:effectLst/>
            </c:spPr>
            <c:extLst>
              <c:ext xmlns:c16="http://schemas.microsoft.com/office/drawing/2014/chart" uri="{C3380CC4-5D6E-409C-BE32-E72D297353CC}">
                <c16:uniqueId val="{00000019-1722-4F33-A3C6-59C57B6C6F36}"/>
              </c:ext>
            </c:extLst>
          </c:dPt>
          <c:dPt>
            <c:idx val="13"/>
            <c:invertIfNegative val="0"/>
            <c:bubble3D val="0"/>
            <c:spPr>
              <a:solidFill>
                <a:srgbClr val="2A5F8F"/>
              </a:solidFill>
              <a:ln>
                <a:noFill/>
              </a:ln>
              <a:effectLst/>
            </c:spPr>
            <c:extLst>
              <c:ext xmlns:c16="http://schemas.microsoft.com/office/drawing/2014/chart" uri="{C3380CC4-5D6E-409C-BE32-E72D297353CC}">
                <c16:uniqueId val="{0000001B-1722-4F33-A3C6-59C57B6C6F36}"/>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9.3147758164037526</c:v>
                </c:pt>
                <c:pt idx="1">
                  <c:v>9.3147758164037526</c:v>
                </c:pt>
                <c:pt idx="2">
                  <c:v>10.105301959682805</c:v>
                </c:pt>
                <c:pt idx="3">
                  <c:v>10.105301959682805</c:v>
                </c:pt>
                <c:pt idx="4">
                  <c:v>10.543542155425541</c:v>
                </c:pt>
                <c:pt idx="5">
                  <c:v>10.997954627278178</c:v>
                </c:pt>
                <c:pt idx="6">
                  <c:v>11.479778537252098</c:v>
                </c:pt>
                <c:pt idx="7">
                  <c:v>12.009101125277244</c:v>
                </c:pt>
                <c:pt idx="8">
                  <c:v>12.587238152391194</c:v>
                </c:pt>
                <c:pt idx="9">
                  <c:v>13.21334290235696</c:v>
                </c:pt>
                <c:pt idx="10">
                  <c:v>13.862447895049932</c:v>
                </c:pt>
                <c:pt idx="11">
                  <c:v>14.512025402275682</c:v>
                </c:pt>
                <c:pt idx="12">
                  <c:v>15.178014403425168</c:v>
                </c:pt>
                <c:pt idx="13">
                  <c:v>16.548458140869769</c:v>
                </c:pt>
              </c:numCache>
            </c:numRef>
          </c:val>
          <c:extLst>
            <c:ext xmlns:c16="http://schemas.microsoft.com/office/drawing/2014/chart" uri="{C3380CC4-5D6E-409C-BE32-E72D297353CC}">
              <c16:uniqueId val="{0000001C-1722-4F33-A3C6-59C57B6C6F36}"/>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0.79052614327905246</c:v>
                </c:pt>
                <c:pt idx="3">
                  <c:v>0.4382401957427362</c:v>
                </c:pt>
                <c:pt idx="4">
                  <c:v>0.45441247185263656</c:v>
                </c:pt>
                <c:pt idx="5">
                  <c:v>0.48182390997392055</c:v>
                </c:pt>
                <c:pt idx="6">
                  <c:v>0.52932258802514554</c:v>
                </c:pt>
                <c:pt idx="7">
                  <c:v>0.5781370271139501</c:v>
                </c:pt>
                <c:pt idx="8">
                  <c:v>0.62610474996576571</c:v>
                </c:pt>
                <c:pt idx="9">
                  <c:v>0.64910499269297262</c:v>
                </c:pt>
                <c:pt idx="10">
                  <c:v>0.64957750722575014</c:v>
                </c:pt>
                <c:pt idx="11">
                  <c:v>0.66598900114948556</c:v>
                </c:pt>
                <c:pt idx="12">
                  <c:v>0.67992822293363631</c:v>
                </c:pt>
              </c:numCache>
            </c:numRef>
          </c:val>
          <c:extLst>
            <c:ext xmlns:c16="http://schemas.microsoft.com/office/drawing/2014/chart" uri="{C3380CC4-5D6E-409C-BE32-E72D297353CC}">
              <c16:uniqueId val="{0000001D-1722-4F33-A3C6-59C57B6C6F36}"/>
            </c:ext>
          </c:extLst>
        </c:ser>
        <c:dLbls>
          <c:showLegendKey val="0"/>
          <c:showVal val="0"/>
          <c:showCatName val="0"/>
          <c:showSerName val="0"/>
          <c:showPercent val="0"/>
          <c:showBubbleSize val="0"/>
        </c:dLbls>
        <c:gapWidth val="50"/>
        <c:overlap val="100"/>
        <c:axId val="207108016"/>
        <c:axId val="207115632"/>
      </c:barChart>
      <c:catAx>
        <c:axId val="2071080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15632"/>
        <c:crosses val="autoZero"/>
        <c:auto val="1"/>
        <c:lblAlgn val="ctr"/>
        <c:lblOffset val="100"/>
        <c:noMultiLvlLbl val="0"/>
      </c:catAx>
      <c:valAx>
        <c:axId val="207115632"/>
        <c:scaling>
          <c:orientation val="minMax"/>
        </c:scaling>
        <c:delete val="1"/>
        <c:axPos val="l"/>
        <c:numFmt formatCode="0.0" sourceLinked="1"/>
        <c:majorTickMark val="none"/>
        <c:minorTickMark val="none"/>
        <c:tickLblPos val="nextTo"/>
        <c:crossAx val="20710801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910917822963"/>
          <c:y val="4.0225179225868664E-2"/>
          <c:w val="0.87507556483913373"/>
          <c:h val="0.65061484798850733"/>
        </c:manualLayout>
      </c:layout>
      <c:lineChart>
        <c:grouping val="standard"/>
        <c:varyColors val="0"/>
        <c:ser>
          <c:idx val="0"/>
          <c:order val="0"/>
          <c:tx>
            <c:strRef>
              <c:f>Sheet1!$B$1</c:f>
              <c:strCache>
                <c:ptCount val="1"/>
                <c:pt idx="0">
                  <c:v>China</c:v>
                </c:pt>
              </c:strCache>
            </c:strRef>
          </c:tx>
          <c:spPr>
            <a:ln w="28575" cap="rnd">
              <a:solidFill>
                <a:schemeClr val="accent1"/>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Sheet1!$B$2:$B$12</c:f>
              <c:numCache>
                <c:formatCode>0.0%</c:formatCode>
                <c:ptCount val="11"/>
                <c:pt idx="0">
                  <c:v>5.1500000000000004E-2</c:v>
                </c:pt>
                <c:pt idx="1">
                  <c:v>5.4166666666666669E-2</c:v>
                </c:pt>
                <c:pt idx="2">
                  <c:v>5.7000000000000009E-2</c:v>
                </c:pt>
                <c:pt idx="3">
                  <c:v>5.9333333333333335E-2</c:v>
                </c:pt>
                <c:pt idx="4">
                  <c:v>6.1166666666666675E-2</c:v>
                </c:pt>
                <c:pt idx="5">
                  <c:v>6.2833333333333338E-2</c:v>
                </c:pt>
                <c:pt idx="6">
                  <c:v>6.483333333333334E-2</c:v>
                </c:pt>
                <c:pt idx="7">
                  <c:v>6.7166666666666666E-2</c:v>
                </c:pt>
                <c:pt idx="8">
                  <c:v>6.8833333333333344E-2</c:v>
                </c:pt>
                <c:pt idx="9">
                  <c:v>6.9000000000000006E-2</c:v>
                </c:pt>
                <c:pt idx="10">
                  <c:v>6.7666666666666667E-2</c:v>
                </c:pt>
              </c:numCache>
            </c:numRef>
          </c:val>
          <c:smooth val="1"/>
          <c:extLst>
            <c:ext xmlns:c16="http://schemas.microsoft.com/office/drawing/2014/chart" uri="{C3380CC4-5D6E-409C-BE32-E72D297353CC}">
              <c16:uniqueId val="{00000000-6632-4D2B-86C8-7319BAC0FACD}"/>
            </c:ext>
          </c:extLst>
        </c:ser>
        <c:ser>
          <c:idx val="1"/>
          <c:order val="1"/>
          <c:tx>
            <c:strRef>
              <c:f>Sheet1!$C$1</c:f>
              <c:strCache>
                <c:ptCount val="1"/>
                <c:pt idx="0">
                  <c:v>Japan</c:v>
                </c:pt>
              </c:strCache>
            </c:strRef>
          </c:tx>
          <c:spPr>
            <a:ln w="28575" cap="rnd">
              <a:solidFill>
                <a:schemeClr val="accent2"/>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Sheet1!$C$2:$C$12</c:f>
              <c:numCache>
                <c:formatCode>0.0%</c:formatCode>
                <c:ptCount val="11"/>
                <c:pt idx="0">
                  <c:v>5.116830281459997E-2</c:v>
                </c:pt>
                <c:pt idx="1">
                  <c:v>5.1290221555306513E-2</c:v>
                </c:pt>
                <c:pt idx="2">
                  <c:v>5.1395302571985553E-2</c:v>
                </c:pt>
                <c:pt idx="3">
                  <c:v>5.151160873801626E-2</c:v>
                </c:pt>
                <c:pt idx="4">
                  <c:v>5.1620431471145853E-2</c:v>
                </c:pt>
                <c:pt idx="5">
                  <c:v>5.1734243159542857E-2</c:v>
                </c:pt>
                <c:pt idx="6">
                  <c:v>5.1844728877761585E-2</c:v>
                </c:pt>
                <c:pt idx="7">
                  <c:v>5.1961866536336859E-2</c:v>
                </c:pt>
                <c:pt idx="8">
                  <c:v>5.2074569568007774E-2</c:v>
                </c:pt>
                <c:pt idx="9">
                  <c:v>5.2190229017614928E-2</c:v>
                </c:pt>
                <c:pt idx="10">
                  <c:v>5.2299975631349596E-2</c:v>
                </c:pt>
              </c:numCache>
            </c:numRef>
          </c:val>
          <c:smooth val="1"/>
          <c:extLst>
            <c:ext xmlns:c16="http://schemas.microsoft.com/office/drawing/2014/chart" uri="{C3380CC4-5D6E-409C-BE32-E72D297353CC}">
              <c16:uniqueId val="{00000001-6632-4D2B-86C8-7319BAC0FACD}"/>
            </c:ext>
          </c:extLst>
        </c:ser>
        <c:ser>
          <c:idx val="2"/>
          <c:order val="2"/>
          <c:tx>
            <c:strRef>
              <c:f>Sheet1!$D$1</c:f>
              <c:strCache>
                <c:ptCount val="1"/>
                <c:pt idx="0">
                  <c:v>South Korea</c:v>
                </c:pt>
              </c:strCache>
            </c:strRef>
          </c:tx>
          <c:spPr>
            <a:ln w="28575" cap="rnd">
              <a:solidFill>
                <a:schemeClr val="accent3"/>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Sheet1!$D$2:$D$12</c:f>
              <c:numCache>
                <c:formatCode>0.0%</c:formatCode>
                <c:ptCount val="11"/>
                <c:pt idx="0">
                  <c:v>5.0610918051856614E-2</c:v>
                </c:pt>
                <c:pt idx="1">
                  <c:v>5.1425475454332091E-2</c:v>
                </c:pt>
                <c:pt idx="2">
                  <c:v>5.2138213181498139E-2</c:v>
                </c:pt>
                <c:pt idx="3">
                  <c:v>5.274913123335475E-2</c:v>
                </c:pt>
                <c:pt idx="4">
                  <c:v>5.2850950908664179E-2</c:v>
                </c:pt>
                <c:pt idx="5">
                  <c:v>5.2647311558045314E-2</c:v>
                </c:pt>
                <c:pt idx="6">
                  <c:v>5.2036393506188702E-2</c:v>
                </c:pt>
                <c:pt idx="7">
                  <c:v>5.1323655779022655E-2</c:v>
                </c:pt>
                <c:pt idx="8">
                  <c:v>5.0610918051856614E-2</c:v>
                </c:pt>
                <c:pt idx="9">
                  <c:v>0.05</c:v>
                </c:pt>
                <c:pt idx="10">
                  <c:v>4.9490901623452828E-2</c:v>
                </c:pt>
              </c:numCache>
            </c:numRef>
          </c:val>
          <c:smooth val="1"/>
          <c:extLst>
            <c:ext xmlns:c16="http://schemas.microsoft.com/office/drawing/2014/chart" uri="{C3380CC4-5D6E-409C-BE32-E72D297353CC}">
              <c16:uniqueId val="{00000002-6632-4D2B-86C8-7319BAC0FACD}"/>
            </c:ext>
          </c:extLst>
        </c:ser>
        <c:dLbls>
          <c:showLegendKey val="0"/>
          <c:showVal val="0"/>
          <c:showCatName val="0"/>
          <c:showSerName val="0"/>
          <c:showPercent val="0"/>
          <c:showBubbleSize val="0"/>
        </c:dLbls>
        <c:smooth val="0"/>
        <c:axId val="207102032"/>
        <c:axId val="207119984"/>
      </c:lineChart>
      <c:catAx>
        <c:axId val="207102032"/>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19984"/>
        <c:crossesAt val="-3.5000000000000003E-2"/>
        <c:auto val="1"/>
        <c:lblAlgn val="ctr"/>
        <c:lblOffset val="100"/>
        <c:noMultiLvlLbl val="0"/>
      </c:catAx>
      <c:valAx>
        <c:axId val="207119984"/>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207102032"/>
        <c:crosses val="autoZero"/>
        <c:crossBetween val="between"/>
      </c:valAx>
      <c:spPr>
        <a:noFill/>
        <a:ln w="25400">
          <a:noFill/>
        </a:ln>
        <a:effectLst/>
      </c:spPr>
    </c:plotArea>
    <c:legend>
      <c:legendPos val="b"/>
      <c:layout>
        <c:manualLayout>
          <c:xMode val="edge"/>
          <c:yMode val="edge"/>
          <c:x val="0"/>
          <c:y val="0.81733067057011788"/>
          <c:w val="1"/>
          <c:h val="0.1826693294298820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12700">
      <a:noFill/>
    </a:ln>
    <a:effectLst/>
  </c:spPr>
  <c:txPr>
    <a:bodyPr/>
    <a:lstStyle/>
    <a:p>
      <a:pPr>
        <a:defRPr sz="1100">
          <a:solidFill>
            <a:schemeClr val="tx1"/>
          </a:solidFill>
        </a:defRPr>
      </a:pPr>
      <a:endParaRPr lang="en-US"/>
    </a:p>
  </c:txPr>
  <c:externalData r:id="rId3">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586017868029705E-2"/>
          <c:y val="5.6718815469420834E-2"/>
          <c:w val="0.92649309691078063"/>
          <c:h val="0.72664225195762067"/>
        </c:manualLayout>
      </c:layout>
      <c:barChart>
        <c:barDir val="col"/>
        <c:grouping val="percentStacked"/>
        <c:varyColors val="0"/>
        <c:ser>
          <c:idx val="0"/>
          <c:order val="0"/>
          <c:tx>
            <c:strRef>
              <c:f>Sheet1!$B$1</c:f>
              <c:strCache>
                <c:ptCount val="1"/>
                <c:pt idx="0">
                  <c:v>China</c:v>
                </c:pt>
              </c:strCache>
            </c:strRef>
          </c:tx>
          <c:spPr>
            <a:solidFill>
              <a:schemeClr val="accent1"/>
            </a:solidFill>
            <a:ln>
              <a:noFill/>
            </a:ln>
            <a:effectLst/>
          </c:spPr>
          <c:invertIfNegative val="0"/>
          <c:cat>
            <c:strRef>
              <c:f>Sheet1!$A$2:$A$3</c:f>
              <c:strCache>
                <c:ptCount val="2"/>
                <c:pt idx="0">
                  <c:v>2024E</c:v>
                </c:pt>
                <c:pt idx="1">
                  <c:v>2034F</c:v>
                </c:pt>
              </c:strCache>
            </c:strRef>
          </c:cat>
          <c:val>
            <c:numRef>
              <c:f>Sheet1!$B$2:$B$3</c:f>
              <c:numCache>
                <c:formatCode>0.0%</c:formatCode>
                <c:ptCount val="2"/>
                <c:pt idx="0">
                  <c:v>0.18</c:v>
                </c:pt>
                <c:pt idx="1">
                  <c:v>0.18</c:v>
                </c:pt>
              </c:numCache>
            </c:numRef>
          </c:val>
          <c:extLst>
            <c:ext xmlns:c16="http://schemas.microsoft.com/office/drawing/2014/chart" uri="{C3380CC4-5D6E-409C-BE32-E72D297353CC}">
              <c16:uniqueId val="{00000000-30D9-4093-9B91-7E3CED55CA21}"/>
            </c:ext>
          </c:extLst>
        </c:ser>
        <c:ser>
          <c:idx val="1"/>
          <c:order val="1"/>
          <c:tx>
            <c:strRef>
              <c:f>Sheet1!$C$1</c:f>
              <c:strCache>
                <c:ptCount val="1"/>
                <c:pt idx="0">
                  <c:v>Japan</c:v>
                </c:pt>
              </c:strCache>
            </c:strRef>
          </c:tx>
          <c:spPr>
            <a:solidFill>
              <a:schemeClr val="accent2"/>
            </a:solidFill>
            <a:ln>
              <a:noFill/>
            </a:ln>
            <a:effectLst/>
          </c:spPr>
          <c:invertIfNegative val="0"/>
          <c:cat>
            <c:strRef>
              <c:f>Sheet1!$A$2:$A$3</c:f>
              <c:strCache>
                <c:ptCount val="2"/>
                <c:pt idx="0">
                  <c:v>2024E</c:v>
                </c:pt>
                <c:pt idx="1">
                  <c:v>2034F</c:v>
                </c:pt>
              </c:strCache>
            </c:strRef>
          </c:cat>
          <c:val>
            <c:numRef>
              <c:f>Sheet1!$C$2:$C$3</c:f>
              <c:numCache>
                <c:formatCode>0.0%</c:formatCode>
                <c:ptCount val="2"/>
                <c:pt idx="0">
                  <c:v>0.06</c:v>
                </c:pt>
                <c:pt idx="1">
                  <c:v>0.06</c:v>
                </c:pt>
              </c:numCache>
            </c:numRef>
          </c:val>
          <c:extLst>
            <c:ext xmlns:c16="http://schemas.microsoft.com/office/drawing/2014/chart" uri="{C3380CC4-5D6E-409C-BE32-E72D297353CC}">
              <c16:uniqueId val="{00000001-30D9-4093-9B91-7E3CED55CA21}"/>
            </c:ext>
          </c:extLst>
        </c:ser>
        <c:ser>
          <c:idx val="2"/>
          <c:order val="2"/>
          <c:tx>
            <c:strRef>
              <c:f>Sheet1!$D$1</c:f>
              <c:strCache>
                <c:ptCount val="1"/>
                <c:pt idx="0">
                  <c:v>South Korea</c:v>
                </c:pt>
              </c:strCache>
            </c:strRef>
          </c:tx>
          <c:spPr>
            <a:solidFill>
              <a:schemeClr val="accent3"/>
            </a:solidFill>
            <a:ln>
              <a:noFill/>
            </a:ln>
            <a:effectLst/>
          </c:spPr>
          <c:invertIfNegative val="0"/>
          <c:cat>
            <c:strRef>
              <c:f>Sheet1!$A$2:$A$3</c:f>
              <c:strCache>
                <c:ptCount val="2"/>
                <c:pt idx="0">
                  <c:v>2024E</c:v>
                </c:pt>
                <c:pt idx="1">
                  <c:v>2034F</c:v>
                </c:pt>
              </c:strCache>
            </c:strRef>
          </c:cat>
          <c:val>
            <c:numRef>
              <c:f>Sheet1!$D$2:$D$3</c:f>
              <c:numCache>
                <c:formatCode>0.0%</c:formatCode>
                <c:ptCount val="2"/>
                <c:pt idx="0">
                  <c:v>0.13</c:v>
                </c:pt>
                <c:pt idx="1">
                  <c:v>0.13</c:v>
                </c:pt>
              </c:numCache>
            </c:numRef>
          </c:val>
          <c:extLst>
            <c:ext xmlns:c16="http://schemas.microsoft.com/office/drawing/2014/chart" uri="{C3380CC4-5D6E-409C-BE32-E72D297353CC}">
              <c16:uniqueId val="{00000002-30D9-4093-9B91-7E3CED55CA21}"/>
            </c:ext>
          </c:extLst>
        </c:ser>
        <c:dLbls>
          <c:showLegendKey val="0"/>
          <c:showVal val="0"/>
          <c:showCatName val="0"/>
          <c:showSerName val="0"/>
          <c:showPercent val="0"/>
          <c:showBubbleSize val="0"/>
        </c:dLbls>
        <c:gapWidth val="50"/>
        <c:overlap val="100"/>
        <c:axId val="207104752"/>
        <c:axId val="207105296"/>
      </c:barChart>
      <c:catAx>
        <c:axId val="2071047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207105296"/>
        <c:crosses val="autoZero"/>
        <c:auto val="1"/>
        <c:lblAlgn val="ctr"/>
        <c:lblOffset val="100"/>
        <c:noMultiLvlLbl val="0"/>
      </c:catAx>
      <c:valAx>
        <c:axId val="207105296"/>
        <c:scaling>
          <c:orientation val="minMax"/>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207104752"/>
        <c:crosses val="autoZero"/>
        <c:crossBetween val="between"/>
      </c:valAx>
      <c:spPr>
        <a:noFill/>
        <a:ln>
          <a:noFill/>
        </a:ln>
        <a:effectLst/>
      </c:spPr>
    </c:plotArea>
    <c:legend>
      <c:legendPos val="b"/>
      <c:layout>
        <c:manualLayout>
          <c:xMode val="edge"/>
          <c:yMode val="edge"/>
          <c:x val="0"/>
          <c:y val="0.83692483498304948"/>
          <c:w val="1"/>
          <c:h val="0.16307516501695063"/>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193926521544815"/>
          <c:y val="3.2403000316204716E-2"/>
          <c:w val="0.7016005889076895"/>
          <c:h val="0.82090372344009988"/>
        </c:manualLayout>
      </c:layout>
      <c:bubbleChart>
        <c:varyColors val="1"/>
        <c:ser>
          <c:idx val="0"/>
          <c:order val="0"/>
          <c:tx>
            <c:strRef>
              <c:f>Sheet1!$C$1</c:f>
              <c:strCache>
                <c:ptCount val="1"/>
                <c:pt idx="0">
                  <c:v>Y-Values</c:v>
                </c:pt>
              </c:strCache>
            </c:strRef>
          </c:tx>
          <c:invertIfNegative val="0"/>
          <c:dPt>
            <c:idx val="0"/>
            <c:invertIfNegative val="0"/>
            <c:bubble3D val="0"/>
            <c:spPr>
              <a:solidFill>
                <a:schemeClr val="accent1">
                  <a:alpha val="75000"/>
                </a:schemeClr>
              </a:solidFill>
              <a:ln>
                <a:noFill/>
              </a:ln>
              <a:effectLst/>
            </c:spPr>
            <c:extLst>
              <c:ext xmlns:c16="http://schemas.microsoft.com/office/drawing/2014/chart" uri="{C3380CC4-5D6E-409C-BE32-E72D297353CC}">
                <c16:uniqueId val="{00000001-2E50-4FB2-8639-DD88098AFD9D}"/>
              </c:ext>
            </c:extLst>
          </c:dPt>
          <c:dPt>
            <c:idx val="1"/>
            <c:invertIfNegative val="0"/>
            <c:bubble3D val="0"/>
            <c:spPr>
              <a:solidFill>
                <a:schemeClr val="accent2">
                  <a:alpha val="75000"/>
                </a:schemeClr>
              </a:solidFill>
              <a:ln>
                <a:noFill/>
              </a:ln>
              <a:effectLst/>
            </c:spPr>
            <c:extLst>
              <c:ext xmlns:c16="http://schemas.microsoft.com/office/drawing/2014/chart" uri="{C3380CC4-5D6E-409C-BE32-E72D297353CC}">
                <c16:uniqueId val="{00000003-2E50-4FB2-8639-DD88098AFD9D}"/>
              </c:ext>
            </c:extLst>
          </c:dPt>
          <c:dPt>
            <c:idx val="2"/>
            <c:invertIfNegative val="0"/>
            <c:bubble3D val="0"/>
            <c:spPr>
              <a:solidFill>
                <a:schemeClr val="accent3">
                  <a:alpha val="75000"/>
                </a:schemeClr>
              </a:solidFill>
              <a:ln>
                <a:noFill/>
              </a:ln>
              <a:effectLst/>
            </c:spPr>
            <c:extLst>
              <c:ext xmlns:c16="http://schemas.microsoft.com/office/drawing/2014/chart" uri="{C3380CC4-5D6E-409C-BE32-E72D297353CC}">
                <c16:uniqueId val="{00000005-2E50-4FB2-8639-DD88098AFD9D}"/>
              </c:ext>
            </c:extLst>
          </c:dPt>
          <c:xVal>
            <c:numRef>
              <c:f>Sheet1!$B$2:$B$4</c:f>
              <c:numCache>
                <c:formatCode>_(* #,##0.0_);_(* \(#,##0.0\);_(* "-"??_);_(@_)</c:formatCode>
                <c:ptCount val="3"/>
                <c:pt idx="0">
                  <c:v>1.2484641180451868</c:v>
                </c:pt>
                <c:pt idx="1">
                  <c:v>1.171505207157916</c:v>
                </c:pt>
                <c:pt idx="2">
                  <c:v>1.0385803668462259</c:v>
                </c:pt>
              </c:numCache>
            </c:numRef>
          </c:xVal>
          <c:yVal>
            <c:numRef>
              <c:f>Sheet1!$C$2:$C$4</c:f>
              <c:numCache>
                <c:formatCode>_(* #,##0.0_);_(* \(#,##0.0\);_(* "-"??_);_(@_)</c:formatCode>
                <c:ptCount val="3"/>
                <c:pt idx="0">
                  <c:v>3.671570117770909</c:v>
                </c:pt>
                <c:pt idx="1">
                  <c:v>2.9587134526586683</c:v>
                </c:pt>
                <c:pt idx="2">
                  <c:v>1.1164555835041849</c:v>
                </c:pt>
              </c:numCache>
            </c:numRef>
          </c:yVal>
          <c:bubbleSize>
            <c:numRef>
              <c:f>Sheet1!$D$2:$D$4</c:f>
              <c:numCache>
                <c:formatCode>_(* #,##0.0_);_(* \(#,##0.0\);_(* "-"??_);_(@_)</c:formatCode>
                <c:ptCount val="3"/>
                <c:pt idx="0">
                  <c:v>4.3273698868360606</c:v>
                </c:pt>
                <c:pt idx="1">
                  <c:v>3.2149946963903226</c:v>
                </c:pt>
                <c:pt idx="2">
                  <c:v>1.0433263518646889</c:v>
                </c:pt>
              </c:numCache>
            </c:numRef>
          </c:bubbleSize>
          <c:bubble3D val="0"/>
          <c:extLst>
            <c:ext xmlns:c16="http://schemas.microsoft.com/office/drawing/2014/chart" uri="{C3380CC4-5D6E-409C-BE32-E72D297353CC}">
              <c16:uniqueId val="{00000006-2E50-4FB2-8639-DD88098AFD9D}"/>
            </c:ext>
          </c:extLst>
        </c:ser>
        <c:dLbls>
          <c:showLegendKey val="0"/>
          <c:showVal val="0"/>
          <c:showCatName val="0"/>
          <c:showSerName val="0"/>
          <c:showPercent val="0"/>
          <c:showBubbleSize val="0"/>
        </c:dLbls>
        <c:bubbleScale val="100"/>
        <c:showNegBubbles val="0"/>
        <c:axId val="207105840"/>
        <c:axId val="207106384"/>
      </c:bubbleChart>
      <c:valAx>
        <c:axId val="207105840"/>
        <c:scaling>
          <c:orientation val="minMax"/>
          <c:min val="0"/>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CAGR Index (2024 – 2034)</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106384"/>
        <c:crossesAt val="0"/>
        <c:crossBetween val="midCat"/>
      </c:valAx>
      <c:valAx>
        <c:axId val="207106384"/>
        <c:scaling>
          <c:orientation val="minMax"/>
          <c:min val="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Market Share Index (2024E)</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105840"/>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
          <c:y val="0.10852747093249289"/>
          <c:w val="0.99129804205946337"/>
          <c:h val="0.64471383473379196"/>
        </c:manualLayout>
      </c:layout>
      <c:barChart>
        <c:barDir val="col"/>
        <c:grouping val="stacked"/>
        <c:varyColors val="0"/>
        <c:ser>
          <c:idx val="0"/>
          <c:order val="0"/>
          <c:tx>
            <c:strRef>
              <c:f>Sheet1!$B$1</c:f>
              <c:strCache>
                <c:ptCount val="1"/>
                <c:pt idx="0">
                  <c:v>Value (US$ Mn)</c:v>
                </c:pt>
              </c:strCache>
            </c:strRef>
          </c:tx>
          <c:spPr>
            <a:no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0965-41A6-BBF1-BD10132C530F}"/>
              </c:ext>
            </c:extLst>
          </c:dPt>
          <c:dPt>
            <c:idx val="1"/>
            <c:invertIfNegative val="0"/>
            <c:bubble3D val="0"/>
            <c:spPr>
              <a:noFill/>
              <a:ln>
                <a:noFill/>
              </a:ln>
              <a:effectLst/>
            </c:spPr>
            <c:extLst>
              <c:ext xmlns:c16="http://schemas.microsoft.com/office/drawing/2014/chart" uri="{C3380CC4-5D6E-409C-BE32-E72D297353CC}">
                <c16:uniqueId val="{00000003-0965-41A6-BBF1-BD10132C530F}"/>
              </c:ext>
            </c:extLst>
          </c:dPt>
          <c:dPt>
            <c:idx val="3"/>
            <c:invertIfNegative val="0"/>
            <c:bubble3D val="0"/>
            <c:spPr>
              <a:noFill/>
              <a:ln>
                <a:noFill/>
              </a:ln>
              <a:effectLst/>
            </c:spPr>
            <c:extLst>
              <c:ext xmlns:c16="http://schemas.microsoft.com/office/drawing/2014/chart" uri="{C3380CC4-5D6E-409C-BE32-E72D297353CC}">
                <c16:uniqueId val="{00000005-0965-41A6-BBF1-BD10132C530F}"/>
              </c:ext>
            </c:extLst>
          </c:dPt>
          <c:dPt>
            <c:idx val="4"/>
            <c:invertIfNegative val="0"/>
            <c:bubble3D val="0"/>
            <c:spPr>
              <a:solidFill>
                <a:srgbClr val="2A5F8F"/>
              </a:solidFill>
              <a:ln>
                <a:noFill/>
              </a:ln>
              <a:effectLst/>
            </c:spPr>
            <c:extLst>
              <c:ext xmlns:c16="http://schemas.microsoft.com/office/drawing/2014/chart" uri="{C3380CC4-5D6E-409C-BE32-E72D297353CC}">
                <c16:uniqueId val="{00000007-0965-41A6-BBF1-BD10132C530F}"/>
              </c:ext>
            </c:extLst>
          </c:dPt>
          <c:cat>
            <c:strRef>
              <c:f>Sheet1!$A$2:$A$8</c:f>
              <c:strCache>
                <c:ptCount val="5"/>
                <c:pt idx="0">
                  <c:v>2024E</c:v>
                </c:pt>
                <c:pt idx="1">
                  <c:v>China</c:v>
                </c:pt>
                <c:pt idx="2">
                  <c:v>Japan</c:v>
                </c:pt>
                <c:pt idx="3">
                  <c:v>South Korea</c:v>
                </c:pt>
                <c:pt idx="4">
                  <c:v>2034F</c:v>
                </c:pt>
              </c:strCache>
            </c:strRef>
          </c:cat>
          <c:val>
            <c:numRef>
              <c:f>Sheet1!$B$2:$B$6</c:f>
              <c:numCache>
                <c:formatCode>0.0</c:formatCode>
                <c:ptCount val="5"/>
                <c:pt idx="0" formatCode="_ * #,##0.0_ ;_ * \-#,##0.0_ ;_ * &quot;-&quot;??_ ;_ @_ ">
                  <c:v>2923.4059275946483</c:v>
                </c:pt>
                <c:pt idx="1">
                  <c:v>2923.4059275946483</c:v>
                </c:pt>
                <c:pt idx="2">
                  <c:v>5423.4059275946483</c:v>
                </c:pt>
                <c:pt idx="3">
                  <c:v>5773.4059275946483</c:v>
                </c:pt>
                <c:pt idx="4">
                  <c:v>7173.4059275946483</c:v>
                </c:pt>
              </c:numCache>
            </c:numRef>
          </c:val>
          <c:extLst>
            <c:ext xmlns:c16="http://schemas.microsoft.com/office/drawing/2014/chart" uri="{C3380CC4-5D6E-409C-BE32-E72D297353CC}">
              <c16:uniqueId val="{00000008-0965-41A6-BBF1-BD10132C530F}"/>
            </c:ext>
          </c:extLst>
        </c:ser>
        <c:ser>
          <c:idx val="1"/>
          <c:order val="1"/>
          <c:tx>
            <c:strRef>
              <c:f>Sheet1!$C$1</c:f>
              <c:strCache>
                <c:ptCount val="1"/>
                <c:pt idx="0">
                  <c:v>Abs. $ Opportunity</c:v>
                </c:pt>
              </c:strCache>
            </c:strRef>
          </c:tx>
          <c:spPr>
            <a:solidFill>
              <a:schemeClr val="accent2"/>
            </a:solidFill>
            <a:ln>
              <a:noFill/>
            </a:ln>
            <a:effectLst/>
          </c:spPr>
          <c:invertIfNegative val="0"/>
          <c:cat>
            <c:strRef>
              <c:f>Sheet1!$A$2:$A$8</c:f>
              <c:strCache>
                <c:ptCount val="5"/>
                <c:pt idx="0">
                  <c:v>2024E</c:v>
                </c:pt>
                <c:pt idx="1">
                  <c:v>China</c:v>
                </c:pt>
                <c:pt idx="2">
                  <c:v>Japan</c:v>
                </c:pt>
                <c:pt idx="3">
                  <c:v>South Korea</c:v>
                </c:pt>
                <c:pt idx="4">
                  <c:v>2034F</c:v>
                </c:pt>
              </c:strCache>
            </c:strRef>
          </c:cat>
          <c:val>
            <c:numRef>
              <c:f>Sheet1!$C$2:$C$6</c:f>
              <c:numCache>
                <c:formatCode>0.0</c:formatCode>
                <c:ptCount val="5"/>
                <c:pt idx="1">
                  <c:v>2500</c:v>
                </c:pt>
                <c:pt idx="2">
                  <c:v>350</c:v>
                </c:pt>
                <c:pt idx="3">
                  <c:v>1400</c:v>
                </c:pt>
              </c:numCache>
            </c:numRef>
          </c:val>
          <c:extLst>
            <c:ext xmlns:c16="http://schemas.microsoft.com/office/drawing/2014/chart" uri="{C3380CC4-5D6E-409C-BE32-E72D297353CC}">
              <c16:uniqueId val="{00000009-0965-41A6-BBF1-BD10132C530F}"/>
            </c:ext>
          </c:extLst>
        </c:ser>
        <c:dLbls>
          <c:showLegendKey val="0"/>
          <c:showVal val="0"/>
          <c:showCatName val="0"/>
          <c:showSerName val="0"/>
          <c:showPercent val="0"/>
          <c:showBubbleSize val="0"/>
        </c:dLbls>
        <c:gapWidth val="50"/>
        <c:overlap val="100"/>
        <c:axId val="207147728"/>
        <c:axId val="207153168"/>
      </c:barChart>
      <c:catAx>
        <c:axId val="2071477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53168"/>
        <c:crosses val="autoZero"/>
        <c:auto val="1"/>
        <c:lblAlgn val="ctr"/>
        <c:lblOffset val="100"/>
        <c:noMultiLvlLbl val="0"/>
      </c:catAx>
      <c:valAx>
        <c:axId val="207153168"/>
        <c:scaling>
          <c:orientation val="minMax"/>
        </c:scaling>
        <c:delete val="1"/>
        <c:axPos val="l"/>
        <c:numFmt formatCode="_ * #,##0.0_ ;_ * \-#,##0.0_ ;_ * &quot;-&quot;??_ ;_ @_ " sourceLinked="1"/>
        <c:majorTickMark val="none"/>
        <c:minorTickMark val="none"/>
        <c:tickLblPos val="nextTo"/>
        <c:crossAx val="207147728"/>
        <c:crosses val="autoZero"/>
        <c:crossBetween val="between"/>
      </c:valAx>
      <c:spPr>
        <a:noFill/>
        <a:ln>
          <a:noFill/>
        </a:ln>
        <a:effectLst/>
      </c:spPr>
    </c:plotArea>
    <c:legend>
      <c:legendPos val="b"/>
      <c:layout>
        <c:manualLayout>
          <c:xMode val="edge"/>
          <c:yMode val="edge"/>
          <c:x val="0"/>
          <c:y val="0.95255500111553071"/>
          <c:w val="1"/>
          <c:h val="4.7444998884469083E-2"/>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1722-4F33-A3C6-59C57B6C6F36}"/>
              </c:ext>
            </c:extLst>
          </c:dPt>
          <c:dPt>
            <c:idx val="1"/>
            <c:invertIfNegative val="0"/>
            <c:bubble3D val="0"/>
            <c:spPr>
              <a:noFill/>
              <a:ln>
                <a:noFill/>
              </a:ln>
              <a:effectLst/>
            </c:spPr>
            <c:extLst>
              <c:ext xmlns:c16="http://schemas.microsoft.com/office/drawing/2014/chart" uri="{C3380CC4-5D6E-409C-BE32-E72D297353CC}">
                <c16:uniqueId val="{00000003-1722-4F33-A3C6-59C57B6C6F36}"/>
              </c:ext>
            </c:extLst>
          </c:dPt>
          <c:dPt>
            <c:idx val="2"/>
            <c:invertIfNegative val="0"/>
            <c:bubble3D val="0"/>
            <c:spPr>
              <a:solidFill>
                <a:srgbClr val="9E7E0A"/>
              </a:solidFill>
              <a:ln>
                <a:noFill/>
              </a:ln>
              <a:effectLst/>
            </c:spPr>
            <c:extLst>
              <c:ext xmlns:c16="http://schemas.microsoft.com/office/drawing/2014/chart" uri="{C3380CC4-5D6E-409C-BE32-E72D297353CC}">
                <c16:uniqueId val="{00000005-1722-4F33-A3C6-59C57B6C6F36}"/>
              </c:ext>
            </c:extLst>
          </c:dPt>
          <c:dPt>
            <c:idx val="3"/>
            <c:invertIfNegative val="0"/>
            <c:bubble3D val="0"/>
            <c:spPr>
              <a:noFill/>
              <a:ln>
                <a:noFill/>
              </a:ln>
              <a:effectLst/>
            </c:spPr>
            <c:extLst>
              <c:ext xmlns:c16="http://schemas.microsoft.com/office/drawing/2014/chart" uri="{C3380CC4-5D6E-409C-BE32-E72D297353CC}">
                <c16:uniqueId val="{00000007-1722-4F33-A3C6-59C57B6C6F36}"/>
              </c:ext>
            </c:extLst>
          </c:dPt>
          <c:dPt>
            <c:idx val="4"/>
            <c:invertIfNegative val="0"/>
            <c:bubble3D val="0"/>
            <c:spPr>
              <a:noFill/>
              <a:ln>
                <a:noFill/>
              </a:ln>
              <a:effectLst/>
            </c:spPr>
            <c:extLst>
              <c:ext xmlns:c16="http://schemas.microsoft.com/office/drawing/2014/chart" uri="{C3380CC4-5D6E-409C-BE32-E72D297353CC}">
                <c16:uniqueId val="{00000009-1722-4F33-A3C6-59C57B6C6F36}"/>
              </c:ext>
            </c:extLst>
          </c:dPt>
          <c:dPt>
            <c:idx val="5"/>
            <c:invertIfNegative val="0"/>
            <c:bubble3D val="0"/>
            <c:spPr>
              <a:noFill/>
              <a:ln>
                <a:noFill/>
              </a:ln>
              <a:effectLst/>
            </c:spPr>
            <c:extLst>
              <c:ext xmlns:c16="http://schemas.microsoft.com/office/drawing/2014/chart" uri="{C3380CC4-5D6E-409C-BE32-E72D297353CC}">
                <c16:uniqueId val="{0000000B-1722-4F33-A3C6-59C57B6C6F36}"/>
              </c:ext>
            </c:extLst>
          </c:dPt>
          <c:dPt>
            <c:idx val="6"/>
            <c:invertIfNegative val="0"/>
            <c:bubble3D val="0"/>
            <c:spPr>
              <a:noFill/>
              <a:ln>
                <a:noFill/>
              </a:ln>
              <a:effectLst/>
            </c:spPr>
            <c:extLst>
              <c:ext xmlns:c16="http://schemas.microsoft.com/office/drawing/2014/chart" uri="{C3380CC4-5D6E-409C-BE32-E72D297353CC}">
                <c16:uniqueId val="{0000000D-1722-4F33-A3C6-59C57B6C6F36}"/>
              </c:ext>
            </c:extLst>
          </c:dPt>
          <c:dPt>
            <c:idx val="7"/>
            <c:invertIfNegative val="0"/>
            <c:bubble3D val="0"/>
            <c:spPr>
              <a:noFill/>
              <a:ln>
                <a:noFill/>
              </a:ln>
              <a:effectLst/>
            </c:spPr>
            <c:extLst>
              <c:ext xmlns:c16="http://schemas.microsoft.com/office/drawing/2014/chart" uri="{C3380CC4-5D6E-409C-BE32-E72D297353CC}">
                <c16:uniqueId val="{0000000F-1722-4F33-A3C6-59C57B6C6F36}"/>
              </c:ext>
            </c:extLst>
          </c:dPt>
          <c:dPt>
            <c:idx val="8"/>
            <c:invertIfNegative val="0"/>
            <c:bubble3D val="0"/>
            <c:spPr>
              <a:noFill/>
              <a:ln>
                <a:noFill/>
              </a:ln>
              <a:effectLst/>
            </c:spPr>
            <c:extLst>
              <c:ext xmlns:c16="http://schemas.microsoft.com/office/drawing/2014/chart" uri="{C3380CC4-5D6E-409C-BE32-E72D297353CC}">
                <c16:uniqueId val="{00000011-1722-4F33-A3C6-59C57B6C6F36}"/>
              </c:ext>
            </c:extLst>
          </c:dPt>
          <c:dPt>
            <c:idx val="9"/>
            <c:invertIfNegative val="0"/>
            <c:bubble3D val="0"/>
            <c:spPr>
              <a:noFill/>
              <a:ln>
                <a:noFill/>
              </a:ln>
              <a:effectLst/>
            </c:spPr>
            <c:extLst>
              <c:ext xmlns:c16="http://schemas.microsoft.com/office/drawing/2014/chart" uri="{C3380CC4-5D6E-409C-BE32-E72D297353CC}">
                <c16:uniqueId val="{00000013-1722-4F33-A3C6-59C57B6C6F36}"/>
              </c:ext>
            </c:extLst>
          </c:dPt>
          <c:dPt>
            <c:idx val="10"/>
            <c:invertIfNegative val="0"/>
            <c:bubble3D val="0"/>
            <c:spPr>
              <a:noFill/>
              <a:ln>
                <a:noFill/>
              </a:ln>
              <a:effectLst/>
            </c:spPr>
            <c:extLst>
              <c:ext xmlns:c16="http://schemas.microsoft.com/office/drawing/2014/chart" uri="{C3380CC4-5D6E-409C-BE32-E72D297353CC}">
                <c16:uniqueId val="{00000015-1722-4F33-A3C6-59C57B6C6F36}"/>
              </c:ext>
            </c:extLst>
          </c:dPt>
          <c:dPt>
            <c:idx val="11"/>
            <c:invertIfNegative val="0"/>
            <c:bubble3D val="0"/>
            <c:spPr>
              <a:noFill/>
              <a:ln>
                <a:noFill/>
              </a:ln>
              <a:effectLst/>
            </c:spPr>
            <c:extLst>
              <c:ext xmlns:c16="http://schemas.microsoft.com/office/drawing/2014/chart" uri="{C3380CC4-5D6E-409C-BE32-E72D297353CC}">
                <c16:uniqueId val="{00000017-1722-4F33-A3C6-59C57B6C6F36}"/>
              </c:ext>
            </c:extLst>
          </c:dPt>
          <c:dPt>
            <c:idx val="12"/>
            <c:invertIfNegative val="0"/>
            <c:bubble3D val="0"/>
            <c:spPr>
              <a:noFill/>
              <a:ln>
                <a:noFill/>
              </a:ln>
              <a:effectLst/>
            </c:spPr>
            <c:extLst>
              <c:ext xmlns:c16="http://schemas.microsoft.com/office/drawing/2014/chart" uri="{C3380CC4-5D6E-409C-BE32-E72D297353CC}">
                <c16:uniqueId val="{00000019-1722-4F33-A3C6-59C57B6C6F36}"/>
              </c:ext>
            </c:extLst>
          </c:dPt>
          <c:dPt>
            <c:idx val="13"/>
            <c:invertIfNegative val="0"/>
            <c:bubble3D val="0"/>
            <c:spPr>
              <a:solidFill>
                <a:srgbClr val="2A5F8F"/>
              </a:solidFill>
              <a:ln>
                <a:noFill/>
              </a:ln>
              <a:effectLst/>
            </c:spPr>
            <c:extLst>
              <c:ext xmlns:c16="http://schemas.microsoft.com/office/drawing/2014/chart" uri="{C3380CC4-5D6E-409C-BE32-E72D297353CC}">
                <c16:uniqueId val="{0000001B-1722-4F33-A3C6-59C57B6C6F36}"/>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9.3147758164037526</c:v>
                </c:pt>
                <c:pt idx="1">
                  <c:v>9.3147758164037526</c:v>
                </c:pt>
                <c:pt idx="2">
                  <c:v>10.105301959682805</c:v>
                </c:pt>
                <c:pt idx="3">
                  <c:v>10.105301959682805</c:v>
                </c:pt>
                <c:pt idx="4">
                  <c:v>10.543542155425541</c:v>
                </c:pt>
                <c:pt idx="5">
                  <c:v>10.997954627278178</c:v>
                </c:pt>
                <c:pt idx="6">
                  <c:v>11.479778537252098</c:v>
                </c:pt>
                <c:pt idx="7">
                  <c:v>12.009101125277244</c:v>
                </c:pt>
                <c:pt idx="8">
                  <c:v>12.587238152391194</c:v>
                </c:pt>
                <c:pt idx="9">
                  <c:v>13.21334290235696</c:v>
                </c:pt>
                <c:pt idx="10">
                  <c:v>13.862447895049932</c:v>
                </c:pt>
                <c:pt idx="11">
                  <c:v>14.512025402275682</c:v>
                </c:pt>
                <c:pt idx="12">
                  <c:v>15.178014403425168</c:v>
                </c:pt>
                <c:pt idx="13">
                  <c:v>16.548458140869769</c:v>
                </c:pt>
              </c:numCache>
            </c:numRef>
          </c:val>
          <c:extLst>
            <c:ext xmlns:c16="http://schemas.microsoft.com/office/drawing/2014/chart" uri="{C3380CC4-5D6E-409C-BE32-E72D297353CC}">
              <c16:uniqueId val="{0000001C-1722-4F33-A3C6-59C57B6C6F36}"/>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0.79052614327905246</c:v>
                </c:pt>
                <c:pt idx="3">
                  <c:v>0.4382401957427362</c:v>
                </c:pt>
                <c:pt idx="4">
                  <c:v>0.45441247185263656</c:v>
                </c:pt>
                <c:pt idx="5">
                  <c:v>0.48182390997392055</c:v>
                </c:pt>
                <c:pt idx="6">
                  <c:v>0.52932258802514554</c:v>
                </c:pt>
                <c:pt idx="7">
                  <c:v>0.5781370271139501</c:v>
                </c:pt>
                <c:pt idx="8">
                  <c:v>0.62610474996576571</c:v>
                </c:pt>
                <c:pt idx="9">
                  <c:v>0.64910499269297262</c:v>
                </c:pt>
                <c:pt idx="10">
                  <c:v>0.64957750722575014</c:v>
                </c:pt>
                <c:pt idx="11">
                  <c:v>0.66598900114948556</c:v>
                </c:pt>
                <c:pt idx="12">
                  <c:v>0.67992822293363631</c:v>
                </c:pt>
              </c:numCache>
            </c:numRef>
          </c:val>
          <c:extLst>
            <c:ext xmlns:c16="http://schemas.microsoft.com/office/drawing/2014/chart" uri="{C3380CC4-5D6E-409C-BE32-E72D297353CC}">
              <c16:uniqueId val="{0000001D-1722-4F33-A3C6-59C57B6C6F36}"/>
            </c:ext>
          </c:extLst>
        </c:ser>
        <c:dLbls>
          <c:showLegendKey val="0"/>
          <c:showVal val="0"/>
          <c:showCatName val="0"/>
          <c:showSerName val="0"/>
          <c:showPercent val="0"/>
          <c:showBubbleSize val="0"/>
        </c:dLbls>
        <c:gapWidth val="50"/>
        <c:overlap val="100"/>
        <c:axId val="207124336"/>
        <c:axId val="207131408"/>
      </c:barChart>
      <c:catAx>
        <c:axId val="2071243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31408"/>
        <c:crosses val="autoZero"/>
        <c:auto val="1"/>
        <c:lblAlgn val="ctr"/>
        <c:lblOffset val="100"/>
        <c:noMultiLvlLbl val="0"/>
      </c:catAx>
      <c:valAx>
        <c:axId val="207131408"/>
        <c:scaling>
          <c:orientation val="minMax"/>
        </c:scaling>
        <c:delete val="1"/>
        <c:axPos val="l"/>
        <c:numFmt formatCode="0.0" sourceLinked="1"/>
        <c:majorTickMark val="none"/>
        <c:minorTickMark val="none"/>
        <c:tickLblPos val="nextTo"/>
        <c:crossAx val="20712433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193926521544815"/>
          <c:y val="3.2403000316204716E-2"/>
          <c:w val="0.7016005889076895"/>
          <c:h val="0.82090372344009988"/>
        </c:manualLayout>
      </c:layout>
      <c:bubbleChart>
        <c:varyColors val="1"/>
        <c:ser>
          <c:idx val="0"/>
          <c:order val="0"/>
          <c:tx>
            <c:strRef>
              <c:f>Sheet1!$C$1</c:f>
              <c:strCache>
                <c:ptCount val="1"/>
                <c:pt idx="0">
                  <c:v>Y-Values</c:v>
                </c:pt>
              </c:strCache>
            </c:strRef>
          </c:tx>
          <c:invertIfNegative val="0"/>
          <c:dPt>
            <c:idx val="0"/>
            <c:invertIfNegative val="0"/>
            <c:bubble3D val="0"/>
            <c:spPr>
              <a:solidFill>
                <a:schemeClr val="accent1">
                  <a:alpha val="75000"/>
                </a:schemeClr>
              </a:solidFill>
              <a:ln>
                <a:noFill/>
              </a:ln>
              <a:effectLst/>
            </c:spPr>
            <c:extLst>
              <c:ext xmlns:c16="http://schemas.microsoft.com/office/drawing/2014/chart" uri="{C3380CC4-5D6E-409C-BE32-E72D297353CC}">
                <c16:uniqueId val="{00000001-8A07-4193-9ECF-644D2093885F}"/>
              </c:ext>
            </c:extLst>
          </c:dPt>
          <c:dPt>
            <c:idx val="1"/>
            <c:invertIfNegative val="0"/>
            <c:bubble3D val="0"/>
            <c:spPr>
              <a:solidFill>
                <a:schemeClr val="accent2">
                  <a:alpha val="75000"/>
                </a:schemeClr>
              </a:solidFill>
              <a:ln>
                <a:noFill/>
              </a:ln>
              <a:effectLst/>
            </c:spPr>
            <c:extLst>
              <c:ext xmlns:c16="http://schemas.microsoft.com/office/drawing/2014/chart" uri="{C3380CC4-5D6E-409C-BE32-E72D297353CC}">
                <c16:uniqueId val="{00000003-8A07-4193-9ECF-644D2093885F}"/>
              </c:ext>
            </c:extLst>
          </c:dPt>
          <c:dPt>
            <c:idx val="2"/>
            <c:invertIfNegative val="0"/>
            <c:bubble3D val="0"/>
            <c:spPr>
              <a:solidFill>
                <a:schemeClr val="accent3">
                  <a:alpha val="75000"/>
                </a:schemeClr>
              </a:solidFill>
              <a:ln>
                <a:noFill/>
              </a:ln>
              <a:effectLst/>
            </c:spPr>
            <c:extLst>
              <c:ext xmlns:c16="http://schemas.microsoft.com/office/drawing/2014/chart" uri="{C3380CC4-5D6E-409C-BE32-E72D297353CC}">
                <c16:uniqueId val="{00000005-8A07-4193-9ECF-644D2093885F}"/>
              </c:ext>
            </c:extLst>
          </c:dPt>
          <c:xVal>
            <c:numRef>
              <c:f>Sheet1!$B$2:$B$5</c:f>
              <c:numCache>
                <c:formatCode>_(* #,##0.0_);_(* \(#,##0.0\);_(* "-"??_);_(@_)</c:formatCode>
                <c:ptCount val="4"/>
                <c:pt idx="0">
                  <c:v>1.2484641180451868</c:v>
                </c:pt>
                <c:pt idx="1">
                  <c:v>1.171505207157916</c:v>
                </c:pt>
                <c:pt idx="2">
                  <c:v>1.0385803668462259</c:v>
                </c:pt>
                <c:pt idx="3">
                  <c:v>0.8540767341237564</c:v>
                </c:pt>
              </c:numCache>
            </c:numRef>
          </c:xVal>
          <c:yVal>
            <c:numRef>
              <c:f>Sheet1!$C$2:$C$5</c:f>
              <c:numCache>
                <c:formatCode>_(* #,##0.0_);_(* \(#,##0.0\);_(* "-"??_);_(@_)</c:formatCode>
                <c:ptCount val="4"/>
                <c:pt idx="0">
                  <c:v>3.671570117770909</c:v>
                </c:pt>
                <c:pt idx="1">
                  <c:v>2.9587134526586683</c:v>
                </c:pt>
                <c:pt idx="2">
                  <c:v>1.1164555835041849</c:v>
                </c:pt>
                <c:pt idx="3">
                  <c:v>0.48692863262276331</c:v>
                </c:pt>
              </c:numCache>
            </c:numRef>
          </c:yVal>
          <c:bubbleSize>
            <c:numRef>
              <c:f>Sheet1!$D$2:$D$5</c:f>
              <c:numCache>
                <c:formatCode>_(* #,##0.0_);_(* \(#,##0.0\);_(* "-"??_);_(@_)</c:formatCode>
                <c:ptCount val="4"/>
                <c:pt idx="0">
                  <c:v>4.3273698868360606</c:v>
                </c:pt>
                <c:pt idx="1">
                  <c:v>3.2149946963903226</c:v>
                </c:pt>
                <c:pt idx="2">
                  <c:v>1.0433263518646889</c:v>
                </c:pt>
                <c:pt idx="3">
                  <c:v>0.35881944851425052</c:v>
                </c:pt>
              </c:numCache>
            </c:numRef>
          </c:bubbleSize>
          <c:bubble3D val="0"/>
          <c:extLst>
            <c:ext xmlns:c16="http://schemas.microsoft.com/office/drawing/2014/chart" uri="{C3380CC4-5D6E-409C-BE32-E72D297353CC}">
              <c16:uniqueId val="{00000006-8A07-4193-9ECF-644D2093885F}"/>
            </c:ext>
          </c:extLst>
        </c:ser>
        <c:dLbls>
          <c:showLegendKey val="0"/>
          <c:showVal val="0"/>
          <c:showCatName val="0"/>
          <c:showSerName val="0"/>
          <c:showPercent val="0"/>
          <c:showBubbleSize val="0"/>
        </c:dLbls>
        <c:bubbleScale val="100"/>
        <c:showNegBubbles val="0"/>
        <c:axId val="207149904"/>
        <c:axId val="207146096"/>
      </c:bubbleChart>
      <c:valAx>
        <c:axId val="207149904"/>
        <c:scaling>
          <c:orientation val="minMax"/>
          <c:min val="0"/>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CAGR Index (2024 – 2034)</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146096"/>
        <c:crossesAt val="0"/>
        <c:crossBetween val="midCat"/>
      </c:valAx>
      <c:valAx>
        <c:axId val="207146096"/>
        <c:scaling>
          <c:orientation val="minMax"/>
          <c:min val="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Market Share Index (2024E)</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149904"/>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910917822963"/>
          <c:y val="4.0225179225868664E-2"/>
          <c:w val="0.87507556483913373"/>
          <c:h val="0.65061484798850733"/>
        </c:manualLayout>
      </c:layout>
      <c:lineChart>
        <c:grouping val="standard"/>
        <c:varyColors val="0"/>
        <c:ser>
          <c:idx val="0"/>
          <c:order val="0"/>
          <c:tx>
            <c:strRef>
              <c:f>Sheet1!$B$1</c:f>
              <c:strCache>
                <c:ptCount val="1"/>
                <c:pt idx="0">
                  <c:v>India</c:v>
                </c:pt>
              </c:strCache>
            </c:strRef>
          </c:tx>
          <c:spPr>
            <a:ln w="28575" cap="rnd">
              <a:solidFill>
                <a:schemeClr val="accent1"/>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Sheet1!$B$2:$B$12</c:f>
              <c:numCache>
                <c:formatCode>0.0%</c:formatCode>
                <c:ptCount val="11"/>
                <c:pt idx="0">
                  <c:v>5.1500000000000004E-2</c:v>
                </c:pt>
                <c:pt idx="1">
                  <c:v>5.4166666666666669E-2</c:v>
                </c:pt>
                <c:pt idx="2">
                  <c:v>5.7000000000000009E-2</c:v>
                </c:pt>
                <c:pt idx="3">
                  <c:v>5.9333333333333335E-2</c:v>
                </c:pt>
                <c:pt idx="4">
                  <c:v>6.1166666666666675E-2</c:v>
                </c:pt>
                <c:pt idx="5">
                  <c:v>6.2833333333333338E-2</c:v>
                </c:pt>
                <c:pt idx="6">
                  <c:v>6.483333333333334E-2</c:v>
                </c:pt>
                <c:pt idx="7">
                  <c:v>6.7166666666666666E-2</c:v>
                </c:pt>
                <c:pt idx="8">
                  <c:v>6.8833333333333344E-2</c:v>
                </c:pt>
                <c:pt idx="9">
                  <c:v>6.9000000000000006E-2</c:v>
                </c:pt>
                <c:pt idx="10">
                  <c:v>6.7666666666666667E-2</c:v>
                </c:pt>
              </c:numCache>
            </c:numRef>
          </c:val>
          <c:smooth val="1"/>
          <c:extLst>
            <c:ext xmlns:c16="http://schemas.microsoft.com/office/drawing/2014/chart" uri="{C3380CC4-5D6E-409C-BE32-E72D297353CC}">
              <c16:uniqueId val="{00000000-0804-4272-97A7-3AA1EB241C21}"/>
            </c:ext>
          </c:extLst>
        </c:ser>
        <c:ser>
          <c:idx val="1"/>
          <c:order val="1"/>
          <c:tx>
            <c:strRef>
              <c:f>Sheet1!$C$1</c:f>
              <c:strCache>
                <c:ptCount val="1"/>
                <c:pt idx="0">
                  <c:v>ASEAN</c:v>
                </c:pt>
              </c:strCache>
            </c:strRef>
          </c:tx>
          <c:spPr>
            <a:ln w="28575" cap="rnd">
              <a:solidFill>
                <a:schemeClr val="accent2"/>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Sheet1!$C$2:$C$12</c:f>
              <c:numCache>
                <c:formatCode>0.0%</c:formatCode>
                <c:ptCount val="11"/>
                <c:pt idx="0">
                  <c:v>5.116830281459997E-2</c:v>
                </c:pt>
                <c:pt idx="1">
                  <c:v>5.1290221555306513E-2</c:v>
                </c:pt>
                <c:pt idx="2">
                  <c:v>5.1395302571985553E-2</c:v>
                </c:pt>
                <c:pt idx="3">
                  <c:v>5.151160873801626E-2</c:v>
                </c:pt>
                <c:pt idx="4">
                  <c:v>5.1620431471145853E-2</c:v>
                </c:pt>
                <c:pt idx="5">
                  <c:v>5.1734243159542857E-2</c:v>
                </c:pt>
                <c:pt idx="6">
                  <c:v>5.1844728877761585E-2</c:v>
                </c:pt>
                <c:pt idx="7">
                  <c:v>5.1961866536336859E-2</c:v>
                </c:pt>
                <c:pt idx="8">
                  <c:v>5.2074569568007774E-2</c:v>
                </c:pt>
                <c:pt idx="9">
                  <c:v>5.2190229017614928E-2</c:v>
                </c:pt>
                <c:pt idx="10">
                  <c:v>5.2299975631349596E-2</c:v>
                </c:pt>
              </c:numCache>
            </c:numRef>
          </c:val>
          <c:smooth val="1"/>
          <c:extLst>
            <c:ext xmlns:c16="http://schemas.microsoft.com/office/drawing/2014/chart" uri="{C3380CC4-5D6E-409C-BE32-E72D297353CC}">
              <c16:uniqueId val="{00000001-0804-4272-97A7-3AA1EB241C21}"/>
            </c:ext>
          </c:extLst>
        </c:ser>
        <c:ser>
          <c:idx val="2"/>
          <c:order val="2"/>
          <c:tx>
            <c:strRef>
              <c:f>Sheet1!$D$1</c:f>
              <c:strCache>
                <c:ptCount val="1"/>
                <c:pt idx="0">
                  <c:v>ANZ</c:v>
                </c:pt>
              </c:strCache>
            </c:strRef>
          </c:tx>
          <c:spPr>
            <a:ln w="28575" cap="rnd">
              <a:solidFill>
                <a:schemeClr val="accent3"/>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Sheet1!$D$2:$D$12</c:f>
              <c:numCache>
                <c:formatCode>0.0%</c:formatCode>
                <c:ptCount val="11"/>
                <c:pt idx="0">
                  <c:v>5.0610918051856614E-2</c:v>
                </c:pt>
                <c:pt idx="1">
                  <c:v>5.1425475454332091E-2</c:v>
                </c:pt>
                <c:pt idx="2">
                  <c:v>5.2138213181498139E-2</c:v>
                </c:pt>
                <c:pt idx="3">
                  <c:v>5.274913123335475E-2</c:v>
                </c:pt>
                <c:pt idx="4">
                  <c:v>5.2850950908664179E-2</c:v>
                </c:pt>
                <c:pt idx="5">
                  <c:v>5.2647311558045314E-2</c:v>
                </c:pt>
                <c:pt idx="6">
                  <c:v>5.2036393506188702E-2</c:v>
                </c:pt>
                <c:pt idx="7">
                  <c:v>5.1323655779022655E-2</c:v>
                </c:pt>
                <c:pt idx="8">
                  <c:v>5.0610918051856614E-2</c:v>
                </c:pt>
                <c:pt idx="9">
                  <c:v>0.05</c:v>
                </c:pt>
                <c:pt idx="10">
                  <c:v>4.9490901623452828E-2</c:v>
                </c:pt>
              </c:numCache>
            </c:numRef>
          </c:val>
          <c:smooth val="1"/>
          <c:extLst>
            <c:ext xmlns:c16="http://schemas.microsoft.com/office/drawing/2014/chart" uri="{C3380CC4-5D6E-409C-BE32-E72D297353CC}">
              <c16:uniqueId val="{00000002-0804-4272-97A7-3AA1EB241C21}"/>
            </c:ext>
          </c:extLst>
        </c:ser>
        <c:ser>
          <c:idx val="3"/>
          <c:order val="3"/>
          <c:tx>
            <c:strRef>
              <c:f>Sheet1!$E$1</c:f>
              <c:strCache>
                <c:ptCount val="1"/>
                <c:pt idx="0">
                  <c:v>Rest of SAP</c:v>
                </c:pt>
              </c:strCache>
            </c:strRef>
          </c:tx>
          <c:spPr>
            <a:ln w="28575" cap="rnd">
              <a:solidFill>
                <a:schemeClr val="accent4"/>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Sheet1!$E$2:$E$12</c:f>
              <c:numCache>
                <c:formatCode>0.0%</c:formatCode>
                <c:ptCount val="11"/>
                <c:pt idx="0">
                  <c:v>5.3000000000000005E-2</c:v>
                </c:pt>
                <c:pt idx="1">
                  <c:v>5.5000000000000007E-2</c:v>
                </c:pt>
                <c:pt idx="2">
                  <c:v>5.7333333333333347E-2</c:v>
                </c:pt>
                <c:pt idx="3">
                  <c:v>5.9666666666666673E-2</c:v>
                </c:pt>
                <c:pt idx="4">
                  <c:v>6.3666666666666663E-2</c:v>
                </c:pt>
                <c:pt idx="5">
                  <c:v>6.8000000000000005E-2</c:v>
                </c:pt>
                <c:pt idx="6">
                  <c:v>6.7906765085174334E-2</c:v>
                </c:pt>
                <c:pt idx="7">
                  <c:v>6.6841312562606461E-2</c:v>
                </c:pt>
                <c:pt idx="8">
                  <c:v>6.5666666666666665E-2</c:v>
                </c:pt>
                <c:pt idx="9">
                  <c:v>6.4147353367754692E-2</c:v>
                </c:pt>
                <c:pt idx="10">
                  <c:v>6.0424365639398202E-2</c:v>
                </c:pt>
              </c:numCache>
            </c:numRef>
          </c:val>
          <c:smooth val="0"/>
          <c:extLst>
            <c:ext xmlns:c16="http://schemas.microsoft.com/office/drawing/2014/chart" uri="{C3380CC4-5D6E-409C-BE32-E72D297353CC}">
              <c16:uniqueId val="{00000003-0804-4272-97A7-3AA1EB241C21}"/>
            </c:ext>
          </c:extLst>
        </c:ser>
        <c:dLbls>
          <c:showLegendKey val="0"/>
          <c:showVal val="0"/>
          <c:showCatName val="0"/>
          <c:showSerName val="0"/>
          <c:showPercent val="0"/>
          <c:showBubbleSize val="0"/>
        </c:dLbls>
        <c:smooth val="0"/>
        <c:axId val="207141200"/>
        <c:axId val="207138480"/>
      </c:lineChart>
      <c:catAx>
        <c:axId val="207141200"/>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38480"/>
        <c:crossesAt val="-3.5000000000000003E-2"/>
        <c:auto val="1"/>
        <c:lblAlgn val="ctr"/>
        <c:lblOffset val="100"/>
        <c:noMultiLvlLbl val="0"/>
      </c:catAx>
      <c:valAx>
        <c:axId val="207138480"/>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207141200"/>
        <c:crosses val="autoZero"/>
        <c:crossBetween val="between"/>
      </c:valAx>
      <c:spPr>
        <a:noFill/>
        <a:ln w="25400">
          <a:noFill/>
        </a:ln>
        <a:effectLst/>
      </c:spPr>
    </c:plotArea>
    <c:legend>
      <c:legendPos val="b"/>
      <c:layout>
        <c:manualLayout>
          <c:xMode val="edge"/>
          <c:yMode val="edge"/>
          <c:x val="0"/>
          <c:y val="0.81733067057011788"/>
          <c:w val="0.99772522537462938"/>
          <c:h val="0.1544578247691395"/>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12700">
      <a:noFill/>
    </a:ln>
    <a:effectLst/>
  </c:spPr>
  <c:txPr>
    <a:bodyPr/>
    <a:lstStyle/>
    <a:p>
      <a:pPr>
        <a:defRPr sz="1100">
          <a:solidFill>
            <a:schemeClr val="tx1"/>
          </a:solidFill>
        </a:defRPr>
      </a:pPr>
      <a:endParaRPr lang="en-US"/>
    </a:p>
  </c:txPr>
  <c:externalData r:id="rId3">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586017868029705E-2"/>
          <c:y val="5.6718815469420834E-2"/>
          <c:w val="0.92649309691078063"/>
          <c:h val="0.72664225195762067"/>
        </c:manualLayout>
      </c:layout>
      <c:barChart>
        <c:barDir val="col"/>
        <c:grouping val="percentStacked"/>
        <c:varyColors val="0"/>
        <c:ser>
          <c:idx val="0"/>
          <c:order val="0"/>
          <c:tx>
            <c:strRef>
              <c:f>Sheet1!$B$1</c:f>
              <c:strCache>
                <c:ptCount val="1"/>
                <c:pt idx="0">
                  <c:v>India</c:v>
                </c:pt>
              </c:strCache>
            </c:strRef>
          </c:tx>
          <c:spPr>
            <a:solidFill>
              <a:schemeClr val="accent1"/>
            </a:solidFill>
            <a:ln>
              <a:noFill/>
            </a:ln>
            <a:effectLst/>
          </c:spPr>
          <c:invertIfNegative val="0"/>
          <c:cat>
            <c:strRef>
              <c:f>Sheet1!$A$2:$A$3</c:f>
              <c:strCache>
                <c:ptCount val="2"/>
                <c:pt idx="0">
                  <c:v>2024E</c:v>
                </c:pt>
                <c:pt idx="1">
                  <c:v>2034F</c:v>
                </c:pt>
              </c:strCache>
            </c:strRef>
          </c:cat>
          <c:val>
            <c:numRef>
              <c:f>Sheet1!$B$2:$B$3</c:f>
              <c:numCache>
                <c:formatCode>0.0%</c:formatCode>
                <c:ptCount val="2"/>
                <c:pt idx="0">
                  <c:v>0.18</c:v>
                </c:pt>
                <c:pt idx="1">
                  <c:v>0.18</c:v>
                </c:pt>
              </c:numCache>
            </c:numRef>
          </c:val>
          <c:extLst>
            <c:ext xmlns:c16="http://schemas.microsoft.com/office/drawing/2014/chart" uri="{C3380CC4-5D6E-409C-BE32-E72D297353CC}">
              <c16:uniqueId val="{00000000-CB52-4475-A470-B24F5B694273}"/>
            </c:ext>
          </c:extLst>
        </c:ser>
        <c:ser>
          <c:idx val="1"/>
          <c:order val="1"/>
          <c:tx>
            <c:strRef>
              <c:f>Sheet1!$C$1</c:f>
              <c:strCache>
                <c:ptCount val="1"/>
                <c:pt idx="0">
                  <c:v>ASEAN</c:v>
                </c:pt>
              </c:strCache>
            </c:strRef>
          </c:tx>
          <c:spPr>
            <a:solidFill>
              <a:schemeClr val="accent2"/>
            </a:solidFill>
            <a:ln>
              <a:noFill/>
            </a:ln>
            <a:effectLst/>
          </c:spPr>
          <c:invertIfNegative val="0"/>
          <c:cat>
            <c:strRef>
              <c:f>Sheet1!$A$2:$A$3</c:f>
              <c:strCache>
                <c:ptCount val="2"/>
                <c:pt idx="0">
                  <c:v>2024E</c:v>
                </c:pt>
                <c:pt idx="1">
                  <c:v>2034F</c:v>
                </c:pt>
              </c:strCache>
            </c:strRef>
          </c:cat>
          <c:val>
            <c:numRef>
              <c:f>Sheet1!$C$2:$C$3</c:f>
              <c:numCache>
                <c:formatCode>0.0%</c:formatCode>
                <c:ptCount val="2"/>
                <c:pt idx="0">
                  <c:v>0.06</c:v>
                </c:pt>
                <c:pt idx="1">
                  <c:v>0.06</c:v>
                </c:pt>
              </c:numCache>
            </c:numRef>
          </c:val>
          <c:extLst>
            <c:ext xmlns:c16="http://schemas.microsoft.com/office/drawing/2014/chart" uri="{C3380CC4-5D6E-409C-BE32-E72D297353CC}">
              <c16:uniqueId val="{00000001-CB52-4475-A470-B24F5B694273}"/>
            </c:ext>
          </c:extLst>
        </c:ser>
        <c:ser>
          <c:idx val="2"/>
          <c:order val="2"/>
          <c:tx>
            <c:strRef>
              <c:f>Sheet1!$D$1</c:f>
              <c:strCache>
                <c:ptCount val="1"/>
                <c:pt idx="0">
                  <c:v>ANZ</c:v>
                </c:pt>
              </c:strCache>
            </c:strRef>
          </c:tx>
          <c:spPr>
            <a:solidFill>
              <a:schemeClr val="accent3"/>
            </a:solidFill>
            <a:ln>
              <a:noFill/>
            </a:ln>
            <a:effectLst/>
          </c:spPr>
          <c:invertIfNegative val="0"/>
          <c:cat>
            <c:strRef>
              <c:f>Sheet1!$A$2:$A$3</c:f>
              <c:strCache>
                <c:ptCount val="2"/>
                <c:pt idx="0">
                  <c:v>2024E</c:v>
                </c:pt>
                <c:pt idx="1">
                  <c:v>2034F</c:v>
                </c:pt>
              </c:strCache>
            </c:strRef>
          </c:cat>
          <c:val>
            <c:numRef>
              <c:f>Sheet1!$D$2:$D$3</c:f>
              <c:numCache>
                <c:formatCode>0.0%</c:formatCode>
                <c:ptCount val="2"/>
                <c:pt idx="0">
                  <c:v>0.13</c:v>
                </c:pt>
                <c:pt idx="1">
                  <c:v>0.13</c:v>
                </c:pt>
              </c:numCache>
            </c:numRef>
          </c:val>
          <c:extLst>
            <c:ext xmlns:c16="http://schemas.microsoft.com/office/drawing/2014/chart" uri="{C3380CC4-5D6E-409C-BE32-E72D297353CC}">
              <c16:uniqueId val="{00000002-CB52-4475-A470-B24F5B694273}"/>
            </c:ext>
          </c:extLst>
        </c:ser>
        <c:ser>
          <c:idx val="3"/>
          <c:order val="3"/>
          <c:tx>
            <c:strRef>
              <c:f>Sheet1!$E$1</c:f>
              <c:strCache>
                <c:ptCount val="1"/>
                <c:pt idx="0">
                  <c:v>Rest of SAP</c:v>
                </c:pt>
              </c:strCache>
            </c:strRef>
          </c:tx>
          <c:spPr>
            <a:solidFill>
              <a:schemeClr val="accent4"/>
            </a:solidFill>
            <a:ln>
              <a:noFill/>
            </a:ln>
            <a:effectLst/>
          </c:spPr>
          <c:invertIfNegative val="0"/>
          <c:cat>
            <c:strRef>
              <c:f>Sheet1!$A$2:$A$3</c:f>
              <c:strCache>
                <c:ptCount val="2"/>
                <c:pt idx="0">
                  <c:v>2024E</c:v>
                </c:pt>
                <c:pt idx="1">
                  <c:v>2034F</c:v>
                </c:pt>
              </c:strCache>
            </c:strRef>
          </c:cat>
          <c:val>
            <c:numRef>
              <c:f>Sheet1!$E$2:$E$3</c:f>
              <c:numCache>
                <c:formatCode>0.0%</c:formatCode>
                <c:ptCount val="2"/>
                <c:pt idx="0">
                  <c:v>2.1999999999999999E-2</c:v>
                </c:pt>
                <c:pt idx="1">
                  <c:v>2.1999999999999999E-2</c:v>
                </c:pt>
              </c:numCache>
            </c:numRef>
          </c:val>
          <c:extLst>
            <c:ext xmlns:c16="http://schemas.microsoft.com/office/drawing/2014/chart" uri="{C3380CC4-5D6E-409C-BE32-E72D297353CC}">
              <c16:uniqueId val="{00000003-CB52-4475-A470-B24F5B694273}"/>
            </c:ext>
          </c:extLst>
        </c:ser>
        <c:dLbls>
          <c:showLegendKey val="0"/>
          <c:showVal val="0"/>
          <c:showCatName val="0"/>
          <c:showSerName val="0"/>
          <c:showPercent val="0"/>
          <c:showBubbleSize val="0"/>
        </c:dLbls>
        <c:gapWidth val="50"/>
        <c:overlap val="100"/>
        <c:axId val="207132496"/>
        <c:axId val="207154256"/>
      </c:barChart>
      <c:catAx>
        <c:axId val="2071324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207154256"/>
        <c:crosses val="autoZero"/>
        <c:auto val="1"/>
        <c:lblAlgn val="ctr"/>
        <c:lblOffset val="100"/>
        <c:noMultiLvlLbl val="0"/>
      </c:catAx>
      <c:valAx>
        <c:axId val="207154256"/>
        <c:scaling>
          <c:orientation val="minMax"/>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207132496"/>
        <c:crosses val="autoZero"/>
        <c:crossBetween val="between"/>
      </c:valAx>
      <c:spPr>
        <a:noFill/>
        <a:ln>
          <a:noFill/>
        </a:ln>
        <a:effectLst/>
      </c:spPr>
    </c:plotArea>
    <c:legend>
      <c:legendPos val="b"/>
      <c:layout>
        <c:manualLayout>
          <c:xMode val="edge"/>
          <c:yMode val="edge"/>
          <c:x val="0"/>
          <c:y val="0.83692483498304948"/>
          <c:w val="0.99656886612846529"/>
          <c:h val="0.1166651754550802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
          <c:y val="0.10852747093249289"/>
          <c:w val="0.99129804205946337"/>
          <c:h val="0.64471383473379196"/>
        </c:manualLayout>
      </c:layout>
      <c:barChart>
        <c:barDir val="col"/>
        <c:grouping val="stacked"/>
        <c:varyColors val="0"/>
        <c:ser>
          <c:idx val="0"/>
          <c:order val="0"/>
          <c:tx>
            <c:strRef>
              <c:f>Sheet1!$B$1</c:f>
              <c:strCache>
                <c:ptCount val="1"/>
                <c:pt idx="0">
                  <c:v>Value (US$ Mn)</c:v>
                </c:pt>
              </c:strCache>
            </c:strRef>
          </c:tx>
          <c:spPr>
            <a:no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E4DB-4544-9254-288E9466F0C1}"/>
              </c:ext>
            </c:extLst>
          </c:dPt>
          <c:dPt>
            <c:idx val="1"/>
            <c:invertIfNegative val="0"/>
            <c:bubble3D val="0"/>
            <c:spPr>
              <a:noFill/>
              <a:ln>
                <a:noFill/>
              </a:ln>
              <a:effectLst/>
            </c:spPr>
            <c:extLst>
              <c:ext xmlns:c16="http://schemas.microsoft.com/office/drawing/2014/chart" uri="{C3380CC4-5D6E-409C-BE32-E72D297353CC}">
                <c16:uniqueId val="{00000003-E4DB-4544-9254-288E9466F0C1}"/>
              </c:ext>
            </c:extLst>
          </c:dPt>
          <c:dPt>
            <c:idx val="3"/>
            <c:invertIfNegative val="0"/>
            <c:bubble3D val="0"/>
            <c:spPr>
              <a:noFill/>
              <a:ln>
                <a:noFill/>
              </a:ln>
              <a:effectLst/>
            </c:spPr>
            <c:extLst>
              <c:ext xmlns:c16="http://schemas.microsoft.com/office/drawing/2014/chart" uri="{C3380CC4-5D6E-409C-BE32-E72D297353CC}">
                <c16:uniqueId val="{00000005-E4DB-4544-9254-288E9466F0C1}"/>
              </c:ext>
            </c:extLst>
          </c:dPt>
          <c:dPt>
            <c:idx val="4"/>
            <c:invertIfNegative val="0"/>
            <c:bubble3D val="0"/>
            <c:spPr>
              <a:noFill/>
              <a:ln>
                <a:noFill/>
              </a:ln>
              <a:effectLst/>
            </c:spPr>
            <c:extLst>
              <c:ext xmlns:c16="http://schemas.microsoft.com/office/drawing/2014/chart" uri="{C3380CC4-5D6E-409C-BE32-E72D297353CC}">
                <c16:uniqueId val="{00000007-E4DB-4544-9254-288E9466F0C1}"/>
              </c:ext>
            </c:extLst>
          </c:dPt>
          <c:dPt>
            <c:idx val="5"/>
            <c:invertIfNegative val="0"/>
            <c:bubble3D val="0"/>
            <c:spPr>
              <a:solidFill>
                <a:srgbClr val="2A5F8F"/>
              </a:solidFill>
              <a:ln>
                <a:noFill/>
              </a:ln>
              <a:effectLst/>
            </c:spPr>
            <c:extLst>
              <c:ext xmlns:c16="http://schemas.microsoft.com/office/drawing/2014/chart" uri="{C3380CC4-5D6E-409C-BE32-E72D297353CC}">
                <c16:uniqueId val="{00000009-E4DB-4544-9254-288E9466F0C1}"/>
              </c:ext>
            </c:extLst>
          </c:dPt>
          <c:cat>
            <c:strRef>
              <c:f>Sheet1!$A$2:$A$9</c:f>
              <c:strCache>
                <c:ptCount val="6"/>
                <c:pt idx="0">
                  <c:v>2024E</c:v>
                </c:pt>
                <c:pt idx="1">
                  <c:v>India</c:v>
                </c:pt>
                <c:pt idx="2">
                  <c:v>ASEAN</c:v>
                </c:pt>
                <c:pt idx="3">
                  <c:v>ANZ</c:v>
                </c:pt>
                <c:pt idx="4">
                  <c:v>Rest of SAP</c:v>
                </c:pt>
                <c:pt idx="5">
                  <c:v>2034F</c:v>
                </c:pt>
              </c:strCache>
            </c:strRef>
          </c:cat>
          <c:val>
            <c:numRef>
              <c:f>Sheet1!$B$2:$B$7</c:f>
              <c:numCache>
                <c:formatCode>0.0</c:formatCode>
                <c:ptCount val="6"/>
                <c:pt idx="0" formatCode="_ * #,##0.0_ ;_ * \-#,##0.0_ ;_ * &quot;-&quot;??_ ;_ @_ ">
                  <c:v>2923.4059275946483</c:v>
                </c:pt>
                <c:pt idx="1">
                  <c:v>2923.4059275946483</c:v>
                </c:pt>
                <c:pt idx="2">
                  <c:v>5423.4059275946483</c:v>
                </c:pt>
                <c:pt idx="3">
                  <c:v>7322.2132790311334</c:v>
                </c:pt>
                <c:pt idx="4">
                  <c:v>8122.2132790311334</c:v>
                </c:pt>
                <c:pt idx="5">
                  <c:v>8522.2132790311334</c:v>
                </c:pt>
              </c:numCache>
            </c:numRef>
          </c:val>
          <c:extLst>
            <c:ext xmlns:c16="http://schemas.microsoft.com/office/drawing/2014/chart" uri="{C3380CC4-5D6E-409C-BE32-E72D297353CC}">
              <c16:uniqueId val="{0000000A-E4DB-4544-9254-288E9466F0C1}"/>
            </c:ext>
          </c:extLst>
        </c:ser>
        <c:ser>
          <c:idx val="1"/>
          <c:order val="1"/>
          <c:tx>
            <c:strRef>
              <c:f>Sheet1!$C$1</c:f>
              <c:strCache>
                <c:ptCount val="1"/>
                <c:pt idx="0">
                  <c:v>Abs. $ Opportunity</c:v>
                </c:pt>
              </c:strCache>
            </c:strRef>
          </c:tx>
          <c:spPr>
            <a:solidFill>
              <a:schemeClr val="accent2"/>
            </a:solidFill>
            <a:ln>
              <a:noFill/>
            </a:ln>
            <a:effectLst/>
          </c:spPr>
          <c:invertIfNegative val="0"/>
          <c:cat>
            <c:strRef>
              <c:f>Sheet1!$A$2:$A$9</c:f>
              <c:strCache>
                <c:ptCount val="6"/>
                <c:pt idx="0">
                  <c:v>2024E</c:v>
                </c:pt>
                <c:pt idx="1">
                  <c:v>India</c:v>
                </c:pt>
                <c:pt idx="2">
                  <c:v>ASEAN</c:v>
                </c:pt>
                <c:pt idx="3">
                  <c:v>ANZ</c:v>
                </c:pt>
                <c:pt idx="4">
                  <c:v>Rest of SAP</c:v>
                </c:pt>
                <c:pt idx="5">
                  <c:v>2034F</c:v>
                </c:pt>
              </c:strCache>
            </c:strRef>
          </c:cat>
          <c:val>
            <c:numRef>
              <c:f>Sheet1!$C$2:$C$7</c:f>
              <c:numCache>
                <c:formatCode>0.0</c:formatCode>
                <c:ptCount val="6"/>
                <c:pt idx="1">
                  <c:v>2500</c:v>
                </c:pt>
                <c:pt idx="2">
                  <c:v>1898.8073514364853</c:v>
                </c:pt>
                <c:pt idx="3">
                  <c:v>800</c:v>
                </c:pt>
                <c:pt idx="4">
                  <c:v>400</c:v>
                </c:pt>
              </c:numCache>
            </c:numRef>
          </c:val>
          <c:extLst>
            <c:ext xmlns:c16="http://schemas.microsoft.com/office/drawing/2014/chart" uri="{C3380CC4-5D6E-409C-BE32-E72D297353CC}">
              <c16:uniqueId val="{0000000B-E4DB-4544-9254-288E9466F0C1}"/>
            </c:ext>
          </c:extLst>
        </c:ser>
        <c:dLbls>
          <c:showLegendKey val="0"/>
          <c:showVal val="0"/>
          <c:showCatName val="0"/>
          <c:showSerName val="0"/>
          <c:showPercent val="0"/>
          <c:showBubbleSize val="0"/>
        </c:dLbls>
        <c:gapWidth val="50"/>
        <c:overlap val="100"/>
        <c:axId val="207136848"/>
        <c:axId val="207148272"/>
      </c:barChart>
      <c:catAx>
        <c:axId val="207136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48272"/>
        <c:crosses val="autoZero"/>
        <c:auto val="1"/>
        <c:lblAlgn val="ctr"/>
        <c:lblOffset val="100"/>
        <c:noMultiLvlLbl val="0"/>
      </c:catAx>
      <c:valAx>
        <c:axId val="207148272"/>
        <c:scaling>
          <c:orientation val="minMax"/>
        </c:scaling>
        <c:delete val="1"/>
        <c:axPos val="l"/>
        <c:numFmt formatCode="_ * #,##0.0_ ;_ * \-#,##0.0_ ;_ * &quot;-&quot;??_ ;_ @_ " sourceLinked="1"/>
        <c:majorTickMark val="none"/>
        <c:minorTickMark val="none"/>
        <c:tickLblPos val="nextTo"/>
        <c:crossAx val="207136848"/>
        <c:crosses val="autoZero"/>
        <c:crossBetween val="between"/>
      </c:valAx>
      <c:spPr>
        <a:noFill/>
        <a:ln>
          <a:noFill/>
        </a:ln>
        <a:effectLst/>
      </c:spPr>
    </c:plotArea>
    <c:legend>
      <c:legendPos val="b"/>
      <c:layout>
        <c:manualLayout>
          <c:xMode val="edge"/>
          <c:yMode val="edge"/>
          <c:x val="0"/>
          <c:y val="0.90279690245330901"/>
          <c:w val="1"/>
          <c:h val="9.7203097546690959E-2"/>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1722-4F33-A3C6-59C57B6C6F36}"/>
              </c:ext>
            </c:extLst>
          </c:dPt>
          <c:dPt>
            <c:idx val="1"/>
            <c:invertIfNegative val="0"/>
            <c:bubble3D val="0"/>
            <c:spPr>
              <a:noFill/>
              <a:ln>
                <a:noFill/>
              </a:ln>
              <a:effectLst/>
            </c:spPr>
            <c:extLst>
              <c:ext xmlns:c16="http://schemas.microsoft.com/office/drawing/2014/chart" uri="{C3380CC4-5D6E-409C-BE32-E72D297353CC}">
                <c16:uniqueId val="{00000003-1722-4F33-A3C6-59C57B6C6F36}"/>
              </c:ext>
            </c:extLst>
          </c:dPt>
          <c:dPt>
            <c:idx val="2"/>
            <c:invertIfNegative val="0"/>
            <c:bubble3D val="0"/>
            <c:spPr>
              <a:solidFill>
                <a:srgbClr val="9E7E0A"/>
              </a:solidFill>
              <a:ln>
                <a:noFill/>
              </a:ln>
              <a:effectLst/>
            </c:spPr>
            <c:extLst>
              <c:ext xmlns:c16="http://schemas.microsoft.com/office/drawing/2014/chart" uri="{C3380CC4-5D6E-409C-BE32-E72D297353CC}">
                <c16:uniqueId val="{00000005-1722-4F33-A3C6-59C57B6C6F36}"/>
              </c:ext>
            </c:extLst>
          </c:dPt>
          <c:dPt>
            <c:idx val="3"/>
            <c:invertIfNegative val="0"/>
            <c:bubble3D val="0"/>
            <c:spPr>
              <a:noFill/>
              <a:ln>
                <a:noFill/>
              </a:ln>
              <a:effectLst/>
            </c:spPr>
            <c:extLst>
              <c:ext xmlns:c16="http://schemas.microsoft.com/office/drawing/2014/chart" uri="{C3380CC4-5D6E-409C-BE32-E72D297353CC}">
                <c16:uniqueId val="{00000007-1722-4F33-A3C6-59C57B6C6F36}"/>
              </c:ext>
            </c:extLst>
          </c:dPt>
          <c:dPt>
            <c:idx val="4"/>
            <c:invertIfNegative val="0"/>
            <c:bubble3D val="0"/>
            <c:spPr>
              <a:noFill/>
              <a:ln>
                <a:noFill/>
              </a:ln>
              <a:effectLst/>
            </c:spPr>
            <c:extLst>
              <c:ext xmlns:c16="http://schemas.microsoft.com/office/drawing/2014/chart" uri="{C3380CC4-5D6E-409C-BE32-E72D297353CC}">
                <c16:uniqueId val="{00000009-1722-4F33-A3C6-59C57B6C6F36}"/>
              </c:ext>
            </c:extLst>
          </c:dPt>
          <c:dPt>
            <c:idx val="5"/>
            <c:invertIfNegative val="0"/>
            <c:bubble3D val="0"/>
            <c:spPr>
              <a:noFill/>
              <a:ln>
                <a:noFill/>
              </a:ln>
              <a:effectLst/>
            </c:spPr>
            <c:extLst>
              <c:ext xmlns:c16="http://schemas.microsoft.com/office/drawing/2014/chart" uri="{C3380CC4-5D6E-409C-BE32-E72D297353CC}">
                <c16:uniqueId val="{0000000B-1722-4F33-A3C6-59C57B6C6F36}"/>
              </c:ext>
            </c:extLst>
          </c:dPt>
          <c:dPt>
            <c:idx val="6"/>
            <c:invertIfNegative val="0"/>
            <c:bubble3D val="0"/>
            <c:spPr>
              <a:noFill/>
              <a:ln>
                <a:noFill/>
              </a:ln>
              <a:effectLst/>
            </c:spPr>
            <c:extLst>
              <c:ext xmlns:c16="http://schemas.microsoft.com/office/drawing/2014/chart" uri="{C3380CC4-5D6E-409C-BE32-E72D297353CC}">
                <c16:uniqueId val="{0000000D-1722-4F33-A3C6-59C57B6C6F36}"/>
              </c:ext>
            </c:extLst>
          </c:dPt>
          <c:dPt>
            <c:idx val="7"/>
            <c:invertIfNegative val="0"/>
            <c:bubble3D val="0"/>
            <c:spPr>
              <a:noFill/>
              <a:ln>
                <a:noFill/>
              </a:ln>
              <a:effectLst/>
            </c:spPr>
            <c:extLst>
              <c:ext xmlns:c16="http://schemas.microsoft.com/office/drawing/2014/chart" uri="{C3380CC4-5D6E-409C-BE32-E72D297353CC}">
                <c16:uniqueId val="{0000000F-1722-4F33-A3C6-59C57B6C6F36}"/>
              </c:ext>
            </c:extLst>
          </c:dPt>
          <c:dPt>
            <c:idx val="8"/>
            <c:invertIfNegative val="0"/>
            <c:bubble3D val="0"/>
            <c:spPr>
              <a:noFill/>
              <a:ln>
                <a:noFill/>
              </a:ln>
              <a:effectLst/>
            </c:spPr>
            <c:extLst>
              <c:ext xmlns:c16="http://schemas.microsoft.com/office/drawing/2014/chart" uri="{C3380CC4-5D6E-409C-BE32-E72D297353CC}">
                <c16:uniqueId val="{00000011-1722-4F33-A3C6-59C57B6C6F36}"/>
              </c:ext>
            </c:extLst>
          </c:dPt>
          <c:dPt>
            <c:idx val="9"/>
            <c:invertIfNegative val="0"/>
            <c:bubble3D val="0"/>
            <c:spPr>
              <a:noFill/>
              <a:ln>
                <a:noFill/>
              </a:ln>
              <a:effectLst/>
            </c:spPr>
            <c:extLst>
              <c:ext xmlns:c16="http://schemas.microsoft.com/office/drawing/2014/chart" uri="{C3380CC4-5D6E-409C-BE32-E72D297353CC}">
                <c16:uniqueId val="{00000013-1722-4F33-A3C6-59C57B6C6F36}"/>
              </c:ext>
            </c:extLst>
          </c:dPt>
          <c:dPt>
            <c:idx val="10"/>
            <c:invertIfNegative val="0"/>
            <c:bubble3D val="0"/>
            <c:spPr>
              <a:noFill/>
              <a:ln>
                <a:noFill/>
              </a:ln>
              <a:effectLst/>
            </c:spPr>
            <c:extLst>
              <c:ext xmlns:c16="http://schemas.microsoft.com/office/drawing/2014/chart" uri="{C3380CC4-5D6E-409C-BE32-E72D297353CC}">
                <c16:uniqueId val="{00000015-1722-4F33-A3C6-59C57B6C6F36}"/>
              </c:ext>
            </c:extLst>
          </c:dPt>
          <c:dPt>
            <c:idx val="11"/>
            <c:invertIfNegative val="0"/>
            <c:bubble3D val="0"/>
            <c:spPr>
              <a:noFill/>
              <a:ln>
                <a:noFill/>
              </a:ln>
              <a:effectLst/>
            </c:spPr>
            <c:extLst>
              <c:ext xmlns:c16="http://schemas.microsoft.com/office/drawing/2014/chart" uri="{C3380CC4-5D6E-409C-BE32-E72D297353CC}">
                <c16:uniqueId val="{00000017-1722-4F33-A3C6-59C57B6C6F36}"/>
              </c:ext>
            </c:extLst>
          </c:dPt>
          <c:dPt>
            <c:idx val="12"/>
            <c:invertIfNegative val="0"/>
            <c:bubble3D val="0"/>
            <c:spPr>
              <a:noFill/>
              <a:ln>
                <a:noFill/>
              </a:ln>
              <a:effectLst/>
            </c:spPr>
            <c:extLst>
              <c:ext xmlns:c16="http://schemas.microsoft.com/office/drawing/2014/chart" uri="{C3380CC4-5D6E-409C-BE32-E72D297353CC}">
                <c16:uniqueId val="{00000019-1722-4F33-A3C6-59C57B6C6F36}"/>
              </c:ext>
            </c:extLst>
          </c:dPt>
          <c:dPt>
            <c:idx val="13"/>
            <c:invertIfNegative val="0"/>
            <c:bubble3D val="0"/>
            <c:spPr>
              <a:solidFill>
                <a:srgbClr val="2A5F8F"/>
              </a:solidFill>
              <a:ln>
                <a:noFill/>
              </a:ln>
              <a:effectLst/>
            </c:spPr>
            <c:extLst>
              <c:ext xmlns:c16="http://schemas.microsoft.com/office/drawing/2014/chart" uri="{C3380CC4-5D6E-409C-BE32-E72D297353CC}">
                <c16:uniqueId val="{0000001B-1722-4F33-A3C6-59C57B6C6F36}"/>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9.3147758164037526</c:v>
                </c:pt>
                <c:pt idx="1">
                  <c:v>9.3147758164037526</c:v>
                </c:pt>
                <c:pt idx="2">
                  <c:v>10.105301959682805</c:v>
                </c:pt>
                <c:pt idx="3">
                  <c:v>10.105301959682805</c:v>
                </c:pt>
                <c:pt idx="4">
                  <c:v>10.543542155425541</c:v>
                </c:pt>
                <c:pt idx="5">
                  <c:v>10.997954627278178</c:v>
                </c:pt>
                <c:pt idx="6">
                  <c:v>11.479778537252098</c:v>
                </c:pt>
                <c:pt idx="7">
                  <c:v>12.009101125277244</c:v>
                </c:pt>
                <c:pt idx="8">
                  <c:v>12.587238152391194</c:v>
                </c:pt>
                <c:pt idx="9">
                  <c:v>13.21334290235696</c:v>
                </c:pt>
                <c:pt idx="10">
                  <c:v>13.862447895049932</c:v>
                </c:pt>
                <c:pt idx="11">
                  <c:v>14.512025402275682</c:v>
                </c:pt>
                <c:pt idx="12">
                  <c:v>15.178014403425168</c:v>
                </c:pt>
                <c:pt idx="13">
                  <c:v>16.548458140869769</c:v>
                </c:pt>
              </c:numCache>
            </c:numRef>
          </c:val>
          <c:extLst>
            <c:ext xmlns:c16="http://schemas.microsoft.com/office/drawing/2014/chart" uri="{C3380CC4-5D6E-409C-BE32-E72D297353CC}">
              <c16:uniqueId val="{0000001C-1722-4F33-A3C6-59C57B6C6F36}"/>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0.79052614327905246</c:v>
                </c:pt>
                <c:pt idx="3">
                  <c:v>0.4382401957427362</c:v>
                </c:pt>
                <c:pt idx="4">
                  <c:v>0.45441247185263656</c:v>
                </c:pt>
                <c:pt idx="5">
                  <c:v>0.48182390997392055</c:v>
                </c:pt>
                <c:pt idx="6">
                  <c:v>0.52932258802514554</c:v>
                </c:pt>
                <c:pt idx="7">
                  <c:v>0.5781370271139501</c:v>
                </c:pt>
                <c:pt idx="8">
                  <c:v>0.62610474996576571</c:v>
                </c:pt>
                <c:pt idx="9">
                  <c:v>0.64910499269297262</c:v>
                </c:pt>
                <c:pt idx="10">
                  <c:v>0.64957750722575014</c:v>
                </c:pt>
                <c:pt idx="11">
                  <c:v>0.66598900114948556</c:v>
                </c:pt>
                <c:pt idx="12">
                  <c:v>0.67992822293363631</c:v>
                </c:pt>
              </c:numCache>
            </c:numRef>
          </c:val>
          <c:extLst>
            <c:ext xmlns:c16="http://schemas.microsoft.com/office/drawing/2014/chart" uri="{C3380CC4-5D6E-409C-BE32-E72D297353CC}">
              <c16:uniqueId val="{0000001D-1722-4F33-A3C6-59C57B6C6F36}"/>
            </c:ext>
          </c:extLst>
        </c:ser>
        <c:dLbls>
          <c:showLegendKey val="0"/>
          <c:showVal val="0"/>
          <c:showCatName val="0"/>
          <c:showSerName val="0"/>
          <c:showPercent val="0"/>
          <c:showBubbleSize val="0"/>
        </c:dLbls>
        <c:gapWidth val="50"/>
        <c:overlap val="100"/>
        <c:axId val="207133040"/>
        <c:axId val="207130320"/>
      </c:barChart>
      <c:catAx>
        <c:axId val="2071330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30320"/>
        <c:crosses val="autoZero"/>
        <c:auto val="1"/>
        <c:lblAlgn val="ctr"/>
        <c:lblOffset val="100"/>
        <c:noMultiLvlLbl val="0"/>
      </c:catAx>
      <c:valAx>
        <c:axId val="207130320"/>
        <c:scaling>
          <c:orientation val="minMax"/>
        </c:scaling>
        <c:delete val="1"/>
        <c:axPos val="l"/>
        <c:numFmt formatCode="0.0" sourceLinked="1"/>
        <c:majorTickMark val="none"/>
        <c:minorTickMark val="none"/>
        <c:tickLblPos val="nextTo"/>
        <c:crossAx val="207133040"/>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910917822963"/>
          <c:y val="4.0225179225868664E-2"/>
          <c:w val="0.87507556483913373"/>
          <c:h val="0.65061484798850733"/>
        </c:manualLayout>
      </c:layout>
      <c:lineChart>
        <c:grouping val="standard"/>
        <c:varyColors val="0"/>
        <c:ser>
          <c:idx val="0"/>
          <c:order val="0"/>
          <c:tx>
            <c:strRef>
              <c:f>Sheet1!$B$1</c:f>
              <c:strCache>
                <c:ptCount val="1"/>
                <c:pt idx="0">
                  <c:v>Germany</c:v>
                </c:pt>
              </c:strCache>
            </c:strRef>
          </c:tx>
          <c:spPr>
            <a:ln w="28575" cap="rnd">
              <a:solidFill>
                <a:schemeClr val="accent1"/>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Sheet1!$B$2:$B$12</c:f>
              <c:numCache>
                <c:formatCode>0.0%</c:formatCode>
                <c:ptCount val="11"/>
                <c:pt idx="0">
                  <c:v>5.1500000000000004E-2</c:v>
                </c:pt>
                <c:pt idx="1">
                  <c:v>5.4166666666666669E-2</c:v>
                </c:pt>
                <c:pt idx="2">
                  <c:v>5.7000000000000009E-2</c:v>
                </c:pt>
                <c:pt idx="3">
                  <c:v>5.9333333333333335E-2</c:v>
                </c:pt>
                <c:pt idx="4">
                  <c:v>6.1166666666666675E-2</c:v>
                </c:pt>
                <c:pt idx="5">
                  <c:v>6.2833333333333338E-2</c:v>
                </c:pt>
                <c:pt idx="6">
                  <c:v>6.483333333333334E-2</c:v>
                </c:pt>
                <c:pt idx="7">
                  <c:v>6.7166666666666666E-2</c:v>
                </c:pt>
                <c:pt idx="8">
                  <c:v>6.8833333333333344E-2</c:v>
                </c:pt>
                <c:pt idx="9">
                  <c:v>6.9000000000000006E-2</c:v>
                </c:pt>
                <c:pt idx="10">
                  <c:v>6.7666666666666667E-2</c:v>
                </c:pt>
              </c:numCache>
            </c:numRef>
          </c:val>
          <c:smooth val="1"/>
          <c:extLst>
            <c:ext xmlns:c16="http://schemas.microsoft.com/office/drawing/2014/chart" uri="{C3380CC4-5D6E-409C-BE32-E72D297353CC}">
              <c16:uniqueId val="{00000000-6632-4D2B-86C8-7319BAC0FACD}"/>
            </c:ext>
          </c:extLst>
        </c:ser>
        <c:ser>
          <c:idx val="1"/>
          <c:order val="1"/>
          <c:tx>
            <c:strRef>
              <c:f>Sheet1!$C$1</c:f>
              <c:strCache>
                <c:ptCount val="1"/>
                <c:pt idx="0">
                  <c:v>Italy</c:v>
                </c:pt>
              </c:strCache>
            </c:strRef>
          </c:tx>
          <c:spPr>
            <a:ln w="28575" cap="rnd">
              <a:solidFill>
                <a:schemeClr val="accent2"/>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Sheet1!$C$2:$C$12</c:f>
              <c:numCache>
                <c:formatCode>0.0%</c:formatCode>
                <c:ptCount val="11"/>
                <c:pt idx="0">
                  <c:v>5.116830281459997E-2</c:v>
                </c:pt>
                <c:pt idx="1">
                  <c:v>5.1290221555306513E-2</c:v>
                </c:pt>
                <c:pt idx="2">
                  <c:v>5.1395302571985553E-2</c:v>
                </c:pt>
                <c:pt idx="3">
                  <c:v>5.151160873801626E-2</c:v>
                </c:pt>
                <c:pt idx="4">
                  <c:v>5.1620431471145853E-2</c:v>
                </c:pt>
                <c:pt idx="5">
                  <c:v>5.1734243159542857E-2</c:v>
                </c:pt>
                <c:pt idx="6">
                  <c:v>5.1844728877761585E-2</c:v>
                </c:pt>
                <c:pt idx="7">
                  <c:v>5.1961866536336859E-2</c:v>
                </c:pt>
                <c:pt idx="8">
                  <c:v>5.2074569568007774E-2</c:v>
                </c:pt>
                <c:pt idx="9">
                  <c:v>5.2190229017614928E-2</c:v>
                </c:pt>
                <c:pt idx="10">
                  <c:v>5.2299975631349596E-2</c:v>
                </c:pt>
              </c:numCache>
            </c:numRef>
          </c:val>
          <c:smooth val="1"/>
          <c:extLst>
            <c:ext xmlns:c16="http://schemas.microsoft.com/office/drawing/2014/chart" uri="{C3380CC4-5D6E-409C-BE32-E72D297353CC}">
              <c16:uniqueId val="{00000001-6632-4D2B-86C8-7319BAC0FACD}"/>
            </c:ext>
          </c:extLst>
        </c:ser>
        <c:ser>
          <c:idx val="2"/>
          <c:order val="2"/>
          <c:tx>
            <c:strRef>
              <c:f>Sheet1!$D$1</c:f>
              <c:strCache>
                <c:ptCount val="1"/>
                <c:pt idx="0">
                  <c:v>France</c:v>
                </c:pt>
              </c:strCache>
            </c:strRef>
          </c:tx>
          <c:spPr>
            <a:ln w="28575" cap="rnd">
              <a:solidFill>
                <a:schemeClr val="accent3"/>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Sheet1!$D$2:$D$12</c:f>
              <c:numCache>
                <c:formatCode>0.0%</c:formatCode>
                <c:ptCount val="11"/>
                <c:pt idx="0">
                  <c:v>5.0610918051856614E-2</c:v>
                </c:pt>
                <c:pt idx="1">
                  <c:v>5.1425475454332091E-2</c:v>
                </c:pt>
                <c:pt idx="2">
                  <c:v>5.2138213181498139E-2</c:v>
                </c:pt>
                <c:pt idx="3">
                  <c:v>5.274913123335475E-2</c:v>
                </c:pt>
                <c:pt idx="4">
                  <c:v>5.2850950908664179E-2</c:v>
                </c:pt>
                <c:pt idx="5">
                  <c:v>5.2647311558045314E-2</c:v>
                </c:pt>
                <c:pt idx="6">
                  <c:v>5.2036393506188702E-2</c:v>
                </c:pt>
                <c:pt idx="7">
                  <c:v>5.1323655779022655E-2</c:v>
                </c:pt>
                <c:pt idx="8">
                  <c:v>5.0610918051856614E-2</c:v>
                </c:pt>
                <c:pt idx="9">
                  <c:v>0.05</c:v>
                </c:pt>
                <c:pt idx="10">
                  <c:v>4.9490901623452828E-2</c:v>
                </c:pt>
              </c:numCache>
            </c:numRef>
          </c:val>
          <c:smooth val="1"/>
          <c:extLst>
            <c:ext xmlns:c16="http://schemas.microsoft.com/office/drawing/2014/chart" uri="{C3380CC4-5D6E-409C-BE32-E72D297353CC}">
              <c16:uniqueId val="{00000002-6632-4D2B-86C8-7319BAC0FACD}"/>
            </c:ext>
          </c:extLst>
        </c:ser>
        <c:ser>
          <c:idx val="3"/>
          <c:order val="3"/>
          <c:tx>
            <c:strRef>
              <c:f>Sheet1!$E$1</c:f>
              <c:strCache>
                <c:ptCount val="1"/>
                <c:pt idx="0">
                  <c:v>U.K.</c:v>
                </c:pt>
              </c:strCache>
            </c:strRef>
          </c:tx>
          <c:spPr>
            <a:ln w="28575" cap="rnd">
              <a:solidFill>
                <a:schemeClr val="accent4"/>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Sheet1!$E$2:$E$12</c:f>
              <c:numCache>
                <c:formatCode>0.0%</c:formatCode>
                <c:ptCount val="11"/>
                <c:pt idx="0">
                  <c:v>5.3000000000000005E-2</c:v>
                </c:pt>
                <c:pt idx="1">
                  <c:v>5.5000000000000007E-2</c:v>
                </c:pt>
                <c:pt idx="2">
                  <c:v>5.7333333333333347E-2</c:v>
                </c:pt>
                <c:pt idx="3">
                  <c:v>5.9666666666666673E-2</c:v>
                </c:pt>
                <c:pt idx="4">
                  <c:v>6.3666666666666663E-2</c:v>
                </c:pt>
                <c:pt idx="5">
                  <c:v>6.8000000000000005E-2</c:v>
                </c:pt>
                <c:pt idx="6">
                  <c:v>6.7906765085174334E-2</c:v>
                </c:pt>
                <c:pt idx="7">
                  <c:v>6.6841312562606461E-2</c:v>
                </c:pt>
                <c:pt idx="8">
                  <c:v>6.5666666666666665E-2</c:v>
                </c:pt>
                <c:pt idx="9">
                  <c:v>6.4147353367754692E-2</c:v>
                </c:pt>
                <c:pt idx="10">
                  <c:v>6.0424365639398202E-2</c:v>
                </c:pt>
              </c:numCache>
            </c:numRef>
          </c:val>
          <c:smooth val="0"/>
          <c:extLst>
            <c:ext xmlns:c16="http://schemas.microsoft.com/office/drawing/2014/chart" uri="{C3380CC4-5D6E-409C-BE32-E72D297353CC}">
              <c16:uniqueId val="{00000000-D008-4A76-9F3F-12851D61B315}"/>
            </c:ext>
          </c:extLst>
        </c:ser>
        <c:ser>
          <c:idx val="4"/>
          <c:order val="4"/>
          <c:tx>
            <c:strRef>
              <c:f>Sheet1!$F$1</c:f>
              <c:strCache>
                <c:ptCount val="1"/>
                <c:pt idx="0">
                  <c:v>Spain</c:v>
                </c:pt>
              </c:strCache>
            </c:strRef>
          </c:tx>
          <c:spPr>
            <a:ln w="28575" cap="rnd">
              <a:solidFill>
                <a:schemeClr val="accent5"/>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Sheet1!$F$2:$F$12</c:f>
              <c:numCache>
                <c:formatCode>0.0%</c:formatCode>
                <c:ptCount val="11"/>
                <c:pt idx="0">
                  <c:v>5.1263578005607567E-2</c:v>
                </c:pt>
                <c:pt idx="1">
                  <c:v>5.2412285283432627E-2</c:v>
                </c:pt>
                <c:pt idx="2">
                  <c:v>5.3446121833475177E-2</c:v>
                </c:pt>
                <c:pt idx="3">
                  <c:v>5.3905604744605207E-2</c:v>
                </c:pt>
                <c:pt idx="4">
                  <c:v>5.3905604744605207E-2</c:v>
                </c:pt>
                <c:pt idx="5">
                  <c:v>5.3101509650127658E-2</c:v>
                </c:pt>
                <c:pt idx="6">
                  <c:v>5.2297414555650117E-2</c:v>
                </c:pt>
                <c:pt idx="7">
                  <c:v>5.1493319461172575E-2</c:v>
                </c:pt>
                <c:pt idx="8">
                  <c:v>5.068922436669504E-2</c:v>
                </c:pt>
                <c:pt idx="9">
                  <c:v>4.9770258544434988E-2</c:v>
                </c:pt>
                <c:pt idx="10">
                  <c:v>4.8736421994392438E-2</c:v>
                </c:pt>
              </c:numCache>
            </c:numRef>
          </c:val>
          <c:smooth val="0"/>
          <c:extLst>
            <c:ext xmlns:c16="http://schemas.microsoft.com/office/drawing/2014/chart" uri="{C3380CC4-5D6E-409C-BE32-E72D297353CC}">
              <c16:uniqueId val="{00000001-D008-4A76-9F3F-12851D61B315}"/>
            </c:ext>
          </c:extLst>
        </c:ser>
        <c:ser>
          <c:idx val="5"/>
          <c:order val="5"/>
          <c:tx>
            <c:strRef>
              <c:f>Sheet1!$G$1</c:f>
              <c:strCache>
                <c:ptCount val="1"/>
                <c:pt idx="0">
                  <c:v>BENELUX</c:v>
                </c:pt>
              </c:strCache>
            </c:strRef>
          </c:tx>
          <c:spPr>
            <a:ln w="28575" cap="rnd">
              <a:solidFill>
                <a:schemeClr val="accent6"/>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Sheet1!$G$2:$G$12</c:f>
              <c:numCache>
                <c:formatCode>0.0%</c:formatCode>
                <c:ptCount val="11"/>
                <c:pt idx="0">
                  <c:v>6.0676665024535163E-2</c:v>
                </c:pt>
                <c:pt idx="1">
                  <c:v>6.0811998029442191E-2</c:v>
                </c:pt>
                <c:pt idx="2">
                  <c:v>6.0405999014721101E-2</c:v>
                </c:pt>
                <c:pt idx="3">
                  <c:v>5.986466699509297E-2</c:v>
                </c:pt>
                <c:pt idx="4">
                  <c:v>5.9188001970557812E-2</c:v>
                </c:pt>
                <c:pt idx="5">
                  <c:v>5.8782002955836715E-2</c:v>
                </c:pt>
                <c:pt idx="6">
                  <c:v>5.7970004926394522E-2</c:v>
                </c:pt>
                <c:pt idx="7">
                  <c:v>5.7022673892045295E-2</c:v>
                </c:pt>
                <c:pt idx="8">
                  <c:v>5.6075342857696074E-2</c:v>
                </c:pt>
                <c:pt idx="9">
                  <c:v>5.5398677833160916E-2</c:v>
                </c:pt>
                <c:pt idx="10">
                  <c:v>5.472201280862575E-2</c:v>
                </c:pt>
              </c:numCache>
            </c:numRef>
          </c:val>
          <c:smooth val="0"/>
          <c:extLst>
            <c:ext xmlns:c16="http://schemas.microsoft.com/office/drawing/2014/chart" uri="{C3380CC4-5D6E-409C-BE32-E72D297353CC}">
              <c16:uniqueId val="{00000002-D008-4A76-9F3F-12851D61B315}"/>
            </c:ext>
          </c:extLst>
        </c:ser>
        <c:ser>
          <c:idx val="6"/>
          <c:order val="6"/>
          <c:tx>
            <c:strRef>
              <c:f>Sheet1!$H$1</c:f>
              <c:strCache>
                <c:ptCount val="1"/>
                <c:pt idx="0">
                  <c:v>Nordics</c:v>
                </c:pt>
              </c:strCache>
            </c:strRef>
          </c:tx>
          <c:spPr>
            <a:ln w="28575" cap="rnd">
              <a:solidFill>
                <a:schemeClr val="accent1">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Sheet1!$H$2:$H$12</c:f>
              <c:numCache>
                <c:formatCode>0.0%</c:formatCode>
                <c:ptCount val="11"/>
                <c:pt idx="0">
                  <c:v>6.0000000000000005E-2</c:v>
                </c:pt>
                <c:pt idx="1">
                  <c:v>6.0000000000000005E-2</c:v>
                </c:pt>
                <c:pt idx="2">
                  <c:v>5.9500325887083094E-2</c:v>
                </c:pt>
                <c:pt idx="3">
                  <c:v>5.9500325887083094E-2</c:v>
                </c:pt>
                <c:pt idx="4">
                  <c:v>6.0000000000000005E-2</c:v>
                </c:pt>
                <c:pt idx="5">
                  <c:v>6.074951116937536E-2</c:v>
                </c:pt>
                <c:pt idx="6">
                  <c:v>6.074951116937536E-2</c:v>
                </c:pt>
                <c:pt idx="7">
                  <c:v>5.9750162943541546E-2</c:v>
                </c:pt>
                <c:pt idx="8">
                  <c:v>5.8750814717707739E-2</c:v>
                </c:pt>
                <c:pt idx="9">
                  <c:v>5.8500977661249287E-2</c:v>
                </c:pt>
                <c:pt idx="10">
                  <c:v>5.9250488830624642E-2</c:v>
                </c:pt>
              </c:numCache>
            </c:numRef>
          </c:val>
          <c:smooth val="0"/>
          <c:extLst>
            <c:ext xmlns:c16="http://schemas.microsoft.com/office/drawing/2014/chart" uri="{C3380CC4-5D6E-409C-BE32-E72D297353CC}">
              <c16:uniqueId val="{00000003-D008-4A76-9F3F-12851D61B315}"/>
            </c:ext>
          </c:extLst>
        </c:ser>
        <c:ser>
          <c:idx val="7"/>
          <c:order val="7"/>
          <c:tx>
            <c:strRef>
              <c:f>Sheet1!$I$1</c:f>
              <c:strCache>
                <c:ptCount val="1"/>
                <c:pt idx="0">
                  <c:v>Rest of W. Europe</c:v>
                </c:pt>
              </c:strCache>
            </c:strRef>
          </c:tx>
          <c:spPr>
            <a:ln w="28575" cap="rnd">
              <a:solidFill>
                <a:schemeClr val="accent2">
                  <a:lumMod val="60000"/>
                </a:schemeClr>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Sheet1!$I$2:$I$12</c:f>
              <c:numCache>
                <c:formatCode>0.0%</c:formatCode>
                <c:ptCount val="11"/>
                <c:pt idx="0">
                  <c:v>6.6049836337773393E-2</c:v>
                </c:pt>
                <c:pt idx="1">
                  <c:v>6.5329142487525693E-2</c:v>
                </c:pt>
                <c:pt idx="2">
                  <c:v>6.3838352965367703E-2</c:v>
                </c:pt>
                <c:pt idx="3">
                  <c:v>6.3351587018071601E-2</c:v>
                </c:pt>
                <c:pt idx="4">
                  <c:v>6.37922641604491E-2</c:v>
                </c:pt>
                <c:pt idx="5">
                  <c:v>6.5192342777694298E-2</c:v>
                </c:pt>
                <c:pt idx="6">
                  <c:v>6.54577401641986E-2</c:v>
                </c:pt>
                <c:pt idx="7">
                  <c:v>6.4345562247955498E-2</c:v>
                </c:pt>
                <c:pt idx="8">
                  <c:v>6.32333843317123E-2</c:v>
                </c:pt>
                <c:pt idx="9">
                  <c:v>6.3287357129762606E-2</c:v>
                </c:pt>
                <c:pt idx="10">
                  <c:v>6.4750374714113101E-2</c:v>
                </c:pt>
              </c:numCache>
            </c:numRef>
          </c:val>
          <c:smooth val="0"/>
          <c:extLst>
            <c:ext xmlns:c16="http://schemas.microsoft.com/office/drawing/2014/chart" uri="{C3380CC4-5D6E-409C-BE32-E72D297353CC}">
              <c16:uniqueId val="{00000000-FA92-4AD6-9D62-C5FEF4FB5EFD}"/>
            </c:ext>
          </c:extLst>
        </c:ser>
        <c:dLbls>
          <c:showLegendKey val="0"/>
          <c:showVal val="0"/>
          <c:showCatName val="0"/>
          <c:showSerName val="0"/>
          <c:showPercent val="0"/>
          <c:showBubbleSize val="0"/>
        </c:dLbls>
        <c:smooth val="0"/>
        <c:axId val="207142832"/>
        <c:axId val="207127056"/>
      </c:lineChart>
      <c:catAx>
        <c:axId val="207142832"/>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27056"/>
        <c:crossesAt val="-3.5000000000000003E-2"/>
        <c:auto val="1"/>
        <c:lblAlgn val="ctr"/>
        <c:lblOffset val="100"/>
        <c:noMultiLvlLbl val="0"/>
      </c:catAx>
      <c:valAx>
        <c:axId val="207127056"/>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207142832"/>
        <c:crosses val="autoZero"/>
        <c:crossBetween val="between"/>
      </c:valAx>
      <c:spPr>
        <a:noFill/>
        <a:ln w="25400">
          <a:noFill/>
        </a:ln>
        <a:effectLst/>
      </c:spPr>
    </c:plotArea>
    <c:legend>
      <c:legendPos val="b"/>
      <c:layout>
        <c:manualLayout>
          <c:xMode val="edge"/>
          <c:yMode val="edge"/>
          <c:x val="0"/>
          <c:y val="0.81733067057011788"/>
          <c:w val="0.9759298655396037"/>
          <c:h val="0.18244774689964033"/>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12700">
      <a:noFill/>
    </a:ln>
    <a:effectLst/>
  </c:spPr>
  <c:txPr>
    <a:bodyPr/>
    <a:lstStyle/>
    <a:p>
      <a:pPr>
        <a:defRPr sz="1100">
          <a:solidFill>
            <a:schemeClr val="tx1"/>
          </a:solidFill>
        </a:defRPr>
      </a:pPr>
      <a:endParaRPr lang="en-US"/>
    </a:p>
  </c:txPr>
  <c:externalData r:id="rId3">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586017868029705E-2"/>
          <c:y val="5.6718815469420834E-2"/>
          <c:w val="0.92649309691078063"/>
          <c:h val="0.72664225195762067"/>
        </c:manualLayout>
      </c:layout>
      <c:barChart>
        <c:barDir val="col"/>
        <c:grouping val="percentStacked"/>
        <c:varyColors val="0"/>
        <c:ser>
          <c:idx val="0"/>
          <c:order val="0"/>
          <c:tx>
            <c:strRef>
              <c:f>Sheet1!$B$1</c:f>
              <c:strCache>
                <c:ptCount val="1"/>
                <c:pt idx="0">
                  <c:v>Germany</c:v>
                </c:pt>
              </c:strCache>
            </c:strRef>
          </c:tx>
          <c:spPr>
            <a:solidFill>
              <a:schemeClr val="accent1"/>
            </a:solidFill>
            <a:ln>
              <a:noFill/>
            </a:ln>
            <a:effectLst/>
          </c:spPr>
          <c:invertIfNegative val="0"/>
          <c:cat>
            <c:strRef>
              <c:f>Sheet1!$A$2:$A$3</c:f>
              <c:strCache>
                <c:ptCount val="2"/>
                <c:pt idx="0">
                  <c:v>2024E</c:v>
                </c:pt>
                <c:pt idx="1">
                  <c:v>2034F</c:v>
                </c:pt>
              </c:strCache>
            </c:strRef>
          </c:cat>
          <c:val>
            <c:numRef>
              <c:f>Sheet1!$B$2:$B$3</c:f>
              <c:numCache>
                <c:formatCode>0.0%</c:formatCode>
                <c:ptCount val="2"/>
                <c:pt idx="0">
                  <c:v>0.18</c:v>
                </c:pt>
                <c:pt idx="1">
                  <c:v>0.18</c:v>
                </c:pt>
              </c:numCache>
            </c:numRef>
          </c:val>
          <c:extLst>
            <c:ext xmlns:c16="http://schemas.microsoft.com/office/drawing/2014/chart" uri="{C3380CC4-5D6E-409C-BE32-E72D297353CC}">
              <c16:uniqueId val="{00000000-21E7-4B43-90A6-E593F0FB26A8}"/>
            </c:ext>
          </c:extLst>
        </c:ser>
        <c:ser>
          <c:idx val="1"/>
          <c:order val="1"/>
          <c:tx>
            <c:strRef>
              <c:f>Sheet1!$C$1</c:f>
              <c:strCache>
                <c:ptCount val="1"/>
                <c:pt idx="0">
                  <c:v>Italy</c:v>
                </c:pt>
              </c:strCache>
            </c:strRef>
          </c:tx>
          <c:spPr>
            <a:solidFill>
              <a:schemeClr val="accent2"/>
            </a:solidFill>
            <a:ln>
              <a:noFill/>
            </a:ln>
            <a:effectLst/>
          </c:spPr>
          <c:invertIfNegative val="0"/>
          <c:cat>
            <c:strRef>
              <c:f>Sheet1!$A$2:$A$3</c:f>
              <c:strCache>
                <c:ptCount val="2"/>
                <c:pt idx="0">
                  <c:v>2024E</c:v>
                </c:pt>
                <c:pt idx="1">
                  <c:v>2034F</c:v>
                </c:pt>
              </c:strCache>
            </c:strRef>
          </c:cat>
          <c:val>
            <c:numRef>
              <c:f>Sheet1!$C$2:$C$3</c:f>
              <c:numCache>
                <c:formatCode>0.0%</c:formatCode>
                <c:ptCount val="2"/>
                <c:pt idx="0">
                  <c:v>0.06</c:v>
                </c:pt>
                <c:pt idx="1">
                  <c:v>0.06</c:v>
                </c:pt>
              </c:numCache>
            </c:numRef>
          </c:val>
          <c:extLst>
            <c:ext xmlns:c16="http://schemas.microsoft.com/office/drawing/2014/chart" uri="{C3380CC4-5D6E-409C-BE32-E72D297353CC}">
              <c16:uniqueId val="{00000001-21E7-4B43-90A6-E593F0FB26A8}"/>
            </c:ext>
          </c:extLst>
        </c:ser>
        <c:ser>
          <c:idx val="2"/>
          <c:order val="2"/>
          <c:tx>
            <c:strRef>
              <c:f>Sheet1!$D$1</c:f>
              <c:strCache>
                <c:ptCount val="1"/>
                <c:pt idx="0">
                  <c:v>France</c:v>
                </c:pt>
              </c:strCache>
            </c:strRef>
          </c:tx>
          <c:spPr>
            <a:solidFill>
              <a:schemeClr val="accent3"/>
            </a:solidFill>
            <a:ln>
              <a:noFill/>
            </a:ln>
            <a:effectLst/>
          </c:spPr>
          <c:invertIfNegative val="0"/>
          <c:cat>
            <c:strRef>
              <c:f>Sheet1!$A$2:$A$3</c:f>
              <c:strCache>
                <c:ptCount val="2"/>
                <c:pt idx="0">
                  <c:v>2024E</c:v>
                </c:pt>
                <c:pt idx="1">
                  <c:v>2034F</c:v>
                </c:pt>
              </c:strCache>
            </c:strRef>
          </c:cat>
          <c:val>
            <c:numRef>
              <c:f>Sheet1!$D$2:$D$3</c:f>
              <c:numCache>
                <c:formatCode>0.0%</c:formatCode>
                <c:ptCount val="2"/>
                <c:pt idx="0">
                  <c:v>0.13</c:v>
                </c:pt>
                <c:pt idx="1">
                  <c:v>0.13</c:v>
                </c:pt>
              </c:numCache>
            </c:numRef>
          </c:val>
          <c:extLst>
            <c:ext xmlns:c16="http://schemas.microsoft.com/office/drawing/2014/chart" uri="{C3380CC4-5D6E-409C-BE32-E72D297353CC}">
              <c16:uniqueId val="{00000002-21E7-4B43-90A6-E593F0FB26A8}"/>
            </c:ext>
          </c:extLst>
        </c:ser>
        <c:ser>
          <c:idx val="3"/>
          <c:order val="3"/>
          <c:tx>
            <c:strRef>
              <c:f>Sheet1!$E$1</c:f>
              <c:strCache>
                <c:ptCount val="1"/>
                <c:pt idx="0">
                  <c:v>U.K.</c:v>
                </c:pt>
              </c:strCache>
            </c:strRef>
          </c:tx>
          <c:spPr>
            <a:solidFill>
              <a:schemeClr val="accent4"/>
            </a:solidFill>
            <a:ln>
              <a:noFill/>
            </a:ln>
            <a:effectLst/>
          </c:spPr>
          <c:invertIfNegative val="0"/>
          <c:cat>
            <c:strRef>
              <c:f>Sheet1!$A$2:$A$3</c:f>
              <c:strCache>
                <c:ptCount val="2"/>
                <c:pt idx="0">
                  <c:v>2024E</c:v>
                </c:pt>
                <c:pt idx="1">
                  <c:v>2034F</c:v>
                </c:pt>
              </c:strCache>
            </c:strRef>
          </c:cat>
          <c:val>
            <c:numRef>
              <c:f>Sheet1!$E$2:$E$3</c:f>
              <c:numCache>
                <c:formatCode>0.0%</c:formatCode>
                <c:ptCount val="2"/>
                <c:pt idx="0">
                  <c:v>2.1999999999999999E-2</c:v>
                </c:pt>
                <c:pt idx="1">
                  <c:v>2.1999999999999999E-2</c:v>
                </c:pt>
              </c:numCache>
            </c:numRef>
          </c:val>
          <c:extLst>
            <c:ext xmlns:c16="http://schemas.microsoft.com/office/drawing/2014/chart" uri="{C3380CC4-5D6E-409C-BE32-E72D297353CC}">
              <c16:uniqueId val="{00000003-21E7-4B43-90A6-E593F0FB26A8}"/>
            </c:ext>
          </c:extLst>
        </c:ser>
        <c:ser>
          <c:idx val="4"/>
          <c:order val="4"/>
          <c:tx>
            <c:strRef>
              <c:f>Sheet1!$F$1</c:f>
              <c:strCache>
                <c:ptCount val="1"/>
                <c:pt idx="0">
                  <c:v>Spain</c:v>
                </c:pt>
              </c:strCache>
            </c:strRef>
          </c:tx>
          <c:spPr>
            <a:solidFill>
              <a:schemeClr val="accent5"/>
            </a:solidFill>
            <a:ln>
              <a:noFill/>
            </a:ln>
            <a:effectLst/>
          </c:spPr>
          <c:invertIfNegative val="0"/>
          <c:cat>
            <c:strRef>
              <c:f>Sheet1!$A$2:$A$3</c:f>
              <c:strCache>
                <c:ptCount val="2"/>
                <c:pt idx="0">
                  <c:v>2024E</c:v>
                </c:pt>
                <c:pt idx="1">
                  <c:v>2034F</c:v>
                </c:pt>
              </c:strCache>
            </c:strRef>
          </c:cat>
          <c:val>
            <c:numRef>
              <c:f>Sheet1!$F$2:$F$3</c:f>
              <c:numCache>
                <c:formatCode>0.0%</c:formatCode>
                <c:ptCount val="2"/>
                <c:pt idx="0">
                  <c:v>0.32400000000000001</c:v>
                </c:pt>
                <c:pt idx="1">
                  <c:v>0.32400000000000001</c:v>
                </c:pt>
              </c:numCache>
            </c:numRef>
          </c:val>
          <c:extLst>
            <c:ext xmlns:c16="http://schemas.microsoft.com/office/drawing/2014/chart" uri="{C3380CC4-5D6E-409C-BE32-E72D297353CC}">
              <c16:uniqueId val="{00000004-21E7-4B43-90A6-E593F0FB26A8}"/>
            </c:ext>
          </c:extLst>
        </c:ser>
        <c:ser>
          <c:idx val="5"/>
          <c:order val="5"/>
          <c:tx>
            <c:strRef>
              <c:f>Sheet1!$G$1</c:f>
              <c:strCache>
                <c:ptCount val="1"/>
                <c:pt idx="0">
                  <c:v>BENELUX</c:v>
                </c:pt>
              </c:strCache>
            </c:strRef>
          </c:tx>
          <c:spPr>
            <a:solidFill>
              <a:schemeClr val="accent6"/>
            </a:solidFill>
            <a:ln>
              <a:noFill/>
            </a:ln>
            <a:effectLst/>
          </c:spPr>
          <c:invertIfNegative val="0"/>
          <c:cat>
            <c:strRef>
              <c:f>Sheet1!$A$2:$A$3</c:f>
              <c:strCache>
                <c:ptCount val="2"/>
                <c:pt idx="0">
                  <c:v>2024E</c:v>
                </c:pt>
                <c:pt idx="1">
                  <c:v>2034F</c:v>
                </c:pt>
              </c:strCache>
            </c:strRef>
          </c:cat>
          <c:val>
            <c:numRef>
              <c:f>Sheet1!$G$2:$G$3</c:f>
              <c:numCache>
                <c:formatCode>0.0%</c:formatCode>
                <c:ptCount val="2"/>
                <c:pt idx="0">
                  <c:v>0.13900000000000001</c:v>
                </c:pt>
                <c:pt idx="1">
                  <c:v>0.13900000000000001</c:v>
                </c:pt>
              </c:numCache>
            </c:numRef>
          </c:val>
          <c:extLst>
            <c:ext xmlns:c16="http://schemas.microsoft.com/office/drawing/2014/chart" uri="{C3380CC4-5D6E-409C-BE32-E72D297353CC}">
              <c16:uniqueId val="{00000005-21E7-4B43-90A6-E593F0FB26A8}"/>
            </c:ext>
          </c:extLst>
        </c:ser>
        <c:ser>
          <c:idx val="6"/>
          <c:order val="6"/>
          <c:tx>
            <c:strRef>
              <c:f>Sheet1!$H$1</c:f>
              <c:strCache>
                <c:ptCount val="1"/>
                <c:pt idx="0">
                  <c:v>Nordics</c:v>
                </c:pt>
              </c:strCache>
            </c:strRef>
          </c:tx>
          <c:spPr>
            <a:solidFill>
              <a:schemeClr val="accent1">
                <a:lumMod val="60000"/>
              </a:schemeClr>
            </a:solidFill>
            <a:ln>
              <a:noFill/>
            </a:ln>
            <a:effectLst/>
          </c:spPr>
          <c:invertIfNegative val="0"/>
          <c:cat>
            <c:strRef>
              <c:f>Sheet1!$A$2:$A$3</c:f>
              <c:strCache>
                <c:ptCount val="2"/>
                <c:pt idx="0">
                  <c:v>2024E</c:v>
                </c:pt>
                <c:pt idx="1">
                  <c:v>2034F</c:v>
                </c:pt>
              </c:strCache>
            </c:strRef>
          </c:cat>
          <c:val>
            <c:numRef>
              <c:f>Sheet1!$H$2:$H$3</c:f>
              <c:numCache>
                <c:formatCode>0.0%</c:formatCode>
                <c:ptCount val="2"/>
                <c:pt idx="0">
                  <c:v>7.0000000000000007E-2</c:v>
                </c:pt>
                <c:pt idx="1">
                  <c:v>7.0000000000000007E-2</c:v>
                </c:pt>
              </c:numCache>
            </c:numRef>
          </c:val>
          <c:extLst>
            <c:ext xmlns:c16="http://schemas.microsoft.com/office/drawing/2014/chart" uri="{C3380CC4-5D6E-409C-BE32-E72D297353CC}">
              <c16:uniqueId val="{00000006-21E7-4B43-90A6-E593F0FB26A8}"/>
            </c:ext>
          </c:extLst>
        </c:ser>
        <c:ser>
          <c:idx val="7"/>
          <c:order val="7"/>
          <c:tx>
            <c:strRef>
              <c:f>Sheet1!$I$1</c:f>
              <c:strCache>
                <c:ptCount val="1"/>
                <c:pt idx="0">
                  <c:v>Rest of W. Europe</c:v>
                </c:pt>
              </c:strCache>
            </c:strRef>
          </c:tx>
          <c:spPr>
            <a:solidFill>
              <a:schemeClr val="accent2">
                <a:lumMod val="60000"/>
              </a:schemeClr>
            </a:solidFill>
            <a:ln>
              <a:noFill/>
            </a:ln>
            <a:effectLst/>
          </c:spPr>
          <c:invertIfNegative val="0"/>
          <c:cat>
            <c:strRef>
              <c:f>Sheet1!$A$2:$A$3</c:f>
              <c:strCache>
                <c:ptCount val="2"/>
                <c:pt idx="0">
                  <c:v>2024E</c:v>
                </c:pt>
                <c:pt idx="1">
                  <c:v>2034F</c:v>
                </c:pt>
              </c:strCache>
            </c:strRef>
          </c:cat>
          <c:val>
            <c:numRef>
              <c:f>Sheet1!$I$2:$I$3</c:f>
              <c:numCache>
                <c:formatCode>0.0%</c:formatCode>
                <c:ptCount val="2"/>
                <c:pt idx="0">
                  <c:v>1E-3</c:v>
                </c:pt>
                <c:pt idx="1">
                  <c:v>1E-3</c:v>
                </c:pt>
              </c:numCache>
            </c:numRef>
          </c:val>
          <c:extLst>
            <c:ext xmlns:c16="http://schemas.microsoft.com/office/drawing/2014/chart" uri="{C3380CC4-5D6E-409C-BE32-E72D297353CC}">
              <c16:uniqueId val="{00000007-21E7-4B43-90A6-E593F0FB26A8}"/>
            </c:ext>
          </c:extLst>
        </c:ser>
        <c:dLbls>
          <c:showLegendKey val="0"/>
          <c:showVal val="0"/>
          <c:showCatName val="0"/>
          <c:showSerName val="0"/>
          <c:showPercent val="0"/>
          <c:showBubbleSize val="0"/>
        </c:dLbls>
        <c:gapWidth val="50"/>
        <c:overlap val="100"/>
        <c:axId val="207142288"/>
        <c:axId val="207150448"/>
      </c:barChart>
      <c:catAx>
        <c:axId val="2071422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207150448"/>
        <c:crosses val="autoZero"/>
        <c:auto val="1"/>
        <c:lblAlgn val="ctr"/>
        <c:lblOffset val="100"/>
        <c:noMultiLvlLbl val="0"/>
      </c:catAx>
      <c:valAx>
        <c:axId val="207150448"/>
        <c:scaling>
          <c:orientation val="minMax"/>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207142288"/>
        <c:crosses val="autoZero"/>
        <c:crossBetween val="between"/>
      </c:valAx>
      <c:spPr>
        <a:noFill/>
        <a:ln>
          <a:noFill/>
        </a:ln>
        <a:effectLst/>
      </c:spPr>
    </c:plotArea>
    <c:legend>
      <c:legendPos val="b"/>
      <c:layout>
        <c:manualLayout>
          <c:xMode val="edge"/>
          <c:yMode val="edge"/>
          <c:x val="0"/>
          <c:y val="0.83692483498304948"/>
          <c:w val="1"/>
          <c:h val="0.14667708288402814"/>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193926521544815"/>
          <c:y val="3.2403000316204716E-2"/>
          <c:w val="0.7016005889076895"/>
          <c:h val="0.82090372344009988"/>
        </c:manualLayout>
      </c:layout>
      <c:bubbleChart>
        <c:varyColors val="1"/>
        <c:ser>
          <c:idx val="0"/>
          <c:order val="0"/>
          <c:tx>
            <c:strRef>
              <c:f>Sheet1!$C$1</c:f>
              <c:strCache>
                <c:ptCount val="1"/>
                <c:pt idx="0">
                  <c:v>Y-Values</c:v>
                </c:pt>
              </c:strCache>
            </c:strRef>
          </c:tx>
          <c:invertIfNegative val="0"/>
          <c:dPt>
            <c:idx val="0"/>
            <c:invertIfNegative val="0"/>
            <c:bubble3D val="0"/>
            <c:spPr>
              <a:solidFill>
                <a:schemeClr val="accent1">
                  <a:alpha val="75000"/>
                </a:schemeClr>
              </a:solidFill>
              <a:ln>
                <a:noFill/>
              </a:ln>
              <a:effectLst/>
            </c:spPr>
            <c:extLst>
              <c:ext xmlns:c16="http://schemas.microsoft.com/office/drawing/2014/chart" uri="{C3380CC4-5D6E-409C-BE32-E72D297353CC}">
                <c16:uniqueId val="{00000001-1050-4F25-8AA2-960EBAE65DDF}"/>
              </c:ext>
            </c:extLst>
          </c:dPt>
          <c:dPt>
            <c:idx val="1"/>
            <c:invertIfNegative val="0"/>
            <c:bubble3D val="0"/>
            <c:spPr>
              <a:solidFill>
                <a:schemeClr val="accent2">
                  <a:alpha val="75000"/>
                </a:schemeClr>
              </a:solidFill>
              <a:ln>
                <a:noFill/>
              </a:ln>
              <a:effectLst/>
            </c:spPr>
            <c:extLst>
              <c:ext xmlns:c16="http://schemas.microsoft.com/office/drawing/2014/chart" uri="{C3380CC4-5D6E-409C-BE32-E72D297353CC}">
                <c16:uniqueId val="{00000003-1050-4F25-8AA2-960EBAE65DDF}"/>
              </c:ext>
            </c:extLst>
          </c:dPt>
          <c:dPt>
            <c:idx val="2"/>
            <c:invertIfNegative val="0"/>
            <c:bubble3D val="0"/>
            <c:spPr>
              <a:solidFill>
                <a:schemeClr val="accent3">
                  <a:alpha val="75000"/>
                </a:schemeClr>
              </a:solidFill>
              <a:ln>
                <a:noFill/>
              </a:ln>
              <a:effectLst/>
            </c:spPr>
            <c:extLst>
              <c:ext xmlns:c16="http://schemas.microsoft.com/office/drawing/2014/chart" uri="{C3380CC4-5D6E-409C-BE32-E72D297353CC}">
                <c16:uniqueId val="{00000005-1050-4F25-8AA2-960EBAE65DDF}"/>
              </c:ext>
            </c:extLst>
          </c:dPt>
          <c:xVal>
            <c:numRef>
              <c:f>Sheet1!$B$2:$B$9</c:f>
              <c:numCache>
                <c:formatCode>_(* #,##0.0_);_(* \(#,##0.0\);_(* "-"??_);_(@_)</c:formatCode>
                <c:ptCount val="8"/>
                <c:pt idx="0">
                  <c:v>1.2484641180451868</c:v>
                </c:pt>
                <c:pt idx="1">
                  <c:v>1.171505207157916</c:v>
                </c:pt>
                <c:pt idx="2">
                  <c:v>1.0385803668462259</c:v>
                </c:pt>
                <c:pt idx="3">
                  <c:v>0.8540767341237564</c:v>
                </c:pt>
                <c:pt idx="4">
                  <c:v>0.94499279054581786</c:v>
                </c:pt>
                <c:pt idx="5">
                  <c:v>0.16838961553365628</c:v>
                </c:pt>
                <c:pt idx="6">
                  <c:v>0.31802237668117916</c:v>
                </c:pt>
                <c:pt idx="7">
                  <c:v>1.9052296756271476</c:v>
                </c:pt>
              </c:numCache>
            </c:numRef>
          </c:xVal>
          <c:yVal>
            <c:numRef>
              <c:f>Sheet1!$C$2:$C$9</c:f>
              <c:numCache>
                <c:formatCode>_(* #,##0.0_);_(* \(#,##0.0\);_(* "-"??_);_(@_)</c:formatCode>
                <c:ptCount val="8"/>
                <c:pt idx="0">
                  <c:v>3.671570117770909</c:v>
                </c:pt>
                <c:pt idx="1">
                  <c:v>2.9587134526586683</c:v>
                </c:pt>
                <c:pt idx="2">
                  <c:v>1.1164555835041849</c:v>
                </c:pt>
                <c:pt idx="3">
                  <c:v>0.48692863262276331</c:v>
                </c:pt>
                <c:pt idx="4">
                  <c:v>0.45016276201520544</c:v>
                </c:pt>
                <c:pt idx="5">
                  <c:v>0.48725009037073713</c:v>
                </c:pt>
                <c:pt idx="6">
                  <c:v>0.39217690200571492</c:v>
                </c:pt>
                <c:pt idx="7">
                  <c:v>6.8333854137359443E-2</c:v>
                </c:pt>
              </c:numCache>
            </c:numRef>
          </c:yVal>
          <c:bubbleSize>
            <c:numRef>
              <c:f>Sheet1!$D$2:$D$9</c:f>
              <c:numCache>
                <c:formatCode>_(* #,##0.0_);_(* \(#,##0.0\);_(* "-"??_);_(@_)</c:formatCode>
                <c:ptCount val="8"/>
                <c:pt idx="0">
                  <c:v>4.3273698868360606</c:v>
                </c:pt>
                <c:pt idx="1">
                  <c:v>3.2149946963903226</c:v>
                </c:pt>
                <c:pt idx="2">
                  <c:v>1.0433263518646889</c:v>
                </c:pt>
                <c:pt idx="3">
                  <c:v>0.35881944851425052</c:v>
                </c:pt>
                <c:pt idx="4">
                  <c:v>0.37469598908583379</c:v>
                </c:pt>
                <c:pt idx="5">
                  <c:v>6.070771198932471E-2</c:v>
                </c:pt>
                <c:pt idx="6">
                  <c:v>9.5397833126079828E-2</c:v>
                </c:pt>
                <c:pt idx="7">
                  <c:v>0.1430967496891197</c:v>
                </c:pt>
              </c:numCache>
            </c:numRef>
          </c:bubbleSize>
          <c:bubble3D val="0"/>
          <c:extLst>
            <c:ext xmlns:c16="http://schemas.microsoft.com/office/drawing/2014/chart" uri="{C3380CC4-5D6E-409C-BE32-E72D297353CC}">
              <c16:uniqueId val="{00000006-1050-4F25-8AA2-960EBAE65DDF}"/>
            </c:ext>
          </c:extLst>
        </c:ser>
        <c:dLbls>
          <c:showLegendKey val="0"/>
          <c:showVal val="0"/>
          <c:showCatName val="0"/>
          <c:showSerName val="0"/>
          <c:showPercent val="0"/>
          <c:showBubbleSize val="0"/>
        </c:dLbls>
        <c:bubbleScale val="100"/>
        <c:showNegBubbles val="0"/>
        <c:axId val="207122160"/>
        <c:axId val="207122704"/>
      </c:bubbleChart>
      <c:valAx>
        <c:axId val="207122160"/>
        <c:scaling>
          <c:orientation val="minMax"/>
          <c:min val="0"/>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CAGR Index (2024 – 2034)</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122704"/>
        <c:crossesAt val="0"/>
        <c:crossBetween val="midCat"/>
      </c:valAx>
      <c:valAx>
        <c:axId val="207122704"/>
        <c:scaling>
          <c:orientation val="minMax"/>
          <c:min val="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Market Share Index (2024E)</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122160"/>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
          <c:y val="0.10852747093249289"/>
          <c:w val="0.99129804205946337"/>
          <c:h val="0.58113392356708693"/>
        </c:manualLayout>
      </c:layout>
      <c:barChart>
        <c:barDir val="col"/>
        <c:grouping val="stacked"/>
        <c:varyColors val="0"/>
        <c:ser>
          <c:idx val="0"/>
          <c:order val="0"/>
          <c:tx>
            <c:strRef>
              <c:f>Sheet1!$B$1</c:f>
              <c:strCache>
                <c:ptCount val="1"/>
                <c:pt idx="0">
                  <c:v>Value (US$ Mn)</c:v>
                </c:pt>
              </c:strCache>
            </c:strRef>
          </c:tx>
          <c:spPr>
            <a:no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B180-4502-9B86-6E517868A0C5}"/>
              </c:ext>
            </c:extLst>
          </c:dPt>
          <c:dPt>
            <c:idx val="1"/>
            <c:invertIfNegative val="0"/>
            <c:bubble3D val="0"/>
            <c:spPr>
              <a:noFill/>
              <a:ln>
                <a:noFill/>
              </a:ln>
              <a:effectLst/>
            </c:spPr>
            <c:extLst>
              <c:ext xmlns:c16="http://schemas.microsoft.com/office/drawing/2014/chart" uri="{C3380CC4-5D6E-409C-BE32-E72D297353CC}">
                <c16:uniqueId val="{00000003-B180-4502-9B86-6E517868A0C5}"/>
              </c:ext>
            </c:extLst>
          </c:dPt>
          <c:dPt>
            <c:idx val="3"/>
            <c:invertIfNegative val="0"/>
            <c:bubble3D val="0"/>
            <c:spPr>
              <a:noFill/>
              <a:ln>
                <a:noFill/>
              </a:ln>
              <a:effectLst/>
            </c:spPr>
            <c:extLst>
              <c:ext xmlns:c16="http://schemas.microsoft.com/office/drawing/2014/chart" uri="{C3380CC4-5D6E-409C-BE32-E72D297353CC}">
                <c16:uniqueId val="{00000005-B180-4502-9B86-6E517868A0C5}"/>
              </c:ext>
            </c:extLst>
          </c:dPt>
          <c:dPt>
            <c:idx val="4"/>
            <c:invertIfNegative val="0"/>
            <c:bubble3D val="0"/>
            <c:spPr>
              <a:noFill/>
              <a:ln>
                <a:noFill/>
              </a:ln>
              <a:effectLst/>
            </c:spPr>
            <c:extLst>
              <c:ext xmlns:c16="http://schemas.microsoft.com/office/drawing/2014/chart" uri="{C3380CC4-5D6E-409C-BE32-E72D297353CC}">
                <c16:uniqueId val="{00000007-B180-4502-9B86-6E517868A0C5}"/>
              </c:ext>
            </c:extLst>
          </c:dPt>
          <c:dPt>
            <c:idx val="9"/>
            <c:invertIfNegative val="0"/>
            <c:bubble3D val="0"/>
            <c:spPr>
              <a:solidFill>
                <a:srgbClr val="2A5F8F"/>
              </a:solidFill>
              <a:ln>
                <a:noFill/>
              </a:ln>
              <a:effectLst/>
            </c:spPr>
            <c:extLst>
              <c:ext xmlns:c16="http://schemas.microsoft.com/office/drawing/2014/chart" uri="{C3380CC4-5D6E-409C-BE32-E72D297353CC}">
                <c16:uniqueId val="{00000009-B180-4502-9B86-6E517868A0C5}"/>
              </c:ext>
            </c:extLst>
          </c:dPt>
          <c:cat>
            <c:strRef>
              <c:f>Sheet1!$A$2:$A$13</c:f>
              <c:strCache>
                <c:ptCount val="10"/>
                <c:pt idx="0">
                  <c:v>2024E</c:v>
                </c:pt>
                <c:pt idx="1">
                  <c:v>Germany</c:v>
                </c:pt>
                <c:pt idx="2">
                  <c:v>Italy</c:v>
                </c:pt>
                <c:pt idx="3">
                  <c:v>France</c:v>
                </c:pt>
                <c:pt idx="4">
                  <c:v>U.K.</c:v>
                </c:pt>
                <c:pt idx="5">
                  <c:v>Spain</c:v>
                </c:pt>
                <c:pt idx="6">
                  <c:v>BENELUX</c:v>
                </c:pt>
                <c:pt idx="7">
                  <c:v>Nordics</c:v>
                </c:pt>
                <c:pt idx="8">
                  <c:v>Rest of W.Europe</c:v>
                </c:pt>
                <c:pt idx="9">
                  <c:v>2034F</c:v>
                </c:pt>
              </c:strCache>
            </c:strRef>
          </c:cat>
          <c:val>
            <c:numRef>
              <c:f>Sheet1!$B$2:$B$11</c:f>
              <c:numCache>
                <c:formatCode>0.0</c:formatCode>
                <c:ptCount val="10"/>
                <c:pt idx="0" formatCode="_ * #,##0.0_ ;_ * \-#,##0.0_ ;_ * &quot;-&quot;??_ ;_ @_ ">
                  <c:v>2923.4059275946483</c:v>
                </c:pt>
                <c:pt idx="1">
                  <c:v>2923.4059275946483</c:v>
                </c:pt>
                <c:pt idx="2">
                  <c:v>4854.3414903614057</c:v>
                </c:pt>
                <c:pt idx="3">
                  <c:v>6753.1488417978908</c:v>
                </c:pt>
                <c:pt idx="4">
                  <c:v>8619.8279819041036</c:v>
                </c:pt>
                <c:pt idx="5">
                  <c:v>10454.378910680045</c:v>
                </c:pt>
                <c:pt idx="6">
                  <c:v>12256.801628125715</c:v>
                </c:pt>
                <c:pt idx="7">
                  <c:v>14027.096134241112</c:v>
                </c:pt>
                <c:pt idx="8">
                  <c:v>15765.262429026237</c:v>
                </c:pt>
                <c:pt idx="9">
                  <c:v>16830.875541179314</c:v>
                </c:pt>
              </c:numCache>
            </c:numRef>
          </c:val>
          <c:extLst>
            <c:ext xmlns:c16="http://schemas.microsoft.com/office/drawing/2014/chart" uri="{C3380CC4-5D6E-409C-BE32-E72D297353CC}">
              <c16:uniqueId val="{0000000A-B180-4502-9B86-6E517868A0C5}"/>
            </c:ext>
          </c:extLst>
        </c:ser>
        <c:ser>
          <c:idx val="1"/>
          <c:order val="1"/>
          <c:tx>
            <c:strRef>
              <c:f>Sheet1!$C$1</c:f>
              <c:strCache>
                <c:ptCount val="1"/>
                <c:pt idx="0">
                  <c:v>Abs. $ Opportunity</c:v>
                </c:pt>
              </c:strCache>
            </c:strRef>
          </c:tx>
          <c:spPr>
            <a:solidFill>
              <a:schemeClr val="accent2"/>
            </a:solidFill>
            <a:ln>
              <a:noFill/>
            </a:ln>
            <a:effectLst/>
          </c:spPr>
          <c:invertIfNegative val="0"/>
          <c:cat>
            <c:strRef>
              <c:f>Sheet1!$A$2:$A$13</c:f>
              <c:strCache>
                <c:ptCount val="10"/>
                <c:pt idx="0">
                  <c:v>2024E</c:v>
                </c:pt>
                <c:pt idx="1">
                  <c:v>Germany</c:v>
                </c:pt>
                <c:pt idx="2">
                  <c:v>Italy</c:v>
                </c:pt>
                <c:pt idx="3">
                  <c:v>France</c:v>
                </c:pt>
                <c:pt idx="4">
                  <c:v>U.K.</c:v>
                </c:pt>
                <c:pt idx="5">
                  <c:v>Spain</c:v>
                </c:pt>
                <c:pt idx="6">
                  <c:v>BENELUX</c:v>
                </c:pt>
                <c:pt idx="7">
                  <c:v>Nordics</c:v>
                </c:pt>
                <c:pt idx="8">
                  <c:v>Rest of W.Europe</c:v>
                </c:pt>
                <c:pt idx="9">
                  <c:v>2034F</c:v>
                </c:pt>
              </c:strCache>
            </c:strRef>
          </c:cat>
          <c:val>
            <c:numRef>
              <c:f>Sheet1!$C$2:$C$11</c:f>
              <c:numCache>
                <c:formatCode>0.0</c:formatCode>
                <c:ptCount val="10"/>
                <c:pt idx="1">
                  <c:v>1930.9355627667574</c:v>
                </c:pt>
                <c:pt idx="2">
                  <c:v>1898.8073514364853</c:v>
                </c:pt>
                <c:pt idx="3">
                  <c:v>1866.6791401062133</c:v>
                </c:pt>
                <c:pt idx="4">
                  <c:v>1834.5509287759414</c:v>
                </c:pt>
                <c:pt idx="5">
                  <c:v>1802.4227174456696</c:v>
                </c:pt>
                <c:pt idx="6">
                  <c:v>1770.2945061153976</c:v>
                </c:pt>
                <c:pt idx="7">
                  <c:v>1738.1662947851255</c:v>
                </c:pt>
                <c:pt idx="8">
                  <c:v>1065.6131121530761</c:v>
                </c:pt>
              </c:numCache>
            </c:numRef>
          </c:val>
          <c:extLst>
            <c:ext xmlns:c16="http://schemas.microsoft.com/office/drawing/2014/chart" uri="{C3380CC4-5D6E-409C-BE32-E72D297353CC}">
              <c16:uniqueId val="{0000000B-B180-4502-9B86-6E517868A0C5}"/>
            </c:ext>
          </c:extLst>
        </c:ser>
        <c:dLbls>
          <c:showLegendKey val="0"/>
          <c:showVal val="0"/>
          <c:showCatName val="0"/>
          <c:showSerName val="0"/>
          <c:showPercent val="0"/>
          <c:showBubbleSize val="0"/>
        </c:dLbls>
        <c:gapWidth val="50"/>
        <c:overlap val="100"/>
        <c:axId val="207133584"/>
        <c:axId val="207148816"/>
      </c:barChart>
      <c:catAx>
        <c:axId val="2071335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48816"/>
        <c:crosses val="autoZero"/>
        <c:auto val="1"/>
        <c:lblAlgn val="ctr"/>
        <c:lblOffset val="100"/>
        <c:noMultiLvlLbl val="0"/>
      </c:catAx>
      <c:valAx>
        <c:axId val="207148816"/>
        <c:scaling>
          <c:orientation val="minMax"/>
        </c:scaling>
        <c:delete val="1"/>
        <c:axPos val="l"/>
        <c:numFmt formatCode="_ * #,##0.0_ ;_ * \-#,##0.0_ ;_ * &quot;-&quot;??_ ;_ @_ " sourceLinked="1"/>
        <c:majorTickMark val="none"/>
        <c:minorTickMark val="none"/>
        <c:tickLblPos val="nextTo"/>
        <c:crossAx val="207133584"/>
        <c:crosses val="autoZero"/>
        <c:crossBetween val="between"/>
      </c:valAx>
      <c:spPr>
        <a:noFill/>
        <a:ln>
          <a:noFill/>
        </a:ln>
        <a:effectLst/>
      </c:spPr>
    </c:plotArea>
    <c:legend>
      <c:legendPos val="b"/>
      <c:layout>
        <c:manualLayout>
          <c:xMode val="edge"/>
          <c:yMode val="edge"/>
          <c:x val="0"/>
          <c:y val="0.90279690245330901"/>
          <c:w val="1"/>
          <c:h val="9.7203097546690959E-2"/>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1722-4F33-A3C6-59C57B6C6F36}"/>
              </c:ext>
            </c:extLst>
          </c:dPt>
          <c:dPt>
            <c:idx val="1"/>
            <c:invertIfNegative val="0"/>
            <c:bubble3D val="0"/>
            <c:spPr>
              <a:noFill/>
              <a:ln>
                <a:noFill/>
              </a:ln>
              <a:effectLst/>
            </c:spPr>
            <c:extLst>
              <c:ext xmlns:c16="http://schemas.microsoft.com/office/drawing/2014/chart" uri="{C3380CC4-5D6E-409C-BE32-E72D297353CC}">
                <c16:uniqueId val="{00000003-1722-4F33-A3C6-59C57B6C6F36}"/>
              </c:ext>
            </c:extLst>
          </c:dPt>
          <c:dPt>
            <c:idx val="2"/>
            <c:invertIfNegative val="0"/>
            <c:bubble3D val="0"/>
            <c:spPr>
              <a:solidFill>
                <a:srgbClr val="9E7E0A"/>
              </a:solidFill>
              <a:ln>
                <a:noFill/>
              </a:ln>
              <a:effectLst/>
            </c:spPr>
            <c:extLst>
              <c:ext xmlns:c16="http://schemas.microsoft.com/office/drawing/2014/chart" uri="{C3380CC4-5D6E-409C-BE32-E72D297353CC}">
                <c16:uniqueId val="{00000005-1722-4F33-A3C6-59C57B6C6F36}"/>
              </c:ext>
            </c:extLst>
          </c:dPt>
          <c:dPt>
            <c:idx val="3"/>
            <c:invertIfNegative val="0"/>
            <c:bubble3D val="0"/>
            <c:spPr>
              <a:noFill/>
              <a:ln>
                <a:noFill/>
              </a:ln>
              <a:effectLst/>
            </c:spPr>
            <c:extLst>
              <c:ext xmlns:c16="http://schemas.microsoft.com/office/drawing/2014/chart" uri="{C3380CC4-5D6E-409C-BE32-E72D297353CC}">
                <c16:uniqueId val="{00000007-1722-4F33-A3C6-59C57B6C6F36}"/>
              </c:ext>
            </c:extLst>
          </c:dPt>
          <c:dPt>
            <c:idx val="4"/>
            <c:invertIfNegative val="0"/>
            <c:bubble3D val="0"/>
            <c:spPr>
              <a:noFill/>
              <a:ln>
                <a:noFill/>
              </a:ln>
              <a:effectLst/>
            </c:spPr>
            <c:extLst>
              <c:ext xmlns:c16="http://schemas.microsoft.com/office/drawing/2014/chart" uri="{C3380CC4-5D6E-409C-BE32-E72D297353CC}">
                <c16:uniqueId val="{00000009-1722-4F33-A3C6-59C57B6C6F36}"/>
              </c:ext>
            </c:extLst>
          </c:dPt>
          <c:dPt>
            <c:idx val="5"/>
            <c:invertIfNegative val="0"/>
            <c:bubble3D val="0"/>
            <c:spPr>
              <a:noFill/>
              <a:ln>
                <a:noFill/>
              </a:ln>
              <a:effectLst/>
            </c:spPr>
            <c:extLst>
              <c:ext xmlns:c16="http://schemas.microsoft.com/office/drawing/2014/chart" uri="{C3380CC4-5D6E-409C-BE32-E72D297353CC}">
                <c16:uniqueId val="{0000000B-1722-4F33-A3C6-59C57B6C6F36}"/>
              </c:ext>
            </c:extLst>
          </c:dPt>
          <c:dPt>
            <c:idx val="6"/>
            <c:invertIfNegative val="0"/>
            <c:bubble3D val="0"/>
            <c:spPr>
              <a:noFill/>
              <a:ln>
                <a:noFill/>
              </a:ln>
              <a:effectLst/>
            </c:spPr>
            <c:extLst>
              <c:ext xmlns:c16="http://schemas.microsoft.com/office/drawing/2014/chart" uri="{C3380CC4-5D6E-409C-BE32-E72D297353CC}">
                <c16:uniqueId val="{0000000D-1722-4F33-A3C6-59C57B6C6F36}"/>
              </c:ext>
            </c:extLst>
          </c:dPt>
          <c:dPt>
            <c:idx val="7"/>
            <c:invertIfNegative val="0"/>
            <c:bubble3D val="0"/>
            <c:spPr>
              <a:noFill/>
              <a:ln>
                <a:noFill/>
              </a:ln>
              <a:effectLst/>
            </c:spPr>
            <c:extLst>
              <c:ext xmlns:c16="http://schemas.microsoft.com/office/drawing/2014/chart" uri="{C3380CC4-5D6E-409C-BE32-E72D297353CC}">
                <c16:uniqueId val="{0000000F-1722-4F33-A3C6-59C57B6C6F36}"/>
              </c:ext>
            </c:extLst>
          </c:dPt>
          <c:dPt>
            <c:idx val="8"/>
            <c:invertIfNegative val="0"/>
            <c:bubble3D val="0"/>
            <c:spPr>
              <a:noFill/>
              <a:ln>
                <a:noFill/>
              </a:ln>
              <a:effectLst/>
            </c:spPr>
            <c:extLst>
              <c:ext xmlns:c16="http://schemas.microsoft.com/office/drawing/2014/chart" uri="{C3380CC4-5D6E-409C-BE32-E72D297353CC}">
                <c16:uniqueId val="{00000011-1722-4F33-A3C6-59C57B6C6F36}"/>
              </c:ext>
            </c:extLst>
          </c:dPt>
          <c:dPt>
            <c:idx val="9"/>
            <c:invertIfNegative val="0"/>
            <c:bubble3D val="0"/>
            <c:spPr>
              <a:noFill/>
              <a:ln>
                <a:noFill/>
              </a:ln>
              <a:effectLst/>
            </c:spPr>
            <c:extLst>
              <c:ext xmlns:c16="http://schemas.microsoft.com/office/drawing/2014/chart" uri="{C3380CC4-5D6E-409C-BE32-E72D297353CC}">
                <c16:uniqueId val="{00000013-1722-4F33-A3C6-59C57B6C6F36}"/>
              </c:ext>
            </c:extLst>
          </c:dPt>
          <c:dPt>
            <c:idx val="10"/>
            <c:invertIfNegative val="0"/>
            <c:bubble3D val="0"/>
            <c:spPr>
              <a:noFill/>
              <a:ln>
                <a:noFill/>
              </a:ln>
              <a:effectLst/>
            </c:spPr>
            <c:extLst>
              <c:ext xmlns:c16="http://schemas.microsoft.com/office/drawing/2014/chart" uri="{C3380CC4-5D6E-409C-BE32-E72D297353CC}">
                <c16:uniqueId val="{00000015-1722-4F33-A3C6-59C57B6C6F36}"/>
              </c:ext>
            </c:extLst>
          </c:dPt>
          <c:dPt>
            <c:idx val="11"/>
            <c:invertIfNegative val="0"/>
            <c:bubble3D val="0"/>
            <c:spPr>
              <a:noFill/>
              <a:ln>
                <a:noFill/>
              </a:ln>
              <a:effectLst/>
            </c:spPr>
            <c:extLst>
              <c:ext xmlns:c16="http://schemas.microsoft.com/office/drawing/2014/chart" uri="{C3380CC4-5D6E-409C-BE32-E72D297353CC}">
                <c16:uniqueId val="{00000017-1722-4F33-A3C6-59C57B6C6F36}"/>
              </c:ext>
            </c:extLst>
          </c:dPt>
          <c:dPt>
            <c:idx val="12"/>
            <c:invertIfNegative val="0"/>
            <c:bubble3D val="0"/>
            <c:spPr>
              <a:noFill/>
              <a:ln>
                <a:noFill/>
              </a:ln>
              <a:effectLst/>
            </c:spPr>
            <c:extLst>
              <c:ext xmlns:c16="http://schemas.microsoft.com/office/drawing/2014/chart" uri="{C3380CC4-5D6E-409C-BE32-E72D297353CC}">
                <c16:uniqueId val="{00000019-1722-4F33-A3C6-59C57B6C6F36}"/>
              </c:ext>
            </c:extLst>
          </c:dPt>
          <c:dPt>
            <c:idx val="13"/>
            <c:invertIfNegative val="0"/>
            <c:bubble3D val="0"/>
            <c:spPr>
              <a:solidFill>
                <a:srgbClr val="2A5F8F"/>
              </a:solidFill>
              <a:ln>
                <a:noFill/>
              </a:ln>
              <a:effectLst/>
            </c:spPr>
            <c:extLst>
              <c:ext xmlns:c16="http://schemas.microsoft.com/office/drawing/2014/chart" uri="{C3380CC4-5D6E-409C-BE32-E72D297353CC}">
                <c16:uniqueId val="{0000001B-1722-4F33-A3C6-59C57B6C6F36}"/>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9.3147758164037526</c:v>
                </c:pt>
                <c:pt idx="1">
                  <c:v>9.3147758164037526</c:v>
                </c:pt>
                <c:pt idx="2">
                  <c:v>10.105301959682805</c:v>
                </c:pt>
                <c:pt idx="3">
                  <c:v>10.105301959682805</c:v>
                </c:pt>
                <c:pt idx="4">
                  <c:v>10.543542155425541</c:v>
                </c:pt>
                <c:pt idx="5">
                  <c:v>10.997954627278178</c:v>
                </c:pt>
                <c:pt idx="6">
                  <c:v>11.479778537252098</c:v>
                </c:pt>
                <c:pt idx="7">
                  <c:v>12.009101125277244</c:v>
                </c:pt>
                <c:pt idx="8">
                  <c:v>12.587238152391194</c:v>
                </c:pt>
                <c:pt idx="9">
                  <c:v>13.21334290235696</c:v>
                </c:pt>
                <c:pt idx="10">
                  <c:v>13.862447895049932</c:v>
                </c:pt>
                <c:pt idx="11">
                  <c:v>14.512025402275682</c:v>
                </c:pt>
                <c:pt idx="12">
                  <c:v>15.178014403425168</c:v>
                </c:pt>
                <c:pt idx="13">
                  <c:v>16.548458140869769</c:v>
                </c:pt>
              </c:numCache>
            </c:numRef>
          </c:val>
          <c:extLst>
            <c:ext xmlns:c16="http://schemas.microsoft.com/office/drawing/2014/chart" uri="{C3380CC4-5D6E-409C-BE32-E72D297353CC}">
              <c16:uniqueId val="{0000001C-1722-4F33-A3C6-59C57B6C6F36}"/>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0.79052614327905246</c:v>
                </c:pt>
                <c:pt idx="3">
                  <c:v>0.4382401957427362</c:v>
                </c:pt>
                <c:pt idx="4">
                  <c:v>0.45441247185263656</c:v>
                </c:pt>
                <c:pt idx="5">
                  <c:v>0.48182390997392055</c:v>
                </c:pt>
                <c:pt idx="6">
                  <c:v>0.52932258802514554</c:v>
                </c:pt>
                <c:pt idx="7">
                  <c:v>0.5781370271139501</c:v>
                </c:pt>
                <c:pt idx="8">
                  <c:v>0.62610474996576571</c:v>
                </c:pt>
                <c:pt idx="9">
                  <c:v>0.64910499269297262</c:v>
                </c:pt>
                <c:pt idx="10">
                  <c:v>0.64957750722575014</c:v>
                </c:pt>
                <c:pt idx="11">
                  <c:v>0.66598900114948556</c:v>
                </c:pt>
                <c:pt idx="12">
                  <c:v>0.67992822293363631</c:v>
                </c:pt>
              </c:numCache>
            </c:numRef>
          </c:val>
          <c:extLst>
            <c:ext xmlns:c16="http://schemas.microsoft.com/office/drawing/2014/chart" uri="{C3380CC4-5D6E-409C-BE32-E72D297353CC}">
              <c16:uniqueId val="{0000001D-1722-4F33-A3C6-59C57B6C6F36}"/>
            </c:ext>
          </c:extLst>
        </c:ser>
        <c:dLbls>
          <c:showLegendKey val="0"/>
          <c:showVal val="0"/>
          <c:showCatName val="0"/>
          <c:showSerName val="0"/>
          <c:showPercent val="0"/>
          <c:showBubbleSize val="0"/>
        </c:dLbls>
        <c:gapWidth val="50"/>
        <c:overlap val="100"/>
        <c:axId val="207139024"/>
        <c:axId val="207125968"/>
      </c:barChart>
      <c:catAx>
        <c:axId val="2071390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25968"/>
        <c:crosses val="autoZero"/>
        <c:auto val="1"/>
        <c:lblAlgn val="ctr"/>
        <c:lblOffset val="100"/>
        <c:noMultiLvlLbl val="0"/>
      </c:catAx>
      <c:valAx>
        <c:axId val="207125968"/>
        <c:scaling>
          <c:orientation val="minMax"/>
        </c:scaling>
        <c:delete val="1"/>
        <c:axPos val="l"/>
        <c:numFmt formatCode="0.0" sourceLinked="1"/>
        <c:majorTickMark val="none"/>
        <c:minorTickMark val="none"/>
        <c:tickLblPos val="nextTo"/>
        <c:crossAx val="207139024"/>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910917822963"/>
          <c:y val="4.0225179225868664E-2"/>
          <c:w val="0.87507556483913373"/>
          <c:h val="0.65061484798850733"/>
        </c:manualLayout>
      </c:layout>
      <c:lineChart>
        <c:grouping val="standard"/>
        <c:varyColors val="0"/>
        <c:ser>
          <c:idx val="0"/>
          <c:order val="0"/>
          <c:tx>
            <c:strRef>
              <c:f>Sheet1!$B$1</c:f>
              <c:strCache>
                <c:ptCount val="1"/>
                <c:pt idx="0">
                  <c:v>Russia</c:v>
                </c:pt>
              </c:strCache>
            </c:strRef>
          </c:tx>
          <c:spPr>
            <a:ln w="28575" cap="rnd">
              <a:solidFill>
                <a:schemeClr val="accent1"/>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Sheet1!$B$2:$B$12</c:f>
              <c:numCache>
                <c:formatCode>0.0%</c:formatCode>
                <c:ptCount val="11"/>
                <c:pt idx="0">
                  <c:v>5.1500000000000004E-2</c:v>
                </c:pt>
                <c:pt idx="1">
                  <c:v>5.4166666666666669E-2</c:v>
                </c:pt>
                <c:pt idx="2">
                  <c:v>5.7000000000000009E-2</c:v>
                </c:pt>
                <c:pt idx="3">
                  <c:v>5.9333333333333335E-2</c:v>
                </c:pt>
                <c:pt idx="4">
                  <c:v>6.1166666666666675E-2</c:v>
                </c:pt>
                <c:pt idx="5">
                  <c:v>6.2833333333333338E-2</c:v>
                </c:pt>
                <c:pt idx="6">
                  <c:v>6.483333333333334E-2</c:v>
                </c:pt>
                <c:pt idx="7">
                  <c:v>6.7166666666666666E-2</c:v>
                </c:pt>
                <c:pt idx="8">
                  <c:v>6.8833333333333344E-2</c:v>
                </c:pt>
                <c:pt idx="9">
                  <c:v>6.9000000000000006E-2</c:v>
                </c:pt>
                <c:pt idx="10">
                  <c:v>6.7666666666666667E-2</c:v>
                </c:pt>
              </c:numCache>
            </c:numRef>
          </c:val>
          <c:smooth val="1"/>
          <c:extLst>
            <c:ext xmlns:c16="http://schemas.microsoft.com/office/drawing/2014/chart" uri="{C3380CC4-5D6E-409C-BE32-E72D297353CC}">
              <c16:uniqueId val="{00000000-2445-4828-88B9-542AE03E45CE}"/>
            </c:ext>
          </c:extLst>
        </c:ser>
        <c:ser>
          <c:idx val="1"/>
          <c:order val="1"/>
          <c:tx>
            <c:strRef>
              <c:f>Sheet1!$C$1</c:f>
              <c:strCache>
                <c:ptCount val="1"/>
                <c:pt idx="0">
                  <c:v>Hungary</c:v>
                </c:pt>
              </c:strCache>
            </c:strRef>
          </c:tx>
          <c:spPr>
            <a:ln w="28575" cap="rnd">
              <a:solidFill>
                <a:schemeClr val="accent2"/>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Sheet1!$C$2:$C$12</c:f>
              <c:numCache>
                <c:formatCode>0.0%</c:formatCode>
                <c:ptCount val="11"/>
                <c:pt idx="0">
                  <c:v>5.116830281459997E-2</c:v>
                </c:pt>
                <c:pt idx="1">
                  <c:v>5.1290221555306513E-2</c:v>
                </c:pt>
                <c:pt idx="2">
                  <c:v>5.1395302571985553E-2</c:v>
                </c:pt>
                <c:pt idx="3">
                  <c:v>5.151160873801626E-2</c:v>
                </c:pt>
                <c:pt idx="4">
                  <c:v>5.1620431471145853E-2</c:v>
                </c:pt>
                <c:pt idx="5">
                  <c:v>5.1734243159542857E-2</c:v>
                </c:pt>
                <c:pt idx="6">
                  <c:v>5.1844728877761585E-2</c:v>
                </c:pt>
                <c:pt idx="7">
                  <c:v>5.1961866536336859E-2</c:v>
                </c:pt>
                <c:pt idx="8">
                  <c:v>5.2074569568007774E-2</c:v>
                </c:pt>
                <c:pt idx="9">
                  <c:v>5.2190229017614928E-2</c:v>
                </c:pt>
                <c:pt idx="10">
                  <c:v>5.2299975631349596E-2</c:v>
                </c:pt>
              </c:numCache>
            </c:numRef>
          </c:val>
          <c:smooth val="1"/>
          <c:extLst>
            <c:ext xmlns:c16="http://schemas.microsoft.com/office/drawing/2014/chart" uri="{C3380CC4-5D6E-409C-BE32-E72D297353CC}">
              <c16:uniqueId val="{00000001-2445-4828-88B9-542AE03E45CE}"/>
            </c:ext>
          </c:extLst>
        </c:ser>
        <c:ser>
          <c:idx val="2"/>
          <c:order val="2"/>
          <c:tx>
            <c:strRef>
              <c:f>Sheet1!$D$1</c:f>
              <c:strCache>
                <c:ptCount val="1"/>
                <c:pt idx="0">
                  <c:v>Poland</c:v>
                </c:pt>
              </c:strCache>
            </c:strRef>
          </c:tx>
          <c:spPr>
            <a:ln w="28575" cap="rnd">
              <a:solidFill>
                <a:schemeClr val="accent3"/>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Sheet1!$D$2:$D$12</c:f>
              <c:numCache>
                <c:formatCode>0.0%</c:formatCode>
                <c:ptCount val="11"/>
                <c:pt idx="0">
                  <c:v>5.0610918051856614E-2</c:v>
                </c:pt>
                <c:pt idx="1">
                  <c:v>5.1425475454332091E-2</c:v>
                </c:pt>
                <c:pt idx="2">
                  <c:v>5.2138213181498139E-2</c:v>
                </c:pt>
                <c:pt idx="3">
                  <c:v>5.274913123335475E-2</c:v>
                </c:pt>
                <c:pt idx="4">
                  <c:v>5.2850950908664179E-2</c:v>
                </c:pt>
                <c:pt idx="5">
                  <c:v>5.2647311558045314E-2</c:v>
                </c:pt>
                <c:pt idx="6">
                  <c:v>5.2036393506188702E-2</c:v>
                </c:pt>
                <c:pt idx="7">
                  <c:v>5.1323655779022655E-2</c:v>
                </c:pt>
                <c:pt idx="8">
                  <c:v>5.0610918051856614E-2</c:v>
                </c:pt>
                <c:pt idx="9">
                  <c:v>0.05</c:v>
                </c:pt>
                <c:pt idx="10">
                  <c:v>4.9490901623452828E-2</c:v>
                </c:pt>
              </c:numCache>
            </c:numRef>
          </c:val>
          <c:smooth val="1"/>
          <c:extLst>
            <c:ext xmlns:c16="http://schemas.microsoft.com/office/drawing/2014/chart" uri="{C3380CC4-5D6E-409C-BE32-E72D297353CC}">
              <c16:uniqueId val="{00000002-2445-4828-88B9-542AE03E45CE}"/>
            </c:ext>
          </c:extLst>
        </c:ser>
        <c:ser>
          <c:idx val="3"/>
          <c:order val="3"/>
          <c:tx>
            <c:strRef>
              <c:f>Sheet1!$E$1</c:f>
              <c:strCache>
                <c:ptCount val="1"/>
                <c:pt idx="0">
                  <c:v>Balkan &amp; Baltics</c:v>
                </c:pt>
              </c:strCache>
            </c:strRef>
          </c:tx>
          <c:spPr>
            <a:ln w="28575" cap="rnd">
              <a:solidFill>
                <a:schemeClr val="accent4"/>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Sheet1!$E$2:$E$12</c:f>
              <c:numCache>
                <c:formatCode>0.0%</c:formatCode>
                <c:ptCount val="11"/>
                <c:pt idx="0">
                  <c:v>5.3000000000000005E-2</c:v>
                </c:pt>
                <c:pt idx="1">
                  <c:v>5.5000000000000007E-2</c:v>
                </c:pt>
                <c:pt idx="2">
                  <c:v>5.7333333333333347E-2</c:v>
                </c:pt>
                <c:pt idx="3">
                  <c:v>5.9666666666666673E-2</c:v>
                </c:pt>
                <c:pt idx="4">
                  <c:v>6.3666666666666663E-2</c:v>
                </c:pt>
                <c:pt idx="5">
                  <c:v>6.8000000000000005E-2</c:v>
                </c:pt>
                <c:pt idx="6">
                  <c:v>6.7906765085174334E-2</c:v>
                </c:pt>
                <c:pt idx="7">
                  <c:v>6.6841312562606461E-2</c:v>
                </c:pt>
                <c:pt idx="8">
                  <c:v>6.5666666666666665E-2</c:v>
                </c:pt>
                <c:pt idx="9">
                  <c:v>6.4147353367754692E-2</c:v>
                </c:pt>
                <c:pt idx="10">
                  <c:v>6.0424365639398202E-2</c:v>
                </c:pt>
              </c:numCache>
            </c:numRef>
          </c:val>
          <c:smooth val="0"/>
          <c:extLst>
            <c:ext xmlns:c16="http://schemas.microsoft.com/office/drawing/2014/chart" uri="{C3380CC4-5D6E-409C-BE32-E72D297353CC}">
              <c16:uniqueId val="{00000003-2445-4828-88B9-542AE03E45CE}"/>
            </c:ext>
          </c:extLst>
        </c:ser>
        <c:ser>
          <c:idx val="4"/>
          <c:order val="4"/>
          <c:tx>
            <c:strRef>
              <c:f>Sheet1!$F$1</c:f>
              <c:strCache>
                <c:ptCount val="1"/>
                <c:pt idx="0">
                  <c:v>Rest of E. Europe</c:v>
                </c:pt>
              </c:strCache>
            </c:strRef>
          </c:tx>
          <c:spPr>
            <a:ln w="28575" cap="rnd">
              <a:solidFill>
                <a:schemeClr val="accent5"/>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Sheet1!$F$2:$F$12</c:f>
              <c:numCache>
                <c:formatCode>0.0%</c:formatCode>
                <c:ptCount val="11"/>
                <c:pt idx="0">
                  <c:v>5.1263578005607567E-2</c:v>
                </c:pt>
                <c:pt idx="1">
                  <c:v>5.2412285283432627E-2</c:v>
                </c:pt>
                <c:pt idx="2">
                  <c:v>5.3446121833475177E-2</c:v>
                </c:pt>
                <c:pt idx="3">
                  <c:v>5.3905604744605207E-2</c:v>
                </c:pt>
                <c:pt idx="4">
                  <c:v>5.3905604744605207E-2</c:v>
                </c:pt>
                <c:pt idx="5">
                  <c:v>5.3101509650127658E-2</c:v>
                </c:pt>
                <c:pt idx="6">
                  <c:v>5.2297414555650117E-2</c:v>
                </c:pt>
                <c:pt idx="7">
                  <c:v>5.1493319461172575E-2</c:v>
                </c:pt>
                <c:pt idx="8">
                  <c:v>5.068922436669504E-2</c:v>
                </c:pt>
                <c:pt idx="9">
                  <c:v>4.9770258544434988E-2</c:v>
                </c:pt>
                <c:pt idx="10">
                  <c:v>4.8736421994392438E-2</c:v>
                </c:pt>
              </c:numCache>
            </c:numRef>
          </c:val>
          <c:smooth val="0"/>
          <c:extLst>
            <c:ext xmlns:c16="http://schemas.microsoft.com/office/drawing/2014/chart" uri="{C3380CC4-5D6E-409C-BE32-E72D297353CC}">
              <c16:uniqueId val="{00000004-2445-4828-88B9-542AE03E45CE}"/>
            </c:ext>
          </c:extLst>
        </c:ser>
        <c:dLbls>
          <c:showLegendKey val="0"/>
          <c:showVal val="0"/>
          <c:showCatName val="0"/>
          <c:showSerName val="0"/>
          <c:showPercent val="0"/>
          <c:showBubbleSize val="0"/>
        </c:dLbls>
        <c:smooth val="0"/>
        <c:axId val="207134128"/>
        <c:axId val="207126512"/>
      </c:lineChart>
      <c:catAx>
        <c:axId val="207134128"/>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26512"/>
        <c:crossesAt val="-3.5000000000000003E-2"/>
        <c:auto val="1"/>
        <c:lblAlgn val="ctr"/>
        <c:lblOffset val="100"/>
        <c:noMultiLvlLbl val="0"/>
      </c:catAx>
      <c:valAx>
        <c:axId val="207126512"/>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207134128"/>
        <c:crosses val="autoZero"/>
        <c:crossBetween val="between"/>
      </c:valAx>
      <c:spPr>
        <a:noFill/>
        <a:ln w="25400">
          <a:noFill/>
        </a:ln>
        <a:effectLst/>
      </c:spPr>
    </c:plotArea>
    <c:legend>
      <c:legendPos val="b"/>
      <c:layout>
        <c:manualLayout>
          <c:xMode val="edge"/>
          <c:yMode val="edge"/>
          <c:x val="0"/>
          <c:y val="0.81733067057011788"/>
          <c:w val="0.99545003202662974"/>
          <c:h val="0.1579139027801206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12700">
      <a:noFill/>
    </a:ln>
    <a:effectLst/>
  </c:spPr>
  <c:txPr>
    <a:bodyPr/>
    <a:lstStyle/>
    <a:p>
      <a:pPr>
        <a:defRPr sz="1100">
          <a:solidFill>
            <a:schemeClr val="tx1"/>
          </a:solidFill>
        </a:defRPr>
      </a:pPr>
      <a:endParaRPr lang="en-US"/>
    </a:p>
  </c:txPr>
  <c:externalData r:id="rId3">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193926521544815"/>
          <c:y val="3.2403000316204716E-2"/>
          <c:w val="0.7016005889076895"/>
          <c:h val="0.82090372344009988"/>
        </c:manualLayout>
      </c:layout>
      <c:bubbleChart>
        <c:varyColors val="1"/>
        <c:ser>
          <c:idx val="0"/>
          <c:order val="0"/>
          <c:tx>
            <c:strRef>
              <c:f>Sheet1!$C$1</c:f>
              <c:strCache>
                <c:ptCount val="1"/>
                <c:pt idx="0">
                  <c:v>Y-Values</c:v>
                </c:pt>
              </c:strCache>
            </c:strRef>
          </c:tx>
          <c:invertIfNegative val="0"/>
          <c:dPt>
            <c:idx val="0"/>
            <c:invertIfNegative val="0"/>
            <c:bubble3D val="0"/>
            <c:spPr>
              <a:solidFill>
                <a:schemeClr val="accent1">
                  <a:alpha val="75000"/>
                </a:schemeClr>
              </a:solidFill>
              <a:ln>
                <a:noFill/>
              </a:ln>
              <a:effectLst/>
            </c:spPr>
            <c:extLst>
              <c:ext xmlns:c16="http://schemas.microsoft.com/office/drawing/2014/chart" uri="{C3380CC4-5D6E-409C-BE32-E72D297353CC}">
                <c16:uniqueId val="{00000001-0AD9-4172-90D6-873ACD6AEE6B}"/>
              </c:ext>
            </c:extLst>
          </c:dPt>
          <c:dPt>
            <c:idx val="1"/>
            <c:invertIfNegative val="0"/>
            <c:bubble3D val="0"/>
            <c:spPr>
              <a:solidFill>
                <a:schemeClr val="accent2">
                  <a:alpha val="75000"/>
                </a:schemeClr>
              </a:solidFill>
              <a:ln>
                <a:noFill/>
              </a:ln>
              <a:effectLst/>
            </c:spPr>
            <c:extLst>
              <c:ext xmlns:c16="http://schemas.microsoft.com/office/drawing/2014/chart" uri="{C3380CC4-5D6E-409C-BE32-E72D297353CC}">
                <c16:uniqueId val="{00000003-0AD9-4172-90D6-873ACD6AEE6B}"/>
              </c:ext>
            </c:extLst>
          </c:dPt>
          <c:dPt>
            <c:idx val="2"/>
            <c:invertIfNegative val="0"/>
            <c:bubble3D val="0"/>
            <c:spPr>
              <a:solidFill>
                <a:schemeClr val="accent3">
                  <a:alpha val="75000"/>
                </a:schemeClr>
              </a:solidFill>
              <a:ln>
                <a:noFill/>
              </a:ln>
              <a:effectLst/>
            </c:spPr>
            <c:extLst>
              <c:ext xmlns:c16="http://schemas.microsoft.com/office/drawing/2014/chart" uri="{C3380CC4-5D6E-409C-BE32-E72D297353CC}">
                <c16:uniqueId val="{00000005-0AD9-4172-90D6-873ACD6AEE6B}"/>
              </c:ext>
            </c:extLst>
          </c:dPt>
          <c:xVal>
            <c:numRef>
              <c:f>Sheet1!$B$2:$B$6</c:f>
              <c:numCache>
                <c:formatCode>_(* #,##0.0_);_(* \(#,##0.0\);_(* "-"??_);_(@_)</c:formatCode>
                <c:ptCount val="5"/>
                <c:pt idx="0">
                  <c:v>1.2484641180451868</c:v>
                </c:pt>
                <c:pt idx="1">
                  <c:v>1.171505207157916</c:v>
                </c:pt>
                <c:pt idx="2">
                  <c:v>1.0385803668462259</c:v>
                </c:pt>
                <c:pt idx="3">
                  <c:v>0.8540767341237564</c:v>
                </c:pt>
                <c:pt idx="4">
                  <c:v>0.94499279054581786</c:v>
                </c:pt>
              </c:numCache>
            </c:numRef>
          </c:xVal>
          <c:yVal>
            <c:numRef>
              <c:f>Sheet1!$C$2:$C$6</c:f>
              <c:numCache>
                <c:formatCode>_(* #,##0.0_);_(* \(#,##0.0\);_(* "-"??_);_(@_)</c:formatCode>
                <c:ptCount val="5"/>
                <c:pt idx="0">
                  <c:v>3.671570117770909</c:v>
                </c:pt>
                <c:pt idx="1">
                  <c:v>2.9587134526586683</c:v>
                </c:pt>
                <c:pt idx="2">
                  <c:v>1.1164555835041849</c:v>
                </c:pt>
                <c:pt idx="3">
                  <c:v>0.48692863262276331</c:v>
                </c:pt>
                <c:pt idx="4">
                  <c:v>0.45016276201520544</c:v>
                </c:pt>
              </c:numCache>
            </c:numRef>
          </c:yVal>
          <c:bubbleSize>
            <c:numRef>
              <c:f>Sheet1!$D$2:$D$6</c:f>
              <c:numCache>
                <c:formatCode>_(* #,##0.0_);_(* \(#,##0.0\);_(* "-"??_);_(@_)</c:formatCode>
                <c:ptCount val="5"/>
                <c:pt idx="0">
                  <c:v>4.3273698868360606</c:v>
                </c:pt>
                <c:pt idx="1">
                  <c:v>3.2149946963903226</c:v>
                </c:pt>
                <c:pt idx="2">
                  <c:v>1.0433263518646889</c:v>
                </c:pt>
                <c:pt idx="3">
                  <c:v>0.35881944851425052</c:v>
                </c:pt>
                <c:pt idx="4">
                  <c:v>0.37469598908583379</c:v>
                </c:pt>
              </c:numCache>
            </c:numRef>
          </c:bubbleSize>
          <c:bubble3D val="0"/>
          <c:extLst>
            <c:ext xmlns:c16="http://schemas.microsoft.com/office/drawing/2014/chart" uri="{C3380CC4-5D6E-409C-BE32-E72D297353CC}">
              <c16:uniqueId val="{00000006-0AD9-4172-90D6-873ACD6AEE6B}"/>
            </c:ext>
          </c:extLst>
        </c:ser>
        <c:dLbls>
          <c:showLegendKey val="0"/>
          <c:showVal val="0"/>
          <c:showCatName val="0"/>
          <c:showSerName val="0"/>
          <c:showPercent val="0"/>
          <c:showBubbleSize val="0"/>
        </c:dLbls>
        <c:bubbleScale val="100"/>
        <c:showNegBubbles val="0"/>
        <c:axId val="207134672"/>
        <c:axId val="207128144"/>
      </c:bubbleChart>
      <c:valAx>
        <c:axId val="207134672"/>
        <c:scaling>
          <c:orientation val="minMax"/>
          <c:min val="0"/>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CAGR Index (2024 – 2034)</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128144"/>
        <c:crossesAt val="0"/>
        <c:crossBetween val="midCat"/>
      </c:valAx>
      <c:valAx>
        <c:axId val="207128144"/>
        <c:scaling>
          <c:orientation val="minMax"/>
          <c:min val="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Market Share Index (2024E)</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134672"/>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586017868029705E-2"/>
          <c:y val="5.6718815469420834E-2"/>
          <c:w val="0.92649309691078063"/>
          <c:h val="0.72664225195762067"/>
        </c:manualLayout>
      </c:layout>
      <c:barChart>
        <c:barDir val="col"/>
        <c:grouping val="percentStacked"/>
        <c:varyColors val="0"/>
        <c:ser>
          <c:idx val="0"/>
          <c:order val="0"/>
          <c:tx>
            <c:strRef>
              <c:f>Sheet1!$B$1</c:f>
              <c:strCache>
                <c:ptCount val="1"/>
                <c:pt idx="0">
                  <c:v>Russia</c:v>
                </c:pt>
              </c:strCache>
            </c:strRef>
          </c:tx>
          <c:spPr>
            <a:solidFill>
              <a:schemeClr val="accent1"/>
            </a:solidFill>
            <a:ln>
              <a:noFill/>
            </a:ln>
            <a:effectLst/>
          </c:spPr>
          <c:invertIfNegative val="0"/>
          <c:cat>
            <c:strRef>
              <c:f>Sheet1!$A$2:$A$3</c:f>
              <c:strCache>
                <c:ptCount val="2"/>
                <c:pt idx="0">
                  <c:v>2024E</c:v>
                </c:pt>
                <c:pt idx="1">
                  <c:v>2034F</c:v>
                </c:pt>
              </c:strCache>
            </c:strRef>
          </c:cat>
          <c:val>
            <c:numRef>
              <c:f>Sheet1!$B$2:$B$3</c:f>
              <c:numCache>
                <c:formatCode>0.0%</c:formatCode>
                <c:ptCount val="2"/>
                <c:pt idx="0">
                  <c:v>0.18</c:v>
                </c:pt>
                <c:pt idx="1">
                  <c:v>0.18</c:v>
                </c:pt>
              </c:numCache>
            </c:numRef>
          </c:val>
          <c:extLst>
            <c:ext xmlns:c16="http://schemas.microsoft.com/office/drawing/2014/chart" uri="{C3380CC4-5D6E-409C-BE32-E72D297353CC}">
              <c16:uniqueId val="{00000000-6445-4F91-B8B4-7121C669E721}"/>
            </c:ext>
          </c:extLst>
        </c:ser>
        <c:ser>
          <c:idx val="1"/>
          <c:order val="1"/>
          <c:tx>
            <c:strRef>
              <c:f>Sheet1!$C$1</c:f>
              <c:strCache>
                <c:ptCount val="1"/>
                <c:pt idx="0">
                  <c:v>Hungary</c:v>
                </c:pt>
              </c:strCache>
            </c:strRef>
          </c:tx>
          <c:spPr>
            <a:solidFill>
              <a:schemeClr val="accent2"/>
            </a:solidFill>
            <a:ln>
              <a:noFill/>
            </a:ln>
            <a:effectLst/>
          </c:spPr>
          <c:invertIfNegative val="0"/>
          <c:cat>
            <c:strRef>
              <c:f>Sheet1!$A$2:$A$3</c:f>
              <c:strCache>
                <c:ptCount val="2"/>
                <c:pt idx="0">
                  <c:v>2024E</c:v>
                </c:pt>
                <c:pt idx="1">
                  <c:v>2034F</c:v>
                </c:pt>
              </c:strCache>
            </c:strRef>
          </c:cat>
          <c:val>
            <c:numRef>
              <c:f>Sheet1!$C$2:$C$3</c:f>
              <c:numCache>
                <c:formatCode>0.0%</c:formatCode>
                <c:ptCount val="2"/>
                <c:pt idx="0">
                  <c:v>0.06</c:v>
                </c:pt>
                <c:pt idx="1">
                  <c:v>0.06</c:v>
                </c:pt>
              </c:numCache>
            </c:numRef>
          </c:val>
          <c:extLst>
            <c:ext xmlns:c16="http://schemas.microsoft.com/office/drawing/2014/chart" uri="{C3380CC4-5D6E-409C-BE32-E72D297353CC}">
              <c16:uniqueId val="{00000001-6445-4F91-B8B4-7121C669E721}"/>
            </c:ext>
          </c:extLst>
        </c:ser>
        <c:ser>
          <c:idx val="2"/>
          <c:order val="2"/>
          <c:tx>
            <c:strRef>
              <c:f>Sheet1!$D$1</c:f>
              <c:strCache>
                <c:ptCount val="1"/>
                <c:pt idx="0">
                  <c:v>Poland</c:v>
                </c:pt>
              </c:strCache>
            </c:strRef>
          </c:tx>
          <c:spPr>
            <a:solidFill>
              <a:schemeClr val="accent3"/>
            </a:solidFill>
            <a:ln>
              <a:noFill/>
            </a:ln>
            <a:effectLst/>
          </c:spPr>
          <c:invertIfNegative val="0"/>
          <c:cat>
            <c:strRef>
              <c:f>Sheet1!$A$2:$A$3</c:f>
              <c:strCache>
                <c:ptCount val="2"/>
                <c:pt idx="0">
                  <c:v>2024E</c:v>
                </c:pt>
                <c:pt idx="1">
                  <c:v>2034F</c:v>
                </c:pt>
              </c:strCache>
            </c:strRef>
          </c:cat>
          <c:val>
            <c:numRef>
              <c:f>Sheet1!$D$2:$D$3</c:f>
              <c:numCache>
                <c:formatCode>0.0%</c:formatCode>
                <c:ptCount val="2"/>
                <c:pt idx="0">
                  <c:v>0.13</c:v>
                </c:pt>
                <c:pt idx="1">
                  <c:v>0.13</c:v>
                </c:pt>
              </c:numCache>
            </c:numRef>
          </c:val>
          <c:extLst>
            <c:ext xmlns:c16="http://schemas.microsoft.com/office/drawing/2014/chart" uri="{C3380CC4-5D6E-409C-BE32-E72D297353CC}">
              <c16:uniqueId val="{00000002-6445-4F91-B8B4-7121C669E721}"/>
            </c:ext>
          </c:extLst>
        </c:ser>
        <c:ser>
          <c:idx val="3"/>
          <c:order val="3"/>
          <c:tx>
            <c:strRef>
              <c:f>Sheet1!$E$1</c:f>
              <c:strCache>
                <c:ptCount val="1"/>
                <c:pt idx="0">
                  <c:v>Balkan &amp; Baltics</c:v>
                </c:pt>
              </c:strCache>
            </c:strRef>
          </c:tx>
          <c:spPr>
            <a:solidFill>
              <a:schemeClr val="accent4"/>
            </a:solidFill>
            <a:ln>
              <a:noFill/>
            </a:ln>
            <a:effectLst/>
          </c:spPr>
          <c:invertIfNegative val="0"/>
          <c:cat>
            <c:strRef>
              <c:f>Sheet1!$A$2:$A$3</c:f>
              <c:strCache>
                <c:ptCount val="2"/>
                <c:pt idx="0">
                  <c:v>2024E</c:v>
                </c:pt>
                <c:pt idx="1">
                  <c:v>2034F</c:v>
                </c:pt>
              </c:strCache>
            </c:strRef>
          </c:cat>
          <c:val>
            <c:numRef>
              <c:f>Sheet1!$E$2:$E$3</c:f>
              <c:numCache>
                <c:formatCode>0.0%</c:formatCode>
                <c:ptCount val="2"/>
                <c:pt idx="0">
                  <c:v>2.1999999999999999E-2</c:v>
                </c:pt>
                <c:pt idx="1">
                  <c:v>2.1999999999999999E-2</c:v>
                </c:pt>
              </c:numCache>
            </c:numRef>
          </c:val>
          <c:extLst>
            <c:ext xmlns:c16="http://schemas.microsoft.com/office/drawing/2014/chart" uri="{C3380CC4-5D6E-409C-BE32-E72D297353CC}">
              <c16:uniqueId val="{00000003-6445-4F91-B8B4-7121C669E721}"/>
            </c:ext>
          </c:extLst>
        </c:ser>
        <c:ser>
          <c:idx val="4"/>
          <c:order val="4"/>
          <c:tx>
            <c:strRef>
              <c:f>Sheet1!$F$1</c:f>
              <c:strCache>
                <c:ptCount val="1"/>
                <c:pt idx="0">
                  <c:v>Rest of E. Europe</c:v>
                </c:pt>
              </c:strCache>
            </c:strRef>
          </c:tx>
          <c:spPr>
            <a:solidFill>
              <a:schemeClr val="accent5"/>
            </a:solidFill>
            <a:ln>
              <a:noFill/>
            </a:ln>
            <a:effectLst/>
          </c:spPr>
          <c:invertIfNegative val="0"/>
          <c:cat>
            <c:strRef>
              <c:f>Sheet1!$A$2:$A$3</c:f>
              <c:strCache>
                <c:ptCount val="2"/>
                <c:pt idx="0">
                  <c:v>2024E</c:v>
                </c:pt>
                <c:pt idx="1">
                  <c:v>2034F</c:v>
                </c:pt>
              </c:strCache>
            </c:strRef>
          </c:cat>
          <c:val>
            <c:numRef>
              <c:f>Sheet1!$F$2:$F$3</c:f>
              <c:numCache>
                <c:formatCode>0.0%</c:formatCode>
                <c:ptCount val="2"/>
                <c:pt idx="0">
                  <c:v>0.32400000000000001</c:v>
                </c:pt>
                <c:pt idx="1">
                  <c:v>0.32400000000000001</c:v>
                </c:pt>
              </c:numCache>
            </c:numRef>
          </c:val>
          <c:extLst>
            <c:ext xmlns:c16="http://schemas.microsoft.com/office/drawing/2014/chart" uri="{C3380CC4-5D6E-409C-BE32-E72D297353CC}">
              <c16:uniqueId val="{00000004-6445-4F91-B8B4-7121C669E721}"/>
            </c:ext>
          </c:extLst>
        </c:ser>
        <c:dLbls>
          <c:showLegendKey val="0"/>
          <c:showVal val="0"/>
          <c:showCatName val="0"/>
          <c:showSerName val="0"/>
          <c:showPercent val="0"/>
          <c:showBubbleSize val="0"/>
        </c:dLbls>
        <c:gapWidth val="50"/>
        <c:overlap val="100"/>
        <c:axId val="207128688"/>
        <c:axId val="207129776"/>
      </c:barChart>
      <c:catAx>
        <c:axId val="2071286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207129776"/>
        <c:crosses val="autoZero"/>
        <c:auto val="1"/>
        <c:lblAlgn val="ctr"/>
        <c:lblOffset val="100"/>
        <c:noMultiLvlLbl val="0"/>
      </c:catAx>
      <c:valAx>
        <c:axId val="207129776"/>
        <c:scaling>
          <c:orientation val="minMax"/>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207128688"/>
        <c:crosses val="autoZero"/>
        <c:crossBetween val="between"/>
      </c:valAx>
      <c:spPr>
        <a:noFill/>
        <a:ln>
          <a:noFill/>
        </a:ln>
        <a:effectLst/>
      </c:spPr>
    </c:plotArea>
    <c:legend>
      <c:legendPos val="b"/>
      <c:layout>
        <c:manualLayout>
          <c:xMode val="edge"/>
          <c:yMode val="edge"/>
          <c:x val="0"/>
          <c:y val="0.83692483498304948"/>
          <c:w val="0.96582849637476864"/>
          <c:h val="0.14581545309600641"/>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
          <c:y val="0.10852747093249289"/>
          <c:w val="0.99129804205946337"/>
          <c:h val="0.58113392356708693"/>
        </c:manualLayout>
      </c:layout>
      <c:barChart>
        <c:barDir val="col"/>
        <c:grouping val="stacked"/>
        <c:varyColors val="0"/>
        <c:ser>
          <c:idx val="0"/>
          <c:order val="0"/>
          <c:tx>
            <c:strRef>
              <c:f>Sheet1!$B$1</c:f>
              <c:strCache>
                <c:ptCount val="1"/>
                <c:pt idx="0">
                  <c:v>Value (US$ Mn)</c:v>
                </c:pt>
              </c:strCache>
            </c:strRef>
          </c:tx>
          <c:spPr>
            <a:no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B180-4502-9B86-6E517868A0C5}"/>
              </c:ext>
            </c:extLst>
          </c:dPt>
          <c:dPt>
            <c:idx val="1"/>
            <c:invertIfNegative val="0"/>
            <c:bubble3D val="0"/>
            <c:spPr>
              <a:noFill/>
              <a:ln>
                <a:noFill/>
              </a:ln>
              <a:effectLst/>
            </c:spPr>
            <c:extLst>
              <c:ext xmlns:c16="http://schemas.microsoft.com/office/drawing/2014/chart" uri="{C3380CC4-5D6E-409C-BE32-E72D297353CC}">
                <c16:uniqueId val="{00000003-B180-4502-9B86-6E517868A0C5}"/>
              </c:ext>
            </c:extLst>
          </c:dPt>
          <c:dPt>
            <c:idx val="3"/>
            <c:invertIfNegative val="0"/>
            <c:bubble3D val="0"/>
            <c:spPr>
              <a:noFill/>
              <a:ln>
                <a:noFill/>
              </a:ln>
              <a:effectLst/>
            </c:spPr>
            <c:extLst>
              <c:ext xmlns:c16="http://schemas.microsoft.com/office/drawing/2014/chart" uri="{C3380CC4-5D6E-409C-BE32-E72D297353CC}">
                <c16:uniqueId val="{00000005-B180-4502-9B86-6E517868A0C5}"/>
              </c:ext>
            </c:extLst>
          </c:dPt>
          <c:dPt>
            <c:idx val="4"/>
            <c:invertIfNegative val="0"/>
            <c:bubble3D val="0"/>
            <c:spPr>
              <a:noFill/>
              <a:ln>
                <a:noFill/>
              </a:ln>
              <a:effectLst/>
            </c:spPr>
            <c:extLst>
              <c:ext xmlns:c16="http://schemas.microsoft.com/office/drawing/2014/chart" uri="{C3380CC4-5D6E-409C-BE32-E72D297353CC}">
                <c16:uniqueId val="{00000007-B180-4502-9B86-6E517868A0C5}"/>
              </c:ext>
            </c:extLst>
          </c:dPt>
          <c:dPt>
            <c:idx val="6"/>
            <c:invertIfNegative val="0"/>
            <c:bubble3D val="0"/>
            <c:spPr>
              <a:solidFill>
                <a:schemeClr val="accent1"/>
              </a:solidFill>
              <a:ln>
                <a:noFill/>
              </a:ln>
              <a:effectLst/>
            </c:spPr>
            <c:extLst>
              <c:ext xmlns:c16="http://schemas.microsoft.com/office/drawing/2014/chart" uri="{C3380CC4-5D6E-409C-BE32-E72D297353CC}">
                <c16:uniqueId val="{00000000-2625-4C29-AEF3-D21797C8F87D}"/>
              </c:ext>
            </c:extLst>
          </c:dPt>
          <c:dPt>
            <c:idx val="9"/>
            <c:invertIfNegative val="0"/>
            <c:bubble3D val="0"/>
            <c:spPr>
              <a:solidFill>
                <a:srgbClr val="2A5F8F"/>
              </a:solidFill>
              <a:ln>
                <a:noFill/>
              </a:ln>
              <a:effectLst/>
            </c:spPr>
            <c:extLst>
              <c:ext xmlns:c16="http://schemas.microsoft.com/office/drawing/2014/chart" uri="{C3380CC4-5D6E-409C-BE32-E72D297353CC}">
                <c16:uniqueId val="{00000009-B180-4502-9B86-6E517868A0C5}"/>
              </c:ext>
            </c:extLst>
          </c:dPt>
          <c:cat>
            <c:strRef>
              <c:f>Sheet1!$A$2:$A$10</c:f>
              <c:strCache>
                <c:ptCount val="7"/>
                <c:pt idx="0">
                  <c:v>2024E</c:v>
                </c:pt>
                <c:pt idx="1">
                  <c:v>Russia</c:v>
                </c:pt>
                <c:pt idx="2">
                  <c:v>Hungary</c:v>
                </c:pt>
                <c:pt idx="3">
                  <c:v>Poland</c:v>
                </c:pt>
                <c:pt idx="4">
                  <c:v>Balkan &amp; Baltics</c:v>
                </c:pt>
                <c:pt idx="5">
                  <c:v>Rest of E. Europe</c:v>
                </c:pt>
                <c:pt idx="6">
                  <c:v>2034F</c:v>
                </c:pt>
              </c:strCache>
            </c:strRef>
          </c:cat>
          <c:val>
            <c:numRef>
              <c:f>Sheet1!$B$2:$B$8</c:f>
              <c:numCache>
                <c:formatCode>0.0</c:formatCode>
                <c:ptCount val="7"/>
                <c:pt idx="0" formatCode="_ * #,##0.0_ ;_ * \-#,##0.0_ ;_ * &quot;-&quot;??_ ;_ @_ ">
                  <c:v>2923.4059275946483</c:v>
                </c:pt>
                <c:pt idx="1">
                  <c:v>2923.4059275946483</c:v>
                </c:pt>
                <c:pt idx="2">
                  <c:v>4854.3414903614057</c:v>
                </c:pt>
                <c:pt idx="3">
                  <c:v>6753.1488417978908</c:v>
                </c:pt>
                <c:pt idx="4">
                  <c:v>8619.8279819041036</c:v>
                </c:pt>
                <c:pt idx="5">
                  <c:v>10454.378910680045</c:v>
                </c:pt>
                <c:pt idx="6">
                  <c:v>12256.801628125715</c:v>
                </c:pt>
              </c:numCache>
            </c:numRef>
          </c:val>
          <c:extLst>
            <c:ext xmlns:c16="http://schemas.microsoft.com/office/drawing/2014/chart" uri="{C3380CC4-5D6E-409C-BE32-E72D297353CC}">
              <c16:uniqueId val="{0000000A-B180-4502-9B86-6E517868A0C5}"/>
            </c:ext>
          </c:extLst>
        </c:ser>
        <c:ser>
          <c:idx val="1"/>
          <c:order val="1"/>
          <c:tx>
            <c:strRef>
              <c:f>Sheet1!$C$1</c:f>
              <c:strCache>
                <c:ptCount val="1"/>
                <c:pt idx="0">
                  <c:v>Abs. $ Opportunity</c:v>
                </c:pt>
              </c:strCache>
            </c:strRef>
          </c:tx>
          <c:spPr>
            <a:solidFill>
              <a:schemeClr val="accent2"/>
            </a:solidFill>
            <a:ln>
              <a:noFill/>
            </a:ln>
            <a:effectLst/>
          </c:spPr>
          <c:invertIfNegative val="0"/>
          <c:cat>
            <c:strRef>
              <c:f>Sheet1!$A$2:$A$10</c:f>
              <c:strCache>
                <c:ptCount val="7"/>
                <c:pt idx="0">
                  <c:v>2024E</c:v>
                </c:pt>
                <c:pt idx="1">
                  <c:v>Russia</c:v>
                </c:pt>
                <c:pt idx="2">
                  <c:v>Hungary</c:v>
                </c:pt>
                <c:pt idx="3">
                  <c:v>Poland</c:v>
                </c:pt>
                <c:pt idx="4">
                  <c:v>Balkan &amp; Baltics</c:v>
                </c:pt>
                <c:pt idx="5">
                  <c:v>Rest of E. Europe</c:v>
                </c:pt>
                <c:pt idx="6">
                  <c:v>2034F</c:v>
                </c:pt>
              </c:strCache>
            </c:strRef>
          </c:cat>
          <c:val>
            <c:numRef>
              <c:f>Sheet1!$C$2:$C$8</c:f>
              <c:numCache>
                <c:formatCode>0.0</c:formatCode>
                <c:ptCount val="7"/>
                <c:pt idx="1">
                  <c:v>1930.9355627667574</c:v>
                </c:pt>
                <c:pt idx="2">
                  <c:v>1898.8073514364853</c:v>
                </c:pt>
                <c:pt idx="3">
                  <c:v>1866.6791401062133</c:v>
                </c:pt>
                <c:pt idx="4">
                  <c:v>1834.5509287759414</c:v>
                </c:pt>
                <c:pt idx="5">
                  <c:v>1802.4227174456696</c:v>
                </c:pt>
              </c:numCache>
            </c:numRef>
          </c:val>
          <c:extLst>
            <c:ext xmlns:c16="http://schemas.microsoft.com/office/drawing/2014/chart" uri="{C3380CC4-5D6E-409C-BE32-E72D297353CC}">
              <c16:uniqueId val="{0000000B-B180-4502-9B86-6E517868A0C5}"/>
            </c:ext>
          </c:extLst>
        </c:ser>
        <c:dLbls>
          <c:showLegendKey val="0"/>
          <c:showVal val="0"/>
          <c:showCatName val="0"/>
          <c:showSerName val="0"/>
          <c:showPercent val="0"/>
          <c:showBubbleSize val="0"/>
        </c:dLbls>
        <c:gapWidth val="50"/>
        <c:overlap val="100"/>
        <c:axId val="207135216"/>
        <c:axId val="207137936"/>
      </c:barChart>
      <c:catAx>
        <c:axId val="2071352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37936"/>
        <c:crosses val="autoZero"/>
        <c:auto val="1"/>
        <c:lblAlgn val="ctr"/>
        <c:lblOffset val="100"/>
        <c:noMultiLvlLbl val="0"/>
      </c:catAx>
      <c:valAx>
        <c:axId val="207137936"/>
        <c:scaling>
          <c:orientation val="minMax"/>
        </c:scaling>
        <c:delete val="1"/>
        <c:axPos val="l"/>
        <c:numFmt formatCode="_ * #,##0.0_ ;_ * \-#,##0.0_ ;_ * &quot;-&quot;??_ ;_ @_ " sourceLinked="1"/>
        <c:majorTickMark val="none"/>
        <c:minorTickMark val="none"/>
        <c:tickLblPos val="nextTo"/>
        <c:crossAx val="207135216"/>
        <c:crosses val="autoZero"/>
        <c:crossBetween val="between"/>
      </c:valAx>
      <c:spPr>
        <a:noFill/>
        <a:ln>
          <a:noFill/>
        </a:ln>
        <a:effectLst/>
      </c:spPr>
    </c:plotArea>
    <c:legend>
      <c:legendPos val="b"/>
      <c:layout>
        <c:manualLayout>
          <c:xMode val="edge"/>
          <c:yMode val="edge"/>
          <c:x val="0"/>
          <c:y val="0.90279690245330901"/>
          <c:w val="1"/>
          <c:h val="9.7203097546690959E-2"/>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3516663891333824"/>
          <c:w val="0.99129804205946337"/>
          <c:h val="0.48487954708140824"/>
        </c:manualLayout>
      </c:layout>
      <c:barChart>
        <c:barDir val="col"/>
        <c:grouping val="stacked"/>
        <c:varyColors val="0"/>
        <c:ser>
          <c:idx val="0"/>
          <c:order val="0"/>
          <c:tx>
            <c:strRef>
              <c:f>Sheet1!$B$1</c:f>
              <c:strCache>
                <c:ptCount val="1"/>
                <c:pt idx="0">
                  <c:v>Value (US$ Mn)</c:v>
                </c:pt>
              </c:strCache>
            </c:strRef>
          </c:tx>
          <c:spPr>
            <a:solidFill>
              <a:srgbClr val="2A5F8F"/>
            </a:solid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1722-4F33-A3C6-59C57B6C6F36}"/>
              </c:ext>
            </c:extLst>
          </c:dPt>
          <c:dPt>
            <c:idx val="1"/>
            <c:invertIfNegative val="0"/>
            <c:bubble3D val="0"/>
            <c:spPr>
              <a:noFill/>
              <a:ln>
                <a:noFill/>
              </a:ln>
              <a:effectLst/>
            </c:spPr>
            <c:extLst>
              <c:ext xmlns:c16="http://schemas.microsoft.com/office/drawing/2014/chart" uri="{C3380CC4-5D6E-409C-BE32-E72D297353CC}">
                <c16:uniqueId val="{00000003-1722-4F33-A3C6-59C57B6C6F36}"/>
              </c:ext>
            </c:extLst>
          </c:dPt>
          <c:dPt>
            <c:idx val="2"/>
            <c:invertIfNegative val="0"/>
            <c:bubble3D val="0"/>
            <c:spPr>
              <a:solidFill>
                <a:srgbClr val="9E7E0A"/>
              </a:solidFill>
              <a:ln>
                <a:noFill/>
              </a:ln>
              <a:effectLst/>
            </c:spPr>
            <c:extLst>
              <c:ext xmlns:c16="http://schemas.microsoft.com/office/drawing/2014/chart" uri="{C3380CC4-5D6E-409C-BE32-E72D297353CC}">
                <c16:uniqueId val="{00000005-1722-4F33-A3C6-59C57B6C6F36}"/>
              </c:ext>
            </c:extLst>
          </c:dPt>
          <c:dPt>
            <c:idx val="3"/>
            <c:invertIfNegative val="0"/>
            <c:bubble3D val="0"/>
            <c:spPr>
              <a:noFill/>
              <a:ln>
                <a:noFill/>
              </a:ln>
              <a:effectLst/>
            </c:spPr>
            <c:extLst>
              <c:ext xmlns:c16="http://schemas.microsoft.com/office/drawing/2014/chart" uri="{C3380CC4-5D6E-409C-BE32-E72D297353CC}">
                <c16:uniqueId val="{00000007-1722-4F33-A3C6-59C57B6C6F36}"/>
              </c:ext>
            </c:extLst>
          </c:dPt>
          <c:dPt>
            <c:idx val="4"/>
            <c:invertIfNegative val="0"/>
            <c:bubble3D val="0"/>
            <c:spPr>
              <a:noFill/>
              <a:ln>
                <a:noFill/>
              </a:ln>
              <a:effectLst/>
            </c:spPr>
            <c:extLst>
              <c:ext xmlns:c16="http://schemas.microsoft.com/office/drawing/2014/chart" uri="{C3380CC4-5D6E-409C-BE32-E72D297353CC}">
                <c16:uniqueId val="{00000009-1722-4F33-A3C6-59C57B6C6F36}"/>
              </c:ext>
            </c:extLst>
          </c:dPt>
          <c:dPt>
            <c:idx val="5"/>
            <c:invertIfNegative val="0"/>
            <c:bubble3D val="0"/>
            <c:spPr>
              <a:noFill/>
              <a:ln>
                <a:noFill/>
              </a:ln>
              <a:effectLst/>
            </c:spPr>
            <c:extLst>
              <c:ext xmlns:c16="http://schemas.microsoft.com/office/drawing/2014/chart" uri="{C3380CC4-5D6E-409C-BE32-E72D297353CC}">
                <c16:uniqueId val="{0000000B-1722-4F33-A3C6-59C57B6C6F36}"/>
              </c:ext>
            </c:extLst>
          </c:dPt>
          <c:dPt>
            <c:idx val="6"/>
            <c:invertIfNegative val="0"/>
            <c:bubble3D val="0"/>
            <c:spPr>
              <a:noFill/>
              <a:ln>
                <a:noFill/>
              </a:ln>
              <a:effectLst/>
            </c:spPr>
            <c:extLst>
              <c:ext xmlns:c16="http://schemas.microsoft.com/office/drawing/2014/chart" uri="{C3380CC4-5D6E-409C-BE32-E72D297353CC}">
                <c16:uniqueId val="{0000000D-1722-4F33-A3C6-59C57B6C6F36}"/>
              </c:ext>
            </c:extLst>
          </c:dPt>
          <c:dPt>
            <c:idx val="7"/>
            <c:invertIfNegative val="0"/>
            <c:bubble3D val="0"/>
            <c:spPr>
              <a:noFill/>
              <a:ln>
                <a:noFill/>
              </a:ln>
              <a:effectLst/>
            </c:spPr>
            <c:extLst>
              <c:ext xmlns:c16="http://schemas.microsoft.com/office/drawing/2014/chart" uri="{C3380CC4-5D6E-409C-BE32-E72D297353CC}">
                <c16:uniqueId val="{0000000F-1722-4F33-A3C6-59C57B6C6F36}"/>
              </c:ext>
            </c:extLst>
          </c:dPt>
          <c:dPt>
            <c:idx val="8"/>
            <c:invertIfNegative val="0"/>
            <c:bubble3D val="0"/>
            <c:spPr>
              <a:noFill/>
              <a:ln>
                <a:noFill/>
              </a:ln>
              <a:effectLst/>
            </c:spPr>
            <c:extLst>
              <c:ext xmlns:c16="http://schemas.microsoft.com/office/drawing/2014/chart" uri="{C3380CC4-5D6E-409C-BE32-E72D297353CC}">
                <c16:uniqueId val="{00000011-1722-4F33-A3C6-59C57B6C6F36}"/>
              </c:ext>
            </c:extLst>
          </c:dPt>
          <c:dPt>
            <c:idx val="9"/>
            <c:invertIfNegative val="0"/>
            <c:bubble3D val="0"/>
            <c:spPr>
              <a:noFill/>
              <a:ln>
                <a:noFill/>
              </a:ln>
              <a:effectLst/>
            </c:spPr>
            <c:extLst>
              <c:ext xmlns:c16="http://schemas.microsoft.com/office/drawing/2014/chart" uri="{C3380CC4-5D6E-409C-BE32-E72D297353CC}">
                <c16:uniqueId val="{00000013-1722-4F33-A3C6-59C57B6C6F36}"/>
              </c:ext>
            </c:extLst>
          </c:dPt>
          <c:dPt>
            <c:idx val="10"/>
            <c:invertIfNegative val="0"/>
            <c:bubble3D val="0"/>
            <c:spPr>
              <a:noFill/>
              <a:ln>
                <a:noFill/>
              </a:ln>
              <a:effectLst/>
            </c:spPr>
            <c:extLst>
              <c:ext xmlns:c16="http://schemas.microsoft.com/office/drawing/2014/chart" uri="{C3380CC4-5D6E-409C-BE32-E72D297353CC}">
                <c16:uniqueId val="{00000015-1722-4F33-A3C6-59C57B6C6F36}"/>
              </c:ext>
            </c:extLst>
          </c:dPt>
          <c:dPt>
            <c:idx val="11"/>
            <c:invertIfNegative val="0"/>
            <c:bubble3D val="0"/>
            <c:spPr>
              <a:noFill/>
              <a:ln>
                <a:noFill/>
              </a:ln>
              <a:effectLst/>
            </c:spPr>
            <c:extLst>
              <c:ext xmlns:c16="http://schemas.microsoft.com/office/drawing/2014/chart" uri="{C3380CC4-5D6E-409C-BE32-E72D297353CC}">
                <c16:uniqueId val="{00000017-1722-4F33-A3C6-59C57B6C6F36}"/>
              </c:ext>
            </c:extLst>
          </c:dPt>
          <c:dPt>
            <c:idx val="12"/>
            <c:invertIfNegative val="0"/>
            <c:bubble3D val="0"/>
            <c:spPr>
              <a:noFill/>
              <a:ln>
                <a:noFill/>
              </a:ln>
              <a:effectLst/>
            </c:spPr>
            <c:extLst>
              <c:ext xmlns:c16="http://schemas.microsoft.com/office/drawing/2014/chart" uri="{C3380CC4-5D6E-409C-BE32-E72D297353CC}">
                <c16:uniqueId val="{00000019-1722-4F33-A3C6-59C57B6C6F36}"/>
              </c:ext>
            </c:extLst>
          </c:dPt>
          <c:dPt>
            <c:idx val="13"/>
            <c:invertIfNegative val="0"/>
            <c:bubble3D val="0"/>
            <c:spPr>
              <a:solidFill>
                <a:srgbClr val="2A5F8F"/>
              </a:solidFill>
              <a:ln>
                <a:noFill/>
              </a:ln>
              <a:effectLst/>
            </c:spPr>
            <c:extLst>
              <c:ext xmlns:c16="http://schemas.microsoft.com/office/drawing/2014/chart" uri="{C3380CC4-5D6E-409C-BE32-E72D297353CC}">
                <c16:uniqueId val="{0000001B-1722-4F33-A3C6-59C57B6C6F36}"/>
              </c:ext>
            </c:extLst>
          </c:dPt>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Sheet1!$B$2:$B$15</c:f>
              <c:numCache>
                <c:formatCode>0.0</c:formatCode>
                <c:ptCount val="14"/>
                <c:pt idx="0">
                  <c:v>9.3147758164037526</c:v>
                </c:pt>
                <c:pt idx="1">
                  <c:v>9.3147758164037526</c:v>
                </c:pt>
                <c:pt idx="2">
                  <c:v>10.105301959682805</c:v>
                </c:pt>
                <c:pt idx="3">
                  <c:v>10.105301959682805</c:v>
                </c:pt>
                <c:pt idx="4">
                  <c:v>10.543542155425541</c:v>
                </c:pt>
                <c:pt idx="5">
                  <c:v>10.997954627278178</c:v>
                </c:pt>
                <c:pt idx="6">
                  <c:v>11.479778537252098</c:v>
                </c:pt>
                <c:pt idx="7">
                  <c:v>12.009101125277244</c:v>
                </c:pt>
                <c:pt idx="8">
                  <c:v>12.587238152391194</c:v>
                </c:pt>
                <c:pt idx="9">
                  <c:v>13.21334290235696</c:v>
                </c:pt>
                <c:pt idx="10">
                  <c:v>13.862447895049932</c:v>
                </c:pt>
                <c:pt idx="11">
                  <c:v>14.512025402275682</c:v>
                </c:pt>
                <c:pt idx="12">
                  <c:v>15.178014403425168</c:v>
                </c:pt>
                <c:pt idx="13">
                  <c:v>16.548458140869769</c:v>
                </c:pt>
              </c:numCache>
            </c:numRef>
          </c:val>
          <c:extLst>
            <c:ext xmlns:c16="http://schemas.microsoft.com/office/drawing/2014/chart" uri="{C3380CC4-5D6E-409C-BE32-E72D297353CC}">
              <c16:uniqueId val="{0000001C-1722-4F33-A3C6-59C57B6C6F36}"/>
            </c:ext>
          </c:extLst>
        </c:ser>
        <c:ser>
          <c:idx val="1"/>
          <c:order val="1"/>
          <c:tx>
            <c:strRef>
              <c:f>Sheet1!$C$1</c:f>
              <c:strCache>
                <c:ptCount val="1"/>
                <c:pt idx="0">
                  <c:v>Abs. $ Opportunity</c:v>
                </c:pt>
              </c:strCache>
            </c:strRef>
          </c:tx>
          <c:spPr>
            <a:solidFill>
              <a:srgbClr val="C00000"/>
            </a:solidFill>
            <a:ln>
              <a:noFill/>
            </a:ln>
            <a:effectLst/>
          </c:spPr>
          <c:invertIfNegative val="0"/>
          <c:cat>
            <c:strRef>
              <c:f>Sheet1!$A$2:$A$15</c:f>
              <c:strCache>
                <c:ptCount val="14"/>
                <c:pt idx="0">
                  <c:v>2019A</c:v>
                </c:pt>
                <c:pt idx="2">
                  <c:v>2023A</c:v>
                </c:pt>
                <c:pt idx="3">
                  <c:v>2024E</c:v>
                </c:pt>
                <c:pt idx="4">
                  <c:v>2025F</c:v>
                </c:pt>
                <c:pt idx="5">
                  <c:v>2026F</c:v>
                </c:pt>
                <c:pt idx="6">
                  <c:v>2027F</c:v>
                </c:pt>
                <c:pt idx="7">
                  <c:v>2028F</c:v>
                </c:pt>
                <c:pt idx="8">
                  <c:v>2029F</c:v>
                </c:pt>
                <c:pt idx="9">
                  <c:v>2030F</c:v>
                </c:pt>
                <c:pt idx="10">
                  <c:v>2031F</c:v>
                </c:pt>
                <c:pt idx="11">
                  <c:v>2032F</c:v>
                </c:pt>
                <c:pt idx="12">
                  <c:v>2033F</c:v>
                </c:pt>
                <c:pt idx="13">
                  <c:v>2034F</c:v>
                </c:pt>
              </c:strCache>
            </c:strRef>
          </c:cat>
          <c:val>
            <c:numRef>
              <c:f>Sheet1!$C$2:$C$15</c:f>
              <c:numCache>
                <c:formatCode>0.0</c:formatCode>
                <c:ptCount val="14"/>
                <c:pt idx="1">
                  <c:v>0.79052614327905246</c:v>
                </c:pt>
                <c:pt idx="3">
                  <c:v>0.4382401957427362</c:v>
                </c:pt>
                <c:pt idx="4">
                  <c:v>0.45441247185263656</c:v>
                </c:pt>
                <c:pt idx="5">
                  <c:v>0.48182390997392055</c:v>
                </c:pt>
                <c:pt idx="6">
                  <c:v>0.52932258802514554</c:v>
                </c:pt>
                <c:pt idx="7">
                  <c:v>0.5781370271139501</c:v>
                </c:pt>
                <c:pt idx="8">
                  <c:v>0.62610474996576571</c:v>
                </c:pt>
                <c:pt idx="9">
                  <c:v>0.64910499269297262</c:v>
                </c:pt>
                <c:pt idx="10">
                  <c:v>0.64957750722575014</c:v>
                </c:pt>
                <c:pt idx="11">
                  <c:v>0.66598900114948556</c:v>
                </c:pt>
                <c:pt idx="12">
                  <c:v>0.67992822293363631</c:v>
                </c:pt>
              </c:numCache>
            </c:numRef>
          </c:val>
          <c:extLst>
            <c:ext xmlns:c16="http://schemas.microsoft.com/office/drawing/2014/chart" uri="{C3380CC4-5D6E-409C-BE32-E72D297353CC}">
              <c16:uniqueId val="{0000001D-1722-4F33-A3C6-59C57B6C6F36}"/>
            </c:ext>
          </c:extLst>
        </c:ser>
        <c:dLbls>
          <c:showLegendKey val="0"/>
          <c:showVal val="0"/>
          <c:showCatName val="0"/>
          <c:showSerName val="0"/>
          <c:showPercent val="0"/>
          <c:showBubbleSize val="0"/>
        </c:dLbls>
        <c:gapWidth val="50"/>
        <c:overlap val="100"/>
        <c:axId val="207162416"/>
        <c:axId val="207173296"/>
      </c:barChart>
      <c:catAx>
        <c:axId val="2071624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73296"/>
        <c:crosses val="autoZero"/>
        <c:auto val="1"/>
        <c:lblAlgn val="ctr"/>
        <c:lblOffset val="100"/>
        <c:noMultiLvlLbl val="0"/>
      </c:catAx>
      <c:valAx>
        <c:axId val="207173296"/>
        <c:scaling>
          <c:orientation val="minMax"/>
        </c:scaling>
        <c:delete val="1"/>
        <c:axPos val="l"/>
        <c:numFmt formatCode="0.0" sourceLinked="1"/>
        <c:majorTickMark val="none"/>
        <c:minorTickMark val="none"/>
        <c:tickLblPos val="nextTo"/>
        <c:crossAx val="207162416"/>
        <c:crosses val="autoZero"/>
        <c:crossBetween val="between"/>
      </c:valAx>
      <c:spPr>
        <a:noFill/>
        <a:ln>
          <a:noFill/>
        </a:ln>
        <a:effectLst/>
      </c:spPr>
    </c:plotArea>
    <c:legend>
      <c:legendPos val="b"/>
      <c:layout>
        <c:manualLayout>
          <c:xMode val="edge"/>
          <c:yMode val="edge"/>
          <c:x val="0.18667627774260317"/>
          <c:y val="0.87242532699941433"/>
          <c:w val="0.62664721436450788"/>
          <c:h val="0.12757467300058564"/>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4">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586017868029705E-2"/>
          <c:y val="5.6718815469420834E-2"/>
          <c:w val="0.92649309691078063"/>
          <c:h val="0.72664225195762067"/>
        </c:manualLayout>
      </c:layout>
      <c:barChart>
        <c:barDir val="col"/>
        <c:grouping val="percentStacked"/>
        <c:varyColors val="0"/>
        <c:ser>
          <c:idx val="0"/>
          <c:order val="0"/>
          <c:tx>
            <c:strRef>
              <c:f>Sheet1!$B$1</c:f>
              <c:strCache>
                <c:ptCount val="1"/>
                <c:pt idx="0">
                  <c:v>KSA</c:v>
                </c:pt>
              </c:strCache>
            </c:strRef>
          </c:tx>
          <c:spPr>
            <a:solidFill>
              <a:schemeClr val="accent1"/>
            </a:solidFill>
            <a:ln>
              <a:noFill/>
            </a:ln>
            <a:effectLst/>
          </c:spPr>
          <c:invertIfNegative val="0"/>
          <c:cat>
            <c:strRef>
              <c:f>Sheet1!$A$2:$A$3</c:f>
              <c:strCache>
                <c:ptCount val="2"/>
                <c:pt idx="0">
                  <c:v>2024E</c:v>
                </c:pt>
                <c:pt idx="1">
                  <c:v>2034F</c:v>
                </c:pt>
              </c:strCache>
            </c:strRef>
          </c:cat>
          <c:val>
            <c:numRef>
              <c:f>Sheet1!$B$2:$B$3</c:f>
              <c:numCache>
                <c:formatCode>0.0%</c:formatCode>
                <c:ptCount val="2"/>
                <c:pt idx="0">
                  <c:v>0.18</c:v>
                </c:pt>
                <c:pt idx="1">
                  <c:v>0.18</c:v>
                </c:pt>
              </c:numCache>
            </c:numRef>
          </c:val>
          <c:extLst>
            <c:ext xmlns:c16="http://schemas.microsoft.com/office/drawing/2014/chart" uri="{C3380CC4-5D6E-409C-BE32-E72D297353CC}">
              <c16:uniqueId val="{00000000-5C6C-41D2-B342-BDFDDA79E129}"/>
            </c:ext>
          </c:extLst>
        </c:ser>
        <c:ser>
          <c:idx val="1"/>
          <c:order val="1"/>
          <c:tx>
            <c:strRef>
              <c:f>Sheet1!$C$1</c:f>
              <c:strCache>
                <c:ptCount val="1"/>
                <c:pt idx="0">
                  <c:v>Türkiye</c:v>
                </c:pt>
              </c:strCache>
            </c:strRef>
          </c:tx>
          <c:spPr>
            <a:solidFill>
              <a:schemeClr val="accent2"/>
            </a:solidFill>
            <a:ln>
              <a:noFill/>
            </a:ln>
            <a:effectLst/>
          </c:spPr>
          <c:invertIfNegative val="0"/>
          <c:cat>
            <c:strRef>
              <c:f>Sheet1!$A$2:$A$3</c:f>
              <c:strCache>
                <c:ptCount val="2"/>
                <c:pt idx="0">
                  <c:v>2024E</c:v>
                </c:pt>
                <c:pt idx="1">
                  <c:v>2034F</c:v>
                </c:pt>
              </c:strCache>
            </c:strRef>
          </c:cat>
          <c:val>
            <c:numRef>
              <c:f>Sheet1!$C$2:$C$3</c:f>
              <c:numCache>
                <c:formatCode>0.0%</c:formatCode>
                <c:ptCount val="2"/>
                <c:pt idx="0">
                  <c:v>0.06</c:v>
                </c:pt>
                <c:pt idx="1">
                  <c:v>0.06</c:v>
                </c:pt>
              </c:numCache>
            </c:numRef>
          </c:val>
          <c:extLst>
            <c:ext xmlns:c16="http://schemas.microsoft.com/office/drawing/2014/chart" uri="{C3380CC4-5D6E-409C-BE32-E72D297353CC}">
              <c16:uniqueId val="{00000001-5C6C-41D2-B342-BDFDDA79E129}"/>
            </c:ext>
          </c:extLst>
        </c:ser>
        <c:ser>
          <c:idx val="2"/>
          <c:order val="2"/>
          <c:tx>
            <c:strRef>
              <c:f>Sheet1!$D$1</c:f>
              <c:strCache>
                <c:ptCount val="1"/>
                <c:pt idx="0">
                  <c:v>Other GCC Countries</c:v>
                </c:pt>
              </c:strCache>
            </c:strRef>
          </c:tx>
          <c:spPr>
            <a:solidFill>
              <a:schemeClr val="accent3"/>
            </a:solidFill>
            <a:ln>
              <a:noFill/>
            </a:ln>
            <a:effectLst/>
          </c:spPr>
          <c:invertIfNegative val="0"/>
          <c:cat>
            <c:strRef>
              <c:f>Sheet1!$A$2:$A$3</c:f>
              <c:strCache>
                <c:ptCount val="2"/>
                <c:pt idx="0">
                  <c:v>2024E</c:v>
                </c:pt>
                <c:pt idx="1">
                  <c:v>2034F</c:v>
                </c:pt>
              </c:strCache>
            </c:strRef>
          </c:cat>
          <c:val>
            <c:numRef>
              <c:f>Sheet1!$D$2:$D$3</c:f>
              <c:numCache>
                <c:formatCode>0.0%</c:formatCode>
                <c:ptCount val="2"/>
                <c:pt idx="0">
                  <c:v>0.13</c:v>
                </c:pt>
                <c:pt idx="1">
                  <c:v>0.13</c:v>
                </c:pt>
              </c:numCache>
            </c:numRef>
          </c:val>
          <c:extLst>
            <c:ext xmlns:c16="http://schemas.microsoft.com/office/drawing/2014/chart" uri="{C3380CC4-5D6E-409C-BE32-E72D297353CC}">
              <c16:uniqueId val="{00000002-5C6C-41D2-B342-BDFDDA79E129}"/>
            </c:ext>
          </c:extLst>
        </c:ser>
        <c:ser>
          <c:idx val="3"/>
          <c:order val="3"/>
          <c:tx>
            <c:strRef>
              <c:f>Sheet1!$E$1</c:f>
              <c:strCache>
                <c:ptCount val="1"/>
                <c:pt idx="0">
                  <c:v>South Africa</c:v>
                </c:pt>
              </c:strCache>
            </c:strRef>
          </c:tx>
          <c:spPr>
            <a:solidFill>
              <a:schemeClr val="accent4"/>
            </a:solidFill>
            <a:ln>
              <a:noFill/>
            </a:ln>
            <a:effectLst/>
          </c:spPr>
          <c:invertIfNegative val="0"/>
          <c:cat>
            <c:strRef>
              <c:f>Sheet1!$A$2:$A$3</c:f>
              <c:strCache>
                <c:ptCount val="2"/>
                <c:pt idx="0">
                  <c:v>2024E</c:v>
                </c:pt>
                <c:pt idx="1">
                  <c:v>2034F</c:v>
                </c:pt>
              </c:strCache>
            </c:strRef>
          </c:cat>
          <c:val>
            <c:numRef>
              <c:f>Sheet1!$E$2:$E$3</c:f>
              <c:numCache>
                <c:formatCode>0.0%</c:formatCode>
                <c:ptCount val="2"/>
                <c:pt idx="0">
                  <c:v>2.1999999999999999E-2</c:v>
                </c:pt>
                <c:pt idx="1">
                  <c:v>2.1999999999999999E-2</c:v>
                </c:pt>
              </c:numCache>
            </c:numRef>
          </c:val>
          <c:extLst>
            <c:ext xmlns:c16="http://schemas.microsoft.com/office/drawing/2014/chart" uri="{C3380CC4-5D6E-409C-BE32-E72D297353CC}">
              <c16:uniqueId val="{00000003-5C6C-41D2-B342-BDFDDA79E129}"/>
            </c:ext>
          </c:extLst>
        </c:ser>
        <c:ser>
          <c:idx val="4"/>
          <c:order val="4"/>
          <c:tx>
            <c:strRef>
              <c:f>Sheet1!$F$1</c:f>
              <c:strCache>
                <c:ptCount val="1"/>
                <c:pt idx="0">
                  <c:v>Other African Union</c:v>
                </c:pt>
              </c:strCache>
            </c:strRef>
          </c:tx>
          <c:spPr>
            <a:solidFill>
              <a:schemeClr val="accent5"/>
            </a:solidFill>
            <a:ln>
              <a:noFill/>
            </a:ln>
            <a:effectLst/>
          </c:spPr>
          <c:invertIfNegative val="0"/>
          <c:cat>
            <c:strRef>
              <c:f>Sheet1!$A$2:$A$3</c:f>
              <c:strCache>
                <c:ptCount val="2"/>
                <c:pt idx="0">
                  <c:v>2024E</c:v>
                </c:pt>
                <c:pt idx="1">
                  <c:v>2034F</c:v>
                </c:pt>
              </c:strCache>
            </c:strRef>
          </c:cat>
          <c:val>
            <c:numRef>
              <c:f>Sheet1!$F$2:$F$3</c:f>
              <c:numCache>
                <c:formatCode>0.0%</c:formatCode>
                <c:ptCount val="2"/>
                <c:pt idx="0">
                  <c:v>0.32400000000000001</c:v>
                </c:pt>
                <c:pt idx="1">
                  <c:v>0.32400000000000001</c:v>
                </c:pt>
              </c:numCache>
            </c:numRef>
          </c:val>
          <c:extLst>
            <c:ext xmlns:c16="http://schemas.microsoft.com/office/drawing/2014/chart" uri="{C3380CC4-5D6E-409C-BE32-E72D297353CC}">
              <c16:uniqueId val="{00000004-5C6C-41D2-B342-BDFDDA79E129}"/>
            </c:ext>
          </c:extLst>
        </c:ser>
        <c:ser>
          <c:idx val="5"/>
          <c:order val="5"/>
          <c:tx>
            <c:strRef>
              <c:f>Sheet1!$G$1</c:f>
              <c:strCache>
                <c:ptCount val="1"/>
                <c:pt idx="0">
                  <c:v>Rest of MEA</c:v>
                </c:pt>
              </c:strCache>
            </c:strRef>
          </c:tx>
          <c:spPr>
            <a:solidFill>
              <a:schemeClr val="accent6"/>
            </a:solidFill>
            <a:ln>
              <a:noFill/>
            </a:ln>
            <a:effectLst/>
          </c:spPr>
          <c:invertIfNegative val="0"/>
          <c:cat>
            <c:strRef>
              <c:f>Sheet1!$A$2:$A$3</c:f>
              <c:strCache>
                <c:ptCount val="2"/>
                <c:pt idx="0">
                  <c:v>2024E</c:v>
                </c:pt>
                <c:pt idx="1">
                  <c:v>2034F</c:v>
                </c:pt>
              </c:strCache>
            </c:strRef>
          </c:cat>
          <c:val>
            <c:numRef>
              <c:f>Sheet1!$G$2:$G$3</c:f>
              <c:numCache>
                <c:formatCode>0.0%</c:formatCode>
                <c:ptCount val="2"/>
                <c:pt idx="0">
                  <c:v>0.13900000000000001</c:v>
                </c:pt>
                <c:pt idx="1">
                  <c:v>0.13900000000000001</c:v>
                </c:pt>
              </c:numCache>
            </c:numRef>
          </c:val>
          <c:extLst>
            <c:ext xmlns:c16="http://schemas.microsoft.com/office/drawing/2014/chart" uri="{C3380CC4-5D6E-409C-BE32-E72D297353CC}">
              <c16:uniqueId val="{00000005-5C6C-41D2-B342-BDFDDA79E129}"/>
            </c:ext>
          </c:extLst>
        </c:ser>
        <c:dLbls>
          <c:showLegendKey val="0"/>
          <c:showVal val="0"/>
          <c:showCatName val="0"/>
          <c:showSerName val="0"/>
          <c:showPercent val="0"/>
          <c:showBubbleSize val="0"/>
        </c:dLbls>
        <c:gapWidth val="50"/>
        <c:overlap val="100"/>
        <c:axId val="207185264"/>
        <c:axId val="207177648"/>
      </c:barChart>
      <c:catAx>
        <c:axId val="2071852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207177648"/>
        <c:crosses val="autoZero"/>
        <c:auto val="1"/>
        <c:lblAlgn val="ctr"/>
        <c:lblOffset val="100"/>
        <c:noMultiLvlLbl val="0"/>
      </c:catAx>
      <c:valAx>
        <c:axId val="207177648"/>
        <c:scaling>
          <c:orientation val="minMax"/>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207185264"/>
        <c:crosses val="autoZero"/>
        <c:crossBetween val="between"/>
      </c:valAx>
      <c:spPr>
        <a:noFill/>
        <a:ln>
          <a:noFill/>
        </a:ln>
        <a:effectLst/>
      </c:spPr>
    </c:plotArea>
    <c:legend>
      <c:legendPos val="b"/>
      <c:layout>
        <c:manualLayout>
          <c:xMode val="edge"/>
          <c:yMode val="edge"/>
          <c:x val="0"/>
          <c:y val="0.83692483498304948"/>
          <c:w val="0.99576836900851218"/>
          <c:h val="0.1151785121538453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910917822963"/>
          <c:y val="4.0225179225868664E-2"/>
          <c:w val="0.87507556483913373"/>
          <c:h val="0.65061484798850733"/>
        </c:manualLayout>
      </c:layout>
      <c:lineChart>
        <c:grouping val="standard"/>
        <c:varyColors val="0"/>
        <c:ser>
          <c:idx val="0"/>
          <c:order val="0"/>
          <c:tx>
            <c:strRef>
              <c:f>Sheet1!$B$1</c:f>
              <c:strCache>
                <c:ptCount val="1"/>
                <c:pt idx="0">
                  <c:v>KSA</c:v>
                </c:pt>
              </c:strCache>
            </c:strRef>
          </c:tx>
          <c:spPr>
            <a:ln w="28575" cap="rnd">
              <a:solidFill>
                <a:schemeClr val="accent1"/>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Sheet1!$B$2:$B$12</c:f>
              <c:numCache>
                <c:formatCode>0.0%</c:formatCode>
                <c:ptCount val="11"/>
                <c:pt idx="0">
                  <c:v>5.1500000000000004E-2</c:v>
                </c:pt>
                <c:pt idx="1">
                  <c:v>5.4166666666666669E-2</c:v>
                </c:pt>
                <c:pt idx="2">
                  <c:v>5.7000000000000009E-2</c:v>
                </c:pt>
                <c:pt idx="3">
                  <c:v>5.9333333333333335E-2</c:v>
                </c:pt>
                <c:pt idx="4">
                  <c:v>6.1166666666666675E-2</c:v>
                </c:pt>
                <c:pt idx="5">
                  <c:v>6.2833333333333338E-2</c:v>
                </c:pt>
                <c:pt idx="6">
                  <c:v>6.483333333333334E-2</c:v>
                </c:pt>
                <c:pt idx="7">
                  <c:v>6.7166666666666666E-2</c:v>
                </c:pt>
                <c:pt idx="8">
                  <c:v>6.8833333333333344E-2</c:v>
                </c:pt>
                <c:pt idx="9">
                  <c:v>6.9000000000000006E-2</c:v>
                </c:pt>
                <c:pt idx="10">
                  <c:v>6.7666666666666667E-2</c:v>
                </c:pt>
              </c:numCache>
            </c:numRef>
          </c:val>
          <c:smooth val="1"/>
          <c:extLst>
            <c:ext xmlns:c16="http://schemas.microsoft.com/office/drawing/2014/chart" uri="{C3380CC4-5D6E-409C-BE32-E72D297353CC}">
              <c16:uniqueId val="{00000000-4D64-43E4-8F51-F10B333C493D}"/>
            </c:ext>
          </c:extLst>
        </c:ser>
        <c:ser>
          <c:idx val="1"/>
          <c:order val="1"/>
          <c:tx>
            <c:strRef>
              <c:f>Sheet1!$C$1</c:f>
              <c:strCache>
                <c:ptCount val="1"/>
                <c:pt idx="0">
                  <c:v>Türkiye</c:v>
                </c:pt>
              </c:strCache>
            </c:strRef>
          </c:tx>
          <c:spPr>
            <a:ln w="28575" cap="rnd">
              <a:solidFill>
                <a:schemeClr val="accent2"/>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Sheet1!$C$2:$C$12</c:f>
              <c:numCache>
                <c:formatCode>0.0%</c:formatCode>
                <c:ptCount val="11"/>
                <c:pt idx="0">
                  <c:v>5.116830281459997E-2</c:v>
                </c:pt>
                <c:pt idx="1">
                  <c:v>5.1290221555306513E-2</c:v>
                </c:pt>
                <c:pt idx="2">
                  <c:v>5.1395302571985553E-2</c:v>
                </c:pt>
                <c:pt idx="3">
                  <c:v>5.151160873801626E-2</c:v>
                </c:pt>
                <c:pt idx="4">
                  <c:v>5.1620431471145853E-2</c:v>
                </c:pt>
                <c:pt idx="5">
                  <c:v>5.1734243159542857E-2</c:v>
                </c:pt>
                <c:pt idx="6">
                  <c:v>5.1844728877761585E-2</c:v>
                </c:pt>
                <c:pt idx="7">
                  <c:v>5.1961866536336859E-2</c:v>
                </c:pt>
                <c:pt idx="8">
                  <c:v>5.2074569568007774E-2</c:v>
                </c:pt>
                <c:pt idx="9">
                  <c:v>5.2190229017614928E-2</c:v>
                </c:pt>
                <c:pt idx="10">
                  <c:v>5.2299975631349596E-2</c:v>
                </c:pt>
              </c:numCache>
            </c:numRef>
          </c:val>
          <c:smooth val="1"/>
          <c:extLst>
            <c:ext xmlns:c16="http://schemas.microsoft.com/office/drawing/2014/chart" uri="{C3380CC4-5D6E-409C-BE32-E72D297353CC}">
              <c16:uniqueId val="{00000001-4D64-43E4-8F51-F10B333C493D}"/>
            </c:ext>
          </c:extLst>
        </c:ser>
        <c:ser>
          <c:idx val="2"/>
          <c:order val="2"/>
          <c:tx>
            <c:strRef>
              <c:f>Sheet1!$D$1</c:f>
              <c:strCache>
                <c:ptCount val="1"/>
                <c:pt idx="0">
                  <c:v>Other GCC Countries</c:v>
                </c:pt>
              </c:strCache>
            </c:strRef>
          </c:tx>
          <c:spPr>
            <a:ln w="28575" cap="rnd">
              <a:solidFill>
                <a:schemeClr val="accent3"/>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Sheet1!$D$2:$D$12</c:f>
              <c:numCache>
                <c:formatCode>0.0%</c:formatCode>
                <c:ptCount val="11"/>
                <c:pt idx="0">
                  <c:v>5.0610918051856614E-2</c:v>
                </c:pt>
                <c:pt idx="1">
                  <c:v>5.1425475454332091E-2</c:v>
                </c:pt>
                <c:pt idx="2">
                  <c:v>5.2138213181498139E-2</c:v>
                </c:pt>
                <c:pt idx="3">
                  <c:v>5.274913123335475E-2</c:v>
                </c:pt>
                <c:pt idx="4">
                  <c:v>5.2850950908664179E-2</c:v>
                </c:pt>
                <c:pt idx="5">
                  <c:v>5.2647311558045314E-2</c:v>
                </c:pt>
                <c:pt idx="6">
                  <c:v>5.2036393506188702E-2</c:v>
                </c:pt>
                <c:pt idx="7">
                  <c:v>5.1323655779022655E-2</c:v>
                </c:pt>
                <c:pt idx="8">
                  <c:v>5.0610918051856614E-2</c:v>
                </c:pt>
                <c:pt idx="9">
                  <c:v>0.05</c:v>
                </c:pt>
                <c:pt idx="10">
                  <c:v>4.9490901623452828E-2</c:v>
                </c:pt>
              </c:numCache>
            </c:numRef>
          </c:val>
          <c:smooth val="1"/>
          <c:extLst>
            <c:ext xmlns:c16="http://schemas.microsoft.com/office/drawing/2014/chart" uri="{C3380CC4-5D6E-409C-BE32-E72D297353CC}">
              <c16:uniqueId val="{00000002-4D64-43E4-8F51-F10B333C493D}"/>
            </c:ext>
          </c:extLst>
        </c:ser>
        <c:ser>
          <c:idx val="3"/>
          <c:order val="3"/>
          <c:tx>
            <c:strRef>
              <c:f>Sheet1!$E$1</c:f>
              <c:strCache>
                <c:ptCount val="1"/>
                <c:pt idx="0">
                  <c:v>South Africa</c:v>
                </c:pt>
              </c:strCache>
            </c:strRef>
          </c:tx>
          <c:spPr>
            <a:ln w="28575" cap="rnd">
              <a:solidFill>
                <a:schemeClr val="accent4"/>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Sheet1!$E$2:$E$12</c:f>
              <c:numCache>
                <c:formatCode>0.0%</c:formatCode>
                <c:ptCount val="11"/>
                <c:pt idx="0">
                  <c:v>5.3000000000000005E-2</c:v>
                </c:pt>
                <c:pt idx="1">
                  <c:v>5.5000000000000007E-2</c:v>
                </c:pt>
                <c:pt idx="2">
                  <c:v>5.7333333333333347E-2</c:v>
                </c:pt>
                <c:pt idx="3">
                  <c:v>5.9666666666666673E-2</c:v>
                </c:pt>
                <c:pt idx="4">
                  <c:v>6.3666666666666663E-2</c:v>
                </c:pt>
                <c:pt idx="5">
                  <c:v>6.8000000000000005E-2</c:v>
                </c:pt>
                <c:pt idx="6">
                  <c:v>6.7906765085174334E-2</c:v>
                </c:pt>
                <c:pt idx="7">
                  <c:v>6.6841312562606461E-2</c:v>
                </c:pt>
                <c:pt idx="8">
                  <c:v>6.5666666666666665E-2</c:v>
                </c:pt>
                <c:pt idx="9">
                  <c:v>6.4147353367754692E-2</c:v>
                </c:pt>
                <c:pt idx="10">
                  <c:v>6.0424365639398202E-2</c:v>
                </c:pt>
              </c:numCache>
            </c:numRef>
          </c:val>
          <c:smooth val="0"/>
          <c:extLst>
            <c:ext xmlns:c16="http://schemas.microsoft.com/office/drawing/2014/chart" uri="{C3380CC4-5D6E-409C-BE32-E72D297353CC}">
              <c16:uniqueId val="{00000003-4D64-43E4-8F51-F10B333C493D}"/>
            </c:ext>
          </c:extLst>
        </c:ser>
        <c:ser>
          <c:idx val="4"/>
          <c:order val="4"/>
          <c:tx>
            <c:strRef>
              <c:f>Sheet1!$F$1</c:f>
              <c:strCache>
                <c:ptCount val="1"/>
                <c:pt idx="0">
                  <c:v>Other African Union</c:v>
                </c:pt>
              </c:strCache>
            </c:strRef>
          </c:tx>
          <c:spPr>
            <a:ln w="28575" cap="rnd">
              <a:solidFill>
                <a:schemeClr val="accent5"/>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Sheet1!$F$2:$F$12</c:f>
              <c:numCache>
                <c:formatCode>0.0%</c:formatCode>
                <c:ptCount val="11"/>
                <c:pt idx="0">
                  <c:v>5.1263578005607567E-2</c:v>
                </c:pt>
                <c:pt idx="1">
                  <c:v>5.2412285283432627E-2</c:v>
                </c:pt>
                <c:pt idx="2">
                  <c:v>5.3446121833475177E-2</c:v>
                </c:pt>
                <c:pt idx="3">
                  <c:v>5.3905604744605207E-2</c:v>
                </c:pt>
                <c:pt idx="4">
                  <c:v>5.3905604744605207E-2</c:v>
                </c:pt>
                <c:pt idx="5">
                  <c:v>5.3101509650127658E-2</c:v>
                </c:pt>
                <c:pt idx="6">
                  <c:v>5.2297414555650117E-2</c:v>
                </c:pt>
                <c:pt idx="7">
                  <c:v>5.1493319461172575E-2</c:v>
                </c:pt>
                <c:pt idx="8">
                  <c:v>5.068922436669504E-2</c:v>
                </c:pt>
                <c:pt idx="9">
                  <c:v>4.9770258544434988E-2</c:v>
                </c:pt>
                <c:pt idx="10">
                  <c:v>4.8736421994392438E-2</c:v>
                </c:pt>
              </c:numCache>
            </c:numRef>
          </c:val>
          <c:smooth val="0"/>
          <c:extLst>
            <c:ext xmlns:c16="http://schemas.microsoft.com/office/drawing/2014/chart" uri="{C3380CC4-5D6E-409C-BE32-E72D297353CC}">
              <c16:uniqueId val="{00000004-4D64-43E4-8F51-F10B333C493D}"/>
            </c:ext>
          </c:extLst>
        </c:ser>
        <c:ser>
          <c:idx val="5"/>
          <c:order val="5"/>
          <c:tx>
            <c:strRef>
              <c:f>Sheet1!$G$1</c:f>
              <c:strCache>
                <c:ptCount val="1"/>
                <c:pt idx="0">
                  <c:v>Rest of MEA</c:v>
                </c:pt>
              </c:strCache>
            </c:strRef>
          </c:tx>
          <c:spPr>
            <a:ln w="28575" cap="rnd">
              <a:solidFill>
                <a:schemeClr val="accent6"/>
              </a:solidFill>
              <a:round/>
            </a:ln>
            <a:effectLst/>
          </c:spPr>
          <c:marker>
            <c:symbol val="none"/>
          </c:marker>
          <c:cat>
            <c:strRef>
              <c:f>Sheet1!$A$2:$A$12</c:f>
              <c:strCache>
                <c:ptCount val="11"/>
                <c:pt idx="0">
                  <c:v>2024E</c:v>
                </c:pt>
                <c:pt idx="1">
                  <c:v>2025F</c:v>
                </c:pt>
                <c:pt idx="2">
                  <c:v>2026F</c:v>
                </c:pt>
                <c:pt idx="3">
                  <c:v>2027F</c:v>
                </c:pt>
                <c:pt idx="4">
                  <c:v>2028F</c:v>
                </c:pt>
                <c:pt idx="5">
                  <c:v>2029F</c:v>
                </c:pt>
                <c:pt idx="6">
                  <c:v>2030F</c:v>
                </c:pt>
                <c:pt idx="7">
                  <c:v>2031F</c:v>
                </c:pt>
                <c:pt idx="8">
                  <c:v>2032F</c:v>
                </c:pt>
                <c:pt idx="9">
                  <c:v>2033F</c:v>
                </c:pt>
                <c:pt idx="10">
                  <c:v>2034F</c:v>
                </c:pt>
              </c:strCache>
            </c:strRef>
          </c:cat>
          <c:val>
            <c:numRef>
              <c:f>Sheet1!$G$2:$G$12</c:f>
              <c:numCache>
                <c:formatCode>0.0%</c:formatCode>
                <c:ptCount val="11"/>
                <c:pt idx="0">
                  <c:v>6.0676665024535163E-2</c:v>
                </c:pt>
                <c:pt idx="1">
                  <c:v>6.0811998029442191E-2</c:v>
                </c:pt>
                <c:pt idx="2">
                  <c:v>6.0405999014721101E-2</c:v>
                </c:pt>
                <c:pt idx="3">
                  <c:v>5.986466699509297E-2</c:v>
                </c:pt>
                <c:pt idx="4">
                  <c:v>5.9188001970557812E-2</c:v>
                </c:pt>
                <c:pt idx="5">
                  <c:v>5.8782002955836715E-2</c:v>
                </c:pt>
                <c:pt idx="6">
                  <c:v>5.7970004926394522E-2</c:v>
                </c:pt>
                <c:pt idx="7">
                  <c:v>5.7022673892045295E-2</c:v>
                </c:pt>
                <c:pt idx="8">
                  <c:v>5.6075342857696074E-2</c:v>
                </c:pt>
                <c:pt idx="9">
                  <c:v>5.5398677833160916E-2</c:v>
                </c:pt>
                <c:pt idx="10">
                  <c:v>5.472201280862575E-2</c:v>
                </c:pt>
              </c:numCache>
            </c:numRef>
          </c:val>
          <c:smooth val="0"/>
          <c:extLst>
            <c:ext xmlns:c16="http://schemas.microsoft.com/office/drawing/2014/chart" uri="{C3380CC4-5D6E-409C-BE32-E72D297353CC}">
              <c16:uniqueId val="{00000005-4D64-43E4-8F51-F10B333C493D}"/>
            </c:ext>
          </c:extLst>
        </c:ser>
        <c:dLbls>
          <c:showLegendKey val="0"/>
          <c:showVal val="0"/>
          <c:showCatName val="0"/>
          <c:showSerName val="0"/>
          <c:showPercent val="0"/>
          <c:showBubbleSize val="0"/>
        </c:dLbls>
        <c:smooth val="0"/>
        <c:axId val="207186352"/>
        <c:axId val="207185808"/>
      </c:lineChart>
      <c:catAx>
        <c:axId val="207186352"/>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85808"/>
        <c:crossesAt val="-3.5000000000000003E-2"/>
        <c:auto val="1"/>
        <c:lblAlgn val="ctr"/>
        <c:lblOffset val="100"/>
        <c:noMultiLvlLbl val="0"/>
      </c:catAx>
      <c:valAx>
        <c:axId val="207185808"/>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207186352"/>
        <c:crosses val="autoZero"/>
        <c:crossBetween val="between"/>
      </c:valAx>
      <c:spPr>
        <a:noFill/>
        <a:ln w="25400">
          <a:noFill/>
        </a:ln>
        <a:effectLst/>
      </c:spPr>
    </c:plotArea>
    <c:legend>
      <c:legendPos val="b"/>
      <c:layout>
        <c:manualLayout>
          <c:xMode val="edge"/>
          <c:yMode val="edge"/>
          <c:x val="0"/>
          <c:y val="0.81733067057011788"/>
          <c:w val="0.98532305737268433"/>
          <c:h val="0.13890873868824447"/>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12700">
      <a:noFill/>
    </a:ln>
    <a:effectLst/>
  </c:spPr>
  <c:txPr>
    <a:bodyPr/>
    <a:lstStyle/>
    <a:p>
      <a:pPr>
        <a:defRPr sz="1100">
          <a:solidFill>
            <a:schemeClr val="tx1"/>
          </a:solidFill>
        </a:defRPr>
      </a:pPr>
      <a:endParaRPr lang="en-US"/>
    </a:p>
  </c:txPr>
  <c:externalData r:id="rId3">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193926521544815"/>
          <c:y val="3.2403000316204716E-2"/>
          <c:w val="0.7016005889076895"/>
          <c:h val="0.82090372344009988"/>
        </c:manualLayout>
      </c:layout>
      <c:bubbleChart>
        <c:varyColors val="1"/>
        <c:ser>
          <c:idx val="0"/>
          <c:order val="0"/>
          <c:tx>
            <c:strRef>
              <c:f>Sheet1!$C$1</c:f>
              <c:strCache>
                <c:ptCount val="1"/>
                <c:pt idx="0">
                  <c:v>Y-Values</c:v>
                </c:pt>
              </c:strCache>
            </c:strRef>
          </c:tx>
          <c:invertIfNegative val="0"/>
          <c:dPt>
            <c:idx val="0"/>
            <c:invertIfNegative val="0"/>
            <c:bubble3D val="0"/>
            <c:spPr>
              <a:solidFill>
                <a:schemeClr val="accent1">
                  <a:alpha val="75000"/>
                </a:schemeClr>
              </a:solidFill>
              <a:ln>
                <a:noFill/>
              </a:ln>
              <a:effectLst/>
            </c:spPr>
            <c:extLst>
              <c:ext xmlns:c16="http://schemas.microsoft.com/office/drawing/2014/chart" uri="{C3380CC4-5D6E-409C-BE32-E72D297353CC}">
                <c16:uniqueId val="{00000001-F363-486C-8861-A3746DD731A5}"/>
              </c:ext>
            </c:extLst>
          </c:dPt>
          <c:dPt>
            <c:idx val="1"/>
            <c:invertIfNegative val="0"/>
            <c:bubble3D val="0"/>
            <c:spPr>
              <a:solidFill>
                <a:schemeClr val="accent2">
                  <a:alpha val="75000"/>
                </a:schemeClr>
              </a:solidFill>
              <a:ln>
                <a:noFill/>
              </a:ln>
              <a:effectLst/>
            </c:spPr>
            <c:extLst>
              <c:ext xmlns:c16="http://schemas.microsoft.com/office/drawing/2014/chart" uri="{C3380CC4-5D6E-409C-BE32-E72D297353CC}">
                <c16:uniqueId val="{00000003-F363-486C-8861-A3746DD731A5}"/>
              </c:ext>
            </c:extLst>
          </c:dPt>
          <c:dPt>
            <c:idx val="2"/>
            <c:invertIfNegative val="0"/>
            <c:bubble3D val="0"/>
            <c:spPr>
              <a:solidFill>
                <a:schemeClr val="accent3">
                  <a:alpha val="75000"/>
                </a:schemeClr>
              </a:solidFill>
              <a:ln>
                <a:noFill/>
              </a:ln>
              <a:effectLst/>
            </c:spPr>
            <c:extLst>
              <c:ext xmlns:c16="http://schemas.microsoft.com/office/drawing/2014/chart" uri="{C3380CC4-5D6E-409C-BE32-E72D297353CC}">
                <c16:uniqueId val="{00000005-F363-486C-8861-A3746DD731A5}"/>
              </c:ext>
            </c:extLst>
          </c:dPt>
          <c:xVal>
            <c:numRef>
              <c:f>Sheet1!$B$2:$B$7</c:f>
              <c:numCache>
                <c:formatCode>_(* #,##0.0_);_(* \(#,##0.0\);_(* "-"??_);_(@_)</c:formatCode>
                <c:ptCount val="6"/>
                <c:pt idx="0">
                  <c:v>1.2484641180451868</c:v>
                </c:pt>
                <c:pt idx="1">
                  <c:v>1.171505207157916</c:v>
                </c:pt>
                <c:pt idx="2">
                  <c:v>1.0385803668462259</c:v>
                </c:pt>
                <c:pt idx="3">
                  <c:v>0.8540767341237564</c:v>
                </c:pt>
                <c:pt idx="4">
                  <c:v>0.94499279054581786</c:v>
                </c:pt>
                <c:pt idx="5">
                  <c:v>0.16838961553365628</c:v>
                </c:pt>
              </c:numCache>
            </c:numRef>
          </c:xVal>
          <c:yVal>
            <c:numRef>
              <c:f>Sheet1!$C$2:$C$7</c:f>
              <c:numCache>
                <c:formatCode>_(* #,##0.0_);_(* \(#,##0.0\);_(* "-"??_);_(@_)</c:formatCode>
                <c:ptCount val="6"/>
                <c:pt idx="0">
                  <c:v>3.671570117770909</c:v>
                </c:pt>
                <c:pt idx="1">
                  <c:v>2.9587134526586683</c:v>
                </c:pt>
                <c:pt idx="2">
                  <c:v>1.1164555835041849</c:v>
                </c:pt>
                <c:pt idx="3">
                  <c:v>0.48692863262276331</c:v>
                </c:pt>
                <c:pt idx="4">
                  <c:v>0.45016276201520544</c:v>
                </c:pt>
                <c:pt idx="5">
                  <c:v>0.48725009037073713</c:v>
                </c:pt>
              </c:numCache>
            </c:numRef>
          </c:yVal>
          <c:bubbleSize>
            <c:numRef>
              <c:f>Sheet1!$D$2:$D$7</c:f>
              <c:numCache>
                <c:formatCode>_(* #,##0.0_);_(* \(#,##0.0\);_(* "-"??_);_(@_)</c:formatCode>
                <c:ptCount val="6"/>
                <c:pt idx="0">
                  <c:v>4.3273698868360606</c:v>
                </c:pt>
                <c:pt idx="1">
                  <c:v>3.2149946963903226</c:v>
                </c:pt>
                <c:pt idx="2">
                  <c:v>1.0433263518646889</c:v>
                </c:pt>
                <c:pt idx="3">
                  <c:v>0.35881944851425052</c:v>
                </c:pt>
                <c:pt idx="4">
                  <c:v>0.37469598908583379</c:v>
                </c:pt>
                <c:pt idx="5">
                  <c:v>6.070771198932471E-2</c:v>
                </c:pt>
              </c:numCache>
            </c:numRef>
          </c:bubbleSize>
          <c:bubble3D val="0"/>
          <c:extLst>
            <c:ext xmlns:c16="http://schemas.microsoft.com/office/drawing/2014/chart" uri="{C3380CC4-5D6E-409C-BE32-E72D297353CC}">
              <c16:uniqueId val="{00000006-F363-486C-8861-A3746DD731A5}"/>
            </c:ext>
          </c:extLst>
        </c:ser>
        <c:dLbls>
          <c:showLegendKey val="0"/>
          <c:showVal val="0"/>
          <c:showCatName val="0"/>
          <c:showSerName val="0"/>
          <c:showPercent val="0"/>
          <c:showBubbleSize val="0"/>
        </c:dLbls>
        <c:bubbleScale val="100"/>
        <c:showNegBubbles val="0"/>
        <c:axId val="207174928"/>
        <c:axId val="207175472"/>
      </c:bubbleChart>
      <c:valAx>
        <c:axId val="207174928"/>
        <c:scaling>
          <c:orientation val="minMax"/>
          <c:min val="0"/>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CAGR Index (2024 – 2034)</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175472"/>
        <c:crossesAt val="0"/>
        <c:crossBetween val="midCat"/>
      </c:valAx>
      <c:valAx>
        <c:axId val="207175472"/>
        <c:scaling>
          <c:orientation val="minMax"/>
          <c:min val="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dirty="0"/>
                  <a:t>Market Share Index (2024E)</a:t>
                </a:r>
              </a:p>
            </c:rich>
          </c:tx>
          <c:overlay val="0"/>
          <c:spPr>
            <a:noFill/>
            <a:ln>
              <a:noFill/>
            </a:ln>
            <a:effectLst/>
          </c:spPr>
        </c:title>
        <c:numFmt formatCode="_(* #,##0.0_);_(* \(#,##0.0\);_(* &quot;-&quot;??_);_(@_)"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174928"/>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
          <c:y val="0.10852747093249289"/>
          <c:w val="0.99129804205946337"/>
          <c:h val="0.5507261834150482"/>
        </c:manualLayout>
      </c:layout>
      <c:barChart>
        <c:barDir val="col"/>
        <c:grouping val="stacked"/>
        <c:varyColors val="0"/>
        <c:ser>
          <c:idx val="0"/>
          <c:order val="0"/>
          <c:tx>
            <c:strRef>
              <c:f>Sheet1!$B$1</c:f>
              <c:strCache>
                <c:ptCount val="1"/>
                <c:pt idx="0">
                  <c:v>Value (US$ Mn)</c:v>
                </c:pt>
              </c:strCache>
            </c:strRef>
          </c:tx>
          <c:spPr>
            <a:noFill/>
            <a:ln>
              <a:noFill/>
            </a:ln>
            <a:effectLst/>
          </c:spPr>
          <c:invertIfNegative val="0"/>
          <c:dPt>
            <c:idx val="0"/>
            <c:invertIfNegative val="0"/>
            <c:bubble3D val="0"/>
            <c:spPr>
              <a:solidFill>
                <a:srgbClr val="2A5F8F"/>
              </a:solidFill>
              <a:ln>
                <a:noFill/>
              </a:ln>
              <a:effectLst/>
            </c:spPr>
            <c:extLst>
              <c:ext xmlns:c16="http://schemas.microsoft.com/office/drawing/2014/chart" uri="{C3380CC4-5D6E-409C-BE32-E72D297353CC}">
                <c16:uniqueId val="{00000001-B180-4502-9B86-6E517868A0C5}"/>
              </c:ext>
            </c:extLst>
          </c:dPt>
          <c:dPt>
            <c:idx val="1"/>
            <c:invertIfNegative val="0"/>
            <c:bubble3D val="0"/>
            <c:spPr>
              <a:noFill/>
              <a:ln>
                <a:noFill/>
              </a:ln>
              <a:effectLst/>
            </c:spPr>
            <c:extLst>
              <c:ext xmlns:c16="http://schemas.microsoft.com/office/drawing/2014/chart" uri="{C3380CC4-5D6E-409C-BE32-E72D297353CC}">
                <c16:uniqueId val="{00000003-B180-4502-9B86-6E517868A0C5}"/>
              </c:ext>
            </c:extLst>
          </c:dPt>
          <c:dPt>
            <c:idx val="3"/>
            <c:invertIfNegative val="0"/>
            <c:bubble3D val="0"/>
            <c:spPr>
              <a:noFill/>
              <a:ln>
                <a:noFill/>
              </a:ln>
              <a:effectLst/>
            </c:spPr>
            <c:extLst>
              <c:ext xmlns:c16="http://schemas.microsoft.com/office/drawing/2014/chart" uri="{C3380CC4-5D6E-409C-BE32-E72D297353CC}">
                <c16:uniqueId val="{00000005-B180-4502-9B86-6E517868A0C5}"/>
              </c:ext>
            </c:extLst>
          </c:dPt>
          <c:dPt>
            <c:idx val="4"/>
            <c:invertIfNegative val="0"/>
            <c:bubble3D val="0"/>
            <c:spPr>
              <a:noFill/>
              <a:ln>
                <a:noFill/>
              </a:ln>
              <a:effectLst/>
            </c:spPr>
            <c:extLst>
              <c:ext xmlns:c16="http://schemas.microsoft.com/office/drawing/2014/chart" uri="{C3380CC4-5D6E-409C-BE32-E72D297353CC}">
                <c16:uniqueId val="{00000007-B180-4502-9B86-6E517868A0C5}"/>
              </c:ext>
            </c:extLst>
          </c:dPt>
          <c:dPt>
            <c:idx val="6"/>
            <c:invertIfNegative val="0"/>
            <c:bubble3D val="0"/>
            <c:spPr>
              <a:noFill/>
              <a:ln>
                <a:noFill/>
              </a:ln>
              <a:effectLst/>
            </c:spPr>
            <c:extLst>
              <c:ext xmlns:c16="http://schemas.microsoft.com/office/drawing/2014/chart" uri="{C3380CC4-5D6E-409C-BE32-E72D297353CC}">
                <c16:uniqueId val="{00000000-2625-4C29-AEF3-D21797C8F87D}"/>
              </c:ext>
            </c:extLst>
          </c:dPt>
          <c:dPt>
            <c:idx val="7"/>
            <c:invertIfNegative val="0"/>
            <c:bubble3D val="0"/>
            <c:spPr>
              <a:solidFill>
                <a:schemeClr val="accent1"/>
              </a:solidFill>
              <a:ln>
                <a:noFill/>
              </a:ln>
              <a:effectLst/>
            </c:spPr>
            <c:extLst>
              <c:ext xmlns:c16="http://schemas.microsoft.com/office/drawing/2014/chart" uri="{C3380CC4-5D6E-409C-BE32-E72D297353CC}">
                <c16:uniqueId val="{00000000-2B93-494B-8050-F65A455575A4}"/>
              </c:ext>
            </c:extLst>
          </c:dPt>
          <c:dPt>
            <c:idx val="9"/>
            <c:invertIfNegative val="0"/>
            <c:bubble3D val="0"/>
            <c:spPr>
              <a:solidFill>
                <a:srgbClr val="2A5F8F"/>
              </a:solidFill>
              <a:ln>
                <a:noFill/>
              </a:ln>
              <a:effectLst/>
            </c:spPr>
            <c:extLst>
              <c:ext xmlns:c16="http://schemas.microsoft.com/office/drawing/2014/chart" uri="{C3380CC4-5D6E-409C-BE32-E72D297353CC}">
                <c16:uniqueId val="{00000009-B180-4502-9B86-6E517868A0C5}"/>
              </c:ext>
            </c:extLst>
          </c:dPt>
          <c:cat>
            <c:strRef>
              <c:f>Sheet1!$A$2:$A$11</c:f>
              <c:strCache>
                <c:ptCount val="8"/>
                <c:pt idx="0">
                  <c:v>2024E</c:v>
                </c:pt>
                <c:pt idx="1">
                  <c:v>KSA</c:v>
                </c:pt>
                <c:pt idx="2">
                  <c:v>Other GCC Countries</c:v>
                </c:pt>
                <c:pt idx="3">
                  <c:v>Türkiye</c:v>
                </c:pt>
                <c:pt idx="4">
                  <c:v>South Africa</c:v>
                </c:pt>
                <c:pt idx="5">
                  <c:v>Other African Union</c:v>
                </c:pt>
                <c:pt idx="6">
                  <c:v>Rest of MEA</c:v>
                </c:pt>
                <c:pt idx="7">
                  <c:v>2034F</c:v>
                </c:pt>
              </c:strCache>
            </c:strRef>
          </c:cat>
          <c:val>
            <c:numRef>
              <c:f>Sheet1!$B$2:$B$9</c:f>
              <c:numCache>
                <c:formatCode>0.0</c:formatCode>
                <c:ptCount val="8"/>
                <c:pt idx="0" formatCode="_ * #,##0.0_ ;_ * \-#,##0.0_ ;_ * &quot;-&quot;??_ ;_ @_ ">
                  <c:v>2923.4059275946483</c:v>
                </c:pt>
                <c:pt idx="1">
                  <c:v>2923.4059275946483</c:v>
                </c:pt>
                <c:pt idx="2">
                  <c:v>4854.3414903614057</c:v>
                </c:pt>
                <c:pt idx="3">
                  <c:v>6753.1488417978908</c:v>
                </c:pt>
                <c:pt idx="4">
                  <c:v>8619.8279819041036</c:v>
                </c:pt>
                <c:pt idx="5">
                  <c:v>10454.378910680045</c:v>
                </c:pt>
                <c:pt idx="6">
                  <c:v>12288.929839455985</c:v>
                </c:pt>
                <c:pt idx="7">
                  <c:v>14091.352556901655</c:v>
                </c:pt>
              </c:numCache>
            </c:numRef>
          </c:val>
          <c:extLst>
            <c:ext xmlns:c16="http://schemas.microsoft.com/office/drawing/2014/chart" uri="{C3380CC4-5D6E-409C-BE32-E72D297353CC}">
              <c16:uniqueId val="{0000000A-B180-4502-9B86-6E517868A0C5}"/>
            </c:ext>
          </c:extLst>
        </c:ser>
        <c:ser>
          <c:idx val="1"/>
          <c:order val="1"/>
          <c:tx>
            <c:strRef>
              <c:f>Sheet1!$C$1</c:f>
              <c:strCache>
                <c:ptCount val="1"/>
                <c:pt idx="0">
                  <c:v>Abs. $ Opportunity</c:v>
                </c:pt>
              </c:strCache>
            </c:strRef>
          </c:tx>
          <c:spPr>
            <a:solidFill>
              <a:schemeClr val="accent2"/>
            </a:solidFill>
            <a:ln>
              <a:noFill/>
            </a:ln>
            <a:effectLst/>
          </c:spPr>
          <c:invertIfNegative val="0"/>
          <c:cat>
            <c:strRef>
              <c:f>Sheet1!$A$2:$A$11</c:f>
              <c:strCache>
                <c:ptCount val="8"/>
                <c:pt idx="0">
                  <c:v>2024E</c:v>
                </c:pt>
                <c:pt idx="1">
                  <c:v>KSA</c:v>
                </c:pt>
                <c:pt idx="2">
                  <c:v>Other GCC Countries</c:v>
                </c:pt>
                <c:pt idx="3">
                  <c:v>Türkiye</c:v>
                </c:pt>
                <c:pt idx="4">
                  <c:v>South Africa</c:v>
                </c:pt>
                <c:pt idx="5">
                  <c:v>Other African Union</c:v>
                </c:pt>
                <c:pt idx="6">
                  <c:v>Rest of MEA</c:v>
                </c:pt>
                <c:pt idx="7">
                  <c:v>2034F</c:v>
                </c:pt>
              </c:strCache>
            </c:strRef>
          </c:cat>
          <c:val>
            <c:numRef>
              <c:f>Sheet1!$C$2:$C$9</c:f>
              <c:numCache>
                <c:formatCode>0.0</c:formatCode>
                <c:ptCount val="8"/>
                <c:pt idx="1">
                  <c:v>1930.9355627667574</c:v>
                </c:pt>
                <c:pt idx="2">
                  <c:v>1898.8073514364853</c:v>
                </c:pt>
                <c:pt idx="3">
                  <c:v>1866.6791401062133</c:v>
                </c:pt>
                <c:pt idx="4">
                  <c:v>1834.5509287759414</c:v>
                </c:pt>
                <c:pt idx="5">
                  <c:v>1834.5509287759401</c:v>
                </c:pt>
                <c:pt idx="6">
                  <c:v>1802.4227174456696</c:v>
                </c:pt>
              </c:numCache>
            </c:numRef>
          </c:val>
          <c:extLst>
            <c:ext xmlns:c16="http://schemas.microsoft.com/office/drawing/2014/chart" uri="{C3380CC4-5D6E-409C-BE32-E72D297353CC}">
              <c16:uniqueId val="{0000000B-B180-4502-9B86-6E517868A0C5}"/>
            </c:ext>
          </c:extLst>
        </c:ser>
        <c:dLbls>
          <c:showLegendKey val="0"/>
          <c:showVal val="0"/>
          <c:showCatName val="0"/>
          <c:showSerName val="0"/>
          <c:showPercent val="0"/>
          <c:showBubbleSize val="0"/>
        </c:dLbls>
        <c:gapWidth val="50"/>
        <c:overlap val="100"/>
        <c:axId val="207160784"/>
        <c:axId val="207162960"/>
      </c:barChart>
      <c:catAx>
        <c:axId val="2071607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chemeClr val="tx1"/>
                </a:solidFill>
                <a:latin typeface="+mn-lt"/>
                <a:ea typeface="+mn-ea"/>
                <a:cs typeface="+mn-cs"/>
              </a:defRPr>
            </a:pPr>
            <a:endParaRPr lang="en-US"/>
          </a:p>
        </c:txPr>
        <c:crossAx val="207162960"/>
        <c:crosses val="autoZero"/>
        <c:auto val="1"/>
        <c:lblAlgn val="ctr"/>
        <c:lblOffset val="100"/>
        <c:noMultiLvlLbl val="0"/>
      </c:catAx>
      <c:valAx>
        <c:axId val="207162960"/>
        <c:scaling>
          <c:orientation val="minMax"/>
        </c:scaling>
        <c:delete val="1"/>
        <c:axPos val="l"/>
        <c:numFmt formatCode="_ * #,##0.0_ ;_ * \-#,##0.0_ ;_ * &quot;-&quot;??_ ;_ @_ " sourceLinked="1"/>
        <c:majorTickMark val="none"/>
        <c:minorTickMark val="none"/>
        <c:tickLblPos val="nextTo"/>
        <c:crossAx val="207160784"/>
        <c:crosses val="autoZero"/>
        <c:crossBetween val="between"/>
      </c:valAx>
      <c:spPr>
        <a:noFill/>
        <a:ln>
          <a:noFill/>
        </a:ln>
        <a:effectLst/>
      </c:spPr>
    </c:plotArea>
    <c:legend>
      <c:legendPos val="b"/>
      <c:layout>
        <c:manualLayout>
          <c:xMode val="edge"/>
          <c:yMode val="edge"/>
          <c:x val="0"/>
          <c:y val="0.92491160097731395"/>
          <c:w val="1"/>
          <c:h val="7.5088399022686089E-2"/>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6930181714891024E-2"/>
          <c:y val="2.7468119678420479E-2"/>
          <c:w val="0.97134892325172284"/>
          <c:h val="0.87898061619820778"/>
        </c:manualLayout>
      </c:layout>
      <c:ofPieChart>
        <c:ofPieType val="bar"/>
        <c:varyColors val="1"/>
        <c:ser>
          <c:idx val="0"/>
          <c:order val="0"/>
          <c:tx>
            <c:strRef>
              <c:f>Sheet1!$B$1</c:f>
              <c:strCache>
                <c:ptCount val="1"/>
                <c:pt idx="0">
                  <c:v>Value</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1C08-47FB-A237-ECFBF50244CD}"/>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1C08-47FB-A237-ECFBF50244CD}"/>
              </c:ext>
            </c:extLst>
          </c:dPt>
          <c:dPt>
            <c:idx val="2"/>
            <c:bubble3D val="0"/>
            <c:spPr>
              <a:solidFill>
                <a:srgbClr val="9E7E0A"/>
              </a:solidFill>
              <a:ln w="19050">
                <a:solidFill>
                  <a:schemeClr val="lt1"/>
                </a:solidFill>
              </a:ln>
              <a:effectLst/>
            </c:spPr>
            <c:extLst>
              <c:ext xmlns:c16="http://schemas.microsoft.com/office/drawing/2014/chart" uri="{C3380CC4-5D6E-409C-BE32-E72D297353CC}">
                <c16:uniqueId val="{00000005-1C08-47FB-A237-ECFBF50244CD}"/>
              </c:ext>
            </c:extLst>
          </c:dPt>
          <c:dLbls>
            <c:delete val="1"/>
          </c:dLbls>
          <c:cat>
            <c:strRef>
              <c:f>Sheet1!$A$2:$A$3</c:f>
              <c:strCache>
                <c:ptCount val="2"/>
                <c:pt idx="0">
                  <c:v>Other Players </c:v>
                </c:pt>
                <c:pt idx="1">
                  <c:v>Top Key Players</c:v>
                </c:pt>
              </c:strCache>
            </c:strRef>
          </c:cat>
          <c:val>
            <c:numRef>
              <c:f>Sheet1!$B$2:$B$3</c:f>
              <c:numCache>
                <c:formatCode>0.0%</c:formatCode>
                <c:ptCount val="2"/>
                <c:pt idx="0">
                  <c:v>0.56200000000000006</c:v>
                </c:pt>
                <c:pt idx="1">
                  <c:v>0.62697429084123413</c:v>
                </c:pt>
              </c:numCache>
            </c:numRef>
          </c:val>
          <c:extLst>
            <c:ext xmlns:c16="http://schemas.microsoft.com/office/drawing/2014/chart" uri="{C3380CC4-5D6E-409C-BE32-E72D297353CC}">
              <c16:uniqueId val="{00000006-1C08-47FB-A237-ECFBF50244CD}"/>
            </c:ext>
          </c:extLst>
        </c:ser>
        <c:dLbls>
          <c:showLegendKey val="0"/>
          <c:showVal val="1"/>
          <c:showCatName val="0"/>
          <c:showSerName val="0"/>
          <c:showPercent val="0"/>
          <c:showBubbleSize val="0"/>
          <c:showLeaderLines val="1"/>
        </c:dLbls>
        <c:gapWidth val="100"/>
        <c:secondPieSize val="75"/>
        <c:serLines>
          <c:spPr>
            <a:ln w="9525" cap="flat" cmpd="sng" algn="ctr">
              <a:solidFill>
                <a:schemeClr val="tx1">
                  <a:lumMod val="35000"/>
                  <a:lumOff val="65000"/>
                </a:schemeClr>
              </a:solidFill>
              <a:round/>
            </a:ln>
            <a:effectLst/>
          </c:spPr>
        </c:serLines>
      </c:ofPieChart>
      <c:spPr>
        <a:noFill/>
        <a:ln>
          <a:noFill/>
        </a:ln>
        <a:effectLst/>
      </c:spPr>
    </c:plotArea>
    <c:legend>
      <c:legendPos val="b"/>
      <c:layout>
        <c:manualLayout>
          <c:xMode val="edge"/>
          <c:yMode val="edge"/>
          <c:x val="6.5528637635770243E-2"/>
          <c:y val="0.91280376161840504"/>
          <c:w val="0.57067667861472304"/>
          <c:h val="5.7231016914227106E-2"/>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8321826490011068"/>
          <c:y val="2.437342533289075E-2"/>
          <c:w val="0.55107263297860032"/>
          <c:h val="0.93577328058595299"/>
        </c:manualLayout>
      </c:layout>
      <c:barChart>
        <c:barDir val="bar"/>
        <c:grouping val="clustered"/>
        <c:varyColors val="0"/>
        <c:ser>
          <c:idx val="0"/>
          <c:order val="0"/>
          <c:tx>
            <c:strRef>
              <c:f>Sheet1!$B$1</c:f>
              <c:strCache>
                <c:ptCount val="1"/>
                <c:pt idx="0">
                  <c:v>Sales</c:v>
                </c:pt>
              </c:strCache>
            </c:strRef>
          </c:tx>
          <c:spPr>
            <a:solidFill>
              <a:schemeClr val="accent1"/>
            </a:solidFill>
            <a:ln w="19050">
              <a:solidFill>
                <a:schemeClr val="lt1"/>
              </a:solidFill>
            </a:ln>
            <a:effectLst/>
          </c:spPr>
          <c:invertIfNegative val="0"/>
          <c:dPt>
            <c:idx val="0"/>
            <c:invertIfNegative val="0"/>
            <c:bubble3D val="0"/>
            <c:spPr>
              <a:solidFill>
                <a:schemeClr val="bg1">
                  <a:lumMod val="85000"/>
                </a:schemeClr>
              </a:solidFill>
              <a:ln w="19050">
                <a:solidFill>
                  <a:schemeClr val="lt1"/>
                </a:solidFill>
              </a:ln>
              <a:effectLst/>
            </c:spPr>
            <c:extLst>
              <c:ext xmlns:c16="http://schemas.microsoft.com/office/drawing/2014/chart" uri="{C3380CC4-5D6E-409C-BE32-E72D297353CC}">
                <c16:uniqueId val="{00000001-1043-44A6-A2C3-4EDCFA482BEB}"/>
              </c:ext>
            </c:extLst>
          </c:dPt>
          <c:dPt>
            <c:idx val="1"/>
            <c:invertIfNegative val="0"/>
            <c:bubble3D val="0"/>
            <c:spPr>
              <a:solidFill>
                <a:schemeClr val="accent2">
                  <a:lumMod val="40000"/>
                  <a:lumOff val="60000"/>
                </a:schemeClr>
              </a:solidFill>
              <a:ln w="19050">
                <a:solidFill>
                  <a:schemeClr val="lt1"/>
                </a:solidFill>
              </a:ln>
              <a:effectLst/>
            </c:spPr>
            <c:extLst>
              <c:ext xmlns:c16="http://schemas.microsoft.com/office/drawing/2014/chart" uri="{C3380CC4-5D6E-409C-BE32-E72D297353CC}">
                <c16:uniqueId val="{00000003-1043-44A6-A2C3-4EDCFA482BEB}"/>
              </c:ext>
            </c:extLst>
          </c:dPt>
          <c:dPt>
            <c:idx val="2"/>
            <c:invertIfNegative val="0"/>
            <c:bubble3D val="0"/>
            <c:spPr>
              <a:solidFill>
                <a:schemeClr val="accent4">
                  <a:lumMod val="40000"/>
                  <a:lumOff val="60000"/>
                </a:schemeClr>
              </a:solidFill>
              <a:ln w="19050">
                <a:solidFill>
                  <a:schemeClr val="lt1"/>
                </a:solidFill>
              </a:ln>
              <a:effectLst/>
            </c:spPr>
            <c:extLst>
              <c:ext xmlns:c16="http://schemas.microsoft.com/office/drawing/2014/chart" uri="{C3380CC4-5D6E-409C-BE32-E72D297353CC}">
                <c16:uniqueId val="{00000005-1043-44A6-A2C3-4EDCFA482BEB}"/>
              </c:ext>
            </c:extLst>
          </c:dPt>
          <c:dPt>
            <c:idx val="3"/>
            <c:invertIfNegative val="0"/>
            <c:bubble3D val="0"/>
            <c:spPr>
              <a:solidFill>
                <a:schemeClr val="accent1"/>
              </a:solidFill>
              <a:ln w="19050">
                <a:solidFill>
                  <a:schemeClr val="lt1"/>
                </a:solidFill>
              </a:ln>
              <a:effectLst/>
            </c:spPr>
            <c:extLst>
              <c:ext xmlns:c16="http://schemas.microsoft.com/office/drawing/2014/chart" uri="{C3380CC4-5D6E-409C-BE32-E72D297353CC}">
                <c16:uniqueId val="{00000007-1043-44A6-A2C3-4EDCFA482BEB}"/>
              </c:ext>
            </c:extLst>
          </c:dPt>
          <c:dLbls>
            <c:dLbl>
              <c:idx val="0"/>
              <c:tx>
                <c:rich>
                  <a:bodyPr/>
                  <a:lstStyle/>
                  <a:p>
                    <a:r>
                      <a:rPr lang="en-US" sz="1000" b="0" i="0" u="none" strike="noStrike" baseline="0" dirty="0">
                        <a:effectLst/>
                      </a:rPr>
                      <a:t>9-11%</a:t>
                    </a:r>
                    <a:r>
                      <a:rPr lang="en-US" sz="1000" b="0" i="0" u="none" strike="noStrike" baseline="0" dirty="0"/>
                      <a:t> </a:t>
                    </a:r>
                    <a:endParaRPr lang="en-US" dirty="0"/>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1043-44A6-A2C3-4EDCFA482BEB}"/>
                </c:ext>
              </c:extLst>
            </c:dLbl>
            <c:dLbl>
              <c:idx val="1"/>
              <c:tx>
                <c:rich>
                  <a:bodyPr/>
                  <a:lstStyle/>
                  <a:p>
                    <a:r>
                      <a:rPr lang="en-US" sz="1000" b="0" i="0" u="none" strike="noStrike" baseline="0" dirty="0">
                        <a:effectLst/>
                      </a:rPr>
                      <a:t>8-10%</a:t>
                    </a:r>
                    <a:r>
                      <a:rPr lang="en-US" sz="1000" b="0" i="0" u="none" strike="noStrike" baseline="0" dirty="0"/>
                      <a:t> </a:t>
                    </a:r>
                    <a:endParaRPr lang="en-US" dirty="0"/>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1043-44A6-A2C3-4EDCFA482BEB}"/>
                </c:ext>
              </c:extLst>
            </c:dLbl>
            <c:dLbl>
              <c:idx val="2"/>
              <c:tx>
                <c:rich>
                  <a:bodyPr/>
                  <a:lstStyle/>
                  <a:p>
                    <a:r>
                      <a:rPr lang="en-US" sz="1000" b="0" i="0" u="none" strike="noStrike" baseline="0" dirty="0">
                        <a:effectLst/>
                      </a:rPr>
                      <a:t>7-9%</a:t>
                    </a:r>
                    <a:r>
                      <a:rPr lang="en-US" sz="1000" b="0" i="0" u="none" strike="noStrike" baseline="0" dirty="0"/>
                      <a:t> </a:t>
                    </a:r>
                    <a:endParaRPr lang="en-US" dirty="0"/>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1043-44A6-A2C3-4EDCFA482BEB}"/>
                </c:ext>
              </c:extLst>
            </c:dLbl>
            <c:dLbl>
              <c:idx val="3"/>
              <c:layout>
                <c:manualLayout>
                  <c:x val="-5.5990436132708895E-3"/>
                  <c:y val="-2.7643400138217E-3"/>
                </c:manualLayout>
              </c:layout>
              <c:tx>
                <c:rich>
                  <a:bodyPr/>
                  <a:lstStyle/>
                  <a:p>
                    <a:r>
                      <a:rPr lang="en-US" sz="1000" b="0" i="0" u="none" strike="noStrike" baseline="0" dirty="0">
                        <a:effectLst/>
                      </a:rPr>
                      <a:t>7-9%</a:t>
                    </a:r>
                    <a:r>
                      <a:rPr lang="en-US" sz="1000" b="0" i="0" u="none" strike="noStrike" baseline="0" dirty="0"/>
                      <a:t> </a:t>
                    </a:r>
                    <a:endParaRPr lang="en-US" dirty="0"/>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1043-44A6-A2C3-4EDCFA482BEB}"/>
                </c:ext>
              </c:extLst>
            </c:dLbl>
            <c:dLbl>
              <c:idx val="4"/>
              <c:tx>
                <c:rich>
                  <a:bodyPr/>
                  <a:lstStyle/>
                  <a:p>
                    <a:r>
                      <a:rPr lang="en-US" sz="1000" b="0" i="0" u="none" strike="noStrike" baseline="0" dirty="0">
                        <a:effectLst/>
                      </a:rPr>
                      <a:t>6-8%</a:t>
                    </a:r>
                    <a:r>
                      <a:rPr lang="en-US" sz="1000" b="0" i="0" u="none" strike="noStrike" baseline="0" dirty="0"/>
                      <a:t> </a:t>
                    </a:r>
                    <a:endParaRPr lang="en-US" dirty="0"/>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1043-44A6-A2C3-4EDCFA482BEB}"/>
                </c:ext>
              </c:extLst>
            </c:dLbl>
            <c:dLbl>
              <c:idx val="5"/>
              <c:tx>
                <c:rich>
                  <a:bodyPr/>
                  <a:lstStyle/>
                  <a:p>
                    <a:r>
                      <a:rPr lang="en-US" sz="1000" b="0" i="0" u="none" strike="noStrike" baseline="0" dirty="0">
                        <a:effectLst/>
                      </a:rPr>
                      <a:t>5-7%</a:t>
                    </a:r>
                    <a:r>
                      <a:rPr lang="en-US" sz="1000" b="0" i="0" u="none" strike="noStrike" baseline="0" dirty="0"/>
                      <a:t> </a:t>
                    </a:r>
                    <a:endParaRPr lang="en-US" dirty="0"/>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1043-44A6-A2C3-4EDCFA482BEB}"/>
                </c:ext>
              </c:extLst>
            </c:dLbl>
            <c:dLbl>
              <c:idx val="6"/>
              <c:tx>
                <c:rich>
                  <a:bodyPr/>
                  <a:lstStyle/>
                  <a:p>
                    <a:r>
                      <a:rPr lang="en-US" sz="1000" b="0" i="0" u="none" strike="noStrike" baseline="0" dirty="0">
                        <a:effectLst/>
                      </a:rPr>
                      <a:t>5-7%</a:t>
                    </a:r>
                    <a:r>
                      <a:rPr lang="en-US" sz="1000" b="0" i="0" u="none" strike="noStrike" baseline="0" dirty="0"/>
                      <a:t> </a:t>
                    </a:r>
                    <a:endParaRPr lang="en-US" dirty="0"/>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1043-44A6-A2C3-4EDCFA482BEB}"/>
                </c:ext>
              </c:extLst>
            </c:dLbl>
            <c:dLbl>
              <c:idx val="7"/>
              <c:tx>
                <c:rich>
                  <a:bodyPr/>
                  <a:lstStyle/>
                  <a:p>
                    <a:r>
                      <a:rPr lang="en-US" sz="1000" b="0" i="0" u="none" strike="noStrike" baseline="0" dirty="0">
                        <a:effectLst/>
                      </a:rPr>
                      <a:t>2-3%</a:t>
                    </a:r>
                    <a:r>
                      <a:rPr lang="en-US" sz="1000" b="0" i="0" u="none" strike="noStrike" baseline="0" dirty="0"/>
                      <a:t> </a:t>
                    </a:r>
                    <a:endParaRPr lang="en-US" dirty="0"/>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1043-44A6-A2C3-4EDCFA482BEB}"/>
                </c:ext>
              </c:extLst>
            </c:dLbl>
            <c:dLbl>
              <c:idx val="8"/>
              <c:tx>
                <c:rich>
                  <a:bodyPr/>
                  <a:lstStyle/>
                  <a:p>
                    <a:r>
                      <a:rPr lang="en-US" sz="1000" b="0" i="0" u="none" strike="noStrike" baseline="0" dirty="0">
                        <a:effectLst/>
                      </a:rPr>
                      <a:t>1-2%</a:t>
                    </a:r>
                    <a:r>
                      <a:rPr lang="en-US" sz="1000" b="0" i="0" u="none" strike="noStrike" baseline="0" dirty="0"/>
                      <a:t> </a:t>
                    </a:r>
                    <a:endParaRPr lang="en-US" dirty="0"/>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44FE-4FA8-AD70-8B7380E05F6F}"/>
                </c:ext>
              </c:extLst>
            </c:dLbl>
            <c:dLbl>
              <c:idx val="9"/>
              <c:tx>
                <c:rich>
                  <a:bodyPr/>
                  <a:lstStyle/>
                  <a:p>
                    <a:r>
                      <a:rPr lang="en-US" sz="1000" b="0" i="0" u="none" strike="noStrike" baseline="0" dirty="0">
                        <a:effectLst/>
                      </a:rPr>
                      <a:t>1-2%</a:t>
                    </a:r>
                    <a:r>
                      <a:rPr lang="en-US" sz="1000" b="0" i="0" u="none" strike="noStrike" baseline="0" dirty="0"/>
                      <a:t> </a:t>
                    </a:r>
                    <a:endParaRPr lang="en-US" dirty="0"/>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F34F-4780-BAB9-ACF6735A8844}"/>
                </c:ext>
              </c:extLst>
            </c:dLbl>
            <c:dLbl>
              <c:idx val="10"/>
              <c:tx>
                <c:rich>
                  <a:bodyPr/>
                  <a:lstStyle/>
                  <a:p>
                    <a:r>
                      <a:rPr lang="en-US" sz="1000" b="0" i="0" u="none" strike="noStrike" baseline="0" dirty="0">
                        <a:effectLst/>
                      </a:rPr>
                      <a:t>0.1-0.5%</a:t>
                    </a:r>
                    <a:r>
                      <a:rPr lang="en-US" sz="1000" b="0" i="0" u="none" strike="noStrike" baseline="0" dirty="0"/>
                      <a:t> </a:t>
                    </a:r>
                    <a:endParaRPr lang="en-US" dirty="0"/>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44FE-4FA8-AD70-8B7380E05F6F}"/>
                </c:ext>
              </c:extLst>
            </c:dLbl>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1"/>
                <c:pt idx="0">
                  <c:v>CompanyA</c:v>
                </c:pt>
                <c:pt idx="1">
                  <c:v>CompanyB</c:v>
                </c:pt>
                <c:pt idx="2">
                  <c:v>CompanyC</c:v>
                </c:pt>
                <c:pt idx="3">
                  <c:v>CompanyD</c:v>
                </c:pt>
                <c:pt idx="4">
                  <c:v>CompanyE</c:v>
                </c:pt>
                <c:pt idx="5">
                  <c:v>CompanyF</c:v>
                </c:pt>
                <c:pt idx="6">
                  <c:v>CompanyG</c:v>
                </c:pt>
                <c:pt idx="7">
                  <c:v>CompanyH</c:v>
                </c:pt>
                <c:pt idx="8">
                  <c:v>CompanyI</c:v>
                </c:pt>
                <c:pt idx="9">
                  <c:v>CompanyJ</c:v>
                </c:pt>
                <c:pt idx="10">
                  <c:v>Others</c:v>
                </c:pt>
              </c:strCache>
            </c:strRef>
          </c:cat>
          <c:val>
            <c:numRef>
              <c:f>Sheet1!$B$2:$B$12</c:f>
              <c:numCache>
                <c:formatCode>0.0%</c:formatCode>
                <c:ptCount val="11"/>
                <c:pt idx="0">
                  <c:v>0.10055792563579147</c:v>
                </c:pt>
                <c:pt idx="1">
                  <c:v>9.5261206411231342E-2</c:v>
                </c:pt>
                <c:pt idx="2">
                  <c:v>8.521167323239115E-2</c:v>
                </c:pt>
                <c:pt idx="3">
                  <c:v>8.1014991579279813E-2</c:v>
                </c:pt>
                <c:pt idx="4">
                  <c:v>7.6552227539331108E-2</c:v>
                </c:pt>
                <c:pt idx="5">
                  <c:v>6.3922631060764637E-2</c:v>
                </c:pt>
                <c:pt idx="6">
                  <c:v>5.9691715379990559E-2</c:v>
                </c:pt>
                <c:pt idx="7">
                  <c:v>1.7999999999999999E-2</c:v>
                </c:pt>
                <c:pt idx="8">
                  <c:v>1.2999999999999999E-2</c:v>
                </c:pt>
                <c:pt idx="9">
                  <c:v>1.6E-2</c:v>
                </c:pt>
                <c:pt idx="10">
                  <c:v>0.3907876291612199</c:v>
                </c:pt>
              </c:numCache>
            </c:numRef>
          </c:val>
          <c:extLst>
            <c:ext xmlns:c16="http://schemas.microsoft.com/office/drawing/2014/chart" uri="{C3380CC4-5D6E-409C-BE32-E72D297353CC}">
              <c16:uniqueId val="{00000016-1043-44A6-A2C3-4EDCFA482BEB}"/>
            </c:ext>
          </c:extLst>
        </c:ser>
        <c:dLbls>
          <c:dLblPos val="outEnd"/>
          <c:showLegendKey val="0"/>
          <c:showVal val="1"/>
          <c:showCatName val="0"/>
          <c:showSerName val="0"/>
          <c:showPercent val="0"/>
          <c:showBubbleSize val="0"/>
        </c:dLbls>
        <c:gapWidth val="100"/>
        <c:axId val="207166224"/>
        <c:axId val="207189072"/>
      </c:barChart>
      <c:valAx>
        <c:axId val="207189072"/>
        <c:scaling>
          <c:orientation val="minMax"/>
          <c:max val="0.5"/>
        </c:scaling>
        <c:delete val="1"/>
        <c:axPos val="t"/>
        <c:numFmt formatCode="0.0%" sourceLinked="1"/>
        <c:majorTickMark val="out"/>
        <c:minorTickMark val="none"/>
        <c:tickLblPos val="nextTo"/>
        <c:crossAx val="207166224"/>
        <c:crosses val="autoZero"/>
        <c:crossBetween val="between"/>
      </c:valAx>
      <c:catAx>
        <c:axId val="207166224"/>
        <c:scaling>
          <c:orientation val="maxMin"/>
        </c:scaling>
        <c:delete val="0"/>
        <c:axPos val="l"/>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7189072"/>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745130984182574"/>
          <c:y val="5.681818181818182E-3"/>
          <c:w val="0.77618574814702024"/>
          <c:h val="0.99431818181818177"/>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BB10-42E4-9D2D-D54153B51914}"/>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BB10-42E4-9D2D-D54153B51914}"/>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9A03-4731-943F-AFAFF515B5F5}"/>
              </c:ext>
            </c:extLst>
          </c:dPt>
          <c:cat>
            <c:strRef>
              <c:f>Sheet1!$A$2:$A$4</c:f>
              <c:strCache>
                <c:ptCount val="3"/>
                <c:pt idx="0">
                  <c:v>tier 1</c:v>
                </c:pt>
                <c:pt idx="1">
                  <c:v>tier 2</c:v>
                </c:pt>
                <c:pt idx="2">
                  <c:v>tier 2</c:v>
                </c:pt>
              </c:strCache>
            </c:strRef>
          </c:cat>
          <c:val>
            <c:numRef>
              <c:f>Sheet1!$B$2:$B$4</c:f>
              <c:numCache>
                <c:formatCode>0%</c:formatCode>
                <c:ptCount val="3"/>
                <c:pt idx="0">
                  <c:v>0.438</c:v>
                </c:pt>
                <c:pt idx="1">
                  <c:v>0.56200000000000006</c:v>
                </c:pt>
                <c:pt idx="2">
                  <c:v>0.56200000000000006</c:v>
                </c:pt>
              </c:numCache>
            </c:numRef>
          </c:val>
          <c:extLst>
            <c:ext xmlns:c16="http://schemas.microsoft.com/office/drawing/2014/chart" uri="{C3380CC4-5D6E-409C-BE32-E72D297353CC}">
              <c16:uniqueId val="{00000006-BB10-42E4-9D2D-D54153B51914}"/>
            </c:ext>
          </c:extLst>
        </c:ser>
        <c:dLbls>
          <c:showLegendKey val="0"/>
          <c:showVal val="0"/>
          <c:showCatName val="0"/>
          <c:showSerName val="0"/>
          <c:showPercent val="0"/>
          <c:showBubbleSize val="0"/>
          <c:showLeaderLines val="1"/>
        </c:dLbls>
        <c:firstSliceAng val="0"/>
        <c:holeSize val="5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352333222831068E-2"/>
          <c:y val="2.4212573136977823E-2"/>
          <c:w val="0.8870921015238511"/>
          <c:h val="0.93870800098099894"/>
        </c:manualLayout>
      </c:layout>
      <c:pieChart>
        <c:varyColors val="1"/>
        <c:ser>
          <c:idx val="0"/>
          <c:order val="0"/>
          <c:tx>
            <c:strRef>
              <c:f>Sheet1!$B$1</c:f>
              <c:strCache>
                <c:ptCount val="1"/>
                <c:pt idx="0">
                  <c:v>Sales</c:v>
                </c:pt>
              </c:strCache>
            </c:strRef>
          </c:tx>
          <c:spPr>
            <a:ln w="3175">
              <a:solidFill>
                <a:sysClr val="window" lastClr="FFFFFF"/>
              </a:solidFill>
            </a:ln>
          </c:spPr>
          <c:dPt>
            <c:idx val="0"/>
            <c:bubble3D val="0"/>
            <c:spPr>
              <a:solidFill>
                <a:srgbClr val="A35313"/>
              </a:solidFill>
              <a:ln w="3175">
                <a:solidFill>
                  <a:sysClr val="window" lastClr="FFFFFF"/>
                </a:solidFill>
              </a:ln>
              <a:effectLst/>
            </c:spPr>
            <c:extLst>
              <c:ext xmlns:c16="http://schemas.microsoft.com/office/drawing/2014/chart" uri="{C3380CC4-5D6E-409C-BE32-E72D297353CC}">
                <c16:uniqueId val="{00000001-B213-4D67-A0A2-4BAB8D54D53E}"/>
              </c:ext>
            </c:extLst>
          </c:dPt>
          <c:dPt>
            <c:idx val="1"/>
            <c:bubble3D val="0"/>
            <c:spPr>
              <a:solidFill>
                <a:srgbClr val="A35313">
                  <a:lumMod val="20000"/>
                  <a:lumOff val="80000"/>
                </a:srgbClr>
              </a:solidFill>
              <a:ln w="3175">
                <a:solidFill>
                  <a:sysClr val="window" lastClr="FFFFFF"/>
                </a:solidFill>
              </a:ln>
              <a:effectLst/>
            </c:spPr>
            <c:extLst>
              <c:ext xmlns:c16="http://schemas.microsoft.com/office/drawing/2014/chart" uri="{C3380CC4-5D6E-409C-BE32-E72D297353CC}">
                <c16:uniqueId val="{00000003-B213-4D67-A0A2-4BAB8D54D53E}"/>
              </c:ext>
            </c:extLst>
          </c:dPt>
          <c:cat>
            <c:strRef>
              <c:f>Sheet1!$A$2:$A$3</c:f>
              <c:strCache>
                <c:ptCount val="2"/>
                <c:pt idx="0">
                  <c:v>A</c:v>
                </c:pt>
                <c:pt idx="1">
                  <c:v>B</c:v>
                </c:pt>
              </c:strCache>
            </c:strRef>
          </c:cat>
          <c:val>
            <c:numRef>
              <c:f>Sheet1!$B$2:$B$3</c:f>
              <c:numCache>
                <c:formatCode>0.0%</c:formatCode>
                <c:ptCount val="2"/>
                <c:pt idx="0">
                  <c:v>0.1</c:v>
                </c:pt>
                <c:pt idx="1">
                  <c:v>0.9</c:v>
                </c:pt>
              </c:numCache>
            </c:numRef>
          </c:val>
          <c:extLst>
            <c:ext xmlns:c16="http://schemas.microsoft.com/office/drawing/2014/chart" uri="{C3380CC4-5D6E-409C-BE32-E72D297353CC}">
              <c16:uniqueId val="{00000004-B213-4D67-A0A2-4BAB8D54D53E}"/>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352333222831068E-2"/>
          <c:y val="2.4212573136977823E-2"/>
          <c:w val="0.8870921015238511"/>
          <c:h val="0.93870800098099894"/>
        </c:manualLayout>
      </c:layout>
      <c:pieChart>
        <c:varyColors val="1"/>
        <c:ser>
          <c:idx val="0"/>
          <c:order val="0"/>
          <c:tx>
            <c:strRef>
              <c:f>Sheet1!$B$1</c:f>
              <c:strCache>
                <c:ptCount val="1"/>
                <c:pt idx="0">
                  <c:v>Sales</c:v>
                </c:pt>
              </c:strCache>
            </c:strRef>
          </c:tx>
          <c:spPr>
            <a:ln w="3175">
              <a:solidFill>
                <a:sysClr val="window" lastClr="FFFFFF"/>
              </a:solidFill>
            </a:ln>
          </c:spPr>
          <c:dPt>
            <c:idx val="0"/>
            <c:bubble3D val="0"/>
            <c:spPr>
              <a:solidFill>
                <a:srgbClr val="A35313"/>
              </a:solidFill>
              <a:ln w="3175">
                <a:solidFill>
                  <a:sysClr val="window" lastClr="FFFFFF"/>
                </a:solidFill>
              </a:ln>
              <a:effectLst/>
            </c:spPr>
            <c:extLst>
              <c:ext xmlns:c16="http://schemas.microsoft.com/office/drawing/2014/chart" uri="{C3380CC4-5D6E-409C-BE32-E72D297353CC}">
                <c16:uniqueId val="{00000001-B213-4D67-A0A2-4BAB8D54D53E}"/>
              </c:ext>
            </c:extLst>
          </c:dPt>
          <c:dPt>
            <c:idx val="1"/>
            <c:bubble3D val="0"/>
            <c:spPr>
              <a:solidFill>
                <a:srgbClr val="A35313">
                  <a:lumMod val="20000"/>
                  <a:lumOff val="80000"/>
                </a:srgbClr>
              </a:solidFill>
              <a:ln w="3175">
                <a:solidFill>
                  <a:sysClr val="window" lastClr="FFFFFF"/>
                </a:solidFill>
              </a:ln>
              <a:effectLst/>
            </c:spPr>
            <c:extLst>
              <c:ext xmlns:c16="http://schemas.microsoft.com/office/drawing/2014/chart" uri="{C3380CC4-5D6E-409C-BE32-E72D297353CC}">
                <c16:uniqueId val="{00000003-B213-4D67-A0A2-4BAB8D54D53E}"/>
              </c:ext>
            </c:extLst>
          </c:dPt>
          <c:cat>
            <c:strRef>
              <c:f>Sheet1!$A$2:$A$3</c:f>
              <c:strCache>
                <c:ptCount val="2"/>
                <c:pt idx="0">
                  <c:v>A</c:v>
                </c:pt>
                <c:pt idx="1">
                  <c:v>B</c:v>
                </c:pt>
              </c:strCache>
            </c:strRef>
          </c:cat>
          <c:val>
            <c:numRef>
              <c:f>Sheet1!$B$2:$B$3</c:f>
              <c:numCache>
                <c:formatCode>0.0%</c:formatCode>
                <c:ptCount val="2"/>
                <c:pt idx="0">
                  <c:v>7.5999999999999998E-2</c:v>
                </c:pt>
                <c:pt idx="1">
                  <c:v>0.92400000000000004</c:v>
                </c:pt>
              </c:numCache>
            </c:numRef>
          </c:val>
          <c:extLst>
            <c:ext xmlns:c16="http://schemas.microsoft.com/office/drawing/2014/chart" uri="{C3380CC4-5D6E-409C-BE32-E72D297353CC}">
              <c16:uniqueId val="{00000004-B213-4D67-A0A2-4BAB8D54D53E}"/>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352333222831068E-2"/>
          <c:y val="2.4212573136977823E-2"/>
          <c:w val="0.8870921015238511"/>
          <c:h val="0.93870800098099894"/>
        </c:manualLayout>
      </c:layout>
      <c:pieChart>
        <c:varyColors val="1"/>
        <c:ser>
          <c:idx val="0"/>
          <c:order val="0"/>
          <c:tx>
            <c:strRef>
              <c:f>Sheet1!$B$1</c:f>
              <c:strCache>
                <c:ptCount val="1"/>
                <c:pt idx="0">
                  <c:v>Sales</c:v>
                </c:pt>
              </c:strCache>
            </c:strRef>
          </c:tx>
          <c:spPr>
            <a:ln w="3175">
              <a:solidFill>
                <a:sysClr val="window" lastClr="FFFFFF"/>
              </a:solidFill>
            </a:ln>
          </c:spPr>
          <c:dPt>
            <c:idx val="0"/>
            <c:bubble3D val="0"/>
            <c:spPr>
              <a:solidFill>
                <a:srgbClr val="A35313"/>
              </a:solidFill>
              <a:ln w="3175">
                <a:solidFill>
                  <a:sysClr val="window" lastClr="FFFFFF"/>
                </a:solidFill>
              </a:ln>
              <a:effectLst/>
            </c:spPr>
            <c:extLst>
              <c:ext xmlns:c16="http://schemas.microsoft.com/office/drawing/2014/chart" uri="{C3380CC4-5D6E-409C-BE32-E72D297353CC}">
                <c16:uniqueId val="{00000001-F51B-4ADE-98A1-69A56CCFD822}"/>
              </c:ext>
            </c:extLst>
          </c:dPt>
          <c:dPt>
            <c:idx val="1"/>
            <c:bubble3D val="0"/>
            <c:spPr>
              <a:solidFill>
                <a:srgbClr val="A35313">
                  <a:lumMod val="20000"/>
                  <a:lumOff val="80000"/>
                </a:srgbClr>
              </a:solidFill>
              <a:ln w="3175">
                <a:solidFill>
                  <a:sysClr val="window" lastClr="FFFFFF"/>
                </a:solidFill>
              </a:ln>
              <a:effectLst/>
            </c:spPr>
            <c:extLst>
              <c:ext xmlns:c16="http://schemas.microsoft.com/office/drawing/2014/chart" uri="{C3380CC4-5D6E-409C-BE32-E72D297353CC}">
                <c16:uniqueId val="{00000003-F51B-4ADE-98A1-69A56CCFD822}"/>
              </c:ext>
            </c:extLst>
          </c:dPt>
          <c:cat>
            <c:strRef>
              <c:f>Sheet1!$A$2:$A$3</c:f>
              <c:strCache>
                <c:ptCount val="2"/>
                <c:pt idx="0">
                  <c:v>A</c:v>
                </c:pt>
                <c:pt idx="1">
                  <c:v>B</c:v>
                </c:pt>
              </c:strCache>
            </c:strRef>
          </c:cat>
          <c:val>
            <c:numRef>
              <c:f>Sheet1!$B$2:$B$3</c:f>
              <c:numCache>
                <c:formatCode>0.0%</c:formatCode>
                <c:ptCount val="2"/>
                <c:pt idx="0">
                  <c:v>8.5000000000000006E-2</c:v>
                </c:pt>
                <c:pt idx="1">
                  <c:v>0.91500000000000004</c:v>
                </c:pt>
              </c:numCache>
            </c:numRef>
          </c:val>
          <c:extLst>
            <c:ext xmlns:c16="http://schemas.microsoft.com/office/drawing/2014/chart" uri="{C3380CC4-5D6E-409C-BE32-E72D297353CC}">
              <c16:uniqueId val="{00000004-F51B-4ADE-98A1-69A56CCFD822}"/>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352333222831068E-2"/>
          <c:y val="2.4212573136977823E-2"/>
          <c:w val="0.8870921015238511"/>
          <c:h val="0.93870800098099894"/>
        </c:manualLayout>
      </c:layout>
      <c:pieChart>
        <c:varyColors val="1"/>
        <c:ser>
          <c:idx val="0"/>
          <c:order val="0"/>
          <c:tx>
            <c:strRef>
              <c:f>Sheet1!$B$1</c:f>
              <c:strCache>
                <c:ptCount val="1"/>
                <c:pt idx="0">
                  <c:v>Sales</c:v>
                </c:pt>
              </c:strCache>
            </c:strRef>
          </c:tx>
          <c:spPr>
            <a:ln w="3175">
              <a:solidFill>
                <a:sysClr val="window" lastClr="FFFFFF"/>
              </a:solidFill>
            </a:ln>
          </c:spPr>
          <c:dPt>
            <c:idx val="0"/>
            <c:bubble3D val="0"/>
            <c:spPr>
              <a:solidFill>
                <a:srgbClr val="A35313"/>
              </a:solidFill>
              <a:ln w="3175">
                <a:solidFill>
                  <a:sysClr val="window" lastClr="FFFFFF"/>
                </a:solidFill>
              </a:ln>
              <a:effectLst/>
            </c:spPr>
            <c:extLst>
              <c:ext xmlns:c16="http://schemas.microsoft.com/office/drawing/2014/chart" uri="{C3380CC4-5D6E-409C-BE32-E72D297353CC}">
                <c16:uniqueId val="{00000001-4F2A-4E99-BA44-B0637DABB650}"/>
              </c:ext>
            </c:extLst>
          </c:dPt>
          <c:dPt>
            <c:idx val="1"/>
            <c:bubble3D val="0"/>
            <c:spPr>
              <a:solidFill>
                <a:srgbClr val="A35313">
                  <a:lumMod val="20000"/>
                  <a:lumOff val="80000"/>
                </a:srgbClr>
              </a:solidFill>
              <a:ln w="3175">
                <a:solidFill>
                  <a:sysClr val="window" lastClr="FFFFFF"/>
                </a:solidFill>
              </a:ln>
              <a:effectLst/>
            </c:spPr>
            <c:extLst>
              <c:ext xmlns:c16="http://schemas.microsoft.com/office/drawing/2014/chart" uri="{C3380CC4-5D6E-409C-BE32-E72D297353CC}">
                <c16:uniqueId val="{00000003-4F2A-4E99-BA44-B0637DABB650}"/>
              </c:ext>
            </c:extLst>
          </c:dPt>
          <c:cat>
            <c:strRef>
              <c:f>Sheet1!$A$2:$A$3</c:f>
              <c:strCache>
                <c:ptCount val="2"/>
                <c:pt idx="0">
                  <c:v>A</c:v>
                </c:pt>
                <c:pt idx="1">
                  <c:v>B</c:v>
                </c:pt>
              </c:strCache>
            </c:strRef>
          </c:cat>
          <c:val>
            <c:numRef>
              <c:f>Sheet1!$B$2:$B$3</c:f>
              <c:numCache>
                <c:formatCode>0.0%</c:formatCode>
                <c:ptCount val="2"/>
                <c:pt idx="0">
                  <c:v>0.1</c:v>
                </c:pt>
                <c:pt idx="1">
                  <c:v>0.9</c:v>
                </c:pt>
              </c:numCache>
            </c:numRef>
          </c:val>
          <c:extLst>
            <c:ext xmlns:c16="http://schemas.microsoft.com/office/drawing/2014/chart" uri="{C3380CC4-5D6E-409C-BE32-E72D297353CC}">
              <c16:uniqueId val="{00000004-4F2A-4E99-BA44-B0637DABB650}"/>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352333222831068E-2"/>
          <c:y val="2.4212573136977823E-2"/>
          <c:w val="0.8870921015238511"/>
          <c:h val="0.93870800098099894"/>
        </c:manualLayout>
      </c:layout>
      <c:pieChart>
        <c:varyColors val="1"/>
        <c:ser>
          <c:idx val="0"/>
          <c:order val="0"/>
          <c:tx>
            <c:strRef>
              <c:f>Sheet1!$B$1</c:f>
              <c:strCache>
                <c:ptCount val="1"/>
                <c:pt idx="0">
                  <c:v>Sales</c:v>
                </c:pt>
              </c:strCache>
            </c:strRef>
          </c:tx>
          <c:spPr>
            <a:ln w="3175">
              <a:solidFill>
                <a:sysClr val="window" lastClr="FFFFFF"/>
              </a:solidFill>
            </a:ln>
          </c:spPr>
          <c:dPt>
            <c:idx val="0"/>
            <c:bubble3D val="0"/>
            <c:spPr>
              <a:solidFill>
                <a:srgbClr val="A35313"/>
              </a:solidFill>
              <a:ln w="3175">
                <a:solidFill>
                  <a:sysClr val="window" lastClr="FFFFFF"/>
                </a:solidFill>
              </a:ln>
              <a:effectLst/>
            </c:spPr>
            <c:extLst>
              <c:ext xmlns:c16="http://schemas.microsoft.com/office/drawing/2014/chart" uri="{C3380CC4-5D6E-409C-BE32-E72D297353CC}">
                <c16:uniqueId val="{00000001-19B0-491F-9061-18891732E194}"/>
              </c:ext>
            </c:extLst>
          </c:dPt>
          <c:dPt>
            <c:idx val="1"/>
            <c:bubble3D val="0"/>
            <c:spPr>
              <a:solidFill>
                <a:srgbClr val="A35313">
                  <a:lumMod val="20000"/>
                  <a:lumOff val="80000"/>
                </a:srgbClr>
              </a:solidFill>
              <a:ln w="3175">
                <a:solidFill>
                  <a:sysClr val="window" lastClr="FFFFFF"/>
                </a:solidFill>
              </a:ln>
              <a:effectLst/>
            </c:spPr>
            <c:extLst>
              <c:ext xmlns:c16="http://schemas.microsoft.com/office/drawing/2014/chart" uri="{C3380CC4-5D6E-409C-BE32-E72D297353CC}">
                <c16:uniqueId val="{00000003-19B0-491F-9061-18891732E194}"/>
              </c:ext>
            </c:extLst>
          </c:dPt>
          <c:cat>
            <c:strRef>
              <c:f>Sheet1!$A$2:$A$3</c:f>
              <c:strCache>
                <c:ptCount val="2"/>
                <c:pt idx="0">
                  <c:v>A</c:v>
                </c:pt>
                <c:pt idx="1">
                  <c:v>B</c:v>
                </c:pt>
              </c:strCache>
            </c:strRef>
          </c:cat>
          <c:val>
            <c:numRef>
              <c:f>Sheet1!$B$2:$B$3</c:f>
              <c:numCache>
                <c:formatCode>0.0%</c:formatCode>
                <c:ptCount val="2"/>
                <c:pt idx="0">
                  <c:v>7.5999999999999998E-2</c:v>
                </c:pt>
                <c:pt idx="1">
                  <c:v>0.92400000000000004</c:v>
                </c:pt>
              </c:numCache>
            </c:numRef>
          </c:val>
          <c:extLst>
            <c:ext xmlns:c16="http://schemas.microsoft.com/office/drawing/2014/chart" uri="{C3380CC4-5D6E-409C-BE32-E72D297353CC}">
              <c16:uniqueId val="{00000004-19B0-491F-9061-18891732E194}"/>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352333222831068E-2"/>
          <c:y val="2.4212573136977823E-2"/>
          <c:w val="0.8870921015238511"/>
          <c:h val="0.93870800098099894"/>
        </c:manualLayout>
      </c:layout>
      <c:pieChart>
        <c:varyColors val="1"/>
        <c:ser>
          <c:idx val="0"/>
          <c:order val="0"/>
          <c:tx>
            <c:strRef>
              <c:f>Sheet1!$B$1</c:f>
              <c:strCache>
                <c:ptCount val="1"/>
                <c:pt idx="0">
                  <c:v>Sales</c:v>
                </c:pt>
              </c:strCache>
            </c:strRef>
          </c:tx>
          <c:spPr>
            <a:ln w="3175">
              <a:solidFill>
                <a:sysClr val="window" lastClr="FFFFFF"/>
              </a:solidFill>
            </a:ln>
          </c:spPr>
          <c:dPt>
            <c:idx val="0"/>
            <c:bubble3D val="0"/>
            <c:spPr>
              <a:solidFill>
                <a:srgbClr val="A35313"/>
              </a:solidFill>
              <a:ln w="3175">
                <a:solidFill>
                  <a:sysClr val="window" lastClr="FFFFFF"/>
                </a:solidFill>
              </a:ln>
              <a:effectLst/>
            </c:spPr>
            <c:extLst>
              <c:ext xmlns:c16="http://schemas.microsoft.com/office/drawing/2014/chart" uri="{C3380CC4-5D6E-409C-BE32-E72D297353CC}">
                <c16:uniqueId val="{00000001-9E16-497F-99EF-771B5FC0CCD8}"/>
              </c:ext>
            </c:extLst>
          </c:dPt>
          <c:dPt>
            <c:idx val="1"/>
            <c:bubble3D val="0"/>
            <c:spPr>
              <a:solidFill>
                <a:srgbClr val="A35313">
                  <a:lumMod val="20000"/>
                  <a:lumOff val="80000"/>
                </a:srgbClr>
              </a:solidFill>
              <a:ln w="3175">
                <a:solidFill>
                  <a:sysClr val="window" lastClr="FFFFFF"/>
                </a:solidFill>
              </a:ln>
              <a:effectLst/>
            </c:spPr>
            <c:extLst>
              <c:ext xmlns:c16="http://schemas.microsoft.com/office/drawing/2014/chart" uri="{C3380CC4-5D6E-409C-BE32-E72D297353CC}">
                <c16:uniqueId val="{00000003-9E16-497F-99EF-771B5FC0CCD8}"/>
              </c:ext>
            </c:extLst>
          </c:dPt>
          <c:cat>
            <c:strRef>
              <c:f>Sheet1!$A$2:$A$3</c:f>
              <c:strCache>
                <c:ptCount val="2"/>
                <c:pt idx="0">
                  <c:v>A</c:v>
                </c:pt>
                <c:pt idx="1">
                  <c:v>B</c:v>
                </c:pt>
              </c:strCache>
            </c:strRef>
          </c:cat>
          <c:val>
            <c:numRef>
              <c:f>Sheet1!$B$2:$B$3</c:f>
              <c:numCache>
                <c:formatCode>0.0%</c:formatCode>
                <c:ptCount val="2"/>
                <c:pt idx="0">
                  <c:v>8.5000000000000006E-2</c:v>
                </c:pt>
                <c:pt idx="1">
                  <c:v>0.91500000000000004</c:v>
                </c:pt>
              </c:numCache>
            </c:numRef>
          </c:val>
          <c:extLst>
            <c:ext xmlns:c16="http://schemas.microsoft.com/office/drawing/2014/chart" uri="{C3380CC4-5D6E-409C-BE32-E72D297353CC}">
              <c16:uniqueId val="{00000004-9E16-497F-99EF-771B5FC0CCD8}"/>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352333222831068E-2"/>
          <c:y val="2.4212573136977823E-2"/>
          <c:w val="0.8870921015238511"/>
          <c:h val="0.93870800098099894"/>
        </c:manualLayout>
      </c:layout>
      <c:pieChart>
        <c:varyColors val="1"/>
        <c:ser>
          <c:idx val="0"/>
          <c:order val="0"/>
          <c:tx>
            <c:strRef>
              <c:f>Sheet1!$B$1</c:f>
              <c:strCache>
                <c:ptCount val="1"/>
                <c:pt idx="0">
                  <c:v>Sales</c:v>
                </c:pt>
              </c:strCache>
            </c:strRef>
          </c:tx>
          <c:spPr>
            <a:ln w="3175">
              <a:solidFill>
                <a:sysClr val="window" lastClr="FFFFFF"/>
              </a:solidFill>
            </a:ln>
          </c:spPr>
          <c:dPt>
            <c:idx val="0"/>
            <c:bubble3D val="0"/>
            <c:spPr>
              <a:solidFill>
                <a:srgbClr val="A35313"/>
              </a:solidFill>
              <a:ln w="3175">
                <a:solidFill>
                  <a:sysClr val="window" lastClr="FFFFFF"/>
                </a:solidFill>
              </a:ln>
              <a:effectLst/>
            </c:spPr>
            <c:extLst>
              <c:ext xmlns:c16="http://schemas.microsoft.com/office/drawing/2014/chart" uri="{C3380CC4-5D6E-409C-BE32-E72D297353CC}">
                <c16:uniqueId val="{00000001-4122-42EB-8AE9-47511962B4F4}"/>
              </c:ext>
            </c:extLst>
          </c:dPt>
          <c:dPt>
            <c:idx val="1"/>
            <c:bubble3D val="0"/>
            <c:spPr>
              <a:solidFill>
                <a:srgbClr val="A35313">
                  <a:lumMod val="20000"/>
                  <a:lumOff val="80000"/>
                </a:srgbClr>
              </a:solidFill>
              <a:ln w="3175">
                <a:solidFill>
                  <a:sysClr val="window" lastClr="FFFFFF"/>
                </a:solidFill>
              </a:ln>
              <a:effectLst/>
            </c:spPr>
            <c:extLst>
              <c:ext xmlns:c16="http://schemas.microsoft.com/office/drawing/2014/chart" uri="{C3380CC4-5D6E-409C-BE32-E72D297353CC}">
                <c16:uniqueId val="{00000003-4122-42EB-8AE9-47511962B4F4}"/>
              </c:ext>
            </c:extLst>
          </c:dPt>
          <c:cat>
            <c:strRef>
              <c:f>Sheet1!$A$2:$A$3</c:f>
              <c:strCache>
                <c:ptCount val="2"/>
                <c:pt idx="0">
                  <c:v>A</c:v>
                </c:pt>
                <c:pt idx="1">
                  <c:v>B</c:v>
                </c:pt>
              </c:strCache>
            </c:strRef>
          </c:cat>
          <c:val>
            <c:numRef>
              <c:f>Sheet1!$B$2:$B$3</c:f>
              <c:numCache>
                <c:formatCode>0.0%</c:formatCode>
                <c:ptCount val="2"/>
                <c:pt idx="0">
                  <c:v>0.1</c:v>
                </c:pt>
                <c:pt idx="1">
                  <c:v>0.9</c:v>
                </c:pt>
              </c:numCache>
            </c:numRef>
          </c:val>
          <c:extLst>
            <c:ext xmlns:c16="http://schemas.microsoft.com/office/drawing/2014/chart" uri="{C3380CC4-5D6E-409C-BE32-E72D297353CC}">
              <c16:uniqueId val="{00000004-4122-42EB-8AE9-47511962B4F4}"/>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352333222831068E-2"/>
          <c:y val="2.4212573136977823E-2"/>
          <c:w val="0.8870921015238511"/>
          <c:h val="0.93870800098099894"/>
        </c:manualLayout>
      </c:layout>
      <c:pieChart>
        <c:varyColors val="1"/>
        <c:ser>
          <c:idx val="0"/>
          <c:order val="0"/>
          <c:tx>
            <c:strRef>
              <c:f>Sheet1!$B$1</c:f>
              <c:strCache>
                <c:ptCount val="1"/>
                <c:pt idx="0">
                  <c:v>Sales</c:v>
                </c:pt>
              </c:strCache>
            </c:strRef>
          </c:tx>
          <c:spPr>
            <a:ln w="3175">
              <a:solidFill>
                <a:sysClr val="window" lastClr="FFFFFF"/>
              </a:solidFill>
            </a:ln>
          </c:spPr>
          <c:dPt>
            <c:idx val="0"/>
            <c:bubble3D val="0"/>
            <c:spPr>
              <a:solidFill>
                <a:srgbClr val="A35313"/>
              </a:solidFill>
              <a:ln w="3175">
                <a:solidFill>
                  <a:sysClr val="window" lastClr="FFFFFF"/>
                </a:solidFill>
              </a:ln>
              <a:effectLst/>
            </c:spPr>
            <c:extLst>
              <c:ext xmlns:c16="http://schemas.microsoft.com/office/drawing/2014/chart" uri="{C3380CC4-5D6E-409C-BE32-E72D297353CC}">
                <c16:uniqueId val="{00000001-775D-49F3-A7CF-FC68695FA65B}"/>
              </c:ext>
            </c:extLst>
          </c:dPt>
          <c:dPt>
            <c:idx val="1"/>
            <c:bubble3D val="0"/>
            <c:spPr>
              <a:solidFill>
                <a:srgbClr val="A35313">
                  <a:lumMod val="20000"/>
                  <a:lumOff val="80000"/>
                </a:srgbClr>
              </a:solidFill>
              <a:ln w="3175">
                <a:solidFill>
                  <a:sysClr val="window" lastClr="FFFFFF"/>
                </a:solidFill>
              </a:ln>
              <a:effectLst/>
            </c:spPr>
            <c:extLst>
              <c:ext xmlns:c16="http://schemas.microsoft.com/office/drawing/2014/chart" uri="{C3380CC4-5D6E-409C-BE32-E72D297353CC}">
                <c16:uniqueId val="{00000003-775D-49F3-A7CF-FC68695FA65B}"/>
              </c:ext>
            </c:extLst>
          </c:dPt>
          <c:cat>
            <c:strRef>
              <c:f>Sheet1!$A$2:$A$3</c:f>
              <c:strCache>
                <c:ptCount val="2"/>
                <c:pt idx="0">
                  <c:v>A</c:v>
                </c:pt>
                <c:pt idx="1">
                  <c:v>B</c:v>
                </c:pt>
              </c:strCache>
            </c:strRef>
          </c:cat>
          <c:val>
            <c:numRef>
              <c:f>Sheet1!$B$2:$B$3</c:f>
              <c:numCache>
                <c:formatCode>0.0%</c:formatCode>
                <c:ptCount val="2"/>
                <c:pt idx="0">
                  <c:v>7.5999999999999998E-2</c:v>
                </c:pt>
                <c:pt idx="1">
                  <c:v>0.92400000000000004</c:v>
                </c:pt>
              </c:numCache>
            </c:numRef>
          </c:val>
          <c:extLst>
            <c:ext xmlns:c16="http://schemas.microsoft.com/office/drawing/2014/chart" uri="{C3380CC4-5D6E-409C-BE32-E72D297353CC}">
              <c16:uniqueId val="{00000004-775D-49F3-A7CF-FC68695FA65B}"/>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352333222831068E-2"/>
          <c:y val="2.4212573136977823E-2"/>
          <c:w val="0.8870921015238511"/>
          <c:h val="0.93870800098099894"/>
        </c:manualLayout>
      </c:layout>
      <c:pieChart>
        <c:varyColors val="1"/>
        <c:ser>
          <c:idx val="0"/>
          <c:order val="0"/>
          <c:tx>
            <c:strRef>
              <c:f>Sheet1!$B$1</c:f>
              <c:strCache>
                <c:ptCount val="1"/>
                <c:pt idx="0">
                  <c:v>Sales</c:v>
                </c:pt>
              </c:strCache>
            </c:strRef>
          </c:tx>
          <c:spPr>
            <a:ln w="3175">
              <a:solidFill>
                <a:sysClr val="window" lastClr="FFFFFF"/>
              </a:solidFill>
            </a:ln>
          </c:spPr>
          <c:dPt>
            <c:idx val="0"/>
            <c:bubble3D val="0"/>
            <c:spPr>
              <a:solidFill>
                <a:srgbClr val="A35313"/>
              </a:solidFill>
              <a:ln w="3175">
                <a:solidFill>
                  <a:sysClr val="window" lastClr="FFFFFF"/>
                </a:solidFill>
              </a:ln>
              <a:effectLst/>
            </c:spPr>
            <c:extLst>
              <c:ext xmlns:c16="http://schemas.microsoft.com/office/drawing/2014/chart" uri="{C3380CC4-5D6E-409C-BE32-E72D297353CC}">
                <c16:uniqueId val="{00000001-85F0-449C-9CCE-3BA651C7FE7A}"/>
              </c:ext>
            </c:extLst>
          </c:dPt>
          <c:dPt>
            <c:idx val="1"/>
            <c:bubble3D val="0"/>
            <c:spPr>
              <a:solidFill>
                <a:srgbClr val="A35313">
                  <a:lumMod val="20000"/>
                  <a:lumOff val="80000"/>
                </a:srgbClr>
              </a:solidFill>
              <a:ln w="3175">
                <a:solidFill>
                  <a:sysClr val="window" lastClr="FFFFFF"/>
                </a:solidFill>
              </a:ln>
              <a:effectLst/>
            </c:spPr>
            <c:extLst>
              <c:ext xmlns:c16="http://schemas.microsoft.com/office/drawing/2014/chart" uri="{C3380CC4-5D6E-409C-BE32-E72D297353CC}">
                <c16:uniqueId val="{00000003-85F0-449C-9CCE-3BA651C7FE7A}"/>
              </c:ext>
            </c:extLst>
          </c:dPt>
          <c:cat>
            <c:strRef>
              <c:f>Sheet1!$A$2:$A$3</c:f>
              <c:strCache>
                <c:ptCount val="2"/>
                <c:pt idx="0">
                  <c:v>A</c:v>
                </c:pt>
                <c:pt idx="1">
                  <c:v>B</c:v>
                </c:pt>
              </c:strCache>
            </c:strRef>
          </c:cat>
          <c:val>
            <c:numRef>
              <c:f>Sheet1!$B$2:$B$3</c:f>
              <c:numCache>
                <c:formatCode>0.0%</c:formatCode>
                <c:ptCount val="2"/>
                <c:pt idx="0">
                  <c:v>8.5000000000000006E-2</c:v>
                </c:pt>
                <c:pt idx="1">
                  <c:v>0.91500000000000004</c:v>
                </c:pt>
              </c:numCache>
            </c:numRef>
          </c:val>
          <c:extLst>
            <c:ext xmlns:c16="http://schemas.microsoft.com/office/drawing/2014/chart" uri="{C3380CC4-5D6E-409C-BE32-E72D297353CC}">
              <c16:uniqueId val="{00000004-85F0-449C-9CCE-3BA651C7FE7A}"/>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14066275219327118"/>
          <c:y val="0.11038857938880074"/>
          <c:w val="0.81554705455311438"/>
          <c:h val="0.60897004268358401"/>
        </c:manualLayout>
      </c:layout>
      <c:barChart>
        <c:barDir val="col"/>
        <c:grouping val="clustered"/>
        <c:varyColors val="0"/>
        <c:ser>
          <c:idx val="0"/>
          <c:order val="0"/>
          <c:tx>
            <c:strRef>
              <c:f>Sheet1!$B$1</c:f>
              <c:strCache>
                <c:ptCount val="1"/>
                <c:pt idx="0">
                  <c:v>Revenue (US$ Mn)</c:v>
                </c:pt>
              </c:strCache>
            </c:strRef>
          </c:tx>
          <c:spPr>
            <a:solidFill>
              <a:schemeClr val="accent1">
                <a:tint val="77000"/>
              </a:schemeClr>
            </a:solidFill>
            <a:ln>
              <a:noFill/>
            </a:ln>
            <a:effectLst/>
          </c:spPr>
          <c:invertIfNegative val="0"/>
          <c:cat>
            <c:numRef>
              <c:f>Sheet1!$A$2:$A$5</c:f>
              <c:numCache>
                <c:formatCode>General</c:formatCode>
                <c:ptCount val="4"/>
                <c:pt idx="0">
                  <c:v>2019</c:v>
                </c:pt>
                <c:pt idx="1">
                  <c:v>2020</c:v>
                </c:pt>
                <c:pt idx="2">
                  <c:v>2021</c:v>
                </c:pt>
                <c:pt idx="3">
                  <c:v>2022</c:v>
                </c:pt>
              </c:numCache>
            </c:numRef>
          </c:cat>
          <c:val>
            <c:numRef>
              <c:f>Sheet1!$B$2:$B$5</c:f>
              <c:numCache>
                <c:formatCode>#,##0.00</c:formatCode>
                <c:ptCount val="4"/>
                <c:pt idx="0">
                  <c:v>145223.70000000001</c:v>
                </c:pt>
                <c:pt idx="1">
                  <c:v>137067.29999999999</c:v>
                </c:pt>
                <c:pt idx="2">
                  <c:v>116914.1</c:v>
                </c:pt>
                <c:pt idx="3">
                  <c:v>141606.1</c:v>
                </c:pt>
              </c:numCache>
            </c:numRef>
          </c:val>
          <c:extLst>
            <c:ext xmlns:c16="http://schemas.microsoft.com/office/drawing/2014/chart" uri="{C3380CC4-5D6E-409C-BE32-E72D297353CC}">
              <c16:uniqueId val="{00000004-5F7C-4655-A504-EDA13CDADF49}"/>
            </c:ext>
          </c:extLst>
        </c:ser>
        <c:dLbls>
          <c:showLegendKey val="0"/>
          <c:showVal val="0"/>
          <c:showCatName val="0"/>
          <c:showSerName val="0"/>
          <c:showPercent val="0"/>
          <c:showBubbleSize val="0"/>
        </c:dLbls>
        <c:gapWidth val="50"/>
        <c:overlap val="-27"/>
        <c:axId val="207155888"/>
        <c:axId val="207180368"/>
      </c:barChart>
      <c:lineChart>
        <c:grouping val="standard"/>
        <c:varyColors val="0"/>
        <c:ser>
          <c:idx val="1"/>
          <c:order val="1"/>
          <c:tx>
            <c:strRef>
              <c:f>Sheet1!$C$1</c:f>
              <c:strCache>
                <c:ptCount val="1"/>
                <c:pt idx="0">
                  <c:v>Y-o-Y (%)</c:v>
                </c:pt>
              </c:strCache>
            </c:strRef>
          </c:tx>
          <c:spPr>
            <a:ln w="28575" cap="rnd">
              <a:solidFill>
                <a:schemeClr val="accent1">
                  <a:shade val="76000"/>
                </a:schemeClr>
              </a:solidFill>
              <a:round/>
            </a:ln>
            <a:effectLst/>
          </c:spPr>
          <c:marker>
            <c:symbol val="circle"/>
            <c:size val="5"/>
            <c:spPr>
              <a:solidFill>
                <a:schemeClr val="accent1">
                  <a:shade val="76000"/>
                </a:schemeClr>
              </a:solidFill>
              <a:ln w="9525">
                <a:solidFill>
                  <a:schemeClr val="accent1">
                    <a:shade val="76000"/>
                  </a:schemeClr>
                </a:solidFill>
              </a:ln>
              <a:effectLst/>
            </c:spPr>
          </c:marker>
          <c:cat>
            <c:numRef>
              <c:f>Sheet1!$A$2:$A$5</c:f>
              <c:numCache>
                <c:formatCode>General</c:formatCode>
                <c:ptCount val="4"/>
                <c:pt idx="0">
                  <c:v>2019</c:v>
                </c:pt>
                <c:pt idx="1">
                  <c:v>2020</c:v>
                </c:pt>
                <c:pt idx="2">
                  <c:v>2021</c:v>
                </c:pt>
                <c:pt idx="3">
                  <c:v>2022</c:v>
                </c:pt>
              </c:numCache>
            </c:numRef>
          </c:cat>
          <c:val>
            <c:numRef>
              <c:f>Sheet1!$C$2:$C$5</c:f>
              <c:numCache>
                <c:formatCode>0.0%</c:formatCode>
                <c:ptCount val="4"/>
                <c:pt idx="1">
                  <c:v>-5.6164386391477583E-2</c:v>
                </c:pt>
                <c:pt idx="2">
                  <c:v>-0.14703142179060932</c:v>
                </c:pt>
                <c:pt idx="3">
                  <c:v>0.21119779393588967</c:v>
                </c:pt>
              </c:numCache>
            </c:numRef>
          </c:val>
          <c:smooth val="0"/>
          <c:extLst>
            <c:ext xmlns:c16="http://schemas.microsoft.com/office/drawing/2014/chart" uri="{C3380CC4-5D6E-409C-BE32-E72D297353CC}">
              <c16:uniqueId val="{00000009-5F7C-4655-A504-EDA13CDADF49}"/>
            </c:ext>
          </c:extLst>
        </c:ser>
        <c:dLbls>
          <c:showLegendKey val="0"/>
          <c:showVal val="0"/>
          <c:showCatName val="0"/>
          <c:showSerName val="0"/>
          <c:showPercent val="0"/>
          <c:showBubbleSize val="0"/>
        </c:dLbls>
        <c:marker val="1"/>
        <c:smooth val="0"/>
        <c:axId val="207159696"/>
        <c:axId val="207189616"/>
      </c:lineChart>
      <c:catAx>
        <c:axId val="207155888"/>
        <c:scaling>
          <c:orientation val="minMax"/>
        </c:scaling>
        <c:delete val="0"/>
        <c:axPos val="b"/>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207180368"/>
        <c:crosses val="autoZero"/>
        <c:auto val="1"/>
        <c:lblAlgn val="ctr"/>
        <c:lblOffset val="100"/>
        <c:noMultiLvlLbl val="0"/>
      </c:catAx>
      <c:valAx>
        <c:axId val="207180368"/>
        <c:scaling>
          <c:orientation val="minMax"/>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207155888"/>
        <c:crosses val="autoZero"/>
        <c:crossBetween val="between"/>
      </c:valAx>
      <c:valAx>
        <c:axId val="207189616"/>
        <c:scaling>
          <c:orientation val="minMax"/>
        </c:scaling>
        <c:delete val="0"/>
        <c:axPos val="r"/>
        <c:numFmt formatCode="0%" sourceLinked="0"/>
        <c:majorTickMark val="out"/>
        <c:minorTickMark val="none"/>
        <c:tickLblPos val="nextTo"/>
        <c:spPr>
          <a:noFill/>
          <a:ln>
            <a:noFill/>
          </a:ln>
          <a:effectLst/>
        </c:spPr>
        <c:txPr>
          <a:bodyPr rot="-60000000" spcFirstLastPara="1" vertOverflow="ellipsis" vert="horz" wrap="square" anchor="ctr" anchorCtr="1"/>
          <a:lstStyle/>
          <a:p>
            <a:pPr>
              <a:defRPr sz="100" b="0" i="0" u="none" strike="noStrike" kern="1200" baseline="0">
                <a:solidFill>
                  <a:schemeClr val="bg1"/>
                </a:solidFill>
                <a:latin typeface="+mn-lt"/>
                <a:ea typeface="+mn-ea"/>
                <a:cs typeface="+mn-cs"/>
              </a:defRPr>
            </a:pPr>
            <a:endParaRPr lang="en-US"/>
          </a:p>
        </c:txPr>
        <c:crossAx val="207159696"/>
        <c:crosses val="max"/>
        <c:crossBetween val="between"/>
      </c:valAx>
      <c:catAx>
        <c:axId val="207159696"/>
        <c:scaling>
          <c:orientation val="minMax"/>
        </c:scaling>
        <c:delete val="1"/>
        <c:axPos val="b"/>
        <c:numFmt formatCode="General" sourceLinked="1"/>
        <c:majorTickMark val="out"/>
        <c:minorTickMark val="none"/>
        <c:tickLblPos val="nextTo"/>
        <c:crossAx val="207189616"/>
        <c:crosses val="autoZero"/>
        <c:auto val="1"/>
        <c:lblAlgn val="ctr"/>
        <c:lblOffset val="100"/>
        <c:noMultiLvlLbl val="0"/>
      </c:catAx>
      <c:spPr>
        <a:noFill/>
        <a:ln>
          <a:noFill/>
        </a:ln>
        <a:effectLst/>
      </c:spPr>
    </c:plotArea>
    <c:legend>
      <c:legendPos val="b"/>
      <c:layout>
        <c:manualLayout>
          <c:xMode val="edge"/>
          <c:yMode val="edge"/>
          <c:x val="0.12778273042669264"/>
          <c:y val="0.85423724099246567"/>
          <c:w val="0.81821083621610069"/>
          <c:h val="0.13789444862755834"/>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solidFill>
            <a:schemeClr val="tx1"/>
          </a:solidFill>
        </a:defRPr>
      </a:pPr>
      <a:endParaRPr lang="en-US"/>
    </a:p>
  </c:txPr>
  <c:externalData r:id="rId3">
    <c:autoUpdate val="0"/>
  </c:externalData>
</c:chartSpace>
</file>

<file path=ppt/charts/chart1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1"/>
    <c:plotArea>
      <c:layout>
        <c:manualLayout>
          <c:layoutTarget val="inner"/>
          <c:xMode val="edge"/>
          <c:yMode val="edge"/>
          <c:x val="7.013618134657007E-2"/>
          <c:y val="0.14675031819975493"/>
          <c:w val="0.89767667332835355"/>
          <c:h val="0.51518548026930422"/>
        </c:manualLayout>
      </c:layout>
      <c:lineChart>
        <c:grouping val="standard"/>
        <c:varyColors val="0"/>
        <c:ser>
          <c:idx val="0"/>
          <c:order val="0"/>
          <c:tx>
            <c:strRef>
              <c:f>Sheet1!$B$1</c:f>
              <c:strCache>
                <c:ptCount val="1"/>
                <c:pt idx="0">
                  <c:v>Operating Margin</c:v>
                </c:pt>
              </c:strCache>
            </c:strRef>
          </c:tx>
          <c:spPr>
            <a:ln w="28575" cap="rnd">
              <a:solidFill>
                <a:schemeClr val="accent4">
                  <a:tint val="77000"/>
                </a:schemeClr>
              </a:solidFill>
              <a:round/>
            </a:ln>
            <a:effectLst/>
          </c:spPr>
          <c:marker>
            <c:symbol val="circle"/>
            <c:size val="5"/>
            <c:spPr>
              <a:solidFill>
                <a:schemeClr val="accent4">
                  <a:tint val="77000"/>
                </a:schemeClr>
              </a:solidFill>
              <a:ln w="9525">
                <a:solidFill>
                  <a:schemeClr val="accent4">
                    <a:tint val="77000"/>
                  </a:schemeClr>
                </a:solidFill>
              </a:ln>
              <a:effectLst/>
            </c:spPr>
          </c:marker>
          <c:cat>
            <c:numRef>
              <c:f>Sheet1!$A$2:$A$5</c:f>
              <c:numCache>
                <c:formatCode>General</c:formatCode>
                <c:ptCount val="4"/>
                <c:pt idx="0">
                  <c:v>2019</c:v>
                </c:pt>
                <c:pt idx="1">
                  <c:v>2020</c:v>
                </c:pt>
                <c:pt idx="2">
                  <c:v>2021</c:v>
                </c:pt>
                <c:pt idx="3">
                  <c:v>2022</c:v>
                </c:pt>
              </c:numCache>
            </c:numRef>
          </c:cat>
          <c:val>
            <c:numRef>
              <c:f>Sheet1!$B$2:$B$5</c:f>
              <c:numCache>
                <c:formatCode>General</c:formatCode>
                <c:ptCount val="4"/>
                <c:pt idx="0">
                  <c:v>3.6</c:v>
                </c:pt>
                <c:pt idx="1">
                  <c:v>2.4</c:v>
                </c:pt>
                <c:pt idx="2">
                  <c:v>1.6</c:v>
                </c:pt>
                <c:pt idx="3">
                  <c:v>4.2</c:v>
                </c:pt>
              </c:numCache>
            </c:numRef>
          </c:val>
          <c:smooth val="0"/>
          <c:extLst>
            <c:ext xmlns:c16="http://schemas.microsoft.com/office/drawing/2014/chart" uri="{C3380CC4-5D6E-409C-BE32-E72D297353CC}">
              <c16:uniqueId val="{00000004-8D66-4E3D-95F0-9FC1F1A6C47E}"/>
            </c:ext>
          </c:extLst>
        </c:ser>
        <c:ser>
          <c:idx val="1"/>
          <c:order val="1"/>
          <c:tx>
            <c:strRef>
              <c:f>Sheet1!$C$1</c:f>
              <c:strCache>
                <c:ptCount val="1"/>
                <c:pt idx="0">
                  <c:v>Net Margin</c:v>
                </c:pt>
              </c:strCache>
            </c:strRef>
          </c:tx>
          <c:spPr>
            <a:ln w="28575" cap="rnd">
              <a:solidFill>
                <a:schemeClr val="accent4">
                  <a:shade val="76000"/>
                </a:schemeClr>
              </a:solidFill>
              <a:round/>
            </a:ln>
            <a:effectLst/>
          </c:spPr>
          <c:marker>
            <c:symbol val="circle"/>
            <c:size val="5"/>
            <c:spPr>
              <a:solidFill>
                <a:schemeClr val="accent4">
                  <a:shade val="76000"/>
                </a:schemeClr>
              </a:solidFill>
              <a:ln w="9525">
                <a:solidFill>
                  <a:schemeClr val="accent4">
                    <a:shade val="76000"/>
                  </a:schemeClr>
                </a:solidFill>
              </a:ln>
              <a:effectLst/>
            </c:spPr>
          </c:marker>
          <c:cat>
            <c:numRef>
              <c:f>Sheet1!$A$2:$A$5</c:f>
              <c:numCache>
                <c:formatCode>General</c:formatCode>
                <c:ptCount val="4"/>
                <c:pt idx="0">
                  <c:v>2019</c:v>
                </c:pt>
                <c:pt idx="1">
                  <c:v>2020</c:v>
                </c:pt>
                <c:pt idx="2">
                  <c:v>2021</c:v>
                </c:pt>
                <c:pt idx="3">
                  <c:v>2022</c:v>
                </c:pt>
              </c:numCache>
            </c:numRef>
          </c:cat>
          <c:val>
            <c:numRef>
              <c:f>Sheet1!$C$2:$C$5</c:f>
              <c:numCache>
                <c:formatCode>General</c:formatCode>
                <c:ptCount val="4"/>
                <c:pt idx="0">
                  <c:v>3.7</c:v>
                </c:pt>
                <c:pt idx="1">
                  <c:v>3.6</c:v>
                </c:pt>
                <c:pt idx="2">
                  <c:v>1.3</c:v>
                </c:pt>
                <c:pt idx="3">
                  <c:v>5.4</c:v>
                </c:pt>
              </c:numCache>
            </c:numRef>
          </c:val>
          <c:smooth val="0"/>
          <c:extLst>
            <c:ext xmlns:c16="http://schemas.microsoft.com/office/drawing/2014/chart" uri="{C3380CC4-5D6E-409C-BE32-E72D297353CC}">
              <c16:uniqueId val="{00000009-8D66-4E3D-95F0-9FC1F1A6C47E}"/>
            </c:ext>
          </c:extLst>
        </c:ser>
        <c:dLbls>
          <c:showLegendKey val="0"/>
          <c:showVal val="0"/>
          <c:showCatName val="0"/>
          <c:showSerName val="0"/>
          <c:showPercent val="0"/>
          <c:showBubbleSize val="0"/>
        </c:dLbls>
        <c:marker val="1"/>
        <c:smooth val="0"/>
        <c:axId val="207166768"/>
        <c:axId val="207167312"/>
      </c:lineChart>
      <c:catAx>
        <c:axId val="2071667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207167312"/>
        <c:crosses val="autoZero"/>
        <c:auto val="1"/>
        <c:lblAlgn val="ctr"/>
        <c:lblOffset val="100"/>
        <c:noMultiLvlLbl val="0"/>
      </c:catAx>
      <c:valAx>
        <c:axId val="207167312"/>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207166768"/>
        <c:crosses val="autoZero"/>
        <c:crossBetween val="between"/>
      </c:valAx>
      <c:spPr>
        <a:noFill/>
        <a:ln>
          <a:noFill/>
        </a:ln>
        <a:effectLst/>
      </c:spPr>
    </c:plotArea>
    <c:legend>
      <c:legendPos val="b"/>
      <c:layout>
        <c:manualLayout>
          <c:xMode val="edge"/>
          <c:yMode val="edge"/>
          <c:x val="0"/>
          <c:y val="0.84769126423227392"/>
          <c:w val="0.84704697654383421"/>
          <c:h val="0.13799537077096133"/>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solidFill>
            <a:schemeClr val="tx1"/>
          </a:solidFill>
        </a:defRPr>
      </a:pPr>
      <a:endParaRPr lang="en-US"/>
    </a:p>
  </c:txPr>
  <c:externalData r:id="rId1">
    <c:autoUpdate val="0"/>
  </c:externalData>
</c:chartSpace>
</file>

<file path=ppt/charts/chart1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7215719656664538E-2"/>
          <c:y val="5.1686079437947424E-2"/>
          <c:w val="0.5747087319566887"/>
          <c:h val="0.86030477572442299"/>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A06C-4166-A6E2-4C489F81D359}"/>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A06C-4166-A6E2-4C489F81D359}"/>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A06C-4166-A6E2-4C489F81D359}"/>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E960-4DA5-9FCD-2C65DD1A00C6}"/>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33A1-4284-B259-855244333350}"/>
              </c:ext>
            </c:extLst>
          </c:dPt>
          <c:dPt>
            <c:idx val="5"/>
            <c:bubble3D val="0"/>
            <c:spPr>
              <a:solidFill>
                <a:schemeClr val="accent6"/>
              </a:solidFill>
              <a:ln w="19050">
                <a:solidFill>
                  <a:schemeClr val="lt1"/>
                </a:solidFill>
              </a:ln>
              <a:effectLst/>
            </c:spPr>
            <c:extLst>
              <c:ext xmlns:c16="http://schemas.microsoft.com/office/drawing/2014/chart" uri="{C3380CC4-5D6E-409C-BE32-E72D297353CC}">
                <c16:uniqueId val="{0000000B-33A1-4284-B259-855244333350}"/>
              </c:ext>
            </c:extLst>
          </c:dPt>
          <c:dPt>
            <c:idx val="6"/>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D-33A1-4284-B259-855244333350}"/>
              </c:ext>
            </c:extLst>
          </c:dPt>
          <c:dPt>
            <c:idx val="7"/>
            <c:bubble3D val="0"/>
            <c:spPr>
              <a:solidFill>
                <a:schemeClr val="accent2">
                  <a:lumMod val="60000"/>
                </a:schemeClr>
              </a:solidFill>
              <a:ln w="19050">
                <a:solidFill>
                  <a:schemeClr val="lt1"/>
                </a:solidFill>
              </a:ln>
              <a:effectLst/>
            </c:spPr>
            <c:extLst>
              <c:ext xmlns:c16="http://schemas.microsoft.com/office/drawing/2014/chart" uri="{C3380CC4-5D6E-409C-BE32-E72D297353CC}">
                <c16:uniqueId val="{00000002-49E2-42A1-9534-DFBF08E8921C}"/>
              </c:ext>
            </c:extLst>
          </c:dPt>
          <c:dPt>
            <c:idx val="8"/>
            <c:bubble3D val="0"/>
            <c:spPr>
              <a:solidFill>
                <a:schemeClr val="accent3">
                  <a:lumMod val="60000"/>
                </a:schemeClr>
              </a:solidFill>
              <a:ln w="19050">
                <a:solidFill>
                  <a:schemeClr val="lt1"/>
                </a:solidFill>
              </a:ln>
              <a:effectLst/>
            </c:spPr>
            <c:extLst>
              <c:ext xmlns:c16="http://schemas.microsoft.com/office/drawing/2014/chart" uri="{C3380CC4-5D6E-409C-BE32-E72D297353CC}">
                <c16:uniqueId val="{00000001-49E2-42A1-9534-DFBF08E8921C}"/>
              </c:ext>
            </c:extLst>
          </c:dPt>
          <c:dPt>
            <c:idx val="9"/>
            <c:bubble3D val="0"/>
            <c:spPr>
              <a:solidFill>
                <a:schemeClr val="accent4">
                  <a:lumMod val="60000"/>
                </a:schemeClr>
              </a:solidFill>
              <a:ln w="19050">
                <a:solidFill>
                  <a:schemeClr val="lt1"/>
                </a:solidFill>
              </a:ln>
              <a:effectLst/>
            </c:spPr>
            <c:extLst>
              <c:ext xmlns:c16="http://schemas.microsoft.com/office/drawing/2014/chart" uri="{C3380CC4-5D6E-409C-BE32-E72D297353CC}">
                <c16:uniqueId val="{00000000-49E2-42A1-9534-DFBF08E8921C}"/>
              </c:ext>
            </c:extLst>
          </c:dPt>
          <c:dLbls>
            <c:delete val="1"/>
          </c:dLbls>
          <c:cat>
            <c:strRef>
              <c:f>Sheet1!$A$2:$A$11</c:f>
              <c:strCache>
                <c:ptCount val="10"/>
                <c:pt idx="0">
                  <c:v>Natural Gas</c:v>
                </c:pt>
                <c:pt idx="1">
                  <c:v>Industrial Materials</c:v>
                </c:pt>
                <c:pt idx="2">
                  <c:v>Petroleum and Chemical Solutions</c:v>
                </c:pt>
                <c:pt idx="3">
                  <c:v>Mineral Resources </c:v>
                </c:pt>
                <c:pt idx="4">
                  <c:v>Industrial Infrastructure </c:v>
                </c:pt>
                <c:pt idx="5">
                  <c:v>Automotive and Mobility Group</c:v>
                </c:pt>
                <c:pt idx="6">
                  <c:v>Food Industry</c:v>
                </c:pt>
                <c:pt idx="7">
                  <c:v>Consumer Industry</c:v>
                </c:pt>
                <c:pt idx="8">
                  <c:v>Power Solution</c:v>
                </c:pt>
                <c:pt idx="9">
                  <c:v>Urban Development</c:v>
                </c:pt>
              </c:strCache>
            </c:strRef>
          </c:cat>
          <c:val>
            <c:numRef>
              <c:f>Sheet1!$B$2:$B$11</c:f>
              <c:numCache>
                <c:formatCode>0.0%</c:formatCode>
                <c:ptCount val="10"/>
                <c:pt idx="0">
                  <c:v>0.11451296578775334</c:v>
                </c:pt>
                <c:pt idx="1">
                  <c:v>4.0095881455654833E-2</c:v>
                </c:pt>
                <c:pt idx="2">
                  <c:v>4.3909348441926351E-2</c:v>
                </c:pt>
                <c:pt idx="3">
                  <c:v>0.45837873174983662</c:v>
                </c:pt>
                <c:pt idx="4">
                  <c:v>1.8849422532142081E-2</c:v>
                </c:pt>
                <c:pt idx="5">
                  <c:v>0.11636522118108522</c:v>
                </c:pt>
                <c:pt idx="6">
                  <c:v>8.6402266288951854E-2</c:v>
                </c:pt>
                <c:pt idx="7">
                  <c:v>2.2880801917629118E-2</c:v>
                </c:pt>
                <c:pt idx="8">
                  <c:v>5.502288080191764E-2</c:v>
                </c:pt>
                <c:pt idx="9">
                  <c:v>4.3582479843103081E-2</c:v>
                </c:pt>
              </c:numCache>
            </c:numRef>
          </c:val>
          <c:extLst>
            <c:ext xmlns:c16="http://schemas.microsoft.com/office/drawing/2014/chart" uri="{C3380CC4-5D6E-409C-BE32-E72D297353CC}">
              <c16:uniqueId val="{00000008-A06C-4166-A6E2-4C489F81D359}"/>
            </c:ext>
          </c:extLst>
        </c:ser>
        <c:dLbls>
          <c:showLegendKey val="0"/>
          <c:showVal val="1"/>
          <c:showCatName val="0"/>
          <c:showSerName val="0"/>
          <c:showPercent val="0"/>
          <c:showBubbleSize val="0"/>
          <c:showLeaderLines val="1"/>
        </c:dLbls>
        <c:firstSliceAng val="0"/>
        <c:holeSize val="50"/>
      </c:doughnutChart>
      <c:spPr>
        <a:noFill/>
        <a:ln>
          <a:noFill/>
        </a:ln>
        <a:effectLst/>
      </c:spPr>
    </c:plotArea>
    <c:legend>
      <c:legendPos val="r"/>
      <c:layout>
        <c:manualLayout>
          <c:xMode val="edge"/>
          <c:yMode val="edge"/>
          <c:x val="0.56148009761060325"/>
          <c:y val="0"/>
          <c:w val="0.43851990238939675"/>
          <c:h val="1"/>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chartSpace>
</file>

<file path=ppt/charts/chart1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7215719656664538E-2"/>
          <c:y val="5.1686079437947424E-2"/>
          <c:w val="0.5747087319566887"/>
          <c:h val="0.86030477572442299"/>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5A08-4480-B3D0-AA03A9B28E3B}"/>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5A08-4480-B3D0-AA03A9B28E3B}"/>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5A08-4480-B3D0-AA03A9B28E3B}"/>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5A08-4480-B3D0-AA03A9B28E3B}"/>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1C8A-4FA4-A209-4F8488196D64}"/>
              </c:ext>
            </c:extLst>
          </c:dPt>
          <c:dPt>
            <c:idx val="5"/>
            <c:bubble3D val="0"/>
            <c:spPr>
              <a:solidFill>
                <a:schemeClr val="accent6"/>
              </a:solidFill>
              <a:ln w="19050">
                <a:solidFill>
                  <a:schemeClr val="lt1"/>
                </a:solidFill>
              </a:ln>
              <a:effectLst/>
            </c:spPr>
            <c:extLst>
              <c:ext xmlns:c16="http://schemas.microsoft.com/office/drawing/2014/chart" uri="{C3380CC4-5D6E-409C-BE32-E72D297353CC}">
                <c16:uniqueId val="{0000000B-0199-4F80-BC3C-024418EBB29A}"/>
              </c:ext>
            </c:extLst>
          </c:dPt>
          <c:dLbls>
            <c:delete val="1"/>
          </c:dLbls>
          <c:cat>
            <c:strRef>
              <c:f>Sheet1!$A$2:$A$6</c:f>
              <c:strCache>
                <c:ptCount val="5"/>
                <c:pt idx="0">
                  <c:v>Japan</c:v>
                </c:pt>
                <c:pt idx="1">
                  <c:v>U.S.A</c:v>
                </c:pt>
                <c:pt idx="2">
                  <c:v>Singapore</c:v>
                </c:pt>
                <c:pt idx="3">
                  <c:v>Australia</c:v>
                </c:pt>
                <c:pt idx="4">
                  <c:v>Other</c:v>
                </c:pt>
              </c:strCache>
            </c:strRef>
          </c:cat>
          <c:val>
            <c:numRef>
              <c:f>Sheet1!$B$2:$B$6</c:f>
              <c:numCache>
                <c:formatCode>0.0%</c:formatCode>
                <c:ptCount val="5"/>
                <c:pt idx="0">
                  <c:v>0.51833374553934208</c:v>
                </c:pt>
                <c:pt idx="1">
                  <c:v>0.15523442744585381</c:v>
                </c:pt>
                <c:pt idx="2">
                  <c:v>7.0268169452001553E-2</c:v>
                </c:pt>
                <c:pt idx="3">
                  <c:v>6.1505847436667489E-2</c:v>
                </c:pt>
                <c:pt idx="4">
                  <c:v>0.19465781012613503</c:v>
                </c:pt>
              </c:numCache>
            </c:numRef>
          </c:val>
          <c:extLst>
            <c:ext xmlns:c16="http://schemas.microsoft.com/office/drawing/2014/chart" uri="{C3380CC4-5D6E-409C-BE32-E72D297353CC}">
              <c16:uniqueId val="{00000008-5A08-4480-B3D0-AA03A9B28E3B}"/>
            </c:ext>
          </c:extLst>
        </c:ser>
        <c:dLbls>
          <c:showLegendKey val="0"/>
          <c:showVal val="1"/>
          <c:showCatName val="0"/>
          <c:showSerName val="0"/>
          <c:showPercent val="0"/>
          <c:showBubbleSize val="0"/>
          <c:showLeaderLines val="1"/>
        </c:dLbls>
        <c:firstSliceAng val="0"/>
        <c:holeSize val="50"/>
      </c:doughnutChart>
      <c:spPr>
        <a:noFill/>
        <a:ln>
          <a:noFill/>
        </a:ln>
        <a:effectLst/>
      </c:spPr>
    </c:plotArea>
    <c:legend>
      <c:legendPos val="r"/>
      <c:layout>
        <c:manualLayout>
          <c:xMode val="edge"/>
          <c:yMode val="edge"/>
          <c:x val="0.65120850129938701"/>
          <c:y val="4.2571097538193388E-2"/>
          <c:w val="0.34879149870061305"/>
          <c:h val="0.95742900615136484"/>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chartSpace>
</file>

<file path=ppt/charts/chart1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430501065415603"/>
          <c:y val="0.11068554167034446"/>
          <c:w val="0.57998372154700173"/>
          <c:h val="0.57828905279452136"/>
        </c:manualLayout>
      </c:layout>
      <c:pieChart>
        <c:varyColors val="1"/>
        <c:ser>
          <c:idx val="0"/>
          <c:order val="0"/>
          <c:tx>
            <c:strRef>
              <c:f>Sheet1!$B$1</c:f>
              <c:strCache>
                <c:ptCount val="1"/>
                <c:pt idx="0">
                  <c:v>Column1</c:v>
                </c:pt>
              </c:strCache>
            </c:strRef>
          </c:tx>
          <c:dPt>
            <c:idx val="0"/>
            <c:bubble3D val="0"/>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1-5A05-4922-B898-67ABAF9811A5}"/>
              </c:ext>
            </c:extLst>
          </c:dPt>
          <c:dPt>
            <c:idx val="1"/>
            <c:bubble3D val="0"/>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3-5A05-4922-B898-67ABAF9811A5}"/>
              </c:ext>
            </c:extLst>
          </c:dPt>
          <c:dPt>
            <c:idx val="2"/>
            <c:bubble3D val="0"/>
            <c:spPr>
              <a:gradFill rotWithShape="1">
                <a:gsLst>
                  <a:gs pos="0">
                    <a:schemeClr val="accent3">
                      <a:satMod val="103000"/>
                      <a:lumMod val="102000"/>
                      <a:tint val="94000"/>
                    </a:schemeClr>
                  </a:gs>
                  <a:gs pos="50000">
                    <a:schemeClr val="accent3">
                      <a:satMod val="110000"/>
                      <a:lumMod val="100000"/>
                      <a:shade val="100000"/>
                    </a:schemeClr>
                  </a:gs>
                  <a:gs pos="100000">
                    <a:schemeClr val="accent3">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5-5A05-4922-B898-67ABAF9811A5}"/>
              </c:ext>
            </c:extLst>
          </c:dPt>
          <c:dPt>
            <c:idx val="3"/>
            <c:bubble3D val="0"/>
            <c:spPr>
              <a:gradFill rotWithShape="1">
                <a:gsLst>
                  <a:gs pos="0">
                    <a:schemeClr val="accent4">
                      <a:satMod val="103000"/>
                      <a:lumMod val="102000"/>
                      <a:tint val="94000"/>
                    </a:schemeClr>
                  </a:gs>
                  <a:gs pos="50000">
                    <a:schemeClr val="accent4">
                      <a:satMod val="110000"/>
                      <a:lumMod val="100000"/>
                      <a:shade val="100000"/>
                    </a:schemeClr>
                  </a:gs>
                  <a:gs pos="100000">
                    <a:schemeClr val="accent4">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7-52D9-49AE-BA75-E8754FF128F4}"/>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Manufacturers</c:v>
                </c:pt>
                <c:pt idx="1">
                  <c:v>Distributors/ Suppliers</c:v>
                </c:pt>
                <c:pt idx="2">
                  <c:v>Direct End-users</c:v>
                </c:pt>
                <c:pt idx="3">
                  <c:v>Industry Experts</c:v>
                </c:pt>
              </c:strCache>
            </c:strRef>
          </c:cat>
          <c:val>
            <c:numRef>
              <c:f>Sheet1!$B$2:$B$5</c:f>
              <c:numCache>
                <c:formatCode>0.0%</c:formatCode>
                <c:ptCount val="4"/>
                <c:pt idx="0">
                  <c:v>0.35</c:v>
                </c:pt>
                <c:pt idx="1">
                  <c:v>0.3</c:v>
                </c:pt>
                <c:pt idx="2">
                  <c:v>0.15</c:v>
                </c:pt>
                <c:pt idx="3">
                  <c:v>0.20000000000000007</c:v>
                </c:pt>
              </c:numCache>
            </c:numRef>
          </c:val>
          <c:extLst>
            <c:ext xmlns:c16="http://schemas.microsoft.com/office/drawing/2014/chart" uri="{C3380CC4-5D6E-409C-BE32-E72D297353CC}">
              <c16:uniqueId val="{00000006-5A05-4922-B898-67ABAF9811A5}"/>
            </c:ext>
          </c:extLst>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0"/>
          <c:y val="0.69916576880065773"/>
          <c:w val="1"/>
          <c:h val="0.27285582667015845"/>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withinLinear" id="14">
  <a:schemeClr val="accent1"/>
</cs:colorStyle>
</file>

<file path=ppt/charts/colors2.xml><?xml version="1.0" encoding="utf-8"?>
<cs:colorStyle xmlns:cs="http://schemas.microsoft.com/office/drawing/2012/chartStyle" xmlns:a="http://schemas.openxmlformats.org/drawingml/2006/main" meth="withinLinear" id="14">
  <a:schemeClr val="accent1"/>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withinLinear" id="14">
  <a:schemeClr val="accent1"/>
</cs:colorStyle>
</file>

<file path=ppt/charts/colors5.xml><?xml version="1.0" encoding="utf-8"?>
<cs:colorStyle xmlns:cs="http://schemas.microsoft.com/office/drawing/2012/chartStyle" xmlns:a="http://schemas.openxmlformats.org/drawingml/2006/main" meth="withinLinear" id="14">
  <a:schemeClr val="accent1"/>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withinLinear" id="14">
  <a:schemeClr val="accent1"/>
</cs:colorStyle>
</file>

<file path=ppt/charts/colors61.xml><?xml version="1.0" encoding="utf-8"?>
<cs:colorStyle xmlns:cs="http://schemas.microsoft.com/office/drawing/2012/chartStyle" xmlns:a="http://schemas.openxmlformats.org/drawingml/2006/main" meth="withinLinear" id="14">
  <a:schemeClr val="accent1"/>
</cs:colorStyle>
</file>

<file path=ppt/charts/colors62.xml><?xml version="1.0" encoding="utf-8"?>
<cs:colorStyle xmlns:cs="http://schemas.microsoft.com/office/drawing/2012/chartStyle" xmlns:a="http://schemas.openxmlformats.org/drawingml/2006/main" meth="withinLinear" id="14">
  <a:schemeClr val="accent1"/>
</cs:colorStyle>
</file>

<file path=ppt/charts/colors63.xml><?xml version="1.0" encoding="utf-8"?>
<cs:colorStyle xmlns:cs="http://schemas.microsoft.com/office/drawing/2012/chartStyle" xmlns:a="http://schemas.openxmlformats.org/drawingml/2006/main" meth="withinLinear" id="14">
  <a:schemeClr val="accent1"/>
</cs:colorStyle>
</file>

<file path=ppt/charts/colors64.xml><?xml version="1.0" encoding="utf-8"?>
<cs:colorStyle xmlns:cs="http://schemas.microsoft.com/office/drawing/2012/chartStyle" xmlns:a="http://schemas.openxmlformats.org/drawingml/2006/main" meth="withinLinear" id="14">
  <a:schemeClr val="accent1"/>
</cs:colorStyle>
</file>

<file path=ppt/charts/colors65.xml><?xml version="1.0" encoding="utf-8"?>
<cs:colorStyle xmlns:cs="http://schemas.microsoft.com/office/drawing/2012/chartStyle" xmlns:a="http://schemas.openxmlformats.org/drawingml/2006/main" meth="withinLinear" id="14">
  <a:schemeClr val="accent1"/>
</cs:colorStyle>
</file>

<file path=ppt/charts/colors66.xml><?xml version="1.0" encoding="utf-8"?>
<cs:colorStyle xmlns:cs="http://schemas.microsoft.com/office/drawing/2012/chartStyle" xmlns:a="http://schemas.openxmlformats.org/drawingml/2006/main" meth="withinLinear" id="14">
  <a:schemeClr val="accent1"/>
</cs:colorStyle>
</file>

<file path=ppt/charts/colors67.xml><?xml version="1.0" encoding="utf-8"?>
<cs:colorStyle xmlns:cs="http://schemas.microsoft.com/office/drawing/2012/chartStyle" xmlns:a="http://schemas.openxmlformats.org/drawingml/2006/main" meth="withinLinear" id="14">
  <a:schemeClr val="accent1"/>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withinLinear" id="14">
  <a:schemeClr val="accent1"/>
</cs:colorStyle>
</file>

<file path=ppt/charts/colors71.xml><?xml version="1.0" encoding="utf-8"?>
<cs:colorStyle xmlns:cs="http://schemas.microsoft.com/office/drawing/2012/chartStyle" xmlns:a="http://schemas.openxmlformats.org/drawingml/2006/main" meth="withinLinear" id="14">
  <a:schemeClr val="accent1"/>
</cs:colorStyle>
</file>

<file path=ppt/charts/colors72.xml><?xml version="1.0" encoding="utf-8"?>
<cs:colorStyle xmlns:cs="http://schemas.microsoft.com/office/drawing/2012/chartStyle" xmlns:a="http://schemas.openxmlformats.org/drawingml/2006/main" meth="withinLinear" id="14">
  <a:schemeClr val="accent1"/>
</cs:colorStyle>
</file>

<file path=ppt/charts/colors73.xml><?xml version="1.0" encoding="utf-8"?>
<cs:colorStyle xmlns:cs="http://schemas.microsoft.com/office/drawing/2012/chartStyle" xmlns:a="http://schemas.openxmlformats.org/drawingml/2006/main" meth="withinLinear" id="14">
  <a:schemeClr val="accent1"/>
</cs:colorStyle>
</file>

<file path=ppt/charts/colors74.xml><?xml version="1.0" encoding="utf-8"?>
<cs:colorStyle xmlns:cs="http://schemas.microsoft.com/office/drawing/2012/chartStyle" xmlns:a="http://schemas.openxmlformats.org/drawingml/2006/main" meth="withinLinear" id="14">
  <a:schemeClr val="accent1"/>
</cs:colorStyle>
</file>

<file path=ppt/charts/colors75.xml><?xml version="1.0" encoding="utf-8"?>
<cs:colorStyle xmlns:cs="http://schemas.microsoft.com/office/drawing/2012/chartStyle" xmlns:a="http://schemas.openxmlformats.org/drawingml/2006/main" meth="withinLinear" id="14">
  <a:schemeClr val="accent1"/>
</cs:colorStyle>
</file>

<file path=ppt/charts/colors76.xml><?xml version="1.0" encoding="utf-8"?>
<cs:colorStyle xmlns:cs="http://schemas.microsoft.com/office/drawing/2012/chartStyle" xmlns:a="http://schemas.openxmlformats.org/drawingml/2006/main" meth="withinLinear" id="14">
  <a:schemeClr val="accent1"/>
</cs:colorStyle>
</file>

<file path=ppt/charts/colors77.xml><?xml version="1.0" encoding="utf-8"?>
<cs:colorStyle xmlns:cs="http://schemas.microsoft.com/office/drawing/2012/chartStyle" xmlns:a="http://schemas.openxmlformats.org/drawingml/2006/main" meth="withinLinear" id="14">
  <a:schemeClr val="accent1"/>
</cs:colorStyle>
</file>

<file path=ppt/charts/colors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0.xml><?xml version="1.0" encoding="utf-8"?>
<cs:colorStyle xmlns:cs="http://schemas.microsoft.com/office/drawing/2012/chartStyle" xmlns:a="http://schemas.openxmlformats.org/drawingml/2006/main" meth="withinLinear" id="14">
  <a:schemeClr val="accent1"/>
</cs:colorStyle>
</file>

<file path=ppt/charts/colors81.xml><?xml version="1.0" encoding="utf-8"?>
<cs:colorStyle xmlns:cs="http://schemas.microsoft.com/office/drawing/2012/chartStyle" xmlns:a="http://schemas.openxmlformats.org/drawingml/2006/main" meth="withinLinear" id="14">
  <a:schemeClr val="accent1"/>
</cs:colorStyle>
</file>

<file path=ppt/charts/colors82.xml><?xml version="1.0" encoding="utf-8"?>
<cs:colorStyle xmlns:cs="http://schemas.microsoft.com/office/drawing/2012/chartStyle" xmlns:a="http://schemas.openxmlformats.org/drawingml/2006/main" meth="withinLinear" id="14">
  <a:schemeClr val="accent1"/>
</cs:colorStyle>
</file>

<file path=ppt/charts/colors83.xml><?xml version="1.0" encoding="utf-8"?>
<cs:colorStyle xmlns:cs="http://schemas.microsoft.com/office/drawing/2012/chartStyle" xmlns:a="http://schemas.openxmlformats.org/drawingml/2006/main" meth="withinLinear" id="14">
  <a:schemeClr val="accent1"/>
</cs:colorStyle>
</file>

<file path=ppt/charts/colors84.xml><?xml version="1.0" encoding="utf-8"?>
<cs:colorStyle xmlns:cs="http://schemas.microsoft.com/office/drawing/2012/chartStyle" xmlns:a="http://schemas.openxmlformats.org/drawingml/2006/main" meth="withinLinear" id="14">
  <a:schemeClr val="accent1"/>
</cs:colorStyle>
</file>

<file path=ppt/charts/colors85.xml><?xml version="1.0" encoding="utf-8"?>
<cs:colorStyle xmlns:cs="http://schemas.microsoft.com/office/drawing/2012/chartStyle" xmlns:a="http://schemas.openxmlformats.org/drawingml/2006/main" meth="withinLinear" id="14">
  <a:schemeClr val="accent1"/>
</cs:colorStyle>
</file>

<file path=ppt/charts/colors86.xml><?xml version="1.0" encoding="utf-8"?>
<cs:colorStyle xmlns:cs="http://schemas.microsoft.com/office/drawing/2012/chartStyle" xmlns:a="http://schemas.openxmlformats.org/drawingml/2006/main" meth="withinLinear" id="14">
  <a:schemeClr val="accent1"/>
</cs:colorStyle>
</file>

<file path=ppt/charts/colors87.xml><?xml version="1.0" encoding="utf-8"?>
<cs:colorStyle xmlns:cs="http://schemas.microsoft.com/office/drawing/2012/chartStyle" xmlns:a="http://schemas.openxmlformats.org/drawingml/2006/main" meth="withinLinear" id="14">
  <a:schemeClr val="accent1"/>
</cs:colorStyle>
</file>

<file path=ppt/charts/colors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0.xml><?xml version="1.0" encoding="utf-8"?>
<cs:colorStyle xmlns:cs="http://schemas.microsoft.com/office/drawing/2012/chartStyle" xmlns:a="http://schemas.openxmlformats.org/drawingml/2006/main" meth="withinLinear" id="14">
  <a:schemeClr val="accent1"/>
</cs:colorStyle>
</file>

<file path=ppt/charts/colors91.xml><?xml version="1.0" encoding="utf-8"?>
<cs:colorStyle xmlns:cs="http://schemas.microsoft.com/office/drawing/2012/chartStyle" xmlns:a="http://schemas.openxmlformats.org/drawingml/2006/main" meth="withinLinear" id="14">
  <a:schemeClr val="accent1"/>
</cs:colorStyle>
</file>

<file path=ppt/charts/colors92.xml><?xml version="1.0" encoding="utf-8"?>
<cs:colorStyle xmlns:cs="http://schemas.microsoft.com/office/drawing/2012/chartStyle" xmlns:a="http://schemas.openxmlformats.org/drawingml/2006/main" meth="withinLinear" id="14">
  <a:schemeClr val="accent1"/>
</cs:colorStyle>
</file>

<file path=ppt/charts/colors93.xml><?xml version="1.0" encoding="utf-8"?>
<cs:colorStyle xmlns:cs="http://schemas.microsoft.com/office/drawing/2012/chartStyle" xmlns:a="http://schemas.openxmlformats.org/drawingml/2006/main" meth="withinLinear" id="14">
  <a:schemeClr val="accent1"/>
</cs:colorStyle>
</file>

<file path=ppt/charts/colors94.xml><?xml version="1.0" encoding="utf-8"?>
<cs:colorStyle xmlns:cs="http://schemas.microsoft.com/office/drawing/2012/chartStyle" xmlns:a="http://schemas.openxmlformats.org/drawingml/2006/main" meth="withinLinear" id="14">
  <a:schemeClr val="accent1"/>
</cs:colorStyle>
</file>

<file path=ppt/charts/colors95.xml><?xml version="1.0" encoding="utf-8"?>
<cs:colorStyle xmlns:cs="http://schemas.microsoft.com/office/drawing/2012/chartStyle" xmlns:a="http://schemas.openxmlformats.org/drawingml/2006/main" meth="withinLinear" id="14">
  <a:schemeClr val="accent1"/>
</cs:colorStyle>
</file>

<file path=ppt/charts/colors96.xml><?xml version="1.0" encoding="utf-8"?>
<cs:colorStyle xmlns:cs="http://schemas.microsoft.com/office/drawing/2012/chartStyle" xmlns:a="http://schemas.openxmlformats.org/drawingml/2006/main" meth="withinLinear" id="14">
  <a:schemeClr val="accent1"/>
</cs:colorStyle>
</file>

<file path=ppt/charts/colors97.xml><?xml version="1.0" encoding="utf-8"?>
<cs:colorStyle xmlns:cs="http://schemas.microsoft.com/office/drawing/2012/chartStyle" xmlns:a="http://schemas.openxmlformats.org/drawingml/2006/main" meth="withinLinear" id="14">
  <a:schemeClr val="accent1"/>
</cs:colorStyle>
</file>

<file path=ppt/charts/colors9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0.xml><?xml version="1.0" encoding="utf-8"?>
<cs:colorStyle xmlns:cs="http://schemas.microsoft.com/office/drawing/2012/chartStyle" xmlns:a="http://schemas.openxmlformats.org/drawingml/2006/main" meth="withinLinear" id="14">
  <a:schemeClr val="accent1"/>
</cs:colorStyle>
</file>

<file path=ppt/charts/colors101.xml><?xml version="1.0" encoding="utf-8"?>
<cs:colorStyle xmlns:cs="http://schemas.microsoft.com/office/drawing/2012/chartStyle" xmlns:a="http://schemas.openxmlformats.org/drawingml/2006/main" meth="withinLinear" id="14">
  <a:schemeClr val="accent1"/>
</cs:colorStyle>
</file>

<file path=ppt/charts/colors102.xml><?xml version="1.0" encoding="utf-8"?>
<cs:colorStyle xmlns:cs="http://schemas.microsoft.com/office/drawing/2012/chartStyle" xmlns:a="http://schemas.openxmlformats.org/drawingml/2006/main" meth="withinLinear" id="14">
  <a:schemeClr val="accent1"/>
</cs:colorStyle>
</file>

<file path=ppt/charts/colors103.xml><?xml version="1.0" encoding="utf-8"?>
<cs:colorStyle xmlns:cs="http://schemas.microsoft.com/office/drawing/2012/chartStyle" xmlns:a="http://schemas.openxmlformats.org/drawingml/2006/main" meth="withinLinear" id="14">
  <a:schemeClr val="accent1"/>
</cs:colorStyle>
</file>

<file path=ppt/charts/colors104.xml><?xml version="1.0" encoding="utf-8"?>
<cs:colorStyle xmlns:cs="http://schemas.microsoft.com/office/drawing/2012/chartStyle" xmlns:a="http://schemas.openxmlformats.org/drawingml/2006/main" meth="withinLinear" id="14">
  <a:schemeClr val="accent1"/>
</cs:colorStyle>
</file>

<file path=ppt/charts/colors105.xml><?xml version="1.0" encoding="utf-8"?>
<cs:colorStyle xmlns:cs="http://schemas.microsoft.com/office/drawing/2012/chartStyle" xmlns:a="http://schemas.openxmlformats.org/drawingml/2006/main" meth="withinLinear" id="14">
  <a:schemeClr val="accent1"/>
</cs:colorStyle>
</file>

<file path=ppt/charts/colors106.xml><?xml version="1.0" encoding="utf-8"?>
<cs:colorStyle xmlns:cs="http://schemas.microsoft.com/office/drawing/2012/chartStyle" xmlns:a="http://schemas.openxmlformats.org/drawingml/2006/main" meth="withinLinear" id="14">
  <a:schemeClr val="accent1"/>
</cs:colorStyle>
</file>

<file path=ppt/charts/colors107.xml><?xml version="1.0" encoding="utf-8"?>
<cs:colorStyle xmlns:cs="http://schemas.microsoft.com/office/drawing/2012/chartStyle" xmlns:a="http://schemas.openxmlformats.org/drawingml/2006/main" meth="withinLinear" id="14">
  <a:schemeClr val="accent1"/>
</cs:colorStyle>
</file>

<file path=ppt/charts/colors10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0.xml><?xml version="1.0" encoding="utf-8"?>
<cs:colorStyle xmlns:cs="http://schemas.microsoft.com/office/drawing/2012/chartStyle" xmlns:a="http://schemas.openxmlformats.org/drawingml/2006/main" meth="withinLinear" id="14">
  <a:schemeClr val="accent1"/>
</cs:colorStyle>
</file>

<file path=ppt/charts/colors111.xml><?xml version="1.0" encoding="utf-8"?>
<cs:colorStyle xmlns:cs="http://schemas.microsoft.com/office/drawing/2012/chartStyle" xmlns:a="http://schemas.openxmlformats.org/drawingml/2006/main" meth="withinLinear" id="14">
  <a:schemeClr val="accent1"/>
</cs:colorStyle>
</file>

<file path=ppt/charts/colors112.xml><?xml version="1.0" encoding="utf-8"?>
<cs:colorStyle xmlns:cs="http://schemas.microsoft.com/office/drawing/2012/chartStyle" xmlns:a="http://schemas.openxmlformats.org/drawingml/2006/main" meth="withinLinear" id="14">
  <a:schemeClr val="accent1"/>
</cs:colorStyle>
</file>

<file path=ppt/charts/colors113.xml><?xml version="1.0" encoding="utf-8"?>
<cs:colorStyle xmlns:cs="http://schemas.microsoft.com/office/drawing/2012/chartStyle" xmlns:a="http://schemas.openxmlformats.org/drawingml/2006/main" meth="withinLinear" id="14">
  <a:schemeClr val="accent1"/>
</cs:colorStyle>
</file>

<file path=ppt/charts/colors114.xml><?xml version="1.0" encoding="utf-8"?>
<cs:colorStyle xmlns:cs="http://schemas.microsoft.com/office/drawing/2012/chartStyle" xmlns:a="http://schemas.openxmlformats.org/drawingml/2006/main" meth="withinLinear" id="14">
  <a:schemeClr val="accent1"/>
</cs:colorStyle>
</file>

<file path=ppt/charts/colors115.xml><?xml version="1.0" encoding="utf-8"?>
<cs:colorStyle xmlns:cs="http://schemas.microsoft.com/office/drawing/2012/chartStyle" xmlns:a="http://schemas.openxmlformats.org/drawingml/2006/main" meth="withinLinear" id="14">
  <a:schemeClr val="accent1"/>
</cs:colorStyle>
</file>

<file path=ppt/charts/colors116.xml><?xml version="1.0" encoding="utf-8"?>
<cs:colorStyle xmlns:cs="http://schemas.microsoft.com/office/drawing/2012/chartStyle" xmlns:a="http://schemas.openxmlformats.org/drawingml/2006/main" meth="withinLinear" id="14">
  <a:schemeClr val="accent1"/>
</cs:colorStyle>
</file>

<file path=ppt/charts/colors117.xml><?xml version="1.0" encoding="utf-8"?>
<cs:colorStyle xmlns:cs="http://schemas.microsoft.com/office/drawing/2012/chartStyle" xmlns:a="http://schemas.openxmlformats.org/drawingml/2006/main" meth="withinLinear" id="14">
  <a:schemeClr val="accent1"/>
</cs:colorStyle>
</file>

<file path=ppt/charts/colors1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0.xml><?xml version="1.0" encoding="utf-8"?>
<cs:colorStyle xmlns:cs="http://schemas.microsoft.com/office/drawing/2012/chartStyle" xmlns:a="http://schemas.openxmlformats.org/drawingml/2006/main" meth="withinLinear" id="14">
  <a:schemeClr val="accent1"/>
</cs:colorStyle>
</file>

<file path=ppt/charts/colors121.xml><?xml version="1.0" encoding="utf-8"?>
<cs:colorStyle xmlns:cs="http://schemas.microsoft.com/office/drawing/2012/chartStyle" xmlns:a="http://schemas.openxmlformats.org/drawingml/2006/main" meth="withinLinear" id="14">
  <a:schemeClr val="accent1"/>
</cs:colorStyle>
</file>

<file path=ppt/charts/colors122.xml><?xml version="1.0" encoding="utf-8"?>
<cs:colorStyle xmlns:cs="http://schemas.microsoft.com/office/drawing/2012/chartStyle" xmlns:a="http://schemas.openxmlformats.org/drawingml/2006/main" meth="withinLinear" id="14">
  <a:schemeClr val="accent1"/>
</cs:colorStyle>
</file>

<file path=ppt/charts/colors123.xml><?xml version="1.0" encoding="utf-8"?>
<cs:colorStyle xmlns:cs="http://schemas.microsoft.com/office/drawing/2012/chartStyle" xmlns:a="http://schemas.openxmlformats.org/drawingml/2006/main" meth="withinLinear" id="14">
  <a:schemeClr val="accent1"/>
</cs:colorStyle>
</file>

<file path=ppt/charts/colors124.xml><?xml version="1.0" encoding="utf-8"?>
<cs:colorStyle xmlns:cs="http://schemas.microsoft.com/office/drawing/2012/chartStyle" xmlns:a="http://schemas.openxmlformats.org/drawingml/2006/main" meth="withinLinear" id="14">
  <a:schemeClr val="accent1"/>
</cs:colorStyle>
</file>

<file path=ppt/charts/colors125.xml><?xml version="1.0" encoding="utf-8"?>
<cs:colorStyle xmlns:cs="http://schemas.microsoft.com/office/drawing/2012/chartStyle" xmlns:a="http://schemas.openxmlformats.org/drawingml/2006/main" meth="withinLinear" id="14">
  <a:schemeClr val="accent1"/>
</cs:colorStyle>
</file>

<file path=ppt/charts/colors126.xml><?xml version="1.0" encoding="utf-8"?>
<cs:colorStyle xmlns:cs="http://schemas.microsoft.com/office/drawing/2012/chartStyle" xmlns:a="http://schemas.openxmlformats.org/drawingml/2006/main" meth="withinLinear" id="14">
  <a:schemeClr val="accent1"/>
</cs:colorStyle>
</file>

<file path=ppt/charts/colors127.xml><?xml version="1.0" encoding="utf-8"?>
<cs:colorStyle xmlns:cs="http://schemas.microsoft.com/office/drawing/2012/chartStyle" xmlns:a="http://schemas.openxmlformats.org/drawingml/2006/main" meth="withinLinear" id="14">
  <a:schemeClr val="accent1"/>
</cs:colorStyle>
</file>

<file path=ppt/charts/colors1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0.xml><?xml version="1.0" encoding="utf-8"?>
<cs:colorStyle xmlns:cs="http://schemas.microsoft.com/office/drawing/2012/chartStyle" xmlns:a="http://schemas.openxmlformats.org/drawingml/2006/main" meth="withinLinear" id="14">
  <a:schemeClr val="accent1"/>
</cs:colorStyle>
</file>

<file path=ppt/charts/colors131.xml><?xml version="1.0" encoding="utf-8"?>
<cs:colorStyle xmlns:cs="http://schemas.microsoft.com/office/drawing/2012/chartStyle" xmlns:a="http://schemas.openxmlformats.org/drawingml/2006/main" meth="withinLinear" id="14">
  <a:schemeClr val="accent1"/>
</cs:colorStyle>
</file>

<file path=ppt/charts/colors1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4.xml><?xml version="1.0" encoding="utf-8"?>
<cs:colorStyle xmlns:cs="http://schemas.microsoft.com/office/drawing/2012/chartStyle" xmlns:a="http://schemas.openxmlformats.org/drawingml/2006/main" meth="withinLinear" id="14">
  <a:schemeClr val="accent1"/>
</cs:colorStyle>
</file>

<file path=ppt/charts/colors135.xml><?xml version="1.0" encoding="utf-8"?>
<cs:colorStyle xmlns:cs="http://schemas.microsoft.com/office/drawing/2012/chartStyle" xmlns:a="http://schemas.openxmlformats.org/drawingml/2006/main" meth="withinLinear" id="14">
  <a:schemeClr val="accent1"/>
</cs:colorStyle>
</file>

<file path=ppt/charts/colors1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8.xml><?xml version="1.0" encoding="utf-8"?>
<cs:colorStyle xmlns:cs="http://schemas.microsoft.com/office/drawing/2012/chartStyle" xmlns:a="http://schemas.openxmlformats.org/drawingml/2006/main" meth="withinLinear" id="14">
  <a:schemeClr val="accent1"/>
</cs:colorStyle>
</file>

<file path=ppt/charts/colors139.xml><?xml version="1.0" encoding="utf-8"?>
<cs:colorStyle xmlns:cs="http://schemas.microsoft.com/office/drawing/2012/chartStyle" xmlns:a="http://schemas.openxmlformats.org/drawingml/2006/main" meth="withinLinear" id="14">
  <a:schemeClr val="accent1"/>
</cs:colorStyle>
</file>

<file path=ppt/charts/colors1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2.xml><?xml version="1.0" encoding="utf-8"?>
<cs:colorStyle xmlns:cs="http://schemas.microsoft.com/office/drawing/2012/chartStyle" xmlns:a="http://schemas.openxmlformats.org/drawingml/2006/main" meth="withinLinear" id="14">
  <a:schemeClr val="accent1"/>
</cs:colorStyle>
</file>

<file path=ppt/charts/colors143.xml><?xml version="1.0" encoding="utf-8"?>
<cs:colorStyle xmlns:cs="http://schemas.microsoft.com/office/drawing/2012/chartStyle" xmlns:a="http://schemas.openxmlformats.org/drawingml/2006/main" meth="withinLinear" id="14">
  <a:schemeClr val="accent1"/>
</cs:colorStyle>
</file>

<file path=ppt/charts/colors1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6.xml><?xml version="1.0" encoding="utf-8"?>
<cs:colorStyle xmlns:cs="http://schemas.microsoft.com/office/drawing/2012/chartStyle" xmlns:a="http://schemas.openxmlformats.org/drawingml/2006/main" meth="withinLinear" id="14">
  <a:schemeClr val="accent1"/>
</cs:colorStyle>
</file>

<file path=ppt/charts/colors147.xml><?xml version="1.0" encoding="utf-8"?>
<cs:colorStyle xmlns:cs="http://schemas.microsoft.com/office/drawing/2012/chartStyle" xmlns:a="http://schemas.openxmlformats.org/drawingml/2006/main" meth="withinLinear" id="14">
  <a:schemeClr val="accent1"/>
</cs:colorStyle>
</file>

<file path=ppt/charts/colors1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0.xml><?xml version="1.0" encoding="utf-8"?>
<cs:colorStyle xmlns:cs="http://schemas.microsoft.com/office/drawing/2012/chartStyle" xmlns:a="http://schemas.openxmlformats.org/drawingml/2006/main" meth="withinLinear" id="14">
  <a:schemeClr val="accent1"/>
</cs:colorStyle>
</file>

<file path=ppt/charts/colors151.xml><?xml version="1.0" encoding="utf-8"?>
<cs:colorStyle xmlns:cs="http://schemas.microsoft.com/office/drawing/2012/chartStyle" xmlns:a="http://schemas.openxmlformats.org/drawingml/2006/main" meth="withinLinear" id="14">
  <a:schemeClr val="accent1"/>
</cs:colorStyle>
</file>

<file path=ppt/charts/colors1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4.xml><?xml version="1.0" encoding="utf-8"?>
<cs:colorStyle xmlns:cs="http://schemas.microsoft.com/office/drawing/2012/chartStyle" xmlns:a="http://schemas.openxmlformats.org/drawingml/2006/main" meth="withinLinear" id="14">
  <a:schemeClr val="accent1"/>
</cs:colorStyle>
</file>

<file path=ppt/charts/colors1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7.xml><?xml version="1.0" encoding="utf-8"?>
<cs:colorStyle xmlns:cs="http://schemas.microsoft.com/office/drawing/2012/chartStyle" xmlns:a="http://schemas.openxmlformats.org/drawingml/2006/main" meth="withinLinearReversed" id="21">
  <a:schemeClr val="accent1"/>
</cs:colorStyle>
</file>

<file path=ppt/charts/colors1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9.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9.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9.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9.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9.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8.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2.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6.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0.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4.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8.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3.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0.xml><?xml version="1.0" encoding="utf-8"?>
<cs:chartStyle xmlns:cs="http://schemas.microsoft.com/office/drawing/2012/chartStyle" xmlns:a="http://schemas.openxmlformats.org/drawingml/2006/main" id="344">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34925" cap="rnd">
        <a:solidFill>
          <a:schemeClr val="phClr"/>
        </a:solidFill>
        <a:round/>
      </a:ln>
    </cs:spPr>
  </cs:dataPointLine>
  <cs:dataPointMarker>
    <cs:lnRef idx="0">
      <cs:styleClr val="auto"/>
    </cs:lnRef>
    <cs:fillRef idx="3">
      <cs:styleClr val="auto"/>
    </cs:fillRef>
    <cs:effectRef idx="3"/>
    <cs:fontRef idx="minor">
      <a:schemeClr val="tx1"/>
    </cs:fontRef>
    <cs:spPr>
      <a:ln w="9525">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omments/modernComment_3BC_E3329BA9.xml><?xml version="1.0" encoding="utf-8"?>
<p188:cmLst xmlns:a="http://schemas.openxmlformats.org/drawingml/2006/main" xmlns:r="http://schemas.openxmlformats.org/officeDocument/2006/relationships" xmlns:p188="http://schemas.microsoft.com/office/powerpoint/2018/8/main">
  <p188:cm id="{BF20682E-AEB3-440C-93BE-389E4DB4FF57}" authorId="{F5F0F7FF-DB44-32DB-981E-270284371A39}" created="2024-01-03T17:34:48.905">
    <ac:deMkLst xmlns:ac="http://schemas.microsoft.com/office/drawing/2013/main/command">
      <pc:docMk xmlns:pc="http://schemas.microsoft.com/office/powerpoint/2013/main/command"/>
      <pc:sldMk xmlns:pc="http://schemas.microsoft.com/office/powerpoint/2013/main/command" cId="22236271" sldId="644"/>
      <ac:spMk id="57" creationId="{00000000-0000-0000-0000-000000000000}"/>
    </ac:deMkLst>
    <p188:txBody>
      <a:bodyPr/>
      <a:lstStyle/>
      <a:p>
        <a:r>
          <a:rPr lang="en-US"/>
          <a:t>Remove this interpretation….this is creating confusion</a:t>
        </a:r>
      </a:p>
    </p188:txBody>
  </p188:cm>
  <p188:cm id="{B528E851-A03B-4811-BAEB-22632F85CB7E}" authorId="{F5F0F7FF-DB44-32DB-981E-270284371A39}" created="2024-01-03T17:35:36.949">
    <ac:deMkLst xmlns:ac="http://schemas.microsoft.com/office/drawing/2013/main/command">
      <pc:docMk xmlns:pc="http://schemas.microsoft.com/office/powerpoint/2013/main/command"/>
      <pc:sldMk xmlns:pc="http://schemas.microsoft.com/office/powerpoint/2013/main/command" cId="22236271" sldId="644"/>
      <ac:graphicFrameMk id="19" creationId="{00000000-0000-0000-0000-000000000000}"/>
    </ac:deMkLst>
    <p188:txBody>
      <a:bodyPr/>
      <a:lstStyle/>
      <a:p>
        <a:r>
          <a:rPr lang="en-US"/>
          <a:t>FY 2019 ….Italy number should be ~130 KT ….UK 3 KT ...Mexico 0 KT </a:t>
        </a:r>
      </a:p>
    </p188:txBody>
  </p188:cm>
  <p188:cm id="{8A636530-FEE8-4B53-BED1-688E66384A03}" authorId="{F5F0F7FF-DB44-32DB-981E-270284371A39}" created="2024-01-03T17:36:31.456">
    <pc:sldMkLst xmlns:pc="http://schemas.microsoft.com/office/powerpoint/2013/main/command">
      <pc:docMk/>
      <pc:sldMk cId="22236271" sldId="644"/>
    </pc:sldMkLst>
    <p188:txBody>
      <a:bodyPr/>
      <a:lstStyle/>
      <a:p>
        <a:r>
          <a:rPr lang="en-US"/>
          <a:t>. Please provide Indian export possibilities with ranking, volume &amp; reasons.</a:t>
        </a:r>
      </a:p>
    </p188:txBody>
  </p188:cm>
</p188:cmLst>
</file>

<file path=ppt/comments/modernComment_3BD_BA0FB856.xml><?xml version="1.0" encoding="utf-8"?>
<p188:cmLst xmlns:a="http://schemas.openxmlformats.org/drawingml/2006/main" xmlns:r="http://schemas.openxmlformats.org/officeDocument/2006/relationships" xmlns:p188="http://schemas.microsoft.com/office/powerpoint/2018/8/main">
  <p188:cm id="{BF20682E-AEB3-440C-93BE-389E4DB4FF57}" authorId="{F5F0F7FF-DB44-32DB-981E-270284371A39}" created="2024-01-03T17:34:48.905">
    <ac:deMkLst xmlns:ac="http://schemas.microsoft.com/office/drawing/2013/main/command">
      <pc:docMk xmlns:pc="http://schemas.microsoft.com/office/powerpoint/2013/main/command"/>
      <pc:sldMk xmlns:pc="http://schemas.microsoft.com/office/powerpoint/2013/main/command" cId="22236271" sldId="644"/>
      <ac:spMk id="57" creationId="{00000000-0000-0000-0000-000000000000}"/>
    </ac:deMkLst>
    <p188:txBody>
      <a:bodyPr/>
      <a:lstStyle/>
      <a:p>
        <a:r>
          <a:rPr lang="en-US"/>
          <a:t>Remove this interpretation….this is creating confusion</a:t>
        </a:r>
      </a:p>
    </p188:txBody>
  </p188:cm>
  <p188:cm id="{B528E851-A03B-4811-BAEB-22632F85CB7E}" authorId="{F5F0F7FF-DB44-32DB-981E-270284371A39}" created="2024-01-03T17:35:36.949">
    <ac:deMkLst xmlns:ac="http://schemas.microsoft.com/office/drawing/2013/main/command">
      <pc:docMk xmlns:pc="http://schemas.microsoft.com/office/powerpoint/2013/main/command"/>
      <pc:sldMk xmlns:pc="http://schemas.microsoft.com/office/powerpoint/2013/main/command" cId="22236271" sldId="644"/>
      <ac:graphicFrameMk id="19" creationId="{00000000-0000-0000-0000-000000000000}"/>
    </ac:deMkLst>
    <p188:txBody>
      <a:bodyPr/>
      <a:lstStyle/>
      <a:p>
        <a:r>
          <a:rPr lang="en-US"/>
          <a:t>FY 2019 ….Italy number should be ~130 KT ….UK 3 KT ...Mexico 0 KT </a:t>
        </a:r>
      </a:p>
    </p188:txBody>
  </p188:cm>
  <p188:cm id="{8A636530-FEE8-4B53-BED1-688E66384A03}" authorId="{F5F0F7FF-DB44-32DB-981E-270284371A39}" created="2024-01-03T17:36:31.456">
    <pc:sldMkLst xmlns:pc="http://schemas.microsoft.com/office/powerpoint/2013/main/command">
      <pc:docMk/>
      <pc:sldMk cId="22236271" sldId="644"/>
    </pc:sldMkLst>
    <p188:txBody>
      <a:bodyPr/>
      <a:lstStyle/>
      <a:p>
        <a:r>
          <a:rPr lang="en-US"/>
          <a:t>. Please provide Indian export possibilities with ranking, volume &amp; reasons.</a:t>
        </a:r>
      </a:p>
    </p188:txBody>
  </p188:cm>
</p188:cmLst>
</file>

<file path=ppt/diagrams/colors1.xml><?xml version="1.0" encoding="utf-8"?>
<dgm:colorsDef xmlns:dgm="http://schemas.openxmlformats.org/drawingml/2006/diagram" xmlns:a="http://schemas.openxmlformats.org/drawingml/2006/main" uniqueId="urn:microsoft.com/office/officeart/2005/8/colors/accent1_2#1">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4#1">
  <dgm:title val=""/>
  <dgm:desc val=""/>
  <dgm:catLst>
    <dgm:cat type="accent1" pri="11400"/>
  </dgm:catLst>
  <dgm:styleLbl name="node0">
    <dgm:fillClrLst meth="cycle">
      <a:schemeClr val="accent1">
        <a:shade val="60000"/>
      </a:schemeClr>
    </dgm:fillClrLst>
    <dgm:linClrLst meth="repeat">
      <a:schemeClr val="lt1"/>
    </dgm:linClrLst>
    <dgm:effectClrLst/>
    <dgm:txLinClrLst/>
    <dgm:txFillClrLst/>
    <dgm:txEffectClrLst/>
  </dgm:styleLbl>
  <dgm:styleLbl name="node1">
    <dgm:fillClrLst meth="cycle">
      <a:schemeClr val="accent1">
        <a:shade val="50000"/>
      </a:schemeClr>
      <a:schemeClr val="accent1">
        <a:tint val="55000"/>
      </a:schemeClr>
    </dgm:fillClrLst>
    <dgm:linClrLst meth="repeat">
      <a:schemeClr val="lt1"/>
    </dgm:linClrLst>
    <dgm:effectClrLst/>
    <dgm:txLinClrLst/>
    <dgm:txFillClrLst/>
    <dgm:txEffectClrLst/>
  </dgm:styleLbl>
  <dgm:styleLbl name="alignNode1">
    <dgm:fillClrLst meth="cycle">
      <a:schemeClr val="accent1">
        <a:shade val="50000"/>
      </a:schemeClr>
      <a:schemeClr val="accent1">
        <a:tint val="55000"/>
      </a:schemeClr>
    </dgm:fillClrLst>
    <dgm:linClrLst meth="cycle">
      <a:schemeClr val="accent1">
        <a:shade val="50000"/>
      </a:schemeClr>
      <a:schemeClr val="accent1">
        <a:tint val="55000"/>
      </a:schemeClr>
    </dgm:linClrLst>
    <dgm:effectClrLst/>
    <dgm:txLinClrLst/>
    <dgm:txFillClrLst/>
    <dgm:txEffectClrLst/>
  </dgm:styleLbl>
  <dgm:styleLbl name="lnNode1">
    <dgm:fillClrLst meth="cycle">
      <a:schemeClr val="accent1">
        <a:shade val="50000"/>
      </a:schemeClr>
      <a:schemeClr val="accent1">
        <a:tint val="55000"/>
      </a:schemeClr>
    </dgm:fillClrLst>
    <dgm:linClrLst meth="repeat">
      <a:schemeClr val="lt1"/>
    </dgm:linClrLst>
    <dgm:effectClrLst/>
    <dgm:txLinClrLst/>
    <dgm:txFillClrLst/>
    <dgm:txEffectClrLst/>
  </dgm:styleLbl>
  <dgm:styleLbl name="vennNode1">
    <dgm:fillClrLst meth="cycle">
      <a:schemeClr val="accent1">
        <a:shade val="80000"/>
        <a:alpha val="50000"/>
      </a:schemeClr>
      <a:schemeClr val="accent1">
        <a:tint val="50000"/>
        <a:alpha val="50000"/>
      </a:schemeClr>
    </dgm:fillClrLst>
    <dgm:linClrLst meth="repeat">
      <a:schemeClr val="lt1"/>
    </dgm:linClrLst>
    <dgm:effectClrLst/>
    <dgm:txLinClrLst/>
    <dgm:txFillClrLst/>
    <dgm:txEffectClrLst/>
  </dgm:styleLbl>
  <dgm:styleLbl name="node2">
    <dgm:fillClrLst>
      <a:schemeClr val="accent1">
        <a:shade val="80000"/>
      </a:schemeClr>
    </dgm:fillClrLst>
    <dgm:linClrLst meth="repeat">
      <a:schemeClr val="lt1"/>
    </dgm:linClrLst>
    <dgm:effectClrLst/>
    <dgm:txLinClrLst/>
    <dgm:txFillClrLst/>
    <dgm:txEffectClrLst/>
  </dgm:styleLbl>
  <dgm:styleLbl name="node3">
    <dgm:fillClrLst>
      <a:schemeClr val="accent1">
        <a:tint val="99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fg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fg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bg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sibTrans1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0000"/>
      </a:schemeClr>
    </dgm:fillClrLst>
    <dgm:linClrLst meth="repeat">
      <a:schemeClr val="lt1"/>
    </dgm:linClrLst>
    <dgm:effectClrLst/>
    <dgm:txLinClrLst/>
    <dgm:txFillClrLst/>
    <dgm:txEffectClrLst/>
  </dgm:styleLbl>
  <dgm:styleLbl name="asst3">
    <dgm:fillClrLst>
      <a:schemeClr val="accent1">
        <a:tint val="70000"/>
      </a:schemeClr>
    </dgm:fillClrLst>
    <dgm:linClrLst meth="repeat">
      <a:schemeClr val="lt1"/>
    </dgm:linClrLst>
    <dgm:effectClrLst/>
    <dgm:txLinClrLst/>
    <dgm:txFillClrLst/>
    <dgm:txEffectClrLst/>
  </dgm:styleLbl>
  <dgm:styleLbl name="asst4">
    <dgm:fillClrLst>
      <a:schemeClr val="accent1">
        <a:tint val="50000"/>
      </a:schemeClr>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shade val="80000"/>
      </a:schemeClr>
    </dgm:linClrLst>
    <dgm:effectClrLst/>
    <dgm:txLinClrLst/>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dk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0000"/>
      </a:schemeClr>
    </dgm:fillClrLst>
    <dgm:linClrLst meth="repeat">
      <a:schemeClr val="accent1">
        <a:tint val="90000"/>
      </a:schemeClr>
    </dgm:linClrLst>
    <dgm:effectClrLst/>
    <dgm:txLinClrLst/>
    <dgm:txFillClrLst meth="repeat">
      <a:schemeClr val="tx1"/>
    </dgm:txFillClrLst>
    <dgm:txEffectClrLst/>
  </dgm:styleLbl>
  <dgm:styleLbl name="parChTrans1D3">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parChTrans1D4">
    <dgm:fillClrLst meth="repeat">
      <a:schemeClr val="accent1">
        <a:tint val="50000"/>
      </a:schemeClr>
    </dgm:fillClrLst>
    <dgm:linClrLst meth="repeat">
      <a:schemeClr val="accent1">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55000"/>
      </a:schemeClr>
    </dgm:fillClrLst>
    <dgm:linClrLst meth="repeat">
      <a:schemeClr val="accent1">
        <a:alpha val="90000"/>
        <a:tint val="55000"/>
      </a:schemeClr>
    </dgm:linClrLst>
    <dgm:effectClrLst/>
    <dgm:txLinClrLst/>
    <dgm:txFillClrLst meth="repeat">
      <a:schemeClr val="dk1"/>
    </dgm:txFillClrLst>
    <dgm:txEffectClrLst/>
  </dgm:styleLbl>
  <dgm:styleLbl name="alignAccFollowNode1">
    <dgm:fillClrLst meth="repeat">
      <a:schemeClr val="accent1">
        <a:alpha val="90000"/>
        <a:tint val="55000"/>
      </a:schemeClr>
    </dgm:fillClrLst>
    <dgm:linClrLst meth="repeat">
      <a:schemeClr val="accent1">
        <a:alpha val="90000"/>
        <a:tint val="55000"/>
      </a:schemeClr>
    </dgm:linClrLst>
    <dgm:effectClrLst/>
    <dgm:txLinClrLst/>
    <dgm:txFillClrLst meth="repeat">
      <a:schemeClr val="dk1"/>
    </dgm:txFillClrLst>
    <dgm:txEffectClrLst/>
  </dgm:styleLbl>
  <dgm:styleLbl name="bgAccFollowNode1">
    <dgm:fillClrLst meth="repeat">
      <a:schemeClr val="accent1">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50000"/>
      </a:schemeClr>
    </dgm:linClrLst>
    <dgm:effectClrLst/>
    <dgm:txLinClrLst/>
    <dgm:txFillClrLst meth="repeat">
      <a:schemeClr val="dk1"/>
    </dgm:txFillClrLst>
    <dgm:txEffectClrLst/>
  </dgm:styleLbl>
  <dgm:styleLbl name="bgShp">
    <dgm:fillClrLst meth="repeat">
      <a:schemeClr val="accent1">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55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BC680022-C708-452B-8968-01CFF67A634B}" type="doc">
      <dgm:prSet loTypeId="urn:microsoft.com/office/officeart/2005/8/layout/chevron1" loCatId="process" qsTypeId="urn:microsoft.com/office/officeart/2005/8/quickstyle/simple1#1" qsCatId="simple" csTypeId="urn:microsoft.com/office/officeart/2005/8/colors/accent1_2#1" csCatId="accent1" phldr="1"/>
      <dgm:spPr/>
    </dgm:pt>
    <dgm:pt modelId="{76E61496-6AC3-4C39-AD44-CC29AF9771F2}">
      <dgm:prSet phldrT="[Text]" custT="1"/>
      <dgm:spPr>
        <a:solidFill>
          <a:srgbClr val="2A5F8F"/>
        </a:solidFill>
        <a:effectLst>
          <a:outerShdw blurRad="50800" dist="38100" dir="2700000" algn="tl" rotWithShape="0">
            <a:prstClr val="black">
              <a:alpha val="40000"/>
            </a:prstClr>
          </a:outerShdw>
        </a:effectLst>
      </dgm:spPr>
      <dgm:t>
        <a:bodyPr/>
        <a:lstStyle/>
        <a:p>
          <a:r>
            <a:rPr lang="en-IN" sz="1050" b="1" dirty="0">
              <a:solidFill>
                <a:schemeClr val="bg1"/>
              </a:solidFill>
              <a:latin typeface="Arial" pitchFamily="34" charset="0"/>
              <a:cs typeface="Arial" pitchFamily="34" charset="0"/>
            </a:rPr>
            <a:t>Regulatory Bodies</a:t>
          </a:r>
        </a:p>
      </dgm:t>
    </dgm:pt>
    <dgm:pt modelId="{CE887366-D300-418D-96B9-92E49B1E3167}" type="parTrans" cxnId="{255049B3-C126-410E-96DE-7DF99D7D05C5}">
      <dgm:prSet/>
      <dgm:spPr/>
      <dgm:t>
        <a:bodyPr/>
        <a:lstStyle/>
        <a:p>
          <a:endParaRPr lang="en-IN" sz="1050" b="0"/>
        </a:p>
      </dgm:t>
    </dgm:pt>
    <dgm:pt modelId="{0338C42F-70AB-4EC7-8D04-EB1BF5260D64}" type="sibTrans" cxnId="{255049B3-C126-410E-96DE-7DF99D7D05C5}">
      <dgm:prSet/>
      <dgm:spPr/>
      <dgm:t>
        <a:bodyPr/>
        <a:lstStyle/>
        <a:p>
          <a:endParaRPr lang="en-IN" sz="1050" b="0"/>
        </a:p>
      </dgm:t>
    </dgm:pt>
    <dgm:pt modelId="{642F5BB1-D447-412F-B966-4197252C3DCB}">
      <dgm:prSet custT="1"/>
      <dgm:spPr>
        <a:solidFill>
          <a:srgbClr val="2A5F8F"/>
        </a:solidFill>
        <a:effectLst>
          <a:outerShdw blurRad="50800" dist="38100" dir="2700000" algn="tl" rotWithShape="0">
            <a:prstClr val="black">
              <a:alpha val="40000"/>
            </a:prstClr>
          </a:outerShdw>
        </a:effectLst>
      </dgm:spPr>
      <dgm:t>
        <a:bodyPr/>
        <a:lstStyle/>
        <a:p>
          <a:r>
            <a:rPr lang="en-IN" sz="1050" b="1" dirty="0">
              <a:solidFill>
                <a:schemeClr val="bg1"/>
              </a:solidFill>
              <a:latin typeface="Arial" pitchFamily="34" charset="0"/>
              <a:cs typeface="Arial" pitchFamily="34" charset="0"/>
            </a:rPr>
            <a:t>Distributors</a:t>
          </a:r>
        </a:p>
      </dgm:t>
    </dgm:pt>
    <dgm:pt modelId="{DE87438B-A559-4422-8D57-D58F0FEDD5EE}" type="parTrans" cxnId="{632465B4-A481-42F9-A05B-B2FE03E2DAE9}">
      <dgm:prSet/>
      <dgm:spPr/>
      <dgm:t>
        <a:bodyPr/>
        <a:lstStyle/>
        <a:p>
          <a:endParaRPr lang="en-IN" sz="1050" b="0"/>
        </a:p>
      </dgm:t>
    </dgm:pt>
    <dgm:pt modelId="{E82AD109-BBB8-44BF-B5E5-076631C3CAD6}" type="sibTrans" cxnId="{632465B4-A481-42F9-A05B-B2FE03E2DAE9}">
      <dgm:prSet/>
      <dgm:spPr/>
      <dgm:t>
        <a:bodyPr/>
        <a:lstStyle/>
        <a:p>
          <a:endParaRPr lang="en-IN" sz="1050" b="0"/>
        </a:p>
      </dgm:t>
    </dgm:pt>
    <dgm:pt modelId="{78156C99-796D-44D6-AEA1-A399681391D1}">
      <dgm:prSet custT="1"/>
      <dgm:spPr>
        <a:solidFill>
          <a:srgbClr val="2A5F8F"/>
        </a:solidFill>
        <a:effectLst>
          <a:outerShdw blurRad="50800" dist="38100" dir="2700000" algn="tl" rotWithShape="0">
            <a:prstClr val="black">
              <a:alpha val="40000"/>
            </a:prstClr>
          </a:outerShdw>
        </a:effectLst>
      </dgm:spPr>
      <dgm:t>
        <a:bodyPr/>
        <a:lstStyle/>
        <a:p>
          <a:r>
            <a:rPr lang="en-IN" sz="1050" b="1" dirty="0">
              <a:solidFill>
                <a:schemeClr val="bg1"/>
              </a:solidFill>
              <a:latin typeface="Arial" pitchFamily="34" charset="0"/>
              <a:cs typeface="Arial" pitchFamily="34" charset="0"/>
            </a:rPr>
            <a:t>End Use</a:t>
          </a:r>
        </a:p>
      </dgm:t>
    </dgm:pt>
    <dgm:pt modelId="{A141B544-9B1E-4EEF-91D7-48F3EA6AC135}" type="parTrans" cxnId="{0F601B4B-12D9-4DFB-95EF-CCCC300CCE05}">
      <dgm:prSet/>
      <dgm:spPr/>
      <dgm:t>
        <a:bodyPr/>
        <a:lstStyle/>
        <a:p>
          <a:endParaRPr lang="en-IN" sz="1050" b="0"/>
        </a:p>
      </dgm:t>
    </dgm:pt>
    <dgm:pt modelId="{B0BEBDC0-8F50-4C34-8FE0-DE70F4725CB4}" type="sibTrans" cxnId="{0F601B4B-12D9-4DFB-95EF-CCCC300CCE05}">
      <dgm:prSet/>
      <dgm:spPr/>
      <dgm:t>
        <a:bodyPr/>
        <a:lstStyle/>
        <a:p>
          <a:endParaRPr lang="en-IN" sz="1050" b="0"/>
        </a:p>
      </dgm:t>
    </dgm:pt>
    <dgm:pt modelId="{F3FEAA54-7ADA-452A-91A8-13407D85AED5}">
      <dgm:prSet phldrT="[Text]" custT="1"/>
      <dgm:spPr>
        <a:solidFill>
          <a:srgbClr val="2A5F8F"/>
        </a:solidFill>
        <a:effectLst>
          <a:outerShdw blurRad="50800" dist="38100" dir="2700000" algn="tl" rotWithShape="0">
            <a:prstClr val="black">
              <a:alpha val="40000"/>
            </a:prstClr>
          </a:outerShdw>
        </a:effectLst>
      </dgm:spPr>
      <dgm:t>
        <a:bodyPr/>
        <a:lstStyle/>
        <a:p>
          <a:r>
            <a:rPr lang="en-US" sz="1050" b="1" dirty="0">
              <a:solidFill>
                <a:schemeClr val="bg1"/>
              </a:solidFill>
              <a:latin typeface="Arial" pitchFamily="34" charset="0"/>
              <a:cs typeface="Arial" pitchFamily="34" charset="0"/>
            </a:rPr>
            <a:t>Raw Material </a:t>
          </a:r>
          <a:endParaRPr lang="en-IN" sz="1050" b="1" dirty="0">
            <a:solidFill>
              <a:schemeClr val="bg1"/>
            </a:solidFill>
            <a:latin typeface="Arial" pitchFamily="34" charset="0"/>
            <a:cs typeface="Arial" pitchFamily="34" charset="0"/>
          </a:endParaRPr>
        </a:p>
      </dgm:t>
    </dgm:pt>
    <dgm:pt modelId="{38E6CD86-DB40-4100-9F93-F220135032AE}" type="parTrans" cxnId="{EB01E01D-3073-4E59-B963-5E8B6B3BD78B}">
      <dgm:prSet/>
      <dgm:spPr/>
      <dgm:t>
        <a:bodyPr/>
        <a:lstStyle/>
        <a:p>
          <a:endParaRPr lang="en-IN" sz="1800" b="0"/>
        </a:p>
      </dgm:t>
    </dgm:pt>
    <dgm:pt modelId="{BF4D3896-AFE6-47AB-A5C9-2E74B7C85E94}" type="sibTrans" cxnId="{EB01E01D-3073-4E59-B963-5E8B6B3BD78B}">
      <dgm:prSet/>
      <dgm:spPr/>
      <dgm:t>
        <a:bodyPr/>
        <a:lstStyle/>
        <a:p>
          <a:endParaRPr lang="en-IN" sz="1800" b="0"/>
        </a:p>
      </dgm:t>
    </dgm:pt>
    <dgm:pt modelId="{37D8C770-37E3-4C63-9B99-8292611C5DFA}">
      <dgm:prSet phldrT="[Text]" custT="1"/>
      <dgm:spPr>
        <a:solidFill>
          <a:srgbClr val="2A5F8F"/>
        </a:solidFill>
        <a:effectLst>
          <a:outerShdw blurRad="50800" dist="38100" dir="2700000" algn="tl" rotWithShape="0">
            <a:prstClr val="black">
              <a:alpha val="40000"/>
            </a:prstClr>
          </a:outerShdw>
        </a:effectLst>
      </dgm:spPr>
      <dgm:t>
        <a:bodyPr/>
        <a:lstStyle/>
        <a:p>
          <a:r>
            <a:rPr lang="en-IN" sz="1050" b="1" dirty="0">
              <a:solidFill>
                <a:schemeClr val="bg1"/>
              </a:solidFill>
              <a:latin typeface="Arial" pitchFamily="34" charset="0"/>
              <a:cs typeface="Arial" pitchFamily="34" charset="0"/>
            </a:rPr>
            <a:t>Manufacturers</a:t>
          </a:r>
        </a:p>
      </dgm:t>
    </dgm:pt>
    <dgm:pt modelId="{3C6610EC-2AA6-4E64-9208-B7AEC0166A58}" type="parTrans" cxnId="{3DF731E3-0A93-43AE-A27B-0EAA33D9170C}">
      <dgm:prSet/>
      <dgm:spPr/>
      <dgm:t>
        <a:bodyPr/>
        <a:lstStyle/>
        <a:p>
          <a:endParaRPr lang="en-US"/>
        </a:p>
      </dgm:t>
    </dgm:pt>
    <dgm:pt modelId="{6C4C9D46-6587-439D-B67F-C281A8863E33}" type="sibTrans" cxnId="{3DF731E3-0A93-43AE-A27B-0EAA33D9170C}">
      <dgm:prSet/>
      <dgm:spPr/>
      <dgm:t>
        <a:bodyPr/>
        <a:lstStyle/>
        <a:p>
          <a:endParaRPr lang="en-US"/>
        </a:p>
      </dgm:t>
    </dgm:pt>
    <dgm:pt modelId="{A1C974B2-ED64-4242-B787-B81120E338F7}" type="pres">
      <dgm:prSet presAssocID="{BC680022-C708-452B-8968-01CFF67A634B}" presName="Name0" presStyleCnt="0">
        <dgm:presLayoutVars>
          <dgm:dir/>
          <dgm:animLvl val="lvl"/>
          <dgm:resizeHandles val="exact"/>
        </dgm:presLayoutVars>
      </dgm:prSet>
      <dgm:spPr/>
    </dgm:pt>
    <dgm:pt modelId="{B6494F9B-FCBB-410D-9572-2D1EAAB7CDDC}" type="pres">
      <dgm:prSet presAssocID="{F3FEAA54-7ADA-452A-91A8-13407D85AED5}" presName="parTxOnly" presStyleLbl="node1" presStyleIdx="0" presStyleCnt="5">
        <dgm:presLayoutVars>
          <dgm:chMax val="0"/>
          <dgm:chPref val="0"/>
          <dgm:bulletEnabled val="1"/>
        </dgm:presLayoutVars>
      </dgm:prSet>
      <dgm:spPr/>
    </dgm:pt>
    <dgm:pt modelId="{46459323-643E-4F2E-911D-C199708533E7}" type="pres">
      <dgm:prSet presAssocID="{BF4D3896-AFE6-47AB-A5C9-2E74B7C85E94}" presName="parTxOnlySpace" presStyleCnt="0"/>
      <dgm:spPr/>
    </dgm:pt>
    <dgm:pt modelId="{BF166A5F-EEB9-4C6D-8E2D-0BEA45593B69}" type="pres">
      <dgm:prSet presAssocID="{76E61496-6AC3-4C39-AD44-CC29AF9771F2}" presName="parTxOnly" presStyleLbl="node1" presStyleIdx="1" presStyleCnt="5">
        <dgm:presLayoutVars>
          <dgm:chMax val="0"/>
          <dgm:chPref val="0"/>
          <dgm:bulletEnabled val="1"/>
        </dgm:presLayoutVars>
      </dgm:prSet>
      <dgm:spPr/>
    </dgm:pt>
    <dgm:pt modelId="{2C3CBD72-FABA-4762-ACE6-A003EAF43440}" type="pres">
      <dgm:prSet presAssocID="{0338C42F-70AB-4EC7-8D04-EB1BF5260D64}" presName="parTxOnlySpace" presStyleCnt="0"/>
      <dgm:spPr/>
    </dgm:pt>
    <dgm:pt modelId="{00714B8B-0FF2-4613-8753-96A0AAFDDF56}" type="pres">
      <dgm:prSet presAssocID="{37D8C770-37E3-4C63-9B99-8292611C5DFA}" presName="parTxOnly" presStyleLbl="node1" presStyleIdx="2" presStyleCnt="5">
        <dgm:presLayoutVars>
          <dgm:chMax val="0"/>
          <dgm:chPref val="0"/>
          <dgm:bulletEnabled val="1"/>
        </dgm:presLayoutVars>
      </dgm:prSet>
      <dgm:spPr/>
    </dgm:pt>
    <dgm:pt modelId="{04B51727-AD3C-41EC-96D0-2181BB994EF6}" type="pres">
      <dgm:prSet presAssocID="{6C4C9D46-6587-439D-B67F-C281A8863E33}" presName="parTxOnlySpace" presStyleCnt="0"/>
      <dgm:spPr/>
    </dgm:pt>
    <dgm:pt modelId="{7C9A34F0-78A2-47EA-8ADB-2DE5C62F45FA}" type="pres">
      <dgm:prSet presAssocID="{642F5BB1-D447-412F-B966-4197252C3DCB}" presName="parTxOnly" presStyleLbl="node1" presStyleIdx="3" presStyleCnt="5">
        <dgm:presLayoutVars>
          <dgm:chMax val="0"/>
          <dgm:chPref val="0"/>
          <dgm:bulletEnabled val="1"/>
        </dgm:presLayoutVars>
      </dgm:prSet>
      <dgm:spPr/>
    </dgm:pt>
    <dgm:pt modelId="{C3C2B23E-EFFD-4B43-BD3D-8123C59F812F}" type="pres">
      <dgm:prSet presAssocID="{E82AD109-BBB8-44BF-B5E5-076631C3CAD6}" presName="parTxOnlySpace" presStyleCnt="0"/>
      <dgm:spPr/>
    </dgm:pt>
    <dgm:pt modelId="{5F01AAFA-211F-4816-B6F5-98DF2A23AC47}" type="pres">
      <dgm:prSet presAssocID="{78156C99-796D-44D6-AEA1-A399681391D1}" presName="parTxOnly" presStyleLbl="node1" presStyleIdx="4" presStyleCnt="5">
        <dgm:presLayoutVars>
          <dgm:chMax val="0"/>
          <dgm:chPref val="0"/>
          <dgm:bulletEnabled val="1"/>
        </dgm:presLayoutVars>
      </dgm:prSet>
      <dgm:spPr/>
    </dgm:pt>
  </dgm:ptLst>
  <dgm:cxnLst>
    <dgm:cxn modelId="{EB01E01D-3073-4E59-B963-5E8B6B3BD78B}" srcId="{BC680022-C708-452B-8968-01CFF67A634B}" destId="{F3FEAA54-7ADA-452A-91A8-13407D85AED5}" srcOrd="0" destOrd="0" parTransId="{38E6CD86-DB40-4100-9F93-F220135032AE}" sibTransId="{BF4D3896-AFE6-47AB-A5C9-2E74B7C85E94}"/>
    <dgm:cxn modelId="{51D6E421-30E5-41C4-B9F8-CDC95B6E6AFC}" type="presOf" srcId="{BC680022-C708-452B-8968-01CFF67A634B}" destId="{A1C974B2-ED64-4242-B787-B81120E338F7}" srcOrd="0" destOrd="0" presId="urn:microsoft.com/office/officeart/2005/8/layout/chevron1"/>
    <dgm:cxn modelId="{EB637062-09A7-4548-9ADB-34E0E7864F47}" type="presOf" srcId="{642F5BB1-D447-412F-B966-4197252C3DCB}" destId="{7C9A34F0-78A2-47EA-8ADB-2DE5C62F45FA}" srcOrd="0" destOrd="0" presId="urn:microsoft.com/office/officeart/2005/8/layout/chevron1"/>
    <dgm:cxn modelId="{CA5B1F65-16FB-40FC-987B-E6A095F80674}" type="presOf" srcId="{78156C99-796D-44D6-AEA1-A399681391D1}" destId="{5F01AAFA-211F-4816-B6F5-98DF2A23AC47}" srcOrd="0" destOrd="0" presId="urn:microsoft.com/office/officeart/2005/8/layout/chevron1"/>
    <dgm:cxn modelId="{C9564C45-760B-442F-B7B8-660DDE0D8C3D}" type="presOf" srcId="{76E61496-6AC3-4C39-AD44-CC29AF9771F2}" destId="{BF166A5F-EEB9-4C6D-8E2D-0BEA45593B69}" srcOrd="0" destOrd="0" presId="urn:microsoft.com/office/officeart/2005/8/layout/chevron1"/>
    <dgm:cxn modelId="{ADDCAF47-BDD7-447B-B6CB-3AFEEF61509D}" type="presOf" srcId="{F3FEAA54-7ADA-452A-91A8-13407D85AED5}" destId="{B6494F9B-FCBB-410D-9572-2D1EAAB7CDDC}" srcOrd="0" destOrd="0" presId="urn:microsoft.com/office/officeart/2005/8/layout/chevron1"/>
    <dgm:cxn modelId="{0F601B4B-12D9-4DFB-95EF-CCCC300CCE05}" srcId="{BC680022-C708-452B-8968-01CFF67A634B}" destId="{78156C99-796D-44D6-AEA1-A399681391D1}" srcOrd="4" destOrd="0" parTransId="{A141B544-9B1E-4EEF-91D7-48F3EA6AC135}" sibTransId="{B0BEBDC0-8F50-4C34-8FE0-DE70F4725CB4}"/>
    <dgm:cxn modelId="{E8003350-7FF2-4EBA-A9B7-3036D903A01D}" type="presOf" srcId="{37D8C770-37E3-4C63-9B99-8292611C5DFA}" destId="{00714B8B-0FF2-4613-8753-96A0AAFDDF56}" srcOrd="0" destOrd="0" presId="urn:microsoft.com/office/officeart/2005/8/layout/chevron1"/>
    <dgm:cxn modelId="{255049B3-C126-410E-96DE-7DF99D7D05C5}" srcId="{BC680022-C708-452B-8968-01CFF67A634B}" destId="{76E61496-6AC3-4C39-AD44-CC29AF9771F2}" srcOrd="1" destOrd="0" parTransId="{CE887366-D300-418D-96B9-92E49B1E3167}" sibTransId="{0338C42F-70AB-4EC7-8D04-EB1BF5260D64}"/>
    <dgm:cxn modelId="{632465B4-A481-42F9-A05B-B2FE03E2DAE9}" srcId="{BC680022-C708-452B-8968-01CFF67A634B}" destId="{642F5BB1-D447-412F-B966-4197252C3DCB}" srcOrd="3" destOrd="0" parTransId="{DE87438B-A559-4422-8D57-D58F0FEDD5EE}" sibTransId="{E82AD109-BBB8-44BF-B5E5-076631C3CAD6}"/>
    <dgm:cxn modelId="{3DF731E3-0A93-43AE-A27B-0EAA33D9170C}" srcId="{BC680022-C708-452B-8968-01CFF67A634B}" destId="{37D8C770-37E3-4C63-9B99-8292611C5DFA}" srcOrd="2" destOrd="0" parTransId="{3C6610EC-2AA6-4E64-9208-B7AEC0166A58}" sibTransId="{6C4C9D46-6587-439D-B67F-C281A8863E33}"/>
    <dgm:cxn modelId="{36996C04-B536-4A26-8B2C-D24D26B8918D}" type="presParOf" srcId="{A1C974B2-ED64-4242-B787-B81120E338F7}" destId="{B6494F9B-FCBB-410D-9572-2D1EAAB7CDDC}" srcOrd="0" destOrd="0" presId="urn:microsoft.com/office/officeart/2005/8/layout/chevron1"/>
    <dgm:cxn modelId="{0C3B0915-064D-44F1-A74B-E9FC95BEA698}" type="presParOf" srcId="{A1C974B2-ED64-4242-B787-B81120E338F7}" destId="{46459323-643E-4F2E-911D-C199708533E7}" srcOrd="1" destOrd="0" presId="urn:microsoft.com/office/officeart/2005/8/layout/chevron1"/>
    <dgm:cxn modelId="{0B1B3785-3583-4D03-A4F5-32A84C34D431}" type="presParOf" srcId="{A1C974B2-ED64-4242-B787-B81120E338F7}" destId="{BF166A5F-EEB9-4C6D-8E2D-0BEA45593B69}" srcOrd="2" destOrd="0" presId="urn:microsoft.com/office/officeart/2005/8/layout/chevron1"/>
    <dgm:cxn modelId="{A20360A4-5B34-45A3-9CC7-F724CA0A8F12}" type="presParOf" srcId="{A1C974B2-ED64-4242-B787-B81120E338F7}" destId="{2C3CBD72-FABA-4762-ACE6-A003EAF43440}" srcOrd="3" destOrd="0" presId="urn:microsoft.com/office/officeart/2005/8/layout/chevron1"/>
    <dgm:cxn modelId="{20F80F88-2EB8-4041-AF59-34A64C6EF122}" type="presParOf" srcId="{A1C974B2-ED64-4242-B787-B81120E338F7}" destId="{00714B8B-0FF2-4613-8753-96A0AAFDDF56}" srcOrd="4" destOrd="0" presId="urn:microsoft.com/office/officeart/2005/8/layout/chevron1"/>
    <dgm:cxn modelId="{20474308-742B-4272-AAE8-875D8D80D2F6}" type="presParOf" srcId="{A1C974B2-ED64-4242-B787-B81120E338F7}" destId="{04B51727-AD3C-41EC-96D0-2181BB994EF6}" srcOrd="5" destOrd="0" presId="urn:microsoft.com/office/officeart/2005/8/layout/chevron1"/>
    <dgm:cxn modelId="{BE81FABA-9975-4772-BC8B-9BB9F12E5A36}" type="presParOf" srcId="{A1C974B2-ED64-4242-B787-B81120E338F7}" destId="{7C9A34F0-78A2-47EA-8ADB-2DE5C62F45FA}" srcOrd="6" destOrd="0" presId="urn:microsoft.com/office/officeart/2005/8/layout/chevron1"/>
    <dgm:cxn modelId="{7E2CB100-F72D-40DE-AD62-A63FC6B9B5DE}" type="presParOf" srcId="{A1C974B2-ED64-4242-B787-B81120E338F7}" destId="{C3C2B23E-EFFD-4B43-BD3D-8123C59F812F}" srcOrd="7" destOrd="0" presId="urn:microsoft.com/office/officeart/2005/8/layout/chevron1"/>
    <dgm:cxn modelId="{6E3BC732-43A7-457C-8433-9380423487DD}" type="presParOf" srcId="{A1C974B2-ED64-4242-B787-B81120E338F7}" destId="{5F01AAFA-211F-4816-B6F5-98DF2A23AC47}" srcOrd="8" destOrd="0" presId="urn:microsoft.com/office/officeart/2005/8/layout/chevron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87F25DDE-7C56-454B-9DB6-17CFC553CE4C}" type="doc">
      <dgm:prSet loTypeId="urn:microsoft.com/office/officeart/2005/8/layout/venn2" loCatId="relationship" qsTypeId="urn:microsoft.com/office/officeart/2005/8/quickstyle/3d1#1" qsCatId="3D" csTypeId="urn:microsoft.com/office/officeart/2005/8/colors/colorful1#1" csCatId="colorful" phldr="1"/>
      <dgm:spPr/>
      <dgm:t>
        <a:bodyPr/>
        <a:lstStyle/>
        <a:p>
          <a:endParaRPr lang="en-US"/>
        </a:p>
      </dgm:t>
    </dgm:pt>
    <dgm:pt modelId="{086731FE-361D-4B04-A58F-F45AB001BAB0}">
      <dgm:prSet phldrT="[Text]"/>
      <dgm:spPr/>
      <dgm:t>
        <a:bodyPr/>
        <a:lstStyle/>
        <a:p>
          <a:r>
            <a:rPr lang="en-IN" dirty="0"/>
            <a:t>Parent market</a:t>
          </a:r>
          <a:endParaRPr lang="en-US" dirty="0"/>
        </a:p>
      </dgm:t>
    </dgm:pt>
    <dgm:pt modelId="{201D7429-B771-456B-ACED-0086638934DF}" type="parTrans" cxnId="{740FD5EF-0A23-4AD8-BC08-0E63880DF852}">
      <dgm:prSet/>
      <dgm:spPr/>
      <dgm:t>
        <a:bodyPr/>
        <a:lstStyle/>
        <a:p>
          <a:endParaRPr lang="en-US"/>
        </a:p>
      </dgm:t>
    </dgm:pt>
    <dgm:pt modelId="{07D95DD8-4925-48E1-8CF0-B804DF20B086}" type="sibTrans" cxnId="{740FD5EF-0A23-4AD8-BC08-0E63880DF852}">
      <dgm:prSet/>
      <dgm:spPr/>
      <dgm:t>
        <a:bodyPr/>
        <a:lstStyle/>
        <a:p>
          <a:endParaRPr lang="en-US"/>
        </a:p>
      </dgm:t>
    </dgm:pt>
    <dgm:pt modelId="{84545DD6-3552-40AA-8B23-D4D88E06CEAA}">
      <dgm:prSet phldrT="[Text]"/>
      <dgm:spPr/>
      <dgm:t>
        <a:bodyPr/>
        <a:lstStyle/>
        <a:p>
          <a:r>
            <a:rPr lang="en-IN" dirty="0"/>
            <a:t>WXYZ Market</a:t>
          </a:r>
          <a:endParaRPr lang="en-US" dirty="0"/>
        </a:p>
      </dgm:t>
    </dgm:pt>
    <dgm:pt modelId="{23069ADB-92D1-4425-8451-0FA7A7292038}" type="parTrans" cxnId="{B686E597-9E9C-4D59-882D-E2ABE93B22B5}">
      <dgm:prSet/>
      <dgm:spPr/>
      <dgm:t>
        <a:bodyPr/>
        <a:lstStyle/>
        <a:p>
          <a:endParaRPr lang="en-US"/>
        </a:p>
      </dgm:t>
    </dgm:pt>
    <dgm:pt modelId="{2361702B-5E94-4E96-BED4-CAB449572C88}" type="sibTrans" cxnId="{B686E597-9E9C-4D59-882D-E2ABE93B22B5}">
      <dgm:prSet/>
      <dgm:spPr/>
      <dgm:t>
        <a:bodyPr/>
        <a:lstStyle/>
        <a:p>
          <a:endParaRPr lang="en-US"/>
        </a:p>
      </dgm:t>
    </dgm:pt>
    <dgm:pt modelId="{54E1AB85-B9D2-4E3D-8F6B-B5A7232B1FC7}">
      <dgm:prSet phldrT="[Text]"/>
      <dgm:spPr/>
      <dgm:t>
        <a:bodyPr/>
        <a:lstStyle/>
        <a:p>
          <a:r>
            <a:rPr lang="en-IN" dirty="0"/>
            <a:t>Immediate Parent Market</a:t>
          </a:r>
          <a:endParaRPr lang="en-US" dirty="0"/>
        </a:p>
      </dgm:t>
    </dgm:pt>
    <dgm:pt modelId="{CA7B0748-A598-483A-8DEC-604C0CB2972A}" type="parTrans" cxnId="{8A1D630E-56E4-4AA0-8B20-2FC7F0994FED}">
      <dgm:prSet/>
      <dgm:spPr/>
      <dgm:t>
        <a:bodyPr/>
        <a:lstStyle/>
        <a:p>
          <a:endParaRPr lang="en-US"/>
        </a:p>
      </dgm:t>
    </dgm:pt>
    <dgm:pt modelId="{75750D69-BCF6-4CE5-B140-691E75C3275C}" type="sibTrans" cxnId="{8A1D630E-56E4-4AA0-8B20-2FC7F0994FED}">
      <dgm:prSet/>
      <dgm:spPr/>
      <dgm:t>
        <a:bodyPr/>
        <a:lstStyle/>
        <a:p>
          <a:endParaRPr lang="en-US"/>
        </a:p>
      </dgm:t>
    </dgm:pt>
    <dgm:pt modelId="{9F0BE526-3CB7-4852-8B0E-C7231327DE10}" type="pres">
      <dgm:prSet presAssocID="{87F25DDE-7C56-454B-9DB6-17CFC553CE4C}" presName="Name0" presStyleCnt="0">
        <dgm:presLayoutVars>
          <dgm:chMax val="7"/>
          <dgm:resizeHandles val="exact"/>
        </dgm:presLayoutVars>
      </dgm:prSet>
      <dgm:spPr/>
    </dgm:pt>
    <dgm:pt modelId="{53EE9C50-CFCF-4561-8D93-F7A10674DED8}" type="pres">
      <dgm:prSet presAssocID="{87F25DDE-7C56-454B-9DB6-17CFC553CE4C}" presName="comp1" presStyleCnt="0"/>
      <dgm:spPr/>
    </dgm:pt>
    <dgm:pt modelId="{76DE2E6B-3EF1-4272-B81B-89C5E9D40CF8}" type="pres">
      <dgm:prSet presAssocID="{87F25DDE-7C56-454B-9DB6-17CFC553CE4C}" presName="circle1" presStyleLbl="node1" presStyleIdx="0" presStyleCnt="3"/>
      <dgm:spPr/>
    </dgm:pt>
    <dgm:pt modelId="{519A782C-0CE9-43E9-859D-5E9E6537F567}" type="pres">
      <dgm:prSet presAssocID="{87F25DDE-7C56-454B-9DB6-17CFC553CE4C}" presName="c1text" presStyleLbl="node1" presStyleIdx="0" presStyleCnt="3">
        <dgm:presLayoutVars>
          <dgm:bulletEnabled val="1"/>
        </dgm:presLayoutVars>
      </dgm:prSet>
      <dgm:spPr/>
    </dgm:pt>
    <dgm:pt modelId="{658AC820-5D09-4722-9976-9A6E398A525C}" type="pres">
      <dgm:prSet presAssocID="{87F25DDE-7C56-454B-9DB6-17CFC553CE4C}" presName="comp2" presStyleCnt="0"/>
      <dgm:spPr/>
    </dgm:pt>
    <dgm:pt modelId="{F2075D56-37F2-4B49-AA09-FA0D6AD1DC6E}" type="pres">
      <dgm:prSet presAssocID="{87F25DDE-7C56-454B-9DB6-17CFC553CE4C}" presName="circle2" presStyleLbl="node1" presStyleIdx="1" presStyleCnt="3"/>
      <dgm:spPr/>
    </dgm:pt>
    <dgm:pt modelId="{1B99AC50-3B38-4D4A-9639-2A76A6503934}" type="pres">
      <dgm:prSet presAssocID="{87F25DDE-7C56-454B-9DB6-17CFC553CE4C}" presName="c2text" presStyleLbl="node1" presStyleIdx="1" presStyleCnt="3">
        <dgm:presLayoutVars>
          <dgm:bulletEnabled val="1"/>
        </dgm:presLayoutVars>
      </dgm:prSet>
      <dgm:spPr/>
    </dgm:pt>
    <dgm:pt modelId="{9E0D216A-1192-40C3-B024-E27248FD3E9F}" type="pres">
      <dgm:prSet presAssocID="{87F25DDE-7C56-454B-9DB6-17CFC553CE4C}" presName="comp3" presStyleCnt="0"/>
      <dgm:spPr/>
    </dgm:pt>
    <dgm:pt modelId="{990B04EB-F73D-4D8D-9A21-546170AD042C}" type="pres">
      <dgm:prSet presAssocID="{87F25DDE-7C56-454B-9DB6-17CFC553CE4C}" presName="circle3" presStyleLbl="node1" presStyleIdx="2" presStyleCnt="3"/>
      <dgm:spPr/>
    </dgm:pt>
    <dgm:pt modelId="{1F48320A-3735-4AF7-84E1-33144DABFDFD}" type="pres">
      <dgm:prSet presAssocID="{87F25DDE-7C56-454B-9DB6-17CFC553CE4C}" presName="c3text" presStyleLbl="node1" presStyleIdx="2" presStyleCnt="3">
        <dgm:presLayoutVars>
          <dgm:bulletEnabled val="1"/>
        </dgm:presLayoutVars>
      </dgm:prSet>
      <dgm:spPr/>
    </dgm:pt>
  </dgm:ptLst>
  <dgm:cxnLst>
    <dgm:cxn modelId="{6E18280E-9D97-42D9-AE3F-995EE8AC0983}" type="presOf" srcId="{84545DD6-3552-40AA-8B23-D4D88E06CEAA}" destId="{1F48320A-3735-4AF7-84E1-33144DABFDFD}" srcOrd="1" destOrd="0" presId="urn:microsoft.com/office/officeart/2005/8/layout/venn2"/>
    <dgm:cxn modelId="{8A1D630E-56E4-4AA0-8B20-2FC7F0994FED}" srcId="{87F25DDE-7C56-454B-9DB6-17CFC553CE4C}" destId="{54E1AB85-B9D2-4E3D-8F6B-B5A7232B1FC7}" srcOrd="1" destOrd="0" parTransId="{CA7B0748-A598-483A-8DEC-604C0CB2972A}" sibTransId="{75750D69-BCF6-4CE5-B140-691E75C3275C}"/>
    <dgm:cxn modelId="{C0484617-E733-4089-903B-33A2FF98B09A}" type="presOf" srcId="{87F25DDE-7C56-454B-9DB6-17CFC553CE4C}" destId="{9F0BE526-3CB7-4852-8B0E-C7231327DE10}" srcOrd="0" destOrd="0" presId="urn:microsoft.com/office/officeart/2005/8/layout/venn2"/>
    <dgm:cxn modelId="{B44B013C-B697-4C81-91C0-178724F39883}" type="presOf" srcId="{086731FE-361D-4B04-A58F-F45AB001BAB0}" destId="{519A782C-0CE9-43E9-859D-5E9E6537F567}" srcOrd="1" destOrd="0" presId="urn:microsoft.com/office/officeart/2005/8/layout/venn2"/>
    <dgm:cxn modelId="{1B8A815D-D185-41DB-86B1-9179B4B2C46F}" type="presOf" srcId="{54E1AB85-B9D2-4E3D-8F6B-B5A7232B1FC7}" destId="{F2075D56-37F2-4B49-AA09-FA0D6AD1DC6E}" srcOrd="0" destOrd="0" presId="urn:microsoft.com/office/officeart/2005/8/layout/venn2"/>
    <dgm:cxn modelId="{46675769-B8BE-4B6B-B19E-4FCE9BF35AEE}" type="presOf" srcId="{54E1AB85-B9D2-4E3D-8F6B-B5A7232B1FC7}" destId="{1B99AC50-3B38-4D4A-9639-2A76A6503934}" srcOrd="1" destOrd="0" presId="urn:microsoft.com/office/officeart/2005/8/layout/venn2"/>
    <dgm:cxn modelId="{0E58878C-4917-40AB-8FD5-D5936C2A4BB4}" type="presOf" srcId="{84545DD6-3552-40AA-8B23-D4D88E06CEAA}" destId="{990B04EB-F73D-4D8D-9A21-546170AD042C}" srcOrd="0" destOrd="0" presId="urn:microsoft.com/office/officeart/2005/8/layout/venn2"/>
    <dgm:cxn modelId="{E2C0BC8E-1932-49CB-85BF-DEEAC26434AD}" type="presOf" srcId="{086731FE-361D-4B04-A58F-F45AB001BAB0}" destId="{76DE2E6B-3EF1-4272-B81B-89C5E9D40CF8}" srcOrd="0" destOrd="0" presId="urn:microsoft.com/office/officeart/2005/8/layout/venn2"/>
    <dgm:cxn modelId="{B686E597-9E9C-4D59-882D-E2ABE93B22B5}" srcId="{87F25DDE-7C56-454B-9DB6-17CFC553CE4C}" destId="{84545DD6-3552-40AA-8B23-D4D88E06CEAA}" srcOrd="2" destOrd="0" parTransId="{23069ADB-92D1-4425-8451-0FA7A7292038}" sibTransId="{2361702B-5E94-4E96-BED4-CAB449572C88}"/>
    <dgm:cxn modelId="{740FD5EF-0A23-4AD8-BC08-0E63880DF852}" srcId="{87F25DDE-7C56-454B-9DB6-17CFC553CE4C}" destId="{086731FE-361D-4B04-A58F-F45AB001BAB0}" srcOrd="0" destOrd="0" parTransId="{201D7429-B771-456B-ACED-0086638934DF}" sibTransId="{07D95DD8-4925-48E1-8CF0-B804DF20B086}"/>
    <dgm:cxn modelId="{EE8EFC7C-25DE-4ACE-9AC5-117BA6F7CD03}" type="presParOf" srcId="{9F0BE526-3CB7-4852-8B0E-C7231327DE10}" destId="{53EE9C50-CFCF-4561-8D93-F7A10674DED8}" srcOrd="0" destOrd="0" presId="urn:microsoft.com/office/officeart/2005/8/layout/venn2"/>
    <dgm:cxn modelId="{D91BC9B7-E262-4DDC-80B3-71B80CCCD26F}" type="presParOf" srcId="{53EE9C50-CFCF-4561-8D93-F7A10674DED8}" destId="{76DE2E6B-3EF1-4272-B81B-89C5E9D40CF8}" srcOrd="0" destOrd="0" presId="urn:microsoft.com/office/officeart/2005/8/layout/venn2"/>
    <dgm:cxn modelId="{41F1A672-4B73-4830-B5D5-9FD31F80CFAD}" type="presParOf" srcId="{53EE9C50-CFCF-4561-8D93-F7A10674DED8}" destId="{519A782C-0CE9-43E9-859D-5E9E6537F567}" srcOrd="1" destOrd="0" presId="urn:microsoft.com/office/officeart/2005/8/layout/venn2"/>
    <dgm:cxn modelId="{406C154E-F77F-4AB3-B1D3-4261483F004A}" type="presParOf" srcId="{9F0BE526-3CB7-4852-8B0E-C7231327DE10}" destId="{658AC820-5D09-4722-9976-9A6E398A525C}" srcOrd="1" destOrd="0" presId="urn:microsoft.com/office/officeart/2005/8/layout/venn2"/>
    <dgm:cxn modelId="{E92BCD09-8153-4B32-824C-CD89FE73539B}" type="presParOf" srcId="{658AC820-5D09-4722-9976-9A6E398A525C}" destId="{F2075D56-37F2-4B49-AA09-FA0D6AD1DC6E}" srcOrd="0" destOrd="0" presId="urn:microsoft.com/office/officeart/2005/8/layout/venn2"/>
    <dgm:cxn modelId="{D81E69BE-0BFF-44C9-B7A9-7021CEDCDB87}" type="presParOf" srcId="{658AC820-5D09-4722-9976-9A6E398A525C}" destId="{1B99AC50-3B38-4D4A-9639-2A76A6503934}" srcOrd="1" destOrd="0" presId="urn:microsoft.com/office/officeart/2005/8/layout/venn2"/>
    <dgm:cxn modelId="{A8D1E876-7409-4B31-97DE-1F75F737EE02}" type="presParOf" srcId="{9F0BE526-3CB7-4852-8B0E-C7231327DE10}" destId="{9E0D216A-1192-40C3-B024-E27248FD3E9F}" srcOrd="2" destOrd="0" presId="urn:microsoft.com/office/officeart/2005/8/layout/venn2"/>
    <dgm:cxn modelId="{213A4EA0-72D2-4BE4-B12B-09692F401E8D}" type="presParOf" srcId="{9E0D216A-1192-40C3-B024-E27248FD3E9F}" destId="{990B04EB-F73D-4D8D-9A21-546170AD042C}" srcOrd="0" destOrd="0" presId="urn:microsoft.com/office/officeart/2005/8/layout/venn2"/>
    <dgm:cxn modelId="{F0AF320A-C9B4-4F59-88A2-E0599F7FB9BE}" type="presParOf" srcId="{9E0D216A-1192-40C3-B024-E27248FD3E9F}" destId="{1F48320A-3735-4AF7-84E1-33144DABFDFD}" srcOrd="1" destOrd="0" presId="urn:microsoft.com/office/officeart/2005/8/layout/ven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04782388-841E-4D47-8054-609BC96D2E29}" type="doc">
      <dgm:prSet loTypeId="urn:microsoft.com/office/officeart/2005/8/layout/pyramid3" loCatId="pyramid" qsTypeId="urn:microsoft.com/office/officeart/2005/8/quickstyle/simple2#1" qsCatId="simple" csTypeId="urn:microsoft.com/office/officeart/2005/8/colors/accent1_4#1" csCatId="accent1" phldr="1"/>
      <dgm:spPr/>
    </dgm:pt>
    <dgm:pt modelId="{D810ACF6-3A28-4FC3-AC4B-6C7CC9303D69}">
      <dgm:prSet phldrT="[Text]" custT="1"/>
      <dgm:spPr>
        <a:xfrm rot="10800000">
          <a:off x="0" y="0"/>
          <a:ext cx="3276600" cy="483616"/>
        </a:xfrm>
        <a:solidFill>
          <a:schemeClr val="accent3">
            <a:lumMod val="40000"/>
            <a:lumOff val="60000"/>
          </a:schemeClr>
        </a:solidFill>
      </dgm:spPr>
      <dgm:t>
        <a:bodyPr/>
        <a:lstStyle/>
        <a:p>
          <a:r>
            <a:rPr lang="en-US" sz="1200" b="1" dirty="0">
              <a:solidFill>
                <a:schemeClr val="tx1"/>
              </a:solidFill>
              <a:latin typeface="Arial" pitchFamily="34" charset="0"/>
              <a:ea typeface="+mn-ea"/>
              <a:cs typeface="Arial" pitchFamily="34" charset="0"/>
            </a:rPr>
            <a:t>Separate Questionnaire Designing for Market Domain and Dedicated Primary Research</a:t>
          </a:r>
          <a:endParaRPr lang="en-GB" sz="1200" b="1" dirty="0">
            <a:solidFill>
              <a:schemeClr val="tx1"/>
            </a:solidFill>
            <a:latin typeface="Arial" pitchFamily="34" charset="0"/>
            <a:ea typeface="+mn-ea"/>
            <a:cs typeface="Arial" pitchFamily="34" charset="0"/>
          </a:endParaRPr>
        </a:p>
      </dgm:t>
    </dgm:pt>
    <dgm:pt modelId="{41245539-718B-442F-8309-CA7E20316159}" type="parTrans" cxnId="{2792C29D-1442-4266-A5E6-0DF8FFB4F416}">
      <dgm:prSet/>
      <dgm:spPr/>
      <dgm:t>
        <a:bodyPr/>
        <a:lstStyle/>
        <a:p>
          <a:endParaRPr lang="en-GB" sz="1050">
            <a:solidFill>
              <a:schemeClr val="tx1"/>
            </a:solidFill>
            <a:latin typeface="Arial" pitchFamily="34" charset="0"/>
            <a:cs typeface="Arial" pitchFamily="34" charset="0"/>
          </a:endParaRPr>
        </a:p>
      </dgm:t>
    </dgm:pt>
    <dgm:pt modelId="{85372B35-23FE-4663-9B50-ED731A7990A9}" type="sibTrans" cxnId="{2792C29D-1442-4266-A5E6-0DF8FFB4F416}">
      <dgm:prSet/>
      <dgm:spPr/>
      <dgm:t>
        <a:bodyPr/>
        <a:lstStyle/>
        <a:p>
          <a:endParaRPr lang="en-GB" sz="1050">
            <a:solidFill>
              <a:schemeClr val="tx1"/>
            </a:solidFill>
            <a:latin typeface="Arial" pitchFamily="34" charset="0"/>
            <a:cs typeface="Arial" pitchFamily="34" charset="0"/>
          </a:endParaRPr>
        </a:p>
      </dgm:t>
    </dgm:pt>
    <dgm:pt modelId="{5B215DD5-3F83-43B7-8495-278CA09A354A}">
      <dgm:prSet phldrT="[Text]" custT="1"/>
      <dgm:spPr>
        <a:xfrm rot="10800000">
          <a:off x="327660" y="483616"/>
          <a:ext cx="2621280" cy="483616"/>
        </a:xfrm>
        <a:solidFill>
          <a:schemeClr val="accent3">
            <a:lumMod val="40000"/>
            <a:lumOff val="60000"/>
          </a:schemeClr>
        </a:solidFill>
      </dgm:spPr>
      <dgm:t>
        <a:bodyPr/>
        <a:lstStyle/>
        <a:p>
          <a:r>
            <a:rPr lang="en-US" sz="1200" b="1" dirty="0">
              <a:solidFill>
                <a:schemeClr val="tx1"/>
              </a:solidFill>
              <a:latin typeface="Arial" pitchFamily="34" charset="0"/>
              <a:ea typeface="+mn-ea"/>
              <a:cs typeface="Arial" pitchFamily="34" charset="0"/>
            </a:rPr>
            <a:t>Exhaustive Secondary Research</a:t>
          </a:r>
          <a:endParaRPr lang="en-GB" sz="1200" b="1" dirty="0">
            <a:solidFill>
              <a:schemeClr val="tx1"/>
            </a:solidFill>
            <a:latin typeface="Arial" pitchFamily="34" charset="0"/>
            <a:ea typeface="+mn-ea"/>
            <a:cs typeface="Arial" pitchFamily="34" charset="0"/>
          </a:endParaRPr>
        </a:p>
      </dgm:t>
    </dgm:pt>
    <dgm:pt modelId="{C053622B-4F1F-4AC3-9CB8-704D017EB887}" type="parTrans" cxnId="{BDBEAD5D-4857-47EB-8258-278C7AA6AE39}">
      <dgm:prSet/>
      <dgm:spPr/>
      <dgm:t>
        <a:bodyPr/>
        <a:lstStyle/>
        <a:p>
          <a:endParaRPr lang="en-GB" sz="1050">
            <a:solidFill>
              <a:schemeClr val="tx1"/>
            </a:solidFill>
            <a:latin typeface="Arial" pitchFamily="34" charset="0"/>
            <a:cs typeface="Arial" pitchFamily="34" charset="0"/>
          </a:endParaRPr>
        </a:p>
      </dgm:t>
    </dgm:pt>
    <dgm:pt modelId="{E7701EE5-4C16-4A36-BBC6-7F0CC356C662}" type="sibTrans" cxnId="{BDBEAD5D-4857-47EB-8258-278C7AA6AE39}">
      <dgm:prSet/>
      <dgm:spPr/>
      <dgm:t>
        <a:bodyPr/>
        <a:lstStyle/>
        <a:p>
          <a:endParaRPr lang="en-GB" sz="1050">
            <a:solidFill>
              <a:schemeClr val="tx1"/>
            </a:solidFill>
            <a:latin typeface="Arial" pitchFamily="34" charset="0"/>
            <a:cs typeface="Arial" pitchFamily="34" charset="0"/>
          </a:endParaRPr>
        </a:p>
      </dgm:t>
    </dgm:pt>
    <dgm:pt modelId="{27151F98-B779-4D5B-8D54-E089CD7098C0}">
      <dgm:prSet phldrT="[Text]" custT="1"/>
      <dgm:spPr>
        <a:xfrm rot="10800000">
          <a:off x="655320" y="967232"/>
          <a:ext cx="1965960" cy="483616"/>
        </a:xfrm>
        <a:solidFill>
          <a:schemeClr val="accent1">
            <a:lumMod val="40000"/>
            <a:lumOff val="60000"/>
          </a:schemeClr>
        </a:solidFill>
      </dgm:spPr>
      <dgm:t>
        <a:bodyPr/>
        <a:lstStyle/>
        <a:p>
          <a:r>
            <a:rPr lang="en-US" sz="1200" b="1" dirty="0">
              <a:solidFill>
                <a:schemeClr val="tx1"/>
              </a:solidFill>
              <a:latin typeface="Arial" pitchFamily="34" charset="0"/>
              <a:ea typeface="+mn-ea"/>
              <a:cs typeface="Arial" pitchFamily="34" charset="0"/>
            </a:rPr>
            <a:t>Data Collection</a:t>
          </a:r>
          <a:endParaRPr lang="en-GB" sz="1200" b="1" dirty="0">
            <a:solidFill>
              <a:schemeClr val="tx1"/>
            </a:solidFill>
            <a:latin typeface="Arial" pitchFamily="34" charset="0"/>
            <a:ea typeface="+mn-ea"/>
            <a:cs typeface="Arial" pitchFamily="34" charset="0"/>
          </a:endParaRPr>
        </a:p>
      </dgm:t>
    </dgm:pt>
    <dgm:pt modelId="{96BD56A4-82C3-4BA4-B483-8F1159DD206F}" type="parTrans" cxnId="{556C357B-E2B1-4048-9381-C240C434CA67}">
      <dgm:prSet/>
      <dgm:spPr/>
      <dgm:t>
        <a:bodyPr/>
        <a:lstStyle/>
        <a:p>
          <a:endParaRPr lang="en-GB" sz="1050">
            <a:solidFill>
              <a:schemeClr val="tx1"/>
            </a:solidFill>
            <a:latin typeface="Arial" pitchFamily="34" charset="0"/>
            <a:cs typeface="Arial" pitchFamily="34" charset="0"/>
          </a:endParaRPr>
        </a:p>
      </dgm:t>
    </dgm:pt>
    <dgm:pt modelId="{1FEF5025-2765-4812-8626-A941B78F8E5B}" type="sibTrans" cxnId="{556C357B-E2B1-4048-9381-C240C434CA67}">
      <dgm:prSet/>
      <dgm:spPr/>
      <dgm:t>
        <a:bodyPr/>
        <a:lstStyle/>
        <a:p>
          <a:endParaRPr lang="en-GB" sz="1050">
            <a:solidFill>
              <a:schemeClr val="tx1"/>
            </a:solidFill>
            <a:latin typeface="Arial" pitchFamily="34" charset="0"/>
            <a:cs typeface="Arial" pitchFamily="34" charset="0"/>
          </a:endParaRPr>
        </a:p>
      </dgm:t>
    </dgm:pt>
    <dgm:pt modelId="{229EB486-CCDB-4FC4-AAC2-F202CF15F918}">
      <dgm:prSet phldrT="[Text]" custT="1"/>
      <dgm:spPr>
        <a:xfrm rot="10800000">
          <a:off x="982980" y="1450848"/>
          <a:ext cx="1310640" cy="483616"/>
        </a:xfrm>
        <a:solidFill>
          <a:schemeClr val="accent1">
            <a:lumMod val="20000"/>
            <a:lumOff val="80000"/>
          </a:schemeClr>
        </a:solidFill>
      </dgm:spPr>
      <dgm:t>
        <a:bodyPr/>
        <a:lstStyle/>
        <a:p>
          <a:pPr marL="0" indent="0"/>
          <a:endParaRPr lang="en-GB" sz="1000" dirty="0">
            <a:solidFill>
              <a:schemeClr val="tx1"/>
            </a:solidFill>
            <a:latin typeface="Arial" pitchFamily="34" charset="0"/>
            <a:ea typeface="+mn-ea"/>
            <a:cs typeface="Arial" pitchFamily="34" charset="0"/>
          </a:endParaRPr>
        </a:p>
      </dgm:t>
    </dgm:pt>
    <dgm:pt modelId="{125B08E0-9FA7-46AC-A655-09058B8A8A11}" type="parTrans" cxnId="{AA41EA6C-6FE3-41DC-85B0-313EDDEA9562}">
      <dgm:prSet/>
      <dgm:spPr/>
      <dgm:t>
        <a:bodyPr/>
        <a:lstStyle/>
        <a:p>
          <a:endParaRPr lang="en-GB" sz="1050">
            <a:solidFill>
              <a:schemeClr val="tx1"/>
            </a:solidFill>
            <a:latin typeface="Arial" pitchFamily="34" charset="0"/>
            <a:cs typeface="Arial" pitchFamily="34" charset="0"/>
          </a:endParaRPr>
        </a:p>
      </dgm:t>
    </dgm:pt>
    <dgm:pt modelId="{A340681E-4472-4EBA-93D0-3B5CFA00F5E0}" type="sibTrans" cxnId="{AA41EA6C-6FE3-41DC-85B0-313EDDEA9562}">
      <dgm:prSet/>
      <dgm:spPr/>
      <dgm:t>
        <a:bodyPr/>
        <a:lstStyle/>
        <a:p>
          <a:endParaRPr lang="en-GB" sz="1050">
            <a:solidFill>
              <a:schemeClr val="tx1"/>
            </a:solidFill>
            <a:latin typeface="Arial" pitchFamily="34" charset="0"/>
            <a:cs typeface="Arial" pitchFamily="34" charset="0"/>
          </a:endParaRPr>
        </a:p>
      </dgm:t>
    </dgm:pt>
    <dgm:pt modelId="{EEB5CBE4-A9C9-4111-9719-696F133F5403}">
      <dgm:prSet phldrT="[Text]" custT="1"/>
      <dgm:spPr>
        <a:xfrm rot="10800000">
          <a:off x="1310640" y="1934464"/>
          <a:ext cx="655320" cy="483616"/>
        </a:xfrm>
      </dgm:spPr>
      <dgm:t>
        <a:bodyPr/>
        <a:lstStyle/>
        <a:p>
          <a:endParaRPr lang="en-GB" sz="1000" dirty="0">
            <a:solidFill>
              <a:schemeClr val="tx1"/>
            </a:solidFill>
            <a:latin typeface="Arial" pitchFamily="34" charset="0"/>
            <a:ea typeface="+mn-ea"/>
            <a:cs typeface="Arial" pitchFamily="34" charset="0"/>
          </a:endParaRPr>
        </a:p>
      </dgm:t>
    </dgm:pt>
    <dgm:pt modelId="{768781D6-6831-44B7-8D70-BD5AFB0481D0}" type="sibTrans" cxnId="{E754DEEB-BC97-4B15-AB0B-706A643DFBD2}">
      <dgm:prSet/>
      <dgm:spPr/>
      <dgm:t>
        <a:bodyPr/>
        <a:lstStyle/>
        <a:p>
          <a:endParaRPr lang="en-GB" sz="1050">
            <a:solidFill>
              <a:schemeClr val="tx1"/>
            </a:solidFill>
            <a:latin typeface="Arial" pitchFamily="34" charset="0"/>
            <a:cs typeface="Arial" pitchFamily="34" charset="0"/>
          </a:endParaRPr>
        </a:p>
      </dgm:t>
    </dgm:pt>
    <dgm:pt modelId="{4719747C-1750-4E13-BE8D-0572CA57F215}" type="parTrans" cxnId="{E754DEEB-BC97-4B15-AB0B-706A643DFBD2}">
      <dgm:prSet/>
      <dgm:spPr/>
      <dgm:t>
        <a:bodyPr/>
        <a:lstStyle/>
        <a:p>
          <a:endParaRPr lang="en-GB" sz="1050">
            <a:solidFill>
              <a:schemeClr val="tx1"/>
            </a:solidFill>
            <a:latin typeface="Arial" pitchFamily="34" charset="0"/>
            <a:cs typeface="Arial" pitchFamily="34" charset="0"/>
          </a:endParaRPr>
        </a:p>
      </dgm:t>
    </dgm:pt>
    <dgm:pt modelId="{62F51EBE-2006-4572-93FE-16A8D17561C8}" type="pres">
      <dgm:prSet presAssocID="{04782388-841E-4D47-8054-609BC96D2E29}" presName="Name0" presStyleCnt="0">
        <dgm:presLayoutVars>
          <dgm:dir/>
          <dgm:animLvl val="lvl"/>
          <dgm:resizeHandles val="exact"/>
        </dgm:presLayoutVars>
      </dgm:prSet>
      <dgm:spPr/>
    </dgm:pt>
    <dgm:pt modelId="{692DB4EC-0664-448E-B752-F1E788672D83}" type="pres">
      <dgm:prSet presAssocID="{D810ACF6-3A28-4FC3-AC4B-6C7CC9303D69}" presName="Name8" presStyleCnt="0"/>
      <dgm:spPr/>
    </dgm:pt>
    <dgm:pt modelId="{F2CCB8DA-3E9D-4608-BBB6-7A9D5154F52F}" type="pres">
      <dgm:prSet presAssocID="{D810ACF6-3A28-4FC3-AC4B-6C7CC9303D69}" presName="level" presStyleLbl="node1" presStyleIdx="0" presStyleCnt="5">
        <dgm:presLayoutVars>
          <dgm:chMax val="1"/>
          <dgm:bulletEnabled val="1"/>
        </dgm:presLayoutVars>
      </dgm:prSet>
      <dgm:spPr>
        <a:prstGeom prst="trapezoid">
          <a:avLst>
            <a:gd name="adj" fmla="val 67752"/>
          </a:avLst>
        </a:prstGeom>
      </dgm:spPr>
    </dgm:pt>
    <dgm:pt modelId="{84F72E8C-2ED1-4B0E-9944-D26897A9473C}" type="pres">
      <dgm:prSet presAssocID="{D810ACF6-3A28-4FC3-AC4B-6C7CC9303D69}" presName="levelTx" presStyleLbl="revTx" presStyleIdx="0" presStyleCnt="0">
        <dgm:presLayoutVars>
          <dgm:chMax val="1"/>
          <dgm:bulletEnabled val="1"/>
        </dgm:presLayoutVars>
      </dgm:prSet>
      <dgm:spPr/>
    </dgm:pt>
    <dgm:pt modelId="{B06B4AE1-E9C7-4F6B-A159-53720D189365}" type="pres">
      <dgm:prSet presAssocID="{5B215DD5-3F83-43B7-8495-278CA09A354A}" presName="Name8" presStyleCnt="0"/>
      <dgm:spPr/>
    </dgm:pt>
    <dgm:pt modelId="{B8E62113-E391-4C88-892B-ABA3AD094B54}" type="pres">
      <dgm:prSet presAssocID="{5B215DD5-3F83-43B7-8495-278CA09A354A}" presName="level" presStyleLbl="node1" presStyleIdx="1" presStyleCnt="5">
        <dgm:presLayoutVars>
          <dgm:chMax val="1"/>
          <dgm:bulletEnabled val="1"/>
        </dgm:presLayoutVars>
      </dgm:prSet>
      <dgm:spPr>
        <a:prstGeom prst="trapezoid">
          <a:avLst>
            <a:gd name="adj" fmla="val 67752"/>
          </a:avLst>
        </a:prstGeom>
      </dgm:spPr>
    </dgm:pt>
    <dgm:pt modelId="{89CF1DEB-2FA2-47C1-931D-CF2DCB71EC36}" type="pres">
      <dgm:prSet presAssocID="{5B215DD5-3F83-43B7-8495-278CA09A354A}" presName="levelTx" presStyleLbl="revTx" presStyleIdx="0" presStyleCnt="0">
        <dgm:presLayoutVars>
          <dgm:chMax val="1"/>
          <dgm:bulletEnabled val="1"/>
        </dgm:presLayoutVars>
      </dgm:prSet>
      <dgm:spPr/>
    </dgm:pt>
    <dgm:pt modelId="{3569EBA7-BC70-4D9D-8A3D-DE229B2A327C}" type="pres">
      <dgm:prSet presAssocID="{27151F98-B779-4D5B-8D54-E089CD7098C0}" presName="Name8" presStyleCnt="0"/>
      <dgm:spPr/>
    </dgm:pt>
    <dgm:pt modelId="{9FB0A79C-98B3-4C03-8CE7-8B35BB1A864E}" type="pres">
      <dgm:prSet presAssocID="{27151F98-B779-4D5B-8D54-E089CD7098C0}" presName="level" presStyleLbl="node1" presStyleIdx="2" presStyleCnt="5">
        <dgm:presLayoutVars>
          <dgm:chMax val="1"/>
          <dgm:bulletEnabled val="1"/>
        </dgm:presLayoutVars>
      </dgm:prSet>
      <dgm:spPr>
        <a:prstGeom prst="trapezoid">
          <a:avLst>
            <a:gd name="adj" fmla="val 67752"/>
          </a:avLst>
        </a:prstGeom>
      </dgm:spPr>
    </dgm:pt>
    <dgm:pt modelId="{3E4B8D23-5D74-49C9-B099-21FB1EBF394C}" type="pres">
      <dgm:prSet presAssocID="{27151F98-B779-4D5B-8D54-E089CD7098C0}" presName="levelTx" presStyleLbl="revTx" presStyleIdx="0" presStyleCnt="0">
        <dgm:presLayoutVars>
          <dgm:chMax val="1"/>
          <dgm:bulletEnabled val="1"/>
        </dgm:presLayoutVars>
      </dgm:prSet>
      <dgm:spPr/>
    </dgm:pt>
    <dgm:pt modelId="{A5CE5A00-8334-4025-B02A-05DACE500592}" type="pres">
      <dgm:prSet presAssocID="{229EB486-CCDB-4FC4-AAC2-F202CF15F918}" presName="Name8" presStyleCnt="0"/>
      <dgm:spPr/>
    </dgm:pt>
    <dgm:pt modelId="{428DA93A-5240-4ACE-8345-09B65ED4A9E7}" type="pres">
      <dgm:prSet presAssocID="{229EB486-CCDB-4FC4-AAC2-F202CF15F918}" presName="level" presStyleLbl="node1" presStyleIdx="3" presStyleCnt="5">
        <dgm:presLayoutVars>
          <dgm:chMax val="1"/>
          <dgm:bulletEnabled val="1"/>
        </dgm:presLayoutVars>
      </dgm:prSet>
      <dgm:spPr>
        <a:prstGeom prst="trapezoid">
          <a:avLst>
            <a:gd name="adj" fmla="val 67752"/>
          </a:avLst>
        </a:prstGeom>
      </dgm:spPr>
    </dgm:pt>
    <dgm:pt modelId="{A0968197-CCBD-4B5B-BBFA-BCD5B48100FD}" type="pres">
      <dgm:prSet presAssocID="{229EB486-CCDB-4FC4-AAC2-F202CF15F918}" presName="levelTx" presStyleLbl="revTx" presStyleIdx="0" presStyleCnt="0">
        <dgm:presLayoutVars>
          <dgm:chMax val="1"/>
          <dgm:bulletEnabled val="1"/>
        </dgm:presLayoutVars>
      </dgm:prSet>
      <dgm:spPr/>
    </dgm:pt>
    <dgm:pt modelId="{723F323E-4907-4DB9-82F8-89B4CE518807}" type="pres">
      <dgm:prSet presAssocID="{EEB5CBE4-A9C9-4111-9719-696F133F5403}" presName="Name8" presStyleCnt="0"/>
      <dgm:spPr/>
    </dgm:pt>
    <dgm:pt modelId="{0B9A9F28-6567-47CD-B97B-831CC44D84FD}" type="pres">
      <dgm:prSet presAssocID="{EEB5CBE4-A9C9-4111-9719-696F133F5403}" presName="level" presStyleLbl="node1" presStyleIdx="4" presStyleCnt="5">
        <dgm:presLayoutVars>
          <dgm:chMax val="1"/>
          <dgm:bulletEnabled val="1"/>
        </dgm:presLayoutVars>
      </dgm:prSet>
      <dgm:spPr>
        <a:prstGeom prst="trapezoid">
          <a:avLst>
            <a:gd name="adj" fmla="val 67752"/>
          </a:avLst>
        </a:prstGeom>
      </dgm:spPr>
    </dgm:pt>
    <dgm:pt modelId="{C9CC4886-CC4F-48D3-8E81-64D71CBDEB4D}" type="pres">
      <dgm:prSet presAssocID="{EEB5CBE4-A9C9-4111-9719-696F133F5403}" presName="levelTx" presStyleLbl="revTx" presStyleIdx="0" presStyleCnt="0">
        <dgm:presLayoutVars>
          <dgm:chMax val="1"/>
          <dgm:bulletEnabled val="1"/>
        </dgm:presLayoutVars>
      </dgm:prSet>
      <dgm:spPr/>
    </dgm:pt>
  </dgm:ptLst>
  <dgm:cxnLst>
    <dgm:cxn modelId="{B8CA1401-1933-497D-95FE-AEEE85B65C86}" type="presOf" srcId="{27151F98-B779-4D5B-8D54-E089CD7098C0}" destId="{9FB0A79C-98B3-4C03-8CE7-8B35BB1A864E}" srcOrd="0" destOrd="0" presId="urn:microsoft.com/office/officeart/2005/8/layout/pyramid3"/>
    <dgm:cxn modelId="{7BB63D08-A2C0-46F2-812B-96ED93B2A9AE}" type="presOf" srcId="{EEB5CBE4-A9C9-4111-9719-696F133F5403}" destId="{0B9A9F28-6567-47CD-B97B-831CC44D84FD}" srcOrd="0" destOrd="0" presId="urn:microsoft.com/office/officeart/2005/8/layout/pyramid3"/>
    <dgm:cxn modelId="{E37C4C1C-FDDE-4544-AA8D-C041096E497E}" type="presOf" srcId="{5B215DD5-3F83-43B7-8495-278CA09A354A}" destId="{B8E62113-E391-4C88-892B-ABA3AD094B54}" srcOrd="0" destOrd="0" presId="urn:microsoft.com/office/officeart/2005/8/layout/pyramid3"/>
    <dgm:cxn modelId="{BDA2AD32-DEF7-4CFA-B36D-D5296EA4D89C}" type="presOf" srcId="{5B215DD5-3F83-43B7-8495-278CA09A354A}" destId="{89CF1DEB-2FA2-47C1-931D-CF2DCB71EC36}" srcOrd="1" destOrd="0" presId="urn:microsoft.com/office/officeart/2005/8/layout/pyramid3"/>
    <dgm:cxn modelId="{BDBEAD5D-4857-47EB-8258-278C7AA6AE39}" srcId="{04782388-841E-4D47-8054-609BC96D2E29}" destId="{5B215DD5-3F83-43B7-8495-278CA09A354A}" srcOrd="1" destOrd="0" parTransId="{C053622B-4F1F-4AC3-9CB8-704D017EB887}" sibTransId="{E7701EE5-4C16-4A36-BBC6-7F0CC356C662}"/>
    <dgm:cxn modelId="{5C2B3E46-9EB7-49DC-B99F-FC440643C178}" type="presOf" srcId="{D810ACF6-3A28-4FC3-AC4B-6C7CC9303D69}" destId="{F2CCB8DA-3E9D-4608-BBB6-7A9D5154F52F}" srcOrd="0" destOrd="0" presId="urn:microsoft.com/office/officeart/2005/8/layout/pyramid3"/>
    <dgm:cxn modelId="{AA41EA6C-6FE3-41DC-85B0-313EDDEA9562}" srcId="{04782388-841E-4D47-8054-609BC96D2E29}" destId="{229EB486-CCDB-4FC4-AAC2-F202CF15F918}" srcOrd="3" destOrd="0" parTransId="{125B08E0-9FA7-46AC-A655-09058B8A8A11}" sibTransId="{A340681E-4472-4EBA-93D0-3B5CFA00F5E0}"/>
    <dgm:cxn modelId="{556C357B-E2B1-4048-9381-C240C434CA67}" srcId="{04782388-841E-4D47-8054-609BC96D2E29}" destId="{27151F98-B779-4D5B-8D54-E089CD7098C0}" srcOrd="2" destOrd="0" parTransId="{96BD56A4-82C3-4BA4-B483-8F1159DD206F}" sibTransId="{1FEF5025-2765-4812-8626-A941B78F8E5B}"/>
    <dgm:cxn modelId="{06D69884-77FB-4A29-855D-633DAF498D7E}" type="presOf" srcId="{04782388-841E-4D47-8054-609BC96D2E29}" destId="{62F51EBE-2006-4572-93FE-16A8D17561C8}" srcOrd="0" destOrd="0" presId="urn:microsoft.com/office/officeart/2005/8/layout/pyramid3"/>
    <dgm:cxn modelId="{2792C29D-1442-4266-A5E6-0DF8FFB4F416}" srcId="{04782388-841E-4D47-8054-609BC96D2E29}" destId="{D810ACF6-3A28-4FC3-AC4B-6C7CC9303D69}" srcOrd="0" destOrd="0" parTransId="{41245539-718B-442F-8309-CA7E20316159}" sibTransId="{85372B35-23FE-4663-9B50-ED731A7990A9}"/>
    <dgm:cxn modelId="{4F73A5A3-3DAB-4708-90FA-7C809453594D}" type="presOf" srcId="{D810ACF6-3A28-4FC3-AC4B-6C7CC9303D69}" destId="{84F72E8C-2ED1-4B0E-9944-D26897A9473C}" srcOrd="1" destOrd="0" presId="urn:microsoft.com/office/officeart/2005/8/layout/pyramid3"/>
    <dgm:cxn modelId="{61C143A8-7246-437C-9EBD-9F36945C2AF8}" type="presOf" srcId="{229EB486-CCDB-4FC4-AAC2-F202CF15F918}" destId="{428DA93A-5240-4ACE-8345-09B65ED4A9E7}" srcOrd="0" destOrd="0" presId="urn:microsoft.com/office/officeart/2005/8/layout/pyramid3"/>
    <dgm:cxn modelId="{C3A259AE-4DA4-4FD8-8283-CCEBECD1121A}" type="presOf" srcId="{229EB486-CCDB-4FC4-AAC2-F202CF15F918}" destId="{A0968197-CCBD-4B5B-BBFA-BCD5B48100FD}" srcOrd="1" destOrd="0" presId="urn:microsoft.com/office/officeart/2005/8/layout/pyramid3"/>
    <dgm:cxn modelId="{B81DA6DA-0A74-420C-8498-2FCFA07F2C03}" type="presOf" srcId="{27151F98-B779-4D5B-8D54-E089CD7098C0}" destId="{3E4B8D23-5D74-49C9-B099-21FB1EBF394C}" srcOrd="1" destOrd="0" presId="urn:microsoft.com/office/officeart/2005/8/layout/pyramid3"/>
    <dgm:cxn modelId="{E5F688E7-7865-460F-A10B-AED243E0F496}" type="presOf" srcId="{EEB5CBE4-A9C9-4111-9719-696F133F5403}" destId="{C9CC4886-CC4F-48D3-8E81-64D71CBDEB4D}" srcOrd="1" destOrd="0" presId="urn:microsoft.com/office/officeart/2005/8/layout/pyramid3"/>
    <dgm:cxn modelId="{E754DEEB-BC97-4B15-AB0B-706A643DFBD2}" srcId="{04782388-841E-4D47-8054-609BC96D2E29}" destId="{EEB5CBE4-A9C9-4111-9719-696F133F5403}" srcOrd="4" destOrd="0" parTransId="{4719747C-1750-4E13-BE8D-0572CA57F215}" sibTransId="{768781D6-6831-44B7-8D70-BD5AFB0481D0}"/>
    <dgm:cxn modelId="{EB40CDA0-7159-4CA7-B564-3C0CAF147E6E}" type="presParOf" srcId="{62F51EBE-2006-4572-93FE-16A8D17561C8}" destId="{692DB4EC-0664-448E-B752-F1E788672D83}" srcOrd="0" destOrd="0" presId="urn:microsoft.com/office/officeart/2005/8/layout/pyramid3"/>
    <dgm:cxn modelId="{0243EDDD-FAF5-47D3-AC5A-8D43F1261ACB}" type="presParOf" srcId="{692DB4EC-0664-448E-B752-F1E788672D83}" destId="{F2CCB8DA-3E9D-4608-BBB6-7A9D5154F52F}" srcOrd="0" destOrd="0" presId="urn:microsoft.com/office/officeart/2005/8/layout/pyramid3"/>
    <dgm:cxn modelId="{477ADB9D-C4F3-44F8-87F7-D5ADB9E937E9}" type="presParOf" srcId="{692DB4EC-0664-448E-B752-F1E788672D83}" destId="{84F72E8C-2ED1-4B0E-9944-D26897A9473C}" srcOrd="1" destOrd="0" presId="urn:microsoft.com/office/officeart/2005/8/layout/pyramid3"/>
    <dgm:cxn modelId="{06393D1B-9BEF-4A07-AEF2-6ACBA32D08EE}" type="presParOf" srcId="{62F51EBE-2006-4572-93FE-16A8D17561C8}" destId="{B06B4AE1-E9C7-4F6B-A159-53720D189365}" srcOrd="1" destOrd="0" presId="urn:microsoft.com/office/officeart/2005/8/layout/pyramid3"/>
    <dgm:cxn modelId="{F67E5AF1-00B0-41A6-BF2D-4D2145182B17}" type="presParOf" srcId="{B06B4AE1-E9C7-4F6B-A159-53720D189365}" destId="{B8E62113-E391-4C88-892B-ABA3AD094B54}" srcOrd="0" destOrd="0" presId="urn:microsoft.com/office/officeart/2005/8/layout/pyramid3"/>
    <dgm:cxn modelId="{6DCA9756-D19D-4349-985E-3E7BAAE467E6}" type="presParOf" srcId="{B06B4AE1-E9C7-4F6B-A159-53720D189365}" destId="{89CF1DEB-2FA2-47C1-931D-CF2DCB71EC36}" srcOrd="1" destOrd="0" presId="urn:microsoft.com/office/officeart/2005/8/layout/pyramid3"/>
    <dgm:cxn modelId="{2CBD9380-112E-4850-BC92-914B20641B44}" type="presParOf" srcId="{62F51EBE-2006-4572-93FE-16A8D17561C8}" destId="{3569EBA7-BC70-4D9D-8A3D-DE229B2A327C}" srcOrd="2" destOrd="0" presId="urn:microsoft.com/office/officeart/2005/8/layout/pyramid3"/>
    <dgm:cxn modelId="{C6197E87-2015-44F3-B490-5D4DC3B08425}" type="presParOf" srcId="{3569EBA7-BC70-4D9D-8A3D-DE229B2A327C}" destId="{9FB0A79C-98B3-4C03-8CE7-8B35BB1A864E}" srcOrd="0" destOrd="0" presId="urn:microsoft.com/office/officeart/2005/8/layout/pyramid3"/>
    <dgm:cxn modelId="{B411CF14-FE9C-4AAD-83C5-9C51ED32A13B}" type="presParOf" srcId="{3569EBA7-BC70-4D9D-8A3D-DE229B2A327C}" destId="{3E4B8D23-5D74-49C9-B099-21FB1EBF394C}" srcOrd="1" destOrd="0" presId="urn:microsoft.com/office/officeart/2005/8/layout/pyramid3"/>
    <dgm:cxn modelId="{17D32763-360A-4CC1-95E3-52F5D30BB630}" type="presParOf" srcId="{62F51EBE-2006-4572-93FE-16A8D17561C8}" destId="{A5CE5A00-8334-4025-B02A-05DACE500592}" srcOrd="3" destOrd="0" presId="urn:microsoft.com/office/officeart/2005/8/layout/pyramid3"/>
    <dgm:cxn modelId="{8D297BED-79D6-4834-BB55-42178658D4F4}" type="presParOf" srcId="{A5CE5A00-8334-4025-B02A-05DACE500592}" destId="{428DA93A-5240-4ACE-8345-09B65ED4A9E7}" srcOrd="0" destOrd="0" presId="urn:microsoft.com/office/officeart/2005/8/layout/pyramid3"/>
    <dgm:cxn modelId="{D1D29F5D-A161-407A-A426-D148EEED5485}" type="presParOf" srcId="{A5CE5A00-8334-4025-B02A-05DACE500592}" destId="{A0968197-CCBD-4B5B-BBFA-BCD5B48100FD}" srcOrd="1" destOrd="0" presId="urn:microsoft.com/office/officeart/2005/8/layout/pyramid3"/>
    <dgm:cxn modelId="{B1BB9279-1CDB-4FC6-AF3D-AC6F189EA670}" type="presParOf" srcId="{62F51EBE-2006-4572-93FE-16A8D17561C8}" destId="{723F323E-4907-4DB9-82F8-89B4CE518807}" srcOrd="4" destOrd="0" presId="urn:microsoft.com/office/officeart/2005/8/layout/pyramid3"/>
    <dgm:cxn modelId="{8194996F-6F4F-4C3B-8707-367629140D44}" type="presParOf" srcId="{723F323E-4907-4DB9-82F8-89B4CE518807}" destId="{0B9A9F28-6567-47CD-B97B-831CC44D84FD}" srcOrd="0" destOrd="0" presId="urn:microsoft.com/office/officeart/2005/8/layout/pyramid3"/>
    <dgm:cxn modelId="{5696CC3A-1C4B-4C16-9DA8-3741C5E9FCAF}" type="presParOf" srcId="{723F323E-4907-4DB9-82F8-89B4CE518807}" destId="{C9CC4886-CC4F-48D3-8E81-64D71CBDEB4D}" srcOrd="1" destOrd="0" presId="urn:microsoft.com/office/officeart/2005/8/layout/pyramid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6494F9B-FCBB-410D-9572-2D1EAAB7CDDC}">
      <dsp:nvSpPr>
        <dsp:cNvPr id="0" name=""/>
        <dsp:cNvSpPr/>
      </dsp:nvSpPr>
      <dsp:spPr>
        <a:xfrm>
          <a:off x="2027" y="0"/>
          <a:ext cx="1804727" cy="685704"/>
        </a:xfrm>
        <a:prstGeom prst="chevron">
          <a:avLst/>
        </a:prstGeom>
        <a:solidFill>
          <a:srgbClr val="2A5F8F"/>
        </a:solidFill>
        <a:ln w="12700" cap="flat" cmpd="sng" algn="ctr">
          <a:solidFill>
            <a:schemeClr val="lt1">
              <a:hueOff val="0"/>
              <a:satOff val="0"/>
              <a:lumOff val="0"/>
              <a:alphaOff val="0"/>
            </a:schemeClr>
          </a:solidFill>
          <a:prstDash val="solid"/>
          <a:miter lim="800000"/>
        </a:ln>
        <a:effectLst>
          <a:outerShdw blurRad="50800" dist="38100" dir="2700000" algn="tl" rotWithShape="0">
            <a:prstClr val="black">
              <a:alpha val="40000"/>
            </a:prstClr>
          </a:outerShdw>
        </a:effectLst>
      </dsp:spPr>
      <dsp:style>
        <a:lnRef idx="2">
          <a:scrgbClr r="0" g="0" b="0"/>
        </a:lnRef>
        <a:fillRef idx="1">
          <a:scrgbClr r="0" g="0" b="0"/>
        </a:fillRef>
        <a:effectRef idx="0">
          <a:scrgbClr r="0" g="0" b="0"/>
        </a:effectRef>
        <a:fontRef idx="minor">
          <a:schemeClr val="lt1"/>
        </a:fontRef>
      </dsp:style>
      <dsp:txBody>
        <a:bodyPr spcFirstLastPara="0" vert="horz" wrap="square" lIns="44006" tIns="14669" rIns="14669" bIns="14669" numCol="1" spcCol="1270" anchor="ctr" anchorCtr="0">
          <a:noAutofit/>
        </a:bodyPr>
        <a:lstStyle/>
        <a:p>
          <a:pPr marL="0" lvl="0" indent="0" algn="ctr" defTabSz="466725">
            <a:lnSpc>
              <a:spcPct val="90000"/>
            </a:lnSpc>
            <a:spcBef>
              <a:spcPct val="0"/>
            </a:spcBef>
            <a:spcAft>
              <a:spcPct val="35000"/>
            </a:spcAft>
            <a:buNone/>
          </a:pPr>
          <a:r>
            <a:rPr lang="en-US" sz="1050" b="1" kern="1200" dirty="0">
              <a:solidFill>
                <a:schemeClr val="bg1"/>
              </a:solidFill>
              <a:latin typeface="Arial" pitchFamily="34" charset="0"/>
              <a:cs typeface="Arial" pitchFamily="34" charset="0"/>
            </a:rPr>
            <a:t>Raw Material </a:t>
          </a:r>
          <a:endParaRPr lang="en-IN" sz="1050" b="1" kern="1200" dirty="0">
            <a:solidFill>
              <a:schemeClr val="bg1"/>
            </a:solidFill>
            <a:latin typeface="Arial" pitchFamily="34" charset="0"/>
            <a:cs typeface="Arial" pitchFamily="34" charset="0"/>
          </a:endParaRPr>
        </a:p>
      </dsp:txBody>
      <dsp:txXfrm>
        <a:off x="344879" y="0"/>
        <a:ext cx="1119023" cy="685704"/>
      </dsp:txXfrm>
    </dsp:sp>
    <dsp:sp modelId="{BF166A5F-EEB9-4C6D-8E2D-0BEA45593B69}">
      <dsp:nvSpPr>
        <dsp:cNvPr id="0" name=""/>
        <dsp:cNvSpPr/>
      </dsp:nvSpPr>
      <dsp:spPr>
        <a:xfrm>
          <a:off x="1626282" y="0"/>
          <a:ext cx="1804727" cy="685704"/>
        </a:xfrm>
        <a:prstGeom prst="chevron">
          <a:avLst/>
        </a:prstGeom>
        <a:solidFill>
          <a:srgbClr val="2A5F8F"/>
        </a:solidFill>
        <a:ln w="12700" cap="flat" cmpd="sng" algn="ctr">
          <a:solidFill>
            <a:schemeClr val="lt1">
              <a:hueOff val="0"/>
              <a:satOff val="0"/>
              <a:lumOff val="0"/>
              <a:alphaOff val="0"/>
            </a:schemeClr>
          </a:solidFill>
          <a:prstDash val="solid"/>
          <a:miter lim="800000"/>
        </a:ln>
        <a:effectLst>
          <a:outerShdw blurRad="50800" dist="38100" dir="2700000" algn="tl" rotWithShape="0">
            <a:prstClr val="black">
              <a:alpha val="40000"/>
            </a:prstClr>
          </a:outerShdw>
        </a:effectLst>
      </dsp:spPr>
      <dsp:style>
        <a:lnRef idx="2">
          <a:scrgbClr r="0" g="0" b="0"/>
        </a:lnRef>
        <a:fillRef idx="1">
          <a:scrgbClr r="0" g="0" b="0"/>
        </a:fillRef>
        <a:effectRef idx="0">
          <a:scrgbClr r="0" g="0" b="0"/>
        </a:effectRef>
        <a:fontRef idx="minor">
          <a:schemeClr val="lt1"/>
        </a:fontRef>
      </dsp:style>
      <dsp:txBody>
        <a:bodyPr spcFirstLastPara="0" vert="horz" wrap="square" lIns="44006" tIns="14669" rIns="14669" bIns="14669" numCol="1" spcCol="1270" anchor="ctr" anchorCtr="0">
          <a:noAutofit/>
        </a:bodyPr>
        <a:lstStyle/>
        <a:p>
          <a:pPr marL="0" lvl="0" indent="0" algn="ctr" defTabSz="466725">
            <a:lnSpc>
              <a:spcPct val="90000"/>
            </a:lnSpc>
            <a:spcBef>
              <a:spcPct val="0"/>
            </a:spcBef>
            <a:spcAft>
              <a:spcPct val="35000"/>
            </a:spcAft>
            <a:buNone/>
          </a:pPr>
          <a:r>
            <a:rPr lang="en-IN" sz="1050" b="1" kern="1200" dirty="0">
              <a:solidFill>
                <a:schemeClr val="bg1"/>
              </a:solidFill>
              <a:latin typeface="Arial" pitchFamily="34" charset="0"/>
              <a:cs typeface="Arial" pitchFamily="34" charset="0"/>
            </a:rPr>
            <a:t>Regulatory Bodies</a:t>
          </a:r>
        </a:p>
      </dsp:txBody>
      <dsp:txXfrm>
        <a:off x="1969134" y="0"/>
        <a:ext cx="1119023" cy="685704"/>
      </dsp:txXfrm>
    </dsp:sp>
    <dsp:sp modelId="{00714B8B-0FF2-4613-8753-96A0AAFDDF56}">
      <dsp:nvSpPr>
        <dsp:cNvPr id="0" name=""/>
        <dsp:cNvSpPr/>
      </dsp:nvSpPr>
      <dsp:spPr>
        <a:xfrm>
          <a:off x="3250536" y="0"/>
          <a:ext cx="1804727" cy="685704"/>
        </a:xfrm>
        <a:prstGeom prst="chevron">
          <a:avLst/>
        </a:prstGeom>
        <a:solidFill>
          <a:srgbClr val="2A5F8F"/>
        </a:solidFill>
        <a:ln w="12700" cap="flat" cmpd="sng" algn="ctr">
          <a:solidFill>
            <a:schemeClr val="lt1">
              <a:hueOff val="0"/>
              <a:satOff val="0"/>
              <a:lumOff val="0"/>
              <a:alphaOff val="0"/>
            </a:schemeClr>
          </a:solidFill>
          <a:prstDash val="solid"/>
          <a:miter lim="800000"/>
        </a:ln>
        <a:effectLst>
          <a:outerShdw blurRad="50800" dist="38100" dir="2700000" algn="tl" rotWithShape="0">
            <a:prstClr val="black">
              <a:alpha val="40000"/>
            </a:prstClr>
          </a:outerShdw>
        </a:effectLst>
      </dsp:spPr>
      <dsp:style>
        <a:lnRef idx="2">
          <a:scrgbClr r="0" g="0" b="0"/>
        </a:lnRef>
        <a:fillRef idx="1">
          <a:scrgbClr r="0" g="0" b="0"/>
        </a:fillRef>
        <a:effectRef idx="0">
          <a:scrgbClr r="0" g="0" b="0"/>
        </a:effectRef>
        <a:fontRef idx="minor">
          <a:schemeClr val="lt1"/>
        </a:fontRef>
      </dsp:style>
      <dsp:txBody>
        <a:bodyPr spcFirstLastPara="0" vert="horz" wrap="square" lIns="44006" tIns="14669" rIns="14669" bIns="14669" numCol="1" spcCol="1270" anchor="ctr" anchorCtr="0">
          <a:noAutofit/>
        </a:bodyPr>
        <a:lstStyle/>
        <a:p>
          <a:pPr marL="0" lvl="0" indent="0" algn="ctr" defTabSz="466725">
            <a:lnSpc>
              <a:spcPct val="90000"/>
            </a:lnSpc>
            <a:spcBef>
              <a:spcPct val="0"/>
            </a:spcBef>
            <a:spcAft>
              <a:spcPct val="35000"/>
            </a:spcAft>
            <a:buNone/>
          </a:pPr>
          <a:r>
            <a:rPr lang="en-IN" sz="1050" b="1" kern="1200" dirty="0">
              <a:solidFill>
                <a:schemeClr val="bg1"/>
              </a:solidFill>
              <a:latin typeface="Arial" pitchFamily="34" charset="0"/>
              <a:cs typeface="Arial" pitchFamily="34" charset="0"/>
            </a:rPr>
            <a:t>Manufacturers</a:t>
          </a:r>
        </a:p>
      </dsp:txBody>
      <dsp:txXfrm>
        <a:off x="3593388" y="0"/>
        <a:ext cx="1119023" cy="685704"/>
      </dsp:txXfrm>
    </dsp:sp>
    <dsp:sp modelId="{7C9A34F0-78A2-47EA-8ADB-2DE5C62F45FA}">
      <dsp:nvSpPr>
        <dsp:cNvPr id="0" name=""/>
        <dsp:cNvSpPr/>
      </dsp:nvSpPr>
      <dsp:spPr>
        <a:xfrm>
          <a:off x="4874791" y="0"/>
          <a:ext cx="1804727" cy="685704"/>
        </a:xfrm>
        <a:prstGeom prst="chevron">
          <a:avLst/>
        </a:prstGeom>
        <a:solidFill>
          <a:srgbClr val="2A5F8F"/>
        </a:solidFill>
        <a:ln w="12700" cap="flat" cmpd="sng" algn="ctr">
          <a:solidFill>
            <a:schemeClr val="lt1">
              <a:hueOff val="0"/>
              <a:satOff val="0"/>
              <a:lumOff val="0"/>
              <a:alphaOff val="0"/>
            </a:schemeClr>
          </a:solidFill>
          <a:prstDash val="solid"/>
          <a:miter lim="800000"/>
        </a:ln>
        <a:effectLst>
          <a:outerShdw blurRad="50800" dist="38100" dir="2700000" algn="tl" rotWithShape="0">
            <a:prstClr val="black">
              <a:alpha val="40000"/>
            </a:prstClr>
          </a:outerShdw>
        </a:effectLst>
      </dsp:spPr>
      <dsp:style>
        <a:lnRef idx="2">
          <a:scrgbClr r="0" g="0" b="0"/>
        </a:lnRef>
        <a:fillRef idx="1">
          <a:scrgbClr r="0" g="0" b="0"/>
        </a:fillRef>
        <a:effectRef idx="0">
          <a:scrgbClr r="0" g="0" b="0"/>
        </a:effectRef>
        <a:fontRef idx="minor">
          <a:schemeClr val="lt1"/>
        </a:fontRef>
      </dsp:style>
      <dsp:txBody>
        <a:bodyPr spcFirstLastPara="0" vert="horz" wrap="square" lIns="44006" tIns="14669" rIns="14669" bIns="14669" numCol="1" spcCol="1270" anchor="ctr" anchorCtr="0">
          <a:noAutofit/>
        </a:bodyPr>
        <a:lstStyle/>
        <a:p>
          <a:pPr marL="0" lvl="0" indent="0" algn="ctr" defTabSz="466725">
            <a:lnSpc>
              <a:spcPct val="90000"/>
            </a:lnSpc>
            <a:spcBef>
              <a:spcPct val="0"/>
            </a:spcBef>
            <a:spcAft>
              <a:spcPct val="35000"/>
            </a:spcAft>
            <a:buNone/>
          </a:pPr>
          <a:r>
            <a:rPr lang="en-IN" sz="1050" b="1" kern="1200" dirty="0">
              <a:solidFill>
                <a:schemeClr val="bg1"/>
              </a:solidFill>
              <a:latin typeface="Arial" pitchFamily="34" charset="0"/>
              <a:cs typeface="Arial" pitchFamily="34" charset="0"/>
            </a:rPr>
            <a:t>Distributors</a:t>
          </a:r>
        </a:p>
      </dsp:txBody>
      <dsp:txXfrm>
        <a:off x="5217643" y="0"/>
        <a:ext cx="1119023" cy="685704"/>
      </dsp:txXfrm>
    </dsp:sp>
    <dsp:sp modelId="{5F01AAFA-211F-4816-B6F5-98DF2A23AC47}">
      <dsp:nvSpPr>
        <dsp:cNvPr id="0" name=""/>
        <dsp:cNvSpPr/>
      </dsp:nvSpPr>
      <dsp:spPr>
        <a:xfrm>
          <a:off x="6499045" y="0"/>
          <a:ext cx="1804727" cy="685704"/>
        </a:xfrm>
        <a:prstGeom prst="chevron">
          <a:avLst/>
        </a:prstGeom>
        <a:solidFill>
          <a:srgbClr val="2A5F8F"/>
        </a:solidFill>
        <a:ln w="12700" cap="flat" cmpd="sng" algn="ctr">
          <a:solidFill>
            <a:schemeClr val="lt1">
              <a:hueOff val="0"/>
              <a:satOff val="0"/>
              <a:lumOff val="0"/>
              <a:alphaOff val="0"/>
            </a:schemeClr>
          </a:solidFill>
          <a:prstDash val="solid"/>
          <a:miter lim="800000"/>
        </a:ln>
        <a:effectLst>
          <a:outerShdw blurRad="50800" dist="38100" dir="2700000" algn="tl" rotWithShape="0">
            <a:prstClr val="black">
              <a:alpha val="40000"/>
            </a:prstClr>
          </a:outerShdw>
        </a:effectLst>
      </dsp:spPr>
      <dsp:style>
        <a:lnRef idx="2">
          <a:scrgbClr r="0" g="0" b="0"/>
        </a:lnRef>
        <a:fillRef idx="1">
          <a:scrgbClr r="0" g="0" b="0"/>
        </a:fillRef>
        <a:effectRef idx="0">
          <a:scrgbClr r="0" g="0" b="0"/>
        </a:effectRef>
        <a:fontRef idx="minor">
          <a:schemeClr val="lt1"/>
        </a:fontRef>
      </dsp:style>
      <dsp:txBody>
        <a:bodyPr spcFirstLastPara="0" vert="horz" wrap="square" lIns="44006" tIns="14669" rIns="14669" bIns="14669" numCol="1" spcCol="1270" anchor="ctr" anchorCtr="0">
          <a:noAutofit/>
        </a:bodyPr>
        <a:lstStyle/>
        <a:p>
          <a:pPr marL="0" lvl="0" indent="0" algn="ctr" defTabSz="466725">
            <a:lnSpc>
              <a:spcPct val="90000"/>
            </a:lnSpc>
            <a:spcBef>
              <a:spcPct val="0"/>
            </a:spcBef>
            <a:spcAft>
              <a:spcPct val="35000"/>
            </a:spcAft>
            <a:buNone/>
          </a:pPr>
          <a:r>
            <a:rPr lang="en-IN" sz="1050" b="1" kern="1200" dirty="0">
              <a:solidFill>
                <a:schemeClr val="bg1"/>
              </a:solidFill>
              <a:latin typeface="Arial" pitchFamily="34" charset="0"/>
              <a:cs typeface="Arial" pitchFamily="34" charset="0"/>
            </a:rPr>
            <a:t>End Use</a:t>
          </a:r>
        </a:p>
      </dsp:txBody>
      <dsp:txXfrm>
        <a:off x="6841897" y="0"/>
        <a:ext cx="1119023" cy="685704"/>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6DE2E6B-3EF1-4272-B81B-89C5E9D40CF8}">
      <dsp:nvSpPr>
        <dsp:cNvPr id="0" name=""/>
        <dsp:cNvSpPr/>
      </dsp:nvSpPr>
      <dsp:spPr>
        <a:xfrm>
          <a:off x="1145185" y="0"/>
          <a:ext cx="5036354" cy="5036354"/>
        </a:xfrm>
        <a:prstGeom prst="ellipse">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n-IN" sz="1600" kern="1200" dirty="0"/>
            <a:t>Parent market</a:t>
          </a:r>
          <a:endParaRPr lang="en-US" sz="1600" kern="1200" dirty="0"/>
        </a:p>
      </dsp:txBody>
      <dsp:txXfrm>
        <a:off x="2783259" y="251817"/>
        <a:ext cx="1760205" cy="755453"/>
      </dsp:txXfrm>
    </dsp:sp>
    <dsp:sp modelId="{F2075D56-37F2-4B49-AA09-FA0D6AD1DC6E}">
      <dsp:nvSpPr>
        <dsp:cNvPr id="0" name=""/>
        <dsp:cNvSpPr/>
      </dsp:nvSpPr>
      <dsp:spPr>
        <a:xfrm>
          <a:off x="1774729" y="1259088"/>
          <a:ext cx="3777265" cy="3777265"/>
        </a:xfrm>
        <a:prstGeom prst="ellipse">
          <a:avLst/>
        </a:prstGeom>
        <a:gradFill rotWithShape="0">
          <a:gsLst>
            <a:gs pos="0">
              <a:schemeClr val="accent3">
                <a:hueOff val="0"/>
                <a:satOff val="0"/>
                <a:lumOff val="0"/>
                <a:alphaOff val="0"/>
                <a:satMod val="103000"/>
                <a:lumMod val="102000"/>
                <a:tint val="94000"/>
              </a:schemeClr>
            </a:gs>
            <a:gs pos="50000">
              <a:schemeClr val="accent3">
                <a:hueOff val="0"/>
                <a:satOff val="0"/>
                <a:lumOff val="0"/>
                <a:alphaOff val="0"/>
                <a:satMod val="110000"/>
                <a:lumMod val="100000"/>
                <a:shade val="100000"/>
              </a:schemeClr>
            </a:gs>
            <a:gs pos="100000">
              <a:schemeClr val="accent3">
                <a:hueOff val="0"/>
                <a:satOff val="0"/>
                <a:lumOff val="0"/>
                <a:alphaOff val="0"/>
                <a:lumMod val="99000"/>
                <a:satMod val="120000"/>
                <a:shade val="78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n-IN" sz="1600" kern="1200" dirty="0"/>
            <a:t>Immediate Parent Market</a:t>
          </a:r>
          <a:endParaRPr lang="en-US" sz="1600" kern="1200" dirty="0"/>
        </a:p>
      </dsp:txBody>
      <dsp:txXfrm>
        <a:off x="2783259" y="1495167"/>
        <a:ext cx="1760205" cy="708237"/>
      </dsp:txXfrm>
    </dsp:sp>
    <dsp:sp modelId="{990B04EB-F73D-4D8D-9A21-546170AD042C}">
      <dsp:nvSpPr>
        <dsp:cNvPr id="0" name=""/>
        <dsp:cNvSpPr/>
      </dsp:nvSpPr>
      <dsp:spPr>
        <a:xfrm>
          <a:off x="2404274" y="2518177"/>
          <a:ext cx="2518177" cy="2518177"/>
        </a:xfrm>
        <a:prstGeom prst="ellipse">
          <a:avLst/>
        </a:prstGeom>
        <a:gradFill rotWithShape="0">
          <a:gsLst>
            <a:gs pos="0">
              <a:schemeClr val="accent4">
                <a:hueOff val="0"/>
                <a:satOff val="0"/>
                <a:lumOff val="0"/>
                <a:alphaOff val="0"/>
                <a:satMod val="103000"/>
                <a:lumMod val="102000"/>
                <a:tint val="94000"/>
              </a:schemeClr>
            </a:gs>
            <a:gs pos="50000">
              <a:schemeClr val="accent4">
                <a:hueOff val="0"/>
                <a:satOff val="0"/>
                <a:lumOff val="0"/>
                <a:alphaOff val="0"/>
                <a:satMod val="110000"/>
                <a:lumMod val="100000"/>
                <a:shade val="100000"/>
              </a:schemeClr>
            </a:gs>
            <a:gs pos="100000">
              <a:schemeClr val="accent4">
                <a:hueOff val="0"/>
                <a:satOff val="0"/>
                <a:lumOff val="0"/>
                <a:alphaOff val="0"/>
                <a:lumMod val="99000"/>
                <a:satMod val="120000"/>
                <a:shade val="78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n-IN" sz="1600" kern="1200" dirty="0"/>
            <a:t>WXYZ Market</a:t>
          </a:r>
          <a:endParaRPr lang="en-US" sz="1600" kern="1200" dirty="0"/>
        </a:p>
      </dsp:txBody>
      <dsp:txXfrm>
        <a:off x="2773052" y="3147721"/>
        <a:ext cx="1780620" cy="1259088"/>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2CCB8DA-3E9D-4608-BBB6-7A9D5154F52F}">
      <dsp:nvSpPr>
        <dsp:cNvPr id="0" name=""/>
        <dsp:cNvSpPr/>
      </dsp:nvSpPr>
      <dsp:spPr>
        <a:xfrm rot="10800000">
          <a:off x="0" y="0"/>
          <a:ext cx="4844900" cy="539547"/>
        </a:xfrm>
        <a:prstGeom prst="trapezoid">
          <a:avLst>
            <a:gd name="adj" fmla="val 67752"/>
          </a:avLst>
        </a:prstGeom>
        <a:solidFill>
          <a:schemeClr val="accent3">
            <a:lumMod val="40000"/>
            <a:lumOff val="60000"/>
          </a:schemeClr>
        </a:solidFill>
        <a:ln w="1905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r>
            <a:rPr lang="en-US" sz="1200" b="1" kern="1200" dirty="0">
              <a:solidFill>
                <a:schemeClr val="tx1"/>
              </a:solidFill>
              <a:latin typeface="Arial" pitchFamily="34" charset="0"/>
              <a:ea typeface="+mn-ea"/>
              <a:cs typeface="Arial" pitchFamily="34" charset="0"/>
            </a:rPr>
            <a:t>Separate Questionnaire Designing for Market Domain and Dedicated Primary Research</a:t>
          </a:r>
          <a:endParaRPr lang="en-GB" sz="1200" b="1" kern="1200" dirty="0">
            <a:solidFill>
              <a:schemeClr val="tx1"/>
            </a:solidFill>
            <a:latin typeface="Arial" pitchFamily="34" charset="0"/>
            <a:ea typeface="+mn-ea"/>
            <a:cs typeface="Arial" pitchFamily="34" charset="0"/>
          </a:endParaRPr>
        </a:p>
      </dsp:txBody>
      <dsp:txXfrm rot="-10800000">
        <a:off x="847857" y="0"/>
        <a:ext cx="3149185" cy="539547"/>
      </dsp:txXfrm>
    </dsp:sp>
    <dsp:sp modelId="{B8E62113-E391-4C88-892B-ABA3AD094B54}">
      <dsp:nvSpPr>
        <dsp:cNvPr id="0" name=""/>
        <dsp:cNvSpPr/>
      </dsp:nvSpPr>
      <dsp:spPr>
        <a:xfrm rot="10800000">
          <a:off x="484489" y="539547"/>
          <a:ext cx="3875920" cy="539547"/>
        </a:xfrm>
        <a:prstGeom prst="trapezoid">
          <a:avLst>
            <a:gd name="adj" fmla="val 67752"/>
          </a:avLst>
        </a:prstGeom>
        <a:solidFill>
          <a:schemeClr val="accent3">
            <a:lumMod val="40000"/>
            <a:lumOff val="60000"/>
          </a:schemeClr>
        </a:solidFill>
        <a:ln w="1905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r>
            <a:rPr lang="en-US" sz="1200" b="1" kern="1200" dirty="0">
              <a:solidFill>
                <a:schemeClr val="tx1"/>
              </a:solidFill>
              <a:latin typeface="Arial" pitchFamily="34" charset="0"/>
              <a:ea typeface="+mn-ea"/>
              <a:cs typeface="Arial" pitchFamily="34" charset="0"/>
            </a:rPr>
            <a:t>Exhaustive Secondary Research</a:t>
          </a:r>
          <a:endParaRPr lang="en-GB" sz="1200" b="1" kern="1200" dirty="0">
            <a:solidFill>
              <a:schemeClr val="tx1"/>
            </a:solidFill>
            <a:latin typeface="Arial" pitchFamily="34" charset="0"/>
            <a:ea typeface="+mn-ea"/>
            <a:cs typeface="Arial" pitchFamily="34" charset="0"/>
          </a:endParaRPr>
        </a:p>
      </dsp:txBody>
      <dsp:txXfrm rot="-10800000">
        <a:off x="1162775" y="539547"/>
        <a:ext cx="2519348" cy="539547"/>
      </dsp:txXfrm>
    </dsp:sp>
    <dsp:sp modelId="{9FB0A79C-98B3-4C03-8CE7-8B35BB1A864E}">
      <dsp:nvSpPr>
        <dsp:cNvPr id="0" name=""/>
        <dsp:cNvSpPr/>
      </dsp:nvSpPr>
      <dsp:spPr>
        <a:xfrm rot="10800000">
          <a:off x="968980" y="1079094"/>
          <a:ext cx="2906939" cy="539547"/>
        </a:xfrm>
        <a:prstGeom prst="trapezoid">
          <a:avLst>
            <a:gd name="adj" fmla="val 67752"/>
          </a:avLst>
        </a:prstGeom>
        <a:solidFill>
          <a:schemeClr val="accent1">
            <a:lumMod val="40000"/>
            <a:lumOff val="60000"/>
          </a:schemeClr>
        </a:solidFill>
        <a:ln w="1905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r>
            <a:rPr lang="en-US" sz="1200" b="1" kern="1200" dirty="0">
              <a:solidFill>
                <a:schemeClr val="tx1"/>
              </a:solidFill>
              <a:latin typeface="Arial" pitchFamily="34" charset="0"/>
              <a:ea typeface="+mn-ea"/>
              <a:cs typeface="Arial" pitchFamily="34" charset="0"/>
            </a:rPr>
            <a:t>Data Collection</a:t>
          </a:r>
          <a:endParaRPr lang="en-GB" sz="1200" b="1" kern="1200" dirty="0">
            <a:solidFill>
              <a:schemeClr val="tx1"/>
            </a:solidFill>
            <a:latin typeface="Arial" pitchFamily="34" charset="0"/>
            <a:ea typeface="+mn-ea"/>
            <a:cs typeface="Arial" pitchFamily="34" charset="0"/>
          </a:endParaRPr>
        </a:p>
      </dsp:txBody>
      <dsp:txXfrm rot="-10800000">
        <a:off x="1477694" y="1079094"/>
        <a:ext cx="1889511" cy="539547"/>
      </dsp:txXfrm>
    </dsp:sp>
    <dsp:sp modelId="{428DA93A-5240-4ACE-8345-09B65ED4A9E7}">
      <dsp:nvSpPr>
        <dsp:cNvPr id="0" name=""/>
        <dsp:cNvSpPr/>
      </dsp:nvSpPr>
      <dsp:spPr>
        <a:xfrm rot="10800000">
          <a:off x="1453470" y="1618642"/>
          <a:ext cx="1937960" cy="539547"/>
        </a:xfrm>
        <a:prstGeom prst="trapezoid">
          <a:avLst>
            <a:gd name="adj" fmla="val 67752"/>
          </a:avLst>
        </a:prstGeom>
        <a:solidFill>
          <a:schemeClr val="accent1">
            <a:lumMod val="20000"/>
            <a:lumOff val="80000"/>
          </a:schemeClr>
        </a:solidFill>
        <a:ln w="1905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12700" tIns="12700" rIns="12700" bIns="12700" numCol="1" spcCol="1270" anchor="ctr" anchorCtr="0">
          <a:noAutofit/>
        </a:bodyPr>
        <a:lstStyle/>
        <a:p>
          <a:pPr marL="0" lvl="0" indent="0" algn="ctr" defTabSz="444500">
            <a:lnSpc>
              <a:spcPct val="90000"/>
            </a:lnSpc>
            <a:spcBef>
              <a:spcPct val="0"/>
            </a:spcBef>
            <a:spcAft>
              <a:spcPct val="35000"/>
            </a:spcAft>
            <a:buNone/>
          </a:pPr>
          <a:endParaRPr lang="en-GB" sz="1000" kern="1200" dirty="0">
            <a:solidFill>
              <a:schemeClr val="tx1"/>
            </a:solidFill>
            <a:latin typeface="Arial" pitchFamily="34" charset="0"/>
            <a:ea typeface="+mn-ea"/>
            <a:cs typeface="Arial" pitchFamily="34" charset="0"/>
          </a:endParaRPr>
        </a:p>
      </dsp:txBody>
      <dsp:txXfrm rot="-10800000">
        <a:off x="1792612" y="1618642"/>
        <a:ext cx="1259674" cy="539547"/>
      </dsp:txXfrm>
    </dsp:sp>
    <dsp:sp modelId="{0B9A9F28-6567-47CD-B97B-831CC44D84FD}">
      <dsp:nvSpPr>
        <dsp:cNvPr id="0" name=""/>
        <dsp:cNvSpPr/>
      </dsp:nvSpPr>
      <dsp:spPr>
        <a:xfrm rot="10800000">
          <a:off x="1937960" y="2158189"/>
          <a:ext cx="968980" cy="539547"/>
        </a:xfrm>
        <a:prstGeom prst="trapezoid">
          <a:avLst>
            <a:gd name="adj" fmla="val 67752"/>
          </a:avLst>
        </a:prstGeom>
        <a:solidFill>
          <a:schemeClr val="accent1">
            <a:shade val="50000"/>
            <a:hueOff val="207150"/>
            <a:satOff val="-15830"/>
            <a:lumOff val="19854"/>
            <a:alphaOff val="0"/>
          </a:schemeClr>
        </a:solidFill>
        <a:ln w="1905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12700" tIns="12700" rIns="12700" bIns="12700" numCol="1" spcCol="1270" anchor="ctr" anchorCtr="0">
          <a:noAutofit/>
        </a:bodyPr>
        <a:lstStyle/>
        <a:p>
          <a:pPr marL="0" lvl="0" indent="0" algn="ctr" defTabSz="444500">
            <a:lnSpc>
              <a:spcPct val="90000"/>
            </a:lnSpc>
            <a:spcBef>
              <a:spcPct val="0"/>
            </a:spcBef>
            <a:spcAft>
              <a:spcPct val="35000"/>
            </a:spcAft>
            <a:buNone/>
          </a:pPr>
          <a:endParaRPr lang="en-GB" sz="1000" kern="1200" dirty="0">
            <a:solidFill>
              <a:schemeClr val="tx1"/>
            </a:solidFill>
            <a:latin typeface="Arial" pitchFamily="34" charset="0"/>
            <a:ea typeface="+mn-ea"/>
            <a:cs typeface="Arial" pitchFamily="34" charset="0"/>
          </a:endParaRPr>
        </a:p>
      </dsp:txBody>
      <dsp:txXfrm rot="-10800000">
        <a:off x="1937960" y="2158189"/>
        <a:ext cx="968980" cy="539547"/>
      </dsp:txXfrm>
    </dsp:sp>
  </dsp:spTree>
</dsp:drawing>
</file>

<file path=ppt/diagrams/layout1.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2.xml><?xml version="1.0" encoding="utf-8"?>
<dgm:layoutDef xmlns:dgm="http://schemas.openxmlformats.org/drawingml/2006/diagram" xmlns:a="http://schemas.openxmlformats.org/drawingml/2006/main" uniqueId="urn:microsoft.com/office/officeart/2005/8/layout/venn2">
  <dgm:title val=""/>
  <dgm:desc val=""/>
  <dgm:catLst>
    <dgm:cat type="relationship" pri="30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resizeHandles val="exact"/>
    </dgm:varLst>
    <dgm:alg type="composite">
      <dgm:param type="ar" val="1"/>
    </dgm:alg>
    <dgm:shape xmlns:r="http://schemas.openxmlformats.org/officeDocument/2006/relationships" r:blip="">
      <dgm:adjLst/>
    </dgm:shape>
    <dgm:presOf/>
    <dgm:choose name="Name1">
      <dgm:if name="Name2" axis="ch" ptType="node" func="cnt" op="lte" val="3">
        <dgm:constrLst>
          <dgm:constr type="w" for="ch" forName="comp1" refType="w"/>
          <dgm:constr type="h" for="ch" forName="comp1" refType="w" refFor="ch" refForName="comp1"/>
          <dgm:constr type="w" for="ch" forName="comp2" refType="w" fact="0.75"/>
          <dgm:constr type="h" for="ch" forName="comp2" refType="w" refFor="ch" refForName="comp2"/>
          <dgm:constr type="ctrX" for="ch" forName="comp2" refType="ctrX" refFor="ch" refForName="comp1"/>
          <dgm:constr type="b" for="ch" forName="comp2" refType="b" refFor="ch" refForName="comp1"/>
          <dgm:constr type="w" for="ch" forName="comp3" refType="w" fact="0.5"/>
          <dgm:constr type="h" for="ch" forName="comp3" refType="w" refFor="ch" refForName="comp3"/>
          <dgm:constr type="ctrX" for="ch" forName="comp3" refType="ctrX" refFor="ch" refForName="comp1"/>
          <dgm:constr type="b" for="ch" forName="comp3" refType="b" refFor="ch" refForName="comp1"/>
          <dgm:constr type="primFontSz" for="des" ptType="node" op="equ" val="65"/>
        </dgm:constrLst>
      </dgm:if>
      <dgm:if name="Name3" axis="ch" ptType="node" func="cnt" op="equ" val="4">
        <dgm:constrLst>
          <dgm:constr type="w" for="ch" forName="comp1" refType="w"/>
          <dgm:constr type="h" for="ch" forName="comp1" refType="w" refFor="ch" refForName="comp1"/>
          <dgm:constr type="w" for="ch" forName="comp2" refType="w" fact="0.8"/>
          <dgm:constr type="h" for="ch" forName="comp2" refType="w" refFor="ch" refForName="comp2"/>
          <dgm:constr type="ctrX" for="ch" forName="comp2" refType="ctrX" refFor="ch" refForName="comp1"/>
          <dgm:constr type="b" for="ch" forName="comp2" refType="b" refFor="ch" refForName="comp1"/>
          <dgm:constr type="w" for="ch" forName="comp3" refType="w" fact="0.6"/>
          <dgm:constr type="h" for="ch" forName="comp3" refType="w" refFor="ch" refForName="comp3"/>
          <dgm:constr type="ctrX" for="ch" forName="comp3" refType="ctrX" refFor="ch" refForName="comp1"/>
          <dgm:constr type="b" for="ch" forName="comp3" refType="b" refFor="ch" refForName="comp1"/>
          <dgm:constr type="w" for="ch" forName="comp4" refType="w" fact="0.4"/>
          <dgm:constr type="h" for="ch" forName="comp4" refType="w" refFor="ch" refForName="comp4"/>
          <dgm:constr type="ctrX" for="ch" forName="comp4" refType="ctrX" refFor="ch" refForName="comp1"/>
          <dgm:constr type="b" for="ch" forName="comp4" refType="b" refFor="ch" refForName="comp1"/>
          <dgm:constr type="primFontSz" for="des" ptType="node" op="equ" val="65"/>
        </dgm:constrLst>
      </dgm:if>
      <dgm:else name="Name4">
        <dgm:constrLst>
          <dgm:constr type="w" for="ch" forName="comp1" refType="w"/>
          <dgm:constr type="h" for="ch" forName="comp1" refType="w" refFor="ch" refForName="comp1"/>
          <dgm:constr type="w" for="ch" forName="comp2" refType="w" fact="0.85"/>
          <dgm:constr type="h" for="ch" forName="comp2" refType="w" refFor="ch" refForName="comp2"/>
          <dgm:constr type="ctrX" for="ch" forName="comp2" refType="ctrX" refFor="ch" refForName="comp1"/>
          <dgm:constr type="b" for="ch" forName="comp2" refType="b" refFor="ch" refForName="comp1"/>
          <dgm:constr type="w" for="ch" forName="comp3" refType="w" fact="0.7"/>
          <dgm:constr type="h" for="ch" forName="comp3" refType="w" refFor="ch" refForName="comp3"/>
          <dgm:constr type="ctrX" for="ch" forName="comp3" refType="ctrX" refFor="ch" refForName="comp1"/>
          <dgm:constr type="b" for="ch" forName="comp3" refType="b" refFor="ch" refForName="comp1"/>
          <dgm:constr type="w" for="ch" forName="comp4" refType="w" fact="0.55"/>
          <dgm:constr type="h" for="ch" forName="comp4" refType="w" refFor="ch" refForName="comp4"/>
          <dgm:constr type="ctrX" for="ch" forName="comp4" refType="ctrX" refFor="ch" refForName="comp1"/>
          <dgm:constr type="b" for="ch" forName="comp4" refType="b" refFor="ch" refForName="comp1"/>
          <dgm:constr type="w" for="ch" forName="comp5" refType="w" fact="0.4"/>
          <dgm:constr type="h" for="ch" forName="comp5" refType="w" refFor="ch" refForName="comp5"/>
          <dgm:constr type="ctrX" for="ch" forName="comp5" refType="ctrX" refFor="ch" refForName="comp1"/>
          <dgm:constr type="b" for="ch" forName="comp5" refType="b" refFor="ch" refForName="comp1"/>
          <dgm:constr type="w" for="ch" forName="comp6" refType="w" fact="0.25"/>
          <dgm:constr type="h" for="ch" forName="comp6" refType="w" refFor="ch" refForName="comp6"/>
          <dgm:constr type="ctrX" for="ch" forName="comp6" refType="ctrX" refFor="ch" refForName="comp1"/>
          <dgm:constr type="b" for="ch" forName="comp6" refType="b" refFor="ch" refForName="comp1"/>
          <dgm:constr type="w" for="ch" forName="comp7" refType="w" fact="0.15"/>
          <dgm:constr type="h" for="ch" forName="comp7" refType="w" refFor="ch" refForName="comp7"/>
          <dgm:constr type="ctrX" for="ch" forName="comp7" refType="ctrX" refFor="ch" refForName="comp1"/>
          <dgm:constr type="b" for="ch" forName="comp7" refType="b" refFor="ch" refForName="comp1"/>
          <dgm:constr type="primFontSz" for="des" ptType="node" op="equ" val="65"/>
        </dgm:constrLst>
      </dgm:else>
    </dgm:choose>
    <dgm:ruleLst/>
    <dgm:choose name="Name5">
      <dgm:if name="Name6" axis="ch" ptType="node" func="cnt" op="gte" val="1">
        <dgm:layoutNode name="comp1">
          <dgm:alg type="composite"/>
          <dgm:shape xmlns:r="http://schemas.openxmlformats.org/officeDocument/2006/relationships" r:blip="">
            <dgm:adjLst/>
          </dgm:shape>
          <dgm:presOf/>
          <dgm:choose name="Name7">
            <dgm:if name="Name8" axis="ch" ptType="node" func="cnt" op="equ" val="1">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5"/>
                <dgm:constr type="w" for="ch" forName="c1text" refType="w" refFor="ch" refForName="circle1" fact="0.70711"/>
                <dgm:constr type="h" for="ch" forName="c1text" refType="h" refFor="ch" refForName="circle1" fact="0.5"/>
              </dgm:constrLst>
            </dgm:if>
            <dgm:if name="Name9" axis="ch" ptType="node" func="cnt" op="equ" val="2">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6"/>
                <dgm:constr type="w" for="ch" forName="c1text" refType="w" refFor="ch" refForName="circle1" fact="0.525"/>
                <dgm:constr type="h" for="ch" forName="c1text" refType="h" refFor="ch" refForName="circle1" fact="0.17"/>
              </dgm:constrLst>
            </dgm:if>
            <dgm:if name="Name10" axis="ch" ptType="node" func="cnt" op="equ" val="3">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3495"/>
                <dgm:constr type="h" for="ch" forName="c1text" refType="h" refFor="ch" refForName="circle1" fact="0.15"/>
              </dgm:constrLst>
            </dgm:if>
            <dgm:if name="Name11" axis="ch" ptType="node" func="cnt" op="equ" val="4">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2796"/>
                <dgm:constr type="h" for="ch" forName="c1text" refType="h" refFor="ch" refForName="circle1" fact="0.15"/>
              </dgm:constrLst>
            </dgm:if>
            <dgm:if name="Name12" axis="ch" ptType="node" func="cnt" op="gte" val="5">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
                <dgm:constr type="w" for="ch" forName="c1text" refType="w" refFor="ch" refForName="circle1" fact="0.375"/>
                <dgm:constr type="h" for="ch" forName="c1text" refType="h" refFor="ch" refForName="circle1" fact="0.1"/>
              </dgm:constrLst>
            </dgm:if>
            <dgm:else name="Name13"/>
          </dgm:choose>
          <dgm:ruleLst/>
          <dgm:layoutNode name="circle1" styleLbl="node1">
            <dgm:alg type="sp"/>
            <dgm:shape xmlns:r="http://schemas.openxmlformats.org/officeDocument/2006/relationships" type="ellipse" r:blip="">
              <dgm:adjLst/>
            </dgm:shape>
            <dgm:presOf axis="ch desOrSelf" ptType="node node" st="1 1" cnt="1 0"/>
            <dgm:constrLst>
              <dgm:constr type="h" refType="w"/>
            </dgm:constrLst>
            <dgm:ruleLst/>
          </dgm:layoutNode>
          <dgm:layoutNode name="c1text">
            <dgm:varLst>
              <dgm:bulletEnabled val="1"/>
            </dgm:varLst>
            <dgm:alg type="tx"/>
            <dgm:shape xmlns:r="http://schemas.openxmlformats.org/officeDocument/2006/relationships" type="rect" r:blip="" hideGeom="1">
              <dgm:adjLst/>
            </dgm:shape>
            <dgm:presOf axis="ch desOrSelf" ptType="node node" st="1 1" cnt="1 0"/>
            <dgm:constrLst/>
            <dgm:ruleLst>
              <dgm:rule type="primFontSz" val="5" fact="NaN" max="NaN"/>
            </dgm:ruleLst>
          </dgm:layoutNode>
        </dgm:layoutNode>
      </dgm:if>
      <dgm:else name="Name14"/>
    </dgm:choose>
    <dgm:choose name="Name15">
      <dgm:if name="Name16" axis="ch" ptType="node" func="cnt" op="gte" val="2">
        <dgm:layoutNode name="comp2">
          <dgm:alg type="composite"/>
          <dgm:shape xmlns:r="http://schemas.openxmlformats.org/officeDocument/2006/relationships" r:blip="">
            <dgm:adjLst/>
          </dgm:shape>
          <dgm:presOf/>
          <dgm:choose name="Name17">
            <dgm:if name="Name18" axis="ch" ptType="node" func="cnt" op="equ" val="2">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5"/>
                <dgm:constr type="w" for="ch" forName="c2text" refType="w" refFor="ch" refForName="circle2" fact="0.70711"/>
                <dgm:constr type="h" for="ch" forName="c2text" refType="h" refFor="ch" refForName="circle2" fact="0.5"/>
              </dgm:constrLst>
            </dgm:if>
            <dgm:if name="Name19" axis="ch" ptType="node" func="cnt" op="equ" val="3">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625"/>
                <dgm:constr type="w" for="ch" forName="c2text" refType="w" refFor="ch" refForName="circle2" fact="0.466"/>
                <dgm:constr type="h" for="ch" forName="c2text" refType="h" refFor="ch" refForName="circle2" fact="0.1875"/>
              </dgm:constrLst>
            </dgm:if>
            <dgm:if name="Name20" axis="ch" ptType="node" func="cnt" op="equ" val="4">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
                <dgm:constr type="w" for="ch" forName="c2text" refType="w" refFor="ch" refForName="circle2" fact="0.3495"/>
                <dgm:constr type="h" for="ch" forName="c2text" refType="h" refFor="ch" refForName="circle2" fact="0.18"/>
              </dgm:constrLst>
            </dgm:if>
            <dgm:if name="Name21" axis="ch" ptType="node" func="cnt" op="gte" val="5">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15"/>
                <dgm:constr type="w" for="ch" forName="c2text" refType="w" refFor="ch" refForName="circle2" fact="0.43125"/>
                <dgm:constr type="h" for="ch" forName="c2text" refType="h" refFor="ch" refForName="circle2" fact="0.115"/>
              </dgm:constrLst>
            </dgm:if>
            <dgm:else name="Name22"/>
          </dgm:choose>
          <dgm:ruleLst/>
          <dgm:layoutNode name="circle2" styleLbl="node1">
            <dgm:alg type="sp"/>
            <dgm:shape xmlns:r="http://schemas.openxmlformats.org/officeDocument/2006/relationships" type="ellipse" r:blip="">
              <dgm:adjLst/>
            </dgm:shape>
            <dgm:presOf axis="ch desOrSelf" ptType="node node" st="2 1" cnt="1 0"/>
            <dgm:constrLst>
              <dgm:constr type="h" refType="w"/>
            </dgm:constrLst>
            <dgm:ruleLst/>
          </dgm:layoutNode>
          <dgm:layoutNode name="c2text">
            <dgm:varLst>
              <dgm:bulletEnabled val="1"/>
            </dgm:varLst>
            <dgm:alg type="tx"/>
            <dgm:shape xmlns:r="http://schemas.openxmlformats.org/officeDocument/2006/relationships" type="rect" r:blip="" hideGeom="1">
              <dgm:adjLst/>
            </dgm:shape>
            <dgm:presOf axis="ch desOrSelf" ptType="node node" st="2 1" cnt="1 0"/>
            <dgm:constrLst/>
            <dgm:ruleLst>
              <dgm:rule type="primFontSz" val="5" fact="NaN" max="NaN"/>
            </dgm:ruleLst>
          </dgm:layoutNode>
        </dgm:layoutNode>
      </dgm:if>
      <dgm:else name="Name23"/>
    </dgm:choose>
    <dgm:choose name="Name24">
      <dgm:if name="Name25" axis="ch" ptType="node" func="cnt" op="gte" val="3">
        <dgm:layoutNode name="comp3">
          <dgm:alg type="composite"/>
          <dgm:shape xmlns:r="http://schemas.openxmlformats.org/officeDocument/2006/relationships" r:blip="">
            <dgm:adjLst/>
          </dgm:shape>
          <dgm:presOf/>
          <dgm:choose name="Name26">
            <dgm:if name="Name27" axis="ch" ptType="node" func="cnt" op="equ" val="3">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5"/>
                <dgm:constr type="w" for="ch" forName="c3text" refType="w" refFor="ch" refForName="circle3" fact="0.70711"/>
                <dgm:constr type="h" for="ch" forName="c3text" refType="h" refFor="ch" refForName="circle3" fact="0.5"/>
              </dgm:constrLst>
            </dgm:if>
            <dgm:if name="Name28" axis="ch" ptType="node" func="cnt" op="equ" val="4">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875"/>
                <dgm:constr type="w" for="ch" forName="c3text" refType="w" refFor="ch" refForName="circle3" fact="0.466"/>
                <dgm:constr type="h" for="ch" forName="c3text" refType="h" refFor="ch" refForName="circle3" fact="0.225"/>
              </dgm:constrLst>
            </dgm:if>
            <dgm:if name="Name29" axis="ch" ptType="node" func="cnt" op="gte" val="5">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38"/>
                <dgm:constr type="w" for="ch" forName="c3text" refType="w" refFor="ch" refForName="circle3" fact="0.5175"/>
                <dgm:constr type="h" for="ch" forName="c3text" refType="h" refFor="ch" refForName="circle3" fact="0.138"/>
              </dgm:constrLst>
            </dgm:if>
            <dgm:else name="Name30"/>
          </dgm:choose>
          <dgm:ruleLst/>
          <dgm:layoutNode name="circle3" styleLbl="node1">
            <dgm:alg type="sp"/>
            <dgm:shape xmlns:r="http://schemas.openxmlformats.org/officeDocument/2006/relationships" type="ellipse" r:blip="">
              <dgm:adjLst/>
            </dgm:shape>
            <dgm:presOf axis="ch desOrSelf" ptType="node node" st="3 1" cnt="1 0"/>
            <dgm:constrLst>
              <dgm:constr type="h" refType="w"/>
            </dgm:constrLst>
            <dgm:ruleLst/>
          </dgm:layoutNode>
          <dgm:layoutNode name="c3text">
            <dgm:varLst>
              <dgm:bulletEnabled val="1"/>
            </dgm:varLst>
            <dgm:alg type="tx"/>
            <dgm:shape xmlns:r="http://schemas.openxmlformats.org/officeDocument/2006/relationships" type="rect" r:blip="" hideGeom="1">
              <dgm:adjLst/>
            </dgm:shape>
            <dgm:presOf axis="ch desOrSelf" ptType="node node" st="3 1" cnt="1 0"/>
            <dgm:constrLst/>
            <dgm:ruleLst>
              <dgm:rule type="primFontSz" val="5" fact="NaN" max="NaN"/>
            </dgm:ruleLst>
          </dgm:layoutNode>
        </dgm:layoutNode>
      </dgm:if>
      <dgm:else name="Name31"/>
    </dgm:choose>
    <dgm:choose name="Name32">
      <dgm:if name="Name33" axis="ch" ptType="node" func="cnt" op="gte" val="4">
        <dgm:layoutNode name="comp4">
          <dgm:alg type="composite"/>
          <dgm:shape xmlns:r="http://schemas.openxmlformats.org/officeDocument/2006/relationships" r:blip="">
            <dgm:adjLst/>
          </dgm:shape>
          <dgm:presOf/>
          <dgm:choose name="Name34">
            <dgm:if name="Name35" axis="ch" ptType="node" func="cnt" op="equ" val="4">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5"/>
                <dgm:constr type="w" for="ch" forName="c4text" refType="w" refFor="ch" refForName="circle4" fact="0.70711"/>
                <dgm:constr type="h" for="ch" forName="c4text" refType="h" refFor="ch" refForName="circle4" fact="0.5"/>
              </dgm:constrLst>
            </dgm:if>
            <dgm:if name="Name36" axis="ch" ptType="node" func="cnt" op="gte" val="5">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18"/>
                <dgm:constr type="w" for="ch" forName="c4text" refType="w" refFor="ch" refForName="circle4" fact="0.54"/>
                <dgm:constr type="h" for="ch" forName="c4text" refType="h" refFor="ch" refForName="circle4" fact="0.18"/>
              </dgm:constrLst>
            </dgm:if>
            <dgm:else name="Name37"/>
          </dgm:choose>
          <dgm:ruleLst/>
          <dgm:layoutNode name="circle4" styleLbl="node1">
            <dgm:alg type="sp"/>
            <dgm:shape xmlns:r="http://schemas.openxmlformats.org/officeDocument/2006/relationships" type="ellipse" r:blip="">
              <dgm:adjLst/>
            </dgm:shape>
            <dgm:presOf axis="ch desOrSelf" ptType="node node" st="4 1" cnt="1 0"/>
            <dgm:constrLst>
              <dgm:constr type="h" refType="w"/>
            </dgm:constrLst>
            <dgm:ruleLst/>
          </dgm:layoutNode>
          <dgm:layoutNode name="c4text">
            <dgm:varLst>
              <dgm:bulletEnabled val="1"/>
            </dgm:varLst>
            <dgm:alg type="tx"/>
            <dgm:shape xmlns:r="http://schemas.openxmlformats.org/officeDocument/2006/relationships" type="rect" r:blip="" hideGeom="1">
              <dgm:adjLst/>
            </dgm:shape>
            <dgm:presOf axis="ch desOrSelf" ptType="node node" st="4 1" cnt="1 0"/>
            <dgm:constrLst/>
            <dgm:ruleLst>
              <dgm:rule type="primFontSz" val="5" fact="NaN" max="NaN"/>
            </dgm:ruleLst>
          </dgm:layoutNode>
        </dgm:layoutNode>
      </dgm:if>
      <dgm:else name="Name38"/>
    </dgm:choose>
    <dgm:choose name="Name39">
      <dgm:if name="Name40" axis="ch" ptType="node" func="cnt" op="gte" val="5">
        <dgm:layoutNode name="comp5">
          <dgm:alg type="composite"/>
          <dgm:shape xmlns:r="http://schemas.openxmlformats.org/officeDocument/2006/relationships" r:blip="">
            <dgm:adjLst/>
          </dgm:shape>
          <dgm:presOf/>
          <dgm:choose name="Name41">
            <dgm:if name="Name42" axis="ch" ptType="node" func="cnt" op="equ" val="5">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5"/>
                <dgm:constr type="w" for="ch" forName="c5text" refType="w" refFor="ch" refForName="circle5" fact="0.70711"/>
                <dgm:constr type="h" for="ch" forName="c5text" refType="h" refFor="ch" refForName="circle5" fact="0.5"/>
              </dgm:constrLst>
            </dgm:if>
            <dgm:if name="Name43" axis="ch" ptType="node" func="cnt" op="gte" val="6">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25"/>
                <dgm:constr type="w" for="ch" forName="c5text" refType="w" refFor="ch" refForName="circle5" fact="0.65"/>
                <dgm:constr type="h" for="ch" forName="c5text" refType="h" refFor="ch" refForName="circle5" fact="0.25"/>
              </dgm:constrLst>
            </dgm:if>
            <dgm:else name="Name44"/>
          </dgm:choose>
          <dgm:ruleLst/>
          <dgm:layoutNode name="circle5" styleLbl="node1">
            <dgm:alg type="sp"/>
            <dgm:shape xmlns:r="http://schemas.openxmlformats.org/officeDocument/2006/relationships" type="ellipse" r:blip="">
              <dgm:adjLst/>
            </dgm:shape>
            <dgm:presOf axis="ch desOrSelf" ptType="node node" st="5 1" cnt="1 0"/>
            <dgm:constrLst>
              <dgm:constr type="h" refType="w"/>
            </dgm:constrLst>
            <dgm:ruleLst/>
          </dgm:layoutNode>
          <dgm:layoutNode name="c5text">
            <dgm:varLst>
              <dgm:bulletEnabled val="1"/>
            </dgm:varLst>
            <dgm:alg type="tx"/>
            <dgm:shape xmlns:r="http://schemas.openxmlformats.org/officeDocument/2006/relationships" type="rect" r:blip="" hideGeom="1">
              <dgm:adjLst/>
            </dgm:shape>
            <dgm:presOf axis="ch desOrSelf" ptType="node node" st="5 1" cnt="1 0"/>
            <dgm:constrLst/>
            <dgm:ruleLst>
              <dgm:rule type="primFontSz" val="5" fact="NaN" max="NaN"/>
            </dgm:ruleLst>
          </dgm:layoutNode>
        </dgm:layoutNode>
      </dgm:if>
      <dgm:else name="Name45"/>
    </dgm:choose>
    <dgm:choose name="Name46">
      <dgm:if name="Name47" axis="ch" ptType="node" func="cnt" op="gte" val="6">
        <dgm:layoutNode name="comp6">
          <dgm:alg type="composite"/>
          <dgm:shape xmlns:r="http://schemas.openxmlformats.org/officeDocument/2006/relationships" r:blip="">
            <dgm:adjLst/>
          </dgm:shape>
          <dgm:presOf/>
          <dgm:choose name="Name48">
            <dgm:if name="Name49" axis="ch" ptType="node" func="cnt" op="equ" val="6">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5"/>
                <dgm:constr type="w" for="ch" forName="c6text" refType="w" refFor="ch" refForName="circle6" fact="0.70711"/>
                <dgm:constr type="h" for="ch" forName="c6text" refType="h" refFor="ch" refForName="circle6" fact="0.5"/>
              </dgm:constrLst>
            </dgm:if>
            <dgm:if name="Name50" axis="ch" ptType="node" func="cnt" op="gte" val="7">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27"/>
                <dgm:constr type="w" for="ch" forName="c6text" refType="w" refFor="ch" refForName="circle6" fact="0.68"/>
                <dgm:constr type="h" for="ch" forName="c6text" refType="h" refFor="ch" refForName="circle6" fact="0.241"/>
              </dgm:constrLst>
            </dgm:if>
            <dgm:else name="Name51"/>
          </dgm:choose>
          <dgm:ruleLst/>
          <dgm:layoutNode name="circle6" styleLbl="node1">
            <dgm:alg type="sp"/>
            <dgm:shape xmlns:r="http://schemas.openxmlformats.org/officeDocument/2006/relationships" type="ellipse" r:blip="">
              <dgm:adjLst/>
            </dgm:shape>
            <dgm:presOf axis="ch desOrSelf" ptType="node node" st="6 1" cnt="1 0"/>
            <dgm:constrLst>
              <dgm:constr type="h" refType="w"/>
            </dgm:constrLst>
            <dgm:ruleLst/>
          </dgm:layoutNode>
          <dgm:layoutNode name="c6text">
            <dgm:varLst>
              <dgm:bulletEnabled val="1"/>
            </dgm:varLst>
            <dgm:alg type="tx"/>
            <dgm:shape xmlns:r="http://schemas.openxmlformats.org/officeDocument/2006/relationships" type="rect" r:blip="" hideGeom="1">
              <dgm:adjLst/>
            </dgm:shape>
            <dgm:presOf axis="ch desOrSelf" ptType="node node" st="6 1" cnt="1 0"/>
            <dgm:constrLst/>
            <dgm:ruleLst>
              <dgm:rule type="primFontSz" val="5" fact="NaN" max="NaN"/>
            </dgm:ruleLst>
          </dgm:layoutNode>
        </dgm:layoutNode>
      </dgm:if>
      <dgm:else name="Name52"/>
    </dgm:choose>
    <dgm:choose name="Name53">
      <dgm:if name="Name54" axis="ch" ptType="node" func="cnt" op="gte" val="7">
        <dgm:layoutNode name="comp7">
          <dgm:alg type="composite"/>
          <dgm:shape xmlns:r="http://schemas.openxmlformats.org/officeDocument/2006/relationships" r:blip="">
            <dgm:adjLst/>
          </dgm:shape>
          <dgm:presOf/>
          <dgm:constrLst>
            <dgm:constr type="w" for="ch" forName="circle7" refType="w"/>
            <dgm:constr type="h" for="ch" forName="circle7" refType="h"/>
            <dgm:constr type="ctrX" for="ch" forName="circle7" refType="w" fact="0.5"/>
            <dgm:constr type="ctrY" for="ch" forName="circle7" refType="h" fact="0.5"/>
            <dgm:constr type="ctrX" for="ch" forName="c7text" refType="w" fact="0.5"/>
            <dgm:constr type="ctrY" for="ch" forName="c7text" refType="h" fact="0.5"/>
            <dgm:constr type="w" for="ch" forName="c7text" refType="w" refFor="ch" refForName="circle7" fact="0.70711"/>
            <dgm:constr type="h" for="ch" forName="c7text" refType="h" refFor="ch" refForName="circle7" fact="0.5"/>
          </dgm:constrLst>
          <dgm:ruleLst/>
          <dgm:layoutNode name="circle7" styleLbl="node1">
            <dgm:alg type="sp"/>
            <dgm:shape xmlns:r="http://schemas.openxmlformats.org/officeDocument/2006/relationships" type="ellipse" r:blip="">
              <dgm:adjLst/>
            </dgm:shape>
            <dgm:presOf axis="ch desOrSelf" ptType="node node" st="7 1" cnt="1 0"/>
            <dgm:constrLst>
              <dgm:constr type="h" refType="w"/>
            </dgm:constrLst>
            <dgm:ruleLst/>
          </dgm:layoutNode>
          <dgm:layoutNode name="c7text">
            <dgm:varLst>
              <dgm:bulletEnabled val="1"/>
            </dgm:varLst>
            <dgm:alg type="tx"/>
            <dgm:shape xmlns:r="http://schemas.openxmlformats.org/officeDocument/2006/relationships" type="rect" r:blip="" hideGeom="1">
              <dgm:adjLst/>
            </dgm:shape>
            <dgm:presOf axis="ch desOrSelf" ptType="node node" st="7 1" cnt="1 0"/>
            <dgm:constrLst/>
            <dgm:ruleLst>
              <dgm:rule type="primFontSz" val="5" fact="NaN" max="NaN"/>
            </dgm:ruleLst>
          </dgm:layoutNode>
        </dgm:layoutNode>
      </dgm:if>
      <dgm:else name="Name55"/>
    </dgm:choose>
  </dgm:layoutNode>
</dgm:layoutDef>
</file>

<file path=ppt/diagrams/layout3.xml><?xml version="1.0" encoding="utf-8"?>
<dgm:layoutDef xmlns:dgm="http://schemas.openxmlformats.org/drawingml/2006/diagram" xmlns:a="http://schemas.openxmlformats.org/drawingml/2006/main" uniqueId="urn:microsoft.com/office/officeart/2005/8/layout/pyramid3">
  <dgm:title val=""/>
  <dgm:desc val=""/>
  <dgm:catLst>
    <dgm:cat type="pyramid" pri="2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T"/>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T"/>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rev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t"/>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3d1#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2#1">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0.01888</cdr:x>
      <cdr:y>0.40621</cdr:y>
    </cdr:from>
    <cdr:to>
      <cdr:x>0.18872</cdr:x>
      <cdr:y>0.54567</cdr:y>
    </cdr:to>
    <cdr:sp macro="" textlink="">
      <cdr:nvSpPr>
        <cdr:cNvPr id="2" name="TextBox 1"/>
        <cdr:cNvSpPr txBox="1"/>
      </cdr:nvSpPr>
      <cdr:spPr>
        <a:xfrm xmlns:a="http://schemas.openxmlformats.org/drawingml/2006/main">
          <a:off x="71140" y="798970"/>
          <a:ext cx="640080" cy="274320"/>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IN" b="1" dirty="0"/>
            <a:t>H!Y!</a:t>
          </a:r>
          <a:endParaRPr lang="en-US" sz="1100" b="1" dirty="0"/>
        </a:p>
      </cdr:txBody>
    </cdr:sp>
  </cdr:relSizeAnchor>
</c:userShapes>
</file>

<file path=ppt/drawings/drawing2.xml><?xml version="1.0" encoding="utf-8"?>
<c:userShapes xmlns:c="http://schemas.openxmlformats.org/drawingml/2006/chart">
  <cdr:relSizeAnchor xmlns:cdr="http://schemas.openxmlformats.org/drawingml/2006/chartDrawing">
    <cdr:from>
      <cdr:x>0.40395</cdr:x>
      <cdr:y>0.22341</cdr:y>
    </cdr:from>
    <cdr:to>
      <cdr:x>0.49776</cdr:x>
      <cdr:y>0.42244</cdr:y>
    </cdr:to>
    <cdr:sp macro="" textlink="">
      <cdr:nvSpPr>
        <cdr:cNvPr id="3" name="TextBox 2"/>
        <cdr:cNvSpPr txBox="1"/>
      </cdr:nvSpPr>
      <cdr:spPr>
        <a:xfrm xmlns:a="http://schemas.openxmlformats.org/drawingml/2006/main">
          <a:off x="3937432" y="1026391"/>
          <a:ext cx="914400" cy="914400"/>
        </a:xfrm>
        <a:prstGeom xmlns:a="http://schemas.openxmlformats.org/drawingml/2006/main" prst="rect">
          <a:avLst/>
        </a:prstGeom>
      </cdr:spPr>
      <cdr:txBody>
        <a:bodyPr xmlns:a="http://schemas.openxmlformats.org/drawingml/2006/main" vertOverflow="clip" wrap="none" rtlCol="0"/>
        <a:lstStyle xmlns:a="http://schemas.openxmlformats.org/drawingml/2006/main"/>
        <a:p xmlns:a="http://schemas.openxmlformats.org/drawingml/2006/main">
          <a:endParaRPr lang="en-IN" sz="1100" dirty="0"/>
        </a:p>
      </cdr:txBody>
    </cdr:sp>
  </cdr:relSizeAnchor>
</c:userShapes>
</file>

<file path=ppt/drawings/drawing3.xml><?xml version="1.0" encoding="utf-8"?>
<c:userShapes xmlns:c="http://schemas.openxmlformats.org/drawingml/2006/chart">
  <cdr:relSizeAnchor xmlns:cdr="http://schemas.openxmlformats.org/drawingml/2006/chartDrawing">
    <cdr:from>
      <cdr:x>0.41057</cdr:x>
      <cdr:y>0.08923</cdr:y>
    </cdr:from>
    <cdr:to>
      <cdr:x>0.41071</cdr:x>
      <cdr:y>0.91077</cdr:y>
    </cdr:to>
    <cdr:cxnSp macro="">
      <cdr:nvCxnSpPr>
        <cdr:cNvPr id="5" name="Straight Connector 4">
          <a:extLst xmlns:a="http://schemas.openxmlformats.org/drawingml/2006/main">
            <a:ext uri="{FF2B5EF4-FFF2-40B4-BE49-F238E27FC236}">
              <a16:creationId xmlns:a16="http://schemas.microsoft.com/office/drawing/2014/main" id="{E1726B31-8068-3A45-6975-EBEC92442912}"/>
            </a:ext>
          </a:extLst>
        </cdr:cNvPr>
        <cdr:cNvCxnSpPr/>
      </cdr:nvCxnSpPr>
      <cdr:spPr bwMode="auto">
        <a:xfrm xmlns:a="http://schemas.openxmlformats.org/drawingml/2006/main" flipH="1" flipV="1">
          <a:off x="3540959" y="304101"/>
          <a:ext cx="1169" cy="2800016"/>
        </a:xfrm>
        <a:prstGeom xmlns:a="http://schemas.openxmlformats.org/drawingml/2006/main" prst="line">
          <a:avLst/>
        </a:prstGeom>
        <a:solidFill xmlns:a="http://schemas.openxmlformats.org/drawingml/2006/main">
          <a:schemeClr val="accent1"/>
        </a:solidFill>
        <a:ln xmlns:a="http://schemas.openxmlformats.org/drawingml/2006/main" w="12700" cap="flat" cmpd="sng" algn="ctr">
          <a:solidFill>
            <a:schemeClr val="bg1">
              <a:lumMod val="65000"/>
            </a:schemeClr>
          </a:solidFill>
          <a:prstDash val="lgDash"/>
          <a:round/>
          <a:headEnd type="none" w="med" len="med"/>
          <a:tailEnd type="none" w="med" len="med"/>
        </a:ln>
        <a:effectLst xmlns:a="http://schemas.openxmlformats.org/drawingml/2006/main"/>
      </cdr:spPr>
    </cdr:cxnSp>
  </cdr:relSizeAnchor>
</c:userShapes>
</file>

<file path=ppt/drawings/drawing4.xml><?xml version="1.0" encoding="utf-8"?>
<c:userShapes xmlns:c="http://schemas.openxmlformats.org/drawingml/2006/chart">
  <cdr:relSizeAnchor xmlns:cdr="http://schemas.openxmlformats.org/drawingml/2006/chartDrawing">
    <cdr:from>
      <cdr:x>0.27463</cdr:x>
      <cdr:y>0.39192</cdr:y>
    </cdr:from>
    <cdr:to>
      <cdr:x>0.54734</cdr:x>
      <cdr:y>0.52338</cdr:y>
    </cdr:to>
    <cdr:sp macro="" textlink="">
      <cdr:nvSpPr>
        <cdr:cNvPr id="2" name="TextBox 1"/>
        <cdr:cNvSpPr txBox="1"/>
      </cdr:nvSpPr>
      <cdr:spPr>
        <a:xfrm xmlns:a="http://schemas.openxmlformats.org/drawingml/2006/main">
          <a:off x="1456324" y="1876187"/>
          <a:ext cx="1446162" cy="629324"/>
        </a:xfrm>
        <a:prstGeom xmlns:a="http://schemas.openxmlformats.org/drawingml/2006/main" prst="rect">
          <a:avLst/>
        </a:prstGeom>
      </cdr:spPr>
      <cdr:txBody>
        <a:bodyPr xmlns:a="http://schemas.openxmlformats.org/drawingml/2006/main" wrap="square" rtlCol="0" anchor="ct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n-US" sz="1400" b="1" dirty="0"/>
            <a:t>100.7 Million Metric Tons</a:t>
          </a:r>
        </a:p>
      </cdr:txBody>
    </cdr:sp>
  </cdr:relSizeAnchor>
</c:userShapes>
</file>

<file path=ppt/drawings/drawing5.xml><?xml version="1.0" encoding="utf-8"?>
<c:userShapes xmlns:c="http://schemas.openxmlformats.org/drawingml/2006/chart">
  <cdr:relSizeAnchor xmlns:cdr="http://schemas.openxmlformats.org/drawingml/2006/chartDrawing">
    <cdr:from>
      <cdr:x>0.36227</cdr:x>
      <cdr:y>0.25975</cdr:y>
    </cdr:from>
    <cdr:to>
      <cdr:x>0.65702</cdr:x>
      <cdr:y>0.49758</cdr:y>
    </cdr:to>
    <cdr:sp macro="" textlink="">
      <cdr:nvSpPr>
        <cdr:cNvPr id="2" name="TextBox 1"/>
        <cdr:cNvSpPr txBox="1"/>
      </cdr:nvSpPr>
      <cdr:spPr>
        <a:xfrm xmlns:a="http://schemas.openxmlformats.org/drawingml/2006/main">
          <a:off x="1722437" y="1193330"/>
          <a:ext cx="1401427" cy="1092670"/>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pPr algn="ctr"/>
          <a:r>
            <a:rPr lang="en-US" sz="1600" b="1" dirty="0"/>
            <a:t>Total Production (2022) ~95.7 Million Units</a:t>
          </a:r>
        </a:p>
      </cdr:txBody>
    </cdr:sp>
  </cdr:relSizeAnchor>
</c:userShapes>
</file>

<file path=ppt/drawings/drawing6.xml><?xml version="1.0" encoding="utf-8"?>
<c:userShapes xmlns:c="http://schemas.openxmlformats.org/drawingml/2006/chart">
  <cdr:relSizeAnchor xmlns:cdr="http://schemas.openxmlformats.org/drawingml/2006/chartDrawing">
    <cdr:from>
      <cdr:x>0.27004</cdr:x>
      <cdr:y>0.42288</cdr:y>
    </cdr:from>
    <cdr:to>
      <cdr:x>0.47514</cdr:x>
      <cdr:y>0.66322</cdr:y>
    </cdr:to>
    <cdr:sp macro="" textlink="">
      <cdr:nvSpPr>
        <cdr:cNvPr id="2" name="TextBox 17"/>
        <cdr:cNvSpPr txBox="1"/>
      </cdr:nvSpPr>
      <cdr:spPr>
        <a:xfrm xmlns:a="http://schemas.openxmlformats.org/drawingml/2006/main">
          <a:off x="1283922" y="812300"/>
          <a:ext cx="975161" cy="461665"/>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xmlns:a="http://schemas.openxmlformats.org/drawingml/2006/main">
          <a:pPr lvl="0" algn="ctr" defTabSz="914400">
            <a:defRPr/>
          </a:pPr>
          <a:r>
            <a:rPr kumimoji="0" lang="en-US" sz="1200" b="1" i="0" u="none" strike="noStrike" kern="0" cap="none" spc="0" normalizeH="0" baseline="0" noProof="0" dirty="0">
              <a:ln>
                <a:noFill/>
              </a:ln>
              <a:solidFill>
                <a:prstClr val="black"/>
              </a:solidFill>
              <a:effectLst/>
              <a:uLnTx/>
              <a:uFillTx/>
            </a:rPr>
            <a:t> 95,706 '000 </a:t>
          </a:r>
          <a:r>
            <a:rPr lang="en-US" sz="1200" b="1" dirty="0"/>
            <a:t>Units</a:t>
          </a:r>
          <a:endParaRPr kumimoji="0" lang="en-US" sz="1200" b="1" i="0" u="none" strike="noStrike" kern="0" cap="none" spc="0" normalizeH="0" baseline="0" noProof="0" dirty="0">
            <a:ln>
              <a:noFill/>
            </a:ln>
            <a:solidFill>
              <a:prstClr val="black"/>
            </a:solidFill>
            <a:effectLst/>
            <a:uLnTx/>
            <a:uFillTx/>
          </a:endParaRPr>
        </a:p>
      </cdr:txBody>
    </cdr:sp>
  </cdr:relSizeAnchor>
</c:userShapes>
</file>

<file path=ppt/drawings/drawing7.xml><?xml version="1.0" encoding="utf-8"?>
<c:userShapes xmlns:c="http://schemas.openxmlformats.org/drawingml/2006/chart">
  <cdr:relSizeAnchor xmlns:cdr="http://schemas.openxmlformats.org/drawingml/2006/chartDrawing">
    <cdr:from>
      <cdr:x>0.12544</cdr:x>
      <cdr:y>0.15226</cdr:y>
    </cdr:from>
    <cdr:to>
      <cdr:x>0.40551</cdr:x>
      <cdr:y>0.21925</cdr:y>
    </cdr:to>
    <cdr:sp macro="" textlink="">
      <cdr:nvSpPr>
        <cdr:cNvPr id="2" name="TextBox 13"/>
        <cdr:cNvSpPr txBox="1"/>
      </cdr:nvSpPr>
      <cdr:spPr>
        <a:xfrm xmlns:a="http://schemas.openxmlformats.org/drawingml/2006/main">
          <a:off x="472762" y="699517"/>
          <a:ext cx="1055482" cy="307777"/>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xmlns:a="http://schemas.openxmlformats.org/drawingml/2006/main">
          <a:pPr algn="ctr"/>
          <a:r>
            <a:rPr lang="en-US" sz="1400" b="1" dirty="0"/>
            <a:t>US</a:t>
          </a:r>
          <a:r>
            <a:rPr lang="en-US" sz="1400" b="1"/>
            <a:t>$ 87.8 </a:t>
          </a:r>
          <a:r>
            <a:rPr lang="en-US" sz="1400" b="1" dirty="0"/>
            <a:t>Tn</a:t>
          </a:r>
        </a:p>
      </cdr:txBody>
    </cdr:sp>
  </cdr:relSizeAnchor>
  <cdr:relSizeAnchor xmlns:cdr="http://schemas.openxmlformats.org/drawingml/2006/chartDrawing">
    <cdr:from>
      <cdr:x>0.54935</cdr:x>
      <cdr:y>0.05747</cdr:y>
    </cdr:from>
    <cdr:to>
      <cdr:x>0.88874</cdr:x>
      <cdr:y>0.12446</cdr:y>
    </cdr:to>
    <cdr:sp macro="" textlink="">
      <cdr:nvSpPr>
        <cdr:cNvPr id="3" name="TextBox 14"/>
        <cdr:cNvSpPr txBox="1"/>
      </cdr:nvSpPr>
      <cdr:spPr>
        <a:xfrm xmlns:a="http://schemas.openxmlformats.org/drawingml/2006/main">
          <a:off x="1708426" y="264030"/>
          <a:ext cx="1055482" cy="307777"/>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xmlns:a="http://schemas.openxmlformats.org/drawingml/2006/main">
          <a:pPr algn="ctr"/>
          <a:r>
            <a:rPr lang="en-US" sz="1400" b="1" dirty="0"/>
            <a:t>US$ 89.5 Tn</a:t>
          </a:r>
        </a:p>
      </cdr:txBody>
    </cdr:sp>
  </cdr:relSizeAnchor>
  <cdr:relSizeAnchor xmlns:cdr="http://schemas.openxmlformats.org/drawingml/2006/chartDrawing">
    <cdr:from>
      <cdr:x>0.54787</cdr:x>
      <cdr:y>0.52572</cdr:y>
    </cdr:from>
    <cdr:to>
      <cdr:x>0.88727</cdr:x>
      <cdr:y>0.59271</cdr:y>
    </cdr:to>
    <cdr:sp macro="" textlink="">
      <cdr:nvSpPr>
        <cdr:cNvPr id="4" name="TextBox 15"/>
        <cdr:cNvSpPr txBox="1"/>
      </cdr:nvSpPr>
      <cdr:spPr>
        <a:xfrm xmlns:a="http://schemas.openxmlformats.org/drawingml/2006/main">
          <a:off x="1703839" y="2415276"/>
          <a:ext cx="1055482" cy="307777"/>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xmlns:a="http://schemas.openxmlformats.org/drawingml/2006/main">
          <a:pPr algn="ctr"/>
          <a:r>
            <a:rPr lang="en-US" sz="1400" b="1" dirty="0">
              <a:solidFill>
                <a:schemeClr val="bg1"/>
              </a:solidFill>
            </a:rPr>
            <a:t>US$ 83.5 Tn</a:t>
          </a:r>
        </a:p>
      </cdr:txBody>
    </cdr:sp>
  </cdr:relSizeAnchor>
  <cdr:relSizeAnchor xmlns:cdr="http://schemas.openxmlformats.org/drawingml/2006/chartDrawing">
    <cdr:from>
      <cdr:x>0.55399</cdr:x>
      <cdr:y>0.18003</cdr:y>
    </cdr:from>
    <cdr:to>
      <cdr:x>0.88411</cdr:x>
      <cdr:y>0.24702</cdr:y>
    </cdr:to>
    <cdr:sp macro="" textlink="">
      <cdr:nvSpPr>
        <cdr:cNvPr id="5" name="TextBox 16"/>
        <cdr:cNvSpPr txBox="1"/>
      </cdr:nvSpPr>
      <cdr:spPr>
        <a:xfrm xmlns:a="http://schemas.openxmlformats.org/drawingml/2006/main">
          <a:off x="1722868" y="827098"/>
          <a:ext cx="1026628" cy="307777"/>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xmlns:a="http://schemas.openxmlformats.org/drawingml/2006/main">
          <a:pPr algn="ctr"/>
          <a:r>
            <a:rPr lang="en-US" sz="1400" b="1" dirty="0">
              <a:solidFill>
                <a:srgbClr val="FF0000"/>
              </a:solidFill>
            </a:rPr>
            <a:t>(~US$ 6 Tn)</a:t>
          </a:r>
        </a:p>
      </cdr:txBody>
    </cdr:sp>
  </cdr:relSizeAnchor>
</c:userShapes>
</file>

<file path=ppt/drawings/drawing8.xml><?xml version="1.0" encoding="utf-8"?>
<c:userShapes xmlns:c="http://schemas.openxmlformats.org/drawingml/2006/chart">
  <cdr:relSizeAnchor xmlns:cdr="http://schemas.openxmlformats.org/drawingml/2006/chartDrawing">
    <cdr:from>
      <cdr:x>0.26607</cdr:x>
      <cdr:y>0.00964</cdr:y>
    </cdr:from>
    <cdr:to>
      <cdr:x>0.47656</cdr:x>
      <cdr:y>0.10344</cdr:y>
    </cdr:to>
    <cdr:sp macro="" textlink="">
      <cdr:nvSpPr>
        <cdr:cNvPr id="9" name="Rectangle 8"/>
        <cdr:cNvSpPr/>
      </cdr:nvSpPr>
      <cdr:spPr>
        <a:xfrm xmlns:a="http://schemas.openxmlformats.org/drawingml/2006/main">
          <a:off x="1265047" y="44311"/>
          <a:ext cx="1000788" cy="430893"/>
        </a:xfrm>
        <a:prstGeom xmlns:a="http://schemas.openxmlformats.org/drawingml/2006/main" prst="rect">
          <a:avLst/>
        </a:prstGeom>
      </cdr:spPr>
      <cdr:txBody>
        <a:bodyPr xmlns:a="http://schemas.openxmlformats.org/drawingml/2006/main" wrap="square" anchor="t">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ctr">
            <a:spcBef>
              <a:spcPts val="300"/>
            </a:spcBef>
            <a:spcAft>
              <a:spcPts val="300"/>
            </a:spcAft>
          </a:pPr>
          <a:r>
            <a:rPr lang="en-US" sz="1100" b="1" dirty="0"/>
            <a:t>COVID-19 Effect</a:t>
          </a:r>
        </a:p>
      </cdr:txBody>
    </cdr:sp>
  </cdr:relSizeAnchor>
  <cdr:relSizeAnchor xmlns:cdr="http://schemas.openxmlformats.org/drawingml/2006/chartDrawing">
    <cdr:from>
      <cdr:x>0.5</cdr:x>
      <cdr:y>0.00964</cdr:y>
    </cdr:from>
    <cdr:to>
      <cdr:x>0.77016</cdr:x>
      <cdr:y>0.10344</cdr:y>
    </cdr:to>
    <cdr:sp macro="" textlink="">
      <cdr:nvSpPr>
        <cdr:cNvPr id="10" name="Rectangle 9"/>
        <cdr:cNvSpPr/>
      </cdr:nvSpPr>
      <cdr:spPr>
        <a:xfrm xmlns:a="http://schemas.openxmlformats.org/drawingml/2006/main">
          <a:off x="2377281" y="44311"/>
          <a:ext cx="1284493" cy="430893"/>
        </a:xfrm>
        <a:prstGeom xmlns:a="http://schemas.openxmlformats.org/drawingml/2006/main" prst="rect">
          <a:avLst/>
        </a:prstGeom>
      </cdr:spPr>
      <cdr:txBody>
        <a:bodyPr xmlns:a="http://schemas.openxmlformats.org/drawingml/2006/main" wrap="square" anchor="t">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ctr">
            <a:spcBef>
              <a:spcPts val="300"/>
            </a:spcBef>
            <a:spcAft>
              <a:spcPts val="300"/>
            </a:spcAft>
          </a:pPr>
          <a:r>
            <a:rPr lang="en-US" sz="1100" b="1" dirty="0"/>
            <a:t>Recovery from Recession - </a:t>
          </a:r>
        </a:p>
      </cdr:txBody>
    </cdr:sp>
  </cdr:relSizeAnchor>
  <cdr:relSizeAnchor xmlns:cdr="http://schemas.openxmlformats.org/drawingml/2006/chartDrawing">
    <cdr:from>
      <cdr:x>0.75987</cdr:x>
      <cdr:y>0.00964</cdr:y>
    </cdr:from>
    <cdr:to>
      <cdr:x>1</cdr:x>
      <cdr:y>0.10344</cdr:y>
    </cdr:to>
    <cdr:sp macro="" textlink="">
      <cdr:nvSpPr>
        <cdr:cNvPr id="11" name="Rectangle 10"/>
        <cdr:cNvSpPr/>
      </cdr:nvSpPr>
      <cdr:spPr>
        <a:xfrm xmlns:a="http://schemas.openxmlformats.org/drawingml/2006/main">
          <a:off x="3612849" y="44311"/>
          <a:ext cx="1141713" cy="430893"/>
        </a:xfrm>
        <a:prstGeom xmlns:a="http://schemas.openxmlformats.org/drawingml/2006/main" prst="rect">
          <a:avLst/>
        </a:prstGeom>
      </cdr:spPr>
      <cdr:txBody>
        <a:bodyPr xmlns:a="http://schemas.openxmlformats.org/drawingml/2006/main" wrap="square" anchor="t">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ctr">
            <a:spcBef>
              <a:spcPts val="300"/>
            </a:spcBef>
            <a:spcAft>
              <a:spcPts val="300"/>
            </a:spcAft>
          </a:pPr>
          <a:r>
            <a:rPr lang="en-US" sz="1100" b="1" dirty="0"/>
            <a:t>Slowdown in Demand </a:t>
          </a:r>
        </a:p>
      </cdr:txBody>
    </cdr:sp>
  </cdr:relSizeAnchor>
  <cdr:relSizeAnchor xmlns:cdr="http://schemas.openxmlformats.org/drawingml/2006/chartDrawing">
    <cdr:from>
      <cdr:x>0.05656</cdr:x>
      <cdr:y>0.00964</cdr:y>
    </cdr:from>
    <cdr:to>
      <cdr:x>0.26607</cdr:x>
      <cdr:y>0.10344</cdr:y>
    </cdr:to>
    <cdr:sp macro="" textlink="">
      <cdr:nvSpPr>
        <cdr:cNvPr id="12" name="Rectangle 11"/>
        <cdr:cNvSpPr/>
      </cdr:nvSpPr>
      <cdr:spPr>
        <a:xfrm xmlns:a="http://schemas.openxmlformats.org/drawingml/2006/main">
          <a:off x="268919" y="44311"/>
          <a:ext cx="996128" cy="430893"/>
        </a:xfrm>
        <a:prstGeom xmlns:a="http://schemas.openxmlformats.org/drawingml/2006/main" prst="rect">
          <a:avLst/>
        </a:prstGeom>
      </cdr:spPr>
      <cdr:txBody>
        <a:bodyPr xmlns:a="http://schemas.openxmlformats.org/drawingml/2006/main" wrap="square" anchor="t">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ctr">
            <a:spcBef>
              <a:spcPts val="300"/>
            </a:spcBef>
            <a:spcAft>
              <a:spcPts val="300"/>
            </a:spcAft>
          </a:pPr>
          <a:r>
            <a:rPr lang="en-US" sz="1100" b="1" dirty="0"/>
            <a:t>Historical Performance </a:t>
          </a:r>
        </a:p>
      </cdr:txBody>
    </cdr:sp>
  </cdr:relSizeAnchor>
  <cdr:relSizeAnchor xmlns:cdr="http://schemas.openxmlformats.org/drawingml/2006/chartDrawing">
    <cdr:from>
      <cdr:x>0.48229</cdr:x>
      <cdr:y>0.00015</cdr:y>
    </cdr:from>
    <cdr:to>
      <cdr:x>0.48229</cdr:x>
      <cdr:y>0.69632</cdr:y>
    </cdr:to>
    <cdr:cxnSp macro="">
      <cdr:nvCxnSpPr>
        <cdr:cNvPr id="13" name="Straight Connector 12">
          <a:extLst xmlns:a="http://schemas.openxmlformats.org/drawingml/2006/main">
            <a:ext uri="{FF2B5EF4-FFF2-40B4-BE49-F238E27FC236}">
              <a16:creationId xmlns:a16="http://schemas.microsoft.com/office/drawing/2014/main" id="{BEAFAF4D-09D4-893C-246C-6F7673E3FB2D}"/>
            </a:ext>
          </a:extLst>
        </cdr:cNvPr>
        <cdr:cNvCxnSpPr/>
      </cdr:nvCxnSpPr>
      <cdr:spPr>
        <a:xfrm xmlns:a="http://schemas.openxmlformats.org/drawingml/2006/main">
          <a:off x="2293070" y="678"/>
          <a:ext cx="0" cy="3198372"/>
        </a:xfrm>
        <a:prstGeom xmlns:a="http://schemas.openxmlformats.org/drawingml/2006/main" prst="line">
          <a:avLst/>
        </a:prstGeom>
        <a:ln xmlns:a="http://schemas.openxmlformats.org/drawingml/2006/main">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0.78374</cdr:x>
      <cdr:y>0.00015</cdr:y>
    </cdr:from>
    <cdr:to>
      <cdr:x>0.78374</cdr:x>
      <cdr:y>0.69632</cdr:y>
    </cdr:to>
    <cdr:cxnSp macro="">
      <cdr:nvCxnSpPr>
        <cdr:cNvPr id="14" name="Straight Connector 13">
          <a:extLst xmlns:a="http://schemas.openxmlformats.org/drawingml/2006/main">
            <a:ext uri="{FF2B5EF4-FFF2-40B4-BE49-F238E27FC236}">
              <a16:creationId xmlns:a16="http://schemas.microsoft.com/office/drawing/2014/main" id="{50A0EE10-E009-1B6B-02A8-D866CF8C0E64}"/>
            </a:ext>
          </a:extLst>
        </cdr:cNvPr>
        <cdr:cNvCxnSpPr/>
      </cdr:nvCxnSpPr>
      <cdr:spPr>
        <a:xfrm xmlns:a="http://schemas.openxmlformats.org/drawingml/2006/main">
          <a:off x="3726330" y="678"/>
          <a:ext cx="0" cy="3198372"/>
        </a:xfrm>
        <a:prstGeom xmlns:a="http://schemas.openxmlformats.org/drawingml/2006/main" prst="line">
          <a:avLst/>
        </a:prstGeom>
        <a:ln xmlns:a="http://schemas.openxmlformats.org/drawingml/2006/main">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0.26778</cdr:x>
      <cdr:y>0.00015</cdr:y>
    </cdr:from>
    <cdr:to>
      <cdr:x>0.26778</cdr:x>
      <cdr:y>0.69632</cdr:y>
    </cdr:to>
    <cdr:cxnSp macro="">
      <cdr:nvCxnSpPr>
        <cdr:cNvPr id="15" name="Straight Connector 14">
          <a:extLst xmlns:a="http://schemas.openxmlformats.org/drawingml/2006/main">
            <a:ext uri="{FF2B5EF4-FFF2-40B4-BE49-F238E27FC236}">
              <a16:creationId xmlns:a16="http://schemas.microsoft.com/office/drawing/2014/main" id="{587562DA-27DD-A2D5-0A42-2D481600FBAE}"/>
            </a:ext>
          </a:extLst>
        </cdr:cNvPr>
        <cdr:cNvCxnSpPr/>
      </cdr:nvCxnSpPr>
      <cdr:spPr>
        <a:xfrm xmlns:a="http://schemas.openxmlformats.org/drawingml/2006/main">
          <a:off x="1273172" y="678"/>
          <a:ext cx="0" cy="3198372"/>
        </a:xfrm>
        <a:prstGeom xmlns:a="http://schemas.openxmlformats.org/drawingml/2006/main" prst="line">
          <a:avLst/>
        </a:prstGeom>
        <a:ln xmlns:a="http://schemas.openxmlformats.org/drawingml/2006/main">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D910D5F0-DEDB-4207-AC6F-C9348E117F27}" type="datetimeFigureOut">
              <a:rPr lang="en-US" smtClean="0"/>
              <a:t>10/14/2026</a:t>
            </a:fld>
            <a:endParaRPr lang="en-US"/>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95111557-1D5D-4225-BD05-2D0922FA8B0F}" type="slidenum">
              <a:rPr lang="en-US" smtClean="0"/>
              <a:t>‹#›</a:t>
            </a:fld>
            <a:endParaRPr lang="en-US"/>
          </a:p>
        </p:txBody>
      </p:sp>
    </p:spTree>
    <p:extLst>
      <p:ext uri="{BB962C8B-B14F-4D97-AF65-F5344CB8AC3E}">
        <p14:creationId xmlns:p14="http://schemas.microsoft.com/office/powerpoint/2010/main" val="410961935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E45B71E-CD0B-4E6E-93BA-185C491C3A0E}" type="datetimeFigureOut">
              <a:rPr lang="en-US" smtClean="0"/>
              <a:t>10/14/2026</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7A87B0E-8739-48F7-AADE-F1C531232472}" type="slidenum">
              <a:rPr lang="en-US" smtClean="0"/>
              <a:t>‹#›</a:t>
            </a:fld>
            <a:endParaRPr lang="en-US" dirty="0"/>
          </a:p>
        </p:txBody>
      </p:sp>
    </p:spTree>
    <p:extLst>
      <p:ext uri="{BB962C8B-B14F-4D97-AF65-F5344CB8AC3E}">
        <p14:creationId xmlns:p14="http://schemas.microsoft.com/office/powerpoint/2010/main" val="1896158448"/>
      </p:ext>
    </p:extLst>
  </p:cSld>
  <p:clrMap bg1="lt1" tx1="dk1" bg2="lt2" tx2="dk2" accent1="accent1" accent2="accent2" accent3="accent3" accent4="accent4" accent5="accent5" accent6="accent6" hlink="hlink" folHlink="folHlink"/>
  <p:notesStyle>
    <a:lvl1pPr marL="0" algn="l" defTabSz="966517" rtl="0" eaLnBrk="1" latinLnBrk="0" hangingPunct="1">
      <a:defRPr sz="1268" kern="1200">
        <a:solidFill>
          <a:schemeClr val="tx1"/>
        </a:solidFill>
        <a:latin typeface="+mn-lt"/>
        <a:ea typeface="+mn-ea"/>
        <a:cs typeface="+mn-cs"/>
      </a:defRPr>
    </a:lvl1pPr>
    <a:lvl2pPr marL="483259" algn="l" defTabSz="966517" rtl="0" eaLnBrk="1" latinLnBrk="0" hangingPunct="1">
      <a:defRPr sz="1268" kern="1200">
        <a:solidFill>
          <a:schemeClr val="tx1"/>
        </a:solidFill>
        <a:latin typeface="+mn-lt"/>
        <a:ea typeface="+mn-ea"/>
        <a:cs typeface="+mn-cs"/>
      </a:defRPr>
    </a:lvl2pPr>
    <a:lvl3pPr marL="966517" algn="l" defTabSz="966517" rtl="0" eaLnBrk="1" latinLnBrk="0" hangingPunct="1">
      <a:defRPr sz="1268" kern="1200">
        <a:solidFill>
          <a:schemeClr val="tx1"/>
        </a:solidFill>
        <a:latin typeface="+mn-lt"/>
        <a:ea typeface="+mn-ea"/>
        <a:cs typeface="+mn-cs"/>
      </a:defRPr>
    </a:lvl3pPr>
    <a:lvl4pPr marL="1449775" algn="l" defTabSz="966517" rtl="0" eaLnBrk="1" latinLnBrk="0" hangingPunct="1">
      <a:defRPr sz="1268" kern="1200">
        <a:solidFill>
          <a:schemeClr val="tx1"/>
        </a:solidFill>
        <a:latin typeface="+mn-lt"/>
        <a:ea typeface="+mn-ea"/>
        <a:cs typeface="+mn-cs"/>
      </a:defRPr>
    </a:lvl4pPr>
    <a:lvl5pPr marL="1933034" algn="l" defTabSz="966517" rtl="0" eaLnBrk="1" latinLnBrk="0" hangingPunct="1">
      <a:defRPr sz="1268" kern="1200">
        <a:solidFill>
          <a:schemeClr val="tx1"/>
        </a:solidFill>
        <a:latin typeface="+mn-lt"/>
        <a:ea typeface="+mn-ea"/>
        <a:cs typeface="+mn-cs"/>
      </a:defRPr>
    </a:lvl5pPr>
    <a:lvl6pPr marL="2416292" algn="l" defTabSz="966517" rtl="0" eaLnBrk="1" latinLnBrk="0" hangingPunct="1">
      <a:defRPr sz="1268" kern="1200">
        <a:solidFill>
          <a:schemeClr val="tx1"/>
        </a:solidFill>
        <a:latin typeface="+mn-lt"/>
        <a:ea typeface="+mn-ea"/>
        <a:cs typeface="+mn-cs"/>
      </a:defRPr>
    </a:lvl6pPr>
    <a:lvl7pPr marL="2899551" algn="l" defTabSz="966517" rtl="0" eaLnBrk="1" latinLnBrk="0" hangingPunct="1">
      <a:defRPr sz="1268" kern="1200">
        <a:solidFill>
          <a:schemeClr val="tx1"/>
        </a:solidFill>
        <a:latin typeface="+mn-lt"/>
        <a:ea typeface="+mn-ea"/>
        <a:cs typeface="+mn-cs"/>
      </a:defRPr>
    </a:lvl7pPr>
    <a:lvl8pPr marL="3382810" algn="l" defTabSz="966517" rtl="0" eaLnBrk="1" latinLnBrk="0" hangingPunct="1">
      <a:defRPr sz="1268" kern="1200">
        <a:solidFill>
          <a:schemeClr val="tx1"/>
        </a:solidFill>
        <a:latin typeface="+mn-lt"/>
        <a:ea typeface="+mn-ea"/>
        <a:cs typeface="+mn-cs"/>
      </a:defRPr>
    </a:lvl8pPr>
    <a:lvl9pPr marL="3866068" algn="l" defTabSz="966517" rtl="0" eaLnBrk="1" latinLnBrk="0" hangingPunct="1">
      <a:defRPr sz="1268"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A7A87B0E-8739-48F7-AADE-F1C531232472}" type="slidenum">
              <a:rPr lang="en-US" smtClean="0"/>
              <a:t>1</a:t>
            </a:fld>
            <a:endParaRPr lang="en-US" dirty="0"/>
          </a:p>
        </p:txBody>
      </p:sp>
    </p:spTree>
    <p:extLst>
      <p:ext uri="{BB962C8B-B14F-4D97-AF65-F5344CB8AC3E}">
        <p14:creationId xmlns:p14="http://schemas.microsoft.com/office/powerpoint/2010/main" val="419180737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91</a:t>
            </a:fld>
            <a:endParaRPr lang="en-US" dirty="0"/>
          </a:p>
        </p:txBody>
      </p:sp>
    </p:spTree>
    <p:extLst>
      <p:ext uri="{BB962C8B-B14F-4D97-AF65-F5344CB8AC3E}">
        <p14:creationId xmlns:p14="http://schemas.microsoft.com/office/powerpoint/2010/main" val="123721639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92</a:t>
            </a:fld>
            <a:endParaRPr lang="en-US" dirty="0"/>
          </a:p>
        </p:txBody>
      </p:sp>
    </p:spTree>
    <p:extLst>
      <p:ext uri="{BB962C8B-B14F-4D97-AF65-F5344CB8AC3E}">
        <p14:creationId xmlns:p14="http://schemas.microsoft.com/office/powerpoint/2010/main" val="372070020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93</a:t>
            </a:fld>
            <a:endParaRPr lang="en-US" dirty="0"/>
          </a:p>
        </p:txBody>
      </p:sp>
    </p:spTree>
    <p:extLst>
      <p:ext uri="{BB962C8B-B14F-4D97-AF65-F5344CB8AC3E}">
        <p14:creationId xmlns:p14="http://schemas.microsoft.com/office/powerpoint/2010/main" val="323969550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94</a:t>
            </a:fld>
            <a:endParaRPr lang="en-US" dirty="0"/>
          </a:p>
        </p:txBody>
      </p:sp>
    </p:spTree>
    <p:extLst>
      <p:ext uri="{BB962C8B-B14F-4D97-AF65-F5344CB8AC3E}">
        <p14:creationId xmlns:p14="http://schemas.microsoft.com/office/powerpoint/2010/main" val="69212516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95</a:t>
            </a:fld>
            <a:endParaRPr lang="en-US" dirty="0"/>
          </a:p>
        </p:txBody>
      </p:sp>
    </p:spTree>
    <p:extLst>
      <p:ext uri="{BB962C8B-B14F-4D97-AF65-F5344CB8AC3E}">
        <p14:creationId xmlns:p14="http://schemas.microsoft.com/office/powerpoint/2010/main" val="348599234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96</a:t>
            </a:fld>
            <a:endParaRPr lang="en-US" dirty="0"/>
          </a:p>
        </p:txBody>
      </p:sp>
    </p:spTree>
    <p:extLst>
      <p:ext uri="{BB962C8B-B14F-4D97-AF65-F5344CB8AC3E}">
        <p14:creationId xmlns:p14="http://schemas.microsoft.com/office/powerpoint/2010/main" val="184917006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97</a:t>
            </a:fld>
            <a:endParaRPr lang="en-US" dirty="0"/>
          </a:p>
        </p:txBody>
      </p:sp>
    </p:spTree>
    <p:extLst>
      <p:ext uri="{BB962C8B-B14F-4D97-AF65-F5344CB8AC3E}">
        <p14:creationId xmlns:p14="http://schemas.microsoft.com/office/powerpoint/2010/main" val="357550140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98</a:t>
            </a:fld>
            <a:endParaRPr lang="en-US" dirty="0"/>
          </a:p>
        </p:txBody>
      </p:sp>
    </p:spTree>
    <p:extLst>
      <p:ext uri="{BB962C8B-B14F-4D97-AF65-F5344CB8AC3E}">
        <p14:creationId xmlns:p14="http://schemas.microsoft.com/office/powerpoint/2010/main" val="14282662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99</a:t>
            </a:fld>
            <a:endParaRPr lang="en-US" dirty="0"/>
          </a:p>
        </p:txBody>
      </p:sp>
    </p:spTree>
    <p:extLst>
      <p:ext uri="{BB962C8B-B14F-4D97-AF65-F5344CB8AC3E}">
        <p14:creationId xmlns:p14="http://schemas.microsoft.com/office/powerpoint/2010/main" val="10530357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109</a:t>
            </a:fld>
            <a:endParaRPr lang="en-US" dirty="0"/>
          </a:p>
        </p:txBody>
      </p:sp>
    </p:spTree>
    <p:extLst>
      <p:ext uri="{BB962C8B-B14F-4D97-AF65-F5344CB8AC3E}">
        <p14:creationId xmlns:p14="http://schemas.microsoft.com/office/powerpoint/2010/main" val="361700674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110</a:t>
            </a:fld>
            <a:endParaRPr lang="en-US" dirty="0"/>
          </a:p>
        </p:txBody>
      </p:sp>
    </p:spTree>
    <p:extLst>
      <p:ext uri="{BB962C8B-B14F-4D97-AF65-F5344CB8AC3E}">
        <p14:creationId xmlns:p14="http://schemas.microsoft.com/office/powerpoint/2010/main" val="92600735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111</a:t>
            </a:fld>
            <a:endParaRPr lang="en-US" dirty="0"/>
          </a:p>
        </p:txBody>
      </p:sp>
    </p:spTree>
    <p:extLst>
      <p:ext uri="{BB962C8B-B14F-4D97-AF65-F5344CB8AC3E}">
        <p14:creationId xmlns:p14="http://schemas.microsoft.com/office/powerpoint/2010/main" val="296896947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112</a:t>
            </a:fld>
            <a:endParaRPr lang="en-US" dirty="0"/>
          </a:p>
        </p:txBody>
      </p:sp>
    </p:spTree>
    <p:extLst>
      <p:ext uri="{BB962C8B-B14F-4D97-AF65-F5344CB8AC3E}">
        <p14:creationId xmlns:p14="http://schemas.microsoft.com/office/powerpoint/2010/main" val="343459728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113</a:t>
            </a:fld>
            <a:endParaRPr lang="en-US" dirty="0"/>
          </a:p>
        </p:txBody>
      </p:sp>
    </p:spTree>
    <p:extLst>
      <p:ext uri="{BB962C8B-B14F-4D97-AF65-F5344CB8AC3E}">
        <p14:creationId xmlns:p14="http://schemas.microsoft.com/office/powerpoint/2010/main" val="7810300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114</a:t>
            </a:fld>
            <a:endParaRPr lang="en-US" dirty="0"/>
          </a:p>
        </p:txBody>
      </p:sp>
    </p:spTree>
    <p:extLst>
      <p:ext uri="{BB962C8B-B14F-4D97-AF65-F5344CB8AC3E}">
        <p14:creationId xmlns:p14="http://schemas.microsoft.com/office/powerpoint/2010/main" val="173456768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115</a:t>
            </a:fld>
            <a:endParaRPr lang="en-US" dirty="0"/>
          </a:p>
        </p:txBody>
      </p:sp>
    </p:spTree>
    <p:extLst>
      <p:ext uri="{BB962C8B-B14F-4D97-AF65-F5344CB8AC3E}">
        <p14:creationId xmlns:p14="http://schemas.microsoft.com/office/powerpoint/2010/main" val="30340274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116</a:t>
            </a:fld>
            <a:endParaRPr lang="en-US" dirty="0"/>
          </a:p>
        </p:txBody>
      </p:sp>
    </p:spTree>
    <p:extLst>
      <p:ext uri="{BB962C8B-B14F-4D97-AF65-F5344CB8AC3E}">
        <p14:creationId xmlns:p14="http://schemas.microsoft.com/office/powerpoint/2010/main" val="47653841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117</a:t>
            </a:fld>
            <a:endParaRPr lang="en-US" dirty="0"/>
          </a:p>
        </p:txBody>
      </p:sp>
    </p:spTree>
    <p:extLst>
      <p:ext uri="{BB962C8B-B14F-4D97-AF65-F5344CB8AC3E}">
        <p14:creationId xmlns:p14="http://schemas.microsoft.com/office/powerpoint/2010/main" val="234700868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127</a:t>
            </a:fld>
            <a:endParaRPr lang="en-US" dirty="0"/>
          </a:p>
        </p:txBody>
      </p:sp>
    </p:spTree>
    <p:extLst>
      <p:ext uri="{BB962C8B-B14F-4D97-AF65-F5344CB8AC3E}">
        <p14:creationId xmlns:p14="http://schemas.microsoft.com/office/powerpoint/2010/main" val="330909074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128</a:t>
            </a:fld>
            <a:endParaRPr lang="en-US" dirty="0"/>
          </a:p>
        </p:txBody>
      </p:sp>
    </p:spTree>
    <p:extLst>
      <p:ext uri="{BB962C8B-B14F-4D97-AF65-F5344CB8AC3E}">
        <p14:creationId xmlns:p14="http://schemas.microsoft.com/office/powerpoint/2010/main" val="112056655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129</a:t>
            </a:fld>
            <a:endParaRPr lang="en-US" dirty="0"/>
          </a:p>
        </p:txBody>
      </p:sp>
    </p:spTree>
    <p:extLst>
      <p:ext uri="{BB962C8B-B14F-4D97-AF65-F5344CB8AC3E}">
        <p14:creationId xmlns:p14="http://schemas.microsoft.com/office/powerpoint/2010/main" val="125888720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130</a:t>
            </a:fld>
            <a:endParaRPr lang="en-US" dirty="0"/>
          </a:p>
        </p:txBody>
      </p:sp>
    </p:spTree>
    <p:extLst>
      <p:ext uri="{BB962C8B-B14F-4D97-AF65-F5344CB8AC3E}">
        <p14:creationId xmlns:p14="http://schemas.microsoft.com/office/powerpoint/2010/main" val="295790395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131</a:t>
            </a:fld>
            <a:endParaRPr lang="en-US" dirty="0"/>
          </a:p>
        </p:txBody>
      </p:sp>
    </p:spTree>
    <p:extLst>
      <p:ext uri="{BB962C8B-B14F-4D97-AF65-F5344CB8AC3E}">
        <p14:creationId xmlns:p14="http://schemas.microsoft.com/office/powerpoint/2010/main" val="275699244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132</a:t>
            </a:fld>
            <a:endParaRPr lang="en-US" dirty="0"/>
          </a:p>
        </p:txBody>
      </p:sp>
    </p:spTree>
    <p:extLst>
      <p:ext uri="{BB962C8B-B14F-4D97-AF65-F5344CB8AC3E}">
        <p14:creationId xmlns:p14="http://schemas.microsoft.com/office/powerpoint/2010/main" val="195006853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133</a:t>
            </a:fld>
            <a:endParaRPr lang="en-US" dirty="0"/>
          </a:p>
        </p:txBody>
      </p:sp>
    </p:spTree>
    <p:extLst>
      <p:ext uri="{BB962C8B-B14F-4D97-AF65-F5344CB8AC3E}">
        <p14:creationId xmlns:p14="http://schemas.microsoft.com/office/powerpoint/2010/main" val="260506777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134</a:t>
            </a:fld>
            <a:endParaRPr lang="en-US" dirty="0"/>
          </a:p>
        </p:txBody>
      </p:sp>
    </p:spTree>
    <p:extLst>
      <p:ext uri="{BB962C8B-B14F-4D97-AF65-F5344CB8AC3E}">
        <p14:creationId xmlns:p14="http://schemas.microsoft.com/office/powerpoint/2010/main" val="6568858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135</a:t>
            </a:fld>
            <a:endParaRPr lang="en-US" dirty="0"/>
          </a:p>
        </p:txBody>
      </p:sp>
    </p:spTree>
    <p:extLst>
      <p:ext uri="{BB962C8B-B14F-4D97-AF65-F5344CB8AC3E}">
        <p14:creationId xmlns:p14="http://schemas.microsoft.com/office/powerpoint/2010/main" val="284019228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145</a:t>
            </a:fld>
            <a:endParaRPr lang="en-US" dirty="0"/>
          </a:p>
        </p:txBody>
      </p:sp>
    </p:spTree>
    <p:extLst>
      <p:ext uri="{BB962C8B-B14F-4D97-AF65-F5344CB8AC3E}">
        <p14:creationId xmlns:p14="http://schemas.microsoft.com/office/powerpoint/2010/main" val="294377502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146</a:t>
            </a:fld>
            <a:endParaRPr lang="en-US" dirty="0"/>
          </a:p>
        </p:txBody>
      </p:sp>
    </p:spTree>
    <p:extLst>
      <p:ext uri="{BB962C8B-B14F-4D97-AF65-F5344CB8AC3E}">
        <p14:creationId xmlns:p14="http://schemas.microsoft.com/office/powerpoint/2010/main" val="107037176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147</a:t>
            </a:fld>
            <a:endParaRPr lang="en-US" dirty="0"/>
          </a:p>
        </p:txBody>
      </p:sp>
    </p:spTree>
    <p:extLst>
      <p:ext uri="{BB962C8B-B14F-4D97-AF65-F5344CB8AC3E}">
        <p14:creationId xmlns:p14="http://schemas.microsoft.com/office/powerpoint/2010/main" val="115504193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148</a:t>
            </a:fld>
            <a:endParaRPr lang="en-US" dirty="0"/>
          </a:p>
        </p:txBody>
      </p:sp>
    </p:spTree>
    <p:extLst>
      <p:ext uri="{BB962C8B-B14F-4D97-AF65-F5344CB8AC3E}">
        <p14:creationId xmlns:p14="http://schemas.microsoft.com/office/powerpoint/2010/main" val="147927222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149</a:t>
            </a:fld>
            <a:endParaRPr lang="en-US" dirty="0"/>
          </a:p>
        </p:txBody>
      </p:sp>
    </p:spTree>
    <p:extLst>
      <p:ext uri="{BB962C8B-B14F-4D97-AF65-F5344CB8AC3E}">
        <p14:creationId xmlns:p14="http://schemas.microsoft.com/office/powerpoint/2010/main" val="374154330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150</a:t>
            </a:fld>
            <a:endParaRPr lang="en-US" dirty="0"/>
          </a:p>
        </p:txBody>
      </p:sp>
    </p:spTree>
    <p:extLst>
      <p:ext uri="{BB962C8B-B14F-4D97-AF65-F5344CB8AC3E}">
        <p14:creationId xmlns:p14="http://schemas.microsoft.com/office/powerpoint/2010/main" val="222620478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151</a:t>
            </a:fld>
            <a:endParaRPr lang="en-US" dirty="0"/>
          </a:p>
        </p:txBody>
      </p:sp>
    </p:spTree>
    <p:extLst>
      <p:ext uri="{BB962C8B-B14F-4D97-AF65-F5344CB8AC3E}">
        <p14:creationId xmlns:p14="http://schemas.microsoft.com/office/powerpoint/2010/main" val="364659021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152</a:t>
            </a:fld>
            <a:endParaRPr lang="en-US" dirty="0"/>
          </a:p>
        </p:txBody>
      </p:sp>
    </p:spTree>
    <p:extLst>
      <p:ext uri="{BB962C8B-B14F-4D97-AF65-F5344CB8AC3E}">
        <p14:creationId xmlns:p14="http://schemas.microsoft.com/office/powerpoint/2010/main" val="260118829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153</a:t>
            </a:fld>
            <a:endParaRPr lang="en-US" dirty="0"/>
          </a:p>
        </p:txBody>
      </p:sp>
    </p:spTree>
    <p:extLst>
      <p:ext uri="{BB962C8B-B14F-4D97-AF65-F5344CB8AC3E}">
        <p14:creationId xmlns:p14="http://schemas.microsoft.com/office/powerpoint/2010/main" val="81289759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163</a:t>
            </a:fld>
            <a:endParaRPr lang="en-US" dirty="0"/>
          </a:p>
        </p:txBody>
      </p:sp>
    </p:spTree>
    <p:extLst>
      <p:ext uri="{BB962C8B-B14F-4D97-AF65-F5344CB8AC3E}">
        <p14:creationId xmlns:p14="http://schemas.microsoft.com/office/powerpoint/2010/main" val="302320967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164</a:t>
            </a:fld>
            <a:endParaRPr lang="en-US" dirty="0"/>
          </a:p>
        </p:txBody>
      </p:sp>
    </p:spTree>
    <p:extLst>
      <p:ext uri="{BB962C8B-B14F-4D97-AF65-F5344CB8AC3E}">
        <p14:creationId xmlns:p14="http://schemas.microsoft.com/office/powerpoint/2010/main" val="40696692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165</a:t>
            </a:fld>
            <a:endParaRPr lang="en-US" dirty="0"/>
          </a:p>
        </p:txBody>
      </p:sp>
    </p:spTree>
    <p:extLst>
      <p:ext uri="{BB962C8B-B14F-4D97-AF65-F5344CB8AC3E}">
        <p14:creationId xmlns:p14="http://schemas.microsoft.com/office/powerpoint/2010/main" val="346827923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166</a:t>
            </a:fld>
            <a:endParaRPr lang="en-US" dirty="0"/>
          </a:p>
        </p:txBody>
      </p:sp>
    </p:spTree>
    <p:extLst>
      <p:ext uri="{BB962C8B-B14F-4D97-AF65-F5344CB8AC3E}">
        <p14:creationId xmlns:p14="http://schemas.microsoft.com/office/powerpoint/2010/main" val="240682885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167</a:t>
            </a:fld>
            <a:endParaRPr lang="en-US" dirty="0"/>
          </a:p>
        </p:txBody>
      </p:sp>
    </p:spTree>
    <p:extLst>
      <p:ext uri="{BB962C8B-B14F-4D97-AF65-F5344CB8AC3E}">
        <p14:creationId xmlns:p14="http://schemas.microsoft.com/office/powerpoint/2010/main" val="13700668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168</a:t>
            </a:fld>
            <a:endParaRPr lang="en-US" dirty="0"/>
          </a:p>
        </p:txBody>
      </p:sp>
    </p:spTree>
    <p:extLst>
      <p:ext uri="{BB962C8B-B14F-4D97-AF65-F5344CB8AC3E}">
        <p14:creationId xmlns:p14="http://schemas.microsoft.com/office/powerpoint/2010/main" val="405239068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169</a:t>
            </a:fld>
            <a:endParaRPr lang="en-US" dirty="0"/>
          </a:p>
        </p:txBody>
      </p:sp>
    </p:spTree>
    <p:extLst>
      <p:ext uri="{BB962C8B-B14F-4D97-AF65-F5344CB8AC3E}">
        <p14:creationId xmlns:p14="http://schemas.microsoft.com/office/powerpoint/2010/main" val="125984612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170</a:t>
            </a:fld>
            <a:endParaRPr lang="en-US" dirty="0"/>
          </a:p>
        </p:txBody>
      </p:sp>
    </p:spTree>
    <p:extLst>
      <p:ext uri="{BB962C8B-B14F-4D97-AF65-F5344CB8AC3E}">
        <p14:creationId xmlns:p14="http://schemas.microsoft.com/office/powerpoint/2010/main" val="305982129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171</a:t>
            </a:fld>
            <a:endParaRPr lang="en-US" dirty="0"/>
          </a:p>
        </p:txBody>
      </p:sp>
    </p:spTree>
    <p:extLst>
      <p:ext uri="{BB962C8B-B14F-4D97-AF65-F5344CB8AC3E}">
        <p14:creationId xmlns:p14="http://schemas.microsoft.com/office/powerpoint/2010/main" val="321792767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181</a:t>
            </a:fld>
            <a:endParaRPr lang="en-US" dirty="0"/>
          </a:p>
        </p:txBody>
      </p:sp>
    </p:spTree>
    <p:extLst>
      <p:ext uri="{BB962C8B-B14F-4D97-AF65-F5344CB8AC3E}">
        <p14:creationId xmlns:p14="http://schemas.microsoft.com/office/powerpoint/2010/main" val="266030032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182</a:t>
            </a:fld>
            <a:endParaRPr lang="en-US" dirty="0"/>
          </a:p>
        </p:txBody>
      </p:sp>
    </p:spTree>
    <p:extLst>
      <p:ext uri="{BB962C8B-B14F-4D97-AF65-F5344CB8AC3E}">
        <p14:creationId xmlns:p14="http://schemas.microsoft.com/office/powerpoint/2010/main" val="358842381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183</a:t>
            </a:fld>
            <a:endParaRPr lang="en-US" dirty="0"/>
          </a:p>
        </p:txBody>
      </p:sp>
    </p:spTree>
    <p:extLst>
      <p:ext uri="{BB962C8B-B14F-4D97-AF65-F5344CB8AC3E}">
        <p14:creationId xmlns:p14="http://schemas.microsoft.com/office/powerpoint/2010/main" val="333791947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184</a:t>
            </a:fld>
            <a:endParaRPr lang="en-US" dirty="0"/>
          </a:p>
        </p:txBody>
      </p:sp>
    </p:spTree>
    <p:extLst>
      <p:ext uri="{BB962C8B-B14F-4D97-AF65-F5344CB8AC3E}">
        <p14:creationId xmlns:p14="http://schemas.microsoft.com/office/powerpoint/2010/main" val="126596179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185</a:t>
            </a:fld>
            <a:endParaRPr lang="en-US" dirty="0"/>
          </a:p>
        </p:txBody>
      </p:sp>
    </p:spTree>
    <p:extLst>
      <p:ext uri="{BB962C8B-B14F-4D97-AF65-F5344CB8AC3E}">
        <p14:creationId xmlns:p14="http://schemas.microsoft.com/office/powerpoint/2010/main" val="101817183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186</a:t>
            </a:fld>
            <a:endParaRPr lang="en-US" dirty="0"/>
          </a:p>
        </p:txBody>
      </p:sp>
    </p:spTree>
    <p:extLst>
      <p:ext uri="{BB962C8B-B14F-4D97-AF65-F5344CB8AC3E}">
        <p14:creationId xmlns:p14="http://schemas.microsoft.com/office/powerpoint/2010/main" val="30371796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187</a:t>
            </a:fld>
            <a:endParaRPr lang="en-US" dirty="0"/>
          </a:p>
        </p:txBody>
      </p:sp>
    </p:spTree>
    <p:extLst>
      <p:ext uri="{BB962C8B-B14F-4D97-AF65-F5344CB8AC3E}">
        <p14:creationId xmlns:p14="http://schemas.microsoft.com/office/powerpoint/2010/main" val="372799856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188</a:t>
            </a:fld>
            <a:endParaRPr lang="en-US" dirty="0"/>
          </a:p>
        </p:txBody>
      </p:sp>
    </p:spTree>
    <p:extLst>
      <p:ext uri="{BB962C8B-B14F-4D97-AF65-F5344CB8AC3E}">
        <p14:creationId xmlns:p14="http://schemas.microsoft.com/office/powerpoint/2010/main" val="333321819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A7A87B0E-8739-48F7-AADE-F1C531232472}" type="slidenum">
              <a:rPr lang="en-US" smtClean="0"/>
              <a:t>189</a:t>
            </a:fld>
            <a:endParaRPr lang="en-US" dirty="0"/>
          </a:p>
        </p:txBody>
      </p:sp>
    </p:spTree>
    <p:extLst>
      <p:ext uri="{BB962C8B-B14F-4D97-AF65-F5344CB8AC3E}">
        <p14:creationId xmlns:p14="http://schemas.microsoft.com/office/powerpoint/2010/main" val="172478029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A7A87B0E-8739-48F7-AADE-F1C531232472}" type="slidenum">
              <a:rPr lang="en-US" smtClean="0"/>
              <a:t>294</a:t>
            </a:fld>
            <a:endParaRPr lang="en-US" dirty="0"/>
          </a:p>
        </p:txBody>
      </p:sp>
    </p:spTree>
    <p:extLst>
      <p:ext uri="{BB962C8B-B14F-4D97-AF65-F5344CB8AC3E}">
        <p14:creationId xmlns:p14="http://schemas.microsoft.com/office/powerpoint/2010/main" val="2437060088"/>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rgbClr val="FFFFFF"/>
        </a:solidFill>
        <a:effectLst/>
      </p:bgPr>
    </p:bg>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A0C23977-F6BF-1BE4-6D85-57D27DB65745}"/>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2540" r="6551"/>
          <a:stretch/>
        </p:blipFill>
        <p:spPr>
          <a:xfrm>
            <a:off x="0" y="-1"/>
            <a:ext cx="12192000" cy="6858000"/>
          </a:xfrm>
          <a:prstGeom prst="rect">
            <a:avLst/>
          </a:prstGeom>
        </p:spPr>
      </p:pic>
      <p:pic>
        <p:nvPicPr>
          <p:cNvPr id="17" name="Picture 1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0628811" y="117564"/>
            <a:ext cx="1563189" cy="1172392"/>
          </a:xfrm>
          <a:prstGeom prst="rect">
            <a:avLst/>
          </a:prstGeom>
        </p:spPr>
      </p:pic>
      <p:sp>
        <p:nvSpPr>
          <p:cNvPr id="20" name="Rectangle 19"/>
          <p:cNvSpPr/>
          <p:nvPr userDrawn="1"/>
        </p:nvSpPr>
        <p:spPr bwMode="gray">
          <a:xfrm>
            <a:off x="161109" y="6503175"/>
            <a:ext cx="3372718" cy="169277"/>
          </a:xfrm>
          <a:prstGeom prst="rect">
            <a:avLst/>
          </a:prstGeom>
        </p:spPr>
        <p:txBody>
          <a:bodyPr wrap="none" lIns="0" tIns="0" rIns="0" bIns="0">
            <a:spAutoFit/>
          </a:bodyPr>
          <a:lstStyle/>
          <a:p>
            <a:pPr algn="l">
              <a:spcBef>
                <a:spcPts val="200"/>
              </a:spcBef>
              <a:spcAft>
                <a:spcPts val="200"/>
              </a:spcAft>
              <a:tabLst>
                <a:tab pos="931344" algn="l"/>
              </a:tabLst>
              <a:defRPr/>
            </a:pPr>
            <a:r>
              <a:rPr lang="en-US" sz="1100" dirty="0">
                <a:solidFill>
                  <a:schemeClr val="tx1"/>
                </a:solidFill>
                <a:ea typeface="ＭＳ Ｐゴシック" charset="0"/>
              </a:rPr>
              <a:t>©2026 Transparency Market Research, All Rights Reserved</a:t>
            </a:r>
            <a:endParaRPr lang="en-GB" sz="1100" dirty="0">
              <a:solidFill>
                <a:schemeClr val="tx1"/>
              </a:solidFill>
              <a:ea typeface="ＭＳ Ｐゴシック" charset="0"/>
            </a:endParaRPr>
          </a:p>
        </p:txBody>
      </p:sp>
      <p:sp>
        <p:nvSpPr>
          <p:cNvPr id="15" name="Cover bottom line"/>
          <p:cNvSpPr/>
          <p:nvPr/>
        </p:nvSpPr>
        <p:spPr>
          <a:xfrm>
            <a:off x="8622792" y="6172200"/>
            <a:ext cx="2651760" cy="22860"/>
          </a:xfrm>
          <a:prstGeom prst="rect">
            <a:avLst/>
          </a:prstGeom>
          <a:solidFill>
            <a:srgbClr val="3F739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 name="Title 1"/>
          <p:cNvSpPr>
            <a:spLocks noGrp="1"/>
          </p:cNvSpPr>
          <p:nvPr userDrawn="1">
            <p:ph type="ctrTitle" hasCustomPrompt="1"/>
          </p:nvPr>
        </p:nvSpPr>
        <p:spPr bwMode="gray">
          <a:xfrm>
            <a:off x="2887038" y="1480455"/>
            <a:ext cx="9216989" cy="2114377"/>
          </a:xfrm>
        </p:spPr>
        <p:txBody>
          <a:bodyPr anchor="b">
            <a:noAutofit/>
          </a:bodyPr>
          <a:lstStyle>
            <a:lvl1pPr algn="l">
              <a:defRPr sz="3600" b="1">
                <a:solidFill>
                  <a:sysClr val="windowText" lastClr="000000"/>
                </a:solidFill>
                <a:latin typeface="Calibri" panose="020F0502020204030204" pitchFamily="34" charset="0"/>
                <a:cs typeface="Calibri" panose="020F0502020204030204" pitchFamily="34" charset="0"/>
              </a:defRPr>
            </a:lvl1pPr>
          </a:lstStyle>
          <a:p>
            <a:r>
              <a:rPr lang="en-US" noProof="0" dirty="0"/>
              <a:t>Click to edit Master </a:t>
            </a:r>
            <a:br>
              <a:rPr lang="en-US" noProof="0" dirty="0"/>
            </a:br>
            <a:r>
              <a:rPr lang="en-US" noProof="0" dirty="0"/>
              <a:t>title style</a:t>
            </a:r>
            <a:endParaRPr lang="en-GB" noProof="0" dirty="0"/>
          </a:p>
        </p:txBody>
      </p:sp>
      <p:sp>
        <p:nvSpPr>
          <p:cNvPr id="3" name="Subtitle 2"/>
          <p:cNvSpPr>
            <a:spLocks noGrp="1"/>
          </p:cNvSpPr>
          <p:nvPr userDrawn="1">
            <p:ph type="subTitle" idx="1"/>
          </p:nvPr>
        </p:nvSpPr>
        <p:spPr bwMode="gray">
          <a:xfrm>
            <a:off x="2887038" y="3612121"/>
            <a:ext cx="9216989" cy="898917"/>
          </a:xfrm>
        </p:spPr>
        <p:txBody>
          <a:bodyPr>
            <a:noAutofit/>
          </a:bodyPr>
          <a:lstStyle>
            <a:lvl1pPr marL="0" indent="0" algn="l">
              <a:buNone/>
              <a:defRPr sz="1800">
                <a:solidFill>
                  <a:sysClr val="windowText" lastClr="000000"/>
                </a:solidFill>
                <a:latin typeface="Calibri" panose="020F0502020204030204" pitchFamily="34" charset="0"/>
                <a:cs typeface="Calibri" panose="020F0502020204030204" pitchFamily="34" charset="0"/>
              </a:defRPr>
            </a:lvl1pPr>
            <a:lvl2pPr marL="457196" indent="0" algn="ctr">
              <a:buNone/>
              <a:defRPr sz="2000"/>
            </a:lvl2pPr>
            <a:lvl3pPr marL="914391" indent="0" algn="ctr">
              <a:buNone/>
              <a:defRPr sz="1800"/>
            </a:lvl3pPr>
            <a:lvl4pPr marL="1371587" indent="0" algn="ctr">
              <a:buNone/>
              <a:defRPr sz="1600"/>
            </a:lvl4pPr>
            <a:lvl5pPr marL="1828783" indent="0" algn="ctr">
              <a:buNone/>
              <a:defRPr sz="1600"/>
            </a:lvl5pPr>
            <a:lvl6pPr marL="2285978" indent="0" algn="ctr">
              <a:buNone/>
              <a:defRPr sz="1600"/>
            </a:lvl6pPr>
            <a:lvl7pPr marL="2743174" indent="0" algn="ctr">
              <a:buNone/>
              <a:defRPr sz="1600"/>
            </a:lvl7pPr>
            <a:lvl8pPr marL="3200370" indent="0" algn="ctr">
              <a:buNone/>
              <a:defRPr sz="1600"/>
            </a:lvl8pPr>
            <a:lvl9pPr marL="3657565" indent="0" algn="ctr">
              <a:buNone/>
              <a:defRPr sz="1600"/>
            </a:lvl9pPr>
          </a:lstStyle>
          <a:p>
            <a:r>
              <a:rPr lang="en-US" noProof="0" dirty="0"/>
              <a:t>Click to edit Master subtitle style</a:t>
            </a:r>
            <a:endParaRPr lang="en-GB" noProof="0" dirty="0"/>
          </a:p>
        </p:txBody>
      </p:sp>
    </p:spTree>
    <p:extLst>
      <p:ext uri="{BB962C8B-B14F-4D97-AF65-F5344CB8AC3E}">
        <p14:creationId xmlns:p14="http://schemas.microsoft.com/office/powerpoint/2010/main" val="1285309565"/>
      </p:ext>
    </p:extLst>
  </p:cSld>
  <p:clrMapOvr>
    <a:masterClrMapping/>
  </p:clrMapOvr>
  <p:extLst>
    <p:ext uri="{DCECCB84-F9BA-43D5-87BE-67443E8EF086}">
      <p15:sldGuideLst xmlns:p15="http://schemas.microsoft.com/office/powerpoint/2012/main">
        <p15:guide id="1" orient="horz" pos="72" userDrawn="1">
          <p15:clr>
            <a:srgbClr val="FBAE40"/>
          </p15:clr>
        </p15:guide>
        <p15:guide id="2" pos="96" userDrawn="1">
          <p15:clr>
            <a:srgbClr val="FBAE40"/>
          </p15:clr>
        </p15:guide>
        <p15:guide id="5" orient="horz" pos="403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Section Header">
    <p:bg>
      <p:bgPr>
        <a:solidFill>
          <a:srgbClr val="FFFFFF"/>
        </a:solidFill>
        <a:effectLst/>
      </p:bgPr>
    </p:bg>
    <p:spTree>
      <p:nvGrpSpPr>
        <p:cNvPr id="1" name=""/>
        <p:cNvGrpSpPr/>
        <p:nvPr/>
      </p:nvGrpSpPr>
      <p:grpSpPr>
        <a:xfrm>
          <a:off x="0" y="0"/>
          <a:ext cx="0" cy="0"/>
          <a:chOff x="0" y="0"/>
          <a:chExt cx="0" cy="0"/>
        </a:xfrm>
      </p:grpSpPr>
      <p:pic>
        <p:nvPicPr>
          <p:cNvPr id="13" name="Picture 12">
            <a:extLst>
              <a:ext uri="{FF2B5EF4-FFF2-40B4-BE49-F238E27FC236}">
                <a16:creationId xmlns:a16="http://schemas.microsoft.com/office/drawing/2014/main" id="{0F0A3600-A4B9-8975-5C54-D0E796654B7C}"/>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9091"/>
          <a:stretch/>
        </p:blipFill>
        <p:spPr>
          <a:xfrm>
            <a:off x="0" y="0"/>
            <a:ext cx="12192000" cy="6858000"/>
          </a:xfrm>
          <a:prstGeom prst="rect">
            <a:avLst/>
          </a:prstGeom>
        </p:spPr>
      </p:pic>
      <p:sp>
        <p:nvSpPr>
          <p:cNvPr id="27"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
        <p:nvSpPr>
          <p:cNvPr id="16" name="Title 1"/>
          <p:cNvSpPr>
            <a:spLocks noGrp="1"/>
          </p:cNvSpPr>
          <p:nvPr>
            <p:ph type="title"/>
          </p:nvPr>
        </p:nvSpPr>
        <p:spPr bwMode="gray">
          <a:xfrm>
            <a:off x="152400" y="1143000"/>
            <a:ext cx="11887584" cy="1097280"/>
          </a:xfrm>
          <a:noFill/>
          <a:ln>
            <a:noFill/>
          </a:ln>
        </p:spPr>
        <p:txBody>
          <a:bodyPr anchor="b">
            <a:noAutofit/>
          </a:bodyPr>
          <a:lstStyle>
            <a:lvl1pPr algn="l">
              <a:defRPr sz="2000" b="0">
                <a:latin typeface="+mn-lt"/>
              </a:defRPr>
            </a:lvl1pPr>
          </a:lstStyle>
          <a:p>
            <a:r>
              <a:rPr lang="en-US" noProof="0" dirty="0"/>
              <a:t>Click to edit Master title style</a:t>
            </a:r>
            <a:endParaRPr lang="en-GB" noProof="0" dirty="0"/>
          </a:p>
        </p:txBody>
      </p:sp>
      <p:sp>
        <p:nvSpPr>
          <p:cNvPr id="18" name="Text Placeholder 2"/>
          <p:cNvSpPr>
            <a:spLocks noGrp="1"/>
          </p:cNvSpPr>
          <p:nvPr>
            <p:ph type="body" idx="1"/>
          </p:nvPr>
        </p:nvSpPr>
        <p:spPr bwMode="gray">
          <a:xfrm>
            <a:off x="152400" y="2250648"/>
            <a:ext cx="11887200" cy="1276323"/>
          </a:xfrm>
        </p:spPr>
        <p:txBody>
          <a:bodyPr>
            <a:noAutofit/>
          </a:bodyPr>
          <a:lstStyle>
            <a:lvl1pPr marL="0" indent="0" algn="l">
              <a:buNone/>
              <a:defRPr sz="2500" b="1">
                <a:solidFill>
                  <a:schemeClr val="tx1"/>
                </a:solidFill>
                <a:latin typeface="+mn-lt"/>
              </a:defRPr>
            </a:lvl1pPr>
            <a:lvl2pPr marL="457196" indent="0">
              <a:buNone/>
              <a:defRPr sz="2000">
                <a:solidFill>
                  <a:schemeClr val="tx1">
                    <a:tint val="75000"/>
                  </a:schemeClr>
                </a:solidFill>
              </a:defRPr>
            </a:lvl2pPr>
            <a:lvl3pPr marL="914391" indent="0">
              <a:buNone/>
              <a:defRPr sz="1800">
                <a:solidFill>
                  <a:schemeClr val="tx1">
                    <a:tint val="75000"/>
                  </a:schemeClr>
                </a:solidFill>
              </a:defRPr>
            </a:lvl3pPr>
            <a:lvl4pPr marL="1371587" indent="0">
              <a:buNone/>
              <a:defRPr sz="1600">
                <a:solidFill>
                  <a:schemeClr val="tx1">
                    <a:tint val="75000"/>
                  </a:schemeClr>
                </a:solidFill>
              </a:defRPr>
            </a:lvl4pPr>
            <a:lvl5pPr marL="1828783" indent="0">
              <a:buNone/>
              <a:defRPr sz="1600">
                <a:solidFill>
                  <a:schemeClr val="tx1">
                    <a:tint val="75000"/>
                  </a:schemeClr>
                </a:solidFill>
              </a:defRPr>
            </a:lvl5pPr>
            <a:lvl6pPr marL="2285978" indent="0">
              <a:buNone/>
              <a:defRPr sz="1600">
                <a:solidFill>
                  <a:schemeClr val="tx1">
                    <a:tint val="75000"/>
                  </a:schemeClr>
                </a:solidFill>
              </a:defRPr>
            </a:lvl6pPr>
            <a:lvl7pPr marL="2743174" indent="0">
              <a:buNone/>
              <a:defRPr sz="1600">
                <a:solidFill>
                  <a:schemeClr val="tx1">
                    <a:tint val="75000"/>
                  </a:schemeClr>
                </a:solidFill>
              </a:defRPr>
            </a:lvl7pPr>
            <a:lvl8pPr marL="3200370" indent="0">
              <a:buNone/>
              <a:defRPr sz="1600">
                <a:solidFill>
                  <a:schemeClr val="tx1">
                    <a:tint val="75000"/>
                  </a:schemeClr>
                </a:solidFill>
              </a:defRPr>
            </a:lvl8pPr>
            <a:lvl9pPr marL="3657565" indent="0">
              <a:buNone/>
              <a:defRPr sz="1600">
                <a:solidFill>
                  <a:schemeClr val="tx1">
                    <a:tint val="75000"/>
                  </a:schemeClr>
                </a:solidFill>
              </a:defRPr>
            </a:lvl9pPr>
          </a:lstStyle>
          <a:p>
            <a:pPr lvl="0"/>
            <a:r>
              <a:rPr lang="en-US" noProof="0" dirty="0"/>
              <a:t>Click to edit Master text styles</a:t>
            </a:r>
          </a:p>
        </p:txBody>
      </p:sp>
      <p:pic>
        <p:nvPicPr>
          <p:cNvPr id="24" name="Picture 2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0476411" y="117564"/>
            <a:ext cx="1563189" cy="1172392"/>
          </a:xfrm>
          <a:prstGeom prst="rect">
            <a:avLst/>
          </a:prstGeom>
        </p:spPr>
      </p:pic>
      <p:sp>
        <p:nvSpPr>
          <p:cNvPr id="26" name="Rectangle 25"/>
          <p:cNvSpPr/>
          <p:nvPr userDrawn="1"/>
        </p:nvSpPr>
        <p:spPr bwMode="gray">
          <a:xfrm>
            <a:off x="161109" y="6503175"/>
            <a:ext cx="3372718" cy="169277"/>
          </a:xfrm>
          <a:prstGeom prst="rect">
            <a:avLst/>
          </a:prstGeom>
        </p:spPr>
        <p:txBody>
          <a:bodyPr wrap="none" lIns="0" tIns="0" rIns="0" bIns="0">
            <a:spAutoFit/>
          </a:bodyPr>
          <a:lstStyle/>
          <a:p>
            <a:pPr algn="l">
              <a:spcBef>
                <a:spcPts val="200"/>
              </a:spcBef>
              <a:spcAft>
                <a:spcPts val="200"/>
              </a:spcAft>
              <a:tabLst>
                <a:tab pos="931344" algn="l"/>
              </a:tabLst>
              <a:defRPr/>
            </a:pPr>
            <a:r>
              <a:rPr lang="en-US" sz="1100" dirty="0">
                <a:solidFill>
                  <a:schemeClr val="tx1"/>
                </a:solidFill>
                <a:ea typeface="ＭＳ Ｐゴシック" charset="0"/>
              </a:rPr>
              <a:t>©2026 Transparency Market Research, All Rights Reserved</a:t>
            </a:r>
            <a:endParaRPr lang="en-GB" sz="1100" dirty="0">
              <a:solidFill>
                <a:schemeClr val="tx1"/>
              </a:solidFill>
              <a:ea typeface="ＭＳ Ｐゴシック" charset="0"/>
            </a:endParaRPr>
          </a:p>
        </p:txBody>
      </p:sp>
      <p:sp>
        <p:nvSpPr>
          <p:cNvPr id="6" name="Section - underline"/>
          <p:cNvSpPr/>
          <p:nvPr/>
        </p:nvSpPr>
        <p:spPr>
          <a:xfrm>
            <a:off x="676656" y="5888736"/>
            <a:ext cx="6766560" cy="20116"/>
          </a:xfrm>
          <a:prstGeom prst="rect">
            <a:avLst/>
          </a:prstGeom>
          <a:solidFill>
            <a:srgbClr val="DDE7E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3"/>
          <p:cNvSpPr txBox="1"/>
          <p:nvPr/>
        </p:nvSpPr>
        <p:spPr>
          <a:xfrm>
            <a:off x="8732958" y="6572250"/>
            <a:ext cx="2880360" cy="228600"/>
          </a:xfrm>
          <a:prstGeom prst="rect">
            <a:avLst/>
          </a:prstGeom>
          <a:noFill/>
        </p:spPr>
        <p:txBody>
          <a:bodyPr wrap="square" lIns="0" tIns="0" rIns="0" bIns="0">
            <a:spAutoFit/>
          </a:bodyPr>
          <a:lstStyle/>
          <a:p>
            <a:pPr>
              <a:defRPr sz="800" b="1">
                <a:solidFill>
                  <a:srgbClr val="B4DCE6"/>
                </a:solidFill>
                <a:latin typeface="Aptos Display"/>
              </a:defRPr>
            </a:pPr>
            <a:r>
              <a:rPr dirty="0"/>
              <a:t>RESEARCH  /  INTELLIGENCE  /  ADVISORY</a:t>
            </a:r>
          </a:p>
        </p:txBody>
      </p:sp>
    </p:spTree>
    <p:extLst>
      <p:ext uri="{BB962C8B-B14F-4D97-AF65-F5344CB8AC3E}">
        <p14:creationId xmlns:p14="http://schemas.microsoft.com/office/powerpoint/2010/main" val="641346208"/>
      </p:ext>
    </p:extLst>
  </p:cSld>
  <p:clrMapOvr>
    <a:masterClrMapping/>
  </p:clrMapOvr>
  <p:extLst>
    <p:ext uri="{DCECCB84-F9BA-43D5-87BE-67443E8EF086}">
      <p15:sldGuideLst xmlns:p15="http://schemas.microsoft.com/office/powerpoint/2012/main">
        <p15:guide id="1" orient="horz" pos="72" userDrawn="1">
          <p15:clr>
            <a:srgbClr val="FBAE40"/>
          </p15:clr>
        </p15:guide>
        <p15:guide id="2" pos="96" userDrawn="1">
          <p15:clr>
            <a:srgbClr val="FBAE40"/>
          </p15:clr>
        </p15:guide>
        <p15:guide id="4" orient="horz" pos="4248" userDrawn="1">
          <p15:clr>
            <a:srgbClr val="FBAE40"/>
          </p15:clr>
        </p15:guide>
        <p15:guide id="5" orient="horz" pos="4008"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bg>
      <p:bgPr>
        <a:solidFill>
          <a:srgbClr val="FFFFFF"/>
        </a:solidFill>
        <a:effectLst/>
      </p:bgPr>
    </p:bg>
    <p:spTree>
      <p:nvGrpSpPr>
        <p:cNvPr id="1" name=""/>
        <p:cNvGrpSpPr/>
        <p:nvPr/>
      </p:nvGrpSpPr>
      <p:grpSpPr>
        <a:xfrm>
          <a:off x="0" y="0"/>
          <a:ext cx="0" cy="0"/>
          <a:chOff x="0" y="0"/>
          <a:chExt cx="0" cy="0"/>
        </a:xfrm>
      </p:grpSpPr>
      <p:pic>
        <p:nvPicPr>
          <p:cNvPr id="19" name="Picture 18">
            <a:extLst>
              <a:ext uri="{FF2B5EF4-FFF2-40B4-BE49-F238E27FC236}">
                <a16:creationId xmlns:a16="http://schemas.microsoft.com/office/drawing/2014/main" id="{BC70738C-E687-915A-F016-0AB84736EDAA}"/>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9091"/>
          <a:stretch/>
        </p:blipFill>
        <p:spPr>
          <a:xfrm>
            <a:off x="0" y="0"/>
            <a:ext cx="12192000" cy="6858000"/>
          </a:xfrm>
          <a:prstGeom prst="rect">
            <a:avLst/>
          </a:prstGeom>
        </p:spPr>
      </p:pic>
      <p:sp>
        <p:nvSpPr>
          <p:cNvPr id="2" name="Title 1"/>
          <p:cNvSpPr>
            <a:spLocks noGrp="1"/>
          </p:cNvSpPr>
          <p:nvPr>
            <p:ph type="title"/>
          </p:nvPr>
        </p:nvSpPr>
        <p:spPr bwMode="gray">
          <a:xfrm>
            <a:off x="78152" y="3819317"/>
            <a:ext cx="6588247" cy="1097280"/>
          </a:xfrm>
          <a:noFill/>
          <a:ln>
            <a:noFill/>
          </a:ln>
        </p:spPr>
        <p:txBody>
          <a:bodyPr anchor="b">
            <a:noAutofit/>
          </a:bodyPr>
          <a:lstStyle>
            <a:lvl1pPr algn="r">
              <a:defRPr sz="2000" b="0">
                <a:latin typeface="+mn-lt"/>
              </a:defRPr>
            </a:lvl1pPr>
          </a:lstStyle>
          <a:p>
            <a:r>
              <a:rPr lang="en-US" noProof="0" dirty="0"/>
              <a:t>Click to edit Master title style</a:t>
            </a:r>
            <a:endParaRPr lang="en-GB" noProof="0" dirty="0"/>
          </a:p>
        </p:txBody>
      </p:sp>
      <p:sp>
        <p:nvSpPr>
          <p:cNvPr id="3" name="Text Placeholder 2"/>
          <p:cNvSpPr>
            <a:spLocks noGrp="1"/>
          </p:cNvSpPr>
          <p:nvPr>
            <p:ph type="body" idx="1"/>
          </p:nvPr>
        </p:nvSpPr>
        <p:spPr bwMode="gray">
          <a:xfrm>
            <a:off x="78168" y="4926965"/>
            <a:ext cx="6588034" cy="1280160"/>
          </a:xfrm>
        </p:spPr>
        <p:txBody>
          <a:bodyPr>
            <a:noAutofit/>
          </a:bodyPr>
          <a:lstStyle>
            <a:lvl1pPr marL="0" indent="0" algn="r">
              <a:buNone/>
              <a:defRPr sz="2500" b="1">
                <a:solidFill>
                  <a:schemeClr val="tx1"/>
                </a:solidFill>
                <a:latin typeface="+mn-lt"/>
              </a:defRPr>
            </a:lvl1pPr>
            <a:lvl2pPr marL="457196" indent="0">
              <a:buNone/>
              <a:defRPr sz="2000">
                <a:solidFill>
                  <a:schemeClr val="tx1">
                    <a:tint val="75000"/>
                  </a:schemeClr>
                </a:solidFill>
              </a:defRPr>
            </a:lvl2pPr>
            <a:lvl3pPr marL="914391" indent="0">
              <a:buNone/>
              <a:defRPr sz="1800">
                <a:solidFill>
                  <a:schemeClr val="tx1">
                    <a:tint val="75000"/>
                  </a:schemeClr>
                </a:solidFill>
              </a:defRPr>
            </a:lvl3pPr>
            <a:lvl4pPr marL="1371587" indent="0">
              <a:buNone/>
              <a:defRPr sz="1600">
                <a:solidFill>
                  <a:schemeClr val="tx1">
                    <a:tint val="75000"/>
                  </a:schemeClr>
                </a:solidFill>
              </a:defRPr>
            </a:lvl4pPr>
            <a:lvl5pPr marL="1828783" indent="0">
              <a:buNone/>
              <a:defRPr sz="1600">
                <a:solidFill>
                  <a:schemeClr val="tx1">
                    <a:tint val="75000"/>
                  </a:schemeClr>
                </a:solidFill>
              </a:defRPr>
            </a:lvl5pPr>
            <a:lvl6pPr marL="2285978" indent="0">
              <a:buNone/>
              <a:defRPr sz="1600">
                <a:solidFill>
                  <a:schemeClr val="tx1">
                    <a:tint val="75000"/>
                  </a:schemeClr>
                </a:solidFill>
              </a:defRPr>
            </a:lvl6pPr>
            <a:lvl7pPr marL="2743174" indent="0">
              <a:buNone/>
              <a:defRPr sz="1600">
                <a:solidFill>
                  <a:schemeClr val="tx1">
                    <a:tint val="75000"/>
                  </a:schemeClr>
                </a:solidFill>
              </a:defRPr>
            </a:lvl7pPr>
            <a:lvl8pPr marL="3200370" indent="0">
              <a:buNone/>
              <a:defRPr sz="1600">
                <a:solidFill>
                  <a:schemeClr val="tx1">
                    <a:tint val="75000"/>
                  </a:schemeClr>
                </a:solidFill>
              </a:defRPr>
            </a:lvl8pPr>
            <a:lvl9pPr marL="3657565" indent="0">
              <a:buNone/>
              <a:defRPr sz="1600">
                <a:solidFill>
                  <a:schemeClr val="tx1">
                    <a:tint val="75000"/>
                  </a:schemeClr>
                </a:solidFill>
              </a:defRPr>
            </a:lvl9pPr>
          </a:lstStyle>
          <a:p>
            <a:pPr lvl="0"/>
            <a:r>
              <a:rPr lang="en-US" noProof="0" dirty="0"/>
              <a:t>Click to edit Master text styles</a:t>
            </a:r>
          </a:p>
        </p:txBody>
      </p:sp>
      <p:sp>
        <p:nvSpPr>
          <p:cNvPr id="24"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
        <p:nvSpPr>
          <p:cNvPr id="33" name="Rectangle 32"/>
          <p:cNvSpPr/>
          <p:nvPr userDrawn="1"/>
        </p:nvSpPr>
        <p:spPr bwMode="gray">
          <a:xfrm>
            <a:off x="161109" y="6503175"/>
            <a:ext cx="3372718" cy="169277"/>
          </a:xfrm>
          <a:prstGeom prst="rect">
            <a:avLst/>
          </a:prstGeom>
        </p:spPr>
        <p:txBody>
          <a:bodyPr wrap="none" lIns="0" tIns="0" rIns="0" bIns="0">
            <a:spAutoFit/>
          </a:bodyPr>
          <a:lstStyle/>
          <a:p>
            <a:pPr algn="l">
              <a:spcBef>
                <a:spcPts val="200"/>
              </a:spcBef>
              <a:spcAft>
                <a:spcPts val="200"/>
              </a:spcAft>
              <a:tabLst>
                <a:tab pos="931344" algn="l"/>
              </a:tabLst>
              <a:defRPr/>
            </a:pPr>
            <a:r>
              <a:rPr lang="en-US" sz="1100" dirty="0">
                <a:solidFill>
                  <a:schemeClr val="tx1"/>
                </a:solidFill>
                <a:ea typeface="ＭＳ Ｐゴシック" charset="0"/>
              </a:rPr>
              <a:t>©2026 Transparency Market Research, All Rights Reserved</a:t>
            </a:r>
            <a:endParaRPr lang="en-GB" sz="1100" dirty="0">
              <a:solidFill>
                <a:schemeClr val="tx1"/>
              </a:solidFill>
              <a:ea typeface="ＭＳ Ｐゴシック" charset="0"/>
            </a:endParaRPr>
          </a:p>
        </p:txBody>
      </p:sp>
      <p:sp>
        <p:nvSpPr>
          <p:cNvPr id="8" name="Section - underline"/>
          <p:cNvSpPr/>
          <p:nvPr/>
        </p:nvSpPr>
        <p:spPr>
          <a:xfrm>
            <a:off x="676656" y="5888736"/>
            <a:ext cx="6766560" cy="20116"/>
          </a:xfrm>
          <a:prstGeom prst="rect">
            <a:avLst/>
          </a:prstGeom>
          <a:solidFill>
            <a:srgbClr val="DDE7E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3"/>
          <p:cNvSpPr txBox="1"/>
          <p:nvPr/>
        </p:nvSpPr>
        <p:spPr>
          <a:xfrm>
            <a:off x="8454297" y="6434804"/>
            <a:ext cx="2880360" cy="228600"/>
          </a:xfrm>
          <a:prstGeom prst="rect">
            <a:avLst/>
          </a:prstGeom>
          <a:noFill/>
        </p:spPr>
        <p:txBody>
          <a:bodyPr wrap="square" lIns="0" tIns="0" rIns="0" bIns="0">
            <a:spAutoFit/>
          </a:bodyPr>
          <a:lstStyle/>
          <a:p>
            <a:pPr>
              <a:defRPr sz="800" b="1">
                <a:solidFill>
                  <a:srgbClr val="B4DCE6"/>
                </a:solidFill>
                <a:latin typeface="Aptos Display"/>
              </a:defRPr>
            </a:pPr>
            <a:r>
              <a:rPr dirty="0"/>
              <a:t>RESEARCH  /  INTELLIGENCE  /  ADVISORY</a:t>
            </a:r>
          </a:p>
        </p:txBody>
      </p:sp>
      <p:pic>
        <p:nvPicPr>
          <p:cNvPr id="21" name="Picture 20">
            <a:extLst>
              <a:ext uri="{FF2B5EF4-FFF2-40B4-BE49-F238E27FC236}">
                <a16:creationId xmlns:a16="http://schemas.microsoft.com/office/drawing/2014/main" id="{D049053E-BFB5-C8C6-457B-5926659DD1C8}"/>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0476411" y="117564"/>
            <a:ext cx="1563189" cy="1172392"/>
          </a:xfrm>
          <a:prstGeom prst="rect">
            <a:avLst/>
          </a:prstGeom>
        </p:spPr>
      </p:pic>
    </p:spTree>
    <p:extLst>
      <p:ext uri="{BB962C8B-B14F-4D97-AF65-F5344CB8AC3E}">
        <p14:creationId xmlns:p14="http://schemas.microsoft.com/office/powerpoint/2010/main" val="286358336"/>
      </p:ext>
    </p:extLst>
  </p:cSld>
  <p:clrMapOvr>
    <a:masterClrMapping/>
  </p:clrMapOvr>
  <p:extLst>
    <p:ext uri="{DCECCB84-F9BA-43D5-87BE-67443E8EF086}">
      <p15:sldGuideLst xmlns:p15="http://schemas.microsoft.com/office/powerpoint/2012/main">
        <p15:guide id="1" orient="horz" pos="72" userDrawn="1">
          <p15:clr>
            <a:srgbClr val="FBAE40"/>
          </p15:clr>
        </p15:guide>
        <p15:guide id="2" pos="96" userDrawn="1">
          <p15:clr>
            <a:srgbClr val="FBAE40"/>
          </p15:clr>
        </p15:guide>
        <p15:guide id="4" orient="horz" pos="4248"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Comparison">
    <p:spTree>
      <p:nvGrpSpPr>
        <p:cNvPr id="1" name=""/>
        <p:cNvGrpSpPr/>
        <p:nvPr/>
      </p:nvGrpSpPr>
      <p:grpSpPr>
        <a:xfrm>
          <a:off x="0" y="0"/>
          <a:ext cx="0" cy="0"/>
          <a:chOff x="0" y="0"/>
          <a:chExt cx="0" cy="0"/>
        </a:xfrm>
      </p:grpSpPr>
      <p:sp>
        <p:nvSpPr>
          <p:cNvPr id="16" name="Title 1"/>
          <p:cNvSpPr>
            <a:spLocks noGrp="1"/>
          </p:cNvSpPr>
          <p:nvPr userDrawn="1">
            <p:ph type="title"/>
          </p:nvPr>
        </p:nvSpPr>
        <p:spPr bwMode="gray">
          <a:xfrm>
            <a:off x="152401"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7"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pic>
        <p:nvPicPr>
          <p:cNvPr id="5" name="Picture 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52400" y="1143000"/>
            <a:ext cx="1957364" cy="5064125"/>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09854815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userDrawn="1">
            <p:ph type="title"/>
          </p:nvPr>
        </p:nvSpPr>
        <p:spPr bwMode="gray">
          <a:xfrm>
            <a:off x="152399" y="152401"/>
            <a:ext cx="10515600" cy="731520"/>
          </a:xfrm>
        </p:spPr>
        <p:txBody>
          <a:bodyPr>
            <a:noAutofit/>
          </a:bodyPr>
          <a:lstStyle>
            <a:lvl1pPr>
              <a:defRPr sz="2000"/>
            </a:lvl1pPr>
          </a:lstStyle>
          <a:p>
            <a:r>
              <a:rPr lang="en-US" noProof="0" dirty="0"/>
              <a:t>Click to edit Master title style</a:t>
            </a:r>
            <a:endParaRPr lang="en-GB" noProof="0" dirty="0"/>
          </a:p>
        </p:txBody>
      </p:sp>
      <p:sp>
        <p:nvSpPr>
          <p:cNvPr id="7"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
        <p:nvSpPr>
          <p:cNvPr id="6" name="Text Placeholder 2"/>
          <p:cNvSpPr>
            <a:spLocks noGrp="1"/>
          </p:cNvSpPr>
          <p:nvPr>
            <p:ph type="body" idx="12"/>
          </p:nvPr>
        </p:nvSpPr>
        <p:spPr bwMode="gray">
          <a:xfrm>
            <a:off x="152400" y="1143000"/>
            <a:ext cx="11892072"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8" name="Freeform 7"/>
          <p:cNvSpPr/>
          <p:nvPr userDrawn="1"/>
        </p:nvSpPr>
        <p:spPr>
          <a:xfrm>
            <a:off x="157241" y="1143000"/>
            <a:ext cx="11887200"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Tree>
    <p:extLst>
      <p:ext uri="{BB962C8B-B14F-4D97-AF65-F5344CB8AC3E}">
        <p14:creationId xmlns:p14="http://schemas.microsoft.com/office/powerpoint/2010/main" val="210440183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p:cNvSpPr>
            <a:spLocks noGrp="1"/>
          </p:cNvSpPr>
          <p:nvPr userDrawn="1">
            <p:ph idx="1"/>
          </p:nvPr>
        </p:nvSpPr>
        <p:spPr bwMode="gray">
          <a:xfrm>
            <a:off x="152400" y="1613579"/>
            <a:ext cx="11887200" cy="4593546"/>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11892072"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11887200"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8"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226232234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3" name="Content Placeholder 2"/>
          <p:cNvSpPr>
            <a:spLocks noGrp="1"/>
          </p:cNvSpPr>
          <p:nvPr userDrawn="1">
            <p:ph idx="1"/>
          </p:nvPr>
        </p:nvSpPr>
        <p:spPr bwMode="gray">
          <a:xfrm>
            <a:off x="152400" y="1613579"/>
            <a:ext cx="5763491" cy="4593546"/>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0" name="Content Placeholder 2"/>
          <p:cNvSpPr>
            <a:spLocks noGrp="1"/>
          </p:cNvSpPr>
          <p:nvPr>
            <p:ph idx="13"/>
          </p:nvPr>
        </p:nvSpPr>
        <p:spPr bwMode="gray">
          <a:xfrm>
            <a:off x="6278579" y="1613579"/>
            <a:ext cx="5763491" cy="4593546"/>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4"/>
          </p:nvPr>
        </p:nvSpPr>
        <p:spPr bwMode="gray">
          <a:xfrm>
            <a:off x="6278579" y="1143000"/>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2" name="Freeform 11"/>
          <p:cNvSpPr/>
          <p:nvPr userDrawn="1"/>
        </p:nvSpPr>
        <p:spPr>
          <a:xfrm>
            <a:off x="6278579" y="1143000"/>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5"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76784783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3" name="Content Placeholder 2"/>
          <p:cNvSpPr>
            <a:spLocks noGrp="1"/>
          </p:cNvSpPr>
          <p:nvPr userDrawn="1">
            <p:ph idx="1"/>
          </p:nvPr>
        </p:nvSpPr>
        <p:spPr bwMode="gray">
          <a:xfrm>
            <a:off x="152400" y="1613579"/>
            <a:ext cx="3768436" cy="4593546"/>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3768436"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3768436"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0" name="Content Placeholder 2"/>
          <p:cNvSpPr>
            <a:spLocks noGrp="1"/>
          </p:cNvSpPr>
          <p:nvPr>
            <p:ph idx="13"/>
          </p:nvPr>
        </p:nvSpPr>
        <p:spPr bwMode="gray">
          <a:xfrm>
            <a:off x="4213015" y="1613579"/>
            <a:ext cx="3768436" cy="4593546"/>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4"/>
          </p:nvPr>
        </p:nvSpPr>
        <p:spPr bwMode="gray">
          <a:xfrm>
            <a:off x="4213015" y="1143000"/>
            <a:ext cx="3768436"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2" name="Freeform 11"/>
          <p:cNvSpPr/>
          <p:nvPr userDrawn="1"/>
        </p:nvSpPr>
        <p:spPr>
          <a:xfrm>
            <a:off x="4215436" y="1143000"/>
            <a:ext cx="3768436"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4" name="Content Placeholder 2"/>
          <p:cNvSpPr>
            <a:spLocks noGrp="1"/>
          </p:cNvSpPr>
          <p:nvPr>
            <p:ph idx="15"/>
          </p:nvPr>
        </p:nvSpPr>
        <p:spPr bwMode="gray">
          <a:xfrm>
            <a:off x="8273630" y="1613579"/>
            <a:ext cx="3768436" cy="4593546"/>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5" name="Text Placeholder 2"/>
          <p:cNvSpPr>
            <a:spLocks noGrp="1"/>
          </p:cNvSpPr>
          <p:nvPr>
            <p:ph type="body" idx="16"/>
          </p:nvPr>
        </p:nvSpPr>
        <p:spPr bwMode="gray">
          <a:xfrm>
            <a:off x="8273630" y="1143000"/>
            <a:ext cx="3768436" cy="470578"/>
          </a:xfrm>
        </p:spPr>
        <p:txBody>
          <a:bodyPr anchor="b">
            <a:noAutofit/>
          </a:bodyPr>
          <a:lstStyle>
            <a:lvl1pPr marL="0" indent="0" algn="ctr">
              <a:buNone/>
              <a:defRPr sz="11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6" name="Freeform 15"/>
          <p:cNvSpPr/>
          <p:nvPr userDrawn="1"/>
        </p:nvSpPr>
        <p:spPr>
          <a:xfrm>
            <a:off x="8273630" y="1143000"/>
            <a:ext cx="3768436"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8"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293857379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9_Title and Content">
    <p:spTree>
      <p:nvGrpSpPr>
        <p:cNvPr id="1" name=""/>
        <p:cNvGrpSpPr/>
        <p:nvPr/>
      </p:nvGrpSpPr>
      <p:grpSpPr>
        <a:xfrm>
          <a:off x="0" y="0"/>
          <a:ext cx="0" cy="0"/>
          <a:chOff x="0" y="0"/>
          <a:chExt cx="0" cy="0"/>
        </a:xfrm>
      </p:grpSpPr>
      <p:sp>
        <p:nvSpPr>
          <p:cNvPr id="3" name="Content Placeholder 2"/>
          <p:cNvSpPr>
            <a:spLocks noGrp="1"/>
          </p:cNvSpPr>
          <p:nvPr userDrawn="1">
            <p:ph idx="1"/>
          </p:nvPr>
        </p:nvSpPr>
        <p:spPr bwMode="gray">
          <a:xfrm>
            <a:off x="152400" y="1613579"/>
            <a:ext cx="3768436"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3768436"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3768436"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0" name="Content Placeholder 2"/>
          <p:cNvSpPr>
            <a:spLocks noGrp="1"/>
          </p:cNvSpPr>
          <p:nvPr>
            <p:ph idx="13"/>
          </p:nvPr>
        </p:nvSpPr>
        <p:spPr bwMode="gray">
          <a:xfrm>
            <a:off x="4211782" y="1613579"/>
            <a:ext cx="3768436"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4"/>
          </p:nvPr>
        </p:nvSpPr>
        <p:spPr bwMode="gray">
          <a:xfrm>
            <a:off x="4211782" y="1143000"/>
            <a:ext cx="3768436"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2" name="Freeform 11"/>
          <p:cNvSpPr/>
          <p:nvPr userDrawn="1"/>
        </p:nvSpPr>
        <p:spPr>
          <a:xfrm>
            <a:off x="4214203" y="1143000"/>
            <a:ext cx="3768436"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4" name="Content Placeholder 2"/>
          <p:cNvSpPr>
            <a:spLocks noGrp="1"/>
          </p:cNvSpPr>
          <p:nvPr>
            <p:ph idx="15"/>
          </p:nvPr>
        </p:nvSpPr>
        <p:spPr bwMode="gray">
          <a:xfrm>
            <a:off x="8271164" y="1613579"/>
            <a:ext cx="3768436"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5" name="Text Placeholder 2"/>
          <p:cNvSpPr>
            <a:spLocks noGrp="1"/>
          </p:cNvSpPr>
          <p:nvPr>
            <p:ph type="body" idx="16"/>
          </p:nvPr>
        </p:nvSpPr>
        <p:spPr bwMode="gray">
          <a:xfrm>
            <a:off x="8271164" y="1143000"/>
            <a:ext cx="3768436"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6" name="Freeform 15"/>
          <p:cNvSpPr/>
          <p:nvPr userDrawn="1"/>
        </p:nvSpPr>
        <p:spPr>
          <a:xfrm>
            <a:off x="8271164" y="1143000"/>
            <a:ext cx="3768436"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8"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
        <p:nvSpPr>
          <p:cNvPr id="28" name="Content Placeholder 2"/>
          <p:cNvSpPr>
            <a:spLocks noGrp="1"/>
          </p:cNvSpPr>
          <p:nvPr>
            <p:ph idx="17"/>
          </p:nvPr>
        </p:nvSpPr>
        <p:spPr bwMode="gray">
          <a:xfrm>
            <a:off x="152400" y="4243342"/>
            <a:ext cx="3768436"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9" name="Text Placeholder 2"/>
          <p:cNvSpPr>
            <a:spLocks noGrp="1"/>
          </p:cNvSpPr>
          <p:nvPr>
            <p:ph type="body" idx="18"/>
          </p:nvPr>
        </p:nvSpPr>
        <p:spPr bwMode="gray">
          <a:xfrm>
            <a:off x="152400" y="3772763"/>
            <a:ext cx="3768436"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30" name="Freeform 29"/>
          <p:cNvSpPr/>
          <p:nvPr userDrawn="1"/>
        </p:nvSpPr>
        <p:spPr>
          <a:xfrm>
            <a:off x="157241" y="3772763"/>
            <a:ext cx="3768436"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31" name="Content Placeholder 2"/>
          <p:cNvSpPr>
            <a:spLocks noGrp="1"/>
          </p:cNvSpPr>
          <p:nvPr>
            <p:ph idx="19"/>
          </p:nvPr>
        </p:nvSpPr>
        <p:spPr bwMode="gray">
          <a:xfrm>
            <a:off x="4211782" y="4243342"/>
            <a:ext cx="3768436"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32" name="Text Placeholder 2"/>
          <p:cNvSpPr>
            <a:spLocks noGrp="1"/>
          </p:cNvSpPr>
          <p:nvPr>
            <p:ph type="body" idx="20"/>
          </p:nvPr>
        </p:nvSpPr>
        <p:spPr bwMode="gray">
          <a:xfrm>
            <a:off x="4211782" y="3772763"/>
            <a:ext cx="3768436"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33" name="Freeform 32"/>
          <p:cNvSpPr/>
          <p:nvPr userDrawn="1"/>
        </p:nvSpPr>
        <p:spPr>
          <a:xfrm>
            <a:off x="4214203" y="3772763"/>
            <a:ext cx="3768436"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34" name="Content Placeholder 2"/>
          <p:cNvSpPr>
            <a:spLocks noGrp="1"/>
          </p:cNvSpPr>
          <p:nvPr>
            <p:ph idx="21"/>
          </p:nvPr>
        </p:nvSpPr>
        <p:spPr bwMode="gray">
          <a:xfrm>
            <a:off x="8271164" y="4243342"/>
            <a:ext cx="3768436"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35" name="Text Placeholder 2"/>
          <p:cNvSpPr>
            <a:spLocks noGrp="1"/>
          </p:cNvSpPr>
          <p:nvPr>
            <p:ph type="body" idx="22"/>
          </p:nvPr>
        </p:nvSpPr>
        <p:spPr bwMode="gray">
          <a:xfrm>
            <a:off x="8271164" y="3772763"/>
            <a:ext cx="3768436" cy="470578"/>
          </a:xfrm>
        </p:spPr>
        <p:txBody>
          <a:bodyPr anchor="b">
            <a:noAutofit/>
          </a:bodyPr>
          <a:lstStyle>
            <a:lvl1pPr marL="0" indent="0" algn="ctr">
              <a:buNone/>
              <a:defRPr sz="11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36" name="Freeform 35"/>
          <p:cNvSpPr/>
          <p:nvPr userDrawn="1"/>
        </p:nvSpPr>
        <p:spPr>
          <a:xfrm>
            <a:off x="8271164" y="3772763"/>
            <a:ext cx="3768436"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Tree>
    <p:extLst>
      <p:ext uri="{BB962C8B-B14F-4D97-AF65-F5344CB8AC3E}">
        <p14:creationId xmlns:p14="http://schemas.microsoft.com/office/powerpoint/2010/main" val="349654933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bwMode="gray">
          <a:xfrm>
            <a:off x="152400" y="1613579"/>
            <a:ext cx="3768436"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3768436"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3768436"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0" name="Content Placeholder 2"/>
          <p:cNvSpPr>
            <a:spLocks noGrp="1"/>
          </p:cNvSpPr>
          <p:nvPr>
            <p:ph idx="13"/>
          </p:nvPr>
        </p:nvSpPr>
        <p:spPr bwMode="gray">
          <a:xfrm>
            <a:off x="4211782" y="1613579"/>
            <a:ext cx="3768436"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4"/>
          </p:nvPr>
        </p:nvSpPr>
        <p:spPr bwMode="gray">
          <a:xfrm>
            <a:off x="4211782" y="1143000"/>
            <a:ext cx="3768436"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2" name="Freeform 11"/>
          <p:cNvSpPr/>
          <p:nvPr userDrawn="1"/>
        </p:nvSpPr>
        <p:spPr>
          <a:xfrm>
            <a:off x="4214203" y="1143000"/>
            <a:ext cx="3768436"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100"/>
          </a:p>
        </p:txBody>
      </p:sp>
      <p:sp>
        <p:nvSpPr>
          <p:cNvPr id="14" name="Content Placeholder 2"/>
          <p:cNvSpPr>
            <a:spLocks noGrp="1"/>
          </p:cNvSpPr>
          <p:nvPr>
            <p:ph idx="15"/>
          </p:nvPr>
        </p:nvSpPr>
        <p:spPr bwMode="gray">
          <a:xfrm>
            <a:off x="8271164" y="1613579"/>
            <a:ext cx="3768436"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5" name="Text Placeholder 2"/>
          <p:cNvSpPr>
            <a:spLocks noGrp="1"/>
          </p:cNvSpPr>
          <p:nvPr>
            <p:ph type="body" idx="16"/>
          </p:nvPr>
        </p:nvSpPr>
        <p:spPr bwMode="gray">
          <a:xfrm>
            <a:off x="8271164" y="1143000"/>
            <a:ext cx="3768436"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6" name="Freeform 15"/>
          <p:cNvSpPr/>
          <p:nvPr userDrawn="1"/>
        </p:nvSpPr>
        <p:spPr>
          <a:xfrm>
            <a:off x="8271164" y="1143000"/>
            <a:ext cx="3768436"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21"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
        <p:nvSpPr>
          <p:cNvPr id="20" name="Content Placeholder 2"/>
          <p:cNvSpPr>
            <a:spLocks noGrp="1"/>
          </p:cNvSpPr>
          <p:nvPr>
            <p:ph idx="17"/>
          </p:nvPr>
        </p:nvSpPr>
        <p:spPr bwMode="gray">
          <a:xfrm>
            <a:off x="152400" y="4243342"/>
            <a:ext cx="11887200"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2" name="Text Placeholder 2"/>
          <p:cNvSpPr>
            <a:spLocks noGrp="1"/>
          </p:cNvSpPr>
          <p:nvPr>
            <p:ph type="body" idx="18"/>
          </p:nvPr>
        </p:nvSpPr>
        <p:spPr bwMode="gray">
          <a:xfrm>
            <a:off x="152400" y="3772763"/>
            <a:ext cx="11887200"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23" name="Freeform 22"/>
          <p:cNvSpPr/>
          <p:nvPr userDrawn="1"/>
        </p:nvSpPr>
        <p:spPr>
          <a:xfrm>
            <a:off x="157241" y="3772763"/>
            <a:ext cx="11887200"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Tree>
    <p:extLst>
      <p:ext uri="{BB962C8B-B14F-4D97-AF65-F5344CB8AC3E}">
        <p14:creationId xmlns:p14="http://schemas.microsoft.com/office/powerpoint/2010/main" val="227398446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8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bwMode="gray">
          <a:xfrm>
            <a:off x="152400" y="1613579"/>
            <a:ext cx="2880360"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2880360"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2880360"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0" name="Content Placeholder 2"/>
          <p:cNvSpPr>
            <a:spLocks noGrp="1"/>
          </p:cNvSpPr>
          <p:nvPr>
            <p:ph idx="13"/>
          </p:nvPr>
        </p:nvSpPr>
        <p:spPr bwMode="gray">
          <a:xfrm>
            <a:off x="3156792" y="1613579"/>
            <a:ext cx="2880360"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4"/>
          </p:nvPr>
        </p:nvSpPr>
        <p:spPr bwMode="gray">
          <a:xfrm>
            <a:off x="3156792" y="1143000"/>
            <a:ext cx="2880360"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2" name="Freeform 11"/>
          <p:cNvSpPr/>
          <p:nvPr userDrawn="1"/>
        </p:nvSpPr>
        <p:spPr>
          <a:xfrm>
            <a:off x="3156792" y="1143000"/>
            <a:ext cx="2880360"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100"/>
          </a:p>
        </p:txBody>
      </p:sp>
      <p:sp>
        <p:nvSpPr>
          <p:cNvPr id="14" name="Content Placeholder 2"/>
          <p:cNvSpPr>
            <a:spLocks noGrp="1"/>
          </p:cNvSpPr>
          <p:nvPr>
            <p:ph idx="15"/>
          </p:nvPr>
        </p:nvSpPr>
        <p:spPr bwMode="gray">
          <a:xfrm>
            <a:off x="6161184" y="1613579"/>
            <a:ext cx="2880360"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5" name="Text Placeholder 2"/>
          <p:cNvSpPr>
            <a:spLocks noGrp="1"/>
          </p:cNvSpPr>
          <p:nvPr>
            <p:ph type="body" idx="16"/>
          </p:nvPr>
        </p:nvSpPr>
        <p:spPr bwMode="gray">
          <a:xfrm>
            <a:off x="6161184" y="1143000"/>
            <a:ext cx="2880360"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6" name="Freeform 15"/>
          <p:cNvSpPr/>
          <p:nvPr userDrawn="1"/>
        </p:nvSpPr>
        <p:spPr>
          <a:xfrm>
            <a:off x="6161184" y="1143000"/>
            <a:ext cx="2880360"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21"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
        <p:nvSpPr>
          <p:cNvPr id="20" name="Content Placeholder 2"/>
          <p:cNvSpPr>
            <a:spLocks noGrp="1"/>
          </p:cNvSpPr>
          <p:nvPr>
            <p:ph idx="19"/>
          </p:nvPr>
        </p:nvSpPr>
        <p:spPr bwMode="gray">
          <a:xfrm>
            <a:off x="9165575" y="1613579"/>
            <a:ext cx="2880360"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2" name="Text Placeholder 2"/>
          <p:cNvSpPr>
            <a:spLocks noGrp="1"/>
          </p:cNvSpPr>
          <p:nvPr>
            <p:ph type="body" idx="20"/>
          </p:nvPr>
        </p:nvSpPr>
        <p:spPr bwMode="gray">
          <a:xfrm>
            <a:off x="9165575" y="1143000"/>
            <a:ext cx="2880360"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23" name="Freeform 22"/>
          <p:cNvSpPr/>
          <p:nvPr userDrawn="1"/>
        </p:nvSpPr>
        <p:spPr>
          <a:xfrm>
            <a:off x="9165575" y="1143000"/>
            <a:ext cx="2880360"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24" name="Content Placeholder 2"/>
          <p:cNvSpPr>
            <a:spLocks noGrp="1"/>
          </p:cNvSpPr>
          <p:nvPr>
            <p:ph idx="17"/>
          </p:nvPr>
        </p:nvSpPr>
        <p:spPr bwMode="gray">
          <a:xfrm>
            <a:off x="152400" y="4243342"/>
            <a:ext cx="11887200"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6" name="Text Placeholder 2"/>
          <p:cNvSpPr>
            <a:spLocks noGrp="1"/>
          </p:cNvSpPr>
          <p:nvPr>
            <p:ph type="body" idx="18"/>
          </p:nvPr>
        </p:nvSpPr>
        <p:spPr bwMode="gray">
          <a:xfrm>
            <a:off x="152400" y="3772763"/>
            <a:ext cx="11887200"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27" name="Freeform 26"/>
          <p:cNvSpPr/>
          <p:nvPr userDrawn="1"/>
        </p:nvSpPr>
        <p:spPr>
          <a:xfrm>
            <a:off x="157241" y="3772763"/>
            <a:ext cx="11887200"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Tree>
    <p:extLst>
      <p:ext uri="{BB962C8B-B14F-4D97-AF65-F5344CB8AC3E}">
        <p14:creationId xmlns:p14="http://schemas.microsoft.com/office/powerpoint/2010/main" val="323885716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bwMode="gray">
          <a:xfrm>
            <a:off x="152400" y="1613579"/>
            <a:ext cx="3768436"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3768436"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3768436"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0" name="Content Placeholder 2"/>
          <p:cNvSpPr>
            <a:spLocks noGrp="1"/>
          </p:cNvSpPr>
          <p:nvPr>
            <p:ph idx="13"/>
          </p:nvPr>
        </p:nvSpPr>
        <p:spPr bwMode="gray">
          <a:xfrm>
            <a:off x="4178180" y="1613579"/>
            <a:ext cx="7861420"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4"/>
          </p:nvPr>
        </p:nvSpPr>
        <p:spPr bwMode="gray">
          <a:xfrm>
            <a:off x="4178180" y="1143000"/>
            <a:ext cx="7861420"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2" name="Freeform 11"/>
          <p:cNvSpPr/>
          <p:nvPr userDrawn="1"/>
        </p:nvSpPr>
        <p:spPr>
          <a:xfrm>
            <a:off x="4178180" y="1143000"/>
            <a:ext cx="7861420"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5"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
        <p:nvSpPr>
          <p:cNvPr id="14" name="Content Placeholder 2"/>
          <p:cNvSpPr>
            <a:spLocks noGrp="1"/>
          </p:cNvSpPr>
          <p:nvPr>
            <p:ph idx="17"/>
          </p:nvPr>
        </p:nvSpPr>
        <p:spPr bwMode="gray">
          <a:xfrm>
            <a:off x="152400" y="4243342"/>
            <a:ext cx="11887200"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6" name="Text Placeholder 2"/>
          <p:cNvSpPr>
            <a:spLocks noGrp="1"/>
          </p:cNvSpPr>
          <p:nvPr>
            <p:ph type="body" idx="18"/>
          </p:nvPr>
        </p:nvSpPr>
        <p:spPr bwMode="gray">
          <a:xfrm>
            <a:off x="152400" y="3772763"/>
            <a:ext cx="11887200"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20" name="Freeform 19"/>
          <p:cNvSpPr/>
          <p:nvPr userDrawn="1"/>
        </p:nvSpPr>
        <p:spPr>
          <a:xfrm>
            <a:off x="157241" y="3772763"/>
            <a:ext cx="11887200"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Tree>
    <p:extLst>
      <p:ext uri="{BB962C8B-B14F-4D97-AF65-F5344CB8AC3E}">
        <p14:creationId xmlns:p14="http://schemas.microsoft.com/office/powerpoint/2010/main" val="149115025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4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bwMode="gray">
          <a:xfrm>
            <a:off x="152400" y="1613579"/>
            <a:ext cx="3768436" cy="4593546"/>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3768436"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3768436"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0" name="Content Placeholder 2"/>
          <p:cNvSpPr>
            <a:spLocks noGrp="1"/>
          </p:cNvSpPr>
          <p:nvPr>
            <p:ph idx="13"/>
          </p:nvPr>
        </p:nvSpPr>
        <p:spPr bwMode="gray">
          <a:xfrm>
            <a:off x="4178180" y="1613579"/>
            <a:ext cx="7863840"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4"/>
          </p:nvPr>
        </p:nvSpPr>
        <p:spPr bwMode="gray">
          <a:xfrm>
            <a:off x="4178180" y="1143000"/>
            <a:ext cx="7861420"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2" name="Freeform 11"/>
          <p:cNvSpPr/>
          <p:nvPr userDrawn="1"/>
        </p:nvSpPr>
        <p:spPr>
          <a:xfrm>
            <a:off x="4178180" y="1143000"/>
            <a:ext cx="7861420"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7" name="Content Placeholder 2"/>
          <p:cNvSpPr>
            <a:spLocks noGrp="1"/>
          </p:cNvSpPr>
          <p:nvPr>
            <p:ph idx="17"/>
          </p:nvPr>
        </p:nvSpPr>
        <p:spPr bwMode="gray">
          <a:xfrm>
            <a:off x="4178178" y="4241165"/>
            <a:ext cx="7863840"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8" name="Text Placeholder 2"/>
          <p:cNvSpPr>
            <a:spLocks noGrp="1"/>
          </p:cNvSpPr>
          <p:nvPr>
            <p:ph type="body" idx="18"/>
          </p:nvPr>
        </p:nvSpPr>
        <p:spPr bwMode="gray">
          <a:xfrm>
            <a:off x="4178179" y="3770586"/>
            <a:ext cx="786142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9" name="Freeform 18"/>
          <p:cNvSpPr/>
          <p:nvPr userDrawn="1"/>
        </p:nvSpPr>
        <p:spPr>
          <a:xfrm>
            <a:off x="4183021" y="3770586"/>
            <a:ext cx="786142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5"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254327407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bwMode="gray">
          <a:xfrm>
            <a:off x="152400" y="1613579"/>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0" name="Content Placeholder 2"/>
          <p:cNvSpPr>
            <a:spLocks noGrp="1"/>
          </p:cNvSpPr>
          <p:nvPr>
            <p:ph idx="13"/>
          </p:nvPr>
        </p:nvSpPr>
        <p:spPr bwMode="gray">
          <a:xfrm>
            <a:off x="6273206" y="1613579"/>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4"/>
          </p:nvPr>
        </p:nvSpPr>
        <p:spPr bwMode="gray">
          <a:xfrm>
            <a:off x="6273206" y="1143000"/>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2" name="Freeform 11"/>
          <p:cNvSpPr/>
          <p:nvPr userDrawn="1"/>
        </p:nvSpPr>
        <p:spPr>
          <a:xfrm>
            <a:off x="6273206" y="1143000"/>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7" name="Content Placeholder 2"/>
          <p:cNvSpPr>
            <a:spLocks noGrp="1"/>
          </p:cNvSpPr>
          <p:nvPr>
            <p:ph idx="17"/>
          </p:nvPr>
        </p:nvSpPr>
        <p:spPr bwMode="gray">
          <a:xfrm>
            <a:off x="152400" y="4241070"/>
            <a:ext cx="11887200"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8" name="Text Placeholder 2"/>
          <p:cNvSpPr>
            <a:spLocks noGrp="1"/>
          </p:cNvSpPr>
          <p:nvPr>
            <p:ph type="body" idx="18"/>
          </p:nvPr>
        </p:nvSpPr>
        <p:spPr bwMode="gray">
          <a:xfrm>
            <a:off x="152400" y="3770491"/>
            <a:ext cx="11887200"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9" name="Freeform 18"/>
          <p:cNvSpPr/>
          <p:nvPr userDrawn="1"/>
        </p:nvSpPr>
        <p:spPr>
          <a:xfrm>
            <a:off x="157241" y="3770491"/>
            <a:ext cx="11887200"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5"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45115935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bwMode="gray">
          <a:xfrm>
            <a:off x="152400" y="1613579"/>
            <a:ext cx="11887200"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11887200"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11887200"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7" name="Content Placeholder 2"/>
          <p:cNvSpPr>
            <a:spLocks noGrp="1"/>
          </p:cNvSpPr>
          <p:nvPr>
            <p:ph idx="17"/>
          </p:nvPr>
        </p:nvSpPr>
        <p:spPr bwMode="gray">
          <a:xfrm>
            <a:off x="152400" y="4241069"/>
            <a:ext cx="11887200"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8" name="Text Placeholder 2"/>
          <p:cNvSpPr>
            <a:spLocks noGrp="1"/>
          </p:cNvSpPr>
          <p:nvPr>
            <p:ph type="body" idx="18"/>
          </p:nvPr>
        </p:nvSpPr>
        <p:spPr bwMode="gray">
          <a:xfrm>
            <a:off x="152400" y="3770490"/>
            <a:ext cx="11887200"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9" name="Freeform 18"/>
          <p:cNvSpPr/>
          <p:nvPr userDrawn="1"/>
        </p:nvSpPr>
        <p:spPr>
          <a:xfrm>
            <a:off x="157241" y="3770490"/>
            <a:ext cx="11887200"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1"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117353709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7_Title and Content">
    <p:spTree>
      <p:nvGrpSpPr>
        <p:cNvPr id="1" name=""/>
        <p:cNvGrpSpPr/>
        <p:nvPr/>
      </p:nvGrpSpPr>
      <p:grpSpPr>
        <a:xfrm>
          <a:off x="0" y="0"/>
          <a:ext cx="0" cy="0"/>
          <a:chOff x="0" y="0"/>
          <a:chExt cx="0" cy="0"/>
        </a:xfrm>
      </p:grpSpPr>
      <p:sp>
        <p:nvSpPr>
          <p:cNvPr id="3" name="Content Placeholder 2"/>
          <p:cNvSpPr>
            <a:spLocks noGrp="1"/>
          </p:cNvSpPr>
          <p:nvPr userDrawn="1">
            <p:ph idx="1"/>
          </p:nvPr>
        </p:nvSpPr>
        <p:spPr bwMode="gray">
          <a:xfrm>
            <a:off x="152400" y="1613579"/>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0" name="Content Placeholder 2"/>
          <p:cNvSpPr>
            <a:spLocks noGrp="1"/>
          </p:cNvSpPr>
          <p:nvPr>
            <p:ph idx="13"/>
          </p:nvPr>
        </p:nvSpPr>
        <p:spPr bwMode="gray">
          <a:xfrm>
            <a:off x="6278579" y="1613579"/>
            <a:ext cx="5763491" cy="4593546"/>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4"/>
          </p:nvPr>
        </p:nvSpPr>
        <p:spPr bwMode="gray">
          <a:xfrm>
            <a:off x="6278579" y="1143000"/>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2" name="Freeform 11"/>
          <p:cNvSpPr/>
          <p:nvPr userDrawn="1"/>
        </p:nvSpPr>
        <p:spPr>
          <a:xfrm>
            <a:off x="6278579" y="1143000"/>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4" name="Content Placeholder 2"/>
          <p:cNvSpPr>
            <a:spLocks noGrp="1"/>
          </p:cNvSpPr>
          <p:nvPr>
            <p:ph idx="15"/>
          </p:nvPr>
        </p:nvSpPr>
        <p:spPr bwMode="gray">
          <a:xfrm>
            <a:off x="152400" y="4242930"/>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5" name="Text Placeholder 2"/>
          <p:cNvSpPr>
            <a:spLocks noGrp="1"/>
          </p:cNvSpPr>
          <p:nvPr>
            <p:ph type="body" idx="16"/>
          </p:nvPr>
        </p:nvSpPr>
        <p:spPr bwMode="gray">
          <a:xfrm>
            <a:off x="152400" y="3772351"/>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6" name="Freeform 15"/>
          <p:cNvSpPr/>
          <p:nvPr userDrawn="1"/>
        </p:nvSpPr>
        <p:spPr>
          <a:xfrm>
            <a:off x="157241" y="3772351"/>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8"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381097318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sp>
        <p:nvSpPr>
          <p:cNvPr id="3" name="Content Placeholder 2"/>
          <p:cNvSpPr>
            <a:spLocks noGrp="1"/>
          </p:cNvSpPr>
          <p:nvPr userDrawn="1">
            <p:ph idx="1"/>
          </p:nvPr>
        </p:nvSpPr>
        <p:spPr bwMode="gray">
          <a:xfrm>
            <a:off x="152400" y="1613579"/>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4" name="Content Placeholder 2"/>
          <p:cNvSpPr>
            <a:spLocks noGrp="1"/>
          </p:cNvSpPr>
          <p:nvPr>
            <p:ph idx="15"/>
          </p:nvPr>
        </p:nvSpPr>
        <p:spPr bwMode="gray">
          <a:xfrm>
            <a:off x="152400" y="4242930"/>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5" name="Text Placeholder 2"/>
          <p:cNvSpPr>
            <a:spLocks noGrp="1"/>
          </p:cNvSpPr>
          <p:nvPr>
            <p:ph type="body" idx="16"/>
          </p:nvPr>
        </p:nvSpPr>
        <p:spPr bwMode="gray">
          <a:xfrm>
            <a:off x="152400" y="3772351"/>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6" name="Freeform 15"/>
          <p:cNvSpPr/>
          <p:nvPr userDrawn="1"/>
        </p:nvSpPr>
        <p:spPr>
          <a:xfrm>
            <a:off x="157241" y="3772351"/>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1"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364387782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0_Title and Content">
    <p:spTree>
      <p:nvGrpSpPr>
        <p:cNvPr id="1" name=""/>
        <p:cNvGrpSpPr/>
        <p:nvPr/>
      </p:nvGrpSpPr>
      <p:grpSpPr>
        <a:xfrm>
          <a:off x="0" y="0"/>
          <a:ext cx="0" cy="0"/>
          <a:chOff x="0" y="0"/>
          <a:chExt cx="0" cy="0"/>
        </a:xfrm>
      </p:grpSpPr>
      <p:sp>
        <p:nvSpPr>
          <p:cNvPr id="3" name="Content Placeholder 2"/>
          <p:cNvSpPr>
            <a:spLocks noGrp="1"/>
          </p:cNvSpPr>
          <p:nvPr userDrawn="1">
            <p:ph idx="1"/>
          </p:nvPr>
        </p:nvSpPr>
        <p:spPr bwMode="gray">
          <a:xfrm>
            <a:off x="152400" y="1613579"/>
            <a:ext cx="5763491" cy="4590288"/>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0" name="Content Placeholder 2"/>
          <p:cNvSpPr>
            <a:spLocks noGrp="1"/>
          </p:cNvSpPr>
          <p:nvPr>
            <p:ph idx="13"/>
          </p:nvPr>
        </p:nvSpPr>
        <p:spPr bwMode="gray">
          <a:xfrm>
            <a:off x="6278578" y="1613579"/>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4"/>
          </p:nvPr>
        </p:nvSpPr>
        <p:spPr bwMode="gray">
          <a:xfrm>
            <a:off x="6278578" y="1143000"/>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2" name="Freeform 11"/>
          <p:cNvSpPr/>
          <p:nvPr userDrawn="1"/>
        </p:nvSpPr>
        <p:spPr>
          <a:xfrm>
            <a:off x="6278578" y="1143000"/>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4" name="Content Placeholder 2"/>
          <p:cNvSpPr>
            <a:spLocks noGrp="1"/>
          </p:cNvSpPr>
          <p:nvPr>
            <p:ph idx="15"/>
          </p:nvPr>
        </p:nvSpPr>
        <p:spPr bwMode="gray">
          <a:xfrm>
            <a:off x="6278578" y="4242930"/>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5" name="Text Placeholder 2"/>
          <p:cNvSpPr>
            <a:spLocks noGrp="1"/>
          </p:cNvSpPr>
          <p:nvPr>
            <p:ph type="body" idx="16"/>
          </p:nvPr>
        </p:nvSpPr>
        <p:spPr bwMode="gray">
          <a:xfrm>
            <a:off x="6278578" y="3772351"/>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6" name="Freeform 15"/>
          <p:cNvSpPr/>
          <p:nvPr userDrawn="1"/>
        </p:nvSpPr>
        <p:spPr>
          <a:xfrm>
            <a:off x="6278578" y="3772351"/>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8"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41906237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10" name="Content Placeholder 2"/>
          <p:cNvSpPr>
            <a:spLocks noGrp="1"/>
          </p:cNvSpPr>
          <p:nvPr>
            <p:ph idx="13"/>
          </p:nvPr>
        </p:nvSpPr>
        <p:spPr bwMode="gray">
          <a:xfrm>
            <a:off x="6278577" y="1613579"/>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4"/>
          </p:nvPr>
        </p:nvSpPr>
        <p:spPr bwMode="gray">
          <a:xfrm>
            <a:off x="6278577" y="1143000"/>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2" name="Freeform 11"/>
          <p:cNvSpPr/>
          <p:nvPr userDrawn="1"/>
        </p:nvSpPr>
        <p:spPr>
          <a:xfrm>
            <a:off x="6278577" y="1143000"/>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7"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
        <p:nvSpPr>
          <p:cNvPr id="13" name="Content Placeholder 2"/>
          <p:cNvSpPr>
            <a:spLocks noGrp="1"/>
          </p:cNvSpPr>
          <p:nvPr>
            <p:ph idx="15"/>
          </p:nvPr>
        </p:nvSpPr>
        <p:spPr bwMode="gray">
          <a:xfrm>
            <a:off x="6278577" y="4242930"/>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8" name="Text Placeholder 2"/>
          <p:cNvSpPr>
            <a:spLocks noGrp="1"/>
          </p:cNvSpPr>
          <p:nvPr>
            <p:ph type="body" idx="16"/>
          </p:nvPr>
        </p:nvSpPr>
        <p:spPr bwMode="gray">
          <a:xfrm>
            <a:off x="6278577" y="3772351"/>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9" name="Freeform 18"/>
          <p:cNvSpPr/>
          <p:nvPr userDrawn="1"/>
        </p:nvSpPr>
        <p:spPr>
          <a:xfrm>
            <a:off x="6278577" y="3772351"/>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Tree>
    <p:extLst>
      <p:ext uri="{BB962C8B-B14F-4D97-AF65-F5344CB8AC3E}">
        <p14:creationId xmlns:p14="http://schemas.microsoft.com/office/powerpoint/2010/main" val="417777337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2_Title and Content">
    <p:spTree>
      <p:nvGrpSpPr>
        <p:cNvPr id="1" name=""/>
        <p:cNvGrpSpPr/>
        <p:nvPr/>
      </p:nvGrpSpPr>
      <p:grpSpPr>
        <a:xfrm>
          <a:off x="0" y="0"/>
          <a:ext cx="0" cy="0"/>
          <a:chOff x="0" y="0"/>
          <a:chExt cx="0" cy="0"/>
        </a:xfrm>
      </p:grpSpPr>
      <p:sp>
        <p:nvSpPr>
          <p:cNvPr id="3" name="Content Placeholder 2"/>
          <p:cNvSpPr>
            <a:spLocks noGrp="1"/>
          </p:cNvSpPr>
          <p:nvPr userDrawn="1">
            <p:ph idx="1"/>
          </p:nvPr>
        </p:nvSpPr>
        <p:spPr bwMode="gray">
          <a:xfrm>
            <a:off x="152400" y="1613579"/>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0" name="Content Placeholder 2"/>
          <p:cNvSpPr>
            <a:spLocks noGrp="1"/>
          </p:cNvSpPr>
          <p:nvPr>
            <p:ph idx="17"/>
          </p:nvPr>
        </p:nvSpPr>
        <p:spPr bwMode="gray">
          <a:xfrm>
            <a:off x="6278576" y="1613579"/>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8"/>
          </p:nvPr>
        </p:nvSpPr>
        <p:spPr bwMode="gray">
          <a:xfrm>
            <a:off x="6278576" y="1143000"/>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2" name="Freeform 11"/>
          <p:cNvSpPr/>
          <p:nvPr userDrawn="1"/>
        </p:nvSpPr>
        <p:spPr>
          <a:xfrm>
            <a:off x="6278576" y="1143000"/>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8"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
        <p:nvSpPr>
          <p:cNvPr id="17" name="Content Placeholder 2"/>
          <p:cNvSpPr>
            <a:spLocks noGrp="1"/>
          </p:cNvSpPr>
          <p:nvPr>
            <p:ph idx="15"/>
          </p:nvPr>
        </p:nvSpPr>
        <p:spPr bwMode="gray">
          <a:xfrm>
            <a:off x="152400" y="4242930"/>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9" name="Text Placeholder 2"/>
          <p:cNvSpPr>
            <a:spLocks noGrp="1"/>
          </p:cNvSpPr>
          <p:nvPr>
            <p:ph type="body" idx="16"/>
          </p:nvPr>
        </p:nvSpPr>
        <p:spPr bwMode="gray">
          <a:xfrm>
            <a:off x="152400" y="3772351"/>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20" name="Freeform 19"/>
          <p:cNvSpPr/>
          <p:nvPr userDrawn="1"/>
        </p:nvSpPr>
        <p:spPr>
          <a:xfrm>
            <a:off x="152400" y="3772351"/>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Tree>
    <p:extLst>
      <p:ext uri="{BB962C8B-B14F-4D97-AF65-F5344CB8AC3E}">
        <p14:creationId xmlns:p14="http://schemas.microsoft.com/office/powerpoint/2010/main" val="414896501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3_Title and Content">
    <p:spTree>
      <p:nvGrpSpPr>
        <p:cNvPr id="1" name=""/>
        <p:cNvGrpSpPr/>
        <p:nvPr/>
      </p:nvGrpSpPr>
      <p:grpSpPr>
        <a:xfrm>
          <a:off x="0" y="0"/>
          <a:ext cx="0" cy="0"/>
          <a:chOff x="0" y="0"/>
          <a:chExt cx="0" cy="0"/>
        </a:xfrm>
      </p:grpSpPr>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1"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
        <p:nvSpPr>
          <p:cNvPr id="20" name="Content Placeholder 2"/>
          <p:cNvSpPr>
            <a:spLocks noGrp="1"/>
          </p:cNvSpPr>
          <p:nvPr>
            <p:ph idx="1"/>
          </p:nvPr>
        </p:nvSpPr>
        <p:spPr bwMode="gray">
          <a:xfrm>
            <a:off x="152400" y="1613579"/>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2" name="Text Placeholder 2"/>
          <p:cNvSpPr>
            <a:spLocks noGrp="1"/>
          </p:cNvSpPr>
          <p:nvPr>
            <p:ph type="body" idx="12"/>
          </p:nvPr>
        </p:nvSpPr>
        <p:spPr bwMode="gray">
          <a:xfrm>
            <a:off x="152400" y="1143000"/>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23" name="Freeform 22"/>
          <p:cNvSpPr/>
          <p:nvPr userDrawn="1"/>
        </p:nvSpPr>
        <p:spPr>
          <a:xfrm>
            <a:off x="157241" y="1143000"/>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24" name="Content Placeholder 2"/>
          <p:cNvSpPr>
            <a:spLocks noGrp="1"/>
          </p:cNvSpPr>
          <p:nvPr>
            <p:ph idx="15"/>
          </p:nvPr>
        </p:nvSpPr>
        <p:spPr bwMode="gray">
          <a:xfrm>
            <a:off x="152400" y="4242930"/>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6" name="Text Placeholder 2"/>
          <p:cNvSpPr>
            <a:spLocks noGrp="1"/>
          </p:cNvSpPr>
          <p:nvPr>
            <p:ph type="body" idx="16"/>
          </p:nvPr>
        </p:nvSpPr>
        <p:spPr bwMode="gray">
          <a:xfrm>
            <a:off x="152400" y="3772351"/>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27" name="Freeform 26"/>
          <p:cNvSpPr/>
          <p:nvPr userDrawn="1"/>
        </p:nvSpPr>
        <p:spPr>
          <a:xfrm>
            <a:off x="152400" y="3772351"/>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28" name="Content Placeholder 2"/>
          <p:cNvSpPr>
            <a:spLocks noGrp="1"/>
          </p:cNvSpPr>
          <p:nvPr>
            <p:ph idx="17"/>
          </p:nvPr>
        </p:nvSpPr>
        <p:spPr bwMode="gray">
          <a:xfrm>
            <a:off x="6276109" y="1613579"/>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9" name="Text Placeholder 2"/>
          <p:cNvSpPr>
            <a:spLocks noGrp="1"/>
          </p:cNvSpPr>
          <p:nvPr>
            <p:ph type="body" idx="18"/>
          </p:nvPr>
        </p:nvSpPr>
        <p:spPr bwMode="gray">
          <a:xfrm>
            <a:off x="6276109" y="1143000"/>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30" name="Freeform 29"/>
          <p:cNvSpPr/>
          <p:nvPr userDrawn="1"/>
        </p:nvSpPr>
        <p:spPr>
          <a:xfrm>
            <a:off x="6280950" y="1143000"/>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31" name="Content Placeholder 2"/>
          <p:cNvSpPr>
            <a:spLocks noGrp="1"/>
          </p:cNvSpPr>
          <p:nvPr>
            <p:ph idx="19"/>
          </p:nvPr>
        </p:nvSpPr>
        <p:spPr bwMode="gray">
          <a:xfrm>
            <a:off x="6276109" y="4242930"/>
            <a:ext cx="5763491"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32" name="Text Placeholder 2"/>
          <p:cNvSpPr>
            <a:spLocks noGrp="1"/>
          </p:cNvSpPr>
          <p:nvPr>
            <p:ph type="body" idx="20"/>
          </p:nvPr>
        </p:nvSpPr>
        <p:spPr bwMode="gray">
          <a:xfrm>
            <a:off x="6276109" y="3772351"/>
            <a:ext cx="5763491"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33" name="Freeform 32"/>
          <p:cNvSpPr/>
          <p:nvPr userDrawn="1"/>
        </p:nvSpPr>
        <p:spPr>
          <a:xfrm>
            <a:off x="6276109" y="3772351"/>
            <a:ext cx="5763491"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Tree>
    <p:extLst>
      <p:ext uri="{BB962C8B-B14F-4D97-AF65-F5344CB8AC3E}">
        <p14:creationId xmlns:p14="http://schemas.microsoft.com/office/powerpoint/2010/main" val="153659571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5_Title and Content">
    <p:spTree>
      <p:nvGrpSpPr>
        <p:cNvPr id="1" name=""/>
        <p:cNvGrpSpPr/>
        <p:nvPr/>
      </p:nvGrpSpPr>
      <p:grpSpPr>
        <a:xfrm>
          <a:off x="0" y="0"/>
          <a:ext cx="0" cy="0"/>
          <a:chOff x="0" y="0"/>
          <a:chExt cx="0" cy="0"/>
        </a:xfrm>
      </p:grpSpPr>
      <p:sp>
        <p:nvSpPr>
          <p:cNvPr id="3" name="Content Placeholder 2"/>
          <p:cNvSpPr>
            <a:spLocks noGrp="1"/>
          </p:cNvSpPr>
          <p:nvPr userDrawn="1">
            <p:ph idx="1"/>
          </p:nvPr>
        </p:nvSpPr>
        <p:spPr bwMode="gray">
          <a:xfrm>
            <a:off x="152400" y="1613579"/>
            <a:ext cx="3879273"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152400" y="1143000"/>
            <a:ext cx="3879273"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157241" y="1143000"/>
            <a:ext cx="3879273"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4" name="Content Placeholder 2"/>
          <p:cNvSpPr>
            <a:spLocks noGrp="1"/>
          </p:cNvSpPr>
          <p:nvPr>
            <p:ph idx="15"/>
          </p:nvPr>
        </p:nvSpPr>
        <p:spPr bwMode="gray">
          <a:xfrm>
            <a:off x="152400" y="4242930"/>
            <a:ext cx="3879273"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5" name="Text Placeholder 2"/>
          <p:cNvSpPr>
            <a:spLocks noGrp="1"/>
          </p:cNvSpPr>
          <p:nvPr>
            <p:ph type="body" idx="16"/>
          </p:nvPr>
        </p:nvSpPr>
        <p:spPr bwMode="gray">
          <a:xfrm>
            <a:off x="152400" y="3772351"/>
            <a:ext cx="3879273"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6" name="Freeform 15"/>
          <p:cNvSpPr/>
          <p:nvPr userDrawn="1"/>
        </p:nvSpPr>
        <p:spPr>
          <a:xfrm>
            <a:off x="157241" y="3772351"/>
            <a:ext cx="3879273"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0" name="Content Placeholder 2"/>
          <p:cNvSpPr>
            <a:spLocks noGrp="1"/>
          </p:cNvSpPr>
          <p:nvPr>
            <p:ph idx="17"/>
          </p:nvPr>
        </p:nvSpPr>
        <p:spPr bwMode="gray">
          <a:xfrm>
            <a:off x="4344041" y="1613579"/>
            <a:ext cx="3879273"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8"/>
          </p:nvPr>
        </p:nvSpPr>
        <p:spPr bwMode="gray">
          <a:xfrm>
            <a:off x="4344041" y="1143000"/>
            <a:ext cx="3879273"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2" name="Freeform 11"/>
          <p:cNvSpPr/>
          <p:nvPr userDrawn="1"/>
        </p:nvSpPr>
        <p:spPr>
          <a:xfrm>
            <a:off x="4344041" y="1143000"/>
            <a:ext cx="3879273"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7" name="Content Placeholder 2"/>
          <p:cNvSpPr>
            <a:spLocks noGrp="1"/>
          </p:cNvSpPr>
          <p:nvPr>
            <p:ph idx="19"/>
          </p:nvPr>
        </p:nvSpPr>
        <p:spPr bwMode="gray">
          <a:xfrm>
            <a:off x="4344041" y="4242930"/>
            <a:ext cx="3879273" cy="196596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8" name="Text Placeholder 2"/>
          <p:cNvSpPr>
            <a:spLocks noGrp="1"/>
          </p:cNvSpPr>
          <p:nvPr>
            <p:ph type="body" idx="20"/>
          </p:nvPr>
        </p:nvSpPr>
        <p:spPr bwMode="gray">
          <a:xfrm>
            <a:off x="4344041" y="3772351"/>
            <a:ext cx="3879273"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9" name="Freeform 18"/>
          <p:cNvSpPr/>
          <p:nvPr userDrawn="1"/>
        </p:nvSpPr>
        <p:spPr>
          <a:xfrm>
            <a:off x="4344041" y="3772351"/>
            <a:ext cx="3879273"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20" name="Content Placeholder 2"/>
          <p:cNvSpPr>
            <a:spLocks noGrp="1"/>
          </p:cNvSpPr>
          <p:nvPr>
            <p:ph idx="21"/>
          </p:nvPr>
        </p:nvSpPr>
        <p:spPr bwMode="gray">
          <a:xfrm>
            <a:off x="8530840" y="1613579"/>
            <a:ext cx="3508759" cy="4590288"/>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1" name="Text Placeholder 2"/>
          <p:cNvSpPr>
            <a:spLocks noGrp="1"/>
          </p:cNvSpPr>
          <p:nvPr>
            <p:ph type="body" idx="22"/>
          </p:nvPr>
        </p:nvSpPr>
        <p:spPr bwMode="gray">
          <a:xfrm>
            <a:off x="8530840" y="1143000"/>
            <a:ext cx="3508759"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22" name="Freeform 21"/>
          <p:cNvSpPr/>
          <p:nvPr userDrawn="1"/>
        </p:nvSpPr>
        <p:spPr>
          <a:xfrm>
            <a:off x="8530840" y="1143000"/>
            <a:ext cx="3508759"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24"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195955516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6_Title and Content">
    <p:spTree>
      <p:nvGrpSpPr>
        <p:cNvPr id="1" name=""/>
        <p:cNvGrpSpPr/>
        <p:nvPr/>
      </p:nvGrpSpPr>
      <p:grpSpPr>
        <a:xfrm>
          <a:off x="0" y="0"/>
          <a:ext cx="0" cy="0"/>
          <a:chOff x="0" y="0"/>
          <a:chExt cx="0" cy="0"/>
        </a:xfrm>
      </p:grpSpPr>
      <p:sp>
        <p:nvSpPr>
          <p:cNvPr id="6" name="Rectangle 5"/>
          <p:cNvSpPr/>
          <p:nvPr userDrawn="1"/>
        </p:nvSpPr>
        <p:spPr>
          <a:xfrm>
            <a:off x="152400" y="1613578"/>
            <a:ext cx="2269507" cy="914400"/>
          </a:xfrm>
          <a:prstGeom prst="rect">
            <a:avLst/>
          </a:prstGeom>
          <a:solidFill>
            <a:srgbClr val="00818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902"/>
          </a:p>
        </p:txBody>
      </p:sp>
      <p:sp>
        <p:nvSpPr>
          <p:cNvPr id="3" name="Content Placeholder 2"/>
          <p:cNvSpPr>
            <a:spLocks noGrp="1"/>
          </p:cNvSpPr>
          <p:nvPr userDrawn="1">
            <p:ph idx="1"/>
          </p:nvPr>
        </p:nvSpPr>
        <p:spPr bwMode="gray">
          <a:xfrm>
            <a:off x="3143222" y="1613579"/>
            <a:ext cx="5266268" cy="192024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3143222" y="1143000"/>
            <a:ext cx="5266268"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3" name="Freeform 12"/>
          <p:cNvSpPr/>
          <p:nvPr userDrawn="1"/>
        </p:nvSpPr>
        <p:spPr>
          <a:xfrm>
            <a:off x="3148064" y="1143000"/>
            <a:ext cx="5266268"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4" name="Content Placeholder 2"/>
          <p:cNvSpPr>
            <a:spLocks noGrp="1"/>
          </p:cNvSpPr>
          <p:nvPr>
            <p:ph idx="15"/>
          </p:nvPr>
        </p:nvSpPr>
        <p:spPr bwMode="gray">
          <a:xfrm>
            <a:off x="3143222" y="4286475"/>
            <a:ext cx="5266268" cy="192024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5" name="Text Placeholder 2"/>
          <p:cNvSpPr>
            <a:spLocks noGrp="1"/>
          </p:cNvSpPr>
          <p:nvPr>
            <p:ph type="body" idx="16"/>
          </p:nvPr>
        </p:nvSpPr>
        <p:spPr bwMode="gray">
          <a:xfrm>
            <a:off x="3143222" y="3815896"/>
            <a:ext cx="5266268"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6" name="Freeform 15"/>
          <p:cNvSpPr/>
          <p:nvPr userDrawn="1"/>
        </p:nvSpPr>
        <p:spPr>
          <a:xfrm>
            <a:off x="3148064" y="3815896"/>
            <a:ext cx="5266268"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0" name="Content Placeholder 2"/>
          <p:cNvSpPr>
            <a:spLocks noGrp="1"/>
          </p:cNvSpPr>
          <p:nvPr>
            <p:ph idx="17"/>
          </p:nvPr>
        </p:nvSpPr>
        <p:spPr bwMode="gray">
          <a:xfrm>
            <a:off x="8726165" y="1613579"/>
            <a:ext cx="3313435" cy="192024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8"/>
          </p:nvPr>
        </p:nvSpPr>
        <p:spPr bwMode="gray">
          <a:xfrm>
            <a:off x="8726165" y="1143000"/>
            <a:ext cx="3313435"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2" name="Freeform 11"/>
          <p:cNvSpPr/>
          <p:nvPr userDrawn="1"/>
        </p:nvSpPr>
        <p:spPr>
          <a:xfrm>
            <a:off x="8726165" y="1143000"/>
            <a:ext cx="3313435"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7" name="Content Placeholder 2"/>
          <p:cNvSpPr>
            <a:spLocks noGrp="1"/>
          </p:cNvSpPr>
          <p:nvPr>
            <p:ph idx="19"/>
          </p:nvPr>
        </p:nvSpPr>
        <p:spPr bwMode="gray">
          <a:xfrm>
            <a:off x="8726165" y="4286475"/>
            <a:ext cx="3313435" cy="192024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8" name="Text Placeholder 2"/>
          <p:cNvSpPr>
            <a:spLocks noGrp="1"/>
          </p:cNvSpPr>
          <p:nvPr>
            <p:ph type="body" idx="20"/>
          </p:nvPr>
        </p:nvSpPr>
        <p:spPr bwMode="gray">
          <a:xfrm>
            <a:off x="8726165" y="3815896"/>
            <a:ext cx="3313435"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19" name="Freeform 18"/>
          <p:cNvSpPr/>
          <p:nvPr userDrawn="1"/>
        </p:nvSpPr>
        <p:spPr>
          <a:xfrm>
            <a:off x="8726165" y="3815896"/>
            <a:ext cx="3313435"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5" name="Text Placeholder 4"/>
          <p:cNvSpPr>
            <a:spLocks noGrp="1"/>
          </p:cNvSpPr>
          <p:nvPr>
            <p:ph type="body" sz="quarter" idx="21"/>
          </p:nvPr>
        </p:nvSpPr>
        <p:spPr>
          <a:xfrm>
            <a:off x="219995" y="1659298"/>
            <a:ext cx="2134315" cy="822960"/>
          </a:xfrm>
        </p:spPr>
        <p:txBody>
          <a:bodyPr anchor="ctr"/>
          <a:lstStyle>
            <a:lvl1pPr marL="0" indent="0" algn="ctr">
              <a:buNone/>
              <a:defRPr sz="1200" b="1">
                <a:solidFill>
                  <a:schemeClr val="bg1"/>
                </a:solidFill>
              </a:defRPr>
            </a:lvl1pPr>
            <a:lvl2pPr marL="457195" indent="0">
              <a:buNone/>
              <a:defRPr/>
            </a:lvl2pPr>
            <a:lvl3pPr marL="914391" indent="0">
              <a:buNone/>
              <a:defRPr/>
            </a:lvl3pPr>
            <a:lvl4pPr marL="1371587" indent="0">
              <a:buNone/>
              <a:defRPr/>
            </a:lvl4pPr>
            <a:lvl5pPr marL="1828782" indent="0">
              <a:buNone/>
              <a:defRPr/>
            </a:lvl5pPr>
          </a:lstStyle>
          <a:p>
            <a:pPr lvl="0"/>
            <a:r>
              <a:rPr lang="en-US"/>
              <a:t>Click to edit Master text styles</a:t>
            </a:r>
          </a:p>
        </p:txBody>
      </p:sp>
      <p:sp>
        <p:nvSpPr>
          <p:cNvPr id="7" name="Isosceles Triangle 6"/>
          <p:cNvSpPr/>
          <p:nvPr userDrawn="1"/>
        </p:nvSpPr>
        <p:spPr>
          <a:xfrm rot="5400000">
            <a:off x="2208943" y="1899826"/>
            <a:ext cx="914400" cy="341907"/>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902"/>
          </a:p>
        </p:txBody>
      </p:sp>
      <p:sp>
        <p:nvSpPr>
          <p:cNvPr id="24" name="Rectangle 23"/>
          <p:cNvSpPr/>
          <p:nvPr userDrawn="1"/>
        </p:nvSpPr>
        <p:spPr>
          <a:xfrm>
            <a:off x="152400" y="4286475"/>
            <a:ext cx="2269507" cy="914400"/>
          </a:xfrm>
          <a:prstGeom prst="rect">
            <a:avLst/>
          </a:prstGeom>
          <a:solidFill>
            <a:srgbClr val="00818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902"/>
          </a:p>
        </p:txBody>
      </p:sp>
      <p:sp>
        <p:nvSpPr>
          <p:cNvPr id="27" name="Text Placeholder 4"/>
          <p:cNvSpPr>
            <a:spLocks noGrp="1"/>
          </p:cNvSpPr>
          <p:nvPr>
            <p:ph type="body" sz="quarter" idx="22"/>
          </p:nvPr>
        </p:nvSpPr>
        <p:spPr>
          <a:xfrm>
            <a:off x="219995" y="4332195"/>
            <a:ext cx="2134315" cy="822960"/>
          </a:xfrm>
        </p:spPr>
        <p:txBody>
          <a:bodyPr anchor="ctr"/>
          <a:lstStyle>
            <a:lvl1pPr marL="0" indent="0" algn="ctr">
              <a:buNone/>
              <a:defRPr sz="1200" b="1">
                <a:solidFill>
                  <a:schemeClr val="bg1"/>
                </a:solidFill>
              </a:defRPr>
            </a:lvl1pPr>
            <a:lvl2pPr marL="457195" indent="0">
              <a:buNone/>
              <a:defRPr/>
            </a:lvl2pPr>
            <a:lvl3pPr marL="914391" indent="0">
              <a:buNone/>
              <a:defRPr/>
            </a:lvl3pPr>
            <a:lvl4pPr marL="1371587" indent="0">
              <a:buNone/>
              <a:defRPr/>
            </a:lvl4pPr>
            <a:lvl5pPr marL="1828782" indent="0">
              <a:buNone/>
              <a:defRPr/>
            </a:lvl5pPr>
          </a:lstStyle>
          <a:p>
            <a:pPr lvl="0"/>
            <a:r>
              <a:rPr lang="en-US"/>
              <a:t>Click to edit Master text styles</a:t>
            </a:r>
          </a:p>
        </p:txBody>
      </p:sp>
      <p:sp>
        <p:nvSpPr>
          <p:cNvPr id="28" name="Isosceles Triangle 27"/>
          <p:cNvSpPr/>
          <p:nvPr userDrawn="1"/>
        </p:nvSpPr>
        <p:spPr>
          <a:xfrm rot="5400000">
            <a:off x="2208943" y="4572723"/>
            <a:ext cx="914400" cy="341907"/>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902"/>
          </a:p>
        </p:txBody>
      </p:sp>
      <p:sp>
        <p:nvSpPr>
          <p:cNvPr id="23"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147554083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7_Title and Content">
    <p:spTree>
      <p:nvGrpSpPr>
        <p:cNvPr id="1" name=""/>
        <p:cNvGrpSpPr/>
        <p:nvPr/>
      </p:nvGrpSpPr>
      <p:grpSpPr>
        <a:xfrm>
          <a:off x="0" y="0"/>
          <a:ext cx="0" cy="0"/>
          <a:chOff x="0" y="0"/>
          <a:chExt cx="0" cy="0"/>
        </a:xfrm>
      </p:grpSpPr>
      <p:sp>
        <p:nvSpPr>
          <p:cNvPr id="6" name="Rectangle 5"/>
          <p:cNvSpPr/>
          <p:nvPr userDrawn="1"/>
        </p:nvSpPr>
        <p:spPr>
          <a:xfrm>
            <a:off x="152400" y="1613578"/>
            <a:ext cx="2269507" cy="914400"/>
          </a:xfrm>
          <a:prstGeom prst="rect">
            <a:avLst/>
          </a:prstGeom>
          <a:solidFill>
            <a:srgbClr val="00818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902"/>
          </a:p>
        </p:txBody>
      </p:sp>
      <p:sp>
        <p:nvSpPr>
          <p:cNvPr id="3" name="Content Placeholder 2"/>
          <p:cNvSpPr>
            <a:spLocks noGrp="1"/>
          </p:cNvSpPr>
          <p:nvPr userDrawn="1">
            <p:ph idx="1"/>
          </p:nvPr>
        </p:nvSpPr>
        <p:spPr bwMode="gray">
          <a:xfrm>
            <a:off x="3143222" y="1613579"/>
            <a:ext cx="5266268" cy="192024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25" name="Text Placeholder 2"/>
          <p:cNvSpPr>
            <a:spLocks noGrp="1"/>
          </p:cNvSpPr>
          <p:nvPr>
            <p:ph type="body" idx="12"/>
          </p:nvPr>
        </p:nvSpPr>
        <p:spPr bwMode="gray">
          <a:xfrm>
            <a:off x="3143222" y="1143000"/>
            <a:ext cx="5266268"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dirty="0"/>
              <a:t>Click to edit Master text styles</a:t>
            </a:r>
          </a:p>
        </p:txBody>
      </p:sp>
      <p:sp>
        <p:nvSpPr>
          <p:cNvPr id="26"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
        <p:nvSpPr>
          <p:cNvPr id="13" name="Freeform 12"/>
          <p:cNvSpPr/>
          <p:nvPr userDrawn="1"/>
        </p:nvSpPr>
        <p:spPr>
          <a:xfrm>
            <a:off x="3148064" y="1143000"/>
            <a:ext cx="5266268"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10" name="Content Placeholder 2"/>
          <p:cNvSpPr>
            <a:spLocks noGrp="1"/>
          </p:cNvSpPr>
          <p:nvPr>
            <p:ph idx="17"/>
          </p:nvPr>
        </p:nvSpPr>
        <p:spPr bwMode="gray">
          <a:xfrm>
            <a:off x="8726165" y="1613579"/>
            <a:ext cx="3313435" cy="1920240"/>
          </a:xfrm>
          <a:ln>
            <a:noFill/>
          </a:ln>
        </p:spPr>
        <p:txBody>
          <a:bodyPr lIns="91440"/>
          <a:lstStyle>
            <a:lvl1pPr marL="228600" indent="-228600" algn="just">
              <a:lnSpc>
                <a:spcPct val="100000"/>
              </a:lnSpc>
              <a:spcBef>
                <a:spcPts val="800"/>
              </a:spcBef>
              <a:spcAft>
                <a:spcPts val="800"/>
              </a:spcAft>
              <a:buFont typeface="Wingdings" panose="05000000000000000000" pitchFamily="2" charset="2"/>
              <a:buChar char="q"/>
              <a:defRPr sz="1200"/>
            </a:lvl1pPr>
            <a:lvl2pPr marL="457200" indent="-228600" algn="just">
              <a:lnSpc>
                <a:spcPct val="100000"/>
              </a:lnSpc>
              <a:spcBef>
                <a:spcPts val="700"/>
              </a:spcBef>
              <a:spcAft>
                <a:spcPts val="700"/>
              </a:spcAft>
              <a:buFont typeface="Wingdings" panose="05000000000000000000" pitchFamily="2" charset="2"/>
              <a:buChar char="Ø"/>
              <a:defRPr sz="1100"/>
            </a:lvl2pPr>
            <a:lvl3pPr marL="685800" indent="-228600" algn="just">
              <a:lnSpc>
                <a:spcPct val="100000"/>
              </a:lnSpc>
              <a:spcBef>
                <a:spcPts val="600"/>
              </a:spcBef>
              <a:spcAft>
                <a:spcPts val="600"/>
              </a:spcAft>
              <a:buFont typeface="Wingdings" panose="05000000000000000000" pitchFamily="2" charset="2"/>
              <a:buChar char="§"/>
              <a:defRPr sz="1000"/>
            </a:lvl3pPr>
            <a:lvl4pPr marL="914400" indent="-228600" algn="just">
              <a:lnSpc>
                <a:spcPct val="100000"/>
              </a:lnSpc>
              <a:spcBef>
                <a:spcPts val="500"/>
              </a:spcBef>
              <a:spcAft>
                <a:spcPts val="500"/>
              </a:spcAft>
              <a:buFont typeface="Courier New" panose="02070309020205020404" pitchFamily="49" charset="0"/>
              <a:buChar char="o"/>
              <a:defRPr sz="900"/>
            </a:lvl4pPr>
            <a:lvl5pPr marL="1143000" indent="-228600" algn="just">
              <a:lnSpc>
                <a:spcPct val="100000"/>
              </a:lnSpc>
              <a:spcBef>
                <a:spcPts val="400"/>
              </a:spcBef>
              <a:spcAft>
                <a:spcPts val="400"/>
              </a:spcAft>
              <a:defRPr sz="8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11" name="Text Placeholder 2"/>
          <p:cNvSpPr>
            <a:spLocks noGrp="1"/>
          </p:cNvSpPr>
          <p:nvPr>
            <p:ph type="body" idx="18"/>
          </p:nvPr>
        </p:nvSpPr>
        <p:spPr bwMode="gray">
          <a:xfrm>
            <a:off x="8726165" y="1143000"/>
            <a:ext cx="3313435" cy="470578"/>
          </a:xfrm>
        </p:spPr>
        <p:txBody>
          <a:bodyPr anchor="b">
            <a:noAutofit/>
          </a:bodyPr>
          <a:lstStyle>
            <a:lvl1pPr marL="0" indent="0" algn="ctr">
              <a:buNone/>
              <a:defRPr sz="1200" b="1"/>
            </a:lvl1pPr>
            <a:lvl2pPr marL="457196" indent="0">
              <a:buNone/>
              <a:defRPr sz="2000" b="1"/>
            </a:lvl2pPr>
            <a:lvl3pPr marL="914391" indent="0">
              <a:buNone/>
              <a:defRPr sz="1800" b="1"/>
            </a:lvl3pPr>
            <a:lvl4pPr marL="1371587" indent="0">
              <a:buNone/>
              <a:defRPr sz="1600" b="1"/>
            </a:lvl4pPr>
            <a:lvl5pPr marL="1828783" indent="0">
              <a:buNone/>
              <a:defRPr sz="1600" b="1"/>
            </a:lvl5pPr>
            <a:lvl6pPr marL="2285978" indent="0">
              <a:buNone/>
              <a:defRPr sz="1600" b="1"/>
            </a:lvl6pPr>
            <a:lvl7pPr marL="2743174" indent="0">
              <a:buNone/>
              <a:defRPr sz="1600" b="1"/>
            </a:lvl7pPr>
            <a:lvl8pPr marL="3200370" indent="0">
              <a:buNone/>
              <a:defRPr sz="1600" b="1"/>
            </a:lvl8pPr>
            <a:lvl9pPr marL="3657565" indent="0">
              <a:buNone/>
              <a:defRPr sz="1600" b="1"/>
            </a:lvl9pPr>
          </a:lstStyle>
          <a:p>
            <a:pPr lvl="0"/>
            <a:r>
              <a:rPr lang="en-US" noProof="0"/>
              <a:t>Click to edit Master text styles</a:t>
            </a:r>
          </a:p>
        </p:txBody>
      </p:sp>
      <p:sp>
        <p:nvSpPr>
          <p:cNvPr id="12" name="Freeform 11"/>
          <p:cNvSpPr/>
          <p:nvPr userDrawn="1"/>
        </p:nvSpPr>
        <p:spPr>
          <a:xfrm>
            <a:off x="8726165" y="1143000"/>
            <a:ext cx="3313435" cy="475488"/>
          </a:xfrm>
          <a:custGeom>
            <a:avLst/>
            <a:gdLst>
              <a:gd name="connsiteX0" fmla="*/ 0 w 9767454"/>
              <a:gd name="connsiteY0" fmla="*/ 0 h 484909"/>
              <a:gd name="connsiteX1" fmla="*/ 0 w 9767454"/>
              <a:gd name="connsiteY1" fmla="*/ 484909 h 484909"/>
              <a:gd name="connsiteX2" fmla="*/ 9767454 w 9767454"/>
              <a:gd name="connsiteY2" fmla="*/ 484909 h 484909"/>
            </a:gdLst>
            <a:ahLst/>
            <a:cxnLst>
              <a:cxn ang="0">
                <a:pos x="connsiteX0" y="connsiteY0"/>
              </a:cxn>
              <a:cxn ang="0">
                <a:pos x="connsiteX1" y="connsiteY1"/>
              </a:cxn>
              <a:cxn ang="0">
                <a:pos x="connsiteX2" y="connsiteY2"/>
              </a:cxn>
            </a:cxnLst>
            <a:rect l="l" t="t" r="r" b="b"/>
            <a:pathLst>
              <a:path w="9767454" h="484909">
                <a:moveTo>
                  <a:pt x="0" y="0"/>
                </a:moveTo>
                <a:lnTo>
                  <a:pt x="0" y="484909"/>
                </a:lnTo>
                <a:lnTo>
                  <a:pt x="9767454" y="484909"/>
                </a:lnTo>
              </a:path>
            </a:pathLst>
          </a:custGeom>
          <a:noFill/>
          <a:ln w="28575">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GB" sz="1013"/>
          </a:p>
        </p:txBody>
      </p:sp>
      <p:sp>
        <p:nvSpPr>
          <p:cNvPr id="5" name="Text Placeholder 4"/>
          <p:cNvSpPr>
            <a:spLocks noGrp="1"/>
          </p:cNvSpPr>
          <p:nvPr>
            <p:ph type="body" sz="quarter" idx="21"/>
          </p:nvPr>
        </p:nvSpPr>
        <p:spPr>
          <a:xfrm>
            <a:off x="219995" y="1659298"/>
            <a:ext cx="2134315" cy="822960"/>
          </a:xfrm>
        </p:spPr>
        <p:txBody>
          <a:bodyPr anchor="ctr"/>
          <a:lstStyle>
            <a:lvl1pPr marL="0" indent="0" algn="ctr">
              <a:buNone/>
              <a:defRPr sz="1200" b="1">
                <a:solidFill>
                  <a:schemeClr val="bg1"/>
                </a:solidFill>
              </a:defRPr>
            </a:lvl1pPr>
            <a:lvl2pPr marL="457195" indent="0">
              <a:buNone/>
              <a:defRPr/>
            </a:lvl2pPr>
            <a:lvl3pPr marL="914391" indent="0">
              <a:buNone/>
              <a:defRPr/>
            </a:lvl3pPr>
            <a:lvl4pPr marL="1371587" indent="0">
              <a:buNone/>
              <a:defRPr/>
            </a:lvl4pPr>
            <a:lvl5pPr marL="1828782" indent="0">
              <a:buNone/>
              <a:defRPr/>
            </a:lvl5pPr>
          </a:lstStyle>
          <a:p>
            <a:pPr lvl="0"/>
            <a:r>
              <a:rPr lang="en-US" dirty="0"/>
              <a:t>Click to edit Master text styles</a:t>
            </a:r>
          </a:p>
        </p:txBody>
      </p:sp>
      <p:sp>
        <p:nvSpPr>
          <p:cNvPr id="7" name="Isosceles Triangle 6"/>
          <p:cNvSpPr/>
          <p:nvPr userDrawn="1"/>
        </p:nvSpPr>
        <p:spPr>
          <a:xfrm rot="5400000">
            <a:off x="2208943" y="1899826"/>
            <a:ext cx="914400" cy="341907"/>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902"/>
          </a:p>
        </p:txBody>
      </p:sp>
    </p:spTree>
    <p:extLst>
      <p:ext uri="{BB962C8B-B14F-4D97-AF65-F5344CB8AC3E}">
        <p14:creationId xmlns:p14="http://schemas.microsoft.com/office/powerpoint/2010/main" val="216699918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16" name="Title 1"/>
          <p:cNvSpPr>
            <a:spLocks noGrp="1"/>
          </p:cNvSpPr>
          <p:nvPr userDrawn="1">
            <p:ph type="title"/>
          </p:nvPr>
        </p:nvSpPr>
        <p:spPr bwMode="gray">
          <a:xfrm>
            <a:off x="152399" y="152400"/>
            <a:ext cx="10515600" cy="731520"/>
          </a:xfrm>
        </p:spPr>
        <p:txBody>
          <a:bodyPr>
            <a:noAutofit/>
          </a:bodyPr>
          <a:lstStyle>
            <a:lvl1pPr>
              <a:defRPr sz="2000"/>
            </a:lvl1pPr>
          </a:lstStyle>
          <a:p>
            <a:r>
              <a:rPr lang="en-US" noProof="0" dirty="0"/>
              <a:t>Click to edit Master title style</a:t>
            </a:r>
            <a:endParaRPr lang="en-GB" noProof="0" dirty="0"/>
          </a:p>
        </p:txBody>
      </p:sp>
      <p:sp>
        <p:nvSpPr>
          <p:cNvPr id="4"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322720975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3_Comparison">
    <p:spTree>
      <p:nvGrpSpPr>
        <p:cNvPr id="1" name=""/>
        <p:cNvGrpSpPr/>
        <p:nvPr/>
      </p:nvGrpSpPr>
      <p:grpSpPr>
        <a:xfrm>
          <a:off x="0" y="0"/>
          <a:ext cx="0" cy="0"/>
          <a:chOff x="0" y="0"/>
          <a:chExt cx="0" cy="0"/>
        </a:xfrm>
      </p:grpSpPr>
      <p:sp>
        <p:nvSpPr>
          <p:cNvPr id="16" name="Title 1"/>
          <p:cNvSpPr>
            <a:spLocks noGrp="1"/>
          </p:cNvSpPr>
          <p:nvPr userDrawn="1">
            <p:ph type="title"/>
          </p:nvPr>
        </p:nvSpPr>
        <p:spPr bwMode="gray">
          <a:xfrm>
            <a:off x="152400" y="152400"/>
            <a:ext cx="9975273" cy="731520"/>
          </a:xfrm>
        </p:spPr>
        <p:txBody>
          <a:bodyPr>
            <a:noAutofit/>
          </a:bodyPr>
          <a:lstStyle>
            <a:lvl1pPr>
              <a:defRPr sz="2000"/>
            </a:lvl1pPr>
          </a:lstStyle>
          <a:p>
            <a:r>
              <a:rPr lang="en-US" noProof="0" dirty="0"/>
              <a:t>Click to edit Master title style</a:t>
            </a:r>
            <a:endParaRPr lang="en-GB" noProof="0" dirty="0"/>
          </a:p>
        </p:txBody>
      </p:sp>
      <p:sp>
        <p:nvSpPr>
          <p:cNvPr id="4"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107093004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49_Title and Content">
    <p:spTree>
      <p:nvGrpSpPr>
        <p:cNvPr id="1" name=""/>
        <p:cNvGrpSpPr/>
        <p:nvPr/>
      </p:nvGrpSpPr>
      <p:grpSpPr>
        <a:xfrm>
          <a:off x="0" y="0"/>
          <a:ext cx="0" cy="0"/>
          <a:chOff x="0" y="0"/>
          <a:chExt cx="0" cy="0"/>
        </a:xfrm>
      </p:grpSpPr>
      <p:sp>
        <p:nvSpPr>
          <p:cNvPr id="2" name="Title 1"/>
          <p:cNvSpPr>
            <a:spLocks noGrp="1"/>
          </p:cNvSpPr>
          <p:nvPr userDrawn="1">
            <p:ph type="title"/>
          </p:nvPr>
        </p:nvSpPr>
        <p:spPr bwMode="gray">
          <a:xfrm>
            <a:off x="152400" y="152400"/>
            <a:ext cx="9975273" cy="731520"/>
          </a:xfrm>
        </p:spPr>
        <p:txBody>
          <a:bodyPr>
            <a:noAutofit/>
          </a:bodyPr>
          <a:lstStyle>
            <a:lvl1pPr>
              <a:defRPr sz="2000"/>
            </a:lvl1pPr>
          </a:lstStyle>
          <a:p>
            <a:r>
              <a:rPr lang="en-US" noProof="0" dirty="0"/>
              <a:t>Click to edit Master title style</a:t>
            </a:r>
            <a:endParaRPr lang="en-GB" noProof="0" dirty="0"/>
          </a:p>
        </p:txBody>
      </p:sp>
      <p:sp>
        <p:nvSpPr>
          <p:cNvPr id="4"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417017445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29_Title and Content">
    <p:spTree>
      <p:nvGrpSpPr>
        <p:cNvPr id="1" name=""/>
        <p:cNvGrpSpPr/>
        <p:nvPr/>
      </p:nvGrpSpPr>
      <p:grpSpPr>
        <a:xfrm>
          <a:off x="0" y="0"/>
          <a:ext cx="0" cy="0"/>
          <a:chOff x="0" y="0"/>
          <a:chExt cx="0" cy="0"/>
        </a:xfrm>
      </p:grpSpPr>
      <p:sp>
        <p:nvSpPr>
          <p:cNvPr id="2" name="Title 1"/>
          <p:cNvSpPr>
            <a:spLocks noGrp="1"/>
          </p:cNvSpPr>
          <p:nvPr userDrawn="1">
            <p:ph type="title"/>
          </p:nvPr>
        </p:nvSpPr>
        <p:spPr bwMode="gray">
          <a:xfrm>
            <a:off x="152400" y="152400"/>
            <a:ext cx="9975273" cy="731520"/>
          </a:xfrm>
        </p:spPr>
        <p:txBody>
          <a:bodyPr>
            <a:noAutofit/>
          </a:bodyPr>
          <a:lstStyle>
            <a:lvl1pPr>
              <a:defRPr sz="2000"/>
            </a:lvl1pPr>
          </a:lstStyle>
          <a:p>
            <a:r>
              <a:rPr lang="en-US" noProof="0" dirty="0"/>
              <a:t>Click to edit Master title style</a:t>
            </a:r>
            <a:endParaRPr lang="en-GB" noProof="0" dirty="0"/>
          </a:p>
        </p:txBody>
      </p:sp>
      <p:sp>
        <p:nvSpPr>
          <p:cNvPr id="4" name="Slide Number Placeholder 5"/>
          <p:cNvSpPr>
            <a:spLocks noGrp="1"/>
          </p:cNvSpPr>
          <p:nvPr>
            <p:ph type="sldNum" sz="quarter" idx="4"/>
          </p:nvPr>
        </p:nvSpPr>
        <p:spPr bwMode="gray">
          <a:xfrm>
            <a:off x="11613318" y="6423704"/>
            <a:ext cx="426282" cy="319995"/>
          </a:xfrm>
          <a:prstGeom prst="rect">
            <a:avLst/>
          </a:prstGeom>
        </p:spPr>
        <p:txBody>
          <a:bodyPr lIns="0" tIns="0" rIns="0" bIns="0" anchor="ctr" anchorCtr="0"/>
          <a:lstStyle>
            <a:lvl1pPr algn="ctr">
              <a:defRPr sz="1000">
                <a:solidFill>
                  <a:schemeClr val="tx1"/>
                </a:solidFill>
                <a:latin typeface="+mn-lt"/>
              </a:defRPr>
            </a:lvl1pPr>
          </a:lstStyle>
          <a:p>
            <a:fld id="{4B17068C-EB94-40A3-A5F2-664CDD77FDAC}" type="slidenum">
              <a:rPr lang="en-GB" smtClean="0"/>
              <a:pPr/>
              <a:t>‹#›</a:t>
            </a:fld>
            <a:endParaRPr lang="en-GB" dirty="0"/>
          </a:p>
        </p:txBody>
      </p:sp>
    </p:spTree>
    <p:extLst>
      <p:ext uri="{BB962C8B-B14F-4D97-AF65-F5344CB8AC3E}">
        <p14:creationId xmlns:p14="http://schemas.microsoft.com/office/powerpoint/2010/main" val="156919300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 name="Rectangle 36"/>
          <p:cNvSpPr/>
          <p:nvPr userDrawn="1"/>
        </p:nvSpPr>
        <p:spPr>
          <a:xfrm>
            <a:off x="0" y="1"/>
            <a:ext cx="12192000" cy="940904"/>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902"/>
          </a:p>
        </p:txBody>
      </p:sp>
      <p:pic>
        <p:nvPicPr>
          <p:cNvPr id="45" name="Picture 44"/>
          <p:cNvPicPr>
            <a:picLocks noChangeAspect="1"/>
          </p:cNvPicPr>
          <p:nvPr userDrawn="1"/>
        </p:nvPicPr>
        <p:blipFill>
          <a:blip r:embed="rId30" cstate="print">
            <a:extLst>
              <a:ext uri="{28A0092B-C50C-407E-A947-70E740481C1C}">
                <a14:useLocalDpi xmlns:a14="http://schemas.microsoft.com/office/drawing/2010/main" val="0"/>
              </a:ext>
            </a:extLst>
          </a:blip>
          <a:stretch>
            <a:fillRect/>
          </a:stretch>
        </p:blipFill>
        <p:spPr>
          <a:xfrm>
            <a:off x="11081388" y="161109"/>
            <a:ext cx="965200" cy="723900"/>
          </a:xfrm>
          <a:prstGeom prst="rect">
            <a:avLst/>
          </a:prstGeom>
        </p:spPr>
      </p:pic>
      <p:sp>
        <p:nvSpPr>
          <p:cNvPr id="3" name="Text Placeholder 2"/>
          <p:cNvSpPr>
            <a:spLocks noGrp="1"/>
          </p:cNvSpPr>
          <p:nvPr userDrawn="1">
            <p:ph type="body" idx="1"/>
          </p:nvPr>
        </p:nvSpPr>
        <p:spPr bwMode="gray">
          <a:xfrm>
            <a:off x="152400" y="1257300"/>
            <a:ext cx="11887200" cy="4963051"/>
          </a:xfrm>
          <a:prstGeom prst="rect">
            <a:avLst/>
          </a:prstGeom>
        </p:spPr>
        <p:txBody>
          <a:bodyPr vert="horz" lIns="0" tIns="91440" rIns="91440" bIns="91440" rtlCol="0">
            <a:noAutofit/>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2" name="Title Placeholder 1"/>
          <p:cNvSpPr>
            <a:spLocks noGrp="1"/>
          </p:cNvSpPr>
          <p:nvPr userDrawn="1">
            <p:ph type="title"/>
          </p:nvPr>
        </p:nvSpPr>
        <p:spPr bwMode="gray">
          <a:xfrm>
            <a:off x="152400" y="152400"/>
            <a:ext cx="9975273" cy="723900"/>
          </a:xfrm>
          <a:prstGeom prst="rect">
            <a:avLst/>
          </a:prstGeom>
        </p:spPr>
        <p:txBody>
          <a:bodyPr vert="horz" lIns="0" tIns="91440" rIns="91440" bIns="91440" rtlCol="0" anchor="b" anchorCtr="0">
            <a:noAutofit/>
          </a:bodyPr>
          <a:lstStyle/>
          <a:p>
            <a:r>
              <a:rPr lang="en-US" noProof="0" dirty="0"/>
              <a:t>Click to edit Master title style</a:t>
            </a:r>
            <a:endParaRPr lang="en-GB" noProof="0" dirty="0"/>
          </a:p>
        </p:txBody>
      </p:sp>
      <p:sp>
        <p:nvSpPr>
          <p:cNvPr id="53" name="Rectangle 52"/>
          <p:cNvSpPr/>
          <p:nvPr userDrawn="1"/>
        </p:nvSpPr>
        <p:spPr bwMode="gray">
          <a:xfrm>
            <a:off x="12416658" y="876301"/>
            <a:ext cx="914400" cy="418887"/>
          </a:xfrm>
          <a:prstGeom prst="rect">
            <a:avLst/>
          </a:prstGeom>
          <a:solidFill>
            <a:srgbClr val="2774B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54" name="Rectangle 53"/>
          <p:cNvSpPr/>
          <p:nvPr userDrawn="1"/>
        </p:nvSpPr>
        <p:spPr bwMode="gray">
          <a:xfrm>
            <a:off x="12416658" y="1429858"/>
            <a:ext cx="914400" cy="418887"/>
          </a:xfrm>
          <a:prstGeom prst="rect">
            <a:avLst/>
          </a:prstGeom>
          <a:solidFill>
            <a:srgbClr val="3B82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55" name="Rectangle 54"/>
          <p:cNvSpPr/>
          <p:nvPr userDrawn="1"/>
        </p:nvSpPr>
        <p:spPr bwMode="gray">
          <a:xfrm>
            <a:off x="12416658" y="1983415"/>
            <a:ext cx="914400" cy="418887"/>
          </a:xfrm>
          <a:prstGeom prst="rect">
            <a:avLst/>
          </a:prstGeom>
          <a:solidFill>
            <a:srgbClr val="5AA0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56" name="Rectangle 55"/>
          <p:cNvSpPr/>
          <p:nvPr userDrawn="1"/>
        </p:nvSpPr>
        <p:spPr bwMode="gray">
          <a:xfrm>
            <a:off x="12416658" y="2536972"/>
            <a:ext cx="914400" cy="418887"/>
          </a:xfrm>
          <a:prstGeom prst="rect">
            <a:avLst/>
          </a:prstGeom>
          <a:solidFill>
            <a:srgbClr val="69B1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57" name="Rectangle 56"/>
          <p:cNvSpPr/>
          <p:nvPr userDrawn="1"/>
        </p:nvSpPr>
        <p:spPr bwMode="gray">
          <a:xfrm>
            <a:off x="12416658" y="3090529"/>
            <a:ext cx="914400" cy="418887"/>
          </a:xfrm>
          <a:prstGeom prst="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58" name="Rectangle 57"/>
          <p:cNvSpPr/>
          <p:nvPr userDrawn="1"/>
        </p:nvSpPr>
        <p:spPr bwMode="gray">
          <a:xfrm>
            <a:off x="12416658" y="3644086"/>
            <a:ext cx="914400" cy="418887"/>
          </a:xfrm>
          <a:prstGeom prst="rect">
            <a:avLst/>
          </a:prstGeom>
          <a:solidFill>
            <a:srgbClr val="58595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59" name="Rectangle 58"/>
          <p:cNvSpPr/>
          <p:nvPr userDrawn="1"/>
        </p:nvSpPr>
        <p:spPr bwMode="gray">
          <a:xfrm>
            <a:off x="12416658" y="4197643"/>
            <a:ext cx="914400" cy="418887"/>
          </a:xfrm>
          <a:prstGeom prst="rect">
            <a:avLst/>
          </a:prstGeom>
          <a:solidFill>
            <a:srgbClr val="8082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60" name="Rectangle 59"/>
          <p:cNvSpPr/>
          <p:nvPr userDrawn="1"/>
        </p:nvSpPr>
        <p:spPr bwMode="gray">
          <a:xfrm>
            <a:off x="12416658" y="4751200"/>
            <a:ext cx="914400" cy="418887"/>
          </a:xfrm>
          <a:prstGeom prst="rect">
            <a:avLst/>
          </a:prstGeom>
          <a:solidFill>
            <a:srgbClr val="93959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61" name="Rectangle 60"/>
          <p:cNvSpPr/>
          <p:nvPr userDrawn="1"/>
        </p:nvSpPr>
        <p:spPr bwMode="gray">
          <a:xfrm>
            <a:off x="12416658" y="5304757"/>
            <a:ext cx="914400" cy="418887"/>
          </a:xfrm>
          <a:prstGeom prst="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62" name="Rectangle 61"/>
          <p:cNvSpPr/>
          <p:nvPr userDrawn="1"/>
        </p:nvSpPr>
        <p:spPr bwMode="gray">
          <a:xfrm>
            <a:off x="12416658" y="5858314"/>
            <a:ext cx="914400" cy="418887"/>
          </a:xfrm>
          <a:prstGeom prst="rect">
            <a:avLst/>
          </a:prstGeom>
          <a:solidFill>
            <a:srgbClr val="D1D3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40" name="Rectangle 39"/>
          <p:cNvSpPr/>
          <p:nvPr userDrawn="1"/>
        </p:nvSpPr>
        <p:spPr bwMode="gray">
          <a:xfrm>
            <a:off x="-1071957" y="876300"/>
            <a:ext cx="899524" cy="418887"/>
          </a:xfrm>
          <a:prstGeom prst="rect">
            <a:avLst/>
          </a:prstGeom>
          <a:solidFill>
            <a:srgbClr val="2A5F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41" name="Rectangle 40"/>
          <p:cNvSpPr/>
          <p:nvPr userDrawn="1"/>
        </p:nvSpPr>
        <p:spPr bwMode="gray">
          <a:xfrm>
            <a:off x="-1071957" y="1588016"/>
            <a:ext cx="899524" cy="418887"/>
          </a:xfrm>
          <a:prstGeom prst="rect">
            <a:avLst/>
          </a:prstGeom>
          <a:solidFill>
            <a:srgbClr val="9E7E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42" name="Rectangle 41"/>
          <p:cNvSpPr/>
          <p:nvPr userDrawn="1"/>
        </p:nvSpPr>
        <p:spPr bwMode="gray">
          <a:xfrm>
            <a:off x="-1071957" y="2299732"/>
            <a:ext cx="899524" cy="418887"/>
          </a:xfrm>
          <a:prstGeom prst="rect">
            <a:avLst/>
          </a:prstGeom>
          <a:solidFill>
            <a:srgbClr val="4031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43" name="Rectangle 42"/>
          <p:cNvSpPr/>
          <p:nvPr userDrawn="1"/>
        </p:nvSpPr>
        <p:spPr bwMode="gray">
          <a:xfrm>
            <a:off x="-1071957" y="3011448"/>
            <a:ext cx="899524" cy="418887"/>
          </a:xfrm>
          <a:prstGeom prst="rect">
            <a:avLst/>
          </a:prstGeom>
          <a:solidFill>
            <a:srgbClr val="00818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65" name="Rectangle 64"/>
          <p:cNvSpPr/>
          <p:nvPr userDrawn="1"/>
        </p:nvSpPr>
        <p:spPr bwMode="gray">
          <a:xfrm>
            <a:off x="-1071957" y="3723164"/>
            <a:ext cx="899524" cy="418887"/>
          </a:xfrm>
          <a:prstGeom prst="rect">
            <a:avLst/>
          </a:prstGeom>
          <a:solidFill>
            <a:srgbClr val="A3531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66" name="Rectangle 65"/>
          <p:cNvSpPr/>
          <p:nvPr userDrawn="1"/>
        </p:nvSpPr>
        <p:spPr bwMode="gray">
          <a:xfrm>
            <a:off x="-1071957" y="5146596"/>
            <a:ext cx="899524" cy="418887"/>
          </a:xfrm>
          <a:prstGeom prst="rect">
            <a:avLst/>
          </a:prstGeom>
          <a:solidFill>
            <a:srgbClr val="7B84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67" name="Rectangle 66"/>
          <p:cNvSpPr/>
          <p:nvPr userDrawn="1"/>
        </p:nvSpPr>
        <p:spPr bwMode="gray">
          <a:xfrm>
            <a:off x="-1071957" y="5858313"/>
            <a:ext cx="899524" cy="418887"/>
          </a:xfrm>
          <a:prstGeom prst="rect">
            <a:avLst/>
          </a:prstGeom>
          <a:solidFill>
            <a:srgbClr val="C55A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68" name="Rectangle 67"/>
          <p:cNvSpPr/>
          <p:nvPr userDrawn="1"/>
        </p:nvSpPr>
        <p:spPr bwMode="gray">
          <a:xfrm>
            <a:off x="-1071957" y="4434880"/>
            <a:ext cx="899524" cy="418887"/>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grpSp>
        <p:nvGrpSpPr>
          <p:cNvPr id="34" name="Group 33"/>
          <p:cNvGrpSpPr/>
          <p:nvPr userDrawn="1"/>
        </p:nvGrpSpPr>
        <p:grpSpPr>
          <a:xfrm>
            <a:off x="152400" y="6386257"/>
            <a:ext cx="11887200" cy="286195"/>
            <a:chOff x="125730" y="6386256"/>
            <a:chExt cx="9806940" cy="286195"/>
          </a:xfrm>
        </p:grpSpPr>
        <p:sp>
          <p:nvSpPr>
            <p:cNvPr id="35" name="Freeform 34"/>
            <p:cNvSpPr/>
            <p:nvPr userDrawn="1"/>
          </p:nvSpPr>
          <p:spPr bwMode="gray">
            <a:xfrm>
              <a:off x="125730" y="6386256"/>
              <a:ext cx="9806940" cy="0"/>
            </a:xfrm>
            <a:custGeom>
              <a:avLst/>
              <a:gdLst>
                <a:gd name="connsiteX0" fmla="*/ 12039600 w 12039600"/>
                <a:gd name="connsiteY0" fmla="*/ 0 h 0"/>
                <a:gd name="connsiteX1" fmla="*/ 0 w 12039600"/>
                <a:gd name="connsiteY1" fmla="*/ 0 h 0"/>
              </a:gdLst>
              <a:ahLst/>
              <a:cxnLst>
                <a:cxn ang="0">
                  <a:pos x="connsiteX0" y="connsiteY0"/>
                </a:cxn>
                <a:cxn ang="0">
                  <a:pos x="connsiteX1" y="connsiteY1"/>
                </a:cxn>
              </a:cxnLst>
              <a:rect l="l" t="t" r="r" b="b"/>
              <a:pathLst>
                <a:path w="12039600">
                  <a:moveTo>
                    <a:pt x="12039600" y="0"/>
                  </a:moveTo>
                  <a:lnTo>
                    <a:pt x="0" y="0"/>
                  </a:lnTo>
                </a:path>
              </a:pathLst>
            </a:custGeom>
            <a:no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GB" sz="1013"/>
            </a:p>
          </p:txBody>
        </p:sp>
        <p:sp>
          <p:nvSpPr>
            <p:cNvPr id="64" name="Rectangle 63"/>
            <p:cNvSpPr/>
            <p:nvPr userDrawn="1"/>
          </p:nvSpPr>
          <p:spPr bwMode="gray">
            <a:xfrm>
              <a:off x="132915" y="6503174"/>
              <a:ext cx="2782492" cy="169277"/>
            </a:xfrm>
            <a:prstGeom prst="rect">
              <a:avLst/>
            </a:prstGeom>
          </p:spPr>
          <p:txBody>
            <a:bodyPr wrap="none" lIns="0" tIns="0" rIns="0" bIns="0">
              <a:spAutoFit/>
            </a:bodyPr>
            <a:lstStyle/>
            <a:p>
              <a:pPr algn="l">
                <a:spcBef>
                  <a:spcPts val="200"/>
                </a:spcBef>
                <a:spcAft>
                  <a:spcPts val="200"/>
                </a:spcAft>
                <a:tabLst>
                  <a:tab pos="931344" algn="l"/>
                </a:tabLst>
                <a:defRPr/>
              </a:pPr>
              <a:r>
                <a:rPr lang="en-GB" sz="1100" dirty="0">
                  <a:solidFill>
                    <a:schemeClr val="tx1"/>
                  </a:solidFill>
                  <a:ea typeface="ＭＳ Ｐゴシック" charset="0"/>
                </a:rPr>
                <a:t>©</a:t>
              </a:r>
              <a:r>
                <a:rPr lang="en-US" sz="1100" dirty="0">
                  <a:solidFill>
                    <a:schemeClr val="tx1"/>
                  </a:solidFill>
                  <a:ea typeface="ＭＳ Ｐゴシック" charset="0"/>
                </a:rPr>
                <a:t>2026 Transparency Market Research, All Rights Reserved</a:t>
              </a:r>
              <a:endParaRPr lang="en-GB" sz="1100" dirty="0">
                <a:solidFill>
                  <a:schemeClr val="tx1"/>
                </a:solidFill>
                <a:ea typeface="ＭＳ Ｐゴシック" charset="0"/>
              </a:endParaRPr>
            </a:p>
          </p:txBody>
        </p:sp>
      </p:grpSp>
    </p:spTree>
    <p:extLst>
      <p:ext uri="{BB962C8B-B14F-4D97-AF65-F5344CB8AC3E}">
        <p14:creationId xmlns:p14="http://schemas.microsoft.com/office/powerpoint/2010/main" val="2540808106"/>
      </p:ext>
    </p:extLst>
  </p:cSld>
  <p:clrMap bg1="lt1" tx1="dk1" bg2="lt2" tx2="dk2" accent1="accent1" accent2="accent2" accent3="accent3" accent4="accent4" accent5="accent5" accent6="accent6" hlink="hlink" folHlink="folHlink"/>
  <p:sldLayoutIdLst>
    <p:sldLayoutId id="2147483661" r:id="rId1"/>
    <p:sldLayoutId id="2147483672" r:id="rId2"/>
    <p:sldLayoutId id="2147483663" r:id="rId3"/>
    <p:sldLayoutId id="2147483684" r:id="rId4"/>
    <p:sldLayoutId id="2147483662" r:id="rId5"/>
    <p:sldLayoutId id="2147483675" r:id="rId6"/>
    <p:sldLayoutId id="2147483685" r:id="rId7"/>
    <p:sldLayoutId id="2147483686" r:id="rId8"/>
    <p:sldLayoutId id="2147483702" r:id="rId9"/>
    <p:sldLayoutId id="2147483687" r:id="rId10"/>
    <p:sldLayoutId id="2147483701" r:id="rId11"/>
    <p:sldLayoutId id="2147483691" r:id="rId12"/>
    <p:sldLayoutId id="2147483697" r:id="rId13"/>
    <p:sldLayoutId id="2147483688" r:id="rId14"/>
    <p:sldLayoutId id="2147483689" r:id="rId15"/>
    <p:sldLayoutId id="2147483690" r:id="rId16"/>
    <p:sldLayoutId id="2147483692" r:id="rId17"/>
    <p:sldLayoutId id="2147483693" r:id="rId18"/>
    <p:sldLayoutId id="2147483694" r:id="rId19"/>
    <p:sldLayoutId id="2147483695" r:id="rId20"/>
    <p:sldLayoutId id="2147483696" r:id="rId21"/>
    <p:sldLayoutId id="2147483698" r:id="rId22"/>
    <p:sldLayoutId id="2147483699" r:id="rId23"/>
    <p:sldLayoutId id="2147483700" r:id="rId24"/>
    <p:sldLayoutId id="2147483665" r:id="rId25"/>
    <p:sldLayoutId id="2147483703" r:id="rId26"/>
    <p:sldLayoutId id="2147483704" r:id="rId27"/>
    <p:sldLayoutId id="2147483705" r:id="rId28"/>
  </p:sldLayoutIdLst>
  <p:hf hdr="0" ftr="0" dt="0"/>
  <p:txStyles>
    <p:titleStyle>
      <a:lvl1pPr algn="l" defTabSz="914391" rtl="0" eaLnBrk="1" latinLnBrk="0" hangingPunct="1">
        <a:lnSpc>
          <a:spcPct val="90000"/>
        </a:lnSpc>
        <a:spcBef>
          <a:spcPct val="0"/>
        </a:spcBef>
        <a:buNone/>
        <a:defRPr sz="2000" b="1" kern="1200">
          <a:solidFill>
            <a:schemeClr val="tx1"/>
          </a:solidFill>
          <a:latin typeface="+mn-lt"/>
          <a:ea typeface="+mj-ea"/>
          <a:cs typeface="+mj-cs"/>
        </a:defRPr>
      </a:lvl1pPr>
    </p:titleStyle>
    <p:bodyStyle>
      <a:lvl1pPr marL="228598" indent="-228598" algn="l" defTabSz="914391" rtl="0" eaLnBrk="1" latinLnBrk="0" hangingPunct="1">
        <a:lnSpc>
          <a:spcPct val="90000"/>
        </a:lnSpc>
        <a:spcBef>
          <a:spcPts val="1000"/>
        </a:spcBef>
        <a:buFont typeface="Wingdings" panose="05000000000000000000" pitchFamily="2" charset="2"/>
        <a:buChar char="§"/>
        <a:defRPr sz="1800" kern="1200">
          <a:solidFill>
            <a:schemeClr val="tx1"/>
          </a:solidFill>
          <a:latin typeface="+mn-lt"/>
          <a:ea typeface="+mn-ea"/>
          <a:cs typeface="+mn-cs"/>
        </a:defRPr>
      </a:lvl1pPr>
      <a:lvl2pPr marL="685793" indent="-228598" algn="l" defTabSz="914391" rtl="0" eaLnBrk="1" latinLnBrk="0" hangingPunct="1">
        <a:lnSpc>
          <a:spcPct val="90000"/>
        </a:lnSpc>
        <a:spcBef>
          <a:spcPts val="500"/>
        </a:spcBef>
        <a:buSzPct val="80000"/>
        <a:buFont typeface="Wingdings" panose="05000000000000000000" pitchFamily="2" charset="2"/>
        <a:buChar char=""/>
        <a:defRPr sz="1500" kern="1200">
          <a:solidFill>
            <a:schemeClr val="tx1"/>
          </a:solidFill>
          <a:latin typeface="+mn-lt"/>
          <a:ea typeface="+mn-ea"/>
          <a:cs typeface="+mn-cs"/>
        </a:defRPr>
      </a:lvl2pPr>
      <a:lvl3pPr marL="1142989" indent="-228598" algn="l" defTabSz="914391" rtl="0" eaLnBrk="1" latinLnBrk="0" hangingPunct="1">
        <a:lnSpc>
          <a:spcPct val="90000"/>
        </a:lnSpc>
        <a:spcBef>
          <a:spcPts val="500"/>
        </a:spcBef>
        <a:buFont typeface="Wingdings" panose="05000000000000000000" pitchFamily="2" charset="2"/>
        <a:buChar char="Ø"/>
        <a:defRPr sz="1200" kern="1200">
          <a:solidFill>
            <a:schemeClr val="tx1"/>
          </a:solidFill>
          <a:latin typeface="+mn-lt"/>
          <a:ea typeface="+mn-ea"/>
          <a:cs typeface="+mn-cs"/>
        </a:defRPr>
      </a:lvl3pPr>
      <a:lvl4pPr marL="1600185" indent="-228598" algn="l" defTabSz="914391" rtl="0" eaLnBrk="1" latinLnBrk="0" hangingPunct="1">
        <a:lnSpc>
          <a:spcPct val="90000"/>
        </a:lnSpc>
        <a:spcBef>
          <a:spcPts val="500"/>
        </a:spcBef>
        <a:buSzPct val="80000"/>
        <a:buFont typeface="Wingdings" panose="05000000000000000000" pitchFamily="2" charset="2"/>
        <a:buChar char="q"/>
        <a:defRPr sz="1000" kern="1200">
          <a:solidFill>
            <a:schemeClr val="tx1"/>
          </a:solidFill>
          <a:latin typeface="+mn-lt"/>
          <a:ea typeface="+mn-ea"/>
          <a:cs typeface="+mn-cs"/>
        </a:defRPr>
      </a:lvl4pPr>
      <a:lvl5pPr marL="2057380" indent="-228598" algn="l" defTabSz="914391" rtl="0" eaLnBrk="1" latinLnBrk="0" hangingPunct="1">
        <a:lnSpc>
          <a:spcPct val="90000"/>
        </a:lnSpc>
        <a:spcBef>
          <a:spcPts val="500"/>
        </a:spcBef>
        <a:buFont typeface="Arial" panose="020B0604020202020204" pitchFamily="34" charset="0"/>
        <a:buChar char="•"/>
        <a:defRPr sz="800" kern="1200">
          <a:solidFill>
            <a:schemeClr val="tx1"/>
          </a:solidFill>
          <a:latin typeface="+mn-lt"/>
          <a:ea typeface="+mn-ea"/>
          <a:cs typeface="+mn-cs"/>
        </a:defRPr>
      </a:lvl5pPr>
      <a:lvl6pPr marL="2514576" indent="-228598" algn="l" defTabSz="914391"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72" indent="-228598" algn="l" defTabSz="914391"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67" indent="-228598" algn="l" defTabSz="914391"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63" indent="-228598" algn="l" defTabSz="914391"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91" rtl="0" eaLnBrk="1" latinLnBrk="0" hangingPunct="1">
        <a:defRPr sz="1800" kern="1200">
          <a:solidFill>
            <a:schemeClr val="tx1"/>
          </a:solidFill>
          <a:latin typeface="+mn-lt"/>
          <a:ea typeface="+mn-ea"/>
          <a:cs typeface="+mn-cs"/>
        </a:defRPr>
      </a:lvl1pPr>
      <a:lvl2pPr marL="457196" algn="l" defTabSz="914391" rtl="0" eaLnBrk="1" latinLnBrk="0" hangingPunct="1">
        <a:defRPr sz="1800" kern="1200">
          <a:solidFill>
            <a:schemeClr val="tx1"/>
          </a:solidFill>
          <a:latin typeface="+mn-lt"/>
          <a:ea typeface="+mn-ea"/>
          <a:cs typeface="+mn-cs"/>
        </a:defRPr>
      </a:lvl2pPr>
      <a:lvl3pPr marL="914391" algn="l" defTabSz="914391" rtl="0" eaLnBrk="1" latinLnBrk="0" hangingPunct="1">
        <a:defRPr sz="1800" kern="1200">
          <a:solidFill>
            <a:schemeClr val="tx1"/>
          </a:solidFill>
          <a:latin typeface="+mn-lt"/>
          <a:ea typeface="+mn-ea"/>
          <a:cs typeface="+mn-cs"/>
        </a:defRPr>
      </a:lvl3pPr>
      <a:lvl4pPr marL="1371587" algn="l" defTabSz="914391" rtl="0" eaLnBrk="1" latinLnBrk="0" hangingPunct="1">
        <a:defRPr sz="1800" kern="1200">
          <a:solidFill>
            <a:schemeClr val="tx1"/>
          </a:solidFill>
          <a:latin typeface="+mn-lt"/>
          <a:ea typeface="+mn-ea"/>
          <a:cs typeface="+mn-cs"/>
        </a:defRPr>
      </a:lvl4pPr>
      <a:lvl5pPr marL="1828783" algn="l" defTabSz="914391" rtl="0" eaLnBrk="1" latinLnBrk="0" hangingPunct="1">
        <a:defRPr sz="1800" kern="1200">
          <a:solidFill>
            <a:schemeClr val="tx1"/>
          </a:solidFill>
          <a:latin typeface="+mn-lt"/>
          <a:ea typeface="+mn-ea"/>
          <a:cs typeface="+mn-cs"/>
        </a:defRPr>
      </a:lvl5pPr>
      <a:lvl6pPr marL="2285978" algn="l" defTabSz="914391" rtl="0" eaLnBrk="1" latinLnBrk="0" hangingPunct="1">
        <a:defRPr sz="1800" kern="1200">
          <a:solidFill>
            <a:schemeClr val="tx1"/>
          </a:solidFill>
          <a:latin typeface="+mn-lt"/>
          <a:ea typeface="+mn-ea"/>
          <a:cs typeface="+mn-cs"/>
        </a:defRPr>
      </a:lvl6pPr>
      <a:lvl7pPr marL="2743174" algn="l" defTabSz="914391" rtl="0" eaLnBrk="1" latinLnBrk="0" hangingPunct="1">
        <a:defRPr sz="1800" kern="1200">
          <a:solidFill>
            <a:schemeClr val="tx1"/>
          </a:solidFill>
          <a:latin typeface="+mn-lt"/>
          <a:ea typeface="+mn-ea"/>
          <a:cs typeface="+mn-cs"/>
        </a:defRPr>
      </a:lvl7pPr>
      <a:lvl8pPr marL="3200370" algn="l" defTabSz="914391" rtl="0" eaLnBrk="1" latinLnBrk="0" hangingPunct="1">
        <a:defRPr sz="1800" kern="1200">
          <a:solidFill>
            <a:schemeClr val="tx1"/>
          </a:solidFill>
          <a:latin typeface="+mn-lt"/>
          <a:ea typeface="+mn-ea"/>
          <a:cs typeface="+mn-cs"/>
        </a:defRPr>
      </a:lvl8pPr>
      <a:lvl9pPr marL="3657565" algn="l" defTabSz="914391"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96" userDrawn="1">
          <p15:clr>
            <a:srgbClr val="F26B43"/>
          </p15:clr>
        </p15:guide>
        <p15:guide id="2" pos="96" userDrawn="1">
          <p15:clr>
            <a:srgbClr val="F26B43"/>
          </p15:clr>
        </p15:guide>
        <p15:guide id="3" pos="7584" userDrawn="1">
          <p15:clr>
            <a:srgbClr val="F26B43"/>
          </p15:clr>
        </p15:guide>
        <p15:guide id="4" orient="horz" pos="4248" userDrawn="1">
          <p15:clr>
            <a:srgbClr val="F26B43"/>
          </p15:clr>
        </p15:guide>
        <p15:guide id="5" orient="horz" pos="4032" userDrawn="1">
          <p15:clr>
            <a:srgbClr val="F26B43"/>
          </p15:clr>
        </p15:guide>
        <p15:guide id="6" orient="horz" pos="552" userDrawn="1">
          <p15:clr>
            <a:srgbClr val="F26B43"/>
          </p15:clr>
        </p15:guide>
        <p15:guide id="8" orient="horz" pos="3910" userDrawn="1">
          <p15:clr>
            <a:srgbClr val="F26B43"/>
          </p15:clr>
        </p15:guide>
        <p15:guide id="9" pos="3744" userDrawn="1">
          <p15:clr>
            <a:srgbClr val="F26B43"/>
          </p15:clr>
        </p15:guide>
        <p15:guide id="10" pos="3936" userDrawn="1">
          <p15:clr>
            <a:srgbClr val="F26B43"/>
          </p15:clr>
        </p15:guide>
        <p15:guide id="11" orient="horz" pos="72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5.png"/><Relationship Id="rId1" Type="http://schemas.openxmlformats.org/officeDocument/2006/relationships/slideLayout" Target="../slideLayouts/slideLayout25.xml"/></Relationships>
</file>

<file path=ppt/slides/_rels/slide5.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6.png"/><Relationship Id="rId1" Type="http://schemas.openxmlformats.org/officeDocument/2006/relationships/slideLayout" Target="../slideLayouts/slideLayout2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25.xml"/><Relationship Id="rId5" Type="http://schemas.openxmlformats.org/officeDocument/2006/relationships/image" Target="../media/image10.png"/><Relationship Id="rId4" Type="http://schemas.openxmlformats.org/officeDocument/2006/relationships/image" Target="../media/image9.jpe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1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1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slideLayout" Target="../slideLayouts/slideLayout25.xml"/><Relationship Id="rId5" Type="http://schemas.openxmlformats.org/officeDocument/2006/relationships/image" Target="../media/image15.png"/><Relationship Id="rId4" Type="http://schemas.openxmlformats.org/officeDocument/2006/relationships/image" Target="../media/image14.png"/></Relationships>
</file>

<file path=ppt/slides/_rels/slide1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25.xml"/><Relationship Id="rId5" Type="http://schemas.openxmlformats.org/officeDocument/2006/relationships/image" Target="../media/image19.png"/><Relationship Id="rId4" Type="http://schemas.openxmlformats.org/officeDocument/2006/relationships/image" Target="../media/image18.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1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14.xml"/></Relationships>
</file>

<file path=ppt/slides/_rels/slide2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4.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20.png"/><Relationship Id="rId1" Type="http://schemas.openxmlformats.org/officeDocument/2006/relationships/slideLayout" Target="../slideLayouts/slideLayout25.xml"/></Relationships>
</file>

<file path=ppt/slides/_rels/slide25.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21.png"/><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image" Target="../media/image22.png"/><Relationship Id="rId1" Type="http://schemas.openxmlformats.org/officeDocument/2006/relationships/slideLayout" Target="../slideLayouts/slideLayout10.xml"/><Relationship Id="rId5" Type="http://schemas.openxmlformats.org/officeDocument/2006/relationships/chart" Target="../charts/chart5.xml"/><Relationship Id="rId4" Type="http://schemas.openxmlformats.org/officeDocument/2006/relationships/chart" Target="../charts/chart4.xml"/></Relationships>
</file>

<file path=ppt/slides/_rels/slide2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26.xml"/></Relationships>
</file>

<file path=ppt/slides/_rels/slide31.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25.xml"/></Relationships>
</file>

<file path=ppt/slides/_rels/slide32.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6.xml"/></Relationships>
</file>

<file path=ppt/slides/_rels/slide33.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8" Type="http://schemas.openxmlformats.org/officeDocument/2006/relationships/chart" Target="../charts/chart14.xml"/><Relationship Id="rId3" Type="http://schemas.openxmlformats.org/officeDocument/2006/relationships/chart" Target="../charts/chart10.xml"/><Relationship Id="rId7" Type="http://schemas.openxmlformats.org/officeDocument/2006/relationships/chart" Target="../charts/chart13.xml"/><Relationship Id="rId2" Type="http://schemas.openxmlformats.org/officeDocument/2006/relationships/chart" Target="../charts/chart9.xml"/><Relationship Id="rId1" Type="http://schemas.openxmlformats.org/officeDocument/2006/relationships/slideLayout" Target="../slideLayouts/slideLayout25.xml"/><Relationship Id="rId6" Type="http://schemas.openxmlformats.org/officeDocument/2006/relationships/chart" Target="../charts/chart12.xml"/><Relationship Id="rId5" Type="http://schemas.openxmlformats.org/officeDocument/2006/relationships/image" Target="../media/image24.png"/><Relationship Id="rId10" Type="http://schemas.openxmlformats.org/officeDocument/2006/relationships/chart" Target="../charts/chart16.xml"/><Relationship Id="rId4" Type="http://schemas.openxmlformats.org/officeDocument/2006/relationships/chart" Target="../charts/chart11.xml"/><Relationship Id="rId9" Type="http://schemas.openxmlformats.org/officeDocument/2006/relationships/chart" Target="../charts/chart15.xml"/></Relationships>
</file>

<file path=ppt/slides/_rels/slide35.xml.rels><?xml version="1.0" encoding="UTF-8" standalone="yes"?>
<Relationships xmlns="http://schemas.openxmlformats.org/package/2006/relationships"><Relationship Id="rId2" Type="http://schemas.openxmlformats.org/officeDocument/2006/relationships/chart" Target="../charts/chart17.xml"/><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chart" Target="../charts/chart18.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chart" Target="../charts/chart20.xml"/><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2" Type="http://schemas.openxmlformats.org/officeDocument/2006/relationships/chart" Target="../charts/chart21.xml"/><Relationship Id="rId1" Type="http://schemas.openxmlformats.org/officeDocument/2006/relationships/slideLayout" Target="../slideLayouts/slideLayout2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chart" Target="../charts/chart22.xml"/><Relationship Id="rId1" Type="http://schemas.openxmlformats.org/officeDocument/2006/relationships/slideLayout" Target="../slideLayouts/slideLayout12.xml"/></Relationships>
</file>

<file path=ppt/slides/_rels/slide42.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26.xml"/></Relationships>
</file>

<file path=ppt/slides/_rels/slide43.xml.rels><?xml version="1.0" encoding="UTF-8" standalone="yes"?>
<Relationships xmlns="http://schemas.openxmlformats.org/package/2006/relationships"><Relationship Id="rId3" Type="http://schemas.openxmlformats.org/officeDocument/2006/relationships/chart" Target="../charts/chart25.xml"/><Relationship Id="rId2" Type="http://schemas.openxmlformats.org/officeDocument/2006/relationships/chart" Target="../charts/chart24.xml"/><Relationship Id="rId1" Type="http://schemas.openxmlformats.org/officeDocument/2006/relationships/slideLayout" Target="../slideLayouts/slideLayout18.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45.xml.rels><?xml version="1.0" encoding="UTF-8" standalone="yes"?>
<Relationships xmlns="http://schemas.openxmlformats.org/package/2006/relationships"><Relationship Id="rId2" Type="http://schemas.openxmlformats.org/officeDocument/2006/relationships/chart" Target="../charts/chart26.xml"/><Relationship Id="rId1" Type="http://schemas.openxmlformats.org/officeDocument/2006/relationships/slideLayout" Target="../slideLayouts/slideLayout25.xml"/></Relationships>
</file>

<file path=ppt/slides/_rels/slide46.xml.rels><?xml version="1.0" encoding="UTF-8" standalone="yes"?>
<Relationships xmlns="http://schemas.openxmlformats.org/package/2006/relationships"><Relationship Id="rId8" Type="http://schemas.openxmlformats.org/officeDocument/2006/relationships/image" Target="../media/image30.png"/><Relationship Id="rId13" Type="http://schemas.openxmlformats.org/officeDocument/2006/relationships/image" Target="../media/image33.png"/><Relationship Id="rId3" Type="http://schemas.openxmlformats.org/officeDocument/2006/relationships/image" Target="../media/image27.PNG"/><Relationship Id="rId7" Type="http://schemas.microsoft.com/office/2007/relationships/hdphoto" Target="../media/hdphoto6.wdp"/><Relationship Id="rId12" Type="http://schemas.openxmlformats.org/officeDocument/2006/relationships/image" Target="../media/image32.png"/><Relationship Id="rId2" Type="http://schemas.openxmlformats.org/officeDocument/2006/relationships/image" Target="../media/image26.png"/><Relationship Id="rId16" Type="http://schemas.openxmlformats.org/officeDocument/2006/relationships/image" Target="../media/image35.png"/><Relationship Id="rId1" Type="http://schemas.openxmlformats.org/officeDocument/2006/relationships/slideLayout" Target="../slideLayouts/slideLayout25.xml"/><Relationship Id="rId6" Type="http://schemas.openxmlformats.org/officeDocument/2006/relationships/image" Target="../media/image29.png"/><Relationship Id="rId11" Type="http://schemas.microsoft.com/office/2007/relationships/hdphoto" Target="../media/hdphoto8.wdp"/><Relationship Id="rId5" Type="http://schemas.microsoft.com/office/2007/relationships/hdphoto" Target="../media/hdphoto5.wdp"/><Relationship Id="rId15" Type="http://schemas.microsoft.com/office/2007/relationships/hdphoto" Target="../media/hdphoto9.wdp"/><Relationship Id="rId10" Type="http://schemas.openxmlformats.org/officeDocument/2006/relationships/image" Target="../media/image31.png"/><Relationship Id="rId4" Type="http://schemas.openxmlformats.org/officeDocument/2006/relationships/image" Target="../media/image28.png"/><Relationship Id="rId9" Type="http://schemas.microsoft.com/office/2007/relationships/hdphoto" Target="../media/hdphoto7.wdp"/><Relationship Id="rId14" Type="http://schemas.openxmlformats.org/officeDocument/2006/relationships/image" Target="../media/image34.png"/></Relationships>
</file>

<file path=ppt/slides/_rels/slide47.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25.xml"/></Relationships>
</file>

<file path=ppt/slides/_rels/slide48.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25.xml"/></Relationships>
</file>

<file path=ppt/slides/_rels/slide4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5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3" Type="http://schemas.microsoft.com/office/2007/relationships/hdphoto" Target="../media/hdphoto10.wdp"/><Relationship Id="rId2" Type="http://schemas.openxmlformats.org/officeDocument/2006/relationships/image" Target="../media/image38.png"/><Relationship Id="rId1" Type="http://schemas.openxmlformats.org/officeDocument/2006/relationships/slideLayout" Target="../slideLayouts/slideLayout25.xml"/></Relationships>
</file>

<file path=ppt/slides/_rels/slide54.xml.rels><?xml version="1.0" encoding="UTF-8" standalone="yes"?>
<Relationships xmlns="http://schemas.openxmlformats.org/package/2006/relationships"><Relationship Id="rId8" Type="http://schemas.microsoft.com/office/2007/relationships/diagramDrawing" Target="../diagrams/drawing1.xml"/><Relationship Id="rId3" Type="http://schemas.microsoft.com/office/2007/relationships/hdphoto" Target="../media/hdphoto11.wdp"/><Relationship Id="rId7" Type="http://schemas.openxmlformats.org/officeDocument/2006/relationships/diagramColors" Target="../diagrams/colors1.xml"/><Relationship Id="rId2" Type="http://schemas.openxmlformats.org/officeDocument/2006/relationships/image" Target="../media/image39.png"/><Relationship Id="rId1" Type="http://schemas.openxmlformats.org/officeDocument/2006/relationships/slideLayout" Target="../slideLayouts/slideLayout25.xml"/><Relationship Id="rId6" Type="http://schemas.openxmlformats.org/officeDocument/2006/relationships/diagramQuickStyle" Target="../diagrams/quickStyle1.xml"/><Relationship Id="rId5" Type="http://schemas.openxmlformats.org/officeDocument/2006/relationships/diagramLayout" Target="../diagrams/layout1.xml"/><Relationship Id="rId4" Type="http://schemas.openxmlformats.org/officeDocument/2006/relationships/diagramData" Target="../diagrams/data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56.xml.rels><?xml version="1.0" encoding="UTF-8" standalone="yes"?>
<Relationships xmlns="http://schemas.openxmlformats.org/package/2006/relationships"><Relationship Id="rId3" Type="http://schemas.microsoft.com/office/2007/relationships/hdphoto" Target="../media/hdphoto12.wdp"/><Relationship Id="rId2" Type="http://schemas.openxmlformats.org/officeDocument/2006/relationships/image" Target="../media/image40.png"/><Relationship Id="rId1" Type="http://schemas.openxmlformats.org/officeDocument/2006/relationships/slideLayout" Target="../slideLayouts/slideLayout25.xml"/></Relationships>
</file>

<file path=ppt/slides/_rels/slide57.xml.rels><?xml version="1.0" encoding="UTF-8" standalone="yes"?>
<Relationships xmlns="http://schemas.openxmlformats.org/package/2006/relationships"><Relationship Id="rId3" Type="http://schemas.microsoft.com/office/2007/relationships/hdphoto" Target="../media/hdphoto13.wdp"/><Relationship Id="rId2" Type="http://schemas.openxmlformats.org/officeDocument/2006/relationships/image" Target="../media/image41.png"/><Relationship Id="rId1" Type="http://schemas.openxmlformats.org/officeDocument/2006/relationships/slideLayout" Target="../slideLayouts/slideLayout25.xml"/></Relationships>
</file>

<file path=ppt/slides/_rels/slide58.xml.rels><?xml version="1.0" encoding="UTF-8" standalone="yes"?>
<Relationships xmlns="http://schemas.openxmlformats.org/package/2006/relationships"><Relationship Id="rId3" Type="http://schemas.microsoft.com/office/2007/relationships/hdphoto" Target="../media/hdphoto14.wdp"/><Relationship Id="rId2" Type="http://schemas.openxmlformats.org/officeDocument/2006/relationships/image" Target="../media/image42.png"/><Relationship Id="rId1" Type="http://schemas.openxmlformats.org/officeDocument/2006/relationships/slideLayout" Target="../slideLayouts/slideLayout25.xml"/></Relationships>
</file>

<file path=ppt/slides/_rels/slide59.xml.rels><?xml version="1.0" encoding="UTF-8" standalone="yes"?>
<Relationships xmlns="http://schemas.openxmlformats.org/package/2006/relationships"><Relationship Id="rId3" Type="http://schemas.microsoft.com/office/2007/relationships/hdphoto" Target="../media/hdphoto15.wdp"/><Relationship Id="rId2" Type="http://schemas.openxmlformats.org/officeDocument/2006/relationships/image" Target="../media/image43.png"/><Relationship Id="rId1" Type="http://schemas.openxmlformats.org/officeDocument/2006/relationships/slideLayout" Target="../slideLayouts/slideLayout25.xml"/></Relationships>
</file>

<file path=ppt/slides/_rels/slide60.xml.rels><?xml version="1.0" encoding="UTF-8" standalone="yes"?>
<Relationships xmlns="http://schemas.openxmlformats.org/package/2006/relationships"><Relationship Id="rId3" Type="http://schemas.microsoft.com/office/2007/relationships/hdphoto" Target="../media/hdphoto16.wdp"/><Relationship Id="rId2" Type="http://schemas.openxmlformats.org/officeDocument/2006/relationships/image" Target="../media/image44.png"/><Relationship Id="rId1" Type="http://schemas.openxmlformats.org/officeDocument/2006/relationships/slideLayout" Target="../slideLayouts/slideLayout25.xml"/></Relationships>
</file>

<file path=ppt/slides/_rels/slide6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3" Type="http://schemas.openxmlformats.org/officeDocument/2006/relationships/chart" Target="../charts/chart28.xml"/><Relationship Id="rId2" Type="http://schemas.openxmlformats.org/officeDocument/2006/relationships/chart" Target="../charts/chart27.xml"/><Relationship Id="rId1" Type="http://schemas.openxmlformats.org/officeDocument/2006/relationships/slideLayout" Target="../slideLayouts/slideLayout8.xml"/></Relationships>
</file>

<file path=ppt/slides/_rels/slide63.xml.rels><?xml version="1.0" encoding="UTF-8" standalone="yes"?>
<Relationships xmlns="http://schemas.openxmlformats.org/package/2006/relationships"><Relationship Id="rId2" Type="http://schemas.openxmlformats.org/officeDocument/2006/relationships/chart" Target="../charts/chart29.xml"/><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8" Type="http://schemas.openxmlformats.org/officeDocument/2006/relationships/chart" Target="../charts/chart36.xml"/><Relationship Id="rId3" Type="http://schemas.openxmlformats.org/officeDocument/2006/relationships/chart" Target="../charts/chart31.xml"/><Relationship Id="rId7" Type="http://schemas.openxmlformats.org/officeDocument/2006/relationships/chart" Target="../charts/chart35.xml"/><Relationship Id="rId2" Type="http://schemas.openxmlformats.org/officeDocument/2006/relationships/chart" Target="../charts/chart30.xml"/><Relationship Id="rId1" Type="http://schemas.openxmlformats.org/officeDocument/2006/relationships/slideLayout" Target="../slideLayouts/slideLayout25.xml"/><Relationship Id="rId6" Type="http://schemas.openxmlformats.org/officeDocument/2006/relationships/chart" Target="../charts/chart34.xml"/><Relationship Id="rId5" Type="http://schemas.openxmlformats.org/officeDocument/2006/relationships/chart" Target="../charts/chart33.xml"/><Relationship Id="rId4" Type="http://schemas.openxmlformats.org/officeDocument/2006/relationships/chart" Target="../charts/chart3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6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25.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7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2" Type="http://schemas.openxmlformats.org/officeDocument/2006/relationships/chart" Target="../charts/chart37.xml"/><Relationship Id="rId1" Type="http://schemas.openxmlformats.org/officeDocument/2006/relationships/slideLayout" Target="../slideLayouts/slideLayout25.xml"/></Relationships>
</file>

<file path=ppt/slides/_rels/slide7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microsoft.com/office/2007/relationships/hdphoto" Target="../media/hdphoto17.wdp"/><Relationship Id="rId2" Type="http://schemas.openxmlformats.org/officeDocument/2006/relationships/image" Target="../media/image46.png"/><Relationship Id="rId1" Type="http://schemas.openxmlformats.org/officeDocument/2006/relationships/slideLayout" Target="../slideLayouts/slideLayout28.xml"/></Relationships>
</file>

<file path=ppt/slides/_rels/slide7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5.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7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26.xml"/></Relationships>
</file>

<file path=ppt/slides/_rels/slide7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3" Type="http://schemas.microsoft.com/office/2007/relationships/hdphoto" Target="../media/hdphoto18.wdp"/><Relationship Id="rId2" Type="http://schemas.openxmlformats.org/officeDocument/2006/relationships/image" Target="../media/image48.png"/><Relationship Id="rId1" Type="http://schemas.openxmlformats.org/officeDocument/2006/relationships/slideLayout" Target="../slideLayouts/slideLayout26.xml"/></Relationships>
</file>

<file path=ppt/slides/_rels/slide8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slideLayout" Target="../slideLayouts/slideLayout25.xml"/><Relationship Id="rId4" Type="http://schemas.microsoft.com/office/2007/relationships/hdphoto" Target="../media/hdphoto19.wdp"/></Relationships>
</file>

<file path=ppt/slides/_rels/slide83.xml.rels><?xml version="1.0" encoding="UTF-8" standalone="yes"?>
<Relationships xmlns="http://schemas.openxmlformats.org/package/2006/relationships"><Relationship Id="rId3" Type="http://schemas.openxmlformats.org/officeDocument/2006/relationships/image" Target="../media/image52.png"/><Relationship Id="rId7" Type="http://schemas.microsoft.com/office/2007/relationships/hdphoto" Target="../media/hdphoto20.wdp"/><Relationship Id="rId2" Type="http://schemas.openxmlformats.org/officeDocument/2006/relationships/image" Target="../media/image51.emf"/><Relationship Id="rId1" Type="http://schemas.openxmlformats.org/officeDocument/2006/relationships/slideLayout" Target="../slideLayouts/slideLayout25.xml"/><Relationship Id="rId6" Type="http://schemas.openxmlformats.org/officeDocument/2006/relationships/image" Target="../media/image55.png"/><Relationship Id="rId5" Type="http://schemas.openxmlformats.org/officeDocument/2006/relationships/image" Target="../media/image54.png"/><Relationship Id="rId4" Type="http://schemas.openxmlformats.org/officeDocument/2006/relationships/image" Target="../media/image53.png"/></Relationships>
</file>

<file path=ppt/slides/_rels/slide8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8" Type="http://schemas.openxmlformats.org/officeDocument/2006/relationships/chart" Target="../charts/chart43.xml"/><Relationship Id="rId13" Type="http://schemas.openxmlformats.org/officeDocument/2006/relationships/chart" Target="../charts/chart48.xml"/><Relationship Id="rId3" Type="http://schemas.openxmlformats.org/officeDocument/2006/relationships/chart" Target="../charts/chart38.xml"/><Relationship Id="rId7" Type="http://schemas.openxmlformats.org/officeDocument/2006/relationships/chart" Target="../charts/chart42.xml"/><Relationship Id="rId12" Type="http://schemas.openxmlformats.org/officeDocument/2006/relationships/chart" Target="../charts/chart47.xml"/><Relationship Id="rId2" Type="http://schemas.microsoft.com/office/2018/10/relationships/comments" Target="../comments/modernComment_3BC_E3329BA9.xml"/><Relationship Id="rId1" Type="http://schemas.openxmlformats.org/officeDocument/2006/relationships/slideLayout" Target="../slideLayouts/slideLayout25.xml"/><Relationship Id="rId6" Type="http://schemas.openxmlformats.org/officeDocument/2006/relationships/chart" Target="../charts/chart41.xml"/><Relationship Id="rId11" Type="http://schemas.openxmlformats.org/officeDocument/2006/relationships/chart" Target="../charts/chart46.xml"/><Relationship Id="rId5" Type="http://schemas.openxmlformats.org/officeDocument/2006/relationships/chart" Target="../charts/chart40.xml"/><Relationship Id="rId10" Type="http://schemas.openxmlformats.org/officeDocument/2006/relationships/chart" Target="../charts/chart45.xml"/><Relationship Id="rId4" Type="http://schemas.openxmlformats.org/officeDocument/2006/relationships/chart" Target="../charts/chart39.xml"/><Relationship Id="rId9" Type="http://schemas.openxmlformats.org/officeDocument/2006/relationships/chart" Target="../charts/chart44.xml"/></Relationships>
</file>

<file path=ppt/slides/_rels/slide86.xml.rels><?xml version="1.0" encoding="UTF-8" standalone="yes"?>
<Relationships xmlns="http://schemas.openxmlformats.org/package/2006/relationships"><Relationship Id="rId8" Type="http://schemas.openxmlformats.org/officeDocument/2006/relationships/chart" Target="../charts/chart54.xml"/><Relationship Id="rId3" Type="http://schemas.openxmlformats.org/officeDocument/2006/relationships/chart" Target="../charts/chart49.xml"/><Relationship Id="rId7" Type="http://schemas.openxmlformats.org/officeDocument/2006/relationships/chart" Target="../charts/chart53.xml"/><Relationship Id="rId2" Type="http://schemas.microsoft.com/office/2018/10/relationships/comments" Target="../comments/modernComment_3BD_BA0FB856.xml"/><Relationship Id="rId1" Type="http://schemas.openxmlformats.org/officeDocument/2006/relationships/slideLayout" Target="../slideLayouts/slideLayout25.xml"/><Relationship Id="rId6" Type="http://schemas.openxmlformats.org/officeDocument/2006/relationships/chart" Target="../charts/chart52.xml"/><Relationship Id="rId11" Type="http://schemas.openxmlformats.org/officeDocument/2006/relationships/chart" Target="../charts/chart57.xml"/><Relationship Id="rId5" Type="http://schemas.openxmlformats.org/officeDocument/2006/relationships/chart" Target="../charts/chart51.xml"/><Relationship Id="rId10" Type="http://schemas.openxmlformats.org/officeDocument/2006/relationships/chart" Target="../charts/chart56.xml"/><Relationship Id="rId4" Type="http://schemas.openxmlformats.org/officeDocument/2006/relationships/chart" Target="../charts/chart50.xml"/><Relationship Id="rId9" Type="http://schemas.openxmlformats.org/officeDocument/2006/relationships/chart" Target="../charts/chart55.xml"/></Relationships>
</file>

<file path=ppt/slides/_rels/slide87.xml.rels><?xml version="1.0" encoding="UTF-8" standalone="yes"?>
<Relationships xmlns="http://schemas.openxmlformats.org/package/2006/relationships"><Relationship Id="rId3" Type="http://schemas.microsoft.com/office/2007/relationships/hdphoto" Target="../media/hdphoto21.wdp"/><Relationship Id="rId2" Type="http://schemas.openxmlformats.org/officeDocument/2006/relationships/image" Target="../media/image56.png"/><Relationship Id="rId1" Type="http://schemas.openxmlformats.org/officeDocument/2006/relationships/slideLayout" Target="../slideLayouts/slideLayout5.xml"/></Relationships>
</file>

<file path=ppt/slides/_rels/slide8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microsoft.com/office/2007/relationships/hdphoto" Target="../media/hdphoto22.wdp"/><Relationship Id="rId2" Type="http://schemas.openxmlformats.org/officeDocument/2006/relationships/image" Target="../media/image57.png"/><Relationship Id="rId1" Type="http://schemas.openxmlformats.org/officeDocument/2006/relationships/slideLayout" Target="../slideLayouts/slideLayout25.xml"/></Relationships>
</file>

<file path=ppt/slides/_rels/slide9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5.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5.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5.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5.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5.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5.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5.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5.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5.xml"/></Relationships>
</file>

<file path=ppt/slides/_rels/slide100.xml.rels><?xml version="1.0" encoding="UTF-8" standalone="yes"?>
<Relationships xmlns="http://schemas.openxmlformats.org/package/2006/relationships"><Relationship Id="rId3" Type="http://schemas.openxmlformats.org/officeDocument/2006/relationships/chart" Target="../charts/chart59.xml"/><Relationship Id="rId2" Type="http://schemas.openxmlformats.org/officeDocument/2006/relationships/chart" Target="../charts/chart58.xml"/><Relationship Id="rId1" Type="http://schemas.openxmlformats.org/officeDocument/2006/relationships/slideLayout" Target="../slideLayouts/slideLayout8.xml"/><Relationship Id="rId4" Type="http://schemas.openxmlformats.org/officeDocument/2006/relationships/chart" Target="../charts/chart60.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4.xml.rels><?xml version="1.0" encoding="UTF-8" standalone="yes"?>
<Relationships xmlns="http://schemas.openxmlformats.org/package/2006/relationships"><Relationship Id="rId3" Type="http://schemas.openxmlformats.org/officeDocument/2006/relationships/chart" Target="../charts/chart62.xml"/><Relationship Id="rId2" Type="http://schemas.openxmlformats.org/officeDocument/2006/relationships/chart" Target="../charts/chart61.xml"/><Relationship Id="rId1" Type="http://schemas.openxmlformats.org/officeDocument/2006/relationships/slideLayout" Target="../slideLayouts/slideLayout23.xml"/></Relationships>
</file>

<file path=ppt/slides/_rels/slide105.xml.rels><?xml version="1.0" encoding="UTF-8" standalone="yes"?>
<Relationships xmlns="http://schemas.openxmlformats.org/package/2006/relationships"><Relationship Id="rId3" Type="http://schemas.openxmlformats.org/officeDocument/2006/relationships/chart" Target="../charts/chart64.xml"/><Relationship Id="rId2" Type="http://schemas.openxmlformats.org/officeDocument/2006/relationships/chart" Target="../charts/chart63.xml"/><Relationship Id="rId1" Type="http://schemas.openxmlformats.org/officeDocument/2006/relationships/slideLayout" Target="../slideLayouts/slideLayout23.xml"/></Relationships>
</file>

<file path=ppt/slides/_rels/slide106.xml.rels><?xml version="1.0" encoding="UTF-8" standalone="yes"?>
<Relationships xmlns="http://schemas.openxmlformats.org/package/2006/relationships"><Relationship Id="rId3" Type="http://schemas.openxmlformats.org/officeDocument/2006/relationships/chart" Target="../charts/chart66.xml"/><Relationship Id="rId2" Type="http://schemas.openxmlformats.org/officeDocument/2006/relationships/chart" Target="../charts/chart65.xml"/><Relationship Id="rId1" Type="http://schemas.openxmlformats.org/officeDocument/2006/relationships/slideLayout" Target="../slideLayouts/slideLayout23.xml"/></Relationships>
</file>

<file path=ppt/slides/_rels/slide107.xml.rels><?xml version="1.0" encoding="UTF-8" standalone="yes"?>
<Relationships xmlns="http://schemas.openxmlformats.org/package/2006/relationships"><Relationship Id="rId3" Type="http://schemas.openxmlformats.org/officeDocument/2006/relationships/chart" Target="../charts/chart68.xml"/><Relationship Id="rId2" Type="http://schemas.openxmlformats.org/officeDocument/2006/relationships/chart" Target="../charts/chart67.xml"/><Relationship Id="rId1" Type="http://schemas.openxmlformats.org/officeDocument/2006/relationships/slideLayout" Target="../slideLayouts/slideLayout23.xml"/></Relationships>
</file>

<file path=ppt/slides/_rels/slide10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5.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5.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5.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5.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5.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5.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5.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5.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5.xml"/></Relationships>
</file>

<file path=ppt/slides/_rels/slide118.xml.rels><?xml version="1.0" encoding="UTF-8" standalone="yes"?>
<Relationships xmlns="http://schemas.openxmlformats.org/package/2006/relationships"><Relationship Id="rId3" Type="http://schemas.openxmlformats.org/officeDocument/2006/relationships/chart" Target="../charts/chart70.xml"/><Relationship Id="rId2" Type="http://schemas.openxmlformats.org/officeDocument/2006/relationships/chart" Target="../charts/chart69.xml"/><Relationship Id="rId1" Type="http://schemas.openxmlformats.org/officeDocument/2006/relationships/slideLayout" Target="../slideLayouts/slideLayout8.xml"/><Relationship Id="rId4" Type="http://schemas.openxmlformats.org/officeDocument/2006/relationships/chart" Target="../charts/chart71.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2.xml.rels><?xml version="1.0" encoding="UTF-8" standalone="yes"?>
<Relationships xmlns="http://schemas.openxmlformats.org/package/2006/relationships"><Relationship Id="rId3" Type="http://schemas.openxmlformats.org/officeDocument/2006/relationships/chart" Target="../charts/chart73.xml"/><Relationship Id="rId2" Type="http://schemas.openxmlformats.org/officeDocument/2006/relationships/chart" Target="../charts/chart72.xml"/><Relationship Id="rId1" Type="http://schemas.openxmlformats.org/officeDocument/2006/relationships/slideLayout" Target="../slideLayouts/slideLayout23.xml"/></Relationships>
</file>

<file path=ppt/slides/_rels/slide123.xml.rels><?xml version="1.0" encoding="UTF-8" standalone="yes"?>
<Relationships xmlns="http://schemas.openxmlformats.org/package/2006/relationships"><Relationship Id="rId3" Type="http://schemas.openxmlformats.org/officeDocument/2006/relationships/chart" Target="../charts/chart75.xml"/><Relationship Id="rId2" Type="http://schemas.openxmlformats.org/officeDocument/2006/relationships/chart" Target="../charts/chart74.xml"/><Relationship Id="rId1" Type="http://schemas.openxmlformats.org/officeDocument/2006/relationships/slideLayout" Target="../slideLayouts/slideLayout23.xml"/></Relationships>
</file>

<file path=ppt/slides/_rels/slide124.xml.rels><?xml version="1.0" encoding="UTF-8" standalone="yes"?>
<Relationships xmlns="http://schemas.openxmlformats.org/package/2006/relationships"><Relationship Id="rId3" Type="http://schemas.openxmlformats.org/officeDocument/2006/relationships/chart" Target="../charts/chart77.xml"/><Relationship Id="rId2" Type="http://schemas.openxmlformats.org/officeDocument/2006/relationships/chart" Target="../charts/chart76.xml"/><Relationship Id="rId1" Type="http://schemas.openxmlformats.org/officeDocument/2006/relationships/slideLayout" Target="../slideLayouts/slideLayout23.xml"/></Relationships>
</file>

<file path=ppt/slides/_rels/slide125.xml.rels><?xml version="1.0" encoding="UTF-8" standalone="yes"?>
<Relationships xmlns="http://schemas.openxmlformats.org/package/2006/relationships"><Relationship Id="rId3" Type="http://schemas.openxmlformats.org/officeDocument/2006/relationships/chart" Target="../charts/chart79.xml"/><Relationship Id="rId2" Type="http://schemas.openxmlformats.org/officeDocument/2006/relationships/chart" Target="../charts/chart78.xml"/><Relationship Id="rId1" Type="http://schemas.openxmlformats.org/officeDocument/2006/relationships/slideLayout" Target="../slideLayouts/slideLayout23.xml"/></Relationships>
</file>

<file path=ppt/slides/_rels/slide12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5.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5.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5.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5.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5.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5.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5.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5.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5.xml"/></Relationships>
</file>

<file path=ppt/slides/_rels/slide136.xml.rels><?xml version="1.0" encoding="UTF-8" standalone="yes"?>
<Relationships xmlns="http://schemas.openxmlformats.org/package/2006/relationships"><Relationship Id="rId3" Type="http://schemas.openxmlformats.org/officeDocument/2006/relationships/chart" Target="../charts/chart81.xml"/><Relationship Id="rId2" Type="http://schemas.openxmlformats.org/officeDocument/2006/relationships/chart" Target="../charts/chart80.xml"/><Relationship Id="rId1" Type="http://schemas.openxmlformats.org/officeDocument/2006/relationships/slideLayout" Target="../slideLayouts/slideLayout8.xml"/><Relationship Id="rId4" Type="http://schemas.openxmlformats.org/officeDocument/2006/relationships/chart" Target="../charts/chart8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0.xml.rels><?xml version="1.0" encoding="UTF-8" standalone="yes"?>
<Relationships xmlns="http://schemas.openxmlformats.org/package/2006/relationships"><Relationship Id="rId3" Type="http://schemas.openxmlformats.org/officeDocument/2006/relationships/chart" Target="../charts/chart84.xml"/><Relationship Id="rId2" Type="http://schemas.openxmlformats.org/officeDocument/2006/relationships/chart" Target="../charts/chart83.xml"/><Relationship Id="rId1" Type="http://schemas.openxmlformats.org/officeDocument/2006/relationships/slideLayout" Target="../slideLayouts/slideLayout23.xml"/></Relationships>
</file>

<file path=ppt/slides/_rels/slide141.xml.rels><?xml version="1.0" encoding="UTF-8" standalone="yes"?>
<Relationships xmlns="http://schemas.openxmlformats.org/package/2006/relationships"><Relationship Id="rId3" Type="http://schemas.openxmlformats.org/officeDocument/2006/relationships/chart" Target="../charts/chart86.xml"/><Relationship Id="rId2" Type="http://schemas.openxmlformats.org/officeDocument/2006/relationships/chart" Target="../charts/chart85.xml"/><Relationship Id="rId1" Type="http://schemas.openxmlformats.org/officeDocument/2006/relationships/slideLayout" Target="../slideLayouts/slideLayout23.xml"/></Relationships>
</file>

<file path=ppt/slides/_rels/slide142.xml.rels><?xml version="1.0" encoding="UTF-8" standalone="yes"?>
<Relationships xmlns="http://schemas.openxmlformats.org/package/2006/relationships"><Relationship Id="rId3" Type="http://schemas.openxmlformats.org/officeDocument/2006/relationships/chart" Target="../charts/chart88.xml"/><Relationship Id="rId2" Type="http://schemas.openxmlformats.org/officeDocument/2006/relationships/chart" Target="../charts/chart87.xml"/><Relationship Id="rId1" Type="http://schemas.openxmlformats.org/officeDocument/2006/relationships/slideLayout" Target="../slideLayouts/slideLayout23.xml"/></Relationships>
</file>

<file path=ppt/slides/_rels/slide143.xml.rels><?xml version="1.0" encoding="UTF-8" standalone="yes"?>
<Relationships xmlns="http://schemas.openxmlformats.org/package/2006/relationships"><Relationship Id="rId3" Type="http://schemas.openxmlformats.org/officeDocument/2006/relationships/chart" Target="../charts/chart90.xml"/><Relationship Id="rId2" Type="http://schemas.openxmlformats.org/officeDocument/2006/relationships/chart" Target="../charts/chart89.xml"/><Relationship Id="rId1" Type="http://schemas.openxmlformats.org/officeDocument/2006/relationships/slideLayout" Target="../slideLayouts/slideLayout23.xml"/></Relationships>
</file>

<file path=ppt/slides/_rels/slide14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5.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5.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5.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5.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5.xml"/></Relationships>
</file>

<file path=ppt/slides/_rels/slide154.xml.rels><?xml version="1.0" encoding="UTF-8" standalone="yes"?>
<Relationships xmlns="http://schemas.openxmlformats.org/package/2006/relationships"><Relationship Id="rId3" Type="http://schemas.openxmlformats.org/officeDocument/2006/relationships/chart" Target="../charts/chart92.xml"/><Relationship Id="rId2" Type="http://schemas.openxmlformats.org/officeDocument/2006/relationships/chart" Target="../charts/chart91.xml"/><Relationship Id="rId1" Type="http://schemas.openxmlformats.org/officeDocument/2006/relationships/slideLayout" Target="../slideLayouts/slideLayout8.xml"/><Relationship Id="rId4" Type="http://schemas.openxmlformats.org/officeDocument/2006/relationships/chart" Target="../charts/chart93.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8.xml.rels><?xml version="1.0" encoding="UTF-8" standalone="yes"?>
<Relationships xmlns="http://schemas.openxmlformats.org/package/2006/relationships"><Relationship Id="rId3" Type="http://schemas.openxmlformats.org/officeDocument/2006/relationships/chart" Target="../charts/chart95.xml"/><Relationship Id="rId2" Type="http://schemas.openxmlformats.org/officeDocument/2006/relationships/chart" Target="../charts/chart94.xml"/><Relationship Id="rId1" Type="http://schemas.openxmlformats.org/officeDocument/2006/relationships/slideLayout" Target="../slideLayouts/slideLayout23.xml"/></Relationships>
</file>

<file path=ppt/slides/_rels/slide159.xml.rels><?xml version="1.0" encoding="UTF-8" standalone="yes"?>
<Relationships xmlns="http://schemas.openxmlformats.org/package/2006/relationships"><Relationship Id="rId3" Type="http://schemas.openxmlformats.org/officeDocument/2006/relationships/chart" Target="../charts/chart97.xml"/><Relationship Id="rId2" Type="http://schemas.openxmlformats.org/officeDocument/2006/relationships/chart" Target="../charts/chart96.xml"/><Relationship Id="rId1" Type="http://schemas.openxmlformats.org/officeDocument/2006/relationships/slideLayout" Target="../slideLayouts/slideLayout23.xml"/></Relationships>
</file>

<file path=ppt/slides/_rels/slide160.xml.rels><?xml version="1.0" encoding="UTF-8" standalone="yes"?>
<Relationships xmlns="http://schemas.openxmlformats.org/package/2006/relationships"><Relationship Id="rId3" Type="http://schemas.openxmlformats.org/officeDocument/2006/relationships/chart" Target="../charts/chart99.xml"/><Relationship Id="rId2" Type="http://schemas.openxmlformats.org/officeDocument/2006/relationships/chart" Target="../charts/chart98.xml"/><Relationship Id="rId1" Type="http://schemas.openxmlformats.org/officeDocument/2006/relationships/slideLayout" Target="../slideLayouts/slideLayout23.xml"/></Relationships>
</file>

<file path=ppt/slides/_rels/slide161.xml.rels><?xml version="1.0" encoding="UTF-8" standalone="yes"?>
<Relationships xmlns="http://schemas.openxmlformats.org/package/2006/relationships"><Relationship Id="rId3" Type="http://schemas.openxmlformats.org/officeDocument/2006/relationships/chart" Target="../charts/chart101.xml"/><Relationship Id="rId2" Type="http://schemas.openxmlformats.org/officeDocument/2006/relationships/chart" Target="../charts/chart100.xml"/><Relationship Id="rId1" Type="http://schemas.openxmlformats.org/officeDocument/2006/relationships/slideLayout" Target="../slideLayouts/slideLayout23.xml"/></Relationships>
</file>

<file path=ppt/slides/_rels/slide16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5.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5.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5.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5.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5.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5.xml"/></Relationships>
</file>

<file path=ppt/slides/_rels/slide172.xml.rels><?xml version="1.0" encoding="UTF-8" standalone="yes"?>
<Relationships xmlns="http://schemas.openxmlformats.org/package/2006/relationships"><Relationship Id="rId3" Type="http://schemas.openxmlformats.org/officeDocument/2006/relationships/chart" Target="../charts/chart103.xml"/><Relationship Id="rId2" Type="http://schemas.openxmlformats.org/officeDocument/2006/relationships/chart" Target="../charts/chart102.xml"/><Relationship Id="rId1" Type="http://schemas.openxmlformats.org/officeDocument/2006/relationships/slideLayout" Target="../slideLayouts/slideLayout8.xml"/><Relationship Id="rId4" Type="http://schemas.openxmlformats.org/officeDocument/2006/relationships/chart" Target="../charts/chart104.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6.xml.rels><?xml version="1.0" encoding="UTF-8" standalone="yes"?>
<Relationships xmlns="http://schemas.openxmlformats.org/package/2006/relationships"><Relationship Id="rId3" Type="http://schemas.openxmlformats.org/officeDocument/2006/relationships/chart" Target="../charts/chart106.xml"/><Relationship Id="rId2" Type="http://schemas.openxmlformats.org/officeDocument/2006/relationships/chart" Target="../charts/chart105.xml"/><Relationship Id="rId1" Type="http://schemas.openxmlformats.org/officeDocument/2006/relationships/slideLayout" Target="../slideLayouts/slideLayout23.xml"/></Relationships>
</file>

<file path=ppt/slides/_rels/slide177.xml.rels><?xml version="1.0" encoding="UTF-8" standalone="yes"?>
<Relationships xmlns="http://schemas.openxmlformats.org/package/2006/relationships"><Relationship Id="rId3" Type="http://schemas.openxmlformats.org/officeDocument/2006/relationships/chart" Target="../charts/chart108.xml"/><Relationship Id="rId2" Type="http://schemas.openxmlformats.org/officeDocument/2006/relationships/chart" Target="../charts/chart107.xml"/><Relationship Id="rId1" Type="http://schemas.openxmlformats.org/officeDocument/2006/relationships/slideLayout" Target="../slideLayouts/slideLayout23.xml"/></Relationships>
</file>

<file path=ppt/slides/_rels/slide178.xml.rels><?xml version="1.0" encoding="UTF-8" standalone="yes"?>
<Relationships xmlns="http://schemas.openxmlformats.org/package/2006/relationships"><Relationship Id="rId3" Type="http://schemas.openxmlformats.org/officeDocument/2006/relationships/chart" Target="../charts/chart110.xml"/><Relationship Id="rId2" Type="http://schemas.openxmlformats.org/officeDocument/2006/relationships/chart" Target="../charts/chart109.xml"/><Relationship Id="rId1" Type="http://schemas.openxmlformats.org/officeDocument/2006/relationships/slideLayout" Target="../slideLayouts/slideLayout23.xml"/></Relationships>
</file>

<file path=ppt/slides/_rels/slide179.xml.rels><?xml version="1.0" encoding="UTF-8" standalone="yes"?>
<Relationships xmlns="http://schemas.openxmlformats.org/package/2006/relationships"><Relationship Id="rId3" Type="http://schemas.openxmlformats.org/officeDocument/2006/relationships/chart" Target="../charts/chart112.xml"/><Relationship Id="rId2" Type="http://schemas.openxmlformats.org/officeDocument/2006/relationships/chart" Target="../charts/chart111.xml"/><Relationship Id="rId1" Type="http://schemas.openxmlformats.org/officeDocument/2006/relationships/slideLayout" Target="../slideLayouts/slideLayout23.xml"/></Relationships>
</file>

<file path=ppt/slides/_rels/slide18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5.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5.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5.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5.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5.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5.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5.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5.xml"/></Relationships>
</file>

<file path=ppt/slides/_rels/slide190.xml.rels><?xml version="1.0" encoding="UTF-8" standalone="yes"?>
<Relationships xmlns="http://schemas.openxmlformats.org/package/2006/relationships"><Relationship Id="rId3" Type="http://schemas.openxmlformats.org/officeDocument/2006/relationships/chart" Target="../charts/chart114.xml"/><Relationship Id="rId2" Type="http://schemas.openxmlformats.org/officeDocument/2006/relationships/chart" Target="../charts/chart113.xml"/><Relationship Id="rId1" Type="http://schemas.openxmlformats.org/officeDocument/2006/relationships/slideLayout" Target="../slideLayouts/slideLayout8.xml"/><Relationship Id="rId4" Type="http://schemas.openxmlformats.org/officeDocument/2006/relationships/chart" Target="../charts/chart115.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4.xml.rels><?xml version="1.0" encoding="UTF-8" standalone="yes"?>
<Relationships xmlns="http://schemas.openxmlformats.org/package/2006/relationships"><Relationship Id="rId3" Type="http://schemas.openxmlformats.org/officeDocument/2006/relationships/chart" Target="../charts/chart117.xml"/><Relationship Id="rId2" Type="http://schemas.openxmlformats.org/officeDocument/2006/relationships/chart" Target="../charts/chart116.xml"/><Relationship Id="rId1" Type="http://schemas.openxmlformats.org/officeDocument/2006/relationships/slideLayout" Target="../slideLayouts/slideLayout23.xml"/></Relationships>
</file>

<file path=ppt/slides/_rels/slide195.xml.rels><?xml version="1.0" encoding="UTF-8" standalone="yes"?>
<Relationships xmlns="http://schemas.openxmlformats.org/package/2006/relationships"><Relationship Id="rId3" Type="http://schemas.openxmlformats.org/officeDocument/2006/relationships/chart" Target="../charts/chart119.xml"/><Relationship Id="rId2" Type="http://schemas.openxmlformats.org/officeDocument/2006/relationships/chart" Target="../charts/chart118.xml"/><Relationship Id="rId1" Type="http://schemas.openxmlformats.org/officeDocument/2006/relationships/slideLayout" Target="../slideLayouts/slideLayout23.xml"/></Relationships>
</file>

<file path=ppt/slides/_rels/slide196.xml.rels><?xml version="1.0" encoding="UTF-8" standalone="yes"?>
<Relationships xmlns="http://schemas.openxmlformats.org/package/2006/relationships"><Relationship Id="rId3" Type="http://schemas.openxmlformats.org/officeDocument/2006/relationships/chart" Target="../charts/chart121.xml"/><Relationship Id="rId2" Type="http://schemas.openxmlformats.org/officeDocument/2006/relationships/chart" Target="../charts/chart120.xml"/><Relationship Id="rId1" Type="http://schemas.openxmlformats.org/officeDocument/2006/relationships/slideLayout" Target="../slideLayouts/slideLayout23.xml"/></Relationships>
</file>

<file path=ppt/slides/_rels/slide197.xml.rels><?xml version="1.0" encoding="UTF-8" standalone="yes"?>
<Relationships xmlns="http://schemas.openxmlformats.org/package/2006/relationships"><Relationship Id="rId3" Type="http://schemas.openxmlformats.org/officeDocument/2006/relationships/chart" Target="../charts/chart123.xml"/><Relationship Id="rId2" Type="http://schemas.openxmlformats.org/officeDocument/2006/relationships/chart" Target="../charts/chart122.xml"/><Relationship Id="rId1" Type="http://schemas.openxmlformats.org/officeDocument/2006/relationships/slideLayout" Target="../slideLayouts/slideLayout23.xml"/></Relationships>
</file>

<file path=ppt/slides/_rels/slide19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00.xml.rels><?xml version="1.0" encoding="UTF-8" standalone="yes"?>
<Relationships xmlns="http://schemas.openxmlformats.org/package/2006/relationships"><Relationship Id="rId3" Type="http://schemas.openxmlformats.org/officeDocument/2006/relationships/chart" Target="../charts/chart125.xml"/><Relationship Id="rId2" Type="http://schemas.openxmlformats.org/officeDocument/2006/relationships/chart" Target="../charts/chart124.xml"/><Relationship Id="rId1" Type="http://schemas.openxmlformats.org/officeDocument/2006/relationships/slideLayout" Target="../slideLayouts/slideLayout8.xml"/><Relationship Id="rId4" Type="http://schemas.openxmlformats.org/officeDocument/2006/relationships/chart" Target="../charts/chart12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3.xml.rels><?xml version="1.0" encoding="UTF-8" standalone="yes"?>
<Relationships xmlns="http://schemas.openxmlformats.org/package/2006/relationships"><Relationship Id="rId3" Type="http://schemas.openxmlformats.org/officeDocument/2006/relationships/chart" Target="../charts/chart128.xml"/><Relationship Id="rId2" Type="http://schemas.openxmlformats.org/officeDocument/2006/relationships/chart" Target="../charts/chart127.xml"/><Relationship Id="rId1" Type="http://schemas.openxmlformats.org/officeDocument/2006/relationships/slideLayout" Target="../slideLayouts/slideLayout23.xml"/></Relationships>
</file>

<file path=ppt/slides/_rels/slide204.xml.rels><?xml version="1.0" encoding="UTF-8" standalone="yes"?>
<Relationships xmlns="http://schemas.openxmlformats.org/package/2006/relationships"><Relationship Id="rId3" Type="http://schemas.openxmlformats.org/officeDocument/2006/relationships/chart" Target="../charts/chart130.xml"/><Relationship Id="rId2" Type="http://schemas.openxmlformats.org/officeDocument/2006/relationships/chart" Target="../charts/chart129.xml"/><Relationship Id="rId1" Type="http://schemas.openxmlformats.org/officeDocument/2006/relationships/slideLayout" Target="../slideLayouts/slideLayout23.xml"/></Relationships>
</file>

<file path=ppt/slides/_rels/slide205.xml.rels><?xml version="1.0" encoding="UTF-8" standalone="yes"?>
<Relationships xmlns="http://schemas.openxmlformats.org/package/2006/relationships"><Relationship Id="rId3" Type="http://schemas.openxmlformats.org/officeDocument/2006/relationships/chart" Target="../charts/chart132.xml"/><Relationship Id="rId2" Type="http://schemas.openxmlformats.org/officeDocument/2006/relationships/chart" Target="../charts/chart131.xml"/><Relationship Id="rId1" Type="http://schemas.openxmlformats.org/officeDocument/2006/relationships/slideLayout" Target="../slideLayouts/slideLayout23.xml"/></Relationships>
</file>

<file path=ppt/slides/_rels/slide206.xml.rels><?xml version="1.0" encoding="UTF-8" standalone="yes"?>
<Relationships xmlns="http://schemas.openxmlformats.org/package/2006/relationships"><Relationship Id="rId2" Type="http://schemas.openxmlformats.org/officeDocument/2006/relationships/chart" Target="../charts/chart133.xml"/><Relationship Id="rId1" Type="http://schemas.openxmlformats.org/officeDocument/2006/relationships/slideLayout" Target="../slideLayouts/slideLayout24.xml"/></Relationships>
</file>

<file path=ppt/slides/_rels/slide20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08.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Layout" Target="../slideLayouts/slideLayout25.xml"/><Relationship Id="rId5" Type="http://schemas.openxmlformats.org/officeDocument/2006/relationships/chart" Target="../charts/chart134.xml"/><Relationship Id="rId4" Type="http://schemas.openxmlformats.org/officeDocument/2006/relationships/image" Target="../media/image60.png"/></Relationships>
</file>

<file path=ppt/slides/_rels/slide209.xml.rels><?xml version="1.0" encoding="UTF-8" standalone="yes"?>
<Relationships xmlns="http://schemas.openxmlformats.org/package/2006/relationships"><Relationship Id="rId3" Type="http://schemas.openxmlformats.org/officeDocument/2006/relationships/chart" Target="../charts/chart136.xml"/><Relationship Id="rId2" Type="http://schemas.openxmlformats.org/officeDocument/2006/relationships/chart" Target="../charts/chart135.xml"/><Relationship Id="rId1" Type="http://schemas.openxmlformats.org/officeDocument/2006/relationships/slideLayout" Target="../slideLayouts/slideLayout8.xml"/><Relationship Id="rId4" Type="http://schemas.openxmlformats.org/officeDocument/2006/relationships/chart" Target="../charts/chart13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1.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chart" Target="../charts/chart138.xml"/><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13.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Layout" Target="../slideLayouts/slideLayout25.xml"/><Relationship Id="rId5" Type="http://schemas.openxmlformats.org/officeDocument/2006/relationships/chart" Target="../charts/chart139.xml"/><Relationship Id="rId4" Type="http://schemas.openxmlformats.org/officeDocument/2006/relationships/image" Target="../media/image60.png"/></Relationships>
</file>

<file path=ppt/slides/_rels/slide214.xml.rels><?xml version="1.0" encoding="UTF-8" standalone="yes"?>
<Relationships xmlns="http://schemas.openxmlformats.org/package/2006/relationships"><Relationship Id="rId3" Type="http://schemas.openxmlformats.org/officeDocument/2006/relationships/chart" Target="../charts/chart141.xml"/><Relationship Id="rId2" Type="http://schemas.openxmlformats.org/officeDocument/2006/relationships/chart" Target="../charts/chart140.xml"/><Relationship Id="rId1" Type="http://schemas.openxmlformats.org/officeDocument/2006/relationships/slideLayout" Target="../slideLayouts/slideLayout8.xml"/><Relationship Id="rId4" Type="http://schemas.openxmlformats.org/officeDocument/2006/relationships/chart" Target="../charts/chart14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6.xml.rels><?xml version="1.0" encoding="UTF-8" standalone="yes"?>
<Relationships xmlns="http://schemas.openxmlformats.org/package/2006/relationships"><Relationship Id="rId3" Type="http://schemas.openxmlformats.org/officeDocument/2006/relationships/chart" Target="../charts/chart143.xml"/><Relationship Id="rId2" Type="http://schemas.openxmlformats.org/officeDocument/2006/relationships/image" Target="../media/image61.png"/><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18.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Layout" Target="../slideLayouts/slideLayout25.xml"/><Relationship Id="rId5" Type="http://schemas.openxmlformats.org/officeDocument/2006/relationships/chart" Target="../charts/chart144.xml"/><Relationship Id="rId4" Type="http://schemas.openxmlformats.org/officeDocument/2006/relationships/image" Target="../media/image60.png"/></Relationships>
</file>

<file path=ppt/slides/_rels/slide219.xml.rels><?xml version="1.0" encoding="UTF-8" standalone="yes"?>
<Relationships xmlns="http://schemas.openxmlformats.org/package/2006/relationships"><Relationship Id="rId3" Type="http://schemas.openxmlformats.org/officeDocument/2006/relationships/chart" Target="../charts/chart146.xml"/><Relationship Id="rId2" Type="http://schemas.openxmlformats.org/officeDocument/2006/relationships/chart" Target="../charts/chart145.xml"/><Relationship Id="rId1" Type="http://schemas.openxmlformats.org/officeDocument/2006/relationships/slideLayout" Target="../slideLayouts/slideLayout8.xml"/><Relationship Id="rId4" Type="http://schemas.openxmlformats.org/officeDocument/2006/relationships/chart" Target="../charts/chart147.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1.xml.rels><?xml version="1.0" encoding="UTF-8" standalone="yes"?>
<Relationships xmlns="http://schemas.openxmlformats.org/package/2006/relationships"><Relationship Id="rId3" Type="http://schemas.openxmlformats.org/officeDocument/2006/relationships/chart" Target="../charts/chart148.xml"/><Relationship Id="rId2" Type="http://schemas.openxmlformats.org/officeDocument/2006/relationships/image" Target="../media/image61.png"/><Relationship Id="rId1" Type="http://schemas.openxmlformats.org/officeDocument/2006/relationships/slideLayout" Target="../slideLayouts/slideLayout7.xml"/></Relationships>
</file>

<file path=ppt/slides/_rels/slide22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23.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Layout" Target="../slideLayouts/slideLayout25.xml"/><Relationship Id="rId5" Type="http://schemas.openxmlformats.org/officeDocument/2006/relationships/chart" Target="../charts/chart149.xml"/><Relationship Id="rId4" Type="http://schemas.openxmlformats.org/officeDocument/2006/relationships/image" Target="../media/image60.png"/></Relationships>
</file>

<file path=ppt/slides/_rels/slide224.xml.rels><?xml version="1.0" encoding="UTF-8" standalone="yes"?>
<Relationships xmlns="http://schemas.openxmlformats.org/package/2006/relationships"><Relationship Id="rId3" Type="http://schemas.openxmlformats.org/officeDocument/2006/relationships/chart" Target="../charts/chart151.xml"/><Relationship Id="rId2" Type="http://schemas.openxmlformats.org/officeDocument/2006/relationships/chart" Target="../charts/chart150.xml"/><Relationship Id="rId1" Type="http://schemas.openxmlformats.org/officeDocument/2006/relationships/slideLayout" Target="../slideLayouts/slideLayout8.xml"/><Relationship Id="rId4" Type="http://schemas.openxmlformats.org/officeDocument/2006/relationships/chart" Target="../charts/chart15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6.xml.rels><?xml version="1.0" encoding="UTF-8" standalone="yes"?>
<Relationships xmlns="http://schemas.openxmlformats.org/package/2006/relationships"><Relationship Id="rId3" Type="http://schemas.openxmlformats.org/officeDocument/2006/relationships/chart" Target="../charts/chart153.xml"/><Relationship Id="rId2" Type="http://schemas.openxmlformats.org/officeDocument/2006/relationships/image" Target="../media/image61.png"/><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28.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Layout" Target="../slideLayouts/slideLayout25.xml"/><Relationship Id="rId5" Type="http://schemas.openxmlformats.org/officeDocument/2006/relationships/chart" Target="../charts/chart154.xml"/><Relationship Id="rId4" Type="http://schemas.openxmlformats.org/officeDocument/2006/relationships/image" Target="../media/image60.png"/></Relationships>
</file>

<file path=ppt/slides/_rels/slide229.xml.rels><?xml version="1.0" encoding="UTF-8" standalone="yes"?>
<Relationships xmlns="http://schemas.openxmlformats.org/package/2006/relationships"><Relationship Id="rId3" Type="http://schemas.openxmlformats.org/officeDocument/2006/relationships/chart" Target="../charts/chart156.xml"/><Relationship Id="rId2" Type="http://schemas.openxmlformats.org/officeDocument/2006/relationships/chart" Target="../charts/chart155.xml"/><Relationship Id="rId1" Type="http://schemas.openxmlformats.org/officeDocument/2006/relationships/slideLayout" Target="../slideLayouts/slideLayout8.xml"/><Relationship Id="rId4" Type="http://schemas.openxmlformats.org/officeDocument/2006/relationships/chart" Target="../charts/chart157.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31.xml.rels><?xml version="1.0" encoding="UTF-8" standalone="yes"?>
<Relationships xmlns="http://schemas.openxmlformats.org/package/2006/relationships"><Relationship Id="rId3" Type="http://schemas.openxmlformats.org/officeDocument/2006/relationships/chart" Target="../charts/chart158.xml"/><Relationship Id="rId2" Type="http://schemas.openxmlformats.org/officeDocument/2006/relationships/image" Target="../media/image61.png"/><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33.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Layout" Target="../slideLayouts/slideLayout25.xml"/><Relationship Id="rId5" Type="http://schemas.openxmlformats.org/officeDocument/2006/relationships/chart" Target="../charts/chart159.xml"/><Relationship Id="rId4" Type="http://schemas.openxmlformats.org/officeDocument/2006/relationships/image" Target="../media/image60.png"/></Relationships>
</file>

<file path=ppt/slides/_rels/slide234.xml.rels><?xml version="1.0" encoding="UTF-8" standalone="yes"?>
<Relationships xmlns="http://schemas.openxmlformats.org/package/2006/relationships"><Relationship Id="rId3" Type="http://schemas.openxmlformats.org/officeDocument/2006/relationships/chart" Target="../charts/chart161.xml"/><Relationship Id="rId2" Type="http://schemas.openxmlformats.org/officeDocument/2006/relationships/chart" Target="../charts/chart160.xml"/><Relationship Id="rId1" Type="http://schemas.openxmlformats.org/officeDocument/2006/relationships/slideLayout" Target="../slideLayouts/slideLayout8.xml"/><Relationship Id="rId4" Type="http://schemas.openxmlformats.org/officeDocument/2006/relationships/chart" Target="../charts/chart16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36.xml.rels><?xml version="1.0" encoding="UTF-8" standalone="yes"?>
<Relationships xmlns="http://schemas.openxmlformats.org/package/2006/relationships"><Relationship Id="rId3" Type="http://schemas.openxmlformats.org/officeDocument/2006/relationships/chart" Target="../charts/chart163.xml"/><Relationship Id="rId2" Type="http://schemas.openxmlformats.org/officeDocument/2006/relationships/image" Target="../media/image61.png"/><Relationship Id="rId1" Type="http://schemas.openxmlformats.org/officeDocument/2006/relationships/slideLayout" Target="../slideLayouts/slideLayout7.xml"/></Relationships>
</file>

<file path=ppt/slides/_rels/slide23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38.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Layout" Target="../slideLayouts/slideLayout25.xml"/><Relationship Id="rId5" Type="http://schemas.openxmlformats.org/officeDocument/2006/relationships/chart" Target="../charts/chart164.xml"/><Relationship Id="rId4" Type="http://schemas.openxmlformats.org/officeDocument/2006/relationships/image" Target="../media/image60.png"/></Relationships>
</file>

<file path=ppt/slides/_rels/slide239.xml.rels><?xml version="1.0" encoding="UTF-8" standalone="yes"?>
<Relationships xmlns="http://schemas.openxmlformats.org/package/2006/relationships"><Relationship Id="rId3" Type="http://schemas.openxmlformats.org/officeDocument/2006/relationships/chart" Target="../charts/chart166.xml"/><Relationship Id="rId2" Type="http://schemas.openxmlformats.org/officeDocument/2006/relationships/chart" Target="../charts/chart165.xml"/><Relationship Id="rId1" Type="http://schemas.openxmlformats.org/officeDocument/2006/relationships/slideLayout" Target="../slideLayouts/slideLayout8.xml"/><Relationship Id="rId4" Type="http://schemas.openxmlformats.org/officeDocument/2006/relationships/chart" Target="../charts/chart16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1.xml.rels><?xml version="1.0" encoding="UTF-8" standalone="yes"?>
<Relationships xmlns="http://schemas.openxmlformats.org/package/2006/relationships"><Relationship Id="rId3" Type="http://schemas.openxmlformats.org/officeDocument/2006/relationships/chart" Target="../charts/chart168.xml"/><Relationship Id="rId2" Type="http://schemas.openxmlformats.org/officeDocument/2006/relationships/image" Target="../media/image61.png"/><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5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53.xml.rels><?xml version="1.0" encoding="UTF-8" standalone="yes"?>
<Relationships xmlns="http://schemas.openxmlformats.org/package/2006/relationships"><Relationship Id="rId2" Type="http://schemas.openxmlformats.org/officeDocument/2006/relationships/chart" Target="../charts/chart169.xml"/><Relationship Id="rId1" Type="http://schemas.openxmlformats.org/officeDocument/2006/relationships/slideLayout" Target="../slideLayouts/slideLayout25.xml"/></Relationships>
</file>

<file path=ppt/slides/_rels/slide254.xml.rels><?xml version="1.0" encoding="UTF-8" standalone="yes"?>
<Relationships xmlns="http://schemas.openxmlformats.org/package/2006/relationships"><Relationship Id="rId2" Type="http://schemas.openxmlformats.org/officeDocument/2006/relationships/chart" Target="../charts/chart170.xml"/><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3" Type="http://schemas.microsoft.com/office/2007/relationships/hdphoto" Target="../media/hdphoto23.wdp"/><Relationship Id="rId2" Type="http://schemas.openxmlformats.org/officeDocument/2006/relationships/image" Target="../media/image62.png"/><Relationship Id="rId1" Type="http://schemas.openxmlformats.org/officeDocument/2006/relationships/slideLayout" Target="../slideLayouts/slideLayout26.xml"/><Relationship Id="rId4" Type="http://schemas.openxmlformats.org/officeDocument/2006/relationships/chart" Target="../charts/chart171.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58.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tags" Target="../tags/tag3.xml"/><Relationship Id="rId7" Type="http://schemas.openxmlformats.org/officeDocument/2006/relationships/slideLayout" Target="../slideLayouts/slideLayout25.xml"/><Relationship Id="rId2" Type="http://schemas.openxmlformats.org/officeDocument/2006/relationships/tags" Target="../tags/tag2.xml"/><Relationship Id="rId1" Type="http://schemas.openxmlformats.org/officeDocument/2006/relationships/tags" Target="../tags/tag1.xml"/><Relationship Id="rId6" Type="http://schemas.openxmlformats.org/officeDocument/2006/relationships/tags" Target="../tags/tag6.xml"/><Relationship Id="rId5" Type="http://schemas.openxmlformats.org/officeDocument/2006/relationships/tags" Target="../tags/tag5.xml"/><Relationship Id="rId4" Type="http://schemas.openxmlformats.org/officeDocument/2006/relationships/tags" Target="../tags/tag4.xml"/><Relationship Id="rId9" Type="http://schemas.microsoft.com/office/2007/relationships/hdphoto" Target="../media/hdphoto24.wdp"/></Relationships>
</file>

<file path=ppt/slides/_rels/slide25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6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61.xml.rels><?xml version="1.0" encoding="UTF-8" standalone="yes"?>
<Relationships xmlns="http://schemas.openxmlformats.org/package/2006/relationships"><Relationship Id="rId8" Type="http://schemas.openxmlformats.org/officeDocument/2006/relationships/chart" Target="../charts/chart178.xml"/><Relationship Id="rId3" Type="http://schemas.openxmlformats.org/officeDocument/2006/relationships/chart" Target="../charts/chart173.xml"/><Relationship Id="rId7" Type="http://schemas.openxmlformats.org/officeDocument/2006/relationships/chart" Target="../charts/chart177.xml"/><Relationship Id="rId2" Type="http://schemas.openxmlformats.org/officeDocument/2006/relationships/chart" Target="../charts/chart172.xml"/><Relationship Id="rId1" Type="http://schemas.openxmlformats.org/officeDocument/2006/relationships/slideLayout" Target="../slideLayouts/slideLayout25.xml"/><Relationship Id="rId6" Type="http://schemas.openxmlformats.org/officeDocument/2006/relationships/chart" Target="../charts/chart176.xml"/><Relationship Id="rId5" Type="http://schemas.openxmlformats.org/officeDocument/2006/relationships/chart" Target="../charts/chart175.xml"/><Relationship Id="rId10" Type="http://schemas.openxmlformats.org/officeDocument/2006/relationships/chart" Target="../charts/chart180.xml"/><Relationship Id="rId4" Type="http://schemas.openxmlformats.org/officeDocument/2006/relationships/chart" Target="../charts/chart174.xml"/><Relationship Id="rId9" Type="http://schemas.openxmlformats.org/officeDocument/2006/relationships/chart" Target="../charts/chart179.xml"/></Relationships>
</file>

<file path=ppt/slides/_rels/slide262.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63.xml.rels><?xml version="1.0" encoding="UTF-8" standalone="yes"?>
<Relationships xmlns="http://schemas.openxmlformats.org/package/2006/relationships"><Relationship Id="rId3" Type="http://schemas.openxmlformats.org/officeDocument/2006/relationships/chart" Target="../charts/chart182.xml"/><Relationship Id="rId2" Type="http://schemas.openxmlformats.org/officeDocument/2006/relationships/chart" Target="../charts/chart181.xml"/><Relationship Id="rId1" Type="http://schemas.openxmlformats.org/officeDocument/2006/relationships/slideLayout" Target="../slideLayouts/slideLayout27.xml"/><Relationship Id="rId6" Type="http://schemas.openxmlformats.org/officeDocument/2006/relationships/chart" Target="../charts/chart184.xml"/><Relationship Id="rId5" Type="http://schemas.openxmlformats.org/officeDocument/2006/relationships/image" Target="../media/image66.png"/><Relationship Id="rId4" Type="http://schemas.openxmlformats.org/officeDocument/2006/relationships/chart" Target="../charts/chart183.xml"/></Relationships>
</file>

<file path=ppt/slides/_rels/slide264.xml.rels><?xml version="1.0" encoding="UTF-8" standalone="yes"?>
<Relationships xmlns="http://schemas.openxmlformats.org/package/2006/relationships"><Relationship Id="rId3" Type="http://schemas.microsoft.com/office/2007/relationships/hdphoto" Target="../media/hdphoto27.wdp"/><Relationship Id="rId2" Type="http://schemas.openxmlformats.org/officeDocument/2006/relationships/image" Target="../media/image67.png"/><Relationship Id="rId1" Type="http://schemas.openxmlformats.org/officeDocument/2006/relationships/slideLayout" Target="../slideLayouts/slideLayout25.xml"/><Relationship Id="rId5" Type="http://schemas.microsoft.com/office/2007/relationships/hdphoto" Target="../media/hdphoto28.wdp"/><Relationship Id="rId4" Type="http://schemas.openxmlformats.org/officeDocument/2006/relationships/image" Target="../media/image68.png"/></Relationships>
</file>

<file path=ppt/slides/_rels/slide265.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66.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67.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68.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69.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70.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71.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72.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73.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74.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75.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76.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77.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78.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79.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80.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81.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82.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83.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64.png"/><Relationship Id="rId1" Type="http://schemas.openxmlformats.org/officeDocument/2006/relationships/slideLayout" Target="../slideLayouts/slideLayout25.xml"/><Relationship Id="rId5" Type="http://schemas.microsoft.com/office/2007/relationships/hdphoto" Target="../media/hdphoto26.wdp"/><Relationship Id="rId4" Type="http://schemas.openxmlformats.org/officeDocument/2006/relationships/image" Target="../media/image65.png"/></Relationships>
</file>

<file path=ppt/slides/_rels/slide28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6.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slideLayout" Target="../slideLayouts/slideLayout25.xml"/><Relationship Id="rId4" Type="http://schemas.openxmlformats.org/officeDocument/2006/relationships/chart" Target="../charts/chart185.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8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90.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25.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94.xml.rels><?xml version="1.0" encoding="UTF-8" standalone="yes"?>
<Relationships xmlns="http://schemas.openxmlformats.org/package/2006/relationships"><Relationship Id="rId3" Type="http://schemas.openxmlformats.org/officeDocument/2006/relationships/image" Target="../media/image71.jpg"/><Relationship Id="rId2" Type="http://schemas.openxmlformats.org/officeDocument/2006/relationships/notesSlide" Target="../notesSlides/notesSlide56.xml"/><Relationship Id="rId1" Type="http://schemas.openxmlformats.org/officeDocument/2006/relationships/slideLayout" Target="../slideLayouts/slideLayout25.xml"/><Relationship Id="rId4" Type="http://schemas.openxmlformats.org/officeDocument/2006/relationships/image" Target="../media/image7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
            <a:extLst>
              <a:ext uri="{FF2B5EF4-FFF2-40B4-BE49-F238E27FC236}">
                <a16:creationId xmlns:a16="http://schemas.microsoft.com/office/drawing/2014/main" id="{C7021366-A59A-8F49-E457-CE02C74158AB}"/>
              </a:ext>
            </a:extLst>
          </p:cNvPr>
          <p:cNvSpPr>
            <a:spLocks noGrp="1"/>
          </p:cNvSpPr>
          <p:nvPr>
            <p:ph type="ctrTitle" hasCustomPrompt="1"/>
          </p:nvPr>
        </p:nvSpPr>
        <p:spPr bwMode="gray">
          <a:xfrm>
            <a:off x="2887038" y="1480455"/>
            <a:ext cx="9216989" cy="2114377"/>
          </a:xfrm>
        </p:spPr>
        <p:txBody>
          <a:bodyPr anchor="b">
            <a:noAutofit/>
          </a:bodyPr>
          <a:lstStyle>
            <a:lvl1pPr algn="l">
              <a:defRPr sz="3600" b="1">
                <a:solidFill>
                  <a:sysClr val="windowText" lastClr="000000"/>
                </a:solidFill>
                <a:latin typeface="Calibri" panose="020F0502020204030204" pitchFamily="34" charset="0"/>
                <a:cs typeface="Calibri" panose="020F0502020204030204" pitchFamily="34" charset="0"/>
              </a:defRPr>
            </a:lvl1pPr>
          </a:lstStyle>
          <a:p>
            <a:r>
              <a:rPr lang="en-US" noProof="0" dirty="0"/>
              <a:t>Target Market</a:t>
            </a:r>
            <a:endParaRPr lang="en-GB" noProof="0" dirty="0"/>
          </a:p>
        </p:txBody>
      </p:sp>
      <p:sp>
        <p:nvSpPr>
          <p:cNvPr id="19" name="Subtitle 2">
            <a:extLst>
              <a:ext uri="{FF2B5EF4-FFF2-40B4-BE49-F238E27FC236}">
                <a16:creationId xmlns:a16="http://schemas.microsoft.com/office/drawing/2014/main" id="{892EDD5C-8176-C4BE-C570-D3D16C8D35E6}"/>
              </a:ext>
            </a:extLst>
          </p:cNvPr>
          <p:cNvSpPr>
            <a:spLocks noGrp="1"/>
          </p:cNvSpPr>
          <p:nvPr>
            <p:ph type="subTitle" idx="1"/>
          </p:nvPr>
        </p:nvSpPr>
        <p:spPr bwMode="gray">
          <a:xfrm>
            <a:off x="2887038" y="3612121"/>
            <a:ext cx="9216989" cy="898917"/>
          </a:xfrm>
        </p:spPr>
        <p:txBody>
          <a:bodyPr>
            <a:noAutofit/>
          </a:bodyPr>
          <a:lstStyle>
            <a:lvl1pPr marL="0" indent="0" algn="l">
              <a:buNone/>
              <a:defRPr sz="1800">
                <a:solidFill>
                  <a:sysClr val="windowText" lastClr="000000"/>
                </a:solidFill>
                <a:latin typeface="Calibri" panose="020F0502020204030204" pitchFamily="34" charset="0"/>
                <a:cs typeface="Calibri" panose="020F0502020204030204" pitchFamily="34" charset="0"/>
              </a:defRPr>
            </a:lvl1pPr>
            <a:lvl2pPr marL="457196" indent="0" algn="ctr">
              <a:buNone/>
              <a:defRPr sz="2000"/>
            </a:lvl2pPr>
            <a:lvl3pPr marL="914391" indent="0" algn="ctr">
              <a:buNone/>
              <a:defRPr sz="1800"/>
            </a:lvl3pPr>
            <a:lvl4pPr marL="1371587" indent="0" algn="ctr">
              <a:buNone/>
              <a:defRPr sz="1600"/>
            </a:lvl4pPr>
            <a:lvl5pPr marL="1828783" indent="0" algn="ctr">
              <a:buNone/>
              <a:defRPr sz="1600"/>
            </a:lvl5pPr>
            <a:lvl6pPr marL="2285978" indent="0" algn="ctr">
              <a:buNone/>
              <a:defRPr sz="1600"/>
            </a:lvl6pPr>
            <a:lvl7pPr marL="2743174" indent="0" algn="ctr">
              <a:buNone/>
              <a:defRPr sz="1600"/>
            </a:lvl7pPr>
            <a:lvl8pPr marL="3200370" indent="0" algn="ctr">
              <a:buNone/>
              <a:defRPr sz="1600"/>
            </a:lvl8pPr>
            <a:lvl9pPr marL="3657565" indent="0" algn="ctr">
              <a:buNone/>
              <a:defRPr sz="1600"/>
            </a:lvl9pPr>
          </a:lstStyle>
          <a:p>
            <a:r>
              <a:rPr lang="en-US" sz="2000" noProof="0" dirty="0"/>
              <a:t>Global Industry Analysis 2021–2025 and Opportunity Assessment, 2026–2036</a:t>
            </a:r>
            <a:endParaRPr lang="en-GB" sz="2000" noProof="0" dirty="0"/>
          </a:p>
        </p:txBody>
      </p:sp>
    </p:spTree>
    <p:extLst>
      <p:ext uri="{BB962C8B-B14F-4D97-AF65-F5344CB8AC3E}">
        <p14:creationId xmlns:p14="http://schemas.microsoft.com/office/powerpoint/2010/main" val="35675095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GB" dirty="0"/>
              <a:t>Table of Content (1/15)</a:t>
            </a:r>
          </a:p>
        </p:txBody>
      </p:sp>
      <p:graphicFrame>
        <p:nvGraphicFramePr>
          <p:cNvPr id="7" name="Table 6"/>
          <p:cNvGraphicFramePr>
            <a:graphicFrameLocks noGrp="1"/>
          </p:cNvGraphicFramePr>
          <p:nvPr>
            <p:extLst>
              <p:ext uri="{D42A27DB-BD31-4B8C-83A1-F6EECF244321}">
                <p14:modId xmlns:p14="http://schemas.microsoft.com/office/powerpoint/2010/main" val="1937616307"/>
              </p:ext>
            </p:extLst>
          </p:nvPr>
        </p:nvGraphicFramePr>
        <p:xfrm>
          <a:off x="2278966" y="1132128"/>
          <a:ext cx="9760634" cy="5074980"/>
        </p:xfrm>
        <a:graphic>
          <a:graphicData uri="http://schemas.openxmlformats.org/drawingml/2006/table">
            <a:tbl>
              <a:tblPr bandRow="1">
                <a:tableStyleId>{5C22544A-7EE6-4342-B048-85BDC9FD1C3A}</a:tableStyleId>
              </a:tblPr>
              <a:tblGrid>
                <a:gridCol w="9760634">
                  <a:extLst>
                    <a:ext uri="{9D8B030D-6E8A-4147-A177-3AD203B41FA5}">
                      <a16:colId xmlns:a16="http://schemas.microsoft.com/office/drawing/2014/main" val="20000"/>
                    </a:ext>
                  </a:extLst>
                </a:gridCol>
              </a:tblGrid>
              <a:tr h="169166">
                <a:tc>
                  <a:txBody>
                    <a:bodyPr/>
                    <a:lstStyle/>
                    <a:p>
                      <a:pPr marL="0" marR="0" indent="0" algn="l" defTabSz="914391" rtl="0" eaLnBrk="1" fontAlgn="ctr" latinLnBrk="0" hangingPunct="1">
                        <a:lnSpc>
                          <a:spcPct val="100000"/>
                        </a:lnSpc>
                        <a:spcBef>
                          <a:spcPts val="0"/>
                        </a:spcBef>
                        <a:spcAft>
                          <a:spcPts val="0"/>
                        </a:spcAft>
                        <a:buClrTx/>
                        <a:buSzTx/>
                        <a:buFontTx/>
                        <a:buNone/>
                        <a:tabLst/>
                        <a:defRPr/>
                      </a:pPr>
                      <a:r>
                        <a:rPr lang="en-IN" sz="1000" b="1" dirty="0"/>
                        <a:t>            H!Y!</a:t>
                      </a:r>
                      <a:r>
                        <a:rPr lang="en-US" sz="1000" b="1" u="none" strike="noStrike" baseline="0" dirty="0">
                          <a:effectLst/>
                        </a:rPr>
                        <a:t>   =   2019 Market Value</a:t>
                      </a:r>
                      <a:endParaRPr lang="en-US" sz="1000" b="1" dirty="0"/>
                    </a:p>
                  </a:txBody>
                  <a:tcPr marL="257175" marR="9525" marT="9525" marB="0" anchor="ctr"/>
                </a:tc>
                <a:extLst>
                  <a:ext uri="{0D108BD9-81ED-4DB2-BD59-A6C34878D82A}">
                    <a16:rowId xmlns:a16="http://schemas.microsoft.com/office/drawing/2014/main" val="10000"/>
                  </a:ext>
                </a:extLst>
              </a:tr>
              <a:tr h="169166">
                <a:tc>
                  <a:txBody>
                    <a:bodyPr/>
                    <a:lstStyle/>
                    <a:p>
                      <a:pPr algn="l"/>
                      <a:r>
                        <a:rPr lang="en-IN" sz="1000" b="1" dirty="0"/>
                        <a:t>B!Y!   =</a:t>
                      </a:r>
                      <a:r>
                        <a:rPr lang="en-IN" sz="1000" b="1" baseline="0" dirty="0"/>
                        <a:t>   2024 </a:t>
                      </a:r>
                      <a:r>
                        <a:rPr lang="en-IN" sz="1000" b="1" baseline="0" dirty="0" err="1"/>
                        <a:t>markt</a:t>
                      </a:r>
                      <a:r>
                        <a:rPr lang="en-IN" sz="1000" b="1" baseline="0" dirty="0"/>
                        <a:t> value</a:t>
                      </a:r>
                      <a:endParaRPr lang="en-US" sz="1000" b="1" dirty="0"/>
                    </a:p>
                  </a:txBody>
                  <a:tcPr marL="600075" marR="9525" marT="9525" marB="0" anchor="ctr"/>
                </a:tc>
                <a:extLst>
                  <a:ext uri="{0D108BD9-81ED-4DB2-BD59-A6C34878D82A}">
                    <a16:rowId xmlns:a16="http://schemas.microsoft.com/office/drawing/2014/main" val="10001"/>
                  </a:ext>
                </a:extLst>
              </a:tr>
              <a:tr h="169166">
                <a:tc>
                  <a:txBody>
                    <a:bodyPr/>
                    <a:lstStyle/>
                    <a:p>
                      <a:pPr algn="l" fontAlgn="ctr"/>
                      <a:r>
                        <a:rPr lang="en-US" sz="1000" b="1" u="none" strike="noStrike" dirty="0">
                          <a:effectLst/>
                        </a:rPr>
                        <a:t>F!Y!    =   2034 market value</a:t>
                      </a:r>
                      <a:endParaRPr lang="en-US" sz="1000" b="1" i="0" u="none" strike="noStrike" dirty="0">
                        <a:solidFill>
                          <a:srgbClr val="000000"/>
                        </a:solidFill>
                        <a:effectLst/>
                        <a:latin typeface="Calibri" panose="020F0502020204030204" pitchFamily="34" charset="0"/>
                      </a:endParaRPr>
                    </a:p>
                  </a:txBody>
                  <a:tcPr marL="600075" marR="9525" marT="9525" marB="0" anchor="ctr"/>
                </a:tc>
                <a:extLst>
                  <a:ext uri="{0D108BD9-81ED-4DB2-BD59-A6C34878D82A}">
                    <a16:rowId xmlns:a16="http://schemas.microsoft.com/office/drawing/2014/main" val="10002"/>
                  </a:ext>
                </a:extLst>
              </a:tr>
              <a:tr h="169166">
                <a:tc>
                  <a:txBody>
                    <a:bodyPr/>
                    <a:lstStyle/>
                    <a:p>
                      <a:pPr algn="l" fontAlgn="ctr"/>
                      <a:r>
                        <a:rPr lang="en-GB" sz="1000" b="1" u="none" strike="noStrike" kern="1200" baseline="0" dirty="0" err="1">
                          <a:effectLst/>
                        </a:rPr>
                        <a:t>VaC</a:t>
                      </a:r>
                      <a:r>
                        <a:rPr lang="en-GB" sz="1000" b="1" u="none" strike="noStrike" kern="1200" baseline="0" dirty="0">
                          <a:effectLst/>
                        </a:rPr>
                        <a:t>!%  = Value CAGR 10 </a:t>
                      </a:r>
                      <a:r>
                        <a:rPr lang="en-GB" sz="1000" b="1" u="none" strike="noStrike" kern="1200" baseline="0" dirty="0" err="1">
                          <a:effectLst/>
                        </a:rPr>
                        <a:t>Yr</a:t>
                      </a:r>
                      <a:endParaRPr lang="en-US" sz="1000" b="1" i="0" u="none" strike="noStrike" kern="1200" baseline="0" dirty="0">
                        <a:solidFill>
                          <a:srgbClr val="000000"/>
                        </a:solidFill>
                        <a:effectLst/>
                        <a:latin typeface="Calibri" panose="020F0502020204030204" pitchFamily="34" charset="0"/>
                        <a:ea typeface="+mn-ea"/>
                        <a:cs typeface="+mn-cs"/>
                      </a:endParaRPr>
                    </a:p>
                  </a:txBody>
                  <a:tcPr marL="600075" marR="9525" marT="9525" marB="0" anchor="ctr"/>
                </a:tc>
                <a:extLst>
                  <a:ext uri="{0D108BD9-81ED-4DB2-BD59-A6C34878D82A}">
                    <a16:rowId xmlns:a16="http://schemas.microsoft.com/office/drawing/2014/main" val="10003"/>
                  </a:ext>
                </a:extLst>
              </a:tr>
              <a:tr h="169166">
                <a:tc>
                  <a:txBody>
                    <a:bodyPr/>
                    <a:lstStyle/>
                    <a:p>
                      <a:pPr algn="l" fontAlgn="ctr"/>
                      <a:r>
                        <a:rPr lang="en-US" sz="1000" b="1" u="none" strike="noStrike" dirty="0" err="1">
                          <a:effectLst/>
                        </a:rPr>
                        <a:t>VoC</a:t>
                      </a:r>
                      <a:r>
                        <a:rPr lang="en-US" sz="1000" b="1" u="none" strike="noStrike" dirty="0">
                          <a:effectLst/>
                        </a:rPr>
                        <a:t>!%</a:t>
                      </a:r>
                      <a:r>
                        <a:rPr lang="en-US" sz="1000" b="1" u="none" strike="noStrike" baseline="0" dirty="0">
                          <a:effectLst/>
                        </a:rPr>
                        <a:t>   = Volume CAGR 10 </a:t>
                      </a:r>
                      <a:r>
                        <a:rPr lang="en-US" sz="1000" b="1" u="none" strike="noStrike" baseline="0" dirty="0" err="1">
                          <a:effectLst/>
                        </a:rPr>
                        <a:t>Yr</a:t>
                      </a:r>
                      <a:endParaRPr lang="en-US" sz="1000" b="1" i="0" u="none" strike="noStrike" dirty="0">
                        <a:solidFill>
                          <a:srgbClr val="000000"/>
                        </a:solidFill>
                        <a:effectLst/>
                        <a:latin typeface="Calibri" panose="020F0502020204030204" pitchFamily="34" charset="0"/>
                      </a:endParaRPr>
                    </a:p>
                  </a:txBody>
                  <a:tcPr marL="600075" marR="9525" marT="9525" marB="0" anchor="ctr"/>
                </a:tc>
                <a:extLst>
                  <a:ext uri="{0D108BD9-81ED-4DB2-BD59-A6C34878D82A}">
                    <a16:rowId xmlns:a16="http://schemas.microsoft.com/office/drawing/2014/main" val="10004"/>
                  </a:ext>
                </a:extLst>
              </a:tr>
              <a:tr h="169166">
                <a:tc>
                  <a:txBody>
                    <a:bodyPr/>
                    <a:lstStyle/>
                    <a:p>
                      <a:pPr algn="l" fontAlgn="ctr"/>
                      <a:r>
                        <a:rPr lang="en-US" sz="1000" b="1" u="none" strike="noStrike" dirty="0" err="1">
                          <a:effectLst/>
                        </a:rPr>
                        <a:t>CompanyA</a:t>
                      </a:r>
                      <a:r>
                        <a:rPr lang="en-US" sz="1000" b="1" u="none" strike="noStrike" dirty="0">
                          <a:effectLst/>
                        </a:rPr>
                        <a:t> to </a:t>
                      </a:r>
                      <a:r>
                        <a:rPr lang="en-US" sz="1000" b="1" u="none" strike="noStrike" dirty="0" err="1">
                          <a:effectLst/>
                        </a:rPr>
                        <a:t>CompanyF</a:t>
                      </a:r>
                      <a:r>
                        <a:rPr lang="en-US" sz="1000" b="1" u="none" strike="noStrike" dirty="0">
                          <a:effectLst/>
                        </a:rPr>
                        <a:t>  = Company Names</a:t>
                      </a:r>
                      <a:endParaRPr lang="en-US" sz="1000" b="1" i="0" u="none" strike="noStrike" dirty="0">
                        <a:solidFill>
                          <a:srgbClr val="000000"/>
                        </a:solidFill>
                        <a:effectLst/>
                        <a:latin typeface="Calibri" panose="020F0502020204030204" pitchFamily="34" charset="0"/>
                      </a:endParaRPr>
                    </a:p>
                  </a:txBody>
                  <a:tcPr marL="600075" marR="9525" marT="9525" marB="0" anchor="ctr"/>
                </a:tc>
                <a:extLst>
                  <a:ext uri="{0D108BD9-81ED-4DB2-BD59-A6C34878D82A}">
                    <a16:rowId xmlns:a16="http://schemas.microsoft.com/office/drawing/2014/main" val="10005"/>
                  </a:ext>
                </a:extLst>
              </a:tr>
              <a:tr h="169166">
                <a:tc>
                  <a:txBody>
                    <a:bodyPr/>
                    <a:lstStyle/>
                    <a:p>
                      <a:pPr algn="l" fontAlgn="ctr"/>
                      <a:r>
                        <a:rPr lang="en-US" sz="1000" b="1" u="none" strike="noStrike" dirty="0">
                          <a:effectLst/>
                        </a:rPr>
                        <a:t>Trend1     Trend2    Trend3    Trend4   </a:t>
                      </a:r>
                      <a:r>
                        <a:rPr lang="en-US" sz="1000" b="1" u="none" strike="noStrike" dirty="0" err="1">
                          <a:effectLst/>
                        </a:rPr>
                        <a:t>Trend4</a:t>
                      </a:r>
                      <a:r>
                        <a:rPr lang="en-US" sz="1000" b="1" u="none" strike="noStrike" dirty="0">
                          <a:effectLst/>
                        </a:rPr>
                        <a:t>    Trend5      Trend-3</a:t>
                      </a:r>
                      <a:r>
                        <a:rPr lang="en-US" sz="1000" b="1" u="none" strike="noStrike" baseline="0" dirty="0">
                          <a:effectLst/>
                        </a:rPr>
                        <a:t>= Explanation in 40 words</a:t>
                      </a:r>
                      <a:endParaRPr lang="en-US" sz="1000" b="1" i="0" u="none" strike="noStrike" dirty="0">
                        <a:solidFill>
                          <a:srgbClr val="000000"/>
                        </a:solidFill>
                        <a:effectLst/>
                        <a:latin typeface="Calibri" panose="020F0502020204030204" pitchFamily="34" charset="0"/>
                      </a:endParaRPr>
                    </a:p>
                  </a:txBody>
                  <a:tcPr marL="257175" marR="9525" marT="9525" marB="0" anchor="ctr"/>
                </a:tc>
                <a:extLst>
                  <a:ext uri="{0D108BD9-81ED-4DB2-BD59-A6C34878D82A}">
                    <a16:rowId xmlns:a16="http://schemas.microsoft.com/office/drawing/2014/main" val="10006"/>
                  </a:ext>
                </a:extLst>
              </a:tr>
              <a:tr h="169166">
                <a:tc>
                  <a:txBody>
                    <a:bodyPr/>
                    <a:lstStyle/>
                    <a:p>
                      <a:pPr algn="l" fontAlgn="ctr"/>
                      <a:r>
                        <a:rPr lang="en-US" sz="1000" b="1" u="none" strike="noStrike" dirty="0">
                          <a:effectLst/>
                        </a:rPr>
                        <a:t>Driver1   driver2     Restraints1</a:t>
                      </a:r>
                      <a:r>
                        <a:rPr lang="en-US" sz="1000" b="1" u="none" strike="noStrike" baseline="0" dirty="0">
                          <a:effectLst/>
                        </a:rPr>
                        <a:t>     Restraints2     Opportunity1    Opportunity2</a:t>
                      </a:r>
                      <a:endParaRPr lang="en-US" sz="1000" b="1" i="0" u="none" strike="noStrike" dirty="0">
                        <a:solidFill>
                          <a:srgbClr val="000000"/>
                        </a:solidFill>
                        <a:effectLst/>
                        <a:latin typeface="Calibri" panose="020F0502020204030204" pitchFamily="34" charset="0"/>
                      </a:endParaRPr>
                    </a:p>
                  </a:txBody>
                  <a:tcPr marL="600075" marR="9525" marT="9525" marB="0" anchor="ctr"/>
                </a:tc>
                <a:extLst>
                  <a:ext uri="{0D108BD9-81ED-4DB2-BD59-A6C34878D82A}">
                    <a16:rowId xmlns:a16="http://schemas.microsoft.com/office/drawing/2014/main" val="10007"/>
                  </a:ext>
                </a:extLst>
              </a:tr>
              <a:tr h="169166">
                <a:tc>
                  <a:txBody>
                    <a:bodyPr/>
                    <a:lstStyle/>
                    <a:p>
                      <a:pPr algn="l" fontAlgn="ctr"/>
                      <a:r>
                        <a:rPr lang="en-US" sz="1000" b="1" dirty="0"/>
                        <a:t>  Category-A      Category-B         Category-C         Category-D         Category-E          Category-F      =</a:t>
                      </a:r>
                      <a:r>
                        <a:rPr lang="en-US" sz="1000" b="1" baseline="0" dirty="0"/>
                        <a:t> Segments</a:t>
                      </a:r>
                      <a:r>
                        <a:rPr lang="en-US" sz="1000" b="1" dirty="0"/>
                        <a:t>    </a:t>
                      </a:r>
                      <a:endParaRPr lang="en-US" sz="1000" b="1" i="0" u="none" strike="noStrike" dirty="0">
                        <a:solidFill>
                          <a:schemeClr val="tx1"/>
                        </a:solidFill>
                        <a:effectLst/>
                        <a:latin typeface="Calibri" panose="020F0502020204030204" pitchFamily="34" charset="0"/>
                      </a:endParaRPr>
                    </a:p>
                  </a:txBody>
                  <a:tcPr marL="600075" marR="9525" marT="9525" marB="0" anchor="ctr"/>
                </a:tc>
                <a:extLst>
                  <a:ext uri="{0D108BD9-81ED-4DB2-BD59-A6C34878D82A}">
                    <a16:rowId xmlns:a16="http://schemas.microsoft.com/office/drawing/2014/main" val="10008"/>
                  </a:ext>
                </a:extLst>
              </a:tr>
              <a:tr h="169166">
                <a:tc>
                  <a:txBody>
                    <a:bodyPr/>
                    <a:lstStyle/>
                    <a:p>
                      <a:pPr marL="0" marR="0" indent="0" algn="l" defTabSz="914391" rtl="0" eaLnBrk="1" fontAlgn="ctr" latinLnBrk="0" hangingPunct="1">
                        <a:lnSpc>
                          <a:spcPct val="100000"/>
                        </a:lnSpc>
                        <a:spcBef>
                          <a:spcPts val="0"/>
                        </a:spcBef>
                        <a:spcAft>
                          <a:spcPts val="0"/>
                        </a:spcAft>
                        <a:buClrTx/>
                        <a:buSzTx/>
                        <a:buFontTx/>
                        <a:buNone/>
                        <a:tabLst/>
                        <a:defRPr/>
                      </a:pPr>
                      <a:r>
                        <a:rPr lang="en-GB" sz="1000" b="1" dirty="0"/>
                        <a:t>      Categorya1  Categoryb1     Categoryc1     Categoryd1     Categorye1   Categoryf1    =  Sub Segments</a:t>
                      </a:r>
                      <a:endParaRPr lang="en-GB" sz="1000" b="1" dirty="0">
                        <a:solidFill>
                          <a:schemeClr val="tx1"/>
                        </a:solidFill>
                        <a:latin typeface="Malgun Gothic" panose="020B0503020000020004" pitchFamily="34" charset="-127"/>
                        <a:ea typeface="Malgun Gothic" panose="020B0503020000020004" pitchFamily="34" charset="-127"/>
                      </a:endParaRPr>
                    </a:p>
                  </a:txBody>
                  <a:tcPr marL="257175" marR="9525" marT="9525" marB="0" anchor="ctr"/>
                </a:tc>
                <a:extLst>
                  <a:ext uri="{0D108BD9-81ED-4DB2-BD59-A6C34878D82A}">
                    <a16:rowId xmlns:a16="http://schemas.microsoft.com/office/drawing/2014/main" val="10009"/>
                  </a:ext>
                </a:extLst>
              </a:tr>
              <a:tr h="169166">
                <a:tc>
                  <a:txBody>
                    <a:bodyPr/>
                    <a:lstStyle/>
                    <a:p>
                      <a:pPr marL="0" marR="0" indent="0" algn="l" defTabSz="914391" rtl="0" eaLnBrk="1" fontAlgn="ctr" latinLnBrk="0" hangingPunct="1">
                        <a:lnSpc>
                          <a:spcPct val="100000"/>
                        </a:lnSpc>
                        <a:spcBef>
                          <a:spcPts val="0"/>
                        </a:spcBef>
                        <a:spcAft>
                          <a:spcPts val="0"/>
                        </a:spcAft>
                        <a:buClrTx/>
                        <a:buSzTx/>
                        <a:buFontTx/>
                        <a:buNone/>
                        <a:tabLst/>
                        <a:defRPr/>
                      </a:pPr>
                      <a:r>
                        <a:rPr lang="en-GB" sz="1000" b="1" dirty="0"/>
                        <a:t>Categorya2   Categoryb2  Categoryc2      Categoryd2    Categorye2   Categoryf2</a:t>
                      </a:r>
                      <a:endParaRPr lang="en-GB" sz="1000" b="1" dirty="0">
                        <a:solidFill>
                          <a:schemeClr val="tx1"/>
                        </a:solidFill>
                        <a:latin typeface="Malgun Gothic" panose="020B0503020000020004" pitchFamily="34" charset="-127"/>
                        <a:ea typeface="Malgun Gothic" panose="020B0503020000020004" pitchFamily="34" charset="-127"/>
                      </a:endParaRPr>
                    </a:p>
                  </a:txBody>
                  <a:tcPr marL="600075" marR="9525" marT="9525" marB="0" anchor="ctr"/>
                </a:tc>
                <a:extLst>
                  <a:ext uri="{0D108BD9-81ED-4DB2-BD59-A6C34878D82A}">
                    <a16:rowId xmlns:a16="http://schemas.microsoft.com/office/drawing/2014/main" val="10010"/>
                  </a:ext>
                </a:extLst>
              </a:tr>
              <a:tr h="169166">
                <a:tc>
                  <a:txBody>
                    <a:bodyPr/>
                    <a:lstStyle/>
                    <a:p>
                      <a:pPr marL="0" marR="0" indent="0" algn="l" defTabSz="914391" rtl="0" eaLnBrk="1" fontAlgn="ctr" latinLnBrk="0" hangingPunct="1">
                        <a:lnSpc>
                          <a:spcPct val="100000"/>
                        </a:lnSpc>
                        <a:spcBef>
                          <a:spcPts val="0"/>
                        </a:spcBef>
                        <a:spcAft>
                          <a:spcPts val="0"/>
                        </a:spcAft>
                        <a:buClrTx/>
                        <a:buSzTx/>
                        <a:buFontTx/>
                        <a:buNone/>
                        <a:tabLst/>
                        <a:defRPr/>
                      </a:pPr>
                      <a:r>
                        <a:rPr lang="en-GB" sz="1000" b="1" dirty="0"/>
                        <a:t>       Categorya3   Categoryb3  </a:t>
                      </a:r>
                      <a:r>
                        <a:rPr lang="en-GB" sz="1000" b="1" baseline="0" dirty="0"/>
                        <a:t>  </a:t>
                      </a:r>
                      <a:r>
                        <a:rPr lang="en-GB" sz="1000" b="1" dirty="0"/>
                        <a:t>Categoryc3     Categoryd3    Categorye3    Categoryf3</a:t>
                      </a:r>
                      <a:endParaRPr lang="en-GB" sz="1000" b="1" dirty="0">
                        <a:solidFill>
                          <a:schemeClr val="tx1"/>
                        </a:solidFill>
                        <a:latin typeface="Malgun Gothic" panose="020B0503020000020004" pitchFamily="34" charset="-127"/>
                        <a:ea typeface="Malgun Gothic" panose="020B0503020000020004" pitchFamily="34" charset="-127"/>
                      </a:endParaRPr>
                    </a:p>
                  </a:txBody>
                  <a:tcPr marL="257175" marR="9525" marT="9525" marB="0" anchor="ctr"/>
                </a:tc>
                <a:extLst>
                  <a:ext uri="{0D108BD9-81ED-4DB2-BD59-A6C34878D82A}">
                    <a16:rowId xmlns:a16="http://schemas.microsoft.com/office/drawing/2014/main" val="10011"/>
                  </a:ext>
                </a:extLst>
              </a:tr>
              <a:tr h="169166">
                <a:tc>
                  <a:txBody>
                    <a:bodyPr/>
                    <a:lstStyle/>
                    <a:p>
                      <a:pPr marL="0" marR="0" indent="0" algn="l" defTabSz="914391" rtl="0" eaLnBrk="1" fontAlgn="ctr" latinLnBrk="0" hangingPunct="1">
                        <a:lnSpc>
                          <a:spcPct val="100000"/>
                        </a:lnSpc>
                        <a:spcBef>
                          <a:spcPts val="0"/>
                        </a:spcBef>
                        <a:spcAft>
                          <a:spcPts val="0"/>
                        </a:spcAft>
                        <a:buClrTx/>
                        <a:buSzTx/>
                        <a:buFontTx/>
                        <a:buNone/>
                        <a:tabLst/>
                        <a:defRPr/>
                      </a:pPr>
                      <a:r>
                        <a:rPr lang="en-GB" sz="1000" b="1" dirty="0"/>
                        <a:t>        Categorya4   Categoryb4   Categoryc4      Categoryd4    Categorye4   Categoryf4</a:t>
                      </a:r>
                      <a:endParaRPr lang="en-GB" sz="1000" b="1" dirty="0">
                        <a:solidFill>
                          <a:schemeClr val="tx1"/>
                        </a:solidFill>
                        <a:latin typeface="Malgun Gothic" panose="020B0503020000020004" pitchFamily="34" charset="-127"/>
                        <a:ea typeface="Malgun Gothic" panose="020B0503020000020004" pitchFamily="34" charset="-127"/>
                      </a:endParaRPr>
                    </a:p>
                  </a:txBody>
                  <a:tcPr marL="257175" marR="9525" marT="9525" marB="0" anchor="ctr"/>
                </a:tc>
                <a:extLst>
                  <a:ext uri="{0D108BD9-81ED-4DB2-BD59-A6C34878D82A}">
                    <a16:rowId xmlns:a16="http://schemas.microsoft.com/office/drawing/2014/main" val="10012"/>
                  </a:ext>
                </a:extLst>
              </a:tr>
              <a:tr h="169166">
                <a:tc>
                  <a:txBody>
                    <a:bodyPr/>
                    <a:lstStyle/>
                    <a:p>
                      <a:pPr marL="0" marR="0" indent="0" algn="l" defTabSz="914391" rtl="0" eaLnBrk="1" fontAlgn="auto" latinLnBrk="0" hangingPunct="1">
                        <a:lnSpc>
                          <a:spcPct val="100000"/>
                        </a:lnSpc>
                        <a:spcBef>
                          <a:spcPts val="0"/>
                        </a:spcBef>
                        <a:spcAft>
                          <a:spcPts val="0"/>
                        </a:spcAft>
                        <a:buClrTx/>
                        <a:buSzTx/>
                        <a:buFontTx/>
                        <a:buNone/>
                        <a:tabLst/>
                        <a:defRPr/>
                      </a:pPr>
                      <a:r>
                        <a:rPr lang="en-GB" sz="1000" b="1" dirty="0"/>
                        <a:t> Categorya5  Categoryb5    Categoryc5     Categoryd5    Categorye5    Categoryf5</a:t>
                      </a:r>
                      <a:endParaRPr lang="en-GB" sz="1000" b="1" dirty="0">
                        <a:solidFill>
                          <a:schemeClr val="tx1"/>
                        </a:solidFill>
                        <a:latin typeface="Malgun Gothic" panose="020B0503020000020004" pitchFamily="34" charset="-127"/>
                        <a:ea typeface="Malgun Gothic" panose="020B0503020000020004" pitchFamily="34" charset="-127"/>
                      </a:endParaRPr>
                    </a:p>
                  </a:txBody>
                  <a:tcPr marL="600075" marR="9525" marT="9525" marB="0" anchor="ctr"/>
                </a:tc>
                <a:extLst>
                  <a:ext uri="{0D108BD9-81ED-4DB2-BD59-A6C34878D82A}">
                    <a16:rowId xmlns:a16="http://schemas.microsoft.com/office/drawing/2014/main" val="10013"/>
                  </a:ext>
                </a:extLst>
              </a:tr>
              <a:tr h="169166">
                <a:tc>
                  <a:txBody>
                    <a:bodyPr/>
                    <a:lstStyle/>
                    <a:p>
                      <a:pPr marL="0" marR="0" indent="0" algn="l" defTabSz="914391" rtl="0" eaLnBrk="1" fontAlgn="ctr" latinLnBrk="0" hangingPunct="1">
                        <a:lnSpc>
                          <a:spcPct val="100000"/>
                        </a:lnSpc>
                        <a:spcBef>
                          <a:spcPts val="0"/>
                        </a:spcBef>
                        <a:spcAft>
                          <a:spcPts val="0"/>
                        </a:spcAft>
                        <a:buClrTx/>
                        <a:buSzTx/>
                        <a:buFontTx/>
                        <a:buNone/>
                        <a:tabLst/>
                        <a:defRPr/>
                      </a:pPr>
                      <a:r>
                        <a:rPr lang="en-GB" sz="1000" b="1" dirty="0"/>
                        <a:t>Categorya6   Categoryb6  Categoryc6       Categoryd6    Categorye6    Categoryf6</a:t>
                      </a:r>
                      <a:endParaRPr lang="en-GB" sz="1000" b="1" dirty="0">
                        <a:solidFill>
                          <a:schemeClr val="tx1"/>
                        </a:solidFill>
                        <a:latin typeface="Malgun Gothic" panose="020B0503020000020004" pitchFamily="34" charset="-127"/>
                        <a:ea typeface="Malgun Gothic" panose="020B0503020000020004" pitchFamily="34" charset="-127"/>
                      </a:endParaRPr>
                    </a:p>
                  </a:txBody>
                  <a:tcPr marL="600075" marR="9525" marT="9525" marB="0" anchor="ctr"/>
                </a:tc>
                <a:extLst>
                  <a:ext uri="{0D108BD9-81ED-4DB2-BD59-A6C34878D82A}">
                    <a16:rowId xmlns:a16="http://schemas.microsoft.com/office/drawing/2014/main" val="10014"/>
                  </a:ext>
                </a:extLst>
              </a:tr>
              <a:tr h="169166">
                <a:tc>
                  <a:txBody>
                    <a:bodyPr/>
                    <a:lstStyle/>
                    <a:p>
                      <a:pPr marL="0" marR="0" indent="0" algn="l" defTabSz="914391" rtl="0" eaLnBrk="1" fontAlgn="ctr" latinLnBrk="0" hangingPunct="1">
                        <a:lnSpc>
                          <a:spcPct val="100000"/>
                        </a:lnSpc>
                        <a:spcBef>
                          <a:spcPts val="0"/>
                        </a:spcBef>
                        <a:spcAft>
                          <a:spcPts val="0"/>
                        </a:spcAft>
                        <a:buClrTx/>
                        <a:buSzTx/>
                        <a:buFontTx/>
                        <a:buNone/>
                        <a:tabLst/>
                        <a:defRPr/>
                      </a:pPr>
                      <a:r>
                        <a:rPr lang="en-GB" sz="1000" b="1" dirty="0"/>
                        <a:t>Categorya7   Categoryb7    Categoryc7     Categoryd7    Categorye7     Categoryf7</a:t>
                      </a:r>
                      <a:endParaRPr lang="en-GB" sz="1000" b="1" dirty="0">
                        <a:solidFill>
                          <a:schemeClr val="tx1"/>
                        </a:solidFill>
                        <a:latin typeface="Malgun Gothic" panose="020B0503020000020004" pitchFamily="34" charset="-127"/>
                        <a:ea typeface="Malgun Gothic" panose="020B0503020000020004" pitchFamily="34" charset="-127"/>
                      </a:endParaRPr>
                    </a:p>
                  </a:txBody>
                  <a:tcPr marL="600075" marR="9525" marT="9525" marB="0" anchor="ctr"/>
                </a:tc>
                <a:extLst>
                  <a:ext uri="{0D108BD9-81ED-4DB2-BD59-A6C34878D82A}">
                    <a16:rowId xmlns:a16="http://schemas.microsoft.com/office/drawing/2014/main" val="10015"/>
                  </a:ext>
                </a:extLst>
              </a:tr>
              <a:tr h="169166">
                <a:tc>
                  <a:txBody>
                    <a:bodyPr/>
                    <a:lstStyle/>
                    <a:p>
                      <a:pPr marL="0" marR="0" indent="0" algn="l" defTabSz="914391" rtl="0" eaLnBrk="1" fontAlgn="ctr" latinLnBrk="0" hangingPunct="1">
                        <a:lnSpc>
                          <a:spcPct val="100000"/>
                        </a:lnSpc>
                        <a:spcBef>
                          <a:spcPts val="0"/>
                        </a:spcBef>
                        <a:spcAft>
                          <a:spcPts val="0"/>
                        </a:spcAft>
                        <a:buClrTx/>
                        <a:buSzTx/>
                        <a:buFontTx/>
                        <a:buNone/>
                        <a:tabLst/>
                        <a:defRPr/>
                      </a:pPr>
                      <a:r>
                        <a:rPr lang="en-GB" sz="1000" b="1" dirty="0"/>
                        <a:t>          Use1     Use2     Use3     Use4      Use5     Use6     Use7    Use8   Use9                 (End use sub segment)</a:t>
                      </a:r>
                      <a:endParaRPr lang="en-GB" sz="1000" b="1" dirty="0">
                        <a:solidFill>
                          <a:schemeClr val="tx1"/>
                        </a:solidFill>
                        <a:latin typeface="Malgun Gothic" panose="020B0503020000020004" pitchFamily="34" charset="-127"/>
                        <a:ea typeface="Malgun Gothic" panose="020B0503020000020004" pitchFamily="34" charset="-127"/>
                      </a:endParaRPr>
                    </a:p>
                  </a:txBody>
                  <a:tcPr marL="257175" marR="9525" marT="9525" marB="0" anchor="ctr"/>
                </a:tc>
                <a:extLst>
                  <a:ext uri="{0D108BD9-81ED-4DB2-BD59-A6C34878D82A}">
                    <a16:rowId xmlns:a16="http://schemas.microsoft.com/office/drawing/2014/main" val="10016"/>
                  </a:ext>
                </a:extLst>
              </a:tr>
              <a:tr h="169166">
                <a:tc>
                  <a:txBody>
                    <a:bodyPr/>
                    <a:lstStyle/>
                    <a:p>
                      <a:pPr algn="l" fontAlgn="ctr"/>
                      <a:r>
                        <a:rPr lang="en-US" sz="1000" b="1" u="none" strike="noStrike" dirty="0">
                          <a:effectLst/>
                        </a:rPr>
                        <a:t>Application1      Application2    Application3</a:t>
                      </a:r>
                      <a:r>
                        <a:rPr lang="en-US" sz="1000" b="1" u="none" strike="noStrike" baseline="0" dirty="0">
                          <a:effectLst/>
                        </a:rPr>
                        <a:t>   Application4     Application5       Application6                   (Application Sub segments)</a:t>
                      </a:r>
                      <a:endParaRPr lang="en-US" sz="1000" b="1" i="0" u="none" strike="noStrike" dirty="0">
                        <a:solidFill>
                          <a:srgbClr val="000000"/>
                        </a:solidFill>
                        <a:effectLst/>
                        <a:latin typeface="Calibri" panose="020F0502020204030204" pitchFamily="34" charset="0"/>
                      </a:endParaRPr>
                    </a:p>
                  </a:txBody>
                  <a:tcPr marL="600075" marR="9525" marT="9525" marB="0" anchor="ctr"/>
                </a:tc>
                <a:extLst>
                  <a:ext uri="{0D108BD9-81ED-4DB2-BD59-A6C34878D82A}">
                    <a16:rowId xmlns:a16="http://schemas.microsoft.com/office/drawing/2014/main" val="10017"/>
                  </a:ext>
                </a:extLst>
              </a:tr>
              <a:tr h="169166">
                <a:tc>
                  <a:txBody>
                    <a:bodyPr/>
                    <a:lstStyle/>
                    <a:p>
                      <a:pPr algn="l" fontAlgn="ctr"/>
                      <a:endParaRPr lang="en-US" sz="1000" b="1" i="0" u="none" strike="noStrike" dirty="0">
                        <a:solidFill>
                          <a:srgbClr val="000000"/>
                        </a:solidFill>
                        <a:effectLst/>
                        <a:latin typeface="Calibri" panose="020F0502020204030204" pitchFamily="34" charset="0"/>
                      </a:endParaRPr>
                    </a:p>
                  </a:txBody>
                  <a:tcPr marL="600075" marR="9525" marT="9525" marB="0" anchor="ctr"/>
                </a:tc>
                <a:extLst>
                  <a:ext uri="{0D108BD9-81ED-4DB2-BD59-A6C34878D82A}">
                    <a16:rowId xmlns:a16="http://schemas.microsoft.com/office/drawing/2014/main" val="10018"/>
                  </a:ext>
                </a:extLst>
              </a:tr>
              <a:tr h="169166">
                <a:tc>
                  <a:txBody>
                    <a:bodyPr/>
                    <a:lstStyle/>
                    <a:p>
                      <a:pPr algn="l" fontAlgn="ctr"/>
                      <a:endParaRPr lang="en-US" sz="1000" b="1" i="0" u="none" strike="noStrike" dirty="0">
                        <a:solidFill>
                          <a:srgbClr val="000000"/>
                        </a:solidFill>
                        <a:effectLst/>
                        <a:latin typeface="Calibri" panose="020F0502020204030204" pitchFamily="34" charset="0"/>
                      </a:endParaRPr>
                    </a:p>
                  </a:txBody>
                  <a:tcPr marL="857250" marR="9525" marT="9525" marB="0" anchor="ctr"/>
                </a:tc>
                <a:extLst>
                  <a:ext uri="{0D108BD9-81ED-4DB2-BD59-A6C34878D82A}">
                    <a16:rowId xmlns:a16="http://schemas.microsoft.com/office/drawing/2014/main" val="10019"/>
                  </a:ext>
                </a:extLst>
              </a:tr>
              <a:tr h="169166">
                <a:tc>
                  <a:txBody>
                    <a:bodyPr/>
                    <a:lstStyle/>
                    <a:p>
                      <a:pPr algn="l" fontAlgn="ctr"/>
                      <a:endParaRPr lang="en-US" sz="1000" b="1" i="0" u="none" strike="noStrike" dirty="0">
                        <a:solidFill>
                          <a:srgbClr val="000000"/>
                        </a:solidFill>
                        <a:effectLst/>
                        <a:latin typeface="Calibri" panose="020F0502020204030204" pitchFamily="34" charset="0"/>
                      </a:endParaRPr>
                    </a:p>
                  </a:txBody>
                  <a:tcPr marL="857250" marR="9525" marT="9525" marB="0" anchor="ctr"/>
                </a:tc>
                <a:extLst>
                  <a:ext uri="{0D108BD9-81ED-4DB2-BD59-A6C34878D82A}">
                    <a16:rowId xmlns:a16="http://schemas.microsoft.com/office/drawing/2014/main" val="3506823071"/>
                  </a:ext>
                </a:extLst>
              </a:tr>
              <a:tr h="169166">
                <a:tc>
                  <a:txBody>
                    <a:bodyPr/>
                    <a:lstStyle/>
                    <a:p>
                      <a:pPr algn="l" fontAlgn="ctr"/>
                      <a:endParaRPr lang="en-US" sz="1000" b="1" i="0" u="none" strike="noStrike" dirty="0">
                        <a:solidFill>
                          <a:srgbClr val="000000"/>
                        </a:solidFill>
                        <a:effectLst/>
                        <a:latin typeface="Calibri" panose="020F0502020204030204" pitchFamily="34" charset="0"/>
                      </a:endParaRPr>
                    </a:p>
                  </a:txBody>
                  <a:tcPr marL="857250" marR="9525" marT="9525" marB="0" anchor="ctr"/>
                </a:tc>
                <a:extLst>
                  <a:ext uri="{0D108BD9-81ED-4DB2-BD59-A6C34878D82A}">
                    <a16:rowId xmlns:a16="http://schemas.microsoft.com/office/drawing/2014/main" val="2475853317"/>
                  </a:ext>
                </a:extLst>
              </a:tr>
              <a:tr h="169166">
                <a:tc>
                  <a:txBody>
                    <a:bodyPr/>
                    <a:lstStyle/>
                    <a:p>
                      <a:pPr algn="l" fontAlgn="ctr"/>
                      <a:endParaRPr lang="en-US" sz="1000" b="1" i="0" u="none" strike="noStrike" dirty="0">
                        <a:solidFill>
                          <a:srgbClr val="000000"/>
                        </a:solidFill>
                        <a:effectLst/>
                        <a:latin typeface="Calibri" panose="020F0502020204030204" pitchFamily="34" charset="0"/>
                      </a:endParaRPr>
                    </a:p>
                  </a:txBody>
                  <a:tcPr marL="857250" marR="9525" marT="9525" marB="0" anchor="ctr"/>
                </a:tc>
                <a:extLst>
                  <a:ext uri="{0D108BD9-81ED-4DB2-BD59-A6C34878D82A}">
                    <a16:rowId xmlns:a16="http://schemas.microsoft.com/office/drawing/2014/main" val="2474945126"/>
                  </a:ext>
                </a:extLst>
              </a:tr>
              <a:tr h="169166">
                <a:tc>
                  <a:txBody>
                    <a:bodyPr/>
                    <a:lstStyle/>
                    <a:p>
                      <a:pPr algn="l" fontAlgn="ctr"/>
                      <a:endParaRPr lang="en-US" sz="1000" b="1" i="0" u="none" strike="noStrike" dirty="0">
                        <a:solidFill>
                          <a:srgbClr val="000000"/>
                        </a:solidFill>
                        <a:effectLst/>
                        <a:latin typeface="Calibri" panose="020F0502020204030204" pitchFamily="34" charset="0"/>
                      </a:endParaRPr>
                    </a:p>
                  </a:txBody>
                  <a:tcPr marL="857250" marR="9525" marT="9525" marB="0" anchor="ctr"/>
                </a:tc>
                <a:extLst>
                  <a:ext uri="{0D108BD9-81ED-4DB2-BD59-A6C34878D82A}">
                    <a16:rowId xmlns:a16="http://schemas.microsoft.com/office/drawing/2014/main" val="3319073034"/>
                  </a:ext>
                </a:extLst>
              </a:tr>
              <a:tr h="169166">
                <a:tc>
                  <a:txBody>
                    <a:bodyPr/>
                    <a:lstStyle/>
                    <a:p>
                      <a:pPr algn="l" fontAlgn="ctr"/>
                      <a:endParaRPr lang="en-US" sz="1000" b="1" i="0" u="none" strike="noStrike" dirty="0">
                        <a:solidFill>
                          <a:srgbClr val="000000"/>
                        </a:solidFill>
                        <a:effectLst/>
                        <a:latin typeface="Calibri" panose="020F0502020204030204" pitchFamily="34" charset="0"/>
                      </a:endParaRPr>
                    </a:p>
                  </a:txBody>
                  <a:tcPr marL="857250" marR="9525" marT="9525" marB="0" anchor="ctr"/>
                </a:tc>
                <a:extLst>
                  <a:ext uri="{0D108BD9-81ED-4DB2-BD59-A6C34878D82A}">
                    <a16:rowId xmlns:a16="http://schemas.microsoft.com/office/drawing/2014/main" val="3993358677"/>
                  </a:ext>
                </a:extLst>
              </a:tr>
              <a:tr h="169166">
                <a:tc>
                  <a:txBody>
                    <a:bodyPr/>
                    <a:lstStyle/>
                    <a:p>
                      <a:pPr algn="l" fontAlgn="ctr"/>
                      <a:endParaRPr lang="en-US" sz="1000" b="1" i="0" u="none" strike="noStrike" dirty="0">
                        <a:solidFill>
                          <a:srgbClr val="000000"/>
                        </a:solidFill>
                        <a:effectLst/>
                        <a:latin typeface="Calibri" panose="020F0502020204030204" pitchFamily="34" charset="0"/>
                      </a:endParaRPr>
                    </a:p>
                  </a:txBody>
                  <a:tcPr marL="857250" marR="9525" marT="9525" marB="0" anchor="ctr"/>
                </a:tc>
                <a:extLst>
                  <a:ext uri="{0D108BD9-81ED-4DB2-BD59-A6C34878D82A}">
                    <a16:rowId xmlns:a16="http://schemas.microsoft.com/office/drawing/2014/main" val="996200123"/>
                  </a:ext>
                </a:extLst>
              </a:tr>
              <a:tr h="169166">
                <a:tc>
                  <a:txBody>
                    <a:bodyPr/>
                    <a:lstStyle/>
                    <a:p>
                      <a:pPr algn="l" fontAlgn="ctr"/>
                      <a:endParaRPr lang="en-US" sz="1000" b="1" i="0" u="none" strike="noStrike" dirty="0">
                        <a:solidFill>
                          <a:srgbClr val="000000"/>
                        </a:solidFill>
                        <a:effectLst/>
                        <a:latin typeface="Calibri" panose="020F0502020204030204" pitchFamily="34" charset="0"/>
                      </a:endParaRPr>
                    </a:p>
                  </a:txBody>
                  <a:tcPr marL="857250" marR="9525" marT="9525" marB="0" anchor="ctr"/>
                </a:tc>
                <a:extLst>
                  <a:ext uri="{0D108BD9-81ED-4DB2-BD59-A6C34878D82A}">
                    <a16:rowId xmlns:a16="http://schemas.microsoft.com/office/drawing/2014/main" val="2843440896"/>
                  </a:ext>
                </a:extLst>
              </a:tr>
              <a:tr h="169166">
                <a:tc>
                  <a:txBody>
                    <a:bodyPr/>
                    <a:lstStyle/>
                    <a:p>
                      <a:pPr algn="l" fontAlgn="ctr"/>
                      <a:endParaRPr lang="en-US" sz="1000" b="1" i="0" u="none" strike="noStrike" dirty="0">
                        <a:solidFill>
                          <a:srgbClr val="000000"/>
                        </a:solidFill>
                        <a:effectLst/>
                        <a:latin typeface="Calibri" panose="020F0502020204030204" pitchFamily="34" charset="0"/>
                      </a:endParaRPr>
                    </a:p>
                  </a:txBody>
                  <a:tcPr marL="857250" marR="9525" marT="9525" marB="0" anchor="ctr"/>
                </a:tc>
                <a:extLst>
                  <a:ext uri="{0D108BD9-81ED-4DB2-BD59-A6C34878D82A}">
                    <a16:rowId xmlns:a16="http://schemas.microsoft.com/office/drawing/2014/main" val="799309171"/>
                  </a:ext>
                </a:extLst>
              </a:tr>
              <a:tr h="169166">
                <a:tc>
                  <a:txBody>
                    <a:bodyPr/>
                    <a:lstStyle/>
                    <a:p>
                      <a:pPr algn="l" fontAlgn="ctr"/>
                      <a:endParaRPr lang="en-US" sz="1000" b="1" i="0" u="none" strike="noStrike" dirty="0">
                        <a:solidFill>
                          <a:srgbClr val="000000"/>
                        </a:solidFill>
                        <a:effectLst/>
                        <a:latin typeface="Calibri" panose="020F0502020204030204" pitchFamily="34" charset="0"/>
                      </a:endParaRPr>
                    </a:p>
                  </a:txBody>
                  <a:tcPr marL="857250" marR="9525" marT="9525" marB="0" anchor="ctr"/>
                </a:tc>
                <a:extLst>
                  <a:ext uri="{0D108BD9-81ED-4DB2-BD59-A6C34878D82A}">
                    <a16:rowId xmlns:a16="http://schemas.microsoft.com/office/drawing/2014/main" val="2952606539"/>
                  </a:ext>
                </a:extLst>
              </a:tr>
              <a:tr h="169166">
                <a:tc>
                  <a:txBody>
                    <a:bodyPr/>
                    <a:lstStyle/>
                    <a:p>
                      <a:pPr algn="l" fontAlgn="ctr"/>
                      <a:endParaRPr lang="en-US" sz="1000" b="1" i="0" u="none" strike="noStrike" dirty="0">
                        <a:solidFill>
                          <a:srgbClr val="000000"/>
                        </a:solidFill>
                        <a:effectLst/>
                        <a:latin typeface="Calibri" panose="020F0502020204030204" pitchFamily="34" charset="0"/>
                      </a:endParaRPr>
                    </a:p>
                  </a:txBody>
                  <a:tcPr marL="857250" marR="9525" marT="9525" marB="0" anchor="ctr"/>
                </a:tc>
                <a:extLst>
                  <a:ext uri="{0D108BD9-81ED-4DB2-BD59-A6C34878D82A}">
                    <a16:rowId xmlns:a16="http://schemas.microsoft.com/office/drawing/2014/main" val="1783474008"/>
                  </a:ext>
                </a:extLst>
              </a:tr>
            </a:tbl>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a:t>
            </a:fld>
            <a:endParaRPr lang="en-GB" dirty="0"/>
          </a:p>
        </p:txBody>
      </p:sp>
    </p:spTree>
    <p:extLst>
      <p:ext uri="{BB962C8B-B14F-4D97-AF65-F5344CB8AC3E}">
        <p14:creationId xmlns:p14="http://schemas.microsoft.com/office/powerpoint/2010/main" val="408342191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0605967B-F14F-DF4D-F87B-AE725B026444}"/>
              </a:ext>
            </a:extLst>
          </p:cNvPr>
          <p:cNvSpPr>
            <a:spLocks noGrp="1"/>
          </p:cNvSpPr>
          <p:nvPr>
            <p:ph type="sldNum" sz="quarter" idx="4"/>
          </p:nvPr>
        </p:nvSpPr>
        <p:spPr/>
        <p:txBody>
          <a:bodyPr/>
          <a:lstStyle/>
          <a:p>
            <a:fld id="{4B17068C-EB94-40A3-A5F2-664CDD77FDAC}" type="slidenum">
              <a:rPr lang="en-GB" smtClean="0"/>
              <a:pPr/>
              <a:t>3</a:t>
            </a:fld>
            <a:endParaRPr lang="en-GB" dirty="0"/>
          </a:p>
        </p:txBody>
      </p:sp>
      <p:sp>
        <p:nvSpPr>
          <p:cNvPr id="3" name="Title 2">
            <a:extLst>
              <a:ext uri="{FF2B5EF4-FFF2-40B4-BE49-F238E27FC236}">
                <a16:creationId xmlns:a16="http://schemas.microsoft.com/office/drawing/2014/main" id="{AD0BB37D-E634-7E1A-9FB3-CB7E207E6E93}"/>
              </a:ext>
            </a:extLst>
          </p:cNvPr>
          <p:cNvSpPr>
            <a:spLocks noGrp="1"/>
          </p:cNvSpPr>
          <p:nvPr>
            <p:ph type="title"/>
          </p:nvPr>
        </p:nvSpPr>
        <p:spPr/>
        <p:txBody>
          <a:bodyPr/>
          <a:lstStyle/>
          <a:p>
            <a:endParaRPr lang="en-US"/>
          </a:p>
        </p:txBody>
      </p:sp>
      <p:sp>
        <p:nvSpPr>
          <p:cNvPr id="4" name="Text Placeholder 3">
            <a:extLst>
              <a:ext uri="{FF2B5EF4-FFF2-40B4-BE49-F238E27FC236}">
                <a16:creationId xmlns:a16="http://schemas.microsoft.com/office/drawing/2014/main" id="{BDF989A2-84CC-59FA-D35F-6B06FB08AC46}"/>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196478756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7" name="Straight Connector 76"/>
          <p:cNvCxnSpPr/>
          <p:nvPr/>
        </p:nvCxnSpPr>
        <p:spPr>
          <a:xfrm>
            <a:off x="6246137" y="1582634"/>
            <a:ext cx="0" cy="1234440"/>
          </a:xfrm>
          <a:prstGeom prst="line">
            <a:avLst/>
          </a:prstGeom>
          <a:ln w="19685">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6244146" y="5092504"/>
            <a:ext cx="0" cy="1114621"/>
          </a:xfrm>
          <a:prstGeom prst="line">
            <a:avLst/>
          </a:prstGeom>
          <a:ln w="19685">
            <a:solidFill>
              <a:schemeClr val="bg2">
                <a:lumMod val="7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84" name="Striped Right Arrow 83"/>
          <p:cNvSpPr/>
          <p:nvPr/>
        </p:nvSpPr>
        <p:spPr>
          <a:xfrm rot="5400000">
            <a:off x="10920557" y="3575370"/>
            <a:ext cx="955345" cy="828011"/>
          </a:xfrm>
          <a:prstGeom prst="stripedRightArrow">
            <a:avLst/>
          </a:prstGeom>
          <a:solidFill>
            <a:srgbClr val="CDCDCD">
              <a:alpha val="5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a:solidFill>
                <a:prstClr val="white"/>
              </a:solidFill>
              <a:latin typeface="Calibri" panose="020F0502020204030204"/>
            </a:endParaRPr>
          </a:p>
        </p:txBody>
      </p:sp>
      <p:pic>
        <p:nvPicPr>
          <p:cNvPr id="85" name="Picture 84"/>
          <p:cNvPicPr>
            <a:picLocks noChangeAspect="1"/>
          </p:cNvPicPr>
          <p:nvPr/>
        </p:nvPicPr>
        <p:blipFill>
          <a:blip r:embed="rId2" cstate="print">
            <a:duotone>
              <a:schemeClr val="bg2">
                <a:shade val="45000"/>
                <a:satMod val="135000"/>
              </a:schemeClr>
              <a:prstClr val="white"/>
            </a:duotone>
            <a:extLst>
              <a:ext uri="{BEBA8EAE-BF5A-486C-A8C5-ECC9F3942E4B}">
                <a14:imgProps xmlns:a14="http://schemas.microsoft.com/office/drawing/2010/main">
                  <a14:imgLayer r:embed="rId3">
                    <a14:imgEffect>
                      <a14:brightnessContrast bright="100000" contrast="-70000"/>
                    </a14:imgEffect>
                  </a14:imgLayer>
                </a14:imgProps>
              </a:ext>
              <a:ext uri="{28A0092B-C50C-407E-A947-70E740481C1C}">
                <a14:useLocalDpi xmlns:a14="http://schemas.microsoft.com/office/drawing/2010/main" val="0"/>
              </a:ext>
            </a:extLst>
          </a:blip>
          <a:stretch>
            <a:fillRect/>
          </a:stretch>
        </p:blipFill>
        <p:spPr>
          <a:xfrm>
            <a:off x="10667485" y="1565688"/>
            <a:ext cx="1174087" cy="1174087"/>
          </a:xfrm>
          <a:prstGeom prst="rect">
            <a:avLst/>
          </a:prstGeom>
        </p:spPr>
      </p:pic>
      <p:sp>
        <p:nvSpPr>
          <p:cNvPr id="86" name="Folded Corner 85"/>
          <p:cNvSpPr/>
          <p:nvPr/>
        </p:nvSpPr>
        <p:spPr>
          <a:xfrm>
            <a:off x="152400" y="1577173"/>
            <a:ext cx="5791199" cy="2528484"/>
          </a:xfrm>
          <a:prstGeom prst="foldedCorner">
            <a:avLst>
              <a:gd name="adj" fmla="val 0"/>
            </a:avLst>
          </a:prstGeom>
          <a:noFill/>
          <a:ln w="6350" cap="flat" cmpd="sng" algn="ctr">
            <a:noFill/>
            <a:prstDash val="solid"/>
            <a:miter lim="800000"/>
          </a:ln>
          <a:effectLst/>
        </p:spPr>
        <p:txBody>
          <a:bodyPr rtlCol="0" anchor="t"/>
          <a:lstStyle/>
          <a:p>
            <a:pPr marL="171450" indent="-171450" algn="just">
              <a:spcBef>
                <a:spcPts val="400"/>
              </a:spcBef>
              <a:spcAft>
                <a:spcPts val="400"/>
              </a:spcAft>
              <a:buFont typeface="Wingdings" panose="05000000000000000000" pitchFamily="2" charset="2"/>
              <a:buChar char="Ø"/>
              <a:defRPr/>
            </a:pPr>
            <a:r>
              <a:rPr lang="en-US" sz="1200" kern="0" dirty="0"/>
              <a:t>The </a:t>
            </a:r>
            <a:r>
              <a:rPr lang="en-US" sz="1200" b="1" kern="0" dirty="0"/>
              <a:t>WXYZ Market </a:t>
            </a:r>
            <a:r>
              <a:rPr lang="en-US" sz="1200" kern="0" dirty="0"/>
              <a:t>was valued at </a:t>
            </a:r>
            <a:r>
              <a:rPr lang="en-US" sz="1200" b="1" kern="0" dirty="0"/>
              <a:t>US$ </a:t>
            </a:r>
            <a:r>
              <a:rPr lang="en-IN" sz="1200" b="1" dirty="0"/>
              <a:t>H!Y! </a:t>
            </a:r>
            <a:r>
              <a:rPr lang="en-US" sz="1200" b="1" kern="0" dirty="0" err="1"/>
              <a:t>Mn</a:t>
            </a:r>
            <a:r>
              <a:rPr lang="en-US" sz="1200" kern="0" dirty="0"/>
              <a:t> in 2019 and reached a valuation of </a:t>
            </a:r>
            <a:r>
              <a:rPr lang="en-US" sz="1200" b="1" kern="0" dirty="0"/>
              <a:t>US$ </a:t>
            </a:r>
            <a:r>
              <a:rPr lang="en-IN" sz="1200" b="1" dirty="0"/>
              <a:t>B!Y! </a:t>
            </a:r>
            <a:r>
              <a:rPr lang="en-US" sz="1200" b="1" kern="0" dirty="0" err="1"/>
              <a:t>Mn</a:t>
            </a:r>
            <a:r>
              <a:rPr lang="en-US" sz="1200" b="1" kern="0" dirty="0"/>
              <a:t> </a:t>
            </a:r>
            <a:r>
              <a:rPr lang="en-US" sz="1200" kern="0" dirty="0"/>
              <a:t>by 2024. The market is anticipated to register a Y-o-Y growth of </a:t>
            </a:r>
            <a:r>
              <a:rPr lang="en-US" sz="1200" b="1" kern="0" dirty="0" err="1"/>
              <a:t>VaC</a:t>
            </a:r>
            <a:r>
              <a:rPr lang="en-US" sz="1200" b="1" kern="0" dirty="0"/>
              <a:t>% </a:t>
            </a:r>
            <a:r>
              <a:rPr lang="en-US" sz="1200" kern="0" dirty="0"/>
              <a:t>in the year 2024.</a:t>
            </a:r>
          </a:p>
          <a:p>
            <a:pPr marL="171450" indent="-171450" algn="just">
              <a:spcBef>
                <a:spcPts val="400"/>
              </a:spcBef>
              <a:spcAft>
                <a:spcPts val="400"/>
              </a:spcAft>
              <a:buFont typeface="Wingdings" panose="05000000000000000000" pitchFamily="2" charset="2"/>
              <a:buChar char="Ø"/>
              <a:defRPr/>
            </a:pPr>
            <a:r>
              <a:rPr lang="en-US" sz="1200" kern="0" dirty="0"/>
              <a:t>Over the assessment period (2024–2034), the market is projected to expand at a value CAGR of </a:t>
            </a:r>
            <a:r>
              <a:rPr lang="en-US" sz="1200" b="1" kern="0" dirty="0" err="1"/>
              <a:t>VaC</a:t>
            </a:r>
            <a:r>
              <a:rPr lang="en-US" sz="1200" b="1" kern="0" dirty="0"/>
              <a:t>!% </a:t>
            </a:r>
            <a:r>
              <a:rPr lang="en-US" sz="1200" kern="0" dirty="0"/>
              <a:t>and reach </a:t>
            </a:r>
            <a:r>
              <a:rPr lang="en-US" sz="1200" b="1" kern="0" dirty="0"/>
              <a:t>US$ </a:t>
            </a:r>
            <a:r>
              <a:rPr lang="en-IN" sz="1200" b="1" dirty="0"/>
              <a:t>F!Y! </a:t>
            </a:r>
            <a:r>
              <a:rPr lang="en-US" sz="1200" b="1" kern="0" dirty="0" err="1"/>
              <a:t>Mn</a:t>
            </a:r>
            <a:r>
              <a:rPr lang="en-US" sz="1200" b="1" kern="0" dirty="0"/>
              <a:t> </a:t>
            </a:r>
            <a:r>
              <a:rPr lang="en-US" sz="1200" kern="0" dirty="0"/>
              <a:t>by the end of the forecast period.</a:t>
            </a:r>
          </a:p>
          <a:p>
            <a:pPr marL="171450" indent="-171450" algn="just">
              <a:spcBef>
                <a:spcPts val="400"/>
              </a:spcBef>
              <a:spcAft>
                <a:spcPts val="400"/>
              </a:spcAft>
              <a:buFont typeface="Wingdings" panose="05000000000000000000" pitchFamily="2" charset="2"/>
              <a:buChar char="Ø"/>
              <a:defRPr/>
            </a:pPr>
            <a:r>
              <a:rPr lang="en-US" sz="1200" dirty="0"/>
              <a:t>Ferric Phosphate, a vital iron compound, comes in two primary forms Anhydrous and Hydrate. Anhydrous lacks water molecules, while Hydrate incorporates water. In the market, Ferric Phosphate plays a pivotal role across diverse applications. It fortifies nutritional content in Food &amp; Beverages, supports health solutions in Medicinal Products, aids in eco-friendly Pesticides, and promotes livestock health through Animal Feed. Its multifaceted applications underscore its significance in various industries, contributing to a dynamic global market landscape.</a:t>
            </a:r>
          </a:p>
        </p:txBody>
      </p:sp>
      <p:sp>
        <p:nvSpPr>
          <p:cNvPr id="87" name="Rounded Rectangle 86"/>
          <p:cNvSpPr/>
          <p:nvPr/>
        </p:nvSpPr>
        <p:spPr>
          <a:xfrm>
            <a:off x="152400" y="1164012"/>
            <a:ext cx="5791200" cy="411480"/>
          </a:xfrm>
          <a:prstGeom prst="roundRect">
            <a:avLst/>
          </a:prstGeom>
          <a:solidFill>
            <a:srgbClr val="002060"/>
          </a:solidFill>
          <a:ln w="635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a:defRPr/>
            </a:pPr>
            <a:r>
              <a:rPr lang="en-US" sz="1200" b="1" kern="0" dirty="0">
                <a:ln w="0"/>
                <a:solidFill>
                  <a:prstClr val="white"/>
                </a:solidFill>
                <a:latin typeface="Calibri" panose="020F0502020204030204"/>
              </a:rPr>
              <a:t>MARKET OVERVIEW</a:t>
            </a:r>
          </a:p>
        </p:txBody>
      </p:sp>
      <p:sp>
        <p:nvSpPr>
          <p:cNvPr id="88" name="Rectangle 87"/>
          <p:cNvSpPr/>
          <p:nvPr/>
        </p:nvSpPr>
        <p:spPr>
          <a:xfrm>
            <a:off x="6256396" y="1129462"/>
            <a:ext cx="5783203" cy="411480"/>
          </a:xfrm>
          <a:prstGeom prst="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a:solidFill>
                <a:prstClr val="white"/>
              </a:solidFill>
              <a:latin typeface="Calibri" panose="020F0502020204030204"/>
            </a:endParaRPr>
          </a:p>
        </p:txBody>
      </p:sp>
      <p:cxnSp>
        <p:nvCxnSpPr>
          <p:cNvPr id="90" name="Straight Connector 89"/>
          <p:cNvCxnSpPr/>
          <p:nvPr/>
        </p:nvCxnSpPr>
        <p:spPr>
          <a:xfrm>
            <a:off x="6259785" y="2821374"/>
            <a:ext cx="5559552" cy="0"/>
          </a:xfrm>
          <a:prstGeom prst="line">
            <a:avLst/>
          </a:prstGeom>
          <a:ln w="19685">
            <a:solidFill>
              <a:schemeClr val="accent1"/>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91" name="Rectangle 90"/>
          <p:cNvSpPr/>
          <p:nvPr/>
        </p:nvSpPr>
        <p:spPr>
          <a:xfrm flipH="1">
            <a:off x="6308564" y="1552058"/>
            <a:ext cx="5731035" cy="1251625"/>
          </a:xfrm>
          <a:prstGeom prst="rect">
            <a:avLst/>
          </a:prstGeom>
        </p:spPr>
        <p:txBody>
          <a:bodyPr wrap="square">
            <a:spAutoFit/>
          </a:bodyPr>
          <a:lstStyle/>
          <a:p>
            <a:pPr marL="171450" indent="-171450" algn="just">
              <a:spcBef>
                <a:spcPts val="200"/>
              </a:spcBef>
              <a:buFont typeface="Wingdings" panose="05000000000000000000" pitchFamily="2" charset="2"/>
              <a:buChar char="Ø"/>
              <a:defRPr/>
            </a:pPr>
            <a:r>
              <a:rPr lang="en-US" sz="1200" dirty="0"/>
              <a:t>Growing emphasis on nutritional enrichment in food and supplements propels demand for ferric phosphate in fortifying essential minerals.</a:t>
            </a:r>
          </a:p>
          <a:p>
            <a:pPr marL="171450" indent="-171450" algn="just">
              <a:spcBef>
                <a:spcPts val="200"/>
              </a:spcBef>
              <a:buFont typeface="Wingdings" panose="05000000000000000000" pitchFamily="2" charset="2"/>
              <a:buChar char="Ø"/>
              <a:defRPr/>
            </a:pPr>
            <a:r>
              <a:rPr lang="en-US" sz="1200" dirty="0"/>
              <a:t>Rising demand in foods and dietary supplements fuels ferric phosphate market growth, aligning with health-conscious consumer preferences.</a:t>
            </a:r>
          </a:p>
          <a:p>
            <a:pPr marL="171450" indent="-171450" algn="just">
              <a:spcBef>
                <a:spcPts val="200"/>
              </a:spcBef>
              <a:buFont typeface="Wingdings" panose="05000000000000000000" pitchFamily="2" charset="2"/>
              <a:buChar char="Ø"/>
              <a:defRPr/>
            </a:pPr>
            <a:r>
              <a:rPr lang="en-US" sz="1200" dirty="0"/>
              <a:t>Increasing applications in the expanding food industry, meeting demand for functional ingredients and nutritional enhancements.</a:t>
            </a:r>
          </a:p>
        </p:txBody>
      </p:sp>
      <p:sp>
        <p:nvSpPr>
          <p:cNvPr id="92" name="Rectangle 91"/>
          <p:cNvSpPr/>
          <p:nvPr/>
        </p:nvSpPr>
        <p:spPr>
          <a:xfrm>
            <a:off x="8217405" y="1221522"/>
            <a:ext cx="825739" cy="307777"/>
          </a:xfrm>
          <a:prstGeom prst="rect">
            <a:avLst/>
          </a:prstGeom>
        </p:spPr>
        <p:txBody>
          <a:bodyPr wrap="none">
            <a:spAutoFit/>
          </a:bodyPr>
          <a:lstStyle/>
          <a:p>
            <a:pPr>
              <a:defRPr/>
            </a:pPr>
            <a:r>
              <a:rPr lang="en-US" sz="1400" b="1" dirty="0">
                <a:solidFill>
                  <a:prstClr val="white"/>
                </a:solidFill>
                <a:latin typeface="Calibri" panose="020F0502020204030204"/>
              </a:rPr>
              <a:t>DRIVERS</a:t>
            </a:r>
            <a:endParaRPr lang="en-IN" sz="1400" b="1" dirty="0">
              <a:solidFill>
                <a:prstClr val="white"/>
              </a:solidFill>
              <a:latin typeface="Calibri" panose="020F0502020204030204"/>
            </a:endParaRPr>
          </a:p>
        </p:txBody>
      </p:sp>
      <p:sp>
        <p:nvSpPr>
          <p:cNvPr id="93" name="Rectangle 92"/>
          <p:cNvSpPr/>
          <p:nvPr/>
        </p:nvSpPr>
        <p:spPr>
          <a:xfrm>
            <a:off x="6256396" y="2966558"/>
            <a:ext cx="5783203" cy="411480"/>
          </a:xfrm>
          <a:prstGeom prst="rect">
            <a:avLst/>
          </a:prstGeom>
          <a:solidFill>
            <a:schemeClr val="bg2">
              <a:lumMod val="2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a:solidFill>
                <a:srgbClr val="FF0000"/>
              </a:solidFill>
              <a:latin typeface="Calibri" panose="020F0502020204030204"/>
            </a:endParaRPr>
          </a:p>
        </p:txBody>
      </p:sp>
      <p:cxnSp>
        <p:nvCxnSpPr>
          <p:cNvPr id="94" name="Straight Connector 93"/>
          <p:cNvCxnSpPr/>
          <p:nvPr/>
        </p:nvCxnSpPr>
        <p:spPr>
          <a:xfrm flipH="1">
            <a:off x="6457812" y="4488363"/>
            <a:ext cx="5559552" cy="47250"/>
          </a:xfrm>
          <a:prstGeom prst="line">
            <a:avLst/>
          </a:prstGeom>
          <a:ln w="19685">
            <a:solidFill>
              <a:schemeClr val="bg2">
                <a:lumMod val="2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12039600" y="3391083"/>
            <a:ext cx="0" cy="1097280"/>
          </a:xfrm>
          <a:prstGeom prst="line">
            <a:avLst/>
          </a:prstGeom>
          <a:ln w="19685">
            <a:solidFill>
              <a:schemeClr val="bg2">
                <a:lumMod val="2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96" name="Rectangle 95"/>
          <p:cNvSpPr/>
          <p:nvPr/>
        </p:nvSpPr>
        <p:spPr>
          <a:xfrm flipH="1">
            <a:off x="6244144" y="3424796"/>
            <a:ext cx="5568090" cy="882293"/>
          </a:xfrm>
          <a:prstGeom prst="rect">
            <a:avLst/>
          </a:prstGeom>
        </p:spPr>
        <p:txBody>
          <a:bodyPr wrap="square">
            <a:spAutoFit/>
          </a:bodyPr>
          <a:lstStyle/>
          <a:p>
            <a:pPr marL="171450" indent="-171450" algn="just">
              <a:spcBef>
                <a:spcPts val="200"/>
              </a:spcBef>
              <a:buFont typeface="Wingdings" panose="05000000000000000000" pitchFamily="2" charset="2"/>
              <a:buChar char="Ø"/>
              <a:defRPr/>
            </a:pPr>
            <a:r>
              <a:rPr lang="en-US" sz="1200" dirty="0"/>
              <a:t>Increasing exploration and utilization of alternative iron sources, posing a competitive restraint in diverse applications.</a:t>
            </a:r>
          </a:p>
          <a:p>
            <a:pPr marL="171450" indent="-171450" algn="just">
              <a:spcBef>
                <a:spcPts val="200"/>
              </a:spcBef>
              <a:buFont typeface="Wingdings" panose="05000000000000000000" pitchFamily="2" charset="2"/>
              <a:buChar char="Ø"/>
              <a:defRPr/>
            </a:pPr>
            <a:r>
              <a:rPr lang="en-US" sz="1200" dirty="0"/>
              <a:t>Stringent regulations and compliance standards pose obstacles, impacting ferric phosphate market dynamics and growth in various regions.</a:t>
            </a:r>
          </a:p>
        </p:txBody>
      </p:sp>
      <p:sp>
        <p:nvSpPr>
          <p:cNvPr id="97" name="Rectangle 96"/>
          <p:cNvSpPr/>
          <p:nvPr/>
        </p:nvSpPr>
        <p:spPr>
          <a:xfrm>
            <a:off x="8084067" y="3043817"/>
            <a:ext cx="1092415" cy="307777"/>
          </a:xfrm>
          <a:prstGeom prst="rect">
            <a:avLst/>
          </a:prstGeom>
        </p:spPr>
        <p:txBody>
          <a:bodyPr wrap="none">
            <a:spAutoFit/>
          </a:bodyPr>
          <a:lstStyle/>
          <a:p>
            <a:pPr>
              <a:defRPr/>
            </a:pPr>
            <a:r>
              <a:rPr lang="en-US" sz="1400" b="1" dirty="0">
                <a:solidFill>
                  <a:prstClr val="white"/>
                </a:solidFill>
                <a:latin typeface="Calibri" panose="020F0502020204030204"/>
              </a:rPr>
              <a:t>RESTRAINTS</a:t>
            </a:r>
            <a:endParaRPr lang="en-IN" sz="1400" b="1" dirty="0">
              <a:solidFill>
                <a:prstClr val="white"/>
              </a:solidFill>
              <a:latin typeface="Calibri" panose="020F0502020204030204"/>
            </a:endParaRPr>
          </a:p>
        </p:txBody>
      </p:sp>
      <p:sp>
        <p:nvSpPr>
          <p:cNvPr id="98" name="Rectangle 97"/>
          <p:cNvSpPr/>
          <p:nvPr/>
        </p:nvSpPr>
        <p:spPr>
          <a:xfrm>
            <a:off x="6256396" y="4609550"/>
            <a:ext cx="5783203" cy="411480"/>
          </a:xfrm>
          <a:prstGeom prst="rect">
            <a:avLst/>
          </a:prstGeom>
          <a:solidFill>
            <a:schemeClr val="bg2">
              <a:lumMod val="7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a:solidFill>
                <a:prstClr val="white"/>
              </a:solidFill>
              <a:latin typeface="Calibri" panose="020F0502020204030204"/>
            </a:endParaRPr>
          </a:p>
        </p:txBody>
      </p:sp>
      <p:cxnSp>
        <p:nvCxnSpPr>
          <p:cNvPr id="99" name="Straight Connector 98"/>
          <p:cNvCxnSpPr/>
          <p:nvPr/>
        </p:nvCxnSpPr>
        <p:spPr>
          <a:xfrm>
            <a:off x="6259785" y="6225413"/>
            <a:ext cx="5779815" cy="43876"/>
          </a:xfrm>
          <a:prstGeom prst="line">
            <a:avLst/>
          </a:prstGeom>
          <a:ln w="19685">
            <a:solidFill>
              <a:schemeClr val="bg2">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00" name="Rectangle 99"/>
          <p:cNvSpPr/>
          <p:nvPr/>
        </p:nvSpPr>
        <p:spPr>
          <a:xfrm flipH="1">
            <a:off x="6296396" y="5018232"/>
            <a:ext cx="5743203" cy="1066959"/>
          </a:xfrm>
          <a:prstGeom prst="rect">
            <a:avLst/>
          </a:prstGeom>
        </p:spPr>
        <p:txBody>
          <a:bodyPr wrap="square">
            <a:spAutoFit/>
          </a:bodyPr>
          <a:lstStyle/>
          <a:p>
            <a:pPr marL="171450" indent="-171450" algn="just">
              <a:spcBef>
                <a:spcPts val="200"/>
              </a:spcBef>
              <a:buFont typeface="Wingdings" panose="05000000000000000000" pitchFamily="2" charset="2"/>
              <a:buChar char="Ø"/>
              <a:defRPr/>
            </a:pPr>
            <a:r>
              <a:rPr lang="en-US" sz="1200" dirty="0"/>
              <a:t>Demand surges as ferric phosphate gains traction in eco-friendly pesticides, aligning with the global shift towards sustainable agriculture.</a:t>
            </a:r>
          </a:p>
          <a:p>
            <a:pPr marL="171450" indent="-171450" algn="just">
              <a:spcBef>
                <a:spcPts val="200"/>
              </a:spcBef>
              <a:buFont typeface="Wingdings" panose="05000000000000000000" pitchFamily="2" charset="2"/>
              <a:buChar char="Ø"/>
              <a:defRPr/>
            </a:pPr>
            <a:r>
              <a:rPr lang="en-US" sz="1200" dirty="0"/>
              <a:t>Growing awareness of animal welfare and nutrition propels demand for ferric phosphate in animal feed, supporting livestock health and sustainable farming practices.</a:t>
            </a:r>
            <a:endParaRPr lang="en-US" sz="1200" kern="0" dirty="0"/>
          </a:p>
        </p:txBody>
      </p:sp>
      <p:sp>
        <p:nvSpPr>
          <p:cNvPr id="101" name="Rectangle 100"/>
          <p:cNvSpPr/>
          <p:nvPr/>
        </p:nvSpPr>
        <p:spPr>
          <a:xfrm>
            <a:off x="8253647" y="4666219"/>
            <a:ext cx="779381" cy="307777"/>
          </a:xfrm>
          <a:prstGeom prst="rect">
            <a:avLst/>
          </a:prstGeom>
        </p:spPr>
        <p:txBody>
          <a:bodyPr wrap="none">
            <a:spAutoFit/>
          </a:bodyPr>
          <a:lstStyle/>
          <a:p>
            <a:pPr>
              <a:defRPr/>
            </a:pPr>
            <a:r>
              <a:rPr lang="en-US" sz="1400" b="1" dirty="0">
                <a:solidFill>
                  <a:prstClr val="black"/>
                </a:solidFill>
                <a:latin typeface="Calibri" panose="020F0502020204030204"/>
              </a:rPr>
              <a:t>TRENDS</a:t>
            </a:r>
            <a:endParaRPr lang="en-IN" sz="1400" b="1" dirty="0">
              <a:solidFill>
                <a:prstClr val="black"/>
              </a:solidFill>
              <a:latin typeface="Calibri" panose="020F0502020204030204"/>
            </a:endParaRPr>
          </a:p>
        </p:txBody>
      </p:sp>
      <p:sp>
        <p:nvSpPr>
          <p:cNvPr id="102" name="Round Diagonal Corner Rectangle 101"/>
          <p:cNvSpPr/>
          <p:nvPr/>
        </p:nvSpPr>
        <p:spPr>
          <a:xfrm>
            <a:off x="152400" y="4354465"/>
            <a:ext cx="5791200" cy="411480"/>
          </a:xfrm>
          <a:prstGeom prst="round2DiagRect">
            <a:avLst/>
          </a:prstGeom>
          <a:solidFill>
            <a:srgbClr val="002060"/>
          </a:solidFill>
          <a:ln w="635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a:defRPr/>
            </a:pPr>
            <a:r>
              <a:rPr lang="en-GB" sz="1200" b="1" kern="0" dirty="0">
                <a:ln w="0"/>
                <a:solidFill>
                  <a:prstClr val="white"/>
                </a:solidFill>
                <a:latin typeface="Calibri" panose="020F0502020204030204"/>
              </a:rPr>
              <a:t>COMPETITIVE LANDSCAPE</a:t>
            </a:r>
          </a:p>
        </p:txBody>
      </p:sp>
      <p:sp>
        <p:nvSpPr>
          <p:cNvPr id="103" name="TextBox 102"/>
          <p:cNvSpPr txBox="1"/>
          <p:nvPr/>
        </p:nvSpPr>
        <p:spPr>
          <a:xfrm>
            <a:off x="152401" y="4784944"/>
            <a:ext cx="5791200" cy="1384995"/>
          </a:xfrm>
          <a:prstGeom prst="rect">
            <a:avLst/>
          </a:prstGeom>
          <a:noFill/>
        </p:spPr>
        <p:txBody>
          <a:bodyPr wrap="square" numCol="3" rtlCol="0">
            <a:spAutoFit/>
          </a:bodyPr>
          <a:lstStyle/>
          <a:p>
            <a:pPr marL="171450" indent="-171450">
              <a:buFont typeface="Arial" panose="020B0604020202020204" pitchFamily="34" charset="0"/>
              <a:buChar char="•"/>
              <a:defRPr/>
            </a:pPr>
            <a:r>
              <a:rPr lang="en-US" sz="1200" b="1" dirty="0" err="1">
                <a:solidFill>
                  <a:prstClr val="black"/>
                </a:solidFill>
              </a:rPr>
              <a:t>CompanyA</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CompanyB</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CompanyC</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CompanyD</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CompanyE</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CompanyF</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CompanyG</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CompanyH</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CompanyI</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CompanyJ</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CompanyK</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CompanyL</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CompanyM</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CompanyN</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CompanyO</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CompanyP</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CompanyQ</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CompanyR</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CompanyS</a:t>
            </a:r>
            <a:endParaRPr lang="en-US" sz="1200" b="1" dirty="0">
              <a:solidFill>
                <a:prstClr val="black"/>
              </a:solidFill>
            </a:endParaRPr>
          </a:p>
          <a:p>
            <a:pPr marL="171450" indent="-171450">
              <a:buFont typeface="Arial" panose="020B0604020202020204" pitchFamily="34" charset="0"/>
              <a:buChar char="•"/>
              <a:defRPr/>
            </a:pPr>
            <a:r>
              <a:rPr lang="en-US" sz="1200" b="1" dirty="0" err="1">
                <a:solidFill>
                  <a:prstClr val="black"/>
                </a:solidFill>
              </a:rPr>
              <a:t>CompanyT</a:t>
            </a:r>
            <a:endParaRPr lang="en-US" sz="1200" b="1" dirty="0">
              <a:solidFill>
                <a:prstClr val="black"/>
              </a:solidFill>
            </a:endParaRPr>
          </a:p>
          <a:p>
            <a:pPr marL="171450" indent="-171450">
              <a:buFont typeface="Arial" panose="020B0604020202020204" pitchFamily="34" charset="0"/>
              <a:buChar char="•"/>
              <a:defRPr/>
            </a:pPr>
            <a:endParaRPr lang="en-US" sz="1200" b="1" dirty="0">
              <a:solidFill>
                <a:prstClr val="black"/>
              </a:solidFill>
            </a:endParaRPr>
          </a:p>
        </p:txBody>
      </p:sp>
      <p:sp>
        <p:nvSpPr>
          <p:cNvPr id="27" name="Title 1"/>
          <p:cNvSpPr>
            <a:spLocks noGrp="1"/>
          </p:cNvSpPr>
          <p:nvPr>
            <p:ph type="title"/>
          </p:nvPr>
        </p:nvSpPr>
        <p:spPr/>
        <p:txBody>
          <a:bodyPr/>
          <a:lstStyle/>
          <a:p>
            <a:r>
              <a:rPr lang="en-US" dirty="0"/>
              <a:t>Executive Summary: Global Market Outlook (1/4)</a:t>
            </a:r>
            <a:endParaRPr lang="en-IN" sz="1000" b="0" i="1" dirty="0"/>
          </a:p>
        </p:txBody>
      </p:sp>
      <p:sp>
        <p:nvSpPr>
          <p:cNvPr id="28" name="TextBox 27"/>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4</a:t>
            </a:fld>
            <a:endParaRPr lang="en-GB" dirty="0"/>
          </a:p>
        </p:txBody>
      </p:sp>
    </p:spTree>
    <p:extLst>
      <p:ext uri="{BB962C8B-B14F-4D97-AF65-F5344CB8AC3E}">
        <p14:creationId xmlns:p14="http://schemas.microsoft.com/office/powerpoint/2010/main" val="24423157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Rectangle 62"/>
          <p:cNvSpPr/>
          <p:nvPr/>
        </p:nvSpPr>
        <p:spPr>
          <a:xfrm>
            <a:off x="404454" y="1356945"/>
            <a:ext cx="11416303" cy="1962746"/>
          </a:xfrm>
          <a:prstGeom prst="rect">
            <a:avLst/>
          </a:prstGeom>
          <a:solidFill>
            <a:srgbClr val="D9D9D9"/>
          </a:solidFill>
          <a:ln w="12700" cap="flat" cmpd="sng" algn="ctr">
            <a:noFill/>
            <a:prstDash val="solid"/>
            <a:miter lim="800000"/>
          </a:ln>
          <a:effectLst/>
        </p:spPr>
        <p:txBody>
          <a:bodyPr rtlCol="0" anchor="ctr"/>
          <a:lstStyle/>
          <a:p>
            <a:pPr algn="ctr">
              <a:defRPr/>
            </a:pPr>
            <a:endParaRPr lang="en-US" kern="0" dirty="0">
              <a:solidFill>
                <a:prstClr val="white"/>
              </a:solidFill>
              <a:latin typeface="Calibri" panose="020F0502020204030204"/>
            </a:endParaRPr>
          </a:p>
        </p:txBody>
      </p:sp>
      <p:sp>
        <p:nvSpPr>
          <p:cNvPr id="64" name="Rectangle 63"/>
          <p:cNvSpPr/>
          <p:nvPr/>
        </p:nvSpPr>
        <p:spPr>
          <a:xfrm>
            <a:off x="404454" y="3073285"/>
            <a:ext cx="11416303" cy="217544"/>
          </a:xfrm>
          <a:prstGeom prst="rect">
            <a:avLst/>
          </a:prstGeom>
          <a:solidFill>
            <a:srgbClr val="D6B784"/>
          </a:solidFill>
          <a:ln w="12700" cap="flat" cmpd="sng" algn="ctr">
            <a:noFill/>
            <a:prstDash val="solid"/>
            <a:miter lim="800000"/>
          </a:ln>
          <a:effectLst/>
        </p:spPr>
        <p:txBody>
          <a:bodyPr rtlCol="0" anchor="ctr"/>
          <a:lstStyle/>
          <a:p>
            <a:pPr algn="ctr">
              <a:defRPr/>
            </a:pPr>
            <a:endParaRPr lang="en-US" kern="0" dirty="0">
              <a:solidFill>
                <a:prstClr val="white"/>
              </a:solidFill>
              <a:latin typeface="Calibri" panose="020F0502020204030204"/>
            </a:endParaRPr>
          </a:p>
        </p:txBody>
      </p:sp>
      <p:sp>
        <p:nvSpPr>
          <p:cNvPr id="65" name="Rectangle 64"/>
          <p:cNvSpPr/>
          <p:nvPr/>
        </p:nvSpPr>
        <p:spPr>
          <a:xfrm>
            <a:off x="1821128" y="1454764"/>
            <a:ext cx="9792190" cy="623248"/>
          </a:xfrm>
          <a:prstGeom prst="rect">
            <a:avLst/>
          </a:prstGeom>
          <a:noFill/>
        </p:spPr>
        <p:txBody>
          <a:bodyPr wrap="square" lIns="0" tIns="0" rIns="0" bIns="0">
            <a:spAutoFit/>
          </a:bodyPr>
          <a:lstStyle/>
          <a:p>
            <a:pPr marL="228600" lvl="3" indent="-228600" algn="just">
              <a:spcBef>
                <a:spcPts val="1200"/>
              </a:spcBef>
              <a:spcAft>
                <a:spcPts val="1200"/>
              </a:spcAft>
              <a:buFont typeface="Wingdings" panose="05000000000000000000" pitchFamily="2" charset="2"/>
              <a:buChar char="q"/>
            </a:pPr>
            <a:r>
              <a:rPr lang="en-US" sz="1350" kern="0" dirty="0"/>
              <a:t>Major players are channelizing efforts towards expanding their production capacities to strengthen their share in the market and to cater to the growing demand for WXYZ. Market participants are also spending substantial capital to improve their WXYZ production capacity to meet the growing needs of end consumers</a:t>
            </a:r>
            <a:r>
              <a:rPr lang="en-IN" sz="1350" kern="0" dirty="0"/>
              <a:t>.</a:t>
            </a:r>
          </a:p>
        </p:txBody>
      </p:sp>
      <p:grpSp>
        <p:nvGrpSpPr>
          <p:cNvPr id="66" name="Group 65"/>
          <p:cNvGrpSpPr/>
          <p:nvPr/>
        </p:nvGrpSpPr>
        <p:grpSpPr>
          <a:xfrm>
            <a:off x="476700" y="3380479"/>
            <a:ext cx="3720900" cy="2826660"/>
            <a:chOff x="5121500" y="2005284"/>
            <a:chExt cx="3554533" cy="3403466"/>
          </a:xfrm>
        </p:grpSpPr>
        <p:sp>
          <p:nvSpPr>
            <p:cNvPr id="67" name="Trapezoid 66"/>
            <p:cNvSpPr/>
            <p:nvPr/>
          </p:nvSpPr>
          <p:spPr>
            <a:xfrm rot="10800000">
              <a:off x="5589935" y="2005284"/>
              <a:ext cx="3086098" cy="622300"/>
            </a:xfrm>
            <a:prstGeom prst="trapezoid">
              <a:avLst>
                <a:gd name="adj" fmla="val 36616"/>
              </a:avLst>
            </a:prstGeom>
            <a:solidFill>
              <a:srgbClr val="00B050"/>
            </a:solidFill>
            <a:ln w="12700" cap="flat" cmpd="sng" algn="ctr">
              <a:noFill/>
              <a:prstDash val="solid"/>
              <a:miter lim="800000"/>
            </a:ln>
            <a:effectLst/>
          </p:spPr>
          <p:txBody>
            <a:bodyPr rtlCol="0" anchor="ctr"/>
            <a:lstStyle/>
            <a:p>
              <a:pPr algn="ctr">
                <a:defRPr/>
              </a:pPr>
              <a:endParaRPr lang="en-US" kern="0" dirty="0">
                <a:latin typeface="Calibri" panose="020F0502020204030204"/>
              </a:endParaRPr>
            </a:p>
          </p:txBody>
        </p:sp>
        <p:sp>
          <p:nvSpPr>
            <p:cNvPr id="68" name="Trapezoid 67"/>
            <p:cNvSpPr/>
            <p:nvPr/>
          </p:nvSpPr>
          <p:spPr>
            <a:xfrm rot="10800000">
              <a:off x="5831235" y="2699475"/>
              <a:ext cx="2603500" cy="622300"/>
            </a:xfrm>
            <a:prstGeom prst="trapezoid">
              <a:avLst>
                <a:gd name="adj" fmla="val 36616"/>
              </a:avLst>
            </a:prstGeom>
            <a:solidFill>
              <a:srgbClr val="00B0F0"/>
            </a:solidFill>
            <a:ln w="12700" cap="flat" cmpd="sng" algn="ctr">
              <a:noFill/>
              <a:prstDash val="solid"/>
              <a:miter lim="800000"/>
            </a:ln>
            <a:effectLst/>
          </p:spPr>
          <p:txBody>
            <a:bodyPr rtlCol="0" anchor="ctr"/>
            <a:lstStyle/>
            <a:p>
              <a:pPr algn="ctr">
                <a:defRPr/>
              </a:pPr>
              <a:endParaRPr lang="en-US" kern="0" dirty="0">
                <a:latin typeface="Calibri" panose="020F0502020204030204"/>
              </a:endParaRPr>
            </a:p>
          </p:txBody>
        </p:sp>
        <p:sp>
          <p:nvSpPr>
            <p:cNvPr id="69" name="Trapezoid 68"/>
            <p:cNvSpPr/>
            <p:nvPr/>
          </p:nvSpPr>
          <p:spPr>
            <a:xfrm rot="10800000">
              <a:off x="6072535" y="3393666"/>
              <a:ext cx="2133600" cy="622300"/>
            </a:xfrm>
            <a:prstGeom prst="trapezoid">
              <a:avLst>
                <a:gd name="adj" fmla="val 36616"/>
              </a:avLst>
            </a:prstGeom>
            <a:solidFill>
              <a:srgbClr val="00B050"/>
            </a:solidFill>
            <a:ln w="12700" cap="flat" cmpd="sng" algn="ctr">
              <a:noFill/>
              <a:prstDash val="solid"/>
              <a:miter lim="800000"/>
            </a:ln>
            <a:effectLst/>
          </p:spPr>
          <p:txBody>
            <a:bodyPr rtlCol="0" anchor="ctr"/>
            <a:lstStyle/>
            <a:p>
              <a:pPr algn="ctr">
                <a:defRPr/>
              </a:pPr>
              <a:endParaRPr lang="en-US" kern="0" dirty="0">
                <a:latin typeface="Calibri" panose="020F0502020204030204"/>
              </a:endParaRPr>
            </a:p>
          </p:txBody>
        </p:sp>
        <p:sp>
          <p:nvSpPr>
            <p:cNvPr id="70" name="Trapezoid 69"/>
            <p:cNvSpPr/>
            <p:nvPr/>
          </p:nvSpPr>
          <p:spPr>
            <a:xfrm rot="10800000">
              <a:off x="6313835" y="4090058"/>
              <a:ext cx="1651000" cy="622300"/>
            </a:xfrm>
            <a:prstGeom prst="trapezoid">
              <a:avLst>
                <a:gd name="adj" fmla="val 36616"/>
              </a:avLst>
            </a:prstGeom>
            <a:solidFill>
              <a:srgbClr val="00B0F0"/>
            </a:solidFill>
            <a:ln w="12700" cap="flat" cmpd="sng" algn="ctr">
              <a:noFill/>
              <a:prstDash val="solid"/>
              <a:miter lim="800000"/>
            </a:ln>
            <a:effectLst/>
          </p:spPr>
          <p:txBody>
            <a:bodyPr rtlCol="0" anchor="ctr"/>
            <a:lstStyle/>
            <a:p>
              <a:pPr algn="ctr">
                <a:defRPr/>
              </a:pPr>
              <a:endParaRPr lang="en-US" kern="0" dirty="0">
                <a:latin typeface="Calibri" panose="020F0502020204030204"/>
              </a:endParaRPr>
            </a:p>
          </p:txBody>
        </p:sp>
        <p:sp>
          <p:nvSpPr>
            <p:cNvPr id="71" name="Trapezoid 70"/>
            <p:cNvSpPr/>
            <p:nvPr/>
          </p:nvSpPr>
          <p:spPr>
            <a:xfrm rot="10800000">
              <a:off x="6555135" y="4786450"/>
              <a:ext cx="1168400" cy="622300"/>
            </a:xfrm>
            <a:prstGeom prst="trapezoid">
              <a:avLst>
                <a:gd name="adj" fmla="val 36616"/>
              </a:avLst>
            </a:prstGeom>
            <a:solidFill>
              <a:srgbClr val="00B050"/>
            </a:solidFill>
            <a:ln w="12700" cap="flat" cmpd="sng" algn="ctr">
              <a:noFill/>
              <a:prstDash val="solid"/>
              <a:miter lim="800000"/>
            </a:ln>
            <a:effectLst/>
          </p:spPr>
          <p:txBody>
            <a:bodyPr rtlCol="0" anchor="ctr"/>
            <a:lstStyle/>
            <a:p>
              <a:pPr algn="ctr">
                <a:defRPr/>
              </a:pPr>
              <a:endParaRPr lang="en-US" kern="0" dirty="0">
                <a:latin typeface="Calibri" panose="020F0502020204030204"/>
              </a:endParaRPr>
            </a:p>
          </p:txBody>
        </p:sp>
        <p:sp>
          <p:nvSpPr>
            <p:cNvPr id="72" name="Trapezoid 71"/>
            <p:cNvSpPr/>
            <p:nvPr/>
          </p:nvSpPr>
          <p:spPr>
            <a:xfrm rot="10800000">
              <a:off x="5121500" y="2005284"/>
              <a:ext cx="3086098" cy="613531"/>
            </a:xfrm>
            <a:prstGeom prst="trapezoid">
              <a:avLst>
                <a:gd name="adj" fmla="val 36616"/>
              </a:avLst>
            </a:prstGeom>
            <a:noFill/>
            <a:ln w="12700" cap="flat" cmpd="sng" algn="ctr">
              <a:solidFill>
                <a:srgbClr val="00B050"/>
              </a:solidFill>
              <a:prstDash val="solid"/>
              <a:miter lim="800000"/>
            </a:ln>
            <a:effectLst/>
          </p:spPr>
          <p:txBody>
            <a:bodyPr rtlCol="0" anchor="ctr"/>
            <a:lstStyle/>
            <a:p>
              <a:pPr algn="ctr">
                <a:defRPr/>
              </a:pPr>
              <a:endParaRPr lang="en-US" kern="0" dirty="0">
                <a:latin typeface="Calibri" panose="020F0502020204030204"/>
              </a:endParaRPr>
            </a:p>
          </p:txBody>
        </p:sp>
        <p:sp>
          <p:nvSpPr>
            <p:cNvPr id="73" name="Trapezoid 72"/>
            <p:cNvSpPr/>
            <p:nvPr/>
          </p:nvSpPr>
          <p:spPr>
            <a:xfrm rot="10800000">
              <a:off x="5358160" y="2702158"/>
              <a:ext cx="1943100" cy="611981"/>
            </a:xfrm>
            <a:prstGeom prst="trapezoid">
              <a:avLst>
                <a:gd name="adj" fmla="val 36616"/>
              </a:avLst>
            </a:prstGeom>
            <a:noFill/>
            <a:ln w="12700" cap="flat" cmpd="sng" algn="ctr">
              <a:solidFill>
                <a:srgbClr val="00B0F0"/>
              </a:solidFill>
              <a:prstDash val="solid"/>
              <a:miter lim="800000"/>
            </a:ln>
            <a:effectLst/>
          </p:spPr>
          <p:txBody>
            <a:bodyPr rtlCol="0" anchor="ctr"/>
            <a:lstStyle/>
            <a:p>
              <a:pPr algn="ctr">
                <a:defRPr/>
              </a:pPr>
              <a:endParaRPr lang="en-US" kern="0" dirty="0">
                <a:latin typeface="Calibri" panose="020F0502020204030204"/>
              </a:endParaRPr>
            </a:p>
          </p:txBody>
        </p:sp>
        <p:sp>
          <p:nvSpPr>
            <p:cNvPr id="74" name="Trapezoid 73"/>
            <p:cNvSpPr/>
            <p:nvPr/>
          </p:nvSpPr>
          <p:spPr>
            <a:xfrm rot="10800000">
              <a:off x="5599460" y="3393666"/>
              <a:ext cx="1701800" cy="614447"/>
            </a:xfrm>
            <a:prstGeom prst="trapezoid">
              <a:avLst>
                <a:gd name="adj" fmla="val 36616"/>
              </a:avLst>
            </a:prstGeom>
            <a:noFill/>
            <a:ln w="12700" cap="flat" cmpd="sng" algn="ctr">
              <a:solidFill>
                <a:srgbClr val="00B050"/>
              </a:solidFill>
              <a:prstDash val="solid"/>
              <a:miter lim="800000"/>
            </a:ln>
            <a:effectLst/>
          </p:spPr>
          <p:txBody>
            <a:bodyPr rtlCol="0" anchor="ctr"/>
            <a:lstStyle/>
            <a:p>
              <a:pPr algn="ctr">
                <a:defRPr/>
              </a:pPr>
              <a:endParaRPr lang="en-US" kern="0" dirty="0">
                <a:latin typeface="Calibri" panose="020F0502020204030204"/>
              </a:endParaRPr>
            </a:p>
          </p:txBody>
        </p:sp>
        <p:sp>
          <p:nvSpPr>
            <p:cNvPr id="75" name="Trapezoid 74"/>
            <p:cNvSpPr/>
            <p:nvPr/>
          </p:nvSpPr>
          <p:spPr>
            <a:xfrm rot="10800000">
              <a:off x="5853460" y="4095188"/>
              <a:ext cx="1447800" cy="609601"/>
            </a:xfrm>
            <a:prstGeom prst="trapezoid">
              <a:avLst>
                <a:gd name="adj" fmla="val 36616"/>
              </a:avLst>
            </a:prstGeom>
            <a:noFill/>
            <a:ln w="12700" cap="flat" cmpd="sng" algn="ctr">
              <a:solidFill>
                <a:srgbClr val="00B0F0"/>
              </a:solidFill>
              <a:prstDash val="solid"/>
              <a:miter lim="800000"/>
            </a:ln>
            <a:effectLst/>
          </p:spPr>
          <p:txBody>
            <a:bodyPr rtlCol="0" anchor="ctr"/>
            <a:lstStyle/>
            <a:p>
              <a:pPr algn="ctr">
                <a:defRPr/>
              </a:pPr>
              <a:endParaRPr lang="en-US" kern="0" dirty="0">
                <a:latin typeface="Calibri" panose="020F0502020204030204"/>
              </a:endParaRPr>
            </a:p>
          </p:txBody>
        </p:sp>
        <p:sp>
          <p:nvSpPr>
            <p:cNvPr id="76" name="Trapezoid 75"/>
            <p:cNvSpPr/>
            <p:nvPr/>
          </p:nvSpPr>
          <p:spPr>
            <a:xfrm rot="10800000">
              <a:off x="6082060" y="4786450"/>
              <a:ext cx="1219200" cy="611885"/>
            </a:xfrm>
            <a:prstGeom prst="trapezoid">
              <a:avLst>
                <a:gd name="adj" fmla="val 36616"/>
              </a:avLst>
            </a:prstGeom>
            <a:noFill/>
            <a:ln w="12700" cap="flat" cmpd="sng" algn="ctr">
              <a:solidFill>
                <a:srgbClr val="00B050"/>
              </a:solidFill>
              <a:prstDash val="solid"/>
              <a:miter lim="800000"/>
            </a:ln>
            <a:effectLst/>
          </p:spPr>
          <p:txBody>
            <a:bodyPr rtlCol="0" anchor="ctr"/>
            <a:lstStyle/>
            <a:p>
              <a:pPr algn="ctr">
                <a:defRPr/>
              </a:pPr>
              <a:endParaRPr lang="en-US" kern="0" dirty="0">
                <a:latin typeface="Calibri" panose="020F0502020204030204"/>
              </a:endParaRPr>
            </a:p>
          </p:txBody>
        </p:sp>
        <p:sp>
          <p:nvSpPr>
            <p:cNvPr id="77" name="Rectangle 76"/>
            <p:cNvSpPr/>
            <p:nvPr/>
          </p:nvSpPr>
          <p:spPr>
            <a:xfrm>
              <a:off x="6679995" y="4261056"/>
              <a:ext cx="973701" cy="189030"/>
            </a:xfrm>
            <a:prstGeom prst="rect">
              <a:avLst/>
            </a:prstGeom>
            <a:noFill/>
          </p:spPr>
          <p:txBody>
            <a:bodyPr wrap="square" lIns="0" tIns="0" rIns="0" bIns="0">
              <a:spAutoFit/>
            </a:bodyPr>
            <a:lstStyle/>
            <a:p>
              <a:pPr lvl="0" algn="ctr">
                <a:defRPr/>
              </a:pPr>
              <a:r>
                <a:rPr lang="en-IN" sz="1000" b="1" kern="0" dirty="0" err="1"/>
                <a:t>CompanyD</a:t>
              </a:r>
              <a:endParaRPr lang="en-IN" sz="1000" b="1" kern="0" dirty="0"/>
            </a:p>
          </p:txBody>
        </p:sp>
        <p:sp>
          <p:nvSpPr>
            <p:cNvPr id="78" name="Rectangle 77"/>
            <p:cNvSpPr/>
            <p:nvPr/>
          </p:nvSpPr>
          <p:spPr>
            <a:xfrm>
              <a:off x="6743284" y="4909583"/>
              <a:ext cx="822155" cy="198482"/>
            </a:xfrm>
            <a:prstGeom prst="rect">
              <a:avLst/>
            </a:prstGeom>
            <a:noFill/>
          </p:spPr>
          <p:txBody>
            <a:bodyPr wrap="square" lIns="0" tIns="0" rIns="0" bIns="0">
              <a:spAutoFit/>
            </a:bodyPr>
            <a:lstStyle/>
            <a:p>
              <a:pPr algn="ctr">
                <a:spcBef>
                  <a:spcPts val="300"/>
                </a:spcBef>
                <a:spcAft>
                  <a:spcPts val="300"/>
                </a:spcAft>
              </a:pPr>
              <a:r>
                <a:rPr lang="en-IN" sz="1050" b="1" kern="0" dirty="0" err="1">
                  <a:solidFill>
                    <a:schemeClr val="bg1"/>
                  </a:solidFill>
                </a:rPr>
                <a:t>CompanyE</a:t>
              </a:r>
              <a:endParaRPr lang="en-IN" sz="1050" b="1" kern="0" dirty="0">
                <a:solidFill>
                  <a:schemeClr val="bg1"/>
                </a:solidFill>
              </a:endParaRPr>
            </a:p>
          </p:txBody>
        </p:sp>
        <p:sp>
          <p:nvSpPr>
            <p:cNvPr id="79" name="Rectangle 78"/>
            <p:cNvSpPr/>
            <p:nvPr/>
          </p:nvSpPr>
          <p:spPr>
            <a:xfrm>
              <a:off x="6219326" y="3629792"/>
              <a:ext cx="1855142" cy="226836"/>
            </a:xfrm>
            <a:prstGeom prst="rect">
              <a:avLst/>
            </a:prstGeom>
            <a:noFill/>
          </p:spPr>
          <p:txBody>
            <a:bodyPr wrap="square" lIns="0" tIns="0" rIns="0" bIns="0" anchor="ctr">
              <a:spAutoFit/>
            </a:bodyPr>
            <a:lstStyle/>
            <a:p>
              <a:pPr algn="ctr">
                <a:spcBef>
                  <a:spcPts val="300"/>
                </a:spcBef>
                <a:spcAft>
                  <a:spcPts val="300"/>
                </a:spcAft>
              </a:pPr>
              <a:r>
                <a:rPr lang="en-US" sz="1200" b="1" kern="0" dirty="0" err="1">
                  <a:solidFill>
                    <a:schemeClr val="bg1"/>
                  </a:solidFill>
                </a:rPr>
                <a:t>CompanyC</a:t>
              </a:r>
              <a:endParaRPr lang="en-US" sz="1200" b="1" kern="0" dirty="0">
                <a:solidFill>
                  <a:schemeClr val="bg1"/>
                </a:solidFill>
              </a:endParaRPr>
            </a:p>
          </p:txBody>
        </p:sp>
        <p:sp>
          <p:nvSpPr>
            <p:cNvPr id="80" name="Rectangle 79"/>
            <p:cNvSpPr/>
            <p:nvPr/>
          </p:nvSpPr>
          <p:spPr>
            <a:xfrm>
              <a:off x="6825035" y="2916390"/>
              <a:ext cx="657370" cy="222349"/>
            </a:xfrm>
            <a:prstGeom prst="rect">
              <a:avLst/>
            </a:prstGeom>
            <a:noFill/>
          </p:spPr>
          <p:txBody>
            <a:bodyPr wrap="none" lIns="0" tIns="0" rIns="0" bIns="0">
              <a:spAutoFit/>
            </a:bodyPr>
            <a:lstStyle/>
            <a:p>
              <a:pPr algn="ctr">
                <a:spcBef>
                  <a:spcPts val="300"/>
                </a:spcBef>
                <a:spcAft>
                  <a:spcPts val="300"/>
                </a:spcAft>
              </a:pPr>
              <a:r>
                <a:rPr lang="en-US" sz="1200" b="1" dirty="0" err="1"/>
                <a:t>CompanyB</a:t>
              </a:r>
              <a:endParaRPr lang="en-US" sz="1200" b="1" dirty="0"/>
            </a:p>
          </p:txBody>
        </p:sp>
        <p:sp>
          <p:nvSpPr>
            <p:cNvPr id="81" name="Rectangle 80"/>
            <p:cNvSpPr/>
            <p:nvPr/>
          </p:nvSpPr>
          <p:spPr>
            <a:xfrm>
              <a:off x="6806286" y="2217751"/>
              <a:ext cx="666129" cy="222349"/>
            </a:xfrm>
            <a:prstGeom prst="rect">
              <a:avLst/>
            </a:prstGeom>
            <a:noFill/>
          </p:spPr>
          <p:txBody>
            <a:bodyPr wrap="none" lIns="0" tIns="0" rIns="0" bIns="0">
              <a:spAutoFit/>
            </a:bodyPr>
            <a:lstStyle/>
            <a:p>
              <a:pPr algn="ctr">
                <a:spcBef>
                  <a:spcPts val="300"/>
                </a:spcBef>
                <a:spcAft>
                  <a:spcPts val="300"/>
                </a:spcAft>
              </a:pPr>
              <a:r>
                <a:rPr lang="en-US" sz="1200" b="1" kern="0" dirty="0" err="1">
                  <a:solidFill>
                    <a:schemeClr val="bg1"/>
                  </a:solidFill>
                </a:rPr>
                <a:t>CompanyA</a:t>
              </a:r>
              <a:endParaRPr lang="en-US" sz="1200" b="1" kern="0" dirty="0">
                <a:solidFill>
                  <a:schemeClr val="bg1"/>
                </a:solidFill>
              </a:endParaRPr>
            </a:p>
          </p:txBody>
        </p:sp>
        <p:sp>
          <p:nvSpPr>
            <p:cNvPr id="87" name="Parallelogram 86"/>
            <p:cNvSpPr/>
            <p:nvPr/>
          </p:nvSpPr>
          <p:spPr>
            <a:xfrm flipH="1">
              <a:off x="5826123" y="2628340"/>
              <a:ext cx="2617013" cy="69850"/>
            </a:xfrm>
            <a:prstGeom prst="parallelogram">
              <a:avLst>
                <a:gd name="adj" fmla="val 267045"/>
              </a:avLst>
            </a:prstGeom>
            <a:solidFill>
              <a:srgbClr val="F8F8F8">
                <a:lumMod val="50000"/>
              </a:srgbClr>
            </a:solidFill>
            <a:ln w="12700" cap="flat" cmpd="sng" algn="ctr">
              <a:noFill/>
              <a:prstDash val="solid"/>
              <a:miter lim="800000"/>
            </a:ln>
            <a:effectLst/>
          </p:spPr>
          <p:txBody>
            <a:bodyPr rtlCol="0" anchor="ctr"/>
            <a:lstStyle/>
            <a:p>
              <a:pPr algn="ctr">
                <a:defRPr/>
              </a:pPr>
              <a:endParaRPr lang="en-US" kern="0" dirty="0">
                <a:latin typeface="Calibri" panose="020F0502020204030204"/>
              </a:endParaRPr>
            </a:p>
          </p:txBody>
        </p:sp>
        <p:sp>
          <p:nvSpPr>
            <p:cNvPr id="88" name="Parallelogram 87"/>
            <p:cNvSpPr/>
            <p:nvPr/>
          </p:nvSpPr>
          <p:spPr>
            <a:xfrm flipH="1">
              <a:off x="6062662" y="3324238"/>
              <a:ext cx="2155032" cy="69850"/>
            </a:xfrm>
            <a:prstGeom prst="parallelogram">
              <a:avLst>
                <a:gd name="adj" fmla="val 267045"/>
              </a:avLst>
            </a:prstGeom>
            <a:solidFill>
              <a:srgbClr val="F8F8F8">
                <a:lumMod val="50000"/>
              </a:srgbClr>
            </a:solidFill>
            <a:ln w="12700" cap="flat" cmpd="sng" algn="ctr">
              <a:noFill/>
              <a:prstDash val="solid"/>
              <a:miter lim="800000"/>
            </a:ln>
            <a:effectLst/>
          </p:spPr>
          <p:txBody>
            <a:bodyPr rtlCol="0" anchor="ctr"/>
            <a:lstStyle/>
            <a:p>
              <a:pPr algn="ctr">
                <a:defRPr/>
              </a:pPr>
              <a:endParaRPr lang="en-US" kern="0" dirty="0">
                <a:latin typeface="Calibri" panose="020F0502020204030204"/>
              </a:endParaRPr>
            </a:p>
          </p:txBody>
        </p:sp>
        <p:sp>
          <p:nvSpPr>
            <p:cNvPr id="89" name="Parallelogram 88"/>
            <p:cNvSpPr/>
            <p:nvPr/>
          </p:nvSpPr>
          <p:spPr>
            <a:xfrm flipH="1">
              <a:off x="6302373" y="4016609"/>
              <a:ext cx="1676401" cy="78581"/>
            </a:xfrm>
            <a:prstGeom prst="parallelogram">
              <a:avLst>
                <a:gd name="adj" fmla="val 267045"/>
              </a:avLst>
            </a:prstGeom>
            <a:solidFill>
              <a:srgbClr val="F8F8F8">
                <a:lumMod val="50000"/>
              </a:srgbClr>
            </a:solidFill>
            <a:ln w="12700" cap="flat" cmpd="sng" algn="ctr">
              <a:noFill/>
              <a:prstDash val="solid"/>
              <a:miter lim="800000"/>
            </a:ln>
            <a:effectLst/>
          </p:spPr>
          <p:txBody>
            <a:bodyPr rtlCol="0" anchor="ctr"/>
            <a:lstStyle/>
            <a:p>
              <a:pPr algn="ctr">
                <a:defRPr/>
              </a:pPr>
              <a:endParaRPr lang="en-US" kern="0" dirty="0">
                <a:latin typeface="Calibri" panose="020F0502020204030204"/>
              </a:endParaRPr>
            </a:p>
          </p:txBody>
        </p:sp>
        <p:sp>
          <p:nvSpPr>
            <p:cNvPr id="90" name="Parallelogram 89"/>
            <p:cNvSpPr/>
            <p:nvPr/>
          </p:nvSpPr>
          <p:spPr>
            <a:xfrm flipH="1">
              <a:off x="6543674" y="4711687"/>
              <a:ext cx="1193800" cy="78581"/>
            </a:xfrm>
            <a:prstGeom prst="parallelogram">
              <a:avLst>
                <a:gd name="adj" fmla="val 267045"/>
              </a:avLst>
            </a:prstGeom>
            <a:solidFill>
              <a:srgbClr val="F8F8F8">
                <a:lumMod val="50000"/>
              </a:srgbClr>
            </a:solidFill>
            <a:ln w="12700" cap="flat" cmpd="sng" algn="ctr">
              <a:noFill/>
              <a:prstDash val="solid"/>
              <a:miter lim="800000"/>
            </a:ln>
            <a:effectLst/>
          </p:spPr>
          <p:txBody>
            <a:bodyPr rtlCol="0" anchor="ctr"/>
            <a:lstStyle/>
            <a:p>
              <a:pPr algn="ctr">
                <a:defRPr/>
              </a:pPr>
              <a:endParaRPr lang="en-US" kern="0" dirty="0">
                <a:latin typeface="Calibri" panose="020F0502020204030204"/>
              </a:endParaRPr>
            </a:p>
          </p:txBody>
        </p:sp>
      </p:grpSp>
      <p:sp>
        <p:nvSpPr>
          <p:cNvPr id="91" name="Rectangle 90"/>
          <p:cNvSpPr/>
          <p:nvPr/>
        </p:nvSpPr>
        <p:spPr>
          <a:xfrm>
            <a:off x="2322520" y="993866"/>
            <a:ext cx="8209723" cy="400110"/>
          </a:xfrm>
          <a:prstGeom prst="rect">
            <a:avLst/>
          </a:prstGeom>
        </p:spPr>
        <p:txBody>
          <a:bodyPr wrap="square">
            <a:spAutoFit/>
          </a:bodyPr>
          <a:lstStyle/>
          <a:p>
            <a:pPr algn="ctr">
              <a:spcBef>
                <a:spcPts val="300"/>
              </a:spcBef>
              <a:spcAft>
                <a:spcPts val="300"/>
              </a:spcAft>
            </a:pPr>
            <a:r>
              <a:rPr lang="en-US" sz="2000" b="1" dirty="0">
                <a:latin typeface="Georgia" panose="02040502050405020303" pitchFamily="18" charset="0"/>
              </a:rPr>
              <a:t>Recent Developments and Key Industry Activities </a:t>
            </a:r>
          </a:p>
        </p:txBody>
      </p:sp>
      <p:grpSp>
        <p:nvGrpSpPr>
          <p:cNvPr id="92" name="Group 91"/>
          <p:cNvGrpSpPr>
            <a:grpSpLocks noChangeAspect="1"/>
          </p:cNvGrpSpPr>
          <p:nvPr/>
        </p:nvGrpSpPr>
        <p:grpSpPr>
          <a:xfrm>
            <a:off x="5197039" y="3388399"/>
            <a:ext cx="540896" cy="2868270"/>
            <a:chOff x="2842681" y="2258733"/>
            <a:chExt cx="395819" cy="2098953"/>
          </a:xfrm>
        </p:grpSpPr>
        <p:sp>
          <p:nvSpPr>
            <p:cNvPr id="93" name="Rectangle 92"/>
            <p:cNvSpPr/>
            <p:nvPr/>
          </p:nvSpPr>
          <p:spPr>
            <a:xfrm>
              <a:off x="2843212" y="2325408"/>
              <a:ext cx="395288" cy="238829"/>
            </a:xfrm>
            <a:prstGeom prst="rect">
              <a:avLst/>
            </a:prstGeom>
            <a:gradFill>
              <a:gsLst>
                <a:gs pos="0">
                  <a:srgbClr val="A09F9D"/>
                </a:gs>
                <a:gs pos="17000">
                  <a:srgbClr val="D2C9C4"/>
                </a:gs>
                <a:gs pos="70000">
                  <a:srgbClr val="E4E1DC"/>
                </a:gs>
                <a:gs pos="42000">
                  <a:sysClr val="window" lastClr="FFFFFF"/>
                </a:gs>
                <a:gs pos="100000">
                  <a:srgbClr val="F8F8F8"/>
                </a:gs>
              </a:gsLst>
              <a:lin ang="0" scaled="0"/>
            </a:gradFill>
            <a:ln w="12700" cap="flat" cmpd="sng" algn="ctr">
              <a:noFill/>
              <a:prstDash val="solid"/>
              <a:miter lim="800000"/>
            </a:ln>
            <a:effectLst/>
          </p:spPr>
          <p:txBody>
            <a:bodyPr rtlCol="0" anchor="ctr"/>
            <a:lstStyle/>
            <a:p>
              <a:pPr algn="ctr">
                <a:defRPr/>
              </a:pPr>
              <a:endParaRPr lang="en-US" kern="0" dirty="0">
                <a:solidFill>
                  <a:prstClr val="white"/>
                </a:solidFill>
                <a:latin typeface="Calibri" panose="020F0502020204030204"/>
              </a:endParaRPr>
            </a:p>
          </p:txBody>
        </p:sp>
        <p:sp>
          <p:nvSpPr>
            <p:cNvPr id="94" name="Oval 93"/>
            <p:cNvSpPr/>
            <p:nvPr/>
          </p:nvSpPr>
          <p:spPr>
            <a:xfrm>
              <a:off x="2843212" y="2507438"/>
              <a:ext cx="395288" cy="133350"/>
            </a:xfrm>
            <a:prstGeom prst="ellipse">
              <a:avLst/>
            </a:prstGeom>
            <a:gradFill>
              <a:gsLst>
                <a:gs pos="0">
                  <a:srgbClr val="A09F9D"/>
                </a:gs>
                <a:gs pos="17000">
                  <a:srgbClr val="D2C9C4"/>
                </a:gs>
                <a:gs pos="70000">
                  <a:srgbClr val="E4E1DC"/>
                </a:gs>
                <a:gs pos="42000">
                  <a:sysClr val="window" lastClr="FFFFFF"/>
                </a:gs>
                <a:gs pos="100000">
                  <a:srgbClr val="F8F8F8"/>
                </a:gs>
              </a:gsLst>
              <a:lin ang="0" scaled="0"/>
            </a:gradFill>
            <a:ln w="12700" cap="flat" cmpd="sng" algn="ctr">
              <a:noFill/>
              <a:prstDash val="solid"/>
              <a:miter lim="800000"/>
            </a:ln>
            <a:effectLst/>
          </p:spPr>
          <p:txBody>
            <a:bodyPr rtlCol="0" anchor="ctr"/>
            <a:lstStyle/>
            <a:p>
              <a:pPr algn="ctr">
                <a:defRPr/>
              </a:pPr>
              <a:endParaRPr lang="en-US" kern="0" dirty="0">
                <a:solidFill>
                  <a:prstClr val="white"/>
                </a:solidFill>
                <a:latin typeface="Calibri" panose="020F0502020204030204"/>
              </a:endParaRPr>
            </a:p>
          </p:txBody>
        </p:sp>
        <p:sp>
          <p:nvSpPr>
            <p:cNvPr id="95" name="Oval 94"/>
            <p:cNvSpPr/>
            <p:nvPr/>
          </p:nvSpPr>
          <p:spPr>
            <a:xfrm>
              <a:off x="2843212" y="2258733"/>
              <a:ext cx="395288" cy="133350"/>
            </a:xfrm>
            <a:prstGeom prst="ellipse">
              <a:avLst/>
            </a:prstGeom>
            <a:gradFill>
              <a:gsLst>
                <a:gs pos="0">
                  <a:srgbClr val="A09F9D"/>
                </a:gs>
                <a:gs pos="17000">
                  <a:srgbClr val="D2C9C4"/>
                </a:gs>
                <a:gs pos="70000">
                  <a:srgbClr val="E4E1DC"/>
                </a:gs>
                <a:gs pos="42000">
                  <a:sysClr val="window" lastClr="FFFFFF"/>
                </a:gs>
                <a:gs pos="100000">
                  <a:srgbClr val="F8F8F8"/>
                </a:gs>
              </a:gsLst>
              <a:lin ang="13200000" scaled="0"/>
            </a:gradFill>
            <a:ln w="12700" cap="flat" cmpd="sng" algn="ctr">
              <a:noFill/>
              <a:prstDash val="solid"/>
              <a:miter lim="800000"/>
            </a:ln>
            <a:effectLst/>
          </p:spPr>
          <p:txBody>
            <a:bodyPr rtlCol="0" anchor="ctr"/>
            <a:lstStyle/>
            <a:p>
              <a:pPr algn="ctr">
                <a:defRPr/>
              </a:pPr>
              <a:endParaRPr lang="en-US" kern="0" dirty="0">
                <a:solidFill>
                  <a:prstClr val="white"/>
                </a:solidFill>
                <a:latin typeface="Calibri" panose="020F0502020204030204"/>
              </a:endParaRPr>
            </a:p>
          </p:txBody>
        </p:sp>
        <p:sp>
          <p:nvSpPr>
            <p:cNvPr id="96" name="Rectangle 95"/>
            <p:cNvSpPr/>
            <p:nvPr/>
          </p:nvSpPr>
          <p:spPr>
            <a:xfrm>
              <a:off x="2843212" y="3810001"/>
              <a:ext cx="395288" cy="464282"/>
            </a:xfrm>
            <a:prstGeom prst="rect">
              <a:avLst/>
            </a:prstGeom>
            <a:gradFill>
              <a:gsLst>
                <a:gs pos="0">
                  <a:srgbClr val="A09F9D"/>
                </a:gs>
                <a:gs pos="17000">
                  <a:srgbClr val="D2C9C4"/>
                </a:gs>
                <a:gs pos="70000">
                  <a:srgbClr val="E4E1DC"/>
                </a:gs>
                <a:gs pos="42000">
                  <a:sysClr val="window" lastClr="FFFFFF"/>
                </a:gs>
                <a:gs pos="100000">
                  <a:srgbClr val="F8F8F8"/>
                </a:gs>
              </a:gsLst>
              <a:lin ang="0" scaled="0"/>
            </a:gradFill>
            <a:ln w="12700" cap="flat" cmpd="sng" algn="ctr">
              <a:noFill/>
              <a:prstDash val="solid"/>
              <a:miter lim="800000"/>
            </a:ln>
            <a:effectLst/>
          </p:spPr>
          <p:txBody>
            <a:bodyPr rtlCol="0" anchor="ctr"/>
            <a:lstStyle/>
            <a:p>
              <a:pPr algn="ctr">
                <a:defRPr/>
              </a:pPr>
              <a:endParaRPr lang="en-US" kern="0" dirty="0">
                <a:solidFill>
                  <a:prstClr val="white"/>
                </a:solidFill>
                <a:latin typeface="Calibri" panose="020F0502020204030204"/>
              </a:endParaRPr>
            </a:p>
          </p:txBody>
        </p:sp>
        <p:sp>
          <p:nvSpPr>
            <p:cNvPr id="97" name="Oval 96"/>
            <p:cNvSpPr/>
            <p:nvPr/>
          </p:nvSpPr>
          <p:spPr>
            <a:xfrm>
              <a:off x="2843212" y="4217483"/>
              <a:ext cx="395288" cy="133350"/>
            </a:xfrm>
            <a:prstGeom prst="ellipse">
              <a:avLst/>
            </a:prstGeom>
            <a:gradFill>
              <a:gsLst>
                <a:gs pos="0">
                  <a:srgbClr val="A09F9D"/>
                </a:gs>
                <a:gs pos="17000">
                  <a:srgbClr val="D2C9C4"/>
                </a:gs>
                <a:gs pos="70000">
                  <a:srgbClr val="E4E1DC"/>
                </a:gs>
                <a:gs pos="42000">
                  <a:sysClr val="window" lastClr="FFFFFF"/>
                </a:gs>
                <a:gs pos="100000">
                  <a:srgbClr val="F8F8F8"/>
                </a:gs>
              </a:gsLst>
              <a:lin ang="0" scaled="0"/>
            </a:gradFill>
            <a:ln w="12700" cap="flat" cmpd="sng" algn="ctr">
              <a:noFill/>
              <a:prstDash val="solid"/>
              <a:miter lim="800000"/>
            </a:ln>
            <a:effectLst/>
          </p:spPr>
          <p:txBody>
            <a:bodyPr rtlCol="0" anchor="ctr"/>
            <a:lstStyle/>
            <a:p>
              <a:pPr algn="ctr">
                <a:defRPr/>
              </a:pPr>
              <a:endParaRPr lang="en-US" kern="0" dirty="0">
                <a:solidFill>
                  <a:prstClr val="white"/>
                </a:solidFill>
                <a:latin typeface="Calibri" panose="020F0502020204030204"/>
              </a:endParaRPr>
            </a:p>
          </p:txBody>
        </p:sp>
        <p:sp>
          <p:nvSpPr>
            <p:cNvPr id="98" name="Rectangle 97"/>
            <p:cNvSpPr/>
            <p:nvPr/>
          </p:nvSpPr>
          <p:spPr>
            <a:xfrm>
              <a:off x="2843212" y="2392083"/>
              <a:ext cx="395288" cy="1898928"/>
            </a:xfrm>
            <a:prstGeom prst="rect">
              <a:avLst/>
            </a:prstGeom>
            <a:gradFill>
              <a:gsLst>
                <a:gs pos="0">
                  <a:srgbClr val="A09F9D">
                    <a:alpha val="50000"/>
                  </a:srgbClr>
                </a:gs>
                <a:gs pos="17000">
                  <a:srgbClr val="D2C9C4">
                    <a:alpha val="50000"/>
                  </a:srgbClr>
                </a:gs>
                <a:gs pos="70000">
                  <a:srgbClr val="E4E1DC">
                    <a:alpha val="50000"/>
                  </a:srgbClr>
                </a:gs>
                <a:gs pos="42000">
                  <a:sysClr val="window" lastClr="FFFFFF">
                    <a:alpha val="50000"/>
                  </a:sysClr>
                </a:gs>
                <a:gs pos="100000">
                  <a:srgbClr val="F8F8F8">
                    <a:alpha val="50000"/>
                  </a:srgbClr>
                </a:gs>
              </a:gsLst>
              <a:lin ang="0" scaled="0"/>
            </a:gradFill>
            <a:ln w="12700" cap="flat" cmpd="sng" algn="ctr">
              <a:noFill/>
              <a:prstDash val="solid"/>
              <a:miter lim="800000"/>
            </a:ln>
            <a:effectLst/>
          </p:spPr>
          <p:txBody>
            <a:bodyPr rtlCol="0" anchor="ctr"/>
            <a:lstStyle/>
            <a:p>
              <a:pPr algn="ctr">
                <a:defRPr/>
              </a:pPr>
              <a:endParaRPr lang="en-US" kern="0" dirty="0">
                <a:solidFill>
                  <a:prstClr val="white"/>
                </a:solidFill>
                <a:latin typeface="Calibri" panose="020F0502020204030204"/>
              </a:endParaRPr>
            </a:p>
          </p:txBody>
        </p:sp>
        <p:sp>
          <p:nvSpPr>
            <p:cNvPr id="99" name="Rectangle 98"/>
            <p:cNvSpPr/>
            <p:nvPr/>
          </p:nvSpPr>
          <p:spPr>
            <a:xfrm>
              <a:off x="2843212" y="4052182"/>
              <a:ext cx="395288" cy="165302"/>
            </a:xfrm>
            <a:prstGeom prst="rect">
              <a:avLst/>
            </a:prstGeom>
            <a:gradFill>
              <a:gsLst>
                <a:gs pos="0">
                  <a:srgbClr val="A09F9D">
                    <a:lumMod val="80000"/>
                  </a:srgbClr>
                </a:gs>
                <a:gs pos="17000">
                  <a:srgbClr val="D2C9C4">
                    <a:lumMod val="80000"/>
                  </a:srgbClr>
                </a:gs>
                <a:gs pos="70000">
                  <a:srgbClr val="E4E1DC">
                    <a:lumMod val="80000"/>
                  </a:srgbClr>
                </a:gs>
                <a:gs pos="42000">
                  <a:sysClr val="window" lastClr="FFFFFF"/>
                </a:gs>
                <a:gs pos="100000">
                  <a:srgbClr val="F8F8F8">
                    <a:lumMod val="80000"/>
                  </a:srgbClr>
                </a:gs>
              </a:gsLst>
              <a:lin ang="0" scaled="0"/>
            </a:gradFill>
            <a:ln w="12700" cap="flat" cmpd="sng" algn="ctr">
              <a:noFill/>
              <a:prstDash val="solid"/>
              <a:miter lim="800000"/>
            </a:ln>
            <a:effectLst/>
          </p:spPr>
          <p:txBody>
            <a:bodyPr rtlCol="0" anchor="ctr"/>
            <a:lstStyle/>
            <a:p>
              <a:pPr algn="ctr">
                <a:defRPr/>
              </a:pPr>
              <a:endParaRPr lang="en-US" kern="0" dirty="0">
                <a:solidFill>
                  <a:prstClr val="white"/>
                </a:solidFill>
                <a:latin typeface="Calibri" panose="020F0502020204030204"/>
              </a:endParaRPr>
            </a:p>
          </p:txBody>
        </p:sp>
        <p:sp>
          <p:nvSpPr>
            <p:cNvPr id="100" name="Oval 99"/>
            <p:cNvSpPr/>
            <p:nvPr/>
          </p:nvSpPr>
          <p:spPr>
            <a:xfrm>
              <a:off x="2843212" y="4156068"/>
              <a:ext cx="395288" cy="133350"/>
            </a:xfrm>
            <a:prstGeom prst="ellipse">
              <a:avLst/>
            </a:prstGeom>
            <a:gradFill>
              <a:gsLst>
                <a:gs pos="0">
                  <a:srgbClr val="A09F9D">
                    <a:lumMod val="80000"/>
                  </a:srgbClr>
                </a:gs>
                <a:gs pos="17000">
                  <a:srgbClr val="D2C9C4">
                    <a:lumMod val="80000"/>
                  </a:srgbClr>
                </a:gs>
                <a:gs pos="70000">
                  <a:srgbClr val="E4E1DC">
                    <a:lumMod val="80000"/>
                  </a:srgbClr>
                </a:gs>
                <a:gs pos="42000">
                  <a:sysClr val="window" lastClr="FFFFFF"/>
                </a:gs>
                <a:gs pos="100000">
                  <a:srgbClr val="F8F8F8">
                    <a:lumMod val="80000"/>
                  </a:srgbClr>
                </a:gs>
              </a:gsLst>
              <a:lin ang="0" scaled="0"/>
            </a:gradFill>
            <a:ln w="12700" cap="flat" cmpd="sng" algn="ctr">
              <a:noFill/>
              <a:prstDash val="solid"/>
              <a:miter lim="800000"/>
            </a:ln>
            <a:effectLst/>
          </p:spPr>
          <p:txBody>
            <a:bodyPr rtlCol="0" anchor="ctr"/>
            <a:lstStyle/>
            <a:p>
              <a:pPr algn="ctr">
                <a:defRPr/>
              </a:pPr>
              <a:endParaRPr lang="en-US" kern="0" dirty="0">
                <a:solidFill>
                  <a:prstClr val="white"/>
                </a:solidFill>
                <a:latin typeface="Calibri" panose="020F0502020204030204"/>
              </a:endParaRPr>
            </a:p>
          </p:txBody>
        </p:sp>
        <p:sp>
          <p:nvSpPr>
            <p:cNvPr id="101" name="Oval 100"/>
            <p:cNvSpPr/>
            <p:nvPr/>
          </p:nvSpPr>
          <p:spPr>
            <a:xfrm>
              <a:off x="2843212" y="4052838"/>
              <a:ext cx="395288" cy="304848"/>
            </a:xfrm>
            <a:prstGeom prst="ellipse">
              <a:avLst/>
            </a:prstGeom>
            <a:gradFill>
              <a:gsLst>
                <a:gs pos="0">
                  <a:srgbClr val="A09F9D"/>
                </a:gs>
                <a:gs pos="17000">
                  <a:srgbClr val="D2C9C4"/>
                </a:gs>
                <a:gs pos="70000">
                  <a:srgbClr val="E4E1DC"/>
                </a:gs>
                <a:gs pos="42000">
                  <a:sysClr val="window" lastClr="FFFFFF"/>
                </a:gs>
                <a:gs pos="100000">
                  <a:srgbClr val="F8F8F8"/>
                </a:gs>
              </a:gsLst>
              <a:lin ang="0" scaled="0"/>
            </a:gradFill>
            <a:ln w="12700" cap="flat" cmpd="sng" algn="ctr">
              <a:noFill/>
              <a:prstDash val="solid"/>
              <a:miter lim="800000"/>
            </a:ln>
            <a:effectLst/>
          </p:spPr>
          <p:txBody>
            <a:bodyPr rtlCol="0" anchor="ctr"/>
            <a:lstStyle/>
            <a:p>
              <a:pPr algn="ctr">
                <a:defRPr/>
              </a:pPr>
              <a:endParaRPr lang="en-US" kern="0" dirty="0">
                <a:solidFill>
                  <a:prstClr val="white"/>
                </a:solidFill>
                <a:latin typeface="Calibri" panose="020F0502020204030204"/>
              </a:endParaRPr>
            </a:p>
          </p:txBody>
        </p:sp>
        <p:sp>
          <p:nvSpPr>
            <p:cNvPr id="102" name="Rectangle 101"/>
            <p:cNvSpPr/>
            <p:nvPr/>
          </p:nvSpPr>
          <p:spPr>
            <a:xfrm>
              <a:off x="2843212" y="3151822"/>
              <a:ext cx="373955" cy="944422"/>
            </a:xfrm>
            <a:prstGeom prst="rect">
              <a:avLst/>
            </a:prstGeom>
            <a:gradFill>
              <a:gsLst>
                <a:gs pos="0">
                  <a:srgbClr val="2A5F8F">
                    <a:lumMod val="75000"/>
                  </a:srgbClr>
                </a:gs>
                <a:gs pos="17000">
                  <a:srgbClr val="2A5F8F">
                    <a:lumMod val="60000"/>
                    <a:lumOff val="40000"/>
                  </a:srgbClr>
                </a:gs>
                <a:gs pos="70000">
                  <a:srgbClr val="2A5F8F">
                    <a:lumMod val="60000"/>
                    <a:lumOff val="40000"/>
                  </a:srgbClr>
                </a:gs>
                <a:gs pos="42000">
                  <a:sysClr val="window" lastClr="FFFFFF"/>
                </a:gs>
                <a:gs pos="100000">
                  <a:srgbClr val="2A5F8F"/>
                </a:gs>
              </a:gsLst>
            </a:gradFill>
            <a:ln w="12700" cap="flat" cmpd="sng" algn="ctr">
              <a:noFill/>
              <a:prstDash val="solid"/>
              <a:miter lim="800000"/>
            </a:ln>
            <a:effectLst/>
          </p:spPr>
          <p:txBody>
            <a:bodyPr rtlCol="0" anchor="ctr"/>
            <a:lstStyle/>
            <a:p>
              <a:pPr algn="ctr">
                <a:defRPr/>
              </a:pPr>
              <a:endParaRPr lang="en-US" kern="0" dirty="0">
                <a:solidFill>
                  <a:prstClr val="white"/>
                </a:solidFill>
                <a:latin typeface="Calibri" panose="020F0502020204030204"/>
              </a:endParaRPr>
            </a:p>
          </p:txBody>
        </p:sp>
        <p:sp>
          <p:nvSpPr>
            <p:cNvPr id="103" name="Oval 102"/>
            <p:cNvSpPr/>
            <p:nvPr/>
          </p:nvSpPr>
          <p:spPr>
            <a:xfrm>
              <a:off x="2843212" y="4037047"/>
              <a:ext cx="395288" cy="133350"/>
            </a:xfrm>
            <a:prstGeom prst="ellipse">
              <a:avLst/>
            </a:prstGeom>
            <a:gradFill>
              <a:gsLst>
                <a:gs pos="0">
                  <a:srgbClr val="2A5F8F">
                    <a:lumMod val="50000"/>
                  </a:srgbClr>
                </a:gs>
                <a:gs pos="17000">
                  <a:srgbClr val="2A5F8F"/>
                </a:gs>
                <a:gs pos="70000">
                  <a:srgbClr val="2A5F8F"/>
                </a:gs>
                <a:gs pos="42000">
                  <a:sysClr val="window" lastClr="FFFFFF"/>
                </a:gs>
                <a:gs pos="100000">
                  <a:srgbClr val="2A5F8F">
                    <a:lumMod val="50000"/>
                  </a:srgbClr>
                </a:gs>
              </a:gsLst>
            </a:gradFill>
            <a:ln w="12700" cap="flat" cmpd="sng" algn="ctr">
              <a:noFill/>
              <a:prstDash val="solid"/>
              <a:miter lim="800000"/>
            </a:ln>
            <a:effectLst/>
          </p:spPr>
          <p:txBody>
            <a:bodyPr rtlCol="0" anchor="ctr"/>
            <a:lstStyle/>
            <a:p>
              <a:pPr algn="ctr">
                <a:defRPr/>
              </a:pPr>
              <a:endParaRPr lang="en-US" kern="0" dirty="0">
                <a:solidFill>
                  <a:prstClr val="white"/>
                </a:solidFill>
                <a:latin typeface="Calibri" panose="020F0502020204030204"/>
              </a:endParaRPr>
            </a:p>
          </p:txBody>
        </p:sp>
        <p:sp>
          <p:nvSpPr>
            <p:cNvPr id="104" name="Oval 103"/>
            <p:cNvSpPr/>
            <p:nvPr/>
          </p:nvSpPr>
          <p:spPr>
            <a:xfrm>
              <a:off x="2842681" y="3089066"/>
              <a:ext cx="379036" cy="133350"/>
            </a:xfrm>
            <a:prstGeom prst="ellipse">
              <a:avLst/>
            </a:prstGeom>
            <a:gradFill>
              <a:gsLst>
                <a:gs pos="0">
                  <a:srgbClr val="2A5F8F">
                    <a:lumMod val="50000"/>
                  </a:srgbClr>
                </a:gs>
                <a:gs pos="17000">
                  <a:srgbClr val="2A5F8F"/>
                </a:gs>
                <a:gs pos="70000">
                  <a:srgbClr val="2A5F8F"/>
                </a:gs>
                <a:gs pos="42000">
                  <a:sysClr val="window" lastClr="FFFFFF"/>
                </a:gs>
                <a:gs pos="100000">
                  <a:srgbClr val="2A5F8F">
                    <a:lumMod val="50000"/>
                  </a:srgbClr>
                </a:gs>
              </a:gsLst>
            </a:gradFill>
            <a:ln w="12700" cap="flat" cmpd="sng" algn="ctr">
              <a:noFill/>
              <a:prstDash val="solid"/>
              <a:miter lim="800000"/>
            </a:ln>
            <a:effectLst/>
          </p:spPr>
          <p:txBody>
            <a:bodyPr rtlCol="0" anchor="ctr"/>
            <a:lstStyle/>
            <a:p>
              <a:pPr algn="ctr">
                <a:defRPr/>
              </a:pPr>
              <a:endParaRPr lang="en-US" kern="0" dirty="0">
                <a:solidFill>
                  <a:prstClr val="white"/>
                </a:solidFill>
                <a:latin typeface="Calibri" panose="020F0502020204030204"/>
              </a:endParaRPr>
            </a:p>
          </p:txBody>
        </p:sp>
      </p:grpSp>
      <p:sp>
        <p:nvSpPr>
          <p:cNvPr id="105" name="Right Brace 104"/>
          <p:cNvSpPr/>
          <p:nvPr/>
        </p:nvSpPr>
        <p:spPr>
          <a:xfrm>
            <a:off x="5802990" y="3759702"/>
            <a:ext cx="257654" cy="806971"/>
          </a:xfrm>
          <a:prstGeom prst="rightBrace">
            <a:avLst/>
          </a:prstGeom>
          <a:noFill/>
          <a:ln w="6350" cap="flat" cmpd="sng" algn="ctr">
            <a:solidFill>
              <a:srgbClr val="2A5F8F"/>
            </a:solidFill>
            <a:prstDash val="solid"/>
            <a:miter lim="800000"/>
          </a:ln>
          <a:effectLst/>
        </p:spPr>
        <p:txBody>
          <a:bodyPr rtlCol="0" anchor="ctr"/>
          <a:lstStyle/>
          <a:p>
            <a:pPr algn="ctr">
              <a:defRPr/>
            </a:pPr>
            <a:endParaRPr lang="en-US" kern="0" dirty="0">
              <a:solidFill>
                <a:prstClr val="black"/>
              </a:solidFill>
              <a:latin typeface="Calibri" panose="020F0502020204030204"/>
            </a:endParaRPr>
          </a:p>
        </p:txBody>
      </p:sp>
      <p:sp>
        <p:nvSpPr>
          <p:cNvPr id="106" name="Right Brace 105"/>
          <p:cNvSpPr/>
          <p:nvPr/>
        </p:nvSpPr>
        <p:spPr>
          <a:xfrm>
            <a:off x="5824136" y="4595949"/>
            <a:ext cx="316381" cy="1422211"/>
          </a:xfrm>
          <a:prstGeom prst="rightBrace">
            <a:avLst>
              <a:gd name="adj1" fmla="val 54872"/>
              <a:gd name="adj2" fmla="val 50000"/>
            </a:avLst>
          </a:prstGeom>
          <a:noFill/>
          <a:ln w="6350" cap="flat" cmpd="sng" algn="ctr">
            <a:solidFill>
              <a:srgbClr val="2A5F8F"/>
            </a:solidFill>
            <a:prstDash val="solid"/>
            <a:miter lim="800000"/>
          </a:ln>
          <a:effectLst/>
        </p:spPr>
        <p:txBody>
          <a:bodyPr rtlCol="0" anchor="ctr"/>
          <a:lstStyle/>
          <a:p>
            <a:pPr algn="ctr">
              <a:defRPr/>
            </a:pPr>
            <a:endParaRPr lang="en-US" kern="0" dirty="0">
              <a:solidFill>
                <a:prstClr val="black"/>
              </a:solidFill>
              <a:latin typeface="Calibri" panose="020F0502020204030204"/>
            </a:endParaRPr>
          </a:p>
        </p:txBody>
      </p:sp>
      <p:sp>
        <p:nvSpPr>
          <p:cNvPr id="109" name="Rectangle 108"/>
          <p:cNvSpPr/>
          <p:nvPr/>
        </p:nvSpPr>
        <p:spPr>
          <a:xfrm rot="16200000">
            <a:off x="3393049" y="4552402"/>
            <a:ext cx="3137754" cy="470225"/>
          </a:xfrm>
          <a:prstGeom prst="rect">
            <a:avLst/>
          </a:prstGeom>
          <a:noFill/>
          <a:ln w="19050" cap="flat" cmpd="sng" algn="ctr">
            <a:noFill/>
            <a:prstDash val="solid"/>
            <a:miter lim="800000"/>
          </a:ln>
          <a:effectLst/>
        </p:spPr>
        <p:txBody>
          <a:bodyPr rtlCol="0" anchor="ctr"/>
          <a:lstStyle/>
          <a:p>
            <a:pPr algn="ctr">
              <a:defRPr/>
            </a:pPr>
            <a:r>
              <a:rPr lang="en-US" sz="1600" b="1" kern="0" dirty="0">
                <a:solidFill>
                  <a:prstClr val="black"/>
                </a:solidFill>
                <a:latin typeface="Calibri" panose="020F0502020204030204"/>
              </a:rPr>
              <a:t>Market Value, 2024:</a:t>
            </a:r>
          </a:p>
          <a:p>
            <a:pPr algn="ctr">
              <a:defRPr/>
            </a:pPr>
            <a:r>
              <a:rPr lang="en-US" sz="1600" b="1" kern="0" dirty="0">
                <a:solidFill>
                  <a:prstClr val="black"/>
                </a:solidFill>
                <a:latin typeface="Calibri" panose="020F0502020204030204"/>
              </a:rPr>
              <a:t> </a:t>
            </a:r>
            <a:r>
              <a:rPr lang="en-US" sz="1600" b="1" kern="0" dirty="0">
                <a:solidFill>
                  <a:srgbClr val="2A5F8F">
                    <a:lumMod val="75000"/>
                  </a:srgbClr>
                </a:solidFill>
                <a:latin typeface="Calibri" panose="020F0502020204030204"/>
              </a:rPr>
              <a:t>US$ </a:t>
            </a:r>
            <a:r>
              <a:rPr lang="en-US" sz="1600" b="1" kern="0" dirty="0">
                <a:solidFill>
                  <a:srgbClr val="2A5F8F">
                    <a:lumMod val="75000"/>
                  </a:srgbClr>
                </a:solidFill>
              </a:rPr>
              <a:t>B!Y! </a:t>
            </a:r>
            <a:r>
              <a:rPr lang="en-US" sz="1600" b="1" kern="0" dirty="0" err="1">
                <a:solidFill>
                  <a:srgbClr val="2A5F8F">
                    <a:lumMod val="75000"/>
                  </a:srgbClr>
                </a:solidFill>
              </a:rPr>
              <a:t>Mn</a:t>
            </a:r>
            <a:endParaRPr lang="en-US" sz="1600" b="1" kern="0" dirty="0">
              <a:solidFill>
                <a:srgbClr val="2A5F8F">
                  <a:lumMod val="75000"/>
                </a:srgbClr>
              </a:solidFill>
            </a:endParaRPr>
          </a:p>
        </p:txBody>
      </p:sp>
      <p:cxnSp>
        <p:nvCxnSpPr>
          <p:cNvPr id="110" name="Straight Connector 109"/>
          <p:cNvCxnSpPr/>
          <p:nvPr/>
        </p:nvCxnSpPr>
        <p:spPr>
          <a:xfrm>
            <a:off x="4303289" y="3432361"/>
            <a:ext cx="0" cy="2721011"/>
          </a:xfrm>
          <a:prstGeom prst="line">
            <a:avLst/>
          </a:prstGeom>
          <a:noFill/>
          <a:ln w="6350" cap="flat" cmpd="sng" algn="ctr">
            <a:solidFill>
              <a:srgbClr val="2A5F8F"/>
            </a:solidFill>
            <a:prstDash val="dash"/>
            <a:miter lim="800000"/>
          </a:ln>
          <a:effectLst/>
        </p:spPr>
      </p:cxnSp>
      <p:cxnSp>
        <p:nvCxnSpPr>
          <p:cNvPr id="111" name="Straight Connector 110"/>
          <p:cNvCxnSpPr/>
          <p:nvPr/>
        </p:nvCxnSpPr>
        <p:spPr>
          <a:xfrm>
            <a:off x="7779059" y="3526294"/>
            <a:ext cx="0" cy="2721011"/>
          </a:xfrm>
          <a:prstGeom prst="line">
            <a:avLst/>
          </a:prstGeom>
          <a:noFill/>
          <a:ln w="6350" cap="flat" cmpd="sng" algn="ctr">
            <a:solidFill>
              <a:srgbClr val="2A5F8F"/>
            </a:solidFill>
            <a:prstDash val="dash"/>
            <a:miter lim="800000"/>
          </a:ln>
          <a:effectLst/>
        </p:spPr>
      </p:cxnSp>
      <p:sp>
        <p:nvSpPr>
          <p:cNvPr id="112" name="Rectangle 111"/>
          <p:cNvSpPr/>
          <p:nvPr/>
        </p:nvSpPr>
        <p:spPr>
          <a:xfrm>
            <a:off x="6165031" y="3940947"/>
            <a:ext cx="1388329" cy="430887"/>
          </a:xfrm>
          <a:prstGeom prst="rect">
            <a:avLst/>
          </a:prstGeom>
          <a:noFill/>
        </p:spPr>
        <p:txBody>
          <a:bodyPr wrap="square" lIns="0" tIns="0" rIns="0" bIns="0">
            <a:spAutoFit/>
          </a:bodyPr>
          <a:lstStyle/>
          <a:p>
            <a:pPr algn="ctr">
              <a:spcBef>
                <a:spcPts val="300"/>
              </a:spcBef>
              <a:spcAft>
                <a:spcPts val="300"/>
              </a:spcAft>
              <a:defRPr/>
            </a:pPr>
            <a:r>
              <a:rPr lang="en-US" sz="1400" b="1" kern="0" dirty="0">
                <a:solidFill>
                  <a:prstClr val="black"/>
                </a:solidFill>
              </a:rPr>
              <a:t>Un - Organized and Key Players</a:t>
            </a:r>
          </a:p>
        </p:txBody>
      </p:sp>
      <p:sp>
        <p:nvSpPr>
          <p:cNvPr id="113" name="Rectangle 112"/>
          <p:cNvSpPr/>
          <p:nvPr/>
        </p:nvSpPr>
        <p:spPr>
          <a:xfrm>
            <a:off x="6046927" y="5077200"/>
            <a:ext cx="1808252" cy="430887"/>
          </a:xfrm>
          <a:prstGeom prst="rect">
            <a:avLst/>
          </a:prstGeom>
          <a:noFill/>
        </p:spPr>
        <p:txBody>
          <a:bodyPr wrap="square" lIns="0" tIns="0" rIns="0" bIns="0">
            <a:spAutoFit/>
          </a:bodyPr>
          <a:lstStyle/>
          <a:p>
            <a:pPr algn="ctr">
              <a:spcBef>
                <a:spcPts val="300"/>
              </a:spcBef>
              <a:spcAft>
                <a:spcPts val="300"/>
              </a:spcAft>
            </a:pPr>
            <a:r>
              <a:rPr lang="en-US" sz="1400" b="1" kern="0" dirty="0">
                <a:solidFill>
                  <a:prstClr val="black"/>
                </a:solidFill>
              </a:rPr>
              <a:t>Organized &amp; Other Small Players</a:t>
            </a:r>
          </a:p>
        </p:txBody>
      </p:sp>
      <p:sp>
        <p:nvSpPr>
          <p:cNvPr id="114" name="Rectangle 113"/>
          <p:cNvSpPr/>
          <p:nvPr/>
        </p:nvSpPr>
        <p:spPr>
          <a:xfrm rot="4164106">
            <a:off x="-476" y="4791919"/>
            <a:ext cx="1808252" cy="276999"/>
          </a:xfrm>
          <a:prstGeom prst="rect">
            <a:avLst/>
          </a:prstGeom>
          <a:noFill/>
        </p:spPr>
        <p:txBody>
          <a:bodyPr wrap="square" lIns="0" tIns="0" rIns="0" bIns="0">
            <a:spAutoFit/>
          </a:bodyPr>
          <a:lstStyle/>
          <a:p>
            <a:pPr algn="ctr">
              <a:spcBef>
                <a:spcPts val="300"/>
              </a:spcBef>
              <a:spcAft>
                <a:spcPts val="300"/>
              </a:spcAft>
              <a:defRPr/>
            </a:pPr>
            <a:r>
              <a:rPr lang="en-US" sz="1800" b="1" kern="0" dirty="0">
                <a:solidFill>
                  <a:prstClr val="black"/>
                </a:solidFill>
              </a:rPr>
              <a:t>Few Key Players</a:t>
            </a:r>
          </a:p>
        </p:txBody>
      </p:sp>
      <p:sp>
        <p:nvSpPr>
          <p:cNvPr id="115" name="TextBox 114"/>
          <p:cNvSpPr txBox="1"/>
          <p:nvPr/>
        </p:nvSpPr>
        <p:spPr>
          <a:xfrm rot="16200000">
            <a:off x="3399314" y="4641934"/>
            <a:ext cx="2188243" cy="307777"/>
          </a:xfrm>
          <a:prstGeom prst="rect">
            <a:avLst/>
          </a:prstGeom>
          <a:solidFill>
            <a:srgbClr val="D9D9D9"/>
          </a:solidFill>
          <a:ln>
            <a:noFill/>
          </a:ln>
          <a:effectLst/>
          <a:scene3d>
            <a:camera prst="orthographicFront">
              <a:rot lat="0" lon="0" rev="0"/>
            </a:camera>
            <a:lightRig rig="contrasting" dir="t">
              <a:rot lat="0" lon="0" rev="7800000"/>
            </a:lightRig>
          </a:scene3d>
          <a:sp3d>
            <a:bevelT w="139700" h="139700"/>
          </a:sp3d>
        </p:spPr>
        <p:txBody>
          <a:bodyPr wrap="square" rtlCol="0">
            <a:spAutoFit/>
          </a:bodyPr>
          <a:lstStyle/>
          <a:p>
            <a:pPr algn="ctr">
              <a:defRPr/>
            </a:pPr>
            <a:r>
              <a:rPr lang="en-US" sz="1400" kern="0" dirty="0">
                <a:solidFill>
                  <a:prstClr val="black"/>
                </a:solidFill>
              </a:rPr>
              <a:t>Market Structure Analysis</a:t>
            </a:r>
          </a:p>
        </p:txBody>
      </p:sp>
      <p:sp>
        <p:nvSpPr>
          <p:cNvPr id="116" name="Rectangle 115"/>
          <p:cNvSpPr/>
          <p:nvPr/>
        </p:nvSpPr>
        <p:spPr>
          <a:xfrm>
            <a:off x="8223226" y="3232305"/>
            <a:ext cx="2700845" cy="385042"/>
          </a:xfrm>
          <a:prstGeom prst="rect">
            <a:avLst/>
          </a:prstGeom>
        </p:spPr>
        <p:txBody>
          <a:bodyPr wrap="square">
            <a:spAutoFit/>
          </a:bodyPr>
          <a:lstStyle/>
          <a:p>
            <a:pPr algn="ctr">
              <a:spcBef>
                <a:spcPts val="300"/>
              </a:spcBef>
              <a:spcAft>
                <a:spcPts val="300"/>
              </a:spcAft>
            </a:pPr>
            <a:r>
              <a:rPr lang="en-US" b="1" dirty="0">
                <a:solidFill>
                  <a:srgbClr val="2A5F8F">
                    <a:lumMod val="75000"/>
                  </a:srgbClr>
                </a:solidFill>
                <a:latin typeface="Georgia" panose="02040502050405020303" pitchFamily="18" charset="0"/>
              </a:rPr>
              <a:t>Key Insights</a:t>
            </a:r>
          </a:p>
        </p:txBody>
      </p:sp>
      <p:sp>
        <p:nvSpPr>
          <p:cNvPr id="117" name="TextBox 116"/>
          <p:cNvSpPr txBox="1"/>
          <p:nvPr/>
        </p:nvSpPr>
        <p:spPr>
          <a:xfrm>
            <a:off x="476700" y="1412507"/>
            <a:ext cx="1344428" cy="600164"/>
          </a:xfrm>
          <a:prstGeom prst="rect">
            <a:avLst/>
          </a:prstGeom>
          <a:noFill/>
        </p:spPr>
        <p:txBody>
          <a:bodyPr wrap="square" rtlCol="0">
            <a:spAutoFit/>
          </a:bodyPr>
          <a:lstStyle/>
          <a:p>
            <a:pPr algn="ctr"/>
            <a:r>
              <a:rPr lang="en-IN" sz="1100" b="1" dirty="0">
                <a:latin typeface="Century Gothic" panose="020B0502020202020204" pitchFamily="34" charset="0"/>
              </a:rPr>
              <a:t>Strategic Acquisition and New Investments</a:t>
            </a:r>
            <a:endParaRPr lang="en-US" sz="1100" b="1" dirty="0">
              <a:latin typeface="Century Gothic" panose="020B0502020202020204" pitchFamily="34" charset="0"/>
            </a:endParaRPr>
          </a:p>
        </p:txBody>
      </p:sp>
      <p:sp>
        <p:nvSpPr>
          <p:cNvPr id="60" name="Rectangle 59"/>
          <p:cNvSpPr/>
          <p:nvPr/>
        </p:nvSpPr>
        <p:spPr>
          <a:xfrm>
            <a:off x="1821128" y="2190682"/>
            <a:ext cx="9792190" cy="830997"/>
          </a:xfrm>
          <a:prstGeom prst="rect">
            <a:avLst/>
          </a:prstGeom>
          <a:noFill/>
        </p:spPr>
        <p:txBody>
          <a:bodyPr wrap="square" lIns="0" tIns="0" rIns="0" bIns="0">
            <a:spAutoFit/>
          </a:bodyPr>
          <a:lstStyle/>
          <a:p>
            <a:pPr marL="228600" lvl="3" indent="-228600" algn="just">
              <a:spcBef>
                <a:spcPts val="1200"/>
              </a:spcBef>
              <a:spcAft>
                <a:spcPts val="1200"/>
              </a:spcAft>
              <a:buFont typeface="Wingdings" panose="05000000000000000000" pitchFamily="2" charset="2"/>
              <a:buChar char="q"/>
            </a:pPr>
            <a:r>
              <a:rPr lang="en-IN" sz="1350" kern="0" dirty="0"/>
              <a:t>Key Players are investing fair share of their revenue in research and development. Innovations to enhance product offerings and increase their efficiency is the key strategy adopted by key players to bolster their share in global market. Key players are also emphasizing to develop and cater tailored solutions to leading end-use industries. Tailored solutions comply with strict specifications of end-users, providing advantage over its alternatives.</a:t>
            </a:r>
          </a:p>
        </p:txBody>
      </p:sp>
      <p:sp>
        <p:nvSpPr>
          <p:cNvPr id="61" name="TextBox 60"/>
          <p:cNvSpPr txBox="1"/>
          <p:nvPr/>
        </p:nvSpPr>
        <p:spPr>
          <a:xfrm>
            <a:off x="487645" y="2243022"/>
            <a:ext cx="1333483" cy="769441"/>
          </a:xfrm>
          <a:prstGeom prst="rect">
            <a:avLst/>
          </a:prstGeom>
          <a:noFill/>
        </p:spPr>
        <p:txBody>
          <a:bodyPr wrap="square" rtlCol="0">
            <a:spAutoFit/>
          </a:bodyPr>
          <a:lstStyle/>
          <a:p>
            <a:pPr algn="ctr"/>
            <a:r>
              <a:rPr lang="en-IN" sz="1100" b="1" dirty="0">
                <a:latin typeface="Century Gothic" panose="020B0502020202020204" pitchFamily="34" charset="0"/>
              </a:rPr>
              <a:t>Substantial Investment in Research and Development</a:t>
            </a:r>
            <a:endParaRPr lang="en-US" sz="1100" b="1" dirty="0">
              <a:latin typeface="Century Gothic" panose="020B0502020202020204" pitchFamily="34" charset="0"/>
            </a:endParaRPr>
          </a:p>
        </p:txBody>
      </p:sp>
      <p:sp>
        <p:nvSpPr>
          <p:cNvPr id="56" name="TextBox 55"/>
          <p:cNvSpPr txBox="1"/>
          <p:nvPr/>
        </p:nvSpPr>
        <p:spPr>
          <a:xfrm>
            <a:off x="7884749" y="3596185"/>
            <a:ext cx="3936008" cy="2651119"/>
          </a:xfrm>
          <a:prstGeom prst="rect">
            <a:avLst/>
          </a:prstGeom>
          <a:solidFill>
            <a:srgbClr val="D9D9D9"/>
          </a:solidFill>
          <a:ln>
            <a:noFill/>
          </a:ln>
          <a:effectLst/>
          <a:scene3d>
            <a:camera prst="orthographicFront">
              <a:rot lat="0" lon="0" rev="0"/>
            </a:camera>
            <a:lightRig rig="contrasting" dir="t">
              <a:rot lat="0" lon="0" rev="7800000"/>
            </a:lightRig>
          </a:scene3d>
          <a:sp3d>
            <a:bevelT w="139700" h="139700"/>
          </a:sp3d>
        </p:spPr>
        <p:txBody>
          <a:bodyPr wrap="square" rtlCol="0">
            <a:noAutofit/>
          </a:bodyPr>
          <a:lstStyle/>
          <a:p>
            <a:pPr marL="171450" indent="-171450" algn="just">
              <a:buFont typeface="Arial" panose="020B0604020202020204" pitchFamily="34" charset="0"/>
              <a:buChar char="•"/>
            </a:pPr>
            <a:r>
              <a:rPr lang="en-US" sz="1200" i="1" dirty="0"/>
              <a:t>WXYZ is somewhat semi fragmented with key players holding significant share in the market along with the presence of several medium &amp; small scale key players. </a:t>
            </a:r>
          </a:p>
          <a:p>
            <a:pPr marL="171450" indent="-171450" algn="just">
              <a:buFont typeface="Arial" panose="020B0604020202020204" pitchFamily="34" charset="0"/>
              <a:buChar char="•"/>
            </a:pPr>
            <a:r>
              <a:rPr lang="en-US" sz="1200" i="1" dirty="0"/>
              <a:t>Key manufactures are devoted to gain significant market share and avoid various challenges of the market. Key manufacturers are also signing agreements &amp; contracts with end use industries for long term supply of material &amp; to gain more profit. </a:t>
            </a:r>
          </a:p>
          <a:p>
            <a:pPr marL="171450" indent="-171450" algn="just">
              <a:buFont typeface="Arial" panose="020B0604020202020204" pitchFamily="34" charset="0"/>
              <a:buChar char="•"/>
            </a:pPr>
            <a:r>
              <a:rPr lang="en-US" sz="1200" i="1" dirty="0"/>
              <a:t>Moreover, Key manufacturers are engaged in research and development for product development and innovation.</a:t>
            </a:r>
          </a:p>
        </p:txBody>
      </p:sp>
      <p:pic>
        <p:nvPicPr>
          <p:cNvPr id="5" name="Picture 4"/>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259424" y="3470869"/>
            <a:ext cx="353599" cy="2389839"/>
          </a:xfrm>
          <a:prstGeom prst="rect">
            <a:avLst/>
          </a:prstGeom>
        </p:spPr>
      </p:pic>
      <p:sp>
        <p:nvSpPr>
          <p:cNvPr id="57" name="Title 1"/>
          <p:cNvSpPr>
            <a:spLocks noGrp="1"/>
          </p:cNvSpPr>
          <p:nvPr>
            <p:ph type="title"/>
          </p:nvPr>
        </p:nvSpPr>
        <p:spPr/>
        <p:txBody>
          <a:bodyPr/>
          <a:lstStyle/>
          <a:p>
            <a:r>
              <a:rPr lang="en-US" dirty="0"/>
              <a:t>Executive Summary: Supply Side Trends (2/4)</a:t>
            </a:r>
            <a:endParaRPr lang="en-IN" sz="1000" b="0" i="1" dirty="0"/>
          </a:p>
        </p:txBody>
      </p:sp>
      <p:sp>
        <p:nvSpPr>
          <p:cNvPr id="58" name="TextBox 57"/>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5</a:t>
            </a:fld>
            <a:endParaRPr lang="en-GB" dirty="0"/>
          </a:p>
        </p:txBody>
      </p:sp>
    </p:spTree>
    <p:extLst>
      <p:ext uri="{BB962C8B-B14F-4D97-AF65-F5344CB8AC3E}">
        <p14:creationId xmlns:p14="http://schemas.microsoft.com/office/powerpoint/2010/main" val="16259298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Rectangle 54"/>
          <p:cNvSpPr/>
          <p:nvPr/>
        </p:nvSpPr>
        <p:spPr>
          <a:xfrm>
            <a:off x="4205492" y="2485434"/>
            <a:ext cx="531620" cy="215444"/>
          </a:xfrm>
          <a:prstGeom prst="rect">
            <a:avLst/>
          </a:prstGeom>
          <a:noFill/>
        </p:spPr>
        <p:txBody>
          <a:bodyPr wrap="none" lIns="0" tIns="0" rIns="0" bIns="0">
            <a:spAutoFit/>
          </a:bodyPr>
          <a:lstStyle/>
          <a:p>
            <a:pPr>
              <a:spcBef>
                <a:spcPts val="300"/>
              </a:spcBef>
              <a:spcAft>
                <a:spcPts val="300"/>
              </a:spcAft>
            </a:pPr>
            <a:r>
              <a:rPr lang="en-US" sz="1400" b="1" dirty="0">
                <a:latin typeface="Candara" panose="020E0502030303020204" pitchFamily="34" charset="0"/>
              </a:rPr>
              <a:t>Trend3</a:t>
            </a:r>
          </a:p>
        </p:txBody>
      </p:sp>
      <p:sp>
        <p:nvSpPr>
          <p:cNvPr id="56" name="Rectangle 55"/>
          <p:cNvSpPr/>
          <p:nvPr/>
        </p:nvSpPr>
        <p:spPr>
          <a:xfrm>
            <a:off x="4180135" y="3826740"/>
            <a:ext cx="582334" cy="215444"/>
          </a:xfrm>
          <a:prstGeom prst="rect">
            <a:avLst/>
          </a:prstGeom>
          <a:noFill/>
        </p:spPr>
        <p:txBody>
          <a:bodyPr wrap="square" lIns="0" tIns="0" rIns="0" bIns="0">
            <a:spAutoFit/>
          </a:bodyPr>
          <a:lstStyle/>
          <a:p>
            <a:r>
              <a:rPr lang="en-US" sz="1400" b="1" dirty="0">
                <a:latin typeface="Candara" panose="020E0502030303020204" pitchFamily="34" charset="0"/>
              </a:rPr>
              <a:t>Trend4</a:t>
            </a:r>
          </a:p>
        </p:txBody>
      </p:sp>
      <p:sp>
        <p:nvSpPr>
          <p:cNvPr id="57" name="Rectangle 56"/>
          <p:cNvSpPr/>
          <p:nvPr/>
        </p:nvSpPr>
        <p:spPr>
          <a:xfrm>
            <a:off x="4205492" y="1180590"/>
            <a:ext cx="531620" cy="215444"/>
          </a:xfrm>
          <a:prstGeom prst="rect">
            <a:avLst/>
          </a:prstGeom>
          <a:noFill/>
        </p:spPr>
        <p:txBody>
          <a:bodyPr wrap="square" lIns="0" tIns="0" rIns="0" bIns="0">
            <a:spAutoFit/>
          </a:bodyPr>
          <a:lstStyle/>
          <a:p>
            <a:r>
              <a:rPr lang="en-US" sz="1400" b="1" dirty="0">
                <a:latin typeface="Candara" panose="020E0502030303020204" pitchFamily="34" charset="0"/>
              </a:rPr>
              <a:t>Trend2</a:t>
            </a:r>
          </a:p>
        </p:txBody>
      </p:sp>
      <p:sp>
        <p:nvSpPr>
          <p:cNvPr id="58" name="Rectangle 57"/>
          <p:cNvSpPr/>
          <p:nvPr/>
        </p:nvSpPr>
        <p:spPr>
          <a:xfrm>
            <a:off x="4206168" y="5097983"/>
            <a:ext cx="530268" cy="220052"/>
          </a:xfrm>
          <a:prstGeom prst="rect">
            <a:avLst/>
          </a:prstGeom>
          <a:noFill/>
        </p:spPr>
        <p:txBody>
          <a:bodyPr wrap="square" lIns="0" tIns="0" rIns="0" bIns="0">
            <a:spAutoFit/>
          </a:bodyPr>
          <a:lstStyle/>
          <a:p>
            <a:r>
              <a:rPr lang="en-IN" sz="1400" b="1" dirty="0">
                <a:latin typeface="Candara" panose="020E0502030303020204" pitchFamily="34" charset="0"/>
              </a:rPr>
              <a:t>Trend5</a:t>
            </a:r>
            <a:endParaRPr lang="en-US" sz="1400" b="1" dirty="0">
              <a:latin typeface="Candara" panose="020E0502030303020204" pitchFamily="34" charset="0"/>
            </a:endParaRPr>
          </a:p>
        </p:txBody>
      </p:sp>
      <p:sp>
        <p:nvSpPr>
          <p:cNvPr id="38" name="Rectangle 37"/>
          <p:cNvSpPr/>
          <p:nvPr/>
        </p:nvSpPr>
        <p:spPr>
          <a:xfrm>
            <a:off x="234943" y="1182833"/>
            <a:ext cx="2264695" cy="498915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38"/>
          <p:cNvSpPr/>
          <p:nvPr/>
        </p:nvSpPr>
        <p:spPr>
          <a:xfrm>
            <a:off x="753448" y="1517788"/>
            <a:ext cx="1351535" cy="1015917"/>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0" name="Straight Connector 39"/>
          <p:cNvCxnSpPr>
            <a:stCxn id="42" idx="4"/>
            <a:endCxn id="43" idx="0"/>
          </p:cNvCxnSpPr>
          <p:nvPr/>
        </p:nvCxnSpPr>
        <p:spPr>
          <a:xfrm>
            <a:off x="3809944" y="3048551"/>
            <a:ext cx="0" cy="1072943"/>
          </a:xfrm>
          <a:prstGeom prst="line">
            <a:avLst/>
          </a:prstGeom>
          <a:solidFill>
            <a:schemeClr val="accent1">
              <a:lumMod val="40000"/>
              <a:lumOff val="60000"/>
            </a:schemeClr>
          </a:solidFill>
          <a:ln w="19050">
            <a:solidFill>
              <a:schemeClr val="bg1">
                <a:lumMod val="65000"/>
              </a:schemeClr>
            </a:solidFill>
          </a:ln>
        </p:spPr>
        <p:style>
          <a:lnRef idx="1">
            <a:schemeClr val="dk1"/>
          </a:lnRef>
          <a:fillRef idx="0">
            <a:schemeClr val="dk1"/>
          </a:fillRef>
          <a:effectRef idx="0">
            <a:schemeClr val="dk1"/>
          </a:effectRef>
          <a:fontRef idx="minor">
            <a:schemeClr val="tx1"/>
          </a:fontRef>
        </p:style>
      </p:cxnSp>
      <p:sp>
        <p:nvSpPr>
          <p:cNvPr id="41" name="Oval 40"/>
          <p:cNvSpPr/>
          <p:nvPr/>
        </p:nvSpPr>
        <p:spPr>
          <a:xfrm>
            <a:off x="3690276" y="1418594"/>
            <a:ext cx="239337" cy="278507"/>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Oval 41"/>
          <p:cNvSpPr/>
          <p:nvPr/>
        </p:nvSpPr>
        <p:spPr>
          <a:xfrm>
            <a:off x="3690276" y="2770044"/>
            <a:ext cx="239337" cy="278507"/>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p:cNvSpPr/>
          <p:nvPr/>
        </p:nvSpPr>
        <p:spPr>
          <a:xfrm>
            <a:off x="3690276" y="4121494"/>
            <a:ext cx="239337" cy="278507"/>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4" name="Group 43"/>
          <p:cNvGrpSpPr/>
          <p:nvPr/>
        </p:nvGrpSpPr>
        <p:grpSpPr>
          <a:xfrm>
            <a:off x="2750761" y="1349940"/>
            <a:ext cx="724809" cy="415031"/>
            <a:chOff x="2774042" y="1195507"/>
            <a:chExt cx="724809" cy="415031"/>
          </a:xfrm>
        </p:grpSpPr>
        <p:sp>
          <p:nvSpPr>
            <p:cNvPr id="45" name="Rectangle 44"/>
            <p:cNvSpPr/>
            <p:nvPr/>
          </p:nvSpPr>
          <p:spPr>
            <a:xfrm>
              <a:off x="2774042" y="1195507"/>
              <a:ext cx="397924" cy="415031"/>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Pentagon 45"/>
            <p:cNvSpPr/>
            <p:nvPr/>
          </p:nvSpPr>
          <p:spPr>
            <a:xfrm>
              <a:off x="2808515" y="1221903"/>
              <a:ext cx="690336" cy="377478"/>
            </a:xfrm>
            <a:prstGeom prst="homePlate">
              <a:avLst/>
            </a:prstGeom>
            <a:solidFill>
              <a:schemeClr val="bg1">
                <a:lumMod val="75000"/>
              </a:schemeClr>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Rectangle 46"/>
            <p:cNvSpPr/>
            <p:nvPr/>
          </p:nvSpPr>
          <p:spPr>
            <a:xfrm>
              <a:off x="3062312" y="1302920"/>
              <a:ext cx="182742" cy="215444"/>
            </a:xfrm>
            <a:prstGeom prst="rect">
              <a:avLst/>
            </a:prstGeom>
            <a:noFill/>
          </p:spPr>
          <p:txBody>
            <a:bodyPr wrap="none" lIns="0" tIns="0" rIns="0" bIns="0">
              <a:spAutoFit/>
            </a:bodyPr>
            <a:lstStyle/>
            <a:p>
              <a:pPr>
                <a:spcBef>
                  <a:spcPts val="300"/>
                </a:spcBef>
                <a:spcAft>
                  <a:spcPts val="300"/>
                </a:spcAft>
              </a:pPr>
              <a:r>
                <a:rPr lang="en-US" sz="1400" b="1" dirty="0"/>
                <a:t>01</a:t>
              </a:r>
            </a:p>
          </p:txBody>
        </p:sp>
      </p:grpSp>
      <p:grpSp>
        <p:nvGrpSpPr>
          <p:cNvPr id="48" name="Group 47"/>
          <p:cNvGrpSpPr/>
          <p:nvPr/>
        </p:nvGrpSpPr>
        <p:grpSpPr>
          <a:xfrm>
            <a:off x="2749020" y="2700878"/>
            <a:ext cx="724809" cy="415031"/>
            <a:chOff x="2774042" y="2502210"/>
            <a:chExt cx="724809" cy="415031"/>
          </a:xfrm>
        </p:grpSpPr>
        <p:sp>
          <p:nvSpPr>
            <p:cNvPr id="49" name="Rectangle 48"/>
            <p:cNvSpPr/>
            <p:nvPr/>
          </p:nvSpPr>
          <p:spPr>
            <a:xfrm>
              <a:off x="2774042" y="2502210"/>
              <a:ext cx="397924" cy="415031"/>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Pentagon 49"/>
            <p:cNvSpPr/>
            <p:nvPr/>
          </p:nvSpPr>
          <p:spPr>
            <a:xfrm>
              <a:off x="2808515" y="2528606"/>
              <a:ext cx="690336" cy="377478"/>
            </a:xfrm>
            <a:prstGeom prst="homePlate">
              <a:avLst/>
            </a:prstGeom>
            <a:solidFill>
              <a:schemeClr val="bg1">
                <a:lumMod val="75000"/>
              </a:schemeClr>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Rectangle 50"/>
            <p:cNvSpPr/>
            <p:nvPr/>
          </p:nvSpPr>
          <p:spPr>
            <a:xfrm>
              <a:off x="3062312" y="2609623"/>
              <a:ext cx="182742" cy="215444"/>
            </a:xfrm>
            <a:prstGeom prst="rect">
              <a:avLst/>
            </a:prstGeom>
            <a:noFill/>
          </p:spPr>
          <p:txBody>
            <a:bodyPr wrap="none" lIns="0" tIns="0" rIns="0" bIns="0">
              <a:spAutoFit/>
            </a:bodyPr>
            <a:lstStyle/>
            <a:p>
              <a:pPr>
                <a:spcBef>
                  <a:spcPts val="300"/>
                </a:spcBef>
                <a:spcAft>
                  <a:spcPts val="300"/>
                </a:spcAft>
              </a:pPr>
              <a:r>
                <a:rPr lang="en-US" sz="1400" b="1" dirty="0"/>
                <a:t>02</a:t>
              </a:r>
            </a:p>
          </p:txBody>
        </p:sp>
      </p:grpSp>
      <p:sp>
        <p:nvSpPr>
          <p:cNvPr id="52" name="Rectangle 51"/>
          <p:cNvSpPr/>
          <p:nvPr/>
        </p:nvSpPr>
        <p:spPr>
          <a:xfrm>
            <a:off x="234943" y="3672880"/>
            <a:ext cx="2203396" cy="815608"/>
          </a:xfrm>
          <a:prstGeom prst="rect">
            <a:avLst/>
          </a:prstGeom>
          <a:noFill/>
        </p:spPr>
        <p:txBody>
          <a:bodyPr wrap="square" lIns="0" tIns="0" rIns="0" bIns="0">
            <a:spAutoFit/>
          </a:bodyPr>
          <a:lstStyle/>
          <a:p>
            <a:pPr algn="ctr">
              <a:spcBef>
                <a:spcPts val="300"/>
              </a:spcBef>
              <a:spcAft>
                <a:spcPts val="300"/>
              </a:spcAft>
            </a:pPr>
            <a:r>
              <a:rPr lang="en-US" sz="2400" b="1" dirty="0">
                <a:solidFill>
                  <a:schemeClr val="bg1"/>
                </a:solidFill>
              </a:rPr>
              <a:t> </a:t>
            </a:r>
            <a:r>
              <a:rPr lang="en-US" sz="2400" b="1" dirty="0"/>
              <a:t>Demand-side </a:t>
            </a:r>
          </a:p>
          <a:p>
            <a:pPr algn="ctr">
              <a:spcBef>
                <a:spcPts val="300"/>
              </a:spcBef>
              <a:spcAft>
                <a:spcPts val="300"/>
              </a:spcAft>
            </a:pPr>
            <a:r>
              <a:rPr lang="en-US" sz="2400" b="1" dirty="0"/>
              <a:t>Trends</a:t>
            </a:r>
          </a:p>
        </p:txBody>
      </p:sp>
      <p:sp>
        <p:nvSpPr>
          <p:cNvPr id="53" name="Rectangle 52"/>
          <p:cNvSpPr/>
          <p:nvPr/>
        </p:nvSpPr>
        <p:spPr>
          <a:xfrm>
            <a:off x="94541" y="2311629"/>
            <a:ext cx="860926" cy="1015917"/>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Rectangle 53"/>
          <p:cNvSpPr/>
          <p:nvPr/>
        </p:nvSpPr>
        <p:spPr>
          <a:xfrm>
            <a:off x="1187868" y="2326175"/>
            <a:ext cx="722764" cy="722376"/>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9" name="Straight Connector 58"/>
          <p:cNvCxnSpPr>
            <a:stCxn id="41" idx="4"/>
            <a:endCxn id="42" idx="0"/>
          </p:cNvCxnSpPr>
          <p:nvPr/>
        </p:nvCxnSpPr>
        <p:spPr>
          <a:xfrm>
            <a:off x="3809944" y="1697101"/>
            <a:ext cx="0" cy="1072943"/>
          </a:xfrm>
          <a:prstGeom prst="line">
            <a:avLst/>
          </a:prstGeom>
          <a:solidFill>
            <a:schemeClr val="accent1">
              <a:lumMod val="40000"/>
              <a:lumOff val="60000"/>
            </a:schemeClr>
          </a:solidFill>
          <a:ln w="19050">
            <a:solidFill>
              <a:schemeClr val="bg1">
                <a:lumMod val="65000"/>
              </a:schemeClr>
            </a:solidFill>
          </a:ln>
        </p:spPr>
        <p:style>
          <a:lnRef idx="1">
            <a:schemeClr val="dk1"/>
          </a:lnRef>
          <a:fillRef idx="0">
            <a:schemeClr val="dk1"/>
          </a:fillRef>
          <a:effectRef idx="0">
            <a:schemeClr val="dk1"/>
          </a:effectRef>
          <a:fontRef idx="minor">
            <a:schemeClr val="tx1"/>
          </a:fontRef>
        </p:style>
      </p:cxnSp>
      <p:sp>
        <p:nvSpPr>
          <p:cNvPr id="60" name="Oval 59"/>
          <p:cNvSpPr/>
          <p:nvPr/>
        </p:nvSpPr>
        <p:spPr>
          <a:xfrm>
            <a:off x="3690276" y="5472943"/>
            <a:ext cx="239337" cy="278507"/>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1" name="Straight Connector 60"/>
          <p:cNvCxnSpPr>
            <a:stCxn id="43" idx="4"/>
            <a:endCxn id="60" idx="0"/>
          </p:cNvCxnSpPr>
          <p:nvPr/>
        </p:nvCxnSpPr>
        <p:spPr>
          <a:xfrm>
            <a:off x="3809944" y="4400000"/>
            <a:ext cx="0" cy="1072942"/>
          </a:xfrm>
          <a:prstGeom prst="line">
            <a:avLst/>
          </a:prstGeom>
          <a:solidFill>
            <a:schemeClr val="accent1">
              <a:lumMod val="40000"/>
              <a:lumOff val="60000"/>
            </a:schemeClr>
          </a:solidFill>
          <a:ln w="19050">
            <a:solidFill>
              <a:schemeClr val="bg1">
                <a:lumMod val="65000"/>
              </a:schemeClr>
            </a:solidFill>
          </a:ln>
        </p:spPr>
        <p:style>
          <a:lnRef idx="1">
            <a:schemeClr val="dk1"/>
          </a:lnRef>
          <a:fillRef idx="0">
            <a:schemeClr val="dk1"/>
          </a:fillRef>
          <a:effectRef idx="0">
            <a:schemeClr val="dk1"/>
          </a:effectRef>
          <a:fontRef idx="minor">
            <a:schemeClr val="tx1"/>
          </a:fontRef>
        </p:style>
      </p:cxnSp>
      <p:grpSp>
        <p:nvGrpSpPr>
          <p:cNvPr id="62" name="Group 61"/>
          <p:cNvGrpSpPr/>
          <p:nvPr/>
        </p:nvGrpSpPr>
        <p:grpSpPr>
          <a:xfrm>
            <a:off x="2749020" y="4024851"/>
            <a:ext cx="724809" cy="415031"/>
            <a:chOff x="2774042" y="2502210"/>
            <a:chExt cx="724809" cy="415031"/>
          </a:xfrm>
        </p:grpSpPr>
        <p:sp>
          <p:nvSpPr>
            <p:cNvPr id="63" name="Rectangle 62"/>
            <p:cNvSpPr/>
            <p:nvPr/>
          </p:nvSpPr>
          <p:spPr>
            <a:xfrm>
              <a:off x="2774042" y="2502210"/>
              <a:ext cx="397924" cy="415031"/>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Pentagon 63"/>
            <p:cNvSpPr/>
            <p:nvPr/>
          </p:nvSpPr>
          <p:spPr>
            <a:xfrm>
              <a:off x="2808515" y="2528606"/>
              <a:ext cx="690336" cy="377478"/>
            </a:xfrm>
            <a:prstGeom prst="homePlate">
              <a:avLst/>
            </a:prstGeom>
            <a:solidFill>
              <a:schemeClr val="bg1">
                <a:lumMod val="75000"/>
              </a:schemeClr>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Rectangle 64"/>
            <p:cNvSpPr/>
            <p:nvPr/>
          </p:nvSpPr>
          <p:spPr>
            <a:xfrm>
              <a:off x="3062312" y="2609623"/>
              <a:ext cx="182742" cy="215444"/>
            </a:xfrm>
            <a:prstGeom prst="rect">
              <a:avLst/>
            </a:prstGeom>
            <a:noFill/>
          </p:spPr>
          <p:txBody>
            <a:bodyPr wrap="none" lIns="0" tIns="0" rIns="0" bIns="0">
              <a:spAutoFit/>
            </a:bodyPr>
            <a:lstStyle/>
            <a:p>
              <a:pPr>
                <a:spcBef>
                  <a:spcPts val="300"/>
                </a:spcBef>
                <a:spcAft>
                  <a:spcPts val="300"/>
                </a:spcAft>
              </a:pPr>
              <a:r>
                <a:rPr lang="en-US" sz="1400" b="1" dirty="0"/>
                <a:t>03</a:t>
              </a:r>
            </a:p>
          </p:txBody>
        </p:sp>
      </p:grpSp>
      <p:grpSp>
        <p:nvGrpSpPr>
          <p:cNvPr id="66" name="Group 65"/>
          <p:cNvGrpSpPr/>
          <p:nvPr/>
        </p:nvGrpSpPr>
        <p:grpSpPr>
          <a:xfrm>
            <a:off x="2749020" y="5318035"/>
            <a:ext cx="724809" cy="415031"/>
            <a:chOff x="2774042" y="3356163"/>
            <a:chExt cx="724809" cy="415031"/>
          </a:xfrm>
        </p:grpSpPr>
        <p:sp>
          <p:nvSpPr>
            <p:cNvPr id="67" name="Rectangle 66"/>
            <p:cNvSpPr/>
            <p:nvPr/>
          </p:nvSpPr>
          <p:spPr>
            <a:xfrm>
              <a:off x="2774042" y="3356163"/>
              <a:ext cx="397924" cy="415031"/>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 name="Pentagon 67"/>
            <p:cNvSpPr/>
            <p:nvPr/>
          </p:nvSpPr>
          <p:spPr>
            <a:xfrm>
              <a:off x="2808515" y="3374939"/>
              <a:ext cx="690336" cy="377478"/>
            </a:xfrm>
            <a:prstGeom prst="homePlate">
              <a:avLst/>
            </a:prstGeom>
            <a:solidFill>
              <a:schemeClr val="bg1">
                <a:lumMod val="75000"/>
              </a:schemeClr>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 name="Rectangle 68"/>
            <p:cNvSpPr/>
            <p:nvPr/>
          </p:nvSpPr>
          <p:spPr>
            <a:xfrm>
              <a:off x="3062312" y="3455956"/>
              <a:ext cx="182742" cy="215444"/>
            </a:xfrm>
            <a:prstGeom prst="rect">
              <a:avLst/>
            </a:prstGeom>
            <a:noFill/>
          </p:spPr>
          <p:txBody>
            <a:bodyPr wrap="none" lIns="0" tIns="0" rIns="0" bIns="0">
              <a:spAutoFit/>
            </a:bodyPr>
            <a:lstStyle/>
            <a:p>
              <a:pPr>
                <a:spcBef>
                  <a:spcPts val="300"/>
                </a:spcBef>
                <a:spcAft>
                  <a:spcPts val="300"/>
                </a:spcAft>
              </a:pPr>
              <a:r>
                <a:rPr lang="en-US" sz="1400" b="1" dirty="0"/>
                <a:t>04</a:t>
              </a:r>
            </a:p>
          </p:txBody>
        </p:sp>
      </p:grpSp>
      <p:sp>
        <p:nvSpPr>
          <p:cNvPr id="73" name="TextBox 72"/>
          <p:cNvSpPr txBox="1"/>
          <p:nvPr/>
        </p:nvSpPr>
        <p:spPr>
          <a:xfrm>
            <a:off x="4140574" y="2727274"/>
            <a:ext cx="7771016" cy="715581"/>
          </a:xfrm>
          <a:prstGeom prst="rect">
            <a:avLst/>
          </a:prstGeom>
          <a:noFill/>
        </p:spPr>
        <p:txBody>
          <a:bodyPr wrap="square" rtlCol="0">
            <a:spAutoFit/>
          </a:bodyPr>
          <a:lstStyle/>
          <a:p>
            <a:pPr algn="just"/>
            <a:r>
              <a:rPr lang="en-US" sz="1350" i="1" dirty="0"/>
              <a:t>With the increasing need for agricultural applications, a noticeable and continuous trend is emerging in the dynamic landscape of the magnesium sulfate market. Farmers around the world are increasingly using magnesium sulfate to boost soil fertility, resulting in higher crop yields and overall agricultural output. .</a:t>
            </a:r>
          </a:p>
        </p:txBody>
      </p:sp>
      <p:sp>
        <p:nvSpPr>
          <p:cNvPr id="74" name="TextBox 73"/>
          <p:cNvSpPr txBox="1"/>
          <p:nvPr/>
        </p:nvSpPr>
        <p:spPr>
          <a:xfrm>
            <a:off x="4140574" y="4032118"/>
            <a:ext cx="7771016" cy="715581"/>
          </a:xfrm>
          <a:prstGeom prst="rect">
            <a:avLst/>
          </a:prstGeom>
          <a:noFill/>
        </p:spPr>
        <p:txBody>
          <a:bodyPr wrap="square" rtlCol="0">
            <a:spAutoFit/>
          </a:bodyPr>
          <a:lstStyle/>
          <a:p>
            <a:pPr algn="just"/>
            <a:r>
              <a:rPr lang="en-US" sz="1350" i="1" dirty="0"/>
              <a:t>With the increasing need for agricultural applications, a noticeable and continuous trend is emerging in the dynamic landscape of the magnesium sulfate market. Farmers around the world are increasingly using magnesium sulfate to boost soil fertility, resulting in higher crop yields and overall agricultural output. .</a:t>
            </a:r>
          </a:p>
        </p:txBody>
      </p:sp>
      <p:sp>
        <p:nvSpPr>
          <p:cNvPr id="75" name="TextBox 74"/>
          <p:cNvSpPr txBox="1"/>
          <p:nvPr/>
        </p:nvSpPr>
        <p:spPr>
          <a:xfrm>
            <a:off x="4140574" y="5286209"/>
            <a:ext cx="7771016" cy="715581"/>
          </a:xfrm>
          <a:prstGeom prst="rect">
            <a:avLst/>
          </a:prstGeom>
          <a:noFill/>
        </p:spPr>
        <p:txBody>
          <a:bodyPr wrap="square" rtlCol="0">
            <a:spAutoFit/>
          </a:bodyPr>
          <a:lstStyle/>
          <a:p>
            <a:pPr algn="just"/>
            <a:r>
              <a:rPr lang="en-US" sz="1350" i="1" dirty="0"/>
              <a:t>With the increasing need for agricultural applications, a noticeable and continuous trend is emerging in the dynamic landscape of the magnesium sulfate market. Farmers around the world are increasingly using magnesium sulfate to boost soil fertility, resulting in higher crop yields and overall agricultural output. .</a:t>
            </a:r>
          </a:p>
        </p:txBody>
      </p:sp>
      <p:sp>
        <p:nvSpPr>
          <p:cNvPr id="76" name="TextBox 75"/>
          <p:cNvSpPr txBox="1"/>
          <p:nvPr/>
        </p:nvSpPr>
        <p:spPr>
          <a:xfrm>
            <a:off x="4140574" y="1376336"/>
            <a:ext cx="7771016" cy="715581"/>
          </a:xfrm>
          <a:prstGeom prst="rect">
            <a:avLst/>
          </a:prstGeom>
          <a:noFill/>
        </p:spPr>
        <p:txBody>
          <a:bodyPr wrap="square" rtlCol="0">
            <a:spAutoFit/>
          </a:bodyPr>
          <a:lstStyle/>
          <a:p>
            <a:pPr algn="just"/>
            <a:r>
              <a:rPr lang="en-US" sz="1350" i="1" dirty="0"/>
              <a:t>With the increasing need for agricultural applications, a noticeable and continuous trend is emerging in the dynamic landscape of the magnesium sulfate market. Farmers around the world are increasingly using magnesium sulfate to boost soil fertility, resulting in higher crop yields and overall agricultural output. .</a:t>
            </a:r>
          </a:p>
        </p:txBody>
      </p:sp>
      <p:sp>
        <p:nvSpPr>
          <p:cNvPr id="70" name="Title 1"/>
          <p:cNvSpPr>
            <a:spLocks noGrp="1"/>
          </p:cNvSpPr>
          <p:nvPr>
            <p:ph type="title"/>
          </p:nvPr>
        </p:nvSpPr>
        <p:spPr/>
        <p:txBody>
          <a:bodyPr/>
          <a:lstStyle/>
          <a:p>
            <a:r>
              <a:rPr lang="en-US" dirty="0"/>
              <a:t>Executive Summary: Demand-Side Trends (3/4)</a:t>
            </a:r>
            <a:endParaRPr lang="en-IN" sz="1000" b="0" i="1" dirty="0"/>
          </a:p>
        </p:txBody>
      </p:sp>
      <p:sp>
        <p:nvSpPr>
          <p:cNvPr id="71" name="TextBox 70"/>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6</a:t>
            </a:fld>
            <a:endParaRPr lang="en-GB" dirty="0"/>
          </a:p>
        </p:txBody>
      </p:sp>
    </p:spTree>
    <p:extLst>
      <p:ext uri="{BB962C8B-B14F-4D97-AF65-F5344CB8AC3E}">
        <p14:creationId xmlns:p14="http://schemas.microsoft.com/office/powerpoint/2010/main" val="357758921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5" name="Straight Connector 34"/>
          <p:cNvCxnSpPr/>
          <p:nvPr/>
        </p:nvCxnSpPr>
        <p:spPr>
          <a:xfrm>
            <a:off x="2802382" y="2404492"/>
            <a:ext cx="9144000" cy="0"/>
          </a:xfrm>
          <a:prstGeom prst="line">
            <a:avLst/>
          </a:prstGeom>
          <a:ln w="19050">
            <a:solidFill>
              <a:schemeClr val="accent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2745370" y="5368388"/>
            <a:ext cx="9286434" cy="933589"/>
          </a:xfrm>
          <a:prstGeom prst="rect">
            <a:avLst/>
          </a:prstGeom>
          <a:noFill/>
        </p:spPr>
        <p:txBody>
          <a:bodyPr wrap="square" rtlCol="0">
            <a:spAutoFit/>
          </a:bodyPr>
          <a:lstStyle/>
          <a:p>
            <a:pPr marL="224600" indent="-224600" algn="just">
              <a:spcBef>
                <a:spcPts val="197"/>
              </a:spcBef>
              <a:spcAft>
                <a:spcPts val="197"/>
              </a:spcAft>
              <a:buFont typeface="Wingdings" panose="05000000000000000000" pitchFamily="2" charset="2"/>
              <a:buChar char="q"/>
              <a:defRPr/>
            </a:pPr>
            <a:r>
              <a:rPr lang="en-US" sz="1200" kern="0" dirty="0"/>
              <a:t>Focusing on rapidly growing applications like for rapid development and long-term presence in the market.</a:t>
            </a:r>
          </a:p>
          <a:p>
            <a:pPr marL="224600" indent="-224600" algn="just">
              <a:spcBef>
                <a:spcPts val="197"/>
              </a:spcBef>
              <a:spcAft>
                <a:spcPts val="197"/>
              </a:spcAft>
              <a:buFont typeface="Wingdings" panose="05000000000000000000" pitchFamily="2" charset="2"/>
              <a:buChar char="q"/>
              <a:defRPr/>
            </a:pPr>
            <a:r>
              <a:rPr lang="en-US" sz="1200" kern="0" dirty="0"/>
              <a:t>Well-structured and efficient supply chain network, expansion in production capacity, acquisitions, partnerships, and collaborations are major growth strategies to increase the market footprint.</a:t>
            </a:r>
          </a:p>
          <a:p>
            <a:pPr marL="224600" indent="-224600" algn="just">
              <a:spcBef>
                <a:spcPts val="197"/>
              </a:spcBef>
              <a:spcAft>
                <a:spcPts val="197"/>
              </a:spcAft>
              <a:buFont typeface="Wingdings" panose="05000000000000000000" pitchFamily="2" charset="2"/>
              <a:buChar char="q"/>
              <a:defRPr/>
            </a:pPr>
            <a:r>
              <a:rPr lang="en-US" sz="1200" kern="0" dirty="0"/>
              <a:t>Making long-term agreements with the distributors and traders to maintain and increase revenue.</a:t>
            </a:r>
          </a:p>
        </p:txBody>
      </p:sp>
      <p:sp>
        <p:nvSpPr>
          <p:cNvPr id="38" name="TextBox 37"/>
          <p:cNvSpPr txBox="1"/>
          <p:nvPr/>
        </p:nvSpPr>
        <p:spPr>
          <a:xfrm>
            <a:off x="2772056" y="1170910"/>
            <a:ext cx="9259748" cy="1066959"/>
          </a:xfrm>
          <a:prstGeom prst="rect">
            <a:avLst/>
          </a:prstGeom>
          <a:noFill/>
        </p:spPr>
        <p:txBody>
          <a:bodyPr wrap="square" rtlCol="0">
            <a:spAutoFit/>
          </a:bodyPr>
          <a:lstStyle/>
          <a:p>
            <a:pPr marL="228600" indent="-228600" algn="just">
              <a:spcBef>
                <a:spcPts val="200"/>
              </a:spcBef>
              <a:spcAft>
                <a:spcPts val="200"/>
              </a:spcAft>
              <a:buFont typeface="Wingdings" panose="05000000000000000000" pitchFamily="2" charset="2"/>
              <a:buChar char="q"/>
              <a:defRPr/>
            </a:pPr>
            <a:r>
              <a:rPr lang="en-US" sz="1200" dirty="0"/>
              <a:t>The primary element driving the sales of WXYZ throughout the forecast period is an increase in demand for WXYZ due to significant growth in Category-C industries. The companies are building long-term capabilities and increasing investments in R&amp;D. Continuous R&amp;D efforts are going to develop innovative, high performance, and cost-effective products and solutions.</a:t>
            </a:r>
          </a:p>
          <a:p>
            <a:pPr marL="228600" indent="-228600" algn="just">
              <a:spcBef>
                <a:spcPts val="200"/>
              </a:spcBef>
              <a:spcAft>
                <a:spcPts val="200"/>
              </a:spcAft>
              <a:buFont typeface="Wingdings" panose="05000000000000000000" pitchFamily="2" charset="2"/>
              <a:buChar char="q"/>
              <a:defRPr/>
            </a:pPr>
            <a:r>
              <a:rPr lang="en-US" sz="1200" dirty="0"/>
              <a:t>Key manufacturers are also investing a significant amount to increase their production capacity to enhance their market presence and annual turnover. </a:t>
            </a:r>
          </a:p>
        </p:txBody>
      </p:sp>
      <p:pic>
        <p:nvPicPr>
          <p:cNvPr id="40" name="Picture 39"/>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880408" y="2500788"/>
            <a:ext cx="7204676" cy="2712197"/>
          </a:xfrm>
          <a:prstGeom prst="rect">
            <a:avLst/>
          </a:prstGeom>
        </p:spPr>
      </p:pic>
      <p:sp>
        <p:nvSpPr>
          <p:cNvPr id="41" name="Title 1"/>
          <p:cNvSpPr>
            <a:spLocks noGrp="1"/>
          </p:cNvSpPr>
          <p:nvPr>
            <p:ph type="title"/>
          </p:nvPr>
        </p:nvSpPr>
        <p:spPr>
          <a:xfrm>
            <a:off x="152399" y="152400"/>
            <a:ext cx="10515600" cy="731520"/>
          </a:xfrm>
        </p:spPr>
        <p:txBody>
          <a:bodyPr/>
          <a:lstStyle/>
          <a:p>
            <a:r>
              <a:rPr lang="en-US" dirty="0"/>
              <a:t>Executive Summary: Analysis and Recommendation (4/4)</a:t>
            </a:r>
            <a:endParaRPr lang="en-IN" sz="1000" b="0" i="1" dirty="0"/>
          </a:p>
        </p:txBody>
      </p:sp>
      <p:cxnSp>
        <p:nvCxnSpPr>
          <p:cNvPr id="42" name="Straight Connector 41"/>
          <p:cNvCxnSpPr/>
          <p:nvPr/>
        </p:nvCxnSpPr>
        <p:spPr>
          <a:xfrm>
            <a:off x="2802382" y="5243822"/>
            <a:ext cx="9144000" cy="0"/>
          </a:xfrm>
          <a:prstGeom prst="line">
            <a:avLst/>
          </a:prstGeom>
          <a:ln w="19050">
            <a:solidFill>
              <a:schemeClr val="accent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2802382" y="3791427"/>
            <a:ext cx="9144000" cy="0"/>
          </a:xfrm>
          <a:prstGeom prst="line">
            <a:avLst/>
          </a:prstGeom>
          <a:ln w="19050">
            <a:solidFill>
              <a:schemeClr val="accent1">
                <a:lumMod val="50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45" name="Group 44"/>
          <p:cNvGrpSpPr/>
          <p:nvPr/>
        </p:nvGrpSpPr>
        <p:grpSpPr>
          <a:xfrm>
            <a:off x="0" y="2587179"/>
            <a:ext cx="2712415" cy="2723628"/>
            <a:chOff x="328239" y="2438504"/>
            <a:chExt cx="2642617" cy="2642340"/>
          </a:xfrm>
        </p:grpSpPr>
        <p:grpSp>
          <p:nvGrpSpPr>
            <p:cNvPr id="46" name="Group 45"/>
            <p:cNvGrpSpPr>
              <a:grpSpLocks/>
            </p:cNvGrpSpPr>
            <p:nvPr/>
          </p:nvGrpSpPr>
          <p:grpSpPr bwMode="auto">
            <a:xfrm>
              <a:off x="328239" y="2438504"/>
              <a:ext cx="2642617" cy="2642340"/>
              <a:chOff x="2244" y="1767"/>
              <a:chExt cx="2029" cy="2029"/>
            </a:xfrm>
            <a:solidFill>
              <a:srgbClr val="C7FAA8">
                <a:lumMod val="20000"/>
                <a:lumOff val="80000"/>
              </a:srgbClr>
            </a:solidFill>
          </p:grpSpPr>
          <p:sp>
            <p:nvSpPr>
              <p:cNvPr id="48" name="Freeform 47"/>
              <p:cNvSpPr>
                <a:spLocks/>
              </p:cNvSpPr>
              <p:nvPr/>
            </p:nvSpPr>
            <p:spPr bwMode="blackWhite">
              <a:xfrm>
                <a:off x="2366" y="1767"/>
                <a:ext cx="1057" cy="900"/>
              </a:xfrm>
              <a:custGeom>
                <a:avLst/>
                <a:gdLst/>
                <a:ahLst/>
                <a:cxnLst>
                  <a:cxn ang="0">
                    <a:pos x="455" y="879"/>
                  </a:cxn>
                  <a:cxn ang="0">
                    <a:pos x="471" y="838"/>
                  </a:cxn>
                  <a:cxn ang="0">
                    <a:pos x="490" y="799"/>
                  </a:cxn>
                  <a:cxn ang="0">
                    <a:pos x="514" y="762"/>
                  </a:cxn>
                  <a:cxn ang="0">
                    <a:pos x="541" y="728"/>
                  </a:cxn>
                  <a:cxn ang="0">
                    <a:pos x="570" y="696"/>
                  </a:cxn>
                  <a:cxn ang="0">
                    <a:pos x="603" y="667"/>
                  </a:cxn>
                  <a:cxn ang="0">
                    <a:pos x="639" y="642"/>
                  </a:cxn>
                  <a:cxn ang="0">
                    <a:pos x="676" y="621"/>
                  </a:cxn>
                  <a:cxn ang="0">
                    <a:pos x="713" y="605"/>
                  </a:cxn>
                  <a:cxn ang="0">
                    <a:pos x="753" y="591"/>
                  </a:cxn>
                  <a:cxn ang="0">
                    <a:pos x="793" y="581"/>
                  </a:cxn>
                  <a:cxn ang="0">
                    <a:pos x="834" y="575"/>
                  </a:cxn>
                  <a:cxn ang="0">
                    <a:pos x="833" y="711"/>
                  </a:cxn>
                  <a:cxn ang="0">
                    <a:pos x="1056" y="374"/>
                  </a:cxn>
                  <a:cxn ang="0">
                    <a:pos x="818" y="0"/>
                  </a:cxn>
                  <a:cxn ang="0">
                    <a:pos x="819" y="137"/>
                  </a:cxn>
                  <a:cxn ang="0">
                    <a:pos x="757" y="143"/>
                  </a:cxn>
                  <a:cxn ang="0">
                    <a:pos x="694" y="154"/>
                  </a:cxn>
                  <a:cxn ang="0">
                    <a:pos x="634" y="168"/>
                  </a:cxn>
                  <a:cxn ang="0">
                    <a:pos x="574" y="188"/>
                  </a:cxn>
                  <a:cxn ang="0">
                    <a:pos x="516" y="211"/>
                  </a:cxn>
                  <a:cxn ang="0">
                    <a:pos x="460" y="238"/>
                  </a:cxn>
                  <a:cxn ang="0">
                    <a:pos x="405" y="270"/>
                  </a:cxn>
                  <a:cxn ang="0">
                    <a:pos x="352" y="306"/>
                  </a:cxn>
                  <a:cxn ang="0">
                    <a:pos x="302" y="346"/>
                  </a:cxn>
                  <a:cxn ang="0">
                    <a:pos x="255" y="390"/>
                  </a:cxn>
                  <a:cxn ang="0">
                    <a:pos x="211" y="437"/>
                  </a:cxn>
                  <a:cxn ang="0">
                    <a:pos x="170" y="486"/>
                  </a:cxn>
                  <a:cxn ang="0">
                    <a:pos x="134" y="539"/>
                  </a:cxn>
                  <a:cxn ang="0">
                    <a:pos x="101" y="595"/>
                  </a:cxn>
                  <a:cxn ang="0">
                    <a:pos x="72" y="653"/>
                  </a:cxn>
                  <a:cxn ang="0">
                    <a:pos x="47" y="711"/>
                  </a:cxn>
                  <a:cxn ang="0">
                    <a:pos x="27" y="773"/>
                  </a:cxn>
                  <a:cxn ang="0">
                    <a:pos x="11" y="835"/>
                  </a:cxn>
                  <a:cxn ang="0">
                    <a:pos x="0" y="899"/>
                  </a:cxn>
                  <a:cxn ang="0">
                    <a:pos x="238" y="741"/>
                  </a:cxn>
                  <a:cxn ang="0">
                    <a:pos x="455" y="879"/>
                  </a:cxn>
                </a:cxnLst>
                <a:rect l="0" t="0" r="r" b="b"/>
                <a:pathLst>
                  <a:path w="1057" h="900">
                    <a:moveTo>
                      <a:pt x="455" y="879"/>
                    </a:moveTo>
                    <a:lnTo>
                      <a:pt x="471" y="838"/>
                    </a:lnTo>
                    <a:lnTo>
                      <a:pt x="490" y="799"/>
                    </a:lnTo>
                    <a:lnTo>
                      <a:pt x="514" y="762"/>
                    </a:lnTo>
                    <a:lnTo>
                      <a:pt x="541" y="728"/>
                    </a:lnTo>
                    <a:lnTo>
                      <a:pt x="570" y="696"/>
                    </a:lnTo>
                    <a:lnTo>
                      <a:pt x="603" y="667"/>
                    </a:lnTo>
                    <a:lnTo>
                      <a:pt x="639" y="642"/>
                    </a:lnTo>
                    <a:lnTo>
                      <a:pt x="676" y="621"/>
                    </a:lnTo>
                    <a:lnTo>
                      <a:pt x="713" y="605"/>
                    </a:lnTo>
                    <a:lnTo>
                      <a:pt x="753" y="591"/>
                    </a:lnTo>
                    <a:lnTo>
                      <a:pt x="793" y="581"/>
                    </a:lnTo>
                    <a:lnTo>
                      <a:pt x="834" y="575"/>
                    </a:lnTo>
                    <a:lnTo>
                      <a:pt x="833" y="711"/>
                    </a:lnTo>
                    <a:lnTo>
                      <a:pt x="1056" y="374"/>
                    </a:lnTo>
                    <a:lnTo>
                      <a:pt x="818" y="0"/>
                    </a:lnTo>
                    <a:lnTo>
                      <a:pt x="819" y="137"/>
                    </a:lnTo>
                    <a:lnTo>
                      <a:pt x="757" y="143"/>
                    </a:lnTo>
                    <a:lnTo>
                      <a:pt x="694" y="154"/>
                    </a:lnTo>
                    <a:lnTo>
                      <a:pt x="634" y="168"/>
                    </a:lnTo>
                    <a:lnTo>
                      <a:pt x="574" y="188"/>
                    </a:lnTo>
                    <a:lnTo>
                      <a:pt x="516" y="211"/>
                    </a:lnTo>
                    <a:lnTo>
                      <a:pt x="460" y="238"/>
                    </a:lnTo>
                    <a:lnTo>
                      <a:pt x="405" y="270"/>
                    </a:lnTo>
                    <a:lnTo>
                      <a:pt x="352" y="306"/>
                    </a:lnTo>
                    <a:lnTo>
                      <a:pt x="302" y="346"/>
                    </a:lnTo>
                    <a:lnTo>
                      <a:pt x="255" y="390"/>
                    </a:lnTo>
                    <a:lnTo>
                      <a:pt x="211" y="437"/>
                    </a:lnTo>
                    <a:lnTo>
                      <a:pt x="170" y="486"/>
                    </a:lnTo>
                    <a:lnTo>
                      <a:pt x="134" y="539"/>
                    </a:lnTo>
                    <a:lnTo>
                      <a:pt x="101" y="595"/>
                    </a:lnTo>
                    <a:lnTo>
                      <a:pt x="72" y="653"/>
                    </a:lnTo>
                    <a:lnTo>
                      <a:pt x="47" y="711"/>
                    </a:lnTo>
                    <a:lnTo>
                      <a:pt x="27" y="773"/>
                    </a:lnTo>
                    <a:lnTo>
                      <a:pt x="11" y="835"/>
                    </a:lnTo>
                    <a:lnTo>
                      <a:pt x="0" y="899"/>
                    </a:lnTo>
                    <a:lnTo>
                      <a:pt x="238" y="741"/>
                    </a:lnTo>
                    <a:lnTo>
                      <a:pt x="455" y="879"/>
                    </a:lnTo>
                  </a:path>
                </a:pathLst>
              </a:custGeom>
              <a:solidFill>
                <a:schemeClr val="accent1"/>
              </a:solid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solidFill>
                    <a:prstClr val="black"/>
                  </a:solidFill>
                  <a:latin typeface="Calibri" panose="020F0502020204030204"/>
                </a:endParaRPr>
              </a:p>
            </p:txBody>
          </p:sp>
          <p:sp>
            <p:nvSpPr>
              <p:cNvPr id="49" name="Freeform 48"/>
              <p:cNvSpPr>
                <a:spLocks/>
              </p:cNvSpPr>
              <p:nvPr/>
            </p:nvSpPr>
            <p:spPr bwMode="blackWhite">
              <a:xfrm>
                <a:off x="3073" y="2892"/>
                <a:ext cx="1033" cy="904"/>
              </a:xfrm>
              <a:custGeom>
                <a:avLst/>
                <a:gdLst/>
                <a:ahLst/>
                <a:cxnLst>
                  <a:cxn ang="0">
                    <a:pos x="585" y="1"/>
                  </a:cxn>
                  <a:cxn ang="0">
                    <a:pos x="573" y="41"/>
                  </a:cxn>
                  <a:cxn ang="0">
                    <a:pos x="556" y="78"/>
                  </a:cxn>
                  <a:cxn ang="0">
                    <a:pos x="537" y="116"/>
                  </a:cxn>
                  <a:cxn ang="0">
                    <a:pos x="514" y="150"/>
                  </a:cxn>
                  <a:cxn ang="0">
                    <a:pos x="488" y="182"/>
                  </a:cxn>
                  <a:cxn ang="0">
                    <a:pos x="459" y="212"/>
                  </a:cxn>
                  <a:cxn ang="0">
                    <a:pos x="427" y="239"/>
                  </a:cxn>
                  <a:cxn ang="0">
                    <a:pos x="393" y="262"/>
                  </a:cxn>
                  <a:cxn ang="0">
                    <a:pos x="356" y="283"/>
                  </a:cxn>
                  <a:cxn ang="0">
                    <a:pos x="317" y="301"/>
                  </a:cxn>
                  <a:cxn ang="0">
                    <a:pos x="277" y="314"/>
                  </a:cxn>
                  <a:cxn ang="0">
                    <a:pos x="236" y="323"/>
                  </a:cxn>
                  <a:cxn ang="0">
                    <a:pos x="235" y="187"/>
                  </a:cxn>
                  <a:cxn ang="0">
                    <a:pos x="159" y="298"/>
                  </a:cxn>
                  <a:cxn ang="0">
                    <a:pos x="80" y="409"/>
                  </a:cxn>
                  <a:cxn ang="0">
                    <a:pos x="0" y="517"/>
                  </a:cxn>
                  <a:cxn ang="0">
                    <a:pos x="236" y="903"/>
                  </a:cxn>
                  <a:cxn ang="0">
                    <a:pos x="236" y="766"/>
                  </a:cxn>
                  <a:cxn ang="0">
                    <a:pos x="295" y="759"/>
                  </a:cxn>
                  <a:cxn ang="0">
                    <a:pos x="353" y="747"/>
                  </a:cxn>
                  <a:cxn ang="0">
                    <a:pos x="411" y="733"/>
                  </a:cxn>
                  <a:cxn ang="0">
                    <a:pos x="467" y="713"/>
                  </a:cxn>
                  <a:cxn ang="0">
                    <a:pos x="522" y="691"/>
                  </a:cxn>
                  <a:cxn ang="0">
                    <a:pos x="575" y="665"/>
                  </a:cxn>
                  <a:cxn ang="0">
                    <a:pos x="626" y="635"/>
                  </a:cxn>
                  <a:cxn ang="0">
                    <a:pos x="676" y="601"/>
                  </a:cxn>
                  <a:cxn ang="0">
                    <a:pos x="724" y="564"/>
                  </a:cxn>
                  <a:cxn ang="0">
                    <a:pos x="768" y="525"/>
                  </a:cxn>
                  <a:cxn ang="0">
                    <a:pos x="811" y="481"/>
                  </a:cxn>
                  <a:cxn ang="0">
                    <a:pos x="849" y="435"/>
                  </a:cxn>
                  <a:cxn ang="0">
                    <a:pos x="884" y="387"/>
                  </a:cxn>
                  <a:cxn ang="0">
                    <a:pos x="916" y="337"/>
                  </a:cxn>
                  <a:cxn ang="0">
                    <a:pos x="945" y="284"/>
                  </a:cxn>
                  <a:cxn ang="0">
                    <a:pos x="970" y="231"/>
                  </a:cxn>
                  <a:cxn ang="0">
                    <a:pos x="991" y="174"/>
                  </a:cxn>
                  <a:cxn ang="0">
                    <a:pos x="1009" y="117"/>
                  </a:cxn>
                  <a:cxn ang="0">
                    <a:pos x="1023" y="58"/>
                  </a:cxn>
                  <a:cxn ang="0">
                    <a:pos x="1032" y="0"/>
                  </a:cxn>
                  <a:cxn ang="0">
                    <a:pos x="812" y="132"/>
                  </a:cxn>
                  <a:cxn ang="0">
                    <a:pos x="585" y="1"/>
                  </a:cxn>
                </a:cxnLst>
                <a:rect l="0" t="0" r="r" b="b"/>
                <a:pathLst>
                  <a:path w="1033" h="904">
                    <a:moveTo>
                      <a:pt x="585" y="1"/>
                    </a:moveTo>
                    <a:lnTo>
                      <a:pt x="573" y="41"/>
                    </a:lnTo>
                    <a:lnTo>
                      <a:pt x="556" y="78"/>
                    </a:lnTo>
                    <a:lnTo>
                      <a:pt x="537" y="116"/>
                    </a:lnTo>
                    <a:lnTo>
                      <a:pt x="514" y="150"/>
                    </a:lnTo>
                    <a:lnTo>
                      <a:pt x="488" y="182"/>
                    </a:lnTo>
                    <a:lnTo>
                      <a:pt x="459" y="212"/>
                    </a:lnTo>
                    <a:lnTo>
                      <a:pt x="427" y="239"/>
                    </a:lnTo>
                    <a:lnTo>
                      <a:pt x="393" y="262"/>
                    </a:lnTo>
                    <a:lnTo>
                      <a:pt x="356" y="283"/>
                    </a:lnTo>
                    <a:lnTo>
                      <a:pt x="317" y="301"/>
                    </a:lnTo>
                    <a:lnTo>
                      <a:pt x="277" y="314"/>
                    </a:lnTo>
                    <a:lnTo>
                      <a:pt x="236" y="323"/>
                    </a:lnTo>
                    <a:lnTo>
                      <a:pt x="235" y="187"/>
                    </a:lnTo>
                    <a:lnTo>
                      <a:pt x="159" y="298"/>
                    </a:lnTo>
                    <a:lnTo>
                      <a:pt x="80" y="409"/>
                    </a:lnTo>
                    <a:lnTo>
                      <a:pt x="0" y="517"/>
                    </a:lnTo>
                    <a:lnTo>
                      <a:pt x="236" y="903"/>
                    </a:lnTo>
                    <a:lnTo>
                      <a:pt x="236" y="766"/>
                    </a:lnTo>
                    <a:lnTo>
                      <a:pt x="295" y="759"/>
                    </a:lnTo>
                    <a:lnTo>
                      <a:pt x="353" y="747"/>
                    </a:lnTo>
                    <a:lnTo>
                      <a:pt x="411" y="733"/>
                    </a:lnTo>
                    <a:lnTo>
                      <a:pt x="467" y="713"/>
                    </a:lnTo>
                    <a:lnTo>
                      <a:pt x="522" y="691"/>
                    </a:lnTo>
                    <a:lnTo>
                      <a:pt x="575" y="665"/>
                    </a:lnTo>
                    <a:lnTo>
                      <a:pt x="626" y="635"/>
                    </a:lnTo>
                    <a:lnTo>
                      <a:pt x="676" y="601"/>
                    </a:lnTo>
                    <a:lnTo>
                      <a:pt x="724" y="564"/>
                    </a:lnTo>
                    <a:lnTo>
                      <a:pt x="768" y="525"/>
                    </a:lnTo>
                    <a:lnTo>
                      <a:pt x="811" y="481"/>
                    </a:lnTo>
                    <a:lnTo>
                      <a:pt x="849" y="435"/>
                    </a:lnTo>
                    <a:lnTo>
                      <a:pt x="884" y="387"/>
                    </a:lnTo>
                    <a:lnTo>
                      <a:pt x="916" y="337"/>
                    </a:lnTo>
                    <a:lnTo>
                      <a:pt x="945" y="284"/>
                    </a:lnTo>
                    <a:lnTo>
                      <a:pt x="970" y="231"/>
                    </a:lnTo>
                    <a:lnTo>
                      <a:pt x="991" y="174"/>
                    </a:lnTo>
                    <a:lnTo>
                      <a:pt x="1009" y="117"/>
                    </a:lnTo>
                    <a:lnTo>
                      <a:pt x="1023" y="58"/>
                    </a:lnTo>
                    <a:lnTo>
                      <a:pt x="1032" y="0"/>
                    </a:lnTo>
                    <a:lnTo>
                      <a:pt x="812" y="132"/>
                    </a:lnTo>
                    <a:lnTo>
                      <a:pt x="585" y="1"/>
                    </a:lnTo>
                  </a:path>
                </a:pathLst>
              </a:custGeom>
              <a:solidFill>
                <a:schemeClr val="accent3"/>
              </a:solid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solidFill>
                    <a:prstClr val="black"/>
                  </a:solidFill>
                  <a:latin typeface="Calibri" panose="020F0502020204030204"/>
                </a:endParaRPr>
              </a:p>
            </p:txBody>
          </p:sp>
          <p:sp>
            <p:nvSpPr>
              <p:cNvPr id="50" name="Freeform 49"/>
              <p:cNvSpPr>
                <a:spLocks/>
              </p:cNvSpPr>
              <p:nvPr/>
            </p:nvSpPr>
            <p:spPr bwMode="blackWhite">
              <a:xfrm>
                <a:off x="2244" y="2563"/>
                <a:ext cx="930" cy="1075"/>
              </a:xfrm>
              <a:custGeom>
                <a:avLst/>
                <a:gdLst/>
                <a:ahLst/>
                <a:cxnLst>
                  <a:cxn ang="0">
                    <a:pos x="929" y="645"/>
                  </a:cxn>
                  <a:cxn ang="0">
                    <a:pos x="887" y="634"/>
                  </a:cxn>
                  <a:cxn ang="0">
                    <a:pos x="847" y="620"/>
                  </a:cxn>
                  <a:cxn ang="0">
                    <a:pos x="807" y="603"/>
                  </a:cxn>
                  <a:cxn ang="0">
                    <a:pos x="771" y="582"/>
                  </a:cxn>
                  <a:cxn ang="0">
                    <a:pos x="735" y="557"/>
                  </a:cxn>
                  <a:cxn ang="0">
                    <a:pos x="703" y="529"/>
                  </a:cxn>
                  <a:cxn ang="0">
                    <a:pos x="673" y="497"/>
                  </a:cxn>
                  <a:cxn ang="0">
                    <a:pos x="648" y="465"/>
                  </a:cxn>
                  <a:cxn ang="0">
                    <a:pos x="624" y="428"/>
                  </a:cxn>
                  <a:cxn ang="0">
                    <a:pos x="607" y="398"/>
                  </a:cxn>
                  <a:cxn ang="0">
                    <a:pos x="594" y="366"/>
                  </a:cxn>
                  <a:cxn ang="0">
                    <a:pos x="583" y="332"/>
                  </a:cxn>
                  <a:cxn ang="0">
                    <a:pos x="577" y="298"/>
                  </a:cxn>
                  <a:cxn ang="0">
                    <a:pos x="575" y="264"/>
                  </a:cxn>
                  <a:cxn ang="0">
                    <a:pos x="576" y="229"/>
                  </a:cxn>
                  <a:cxn ang="0">
                    <a:pos x="748" y="229"/>
                  </a:cxn>
                  <a:cxn ang="0">
                    <a:pos x="360" y="0"/>
                  </a:cxn>
                  <a:cxn ang="0">
                    <a:pos x="0" y="236"/>
                  </a:cxn>
                  <a:cxn ang="0">
                    <a:pos x="136" y="237"/>
                  </a:cxn>
                  <a:cxn ang="0">
                    <a:pos x="141" y="299"/>
                  </a:cxn>
                  <a:cxn ang="0">
                    <a:pos x="150" y="362"/>
                  </a:cxn>
                  <a:cxn ang="0">
                    <a:pos x="165" y="422"/>
                  </a:cxn>
                  <a:cxn ang="0">
                    <a:pos x="182" y="483"/>
                  </a:cxn>
                  <a:cxn ang="0">
                    <a:pos x="204" y="541"/>
                  </a:cxn>
                  <a:cxn ang="0">
                    <a:pos x="231" y="598"/>
                  </a:cxn>
                  <a:cxn ang="0">
                    <a:pos x="262" y="653"/>
                  </a:cxn>
                  <a:cxn ang="0">
                    <a:pos x="296" y="704"/>
                  </a:cxn>
                  <a:cxn ang="0">
                    <a:pos x="333" y="752"/>
                  </a:cxn>
                  <a:cxn ang="0">
                    <a:pos x="374" y="797"/>
                  </a:cxn>
                  <a:cxn ang="0">
                    <a:pos x="419" y="841"/>
                  </a:cxn>
                  <a:cxn ang="0">
                    <a:pos x="465" y="880"/>
                  </a:cxn>
                  <a:cxn ang="0">
                    <a:pos x="514" y="917"/>
                  </a:cxn>
                  <a:cxn ang="0">
                    <a:pos x="566" y="951"/>
                  </a:cxn>
                  <a:cxn ang="0">
                    <a:pos x="620" y="980"/>
                  </a:cxn>
                  <a:cxn ang="0">
                    <a:pos x="675" y="1007"/>
                  </a:cxn>
                  <a:cxn ang="0">
                    <a:pos x="732" y="1029"/>
                  </a:cxn>
                  <a:cxn ang="0">
                    <a:pos x="790" y="1048"/>
                  </a:cxn>
                  <a:cxn ang="0">
                    <a:pos x="849" y="1062"/>
                  </a:cxn>
                  <a:cxn ang="0">
                    <a:pos x="910" y="1074"/>
                  </a:cxn>
                  <a:cxn ang="0">
                    <a:pos x="772" y="845"/>
                  </a:cxn>
                  <a:cxn ang="0">
                    <a:pos x="929" y="645"/>
                  </a:cxn>
                </a:cxnLst>
                <a:rect l="0" t="0" r="r" b="b"/>
                <a:pathLst>
                  <a:path w="930" h="1075">
                    <a:moveTo>
                      <a:pt x="929" y="645"/>
                    </a:moveTo>
                    <a:lnTo>
                      <a:pt x="887" y="634"/>
                    </a:lnTo>
                    <a:lnTo>
                      <a:pt x="847" y="620"/>
                    </a:lnTo>
                    <a:lnTo>
                      <a:pt x="807" y="603"/>
                    </a:lnTo>
                    <a:lnTo>
                      <a:pt x="771" y="582"/>
                    </a:lnTo>
                    <a:lnTo>
                      <a:pt x="735" y="557"/>
                    </a:lnTo>
                    <a:lnTo>
                      <a:pt x="703" y="529"/>
                    </a:lnTo>
                    <a:lnTo>
                      <a:pt x="673" y="497"/>
                    </a:lnTo>
                    <a:lnTo>
                      <a:pt x="648" y="465"/>
                    </a:lnTo>
                    <a:lnTo>
                      <a:pt x="624" y="428"/>
                    </a:lnTo>
                    <a:lnTo>
                      <a:pt x="607" y="398"/>
                    </a:lnTo>
                    <a:lnTo>
                      <a:pt x="594" y="366"/>
                    </a:lnTo>
                    <a:lnTo>
                      <a:pt x="583" y="332"/>
                    </a:lnTo>
                    <a:lnTo>
                      <a:pt x="577" y="298"/>
                    </a:lnTo>
                    <a:lnTo>
                      <a:pt x="575" y="264"/>
                    </a:lnTo>
                    <a:lnTo>
                      <a:pt x="576" y="229"/>
                    </a:lnTo>
                    <a:lnTo>
                      <a:pt x="748" y="229"/>
                    </a:lnTo>
                    <a:lnTo>
                      <a:pt x="360" y="0"/>
                    </a:lnTo>
                    <a:lnTo>
                      <a:pt x="0" y="236"/>
                    </a:lnTo>
                    <a:lnTo>
                      <a:pt x="136" y="237"/>
                    </a:lnTo>
                    <a:lnTo>
                      <a:pt x="141" y="299"/>
                    </a:lnTo>
                    <a:lnTo>
                      <a:pt x="150" y="362"/>
                    </a:lnTo>
                    <a:lnTo>
                      <a:pt x="165" y="422"/>
                    </a:lnTo>
                    <a:lnTo>
                      <a:pt x="182" y="483"/>
                    </a:lnTo>
                    <a:lnTo>
                      <a:pt x="204" y="541"/>
                    </a:lnTo>
                    <a:lnTo>
                      <a:pt x="231" y="598"/>
                    </a:lnTo>
                    <a:lnTo>
                      <a:pt x="262" y="653"/>
                    </a:lnTo>
                    <a:lnTo>
                      <a:pt x="296" y="704"/>
                    </a:lnTo>
                    <a:lnTo>
                      <a:pt x="333" y="752"/>
                    </a:lnTo>
                    <a:lnTo>
                      <a:pt x="374" y="797"/>
                    </a:lnTo>
                    <a:lnTo>
                      <a:pt x="419" y="841"/>
                    </a:lnTo>
                    <a:lnTo>
                      <a:pt x="465" y="880"/>
                    </a:lnTo>
                    <a:lnTo>
                      <a:pt x="514" y="917"/>
                    </a:lnTo>
                    <a:lnTo>
                      <a:pt x="566" y="951"/>
                    </a:lnTo>
                    <a:lnTo>
                      <a:pt x="620" y="980"/>
                    </a:lnTo>
                    <a:lnTo>
                      <a:pt x="675" y="1007"/>
                    </a:lnTo>
                    <a:lnTo>
                      <a:pt x="732" y="1029"/>
                    </a:lnTo>
                    <a:lnTo>
                      <a:pt x="790" y="1048"/>
                    </a:lnTo>
                    <a:lnTo>
                      <a:pt x="849" y="1062"/>
                    </a:lnTo>
                    <a:lnTo>
                      <a:pt x="910" y="1074"/>
                    </a:lnTo>
                    <a:lnTo>
                      <a:pt x="772" y="845"/>
                    </a:lnTo>
                    <a:lnTo>
                      <a:pt x="929" y="645"/>
                    </a:lnTo>
                  </a:path>
                </a:pathLst>
              </a:custGeom>
              <a:solidFill>
                <a:schemeClr val="accent4"/>
              </a:solid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solidFill>
                    <a:prstClr val="black"/>
                  </a:solidFill>
                  <a:latin typeface="Calibri" panose="020F0502020204030204"/>
                </a:endParaRPr>
              </a:p>
            </p:txBody>
          </p:sp>
          <p:sp>
            <p:nvSpPr>
              <p:cNvPr id="51" name="Freeform 50"/>
              <p:cNvSpPr>
                <a:spLocks/>
              </p:cNvSpPr>
              <p:nvPr/>
            </p:nvSpPr>
            <p:spPr bwMode="blackWhite">
              <a:xfrm>
                <a:off x="3330" y="1909"/>
                <a:ext cx="943" cy="1065"/>
              </a:xfrm>
              <a:custGeom>
                <a:avLst/>
                <a:gdLst/>
                <a:ahLst/>
                <a:cxnLst>
                  <a:cxn ang="0">
                    <a:pos x="554" y="1064"/>
                  </a:cxn>
                  <a:cxn ang="0">
                    <a:pos x="942" y="840"/>
                  </a:cxn>
                  <a:cxn ang="0">
                    <a:pos x="781" y="840"/>
                  </a:cxn>
                  <a:cxn ang="0">
                    <a:pos x="776" y="778"/>
                  </a:cxn>
                  <a:cxn ang="0">
                    <a:pos x="767" y="716"/>
                  </a:cxn>
                  <a:cxn ang="0">
                    <a:pos x="754" y="655"/>
                  </a:cxn>
                  <a:cxn ang="0">
                    <a:pos x="737" y="595"/>
                  </a:cxn>
                  <a:cxn ang="0">
                    <a:pos x="714" y="536"/>
                  </a:cxn>
                  <a:cxn ang="0">
                    <a:pos x="688" y="480"/>
                  </a:cxn>
                  <a:cxn ang="0">
                    <a:pos x="658" y="425"/>
                  </a:cxn>
                  <a:cxn ang="0">
                    <a:pos x="624" y="372"/>
                  </a:cxn>
                  <a:cxn ang="0">
                    <a:pos x="586" y="323"/>
                  </a:cxn>
                  <a:cxn ang="0">
                    <a:pos x="547" y="275"/>
                  </a:cxn>
                  <a:cxn ang="0">
                    <a:pos x="502" y="232"/>
                  </a:cxn>
                  <a:cxn ang="0">
                    <a:pos x="455" y="191"/>
                  </a:cxn>
                  <a:cxn ang="0">
                    <a:pos x="405" y="153"/>
                  </a:cxn>
                  <a:cxn ang="0">
                    <a:pos x="352" y="120"/>
                  </a:cxn>
                  <a:cxn ang="0">
                    <a:pos x="298" y="89"/>
                  </a:cxn>
                  <a:cxn ang="0">
                    <a:pos x="241" y="63"/>
                  </a:cxn>
                  <a:cxn ang="0">
                    <a:pos x="182" y="41"/>
                  </a:cxn>
                  <a:cxn ang="0">
                    <a:pos x="122" y="23"/>
                  </a:cxn>
                  <a:cxn ang="0">
                    <a:pos x="61" y="9"/>
                  </a:cxn>
                  <a:cxn ang="0">
                    <a:pos x="0" y="0"/>
                  </a:cxn>
                  <a:cxn ang="0">
                    <a:pos x="137" y="226"/>
                  </a:cxn>
                  <a:cxn ang="0">
                    <a:pos x="5" y="451"/>
                  </a:cxn>
                  <a:cxn ang="0">
                    <a:pos x="48" y="465"/>
                  </a:cxn>
                  <a:cxn ang="0">
                    <a:pos x="90" y="483"/>
                  </a:cxn>
                  <a:cxn ang="0">
                    <a:pos x="130" y="505"/>
                  </a:cxn>
                  <a:cxn ang="0">
                    <a:pos x="168" y="531"/>
                  </a:cxn>
                  <a:cxn ang="0">
                    <a:pos x="202" y="561"/>
                  </a:cxn>
                  <a:cxn ang="0">
                    <a:pos x="233" y="594"/>
                  </a:cxn>
                  <a:cxn ang="0">
                    <a:pos x="262" y="629"/>
                  </a:cxn>
                  <a:cxn ang="0">
                    <a:pos x="285" y="668"/>
                  </a:cxn>
                  <a:cxn ang="0">
                    <a:pos x="305" y="709"/>
                  </a:cxn>
                  <a:cxn ang="0">
                    <a:pos x="321" y="751"/>
                  </a:cxn>
                  <a:cxn ang="0">
                    <a:pos x="333" y="795"/>
                  </a:cxn>
                  <a:cxn ang="0">
                    <a:pos x="340" y="840"/>
                  </a:cxn>
                  <a:cxn ang="0">
                    <a:pos x="188" y="841"/>
                  </a:cxn>
                  <a:cxn ang="0">
                    <a:pos x="554" y="1064"/>
                  </a:cxn>
                </a:cxnLst>
                <a:rect l="0" t="0" r="r" b="b"/>
                <a:pathLst>
                  <a:path w="943" h="1065">
                    <a:moveTo>
                      <a:pt x="554" y="1064"/>
                    </a:moveTo>
                    <a:lnTo>
                      <a:pt x="942" y="840"/>
                    </a:lnTo>
                    <a:lnTo>
                      <a:pt x="781" y="840"/>
                    </a:lnTo>
                    <a:lnTo>
                      <a:pt x="776" y="778"/>
                    </a:lnTo>
                    <a:lnTo>
                      <a:pt x="767" y="716"/>
                    </a:lnTo>
                    <a:lnTo>
                      <a:pt x="754" y="655"/>
                    </a:lnTo>
                    <a:lnTo>
                      <a:pt x="737" y="595"/>
                    </a:lnTo>
                    <a:lnTo>
                      <a:pt x="714" y="536"/>
                    </a:lnTo>
                    <a:lnTo>
                      <a:pt x="688" y="480"/>
                    </a:lnTo>
                    <a:lnTo>
                      <a:pt x="658" y="425"/>
                    </a:lnTo>
                    <a:lnTo>
                      <a:pt x="624" y="372"/>
                    </a:lnTo>
                    <a:lnTo>
                      <a:pt x="586" y="323"/>
                    </a:lnTo>
                    <a:lnTo>
                      <a:pt x="547" y="275"/>
                    </a:lnTo>
                    <a:lnTo>
                      <a:pt x="502" y="232"/>
                    </a:lnTo>
                    <a:lnTo>
                      <a:pt x="455" y="191"/>
                    </a:lnTo>
                    <a:lnTo>
                      <a:pt x="405" y="153"/>
                    </a:lnTo>
                    <a:lnTo>
                      <a:pt x="352" y="120"/>
                    </a:lnTo>
                    <a:lnTo>
                      <a:pt x="298" y="89"/>
                    </a:lnTo>
                    <a:lnTo>
                      <a:pt x="241" y="63"/>
                    </a:lnTo>
                    <a:lnTo>
                      <a:pt x="182" y="41"/>
                    </a:lnTo>
                    <a:lnTo>
                      <a:pt x="122" y="23"/>
                    </a:lnTo>
                    <a:lnTo>
                      <a:pt x="61" y="9"/>
                    </a:lnTo>
                    <a:lnTo>
                      <a:pt x="0" y="0"/>
                    </a:lnTo>
                    <a:lnTo>
                      <a:pt x="137" y="226"/>
                    </a:lnTo>
                    <a:lnTo>
                      <a:pt x="5" y="451"/>
                    </a:lnTo>
                    <a:lnTo>
                      <a:pt x="48" y="465"/>
                    </a:lnTo>
                    <a:lnTo>
                      <a:pt x="90" y="483"/>
                    </a:lnTo>
                    <a:lnTo>
                      <a:pt x="130" y="505"/>
                    </a:lnTo>
                    <a:lnTo>
                      <a:pt x="168" y="531"/>
                    </a:lnTo>
                    <a:lnTo>
                      <a:pt x="202" y="561"/>
                    </a:lnTo>
                    <a:lnTo>
                      <a:pt x="233" y="594"/>
                    </a:lnTo>
                    <a:lnTo>
                      <a:pt x="262" y="629"/>
                    </a:lnTo>
                    <a:lnTo>
                      <a:pt x="285" y="668"/>
                    </a:lnTo>
                    <a:lnTo>
                      <a:pt x="305" y="709"/>
                    </a:lnTo>
                    <a:lnTo>
                      <a:pt x="321" y="751"/>
                    </a:lnTo>
                    <a:lnTo>
                      <a:pt x="333" y="795"/>
                    </a:lnTo>
                    <a:lnTo>
                      <a:pt x="340" y="840"/>
                    </a:lnTo>
                    <a:lnTo>
                      <a:pt x="188" y="841"/>
                    </a:lnTo>
                    <a:lnTo>
                      <a:pt x="554" y="1064"/>
                    </a:lnTo>
                  </a:path>
                </a:pathLst>
              </a:custGeom>
              <a:solidFill>
                <a:schemeClr val="accent2"/>
              </a:solid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solidFill>
                    <a:prstClr val="black"/>
                  </a:solidFill>
                  <a:latin typeface="Calibri" panose="020F0502020204030204"/>
                </a:endParaRPr>
              </a:p>
            </p:txBody>
          </p:sp>
        </p:grpSp>
        <p:sp>
          <p:nvSpPr>
            <p:cNvPr id="47" name="Rectangle 46"/>
            <p:cNvSpPr/>
            <p:nvPr/>
          </p:nvSpPr>
          <p:spPr>
            <a:xfrm>
              <a:off x="1212416" y="3451898"/>
              <a:ext cx="874260" cy="597182"/>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2000" b="1" kern="0" dirty="0">
                  <a:solidFill>
                    <a:prstClr val="black"/>
                  </a:solidFill>
                  <a:latin typeface="Calibri" panose="020F0502020204030204"/>
                </a:rPr>
                <a:t>TMR </a:t>
              </a:r>
              <a:r>
                <a:rPr lang="en-US" sz="1400" b="1" kern="0" dirty="0">
                  <a:solidFill>
                    <a:prstClr val="black"/>
                  </a:solidFill>
                  <a:latin typeface="Calibri" panose="020F0502020204030204"/>
                </a:rPr>
                <a:t>Analysis</a:t>
              </a:r>
            </a:p>
          </p:txBody>
        </p:sp>
      </p:grpSp>
      <p:grpSp>
        <p:nvGrpSpPr>
          <p:cNvPr id="52" name="Group 51"/>
          <p:cNvGrpSpPr/>
          <p:nvPr/>
        </p:nvGrpSpPr>
        <p:grpSpPr>
          <a:xfrm>
            <a:off x="2593755" y="4185236"/>
            <a:ext cx="2010136" cy="632011"/>
            <a:chOff x="2986376" y="4862128"/>
            <a:chExt cx="1706066" cy="632011"/>
          </a:xfrm>
        </p:grpSpPr>
        <p:sp>
          <p:nvSpPr>
            <p:cNvPr id="53" name="Rectangle 52"/>
            <p:cNvSpPr/>
            <p:nvPr/>
          </p:nvSpPr>
          <p:spPr>
            <a:xfrm>
              <a:off x="2986376" y="4862128"/>
              <a:ext cx="1460189" cy="632011"/>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1200" b="1" dirty="0">
                  <a:solidFill>
                    <a:prstClr val="white"/>
                  </a:solidFill>
                  <a:latin typeface="Calibri" panose="020F0502020204030204"/>
                </a:rPr>
                <a:t>Target Region</a:t>
              </a:r>
            </a:p>
          </p:txBody>
        </p:sp>
        <p:sp>
          <p:nvSpPr>
            <p:cNvPr id="54" name="Flowchart: Extract 53"/>
            <p:cNvSpPr/>
            <p:nvPr/>
          </p:nvSpPr>
          <p:spPr>
            <a:xfrm rot="5400000">
              <a:off x="4276486" y="5077108"/>
              <a:ext cx="630936" cy="200977"/>
            </a:xfrm>
            <a:prstGeom prst="flowChartExtra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solidFill>
                  <a:prstClr val="black"/>
                </a:solidFill>
                <a:latin typeface="Calibri" panose="020F0502020204030204"/>
              </a:endParaRPr>
            </a:p>
          </p:txBody>
        </p:sp>
      </p:grpSp>
      <p:grpSp>
        <p:nvGrpSpPr>
          <p:cNvPr id="55" name="Group 54"/>
          <p:cNvGrpSpPr/>
          <p:nvPr/>
        </p:nvGrpSpPr>
        <p:grpSpPr>
          <a:xfrm>
            <a:off x="2335262" y="2774722"/>
            <a:ext cx="2139154" cy="1089814"/>
            <a:chOff x="2655687" y="2841776"/>
            <a:chExt cx="2139154" cy="1089814"/>
          </a:xfrm>
        </p:grpSpPr>
        <p:grpSp>
          <p:nvGrpSpPr>
            <p:cNvPr id="56" name="Group 55"/>
            <p:cNvGrpSpPr/>
            <p:nvPr/>
          </p:nvGrpSpPr>
          <p:grpSpPr>
            <a:xfrm>
              <a:off x="2808993" y="2841776"/>
              <a:ext cx="1985848" cy="632011"/>
              <a:chOff x="3025476" y="3514382"/>
              <a:chExt cx="1878106" cy="632011"/>
            </a:xfrm>
          </p:grpSpPr>
          <p:sp>
            <p:nvSpPr>
              <p:cNvPr id="58" name="Flowchart: Extract 57"/>
              <p:cNvSpPr/>
              <p:nvPr/>
            </p:nvSpPr>
            <p:spPr>
              <a:xfrm rot="5400000">
                <a:off x="4487626" y="3729361"/>
                <a:ext cx="630936" cy="200977"/>
              </a:xfrm>
              <a:prstGeom prst="flowChartExtra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solidFill>
                    <a:prstClr val="black"/>
                  </a:solidFill>
                  <a:latin typeface="Calibri" panose="020F0502020204030204"/>
                </a:endParaRPr>
              </a:p>
            </p:txBody>
          </p:sp>
          <p:sp>
            <p:nvSpPr>
              <p:cNvPr id="59" name="Rectangle 58"/>
              <p:cNvSpPr/>
              <p:nvPr/>
            </p:nvSpPr>
            <p:spPr>
              <a:xfrm>
                <a:off x="3025476" y="3514382"/>
                <a:ext cx="1627094" cy="632011"/>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1200" b="1" dirty="0">
                    <a:solidFill>
                      <a:prstClr val="white"/>
                    </a:solidFill>
                    <a:latin typeface="Calibri" panose="020F0502020204030204"/>
                  </a:rPr>
                  <a:t> Target Segment</a:t>
                </a:r>
              </a:p>
            </p:txBody>
          </p:sp>
        </p:grpSp>
        <p:pic>
          <p:nvPicPr>
            <p:cNvPr id="57" name="Picture 56" descr="http://icons.iconarchive.com/icons/3dlb/3d-vol2/256/target-icon.png"/>
            <p:cNvPicPr>
              <a:picLocks noChangeAspect="1" noChangeArrowheads="1"/>
            </p:cNvPicPr>
            <p:nvPr/>
          </p:nvPicPr>
          <p:blipFill>
            <a:blip r:embed="rId3" cstate="print">
              <a:duotone>
                <a:schemeClr val="accent2">
                  <a:shade val="45000"/>
                  <a:satMod val="135000"/>
                </a:schemeClr>
                <a:prstClr val="white"/>
              </a:duotone>
            </a:blip>
            <a:srcRect/>
            <a:stretch>
              <a:fillRect/>
            </a:stretch>
          </p:blipFill>
          <p:spPr bwMode="auto">
            <a:xfrm>
              <a:off x="2655687" y="3203771"/>
              <a:ext cx="642518" cy="727819"/>
            </a:xfrm>
            <a:prstGeom prst="rect">
              <a:avLst/>
            </a:prstGeom>
            <a:noFill/>
          </p:spPr>
        </p:pic>
      </p:grpSp>
      <p:grpSp>
        <p:nvGrpSpPr>
          <p:cNvPr id="60" name="Group 59"/>
          <p:cNvGrpSpPr/>
          <p:nvPr/>
        </p:nvGrpSpPr>
        <p:grpSpPr>
          <a:xfrm>
            <a:off x="891341" y="5382894"/>
            <a:ext cx="1878106" cy="632011"/>
            <a:chOff x="2986375" y="4862128"/>
            <a:chExt cx="1878106" cy="632011"/>
          </a:xfrm>
        </p:grpSpPr>
        <p:sp>
          <p:nvSpPr>
            <p:cNvPr id="61" name="Rectangle 60"/>
            <p:cNvSpPr/>
            <p:nvPr/>
          </p:nvSpPr>
          <p:spPr>
            <a:xfrm>
              <a:off x="2986375" y="4862128"/>
              <a:ext cx="1627094" cy="632011"/>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1200" b="1" dirty="0">
                  <a:solidFill>
                    <a:prstClr val="white"/>
                  </a:solidFill>
                  <a:latin typeface="Calibri" panose="020F0502020204030204"/>
                </a:rPr>
                <a:t>Differentiating Strategy</a:t>
              </a:r>
            </a:p>
          </p:txBody>
        </p:sp>
        <p:sp>
          <p:nvSpPr>
            <p:cNvPr id="62" name="Flowchart: Extract 61"/>
            <p:cNvSpPr/>
            <p:nvPr/>
          </p:nvSpPr>
          <p:spPr>
            <a:xfrm rot="5400000">
              <a:off x="4448525" y="5077107"/>
              <a:ext cx="630936" cy="200977"/>
            </a:xfrm>
            <a:prstGeom prst="flowChartExtra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solidFill>
                  <a:prstClr val="black"/>
                </a:solidFill>
                <a:latin typeface="Calibri" panose="020F0502020204030204"/>
              </a:endParaRPr>
            </a:p>
          </p:txBody>
        </p:sp>
      </p:grpSp>
      <p:grpSp>
        <p:nvGrpSpPr>
          <p:cNvPr id="63" name="Group 62"/>
          <p:cNvGrpSpPr/>
          <p:nvPr/>
        </p:nvGrpSpPr>
        <p:grpSpPr>
          <a:xfrm>
            <a:off x="1937639" y="5454951"/>
            <a:ext cx="603250" cy="658489"/>
            <a:chOff x="2459319" y="5036217"/>
            <a:chExt cx="603250" cy="658489"/>
          </a:xfrm>
        </p:grpSpPr>
        <p:pic>
          <p:nvPicPr>
            <p:cNvPr id="64" name="Picture 63" descr="D:\pragati\Pragati Gaikar\Templates\IMages\shutterstock_80198548.jpg"/>
            <p:cNvPicPr>
              <a:picLocks noChangeAspect="1" noChangeArrowheads="1"/>
            </p:cNvPicPr>
            <p:nvPr/>
          </p:nvPicPr>
          <p:blipFill>
            <a:blip r:embed="rId4" cstate="print">
              <a:clrChange>
                <a:clrFrom>
                  <a:srgbClr val="FAFAFA"/>
                </a:clrFrom>
                <a:clrTo>
                  <a:srgbClr val="FAFAFA">
                    <a:alpha val="0"/>
                  </a:srgbClr>
                </a:clrTo>
              </a:clrChange>
              <a:grayscl/>
            </a:blip>
            <a:srcRect/>
            <a:stretch>
              <a:fillRect/>
            </a:stretch>
          </p:blipFill>
          <p:spPr bwMode="auto">
            <a:xfrm rot="14056286" flipH="1">
              <a:off x="2534863" y="5125060"/>
              <a:ext cx="607514" cy="447899"/>
            </a:xfrm>
            <a:prstGeom prst="rect">
              <a:avLst/>
            </a:prstGeom>
            <a:noFill/>
          </p:spPr>
        </p:pic>
        <p:pic>
          <p:nvPicPr>
            <p:cNvPr id="65" name="Picture 64" descr="D:\pragati\Pragati Gaikar\Templates\IMages\shutterstock_80198548.jpg"/>
            <p:cNvPicPr>
              <a:picLocks noChangeAspect="1" noChangeArrowheads="1"/>
            </p:cNvPicPr>
            <p:nvPr/>
          </p:nvPicPr>
          <p:blipFill>
            <a:blip r:embed="rId4" cstate="print">
              <a:clrChange>
                <a:clrFrom>
                  <a:srgbClr val="FAFAFA"/>
                </a:clrFrom>
                <a:clrTo>
                  <a:srgbClr val="FAFAFA">
                    <a:alpha val="0"/>
                  </a:srgbClr>
                </a:clrTo>
              </a:clrChange>
              <a:grayscl/>
            </a:blip>
            <a:srcRect/>
            <a:stretch>
              <a:fillRect/>
            </a:stretch>
          </p:blipFill>
          <p:spPr bwMode="auto">
            <a:xfrm rot="16568194" flipH="1">
              <a:off x="2379512" y="5166999"/>
              <a:ext cx="607514" cy="447899"/>
            </a:xfrm>
            <a:prstGeom prst="rect">
              <a:avLst/>
            </a:prstGeom>
            <a:noFill/>
          </p:spPr>
        </p:pic>
        <p:sp>
          <p:nvSpPr>
            <p:cNvPr id="66" name="Block Arc 65"/>
            <p:cNvSpPr/>
            <p:nvPr/>
          </p:nvSpPr>
          <p:spPr bwMode="auto">
            <a:xfrm flipH="1">
              <a:off x="2568579" y="5036217"/>
              <a:ext cx="156115" cy="158811"/>
            </a:xfrm>
            <a:prstGeom prst="blockArc">
              <a:avLst>
                <a:gd name="adj1" fmla="val 11859962"/>
                <a:gd name="adj2" fmla="val 9645767"/>
                <a:gd name="adj3" fmla="val 14453"/>
              </a:avLst>
            </a:prstGeom>
            <a:solidFill>
              <a:schemeClr val="bg2">
                <a:lumMod val="50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fontAlgn="base" hangingPunct="0">
                <a:lnSpc>
                  <a:spcPct val="85000"/>
                </a:lnSpc>
                <a:spcBef>
                  <a:spcPct val="0"/>
                </a:spcBef>
                <a:spcAft>
                  <a:spcPct val="0"/>
                </a:spcAft>
              </a:pPr>
              <a:endParaRPr lang="en-US" sz="2000" dirty="0">
                <a:solidFill>
                  <a:prstClr val="black"/>
                </a:solidFill>
                <a:latin typeface="Arial" charset="0"/>
                <a:cs typeface="Arial" charset="0"/>
              </a:endParaRPr>
            </a:p>
          </p:txBody>
        </p:sp>
      </p:grpSp>
      <p:pic>
        <p:nvPicPr>
          <p:cNvPr id="67" name="Picture 66"/>
          <p:cNvPicPr>
            <a:picLocks noChangeAspect="1"/>
          </p:cNvPicPr>
          <p:nvPr/>
        </p:nvPicPr>
        <p:blipFill>
          <a:blip r:embed="rId5" cstate="print">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2488568" y="4479577"/>
            <a:ext cx="658368" cy="658368"/>
          </a:xfrm>
          <a:prstGeom prst="rect">
            <a:avLst/>
          </a:prstGeom>
        </p:spPr>
      </p:pic>
      <p:grpSp>
        <p:nvGrpSpPr>
          <p:cNvPr id="68" name="Group 67"/>
          <p:cNvGrpSpPr/>
          <p:nvPr/>
        </p:nvGrpSpPr>
        <p:grpSpPr>
          <a:xfrm>
            <a:off x="195742" y="1415884"/>
            <a:ext cx="2320925" cy="889651"/>
            <a:chOff x="1038313" y="1615243"/>
            <a:chExt cx="2320925" cy="889651"/>
          </a:xfrm>
        </p:grpSpPr>
        <p:grpSp>
          <p:nvGrpSpPr>
            <p:cNvPr id="69" name="Group 68"/>
            <p:cNvGrpSpPr/>
            <p:nvPr/>
          </p:nvGrpSpPr>
          <p:grpSpPr>
            <a:xfrm>
              <a:off x="1481132" y="1615243"/>
              <a:ext cx="1878106" cy="632011"/>
              <a:chOff x="2986375" y="1968785"/>
              <a:chExt cx="1878106" cy="632011"/>
            </a:xfrm>
          </p:grpSpPr>
          <p:sp>
            <p:nvSpPr>
              <p:cNvPr id="74" name="Rectangle 73"/>
              <p:cNvSpPr/>
              <p:nvPr/>
            </p:nvSpPr>
            <p:spPr>
              <a:xfrm>
                <a:off x="2986375" y="1968785"/>
                <a:ext cx="1627094" cy="632011"/>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1200" b="1" dirty="0">
                    <a:solidFill>
                      <a:prstClr val="white"/>
                    </a:solidFill>
                    <a:latin typeface="Calibri" panose="020F0502020204030204"/>
                  </a:rPr>
                  <a:t>Overall Market Approach</a:t>
                </a:r>
              </a:p>
            </p:txBody>
          </p:sp>
          <p:sp>
            <p:nvSpPr>
              <p:cNvPr id="75" name="Flowchart: Extract 74"/>
              <p:cNvSpPr/>
              <p:nvPr/>
            </p:nvSpPr>
            <p:spPr>
              <a:xfrm rot="5400000">
                <a:off x="4448525" y="2183765"/>
                <a:ext cx="630936" cy="200977"/>
              </a:xfrm>
              <a:prstGeom prst="flowChartExtra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solidFill>
                    <a:prstClr val="black"/>
                  </a:solidFill>
                  <a:latin typeface="Calibri" panose="020F0502020204030204"/>
                </a:endParaRPr>
              </a:p>
            </p:txBody>
          </p:sp>
        </p:grpSp>
        <p:sp>
          <p:nvSpPr>
            <p:cNvPr id="70" name="Down Arrow 69"/>
            <p:cNvSpPr/>
            <p:nvPr/>
          </p:nvSpPr>
          <p:spPr>
            <a:xfrm>
              <a:off x="1396118" y="2077470"/>
              <a:ext cx="314211" cy="427424"/>
            </a:xfrm>
            <a:prstGeom prst="downArrow">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prstClr val="black"/>
                </a:solidFill>
                <a:latin typeface="Calibri" panose="020F0502020204030204"/>
              </a:endParaRPr>
            </a:p>
          </p:txBody>
        </p:sp>
        <p:sp>
          <p:nvSpPr>
            <p:cNvPr id="71" name="Down Arrow 70"/>
            <p:cNvSpPr/>
            <p:nvPr/>
          </p:nvSpPr>
          <p:spPr>
            <a:xfrm rot="10800000">
              <a:off x="1578872" y="1890793"/>
              <a:ext cx="314211" cy="427424"/>
            </a:xfrm>
            <a:prstGeom prst="downArrow">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prstClr val="black"/>
                </a:solidFill>
                <a:latin typeface="Calibri" panose="020F0502020204030204"/>
              </a:endParaRPr>
            </a:p>
          </p:txBody>
        </p:sp>
        <p:sp>
          <p:nvSpPr>
            <p:cNvPr id="72" name="Down Arrow 71"/>
            <p:cNvSpPr/>
            <p:nvPr/>
          </p:nvSpPr>
          <p:spPr>
            <a:xfrm>
              <a:off x="1038313" y="2077470"/>
              <a:ext cx="314211" cy="427424"/>
            </a:xfrm>
            <a:prstGeom prst="downArrow">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prstClr val="black"/>
                </a:solidFill>
                <a:latin typeface="Calibri" panose="020F0502020204030204"/>
              </a:endParaRPr>
            </a:p>
          </p:txBody>
        </p:sp>
        <p:sp>
          <p:nvSpPr>
            <p:cNvPr id="73" name="Down Arrow 72"/>
            <p:cNvSpPr/>
            <p:nvPr/>
          </p:nvSpPr>
          <p:spPr>
            <a:xfrm rot="10800000">
              <a:off x="1203433" y="1892523"/>
              <a:ext cx="314211" cy="427424"/>
            </a:xfrm>
            <a:prstGeom prst="down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prstClr val="black"/>
                </a:solidFill>
                <a:latin typeface="Calibri" panose="020F0502020204030204"/>
              </a:endParaRPr>
            </a:p>
          </p:txBody>
        </p:sp>
      </p:grpSp>
      <p:sp>
        <p:nvSpPr>
          <p:cNvPr id="76" name="Footer Placeholder 9"/>
          <p:cNvSpPr txBox="1">
            <a:spLocks/>
          </p:cNvSpPr>
          <p:nvPr/>
        </p:nvSpPr>
        <p:spPr bwMode="gray">
          <a:xfrm>
            <a:off x="152398" y="6220514"/>
            <a:ext cx="1395047" cy="180286"/>
          </a:xfrm>
          <a:prstGeom prst="rect">
            <a:avLst/>
          </a:prstGeom>
        </p:spPr>
        <p:txBody>
          <a:bodyPr wrap="square" lIns="0" tIns="0" rIns="0" bIns="0" anchor="ctr" anchorCtr="0">
            <a:noAutofit/>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IN" sz="900" dirty="0">
                <a:solidFill>
                  <a:prstClr val="black"/>
                </a:solidFill>
                <a:latin typeface="Calibri" panose="020F0502020204030204"/>
              </a:rPr>
              <a:t>Source: TMR Analysis, 2024</a:t>
            </a:r>
            <a:endParaRPr lang="en-US" sz="900" dirty="0">
              <a:solidFill>
                <a:prstClr val="black"/>
              </a:solidFill>
              <a:latin typeface="Calibri" panose="020F0502020204030204"/>
            </a:endParaRPr>
          </a:p>
        </p:txBody>
      </p:sp>
      <p:sp>
        <p:nvSpPr>
          <p:cNvPr id="2" name="Slide Number Placeholder 1"/>
          <p:cNvSpPr>
            <a:spLocks noGrp="1"/>
          </p:cNvSpPr>
          <p:nvPr>
            <p:ph type="sldNum" sz="quarter" idx="4"/>
          </p:nvPr>
        </p:nvSpPr>
        <p:spPr/>
        <p:txBody>
          <a:bodyPr/>
          <a:lstStyle/>
          <a:p>
            <a:fld id="{4B17068C-EB94-40A3-A5F2-664CDD77FDAC}" type="slidenum">
              <a:rPr lang="en-GB" smtClean="0"/>
              <a:pPr/>
              <a:t>7</a:t>
            </a:fld>
            <a:endParaRPr lang="en-GB" dirty="0"/>
          </a:p>
        </p:txBody>
      </p:sp>
    </p:spTree>
    <p:extLst>
      <p:ext uri="{BB962C8B-B14F-4D97-AF65-F5344CB8AC3E}">
        <p14:creationId xmlns:p14="http://schemas.microsoft.com/office/powerpoint/2010/main" val="157786873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Scenario Outlook</a:t>
            </a:r>
            <a:endParaRPr lang="en-IN" dirty="0"/>
          </a:p>
        </p:txBody>
      </p:sp>
      <p:sp>
        <p:nvSpPr>
          <p:cNvPr id="53" name="Rectangle 52"/>
          <p:cNvSpPr/>
          <p:nvPr/>
        </p:nvSpPr>
        <p:spPr>
          <a:xfrm>
            <a:off x="7404309" y="1906880"/>
            <a:ext cx="4607667" cy="3785652"/>
          </a:xfrm>
          <a:prstGeom prst="rect">
            <a:avLst/>
          </a:prstGeom>
        </p:spPr>
        <p:txBody>
          <a:bodyPr wrap="square">
            <a:spAutoFit/>
          </a:bodyPr>
          <a:lstStyle/>
          <a:p>
            <a:pPr algn="just"/>
            <a:r>
              <a:rPr lang="en-IN" sz="1600" b="1" dirty="0"/>
              <a:t>Optimistic Scenario: </a:t>
            </a:r>
            <a:r>
              <a:rPr lang="en-IN" sz="1600" dirty="0"/>
              <a:t>Revenue from the </a:t>
            </a:r>
            <a:r>
              <a:rPr lang="en-US" sz="1600" dirty="0"/>
              <a:t>Global WXYZ </a:t>
            </a:r>
            <a:r>
              <a:rPr lang="en-IN" sz="1600" dirty="0"/>
              <a:t>Market is expected to expand at a CAGR of xx% and is projected to reach US$ xx </a:t>
            </a:r>
            <a:r>
              <a:rPr lang="en-IN" sz="1600" dirty="0" err="1"/>
              <a:t>Mn</a:t>
            </a:r>
            <a:r>
              <a:rPr lang="en-IN" sz="1600" dirty="0"/>
              <a:t> in 2034, owing to </a:t>
            </a:r>
            <a:r>
              <a:rPr lang="en-US" sz="1600" dirty="0" err="1">
                <a:solidFill>
                  <a:srgbClr val="FF0000"/>
                </a:solidFill>
              </a:rPr>
              <a:t>xxxxxxxxxx</a:t>
            </a:r>
            <a:r>
              <a:rPr lang="en-IN" sz="1600" dirty="0">
                <a:solidFill>
                  <a:srgbClr val="FF0000"/>
                </a:solidFill>
              </a:rPr>
              <a:t>.</a:t>
            </a:r>
          </a:p>
          <a:p>
            <a:pPr algn="just"/>
            <a:endParaRPr lang="en-US" sz="1600" dirty="0">
              <a:solidFill>
                <a:srgbClr val="FF0000"/>
              </a:solidFill>
            </a:endParaRPr>
          </a:p>
          <a:p>
            <a:pPr algn="just"/>
            <a:r>
              <a:rPr lang="en-IN" sz="1600" b="1" dirty="0"/>
              <a:t>Likely Scenario: </a:t>
            </a:r>
            <a:r>
              <a:rPr lang="en-IN" sz="1600" dirty="0"/>
              <a:t>Revenue from the </a:t>
            </a:r>
            <a:r>
              <a:rPr lang="en-US" sz="1600" dirty="0"/>
              <a:t>Global WXYZ </a:t>
            </a:r>
            <a:r>
              <a:rPr lang="en-IN" sz="1600" dirty="0"/>
              <a:t>Market is expected to expand at a CAGR of </a:t>
            </a:r>
            <a:r>
              <a:rPr lang="en-US" sz="1600" b="1" kern="0" dirty="0" err="1"/>
              <a:t>VaC</a:t>
            </a:r>
            <a:r>
              <a:rPr lang="en-US" sz="1600" b="1" kern="0" dirty="0"/>
              <a:t>!% </a:t>
            </a:r>
            <a:r>
              <a:rPr lang="en-IN" sz="1600" dirty="0"/>
              <a:t>and is projected to reach US$ </a:t>
            </a:r>
            <a:r>
              <a:rPr lang="en-IN" sz="1600" b="1" dirty="0"/>
              <a:t>F!Y! </a:t>
            </a:r>
            <a:r>
              <a:rPr lang="en-IN" sz="1600" dirty="0" err="1"/>
              <a:t>Mn</a:t>
            </a:r>
            <a:r>
              <a:rPr lang="en-IN" sz="1600" dirty="0"/>
              <a:t> in 2034, owing to </a:t>
            </a:r>
            <a:r>
              <a:rPr lang="en-US" sz="1600" dirty="0" err="1">
                <a:solidFill>
                  <a:srgbClr val="FF0000"/>
                </a:solidFill>
              </a:rPr>
              <a:t>xxxxxxxxxx</a:t>
            </a:r>
            <a:r>
              <a:rPr lang="en-IN" sz="1600" dirty="0">
                <a:solidFill>
                  <a:srgbClr val="FF0000"/>
                </a:solidFill>
              </a:rPr>
              <a:t>.</a:t>
            </a:r>
            <a:endParaRPr lang="en-GB" sz="1600" dirty="0">
              <a:solidFill>
                <a:srgbClr val="FF0000"/>
              </a:solidFill>
            </a:endParaRPr>
          </a:p>
          <a:p>
            <a:pPr algn="just"/>
            <a:endParaRPr lang="en-US" sz="1600" dirty="0">
              <a:solidFill>
                <a:srgbClr val="FF0000"/>
              </a:solidFill>
            </a:endParaRPr>
          </a:p>
          <a:p>
            <a:pPr algn="just"/>
            <a:r>
              <a:rPr lang="en-IN" sz="1600" b="1" dirty="0"/>
              <a:t>Conservative Scenario: </a:t>
            </a:r>
            <a:r>
              <a:rPr lang="en-IN" sz="1600" dirty="0"/>
              <a:t>Revenue from the </a:t>
            </a:r>
            <a:r>
              <a:rPr lang="en-US" sz="1600" dirty="0"/>
              <a:t>Global WXYZ </a:t>
            </a:r>
            <a:r>
              <a:rPr lang="en-IN" sz="1600" dirty="0"/>
              <a:t>Market is expected to expand at a CAGR of xx% and is projected to reach US$ xx </a:t>
            </a:r>
            <a:r>
              <a:rPr lang="en-IN" sz="1600" dirty="0" err="1"/>
              <a:t>Mn</a:t>
            </a:r>
            <a:r>
              <a:rPr lang="en-IN" sz="1600" dirty="0"/>
              <a:t> in 2034, owing to </a:t>
            </a:r>
            <a:r>
              <a:rPr lang="en-US" sz="1600" dirty="0" err="1">
                <a:solidFill>
                  <a:srgbClr val="FF0000"/>
                </a:solidFill>
              </a:rPr>
              <a:t>xxxxxxxxxx</a:t>
            </a:r>
            <a:r>
              <a:rPr lang="en-IN" sz="1600" dirty="0">
                <a:solidFill>
                  <a:srgbClr val="FF0000"/>
                </a:solidFill>
              </a:rPr>
              <a:t>.</a:t>
            </a:r>
          </a:p>
          <a:p>
            <a:pPr algn="just"/>
            <a:endParaRPr lang="en-IN" sz="1600" dirty="0">
              <a:solidFill>
                <a:srgbClr val="FF0000"/>
              </a:solidFill>
            </a:endParaRPr>
          </a:p>
        </p:txBody>
      </p:sp>
      <p:grpSp>
        <p:nvGrpSpPr>
          <p:cNvPr id="88" name="Group 87"/>
          <p:cNvGrpSpPr/>
          <p:nvPr/>
        </p:nvGrpSpPr>
        <p:grpSpPr>
          <a:xfrm>
            <a:off x="163514" y="2290083"/>
            <a:ext cx="6728340" cy="3183877"/>
            <a:chOff x="152400" y="2053087"/>
            <a:chExt cx="6728340" cy="3183877"/>
          </a:xfrm>
        </p:grpSpPr>
        <p:cxnSp>
          <p:nvCxnSpPr>
            <p:cNvPr id="23" name="Straight Connector 22"/>
            <p:cNvCxnSpPr/>
            <p:nvPr/>
          </p:nvCxnSpPr>
          <p:spPr>
            <a:xfrm>
              <a:off x="152400" y="4977439"/>
              <a:ext cx="6257026" cy="0"/>
            </a:xfrm>
            <a:prstGeom prst="line">
              <a:avLst/>
            </a:prstGeom>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sp>
          <p:nvSpPr>
            <p:cNvPr id="29" name="Rectangle 28"/>
            <p:cNvSpPr/>
            <p:nvPr/>
          </p:nvSpPr>
          <p:spPr>
            <a:xfrm>
              <a:off x="612475" y="4063038"/>
              <a:ext cx="640080" cy="914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200" b="1"/>
            </a:p>
          </p:txBody>
        </p:sp>
        <p:sp>
          <p:nvSpPr>
            <p:cNvPr id="57" name="Rectangle 56"/>
            <p:cNvSpPr/>
            <p:nvPr/>
          </p:nvSpPr>
          <p:spPr>
            <a:xfrm>
              <a:off x="3329795" y="3605838"/>
              <a:ext cx="640080" cy="1371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200" b="1"/>
            </a:p>
          </p:txBody>
        </p:sp>
        <p:sp>
          <p:nvSpPr>
            <p:cNvPr id="59" name="Rectangle 58"/>
            <p:cNvSpPr/>
            <p:nvPr/>
          </p:nvSpPr>
          <p:spPr>
            <a:xfrm>
              <a:off x="4214002" y="2950234"/>
              <a:ext cx="640080" cy="20272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200" b="1"/>
            </a:p>
          </p:txBody>
        </p:sp>
        <p:sp>
          <p:nvSpPr>
            <p:cNvPr id="61" name="Rectangle 60"/>
            <p:cNvSpPr/>
            <p:nvPr/>
          </p:nvSpPr>
          <p:spPr>
            <a:xfrm>
              <a:off x="5098210" y="2053087"/>
              <a:ext cx="640080" cy="292435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200" b="1"/>
            </a:p>
          </p:txBody>
        </p:sp>
        <p:sp>
          <p:nvSpPr>
            <p:cNvPr id="63" name="TextBox 62"/>
            <p:cNvSpPr txBox="1"/>
            <p:nvPr/>
          </p:nvSpPr>
          <p:spPr>
            <a:xfrm>
              <a:off x="723915" y="5052298"/>
              <a:ext cx="389530" cy="184666"/>
            </a:xfrm>
            <a:prstGeom prst="rect">
              <a:avLst/>
            </a:prstGeom>
            <a:noFill/>
          </p:spPr>
          <p:txBody>
            <a:bodyPr wrap="none" lIns="0" tIns="0" rIns="0" bIns="0" rtlCol="0">
              <a:spAutoFit/>
            </a:bodyPr>
            <a:lstStyle/>
            <a:p>
              <a:pPr algn="ctr"/>
              <a:r>
                <a:rPr lang="en-IN" sz="1200" b="1" dirty="0"/>
                <a:t>2024E</a:t>
              </a:r>
            </a:p>
          </p:txBody>
        </p:sp>
        <p:sp>
          <p:nvSpPr>
            <p:cNvPr id="65" name="TextBox 64"/>
            <p:cNvSpPr txBox="1"/>
            <p:nvPr/>
          </p:nvSpPr>
          <p:spPr>
            <a:xfrm>
              <a:off x="4340788" y="5052298"/>
              <a:ext cx="384722" cy="184666"/>
            </a:xfrm>
            <a:prstGeom prst="rect">
              <a:avLst/>
            </a:prstGeom>
            <a:noFill/>
          </p:spPr>
          <p:txBody>
            <a:bodyPr wrap="none" lIns="0" tIns="0" rIns="0" bIns="0" rtlCol="0">
              <a:spAutoFit/>
            </a:bodyPr>
            <a:lstStyle/>
            <a:p>
              <a:pPr algn="ctr"/>
              <a:r>
                <a:rPr lang="en-IN" sz="1200" b="1" dirty="0"/>
                <a:t>2034F</a:t>
              </a:r>
            </a:p>
          </p:txBody>
        </p:sp>
        <p:cxnSp>
          <p:nvCxnSpPr>
            <p:cNvPr id="33" name="Straight Connector 32"/>
            <p:cNvCxnSpPr/>
            <p:nvPr/>
          </p:nvCxnSpPr>
          <p:spPr>
            <a:xfrm flipV="1">
              <a:off x="1233577" y="3597215"/>
              <a:ext cx="2096219" cy="474453"/>
            </a:xfrm>
            <a:prstGeom prst="line">
              <a:avLst/>
            </a:prstGeom>
            <a:ln>
              <a:solidFill>
                <a:srgbClr val="00B0F0"/>
              </a:solidFill>
              <a:prstDash val="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1243013" y="2941609"/>
              <a:ext cx="2983930" cy="1125566"/>
            </a:xfrm>
            <a:prstGeom prst="line">
              <a:avLst/>
            </a:prstGeom>
            <a:ln>
              <a:solidFill>
                <a:srgbClr val="00B0F0"/>
              </a:solidFill>
              <a:prstDash val="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1259457" y="2053089"/>
              <a:ext cx="3830128" cy="2001326"/>
            </a:xfrm>
            <a:prstGeom prst="line">
              <a:avLst/>
            </a:prstGeom>
            <a:ln>
              <a:solidFill>
                <a:srgbClr val="00B0F0"/>
              </a:solidFill>
              <a:prstDash val="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6" name="TextBox 75"/>
            <p:cNvSpPr txBox="1"/>
            <p:nvPr/>
          </p:nvSpPr>
          <p:spPr>
            <a:xfrm rot="20944454">
              <a:off x="2060266" y="3810098"/>
              <a:ext cx="822341" cy="153888"/>
            </a:xfrm>
            <a:prstGeom prst="rect">
              <a:avLst/>
            </a:prstGeom>
            <a:noFill/>
          </p:spPr>
          <p:txBody>
            <a:bodyPr wrap="none" lIns="0" tIns="0" rIns="0" bIns="0" rtlCol="0">
              <a:spAutoFit/>
            </a:bodyPr>
            <a:lstStyle/>
            <a:p>
              <a:pPr algn="ctr"/>
              <a:r>
                <a:rPr lang="en-IN" sz="1000" b="1" dirty="0">
                  <a:solidFill>
                    <a:schemeClr val="tx2">
                      <a:lumMod val="75000"/>
                      <a:lumOff val="25000"/>
                    </a:schemeClr>
                  </a:solidFill>
                </a:rPr>
                <a:t>CONSERVATIVE</a:t>
              </a:r>
            </a:p>
          </p:txBody>
        </p:sp>
        <p:sp>
          <p:nvSpPr>
            <p:cNvPr id="77" name="TextBox 76"/>
            <p:cNvSpPr txBox="1"/>
            <p:nvPr/>
          </p:nvSpPr>
          <p:spPr>
            <a:xfrm rot="19865493">
              <a:off x="3116384" y="2757673"/>
              <a:ext cx="625172" cy="153888"/>
            </a:xfrm>
            <a:prstGeom prst="rect">
              <a:avLst/>
            </a:prstGeom>
            <a:noFill/>
          </p:spPr>
          <p:txBody>
            <a:bodyPr wrap="none" lIns="0" tIns="0" rIns="0" bIns="0" rtlCol="0">
              <a:spAutoFit/>
            </a:bodyPr>
            <a:lstStyle/>
            <a:p>
              <a:pPr algn="ctr"/>
              <a:r>
                <a:rPr lang="en-IN" sz="1000" b="1" dirty="0">
                  <a:solidFill>
                    <a:schemeClr val="tx2">
                      <a:lumMod val="75000"/>
                      <a:lumOff val="25000"/>
                    </a:schemeClr>
                  </a:solidFill>
                </a:rPr>
                <a:t>OPTIMISTIC</a:t>
              </a:r>
            </a:p>
          </p:txBody>
        </p:sp>
        <p:sp>
          <p:nvSpPr>
            <p:cNvPr id="78" name="TextBox 77"/>
            <p:cNvSpPr txBox="1"/>
            <p:nvPr/>
          </p:nvSpPr>
          <p:spPr>
            <a:xfrm rot="20308552">
              <a:off x="2739864" y="3275259"/>
              <a:ext cx="343043" cy="153888"/>
            </a:xfrm>
            <a:prstGeom prst="rect">
              <a:avLst/>
            </a:prstGeom>
            <a:noFill/>
          </p:spPr>
          <p:txBody>
            <a:bodyPr wrap="none" lIns="0" tIns="0" rIns="0" bIns="0" rtlCol="0">
              <a:spAutoFit/>
            </a:bodyPr>
            <a:lstStyle/>
            <a:p>
              <a:pPr algn="ctr"/>
              <a:r>
                <a:rPr lang="en-IN" sz="1000" b="1" dirty="0">
                  <a:solidFill>
                    <a:schemeClr val="tx2">
                      <a:lumMod val="75000"/>
                      <a:lumOff val="25000"/>
                    </a:schemeClr>
                  </a:solidFill>
                </a:rPr>
                <a:t>LIKELY</a:t>
              </a:r>
            </a:p>
          </p:txBody>
        </p:sp>
        <p:sp>
          <p:nvSpPr>
            <p:cNvPr id="79" name="TextBox 78"/>
            <p:cNvSpPr txBox="1"/>
            <p:nvPr/>
          </p:nvSpPr>
          <p:spPr>
            <a:xfrm rot="16200000">
              <a:off x="3346868" y="4207000"/>
              <a:ext cx="605936" cy="169277"/>
            </a:xfrm>
            <a:prstGeom prst="rect">
              <a:avLst/>
            </a:prstGeom>
            <a:noFill/>
          </p:spPr>
          <p:txBody>
            <a:bodyPr wrap="none" lIns="0" tIns="0" rIns="0" bIns="0" rtlCol="0">
              <a:spAutoFit/>
            </a:bodyPr>
            <a:lstStyle/>
            <a:p>
              <a:pPr algn="ctr"/>
              <a:r>
                <a:rPr lang="en-US" sz="1100" b="1" dirty="0">
                  <a:solidFill>
                    <a:schemeClr val="bg1"/>
                  </a:solidFill>
                </a:rPr>
                <a:t>Scenario 1</a:t>
              </a:r>
              <a:endParaRPr lang="en-IN" sz="1100" b="1" dirty="0">
                <a:solidFill>
                  <a:schemeClr val="bg1"/>
                </a:solidFill>
              </a:endParaRPr>
            </a:p>
          </p:txBody>
        </p:sp>
        <p:sp>
          <p:nvSpPr>
            <p:cNvPr id="80" name="TextBox 79"/>
            <p:cNvSpPr txBox="1"/>
            <p:nvPr/>
          </p:nvSpPr>
          <p:spPr>
            <a:xfrm rot="16200000">
              <a:off x="4231075" y="3879198"/>
              <a:ext cx="605936" cy="169277"/>
            </a:xfrm>
            <a:prstGeom prst="rect">
              <a:avLst/>
            </a:prstGeom>
            <a:noFill/>
          </p:spPr>
          <p:txBody>
            <a:bodyPr wrap="none" lIns="0" tIns="0" rIns="0" bIns="0" rtlCol="0">
              <a:spAutoFit/>
            </a:bodyPr>
            <a:lstStyle/>
            <a:p>
              <a:pPr algn="ctr"/>
              <a:r>
                <a:rPr lang="en-US" sz="1100" b="1" dirty="0">
                  <a:solidFill>
                    <a:schemeClr val="bg1"/>
                  </a:solidFill>
                </a:rPr>
                <a:t>Scenario 2</a:t>
              </a:r>
              <a:endParaRPr lang="en-IN" sz="1100" b="1" dirty="0">
                <a:solidFill>
                  <a:schemeClr val="bg1"/>
                </a:solidFill>
              </a:endParaRPr>
            </a:p>
          </p:txBody>
        </p:sp>
        <p:sp>
          <p:nvSpPr>
            <p:cNvPr id="81" name="TextBox 80"/>
            <p:cNvSpPr txBox="1"/>
            <p:nvPr/>
          </p:nvSpPr>
          <p:spPr>
            <a:xfrm rot="16200000">
              <a:off x="5115283" y="3430624"/>
              <a:ext cx="605936" cy="169277"/>
            </a:xfrm>
            <a:prstGeom prst="rect">
              <a:avLst/>
            </a:prstGeom>
            <a:noFill/>
          </p:spPr>
          <p:txBody>
            <a:bodyPr wrap="none" lIns="0" tIns="0" rIns="0" bIns="0" rtlCol="0">
              <a:spAutoFit/>
            </a:bodyPr>
            <a:lstStyle/>
            <a:p>
              <a:pPr algn="ctr"/>
              <a:r>
                <a:rPr lang="en-US" sz="1100" b="1" dirty="0">
                  <a:solidFill>
                    <a:schemeClr val="bg1"/>
                  </a:solidFill>
                </a:rPr>
                <a:t>Scenario 3</a:t>
              </a:r>
              <a:endParaRPr lang="en-IN" sz="1100" b="1" dirty="0">
                <a:solidFill>
                  <a:schemeClr val="bg1"/>
                </a:solidFill>
              </a:endParaRPr>
            </a:p>
          </p:txBody>
        </p:sp>
        <p:grpSp>
          <p:nvGrpSpPr>
            <p:cNvPr id="87" name="Group 86"/>
            <p:cNvGrpSpPr/>
            <p:nvPr/>
          </p:nvGrpSpPr>
          <p:grpSpPr>
            <a:xfrm>
              <a:off x="5892501" y="2631057"/>
              <a:ext cx="988239" cy="1362974"/>
              <a:chOff x="5892501" y="2631057"/>
              <a:chExt cx="988239" cy="1362974"/>
            </a:xfrm>
          </p:grpSpPr>
          <p:grpSp>
            <p:nvGrpSpPr>
              <p:cNvPr id="47" name="Group 46"/>
              <p:cNvGrpSpPr/>
              <p:nvPr/>
            </p:nvGrpSpPr>
            <p:grpSpPr>
              <a:xfrm>
                <a:off x="5945053" y="2631057"/>
                <a:ext cx="431321" cy="431321"/>
                <a:chOff x="5942013" y="2303253"/>
                <a:chExt cx="431321" cy="431321"/>
              </a:xfrm>
            </p:grpSpPr>
            <p:sp>
              <p:nvSpPr>
                <p:cNvPr id="41" name="Oval 40"/>
                <p:cNvSpPr/>
                <p:nvPr/>
              </p:nvSpPr>
              <p:spPr>
                <a:xfrm>
                  <a:off x="5942013" y="2303253"/>
                  <a:ext cx="431321" cy="431321"/>
                </a:xfrm>
                <a:prstGeom prst="ellipse">
                  <a:avLst/>
                </a:prstGeom>
                <a:solidFill>
                  <a:schemeClr val="bg1"/>
                </a:solidFill>
                <a:ln>
                  <a:solidFill>
                    <a:schemeClr val="accent1">
                      <a:lumMod val="40000"/>
                      <a:lumOff val="6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3" name="Cross 42"/>
                <p:cNvSpPr/>
                <p:nvPr/>
              </p:nvSpPr>
              <p:spPr>
                <a:xfrm>
                  <a:off x="6026689" y="2387929"/>
                  <a:ext cx="261968" cy="261968"/>
                </a:xfrm>
                <a:prstGeom prst="plus">
                  <a:avLst>
                    <a:gd name="adj" fmla="val 41668"/>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82" name="TextBox 81"/>
              <p:cNvSpPr txBox="1"/>
              <p:nvPr/>
            </p:nvSpPr>
            <p:spPr>
              <a:xfrm>
                <a:off x="6550521" y="2738995"/>
                <a:ext cx="330219" cy="215444"/>
              </a:xfrm>
              <a:prstGeom prst="rect">
                <a:avLst/>
              </a:prstGeom>
              <a:noFill/>
            </p:spPr>
            <p:txBody>
              <a:bodyPr wrap="none" lIns="0" tIns="0" rIns="0" bIns="0" rtlCol="0">
                <a:spAutoFit/>
              </a:bodyPr>
              <a:lstStyle/>
              <a:p>
                <a:r>
                  <a:rPr lang="en-IN" sz="1400" b="1" dirty="0">
                    <a:solidFill>
                      <a:schemeClr val="tx2">
                        <a:lumMod val="75000"/>
                        <a:lumOff val="25000"/>
                      </a:schemeClr>
                    </a:solidFill>
                  </a:rPr>
                  <a:t>XX%</a:t>
                </a:r>
              </a:p>
            </p:txBody>
          </p:sp>
          <p:grpSp>
            <p:nvGrpSpPr>
              <p:cNvPr id="45" name="Group 44"/>
              <p:cNvGrpSpPr/>
              <p:nvPr/>
            </p:nvGrpSpPr>
            <p:grpSpPr>
              <a:xfrm>
                <a:off x="5945053" y="3562710"/>
                <a:ext cx="431321" cy="431321"/>
                <a:chOff x="5942013" y="2846717"/>
                <a:chExt cx="431321" cy="431321"/>
              </a:xfrm>
            </p:grpSpPr>
            <p:sp>
              <p:nvSpPr>
                <p:cNvPr id="83" name="Oval 82"/>
                <p:cNvSpPr/>
                <p:nvPr/>
              </p:nvSpPr>
              <p:spPr>
                <a:xfrm>
                  <a:off x="5942013" y="2846717"/>
                  <a:ext cx="431321" cy="431321"/>
                </a:xfrm>
                <a:prstGeom prst="ellipse">
                  <a:avLst/>
                </a:prstGeom>
                <a:solidFill>
                  <a:schemeClr val="bg1"/>
                </a:solidFill>
                <a:ln>
                  <a:solidFill>
                    <a:schemeClr val="accent1">
                      <a:lumMod val="40000"/>
                      <a:lumOff val="6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4" name="Minus 83"/>
                <p:cNvSpPr/>
                <p:nvPr/>
              </p:nvSpPr>
              <p:spPr>
                <a:xfrm>
                  <a:off x="6026689" y="2931393"/>
                  <a:ext cx="261968" cy="261968"/>
                </a:xfrm>
                <a:prstGeom prst="mathMinus">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85" name="TextBox 84"/>
              <p:cNvSpPr txBox="1"/>
              <p:nvPr/>
            </p:nvSpPr>
            <p:spPr>
              <a:xfrm>
                <a:off x="6550521" y="3670648"/>
                <a:ext cx="330219" cy="215444"/>
              </a:xfrm>
              <a:prstGeom prst="rect">
                <a:avLst/>
              </a:prstGeom>
              <a:noFill/>
            </p:spPr>
            <p:txBody>
              <a:bodyPr wrap="none" lIns="0" tIns="0" rIns="0" bIns="0" rtlCol="0">
                <a:spAutoFit/>
              </a:bodyPr>
              <a:lstStyle/>
              <a:p>
                <a:r>
                  <a:rPr lang="en-IN" sz="1400" b="1" dirty="0">
                    <a:solidFill>
                      <a:schemeClr val="tx2">
                        <a:lumMod val="75000"/>
                        <a:lumOff val="25000"/>
                      </a:schemeClr>
                    </a:solidFill>
                  </a:rPr>
                  <a:t>XX%</a:t>
                </a:r>
              </a:p>
            </p:txBody>
          </p:sp>
          <p:cxnSp>
            <p:nvCxnSpPr>
              <p:cNvPr id="51" name="Straight Connector 50"/>
              <p:cNvCxnSpPr/>
              <p:nvPr/>
            </p:nvCxnSpPr>
            <p:spPr>
              <a:xfrm>
                <a:off x="5892501" y="3312544"/>
                <a:ext cx="536425" cy="0"/>
              </a:xfrm>
              <a:prstGeom prst="line">
                <a:avLst/>
              </a:prstGeom>
            </p:spPr>
            <p:style>
              <a:lnRef idx="1">
                <a:schemeClr val="accent1"/>
              </a:lnRef>
              <a:fillRef idx="0">
                <a:schemeClr val="accent1"/>
              </a:fillRef>
              <a:effectRef idx="0">
                <a:schemeClr val="accent1"/>
              </a:effectRef>
              <a:fontRef idx="minor">
                <a:schemeClr val="tx1"/>
              </a:fontRef>
            </p:style>
          </p:cxnSp>
          <p:sp>
            <p:nvSpPr>
              <p:cNvPr id="86" name="TextBox 85"/>
              <p:cNvSpPr txBox="1"/>
              <p:nvPr/>
            </p:nvSpPr>
            <p:spPr>
              <a:xfrm>
                <a:off x="6550521" y="3187568"/>
                <a:ext cx="330219" cy="215444"/>
              </a:xfrm>
              <a:prstGeom prst="rect">
                <a:avLst/>
              </a:prstGeom>
              <a:noFill/>
            </p:spPr>
            <p:txBody>
              <a:bodyPr wrap="none" lIns="0" tIns="0" rIns="0" bIns="0" rtlCol="0">
                <a:spAutoFit/>
              </a:bodyPr>
              <a:lstStyle/>
              <a:p>
                <a:r>
                  <a:rPr lang="en-IN" sz="1400" b="1" dirty="0">
                    <a:solidFill>
                      <a:schemeClr val="tx2">
                        <a:lumMod val="75000"/>
                        <a:lumOff val="25000"/>
                      </a:schemeClr>
                    </a:solidFill>
                  </a:rPr>
                  <a:t>XX%</a:t>
                </a:r>
              </a:p>
            </p:txBody>
          </p:sp>
        </p:grpSp>
      </p:grpSp>
      <p:grpSp>
        <p:nvGrpSpPr>
          <p:cNvPr id="100" name="Group 99"/>
          <p:cNvGrpSpPr/>
          <p:nvPr/>
        </p:nvGrpSpPr>
        <p:grpSpPr>
          <a:xfrm>
            <a:off x="3640354" y="1066799"/>
            <a:ext cx="4911292" cy="548640"/>
            <a:chOff x="719353" y="1066799"/>
            <a:chExt cx="4911292" cy="548640"/>
          </a:xfrm>
        </p:grpSpPr>
        <p:sp>
          <p:nvSpPr>
            <p:cNvPr id="49" name="TextBox 48"/>
            <p:cNvSpPr txBox="1"/>
            <p:nvPr/>
          </p:nvSpPr>
          <p:spPr>
            <a:xfrm>
              <a:off x="2181685" y="1195297"/>
              <a:ext cx="1986634" cy="276999"/>
            </a:xfrm>
            <a:prstGeom prst="rect">
              <a:avLst/>
            </a:prstGeom>
            <a:noFill/>
          </p:spPr>
          <p:txBody>
            <a:bodyPr wrap="none" lIns="0" tIns="0" rIns="0" bIns="0" rtlCol="0">
              <a:spAutoFit/>
            </a:bodyPr>
            <a:lstStyle/>
            <a:p>
              <a:pPr algn="ctr"/>
              <a:r>
                <a:rPr lang="en-IN" sz="1800" b="1" dirty="0"/>
                <a:t>Global WXYZ Market</a:t>
              </a:r>
            </a:p>
          </p:txBody>
        </p:sp>
        <p:sp>
          <p:nvSpPr>
            <p:cNvPr id="91" name="Rectangle 90"/>
            <p:cNvSpPr/>
            <p:nvPr/>
          </p:nvSpPr>
          <p:spPr>
            <a:xfrm>
              <a:off x="817562" y="1066799"/>
              <a:ext cx="95250" cy="548640"/>
            </a:xfrm>
            <a:prstGeom prst="rect">
              <a:avLst/>
            </a:prstGeom>
            <a:gradFill flip="none" rotWithShape="1">
              <a:gsLst>
                <a:gs pos="0">
                  <a:srgbClr val="00B0F0">
                    <a:tint val="66000"/>
                    <a:satMod val="160000"/>
                  </a:srgbClr>
                </a:gs>
                <a:gs pos="50000">
                  <a:srgbClr val="00B0F0">
                    <a:tint val="44500"/>
                    <a:satMod val="160000"/>
                  </a:srgbClr>
                </a:gs>
                <a:gs pos="100000">
                  <a:srgbClr val="00B0F0">
                    <a:tint val="23500"/>
                    <a:satMod val="160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95" name="Rectangle 94"/>
            <p:cNvSpPr/>
            <p:nvPr/>
          </p:nvSpPr>
          <p:spPr>
            <a:xfrm>
              <a:off x="5437187" y="1066799"/>
              <a:ext cx="95250" cy="548640"/>
            </a:xfrm>
            <a:prstGeom prst="rect">
              <a:avLst/>
            </a:prstGeom>
            <a:gradFill flip="none" rotWithShape="1">
              <a:gsLst>
                <a:gs pos="0">
                  <a:srgbClr val="00B0F0">
                    <a:tint val="66000"/>
                    <a:satMod val="160000"/>
                  </a:srgbClr>
                </a:gs>
                <a:gs pos="50000">
                  <a:srgbClr val="00B0F0">
                    <a:tint val="44500"/>
                    <a:satMod val="160000"/>
                  </a:srgbClr>
                </a:gs>
                <a:gs pos="100000">
                  <a:srgbClr val="00B0F0">
                    <a:tint val="23500"/>
                    <a:satMod val="160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cxnSp>
          <p:nvCxnSpPr>
            <p:cNvPr id="97" name="Straight Connector 96"/>
            <p:cNvCxnSpPr/>
            <p:nvPr/>
          </p:nvCxnSpPr>
          <p:spPr>
            <a:xfrm>
              <a:off x="719353" y="1504950"/>
              <a:ext cx="4911292" cy="0"/>
            </a:xfrm>
            <a:prstGeom prst="line">
              <a:avLst/>
            </a:prstGeom>
            <a:ln w="19050">
              <a:solidFill>
                <a:srgbClr val="00B0F0"/>
              </a:solidFill>
            </a:ln>
          </p:spPr>
          <p:style>
            <a:lnRef idx="1">
              <a:schemeClr val="accent1"/>
            </a:lnRef>
            <a:fillRef idx="0">
              <a:schemeClr val="accent1"/>
            </a:fillRef>
            <a:effectRef idx="0">
              <a:schemeClr val="accent1"/>
            </a:effectRef>
            <a:fontRef idx="minor">
              <a:schemeClr val="tx1"/>
            </a:fontRef>
          </p:style>
        </p:cxnSp>
      </p:grpSp>
      <p:sp>
        <p:nvSpPr>
          <p:cNvPr id="101" name="Right Brace 100"/>
          <p:cNvSpPr/>
          <p:nvPr/>
        </p:nvSpPr>
        <p:spPr>
          <a:xfrm>
            <a:off x="7130351" y="1943102"/>
            <a:ext cx="226431" cy="3749430"/>
          </a:xfrm>
          <a:prstGeom prst="rightBrace">
            <a:avLst>
              <a:gd name="adj1" fmla="val 141469"/>
              <a:gd name="adj2" fmla="val 50000"/>
            </a:avLst>
          </a:prstGeom>
          <a:ln>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sp>
        <p:nvSpPr>
          <p:cNvPr id="42" name="Footer Placeholder 9"/>
          <p:cNvSpPr txBox="1">
            <a:spLocks/>
          </p:cNvSpPr>
          <p:nvPr/>
        </p:nvSpPr>
        <p:spPr bwMode="gray">
          <a:xfrm>
            <a:off x="152399" y="6220514"/>
            <a:ext cx="1243930" cy="138499"/>
          </a:xfrm>
          <a:prstGeom prst="rect">
            <a:avLst/>
          </a:prstGeom>
        </p:spPr>
        <p:txBody>
          <a:bodyPr wrap="square" lIns="0" tIns="0" rIns="0" bIns="0" anchor="ctr" anchorCtr="0">
            <a:noAutofit/>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IN" sz="900" dirty="0">
                <a:solidFill>
                  <a:prstClr val="black"/>
                </a:solidFill>
                <a:latin typeface="Calibri" panose="020F0502020204030204"/>
              </a:rPr>
              <a:t>Source: TMR Analysis, 2024</a:t>
            </a:r>
            <a:endParaRPr lang="en-US" sz="900" dirty="0">
              <a:solidFill>
                <a:prstClr val="black"/>
              </a:solidFill>
              <a:latin typeface="Calibri" panose="020F0502020204030204"/>
            </a:endParaRPr>
          </a:p>
        </p:txBody>
      </p:sp>
      <p:sp>
        <p:nvSpPr>
          <p:cNvPr id="3" name="Slide Number Placeholder 2"/>
          <p:cNvSpPr>
            <a:spLocks noGrp="1"/>
          </p:cNvSpPr>
          <p:nvPr>
            <p:ph type="sldNum" sz="quarter" idx="4"/>
          </p:nvPr>
        </p:nvSpPr>
        <p:spPr/>
        <p:txBody>
          <a:bodyPr/>
          <a:lstStyle/>
          <a:p>
            <a:fld id="{4B17068C-EB94-40A3-A5F2-664CDD77FDAC}" type="slidenum">
              <a:rPr lang="en-GB" smtClean="0"/>
              <a:pPr/>
              <a:t>8</a:t>
            </a:fld>
            <a:endParaRPr lang="en-GB" dirty="0"/>
          </a:p>
        </p:txBody>
      </p:sp>
    </p:spTree>
    <p:extLst>
      <p:ext uri="{BB962C8B-B14F-4D97-AF65-F5344CB8AC3E}">
        <p14:creationId xmlns:p14="http://schemas.microsoft.com/office/powerpoint/2010/main" val="29571788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02</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02</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Global WXYZ Market Introduction</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9</a:t>
            </a:r>
          </a:p>
        </p:txBody>
      </p:sp>
    </p:spTree>
    <p:extLst>
      <p:ext uri="{BB962C8B-B14F-4D97-AF65-F5344CB8AC3E}">
        <p14:creationId xmlns:p14="http://schemas.microsoft.com/office/powerpoint/2010/main" val="26366814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374171" y="1753045"/>
            <a:ext cx="2286000" cy="1928733"/>
          </a:xfrm>
          <a:prstGeom prst="rect">
            <a:avLst/>
          </a:prstGeom>
          <a:noFill/>
        </p:spPr>
        <p:txBody>
          <a:bodyPr wrap="square" rtlCol="0">
            <a:spAutoFit/>
          </a:bodyPr>
          <a:lstStyle/>
          <a:p>
            <a:pPr marL="228600" indent="-228600">
              <a:spcBef>
                <a:spcPts val="200"/>
              </a:spcBef>
              <a:spcAft>
                <a:spcPts val="200"/>
              </a:spcAft>
              <a:buFont typeface="Wingdings" panose="05000000000000000000" pitchFamily="2" charset="2"/>
              <a:buChar char="ü"/>
            </a:pPr>
            <a:r>
              <a:rPr lang="en-IN" sz="1200" dirty="0"/>
              <a:t>Plasticizers</a:t>
            </a:r>
          </a:p>
          <a:p>
            <a:pPr marL="228600" indent="-228600">
              <a:spcBef>
                <a:spcPts val="200"/>
              </a:spcBef>
              <a:spcAft>
                <a:spcPts val="200"/>
              </a:spcAft>
              <a:buFont typeface="Wingdings" panose="05000000000000000000" pitchFamily="2" charset="2"/>
              <a:buChar char="ü"/>
            </a:pPr>
            <a:r>
              <a:rPr lang="en-IN" sz="1200" dirty="0"/>
              <a:t>Stabilizers</a:t>
            </a:r>
          </a:p>
          <a:p>
            <a:pPr marL="228600" indent="-228600">
              <a:spcBef>
                <a:spcPts val="200"/>
              </a:spcBef>
              <a:spcAft>
                <a:spcPts val="200"/>
              </a:spcAft>
              <a:buFont typeface="Wingdings" panose="05000000000000000000" pitchFamily="2" charset="2"/>
              <a:buChar char="ü"/>
            </a:pPr>
            <a:r>
              <a:rPr lang="en-IN" sz="1200" dirty="0"/>
              <a:t>Flame Retardants</a:t>
            </a:r>
          </a:p>
          <a:p>
            <a:pPr marL="228600" indent="-228600">
              <a:spcBef>
                <a:spcPts val="200"/>
              </a:spcBef>
              <a:spcAft>
                <a:spcPts val="200"/>
              </a:spcAft>
              <a:buFont typeface="Wingdings" panose="05000000000000000000" pitchFamily="2" charset="2"/>
              <a:buChar char="ü"/>
            </a:pPr>
            <a:r>
              <a:rPr lang="en-IN" sz="1200" dirty="0"/>
              <a:t>Impact Modifiers</a:t>
            </a:r>
          </a:p>
          <a:p>
            <a:pPr marL="228600" indent="-228600">
              <a:spcBef>
                <a:spcPts val="200"/>
              </a:spcBef>
              <a:spcAft>
                <a:spcPts val="200"/>
              </a:spcAft>
              <a:buFont typeface="Wingdings" panose="05000000000000000000" pitchFamily="2" charset="2"/>
              <a:buChar char="ü"/>
            </a:pPr>
            <a:r>
              <a:rPr lang="en-IN" sz="1200" dirty="0"/>
              <a:t>Fillers and Thickeners</a:t>
            </a:r>
          </a:p>
          <a:p>
            <a:pPr marL="228600" indent="-228600">
              <a:spcBef>
                <a:spcPts val="200"/>
              </a:spcBef>
              <a:spcAft>
                <a:spcPts val="200"/>
              </a:spcAft>
              <a:buFont typeface="Wingdings" panose="05000000000000000000" pitchFamily="2" charset="2"/>
              <a:buChar char="ü"/>
            </a:pPr>
            <a:r>
              <a:rPr lang="en-IN" sz="1200" dirty="0"/>
              <a:t>Nucleating Agents</a:t>
            </a:r>
          </a:p>
          <a:p>
            <a:pPr marL="228600" indent="-228600">
              <a:spcBef>
                <a:spcPts val="200"/>
              </a:spcBef>
              <a:spcAft>
                <a:spcPts val="200"/>
              </a:spcAft>
              <a:buFont typeface="Wingdings" panose="05000000000000000000" pitchFamily="2" charset="2"/>
              <a:buChar char="ü"/>
            </a:pPr>
            <a:r>
              <a:rPr lang="en-IN" sz="1200" dirty="0"/>
              <a:t>Antioxidants</a:t>
            </a:r>
          </a:p>
          <a:p>
            <a:pPr marL="228600" indent="-228600">
              <a:spcBef>
                <a:spcPts val="200"/>
              </a:spcBef>
              <a:spcAft>
                <a:spcPts val="200"/>
              </a:spcAft>
              <a:buFont typeface="Wingdings" panose="05000000000000000000" pitchFamily="2" charset="2"/>
              <a:buChar char="ü"/>
            </a:pPr>
            <a:r>
              <a:rPr lang="en-IN" sz="1200" dirty="0"/>
              <a:t>Others</a:t>
            </a:r>
          </a:p>
        </p:txBody>
      </p:sp>
      <p:grpSp>
        <p:nvGrpSpPr>
          <p:cNvPr id="2" name="Group 1"/>
          <p:cNvGrpSpPr/>
          <p:nvPr/>
        </p:nvGrpSpPr>
        <p:grpSpPr>
          <a:xfrm>
            <a:off x="449238" y="1316700"/>
            <a:ext cx="2286000" cy="407242"/>
            <a:chOff x="322641" y="1344835"/>
            <a:chExt cx="2286000" cy="407242"/>
          </a:xfrm>
        </p:grpSpPr>
        <p:sp>
          <p:nvSpPr>
            <p:cNvPr id="13" name="TextBox 12"/>
            <p:cNvSpPr txBox="1"/>
            <p:nvPr/>
          </p:nvSpPr>
          <p:spPr>
            <a:xfrm>
              <a:off x="322641" y="1344835"/>
              <a:ext cx="2286000" cy="385042"/>
            </a:xfrm>
            <a:prstGeom prst="rect">
              <a:avLst/>
            </a:prstGeom>
            <a:noFill/>
            <a:scene3d>
              <a:camera prst="orthographicFront"/>
              <a:lightRig rig="threePt" dir="t"/>
            </a:scene3d>
            <a:sp3d>
              <a:bevelT/>
            </a:sp3d>
          </p:spPr>
          <p:txBody>
            <a:bodyPr wrap="square" rtlCol="0">
              <a:spAutoFit/>
            </a:bodyPr>
            <a:lstStyle/>
            <a:p>
              <a:pPr algn="ctr"/>
              <a:r>
                <a:rPr lang="en-IN" dirty="0">
                  <a:solidFill>
                    <a:srgbClr val="91C828"/>
                  </a:solidFill>
                  <a:latin typeface="Copperplate Gothic Light" panose="020E0507020206020404" pitchFamily="34" charset="0"/>
                </a:rPr>
                <a:t>By Additive Type</a:t>
              </a:r>
              <a:endParaRPr lang="en-US" dirty="0">
                <a:solidFill>
                  <a:srgbClr val="91C828"/>
                </a:solidFill>
                <a:latin typeface="Copperplate Gothic Light" panose="020E0507020206020404" pitchFamily="34" charset="0"/>
              </a:endParaRPr>
            </a:p>
          </p:txBody>
        </p:sp>
        <p:cxnSp>
          <p:nvCxnSpPr>
            <p:cNvPr id="15" name="Straight Connector 14"/>
            <p:cNvCxnSpPr/>
            <p:nvPr/>
          </p:nvCxnSpPr>
          <p:spPr>
            <a:xfrm flipH="1">
              <a:off x="322641" y="1752077"/>
              <a:ext cx="2286000" cy="0"/>
            </a:xfrm>
            <a:prstGeom prst="line">
              <a:avLst/>
            </a:prstGeom>
            <a:ln w="28575">
              <a:solidFill>
                <a:srgbClr val="91C828"/>
              </a:solidFill>
            </a:ln>
          </p:spPr>
          <p:style>
            <a:lnRef idx="1">
              <a:schemeClr val="accent1"/>
            </a:lnRef>
            <a:fillRef idx="0">
              <a:schemeClr val="accent1"/>
            </a:fillRef>
            <a:effectRef idx="0">
              <a:schemeClr val="accent1"/>
            </a:effectRef>
            <a:fontRef idx="minor">
              <a:schemeClr val="tx1"/>
            </a:fontRef>
          </p:style>
        </p:cxnSp>
      </p:grpSp>
      <p:sp>
        <p:nvSpPr>
          <p:cNvPr id="24" name="TextBox 23"/>
          <p:cNvSpPr txBox="1"/>
          <p:nvPr/>
        </p:nvSpPr>
        <p:spPr>
          <a:xfrm>
            <a:off x="3390157" y="1753045"/>
            <a:ext cx="2286000" cy="2164695"/>
          </a:xfrm>
          <a:prstGeom prst="rect">
            <a:avLst/>
          </a:prstGeom>
          <a:noFill/>
        </p:spPr>
        <p:txBody>
          <a:bodyPr wrap="square" rtlCol="0">
            <a:spAutoFit/>
          </a:bodyPr>
          <a:lstStyle/>
          <a:p>
            <a:pPr marL="228600" indent="-228600">
              <a:spcBef>
                <a:spcPts val="200"/>
              </a:spcBef>
              <a:spcAft>
                <a:spcPts val="200"/>
              </a:spcAft>
              <a:buFont typeface="Wingdings" panose="05000000000000000000" pitchFamily="2" charset="2"/>
              <a:buChar char="ü"/>
            </a:pPr>
            <a:r>
              <a:rPr lang="en-IN" sz="1200" dirty="0"/>
              <a:t>Polyethylene</a:t>
            </a:r>
          </a:p>
          <a:p>
            <a:pPr marL="228600" indent="-228600">
              <a:spcBef>
                <a:spcPts val="200"/>
              </a:spcBef>
              <a:spcAft>
                <a:spcPts val="200"/>
              </a:spcAft>
              <a:buFont typeface="Wingdings" panose="05000000000000000000" pitchFamily="2" charset="2"/>
              <a:buChar char="ü"/>
            </a:pPr>
            <a:r>
              <a:rPr lang="en-IN" sz="1200" dirty="0"/>
              <a:t>Polypropylene</a:t>
            </a:r>
          </a:p>
          <a:p>
            <a:pPr marL="228600" indent="-228600">
              <a:spcBef>
                <a:spcPts val="200"/>
              </a:spcBef>
              <a:spcAft>
                <a:spcPts val="200"/>
              </a:spcAft>
              <a:buFont typeface="Wingdings" panose="05000000000000000000" pitchFamily="2" charset="2"/>
              <a:buChar char="ü"/>
            </a:pPr>
            <a:r>
              <a:rPr lang="en-IN" sz="1200" dirty="0"/>
              <a:t>Ethylene Vinyl Acetate</a:t>
            </a:r>
          </a:p>
          <a:p>
            <a:pPr marL="228600" indent="-228600">
              <a:spcBef>
                <a:spcPts val="200"/>
              </a:spcBef>
              <a:spcAft>
                <a:spcPts val="200"/>
              </a:spcAft>
              <a:buFont typeface="Wingdings" panose="05000000000000000000" pitchFamily="2" charset="2"/>
              <a:buChar char="ü"/>
            </a:pPr>
            <a:r>
              <a:rPr lang="en-IN" sz="1200" dirty="0"/>
              <a:t>Polyvinyl Chloride (PVC)</a:t>
            </a:r>
          </a:p>
          <a:p>
            <a:pPr marL="228600" indent="-228600">
              <a:spcBef>
                <a:spcPts val="200"/>
              </a:spcBef>
              <a:spcAft>
                <a:spcPts val="200"/>
              </a:spcAft>
              <a:buFont typeface="Wingdings" panose="05000000000000000000" pitchFamily="2" charset="2"/>
              <a:buChar char="ü"/>
            </a:pPr>
            <a:r>
              <a:rPr lang="en-IN" sz="1200" dirty="0"/>
              <a:t>Polystyrene</a:t>
            </a:r>
          </a:p>
          <a:p>
            <a:pPr marL="228600" indent="-228600">
              <a:spcBef>
                <a:spcPts val="200"/>
              </a:spcBef>
              <a:spcAft>
                <a:spcPts val="200"/>
              </a:spcAft>
              <a:buFont typeface="Wingdings" panose="05000000000000000000" pitchFamily="2" charset="2"/>
              <a:buChar char="ü"/>
            </a:pPr>
            <a:r>
              <a:rPr lang="en-IN" sz="1200" dirty="0"/>
              <a:t>Polyethylene Terephthalate</a:t>
            </a:r>
          </a:p>
          <a:p>
            <a:pPr marL="228600" indent="-228600">
              <a:spcBef>
                <a:spcPts val="200"/>
              </a:spcBef>
              <a:spcAft>
                <a:spcPts val="200"/>
              </a:spcAft>
              <a:buFont typeface="Wingdings" panose="05000000000000000000" pitchFamily="2" charset="2"/>
              <a:buChar char="ü"/>
            </a:pPr>
            <a:r>
              <a:rPr lang="en-IN" sz="1200" dirty="0"/>
              <a:t>Engineering Plastic</a:t>
            </a:r>
          </a:p>
          <a:p>
            <a:pPr marL="228600" indent="-228600">
              <a:spcBef>
                <a:spcPts val="200"/>
              </a:spcBef>
              <a:spcAft>
                <a:spcPts val="200"/>
              </a:spcAft>
              <a:buFont typeface="Wingdings" panose="05000000000000000000" pitchFamily="2" charset="2"/>
              <a:buChar char="ü"/>
            </a:pPr>
            <a:r>
              <a:rPr lang="en-IN" sz="1200" dirty="0"/>
              <a:t>Thermosets</a:t>
            </a:r>
          </a:p>
          <a:p>
            <a:pPr marL="228600" indent="-228600">
              <a:spcBef>
                <a:spcPts val="200"/>
              </a:spcBef>
              <a:spcAft>
                <a:spcPts val="200"/>
              </a:spcAft>
              <a:buFont typeface="Wingdings" panose="05000000000000000000" pitchFamily="2" charset="2"/>
              <a:buChar char="ü"/>
            </a:pPr>
            <a:r>
              <a:rPr lang="en-IN" sz="1200" dirty="0"/>
              <a:t>Others</a:t>
            </a:r>
          </a:p>
        </p:txBody>
      </p:sp>
      <p:grpSp>
        <p:nvGrpSpPr>
          <p:cNvPr id="5" name="Group 4"/>
          <p:cNvGrpSpPr/>
          <p:nvPr/>
        </p:nvGrpSpPr>
        <p:grpSpPr>
          <a:xfrm>
            <a:off x="3440202" y="1316700"/>
            <a:ext cx="2286000" cy="407242"/>
            <a:chOff x="3313605" y="1344835"/>
            <a:chExt cx="2286000" cy="407242"/>
          </a:xfrm>
        </p:grpSpPr>
        <p:sp>
          <p:nvSpPr>
            <p:cNvPr id="23" name="TextBox 22"/>
            <p:cNvSpPr txBox="1"/>
            <p:nvPr/>
          </p:nvSpPr>
          <p:spPr>
            <a:xfrm>
              <a:off x="3313605" y="1344835"/>
              <a:ext cx="2286000" cy="385042"/>
            </a:xfrm>
            <a:prstGeom prst="rect">
              <a:avLst/>
            </a:prstGeom>
            <a:noFill/>
            <a:scene3d>
              <a:camera prst="orthographicFront"/>
              <a:lightRig rig="threePt" dir="t"/>
            </a:scene3d>
            <a:sp3d>
              <a:bevelT/>
            </a:sp3d>
          </p:spPr>
          <p:txBody>
            <a:bodyPr wrap="square" rtlCol="0">
              <a:spAutoFit/>
            </a:bodyPr>
            <a:lstStyle/>
            <a:p>
              <a:pPr algn="ctr"/>
              <a:r>
                <a:rPr lang="en-IN" dirty="0">
                  <a:solidFill>
                    <a:srgbClr val="22A3E3"/>
                  </a:solidFill>
                  <a:latin typeface="Copperplate Gothic Light" panose="020E0507020206020404" pitchFamily="34" charset="0"/>
                </a:rPr>
                <a:t>By  Plastic Type</a:t>
              </a:r>
              <a:endParaRPr lang="en-US" dirty="0">
                <a:solidFill>
                  <a:srgbClr val="22A3E3"/>
                </a:solidFill>
                <a:latin typeface="Copperplate Gothic Light" panose="020E0507020206020404" pitchFamily="34" charset="0"/>
              </a:endParaRPr>
            </a:p>
          </p:txBody>
        </p:sp>
        <p:cxnSp>
          <p:nvCxnSpPr>
            <p:cNvPr id="25" name="Straight Connector 24"/>
            <p:cNvCxnSpPr/>
            <p:nvPr/>
          </p:nvCxnSpPr>
          <p:spPr>
            <a:xfrm flipH="1">
              <a:off x="3313605" y="1752077"/>
              <a:ext cx="2286000" cy="0"/>
            </a:xfrm>
            <a:prstGeom prst="line">
              <a:avLst/>
            </a:prstGeom>
            <a:ln w="28575">
              <a:solidFill>
                <a:srgbClr val="22A3E3"/>
              </a:solidFill>
            </a:ln>
          </p:spPr>
          <p:style>
            <a:lnRef idx="1">
              <a:schemeClr val="accent1"/>
            </a:lnRef>
            <a:fillRef idx="0">
              <a:schemeClr val="accent1"/>
            </a:fillRef>
            <a:effectRef idx="0">
              <a:schemeClr val="accent1"/>
            </a:effectRef>
            <a:fontRef idx="minor">
              <a:schemeClr val="tx1"/>
            </a:fontRef>
          </p:style>
        </p:cxnSp>
      </p:grpSp>
      <p:sp>
        <p:nvSpPr>
          <p:cNvPr id="34" name="TextBox 33"/>
          <p:cNvSpPr txBox="1"/>
          <p:nvPr/>
        </p:nvSpPr>
        <p:spPr>
          <a:xfrm>
            <a:off x="6406143" y="1753045"/>
            <a:ext cx="2286000" cy="1220847"/>
          </a:xfrm>
          <a:prstGeom prst="rect">
            <a:avLst/>
          </a:prstGeom>
          <a:noFill/>
        </p:spPr>
        <p:txBody>
          <a:bodyPr wrap="square" rtlCol="0">
            <a:spAutoFit/>
          </a:bodyPr>
          <a:lstStyle/>
          <a:p>
            <a:pPr marL="228600" indent="-228600">
              <a:spcBef>
                <a:spcPts val="200"/>
              </a:spcBef>
              <a:spcAft>
                <a:spcPts val="200"/>
              </a:spcAft>
              <a:buFont typeface="Wingdings" panose="05000000000000000000" pitchFamily="2" charset="2"/>
              <a:buChar char="ü"/>
            </a:pPr>
            <a:r>
              <a:rPr lang="en-US" sz="1200" dirty="0"/>
              <a:t>Packaging</a:t>
            </a:r>
          </a:p>
          <a:p>
            <a:pPr marL="228600" indent="-228600">
              <a:spcBef>
                <a:spcPts val="200"/>
              </a:spcBef>
              <a:spcAft>
                <a:spcPts val="200"/>
              </a:spcAft>
              <a:buFont typeface="Wingdings" panose="05000000000000000000" pitchFamily="2" charset="2"/>
              <a:buChar char="ü"/>
            </a:pPr>
            <a:r>
              <a:rPr lang="en-US" sz="1200" dirty="0"/>
              <a:t>Consumer Goods</a:t>
            </a:r>
          </a:p>
          <a:p>
            <a:pPr marL="228600" indent="-228600">
              <a:spcBef>
                <a:spcPts val="200"/>
              </a:spcBef>
              <a:spcAft>
                <a:spcPts val="200"/>
              </a:spcAft>
              <a:buFont typeface="Wingdings" panose="05000000000000000000" pitchFamily="2" charset="2"/>
              <a:buChar char="ü"/>
            </a:pPr>
            <a:r>
              <a:rPr lang="en-US" sz="1200" dirty="0"/>
              <a:t>Construction</a:t>
            </a:r>
          </a:p>
          <a:p>
            <a:pPr marL="228600" indent="-228600">
              <a:spcBef>
                <a:spcPts val="200"/>
              </a:spcBef>
              <a:spcAft>
                <a:spcPts val="200"/>
              </a:spcAft>
              <a:buFont typeface="Wingdings" panose="05000000000000000000" pitchFamily="2" charset="2"/>
              <a:buChar char="ü"/>
            </a:pPr>
            <a:r>
              <a:rPr lang="en-US" sz="1200" dirty="0"/>
              <a:t>Automotive</a:t>
            </a:r>
          </a:p>
          <a:p>
            <a:pPr marL="228600" indent="-228600">
              <a:spcBef>
                <a:spcPts val="200"/>
              </a:spcBef>
              <a:spcAft>
                <a:spcPts val="200"/>
              </a:spcAft>
              <a:buFont typeface="Wingdings" panose="05000000000000000000" pitchFamily="2" charset="2"/>
              <a:buChar char="ü"/>
            </a:pPr>
            <a:r>
              <a:rPr lang="en-US" sz="1200" dirty="0"/>
              <a:t>Others</a:t>
            </a:r>
          </a:p>
        </p:txBody>
      </p:sp>
      <p:grpSp>
        <p:nvGrpSpPr>
          <p:cNvPr id="7" name="Group 6"/>
          <p:cNvGrpSpPr/>
          <p:nvPr/>
        </p:nvGrpSpPr>
        <p:grpSpPr>
          <a:xfrm>
            <a:off x="6431166" y="1316700"/>
            <a:ext cx="2286000" cy="407242"/>
            <a:chOff x="6304569" y="1344835"/>
            <a:chExt cx="2286000" cy="407242"/>
          </a:xfrm>
        </p:grpSpPr>
        <p:sp>
          <p:nvSpPr>
            <p:cNvPr id="33" name="TextBox 32"/>
            <p:cNvSpPr txBox="1"/>
            <p:nvPr/>
          </p:nvSpPr>
          <p:spPr>
            <a:xfrm>
              <a:off x="6304569" y="1344835"/>
              <a:ext cx="2286000" cy="385042"/>
            </a:xfrm>
            <a:prstGeom prst="rect">
              <a:avLst/>
            </a:prstGeom>
            <a:noFill/>
            <a:scene3d>
              <a:camera prst="orthographicFront"/>
              <a:lightRig rig="threePt" dir="t"/>
            </a:scene3d>
            <a:sp3d>
              <a:bevelT/>
            </a:sp3d>
          </p:spPr>
          <p:txBody>
            <a:bodyPr wrap="square" rtlCol="0">
              <a:spAutoFit/>
            </a:bodyPr>
            <a:lstStyle/>
            <a:p>
              <a:pPr algn="ctr"/>
              <a:r>
                <a:rPr lang="en-IN" dirty="0">
                  <a:solidFill>
                    <a:srgbClr val="E6284E"/>
                  </a:solidFill>
                  <a:latin typeface="Copperplate Gothic Light" panose="020E0507020206020404" pitchFamily="34" charset="0"/>
                </a:rPr>
                <a:t>Application</a:t>
              </a:r>
              <a:endParaRPr lang="en-US" dirty="0">
                <a:solidFill>
                  <a:srgbClr val="E6284E"/>
                </a:solidFill>
                <a:latin typeface="Copperplate Gothic Light" panose="020E0507020206020404" pitchFamily="34" charset="0"/>
              </a:endParaRPr>
            </a:p>
          </p:txBody>
        </p:sp>
        <p:cxnSp>
          <p:nvCxnSpPr>
            <p:cNvPr id="35" name="Straight Connector 34"/>
            <p:cNvCxnSpPr/>
            <p:nvPr/>
          </p:nvCxnSpPr>
          <p:spPr>
            <a:xfrm flipH="1">
              <a:off x="6304569" y="1752077"/>
              <a:ext cx="2286000" cy="0"/>
            </a:xfrm>
            <a:prstGeom prst="line">
              <a:avLst/>
            </a:prstGeom>
            <a:ln w="28575">
              <a:solidFill>
                <a:srgbClr val="E6284E"/>
              </a:solidFill>
            </a:ln>
          </p:spPr>
          <p:style>
            <a:lnRef idx="1">
              <a:schemeClr val="accent1"/>
            </a:lnRef>
            <a:fillRef idx="0">
              <a:schemeClr val="accent1"/>
            </a:fillRef>
            <a:effectRef idx="0">
              <a:schemeClr val="accent1"/>
            </a:effectRef>
            <a:fontRef idx="minor">
              <a:schemeClr val="tx1"/>
            </a:fontRef>
          </p:style>
        </p:cxnSp>
      </p:grpSp>
      <p:sp>
        <p:nvSpPr>
          <p:cNvPr id="40" name="TextBox 39"/>
          <p:cNvSpPr txBox="1"/>
          <p:nvPr/>
        </p:nvSpPr>
        <p:spPr>
          <a:xfrm>
            <a:off x="9422129" y="1753045"/>
            <a:ext cx="2286000" cy="1692771"/>
          </a:xfrm>
          <a:prstGeom prst="rect">
            <a:avLst/>
          </a:prstGeom>
          <a:noFill/>
        </p:spPr>
        <p:txBody>
          <a:bodyPr wrap="square" rtlCol="0">
            <a:spAutoFit/>
          </a:bodyPr>
          <a:lstStyle/>
          <a:p>
            <a:pPr marL="228600" indent="-228600">
              <a:spcBef>
                <a:spcPts val="200"/>
              </a:spcBef>
              <a:spcAft>
                <a:spcPts val="200"/>
              </a:spcAft>
              <a:buFont typeface="Wingdings" panose="05000000000000000000" pitchFamily="2" charset="2"/>
              <a:buChar char="ü"/>
            </a:pPr>
            <a:r>
              <a:rPr lang="en-US" sz="1200" dirty="0"/>
              <a:t>North America</a:t>
            </a:r>
          </a:p>
          <a:p>
            <a:pPr marL="228600" indent="-228600">
              <a:spcBef>
                <a:spcPts val="200"/>
              </a:spcBef>
              <a:spcAft>
                <a:spcPts val="200"/>
              </a:spcAft>
              <a:buFont typeface="Wingdings" panose="05000000000000000000" pitchFamily="2" charset="2"/>
              <a:buChar char="ü"/>
            </a:pPr>
            <a:r>
              <a:rPr lang="en-US" sz="1200" dirty="0"/>
              <a:t>Latin America</a:t>
            </a:r>
          </a:p>
          <a:p>
            <a:pPr marL="228600" indent="-228600">
              <a:spcBef>
                <a:spcPts val="200"/>
              </a:spcBef>
              <a:spcAft>
                <a:spcPts val="200"/>
              </a:spcAft>
              <a:buFont typeface="Wingdings" panose="05000000000000000000" pitchFamily="2" charset="2"/>
              <a:buChar char="ü"/>
            </a:pPr>
            <a:r>
              <a:rPr lang="en-US" sz="1200" dirty="0"/>
              <a:t>Western Europe</a:t>
            </a:r>
          </a:p>
          <a:p>
            <a:pPr marL="228600" indent="-228600">
              <a:spcBef>
                <a:spcPts val="200"/>
              </a:spcBef>
              <a:spcAft>
                <a:spcPts val="200"/>
              </a:spcAft>
              <a:buFont typeface="Wingdings" panose="05000000000000000000" pitchFamily="2" charset="2"/>
              <a:buChar char="ü"/>
            </a:pPr>
            <a:r>
              <a:rPr lang="en-US" sz="1200" dirty="0"/>
              <a:t>Eastern Europe</a:t>
            </a:r>
          </a:p>
          <a:p>
            <a:pPr marL="228600" indent="-228600">
              <a:spcBef>
                <a:spcPts val="200"/>
              </a:spcBef>
              <a:spcAft>
                <a:spcPts val="200"/>
              </a:spcAft>
              <a:buFont typeface="Wingdings" panose="05000000000000000000" pitchFamily="2" charset="2"/>
              <a:buChar char="ü"/>
            </a:pPr>
            <a:r>
              <a:rPr lang="en-US" sz="1200" dirty="0"/>
              <a:t>South </a:t>
            </a:r>
            <a:r>
              <a:rPr lang="en-US" sz="1200"/>
              <a:t>Asia Pacific</a:t>
            </a:r>
            <a:endParaRPr lang="en-US" sz="1200" dirty="0"/>
          </a:p>
          <a:p>
            <a:pPr marL="228600" indent="-228600">
              <a:spcBef>
                <a:spcPts val="200"/>
              </a:spcBef>
              <a:spcAft>
                <a:spcPts val="200"/>
              </a:spcAft>
              <a:buFont typeface="Wingdings" panose="05000000000000000000" pitchFamily="2" charset="2"/>
              <a:buChar char="ü"/>
            </a:pPr>
            <a:r>
              <a:rPr lang="en-US" sz="1200" dirty="0"/>
              <a:t>East Asia</a:t>
            </a:r>
          </a:p>
          <a:p>
            <a:pPr marL="228600" indent="-228600">
              <a:spcBef>
                <a:spcPts val="200"/>
              </a:spcBef>
              <a:spcAft>
                <a:spcPts val="200"/>
              </a:spcAft>
              <a:buFont typeface="Wingdings" panose="05000000000000000000" pitchFamily="2" charset="2"/>
              <a:buChar char="ü"/>
            </a:pPr>
            <a:r>
              <a:rPr lang="en-US" sz="1200" dirty="0"/>
              <a:t>Middle East and Africa</a:t>
            </a:r>
          </a:p>
        </p:txBody>
      </p:sp>
      <p:grpSp>
        <p:nvGrpSpPr>
          <p:cNvPr id="8" name="Group 7"/>
          <p:cNvGrpSpPr/>
          <p:nvPr/>
        </p:nvGrpSpPr>
        <p:grpSpPr>
          <a:xfrm>
            <a:off x="9422130" y="1316700"/>
            <a:ext cx="2286000" cy="407242"/>
            <a:chOff x="9295533" y="1344835"/>
            <a:chExt cx="2286000" cy="407242"/>
          </a:xfrm>
        </p:grpSpPr>
        <p:sp>
          <p:nvSpPr>
            <p:cNvPr id="39" name="TextBox 38"/>
            <p:cNvSpPr txBox="1"/>
            <p:nvPr/>
          </p:nvSpPr>
          <p:spPr>
            <a:xfrm>
              <a:off x="9295533" y="1344835"/>
              <a:ext cx="2286000" cy="385042"/>
            </a:xfrm>
            <a:prstGeom prst="rect">
              <a:avLst/>
            </a:prstGeom>
            <a:noFill/>
            <a:scene3d>
              <a:camera prst="orthographicFront"/>
              <a:lightRig rig="threePt" dir="t"/>
            </a:scene3d>
            <a:sp3d>
              <a:bevelT/>
            </a:sp3d>
          </p:spPr>
          <p:txBody>
            <a:bodyPr wrap="square" rtlCol="0">
              <a:spAutoFit/>
            </a:bodyPr>
            <a:lstStyle/>
            <a:p>
              <a:pPr algn="ctr"/>
              <a:r>
                <a:rPr lang="en-IN" dirty="0">
                  <a:solidFill>
                    <a:schemeClr val="accent5">
                      <a:lumMod val="60000"/>
                      <a:lumOff val="40000"/>
                    </a:schemeClr>
                  </a:solidFill>
                  <a:latin typeface="Copperplate Gothic Light" panose="020E0507020206020404" pitchFamily="34" charset="0"/>
                </a:rPr>
                <a:t>By Region</a:t>
              </a:r>
              <a:endParaRPr lang="en-US" dirty="0">
                <a:solidFill>
                  <a:schemeClr val="accent5">
                    <a:lumMod val="60000"/>
                    <a:lumOff val="40000"/>
                  </a:schemeClr>
                </a:solidFill>
                <a:latin typeface="Copperplate Gothic Light" panose="020E0507020206020404" pitchFamily="34" charset="0"/>
              </a:endParaRPr>
            </a:p>
          </p:txBody>
        </p:sp>
        <p:cxnSp>
          <p:nvCxnSpPr>
            <p:cNvPr id="41" name="Straight Connector 40"/>
            <p:cNvCxnSpPr/>
            <p:nvPr/>
          </p:nvCxnSpPr>
          <p:spPr>
            <a:xfrm flipH="1">
              <a:off x="9295533" y="1752077"/>
              <a:ext cx="2286000" cy="0"/>
            </a:xfrm>
            <a:prstGeom prst="line">
              <a:avLst/>
            </a:prstGeom>
            <a:ln w="28575">
              <a:solidFill>
                <a:schemeClr val="accent5">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22" name="Title 5"/>
          <p:cNvSpPr>
            <a:spLocks noGrp="1"/>
          </p:cNvSpPr>
          <p:nvPr>
            <p:ph type="title"/>
          </p:nvPr>
        </p:nvSpPr>
        <p:spPr/>
        <p:txBody>
          <a:bodyPr/>
          <a:lstStyle/>
          <a:p>
            <a:r>
              <a:rPr lang="en-US" dirty="0"/>
              <a:t>Market Taxonomy – Segment Coverage </a:t>
            </a:r>
          </a:p>
        </p:txBody>
      </p:sp>
      <p:sp>
        <p:nvSpPr>
          <p:cNvPr id="26" name="TextBox 25"/>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
        <p:nvSpPr>
          <p:cNvPr id="3" name="Slide Number Placeholder 2"/>
          <p:cNvSpPr>
            <a:spLocks noGrp="1"/>
          </p:cNvSpPr>
          <p:nvPr>
            <p:ph type="sldNum" sz="quarter" idx="4"/>
          </p:nvPr>
        </p:nvSpPr>
        <p:spPr/>
        <p:txBody>
          <a:bodyPr/>
          <a:lstStyle/>
          <a:p>
            <a:fld id="{4B17068C-EB94-40A3-A5F2-664CDD77FDAC}" type="slidenum">
              <a:rPr lang="en-GB" smtClean="0"/>
              <a:pPr/>
              <a:t>10</a:t>
            </a:fld>
            <a:endParaRPr lang="en-GB" dirty="0"/>
          </a:p>
        </p:txBody>
      </p:sp>
    </p:spTree>
    <p:extLst>
      <p:ext uri="{BB962C8B-B14F-4D97-AF65-F5344CB8AC3E}">
        <p14:creationId xmlns:p14="http://schemas.microsoft.com/office/powerpoint/2010/main" val="339606493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Market Definition : WXYZ (1/4)</a:t>
            </a:r>
          </a:p>
        </p:txBody>
      </p:sp>
      <p:sp>
        <p:nvSpPr>
          <p:cNvPr id="33" name="TextBox 32"/>
          <p:cNvSpPr txBox="1"/>
          <p:nvPr/>
        </p:nvSpPr>
        <p:spPr>
          <a:xfrm>
            <a:off x="195235" y="3444230"/>
            <a:ext cx="1969741" cy="461665"/>
          </a:xfrm>
          <a:prstGeom prst="rect">
            <a:avLst/>
          </a:prstGeom>
          <a:noFill/>
        </p:spPr>
        <p:txBody>
          <a:bodyPr wrap="square" rtlCol="0">
            <a:spAutoFit/>
          </a:bodyPr>
          <a:lstStyle/>
          <a:p>
            <a:pPr algn="ctr"/>
            <a:r>
              <a:rPr lang="en-US" sz="2400" b="1" dirty="0">
                <a:solidFill>
                  <a:srgbClr val="008189"/>
                </a:solidFill>
              </a:rPr>
              <a:t>WXYZ</a:t>
            </a:r>
          </a:p>
        </p:txBody>
      </p:sp>
      <p:sp>
        <p:nvSpPr>
          <p:cNvPr id="35" name="Rounded Rectangle 34"/>
          <p:cNvSpPr/>
          <p:nvPr/>
        </p:nvSpPr>
        <p:spPr>
          <a:xfrm>
            <a:off x="2194560" y="1143000"/>
            <a:ext cx="9845039" cy="5064125"/>
          </a:xfrm>
          <a:prstGeom prst="roundRect">
            <a:avLst>
              <a:gd name="adj" fmla="val 8542"/>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lgn="just">
              <a:buFont typeface="Wingdings" panose="05000000000000000000" pitchFamily="2" charset="2"/>
              <a:buChar char="Ø"/>
            </a:pPr>
            <a:endParaRPr lang="en-US" sz="1400" dirty="0">
              <a:solidFill>
                <a:schemeClr val="tx1"/>
              </a:solidFill>
            </a:endParaRPr>
          </a:p>
          <a:p>
            <a:pPr marL="182880" indent="-182880" algn="just">
              <a:spcBef>
                <a:spcPts val="600"/>
              </a:spcBef>
              <a:spcAft>
                <a:spcPts val="600"/>
              </a:spcAft>
              <a:buFont typeface="Wingdings" panose="05000000000000000000" pitchFamily="2" charset="2"/>
              <a:buChar char="Ø"/>
            </a:pPr>
            <a:r>
              <a:rPr lang="en-US" sz="1400" i="1" dirty="0">
                <a:solidFill>
                  <a:schemeClr val="tx1"/>
                </a:solidFill>
              </a:rPr>
              <a:t>Content</a:t>
            </a:r>
          </a:p>
          <a:p>
            <a:pPr marL="285750" indent="-285750" algn="just">
              <a:buFont typeface="Wingdings" panose="05000000000000000000" pitchFamily="2" charset="2"/>
              <a:buChar char="Ø"/>
            </a:pPr>
            <a:endParaRPr lang="en-US" sz="1400" dirty="0">
              <a:solidFill>
                <a:schemeClr val="tx1"/>
              </a:solidFill>
            </a:endParaRPr>
          </a:p>
        </p:txBody>
      </p:sp>
      <p:sp>
        <p:nvSpPr>
          <p:cNvPr id="6" name="Footer Placeholder 9"/>
          <p:cNvSpPr txBox="1">
            <a:spLocks/>
          </p:cNvSpPr>
          <p:nvPr/>
        </p:nvSpPr>
        <p:spPr bwMode="gray">
          <a:xfrm>
            <a:off x="175731" y="6223983"/>
            <a:ext cx="1222138" cy="136073"/>
          </a:xfrm>
          <a:prstGeom prst="rect">
            <a:avLst/>
          </a:prstGeom>
        </p:spPr>
        <p:txBody>
          <a:bodyPr wrap="square" lIns="0" tIns="0" rIns="0" bIns="0" anchor="ctr" anchorCtr="0">
            <a:noAutofit/>
          </a:bodyP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IN" sz="884" dirty="0">
                <a:solidFill>
                  <a:prstClr val="black"/>
                </a:solidFill>
                <a:latin typeface="Calibri" panose="020F0502020204030204"/>
              </a:rPr>
              <a:t>Source: TMR Analysis, 2024</a:t>
            </a:r>
            <a:endParaRPr lang="en-US" sz="884" dirty="0">
              <a:solidFill>
                <a:prstClr val="black"/>
              </a:solidFill>
              <a:latin typeface="Calibri" panose="020F0502020204030204"/>
            </a:endParaRPr>
          </a:p>
        </p:txBody>
      </p:sp>
      <p:sp>
        <p:nvSpPr>
          <p:cNvPr id="4" name="Slide Number Placeholder 3"/>
          <p:cNvSpPr>
            <a:spLocks noGrp="1"/>
          </p:cNvSpPr>
          <p:nvPr>
            <p:ph type="sldNum" sz="quarter" idx="4"/>
          </p:nvPr>
        </p:nvSpPr>
        <p:spPr/>
        <p:txBody>
          <a:bodyPr/>
          <a:lstStyle/>
          <a:p>
            <a:fld id="{4B17068C-EB94-40A3-A5F2-664CDD77FDAC}" type="slidenum">
              <a:rPr lang="en-GB" smtClean="0"/>
              <a:pPr/>
              <a:t>11</a:t>
            </a:fld>
            <a:endParaRPr lang="en-GB" dirty="0"/>
          </a:p>
        </p:txBody>
      </p:sp>
    </p:spTree>
    <p:extLst>
      <p:ext uri="{BB962C8B-B14F-4D97-AF65-F5344CB8AC3E}">
        <p14:creationId xmlns:p14="http://schemas.microsoft.com/office/powerpoint/2010/main" val="241026409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dirty="0"/>
              <a:t>Competition Coverage – List of Market Participants</a:t>
            </a:r>
            <a:endParaRPr lang="en-US" dirty="0"/>
          </a:p>
        </p:txBody>
      </p:sp>
      <p:graphicFrame>
        <p:nvGraphicFramePr>
          <p:cNvPr id="4" name="Table 3"/>
          <p:cNvGraphicFramePr>
            <a:graphicFrameLocks noGrp="1"/>
          </p:cNvGraphicFramePr>
          <p:nvPr>
            <p:extLst>
              <p:ext uri="{D42A27DB-BD31-4B8C-83A1-F6EECF244321}">
                <p14:modId xmlns:p14="http://schemas.microsoft.com/office/powerpoint/2010/main" val="1260217195"/>
              </p:ext>
            </p:extLst>
          </p:nvPr>
        </p:nvGraphicFramePr>
        <p:xfrm>
          <a:off x="152400" y="1122931"/>
          <a:ext cx="5791200" cy="5084184"/>
        </p:xfrm>
        <a:graphic>
          <a:graphicData uri="http://schemas.openxmlformats.org/drawingml/2006/table">
            <a:tbl>
              <a:tblPr firstRow="1">
                <a:tableStyleId>{5C22544A-7EE6-4342-B048-85BDC9FD1C3A}</a:tableStyleId>
              </a:tblPr>
              <a:tblGrid>
                <a:gridCol w="1291971">
                  <a:extLst>
                    <a:ext uri="{9D8B030D-6E8A-4147-A177-3AD203B41FA5}">
                      <a16:colId xmlns:a16="http://schemas.microsoft.com/office/drawing/2014/main" val="20000"/>
                    </a:ext>
                  </a:extLst>
                </a:gridCol>
                <a:gridCol w="4499229">
                  <a:extLst>
                    <a:ext uri="{9D8B030D-6E8A-4147-A177-3AD203B41FA5}">
                      <a16:colId xmlns:a16="http://schemas.microsoft.com/office/drawing/2014/main" val="20001"/>
                    </a:ext>
                  </a:extLst>
                </a:gridCol>
              </a:tblGrid>
              <a:tr h="242104">
                <a:tc>
                  <a:txBody>
                    <a:bodyPr/>
                    <a:lstStyle/>
                    <a:p>
                      <a:pPr algn="ctr" fontAlgn="b"/>
                      <a:r>
                        <a:rPr lang="en-US" sz="1100" u="none" strike="noStrike" dirty="0">
                          <a:effectLst/>
                          <a:latin typeface="+mn-lt"/>
                        </a:rPr>
                        <a:t>S.No.</a:t>
                      </a:r>
                      <a:endParaRPr lang="en-US" sz="1100" b="0" i="0" u="none" strike="noStrike" dirty="0">
                        <a:solidFill>
                          <a:srgbClr val="000000"/>
                        </a:solidFill>
                        <a:effectLst/>
                        <a:latin typeface="+mn-lt"/>
                      </a:endParaRPr>
                    </a:p>
                  </a:txBody>
                  <a:tcPr marL="9525" marR="9525" marT="9525" marB="0" anchor="ctr"/>
                </a:tc>
                <a:tc>
                  <a:txBody>
                    <a:bodyPr/>
                    <a:lstStyle/>
                    <a:p>
                      <a:pPr algn="ctr" fontAlgn="b"/>
                      <a:r>
                        <a:rPr lang="en-US" sz="1100" u="none" strike="noStrike" dirty="0">
                          <a:effectLst/>
                          <a:latin typeface="+mn-lt"/>
                        </a:rPr>
                        <a:t>Market Participant (Manufacturers)</a:t>
                      </a:r>
                      <a:endParaRPr lang="en-US" sz="1100" b="0"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10000"/>
                  </a:ext>
                </a:extLst>
              </a:tr>
              <a:tr h="242104">
                <a:tc>
                  <a:txBody>
                    <a:bodyPr/>
                    <a:lstStyle/>
                    <a:p>
                      <a:pPr algn="ctr" fontAlgn="b"/>
                      <a:r>
                        <a:rPr lang="en-US" sz="1100" u="none" strike="noStrike" dirty="0">
                          <a:effectLst/>
                          <a:latin typeface="+mn-lt"/>
                        </a:rPr>
                        <a:t>1</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CompanyA</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01"/>
                  </a:ext>
                </a:extLst>
              </a:tr>
              <a:tr h="242104">
                <a:tc>
                  <a:txBody>
                    <a:bodyPr/>
                    <a:lstStyle/>
                    <a:p>
                      <a:pPr algn="ctr" fontAlgn="b"/>
                      <a:r>
                        <a:rPr lang="en-US" sz="1100" u="none" strike="noStrike">
                          <a:effectLst/>
                          <a:latin typeface="+mn-lt"/>
                        </a:rPr>
                        <a:t>2</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a:solidFill>
                            <a:srgbClr val="000000"/>
                          </a:solidFill>
                          <a:effectLst/>
                          <a:latin typeface="+mn-lt"/>
                        </a:rPr>
                        <a:t>CompanyB</a:t>
                      </a:r>
                    </a:p>
                  </a:txBody>
                  <a:tcPr marL="171450" marR="9525" marT="9525" marB="0" anchor="ctr"/>
                </a:tc>
                <a:extLst>
                  <a:ext uri="{0D108BD9-81ED-4DB2-BD59-A6C34878D82A}">
                    <a16:rowId xmlns:a16="http://schemas.microsoft.com/office/drawing/2014/main" val="10002"/>
                  </a:ext>
                </a:extLst>
              </a:tr>
              <a:tr h="242104">
                <a:tc>
                  <a:txBody>
                    <a:bodyPr/>
                    <a:lstStyle/>
                    <a:p>
                      <a:pPr algn="ctr" fontAlgn="b"/>
                      <a:r>
                        <a:rPr lang="en-US" sz="1100" u="none" strike="noStrike">
                          <a:effectLst/>
                          <a:latin typeface="+mn-lt"/>
                        </a:rPr>
                        <a:t>3</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a:solidFill>
                            <a:srgbClr val="000000"/>
                          </a:solidFill>
                          <a:effectLst/>
                          <a:latin typeface="+mn-lt"/>
                        </a:rPr>
                        <a:t>CompanyC</a:t>
                      </a:r>
                    </a:p>
                  </a:txBody>
                  <a:tcPr marL="171450" marR="9525" marT="9525" marB="0" anchor="ctr"/>
                </a:tc>
                <a:extLst>
                  <a:ext uri="{0D108BD9-81ED-4DB2-BD59-A6C34878D82A}">
                    <a16:rowId xmlns:a16="http://schemas.microsoft.com/office/drawing/2014/main" val="10003"/>
                  </a:ext>
                </a:extLst>
              </a:tr>
              <a:tr h="242104">
                <a:tc>
                  <a:txBody>
                    <a:bodyPr/>
                    <a:lstStyle/>
                    <a:p>
                      <a:pPr algn="ctr" fontAlgn="b"/>
                      <a:r>
                        <a:rPr lang="en-US" sz="1100" u="none" strike="noStrike">
                          <a:effectLst/>
                          <a:latin typeface="+mn-lt"/>
                        </a:rPr>
                        <a:t>4</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a:solidFill>
                            <a:srgbClr val="000000"/>
                          </a:solidFill>
                          <a:effectLst/>
                          <a:latin typeface="+mn-lt"/>
                        </a:rPr>
                        <a:t>CompanyD</a:t>
                      </a:r>
                    </a:p>
                  </a:txBody>
                  <a:tcPr marL="171450" marR="9525" marT="9525" marB="0" anchor="ctr"/>
                </a:tc>
                <a:extLst>
                  <a:ext uri="{0D108BD9-81ED-4DB2-BD59-A6C34878D82A}">
                    <a16:rowId xmlns:a16="http://schemas.microsoft.com/office/drawing/2014/main" val="10004"/>
                  </a:ext>
                </a:extLst>
              </a:tr>
              <a:tr h="242104">
                <a:tc>
                  <a:txBody>
                    <a:bodyPr/>
                    <a:lstStyle/>
                    <a:p>
                      <a:pPr algn="ctr" fontAlgn="b"/>
                      <a:r>
                        <a:rPr lang="en-US" sz="1100" u="none" strike="noStrike">
                          <a:effectLst/>
                          <a:latin typeface="+mn-lt"/>
                        </a:rPr>
                        <a:t>5</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a:solidFill>
                            <a:srgbClr val="000000"/>
                          </a:solidFill>
                          <a:effectLst/>
                          <a:latin typeface="+mn-lt"/>
                        </a:rPr>
                        <a:t>CompanyE</a:t>
                      </a:r>
                    </a:p>
                  </a:txBody>
                  <a:tcPr marL="171450" marR="9525" marT="9525" marB="0" anchor="ctr"/>
                </a:tc>
                <a:extLst>
                  <a:ext uri="{0D108BD9-81ED-4DB2-BD59-A6C34878D82A}">
                    <a16:rowId xmlns:a16="http://schemas.microsoft.com/office/drawing/2014/main" val="10005"/>
                  </a:ext>
                </a:extLst>
              </a:tr>
              <a:tr h="242104">
                <a:tc>
                  <a:txBody>
                    <a:bodyPr/>
                    <a:lstStyle/>
                    <a:p>
                      <a:pPr algn="ctr" fontAlgn="b"/>
                      <a:r>
                        <a:rPr lang="en-US" sz="1100" u="none" strike="noStrike">
                          <a:effectLst/>
                          <a:latin typeface="+mn-lt"/>
                        </a:rPr>
                        <a:t>6</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CompanyF</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06"/>
                  </a:ext>
                </a:extLst>
              </a:tr>
              <a:tr h="242104">
                <a:tc>
                  <a:txBody>
                    <a:bodyPr/>
                    <a:lstStyle/>
                    <a:p>
                      <a:pPr algn="ctr" fontAlgn="b"/>
                      <a:r>
                        <a:rPr lang="en-US" sz="1100" u="none" strike="noStrike">
                          <a:effectLst/>
                          <a:latin typeface="+mn-lt"/>
                        </a:rPr>
                        <a:t>7</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CompanyG</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07"/>
                  </a:ext>
                </a:extLst>
              </a:tr>
              <a:tr h="242104">
                <a:tc>
                  <a:txBody>
                    <a:bodyPr/>
                    <a:lstStyle/>
                    <a:p>
                      <a:pPr algn="ctr" fontAlgn="b"/>
                      <a:r>
                        <a:rPr lang="en-US" sz="1100" u="none" strike="noStrike">
                          <a:effectLst/>
                          <a:latin typeface="+mn-lt"/>
                        </a:rPr>
                        <a:t>8</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CompanyH</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08"/>
                  </a:ext>
                </a:extLst>
              </a:tr>
              <a:tr h="242104">
                <a:tc>
                  <a:txBody>
                    <a:bodyPr/>
                    <a:lstStyle/>
                    <a:p>
                      <a:pPr algn="ctr" fontAlgn="b"/>
                      <a:r>
                        <a:rPr lang="en-US" sz="1100" u="none" strike="noStrike">
                          <a:effectLst/>
                          <a:latin typeface="+mn-lt"/>
                        </a:rPr>
                        <a:t>9</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CompanyI</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09"/>
                  </a:ext>
                </a:extLst>
              </a:tr>
              <a:tr h="242104">
                <a:tc>
                  <a:txBody>
                    <a:bodyPr/>
                    <a:lstStyle/>
                    <a:p>
                      <a:pPr algn="ctr" fontAlgn="b"/>
                      <a:r>
                        <a:rPr lang="en-US" sz="1100" u="none" strike="noStrike">
                          <a:effectLst/>
                          <a:latin typeface="+mn-lt"/>
                        </a:rPr>
                        <a:t>10</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CompanyJ</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10"/>
                  </a:ext>
                </a:extLst>
              </a:tr>
              <a:tr h="242104">
                <a:tc>
                  <a:txBody>
                    <a:bodyPr/>
                    <a:lstStyle/>
                    <a:p>
                      <a:pPr algn="ctr" fontAlgn="b"/>
                      <a:r>
                        <a:rPr lang="en-US" sz="1100" u="none" strike="noStrike">
                          <a:effectLst/>
                          <a:latin typeface="+mn-lt"/>
                        </a:rPr>
                        <a:t>11</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CompanyK</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11"/>
                  </a:ext>
                </a:extLst>
              </a:tr>
              <a:tr h="242104">
                <a:tc>
                  <a:txBody>
                    <a:bodyPr/>
                    <a:lstStyle/>
                    <a:p>
                      <a:pPr algn="ctr" fontAlgn="b"/>
                      <a:r>
                        <a:rPr lang="en-US" sz="1100" u="none" strike="noStrike">
                          <a:effectLst/>
                          <a:latin typeface="+mn-lt"/>
                        </a:rPr>
                        <a:t>12</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CompanyL</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12"/>
                  </a:ext>
                </a:extLst>
              </a:tr>
              <a:tr h="242104">
                <a:tc>
                  <a:txBody>
                    <a:bodyPr/>
                    <a:lstStyle/>
                    <a:p>
                      <a:pPr algn="ctr" fontAlgn="b"/>
                      <a:r>
                        <a:rPr lang="en-US" sz="1100" u="none" strike="noStrike">
                          <a:effectLst/>
                          <a:latin typeface="+mn-lt"/>
                        </a:rPr>
                        <a:t>13</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CompanyM</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13"/>
                  </a:ext>
                </a:extLst>
              </a:tr>
              <a:tr h="242104">
                <a:tc>
                  <a:txBody>
                    <a:bodyPr/>
                    <a:lstStyle/>
                    <a:p>
                      <a:pPr algn="ctr" fontAlgn="b"/>
                      <a:r>
                        <a:rPr lang="en-US" sz="1100" u="none" strike="noStrike">
                          <a:effectLst/>
                          <a:latin typeface="+mn-lt"/>
                        </a:rPr>
                        <a:t>14</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CompanyN</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14"/>
                  </a:ext>
                </a:extLst>
              </a:tr>
              <a:tr h="242104">
                <a:tc>
                  <a:txBody>
                    <a:bodyPr/>
                    <a:lstStyle/>
                    <a:p>
                      <a:pPr algn="ctr" fontAlgn="b"/>
                      <a:r>
                        <a:rPr lang="en-US" sz="1100" u="none" strike="noStrike">
                          <a:effectLst/>
                          <a:latin typeface="+mn-lt"/>
                        </a:rPr>
                        <a:t>15</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CompanyO</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15"/>
                  </a:ext>
                </a:extLst>
              </a:tr>
              <a:tr h="242104">
                <a:tc>
                  <a:txBody>
                    <a:bodyPr/>
                    <a:lstStyle/>
                    <a:p>
                      <a:pPr algn="ctr" fontAlgn="b"/>
                      <a:r>
                        <a:rPr lang="en-US" sz="1100" u="none" strike="noStrike">
                          <a:effectLst/>
                          <a:latin typeface="+mn-lt"/>
                        </a:rPr>
                        <a:t>16</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CompanyP</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16"/>
                  </a:ext>
                </a:extLst>
              </a:tr>
              <a:tr h="242104">
                <a:tc>
                  <a:txBody>
                    <a:bodyPr/>
                    <a:lstStyle/>
                    <a:p>
                      <a:pPr algn="ctr" fontAlgn="b"/>
                      <a:r>
                        <a:rPr lang="en-US" sz="1100" u="none" strike="noStrike">
                          <a:effectLst/>
                          <a:latin typeface="+mn-lt"/>
                        </a:rPr>
                        <a:t>17</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CompanyQ</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17"/>
                  </a:ext>
                </a:extLst>
              </a:tr>
              <a:tr h="242104">
                <a:tc>
                  <a:txBody>
                    <a:bodyPr/>
                    <a:lstStyle/>
                    <a:p>
                      <a:pPr algn="ctr" fontAlgn="b"/>
                      <a:r>
                        <a:rPr lang="en-US" sz="1100" u="none" strike="noStrike">
                          <a:effectLst/>
                          <a:latin typeface="+mn-lt"/>
                        </a:rPr>
                        <a:t>18</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CompanyR</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18"/>
                  </a:ext>
                </a:extLst>
              </a:tr>
              <a:tr h="242104">
                <a:tc>
                  <a:txBody>
                    <a:bodyPr/>
                    <a:lstStyle/>
                    <a:p>
                      <a:pPr algn="ctr" fontAlgn="b"/>
                      <a:r>
                        <a:rPr lang="en-US" sz="1100" u="none" strike="noStrike">
                          <a:effectLst/>
                          <a:latin typeface="+mn-lt"/>
                        </a:rPr>
                        <a:t>19</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CompanyS</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19"/>
                  </a:ext>
                </a:extLst>
              </a:tr>
              <a:tr h="242104">
                <a:tc>
                  <a:txBody>
                    <a:bodyPr/>
                    <a:lstStyle/>
                    <a:p>
                      <a:pPr algn="ctr" fontAlgn="b"/>
                      <a:r>
                        <a:rPr lang="en-US" sz="1100" u="none" strike="noStrike">
                          <a:effectLst/>
                          <a:latin typeface="+mn-lt"/>
                        </a:rPr>
                        <a:t>20</a:t>
                      </a:r>
                      <a:endParaRPr lang="en-US" sz="1100" b="0" i="0" u="none" strike="noStrike">
                        <a:solidFill>
                          <a:srgbClr val="000000"/>
                        </a:solidFill>
                        <a:effectLst/>
                        <a:latin typeface="+mn-lt"/>
                      </a:endParaRPr>
                    </a:p>
                  </a:txBody>
                  <a:tcPr marL="9525" marR="9525" marT="9525" marB="0" anchor="ctr"/>
                </a:tc>
                <a:tc>
                  <a:txBody>
                    <a:bodyPr/>
                    <a:lstStyle/>
                    <a:p>
                      <a:pPr algn="ctr" rtl="0" fontAlgn="ctr"/>
                      <a:r>
                        <a:rPr lang="en-IN" sz="1100" b="0" i="0" u="none" strike="noStrike" dirty="0" err="1">
                          <a:solidFill>
                            <a:srgbClr val="000000"/>
                          </a:solidFill>
                          <a:effectLst/>
                          <a:latin typeface="+mn-lt"/>
                        </a:rPr>
                        <a:t>CompanyT</a:t>
                      </a:r>
                      <a:endParaRPr lang="en-IN" sz="1100" b="0" i="0" u="none" strike="noStrike" dirty="0">
                        <a:solidFill>
                          <a:srgbClr val="000000"/>
                        </a:solidFill>
                        <a:effectLst/>
                        <a:latin typeface="+mn-lt"/>
                      </a:endParaRPr>
                    </a:p>
                  </a:txBody>
                  <a:tcPr marL="171450" marR="9525" marT="9525" marB="0" anchor="ctr"/>
                </a:tc>
                <a:extLst>
                  <a:ext uri="{0D108BD9-81ED-4DB2-BD59-A6C34878D82A}">
                    <a16:rowId xmlns:a16="http://schemas.microsoft.com/office/drawing/2014/main" val="10020"/>
                  </a:ext>
                </a:extLst>
              </a:tr>
            </a:tbl>
          </a:graphicData>
        </a:graphic>
      </p:graphicFrame>
      <p:sp>
        <p:nvSpPr>
          <p:cNvPr id="6" name="TextBox 5"/>
          <p:cNvSpPr txBox="1"/>
          <p:nvPr/>
        </p:nvSpPr>
        <p:spPr>
          <a:xfrm>
            <a:off x="6248400" y="5837504"/>
            <a:ext cx="5791200" cy="369332"/>
          </a:xfrm>
          <a:prstGeom prst="rect">
            <a:avLst/>
          </a:prstGeom>
          <a:noFill/>
        </p:spPr>
        <p:txBody>
          <a:bodyPr wrap="square" rtlCol="0">
            <a:spAutoFit/>
          </a:bodyPr>
          <a:lstStyle/>
          <a:p>
            <a:r>
              <a:rPr lang="en-IN" sz="900" b="1" i="1" dirty="0"/>
              <a:t>***Note: </a:t>
            </a:r>
            <a:r>
              <a:rPr lang="en-IN" sz="900" i="1" dirty="0"/>
              <a:t>Company Profiling will be provided for the few prominent companies only. Data for rest will be covered in separate excel file.</a:t>
            </a:r>
            <a:endParaRPr lang="en-US" sz="900" i="1" dirty="0"/>
          </a:p>
        </p:txBody>
      </p:sp>
      <p:sp>
        <p:nvSpPr>
          <p:cNvPr id="7" name="TextBox 6"/>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9" name="Table 8"/>
          <p:cNvGraphicFramePr>
            <a:graphicFrameLocks noGrp="1"/>
          </p:cNvGraphicFramePr>
          <p:nvPr>
            <p:extLst>
              <p:ext uri="{D42A27DB-BD31-4B8C-83A1-F6EECF244321}">
                <p14:modId xmlns:p14="http://schemas.microsoft.com/office/powerpoint/2010/main" val="1779546568"/>
              </p:ext>
            </p:extLst>
          </p:nvPr>
        </p:nvGraphicFramePr>
        <p:xfrm>
          <a:off x="6240181" y="1122923"/>
          <a:ext cx="5799419" cy="4680592"/>
        </p:xfrm>
        <a:graphic>
          <a:graphicData uri="http://schemas.openxmlformats.org/drawingml/2006/table">
            <a:tbl>
              <a:tblPr firstRow="1">
                <a:tableStyleId>{5C22544A-7EE6-4342-B048-85BDC9FD1C3A}</a:tableStyleId>
              </a:tblPr>
              <a:tblGrid>
                <a:gridCol w="1293804">
                  <a:extLst>
                    <a:ext uri="{9D8B030D-6E8A-4147-A177-3AD203B41FA5}">
                      <a16:colId xmlns:a16="http://schemas.microsoft.com/office/drawing/2014/main" val="20000"/>
                    </a:ext>
                  </a:extLst>
                </a:gridCol>
                <a:gridCol w="4505615">
                  <a:extLst>
                    <a:ext uri="{9D8B030D-6E8A-4147-A177-3AD203B41FA5}">
                      <a16:colId xmlns:a16="http://schemas.microsoft.com/office/drawing/2014/main" val="20001"/>
                    </a:ext>
                  </a:extLst>
                </a:gridCol>
              </a:tblGrid>
              <a:tr h="292537">
                <a:tc>
                  <a:txBody>
                    <a:bodyPr/>
                    <a:lstStyle/>
                    <a:p>
                      <a:pPr algn="ctr" fontAlgn="b"/>
                      <a:r>
                        <a:rPr lang="en-US" sz="1100" u="none" strike="noStrike" dirty="0">
                          <a:effectLst/>
                          <a:latin typeface="+mn-lt"/>
                        </a:rPr>
                        <a:t>S.No.</a:t>
                      </a:r>
                      <a:endParaRPr lang="en-US" sz="1100" b="0" i="0" u="none" strike="noStrike" dirty="0">
                        <a:solidFill>
                          <a:srgbClr val="000000"/>
                        </a:solidFill>
                        <a:effectLst/>
                        <a:latin typeface="+mn-lt"/>
                      </a:endParaRPr>
                    </a:p>
                  </a:txBody>
                  <a:tcPr marL="9525" marR="9525" marT="9525" marB="0" anchor="ctr"/>
                </a:tc>
                <a:tc>
                  <a:txBody>
                    <a:bodyPr/>
                    <a:lstStyle/>
                    <a:p>
                      <a:pPr algn="ctr" fontAlgn="b"/>
                      <a:r>
                        <a:rPr lang="en-US" sz="1100" u="none" strike="noStrike" dirty="0">
                          <a:effectLst/>
                          <a:latin typeface="+mn-lt"/>
                        </a:rPr>
                        <a:t>Market Participant (Start-Ups)</a:t>
                      </a:r>
                      <a:endParaRPr lang="en-US" sz="1100" b="0"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10000"/>
                  </a:ext>
                </a:extLst>
              </a:tr>
              <a:tr h="292537">
                <a:tc>
                  <a:txBody>
                    <a:bodyPr/>
                    <a:lstStyle/>
                    <a:p>
                      <a:pPr algn="ctr" fontAlgn="b"/>
                      <a:r>
                        <a:rPr lang="en-US" sz="1100" u="none" strike="noStrike" dirty="0">
                          <a:effectLst/>
                          <a:latin typeface="+mn-lt"/>
                        </a:rPr>
                        <a:t>1</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Company1</a:t>
                      </a:r>
                    </a:p>
                  </a:txBody>
                  <a:tcPr marL="171450" marR="9525" marT="9525" marB="0" anchor="ctr"/>
                </a:tc>
                <a:extLst>
                  <a:ext uri="{0D108BD9-81ED-4DB2-BD59-A6C34878D82A}">
                    <a16:rowId xmlns:a16="http://schemas.microsoft.com/office/drawing/2014/main" val="10001"/>
                  </a:ext>
                </a:extLst>
              </a:tr>
              <a:tr h="292537">
                <a:tc>
                  <a:txBody>
                    <a:bodyPr/>
                    <a:lstStyle/>
                    <a:p>
                      <a:pPr algn="ctr" fontAlgn="b"/>
                      <a:r>
                        <a:rPr lang="en-US" sz="1100" u="none" strike="noStrike" dirty="0">
                          <a:effectLst/>
                          <a:latin typeface="+mn-lt"/>
                        </a:rPr>
                        <a:t>2</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Company2</a:t>
                      </a:r>
                    </a:p>
                  </a:txBody>
                  <a:tcPr marL="171450" marR="9525" marT="9525" marB="0" anchor="ctr"/>
                </a:tc>
                <a:extLst>
                  <a:ext uri="{0D108BD9-81ED-4DB2-BD59-A6C34878D82A}">
                    <a16:rowId xmlns:a16="http://schemas.microsoft.com/office/drawing/2014/main" val="10002"/>
                  </a:ext>
                </a:extLst>
              </a:tr>
              <a:tr h="292537">
                <a:tc>
                  <a:txBody>
                    <a:bodyPr/>
                    <a:lstStyle/>
                    <a:p>
                      <a:pPr algn="ctr" fontAlgn="b"/>
                      <a:r>
                        <a:rPr lang="en-US" sz="1100" u="none" strike="noStrike" dirty="0">
                          <a:effectLst/>
                          <a:latin typeface="+mn-lt"/>
                        </a:rPr>
                        <a:t>3</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Company3</a:t>
                      </a:r>
                    </a:p>
                  </a:txBody>
                  <a:tcPr marL="171450" marR="9525" marT="9525" marB="0" anchor="ctr"/>
                </a:tc>
                <a:extLst>
                  <a:ext uri="{0D108BD9-81ED-4DB2-BD59-A6C34878D82A}">
                    <a16:rowId xmlns:a16="http://schemas.microsoft.com/office/drawing/2014/main" val="10003"/>
                  </a:ext>
                </a:extLst>
              </a:tr>
              <a:tr h="292537">
                <a:tc>
                  <a:txBody>
                    <a:bodyPr/>
                    <a:lstStyle/>
                    <a:p>
                      <a:pPr algn="ctr" fontAlgn="b"/>
                      <a:r>
                        <a:rPr lang="en-US" sz="1100" u="none" strike="noStrike" dirty="0">
                          <a:effectLst/>
                          <a:latin typeface="+mn-lt"/>
                        </a:rPr>
                        <a:t>4</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Company4</a:t>
                      </a:r>
                    </a:p>
                  </a:txBody>
                  <a:tcPr marL="171450" marR="9525" marT="9525" marB="0" anchor="ctr"/>
                </a:tc>
                <a:extLst>
                  <a:ext uri="{0D108BD9-81ED-4DB2-BD59-A6C34878D82A}">
                    <a16:rowId xmlns:a16="http://schemas.microsoft.com/office/drawing/2014/main" val="10004"/>
                  </a:ext>
                </a:extLst>
              </a:tr>
              <a:tr h="292537">
                <a:tc>
                  <a:txBody>
                    <a:bodyPr/>
                    <a:lstStyle/>
                    <a:p>
                      <a:pPr algn="ctr" fontAlgn="b"/>
                      <a:r>
                        <a:rPr lang="en-US" sz="1100" u="none" strike="noStrike" dirty="0">
                          <a:effectLst/>
                          <a:latin typeface="+mn-lt"/>
                        </a:rPr>
                        <a:t>5</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Company5</a:t>
                      </a:r>
                    </a:p>
                  </a:txBody>
                  <a:tcPr marL="171450" marR="9525" marT="9525" marB="0" anchor="ctr"/>
                </a:tc>
                <a:extLst>
                  <a:ext uri="{0D108BD9-81ED-4DB2-BD59-A6C34878D82A}">
                    <a16:rowId xmlns:a16="http://schemas.microsoft.com/office/drawing/2014/main" val="10005"/>
                  </a:ext>
                </a:extLst>
              </a:tr>
              <a:tr h="292537">
                <a:tc>
                  <a:txBody>
                    <a:bodyPr/>
                    <a:lstStyle/>
                    <a:p>
                      <a:pPr algn="ctr" fontAlgn="b"/>
                      <a:r>
                        <a:rPr lang="en-US" sz="1100" u="none" strike="noStrike" dirty="0">
                          <a:effectLst/>
                          <a:latin typeface="+mn-lt"/>
                        </a:rPr>
                        <a:t>6</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Company6</a:t>
                      </a:r>
                    </a:p>
                  </a:txBody>
                  <a:tcPr marL="171450" marR="9525" marT="9525" marB="0" anchor="ctr"/>
                </a:tc>
                <a:extLst>
                  <a:ext uri="{0D108BD9-81ED-4DB2-BD59-A6C34878D82A}">
                    <a16:rowId xmlns:a16="http://schemas.microsoft.com/office/drawing/2014/main" val="10006"/>
                  </a:ext>
                </a:extLst>
              </a:tr>
              <a:tr h="292537">
                <a:tc>
                  <a:txBody>
                    <a:bodyPr/>
                    <a:lstStyle/>
                    <a:p>
                      <a:pPr algn="ctr" fontAlgn="b"/>
                      <a:r>
                        <a:rPr lang="en-US" sz="1100" u="none" strike="noStrike" dirty="0">
                          <a:effectLst/>
                          <a:latin typeface="+mn-lt"/>
                        </a:rPr>
                        <a:t>7</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Company7</a:t>
                      </a:r>
                    </a:p>
                  </a:txBody>
                  <a:tcPr marL="171450" marR="9525" marT="9525" marB="0" anchor="ctr"/>
                </a:tc>
                <a:extLst>
                  <a:ext uri="{0D108BD9-81ED-4DB2-BD59-A6C34878D82A}">
                    <a16:rowId xmlns:a16="http://schemas.microsoft.com/office/drawing/2014/main" val="10007"/>
                  </a:ext>
                </a:extLst>
              </a:tr>
              <a:tr h="292537">
                <a:tc>
                  <a:txBody>
                    <a:bodyPr/>
                    <a:lstStyle/>
                    <a:p>
                      <a:pPr algn="ctr" fontAlgn="b"/>
                      <a:r>
                        <a:rPr lang="en-US" sz="1100" u="none" strike="noStrike" dirty="0">
                          <a:effectLst/>
                          <a:latin typeface="+mn-lt"/>
                        </a:rPr>
                        <a:t>8</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Company8</a:t>
                      </a:r>
                    </a:p>
                  </a:txBody>
                  <a:tcPr marL="171450" marR="9525" marT="9525" marB="0" anchor="ctr"/>
                </a:tc>
                <a:extLst>
                  <a:ext uri="{0D108BD9-81ED-4DB2-BD59-A6C34878D82A}">
                    <a16:rowId xmlns:a16="http://schemas.microsoft.com/office/drawing/2014/main" val="10008"/>
                  </a:ext>
                </a:extLst>
              </a:tr>
              <a:tr h="292537">
                <a:tc>
                  <a:txBody>
                    <a:bodyPr/>
                    <a:lstStyle/>
                    <a:p>
                      <a:pPr algn="ctr" fontAlgn="b"/>
                      <a:r>
                        <a:rPr lang="en-US" sz="1100" u="none" strike="noStrike" dirty="0">
                          <a:effectLst/>
                          <a:latin typeface="+mn-lt"/>
                        </a:rPr>
                        <a:t>9</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Company9</a:t>
                      </a:r>
                    </a:p>
                  </a:txBody>
                  <a:tcPr marL="171450" marR="9525" marT="9525" marB="0" anchor="ctr"/>
                </a:tc>
                <a:extLst>
                  <a:ext uri="{0D108BD9-81ED-4DB2-BD59-A6C34878D82A}">
                    <a16:rowId xmlns:a16="http://schemas.microsoft.com/office/drawing/2014/main" val="10009"/>
                  </a:ext>
                </a:extLst>
              </a:tr>
              <a:tr h="292537">
                <a:tc>
                  <a:txBody>
                    <a:bodyPr/>
                    <a:lstStyle/>
                    <a:p>
                      <a:pPr algn="ctr" fontAlgn="b"/>
                      <a:r>
                        <a:rPr lang="en-US" sz="1100" u="none" strike="noStrike" dirty="0">
                          <a:effectLst/>
                          <a:latin typeface="+mn-lt"/>
                        </a:rPr>
                        <a:t>10</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Company10</a:t>
                      </a:r>
                    </a:p>
                  </a:txBody>
                  <a:tcPr marL="171450" marR="9525" marT="9525" marB="0" anchor="ctr"/>
                </a:tc>
                <a:extLst>
                  <a:ext uri="{0D108BD9-81ED-4DB2-BD59-A6C34878D82A}">
                    <a16:rowId xmlns:a16="http://schemas.microsoft.com/office/drawing/2014/main" val="10010"/>
                  </a:ext>
                </a:extLst>
              </a:tr>
              <a:tr h="292537">
                <a:tc>
                  <a:txBody>
                    <a:bodyPr/>
                    <a:lstStyle/>
                    <a:p>
                      <a:pPr algn="ctr" fontAlgn="b"/>
                      <a:r>
                        <a:rPr lang="en-US" sz="1100" u="none" strike="noStrike" dirty="0">
                          <a:effectLst/>
                          <a:latin typeface="+mn-lt"/>
                        </a:rPr>
                        <a:t>11</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Company11</a:t>
                      </a:r>
                    </a:p>
                  </a:txBody>
                  <a:tcPr marL="171450" marR="9525" marT="9525" marB="0" anchor="ctr"/>
                </a:tc>
                <a:extLst>
                  <a:ext uri="{0D108BD9-81ED-4DB2-BD59-A6C34878D82A}">
                    <a16:rowId xmlns:a16="http://schemas.microsoft.com/office/drawing/2014/main" val="10011"/>
                  </a:ext>
                </a:extLst>
              </a:tr>
              <a:tr h="292537">
                <a:tc>
                  <a:txBody>
                    <a:bodyPr/>
                    <a:lstStyle/>
                    <a:p>
                      <a:pPr algn="ctr" fontAlgn="b"/>
                      <a:r>
                        <a:rPr lang="en-US" sz="1100" u="none" strike="noStrike" dirty="0">
                          <a:effectLst/>
                          <a:latin typeface="+mn-lt"/>
                        </a:rPr>
                        <a:t>12</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Company12</a:t>
                      </a:r>
                    </a:p>
                  </a:txBody>
                  <a:tcPr marL="171450" marR="9525" marT="9525" marB="0" anchor="ctr"/>
                </a:tc>
                <a:extLst>
                  <a:ext uri="{0D108BD9-81ED-4DB2-BD59-A6C34878D82A}">
                    <a16:rowId xmlns:a16="http://schemas.microsoft.com/office/drawing/2014/main" val="10012"/>
                  </a:ext>
                </a:extLst>
              </a:tr>
              <a:tr h="292537">
                <a:tc>
                  <a:txBody>
                    <a:bodyPr/>
                    <a:lstStyle/>
                    <a:p>
                      <a:pPr algn="ctr" fontAlgn="b"/>
                      <a:r>
                        <a:rPr lang="en-US" sz="1100" u="none" strike="noStrike" dirty="0">
                          <a:effectLst/>
                          <a:latin typeface="+mn-lt"/>
                        </a:rPr>
                        <a:t>13</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Company13</a:t>
                      </a:r>
                    </a:p>
                  </a:txBody>
                  <a:tcPr marL="171450" marR="9525" marT="9525" marB="0" anchor="ctr"/>
                </a:tc>
                <a:extLst>
                  <a:ext uri="{0D108BD9-81ED-4DB2-BD59-A6C34878D82A}">
                    <a16:rowId xmlns:a16="http://schemas.microsoft.com/office/drawing/2014/main" val="10013"/>
                  </a:ext>
                </a:extLst>
              </a:tr>
              <a:tr h="292537">
                <a:tc>
                  <a:txBody>
                    <a:bodyPr/>
                    <a:lstStyle/>
                    <a:p>
                      <a:pPr algn="ctr" fontAlgn="b"/>
                      <a:r>
                        <a:rPr lang="en-US" sz="1100" u="none" strike="noStrike" dirty="0">
                          <a:effectLst/>
                          <a:latin typeface="+mn-lt"/>
                        </a:rPr>
                        <a:t>14</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Company14</a:t>
                      </a:r>
                    </a:p>
                  </a:txBody>
                  <a:tcPr marL="171450" marR="9525" marT="9525" marB="0" anchor="ctr"/>
                </a:tc>
                <a:extLst>
                  <a:ext uri="{0D108BD9-81ED-4DB2-BD59-A6C34878D82A}">
                    <a16:rowId xmlns:a16="http://schemas.microsoft.com/office/drawing/2014/main" val="10014"/>
                  </a:ext>
                </a:extLst>
              </a:tr>
              <a:tr h="292537">
                <a:tc>
                  <a:txBody>
                    <a:bodyPr/>
                    <a:lstStyle/>
                    <a:p>
                      <a:pPr algn="ctr" fontAlgn="b"/>
                      <a:r>
                        <a:rPr lang="en-US" sz="1100" u="none" strike="noStrike" dirty="0">
                          <a:effectLst/>
                          <a:latin typeface="+mn-lt"/>
                        </a:rPr>
                        <a:t>15</a:t>
                      </a:r>
                      <a:endParaRPr lang="en-US" sz="1100" b="0" i="0" u="none" strike="noStrike" dirty="0">
                        <a:solidFill>
                          <a:srgbClr val="000000"/>
                        </a:solidFill>
                        <a:effectLst/>
                        <a:latin typeface="+mn-lt"/>
                      </a:endParaRPr>
                    </a:p>
                  </a:txBody>
                  <a:tcPr marL="9525" marR="9525" marT="9525" marB="0" anchor="ctr"/>
                </a:tc>
                <a:tc>
                  <a:txBody>
                    <a:bodyPr/>
                    <a:lstStyle/>
                    <a:p>
                      <a:pPr algn="ctr" rtl="0" fontAlgn="ctr"/>
                      <a:r>
                        <a:rPr lang="en-IN" sz="1100" b="0" i="0" u="none" strike="noStrike" dirty="0">
                          <a:solidFill>
                            <a:srgbClr val="000000"/>
                          </a:solidFill>
                          <a:effectLst/>
                          <a:latin typeface="+mn-lt"/>
                        </a:rPr>
                        <a:t>Company15</a:t>
                      </a:r>
                    </a:p>
                  </a:txBody>
                  <a:tcPr marL="171450" marR="9525" marT="9525" marB="0" anchor="ctr"/>
                </a:tc>
                <a:extLst>
                  <a:ext uri="{0D108BD9-81ED-4DB2-BD59-A6C34878D82A}">
                    <a16:rowId xmlns:a16="http://schemas.microsoft.com/office/drawing/2014/main" val="10015"/>
                  </a:ext>
                </a:extLst>
              </a:tr>
            </a:tbl>
          </a:graphicData>
        </a:graphic>
      </p:graphicFrame>
      <p:sp>
        <p:nvSpPr>
          <p:cNvPr id="5" name="Slide Number Placeholder 4"/>
          <p:cNvSpPr>
            <a:spLocks noGrp="1"/>
          </p:cNvSpPr>
          <p:nvPr>
            <p:ph type="sldNum" sz="quarter" idx="4"/>
          </p:nvPr>
        </p:nvSpPr>
        <p:spPr/>
        <p:txBody>
          <a:bodyPr/>
          <a:lstStyle/>
          <a:p>
            <a:fld id="{4B17068C-EB94-40A3-A5F2-664CDD77FDAC}" type="slidenum">
              <a:rPr lang="en-GB" smtClean="0"/>
              <a:pPr/>
              <a:t>12</a:t>
            </a:fld>
            <a:endParaRPr lang="en-GB" dirty="0"/>
          </a:p>
        </p:txBody>
      </p:sp>
    </p:spTree>
    <p:extLst>
      <p:ext uri="{BB962C8B-B14F-4D97-AF65-F5344CB8AC3E}">
        <p14:creationId xmlns:p14="http://schemas.microsoft.com/office/powerpoint/2010/main" val="363911330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03</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03</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Key Market Trends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13</a:t>
            </a:r>
          </a:p>
        </p:txBody>
      </p:sp>
    </p:spTree>
    <p:extLst>
      <p:ext uri="{BB962C8B-B14F-4D97-AF65-F5344CB8AC3E}">
        <p14:creationId xmlns:p14="http://schemas.microsoft.com/office/powerpoint/2010/main" val="412756575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nb-NO"/>
              <a:t>Market Dynamics : Trend (1/2)</a:t>
            </a:r>
            <a:endParaRPr lang="en-US" dirty="0"/>
          </a:p>
        </p:txBody>
      </p:sp>
      <p:sp>
        <p:nvSpPr>
          <p:cNvPr id="2" name="Slide Number Placeholder 1"/>
          <p:cNvSpPr>
            <a:spLocks noGrp="1"/>
          </p:cNvSpPr>
          <p:nvPr>
            <p:ph type="sldNum" sz="quarter" idx="4"/>
          </p:nvPr>
        </p:nvSpPr>
        <p:spPr/>
        <p:txBody>
          <a:bodyPr/>
          <a:lstStyle/>
          <a:p>
            <a:fld id="{4B17068C-EB94-40A3-A5F2-664CDD77FDAC}" type="slidenum">
              <a:rPr lang="en-GB" smtClean="0"/>
              <a:pPr/>
              <a:t>14</a:t>
            </a:fld>
            <a:endParaRPr lang="en-GB" dirty="0"/>
          </a:p>
        </p:txBody>
      </p:sp>
      <p:sp>
        <p:nvSpPr>
          <p:cNvPr id="6" name="Freeform 5"/>
          <p:cNvSpPr/>
          <p:nvPr/>
        </p:nvSpPr>
        <p:spPr>
          <a:xfrm>
            <a:off x="1089660" y="1745283"/>
            <a:ext cx="9952995" cy="734251"/>
          </a:xfrm>
          <a:custGeom>
            <a:avLst/>
            <a:gdLst>
              <a:gd name="connsiteX0" fmla="*/ 0 w 5638800"/>
              <a:gd name="connsiteY0" fmla="*/ 482600 h 482600"/>
              <a:gd name="connsiteX1" fmla="*/ 5638800 w 5638800"/>
              <a:gd name="connsiteY1" fmla="*/ 482600 h 482600"/>
              <a:gd name="connsiteX2" fmla="*/ 5638800 w 5638800"/>
              <a:gd name="connsiteY2" fmla="*/ 0 h 482600"/>
            </a:gdLst>
            <a:ahLst/>
            <a:cxnLst>
              <a:cxn ang="0">
                <a:pos x="connsiteX0" y="connsiteY0"/>
              </a:cxn>
              <a:cxn ang="0">
                <a:pos x="connsiteX1" y="connsiteY1"/>
              </a:cxn>
              <a:cxn ang="0">
                <a:pos x="connsiteX2" y="connsiteY2"/>
              </a:cxn>
            </a:cxnLst>
            <a:rect l="l" t="t" r="r" b="b"/>
            <a:pathLst>
              <a:path w="5638800" h="482600">
                <a:moveTo>
                  <a:pt x="0" y="482600"/>
                </a:moveTo>
                <a:lnTo>
                  <a:pt x="5638800" y="482600"/>
                </a:lnTo>
                <a:lnTo>
                  <a:pt x="5638800" y="0"/>
                </a:lnTo>
              </a:path>
            </a:pathLst>
          </a:custGeom>
          <a:noFill/>
          <a:ln w="762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IN" dirty="0"/>
              <a:t>0</a:t>
            </a:r>
          </a:p>
        </p:txBody>
      </p:sp>
      <p:sp>
        <p:nvSpPr>
          <p:cNvPr id="7" name="Rounded Rectangle 6"/>
          <p:cNvSpPr/>
          <p:nvPr/>
        </p:nvSpPr>
        <p:spPr>
          <a:xfrm>
            <a:off x="681807" y="2701752"/>
            <a:ext cx="9593336" cy="3435182"/>
          </a:xfrm>
          <a:prstGeom prst="roundRect">
            <a:avLst>
              <a:gd name="adj" fmla="val 7500"/>
            </a:avLst>
          </a:prstGeom>
          <a:solidFill>
            <a:schemeClr val="bg1"/>
          </a:solidFill>
          <a:ln w="9525" cmpd="dbl">
            <a:solidFill>
              <a:schemeClr val="bg1"/>
            </a:solidFill>
          </a:ln>
          <a:effectLst>
            <a:outerShdw blurRad="63500" sx="102000" sy="102000" algn="ctr"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lIns="274320" rIns="274320" rtlCol="0" anchor="ctr" anchorCtr="0"/>
          <a:lstStyle>
            <a:defPPr>
              <a:defRPr lang="de-DE"/>
            </a:defPPr>
            <a:lvl1pPr algn="l" defTabSz="957263" rtl="0" fontAlgn="base">
              <a:spcBef>
                <a:spcPct val="0"/>
              </a:spcBef>
              <a:spcAft>
                <a:spcPct val="0"/>
              </a:spcAft>
              <a:defRPr sz="1900" kern="1200">
                <a:solidFill>
                  <a:schemeClr val="lt1"/>
                </a:solidFill>
                <a:latin typeface="+mn-lt"/>
                <a:ea typeface="+mn-ea"/>
                <a:cs typeface="+mn-cs"/>
              </a:defRPr>
            </a:lvl1pPr>
            <a:lvl2pPr marL="477838" indent="-20638" algn="l" defTabSz="957263" rtl="0" fontAlgn="base">
              <a:spcBef>
                <a:spcPct val="0"/>
              </a:spcBef>
              <a:spcAft>
                <a:spcPct val="0"/>
              </a:spcAft>
              <a:defRPr sz="1900" kern="1200">
                <a:solidFill>
                  <a:schemeClr val="lt1"/>
                </a:solidFill>
                <a:latin typeface="+mn-lt"/>
                <a:ea typeface="+mn-ea"/>
                <a:cs typeface="+mn-cs"/>
              </a:defRPr>
            </a:lvl2pPr>
            <a:lvl3pPr marL="957263" indent="-42863" algn="l" defTabSz="957263" rtl="0" fontAlgn="base">
              <a:spcBef>
                <a:spcPct val="0"/>
              </a:spcBef>
              <a:spcAft>
                <a:spcPct val="0"/>
              </a:spcAft>
              <a:defRPr sz="1900" kern="1200">
                <a:solidFill>
                  <a:schemeClr val="lt1"/>
                </a:solidFill>
                <a:latin typeface="+mn-lt"/>
                <a:ea typeface="+mn-ea"/>
                <a:cs typeface="+mn-cs"/>
              </a:defRPr>
            </a:lvl3pPr>
            <a:lvl4pPr marL="1435100" indent="-63500" algn="l" defTabSz="957263" rtl="0" fontAlgn="base">
              <a:spcBef>
                <a:spcPct val="0"/>
              </a:spcBef>
              <a:spcAft>
                <a:spcPct val="0"/>
              </a:spcAft>
              <a:defRPr sz="1900" kern="1200">
                <a:solidFill>
                  <a:schemeClr val="lt1"/>
                </a:solidFill>
                <a:latin typeface="+mn-lt"/>
                <a:ea typeface="+mn-ea"/>
                <a:cs typeface="+mn-cs"/>
              </a:defRPr>
            </a:lvl4pPr>
            <a:lvl5pPr marL="1914525" indent="-85725" algn="l" defTabSz="957263" rtl="0" fontAlgn="base">
              <a:spcBef>
                <a:spcPct val="0"/>
              </a:spcBef>
              <a:spcAft>
                <a:spcPct val="0"/>
              </a:spcAft>
              <a:defRPr sz="1900" kern="1200">
                <a:solidFill>
                  <a:schemeClr val="lt1"/>
                </a:solidFill>
                <a:latin typeface="+mn-lt"/>
                <a:ea typeface="+mn-ea"/>
                <a:cs typeface="+mn-cs"/>
              </a:defRPr>
            </a:lvl5pPr>
            <a:lvl6pPr marL="2286000" algn="l" defTabSz="914400" rtl="0" eaLnBrk="1" latinLnBrk="0" hangingPunct="1">
              <a:defRPr sz="1900" kern="1200">
                <a:solidFill>
                  <a:schemeClr val="lt1"/>
                </a:solidFill>
                <a:latin typeface="+mn-lt"/>
                <a:ea typeface="+mn-ea"/>
                <a:cs typeface="+mn-cs"/>
              </a:defRPr>
            </a:lvl6pPr>
            <a:lvl7pPr marL="2743200" algn="l" defTabSz="914400" rtl="0" eaLnBrk="1" latinLnBrk="0" hangingPunct="1">
              <a:defRPr sz="1900" kern="1200">
                <a:solidFill>
                  <a:schemeClr val="lt1"/>
                </a:solidFill>
                <a:latin typeface="+mn-lt"/>
                <a:ea typeface="+mn-ea"/>
                <a:cs typeface="+mn-cs"/>
              </a:defRPr>
            </a:lvl7pPr>
            <a:lvl8pPr marL="3200400" algn="l" defTabSz="914400" rtl="0" eaLnBrk="1" latinLnBrk="0" hangingPunct="1">
              <a:defRPr sz="1900" kern="1200">
                <a:solidFill>
                  <a:schemeClr val="lt1"/>
                </a:solidFill>
                <a:latin typeface="+mn-lt"/>
                <a:ea typeface="+mn-ea"/>
                <a:cs typeface="+mn-cs"/>
              </a:defRPr>
            </a:lvl8pPr>
            <a:lvl9pPr marL="3657600" algn="l" defTabSz="914400" rtl="0" eaLnBrk="1" latinLnBrk="0" hangingPunct="1">
              <a:defRPr sz="1900" kern="1200">
                <a:solidFill>
                  <a:schemeClr val="lt1"/>
                </a:solidFill>
                <a:latin typeface="+mn-lt"/>
                <a:ea typeface="+mn-ea"/>
                <a:cs typeface="+mn-cs"/>
              </a:defRPr>
            </a:lvl9pPr>
          </a:lstStyle>
          <a:p>
            <a:pPr marL="285750" lvl="0" indent="-285750" algn="just">
              <a:buFont typeface="Wingdings" panose="05000000000000000000" pitchFamily="2" charset="2"/>
              <a:buChar char="q"/>
            </a:pPr>
            <a:r>
              <a:rPr lang="en-US" sz="1600" i="1" dirty="0">
                <a:solidFill>
                  <a:schemeClr val="tx2">
                    <a:lumMod val="85000"/>
                    <a:lumOff val="15000"/>
                  </a:schemeClr>
                </a:solidFill>
              </a:rPr>
              <a:t>Content</a:t>
            </a:r>
          </a:p>
        </p:txBody>
      </p:sp>
      <p:grpSp>
        <p:nvGrpSpPr>
          <p:cNvPr id="8" name="Group 7"/>
          <p:cNvGrpSpPr/>
          <p:nvPr/>
        </p:nvGrpSpPr>
        <p:grpSpPr>
          <a:xfrm>
            <a:off x="207010" y="1084550"/>
            <a:ext cx="1248410" cy="1494946"/>
            <a:chOff x="5696849" y="1389033"/>
            <a:chExt cx="1137445" cy="1494946"/>
          </a:xfrm>
        </p:grpSpPr>
        <p:sp>
          <p:nvSpPr>
            <p:cNvPr id="9" name="Freeform 8"/>
            <p:cNvSpPr/>
            <p:nvPr/>
          </p:nvSpPr>
          <p:spPr>
            <a:xfrm>
              <a:off x="5696849" y="1389033"/>
              <a:ext cx="774267" cy="731042"/>
            </a:xfrm>
            <a:custGeom>
              <a:avLst/>
              <a:gdLst>
                <a:gd name="connsiteX0" fmla="*/ 0 w 793750"/>
                <a:gd name="connsiteY0" fmla="*/ 787400 h 803275"/>
                <a:gd name="connsiteX1" fmla="*/ 476250 w 793750"/>
                <a:gd name="connsiteY1" fmla="*/ 0 h 803275"/>
                <a:gd name="connsiteX2" fmla="*/ 793750 w 793750"/>
                <a:gd name="connsiteY2" fmla="*/ 6350 h 803275"/>
                <a:gd name="connsiteX3" fmla="*/ 317500 w 793750"/>
                <a:gd name="connsiteY3" fmla="*/ 803275 h 803275"/>
                <a:gd name="connsiteX4" fmla="*/ 0 w 793750"/>
                <a:gd name="connsiteY4" fmla="*/ 787400 h 803275"/>
                <a:gd name="connsiteX0" fmla="*/ 0 w 796131"/>
                <a:gd name="connsiteY0" fmla="*/ 808831 h 808831"/>
                <a:gd name="connsiteX1" fmla="*/ 478631 w 796131"/>
                <a:gd name="connsiteY1" fmla="*/ 0 h 808831"/>
                <a:gd name="connsiteX2" fmla="*/ 796131 w 796131"/>
                <a:gd name="connsiteY2" fmla="*/ 6350 h 808831"/>
                <a:gd name="connsiteX3" fmla="*/ 319881 w 796131"/>
                <a:gd name="connsiteY3" fmla="*/ 803275 h 808831"/>
                <a:gd name="connsiteX4" fmla="*/ 0 w 796131"/>
                <a:gd name="connsiteY4" fmla="*/ 808831 h 808831"/>
                <a:gd name="connsiteX0" fmla="*/ 0 w 796131"/>
                <a:gd name="connsiteY0" fmla="*/ 808831 h 808831"/>
                <a:gd name="connsiteX1" fmla="*/ 478631 w 796131"/>
                <a:gd name="connsiteY1" fmla="*/ 0 h 808831"/>
                <a:gd name="connsiteX2" fmla="*/ 796131 w 796131"/>
                <a:gd name="connsiteY2" fmla="*/ 6350 h 808831"/>
                <a:gd name="connsiteX3" fmla="*/ 338931 w 796131"/>
                <a:gd name="connsiteY3" fmla="*/ 808037 h 808831"/>
                <a:gd name="connsiteX4" fmla="*/ 0 w 796131"/>
                <a:gd name="connsiteY4" fmla="*/ 808831 h 808831"/>
                <a:gd name="connsiteX0" fmla="*/ 0 w 788988"/>
                <a:gd name="connsiteY0" fmla="*/ 808831 h 808831"/>
                <a:gd name="connsiteX1" fmla="*/ 478631 w 788988"/>
                <a:gd name="connsiteY1" fmla="*/ 0 h 808831"/>
                <a:gd name="connsiteX2" fmla="*/ 788988 w 788988"/>
                <a:gd name="connsiteY2" fmla="*/ 1587 h 808831"/>
                <a:gd name="connsiteX3" fmla="*/ 338931 w 788988"/>
                <a:gd name="connsiteY3" fmla="*/ 808037 h 808831"/>
                <a:gd name="connsiteX4" fmla="*/ 0 w 788988"/>
                <a:gd name="connsiteY4" fmla="*/ 808831 h 808831"/>
                <a:gd name="connsiteX0" fmla="*/ 0 w 798694"/>
                <a:gd name="connsiteY0" fmla="*/ 808831 h 808831"/>
                <a:gd name="connsiteX1" fmla="*/ 478631 w 798694"/>
                <a:gd name="connsiteY1" fmla="*/ 0 h 808831"/>
                <a:gd name="connsiteX2" fmla="*/ 798694 w 798694"/>
                <a:gd name="connsiteY2" fmla="*/ 6489 h 808831"/>
                <a:gd name="connsiteX3" fmla="*/ 338931 w 798694"/>
                <a:gd name="connsiteY3" fmla="*/ 808037 h 808831"/>
                <a:gd name="connsiteX4" fmla="*/ 0 w 798694"/>
                <a:gd name="connsiteY4" fmla="*/ 808831 h 808831"/>
                <a:gd name="connsiteX0" fmla="*/ 0 w 788988"/>
                <a:gd name="connsiteY0" fmla="*/ 808831 h 808831"/>
                <a:gd name="connsiteX1" fmla="*/ 478631 w 788988"/>
                <a:gd name="connsiteY1" fmla="*/ 0 h 808831"/>
                <a:gd name="connsiteX2" fmla="*/ 788988 w 788988"/>
                <a:gd name="connsiteY2" fmla="*/ 70215 h 808831"/>
                <a:gd name="connsiteX3" fmla="*/ 338931 w 788988"/>
                <a:gd name="connsiteY3" fmla="*/ 808037 h 808831"/>
                <a:gd name="connsiteX4" fmla="*/ 0 w 788988"/>
                <a:gd name="connsiteY4" fmla="*/ 808831 h 808831"/>
                <a:gd name="connsiteX0" fmla="*/ 0 w 788988"/>
                <a:gd name="connsiteY0" fmla="*/ 762262 h 762262"/>
                <a:gd name="connsiteX1" fmla="*/ 483484 w 788988"/>
                <a:gd name="connsiteY1" fmla="*/ 0 h 762262"/>
                <a:gd name="connsiteX2" fmla="*/ 788988 w 788988"/>
                <a:gd name="connsiteY2" fmla="*/ 23646 h 762262"/>
                <a:gd name="connsiteX3" fmla="*/ 338931 w 788988"/>
                <a:gd name="connsiteY3" fmla="*/ 761468 h 762262"/>
                <a:gd name="connsiteX4" fmla="*/ 0 w 788988"/>
                <a:gd name="connsiteY4" fmla="*/ 762262 h 762262"/>
                <a:gd name="connsiteX0" fmla="*/ 0 w 788988"/>
                <a:gd name="connsiteY0" fmla="*/ 752458 h 752458"/>
                <a:gd name="connsiteX1" fmla="*/ 483484 w 788988"/>
                <a:gd name="connsiteY1" fmla="*/ 0 h 752458"/>
                <a:gd name="connsiteX2" fmla="*/ 788988 w 788988"/>
                <a:gd name="connsiteY2" fmla="*/ 13842 h 752458"/>
                <a:gd name="connsiteX3" fmla="*/ 338931 w 788988"/>
                <a:gd name="connsiteY3" fmla="*/ 751664 h 752458"/>
                <a:gd name="connsiteX4" fmla="*/ 0 w 788988"/>
                <a:gd name="connsiteY4" fmla="*/ 752458 h 752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988" h="752458">
                  <a:moveTo>
                    <a:pt x="0" y="752458"/>
                  </a:moveTo>
                  <a:lnTo>
                    <a:pt x="483484" y="0"/>
                  </a:lnTo>
                  <a:lnTo>
                    <a:pt x="788988" y="13842"/>
                  </a:lnTo>
                  <a:lnTo>
                    <a:pt x="338931" y="751664"/>
                  </a:lnTo>
                  <a:lnTo>
                    <a:pt x="0" y="752458"/>
                  </a:lnTo>
                  <a:close/>
                </a:path>
              </a:pathLst>
            </a:custGeom>
            <a:solidFill>
              <a:schemeClr val="bg1">
                <a:lumMod val="65000"/>
              </a:schemeClr>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dirty="0"/>
            </a:p>
          </p:txBody>
        </p:sp>
        <p:sp>
          <p:nvSpPr>
            <p:cNvPr id="10" name="Freeform 9"/>
            <p:cNvSpPr/>
            <p:nvPr/>
          </p:nvSpPr>
          <p:spPr>
            <a:xfrm>
              <a:off x="5697426" y="2114835"/>
              <a:ext cx="773113" cy="769144"/>
            </a:xfrm>
            <a:custGeom>
              <a:avLst/>
              <a:gdLst>
                <a:gd name="connsiteX0" fmla="*/ 768350 w 768350"/>
                <a:gd name="connsiteY0" fmla="*/ 762000 h 762000"/>
                <a:gd name="connsiteX1" fmla="*/ 469900 w 768350"/>
                <a:gd name="connsiteY1" fmla="*/ 755650 h 762000"/>
                <a:gd name="connsiteX2" fmla="*/ 0 w 768350"/>
                <a:gd name="connsiteY2" fmla="*/ 3175 h 762000"/>
                <a:gd name="connsiteX3" fmla="*/ 336550 w 768350"/>
                <a:gd name="connsiteY3" fmla="*/ 0 h 762000"/>
                <a:gd name="connsiteX4" fmla="*/ 768350 w 768350"/>
                <a:gd name="connsiteY4" fmla="*/ 762000 h 762000"/>
                <a:gd name="connsiteX0" fmla="*/ 773113 w 773113"/>
                <a:gd name="connsiteY0" fmla="*/ 768350 h 768350"/>
                <a:gd name="connsiteX1" fmla="*/ 474663 w 773113"/>
                <a:gd name="connsiteY1" fmla="*/ 762000 h 768350"/>
                <a:gd name="connsiteX2" fmla="*/ 0 w 773113"/>
                <a:gd name="connsiteY2" fmla="*/ 0 h 768350"/>
                <a:gd name="connsiteX3" fmla="*/ 341313 w 773113"/>
                <a:gd name="connsiteY3" fmla="*/ 6350 h 768350"/>
                <a:gd name="connsiteX4" fmla="*/ 773113 w 773113"/>
                <a:gd name="connsiteY4" fmla="*/ 768350 h 768350"/>
                <a:gd name="connsiteX0" fmla="*/ 773113 w 773113"/>
                <a:gd name="connsiteY0" fmla="*/ 769144 h 769144"/>
                <a:gd name="connsiteX1" fmla="*/ 474663 w 773113"/>
                <a:gd name="connsiteY1" fmla="*/ 762794 h 769144"/>
                <a:gd name="connsiteX2" fmla="*/ 0 w 773113"/>
                <a:gd name="connsiteY2" fmla="*/ 794 h 769144"/>
                <a:gd name="connsiteX3" fmla="*/ 341313 w 773113"/>
                <a:gd name="connsiteY3" fmla="*/ 0 h 769144"/>
                <a:gd name="connsiteX4" fmla="*/ 773113 w 773113"/>
                <a:gd name="connsiteY4" fmla="*/ 769144 h 769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113" h="769144">
                  <a:moveTo>
                    <a:pt x="773113" y="769144"/>
                  </a:moveTo>
                  <a:lnTo>
                    <a:pt x="474663" y="762794"/>
                  </a:lnTo>
                  <a:lnTo>
                    <a:pt x="0" y="794"/>
                  </a:lnTo>
                  <a:lnTo>
                    <a:pt x="341313" y="0"/>
                  </a:lnTo>
                  <a:lnTo>
                    <a:pt x="773113" y="769144"/>
                  </a:lnTo>
                  <a:close/>
                </a:path>
              </a:pathLst>
            </a:custGeom>
            <a:solidFill>
              <a:schemeClr val="bg1">
                <a:lumMod val="65000"/>
              </a:schemeClr>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dirty="0"/>
            </a:p>
          </p:txBody>
        </p:sp>
        <p:sp>
          <p:nvSpPr>
            <p:cNvPr id="11" name="Freeform 10"/>
            <p:cNvSpPr/>
            <p:nvPr/>
          </p:nvSpPr>
          <p:spPr>
            <a:xfrm>
              <a:off x="6129444" y="1548574"/>
              <a:ext cx="704850" cy="1190625"/>
            </a:xfrm>
            <a:custGeom>
              <a:avLst/>
              <a:gdLst>
                <a:gd name="connsiteX0" fmla="*/ 366712 w 704850"/>
                <a:gd name="connsiteY0" fmla="*/ 0 h 1190625"/>
                <a:gd name="connsiteX1" fmla="*/ 0 w 704850"/>
                <a:gd name="connsiteY1" fmla="*/ 585788 h 1190625"/>
                <a:gd name="connsiteX2" fmla="*/ 371475 w 704850"/>
                <a:gd name="connsiteY2" fmla="*/ 1190625 h 1190625"/>
                <a:gd name="connsiteX3" fmla="*/ 704850 w 704850"/>
                <a:gd name="connsiteY3" fmla="*/ 566738 h 1190625"/>
                <a:gd name="connsiteX4" fmla="*/ 366712 w 704850"/>
                <a:gd name="connsiteY4" fmla="*/ 0 h 119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850" h="1190625">
                  <a:moveTo>
                    <a:pt x="366712" y="0"/>
                  </a:moveTo>
                  <a:lnTo>
                    <a:pt x="0" y="585788"/>
                  </a:lnTo>
                  <a:lnTo>
                    <a:pt x="371475" y="1190625"/>
                  </a:lnTo>
                  <a:lnTo>
                    <a:pt x="704850" y="566738"/>
                  </a:lnTo>
                  <a:lnTo>
                    <a:pt x="366712" y="0"/>
                  </a:lnTo>
                  <a:close/>
                </a:path>
              </a:pathLst>
            </a:custGeom>
            <a:noFill/>
            <a:ln w="762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2400" b="1" dirty="0">
                  <a:solidFill>
                    <a:schemeClr val="tx1"/>
                  </a:solidFill>
                  <a:latin typeface="Franklin Gothic Book" panose="020B0503020102020204" pitchFamily="34" charset="0"/>
                </a:rPr>
                <a:t>T</a:t>
              </a:r>
              <a:endParaRPr lang="en-IN" sz="2400" b="1" dirty="0">
                <a:solidFill>
                  <a:schemeClr val="tx1"/>
                </a:solidFill>
                <a:latin typeface="Franklin Gothic Book" panose="020B0503020102020204" pitchFamily="34" charset="0"/>
              </a:endParaRPr>
            </a:p>
          </p:txBody>
        </p:sp>
      </p:grpSp>
      <p:sp>
        <p:nvSpPr>
          <p:cNvPr id="12" name="TextBox 29"/>
          <p:cNvSpPr txBox="1"/>
          <p:nvPr/>
        </p:nvSpPr>
        <p:spPr>
          <a:xfrm>
            <a:off x="1530342" y="2061916"/>
            <a:ext cx="8629431" cy="369332"/>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b="1" i="1" dirty="0">
                <a:solidFill>
                  <a:srgbClr val="00B0F0"/>
                </a:solidFill>
              </a:rPr>
              <a:t>Trend 1</a:t>
            </a:r>
          </a:p>
        </p:txBody>
      </p:sp>
      <p:grpSp>
        <p:nvGrpSpPr>
          <p:cNvPr id="13" name="Group 12"/>
          <p:cNvGrpSpPr/>
          <p:nvPr/>
        </p:nvGrpSpPr>
        <p:grpSpPr>
          <a:xfrm>
            <a:off x="10682231" y="2955004"/>
            <a:ext cx="1120820" cy="2442337"/>
            <a:chOff x="4093668" y="1642733"/>
            <a:chExt cx="790318" cy="2007420"/>
          </a:xfrm>
        </p:grpSpPr>
        <p:grpSp>
          <p:nvGrpSpPr>
            <p:cNvPr id="14" name="Group 13"/>
            <p:cNvGrpSpPr/>
            <p:nvPr/>
          </p:nvGrpSpPr>
          <p:grpSpPr>
            <a:xfrm>
              <a:off x="4207359" y="1642733"/>
              <a:ext cx="584807" cy="1754220"/>
              <a:chOff x="8133659" y="1916796"/>
              <a:chExt cx="708667" cy="3286667"/>
            </a:xfrm>
          </p:grpSpPr>
          <p:cxnSp>
            <p:nvCxnSpPr>
              <p:cNvPr id="16" name="Straight Connector 15"/>
              <p:cNvCxnSpPr/>
              <p:nvPr/>
            </p:nvCxnSpPr>
            <p:spPr>
              <a:xfrm>
                <a:off x="8338458" y="2345938"/>
                <a:ext cx="0" cy="2459127"/>
              </a:xfrm>
              <a:prstGeom prst="line">
                <a:avLst/>
              </a:prstGeom>
              <a:noFill/>
              <a:ln w="28575" cap="flat" cmpd="sng" algn="ctr">
                <a:solidFill>
                  <a:sysClr val="window" lastClr="FFFFFF">
                    <a:lumMod val="75000"/>
                  </a:sysClr>
                </a:solidFill>
                <a:prstDash val="solid"/>
                <a:miter lim="800000"/>
              </a:ln>
              <a:effectLst/>
            </p:spPr>
          </p:cxnSp>
          <p:sp>
            <p:nvSpPr>
              <p:cNvPr id="17" name="Rectangle 16"/>
              <p:cNvSpPr/>
              <p:nvPr/>
            </p:nvSpPr>
            <p:spPr>
              <a:xfrm rot="16200000">
                <a:off x="7298372" y="3447313"/>
                <a:ext cx="2459127" cy="234605"/>
              </a:xfrm>
              <a:prstGeom prst="rect">
                <a:avLst/>
              </a:prstGeom>
              <a:gradFill>
                <a:gsLst>
                  <a:gs pos="65000">
                    <a:srgbClr val="FFC000"/>
                  </a:gs>
                  <a:gs pos="25000">
                    <a:srgbClr val="51652D">
                      <a:lumMod val="60000"/>
                      <a:lumOff val="40000"/>
                    </a:srgbClr>
                  </a:gs>
                </a:gsLst>
                <a:lin ang="10800000" scaled="0"/>
              </a:gradFill>
              <a:ln w="12700" cap="flat" cmpd="sng" algn="ctr">
                <a:solidFill>
                  <a:sysClr val="window" lastClr="FFFFFF"/>
                </a:solid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endParaRPr lang="en-GB" sz="2400" kern="0" dirty="0">
                  <a:solidFill>
                    <a:prstClr val="white"/>
                  </a:solidFill>
                </a:endParaRPr>
              </a:p>
            </p:txBody>
          </p:sp>
          <p:sp>
            <p:nvSpPr>
              <p:cNvPr id="18" name="TextBox 27"/>
              <p:cNvSpPr txBox="1"/>
              <p:nvPr/>
            </p:nvSpPr>
            <p:spPr>
              <a:xfrm>
                <a:off x="8303862" y="1916796"/>
                <a:ext cx="538464" cy="402864"/>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GB" sz="1100" kern="0" dirty="0">
                    <a:solidFill>
                      <a:prstClr val="black"/>
                    </a:solidFill>
                  </a:rPr>
                  <a:t>High</a:t>
                </a:r>
              </a:p>
            </p:txBody>
          </p:sp>
          <p:sp>
            <p:nvSpPr>
              <p:cNvPr id="19" name="TextBox 28"/>
              <p:cNvSpPr txBox="1"/>
              <p:nvPr/>
            </p:nvSpPr>
            <p:spPr>
              <a:xfrm>
                <a:off x="8316686" y="4800599"/>
                <a:ext cx="507384" cy="402864"/>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GB" sz="1100" kern="0" dirty="0">
                    <a:solidFill>
                      <a:prstClr val="black"/>
                    </a:solidFill>
                  </a:rPr>
                  <a:t>Low</a:t>
                </a:r>
              </a:p>
            </p:txBody>
          </p:sp>
          <p:sp>
            <p:nvSpPr>
              <p:cNvPr id="20" name="Flowchart: Merge 19"/>
              <p:cNvSpPr/>
              <p:nvPr/>
            </p:nvSpPr>
            <p:spPr>
              <a:xfrm rot="16200000">
                <a:off x="8105877" y="3193059"/>
                <a:ext cx="292611" cy="237047"/>
              </a:xfrm>
              <a:prstGeom prst="flowChartMerge">
                <a:avLst/>
              </a:prstGeom>
              <a:solidFill>
                <a:sysClr val="window" lastClr="FFFFFF">
                  <a:lumMod val="50000"/>
                </a:sysClr>
              </a:solidFill>
              <a:ln w="12700" cap="flat" cmpd="sng" algn="ctr">
                <a:solidFill>
                  <a:sysClr val="window" lastClr="FFFFFF"/>
                </a:solid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endParaRPr lang="en-US" kern="0" dirty="0">
                  <a:solidFill>
                    <a:prstClr val="white"/>
                  </a:solidFill>
                </a:endParaRPr>
              </a:p>
            </p:txBody>
          </p:sp>
        </p:grpSp>
        <p:sp>
          <p:nvSpPr>
            <p:cNvPr id="15" name="TextBox 24"/>
            <p:cNvSpPr txBox="1"/>
            <p:nvPr/>
          </p:nvSpPr>
          <p:spPr>
            <a:xfrm>
              <a:off x="4093668" y="3435129"/>
              <a:ext cx="790318" cy="215024"/>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GB" sz="1100" kern="0" dirty="0">
                  <a:solidFill>
                    <a:prstClr val="black"/>
                  </a:solidFill>
                </a:rPr>
                <a:t>  Level of Impact</a:t>
              </a:r>
            </a:p>
          </p:txBody>
        </p:sp>
      </p:grpSp>
      <p:sp>
        <p:nvSpPr>
          <p:cNvPr id="23" name="TextBox 2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Tree>
    <p:extLst>
      <p:ext uri="{BB962C8B-B14F-4D97-AF65-F5344CB8AC3E}">
        <p14:creationId xmlns:p14="http://schemas.microsoft.com/office/powerpoint/2010/main" val="17830147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04</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04</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Key Success Factors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15</a:t>
            </a:r>
          </a:p>
        </p:txBody>
      </p:sp>
    </p:spTree>
    <p:extLst>
      <p:ext uri="{BB962C8B-B14F-4D97-AF65-F5344CB8AC3E}">
        <p14:creationId xmlns:p14="http://schemas.microsoft.com/office/powerpoint/2010/main" val="8542788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Freeform 36"/>
          <p:cNvSpPr/>
          <p:nvPr/>
        </p:nvSpPr>
        <p:spPr>
          <a:xfrm>
            <a:off x="6666232" y="3313069"/>
            <a:ext cx="4286250" cy="609600"/>
          </a:xfrm>
          <a:custGeom>
            <a:avLst/>
            <a:gdLst>
              <a:gd name="connsiteX0" fmla="*/ 305454 w 4286250"/>
              <a:gd name="connsiteY0" fmla="*/ 0 h 609600"/>
              <a:gd name="connsiteX1" fmla="*/ 1334154 w 4286250"/>
              <a:gd name="connsiteY1" fmla="*/ 0 h 609600"/>
              <a:gd name="connsiteX2" fmla="*/ 1593196 w 4286250"/>
              <a:gd name="connsiteY2" fmla="*/ 0 h 609600"/>
              <a:gd name="connsiteX3" fmla="*/ 2621896 w 4286250"/>
              <a:gd name="connsiteY3" fmla="*/ 0 h 609600"/>
              <a:gd name="connsiteX4" fmla="*/ 2657475 w 4286250"/>
              <a:gd name="connsiteY4" fmla="*/ 3579 h 609600"/>
              <a:gd name="connsiteX5" fmla="*/ 2693054 w 4286250"/>
              <a:gd name="connsiteY5" fmla="*/ 0 h 609600"/>
              <a:gd name="connsiteX6" fmla="*/ 3980796 w 4286250"/>
              <a:gd name="connsiteY6" fmla="*/ 0 h 609600"/>
              <a:gd name="connsiteX7" fmla="*/ 4286250 w 4286250"/>
              <a:gd name="connsiteY7" fmla="*/ 304800 h 609600"/>
              <a:gd name="connsiteX8" fmla="*/ 3980796 w 4286250"/>
              <a:gd name="connsiteY8" fmla="*/ 609600 h 609600"/>
              <a:gd name="connsiteX9" fmla="*/ 2693054 w 4286250"/>
              <a:gd name="connsiteY9" fmla="*/ 609600 h 609600"/>
              <a:gd name="connsiteX10" fmla="*/ 2657475 w 4286250"/>
              <a:gd name="connsiteY10" fmla="*/ 606021 h 609600"/>
              <a:gd name="connsiteX11" fmla="*/ 2621896 w 4286250"/>
              <a:gd name="connsiteY11" fmla="*/ 609600 h 609600"/>
              <a:gd name="connsiteX12" fmla="*/ 1593196 w 4286250"/>
              <a:gd name="connsiteY12" fmla="*/ 609600 h 609600"/>
              <a:gd name="connsiteX13" fmla="*/ 1334154 w 4286250"/>
              <a:gd name="connsiteY13" fmla="*/ 609600 h 609600"/>
              <a:gd name="connsiteX14" fmla="*/ 305454 w 4286250"/>
              <a:gd name="connsiteY14" fmla="*/ 609600 h 609600"/>
              <a:gd name="connsiteX15" fmla="*/ 0 w 4286250"/>
              <a:gd name="connsiteY15" fmla="*/ 304800 h 609600"/>
              <a:gd name="connsiteX16" fmla="*/ 305454 w 4286250"/>
              <a:gd name="connsiteY16" fmla="*/ 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6250" h="609600">
                <a:moveTo>
                  <a:pt x="305454" y="0"/>
                </a:moveTo>
                <a:lnTo>
                  <a:pt x="1334154" y="0"/>
                </a:lnTo>
                <a:lnTo>
                  <a:pt x="1593196" y="0"/>
                </a:lnTo>
                <a:lnTo>
                  <a:pt x="2621896" y="0"/>
                </a:lnTo>
                <a:lnTo>
                  <a:pt x="2657475" y="3579"/>
                </a:lnTo>
                <a:lnTo>
                  <a:pt x="2693054" y="0"/>
                </a:lnTo>
                <a:lnTo>
                  <a:pt x="3980796" y="0"/>
                </a:lnTo>
                <a:cubicBezTo>
                  <a:pt x="4149477" y="0"/>
                  <a:pt x="4286250" y="136455"/>
                  <a:pt x="4286250" y="304800"/>
                </a:cubicBezTo>
                <a:cubicBezTo>
                  <a:pt x="4286250" y="473146"/>
                  <a:pt x="4149477" y="609600"/>
                  <a:pt x="3980796" y="609600"/>
                </a:cubicBezTo>
                <a:lnTo>
                  <a:pt x="2693054" y="609600"/>
                </a:lnTo>
                <a:lnTo>
                  <a:pt x="2657475" y="606021"/>
                </a:lnTo>
                <a:lnTo>
                  <a:pt x="2621896" y="609600"/>
                </a:lnTo>
                <a:lnTo>
                  <a:pt x="1593196" y="609600"/>
                </a:lnTo>
                <a:lnTo>
                  <a:pt x="1334154" y="609600"/>
                </a:lnTo>
                <a:lnTo>
                  <a:pt x="305454" y="609600"/>
                </a:lnTo>
                <a:cubicBezTo>
                  <a:pt x="136773" y="609600"/>
                  <a:pt x="0" y="473146"/>
                  <a:pt x="0" y="304800"/>
                </a:cubicBezTo>
                <a:cubicBezTo>
                  <a:pt x="0" y="136455"/>
                  <a:pt x="136773" y="0"/>
                  <a:pt x="305454" y="0"/>
                </a:cubicBezTo>
                <a:close/>
              </a:path>
            </a:pathLst>
          </a:custGeom>
          <a:solidFill>
            <a:schemeClr val="accent1">
              <a:alpha val="65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2000"/>
          </a:p>
        </p:txBody>
      </p:sp>
      <p:sp>
        <p:nvSpPr>
          <p:cNvPr id="38" name="Flowchart: Terminator 37"/>
          <p:cNvSpPr/>
          <p:nvPr/>
        </p:nvSpPr>
        <p:spPr>
          <a:xfrm rot="16200000">
            <a:off x="6910879" y="3449990"/>
            <a:ext cx="947737" cy="311945"/>
          </a:xfrm>
          <a:prstGeom prst="flowChartTerminator">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2000"/>
          </a:p>
        </p:txBody>
      </p:sp>
      <p:sp>
        <p:nvSpPr>
          <p:cNvPr id="39" name="Flowchart: Terminator 38"/>
          <p:cNvSpPr/>
          <p:nvPr/>
        </p:nvSpPr>
        <p:spPr>
          <a:xfrm rot="16200000">
            <a:off x="7180986" y="3310523"/>
            <a:ext cx="397668" cy="193212"/>
          </a:xfrm>
          <a:prstGeom prst="flowChartTerminator">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2000"/>
          </a:p>
        </p:txBody>
      </p:sp>
      <p:grpSp>
        <p:nvGrpSpPr>
          <p:cNvPr id="40" name="Group 39"/>
          <p:cNvGrpSpPr/>
          <p:nvPr/>
        </p:nvGrpSpPr>
        <p:grpSpPr>
          <a:xfrm>
            <a:off x="7610394" y="3207498"/>
            <a:ext cx="233308" cy="807246"/>
            <a:chOff x="5068492" y="3005136"/>
            <a:chExt cx="311945" cy="947737"/>
          </a:xfrm>
        </p:grpSpPr>
        <p:sp>
          <p:nvSpPr>
            <p:cNvPr id="41" name="Flowchart: Terminator 40"/>
            <p:cNvSpPr/>
            <p:nvPr/>
          </p:nvSpPr>
          <p:spPr>
            <a:xfrm rot="16200000">
              <a:off x="4750596" y="3323032"/>
              <a:ext cx="947737" cy="311945"/>
            </a:xfrm>
            <a:prstGeom prst="flowChartTerminator">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2000"/>
            </a:p>
          </p:txBody>
        </p:sp>
        <p:sp>
          <p:nvSpPr>
            <p:cNvPr id="42" name="Flowchart: Terminator 41"/>
            <p:cNvSpPr/>
            <p:nvPr/>
          </p:nvSpPr>
          <p:spPr>
            <a:xfrm rot="16200000">
              <a:off x="5020704" y="3183566"/>
              <a:ext cx="397668" cy="193212"/>
            </a:xfrm>
            <a:prstGeom prst="flowChartTerminator">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2000"/>
            </a:p>
          </p:txBody>
        </p:sp>
      </p:grpSp>
      <p:sp>
        <p:nvSpPr>
          <p:cNvPr id="43" name="Rectangle 42"/>
          <p:cNvSpPr/>
          <p:nvPr/>
        </p:nvSpPr>
        <p:spPr>
          <a:xfrm>
            <a:off x="9412608" y="2839201"/>
            <a:ext cx="185737" cy="469106"/>
          </a:xfrm>
          <a:prstGeom prst="rect">
            <a:avLst/>
          </a:prstGeom>
          <a:solidFill>
            <a:srgbClr val="757678"/>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2000"/>
          </a:p>
        </p:txBody>
      </p:sp>
      <p:sp>
        <p:nvSpPr>
          <p:cNvPr id="44" name="Rectangle 43"/>
          <p:cNvSpPr/>
          <p:nvPr/>
        </p:nvSpPr>
        <p:spPr>
          <a:xfrm>
            <a:off x="9710265" y="2686801"/>
            <a:ext cx="185737" cy="621507"/>
          </a:xfrm>
          <a:prstGeom prst="rect">
            <a:avLst/>
          </a:prstGeom>
          <a:solidFill>
            <a:srgbClr val="757678"/>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2000"/>
          </a:p>
        </p:txBody>
      </p:sp>
      <p:sp>
        <p:nvSpPr>
          <p:cNvPr id="45" name="Rectangle 44"/>
          <p:cNvSpPr/>
          <p:nvPr/>
        </p:nvSpPr>
        <p:spPr>
          <a:xfrm>
            <a:off x="9984109" y="2384383"/>
            <a:ext cx="185737" cy="923925"/>
          </a:xfrm>
          <a:prstGeom prst="rect">
            <a:avLst/>
          </a:prstGeom>
          <a:solidFill>
            <a:srgbClr val="757678"/>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2000"/>
          </a:p>
        </p:txBody>
      </p:sp>
      <p:sp>
        <p:nvSpPr>
          <p:cNvPr id="46" name="Rectangle 45"/>
          <p:cNvSpPr/>
          <p:nvPr/>
        </p:nvSpPr>
        <p:spPr>
          <a:xfrm>
            <a:off x="10272240" y="2551069"/>
            <a:ext cx="185737" cy="757238"/>
          </a:xfrm>
          <a:prstGeom prst="rect">
            <a:avLst/>
          </a:prstGeom>
          <a:solidFill>
            <a:srgbClr val="757678"/>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2000"/>
          </a:p>
        </p:txBody>
      </p:sp>
      <p:sp>
        <p:nvSpPr>
          <p:cNvPr id="47" name="Rectangle 46"/>
          <p:cNvSpPr/>
          <p:nvPr/>
        </p:nvSpPr>
        <p:spPr>
          <a:xfrm>
            <a:off x="10556449" y="2384382"/>
            <a:ext cx="185737" cy="923925"/>
          </a:xfrm>
          <a:prstGeom prst="rect">
            <a:avLst/>
          </a:prstGeom>
          <a:solidFill>
            <a:srgbClr val="757678"/>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2000"/>
          </a:p>
        </p:txBody>
      </p:sp>
      <p:grpSp>
        <p:nvGrpSpPr>
          <p:cNvPr id="48" name="Group 47"/>
          <p:cNvGrpSpPr/>
          <p:nvPr/>
        </p:nvGrpSpPr>
        <p:grpSpPr>
          <a:xfrm>
            <a:off x="3610704" y="2013486"/>
            <a:ext cx="3561042" cy="3385378"/>
            <a:chOff x="3017838" y="1349375"/>
            <a:chExt cx="4022725" cy="3824288"/>
          </a:xfrm>
          <a:effectLst>
            <a:outerShdw blurRad="63500" sx="102000" sy="102000" algn="ctr" rotWithShape="0">
              <a:prstClr val="black">
                <a:alpha val="40000"/>
              </a:prstClr>
            </a:outerShdw>
          </a:effectLst>
        </p:grpSpPr>
        <p:sp>
          <p:nvSpPr>
            <p:cNvPr id="49" name="Freeform 20"/>
            <p:cNvSpPr>
              <a:spLocks/>
            </p:cNvSpPr>
            <p:nvPr/>
          </p:nvSpPr>
          <p:spPr bwMode="auto">
            <a:xfrm>
              <a:off x="5075238" y="1349375"/>
              <a:ext cx="1590675" cy="1374775"/>
            </a:xfrm>
            <a:custGeom>
              <a:avLst/>
              <a:gdLst>
                <a:gd name="T0" fmla="*/ 8345 w 8345"/>
                <a:gd name="T1" fmla="*/ 4818 h 7227"/>
                <a:gd name="T2" fmla="*/ 0 w 8345"/>
                <a:gd name="T3" fmla="*/ 0 h 7227"/>
                <a:gd name="T4" fmla="*/ 0 w 8345"/>
                <a:gd name="T5" fmla="*/ 4818 h 7227"/>
                <a:gd name="T6" fmla="*/ 4173 w 8345"/>
                <a:gd name="T7" fmla="*/ 7227 h 7227"/>
                <a:gd name="T8" fmla="*/ 8345 w 8345"/>
                <a:gd name="T9" fmla="*/ 4818 h 7227"/>
              </a:gdLst>
              <a:ahLst/>
              <a:cxnLst>
                <a:cxn ang="0">
                  <a:pos x="T0" y="T1"/>
                </a:cxn>
                <a:cxn ang="0">
                  <a:pos x="T2" y="T3"/>
                </a:cxn>
                <a:cxn ang="0">
                  <a:pos x="T4" y="T5"/>
                </a:cxn>
                <a:cxn ang="0">
                  <a:pos x="T6" y="T7"/>
                </a:cxn>
                <a:cxn ang="0">
                  <a:pos x="T8" y="T9"/>
                </a:cxn>
              </a:cxnLst>
              <a:rect l="0" t="0" r="r" b="b"/>
              <a:pathLst>
                <a:path w="8345" h="7227">
                  <a:moveTo>
                    <a:pt x="8345" y="4818"/>
                  </a:moveTo>
                  <a:cubicBezTo>
                    <a:pt x="6624" y="1837"/>
                    <a:pt x="3443" y="0"/>
                    <a:pt x="0" y="0"/>
                  </a:cubicBezTo>
                  <a:lnTo>
                    <a:pt x="0" y="4818"/>
                  </a:lnTo>
                  <a:cubicBezTo>
                    <a:pt x="1722" y="4818"/>
                    <a:pt x="3312" y="5736"/>
                    <a:pt x="4173" y="7227"/>
                  </a:cubicBezTo>
                  <a:lnTo>
                    <a:pt x="8345" y="4818"/>
                  </a:lnTo>
                  <a:close/>
                </a:path>
              </a:pathLst>
            </a:custGeom>
            <a:solidFill>
              <a:srgbClr val="2A5F8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IN" sz="2000"/>
            </a:p>
          </p:txBody>
        </p:sp>
        <p:sp>
          <p:nvSpPr>
            <p:cNvPr id="50" name="Freeform 22"/>
            <p:cNvSpPr>
              <a:spLocks/>
            </p:cNvSpPr>
            <p:nvPr/>
          </p:nvSpPr>
          <p:spPr bwMode="auto">
            <a:xfrm>
              <a:off x="5916613" y="2344738"/>
              <a:ext cx="1123950" cy="1833563"/>
            </a:xfrm>
            <a:custGeom>
              <a:avLst/>
              <a:gdLst>
                <a:gd name="T0" fmla="*/ 4172 w 5894"/>
                <a:gd name="T1" fmla="*/ 9636 h 9636"/>
                <a:gd name="T2" fmla="*/ 4172 w 5894"/>
                <a:gd name="T3" fmla="*/ 0 h 9636"/>
                <a:gd name="T4" fmla="*/ 0 w 5894"/>
                <a:gd name="T5" fmla="*/ 2409 h 9636"/>
                <a:gd name="T6" fmla="*/ 0 w 5894"/>
                <a:gd name="T7" fmla="*/ 7227 h 9636"/>
                <a:gd name="T8" fmla="*/ 4172 w 5894"/>
                <a:gd name="T9" fmla="*/ 9636 h 9636"/>
              </a:gdLst>
              <a:ahLst/>
              <a:cxnLst>
                <a:cxn ang="0">
                  <a:pos x="T0" y="T1"/>
                </a:cxn>
                <a:cxn ang="0">
                  <a:pos x="T2" y="T3"/>
                </a:cxn>
                <a:cxn ang="0">
                  <a:pos x="T4" y="T5"/>
                </a:cxn>
                <a:cxn ang="0">
                  <a:pos x="T6" y="T7"/>
                </a:cxn>
                <a:cxn ang="0">
                  <a:pos x="T8" y="T9"/>
                </a:cxn>
              </a:cxnLst>
              <a:rect l="0" t="0" r="r" b="b"/>
              <a:pathLst>
                <a:path w="5894" h="9636">
                  <a:moveTo>
                    <a:pt x="4172" y="9636"/>
                  </a:moveTo>
                  <a:cubicBezTo>
                    <a:pt x="5894" y="6655"/>
                    <a:pt x="5894" y="2982"/>
                    <a:pt x="4172" y="0"/>
                  </a:cubicBezTo>
                  <a:lnTo>
                    <a:pt x="0" y="2409"/>
                  </a:lnTo>
                  <a:cubicBezTo>
                    <a:pt x="860" y="3900"/>
                    <a:pt x="860" y="5737"/>
                    <a:pt x="0" y="7227"/>
                  </a:cubicBezTo>
                  <a:lnTo>
                    <a:pt x="4172" y="9636"/>
                  </a:lnTo>
                  <a:close/>
                </a:path>
              </a:pathLst>
            </a:custGeom>
            <a:solidFill>
              <a:srgbClr val="8E141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IN" sz="2000"/>
            </a:p>
          </p:txBody>
        </p:sp>
        <p:sp>
          <p:nvSpPr>
            <p:cNvPr id="51" name="Freeform 24"/>
            <p:cNvSpPr>
              <a:spLocks/>
            </p:cNvSpPr>
            <p:nvPr/>
          </p:nvSpPr>
          <p:spPr bwMode="auto">
            <a:xfrm>
              <a:off x="5075238" y="3798888"/>
              <a:ext cx="1590675" cy="1374775"/>
            </a:xfrm>
            <a:custGeom>
              <a:avLst/>
              <a:gdLst>
                <a:gd name="T0" fmla="*/ 0 w 8345"/>
                <a:gd name="T1" fmla="*/ 7227 h 7227"/>
                <a:gd name="T2" fmla="*/ 8345 w 8345"/>
                <a:gd name="T3" fmla="*/ 2409 h 7227"/>
                <a:gd name="T4" fmla="*/ 4173 w 8345"/>
                <a:gd name="T5" fmla="*/ 0 h 7227"/>
                <a:gd name="T6" fmla="*/ 0 w 8345"/>
                <a:gd name="T7" fmla="*/ 2409 h 7227"/>
                <a:gd name="T8" fmla="*/ 0 w 8345"/>
                <a:gd name="T9" fmla="*/ 7227 h 7227"/>
              </a:gdLst>
              <a:ahLst/>
              <a:cxnLst>
                <a:cxn ang="0">
                  <a:pos x="T0" y="T1"/>
                </a:cxn>
                <a:cxn ang="0">
                  <a:pos x="T2" y="T3"/>
                </a:cxn>
                <a:cxn ang="0">
                  <a:pos x="T4" y="T5"/>
                </a:cxn>
                <a:cxn ang="0">
                  <a:pos x="T6" y="T7"/>
                </a:cxn>
                <a:cxn ang="0">
                  <a:pos x="T8" y="T9"/>
                </a:cxn>
              </a:cxnLst>
              <a:rect l="0" t="0" r="r" b="b"/>
              <a:pathLst>
                <a:path w="8345" h="7227">
                  <a:moveTo>
                    <a:pt x="0" y="7227"/>
                  </a:moveTo>
                  <a:cubicBezTo>
                    <a:pt x="3443" y="7227"/>
                    <a:pt x="6624" y="5390"/>
                    <a:pt x="8345" y="2409"/>
                  </a:cubicBezTo>
                  <a:lnTo>
                    <a:pt x="4173" y="0"/>
                  </a:lnTo>
                  <a:cubicBezTo>
                    <a:pt x="3312" y="1490"/>
                    <a:pt x="1722" y="2409"/>
                    <a:pt x="0" y="2409"/>
                  </a:cubicBezTo>
                  <a:lnTo>
                    <a:pt x="0" y="7227"/>
                  </a:lnTo>
                  <a:close/>
                </a:path>
              </a:pathLst>
            </a:custGeom>
            <a:solidFill>
              <a:srgbClr val="9E7E0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IN" sz="2000"/>
            </a:p>
          </p:txBody>
        </p:sp>
        <p:sp>
          <p:nvSpPr>
            <p:cNvPr id="52" name="Freeform 26"/>
            <p:cNvSpPr>
              <a:spLocks/>
            </p:cNvSpPr>
            <p:nvPr/>
          </p:nvSpPr>
          <p:spPr bwMode="auto">
            <a:xfrm>
              <a:off x="3392488" y="3798888"/>
              <a:ext cx="1590675" cy="1374775"/>
            </a:xfrm>
            <a:custGeom>
              <a:avLst/>
              <a:gdLst>
                <a:gd name="T0" fmla="*/ 0 w 8346"/>
                <a:gd name="T1" fmla="*/ 2409 h 7227"/>
                <a:gd name="T2" fmla="*/ 8346 w 8346"/>
                <a:gd name="T3" fmla="*/ 7227 h 7227"/>
                <a:gd name="T4" fmla="*/ 8346 w 8346"/>
                <a:gd name="T5" fmla="*/ 2409 h 7227"/>
                <a:gd name="T6" fmla="*/ 4173 w 8346"/>
                <a:gd name="T7" fmla="*/ 0 h 7227"/>
                <a:gd name="T8" fmla="*/ 0 w 8346"/>
                <a:gd name="T9" fmla="*/ 2409 h 7227"/>
              </a:gdLst>
              <a:ahLst/>
              <a:cxnLst>
                <a:cxn ang="0">
                  <a:pos x="T0" y="T1"/>
                </a:cxn>
                <a:cxn ang="0">
                  <a:pos x="T2" y="T3"/>
                </a:cxn>
                <a:cxn ang="0">
                  <a:pos x="T4" y="T5"/>
                </a:cxn>
                <a:cxn ang="0">
                  <a:pos x="T6" y="T7"/>
                </a:cxn>
                <a:cxn ang="0">
                  <a:pos x="T8" y="T9"/>
                </a:cxn>
              </a:cxnLst>
              <a:rect l="0" t="0" r="r" b="b"/>
              <a:pathLst>
                <a:path w="8346" h="7227">
                  <a:moveTo>
                    <a:pt x="0" y="2409"/>
                  </a:moveTo>
                  <a:cubicBezTo>
                    <a:pt x="1722" y="5390"/>
                    <a:pt x="4903" y="7227"/>
                    <a:pt x="8346" y="7227"/>
                  </a:cubicBezTo>
                  <a:lnTo>
                    <a:pt x="8346" y="2409"/>
                  </a:lnTo>
                  <a:cubicBezTo>
                    <a:pt x="6624" y="2409"/>
                    <a:pt x="5034" y="1490"/>
                    <a:pt x="4173" y="0"/>
                  </a:cubicBezTo>
                  <a:lnTo>
                    <a:pt x="0" y="2409"/>
                  </a:lnTo>
                  <a:close/>
                </a:path>
              </a:pathLst>
            </a:custGeom>
            <a:solidFill>
              <a:srgbClr val="40315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IN" sz="2000"/>
            </a:p>
          </p:txBody>
        </p:sp>
        <p:sp>
          <p:nvSpPr>
            <p:cNvPr id="53" name="Freeform 28"/>
            <p:cNvSpPr>
              <a:spLocks/>
            </p:cNvSpPr>
            <p:nvPr/>
          </p:nvSpPr>
          <p:spPr bwMode="auto">
            <a:xfrm>
              <a:off x="3017838" y="2344738"/>
              <a:ext cx="1123950" cy="1833563"/>
            </a:xfrm>
            <a:custGeom>
              <a:avLst/>
              <a:gdLst>
                <a:gd name="T0" fmla="*/ 3443 w 11788"/>
                <a:gd name="T1" fmla="*/ 0 h 19272"/>
                <a:gd name="T2" fmla="*/ 3443 w 11788"/>
                <a:gd name="T3" fmla="*/ 19272 h 19272"/>
                <a:gd name="T4" fmla="*/ 11788 w 11788"/>
                <a:gd name="T5" fmla="*/ 14454 h 19272"/>
                <a:gd name="T6" fmla="*/ 11788 w 11788"/>
                <a:gd name="T7" fmla="*/ 4818 h 19272"/>
                <a:gd name="T8" fmla="*/ 3443 w 11788"/>
                <a:gd name="T9" fmla="*/ 0 h 19272"/>
              </a:gdLst>
              <a:ahLst/>
              <a:cxnLst>
                <a:cxn ang="0">
                  <a:pos x="T0" y="T1"/>
                </a:cxn>
                <a:cxn ang="0">
                  <a:pos x="T2" y="T3"/>
                </a:cxn>
                <a:cxn ang="0">
                  <a:pos x="T4" y="T5"/>
                </a:cxn>
                <a:cxn ang="0">
                  <a:pos x="T6" y="T7"/>
                </a:cxn>
                <a:cxn ang="0">
                  <a:pos x="T8" y="T9"/>
                </a:cxn>
              </a:cxnLst>
              <a:rect l="0" t="0" r="r" b="b"/>
              <a:pathLst>
                <a:path w="11788" h="19272">
                  <a:moveTo>
                    <a:pt x="3443" y="0"/>
                  </a:moveTo>
                  <a:cubicBezTo>
                    <a:pt x="0" y="5963"/>
                    <a:pt x="0" y="13309"/>
                    <a:pt x="3443" y="19272"/>
                  </a:cubicBezTo>
                  <a:lnTo>
                    <a:pt x="11788" y="14454"/>
                  </a:lnTo>
                  <a:cubicBezTo>
                    <a:pt x="10066" y="11473"/>
                    <a:pt x="10066" y="7800"/>
                    <a:pt x="11788" y="4818"/>
                  </a:cubicBezTo>
                  <a:lnTo>
                    <a:pt x="3443" y="0"/>
                  </a:lnTo>
                  <a:close/>
                </a:path>
              </a:pathLst>
            </a:custGeom>
            <a:solidFill>
              <a:srgbClr val="008189"/>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IN" sz="2000"/>
            </a:p>
          </p:txBody>
        </p:sp>
        <p:sp>
          <p:nvSpPr>
            <p:cNvPr id="54" name="Freeform 30"/>
            <p:cNvSpPr>
              <a:spLocks/>
            </p:cNvSpPr>
            <p:nvPr/>
          </p:nvSpPr>
          <p:spPr bwMode="auto">
            <a:xfrm>
              <a:off x="3392488" y="1349375"/>
              <a:ext cx="1590675" cy="1374775"/>
            </a:xfrm>
            <a:custGeom>
              <a:avLst/>
              <a:gdLst>
                <a:gd name="T0" fmla="*/ 8346 w 8346"/>
                <a:gd name="T1" fmla="*/ 0 h 7227"/>
                <a:gd name="T2" fmla="*/ 0 w 8346"/>
                <a:gd name="T3" fmla="*/ 4818 h 7227"/>
                <a:gd name="T4" fmla="*/ 4173 w 8346"/>
                <a:gd name="T5" fmla="*/ 7227 h 7227"/>
                <a:gd name="T6" fmla="*/ 8346 w 8346"/>
                <a:gd name="T7" fmla="*/ 4818 h 7227"/>
                <a:gd name="T8" fmla="*/ 8346 w 8346"/>
                <a:gd name="T9" fmla="*/ 0 h 7227"/>
              </a:gdLst>
              <a:ahLst/>
              <a:cxnLst>
                <a:cxn ang="0">
                  <a:pos x="T0" y="T1"/>
                </a:cxn>
                <a:cxn ang="0">
                  <a:pos x="T2" y="T3"/>
                </a:cxn>
                <a:cxn ang="0">
                  <a:pos x="T4" y="T5"/>
                </a:cxn>
                <a:cxn ang="0">
                  <a:pos x="T6" y="T7"/>
                </a:cxn>
                <a:cxn ang="0">
                  <a:pos x="T8" y="T9"/>
                </a:cxn>
              </a:cxnLst>
              <a:rect l="0" t="0" r="r" b="b"/>
              <a:pathLst>
                <a:path w="8346" h="7227">
                  <a:moveTo>
                    <a:pt x="8346" y="0"/>
                  </a:moveTo>
                  <a:cubicBezTo>
                    <a:pt x="4903" y="0"/>
                    <a:pt x="1722" y="1837"/>
                    <a:pt x="0" y="4818"/>
                  </a:cubicBezTo>
                  <a:lnTo>
                    <a:pt x="4173" y="7227"/>
                  </a:lnTo>
                  <a:cubicBezTo>
                    <a:pt x="5034" y="5736"/>
                    <a:pt x="6624" y="4818"/>
                    <a:pt x="8346" y="4818"/>
                  </a:cubicBezTo>
                  <a:lnTo>
                    <a:pt x="8346" y="0"/>
                  </a:lnTo>
                  <a:close/>
                </a:path>
              </a:pathLst>
            </a:custGeom>
            <a:solidFill>
              <a:srgbClr val="A3531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IN" sz="2000"/>
            </a:p>
          </p:txBody>
        </p:sp>
      </p:grpSp>
      <p:sp>
        <p:nvSpPr>
          <p:cNvPr id="55" name="TextBox 54"/>
          <p:cNvSpPr txBox="1"/>
          <p:nvPr/>
        </p:nvSpPr>
        <p:spPr>
          <a:xfrm>
            <a:off x="4733567" y="3263079"/>
            <a:ext cx="1310028" cy="1138773"/>
          </a:xfrm>
          <a:prstGeom prst="rect">
            <a:avLst/>
          </a:prstGeom>
          <a:noFill/>
        </p:spPr>
        <p:txBody>
          <a:bodyPr wrap="square" rtlCol="0">
            <a:spAutoFit/>
          </a:bodyPr>
          <a:lstStyle/>
          <a:p>
            <a:pPr algn="ctr"/>
            <a:r>
              <a:rPr lang="en-US" sz="2800" b="1" dirty="0"/>
              <a:t>KEY</a:t>
            </a:r>
          </a:p>
          <a:p>
            <a:pPr algn="ctr"/>
            <a:r>
              <a:rPr lang="en-IN" sz="2000" b="1" dirty="0"/>
              <a:t>SUCCESS FACTORS</a:t>
            </a:r>
          </a:p>
        </p:txBody>
      </p:sp>
      <p:pic>
        <p:nvPicPr>
          <p:cNvPr id="56" name="Picture 55"/>
          <p:cNvPicPr>
            <a:picLocks noChangeAspect="1"/>
          </p:cNvPicPr>
          <p:nvPr/>
        </p:nvPicPr>
        <p:blipFill>
          <a:blip r:embed="rId2">
            <a:lum bright="70000" contrast="-70000"/>
            <a:extLst>
              <a:ext uri="{28A0092B-C50C-407E-A947-70E740481C1C}">
                <a14:useLocalDpi xmlns:a14="http://schemas.microsoft.com/office/drawing/2010/main" val="0"/>
              </a:ext>
            </a:extLst>
          </a:blip>
          <a:stretch>
            <a:fillRect/>
          </a:stretch>
        </p:blipFill>
        <p:spPr>
          <a:xfrm>
            <a:off x="5940292" y="2390860"/>
            <a:ext cx="365760" cy="365760"/>
          </a:xfrm>
          <a:prstGeom prst="rect">
            <a:avLst/>
          </a:prstGeom>
        </p:spPr>
      </p:pic>
      <p:pic>
        <p:nvPicPr>
          <p:cNvPr id="57" name="Picture 56"/>
          <p:cNvPicPr>
            <a:picLocks noChangeAspect="1"/>
          </p:cNvPicPr>
          <p:nvPr/>
        </p:nvPicPr>
        <p:blipFill rotWithShape="1">
          <a:blip r:embed="rId3" cstate="print">
            <a:lum bright="70000" contrast="-70000"/>
            <a:extLst>
              <a:ext uri="{28A0092B-C50C-407E-A947-70E740481C1C}">
                <a14:useLocalDpi xmlns:a14="http://schemas.microsoft.com/office/drawing/2010/main" val="0"/>
              </a:ext>
            </a:extLst>
          </a:blip>
          <a:srcRect l="22222" t="24075" r="17285" b="25308"/>
          <a:stretch/>
        </p:blipFill>
        <p:spPr>
          <a:xfrm>
            <a:off x="4510789" y="2418397"/>
            <a:ext cx="365760" cy="306046"/>
          </a:xfrm>
          <a:prstGeom prst="rect">
            <a:avLst/>
          </a:prstGeom>
        </p:spPr>
      </p:pic>
      <p:pic>
        <p:nvPicPr>
          <p:cNvPr id="58" name="Picture 57"/>
          <p:cNvPicPr>
            <a:picLocks noChangeAspect="1"/>
          </p:cNvPicPr>
          <p:nvPr/>
        </p:nvPicPr>
        <p:blipFill>
          <a:blip r:embed="rId4" cstate="print">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4605818" y="4702584"/>
            <a:ext cx="252096" cy="252096"/>
          </a:xfrm>
          <a:prstGeom prst="rect">
            <a:avLst/>
          </a:prstGeom>
        </p:spPr>
      </p:pic>
      <p:pic>
        <p:nvPicPr>
          <p:cNvPr id="59" name="Picture 58"/>
          <p:cNvPicPr>
            <a:picLocks noChangeAspect="1"/>
          </p:cNvPicPr>
          <p:nvPr/>
        </p:nvPicPr>
        <p:blipFill>
          <a:blip r:embed="rId5">
            <a:lum bright="70000" contrast="-70000"/>
            <a:extLst>
              <a:ext uri="{28A0092B-C50C-407E-A947-70E740481C1C}">
                <a14:useLocalDpi xmlns:a14="http://schemas.microsoft.com/office/drawing/2010/main" val="0"/>
              </a:ext>
            </a:extLst>
          </a:blip>
          <a:stretch>
            <a:fillRect/>
          </a:stretch>
        </p:blipFill>
        <p:spPr>
          <a:xfrm rot="16200000">
            <a:off x="5858797" y="4604269"/>
            <a:ext cx="320040" cy="320040"/>
          </a:xfrm>
          <a:prstGeom prst="rect">
            <a:avLst/>
          </a:prstGeom>
        </p:spPr>
      </p:pic>
      <p:pic>
        <p:nvPicPr>
          <p:cNvPr id="60" name="Picture 59"/>
          <p:cNvPicPr>
            <a:picLocks noChangeAspect="1"/>
          </p:cNvPicPr>
          <p:nvPr/>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3951998" y="3546155"/>
            <a:ext cx="320040" cy="320040"/>
          </a:xfrm>
          <a:prstGeom prst="rect">
            <a:avLst/>
          </a:prstGeom>
        </p:spPr>
      </p:pic>
      <p:sp>
        <p:nvSpPr>
          <p:cNvPr id="61" name="Rectangle 60"/>
          <p:cNvSpPr/>
          <p:nvPr/>
        </p:nvSpPr>
        <p:spPr>
          <a:xfrm>
            <a:off x="229799" y="1126624"/>
            <a:ext cx="3712557" cy="1432700"/>
          </a:xfrm>
          <a:prstGeom prst="rect">
            <a:avLst/>
          </a:prstGeom>
        </p:spPr>
        <p:txBody>
          <a:bodyPr wrap="square" lIns="0" tIns="0" rIns="0" bIns="0">
            <a:spAutoFit/>
          </a:bodyPr>
          <a:lstStyle/>
          <a:p>
            <a:pPr algn="just"/>
            <a:r>
              <a:rPr lang="en-IN" sz="1400" b="1" dirty="0"/>
              <a:t>Customer Base</a:t>
            </a:r>
            <a:r>
              <a:rPr lang="en-IN" sz="1400" dirty="0"/>
              <a:t>: </a:t>
            </a:r>
          </a:p>
          <a:p>
            <a:pPr algn="just"/>
            <a:r>
              <a:rPr lang="en-IN" sz="1130" dirty="0"/>
              <a:t>The customer base helps in determining the sales volatility. A company’s ability to sell its product to both overseas &amp; domestic customers is a positive factor to soften its dependency on any region’s economic growth, but along with consideration of transportation costs.  Also, fixed agreements or contractual agreements at a fixed price with its customers will give extra benefits.</a:t>
            </a:r>
          </a:p>
        </p:txBody>
      </p:sp>
      <p:sp>
        <p:nvSpPr>
          <p:cNvPr id="62" name="TextBox 61"/>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
        <p:nvSpPr>
          <p:cNvPr id="35" name="Rectangle 34"/>
          <p:cNvSpPr/>
          <p:nvPr/>
        </p:nvSpPr>
        <p:spPr>
          <a:xfrm>
            <a:off x="229799" y="4678671"/>
            <a:ext cx="3722199" cy="1258806"/>
          </a:xfrm>
          <a:prstGeom prst="rect">
            <a:avLst/>
          </a:prstGeom>
        </p:spPr>
        <p:txBody>
          <a:bodyPr wrap="square" lIns="0" tIns="0" rIns="0" bIns="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just"/>
            <a:r>
              <a:rPr lang="en-IN" sz="1400" b="1" dirty="0"/>
              <a:t>Product Mix</a:t>
            </a:r>
            <a:r>
              <a:rPr lang="en-IN" sz="1400" dirty="0"/>
              <a:t>:</a:t>
            </a:r>
          </a:p>
          <a:p>
            <a:pPr algn="just"/>
            <a:r>
              <a:rPr lang="en-IN" sz="1130" dirty="0"/>
              <a:t>The stronger the portfolio, stronger the position in the market. In the metal industry, producers of commodity metal products compete  regionally due to the high transportation cost, while other producers offering high value products have ability to export. The company having divergent product portfolio will have benefit of having good product mix.</a:t>
            </a:r>
          </a:p>
        </p:txBody>
      </p:sp>
      <p:sp>
        <p:nvSpPr>
          <p:cNvPr id="64" name="Rectangle 63"/>
          <p:cNvSpPr/>
          <p:nvPr/>
        </p:nvSpPr>
        <p:spPr>
          <a:xfrm>
            <a:off x="229798" y="2807593"/>
            <a:ext cx="3311231" cy="1432700"/>
          </a:xfrm>
          <a:prstGeom prst="rect">
            <a:avLst/>
          </a:prstGeom>
        </p:spPr>
        <p:txBody>
          <a:bodyPr wrap="square" lIns="0" tIns="0" rIns="0" bIns="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just"/>
            <a:r>
              <a:rPr lang="en-IN" sz="1400" b="1" dirty="0"/>
              <a:t>Raw Material Procurement</a:t>
            </a:r>
            <a:r>
              <a:rPr lang="en-IN" sz="1400" dirty="0"/>
              <a:t>: </a:t>
            </a:r>
          </a:p>
          <a:p>
            <a:pPr algn="just"/>
            <a:r>
              <a:rPr lang="en-IN" sz="1130" dirty="0"/>
              <a:t>Low cost supplies of raw materials is crucial factor to achieve a competitive cost competition. A company that has multiple suppliers or vertical integrated operation will be less dependent on costly raw materials or semi-finished products. Players can enter in long term contract with raw material suppliers to avoid the volatility of the prices.</a:t>
            </a:r>
          </a:p>
        </p:txBody>
      </p:sp>
      <p:sp>
        <p:nvSpPr>
          <p:cNvPr id="65" name="Rectangle 64"/>
          <p:cNvSpPr/>
          <p:nvPr/>
        </p:nvSpPr>
        <p:spPr>
          <a:xfrm>
            <a:off x="6631840" y="4945337"/>
            <a:ext cx="5361170" cy="1084912"/>
          </a:xfrm>
          <a:prstGeom prst="rect">
            <a:avLst/>
          </a:prstGeom>
        </p:spPr>
        <p:txBody>
          <a:bodyPr wrap="square" lIns="0" tIns="0" rIns="0" bIns="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just"/>
            <a:r>
              <a:rPr lang="en-IN" sz="1400" b="1" dirty="0"/>
              <a:t>Right Technology In Place:</a:t>
            </a:r>
          </a:p>
          <a:p>
            <a:pPr algn="just"/>
            <a:r>
              <a:rPr lang="en-IN" sz="1130" dirty="0"/>
              <a:t>To fulfil the growing demand, supply needs to be adequate. Technology plays a vital role in the growth of any market player. Significant investment in new &amp; advanced technologies for the manufacturing is one factor that can help a company in standing different from others. Also the incorporation of new techniques to run the overseas operation can provide great potential.</a:t>
            </a:r>
          </a:p>
        </p:txBody>
      </p:sp>
      <p:sp>
        <p:nvSpPr>
          <p:cNvPr id="66" name="Rectangle 65"/>
          <p:cNvSpPr/>
          <p:nvPr/>
        </p:nvSpPr>
        <p:spPr>
          <a:xfrm>
            <a:off x="6631839" y="1159483"/>
            <a:ext cx="5361171" cy="1084912"/>
          </a:xfrm>
          <a:prstGeom prst="rect">
            <a:avLst/>
          </a:prstGeom>
        </p:spPr>
        <p:txBody>
          <a:bodyPr wrap="square" lIns="0" tIns="0" rIns="0" bIns="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just"/>
            <a:r>
              <a:rPr lang="en-IN" sz="1400" b="1" dirty="0"/>
              <a:t>Staying Up to Date with Competition</a:t>
            </a:r>
            <a:r>
              <a:rPr lang="en-IN" sz="1400" dirty="0"/>
              <a:t>:</a:t>
            </a:r>
          </a:p>
          <a:p>
            <a:pPr algn="just"/>
            <a:r>
              <a:rPr lang="en-US" sz="1130" dirty="0"/>
              <a:t>In order to sustain in the market, keeping up an eye on the competitor’s activities is one of the crucial success factors. Keeping track on their strategies, key developments, price ranges, consumer base &amp; entry of new players are some of the aspects which can provide extra benefits to market player. Knowing  where competitors are or are not actively engaged , can tell about the spaces in which one company can grab the opportunity.</a:t>
            </a:r>
          </a:p>
        </p:txBody>
      </p:sp>
      <p:sp>
        <p:nvSpPr>
          <p:cNvPr id="2" name="Title 1"/>
          <p:cNvSpPr>
            <a:spLocks noGrp="1"/>
          </p:cNvSpPr>
          <p:nvPr>
            <p:ph type="title"/>
          </p:nvPr>
        </p:nvSpPr>
        <p:spPr/>
        <p:txBody>
          <a:bodyPr/>
          <a:lstStyle/>
          <a:p>
            <a:r>
              <a:rPr lang="en-US"/>
              <a:t>Key Success Factors </a:t>
            </a:r>
            <a:endParaRPr lang="en-US" dirty="0"/>
          </a:p>
        </p:txBody>
      </p:sp>
      <p:sp>
        <p:nvSpPr>
          <p:cNvPr id="3" name="Slide Number Placeholder 2"/>
          <p:cNvSpPr>
            <a:spLocks noGrp="1"/>
          </p:cNvSpPr>
          <p:nvPr>
            <p:ph type="sldNum" sz="quarter" idx="4"/>
          </p:nvPr>
        </p:nvSpPr>
        <p:spPr/>
        <p:txBody>
          <a:bodyPr/>
          <a:lstStyle/>
          <a:p>
            <a:fld id="{4B17068C-EB94-40A3-A5F2-664CDD77FDAC}" type="slidenum">
              <a:rPr lang="en-GB" smtClean="0"/>
              <a:pPr/>
              <a:t>16</a:t>
            </a:fld>
            <a:endParaRPr lang="en-GB" dirty="0"/>
          </a:p>
        </p:txBody>
      </p:sp>
    </p:spTree>
    <p:extLst>
      <p:ext uri="{BB962C8B-B14F-4D97-AF65-F5344CB8AC3E}">
        <p14:creationId xmlns:p14="http://schemas.microsoft.com/office/powerpoint/2010/main" val="15197449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TextBox 51"/>
          <p:cNvSpPr txBox="1"/>
          <p:nvPr/>
        </p:nvSpPr>
        <p:spPr>
          <a:xfrm>
            <a:off x="3414799" y="3072764"/>
            <a:ext cx="2377440" cy="3200400"/>
          </a:xfrm>
          <a:prstGeom prst="rect">
            <a:avLst/>
          </a:prstGeom>
          <a:noFill/>
        </p:spPr>
        <p:txBody>
          <a:bodyPr wrap="square" lIns="45720" tIns="45720" rIns="45720" bIns="45720" rtlCol="0">
            <a:noAutofit/>
          </a:bodyPr>
          <a:lstStyle/>
          <a:p>
            <a:pPr marL="173736" indent="-173736" algn="just">
              <a:spcBef>
                <a:spcPts val="100"/>
              </a:spcBef>
              <a:spcAft>
                <a:spcPts val="100"/>
              </a:spcAft>
              <a:buFont typeface="Wingdings" panose="05000000000000000000" pitchFamily="2" charset="2"/>
              <a:buChar char="q"/>
            </a:pPr>
            <a:r>
              <a:rPr lang="en-US" sz="1000" dirty="0"/>
              <a:t>In order to stay ahead of the competition, businesses need to constantly be aware of what their competitors are doing. This means keeping track of their pricing strategies, target customers, and new entrants into the market.</a:t>
            </a:r>
          </a:p>
          <a:p>
            <a:pPr marL="173736" indent="-173736" algn="just">
              <a:spcBef>
                <a:spcPts val="100"/>
              </a:spcBef>
              <a:spcAft>
                <a:spcPts val="100"/>
              </a:spcAft>
              <a:buFont typeface="Wingdings" panose="05000000000000000000" pitchFamily="2" charset="2"/>
              <a:buChar char="q"/>
            </a:pPr>
            <a:r>
              <a:rPr lang="en-US" sz="1000" dirty="0"/>
              <a:t>Companies need to be able to adapt quickly to economic shocks. Those that are able to track their competitor's movements and anticipate changes in the market will be in a better position to survive and thrive.</a:t>
            </a:r>
          </a:p>
          <a:p>
            <a:pPr marL="173736" indent="-173736" algn="just">
              <a:spcBef>
                <a:spcPts val="100"/>
              </a:spcBef>
              <a:spcAft>
                <a:spcPts val="100"/>
              </a:spcAft>
              <a:buFont typeface="Wingdings" panose="05000000000000000000" pitchFamily="2" charset="2"/>
              <a:buChar char="q"/>
            </a:pPr>
            <a:r>
              <a:rPr lang="en-US" sz="1000" dirty="0"/>
              <a:t>By keeping up with the latest developments in the market, companies can stay one step ahead of their competition. This allows them to be ready for any disruptions that may occur and also take advantage of any opportunities that arise.</a:t>
            </a:r>
            <a:endParaRPr lang="en-US" sz="1000" dirty="0">
              <a:solidFill>
                <a:prstClr val="black"/>
              </a:solidFill>
            </a:endParaRPr>
          </a:p>
        </p:txBody>
      </p:sp>
      <p:sp>
        <p:nvSpPr>
          <p:cNvPr id="53" name="TextBox 52"/>
          <p:cNvSpPr txBox="1"/>
          <p:nvPr/>
        </p:nvSpPr>
        <p:spPr>
          <a:xfrm>
            <a:off x="365760" y="3072764"/>
            <a:ext cx="2377440" cy="3200400"/>
          </a:xfrm>
          <a:prstGeom prst="rect">
            <a:avLst/>
          </a:prstGeom>
          <a:noFill/>
        </p:spPr>
        <p:txBody>
          <a:bodyPr wrap="square" lIns="45720" tIns="45720" rIns="45720" bIns="45720" rtlCol="0">
            <a:noAutofit/>
          </a:bodyPr>
          <a:lstStyle/>
          <a:p>
            <a:pPr marL="173736" indent="-173736" algn="just">
              <a:spcBef>
                <a:spcPts val="100"/>
              </a:spcBef>
              <a:spcAft>
                <a:spcPts val="100"/>
              </a:spcAft>
              <a:buFont typeface="Wingdings" panose="05000000000000000000" pitchFamily="2" charset="2"/>
              <a:buChar char="q"/>
            </a:pPr>
            <a:r>
              <a:rPr lang="en-US" sz="1000" dirty="0"/>
              <a:t>This means having a customer reach that extends beyond traditional markets, offering specific products or solutions that solve problems for customers, and partnering with other companies to create new avenues for growth</a:t>
            </a:r>
          </a:p>
          <a:p>
            <a:pPr marL="173736" indent="-173736" algn="just">
              <a:spcBef>
                <a:spcPts val="100"/>
              </a:spcBef>
              <a:spcAft>
                <a:spcPts val="100"/>
              </a:spcAft>
              <a:buFont typeface="Wingdings" panose="05000000000000000000" pitchFamily="2" charset="2"/>
              <a:buChar char="q"/>
            </a:pPr>
            <a:r>
              <a:rPr lang="en-US" sz="1000" dirty="0"/>
              <a:t>A company must have a customer base that extends beyond its traditional markets in order to stay ahead of the competition. In addition, a company must offer specific products or solutions that solve problems for customers.</a:t>
            </a:r>
          </a:p>
          <a:p>
            <a:pPr marL="173736" indent="-173736" algn="just">
              <a:spcBef>
                <a:spcPts val="100"/>
              </a:spcBef>
              <a:spcAft>
                <a:spcPts val="100"/>
              </a:spcAft>
              <a:buFont typeface="Wingdings" panose="05000000000000000000" pitchFamily="2" charset="2"/>
              <a:buChar char="q"/>
            </a:pPr>
            <a:r>
              <a:rPr lang="en-US" sz="1000" dirty="0"/>
              <a:t>Selecting the right growth partners and new avenues are key to expanding company’s presence. By partnering with other companies, you can create new opportunities for growth and reach more customers.</a:t>
            </a:r>
            <a:endParaRPr lang="en-US" sz="1000" dirty="0">
              <a:solidFill>
                <a:prstClr val="black"/>
              </a:solidFill>
            </a:endParaRPr>
          </a:p>
        </p:txBody>
      </p:sp>
      <p:sp>
        <p:nvSpPr>
          <p:cNvPr id="54" name="TextBox 53"/>
          <p:cNvSpPr txBox="1"/>
          <p:nvPr/>
        </p:nvSpPr>
        <p:spPr>
          <a:xfrm>
            <a:off x="6463838" y="3072764"/>
            <a:ext cx="2377440" cy="3200400"/>
          </a:xfrm>
          <a:prstGeom prst="rect">
            <a:avLst/>
          </a:prstGeom>
          <a:noFill/>
        </p:spPr>
        <p:txBody>
          <a:bodyPr wrap="square" lIns="45720" tIns="45720" rIns="45720" bIns="45720" rtlCol="0">
            <a:noAutofit/>
          </a:bodyPr>
          <a:lstStyle/>
          <a:p>
            <a:pPr marL="173736" indent="-173736" algn="just">
              <a:spcBef>
                <a:spcPts val="100"/>
              </a:spcBef>
              <a:spcAft>
                <a:spcPts val="100"/>
              </a:spcAft>
              <a:buFont typeface="Wingdings" panose="05000000000000000000" pitchFamily="2" charset="2"/>
              <a:buChar char="q"/>
            </a:pPr>
            <a:r>
              <a:rPr lang="en-US" sz="1000" dirty="0"/>
              <a:t>The aftersales experience is critical to customers’ satisfaction with their purchase and loyalty to the brand. By tracking customer usage and offering proactive services, dealerships can enhance the aftersales experience and create customized offerings that meet customers’ needs.</a:t>
            </a:r>
          </a:p>
          <a:p>
            <a:pPr marL="173736" indent="-173736" algn="just">
              <a:spcBef>
                <a:spcPts val="100"/>
              </a:spcBef>
              <a:spcAft>
                <a:spcPts val="100"/>
              </a:spcAft>
              <a:buFont typeface="Wingdings" panose="05000000000000000000" pitchFamily="2" charset="2"/>
              <a:buChar char="q"/>
            </a:pPr>
            <a:r>
              <a:rPr lang="en-US" sz="1000" dirty="0"/>
              <a:t>Companies can use customer usage data to identify service issues early and proactively address them. This not only enhances the customer’s aftersales experience, but also helps build trust and confidence in the dealership. In addition, by offering customized service packages based on customer usage data, dealerships can show that they understand their customers’ needs and are committed to meeting them.</a:t>
            </a:r>
          </a:p>
          <a:p>
            <a:pPr marL="173736" indent="-173736" algn="just">
              <a:spcBef>
                <a:spcPts val="100"/>
              </a:spcBef>
              <a:spcAft>
                <a:spcPts val="100"/>
              </a:spcAft>
              <a:buFont typeface="Wingdings" panose="05000000000000000000" pitchFamily="2" charset="2"/>
              <a:buChar char="q"/>
            </a:pPr>
            <a:endParaRPr lang="en-US" sz="1000" dirty="0">
              <a:solidFill>
                <a:prstClr val="black"/>
              </a:solidFill>
            </a:endParaRPr>
          </a:p>
        </p:txBody>
      </p:sp>
      <p:sp>
        <p:nvSpPr>
          <p:cNvPr id="55" name="TextBox 54"/>
          <p:cNvSpPr txBox="1"/>
          <p:nvPr/>
        </p:nvSpPr>
        <p:spPr>
          <a:xfrm>
            <a:off x="9512878" y="3072764"/>
            <a:ext cx="2377440" cy="3200400"/>
          </a:xfrm>
          <a:prstGeom prst="rect">
            <a:avLst/>
          </a:prstGeom>
          <a:noFill/>
        </p:spPr>
        <p:txBody>
          <a:bodyPr wrap="square" lIns="45720" tIns="45720" rIns="45720" bIns="45720" rtlCol="0">
            <a:noAutofit/>
          </a:bodyPr>
          <a:lstStyle/>
          <a:p>
            <a:pPr marL="173736" indent="-173736" algn="just">
              <a:spcBef>
                <a:spcPts val="100"/>
              </a:spcBef>
              <a:spcAft>
                <a:spcPts val="100"/>
              </a:spcAft>
              <a:buFont typeface="Wingdings" panose="05000000000000000000" pitchFamily="2" charset="2"/>
              <a:buChar char="q"/>
            </a:pPr>
            <a:r>
              <a:rPr lang="en-US" sz="1000" dirty="0"/>
              <a:t>Businesses need to stay up-to-date on changes in regulation to ensure they are compliant. </a:t>
            </a:r>
          </a:p>
          <a:p>
            <a:pPr marL="173736" indent="-173736" algn="just">
              <a:spcBef>
                <a:spcPts val="100"/>
              </a:spcBef>
              <a:spcAft>
                <a:spcPts val="100"/>
              </a:spcAft>
              <a:buFont typeface="Wingdings" panose="05000000000000000000" pitchFamily="2" charset="2"/>
              <a:buChar char="q"/>
            </a:pPr>
            <a:r>
              <a:rPr lang="en-US" sz="1000" dirty="0"/>
              <a:t>They should also assess trade potential regularly to identify new opportunities. Currency fluctuations can impact costs, so businesses need to be aware of how these changes might affect their bottom line. </a:t>
            </a:r>
          </a:p>
          <a:p>
            <a:pPr marL="173736" indent="-173736" algn="just">
              <a:spcBef>
                <a:spcPts val="100"/>
              </a:spcBef>
              <a:spcAft>
                <a:spcPts val="100"/>
              </a:spcAft>
              <a:buFont typeface="Wingdings" panose="05000000000000000000" pitchFamily="2" charset="2"/>
              <a:buChar char="q"/>
            </a:pPr>
            <a:r>
              <a:rPr lang="en-US" sz="1000" dirty="0"/>
              <a:t>Taxes and tariffs can also have a significant impact on business operations and profitability, so it’s important to stay abreast of any changes that could affect your business.</a:t>
            </a:r>
            <a:endParaRPr lang="en-US" sz="1000" dirty="0">
              <a:solidFill>
                <a:prstClr val="black"/>
              </a:solidFill>
            </a:endParaRPr>
          </a:p>
        </p:txBody>
      </p:sp>
      <p:sp>
        <p:nvSpPr>
          <p:cNvPr id="56" name="TextBox 55"/>
          <p:cNvSpPr txBox="1"/>
          <p:nvPr/>
        </p:nvSpPr>
        <p:spPr>
          <a:xfrm>
            <a:off x="382768" y="2601140"/>
            <a:ext cx="2377440" cy="457200"/>
          </a:xfrm>
          <a:prstGeom prst="round2SameRect">
            <a:avLst/>
          </a:prstGeom>
          <a:gradFill flip="none" rotWithShape="1">
            <a:gsLst>
              <a:gs pos="0">
                <a:srgbClr val="01A7BD">
                  <a:tint val="66000"/>
                  <a:satMod val="160000"/>
                </a:srgbClr>
              </a:gs>
              <a:gs pos="50000">
                <a:srgbClr val="01A7BD">
                  <a:tint val="44500"/>
                  <a:satMod val="160000"/>
                </a:srgbClr>
              </a:gs>
              <a:gs pos="100000">
                <a:srgbClr val="01A7BD">
                  <a:tint val="23500"/>
                  <a:satMod val="160000"/>
                </a:srgbClr>
              </a:gs>
            </a:gsLst>
            <a:lin ang="5400000" scaled="1"/>
            <a:tileRect/>
          </a:gradFill>
        </p:spPr>
        <p:txBody>
          <a:bodyPr wrap="square" lIns="0" tIns="0" rIns="0" bIns="0" rtlCol="0" anchor="ctr">
            <a:noAutofit/>
          </a:bodyPr>
          <a:lstStyle/>
          <a:p>
            <a:pPr algn="ctr"/>
            <a:r>
              <a:rPr lang="en-US" sz="1200" b="1" dirty="0">
                <a:solidFill>
                  <a:prstClr val="black"/>
                </a:solidFill>
              </a:rPr>
              <a:t>Counting on market presence and expansion</a:t>
            </a:r>
          </a:p>
        </p:txBody>
      </p:sp>
      <p:sp>
        <p:nvSpPr>
          <p:cNvPr id="57" name="TextBox 56"/>
          <p:cNvSpPr txBox="1"/>
          <p:nvPr/>
        </p:nvSpPr>
        <p:spPr>
          <a:xfrm>
            <a:off x="3430374" y="2601140"/>
            <a:ext cx="2377440" cy="457200"/>
          </a:xfrm>
          <a:prstGeom prst="round2SameRect">
            <a:avLst/>
          </a:prstGeom>
          <a:gradFill flip="none" rotWithShape="1">
            <a:gsLst>
              <a:gs pos="0">
                <a:srgbClr val="5C4C95">
                  <a:tint val="66000"/>
                  <a:satMod val="160000"/>
                </a:srgbClr>
              </a:gs>
              <a:gs pos="50000">
                <a:srgbClr val="5C4C95">
                  <a:tint val="44500"/>
                  <a:satMod val="160000"/>
                </a:srgbClr>
              </a:gs>
              <a:gs pos="100000">
                <a:srgbClr val="5C4C95">
                  <a:tint val="23500"/>
                  <a:satMod val="160000"/>
                </a:srgbClr>
              </a:gs>
            </a:gsLst>
            <a:lin ang="5400000" scaled="1"/>
            <a:tileRect/>
          </a:gradFill>
        </p:spPr>
        <p:txBody>
          <a:bodyPr wrap="square" lIns="0" tIns="0" rIns="0" bIns="0" rtlCol="0" anchor="ctr">
            <a:noAutofit/>
          </a:bodyPr>
          <a:lstStyle/>
          <a:p>
            <a:pPr algn="ctr"/>
            <a:r>
              <a:rPr lang="en-US" sz="1200" b="1" dirty="0">
                <a:solidFill>
                  <a:prstClr val="black"/>
                </a:solidFill>
              </a:rPr>
              <a:t>Staying up-to-date with competition</a:t>
            </a:r>
            <a:endParaRPr lang="en-IN" sz="1200" b="1" dirty="0">
              <a:solidFill>
                <a:prstClr val="black"/>
              </a:solidFill>
            </a:endParaRPr>
          </a:p>
        </p:txBody>
      </p:sp>
      <p:sp>
        <p:nvSpPr>
          <p:cNvPr id="58" name="TextBox 57"/>
          <p:cNvSpPr txBox="1"/>
          <p:nvPr/>
        </p:nvSpPr>
        <p:spPr>
          <a:xfrm>
            <a:off x="6477980" y="2601140"/>
            <a:ext cx="2377440" cy="457200"/>
          </a:xfrm>
          <a:prstGeom prst="round2SameRect">
            <a:avLst/>
          </a:prstGeom>
          <a:gradFill flip="none" rotWithShape="1">
            <a:gsLst>
              <a:gs pos="0">
                <a:srgbClr val="BA3F90">
                  <a:tint val="66000"/>
                  <a:satMod val="160000"/>
                </a:srgbClr>
              </a:gs>
              <a:gs pos="50000">
                <a:srgbClr val="BA3F90">
                  <a:tint val="44500"/>
                  <a:satMod val="160000"/>
                </a:srgbClr>
              </a:gs>
              <a:gs pos="100000">
                <a:srgbClr val="BA3F90">
                  <a:tint val="23500"/>
                  <a:satMod val="160000"/>
                </a:srgbClr>
              </a:gs>
            </a:gsLst>
            <a:lin ang="5400000" scaled="1"/>
            <a:tileRect/>
          </a:gradFill>
        </p:spPr>
        <p:txBody>
          <a:bodyPr wrap="square" lIns="0" tIns="0" rIns="0" bIns="0" rtlCol="0" anchor="ctr">
            <a:noAutofit/>
          </a:bodyPr>
          <a:lstStyle/>
          <a:p>
            <a:pPr algn="ctr"/>
            <a:r>
              <a:rPr lang="en-US" sz="1200" b="1" dirty="0">
                <a:solidFill>
                  <a:prstClr val="black"/>
                </a:solidFill>
              </a:rPr>
              <a:t>Enhancing aftersales experience </a:t>
            </a:r>
            <a:endParaRPr lang="en-IN" sz="1200" b="1" dirty="0">
              <a:solidFill>
                <a:prstClr val="black"/>
              </a:solidFill>
            </a:endParaRPr>
          </a:p>
        </p:txBody>
      </p:sp>
      <p:sp>
        <p:nvSpPr>
          <p:cNvPr id="59" name="TextBox 58"/>
          <p:cNvSpPr txBox="1"/>
          <p:nvPr/>
        </p:nvSpPr>
        <p:spPr>
          <a:xfrm>
            <a:off x="9525586" y="2601140"/>
            <a:ext cx="2377440" cy="457200"/>
          </a:xfrm>
          <a:prstGeom prst="round2SameRect">
            <a:avLst/>
          </a:prstGeom>
          <a:gradFill flip="none" rotWithShape="1">
            <a:gsLst>
              <a:gs pos="0">
                <a:srgbClr val="E85522">
                  <a:tint val="66000"/>
                  <a:satMod val="160000"/>
                </a:srgbClr>
              </a:gs>
              <a:gs pos="50000">
                <a:srgbClr val="E85522">
                  <a:tint val="44500"/>
                  <a:satMod val="160000"/>
                </a:srgbClr>
              </a:gs>
              <a:gs pos="100000">
                <a:srgbClr val="E85522">
                  <a:tint val="23500"/>
                  <a:satMod val="160000"/>
                </a:srgbClr>
              </a:gs>
            </a:gsLst>
            <a:lin ang="5400000" scaled="1"/>
            <a:tileRect/>
          </a:gradFill>
        </p:spPr>
        <p:txBody>
          <a:bodyPr wrap="square" lIns="0" tIns="0" rIns="0" bIns="0" rtlCol="0" anchor="ctr">
            <a:noAutofit/>
          </a:bodyPr>
          <a:lstStyle/>
          <a:p>
            <a:pPr algn="ctr"/>
            <a:r>
              <a:rPr lang="en-US" sz="1200" b="1" dirty="0">
                <a:solidFill>
                  <a:prstClr val="black"/>
                </a:solidFill>
              </a:rPr>
              <a:t>Keeping up with economic trends</a:t>
            </a:r>
            <a:endParaRPr lang="en-IN" sz="1200" b="1" dirty="0">
              <a:solidFill>
                <a:prstClr val="black"/>
              </a:solidFill>
            </a:endParaRPr>
          </a:p>
        </p:txBody>
      </p:sp>
      <p:grpSp>
        <p:nvGrpSpPr>
          <p:cNvPr id="60" name="Group 59"/>
          <p:cNvGrpSpPr/>
          <p:nvPr/>
        </p:nvGrpSpPr>
        <p:grpSpPr>
          <a:xfrm>
            <a:off x="365760" y="1087739"/>
            <a:ext cx="11248904" cy="1463040"/>
            <a:chOff x="637155" y="1047397"/>
            <a:chExt cx="8899151" cy="1463040"/>
          </a:xfrm>
        </p:grpSpPr>
        <p:grpSp>
          <p:nvGrpSpPr>
            <p:cNvPr id="61" name="Group 60"/>
            <p:cNvGrpSpPr/>
            <p:nvPr/>
          </p:nvGrpSpPr>
          <p:grpSpPr>
            <a:xfrm>
              <a:off x="5798302" y="1047397"/>
              <a:ext cx="1246859" cy="1463040"/>
              <a:chOff x="5394523" y="1018420"/>
              <a:chExt cx="1561084" cy="1831745"/>
            </a:xfrm>
          </p:grpSpPr>
          <p:sp>
            <p:nvSpPr>
              <p:cNvPr id="95" name="Oval 94"/>
              <p:cNvSpPr/>
              <p:nvPr/>
            </p:nvSpPr>
            <p:spPr>
              <a:xfrm>
                <a:off x="5394523" y="1018420"/>
                <a:ext cx="1449117" cy="1831745"/>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sp>
            <p:nvSpPr>
              <p:cNvPr id="96" name="Freeform 95"/>
              <p:cNvSpPr/>
              <p:nvPr/>
            </p:nvSpPr>
            <p:spPr>
              <a:xfrm rot="2626997">
                <a:off x="5940757" y="1580735"/>
                <a:ext cx="1014850" cy="877250"/>
              </a:xfrm>
              <a:custGeom>
                <a:avLst/>
                <a:gdLst>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0 w 1410333"/>
                  <a:gd name="connsiteY5" fmla="*/ 1092753 h 1111883"/>
                  <a:gd name="connsiteX6" fmla="*/ 3624 w 1410333"/>
                  <a:gd name="connsiteY6" fmla="*/ 1089207 h 1111883"/>
                  <a:gd name="connsiteX7" fmla="*/ 3812 w 1410333"/>
                  <a:gd name="connsiteY7" fmla="*/ 1107839 h 1111883"/>
                  <a:gd name="connsiteX8" fmla="*/ 551718 w 1410333"/>
                  <a:gd name="connsiteY8" fmla="*/ 571263 h 1111883"/>
                  <a:gd name="connsiteX9" fmla="*/ 0 w 1410333"/>
                  <a:gd name="connsiteY9" fmla="*/ 12346 h 1111883"/>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0 w 1410333"/>
                  <a:gd name="connsiteY5" fmla="*/ 1092753 h 1111883"/>
                  <a:gd name="connsiteX6" fmla="*/ 3812 w 1410333"/>
                  <a:gd name="connsiteY6" fmla="*/ 1107839 h 1111883"/>
                  <a:gd name="connsiteX7" fmla="*/ 551718 w 1410333"/>
                  <a:gd name="connsiteY7" fmla="*/ 571263 h 1111883"/>
                  <a:gd name="connsiteX8" fmla="*/ 0 w 1410333"/>
                  <a:gd name="connsiteY8" fmla="*/ 12346 h 1111883"/>
                  <a:gd name="connsiteX9" fmla="*/ 0 w 1410333"/>
                  <a:gd name="connsiteY9" fmla="*/ 0 h 1111883"/>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3812 w 1410333"/>
                  <a:gd name="connsiteY5" fmla="*/ 1107839 h 1111883"/>
                  <a:gd name="connsiteX6" fmla="*/ 551718 w 1410333"/>
                  <a:gd name="connsiteY6" fmla="*/ 571263 h 1111883"/>
                  <a:gd name="connsiteX7" fmla="*/ 0 w 1410333"/>
                  <a:gd name="connsiteY7" fmla="*/ 12346 h 1111883"/>
                  <a:gd name="connsiteX8" fmla="*/ 0 w 1410333"/>
                  <a:gd name="connsiteY8" fmla="*/ 0 h 1111883"/>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3812 w 1410333"/>
                  <a:gd name="connsiteY5" fmla="*/ 1107839 h 1111883"/>
                  <a:gd name="connsiteX6" fmla="*/ 551718 w 1410333"/>
                  <a:gd name="connsiteY6" fmla="*/ 571263 h 1111883"/>
                  <a:gd name="connsiteX7" fmla="*/ 0 w 1410333"/>
                  <a:gd name="connsiteY7" fmla="*/ 0 h 1111883"/>
                  <a:gd name="connsiteX0" fmla="*/ 0 w 1420713"/>
                  <a:gd name="connsiteY0" fmla="*/ 0 h 1111883"/>
                  <a:gd name="connsiteX1" fmla="*/ 877330 w 1420713"/>
                  <a:gd name="connsiteY1" fmla="*/ 0 h 1111883"/>
                  <a:gd name="connsiteX2" fmla="*/ 1420713 w 1420713"/>
                  <a:gd name="connsiteY2" fmla="*/ 598281 h 1111883"/>
                  <a:gd name="connsiteX3" fmla="*/ 877330 w 1420713"/>
                  <a:gd name="connsiteY3" fmla="*/ 1111883 h 1111883"/>
                  <a:gd name="connsiteX4" fmla="*/ 0 w 1420713"/>
                  <a:gd name="connsiteY4" fmla="*/ 1111882 h 1111883"/>
                  <a:gd name="connsiteX5" fmla="*/ 3812 w 1420713"/>
                  <a:gd name="connsiteY5" fmla="*/ 1107839 h 1111883"/>
                  <a:gd name="connsiteX6" fmla="*/ 551718 w 1420713"/>
                  <a:gd name="connsiteY6" fmla="*/ 571263 h 1111883"/>
                  <a:gd name="connsiteX7" fmla="*/ 0 w 1420713"/>
                  <a:gd name="connsiteY7" fmla="*/ 0 h 111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0713" h="1111883">
                    <a:moveTo>
                      <a:pt x="0" y="0"/>
                    </a:moveTo>
                    <a:lnTo>
                      <a:pt x="877330" y="0"/>
                    </a:lnTo>
                    <a:lnTo>
                      <a:pt x="1420713" y="598281"/>
                    </a:lnTo>
                    <a:lnTo>
                      <a:pt x="877330" y="1111883"/>
                    </a:lnTo>
                    <a:lnTo>
                      <a:pt x="0" y="1111882"/>
                    </a:lnTo>
                    <a:lnTo>
                      <a:pt x="3812" y="1107839"/>
                    </a:lnTo>
                    <a:lnTo>
                      <a:pt x="551718" y="571263"/>
                    </a:lnTo>
                    <a:lnTo>
                      <a:pt x="0" y="0"/>
                    </a:lnTo>
                    <a:close/>
                  </a:path>
                </a:pathLst>
              </a:custGeom>
              <a:solidFill>
                <a:srgbClr val="BA3F9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sp>
            <p:nvSpPr>
              <p:cNvPr id="97" name="L-Shape 96"/>
              <p:cNvSpPr/>
              <p:nvPr/>
            </p:nvSpPr>
            <p:spPr>
              <a:xfrm rot="16200000">
                <a:off x="5801300" y="1407036"/>
                <a:ext cx="541399" cy="518520"/>
              </a:xfrm>
              <a:prstGeom prst="corner">
                <a:avLst>
                  <a:gd name="adj1" fmla="val 12222"/>
                  <a:gd name="adj2" fmla="val 12713"/>
                </a:avLst>
              </a:prstGeom>
              <a:solidFill>
                <a:srgbClr val="DF5CA0"/>
              </a:solidFill>
              <a:ln>
                <a:noFill/>
              </a:ln>
              <a:effectLst>
                <a:outerShdw blurRad="50800" dist="1143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pic>
            <p:nvPicPr>
              <p:cNvPr id="98" name="Picture 9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872921" y="1478014"/>
                <a:ext cx="349809" cy="353391"/>
              </a:xfrm>
              <a:prstGeom prst="rect">
                <a:avLst/>
              </a:prstGeom>
            </p:spPr>
          </p:pic>
        </p:grpSp>
        <p:grpSp>
          <p:nvGrpSpPr>
            <p:cNvPr id="62" name="Group 61"/>
            <p:cNvGrpSpPr/>
            <p:nvPr/>
          </p:nvGrpSpPr>
          <p:grpSpPr>
            <a:xfrm>
              <a:off x="637155" y="1047397"/>
              <a:ext cx="1157430" cy="1463040"/>
              <a:chOff x="264714" y="1018421"/>
              <a:chExt cx="1449117" cy="1831746"/>
            </a:xfrm>
          </p:grpSpPr>
          <p:sp>
            <p:nvSpPr>
              <p:cNvPr id="91" name="Oval 90"/>
              <p:cNvSpPr/>
              <p:nvPr/>
            </p:nvSpPr>
            <p:spPr>
              <a:xfrm>
                <a:off x="264714" y="1018421"/>
                <a:ext cx="1449117" cy="183174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sp>
            <p:nvSpPr>
              <p:cNvPr id="92" name="Freeform 91"/>
              <p:cNvSpPr/>
              <p:nvPr/>
            </p:nvSpPr>
            <p:spPr>
              <a:xfrm rot="2662962">
                <a:off x="680163" y="1670816"/>
                <a:ext cx="1017143" cy="821638"/>
              </a:xfrm>
              <a:custGeom>
                <a:avLst/>
                <a:gdLst>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0 w 1410333"/>
                  <a:gd name="connsiteY5" fmla="*/ 1092753 h 1111883"/>
                  <a:gd name="connsiteX6" fmla="*/ 3624 w 1410333"/>
                  <a:gd name="connsiteY6" fmla="*/ 1089207 h 1111883"/>
                  <a:gd name="connsiteX7" fmla="*/ 3812 w 1410333"/>
                  <a:gd name="connsiteY7" fmla="*/ 1107839 h 1111883"/>
                  <a:gd name="connsiteX8" fmla="*/ 551718 w 1410333"/>
                  <a:gd name="connsiteY8" fmla="*/ 571263 h 1111883"/>
                  <a:gd name="connsiteX9" fmla="*/ 0 w 1410333"/>
                  <a:gd name="connsiteY9" fmla="*/ 12346 h 1111883"/>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0 w 1410333"/>
                  <a:gd name="connsiteY5" fmla="*/ 1092753 h 1111883"/>
                  <a:gd name="connsiteX6" fmla="*/ 3812 w 1410333"/>
                  <a:gd name="connsiteY6" fmla="*/ 1107839 h 1111883"/>
                  <a:gd name="connsiteX7" fmla="*/ 551718 w 1410333"/>
                  <a:gd name="connsiteY7" fmla="*/ 571263 h 1111883"/>
                  <a:gd name="connsiteX8" fmla="*/ 0 w 1410333"/>
                  <a:gd name="connsiteY8" fmla="*/ 12346 h 1111883"/>
                  <a:gd name="connsiteX9" fmla="*/ 0 w 1410333"/>
                  <a:gd name="connsiteY9" fmla="*/ 0 h 1111883"/>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3812 w 1410333"/>
                  <a:gd name="connsiteY5" fmla="*/ 1107839 h 1111883"/>
                  <a:gd name="connsiteX6" fmla="*/ 551718 w 1410333"/>
                  <a:gd name="connsiteY6" fmla="*/ 571263 h 1111883"/>
                  <a:gd name="connsiteX7" fmla="*/ 0 w 1410333"/>
                  <a:gd name="connsiteY7" fmla="*/ 12346 h 1111883"/>
                  <a:gd name="connsiteX8" fmla="*/ 0 w 1410333"/>
                  <a:gd name="connsiteY8" fmla="*/ 0 h 1111883"/>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3812 w 1410333"/>
                  <a:gd name="connsiteY5" fmla="*/ 1107839 h 1111883"/>
                  <a:gd name="connsiteX6" fmla="*/ 551718 w 1410333"/>
                  <a:gd name="connsiteY6" fmla="*/ 571263 h 1111883"/>
                  <a:gd name="connsiteX7" fmla="*/ 0 w 1410333"/>
                  <a:gd name="connsiteY7" fmla="*/ 0 h 1111883"/>
                  <a:gd name="connsiteX0" fmla="*/ 0 w 1437040"/>
                  <a:gd name="connsiteY0" fmla="*/ 0 h 1111883"/>
                  <a:gd name="connsiteX1" fmla="*/ 877330 w 1437040"/>
                  <a:gd name="connsiteY1" fmla="*/ 0 h 1111883"/>
                  <a:gd name="connsiteX2" fmla="*/ 1437040 w 1437040"/>
                  <a:gd name="connsiteY2" fmla="*/ 593174 h 1111883"/>
                  <a:gd name="connsiteX3" fmla="*/ 877330 w 1437040"/>
                  <a:gd name="connsiteY3" fmla="*/ 1111883 h 1111883"/>
                  <a:gd name="connsiteX4" fmla="*/ 0 w 1437040"/>
                  <a:gd name="connsiteY4" fmla="*/ 1111882 h 1111883"/>
                  <a:gd name="connsiteX5" fmla="*/ 3812 w 1437040"/>
                  <a:gd name="connsiteY5" fmla="*/ 1107839 h 1111883"/>
                  <a:gd name="connsiteX6" fmla="*/ 551718 w 1437040"/>
                  <a:gd name="connsiteY6" fmla="*/ 571263 h 1111883"/>
                  <a:gd name="connsiteX7" fmla="*/ 0 w 1437040"/>
                  <a:gd name="connsiteY7" fmla="*/ 0 h 111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7040" h="1111883">
                    <a:moveTo>
                      <a:pt x="0" y="0"/>
                    </a:moveTo>
                    <a:lnTo>
                      <a:pt x="877330" y="0"/>
                    </a:lnTo>
                    <a:lnTo>
                      <a:pt x="1437040" y="593174"/>
                    </a:lnTo>
                    <a:lnTo>
                      <a:pt x="877330" y="1111883"/>
                    </a:lnTo>
                    <a:lnTo>
                      <a:pt x="0" y="1111882"/>
                    </a:lnTo>
                    <a:lnTo>
                      <a:pt x="3812" y="1107839"/>
                    </a:lnTo>
                    <a:lnTo>
                      <a:pt x="551718" y="571263"/>
                    </a:lnTo>
                    <a:lnTo>
                      <a:pt x="0" y="0"/>
                    </a:lnTo>
                    <a:close/>
                  </a:path>
                </a:pathLst>
              </a:custGeom>
              <a:solidFill>
                <a:srgbClr val="01A7B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sp>
            <p:nvSpPr>
              <p:cNvPr id="93" name="L-Shape 92"/>
              <p:cNvSpPr/>
              <p:nvPr/>
            </p:nvSpPr>
            <p:spPr>
              <a:xfrm rot="16200000">
                <a:off x="556234" y="1444696"/>
                <a:ext cx="491970" cy="566057"/>
              </a:xfrm>
              <a:prstGeom prst="corner">
                <a:avLst>
                  <a:gd name="adj1" fmla="val 12222"/>
                  <a:gd name="adj2" fmla="val 12713"/>
                </a:avLst>
              </a:prstGeom>
              <a:solidFill>
                <a:srgbClr val="00AFD1"/>
              </a:solidFill>
              <a:ln>
                <a:noFill/>
              </a:ln>
              <a:effectLst>
                <a:outerShdw blurRad="50800" dist="1143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pic>
            <p:nvPicPr>
              <p:cNvPr id="94" name="Picture 9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75687" y="1491079"/>
                <a:ext cx="345505" cy="353391"/>
              </a:xfrm>
              <a:prstGeom prst="rect">
                <a:avLst/>
              </a:prstGeom>
            </p:spPr>
          </p:pic>
        </p:grpSp>
        <p:grpSp>
          <p:nvGrpSpPr>
            <p:cNvPr id="63" name="Group 62"/>
            <p:cNvGrpSpPr/>
            <p:nvPr/>
          </p:nvGrpSpPr>
          <p:grpSpPr>
            <a:xfrm>
              <a:off x="8378876" y="1047397"/>
              <a:ext cx="1157430" cy="1463040"/>
              <a:chOff x="7993455" y="1026399"/>
              <a:chExt cx="1449118" cy="1831746"/>
            </a:xfrm>
          </p:grpSpPr>
          <p:sp>
            <p:nvSpPr>
              <p:cNvPr id="87" name="Oval 86"/>
              <p:cNvSpPr/>
              <p:nvPr/>
            </p:nvSpPr>
            <p:spPr>
              <a:xfrm>
                <a:off x="7993455" y="1026399"/>
                <a:ext cx="1449118" cy="183174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sp>
            <p:nvSpPr>
              <p:cNvPr id="88" name="Freeform 87"/>
              <p:cNvSpPr/>
              <p:nvPr/>
            </p:nvSpPr>
            <p:spPr>
              <a:xfrm rot="2709263">
                <a:off x="8452323" y="1520173"/>
                <a:ext cx="1006013" cy="885949"/>
              </a:xfrm>
              <a:custGeom>
                <a:avLst/>
                <a:gdLst>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0 w 1410333"/>
                  <a:gd name="connsiteY5" fmla="*/ 1092753 h 1111883"/>
                  <a:gd name="connsiteX6" fmla="*/ 3624 w 1410333"/>
                  <a:gd name="connsiteY6" fmla="*/ 1089207 h 1111883"/>
                  <a:gd name="connsiteX7" fmla="*/ 3812 w 1410333"/>
                  <a:gd name="connsiteY7" fmla="*/ 1107839 h 1111883"/>
                  <a:gd name="connsiteX8" fmla="*/ 551718 w 1410333"/>
                  <a:gd name="connsiteY8" fmla="*/ 571263 h 1111883"/>
                  <a:gd name="connsiteX9" fmla="*/ 0 w 1410333"/>
                  <a:gd name="connsiteY9" fmla="*/ 12346 h 1111883"/>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0 w 1410333"/>
                  <a:gd name="connsiteY5" fmla="*/ 1092753 h 1111883"/>
                  <a:gd name="connsiteX6" fmla="*/ 3812 w 1410333"/>
                  <a:gd name="connsiteY6" fmla="*/ 1107839 h 1111883"/>
                  <a:gd name="connsiteX7" fmla="*/ 551718 w 1410333"/>
                  <a:gd name="connsiteY7" fmla="*/ 571263 h 1111883"/>
                  <a:gd name="connsiteX8" fmla="*/ 0 w 1410333"/>
                  <a:gd name="connsiteY8" fmla="*/ 12346 h 1111883"/>
                  <a:gd name="connsiteX9" fmla="*/ 0 w 1410333"/>
                  <a:gd name="connsiteY9" fmla="*/ 0 h 1111883"/>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3812 w 1410333"/>
                  <a:gd name="connsiteY5" fmla="*/ 1107839 h 1111883"/>
                  <a:gd name="connsiteX6" fmla="*/ 551718 w 1410333"/>
                  <a:gd name="connsiteY6" fmla="*/ 571263 h 1111883"/>
                  <a:gd name="connsiteX7" fmla="*/ 0 w 1410333"/>
                  <a:gd name="connsiteY7" fmla="*/ 12346 h 1111883"/>
                  <a:gd name="connsiteX8" fmla="*/ 0 w 1410333"/>
                  <a:gd name="connsiteY8" fmla="*/ 0 h 1111883"/>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3812 w 1410333"/>
                  <a:gd name="connsiteY5" fmla="*/ 1107839 h 1111883"/>
                  <a:gd name="connsiteX6" fmla="*/ 551718 w 1410333"/>
                  <a:gd name="connsiteY6" fmla="*/ 571263 h 1111883"/>
                  <a:gd name="connsiteX7" fmla="*/ 0 w 1410333"/>
                  <a:gd name="connsiteY7" fmla="*/ 0 h 1111883"/>
                  <a:gd name="connsiteX0" fmla="*/ 0 w 1437040"/>
                  <a:gd name="connsiteY0" fmla="*/ 0 h 1111883"/>
                  <a:gd name="connsiteX1" fmla="*/ 877330 w 1437040"/>
                  <a:gd name="connsiteY1" fmla="*/ 0 h 1111883"/>
                  <a:gd name="connsiteX2" fmla="*/ 1437040 w 1437040"/>
                  <a:gd name="connsiteY2" fmla="*/ 593174 h 1111883"/>
                  <a:gd name="connsiteX3" fmla="*/ 877330 w 1437040"/>
                  <a:gd name="connsiteY3" fmla="*/ 1111883 h 1111883"/>
                  <a:gd name="connsiteX4" fmla="*/ 0 w 1437040"/>
                  <a:gd name="connsiteY4" fmla="*/ 1111882 h 1111883"/>
                  <a:gd name="connsiteX5" fmla="*/ 3812 w 1437040"/>
                  <a:gd name="connsiteY5" fmla="*/ 1107839 h 1111883"/>
                  <a:gd name="connsiteX6" fmla="*/ 551718 w 1437040"/>
                  <a:gd name="connsiteY6" fmla="*/ 571263 h 1111883"/>
                  <a:gd name="connsiteX7" fmla="*/ 0 w 1437040"/>
                  <a:gd name="connsiteY7" fmla="*/ 0 h 111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7040" h="1111883">
                    <a:moveTo>
                      <a:pt x="0" y="0"/>
                    </a:moveTo>
                    <a:lnTo>
                      <a:pt x="877330" y="0"/>
                    </a:lnTo>
                    <a:lnTo>
                      <a:pt x="1437040" y="593174"/>
                    </a:lnTo>
                    <a:lnTo>
                      <a:pt x="877330" y="1111883"/>
                    </a:lnTo>
                    <a:lnTo>
                      <a:pt x="0" y="1111882"/>
                    </a:lnTo>
                    <a:lnTo>
                      <a:pt x="3812" y="1107839"/>
                    </a:lnTo>
                    <a:lnTo>
                      <a:pt x="551718" y="571263"/>
                    </a:lnTo>
                    <a:lnTo>
                      <a:pt x="0" y="0"/>
                    </a:lnTo>
                    <a:close/>
                  </a:path>
                </a:pathLst>
              </a:custGeom>
              <a:solidFill>
                <a:srgbClr val="E855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sp>
            <p:nvSpPr>
              <p:cNvPr id="89" name="L-Shape 88"/>
              <p:cNvSpPr/>
              <p:nvPr/>
            </p:nvSpPr>
            <p:spPr>
              <a:xfrm rot="16200000">
                <a:off x="8335513" y="1319855"/>
                <a:ext cx="509981" cy="521361"/>
              </a:xfrm>
              <a:prstGeom prst="corner">
                <a:avLst>
                  <a:gd name="adj1" fmla="val 12222"/>
                  <a:gd name="adj2" fmla="val 12713"/>
                </a:avLst>
              </a:prstGeom>
              <a:solidFill>
                <a:srgbClr val="F2731F"/>
              </a:solidFill>
              <a:ln>
                <a:noFill/>
              </a:ln>
              <a:effectLst>
                <a:outerShdw blurRad="50800" dist="1143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pic>
            <p:nvPicPr>
              <p:cNvPr id="90" name="Picture 8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412952" y="1372287"/>
                <a:ext cx="340603" cy="366660"/>
              </a:xfrm>
              <a:prstGeom prst="rect">
                <a:avLst/>
              </a:prstGeom>
            </p:spPr>
          </p:pic>
        </p:grpSp>
        <p:grpSp>
          <p:nvGrpSpPr>
            <p:cNvPr id="64" name="Group 63"/>
            <p:cNvGrpSpPr/>
            <p:nvPr/>
          </p:nvGrpSpPr>
          <p:grpSpPr>
            <a:xfrm>
              <a:off x="3217729" y="1047397"/>
              <a:ext cx="1157430" cy="1463040"/>
              <a:chOff x="2842717" y="1018420"/>
              <a:chExt cx="1449117" cy="1831746"/>
            </a:xfrm>
          </p:grpSpPr>
          <p:sp>
            <p:nvSpPr>
              <p:cNvPr id="79" name="Oval 78"/>
              <p:cNvSpPr/>
              <p:nvPr/>
            </p:nvSpPr>
            <p:spPr>
              <a:xfrm>
                <a:off x="2842717" y="1018420"/>
                <a:ext cx="1449117" cy="183174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sp>
            <p:nvSpPr>
              <p:cNvPr id="80" name="Freeform 79"/>
              <p:cNvSpPr/>
              <p:nvPr/>
            </p:nvSpPr>
            <p:spPr>
              <a:xfrm rot="2662962">
                <a:off x="3272074" y="1595917"/>
                <a:ext cx="990949" cy="815741"/>
              </a:xfrm>
              <a:custGeom>
                <a:avLst/>
                <a:gdLst>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0 w 1410333"/>
                  <a:gd name="connsiteY5" fmla="*/ 1092753 h 1111883"/>
                  <a:gd name="connsiteX6" fmla="*/ 3624 w 1410333"/>
                  <a:gd name="connsiteY6" fmla="*/ 1089207 h 1111883"/>
                  <a:gd name="connsiteX7" fmla="*/ 3812 w 1410333"/>
                  <a:gd name="connsiteY7" fmla="*/ 1107839 h 1111883"/>
                  <a:gd name="connsiteX8" fmla="*/ 551718 w 1410333"/>
                  <a:gd name="connsiteY8" fmla="*/ 571263 h 1111883"/>
                  <a:gd name="connsiteX9" fmla="*/ 0 w 1410333"/>
                  <a:gd name="connsiteY9" fmla="*/ 12346 h 1111883"/>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0 w 1410333"/>
                  <a:gd name="connsiteY5" fmla="*/ 1092753 h 1111883"/>
                  <a:gd name="connsiteX6" fmla="*/ 3812 w 1410333"/>
                  <a:gd name="connsiteY6" fmla="*/ 1107839 h 1111883"/>
                  <a:gd name="connsiteX7" fmla="*/ 551718 w 1410333"/>
                  <a:gd name="connsiteY7" fmla="*/ 571263 h 1111883"/>
                  <a:gd name="connsiteX8" fmla="*/ 0 w 1410333"/>
                  <a:gd name="connsiteY8" fmla="*/ 12346 h 1111883"/>
                  <a:gd name="connsiteX9" fmla="*/ 0 w 1410333"/>
                  <a:gd name="connsiteY9" fmla="*/ 0 h 1111883"/>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3812 w 1410333"/>
                  <a:gd name="connsiteY5" fmla="*/ 1107839 h 1111883"/>
                  <a:gd name="connsiteX6" fmla="*/ 551718 w 1410333"/>
                  <a:gd name="connsiteY6" fmla="*/ 571263 h 1111883"/>
                  <a:gd name="connsiteX7" fmla="*/ 0 w 1410333"/>
                  <a:gd name="connsiteY7" fmla="*/ 12346 h 1111883"/>
                  <a:gd name="connsiteX8" fmla="*/ 0 w 1410333"/>
                  <a:gd name="connsiteY8" fmla="*/ 0 h 1111883"/>
                  <a:gd name="connsiteX0" fmla="*/ 0 w 1410333"/>
                  <a:gd name="connsiteY0" fmla="*/ 0 h 1111883"/>
                  <a:gd name="connsiteX1" fmla="*/ 877330 w 1410333"/>
                  <a:gd name="connsiteY1" fmla="*/ 0 h 1111883"/>
                  <a:gd name="connsiteX2" fmla="*/ 1410333 w 1410333"/>
                  <a:gd name="connsiteY2" fmla="*/ 555941 h 1111883"/>
                  <a:gd name="connsiteX3" fmla="*/ 877330 w 1410333"/>
                  <a:gd name="connsiteY3" fmla="*/ 1111883 h 1111883"/>
                  <a:gd name="connsiteX4" fmla="*/ 0 w 1410333"/>
                  <a:gd name="connsiteY4" fmla="*/ 1111882 h 1111883"/>
                  <a:gd name="connsiteX5" fmla="*/ 3812 w 1410333"/>
                  <a:gd name="connsiteY5" fmla="*/ 1107839 h 1111883"/>
                  <a:gd name="connsiteX6" fmla="*/ 551718 w 1410333"/>
                  <a:gd name="connsiteY6" fmla="*/ 571263 h 1111883"/>
                  <a:gd name="connsiteX7" fmla="*/ 0 w 1410333"/>
                  <a:gd name="connsiteY7" fmla="*/ 0 h 1111883"/>
                  <a:gd name="connsiteX0" fmla="*/ 0 w 1437040"/>
                  <a:gd name="connsiteY0" fmla="*/ 0 h 1111883"/>
                  <a:gd name="connsiteX1" fmla="*/ 877330 w 1437040"/>
                  <a:gd name="connsiteY1" fmla="*/ 0 h 1111883"/>
                  <a:gd name="connsiteX2" fmla="*/ 1437040 w 1437040"/>
                  <a:gd name="connsiteY2" fmla="*/ 593174 h 1111883"/>
                  <a:gd name="connsiteX3" fmla="*/ 877330 w 1437040"/>
                  <a:gd name="connsiteY3" fmla="*/ 1111883 h 1111883"/>
                  <a:gd name="connsiteX4" fmla="*/ 0 w 1437040"/>
                  <a:gd name="connsiteY4" fmla="*/ 1111882 h 1111883"/>
                  <a:gd name="connsiteX5" fmla="*/ 3812 w 1437040"/>
                  <a:gd name="connsiteY5" fmla="*/ 1107839 h 1111883"/>
                  <a:gd name="connsiteX6" fmla="*/ 551718 w 1437040"/>
                  <a:gd name="connsiteY6" fmla="*/ 571263 h 1111883"/>
                  <a:gd name="connsiteX7" fmla="*/ 0 w 1437040"/>
                  <a:gd name="connsiteY7" fmla="*/ 0 h 111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7040" h="1111883">
                    <a:moveTo>
                      <a:pt x="0" y="0"/>
                    </a:moveTo>
                    <a:lnTo>
                      <a:pt x="877330" y="0"/>
                    </a:lnTo>
                    <a:lnTo>
                      <a:pt x="1437040" y="593174"/>
                    </a:lnTo>
                    <a:lnTo>
                      <a:pt x="877330" y="1111883"/>
                    </a:lnTo>
                    <a:lnTo>
                      <a:pt x="0" y="1111882"/>
                    </a:lnTo>
                    <a:lnTo>
                      <a:pt x="3812" y="1107839"/>
                    </a:lnTo>
                    <a:lnTo>
                      <a:pt x="551718" y="571263"/>
                    </a:lnTo>
                    <a:lnTo>
                      <a:pt x="0" y="0"/>
                    </a:lnTo>
                    <a:close/>
                  </a:path>
                </a:pathLst>
              </a:custGeom>
              <a:solidFill>
                <a:srgbClr val="5C4C9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sp>
            <p:nvSpPr>
              <p:cNvPr id="81" name="L-Shape 80"/>
              <p:cNvSpPr/>
              <p:nvPr/>
            </p:nvSpPr>
            <p:spPr>
              <a:xfrm rot="16200000">
                <a:off x="3148179" y="1400331"/>
                <a:ext cx="508932" cy="498749"/>
              </a:xfrm>
              <a:prstGeom prst="corner">
                <a:avLst>
                  <a:gd name="adj1" fmla="val 12222"/>
                  <a:gd name="adj2" fmla="val 12713"/>
                </a:avLst>
              </a:prstGeom>
              <a:solidFill>
                <a:srgbClr val="7963AA"/>
              </a:solidFill>
              <a:ln>
                <a:noFill/>
              </a:ln>
              <a:effectLst>
                <a:outerShdw blurRad="50800" dist="1143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pic>
            <p:nvPicPr>
              <p:cNvPr id="83" name="Picture 8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184810" y="1401990"/>
                <a:ext cx="360902" cy="366722"/>
              </a:xfrm>
              <a:prstGeom prst="rect">
                <a:avLst/>
              </a:prstGeom>
            </p:spPr>
          </p:pic>
        </p:grpSp>
        <p:cxnSp>
          <p:nvCxnSpPr>
            <p:cNvPr id="65" name="Straight Connector 64"/>
            <p:cNvCxnSpPr/>
            <p:nvPr/>
          </p:nvCxnSpPr>
          <p:spPr>
            <a:xfrm>
              <a:off x="2191530" y="2433960"/>
              <a:ext cx="1696191" cy="0"/>
            </a:xfrm>
            <a:prstGeom prst="line">
              <a:avLst/>
            </a:prstGeom>
            <a:ln w="28575">
              <a:solidFill>
                <a:srgbClr val="8875B2"/>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936511" y="2433960"/>
              <a:ext cx="1494266" cy="0"/>
            </a:xfrm>
            <a:prstGeom prst="line">
              <a:avLst/>
            </a:prstGeom>
            <a:ln w="28575">
              <a:solidFill>
                <a:srgbClr val="E375AF"/>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7413831" y="2433960"/>
              <a:ext cx="1601000" cy="0"/>
            </a:xfrm>
            <a:prstGeom prst="line">
              <a:avLst/>
            </a:prstGeom>
            <a:ln w="28575">
              <a:solidFill>
                <a:srgbClr val="F4843D"/>
              </a:solidFill>
            </a:ln>
          </p:spPr>
          <p:style>
            <a:lnRef idx="1">
              <a:schemeClr val="accent1"/>
            </a:lnRef>
            <a:fillRef idx="0">
              <a:schemeClr val="accent1"/>
            </a:fillRef>
            <a:effectRef idx="0">
              <a:schemeClr val="accent1"/>
            </a:effectRef>
            <a:fontRef idx="minor">
              <a:schemeClr val="tx1"/>
            </a:fontRef>
          </p:style>
        </p:cxnSp>
        <p:sp>
          <p:nvSpPr>
            <p:cNvPr id="68" name="TextBox 67"/>
            <p:cNvSpPr txBox="1"/>
            <p:nvPr/>
          </p:nvSpPr>
          <p:spPr>
            <a:xfrm>
              <a:off x="3602315" y="2066340"/>
              <a:ext cx="259687" cy="307777"/>
            </a:xfrm>
            <a:prstGeom prst="rect">
              <a:avLst/>
            </a:prstGeom>
            <a:noFill/>
          </p:spPr>
          <p:txBody>
            <a:bodyPr wrap="none" lIns="0" tIns="0" rIns="0" bIns="0" rtlCol="0">
              <a:spAutoFit/>
            </a:bodyPr>
            <a:lstStyle/>
            <a:p>
              <a:pPr algn="ctr"/>
              <a:r>
                <a:rPr lang="en-US" sz="2000" b="1" dirty="0">
                  <a:solidFill>
                    <a:srgbClr val="5C4C95"/>
                  </a:solidFill>
                </a:rPr>
                <a:t>02</a:t>
              </a:r>
              <a:endParaRPr lang="en-IN" sz="2000" b="1" dirty="0">
                <a:solidFill>
                  <a:srgbClr val="5C4C95"/>
                </a:solidFill>
              </a:endParaRPr>
            </a:p>
          </p:txBody>
        </p:sp>
        <p:sp>
          <p:nvSpPr>
            <p:cNvPr id="69" name="TextBox 68"/>
            <p:cNvSpPr txBox="1"/>
            <p:nvPr/>
          </p:nvSpPr>
          <p:spPr>
            <a:xfrm>
              <a:off x="918800" y="2072405"/>
              <a:ext cx="259687" cy="307777"/>
            </a:xfrm>
            <a:prstGeom prst="rect">
              <a:avLst/>
            </a:prstGeom>
            <a:noFill/>
          </p:spPr>
          <p:txBody>
            <a:bodyPr wrap="none" lIns="0" tIns="0" rIns="0" bIns="0" rtlCol="0">
              <a:spAutoFit/>
            </a:bodyPr>
            <a:lstStyle/>
            <a:p>
              <a:pPr algn="ctr"/>
              <a:r>
                <a:rPr lang="en-US" sz="2000" b="1" dirty="0">
                  <a:solidFill>
                    <a:srgbClr val="01A7BD"/>
                  </a:solidFill>
                </a:rPr>
                <a:t>01</a:t>
              </a:r>
              <a:endParaRPr lang="en-IN" sz="2000" b="1" dirty="0">
                <a:solidFill>
                  <a:srgbClr val="01A7BD"/>
                </a:solidFill>
              </a:endParaRPr>
            </a:p>
          </p:txBody>
        </p:sp>
        <p:sp>
          <p:nvSpPr>
            <p:cNvPr id="70" name="TextBox 69"/>
            <p:cNvSpPr txBox="1"/>
            <p:nvPr/>
          </p:nvSpPr>
          <p:spPr>
            <a:xfrm>
              <a:off x="6168152" y="2063509"/>
              <a:ext cx="259687" cy="307777"/>
            </a:xfrm>
            <a:prstGeom prst="rect">
              <a:avLst/>
            </a:prstGeom>
            <a:noFill/>
          </p:spPr>
          <p:txBody>
            <a:bodyPr wrap="none" lIns="0" tIns="0" rIns="0" bIns="0" rtlCol="0">
              <a:spAutoFit/>
            </a:bodyPr>
            <a:lstStyle/>
            <a:p>
              <a:pPr algn="ctr"/>
              <a:r>
                <a:rPr lang="en-US" sz="2000" b="1" dirty="0">
                  <a:solidFill>
                    <a:srgbClr val="E05EA2"/>
                  </a:solidFill>
                </a:rPr>
                <a:t>03</a:t>
              </a:r>
              <a:endParaRPr lang="en-IN" sz="2000" b="1" dirty="0">
                <a:solidFill>
                  <a:srgbClr val="E05EA2"/>
                </a:solidFill>
              </a:endParaRPr>
            </a:p>
          </p:txBody>
        </p:sp>
        <p:sp>
          <p:nvSpPr>
            <p:cNvPr id="71" name="TextBox 70"/>
            <p:cNvSpPr txBox="1"/>
            <p:nvPr/>
          </p:nvSpPr>
          <p:spPr>
            <a:xfrm>
              <a:off x="8672190" y="2040463"/>
              <a:ext cx="259686" cy="307777"/>
            </a:xfrm>
            <a:prstGeom prst="rect">
              <a:avLst/>
            </a:prstGeom>
            <a:noFill/>
          </p:spPr>
          <p:txBody>
            <a:bodyPr wrap="none" lIns="0" tIns="0" rIns="0" bIns="0" rtlCol="0">
              <a:spAutoFit/>
            </a:bodyPr>
            <a:lstStyle/>
            <a:p>
              <a:pPr algn="ctr"/>
              <a:r>
                <a:rPr lang="en-US" sz="2000" b="1" dirty="0">
                  <a:solidFill>
                    <a:srgbClr val="E85522"/>
                  </a:solidFill>
                </a:rPr>
                <a:t>04</a:t>
              </a:r>
              <a:endParaRPr lang="en-IN" sz="2000" b="1" dirty="0">
                <a:solidFill>
                  <a:srgbClr val="E85522"/>
                </a:solidFill>
              </a:endParaRPr>
            </a:p>
          </p:txBody>
        </p:sp>
        <p:cxnSp>
          <p:nvCxnSpPr>
            <p:cNvPr id="72" name="Straight Connector 71"/>
            <p:cNvCxnSpPr/>
            <p:nvPr/>
          </p:nvCxnSpPr>
          <p:spPr>
            <a:xfrm>
              <a:off x="3877596" y="2433960"/>
              <a:ext cx="1067333" cy="0"/>
            </a:xfrm>
            <a:prstGeom prst="line">
              <a:avLst/>
            </a:prstGeom>
            <a:ln w="28575">
              <a:solidFill>
                <a:srgbClr val="8875B2"/>
              </a:solidFill>
            </a:ln>
          </p:spPr>
          <p:style>
            <a:lnRef idx="1">
              <a:schemeClr val="accent1"/>
            </a:lnRef>
            <a:fillRef idx="0">
              <a:schemeClr val="accent1"/>
            </a:fillRef>
            <a:effectRef idx="0">
              <a:schemeClr val="accent1"/>
            </a:effectRef>
            <a:fontRef idx="minor">
              <a:schemeClr val="tx1"/>
            </a:fontRef>
          </p:style>
        </p:cxnSp>
        <p:sp>
          <p:nvSpPr>
            <p:cNvPr id="73" name="Oval 72"/>
            <p:cNvSpPr/>
            <p:nvPr/>
          </p:nvSpPr>
          <p:spPr>
            <a:xfrm>
              <a:off x="1159691" y="2367708"/>
              <a:ext cx="128016" cy="128016"/>
            </a:xfrm>
            <a:prstGeom prst="ellipse">
              <a:avLst/>
            </a:prstGeom>
            <a:solidFill>
              <a:srgbClr val="01A7B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sp>
          <p:nvSpPr>
            <p:cNvPr id="74" name="Oval 73"/>
            <p:cNvSpPr/>
            <p:nvPr/>
          </p:nvSpPr>
          <p:spPr>
            <a:xfrm>
              <a:off x="3819802" y="2367708"/>
              <a:ext cx="128016" cy="128016"/>
            </a:xfrm>
            <a:prstGeom prst="ellipse">
              <a:avLst/>
            </a:prstGeom>
            <a:solidFill>
              <a:srgbClr val="5C4C9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sp>
          <p:nvSpPr>
            <p:cNvPr id="75" name="Oval 74"/>
            <p:cNvSpPr/>
            <p:nvPr/>
          </p:nvSpPr>
          <p:spPr>
            <a:xfrm>
              <a:off x="8991292" y="2367708"/>
              <a:ext cx="128016" cy="128016"/>
            </a:xfrm>
            <a:prstGeom prst="ellipse">
              <a:avLst/>
            </a:prstGeom>
            <a:solidFill>
              <a:srgbClr val="EE690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cxnSp>
          <p:nvCxnSpPr>
            <p:cNvPr id="76" name="Straight Connector 75"/>
            <p:cNvCxnSpPr/>
            <p:nvPr/>
          </p:nvCxnSpPr>
          <p:spPr>
            <a:xfrm>
              <a:off x="6210936" y="2433960"/>
              <a:ext cx="1387533" cy="0"/>
            </a:xfrm>
            <a:prstGeom prst="line">
              <a:avLst/>
            </a:prstGeom>
            <a:ln w="28575">
              <a:solidFill>
                <a:srgbClr val="E05EA2"/>
              </a:solidFill>
            </a:ln>
          </p:spPr>
          <p:style>
            <a:lnRef idx="1">
              <a:schemeClr val="accent1"/>
            </a:lnRef>
            <a:fillRef idx="0">
              <a:schemeClr val="accent1"/>
            </a:fillRef>
            <a:effectRef idx="0">
              <a:schemeClr val="accent1"/>
            </a:effectRef>
            <a:fontRef idx="minor">
              <a:schemeClr val="tx1"/>
            </a:fontRef>
          </p:style>
        </p:cxnSp>
        <p:sp>
          <p:nvSpPr>
            <p:cNvPr id="77" name="Oval 76"/>
            <p:cNvSpPr/>
            <p:nvPr/>
          </p:nvSpPr>
          <p:spPr>
            <a:xfrm>
              <a:off x="6504765" y="2367708"/>
              <a:ext cx="128016" cy="128016"/>
            </a:xfrm>
            <a:prstGeom prst="ellipse">
              <a:avLst/>
            </a:prstGeom>
            <a:solidFill>
              <a:srgbClr val="E05EA2"/>
            </a:solidFill>
            <a:ln>
              <a:solidFill>
                <a:srgbClr val="E05E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cxnSp>
          <p:nvCxnSpPr>
            <p:cNvPr id="78" name="Straight Connector 77"/>
            <p:cNvCxnSpPr/>
            <p:nvPr/>
          </p:nvCxnSpPr>
          <p:spPr>
            <a:xfrm>
              <a:off x="1266456" y="2433960"/>
              <a:ext cx="1116008" cy="0"/>
            </a:xfrm>
            <a:prstGeom prst="line">
              <a:avLst/>
            </a:prstGeom>
            <a:ln w="28575">
              <a:solidFill>
                <a:srgbClr val="00AFD1"/>
              </a:solidFill>
            </a:ln>
          </p:spPr>
          <p:style>
            <a:lnRef idx="1">
              <a:schemeClr val="accent1"/>
            </a:lnRef>
            <a:fillRef idx="0">
              <a:schemeClr val="accent1"/>
            </a:fillRef>
            <a:effectRef idx="0">
              <a:schemeClr val="accent1"/>
            </a:effectRef>
            <a:fontRef idx="minor">
              <a:schemeClr val="tx1"/>
            </a:fontRef>
          </p:style>
        </p:cxnSp>
      </p:grpSp>
      <p:sp>
        <p:nvSpPr>
          <p:cNvPr id="3" name="Title 2"/>
          <p:cNvSpPr>
            <a:spLocks noGrp="1"/>
          </p:cNvSpPr>
          <p:nvPr>
            <p:ph type="title"/>
          </p:nvPr>
        </p:nvSpPr>
        <p:spPr/>
        <p:txBody>
          <a:bodyPr/>
          <a:lstStyle/>
          <a:p>
            <a:r>
              <a:rPr lang="en-US"/>
              <a:t>Key Success Factors </a:t>
            </a:r>
          </a:p>
        </p:txBody>
      </p:sp>
      <p:sp>
        <p:nvSpPr>
          <p:cNvPr id="50" name="TextBox 49"/>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17</a:t>
            </a:fld>
            <a:endParaRPr lang="en-GB" dirty="0"/>
          </a:p>
        </p:txBody>
      </p:sp>
    </p:spTree>
    <p:extLst>
      <p:ext uri="{BB962C8B-B14F-4D97-AF65-F5344CB8AC3E}">
        <p14:creationId xmlns:p14="http://schemas.microsoft.com/office/powerpoint/2010/main" val="45803823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Key Success Factors</a:t>
            </a:r>
          </a:p>
        </p:txBody>
      </p:sp>
      <p:grpSp>
        <p:nvGrpSpPr>
          <p:cNvPr id="2" name="Group 1"/>
          <p:cNvGrpSpPr/>
          <p:nvPr/>
        </p:nvGrpSpPr>
        <p:grpSpPr>
          <a:xfrm>
            <a:off x="291312" y="1373906"/>
            <a:ext cx="3153475" cy="4638583"/>
            <a:chOff x="1151924" y="1387353"/>
            <a:chExt cx="3153475" cy="4638583"/>
          </a:xfrm>
        </p:grpSpPr>
        <p:sp>
          <p:nvSpPr>
            <p:cNvPr id="48" name="Freeform 47"/>
            <p:cNvSpPr>
              <a:spLocks/>
            </p:cNvSpPr>
            <p:nvPr/>
          </p:nvSpPr>
          <p:spPr bwMode="auto">
            <a:xfrm>
              <a:off x="2770060" y="2836575"/>
              <a:ext cx="855478" cy="21169"/>
            </a:xfrm>
            <a:custGeom>
              <a:avLst/>
              <a:gdLst>
                <a:gd name="T0" fmla="*/ 3157 w 3157"/>
                <a:gd name="T1" fmla="*/ 81 h 81"/>
                <a:gd name="T2" fmla="*/ 0 w 3157"/>
                <a:gd name="T3" fmla="*/ 81 h 81"/>
                <a:gd name="T4" fmla="*/ 0 w 3157"/>
                <a:gd name="T5" fmla="*/ 0 h 81"/>
                <a:gd name="T6" fmla="*/ 3157 w 3157"/>
                <a:gd name="T7" fmla="*/ 0 h 81"/>
                <a:gd name="T8" fmla="*/ 3154 w 3157"/>
                <a:gd name="T9" fmla="*/ 10 h 81"/>
                <a:gd name="T10" fmla="*/ 3153 w 3157"/>
                <a:gd name="T11" fmla="*/ 20 h 81"/>
                <a:gd name="T12" fmla="*/ 3153 w 3157"/>
                <a:gd name="T13" fmla="*/ 29 h 81"/>
                <a:gd name="T14" fmla="*/ 3152 w 3157"/>
                <a:gd name="T15" fmla="*/ 40 h 81"/>
                <a:gd name="T16" fmla="*/ 3153 w 3157"/>
                <a:gd name="T17" fmla="*/ 50 h 81"/>
                <a:gd name="T18" fmla="*/ 3153 w 3157"/>
                <a:gd name="T19" fmla="*/ 61 h 81"/>
                <a:gd name="T20" fmla="*/ 3154 w 3157"/>
                <a:gd name="T21" fmla="*/ 71 h 81"/>
                <a:gd name="T22" fmla="*/ 3157 w 3157"/>
                <a:gd name="T2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57" h="81">
                  <a:moveTo>
                    <a:pt x="3157" y="81"/>
                  </a:moveTo>
                  <a:lnTo>
                    <a:pt x="0" y="81"/>
                  </a:lnTo>
                  <a:lnTo>
                    <a:pt x="0" y="0"/>
                  </a:lnTo>
                  <a:lnTo>
                    <a:pt x="3157" y="0"/>
                  </a:lnTo>
                  <a:lnTo>
                    <a:pt x="3154" y="10"/>
                  </a:lnTo>
                  <a:lnTo>
                    <a:pt x="3153" y="20"/>
                  </a:lnTo>
                  <a:lnTo>
                    <a:pt x="3153" y="29"/>
                  </a:lnTo>
                  <a:lnTo>
                    <a:pt x="3152" y="40"/>
                  </a:lnTo>
                  <a:lnTo>
                    <a:pt x="3153" y="50"/>
                  </a:lnTo>
                  <a:lnTo>
                    <a:pt x="3153" y="61"/>
                  </a:lnTo>
                  <a:lnTo>
                    <a:pt x="3154" y="71"/>
                  </a:lnTo>
                  <a:lnTo>
                    <a:pt x="3157" y="81"/>
                  </a:lnTo>
                  <a:close/>
                </a:path>
              </a:pathLst>
            </a:custGeom>
            <a:solidFill>
              <a:srgbClr val="D0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nvGrpSpPr>
            <p:cNvPr id="51" name="Group 50"/>
            <p:cNvGrpSpPr>
              <a:grpSpLocks noChangeAspect="1"/>
            </p:cNvGrpSpPr>
            <p:nvPr/>
          </p:nvGrpSpPr>
          <p:grpSpPr bwMode="auto">
            <a:xfrm>
              <a:off x="1151924" y="1387353"/>
              <a:ext cx="3153475" cy="4638583"/>
              <a:chOff x="1593" y="407"/>
              <a:chExt cx="2326" cy="3506"/>
            </a:xfrm>
          </p:grpSpPr>
          <p:sp>
            <p:nvSpPr>
              <p:cNvPr id="57" name="Freeform 30"/>
              <p:cNvSpPr>
                <a:spLocks/>
              </p:cNvSpPr>
              <p:nvPr/>
            </p:nvSpPr>
            <p:spPr bwMode="auto">
              <a:xfrm>
                <a:off x="2772" y="2829"/>
                <a:ext cx="631" cy="16"/>
              </a:xfrm>
              <a:custGeom>
                <a:avLst/>
                <a:gdLst>
                  <a:gd name="T0" fmla="*/ 3157 w 3157"/>
                  <a:gd name="T1" fmla="*/ 81 h 81"/>
                  <a:gd name="T2" fmla="*/ 0 w 3157"/>
                  <a:gd name="T3" fmla="*/ 81 h 81"/>
                  <a:gd name="T4" fmla="*/ 0 w 3157"/>
                  <a:gd name="T5" fmla="*/ 0 h 81"/>
                  <a:gd name="T6" fmla="*/ 3157 w 3157"/>
                  <a:gd name="T7" fmla="*/ 0 h 81"/>
                  <a:gd name="T8" fmla="*/ 3155 w 3157"/>
                  <a:gd name="T9" fmla="*/ 10 h 81"/>
                  <a:gd name="T10" fmla="*/ 3154 w 3157"/>
                  <a:gd name="T11" fmla="*/ 20 h 81"/>
                  <a:gd name="T12" fmla="*/ 3153 w 3157"/>
                  <a:gd name="T13" fmla="*/ 30 h 81"/>
                  <a:gd name="T14" fmla="*/ 3153 w 3157"/>
                  <a:gd name="T15" fmla="*/ 40 h 81"/>
                  <a:gd name="T16" fmla="*/ 3153 w 3157"/>
                  <a:gd name="T17" fmla="*/ 50 h 81"/>
                  <a:gd name="T18" fmla="*/ 3154 w 3157"/>
                  <a:gd name="T19" fmla="*/ 61 h 81"/>
                  <a:gd name="T20" fmla="*/ 3155 w 3157"/>
                  <a:gd name="T21" fmla="*/ 71 h 81"/>
                  <a:gd name="T22" fmla="*/ 3157 w 3157"/>
                  <a:gd name="T2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57" h="81">
                    <a:moveTo>
                      <a:pt x="3157" y="81"/>
                    </a:moveTo>
                    <a:lnTo>
                      <a:pt x="0" y="81"/>
                    </a:lnTo>
                    <a:lnTo>
                      <a:pt x="0" y="0"/>
                    </a:lnTo>
                    <a:lnTo>
                      <a:pt x="3157" y="0"/>
                    </a:lnTo>
                    <a:lnTo>
                      <a:pt x="3155" y="10"/>
                    </a:lnTo>
                    <a:lnTo>
                      <a:pt x="3154" y="20"/>
                    </a:lnTo>
                    <a:lnTo>
                      <a:pt x="3153" y="30"/>
                    </a:lnTo>
                    <a:lnTo>
                      <a:pt x="3153" y="40"/>
                    </a:lnTo>
                    <a:lnTo>
                      <a:pt x="3153" y="50"/>
                    </a:lnTo>
                    <a:lnTo>
                      <a:pt x="3154" y="61"/>
                    </a:lnTo>
                    <a:lnTo>
                      <a:pt x="3155" y="71"/>
                    </a:lnTo>
                    <a:lnTo>
                      <a:pt x="3157" y="81"/>
                    </a:lnTo>
                    <a:close/>
                  </a:path>
                </a:pathLst>
              </a:custGeom>
              <a:solidFill>
                <a:srgbClr val="D0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58" name="AutoShape 3"/>
              <p:cNvSpPr>
                <a:spLocks noChangeAspect="1" noChangeArrowheads="1" noTextEdit="1"/>
              </p:cNvSpPr>
              <p:nvPr/>
            </p:nvSpPr>
            <p:spPr bwMode="auto">
              <a:xfrm>
                <a:off x="1593" y="407"/>
                <a:ext cx="2326" cy="3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59" name="Freeform 5"/>
              <p:cNvSpPr>
                <a:spLocks/>
              </p:cNvSpPr>
              <p:nvPr/>
            </p:nvSpPr>
            <p:spPr bwMode="auto">
              <a:xfrm>
                <a:off x="2458" y="833"/>
                <a:ext cx="631" cy="16"/>
              </a:xfrm>
              <a:custGeom>
                <a:avLst/>
                <a:gdLst>
                  <a:gd name="T0" fmla="*/ 3157 w 3157"/>
                  <a:gd name="T1" fmla="*/ 81 h 81"/>
                  <a:gd name="T2" fmla="*/ 0 w 3157"/>
                  <a:gd name="T3" fmla="*/ 81 h 81"/>
                  <a:gd name="T4" fmla="*/ 0 w 3157"/>
                  <a:gd name="T5" fmla="*/ 0 h 81"/>
                  <a:gd name="T6" fmla="*/ 3157 w 3157"/>
                  <a:gd name="T7" fmla="*/ 0 h 81"/>
                  <a:gd name="T8" fmla="*/ 3154 w 3157"/>
                  <a:gd name="T9" fmla="*/ 10 h 81"/>
                  <a:gd name="T10" fmla="*/ 3153 w 3157"/>
                  <a:gd name="T11" fmla="*/ 20 h 81"/>
                  <a:gd name="T12" fmla="*/ 3153 w 3157"/>
                  <a:gd name="T13" fmla="*/ 29 h 81"/>
                  <a:gd name="T14" fmla="*/ 3152 w 3157"/>
                  <a:gd name="T15" fmla="*/ 40 h 81"/>
                  <a:gd name="T16" fmla="*/ 3153 w 3157"/>
                  <a:gd name="T17" fmla="*/ 50 h 81"/>
                  <a:gd name="T18" fmla="*/ 3153 w 3157"/>
                  <a:gd name="T19" fmla="*/ 61 h 81"/>
                  <a:gd name="T20" fmla="*/ 3154 w 3157"/>
                  <a:gd name="T21" fmla="*/ 71 h 81"/>
                  <a:gd name="T22" fmla="*/ 3157 w 3157"/>
                  <a:gd name="T2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57" h="81">
                    <a:moveTo>
                      <a:pt x="3157" y="81"/>
                    </a:moveTo>
                    <a:lnTo>
                      <a:pt x="0" y="81"/>
                    </a:lnTo>
                    <a:lnTo>
                      <a:pt x="0" y="0"/>
                    </a:lnTo>
                    <a:lnTo>
                      <a:pt x="3157" y="0"/>
                    </a:lnTo>
                    <a:lnTo>
                      <a:pt x="3154" y="10"/>
                    </a:lnTo>
                    <a:lnTo>
                      <a:pt x="3153" y="20"/>
                    </a:lnTo>
                    <a:lnTo>
                      <a:pt x="3153" y="29"/>
                    </a:lnTo>
                    <a:lnTo>
                      <a:pt x="3152" y="40"/>
                    </a:lnTo>
                    <a:lnTo>
                      <a:pt x="3153" y="50"/>
                    </a:lnTo>
                    <a:lnTo>
                      <a:pt x="3153" y="61"/>
                    </a:lnTo>
                    <a:lnTo>
                      <a:pt x="3154" y="71"/>
                    </a:lnTo>
                    <a:lnTo>
                      <a:pt x="3157" y="81"/>
                    </a:lnTo>
                    <a:close/>
                  </a:path>
                </a:pathLst>
              </a:custGeom>
              <a:solidFill>
                <a:srgbClr val="D0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60" name="Freeform 6"/>
              <p:cNvSpPr>
                <a:spLocks/>
              </p:cNvSpPr>
              <p:nvPr/>
            </p:nvSpPr>
            <p:spPr bwMode="auto">
              <a:xfrm>
                <a:off x="3089" y="776"/>
                <a:ext cx="128" cy="129"/>
              </a:xfrm>
              <a:custGeom>
                <a:avLst/>
                <a:gdLst>
                  <a:gd name="T0" fmla="*/ 291 w 642"/>
                  <a:gd name="T1" fmla="*/ 642 h 643"/>
                  <a:gd name="T2" fmla="*/ 247 w 642"/>
                  <a:gd name="T3" fmla="*/ 635 h 643"/>
                  <a:gd name="T4" fmla="*/ 205 w 642"/>
                  <a:gd name="T5" fmla="*/ 623 h 643"/>
                  <a:gd name="T6" fmla="*/ 166 w 642"/>
                  <a:gd name="T7" fmla="*/ 604 h 643"/>
                  <a:gd name="T8" fmla="*/ 130 w 642"/>
                  <a:gd name="T9" fmla="*/ 581 h 643"/>
                  <a:gd name="T10" fmla="*/ 98 w 642"/>
                  <a:gd name="T11" fmla="*/ 554 h 643"/>
                  <a:gd name="T12" fmla="*/ 69 w 642"/>
                  <a:gd name="T13" fmla="*/ 522 h 643"/>
                  <a:gd name="T14" fmla="*/ 45 w 642"/>
                  <a:gd name="T15" fmla="*/ 487 h 643"/>
                  <a:gd name="T16" fmla="*/ 26 w 642"/>
                  <a:gd name="T17" fmla="*/ 447 h 643"/>
                  <a:gd name="T18" fmla="*/ 11 w 642"/>
                  <a:gd name="T19" fmla="*/ 407 h 643"/>
                  <a:gd name="T20" fmla="*/ 3 w 642"/>
                  <a:gd name="T21" fmla="*/ 363 h 643"/>
                  <a:gd name="T22" fmla="*/ 0 w 642"/>
                  <a:gd name="T23" fmla="*/ 332 h 643"/>
                  <a:gd name="T24" fmla="*/ 0 w 642"/>
                  <a:gd name="T25" fmla="*/ 302 h 643"/>
                  <a:gd name="T26" fmla="*/ 5 w 642"/>
                  <a:gd name="T27" fmla="*/ 266 h 643"/>
                  <a:gd name="T28" fmla="*/ 16 w 642"/>
                  <a:gd name="T29" fmla="*/ 224 h 643"/>
                  <a:gd name="T30" fmla="*/ 31 w 642"/>
                  <a:gd name="T31" fmla="*/ 183 h 643"/>
                  <a:gd name="T32" fmla="*/ 52 w 642"/>
                  <a:gd name="T33" fmla="*/ 146 h 643"/>
                  <a:gd name="T34" fmla="*/ 78 w 642"/>
                  <a:gd name="T35" fmla="*/ 112 h 643"/>
                  <a:gd name="T36" fmla="*/ 108 w 642"/>
                  <a:gd name="T37" fmla="*/ 81 h 643"/>
                  <a:gd name="T38" fmla="*/ 142 w 642"/>
                  <a:gd name="T39" fmla="*/ 55 h 643"/>
                  <a:gd name="T40" fmla="*/ 179 w 642"/>
                  <a:gd name="T41" fmla="*/ 34 h 643"/>
                  <a:gd name="T42" fmla="*/ 220 w 642"/>
                  <a:gd name="T43" fmla="*/ 18 h 643"/>
                  <a:gd name="T44" fmla="*/ 261 w 642"/>
                  <a:gd name="T45" fmla="*/ 6 h 643"/>
                  <a:gd name="T46" fmla="*/ 306 w 642"/>
                  <a:gd name="T47" fmla="*/ 1 h 643"/>
                  <a:gd name="T48" fmla="*/ 354 w 642"/>
                  <a:gd name="T49" fmla="*/ 2 h 643"/>
                  <a:gd name="T50" fmla="*/ 401 w 642"/>
                  <a:gd name="T51" fmla="*/ 11 h 643"/>
                  <a:gd name="T52" fmla="*/ 446 w 642"/>
                  <a:gd name="T53" fmla="*/ 25 h 643"/>
                  <a:gd name="T54" fmla="*/ 488 w 642"/>
                  <a:gd name="T55" fmla="*/ 47 h 643"/>
                  <a:gd name="T56" fmla="*/ 526 w 642"/>
                  <a:gd name="T57" fmla="*/ 74 h 643"/>
                  <a:gd name="T58" fmla="*/ 559 w 642"/>
                  <a:gd name="T59" fmla="*/ 106 h 643"/>
                  <a:gd name="T60" fmla="*/ 588 w 642"/>
                  <a:gd name="T61" fmla="*/ 143 h 643"/>
                  <a:gd name="T62" fmla="*/ 611 w 642"/>
                  <a:gd name="T63" fmla="*/ 183 h 643"/>
                  <a:gd name="T64" fmla="*/ 628 w 642"/>
                  <a:gd name="T65" fmla="*/ 227 h 643"/>
                  <a:gd name="T66" fmla="*/ 639 w 642"/>
                  <a:gd name="T67" fmla="*/ 273 h 643"/>
                  <a:gd name="T68" fmla="*/ 642 w 642"/>
                  <a:gd name="T69" fmla="*/ 322 h 643"/>
                  <a:gd name="T70" fmla="*/ 639 w 642"/>
                  <a:gd name="T71" fmla="*/ 372 h 643"/>
                  <a:gd name="T72" fmla="*/ 628 w 642"/>
                  <a:gd name="T73" fmla="*/ 418 h 643"/>
                  <a:gd name="T74" fmla="*/ 611 w 642"/>
                  <a:gd name="T75" fmla="*/ 461 h 643"/>
                  <a:gd name="T76" fmla="*/ 588 w 642"/>
                  <a:gd name="T77" fmla="*/ 502 h 643"/>
                  <a:gd name="T78" fmla="*/ 559 w 642"/>
                  <a:gd name="T79" fmla="*/ 538 h 643"/>
                  <a:gd name="T80" fmla="*/ 526 w 642"/>
                  <a:gd name="T81" fmla="*/ 570 h 643"/>
                  <a:gd name="T82" fmla="*/ 488 w 642"/>
                  <a:gd name="T83" fmla="*/ 597 h 643"/>
                  <a:gd name="T84" fmla="*/ 446 w 642"/>
                  <a:gd name="T85" fmla="*/ 618 h 643"/>
                  <a:gd name="T86" fmla="*/ 401 w 642"/>
                  <a:gd name="T87" fmla="*/ 633 h 643"/>
                  <a:gd name="T88" fmla="*/ 354 w 642"/>
                  <a:gd name="T89" fmla="*/ 642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2" h="643">
                    <a:moveTo>
                      <a:pt x="321" y="643"/>
                    </a:moveTo>
                    <a:lnTo>
                      <a:pt x="306" y="643"/>
                    </a:lnTo>
                    <a:lnTo>
                      <a:pt x="291" y="642"/>
                    </a:lnTo>
                    <a:lnTo>
                      <a:pt x="277" y="640"/>
                    </a:lnTo>
                    <a:lnTo>
                      <a:pt x="261" y="638"/>
                    </a:lnTo>
                    <a:lnTo>
                      <a:pt x="247" y="635"/>
                    </a:lnTo>
                    <a:lnTo>
                      <a:pt x="233" y="631"/>
                    </a:lnTo>
                    <a:lnTo>
                      <a:pt x="220" y="627"/>
                    </a:lnTo>
                    <a:lnTo>
                      <a:pt x="205" y="623"/>
                    </a:lnTo>
                    <a:lnTo>
                      <a:pt x="192" y="617"/>
                    </a:lnTo>
                    <a:lnTo>
                      <a:pt x="179" y="610"/>
                    </a:lnTo>
                    <a:lnTo>
                      <a:pt x="166" y="604"/>
                    </a:lnTo>
                    <a:lnTo>
                      <a:pt x="154" y="596"/>
                    </a:lnTo>
                    <a:lnTo>
                      <a:pt x="142" y="589"/>
                    </a:lnTo>
                    <a:lnTo>
                      <a:pt x="130" y="581"/>
                    </a:lnTo>
                    <a:lnTo>
                      <a:pt x="119" y="572"/>
                    </a:lnTo>
                    <a:lnTo>
                      <a:pt x="108" y="562"/>
                    </a:lnTo>
                    <a:lnTo>
                      <a:pt x="98" y="554"/>
                    </a:lnTo>
                    <a:lnTo>
                      <a:pt x="88" y="543"/>
                    </a:lnTo>
                    <a:lnTo>
                      <a:pt x="78" y="533"/>
                    </a:lnTo>
                    <a:lnTo>
                      <a:pt x="69" y="522"/>
                    </a:lnTo>
                    <a:lnTo>
                      <a:pt x="61" y="510"/>
                    </a:lnTo>
                    <a:lnTo>
                      <a:pt x="52" y="499"/>
                    </a:lnTo>
                    <a:lnTo>
                      <a:pt x="45" y="487"/>
                    </a:lnTo>
                    <a:lnTo>
                      <a:pt x="38" y="474"/>
                    </a:lnTo>
                    <a:lnTo>
                      <a:pt x="31" y="460"/>
                    </a:lnTo>
                    <a:lnTo>
                      <a:pt x="26" y="447"/>
                    </a:lnTo>
                    <a:lnTo>
                      <a:pt x="20" y="434"/>
                    </a:lnTo>
                    <a:lnTo>
                      <a:pt x="16" y="421"/>
                    </a:lnTo>
                    <a:lnTo>
                      <a:pt x="11" y="407"/>
                    </a:lnTo>
                    <a:lnTo>
                      <a:pt x="8" y="392"/>
                    </a:lnTo>
                    <a:lnTo>
                      <a:pt x="5" y="378"/>
                    </a:lnTo>
                    <a:lnTo>
                      <a:pt x="3" y="363"/>
                    </a:lnTo>
                    <a:lnTo>
                      <a:pt x="1" y="353"/>
                    </a:lnTo>
                    <a:lnTo>
                      <a:pt x="0" y="343"/>
                    </a:lnTo>
                    <a:lnTo>
                      <a:pt x="0" y="332"/>
                    </a:lnTo>
                    <a:lnTo>
                      <a:pt x="0" y="322"/>
                    </a:lnTo>
                    <a:lnTo>
                      <a:pt x="0" y="311"/>
                    </a:lnTo>
                    <a:lnTo>
                      <a:pt x="0" y="302"/>
                    </a:lnTo>
                    <a:lnTo>
                      <a:pt x="1" y="292"/>
                    </a:lnTo>
                    <a:lnTo>
                      <a:pt x="3" y="282"/>
                    </a:lnTo>
                    <a:lnTo>
                      <a:pt x="5" y="266"/>
                    </a:lnTo>
                    <a:lnTo>
                      <a:pt x="8" y="252"/>
                    </a:lnTo>
                    <a:lnTo>
                      <a:pt x="11" y="238"/>
                    </a:lnTo>
                    <a:lnTo>
                      <a:pt x="16" y="224"/>
                    </a:lnTo>
                    <a:lnTo>
                      <a:pt x="20" y="211"/>
                    </a:lnTo>
                    <a:lnTo>
                      <a:pt x="26" y="196"/>
                    </a:lnTo>
                    <a:lnTo>
                      <a:pt x="31" y="183"/>
                    </a:lnTo>
                    <a:lnTo>
                      <a:pt x="38" y="171"/>
                    </a:lnTo>
                    <a:lnTo>
                      <a:pt x="45" y="158"/>
                    </a:lnTo>
                    <a:lnTo>
                      <a:pt x="52" y="146"/>
                    </a:lnTo>
                    <a:lnTo>
                      <a:pt x="61" y="134"/>
                    </a:lnTo>
                    <a:lnTo>
                      <a:pt x="69" y="123"/>
                    </a:lnTo>
                    <a:lnTo>
                      <a:pt x="78" y="112"/>
                    </a:lnTo>
                    <a:lnTo>
                      <a:pt x="88" y="101"/>
                    </a:lnTo>
                    <a:lnTo>
                      <a:pt x="98" y="91"/>
                    </a:lnTo>
                    <a:lnTo>
                      <a:pt x="108" y="81"/>
                    </a:lnTo>
                    <a:lnTo>
                      <a:pt x="119" y="73"/>
                    </a:lnTo>
                    <a:lnTo>
                      <a:pt x="130" y="64"/>
                    </a:lnTo>
                    <a:lnTo>
                      <a:pt x="142" y="55"/>
                    </a:lnTo>
                    <a:lnTo>
                      <a:pt x="154" y="47"/>
                    </a:lnTo>
                    <a:lnTo>
                      <a:pt x="166" y="41"/>
                    </a:lnTo>
                    <a:lnTo>
                      <a:pt x="179" y="34"/>
                    </a:lnTo>
                    <a:lnTo>
                      <a:pt x="192" y="28"/>
                    </a:lnTo>
                    <a:lnTo>
                      <a:pt x="205" y="22"/>
                    </a:lnTo>
                    <a:lnTo>
                      <a:pt x="220" y="18"/>
                    </a:lnTo>
                    <a:lnTo>
                      <a:pt x="233" y="13"/>
                    </a:lnTo>
                    <a:lnTo>
                      <a:pt x="247" y="9"/>
                    </a:lnTo>
                    <a:lnTo>
                      <a:pt x="261" y="6"/>
                    </a:lnTo>
                    <a:lnTo>
                      <a:pt x="277" y="4"/>
                    </a:lnTo>
                    <a:lnTo>
                      <a:pt x="291" y="2"/>
                    </a:lnTo>
                    <a:lnTo>
                      <a:pt x="306" y="1"/>
                    </a:lnTo>
                    <a:lnTo>
                      <a:pt x="321" y="0"/>
                    </a:lnTo>
                    <a:lnTo>
                      <a:pt x="338" y="1"/>
                    </a:lnTo>
                    <a:lnTo>
                      <a:pt x="354" y="2"/>
                    </a:lnTo>
                    <a:lnTo>
                      <a:pt x="371" y="5"/>
                    </a:lnTo>
                    <a:lnTo>
                      <a:pt x="386" y="7"/>
                    </a:lnTo>
                    <a:lnTo>
                      <a:pt x="401" y="11"/>
                    </a:lnTo>
                    <a:lnTo>
                      <a:pt x="417" y="16"/>
                    </a:lnTo>
                    <a:lnTo>
                      <a:pt x="432" y="20"/>
                    </a:lnTo>
                    <a:lnTo>
                      <a:pt x="446" y="25"/>
                    </a:lnTo>
                    <a:lnTo>
                      <a:pt x="461" y="32"/>
                    </a:lnTo>
                    <a:lnTo>
                      <a:pt x="475" y="40"/>
                    </a:lnTo>
                    <a:lnTo>
                      <a:pt x="488" y="47"/>
                    </a:lnTo>
                    <a:lnTo>
                      <a:pt x="501" y="56"/>
                    </a:lnTo>
                    <a:lnTo>
                      <a:pt x="514" y="65"/>
                    </a:lnTo>
                    <a:lnTo>
                      <a:pt x="526" y="74"/>
                    </a:lnTo>
                    <a:lnTo>
                      <a:pt x="537" y="85"/>
                    </a:lnTo>
                    <a:lnTo>
                      <a:pt x="549" y="94"/>
                    </a:lnTo>
                    <a:lnTo>
                      <a:pt x="559" y="106"/>
                    </a:lnTo>
                    <a:lnTo>
                      <a:pt x="569" y="117"/>
                    </a:lnTo>
                    <a:lnTo>
                      <a:pt x="579" y="130"/>
                    </a:lnTo>
                    <a:lnTo>
                      <a:pt x="588" y="143"/>
                    </a:lnTo>
                    <a:lnTo>
                      <a:pt x="596" y="156"/>
                    </a:lnTo>
                    <a:lnTo>
                      <a:pt x="604" y="169"/>
                    </a:lnTo>
                    <a:lnTo>
                      <a:pt x="611" y="183"/>
                    </a:lnTo>
                    <a:lnTo>
                      <a:pt x="617" y="197"/>
                    </a:lnTo>
                    <a:lnTo>
                      <a:pt x="624" y="212"/>
                    </a:lnTo>
                    <a:lnTo>
                      <a:pt x="628" y="227"/>
                    </a:lnTo>
                    <a:lnTo>
                      <a:pt x="633" y="242"/>
                    </a:lnTo>
                    <a:lnTo>
                      <a:pt x="636" y="258"/>
                    </a:lnTo>
                    <a:lnTo>
                      <a:pt x="639" y="273"/>
                    </a:lnTo>
                    <a:lnTo>
                      <a:pt x="641" y="289"/>
                    </a:lnTo>
                    <a:lnTo>
                      <a:pt x="642" y="306"/>
                    </a:lnTo>
                    <a:lnTo>
                      <a:pt x="642" y="322"/>
                    </a:lnTo>
                    <a:lnTo>
                      <a:pt x="642" y="339"/>
                    </a:lnTo>
                    <a:lnTo>
                      <a:pt x="641" y="355"/>
                    </a:lnTo>
                    <a:lnTo>
                      <a:pt x="639" y="372"/>
                    </a:lnTo>
                    <a:lnTo>
                      <a:pt x="636" y="387"/>
                    </a:lnTo>
                    <a:lnTo>
                      <a:pt x="633" y="402"/>
                    </a:lnTo>
                    <a:lnTo>
                      <a:pt x="628" y="418"/>
                    </a:lnTo>
                    <a:lnTo>
                      <a:pt x="624" y="433"/>
                    </a:lnTo>
                    <a:lnTo>
                      <a:pt x="617" y="447"/>
                    </a:lnTo>
                    <a:lnTo>
                      <a:pt x="611" y="461"/>
                    </a:lnTo>
                    <a:lnTo>
                      <a:pt x="604" y="476"/>
                    </a:lnTo>
                    <a:lnTo>
                      <a:pt x="596" y="489"/>
                    </a:lnTo>
                    <a:lnTo>
                      <a:pt x="588" y="502"/>
                    </a:lnTo>
                    <a:lnTo>
                      <a:pt x="579" y="514"/>
                    </a:lnTo>
                    <a:lnTo>
                      <a:pt x="569" y="527"/>
                    </a:lnTo>
                    <a:lnTo>
                      <a:pt x="559" y="538"/>
                    </a:lnTo>
                    <a:lnTo>
                      <a:pt x="549" y="549"/>
                    </a:lnTo>
                    <a:lnTo>
                      <a:pt x="537" y="560"/>
                    </a:lnTo>
                    <a:lnTo>
                      <a:pt x="526" y="570"/>
                    </a:lnTo>
                    <a:lnTo>
                      <a:pt x="514" y="580"/>
                    </a:lnTo>
                    <a:lnTo>
                      <a:pt x="501" y="589"/>
                    </a:lnTo>
                    <a:lnTo>
                      <a:pt x="488" y="597"/>
                    </a:lnTo>
                    <a:lnTo>
                      <a:pt x="475" y="605"/>
                    </a:lnTo>
                    <a:lnTo>
                      <a:pt x="461" y="612"/>
                    </a:lnTo>
                    <a:lnTo>
                      <a:pt x="446" y="618"/>
                    </a:lnTo>
                    <a:lnTo>
                      <a:pt x="432" y="625"/>
                    </a:lnTo>
                    <a:lnTo>
                      <a:pt x="417" y="629"/>
                    </a:lnTo>
                    <a:lnTo>
                      <a:pt x="401" y="633"/>
                    </a:lnTo>
                    <a:lnTo>
                      <a:pt x="386" y="637"/>
                    </a:lnTo>
                    <a:lnTo>
                      <a:pt x="371" y="640"/>
                    </a:lnTo>
                    <a:lnTo>
                      <a:pt x="354" y="642"/>
                    </a:lnTo>
                    <a:lnTo>
                      <a:pt x="338" y="643"/>
                    </a:lnTo>
                    <a:lnTo>
                      <a:pt x="321" y="643"/>
                    </a:lnTo>
                    <a:close/>
                  </a:path>
                </a:pathLst>
              </a:custGeom>
              <a:solidFill>
                <a:srgbClr val="D0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61" name="Freeform 7"/>
              <p:cNvSpPr>
                <a:spLocks/>
              </p:cNvSpPr>
              <p:nvPr/>
            </p:nvSpPr>
            <p:spPr bwMode="auto">
              <a:xfrm>
                <a:off x="2204" y="1693"/>
                <a:ext cx="318" cy="316"/>
              </a:xfrm>
              <a:custGeom>
                <a:avLst/>
                <a:gdLst>
                  <a:gd name="T0" fmla="*/ 568 w 1587"/>
                  <a:gd name="T1" fmla="*/ 1583 h 1583"/>
                  <a:gd name="T2" fmla="*/ 0 w 1587"/>
                  <a:gd name="T3" fmla="*/ 1016 h 1583"/>
                  <a:gd name="T4" fmla="*/ 1018 w 1587"/>
                  <a:gd name="T5" fmla="*/ 0 h 1583"/>
                  <a:gd name="T6" fmla="*/ 1587 w 1587"/>
                  <a:gd name="T7" fmla="*/ 568 h 1583"/>
                  <a:gd name="T8" fmla="*/ 568 w 1587"/>
                  <a:gd name="T9" fmla="*/ 1583 h 1583"/>
                </a:gdLst>
                <a:ahLst/>
                <a:cxnLst>
                  <a:cxn ang="0">
                    <a:pos x="T0" y="T1"/>
                  </a:cxn>
                  <a:cxn ang="0">
                    <a:pos x="T2" y="T3"/>
                  </a:cxn>
                  <a:cxn ang="0">
                    <a:pos x="T4" y="T5"/>
                  </a:cxn>
                  <a:cxn ang="0">
                    <a:pos x="T6" y="T7"/>
                  </a:cxn>
                  <a:cxn ang="0">
                    <a:pos x="T8" y="T9"/>
                  </a:cxn>
                </a:cxnLst>
                <a:rect l="0" t="0" r="r" b="b"/>
                <a:pathLst>
                  <a:path w="1587" h="1583">
                    <a:moveTo>
                      <a:pt x="568" y="1583"/>
                    </a:moveTo>
                    <a:lnTo>
                      <a:pt x="0" y="1016"/>
                    </a:lnTo>
                    <a:lnTo>
                      <a:pt x="1018" y="0"/>
                    </a:lnTo>
                    <a:lnTo>
                      <a:pt x="1587" y="568"/>
                    </a:lnTo>
                    <a:lnTo>
                      <a:pt x="568" y="1583"/>
                    </a:lnTo>
                    <a:close/>
                  </a:path>
                </a:pathLst>
              </a:custGeom>
              <a:solidFill>
                <a:srgbClr val="258D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62" name="Freeform 8"/>
              <p:cNvSpPr>
                <a:spLocks/>
              </p:cNvSpPr>
              <p:nvPr/>
            </p:nvSpPr>
            <p:spPr bwMode="auto">
              <a:xfrm>
                <a:off x="2267" y="1081"/>
                <a:ext cx="866" cy="867"/>
              </a:xfrm>
              <a:custGeom>
                <a:avLst/>
                <a:gdLst>
                  <a:gd name="T0" fmla="*/ 4219 w 4333"/>
                  <a:gd name="T1" fmla="*/ 1867 h 4333"/>
                  <a:gd name="T2" fmla="*/ 4259 w 4333"/>
                  <a:gd name="T3" fmla="*/ 1921 h 4333"/>
                  <a:gd name="T4" fmla="*/ 4292 w 4333"/>
                  <a:gd name="T5" fmla="*/ 1978 h 4333"/>
                  <a:gd name="T6" fmla="*/ 4314 w 4333"/>
                  <a:gd name="T7" fmla="*/ 2039 h 4333"/>
                  <a:gd name="T8" fmla="*/ 4328 w 4333"/>
                  <a:gd name="T9" fmla="*/ 2103 h 4333"/>
                  <a:gd name="T10" fmla="*/ 4333 w 4333"/>
                  <a:gd name="T11" fmla="*/ 2166 h 4333"/>
                  <a:gd name="T12" fmla="*/ 4328 w 4333"/>
                  <a:gd name="T13" fmla="*/ 2231 h 4333"/>
                  <a:gd name="T14" fmla="*/ 4314 w 4333"/>
                  <a:gd name="T15" fmla="*/ 2294 h 4333"/>
                  <a:gd name="T16" fmla="*/ 4292 w 4333"/>
                  <a:gd name="T17" fmla="*/ 2356 h 4333"/>
                  <a:gd name="T18" fmla="*/ 4259 w 4333"/>
                  <a:gd name="T19" fmla="*/ 2413 h 4333"/>
                  <a:gd name="T20" fmla="*/ 4219 w 4333"/>
                  <a:gd name="T21" fmla="*/ 2466 h 4333"/>
                  <a:gd name="T22" fmla="*/ 2467 w 4333"/>
                  <a:gd name="T23" fmla="*/ 4218 h 4333"/>
                  <a:gd name="T24" fmla="*/ 2413 w 4333"/>
                  <a:gd name="T25" fmla="*/ 4260 h 4333"/>
                  <a:gd name="T26" fmla="*/ 2355 w 4333"/>
                  <a:gd name="T27" fmla="*/ 4292 h 4333"/>
                  <a:gd name="T28" fmla="*/ 2295 w 4333"/>
                  <a:gd name="T29" fmla="*/ 4315 h 4333"/>
                  <a:gd name="T30" fmla="*/ 2231 w 4333"/>
                  <a:gd name="T31" fmla="*/ 4328 h 4333"/>
                  <a:gd name="T32" fmla="*/ 2166 w 4333"/>
                  <a:gd name="T33" fmla="*/ 4333 h 4333"/>
                  <a:gd name="T34" fmla="*/ 2102 w 4333"/>
                  <a:gd name="T35" fmla="*/ 4328 h 4333"/>
                  <a:gd name="T36" fmla="*/ 2039 w 4333"/>
                  <a:gd name="T37" fmla="*/ 4315 h 4333"/>
                  <a:gd name="T38" fmla="*/ 1978 w 4333"/>
                  <a:gd name="T39" fmla="*/ 4292 h 4333"/>
                  <a:gd name="T40" fmla="*/ 1920 w 4333"/>
                  <a:gd name="T41" fmla="*/ 4260 h 4333"/>
                  <a:gd name="T42" fmla="*/ 1866 w 4333"/>
                  <a:gd name="T43" fmla="*/ 4218 h 4333"/>
                  <a:gd name="T44" fmla="*/ 115 w 4333"/>
                  <a:gd name="T45" fmla="*/ 2466 h 4333"/>
                  <a:gd name="T46" fmla="*/ 74 w 4333"/>
                  <a:gd name="T47" fmla="*/ 2413 h 4333"/>
                  <a:gd name="T48" fmla="*/ 42 w 4333"/>
                  <a:gd name="T49" fmla="*/ 2356 h 4333"/>
                  <a:gd name="T50" fmla="*/ 19 w 4333"/>
                  <a:gd name="T51" fmla="*/ 2294 h 4333"/>
                  <a:gd name="T52" fmla="*/ 5 w 4333"/>
                  <a:gd name="T53" fmla="*/ 2231 h 4333"/>
                  <a:gd name="T54" fmla="*/ 0 w 4333"/>
                  <a:gd name="T55" fmla="*/ 2166 h 4333"/>
                  <a:gd name="T56" fmla="*/ 5 w 4333"/>
                  <a:gd name="T57" fmla="*/ 2103 h 4333"/>
                  <a:gd name="T58" fmla="*/ 19 w 4333"/>
                  <a:gd name="T59" fmla="*/ 2039 h 4333"/>
                  <a:gd name="T60" fmla="*/ 42 w 4333"/>
                  <a:gd name="T61" fmla="*/ 1978 h 4333"/>
                  <a:gd name="T62" fmla="*/ 74 w 4333"/>
                  <a:gd name="T63" fmla="*/ 1921 h 4333"/>
                  <a:gd name="T64" fmla="*/ 115 w 4333"/>
                  <a:gd name="T65" fmla="*/ 1867 h 4333"/>
                  <a:gd name="T66" fmla="*/ 1866 w 4333"/>
                  <a:gd name="T67" fmla="*/ 115 h 4333"/>
                  <a:gd name="T68" fmla="*/ 1920 w 4333"/>
                  <a:gd name="T69" fmla="*/ 74 h 4333"/>
                  <a:gd name="T70" fmla="*/ 1978 w 4333"/>
                  <a:gd name="T71" fmla="*/ 42 h 4333"/>
                  <a:gd name="T72" fmla="*/ 2039 w 4333"/>
                  <a:gd name="T73" fmla="*/ 19 h 4333"/>
                  <a:gd name="T74" fmla="*/ 2102 w 4333"/>
                  <a:gd name="T75" fmla="*/ 6 h 4333"/>
                  <a:gd name="T76" fmla="*/ 2166 w 4333"/>
                  <a:gd name="T77" fmla="*/ 0 h 4333"/>
                  <a:gd name="T78" fmla="*/ 2231 w 4333"/>
                  <a:gd name="T79" fmla="*/ 6 h 4333"/>
                  <a:gd name="T80" fmla="*/ 2295 w 4333"/>
                  <a:gd name="T81" fmla="*/ 19 h 4333"/>
                  <a:gd name="T82" fmla="*/ 2355 w 4333"/>
                  <a:gd name="T83" fmla="*/ 42 h 4333"/>
                  <a:gd name="T84" fmla="*/ 2413 w 4333"/>
                  <a:gd name="T85" fmla="*/ 74 h 4333"/>
                  <a:gd name="T86" fmla="*/ 2467 w 4333"/>
                  <a:gd name="T87" fmla="*/ 115 h 4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33" h="4333">
                    <a:moveTo>
                      <a:pt x="2483" y="132"/>
                    </a:moveTo>
                    <a:lnTo>
                      <a:pt x="4202" y="1851"/>
                    </a:lnTo>
                    <a:lnTo>
                      <a:pt x="4219" y="1867"/>
                    </a:lnTo>
                    <a:lnTo>
                      <a:pt x="4233" y="1885"/>
                    </a:lnTo>
                    <a:lnTo>
                      <a:pt x="4247" y="1902"/>
                    </a:lnTo>
                    <a:lnTo>
                      <a:pt x="4259" y="1921"/>
                    </a:lnTo>
                    <a:lnTo>
                      <a:pt x="4271" y="1939"/>
                    </a:lnTo>
                    <a:lnTo>
                      <a:pt x="4282" y="1958"/>
                    </a:lnTo>
                    <a:lnTo>
                      <a:pt x="4292" y="1978"/>
                    </a:lnTo>
                    <a:lnTo>
                      <a:pt x="4300" y="1999"/>
                    </a:lnTo>
                    <a:lnTo>
                      <a:pt x="4308" y="2018"/>
                    </a:lnTo>
                    <a:lnTo>
                      <a:pt x="4314" y="2039"/>
                    </a:lnTo>
                    <a:lnTo>
                      <a:pt x="4321" y="2060"/>
                    </a:lnTo>
                    <a:lnTo>
                      <a:pt x="4325" y="2081"/>
                    </a:lnTo>
                    <a:lnTo>
                      <a:pt x="4328" y="2103"/>
                    </a:lnTo>
                    <a:lnTo>
                      <a:pt x="4331" y="2123"/>
                    </a:lnTo>
                    <a:lnTo>
                      <a:pt x="4333" y="2145"/>
                    </a:lnTo>
                    <a:lnTo>
                      <a:pt x="4333" y="2166"/>
                    </a:lnTo>
                    <a:lnTo>
                      <a:pt x="4333" y="2188"/>
                    </a:lnTo>
                    <a:lnTo>
                      <a:pt x="4331" y="2210"/>
                    </a:lnTo>
                    <a:lnTo>
                      <a:pt x="4328" y="2231"/>
                    </a:lnTo>
                    <a:lnTo>
                      <a:pt x="4325" y="2253"/>
                    </a:lnTo>
                    <a:lnTo>
                      <a:pt x="4321" y="2274"/>
                    </a:lnTo>
                    <a:lnTo>
                      <a:pt x="4314" y="2294"/>
                    </a:lnTo>
                    <a:lnTo>
                      <a:pt x="4308" y="2315"/>
                    </a:lnTo>
                    <a:lnTo>
                      <a:pt x="4300" y="2335"/>
                    </a:lnTo>
                    <a:lnTo>
                      <a:pt x="4292" y="2356"/>
                    </a:lnTo>
                    <a:lnTo>
                      <a:pt x="4282" y="2375"/>
                    </a:lnTo>
                    <a:lnTo>
                      <a:pt x="4271" y="2394"/>
                    </a:lnTo>
                    <a:lnTo>
                      <a:pt x="4259" y="2413"/>
                    </a:lnTo>
                    <a:lnTo>
                      <a:pt x="4247" y="2431"/>
                    </a:lnTo>
                    <a:lnTo>
                      <a:pt x="4233" y="2449"/>
                    </a:lnTo>
                    <a:lnTo>
                      <a:pt x="4219" y="2466"/>
                    </a:lnTo>
                    <a:lnTo>
                      <a:pt x="4202" y="2483"/>
                    </a:lnTo>
                    <a:lnTo>
                      <a:pt x="2483" y="4202"/>
                    </a:lnTo>
                    <a:lnTo>
                      <a:pt x="2467" y="4218"/>
                    </a:lnTo>
                    <a:lnTo>
                      <a:pt x="2449" y="4233"/>
                    </a:lnTo>
                    <a:lnTo>
                      <a:pt x="2432" y="4247"/>
                    </a:lnTo>
                    <a:lnTo>
                      <a:pt x="2413" y="4260"/>
                    </a:lnTo>
                    <a:lnTo>
                      <a:pt x="2394" y="4271"/>
                    </a:lnTo>
                    <a:lnTo>
                      <a:pt x="2375" y="4282"/>
                    </a:lnTo>
                    <a:lnTo>
                      <a:pt x="2355" y="4292"/>
                    </a:lnTo>
                    <a:lnTo>
                      <a:pt x="2335" y="4300"/>
                    </a:lnTo>
                    <a:lnTo>
                      <a:pt x="2314" y="4308"/>
                    </a:lnTo>
                    <a:lnTo>
                      <a:pt x="2295" y="4315"/>
                    </a:lnTo>
                    <a:lnTo>
                      <a:pt x="2273" y="4320"/>
                    </a:lnTo>
                    <a:lnTo>
                      <a:pt x="2252" y="4325"/>
                    </a:lnTo>
                    <a:lnTo>
                      <a:pt x="2231" y="4328"/>
                    </a:lnTo>
                    <a:lnTo>
                      <a:pt x="2209" y="4331"/>
                    </a:lnTo>
                    <a:lnTo>
                      <a:pt x="2188" y="4332"/>
                    </a:lnTo>
                    <a:lnTo>
                      <a:pt x="2166" y="4333"/>
                    </a:lnTo>
                    <a:lnTo>
                      <a:pt x="2145" y="4332"/>
                    </a:lnTo>
                    <a:lnTo>
                      <a:pt x="2124" y="4331"/>
                    </a:lnTo>
                    <a:lnTo>
                      <a:pt x="2102" y="4328"/>
                    </a:lnTo>
                    <a:lnTo>
                      <a:pt x="2081" y="4325"/>
                    </a:lnTo>
                    <a:lnTo>
                      <a:pt x="2060" y="4320"/>
                    </a:lnTo>
                    <a:lnTo>
                      <a:pt x="2039" y="4315"/>
                    </a:lnTo>
                    <a:lnTo>
                      <a:pt x="2019" y="4308"/>
                    </a:lnTo>
                    <a:lnTo>
                      <a:pt x="1998" y="4300"/>
                    </a:lnTo>
                    <a:lnTo>
                      <a:pt x="1978" y="4292"/>
                    </a:lnTo>
                    <a:lnTo>
                      <a:pt x="1958" y="4282"/>
                    </a:lnTo>
                    <a:lnTo>
                      <a:pt x="1939" y="4271"/>
                    </a:lnTo>
                    <a:lnTo>
                      <a:pt x="1920" y="4260"/>
                    </a:lnTo>
                    <a:lnTo>
                      <a:pt x="1901" y="4247"/>
                    </a:lnTo>
                    <a:lnTo>
                      <a:pt x="1884" y="4233"/>
                    </a:lnTo>
                    <a:lnTo>
                      <a:pt x="1866" y="4218"/>
                    </a:lnTo>
                    <a:lnTo>
                      <a:pt x="1850" y="4202"/>
                    </a:lnTo>
                    <a:lnTo>
                      <a:pt x="131" y="2483"/>
                    </a:lnTo>
                    <a:lnTo>
                      <a:pt x="115" y="2466"/>
                    </a:lnTo>
                    <a:lnTo>
                      <a:pt x="100" y="2449"/>
                    </a:lnTo>
                    <a:lnTo>
                      <a:pt x="87" y="2431"/>
                    </a:lnTo>
                    <a:lnTo>
                      <a:pt x="74" y="2413"/>
                    </a:lnTo>
                    <a:lnTo>
                      <a:pt x="62" y="2394"/>
                    </a:lnTo>
                    <a:lnTo>
                      <a:pt x="51" y="2375"/>
                    </a:lnTo>
                    <a:lnTo>
                      <a:pt x="42" y="2356"/>
                    </a:lnTo>
                    <a:lnTo>
                      <a:pt x="33" y="2335"/>
                    </a:lnTo>
                    <a:lnTo>
                      <a:pt x="25" y="2315"/>
                    </a:lnTo>
                    <a:lnTo>
                      <a:pt x="19" y="2294"/>
                    </a:lnTo>
                    <a:lnTo>
                      <a:pt x="13" y="2274"/>
                    </a:lnTo>
                    <a:lnTo>
                      <a:pt x="8" y="2253"/>
                    </a:lnTo>
                    <a:lnTo>
                      <a:pt x="5" y="2231"/>
                    </a:lnTo>
                    <a:lnTo>
                      <a:pt x="2" y="2210"/>
                    </a:lnTo>
                    <a:lnTo>
                      <a:pt x="0" y="2188"/>
                    </a:lnTo>
                    <a:lnTo>
                      <a:pt x="0" y="2166"/>
                    </a:lnTo>
                    <a:lnTo>
                      <a:pt x="0" y="2145"/>
                    </a:lnTo>
                    <a:lnTo>
                      <a:pt x="2" y="2123"/>
                    </a:lnTo>
                    <a:lnTo>
                      <a:pt x="5" y="2103"/>
                    </a:lnTo>
                    <a:lnTo>
                      <a:pt x="8" y="2081"/>
                    </a:lnTo>
                    <a:lnTo>
                      <a:pt x="13" y="2060"/>
                    </a:lnTo>
                    <a:lnTo>
                      <a:pt x="19" y="2039"/>
                    </a:lnTo>
                    <a:lnTo>
                      <a:pt x="25" y="2018"/>
                    </a:lnTo>
                    <a:lnTo>
                      <a:pt x="33" y="1999"/>
                    </a:lnTo>
                    <a:lnTo>
                      <a:pt x="42" y="1978"/>
                    </a:lnTo>
                    <a:lnTo>
                      <a:pt x="51" y="1958"/>
                    </a:lnTo>
                    <a:lnTo>
                      <a:pt x="62" y="1939"/>
                    </a:lnTo>
                    <a:lnTo>
                      <a:pt x="74" y="1921"/>
                    </a:lnTo>
                    <a:lnTo>
                      <a:pt x="87" y="1902"/>
                    </a:lnTo>
                    <a:lnTo>
                      <a:pt x="100" y="1885"/>
                    </a:lnTo>
                    <a:lnTo>
                      <a:pt x="115" y="1867"/>
                    </a:lnTo>
                    <a:lnTo>
                      <a:pt x="131" y="1851"/>
                    </a:lnTo>
                    <a:lnTo>
                      <a:pt x="1850" y="132"/>
                    </a:lnTo>
                    <a:lnTo>
                      <a:pt x="1866" y="115"/>
                    </a:lnTo>
                    <a:lnTo>
                      <a:pt x="1884" y="101"/>
                    </a:lnTo>
                    <a:lnTo>
                      <a:pt x="1901" y="87"/>
                    </a:lnTo>
                    <a:lnTo>
                      <a:pt x="1920" y="74"/>
                    </a:lnTo>
                    <a:lnTo>
                      <a:pt x="1939" y="63"/>
                    </a:lnTo>
                    <a:lnTo>
                      <a:pt x="1958" y="52"/>
                    </a:lnTo>
                    <a:lnTo>
                      <a:pt x="1978" y="42"/>
                    </a:lnTo>
                    <a:lnTo>
                      <a:pt x="1998" y="33"/>
                    </a:lnTo>
                    <a:lnTo>
                      <a:pt x="2019" y="25"/>
                    </a:lnTo>
                    <a:lnTo>
                      <a:pt x="2039" y="19"/>
                    </a:lnTo>
                    <a:lnTo>
                      <a:pt x="2060" y="13"/>
                    </a:lnTo>
                    <a:lnTo>
                      <a:pt x="2081" y="9"/>
                    </a:lnTo>
                    <a:lnTo>
                      <a:pt x="2102" y="6"/>
                    </a:lnTo>
                    <a:lnTo>
                      <a:pt x="2124" y="2"/>
                    </a:lnTo>
                    <a:lnTo>
                      <a:pt x="2145" y="1"/>
                    </a:lnTo>
                    <a:lnTo>
                      <a:pt x="2166" y="0"/>
                    </a:lnTo>
                    <a:lnTo>
                      <a:pt x="2188" y="1"/>
                    </a:lnTo>
                    <a:lnTo>
                      <a:pt x="2209" y="2"/>
                    </a:lnTo>
                    <a:lnTo>
                      <a:pt x="2231" y="6"/>
                    </a:lnTo>
                    <a:lnTo>
                      <a:pt x="2252" y="9"/>
                    </a:lnTo>
                    <a:lnTo>
                      <a:pt x="2273" y="13"/>
                    </a:lnTo>
                    <a:lnTo>
                      <a:pt x="2295" y="19"/>
                    </a:lnTo>
                    <a:lnTo>
                      <a:pt x="2314" y="25"/>
                    </a:lnTo>
                    <a:lnTo>
                      <a:pt x="2335" y="33"/>
                    </a:lnTo>
                    <a:lnTo>
                      <a:pt x="2355" y="42"/>
                    </a:lnTo>
                    <a:lnTo>
                      <a:pt x="2375" y="52"/>
                    </a:lnTo>
                    <a:lnTo>
                      <a:pt x="2394" y="63"/>
                    </a:lnTo>
                    <a:lnTo>
                      <a:pt x="2413" y="74"/>
                    </a:lnTo>
                    <a:lnTo>
                      <a:pt x="2432" y="87"/>
                    </a:lnTo>
                    <a:lnTo>
                      <a:pt x="2449" y="101"/>
                    </a:lnTo>
                    <a:lnTo>
                      <a:pt x="2467" y="115"/>
                    </a:lnTo>
                    <a:lnTo>
                      <a:pt x="2483" y="132"/>
                    </a:lnTo>
                    <a:close/>
                  </a:path>
                </a:pathLst>
              </a:custGeom>
              <a:solidFill>
                <a:srgbClr val="49BD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63" name="Freeform 9"/>
              <p:cNvSpPr>
                <a:spLocks/>
              </p:cNvSpPr>
              <p:nvPr/>
            </p:nvSpPr>
            <p:spPr bwMode="auto">
              <a:xfrm>
                <a:off x="2319" y="1133"/>
                <a:ext cx="762" cy="762"/>
              </a:xfrm>
              <a:custGeom>
                <a:avLst/>
                <a:gdLst>
                  <a:gd name="T0" fmla="*/ 3710 w 3811"/>
                  <a:gd name="T1" fmla="*/ 1641 h 3809"/>
                  <a:gd name="T2" fmla="*/ 3746 w 3811"/>
                  <a:gd name="T3" fmla="*/ 1688 h 3809"/>
                  <a:gd name="T4" fmla="*/ 3775 w 3811"/>
                  <a:gd name="T5" fmla="*/ 1739 h 3809"/>
                  <a:gd name="T6" fmla="*/ 3795 w 3811"/>
                  <a:gd name="T7" fmla="*/ 1792 h 3809"/>
                  <a:gd name="T8" fmla="*/ 3807 w 3811"/>
                  <a:gd name="T9" fmla="*/ 1848 h 3809"/>
                  <a:gd name="T10" fmla="*/ 3811 w 3811"/>
                  <a:gd name="T11" fmla="*/ 1904 h 3809"/>
                  <a:gd name="T12" fmla="*/ 3807 w 3811"/>
                  <a:gd name="T13" fmla="*/ 1961 h 3809"/>
                  <a:gd name="T14" fmla="*/ 3795 w 3811"/>
                  <a:gd name="T15" fmla="*/ 2017 h 3809"/>
                  <a:gd name="T16" fmla="*/ 3775 w 3811"/>
                  <a:gd name="T17" fmla="*/ 2071 h 3809"/>
                  <a:gd name="T18" fmla="*/ 3746 w 3811"/>
                  <a:gd name="T19" fmla="*/ 2121 h 3809"/>
                  <a:gd name="T20" fmla="*/ 3710 w 3811"/>
                  <a:gd name="T21" fmla="*/ 2168 h 3809"/>
                  <a:gd name="T22" fmla="*/ 2170 w 3811"/>
                  <a:gd name="T23" fmla="*/ 3709 h 3809"/>
                  <a:gd name="T24" fmla="*/ 2122 w 3811"/>
                  <a:gd name="T25" fmla="*/ 3745 h 3809"/>
                  <a:gd name="T26" fmla="*/ 2072 w 3811"/>
                  <a:gd name="T27" fmla="*/ 3773 h 3809"/>
                  <a:gd name="T28" fmla="*/ 2018 w 3811"/>
                  <a:gd name="T29" fmla="*/ 3793 h 3809"/>
                  <a:gd name="T30" fmla="*/ 1962 w 3811"/>
                  <a:gd name="T31" fmla="*/ 3805 h 3809"/>
                  <a:gd name="T32" fmla="*/ 1905 w 3811"/>
                  <a:gd name="T33" fmla="*/ 3809 h 3809"/>
                  <a:gd name="T34" fmla="*/ 1849 w 3811"/>
                  <a:gd name="T35" fmla="*/ 3805 h 3809"/>
                  <a:gd name="T36" fmla="*/ 1794 w 3811"/>
                  <a:gd name="T37" fmla="*/ 3793 h 3809"/>
                  <a:gd name="T38" fmla="*/ 1740 w 3811"/>
                  <a:gd name="T39" fmla="*/ 3773 h 3809"/>
                  <a:gd name="T40" fmla="*/ 1689 w 3811"/>
                  <a:gd name="T41" fmla="*/ 3745 h 3809"/>
                  <a:gd name="T42" fmla="*/ 1641 w 3811"/>
                  <a:gd name="T43" fmla="*/ 3709 h 3809"/>
                  <a:gd name="T44" fmla="*/ 102 w 3811"/>
                  <a:gd name="T45" fmla="*/ 2168 h 3809"/>
                  <a:gd name="T46" fmla="*/ 65 w 3811"/>
                  <a:gd name="T47" fmla="*/ 2121 h 3809"/>
                  <a:gd name="T48" fmla="*/ 37 w 3811"/>
                  <a:gd name="T49" fmla="*/ 2071 h 3809"/>
                  <a:gd name="T50" fmla="*/ 16 w 3811"/>
                  <a:gd name="T51" fmla="*/ 2017 h 3809"/>
                  <a:gd name="T52" fmla="*/ 4 w 3811"/>
                  <a:gd name="T53" fmla="*/ 1961 h 3809"/>
                  <a:gd name="T54" fmla="*/ 0 w 3811"/>
                  <a:gd name="T55" fmla="*/ 1904 h 3809"/>
                  <a:gd name="T56" fmla="*/ 4 w 3811"/>
                  <a:gd name="T57" fmla="*/ 1848 h 3809"/>
                  <a:gd name="T58" fmla="*/ 16 w 3811"/>
                  <a:gd name="T59" fmla="*/ 1792 h 3809"/>
                  <a:gd name="T60" fmla="*/ 37 w 3811"/>
                  <a:gd name="T61" fmla="*/ 1739 h 3809"/>
                  <a:gd name="T62" fmla="*/ 65 w 3811"/>
                  <a:gd name="T63" fmla="*/ 1688 h 3809"/>
                  <a:gd name="T64" fmla="*/ 102 w 3811"/>
                  <a:gd name="T65" fmla="*/ 1641 h 3809"/>
                  <a:gd name="T66" fmla="*/ 1641 w 3811"/>
                  <a:gd name="T67" fmla="*/ 101 h 3809"/>
                  <a:gd name="T68" fmla="*/ 1689 w 3811"/>
                  <a:gd name="T69" fmla="*/ 65 h 3809"/>
                  <a:gd name="T70" fmla="*/ 1740 w 3811"/>
                  <a:gd name="T71" fmla="*/ 36 h 3809"/>
                  <a:gd name="T72" fmla="*/ 1794 w 3811"/>
                  <a:gd name="T73" fmla="*/ 16 h 3809"/>
                  <a:gd name="T74" fmla="*/ 1849 w 3811"/>
                  <a:gd name="T75" fmla="*/ 4 h 3809"/>
                  <a:gd name="T76" fmla="*/ 1905 w 3811"/>
                  <a:gd name="T77" fmla="*/ 0 h 3809"/>
                  <a:gd name="T78" fmla="*/ 1962 w 3811"/>
                  <a:gd name="T79" fmla="*/ 4 h 3809"/>
                  <a:gd name="T80" fmla="*/ 2018 w 3811"/>
                  <a:gd name="T81" fmla="*/ 16 h 3809"/>
                  <a:gd name="T82" fmla="*/ 2072 w 3811"/>
                  <a:gd name="T83" fmla="*/ 36 h 3809"/>
                  <a:gd name="T84" fmla="*/ 2122 w 3811"/>
                  <a:gd name="T85" fmla="*/ 65 h 3809"/>
                  <a:gd name="T86" fmla="*/ 2170 w 3811"/>
                  <a:gd name="T87" fmla="*/ 101 h 3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11" h="3809">
                    <a:moveTo>
                      <a:pt x="2184" y="115"/>
                    </a:moveTo>
                    <a:lnTo>
                      <a:pt x="3696" y="1627"/>
                    </a:lnTo>
                    <a:lnTo>
                      <a:pt x="3710" y="1641"/>
                    </a:lnTo>
                    <a:lnTo>
                      <a:pt x="3722" y="1657"/>
                    </a:lnTo>
                    <a:lnTo>
                      <a:pt x="3735" y="1672"/>
                    </a:lnTo>
                    <a:lnTo>
                      <a:pt x="3746" y="1688"/>
                    </a:lnTo>
                    <a:lnTo>
                      <a:pt x="3756" y="1705"/>
                    </a:lnTo>
                    <a:lnTo>
                      <a:pt x="3766" y="1721"/>
                    </a:lnTo>
                    <a:lnTo>
                      <a:pt x="3775" y="1739"/>
                    </a:lnTo>
                    <a:lnTo>
                      <a:pt x="3782" y="1756"/>
                    </a:lnTo>
                    <a:lnTo>
                      <a:pt x="3789" y="1775"/>
                    </a:lnTo>
                    <a:lnTo>
                      <a:pt x="3795" y="1792"/>
                    </a:lnTo>
                    <a:lnTo>
                      <a:pt x="3799" y="1811"/>
                    </a:lnTo>
                    <a:lnTo>
                      <a:pt x="3803" y="1830"/>
                    </a:lnTo>
                    <a:lnTo>
                      <a:pt x="3807" y="1848"/>
                    </a:lnTo>
                    <a:lnTo>
                      <a:pt x="3809" y="1867"/>
                    </a:lnTo>
                    <a:lnTo>
                      <a:pt x="3810" y="1886"/>
                    </a:lnTo>
                    <a:lnTo>
                      <a:pt x="3811" y="1904"/>
                    </a:lnTo>
                    <a:lnTo>
                      <a:pt x="3810" y="1924"/>
                    </a:lnTo>
                    <a:lnTo>
                      <a:pt x="3809" y="1943"/>
                    </a:lnTo>
                    <a:lnTo>
                      <a:pt x="3807" y="1961"/>
                    </a:lnTo>
                    <a:lnTo>
                      <a:pt x="3803" y="1980"/>
                    </a:lnTo>
                    <a:lnTo>
                      <a:pt x="3799" y="1998"/>
                    </a:lnTo>
                    <a:lnTo>
                      <a:pt x="3795" y="2017"/>
                    </a:lnTo>
                    <a:lnTo>
                      <a:pt x="3789" y="2035"/>
                    </a:lnTo>
                    <a:lnTo>
                      <a:pt x="3782" y="2053"/>
                    </a:lnTo>
                    <a:lnTo>
                      <a:pt x="3775" y="2071"/>
                    </a:lnTo>
                    <a:lnTo>
                      <a:pt x="3766" y="2088"/>
                    </a:lnTo>
                    <a:lnTo>
                      <a:pt x="3756" y="2105"/>
                    </a:lnTo>
                    <a:lnTo>
                      <a:pt x="3746" y="2121"/>
                    </a:lnTo>
                    <a:lnTo>
                      <a:pt x="3735" y="2138"/>
                    </a:lnTo>
                    <a:lnTo>
                      <a:pt x="3722" y="2153"/>
                    </a:lnTo>
                    <a:lnTo>
                      <a:pt x="3710" y="2168"/>
                    </a:lnTo>
                    <a:lnTo>
                      <a:pt x="3696" y="2182"/>
                    </a:lnTo>
                    <a:lnTo>
                      <a:pt x="2184" y="3694"/>
                    </a:lnTo>
                    <a:lnTo>
                      <a:pt x="2170" y="3709"/>
                    </a:lnTo>
                    <a:lnTo>
                      <a:pt x="2154" y="3722"/>
                    </a:lnTo>
                    <a:lnTo>
                      <a:pt x="2139" y="3734"/>
                    </a:lnTo>
                    <a:lnTo>
                      <a:pt x="2122" y="3745"/>
                    </a:lnTo>
                    <a:lnTo>
                      <a:pt x="2106" y="3756"/>
                    </a:lnTo>
                    <a:lnTo>
                      <a:pt x="2088" y="3765"/>
                    </a:lnTo>
                    <a:lnTo>
                      <a:pt x="2072" y="3773"/>
                    </a:lnTo>
                    <a:lnTo>
                      <a:pt x="2053" y="3781"/>
                    </a:lnTo>
                    <a:lnTo>
                      <a:pt x="2036" y="3788"/>
                    </a:lnTo>
                    <a:lnTo>
                      <a:pt x="2018" y="3793"/>
                    </a:lnTo>
                    <a:lnTo>
                      <a:pt x="2000" y="3799"/>
                    </a:lnTo>
                    <a:lnTo>
                      <a:pt x="1981" y="3802"/>
                    </a:lnTo>
                    <a:lnTo>
                      <a:pt x="1962" y="3805"/>
                    </a:lnTo>
                    <a:lnTo>
                      <a:pt x="1944" y="3807"/>
                    </a:lnTo>
                    <a:lnTo>
                      <a:pt x="1924" y="3809"/>
                    </a:lnTo>
                    <a:lnTo>
                      <a:pt x="1905" y="3809"/>
                    </a:lnTo>
                    <a:lnTo>
                      <a:pt x="1887" y="3809"/>
                    </a:lnTo>
                    <a:lnTo>
                      <a:pt x="1868" y="3807"/>
                    </a:lnTo>
                    <a:lnTo>
                      <a:pt x="1849" y="3805"/>
                    </a:lnTo>
                    <a:lnTo>
                      <a:pt x="1830" y="3802"/>
                    </a:lnTo>
                    <a:lnTo>
                      <a:pt x="1811" y="3799"/>
                    </a:lnTo>
                    <a:lnTo>
                      <a:pt x="1794" y="3793"/>
                    </a:lnTo>
                    <a:lnTo>
                      <a:pt x="1775" y="3788"/>
                    </a:lnTo>
                    <a:lnTo>
                      <a:pt x="1758" y="3781"/>
                    </a:lnTo>
                    <a:lnTo>
                      <a:pt x="1740" y="3773"/>
                    </a:lnTo>
                    <a:lnTo>
                      <a:pt x="1723" y="3765"/>
                    </a:lnTo>
                    <a:lnTo>
                      <a:pt x="1705" y="3756"/>
                    </a:lnTo>
                    <a:lnTo>
                      <a:pt x="1689" y="3745"/>
                    </a:lnTo>
                    <a:lnTo>
                      <a:pt x="1673" y="3734"/>
                    </a:lnTo>
                    <a:lnTo>
                      <a:pt x="1657" y="3722"/>
                    </a:lnTo>
                    <a:lnTo>
                      <a:pt x="1641" y="3709"/>
                    </a:lnTo>
                    <a:lnTo>
                      <a:pt x="1627" y="3694"/>
                    </a:lnTo>
                    <a:lnTo>
                      <a:pt x="115" y="2182"/>
                    </a:lnTo>
                    <a:lnTo>
                      <a:pt x="102" y="2168"/>
                    </a:lnTo>
                    <a:lnTo>
                      <a:pt x="89" y="2153"/>
                    </a:lnTo>
                    <a:lnTo>
                      <a:pt x="77" y="2138"/>
                    </a:lnTo>
                    <a:lnTo>
                      <a:pt x="65" y="2121"/>
                    </a:lnTo>
                    <a:lnTo>
                      <a:pt x="55" y="2105"/>
                    </a:lnTo>
                    <a:lnTo>
                      <a:pt x="45" y="2088"/>
                    </a:lnTo>
                    <a:lnTo>
                      <a:pt x="37" y="2071"/>
                    </a:lnTo>
                    <a:lnTo>
                      <a:pt x="30" y="2053"/>
                    </a:lnTo>
                    <a:lnTo>
                      <a:pt x="23" y="2035"/>
                    </a:lnTo>
                    <a:lnTo>
                      <a:pt x="16" y="2017"/>
                    </a:lnTo>
                    <a:lnTo>
                      <a:pt x="12" y="1998"/>
                    </a:lnTo>
                    <a:lnTo>
                      <a:pt x="8" y="1980"/>
                    </a:lnTo>
                    <a:lnTo>
                      <a:pt x="4" y="1961"/>
                    </a:lnTo>
                    <a:lnTo>
                      <a:pt x="2" y="1943"/>
                    </a:lnTo>
                    <a:lnTo>
                      <a:pt x="1" y="1924"/>
                    </a:lnTo>
                    <a:lnTo>
                      <a:pt x="0" y="1904"/>
                    </a:lnTo>
                    <a:lnTo>
                      <a:pt x="1" y="1886"/>
                    </a:lnTo>
                    <a:lnTo>
                      <a:pt x="2" y="1867"/>
                    </a:lnTo>
                    <a:lnTo>
                      <a:pt x="4" y="1848"/>
                    </a:lnTo>
                    <a:lnTo>
                      <a:pt x="8" y="1830"/>
                    </a:lnTo>
                    <a:lnTo>
                      <a:pt x="12" y="1811"/>
                    </a:lnTo>
                    <a:lnTo>
                      <a:pt x="16" y="1792"/>
                    </a:lnTo>
                    <a:lnTo>
                      <a:pt x="23" y="1775"/>
                    </a:lnTo>
                    <a:lnTo>
                      <a:pt x="30" y="1756"/>
                    </a:lnTo>
                    <a:lnTo>
                      <a:pt x="37" y="1739"/>
                    </a:lnTo>
                    <a:lnTo>
                      <a:pt x="45" y="1721"/>
                    </a:lnTo>
                    <a:lnTo>
                      <a:pt x="55" y="1705"/>
                    </a:lnTo>
                    <a:lnTo>
                      <a:pt x="65" y="1688"/>
                    </a:lnTo>
                    <a:lnTo>
                      <a:pt x="77" y="1672"/>
                    </a:lnTo>
                    <a:lnTo>
                      <a:pt x="89" y="1657"/>
                    </a:lnTo>
                    <a:lnTo>
                      <a:pt x="102" y="1641"/>
                    </a:lnTo>
                    <a:lnTo>
                      <a:pt x="115" y="1627"/>
                    </a:lnTo>
                    <a:lnTo>
                      <a:pt x="1627" y="115"/>
                    </a:lnTo>
                    <a:lnTo>
                      <a:pt x="1641" y="101"/>
                    </a:lnTo>
                    <a:lnTo>
                      <a:pt x="1657" y="88"/>
                    </a:lnTo>
                    <a:lnTo>
                      <a:pt x="1673" y="76"/>
                    </a:lnTo>
                    <a:lnTo>
                      <a:pt x="1689" y="65"/>
                    </a:lnTo>
                    <a:lnTo>
                      <a:pt x="1705" y="54"/>
                    </a:lnTo>
                    <a:lnTo>
                      <a:pt x="1723" y="45"/>
                    </a:lnTo>
                    <a:lnTo>
                      <a:pt x="1740" y="36"/>
                    </a:lnTo>
                    <a:lnTo>
                      <a:pt x="1758" y="28"/>
                    </a:lnTo>
                    <a:lnTo>
                      <a:pt x="1775" y="22"/>
                    </a:lnTo>
                    <a:lnTo>
                      <a:pt x="1794" y="16"/>
                    </a:lnTo>
                    <a:lnTo>
                      <a:pt x="1811" y="11"/>
                    </a:lnTo>
                    <a:lnTo>
                      <a:pt x="1830" y="7"/>
                    </a:lnTo>
                    <a:lnTo>
                      <a:pt x="1849" y="4"/>
                    </a:lnTo>
                    <a:lnTo>
                      <a:pt x="1868" y="2"/>
                    </a:lnTo>
                    <a:lnTo>
                      <a:pt x="1887" y="0"/>
                    </a:lnTo>
                    <a:lnTo>
                      <a:pt x="1905" y="0"/>
                    </a:lnTo>
                    <a:lnTo>
                      <a:pt x="1924" y="0"/>
                    </a:lnTo>
                    <a:lnTo>
                      <a:pt x="1944" y="2"/>
                    </a:lnTo>
                    <a:lnTo>
                      <a:pt x="1962" y="4"/>
                    </a:lnTo>
                    <a:lnTo>
                      <a:pt x="1981" y="7"/>
                    </a:lnTo>
                    <a:lnTo>
                      <a:pt x="2000" y="11"/>
                    </a:lnTo>
                    <a:lnTo>
                      <a:pt x="2018" y="16"/>
                    </a:lnTo>
                    <a:lnTo>
                      <a:pt x="2036" y="22"/>
                    </a:lnTo>
                    <a:lnTo>
                      <a:pt x="2053" y="28"/>
                    </a:lnTo>
                    <a:lnTo>
                      <a:pt x="2072" y="36"/>
                    </a:lnTo>
                    <a:lnTo>
                      <a:pt x="2088" y="45"/>
                    </a:lnTo>
                    <a:lnTo>
                      <a:pt x="2106" y="54"/>
                    </a:lnTo>
                    <a:lnTo>
                      <a:pt x="2122" y="65"/>
                    </a:lnTo>
                    <a:lnTo>
                      <a:pt x="2139" y="76"/>
                    </a:lnTo>
                    <a:lnTo>
                      <a:pt x="2154" y="88"/>
                    </a:lnTo>
                    <a:lnTo>
                      <a:pt x="2170" y="101"/>
                    </a:lnTo>
                    <a:lnTo>
                      <a:pt x="2184" y="115"/>
                    </a:lnTo>
                    <a:close/>
                  </a:path>
                </a:pathLst>
              </a:custGeom>
              <a:solidFill>
                <a:srgbClr val="299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64" name="Freeform 10"/>
              <p:cNvSpPr>
                <a:spLocks noEditPoints="1"/>
              </p:cNvSpPr>
              <p:nvPr/>
            </p:nvSpPr>
            <p:spPr bwMode="auto">
              <a:xfrm>
                <a:off x="2312" y="1127"/>
                <a:ext cx="776" cy="775"/>
              </a:xfrm>
              <a:custGeom>
                <a:avLst/>
                <a:gdLst>
                  <a:gd name="T0" fmla="*/ 3794 w 3876"/>
                  <a:gd name="T1" fmla="*/ 1685 h 3875"/>
                  <a:gd name="T2" fmla="*/ 3844 w 3876"/>
                  <a:gd name="T3" fmla="*/ 1777 h 3875"/>
                  <a:gd name="T4" fmla="*/ 3871 w 3876"/>
                  <a:gd name="T5" fmla="*/ 1877 h 3875"/>
                  <a:gd name="T6" fmla="*/ 3874 w 3876"/>
                  <a:gd name="T7" fmla="*/ 1979 h 3875"/>
                  <a:gd name="T8" fmla="*/ 3852 w 3876"/>
                  <a:gd name="T9" fmla="*/ 2079 h 3875"/>
                  <a:gd name="T10" fmla="*/ 3806 w 3876"/>
                  <a:gd name="T11" fmla="*/ 2173 h 3875"/>
                  <a:gd name="T12" fmla="*/ 2239 w 3876"/>
                  <a:gd name="T13" fmla="*/ 3750 h 3875"/>
                  <a:gd name="T14" fmla="*/ 2154 w 3876"/>
                  <a:gd name="T15" fmla="*/ 3816 h 3875"/>
                  <a:gd name="T16" fmla="*/ 2059 w 3876"/>
                  <a:gd name="T17" fmla="*/ 3858 h 3875"/>
                  <a:gd name="T18" fmla="*/ 1958 w 3876"/>
                  <a:gd name="T19" fmla="*/ 3874 h 3875"/>
                  <a:gd name="T20" fmla="*/ 1856 w 3876"/>
                  <a:gd name="T21" fmla="*/ 3868 h 3875"/>
                  <a:gd name="T22" fmla="*/ 1758 w 3876"/>
                  <a:gd name="T23" fmla="*/ 3836 h 3875"/>
                  <a:gd name="T24" fmla="*/ 1669 w 3876"/>
                  <a:gd name="T25" fmla="*/ 3780 h 3875"/>
                  <a:gd name="T26" fmla="*/ 96 w 3876"/>
                  <a:gd name="T27" fmla="*/ 2207 h 3875"/>
                  <a:gd name="T28" fmla="*/ 40 w 3876"/>
                  <a:gd name="T29" fmla="*/ 2117 h 3875"/>
                  <a:gd name="T30" fmla="*/ 8 w 3876"/>
                  <a:gd name="T31" fmla="*/ 2019 h 3875"/>
                  <a:gd name="T32" fmla="*/ 0 w 3876"/>
                  <a:gd name="T33" fmla="*/ 1917 h 3875"/>
                  <a:gd name="T34" fmla="*/ 18 w 3876"/>
                  <a:gd name="T35" fmla="*/ 1817 h 3875"/>
                  <a:gd name="T36" fmla="*/ 58 w 3876"/>
                  <a:gd name="T37" fmla="*/ 1721 h 3875"/>
                  <a:gd name="T38" fmla="*/ 124 w 3876"/>
                  <a:gd name="T39" fmla="*/ 1637 h 3875"/>
                  <a:gd name="T40" fmla="*/ 1703 w 3876"/>
                  <a:gd name="T41" fmla="*/ 70 h 3875"/>
                  <a:gd name="T42" fmla="*/ 1796 w 3876"/>
                  <a:gd name="T43" fmla="*/ 24 h 3875"/>
                  <a:gd name="T44" fmla="*/ 1897 w 3876"/>
                  <a:gd name="T45" fmla="*/ 2 h 3875"/>
                  <a:gd name="T46" fmla="*/ 1999 w 3876"/>
                  <a:gd name="T47" fmla="*/ 5 h 3875"/>
                  <a:gd name="T48" fmla="*/ 2099 w 3876"/>
                  <a:gd name="T49" fmla="*/ 32 h 3875"/>
                  <a:gd name="T50" fmla="*/ 2190 w 3876"/>
                  <a:gd name="T51" fmla="*/ 82 h 3875"/>
                  <a:gd name="T52" fmla="*/ 2193 w 3876"/>
                  <a:gd name="T53" fmla="*/ 171 h 3875"/>
                  <a:gd name="T54" fmla="*/ 2122 w 3876"/>
                  <a:gd name="T55" fmla="*/ 115 h 3875"/>
                  <a:gd name="T56" fmla="*/ 2040 w 3876"/>
                  <a:gd name="T57" fmla="*/ 80 h 3875"/>
                  <a:gd name="T58" fmla="*/ 1955 w 3876"/>
                  <a:gd name="T59" fmla="*/ 66 h 3875"/>
                  <a:gd name="T60" fmla="*/ 1868 w 3876"/>
                  <a:gd name="T61" fmla="*/ 72 h 3875"/>
                  <a:gd name="T62" fmla="*/ 1785 w 3876"/>
                  <a:gd name="T63" fmla="*/ 99 h 3875"/>
                  <a:gd name="T64" fmla="*/ 1710 w 3876"/>
                  <a:gd name="T65" fmla="*/ 146 h 3875"/>
                  <a:gd name="T66" fmla="*/ 146 w 3876"/>
                  <a:gd name="T67" fmla="*/ 1710 h 3875"/>
                  <a:gd name="T68" fmla="*/ 99 w 3876"/>
                  <a:gd name="T69" fmla="*/ 1786 h 3875"/>
                  <a:gd name="T70" fmla="*/ 71 w 3876"/>
                  <a:gd name="T71" fmla="*/ 1868 h 3875"/>
                  <a:gd name="T72" fmla="*/ 66 w 3876"/>
                  <a:gd name="T73" fmla="*/ 1955 h 3875"/>
                  <a:gd name="T74" fmla="*/ 80 w 3876"/>
                  <a:gd name="T75" fmla="*/ 2040 h 3875"/>
                  <a:gd name="T76" fmla="*/ 115 w 3876"/>
                  <a:gd name="T77" fmla="*/ 2121 h 3875"/>
                  <a:gd name="T78" fmla="*/ 170 w 3876"/>
                  <a:gd name="T79" fmla="*/ 2192 h 3875"/>
                  <a:gd name="T80" fmla="*/ 1739 w 3876"/>
                  <a:gd name="T81" fmla="*/ 3750 h 3875"/>
                  <a:gd name="T82" fmla="*/ 1818 w 3876"/>
                  <a:gd name="T83" fmla="*/ 3790 h 3875"/>
                  <a:gd name="T84" fmla="*/ 1902 w 3876"/>
                  <a:gd name="T85" fmla="*/ 3809 h 3875"/>
                  <a:gd name="T86" fmla="*/ 1989 w 3876"/>
                  <a:gd name="T87" fmla="*/ 3806 h 3875"/>
                  <a:gd name="T88" fmla="*/ 2073 w 3876"/>
                  <a:gd name="T89" fmla="*/ 3783 h 3875"/>
                  <a:gd name="T90" fmla="*/ 2151 w 3876"/>
                  <a:gd name="T91" fmla="*/ 3741 h 3875"/>
                  <a:gd name="T92" fmla="*/ 3718 w 3876"/>
                  <a:gd name="T93" fmla="*/ 2179 h 3875"/>
                  <a:gd name="T94" fmla="*/ 3768 w 3876"/>
                  <a:gd name="T95" fmla="*/ 2106 h 3875"/>
                  <a:gd name="T96" fmla="*/ 3800 w 3876"/>
                  <a:gd name="T97" fmla="*/ 2024 h 3875"/>
                  <a:gd name="T98" fmla="*/ 3810 w 3876"/>
                  <a:gd name="T99" fmla="*/ 1937 h 3875"/>
                  <a:gd name="T100" fmla="*/ 3800 w 3876"/>
                  <a:gd name="T101" fmla="*/ 1852 h 3875"/>
                  <a:gd name="T102" fmla="*/ 3768 w 3876"/>
                  <a:gd name="T103" fmla="*/ 1770 h 3875"/>
                  <a:gd name="T104" fmla="*/ 3718 w 3876"/>
                  <a:gd name="T105" fmla="*/ 1696 h 3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76" h="3875">
                    <a:moveTo>
                      <a:pt x="2239" y="125"/>
                    </a:moveTo>
                    <a:lnTo>
                      <a:pt x="3751" y="1637"/>
                    </a:lnTo>
                    <a:lnTo>
                      <a:pt x="3766" y="1652"/>
                    </a:lnTo>
                    <a:lnTo>
                      <a:pt x="3781" y="1669"/>
                    </a:lnTo>
                    <a:lnTo>
                      <a:pt x="3794" y="1685"/>
                    </a:lnTo>
                    <a:lnTo>
                      <a:pt x="3806" y="1703"/>
                    </a:lnTo>
                    <a:lnTo>
                      <a:pt x="3817" y="1721"/>
                    </a:lnTo>
                    <a:lnTo>
                      <a:pt x="3827" y="1739"/>
                    </a:lnTo>
                    <a:lnTo>
                      <a:pt x="3836" y="1759"/>
                    </a:lnTo>
                    <a:lnTo>
                      <a:pt x="3844" y="1777"/>
                    </a:lnTo>
                    <a:lnTo>
                      <a:pt x="3852" y="1797"/>
                    </a:lnTo>
                    <a:lnTo>
                      <a:pt x="3858" y="1817"/>
                    </a:lnTo>
                    <a:lnTo>
                      <a:pt x="3863" y="1836"/>
                    </a:lnTo>
                    <a:lnTo>
                      <a:pt x="3867" y="1856"/>
                    </a:lnTo>
                    <a:lnTo>
                      <a:pt x="3871" y="1877"/>
                    </a:lnTo>
                    <a:lnTo>
                      <a:pt x="3874" y="1897"/>
                    </a:lnTo>
                    <a:lnTo>
                      <a:pt x="3875" y="1917"/>
                    </a:lnTo>
                    <a:lnTo>
                      <a:pt x="3876" y="1937"/>
                    </a:lnTo>
                    <a:lnTo>
                      <a:pt x="3875" y="1958"/>
                    </a:lnTo>
                    <a:lnTo>
                      <a:pt x="3874" y="1979"/>
                    </a:lnTo>
                    <a:lnTo>
                      <a:pt x="3871" y="1999"/>
                    </a:lnTo>
                    <a:lnTo>
                      <a:pt x="3867" y="2019"/>
                    </a:lnTo>
                    <a:lnTo>
                      <a:pt x="3863" y="2039"/>
                    </a:lnTo>
                    <a:lnTo>
                      <a:pt x="3858" y="2059"/>
                    </a:lnTo>
                    <a:lnTo>
                      <a:pt x="3852" y="2079"/>
                    </a:lnTo>
                    <a:lnTo>
                      <a:pt x="3844" y="2098"/>
                    </a:lnTo>
                    <a:lnTo>
                      <a:pt x="3836" y="2117"/>
                    </a:lnTo>
                    <a:lnTo>
                      <a:pt x="3827" y="2137"/>
                    </a:lnTo>
                    <a:lnTo>
                      <a:pt x="3817" y="2154"/>
                    </a:lnTo>
                    <a:lnTo>
                      <a:pt x="3806" y="2173"/>
                    </a:lnTo>
                    <a:lnTo>
                      <a:pt x="3794" y="2190"/>
                    </a:lnTo>
                    <a:lnTo>
                      <a:pt x="3781" y="2207"/>
                    </a:lnTo>
                    <a:lnTo>
                      <a:pt x="3766" y="2223"/>
                    </a:lnTo>
                    <a:lnTo>
                      <a:pt x="3751" y="2238"/>
                    </a:lnTo>
                    <a:lnTo>
                      <a:pt x="2239" y="3750"/>
                    </a:lnTo>
                    <a:lnTo>
                      <a:pt x="2223" y="3766"/>
                    </a:lnTo>
                    <a:lnTo>
                      <a:pt x="2207" y="3780"/>
                    </a:lnTo>
                    <a:lnTo>
                      <a:pt x="2190" y="3793"/>
                    </a:lnTo>
                    <a:lnTo>
                      <a:pt x="2172" y="3805"/>
                    </a:lnTo>
                    <a:lnTo>
                      <a:pt x="2154" y="3816"/>
                    </a:lnTo>
                    <a:lnTo>
                      <a:pt x="2136" y="3826"/>
                    </a:lnTo>
                    <a:lnTo>
                      <a:pt x="2117" y="3836"/>
                    </a:lnTo>
                    <a:lnTo>
                      <a:pt x="2099" y="3844"/>
                    </a:lnTo>
                    <a:lnTo>
                      <a:pt x="2079" y="3851"/>
                    </a:lnTo>
                    <a:lnTo>
                      <a:pt x="2059" y="3858"/>
                    </a:lnTo>
                    <a:lnTo>
                      <a:pt x="2039" y="3863"/>
                    </a:lnTo>
                    <a:lnTo>
                      <a:pt x="2019" y="3868"/>
                    </a:lnTo>
                    <a:lnTo>
                      <a:pt x="1999" y="3871"/>
                    </a:lnTo>
                    <a:lnTo>
                      <a:pt x="1978" y="3873"/>
                    </a:lnTo>
                    <a:lnTo>
                      <a:pt x="1958" y="3874"/>
                    </a:lnTo>
                    <a:lnTo>
                      <a:pt x="1937" y="3875"/>
                    </a:lnTo>
                    <a:lnTo>
                      <a:pt x="1917" y="3874"/>
                    </a:lnTo>
                    <a:lnTo>
                      <a:pt x="1897" y="3873"/>
                    </a:lnTo>
                    <a:lnTo>
                      <a:pt x="1876" y="3871"/>
                    </a:lnTo>
                    <a:lnTo>
                      <a:pt x="1856" y="3868"/>
                    </a:lnTo>
                    <a:lnTo>
                      <a:pt x="1836" y="3863"/>
                    </a:lnTo>
                    <a:lnTo>
                      <a:pt x="1816" y="3858"/>
                    </a:lnTo>
                    <a:lnTo>
                      <a:pt x="1796" y="3851"/>
                    </a:lnTo>
                    <a:lnTo>
                      <a:pt x="1778" y="3844"/>
                    </a:lnTo>
                    <a:lnTo>
                      <a:pt x="1758" y="3836"/>
                    </a:lnTo>
                    <a:lnTo>
                      <a:pt x="1739" y="3826"/>
                    </a:lnTo>
                    <a:lnTo>
                      <a:pt x="1721" y="3816"/>
                    </a:lnTo>
                    <a:lnTo>
                      <a:pt x="1703" y="3805"/>
                    </a:lnTo>
                    <a:lnTo>
                      <a:pt x="1685" y="3793"/>
                    </a:lnTo>
                    <a:lnTo>
                      <a:pt x="1669" y="3780"/>
                    </a:lnTo>
                    <a:lnTo>
                      <a:pt x="1653" y="3766"/>
                    </a:lnTo>
                    <a:lnTo>
                      <a:pt x="1636" y="3750"/>
                    </a:lnTo>
                    <a:lnTo>
                      <a:pt x="124" y="2238"/>
                    </a:lnTo>
                    <a:lnTo>
                      <a:pt x="109" y="2223"/>
                    </a:lnTo>
                    <a:lnTo>
                      <a:pt x="96" y="2207"/>
                    </a:lnTo>
                    <a:lnTo>
                      <a:pt x="82" y="2190"/>
                    </a:lnTo>
                    <a:lnTo>
                      <a:pt x="70" y="2173"/>
                    </a:lnTo>
                    <a:lnTo>
                      <a:pt x="58" y="2154"/>
                    </a:lnTo>
                    <a:lnTo>
                      <a:pt x="48" y="2137"/>
                    </a:lnTo>
                    <a:lnTo>
                      <a:pt x="40" y="2117"/>
                    </a:lnTo>
                    <a:lnTo>
                      <a:pt x="31" y="2098"/>
                    </a:lnTo>
                    <a:lnTo>
                      <a:pt x="23" y="2079"/>
                    </a:lnTo>
                    <a:lnTo>
                      <a:pt x="18" y="2059"/>
                    </a:lnTo>
                    <a:lnTo>
                      <a:pt x="12" y="2039"/>
                    </a:lnTo>
                    <a:lnTo>
                      <a:pt x="8" y="2019"/>
                    </a:lnTo>
                    <a:lnTo>
                      <a:pt x="5" y="1999"/>
                    </a:lnTo>
                    <a:lnTo>
                      <a:pt x="2" y="1979"/>
                    </a:lnTo>
                    <a:lnTo>
                      <a:pt x="0" y="1958"/>
                    </a:lnTo>
                    <a:lnTo>
                      <a:pt x="0" y="1937"/>
                    </a:lnTo>
                    <a:lnTo>
                      <a:pt x="0" y="1917"/>
                    </a:lnTo>
                    <a:lnTo>
                      <a:pt x="2" y="1897"/>
                    </a:lnTo>
                    <a:lnTo>
                      <a:pt x="5" y="1877"/>
                    </a:lnTo>
                    <a:lnTo>
                      <a:pt x="8" y="1856"/>
                    </a:lnTo>
                    <a:lnTo>
                      <a:pt x="12" y="1836"/>
                    </a:lnTo>
                    <a:lnTo>
                      <a:pt x="18" y="1817"/>
                    </a:lnTo>
                    <a:lnTo>
                      <a:pt x="23" y="1797"/>
                    </a:lnTo>
                    <a:lnTo>
                      <a:pt x="31" y="1777"/>
                    </a:lnTo>
                    <a:lnTo>
                      <a:pt x="40" y="1759"/>
                    </a:lnTo>
                    <a:lnTo>
                      <a:pt x="48" y="1739"/>
                    </a:lnTo>
                    <a:lnTo>
                      <a:pt x="58" y="1721"/>
                    </a:lnTo>
                    <a:lnTo>
                      <a:pt x="70" y="1703"/>
                    </a:lnTo>
                    <a:lnTo>
                      <a:pt x="82" y="1685"/>
                    </a:lnTo>
                    <a:lnTo>
                      <a:pt x="96" y="1669"/>
                    </a:lnTo>
                    <a:lnTo>
                      <a:pt x="109" y="1652"/>
                    </a:lnTo>
                    <a:lnTo>
                      <a:pt x="124" y="1637"/>
                    </a:lnTo>
                    <a:lnTo>
                      <a:pt x="1636" y="125"/>
                    </a:lnTo>
                    <a:lnTo>
                      <a:pt x="1653" y="110"/>
                    </a:lnTo>
                    <a:lnTo>
                      <a:pt x="1669" y="95"/>
                    </a:lnTo>
                    <a:lnTo>
                      <a:pt x="1685" y="82"/>
                    </a:lnTo>
                    <a:lnTo>
                      <a:pt x="1703" y="70"/>
                    </a:lnTo>
                    <a:lnTo>
                      <a:pt x="1721" y="59"/>
                    </a:lnTo>
                    <a:lnTo>
                      <a:pt x="1739" y="49"/>
                    </a:lnTo>
                    <a:lnTo>
                      <a:pt x="1758" y="40"/>
                    </a:lnTo>
                    <a:lnTo>
                      <a:pt x="1778" y="32"/>
                    </a:lnTo>
                    <a:lnTo>
                      <a:pt x="1796" y="24"/>
                    </a:lnTo>
                    <a:lnTo>
                      <a:pt x="1816" y="18"/>
                    </a:lnTo>
                    <a:lnTo>
                      <a:pt x="1836" y="12"/>
                    </a:lnTo>
                    <a:lnTo>
                      <a:pt x="1856" y="8"/>
                    </a:lnTo>
                    <a:lnTo>
                      <a:pt x="1876" y="5"/>
                    </a:lnTo>
                    <a:lnTo>
                      <a:pt x="1897" y="2"/>
                    </a:lnTo>
                    <a:lnTo>
                      <a:pt x="1917" y="1"/>
                    </a:lnTo>
                    <a:lnTo>
                      <a:pt x="1937" y="0"/>
                    </a:lnTo>
                    <a:lnTo>
                      <a:pt x="1958" y="1"/>
                    </a:lnTo>
                    <a:lnTo>
                      <a:pt x="1978" y="2"/>
                    </a:lnTo>
                    <a:lnTo>
                      <a:pt x="1999" y="5"/>
                    </a:lnTo>
                    <a:lnTo>
                      <a:pt x="2019" y="8"/>
                    </a:lnTo>
                    <a:lnTo>
                      <a:pt x="2039" y="12"/>
                    </a:lnTo>
                    <a:lnTo>
                      <a:pt x="2059" y="18"/>
                    </a:lnTo>
                    <a:lnTo>
                      <a:pt x="2079" y="24"/>
                    </a:lnTo>
                    <a:lnTo>
                      <a:pt x="2099" y="32"/>
                    </a:lnTo>
                    <a:lnTo>
                      <a:pt x="2117" y="40"/>
                    </a:lnTo>
                    <a:lnTo>
                      <a:pt x="2136" y="49"/>
                    </a:lnTo>
                    <a:lnTo>
                      <a:pt x="2154" y="59"/>
                    </a:lnTo>
                    <a:lnTo>
                      <a:pt x="2172" y="70"/>
                    </a:lnTo>
                    <a:lnTo>
                      <a:pt x="2190" y="82"/>
                    </a:lnTo>
                    <a:lnTo>
                      <a:pt x="2207" y="95"/>
                    </a:lnTo>
                    <a:lnTo>
                      <a:pt x="2223" y="110"/>
                    </a:lnTo>
                    <a:lnTo>
                      <a:pt x="2239" y="125"/>
                    </a:lnTo>
                    <a:close/>
                    <a:moveTo>
                      <a:pt x="3705" y="1683"/>
                    </a:moveTo>
                    <a:lnTo>
                      <a:pt x="2193" y="171"/>
                    </a:lnTo>
                    <a:lnTo>
                      <a:pt x="2180" y="158"/>
                    </a:lnTo>
                    <a:lnTo>
                      <a:pt x="2165" y="146"/>
                    </a:lnTo>
                    <a:lnTo>
                      <a:pt x="2151" y="135"/>
                    </a:lnTo>
                    <a:lnTo>
                      <a:pt x="2136" y="125"/>
                    </a:lnTo>
                    <a:lnTo>
                      <a:pt x="2122" y="115"/>
                    </a:lnTo>
                    <a:lnTo>
                      <a:pt x="2105" y="106"/>
                    </a:lnTo>
                    <a:lnTo>
                      <a:pt x="2090" y="99"/>
                    </a:lnTo>
                    <a:lnTo>
                      <a:pt x="2073" y="92"/>
                    </a:lnTo>
                    <a:lnTo>
                      <a:pt x="2057" y="86"/>
                    </a:lnTo>
                    <a:lnTo>
                      <a:pt x="2040" y="80"/>
                    </a:lnTo>
                    <a:lnTo>
                      <a:pt x="2024" y="76"/>
                    </a:lnTo>
                    <a:lnTo>
                      <a:pt x="2007" y="72"/>
                    </a:lnTo>
                    <a:lnTo>
                      <a:pt x="1989" y="69"/>
                    </a:lnTo>
                    <a:lnTo>
                      <a:pt x="1973" y="67"/>
                    </a:lnTo>
                    <a:lnTo>
                      <a:pt x="1955" y="66"/>
                    </a:lnTo>
                    <a:lnTo>
                      <a:pt x="1937" y="66"/>
                    </a:lnTo>
                    <a:lnTo>
                      <a:pt x="1920" y="66"/>
                    </a:lnTo>
                    <a:lnTo>
                      <a:pt x="1902" y="67"/>
                    </a:lnTo>
                    <a:lnTo>
                      <a:pt x="1886" y="69"/>
                    </a:lnTo>
                    <a:lnTo>
                      <a:pt x="1868" y="72"/>
                    </a:lnTo>
                    <a:lnTo>
                      <a:pt x="1852" y="76"/>
                    </a:lnTo>
                    <a:lnTo>
                      <a:pt x="1834" y="80"/>
                    </a:lnTo>
                    <a:lnTo>
                      <a:pt x="1818" y="86"/>
                    </a:lnTo>
                    <a:lnTo>
                      <a:pt x="1802" y="92"/>
                    </a:lnTo>
                    <a:lnTo>
                      <a:pt x="1785" y="99"/>
                    </a:lnTo>
                    <a:lnTo>
                      <a:pt x="1770" y="106"/>
                    </a:lnTo>
                    <a:lnTo>
                      <a:pt x="1755" y="115"/>
                    </a:lnTo>
                    <a:lnTo>
                      <a:pt x="1739" y="125"/>
                    </a:lnTo>
                    <a:lnTo>
                      <a:pt x="1724" y="135"/>
                    </a:lnTo>
                    <a:lnTo>
                      <a:pt x="1710" y="146"/>
                    </a:lnTo>
                    <a:lnTo>
                      <a:pt x="1695" y="158"/>
                    </a:lnTo>
                    <a:lnTo>
                      <a:pt x="1682" y="171"/>
                    </a:lnTo>
                    <a:lnTo>
                      <a:pt x="170" y="1683"/>
                    </a:lnTo>
                    <a:lnTo>
                      <a:pt x="158" y="1696"/>
                    </a:lnTo>
                    <a:lnTo>
                      <a:pt x="146" y="1710"/>
                    </a:lnTo>
                    <a:lnTo>
                      <a:pt x="135" y="1725"/>
                    </a:lnTo>
                    <a:lnTo>
                      <a:pt x="124" y="1739"/>
                    </a:lnTo>
                    <a:lnTo>
                      <a:pt x="115" y="1754"/>
                    </a:lnTo>
                    <a:lnTo>
                      <a:pt x="107" y="1770"/>
                    </a:lnTo>
                    <a:lnTo>
                      <a:pt x="99" y="1786"/>
                    </a:lnTo>
                    <a:lnTo>
                      <a:pt x="91" y="1801"/>
                    </a:lnTo>
                    <a:lnTo>
                      <a:pt x="86" y="1818"/>
                    </a:lnTo>
                    <a:lnTo>
                      <a:pt x="80" y="1835"/>
                    </a:lnTo>
                    <a:lnTo>
                      <a:pt x="76" y="1852"/>
                    </a:lnTo>
                    <a:lnTo>
                      <a:pt x="71" y="1868"/>
                    </a:lnTo>
                    <a:lnTo>
                      <a:pt x="69" y="1886"/>
                    </a:lnTo>
                    <a:lnTo>
                      <a:pt x="67" y="1903"/>
                    </a:lnTo>
                    <a:lnTo>
                      <a:pt x="66" y="1921"/>
                    </a:lnTo>
                    <a:lnTo>
                      <a:pt x="65" y="1937"/>
                    </a:lnTo>
                    <a:lnTo>
                      <a:pt x="66" y="1955"/>
                    </a:lnTo>
                    <a:lnTo>
                      <a:pt x="67" y="1972"/>
                    </a:lnTo>
                    <a:lnTo>
                      <a:pt x="69" y="1990"/>
                    </a:lnTo>
                    <a:lnTo>
                      <a:pt x="71" y="2007"/>
                    </a:lnTo>
                    <a:lnTo>
                      <a:pt x="76" y="2024"/>
                    </a:lnTo>
                    <a:lnTo>
                      <a:pt x="80" y="2040"/>
                    </a:lnTo>
                    <a:lnTo>
                      <a:pt x="86" y="2058"/>
                    </a:lnTo>
                    <a:lnTo>
                      <a:pt x="91" y="2074"/>
                    </a:lnTo>
                    <a:lnTo>
                      <a:pt x="99" y="2089"/>
                    </a:lnTo>
                    <a:lnTo>
                      <a:pt x="107" y="2106"/>
                    </a:lnTo>
                    <a:lnTo>
                      <a:pt x="115" y="2121"/>
                    </a:lnTo>
                    <a:lnTo>
                      <a:pt x="124" y="2137"/>
                    </a:lnTo>
                    <a:lnTo>
                      <a:pt x="135" y="2151"/>
                    </a:lnTo>
                    <a:lnTo>
                      <a:pt x="146" y="2165"/>
                    </a:lnTo>
                    <a:lnTo>
                      <a:pt x="158" y="2179"/>
                    </a:lnTo>
                    <a:lnTo>
                      <a:pt x="170" y="2192"/>
                    </a:lnTo>
                    <a:lnTo>
                      <a:pt x="1682" y="3704"/>
                    </a:lnTo>
                    <a:lnTo>
                      <a:pt x="1695" y="3718"/>
                    </a:lnTo>
                    <a:lnTo>
                      <a:pt x="1710" y="3730"/>
                    </a:lnTo>
                    <a:lnTo>
                      <a:pt x="1724" y="3741"/>
                    </a:lnTo>
                    <a:lnTo>
                      <a:pt x="1739" y="3750"/>
                    </a:lnTo>
                    <a:lnTo>
                      <a:pt x="1755" y="3760"/>
                    </a:lnTo>
                    <a:lnTo>
                      <a:pt x="1770" y="3769"/>
                    </a:lnTo>
                    <a:lnTo>
                      <a:pt x="1785" y="3777"/>
                    </a:lnTo>
                    <a:lnTo>
                      <a:pt x="1802" y="3783"/>
                    </a:lnTo>
                    <a:lnTo>
                      <a:pt x="1818" y="3790"/>
                    </a:lnTo>
                    <a:lnTo>
                      <a:pt x="1834" y="3795"/>
                    </a:lnTo>
                    <a:lnTo>
                      <a:pt x="1852" y="3800"/>
                    </a:lnTo>
                    <a:lnTo>
                      <a:pt x="1868" y="3803"/>
                    </a:lnTo>
                    <a:lnTo>
                      <a:pt x="1886" y="3806"/>
                    </a:lnTo>
                    <a:lnTo>
                      <a:pt x="1902" y="3809"/>
                    </a:lnTo>
                    <a:lnTo>
                      <a:pt x="1920" y="3810"/>
                    </a:lnTo>
                    <a:lnTo>
                      <a:pt x="1937" y="3810"/>
                    </a:lnTo>
                    <a:lnTo>
                      <a:pt x="1955" y="3810"/>
                    </a:lnTo>
                    <a:lnTo>
                      <a:pt x="1973" y="3809"/>
                    </a:lnTo>
                    <a:lnTo>
                      <a:pt x="1989" y="3806"/>
                    </a:lnTo>
                    <a:lnTo>
                      <a:pt x="2007" y="3803"/>
                    </a:lnTo>
                    <a:lnTo>
                      <a:pt x="2024" y="3800"/>
                    </a:lnTo>
                    <a:lnTo>
                      <a:pt x="2040" y="3795"/>
                    </a:lnTo>
                    <a:lnTo>
                      <a:pt x="2057" y="3790"/>
                    </a:lnTo>
                    <a:lnTo>
                      <a:pt x="2073" y="3783"/>
                    </a:lnTo>
                    <a:lnTo>
                      <a:pt x="2090" y="3777"/>
                    </a:lnTo>
                    <a:lnTo>
                      <a:pt x="2105" y="3769"/>
                    </a:lnTo>
                    <a:lnTo>
                      <a:pt x="2122" y="3760"/>
                    </a:lnTo>
                    <a:lnTo>
                      <a:pt x="2136" y="3750"/>
                    </a:lnTo>
                    <a:lnTo>
                      <a:pt x="2151" y="3741"/>
                    </a:lnTo>
                    <a:lnTo>
                      <a:pt x="2165" y="3730"/>
                    </a:lnTo>
                    <a:lnTo>
                      <a:pt x="2180" y="3718"/>
                    </a:lnTo>
                    <a:lnTo>
                      <a:pt x="2193" y="3704"/>
                    </a:lnTo>
                    <a:lnTo>
                      <a:pt x="3705" y="2192"/>
                    </a:lnTo>
                    <a:lnTo>
                      <a:pt x="3718" y="2179"/>
                    </a:lnTo>
                    <a:lnTo>
                      <a:pt x="3729" y="2165"/>
                    </a:lnTo>
                    <a:lnTo>
                      <a:pt x="3741" y="2151"/>
                    </a:lnTo>
                    <a:lnTo>
                      <a:pt x="3751" y="2137"/>
                    </a:lnTo>
                    <a:lnTo>
                      <a:pt x="3761" y="2121"/>
                    </a:lnTo>
                    <a:lnTo>
                      <a:pt x="3768" y="2106"/>
                    </a:lnTo>
                    <a:lnTo>
                      <a:pt x="3777" y="2089"/>
                    </a:lnTo>
                    <a:lnTo>
                      <a:pt x="3784" y="2074"/>
                    </a:lnTo>
                    <a:lnTo>
                      <a:pt x="3790" y="2058"/>
                    </a:lnTo>
                    <a:lnTo>
                      <a:pt x="3795" y="2040"/>
                    </a:lnTo>
                    <a:lnTo>
                      <a:pt x="3800" y="2024"/>
                    </a:lnTo>
                    <a:lnTo>
                      <a:pt x="3804" y="2007"/>
                    </a:lnTo>
                    <a:lnTo>
                      <a:pt x="3807" y="1990"/>
                    </a:lnTo>
                    <a:lnTo>
                      <a:pt x="3808" y="1972"/>
                    </a:lnTo>
                    <a:lnTo>
                      <a:pt x="3810" y="1955"/>
                    </a:lnTo>
                    <a:lnTo>
                      <a:pt x="3810" y="1937"/>
                    </a:lnTo>
                    <a:lnTo>
                      <a:pt x="3810" y="1921"/>
                    </a:lnTo>
                    <a:lnTo>
                      <a:pt x="3808" y="1903"/>
                    </a:lnTo>
                    <a:lnTo>
                      <a:pt x="3807" y="1886"/>
                    </a:lnTo>
                    <a:lnTo>
                      <a:pt x="3804" y="1868"/>
                    </a:lnTo>
                    <a:lnTo>
                      <a:pt x="3800" y="1852"/>
                    </a:lnTo>
                    <a:lnTo>
                      <a:pt x="3795" y="1835"/>
                    </a:lnTo>
                    <a:lnTo>
                      <a:pt x="3790" y="1818"/>
                    </a:lnTo>
                    <a:lnTo>
                      <a:pt x="3784" y="1801"/>
                    </a:lnTo>
                    <a:lnTo>
                      <a:pt x="3777" y="1786"/>
                    </a:lnTo>
                    <a:lnTo>
                      <a:pt x="3768" y="1770"/>
                    </a:lnTo>
                    <a:lnTo>
                      <a:pt x="3761" y="1754"/>
                    </a:lnTo>
                    <a:lnTo>
                      <a:pt x="3751" y="1739"/>
                    </a:lnTo>
                    <a:lnTo>
                      <a:pt x="3741" y="1725"/>
                    </a:lnTo>
                    <a:lnTo>
                      <a:pt x="3729" y="1710"/>
                    </a:lnTo>
                    <a:lnTo>
                      <a:pt x="3718" y="1696"/>
                    </a:lnTo>
                    <a:lnTo>
                      <a:pt x="3705" y="1683"/>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65" name="Freeform 11"/>
              <p:cNvSpPr>
                <a:spLocks/>
              </p:cNvSpPr>
              <p:nvPr/>
            </p:nvSpPr>
            <p:spPr bwMode="auto">
              <a:xfrm>
                <a:off x="2205" y="1019"/>
                <a:ext cx="317" cy="317"/>
              </a:xfrm>
              <a:custGeom>
                <a:avLst/>
                <a:gdLst>
                  <a:gd name="T0" fmla="*/ 0 w 1585"/>
                  <a:gd name="T1" fmla="*/ 569 h 1586"/>
                  <a:gd name="T2" fmla="*/ 569 w 1585"/>
                  <a:gd name="T3" fmla="*/ 0 h 1586"/>
                  <a:gd name="T4" fmla="*/ 1585 w 1585"/>
                  <a:gd name="T5" fmla="*/ 1019 h 1586"/>
                  <a:gd name="T6" fmla="*/ 1016 w 1585"/>
                  <a:gd name="T7" fmla="*/ 1586 h 1586"/>
                  <a:gd name="T8" fmla="*/ 0 w 1585"/>
                  <a:gd name="T9" fmla="*/ 569 h 1586"/>
                </a:gdLst>
                <a:ahLst/>
                <a:cxnLst>
                  <a:cxn ang="0">
                    <a:pos x="T0" y="T1"/>
                  </a:cxn>
                  <a:cxn ang="0">
                    <a:pos x="T2" y="T3"/>
                  </a:cxn>
                  <a:cxn ang="0">
                    <a:pos x="T4" y="T5"/>
                  </a:cxn>
                  <a:cxn ang="0">
                    <a:pos x="T6" y="T7"/>
                  </a:cxn>
                  <a:cxn ang="0">
                    <a:pos x="T8" y="T9"/>
                  </a:cxn>
                </a:cxnLst>
                <a:rect l="0" t="0" r="r" b="b"/>
                <a:pathLst>
                  <a:path w="1585" h="1586">
                    <a:moveTo>
                      <a:pt x="0" y="569"/>
                    </a:moveTo>
                    <a:lnTo>
                      <a:pt x="569" y="0"/>
                    </a:lnTo>
                    <a:lnTo>
                      <a:pt x="1585" y="1019"/>
                    </a:lnTo>
                    <a:lnTo>
                      <a:pt x="1016" y="1586"/>
                    </a:lnTo>
                    <a:lnTo>
                      <a:pt x="0" y="569"/>
                    </a:lnTo>
                    <a:close/>
                  </a:path>
                </a:pathLst>
              </a:custGeom>
              <a:solidFill>
                <a:srgbClr val="49BD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66" name="Freeform 12"/>
              <p:cNvSpPr>
                <a:spLocks/>
              </p:cNvSpPr>
              <p:nvPr/>
            </p:nvSpPr>
            <p:spPr bwMode="auto">
              <a:xfrm>
                <a:off x="1593" y="407"/>
                <a:ext cx="866" cy="866"/>
              </a:xfrm>
              <a:custGeom>
                <a:avLst/>
                <a:gdLst>
                  <a:gd name="T0" fmla="*/ 4219 w 4332"/>
                  <a:gd name="T1" fmla="*/ 1866 h 4332"/>
                  <a:gd name="T2" fmla="*/ 4259 w 4332"/>
                  <a:gd name="T3" fmla="*/ 1920 h 4332"/>
                  <a:gd name="T4" fmla="*/ 4292 w 4332"/>
                  <a:gd name="T5" fmla="*/ 1978 h 4332"/>
                  <a:gd name="T6" fmla="*/ 4315 w 4332"/>
                  <a:gd name="T7" fmla="*/ 2039 h 4332"/>
                  <a:gd name="T8" fmla="*/ 4328 w 4332"/>
                  <a:gd name="T9" fmla="*/ 2101 h 4332"/>
                  <a:gd name="T10" fmla="*/ 4332 w 4332"/>
                  <a:gd name="T11" fmla="*/ 2166 h 4332"/>
                  <a:gd name="T12" fmla="*/ 4328 w 4332"/>
                  <a:gd name="T13" fmla="*/ 2231 h 4332"/>
                  <a:gd name="T14" fmla="*/ 4315 w 4332"/>
                  <a:gd name="T15" fmla="*/ 2294 h 4332"/>
                  <a:gd name="T16" fmla="*/ 4292 w 4332"/>
                  <a:gd name="T17" fmla="*/ 2354 h 4332"/>
                  <a:gd name="T18" fmla="*/ 4259 w 4332"/>
                  <a:gd name="T19" fmla="*/ 2413 h 4332"/>
                  <a:gd name="T20" fmla="*/ 4219 w 4332"/>
                  <a:gd name="T21" fmla="*/ 2466 h 4332"/>
                  <a:gd name="T22" fmla="*/ 2466 w 4332"/>
                  <a:gd name="T23" fmla="*/ 4217 h 4332"/>
                  <a:gd name="T24" fmla="*/ 2413 w 4332"/>
                  <a:gd name="T25" fmla="*/ 4259 h 4332"/>
                  <a:gd name="T26" fmla="*/ 2355 w 4332"/>
                  <a:gd name="T27" fmla="*/ 4290 h 4332"/>
                  <a:gd name="T28" fmla="*/ 2294 w 4332"/>
                  <a:gd name="T29" fmla="*/ 4313 h 4332"/>
                  <a:gd name="T30" fmla="*/ 2231 w 4332"/>
                  <a:gd name="T31" fmla="*/ 4328 h 4332"/>
                  <a:gd name="T32" fmla="*/ 2166 w 4332"/>
                  <a:gd name="T33" fmla="*/ 4332 h 4332"/>
                  <a:gd name="T34" fmla="*/ 2102 w 4332"/>
                  <a:gd name="T35" fmla="*/ 4328 h 4332"/>
                  <a:gd name="T36" fmla="*/ 2039 w 4332"/>
                  <a:gd name="T37" fmla="*/ 4313 h 4332"/>
                  <a:gd name="T38" fmla="*/ 1978 w 4332"/>
                  <a:gd name="T39" fmla="*/ 4290 h 4332"/>
                  <a:gd name="T40" fmla="*/ 1920 w 4332"/>
                  <a:gd name="T41" fmla="*/ 4259 h 4332"/>
                  <a:gd name="T42" fmla="*/ 1867 w 4332"/>
                  <a:gd name="T43" fmla="*/ 4217 h 4332"/>
                  <a:gd name="T44" fmla="*/ 115 w 4332"/>
                  <a:gd name="T45" fmla="*/ 2466 h 4332"/>
                  <a:gd name="T46" fmla="*/ 73 w 4332"/>
                  <a:gd name="T47" fmla="*/ 2413 h 4332"/>
                  <a:gd name="T48" fmla="*/ 42 w 4332"/>
                  <a:gd name="T49" fmla="*/ 2354 h 4332"/>
                  <a:gd name="T50" fmla="*/ 19 w 4332"/>
                  <a:gd name="T51" fmla="*/ 2294 h 4332"/>
                  <a:gd name="T52" fmla="*/ 4 w 4332"/>
                  <a:gd name="T53" fmla="*/ 2231 h 4332"/>
                  <a:gd name="T54" fmla="*/ 0 w 4332"/>
                  <a:gd name="T55" fmla="*/ 2166 h 4332"/>
                  <a:gd name="T56" fmla="*/ 4 w 4332"/>
                  <a:gd name="T57" fmla="*/ 2101 h 4332"/>
                  <a:gd name="T58" fmla="*/ 19 w 4332"/>
                  <a:gd name="T59" fmla="*/ 2039 h 4332"/>
                  <a:gd name="T60" fmla="*/ 42 w 4332"/>
                  <a:gd name="T61" fmla="*/ 1978 h 4332"/>
                  <a:gd name="T62" fmla="*/ 73 w 4332"/>
                  <a:gd name="T63" fmla="*/ 1920 h 4332"/>
                  <a:gd name="T64" fmla="*/ 115 w 4332"/>
                  <a:gd name="T65" fmla="*/ 1866 h 4332"/>
                  <a:gd name="T66" fmla="*/ 1867 w 4332"/>
                  <a:gd name="T67" fmla="*/ 115 h 4332"/>
                  <a:gd name="T68" fmla="*/ 1920 w 4332"/>
                  <a:gd name="T69" fmla="*/ 73 h 4332"/>
                  <a:gd name="T70" fmla="*/ 1978 w 4332"/>
                  <a:gd name="T71" fmla="*/ 42 h 4332"/>
                  <a:gd name="T72" fmla="*/ 2039 w 4332"/>
                  <a:gd name="T73" fmla="*/ 19 h 4332"/>
                  <a:gd name="T74" fmla="*/ 2102 w 4332"/>
                  <a:gd name="T75" fmla="*/ 4 h 4332"/>
                  <a:gd name="T76" fmla="*/ 2166 w 4332"/>
                  <a:gd name="T77" fmla="*/ 0 h 4332"/>
                  <a:gd name="T78" fmla="*/ 2231 w 4332"/>
                  <a:gd name="T79" fmla="*/ 4 h 4332"/>
                  <a:gd name="T80" fmla="*/ 2294 w 4332"/>
                  <a:gd name="T81" fmla="*/ 19 h 4332"/>
                  <a:gd name="T82" fmla="*/ 2355 w 4332"/>
                  <a:gd name="T83" fmla="*/ 42 h 4332"/>
                  <a:gd name="T84" fmla="*/ 2413 w 4332"/>
                  <a:gd name="T85" fmla="*/ 73 h 4332"/>
                  <a:gd name="T86" fmla="*/ 2466 w 4332"/>
                  <a:gd name="T87" fmla="*/ 115 h 4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32" h="4332">
                    <a:moveTo>
                      <a:pt x="2483" y="130"/>
                    </a:moveTo>
                    <a:lnTo>
                      <a:pt x="4202" y="1849"/>
                    </a:lnTo>
                    <a:lnTo>
                      <a:pt x="4219" y="1866"/>
                    </a:lnTo>
                    <a:lnTo>
                      <a:pt x="4233" y="1883"/>
                    </a:lnTo>
                    <a:lnTo>
                      <a:pt x="4247" y="1901"/>
                    </a:lnTo>
                    <a:lnTo>
                      <a:pt x="4259" y="1920"/>
                    </a:lnTo>
                    <a:lnTo>
                      <a:pt x="4271" y="1938"/>
                    </a:lnTo>
                    <a:lnTo>
                      <a:pt x="4282" y="1958"/>
                    </a:lnTo>
                    <a:lnTo>
                      <a:pt x="4292" y="1978"/>
                    </a:lnTo>
                    <a:lnTo>
                      <a:pt x="4301" y="1997"/>
                    </a:lnTo>
                    <a:lnTo>
                      <a:pt x="4307" y="2018"/>
                    </a:lnTo>
                    <a:lnTo>
                      <a:pt x="4315" y="2039"/>
                    </a:lnTo>
                    <a:lnTo>
                      <a:pt x="4320" y="2060"/>
                    </a:lnTo>
                    <a:lnTo>
                      <a:pt x="4325" y="2081"/>
                    </a:lnTo>
                    <a:lnTo>
                      <a:pt x="4328" y="2101"/>
                    </a:lnTo>
                    <a:lnTo>
                      <a:pt x="4330" y="2123"/>
                    </a:lnTo>
                    <a:lnTo>
                      <a:pt x="4332" y="2144"/>
                    </a:lnTo>
                    <a:lnTo>
                      <a:pt x="4332" y="2166"/>
                    </a:lnTo>
                    <a:lnTo>
                      <a:pt x="4332" y="2188"/>
                    </a:lnTo>
                    <a:lnTo>
                      <a:pt x="4330" y="2209"/>
                    </a:lnTo>
                    <a:lnTo>
                      <a:pt x="4328" y="2231"/>
                    </a:lnTo>
                    <a:lnTo>
                      <a:pt x="4325" y="2252"/>
                    </a:lnTo>
                    <a:lnTo>
                      <a:pt x="4320" y="2272"/>
                    </a:lnTo>
                    <a:lnTo>
                      <a:pt x="4315" y="2294"/>
                    </a:lnTo>
                    <a:lnTo>
                      <a:pt x="4307" y="2314"/>
                    </a:lnTo>
                    <a:lnTo>
                      <a:pt x="4301" y="2335"/>
                    </a:lnTo>
                    <a:lnTo>
                      <a:pt x="4292" y="2354"/>
                    </a:lnTo>
                    <a:lnTo>
                      <a:pt x="4282" y="2374"/>
                    </a:lnTo>
                    <a:lnTo>
                      <a:pt x="4271" y="2394"/>
                    </a:lnTo>
                    <a:lnTo>
                      <a:pt x="4259" y="2413"/>
                    </a:lnTo>
                    <a:lnTo>
                      <a:pt x="4247" y="2431"/>
                    </a:lnTo>
                    <a:lnTo>
                      <a:pt x="4233" y="2449"/>
                    </a:lnTo>
                    <a:lnTo>
                      <a:pt x="4219" y="2466"/>
                    </a:lnTo>
                    <a:lnTo>
                      <a:pt x="4202" y="2483"/>
                    </a:lnTo>
                    <a:lnTo>
                      <a:pt x="2483" y="4202"/>
                    </a:lnTo>
                    <a:lnTo>
                      <a:pt x="2466" y="4217"/>
                    </a:lnTo>
                    <a:lnTo>
                      <a:pt x="2449" y="4232"/>
                    </a:lnTo>
                    <a:lnTo>
                      <a:pt x="2431" y="4247"/>
                    </a:lnTo>
                    <a:lnTo>
                      <a:pt x="2413" y="4259"/>
                    </a:lnTo>
                    <a:lnTo>
                      <a:pt x="2394" y="4271"/>
                    </a:lnTo>
                    <a:lnTo>
                      <a:pt x="2374" y="4282"/>
                    </a:lnTo>
                    <a:lnTo>
                      <a:pt x="2355" y="4290"/>
                    </a:lnTo>
                    <a:lnTo>
                      <a:pt x="2335" y="4299"/>
                    </a:lnTo>
                    <a:lnTo>
                      <a:pt x="2314" y="4307"/>
                    </a:lnTo>
                    <a:lnTo>
                      <a:pt x="2294" y="4313"/>
                    </a:lnTo>
                    <a:lnTo>
                      <a:pt x="2274" y="4320"/>
                    </a:lnTo>
                    <a:lnTo>
                      <a:pt x="2252" y="4324"/>
                    </a:lnTo>
                    <a:lnTo>
                      <a:pt x="2231" y="4328"/>
                    </a:lnTo>
                    <a:lnTo>
                      <a:pt x="2209" y="4330"/>
                    </a:lnTo>
                    <a:lnTo>
                      <a:pt x="2188" y="4332"/>
                    </a:lnTo>
                    <a:lnTo>
                      <a:pt x="2166" y="4332"/>
                    </a:lnTo>
                    <a:lnTo>
                      <a:pt x="2145" y="4332"/>
                    </a:lnTo>
                    <a:lnTo>
                      <a:pt x="2124" y="4330"/>
                    </a:lnTo>
                    <a:lnTo>
                      <a:pt x="2102" y="4328"/>
                    </a:lnTo>
                    <a:lnTo>
                      <a:pt x="2081" y="4324"/>
                    </a:lnTo>
                    <a:lnTo>
                      <a:pt x="2060" y="4320"/>
                    </a:lnTo>
                    <a:lnTo>
                      <a:pt x="2039" y="4313"/>
                    </a:lnTo>
                    <a:lnTo>
                      <a:pt x="2018" y="4307"/>
                    </a:lnTo>
                    <a:lnTo>
                      <a:pt x="1998" y="4299"/>
                    </a:lnTo>
                    <a:lnTo>
                      <a:pt x="1978" y="4290"/>
                    </a:lnTo>
                    <a:lnTo>
                      <a:pt x="1958" y="4282"/>
                    </a:lnTo>
                    <a:lnTo>
                      <a:pt x="1938" y="4271"/>
                    </a:lnTo>
                    <a:lnTo>
                      <a:pt x="1920" y="4259"/>
                    </a:lnTo>
                    <a:lnTo>
                      <a:pt x="1902" y="4247"/>
                    </a:lnTo>
                    <a:lnTo>
                      <a:pt x="1884" y="4232"/>
                    </a:lnTo>
                    <a:lnTo>
                      <a:pt x="1867" y="4217"/>
                    </a:lnTo>
                    <a:lnTo>
                      <a:pt x="1850" y="4202"/>
                    </a:lnTo>
                    <a:lnTo>
                      <a:pt x="130" y="2483"/>
                    </a:lnTo>
                    <a:lnTo>
                      <a:pt x="115" y="2466"/>
                    </a:lnTo>
                    <a:lnTo>
                      <a:pt x="100" y="2449"/>
                    </a:lnTo>
                    <a:lnTo>
                      <a:pt x="87" y="2431"/>
                    </a:lnTo>
                    <a:lnTo>
                      <a:pt x="73" y="2413"/>
                    </a:lnTo>
                    <a:lnTo>
                      <a:pt x="61" y="2394"/>
                    </a:lnTo>
                    <a:lnTo>
                      <a:pt x="51" y="2374"/>
                    </a:lnTo>
                    <a:lnTo>
                      <a:pt x="42" y="2354"/>
                    </a:lnTo>
                    <a:lnTo>
                      <a:pt x="33" y="2335"/>
                    </a:lnTo>
                    <a:lnTo>
                      <a:pt x="25" y="2314"/>
                    </a:lnTo>
                    <a:lnTo>
                      <a:pt x="19" y="2294"/>
                    </a:lnTo>
                    <a:lnTo>
                      <a:pt x="13" y="2272"/>
                    </a:lnTo>
                    <a:lnTo>
                      <a:pt x="8" y="2252"/>
                    </a:lnTo>
                    <a:lnTo>
                      <a:pt x="4" y="2231"/>
                    </a:lnTo>
                    <a:lnTo>
                      <a:pt x="2" y="2209"/>
                    </a:lnTo>
                    <a:lnTo>
                      <a:pt x="0" y="2188"/>
                    </a:lnTo>
                    <a:lnTo>
                      <a:pt x="0" y="2166"/>
                    </a:lnTo>
                    <a:lnTo>
                      <a:pt x="0" y="2144"/>
                    </a:lnTo>
                    <a:lnTo>
                      <a:pt x="2" y="2123"/>
                    </a:lnTo>
                    <a:lnTo>
                      <a:pt x="4" y="2101"/>
                    </a:lnTo>
                    <a:lnTo>
                      <a:pt x="8" y="2081"/>
                    </a:lnTo>
                    <a:lnTo>
                      <a:pt x="13" y="2060"/>
                    </a:lnTo>
                    <a:lnTo>
                      <a:pt x="19" y="2039"/>
                    </a:lnTo>
                    <a:lnTo>
                      <a:pt x="25" y="2018"/>
                    </a:lnTo>
                    <a:lnTo>
                      <a:pt x="33" y="1997"/>
                    </a:lnTo>
                    <a:lnTo>
                      <a:pt x="42" y="1978"/>
                    </a:lnTo>
                    <a:lnTo>
                      <a:pt x="51" y="1958"/>
                    </a:lnTo>
                    <a:lnTo>
                      <a:pt x="61" y="1938"/>
                    </a:lnTo>
                    <a:lnTo>
                      <a:pt x="73" y="1920"/>
                    </a:lnTo>
                    <a:lnTo>
                      <a:pt x="87" y="1901"/>
                    </a:lnTo>
                    <a:lnTo>
                      <a:pt x="100" y="1883"/>
                    </a:lnTo>
                    <a:lnTo>
                      <a:pt x="115" y="1866"/>
                    </a:lnTo>
                    <a:lnTo>
                      <a:pt x="130" y="1849"/>
                    </a:lnTo>
                    <a:lnTo>
                      <a:pt x="1850" y="130"/>
                    </a:lnTo>
                    <a:lnTo>
                      <a:pt x="1867" y="115"/>
                    </a:lnTo>
                    <a:lnTo>
                      <a:pt x="1884" y="100"/>
                    </a:lnTo>
                    <a:lnTo>
                      <a:pt x="1902" y="87"/>
                    </a:lnTo>
                    <a:lnTo>
                      <a:pt x="1920" y="73"/>
                    </a:lnTo>
                    <a:lnTo>
                      <a:pt x="1938" y="61"/>
                    </a:lnTo>
                    <a:lnTo>
                      <a:pt x="1958" y="51"/>
                    </a:lnTo>
                    <a:lnTo>
                      <a:pt x="1978" y="42"/>
                    </a:lnTo>
                    <a:lnTo>
                      <a:pt x="1998" y="33"/>
                    </a:lnTo>
                    <a:lnTo>
                      <a:pt x="2018" y="25"/>
                    </a:lnTo>
                    <a:lnTo>
                      <a:pt x="2039" y="19"/>
                    </a:lnTo>
                    <a:lnTo>
                      <a:pt x="2060" y="13"/>
                    </a:lnTo>
                    <a:lnTo>
                      <a:pt x="2081" y="8"/>
                    </a:lnTo>
                    <a:lnTo>
                      <a:pt x="2102" y="4"/>
                    </a:lnTo>
                    <a:lnTo>
                      <a:pt x="2124" y="2"/>
                    </a:lnTo>
                    <a:lnTo>
                      <a:pt x="2145" y="0"/>
                    </a:lnTo>
                    <a:lnTo>
                      <a:pt x="2166" y="0"/>
                    </a:lnTo>
                    <a:lnTo>
                      <a:pt x="2188" y="0"/>
                    </a:lnTo>
                    <a:lnTo>
                      <a:pt x="2209" y="2"/>
                    </a:lnTo>
                    <a:lnTo>
                      <a:pt x="2231" y="4"/>
                    </a:lnTo>
                    <a:lnTo>
                      <a:pt x="2252" y="8"/>
                    </a:lnTo>
                    <a:lnTo>
                      <a:pt x="2274" y="13"/>
                    </a:lnTo>
                    <a:lnTo>
                      <a:pt x="2294" y="19"/>
                    </a:lnTo>
                    <a:lnTo>
                      <a:pt x="2314" y="25"/>
                    </a:lnTo>
                    <a:lnTo>
                      <a:pt x="2335" y="33"/>
                    </a:lnTo>
                    <a:lnTo>
                      <a:pt x="2355" y="42"/>
                    </a:lnTo>
                    <a:lnTo>
                      <a:pt x="2374" y="51"/>
                    </a:lnTo>
                    <a:lnTo>
                      <a:pt x="2394" y="61"/>
                    </a:lnTo>
                    <a:lnTo>
                      <a:pt x="2413" y="73"/>
                    </a:lnTo>
                    <a:lnTo>
                      <a:pt x="2431" y="87"/>
                    </a:lnTo>
                    <a:lnTo>
                      <a:pt x="2449" y="100"/>
                    </a:lnTo>
                    <a:lnTo>
                      <a:pt x="2466" y="115"/>
                    </a:lnTo>
                    <a:lnTo>
                      <a:pt x="2483" y="130"/>
                    </a:lnTo>
                    <a:close/>
                  </a:path>
                </a:pathLst>
              </a:custGeom>
              <a:solidFill>
                <a:srgbClr val="2668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67" name="Freeform 13"/>
              <p:cNvSpPr>
                <a:spLocks/>
              </p:cNvSpPr>
              <p:nvPr/>
            </p:nvSpPr>
            <p:spPr bwMode="auto">
              <a:xfrm>
                <a:off x="1645" y="459"/>
                <a:ext cx="762" cy="762"/>
              </a:xfrm>
              <a:custGeom>
                <a:avLst/>
                <a:gdLst>
                  <a:gd name="T0" fmla="*/ 3709 w 3810"/>
                  <a:gd name="T1" fmla="*/ 1640 h 3809"/>
                  <a:gd name="T2" fmla="*/ 3745 w 3810"/>
                  <a:gd name="T3" fmla="*/ 1687 h 3809"/>
                  <a:gd name="T4" fmla="*/ 3774 w 3810"/>
                  <a:gd name="T5" fmla="*/ 1739 h 3809"/>
                  <a:gd name="T6" fmla="*/ 3793 w 3810"/>
                  <a:gd name="T7" fmla="*/ 1792 h 3809"/>
                  <a:gd name="T8" fmla="*/ 3805 w 3810"/>
                  <a:gd name="T9" fmla="*/ 1847 h 3809"/>
                  <a:gd name="T10" fmla="*/ 3810 w 3810"/>
                  <a:gd name="T11" fmla="*/ 1904 h 3809"/>
                  <a:gd name="T12" fmla="*/ 3805 w 3810"/>
                  <a:gd name="T13" fmla="*/ 1961 h 3809"/>
                  <a:gd name="T14" fmla="*/ 3793 w 3810"/>
                  <a:gd name="T15" fmla="*/ 2016 h 3809"/>
                  <a:gd name="T16" fmla="*/ 3774 w 3810"/>
                  <a:gd name="T17" fmla="*/ 2069 h 3809"/>
                  <a:gd name="T18" fmla="*/ 3745 w 3810"/>
                  <a:gd name="T19" fmla="*/ 2121 h 3809"/>
                  <a:gd name="T20" fmla="*/ 3709 w 3810"/>
                  <a:gd name="T21" fmla="*/ 2168 h 3809"/>
                  <a:gd name="T22" fmla="*/ 2168 w 3810"/>
                  <a:gd name="T23" fmla="*/ 3709 h 3809"/>
                  <a:gd name="T24" fmla="*/ 2121 w 3810"/>
                  <a:gd name="T25" fmla="*/ 3745 h 3809"/>
                  <a:gd name="T26" fmla="*/ 2071 w 3810"/>
                  <a:gd name="T27" fmla="*/ 3772 h 3809"/>
                  <a:gd name="T28" fmla="*/ 2017 w 3810"/>
                  <a:gd name="T29" fmla="*/ 3793 h 3809"/>
                  <a:gd name="T30" fmla="*/ 1961 w 3810"/>
                  <a:gd name="T31" fmla="*/ 3805 h 3809"/>
                  <a:gd name="T32" fmla="*/ 1904 w 3810"/>
                  <a:gd name="T33" fmla="*/ 3809 h 3809"/>
                  <a:gd name="T34" fmla="*/ 1848 w 3810"/>
                  <a:gd name="T35" fmla="*/ 3805 h 3809"/>
                  <a:gd name="T36" fmla="*/ 1792 w 3810"/>
                  <a:gd name="T37" fmla="*/ 3793 h 3809"/>
                  <a:gd name="T38" fmla="*/ 1739 w 3810"/>
                  <a:gd name="T39" fmla="*/ 3772 h 3809"/>
                  <a:gd name="T40" fmla="*/ 1687 w 3810"/>
                  <a:gd name="T41" fmla="*/ 3745 h 3809"/>
                  <a:gd name="T42" fmla="*/ 1641 w 3810"/>
                  <a:gd name="T43" fmla="*/ 3709 h 3809"/>
                  <a:gd name="T44" fmla="*/ 101 w 3810"/>
                  <a:gd name="T45" fmla="*/ 2168 h 3809"/>
                  <a:gd name="T46" fmla="*/ 63 w 3810"/>
                  <a:gd name="T47" fmla="*/ 2121 h 3809"/>
                  <a:gd name="T48" fmla="*/ 36 w 3810"/>
                  <a:gd name="T49" fmla="*/ 2069 h 3809"/>
                  <a:gd name="T50" fmla="*/ 15 w 3810"/>
                  <a:gd name="T51" fmla="*/ 2016 h 3809"/>
                  <a:gd name="T52" fmla="*/ 3 w 3810"/>
                  <a:gd name="T53" fmla="*/ 1961 h 3809"/>
                  <a:gd name="T54" fmla="*/ 0 w 3810"/>
                  <a:gd name="T55" fmla="*/ 1904 h 3809"/>
                  <a:gd name="T56" fmla="*/ 3 w 3810"/>
                  <a:gd name="T57" fmla="*/ 1847 h 3809"/>
                  <a:gd name="T58" fmla="*/ 15 w 3810"/>
                  <a:gd name="T59" fmla="*/ 1792 h 3809"/>
                  <a:gd name="T60" fmla="*/ 36 w 3810"/>
                  <a:gd name="T61" fmla="*/ 1739 h 3809"/>
                  <a:gd name="T62" fmla="*/ 63 w 3810"/>
                  <a:gd name="T63" fmla="*/ 1687 h 3809"/>
                  <a:gd name="T64" fmla="*/ 101 w 3810"/>
                  <a:gd name="T65" fmla="*/ 1640 h 3809"/>
                  <a:gd name="T66" fmla="*/ 1641 w 3810"/>
                  <a:gd name="T67" fmla="*/ 101 h 3809"/>
                  <a:gd name="T68" fmla="*/ 1687 w 3810"/>
                  <a:gd name="T69" fmla="*/ 63 h 3809"/>
                  <a:gd name="T70" fmla="*/ 1739 w 3810"/>
                  <a:gd name="T71" fmla="*/ 36 h 3809"/>
                  <a:gd name="T72" fmla="*/ 1792 w 3810"/>
                  <a:gd name="T73" fmla="*/ 15 h 3809"/>
                  <a:gd name="T74" fmla="*/ 1848 w 3810"/>
                  <a:gd name="T75" fmla="*/ 3 h 3809"/>
                  <a:gd name="T76" fmla="*/ 1904 w 3810"/>
                  <a:gd name="T77" fmla="*/ 0 h 3809"/>
                  <a:gd name="T78" fmla="*/ 1961 w 3810"/>
                  <a:gd name="T79" fmla="*/ 3 h 3809"/>
                  <a:gd name="T80" fmla="*/ 2017 w 3810"/>
                  <a:gd name="T81" fmla="*/ 15 h 3809"/>
                  <a:gd name="T82" fmla="*/ 2071 w 3810"/>
                  <a:gd name="T83" fmla="*/ 36 h 3809"/>
                  <a:gd name="T84" fmla="*/ 2121 w 3810"/>
                  <a:gd name="T85" fmla="*/ 63 h 3809"/>
                  <a:gd name="T86" fmla="*/ 2168 w 3810"/>
                  <a:gd name="T87" fmla="*/ 101 h 3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10" h="3809">
                    <a:moveTo>
                      <a:pt x="2183" y="114"/>
                    </a:moveTo>
                    <a:lnTo>
                      <a:pt x="3695" y="1626"/>
                    </a:lnTo>
                    <a:lnTo>
                      <a:pt x="3709" y="1640"/>
                    </a:lnTo>
                    <a:lnTo>
                      <a:pt x="3722" y="1655"/>
                    </a:lnTo>
                    <a:lnTo>
                      <a:pt x="3734" y="1672"/>
                    </a:lnTo>
                    <a:lnTo>
                      <a:pt x="3745" y="1687"/>
                    </a:lnTo>
                    <a:lnTo>
                      <a:pt x="3755" y="1704"/>
                    </a:lnTo>
                    <a:lnTo>
                      <a:pt x="3765" y="1721"/>
                    </a:lnTo>
                    <a:lnTo>
                      <a:pt x="3774" y="1739"/>
                    </a:lnTo>
                    <a:lnTo>
                      <a:pt x="3781" y="1756"/>
                    </a:lnTo>
                    <a:lnTo>
                      <a:pt x="3788" y="1774"/>
                    </a:lnTo>
                    <a:lnTo>
                      <a:pt x="3793" y="1792"/>
                    </a:lnTo>
                    <a:lnTo>
                      <a:pt x="3799" y="1810"/>
                    </a:lnTo>
                    <a:lnTo>
                      <a:pt x="3802" y="1828"/>
                    </a:lnTo>
                    <a:lnTo>
                      <a:pt x="3805" y="1847"/>
                    </a:lnTo>
                    <a:lnTo>
                      <a:pt x="3808" y="1867"/>
                    </a:lnTo>
                    <a:lnTo>
                      <a:pt x="3809" y="1885"/>
                    </a:lnTo>
                    <a:lnTo>
                      <a:pt x="3810" y="1904"/>
                    </a:lnTo>
                    <a:lnTo>
                      <a:pt x="3809" y="1923"/>
                    </a:lnTo>
                    <a:lnTo>
                      <a:pt x="3808" y="1942"/>
                    </a:lnTo>
                    <a:lnTo>
                      <a:pt x="3805" y="1961"/>
                    </a:lnTo>
                    <a:lnTo>
                      <a:pt x="3802" y="1980"/>
                    </a:lnTo>
                    <a:lnTo>
                      <a:pt x="3799" y="1998"/>
                    </a:lnTo>
                    <a:lnTo>
                      <a:pt x="3793" y="2016"/>
                    </a:lnTo>
                    <a:lnTo>
                      <a:pt x="3788" y="2034"/>
                    </a:lnTo>
                    <a:lnTo>
                      <a:pt x="3781" y="2052"/>
                    </a:lnTo>
                    <a:lnTo>
                      <a:pt x="3774" y="2069"/>
                    </a:lnTo>
                    <a:lnTo>
                      <a:pt x="3765" y="2087"/>
                    </a:lnTo>
                    <a:lnTo>
                      <a:pt x="3755" y="2105"/>
                    </a:lnTo>
                    <a:lnTo>
                      <a:pt x="3745" y="2121"/>
                    </a:lnTo>
                    <a:lnTo>
                      <a:pt x="3734" y="2137"/>
                    </a:lnTo>
                    <a:lnTo>
                      <a:pt x="3722" y="2153"/>
                    </a:lnTo>
                    <a:lnTo>
                      <a:pt x="3709" y="2168"/>
                    </a:lnTo>
                    <a:lnTo>
                      <a:pt x="3695" y="2182"/>
                    </a:lnTo>
                    <a:lnTo>
                      <a:pt x="2183" y="3694"/>
                    </a:lnTo>
                    <a:lnTo>
                      <a:pt x="2168" y="3709"/>
                    </a:lnTo>
                    <a:lnTo>
                      <a:pt x="2153" y="3721"/>
                    </a:lnTo>
                    <a:lnTo>
                      <a:pt x="2138" y="3733"/>
                    </a:lnTo>
                    <a:lnTo>
                      <a:pt x="2121" y="3745"/>
                    </a:lnTo>
                    <a:lnTo>
                      <a:pt x="2105" y="3755"/>
                    </a:lnTo>
                    <a:lnTo>
                      <a:pt x="2087" y="3764"/>
                    </a:lnTo>
                    <a:lnTo>
                      <a:pt x="2071" y="3772"/>
                    </a:lnTo>
                    <a:lnTo>
                      <a:pt x="2052" y="3780"/>
                    </a:lnTo>
                    <a:lnTo>
                      <a:pt x="2035" y="3787"/>
                    </a:lnTo>
                    <a:lnTo>
                      <a:pt x="2017" y="3793"/>
                    </a:lnTo>
                    <a:lnTo>
                      <a:pt x="1998" y="3797"/>
                    </a:lnTo>
                    <a:lnTo>
                      <a:pt x="1980" y="3802"/>
                    </a:lnTo>
                    <a:lnTo>
                      <a:pt x="1961" y="3805"/>
                    </a:lnTo>
                    <a:lnTo>
                      <a:pt x="1943" y="3807"/>
                    </a:lnTo>
                    <a:lnTo>
                      <a:pt x="1923" y="3808"/>
                    </a:lnTo>
                    <a:lnTo>
                      <a:pt x="1904" y="3809"/>
                    </a:lnTo>
                    <a:lnTo>
                      <a:pt x="1886" y="3808"/>
                    </a:lnTo>
                    <a:lnTo>
                      <a:pt x="1867" y="3807"/>
                    </a:lnTo>
                    <a:lnTo>
                      <a:pt x="1848" y="3805"/>
                    </a:lnTo>
                    <a:lnTo>
                      <a:pt x="1829" y="3802"/>
                    </a:lnTo>
                    <a:lnTo>
                      <a:pt x="1811" y="3797"/>
                    </a:lnTo>
                    <a:lnTo>
                      <a:pt x="1792" y="3793"/>
                    </a:lnTo>
                    <a:lnTo>
                      <a:pt x="1774" y="3787"/>
                    </a:lnTo>
                    <a:lnTo>
                      <a:pt x="1756" y="3780"/>
                    </a:lnTo>
                    <a:lnTo>
                      <a:pt x="1739" y="3772"/>
                    </a:lnTo>
                    <a:lnTo>
                      <a:pt x="1721" y="3764"/>
                    </a:lnTo>
                    <a:lnTo>
                      <a:pt x="1704" y="3755"/>
                    </a:lnTo>
                    <a:lnTo>
                      <a:pt x="1687" y="3745"/>
                    </a:lnTo>
                    <a:lnTo>
                      <a:pt x="1672" y="3733"/>
                    </a:lnTo>
                    <a:lnTo>
                      <a:pt x="1656" y="3721"/>
                    </a:lnTo>
                    <a:lnTo>
                      <a:pt x="1641" y="3709"/>
                    </a:lnTo>
                    <a:lnTo>
                      <a:pt x="1626" y="3694"/>
                    </a:lnTo>
                    <a:lnTo>
                      <a:pt x="114" y="2182"/>
                    </a:lnTo>
                    <a:lnTo>
                      <a:pt x="101" y="2168"/>
                    </a:lnTo>
                    <a:lnTo>
                      <a:pt x="88" y="2153"/>
                    </a:lnTo>
                    <a:lnTo>
                      <a:pt x="75" y="2137"/>
                    </a:lnTo>
                    <a:lnTo>
                      <a:pt x="63" y="2121"/>
                    </a:lnTo>
                    <a:lnTo>
                      <a:pt x="54" y="2105"/>
                    </a:lnTo>
                    <a:lnTo>
                      <a:pt x="44" y="2087"/>
                    </a:lnTo>
                    <a:lnTo>
                      <a:pt x="36" y="2069"/>
                    </a:lnTo>
                    <a:lnTo>
                      <a:pt x="28" y="2052"/>
                    </a:lnTo>
                    <a:lnTo>
                      <a:pt x="22" y="2034"/>
                    </a:lnTo>
                    <a:lnTo>
                      <a:pt x="15" y="2016"/>
                    </a:lnTo>
                    <a:lnTo>
                      <a:pt x="11" y="1998"/>
                    </a:lnTo>
                    <a:lnTo>
                      <a:pt x="6" y="1980"/>
                    </a:lnTo>
                    <a:lnTo>
                      <a:pt x="3" y="1961"/>
                    </a:lnTo>
                    <a:lnTo>
                      <a:pt x="1" y="1942"/>
                    </a:lnTo>
                    <a:lnTo>
                      <a:pt x="0" y="1923"/>
                    </a:lnTo>
                    <a:lnTo>
                      <a:pt x="0" y="1904"/>
                    </a:lnTo>
                    <a:lnTo>
                      <a:pt x="0" y="1885"/>
                    </a:lnTo>
                    <a:lnTo>
                      <a:pt x="1" y="1867"/>
                    </a:lnTo>
                    <a:lnTo>
                      <a:pt x="3" y="1847"/>
                    </a:lnTo>
                    <a:lnTo>
                      <a:pt x="6" y="1828"/>
                    </a:lnTo>
                    <a:lnTo>
                      <a:pt x="11" y="1810"/>
                    </a:lnTo>
                    <a:lnTo>
                      <a:pt x="15" y="1792"/>
                    </a:lnTo>
                    <a:lnTo>
                      <a:pt x="22" y="1774"/>
                    </a:lnTo>
                    <a:lnTo>
                      <a:pt x="28" y="1756"/>
                    </a:lnTo>
                    <a:lnTo>
                      <a:pt x="36" y="1739"/>
                    </a:lnTo>
                    <a:lnTo>
                      <a:pt x="44" y="1721"/>
                    </a:lnTo>
                    <a:lnTo>
                      <a:pt x="54" y="1704"/>
                    </a:lnTo>
                    <a:lnTo>
                      <a:pt x="63" y="1687"/>
                    </a:lnTo>
                    <a:lnTo>
                      <a:pt x="75" y="1672"/>
                    </a:lnTo>
                    <a:lnTo>
                      <a:pt x="88" y="1655"/>
                    </a:lnTo>
                    <a:lnTo>
                      <a:pt x="101" y="1640"/>
                    </a:lnTo>
                    <a:lnTo>
                      <a:pt x="114" y="1626"/>
                    </a:lnTo>
                    <a:lnTo>
                      <a:pt x="1626" y="114"/>
                    </a:lnTo>
                    <a:lnTo>
                      <a:pt x="1641" y="101"/>
                    </a:lnTo>
                    <a:lnTo>
                      <a:pt x="1656" y="88"/>
                    </a:lnTo>
                    <a:lnTo>
                      <a:pt x="1672" y="75"/>
                    </a:lnTo>
                    <a:lnTo>
                      <a:pt x="1687" y="63"/>
                    </a:lnTo>
                    <a:lnTo>
                      <a:pt x="1704" y="54"/>
                    </a:lnTo>
                    <a:lnTo>
                      <a:pt x="1721" y="44"/>
                    </a:lnTo>
                    <a:lnTo>
                      <a:pt x="1739" y="36"/>
                    </a:lnTo>
                    <a:lnTo>
                      <a:pt x="1756" y="28"/>
                    </a:lnTo>
                    <a:lnTo>
                      <a:pt x="1774" y="22"/>
                    </a:lnTo>
                    <a:lnTo>
                      <a:pt x="1792" y="15"/>
                    </a:lnTo>
                    <a:lnTo>
                      <a:pt x="1811" y="11"/>
                    </a:lnTo>
                    <a:lnTo>
                      <a:pt x="1829" y="6"/>
                    </a:lnTo>
                    <a:lnTo>
                      <a:pt x="1848" y="3"/>
                    </a:lnTo>
                    <a:lnTo>
                      <a:pt x="1867" y="1"/>
                    </a:lnTo>
                    <a:lnTo>
                      <a:pt x="1886" y="0"/>
                    </a:lnTo>
                    <a:lnTo>
                      <a:pt x="1904" y="0"/>
                    </a:lnTo>
                    <a:lnTo>
                      <a:pt x="1923" y="0"/>
                    </a:lnTo>
                    <a:lnTo>
                      <a:pt x="1943" y="1"/>
                    </a:lnTo>
                    <a:lnTo>
                      <a:pt x="1961" y="3"/>
                    </a:lnTo>
                    <a:lnTo>
                      <a:pt x="1980" y="6"/>
                    </a:lnTo>
                    <a:lnTo>
                      <a:pt x="1998" y="11"/>
                    </a:lnTo>
                    <a:lnTo>
                      <a:pt x="2017" y="15"/>
                    </a:lnTo>
                    <a:lnTo>
                      <a:pt x="2035" y="22"/>
                    </a:lnTo>
                    <a:lnTo>
                      <a:pt x="2052" y="28"/>
                    </a:lnTo>
                    <a:lnTo>
                      <a:pt x="2071" y="36"/>
                    </a:lnTo>
                    <a:lnTo>
                      <a:pt x="2087" y="44"/>
                    </a:lnTo>
                    <a:lnTo>
                      <a:pt x="2105" y="54"/>
                    </a:lnTo>
                    <a:lnTo>
                      <a:pt x="2121" y="63"/>
                    </a:lnTo>
                    <a:lnTo>
                      <a:pt x="2138" y="75"/>
                    </a:lnTo>
                    <a:lnTo>
                      <a:pt x="2153" y="88"/>
                    </a:lnTo>
                    <a:lnTo>
                      <a:pt x="2168" y="101"/>
                    </a:lnTo>
                    <a:lnTo>
                      <a:pt x="2183" y="114"/>
                    </a:lnTo>
                    <a:close/>
                  </a:path>
                </a:pathLst>
              </a:custGeom>
              <a:solidFill>
                <a:srgbClr val="2657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68" name="Freeform 14"/>
              <p:cNvSpPr>
                <a:spLocks noEditPoints="1"/>
              </p:cNvSpPr>
              <p:nvPr/>
            </p:nvSpPr>
            <p:spPr bwMode="auto">
              <a:xfrm>
                <a:off x="1639" y="453"/>
                <a:ext cx="775" cy="775"/>
              </a:xfrm>
              <a:custGeom>
                <a:avLst/>
                <a:gdLst>
                  <a:gd name="T0" fmla="*/ 3793 w 3876"/>
                  <a:gd name="T1" fmla="*/ 1685 h 3874"/>
                  <a:gd name="T2" fmla="*/ 3844 w 3876"/>
                  <a:gd name="T3" fmla="*/ 1777 h 3874"/>
                  <a:gd name="T4" fmla="*/ 3871 w 3876"/>
                  <a:gd name="T5" fmla="*/ 1876 h 3874"/>
                  <a:gd name="T6" fmla="*/ 3873 w 3876"/>
                  <a:gd name="T7" fmla="*/ 1978 h 3874"/>
                  <a:gd name="T8" fmla="*/ 3851 w 3876"/>
                  <a:gd name="T9" fmla="*/ 2078 h 3874"/>
                  <a:gd name="T10" fmla="*/ 3805 w 3876"/>
                  <a:gd name="T11" fmla="*/ 2172 h 3874"/>
                  <a:gd name="T12" fmla="*/ 2239 w 3876"/>
                  <a:gd name="T13" fmla="*/ 3750 h 3874"/>
                  <a:gd name="T14" fmla="*/ 2154 w 3876"/>
                  <a:gd name="T15" fmla="*/ 3816 h 3874"/>
                  <a:gd name="T16" fmla="*/ 2059 w 3876"/>
                  <a:gd name="T17" fmla="*/ 3857 h 3874"/>
                  <a:gd name="T18" fmla="*/ 1958 w 3876"/>
                  <a:gd name="T19" fmla="*/ 3874 h 3874"/>
                  <a:gd name="T20" fmla="*/ 1856 w 3876"/>
                  <a:gd name="T21" fmla="*/ 3866 h 3874"/>
                  <a:gd name="T22" fmla="*/ 1758 w 3876"/>
                  <a:gd name="T23" fmla="*/ 3836 h 3874"/>
                  <a:gd name="T24" fmla="*/ 1669 w 3876"/>
                  <a:gd name="T25" fmla="*/ 3780 h 3874"/>
                  <a:gd name="T26" fmla="*/ 95 w 3876"/>
                  <a:gd name="T27" fmla="*/ 2207 h 3874"/>
                  <a:gd name="T28" fmla="*/ 39 w 3876"/>
                  <a:gd name="T29" fmla="*/ 2117 h 3874"/>
                  <a:gd name="T30" fmla="*/ 8 w 3876"/>
                  <a:gd name="T31" fmla="*/ 2018 h 3874"/>
                  <a:gd name="T32" fmla="*/ 0 w 3876"/>
                  <a:gd name="T33" fmla="*/ 1916 h 3874"/>
                  <a:gd name="T34" fmla="*/ 18 w 3876"/>
                  <a:gd name="T35" fmla="*/ 1815 h 3874"/>
                  <a:gd name="T36" fmla="*/ 58 w 3876"/>
                  <a:gd name="T37" fmla="*/ 1720 h 3874"/>
                  <a:gd name="T38" fmla="*/ 124 w 3876"/>
                  <a:gd name="T39" fmla="*/ 1636 h 3874"/>
                  <a:gd name="T40" fmla="*/ 1703 w 3876"/>
                  <a:gd name="T41" fmla="*/ 70 h 3874"/>
                  <a:gd name="T42" fmla="*/ 1796 w 3876"/>
                  <a:gd name="T43" fmla="*/ 23 h 3874"/>
                  <a:gd name="T44" fmla="*/ 1897 w 3876"/>
                  <a:gd name="T45" fmla="*/ 2 h 3874"/>
                  <a:gd name="T46" fmla="*/ 1999 w 3876"/>
                  <a:gd name="T47" fmla="*/ 4 h 3874"/>
                  <a:gd name="T48" fmla="*/ 2098 w 3876"/>
                  <a:gd name="T49" fmla="*/ 31 h 3874"/>
                  <a:gd name="T50" fmla="*/ 2189 w 3876"/>
                  <a:gd name="T51" fmla="*/ 82 h 3874"/>
                  <a:gd name="T52" fmla="*/ 2193 w 3876"/>
                  <a:gd name="T53" fmla="*/ 170 h 3874"/>
                  <a:gd name="T54" fmla="*/ 2121 w 3876"/>
                  <a:gd name="T55" fmla="*/ 115 h 3874"/>
                  <a:gd name="T56" fmla="*/ 2040 w 3876"/>
                  <a:gd name="T57" fmla="*/ 80 h 3874"/>
                  <a:gd name="T58" fmla="*/ 1955 w 3876"/>
                  <a:gd name="T59" fmla="*/ 66 h 3874"/>
                  <a:gd name="T60" fmla="*/ 1868 w 3876"/>
                  <a:gd name="T61" fmla="*/ 71 h 3874"/>
                  <a:gd name="T62" fmla="*/ 1785 w 3876"/>
                  <a:gd name="T63" fmla="*/ 99 h 3874"/>
                  <a:gd name="T64" fmla="*/ 1709 w 3876"/>
                  <a:gd name="T65" fmla="*/ 146 h 3874"/>
                  <a:gd name="T66" fmla="*/ 146 w 3876"/>
                  <a:gd name="T67" fmla="*/ 1709 h 3874"/>
                  <a:gd name="T68" fmla="*/ 99 w 3876"/>
                  <a:gd name="T69" fmla="*/ 1785 h 3874"/>
                  <a:gd name="T70" fmla="*/ 71 w 3876"/>
                  <a:gd name="T71" fmla="*/ 1868 h 3874"/>
                  <a:gd name="T72" fmla="*/ 66 w 3876"/>
                  <a:gd name="T73" fmla="*/ 1955 h 3874"/>
                  <a:gd name="T74" fmla="*/ 80 w 3876"/>
                  <a:gd name="T75" fmla="*/ 2040 h 3874"/>
                  <a:gd name="T76" fmla="*/ 115 w 3876"/>
                  <a:gd name="T77" fmla="*/ 2121 h 3874"/>
                  <a:gd name="T78" fmla="*/ 170 w 3876"/>
                  <a:gd name="T79" fmla="*/ 2192 h 3874"/>
                  <a:gd name="T80" fmla="*/ 1739 w 3876"/>
                  <a:gd name="T81" fmla="*/ 3750 h 3874"/>
                  <a:gd name="T82" fmla="*/ 1818 w 3876"/>
                  <a:gd name="T83" fmla="*/ 3789 h 3874"/>
                  <a:gd name="T84" fmla="*/ 1903 w 3876"/>
                  <a:gd name="T85" fmla="*/ 3807 h 3874"/>
                  <a:gd name="T86" fmla="*/ 1990 w 3876"/>
                  <a:gd name="T87" fmla="*/ 3806 h 3874"/>
                  <a:gd name="T88" fmla="*/ 2073 w 3876"/>
                  <a:gd name="T89" fmla="*/ 3783 h 3874"/>
                  <a:gd name="T90" fmla="*/ 2151 w 3876"/>
                  <a:gd name="T91" fmla="*/ 3739 h 3874"/>
                  <a:gd name="T92" fmla="*/ 3718 w 3876"/>
                  <a:gd name="T93" fmla="*/ 2179 h 3874"/>
                  <a:gd name="T94" fmla="*/ 3768 w 3876"/>
                  <a:gd name="T95" fmla="*/ 2105 h 3874"/>
                  <a:gd name="T96" fmla="*/ 3800 w 3876"/>
                  <a:gd name="T97" fmla="*/ 2024 h 3874"/>
                  <a:gd name="T98" fmla="*/ 3810 w 3876"/>
                  <a:gd name="T99" fmla="*/ 1937 h 3874"/>
                  <a:gd name="T100" fmla="*/ 3800 w 3876"/>
                  <a:gd name="T101" fmla="*/ 1852 h 3874"/>
                  <a:gd name="T102" fmla="*/ 3768 w 3876"/>
                  <a:gd name="T103" fmla="*/ 1769 h 3874"/>
                  <a:gd name="T104" fmla="*/ 3718 w 3876"/>
                  <a:gd name="T105" fmla="*/ 1695 h 3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76" h="3874">
                    <a:moveTo>
                      <a:pt x="2239" y="124"/>
                    </a:moveTo>
                    <a:lnTo>
                      <a:pt x="3751" y="1636"/>
                    </a:lnTo>
                    <a:lnTo>
                      <a:pt x="3766" y="1652"/>
                    </a:lnTo>
                    <a:lnTo>
                      <a:pt x="3780" y="1669"/>
                    </a:lnTo>
                    <a:lnTo>
                      <a:pt x="3793" y="1685"/>
                    </a:lnTo>
                    <a:lnTo>
                      <a:pt x="3805" y="1703"/>
                    </a:lnTo>
                    <a:lnTo>
                      <a:pt x="3816" y="1720"/>
                    </a:lnTo>
                    <a:lnTo>
                      <a:pt x="3826" y="1739"/>
                    </a:lnTo>
                    <a:lnTo>
                      <a:pt x="3836" y="1757"/>
                    </a:lnTo>
                    <a:lnTo>
                      <a:pt x="3844" y="1777"/>
                    </a:lnTo>
                    <a:lnTo>
                      <a:pt x="3851" y="1796"/>
                    </a:lnTo>
                    <a:lnTo>
                      <a:pt x="3858" y="1815"/>
                    </a:lnTo>
                    <a:lnTo>
                      <a:pt x="3862" y="1835"/>
                    </a:lnTo>
                    <a:lnTo>
                      <a:pt x="3867" y="1856"/>
                    </a:lnTo>
                    <a:lnTo>
                      <a:pt x="3871" y="1876"/>
                    </a:lnTo>
                    <a:lnTo>
                      <a:pt x="3873" y="1897"/>
                    </a:lnTo>
                    <a:lnTo>
                      <a:pt x="3874" y="1916"/>
                    </a:lnTo>
                    <a:lnTo>
                      <a:pt x="3876" y="1937"/>
                    </a:lnTo>
                    <a:lnTo>
                      <a:pt x="3874" y="1958"/>
                    </a:lnTo>
                    <a:lnTo>
                      <a:pt x="3873" y="1978"/>
                    </a:lnTo>
                    <a:lnTo>
                      <a:pt x="3871" y="1998"/>
                    </a:lnTo>
                    <a:lnTo>
                      <a:pt x="3867" y="2018"/>
                    </a:lnTo>
                    <a:lnTo>
                      <a:pt x="3862" y="2039"/>
                    </a:lnTo>
                    <a:lnTo>
                      <a:pt x="3858" y="2059"/>
                    </a:lnTo>
                    <a:lnTo>
                      <a:pt x="3851" y="2078"/>
                    </a:lnTo>
                    <a:lnTo>
                      <a:pt x="3844" y="2098"/>
                    </a:lnTo>
                    <a:lnTo>
                      <a:pt x="3836" y="2117"/>
                    </a:lnTo>
                    <a:lnTo>
                      <a:pt x="3826" y="2135"/>
                    </a:lnTo>
                    <a:lnTo>
                      <a:pt x="3816" y="2154"/>
                    </a:lnTo>
                    <a:lnTo>
                      <a:pt x="3805" y="2172"/>
                    </a:lnTo>
                    <a:lnTo>
                      <a:pt x="3793" y="2189"/>
                    </a:lnTo>
                    <a:lnTo>
                      <a:pt x="3780" y="2207"/>
                    </a:lnTo>
                    <a:lnTo>
                      <a:pt x="3766" y="2223"/>
                    </a:lnTo>
                    <a:lnTo>
                      <a:pt x="3751" y="2238"/>
                    </a:lnTo>
                    <a:lnTo>
                      <a:pt x="2239" y="3750"/>
                    </a:lnTo>
                    <a:lnTo>
                      <a:pt x="2223" y="3766"/>
                    </a:lnTo>
                    <a:lnTo>
                      <a:pt x="2207" y="3780"/>
                    </a:lnTo>
                    <a:lnTo>
                      <a:pt x="2189" y="3793"/>
                    </a:lnTo>
                    <a:lnTo>
                      <a:pt x="2172" y="3805"/>
                    </a:lnTo>
                    <a:lnTo>
                      <a:pt x="2154" y="3816"/>
                    </a:lnTo>
                    <a:lnTo>
                      <a:pt x="2136" y="3826"/>
                    </a:lnTo>
                    <a:lnTo>
                      <a:pt x="2117" y="3836"/>
                    </a:lnTo>
                    <a:lnTo>
                      <a:pt x="2098" y="3843"/>
                    </a:lnTo>
                    <a:lnTo>
                      <a:pt x="2079" y="3851"/>
                    </a:lnTo>
                    <a:lnTo>
                      <a:pt x="2059" y="3857"/>
                    </a:lnTo>
                    <a:lnTo>
                      <a:pt x="2039" y="3862"/>
                    </a:lnTo>
                    <a:lnTo>
                      <a:pt x="2019" y="3866"/>
                    </a:lnTo>
                    <a:lnTo>
                      <a:pt x="1999" y="3870"/>
                    </a:lnTo>
                    <a:lnTo>
                      <a:pt x="1978" y="3873"/>
                    </a:lnTo>
                    <a:lnTo>
                      <a:pt x="1958" y="3874"/>
                    </a:lnTo>
                    <a:lnTo>
                      <a:pt x="1937" y="3874"/>
                    </a:lnTo>
                    <a:lnTo>
                      <a:pt x="1916" y="3874"/>
                    </a:lnTo>
                    <a:lnTo>
                      <a:pt x="1897" y="3873"/>
                    </a:lnTo>
                    <a:lnTo>
                      <a:pt x="1876" y="3870"/>
                    </a:lnTo>
                    <a:lnTo>
                      <a:pt x="1856" y="3866"/>
                    </a:lnTo>
                    <a:lnTo>
                      <a:pt x="1835" y="3862"/>
                    </a:lnTo>
                    <a:lnTo>
                      <a:pt x="1816" y="3857"/>
                    </a:lnTo>
                    <a:lnTo>
                      <a:pt x="1796" y="3851"/>
                    </a:lnTo>
                    <a:lnTo>
                      <a:pt x="1777" y="3843"/>
                    </a:lnTo>
                    <a:lnTo>
                      <a:pt x="1758" y="3836"/>
                    </a:lnTo>
                    <a:lnTo>
                      <a:pt x="1739" y="3826"/>
                    </a:lnTo>
                    <a:lnTo>
                      <a:pt x="1720" y="3816"/>
                    </a:lnTo>
                    <a:lnTo>
                      <a:pt x="1703" y="3805"/>
                    </a:lnTo>
                    <a:lnTo>
                      <a:pt x="1685" y="3793"/>
                    </a:lnTo>
                    <a:lnTo>
                      <a:pt x="1669" y="3780"/>
                    </a:lnTo>
                    <a:lnTo>
                      <a:pt x="1652" y="3766"/>
                    </a:lnTo>
                    <a:lnTo>
                      <a:pt x="1636" y="3750"/>
                    </a:lnTo>
                    <a:lnTo>
                      <a:pt x="124" y="2238"/>
                    </a:lnTo>
                    <a:lnTo>
                      <a:pt x="108" y="2223"/>
                    </a:lnTo>
                    <a:lnTo>
                      <a:pt x="95" y="2207"/>
                    </a:lnTo>
                    <a:lnTo>
                      <a:pt x="82" y="2189"/>
                    </a:lnTo>
                    <a:lnTo>
                      <a:pt x="70" y="2172"/>
                    </a:lnTo>
                    <a:lnTo>
                      <a:pt x="58" y="2154"/>
                    </a:lnTo>
                    <a:lnTo>
                      <a:pt x="48" y="2135"/>
                    </a:lnTo>
                    <a:lnTo>
                      <a:pt x="39" y="2117"/>
                    </a:lnTo>
                    <a:lnTo>
                      <a:pt x="31" y="2098"/>
                    </a:lnTo>
                    <a:lnTo>
                      <a:pt x="24" y="2078"/>
                    </a:lnTo>
                    <a:lnTo>
                      <a:pt x="18" y="2059"/>
                    </a:lnTo>
                    <a:lnTo>
                      <a:pt x="12" y="2039"/>
                    </a:lnTo>
                    <a:lnTo>
                      <a:pt x="8" y="2018"/>
                    </a:lnTo>
                    <a:lnTo>
                      <a:pt x="4" y="1998"/>
                    </a:lnTo>
                    <a:lnTo>
                      <a:pt x="2" y="1978"/>
                    </a:lnTo>
                    <a:lnTo>
                      <a:pt x="0" y="1958"/>
                    </a:lnTo>
                    <a:lnTo>
                      <a:pt x="0" y="1937"/>
                    </a:lnTo>
                    <a:lnTo>
                      <a:pt x="0" y="1916"/>
                    </a:lnTo>
                    <a:lnTo>
                      <a:pt x="2" y="1897"/>
                    </a:lnTo>
                    <a:lnTo>
                      <a:pt x="4" y="1876"/>
                    </a:lnTo>
                    <a:lnTo>
                      <a:pt x="8" y="1856"/>
                    </a:lnTo>
                    <a:lnTo>
                      <a:pt x="12" y="1835"/>
                    </a:lnTo>
                    <a:lnTo>
                      <a:pt x="18" y="1815"/>
                    </a:lnTo>
                    <a:lnTo>
                      <a:pt x="24" y="1796"/>
                    </a:lnTo>
                    <a:lnTo>
                      <a:pt x="31" y="1777"/>
                    </a:lnTo>
                    <a:lnTo>
                      <a:pt x="39" y="1757"/>
                    </a:lnTo>
                    <a:lnTo>
                      <a:pt x="48" y="1739"/>
                    </a:lnTo>
                    <a:lnTo>
                      <a:pt x="58" y="1720"/>
                    </a:lnTo>
                    <a:lnTo>
                      <a:pt x="70" y="1703"/>
                    </a:lnTo>
                    <a:lnTo>
                      <a:pt x="82" y="1685"/>
                    </a:lnTo>
                    <a:lnTo>
                      <a:pt x="95" y="1669"/>
                    </a:lnTo>
                    <a:lnTo>
                      <a:pt x="108" y="1652"/>
                    </a:lnTo>
                    <a:lnTo>
                      <a:pt x="124" y="1636"/>
                    </a:lnTo>
                    <a:lnTo>
                      <a:pt x="1636" y="124"/>
                    </a:lnTo>
                    <a:lnTo>
                      <a:pt x="1652" y="108"/>
                    </a:lnTo>
                    <a:lnTo>
                      <a:pt x="1669" y="95"/>
                    </a:lnTo>
                    <a:lnTo>
                      <a:pt x="1685" y="82"/>
                    </a:lnTo>
                    <a:lnTo>
                      <a:pt x="1703" y="70"/>
                    </a:lnTo>
                    <a:lnTo>
                      <a:pt x="1720" y="58"/>
                    </a:lnTo>
                    <a:lnTo>
                      <a:pt x="1739" y="48"/>
                    </a:lnTo>
                    <a:lnTo>
                      <a:pt x="1758" y="39"/>
                    </a:lnTo>
                    <a:lnTo>
                      <a:pt x="1777" y="31"/>
                    </a:lnTo>
                    <a:lnTo>
                      <a:pt x="1796" y="23"/>
                    </a:lnTo>
                    <a:lnTo>
                      <a:pt x="1816" y="18"/>
                    </a:lnTo>
                    <a:lnTo>
                      <a:pt x="1835" y="12"/>
                    </a:lnTo>
                    <a:lnTo>
                      <a:pt x="1856" y="8"/>
                    </a:lnTo>
                    <a:lnTo>
                      <a:pt x="1876" y="4"/>
                    </a:lnTo>
                    <a:lnTo>
                      <a:pt x="1897" y="2"/>
                    </a:lnTo>
                    <a:lnTo>
                      <a:pt x="1916" y="0"/>
                    </a:lnTo>
                    <a:lnTo>
                      <a:pt x="1937" y="0"/>
                    </a:lnTo>
                    <a:lnTo>
                      <a:pt x="1958" y="0"/>
                    </a:lnTo>
                    <a:lnTo>
                      <a:pt x="1978" y="2"/>
                    </a:lnTo>
                    <a:lnTo>
                      <a:pt x="1999" y="4"/>
                    </a:lnTo>
                    <a:lnTo>
                      <a:pt x="2019" y="8"/>
                    </a:lnTo>
                    <a:lnTo>
                      <a:pt x="2039" y="12"/>
                    </a:lnTo>
                    <a:lnTo>
                      <a:pt x="2059" y="18"/>
                    </a:lnTo>
                    <a:lnTo>
                      <a:pt x="2079" y="23"/>
                    </a:lnTo>
                    <a:lnTo>
                      <a:pt x="2098" y="31"/>
                    </a:lnTo>
                    <a:lnTo>
                      <a:pt x="2117" y="39"/>
                    </a:lnTo>
                    <a:lnTo>
                      <a:pt x="2136" y="48"/>
                    </a:lnTo>
                    <a:lnTo>
                      <a:pt x="2154" y="58"/>
                    </a:lnTo>
                    <a:lnTo>
                      <a:pt x="2172" y="70"/>
                    </a:lnTo>
                    <a:lnTo>
                      <a:pt x="2189" y="82"/>
                    </a:lnTo>
                    <a:lnTo>
                      <a:pt x="2207" y="95"/>
                    </a:lnTo>
                    <a:lnTo>
                      <a:pt x="2223" y="108"/>
                    </a:lnTo>
                    <a:lnTo>
                      <a:pt x="2239" y="124"/>
                    </a:lnTo>
                    <a:close/>
                    <a:moveTo>
                      <a:pt x="3705" y="1682"/>
                    </a:moveTo>
                    <a:lnTo>
                      <a:pt x="2193" y="170"/>
                    </a:lnTo>
                    <a:lnTo>
                      <a:pt x="2179" y="158"/>
                    </a:lnTo>
                    <a:lnTo>
                      <a:pt x="2165" y="146"/>
                    </a:lnTo>
                    <a:lnTo>
                      <a:pt x="2151" y="135"/>
                    </a:lnTo>
                    <a:lnTo>
                      <a:pt x="2137" y="124"/>
                    </a:lnTo>
                    <a:lnTo>
                      <a:pt x="2121" y="115"/>
                    </a:lnTo>
                    <a:lnTo>
                      <a:pt x="2105" y="106"/>
                    </a:lnTo>
                    <a:lnTo>
                      <a:pt x="2090" y="99"/>
                    </a:lnTo>
                    <a:lnTo>
                      <a:pt x="2073" y="91"/>
                    </a:lnTo>
                    <a:lnTo>
                      <a:pt x="2057" y="85"/>
                    </a:lnTo>
                    <a:lnTo>
                      <a:pt x="2040" y="80"/>
                    </a:lnTo>
                    <a:lnTo>
                      <a:pt x="2024" y="76"/>
                    </a:lnTo>
                    <a:lnTo>
                      <a:pt x="2006" y="71"/>
                    </a:lnTo>
                    <a:lnTo>
                      <a:pt x="1990" y="69"/>
                    </a:lnTo>
                    <a:lnTo>
                      <a:pt x="1972" y="67"/>
                    </a:lnTo>
                    <a:lnTo>
                      <a:pt x="1955" y="66"/>
                    </a:lnTo>
                    <a:lnTo>
                      <a:pt x="1937" y="65"/>
                    </a:lnTo>
                    <a:lnTo>
                      <a:pt x="1920" y="66"/>
                    </a:lnTo>
                    <a:lnTo>
                      <a:pt x="1903" y="67"/>
                    </a:lnTo>
                    <a:lnTo>
                      <a:pt x="1886" y="69"/>
                    </a:lnTo>
                    <a:lnTo>
                      <a:pt x="1868" y="71"/>
                    </a:lnTo>
                    <a:lnTo>
                      <a:pt x="1852" y="76"/>
                    </a:lnTo>
                    <a:lnTo>
                      <a:pt x="1834" y="80"/>
                    </a:lnTo>
                    <a:lnTo>
                      <a:pt x="1818" y="85"/>
                    </a:lnTo>
                    <a:lnTo>
                      <a:pt x="1801" y="91"/>
                    </a:lnTo>
                    <a:lnTo>
                      <a:pt x="1785" y="99"/>
                    </a:lnTo>
                    <a:lnTo>
                      <a:pt x="1770" y="106"/>
                    </a:lnTo>
                    <a:lnTo>
                      <a:pt x="1754" y="115"/>
                    </a:lnTo>
                    <a:lnTo>
                      <a:pt x="1739" y="124"/>
                    </a:lnTo>
                    <a:lnTo>
                      <a:pt x="1724" y="135"/>
                    </a:lnTo>
                    <a:lnTo>
                      <a:pt x="1709" y="146"/>
                    </a:lnTo>
                    <a:lnTo>
                      <a:pt x="1696" y="158"/>
                    </a:lnTo>
                    <a:lnTo>
                      <a:pt x="1682" y="170"/>
                    </a:lnTo>
                    <a:lnTo>
                      <a:pt x="170" y="1682"/>
                    </a:lnTo>
                    <a:lnTo>
                      <a:pt x="158" y="1695"/>
                    </a:lnTo>
                    <a:lnTo>
                      <a:pt x="146" y="1709"/>
                    </a:lnTo>
                    <a:lnTo>
                      <a:pt x="135" y="1723"/>
                    </a:lnTo>
                    <a:lnTo>
                      <a:pt x="124" y="1739"/>
                    </a:lnTo>
                    <a:lnTo>
                      <a:pt x="115" y="1754"/>
                    </a:lnTo>
                    <a:lnTo>
                      <a:pt x="106" y="1769"/>
                    </a:lnTo>
                    <a:lnTo>
                      <a:pt x="99" y="1785"/>
                    </a:lnTo>
                    <a:lnTo>
                      <a:pt x="91" y="1801"/>
                    </a:lnTo>
                    <a:lnTo>
                      <a:pt x="85" y="1818"/>
                    </a:lnTo>
                    <a:lnTo>
                      <a:pt x="80" y="1834"/>
                    </a:lnTo>
                    <a:lnTo>
                      <a:pt x="76" y="1852"/>
                    </a:lnTo>
                    <a:lnTo>
                      <a:pt x="71" y="1868"/>
                    </a:lnTo>
                    <a:lnTo>
                      <a:pt x="69" y="1886"/>
                    </a:lnTo>
                    <a:lnTo>
                      <a:pt x="67" y="1902"/>
                    </a:lnTo>
                    <a:lnTo>
                      <a:pt x="66" y="1920"/>
                    </a:lnTo>
                    <a:lnTo>
                      <a:pt x="65" y="1937"/>
                    </a:lnTo>
                    <a:lnTo>
                      <a:pt x="66" y="1955"/>
                    </a:lnTo>
                    <a:lnTo>
                      <a:pt x="67" y="1972"/>
                    </a:lnTo>
                    <a:lnTo>
                      <a:pt x="69" y="1989"/>
                    </a:lnTo>
                    <a:lnTo>
                      <a:pt x="71" y="2006"/>
                    </a:lnTo>
                    <a:lnTo>
                      <a:pt x="76" y="2024"/>
                    </a:lnTo>
                    <a:lnTo>
                      <a:pt x="80" y="2040"/>
                    </a:lnTo>
                    <a:lnTo>
                      <a:pt x="85" y="2056"/>
                    </a:lnTo>
                    <a:lnTo>
                      <a:pt x="91" y="2073"/>
                    </a:lnTo>
                    <a:lnTo>
                      <a:pt x="99" y="2089"/>
                    </a:lnTo>
                    <a:lnTo>
                      <a:pt x="106" y="2105"/>
                    </a:lnTo>
                    <a:lnTo>
                      <a:pt x="115" y="2121"/>
                    </a:lnTo>
                    <a:lnTo>
                      <a:pt x="124" y="2135"/>
                    </a:lnTo>
                    <a:lnTo>
                      <a:pt x="135" y="2151"/>
                    </a:lnTo>
                    <a:lnTo>
                      <a:pt x="146" y="2165"/>
                    </a:lnTo>
                    <a:lnTo>
                      <a:pt x="158" y="2179"/>
                    </a:lnTo>
                    <a:lnTo>
                      <a:pt x="170" y="2192"/>
                    </a:lnTo>
                    <a:lnTo>
                      <a:pt x="1682" y="3704"/>
                    </a:lnTo>
                    <a:lnTo>
                      <a:pt x="1696" y="3716"/>
                    </a:lnTo>
                    <a:lnTo>
                      <a:pt x="1709" y="3728"/>
                    </a:lnTo>
                    <a:lnTo>
                      <a:pt x="1724" y="3739"/>
                    </a:lnTo>
                    <a:lnTo>
                      <a:pt x="1739" y="3750"/>
                    </a:lnTo>
                    <a:lnTo>
                      <a:pt x="1754" y="3759"/>
                    </a:lnTo>
                    <a:lnTo>
                      <a:pt x="1770" y="3768"/>
                    </a:lnTo>
                    <a:lnTo>
                      <a:pt x="1785" y="3776"/>
                    </a:lnTo>
                    <a:lnTo>
                      <a:pt x="1801" y="3783"/>
                    </a:lnTo>
                    <a:lnTo>
                      <a:pt x="1818" y="3789"/>
                    </a:lnTo>
                    <a:lnTo>
                      <a:pt x="1834" y="3794"/>
                    </a:lnTo>
                    <a:lnTo>
                      <a:pt x="1852" y="3800"/>
                    </a:lnTo>
                    <a:lnTo>
                      <a:pt x="1868" y="3803"/>
                    </a:lnTo>
                    <a:lnTo>
                      <a:pt x="1886" y="3806"/>
                    </a:lnTo>
                    <a:lnTo>
                      <a:pt x="1903" y="3807"/>
                    </a:lnTo>
                    <a:lnTo>
                      <a:pt x="1920" y="3809"/>
                    </a:lnTo>
                    <a:lnTo>
                      <a:pt x="1937" y="3809"/>
                    </a:lnTo>
                    <a:lnTo>
                      <a:pt x="1955" y="3809"/>
                    </a:lnTo>
                    <a:lnTo>
                      <a:pt x="1972" y="3807"/>
                    </a:lnTo>
                    <a:lnTo>
                      <a:pt x="1990" y="3806"/>
                    </a:lnTo>
                    <a:lnTo>
                      <a:pt x="2006" y="3803"/>
                    </a:lnTo>
                    <a:lnTo>
                      <a:pt x="2024" y="3800"/>
                    </a:lnTo>
                    <a:lnTo>
                      <a:pt x="2040" y="3794"/>
                    </a:lnTo>
                    <a:lnTo>
                      <a:pt x="2057" y="3789"/>
                    </a:lnTo>
                    <a:lnTo>
                      <a:pt x="2073" y="3783"/>
                    </a:lnTo>
                    <a:lnTo>
                      <a:pt x="2090" y="3776"/>
                    </a:lnTo>
                    <a:lnTo>
                      <a:pt x="2105" y="3768"/>
                    </a:lnTo>
                    <a:lnTo>
                      <a:pt x="2121" y="3759"/>
                    </a:lnTo>
                    <a:lnTo>
                      <a:pt x="2137" y="3750"/>
                    </a:lnTo>
                    <a:lnTo>
                      <a:pt x="2151" y="3739"/>
                    </a:lnTo>
                    <a:lnTo>
                      <a:pt x="2165" y="3728"/>
                    </a:lnTo>
                    <a:lnTo>
                      <a:pt x="2179" y="3716"/>
                    </a:lnTo>
                    <a:lnTo>
                      <a:pt x="2193" y="3704"/>
                    </a:lnTo>
                    <a:lnTo>
                      <a:pt x="3705" y="2192"/>
                    </a:lnTo>
                    <a:lnTo>
                      <a:pt x="3718" y="2179"/>
                    </a:lnTo>
                    <a:lnTo>
                      <a:pt x="3729" y="2165"/>
                    </a:lnTo>
                    <a:lnTo>
                      <a:pt x="3741" y="2151"/>
                    </a:lnTo>
                    <a:lnTo>
                      <a:pt x="3751" y="2135"/>
                    </a:lnTo>
                    <a:lnTo>
                      <a:pt x="3761" y="2121"/>
                    </a:lnTo>
                    <a:lnTo>
                      <a:pt x="3768" y="2105"/>
                    </a:lnTo>
                    <a:lnTo>
                      <a:pt x="3777" y="2089"/>
                    </a:lnTo>
                    <a:lnTo>
                      <a:pt x="3784" y="2073"/>
                    </a:lnTo>
                    <a:lnTo>
                      <a:pt x="3790" y="2056"/>
                    </a:lnTo>
                    <a:lnTo>
                      <a:pt x="3794" y="2040"/>
                    </a:lnTo>
                    <a:lnTo>
                      <a:pt x="3800" y="2024"/>
                    </a:lnTo>
                    <a:lnTo>
                      <a:pt x="3803" y="2006"/>
                    </a:lnTo>
                    <a:lnTo>
                      <a:pt x="3807" y="1989"/>
                    </a:lnTo>
                    <a:lnTo>
                      <a:pt x="3809" y="1972"/>
                    </a:lnTo>
                    <a:lnTo>
                      <a:pt x="3810" y="1955"/>
                    </a:lnTo>
                    <a:lnTo>
                      <a:pt x="3810" y="1937"/>
                    </a:lnTo>
                    <a:lnTo>
                      <a:pt x="3810" y="1920"/>
                    </a:lnTo>
                    <a:lnTo>
                      <a:pt x="3809" y="1902"/>
                    </a:lnTo>
                    <a:lnTo>
                      <a:pt x="3807" y="1886"/>
                    </a:lnTo>
                    <a:lnTo>
                      <a:pt x="3803" y="1868"/>
                    </a:lnTo>
                    <a:lnTo>
                      <a:pt x="3800" y="1852"/>
                    </a:lnTo>
                    <a:lnTo>
                      <a:pt x="3794" y="1834"/>
                    </a:lnTo>
                    <a:lnTo>
                      <a:pt x="3790" y="1818"/>
                    </a:lnTo>
                    <a:lnTo>
                      <a:pt x="3784" y="1801"/>
                    </a:lnTo>
                    <a:lnTo>
                      <a:pt x="3777" y="1785"/>
                    </a:lnTo>
                    <a:lnTo>
                      <a:pt x="3768" y="1769"/>
                    </a:lnTo>
                    <a:lnTo>
                      <a:pt x="3761" y="1754"/>
                    </a:lnTo>
                    <a:lnTo>
                      <a:pt x="3751" y="1739"/>
                    </a:lnTo>
                    <a:lnTo>
                      <a:pt x="3741" y="1723"/>
                    </a:lnTo>
                    <a:lnTo>
                      <a:pt x="3729" y="1709"/>
                    </a:lnTo>
                    <a:lnTo>
                      <a:pt x="3718" y="1695"/>
                    </a:lnTo>
                    <a:lnTo>
                      <a:pt x="3705" y="1682"/>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69" name="Freeform 15"/>
              <p:cNvSpPr>
                <a:spLocks/>
              </p:cNvSpPr>
              <p:nvPr/>
            </p:nvSpPr>
            <p:spPr bwMode="auto">
              <a:xfrm>
                <a:off x="1593" y="1745"/>
                <a:ext cx="866" cy="867"/>
              </a:xfrm>
              <a:custGeom>
                <a:avLst/>
                <a:gdLst>
                  <a:gd name="T0" fmla="*/ 4219 w 4332"/>
                  <a:gd name="T1" fmla="*/ 1867 h 4333"/>
                  <a:gd name="T2" fmla="*/ 4259 w 4332"/>
                  <a:gd name="T3" fmla="*/ 1921 h 4333"/>
                  <a:gd name="T4" fmla="*/ 4292 w 4332"/>
                  <a:gd name="T5" fmla="*/ 1978 h 4333"/>
                  <a:gd name="T6" fmla="*/ 4315 w 4332"/>
                  <a:gd name="T7" fmla="*/ 2039 h 4333"/>
                  <a:gd name="T8" fmla="*/ 4328 w 4332"/>
                  <a:gd name="T9" fmla="*/ 2102 h 4333"/>
                  <a:gd name="T10" fmla="*/ 4332 w 4332"/>
                  <a:gd name="T11" fmla="*/ 2166 h 4333"/>
                  <a:gd name="T12" fmla="*/ 4328 w 4332"/>
                  <a:gd name="T13" fmla="*/ 2231 h 4333"/>
                  <a:gd name="T14" fmla="*/ 4315 w 4332"/>
                  <a:gd name="T15" fmla="*/ 2294 h 4333"/>
                  <a:gd name="T16" fmla="*/ 4292 w 4332"/>
                  <a:gd name="T17" fmla="*/ 2356 h 4333"/>
                  <a:gd name="T18" fmla="*/ 4259 w 4332"/>
                  <a:gd name="T19" fmla="*/ 2413 h 4333"/>
                  <a:gd name="T20" fmla="*/ 4219 w 4332"/>
                  <a:gd name="T21" fmla="*/ 2466 h 4333"/>
                  <a:gd name="T22" fmla="*/ 2466 w 4332"/>
                  <a:gd name="T23" fmla="*/ 4218 h 4333"/>
                  <a:gd name="T24" fmla="*/ 2413 w 4332"/>
                  <a:gd name="T25" fmla="*/ 4260 h 4333"/>
                  <a:gd name="T26" fmla="*/ 2355 w 4332"/>
                  <a:gd name="T27" fmla="*/ 4292 h 4333"/>
                  <a:gd name="T28" fmla="*/ 2294 w 4332"/>
                  <a:gd name="T29" fmla="*/ 4315 h 4333"/>
                  <a:gd name="T30" fmla="*/ 2231 w 4332"/>
                  <a:gd name="T31" fmla="*/ 4328 h 4333"/>
                  <a:gd name="T32" fmla="*/ 2166 w 4332"/>
                  <a:gd name="T33" fmla="*/ 4333 h 4333"/>
                  <a:gd name="T34" fmla="*/ 2102 w 4332"/>
                  <a:gd name="T35" fmla="*/ 4328 h 4333"/>
                  <a:gd name="T36" fmla="*/ 2039 w 4332"/>
                  <a:gd name="T37" fmla="*/ 4315 h 4333"/>
                  <a:gd name="T38" fmla="*/ 1978 w 4332"/>
                  <a:gd name="T39" fmla="*/ 4292 h 4333"/>
                  <a:gd name="T40" fmla="*/ 1920 w 4332"/>
                  <a:gd name="T41" fmla="*/ 4260 h 4333"/>
                  <a:gd name="T42" fmla="*/ 1867 w 4332"/>
                  <a:gd name="T43" fmla="*/ 4218 h 4333"/>
                  <a:gd name="T44" fmla="*/ 115 w 4332"/>
                  <a:gd name="T45" fmla="*/ 2466 h 4333"/>
                  <a:gd name="T46" fmla="*/ 73 w 4332"/>
                  <a:gd name="T47" fmla="*/ 2413 h 4333"/>
                  <a:gd name="T48" fmla="*/ 42 w 4332"/>
                  <a:gd name="T49" fmla="*/ 2356 h 4333"/>
                  <a:gd name="T50" fmla="*/ 19 w 4332"/>
                  <a:gd name="T51" fmla="*/ 2294 h 4333"/>
                  <a:gd name="T52" fmla="*/ 4 w 4332"/>
                  <a:gd name="T53" fmla="*/ 2231 h 4333"/>
                  <a:gd name="T54" fmla="*/ 0 w 4332"/>
                  <a:gd name="T55" fmla="*/ 2166 h 4333"/>
                  <a:gd name="T56" fmla="*/ 4 w 4332"/>
                  <a:gd name="T57" fmla="*/ 2102 h 4333"/>
                  <a:gd name="T58" fmla="*/ 19 w 4332"/>
                  <a:gd name="T59" fmla="*/ 2039 h 4333"/>
                  <a:gd name="T60" fmla="*/ 42 w 4332"/>
                  <a:gd name="T61" fmla="*/ 1978 h 4333"/>
                  <a:gd name="T62" fmla="*/ 73 w 4332"/>
                  <a:gd name="T63" fmla="*/ 1921 h 4333"/>
                  <a:gd name="T64" fmla="*/ 115 w 4332"/>
                  <a:gd name="T65" fmla="*/ 1867 h 4333"/>
                  <a:gd name="T66" fmla="*/ 1867 w 4332"/>
                  <a:gd name="T67" fmla="*/ 115 h 4333"/>
                  <a:gd name="T68" fmla="*/ 1920 w 4332"/>
                  <a:gd name="T69" fmla="*/ 73 h 4333"/>
                  <a:gd name="T70" fmla="*/ 1978 w 4332"/>
                  <a:gd name="T71" fmla="*/ 42 h 4333"/>
                  <a:gd name="T72" fmla="*/ 2039 w 4332"/>
                  <a:gd name="T73" fmla="*/ 19 h 4333"/>
                  <a:gd name="T74" fmla="*/ 2102 w 4332"/>
                  <a:gd name="T75" fmla="*/ 5 h 4333"/>
                  <a:gd name="T76" fmla="*/ 2166 w 4332"/>
                  <a:gd name="T77" fmla="*/ 0 h 4333"/>
                  <a:gd name="T78" fmla="*/ 2231 w 4332"/>
                  <a:gd name="T79" fmla="*/ 5 h 4333"/>
                  <a:gd name="T80" fmla="*/ 2294 w 4332"/>
                  <a:gd name="T81" fmla="*/ 19 h 4333"/>
                  <a:gd name="T82" fmla="*/ 2355 w 4332"/>
                  <a:gd name="T83" fmla="*/ 42 h 4333"/>
                  <a:gd name="T84" fmla="*/ 2413 w 4332"/>
                  <a:gd name="T85" fmla="*/ 73 h 4333"/>
                  <a:gd name="T86" fmla="*/ 2466 w 4332"/>
                  <a:gd name="T87" fmla="*/ 115 h 4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32" h="4333">
                    <a:moveTo>
                      <a:pt x="2483" y="130"/>
                    </a:moveTo>
                    <a:lnTo>
                      <a:pt x="4202" y="1850"/>
                    </a:lnTo>
                    <a:lnTo>
                      <a:pt x="4219" y="1867"/>
                    </a:lnTo>
                    <a:lnTo>
                      <a:pt x="4233" y="1884"/>
                    </a:lnTo>
                    <a:lnTo>
                      <a:pt x="4247" y="1902"/>
                    </a:lnTo>
                    <a:lnTo>
                      <a:pt x="4259" y="1921"/>
                    </a:lnTo>
                    <a:lnTo>
                      <a:pt x="4271" y="1939"/>
                    </a:lnTo>
                    <a:lnTo>
                      <a:pt x="4282" y="1958"/>
                    </a:lnTo>
                    <a:lnTo>
                      <a:pt x="4292" y="1978"/>
                    </a:lnTo>
                    <a:lnTo>
                      <a:pt x="4301" y="1998"/>
                    </a:lnTo>
                    <a:lnTo>
                      <a:pt x="4307" y="2018"/>
                    </a:lnTo>
                    <a:lnTo>
                      <a:pt x="4315" y="2039"/>
                    </a:lnTo>
                    <a:lnTo>
                      <a:pt x="4320" y="2060"/>
                    </a:lnTo>
                    <a:lnTo>
                      <a:pt x="4325" y="2081"/>
                    </a:lnTo>
                    <a:lnTo>
                      <a:pt x="4328" y="2102"/>
                    </a:lnTo>
                    <a:lnTo>
                      <a:pt x="4330" y="2123"/>
                    </a:lnTo>
                    <a:lnTo>
                      <a:pt x="4332" y="2145"/>
                    </a:lnTo>
                    <a:lnTo>
                      <a:pt x="4332" y="2166"/>
                    </a:lnTo>
                    <a:lnTo>
                      <a:pt x="4332" y="2188"/>
                    </a:lnTo>
                    <a:lnTo>
                      <a:pt x="4330" y="2210"/>
                    </a:lnTo>
                    <a:lnTo>
                      <a:pt x="4328" y="2231"/>
                    </a:lnTo>
                    <a:lnTo>
                      <a:pt x="4325" y="2253"/>
                    </a:lnTo>
                    <a:lnTo>
                      <a:pt x="4320" y="2273"/>
                    </a:lnTo>
                    <a:lnTo>
                      <a:pt x="4315" y="2294"/>
                    </a:lnTo>
                    <a:lnTo>
                      <a:pt x="4307" y="2315"/>
                    </a:lnTo>
                    <a:lnTo>
                      <a:pt x="4301" y="2335"/>
                    </a:lnTo>
                    <a:lnTo>
                      <a:pt x="4292" y="2356"/>
                    </a:lnTo>
                    <a:lnTo>
                      <a:pt x="4282" y="2375"/>
                    </a:lnTo>
                    <a:lnTo>
                      <a:pt x="4271" y="2394"/>
                    </a:lnTo>
                    <a:lnTo>
                      <a:pt x="4259" y="2413"/>
                    </a:lnTo>
                    <a:lnTo>
                      <a:pt x="4247" y="2431"/>
                    </a:lnTo>
                    <a:lnTo>
                      <a:pt x="4233" y="2449"/>
                    </a:lnTo>
                    <a:lnTo>
                      <a:pt x="4219" y="2466"/>
                    </a:lnTo>
                    <a:lnTo>
                      <a:pt x="4202" y="2483"/>
                    </a:lnTo>
                    <a:lnTo>
                      <a:pt x="2483" y="4202"/>
                    </a:lnTo>
                    <a:lnTo>
                      <a:pt x="2466" y="4218"/>
                    </a:lnTo>
                    <a:lnTo>
                      <a:pt x="2449" y="4232"/>
                    </a:lnTo>
                    <a:lnTo>
                      <a:pt x="2431" y="4247"/>
                    </a:lnTo>
                    <a:lnTo>
                      <a:pt x="2413" y="4260"/>
                    </a:lnTo>
                    <a:lnTo>
                      <a:pt x="2394" y="4271"/>
                    </a:lnTo>
                    <a:lnTo>
                      <a:pt x="2374" y="4282"/>
                    </a:lnTo>
                    <a:lnTo>
                      <a:pt x="2355" y="4292"/>
                    </a:lnTo>
                    <a:lnTo>
                      <a:pt x="2335" y="4300"/>
                    </a:lnTo>
                    <a:lnTo>
                      <a:pt x="2314" y="4308"/>
                    </a:lnTo>
                    <a:lnTo>
                      <a:pt x="2294" y="4315"/>
                    </a:lnTo>
                    <a:lnTo>
                      <a:pt x="2274" y="4320"/>
                    </a:lnTo>
                    <a:lnTo>
                      <a:pt x="2252" y="4324"/>
                    </a:lnTo>
                    <a:lnTo>
                      <a:pt x="2231" y="4328"/>
                    </a:lnTo>
                    <a:lnTo>
                      <a:pt x="2209" y="4331"/>
                    </a:lnTo>
                    <a:lnTo>
                      <a:pt x="2188" y="4332"/>
                    </a:lnTo>
                    <a:lnTo>
                      <a:pt x="2166" y="4333"/>
                    </a:lnTo>
                    <a:lnTo>
                      <a:pt x="2145" y="4332"/>
                    </a:lnTo>
                    <a:lnTo>
                      <a:pt x="2124" y="4331"/>
                    </a:lnTo>
                    <a:lnTo>
                      <a:pt x="2102" y="4328"/>
                    </a:lnTo>
                    <a:lnTo>
                      <a:pt x="2081" y="4324"/>
                    </a:lnTo>
                    <a:lnTo>
                      <a:pt x="2060" y="4320"/>
                    </a:lnTo>
                    <a:lnTo>
                      <a:pt x="2039" y="4315"/>
                    </a:lnTo>
                    <a:lnTo>
                      <a:pt x="2018" y="4308"/>
                    </a:lnTo>
                    <a:lnTo>
                      <a:pt x="1998" y="4300"/>
                    </a:lnTo>
                    <a:lnTo>
                      <a:pt x="1978" y="4292"/>
                    </a:lnTo>
                    <a:lnTo>
                      <a:pt x="1958" y="4282"/>
                    </a:lnTo>
                    <a:lnTo>
                      <a:pt x="1938" y="4271"/>
                    </a:lnTo>
                    <a:lnTo>
                      <a:pt x="1920" y="4260"/>
                    </a:lnTo>
                    <a:lnTo>
                      <a:pt x="1902" y="4247"/>
                    </a:lnTo>
                    <a:lnTo>
                      <a:pt x="1884" y="4232"/>
                    </a:lnTo>
                    <a:lnTo>
                      <a:pt x="1867" y="4218"/>
                    </a:lnTo>
                    <a:lnTo>
                      <a:pt x="1850" y="4202"/>
                    </a:lnTo>
                    <a:lnTo>
                      <a:pt x="130" y="2483"/>
                    </a:lnTo>
                    <a:lnTo>
                      <a:pt x="115" y="2466"/>
                    </a:lnTo>
                    <a:lnTo>
                      <a:pt x="100" y="2449"/>
                    </a:lnTo>
                    <a:lnTo>
                      <a:pt x="87" y="2431"/>
                    </a:lnTo>
                    <a:lnTo>
                      <a:pt x="73" y="2413"/>
                    </a:lnTo>
                    <a:lnTo>
                      <a:pt x="61" y="2394"/>
                    </a:lnTo>
                    <a:lnTo>
                      <a:pt x="51" y="2375"/>
                    </a:lnTo>
                    <a:lnTo>
                      <a:pt x="42" y="2356"/>
                    </a:lnTo>
                    <a:lnTo>
                      <a:pt x="33" y="2335"/>
                    </a:lnTo>
                    <a:lnTo>
                      <a:pt x="25" y="2315"/>
                    </a:lnTo>
                    <a:lnTo>
                      <a:pt x="19" y="2294"/>
                    </a:lnTo>
                    <a:lnTo>
                      <a:pt x="13" y="2273"/>
                    </a:lnTo>
                    <a:lnTo>
                      <a:pt x="8" y="2253"/>
                    </a:lnTo>
                    <a:lnTo>
                      <a:pt x="4" y="2231"/>
                    </a:lnTo>
                    <a:lnTo>
                      <a:pt x="2" y="2210"/>
                    </a:lnTo>
                    <a:lnTo>
                      <a:pt x="0" y="2188"/>
                    </a:lnTo>
                    <a:lnTo>
                      <a:pt x="0" y="2166"/>
                    </a:lnTo>
                    <a:lnTo>
                      <a:pt x="0" y="2145"/>
                    </a:lnTo>
                    <a:lnTo>
                      <a:pt x="2" y="2123"/>
                    </a:lnTo>
                    <a:lnTo>
                      <a:pt x="4" y="2102"/>
                    </a:lnTo>
                    <a:lnTo>
                      <a:pt x="8" y="2081"/>
                    </a:lnTo>
                    <a:lnTo>
                      <a:pt x="13" y="2060"/>
                    </a:lnTo>
                    <a:lnTo>
                      <a:pt x="19" y="2039"/>
                    </a:lnTo>
                    <a:lnTo>
                      <a:pt x="25" y="2018"/>
                    </a:lnTo>
                    <a:lnTo>
                      <a:pt x="33" y="1998"/>
                    </a:lnTo>
                    <a:lnTo>
                      <a:pt x="42" y="1978"/>
                    </a:lnTo>
                    <a:lnTo>
                      <a:pt x="51" y="1958"/>
                    </a:lnTo>
                    <a:lnTo>
                      <a:pt x="61" y="1939"/>
                    </a:lnTo>
                    <a:lnTo>
                      <a:pt x="73" y="1921"/>
                    </a:lnTo>
                    <a:lnTo>
                      <a:pt x="87" y="1902"/>
                    </a:lnTo>
                    <a:lnTo>
                      <a:pt x="100" y="1884"/>
                    </a:lnTo>
                    <a:lnTo>
                      <a:pt x="115" y="1867"/>
                    </a:lnTo>
                    <a:lnTo>
                      <a:pt x="130" y="1850"/>
                    </a:lnTo>
                    <a:lnTo>
                      <a:pt x="1850" y="130"/>
                    </a:lnTo>
                    <a:lnTo>
                      <a:pt x="1867" y="115"/>
                    </a:lnTo>
                    <a:lnTo>
                      <a:pt x="1884" y="101"/>
                    </a:lnTo>
                    <a:lnTo>
                      <a:pt x="1902" y="87"/>
                    </a:lnTo>
                    <a:lnTo>
                      <a:pt x="1920" y="73"/>
                    </a:lnTo>
                    <a:lnTo>
                      <a:pt x="1938" y="62"/>
                    </a:lnTo>
                    <a:lnTo>
                      <a:pt x="1958" y="51"/>
                    </a:lnTo>
                    <a:lnTo>
                      <a:pt x="1978" y="42"/>
                    </a:lnTo>
                    <a:lnTo>
                      <a:pt x="1998" y="33"/>
                    </a:lnTo>
                    <a:lnTo>
                      <a:pt x="2018" y="25"/>
                    </a:lnTo>
                    <a:lnTo>
                      <a:pt x="2039" y="19"/>
                    </a:lnTo>
                    <a:lnTo>
                      <a:pt x="2060" y="13"/>
                    </a:lnTo>
                    <a:lnTo>
                      <a:pt x="2081" y="9"/>
                    </a:lnTo>
                    <a:lnTo>
                      <a:pt x="2102" y="5"/>
                    </a:lnTo>
                    <a:lnTo>
                      <a:pt x="2124" y="2"/>
                    </a:lnTo>
                    <a:lnTo>
                      <a:pt x="2145" y="1"/>
                    </a:lnTo>
                    <a:lnTo>
                      <a:pt x="2166" y="0"/>
                    </a:lnTo>
                    <a:lnTo>
                      <a:pt x="2188" y="1"/>
                    </a:lnTo>
                    <a:lnTo>
                      <a:pt x="2209" y="2"/>
                    </a:lnTo>
                    <a:lnTo>
                      <a:pt x="2231" y="5"/>
                    </a:lnTo>
                    <a:lnTo>
                      <a:pt x="2252" y="9"/>
                    </a:lnTo>
                    <a:lnTo>
                      <a:pt x="2274" y="13"/>
                    </a:lnTo>
                    <a:lnTo>
                      <a:pt x="2294" y="19"/>
                    </a:lnTo>
                    <a:lnTo>
                      <a:pt x="2314" y="25"/>
                    </a:lnTo>
                    <a:lnTo>
                      <a:pt x="2335" y="33"/>
                    </a:lnTo>
                    <a:lnTo>
                      <a:pt x="2355" y="42"/>
                    </a:lnTo>
                    <a:lnTo>
                      <a:pt x="2374" y="51"/>
                    </a:lnTo>
                    <a:lnTo>
                      <a:pt x="2394" y="62"/>
                    </a:lnTo>
                    <a:lnTo>
                      <a:pt x="2413" y="73"/>
                    </a:lnTo>
                    <a:lnTo>
                      <a:pt x="2431" y="87"/>
                    </a:lnTo>
                    <a:lnTo>
                      <a:pt x="2449" y="101"/>
                    </a:lnTo>
                    <a:lnTo>
                      <a:pt x="2466" y="115"/>
                    </a:lnTo>
                    <a:lnTo>
                      <a:pt x="2483" y="130"/>
                    </a:lnTo>
                    <a:close/>
                  </a:path>
                </a:pathLst>
              </a:custGeom>
              <a:solidFill>
                <a:srgbClr val="138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0" name="Freeform 16"/>
              <p:cNvSpPr>
                <a:spLocks/>
              </p:cNvSpPr>
              <p:nvPr/>
            </p:nvSpPr>
            <p:spPr bwMode="auto">
              <a:xfrm>
                <a:off x="1645" y="1798"/>
                <a:ext cx="762" cy="761"/>
              </a:xfrm>
              <a:custGeom>
                <a:avLst/>
                <a:gdLst>
                  <a:gd name="T0" fmla="*/ 3709 w 3810"/>
                  <a:gd name="T1" fmla="*/ 1641 h 3809"/>
                  <a:gd name="T2" fmla="*/ 3745 w 3810"/>
                  <a:gd name="T3" fmla="*/ 1688 h 3809"/>
                  <a:gd name="T4" fmla="*/ 3774 w 3810"/>
                  <a:gd name="T5" fmla="*/ 1739 h 3809"/>
                  <a:gd name="T6" fmla="*/ 3793 w 3810"/>
                  <a:gd name="T7" fmla="*/ 1792 h 3809"/>
                  <a:gd name="T8" fmla="*/ 3805 w 3810"/>
                  <a:gd name="T9" fmla="*/ 1848 h 3809"/>
                  <a:gd name="T10" fmla="*/ 3810 w 3810"/>
                  <a:gd name="T11" fmla="*/ 1904 h 3809"/>
                  <a:gd name="T12" fmla="*/ 3805 w 3810"/>
                  <a:gd name="T13" fmla="*/ 1961 h 3809"/>
                  <a:gd name="T14" fmla="*/ 3793 w 3810"/>
                  <a:gd name="T15" fmla="*/ 2017 h 3809"/>
                  <a:gd name="T16" fmla="*/ 3774 w 3810"/>
                  <a:gd name="T17" fmla="*/ 2071 h 3809"/>
                  <a:gd name="T18" fmla="*/ 3745 w 3810"/>
                  <a:gd name="T19" fmla="*/ 2121 h 3809"/>
                  <a:gd name="T20" fmla="*/ 3709 w 3810"/>
                  <a:gd name="T21" fmla="*/ 2168 h 3809"/>
                  <a:gd name="T22" fmla="*/ 2168 w 3810"/>
                  <a:gd name="T23" fmla="*/ 3709 h 3809"/>
                  <a:gd name="T24" fmla="*/ 2121 w 3810"/>
                  <a:gd name="T25" fmla="*/ 3745 h 3809"/>
                  <a:gd name="T26" fmla="*/ 2071 w 3810"/>
                  <a:gd name="T27" fmla="*/ 3773 h 3809"/>
                  <a:gd name="T28" fmla="*/ 2017 w 3810"/>
                  <a:gd name="T29" fmla="*/ 3793 h 3809"/>
                  <a:gd name="T30" fmla="*/ 1961 w 3810"/>
                  <a:gd name="T31" fmla="*/ 3805 h 3809"/>
                  <a:gd name="T32" fmla="*/ 1904 w 3810"/>
                  <a:gd name="T33" fmla="*/ 3809 h 3809"/>
                  <a:gd name="T34" fmla="*/ 1848 w 3810"/>
                  <a:gd name="T35" fmla="*/ 3805 h 3809"/>
                  <a:gd name="T36" fmla="*/ 1792 w 3810"/>
                  <a:gd name="T37" fmla="*/ 3793 h 3809"/>
                  <a:gd name="T38" fmla="*/ 1739 w 3810"/>
                  <a:gd name="T39" fmla="*/ 3773 h 3809"/>
                  <a:gd name="T40" fmla="*/ 1687 w 3810"/>
                  <a:gd name="T41" fmla="*/ 3745 h 3809"/>
                  <a:gd name="T42" fmla="*/ 1641 w 3810"/>
                  <a:gd name="T43" fmla="*/ 3709 h 3809"/>
                  <a:gd name="T44" fmla="*/ 101 w 3810"/>
                  <a:gd name="T45" fmla="*/ 2168 h 3809"/>
                  <a:gd name="T46" fmla="*/ 63 w 3810"/>
                  <a:gd name="T47" fmla="*/ 2121 h 3809"/>
                  <a:gd name="T48" fmla="*/ 36 w 3810"/>
                  <a:gd name="T49" fmla="*/ 2071 h 3809"/>
                  <a:gd name="T50" fmla="*/ 15 w 3810"/>
                  <a:gd name="T51" fmla="*/ 2017 h 3809"/>
                  <a:gd name="T52" fmla="*/ 3 w 3810"/>
                  <a:gd name="T53" fmla="*/ 1961 h 3809"/>
                  <a:gd name="T54" fmla="*/ 0 w 3810"/>
                  <a:gd name="T55" fmla="*/ 1904 h 3809"/>
                  <a:gd name="T56" fmla="*/ 3 w 3810"/>
                  <a:gd name="T57" fmla="*/ 1848 h 3809"/>
                  <a:gd name="T58" fmla="*/ 15 w 3810"/>
                  <a:gd name="T59" fmla="*/ 1792 h 3809"/>
                  <a:gd name="T60" fmla="*/ 36 w 3810"/>
                  <a:gd name="T61" fmla="*/ 1739 h 3809"/>
                  <a:gd name="T62" fmla="*/ 63 w 3810"/>
                  <a:gd name="T63" fmla="*/ 1688 h 3809"/>
                  <a:gd name="T64" fmla="*/ 101 w 3810"/>
                  <a:gd name="T65" fmla="*/ 1641 h 3809"/>
                  <a:gd name="T66" fmla="*/ 1641 w 3810"/>
                  <a:gd name="T67" fmla="*/ 101 h 3809"/>
                  <a:gd name="T68" fmla="*/ 1687 w 3810"/>
                  <a:gd name="T69" fmla="*/ 64 h 3809"/>
                  <a:gd name="T70" fmla="*/ 1739 w 3810"/>
                  <a:gd name="T71" fmla="*/ 36 h 3809"/>
                  <a:gd name="T72" fmla="*/ 1792 w 3810"/>
                  <a:gd name="T73" fmla="*/ 16 h 3809"/>
                  <a:gd name="T74" fmla="*/ 1848 w 3810"/>
                  <a:gd name="T75" fmla="*/ 4 h 3809"/>
                  <a:gd name="T76" fmla="*/ 1904 w 3810"/>
                  <a:gd name="T77" fmla="*/ 0 h 3809"/>
                  <a:gd name="T78" fmla="*/ 1961 w 3810"/>
                  <a:gd name="T79" fmla="*/ 4 h 3809"/>
                  <a:gd name="T80" fmla="*/ 2017 w 3810"/>
                  <a:gd name="T81" fmla="*/ 16 h 3809"/>
                  <a:gd name="T82" fmla="*/ 2071 w 3810"/>
                  <a:gd name="T83" fmla="*/ 36 h 3809"/>
                  <a:gd name="T84" fmla="*/ 2121 w 3810"/>
                  <a:gd name="T85" fmla="*/ 64 h 3809"/>
                  <a:gd name="T86" fmla="*/ 2168 w 3810"/>
                  <a:gd name="T87" fmla="*/ 101 h 3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10" h="3809">
                    <a:moveTo>
                      <a:pt x="2183" y="115"/>
                    </a:moveTo>
                    <a:lnTo>
                      <a:pt x="3695" y="1626"/>
                    </a:lnTo>
                    <a:lnTo>
                      <a:pt x="3709" y="1641"/>
                    </a:lnTo>
                    <a:lnTo>
                      <a:pt x="3722" y="1656"/>
                    </a:lnTo>
                    <a:lnTo>
                      <a:pt x="3734" y="1672"/>
                    </a:lnTo>
                    <a:lnTo>
                      <a:pt x="3745" y="1688"/>
                    </a:lnTo>
                    <a:lnTo>
                      <a:pt x="3755" y="1705"/>
                    </a:lnTo>
                    <a:lnTo>
                      <a:pt x="3765" y="1721"/>
                    </a:lnTo>
                    <a:lnTo>
                      <a:pt x="3774" y="1739"/>
                    </a:lnTo>
                    <a:lnTo>
                      <a:pt x="3781" y="1756"/>
                    </a:lnTo>
                    <a:lnTo>
                      <a:pt x="3788" y="1774"/>
                    </a:lnTo>
                    <a:lnTo>
                      <a:pt x="3793" y="1792"/>
                    </a:lnTo>
                    <a:lnTo>
                      <a:pt x="3799" y="1811"/>
                    </a:lnTo>
                    <a:lnTo>
                      <a:pt x="3802" y="1830"/>
                    </a:lnTo>
                    <a:lnTo>
                      <a:pt x="3805" y="1848"/>
                    </a:lnTo>
                    <a:lnTo>
                      <a:pt x="3808" y="1867"/>
                    </a:lnTo>
                    <a:lnTo>
                      <a:pt x="3809" y="1885"/>
                    </a:lnTo>
                    <a:lnTo>
                      <a:pt x="3810" y="1904"/>
                    </a:lnTo>
                    <a:lnTo>
                      <a:pt x="3809" y="1924"/>
                    </a:lnTo>
                    <a:lnTo>
                      <a:pt x="3808" y="1942"/>
                    </a:lnTo>
                    <a:lnTo>
                      <a:pt x="3805" y="1961"/>
                    </a:lnTo>
                    <a:lnTo>
                      <a:pt x="3802" y="1980"/>
                    </a:lnTo>
                    <a:lnTo>
                      <a:pt x="3799" y="1998"/>
                    </a:lnTo>
                    <a:lnTo>
                      <a:pt x="3793" y="2017"/>
                    </a:lnTo>
                    <a:lnTo>
                      <a:pt x="3788" y="2034"/>
                    </a:lnTo>
                    <a:lnTo>
                      <a:pt x="3781" y="2053"/>
                    </a:lnTo>
                    <a:lnTo>
                      <a:pt x="3774" y="2071"/>
                    </a:lnTo>
                    <a:lnTo>
                      <a:pt x="3765" y="2088"/>
                    </a:lnTo>
                    <a:lnTo>
                      <a:pt x="3755" y="2105"/>
                    </a:lnTo>
                    <a:lnTo>
                      <a:pt x="3745" y="2121"/>
                    </a:lnTo>
                    <a:lnTo>
                      <a:pt x="3734" y="2137"/>
                    </a:lnTo>
                    <a:lnTo>
                      <a:pt x="3722" y="2153"/>
                    </a:lnTo>
                    <a:lnTo>
                      <a:pt x="3709" y="2168"/>
                    </a:lnTo>
                    <a:lnTo>
                      <a:pt x="3695" y="2182"/>
                    </a:lnTo>
                    <a:lnTo>
                      <a:pt x="2183" y="3694"/>
                    </a:lnTo>
                    <a:lnTo>
                      <a:pt x="2168" y="3709"/>
                    </a:lnTo>
                    <a:lnTo>
                      <a:pt x="2153" y="3722"/>
                    </a:lnTo>
                    <a:lnTo>
                      <a:pt x="2138" y="3734"/>
                    </a:lnTo>
                    <a:lnTo>
                      <a:pt x="2121" y="3745"/>
                    </a:lnTo>
                    <a:lnTo>
                      <a:pt x="2105" y="3755"/>
                    </a:lnTo>
                    <a:lnTo>
                      <a:pt x="2087" y="3764"/>
                    </a:lnTo>
                    <a:lnTo>
                      <a:pt x="2071" y="3773"/>
                    </a:lnTo>
                    <a:lnTo>
                      <a:pt x="2052" y="3781"/>
                    </a:lnTo>
                    <a:lnTo>
                      <a:pt x="2035" y="3787"/>
                    </a:lnTo>
                    <a:lnTo>
                      <a:pt x="2017" y="3793"/>
                    </a:lnTo>
                    <a:lnTo>
                      <a:pt x="1998" y="3798"/>
                    </a:lnTo>
                    <a:lnTo>
                      <a:pt x="1980" y="3802"/>
                    </a:lnTo>
                    <a:lnTo>
                      <a:pt x="1961" y="3805"/>
                    </a:lnTo>
                    <a:lnTo>
                      <a:pt x="1943" y="3807"/>
                    </a:lnTo>
                    <a:lnTo>
                      <a:pt x="1923" y="3809"/>
                    </a:lnTo>
                    <a:lnTo>
                      <a:pt x="1904" y="3809"/>
                    </a:lnTo>
                    <a:lnTo>
                      <a:pt x="1886" y="3809"/>
                    </a:lnTo>
                    <a:lnTo>
                      <a:pt x="1867" y="3807"/>
                    </a:lnTo>
                    <a:lnTo>
                      <a:pt x="1848" y="3805"/>
                    </a:lnTo>
                    <a:lnTo>
                      <a:pt x="1829" y="3802"/>
                    </a:lnTo>
                    <a:lnTo>
                      <a:pt x="1811" y="3798"/>
                    </a:lnTo>
                    <a:lnTo>
                      <a:pt x="1792" y="3793"/>
                    </a:lnTo>
                    <a:lnTo>
                      <a:pt x="1774" y="3787"/>
                    </a:lnTo>
                    <a:lnTo>
                      <a:pt x="1756" y="3781"/>
                    </a:lnTo>
                    <a:lnTo>
                      <a:pt x="1739" y="3773"/>
                    </a:lnTo>
                    <a:lnTo>
                      <a:pt x="1721" y="3764"/>
                    </a:lnTo>
                    <a:lnTo>
                      <a:pt x="1704" y="3755"/>
                    </a:lnTo>
                    <a:lnTo>
                      <a:pt x="1687" y="3745"/>
                    </a:lnTo>
                    <a:lnTo>
                      <a:pt x="1672" y="3734"/>
                    </a:lnTo>
                    <a:lnTo>
                      <a:pt x="1656" y="3722"/>
                    </a:lnTo>
                    <a:lnTo>
                      <a:pt x="1641" y="3709"/>
                    </a:lnTo>
                    <a:lnTo>
                      <a:pt x="1626" y="3694"/>
                    </a:lnTo>
                    <a:lnTo>
                      <a:pt x="114" y="2182"/>
                    </a:lnTo>
                    <a:lnTo>
                      <a:pt x="101" y="2168"/>
                    </a:lnTo>
                    <a:lnTo>
                      <a:pt x="88" y="2153"/>
                    </a:lnTo>
                    <a:lnTo>
                      <a:pt x="75" y="2137"/>
                    </a:lnTo>
                    <a:lnTo>
                      <a:pt x="63" y="2121"/>
                    </a:lnTo>
                    <a:lnTo>
                      <a:pt x="54" y="2105"/>
                    </a:lnTo>
                    <a:lnTo>
                      <a:pt x="44" y="2088"/>
                    </a:lnTo>
                    <a:lnTo>
                      <a:pt x="36" y="2071"/>
                    </a:lnTo>
                    <a:lnTo>
                      <a:pt x="28" y="2053"/>
                    </a:lnTo>
                    <a:lnTo>
                      <a:pt x="22" y="2034"/>
                    </a:lnTo>
                    <a:lnTo>
                      <a:pt x="15" y="2017"/>
                    </a:lnTo>
                    <a:lnTo>
                      <a:pt x="11" y="1998"/>
                    </a:lnTo>
                    <a:lnTo>
                      <a:pt x="6" y="1980"/>
                    </a:lnTo>
                    <a:lnTo>
                      <a:pt x="3" y="1961"/>
                    </a:lnTo>
                    <a:lnTo>
                      <a:pt x="1" y="1942"/>
                    </a:lnTo>
                    <a:lnTo>
                      <a:pt x="0" y="1924"/>
                    </a:lnTo>
                    <a:lnTo>
                      <a:pt x="0" y="1904"/>
                    </a:lnTo>
                    <a:lnTo>
                      <a:pt x="0" y="1885"/>
                    </a:lnTo>
                    <a:lnTo>
                      <a:pt x="1" y="1867"/>
                    </a:lnTo>
                    <a:lnTo>
                      <a:pt x="3" y="1848"/>
                    </a:lnTo>
                    <a:lnTo>
                      <a:pt x="6" y="1830"/>
                    </a:lnTo>
                    <a:lnTo>
                      <a:pt x="11" y="1811"/>
                    </a:lnTo>
                    <a:lnTo>
                      <a:pt x="15" y="1792"/>
                    </a:lnTo>
                    <a:lnTo>
                      <a:pt x="22" y="1774"/>
                    </a:lnTo>
                    <a:lnTo>
                      <a:pt x="28" y="1756"/>
                    </a:lnTo>
                    <a:lnTo>
                      <a:pt x="36" y="1739"/>
                    </a:lnTo>
                    <a:lnTo>
                      <a:pt x="44" y="1721"/>
                    </a:lnTo>
                    <a:lnTo>
                      <a:pt x="54" y="1705"/>
                    </a:lnTo>
                    <a:lnTo>
                      <a:pt x="63" y="1688"/>
                    </a:lnTo>
                    <a:lnTo>
                      <a:pt x="75" y="1672"/>
                    </a:lnTo>
                    <a:lnTo>
                      <a:pt x="88" y="1656"/>
                    </a:lnTo>
                    <a:lnTo>
                      <a:pt x="101" y="1641"/>
                    </a:lnTo>
                    <a:lnTo>
                      <a:pt x="114" y="1626"/>
                    </a:lnTo>
                    <a:lnTo>
                      <a:pt x="1626" y="115"/>
                    </a:lnTo>
                    <a:lnTo>
                      <a:pt x="1641" y="101"/>
                    </a:lnTo>
                    <a:lnTo>
                      <a:pt x="1656" y="87"/>
                    </a:lnTo>
                    <a:lnTo>
                      <a:pt x="1672" y="75"/>
                    </a:lnTo>
                    <a:lnTo>
                      <a:pt x="1687" y="64"/>
                    </a:lnTo>
                    <a:lnTo>
                      <a:pt x="1704" y="54"/>
                    </a:lnTo>
                    <a:lnTo>
                      <a:pt x="1721" y="45"/>
                    </a:lnTo>
                    <a:lnTo>
                      <a:pt x="1739" y="36"/>
                    </a:lnTo>
                    <a:lnTo>
                      <a:pt x="1756" y="28"/>
                    </a:lnTo>
                    <a:lnTo>
                      <a:pt x="1774" y="22"/>
                    </a:lnTo>
                    <a:lnTo>
                      <a:pt x="1792" y="16"/>
                    </a:lnTo>
                    <a:lnTo>
                      <a:pt x="1811" y="11"/>
                    </a:lnTo>
                    <a:lnTo>
                      <a:pt x="1829" y="6"/>
                    </a:lnTo>
                    <a:lnTo>
                      <a:pt x="1848" y="4"/>
                    </a:lnTo>
                    <a:lnTo>
                      <a:pt x="1867" y="2"/>
                    </a:lnTo>
                    <a:lnTo>
                      <a:pt x="1886" y="0"/>
                    </a:lnTo>
                    <a:lnTo>
                      <a:pt x="1904" y="0"/>
                    </a:lnTo>
                    <a:lnTo>
                      <a:pt x="1923" y="0"/>
                    </a:lnTo>
                    <a:lnTo>
                      <a:pt x="1943" y="2"/>
                    </a:lnTo>
                    <a:lnTo>
                      <a:pt x="1961" y="4"/>
                    </a:lnTo>
                    <a:lnTo>
                      <a:pt x="1980" y="6"/>
                    </a:lnTo>
                    <a:lnTo>
                      <a:pt x="1998" y="11"/>
                    </a:lnTo>
                    <a:lnTo>
                      <a:pt x="2017" y="16"/>
                    </a:lnTo>
                    <a:lnTo>
                      <a:pt x="2035" y="22"/>
                    </a:lnTo>
                    <a:lnTo>
                      <a:pt x="2052" y="28"/>
                    </a:lnTo>
                    <a:lnTo>
                      <a:pt x="2071" y="36"/>
                    </a:lnTo>
                    <a:lnTo>
                      <a:pt x="2087" y="45"/>
                    </a:lnTo>
                    <a:lnTo>
                      <a:pt x="2105" y="54"/>
                    </a:lnTo>
                    <a:lnTo>
                      <a:pt x="2121" y="64"/>
                    </a:lnTo>
                    <a:lnTo>
                      <a:pt x="2138" y="75"/>
                    </a:lnTo>
                    <a:lnTo>
                      <a:pt x="2153" y="87"/>
                    </a:lnTo>
                    <a:lnTo>
                      <a:pt x="2168" y="101"/>
                    </a:lnTo>
                    <a:lnTo>
                      <a:pt x="2183" y="115"/>
                    </a:lnTo>
                    <a:close/>
                  </a:path>
                </a:pathLst>
              </a:custGeom>
              <a:solidFill>
                <a:srgbClr val="085E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17"/>
              <p:cNvSpPr>
                <a:spLocks noEditPoints="1"/>
              </p:cNvSpPr>
              <p:nvPr/>
            </p:nvSpPr>
            <p:spPr bwMode="auto">
              <a:xfrm>
                <a:off x="1639" y="1791"/>
                <a:ext cx="775" cy="775"/>
              </a:xfrm>
              <a:custGeom>
                <a:avLst/>
                <a:gdLst>
                  <a:gd name="T0" fmla="*/ 3793 w 3876"/>
                  <a:gd name="T1" fmla="*/ 1685 h 3875"/>
                  <a:gd name="T2" fmla="*/ 3844 w 3876"/>
                  <a:gd name="T3" fmla="*/ 1777 h 3875"/>
                  <a:gd name="T4" fmla="*/ 3871 w 3876"/>
                  <a:gd name="T5" fmla="*/ 1877 h 3875"/>
                  <a:gd name="T6" fmla="*/ 3873 w 3876"/>
                  <a:gd name="T7" fmla="*/ 1979 h 3875"/>
                  <a:gd name="T8" fmla="*/ 3851 w 3876"/>
                  <a:gd name="T9" fmla="*/ 2078 h 3875"/>
                  <a:gd name="T10" fmla="*/ 3805 w 3876"/>
                  <a:gd name="T11" fmla="*/ 2173 h 3875"/>
                  <a:gd name="T12" fmla="*/ 2239 w 3876"/>
                  <a:gd name="T13" fmla="*/ 3750 h 3875"/>
                  <a:gd name="T14" fmla="*/ 2154 w 3876"/>
                  <a:gd name="T15" fmla="*/ 3816 h 3875"/>
                  <a:gd name="T16" fmla="*/ 2059 w 3876"/>
                  <a:gd name="T17" fmla="*/ 3858 h 3875"/>
                  <a:gd name="T18" fmla="*/ 1958 w 3876"/>
                  <a:gd name="T19" fmla="*/ 3874 h 3875"/>
                  <a:gd name="T20" fmla="*/ 1856 w 3876"/>
                  <a:gd name="T21" fmla="*/ 3868 h 3875"/>
                  <a:gd name="T22" fmla="*/ 1758 w 3876"/>
                  <a:gd name="T23" fmla="*/ 3836 h 3875"/>
                  <a:gd name="T24" fmla="*/ 1669 w 3876"/>
                  <a:gd name="T25" fmla="*/ 3780 h 3875"/>
                  <a:gd name="T26" fmla="*/ 95 w 3876"/>
                  <a:gd name="T27" fmla="*/ 2207 h 3875"/>
                  <a:gd name="T28" fmla="*/ 39 w 3876"/>
                  <a:gd name="T29" fmla="*/ 2117 h 3875"/>
                  <a:gd name="T30" fmla="*/ 8 w 3876"/>
                  <a:gd name="T31" fmla="*/ 2019 h 3875"/>
                  <a:gd name="T32" fmla="*/ 0 w 3876"/>
                  <a:gd name="T33" fmla="*/ 1917 h 3875"/>
                  <a:gd name="T34" fmla="*/ 18 w 3876"/>
                  <a:gd name="T35" fmla="*/ 1817 h 3875"/>
                  <a:gd name="T36" fmla="*/ 58 w 3876"/>
                  <a:gd name="T37" fmla="*/ 1721 h 3875"/>
                  <a:gd name="T38" fmla="*/ 124 w 3876"/>
                  <a:gd name="T39" fmla="*/ 1636 h 3875"/>
                  <a:gd name="T40" fmla="*/ 1703 w 3876"/>
                  <a:gd name="T41" fmla="*/ 70 h 3875"/>
                  <a:gd name="T42" fmla="*/ 1796 w 3876"/>
                  <a:gd name="T43" fmla="*/ 24 h 3875"/>
                  <a:gd name="T44" fmla="*/ 1897 w 3876"/>
                  <a:gd name="T45" fmla="*/ 2 h 3875"/>
                  <a:gd name="T46" fmla="*/ 1999 w 3876"/>
                  <a:gd name="T47" fmla="*/ 4 h 3875"/>
                  <a:gd name="T48" fmla="*/ 2098 w 3876"/>
                  <a:gd name="T49" fmla="*/ 31 h 3875"/>
                  <a:gd name="T50" fmla="*/ 2189 w 3876"/>
                  <a:gd name="T51" fmla="*/ 82 h 3875"/>
                  <a:gd name="T52" fmla="*/ 2193 w 3876"/>
                  <a:gd name="T53" fmla="*/ 171 h 3875"/>
                  <a:gd name="T54" fmla="*/ 2121 w 3876"/>
                  <a:gd name="T55" fmla="*/ 115 h 3875"/>
                  <a:gd name="T56" fmla="*/ 2040 w 3876"/>
                  <a:gd name="T57" fmla="*/ 80 h 3875"/>
                  <a:gd name="T58" fmla="*/ 1955 w 3876"/>
                  <a:gd name="T59" fmla="*/ 66 h 3875"/>
                  <a:gd name="T60" fmla="*/ 1868 w 3876"/>
                  <a:gd name="T61" fmla="*/ 72 h 3875"/>
                  <a:gd name="T62" fmla="*/ 1785 w 3876"/>
                  <a:gd name="T63" fmla="*/ 99 h 3875"/>
                  <a:gd name="T64" fmla="*/ 1709 w 3876"/>
                  <a:gd name="T65" fmla="*/ 146 h 3875"/>
                  <a:gd name="T66" fmla="*/ 146 w 3876"/>
                  <a:gd name="T67" fmla="*/ 1709 h 3875"/>
                  <a:gd name="T68" fmla="*/ 99 w 3876"/>
                  <a:gd name="T69" fmla="*/ 1786 h 3875"/>
                  <a:gd name="T70" fmla="*/ 71 w 3876"/>
                  <a:gd name="T71" fmla="*/ 1868 h 3875"/>
                  <a:gd name="T72" fmla="*/ 66 w 3876"/>
                  <a:gd name="T73" fmla="*/ 1955 h 3875"/>
                  <a:gd name="T74" fmla="*/ 80 w 3876"/>
                  <a:gd name="T75" fmla="*/ 2040 h 3875"/>
                  <a:gd name="T76" fmla="*/ 115 w 3876"/>
                  <a:gd name="T77" fmla="*/ 2121 h 3875"/>
                  <a:gd name="T78" fmla="*/ 170 w 3876"/>
                  <a:gd name="T79" fmla="*/ 2192 h 3875"/>
                  <a:gd name="T80" fmla="*/ 1739 w 3876"/>
                  <a:gd name="T81" fmla="*/ 3750 h 3875"/>
                  <a:gd name="T82" fmla="*/ 1818 w 3876"/>
                  <a:gd name="T83" fmla="*/ 3790 h 3875"/>
                  <a:gd name="T84" fmla="*/ 1903 w 3876"/>
                  <a:gd name="T85" fmla="*/ 3808 h 3875"/>
                  <a:gd name="T86" fmla="*/ 1990 w 3876"/>
                  <a:gd name="T87" fmla="*/ 3806 h 3875"/>
                  <a:gd name="T88" fmla="*/ 2073 w 3876"/>
                  <a:gd name="T89" fmla="*/ 3783 h 3875"/>
                  <a:gd name="T90" fmla="*/ 2151 w 3876"/>
                  <a:gd name="T91" fmla="*/ 3740 h 3875"/>
                  <a:gd name="T92" fmla="*/ 3718 w 3876"/>
                  <a:gd name="T93" fmla="*/ 2179 h 3875"/>
                  <a:gd name="T94" fmla="*/ 3768 w 3876"/>
                  <a:gd name="T95" fmla="*/ 2106 h 3875"/>
                  <a:gd name="T96" fmla="*/ 3800 w 3876"/>
                  <a:gd name="T97" fmla="*/ 2024 h 3875"/>
                  <a:gd name="T98" fmla="*/ 3810 w 3876"/>
                  <a:gd name="T99" fmla="*/ 1937 h 3875"/>
                  <a:gd name="T100" fmla="*/ 3800 w 3876"/>
                  <a:gd name="T101" fmla="*/ 1852 h 3875"/>
                  <a:gd name="T102" fmla="*/ 3768 w 3876"/>
                  <a:gd name="T103" fmla="*/ 1769 h 3875"/>
                  <a:gd name="T104" fmla="*/ 3718 w 3876"/>
                  <a:gd name="T105" fmla="*/ 1696 h 3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76" h="3875">
                    <a:moveTo>
                      <a:pt x="2239" y="125"/>
                    </a:moveTo>
                    <a:lnTo>
                      <a:pt x="3751" y="1636"/>
                    </a:lnTo>
                    <a:lnTo>
                      <a:pt x="3766" y="1652"/>
                    </a:lnTo>
                    <a:lnTo>
                      <a:pt x="3780" y="1669"/>
                    </a:lnTo>
                    <a:lnTo>
                      <a:pt x="3793" y="1685"/>
                    </a:lnTo>
                    <a:lnTo>
                      <a:pt x="3805" y="1703"/>
                    </a:lnTo>
                    <a:lnTo>
                      <a:pt x="3816" y="1721"/>
                    </a:lnTo>
                    <a:lnTo>
                      <a:pt x="3826" y="1739"/>
                    </a:lnTo>
                    <a:lnTo>
                      <a:pt x="3836" y="1758"/>
                    </a:lnTo>
                    <a:lnTo>
                      <a:pt x="3844" y="1777"/>
                    </a:lnTo>
                    <a:lnTo>
                      <a:pt x="3851" y="1797"/>
                    </a:lnTo>
                    <a:lnTo>
                      <a:pt x="3858" y="1817"/>
                    </a:lnTo>
                    <a:lnTo>
                      <a:pt x="3862" y="1836"/>
                    </a:lnTo>
                    <a:lnTo>
                      <a:pt x="3867" y="1856"/>
                    </a:lnTo>
                    <a:lnTo>
                      <a:pt x="3871" y="1877"/>
                    </a:lnTo>
                    <a:lnTo>
                      <a:pt x="3873" y="1896"/>
                    </a:lnTo>
                    <a:lnTo>
                      <a:pt x="3874" y="1917"/>
                    </a:lnTo>
                    <a:lnTo>
                      <a:pt x="3876" y="1937"/>
                    </a:lnTo>
                    <a:lnTo>
                      <a:pt x="3874" y="1958"/>
                    </a:lnTo>
                    <a:lnTo>
                      <a:pt x="3873" y="1979"/>
                    </a:lnTo>
                    <a:lnTo>
                      <a:pt x="3871" y="1998"/>
                    </a:lnTo>
                    <a:lnTo>
                      <a:pt x="3867" y="2019"/>
                    </a:lnTo>
                    <a:lnTo>
                      <a:pt x="3862" y="2039"/>
                    </a:lnTo>
                    <a:lnTo>
                      <a:pt x="3858" y="2059"/>
                    </a:lnTo>
                    <a:lnTo>
                      <a:pt x="3851" y="2078"/>
                    </a:lnTo>
                    <a:lnTo>
                      <a:pt x="3844" y="2098"/>
                    </a:lnTo>
                    <a:lnTo>
                      <a:pt x="3836" y="2117"/>
                    </a:lnTo>
                    <a:lnTo>
                      <a:pt x="3826" y="2135"/>
                    </a:lnTo>
                    <a:lnTo>
                      <a:pt x="3816" y="2154"/>
                    </a:lnTo>
                    <a:lnTo>
                      <a:pt x="3805" y="2173"/>
                    </a:lnTo>
                    <a:lnTo>
                      <a:pt x="3793" y="2190"/>
                    </a:lnTo>
                    <a:lnTo>
                      <a:pt x="3780" y="2207"/>
                    </a:lnTo>
                    <a:lnTo>
                      <a:pt x="3766" y="2223"/>
                    </a:lnTo>
                    <a:lnTo>
                      <a:pt x="3751" y="2238"/>
                    </a:lnTo>
                    <a:lnTo>
                      <a:pt x="2239" y="3750"/>
                    </a:lnTo>
                    <a:lnTo>
                      <a:pt x="2223" y="3766"/>
                    </a:lnTo>
                    <a:lnTo>
                      <a:pt x="2207" y="3780"/>
                    </a:lnTo>
                    <a:lnTo>
                      <a:pt x="2189" y="3793"/>
                    </a:lnTo>
                    <a:lnTo>
                      <a:pt x="2172" y="3805"/>
                    </a:lnTo>
                    <a:lnTo>
                      <a:pt x="2154" y="3816"/>
                    </a:lnTo>
                    <a:lnTo>
                      <a:pt x="2136" y="3826"/>
                    </a:lnTo>
                    <a:lnTo>
                      <a:pt x="2117" y="3836"/>
                    </a:lnTo>
                    <a:lnTo>
                      <a:pt x="2098" y="3843"/>
                    </a:lnTo>
                    <a:lnTo>
                      <a:pt x="2079" y="3851"/>
                    </a:lnTo>
                    <a:lnTo>
                      <a:pt x="2059" y="3858"/>
                    </a:lnTo>
                    <a:lnTo>
                      <a:pt x="2039" y="3863"/>
                    </a:lnTo>
                    <a:lnTo>
                      <a:pt x="2019" y="3868"/>
                    </a:lnTo>
                    <a:lnTo>
                      <a:pt x="1999" y="3871"/>
                    </a:lnTo>
                    <a:lnTo>
                      <a:pt x="1978" y="3873"/>
                    </a:lnTo>
                    <a:lnTo>
                      <a:pt x="1958" y="3874"/>
                    </a:lnTo>
                    <a:lnTo>
                      <a:pt x="1937" y="3875"/>
                    </a:lnTo>
                    <a:lnTo>
                      <a:pt x="1916" y="3874"/>
                    </a:lnTo>
                    <a:lnTo>
                      <a:pt x="1897" y="3873"/>
                    </a:lnTo>
                    <a:lnTo>
                      <a:pt x="1876" y="3871"/>
                    </a:lnTo>
                    <a:lnTo>
                      <a:pt x="1856" y="3868"/>
                    </a:lnTo>
                    <a:lnTo>
                      <a:pt x="1835" y="3863"/>
                    </a:lnTo>
                    <a:lnTo>
                      <a:pt x="1816" y="3858"/>
                    </a:lnTo>
                    <a:lnTo>
                      <a:pt x="1796" y="3851"/>
                    </a:lnTo>
                    <a:lnTo>
                      <a:pt x="1777" y="3843"/>
                    </a:lnTo>
                    <a:lnTo>
                      <a:pt x="1758" y="3836"/>
                    </a:lnTo>
                    <a:lnTo>
                      <a:pt x="1739" y="3826"/>
                    </a:lnTo>
                    <a:lnTo>
                      <a:pt x="1720" y="3816"/>
                    </a:lnTo>
                    <a:lnTo>
                      <a:pt x="1703" y="3805"/>
                    </a:lnTo>
                    <a:lnTo>
                      <a:pt x="1685" y="3793"/>
                    </a:lnTo>
                    <a:lnTo>
                      <a:pt x="1669" y="3780"/>
                    </a:lnTo>
                    <a:lnTo>
                      <a:pt x="1652" y="3766"/>
                    </a:lnTo>
                    <a:lnTo>
                      <a:pt x="1636" y="3750"/>
                    </a:lnTo>
                    <a:lnTo>
                      <a:pt x="124" y="2238"/>
                    </a:lnTo>
                    <a:lnTo>
                      <a:pt x="108" y="2223"/>
                    </a:lnTo>
                    <a:lnTo>
                      <a:pt x="95" y="2207"/>
                    </a:lnTo>
                    <a:lnTo>
                      <a:pt x="82" y="2190"/>
                    </a:lnTo>
                    <a:lnTo>
                      <a:pt x="70" y="2173"/>
                    </a:lnTo>
                    <a:lnTo>
                      <a:pt x="58" y="2154"/>
                    </a:lnTo>
                    <a:lnTo>
                      <a:pt x="48" y="2135"/>
                    </a:lnTo>
                    <a:lnTo>
                      <a:pt x="39" y="2117"/>
                    </a:lnTo>
                    <a:lnTo>
                      <a:pt x="31" y="2098"/>
                    </a:lnTo>
                    <a:lnTo>
                      <a:pt x="24" y="2078"/>
                    </a:lnTo>
                    <a:lnTo>
                      <a:pt x="18" y="2059"/>
                    </a:lnTo>
                    <a:lnTo>
                      <a:pt x="12" y="2039"/>
                    </a:lnTo>
                    <a:lnTo>
                      <a:pt x="8" y="2019"/>
                    </a:lnTo>
                    <a:lnTo>
                      <a:pt x="4" y="1998"/>
                    </a:lnTo>
                    <a:lnTo>
                      <a:pt x="2" y="1979"/>
                    </a:lnTo>
                    <a:lnTo>
                      <a:pt x="0" y="1958"/>
                    </a:lnTo>
                    <a:lnTo>
                      <a:pt x="0" y="1937"/>
                    </a:lnTo>
                    <a:lnTo>
                      <a:pt x="0" y="1917"/>
                    </a:lnTo>
                    <a:lnTo>
                      <a:pt x="2" y="1896"/>
                    </a:lnTo>
                    <a:lnTo>
                      <a:pt x="4" y="1877"/>
                    </a:lnTo>
                    <a:lnTo>
                      <a:pt x="8" y="1856"/>
                    </a:lnTo>
                    <a:lnTo>
                      <a:pt x="12" y="1836"/>
                    </a:lnTo>
                    <a:lnTo>
                      <a:pt x="18" y="1817"/>
                    </a:lnTo>
                    <a:lnTo>
                      <a:pt x="24" y="1797"/>
                    </a:lnTo>
                    <a:lnTo>
                      <a:pt x="31" y="1777"/>
                    </a:lnTo>
                    <a:lnTo>
                      <a:pt x="39" y="1758"/>
                    </a:lnTo>
                    <a:lnTo>
                      <a:pt x="48" y="1739"/>
                    </a:lnTo>
                    <a:lnTo>
                      <a:pt x="58" y="1721"/>
                    </a:lnTo>
                    <a:lnTo>
                      <a:pt x="70" y="1703"/>
                    </a:lnTo>
                    <a:lnTo>
                      <a:pt x="82" y="1685"/>
                    </a:lnTo>
                    <a:lnTo>
                      <a:pt x="95" y="1669"/>
                    </a:lnTo>
                    <a:lnTo>
                      <a:pt x="108" y="1652"/>
                    </a:lnTo>
                    <a:lnTo>
                      <a:pt x="124" y="1636"/>
                    </a:lnTo>
                    <a:lnTo>
                      <a:pt x="1636" y="125"/>
                    </a:lnTo>
                    <a:lnTo>
                      <a:pt x="1652" y="110"/>
                    </a:lnTo>
                    <a:lnTo>
                      <a:pt x="1669" y="95"/>
                    </a:lnTo>
                    <a:lnTo>
                      <a:pt x="1685" y="82"/>
                    </a:lnTo>
                    <a:lnTo>
                      <a:pt x="1703" y="70"/>
                    </a:lnTo>
                    <a:lnTo>
                      <a:pt x="1720" y="59"/>
                    </a:lnTo>
                    <a:lnTo>
                      <a:pt x="1739" y="48"/>
                    </a:lnTo>
                    <a:lnTo>
                      <a:pt x="1758" y="39"/>
                    </a:lnTo>
                    <a:lnTo>
                      <a:pt x="1777" y="31"/>
                    </a:lnTo>
                    <a:lnTo>
                      <a:pt x="1796" y="24"/>
                    </a:lnTo>
                    <a:lnTo>
                      <a:pt x="1816" y="17"/>
                    </a:lnTo>
                    <a:lnTo>
                      <a:pt x="1835" y="12"/>
                    </a:lnTo>
                    <a:lnTo>
                      <a:pt x="1856" y="8"/>
                    </a:lnTo>
                    <a:lnTo>
                      <a:pt x="1876" y="4"/>
                    </a:lnTo>
                    <a:lnTo>
                      <a:pt x="1897" y="2"/>
                    </a:lnTo>
                    <a:lnTo>
                      <a:pt x="1916" y="1"/>
                    </a:lnTo>
                    <a:lnTo>
                      <a:pt x="1937" y="0"/>
                    </a:lnTo>
                    <a:lnTo>
                      <a:pt x="1958" y="1"/>
                    </a:lnTo>
                    <a:lnTo>
                      <a:pt x="1978" y="2"/>
                    </a:lnTo>
                    <a:lnTo>
                      <a:pt x="1999" y="4"/>
                    </a:lnTo>
                    <a:lnTo>
                      <a:pt x="2019" y="8"/>
                    </a:lnTo>
                    <a:lnTo>
                      <a:pt x="2039" y="12"/>
                    </a:lnTo>
                    <a:lnTo>
                      <a:pt x="2059" y="17"/>
                    </a:lnTo>
                    <a:lnTo>
                      <a:pt x="2079" y="24"/>
                    </a:lnTo>
                    <a:lnTo>
                      <a:pt x="2098" y="31"/>
                    </a:lnTo>
                    <a:lnTo>
                      <a:pt x="2117" y="39"/>
                    </a:lnTo>
                    <a:lnTo>
                      <a:pt x="2136" y="48"/>
                    </a:lnTo>
                    <a:lnTo>
                      <a:pt x="2154" y="59"/>
                    </a:lnTo>
                    <a:lnTo>
                      <a:pt x="2172" y="70"/>
                    </a:lnTo>
                    <a:lnTo>
                      <a:pt x="2189" y="82"/>
                    </a:lnTo>
                    <a:lnTo>
                      <a:pt x="2207" y="95"/>
                    </a:lnTo>
                    <a:lnTo>
                      <a:pt x="2223" y="110"/>
                    </a:lnTo>
                    <a:lnTo>
                      <a:pt x="2239" y="125"/>
                    </a:lnTo>
                    <a:close/>
                    <a:moveTo>
                      <a:pt x="3705" y="1683"/>
                    </a:moveTo>
                    <a:lnTo>
                      <a:pt x="2193" y="171"/>
                    </a:lnTo>
                    <a:lnTo>
                      <a:pt x="2179" y="158"/>
                    </a:lnTo>
                    <a:lnTo>
                      <a:pt x="2165" y="146"/>
                    </a:lnTo>
                    <a:lnTo>
                      <a:pt x="2151" y="135"/>
                    </a:lnTo>
                    <a:lnTo>
                      <a:pt x="2137" y="125"/>
                    </a:lnTo>
                    <a:lnTo>
                      <a:pt x="2121" y="115"/>
                    </a:lnTo>
                    <a:lnTo>
                      <a:pt x="2105" y="106"/>
                    </a:lnTo>
                    <a:lnTo>
                      <a:pt x="2090" y="99"/>
                    </a:lnTo>
                    <a:lnTo>
                      <a:pt x="2073" y="92"/>
                    </a:lnTo>
                    <a:lnTo>
                      <a:pt x="2057" y="85"/>
                    </a:lnTo>
                    <a:lnTo>
                      <a:pt x="2040" y="80"/>
                    </a:lnTo>
                    <a:lnTo>
                      <a:pt x="2024" y="76"/>
                    </a:lnTo>
                    <a:lnTo>
                      <a:pt x="2006" y="72"/>
                    </a:lnTo>
                    <a:lnTo>
                      <a:pt x="1990" y="69"/>
                    </a:lnTo>
                    <a:lnTo>
                      <a:pt x="1972" y="67"/>
                    </a:lnTo>
                    <a:lnTo>
                      <a:pt x="1955" y="66"/>
                    </a:lnTo>
                    <a:lnTo>
                      <a:pt x="1937" y="66"/>
                    </a:lnTo>
                    <a:lnTo>
                      <a:pt x="1920" y="66"/>
                    </a:lnTo>
                    <a:lnTo>
                      <a:pt x="1903" y="67"/>
                    </a:lnTo>
                    <a:lnTo>
                      <a:pt x="1886" y="69"/>
                    </a:lnTo>
                    <a:lnTo>
                      <a:pt x="1868" y="72"/>
                    </a:lnTo>
                    <a:lnTo>
                      <a:pt x="1852" y="76"/>
                    </a:lnTo>
                    <a:lnTo>
                      <a:pt x="1834" y="80"/>
                    </a:lnTo>
                    <a:lnTo>
                      <a:pt x="1818" y="85"/>
                    </a:lnTo>
                    <a:lnTo>
                      <a:pt x="1801" y="92"/>
                    </a:lnTo>
                    <a:lnTo>
                      <a:pt x="1785" y="99"/>
                    </a:lnTo>
                    <a:lnTo>
                      <a:pt x="1770" y="106"/>
                    </a:lnTo>
                    <a:lnTo>
                      <a:pt x="1754" y="115"/>
                    </a:lnTo>
                    <a:lnTo>
                      <a:pt x="1739" y="125"/>
                    </a:lnTo>
                    <a:lnTo>
                      <a:pt x="1724" y="135"/>
                    </a:lnTo>
                    <a:lnTo>
                      <a:pt x="1709" y="146"/>
                    </a:lnTo>
                    <a:lnTo>
                      <a:pt x="1696" y="158"/>
                    </a:lnTo>
                    <a:lnTo>
                      <a:pt x="1682" y="171"/>
                    </a:lnTo>
                    <a:lnTo>
                      <a:pt x="170" y="1683"/>
                    </a:lnTo>
                    <a:lnTo>
                      <a:pt x="158" y="1696"/>
                    </a:lnTo>
                    <a:lnTo>
                      <a:pt x="146" y="1709"/>
                    </a:lnTo>
                    <a:lnTo>
                      <a:pt x="135" y="1724"/>
                    </a:lnTo>
                    <a:lnTo>
                      <a:pt x="124" y="1739"/>
                    </a:lnTo>
                    <a:lnTo>
                      <a:pt x="115" y="1754"/>
                    </a:lnTo>
                    <a:lnTo>
                      <a:pt x="106" y="1769"/>
                    </a:lnTo>
                    <a:lnTo>
                      <a:pt x="99" y="1786"/>
                    </a:lnTo>
                    <a:lnTo>
                      <a:pt x="91" y="1801"/>
                    </a:lnTo>
                    <a:lnTo>
                      <a:pt x="85" y="1818"/>
                    </a:lnTo>
                    <a:lnTo>
                      <a:pt x="80" y="1835"/>
                    </a:lnTo>
                    <a:lnTo>
                      <a:pt x="76" y="1852"/>
                    </a:lnTo>
                    <a:lnTo>
                      <a:pt x="71" y="1868"/>
                    </a:lnTo>
                    <a:lnTo>
                      <a:pt x="69" y="1886"/>
                    </a:lnTo>
                    <a:lnTo>
                      <a:pt x="67" y="1903"/>
                    </a:lnTo>
                    <a:lnTo>
                      <a:pt x="66" y="1921"/>
                    </a:lnTo>
                    <a:lnTo>
                      <a:pt x="65" y="1937"/>
                    </a:lnTo>
                    <a:lnTo>
                      <a:pt x="66" y="1955"/>
                    </a:lnTo>
                    <a:lnTo>
                      <a:pt x="67" y="1972"/>
                    </a:lnTo>
                    <a:lnTo>
                      <a:pt x="69" y="1990"/>
                    </a:lnTo>
                    <a:lnTo>
                      <a:pt x="71" y="2006"/>
                    </a:lnTo>
                    <a:lnTo>
                      <a:pt x="76" y="2024"/>
                    </a:lnTo>
                    <a:lnTo>
                      <a:pt x="80" y="2040"/>
                    </a:lnTo>
                    <a:lnTo>
                      <a:pt x="85" y="2058"/>
                    </a:lnTo>
                    <a:lnTo>
                      <a:pt x="91" y="2074"/>
                    </a:lnTo>
                    <a:lnTo>
                      <a:pt x="99" y="2089"/>
                    </a:lnTo>
                    <a:lnTo>
                      <a:pt x="106" y="2106"/>
                    </a:lnTo>
                    <a:lnTo>
                      <a:pt x="115" y="2121"/>
                    </a:lnTo>
                    <a:lnTo>
                      <a:pt x="124" y="2136"/>
                    </a:lnTo>
                    <a:lnTo>
                      <a:pt x="135" y="2151"/>
                    </a:lnTo>
                    <a:lnTo>
                      <a:pt x="146" y="2165"/>
                    </a:lnTo>
                    <a:lnTo>
                      <a:pt x="158" y="2179"/>
                    </a:lnTo>
                    <a:lnTo>
                      <a:pt x="170" y="2192"/>
                    </a:lnTo>
                    <a:lnTo>
                      <a:pt x="1682" y="3704"/>
                    </a:lnTo>
                    <a:lnTo>
                      <a:pt x="1696" y="3717"/>
                    </a:lnTo>
                    <a:lnTo>
                      <a:pt x="1709" y="3729"/>
                    </a:lnTo>
                    <a:lnTo>
                      <a:pt x="1724" y="3740"/>
                    </a:lnTo>
                    <a:lnTo>
                      <a:pt x="1739" y="3750"/>
                    </a:lnTo>
                    <a:lnTo>
                      <a:pt x="1754" y="3760"/>
                    </a:lnTo>
                    <a:lnTo>
                      <a:pt x="1770" y="3769"/>
                    </a:lnTo>
                    <a:lnTo>
                      <a:pt x="1785" y="3777"/>
                    </a:lnTo>
                    <a:lnTo>
                      <a:pt x="1801" y="3783"/>
                    </a:lnTo>
                    <a:lnTo>
                      <a:pt x="1818" y="3790"/>
                    </a:lnTo>
                    <a:lnTo>
                      <a:pt x="1834" y="3795"/>
                    </a:lnTo>
                    <a:lnTo>
                      <a:pt x="1852" y="3800"/>
                    </a:lnTo>
                    <a:lnTo>
                      <a:pt x="1868" y="3803"/>
                    </a:lnTo>
                    <a:lnTo>
                      <a:pt x="1886" y="3806"/>
                    </a:lnTo>
                    <a:lnTo>
                      <a:pt x="1903" y="3808"/>
                    </a:lnTo>
                    <a:lnTo>
                      <a:pt x="1920" y="3809"/>
                    </a:lnTo>
                    <a:lnTo>
                      <a:pt x="1937" y="3809"/>
                    </a:lnTo>
                    <a:lnTo>
                      <a:pt x="1955" y="3809"/>
                    </a:lnTo>
                    <a:lnTo>
                      <a:pt x="1972" y="3808"/>
                    </a:lnTo>
                    <a:lnTo>
                      <a:pt x="1990" y="3806"/>
                    </a:lnTo>
                    <a:lnTo>
                      <a:pt x="2006" y="3803"/>
                    </a:lnTo>
                    <a:lnTo>
                      <a:pt x="2024" y="3800"/>
                    </a:lnTo>
                    <a:lnTo>
                      <a:pt x="2040" y="3795"/>
                    </a:lnTo>
                    <a:lnTo>
                      <a:pt x="2057" y="3790"/>
                    </a:lnTo>
                    <a:lnTo>
                      <a:pt x="2073" y="3783"/>
                    </a:lnTo>
                    <a:lnTo>
                      <a:pt x="2090" y="3777"/>
                    </a:lnTo>
                    <a:lnTo>
                      <a:pt x="2105" y="3769"/>
                    </a:lnTo>
                    <a:lnTo>
                      <a:pt x="2121" y="3760"/>
                    </a:lnTo>
                    <a:lnTo>
                      <a:pt x="2137" y="3750"/>
                    </a:lnTo>
                    <a:lnTo>
                      <a:pt x="2151" y="3740"/>
                    </a:lnTo>
                    <a:lnTo>
                      <a:pt x="2165" y="3729"/>
                    </a:lnTo>
                    <a:lnTo>
                      <a:pt x="2179" y="3717"/>
                    </a:lnTo>
                    <a:lnTo>
                      <a:pt x="2193" y="3704"/>
                    </a:lnTo>
                    <a:lnTo>
                      <a:pt x="3705" y="2192"/>
                    </a:lnTo>
                    <a:lnTo>
                      <a:pt x="3718" y="2179"/>
                    </a:lnTo>
                    <a:lnTo>
                      <a:pt x="3729" y="2165"/>
                    </a:lnTo>
                    <a:lnTo>
                      <a:pt x="3741" y="2151"/>
                    </a:lnTo>
                    <a:lnTo>
                      <a:pt x="3751" y="2136"/>
                    </a:lnTo>
                    <a:lnTo>
                      <a:pt x="3761" y="2121"/>
                    </a:lnTo>
                    <a:lnTo>
                      <a:pt x="3768" y="2106"/>
                    </a:lnTo>
                    <a:lnTo>
                      <a:pt x="3777" y="2089"/>
                    </a:lnTo>
                    <a:lnTo>
                      <a:pt x="3784" y="2074"/>
                    </a:lnTo>
                    <a:lnTo>
                      <a:pt x="3790" y="2058"/>
                    </a:lnTo>
                    <a:lnTo>
                      <a:pt x="3794" y="2040"/>
                    </a:lnTo>
                    <a:lnTo>
                      <a:pt x="3800" y="2024"/>
                    </a:lnTo>
                    <a:lnTo>
                      <a:pt x="3803" y="2006"/>
                    </a:lnTo>
                    <a:lnTo>
                      <a:pt x="3807" y="1990"/>
                    </a:lnTo>
                    <a:lnTo>
                      <a:pt x="3809" y="1972"/>
                    </a:lnTo>
                    <a:lnTo>
                      <a:pt x="3810" y="1955"/>
                    </a:lnTo>
                    <a:lnTo>
                      <a:pt x="3810" y="1937"/>
                    </a:lnTo>
                    <a:lnTo>
                      <a:pt x="3810" y="1921"/>
                    </a:lnTo>
                    <a:lnTo>
                      <a:pt x="3809" y="1903"/>
                    </a:lnTo>
                    <a:lnTo>
                      <a:pt x="3807" y="1886"/>
                    </a:lnTo>
                    <a:lnTo>
                      <a:pt x="3803" y="1868"/>
                    </a:lnTo>
                    <a:lnTo>
                      <a:pt x="3800" y="1852"/>
                    </a:lnTo>
                    <a:lnTo>
                      <a:pt x="3794" y="1835"/>
                    </a:lnTo>
                    <a:lnTo>
                      <a:pt x="3790" y="1818"/>
                    </a:lnTo>
                    <a:lnTo>
                      <a:pt x="3784" y="1801"/>
                    </a:lnTo>
                    <a:lnTo>
                      <a:pt x="3777" y="1786"/>
                    </a:lnTo>
                    <a:lnTo>
                      <a:pt x="3768" y="1769"/>
                    </a:lnTo>
                    <a:lnTo>
                      <a:pt x="3761" y="1754"/>
                    </a:lnTo>
                    <a:lnTo>
                      <a:pt x="3751" y="1739"/>
                    </a:lnTo>
                    <a:lnTo>
                      <a:pt x="3741" y="1724"/>
                    </a:lnTo>
                    <a:lnTo>
                      <a:pt x="3729" y="1709"/>
                    </a:lnTo>
                    <a:lnTo>
                      <a:pt x="3718" y="1696"/>
                    </a:lnTo>
                    <a:lnTo>
                      <a:pt x="3705" y="1683"/>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2" name="Freeform 18"/>
              <p:cNvSpPr>
                <a:spLocks/>
              </p:cNvSpPr>
              <p:nvPr/>
            </p:nvSpPr>
            <p:spPr bwMode="auto">
              <a:xfrm>
                <a:off x="2293" y="2393"/>
                <a:ext cx="867" cy="866"/>
              </a:xfrm>
              <a:custGeom>
                <a:avLst/>
                <a:gdLst>
                  <a:gd name="T0" fmla="*/ 4218 w 4333"/>
                  <a:gd name="T1" fmla="*/ 1867 h 4332"/>
                  <a:gd name="T2" fmla="*/ 4260 w 4333"/>
                  <a:gd name="T3" fmla="*/ 1919 h 4332"/>
                  <a:gd name="T4" fmla="*/ 4292 w 4333"/>
                  <a:gd name="T5" fmla="*/ 1977 h 4332"/>
                  <a:gd name="T6" fmla="*/ 4315 w 4333"/>
                  <a:gd name="T7" fmla="*/ 2039 h 4332"/>
                  <a:gd name="T8" fmla="*/ 4328 w 4333"/>
                  <a:gd name="T9" fmla="*/ 2102 h 4332"/>
                  <a:gd name="T10" fmla="*/ 4333 w 4333"/>
                  <a:gd name="T11" fmla="*/ 2166 h 4332"/>
                  <a:gd name="T12" fmla="*/ 4328 w 4333"/>
                  <a:gd name="T13" fmla="*/ 2230 h 4332"/>
                  <a:gd name="T14" fmla="*/ 4315 w 4333"/>
                  <a:gd name="T15" fmla="*/ 2294 h 4332"/>
                  <a:gd name="T16" fmla="*/ 4292 w 4333"/>
                  <a:gd name="T17" fmla="*/ 2355 h 4332"/>
                  <a:gd name="T18" fmla="*/ 4260 w 4333"/>
                  <a:gd name="T19" fmla="*/ 2412 h 4332"/>
                  <a:gd name="T20" fmla="*/ 4218 w 4333"/>
                  <a:gd name="T21" fmla="*/ 2466 h 4332"/>
                  <a:gd name="T22" fmla="*/ 2466 w 4333"/>
                  <a:gd name="T23" fmla="*/ 4218 h 4332"/>
                  <a:gd name="T24" fmla="*/ 2413 w 4333"/>
                  <a:gd name="T25" fmla="*/ 4258 h 4332"/>
                  <a:gd name="T26" fmla="*/ 2356 w 4333"/>
                  <a:gd name="T27" fmla="*/ 4291 h 4332"/>
                  <a:gd name="T28" fmla="*/ 2294 w 4333"/>
                  <a:gd name="T29" fmla="*/ 4314 h 4332"/>
                  <a:gd name="T30" fmla="*/ 2231 w 4333"/>
                  <a:gd name="T31" fmla="*/ 4327 h 4332"/>
                  <a:gd name="T32" fmla="*/ 2167 w 4333"/>
                  <a:gd name="T33" fmla="*/ 4332 h 4332"/>
                  <a:gd name="T34" fmla="*/ 2102 w 4333"/>
                  <a:gd name="T35" fmla="*/ 4327 h 4332"/>
                  <a:gd name="T36" fmla="*/ 2039 w 4333"/>
                  <a:gd name="T37" fmla="*/ 4314 h 4332"/>
                  <a:gd name="T38" fmla="*/ 1978 w 4333"/>
                  <a:gd name="T39" fmla="*/ 4291 h 4332"/>
                  <a:gd name="T40" fmla="*/ 1921 w 4333"/>
                  <a:gd name="T41" fmla="*/ 4258 h 4332"/>
                  <a:gd name="T42" fmla="*/ 1867 w 4333"/>
                  <a:gd name="T43" fmla="*/ 4218 h 4332"/>
                  <a:gd name="T44" fmla="*/ 115 w 4333"/>
                  <a:gd name="T45" fmla="*/ 2466 h 4332"/>
                  <a:gd name="T46" fmla="*/ 73 w 4333"/>
                  <a:gd name="T47" fmla="*/ 2412 h 4332"/>
                  <a:gd name="T48" fmla="*/ 41 w 4333"/>
                  <a:gd name="T49" fmla="*/ 2355 h 4332"/>
                  <a:gd name="T50" fmla="*/ 18 w 4333"/>
                  <a:gd name="T51" fmla="*/ 2294 h 4332"/>
                  <a:gd name="T52" fmla="*/ 5 w 4333"/>
                  <a:gd name="T53" fmla="*/ 2230 h 4332"/>
                  <a:gd name="T54" fmla="*/ 0 w 4333"/>
                  <a:gd name="T55" fmla="*/ 2166 h 4332"/>
                  <a:gd name="T56" fmla="*/ 5 w 4333"/>
                  <a:gd name="T57" fmla="*/ 2102 h 4332"/>
                  <a:gd name="T58" fmla="*/ 18 w 4333"/>
                  <a:gd name="T59" fmla="*/ 2039 h 4332"/>
                  <a:gd name="T60" fmla="*/ 41 w 4333"/>
                  <a:gd name="T61" fmla="*/ 1977 h 4332"/>
                  <a:gd name="T62" fmla="*/ 73 w 4333"/>
                  <a:gd name="T63" fmla="*/ 1919 h 4332"/>
                  <a:gd name="T64" fmla="*/ 115 w 4333"/>
                  <a:gd name="T65" fmla="*/ 1867 h 4332"/>
                  <a:gd name="T66" fmla="*/ 1867 w 4333"/>
                  <a:gd name="T67" fmla="*/ 115 h 4332"/>
                  <a:gd name="T68" fmla="*/ 1921 w 4333"/>
                  <a:gd name="T69" fmla="*/ 73 h 4332"/>
                  <a:gd name="T70" fmla="*/ 1978 w 4333"/>
                  <a:gd name="T71" fmla="*/ 41 h 4332"/>
                  <a:gd name="T72" fmla="*/ 2039 w 4333"/>
                  <a:gd name="T73" fmla="*/ 18 h 4332"/>
                  <a:gd name="T74" fmla="*/ 2102 w 4333"/>
                  <a:gd name="T75" fmla="*/ 4 h 4332"/>
                  <a:gd name="T76" fmla="*/ 2167 w 4333"/>
                  <a:gd name="T77" fmla="*/ 0 h 4332"/>
                  <a:gd name="T78" fmla="*/ 2231 w 4333"/>
                  <a:gd name="T79" fmla="*/ 4 h 4332"/>
                  <a:gd name="T80" fmla="*/ 2294 w 4333"/>
                  <a:gd name="T81" fmla="*/ 18 h 4332"/>
                  <a:gd name="T82" fmla="*/ 2356 w 4333"/>
                  <a:gd name="T83" fmla="*/ 41 h 4332"/>
                  <a:gd name="T84" fmla="*/ 2413 w 4333"/>
                  <a:gd name="T85" fmla="*/ 73 h 4332"/>
                  <a:gd name="T86" fmla="*/ 2466 w 4333"/>
                  <a:gd name="T87" fmla="*/ 115 h 4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33" h="4332">
                    <a:moveTo>
                      <a:pt x="2483" y="130"/>
                    </a:moveTo>
                    <a:lnTo>
                      <a:pt x="4203" y="1850"/>
                    </a:lnTo>
                    <a:lnTo>
                      <a:pt x="4218" y="1867"/>
                    </a:lnTo>
                    <a:lnTo>
                      <a:pt x="4233" y="1883"/>
                    </a:lnTo>
                    <a:lnTo>
                      <a:pt x="4247" y="1902"/>
                    </a:lnTo>
                    <a:lnTo>
                      <a:pt x="4260" y="1919"/>
                    </a:lnTo>
                    <a:lnTo>
                      <a:pt x="4271" y="1939"/>
                    </a:lnTo>
                    <a:lnTo>
                      <a:pt x="4282" y="1958"/>
                    </a:lnTo>
                    <a:lnTo>
                      <a:pt x="4292" y="1977"/>
                    </a:lnTo>
                    <a:lnTo>
                      <a:pt x="4300" y="1997"/>
                    </a:lnTo>
                    <a:lnTo>
                      <a:pt x="4308" y="2018"/>
                    </a:lnTo>
                    <a:lnTo>
                      <a:pt x="4315" y="2039"/>
                    </a:lnTo>
                    <a:lnTo>
                      <a:pt x="4320" y="2059"/>
                    </a:lnTo>
                    <a:lnTo>
                      <a:pt x="4325" y="2080"/>
                    </a:lnTo>
                    <a:lnTo>
                      <a:pt x="4328" y="2102"/>
                    </a:lnTo>
                    <a:lnTo>
                      <a:pt x="4331" y="2123"/>
                    </a:lnTo>
                    <a:lnTo>
                      <a:pt x="4332" y="2145"/>
                    </a:lnTo>
                    <a:lnTo>
                      <a:pt x="4333" y="2166"/>
                    </a:lnTo>
                    <a:lnTo>
                      <a:pt x="4332" y="2188"/>
                    </a:lnTo>
                    <a:lnTo>
                      <a:pt x="4331" y="2210"/>
                    </a:lnTo>
                    <a:lnTo>
                      <a:pt x="4328" y="2230"/>
                    </a:lnTo>
                    <a:lnTo>
                      <a:pt x="4325" y="2251"/>
                    </a:lnTo>
                    <a:lnTo>
                      <a:pt x="4320" y="2273"/>
                    </a:lnTo>
                    <a:lnTo>
                      <a:pt x="4315" y="2294"/>
                    </a:lnTo>
                    <a:lnTo>
                      <a:pt x="4308" y="2315"/>
                    </a:lnTo>
                    <a:lnTo>
                      <a:pt x="4300" y="2334"/>
                    </a:lnTo>
                    <a:lnTo>
                      <a:pt x="4292" y="2355"/>
                    </a:lnTo>
                    <a:lnTo>
                      <a:pt x="4282" y="2374"/>
                    </a:lnTo>
                    <a:lnTo>
                      <a:pt x="4271" y="2394"/>
                    </a:lnTo>
                    <a:lnTo>
                      <a:pt x="4260" y="2412"/>
                    </a:lnTo>
                    <a:lnTo>
                      <a:pt x="4247" y="2431"/>
                    </a:lnTo>
                    <a:lnTo>
                      <a:pt x="4233" y="2448"/>
                    </a:lnTo>
                    <a:lnTo>
                      <a:pt x="4218" y="2466"/>
                    </a:lnTo>
                    <a:lnTo>
                      <a:pt x="4203" y="2482"/>
                    </a:lnTo>
                    <a:lnTo>
                      <a:pt x="2483" y="4201"/>
                    </a:lnTo>
                    <a:lnTo>
                      <a:pt x="2466" y="4218"/>
                    </a:lnTo>
                    <a:lnTo>
                      <a:pt x="2449" y="4232"/>
                    </a:lnTo>
                    <a:lnTo>
                      <a:pt x="2431" y="4246"/>
                    </a:lnTo>
                    <a:lnTo>
                      <a:pt x="2413" y="4258"/>
                    </a:lnTo>
                    <a:lnTo>
                      <a:pt x="2394" y="4270"/>
                    </a:lnTo>
                    <a:lnTo>
                      <a:pt x="2375" y="4281"/>
                    </a:lnTo>
                    <a:lnTo>
                      <a:pt x="2356" y="4291"/>
                    </a:lnTo>
                    <a:lnTo>
                      <a:pt x="2335" y="4300"/>
                    </a:lnTo>
                    <a:lnTo>
                      <a:pt x="2315" y="4308"/>
                    </a:lnTo>
                    <a:lnTo>
                      <a:pt x="2294" y="4314"/>
                    </a:lnTo>
                    <a:lnTo>
                      <a:pt x="2273" y="4320"/>
                    </a:lnTo>
                    <a:lnTo>
                      <a:pt x="2253" y="4324"/>
                    </a:lnTo>
                    <a:lnTo>
                      <a:pt x="2231" y="4327"/>
                    </a:lnTo>
                    <a:lnTo>
                      <a:pt x="2210" y="4331"/>
                    </a:lnTo>
                    <a:lnTo>
                      <a:pt x="2188" y="4332"/>
                    </a:lnTo>
                    <a:lnTo>
                      <a:pt x="2167" y="4332"/>
                    </a:lnTo>
                    <a:lnTo>
                      <a:pt x="2145" y="4332"/>
                    </a:lnTo>
                    <a:lnTo>
                      <a:pt x="2123" y="4331"/>
                    </a:lnTo>
                    <a:lnTo>
                      <a:pt x="2102" y="4327"/>
                    </a:lnTo>
                    <a:lnTo>
                      <a:pt x="2081" y="4324"/>
                    </a:lnTo>
                    <a:lnTo>
                      <a:pt x="2060" y="4320"/>
                    </a:lnTo>
                    <a:lnTo>
                      <a:pt x="2039" y="4314"/>
                    </a:lnTo>
                    <a:lnTo>
                      <a:pt x="2018" y="4308"/>
                    </a:lnTo>
                    <a:lnTo>
                      <a:pt x="1998" y="4300"/>
                    </a:lnTo>
                    <a:lnTo>
                      <a:pt x="1978" y="4291"/>
                    </a:lnTo>
                    <a:lnTo>
                      <a:pt x="1958" y="4281"/>
                    </a:lnTo>
                    <a:lnTo>
                      <a:pt x="1939" y="4270"/>
                    </a:lnTo>
                    <a:lnTo>
                      <a:pt x="1921" y="4258"/>
                    </a:lnTo>
                    <a:lnTo>
                      <a:pt x="1902" y="4246"/>
                    </a:lnTo>
                    <a:lnTo>
                      <a:pt x="1884" y="4232"/>
                    </a:lnTo>
                    <a:lnTo>
                      <a:pt x="1867" y="4218"/>
                    </a:lnTo>
                    <a:lnTo>
                      <a:pt x="1850" y="4201"/>
                    </a:lnTo>
                    <a:lnTo>
                      <a:pt x="131" y="2482"/>
                    </a:lnTo>
                    <a:lnTo>
                      <a:pt x="115" y="2466"/>
                    </a:lnTo>
                    <a:lnTo>
                      <a:pt x="101" y="2448"/>
                    </a:lnTo>
                    <a:lnTo>
                      <a:pt x="86" y="2431"/>
                    </a:lnTo>
                    <a:lnTo>
                      <a:pt x="73" y="2412"/>
                    </a:lnTo>
                    <a:lnTo>
                      <a:pt x="62" y="2394"/>
                    </a:lnTo>
                    <a:lnTo>
                      <a:pt x="51" y="2374"/>
                    </a:lnTo>
                    <a:lnTo>
                      <a:pt x="41" y="2355"/>
                    </a:lnTo>
                    <a:lnTo>
                      <a:pt x="33" y="2334"/>
                    </a:lnTo>
                    <a:lnTo>
                      <a:pt x="25" y="2315"/>
                    </a:lnTo>
                    <a:lnTo>
                      <a:pt x="18" y="2294"/>
                    </a:lnTo>
                    <a:lnTo>
                      <a:pt x="13" y="2273"/>
                    </a:lnTo>
                    <a:lnTo>
                      <a:pt x="9" y="2251"/>
                    </a:lnTo>
                    <a:lnTo>
                      <a:pt x="5" y="2230"/>
                    </a:lnTo>
                    <a:lnTo>
                      <a:pt x="2" y="2210"/>
                    </a:lnTo>
                    <a:lnTo>
                      <a:pt x="1" y="2188"/>
                    </a:lnTo>
                    <a:lnTo>
                      <a:pt x="0" y="2166"/>
                    </a:lnTo>
                    <a:lnTo>
                      <a:pt x="1" y="2145"/>
                    </a:lnTo>
                    <a:lnTo>
                      <a:pt x="2" y="2123"/>
                    </a:lnTo>
                    <a:lnTo>
                      <a:pt x="5" y="2102"/>
                    </a:lnTo>
                    <a:lnTo>
                      <a:pt x="9" y="2080"/>
                    </a:lnTo>
                    <a:lnTo>
                      <a:pt x="13" y="2059"/>
                    </a:lnTo>
                    <a:lnTo>
                      <a:pt x="18" y="2039"/>
                    </a:lnTo>
                    <a:lnTo>
                      <a:pt x="25" y="2018"/>
                    </a:lnTo>
                    <a:lnTo>
                      <a:pt x="33" y="1997"/>
                    </a:lnTo>
                    <a:lnTo>
                      <a:pt x="41" y="1977"/>
                    </a:lnTo>
                    <a:lnTo>
                      <a:pt x="51" y="1958"/>
                    </a:lnTo>
                    <a:lnTo>
                      <a:pt x="62" y="1939"/>
                    </a:lnTo>
                    <a:lnTo>
                      <a:pt x="73" y="1919"/>
                    </a:lnTo>
                    <a:lnTo>
                      <a:pt x="86" y="1902"/>
                    </a:lnTo>
                    <a:lnTo>
                      <a:pt x="101" y="1883"/>
                    </a:lnTo>
                    <a:lnTo>
                      <a:pt x="115" y="1867"/>
                    </a:lnTo>
                    <a:lnTo>
                      <a:pt x="131" y="1850"/>
                    </a:lnTo>
                    <a:lnTo>
                      <a:pt x="1850" y="130"/>
                    </a:lnTo>
                    <a:lnTo>
                      <a:pt x="1867" y="115"/>
                    </a:lnTo>
                    <a:lnTo>
                      <a:pt x="1884" y="99"/>
                    </a:lnTo>
                    <a:lnTo>
                      <a:pt x="1902" y="86"/>
                    </a:lnTo>
                    <a:lnTo>
                      <a:pt x="1921" y="73"/>
                    </a:lnTo>
                    <a:lnTo>
                      <a:pt x="1939" y="62"/>
                    </a:lnTo>
                    <a:lnTo>
                      <a:pt x="1958" y="51"/>
                    </a:lnTo>
                    <a:lnTo>
                      <a:pt x="1978" y="41"/>
                    </a:lnTo>
                    <a:lnTo>
                      <a:pt x="1998" y="33"/>
                    </a:lnTo>
                    <a:lnTo>
                      <a:pt x="2018" y="25"/>
                    </a:lnTo>
                    <a:lnTo>
                      <a:pt x="2039" y="18"/>
                    </a:lnTo>
                    <a:lnTo>
                      <a:pt x="2060" y="13"/>
                    </a:lnTo>
                    <a:lnTo>
                      <a:pt x="2081" y="8"/>
                    </a:lnTo>
                    <a:lnTo>
                      <a:pt x="2102" y="4"/>
                    </a:lnTo>
                    <a:lnTo>
                      <a:pt x="2123" y="2"/>
                    </a:lnTo>
                    <a:lnTo>
                      <a:pt x="2145" y="1"/>
                    </a:lnTo>
                    <a:lnTo>
                      <a:pt x="2167" y="0"/>
                    </a:lnTo>
                    <a:lnTo>
                      <a:pt x="2188" y="1"/>
                    </a:lnTo>
                    <a:lnTo>
                      <a:pt x="2210" y="2"/>
                    </a:lnTo>
                    <a:lnTo>
                      <a:pt x="2231" y="4"/>
                    </a:lnTo>
                    <a:lnTo>
                      <a:pt x="2253" y="8"/>
                    </a:lnTo>
                    <a:lnTo>
                      <a:pt x="2273" y="13"/>
                    </a:lnTo>
                    <a:lnTo>
                      <a:pt x="2294" y="18"/>
                    </a:lnTo>
                    <a:lnTo>
                      <a:pt x="2315" y="25"/>
                    </a:lnTo>
                    <a:lnTo>
                      <a:pt x="2335" y="33"/>
                    </a:lnTo>
                    <a:lnTo>
                      <a:pt x="2356" y="41"/>
                    </a:lnTo>
                    <a:lnTo>
                      <a:pt x="2375" y="51"/>
                    </a:lnTo>
                    <a:lnTo>
                      <a:pt x="2394" y="62"/>
                    </a:lnTo>
                    <a:lnTo>
                      <a:pt x="2413" y="73"/>
                    </a:lnTo>
                    <a:lnTo>
                      <a:pt x="2431" y="86"/>
                    </a:lnTo>
                    <a:lnTo>
                      <a:pt x="2449" y="99"/>
                    </a:lnTo>
                    <a:lnTo>
                      <a:pt x="2466" y="115"/>
                    </a:lnTo>
                    <a:lnTo>
                      <a:pt x="2483" y="130"/>
                    </a:lnTo>
                    <a:close/>
                  </a:path>
                </a:pathLst>
              </a:custGeom>
              <a:solidFill>
                <a:srgbClr val="2E3A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3" name="Freeform 19"/>
              <p:cNvSpPr>
                <a:spLocks/>
              </p:cNvSpPr>
              <p:nvPr/>
            </p:nvSpPr>
            <p:spPr bwMode="auto">
              <a:xfrm>
                <a:off x="2345" y="2445"/>
                <a:ext cx="762" cy="762"/>
              </a:xfrm>
              <a:custGeom>
                <a:avLst/>
                <a:gdLst>
                  <a:gd name="T0" fmla="*/ 3709 w 3809"/>
                  <a:gd name="T1" fmla="*/ 1641 h 3809"/>
                  <a:gd name="T2" fmla="*/ 3745 w 3809"/>
                  <a:gd name="T3" fmla="*/ 1688 h 3809"/>
                  <a:gd name="T4" fmla="*/ 3773 w 3809"/>
                  <a:gd name="T5" fmla="*/ 1738 h 3809"/>
                  <a:gd name="T6" fmla="*/ 3793 w 3809"/>
                  <a:gd name="T7" fmla="*/ 1792 h 3809"/>
                  <a:gd name="T8" fmla="*/ 3805 w 3809"/>
                  <a:gd name="T9" fmla="*/ 1848 h 3809"/>
                  <a:gd name="T10" fmla="*/ 3809 w 3809"/>
                  <a:gd name="T11" fmla="*/ 1904 h 3809"/>
                  <a:gd name="T12" fmla="*/ 3805 w 3809"/>
                  <a:gd name="T13" fmla="*/ 1961 h 3809"/>
                  <a:gd name="T14" fmla="*/ 3793 w 3809"/>
                  <a:gd name="T15" fmla="*/ 2017 h 3809"/>
                  <a:gd name="T16" fmla="*/ 3773 w 3809"/>
                  <a:gd name="T17" fmla="*/ 2070 h 3809"/>
                  <a:gd name="T18" fmla="*/ 3745 w 3809"/>
                  <a:gd name="T19" fmla="*/ 2121 h 3809"/>
                  <a:gd name="T20" fmla="*/ 3709 w 3809"/>
                  <a:gd name="T21" fmla="*/ 2168 h 3809"/>
                  <a:gd name="T22" fmla="*/ 2168 w 3809"/>
                  <a:gd name="T23" fmla="*/ 3708 h 3809"/>
                  <a:gd name="T24" fmla="*/ 2121 w 3809"/>
                  <a:gd name="T25" fmla="*/ 3744 h 3809"/>
                  <a:gd name="T26" fmla="*/ 2071 w 3809"/>
                  <a:gd name="T27" fmla="*/ 3773 h 3809"/>
                  <a:gd name="T28" fmla="*/ 2017 w 3809"/>
                  <a:gd name="T29" fmla="*/ 3793 h 3809"/>
                  <a:gd name="T30" fmla="*/ 1961 w 3809"/>
                  <a:gd name="T31" fmla="*/ 3805 h 3809"/>
                  <a:gd name="T32" fmla="*/ 1905 w 3809"/>
                  <a:gd name="T33" fmla="*/ 3809 h 3809"/>
                  <a:gd name="T34" fmla="*/ 1848 w 3809"/>
                  <a:gd name="T35" fmla="*/ 3805 h 3809"/>
                  <a:gd name="T36" fmla="*/ 1792 w 3809"/>
                  <a:gd name="T37" fmla="*/ 3793 h 3809"/>
                  <a:gd name="T38" fmla="*/ 1739 w 3809"/>
                  <a:gd name="T39" fmla="*/ 3773 h 3809"/>
                  <a:gd name="T40" fmla="*/ 1688 w 3809"/>
                  <a:gd name="T41" fmla="*/ 3744 h 3809"/>
                  <a:gd name="T42" fmla="*/ 1641 w 3809"/>
                  <a:gd name="T43" fmla="*/ 3708 h 3809"/>
                  <a:gd name="T44" fmla="*/ 100 w 3809"/>
                  <a:gd name="T45" fmla="*/ 2168 h 3809"/>
                  <a:gd name="T46" fmla="*/ 64 w 3809"/>
                  <a:gd name="T47" fmla="*/ 2121 h 3809"/>
                  <a:gd name="T48" fmla="*/ 36 w 3809"/>
                  <a:gd name="T49" fmla="*/ 2070 h 3809"/>
                  <a:gd name="T50" fmla="*/ 16 w 3809"/>
                  <a:gd name="T51" fmla="*/ 2017 h 3809"/>
                  <a:gd name="T52" fmla="*/ 4 w 3809"/>
                  <a:gd name="T53" fmla="*/ 1961 h 3809"/>
                  <a:gd name="T54" fmla="*/ 0 w 3809"/>
                  <a:gd name="T55" fmla="*/ 1904 h 3809"/>
                  <a:gd name="T56" fmla="*/ 4 w 3809"/>
                  <a:gd name="T57" fmla="*/ 1848 h 3809"/>
                  <a:gd name="T58" fmla="*/ 16 w 3809"/>
                  <a:gd name="T59" fmla="*/ 1792 h 3809"/>
                  <a:gd name="T60" fmla="*/ 36 w 3809"/>
                  <a:gd name="T61" fmla="*/ 1738 h 3809"/>
                  <a:gd name="T62" fmla="*/ 64 w 3809"/>
                  <a:gd name="T63" fmla="*/ 1688 h 3809"/>
                  <a:gd name="T64" fmla="*/ 100 w 3809"/>
                  <a:gd name="T65" fmla="*/ 1641 h 3809"/>
                  <a:gd name="T66" fmla="*/ 1641 w 3809"/>
                  <a:gd name="T67" fmla="*/ 100 h 3809"/>
                  <a:gd name="T68" fmla="*/ 1688 w 3809"/>
                  <a:gd name="T69" fmla="*/ 64 h 3809"/>
                  <a:gd name="T70" fmla="*/ 1739 w 3809"/>
                  <a:gd name="T71" fmla="*/ 36 h 3809"/>
                  <a:gd name="T72" fmla="*/ 1792 w 3809"/>
                  <a:gd name="T73" fmla="*/ 16 h 3809"/>
                  <a:gd name="T74" fmla="*/ 1848 w 3809"/>
                  <a:gd name="T75" fmla="*/ 4 h 3809"/>
                  <a:gd name="T76" fmla="*/ 1905 w 3809"/>
                  <a:gd name="T77" fmla="*/ 0 h 3809"/>
                  <a:gd name="T78" fmla="*/ 1961 w 3809"/>
                  <a:gd name="T79" fmla="*/ 4 h 3809"/>
                  <a:gd name="T80" fmla="*/ 2017 w 3809"/>
                  <a:gd name="T81" fmla="*/ 16 h 3809"/>
                  <a:gd name="T82" fmla="*/ 2071 w 3809"/>
                  <a:gd name="T83" fmla="*/ 36 h 3809"/>
                  <a:gd name="T84" fmla="*/ 2121 w 3809"/>
                  <a:gd name="T85" fmla="*/ 64 h 3809"/>
                  <a:gd name="T86" fmla="*/ 2168 w 3809"/>
                  <a:gd name="T87" fmla="*/ 100 h 3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09" h="3809">
                    <a:moveTo>
                      <a:pt x="2182" y="115"/>
                    </a:moveTo>
                    <a:lnTo>
                      <a:pt x="3694" y="1625"/>
                    </a:lnTo>
                    <a:lnTo>
                      <a:pt x="3709" y="1641"/>
                    </a:lnTo>
                    <a:lnTo>
                      <a:pt x="3722" y="1656"/>
                    </a:lnTo>
                    <a:lnTo>
                      <a:pt x="3734" y="1671"/>
                    </a:lnTo>
                    <a:lnTo>
                      <a:pt x="3745" y="1688"/>
                    </a:lnTo>
                    <a:lnTo>
                      <a:pt x="3756" y="1704"/>
                    </a:lnTo>
                    <a:lnTo>
                      <a:pt x="3765" y="1721"/>
                    </a:lnTo>
                    <a:lnTo>
                      <a:pt x="3773" y="1738"/>
                    </a:lnTo>
                    <a:lnTo>
                      <a:pt x="3781" y="1756"/>
                    </a:lnTo>
                    <a:lnTo>
                      <a:pt x="3788" y="1773"/>
                    </a:lnTo>
                    <a:lnTo>
                      <a:pt x="3793" y="1792"/>
                    </a:lnTo>
                    <a:lnTo>
                      <a:pt x="3798" y="1811"/>
                    </a:lnTo>
                    <a:lnTo>
                      <a:pt x="3803" y="1829"/>
                    </a:lnTo>
                    <a:lnTo>
                      <a:pt x="3805" y="1848"/>
                    </a:lnTo>
                    <a:lnTo>
                      <a:pt x="3807" y="1866"/>
                    </a:lnTo>
                    <a:lnTo>
                      <a:pt x="3809" y="1885"/>
                    </a:lnTo>
                    <a:lnTo>
                      <a:pt x="3809" y="1904"/>
                    </a:lnTo>
                    <a:lnTo>
                      <a:pt x="3809" y="1923"/>
                    </a:lnTo>
                    <a:lnTo>
                      <a:pt x="3807" y="1942"/>
                    </a:lnTo>
                    <a:lnTo>
                      <a:pt x="3805" y="1961"/>
                    </a:lnTo>
                    <a:lnTo>
                      <a:pt x="3803" y="1979"/>
                    </a:lnTo>
                    <a:lnTo>
                      <a:pt x="3798" y="1998"/>
                    </a:lnTo>
                    <a:lnTo>
                      <a:pt x="3793" y="2017"/>
                    </a:lnTo>
                    <a:lnTo>
                      <a:pt x="3788" y="2034"/>
                    </a:lnTo>
                    <a:lnTo>
                      <a:pt x="3781" y="2053"/>
                    </a:lnTo>
                    <a:lnTo>
                      <a:pt x="3773" y="2070"/>
                    </a:lnTo>
                    <a:lnTo>
                      <a:pt x="3765" y="2088"/>
                    </a:lnTo>
                    <a:lnTo>
                      <a:pt x="3756" y="2104"/>
                    </a:lnTo>
                    <a:lnTo>
                      <a:pt x="3745" y="2121"/>
                    </a:lnTo>
                    <a:lnTo>
                      <a:pt x="3734" y="2137"/>
                    </a:lnTo>
                    <a:lnTo>
                      <a:pt x="3722" y="2152"/>
                    </a:lnTo>
                    <a:lnTo>
                      <a:pt x="3709" y="2168"/>
                    </a:lnTo>
                    <a:lnTo>
                      <a:pt x="3694" y="2182"/>
                    </a:lnTo>
                    <a:lnTo>
                      <a:pt x="2182" y="3694"/>
                    </a:lnTo>
                    <a:lnTo>
                      <a:pt x="2168" y="3708"/>
                    </a:lnTo>
                    <a:lnTo>
                      <a:pt x="2153" y="3721"/>
                    </a:lnTo>
                    <a:lnTo>
                      <a:pt x="2137" y="3733"/>
                    </a:lnTo>
                    <a:lnTo>
                      <a:pt x="2121" y="3744"/>
                    </a:lnTo>
                    <a:lnTo>
                      <a:pt x="2104" y="3754"/>
                    </a:lnTo>
                    <a:lnTo>
                      <a:pt x="2088" y="3764"/>
                    </a:lnTo>
                    <a:lnTo>
                      <a:pt x="2071" y="3773"/>
                    </a:lnTo>
                    <a:lnTo>
                      <a:pt x="2053" y="3781"/>
                    </a:lnTo>
                    <a:lnTo>
                      <a:pt x="2034" y="3787"/>
                    </a:lnTo>
                    <a:lnTo>
                      <a:pt x="2017" y="3793"/>
                    </a:lnTo>
                    <a:lnTo>
                      <a:pt x="1998" y="3798"/>
                    </a:lnTo>
                    <a:lnTo>
                      <a:pt x="1980" y="3801"/>
                    </a:lnTo>
                    <a:lnTo>
                      <a:pt x="1961" y="3805"/>
                    </a:lnTo>
                    <a:lnTo>
                      <a:pt x="1942" y="3807"/>
                    </a:lnTo>
                    <a:lnTo>
                      <a:pt x="1924" y="3809"/>
                    </a:lnTo>
                    <a:lnTo>
                      <a:pt x="1905" y="3809"/>
                    </a:lnTo>
                    <a:lnTo>
                      <a:pt x="1885" y="3809"/>
                    </a:lnTo>
                    <a:lnTo>
                      <a:pt x="1867" y="3807"/>
                    </a:lnTo>
                    <a:lnTo>
                      <a:pt x="1848" y="3805"/>
                    </a:lnTo>
                    <a:lnTo>
                      <a:pt x="1829" y="3801"/>
                    </a:lnTo>
                    <a:lnTo>
                      <a:pt x="1811" y="3798"/>
                    </a:lnTo>
                    <a:lnTo>
                      <a:pt x="1792" y="3793"/>
                    </a:lnTo>
                    <a:lnTo>
                      <a:pt x="1775" y="3787"/>
                    </a:lnTo>
                    <a:lnTo>
                      <a:pt x="1756" y="3781"/>
                    </a:lnTo>
                    <a:lnTo>
                      <a:pt x="1739" y="3773"/>
                    </a:lnTo>
                    <a:lnTo>
                      <a:pt x="1721" y="3764"/>
                    </a:lnTo>
                    <a:lnTo>
                      <a:pt x="1705" y="3754"/>
                    </a:lnTo>
                    <a:lnTo>
                      <a:pt x="1688" y="3744"/>
                    </a:lnTo>
                    <a:lnTo>
                      <a:pt x="1672" y="3733"/>
                    </a:lnTo>
                    <a:lnTo>
                      <a:pt x="1656" y="3721"/>
                    </a:lnTo>
                    <a:lnTo>
                      <a:pt x="1641" y="3708"/>
                    </a:lnTo>
                    <a:lnTo>
                      <a:pt x="1627" y="3694"/>
                    </a:lnTo>
                    <a:lnTo>
                      <a:pt x="115" y="2182"/>
                    </a:lnTo>
                    <a:lnTo>
                      <a:pt x="100" y="2168"/>
                    </a:lnTo>
                    <a:lnTo>
                      <a:pt x="87" y="2152"/>
                    </a:lnTo>
                    <a:lnTo>
                      <a:pt x="75" y="2137"/>
                    </a:lnTo>
                    <a:lnTo>
                      <a:pt x="64" y="2121"/>
                    </a:lnTo>
                    <a:lnTo>
                      <a:pt x="53" y="2104"/>
                    </a:lnTo>
                    <a:lnTo>
                      <a:pt x="45" y="2088"/>
                    </a:lnTo>
                    <a:lnTo>
                      <a:pt x="36" y="2070"/>
                    </a:lnTo>
                    <a:lnTo>
                      <a:pt x="28" y="2053"/>
                    </a:lnTo>
                    <a:lnTo>
                      <a:pt x="22" y="2034"/>
                    </a:lnTo>
                    <a:lnTo>
                      <a:pt x="16" y="2017"/>
                    </a:lnTo>
                    <a:lnTo>
                      <a:pt x="11" y="1998"/>
                    </a:lnTo>
                    <a:lnTo>
                      <a:pt x="6" y="1979"/>
                    </a:lnTo>
                    <a:lnTo>
                      <a:pt x="4" y="1961"/>
                    </a:lnTo>
                    <a:lnTo>
                      <a:pt x="2" y="1942"/>
                    </a:lnTo>
                    <a:lnTo>
                      <a:pt x="0" y="1923"/>
                    </a:lnTo>
                    <a:lnTo>
                      <a:pt x="0" y="1904"/>
                    </a:lnTo>
                    <a:lnTo>
                      <a:pt x="0" y="1885"/>
                    </a:lnTo>
                    <a:lnTo>
                      <a:pt x="2" y="1866"/>
                    </a:lnTo>
                    <a:lnTo>
                      <a:pt x="4" y="1848"/>
                    </a:lnTo>
                    <a:lnTo>
                      <a:pt x="6" y="1829"/>
                    </a:lnTo>
                    <a:lnTo>
                      <a:pt x="11" y="1811"/>
                    </a:lnTo>
                    <a:lnTo>
                      <a:pt x="16" y="1792"/>
                    </a:lnTo>
                    <a:lnTo>
                      <a:pt x="22" y="1773"/>
                    </a:lnTo>
                    <a:lnTo>
                      <a:pt x="28" y="1756"/>
                    </a:lnTo>
                    <a:lnTo>
                      <a:pt x="36" y="1738"/>
                    </a:lnTo>
                    <a:lnTo>
                      <a:pt x="45" y="1721"/>
                    </a:lnTo>
                    <a:lnTo>
                      <a:pt x="53" y="1704"/>
                    </a:lnTo>
                    <a:lnTo>
                      <a:pt x="64" y="1688"/>
                    </a:lnTo>
                    <a:lnTo>
                      <a:pt x="75" y="1671"/>
                    </a:lnTo>
                    <a:lnTo>
                      <a:pt x="87" y="1656"/>
                    </a:lnTo>
                    <a:lnTo>
                      <a:pt x="100" y="1641"/>
                    </a:lnTo>
                    <a:lnTo>
                      <a:pt x="115" y="1625"/>
                    </a:lnTo>
                    <a:lnTo>
                      <a:pt x="1627" y="115"/>
                    </a:lnTo>
                    <a:lnTo>
                      <a:pt x="1641" y="100"/>
                    </a:lnTo>
                    <a:lnTo>
                      <a:pt x="1656" y="87"/>
                    </a:lnTo>
                    <a:lnTo>
                      <a:pt x="1672" y="75"/>
                    </a:lnTo>
                    <a:lnTo>
                      <a:pt x="1688" y="64"/>
                    </a:lnTo>
                    <a:lnTo>
                      <a:pt x="1705" y="53"/>
                    </a:lnTo>
                    <a:lnTo>
                      <a:pt x="1721" y="44"/>
                    </a:lnTo>
                    <a:lnTo>
                      <a:pt x="1739" y="36"/>
                    </a:lnTo>
                    <a:lnTo>
                      <a:pt x="1756" y="28"/>
                    </a:lnTo>
                    <a:lnTo>
                      <a:pt x="1775" y="21"/>
                    </a:lnTo>
                    <a:lnTo>
                      <a:pt x="1792" y="16"/>
                    </a:lnTo>
                    <a:lnTo>
                      <a:pt x="1811" y="10"/>
                    </a:lnTo>
                    <a:lnTo>
                      <a:pt x="1829" y="6"/>
                    </a:lnTo>
                    <a:lnTo>
                      <a:pt x="1848" y="4"/>
                    </a:lnTo>
                    <a:lnTo>
                      <a:pt x="1867" y="1"/>
                    </a:lnTo>
                    <a:lnTo>
                      <a:pt x="1885" y="0"/>
                    </a:lnTo>
                    <a:lnTo>
                      <a:pt x="1905" y="0"/>
                    </a:lnTo>
                    <a:lnTo>
                      <a:pt x="1924" y="0"/>
                    </a:lnTo>
                    <a:lnTo>
                      <a:pt x="1942" y="1"/>
                    </a:lnTo>
                    <a:lnTo>
                      <a:pt x="1961" y="4"/>
                    </a:lnTo>
                    <a:lnTo>
                      <a:pt x="1980" y="6"/>
                    </a:lnTo>
                    <a:lnTo>
                      <a:pt x="1998" y="10"/>
                    </a:lnTo>
                    <a:lnTo>
                      <a:pt x="2017" y="16"/>
                    </a:lnTo>
                    <a:lnTo>
                      <a:pt x="2034" y="21"/>
                    </a:lnTo>
                    <a:lnTo>
                      <a:pt x="2053" y="28"/>
                    </a:lnTo>
                    <a:lnTo>
                      <a:pt x="2071" y="36"/>
                    </a:lnTo>
                    <a:lnTo>
                      <a:pt x="2088" y="44"/>
                    </a:lnTo>
                    <a:lnTo>
                      <a:pt x="2104" y="53"/>
                    </a:lnTo>
                    <a:lnTo>
                      <a:pt x="2121" y="64"/>
                    </a:lnTo>
                    <a:lnTo>
                      <a:pt x="2137" y="75"/>
                    </a:lnTo>
                    <a:lnTo>
                      <a:pt x="2153" y="87"/>
                    </a:lnTo>
                    <a:lnTo>
                      <a:pt x="2168" y="100"/>
                    </a:lnTo>
                    <a:lnTo>
                      <a:pt x="2182" y="115"/>
                    </a:lnTo>
                    <a:close/>
                  </a:path>
                </a:pathLst>
              </a:custGeom>
              <a:solidFill>
                <a:srgbClr val="2A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4" name="Freeform 20"/>
              <p:cNvSpPr>
                <a:spLocks noEditPoints="1"/>
              </p:cNvSpPr>
              <p:nvPr/>
            </p:nvSpPr>
            <p:spPr bwMode="auto">
              <a:xfrm>
                <a:off x="2339" y="2439"/>
                <a:ext cx="775" cy="775"/>
              </a:xfrm>
              <a:custGeom>
                <a:avLst/>
                <a:gdLst>
                  <a:gd name="T0" fmla="*/ 3793 w 3875"/>
                  <a:gd name="T1" fmla="*/ 1685 h 3875"/>
                  <a:gd name="T2" fmla="*/ 3845 w 3875"/>
                  <a:gd name="T3" fmla="*/ 1777 h 3875"/>
                  <a:gd name="T4" fmla="*/ 3871 w 3875"/>
                  <a:gd name="T5" fmla="*/ 1875 h 3875"/>
                  <a:gd name="T6" fmla="*/ 3873 w 3875"/>
                  <a:gd name="T7" fmla="*/ 1978 h 3875"/>
                  <a:gd name="T8" fmla="*/ 3851 w 3875"/>
                  <a:gd name="T9" fmla="*/ 2078 h 3875"/>
                  <a:gd name="T10" fmla="*/ 3805 w 3875"/>
                  <a:gd name="T11" fmla="*/ 2172 h 3875"/>
                  <a:gd name="T12" fmla="*/ 2239 w 3875"/>
                  <a:gd name="T13" fmla="*/ 3750 h 3875"/>
                  <a:gd name="T14" fmla="*/ 2154 w 3875"/>
                  <a:gd name="T15" fmla="*/ 3816 h 3875"/>
                  <a:gd name="T16" fmla="*/ 2059 w 3875"/>
                  <a:gd name="T17" fmla="*/ 3857 h 3875"/>
                  <a:gd name="T18" fmla="*/ 1958 w 3875"/>
                  <a:gd name="T19" fmla="*/ 3874 h 3875"/>
                  <a:gd name="T20" fmla="*/ 1856 w 3875"/>
                  <a:gd name="T21" fmla="*/ 3867 h 3875"/>
                  <a:gd name="T22" fmla="*/ 1758 w 3875"/>
                  <a:gd name="T23" fmla="*/ 3835 h 3875"/>
                  <a:gd name="T24" fmla="*/ 1669 w 3875"/>
                  <a:gd name="T25" fmla="*/ 3780 h 3875"/>
                  <a:gd name="T26" fmla="*/ 95 w 3875"/>
                  <a:gd name="T27" fmla="*/ 2206 h 3875"/>
                  <a:gd name="T28" fmla="*/ 39 w 3875"/>
                  <a:gd name="T29" fmla="*/ 2116 h 3875"/>
                  <a:gd name="T30" fmla="*/ 7 w 3875"/>
                  <a:gd name="T31" fmla="*/ 2019 h 3875"/>
                  <a:gd name="T32" fmla="*/ 1 w 3875"/>
                  <a:gd name="T33" fmla="*/ 1917 h 3875"/>
                  <a:gd name="T34" fmla="*/ 17 w 3875"/>
                  <a:gd name="T35" fmla="*/ 1816 h 3875"/>
                  <a:gd name="T36" fmla="*/ 59 w 3875"/>
                  <a:gd name="T37" fmla="*/ 1721 h 3875"/>
                  <a:gd name="T38" fmla="*/ 125 w 3875"/>
                  <a:gd name="T39" fmla="*/ 1635 h 3875"/>
                  <a:gd name="T40" fmla="*/ 1702 w 3875"/>
                  <a:gd name="T41" fmla="*/ 70 h 3875"/>
                  <a:gd name="T42" fmla="*/ 1797 w 3875"/>
                  <a:gd name="T43" fmla="*/ 24 h 3875"/>
                  <a:gd name="T44" fmla="*/ 1896 w 3875"/>
                  <a:gd name="T45" fmla="*/ 2 h 3875"/>
                  <a:gd name="T46" fmla="*/ 1998 w 3875"/>
                  <a:gd name="T47" fmla="*/ 4 h 3875"/>
                  <a:gd name="T48" fmla="*/ 2098 w 3875"/>
                  <a:gd name="T49" fmla="*/ 30 h 3875"/>
                  <a:gd name="T50" fmla="*/ 2190 w 3875"/>
                  <a:gd name="T51" fmla="*/ 82 h 3875"/>
                  <a:gd name="T52" fmla="*/ 2192 w 3875"/>
                  <a:gd name="T53" fmla="*/ 171 h 3875"/>
                  <a:gd name="T54" fmla="*/ 2121 w 3875"/>
                  <a:gd name="T55" fmla="*/ 115 h 3875"/>
                  <a:gd name="T56" fmla="*/ 2040 w 3875"/>
                  <a:gd name="T57" fmla="*/ 80 h 3875"/>
                  <a:gd name="T58" fmla="*/ 1955 w 3875"/>
                  <a:gd name="T59" fmla="*/ 65 h 3875"/>
                  <a:gd name="T60" fmla="*/ 1869 w 3875"/>
                  <a:gd name="T61" fmla="*/ 72 h 3875"/>
                  <a:gd name="T62" fmla="*/ 1786 w 3875"/>
                  <a:gd name="T63" fmla="*/ 98 h 3875"/>
                  <a:gd name="T64" fmla="*/ 1710 w 3875"/>
                  <a:gd name="T65" fmla="*/ 145 h 3875"/>
                  <a:gd name="T66" fmla="*/ 145 w 3875"/>
                  <a:gd name="T67" fmla="*/ 1709 h 3875"/>
                  <a:gd name="T68" fmla="*/ 98 w 3875"/>
                  <a:gd name="T69" fmla="*/ 1786 h 3875"/>
                  <a:gd name="T70" fmla="*/ 72 w 3875"/>
                  <a:gd name="T71" fmla="*/ 1868 h 3875"/>
                  <a:gd name="T72" fmla="*/ 65 w 3875"/>
                  <a:gd name="T73" fmla="*/ 1954 h 3875"/>
                  <a:gd name="T74" fmla="*/ 80 w 3875"/>
                  <a:gd name="T75" fmla="*/ 2040 h 3875"/>
                  <a:gd name="T76" fmla="*/ 115 w 3875"/>
                  <a:gd name="T77" fmla="*/ 2121 h 3875"/>
                  <a:gd name="T78" fmla="*/ 171 w 3875"/>
                  <a:gd name="T79" fmla="*/ 2192 h 3875"/>
                  <a:gd name="T80" fmla="*/ 1739 w 3875"/>
                  <a:gd name="T81" fmla="*/ 3750 h 3875"/>
                  <a:gd name="T82" fmla="*/ 1818 w 3875"/>
                  <a:gd name="T83" fmla="*/ 3789 h 3875"/>
                  <a:gd name="T84" fmla="*/ 1903 w 3875"/>
                  <a:gd name="T85" fmla="*/ 3808 h 3875"/>
                  <a:gd name="T86" fmla="*/ 1990 w 3875"/>
                  <a:gd name="T87" fmla="*/ 3806 h 3875"/>
                  <a:gd name="T88" fmla="*/ 2074 w 3875"/>
                  <a:gd name="T89" fmla="*/ 3783 h 3875"/>
                  <a:gd name="T90" fmla="*/ 2151 w 3875"/>
                  <a:gd name="T91" fmla="*/ 3740 h 3875"/>
                  <a:gd name="T92" fmla="*/ 3718 w 3875"/>
                  <a:gd name="T93" fmla="*/ 2179 h 3875"/>
                  <a:gd name="T94" fmla="*/ 3769 w 3875"/>
                  <a:gd name="T95" fmla="*/ 2105 h 3875"/>
                  <a:gd name="T96" fmla="*/ 3800 w 3875"/>
                  <a:gd name="T97" fmla="*/ 2023 h 3875"/>
                  <a:gd name="T98" fmla="*/ 3810 w 3875"/>
                  <a:gd name="T99" fmla="*/ 1937 h 3875"/>
                  <a:gd name="T100" fmla="*/ 3800 w 3875"/>
                  <a:gd name="T101" fmla="*/ 1851 h 3875"/>
                  <a:gd name="T102" fmla="*/ 3769 w 3875"/>
                  <a:gd name="T103" fmla="*/ 1769 h 3875"/>
                  <a:gd name="T104" fmla="*/ 3718 w 3875"/>
                  <a:gd name="T105" fmla="*/ 1696 h 3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75" h="3875">
                    <a:moveTo>
                      <a:pt x="2239" y="123"/>
                    </a:moveTo>
                    <a:lnTo>
                      <a:pt x="3750" y="1635"/>
                    </a:lnTo>
                    <a:lnTo>
                      <a:pt x="3766" y="1652"/>
                    </a:lnTo>
                    <a:lnTo>
                      <a:pt x="3780" y="1668"/>
                    </a:lnTo>
                    <a:lnTo>
                      <a:pt x="3793" y="1685"/>
                    </a:lnTo>
                    <a:lnTo>
                      <a:pt x="3805" y="1702"/>
                    </a:lnTo>
                    <a:lnTo>
                      <a:pt x="3816" y="1721"/>
                    </a:lnTo>
                    <a:lnTo>
                      <a:pt x="3827" y="1738"/>
                    </a:lnTo>
                    <a:lnTo>
                      <a:pt x="3836" y="1757"/>
                    </a:lnTo>
                    <a:lnTo>
                      <a:pt x="3845" y="1777"/>
                    </a:lnTo>
                    <a:lnTo>
                      <a:pt x="3851" y="1796"/>
                    </a:lnTo>
                    <a:lnTo>
                      <a:pt x="3858" y="1816"/>
                    </a:lnTo>
                    <a:lnTo>
                      <a:pt x="3863" y="1836"/>
                    </a:lnTo>
                    <a:lnTo>
                      <a:pt x="3868" y="1856"/>
                    </a:lnTo>
                    <a:lnTo>
                      <a:pt x="3871" y="1875"/>
                    </a:lnTo>
                    <a:lnTo>
                      <a:pt x="3873" y="1896"/>
                    </a:lnTo>
                    <a:lnTo>
                      <a:pt x="3874" y="1917"/>
                    </a:lnTo>
                    <a:lnTo>
                      <a:pt x="3875" y="1937"/>
                    </a:lnTo>
                    <a:lnTo>
                      <a:pt x="3874" y="1958"/>
                    </a:lnTo>
                    <a:lnTo>
                      <a:pt x="3873" y="1978"/>
                    </a:lnTo>
                    <a:lnTo>
                      <a:pt x="3871" y="1998"/>
                    </a:lnTo>
                    <a:lnTo>
                      <a:pt x="3868" y="2019"/>
                    </a:lnTo>
                    <a:lnTo>
                      <a:pt x="3863" y="2039"/>
                    </a:lnTo>
                    <a:lnTo>
                      <a:pt x="3858" y="2058"/>
                    </a:lnTo>
                    <a:lnTo>
                      <a:pt x="3851" y="2078"/>
                    </a:lnTo>
                    <a:lnTo>
                      <a:pt x="3845" y="2098"/>
                    </a:lnTo>
                    <a:lnTo>
                      <a:pt x="3836" y="2116"/>
                    </a:lnTo>
                    <a:lnTo>
                      <a:pt x="3827" y="2135"/>
                    </a:lnTo>
                    <a:lnTo>
                      <a:pt x="3816" y="2154"/>
                    </a:lnTo>
                    <a:lnTo>
                      <a:pt x="3805" y="2172"/>
                    </a:lnTo>
                    <a:lnTo>
                      <a:pt x="3793" y="2189"/>
                    </a:lnTo>
                    <a:lnTo>
                      <a:pt x="3780" y="2206"/>
                    </a:lnTo>
                    <a:lnTo>
                      <a:pt x="3766" y="2223"/>
                    </a:lnTo>
                    <a:lnTo>
                      <a:pt x="3750" y="2238"/>
                    </a:lnTo>
                    <a:lnTo>
                      <a:pt x="2239" y="3750"/>
                    </a:lnTo>
                    <a:lnTo>
                      <a:pt x="2223" y="3765"/>
                    </a:lnTo>
                    <a:lnTo>
                      <a:pt x="2207" y="3780"/>
                    </a:lnTo>
                    <a:lnTo>
                      <a:pt x="2190" y="3793"/>
                    </a:lnTo>
                    <a:lnTo>
                      <a:pt x="2173" y="3805"/>
                    </a:lnTo>
                    <a:lnTo>
                      <a:pt x="2154" y="3816"/>
                    </a:lnTo>
                    <a:lnTo>
                      <a:pt x="2136" y="3826"/>
                    </a:lnTo>
                    <a:lnTo>
                      <a:pt x="2117" y="3835"/>
                    </a:lnTo>
                    <a:lnTo>
                      <a:pt x="2098" y="3843"/>
                    </a:lnTo>
                    <a:lnTo>
                      <a:pt x="2078" y="3851"/>
                    </a:lnTo>
                    <a:lnTo>
                      <a:pt x="2059" y="3857"/>
                    </a:lnTo>
                    <a:lnTo>
                      <a:pt x="2039" y="3863"/>
                    </a:lnTo>
                    <a:lnTo>
                      <a:pt x="2019" y="3867"/>
                    </a:lnTo>
                    <a:lnTo>
                      <a:pt x="1998" y="3870"/>
                    </a:lnTo>
                    <a:lnTo>
                      <a:pt x="1979" y="3873"/>
                    </a:lnTo>
                    <a:lnTo>
                      <a:pt x="1958" y="3874"/>
                    </a:lnTo>
                    <a:lnTo>
                      <a:pt x="1938" y="3875"/>
                    </a:lnTo>
                    <a:lnTo>
                      <a:pt x="1917" y="3874"/>
                    </a:lnTo>
                    <a:lnTo>
                      <a:pt x="1896" y="3873"/>
                    </a:lnTo>
                    <a:lnTo>
                      <a:pt x="1877" y="3870"/>
                    </a:lnTo>
                    <a:lnTo>
                      <a:pt x="1856" y="3867"/>
                    </a:lnTo>
                    <a:lnTo>
                      <a:pt x="1836" y="3863"/>
                    </a:lnTo>
                    <a:lnTo>
                      <a:pt x="1816" y="3857"/>
                    </a:lnTo>
                    <a:lnTo>
                      <a:pt x="1797" y="3851"/>
                    </a:lnTo>
                    <a:lnTo>
                      <a:pt x="1777" y="3843"/>
                    </a:lnTo>
                    <a:lnTo>
                      <a:pt x="1758" y="3835"/>
                    </a:lnTo>
                    <a:lnTo>
                      <a:pt x="1739" y="3826"/>
                    </a:lnTo>
                    <a:lnTo>
                      <a:pt x="1721" y="3816"/>
                    </a:lnTo>
                    <a:lnTo>
                      <a:pt x="1702" y="3805"/>
                    </a:lnTo>
                    <a:lnTo>
                      <a:pt x="1685" y="3793"/>
                    </a:lnTo>
                    <a:lnTo>
                      <a:pt x="1669" y="3780"/>
                    </a:lnTo>
                    <a:lnTo>
                      <a:pt x="1652" y="3765"/>
                    </a:lnTo>
                    <a:lnTo>
                      <a:pt x="1637" y="3750"/>
                    </a:lnTo>
                    <a:lnTo>
                      <a:pt x="125" y="2238"/>
                    </a:lnTo>
                    <a:lnTo>
                      <a:pt x="109" y="2223"/>
                    </a:lnTo>
                    <a:lnTo>
                      <a:pt x="95" y="2206"/>
                    </a:lnTo>
                    <a:lnTo>
                      <a:pt x="82" y="2189"/>
                    </a:lnTo>
                    <a:lnTo>
                      <a:pt x="70" y="2172"/>
                    </a:lnTo>
                    <a:lnTo>
                      <a:pt x="59" y="2154"/>
                    </a:lnTo>
                    <a:lnTo>
                      <a:pt x="48" y="2135"/>
                    </a:lnTo>
                    <a:lnTo>
                      <a:pt x="39" y="2116"/>
                    </a:lnTo>
                    <a:lnTo>
                      <a:pt x="32" y="2098"/>
                    </a:lnTo>
                    <a:lnTo>
                      <a:pt x="24" y="2078"/>
                    </a:lnTo>
                    <a:lnTo>
                      <a:pt x="17" y="2058"/>
                    </a:lnTo>
                    <a:lnTo>
                      <a:pt x="12" y="2039"/>
                    </a:lnTo>
                    <a:lnTo>
                      <a:pt x="7" y="2019"/>
                    </a:lnTo>
                    <a:lnTo>
                      <a:pt x="4" y="1998"/>
                    </a:lnTo>
                    <a:lnTo>
                      <a:pt x="2" y="1978"/>
                    </a:lnTo>
                    <a:lnTo>
                      <a:pt x="1" y="1958"/>
                    </a:lnTo>
                    <a:lnTo>
                      <a:pt x="0" y="1937"/>
                    </a:lnTo>
                    <a:lnTo>
                      <a:pt x="1" y="1917"/>
                    </a:lnTo>
                    <a:lnTo>
                      <a:pt x="2" y="1896"/>
                    </a:lnTo>
                    <a:lnTo>
                      <a:pt x="4" y="1875"/>
                    </a:lnTo>
                    <a:lnTo>
                      <a:pt x="7" y="1856"/>
                    </a:lnTo>
                    <a:lnTo>
                      <a:pt x="12" y="1836"/>
                    </a:lnTo>
                    <a:lnTo>
                      <a:pt x="17" y="1816"/>
                    </a:lnTo>
                    <a:lnTo>
                      <a:pt x="24" y="1796"/>
                    </a:lnTo>
                    <a:lnTo>
                      <a:pt x="32" y="1777"/>
                    </a:lnTo>
                    <a:lnTo>
                      <a:pt x="39" y="1757"/>
                    </a:lnTo>
                    <a:lnTo>
                      <a:pt x="48" y="1738"/>
                    </a:lnTo>
                    <a:lnTo>
                      <a:pt x="59" y="1721"/>
                    </a:lnTo>
                    <a:lnTo>
                      <a:pt x="70" y="1702"/>
                    </a:lnTo>
                    <a:lnTo>
                      <a:pt x="82" y="1685"/>
                    </a:lnTo>
                    <a:lnTo>
                      <a:pt x="95" y="1668"/>
                    </a:lnTo>
                    <a:lnTo>
                      <a:pt x="109" y="1652"/>
                    </a:lnTo>
                    <a:lnTo>
                      <a:pt x="125" y="1635"/>
                    </a:lnTo>
                    <a:lnTo>
                      <a:pt x="1637" y="123"/>
                    </a:lnTo>
                    <a:lnTo>
                      <a:pt x="1652" y="109"/>
                    </a:lnTo>
                    <a:lnTo>
                      <a:pt x="1669" y="95"/>
                    </a:lnTo>
                    <a:lnTo>
                      <a:pt x="1685" y="82"/>
                    </a:lnTo>
                    <a:lnTo>
                      <a:pt x="1702" y="70"/>
                    </a:lnTo>
                    <a:lnTo>
                      <a:pt x="1721" y="59"/>
                    </a:lnTo>
                    <a:lnTo>
                      <a:pt x="1739" y="48"/>
                    </a:lnTo>
                    <a:lnTo>
                      <a:pt x="1758" y="39"/>
                    </a:lnTo>
                    <a:lnTo>
                      <a:pt x="1777" y="30"/>
                    </a:lnTo>
                    <a:lnTo>
                      <a:pt x="1797" y="24"/>
                    </a:lnTo>
                    <a:lnTo>
                      <a:pt x="1816" y="17"/>
                    </a:lnTo>
                    <a:lnTo>
                      <a:pt x="1836" y="12"/>
                    </a:lnTo>
                    <a:lnTo>
                      <a:pt x="1856" y="7"/>
                    </a:lnTo>
                    <a:lnTo>
                      <a:pt x="1877" y="4"/>
                    </a:lnTo>
                    <a:lnTo>
                      <a:pt x="1896" y="2"/>
                    </a:lnTo>
                    <a:lnTo>
                      <a:pt x="1917" y="1"/>
                    </a:lnTo>
                    <a:lnTo>
                      <a:pt x="1938" y="0"/>
                    </a:lnTo>
                    <a:lnTo>
                      <a:pt x="1958" y="1"/>
                    </a:lnTo>
                    <a:lnTo>
                      <a:pt x="1979" y="2"/>
                    </a:lnTo>
                    <a:lnTo>
                      <a:pt x="1998" y="4"/>
                    </a:lnTo>
                    <a:lnTo>
                      <a:pt x="2019" y="7"/>
                    </a:lnTo>
                    <a:lnTo>
                      <a:pt x="2039" y="12"/>
                    </a:lnTo>
                    <a:lnTo>
                      <a:pt x="2059" y="17"/>
                    </a:lnTo>
                    <a:lnTo>
                      <a:pt x="2078" y="24"/>
                    </a:lnTo>
                    <a:lnTo>
                      <a:pt x="2098" y="30"/>
                    </a:lnTo>
                    <a:lnTo>
                      <a:pt x="2117" y="39"/>
                    </a:lnTo>
                    <a:lnTo>
                      <a:pt x="2136" y="48"/>
                    </a:lnTo>
                    <a:lnTo>
                      <a:pt x="2154" y="59"/>
                    </a:lnTo>
                    <a:lnTo>
                      <a:pt x="2173" y="70"/>
                    </a:lnTo>
                    <a:lnTo>
                      <a:pt x="2190" y="82"/>
                    </a:lnTo>
                    <a:lnTo>
                      <a:pt x="2207" y="95"/>
                    </a:lnTo>
                    <a:lnTo>
                      <a:pt x="2223" y="109"/>
                    </a:lnTo>
                    <a:lnTo>
                      <a:pt x="2239" y="123"/>
                    </a:lnTo>
                    <a:close/>
                    <a:moveTo>
                      <a:pt x="3704" y="1681"/>
                    </a:moveTo>
                    <a:lnTo>
                      <a:pt x="2192" y="171"/>
                    </a:lnTo>
                    <a:lnTo>
                      <a:pt x="2179" y="157"/>
                    </a:lnTo>
                    <a:lnTo>
                      <a:pt x="2165" y="145"/>
                    </a:lnTo>
                    <a:lnTo>
                      <a:pt x="2151" y="134"/>
                    </a:lnTo>
                    <a:lnTo>
                      <a:pt x="2136" y="125"/>
                    </a:lnTo>
                    <a:lnTo>
                      <a:pt x="2121" y="115"/>
                    </a:lnTo>
                    <a:lnTo>
                      <a:pt x="2106" y="106"/>
                    </a:lnTo>
                    <a:lnTo>
                      <a:pt x="2089" y="98"/>
                    </a:lnTo>
                    <a:lnTo>
                      <a:pt x="2074" y="92"/>
                    </a:lnTo>
                    <a:lnTo>
                      <a:pt x="2058" y="85"/>
                    </a:lnTo>
                    <a:lnTo>
                      <a:pt x="2040" y="80"/>
                    </a:lnTo>
                    <a:lnTo>
                      <a:pt x="2024" y="75"/>
                    </a:lnTo>
                    <a:lnTo>
                      <a:pt x="2007" y="72"/>
                    </a:lnTo>
                    <a:lnTo>
                      <a:pt x="1990" y="69"/>
                    </a:lnTo>
                    <a:lnTo>
                      <a:pt x="1972" y="66"/>
                    </a:lnTo>
                    <a:lnTo>
                      <a:pt x="1955" y="65"/>
                    </a:lnTo>
                    <a:lnTo>
                      <a:pt x="1938" y="65"/>
                    </a:lnTo>
                    <a:lnTo>
                      <a:pt x="1921" y="65"/>
                    </a:lnTo>
                    <a:lnTo>
                      <a:pt x="1903" y="66"/>
                    </a:lnTo>
                    <a:lnTo>
                      <a:pt x="1885" y="69"/>
                    </a:lnTo>
                    <a:lnTo>
                      <a:pt x="1869" y="72"/>
                    </a:lnTo>
                    <a:lnTo>
                      <a:pt x="1852" y="75"/>
                    </a:lnTo>
                    <a:lnTo>
                      <a:pt x="1835" y="80"/>
                    </a:lnTo>
                    <a:lnTo>
                      <a:pt x="1818" y="85"/>
                    </a:lnTo>
                    <a:lnTo>
                      <a:pt x="1801" y="92"/>
                    </a:lnTo>
                    <a:lnTo>
                      <a:pt x="1786" y="98"/>
                    </a:lnTo>
                    <a:lnTo>
                      <a:pt x="1769" y="106"/>
                    </a:lnTo>
                    <a:lnTo>
                      <a:pt x="1754" y="115"/>
                    </a:lnTo>
                    <a:lnTo>
                      <a:pt x="1739" y="125"/>
                    </a:lnTo>
                    <a:lnTo>
                      <a:pt x="1724" y="134"/>
                    </a:lnTo>
                    <a:lnTo>
                      <a:pt x="1710" y="145"/>
                    </a:lnTo>
                    <a:lnTo>
                      <a:pt x="1696" y="157"/>
                    </a:lnTo>
                    <a:lnTo>
                      <a:pt x="1683" y="171"/>
                    </a:lnTo>
                    <a:lnTo>
                      <a:pt x="171" y="1681"/>
                    </a:lnTo>
                    <a:lnTo>
                      <a:pt x="158" y="1696"/>
                    </a:lnTo>
                    <a:lnTo>
                      <a:pt x="145" y="1709"/>
                    </a:lnTo>
                    <a:lnTo>
                      <a:pt x="135" y="1724"/>
                    </a:lnTo>
                    <a:lnTo>
                      <a:pt x="125" y="1738"/>
                    </a:lnTo>
                    <a:lnTo>
                      <a:pt x="115" y="1754"/>
                    </a:lnTo>
                    <a:lnTo>
                      <a:pt x="106" y="1769"/>
                    </a:lnTo>
                    <a:lnTo>
                      <a:pt x="98" y="1786"/>
                    </a:lnTo>
                    <a:lnTo>
                      <a:pt x="92" y="1801"/>
                    </a:lnTo>
                    <a:lnTo>
                      <a:pt x="85" y="1817"/>
                    </a:lnTo>
                    <a:lnTo>
                      <a:pt x="80" y="1834"/>
                    </a:lnTo>
                    <a:lnTo>
                      <a:pt x="75" y="1851"/>
                    </a:lnTo>
                    <a:lnTo>
                      <a:pt x="72" y="1868"/>
                    </a:lnTo>
                    <a:lnTo>
                      <a:pt x="69" y="1885"/>
                    </a:lnTo>
                    <a:lnTo>
                      <a:pt x="67" y="1903"/>
                    </a:lnTo>
                    <a:lnTo>
                      <a:pt x="65" y="1920"/>
                    </a:lnTo>
                    <a:lnTo>
                      <a:pt x="65" y="1937"/>
                    </a:lnTo>
                    <a:lnTo>
                      <a:pt x="65" y="1954"/>
                    </a:lnTo>
                    <a:lnTo>
                      <a:pt x="67" y="1972"/>
                    </a:lnTo>
                    <a:lnTo>
                      <a:pt x="69" y="1989"/>
                    </a:lnTo>
                    <a:lnTo>
                      <a:pt x="72" y="2006"/>
                    </a:lnTo>
                    <a:lnTo>
                      <a:pt x="75" y="2023"/>
                    </a:lnTo>
                    <a:lnTo>
                      <a:pt x="80" y="2040"/>
                    </a:lnTo>
                    <a:lnTo>
                      <a:pt x="85" y="2056"/>
                    </a:lnTo>
                    <a:lnTo>
                      <a:pt x="92" y="2073"/>
                    </a:lnTo>
                    <a:lnTo>
                      <a:pt x="98" y="2089"/>
                    </a:lnTo>
                    <a:lnTo>
                      <a:pt x="106" y="2105"/>
                    </a:lnTo>
                    <a:lnTo>
                      <a:pt x="115" y="2121"/>
                    </a:lnTo>
                    <a:lnTo>
                      <a:pt x="125" y="2136"/>
                    </a:lnTo>
                    <a:lnTo>
                      <a:pt x="135" y="2150"/>
                    </a:lnTo>
                    <a:lnTo>
                      <a:pt x="145" y="2165"/>
                    </a:lnTo>
                    <a:lnTo>
                      <a:pt x="158" y="2179"/>
                    </a:lnTo>
                    <a:lnTo>
                      <a:pt x="171" y="2192"/>
                    </a:lnTo>
                    <a:lnTo>
                      <a:pt x="1683" y="3704"/>
                    </a:lnTo>
                    <a:lnTo>
                      <a:pt x="1696" y="3717"/>
                    </a:lnTo>
                    <a:lnTo>
                      <a:pt x="1710" y="3729"/>
                    </a:lnTo>
                    <a:lnTo>
                      <a:pt x="1724" y="3740"/>
                    </a:lnTo>
                    <a:lnTo>
                      <a:pt x="1739" y="3750"/>
                    </a:lnTo>
                    <a:lnTo>
                      <a:pt x="1754" y="3760"/>
                    </a:lnTo>
                    <a:lnTo>
                      <a:pt x="1769" y="3769"/>
                    </a:lnTo>
                    <a:lnTo>
                      <a:pt x="1786" y="3776"/>
                    </a:lnTo>
                    <a:lnTo>
                      <a:pt x="1801" y="3783"/>
                    </a:lnTo>
                    <a:lnTo>
                      <a:pt x="1818" y="3789"/>
                    </a:lnTo>
                    <a:lnTo>
                      <a:pt x="1835" y="3795"/>
                    </a:lnTo>
                    <a:lnTo>
                      <a:pt x="1852" y="3799"/>
                    </a:lnTo>
                    <a:lnTo>
                      <a:pt x="1869" y="3803"/>
                    </a:lnTo>
                    <a:lnTo>
                      <a:pt x="1885" y="3806"/>
                    </a:lnTo>
                    <a:lnTo>
                      <a:pt x="1903" y="3808"/>
                    </a:lnTo>
                    <a:lnTo>
                      <a:pt x="1921" y="3809"/>
                    </a:lnTo>
                    <a:lnTo>
                      <a:pt x="1938" y="3809"/>
                    </a:lnTo>
                    <a:lnTo>
                      <a:pt x="1955" y="3809"/>
                    </a:lnTo>
                    <a:lnTo>
                      <a:pt x="1972" y="3808"/>
                    </a:lnTo>
                    <a:lnTo>
                      <a:pt x="1990" y="3806"/>
                    </a:lnTo>
                    <a:lnTo>
                      <a:pt x="2007" y="3803"/>
                    </a:lnTo>
                    <a:lnTo>
                      <a:pt x="2024" y="3799"/>
                    </a:lnTo>
                    <a:lnTo>
                      <a:pt x="2040" y="3795"/>
                    </a:lnTo>
                    <a:lnTo>
                      <a:pt x="2058" y="3789"/>
                    </a:lnTo>
                    <a:lnTo>
                      <a:pt x="2074" y="3783"/>
                    </a:lnTo>
                    <a:lnTo>
                      <a:pt x="2089" y="3776"/>
                    </a:lnTo>
                    <a:lnTo>
                      <a:pt x="2106" y="3769"/>
                    </a:lnTo>
                    <a:lnTo>
                      <a:pt x="2121" y="3760"/>
                    </a:lnTo>
                    <a:lnTo>
                      <a:pt x="2136" y="3750"/>
                    </a:lnTo>
                    <a:lnTo>
                      <a:pt x="2151" y="3740"/>
                    </a:lnTo>
                    <a:lnTo>
                      <a:pt x="2165" y="3729"/>
                    </a:lnTo>
                    <a:lnTo>
                      <a:pt x="2179" y="3717"/>
                    </a:lnTo>
                    <a:lnTo>
                      <a:pt x="2192" y="3704"/>
                    </a:lnTo>
                    <a:lnTo>
                      <a:pt x="3704" y="2192"/>
                    </a:lnTo>
                    <a:lnTo>
                      <a:pt x="3718" y="2179"/>
                    </a:lnTo>
                    <a:lnTo>
                      <a:pt x="3730" y="2165"/>
                    </a:lnTo>
                    <a:lnTo>
                      <a:pt x="3741" y="2150"/>
                    </a:lnTo>
                    <a:lnTo>
                      <a:pt x="3750" y="2136"/>
                    </a:lnTo>
                    <a:lnTo>
                      <a:pt x="3760" y="2121"/>
                    </a:lnTo>
                    <a:lnTo>
                      <a:pt x="3769" y="2105"/>
                    </a:lnTo>
                    <a:lnTo>
                      <a:pt x="3777" y="2089"/>
                    </a:lnTo>
                    <a:lnTo>
                      <a:pt x="3783" y="2073"/>
                    </a:lnTo>
                    <a:lnTo>
                      <a:pt x="3790" y="2056"/>
                    </a:lnTo>
                    <a:lnTo>
                      <a:pt x="3795" y="2040"/>
                    </a:lnTo>
                    <a:lnTo>
                      <a:pt x="3800" y="2023"/>
                    </a:lnTo>
                    <a:lnTo>
                      <a:pt x="3803" y="2006"/>
                    </a:lnTo>
                    <a:lnTo>
                      <a:pt x="3806" y="1989"/>
                    </a:lnTo>
                    <a:lnTo>
                      <a:pt x="3808" y="1972"/>
                    </a:lnTo>
                    <a:lnTo>
                      <a:pt x="3810" y="1954"/>
                    </a:lnTo>
                    <a:lnTo>
                      <a:pt x="3810" y="1937"/>
                    </a:lnTo>
                    <a:lnTo>
                      <a:pt x="3810" y="1920"/>
                    </a:lnTo>
                    <a:lnTo>
                      <a:pt x="3808" y="1903"/>
                    </a:lnTo>
                    <a:lnTo>
                      <a:pt x="3806" y="1885"/>
                    </a:lnTo>
                    <a:lnTo>
                      <a:pt x="3803" y="1868"/>
                    </a:lnTo>
                    <a:lnTo>
                      <a:pt x="3800" y="1851"/>
                    </a:lnTo>
                    <a:lnTo>
                      <a:pt x="3795" y="1834"/>
                    </a:lnTo>
                    <a:lnTo>
                      <a:pt x="3790" y="1817"/>
                    </a:lnTo>
                    <a:lnTo>
                      <a:pt x="3783" y="1801"/>
                    </a:lnTo>
                    <a:lnTo>
                      <a:pt x="3777" y="1786"/>
                    </a:lnTo>
                    <a:lnTo>
                      <a:pt x="3769" y="1769"/>
                    </a:lnTo>
                    <a:lnTo>
                      <a:pt x="3760" y="1754"/>
                    </a:lnTo>
                    <a:lnTo>
                      <a:pt x="3750" y="1738"/>
                    </a:lnTo>
                    <a:lnTo>
                      <a:pt x="3741" y="1724"/>
                    </a:lnTo>
                    <a:lnTo>
                      <a:pt x="3730" y="1709"/>
                    </a:lnTo>
                    <a:lnTo>
                      <a:pt x="3718" y="1696"/>
                    </a:lnTo>
                    <a:lnTo>
                      <a:pt x="3704" y="1681"/>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5" name="Freeform 21"/>
              <p:cNvSpPr>
                <a:spLocks/>
              </p:cNvSpPr>
              <p:nvPr/>
            </p:nvSpPr>
            <p:spPr bwMode="auto">
              <a:xfrm>
                <a:off x="2226" y="2336"/>
                <a:ext cx="317" cy="317"/>
              </a:xfrm>
              <a:custGeom>
                <a:avLst/>
                <a:gdLst>
                  <a:gd name="T0" fmla="*/ 0 w 1585"/>
                  <a:gd name="T1" fmla="*/ 567 h 1586"/>
                  <a:gd name="T2" fmla="*/ 569 w 1585"/>
                  <a:gd name="T3" fmla="*/ 0 h 1586"/>
                  <a:gd name="T4" fmla="*/ 1585 w 1585"/>
                  <a:gd name="T5" fmla="*/ 1018 h 1586"/>
                  <a:gd name="T6" fmla="*/ 1016 w 1585"/>
                  <a:gd name="T7" fmla="*/ 1586 h 1586"/>
                  <a:gd name="T8" fmla="*/ 0 w 1585"/>
                  <a:gd name="T9" fmla="*/ 567 h 1586"/>
                </a:gdLst>
                <a:ahLst/>
                <a:cxnLst>
                  <a:cxn ang="0">
                    <a:pos x="T0" y="T1"/>
                  </a:cxn>
                  <a:cxn ang="0">
                    <a:pos x="T2" y="T3"/>
                  </a:cxn>
                  <a:cxn ang="0">
                    <a:pos x="T4" y="T5"/>
                  </a:cxn>
                  <a:cxn ang="0">
                    <a:pos x="T6" y="T7"/>
                  </a:cxn>
                  <a:cxn ang="0">
                    <a:pos x="T8" y="T9"/>
                  </a:cxn>
                </a:cxnLst>
                <a:rect l="0" t="0" r="r" b="b"/>
                <a:pathLst>
                  <a:path w="1585" h="1586">
                    <a:moveTo>
                      <a:pt x="0" y="567"/>
                    </a:moveTo>
                    <a:lnTo>
                      <a:pt x="569" y="0"/>
                    </a:lnTo>
                    <a:lnTo>
                      <a:pt x="1585" y="1018"/>
                    </a:lnTo>
                    <a:lnTo>
                      <a:pt x="1016" y="1586"/>
                    </a:lnTo>
                    <a:lnTo>
                      <a:pt x="0" y="567"/>
                    </a:lnTo>
                    <a:close/>
                  </a:path>
                </a:pathLst>
              </a:custGeom>
              <a:solidFill>
                <a:srgbClr val="2E3A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6" name="Freeform 22"/>
              <p:cNvSpPr>
                <a:spLocks/>
              </p:cNvSpPr>
              <p:nvPr/>
            </p:nvSpPr>
            <p:spPr bwMode="auto">
              <a:xfrm>
                <a:off x="2230" y="3005"/>
                <a:ext cx="318" cy="316"/>
              </a:xfrm>
              <a:custGeom>
                <a:avLst/>
                <a:gdLst>
                  <a:gd name="T0" fmla="*/ 569 w 1587"/>
                  <a:gd name="T1" fmla="*/ 1584 h 1584"/>
                  <a:gd name="T2" fmla="*/ 0 w 1587"/>
                  <a:gd name="T3" fmla="*/ 1016 h 1584"/>
                  <a:gd name="T4" fmla="*/ 1019 w 1587"/>
                  <a:gd name="T5" fmla="*/ 0 h 1584"/>
                  <a:gd name="T6" fmla="*/ 1587 w 1587"/>
                  <a:gd name="T7" fmla="*/ 568 h 1584"/>
                  <a:gd name="T8" fmla="*/ 569 w 1587"/>
                  <a:gd name="T9" fmla="*/ 1584 h 1584"/>
                </a:gdLst>
                <a:ahLst/>
                <a:cxnLst>
                  <a:cxn ang="0">
                    <a:pos x="T0" y="T1"/>
                  </a:cxn>
                  <a:cxn ang="0">
                    <a:pos x="T2" y="T3"/>
                  </a:cxn>
                  <a:cxn ang="0">
                    <a:pos x="T4" y="T5"/>
                  </a:cxn>
                  <a:cxn ang="0">
                    <a:pos x="T6" y="T7"/>
                  </a:cxn>
                  <a:cxn ang="0">
                    <a:pos x="T8" y="T9"/>
                  </a:cxn>
                </a:cxnLst>
                <a:rect l="0" t="0" r="r" b="b"/>
                <a:pathLst>
                  <a:path w="1587" h="1584">
                    <a:moveTo>
                      <a:pt x="569" y="1584"/>
                    </a:moveTo>
                    <a:lnTo>
                      <a:pt x="0" y="1016"/>
                    </a:lnTo>
                    <a:lnTo>
                      <a:pt x="1019" y="0"/>
                    </a:lnTo>
                    <a:lnTo>
                      <a:pt x="1587" y="568"/>
                    </a:lnTo>
                    <a:lnTo>
                      <a:pt x="569" y="1584"/>
                    </a:lnTo>
                    <a:close/>
                  </a:path>
                </a:pathLst>
              </a:custGeom>
              <a:solidFill>
                <a:srgbClr val="CA3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7" name="Freeform 23"/>
              <p:cNvSpPr>
                <a:spLocks/>
              </p:cNvSpPr>
              <p:nvPr/>
            </p:nvSpPr>
            <p:spPr bwMode="auto">
              <a:xfrm>
                <a:off x="1599" y="3047"/>
                <a:ext cx="866" cy="866"/>
              </a:xfrm>
              <a:custGeom>
                <a:avLst/>
                <a:gdLst>
                  <a:gd name="T0" fmla="*/ 4217 w 4332"/>
                  <a:gd name="T1" fmla="*/ 1866 h 4332"/>
                  <a:gd name="T2" fmla="*/ 4259 w 4332"/>
                  <a:gd name="T3" fmla="*/ 1919 h 4332"/>
                  <a:gd name="T4" fmla="*/ 4290 w 4332"/>
                  <a:gd name="T5" fmla="*/ 1978 h 4332"/>
                  <a:gd name="T6" fmla="*/ 4313 w 4332"/>
                  <a:gd name="T7" fmla="*/ 2038 h 4332"/>
                  <a:gd name="T8" fmla="*/ 4328 w 4332"/>
                  <a:gd name="T9" fmla="*/ 2101 h 4332"/>
                  <a:gd name="T10" fmla="*/ 4332 w 4332"/>
                  <a:gd name="T11" fmla="*/ 2166 h 4332"/>
                  <a:gd name="T12" fmla="*/ 4328 w 4332"/>
                  <a:gd name="T13" fmla="*/ 2231 h 4332"/>
                  <a:gd name="T14" fmla="*/ 4313 w 4332"/>
                  <a:gd name="T15" fmla="*/ 2293 h 4332"/>
                  <a:gd name="T16" fmla="*/ 4290 w 4332"/>
                  <a:gd name="T17" fmla="*/ 2354 h 4332"/>
                  <a:gd name="T18" fmla="*/ 4259 w 4332"/>
                  <a:gd name="T19" fmla="*/ 2412 h 4332"/>
                  <a:gd name="T20" fmla="*/ 4217 w 4332"/>
                  <a:gd name="T21" fmla="*/ 2466 h 4332"/>
                  <a:gd name="T22" fmla="*/ 2465 w 4332"/>
                  <a:gd name="T23" fmla="*/ 4217 h 4332"/>
                  <a:gd name="T24" fmla="*/ 2412 w 4332"/>
                  <a:gd name="T25" fmla="*/ 4259 h 4332"/>
                  <a:gd name="T26" fmla="*/ 2354 w 4332"/>
                  <a:gd name="T27" fmla="*/ 4290 h 4332"/>
                  <a:gd name="T28" fmla="*/ 2293 w 4332"/>
                  <a:gd name="T29" fmla="*/ 4313 h 4332"/>
                  <a:gd name="T30" fmla="*/ 2229 w 4332"/>
                  <a:gd name="T31" fmla="*/ 4328 h 4332"/>
                  <a:gd name="T32" fmla="*/ 2166 w 4332"/>
                  <a:gd name="T33" fmla="*/ 4332 h 4332"/>
                  <a:gd name="T34" fmla="*/ 2101 w 4332"/>
                  <a:gd name="T35" fmla="*/ 4328 h 4332"/>
                  <a:gd name="T36" fmla="*/ 2038 w 4332"/>
                  <a:gd name="T37" fmla="*/ 4313 h 4332"/>
                  <a:gd name="T38" fmla="*/ 1977 w 4332"/>
                  <a:gd name="T39" fmla="*/ 4290 h 4332"/>
                  <a:gd name="T40" fmla="*/ 1919 w 4332"/>
                  <a:gd name="T41" fmla="*/ 4259 h 4332"/>
                  <a:gd name="T42" fmla="*/ 1866 w 4332"/>
                  <a:gd name="T43" fmla="*/ 4217 h 4332"/>
                  <a:gd name="T44" fmla="*/ 114 w 4332"/>
                  <a:gd name="T45" fmla="*/ 2466 h 4332"/>
                  <a:gd name="T46" fmla="*/ 73 w 4332"/>
                  <a:gd name="T47" fmla="*/ 2412 h 4332"/>
                  <a:gd name="T48" fmla="*/ 40 w 4332"/>
                  <a:gd name="T49" fmla="*/ 2354 h 4332"/>
                  <a:gd name="T50" fmla="*/ 17 w 4332"/>
                  <a:gd name="T51" fmla="*/ 2293 h 4332"/>
                  <a:gd name="T52" fmla="*/ 4 w 4332"/>
                  <a:gd name="T53" fmla="*/ 2231 h 4332"/>
                  <a:gd name="T54" fmla="*/ 0 w 4332"/>
                  <a:gd name="T55" fmla="*/ 2166 h 4332"/>
                  <a:gd name="T56" fmla="*/ 4 w 4332"/>
                  <a:gd name="T57" fmla="*/ 2101 h 4332"/>
                  <a:gd name="T58" fmla="*/ 17 w 4332"/>
                  <a:gd name="T59" fmla="*/ 2038 h 4332"/>
                  <a:gd name="T60" fmla="*/ 40 w 4332"/>
                  <a:gd name="T61" fmla="*/ 1978 h 4332"/>
                  <a:gd name="T62" fmla="*/ 73 w 4332"/>
                  <a:gd name="T63" fmla="*/ 1919 h 4332"/>
                  <a:gd name="T64" fmla="*/ 114 w 4332"/>
                  <a:gd name="T65" fmla="*/ 1866 h 4332"/>
                  <a:gd name="T66" fmla="*/ 1866 w 4332"/>
                  <a:gd name="T67" fmla="*/ 115 h 4332"/>
                  <a:gd name="T68" fmla="*/ 1919 w 4332"/>
                  <a:gd name="T69" fmla="*/ 73 h 4332"/>
                  <a:gd name="T70" fmla="*/ 1977 w 4332"/>
                  <a:gd name="T71" fmla="*/ 42 h 4332"/>
                  <a:gd name="T72" fmla="*/ 2038 w 4332"/>
                  <a:gd name="T73" fmla="*/ 19 h 4332"/>
                  <a:gd name="T74" fmla="*/ 2101 w 4332"/>
                  <a:gd name="T75" fmla="*/ 4 h 4332"/>
                  <a:gd name="T76" fmla="*/ 2166 w 4332"/>
                  <a:gd name="T77" fmla="*/ 0 h 4332"/>
                  <a:gd name="T78" fmla="*/ 2229 w 4332"/>
                  <a:gd name="T79" fmla="*/ 4 h 4332"/>
                  <a:gd name="T80" fmla="*/ 2293 w 4332"/>
                  <a:gd name="T81" fmla="*/ 19 h 4332"/>
                  <a:gd name="T82" fmla="*/ 2354 w 4332"/>
                  <a:gd name="T83" fmla="*/ 42 h 4332"/>
                  <a:gd name="T84" fmla="*/ 2412 w 4332"/>
                  <a:gd name="T85" fmla="*/ 73 h 4332"/>
                  <a:gd name="T86" fmla="*/ 2465 w 4332"/>
                  <a:gd name="T87" fmla="*/ 115 h 4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32" h="4332">
                    <a:moveTo>
                      <a:pt x="2482" y="130"/>
                    </a:moveTo>
                    <a:lnTo>
                      <a:pt x="4202" y="1849"/>
                    </a:lnTo>
                    <a:lnTo>
                      <a:pt x="4217" y="1866"/>
                    </a:lnTo>
                    <a:lnTo>
                      <a:pt x="4232" y="1883"/>
                    </a:lnTo>
                    <a:lnTo>
                      <a:pt x="4246" y="1901"/>
                    </a:lnTo>
                    <a:lnTo>
                      <a:pt x="4259" y="1919"/>
                    </a:lnTo>
                    <a:lnTo>
                      <a:pt x="4271" y="1938"/>
                    </a:lnTo>
                    <a:lnTo>
                      <a:pt x="4281" y="1958"/>
                    </a:lnTo>
                    <a:lnTo>
                      <a:pt x="4290" y="1978"/>
                    </a:lnTo>
                    <a:lnTo>
                      <a:pt x="4299" y="1997"/>
                    </a:lnTo>
                    <a:lnTo>
                      <a:pt x="4307" y="2018"/>
                    </a:lnTo>
                    <a:lnTo>
                      <a:pt x="4313" y="2038"/>
                    </a:lnTo>
                    <a:lnTo>
                      <a:pt x="4319" y="2060"/>
                    </a:lnTo>
                    <a:lnTo>
                      <a:pt x="4323" y="2080"/>
                    </a:lnTo>
                    <a:lnTo>
                      <a:pt x="4328" y="2101"/>
                    </a:lnTo>
                    <a:lnTo>
                      <a:pt x="4330" y="2123"/>
                    </a:lnTo>
                    <a:lnTo>
                      <a:pt x="4331" y="2144"/>
                    </a:lnTo>
                    <a:lnTo>
                      <a:pt x="4332" y="2166"/>
                    </a:lnTo>
                    <a:lnTo>
                      <a:pt x="4331" y="2188"/>
                    </a:lnTo>
                    <a:lnTo>
                      <a:pt x="4330" y="2209"/>
                    </a:lnTo>
                    <a:lnTo>
                      <a:pt x="4328" y="2231"/>
                    </a:lnTo>
                    <a:lnTo>
                      <a:pt x="4323" y="2251"/>
                    </a:lnTo>
                    <a:lnTo>
                      <a:pt x="4319" y="2272"/>
                    </a:lnTo>
                    <a:lnTo>
                      <a:pt x="4313" y="2293"/>
                    </a:lnTo>
                    <a:lnTo>
                      <a:pt x="4307" y="2314"/>
                    </a:lnTo>
                    <a:lnTo>
                      <a:pt x="4299" y="2335"/>
                    </a:lnTo>
                    <a:lnTo>
                      <a:pt x="4290" y="2354"/>
                    </a:lnTo>
                    <a:lnTo>
                      <a:pt x="4281" y="2374"/>
                    </a:lnTo>
                    <a:lnTo>
                      <a:pt x="4271" y="2394"/>
                    </a:lnTo>
                    <a:lnTo>
                      <a:pt x="4259" y="2412"/>
                    </a:lnTo>
                    <a:lnTo>
                      <a:pt x="4246" y="2431"/>
                    </a:lnTo>
                    <a:lnTo>
                      <a:pt x="4232" y="2449"/>
                    </a:lnTo>
                    <a:lnTo>
                      <a:pt x="4217" y="2466"/>
                    </a:lnTo>
                    <a:lnTo>
                      <a:pt x="4202" y="2483"/>
                    </a:lnTo>
                    <a:lnTo>
                      <a:pt x="2482" y="4202"/>
                    </a:lnTo>
                    <a:lnTo>
                      <a:pt x="2465" y="4217"/>
                    </a:lnTo>
                    <a:lnTo>
                      <a:pt x="2449" y="4232"/>
                    </a:lnTo>
                    <a:lnTo>
                      <a:pt x="2430" y="4245"/>
                    </a:lnTo>
                    <a:lnTo>
                      <a:pt x="2412" y="4259"/>
                    </a:lnTo>
                    <a:lnTo>
                      <a:pt x="2393" y="4271"/>
                    </a:lnTo>
                    <a:lnTo>
                      <a:pt x="2374" y="4281"/>
                    </a:lnTo>
                    <a:lnTo>
                      <a:pt x="2354" y="4290"/>
                    </a:lnTo>
                    <a:lnTo>
                      <a:pt x="2335" y="4299"/>
                    </a:lnTo>
                    <a:lnTo>
                      <a:pt x="2314" y="4307"/>
                    </a:lnTo>
                    <a:lnTo>
                      <a:pt x="2293" y="4313"/>
                    </a:lnTo>
                    <a:lnTo>
                      <a:pt x="2272" y="4319"/>
                    </a:lnTo>
                    <a:lnTo>
                      <a:pt x="2251" y="4324"/>
                    </a:lnTo>
                    <a:lnTo>
                      <a:pt x="2229" y="4328"/>
                    </a:lnTo>
                    <a:lnTo>
                      <a:pt x="2209" y="4330"/>
                    </a:lnTo>
                    <a:lnTo>
                      <a:pt x="2187" y="4332"/>
                    </a:lnTo>
                    <a:lnTo>
                      <a:pt x="2166" y="4332"/>
                    </a:lnTo>
                    <a:lnTo>
                      <a:pt x="2144" y="4332"/>
                    </a:lnTo>
                    <a:lnTo>
                      <a:pt x="2123" y="4330"/>
                    </a:lnTo>
                    <a:lnTo>
                      <a:pt x="2101" y="4328"/>
                    </a:lnTo>
                    <a:lnTo>
                      <a:pt x="2080" y="4324"/>
                    </a:lnTo>
                    <a:lnTo>
                      <a:pt x="2058" y="4319"/>
                    </a:lnTo>
                    <a:lnTo>
                      <a:pt x="2038" y="4313"/>
                    </a:lnTo>
                    <a:lnTo>
                      <a:pt x="2017" y="4307"/>
                    </a:lnTo>
                    <a:lnTo>
                      <a:pt x="1997" y="4299"/>
                    </a:lnTo>
                    <a:lnTo>
                      <a:pt x="1977" y="4290"/>
                    </a:lnTo>
                    <a:lnTo>
                      <a:pt x="1958" y="4281"/>
                    </a:lnTo>
                    <a:lnTo>
                      <a:pt x="1938" y="4271"/>
                    </a:lnTo>
                    <a:lnTo>
                      <a:pt x="1919" y="4259"/>
                    </a:lnTo>
                    <a:lnTo>
                      <a:pt x="1901" y="4245"/>
                    </a:lnTo>
                    <a:lnTo>
                      <a:pt x="1883" y="4232"/>
                    </a:lnTo>
                    <a:lnTo>
                      <a:pt x="1866" y="4217"/>
                    </a:lnTo>
                    <a:lnTo>
                      <a:pt x="1849" y="4202"/>
                    </a:lnTo>
                    <a:lnTo>
                      <a:pt x="130" y="2483"/>
                    </a:lnTo>
                    <a:lnTo>
                      <a:pt x="114" y="2466"/>
                    </a:lnTo>
                    <a:lnTo>
                      <a:pt x="99" y="2449"/>
                    </a:lnTo>
                    <a:lnTo>
                      <a:pt x="85" y="2431"/>
                    </a:lnTo>
                    <a:lnTo>
                      <a:pt x="73" y="2412"/>
                    </a:lnTo>
                    <a:lnTo>
                      <a:pt x="61" y="2394"/>
                    </a:lnTo>
                    <a:lnTo>
                      <a:pt x="50" y="2374"/>
                    </a:lnTo>
                    <a:lnTo>
                      <a:pt x="40" y="2354"/>
                    </a:lnTo>
                    <a:lnTo>
                      <a:pt x="31" y="2335"/>
                    </a:lnTo>
                    <a:lnTo>
                      <a:pt x="24" y="2314"/>
                    </a:lnTo>
                    <a:lnTo>
                      <a:pt x="17" y="2293"/>
                    </a:lnTo>
                    <a:lnTo>
                      <a:pt x="12" y="2272"/>
                    </a:lnTo>
                    <a:lnTo>
                      <a:pt x="7" y="2251"/>
                    </a:lnTo>
                    <a:lnTo>
                      <a:pt x="4" y="2231"/>
                    </a:lnTo>
                    <a:lnTo>
                      <a:pt x="1" y="2209"/>
                    </a:lnTo>
                    <a:lnTo>
                      <a:pt x="0" y="2188"/>
                    </a:lnTo>
                    <a:lnTo>
                      <a:pt x="0" y="2166"/>
                    </a:lnTo>
                    <a:lnTo>
                      <a:pt x="0" y="2144"/>
                    </a:lnTo>
                    <a:lnTo>
                      <a:pt x="1" y="2123"/>
                    </a:lnTo>
                    <a:lnTo>
                      <a:pt x="4" y="2101"/>
                    </a:lnTo>
                    <a:lnTo>
                      <a:pt x="7" y="2080"/>
                    </a:lnTo>
                    <a:lnTo>
                      <a:pt x="12" y="2060"/>
                    </a:lnTo>
                    <a:lnTo>
                      <a:pt x="17" y="2038"/>
                    </a:lnTo>
                    <a:lnTo>
                      <a:pt x="24" y="2018"/>
                    </a:lnTo>
                    <a:lnTo>
                      <a:pt x="31" y="1997"/>
                    </a:lnTo>
                    <a:lnTo>
                      <a:pt x="40" y="1978"/>
                    </a:lnTo>
                    <a:lnTo>
                      <a:pt x="50" y="1958"/>
                    </a:lnTo>
                    <a:lnTo>
                      <a:pt x="61" y="1938"/>
                    </a:lnTo>
                    <a:lnTo>
                      <a:pt x="73" y="1919"/>
                    </a:lnTo>
                    <a:lnTo>
                      <a:pt x="85" y="1901"/>
                    </a:lnTo>
                    <a:lnTo>
                      <a:pt x="99" y="1883"/>
                    </a:lnTo>
                    <a:lnTo>
                      <a:pt x="114" y="1866"/>
                    </a:lnTo>
                    <a:lnTo>
                      <a:pt x="130" y="1849"/>
                    </a:lnTo>
                    <a:lnTo>
                      <a:pt x="1849" y="130"/>
                    </a:lnTo>
                    <a:lnTo>
                      <a:pt x="1866" y="115"/>
                    </a:lnTo>
                    <a:lnTo>
                      <a:pt x="1883" y="100"/>
                    </a:lnTo>
                    <a:lnTo>
                      <a:pt x="1901" y="85"/>
                    </a:lnTo>
                    <a:lnTo>
                      <a:pt x="1919" y="73"/>
                    </a:lnTo>
                    <a:lnTo>
                      <a:pt x="1938" y="61"/>
                    </a:lnTo>
                    <a:lnTo>
                      <a:pt x="1958" y="50"/>
                    </a:lnTo>
                    <a:lnTo>
                      <a:pt x="1977" y="42"/>
                    </a:lnTo>
                    <a:lnTo>
                      <a:pt x="1997" y="33"/>
                    </a:lnTo>
                    <a:lnTo>
                      <a:pt x="2017" y="25"/>
                    </a:lnTo>
                    <a:lnTo>
                      <a:pt x="2038" y="19"/>
                    </a:lnTo>
                    <a:lnTo>
                      <a:pt x="2058" y="12"/>
                    </a:lnTo>
                    <a:lnTo>
                      <a:pt x="2080" y="8"/>
                    </a:lnTo>
                    <a:lnTo>
                      <a:pt x="2101" y="4"/>
                    </a:lnTo>
                    <a:lnTo>
                      <a:pt x="2123" y="2"/>
                    </a:lnTo>
                    <a:lnTo>
                      <a:pt x="2144" y="0"/>
                    </a:lnTo>
                    <a:lnTo>
                      <a:pt x="2166" y="0"/>
                    </a:lnTo>
                    <a:lnTo>
                      <a:pt x="2187" y="0"/>
                    </a:lnTo>
                    <a:lnTo>
                      <a:pt x="2209" y="2"/>
                    </a:lnTo>
                    <a:lnTo>
                      <a:pt x="2229" y="4"/>
                    </a:lnTo>
                    <a:lnTo>
                      <a:pt x="2251" y="8"/>
                    </a:lnTo>
                    <a:lnTo>
                      <a:pt x="2272" y="12"/>
                    </a:lnTo>
                    <a:lnTo>
                      <a:pt x="2293" y="19"/>
                    </a:lnTo>
                    <a:lnTo>
                      <a:pt x="2314" y="25"/>
                    </a:lnTo>
                    <a:lnTo>
                      <a:pt x="2335" y="33"/>
                    </a:lnTo>
                    <a:lnTo>
                      <a:pt x="2354" y="42"/>
                    </a:lnTo>
                    <a:lnTo>
                      <a:pt x="2374" y="50"/>
                    </a:lnTo>
                    <a:lnTo>
                      <a:pt x="2393" y="61"/>
                    </a:lnTo>
                    <a:lnTo>
                      <a:pt x="2412" y="73"/>
                    </a:lnTo>
                    <a:lnTo>
                      <a:pt x="2430" y="85"/>
                    </a:lnTo>
                    <a:lnTo>
                      <a:pt x="2449" y="100"/>
                    </a:lnTo>
                    <a:lnTo>
                      <a:pt x="2465" y="115"/>
                    </a:lnTo>
                    <a:lnTo>
                      <a:pt x="2482" y="130"/>
                    </a:lnTo>
                    <a:close/>
                  </a:path>
                </a:pathLst>
              </a:custGeom>
              <a:solidFill>
                <a:srgbClr val="B33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8" name="Freeform 24"/>
              <p:cNvSpPr>
                <a:spLocks/>
              </p:cNvSpPr>
              <p:nvPr/>
            </p:nvSpPr>
            <p:spPr bwMode="auto">
              <a:xfrm>
                <a:off x="1651" y="3099"/>
                <a:ext cx="762" cy="762"/>
              </a:xfrm>
              <a:custGeom>
                <a:avLst/>
                <a:gdLst>
                  <a:gd name="T0" fmla="*/ 3709 w 3810"/>
                  <a:gd name="T1" fmla="*/ 1641 h 3809"/>
                  <a:gd name="T2" fmla="*/ 3746 w 3810"/>
                  <a:gd name="T3" fmla="*/ 1688 h 3809"/>
                  <a:gd name="T4" fmla="*/ 3774 w 3810"/>
                  <a:gd name="T5" fmla="*/ 1740 h 3809"/>
                  <a:gd name="T6" fmla="*/ 3795 w 3810"/>
                  <a:gd name="T7" fmla="*/ 1793 h 3809"/>
                  <a:gd name="T8" fmla="*/ 3807 w 3810"/>
                  <a:gd name="T9" fmla="*/ 1848 h 3809"/>
                  <a:gd name="T10" fmla="*/ 3810 w 3810"/>
                  <a:gd name="T11" fmla="*/ 1905 h 3809"/>
                  <a:gd name="T12" fmla="*/ 3807 w 3810"/>
                  <a:gd name="T13" fmla="*/ 1962 h 3809"/>
                  <a:gd name="T14" fmla="*/ 3795 w 3810"/>
                  <a:gd name="T15" fmla="*/ 2017 h 3809"/>
                  <a:gd name="T16" fmla="*/ 3774 w 3810"/>
                  <a:gd name="T17" fmla="*/ 2070 h 3809"/>
                  <a:gd name="T18" fmla="*/ 3746 w 3810"/>
                  <a:gd name="T19" fmla="*/ 2122 h 3809"/>
                  <a:gd name="T20" fmla="*/ 3709 w 3810"/>
                  <a:gd name="T21" fmla="*/ 2169 h 3809"/>
                  <a:gd name="T22" fmla="*/ 2169 w 3810"/>
                  <a:gd name="T23" fmla="*/ 3708 h 3809"/>
                  <a:gd name="T24" fmla="*/ 2122 w 3810"/>
                  <a:gd name="T25" fmla="*/ 3746 h 3809"/>
                  <a:gd name="T26" fmla="*/ 2071 w 3810"/>
                  <a:gd name="T27" fmla="*/ 3773 h 3809"/>
                  <a:gd name="T28" fmla="*/ 2018 w 3810"/>
                  <a:gd name="T29" fmla="*/ 3794 h 3809"/>
                  <a:gd name="T30" fmla="*/ 1962 w 3810"/>
                  <a:gd name="T31" fmla="*/ 3806 h 3809"/>
                  <a:gd name="T32" fmla="*/ 1906 w 3810"/>
                  <a:gd name="T33" fmla="*/ 3809 h 3809"/>
                  <a:gd name="T34" fmla="*/ 1849 w 3810"/>
                  <a:gd name="T35" fmla="*/ 3806 h 3809"/>
                  <a:gd name="T36" fmla="*/ 1793 w 3810"/>
                  <a:gd name="T37" fmla="*/ 3794 h 3809"/>
                  <a:gd name="T38" fmla="*/ 1739 w 3810"/>
                  <a:gd name="T39" fmla="*/ 3773 h 3809"/>
                  <a:gd name="T40" fmla="*/ 1689 w 3810"/>
                  <a:gd name="T41" fmla="*/ 3746 h 3809"/>
                  <a:gd name="T42" fmla="*/ 1642 w 3810"/>
                  <a:gd name="T43" fmla="*/ 3708 h 3809"/>
                  <a:gd name="T44" fmla="*/ 101 w 3810"/>
                  <a:gd name="T45" fmla="*/ 2169 h 3809"/>
                  <a:gd name="T46" fmla="*/ 65 w 3810"/>
                  <a:gd name="T47" fmla="*/ 2122 h 3809"/>
                  <a:gd name="T48" fmla="*/ 37 w 3810"/>
                  <a:gd name="T49" fmla="*/ 2070 h 3809"/>
                  <a:gd name="T50" fmla="*/ 17 w 3810"/>
                  <a:gd name="T51" fmla="*/ 2017 h 3809"/>
                  <a:gd name="T52" fmla="*/ 5 w 3810"/>
                  <a:gd name="T53" fmla="*/ 1962 h 3809"/>
                  <a:gd name="T54" fmla="*/ 0 w 3810"/>
                  <a:gd name="T55" fmla="*/ 1905 h 3809"/>
                  <a:gd name="T56" fmla="*/ 5 w 3810"/>
                  <a:gd name="T57" fmla="*/ 1848 h 3809"/>
                  <a:gd name="T58" fmla="*/ 17 w 3810"/>
                  <a:gd name="T59" fmla="*/ 1793 h 3809"/>
                  <a:gd name="T60" fmla="*/ 37 w 3810"/>
                  <a:gd name="T61" fmla="*/ 1740 h 3809"/>
                  <a:gd name="T62" fmla="*/ 65 w 3810"/>
                  <a:gd name="T63" fmla="*/ 1688 h 3809"/>
                  <a:gd name="T64" fmla="*/ 101 w 3810"/>
                  <a:gd name="T65" fmla="*/ 1641 h 3809"/>
                  <a:gd name="T66" fmla="*/ 1642 w 3810"/>
                  <a:gd name="T67" fmla="*/ 100 h 3809"/>
                  <a:gd name="T68" fmla="*/ 1689 w 3810"/>
                  <a:gd name="T69" fmla="*/ 64 h 3809"/>
                  <a:gd name="T70" fmla="*/ 1739 w 3810"/>
                  <a:gd name="T71" fmla="*/ 37 h 3809"/>
                  <a:gd name="T72" fmla="*/ 1793 w 3810"/>
                  <a:gd name="T73" fmla="*/ 16 h 3809"/>
                  <a:gd name="T74" fmla="*/ 1849 w 3810"/>
                  <a:gd name="T75" fmla="*/ 4 h 3809"/>
                  <a:gd name="T76" fmla="*/ 1906 w 3810"/>
                  <a:gd name="T77" fmla="*/ 0 h 3809"/>
                  <a:gd name="T78" fmla="*/ 1962 w 3810"/>
                  <a:gd name="T79" fmla="*/ 4 h 3809"/>
                  <a:gd name="T80" fmla="*/ 2018 w 3810"/>
                  <a:gd name="T81" fmla="*/ 16 h 3809"/>
                  <a:gd name="T82" fmla="*/ 2071 w 3810"/>
                  <a:gd name="T83" fmla="*/ 37 h 3809"/>
                  <a:gd name="T84" fmla="*/ 2122 w 3810"/>
                  <a:gd name="T85" fmla="*/ 64 h 3809"/>
                  <a:gd name="T86" fmla="*/ 2169 w 3810"/>
                  <a:gd name="T87" fmla="*/ 100 h 3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10" h="3809">
                    <a:moveTo>
                      <a:pt x="2184" y="115"/>
                    </a:moveTo>
                    <a:lnTo>
                      <a:pt x="3696" y="1627"/>
                    </a:lnTo>
                    <a:lnTo>
                      <a:pt x="3709" y="1641"/>
                    </a:lnTo>
                    <a:lnTo>
                      <a:pt x="3723" y="1656"/>
                    </a:lnTo>
                    <a:lnTo>
                      <a:pt x="3735" y="1672"/>
                    </a:lnTo>
                    <a:lnTo>
                      <a:pt x="3746" y="1688"/>
                    </a:lnTo>
                    <a:lnTo>
                      <a:pt x="3757" y="1704"/>
                    </a:lnTo>
                    <a:lnTo>
                      <a:pt x="3765" y="1722"/>
                    </a:lnTo>
                    <a:lnTo>
                      <a:pt x="3774" y="1740"/>
                    </a:lnTo>
                    <a:lnTo>
                      <a:pt x="3782" y="1757"/>
                    </a:lnTo>
                    <a:lnTo>
                      <a:pt x="3788" y="1775"/>
                    </a:lnTo>
                    <a:lnTo>
                      <a:pt x="3795" y="1793"/>
                    </a:lnTo>
                    <a:lnTo>
                      <a:pt x="3799" y="1811"/>
                    </a:lnTo>
                    <a:lnTo>
                      <a:pt x="3804" y="1829"/>
                    </a:lnTo>
                    <a:lnTo>
                      <a:pt x="3807" y="1848"/>
                    </a:lnTo>
                    <a:lnTo>
                      <a:pt x="3809" y="1867"/>
                    </a:lnTo>
                    <a:lnTo>
                      <a:pt x="3810" y="1886"/>
                    </a:lnTo>
                    <a:lnTo>
                      <a:pt x="3810" y="1905"/>
                    </a:lnTo>
                    <a:lnTo>
                      <a:pt x="3810" y="1924"/>
                    </a:lnTo>
                    <a:lnTo>
                      <a:pt x="3809" y="1942"/>
                    </a:lnTo>
                    <a:lnTo>
                      <a:pt x="3807" y="1962"/>
                    </a:lnTo>
                    <a:lnTo>
                      <a:pt x="3804" y="1981"/>
                    </a:lnTo>
                    <a:lnTo>
                      <a:pt x="3799" y="1999"/>
                    </a:lnTo>
                    <a:lnTo>
                      <a:pt x="3795" y="2017"/>
                    </a:lnTo>
                    <a:lnTo>
                      <a:pt x="3788" y="2035"/>
                    </a:lnTo>
                    <a:lnTo>
                      <a:pt x="3782" y="2053"/>
                    </a:lnTo>
                    <a:lnTo>
                      <a:pt x="3774" y="2070"/>
                    </a:lnTo>
                    <a:lnTo>
                      <a:pt x="3765" y="2088"/>
                    </a:lnTo>
                    <a:lnTo>
                      <a:pt x="3757" y="2105"/>
                    </a:lnTo>
                    <a:lnTo>
                      <a:pt x="3746" y="2122"/>
                    </a:lnTo>
                    <a:lnTo>
                      <a:pt x="3735" y="2137"/>
                    </a:lnTo>
                    <a:lnTo>
                      <a:pt x="3723" y="2154"/>
                    </a:lnTo>
                    <a:lnTo>
                      <a:pt x="3709" y="2169"/>
                    </a:lnTo>
                    <a:lnTo>
                      <a:pt x="3696" y="2183"/>
                    </a:lnTo>
                    <a:lnTo>
                      <a:pt x="2184" y="3695"/>
                    </a:lnTo>
                    <a:lnTo>
                      <a:pt x="2169" y="3708"/>
                    </a:lnTo>
                    <a:lnTo>
                      <a:pt x="2153" y="3721"/>
                    </a:lnTo>
                    <a:lnTo>
                      <a:pt x="2138" y="3734"/>
                    </a:lnTo>
                    <a:lnTo>
                      <a:pt x="2122" y="3746"/>
                    </a:lnTo>
                    <a:lnTo>
                      <a:pt x="2105" y="3755"/>
                    </a:lnTo>
                    <a:lnTo>
                      <a:pt x="2089" y="3765"/>
                    </a:lnTo>
                    <a:lnTo>
                      <a:pt x="2071" y="3773"/>
                    </a:lnTo>
                    <a:lnTo>
                      <a:pt x="2054" y="3781"/>
                    </a:lnTo>
                    <a:lnTo>
                      <a:pt x="2036" y="3787"/>
                    </a:lnTo>
                    <a:lnTo>
                      <a:pt x="2018" y="3794"/>
                    </a:lnTo>
                    <a:lnTo>
                      <a:pt x="1999" y="3798"/>
                    </a:lnTo>
                    <a:lnTo>
                      <a:pt x="1980" y="3803"/>
                    </a:lnTo>
                    <a:lnTo>
                      <a:pt x="1962" y="3806"/>
                    </a:lnTo>
                    <a:lnTo>
                      <a:pt x="1943" y="3808"/>
                    </a:lnTo>
                    <a:lnTo>
                      <a:pt x="1924" y="3809"/>
                    </a:lnTo>
                    <a:lnTo>
                      <a:pt x="1906" y="3809"/>
                    </a:lnTo>
                    <a:lnTo>
                      <a:pt x="1886" y="3809"/>
                    </a:lnTo>
                    <a:lnTo>
                      <a:pt x="1867" y="3808"/>
                    </a:lnTo>
                    <a:lnTo>
                      <a:pt x="1849" y="3806"/>
                    </a:lnTo>
                    <a:lnTo>
                      <a:pt x="1830" y="3803"/>
                    </a:lnTo>
                    <a:lnTo>
                      <a:pt x="1812" y="3798"/>
                    </a:lnTo>
                    <a:lnTo>
                      <a:pt x="1793" y="3794"/>
                    </a:lnTo>
                    <a:lnTo>
                      <a:pt x="1775" y="3787"/>
                    </a:lnTo>
                    <a:lnTo>
                      <a:pt x="1757" y="3781"/>
                    </a:lnTo>
                    <a:lnTo>
                      <a:pt x="1739" y="3773"/>
                    </a:lnTo>
                    <a:lnTo>
                      <a:pt x="1723" y="3765"/>
                    </a:lnTo>
                    <a:lnTo>
                      <a:pt x="1705" y="3755"/>
                    </a:lnTo>
                    <a:lnTo>
                      <a:pt x="1689" y="3746"/>
                    </a:lnTo>
                    <a:lnTo>
                      <a:pt x="1672" y="3734"/>
                    </a:lnTo>
                    <a:lnTo>
                      <a:pt x="1657" y="3721"/>
                    </a:lnTo>
                    <a:lnTo>
                      <a:pt x="1642" y="3708"/>
                    </a:lnTo>
                    <a:lnTo>
                      <a:pt x="1628" y="3695"/>
                    </a:lnTo>
                    <a:lnTo>
                      <a:pt x="115" y="2183"/>
                    </a:lnTo>
                    <a:lnTo>
                      <a:pt x="101" y="2169"/>
                    </a:lnTo>
                    <a:lnTo>
                      <a:pt x="88" y="2154"/>
                    </a:lnTo>
                    <a:lnTo>
                      <a:pt x="76" y="2137"/>
                    </a:lnTo>
                    <a:lnTo>
                      <a:pt x="65" y="2122"/>
                    </a:lnTo>
                    <a:lnTo>
                      <a:pt x="55" y="2105"/>
                    </a:lnTo>
                    <a:lnTo>
                      <a:pt x="45" y="2088"/>
                    </a:lnTo>
                    <a:lnTo>
                      <a:pt x="37" y="2070"/>
                    </a:lnTo>
                    <a:lnTo>
                      <a:pt x="29" y="2053"/>
                    </a:lnTo>
                    <a:lnTo>
                      <a:pt x="22" y="2035"/>
                    </a:lnTo>
                    <a:lnTo>
                      <a:pt x="17" y="2017"/>
                    </a:lnTo>
                    <a:lnTo>
                      <a:pt x="11" y="1999"/>
                    </a:lnTo>
                    <a:lnTo>
                      <a:pt x="8" y="1981"/>
                    </a:lnTo>
                    <a:lnTo>
                      <a:pt x="5" y="1962"/>
                    </a:lnTo>
                    <a:lnTo>
                      <a:pt x="3" y="1942"/>
                    </a:lnTo>
                    <a:lnTo>
                      <a:pt x="1" y="1924"/>
                    </a:lnTo>
                    <a:lnTo>
                      <a:pt x="0" y="1905"/>
                    </a:lnTo>
                    <a:lnTo>
                      <a:pt x="1" y="1886"/>
                    </a:lnTo>
                    <a:lnTo>
                      <a:pt x="3" y="1867"/>
                    </a:lnTo>
                    <a:lnTo>
                      <a:pt x="5" y="1848"/>
                    </a:lnTo>
                    <a:lnTo>
                      <a:pt x="8" y="1829"/>
                    </a:lnTo>
                    <a:lnTo>
                      <a:pt x="11" y="1811"/>
                    </a:lnTo>
                    <a:lnTo>
                      <a:pt x="17" y="1793"/>
                    </a:lnTo>
                    <a:lnTo>
                      <a:pt x="22" y="1775"/>
                    </a:lnTo>
                    <a:lnTo>
                      <a:pt x="29" y="1757"/>
                    </a:lnTo>
                    <a:lnTo>
                      <a:pt x="37" y="1740"/>
                    </a:lnTo>
                    <a:lnTo>
                      <a:pt x="45" y="1722"/>
                    </a:lnTo>
                    <a:lnTo>
                      <a:pt x="55" y="1704"/>
                    </a:lnTo>
                    <a:lnTo>
                      <a:pt x="65" y="1688"/>
                    </a:lnTo>
                    <a:lnTo>
                      <a:pt x="76" y="1672"/>
                    </a:lnTo>
                    <a:lnTo>
                      <a:pt x="88" y="1656"/>
                    </a:lnTo>
                    <a:lnTo>
                      <a:pt x="101" y="1641"/>
                    </a:lnTo>
                    <a:lnTo>
                      <a:pt x="115" y="1627"/>
                    </a:lnTo>
                    <a:lnTo>
                      <a:pt x="1628" y="115"/>
                    </a:lnTo>
                    <a:lnTo>
                      <a:pt x="1642" y="100"/>
                    </a:lnTo>
                    <a:lnTo>
                      <a:pt x="1657" y="88"/>
                    </a:lnTo>
                    <a:lnTo>
                      <a:pt x="1672" y="76"/>
                    </a:lnTo>
                    <a:lnTo>
                      <a:pt x="1689" y="64"/>
                    </a:lnTo>
                    <a:lnTo>
                      <a:pt x="1705" y="54"/>
                    </a:lnTo>
                    <a:lnTo>
                      <a:pt x="1723" y="45"/>
                    </a:lnTo>
                    <a:lnTo>
                      <a:pt x="1739" y="37"/>
                    </a:lnTo>
                    <a:lnTo>
                      <a:pt x="1757" y="29"/>
                    </a:lnTo>
                    <a:lnTo>
                      <a:pt x="1775" y="22"/>
                    </a:lnTo>
                    <a:lnTo>
                      <a:pt x="1793" y="16"/>
                    </a:lnTo>
                    <a:lnTo>
                      <a:pt x="1812" y="12"/>
                    </a:lnTo>
                    <a:lnTo>
                      <a:pt x="1830" y="7"/>
                    </a:lnTo>
                    <a:lnTo>
                      <a:pt x="1849" y="4"/>
                    </a:lnTo>
                    <a:lnTo>
                      <a:pt x="1867" y="2"/>
                    </a:lnTo>
                    <a:lnTo>
                      <a:pt x="1886" y="1"/>
                    </a:lnTo>
                    <a:lnTo>
                      <a:pt x="1906" y="0"/>
                    </a:lnTo>
                    <a:lnTo>
                      <a:pt x="1924" y="1"/>
                    </a:lnTo>
                    <a:lnTo>
                      <a:pt x="1943" y="2"/>
                    </a:lnTo>
                    <a:lnTo>
                      <a:pt x="1962" y="4"/>
                    </a:lnTo>
                    <a:lnTo>
                      <a:pt x="1980" y="7"/>
                    </a:lnTo>
                    <a:lnTo>
                      <a:pt x="1999" y="12"/>
                    </a:lnTo>
                    <a:lnTo>
                      <a:pt x="2018" y="16"/>
                    </a:lnTo>
                    <a:lnTo>
                      <a:pt x="2036" y="22"/>
                    </a:lnTo>
                    <a:lnTo>
                      <a:pt x="2054" y="29"/>
                    </a:lnTo>
                    <a:lnTo>
                      <a:pt x="2071" y="37"/>
                    </a:lnTo>
                    <a:lnTo>
                      <a:pt x="2089" y="45"/>
                    </a:lnTo>
                    <a:lnTo>
                      <a:pt x="2105" y="54"/>
                    </a:lnTo>
                    <a:lnTo>
                      <a:pt x="2122" y="64"/>
                    </a:lnTo>
                    <a:lnTo>
                      <a:pt x="2138" y="76"/>
                    </a:lnTo>
                    <a:lnTo>
                      <a:pt x="2153" y="88"/>
                    </a:lnTo>
                    <a:lnTo>
                      <a:pt x="2169" y="100"/>
                    </a:lnTo>
                    <a:lnTo>
                      <a:pt x="2184" y="115"/>
                    </a:lnTo>
                    <a:close/>
                  </a:path>
                </a:pathLst>
              </a:custGeom>
              <a:solidFill>
                <a:srgbClr val="A13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9" name="Freeform 25"/>
              <p:cNvSpPr>
                <a:spLocks noEditPoints="1"/>
              </p:cNvSpPr>
              <p:nvPr/>
            </p:nvSpPr>
            <p:spPr bwMode="auto">
              <a:xfrm>
                <a:off x="1644" y="3092"/>
                <a:ext cx="776" cy="775"/>
              </a:xfrm>
              <a:custGeom>
                <a:avLst/>
                <a:gdLst>
                  <a:gd name="T0" fmla="*/ 3794 w 3876"/>
                  <a:gd name="T1" fmla="*/ 1685 h 3874"/>
                  <a:gd name="T2" fmla="*/ 3845 w 3876"/>
                  <a:gd name="T3" fmla="*/ 1776 h 3874"/>
                  <a:gd name="T4" fmla="*/ 3872 w 3876"/>
                  <a:gd name="T5" fmla="*/ 1876 h 3874"/>
                  <a:gd name="T6" fmla="*/ 3874 w 3876"/>
                  <a:gd name="T7" fmla="*/ 1977 h 3874"/>
                  <a:gd name="T8" fmla="*/ 3852 w 3876"/>
                  <a:gd name="T9" fmla="*/ 2078 h 3874"/>
                  <a:gd name="T10" fmla="*/ 3806 w 3876"/>
                  <a:gd name="T11" fmla="*/ 2171 h 3874"/>
                  <a:gd name="T12" fmla="*/ 2240 w 3876"/>
                  <a:gd name="T13" fmla="*/ 3750 h 3874"/>
                  <a:gd name="T14" fmla="*/ 2156 w 3876"/>
                  <a:gd name="T15" fmla="*/ 3816 h 3874"/>
                  <a:gd name="T16" fmla="*/ 2060 w 3876"/>
                  <a:gd name="T17" fmla="*/ 3856 h 3874"/>
                  <a:gd name="T18" fmla="*/ 1959 w 3876"/>
                  <a:gd name="T19" fmla="*/ 3874 h 3874"/>
                  <a:gd name="T20" fmla="*/ 1857 w 3876"/>
                  <a:gd name="T21" fmla="*/ 3866 h 3874"/>
                  <a:gd name="T22" fmla="*/ 1759 w 3876"/>
                  <a:gd name="T23" fmla="*/ 3835 h 3874"/>
                  <a:gd name="T24" fmla="*/ 1669 w 3876"/>
                  <a:gd name="T25" fmla="*/ 3779 h 3874"/>
                  <a:gd name="T26" fmla="*/ 96 w 3876"/>
                  <a:gd name="T27" fmla="*/ 2205 h 3874"/>
                  <a:gd name="T28" fmla="*/ 40 w 3876"/>
                  <a:gd name="T29" fmla="*/ 2117 h 3874"/>
                  <a:gd name="T30" fmla="*/ 8 w 3876"/>
                  <a:gd name="T31" fmla="*/ 2018 h 3874"/>
                  <a:gd name="T32" fmla="*/ 2 w 3876"/>
                  <a:gd name="T33" fmla="*/ 1916 h 3874"/>
                  <a:gd name="T34" fmla="*/ 18 w 3876"/>
                  <a:gd name="T35" fmla="*/ 1815 h 3874"/>
                  <a:gd name="T36" fmla="*/ 60 w 3876"/>
                  <a:gd name="T37" fmla="*/ 1720 h 3874"/>
                  <a:gd name="T38" fmla="*/ 125 w 3876"/>
                  <a:gd name="T39" fmla="*/ 1636 h 3874"/>
                  <a:gd name="T40" fmla="*/ 1704 w 3876"/>
                  <a:gd name="T41" fmla="*/ 69 h 3874"/>
                  <a:gd name="T42" fmla="*/ 1797 w 3876"/>
                  <a:gd name="T43" fmla="*/ 23 h 3874"/>
                  <a:gd name="T44" fmla="*/ 1897 w 3876"/>
                  <a:gd name="T45" fmla="*/ 1 h 3874"/>
                  <a:gd name="T46" fmla="*/ 2000 w 3876"/>
                  <a:gd name="T47" fmla="*/ 4 h 3874"/>
                  <a:gd name="T48" fmla="*/ 2099 w 3876"/>
                  <a:gd name="T49" fmla="*/ 31 h 3874"/>
                  <a:gd name="T50" fmla="*/ 2191 w 3876"/>
                  <a:gd name="T51" fmla="*/ 81 h 3874"/>
                  <a:gd name="T52" fmla="*/ 2194 w 3876"/>
                  <a:gd name="T53" fmla="*/ 170 h 3874"/>
                  <a:gd name="T54" fmla="*/ 2122 w 3876"/>
                  <a:gd name="T55" fmla="*/ 115 h 3874"/>
                  <a:gd name="T56" fmla="*/ 2042 w 3876"/>
                  <a:gd name="T57" fmla="*/ 80 h 3874"/>
                  <a:gd name="T58" fmla="*/ 1956 w 3876"/>
                  <a:gd name="T59" fmla="*/ 66 h 3874"/>
                  <a:gd name="T60" fmla="*/ 1870 w 3876"/>
                  <a:gd name="T61" fmla="*/ 71 h 3874"/>
                  <a:gd name="T62" fmla="*/ 1787 w 3876"/>
                  <a:gd name="T63" fmla="*/ 98 h 3874"/>
                  <a:gd name="T64" fmla="*/ 1711 w 3876"/>
                  <a:gd name="T65" fmla="*/ 146 h 3874"/>
                  <a:gd name="T66" fmla="*/ 146 w 3876"/>
                  <a:gd name="T67" fmla="*/ 1709 h 3874"/>
                  <a:gd name="T68" fmla="*/ 99 w 3876"/>
                  <a:gd name="T69" fmla="*/ 1785 h 3874"/>
                  <a:gd name="T70" fmla="*/ 73 w 3876"/>
                  <a:gd name="T71" fmla="*/ 1868 h 3874"/>
                  <a:gd name="T72" fmla="*/ 66 w 3876"/>
                  <a:gd name="T73" fmla="*/ 1954 h 3874"/>
                  <a:gd name="T74" fmla="*/ 80 w 3876"/>
                  <a:gd name="T75" fmla="*/ 2040 h 3874"/>
                  <a:gd name="T76" fmla="*/ 116 w 3876"/>
                  <a:gd name="T77" fmla="*/ 2120 h 3874"/>
                  <a:gd name="T78" fmla="*/ 171 w 3876"/>
                  <a:gd name="T79" fmla="*/ 2192 h 3874"/>
                  <a:gd name="T80" fmla="*/ 1739 w 3876"/>
                  <a:gd name="T81" fmla="*/ 3750 h 3874"/>
                  <a:gd name="T82" fmla="*/ 1819 w 3876"/>
                  <a:gd name="T83" fmla="*/ 3789 h 3874"/>
                  <a:gd name="T84" fmla="*/ 1904 w 3876"/>
                  <a:gd name="T85" fmla="*/ 3807 h 3874"/>
                  <a:gd name="T86" fmla="*/ 1990 w 3876"/>
                  <a:gd name="T87" fmla="*/ 3805 h 3874"/>
                  <a:gd name="T88" fmla="*/ 2075 w 3876"/>
                  <a:gd name="T89" fmla="*/ 3783 h 3874"/>
                  <a:gd name="T90" fmla="*/ 2152 w 3876"/>
                  <a:gd name="T91" fmla="*/ 3739 h 3874"/>
                  <a:gd name="T92" fmla="*/ 3718 w 3876"/>
                  <a:gd name="T93" fmla="*/ 2179 h 3874"/>
                  <a:gd name="T94" fmla="*/ 3770 w 3876"/>
                  <a:gd name="T95" fmla="*/ 2105 h 3874"/>
                  <a:gd name="T96" fmla="*/ 3800 w 3876"/>
                  <a:gd name="T97" fmla="*/ 2022 h 3874"/>
                  <a:gd name="T98" fmla="*/ 3811 w 3876"/>
                  <a:gd name="T99" fmla="*/ 1937 h 3874"/>
                  <a:gd name="T100" fmla="*/ 3800 w 3876"/>
                  <a:gd name="T101" fmla="*/ 1850 h 3874"/>
                  <a:gd name="T102" fmla="*/ 3770 w 3876"/>
                  <a:gd name="T103" fmla="*/ 1769 h 3874"/>
                  <a:gd name="T104" fmla="*/ 3718 w 3876"/>
                  <a:gd name="T105" fmla="*/ 1695 h 3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76" h="3874">
                    <a:moveTo>
                      <a:pt x="2240" y="124"/>
                    </a:moveTo>
                    <a:lnTo>
                      <a:pt x="3752" y="1636"/>
                    </a:lnTo>
                    <a:lnTo>
                      <a:pt x="3766" y="1651"/>
                    </a:lnTo>
                    <a:lnTo>
                      <a:pt x="3781" y="1667"/>
                    </a:lnTo>
                    <a:lnTo>
                      <a:pt x="3794" y="1685"/>
                    </a:lnTo>
                    <a:lnTo>
                      <a:pt x="3806" y="1702"/>
                    </a:lnTo>
                    <a:lnTo>
                      <a:pt x="3817" y="1720"/>
                    </a:lnTo>
                    <a:lnTo>
                      <a:pt x="3828" y="1739"/>
                    </a:lnTo>
                    <a:lnTo>
                      <a:pt x="3837" y="1757"/>
                    </a:lnTo>
                    <a:lnTo>
                      <a:pt x="3845" y="1776"/>
                    </a:lnTo>
                    <a:lnTo>
                      <a:pt x="3852" y="1796"/>
                    </a:lnTo>
                    <a:lnTo>
                      <a:pt x="3859" y="1815"/>
                    </a:lnTo>
                    <a:lnTo>
                      <a:pt x="3864" y="1835"/>
                    </a:lnTo>
                    <a:lnTo>
                      <a:pt x="3868" y="1856"/>
                    </a:lnTo>
                    <a:lnTo>
                      <a:pt x="3872" y="1876"/>
                    </a:lnTo>
                    <a:lnTo>
                      <a:pt x="3874" y="1896"/>
                    </a:lnTo>
                    <a:lnTo>
                      <a:pt x="3876" y="1916"/>
                    </a:lnTo>
                    <a:lnTo>
                      <a:pt x="3876" y="1937"/>
                    </a:lnTo>
                    <a:lnTo>
                      <a:pt x="3876" y="1958"/>
                    </a:lnTo>
                    <a:lnTo>
                      <a:pt x="3874" y="1977"/>
                    </a:lnTo>
                    <a:lnTo>
                      <a:pt x="3872" y="1998"/>
                    </a:lnTo>
                    <a:lnTo>
                      <a:pt x="3868" y="2018"/>
                    </a:lnTo>
                    <a:lnTo>
                      <a:pt x="3864" y="2039"/>
                    </a:lnTo>
                    <a:lnTo>
                      <a:pt x="3859" y="2059"/>
                    </a:lnTo>
                    <a:lnTo>
                      <a:pt x="3852" y="2078"/>
                    </a:lnTo>
                    <a:lnTo>
                      <a:pt x="3845" y="2097"/>
                    </a:lnTo>
                    <a:lnTo>
                      <a:pt x="3837" y="2117"/>
                    </a:lnTo>
                    <a:lnTo>
                      <a:pt x="3828" y="2135"/>
                    </a:lnTo>
                    <a:lnTo>
                      <a:pt x="3817" y="2154"/>
                    </a:lnTo>
                    <a:lnTo>
                      <a:pt x="3806" y="2171"/>
                    </a:lnTo>
                    <a:lnTo>
                      <a:pt x="3794" y="2189"/>
                    </a:lnTo>
                    <a:lnTo>
                      <a:pt x="3781" y="2205"/>
                    </a:lnTo>
                    <a:lnTo>
                      <a:pt x="3766" y="2222"/>
                    </a:lnTo>
                    <a:lnTo>
                      <a:pt x="3752" y="2238"/>
                    </a:lnTo>
                    <a:lnTo>
                      <a:pt x="2240" y="3750"/>
                    </a:lnTo>
                    <a:lnTo>
                      <a:pt x="2224" y="3766"/>
                    </a:lnTo>
                    <a:lnTo>
                      <a:pt x="2207" y="3779"/>
                    </a:lnTo>
                    <a:lnTo>
                      <a:pt x="2191" y="3792"/>
                    </a:lnTo>
                    <a:lnTo>
                      <a:pt x="2173" y="3804"/>
                    </a:lnTo>
                    <a:lnTo>
                      <a:pt x="2156" y="3816"/>
                    </a:lnTo>
                    <a:lnTo>
                      <a:pt x="2137" y="3826"/>
                    </a:lnTo>
                    <a:lnTo>
                      <a:pt x="2119" y="3835"/>
                    </a:lnTo>
                    <a:lnTo>
                      <a:pt x="2099" y="3843"/>
                    </a:lnTo>
                    <a:lnTo>
                      <a:pt x="2080" y="3851"/>
                    </a:lnTo>
                    <a:lnTo>
                      <a:pt x="2060" y="3856"/>
                    </a:lnTo>
                    <a:lnTo>
                      <a:pt x="2040" y="3862"/>
                    </a:lnTo>
                    <a:lnTo>
                      <a:pt x="2020" y="3866"/>
                    </a:lnTo>
                    <a:lnTo>
                      <a:pt x="2000" y="3870"/>
                    </a:lnTo>
                    <a:lnTo>
                      <a:pt x="1979" y="3872"/>
                    </a:lnTo>
                    <a:lnTo>
                      <a:pt x="1959" y="3874"/>
                    </a:lnTo>
                    <a:lnTo>
                      <a:pt x="1939" y="3874"/>
                    </a:lnTo>
                    <a:lnTo>
                      <a:pt x="1918" y="3874"/>
                    </a:lnTo>
                    <a:lnTo>
                      <a:pt x="1897" y="3872"/>
                    </a:lnTo>
                    <a:lnTo>
                      <a:pt x="1877" y="3870"/>
                    </a:lnTo>
                    <a:lnTo>
                      <a:pt x="1857" y="3866"/>
                    </a:lnTo>
                    <a:lnTo>
                      <a:pt x="1837" y="3862"/>
                    </a:lnTo>
                    <a:lnTo>
                      <a:pt x="1817" y="3856"/>
                    </a:lnTo>
                    <a:lnTo>
                      <a:pt x="1797" y="3851"/>
                    </a:lnTo>
                    <a:lnTo>
                      <a:pt x="1778" y="3843"/>
                    </a:lnTo>
                    <a:lnTo>
                      <a:pt x="1759" y="3835"/>
                    </a:lnTo>
                    <a:lnTo>
                      <a:pt x="1741" y="3826"/>
                    </a:lnTo>
                    <a:lnTo>
                      <a:pt x="1722" y="3816"/>
                    </a:lnTo>
                    <a:lnTo>
                      <a:pt x="1704" y="3804"/>
                    </a:lnTo>
                    <a:lnTo>
                      <a:pt x="1687" y="3792"/>
                    </a:lnTo>
                    <a:lnTo>
                      <a:pt x="1669" y="3779"/>
                    </a:lnTo>
                    <a:lnTo>
                      <a:pt x="1653" y="3766"/>
                    </a:lnTo>
                    <a:lnTo>
                      <a:pt x="1638" y="3750"/>
                    </a:lnTo>
                    <a:lnTo>
                      <a:pt x="125" y="2238"/>
                    </a:lnTo>
                    <a:lnTo>
                      <a:pt x="110" y="2222"/>
                    </a:lnTo>
                    <a:lnTo>
                      <a:pt x="96" y="2205"/>
                    </a:lnTo>
                    <a:lnTo>
                      <a:pt x="83" y="2189"/>
                    </a:lnTo>
                    <a:lnTo>
                      <a:pt x="71" y="2171"/>
                    </a:lnTo>
                    <a:lnTo>
                      <a:pt x="60" y="2154"/>
                    </a:lnTo>
                    <a:lnTo>
                      <a:pt x="50" y="2135"/>
                    </a:lnTo>
                    <a:lnTo>
                      <a:pt x="40" y="2117"/>
                    </a:lnTo>
                    <a:lnTo>
                      <a:pt x="32" y="2097"/>
                    </a:lnTo>
                    <a:lnTo>
                      <a:pt x="25" y="2078"/>
                    </a:lnTo>
                    <a:lnTo>
                      <a:pt x="18" y="2059"/>
                    </a:lnTo>
                    <a:lnTo>
                      <a:pt x="13" y="2039"/>
                    </a:lnTo>
                    <a:lnTo>
                      <a:pt x="8" y="2018"/>
                    </a:lnTo>
                    <a:lnTo>
                      <a:pt x="5" y="1998"/>
                    </a:lnTo>
                    <a:lnTo>
                      <a:pt x="3" y="1977"/>
                    </a:lnTo>
                    <a:lnTo>
                      <a:pt x="2" y="1958"/>
                    </a:lnTo>
                    <a:lnTo>
                      <a:pt x="0" y="1937"/>
                    </a:lnTo>
                    <a:lnTo>
                      <a:pt x="2" y="1916"/>
                    </a:lnTo>
                    <a:lnTo>
                      <a:pt x="3" y="1896"/>
                    </a:lnTo>
                    <a:lnTo>
                      <a:pt x="5" y="1876"/>
                    </a:lnTo>
                    <a:lnTo>
                      <a:pt x="8" y="1856"/>
                    </a:lnTo>
                    <a:lnTo>
                      <a:pt x="13" y="1835"/>
                    </a:lnTo>
                    <a:lnTo>
                      <a:pt x="18" y="1815"/>
                    </a:lnTo>
                    <a:lnTo>
                      <a:pt x="25" y="1796"/>
                    </a:lnTo>
                    <a:lnTo>
                      <a:pt x="32" y="1776"/>
                    </a:lnTo>
                    <a:lnTo>
                      <a:pt x="40" y="1757"/>
                    </a:lnTo>
                    <a:lnTo>
                      <a:pt x="50" y="1739"/>
                    </a:lnTo>
                    <a:lnTo>
                      <a:pt x="60" y="1720"/>
                    </a:lnTo>
                    <a:lnTo>
                      <a:pt x="71" y="1702"/>
                    </a:lnTo>
                    <a:lnTo>
                      <a:pt x="83" y="1685"/>
                    </a:lnTo>
                    <a:lnTo>
                      <a:pt x="96" y="1667"/>
                    </a:lnTo>
                    <a:lnTo>
                      <a:pt x="110" y="1651"/>
                    </a:lnTo>
                    <a:lnTo>
                      <a:pt x="125" y="1636"/>
                    </a:lnTo>
                    <a:lnTo>
                      <a:pt x="1638" y="124"/>
                    </a:lnTo>
                    <a:lnTo>
                      <a:pt x="1653" y="108"/>
                    </a:lnTo>
                    <a:lnTo>
                      <a:pt x="1669" y="94"/>
                    </a:lnTo>
                    <a:lnTo>
                      <a:pt x="1687" y="81"/>
                    </a:lnTo>
                    <a:lnTo>
                      <a:pt x="1704" y="69"/>
                    </a:lnTo>
                    <a:lnTo>
                      <a:pt x="1722" y="58"/>
                    </a:lnTo>
                    <a:lnTo>
                      <a:pt x="1741" y="48"/>
                    </a:lnTo>
                    <a:lnTo>
                      <a:pt x="1759" y="39"/>
                    </a:lnTo>
                    <a:lnTo>
                      <a:pt x="1778" y="31"/>
                    </a:lnTo>
                    <a:lnTo>
                      <a:pt x="1797" y="23"/>
                    </a:lnTo>
                    <a:lnTo>
                      <a:pt x="1817" y="17"/>
                    </a:lnTo>
                    <a:lnTo>
                      <a:pt x="1837" y="12"/>
                    </a:lnTo>
                    <a:lnTo>
                      <a:pt x="1857" y="8"/>
                    </a:lnTo>
                    <a:lnTo>
                      <a:pt x="1877" y="4"/>
                    </a:lnTo>
                    <a:lnTo>
                      <a:pt x="1897" y="1"/>
                    </a:lnTo>
                    <a:lnTo>
                      <a:pt x="1918" y="0"/>
                    </a:lnTo>
                    <a:lnTo>
                      <a:pt x="1939" y="0"/>
                    </a:lnTo>
                    <a:lnTo>
                      <a:pt x="1959" y="0"/>
                    </a:lnTo>
                    <a:lnTo>
                      <a:pt x="1979" y="1"/>
                    </a:lnTo>
                    <a:lnTo>
                      <a:pt x="2000" y="4"/>
                    </a:lnTo>
                    <a:lnTo>
                      <a:pt x="2020" y="8"/>
                    </a:lnTo>
                    <a:lnTo>
                      <a:pt x="2040" y="12"/>
                    </a:lnTo>
                    <a:lnTo>
                      <a:pt x="2060" y="17"/>
                    </a:lnTo>
                    <a:lnTo>
                      <a:pt x="2080" y="23"/>
                    </a:lnTo>
                    <a:lnTo>
                      <a:pt x="2099" y="31"/>
                    </a:lnTo>
                    <a:lnTo>
                      <a:pt x="2119" y="39"/>
                    </a:lnTo>
                    <a:lnTo>
                      <a:pt x="2137" y="48"/>
                    </a:lnTo>
                    <a:lnTo>
                      <a:pt x="2156" y="58"/>
                    </a:lnTo>
                    <a:lnTo>
                      <a:pt x="2173" y="69"/>
                    </a:lnTo>
                    <a:lnTo>
                      <a:pt x="2191" y="81"/>
                    </a:lnTo>
                    <a:lnTo>
                      <a:pt x="2207" y="94"/>
                    </a:lnTo>
                    <a:lnTo>
                      <a:pt x="2224" y="108"/>
                    </a:lnTo>
                    <a:lnTo>
                      <a:pt x="2240" y="124"/>
                    </a:lnTo>
                    <a:close/>
                    <a:moveTo>
                      <a:pt x="3706" y="1682"/>
                    </a:moveTo>
                    <a:lnTo>
                      <a:pt x="2194" y="170"/>
                    </a:lnTo>
                    <a:lnTo>
                      <a:pt x="2180" y="158"/>
                    </a:lnTo>
                    <a:lnTo>
                      <a:pt x="2167" y="146"/>
                    </a:lnTo>
                    <a:lnTo>
                      <a:pt x="2152" y="135"/>
                    </a:lnTo>
                    <a:lnTo>
                      <a:pt x="2137" y="124"/>
                    </a:lnTo>
                    <a:lnTo>
                      <a:pt x="2122" y="115"/>
                    </a:lnTo>
                    <a:lnTo>
                      <a:pt x="2106" y="106"/>
                    </a:lnTo>
                    <a:lnTo>
                      <a:pt x="2091" y="98"/>
                    </a:lnTo>
                    <a:lnTo>
                      <a:pt x="2075" y="91"/>
                    </a:lnTo>
                    <a:lnTo>
                      <a:pt x="2058" y="85"/>
                    </a:lnTo>
                    <a:lnTo>
                      <a:pt x="2042" y="80"/>
                    </a:lnTo>
                    <a:lnTo>
                      <a:pt x="2024" y="75"/>
                    </a:lnTo>
                    <a:lnTo>
                      <a:pt x="2008" y="71"/>
                    </a:lnTo>
                    <a:lnTo>
                      <a:pt x="1990" y="69"/>
                    </a:lnTo>
                    <a:lnTo>
                      <a:pt x="1973" y="67"/>
                    </a:lnTo>
                    <a:lnTo>
                      <a:pt x="1956" y="66"/>
                    </a:lnTo>
                    <a:lnTo>
                      <a:pt x="1939" y="65"/>
                    </a:lnTo>
                    <a:lnTo>
                      <a:pt x="1921" y="66"/>
                    </a:lnTo>
                    <a:lnTo>
                      <a:pt x="1904" y="67"/>
                    </a:lnTo>
                    <a:lnTo>
                      <a:pt x="1886" y="69"/>
                    </a:lnTo>
                    <a:lnTo>
                      <a:pt x="1870" y="71"/>
                    </a:lnTo>
                    <a:lnTo>
                      <a:pt x="1852" y="75"/>
                    </a:lnTo>
                    <a:lnTo>
                      <a:pt x="1836" y="80"/>
                    </a:lnTo>
                    <a:lnTo>
                      <a:pt x="1819" y="85"/>
                    </a:lnTo>
                    <a:lnTo>
                      <a:pt x="1803" y="91"/>
                    </a:lnTo>
                    <a:lnTo>
                      <a:pt x="1787" y="98"/>
                    </a:lnTo>
                    <a:lnTo>
                      <a:pt x="1770" y="106"/>
                    </a:lnTo>
                    <a:lnTo>
                      <a:pt x="1755" y="115"/>
                    </a:lnTo>
                    <a:lnTo>
                      <a:pt x="1739" y="124"/>
                    </a:lnTo>
                    <a:lnTo>
                      <a:pt x="1725" y="135"/>
                    </a:lnTo>
                    <a:lnTo>
                      <a:pt x="1711" y="146"/>
                    </a:lnTo>
                    <a:lnTo>
                      <a:pt x="1697" y="158"/>
                    </a:lnTo>
                    <a:lnTo>
                      <a:pt x="1684" y="170"/>
                    </a:lnTo>
                    <a:lnTo>
                      <a:pt x="171" y="1682"/>
                    </a:lnTo>
                    <a:lnTo>
                      <a:pt x="158" y="1695"/>
                    </a:lnTo>
                    <a:lnTo>
                      <a:pt x="146" y="1709"/>
                    </a:lnTo>
                    <a:lnTo>
                      <a:pt x="135" y="1723"/>
                    </a:lnTo>
                    <a:lnTo>
                      <a:pt x="125" y="1739"/>
                    </a:lnTo>
                    <a:lnTo>
                      <a:pt x="116" y="1753"/>
                    </a:lnTo>
                    <a:lnTo>
                      <a:pt x="107" y="1769"/>
                    </a:lnTo>
                    <a:lnTo>
                      <a:pt x="99" y="1785"/>
                    </a:lnTo>
                    <a:lnTo>
                      <a:pt x="93" y="1801"/>
                    </a:lnTo>
                    <a:lnTo>
                      <a:pt x="86" y="1818"/>
                    </a:lnTo>
                    <a:lnTo>
                      <a:pt x="80" y="1834"/>
                    </a:lnTo>
                    <a:lnTo>
                      <a:pt x="76" y="1850"/>
                    </a:lnTo>
                    <a:lnTo>
                      <a:pt x="73" y="1868"/>
                    </a:lnTo>
                    <a:lnTo>
                      <a:pt x="70" y="1885"/>
                    </a:lnTo>
                    <a:lnTo>
                      <a:pt x="67" y="1902"/>
                    </a:lnTo>
                    <a:lnTo>
                      <a:pt x="66" y="1919"/>
                    </a:lnTo>
                    <a:lnTo>
                      <a:pt x="66" y="1937"/>
                    </a:lnTo>
                    <a:lnTo>
                      <a:pt x="66" y="1954"/>
                    </a:lnTo>
                    <a:lnTo>
                      <a:pt x="67" y="1972"/>
                    </a:lnTo>
                    <a:lnTo>
                      <a:pt x="70" y="1988"/>
                    </a:lnTo>
                    <a:lnTo>
                      <a:pt x="73" y="2006"/>
                    </a:lnTo>
                    <a:lnTo>
                      <a:pt x="76" y="2022"/>
                    </a:lnTo>
                    <a:lnTo>
                      <a:pt x="80" y="2040"/>
                    </a:lnTo>
                    <a:lnTo>
                      <a:pt x="86" y="2056"/>
                    </a:lnTo>
                    <a:lnTo>
                      <a:pt x="93" y="2073"/>
                    </a:lnTo>
                    <a:lnTo>
                      <a:pt x="99" y="2089"/>
                    </a:lnTo>
                    <a:lnTo>
                      <a:pt x="107" y="2105"/>
                    </a:lnTo>
                    <a:lnTo>
                      <a:pt x="116" y="2120"/>
                    </a:lnTo>
                    <a:lnTo>
                      <a:pt x="125" y="2135"/>
                    </a:lnTo>
                    <a:lnTo>
                      <a:pt x="135" y="2151"/>
                    </a:lnTo>
                    <a:lnTo>
                      <a:pt x="146" y="2165"/>
                    </a:lnTo>
                    <a:lnTo>
                      <a:pt x="158" y="2179"/>
                    </a:lnTo>
                    <a:lnTo>
                      <a:pt x="171" y="2192"/>
                    </a:lnTo>
                    <a:lnTo>
                      <a:pt x="1684" y="3704"/>
                    </a:lnTo>
                    <a:lnTo>
                      <a:pt x="1697" y="3716"/>
                    </a:lnTo>
                    <a:lnTo>
                      <a:pt x="1711" y="3728"/>
                    </a:lnTo>
                    <a:lnTo>
                      <a:pt x="1725" y="3739"/>
                    </a:lnTo>
                    <a:lnTo>
                      <a:pt x="1739" y="3750"/>
                    </a:lnTo>
                    <a:lnTo>
                      <a:pt x="1755" y="3759"/>
                    </a:lnTo>
                    <a:lnTo>
                      <a:pt x="1770" y="3768"/>
                    </a:lnTo>
                    <a:lnTo>
                      <a:pt x="1787" y="3775"/>
                    </a:lnTo>
                    <a:lnTo>
                      <a:pt x="1803" y="3783"/>
                    </a:lnTo>
                    <a:lnTo>
                      <a:pt x="1819" y="3789"/>
                    </a:lnTo>
                    <a:lnTo>
                      <a:pt x="1836" y="3794"/>
                    </a:lnTo>
                    <a:lnTo>
                      <a:pt x="1852" y="3798"/>
                    </a:lnTo>
                    <a:lnTo>
                      <a:pt x="1870" y="3803"/>
                    </a:lnTo>
                    <a:lnTo>
                      <a:pt x="1886" y="3805"/>
                    </a:lnTo>
                    <a:lnTo>
                      <a:pt x="1904" y="3807"/>
                    </a:lnTo>
                    <a:lnTo>
                      <a:pt x="1921" y="3808"/>
                    </a:lnTo>
                    <a:lnTo>
                      <a:pt x="1939" y="3809"/>
                    </a:lnTo>
                    <a:lnTo>
                      <a:pt x="1956" y="3808"/>
                    </a:lnTo>
                    <a:lnTo>
                      <a:pt x="1973" y="3807"/>
                    </a:lnTo>
                    <a:lnTo>
                      <a:pt x="1990" y="3805"/>
                    </a:lnTo>
                    <a:lnTo>
                      <a:pt x="2008" y="3803"/>
                    </a:lnTo>
                    <a:lnTo>
                      <a:pt x="2024" y="3798"/>
                    </a:lnTo>
                    <a:lnTo>
                      <a:pt x="2042" y="3794"/>
                    </a:lnTo>
                    <a:lnTo>
                      <a:pt x="2058" y="3789"/>
                    </a:lnTo>
                    <a:lnTo>
                      <a:pt x="2075" y="3783"/>
                    </a:lnTo>
                    <a:lnTo>
                      <a:pt x="2091" y="3775"/>
                    </a:lnTo>
                    <a:lnTo>
                      <a:pt x="2106" y="3768"/>
                    </a:lnTo>
                    <a:lnTo>
                      <a:pt x="2122" y="3759"/>
                    </a:lnTo>
                    <a:lnTo>
                      <a:pt x="2137" y="3750"/>
                    </a:lnTo>
                    <a:lnTo>
                      <a:pt x="2152" y="3739"/>
                    </a:lnTo>
                    <a:lnTo>
                      <a:pt x="2167" y="3728"/>
                    </a:lnTo>
                    <a:lnTo>
                      <a:pt x="2180" y="3716"/>
                    </a:lnTo>
                    <a:lnTo>
                      <a:pt x="2194" y="3704"/>
                    </a:lnTo>
                    <a:lnTo>
                      <a:pt x="3706" y="2192"/>
                    </a:lnTo>
                    <a:lnTo>
                      <a:pt x="3718" y="2179"/>
                    </a:lnTo>
                    <a:lnTo>
                      <a:pt x="3730" y="2165"/>
                    </a:lnTo>
                    <a:lnTo>
                      <a:pt x="3741" y="2151"/>
                    </a:lnTo>
                    <a:lnTo>
                      <a:pt x="3752" y="2135"/>
                    </a:lnTo>
                    <a:lnTo>
                      <a:pt x="3761" y="2120"/>
                    </a:lnTo>
                    <a:lnTo>
                      <a:pt x="3770" y="2105"/>
                    </a:lnTo>
                    <a:lnTo>
                      <a:pt x="3777" y="2089"/>
                    </a:lnTo>
                    <a:lnTo>
                      <a:pt x="3785" y="2073"/>
                    </a:lnTo>
                    <a:lnTo>
                      <a:pt x="3791" y="2056"/>
                    </a:lnTo>
                    <a:lnTo>
                      <a:pt x="3796" y="2040"/>
                    </a:lnTo>
                    <a:lnTo>
                      <a:pt x="3800" y="2022"/>
                    </a:lnTo>
                    <a:lnTo>
                      <a:pt x="3805" y="2006"/>
                    </a:lnTo>
                    <a:lnTo>
                      <a:pt x="3807" y="1988"/>
                    </a:lnTo>
                    <a:lnTo>
                      <a:pt x="3809" y="1972"/>
                    </a:lnTo>
                    <a:lnTo>
                      <a:pt x="3810" y="1954"/>
                    </a:lnTo>
                    <a:lnTo>
                      <a:pt x="3811" y="1937"/>
                    </a:lnTo>
                    <a:lnTo>
                      <a:pt x="3810" y="1919"/>
                    </a:lnTo>
                    <a:lnTo>
                      <a:pt x="3809" y="1902"/>
                    </a:lnTo>
                    <a:lnTo>
                      <a:pt x="3807" y="1885"/>
                    </a:lnTo>
                    <a:lnTo>
                      <a:pt x="3805" y="1868"/>
                    </a:lnTo>
                    <a:lnTo>
                      <a:pt x="3800" y="1850"/>
                    </a:lnTo>
                    <a:lnTo>
                      <a:pt x="3796" y="1834"/>
                    </a:lnTo>
                    <a:lnTo>
                      <a:pt x="3791" y="1818"/>
                    </a:lnTo>
                    <a:lnTo>
                      <a:pt x="3785" y="1801"/>
                    </a:lnTo>
                    <a:lnTo>
                      <a:pt x="3777" y="1785"/>
                    </a:lnTo>
                    <a:lnTo>
                      <a:pt x="3770" y="1769"/>
                    </a:lnTo>
                    <a:lnTo>
                      <a:pt x="3761" y="1753"/>
                    </a:lnTo>
                    <a:lnTo>
                      <a:pt x="3752" y="1739"/>
                    </a:lnTo>
                    <a:lnTo>
                      <a:pt x="3741" y="1723"/>
                    </a:lnTo>
                    <a:lnTo>
                      <a:pt x="3730" y="1709"/>
                    </a:lnTo>
                    <a:lnTo>
                      <a:pt x="3718" y="1695"/>
                    </a:lnTo>
                    <a:lnTo>
                      <a:pt x="3706" y="1682"/>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80" name="Freeform 28"/>
              <p:cNvSpPr>
                <a:spLocks/>
              </p:cNvSpPr>
              <p:nvPr/>
            </p:nvSpPr>
            <p:spPr bwMode="auto">
              <a:xfrm>
                <a:off x="2458" y="2171"/>
                <a:ext cx="631" cy="16"/>
              </a:xfrm>
              <a:custGeom>
                <a:avLst/>
                <a:gdLst>
                  <a:gd name="T0" fmla="*/ 3156 w 3156"/>
                  <a:gd name="T1" fmla="*/ 82 h 82"/>
                  <a:gd name="T2" fmla="*/ 0 w 3156"/>
                  <a:gd name="T3" fmla="*/ 82 h 82"/>
                  <a:gd name="T4" fmla="*/ 0 w 3156"/>
                  <a:gd name="T5" fmla="*/ 0 h 82"/>
                  <a:gd name="T6" fmla="*/ 3156 w 3156"/>
                  <a:gd name="T7" fmla="*/ 0 h 82"/>
                  <a:gd name="T8" fmla="*/ 3154 w 3156"/>
                  <a:gd name="T9" fmla="*/ 9 h 82"/>
                  <a:gd name="T10" fmla="*/ 3153 w 3156"/>
                  <a:gd name="T11" fmla="*/ 20 h 82"/>
                  <a:gd name="T12" fmla="*/ 3152 w 3156"/>
                  <a:gd name="T13" fmla="*/ 30 h 82"/>
                  <a:gd name="T14" fmla="*/ 3152 w 3156"/>
                  <a:gd name="T15" fmla="*/ 40 h 82"/>
                  <a:gd name="T16" fmla="*/ 3152 w 3156"/>
                  <a:gd name="T17" fmla="*/ 51 h 82"/>
                  <a:gd name="T18" fmla="*/ 3153 w 3156"/>
                  <a:gd name="T19" fmla="*/ 61 h 82"/>
                  <a:gd name="T20" fmla="*/ 3154 w 3156"/>
                  <a:gd name="T21" fmla="*/ 71 h 82"/>
                  <a:gd name="T22" fmla="*/ 3156 w 3156"/>
                  <a:gd name="T23"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56" h="82">
                    <a:moveTo>
                      <a:pt x="3156" y="82"/>
                    </a:moveTo>
                    <a:lnTo>
                      <a:pt x="0" y="82"/>
                    </a:lnTo>
                    <a:lnTo>
                      <a:pt x="0" y="0"/>
                    </a:lnTo>
                    <a:lnTo>
                      <a:pt x="3156" y="0"/>
                    </a:lnTo>
                    <a:lnTo>
                      <a:pt x="3154" y="9"/>
                    </a:lnTo>
                    <a:lnTo>
                      <a:pt x="3153" y="20"/>
                    </a:lnTo>
                    <a:lnTo>
                      <a:pt x="3152" y="30"/>
                    </a:lnTo>
                    <a:lnTo>
                      <a:pt x="3152" y="40"/>
                    </a:lnTo>
                    <a:lnTo>
                      <a:pt x="3152" y="51"/>
                    </a:lnTo>
                    <a:lnTo>
                      <a:pt x="3153" y="61"/>
                    </a:lnTo>
                    <a:lnTo>
                      <a:pt x="3154" y="71"/>
                    </a:lnTo>
                    <a:lnTo>
                      <a:pt x="3156" y="82"/>
                    </a:lnTo>
                    <a:close/>
                  </a:path>
                </a:pathLst>
              </a:custGeom>
              <a:solidFill>
                <a:srgbClr val="D0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81" name="Freeform 29"/>
              <p:cNvSpPr>
                <a:spLocks/>
              </p:cNvSpPr>
              <p:nvPr/>
            </p:nvSpPr>
            <p:spPr bwMode="auto">
              <a:xfrm>
                <a:off x="3089" y="2114"/>
                <a:ext cx="129" cy="129"/>
              </a:xfrm>
              <a:custGeom>
                <a:avLst/>
                <a:gdLst>
                  <a:gd name="T0" fmla="*/ 292 w 644"/>
                  <a:gd name="T1" fmla="*/ 642 h 643"/>
                  <a:gd name="T2" fmla="*/ 248 w 644"/>
                  <a:gd name="T3" fmla="*/ 634 h 643"/>
                  <a:gd name="T4" fmla="*/ 206 w 644"/>
                  <a:gd name="T5" fmla="*/ 621 h 643"/>
                  <a:gd name="T6" fmla="*/ 167 w 644"/>
                  <a:gd name="T7" fmla="*/ 603 h 643"/>
                  <a:gd name="T8" fmla="*/ 131 w 644"/>
                  <a:gd name="T9" fmla="*/ 580 h 643"/>
                  <a:gd name="T10" fmla="*/ 98 w 644"/>
                  <a:gd name="T11" fmla="*/ 552 h 643"/>
                  <a:gd name="T12" fmla="*/ 69 w 644"/>
                  <a:gd name="T13" fmla="*/ 521 h 643"/>
                  <a:gd name="T14" fmla="*/ 45 w 644"/>
                  <a:gd name="T15" fmla="*/ 485 h 643"/>
                  <a:gd name="T16" fmla="*/ 26 w 644"/>
                  <a:gd name="T17" fmla="*/ 447 h 643"/>
                  <a:gd name="T18" fmla="*/ 11 w 644"/>
                  <a:gd name="T19" fmla="*/ 405 h 643"/>
                  <a:gd name="T20" fmla="*/ 3 w 644"/>
                  <a:gd name="T21" fmla="*/ 363 h 643"/>
                  <a:gd name="T22" fmla="*/ 0 w 644"/>
                  <a:gd name="T23" fmla="*/ 332 h 643"/>
                  <a:gd name="T24" fmla="*/ 1 w 644"/>
                  <a:gd name="T25" fmla="*/ 301 h 643"/>
                  <a:gd name="T26" fmla="*/ 5 w 644"/>
                  <a:gd name="T27" fmla="*/ 266 h 643"/>
                  <a:gd name="T28" fmla="*/ 16 w 644"/>
                  <a:gd name="T29" fmla="*/ 224 h 643"/>
                  <a:gd name="T30" fmla="*/ 32 w 644"/>
                  <a:gd name="T31" fmla="*/ 183 h 643"/>
                  <a:gd name="T32" fmla="*/ 53 w 644"/>
                  <a:gd name="T33" fmla="*/ 146 h 643"/>
                  <a:gd name="T34" fmla="*/ 78 w 644"/>
                  <a:gd name="T35" fmla="*/ 111 h 643"/>
                  <a:gd name="T36" fmla="*/ 109 w 644"/>
                  <a:gd name="T37" fmla="*/ 81 h 643"/>
                  <a:gd name="T38" fmla="*/ 143 w 644"/>
                  <a:gd name="T39" fmla="*/ 55 h 643"/>
                  <a:gd name="T40" fmla="*/ 179 w 644"/>
                  <a:gd name="T41" fmla="*/ 33 h 643"/>
                  <a:gd name="T42" fmla="*/ 220 w 644"/>
                  <a:gd name="T43" fmla="*/ 17 h 643"/>
                  <a:gd name="T44" fmla="*/ 262 w 644"/>
                  <a:gd name="T45" fmla="*/ 6 h 643"/>
                  <a:gd name="T46" fmla="*/ 307 w 644"/>
                  <a:gd name="T47" fmla="*/ 0 h 643"/>
                  <a:gd name="T48" fmla="*/ 355 w 644"/>
                  <a:gd name="T49" fmla="*/ 1 h 643"/>
                  <a:gd name="T50" fmla="*/ 403 w 644"/>
                  <a:gd name="T51" fmla="*/ 10 h 643"/>
                  <a:gd name="T52" fmla="*/ 447 w 644"/>
                  <a:gd name="T53" fmla="*/ 25 h 643"/>
                  <a:gd name="T54" fmla="*/ 489 w 644"/>
                  <a:gd name="T55" fmla="*/ 46 h 643"/>
                  <a:gd name="T56" fmla="*/ 526 w 644"/>
                  <a:gd name="T57" fmla="*/ 74 h 643"/>
                  <a:gd name="T58" fmla="*/ 560 w 644"/>
                  <a:gd name="T59" fmla="*/ 105 h 643"/>
                  <a:gd name="T60" fmla="*/ 589 w 644"/>
                  <a:gd name="T61" fmla="*/ 141 h 643"/>
                  <a:gd name="T62" fmla="*/ 612 w 644"/>
                  <a:gd name="T63" fmla="*/ 182 h 643"/>
                  <a:gd name="T64" fmla="*/ 629 w 644"/>
                  <a:gd name="T65" fmla="*/ 226 h 643"/>
                  <a:gd name="T66" fmla="*/ 640 w 644"/>
                  <a:gd name="T67" fmla="*/ 273 h 643"/>
                  <a:gd name="T68" fmla="*/ 644 w 644"/>
                  <a:gd name="T69" fmla="*/ 321 h 643"/>
                  <a:gd name="T70" fmla="*/ 640 w 644"/>
                  <a:gd name="T71" fmla="*/ 370 h 643"/>
                  <a:gd name="T72" fmla="*/ 629 w 644"/>
                  <a:gd name="T73" fmla="*/ 418 h 643"/>
                  <a:gd name="T74" fmla="*/ 612 w 644"/>
                  <a:gd name="T75" fmla="*/ 461 h 643"/>
                  <a:gd name="T76" fmla="*/ 589 w 644"/>
                  <a:gd name="T77" fmla="*/ 501 h 643"/>
                  <a:gd name="T78" fmla="*/ 560 w 644"/>
                  <a:gd name="T79" fmla="*/ 538 h 643"/>
                  <a:gd name="T80" fmla="*/ 526 w 644"/>
                  <a:gd name="T81" fmla="*/ 570 h 643"/>
                  <a:gd name="T82" fmla="*/ 489 w 644"/>
                  <a:gd name="T83" fmla="*/ 596 h 643"/>
                  <a:gd name="T84" fmla="*/ 447 w 644"/>
                  <a:gd name="T85" fmla="*/ 618 h 643"/>
                  <a:gd name="T86" fmla="*/ 403 w 644"/>
                  <a:gd name="T87" fmla="*/ 633 h 643"/>
                  <a:gd name="T88" fmla="*/ 355 w 644"/>
                  <a:gd name="T89" fmla="*/ 641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4" h="643">
                    <a:moveTo>
                      <a:pt x="323" y="643"/>
                    </a:moveTo>
                    <a:lnTo>
                      <a:pt x="307" y="642"/>
                    </a:lnTo>
                    <a:lnTo>
                      <a:pt x="292" y="642"/>
                    </a:lnTo>
                    <a:lnTo>
                      <a:pt x="277" y="640"/>
                    </a:lnTo>
                    <a:lnTo>
                      <a:pt x="262" y="638"/>
                    </a:lnTo>
                    <a:lnTo>
                      <a:pt x="248" y="634"/>
                    </a:lnTo>
                    <a:lnTo>
                      <a:pt x="234" y="631"/>
                    </a:lnTo>
                    <a:lnTo>
                      <a:pt x="220" y="627"/>
                    </a:lnTo>
                    <a:lnTo>
                      <a:pt x="206" y="621"/>
                    </a:lnTo>
                    <a:lnTo>
                      <a:pt x="192" y="616"/>
                    </a:lnTo>
                    <a:lnTo>
                      <a:pt x="179" y="609"/>
                    </a:lnTo>
                    <a:lnTo>
                      <a:pt x="167" y="603"/>
                    </a:lnTo>
                    <a:lnTo>
                      <a:pt x="155" y="596"/>
                    </a:lnTo>
                    <a:lnTo>
                      <a:pt x="143" y="588"/>
                    </a:lnTo>
                    <a:lnTo>
                      <a:pt x="131" y="580"/>
                    </a:lnTo>
                    <a:lnTo>
                      <a:pt x="120" y="571"/>
                    </a:lnTo>
                    <a:lnTo>
                      <a:pt x="109" y="562"/>
                    </a:lnTo>
                    <a:lnTo>
                      <a:pt x="98" y="552"/>
                    </a:lnTo>
                    <a:lnTo>
                      <a:pt x="88" y="542"/>
                    </a:lnTo>
                    <a:lnTo>
                      <a:pt x="78" y="531"/>
                    </a:lnTo>
                    <a:lnTo>
                      <a:pt x="69" y="521"/>
                    </a:lnTo>
                    <a:lnTo>
                      <a:pt x="61" y="510"/>
                    </a:lnTo>
                    <a:lnTo>
                      <a:pt x="53" y="498"/>
                    </a:lnTo>
                    <a:lnTo>
                      <a:pt x="45" y="485"/>
                    </a:lnTo>
                    <a:lnTo>
                      <a:pt x="39" y="473"/>
                    </a:lnTo>
                    <a:lnTo>
                      <a:pt x="32" y="460"/>
                    </a:lnTo>
                    <a:lnTo>
                      <a:pt x="26" y="447"/>
                    </a:lnTo>
                    <a:lnTo>
                      <a:pt x="20" y="434"/>
                    </a:lnTo>
                    <a:lnTo>
                      <a:pt x="16" y="420"/>
                    </a:lnTo>
                    <a:lnTo>
                      <a:pt x="11" y="405"/>
                    </a:lnTo>
                    <a:lnTo>
                      <a:pt x="8" y="391"/>
                    </a:lnTo>
                    <a:lnTo>
                      <a:pt x="5" y="377"/>
                    </a:lnTo>
                    <a:lnTo>
                      <a:pt x="3" y="363"/>
                    </a:lnTo>
                    <a:lnTo>
                      <a:pt x="1" y="352"/>
                    </a:lnTo>
                    <a:lnTo>
                      <a:pt x="1" y="342"/>
                    </a:lnTo>
                    <a:lnTo>
                      <a:pt x="0" y="332"/>
                    </a:lnTo>
                    <a:lnTo>
                      <a:pt x="0" y="321"/>
                    </a:lnTo>
                    <a:lnTo>
                      <a:pt x="0" y="311"/>
                    </a:lnTo>
                    <a:lnTo>
                      <a:pt x="1" y="301"/>
                    </a:lnTo>
                    <a:lnTo>
                      <a:pt x="1" y="290"/>
                    </a:lnTo>
                    <a:lnTo>
                      <a:pt x="3" y="281"/>
                    </a:lnTo>
                    <a:lnTo>
                      <a:pt x="5" y="266"/>
                    </a:lnTo>
                    <a:lnTo>
                      <a:pt x="8" y="251"/>
                    </a:lnTo>
                    <a:lnTo>
                      <a:pt x="11" y="237"/>
                    </a:lnTo>
                    <a:lnTo>
                      <a:pt x="16" y="224"/>
                    </a:lnTo>
                    <a:lnTo>
                      <a:pt x="20" y="209"/>
                    </a:lnTo>
                    <a:lnTo>
                      <a:pt x="26" y="196"/>
                    </a:lnTo>
                    <a:lnTo>
                      <a:pt x="32" y="183"/>
                    </a:lnTo>
                    <a:lnTo>
                      <a:pt x="39" y="170"/>
                    </a:lnTo>
                    <a:lnTo>
                      <a:pt x="45" y="158"/>
                    </a:lnTo>
                    <a:lnTo>
                      <a:pt x="53" y="146"/>
                    </a:lnTo>
                    <a:lnTo>
                      <a:pt x="61" y="134"/>
                    </a:lnTo>
                    <a:lnTo>
                      <a:pt x="69" y="122"/>
                    </a:lnTo>
                    <a:lnTo>
                      <a:pt x="78" y="111"/>
                    </a:lnTo>
                    <a:lnTo>
                      <a:pt x="88" y="101"/>
                    </a:lnTo>
                    <a:lnTo>
                      <a:pt x="98" y="91"/>
                    </a:lnTo>
                    <a:lnTo>
                      <a:pt x="109" y="81"/>
                    </a:lnTo>
                    <a:lnTo>
                      <a:pt x="120" y="71"/>
                    </a:lnTo>
                    <a:lnTo>
                      <a:pt x="131" y="63"/>
                    </a:lnTo>
                    <a:lnTo>
                      <a:pt x="143" y="55"/>
                    </a:lnTo>
                    <a:lnTo>
                      <a:pt x="155" y="47"/>
                    </a:lnTo>
                    <a:lnTo>
                      <a:pt x="167" y="40"/>
                    </a:lnTo>
                    <a:lnTo>
                      <a:pt x="179" y="33"/>
                    </a:lnTo>
                    <a:lnTo>
                      <a:pt x="192" y="28"/>
                    </a:lnTo>
                    <a:lnTo>
                      <a:pt x="206" y="22"/>
                    </a:lnTo>
                    <a:lnTo>
                      <a:pt x="220" y="17"/>
                    </a:lnTo>
                    <a:lnTo>
                      <a:pt x="234" y="12"/>
                    </a:lnTo>
                    <a:lnTo>
                      <a:pt x="248" y="9"/>
                    </a:lnTo>
                    <a:lnTo>
                      <a:pt x="262" y="6"/>
                    </a:lnTo>
                    <a:lnTo>
                      <a:pt x="277" y="3"/>
                    </a:lnTo>
                    <a:lnTo>
                      <a:pt x="292" y="1"/>
                    </a:lnTo>
                    <a:lnTo>
                      <a:pt x="307" y="0"/>
                    </a:lnTo>
                    <a:lnTo>
                      <a:pt x="323" y="0"/>
                    </a:lnTo>
                    <a:lnTo>
                      <a:pt x="339" y="0"/>
                    </a:lnTo>
                    <a:lnTo>
                      <a:pt x="355" y="1"/>
                    </a:lnTo>
                    <a:lnTo>
                      <a:pt x="371" y="3"/>
                    </a:lnTo>
                    <a:lnTo>
                      <a:pt x="387" y="7"/>
                    </a:lnTo>
                    <a:lnTo>
                      <a:pt x="403" y="10"/>
                    </a:lnTo>
                    <a:lnTo>
                      <a:pt x="418" y="14"/>
                    </a:lnTo>
                    <a:lnTo>
                      <a:pt x="432" y="20"/>
                    </a:lnTo>
                    <a:lnTo>
                      <a:pt x="447" y="25"/>
                    </a:lnTo>
                    <a:lnTo>
                      <a:pt x="462" y="32"/>
                    </a:lnTo>
                    <a:lnTo>
                      <a:pt x="475" y="38"/>
                    </a:lnTo>
                    <a:lnTo>
                      <a:pt x="489" y="46"/>
                    </a:lnTo>
                    <a:lnTo>
                      <a:pt x="502" y="55"/>
                    </a:lnTo>
                    <a:lnTo>
                      <a:pt x="514" y="64"/>
                    </a:lnTo>
                    <a:lnTo>
                      <a:pt x="526" y="74"/>
                    </a:lnTo>
                    <a:lnTo>
                      <a:pt x="538" y="83"/>
                    </a:lnTo>
                    <a:lnTo>
                      <a:pt x="549" y="94"/>
                    </a:lnTo>
                    <a:lnTo>
                      <a:pt x="560" y="105"/>
                    </a:lnTo>
                    <a:lnTo>
                      <a:pt x="570" y="117"/>
                    </a:lnTo>
                    <a:lnTo>
                      <a:pt x="580" y="129"/>
                    </a:lnTo>
                    <a:lnTo>
                      <a:pt x="589" y="141"/>
                    </a:lnTo>
                    <a:lnTo>
                      <a:pt x="596" y="155"/>
                    </a:lnTo>
                    <a:lnTo>
                      <a:pt x="605" y="168"/>
                    </a:lnTo>
                    <a:lnTo>
                      <a:pt x="612" y="182"/>
                    </a:lnTo>
                    <a:lnTo>
                      <a:pt x="618" y="196"/>
                    </a:lnTo>
                    <a:lnTo>
                      <a:pt x="624" y="210"/>
                    </a:lnTo>
                    <a:lnTo>
                      <a:pt x="629" y="226"/>
                    </a:lnTo>
                    <a:lnTo>
                      <a:pt x="634" y="241"/>
                    </a:lnTo>
                    <a:lnTo>
                      <a:pt x="637" y="256"/>
                    </a:lnTo>
                    <a:lnTo>
                      <a:pt x="640" y="273"/>
                    </a:lnTo>
                    <a:lnTo>
                      <a:pt x="641" y="288"/>
                    </a:lnTo>
                    <a:lnTo>
                      <a:pt x="644" y="305"/>
                    </a:lnTo>
                    <a:lnTo>
                      <a:pt x="644" y="321"/>
                    </a:lnTo>
                    <a:lnTo>
                      <a:pt x="644" y="338"/>
                    </a:lnTo>
                    <a:lnTo>
                      <a:pt x="641" y="354"/>
                    </a:lnTo>
                    <a:lnTo>
                      <a:pt x="640" y="370"/>
                    </a:lnTo>
                    <a:lnTo>
                      <a:pt x="637" y="386"/>
                    </a:lnTo>
                    <a:lnTo>
                      <a:pt x="634" y="402"/>
                    </a:lnTo>
                    <a:lnTo>
                      <a:pt x="629" y="418"/>
                    </a:lnTo>
                    <a:lnTo>
                      <a:pt x="624" y="432"/>
                    </a:lnTo>
                    <a:lnTo>
                      <a:pt x="618" y="447"/>
                    </a:lnTo>
                    <a:lnTo>
                      <a:pt x="612" y="461"/>
                    </a:lnTo>
                    <a:lnTo>
                      <a:pt x="605" y="475"/>
                    </a:lnTo>
                    <a:lnTo>
                      <a:pt x="596" y="489"/>
                    </a:lnTo>
                    <a:lnTo>
                      <a:pt x="589" y="501"/>
                    </a:lnTo>
                    <a:lnTo>
                      <a:pt x="580" y="514"/>
                    </a:lnTo>
                    <a:lnTo>
                      <a:pt x="570" y="526"/>
                    </a:lnTo>
                    <a:lnTo>
                      <a:pt x="560" y="538"/>
                    </a:lnTo>
                    <a:lnTo>
                      <a:pt x="549" y="549"/>
                    </a:lnTo>
                    <a:lnTo>
                      <a:pt x="538" y="560"/>
                    </a:lnTo>
                    <a:lnTo>
                      <a:pt x="526" y="570"/>
                    </a:lnTo>
                    <a:lnTo>
                      <a:pt x="514" y="580"/>
                    </a:lnTo>
                    <a:lnTo>
                      <a:pt x="502" y="588"/>
                    </a:lnTo>
                    <a:lnTo>
                      <a:pt x="489" y="596"/>
                    </a:lnTo>
                    <a:lnTo>
                      <a:pt x="475" y="604"/>
                    </a:lnTo>
                    <a:lnTo>
                      <a:pt x="462" y="611"/>
                    </a:lnTo>
                    <a:lnTo>
                      <a:pt x="447" y="618"/>
                    </a:lnTo>
                    <a:lnTo>
                      <a:pt x="432" y="624"/>
                    </a:lnTo>
                    <a:lnTo>
                      <a:pt x="418" y="629"/>
                    </a:lnTo>
                    <a:lnTo>
                      <a:pt x="403" y="633"/>
                    </a:lnTo>
                    <a:lnTo>
                      <a:pt x="387" y="637"/>
                    </a:lnTo>
                    <a:lnTo>
                      <a:pt x="371" y="639"/>
                    </a:lnTo>
                    <a:lnTo>
                      <a:pt x="355" y="641"/>
                    </a:lnTo>
                    <a:lnTo>
                      <a:pt x="339" y="642"/>
                    </a:lnTo>
                    <a:lnTo>
                      <a:pt x="323" y="643"/>
                    </a:lnTo>
                    <a:close/>
                  </a:path>
                </a:pathLst>
              </a:custGeom>
              <a:solidFill>
                <a:srgbClr val="D0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82" name="Freeform 31"/>
              <p:cNvSpPr>
                <a:spLocks/>
              </p:cNvSpPr>
              <p:nvPr/>
            </p:nvSpPr>
            <p:spPr bwMode="auto">
              <a:xfrm>
                <a:off x="3402" y="2772"/>
                <a:ext cx="129" cy="129"/>
              </a:xfrm>
              <a:custGeom>
                <a:avLst/>
                <a:gdLst>
                  <a:gd name="T0" fmla="*/ 291 w 643"/>
                  <a:gd name="T1" fmla="*/ 642 h 643"/>
                  <a:gd name="T2" fmla="*/ 247 w 643"/>
                  <a:gd name="T3" fmla="*/ 635 h 643"/>
                  <a:gd name="T4" fmla="*/ 206 w 643"/>
                  <a:gd name="T5" fmla="*/ 623 h 643"/>
                  <a:gd name="T6" fmla="*/ 166 w 643"/>
                  <a:gd name="T7" fmla="*/ 604 h 643"/>
                  <a:gd name="T8" fmla="*/ 130 w 643"/>
                  <a:gd name="T9" fmla="*/ 581 h 643"/>
                  <a:gd name="T10" fmla="*/ 97 w 643"/>
                  <a:gd name="T11" fmla="*/ 554 h 643"/>
                  <a:gd name="T12" fmla="*/ 69 w 643"/>
                  <a:gd name="T13" fmla="*/ 522 h 643"/>
                  <a:gd name="T14" fmla="*/ 45 w 643"/>
                  <a:gd name="T15" fmla="*/ 487 h 643"/>
                  <a:gd name="T16" fmla="*/ 25 w 643"/>
                  <a:gd name="T17" fmla="*/ 448 h 643"/>
                  <a:gd name="T18" fmla="*/ 11 w 643"/>
                  <a:gd name="T19" fmla="*/ 407 h 643"/>
                  <a:gd name="T20" fmla="*/ 3 w 643"/>
                  <a:gd name="T21" fmla="*/ 363 h 643"/>
                  <a:gd name="T22" fmla="*/ 0 w 643"/>
                  <a:gd name="T23" fmla="*/ 332 h 643"/>
                  <a:gd name="T24" fmla="*/ 1 w 643"/>
                  <a:gd name="T25" fmla="*/ 302 h 643"/>
                  <a:gd name="T26" fmla="*/ 5 w 643"/>
                  <a:gd name="T27" fmla="*/ 267 h 643"/>
                  <a:gd name="T28" fmla="*/ 15 w 643"/>
                  <a:gd name="T29" fmla="*/ 224 h 643"/>
                  <a:gd name="T30" fmla="*/ 32 w 643"/>
                  <a:gd name="T31" fmla="*/ 183 h 643"/>
                  <a:gd name="T32" fmla="*/ 52 w 643"/>
                  <a:gd name="T33" fmla="*/ 146 h 643"/>
                  <a:gd name="T34" fmla="*/ 79 w 643"/>
                  <a:gd name="T35" fmla="*/ 112 h 643"/>
                  <a:gd name="T36" fmla="*/ 108 w 643"/>
                  <a:gd name="T37" fmla="*/ 81 h 643"/>
                  <a:gd name="T38" fmla="*/ 142 w 643"/>
                  <a:gd name="T39" fmla="*/ 55 h 643"/>
                  <a:gd name="T40" fmla="*/ 180 w 643"/>
                  <a:gd name="T41" fmla="*/ 34 h 643"/>
                  <a:gd name="T42" fmla="*/ 219 w 643"/>
                  <a:gd name="T43" fmla="*/ 18 h 643"/>
                  <a:gd name="T44" fmla="*/ 262 w 643"/>
                  <a:gd name="T45" fmla="*/ 7 h 643"/>
                  <a:gd name="T46" fmla="*/ 307 w 643"/>
                  <a:gd name="T47" fmla="*/ 1 h 643"/>
                  <a:gd name="T48" fmla="*/ 355 w 643"/>
                  <a:gd name="T49" fmla="*/ 3 h 643"/>
                  <a:gd name="T50" fmla="*/ 402 w 643"/>
                  <a:gd name="T51" fmla="*/ 11 h 643"/>
                  <a:gd name="T52" fmla="*/ 447 w 643"/>
                  <a:gd name="T53" fmla="*/ 26 h 643"/>
                  <a:gd name="T54" fmla="*/ 489 w 643"/>
                  <a:gd name="T55" fmla="*/ 47 h 643"/>
                  <a:gd name="T56" fmla="*/ 526 w 643"/>
                  <a:gd name="T57" fmla="*/ 74 h 643"/>
                  <a:gd name="T58" fmla="*/ 560 w 643"/>
                  <a:gd name="T59" fmla="*/ 107 h 643"/>
                  <a:gd name="T60" fmla="*/ 588 w 643"/>
                  <a:gd name="T61" fmla="*/ 143 h 643"/>
                  <a:gd name="T62" fmla="*/ 611 w 643"/>
                  <a:gd name="T63" fmla="*/ 183 h 643"/>
                  <a:gd name="T64" fmla="*/ 629 w 643"/>
                  <a:gd name="T65" fmla="*/ 227 h 643"/>
                  <a:gd name="T66" fmla="*/ 640 w 643"/>
                  <a:gd name="T67" fmla="*/ 273 h 643"/>
                  <a:gd name="T68" fmla="*/ 643 w 643"/>
                  <a:gd name="T69" fmla="*/ 322 h 643"/>
                  <a:gd name="T70" fmla="*/ 640 w 643"/>
                  <a:gd name="T71" fmla="*/ 372 h 643"/>
                  <a:gd name="T72" fmla="*/ 629 w 643"/>
                  <a:gd name="T73" fmla="*/ 418 h 643"/>
                  <a:gd name="T74" fmla="*/ 611 w 643"/>
                  <a:gd name="T75" fmla="*/ 462 h 643"/>
                  <a:gd name="T76" fmla="*/ 588 w 643"/>
                  <a:gd name="T77" fmla="*/ 502 h 643"/>
                  <a:gd name="T78" fmla="*/ 560 w 643"/>
                  <a:gd name="T79" fmla="*/ 538 h 643"/>
                  <a:gd name="T80" fmla="*/ 526 w 643"/>
                  <a:gd name="T81" fmla="*/ 570 h 643"/>
                  <a:gd name="T82" fmla="*/ 489 w 643"/>
                  <a:gd name="T83" fmla="*/ 597 h 643"/>
                  <a:gd name="T84" fmla="*/ 447 w 643"/>
                  <a:gd name="T85" fmla="*/ 618 h 643"/>
                  <a:gd name="T86" fmla="*/ 402 w 643"/>
                  <a:gd name="T87" fmla="*/ 634 h 643"/>
                  <a:gd name="T88" fmla="*/ 355 w 643"/>
                  <a:gd name="T89" fmla="*/ 642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3" h="643">
                    <a:moveTo>
                      <a:pt x="322" y="643"/>
                    </a:moveTo>
                    <a:lnTo>
                      <a:pt x="307" y="643"/>
                    </a:lnTo>
                    <a:lnTo>
                      <a:pt x="291" y="642"/>
                    </a:lnTo>
                    <a:lnTo>
                      <a:pt x="276" y="640"/>
                    </a:lnTo>
                    <a:lnTo>
                      <a:pt x="262" y="638"/>
                    </a:lnTo>
                    <a:lnTo>
                      <a:pt x="247" y="635"/>
                    </a:lnTo>
                    <a:lnTo>
                      <a:pt x="233" y="631"/>
                    </a:lnTo>
                    <a:lnTo>
                      <a:pt x="219" y="627"/>
                    </a:lnTo>
                    <a:lnTo>
                      <a:pt x="206" y="623"/>
                    </a:lnTo>
                    <a:lnTo>
                      <a:pt x="192" y="617"/>
                    </a:lnTo>
                    <a:lnTo>
                      <a:pt x="180" y="611"/>
                    </a:lnTo>
                    <a:lnTo>
                      <a:pt x="166" y="604"/>
                    </a:lnTo>
                    <a:lnTo>
                      <a:pt x="154" y="596"/>
                    </a:lnTo>
                    <a:lnTo>
                      <a:pt x="142" y="589"/>
                    </a:lnTo>
                    <a:lnTo>
                      <a:pt x="130" y="581"/>
                    </a:lnTo>
                    <a:lnTo>
                      <a:pt x="119" y="572"/>
                    </a:lnTo>
                    <a:lnTo>
                      <a:pt x="108" y="562"/>
                    </a:lnTo>
                    <a:lnTo>
                      <a:pt x="97" y="554"/>
                    </a:lnTo>
                    <a:lnTo>
                      <a:pt x="87" y="543"/>
                    </a:lnTo>
                    <a:lnTo>
                      <a:pt x="79" y="533"/>
                    </a:lnTo>
                    <a:lnTo>
                      <a:pt x="69" y="522"/>
                    </a:lnTo>
                    <a:lnTo>
                      <a:pt x="60" y="510"/>
                    </a:lnTo>
                    <a:lnTo>
                      <a:pt x="52" y="499"/>
                    </a:lnTo>
                    <a:lnTo>
                      <a:pt x="45" y="487"/>
                    </a:lnTo>
                    <a:lnTo>
                      <a:pt x="38" y="474"/>
                    </a:lnTo>
                    <a:lnTo>
                      <a:pt x="32" y="461"/>
                    </a:lnTo>
                    <a:lnTo>
                      <a:pt x="25" y="448"/>
                    </a:lnTo>
                    <a:lnTo>
                      <a:pt x="20" y="434"/>
                    </a:lnTo>
                    <a:lnTo>
                      <a:pt x="15" y="421"/>
                    </a:lnTo>
                    <a:lnTo>
                      <a:pt x="11" y="407"/>
                    </a:lnTo>
                    <a:lnTo>
                      <a:pt x="7" y="393"/>
                    </a:lnTo>
                    <a:lnTo>
                      <a:pt x="5" y="378"/>
                    </a:lnTo>
                    <a:lnTo>
                      <a:pt x="3" y="363"/>
                    </a:lnTo>
                    <a:lnTo>
                      <a:pt x="1" y="353"/>
                    </a:lnTo>
                    <a:lnTo>
                      <a:pt x="1" y="343"/>
                    </a:lnTo>
                    <a:lnTo>
                      <a:pt x="0" y="332"/>
                    </a:lnTo>
                    <a:lnTo>
                      <a:pt x="0" y="322"/>
                    </a:lnTo>
                    <a:lnTo>
                      <a:pt x="0" y="312"/>
                    </a:lnTo>
                    <a:lnTo>
                      <a:pt x="1" y="302"/>
                    </a:lnTo>
                    <a:lnTo>
                      <a:pt x="1" y="292"/>
                    </a:lnTo>
                    <a:lnTo>
                      <a:pt x="3" y="282"/>
                    </a:lnTo>
                    <a:lnTo>
                      <a:pt x="5" y="267"/>
                    </a:lnTo>
                    <a:lnTo>
                      <a:pt x="7" y="252"/>
                    </a:lnTo>
                    <a:lnTo>
                      <a:pt x="11" y="238"/>
                    </a:lnTo>
                    <a:lnTo>
                      <a:pt x="15" y="224"/>
                    </a:lnTo>
                    <a:lnTo>
                      <a:pt x="20" y="211"/>
                    </a:lnTo>
                    <a:lnTo>
                      <a:pt x="25" y="196"/>
                    </a:lnTo>
                    <a:lnTo>
                      <a:pt x="32" y="183"/>
                    </a:lnTo>
                    <a:lnTo>
                      <a:pt x="38" y="171"/>
                    </a:lnTo>
                    <a:lnTo>
                      <a:pt x="45" y="158"/>
                    </a:lnTo>
                    <a:lnTo>
                      <a:pt x="52" y="146"/>
                    </a:lnTo>
                    <a:lnTo>
                      <a:pt x="60" y="134"/>
                    </a:lnTo>
                    <a:lnTo>
                      <a:pt x="69" y="123"/>
                    </a:lnTo>
                    <a:lnTo>
                      <a:pt x="79" y="112"/>
                    </a:lnTo>
                    <a:lnTo>
                      <a:pt x="87" y="101"/>
                    </a:lnTo>
                    <a:lnTo>
                      <a:pt x="97" y="91"/>
                    </a:lnTo>
                    <a:lnTo>
                      <a:pt x="108" y="81"/>
                    </a:lnTo>
                    <a:lnTo>
                      <a:pt x="119" y="73"/>
                    </a:lnTo>
                    <a:lnTo>
                      <a:pt x="130" y="64"/>
                    </a:lnTo>
                    <a:lnTo>
                      <a:pt x="142" y="55"/>
                    </a:lnTo>
                    <a:lnTo>
                      <a:pt x="154" y="47"/>
                    </a:lnTo>
                    <a:lnTo>
                      <a:pt x="166" y="41"/>
                    </a:lnTo>
                    <a:lnTo>
                      <a:pt x="180" y="34"/>
                    </a:lnTo>
                    <a:lnTo>
                      <a:pt x="192" y="28"/>
                    </a:lnTo>
                    <a:lnTo>
                      <a:pt x="206" y="22"/>
                    </a:lnTo>
                    <a:lnTo>
                      <a:pt x="219" y="18"/>
                    </a:lnTo>
                    <a:lnTo>
                      <a:pt x="233" y="13"/>
                    </a:lnTo>
                    <a:lnTo>
                      <a:pt x="247" y="9"/>
                    </a:lnTo>
                    <a:lnTo>
                      <a:pt x="262" y="7"/>
                    </a:lnTo>
                    <a:lnTo>
                      <a:pt x="276" y="4"/>
                    </a:lnTo>
                    <a:lnTo>
                      <a:pt x="291" y="3"/>
                    </a:lnTo>
                    <a:lnTo>
                      <a:pt x="307" y="1"/>
                    </a:lnTo>
                    <a:lnTo>
                      <a:pt x="322" y="0"/>
                    </a:lnTo>
                    <a:lnTo>
                      <a:pt x="338" y="1"/>
                    </a:lnTo>
                    <a:lnTo>
                      <a:pt x="355" y="3"/>
                    </a:lnTo>
                    <a:lnTo>
                      <a:pt x="370" y="5"/>
                    </a:lnTo>
                    <a:lnTo>
                      <a:pt x="387" y="7"/>
                    </a:lnTo>
                    <a:lnTo>
                      <a:pt x="402" y="11"/>
                    </a:lnTo>
                    <a:lnTo>
                      <a:pt x="417" y="16"/>
                    </a:lnTo>
                    <a:lnTo>
                      <a:pt x="433" y="20"/>
                    </a:lnTo>
                    <a:lnTo>
                      <a:pt x="447" y="26"/>
                    </a:lnTo>
                    <a:lnTo>
                      <a:pt x="461" y="32"/>
                    </a:lnTo>
                    <a:lnTo>
                      <a:pt x="475" y="40"/>
                    </a:lnTo>
                    <a:lnTo>
                      <a:pt x="489" y="47"/>
                    </a:lnTo>
                    <a:lnTo>
                      <a:pt x="502" y="56"/>
                    </a:lnTo>
                    <a:lnTo>
                      <a:pt x="514" y="65"/>
                    </a:lnTo>
                    <a:lnTo>
                      <a:pt x="526" y="74"/>
                    </a:lnTo>
                    <a:lnTo>
                      <a:pt x="538" y="85"/>
                    </a:lnTo>
                    <a:lnTo>
                      <a:pt x="549" y="95"/>
                    </a:lnTo>
                    <a:lnTo>
                      <a:pt x="560" y="107"/>
                    </a:lnTo>
                    <a:lnTo>
                      <a:pt x="570" y="118"/>
                    </a:lnTo>
                    <a:lnTo>
                      <a:pt x="579" y="130"/>
                    </a:lnTo>
                    <a:lnTo>
                      <a:pt x="588" y="143"/>
                    </a:lnTo>
                    <a:lnTo>
                      <a:pt x="597" y="156"/>
                    </a:lnTo>
                    <a:lnTo>
                      <a:pt x="605" y="169"/>
                    </a:lnTo>
                    <a:lnTo>
                      <a:pt x="611" y="183"/>
                    </a:lnTo>
                    <a:lnTo>
                      <a:pt x="618" y="198"/>
                    </a:lnTo>
                    <a:lnTo>
                      <a:pt x="623" y="212"/>
                    </a:lnTo>
                    <a:lnTo>
                      <a:pt x="629" y="227"/>
                    </a:lnTo>
                    <a:lnTo>
                      <a:pt x="633" y="242"/>
                    </a:lnTo>
                    <a:lnTo>
                      <a:pt x="636" y="258"/>
                    </a:lnTo>
                    <a:lnTo>
                      <a:pt x="640" y="273"/>
                    </a:lnTo>
                    <a:lnTo>
                      <a:pt x="641" y="290"/>
                    </a:lnTo>
                    <a:lnTo>
                      <a:pt x="643" y="306"/>
                    </a:lnTo>
                    <a:lnTo>
                      <a:pt x="643" y="322"/>
                    </a:lnTo>
                    <a:lnTo>
                      <a:pt x="643" y="339"/>
                    </a:lnTo>
                    <a:lnTo>
                      <a:pt x="641" y="355"/>
                    </a:lnTo>
                    <a:lnTo>
                      <a:pt x="640" y="372"/>
                    </a:lnTo>
                    <a:lnTo>
                      <a:pt x="636" y="387"/>
                    </a:lnTo>
                    <a:lnTo>
                      <a:pt x="633" y="402"/>
                    </a:lnTo>
                    <a:lnTo>
                      <a:pt x="629" y="418"/>
                    </a:lnTo>
                    <a:lnTo>
                      <a:pt x="623" y="433"/>
                    </a:lnTo>
                    <a:lnTo>
                      <a:pt x="618" y="447"/>
                    </a:lnTo>
                    <a:lnTo>
                      <a:pt x="611" y="462"/>
                    </a:lnTo>
                    <a:lnTo>
                      <a:pt x="605" y="476"/>
                    </a:lnTo>
                    <a:lnTo>
                      <a:pt x="597" y="489"/>
                    </a:lnTo>
                    <a:lnTo>
                      <a:pt x="588" y="502"/>
                    </a:lnTo>
                    <a:lnTo>
                      <a:pt x="579" y="515"/>
                    </a:lnTo>
                    <a:lnTo>
                      <a:pt x="570" y="527"/>
                    </a:lnTo>
                    <a:lnTo>
                      <a:pt x="560" y="538"/>
                    </a:lnTo>
                    <a:lnTo>
                      <a:pt x="549" y="549"/>
                    </a:lnTo>
                    <a:lnTo>
                      <a:pt x="538" y="560"/>
                    </a:lnTo>
                    <a:lnTo>
                      <a:pt x="526" y="570"/>
                    </a:lnTo>
                    <a:lnTo>
                      <a:pt x="514" y="580"/>
                    </a:lnTo>
                    <a:lnTo>
                      <a:pt x="502" y="589"/>
                    </a:lnTo>
                    <a:lnTo>
                      <a:pt x="489" y="597"/>
                    </a:lnTo>
                    <a:lnTo>
                      <a:pt x="475" y="605"/>
                    </a:lnTo>
                    <a:lnTo>
                      <a:pt x="461" y="612"/>
                    </a:lnTo>
                    <a:lnTo>
                      <a:pt x="447" y="618"/>
                    </a:lnTo>
                    <a:lnTo>
                      <a:pt x="433" y="625"/>
                    </a:lnTo>
                    <a:lnTo>
                      <a:pt x="417" y="629"/>
                    </a:lnTo>
                    <a:lnTo>
                      <a:pt x="402" y="634"/>
                    </a:lnTo>
                    <a:lnTo>
                      <a:pt x="387" y="637"/>
                    </a:lnTo>
                    <a:lnTo>
                      <a:pt x="370" y="640"/>
                    </a:lnTo>
                    <a:lnTo>
                      <a:pt x="355" y="642"/>
                    </a:lnTo>
                    <a:lnTo>
                      <a:pt x="338" y="643"/>
                    </a:lnTo>
                    <a:lnTo>
                      <a:pt x="322" y="643"/>
                    </a:lnTo>
                    <a:close/>
                  </a:path>
                </a:pathLst>
              </a:custGeom>
              <a:solidFill>
                <a:srgbClr val="D0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83" name="Freeform 32"/>
              <p:cNvSpPr>
                <a:spLocks/>
              </p:cNvSpPr>
              <p:nvPr/>
            </p:nvSpPr>
            <p:spPr bwMode="auto">
              <a:xfrm>
                <a:off x="2465" y="3473"/>
                <a:ext cx="631" cy="17"/>
              </a:xfrm>
              <a:custGeom>
                <a:avLst/>
                <a:gdLst>
                  <a:gd name="T0" fmla="*/ 3156 w 3156"/>
                  <a:gd name="T1" fmla="*/ 82 h 82"/>
                  <a:gd name="T2" fmla="*/ 0 w 3156"/>
                  <a:gd name="T3" fmla="*/ 82 h 82"/>
                  <a:gd name="T4" fmla="*/ 0 w 3156"/>
                  <a:gd name="T5" fmla="*/ 0 h 82"/>
                  <a:gd name="T6" fmla="*/ 3156 w 3156"/>
                  <a:gd name="T7" fmla="*/ 0 h 82"/>
                  <a:gd name="T8" fmla="*/ 3154 w 3156"/>
                  <a:gd name="T9" fmla="*/ 11 h 82"/>
                  <a:gd name="T10" fmla="*/ 3153 w 3156"/>
                  <a:gd name="T11" fmla="*/ 21 h 82"/>
                  <a:gd name="T12" fmla="*/ 3152 w 3156"/>
                  <a:gd name="T13" fmla="*/ 31 h 82"/>
                  <a:gd name="T14" fmla="*/ 3152 w 3156"/>
                  <a:gd name="T15" fmla="*/ 42 h 82"/>
                  <a:gd name="T16" fmla="*/ 3152 w 3156"/>
                  <a:gd name="T17" fmla="*/ 52 h 82"/>
                  <a:gd name="T18" fmla="*/ 3153 w 3156"/>
                  <a:gd name="T19" fmla="*/ 63 h 82"/>
                  <a:gd name="T20" fmla="*/ 3154 w 3156"/>
                  <a:gd name="T21" fmla="*/ 72 h 82"/>
                  <a:gd name="T22" fmla="*/ 3156 w 3156"/>
                  <a:gd name="T23"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56" h="82">
                    <a:moveTo>
                      <a:pt x="3156" y="82"/>
                    </a:moveTo>
                    <a:lnTo>
                      <a:pt x="0" y="82"/>
                    </a:lnTo>
                    <a:lnTo>
                      <a:pt x="0" y="0"/>
                    </a:lnTo>
                    <a:lnTo>
                      <a:pt x="3156" y="0"/>
                    </a:lnTo>
                    <a:lnTo>
                      <a:pt x="3154" y="11"/>
                    </a:lnTo>
                    <a:lnTo>
                      <a:pt x="3153" y="21"/>
                    </a:lnTo>
                    <a:lnTo>
                      <a:pt x="3152" y="31"/>
                    </a:lnTo>
                    <a:lnTo>
                      <a:pt x="3152" y="42"/>
                    </a:lnTo>
                    <a:lnTo>
                      <a:pt x="3152" y="52"/>
                    </a:lnTo>
                    <a:lnTo>
                      <a:pt x="3153" y="63"/>
                    </a:lnTo>
                    <a:lnTo>
                      <a:pt x="3154" y="72"/>
                    </a:lnTo>
                    <a:lnTo>
                      <a:pt x="3156" y="82"/>
                    </a:lnTo>
                    <a:close/>
                  </a:path>
                </a:pathLst>
              </a:custGeom>
              <a:solidFill>
                <a:srgbClr val="D0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84" name="Freeform 33"/>
              <p:cNvSpPr>
                <a:spLocks/>
              </p:cNvSpPr>
              <p:nvPr/>
            </p:nvSpPr>
            <p:spPr bwMode="auto">
              <a:xfrm>
                <a:off x="3095" y="3417"/>
                <a:ext cx="129" cy="129"/>
              </a:xfrm>
              <a:custGeom>
                <a:avLst/>
                <a:gdLst>
                  <a:gd name="T0" fmla="*/ 292 w 643"/>
                  <a:gd name="T1" fmla="*/ 642 h 643"/>
                  <a:gd name="T2" fmla="*/ 248 w 643"/>
                  <a:gd name="T3" fmla="*/ 634 h 643"/>
                  <a:gd name="T4" fmla="*/ 206 w 643"/>
                  <a:gd name="T5" fmla="*/ 622 h 643"/>
                  <a:gd name="T6" fmla="*/ 167 w 643"/>
                  <a:gd name="T7" fmla="*/ 603 h 643"/>
                  <a:gd name="T8" fmla="*/ 131 w 643"/>
                  <a:gd name="T9" fmla="*/ 580 h 643"/>
                  <a:gd name="T10" fmla="*/ 98 w 643"/>
                  <a:gd name="T11" fmla="*/ 552 h 643"/>
                  <a:gd name="T12" fmla="*/ 69 w 643"/>
                  <a:gd name="T13" fmla="*/ 521 h 643"/>
                  <a:gd name="T14" fmla="*/ 45 w 643"/>
                  <a:gd name="T15" fmla="*/ 485 h 643"/>
                  <a:gd name="T16" fmla="*/ 25 w 643"/>
                  <a:gd name="T17" fmla="*/ 447 h 643"/>
                  <a:gd name="T18" fmla="*/ 11 w 643"/>
                  <a:gd name="T19" fmla="*/ 406 h 643"/>
                  <a:gd name="T20" fmla="*/ 3 w 643"/>
                  <a:gd name="T21" fmla="*/ 362 h 643"/>
                  <a:gd name="T22" fmla="*/ 0 w 643"/>
                  <a:gd name="T23" fmla="*/ 332 h 643"/>
                  <a:gd name="T24" fmla="*/ 1 w 643"/>
                  <a:gd name="T25" fmla="*/ 301 h 643"/>
                  <a:gd name="T26" fmla="*/ 6 w 643"/>
                  <a:gd name="T27" fmla="*/ 266 h 643"/>
                  <a:gd name="T28" fmla="*/ 16 w 643"/>
                  <a:gd name="T29" fmla="*/ 223 h 643"/>
                  <a:gd name="T30" fmla="*/ 32 w 643"/>
                  <a:gd name="T31" fmla="*/ 183 h 643"/>
                  <a:gd name="T32" fmla="*/ 53 w 643"/>
                  <a:gd name="T33" fmla="*/ 145 h 643"/>
                  <a:gd name="T34" fmla="*/ 79 w 643"/>
                  <a:gd name="T35" fmla="*/ 111 h 643"/>
                  <a:gd name="T36" fmla="*/ 109 w 643"/>
                  <a:gd name="T37" fmla="*/ 81 h 643"/>
                  <a:gd name="T38" fmla="*/ 143 w 643"/>
                  <a:gd name="T39" fmla="*/ 54 h 643"/>
                  <a:gd name="T40" fmla="*/ 180 w 643"/>
                  <a:gd name="T41" fmla="*/ 34 h 643"/>
                  <a:gd name="T42" fmla="*/ 219 w 643"/>
                  <a:gd name="T43" fmla="*/ 16 h 643"/>
                  <a:gd name="T44" fmla="*/ 262 w 643"/>
                  <a:gd name="T45" fmla="*/ 5 h 643"/>
                  <a:gd name="T46" fmla="*/ 307 w 643"/>
                  <a:gd name="T47" fmla="*/ 1 h 643"/>
                  <a:gd name="T48" fmla="*/ 355 w 643"/>
                  <a:gd name="T49" fmla="*/ 2 h 643"/>
                  <a:gd name="T50" fmla="*/ 402 w 643"/>
                  <a:gd name="T51" fmla="*/ 11 h 643"/>
                  <a:gd name="T52" fmla="*/ 447 w 643"/>
                  <a:gd name="T53" fmla="*/ 25 h 643"/>
                  <a:gd name="T54" fmla="*/ 489 w 643"/>
                  <a:gd name="T55" fmla="*/ 47 h 643"/>
                  <a:gd name="T56" fmla="*/ 526 w 643"/>
                  <a:gd name="T57" fmla="*/ 73 h 643"/>
                  <a:gd name="T58" fmla="*/ 560 w 643"/>
                  <a:gd name="T59" fmla="*/ 105 h 643"/>
                  <a:gd name="T60" fmla="*/ 589 w 643"/>
                  <a:gd name="T61" fmla="*/ 142 h 643"/>
                  <a:gd name="T62" fmla="*/ 612 w 643"/>
                  <a:gd name="T63" fmla="*/ 183 h 643"/>
                  <a:gd name="T64" fmla="*/ 629 w 643"/>
                  <a:gd name="T65" fmla="*/ 225 h 643"/>
                  <a:gd name="T66" fmla="*/ 640 w 643"/>
                  <a:gd name="T67" fmla="*/ 272 h 643"/>
                  <a:gd name="T68" fmla="*/ 643 w 643"/>
                  <a:gd name="T69" fmla="*/ 322 h 643"/>
                  <a:gd name="T70" fmla="*/ 640 w 643"/>
                  <a:gd name="T71" fmla="*/ 370 h 643"/>
                  <a:gd name="T72" fmla="*/ 629 w 643"/>
                  <a:gd name="T73" fmla="*/ 417 h 643"/>
                  <a:gd name="T74" fmla="*/ 612 w 643"/>
                  <a:gd name="T75" fmla="*/ 461 h 643"/>
                  <a:gd name="T76" fmla="*/ 589 w 643"/>
                  <a:gd name="T77" fmla="*/ 501 h 643"/>
                  <a:gd name="T78" fmla="*/ 560 w 643"/>
                  <a:gd name="T79" fmla="*/ 538 h 643"/>
                  <a:gd name="T80" fmla="*/ 526 w 643"/>
                  <a:gd name="T81" fmla="*/ 569 h 643"/>
                  <a:gd name="T82" fmla="*/ 489 w 643"/>
                  <a:gd name="T83" fmla="*/ 597 h 643"/>
                  <a:gd name="T84" fmla="*/ 447 w 643"/>
                  <a:gd name="T85" fmla="*/ 618 h 643"/>
                  <a:gd name="T86" fmla="*/ 402 w 643"/>
                  <a:gd name="T87" fmla="*/ 633 h 643"/>
                  <a:gd name="T88" fmla="*/ 355 w 643"/>
                  <a:gd name="T89" fmla="*/ 642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3" h="643">
                    <a:moveTo>
                      <a:pt x="322" y="643"/>
                    </a:moveTo>
                    <a:lnTo>
                      <a:pt x="307" y="643"/>
                    </a:lnTo>
                    <a:lnTo>
                      <a:pt x="292" y="642"/>
                    </a:lnTo>
                    <a:lnTo>
                      <a:pt x="276" y="639"/>
                    </a:lnTo>
                    <a:lnTo>
                      <a:pt x="262" y="637"/>
                    </a:lnTo>
                    <a:lnTo>
                      <a:pt x="248" y="634"/>
                    </a:lnTo>
                    <a:lnTo>
                      <a:pt x="234" y="631"/>
                    </a:lnTo>
                    <a:lnTo>
                      <a:pt x="219" y="626"/>
                    </a:lnTo>
                    <a:lnTo>
                      <a:pt x="206" y="622"/>
                    </a:lnTo>
                    <a:lnTo>
                      <a:pt x="193" y="615"/>
                    </a:lnTo>
                    <a:lnTo>
                      <a:pt x="180" y="610"/>
                    </a:lnTo>
                    <a:lnTo>
                      <a:pt x="167" y="603"/>
                    </a:lnTo>
                    <a:lnTo>
                      <a:pt x="155" y="596"/>
                    </a:lnTo>
                    <a:lnTo>
                      <a:pt x="143" y="588"/>
                    </a:lnTo>
                    <a:lnTo>
                      <a:pt x="131" y="580"/>
                    </a:lnTo>
                    <a:lnTo>
                      <a:pt x="120" y="572"/>
                    </a:lnTo>
                    <a:lnTo>
                      <a:pt x="109" y="562"/>
                    </a:lnTo>
                    <a:lnTo>
                      <a:pt x="98" y="552"/>
                    </a:lnTo>
                    <a:lnTo>
                      <a:pt x="88" y="542"/>
                    </a:lnTo>
                    <a:lnTo>
                      <a:pt x="79" y="532"/>
                    </a:lnTo>
                    <a:lnTo>
                      <a:pt x="69" y="521"/>
                    </a:lnTo>
                    <a:lnTo>
                      <a:pt x="62" y="509"/>
                    </a:lnTo>
                    <a:lnTo>
                      <a:pt x="53" y="498"/>
                    </a:lnTo>
                    <a:lnTo>
                      <a:pt x="45" y="485"/>
                    </a:lnTo>
                    <a:lnTo>
                      <a:pt x="39" y="473"/>
                    </a:lnTo>
                    <a:lnTo>
                      <a:pt x="32" y="460"/>
                    </a:lnTo>
                    <a:lnTo>
                      <a:pt x="25" y="447"/>
                    </a:lnTo>
                    <a:lnTo>
                      <a:pt x="21" y="433"/>
                    </a:lnTo>
                    <a:lnTo>
                      <a:pt x="16" y="420"/>
                    </a:lnTo>
                    <a:lnTo>
                      <a:pt x="11" y="406"/>
                    </a:lnTo>
                    <a:lnTo>
                      <a:pt x="8" y="392"/>
                    </a:lnTo>
                    <a:lnTo>
                      <a:pt x="6" y="378"/>
                    </a:lnTo>
                    <a:lnTo>
                      <a:pt x="3" y="362"/>
                    </a:lnTo>
                    <a:lnTo>
                      <a:pt x="2" y="352"/>
                    </a:lnTo>
                    <a:lnTo>
                      <a:pt x="1" y="343"/>
                    </a:lnTo>
                    <a:lnTo>
                      <a:pt x="0" y="332"/>
                    </a:lnTo>
                    <a:lnTo>
                      <a:pt x="0" y="322"/>
                    </a:lnTo>
                    <a:lnTo>
                      <a:pt x="0" y="311"/>
                    </a:lnTo>
                    <a:lnTo>
                      <a:pt x="1" y="301"/>
                    </a:lnTo>
                    <a:lnTo>
                      <a:pt x="2" y="291"/>
                    </a:lnTo>
                    <a:lnTo>
                      <a:pt x="3" y="280"/>
                    </a:lnTo>
                    <a:lnTo>
                      <a:pt x="6" y="266"/>
                    </a:lnTo>
                    <a:lnTo>
                      <a:pt x="8" y="252"/>
                    </a:lnTo>
                    <a:lnTo>
                      <a:pt x="11" y="237"/>
                    </a:lnTo>
                    <a:lnTo>
                      <a:pt x="16" y="223"/>
                    </a:lnTo>
                    <a:lnTo>
                      <a:pt x="21" y="209"/>
                    </a:lnTo>
                    <a:lnTo>
                      <a:pt x="25" y="196"/>
                    </a:lnTo>
                    <a:lnTo>
                      <a:pt x="32" y="183"/>
                    </a:lnTo>
                    <a:lnTo>
                      <a:pt x="39" y="169"/>
                    </a:lnTo>
                    <a:lnTo>
                      <a:pt x="45" y="157"/>
                    </a:lnTo>
                    <a:lnTo>
                      <a:pt x="53" y="145"/>
                    </a:lnTo>
                    <a:lnTo>
                      <a:pt x="62" y="133"/>
                    </a:lnTo>
                    <a:lnTo>
                      <a:pt x="69" y="122"/>
                    </a:lnTo>
                    <a:lnTo>
                      <a:pt x="79" y="111"/>
                    </a:lnTo>
                    <a:lnTo>
                      <a:pt x="88" y="100"/>
                    </a:lnTo>
                    <a:lnTo>
                      <a:pt x="98" y="91"/>
                    </a:lnTo>
                    <a:lnTo>
                      <a:pt x="109" y="81"/>
                    </a:lnTo>
                    <a:lnTo>
                      <a:pt x="120" y="72"/>
                    </a:lnTo>
                    <a:lnTo>
                      <a:pt x="131" y="63"/>
                    </a:lnTo>
                    <a:lnTo>
                      <a:pt x="143" y="54"/>
                    </a:lnTo>
                    <a:lnTo>
                      <a:pt x="155" y="47"/>
                    </a:lnTo>
                    <a:lnTo>
                      <a:pt x="167" y="40"/>
                    </a:lnTo>
                    <a:lnTo>
                      <a:pt x="180" y="34"/>
                    </a:lnTo>
                    <a:lnTo>
                      <a:pt x="193" y="27"/>
                    </a:lnTo>
                    <a:lnTo>
                      <a:pt x="206" y="22"/>
                    </a:lnTo>
                    <a:lnTo>
                      <a:pt x="219" y="16"/>
                    </a:lnTo>
                    <a:lnTo>
                      <a:pt x="234" y="13"/>
                    </a:lnTo>
                    <a:lnTo>
                      <a:pt x="248" y="8"/>
                    </a:lnTo>
                    <a:lnTo>
                      <a:pt x="262" y="5"/>
                    </a:lnTo>
                    <a:lnTo>
                      <a:pt x="276" y="3"/>
                    </a:lnTo>
                    <a:lnTo>
                      <a:pt x="292" y="2"/>
                    </a:lnTo>
                    <a:lnTo>
                      <a:pt x="307" y="1"/>
                    </a:lnTo>
                    <a:lnTo>
                      <a:pt x="322" y="0"/>
                    </a:lnTo>
                    <a:lnTo>
                      <a:pt x="339" y="1"/>
                    </a:lnTo>
                    <a:lnTo>
                      <a:pt x="355" y="2"/>
                    </a:lnTo>
                    <a:lnTo>
                      <a:pt x="371" y="4"/>
                    </a:lnTo>
                    <a:lnTo>
                      <a:pt x="387" y="6"/>
                    </a:lnTo>
                    <a:lnTo>
                      <a:pt x="402" y="11"/>
                    </a:lnTo>
                    <a:lnTo>
                      <a:pt x="418" y="14"/>
                    </a:lnTo>
                    <a:lnTo>
                      <a:pt x="433" y="19"/>
                    </a:lnTo>
                    <a:lnTo>
                      <a:pt x="447" y="25"/>
                    </a:lnTo>
                    <a:lnTo>
                      <a:pt x="461" y="31"/>
                    </a:lnTo>
                    <a:lnTo>
                      <a:pt x="476" y="39"/>
                    </a:lnTo>
                    <a:lnTo>
                      <a:pt x="489" y="47"/>
                    </a:lnTo>
                    <a:lnTo>
                      <a:pt x="502" y="54"/>
                    </a:lnTo>
                    <a:lnTo>
                      <a:pt x="514" y="64"/>
                    </a:lnTo>
                    <a:lnTo>
                      <a:pt x="526" y="73"/>
                    </a:lnTo>
                    <a:lnTo>
                      <a:pt x="538" y="84"/>
                    </a:lnTo>
                    <a:lnTo>
                      <a:pt x="549" y="94"/>
                    </a:lnTo>
                    <a:lnTo>
                      <a:pt x="560" y="105"/>
                    </a:lnTo>
                    <a:lnTo>
                      <a:pt x="570" y="117"/>
                    </a:lnTo>
                    <a:lnTo>
                      <a:pt x="580" y="129"/>
                    </a:lnTo>
                    <a:lnTo>
                      <a:pt x="589" y="142"/>
                    </a:lnTo>
                    <a:lnTo>
                      <a:pt x="597" y="155"/>
                    </a:lnTo>
                    <a:lnTo>
                      <a:pt x="605" y="168"/>
                    </a:lnTo>
                    <a:lnTo>
                      <a:pt x="612" y="183"/>
                    </a:lnTo>
                    <a:lnTo>
                      <a:pt x="618" y="197"/>
                    </a:lnTo>
                    <a:lnTo>
                      <a:pt x="624" y="211"/>
                    </a:lnTo>
                    <a:lnTo>
                      <a:pt x="629" y="225"/>
                    </a:lnTo>
                    <a:lnTo>
                      <a:pt x="634" y="241"/>
                    </a:lnTo>
                    <a:lnTo>
                      <a:pt x="637" y="257"/>
                    </a:lnTo>
                    <a:lnTo>
                      <a:pt x="640" y="272"/>
                    </a:lnTo>
                    <a:lnTo>
                      <a:pt x="642" y="289"/>
                    </a:lnTo>
                    <a:lnTo>
                      <a:pt x="643" y="305"/>
                    </a:lnTo>
                    <a:lnTo>
                      <a:pt x="643" y="322"/>
                    </a:lnTo>
                    <a:lnTo>
                      <a:pt x="643" y="338"/>
                    </a:lnTo>
                    <a:lnTo>
                      <a:pt x="642" y="355"/>
                    </a:lnTo>
                    <a:lnTo>
                      <a:pt x="640" y="370"/>
                    </a:lnTo>
                    <a:lnTo>
                      <a:pt x="637" y="386"/>
                    </a:lnTo>
                    <a:lnTo>
                      <a:pt x="634" y="402"/>
                    </a:lnTo>
                    <a:lnTo>
                      <a:pt x="629" y="417"/>
                    </a:lnTo>
                    <a:lnTo>
                      <a:pt x="624" y="432"/>
                    </a:lnTo>
                    <a:lnTo>
                      <a:pt x="618" y="447"/>
                    </a:lnTo>
                    <a:lnTo>
                      <a:pt x="612" y="461"/>
                    </a:lnTo>
                    <a:lnTo>
                      <a:pt x="605" y="475"/>
                    </a:lnTo>
                    <a:lnTo>
                      <a:pt x="597" y="488"/>
                    </a:lnTo>
                    <a:lnTo>
                      <a:pt x="589" y="501"/>
                    </a:lnTo>
                    <a:lnTo>
                      <a:pt x="580" y="513"/>
                    </a:lnTo>
                    <a:lnTo>
                      <a:pt x="570" y="526"/>
                    </a:lnTo>
                    <a:lnTo>
                      <a:pt x="560" y="538"/>
                    </a:lnTo>
                    <a:lnTo>
                      <a:pt x="549" y="549"/>
                    </a:lnTo>
                    <a:lnTo>
                      <a:pt x="538" y="559"/>
                    </a:lnTo>
                    <a:lnTo>
                      <a:pt x="526" y="569"/>
                    </a:lnTo>
                    <a:lnTo>
                      <a:pt x="514" y="579"/>
                    </a:lnTo>
                    <a:lnTo>
                      <a:pt x="502" y="588"/>
                    </a:lnTo>
                    <a:lnTo>
                      <a:pt x="489" y="597"/>
                    </a:lnTo>
                    <a:lnTo>
                      <a:pt x="476" y="604"/>
                    </a:lnTo>
                    <a:lnTo>
                      <a:pt x="461" y="611"/>
                    </a:lnTo>
                    <a:lnTo>
                      <a:pt x="447" y="618"/>
                    </a:lnTo>
                    <a:lnTo>
                      <a:pt x="433" y="623"/>
                    </a:lnTo>
                    <a:lnTo>
                      <a:pt x="418" y="628"/>
                    </a:lnTo>
                    <a:lnTo>
                      <a:pt x="402" y="633"/>
                    </a:lnTo>
                    <a:lnTo>
                      <a:pt x="387" y="636"/>
                    </a:lnTo>
                    <a:lnTo>
                      <a:pt x="371" y="639"/>
                    </a:lnTo>
                    <a:lnTo>
                      <a:pt x="355" y="642"/>
                    </a:lnTo>
                    <a:lnTo>
                      <a:pt x="339" y="643"/>
                    </a:lnTo>
                    <a:lnTo>
                      <a:pt x="322" y="643"/>
                    </a:lnTo>
                    <a:close/>
                  </a:path>
                </a:pathLst>
              </a:custGeom>
              <a:solidFill>
                <a:srgbClr val="D0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sp>
          <p:nvSpPr>
            <p:cNvPr id="52" name="TextBox 51"/>
            <p:cNvSpPr txBox="1"/>
            <p:nvPr/>
          </p:nvSpPr>
          <p:spPr>
            <a:xfrm>
              <a:off x="1490575" y="1703463"/>
              <a:ext cx="592463" cy="477054"/>
            </a:xfrm>
            <a:prstGeom prst="rect">
              <a:avLst/>
            </a:prstGeom>
            <a:noFill/>
          </p:spPr>
          <p:txBody>
            <a:bodyPr wrap="square" rtlCol="0">
              <a:spAutoFit/>
            </a:bodyPr>
            <a:lstStyle/>
            <a:p>
              <a:r>
                <a:rPr lang="en-US" sz="2500" b="1" dirty="0">
                  <a:solidFill>
                    <a:prstClr val="white"/>
                  </a:solidFill>
                  <a:latin typeface="Calibri" panose="020F0502020204030204"/>
                </a:rPr>
                <a:t>01</a:t>
              </a:r>
            </a:p>
          </p:txBody>
        </p:sp>
        <p:sp>
          <p:nvSpPr>
            <p:cNvPr id="53" name="TextBox 52"/>
            <p:cNvSpPr txBox="1"/>
            <p:nvPr/>
          </p:nvSpPr>
          <p:spPr>
            <a:xfrm>
              <a:off x="2396502" y="2610452"/>
              <a:ext cx="592463" cy="477054"/>
            </a:xfrm>
            <a:prstGeom prst="rect">
              <a:avLst/>
            </a:prstGeom>
            <a:noFill/>
          </p:spPr>
          <p:txBody>
            <a:bodyPr wrap="square" rtlCol="0">
              <a:spAutoFit/>
            </a:bodyPr>
            <a:lstStyle/>
            <a:p>
              <a:r>
                <a:rPr lang="en-US" sz="2500" b="1" dirty="0">
                  <a:solidFill>
                    <a:prstClr val="white"/>
                  </a:solidFill>
                  <a:latin typeface="Calibri" panose="020F0502020204030204"/>
                </a:rPr>
                <a:t>02</a:t>
              </a:r>
            </a:p>
          </p:txBody>
        </p:sp>
        <p:sp>
          <p:nvSpPr>
            <p:cNvPr id="54" name="TextBox 53"/>
            <p:cNvSpPr txBox="1"/>
            <p:nvPr/>
          </p:nvSpPr>
          <p:spPr>
            <a:xfrm>
              <a:off x="1488150" y="3480113"/>
              <a:ext cx="592463" cy="477054"/>
            </a:xfrm>
            <a:prstGeom prst="rect">
              <a:avLst/>
            </a:prstGeom>
            <a:noFill/>
          </p:spPr>
          <p:txBody>
            <a:bodyPr wrap="square" rtlCol="0">
              <a:spAutoFit/>
            </a:bodyPr>
            <a:lstStyle/>
            <a:p>
              <a:r>
                <a:rPr lang="en-US" sz="2500" b="1" dirty="0">
                  <a:solidFill>
                    <a:prstClr val="white"/>
                  </a:solidFill>
                  <a:latin typeface="Calibri" panose="020F0502020204030204"/>
                </a:rPr>
                <a:t>03</a:t>
              </a:r>
            </a:p>
          </p:txBody>
        </p:sp>
        <p:sp>
          <p:nvSpPr>
            <p:cNvPr id="55" name="TextBox 54"/>
            <p:cNvSpPr txBox="1"/>
            <p:nvPr/>
          </p:nvSpPr>
          <p:spPr>
            <a:xfrm>
              <a:off x="2418873" y="4349263"/>
              <a:ext cx="592463" cy="477054"/>
            </a:xfrm>
            <a:prstGeom prst="rect">
              <a:avLst/>
            </a:prstGeom>
            <a:noFill/>
          </p:spPr>
          <p:txBody>
            <a:bodyPr wrap="square" rtlCol="0">
              <a:spAutoFit/>
            </a:bodyPr>
            <a:lstStyle/>
            <a:p>
              <a:r>
                <a:rPr lang="en-US" sz="2500" b="1" dirty="0">
                  <a:solidFill>
                    <a:prstClr val="white"/>
                  </a:solidFill>
                  <a:latin typeface="Calibri" panose="020F0502020204030204"/>
                </a:rPr>
                <a:t>04</a:t>
              </a:r>
            </a:p>
          </p:txBody>
        </p:sp>
        <p:sp>
          <p:nvSpPr>
            <p:cNvPr id="56" name="TextBox 55"/>
            <p:cNvSpPr txBox="1"/>
            <p:nvPr/>
          </p:nvSpPr>
          <p:spPr>
            <a:xfrm>
              <a:off x="1504419" y="5194688"/>
              <a:ext cx="592463" cy="477054"/>
            </a:xfrm>
            <a:prstGeom prst="rect">
              <a:avLst/>
            </a:prstGeom>
            <a:noFill/>
          </p:spPr>
          <p:txBody>
            <a:bodyPr wrap="square" rtlCol="0">
              <a:spAutoFit/>
            </a:bodyPr>
            <a:lstStyle/>
            <a:p>
              <a:r>
                <a:rPr lang="en-US" sz="2500" b="1" dirty="0">
                  <a:solidFill>
                    <a:prstClr val="white"/>
                  </a:solidFill>
                  <a:latin typeface="Calibri" panose="020F0502020204030204"/>
                </a:rPr>
                <a:t>05</a:t>
              </a:r>
            </a:p>
          </p:txBody>
        </p:sp>
        <p:sp>
          <p:nvSpPr>
            <p:cNvPr id="85" name="Freeform 6"/>
            <p:cNvSpPr>
              <a:spLocks/>
            </p:cNvSpPr>
            <p:nvPr/>
          </p:nvSpPr>
          <p:spPr bwMode="auto">
            <a:xfrm>
              <a:off x="3625538" y="2761160"/>
              <a:ext cx="173536" cy="170672"/>
            </a:xfrm>
            <a:custGeom>
              <a:avLst/>
              <a:gdLst>
                <a:gd name="T0" fmla="*/ 291 w 642"/>
                <a:gd name="T1" fmla="*/ 642 h 643"/>
                <a:gd name="T2" fmla="*/ 247 w 642"/>
                <a:gd name="T3" fmla="*/ 635 h 643"/>
                <a:gd name="T4" fmla="*/ 205 w 642"/>
                <a:gd name="T5" fmla="*/ 623 h 643"/>
                <a:gd name="T6" fmla="*/ 166 w 642"/>
                <a:gd name="T7" fmla="*/ 604 h 643"/>
                <a:gd name="T8" fmla="*/ 130 w 642"/>
                <a:gd name="T9" fmla="*/ 581 h 643"/>
                <a:gd name="T10" fmla="*/ 98 w 642"/>
                <a:gd name="T11" fmla="*/ 554 h 643"/>
                <a:gd name="T12" fmla="*/ 69 w 642"/>
                <a:gd name="T13" fmla="*/ 522 h 643"/>
                <a:gd name="T14" fmla="*/ 45 w 642"/>
                <a:gd name="T15" fmla="*/ 487 h 643"/>
                <a:gd name="T16" fmla="*/ 26 w 642"/>
                <a:gd name="T17" fmla="*/ 447 h 643"/>
                <a:gd name="T18" fmla="*/ 11 w 642"/>
                <a:gd name="T19" fmla="*/ 407 h 643"/>
                <a:gd name="T20" fmla="*/ 3 w 642"/>
                <a:gd name="T21" fmla="*/ 363 h 643"/>
                <a:gd name="T22" fmla="*/ 0 w 642"/>
                <a:gd name="T23" fmla="*/ 332 h 643"/>
                <a:gd name="T24" fmla="*/ 0 w 642"/>
                <a:gd name="T25" fmla="*/ 302 h 643"/>
                <a:gd name="T26" fmla="*/ 5 w 642"/>
                <a:gd name="T27" fmla="*/ 266 h 643"/>
                <a:gd name="T28" fmla="*/ 16 w 642"/>
                <a:gd name="T29" fmla="*/ 224 h 643"/>
                <a:gd name="T30" fmla="*/ 31 w 642"/>
                <a:gd name="T31" fmla="*/ 183 h 643"/>
                <a:gd name="T32" fmla="*/ 52 w 642"/>
                <a:gd name="T33" fmla="*/ 146 h 643"/>
                <a:gd name="T34" fmla="*/ 78 w 642"/>
                <a:gd name="T35" fmla="*/ 112 h 643"/>
                <a:gd name="T36" fmla="*/ 108 w 642"/>
                <a:gd name="T37" fmla="*/ 81 h 643"/>
                <a:gd name="T38" fmla="*/ 142 w 642"/>
                <a:gd name="T39" fmla="*/ 55 h 643"/>
                <a:gd name="T40" fmla="*/ 179 w 642"/>
                <a:gd name="T41" fmla="*/ 34 h 643"/>
                <a:gd name="T42" fmla="*/ 220 w 642"/>
                <a:gd name="T43" fmla="*/ 18 h 643"/>
                <a:gd name="T44" fmla="*/ 261 w 642"/>
                <a:gd name="T45" fmla="*/ 6 h 643"/>
                <a:gd name="T46" fmla="*/ 306 w 642"/>
                <a:gd name="T47" fmla="*/ 1 h 643"/>
                <a:gd name="T48" fmla="*/ 354 w 642"/>
                <a:gd name="T49" fmla="*/ 2 h 643"/>
                <a:gd name="T50" fmla="*/ 401 w 642"/>
                <a:gd name="T51" fmla="*/ 11 h 643"/>
                <a:gd name="T52" fmla="*/ 446 w 642"/>
                <a:gd name="T53" fmla="*/ 25 h 643"/>
                <a:gd name="T54" fmla="*/ 488 w 642"/>
                <a:gd name="T55" fmla="*/ 47 h 643"/>
                <a:gd name="T56" fmla="*/ 526 w 642"/>
                <a:gd name="T57" fmla="*/ 74 h 643"/>
                <a:gd name="T58" fmla="*/ 559 w 642"/>
                <a:gd name="T59" fmla="*/ 106 h 643"/>
                <a:gd name="T60" fmla="*/ 588 w 642"/>
                <a:gd name="T61" fmla="*/ 143 h 643"/>
                <a:gd name="T62" fmla="*/ 611 w 642"/>
                <a:gd name="T63" fmla="*/ 183 h 643"/>
                <a:gd name="T64" fmla="*/ 628 w 642"/>
                <a:gd name="T65" fmla="*/ 227 h 643"/>
                <a:gd name="T66" fmla="*/ 639 w 642"/>
                <a:gd name="T67" fmla="*/ 273 h 643"/>
                <a:gd name="T68" fmla="*/ 642 w 642"/>
                <a:gd name="T69" fmla="*/ 322 h 643"/>
                <a:gd name="T70" fmla="*/ 639 w 642"/>
                <a:gd name="T71" fmla="*/ 372 h 643"/>
                <a:gd name="T72" fmla="*/ 628 w 642"/>
                <a:gd name="T73" fmla="*/ 418 h 643"/>
                <a:gd name="T74" fmla="*/ 611 w 642"/>
                <a:gd name="T75" fmla="*/ 461 h 643"/>
                <a:gd name="T76" fmla="*/ 588 w 642"/>
                <a:gd name="T77" fmla="*/ 502 h 643"/>
                <a:gd name="T78" fmla="*/ 559 w 642"/>
                <a:gd name="T79" fmla="*/ 538 h 643"/>
                <a:gd name="T80" fmla="*/ 526 w 642"/>
                <a:gd name="T81" fmla="*/ 570 h 643"/>
                <a:gd name="T82" fmla="*/ 488 w 642"/>
                <a:gd name="T83" fmla="*/ 597 h 643"/>
                <a:gd name="T84" fmla="*/ 446 w 642"/>
                <a:gd name="T85" fmla="*/ 618 h 643"/>
                <a:gd name="T86" fmla="*/ 401 w 642"/>
                <a:gd name="T87" fmla="*/ 633 h 643"/>
                <a:gd name="T88" fmla="*/ 354 w 642"/>
                <a:gd name="T89" fmla="*/ 642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2" h="643">
                  <a:moveTo>
                    <a:pt x="321" y="643"/>
                  </a:moveTo>
                  <a:lnTo>
                    <a:pt x="306" y="643"/>
                  </a:lnTo>
                  <a:lnTo>
                    <a:pt x="291" y="642"/>
                  </a:lnTo>
                  <a:lnTo>
                    <a:pt x="277" y="640"/>
                  </a:lnTo>
                  <a:lnTo>
                    <a:pt x="261" y="638"/>
                  </a:lnTo>
                  <a:lnTo>
                    <a:pt x="247" y="635"/>
                  </a:lnTo>
                  <a:lnTo>
                    <a:pt x="233" y="631"/>
                  </a:lnTo>
                  <a:lnTo>
                    <a:pt x="220" y="627"/>
                  </a:lnTo>
                  <a:lnTo>
                    <a:pt x="205" y="623"/>
                  </a:lnTo>
                  <a:lnTo>
                    <a:pt x="192" y="617"/>
                  </a:lnTo>
                  <a:lnTo>
                    <a:pt x="179" y="610"/>
                  </a:lnTo>
                  <a:lnTo>
                    <a:pt x="166" y="604"/>
                  </a:lnTo>
                  <a:lnTo>
                    <a:pt x="154" y="596"/>
                  </a:lnTo>
                  <a:lnTo>
                    <a:pt x="142" y="589"/>
                  </a:lnTo>
                  <a:lnTo>
                    <a:pt x="130" y="581"/>
                  </a:lnTo>
                  <a:lnTo>
                    <a:pt x="119" y="572"/>
                  </a:lnTo>
                  <a:lnTo>
                    <a:pt x="108" y="562"/>
                  </a:lnTo>
                  <a:lnTo>
                    <a:pt x="98" y="554"/>
                  </a:lnTo>
                  <a:lnTo>
                    <a:pt x="88" y="543"/>
                  </a:lnTo>
                  <a:lnTo>
                    <a:pt x="78" y="533"/>
                  </a:lnTo>
                  <a:lnTo>
                    <a:pt x="69" y="522"/>
                  </a:lnTo>
                  <a:lnTo>
                    <a:pt x="61" y="510"/>
                  </a:lnTo>
                  <a:lnTo>
                    <a:pt x="52" y="499"/>
                  </a:lnTo>
                  <a:lnTo>
                    <a:pt x="45" y="487"/>
                  </a:lnTo>
                  <a:lnTo>
                    <a:pt x="38" y="474"/>
                  </a:lnTo>
                  <a:lnTo>
                    <a:pt x="31" y="460"/>
                  </a:lnTo>
                  <a:lnTo>
                    <a:pt x="26" y="447"/>
                  </a:lnTo>
                  <a:lnTo>
                    <a:pt x="20" y="434"/>
                  </a:lnTo>
                  <a:lnTo>
                    <a:pt x="16" y="421"/>
                  </a:lnTo>
                  <a:lnTo>
                    <a:pt x="11" y="407"/>
                  </a:lnTo>
                  <a:lnTo>
                    <a:pt x="8" y="392"/>
                  </a:lnTo>
                  <a:lnTo>
                    <a:pt x="5" y="378"/>
                  </a:lnTo>
                  <a:lnTo>
                    <a:pt x="3" y="363"/>
                  </a:lnTo>
                  <a:lnTo>
                    <a:pt x="1" y="353"/>
                  </a:lnTo>
                  <a:lnTo>
                    <a:pt x="0" y="343"/>
                  </a:lnTo>
                  <a:lnTo>
                    <a:pt x="0" y="332"/>
                  </a:lnTo>
                  <a:lnTo>
                    <a:pt x="0" y="322"/>
                  </a:lnTo>
                  <a:lnTo>
                    <a:pt x="0" y="311"/>
                  </a:lnTo>
                  <a:lnTo>
                    <a:pt x="0" y="302"/>
                  </a:lnTo>
                  <a:lnTo>
                    <a:pt x="1" y="292"/>
                  </a:lnTo>
                  <a:lnTo>
                    <a:pt x="3" y="282"/>
                  </a:lnTo>
                  <a:lnTo>
                    <a:pt x="5" y="266"/>
                  </a:lnTo>
                  <a:lnTo>
                    <a:pt x="8" y="252"/>
                  </a:lnTo>
                  <a:lnTo>
                    <a:pt x="11" y="238"/>
                  </a:lnTo>
                  <a:lnTo>
                    <a:pt x="16" y="224"/>
                  </a:lnTo>
                  <a:lnTo>
                    <a:pt x="20" y="211"/>
                  </a:lnTo>
                  <a:lnTo>
                    <a:pt x="26" y="196"/>
                  </a:lnTo>
                  <a:lnTo>
                    <a:pt x="31" y="183"/>
                  </a:lnTo>
                  <a:lnTo>
                    <a:pt x="38" y="171"/>
                  </a:lnTo>
                  <a:lnTo>
                    <a:pt x="45" y="158"/>
                  </a:lnTo>
                  <a:lnTo>
                    <a:pt x="52" y="146"/>
                  </a:lnTo>
                  <a:lnTo>
                    <a:pt x="61" y="134"/>
                  </a:lnTo>
                  <a:lnTo>
                    <a:pt x="69" y="123"/>
                  </a:lnTo>
                  <a:lnTo>
                    <a:pt x="78" y="112"/>
                  </a:lnTo>
                  <a:lnTo>
                    <a:pt x="88" y="101"/>
                  </a:lnTo>
                  <a:lnTo>
                    <a:pt x="98" y="91"/>
                  </a:lnTo>
                  <a:lnTo>
                    <a:pt x="108" y="81"/>
                  </a:lnTo>
                  <a:lnTo>
                    <a:pt x="119" y="73"/>
                  </a:lnTo>
                  <a:lnTo>
                    <a:pt x="130" y="64"/>
                  </a:lnTo>
                  <a:lnTo>
                    <a:pt x="142" y="55"/>
                  </a:lnTo>
                  <a:lnTo>
                    <a:pt x="154" y="47"/>
                  </a:lnTo>
                  <a:lnTo>
                    <a:pt x="166" y="41"/>
                  </a:lnTo>
                  <a:lnTo>
                    <a:pt x="179" y="34"/>
                  </a:lnTo>
                  <a:lnTo>
                    <a:pt x="192" y="28"/>
                  </a:lnTo>
                  <a:lnTo>
                    <a:pt x="205" y="22"/>
                  </a:lnTo>
                  <a:lnTo>
                    <a:pt x="220" y="18"/>
                  </a:lnTo>
                  <a:lnTo>
                    <a:pt x="233" y="13"/>
                  </a:lnTo>
                  <a:lnTo>
                    <a:pt x="247" y="9"/>
                  </a:lnTo>
                  <a:lnTo>
                    <a:pt x="261" y="6"/>
                  </a:lnTo>
                  <a:lnTo>
                    <a:pt x="277" y="4"/>
                  </a:lnTo>
                  <a:lnTo>
                    <a:pt x="291" y="2"/>
                  </a:lnTo>
                  <a:lnTo>
                    <a:pt x="306" y="1"/>
                  </a:lnTo>
                  <a:lnTo>
                    <a:pt x="321" y="0"/>
                  </a:lnTo>
                  <a:lnTo>
                    <a:pt x="338" y="1"/>
                  </a:lnTo>
                  <a:lnTo>
                    <a:pt x="354" y="2"/>
                  </a:lnTo>
                  <a:lnTo>
                    <a:pt x="371" y="5"/>
                  </a:lnTo>
                  <a:lnTo>
                    <a:pt x="386" y="7"/>
                  </a:lnTo>
                  <a:lnTo>
                    <a:pt x="401" y="11"/>
                  </a:lnTo>
                  <a:lnTo>
                    <a:pt x="417" y="16"/>
                  </a:lnTo>
                  <a:lnTo>
                    <a:pt x="432" y="20"/>
                  </a:lnTo>
                  <a:lnTo>
                    <a:pt x="446" y="25"/>
                  </a:lnTo>
                  <a:lnTo>
                    <a:pt x="461" y="32"/>
                  </a:lnTo>
                  <a:lnTo>
                    <a:pt x="475" y="40"/>
                  </a:lnTo>
                  <a:lnTo>
                    <a:pt x="488" y="47"/>
                  </a:lnTo>
                  <a:lnTo>
                    <a:pt x="501" y="56"/>
                  </a:lnTo>
                  <a:lnTo>
                    <a:pt x="514" y="65"/>
                  </a:lnTo>
                  <a:lnTo>
                    <a:pt x="526" y="74"/>
                  </a:lnTo>
                  <a:lnTo>
                    <a:pt x="537" y="85"/>
                  </a:lnTo>
                  <a:lnTo>
                    <a:pt x="549" y="94"/>
                  </a:lnTo>
                  <a:lnTo>
                    <a:pt x="559" y="106"/>
                  </a:lnTo>
                  <a:lnTo>
                    <a:pt x="569" y="117"/>
                  </a:lnTo>
                  <a:lnTo>
                    <a:pt x="579" y="130"/>
                  </a:lnTo>
                  <a:lnTo>
                    <a:pt x="588" y="143"/>
                  </a:lnTo>
                  <a:lnTo>
                    <a:pt x="596" y="156"/>
                  </a:lnTo>
                  <a:lnTo>
                    <a:pt x="604" y="169"/>
                  </a:lnTo>
                  <a:lnTo>
                    <a:pt x="611" y="183"/>
                  </a:lnTo>
                  <a:lnTo>
                    <a:pt x="617" y="197"/>
                  </a:lnTo>
                  <a:lnTo>
                    <a:pt x="624" y="212"/>
                  </a:lnTo>
                  <a:lnTo>
                    <a:pt x="628" y="227"/>
                  </a:lnTo>
                  <a:lnTo>
                    <a:pt x="633" y="242"/>
                  </a:lnTo>
                  <a:lnTo>
                    <a:pt x="636" y="258"/>
                  </a:lnTo>
                  <a:lnTo>
                    <a:pt x="639" y="273"/>
                  </a:lnTo>
                  <a:lnTo>
                    <a:pt x="641" y="289"/>
                  </a:lnTo>
                  <a:lnTo>
                    <a:pt x="642" y="306"/>
                  </a:lnTo>
                  <a:lnTo>
                    <a:pt x="642" y="322"/>
                  </a:lnTo>
                  <a:lnTo>
                    <a:pt x="642" y="339"/>
                  </a:lnTo>
                  <a:lnTo>
                    <a:pt x="641" y="355"/>
                  </a:lnTo>
                  <a:lnTo>
                    <a:pt x="639" y="372"/>
                  </a:lnTo>
                  <a:lnTo>
                    <a:pt x="636" y="387"/>
                  </a:lnTo>
                  <a:lnTo>
                    <a:pt x="633" y="402"/>
                  </a:lnTo>
                  <a:lnTo>
                    <a:pt x="628" y="418"/>
                  </a:lnTo>
                  <a:lnTo>
                    <a:pt x="624" y="433"/>
                  </a:lnTo>
                  <a:lnTo>
                    <a:pt x="617" y="447"/>
                  </a:lnTo>
                  <a:lnTo>
                    <a:pt x="611" y="461"/>
                  </a:lnTo>
                  <a:lnTo>
                    <a:pt x="604" y="476"/>
                  </a:lnTo>
                  <a:lnTo>
                    <a:pt x="596" y="489"/>
                  </a:lnTo>
                  <a:lnTo>
                    <a:pt x="588" y="502"/>
                  </a:lnTo>
                  <a:lnTo>
                    <a:pt x="579" y="514"/>
                  </a:lnTo>
                  <a:lnTo>
                    <a:pt x="569" y="527"/>
                  </a:lnTo>
                  <a:lnTo>
                    <a:pt x="559" y="538"/>
                  </a:lnTo>
                  <a:lnTo>
                    <a:pt x="549" y="549"/>
                  </a:lnTo>
                  <a:lnTo>
                    <a:pt x="537" y="560"/>
                  </a:lnTo>
                  <a:lnTo>
                    <a:pt x="526" y="570"/>
                  </a:lnTo>
                  <a:lnTo>
                    <a:pt x="514" y="580"/>
                  </a:lnTo>
                  <a:lnTo>
                    <a:pt x="501" y="589"/>
                  </a:lnTo>
                  <a:lnTo>
                    <a:pt x="488" y="597"/>
                  </a:lnTo>
                  <a:lnTo>
                    <a:pt x="475" y="605"/>
                  </a:lnTo>
                  <a:lnTo>
                    <a:pt x="461" y="612"/>
                  </a:lnTo>
                  <a:lnTo>
                    <a:pt x="446" y="618"/>
                  </a:lnTo>
                  <a:lnTo>
                    <a:pt x="432" y="625"/>
                  </a:lnTo>
                  <a:lnTo>
                    <a:pt x="417" y="629"/>
                  </a:lnTo>
                  <a:lnTo>
                    <a:pt x="401" y="633"/>
                  </a:lnTo>
                  <a:lnTo>
                    <a:pt x="386" y="637"/>
                  </a:lnTo>
                  <a:lnTo>
                    <a:pt x="371" y="640"/>
                  </a:lnTo>
                  <a:lnTo>
                    <a:pt x="354" y="642"/>
                  </a:lnTo>
                  <a:lnTo>
                    <a:pt x="338" y="643"/>
                  </a:lnTo>
                  <a:lnTo>
                    <a:pt x="321" y="643"/>
                  </a:lnTo>
                  <a:close/>
                </a:path>
              </a:pathLst>
            </a:custGeom>
            <a:solidFill>
              <a:srgbClr val="D0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sp>
        <p:nvSpPr>
          <p:cNvPr id="47" name="Rectangle 46"/>
          <p:cNvSpPr/>
          <p:nvPr/>
        </p:nvSpPr>
        <p:spPr>
          <a:xfrm>
            <a:off x="2998156" y="2408724"/>
            <a:ext cx="8848703" cy="338554"/>
          </a:xfrm>
          <a:prstGeom prst="rect">
            <a:avLst/>
          </a:prstGeom>
        </p:spPr>
        <p:txBody>
          <a:bodyPr wrap="square">
            <a:spAutoFit/>
          </a:bodyPr>
          <a:lstStyle/>
          <a:p>
            <a:pPr lvl="0" algn="just"/>
            <a:r>
              <a:rPr lang="en-US" sz="1600" b="1" dirty="0">
                <a:solidFill>
                  <a:srgbClr val="299E84"/>
                </a:solidFill>
              </a:rPr>
              <a:t>Content</a:t>
            </a:r>
          </a:p>
        </p:txBody>
      </p:sp>
      <p:sp>
        <p:nvSpPr>
          <p:cNvPr id="49" name="Rectangle 48"/>
          <p:cNvSpPr/>
          <p:nvPr/>
        </p:nvSpPr>
        <p:spPr>
          <a:xfrm>
            <a:off x="2649488" y="3395764"/>
            <a:ext cx="9251191" cy="830997"/>
          </a:xfrm>
          <a:prstGeom prst="rect">
            <a:avLst/>
          </a:prstGeom>
        </p:spPr>
        <p:txBody>
          <a:bodyPr wrap="square">
            <a:spAutoFit/>
          </a:bodyPr>
          <a:lstStyle/>
          <a:p>
            <a:pPr lvl="0" algn="just"/>
            <a:r>
              <a:rPr lang="en-US" sz="1600" b="1" dirty="0">
                <a:solidFill>
                  <a:srgbClr val="085E4D"/>
                </a:solidFill>
              </a:rPr>
              <a:t>Key players are focused on capturing profitable growth through collaboration with end-use customers and continuing to meet or exceed targets through continued operational excellence Moreover, key players pursue additional step-change growth opportunities to unlock further value.</a:t>
            </a:r>
          </a:p>
        </p:txBody>
      </p:sp>
      <p:sp>
        <p:nvSpPr>
          <p:cNvPr id="92" name="Rectangle 91"/>
          <p:cNvSpPr/>
          <p:nvPr/>
        </p:nvSpPr>
        <p:spPr>
          <a:xfrm>
            <a:off x="2998154" y="4268528"/>
            <a:ext cx="8917419" cy="338554"/>
          </a:xfrm>
          <a:prstGeom prst="rect">
            <a:avLst/>
          </a:prstGeom>
        </p:spPr>
        <p:txBody>
          <a:bodyPr wrap="square">
            <a:spAutoFit/>
          </a:bodyPr>
          <a:lstStyle/>
          <a:p>
            <a:pPr lvl="0" algn="just"/>
            <a:r>
              <a:rPr lang="en-US" sz="1600" b="1" dirty="0">
                <a:solidFill>
                  <a:srgbClr val="2A3030"/>
                </a:solidFill>
              </a:rPr>
              <a:t>Content</a:t>
            </a:r>
          </a:p>
        </p:txBody>
      </p:sp>
      <p:sp>
        <p:nvSpPr>
          <p:cNvPr id="93" name="Rectangle 92"/>
          <p:cNvSpPr/>
          <p:nvPr/>
        </p:nvSpPr>
        <p:spPr>
          <a:xfrm>
            <a:off x="2691334" y="5205568"/>
            <a:ext cx="9228468" cy="338554"/>
          </a:xfrm>
          <a:prstGeom prst="rect">
            <a:avLst/>
          </a:prstGeom>
        </p:spPr>
        <p:txBody>
          <a:bodyPr wrap="square">
            <a:spAutoFit/>
          </a:bodyPr>
          <a:lstStyle/>
          <a:p>
            <a:pPr lvl="0" algn="just"/>
            <a:r>
              <a:rPr lang="en-US" sz="1600" b="1" dirty="0">
                <a:solidFill>
                  <a:srgbClr val="A13335"/>
                </a:solidFill>
              </a:rPr>
              <a:t>Content</a:t>
            </a:r>
          </a:p>
        </p:txBody>
      </p:sp>
      <p:sp>
        <p:nvSpPr>
          <p:cNvPr id="94" name="Rectangle 93"/>
          <p:cNvSpPr/>
          <p:nvPr/>
        </p:nvSpPr>
        <p:spPr>
          <a:xfrm>
            <a:off x="2673125" y="1557076"/>
            <a:ext cx="9149081" cy="338554"/>
          </a:xfrm>
          <a:prstGeom prst="rect">
            <a:avLst/>
          </a:prstGeom>
        </p:spPr>
        <p:txBody>
          <a:bodyPr wrap="square">
            <a:spAutoFit/>
          </a:bodyPr>
          <a:lstStyle/>
          <a:p>
            <a:pPr lvl="0" algn="just">
              <a:defRPr/>
            </a:pPr>
            <a:r>
              <a:rPr lang="en-US" sz="1600" b="1" dirty="0">
                <a:solidFill>
                  <a:srgbClr val="265780"/>
                </a:solidFill>
              </a:rPr>
              <a:t>Content </a:t>
            </a:r>
          </a:p>
        </p:txBody>
      </p:sp>
      <p:sp>
        <p:nvSpPr>
          <p:cNvPr id="50" name="TextBox 49"/>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
        <p:nvSpPr>
          <p:cNvPr id="4" name="Slide Number Placeholder 3"/>
          <p:cNvSpPr>
            <a:spLocks noGrp="1"/>
          </p:cNvSpPr>
          <p:nvPr>
            <p:ph type="sldNum" sz="quarter" idx="4"/>
          </p:nvPr>
        </p:nvSpPr>
        <p:spPr/>
        <p:txBody>
          <a:bodyPr/>
          <a:lstStyle/>
          <a:p>
            <a:fld id="{4B17068C-EB94-40A3-A5F2-664CDD77FDAC}" type="slidenum">
              <a:rPr lang="en-GB" smtClean="0"/>
              <a:pPr/>
              <a:t>18</a:t>
            </a:fld>
            <a:endParaRPr lang="en-GB" dirty="0"/>
          </a:p>
        </p:txBody>
      </p:sp>
    </p:spTree>
    <p:extLst>
      <p:ext uri="{BB962C8B-B14F-4D97-AF65-F5344CB8AC3E}">
        <p14:creationId xmlns:p14="http://schemas.microsoft.com/office/powerpoint/2010/main" val="384039980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05</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05</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Global WXYZ Market Demand Analysis and Opportunity Assessment, 2024 – 2034</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19</a:t>
            </a:r>
          </a:p>
        </p:txBody>
      </p:sp>
    </p:spTree>
    <p:extLst>
      <p:ext uri="{BB962C8B-B14F-4D97-AF65-F5344CB8AC3E}">
        <p14:creationId xmlns:p14="http://schemas.microsoft.com/office/powerpoint/2010/main" val="216112876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Global WXYZ Volume Analysis</a:t>
            </a:r>
          </a:p>
        </p:txBody>
      </p:sp>
      <p:sp>
        <p:nvSpPr>
          <p:cNvPr id="7" name="Text Placeholder 6"/>
          <p:cNvSpPr>
            <a:spLocks noGrp="1"/>
          </p:cNvSpPr>
          <p:nvPr>
            <p:ph type="body" idx="12"/>
          </p:nvPr>
        </p:nvSpPr>
        <p:spPr/>
        <p:txBody>
          <a:bodyPr/>
          <a:lstStyle/>
          <a:p>
            <a:r>
              <a:rPr lang="en-US" dirty="0"/>
              <a:t>Figure 01: Global WXYZ Historical Market Volume (Tons) Analysis, 2019-2023</a:t>
            </a:r>
          </a:p>
        </p:txBody>
      </p:sp>
      <p:sp>
        <p:nvSpPr>
          <p:cNvPr id="9" name="Text Placeholder 8"/>
          <p:cNvSpPr>
            <a:spLocks noGrp="1"/>
          </p:cNvSpPr>
          <p:nvPr>
            <p:ph type="body" idx="14"/>
          </p:nvPr>
        </p:nvSpPr>
        <p:spPr/>
        <p:txBody>
          <a:bodyPr/>
          <a:lstStyle/>
          <a:p>
            <a:r>
              <a:rPr lang="en-US" dirty="0"/>
              <a:t>Figure 02: Global WXYZ Current and Future Market Volume (Tons) Analysis, 2024-2034</a:t>
            </a:r>
          </a:p>
        </p:txBody>
      </p:sp>
      <p:sp>
        <p:nvSpPr>
          <p:cNvPr id="10" name="Content Placeholder 9"/>
          <p:cNvSpPr>
            <a:spLocks noGrp="1"/>
          </p:cNvSpPr>
          <p:nvPr>
            <p:ph idx="17"/>
          </p:nvPr>
        </p:nvSpPr>
        <p:spPr/>
        <p:txBody>
          <a:bodyPr/>
          <a:lstStyle/>
          <a:p>
            <a:pPr>
              <a:spcBef>
                <a:spcPts val="100"/>
              </a:spcBef>
              <a:spcAft>
                <a:spcPts val="100"/>
              </a:spcAft>
            </a:pPr>
            <a:r>
              <a:rPr lang="en-US" b="1" dirty="0"/>
              <a:t>The above figures represent the consumption of Global WXYZ historically from 2019 to 2023 and future market analysis from 2024 to 2034</a:t>
            </a:r>
          </a:p>
          <a:p>
            <a:pPr marL="466344" lvl="1">
              <a:spcBef>
                <a:spcPts val="0"/>
              </a:spcBef>
              <a:spcAft>
                <a:spcPts val="0"/>
              </a:spcAft>
            </a:pPr>
            <a:r>
              <a:rPr lang="en-US" sz="1200" dirty="0"/>
              <a:t>The WXYZ market volume is expected to be pegged at </a:t>
            </a:r>
            <a:r>
              <a:rPr lang="en-US" sz="1200" b="1" dirty="0"/>
              <a:t>XX </a:t>
            </a:r>
            <a:r>
              <a:rPr lang="en-US" sz="1200" dirty="0"/>
              <a:t>Tons at the end of 2024 and is foreseen to grow with a volume CAGR of </a:t>
            </a:r>
            <a:r>
              <a:rPr lang="en-US" sz="1200" b="1" dirty="0" err="1"/>
              <a:t>VoC</a:t>
            </a:r>
            <a:r>
              <a:rPr lang="en-US" sz="1200" b="1" dirty="0"/>
              <a:t>!%</a:t>
            </a:r>
            <a:r>
              <a:rPr lang="en-US" sz="1200" dirty="0"/>
              <a:t> during the forecast period </a:t>
            </a:r>
            <a:r>
              <a:rPr lang="en-IN" sz="1200" dirty="0"/>
              <a:t>and is anticipated to reach an overall volume consumption of </a:t>
            </a:r>
            <a:r>
              <a:rPr lang="en-US" sz="1200" b="1" dirty="0"/>
              <a:t>XX </a:t>
            </a:r>
            <a:r>
              <a:rPr lang="en-US" sz="1200" dirty="0"/>
              <a:t>Tons by 2034 end.</a:t>
            </a:r>
          </a:p>
          <a:p>
            <a:pPr lvl="1">
              <a:spcBef>
                <a:spcPts val="0"/>
              </a:spcBef>
              <a:spcAft>
                <a:spcPts val="0"/>
              </a:spcAft>
            </a:pPr>
            <a:r>
              <a:rPr lang="en-US" sz="1200" dirty="0"/>
              <a:t>Based on volume growth, the demand for WXYZ witnesses considerable growth owing to increasing demand from various end-use industries.</a:t>
            </a:r>
            <a:endParaRPr lang="en-IN" sz="1200" dirty="0"/>
          </a:p>
          <a:p>
            <a:pPr lvl="1">
              <a:spcBef>
                <a:spcPts val="0"/>
              </a:spcBef>
              <a:spcAft>
                <a:spcPts val="0"/>
              </a:spcAft>
            </a:pPr>
            <a:r>
              <a:rPr lang="en-IN" sz="1200" dirty="0"/>
              <a:t>Ongoing technological advancements and new investment activities in the field of </a:t>
            </a:r>
            <a:r>
              <a:rPr lang="en-US" sz="1200" dirty="0"/>
              <a:t>WXYZ</a:t>
            </a:r>
            <a:r>
              <a:rPr lang="en-IN" sz="1200" dirty="0"/>
              <a:t> market is expected to create ample opportunities to create high-performance end-products by the end of the forecast period.</a:t>
            </a:r>
            <a:endParaRPr lang="en-GB" sz="1200" dirty="0"/>
          </a:p>
        </p:txBody>
      </p:sp>
      <p:sp>
        <p:nvSpPr>
          <p:cNvPr id="11" name="Text Placeholder 10"/>
          <p:cNvSpPr>
            <a:spLocks noGrp="1"/>
          </p:cNvSpPr>
          <p:nvPr>
            <p:ph type="body" idx="18"/>
          </p:nvPr>
        </p:nvSpPr>
        <p:spPr/>
        <p:txBody>
          <a:bodyPr/>
          <a:lstStyle/>
          <a:p>
            <a:r>
              <a:rPr lang="en-US" dirty="0"/>
              <a:t>Key Takeaways</a:t>
            </a:r>
          </a:p>
        </p:txBody>
      </p:sp>
      <p:graphicFrame>
        <p:nvGraphicFramePr>
          <p:cNvPr id="13" name="Content Placeholder 19"/>
          <p:cNvGraphicFramePr>
            <a:graphicFrameLocks noGrp="1"/>
          </p:cNvGraphicFramePr>
          <p:nvPr>
            <p:ph idx="1"/>
            <p:extLst>
              <p:ext uri="{D42A27DB-BD31-4B8C-83A1-F6EECF244321}">
                <p14:modId xmlns:p14="http://schemas.microsoft.com/office/powerpoint/2010/main" val="3496240564"/>
              </p:ext>
            </p:extLst>
          </p:nvPr>
        </p:nvGraphicFramePr>
        <p:xfrm>
          <a:off x="152400" y="1612900"/>
          <a:ext cx="5764213" cy="196691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 name="Content Placeholder 11"/>
          <p:cNvGraphicFramePr>
            <a:graphicFrameLocks noGrp="1"/>
          </p:cNvGraphicFramePr>
          <p:nvPr>
            <p:ph idx="13"/>
            <p:extLst>
              <p:ext uri="{D42A27DB-BD31-4B8C-83A1-F6EECF244321}">
                <p14:modId xmlns:p14="http://schemas.microsoft.com/office/powerpoint/2010/main" val="3053447278"/>
              </p:ext>
            </p:extLst>
          </p:nvPr>
        </p:nvGraphicFramePr>
        <p:xfrm>
          <a:off x="6273800" y="1612900"/>
          <a:ext cx="5762625" cy="1966913"/>
        </p:xfrm>
        <a:graphic>
          <a:graphicData uri="http://schemas.openxmlformats.org/drawingml/2006/chart">
            <c:chart xmlns:c="http://schemas.openxmlformats.org/drawingml/2006/chart" xmlns:r="http://schemas.openxmlformats.org/officeDocument/2006/relationships" r:id="rId3"/>
          </a:graphicData>
        </a:graphic>
      </p:graphicFrame>
      <p:sp>
        <p:nvSpPr>
          <p:cNvPr id="15" name="TextBox 14"/>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20</a:t>
            </a:fld>
            <a:endParaRPr lang="en-GB" dirty="0"/>
          </a:p>
        </p:txBody>
      </p:sp>
    </p:spTree>
    <p:extLst>
      <p:ext uri="{BB962C8B-B14F-4D97-AF65-F5344CB8AC3E}">
        <p14:creationId xmlns:p14="http://schemas.microsoft.com/office/powerpoint/2010/main" val="159241143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06</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06</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Pricing Analysis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21</a:t>
            </a:r>
          </a:p>
        </p:txBody>
      </p:sp>
    </p:spTree>
    <p:extLst>
      <p:ext uri="{BB962C8B-B14F-4D97-AF65-F5344CB8AC3E}">
        <p14:creationId xmlns:p14="http://schemas.microsoft.com/office/powerpoint/2010/main" val="417526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Box 24"/>
          <p:cNvSpPr txBox="1"/>
          <p:nvPr/>
        </p:nvSpPr>
        <p:spPr>
          <a:xfrm>
            <a:off x="152400" y="5059582"/>
            <a:ext cx="11887199" cy="1143903"/>
          </a:xfrm>
          <a:prstGeom prst="rect">
            <a:avLst/>
          </a:prstGeom>
          <a:noFill/>
        </p:spPr>
        <p:txBody>
          <a:bodyPr wrap="square" rtlCol="0">
            <a:spAutoFit/>
          </a:bodyPr>
          <a:lstStyle/>
          <a:p>
            <a:pPr marL="228600" indent="-228600" algn="just">
              <a:spcBef>
                <a:spcPts val="200"/>
              </a:spcBef>
              <a:spcAft>
                <a:spcPts val="200"/>
              </a:spcAft>
              <a:buFont typeface="Wingdings" panose="05000000000000000000" pitchFamily="2" charset="2"/>
              <a:buChar char="q"/>
            </a:pPr>
            <a:r>
              <a:rPr lang="en-US" sz="1100" i="1" dirty="0"/>
              <a:t>Prices vary from manufacturer to manufacturer and distributor to distributor, based on the Category-A, form, Product Quality, and Application</a:t>
            </a:r>
          </a:p>
          <a:p>
            <a:pPr marL="228600" indent="-228600" algn="just">
              <a:spcBef>
                <a:spcPts val="200"/>
              </a:spcBef>
              <a:spcAft>
                <a:spcPts val="200"/>
              </a:spcAft>
              <a:buFont typeface="Wingdings" panose="05000000000000000000" pitchFamily="2" charset="2"/>
              <a:buChar char="q"/>
            </a:pPr>
            <a:r>
              <a:rPr lang="en-US" sz="1100" i="1" dirty="0"/>
              <a:t>To reach a realistic value size, an attempt has been made to generalize the price based on the categorization of WXYZ based on Category-A.</a:t>
            </a:r>
          </a:p>
          <a:p>
            <a:pPr marL="228600" indent="-228600" algn="just">
              <a:spcBef>
                <a:spcPts val="200"/>
              </a:spcBef>
              <a:spcAft>
                <a:spcPts val="200"/>
              </a:spcAft>
              <a:buFont typeface="Wingdings" panose="05000000000000000000" pitchFamily="2" charset="2"/>
              <a:buChar char="q"/>
            </a:pPr>
            <a:r>
              <a:rPr lang="en-US" sz="1100" i="1" dirty="0"/>
              <a:t>The values in the respective regions are estimated by benchmarking certain key players’ pricing in the region and estimating the value of WXYZ in the region.</a:t>
            </a:r>
          </a:p>
          <a:p>
            <a:pPr marL="228600" indent="-228600" algn="just">
              <a:spcBef>
                <a:spcPts val="200"/>
              </a:spcBef>
              <a:spcAft>
                <a:spcPts val="200"/>
              </a:spcAft>
              <a:buFont typeface="Wingdings" panose="05000000000000000000" pitchFamily="2" charset="2"/>
              <a:buChar char="q"/>
            </a:pPr>
            <a:r>
              <a:rPr lang="en-US" sz="1100" i="1" dirty="0"/>
              <a:t>The pricing data for the mentioned segmentation was collected from various sources, including manufacturers, distributors, suppliers, end users, trade, and other reliable secondary sources.</a:t>
            </a:r>
          </a:p>
          <a:p>
            <a:pPr marL="228600" indent="-228600" algn="just">
              <a:spcBef>
                <a:spcPts val="200"/>
              </a:spcBef>
              <a:spcAft>
                <a:spcPts val="200"/>
              </a:spcAft>
              <a:buFont typeface="Wingdings" panose="05000000000000000000" pitchFamily="2" charset="2"/>
              <a:buChar char="q"/>
            </a:pPr>
            <a:r>
              <a:rPr lang="en-IN" sz="1100" i="1" dirty="0"/>
              <a:t>Price forecast is done with the moving average method for market estimation and other calculations.</a:t>
            </a:r>
            <a:endParaRPr lang="en-US" sz="1100" i="1" dirty="0"/>
          </a:p>
        </p:txBody>
      </p:sp>
      <p:graphicFrame>
        <p:nvGraphicFramePr>
          <p:cNvPr id="6" name="Table 5"/>
          <p:cNvGraphicFramePr>
            <a:graphicFrameLocks noGrp="1"/>
          </p:cNvGraphicFramePr>
          <p:nvPr>
            <p:extLst>
              <p:ext uri="{D42A27DB-BD31-4B8C-83A1-F6EECF244321}">
                <p14:modId xmlns:p14="http://schemas.microsoft.com/office/powerpoint/2010/main" val="2962237720"/>
              </p:ext>
            </p:extLst>
          </p:nvPr>
        </p:nvGraphicFramePr>
        <p:xfrm>
          <a:off x="152404" y="1185141"/>
          <a:ext cx="11887190" cy="3763950"/>
        </p:xfrm>
        <a:graphic>
          <a:graphicData uri="http://schemas.openxmlformats.org/drawingml/2006/table">
            <a:tbl>
              <a:tblPr firstRow="1" bandRow="1">
                <a:tableStyleId>{BC89EF96-8CEA-46FF-86C4-4CE0E7609802}</a:tableStyleId>
              </a:tblPr>
              <a:tblGrid>
                <a:gridCol w="1153310">
                  <a:extLst>
                    <a:ext uri="{9D8B030D-6E8A-4147-A177-3AD203B41FA5}">
                      <a16:colId xmlns:a16="http://schemas.microsoft.com/office/drawing/2014/main" val="20000"/>
                    </a:ext>
                  </a:extLst>
                </a:gridCol>
                <a:gridCol w="894490">
                  <a:extLst>
                    <a:ext uri="{9D8B030D-6E8A-4147-A177-3AD203B41FA5}">
                      <a16:colId xmlns:a16="http://schemas.microsoft.com/office/drawing/2014/main" val="20001"/>
                    </a:ext>
                  </a:extLst>
                </a:gridCol>
                <a:gridCol w="894490">
                  <a:extLst>
                    <a:ext uri="{9D8B030D-6E8A-4147-A177-3AD203B41FA5}">
                      <a16:colId xmlns:a16="http://schemas.microsoft.com/office/drawing/2014/main" val="20002"/>
                    </a:ext>
                  </a:extLst>
                </a:gridCol>
                <a:gridCol w="894490">
                  <a:extLst>
                    <a:ext uri="{9D8B030D-6E8A-4147-A177-3AD203B41FA5}">
                      <a16:colId xmlns:a16="http://schemas.microsoft.com/office/drawing/2014/main" val="20003"/>
                    </a:ext>
                  </a:extLst>
                </a:gridCol>
                <a:gridCol w="894490">
                  <a:extLst>
                    <a:ext uri="{9D8B030D-6E8A-4147-A177-3AD203B41FA5}">
                      <a16:colId xmlns:a16="http://schemas.microsoft.com/office/drawing/2014/main" val="20004"/>
                    </a:ext>
                  </a:extLst>
                </a:gridCol>
                <a:gridCol w="894490">
                  <a:extLst>
                    <a:ext uri="{9D8B030D-6E8A-4147-A177-3AD203B41FA5}">
                      <a16:colId xmlns:a16="http://schemas.microsoft.com/office/drawing/2014/main" val="20006"/>
                    </a:ext>
                  </a:extLst>
                </a:gridCol>
                <a:gridCol w="894490">
                  <a:extLst>
                    <a:ext uri="{9D8B030D-6E8A-4147-A177-3AD203B41FA5}">
                      <a16:colId xmlns:a16="http://schemas.microsoft.com/office/drawing/2014/main" val="20007"/>
                    </a:ext>
                  </a:extLst>
                </a:gridCol>
                <a:gridCol w="894490">
                  <a:extLst>
                    <a:ext uri="{9D8B030D-6E8A-4147-A177-3AD203B41FA5}">
                      <a16:colId xmlns:a16="http://schemas.microsoft.com/office/drawing/2014/main" val="20008"/>
                    </a:ext>
                  </a:extLst>
                </a:gridCol>
                <a:gridCol w="894490">
                  <a:extLst>
                    <a:ext uri="{9D8B030D-6E8A-4147-A177-3AD203B41FA5}">
                      <a16:colId xmlns:a16="http://schemas.microsoft.com/office/drawing/2014/main" val="20009"/>
                    </a:ext>
                  </a:extLst>
                </a:gridCol>
                <a:gridCol w="894490">
                  <a:extLst>
                    <a:ext uri="{9D8B030D-6E8A-4147-A177-3AD203B41FA5}">
                      <a16:colId xmlns:a16="http://schemas.microsoft.com/office/drawing/2014/main" val="20010"/>
                    </a:ext>
                  </a:extLst>
                </a:gridCol>
                <a:gridCol w="894490">
                  <a:extLst>
                    <a:ext uri="{9D8B030D-6E8A-4147-A177-3AD203B41FA5}">
                      <a16:colId xmlns:a16="http://schemas.microsoft.com/office/drawing/2014/main" val="20011"/>
                    </a:ext>
                  </a:extLst>
                </a:gridCol>
                <a:gridCol w="894490">
                  <a:extLst>
                    <a:ext uri="{9D8B030D-6E8A-4147-A177-3AD203B41FA5}">
                      <a16:colId xmlns:a16="http://schemas.microsoft.com/office/drawing/2014/main" val="20012"/>
                    </a:ext>
                  </a:extLst>
                </a:gridCol>
                <a:gridCol w="894490">
                  <a:extLst>
                    <a:ext uri="{9D8B030D-6E8A-4147-A177-3AD203B41FA5}">
                      <a16:colId xmlns:a16="http://schemas.microsoft.com/office/drawing/2014/main" val="20005"/>
                    </a:ext>
                  </a:extLst>
                </a:gridCol>
              </a:tblGrid>
              <a:tr h="729006">
                <a:tc>
                  <a:txBody>
                    <a:bodyPr/>
                    <a:lstStyle/>
                    <a:p>
                      <a:pPr algn="ctr"/>
                      <a:r>
                        <a:rPr lang="en-US" sz="1100" dirty="0">
                          <a:latin typeface="+mn-lt"/>
                        </a:rPr>
                        <a:t>Price 2023</a:t>
                      </a:r>
                    </a:p>
                    <a:p>
                      <a:pPr algn="ctr"/>
                      <a:r>
                        <a:rPr lang="en-US" sz="1100" dirty="0">
                          <a:latin typeface="+mn-lt"/>
                        </a:rPr>
                        <a:t>(US$/</a:t>
                      </a:r>
                      <a:r>
                        <a:rPr lang="en-US" sz="1100" baseline="0" dirty="0">
                          <a:latin typeface="+mn-lt"/>
                        </a:rPr>
                        <a:t> Unit)</a:t>
                      </a:r>
                      <a:endParaRPr lang="en-US" sz="1100" dirty="0">
                        <a:solidFill>
                          <a:schemeClr val="bg1"/>
                        </a:solidFill>
                        <a:latin typeface="+mn-lt"/>
                      </a:endParaRPr>
                    </a:p>
                  </a:txBody>
                  <a:tcPr anchor="ctr"/>
                </a:tc>
                <a:tc>
                  <a:txBody>
                    <a:bodyPr/>
                    <a:lstStyle/>
                    <a:p>
                      <a:pPr marL="0" algn="ctr" defTabSz="914400" rtl="0" eaLnBrk="1" fontAlgn="ctr" latinLnBrk="0" hangingPunct="1"/>
                      <a:r>
                        <a:rPr lang="en-IN" sz="1100" b="1" kern="1200" dirty="0">
                          <a:solidFill>
                            <a:schemeClr val="tx1"/>
                          </a:solidFill>
                          <a:latin typeface="+mn-lt"/>
                          <a:ea typeface="+mn-ea"/>
                          <a:cs typeface="+mn-cs"/>
                        </a:rPr>
                        <a:t>Categorya1</a:t>
                      </a:r>
                    </a:p>
                  </a:txBody>
                  <a:tcPr marL="9525" marR="9525" marT="9525" marB="0" anchor="ctr"/>
                </a:tc>
                <a:tc>
                  <a:txBody>
                    <a:bodyPr/>
                    <a:lstStyle/>
                    <a:p>
                      <a:pPr marL="0" algn="ctr" defTabSz="914400" rtl="0" eaLnBrk="1" fontAlgn="ctr" latinLnBrk="0" hangingPunct="1"/>
                      <a:r>
                        <a:rPr lang="en-IN" sz="1100" b="1" kern="1200" dirty="0">
                          <a:solidFill>
                            <a:schemeClr val="tx1"/>
                          </a:solidFill>
                          <a:latin typeface="+mn-lt"/>
                          <a:ea typeface="+mn-ea"/>
                          <a:cs typeface="+mn-cs"/>
                        </a:rPr>
                        <a:t>Categorya2</a:t>
                      </a:r>
                    </a:p>
                  </a:txBody>
                  <a:tcPr marL="9525" marR="9525" marT="9525" marB="0" anchor="ctr"/>
                </a:tc>
                <a:tc>
                  <a:txBody>
                    <a:bodyPr/>
                    <a:lstStyle/>
                    <a:p>
                      <a:pPr marL="0" algn="ctr" defTabSz="914400" rtl="0" eaLnBrk="1" fontAlgn="ctr" latinLnBrk="0" hangingPunct="1"/>
                      <a:r>
                        <a:rPr lang="en-IN" sz="1100" b="1" kern="1200" dirty="0">
                          <a:solidFill>
                            <a:schemeClr val="tx1"/>
                          </a:solidFill>
                          <a:latin typeface="+mn-lt"/>
                          <a:ea typeface="+mn-ea"/>
                          <a:cs typeface="+mn-cs"/>
                        </a:rPr>
                        <a:t>Categorya3</a:t>
                      </a:r>
                    </a:p>
                  </a:txBody>
                  <a:tcPr marL="9525" marR="9525" marT="9525" marB="0" anchor="ctr"/>
                </a:tc>
                <a:tc>
                  <a:txBody>
                    <a:bodyPr/>
                    <a:lstStyle/>
                    <a:p>
                      <a:pPr marL="0" algn="ctr" defTabSz="914400" rtl="0" eaLnBrk="1" fontAlgn="ctr" latinLnBrk="0" hangingPunct="1"/>
                      <a:r>
                        <a:rPr lang="en-IN" sz="1100" b="1" kern="1200" dirty="0">
                          <a:solidFill>
                            <a:schemeClr val="tx1"/>
                          </a:solidFill>
                          <a:latin typeface="+mn-lt"/>
                          <a:ea typeface="+mn-ea"/>
                          <a:cs typeface="+mn-cs"/>
                        </a:rPr>
                        <a:t>Categorya4</a:t>
                      </a:r>
                    </a:p>
                  </a:txBody>
                  <a:tcPr marL="9525" marR="9525" marT="9525" marB="0" anchor="ctr"/>
                </a:tc>
                <a:tc>
                  <a:txBody>
                    <a:bodyPr/>
                    <a:lstStyle/>
                    <a:p>
                      <a:pPr marL="0" algn="ctr" defTabSz="914400" rtl="0" eaLnBrk="1" fontAlgn="ctr" latinLnBrk="0" hangingPunct="1"/>
                      <a:r>
                        <a:rPr lang="en-IN" sz="1100" b="1" kern="1200" dirty="0">
                          <a:solidFill>
                            <a:schemeClr val="tx1"/>
                          </a:solidFill>
                          <a:latin typeface="+mn-lt"/>
                          <a:ea typeface="+mn-ea"/>
                          <a:cs typeface="+mn-cs"/>
                        </a:rPr>
                        <a:t>Categorya5</a:t>
                      </a:r>
                    </a:p>
                  </a:txBody>
                  <a:tcPr marL="9525" marR="9525" marT="9525" marB="0" anchor="ctr"/>
                </a:tc>
                <a:tc>
                  <a:txBody>
                    <a:bodyPr/>
                    <a:lstStyle/>
                    <a:p>
                      <a:pPr marL="0" algn="ctr" defTabSz="914400" rtl="0" eaLnBrk="1" fontAlgn="ctr" latinLnBrk="0" hangingPunct="1"/>
                      <a:r>
                        <a:rPr lang="en-IN" sz="1100" b="1" kern="1200" dirty="0">
                          <a:solidFill>
                            <a:schemeClr val="tx1"/>
                          </a:solidFill>
                          <a:latin typeface="+mn-lt"/>
                          <a:ea typeface="+mn-ea"/>
                          <a:cs typeface="+mn-cs"/>
                        </a:rPr>
                        <a:t>Categorya6</a:t>
                      </a:r>
                    </a:p>
                  </a:txBody>
                  <a:tcPr marL="9525" marR="9525" marT="9525" marB="0" anchor="ctr"/>
                </a:tc>
                <a:tc>
                  <a:txBody>
                    <a:bodyPr/>
                    <a:lstStyle/>
                    <a:p>
                      <a:pPr marL="0" algn="ctr" defTabSz="914400" rtl="0" eaLnBrk="1" fontAlgn="ctr" latinLnBrk="0" hangingPunct="1"/>
                      <a:r>
                        <a:rPr lang="en-IN" sz="1100" b="1" kern="1200" dirty="0">
                          <a:solidFill>
                            <a:schemeClr val="tx1"/>
                          </a:solidFill>
                          <a:latin typeface="+mn-lt"/>
                          <a:ea typeface="+mn-ea"/>
                          <a:cs typeface="+mn-cs"/>
                        </a:rPr>
                        <a:t>Categorya7</a:t>
                      </a:r>
                    </a:p>
                  </a:txBody>
                  <a:tcPr marL="9525" marR="9525" marT="9525" marB="0" anchor="ctr"/>
                </a:tc>
                <a:tc>
                  <a:txBody>
                    <a:bodyPr/>
                    <a:lstStyle/>
                    <a:p>
                      <a:pPr marL="0" algn="ctr" defTabSz="914400" rtl="0" eaLnBrk="1" fontAlgn="ctr" latinLnBrk="0" hangingPunct="1"/>
                      <a:r>
                        <a:rPr lang="en-IN" sz="1100" b="1" kern="1200" dirty="0">
                          <a:solidFill>
                            <a:schemeClr val="tx1"/>
                          </a:solidFill>
                          <a:latin typeface="+mn-lt"/>
                          <a:ea typeface="+mn-ea"/>
                          <a:cs typeface="+mn-cs"/>
                        </a:rPr>
                        <a:t>Categorya8</a:t>
                      </a:r>
                    </a:p>
                  </a:txBody>
                  <a:tcPr marL="9525" marR="9525" marT="9525" marB="0" anchor="ctr"/>
                </a:tc>
                <a:tc>
                  <a:txBody>
                    <a:bodyPr/>
                    <a:lstStyle/>
                    <a:p>
                      <a:pPr marL="0" algn="ctr" defTabSz="914400" rtl="0" eaLnBrk="1" fontAlgn="ctr" latinLnBrk="0" hangingPunct="1"/>
                      <a:r>
                        <a:rPr lang="en-IN" sz="1100" b="1" kern="1200" dirty="0">
                          <a:solidFill>
                            <a:schemeClr val="tx1"/>
                          </a:solidFill>
                          <a:latin typeface="+mn-lt"/>
                          <a:ea typeface="+mn-ea"/>
                          <a:cs typeface="+mn-cs"/>
                        </a:rPr>
                        <a:t>Categorya9</a:t>
                      </a:r>
                    </a:p>
                  </a:txBody>
                  <a:tcPr marL="9525" marR="9525" marT="9525" marB="0" anchor="ctr"/>
                </a:tc>
                <a:tc>
                  <a:txBody>
                    <a:bodyPr/>
                    <a:lstStyle/>
                    <a:p>
                      <a:pPr marL="0" algn="ctr" defTabSz="914400" rtl="0" eaLnBrk="1" fontAlgn="ctr" latinLnBrk="0" hangingPunct="1"/>
                      <a:r>
                        <a:rPr lang="en-IN" sz="1100" b="1" kern="1200" dirty="0">
                          <a:solidFill>
                            <a:schemeClr val="tx1"/>
                          </a:solidFill>
                          <a:latin typeface="+mn-lt"/>
                          <a:ea typeface="+mn-ea"/>
                          <a:cs typeface="+mn-cs"/>
                        </a:rPr>
                        <a:t>Categorya10</a:t>
                      </a:r>
                    </a:p>
                  </a:txBody>
                  <a:tcPr marL="9525" marR="9525" marT="9525" marB="0" anchor="ctr"/>
                </a:tc>
                <a:tc>
                  <a:txBody>
                    <a:bodyPr/>
                    <a:lstStyle/>
                    <a:p>
                      <a:pPr marL="0" algn="ctr" defTabSz="914400" rtl="0" eaLnBrk="1" fontAlgn="ctr" latinLnBrk="0" hangingPunct="1"/>
                      <a:r>
                        <a:rPr lang="en-IN" sz="1100" b="1" kern="1200" dirty="0">
                          <a:solidFill>
                            <a:schemeClr val="tx1"/>
                          </a:solidFill>
                          <a:latin typeface="+mn-lt"/>
                          <a:ea typeface="+mn-ea"/>
                          <a:cs typeface="+mn-cs"/>
                        </a:rPr>
                        <a:t>Categorya11</a:t>
                      </a:r>
                    </a:p>
                  </a:txBody>
                  <a:tcPr marL="9525" marR="9525" marT="9525" marB="0" anchor="ctr"/>
                </a:tc>
                <a:tc>
                  <a:txBody>
                    <a:bodyPr/>
                    <a:lstStyle/>
                    <a:p>
                      <a:pPr marL="0" algn="ctr" defTabSz="914400" rtl="0" eaLnBrk="1" fontAlgn="ctr" latinLnBrk="0" hangingPunct="1"/>
                      <a:r>
                        <a:rPr lang="en-IN" sz="1100" b="1" kern="1200" baseline="0" dirty="0">
                          <a:solidFill>
                            <a:schemeClr val="tx1"/>
                          </a:solidFill>
                          <a:latin typeface="+mn-lt"/>
                          <a:ea typeface="+mn-ea"/>
                          <a:cs typeface="+mn-cs"/>
                        </a:rPr>
                        <a:t>Price Point Analysis</a:t>
                      </a:r>
                      <a:endParaRPr lang="en-IN" sz="1100" b="1" kern="1200" dirty="0">
                        <a:solidFill>
                          <a:schemeClr val="tx1"/>
                        </a:solidFill>
                        <a:latin typeface="+mn-lt"/>
                        <a:ea typeface="+mn-ea"/>
                        <a:cs typeface="+mn-cs"/>
                      </a:endParaRPr>
                    </a:p>
                  </a:txBody>
                  <a:tcPr marL="9525" marR="9525" marT="9525" marB="0" anchor="ctr"/>
                </a:tc>
                <a:extLst>
                  <a:ext uri="{0D108BD9-81ED-4DB2-BD59-A6C34878D82A}">
                    <a16:rowId xmlns:a16="http://schemas.microsoft.com/office/drawing/2014/main" val="10000"/>
                  </a:ext>
                </a:extLst>
              </a:tr>
              <a:tr h="410780">
                <a:tc>
                  <a:txBody>
                    <a:bodyPr/>
                    <a:lstStyle/>
                    <a:p>
                      <a:pPr algn="ctr" fontAlgn="b"/>
                      <a:r>
                        <a:rPr lang="en-US" sz="1100" b="1" kern="1200" dirty="0">
                          <a:solidFill>
                            <a:schemeClr val="tx1"/>
                          </a:solidFill>
                          <a:latin typeface="+mn-lt"/>
                          <a:ea typeface="+mn-ea"/>
                          <a:cs typeface="+mn-cs"/>
                        </a:rPr>
                        <a:t>North America</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10001"/>
                  </a:ext>
                </a:extLst>
              </a:tr>
              <a:tr h="410780">
                <a:tc>
                  <a:txBody>
                    <a:bodyPr/>
                    <a:lstStyle/>
                    <a:p>
                      <a:pPr algn="ctr" fontAlgn="b"/>
                      <a:r>
                        <a:rPr lang="en-US" sz="1100" b="1" kern="1200" dirty="0">
                          <a:solidFill>
                            <a:schemeClr val="tx1"/>
                          </a:solidFill>
                          <a:latin typeface="+mn-lt"/>
                          <a:ea typeface="+mn-ea"/>
                          <a:cs typeface="+mn-cs"/>
                        </a:rPr>
                        <a:t>Latin America</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10007"/>
                  </a:ext>
                </a:extLst>
              </a:tr>
              <a:tr h="490522">
                <a:tc>
                  <a:txBody>
                    <a:bodyPr/>
                    <a:lstStyle/>
                    <a:p>
                      <a:pPr algn="ctr" fontAlgn="b"/>
                      <a:r>
                        <a:rPr lang="en-US" sz="1100" b="1" kern="1200" dirty="0">
                          <a:solidFill>
                            <a:schemeClr val="tx1"/>
                          </a:solidFill>
                          <a:latin typeface="+mn-lt"/>
                          <a:ea typeface="+mn-ea"/>
                          <a:cs typeface="+mn-cs"/>
                        </a:rPr>
                        <a:t>Western Europe</a:t>
                      </a: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10008"/>
                  </a:ext>
                </a:extLst>
              </a:tr>
              <a:tr h="410780">
                <a:tc>
                  <a:txBody>
                    <a:bodyPr/>
                    <a:lstStyle/>
                    <a:p>
                      <a:pPr algn="ctr" fontAlgn="b"/>
                      <a:r>
                        <a:rPr lang="en-US" sz="1100" b="1" kern="1200" dirty="0">
                          <a:solidFill>
                            <a:schemeClr val="tx1"/>
                          </a:solidFill>
                          <a:latin typeface="+mn-lt"/>
                          <a:ea typeface="+mn-ea"/>
                          <a:cs typeface="+mn-cs"/>
                        </a:rPr>
                        <a:t>Eastern Europe</a:t>
                      </a: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10009"/>
                  </a:ext>
                </a:extLst>
              </a:tr>
              <a:tr h="410780">
                <a:tc>
                  <a:txBody>
                    <a:bodyPr/>
                    <a:lstStyle/>
                    <a:p>
                      <a:pPr algn="ctr" fontAlgn="b"/>
                      <a:r>
                        <a:rPr lang="en-US" sz="1100" b="1" kern="1200" dirty="0">
                          <a:solidFill>
                            <a:schemeClr val="tx1"/>
                          </a:solidFill>
                          <a:latin typeface="+mn-lt"/>
                          <a:ea typeface="+mn-ea"/>
                          <a:cs typeface="+mn-cs"/>
                        </a:rPr>
                        <a:t>East Asia</a:t>
                      </a: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10004"/>
                  </a:ext>
                </a:extLst>
              </a:tr>
              <a:tr h="490522">
                <a:tc>
                  <a:txBody>
                    <a:bodyPr/>
                    <a:lstStyle/>
                    <a:p>
                      <a:pPr algn="ctr" fontAlgn="b"/>
                      <a:r>
                        <a:rPr lang="en-US" sz="1100" b="1" kern="1200" dirty="0">
                          <a:solidFill>
                            <a:schemeClr val="tx1"/>
                          </a:solidFill>
                          <a:latin typeface="+mn-lt"/>
                          <a:ea typeface="+mn-ea"/>
                          <a:cs typeface="+mn-cs"/>
                        </a:rPr>
                        <a:t>South Asia Pacific</a:t>
                      </a: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10005"/>
                  </a:ext>
                </a:extLst>
              </a:tr>
              <a:tr h="410780">
                <a:tc>
                  <a:txBody>
                    <a:bodyPr/>
                    <a:lstStyle/>
                    <a:p>
                      <a:pPr algn="ctr" fontAlgn="b"/>
                      <a:r>
                        <a:rPr lang="en-US" sz="1100" b="1" kern="1200" dirty="0">
                          <a:solidFill>
                            <a:schemeClr val="tx1"/>
                          </a:solidFill>
                          <a:latin typeface="+mn-lt"/>
                          <a:ea typeface="+mn-ea"/>
                          <a:cs typeface="+mn-cs"/>
                        </a:rPr>
                        <a:t>MEA</a:t>
                      </a: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a:solidFill>
                            <a:srgbClr val="000000"/>
                          </a:solidFill>
                          <a:effectLst/>
                          <a:latin typeface="+mn-lt"/>
                        </a:rPr>
                        <a:t>XX</a:t>
                      </a:r>
                      <a:endParaRPr lang="en-US" sz="1100" b="1" i="0" u="none" strike="noStrike" dirty="0">
                        <a:solidFill>
                          <a:srgbClr val="000000"/>
                        </a:solidFill>
                        <a:effectLst/>
                        <a:latin typeface="+mn-lt"/>
                      </a:endParaRP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tc>
                  <a:txBody>
                    <a:bodyPr/>
                    <a:lstStyle/>
                    <a:p>
                      <a:pPr algn="ctr" fontAlgn="ctr"/>
                      <a:r>
                        <a:rPr lang="en-US" sz="11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10006"/>
                  </a:ext>
                </a:extLst>
              </a:tr>
            </a:tbl>
          </a:graphicData>
        </a:graphic>
      </p:graphicFrame>
      <p:sp>
        <p:nvSpPr>
          <p:cNvPr id="7" name="Title 4"/>
          <p:cNvSpPr>
            <a:spLocks noGrp="1"/>
          </p:cNvSpPr>
          <p:nvPr>
            <p:ph type="title"/>
          </p:nvPr>
        </p:nvSpPr>
        <p:spPr>
          <a:xfrm>
            <a:off x="152399" y="152400"/>
            <a:ext cx="10515600" cy="731520"/>
          </a:xfrm>
        </p:spPr>
        <p:txBody>
          <a:bodyPr/>
          <a:lstStyle/>
          <a:p>
            <a:r>
              <a:rPr lang="en-US" dirty="0"/>
              <a:t>Pricing Analysis, 2023A</a:t>
            </a:r>
          </a:p>
        </p:txBody>
      </p:sp>
      <p:sp>
        <p:nvSpPr>
          <p:cNvPr id="8" name="TextBox 7"/>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22</a:t>
            </a:fld>
            <a:endParaRPr lang="en-GB" dirty="0"/>
          </a:p>
        </p:txBody>
      </p:sp>
    </p:spTree>
    <p:extLst>
      <p:ext uri="{BB962C8B-B14F-4D97-AF65-F5344CB8AC3E}">
        <p14:creationId xmlns:p14="http://schemas.microsoft.com/office/powerpoint/2010/main" val="259339301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 5"/>
          <p:cNvGraphicFramePr>
            <a:graphicFrameLocks noGrp="1"/>
          </p:cNvGraphicFramePr>
          <p:nvPr>
            <p:extLst>
              <p:ext uri="{D42A27DB-BD31-4B8C-83A1-F6EECF244321}">
                <p14:modId xmlns:p14="http://schemas.microsoft.com/office/powerpoint/2010/main" val="2395468954"/>
              </p:ext>
            </p:extLst>
          </p:nvPr>
        </p:nvGraphicFramePr>
        <p:xfrm>
          <a:off x="152404" y="1185147"/>
          <a:ext cx="11887190" cy="5020593"/>
        </p:xfrm>
        <a:graphic>
          <a:graphicData uri="http://schemas.openxmlformats.org/drawingml/2006/table">
            <a:tbl>
              <a:tblPr firstRow="1" bandRow="1">
                <a:tableStyleId>{BC89EF96-8CEA-46FF-86C4-4CE0E7609802}</a:tableStyleId>
              </a:tblPr>
              <a:tblGrid>
                <a:gridCol w="1153310">
                  <a:extLst>
                    <a:ext uri="{9D8B030D-6E8A-4147-A177-3AD203B41FA5}">
                      <a16:colId xmlns:a16="http://schemas.microsoft.com/office/drawing/2014/main" val="20000"/>
                    </a:ext>
                  </a:extLst>
                </a:gridCol>
                <a:gridCol w="894490">
                  <a:extLst>
                    <a:ext uri="{9D8B030D-6E8A-4147-A177-3AD203B41FA5}">
                      <a16:colId xmlns:a16="http://schemas.microsoft.com/office/drawing/2014/main" val="20001"/>
                    </a:ext>
                  </a:extLst>
                </a:gridCol>
                <a:gridCol w="894490">
                  <a:extLst>
                    <a:ext uri="{9D8B030D-6E8A-4147-A177-3AD203B41FA5}">
                      <a16:colId xmlns:a16="http://schemas.microsoft.com/office/drawing/2014/main" val="20002"/>
                    </a:ext>
                  </a:extLst>
                </a:gridCol>
                <a:gridCol w="894490">
                  <a:extLst>
                    <a:ext uri="{9D8B030D-6E8A-4147-A177-3AD203B41FA5}">
                      <a16:colId xmlns:a16="http://schemas.microsoft.com/office/drawing/2014/main" val="20003"/>
                    </a:ext>
                  </a:extLst>
                </a:gridCol>
                <a:gridCol w="894490">
                  <a:extLst>
                    <a:ext uri="{9D8B030D-6E8A-4147-A177-3AD203B41FA5}">
                      <a16:colId xmlns:a16="http://schemas.microsoft.com/office/drawing/2014/main" val="20004"/>
                    </a:ext>
                  </a:extLst>
                </a:gridCol>
                <a:gridCol w="894490">
                  <a:extLst>
                    <a:ext uri="{9D8B030D-6E8A-4147-A177-3AD203B41FA5}">
                      <a16:colId xmlns:a16="http://schemas.microsoft.com/office/drawing/2014/main" val="20006"/>
                    </a:ext>
                  </a:extLst>
                </a:gridCol>
                <a:gridCol w="894490">
                  <a:extLst>
                    <a:ext uri="{9D8B030D-6E8A-4147-A177-3AD203B41FA5}">
                      <a16:colId xmlns:a16="http://schemas.microsoft.com/office/drawing/2014/main" val="20007"/>
                    </a:ext>
                  </a:extLst>
                </a:gridCol>
                <a:gridCol w="894490">
                  <a:extLst>
                    <a:ext uri="{9D8B030D-6E8A-4147-A177-3AD203B41FA5}">
                      <a16:colId xmlns:a16="http://schemas.microsoft.com/office/drawing/2014/main" val="20008"/>
                    </a:ext>
                  </a:extLst>
                </a:gridCol>
                <a:gridCol w="894490">
                  <a:extLst>
                    <a:ext uri="{9D8B030D-6E8A-4147-A177-3AD203B41FA5}">
                      <a16:colId xmlns:a16="http://schemas.microsoft.com/office/drawing/2014/main" val="20009"/>
                    </a:ext>
                  </a:extLst>
                </a:gridCol>
                <a:gridCol w="894490">
                  <a:extLst>
                    <a:ext uri="{9D8B030D-6E8A-4147-A177-3AD203B41FA5}">
                      <a16:colId xmlns:a16="http://schemas.microsoft.com/office/drawing/2014/main" val="20010"/>
                    </a:ext>
                  </a:extLst>
                </a:gridCol>
                <a:gridCol w="894490">
                  <a:extLst>
                    <a:ext uri="{9D8B030D-6E8A-4147-A177-3AD203B41FA5}">
                      <a16:colId xmlns:a16="http://schemas.microsoft.com/office/drawing/2014/main" val="20011"/>
                    </a:ext>
                  </a:extLst>
                </a:gridCol>
                <a:gridCol w="894490">
                  <a:extLst>
                    <a:ext uri="{9D8B030D-6E8A-4147-A177-3AD203B41FA5}">
                      <a16:colId xmlns:a16="http://schemas.microsoft.com/office/drawing/2014/main" val="20012"/>
                    </a:ext>
                  </a:extLst>
                </a:gridCol>
                <a:gridCol w="894490">
                  <a:extLst>
                    <a:ext uri="{9D8B030D-6E8A-4147-A177-3AD203B41FA5}">
                      <a16:colId xmlns:a16="http://schemas.microsoft.com/office/drawing/2014/main" val="20005"/>
                    </a:ext>
                  </a:extLst>
                </a:gridCol>
              </a:tblGrid>
              <a:tr h="424464">
                <a:tc>
                  <a:txBody>
                    <a:bodyPr/>
                    <a:lstStyle/>
                    <a:p>
                      <a:pPr algn="ctr"/>
                      <a:r>
                        <a:rPr lang="en-US" sz="900" dirty="0">
                          <a:latin typeface="+mn-lt"/>
                        </a:rPr>
                        <a:t>Price 2023</a:t>
                      </a:r>
                    </a:p>
                    <a:p>
                      <a:pPr algn="ctr"/>
                      <a:r>
                        <a:rPr lang="en-US" sz="900" dirty="0">
                          <a:latin typeface="+mn-lt"/>
                        </a:rPr>
                        <a:t>(US$/</a:t>
                      </a:r>
                      <a:r>
                        <a:rPr lang="en-US" sz="900" baseline="0" dirty="0">
                          <a:latin typeface="+mn-lt"/>
                        </a:rPr>
                        <a:t> Unit)</a:t>
                      </a:r>
                      <a:endParaRPr lang="en-US" sz="900" dirty="0">
                        <a:solidFill>
                          <a:schemeClr val="bg1"/>
                        </a:solidFill>
                        <a:latin typeface="+mn-lt"/>
                      </a:endParaRPr>
                    </a:p>
                  </a:txBody>
                  <a:tcPr anchor="ctr"/>
                </a:tc>
                <a:tc>
                  <a:txBody>
                    <a:bodyPr/>
                    <a:lstStyle/>
                    <a:p>
                      <a:pPr marL="0" algn="ctr" defTabSz="914400" rtl="0" eaLnBrk="1" fontAlgn="ctr" latinLnBrk="0" hangingPunct="1"/>
                      <a:r>
                        <a:rPr lang="en-IN" sz="900" b="1" kern="1200" dirty="0">
                          <a:solidFill>
                            <a:schemeClr val="tx1"/>
                          </a:solidFill>
                          <a:latin typeface="+mn-lt"/>
                          <a:ea typeface="+mn-ea"/>
                          <a:cs typeface="+mn-cs"/>
                        </a:rPr>
                        <a:t>Categorya1</a:t>
                      </a:r>
                    </a:p>
                  </a:txBody>
                  <a:tcPr marL="9525" marR="9525" marT="9525" marB="0" anchor="ctr"/>
                </a:tc>
                <a:tc>
                  <a:txBody>
                    <a:bodyPr/>
                    <a:lstStyle/>
                    <a:p>
                      <a:pPr marL="0" algn="ctr" defTabSz="914400" rtl="0" eaLnBrk="1" fontAlgn="ctr" latinLnBrk="0" hangingPunct="1"/>
                      <a:r>
                        <a:rPr lang="en-IN" sz="900" b="1" kern="1200" dirty="0">
                          <a:solidFill>
                            <a:schemeClr val="tx1"/>
                          </a:solidFill>
                          <a:latin typeface="+mn-lt"/>
                          <a:ea typeface="+mn-ea"/>
                          <a:cs typeface="+mn-cs"/>
                        </a:rPr>
                        <a:t>Categorya2</a:t>
                      </a:r>
                    </a:p>
                  </a:txBody>
                  <a:tcPr marL="9525" marR="9525" marT="9525" marB="0" anchor="ctr"/>
                </a:tc>
                <a:tc>
                  <a:txBody>
                    <a:bodyPr/>
                    <a:lstStyle/>
                    <a:p>
                      <a:pPr marL="0" algn="ctr" defTabSz="914400" rtl="0" eaLnBrk="1" fontAlgn="ctr" latinLnBrk="0" hangingPunct="1"/>
                      <a:r>
                        <a:rPr lang="en-IN" sz="900" b="1" kern="1200" dirty="0">
                          <a:solidFill>
                            <a:schemeClr val="tx1"/>
                          </a:solidFill>
                          <a:latin typeface="+mn-lt"/>
                          <a:ea typeface="+mn-ea"/>
                          <a:cs typeface="+mn-cs"/>
                        </a:rPr>
                        <a:t>Categorya3</a:t>
                      </a:r>
                    </a:p>
                  </a:txBody>
                  <a:tcPr marL="9525" marR="9525" marT="9525" marB="0" anchor="ctr"/>
                </a:tc>
                <a:tc>
                  <a:txBody>
                    <a:bodyPr/>
                    <a:lstStyle/>
                    <a:p>
                      <a:pPr marL="0" algn="ctr" defTabSz="914400" rtl="0" eaLnBrk="1" fontAlgn="ctr" latinLnBrk="0" hangingPunct="1"/>
                      <a:r>
                        <a:rPr lang="en-IN" sz="900" b="1" kern="1200" dirty="0">
                          <a:solidFill>
                            <a:schemeClr val="tx1"/>
                          </a:solidFill>
                          <a:latin typeface="+mn-lt"/>
                          <a:ea typeface="+mn-ea"/>
                          <a:cs typeface="+mn-cs"/>
                        </a:rPr>
                        <a:t>Categorya4</a:t>
                      </a:r>
                    </a:p>
                  </a:txBody>
                  <a:tcPr marL="9525" marR="9525" marT="9525" marB="0" anchor="ctr"/>
                </a:tc>
                <a:tc>
                  <a:txBody>
                    <a:bodyPr/>
                    <a:lstStyle/>
                    <a:p>
                      <a:pPr marL="0" algn="ctr" defTabSz="914400" rtl="0" eaLnBrk="1" fontAlgn="ctr" latinLnBrk="0" hangingPunct="1"/>
                      <a:r>
                        <a:rPr lang="en-IN" sz="900" b="1" kern="1200" dirty="0">
                          <a:solidFill>
                            <a:schemeClr val="tx1"/>
                          </a:solidFill>
                          <a:latin typeface="+mn-lt"/>
                          <a:ea typeface="+mn-ea"/>
                          <a:cs typeface="+mn-cs"/>
                        </a:rPr>
                        <a:t>Categorya5</a:t>
                      </a:r>
                    </a:p>
                  </a:txBody>
                  <a:tcPr marL="9525" marR="9525" marT="9525" marB="0" anchor="ctr"/>
                </a:tc>
                <a:tc>
                  <a:txBody>
                    <a:bodyPr/>
                    <a:lstStyle/>
                    <a:p>
                      <a:pPr marL="0" algn="ctr" defTabSz="914400" rtl="0" eaLnBrk="1" fontAlgn="ctr" latinLnBrk="0" hangingPunct="1"/>
                      <a:r>
                        <a:rPr lang="en-IN" sz="900" b="1" kern="1200" dirty="0">
                          <a:solidFill>
                            <a:schemeClr val="tx1"/>
                          </a:solidFill>
                          <a:latin typeface="+mn-lt"/>
                          <a:ea typeface="+mn-ea"/>
                          <a:cs typeface="+mn-cs"/>
                        </a:rPr>
                        <a:t>Categorya6</a:t>
                      </a:r>
                    </a:p>
                  </a:txBody>
                  <a:tcPr marL="9525" marR="9525" marT="9525" marB="0" anchor="ctr"/>
                </a:tc>
                <a:tc>
                  <a:txBody>
                    <a:bodyPr/>
                    <a:lstStyle/>
                    <a:p>
                      <a:pPr marL="0" algn="ctr" defTabSz="914400" rtl="0" eaLnBrk="1" fontAlgn="ctr" latinLnBrk="0" hangingPunct="1"/>
                      <a:r>
                        <a:rPr lang="en-IN" sz="900" b="1" kern="1200" dirty="0">
                          <a:solidFill>
                            <a:schemeClr val="tx1"/>
                          </a:solidFill>
                          <a:latin typeface="+mn-lt"/>
                          <a:ea typeface="+mn-ea"/>
                          <a:cs typeface="+mn-cs"/>
                        </a:rPr>
                        <a:t>Categorya7</a:t>
                      </a:r>
                    </a:p>
                  </a:txBody>
                  <a:tcPr marL="9525" marR="9525" marT="9525" marB="0" anchor="ctr"/>
                </a:tc>
                <a:tc>
                  <a:txBody>
                    <a:bodyPr/>
                    <a:lstStyle/>
                    <a:p>
                      <a:pPr marL="0" algn="ctr" defTabSz="914400" rtl="0" eaLnBrk="1" fontAlgn="ctr" latinLnBrk="0" hangingPunct="1"/>
                      <a:r>
                        <a:rPr lang="en-IN" sz="900" b="1" kern="1200" dirty="0">
                          <a:solidFill>
                            <a:schemeClr val="tx1"/>
                          </a:solidFill>
                          <a:latin typeface="+mn-lt"/>
                          <a:ea typeface="+mn-ea"/>
                          <a:cs typeface="+mn-cs"/>
                        </a:rPr>
                        <a:t>Categorya8</a:t>
                      </a:r>
                    </a:p>
                  </a:txBody>
                  <a:tcPr marL="9525" marR="9525" marT="9525" marB="0" anchor="ctr"/>
                </a:tc>
                <a:tc>
                  <a:txBody>
                    <a:bodyPr/>
                    <a:lstStyle/>
                    <a:p>
                      <a:pPr marL="0" algn="ctr" defTabSz="914400" rtl="0" eaLnBrk="1" fontAlgn="ctr" latinLnBrk="0" hangingPunct="1"/>
                      <a:r>
                        <a:rPr lang="en-IN" sz="900" b="1" kern="1200" dirty="0">
                          <a:solidFill>
                            <a:schemeClr val="tx1"/>
                          </a:solidFill>
                          <a:latin typeface="+mn-lt"/>
                          <a:ea typeface="+mn-ea"/>
                          <a:cs typeface="+mn-cs"/>
                        </a:rPr>
                        <a:t>Categorya9</a:t>
                      </a:r>
                    </a:p>
                  </a:txBody>
                  <a:tcPr marL="9525" marR="9525" marT="9525" marB="0" anchor="ctr"/>
                </a:tc>
                <a:tc>
                  <a:txBody>
                    <a:bodyPr/>
                    <a:lstStyle/>
                    <a:p>
                      <a:pPr marL="0" algn="ctr" defTabSz="914400" rtl="0" eaLnBrk="1" fontAlgn="ctr" latinLnBrk="0" hangingPunct="1"/>
                      <a:r>
                        <a:rPr lang="en-IN" sz="900" b="1" kern="1200" dirty="0">
                          <a:solidFill>
                            <a:schemeClr val="tx1"/>
                          </a:solidFill>
                          <a:latin typeface="+mn-lt"/>
                          <a:ea typeface="+mn-ea"/>
                          <a:cs typeface="+mn-cs"/>
                        </a:rPr>
                        <a:t>Categorya10</a:t>
                      </a:r>
                    </a:p>
                  </a:txBody>
                  <a:tcPr marL="9525" marR="9525" marT="9525" marB="0" anchor="ctr"/>
                </a:tc>
                <a:tc>
                  <a:txBody>
                    <a:bodyPr/>
                    <a:lstStyle/>
                    <a:p>
                      <a:pPr marL="0" algn="ctr" defTabSz="914400" rtl="0" eaLnBrk="1" fontAlgn="ctr" latinLnBrk="0" hangingPunct="1"/>
                      <a:r>
                        <a:rPr lang="en-IN" sz="900" b="1" kern="1200" dirty="0">
                          <a:solidFill>
                            <a:schemeClr val="tx1"/>
                          </a:solidFill>
                          <a:latin typeface="+mn-lt"/>
                          <a:ea typeface="+mn-ea"/>
                          <a:cs typeface="+mn-cs"/>
                        </a:rPr>
                        <a:t>Categorya11</a:t>
                      </a:r>
                    </a:p>
                  </a:txBody>
                  <a:tcPr marL="9525" marR="9525" marT="9525" marB="0" anchor="ctr"/>
                </a:tc>
                <a:tc>
                  <a:txBody>
                    <a:bodyPr/>
                    <a:lstStyle/>
                    <a:p>
                      <a:pPr marL="0" algn="ctr" defTabSz="914400" rtl="0" eaLnBrk="1" fontAlgn="ctr" latinLnBrk="0" hangingPunct="1"/>
                      <a:r>
                        <a:rPr lang="en-IN" sz="900" b="1" kern="1200" baseline="0" dirty="0">
                          <a:solidFill>
                            <a:schemeClr val="tx1"/>
                          </a:solidFill>
                          <a:latin typeface="+mn-lt"/>
                          <a:ea typeface="+mn-ea"/>
                          <a:cs typeface="+mn-cs"/>
                        </a:rPr>
                        <a:t>Price Point Analysis</a:t>
                      </a:r>
                      <a:endParaRPr lang="en-IN" sz="900" b="1" kern="1200" dirty="0">
                        <a:solidFill>
                          <a:schemeClr val="tx1"/>
                        </a:solidFill>
                        <a:latin typeface="+mn-lt"/>
                        <a:ea typeface="+mn-ea"/>
                        <a:cs typeface="+mn-cs"/>
                      </a:endParaRPr>
                    </a:p>
                  </a:txBody>
                  <a:tcPr marL="9525" marR="9525" marT="9525" marB="0" anchor="ctr"/>
                </a:tc>
                <a:extLst>
                  <a:ext uri="{0D108BD9-81ED-4DB2-BD59-A6C34878D82A}">
                    <a16:rowId xmlns:a16="http://schemas.microsoft.com/office/drawing/2014/main" val="10000"/>
                  </a:ext>
                </a:extLst>
              </a:tr>
              <a:tr h="170227">
                <a:tc>
                  <a:txBody>
                    <a:bodyPr/>
                    <a:lstStyle/>
                    <a:p>
                      <a:pPr algn="l" fontAlgn="b"/>
                      <a:r>
                        <a:rPr lang="en-US" sz="900" b="1" i="0" u="none" strike="noStrike" dirty="0">
                          <a:solidFill>
                            <a:srgbClr val="000000"/>
                          </a:solidFill>
                          <a:effectLst/>
                          <a:latin typeface="+mn-lt"/>
                        </a:rPr>
                        <a:t>U.S.</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10001"/>
                  </a:ext>
                </a:extLst>
              </a:tr>
              <a:tr h="170227">
                <a:tc>
                  <a:txBody>
                    <a:bodyPr/>
                    <a:lstStyle/>
                    <a:p>
                      <a:pPr algn="l" fontAlgn="b"/>
                      <a:r>
                        <a:rPr lang="en-US" sz="900" b="1" i="0" u="none" strike="noStrike">
                          <a:solidFill>
                            <a:srgbClr val="000000"/>
                          </a:solidFill>
                          <a:effectLst/>
                          <a:latin typeface="+mn-lt"/>
                        </a:rPr>
                        <a:t>Canada</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10007"/>
                  </a:ext>
                </a:extLst>
              </a:tr>
              <a:tr h="170227">
                <a:tc>
                  <a:txBody>
                    <a:bodyPr/>
                    <a:lstStyle/>
                    <a:p>
                      <a:pPr algn="l" fontAlgn="b"/>
                      <a:r>
                        <a:rPr lang="en-US" sz="900" b="1" i="0" u="none" strike="noStrike">
                          <a:solidFill>
                            <a:srgbClr val="000000"/>
                          </a:solidFill>
                          <a:effectLst/>
                          <a:latin typeface="+mn-lt"/>
                        </a:rPr>
                        <a:t>Mexico</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10008"/>
                  </a:ext>
                </a:extLst>
              </a:tr>
              <a:tr h="170227">
                <a:tc>
                  <a:txBody>
                    <a:bodyPr/>
                    <a:lstStyle/>
                    <a:p>
                      <a:pPr algn="l" fontAlgn="b"/>
                      <a:r>
                        <a:rPr lang="en-US" sz="900" b="1" i="0" u="none" strike="noStrike">
                          <a:solidFill>
                            <a:srgbClr val="000000"/>
                          </a:solidFill>
                          <a:effectLst/>
                          <a:latin typeface="+mn-lt"/>
                        </a:rPr>
                        <a:t>Brazil</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10009"/>
                  </a:ext>
                </a:extLst>
              </a:tr>
              <a:tr h="170227">
                <a:tc>
                  <a:txBody>
                    <a:bodyPr/>
                    <a:lstStyle/>
                    <a:p>
                      <a:pPr algn="l" fontAlgn="b"/>
                      <a:r>
                        <a:rPr lang="en-US" sz="900" b="1" i="0" u="none" strike="noStrike">
                          <a:solidFill>
                            <a:srgbClr val="000000"/>
                          </a:solidFill>
                          <a:effectLst/>
                          <a:latin typeface="+mn-lt"/>
                        </a:rPr>
                        <a:t>Chile</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10004"/>
                  </a:ext>
                </a:extLst>
              </a:tr>
              <a:tr h="170227">
                <a:tc>
                  <a:txBody>
                    <a:bodyPr/>
                    <a:lstStyle/>
                    <a:p>
                      <a:pPr algn="l" fontAlgn="b"/>
                      <a:r>
                        <a:rPr lang="en-US" sz="900" b="1" i="0" u="none" strike="noStrike">
                          <a:solidFill>
                            <a:srgbClr val="000000"/>
                          </a:solidFill>
                          <a:effectLst/>
                          <a:latin typeface="+mn-lt"/>
                        </a:rPr>
                        <a:t>China</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10005"/>
                  </a:ext>
                </a:extLst>
              </a:tr>
              <a:tr h="170227">
                <a:tc>
                  <a:txBody>
                    <a:bodyPr/>
                    <a:lstStyle/>
                    <a:p>
                      <a:pPr algn="l" fontAlgn="b"/>
                      <a:r>
                        <a:rPr lang="en-US" sz="900" b="1" i="0" u="none" strike="noStrike">
                          <a:solidFill>
                            <a:srgbClr val="000000"/>
                          </a:solidFill>
                          <a:effectLst/>
                          <a:latin typeface="+mn-lt"/>
                        </a:rPr>
                        <a:t>Japan</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10006"/>
                  </a:ext>
                </a:extLst>
              </a:tr>
              <a:tr h="170227">
                <a:tc>
                  <a:txBody>
                    <a:bodyPr/>
                    <a:lstStyle/>
                    <a:p>
                      <a:pPr algn="l" fontAlgn="b"/>
                      <a:r>
                        <a:rPr lang="en-US" sz="900" b="1" i="0" u="none" strike="noStrike">
                          <a:solidFill>
                            <a:srgbClr val="000000"/>
                          </a:solidFill>
                          <a:effectLst/>
                          <a:latin typeface="+mn-lt"/>
                        </a:rPr>
                        <a:t>South Korea</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3129075128"/>
                  </a:ext>
                </a:extLst>
              </a:tr>
              <a:tr h="170227">
                <a:tc>
                  <a:txBody>
                    <a:bodyPr/>
                    <a:lstStyle/>
                    <a:p>
                      <a:pPr algn="l" fontAlgn="b"/>
                      <a:r>
                        <a:rPr lang="en-US" sz="900" b="1" i="0" u="none" strike="noStrike">
                          <a:solidFill>
                            <a:srgbClr val="000000"/>
                          </a:solidFill>
                          <a:effectLst/>
                          <a:latin typeface="+mn-lt"/>
                        </a:rPr>
                        <a:t>India</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2068827587"/>
                  </a:ext>
                </a:extLst>
              </a:tr>
              <a:tr h="170227">
                <a:tc>
                  <a:txBody>
                    <a:bodyPr/>
                    <a:lstStyle/>
                    <a:p>
                      <a:pPr algn="l" fontAlgn="b"/>
                      <a:r>
                        <a:rPr lang="en-US" sz="900" b="1" i="0" u="none" strike="noStrike">
                          <a:solidFill>
                            <a:srgbClr val="000000"/>
                          </a:solidFill>
                          <a:effectLst/>
                          <a:latin typeface="+mn-lt"/>
                        </a:rPr>
                        <a:t>ASEAN</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296899943"/>
                  </a:ext>
                </a:extLst>
              </a:tr>
              <a:tr h="170227">
                <a:tc>
                  <a:txBody>
                    <a:bodyPr/>
                    <a:lstStyle/>
                    <a:p>
                      <a:pPr algn="l" fontAlgn="b"/>
                      <a:r>
                        <a:rPr lang="en-US" sz="900" b="1" i="0" u="none" strike="noStrike">
                          <a:solidFill>
                            <a:srgbClr val="000000"/>
                          </a:solidFill>
                          <a:effectLst/>
                          <a:latin typeface="+mn-lt"/>
                        </a:rPr>
                        <a:t>Oceania</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1298637467"/>
                  </a:ext>
                </a:extLst>
              </a:tr>
              <a:tr h="170227">
                <a:tc>
                  <a:txBody>
                    <a:bodyPr/>
                    <a:lstStyle/>
                    <a:p>
                      <a:pPr algn="l" fontAlgn="b"/>
                      <a:r>
                        <a:rPr lang="en-US" sz="900" b="1" i="0" u="none" strike="noStrike">
                          <a:solidFill>
                            <a:srgbClr val="000000"/>
                          </a:solidFill>
                          <a:effectLst/>
                          <a:latin typeface="+mn-lt"/>
                        </a:rPr>
                        <a:t>Germany</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1282439216"/>
                  </a:ext>
                </a:extLst>
              </a:tr>
              <a:tr h="170227">
                <a:tc>
                  <a:txBody>
                    <a:bodyPr/>
                    <a:lstStyle/>
                    <a:p>
                      <a:pPr algn="l" fontAlgn="b"/>
                      <a:r>
                        <a:rPr lang="en-US" sz="900" b="1" i="0" u="none" strike="noStrike">
                          <a:solidFill>
                            <a:srgbClr val="000000"/>
                          </a:solidFill>
                          <a:effectLst/>
                          <a:latin typeface="+mn-lt"/>
                        </a:rPr>
                        <a:t>Italy</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23621562"/>
                  </a:ext>
                </a:extLst>
              </a:tr>
              <a:tr h="170227">
                <a:tc>
                  <a:txBody>
                    <a:bodyPr/>
                    <a:lstStyle/>
                    <a:p>
                      <a:pPr algn="l" fontAlgn="b"/>
                      <a:r>
                        <a:rPr lang="en-US" sz="900" b="1" i="0" u="none" strike="noStrike">
                          <a:solidFill>
                            <a:srgbClr val="000000"/>
                          </a:solidFill>
                          <a:effectLst/>
                          <a:latin typeface="+mn-lt"/>
                        </a:rPr>
                        <a:t>France</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2003013298"/>
                  </a:ext>
                </a:extLst>
              </a:tr>
              <a:tr h="170227">
                <a:tc>
                  <a:txBody>
                    <a:bodyPr/>
                    <a:lstStyle/>
                    <a:p>
                      <a:pPr algn="l" fontAlgn="b"/>
                      <a:r>
                        <a:rPr lang="en-US" sz="900" b="1" i="0" u="none" strike="noStrike">
                          <a:solidFill>
                            <a:srgbClr val="000000"/>
                          </a:solidFill>
                          <a:effectLst/>
                          <a:latin typeface="+mn-lt"/>
                        </a:rPr>
                        <a:t>U.K.</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3091887019"/>
                  </a:ext>
                </a:extLst>
              </a:tr>
              <a:tr h="170227">
                <a:tc>
                  <a:txBody>
                    <a:bodyPr/>
                    <a:lstStyle/>
                    <a:p>
                      <a:pPr algn="l" fontAlgn="b"/>
                      <a:r>
                        <a:rPr lang="en-US" sz="900" b="1" i="0" u="none" strike="noStrike">
                          <a:solidFill>
                            <a:srgbClr val="000000"/>
                          </a:solidFill>
                          <a:effectLst/>
                          <a:latin typeface="+mn-lt"/>
                        </a:rPr>
                        <a:t>Spain</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3259451042"/>
                  </a:ext>
                </a:extLst>
              </a:tr>
              <a:tr h="170227">
                <a:tc>
                  <a:txBody>
                    <a:bodyPr/>
                    <a:lstStyle/>
                    <a:p>
                      <a:pPr algn="l" fontAlgn="b"/>
                      <a:r>
                        <a:rPr lang="en-US" sz="900" b="1" i="0" u="none" strike="noStrike">
                          <a:solidFill>
                            <a:srgbClr val="000000"/>
                          </a:solidFill>
                          <a:effectLst/>
                          <a:latin typeface="+mn-lt"/>
                        </a:rPr>
                        <a:t>BENELUX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2548639640"/>
                  </a:ext>
                </a:extLst>
              </a:tr>
              <a:tr h="170227">
                <a:tc>
                  <a:txBody>
                    <a:bodyPr/>
                    <a:lstStyle/>
                    <a:p>
                      <a:pPr algn="l" fontAlgn="b"/>
                      <a:r>
                        <a:rPr lang="en-US" sz="900" b="1" i="0" u="none" strike="noStrike">
                          <a:solidFill>
                            <a:srgbClr val="000000"/>
                          </a:solidFill>
                          <a:effectLst/>
                          <a:latin typeface="+mn-lt"/>
                        </a:rPr>
                        <a:t>Nordic</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3453031697"/>
                  </a:ext>
                </a:extLst>
              </a:tr>
              <a:tr h="170227">
                <a:tc>
                  <a:txBody>
                    <a:bodyPr/>
                    <a:lstStyle/>
                    <a:p>
                      <a:pPr algn="l" fontAlgn="b"/>
                      <a:r>
                        <a:rPr lang="en-US" sz="900" b="1" i="0" u="none" strike="noStrike">
                          <a:solidFill>
                            <a:srgbClr val="000000"/>
                          </a:solidFill>
                          <a:effectLst/>
                          <a:latin typeface="+mn-lt"/>
                        </a:rPr>
                        <a:t>Russia</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2440707802"/>
                  </a:ext>
                </a:extLst>
              </a:tr>
              <a:tr h="170227">
                <a:tc>
                  <a:txBody>
                    <a:bodyPr/>
                    <a:lstStyle/>
                    <a:p>
                      <a:pPr algn="l" fontAlgn="b"/>
                      <a:r>
                        <a:rPr lang="en-US" sz="900" b="1" i="0" u="none" strike="noStrike">
                          <a:solidFill>
                            <a:srgbClr val="000000"/>
                          </a:solidFill>
                          <a:effectLst/>
                          <a:latin typeface="+mn-lt"/>
                        </a:rPr>
                        <a:t>Hungary</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2442818197"/>
                  </a:ext>
                </a:extLst>
              </a:tr>
              <a:tr h="170227">
                <a:tc>
                  <a:txBody>
                    <a:bodyPr/>
                    <a:lstStyle/>
                    <a:p>
                      <a:pPr algn="l" fontAlgn="b"/>
                      <a:r>
                        <a:rPr lang="en-US" sz="900" b="1" i="0" u="none" strike="noStrike">
                          <a:solidFill>
                            <a:srgbClr val="000000"/>
                          </a:solidFill>
                          <a:effectLst/>
                          <a:latin typeface="+mn-lt"/>
                        </a:rPr>
                        <a:t>Poland</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3082375283"/>
                  </a:ext>
                </a:extLst>
              </a:tr>
              <a:tr h="170227">
                <a:tc>
                  <a:txBody>
                    <a:bodyPr/>
                    <a:lstStyle/>
                    <a:p>
                      <a:pPr algn="l" fontAlgn="b"/>
                      <a:r>
                        <a:rPr lang="en-US" sz="900" b="1" i="0" u="none" strike="noStrike">
                          <a:solidFill>
                            <a:srgbClr val="000000"/>
                          </a:solidFill>
                          <a:effectLst/>
                          <a:latin typeface="+mn-lt"/>
                        </a:rPr>
                        <a:t>Balkan &amp; Baltics</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197259761"/>
                  </a:ext>
                </a:extLst>
              </a:tr>
              <a:tr h="170227">
                <a:tc>
                  <a:txBody>
                    <a:bodyPr/>
                    <a:lstStyle/>
                    <a:p>
                      <a:pPr algn="l" fontAlgn="b"/>
                      <a:r>
                        <a:rPr lang="en-US" sz="900" b="1" i="0" u="none" strike="noStrike">
                          <a:solidFill>
                            <a:srgbClr val="000000"/>
                          </a:solidFill>
                          <a:effectLst/>
                          <a:latin typeface="+mn-lt"/>
                        </a:rPr>
                        <a:t>KSA</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1206611883"/>
                  </a:ext>
                </a:extLst>
              </a:tr>
              <a:tr h="170227">
                <a:tc>
                  <a:txBody>
                    <a:bodyPr/>
                    <a:lstStyle/>
                    <a:p>
                      <a:pPr algn="l" fontAlgn="b"/>
                      <a:r>
                        <a:rPr lang="en-US" sz="900" b="1" i="0" u="none" strike="noStrike">
                          <a:solidFill>
                            <a:srgbClr val="000000"/>
                          </a:solidFill>
                          <a:effectLst/>
                          <a:latin typeface="+mn-lt"/>
                        </a:rPr>
                        <a:t>Other GCC</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2364140642"/>
                  </a:ext>
                </a:extLst>
              </a:tr>
              <a:tr h="170227">
                <a:tc>
                  <a:txBody>
                    <a:bodyPr/>
                    <a:lstStyle/>
                    <a:p>
                      <a:pPr algn="l" fontAlgn="b"/>
                      <a:r>
                        <a:rPr lang="en-US" sz="900" b="1" i="0" u="none" strike="noStrike">
                          <a:solidFill>
                            <a:srgbClr val="000000"/>
                          </a:solidFill>
                          <a:effectLst/>
                          <a:latin typeface="+mn-lt"/>
                        </a:rPr>
                        <a:t>Türkiye</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extLst>
                  <a:ext uri="{0D108BD9-81ED-4DB2-BD59-A6C34878D82A}">
                    <a16:rowId xmlns:a16="http://schemas.microsoft.com/office/drawing/2014/main" val="932716895"/>
                  </a:ext>
                </a:extLst>
              </a:tr>
              <a:tr h="170227">
                <a:tc>
                  <a:txBody>
                    <a:bodyPr/>
                    <a:lstStyle/>
                    <a:p>
                      <a:pPr algn="l" fontAlgn="b"/>
                      <a:r>
                        <a:rPr lang="en-US" sz="900" b="1" i="0" u="none" strike="noStrike">
                          <a:solidFill>
                            <a:srgbClr val="000000"/>
                          </a:solidFill>
                          <a:effectLst/>
                          <a:latin typeface="+mn-lt"/>
                        </a:rPr>
                        <a:t>South Africa</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3973465541"/>
                  </a:ext>
                </a:extLst>
              </a:tr>
              <a:tr h="170227">
                <a:tc>
                  <a:txBody>
                    <a:bodyPr/>
                    <a:lstStyle/>
                    <a:p>
                      <a:pPr algn="l" fontAlgn="b"/>
                      <a:r>
                        <a:rPr lang="en-US" sz="900" b="1" i="0" u="none" strike="noStrike" dirty="0">
                          <a:solidFill>
                            <a:srgbClr val="000000"/>
                          </a:solidFill>
                          <a:effectLst/>
                          <a:latin typeface="+mn-lt"/>
                        </a:rPr>
                        <a:t>Other African Union</a:t>
                      </a: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a:solidFill>
                            <a:srgbClr val="000000"/>
                          </a:solidFill>
                          <a:effectLst/>
                          <a:latin typeface="+mn-lt"/>
                        </a:rPr>
                        <a:t>XX</a:t>
                      </a:r>
                      <a:endParaRPr lang="en-US" sz="900" b="1" i="0" u="none" strike="noStrike" dirty="0">
                        <a:solidFill>
                          <a:srgbClr val="000000"/>
                        </a:solidFill>
                        <a:effectLst/>
                        <a:latin typeface="+mn-lt"/>
                      </a:endParaRP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tc>
                  <a:txBody>
                    <a:bodyPr/>
                    <a:lstStyle/>
                    <a:p>
                      <a:pPr algn="ctr" fontAlgn="ctr"/>
                      <a:r>
                        <a:rPr lang="en-US" sz="900" b="1" i="0" u="none" strike="noStrike" dirty="0">
                          <a:solidFill>
                            <a:srgbClr val="000000"/>
                          </a:solidFill>
                          <a:effectLst/>
                          <a:latin typeface="+mn-lt"/>
                        </a:rPr>
                        <a:t>XX</a:t>
                      </a:r>
                    </a:p>
                  </a:txBody>
                  <a:tcPr marL="9525" marR="9525" marT="9525" marB="0" anchor="ctr"/>
                </a:tc>
                <a:extLst>
                  <a:ext uri="{0D108BD9-81ED-4DB2-BD59-A6C34878D82A}">
                    <a16:rowId xmlns:a16="http://schemas.microsoft.com/office/drawing/2014/main" val="2896017662"/>
                  </a:ext>
                </a:extLst>
              </a:tr>
            </a:tbl>
          </a:graphicData>
        </a:graphic>
      </p:graphicFrame>
      <p:sp>
        <p:nvSpPr>
          <p:cNvPr id="7" name="Title 4"/>
          <p:cNvSpPr>
            <a:spLocks noGrp="1"/>
          </p:cNvSpPr>
          <p:nvPr>
            <p:ph type="title"/>
          </p:nvPr>
        </p:nvSpPr>
        <p:spPr>
          <a:xfrm>
            <a:off x="152399" y="152400"/>
            <a:ext cx="10515600" cy="731520"/>
          </a:xfrm>
        </p:spPr>
        <p:txBody>
          <a:bodyPr/>
          <a:lstStyle/>
          <a:p>
            <a:r>
              <a:rPr lang="en-US" dirty="0"/>
              <a:t>Pricing Analysis, 2023A</a:t>
            </a:r>
          </a:p>
        </p:txBody>
      </p:sp>
      <p:sp>
        <p:nvSpPr>
          <p:cNvPr id="8" name="TextBox 7"/>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23</a:t>
            </a:fld>
            <a:endParaRPr lang="en-GB" dirty="0"/>
          </a:p>
        </p:txBody>
      </p:sp>
    </p:spTree>
    <p:extLst>
      <p:ext uri="{BB962C8B-B14F-4D97-AF65-F5344CB8AC3E}">
        <p14:creationId xmlns:p14="http://schemas.microsoft.com/office/powerpoint/2010/main" val="104629815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Cost Teardown Analysis</a:t>
            </a:r>
            <a:endParaRPr lang="en-US" sz="1400" dirty="0"/>
          </a:p>
        </p:txBody>
      </p:sp>
      <p:sp>
        <p:nvSpPr>
          <p:cNvPr id="5" name="Rounded Rectangle 4"/>
          <p:cNvSpPr/>
          <p:nvPr/>
        </p:nvSpPr>
        <p:spPr>
          <a:xfrm>
            <a:off x="3933222" y="1134984"/>
            <a:ext cx="4325559" cy="563394"/>
          </a:xfrm>
          <a:prstGeom prst="roundRect">
            <a:avLst/>
          </a:prstGeom>
          <a:solidFill>
            <a:srgbClr val="B2A880"/>
          </a:solidFill>
          <a:ln w="12700" cap="flat" cmpd="sng" algn="ctr">
            <a:solidFill>
              <a:sysClr val="window" lastClr="FFFFFF">
                <a:lumMod val="85000"/>
              </a:sysClr>
            </a:solidFill>
            <a:prstDash val="solid"/>
            <a:miter lim="800000"/>
          </a:ln>
          <a:effectLst/>
        </p:spPr>
        <p:txBody>
          <a:bodyPr rtlCol="0" anchor="ctr"/>
          <a:lstStyle/>
          <a:p>
            <a:pPr algn="ctr" defTabSz="914400">
              <a:defRPr/>
            </a:pPr>
            <a:endParaRPr lang="en-GB" sz="1800" b="1" kern="0" dirty="0">
              <a:solidFill>
                <a:srgbClr val="FF0000"/>
              </a:solidFill>
              <a:latin typeface="Calibri" panose="020F0502020204030204"/>
            </a:endParaRPr>
          </a:p>
        </p:txBody>
      </p:sp>
      <p:sp>
        <p:nvSpPr>
          <p:cNvPr id="17" name="TextBox 16"/>
          <p:cNvSpPr txBox="1"/>
          <p:nvPr/>
        </p:nvSpPr>
        <p:spPr>
          <a:xfrm>
            <a:off x="4421747" y="1311457"/>
            <a:ext cx="2254143" cy="400110"/>
          </a:xfrm>
          <a:prstGeom prst="rect">
            <a:avLst/>
          </a:prstGeom>
          <a:noFill/>
        </p:spPr>
        <p:txBody>
          <a:bodyPr wrap="none" rtlCol="0">
            <a:spAutoFit/>
          </a:bodyPr>
          <a:lstStyle/>
          <a:p>
            <a:pPr defTabSz="914400">
              <a:defRPr/>
            </a:pPr>
            <a:r>
              <a:rPr lang="en-GB" sz="2000" b="1" kern="0" dirty="0"/>
              <a:t>US$ xx – xx Per Ton</a:t>
            </a:r>
          </a:p>
        </p:txBody>
      </p:sp>
      <p:sp>
        <p:nvSpPr>
          <p:cNvPr id="18" name="TextBox 17"/>
          <p:cNvSpPr txBox="1"/>
          <p:nvPr/>
        </p:nvSpPr>
        <p:spPr>
          <a:xfrm>
            <a:off x="4603813" y="1133000"/>
            <a:ext cx="2241319" cy="276999"/>
          </a:xfrm>
          <a:prstGeom prst="rect">
            <a:avLst/>
          </a:prstGeom>
          <a:noFill/>
        </p:spPr>
        <p:txBody>
          <a:bodyPr wrap="none" rtlCol="0">
            <a:spAutoFit/>
          </a:bodyPr>
          <a:lstStyle/>
          <a:p>
            <a:pPr defTabSz="914400">
              <a:defRPr/>
            </a:pPr>
            <a:r>
              <a:rPr lang="en-GB" sz="1200" kern="0" dirty="0"/>
              <a:t>Weighted Average Price Per tons</a:t>
            </a:r>
          </a:p>
        </p:txBody>
      </p:sp>
      <p:sp>
        <p:nvSpPr>
          <p:cNvPr id="19" name="TextBox 18"/>
          <p:cNvSpPr txBox="1"/>
          <p:nvPr/>
        </p:nvSpPr>
        <p:spPr>
          <a:xfrm>
            <a:off x="7382138" y="2497507"/>
            <a:ext cx="4369562" cy="1815882"/>
          </a:xfrm>
          <a:prstGeom prst="rect">
            <a:avLst/>
          </a:prstGeom>
          <a:noFill/>
        </p:spPr>
        <p:txBody>
          <a:bodyPr wrap="square" rtlCol="0">
            <a:spAutoFit/>
          </a:bodyPr>
          <a:lstStyle/>
          <a:p>
            <a:pPr algn="just" defTabSz="914400">
              <a:defRPr/>
            </a:pPr>
            <a:r>
              <a:rPr lang="en-GB" sz="1600" b="1" i="1" kern="0" dirty="0"/>
              <a:t>“Product Type   make up for a prominent share of the manufacturing cost. Utilities cost includes electric power, water supply, etc. charges. Plant overhead cost includes maintenance, waste disposal, quality control and other cost. Others includes Research and Development cost, capital cost (depreciation, interest in capital), etc.”</a:t>
            </a:r>
          </a:p>
        </p:txBody>
      </p:sp>
      <p:pic>
        <p:nvPicPr>
          <p:cNvPr id="20" name="Picture 19"/>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833137" y="1698378"/>
            <a:ext cx="6200169" cy="4419983"/>
          </a:xfrm>
          <a:prstGeom prst="rect">
            <a:avLst/>
          </a:prstGeom>
        </p:spPr>
      </p:pic>
      <p:sp>
        <p:nvSpPr>
          <p:cNvPr id="53" name="TextBox 52"/>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
        <p:nvSpPr>
          <p:cNvPr id="4" name="Slide Number Placeholder 3"/>
          <p:cNvSpPr>
            <a:spLocks noGrp="1"/>
          </p:cNvSpPr>
          <p:nvPr>
            <p:ph type="sldNum" sz="quarter" idx="4"/>
          </p:nvPr>
        </p:nvSpPr>
        <p:spPr/>
        <p:txBody>
          <a:bodyPr/>
          <a:lstStyle/>
          <a:p>
            <a:fld id="{4B17068C-EB94-40A3-A5F2-664CDD77FDAC}" type="slidenum">
              <a:rPr lang="en-GB" smtClean="0"/>
              <a:pPr/>
              <a:t>24</a:t>
            </a:fld>
            <a:endParaRPr lang="en-GB" dirty="0"/>
          </a:p>
        </p:txBody>
      </p:sp>
    </p:spTree>
    <p:extLst>
      <p:ext uri="{BB962C8B-B14F-4D97-AF65-F5344CB8AC3E}">
        <p14:creationId xmlns:p14="http://schemas.microsoft.com/office/powerpoint/2010/main" val="20582001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a:t>Product Type: Pricing Analysis, 2019-2034</a:t>
            </a:r>
            <a:endParaRPr lang="en-IN" dirty="0"/>
          </a:p>
        </p:txBody>
      </p:sp>
      <p:sp>
        <p:nvSpPr>
          <p:cNvPr id="4" name="Text Placeholder 3"/>
          <p:cNvSpPr>
            <a:spLocks noGrp="1"/>
          </p:cNvSpPr>
          <p:nvPr>
            <p:ph type="body" idx="12"/>
          </p:nvPr>
        </p:nvSpPr>
        <p:spPr/>
        <p:txBody>
          <a:bodyPr/>
          <a:lstStyle/>
          <a:p>
            <a:r>
              <a:rPr lang="en-US" dirty="0"/>
              <a:t>Global WXYZ Product Type Wise Pricing Analysis (US$/Ton), 2019 - 2034</a:t>
            </a:r>
            <a:endParaRPr lang="en-IN" dirty="0"/>
          </a:p>
        </p:txBody>
      </p:sp>
      <p:pic>
        <p:nvPicPr>
          <p:cNvPr id="9" name="Content Placeholder 8"/>
          <p:cNvPicPr>
            <a:picLocks noGrp="1" noChangeAspect="1"/>
          </p:cNvPicPr>
          <p:nvPr>
            <p:ph idx="1"/>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152400" y="1616045"/>
            <a:ext cx="11887200" cy="4587935"/>
          </a:xfrm>
          <a:prstGeom prst="rect">
            <a:avLst/>
          </a:prstGeom>
        </p:spPr>
      </p:pic>
      <p:sp>
        <p:nvSpPr>
          <p:cNvPr id="10" name="TextBox 9"/>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25</a:t>
            </a:fld>
            <a:endParaRPr lang="en-GB" dirty="0"/>
          </a:p>
        </p:txBody>
      </p:sp>
    </p:spTree>
    <p:extLst>
      <p:ext uri="{BB962C8B-B14F-4D97-AF65-F5344CB8AC3E}">
        <p14:creationId xmlns:p14="http://schemas.microsoft.com/office/powerpoint/2010/main" val="121253730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07</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07</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Global WXYZ Market Demand (US$ Mn) Analysis 2019 – 2023 and Forecast, 2024 – 2034</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26</a:t>
            </a:r>
          </a:p>
        </p:txBody>
      </p:sp>
    </p:spTree>
    <p:extLst>
      <p:ext uri="{BB962C8B-B14F-4D97-AF65-F5344CB8AC3E}">
        <p14:creationId xmlns:p14="http://schemas.microsoft.com/office/powerpoint/2010/main" val="357180385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Global WXYZ Market Value Analysis</a:t>
            </a:r>
          </a:p>
        </p:txBody>
      </p:sp>
      <p:sp>
        <p:nvSpPr>
          <p:cNvPr id="7" name="Text Placeholder 6"/>
          <p:cNvSpPr>
            <a:spLocks noGrp="1"/>
          </p:cNvSpPr>
          <p:nvPr>
            <p:ph type="body" idx="12"/>
          </p:nvPr>
        </p:nvSpPr>
        <p:spPr/>
        <p:txBody>
          <a:bodyPr/>
          <a:lstStyle/>
          <a:p>
            <a:r>
              <a:rPr lang="en-US" dirty="0"/>
              <a:t>Figure 03: Global WXYZ Historical Value (US$ </a:t>
            </a:r>
            <a:r>
              <a:rPr lang="en-US" dirty="0" err="1"/>
              <a:t>Mn</a:t>
            </a:r>
            <a:r>
              <a:rPr lang="en-US" dirty="0"/>
              <a:t>), 2019 – 2023</a:t>
            </a:r>
          </a:p>
        </p:txBody>
      </p:sp>
      <p:sp>
        <p:nvSpPr>
          <p:cNvPr id="9" name="Text Placeholder 8"/>
          <p:cNvSpPr>
            <a:spLocks noGrp="1"/>
          </p:cNvSpPr>
          <p:nvPr>
            <p:ph type="body" idx="14"/>
          </p:nvPr>
        </p:nvSpPr>
        <p:spPr/>
        <p:txBody>
          <a:bodyPr/>
          <a:lstStyle/>
          <a:p>
            <a:r>
              <a:rPr lang="en-US" dirty="0"/>
              <a:t>Figure 04:Global  WXYZ Value (US$ </a:t>
            </a:r>
            <a:r>
              <a:rPr lang="en-US" dirty="0" err="1"/>
              <a:t>Mn</a:t>
            </a:r>
            <a:r>
              <a:rPr lang="en-US" dirty="0"/>
              <a:t>) Forecast, 2024 – 2034</a:t>
            </a:r>
          </a:p>
        </p:txBody>
      </p:sp>
      <p:sp>
        <p:nvSpPr>
          <p:cNvPr id="11" name="Text Placeholder 10"/>
          <p:cNvSpPr>
            <a:spLocks noGrp="1"/>
          </p:cNvSpPr>
          <p:nvPr>
            <p:ph type="body" idx="16"/>
          </p:nvPr>
        </p:nvSpPr>
        <p:spPr/>
        <p:txBody>
          <a:bodyPr/>
          <a:lstStyle/>
          <a:p>
            <a:r>
              <a:rPr lang="en-US" dirty="0"/>
              <a:t>Figure 05: Global WXYZ Absolute $ Opportunity, 2019 and 2023 to 2034</a:t>
            </a:r>
          </a:p>
        </p:txBody>
      </p:sp>
      <p:sp>
        <p:nvSpPr>
          <p:cNvPr id="13" name="Text Placeholder 12"/>
          <p:cNvSpPr>
            <a:spLocks noGrp="1"/>
          </p:cNvSpPr>
          <p:nvPr>
            <p:ph type="body" idx="18"/>
          </p:nvPr>
        </p:nvSpPr>
        <p:spPr/>
        <p:txBody>
          <a:bodyPr/>
          <a:lstStyle/>
          <a:p>
            <a:r>
              <a:rPr lang="en-US" sz="1400" dirty="0"/>
              <a:t>Key Takeaways</a:t>
            </a:r>
          </a:p>
        </p:txBody>
      </p:sp>
      <p:sp>
        <p:nvSpPr>
          <p:cNvPr id="18" name="Rectangle 17"/>
          <p:cNvSpPr>
            <a:spLocks noChangeArrowheads="1"/>
          </p:cNvSpPr>
          <p:nvPr/>
        </p:nvSpPr>
        <p:spPr bwMode="auto">
          <a:xfrm>
            <a:off x="152400" y="4308793"/>
            <a:ext cx="11887200" cy="2016532"/>
          </a:xfrm>
          <a:prstGeom prst="rect">
            <a:avLst/>
          </a:prstGeom>
          <a:solidFill>
            <a:schemeClr val="bg2"/>
          </a:solidFill>
          <a:ln>
            <a:noFill/>
          </a:ln>
          <a:effectLst>
            <a:outerShdw blurRad="50800" dist="38100" dir="5400000" algn="t" rotWithShape="0">
              <a:prstClr val="black">
                <a:alpha val="40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9" name="Freeform 18"/>
          <p:cNvSpPr>
            <a:spLocks/>
          </p:cNvSpPr>
          <p:nvPr/>
        </p:nvSpPr>
        <p:spPr bwMode="auto">
          <a:xfrm>
            <a:off x="10313328" y="4341719"/>
            <a:ext cx="1662126" cy="1983605"/>
          </a:xfrm>
          <a:custGeom>
            <a:avLst/>
            <a:gdLst>
              <a:gd name="T0" fmla="*/ 2892 w 2892"/>
              <a:gd name="T1" fmla="*/ 0 h 1029"/>
              <a:gd name="T2" fmla="*/ 913 w 2892"/>
              <a:gd name="T3" fmla="*/ 0 h 1029"/>
              <a:gd name="T4" fmla="*/ 0 w 2892"/>
              <a:gd name="T5" fmla="*/ 1029 h 1029"/>
              <a:gd name="T6" fmla="*/ 1978 w 2892"/>
              <a:gd name="T7" fmla="*/ 1029 h 1029"/>
              <a:gd name="T8" fmla="*/ 2892 w 2892"/>
              <a:gd name="T9" fmla="*/ 0 h 1029"/>
            </a:gdLst>
            <a:ahLst/>
            <a:cxnLst>
              <a:cxn ang="0">
                <a:pos x="T0" y="T1"/>
              </a:cxn>
              <a:cxn ang="0">
                <a:pos x="T2" y="T3"/>
              </a:cxn>
              <a:cxn ang="0">
                <a:pos x="T4" y="T5"/>
              </a:cxn>
              <a:cxn ang="0">
                <a:pos x="T6" y="T7"/>
              </a:cxn>
              <a:cxn ang="0">
                <a:pos x="T8" y="T9"/>
              </a:cxn>
            </a:cxnLst>
            <a:rect l="0" t="0" r="r" b="b"/>
            <a:pathLst>
              <a:path w="2892" h="1029">
                <a:moveTo>
                  <a:pt x="2892" y="0"/>
                </a:moveTo>
                <a:lnTo>
                  <a:pt x="913" y="0"/>
                </a:lnTo>
                <a:lnTo>
                  <a:pt x="0" y="1029"/>
                </a:lnTo>
                <a:lnTo>
                  <a:pt x="1978" y="1029"/>
                </a:lnTo>
                <a:lnTo>
                  <a:pt x="2892" y="0"/>
                </a:lnTo>
                <a:close/>
              </a:path>
            </a:pathLst>
          </a:custGeom>
          <a:solidFill>
            <a:schemeClr val="bg1"/>
          </a:solidFill>
          <a:ln>
            <a:solidFill>
              <a:schemeClr val="bg1"/>
            </a:solidFill>
          </a:ln>
          <a:effectLst>
            <a:outerShdw blurRad="63500" sx="102000" sy="102000" algn="ctr" rotWithShape="0">
              <a:prstClr val="black">
                <a:alpha val="40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pic>
        <p:nvPicPr>
          <p:cNvPr id="20" name="Picture 1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678993" y="4839970"/>
            <a:ext cx="764101" cy="889714"/>
          </a:xfrm>
          <a:prstGeom prst="rect">
            <a:avLst/>
          </a:prstGeom>
        </p:spPr>
      </p:pic>
      <p:sp>
        <p:nvSpPr>
          <p:cNvPr id="2" name="Rectangle 1"/>
          <p:cNvSpPr/>
          <p:nvPr/>
        </p:nvSpPr>
        <p:spPr>
          <a:xfrm>
            <a:off x="305947" y="4436290"/>
            <a:ext cx="9943235" cy="1754326"/>
          </a:xfrm>
          <a:prstGeom prst="rect">
            <a:avLst/>
          </a:prstGeom>
        </p:spPr>
        <p:txBody>
          <a:bodyPr wrap="square">
            <a:spAutoFit/>
          </a:bodyPr>
          <a:lstStyle/>
          <a:p>
            <a:pPr algn="just">
              <a:spcBef>
                <a:spcPts val="600"/>
              </a:spcBef>
              <a:spcAft>
                <a:spcPts val="600"/>
              </a:spcAft>
            </a:pPr>
            <a:r>
              <a:rPr lang="en-US" sz="1600" b="1" dirty="0"/>
              <a:t>The above figures represent the market valuation of Global WXYZ historically from 2019 to 2023 and future market analysis from 2024 to 2034</a:t>
            </a:r>
          </a:p>
          <a:p>
            <a:pPr marL="637794" lvl="1" indent="-171450" algn="just">
              <a:spcBef>
                <a:spcPts val="600"/>
              </a:spcBef>
              <a:spcAft>
                <a:spcPts val="600"/>
              </a:spcAft>
              <a:buFont typeface="Wingdings" panose="05000000000000000000" pitchFamily="2" charset="2"/>
              <a:buChar char="q"/>
            </a:pPr>
            <a:r>
              <a:rPr lang="en-US" sz="1400" dirty="0"/>
              <a:t>The WXYZ market volume is expected to be pegged at </a:t>
            </a:r>
            <a:r>
              <a:rPr lang="en-US" sz="1400" b="1" dirty="0"/>
              <a:t>US$ B!Y! </a:t>
            </a:r>
            <a:r>
              <a:rPr lang="en-US" sz="1400" b="1" dirty="0" err="1"/>
              <a:t>Mn</a:t>
            </a:r>
            <a:r>
              <a:rPr lang="en-US" sz="1400" b="1" dirty="0"/>
              <a:t> </a:t>
            </a:r>
            <a:r>
              <a:rPr lang="en-US" sz="1400" dirty="0"/>
              <a:t>at the end of 2024 and is foreseen to grow with a Value CAGR of </a:t>
            </a:r>
            <a:r>
              <a:rPr lang="en-US" sz="1400" b="1" dirty="0" err="1"/>
              <a:t>VaC</a:t>
            </a:r>
            <a:r>
              <a:rPr lang="en-US" sz="1400" b="1" dirty="0"/>
              <a:t>!%</a:t>
            </a:r>
            <a:r>
              <a:rPr lang="en-US" sz="1400" dirty="0"/>
              <a:t> during the forecast period </a:t>
            </a:r>
            <a:r>
              <a:rPr lang="en-IN" sz="1400" dirty="0"/>
              <a:t>and is anticipated to attain a valuation of </a:t>
            </a:r>
            <a:r>
              <a:rPr lang="en-IN" sz="1400" b="1" dirty="0"/>
              <a:t>US$ F!Y! </a:t>
            </a:r>
            <a:r>
              <a:rPr lang="en-IN" sz="1400" b="1" dirty="0" err="1"/>
              <a:t>Mn</a:t>
            </a:r>
            <a:r>
              <a:rPr lang="en-IN" sz="1400" b="1" dirty="0"/>
              <a:t> </a:t>
            </a:r>
            <a:r>
              <a:rPr lang="en-IN" sz="1400" dirty="0"/>
              <a:t>by the end of 2034 end</a:t>
            </a:r>
            <a:r>
              <a:rPr lang="en-US" sz="1400" dirty="0"/>
              <a:t>.</a:t>
            </a:r>
          </a:p>
          <a:p>
            <a:pPr marL="654709" lvl="1" indent="-171450" algn="just">
              <a:spcBef>
                <a:spcPts val="600"/>
              </a:spcBef>
              <a:spcAft>
                <a:spcPts val="600"/>
              </a:spcAft>
              <a:buFont typeface="Wingdings" panose="05000000000000000000" pitchFamily="2" charset="2"/>
              <a:buChar char="q"/>
            </a:pPr>
            <a:r>
              <a:rPr lang="en-US" sz="1400" dirty="0"/>
              <a:t>Based on value growth, the demand for WXYZ witnesses considerable growth owing to increasing demand from various end-use industries.</a:t>
            </a:r>
            <a:endParaRPr lang="en-IN" sz="1400" dirty="0"/>
          </a:p>
        </p:txBody>
      </p:sp>
      <p:sp>
        <p:nvSpPr>
          <p:cNvPr id="15" name="TextBox 14"/>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23" name="Content Placeholder 11"/>
          <p:cNvGraphicFramePr>
            <a:graphicFrameLocks noGrp="1"/>
          </p:cNvGraphicFramePr>
          <p:nvPr>
            <p:ph idx="1"/>
            <p:extLst>
              <p:ext uri="{D42A27DB-BD31-4B8C-83A1-F6EECF244321}">
                <p14:modId xmlns:p14="http://schemas.microsoft.com/office/powerpoint/2010/main" val="2412230717"/>
              </p:ext>
            </p:extLst>
          </p:nvPr>
        </p:nvGraphicFramePr>
        <p:xfrm>
          <a:off x="152111" y="1612900"/>
          <a:ext cx="3768725" cy="196691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ontent Placeholder 11"/>
          <p:cNvGraphicFramePr>
            <a:graphicFrameLocks noGrp="1"/>
          </p:cNvGraphicFramePr>
          <p:nvPr>
            <p:ph idx="13"/>
            <p:extLst>
              <p:ext uri="{D42A27DB-BD31-4B8C-83A1-F6EECF244321}">
                <p14:modId xmlns:p14="http://schemas.microsoft.com/office/powerpoint/2010/main" val="3933380058"/>
              </p:ext>
            </p:extLst>
          </p:nvPr>
        </p:nvGraphicFramePr>
        <p:xfrm>
          <a:off x="4211638" y="1612900"/>
          <a:ext cx="3768725" cy="196691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5" name="Content Placeholder 13"/>
          <p:cNvGraphicFramePr>
            <a:graphicFrameLocks noGrp="1"/>
          </p:cNvGraphicFramePr>
          <p:nvPr>
            <p:ph idx="15"/>
            <p:extLst>
              <p:ext uri="{D42A27DB-BD31-4B8C-83A1-F6EECF244321}">
                <p14:modId xmlns:p14="http://schemas.microsoft.com/office/powerpoint/2010/main" val="1685233563"/>
              </p:ext>
            </p:extLst>
          </p:nvPr>
        </p:nvGraphicFramePr>
        <p:xfrm>
          <a:off x="8270875" y="1612900"/>
          <a:ext cx="3768725" cy="1966913"/>
        </p:xfrm>
        <a:graphic>
          <a:graphicData uri="http://schemas.openxmlformats.org/drawingml/2006/chart">
            <c:chart xmlns:c="http://schemas.openxmlformats.org/drawingml/2006/chart" xmlns:r="http://schemas.openxmlformats.org/officeDocument/2006/relationships" r:id="rId5"/>
          </a:graphicData>
        </a:graphic>
      </p:graphicFrame>
      <p:sp>
        <p:nvSpPr>
          <p:cNvPr id="26" name="TextBox 1"/>
          <p:cNvSpPr txBox="1"/>
          <p:nvPr/>
        </p:nvSpPr>
        <p:spPr>
          <a:xfrm>
            <a:off x="4211348" y="1923480"/>
            <a:ext cx="640080" cy="274320"/>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b="1" dirty="0"/>
              <a:t>B!Y!</a:t>
            </a:r>
            <a:endParaRPr lang="en-US" sz="1100" b="1" dirty="0"/>
          </a:p>
        </p:txBody>
      </p:sp>
      <p:sp>
        <p:nvSpPr>
          <p:cNvPr id="27" name="TextBox 1"/>
          <p:cNvSpPr txBox="1"/>
          <p:nvPr/>
        </p:nvSpPr>
        <p:spPr>
          <a:xfrm>
            <a:off x="8843361" y="1995857"/>
            <a:ext cx="640080" cy="274320"/>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b="1" dirty="0"/>
              <a:t>B!Y!</a:t>
            </a:r>
            <a:endParaRPr lang="en-US" sz="1100" b="1" dirty="0"/>
          </a:p>
        </p:txBody>
      </p:sp>
      <p:sp>
        <p:nvSpPr>
          <p:cNvPr id="28" name="TextBox 1"/>
          <p:cNvSpPr txBox="1"/>
          <p:nvPr/>
        </p:nvSpPr>
        <p:spPr>
          <a:xfrm>
            <a:off x="11553736" y="1674123"/>
            <a:ext cx="731520" cy="274320"/>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IN" b="1" dirty="0"/>
              <a:t>F!Y!</a:t>
            </a:r>
            <a:endParaRPr lang="en-US" sz="1100" b="1" dirty="0"/>
          </a:p>
        </p:txBody>
      </p:sp>
      <p:sp>
        <p:nvSpPr>
          <p:cNvPr id="29" name="TextBox 1"/>
          <p:cNvSpPr txBox="1"/>
          <p:nvPr/>
        </p:nvSpPr>
        <p:spPr>
          <a:xfrm>
            <a:off x="7297860" y="1599617"/>
            <a:ext cx="731520" cy="274320"/>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IN" b="1" dirty="0"/>
              <a:t>F!Y!</a:t>
            </a:r>
            <a:endParaRPr lang="en-US" sz="1100" b="1" dirty="0"/>
          </a:p>
        </p:txBody>
      </p:sp>
      <p:sp>
        <p:nvSpPr>
          <p:cNvPr id="3" name="Slide Number Placeholder 2"/>
          <p:cNvSpPr>
            <a:spLocks noGrp="1"/>
          </p:cNvSpPr>
          <p:nvPr>
            <p:ph type="sldNum" sz="quarter" idx="4"/>
          </p:nvPr>
        </p:nvSpPr>
        <p:spPr/>
        <p:txBody>
          <a:bodyPr/>
          <a:lstStyle/>
          <a:p>
            <a:fld id="{4B17068C-EB94-40A3-A5F2-664CDD77FDAC}" type="slidenum">
              <a:rPr lang="en-GB" smtClean="0"/>
              <a:pPr/>
              <a:t>27</a:t>
            </a:fld>
            <a:endParaRPr lang="en-GB" dirty="0"/>
          </a:p>
        </p:txBody>
      </p:sp>
    </p:spTree>
    <p:extLst>
      <p:ext uri="{BB962C8B-B14F-4D97-AF65-F5344CB8AC3E}">
        <p14:creationId xmlns:p14="http://schemas.microsoft.com/office/powerpoint/2010/main" val="164501854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Market Background</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28</a:t>
            </a:r>
          </a:p>
        </p:txBody>
      </p:sp>
    </p:spTree>
    <p:extLst>
      <p:ext uri="{BB962C8B-B14F-4D97-AF65-F5344CB8AC3E}">
        <p14:creationId xmlns:p14="http://schemas.microsoft.com/office/powerpoint/2010/main" val="409944108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Macro-economic Factors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29</a:t>
            </a:r>
          </a:p>
        </p:txBody>
      </p:sp>
    </p:spTree>
    <p:extLst>
      <p:ext uri="{BB962C8B-B14F-4D97-AF65-F5344CB8AC3E}">
        <p14:creationId xmlns:p14="http://schemas.microsoft.com/office/powerpoint/2010/main" val="243980442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a:t>Macro-Economic Factors: Global Economic Outlook</a:t>
            </a:r>
          </a:p>
        </p:txBody>
      </p:sp>
      <p:grpSp>
        <p:nvGrpSpPr>
          <p:cNvPr id="13" name="Group 12"/>
          <p:cNvGrpSpPr/>
          <p:nvPr/>
        </p:nvGrpSpPr>
        <p:grpSpPr>
          <a:xfrm>
            <a:off x="319609" y="1133435"/>
            <a:ext cx="10657738" cy="503932"/>
            <a:chOff x="196459" y="1428497"/>
            <a:chExt cx="9648740" cy="368319"/>
          </a:xfrm>
        </p:grpSpPr>
        <p:sp>
          <p:nvSpPr>
            <p:cNvPr id="15" name="Rectangle 14"/>
            <p:cNvSpPr/>
            <p:nvPr/>
          </p:nvSpPr>
          <p:spPr>
            <a:xfrm>
              <a:off x="196459" y="1428497"/>
              <a:ext cx="422404" cy="368319"/>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dirty="0"/>
            </a:p>
          </p:txBody>
        </p:sp>
        <p:sp>
          <p:nvSpPr>
            <p:cNvPr id="16" name="Pentagon 15"/>
            <p:cNvSpPr/>
            <p:nvPr/>
          </p:nvSpPr>
          <p:spPr>
            <a:xfrm>
              <a:off x="218002" y="1456090"/>
              <a:ext cx="9627197" cy="310896"/>
            </a:xfrm>
            <a:prstGeom prst="homePlate">
              <a:avLst/>
            </a:prstGeom>
            <a:solidFill>
              <a:schemeClr val="bg1">
                <a:lumMod val="75000"/>
              </a:schemeClr>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r>
                <a:rPr lang="en-US" dirty="0">
                  <a:solidFill>
                    <a:schemeClr val="tx1"/>
                  </a:solidFill>
                  <a:latin typeface="Aharoni" panose="02010803020104030203" pitchFamily="2" charset="-79"/>
                  <a:cs typeface="Aharoni" panose="02010803020104030203" pitchFamily="2" charset="-79"/>
                </a:rPr>
                <a:t>Overall Economic Environment: Substantial Downgrade in World Economy</a:t>
              </a:r>
            </a:p>
          </p:txBody>
        </p:sp>
      </p:grpSp>
      <p:sp>
        <p:nvSpPr>
          <p:cNvPr id="19" name="Rectangle 18"/>
          <p:cNvSpPr/>
          <p:nvPr/>
        </p:nvSpPr>
        <p:spPr>
          <a:xfrm>
            <a:off x="8004863" y="1687571"/>
            <a:ext cx="3343775" cy="523220"/>
          </a:xfrm>
          <a:prstGeom prst="rect">
            <a:avLst/>
          </a:prstGeom>
        </p:spPr>
        <p:txBody>
          <a:bodyPr wrap="square">
            <a:spAutoFit/>
          </a:bodyPr>
          <a:lstStyle/>
          <a:p>
            <a:pPr algn="ctr" defTabSz="914400">
              <a:defRPr/>
            </a:pPr>
            <a:r>
              <a:rPr lang="en-US" sz="1400" b="1" kern="0" dirty="0">
                <a:solidFill>
                  <a:srgbClr val="002060"/>
                </a:solidFill>
              </a:rPr>
              <a:t>Global Economic Growth Forecast:</a:t>
            </a:r>
          </a:p>
          <a:p>
            <a:pPr algn="ctr" defTabSz="914400">
              <a:defRPr/>
            </a:pPr>
            <a:r>
              <a:rPr lang="en-US" sz="1400" b="1" kern="0" dirty="0">
                <a:solidFill>
                  <a:srgbClr val="002060"/>
                </a:solidFill>
              </a:rPr>
              <a:t>~4.9% in 2022</a:t>
            </a:r>
            <a:endParaRPr lang="en-US" sz="1400" kern="0" dirty="0">
              <a:solidFill>
                <a:srgbClr val="002060"/>
              </a:solidFill>
            </a:endParaRPr>
          </a:p>
        </p:txBody>
      </p:sp>
      <p:sp>
        <p:nvSpPr>
          <p:cNvPr id="21" name="Rounded Rectangle 20"/>
          <p:cNvSpPr/>
          <p:nvPr/>
        </p:nvSpPr>
        <p:spPr>
          <a:xfrm>
            <a:off x="200878" y="1110343"/>
            <a:ext cx="11838722" cy="4938765"/>
          </a:xfrm>
          <a:prstGeom prst="roundRect">
            <a:avLst>
              <a:gd name="adj" fmla="val 3598"/>
            </a:avLst>
          </a:prstGeom>
          <a:no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TextBox 21"/>
          <p:cNvSpPr txBox="1"/>
          <p:nvPr/>
        </p:nvSpPr>
        <p:spPr>
          <a:xfrm>
            <a:off x="200878" y="1596554"/>
            <a:ext cx="7082076" cy="2354491"/>
          </a:xfrm>
          <a:prstGeom prst="rect">
            <a:avLst/>
          </a:prstGeom>
          <a:noFill/>
        </p:spPr>
        <p:txBody>
          <a:bodyPr wrap="square" rtlCol="0">
            <a:spAutoFit/>
          </a:bodyPr>
          <a:lstStyle>
            <a:defPPr>
              <a:defRPr lang="en-US"/>
            </a:defPPr>
            <a:lvl1pPr algn="r">
              <a:defRPr sz="1800">
                <a:solidFill>
                  <a:srgbClr val="002060"/>
                </a:solidFill>
                <a:latin typeface="Aharoni" panose="02010803020104030203" pitchFamily="2" charset="-79"/>
                <a:cs typeface="Aharoni" panose="02010803020104030203" pitchFamily="2" charset="-79"/>
              </a:defRPr>
            </a:lvl1pPr>
          </a:lstStyle>
          <a:p>
            <a:pPr marL="171450" indent="-285750" algn="just" fontAlgn="base">
              <a:lnSpc>
                <a:spcPct val="150000"/>
              </a:lnSpc>
              <a:spcBef>
                <a:spcPts val="100"/>
              </a:spcBef>
              <a:spcAft>
                <a:spcPts val="100"/>
              </a:spcAft>
              <a:buFont typeface="Wingdings" panose="05000000000000000000" pitchFamily="2" charset="2"/>
              <a:buChar char="ü"/>
            </a:pPr>
            <a:r>
              <a:rPr lang="en-US" sz="1400" i="1" dirty="0">
                <a:solidFill>
                  <a:schemeClr val="tx1"/>
                </a:solidFill>
                <a:latin typeface="Gill Sans MT" panose="020B0502020104020203" pitchFamily="34" charset="0"/>
                <a:ea typeface="Calibri" panose="020F0502020204030204" pitchFamily="34" charset="0"/>
                <a:cs typeface="Times New Roman" panose="02020603050405020304" pitchFamily="18" charset="0"/>
              </a:rPr>
              <a:t>The global economy is projected to grow 5.9 percent in 2021 and 4.9 percent in 2022. Beyond 2022 global growth is projected to moderate to about 3.3 percent over the medium term. Advanced economy output is forecast to exceed pre-pandemic medium-term projections—largely reflecting sizable anticipated further policy support in the United States that includes measures to increase potential. By contrast, persistent output losses are anticipated for the emerging market and developing economy group due to slower vaccine rollouts and generally less policy support compared to advanced economies</a:t>
            </a:r>
          </a:p>
        </p:txBody>
      </p:sp>
      <p:sp>
        <p:nvSpPr>
          <p:cNvPr id="23" name="TextBox 22"/>
          <p:cNvSpPr txBox="1"/>
          <p:nvPr/>
        </p:nvSpPr>
        <p:spPr>
          <a:xfrm>
            <a:off x="232459" y="4157544"/>
            <a:ext cx="10745614" cy="1410643"/>
          </a:xfrm>
          <a:prstGeom prst="rect">
            <a:avLst/>
          </a:prstGeom>
          <a:noFill/>
        </p:spPr>
        <p:txBody>
          <a:bodyPr wrap="square" rtlCol="0">
            <a:spAutoFit/>
          </a:bodyPr>
          <a:lstStyle>
            <a:defPPr>
              <a:defRPr lang="en-US"/>
            </a:defPPr>
            <a:lvl1pPr algn="r">
              <a:defRPr sz="1800">
                <a:solidFill>
                  <a:srgbClr val="002060"/>
                </a:solidFill>
                <a:latin typeface="Aharoni" panose="02010803020104030203" pitchFamily="2" charset="-79"/>
                <a:cs typeface="Aharoni" panose="02010803020104030203" pitchFamily="2" charset="-79"/>
              </a:defRPr>
            </a:lvl1pPr>
          </a:lstStyle>
          <a:p>
            <a:pPr marL="171450" indent="-285750" algn="just" fontAlgn="base">
              <a:lnSpc>
                <a:spcPct val="150000"/>
              </a:lnSpc>
              <a:spcBef>
                <a:spcPts val="100"/>
              </a:spcBef>
              <a:spcAft>
                <a:spcPts val="100"/>
              </a:spcAft>
              <a:buFont typeface="Wingdings" panose="05000000000000000000" pitchFamily="2" charset="2"/>
              <a:buChar char="ü"/>
            </a:pPr>
            <a:r>
              <a:rPr lang="en-US" sz="1400" i="1" dirty="0">
                <a:solidFill>
                  <a:schemeClr val="tx1"/>
                </a:solidFill>
                <a:latin typeface="Gill Sans MT" panose="020B0502020104020203" pitchFamily="34" charset="0"/>
                <a:ea typeface="Calibri" panose="020F0502020204030204" pitchFamily="34" charset="0"/>
                <a:cs typeface="Times New Roman" panose="02020603050405020304" pitchFamily="18" charset="0"/>
              </a:rPr>
              <a:t>Headline inflation rates have increased rapidly in the United States and in some emerging market and developing economies. In most cases, rising inflation reflects pandemic-related supply-demand mismatches and higher commodity prices compared to their low base from a year ago</a:t>
            </a:r>
          </a:p>
          <a:p>
            <a:pPr marL="171450" indent="-285750" algn="just" fontAlgn="base">
              <a:lnSpc>
                <a:spcPct val="150000"/>
              </a:lnSpc>
              <a:spcBef>
                <a:spcPts val="100"/>
              </a:spcBef>
              <a:spcAft>
                <a:spcPts val="100"/>
              </a:spcAft>
              <a:buFont typeface="Wingdings" panose="05000000000000000000" pitchFamily="2" charset="2"/>
              <a:buChar char="ü"/>
            </a:pPr>
            <a:r>
              <a:rPr lang="en-US" sz="1400" i="1" dirty="0">
                <a:solidFill>
                  <a:schemeClr val="tx1"/>
                </a:solidFill>
                <a:latin typeface="Gill Sans MT" panose="020B0502020104020203" pitchFamily="34" charset="0"/>
                <a:ea typeface="Calibri" panose="020F0502020204030204" pitchFamily="34" charset="0"/>
                <a:cs typeface="Times New Roman" panose="02020603050405020304" pitchFamily="18" charset="0"/>
              </a:rPr>
              <a:t>Inflation risks are skewed to the upside and could materialize if pandemic-induced supply-demand mismatches continue longer than expected leading to more sustained price pressures and rising inflation expectations that prompt a faster than anticipated monetary normalization in advanced economies</a:t>
            </a:r>
          </a:p>
        </p:txBody>
      </p:sp>
      <p:pic>
        <p:nvPicPr>
          <p:cNvPr id="24" name="Picture 23"/>
          <p:cNvPicPr>
            <a:picLocks noChangeAspect="1"/>
          </p:cNvPicPr>
          <p:nvPr/>
        </p:nvPicPr>
        <p:blipFill>
          <a:blip r:embed="rId2">
            <a:duotone>
              <a:prstClr val="black"/>
              <a:schemeClr val="tx2">
                <a:tint val="45000"/>
                <a:satMod val="400000"/>
              </a:schemeClr>
            </a:duotone>
          </a:blip>
          <a:stretch>
            <a:fillRect/>
          </a:stretch>
        </p:blipFill>
        <p:spPr>
          <a:xfrm>
            <a:off x="7786306" y="2193162"/>
            <a:ext cx="3780891" cy="2113067"/>
          </a:xfrm>
          <a:prstGeom prst="rect">
            <a:avLst/>
          </a:prstGeom>
        </p:spPr>
      </p:pic>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3" name="Slide Number Placeholder 2"/>
          <p:cNvSpPr>
            <a:spLocks noGrp="1"/>
          </p:cNvSpPr>
          <p:nvPr>
            <p:ph type="sldNum" sz="quarter" idx="4"/>
          </p:nvPr>
        </p:nvSpPr>
        <p:spPr/>
        <p:txBody>
          <a:bodyPr/>
          <a:lstStyle/>
          <a:p>
            <a:fld id="{4B17068C-EB94-40A3-A5F2-664CDD77FDAC}" type="slidenum">
              <a:rPr lang="en-GB" smtClean="0"/>
              <a:pPr/>
              <a:t>30</a:t>
            </a:fld>
            <a:endParaRPr lang="en-GB" dirty="0"/>
          </a:p>
        </p:txBody>
      </p:sp>
    </p:spTree>
    <p:extLst>
      <p:ext uri="{BB962C8B-B14F-4D97-AF65-F5344CB8AC3E}">
        <p14:creationId xmlns:p14="http://schemas.microsoft.com/office/powerpoint/2010/main" val="368194935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Macro-Economic Factors: Real GDP Growth</a:t>
            </a:r>
          </a:p>
        </p:txBody>
      </p:sp>
      <p:graphicFrame>
        <p:nvGraphicFramePr>
          <p:cNvPr id="21" name="Chart 20"/>
          <p:cNvGraphicFramePr/>
          <p:nvPr/>
        </p:nvGraphicFramePr>
        <p:xfrm>
          <a:off x="152399" y="1193800"/>
          <a:ext cx="11887201" cy="4980781"/>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p:cNvSpPr txBox="1"/>
          <p:nvPr/>
        </p:nvSpPr>
        <p:spPr>
          <a:xfrm>
            <a:off x="229798" y="6205752"/>
            <a:ext cx="1691169" cy="153888"/>
          </a:xfrm>
          <a:prstGeom prst="rect">
            <a:avLst/>
          </a:prstGeom>
          <a:noFill/>
        </p:spPr>
        <p:txBody>
          <a:bodyPr wrap="none" lIns="0" tIns="0" rIns="0" bIns="0" rtlCol="0">
            <a:spAutoFit/>
          </a:bodyPr>
          <a:lstStyle/>
          <a:p>
            <a:pPr defTabSz="966537"/>
            <a:r>
              <a:rPr lang="en-US" sz="1000" dirty="0"/>
              <a:t>Source: TMR Analysis, 2024, IMF</a:t>
            </a:r>
          </a:p>
        </p:txBody>
      </p:sp>
      <p:sp>
        <p:nvSpPr>
          <p:cNvPr id="3" name="Slide Number Placeholder 2"/>
          <p:cNvSpPr>
            <a:spLocks noGrp="1"/>
          </p:cNvSpPr>
          <p:nvPr>
            <p:ph type="sldNum" sz="quarter" idx="4"/>
          </p:nvPr>
        </p:nvSpPr>
        <p:spPr/>
        <p:txBody>
          <a:bodyPr/>
          <a:lstStyle/>
          <a:p>
            <a:fld id="{4B17068C-EB94-40A3-A5F2-664CDD77FDAC}" type="slidenum">
              <a:rPr lang="en-GB" smtClean="0"/>
              <a:pPr/>
              <a:t>31</a:t>
            </a:fld>
            <a:endParaRPr lang="en-GB" dirty="0"/>
          </a:p>
        </p:txBody>
      </p:sp>
    </p:spTree>
    <p:extLst>
      <p:ext uri="{BB962C8B-B14F-4D97-AF65-F5344CB8AC3E}">
        <p14:creationId xmlns:p14="http://schemas.microsoft.com/office/powerpoint/2010/main" val="19091922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8"/>
          <p:cNvGraphicFramePr>
            <a:graphicFrameLocks noGrp="1"/>
          </p:cNvGraphicFramePr>
          <p:nvPr>
            <p:ph idx="1"/>
          </p:nvPr>
        </p:nvGraphicFramePr>
        <p:xfrm>
          <a:off x="152398" y="1612902"/>
          <a:ext cx="11887201" cy="4369888"/>
        </p:xfrm>
        <a:graphic>
          <a:graphicData uri="http://schemas.openxmlformats.org/drawingml/2006/chart">
            <c:chart xmlns:c="http://schemas.openxmlformats.org/drawingml/2006/chart" xmlns:r="http://schemas.openxmlformats.org/officeDocument/2006/relationships" r:id="rId2"/>
          </a:graphicData>
        </a:graphic>
      </p:graphicFrame>
      <p:sp>
        <p:nvSpPr>
          <p:cNvPr id="3" name="Title 2"/>
          <p:cNvSpPr>
            <a:spLocks noGrp="1"/>
          </p:cNvSpPr>
          <p:nvPr>
            <p:ph type="title"/>
          </p:nvPr>
        </p:nvSpPr>
        <p:spPr/>
        <p:txBody>
          <a:bodyPr/>
          <a:lstStyle/>
          <a:p>
            <a:r>
              <a:rPr lang="en-US" dirty="0"/>
              <a:t>Macro-Economic Factors: Manufacturing Value Added by Key Countries</a:t>
            </a:r>
            <a:endParaRPr lang="en-US" sz="1600" b="0" i="1" dirty="0"/>
          </a:p>
        </p:txBody>
      </p:sp>
      <p:sp>
        <p:nvSpPr>
          <p:cNvPr id="4" name="Text Placeholder 3"/>
          <p:cNvSpPr>
            <a:spLocks noGrp="1"/>
          </p:cNvSpPr>
          <p:nvPr>
            <p:ph type="body" idx="12"/>
          </p:nvPr>
        </p:nvSpPr>
        <p:spPr/>
        <p:txBody>
          <a:bodyPr/>
          <a:lstStyle/>
          <a:p>
            <a:r>
              <a:rPr lang="en-US" dirty="0"/>
              <a:t>Manufacturing Value Added (% of GDP), For Key Countries</a:t>
            </a:r>
          </a:p>
        </p:txBody>
      </p:sp>
      <p:sp>
        <p:nvSpPr>
          <p:cNvPr id="8" name="TextBox 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32</a:t>
            </a:fld>
            <a:endParaRPr lang="en-GB" dirty="0"/>
          </a:p>
        </p:txBody>
      </p:sp>
    </p:spTree>
    <p:extLst>
      <p:ext uri="{BB962C8B-B14F-4D97-AF65-F5344CB8AC3E}">
        <p14:creationId xmlns:p14="http://schemas.microsoft.com/office/powerpoint/2010/main" val="211806167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noAutofit/>
          </a:bodyPr>
          <a:lstStyle/>
          <a:p>
            <a:r>
              <a:rPr lang="en-US" dirty="0"/>
              <a:t>Macro-Economic Factors: Industry Value Added By Key Countries</a:t>
            </a:r>
            <a:br>
              <a:rPr lang="en-US" dirty="0"/>
            </a:br>
            <a:r>
              <a:rPr lang="en-US" sz="1200" b="0" i="1" dirty="0"/>
              <a:t>China has remain a global hub in the manufacturing sector in the past years and is anticipated to dominate the global manufacturing sector in the coming years</a:t>
            </a:r>
            <a:endParaRPr lang="en-US" sz="1800" dirty="0"/>
          </a:p>
        </p:txBody>
      </p:sp>
      <p:sp>
        <p:nvSpPr>
          <p:cNvPr id="4" name="Text Placeholder 3"/>
          <p:cNvSpPr>
            <a:spLocks noGrp="1"/>
          </p:cNvSpPr>
          <p:nvPr>
            <p:ph type="body" idx="12"/>
          </p:nvPr>
        </p:nvSpPr>
        <p:spPr/>
        <p:txBody>
          <a:bodyPr/>
          <a:lstStyle/>
          <a:p>
            <a:r>
              <a:rPr lang="en-US" dirty="0"/>
              <a:t>Industry Value Added (US$ Billion) Key Countries, 2019</a:t>
            </a:r>
          </a:p>
        </p:txBody>
      </p:sp>
      <p:graphicFrame>
        <p:nvGraphicFramePr>
          <p:cNvPr id="6" name="Content Placeholder 8"/>
          <p:cNvGraphicFramePr>
            <a:graphicFrameLocks noGrp="1"/>
          </p:cNvGraphicFramePr>
          <p:nvPr>
            <p:ph idx="4294967295"/>
          </p:nvPr>
        </p:nvGraphicFramePr>
        <p:xfrm>
          <a:off x="152398" y="1613578"/>
          <a:ext cx="11887201" cy="4203700"/>
        </p:xfrm>
        <a:graphic>
          <a:graphicData uri="http://schemas.openxmlformats.org/drawingml/2006/chart">
            <c:chart xmlns:c="http://schemas.openxmlformats.org/drawingml/2006/chart" xmlns:r="http://schemas.openxmlformats.org/officeDocument/2006/relationships" r:id="rId2"/>
          </a:graphicData>
        </a:graphic>
      </p:graphicFrame>
      <p:sp>
        <p:nvSpPr>
          <p:cNvPr id="7" name="Rectangle 6"/>
          <p:cNvSpPr/>
          <p:nvPr/>
        </p:nvSpPr>
        <p:spPr>
          <a:xfrm>
            <a:off x="1542203" y="2032605"/>
            <a:ext cx="9809420" cy="1077218"/>
          </a:xfrm>
          <a:prstGeom prst="rect">
            <a:avLst/>
          </a:prstGeom>
          <a:solidFill>
            <a:schemeClr val="bg1">
              <a:lumMod val="85000"/>
            </a:schemeClr>
          </a:solidFill>
        </p:spPr>
        <p:txBody>
          <a:bodyPr wrap="square">
            <a:spAutoFit/>
          </a:bodyPr>
          <a:lstStyle/>
          <a:p>
            <a:pPr algn="just"/>
            <a:r>
              <a:rPr lang="en-IN" sz="1600" i="1" dirty="0"/>
              <a:t>“Average global industry value added accounted for 114.36 billion U.S. dollars in the year 2019. China owing to prospering manufacturing sector and construction industry dominated the global IVA followed by Germany and India consecutively. Growth in industrial spending and Automotive industry expansion directly impacts the target market positively and is anticipated to bolster the sales in the years to come.”</a:t>
            </a:r>
          </a:p>
        </p:txBody>
      </p:sp>
      <p:sp>
        <p:nvSpPr>
          <p:cNvPr id="11" name="TextBox 10"/>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5" name="Slide Number Placeholder 4"/>
          <p:cNvSpPr>
            <a:spLocks noGrp="1"/>
          </p:cNvSpPr>
          <p:nvPr>
            <p:ph type="sldNum" sz="quarter" idx="4"/>
          </p:nvPr>
        </p:nvSpPr>
        <p:spPr/>
        <p:txBody>
          <a:bodyPr/>
          <a:lstStyle/>
          <a:p>
            <a:fld id="{4B17068C-EB94-40A3-A5F2-664CDD77FDAC}" type="slidenum">
              <a:rPr lang="en-GB" smtClean="0"/>
              <a:pPr/>
              <a:t>33</a:t>
            </a:fld>
            <a:endParaRPr lang="en-GB" dirty="0"/>
          </a:p>
        </p:txBody>
      </p:sp>
    </p:spTree>
    <p:extLst>
      <p:ext uri="{BB962C8B-B14F-4D97-AF65-F5344CB8AC3E}">
        <p14:creationId xmlns:p14="http://schemas.microsoft.com/office/powerpoint/2010/main" val="92988350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GB" dirty="0"/>
              <a:t>Macro-economic Factors: </a:t>
            </a:r>
            <a:r>
              <a:rPr lang="en-US" dirty="0"/>
              <a:t>Global</a:t>
            </a:r>
            <a:r>
              <a:rPr lang="en-GB" dirty="0"/>
              <a:t> Population Overview</a:t>
            </a:r>
            <a:br>
              <a:rPr lang="en-GB" dirty="0"/>
            </a:br>
            <a:r>
              <a:rPr lang="en-US" sz="1400" b="0" i="1" dirty="0"/>
              <a:t>Increased population will lead to a rise in the demand WXYZ products which is used in paint, construction, electronics industry.</a:t>
            </a:r>
          </a:p>
        </p:txBody>
      </p:sp>
      <p:sp>
        <p:nvSpPr>
          <p:cNvPr id="2" name="Slide Number Placeholder 1"/>
          <p:cNvSpPr>
            <a:spLocks noGrp="1"/>
          </p:cNvSpPr>
          <p:nvPr>
            <p:ph type="sldNum" sz="quarter" idx="4"/>
          </p:nvPr>
        </p:nvSpPr>
        <p:spPr/>
        <p:txBody>
          <a:bodyPr/>
          <a:lstStyle/>
          <a:p>
            <a:fld id="{4B17068C-EB94-40A3-A5F2-664CDD77FDAC}" type="slidenum">
              <a:rPr lang="en-GB" smtClean="0"/>
              <a:pPr/>
              <a:t>34</a:t>
            </a:fld>
            <a:endParaRPr lang="en-GB" dirty="0"/>
          </a:p>
        </p:txBody>
      </p:sp>
      <p:sp>
        <p:nvSpPr>
          <p:cNvPr id="8" name="TextBox 7"/>
          <p:cNvSpPr txBox="1"/>
          <p:nvPr/>
        </p:nvSpPr>
        <p:spPr>
          <a:xfrm>
            <a:off x="3897266" y="1042730"/>
            <a:ext cx="6753526" cy="1138773"/>
          </a:xfrm>
          <a:prstGeom prst="rect">
            <a:avLst/>
          </a:prstGeom>
          <a:noFill/>
        </p:spPr>
        <p:txBody>
          <a:bodyPr wrap="square" rtlCol="0">
            <a:spAutoFit/>
          </a:bodyPr>
          <a:lstStyle>
            <a:defPPr>
              <a:defRPr lang="en-US"/>
            </a:defPPr>
            <a:lvl1pPr algn="ctr">
              <a:defRPr sz="1500">
                <a:solidFill>
                  <a:schemeClr val="tx1">
                    <a:lumMod val="85000"/>
                    <a:lumOff val="15000"/>
                  </a:schemeClr>
                </a:solidFill>
                <a:latin typeface="Century Gothic" panose="020B0502020202020204" pitchFamily="34" charset="0"/>
              </a:defRPr>
            </a:lvl1pPr>
          </a:lstStyle>
          <a:p>
            <a:r>
              <a:rPr lang="en-GB" sz="4400" b="1" dirty="0">
                <a:solidFill>
                  <a:schemeClr val="accent1"/>
                </a:solidFill>
              </a:rPr>
              <a:t>6.8%</a:t>
            </a:r>
            <a:r>
              <a:rPr lang="en-GB" sz="2000" b="1" dirty="0"/>
              <a:t> </a:t>
            </a:r>
            <a:r>
              <a:rPr lang="en-GB" sz="1400" dirty="0"/>
              <a:t>increase in </a:t>
            </a:r>
            <a:r>
              <a:rPr lang="en-US" sz="1400" dirty="0"/>
              <a:t>Global</a:t>
            </a:r>
            <a:r>
              <a:rPr lang="en-GB" sz="1400" dirty="0"/>
              <a:t> population is anticipated by 2023, Asia Pacific to dominate with nearly </a:t>
            </a:r>
            <a:r>
              <a:rPr lang="en-GB" sz="2400" b="1" dirty="0">
                <a:solidFill>
                  <a:srgbClr val="C00000"/>
                </a:solidFill>
              </a:rPr>
              <a:t>57.2%</a:t>
            </a:r>
            <a:r>
              <a:rPr lang="en-GB" sz="1400" dirty="0"/>
              <a:t> of the world’s population </a:t>
            </a:r>
          </a:p>
        </p:txBody>
      </p:sp>
      <p:grpSp>
        <p:nvGrpSpPr>
          <p:cNvPr id="9" name="Group 8"/>
          <p:cNvGrpSpPr/>
          <p:nvPr/>
        </p:nvGrpSpPr>
        <p:grpSpPr>
          <a:xfrm>
            <a:off x="128151" y="1052325"/>
            <a:ext cx="3017520" cy="5238750"/>
            <a:chOff x="2841498" y="1051333"/>
            <a:chExt cx="3017520" cy="5238750"/>
          </a:xfrm>
        </p:grpSpPr>
        <p:grpSp>
          <p:nvGrpSpPr>
            <p:cNvPr id="10" name="Group 9"/>
            <p:cNvGrpSpPr/>
            <p:nvPr/>
          </p:nvGrpSpPr>
          <p:grpSpPr>
            <a:xfrm>
              <a:off x="2841498" y="1051333"/>
              <a:ext cx="3017520" cy="5238750"/>
              <a:chOff x="6567486" y="1141095"/>
              <a:chExt cx="3017520" cy="5238750"/>
            </a:xfrm>
          </p:grpSpPr>
          <p:graphicFrame>
            <p:nvGraphicFramePr>
              <p:cNvPr id="14" name="Chart 13"/>
              <p:cNvGraphicFramePr/>
              <p:nvPr/>
            </p:nvGraphicFramePr>
            <p:xfrm>
              <a:off x="6567486" y="1141095"/>
              <a:ext cx="3017520" cy="210312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 name="Chart 14"/>
              <p:cNvGraphicFramePr/>
              <p:nvPr/>
            </p:nvGraphicFramePr>
            <p:xfrm>
              <a:off x="6567486" y="3074670"/>
              <a:ext cx="3017520" cy="18288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Chart 15"/>
              <p:cNvGraphicFramePr/>
              <p:nvPr/>
            </p:nvGraphicFramePr>
            <p:xfrm>
              <a:off x="6567486" y="4733925"/>
              <a:ext cx="3017520" cy="1645920"/>
            </p:xfrm>
            <a:graphic>
              <a:graphicData uri="http://schemas.openxmlformats.org/drawingml/2006/chart">
                <c:chart xmlns:c="http://schemas.openxmlformats.org/drawingml/2006/chart" xmlns:r="http://schemas.openxmlformats.org/officeDocument/2006/relationships" r:id="rId4"/>
              </a:graphicData>
            </a:graphic>
          </p:graphicFrame>
          <p:cxnSp>
            <p:nvCxnSpPr>
              <p:cNvPr id="17" name="Straight Connector 16"/>
              <p:cNvCxnSpPr/>
              <p:nvPr/>
            </p:nvCxnSpPr>
            <p:spPr>
              <a:xfrm>
                <a:off x="7178040" y="2209800"/>
                <a:ext cx="222885" cy="337185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8734425" y="2209800"/>
                <a:ext cx="238125" cy="3371850"/>
              </a:xfrm>
              <a:prstGeom prst="line">
                <a:avLst/>
              </a:prstGeom>
            </p:spPr>
            <p:style>
              <a:lnRef idx="1">
                <a:schemeClr val="accent1"/>
              </a:lnRef>
              <a:fillRef idx="0">
                <a:schemeClr val="accent1"/>
              </a:fillRef>
              <a:effectRef idx="0">
                <a:schemeClr val="accent1"/>
              </a:effectRef>
              <a:fontRef idx="minor">
                <a:schemeClr val="tx1"/>
              </a:fontRef>
            </p:style>
          </p:cxnSp>
        </p:grpSp>
        <p:sp>
          <p:nvSpPr>
            <p:cNvPr id="11" name="TextBox 10"/>
            <p:cNvSpPr txBox="1"/>
            <p:nvPr/>
          </p:nvSpPr>
          <p:spPr>
            <a:xfrm>
              <a:off x="3894928" y="1590973"/>
              <a:ext cx="923651" cy="970458"/>
            </a:xfrm>
            <a:prstGeom prst="rect">
              <a:avLst/>
            </a:prstGeom>
            <a:noFill/>
          </p:spPr>
          <p:txBody>
            <a:bodyPr wrap="none" rtlCol="0">
              <a:spAutoFit/>
            </a:bodyPr>
            <a:lstStyle/>
            <a:p>
              <a:pPr algn="ctr"/>
              <a:r>
                <a:rPr lang="en-GB" dirty="0"/>
                <a:t>7,988.4</a:t>
              </a:r>
            </a:p>
            <a:p>
              <a:pPr algn="ctr"/>
              <a:r>
                <a:rPr lang="en-GB" dirty="0"/>
                <a:t>Million</a:t>
              </a:r>
            </a:p>
            <a:p>
              <a:pPr algn="ctr"/>
              <a:r>
                <a:rPr lang="en-GB" dirty="0"/>
                <a:t>2023</a:t>
              </a:r>
            </a:p>
          </p:txBody>
        </p:sp>
        <p:sp>
          <p:nvSpPr>
            <p:cNvPr id="12" name="TextBox 11"/>
            <p:cNvSpPr txBox="1"/>
            <p:nvPr/>
          </p:nvSpPr>
          <p:spPr>
            <a:xfrm>
              <a:off x="3945378" y="3493132"/>
              <a:ext cx="808235" cy="830997"/>
            </a:xfrm>
            <a:prstGeom prst="rect">
              <a:avLst/>
            </a:prstGeom>
            <a:noFill/>
          </p:spPr>
          <p:txBody>
            <a:bodyPr wrap="none" rtlCol="0">
              <a:spAutoFit/>
            </a:bodyPr>
            <a:lstStyle/>
            <a:p>
              <a:pPr algn="ctr"/>
              <a:r>
                <a:rPr lang="en-GB" sz="1600" dirty="0"/>
                <a:t>7,429.7</a:t>
              </a:r>
            </a:p>
            <a:p>
              <a:pPr algn="ctr"/>
              <a:r>
                <a:rPr lang="en-GB" sz="1600" dirty="0"/>
                <a:t>Million</a:t>
              </a:r>
            </a:p>
            <a:p>
              <a:pPr algn="ctr"/>
              <a:r>
                <a:rPr lang="en-GB" sz="1600" dirty="0"/>
                <a:t>2016</a:t>
              </a:r>
            </a:p>
          </p:txBody>
        </p:sp>
        <p:sp>
          <p:nvSpPr>
            <p:cNvPr id="13" name="TextBox 12"/>
            <p:cNvSpPr txBox="1"/>
            <p:nvPr/>
          </p:nvSpPr>
          <p:spPr>
            <a:xfrm>
              <a:off x="3965577" y="5100457"/>
              <a:ext cx="731290" cy="738664"/>
            </a:xfrm>
            <a:prstGeom prst="rect">
              <a:avLst/>
            </a:prstGeom>
            <a:noFill/>
          </p:spPr>
          <p:txBody>
            <a:bodyPr wrap="none" rtlCol="0">
              <a:spAutoFit/>
            </a:bodyPr>
            <a:lstStyle/>
            <a:p>
              <a:pPr algn="ctr"/>
              <a:r>
                <a:rPr lang="en-GB" sz="1400" dirty="0"/>
                <a:t>7,089.7</a:t>
              </a:r>
            </a:p>
            <a:p>
              <a:pPr algn="ctr"/>
              <a:r>
                <a:rPr lang="en-GB" sz="1400" dirty="0"/>
                <a:t>Million</a:t>
              </a:r>
            </a:p>
            <a:p>
              <a:pPr algn="ctr"/>
              <a:r>
                <a:rPr lang="en-GB" sz="1400" dirty="0"/>
                <a:t>2012</a:t>
              </a:r>
            </a:p>
          </p:txBody>
        </p:sp>
      </p:grpSp>
      <p:pic>
        <p:nvPicPr>
          <p:cNvPr id="19" name="Picture 18"/>
          <p:cNvPicPr>
            <a:picLocks noChangeAspect="1"/>
          </p:cNvPicPr>
          <p:nvPr/>
        </p:nvPicPr>
        <p:blipFill rotWithShape="1">
          <a:blip r:embed="rId5">
            <a:extLst>
              <a:ext uri="{28A0092B-C50C-407E-A947-70E740481C1C}">
                <a14:useLocalDpi xmlns:a14="http://schemas.microsoft.com/office/drawing/2010/main" val="0"/>
              </a:ext>
            </a:extLst>
          </a:blip>
          <a:srcRect l="4820"/>
          <a:stretch/>
        </p:blipFill>
        <p:spPr>
          <a:xfrm>
            <a:off x="3604191" y="2195122"/>
            <a:ext cx="6832561" cy="3988087"/>
          </a:xfrm>
          <a:prstGeom prst="rect">
            <a:avLst/>
          </a:prstGeom>
        </p:spPr>
      </p:pic>
      <p:grpSp>
        <p:nvGrpSpPr>
          <p:cNvPr id="20" name="Group 19"/>
          <p:cNvGrpSpPr/>
          <p:nvPr/>
        </p:nvGrpSpPr>
        <p:grpSpPr>
          <a:xfrm>
            <a:off x="3865853" y="2368663"/>
            <a:ext cx="1904202" cy="1493955"/>
            <a:chOff x="3130507" y="2382100"/>
            <a:chExt cx="1904202" cy="1643351"/>
          </a:xfrm>
        </p:grpSpPr>
        <p:graphicFrame>
          <p:nvGraphicFramePr>
            <p:cNvPr id="21" name="Chart 20"/>
            <p:cNvGraphicFramePr/>
            <p:nvPr/>
          </p:nvGraphicFramePr>
          <p:xfrm>
            <a:off x="3130507" y="2382100"/>
            <a:ext cx="1904202" cy="1643351"/>
          </p:xfrm>
          <a:graphic>
            <a:graphicData uri="http://schemas.openxmlformats.org/drawingml/2006/chart">
              <c:chart xmlns:c="http://schemas.openxmlformats.org/drawingml/2006/chart" xmlns:r="http://schemas.openxmlformats.org/officeDocument/2006/relationships" r:id="rId6"/>
            </a:graphicData>
          </a:graphic>
        </p:graphicFrame>
        <p:sp>
          <p:nvSpPr>
            <p:cNvPr id="22" name="TextBox 21"/>
            <p:cNvSpPr txBox="1"/>
            <p:nvPr/>
          </p:nvSpPr>
          <p:spPr>
            <a:xfrm>
              <a:off x="3787000" y="3690135"/>
              <a:ext cx="986167" cy="279308"/>
            </a:xfrm>
            <a:prstGeom prst="rect">
              <a:avLst/>
            </a:prstGeom>
            <a:noFill/>
          </p:spPr>
          <p:txBody>
            <a:bodyPr wrap="none" rtlCol="0">
              <a:spAutoFit/>
            </a:bodyPr>
            <a:lstStyle/>
            <a:p>
              <a:pPr algn="ctr"/>
              <a:r>
                <a:rPr lang="en-GB" sz="1050" dirty="0"/>
                <a:t>North America</a:t>
              </a:r>
            </a:p>
          </p:txBody>
        </p:sp>
      </p:grpSp>
      <p:grpSp>
        <p:nvGrpSpPr>
          <p:cNvPr id="23" name="Group 22"/>
          <p:cNvGrpSpPr/>
          <p:nvPr/>
        </p:nvGrpSpPr>
        <p:grpSpPr>
          <a:xfrm>
            <a:off x="3919097" y="4614556"/>
            <a:ext cx="1904202" cy="1493955"/>
            <a:chOff x="3139683" y="4539857"/>
            <a:chExt cx="1904202" cy="1643351"/>
          </a:xfrm>
        </p:grpSpPr>
        <p:graphicFrame>
          <p:nvGraphicFramePr>
            <p:cNvPr id="24" name="Chart 23"/>
            <p:cNvGraphicFramePr/>
            <p:nvPr/>
          </p:nvGraphicFramePr>
          <p:xfrm>
            <a:off x="3139683" y="4539857"/>
            <a:ext cx="1904202" cy="1643351"/>
          </p:xfrm>
          <a:graphic>
            <a:graphicData uri="http://schemas.openxmlformats.org/drawingml/2006/chart">
              <c:chart xmlns:c="http://schemas.openxmlformats.org/drawingml/2006/chart" xmlns:r="http://schemas.openxmlformats.org/officeDocument/2006/relationships" r:id="rId7"/>
            </a:graphicData>
          </a:graphic>
        </p:graphicFrame>
        <p:sp>
          <p:nvSpPr>
            <p:cNvPr id="25" name="TextBox 24"/>
            <p:cNvSpPr txBox="1"/>
            <p:nvPr/>
          </p:nvSpPr>
          <p:spPr>
            <a:xfrm>
              <a:off x="3822626" y="5825576"/>
              <a:ext cx="933269" cy="279308"/>
            </a:xfrm>
            <a:prstGeom prst="rect">
              <a:avLst/>
            </a:prstGeom>
            <a:noFill/>
          </p:spPr>
          <p:txBody>
            <a:bodyPr wrap="none" rtlCol="0">
              <a:spAutoFit/>
            </a:bodyPr>
            <a:lstStyle/>
            <a:p>
              <a:pPr algn="ctr"/>
              <a:r>
                <a:rPr lang="en-GB" sz="1050" dirty="0"/>
                <a:t>Latin America</a:t>
              </a:r>
            </a:p>
          </p:txBody>
        </p:sp>
      </p:grpSp>
      <p:grpSp>
        <p:nvGrpSpPr>
          <p:cNvPr id="26" name="Group 25"/>
          <p:cNvGrpSpPr/>
          <p:nvPr/>
        </p:nvGrpSpPr>
        <p:grpSpPr>
          <a:xfrm>
            <a:off x="6008631" y="3709354"/>
            <a:ext cx="1904202" cy="1493955"/>
            <a:chOff x="5460574" y="3458385"/>
            <a:chExt cx="1904202" cy="1643351"/>
          </a:xfrm>
        </p:grpSpPr>
        <p:graphicFrame>
          <p:nvGraphicFramePr>
            <p:cNvPr id="27" name="Chart 26"/>
            <p:cNvGraphicFramePr/>
            <p:nvPr/>
          </p:nvGraphicFramePr>
          <p:xfrm>
            <a:off x="5460574" y="3458385"/>
            <a:ext cx="1904202" cy="1643351"/>
          </p:xfrm>
          <a:graphic>
            <a:graphicData uri="http://schemas.openxmlformats.org/drawingml/2006/chart">
              <c:chart xmlns:c="http://schemas.openxmlformats.org/drawingml/2006/chart" xmlns:r="http://schemas.openxmlformats.org/officeDocument/2006/relationships" r:id="rId8"/>
            </a:graphicData>
          </a:graphic>
        </p:graphicFrame>
        <p:sp>
          <p:nvSpPr>
            <p:cNvPr id="28" name="TextBox 27"/>
            <p:cNvSpPr txBox="1"/>
            <p:nvPr/>
          </p:nvSpPr>
          <p:spPr>
            <a:xfrm>
              <a:off x="5984647" y="4711037"/>
              <a:ext cx="1298752" cy="279308"/>
            </a:xfrm>
            <a:prstGeom prst="rect">
              <a:avLst/>
            </a:prstGeom>
            <a:noFill/>
          </p:spPr>
          <p:txBody>
            <a:bodyPr wrap="none" rtlCol="0">
              <a:spAutoFit/>
            </a:bodyPr>
            <a:lstStyle/>
            <a:p>
              <a:pPr algn="ctr"/>
              <a:r>
                <a:rPr lang="en-GB" sz="1050" dirty="0"/>
                <a:t>Middle East &amp; Africa</a:t>
              </a:r>
            </a:p>
          </p:txBody>
        </p:sp>
      </p:grpSp>
      <p:grpSp>
        <p:nvGrpSpPr>
          <p:cNvPr id="29" name="Group 28"/>
          <p:cNvGrpSpPr/>
          <p:nvPr/>
        </p:nvGrpSpPr>
        <p:grpSpPr>
          <a:xfrm>
            <a:off x="7101134" y="2409347"/>
            <a:ext cx="1904202" cy="1493955"/>
            <a:chOff x="6993755" y="2301597"/>
            <a:chExt cx="1904202" cy="1643351"/>
          </a:xfrm>
        </p:grpSpPr>
        <p:graphicFrame>
          <p:nvGraphicFramePr>
            <p:cNvPr id="30" name="Chart 29"/>
            <p:cNvGraphicFramePr/>
            <p:nvPr/>
          </p:nvGraphicFramePr>
          <p:xfrm>
            <a:off x="6993755" y="2301597"/>
            <a:ext cx="1904202" cy="1643351"/>
          </p:xfrm>
          <a:graphic>
            <a:graphicData uri="http://schemas.openxmlformats.org/drawingml/2006/chart">
              <c:chart xmlns:c="http://schemas.openxmlformats.org/drawingml/2006/chart" xmlns:r="http://schemas.openxmlformats.org/officeDocument/2006/relationships" r:id="rId9"/>
            </a:graphicData>
          </a:graphic>
        </p:graphicFrame>
        <p:sp>
          <p:nvSpPr>
            <p:cNvPr id="31" name="TextBox 30"/>
            <p:cNvSpPr txBox="1"/>
            <p:nvPr/>
          </p:nvSpPr>
          <p:spPr>
            <a:xfrm>
              <a:off x="7853598" y="3552430"/>
              <a:ext cx="575799" cy="279308"/>
            </a:xfrm>
            <a:prstGeom prst="rect">
              <a:avLst/>
            </a:prstGeom>
            <a:noFill/>
          </p:spPr>
          <p:txBody>
            <a:bodyPr wrap="none" rtlCol="0">
              <a:spAutoFit/>
            </a:bodyPr>
            <a:lstStyle/>
            <a:p>
              <a:pPr algn="ctr"/>
              <a:r>
                <a:rPr lang="en-GB" sz="1050" dirty="0"/>
                <a:t>Europe</a:t>
              </a:r>
            </a:p>
          </p:txBody>
        </p:sp>
      </p:grpSp>
      <p:grpSp>
        <p:nvGrpSpPr>
          <p:cNvPr id="32" name="Group 31"/>
          <p:cNvGrpSpPr/>
          <p:nvPr/>
        </p:nvGrpSpPr>
        <p:grpSpPr>
          <a:xfrm>
            <a:off x="8077965" y="4592522"/>
            <a:ext cx="1904202" cy="1493955"/>
            <a:chOff x="7067200" y="4539857"/>
            <a:chExt cx="1904202" cy="1643351"/>
          </a:xfrm>
        </p:grpSpPr>
        <p:graphicFrame>
          <p:nvGraphicFramePr>
            <p:cNvPr id="33" name="Chart 32"/>
            <p:cNvGraphicFramePr/>
            <p:nvPr/>
          </p:nvGraphicFramePr>
          <p:xfrm>
            <a:off x="7067200" y="4539857"/>
            <a:ext cx="1904202" cy="1643351"/>
          </p:xfrm>
          <a:graphic>
            <a:graphicData uri="http://schemas.openxmlformats.org/drawingml/2006/chart">
              <c:chart xmlns:c="http://schemas.openxmlformats.org/drawingml/2006/chart" xmlns:r="http://schemas.openxmlformats.org/officeDocument/2006/relationships" r:id="rId10"/>
            </a:graphicData>
          </a:graphic>
        </p:graphicFrame>
        <p:sp>
          <p:nvSpPr>
            <p:cNvPr id="34" name="TextBox 33"/>
            <p:cNvSpPr txBox="1"/>
            <p:nvPr/>
          </p:nvSpPr>
          <p:spPr>
            <a:xfrm>
              <a:off x="8019435" y="5831086"/>
              <a:ext cx="482824" cy="279308"/>
            </a:xfrm>
            <a:prstGeom prst="rect">
              <a:avLst/>
            </a:prstGeom>
            <a:noFill/>
          </p:spPr>
          <p:txBody>
            <a:bodyPr wrap="none" rtlCol="0">
              <a:spAutoFit/>
            </a:bodyPr>
            <a:lstStyle/>
            <a:p>
              <a:pPr algn="ctr"/>
              <a:r>
                <a:rPr lang="en-GB" sz="1050" dirty="0"/>
                <a:t>APAC</a:t>
              </a:r>
            </a:p>
          </p:txBody>
        </p:sp>
      </p:grpSp>
      <p:sp>
        <p:nvSpPr>
          <p:cNvPr id="35" name="Rectangle 34"/>
          <p:cNvSpPr/>
          <p:nvPr/>
        </p:nvSpPr>
        <p:spPr>
          <a:xfrm>
            <a:off x="10208081" y="5884251"/>
            <a:ext cx="1452642" cy="261610"/>
          </a:xfrm>
          <a:prstGeom prst="rect">
            <a:avLst/>
          </a:prstGeom>
        </p:spPr>
        <p:txBody>
          <a:bodyPr wrap="none">
            <a:spAutoFit/>
          </a:bodyPr>
          <a:lstStyle/>
          <a:p>
            <a:pPr algn="ctr"/>
            <a:r>
              <a:rPr lang="en-GB" sz="1050" b="1" dirty="0"/>
              <a:t>*All Figures In Million</a:t>
            </a:r>
          </a:p>
        </p:txBody>
      </p:sp>
      <p:sp>
        <p:nvSpPr>
          <p:cNvPr id="36" name="Rounded Rectangle 35"/>
          <p:cNvSpPr/>
          <p:nvPr/>
        </p:nvSpPr>
        <p:spPr>
          <a:xfrm>
            <a:off x="300445" y="1122220"/>
            <a:ext cx="11534503" cy="4986292"/>
          </a:xfrm>
          <a:prstGeom prst="roundRect">
            <a:avLst>
              <a:gd name="adj" fmla="val 1462"/>
            </a:avLst>
          </a:prstGeom>
          <a:noFill/>
          <a:ln w="28575">
            <a:solidFill>
              <a:srgbClr val="00206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8" name="TextBox 3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Tree>
    <p:extLst>
      <p:ext uri="{BB962C8B-B14F-4D97-AF65-F5344CB8AC3E}">
        <p14:creationId xmlns:p14="http://schemas.microsoft.com/office/powerpoint/2010/main" val="25704727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3"/>
          <p:cNvSpPr>
            <a:spLocks noGrp="1"/>
          </p:cNvSpPr>
          <p:nvPr>
            <p:ph type="title"/>
          </p:nvPr>
        </p:nvSpPr>
        <p:spPr/>
        <p:txBody>
          <a:bodyPr/>
          <a:lstStyle/>
          <a:p>
            <a:r>
              <a:rPr lang="en-US"/>
              <a:t>Macro-Economic Factors: Global Oil &amp; Gas Consumption Forecast Outlook</a:t>
            </a:r>
            <a:endParaRPr lang="en-US" dirty="0"/>
          </a:p>
        </p:txBody>
      </p:sp>
      <p:sp>
        <p:nvSpPr>
          <p:cNvPr id="2" name="Slide Number Placeholder 1"/>
          <p:cNvSpPr>
            <a:spLocks noGrp="1"/>
          </p:cNvSpPr>
          <p:nvPr>
            <p:ph type="sldNum" sz="quarter" idx="4"/>
          </p:nvPr>
        </p:nvSpPr>
        <p:spPr/>
        <p:txBody>
          <a:bodyPr/>
          <a:lstStyle/>
          <a:p>
            <a:fld id="{4B17068C-EB94-40A3-A5F2-664CDD77FDAC}" type="slidenum">
              <a:rPr lang="en-GB" smtClean="0"/>
              <a:pPr/>
              <a:t>35</a:t>
            </a:fld>
            <a:endParaRPr lang="en-GB" dirty="0"/>
          </a:p>
        </p:txBody>
      </p:sp>
      <p:sp>
        <p:nvSpPr>
          <p:cNvPr id="18" name="Text Placeholder 4"/>
          <p:cNvSpPr>
            <a:spLocks noGrp="1"/>
          </p:cNvSpPr>
          <p:nvPr>
            <p:ph type="body" idx="12"/>
          </p:nvPr>
        </p:nvSpPr>
        <p:spPr/>
        <p:txBody>
          <a:bodyPr/>
          <a:lstStyle/>
          <a:p>
            <a:r>
              <a:rPr lang="en-US"/>
              <a:t>Global Oil &amp; Gas Consumption Forecast Outlook</a:t>
            </a:r>
            <a:endParaRPr lang="en-US" dirty="0"/>
          </a:p>
        </p:txBody>
      </p:sp>
      <p:graphicFrame>
        <p:nvGraphicFramePr>
          <p:cNvPr id="20" name="Chart Placeholder 26"/>
          <p:cNvGraphicFramePr>
            <a:graphicFrameLocks/>
          </p:cNvGraphicFramePr>
          <p:nvPr>
            <p:extLst>
              <p:ext uri="{D42A27DB-BD31-4B8C-83A1-F6EECF244321}">
                <p14:modId xmlns:p14="http://schemas.microsoft.com/office/powerpoint/2010/main" val="761898367"/>
              </p:ext>
            </p:extLst>
          </p:nvPr>
        </p:nvGraphicFramePr>
        <p:xfrm>
          <a:off x="152399" y="2109522"/>
          <a:ext cx="11887201" cy="3771900"/>
        </p:xfrm>
        <a:graphic>
          <a:graphicData uri="http://schemas.openxmlformats.org/drawingml/2006/chart">
            <c:chart xmlns:c="http://schemas.openxmlformats.org/drawingml/2006/chart" xmlns:r="http://schemas.openxmlformats.org/officeDocument/2006/relationships" r:id="rId2"/>
          </a:graphicData>
        </a:graphic>
      </p:graphicFrame>
      <p:sp>
        <p:nvSpPr>
          <p:cNvPr id="21" name="Rectangle 20"/>
          <p:cNvSpPr/>
          <p:nvPr/>
        </p:nvSpPr>
        <p:spPr>
          <a:xfrm>
            <a:off x="1179830" y="1599354"/>
            <a:ext cx="9751498" cy="338554"/>
          </a:xfrm>
          <a:prstGeom prst="rect">
            <a:avLst/>
          </a:prstGeom>
        </p:spPr>
        <p:txBody>
          <a:bodyPr wrap="square">
            <a:spAutoFit/>
          </a:bodyPr>
          <a:lstStyle/>
          <a:p>
            <a:r>
              <a:rPr lang="en-US" sz="1600" b="1" dirty="0"/>
              <a:t>World petroleum and other liquid fuels consumption is estimated to grow by 18% between 2015 and 2040</a:t>
            </a:r>
          </a:p>
        </p:txBody>
      </p:sp>
      <p:sp>
        <p:nvSpPr>
          <p:cNvPr id="8" name="TextBox 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Tree>
    <p:extLst>
      <p:ext uri="{BB962C8B-B14F-4D97-AF65-F5344CB8AC3E}">
        <p14:creationId xmlns:p14="http://schemas.microsoft.com/office/powerpoint/2010/main" val="78139520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2"/>
          <p:cNvSpPr>
            <a:spLocks noGrp="1"/>
          </p:cNvSpPr>
          <p:nvPr>
            <p:ph type="title"/>
          </p:nvPr>
        </p:nvSpPr>
        <p:spPr/>
        <p:txBody>
          <a:bodyPr/>
          <a:lstStyle/>
          <a:p>
            <a:r>
              <a:rPr lang="en-US" dirty="0"/>
              <a:t>Global Crude Oil Production and Demand Overview </a:t>
            </a:r>
            <a:endParaRPr lang="en-IN" dirty="0"/>
          </a:p>
        </p:txBody>
      </p:sp>
      <p:sp>
        <p:nvSpPr>
          <p:cNvPr id="11" name="Text Placeholder 3"/>
          <p:cNvSpPr>
            <a:spLocks noGrp="1"/>
          </p:cNvSpPr>
          <p:nvPr>
            <p:ph type="body" idx="12"/>
          </p:nvPr>
        </p:nvSpPr>
        <p:spPr/>
        <p:txBody>
          <a:bodyPr/>
          <a:lstStyle/>
          <a:p>
            <a:r>
              <a:rPr lang="en-IN" dirty="0"/>
              <a:t>Global Crude Oil Demand, by Volume, by Regions, 2021 </a:t>
            </a:r>
          </a:p>
        </p:txBody>
      </p:sp>
      <p:sp>
        <p:nvSpPr>
          <p:cNvPr id="12" name="Text Placeholder 6"/>
          <p:cNvSpPr>
            <a:spLocks noGrp="1"/>
          </p:cNvSpPr>
          <p:nvPr>
            <p:ph type="body" idx="14"/>
          </p:nvPr>
        </p:nvSpPr>
        <p:spPr/>
        <p:txBody>
          <a:bodyPr/>
          <a:lstStyle/>
          <a:p>
            <a:r>
              <a:rPr lang="en-US" dirty="0"/>
              <a:t>Global Crude Oil Production, by Volume, by Key Countries, 2021 </a:t>
            </a:r>
          </a:p>
        </p:txBody>
      </p:sp>
      <p:sp>
        <p:nvSpPr>
          <p:cNvPr id="16" name="TextBox 1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7" name="Content Placeholder 15"/>
          <p:cNvGraphicFramePr>
            <a:graphicFrameLocks noGrp="1"/>
          </p:cNvGraphicFramePr>
          <p:nvPr>
            <p:ph idx="1"/>
            <p:extLst>
              <p:ext uri="{D42A27DB-BD31-4B8C-83A1-F6EECF244321}">
                <p14:modId xmlns:p14="http://schemas.microsoft.com/office/powerpoint/2010/main" val="3290926102"/>
              </p:ext>
            </p:extLst>
          </p:nvPr>
        </p:nvGraphicFramePr>
        <p:xfrm>
          <a:off x="152400" y="1612900"/>
          <a:ext cx="5764213" cy="459422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 name="Content Placeholder 21"/>
          <p:cNvGraphicFramePr>
            <a:graphicFrameLocks noGrp="1"/>
          </p:cNvGraphicFramePr>
          <p:nvPr>
            <p:ph idx="13"/>
            <p:extLst>
              <p:ext uri="{D42A27DB-BD31-4B8C-83A1-F6EECF244321}">
                <p14:modId xmlns:p14="http://schemas.microsoft.com/office/powerpoint/2010/main" val="1513890768"/>
              </p:ext>
            </p:extLst>
          </p:nvPr>
        </p:nvGraphicFramePr>
        <p:xfrm>
          <a:off x="6278563" y="1612900"/>
          <a:ext cx="5764212" cy="4594225"/>
        </p:xfrm>
        <a:graphic>
          <a:graphicData uri="http://schemas.openxmlformats.org/drawingml/2006/chart">
            <c:chart xmlns:c="http://schemas.openxmlformats.org/drawingml/2006/chart" xmlns:r="http://schemas.openxmlformats.org/officeDocument/2006/relationships" r:id="rId3"/>
          </a:graphicData>
        </a:graphic>
      </p:graphicFrame>
      <p:sp>
        <p:nvSpPr>
          <p:cNvPr id="3" name="Slide Number Placeholder 2"/>
          <p:cNvSpPr>
            <a:spLocks noGrp="1"/>
          </p:cNvSpPr>
          <p:nvPr>
            <p:ph type="sldNum" sz="quarter" idx="4"/>
          </p:nvPr>
        </p:nvSpPr>
        <p:spPr/>
        <p:txBody>
          <a:bodyPr/>
          <a:lstStyle/>
          <a:p>
            <a:fld id="{4B17068C-EB94-40A3-A5F2-664CDD77FDAC}" type="slidenum">
              <a:rPr lang="en-GB" smtClean="0"/>
              <a:pPr/>
              <a:t>36</a:t>
            </a:fld>
            <a:endParaRPr lang="en-GB" dirty="0"/>
          </a:p>
        </p:txBody>
      </p:sp>
    </p:spTree>
    <p:extLst>
      <p:ext uri="{BB962C8B-B14F-4D97-AF65-F5344CB8AC3E}">
        <p14:creationId xmlns:p14="http://schemas.microsoft.com/office/powerpoint/2010/main" val="130388367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Macro-economic Factors: </a:t>
            </a:r>
            <a:r>
              <a:rPr lang="en-US" dirty="0"/>
              <a:t>Global Fiber Production Overview </a:t>
            </a:r>
          </a:p>
        </p:txBody>
      </p:sp>
      <p:grpSp>
        <p:nvGrpSpPr>
          <p:cNvPr id="9" name="Group 8"/>
          <p:cNvGrpSpPr/>
          <p:nvPr/>
        </p:nvGrpSpPr>
        <p:grpSpPr>
          <a:xfrm>
            <a:off x="152399" y="1245199"/>
            <a:ext cx="11824075" cy="4582886"/>
            <a:chOff x="125730" y="1027002"/>
            <a:chExt cx="9691371" cy="4891198"/>
          </a:xfrm>
        </p:grpSpPr>
        <p:sp>
          <p:nvSpPr>
            <p:cNvPr id="5" name="Rounded Rectangle 4"/>
            <p:cNvSpPr/>
            <p:nvPr/>
          </p:nvSpPr>
          <p:spPr>
            <a:xfrm>
              <a:off x="125730" y="1027002"/>
              <a:ext cx="4902784" cy="394635"/>
            </a:xfrm>
            <a:prstGeom prst="roundRect">
              <a:avLst>
                <a:gd name="adj" fmla="val 47290"/>
              </a:avLst>
            </a:prstGeom>
            <a:solidFill>
              <a:schemeClr val="accent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cs typeface="Lao UI" panose="020B0502040204020203" pitchFamily="34" charset="0"/>
                </a:rPr>
                <a:t>Global Fiber Production, 2021</a:t>
              </a:r>
              <a:endParaRPr lang="en-US" sz="1200" b="1" dirty="0">
                <a:solidFill>
                  <a:schemeClr val="bg1"/>
                </a:solidFill>
                <a:cs typeface="Lao UI" panose="020B0502040204020203" pitchFamily="34" charset="0"/>
              </a:endParaRPr>
            </a:p>
          </p:txBody>
        </p:sp>
        <p:sp>
          <p:nvSpPr>
            <p:cNvPr id="7" name="Rounded Rectangle 6"/>
            <p:cNvSpPr/>
            <p:nvPr/>
          </p:nvSpPr>
          <p:spPr>
            <a:xfrm>
              <a:off x="5626101" y="1027002"/>
              <a:ext cx="4102100" cy="394635"/>
            </a:xfrm>
            <a:prstGeom prst="roundRect">
              <a:avLst>
                <a:gd name="adj" fmla="val 47290"/>
              </a:avLst>
            </a:prstGeom>
            <a:solidFill>
              <a:schemeClr val="accent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cs typeface="Lao UI" panose="020B0502040204020203" pitchFamily="34" charset="0"/>
                </a:rPr>
                <a:t>Key Takeaways</a:t>
              </a:r>
              <a:endParaRPr lang="en-US" sz="1200" b="1" dirty="0">
                <a:solidFill>
                  <a:schemeClr val="bg1"/>
                </a:solidFill>
                <a:cs typeface="Lao UI" panose="020B0502040204020203" pitchFamily="34" charset="0"/>
              </a:endParaRPr>
            </a:p>
          </p:txBody>
        </p:sp>
        <p:sp>
          <p:nvSpPr>
            <p:cNvPr id="8" name="Rounded Rectangle 7"/>
            <p:cNvSpPr/>
            <p:nvPr/>
          </p:nvSpPr>
          <p:spPr>
            <a:xfrm>
              <a:off x="5486400" y="1526082"/>
              <a:ext cx="4330701" cy="4392118"/>
            </a:xfrm>
            <a:prstGeom prst="roundRect">
              <a:avLst>
                <a:gd name="adj" fmla="val 4644"/>
              </a:avLst>
            </a:prstGeom>
            <a:solidFill>
              <a:schemeClr val="bg1">
                <a:lumMod val="95000"/>
              </a:schemeClr>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indent="-285750" algn="just">
                <a:spcBef>
                  <a:spcPts val="600"/>
                </a:spcBef>
                <a:spcAft>
                  <a:spcPts val="600"/>
                </a:spcAft>
                <a:buFont typeface="Wingdings" panose="05000000000000000000" pitchFamily="2" charset="2"/>
                <a:buChar char="q"/>
              </a:pPr>
              <a:endParaRPr lang="en-US" sz="1400" i="1" dirty="0">
                <a:solidFill>
                  <a:schemeClr val="tx1"/>
                </a:solidFill>
              </a:endParaRPr>
            </a:p>
            <a:p>
              <a:pPr marL="285750" indent="-285750" algn="just">
                <a:spcBef>
                  <a:spcPts val="600"/>
                </a:spcBef>
                <a:spcAft>
                  <a:spcPts val="600"/>
                </a:spcAft>
                <a:buFont typeface="Wingdings" panose="05000000000000000000" pitchFamily="2" charset="2"/>
                <a:buChar char="q"/>
              </a:pPr>
              <a:r>
                <a:rPr lang="en-US" sz="1400" i="1" dirty="0">
                  <a:solidFill>
                    <a:schemeClr val="tx1"/>
                  </a:solidFill>
                </a:rPr>
                <a:t>Polyester dominates the global fiber production landscape with a substantial 54.0% share, showcasing its widespread use across diverse industries. This signifies the material's versatility, particularly in applications such as automotive, textiles, and construction, driving the high demand for polyester fibers.</a:t>
              </a:r>
            </a:p>
            <a:p>
              <a:pPr marL="285750" indent="-285750" algn="just">
                <a:spcBef>
                  <a:spcPts val="600"/>
                </a:spcBef>
                <a:spcAft>
                  <a:spcPts val="600"/>
                </a:spcAft>
                <a:buFont typeface="Wingdings" panose="05000000000000000000" pitchFamily="2" charset="2"/>
                <a:buChar char="q"/>
              </a:pPr>
              <a:endParaRPr lang="en-US" sz="1400" i="1" dirty="0">
                <a:solidFill>
                  <a:schemeClr val="tx1"/>
                </a:solidFill>
              </a:endParaRPr>
            </a:p>
            <a:p>
              <a:pPr marL="285750" indent="-285750" algn="just">
                <a:spcBef>
                  <a:spcPts val="600"/>
                </a:spcBef>
                <a:spcAft>
                  <a:spcPts val="600"/>
                </a:spcAft>
                <a:buFont typeface="Wingdings" panose="05000000000000000000" pitchFamily="2" charset="2"/>
                <a:buChar char="q"/>
              </a:pPr>
              <a:r>
                <a:rPr lang="en-US" sz="1400" i="1" dirty="0">
                  <a:solidFill>
                    <a:schemeClr val="tx1"/>
                  </a:solidFill>
                </a:rPr>
                <a:t>Natural fibers like cotton and man-made cellulose fibers collectively constitute a significant 28.4% share, emphasizing the enduring demand for sustainable and eco-friendly alternatives in the evolving landscape of high-performance fibers.</a:t>
              </a:r>
            </a:p>
          </p:txBody>
        </p:sp>
      </p:grpSp>
      <p:graphicFrame>
        <p:nvGraphicFramePr>
          <p:cNvPr id="11" name="Content Placeholder 10"/>
          <p:cNvGraphicFramePr>
            <a:graphicFrameLocks/>
          </p:cNvGraphicFramePr>
          <p:nvPr/>
        </p:nvGraphicFramePr>
        <p:xfrm>
          <a:off x="152399" y="1678190"/>
          <a:ext cx="5981701" cy="4149896"/>
        </p:xfrm>
        <a:graphic>
          <a:graphicData uri="http://schemas.openxmlformats.org/drawingml/2006/chart">
            <c:chart xmlns:c="http://schemas.openxmlformats.org/drawingml/2006/chart" xmlns:r="http://schemas.openxmlformats.org/officeDocument/2006/relationships" r:id="rId2"/>
          </a:graphicData>
        </a:graphic>
      </p:graphicFrame>
      <p:sp>
        <p:nvSpPr>
          <p:cNvPr id="12" name="TextBox 11"/>
          <p:cNvSpPr txBox="1"/>
          <p:nvPr/>
        </p:nvSpPr>
        <p:spPr>
          <a:xfrm>
            <a:off x="229798" y="6205752"/>
            <a:ext cx="2981585" cy="153888"/>
          </a:xfrm>
          <a:prstGeom prst="rect">
            <a:avLst/>
          </a:prstGeom>
          <a:noFill/>
        </p:spPr>
        <p:txBody>
          <a:bodyPr wrap="none" lIns="0" tIns="0" rIns="0" bIns="0" rtlCol="0">
            <a:spAutoFit/>
          </a:bodyPr>
          <a:lstStyle/>
          <a:p>
            <a:pPr defTabSz="966537"/>
            <a:r>
              <a:rPr lang="en-US" sz="1000" dirty="0"/>
              <a:t>Source: TMR Analysis, 2024, </a:t>
            </a:r>
            <a:r>
              <a:rPr lang="en-US" sz="1000" dirty="0">
                <a:solidFill>
                  <a:srgbClr val="000000"/>
                </a:solidFill>
              </a:rPr>
              <a:t>Textile Exchange Association</a:t>
            </a:r>
            <a:endParaRPr lang="en-US" sz="1000" dirty="0"/>
          </a:p>
        </p:txBody>
      </p:sp>
      <p:sp>
        <p:nvSpPr>
          <p:cNvPr id="4" name="Slide Number Placeholder 3"/>
          <p:cNvSpPr>
            <a:spLocks noGrp="1"/>
          </p:cNvSpPr>
          <p:nvPr>
            <p:ph type="sldNum" sz="quarter" idx="4"/>
          </p:nvPr>
        </p:nvSpPr>
        <p:spPr/>
        <p:txBody>
          <a:bodyPr/>
          <a:lstStyle/>
          <a:p>
            <a:fld id="{4B17068C-EB94-40A3-A5F2-664CDD77FDAC}" type="slidenum">
              <a:rPr lang="en-GB" smtClean="0"/>
              <a:pPr/>
              <a:t>37</a:t>
            </a:fld>
            <a:endParaRPr lang="en-GB" dirty="0"/>
          </a:p>
        </p:txBody>
      </p:sp>
    </p:spTree>
    <p:extLst>
      <p:ext uri="{BB962C8B-B14F-4D97-AF65-F5344CB8AC3E}">
        <p14:creationId xmlns:p14="http://schemas.microsoft.com/office/powerpoint/2010/main" val="169138698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Macro-economic Factors: </a:t>
            </a:r>
            <a:r>
              <a:rPr lang="en-US" dirty="0"/>
              <a:t>Global Textile Production, by Country</a:t>
            </a:r>
          </a:p>
        </p:txBody>
      </p:sp>
      <p:grpSp>
        <p:nvGrpSpPr>
          <p:cNvPr id="9" name="Group 8"/>
          <p:cNvGrpSpPr/>
          <p:nvPr/>
        </p:nvGrpSpPr>
        <p:grpSpPr>
          <a:xfrm>
            <a:off x="152399" y="1147338"/>
            <a:ext cx="11887201" cy="4973787"/>
            <a:chOff x="125730" y="922557"/>
            <a:chExt cx="9743111" cy="5308397"/>
          </a:xfrm>
        </p:grpSpPr>
        <p:sp>
          <p:nvSpPr>
            <p:cNvPr id="4" name="Rounded Rectangle 3"/>
            <p:cNvSpPr/>
            <p:nvPr/>
          </p:nvSpPr>
          <p:spPr>
            <a:xfrm>
              <a:off x="125731" y="922557"/>
              <a:ext cx="9743110" cy="5308397"/>
            </a:xfrm>
            <a:prstGeom prst="roundRect">
              <a:avLst>
                <a:gd name="adj" fmla="val 1429"/>
              </a:avLst>
            </a:prstGeom>
            <a:noFill/>
            <a:ln>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 name="Rounded Rectangle 4"/>
            <p:cNvSpPr/>
            <p:nvPr/>
          </p:nvSpPr>
          <p:spPr>
            <a:xfrm>
              <a:off x="220013" y="1027002"/>
              <a:ext cx="4339287" cy="394635"/>
            </a:xfrm>
            <a:prstGeom prst="roundRect">
              <a:avLst>
                <a:gd name="adj" fmla="val 47290"/>
              </a:avLst>
            </a:prstGeom>
            <a:solidFill>
              <a:schemeClr val="accent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cs typeface="Lao UI" panose="020B0502040204020203" pitchFamily="34" charset="0"/>
                </a:rPr>
                <a:t>Global Textile Production, by Country, 2022</a:t>
              </a:r>
              <a:endParaRPr lang="en-US" sz="1200" b="1" dirty="0">
                <a:solidFill>
                  <a:schemeClr val="bg1"/>
                </a:solidFill>
                <a:cs typeface="Lao UI" panose="020B0502040204020203" pitchFamily="34" charset="0"/>
              </a:endParaRPr>
            </a:p>
          </p:txBody>
        </p:sp>
        <p:graphicFrame>
          <p:nvGraphicFramePr>
            <p:cNvPr id="6" name="Content Placeholder 9"/>
            <p:cNvGraphicFramePr>
              <a:graphicFrameLocks/>
            </p:cNvGraphicFramePr>
            <p:nvPr/>
          </p:nvGraphicFramePr>
          <p:xfrm>
            <a:off x="125730" y="1419940"/>
            <a:ext cx="5359731" cy="4787186"/>
          </p:xfrm>
          <a:graphic>
            <a:graphicData uri="http://schemas.openxmlformats.org/drawingml/2006/chart">
              <c:chart xmlns:c="http://schemas.openxmlformats.org/drawingml/2006/chart" xmlns:r="http://schemas.openxmlformats.org/officeDocument/2006/relationships" r:id="rId2"/>
            </a:graphicData>
          </a:graphic>
        </p:graphicFrame>
        <p:sp>
          <p:nvSpPr>
            <p:cNvPr id="7" name="Rounded Rectangle 6"/>
            <p:cNvSpPr/>
            <p:nvPr/>
          </p:nvSpPr>
          <p:spPr>
            <a:xfrm>
              <a:off x="5626101" y="1027002"/>
              <a:ext cx="4102100" cy="394635"/>
            </a:xfrm>
            <a:prstGeom prst="roundRect">
              <a:avLst>
                <a:gd name="adj" fmla="val 47290"/>
              </a:avLst>
            </a:prstGeom>
            <a:solidFill>
              <a:schemeClr val="accent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cs typeface="Lao UI" panose="020B0502040204020203" pitchFamily="34" charset="0"/>
                </a:rPr>
                <a:t>Key Takeaways</a:t>
              </a:r>
              <a:endParaRPr lang="en-US" sz="1200" b="1" dirty="0">
                <a:solidFill>
                  <a:schemeClr val="bg1"/>
                </a:solidFill>
                <a:cs typeface="Lao UI" panose="020B0502040204020203" pitchFamily="34" charset="0"/>
              </a:endParaRPr>
            </a:p>
          </p:txBody>
        </p:sp>
        <p:sp>
          <p:nvSpPr>
            <p:cNvPr id="8" name="Rounded Rectangle 7"/>
            <p:cNvSpPr/>
            <p:nvPr/>
          </p:nvSpPr>
          <p:spPr>
            <a:xfrm>
              <a:off x="5486400" y="1526082"/>
              <a:ext cx="4330701" cy="4392118"/>
            </a:xfrm>
            <a:prstGeom prst="roundRect">
              <a:avLst>
                <a:gd name="adj" fmla="val 4644"/>
              </a:avLst>
            </a:prstGeom>
            <a:solidFill>
              <a:schemeClr val="bg1">
                <a:lumMod val="95000"/>
              </a:schemeClr>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indent="-285750" algn="just">
                <a:spcBef>
                  <a:spcPts val="600"/>
                </a:spcBef>
                <a:spcAft>
                  <a:spcPts val="600"/>
                </a:spcAft>
                <a:buFont typeface="Wingdings" panose="05000000000000000000" pitchFamily="2" charset="2"/>
                <a:buChar char="q"/>
              </a:pPr>
              <a:r>
                <a:rPr lang="en-US" sz="1400" i="1" dirty="0">
                  <a:solidFill>
                    <a:schemeClr val="tx1"/>
                  </a:solidFill>
                </a:rPr>
                <a:t>China is the leading producer and exporter of raw textiles and garments across the globe, and held around 50% share in global textile production.</a:t>
              </a:r>
            </a:p>
            <a:p>
              <a:pPr marL="285750" indent="-285750" algn="just">
                <a:spcBef>
                  <a:spcPts val="600"/>
                </a:spcBef>
                <a:spcAft>
                  <a:spcPts val="600"/>
                </a:spcAft>
                <a:buFont typeface="Wingdings" panose="05000000000000000000" pitchFamily="2" charset="2"/>
                <a:buChar char="q"/>
              </a:pPr>
              <a:r>
                <a:rPr lang="en-US" sz="1400" i="1" dirty="0">
                  <a:solidFill>
                    <a:schemeClr val="tx1"/>
                  </a:solidFill>
                </a:rPr>
                <a:t>Global textile production is expected to grow with a CAGR of 2.0- 2.6% globally. China accounted for the largest share of the textile market in the region. Additionally, the strong presence of the consumers in China and India is likely to drive market growth</a:t>
              </a:r>
              <a:r>
                <a:rPr lang="en-US" sz="1200" i="1" dirty="0">
                  <a:solidFill>
                    <a:schemeClr val="tx1"/>
                  </a:solidFill>
                </a:rPr>
                <a:t>.</a:t>
              </a:r>
            </a:p>
            <a:p>
              <a:pPr marL="285750" indent="-285750" algn="just">
                <a:spcBef>
                  <a:spcPts val="600"/>
                </a:spcBef>
                <a:spcAft>
                  <a:spcPts val="600"/>
                </a:spcAft>
                <a:buFont typeface="Wingdings" panose="05000000000000000000" pitchFamily="2" charset="2"/>
                <a:buChar char="q"/>
              </a:pPr>
              <a:r>
                <a:rPr lang="en-US" sz="1400" i="1" dirty="0">
                  <a:solidFill>
                    <a:schemeClr val="tx1"/>
                  </a:solidFill>
                </a:rPr>
                <a:t>Across the globe, changing lifestyle and growing  per capita disposable income along with population growth is increasing the demand for new apparel and garments, which is projected to significantly drive the global textile market in coming decades. With growing demand for raw textile materials, the market for textiles is also projected to be impacted positively.</a:t>
              </a:r>
              <a:endParaRPr lang="en-US" sz="1400" dirty="0">
                <a:solidFill>
                  <a:schemeClr val="tx1"/>
                </a:solidFill>
              </a:endParaRPr>
            </a:p>
            <a:p>
              <a:pPr marL="285750" indent="-285750" algn="just">
                <a:buFont typeface="Wingdings" panose="05000000000000000000" pitchFamily="2" charset="2"/>
                <a:buChar char="q"/>
              </a:pPr>
              <a:endParaRPr lang="en-US" sz="1400" dirty="0">
                <a:solidFill>
                  <a:schemeClr val="tx1"/>
                </a:solidFill>
              </a:endParaRPr>
            </a:p>
          </p:txBody>
        </p:sp>
      </p:grpSp>
      <p:sp>
        <p:nvSpPr>
          <p:cNvPr id="11" name="TextBox 10"/>
          <p:cNvSpPr txBox="1"/>
          <p:nvPr/>
        </p:nvSpPr>
        <p:spPr>
          <a:xfrm>
            <a:off x="229798" y="6205752"/>
            <a:ext cx="2981585" cy="153888"/>
          </a:xfrm>
          <a:prstGeom prst="rect">
            <a:avLst/>
          </a:prstGeom>
          <a:noFill/>
        </p:spPr>
        <p:txBody>
          <a:bodyPr wrap="none" lIns="0" tIns="0" rIns="0" bIns="0" rtlCol="0">
            <a:spAutoFit/>
          </a:bodyPr>
          <a:lstStyle/>
          <a:p>
            <a:pPr defTabSz="966537"/>
            <a:r>
              <a:rPr lang="en-US" sz="1000" dirty="0"/>
              <a:t>Source: TMR Analysis, 2024, </a:t>
            </a:r>
            <a:r>
              <a:rPr lang="en-US" sz="1000" dirty="0">
                <a:solidFill>
                  <a:srgbClr val="000000"/>
                </a:solidFill>
              </a:rPr>
              <a:t>Textile Exchange Association</a:t>
            </a:r>
            <a:endParaRPr lang="en-US" sz="1000" dirty="0"/>
          </a:p>
        </p:txBody>
      </p:sp>
      <p:sp>
        <p:nvSpPr>
          <p:cNvPr id="10" name="Slide Number Placeholder 9"/>
          <p:cNvSpPr>
            <a:spLocks noGrp="1"/>
          </p:cNvSpPr>
          <p:nvPr>
            <p:ph type="sldNum" sz="quarter" idx="4"/>
          </p:nvPr>
        </p:nvSpPr>
        <p:spPr/>
        <p:txBody>
          <a:bodyPr/>
          <a:lstStyle/>
          <a:p>
            <a:fld id="{4B17068C-EB94-40A3-A5F2-664CDD77FDAC}" type="slidenum">
              <a:rPr lang="en-GB" smtClean="0"/>
              <a:pPr/>
              <a:t>38</a:t>
            </a:fld>
            <a:endParaRPr lang="en-GB" dirty="0"/>
          </a:p>
        </p:txBody>
      </p:sp>
    </p:spTree>
    <p:extLst>
      <p:ext uri="{BB962C8B-B14F-4D97-AF65-F5344CB8AC3E}">
        <p14:creationId xmlns:p14="http://schemas.microsoft.com/office/powerpoint/2010/main" val="341528386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Macroeconomic Factors: Global Chemical Sales Overview</a:t>
            </a:r>
            <a:endParaRPr lang="en-IN" dirty="0"/>
          </a:p>
        </p:txBody>
      </p:sp>
      <p:sp>
        <p:nvSpPr>
          <p:cNvPr id="6" name="TextBox 5"/>
          <p:cNvSpPr txBox="1"/>
          <p:nvPr/>
        </p:nvSpPr>
        <p:spPr>
          <a:xfrm>
            <a:off x="8020551" y="6138743"/>
            <a:ext cx="4071949" cy="230832"/>
          </a:xfrm>
          <a:prstGeom prst="rect">
            <a:avLst/>
          </a:prstGeom>
          <a:noFill/>
        </p:spPr>
        <p:txBody>
          <a:bodyPr wrap="none" rtlCol="0">
            <a:spAutoFit/>
          </a:bodyPr>
          <a:lstStyle/>
          <a:p>
            <a:r>
              <a:rPr lang="en-US" sz="900" dirty="0"/>
              <a:t>Note: Rest of Europe covers Switzerland, Norway, </a:t>
            </a:r>
            <a:r>
              <a:rPr lang="en-US" sz="900" dirty="0" err="1"/>
              <a:t>Türkiye</a:t>
            </a:r>
            <a:r>
              <a:rPr lang="en-US" sz="900" dirty="0"/>
              <a:t>, U.K., Russia and Ukraine</a:t>
            </a:r>
          </a:p>
        </p:txBody>
      </p:sp>
      <p:grpSp>
        <p:nvGrpSpPr>
          <p:cNvPr id="7" name="Group 6"/>
          <p:cNvGrpSpPr/>
          <p:nvPr/>
        </p:nvGrpSpPr>
        <p:grpSpPr>
          <a:xfrm>
            <a:off x="436173" y="1306863"/>
            <a:ext cx="7251417" cy="3714253"/>
            <a:chOff x="1329463" y="1628800"/>
            <a:chExt cx="7378496" cy="3779344"/>
          </a:xfrm>
          <a:solidFill>
            <a:schemeClr val="bg1">
              <a:lumMod val="85000"/>
            </a:schemeClr>
          </a:solidFill>
        </p:grpSpPr>
        <p:sp>
          <p:nvSpPr>
            <p:cNvPr id="8" name="Freeform 321"/>
            <p:cNvSpPr>
              <a:spLocks/>
            </p:cNvSpPr>
            <p:nvPr/>
          </p:nvSpPr>
          <p:spPr bwMode="gray">
            <a:xfrm rot="730076">
              <a:off x="4705089" y="3108510"/>
              <a:ext cx="303592" cy="228041"/>
            </a:xfrm>
            <a:custGeom>
              <a:avLst/>
              <a:gdLst>
                <a:gd name="T0" fmla="*/ 2147483647 w 10000"/>
                <a:gd name="T1" fmla="*/ 2147483647 h 10009"/>
                <a:gd name="T2" fmla="*/ 2147483647 w 10000"/>
                <a:gd name="T3" fmla="*/ 2147483647 h 10009"/>
                <a:gd name="T4" fmla="*/ 2147483647 w 10000"/>
                <a:gd name="T5" fmla="*/ 2147483647 h 10009"/>
                <a:gd name="T6" fmla="*/ 2147483647 w 10000"/>
                <a:gd name="T7" fmla="*/ 2147483647 h 10009"/>
                <a:gd name="T8" fmla="*/ 2147483647 w 10000"/>
                <a:gd name="T9" fmla="*/ 2147483647 h 10009"/>
                <a:gd name="T10" fmla="*/ 2147483647 w 10000"/>
                <a:gd name="T11" fmla="*/ 2147483647 h 10009"/>
                <a:gd name="T12" fmla="*/ 2147483647 w 10000"/>
                <a:gd name="T13" fmla="*/ 161364554 h 10009"/>
                <a:gd name="T14" fmla="*/ 2147483647 w 10000"/>
                <a:gd name="T15" fmla="*/ 2147483647 h 10009"/>
                <a:gd name="T16" fmla="*/ 2147483647 w 10000"/>
                <a:gd name="T17" fmla="*/ 161364554 h 10009"/>
                <a:gd name="T18" fmla="*/ 2147483647 w 10000"/>
                <a:gd name="T19" fmla="*/ 2147483647 h 10009"/>
                <a:gd name="T20" fmla="*/ 0 w 10000"/>
                <a:gd name="T21" fmla="*/ 2147483647 h 10009"/>
                <a:gd name="T22" fmla="*/ 2147483647 w 10000"/>
                <a:gd name="T23" fmla="*/ 2147483647 h 10009"/>
                <a:gd name="T24" fmla="*/ 2147483647 w 10000"/>
                <a:gd name="T25" fmla="*/ 2147483647 h 10009"/>
                <a:gd name="T26" fmla="*/ 2147483647 w 10000"/>
                <a:gd name="T27" fmla="*/ 2147483647 h 10009"/>
                <a:gd name="T28" fmla="*/ 2147483647 w 10000"/>
                <a:gd name="T29" fmla="*/ 2147483647 h 10009"/>
                <a:gd name="T30" fmla="*/ 2147483647 w 10000"/>
                <a:gd name="T31" fmla="*/ 2147483647 h 10009"/>
                <a:gd name="T32" fmla="*/ 2147483647 w 10000"/>
                <a:gd name="T33" fmla="*/ 2147483647 h 10009"/>
                <a:gd name="T34" fmla="*/ 2147483647 w 10000"/>
                <a:gd name="T35" fmla="*/ 2147483647 h 10009"/>
                <a:gd name="T36" fmla="*/ 2147483647 w 10000"/>
                <a:gd name="T37" fmla="*/ 2147483647 h 10009"/>
                <a:gd name="T38" fmla="*/ 2147483647 w 10000"/>
                <a:gd name="T39" fmla="*/ 2147483647 h 10009"/>
                <a:gd name="T40" fmla="*/ 2147483647 w 10000"/>
                <a:gd name="T41" fmla="*/ 2147483647 h 10009"/>
                <a:gd name="T42" fmla="*/ 2147483647 w 10000"/>
                <a:gd name="T43" fmla="*/ 2147483647 h 10009"/>
                <a:gd name="T44" fmla="*/ 2147483647 w 10000"/>
                <a:gd name="T45" fmla="*/ 2147483647 h 10009"/>
                <a:gd name="T46" fmla="*/ 2147483647 w 10000"/>
                <a:gd name="T47" fmla="*/ 2147483647 h 10009"/>
                <a:gd name="T48" fmla="*/ 2147483647 w 10000"/>
                <a:gd name="T49" fmla="*/ 2147483647 h 10009"/>
                <a:gd name="T50" fmla="*/ 2147483647 w 10000"/>
                <a:gd name="T51" fmla="*/ 2147483647 h 10009"/>
                <a:gd name="T52" fmla="*/ 2147483647 w 10000"/>
                <a:gd name="T53" fmla="*/ 2147483647 h 10009"/>
                <a:gd name="T54" fmla="*/ 2147483647 w 10000"/>
                <a:gd name="T55" fmla="*/ 2147483647 h 10009"/>
                <a:gd name="T56" fmla="*/ 2147483647 w 10000"/>
                <a:gd name="T57" fmla="*/ 2147483647 h 10009"/>
                <a:gd name="T58" fmla="*/ 2147483647 w 10000"/>
                <a:gd name="T59" fmla="*/ 2147483647 h 10009"/>
                <a:gd name="T60" fmla="*/ 2147483647 w 10000"/>
                <a:gd name="T61" fmla="*/ 2147483647 h 10009"/>
                <a:gd name="T62" fmla="*/ 2147483647 w 10000"/>
                <a:gd name="T63" fmla="*/ 2147483647 h 10009"/>
                <a:gd name="T64" fmla="*/ 2147483647 w 10000"/>
                <a:gd name="T65" fmla="*/ 2147483647 h 10009"/>
                <a:gd name="T66" fmla="*/ 2147483647 w 10000"/>
                <a:gd name="T67" fmla="*/ 2147483647 h 10009"/>
                <a:gd name="T68" fmla="*/ 2147483647 w 10000"/>
                <a:gd name="T69" fmla="*/ 2147483647 h 10009"/>
                <a:gd name="T70" fmla="*/ 2147483647 w 10000"/>
                <a:gd name="T71" fmla="*/ 2147483647 h 10009"/>
                <a:gd name="T72" fmla="*/ 2147483647 w 10000"/>
                <a:gd name="T73" fmla="*/ 2147483647 h 10009"/>
                <a:gd name="T74" fmla="*/ 2147483647 w 10000"/>
                <a:gd name="T75" fmla="*/ 2147483647 h 10009"/>
                <a:gd name="T76" fmla="*/ 2147483647 w 10000"/>
                <a:gd name="T77" fmla="*/ 2147483647 h 10009"/>
                <a:gd name="T78" fmla="*/ 2147483647 w 10000"/>
                <a:gd name="T79" fmla="*/ 2147483647 h 10009"/>
                <a:gd name="T80" fmla="*/ 2147483647 w 10000"/>
                <a:gd name="T81" fmla="*/ 2147483647 h 1000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000" h="10009">
                  <a:moveTo>
                    <a:pt x="9121" y="1479"/>
                  </a:moveTo>
                  <a:cubicBezTo>
                    <a:pt x="8949" y="1545"/>
                    <a:pt x="8960" y="1470"/>
                    <a:pt x="8734" y="1437"/>
                  </a:cubicBezTo>
                  <a:cubicBezTo>
                    <a:pt x="8508" y="1404"/>
                    <a:pt x="8010" y="1295"/>
                    <a:pt x="7765" y="1279"/>
                  </a:cubicBezTo>
                  <a:cubicBezTo>
                    <a:pt x="7520" y="1263"/>
                    <a:pt x="7390" y="1332"/>
                    <a:pt x="7261" y="1342"/>
                  </a:cubicBezTo>
                  <a:cubicBezTo>
                    <a:pt x="7132" y="1353"/>
                    <a:pt x="7098" y="1443"/>
                    <a:pt x="6991" y="1342"/>
                  </a:cubicBezTo>
                  <a:cubicBezTo>
                    <a:pt x="6884" y="1241"/>
                    <a:pt x="6742" y="937"/>
                    <a:pt x="6618" y="734"/>
                  </a:cubicBezTo>
                  <a:cubicBezTo>
                    <a:pt x="5577" y="492"/>
                    <a:pt x="4284" y="74"/>
                    <a:pt x="3495" y="9"/>
                  </a:cubicBezTo>
                  <a:cubicBezTo>
                    <a:pt x="2706" y="-56"/>
                    <a:pt x="2420" y="231"/>
                    <a:pt x="1882" y="342"/>
                  </a:cubicBezTo>
                  <a:lnTo>
                    <a:pt x="1345" y="9"/>
                  </a:lnTo>
                  <a:lnTo>
                    <a:pt x="806" y="342"/>
                  </a:lnTo>
                  <a:cubicBezTo>
                    <a:pt x="806" y="342"/>
                    <a:pt x="268" y="1009"/>
                    <a:pt x="0" y="1009"/>
                  </a:cubicBezTo>
                  <a:lnTo>
                    <a:pt x="538" y="2676"/>
                  </a:lnTo>
                  <a:lnTo>
                    <a:pt x="1076" y="2009"/>
                  </a:lnTo>
                  <a:lnTo>
                    <a:pt x="2151" y="2342"/>
                  </a:lnTo>
                  <a:lnTo>
                    <a:pt x="2421" y="2676"/>
                  </a:lnTo>
                  <a:lnTo>
                    <a:pt x="2688" y="3009"/>
                  </a:lnTo>
                  <a:cubicBezTo>
                    <a:pt x="2600" y="3342"/>
                    <a:pt x="2510" y="3676"/>
                    <a:pt x="2421" y="4009"/>
                  </a:cubicBezTo>
                  <a:cubicBezTo>
                    <a:pt x="2330" y="4565"/>
                    <a:pt x="2241" y="5120"/>
                    <a:pt x="2151" y="5676"/>
                  </a:cubicBezTo>
                  <a:cubicBezTo>
                    <a:pt x="2062" y="6009"/>
                    <a:pt x="1971" y="6343"/>
                    <a:pt x="1882" y="6676"/>
                  </a:cubicBezTo>
                  <a:lnTo>
                    <a:pt x="1882" y="7342"/>
                  </a:lnTo>
                  <a:cubicBezTo>
                    <a:pt x="1882" y="7482"/>
                    <a:pt x="1889" y="7241"/>
                    <a:pt x="1884" y="7517"/>
                  </a:cubicBezTo>
                  <a:cubicBezTo>
                    <a:pt x="1879" y="7793"/>
                    <a:pt x="1882" y="7594"/>
                    <a:pt x="1882" y="7676"/>
                  </a:cubicBezTo>
                  <a:lnTo>
                    <a:pt x="1882" y="8009"/>
                  </a:lnTo>
                  <a:cubicBezTo>
                    <a:pt x="1792" y="8342"/>
                    <a:pt x="1703" y="8676"/>
                    <a:pt x="1613" y="9009"/>
                  </a:cubicBezTo>
                  <a:lnTo>
                    <a:pt x="2151" y="9009"/>
                  </a:lnTo>
                  <a:lnTo>
                    <a:pt x="3227" y="10009"/>
                  </a:lnTo>
                  <a:lnTo>
                    <a:pt x="4840" y="9342"/>
                  </a:lnTo>
                  <a:lnTo>
                    <a:pt x="6453" y="9009"/>
                  </a:lnTo>
                  <a:lnTo>
                    <a:pt x="7261" y="7676"/>
                  </a:lnTo>
                  <a:lnTo>
                    <a:pt x="8067" y="6342"/>
                  </a:lnTo>
                  <a:cubicBezTo>
                    <a:pt x="8067" y="6120"/>
                    <a:pt x="7941" y="6082"/>
                    <a:pt x="8067" y="5676"/>
                  </a:cubicBezTo>
                  <a:cubicBezTo>
                    <a:pt x="8193" y="5270"/>
                    <a:pt x="8503" y="4112"/>
                    <a:pt x="8822" y="3908"/>
                  </a:cubicBezTo>
                  <a:cubicBezTo>
                    <a:pt x="9185" y="3676"/>
                    <a:pt x="9126" y="3756"/>
                    <a:pt x="9189" y="3701"/>
                  </a:cubicBezTo>
                  <a:cubicBezTo>
                    <a:pt x="9252" y="3646"/>
                    <a:pt x="9284" y="3569"/>
                    <a:pt x="9318" y="3593"/>
                  </a:cubicBezTo>
                  <a:cubicBezTo>
                    <a:pt x="9388" y="3534"/>
                    <a:pt x="9296" y="3577"/>
                    <a:pt x="9415" y="3493"/>
                  </a:cubicBezTo>
                  <a:cubicBezTo>
                    <a:pt x="9534" y="3409"/>
                    <a:pt x="9908" y="3137"/>
                    <a:pt x="9969" y="2847"/>
                  </a:cubicBezTo>
                  <a:cubicBezTo>
                    <a:pt x="10030" y="2557"/>
                    <a:pt x="10018" y="1949"/>
                    <a:pt x="9783" y="1752"/>
                  </a:cubicBezTo>
                  <a:cubicBezTo>
                    <a:pt x="9774" y="1701"/>
                    <a:pt x="9763" y="1649"/>
                    <a:pt x="9754" y="1598"/>
                  </a:cubicBezTo>
                  <a:cubicBezTo>
                    <a:pt x="9738" y="1593"/>
                    <a:pt x="9576" y="1599"/>
                    <a:pt x="9561" y="1594"/>
                  </a:cubicBezTo>
                  <a:lnTo>
                    <a:pt x="9121" y="1479"/>
                  </a:lnTo>
                  <a:close/>
                </a:path>
              </a:pathLst>
            </a:custGeom>
            <a:grpFill/>
            <a:ln w="9525">
              <a:solidFill>
                <a:schemeClr val="bg2">
                  <a:lumMod val="50000"/>
                </a:schemeClr>
              </a:solidFill>
              <a:round/>
              <a:headEnd/>
              <a:tailEnd/>
            </a:ln>
          </p:spPr>
          <p:txBody>
            <a:bodyPr/>
            <a:lstStyle/>
            <a:p>
              <a:endParaRPr lang="en-US" dirty="0"/>
            </a:p>
          </p:txBody>
        </p:sp>
        <p:sp>
          <p:nvSpPr>
            <p:cNvPr id="9" name="Freeform 322"/>
            <p:cNvSpPr>
              <a:spLocks/>
            </p:cNvSpPr>
            <p:nvPr/>
          </p:nvSpPr>
          <p:spPr bwMode="gray">
            <a:xfrm rot="926903">
              <a:off x="4713113" y="3123883"/>
              <a:ext cx="76232" cy="160141"/>
            </a:xfrm>
            <a:custGeom>
              <a:avLst/>
              <a:gdLst>
                <a:gd name="T0" fmla="*/ 426029799 w 10000"/>
                <a:gd name="T1" fmla="*/ 2147483647 h 10437"/>
                <a:gd name="T2" fmla="*/ 426029799 w 10000"/>
                <a:gd name="T3" fmla="*/ 2147483647 h 10437"/>
                <a:gd name="T4" fmla="*/ 441127138 w 10000"/>
                <a:gd name="T5" fmla="*/ 2147483647 h 10437"/>
                <a:gd name="T6" fmla="*/ 486896829 w 10000"/>
                <a:gd name="T7" fmla="*/ 2147483647 h 10437"/>
                <a:gd name="T8" fmla="*/ 486896829 w 10000"/>
                <a:gd name="T9" fmla="*/ 2147483647 h 10437"/>
                <a:gd name="T10" fmla="*/ 505393367 w 10000"/>
                <a:gd name="T11" fmla="*/ 2147483647 h 10437"/>
                <a:gd name="T12" fmla="*/ 547757218 w 10000"/>
                <a:gd name="T13" fmla="*/ 2147483647 h 10437"/>
                <a:gd name="T14" fmla="*/ 556948788 w 10000"/>
                <a:gd name="T15" fmla="*/ 2147483647 h 10437"/>
                <a:gd name="T16" fmla="*/ 608617535 w 10000"/>
                <a:gd name="T17" fmla="*/ 2147483647 h 10437"/>
                <a:gd name="T18" fmla="*/ 547757218 w 10000"/>
                <a:gd name="T19" fmla="*/ 2147483647 h 10437"/>
                <a:gd name="T20" fmla="*/ 486896829 w 10000"/>
                <a:gd name="T21" fmla="*/ 1175804211 h 10437"/>
                <a:gd name="T22" fmla="*/ 304309174 w 10000"/>
                <a:gd name="T23" fmla="*/ 0 h 10437"/>
                <a:gd name="T24" fmla="*/ 182587736 w 10000"/>
                <a:gd name="T25" fmla="*/ 1175804211 h 10437"/>
                <a:gd name="T26" fmla="*/ 121720705 w 10000"/>
                <a:gd name="T27" fmla="*/ 2147483647 h 10437"/>
                <a:gd name="T28" fmla="*/ 75167108 w 10000"/>
                <a:gd name="T29" fmla="*/ 2147483647 h 10437"/>
                <a:gd name="T30" fmla="*/ 121720705 w 10000"/>
                <a:gd name="T31" fmla="*/ 2147483647 h 10437"/>
                <a:gd name="T32" fmla="*/ 121720705 w 10000"/>
                <a:gd name="T33" fmla="*/ 2147483647 h 10437"/>
                <a:gd name="T34" fmla="*/ 13937767 w 10000"/>
                <a:gd name="T35" fmla="*/ 2147483647 h 10437"/>
                <a:gd name="T36" fmla="*/ 0 w 10000"/>
                <a:gd name="T37" fmla="*/ 2147483647 h 10437"/>
                <a:gd name="T38" fmla="*/ 39560971 w 10000"/>
                <a:gd name="T39" fmla="*/ 2147483647 h 10437"/>
                <a:gd name="T40" fmla="*/ 121720705 w 10000"/>
                <a:gd name="T41" fmla="*/ 2147483647 h 10437"/>
                <a:gd name="T42" fmla="*/ 68959129 w 10000"/>
                <a:gd name="T43" fmla="*/ 2147483647 h 10437"/>
                <a:gd name="T44" fmla="*/ 394566826 w 10000"/>
                <a:gd name="T45" fmla="*/ 2147483647 h 10437"/>
                <a:gd name="T46" fmla="*/ 436863210 w 10000"/>
                <a:gd name="T47" fmla="*/ 2147483647 h 10437"/>
                <a:gd name="T48" fmla="*/ 426029799 w 10000"/>
                <a:gd name="T49" fmla="*/ 2147483647 h 10437"/>
                <a:gd name="T50" fmla="*/ 426029799 w 10000"/>
                <a:gd name="T51" fmla="*/ 2147483647 h 104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0000" h="10437">
                  <a:moveTo>
                    <a:pt x="7000" y="8110"/>
                  </a:moveTo>
                  <a:lnTo>
                    <a:pt x="7000" y="7638"/>
                  </a:lnTo>
                  <a:cubicBezTo>
                    <a:pt x="7083" y="7334"/>
                    <a:pt x="7165" y="7030"/>
                    <a:pt x="7248" y="6726"/>
                  </a:cubicBezTo>
                  <a:lnTo>
                    <a:pt x="8000" y="5748"/>
                  </a:lnTo>
                  <a:lnTo>
                    <a:pt x="8000" y="5276"/>
                  </a:lnTo>
                  <a:cubicBezTo>
                    <a:pt x="8101" y="4899"/>
                    <a:pt x="8203" y="4522"/>
                    <a:pt x="8304" y="4145"/>
                  </a:cubicBezTo>
                  <a:lnTo>
                    <a:pt x="9000" y="3386"/>
                  </a:lnTo>
                  <a:cubicBezTo>
                    <a:pt x="9050" y="3079"/>
                    <a:pt x="9101" y="2772"/>
                    <a:pt x="9151" y="2465"/>
                  </a:cubicBezTo>
                  <a:lnTo>
                    <a:pt x="10000" y="1496"/>
                  </a:lnTo>
                  <a:lnTo>
                    <a:pt x="9000" y="1024"/>
                  </a:lnTo>
                  <a:lnTo>
                    <a:pt x="8000" y="472"/>
                  </a:lnTo>
                  <a:lnTo>
                    <a:pt x="5000" y="0"/>
                  </a:lnTo>
                  <a:lnTo>
                    <a:pt x="3000" y="472"/>
                  </a:lnTo>
                  <a:lnTo>
                    <a:pt x="2000" y="1024"/>
                  </a:lnTo>
                  <a:lnTo>
                    <a:pt x="1235" y="1429"/>
                  </a:lnTo>
                  <a:lnTo>
                    <a:pt x="2000" y="2913"/>
                  </a:lnTo>
                  <a:lnTo>
                    <a:pt x="2000" y="4803"/>
                  </a:lnTo>
                  <a:lnTo>
                    <a:pt x="229" y="6206"/>
                  </a:lnTo>
                  <a:cubicBezTo>
                    <a:pt x="153" y="6526"/>
                    <a:pt x="76" y="6845"/>
                    <a:pt x="0" y="7165"/>
                  </a:cubicBezTo>
                  <a:lnTo>
                    <a:pt x="650" y="7719"/>
                  </a:lnTo>
                  <a:lnTo>
                    <a:pt x="2000" y="7638"/>
                  </a:lnTo>
                  <a:lnTo>
                    <a:pt x="1133" y="10397"/>
                  </a:lnTo>
                  <a:lnTo>
                    <a:pt x="6483" y="10437"/>
                  </a:lnTo>
                  <a:cubicBezTo>
                    <a:pt x="6656" y="10000"/>
                    <a:pt x="7005" y="9867"/>
                    <a:pt x="7178" y="9430"/>
                  </a:cubicBezTo>
                  <a:cubicBezTo>
                    <a:pt x="7119" y="9305"/>
                    <a:pt x="7059" y="9180"/>
                    <a:pt x="7000" y="9055"/>
                  </a:cubicBezTo>
                  <a:lnTo>
                    <a:pt x="7000" y="8110"/>
                  </a:lnTo>
                  <a:close/>
                </a:path>
              </a:pathLst>
            </a:custGeom>
            <a:grpFill/>
            <a:ln w="9525">
              <a:solidFill>
                <a:schemeClr val="bg2">
                  <a:lumMod val="50000"/>
                </a:schemeClr>
              </a:solidFill>
              <a:round/>
              <a:headEnd/>
              <a:tailEnd/>
            </a:ln>
          </p:spPr>
          <p:txBody>
            <a:bodyPr/>
            <a:lstStyle/>
            <a:p>
              <a:endParaRPr lang="en-US" dirty="0"/>
            </a:p>
          </p:txBody>
        </p:sp>
        <p:sp>
          <p:nvSpPr>
            <p:cNvPr id="10" name="Freeform 341"/>
            <p:cNvSpPr>
              <a:spLocks/>
            </p:cNvSpPr>
            <p:nvPr/>
          </p:nvSpPr>
          <p:spPr bwMode="gray">
            <a:xfrm>
              <a:off x="5159809" y="3022673"/>
              <a:ext cx="160489" cy="67900"/>
            </a:xfrm>
            <a:custGeom>
              <a:avLst/>
              <a:gdLst>
                <a:gd name="T0" fmla="*/ 2147483647 w 10000"/>
                <a:gd name="T1" fmla="*/ 230353942 h 10000"/>
                <a:gd name="T2" fmla="*/ 2147483647 w 10000"/>
                <a:gd name="T3" fmla="*/ 153542679 h 10000"/>
                <a:gd name="T4" fmla="*/ 2147483647 w 10000"/>
                <a:gd name="T5" fmla="*/ 153542679 h 10000"/>
                <a:gd name="T6" fmla="*/ 2147483647 w 10000"/>
                <a:gd name="T7" fmla="*/ 76771339 h 10000"/>
                <a:gd name="T8" fmla="*/ 2147483647 w 10000"/>
                <a:gd name="T9" fmla="*/ 38383015 h 10000"/>
                <a:gd name="T10" fmla="*/ 2147483647 w 10000"/>
                <a:gd name="T11" fmla="*/ 38383015 h 10000"/>
                <a:gd name="T12" fmla="*/ 2147483647 w 10000"/>
                <a:gd name="T13" fmla="*/ 0 h 10000"/>
                <a:gd name="T14" fmla="*/ 2147483647 w 10000"/>
                <a:gd name="T15" fmla="*/ 38383015 h 10000"/>
                <a:gd name="T16" fmla="*/ 2147483647 w 10000"/>
                <a:gd name="T17" fmla="*/ 38383015 h 10000"/>
                <a:gd name="T18" fmla="*/ 2147483647 w 10000"/>
                <a:gd name="T19" fmla="*/ 76771339 h 10000"/>
                <a:gd name="T20" fmla="*/ 2147483647 w 10000"/>
                <a:gd name="T21" fmla="*/ 115154355 h 10000"/>
                <a:gd name="T22" fmla="*/ 2147483647 w 10000"/>
                <a:gd name="T23" fmla="*/ 191925686 h 10000"/>
                <a:gd name="T24" fmla="*/ 2147483647 w 10000"/>
                <a:gd name="T25" fmla="*/ 230353942 h 10000"/>
                <a:gd name="T26" fmla="*/ 2147483647 w 10000"/>
                <a:gd name="T27" fmla="*/ 230353942 h 10000"/>
                <a:gd name="T28" fmla="*/ 2147483647 w 10000"/>
                <a:gd name="T29" fmla="*/ 268737521 h 10000"/>
                <a:gd name="T30" fmla="*/ 2147483647 w 10000"/>
                <a:gd name="T31" fmla="*/ 268737521 h 10000"/>
                <a:gd name="T32" fmla="*/ 1048843394 w 10000"/>
                <a:gd name="T33" fmla="*/ 268737521 h 10000"/>
                <a:gd name="T34" fmla="*/ 0 w 10000"/>
                <a:gd name="T35" fmla="*/ 268737521 h 10000"/>
                <a:gd name="T36" fmla="*/ 1048843394 w 10000"/>
                <a:gd name="T37" fmla="*/ 307125281 h 10000"/>
                <a:gd name="T38" fmla="*/ 2147483647 w 10000"/>
                <a:gd name="T39" fmla="*/ 383896612 h 10000"/>
                <a:gd name="T40" fmla="*/ 2147483647 w 10000"/>
                <a:gd name="T41" fmla="*/ 422280200 h 10000"/>
                <a:gd name="T42" fmla="*/ 2147483647 w 10000"/>
                <a:gd name="T43" fmla="*/ 383896612 h 10000"/>
                <a:gd name="T44" fmla="*/ 2147483647 w 10000"/>
                <a:gd name="T45" fmla="*/ 383896612 h 10000"/>
                <a:gd name="T46" fmla="*/ 2147483647 w 10000"/>
                <a:gd name="T47" fmla="*/ 422280200 h 10000"/>
                <a:gd name="T48" fmla="*/ 2147483647 w 10000"/>
                <a:gd name="T49" fmla="*/ 422280200 h 10000"/>
                <a:gd name="T50" fmla="*/ 2147483647 w 10000"/>
                <a:gd name="T51" fmla="*/ 422280200 h 10000"/>
                <a:gd name="T52" fmla="*/ 2147483647 w 10000"/>
                <a:gd name="T53" fmla="*/ 345508860 h 10000"/>
                <a:gd name="T54" fmla="*/ 2147483647 w 10000"/>
                <a:gd name="T55" fmla="*/ 345508860 h 10000"/>
                <a:gd name="T56" fmla="*/ 2147483647 w 10000"/>
                <a:gd name="T57" fmla="*/ 230353942 h 100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000" h="10000">
                  <a:moveTo>
                    <a:pt x="9583" y="5455"/>
                  </a:moveTo>
                  <a:lnTo>
                    <a:pt x="10000" y="3636"/>
                  </a:lnTo>
                  <a:lnTo>
                    <a:pt x="9583" y="1818"/>
                  </a:lnTo>
                  <a:lnTo>
                    <a:pt x="9583" y="909"/>
                  </a:lnTo>
                  <a:lnTo>
                    <a:pt x="9167" y="909"/>
                  </a:lnTo>
                  <a:lnTo>
                    <a:pt x="7500" y="0"/>
                  </a:lnTo>
                  <a:lnTo>
                    <a:pt x="7083" y="909"/>
                  </a:lnTo>
                  <a:lnTo>
                    <a:pt x="5833" y="909"/>
                  </a:lnTo>
                  <a:lnTo>
                    <a:pt x="5417" y="1818"/>
                  </a:lnTo>
                  <a:lnTo>
                    <a:pt x="4583" y="2727"/>
                  </a:lnTo>
                  <a:lnTo>
                    <a:pt x="5000" y="4545"/>
                  </a:lnTo>
                  <a:cubicBezTo>
                    <a:pt x="5000" y="4545"/>
                    <a:pt x="5000" y="5455"/>
                    <a:pt x="4583" y="5455"/>
                  </a:cubicBezTo>
                  <a:lnTo>
                    <a:pt x="4167" y="5455"/>
                  </a:lnTo>
                  <a:lnTo>
                    <a:pt x="2500" y="6364"/>
                  </a:lnTo>
                  <a:lnTo>
                    <a:pt x="1667" y="6364"/>
                  </a:lnTo>
                  <a:lnTo>
                    <a:pt x="417" y="6364"/>
                  </a:lnTo>
                  <a:lnTo>
                    <a:pt x="0" y="6364"/>
                  </a:lnTo>
                  <a:lnTo>
                    <a:pt x="417" y="7273"/>
                  </a:lnTo>
                  <a:lnTo>
                    <a:pt x="1250" y="9091"/>
                  </a:lnTo>
                  <a:lnTo>
                    <a:pt x="1667" y="10000"/>
                  </a:lnTo>
                  <a:lnTo>
                    <a:pt x="2083" y="9091"/>
                  </a:lnTo>
                  <a:lnTo>
                    <a:pt x="3750" y="9091"/>
                  </a:lnTo>
                  <a:lnTo>
                    <a:pt x="5417" y="10000"/>
                  </a:lnTo>
                  <a:lnTo>
                    <a:pt x="5833" y="10000"/>
                  </a:lnTo>
                  <a:lnTo>
                    <a:pt x="7500" y="10000"/>
                  </a:lnTo>
                  <a:lnTo>
                    <a:pt x="8750" y="8182"/>
                  </a:lnTo>
                  <a:lnTo>
                    <a:pt x="9167" y="8182"/>
                  </a:lnTo>
                  <a:cubicBezTo>
                    <a:pt x="9306" y="7273"/>
                    <a:pt x="9444" y="6364"/>
                    <a:pt x="9583" y="5455"/>
                  </a:cubicBezTo>
                  <a:close/>
                </a:path>
              </a:pathLst>
            </a:custGeom>
            <a:grpFill/>
            <a:ln w="9525">
              <a:solidFill>
                <a:schemeClr val="bg2">
                  <a:lumMod val="50000"/>
                </a:schemeClr>
              </a:solidFill>
              <a:round/>
              <a:headEnd/>
              <a:tailEnd/>
            </a:ln>
          </p:spPr>
          <p:txBody>
            <a:bodyPr/>
            <a:lstStyle/>
            <a:p>
              <a:endParaRPr lang="en-US" dirty="0"/>
            </a:p>
          </p:txBody>
        </p:sp>
        <p:sp>
          <p:nvSpPr>
            <p:cNvPr id="11" name="Freeform 342"/>
            <p:cNvSpPr>
              <a:spLocks/>
            </p:cNvSpPr>
            <p:nvPr/>
          </p:nvSpPr>
          <p:spPr bwMode="gray">
            <a:xfrm rot="471028">
              <a:off x="4884301" y="2938118"/>
              <a:ext cx="256783" cy="237011"/>
            </a:xfrm>
            <a:custGeom>
              <a:avLst/>
              <a:gdLst>
                <a:gd name="T0" fmla="*/ 2147483647 w 10043"/>
                <a:gd name="T1" fmla="*/ 2147483647 h 10000"/>
                <a:gd name="T2" fmla="*/ 2147483647 w 10043"/>
                <a:gd name="T3" fmla="*/ 2147483647 h 10000"/>
                <a:gd name="T4" fmla="*/ 2147483647 w 10043"/>
                <a:gd name="T5" fmla="*/ 2147483647 h 10000"/>
                <a:gd name="T6" fmla="*/ 2147483647 w 10043"/>
                <a:gd name="T7" fmla="*/ 2147483647 h 10000"/>
                <a:gd name="T8" fmla="*/ 2147483647 w 10043"/>
                <a:gd name="T9" fmla="*/ 2147483647 h 10000"/>
                <a:gd name="T10" fmla="*/ 2147483647 w 10043"/>
                <a:gd name="T11" fmla="*/ 2147483647 h 10000"/>
                <a:gd name="T12" fmla="*/ 2147483647 w 10043"/>
                <a:gd name="T13" fmla="*/ 2147483647 h 10000"/>
                <a:gd name="T14" fmla="*/ 2147483647 w 10043"/>
                <a:gd name="T15" fmla="*/ 2147483647 h 10000"/>
                <a:gd name="T16" fmla="*/ 2147483647 w 10043"/>
                <a:gd name="T17" fmla="*/ 2147483647 h 10000"/>
                <a:gd name="T18" fmla="*/ 2147483647 w 10043"/>
                <a:gd name="T19" fmla="*/ 2147483647 h 10000"/>
                <a:gd name="T20" fmla="*/ 2147483647 w 10043"/>
                <a:gd name="T21" fmla="*/ 2147483647 h 10000"/>
                <a:gd name="T22" fmla="*/ 2147483647 w 10043"/>
                <a:gd name="T23" fmla="*/ 2147483647 h 10000"/>
                <a:gd name="T24" fmla="*/ 2147483647 w 10043"/>
                <a:gd name="T25" fmla="*/ 2147483647 h 10000"/>
                <a:gd name="T26" fmla="*/ 2147483647 w 10043"/>
                <a:gd name="T27" fmla="*/ 2147483647 h 10000"/>
                <a:gd name="T28" fmla="*/ 2147483647 w 10043"/>
                <a:gd name="T29" fmla="*/ 2147483647 h 10000"/>
                <a:gd name="T30" fmla="*/ 2147483647 w 10043"/>
                <a:gd name="T31" fmla="*/ 2147483647 h 10000"/>
                <a:gd name="T32" fmla="*/ 2147483647 w 10043"/>
                <a:gd name="T33" fmla="*/ 2147483647 h 10000"/>
                <a:gd name="T34" fmla="*/ 2147483647 w 10043"/>
                <a:gd name="T35" fmla="*/ 2147483647 h 10000"/>
                <a:gd name="T36" fmla="*/ 2147483647 w 10043"/>
                <a:gd name="T37" fmla="*/ 2147483647 h 10000"/>
                <a:gd name="T38" fmla="*/ 2147483647 w 10043"/>
                <a:gd name="T39" fmla="*/ 2147483647 h 10000"/>
                <a:gd name="T40" fmla="*/ 2147483647 w 10043"/>
                <a:gd name="T41" fmla="*/ 0 h 10000"/>
                <a:gd name="T42" fmla="*/ 2147483647 w 10043"/>
                <a:gd name="T43" fmla="*/ 2147483647 h 10000"/>
                <a:gd name="T44" fmla="*/ 2147483647 w 10043"/>
                <a:gd name="T45" fmla="*/ 2147483647 h 10000"/>
                <a:gd name="T46" fmla="*/ 2147483647 w 10043"/>
                <a:gd name="T47" fmla="*/ 2147483647 h 10000"/>
                <a:gd name="T48" fmla="*/ 2147483647 w 10043"/>
                <a:gd name="T49" fmla="*/ 2147483647 h 10000"/>
                <a:gd name="T50" fmla="*/ 2147483647 w 10043"/>
                <a:gd name="T51" fmla="*/ 2147483647 h 10000"/>
                <a:gd name="T52" fmla="*/ 2147483647 w 10043"/>
                <a:gd name="T53" fmla="*/ 2147483647 h 10000"/>
                <a:gd name="T54" fmla="*/ 2147483647 w 10043"/>
                <a:gd name="T55" fmla="*/ 2147483647 h 10000"/>
                <a:gd name="T56" fmla="*/ 2147483647 w 10043"/>
                <a:gd name="T57" fmla="*/ 2147483647 h 10000"/>
                <a:gd name="T58" fmla="*/ 2147483647 w 10043"/>
                <a:gd name="T59" fmla="*/ 2147483647 h 10000"/>
                <a:gd name="T60" fmla="*/ 2147483647 w 10043"/>
                <a:gd name="T61" fmla="*/ 2147483647 h 10000"/>
                <a:gd name="T62" fmla="*/ 2147483647 w 10043"/>
                <a:gd name="T63" fmla="*/ 2147483647 h 10000"/>
                <a:gd name="T64" fmla="*/ 2147483647 w 10043"/>
                <a:gd name="T65" fmla="*/ 2147483647 h 10000"/>
                <a:gd name="T66" fmla="*/ 852645632 w 10043"/>
                <a:gd name="T67" fmla="*/ 2147483647 h 10000"/>
                <a:gd name="T68" fmla="*/ 2147483647 w 10043"/>
                <a:gd name="T69" fmla="*/ 2147483647 h 10000"/>
                <a:gd name="T70" fmla="*/ 2147483647 w 10043"/>
                <a:gd name="T71" fmla="*/ 2147483647 h 10000"/>
                <a:gd name="T72" fmla="*/ 2147483647 w 10043"/>
                <a:gd name="T73" fmla="*/ 2147483647 h 10000"/>
                <a:gd name="T74" fmla="*/ 2147483647 w 10043"/>
                <a:gd name="T75" fmla="*/ 2147483647 h 10000"/>
                <a:gd name="T76" fmla="*/ 2147483647 w 10043"/>
                <a:gd name="T77" fmla="*/ 2147483647 h 10000"/>
                <a:gd name="T78" fmla="*/ 2147483647 w 10043"/>
                <a:gd name="T79" fmla="*/ 2147483647 h 10000"/>
                <a:gd name="T80" fmla="*/ 2147483647 w 10043"/>
                <a:gd name="T81" fmla="*/ 2147483647 h 10000"/>
                <a:gd name="T82" fmla="*/ 2147483647 w 10043"/>
                <a:gd name="T83" fmla="*/ 2147483647 h 10000"/>
                <a:gd name="T84" fmla="*/ 2147483647 w 10043"/>
                <a:gd name="T85" fmla="*/ 2147483647 h 10000"/>
                <a:gd name="T86" fmla="*/ 2147483647 w 10043"/>
                <a:gd name="T87" fmla="*/ 2147483647 h 10000"/>
                <a:gd name="T88" fmla="*/ 2147483647 w 10043"/>
                <a:gd name="T89" fmla="*/ 2147483647 h 10000"/>
                <a:gd name="T90" fmla="*/ 2147483647 w 10043"/>
                <a:gd name="T91" fmla="*/ 2147483647 h 10000"/>
                <a:gd name="T92" fmla="*/ 2147483647 w 10043"/>
                <a:gd name="T93" fmla="*/ 2147483647 h 10000"/>
                <a:gd name="T94" fmla="*/ 2147483647 w 10043"/>
                <a:gd name="T95" fmla="*/ 2147483647 h 10000"/>
                <a:gd name="T96" fmla="*/ 2147483647 w 10043"/>
                <a:gd name="T97" fmla="*/ 2147483647 h 10000"/>
                <a:gd name="T98" fmla="*/ 2147483647 w 10043"/>
                <a:gd name="T99" fmla="*/ 2147483647 h 10000"/>
                <a:gd name="T100" fmla="*/ 2147483647 w 10043"/>
                <a:gd name="T101" fmla="*/ 2147483647 h 10000"/>
                <a:gd name="T102" fmla="*/ 2147483647 w 10043"/>
                <a:gd name="T103" fmla="*/ 2147483647 h 10000"/>
                <a:gd name="T104" fmla="*/ 2147483647 w 10043"/>
                <a:gd name="T105" fmla="*/ 2147483647 h 10000"/>
                <a:gd name="T106" fmla="*/ 2147483647 w 10043"/>
                <a:gd name="T107" fmla="*/ 2147483647 h 10000"/>
                <a:gd name="T108" fmla="*/ 2147483647 w 10043"/>
                <a:gd name="T109" fmla="*/ 2147483647 h 10000"/>
                <a:gd name="T110" fmla="*/ 2147483647 w 10043"/>
                <a:gd name="T111" fmla="*/ 2147483647 h 10000"/>
                <a:gd name="T112" fmla="*/ 2147483647 w 10043"/>
                <a:gd name="T113" fmla="*/ 2147483647 h 10000"/>
                <a:gd name="T114" fmla="*/ 2147483647 w 10043"/>
                <a:gd name="T115" fmla="*/ 2147483647 h 10000"/>
                <a:gd name="T116" fmla="*/ 2147483647 w 10043"/>
                <a:gd name="T117" fmla="*/ 2147483647 h 10000"/>
                <a:gd name="T118" fmla="*/ 2147483647 w 10043"/>
                <a:gd name="T119" fmla="*/ 2147483647 h 10000"/>
                <a:gd name="T120" fmla="*/ 2147483647 w 10043"/>
                <a:gd name="T121" fmla="*/ 2147483647 h 100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043" h="10000">
                  <a:moveTo>
                    <a:pt x="9119" y="7195"/>
                  </a:moveTo>
                  <a:cubicBezTo>
                    <a:pt x="9204" y="7033"/>
                    <a:pt x="9249" y="6746"/>
                    <a:pt x="9276" y="6559"/>
                  </a:cubicBezTo>
                  <a:cubicBezTo>
                    <a:pt x="9302" y="6372"/>
                    <a:pt x="9276" y="6235"/>
                    <a:pt x="9276" y="6074"/>
                  </a:cubicBezTo>
                  <a:cubicBezTo>
                    <a:pt x="9191" y="5911"/>
                    <a:pt x="9105" y="5750"/>
                    <a:pt x="9020" y="5588"/>
                  </a:cubicBezTo>
                  <a:cubicBezTo>
                    <a:pt x="8849" y="5588"/>
                    <a:pt x="8579" y="5641"/>
                    <a:pt x="8508" y="5588"/>
                  </a:cubicBezTo>
                  <a:cubicBezTo>
                    <a:pt x="8437" y="5534"/>
                    <a:pt x="8566" y="5375"/>
                    <a:pt x="8596" y="5268"/>
                  </a:cubicBezTo>
                  <a:cubicBezTo>
                    <a:pt x="8822" y="4969"/>
                    <a:pt x="9120" y="4562"/>
                    <a:pt x="9276" y="4373"/>
                  </a:cubicBezTo>
                  <a:cubicBezTo>
                    <a:pt x="9431" y="4183"/>
                    <a:pt x="9446" y="4210"/>
                    <a:pt x="9531" y="4129"/>
                  </a:cubicBezTo>
                  <a:lnTo>
                    <a:pt x="9531" y="3158"/>
                  </a:lnTo>
                  <a:lnTo>
                    <a:pt x="10043" y="2672"/>
                  </a:lnTo>
                  <a:lnTo>
                    <a:pt x="9276" y="2429"/>
                  </a:lnTo>
                  <a:lnTo>
                    <a:pt x="8764" y="2186"/>
                  </a:lnTo>
                  <a:lnTo>
                    <a:pt x="7996" y="1943"/>
                  </a:lnTo>
                  <a:lnTo>
                    <a:pt x="7741" y="1700"/>
                  </a:lnTo>
                  <a:lnTo>
                    <a:pt x="7229" y="1457"/>
                  </a:lnTo>
                  <a:lnTo>
                    <a:pt x="6717" y="1215"/>
                  </a:lnTo>
                  <a:lnTo>
                    <a:pt x="6461" y="729"/>
                  </a:lnTo>
                  <a:lnTo>
                    <a:pt x="5950" y="486"/>
                  </a:lnTo>
                  <a:lnTo>
                    <a:pt x="5694" y="0"/>
                  </a:lnTo>
                  <a:lnTo>
                    <a:pt x="5182" y="243"/>
                  </a:lnTo>
                  <a:lnTo>
                    <a:pt x="4671" y="1215"/>
                  </a:lnTo>
                  <a:cubicBezTo>
                    <a:pt x="4586" y="1296"/>
                    <a:pt x="4545" y="1311"/>
                    <a:pt x="4415" y="1457"/>
                  </a:cubicBezTo>
                  <a:cubicBezTo>
                    <a:pt x="4285" y="1603"/>
                    <a:pt x="4129" y="1996"/>
                    <a:pt x="3890" y="2092"/>
                  </a:cubicBezTo>
                  <a:cubicBezTo>
                    <a:pt x="3651" y="2188"/>
                    <a:pt x="3168" y="2108"/>
                    <a:pt x="2979" y="2034"/>
                  </a:cubicBezTo>
                  <a:cubicBezTo>
                    <a:pt x="2790" y="1960"/>
                    <a:pt x="2862" y="1718"/>
                    <a:pt x="2757" y="1649"/>
                  </a:cubicBezTo>
                  <a:cubicBezTo>
                    <a:pt x="2652" y="1580"/>
                    <a:pt x="2418" y="1522"/>
                    <a:pt x="2348" y="1621"/>
                  </a:cubicBezTo>
                  <a:cubicBezTo>
                    <a:pt x="2279" y="1720"/>
                    <a:pt x="2337" y="2029"/>
                    <a:pt x="2340" y="2245"/>
                  </a:cubicBezTo>
                  <a:cubicBezTo>
                    <a:pt x="2343" y="2461"/>
                    <a:pt x="2491" y="2803"/>
                    <a:pt x="2368" y="2915"/>
                  </a:cubicBezTo>
                  <a:cubicBezTo>
                    <a:pt x="2245" y="3027"/>
                    <a:pt x="1781" y="2985"/>
                    <a:pt x="1601" y="2915"/>
                  </a:cubicBezTo>
                  <a:cubicBezTo>
                    <a:pt x="1421" y="2845"/>
                    <a:pt x="1442" y="2545"/>
                    <a:pt x="1289" y="2497"/>
                  </a:cubicBezTo>
                  <a:cubicBezTo>
                    <a:pt x="1136" y="2449"/>
                    <a:pt x="893" y="2584"/>
                    <a:pt x="684" y="2625"/>
                  </a:cubicBezTo>
                  <a:cubicBezTo>
                    <a:pt x="475" y="2666"/>
                    <a:pt x="131" y="2638"/>
                    <a:pt x="33" y="2742"/>
                  </a:cubicBezTo>
                  <a:cubicBezTo>
                    <a:pt x="-65" y="2846"/>
                    <a:pt x="82" y="3088"/>
                    <a:pt x="94" y="3251"/>
                  </a:cubicBezTo>
                  <a:cubicBezTo>
                    <a:pt x="106" y="3414"/>
                    <a:pt x="-17" y="3533"/>
                    <a:pt x="105" y="3720"/>
                  </a:cubicBezTo>
                  <a:cubicBezTo>
                    <a:pt x="228" y="3907"/>
                    <a:pt x="584" y="4264"/>
                    <a:pt x="833" y="4373"/>
                  </a:cubicBezTo>
                  <a:cubicBezTo>
                    <a:pt x="1082" y="4481"/>
                    <a:pt x="1345" y="4373"/>
                    <a:pt x="1601" y="4373"/>
                  </a:cubicBezTo>
                  <a:lnTo>
                    <a:pt x="1856" y="4616"/>
                  </a:lnTo>
                  <a:lnTo>
                    <a:pt x="1856" y="4859"/>
                  </a:lnTo>
                  <a:lnTo>
                    <a:pt x="2112" y="5345"/>
                  </a:lnTo>
                  <a:cubicBezTo>
                    <a:pt x="2197" y="5588"/>
                    <a:pt x="2283" y="5831"/>
                    <a:pt x="2368" y="6074"/>
                  </a:cubicBezTo>
                  <a:lnTo>
                    <a:pt x="2624" y="6316"/>
                  </a:lnTo>
                  <a:cubicBezTo>
                    <a:pt x="2624" y="6559"/>
                    <a:pt x="2696" y="6675"/>
                    <a:pt x="2624" y="7045"/>
                  </a:cubicBezTo>
                  <a:cubicBezTo>
                    <a:pt x="2551" y="7414"/>
                    <a:pt x="2272" y="8240"/>
                    <a:pt x="2188" y="8533"/>
                  </a:cubicBezTo>
                  <a:cubicBezTo>
                    <a:pt x="2104" y="8826"/>
                    <a:pt x="2064" y="8649"/>
                    <a:pt x="2118" y="8804"/>
                  </a:cubicBezTo>
                  <a:cubicBezTo>
                    <a:pt x="2173" y="8958"/>
                    <a:pt x="2390" y="9351"/>
                    <a:pt x="2516" y="9462"/>
                  </a:cubicBezTo>
                  <a:cubicBezTo>
                    <a:pt x="2643" y="9574"/>
                    <a:pt x="2734" y="9472"/>
                    <a:pt x="2880" y="9474"/>
                  </a:cubicBezTo>
                  <a:cubicBezTo>
                    <a:pt x="3025" y="9476"/>
                    <a:pt x="3220" y="9474"/>
                    <a:pt x="3391" y="9474"/>
                  </a:cubicBezTo>
                  <a:lnTo>
                    <a:pt x="4159" y="9717"/>
                  </a:lnTo>
                  <a:lnTo>
                    <a:pt x="4671" y="9717"/>
                  </a:lnTo>
                  <a:lnTo>
                    <a:pt x="5438" y="9960"/>
                  </a:lnTo>
                  <a:cubicBezTo>
                    <a:pt x="5609" y="9960"/>
                    <a:pt x="5793" y="10051"/>
                    <a:pt x="5950" y="9960"/>
                  </a:cubicBezTo>
                  <a:cubicBezTo>
                    <a:pt x="6106" y="9870"/>
                    <a:pt x="6222" y="9506"/>
                    <a:pt x="6375" y="9413"/>
                  </a:cubicBezTo>
                  <a:cubicBezTo>
                    <a:pt x="6529" y="9321"/>
                    <a:pt x="6594" y="9367"/>
                    <a:pt x="6869" y="9401"/>
                  </a:cubicBezTo>
                  <a:cubicBezTo>
                    <a:pt x="7143" y="9436"/>
                    <a:pt x="7722" y="9569"/>
                    <a:pt x="8022" y="9625"/>
                  </a:cubicBezTo>
                  <a:cubicBezTo>
                    <a:pt x="8322" y="9682"/>
                    <a:pt x="8393" y="9858"/>
                    <a:pt x="8668" y="9743"/>
                  </a:cubicBezTo>
                  <a:cubicBezTo>
                    <a:pt x="8942" y="9628"/>
                    <a:pt x="9580" y="8937"/>
                    <a:pt x="9665" y="8937"/>
                  </a:cubicBezTo>
                  <a:lnTo>
                    <a:pt x="9079" y="8091"/>
                  </a:lnTo>
                  <a:cubicBezTo>
                    <a:pt x="9008" y="7886"/>
                    <a:pt x="8985" y="7957"/>
                    <a:pt x="8942" y="7836"/>
                  </a:cubicBezTo>
                  <a:cubicBezTo>
                    <a:pt x="8899" y="7714"/>
                    <a:pt x="9114" y="7387"/>
                    <a:pt x="9119" y="7195"/>
                  </a:cubicBezTo>
                  <a:close/>
                </a:path>
              </a:pathLst>
            </a:custGeom>
            <a:grpFill/>
            <a:ln w="9525">
              <a:solidFill>
                <a:schemeClr val="bg2">
                  <a:lumMod val="50000"/>
                </a:schemeClr>
              </a:solidFill>
              <a:round/>
              <a:headEnd/>
              <a:tailEnd/>
            </a:ln>
          </p:spPr>
          <p:txBody>
            <a:bodyPr/>
            <a:lstStyle/>
            <a:p>
              <a:endParaRPr lang="en-US" dirty="0"/>
            </a:p>
          </p:txBody>
        </p:sp>
        <p:sp>
          <p:nvSpPr>
            <p:cNvPr id="12" name="Freeform 343"/>
            <p:cNvSpPr>
              <a:spLocks/>
            </p:cNvSpPr>
            <p:nvPr/>
          </p:nvSpPr>
          <p:spPr bwMode="gray">
            <a:xfrm>
              <a:off x="5102299" y="3080325"/>
              <a:ext cx="262133" cy="254945"/>
            </a:xfrm>
            <a:custGeom>
              <a:avLst/>
              <a:gdLst>
                <a:gd name="T0" fmla="*/ 2147483647 w 154"/>
                <a:gd name="T1" fmla="*/ 2147483647 h 154"/>
                <a:gd name="T2" fmla="*/ 2147483647 w 154"/>
                <a:gd name="T3" fmla="*/ 0 h 154"/>
                <a:gd name="T4" fmla="*/ 2147483647 w 154"/>
                <a:gd name="T5" fmla="*/ 0 h 154"/>
                <a:gd name="T6" fmla="*/ 2147483647 w 154"/>
                <a:gd name="T7" fmla="*/ 2147483647 h 154"/>
                <a:gd name="T8" fmla="*/ 2147483647 w 154"/>
                <a:gd name="T9" fmla="*/ 2147483647 h 154"/>
                <a:gd name="T10" fmla="*/ 2147483647 w 154"/>
                <a:gd name="T11" fmla="*/ 2147483647 h 154"/>
                <a:gd name="T12" fmla="*/ 2147483647 w 154"/>
                <a:gd name="T13" fmla="*/ 2147483647 h 154"/>
                <a:gd name="T14" fmla="*/ 2147483647 w 154"/>
                <a:gd name="T15" fmla="*/ 2147483647 h 154"/>
                <a:gd name="T16" fmla="*/ 2147483647 w 154"/>
                <a:gd name="T17" fmla="*/ 2147483647 h 154"/>
                <a:gd name="T18" fmla="*/ 2147483647 w 154"/>
                <a:gd name="T19" fmla="*/ 2147483647 h 154"/>
                <a:gd name="T20" fmla="*/ 2147483647 w 154"/>
                <a:gd name="T21" fmla="*/ 2147483647 h 154"/>
                <a:gd name="T22" fmla="*/ 0 w 154"/>
                <a:gd name="T23" fmla="*/ 2147483647 h 154"/>
                <a:gd name="T24" fmla="*/ 2147483647 w 154"/>
                <a:gd name="T25" fmla="*/ 2147483647 h 154"/>
                <a:gd name="T26" fmla="*/ 2147483647 w 154"/>
                <a:gd name="T27" fmla="*/ 2147483647 h 154"/>
                <a:gd name="T28" fmla="*/ 2147483647 w 154"/>
                <a:gd name="T29" fmla="*/ 2147483647 h 154"/>
                <a:gd name="T30" fmla="*/ 2147483647 w 154"/>
                <a:gd name="T31" fmla="*/ 2147483647 h 154"/>
                <a:gd name="T32" fmla="*/ 2147483647 w 154"/>
                <a:gd name="T33" fmla="*/ 2147483647 h 154"/>
                <a:gd name="T34" fmla="*/ 2147483647 w 154"/>
                <a:gd name="T35" fmla="*/ 2147483647 h 154"/>
                <a:gd name="T36" fmla="*/ 2147483647 w 154"/>
                <a:gd name="T37" fmla="*/ 2147483647 h 154"/>
                <a:gd name="T38" fmla="*/ 2147483647 w 154"/>
                <a:gd name="T39" fmla="*/ 2147483647 h 154"/>
                <a:gd name="T40" fmla="*/ 2147483647 w 154"/>
                <a:gd name="T41" fmla="*/ 2147483647 h 154"/>
                <a:gd name="T42" fmla="*/ 2147483647 w 154"/>
                <a:gd name="T43" fmla="*/ 2147483647 h 154"/>
                <a:gd name="T44" fmla="*/ 2147483647 w 154"/>
                <a:gd name="T45" fmla="*/ 2147483647 h 154"/>
                <a:gd name="T46" fmla="*/ 2147483647 w 154"/>
                <a:gd name="T47" fmla="*/ 2147483647 h 154"/>
                <a:gd name="T48" fmla="*/ 2147483647 w 154"/>
                <a:gd name="T49" fmla="*/ 2147483647 h 154"/>
                <a:gd name="T50" fmla="*/ 2147483647 w 154"/>
                <a:gd name="T51" fmla="*/ 2147483647 h 154"/>
                <a:gd name="T52" fmla="*/ 2147483647 w 154"/>
                <a:gd name="T53" fmla="*/ 2147483647 h 154"/>
                <a:gd name="T54" fmla="*/ 2147483647 w 154"/>
                <a:gd name="T55" fmla="*/ 2147483647 h 154"/>
                <a:gd name="T56" fmla="*/ 2147483647 w 154"/>
                <a:gd name="T57" fmla="*/ 2147483647 h 154"/>
                <a:gd name="T58" fmla="*/ 2147483647 w 154"/>
                <a:gd name="T59" fmla="*/ 2147483647 h 154"/>
                <a:gd name="T60" fmla="*/ 2147483647 w 154"/>
                <a:gd name="T61" fmla="*/ 2147483647 h 154"/>
                <a:gd name="T62" fmla="*/ 2147483647 w 154"/>
                <a:gd name="T63" fmla="*/ 2147483647 h 154"/>
                <a:gd name="T64" fmla="*/ 2147483647 w 154"/>
                <a:gd name="T65" fmla="*/ 2147483647 h 154"/>
                <a:gd name="T66" fmla="*/ 2147483647 w 154"/>
                <a:gd name="T67" fmla="*/ 2147483647 h 1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4" h="154">
                  <a:moveTo>
                    <a:pt x="87" y="4"/>
                  </a:moveTo>
                  <a:lnTo>
                    <a:pt x="71" y="0"/>
                  </a:lnTo>
                  <a:lnTo>
                    <a:pt x="54" y="0"/>
                  </a:lnTo>
                  <a:lnTo>
                    <a:pt x="50" y="4"/>
                  </a:lnTo>
                  <a:lnTo>
                    <a:pt x="46" y="4"/>
                  </a:lnTo>
                  <a:lnTo>
                    <a:pt x="37" y="8"/>
                  </a:lnTo>
                  <a:lnTo>
                    <a:pt x="25" y="12"/>
                  </a:lnTo>
                  <a:lnTo>
                    <a:pt x="21" y="8"/>
                  </a:lnTo>
                  <a:lnTo>
                    <a:pt x="8" y="16"/>
                  </a:lnTo>
                  <a:lnTo>
                    <a:pt x="4" y="16"/>
                  </a:lnTo>
                  <a:lnTo>
                    <a:pt x="4" y="25"/>
                  </a:lnTo>
                  <a:lnTo>
                    <a:pt x="0" y="33"/>
                  </a:lnTo>
                  <a:lnTo>
                    <a:pt x="4" y="45"/>
                  </a:lnTo>
                  <a:lnTo>
                    <a:pt x="12" y="54"/>
                  </a:lnTo>
                  <a:lnTo>
                    <a:pt x="21" y="45"/>
                  </a:lnTo>
                  <a:lnTo>
                    <a:pt x="42" y="54"/>
                  </a:lnTo>
                  <a:lnTo>
                    <a:pt x="54" y="78"/>
                  </a:lnTo>
                  <a:lnTo>
                    <a:pt x="67" y="95"/>
                  </a:lnTo>
                  <a:lnTo>
                    <a:pt x="96" y="112"/>
                  </a:lnTo>
                  <a:lnTo>
                    <a:pt x="114" y="126"/>
                  </a:lnTo>
                  <a:lnTo>
                    <a:pt x="106" y="154"/>
                  </a:lnTo>
                  <a:lnTo>
                    <a:pt x="133" y="133"/>
                  </a:lnTo>
                  <a:lnTo>
                    <a:pt x="133" y="120"/>
                  </a:lnTo>
                  <a:lnTo>
                    <a:pt x="146" y="124"/>
                  </a:lnTo>
                  <a:lnTo>
                    <a:pt x="154" y="124"/>
                  </a:lnTo>
                  <a:lnTo>
                    <a:pt x="133" y="104"/>
                  </a:lnTo>
                  <a:lnTo>
                    <a:pt x="117" y="91"/>
                  </a:lnTo>
                  <a:lnTo>
                    <a:pt x="104" y="87"/>
                  </a:lnTo>
                  <a:lnTo>
                    <a:pt x="87" y="58"/>
                  </a:lnTo>
                  <a:lnTo>
                    <a:pt x="79" y="41"/>
                  </a:lnTo>
                  <a:lnTo>
                    <a:pt x="83" y="25"/>
                  </a:lnTo>
                  <a:lnTo>
                    <a:pt x="87" y="25"/>
                  </a:lnTo>
                  <a:lnTo>
                    <a:pt x="87" y="16"/>
                  </a:lnTo>
                  <a:lnTo>
                    <a:pt x="87" y="4"/>
                  </a:lnTo>
                  <a:close/>
                </a:path>
              </a:pathLst>
            </a:custGeom>
            <a:grpFill/>
            <a:ln w="9525">
              <a:solidFill>
                <a:schemeClr val="bg2">
                  <a:lumMod val="50000"/>
                </a:schemeClr>
              </a:solidFill>
              <a:round/>
              <a:headEnd/>
              <a:tailEnd/>
            </a:ln>
          </p:spPr>
          <p:txBody>
            <a:bodyPr/>
            <a:lstStyle/>
            <a:p>
              <a:endParaRPr lang="en-US" dirty="0"/>
            </a:p>
          </p:txBody>
        </p:sp>
        <p:sp>
          <p:nvSpPr>
            <p:cNvPr id="13" name="Freeform 344"/>
            <p:cNvSpPr>
              <a:spLocks/>
            </p:cNvSpPr>
            <p:nvPr/>
          </p:nvSpPr>
          <p:spPr bwMode="gray">
            <a:xfrm>
              <a:off x="5095613" y="2831785"/>
              <a:ext cx="168514" cy="235728"/>
            </a:xfrm>
            <a:custGeom>
              <a:avLst/>
              <a:gdLst>
                <a:gd name="T0" fmla="*/ 2147483647 w 10045"/>
                <a:gd name="T1" fmla="*/ 2147483647 h 10019"/>
                <a:gd name="T2" fmla="*/ 2147483647 w 10045"/>
                <a:gd name="T3" fmla="*/ 2147483647 h 10019"/>
                <a:gd name="T4" fmla="*/ 2147483647 w 10045"/>
                <a:gd name="T5" fmla="*/ 2147483647 h 10019"/>
                <a:gd name="T6" fmla="*/ 2147483647 w 10045"/>
                <a:gd name="T7" fmla="*/ 2147483647 h 10019"/>
                <a:gd name="T8" fmla="*/ 2147483647 w 10045"/>
                <a:gd name="T9" fmla="*/ 2147483647 h 10019"/>
                <a:gd name="T10" fmla="*/ 1081275730 w 10045"/>
                <a:gd name="T11" fmla="*/ 2147483647 h 10019"/>
                <a:gd name="T12" fmla="*/ 1081275730 w 10045"/>
                <a:gd name="T13" fmla="*/ 2147483647 h 10019"/>
                <a:gd name="T14" fmla="*/ 2147483647 w 10045"/>
                <a:gd name="T15" fmla="*/ 2147483647 h 10019"/>
                <a:gd name="T16" fmla="*/ 1081275730 w 10045"/>
                <a:gd name="T17" fmla="*/ 2147483647 h 10019"/>
                <a:gd name="T18" fmla="*/ 0 w 10045"/>
                <a:gd name="T19" fmla="*/ 2147483647 h 10019"/>
                <a:gd name="T20" fmla="*/ 2147483647 w 10045"/>
                <a:gd name="T21" fmla="*/ 2147483647 h 10019"/>
                <a:gd name="T22" fmla="*/ 2147483647 w 10045"/>
                <a:gd name="T23" fmla="*/ 2147483647 h 10019"/>
                <a:gd name="T24" fmla="*/ 2147483647 w 10045"/>
                <a:gd name="T25" fmla="*/ 2147483647 h 10019"/>
                <a:gd name="T26" fmla="*/ 2147483647 w 10045"/>
                <a:gd name="T27" fmla="*/ 2147483647 h 10019"/>
                <a:gd name="T28" fmla="*/ 2147483647 w 10045"/>
                <a:gd name="T29" fmla="*/ 2147483647 h 10019"/>
                <a:gd name="T30" fmla="*/ 2147483647 w 10045"/>
                <a:gd name="T31" fmla="*/ 2147483647 h 10019"/>
                <a:gd name="T32" fmla="*/ 2147483647 w 10045"/>
                <a:gd name="T33" fmla="*/ 2147483647 h 10019"/>
                <a:gd name="T34" fmla="*/ 2147483647 w 10045"/>
                <a:gd name="T35" fmla="*/ 2147483647 h 10019"/>
                <a:gd name="T36" fmla="*/ 2147483647 w 10045"/>
                <a:gd name="T37" fmla="*/ 2147483647 h 10019"/>
                <a:gd name="T38" fmla="*/ 2147483647 w 10045"/>
                <a:gd name="T39" fmla="*/ 2147483647 h 10019"/>
                <a:gd name="T40" fmla="*/ 2147483647 w 10045"/>
                <a:gd name="T41" fmla="*/ 2147483647 h 10019"/>
                <a:gd name="T42" fmla="*/ 2147483647 w 10045"/>
                <a:gd name="T43" fmla="*/ 2147483647 h 10019"/>
                <a:gd name="T44" fmla="*/ 2147483647 w 10045"/>
                <a:gd name="T45" fmla="*/ 2147483647 h 10019"/>
                <a:gd name="T46" fmla="*/ 2147483647 w 10045"/>
                <a:gd name="T47" fmla="*/ 2147483647 h 10019"/>
                <a:gd name="T48" fmla="*/ 2147483647 w 10045"/>
                <a:gd name="T49" fmla="*/ 2147483647 h 10019"/>
                <a:gd name="T50" fmla="*/ 2147483647 w 10045"/>
                <a:gd name="T51" fmla="*/ 2147483647 h 10019"/>
                <a:gd name="T52" fmla="*/ 2147483647 w 10045"/>
                <a:gd name="T53" fmla="*/ 2147483647 h 10019"/>
                <a:gd name="T54" fmla="*/ 2147483647 w 10045"/>
                <a:gd name="T55" fmla="*/ 2147483647 h 10019"/>
                <a:gd name="T56" fmla="*/ 2147483647 w 10045"/>
                <a:gd name="T57" fmla="*/ 2147483647 h 10019"/>
                <a:gd name="T58" fmla="*/ 2147483647 w 10045"/>
                <a:gd name="T59" fmla="*/ 2147483647 h 10019"/>
                <a:gd name="T60" fmla="*/ 2147483647 w 10045"/>
                <a:gd name="T61" fmla="*/ 2147483647 h 10019"/>
                <a:gd name="T62" fmla="*/ 2147483647 w 10045"/>
                <a:gd name="T63" fmla="*/ 2147483647 h 10019"/>
                <a:gd name="T64" fmla="*/ 2147483647 w 10045"/>
                <a:gd name="T65" fmla="*/ 2147483647 h 10019"/>
                <a:gd name="T66" fmla="*/ 2147483647 w 10045"/>
                <a:gd name="T67" fmla="*/ 2147483647 h 10019"/>
                <a:gd name="T68" fmla="*/ 2147483647 w 10045"/>
                <a:gd name="T69" fmla="*/ 2147483647 h 10019"/>
                <a:gd name="T70" fmla="*/ 2147483647 w 10045"/>
                <a:gd name="T71" fmla="*/ 2147483647 h 10019"/>
                <a:gd name="T72" fmla="*/ 2147483647 w 10045"/>
                <a:gd name="T73" fmla="*/ 2147483647 h 10019"/>
                <a:gd name="T74" fmla="*/ 2147483647 w 10045"/>
                <a:gd name="T75" fmla="*/ 2147483647 h 10019"/>
                <a:gd name="T76" fmla="*/ 2147483647 w 10045"/>
                <a:gd name="T77" fmla="*/ 2147483647 h 10019"/>
                <a:gd name="T78" fmla="*/ 2147483647 w 10045"/>
                <a:gd name="T79" fmla="*/ 2147483647 h 10019"/>
                <a:gd name="T80" fmla="*/ 2147483647 w 10045"/>
                <a:gd name="T81" fmla="*/ 2147483647 h 10019"/>
                <a:gd name="T82" fmla="*/ 2147483647 w 10045"/>
                <a:gd name="T83" fmla="*/ 2147483647 h 10019"/>
                <a:gd name="T84" fmla="*/ 2147483647 w 10045"/>
                <a:gd name="T85" fmla="*/ 2147483647 h 10019"/>
                <a:gd name="T86" fmla="*/ 2147483647 w 10045"/>
                <a:gd name="T87" fmla="*/ 2147483647 h 10019"/>
                <a:gd name="T88" fmla="*/ 2147483647 w 10045"/>
                <a:gd name="T89" fmla="*/ 2147483647 h 10019"/>
                <a:gd name="T90" fmla="*/ 2147483647 w 10045"/>
                <a:gd name="T91" fmla="*/ 2147483647 h 10019"/>
                <a:gd name="T92" fmla="*/ 2147483647 w 10045"/>
                <a:gd name="T93" fmla="*/ 2147483647 h 10019"/>
                <a:gd name="T94" fmla="*/ 2147483647 w 10045"/>
                <a:gd name="T95" fmla="*/ 2147483647 h 10019"/>
                <a:gd name="T96" fmla="*/ 2147483647 w 10045"/>
                <a:gd name="T97" fmla="*/ 2147483647 h 10019"/>
                <a:gd name="T98" fmla="*/ 2147483647 w 10045"/>
                <a:gd name="T99" fmla="*/ 2147483647 h 10019"/>
                <a:gd name="T100" fmla="*/ 2147483647 w 10045"/>
                <a:gd name="T101" fmla="*/ 2147483647 h 10019"/>
                <a:gd name="T102" fmla="*/ 2147483647 w 10045"/>
                <a:gd name="T103" fmla="*/ 0 h 10019"/>
                <a:gd name="T104" fmla="*/ 2147483647 w 10045"/>
                <a:gd name="T105" fmla="*/ 2147483647 h 10019"/>
                <a:gd name="T106" fmla="*/ 2147483647 w 10045"/>
                <a:gd name="T107" fmla="*/ 2147483647 h 10019"/>
                <a:gd name="T108" fmla="*/ 2147483647 w 10045"/>
                <a:gd name="T109" fmla="*/ 2147483647 h 10019"/>
                <a:gd name="T110" fmla="*/ 2147483647 w 10045"/>
                <a:gd name="T111" fmla="*/ 2147483647 h 10019"/>
                <a:gd name="T112" fmla="*/ 2147483647 w 10045"/>
                <a:gd name="T113" fmla="*/ 2147483647 h 10019"/>
                <a:gd name="T114" fmla="*/ 2147483647 w 10045"/>
                <a:gd name="T115" fmla="*/ 2147483647 h 10019"/>
                <a:gd name="T116" fmla="*/ 2147483647 w 10045"/>
                <a:gd name="T117" fmla="*/ 2147483647 h 10019"/>
                <a:gd name="T118" fmla="*/ 2147483647 w 10045"/>
                <a:gd name="T119" fmla="*/ 2147483647 h 1001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0045" h="10019">
                  <a:moveTo>
                    <a:pt x="1724" y="2609"/>
                  </a:moveTo>
                  <a:lnTo>
                    <a:pt x="1379" y="3132"/>
                  </a:lnTo>
                  <a:lnTo>
                    <a:pt x="1379" y="3915"/>
                  </a:lnTo>
                  <a:lnTo>
                    <a:pt x="690" y="4436"/>
                  </a:lnTo>
                  <a:lnTo>
                    <a:pt x="690" y="5219"/>
                  </a:lnTo>
                  <a:lnTo>
                    <a:pt x="345" y="5741"/>
                  </a:lnTo>
                  <a:lnTo>
                    <a:pt x="690" y="6263"/>
                  </a:lnTo>
                  <a:lnTo>
                    <a:pt x="345" y="6786"/>
                  </a:lnTo>
                  <a:lnTo>
                    <a:pt x="0" y="7306"/>
                  </a:lnTo>
                  <a:lnTo>
                    <a:pt x="1034" y="7568"/>
                  </a:lnTo>
                  <a:lnTo>
                    <a:pt x="1724" y="7829"/>
                  </a:lnTo>
                  <a:cubicBezTo>
                    <a:pt x="2069" y="7916"/>
                    <a:pt x="2675" y="8005"/>
                    <a:pt x="2759" y="8090"/>
                  </a:cubicBezTo>
                  <a:cubicBezTo>
                    <a:pt x="2843" y="8175"/>
                    <a:pt x="2382" y="8117"/>
                    <a:pt x="2230" y="8339"/>
                  </a:cubicBezTo>
                  <a:cubicBezTo>
                    <a:pt x="2078" y="8560"/>
                    <a:pt x="1874" y="9189"/>
                    <a:pt x="1848" y="9422"/>
                  </a:cubicBezTo>
                  <a:cubicBezTo>
                    <a:pt x="1822" y="9656"/>
                    <a:pt x="1806" y="9700"/>
                    <a:pt x="2073" y="9738"/>
                  </a:cubicBezTo>
                  <a:cubicBezTo>
                    <a:pt x="2340" y="9777"/>
                    <a:pt x="3104" y="9626"/>
                    <a:pt x="3448" y="9656"/>
                  </a:cubicBezTo>
                  <a:cubicBezTo>
                    <a:pt x="3792" y="9686"/>
                    <a:pt x="3969" y="9858"/>
                    <a:pt x="4138" y="9917"/>
                  </a:cubicBezTo>
                  <a:cubicBezTo>
                    <a:pt x="4307" y="9976"/>
                    <a:pt x="4368" y="9999"/>
                    <a:pt x="4463" y="10013"/>
                  </a:cubicBezTo>
                  <a:cubicBezTo>
                    <a:pt x="4558" y="10027"/>
                    <a:pt x="4532" y="10015"/>
                    <a:pt x="4708" y="9999"/>
                  </a:cubicBezTo>
                  <a:cubicBezTo>
                    <a:pt x="4884" y="9983"/>
                    <a:pt x="5267" y="9931"/>
                    <a:pt x="5517" y="9917"/>
                  </a:cubicBezTo>
                  <a:cubicBezTo>
                    <a:pt x="5767" y="9903"/>
                    <a:pt x="5977" y="9917"/>
                    <a:pt x="6207" y="9917"/>
                  </a:cubicBezTo>
                  <a:cubicBezTo>
                    <a:pt x="6667" y="9830"/>
                    <a:pt x="7228" y="9704"/>
                    <a:pt x="7586" y="9656"/>
                  </a:cubicBezTo>
                  <a:cubicBezTo>
                    <a:pt x="7944" y="9608"/>
                    <a:pt x="8185" y="9677"/>
                    <a:pt x="8353" y="9629"/>
                  </a:cubicBezTo>
                  <a:cubicBezTo>
                    <a:pt x="8521" y="9581"/>
                    <a:pt x="8604" y="9494"/>
                    <a:pt x="8597" y="9368"/>
                  </a:cubicBezTo>
                  <a:cubicBezTo>
                    <a:pt x="8590" y="9242"/>
                    <a:pt x="8278" y="8989"/>
                    <a:pt x="8312" y="8872"/>
                  </a:cubicBezTo>
                  <a:cubicBezTo>
                    <a:pt x="8346" y="8755"/>
                    <a:pt x="8653" y="8734"/>
                    <a:pt x="8802" y="8668"/>
                  </a:cubicBezTo>
                  <a:cubicBezTo>
                    <a:pt x="8951" y="8602"/>
                    <a:pt x="9106" y="8518"/>
                    <a:pt x="9207" y="8474"/>
                  </a:cubicBezTo>
                  <a:cubicBezTo>
                    <a:pt x="9308" y="8430"/>
                    <a:pt x="9462" y="8479"/>
                    <a:pt x="9408" y="8406"/>
                  </a:cubicBezTo>
                  <a:cubicBezTo>
                    <a:pt x="9354" y="8333"/>
                    <a:pt x="9101" y="8223"/>
                    <a:pt x="8882" y="8035"/>
                  </a:cubicBezTo>
                  <a:cubicBezTo>
                    <a:pt x="8663" y="7847"/>
                    <a:pt x="8352" y="7492"/>
                    <a:pt x="8092" y="7279"/>
                  </a:cubicBezTo>
                  <a:cubicBezTo>
                    <a:pt x="7832" y="7066"/>
                    <a:pt x="7487" y="6889"/>
                    <a:pt x="7321" y="6759"/>
                  </a:cubicBezTo>
                  <a:cubicBezTo>
                    <a:pt x="7155" y="6629"/>
                    <a:pt x="7054" y="6580"/>
                    <a:pt x="7098" y="6497"/>
                  </a:cubicBezTo>
                  <a:cubicBezTo>
                    <a:pt x="7142" y="6414"/>
                    <a:pt x="7390" y="6345"/>
                    <a:pt x="7586" y="6263"/>
                  </a:cubicBezTo>
                  <a:cubicBezTo>
                    <a:pt x="7782" y="6181"/>
                    <a:pt x="8026" y="6082"/>
                    <a:pt x="8276" y="6002"/>
                  </a:cubicBezTo>
                  <a:cubicBezTo>
                    <a:pt x="8526" y="5922"/>
                    <a:pt x="8900" y="5853"/>
                    <a:pt x="9086" y="5782"/>
                  </a:cubicBezTo>
                  <a:cubicBezTo>
                    <a:pt x="9272" y="5711"/>
                    <a:pt x="9238" y="5584"/>
                    <a:pt x="9390" y="5577"/>
                  </a:cubicBezTo>
                  <a:cubicBezTo>
                    <a:pt x="9542" y="5570"/>
                    <a:pt x="9898" y="5757"/>
                    <a:pt x="10000" y="5741"/>
                  </a:cubicBezTo>
                  <a:cubicBezTo>
                    <a:pt x="10102" y="5725"/>
                    <a:pt x="10000" y="5568"/>
                    <a:pt x="10000" y="5481"/>
                  </a:cubicBezTo>
                  <a:lnTo>
                    <a:pt x="10000" y="4697"/>
                  </a:lnTo>
                  <a:cubicBezTo>
                    <a:pt x="9655" y="4697"/>
                    <a:pt x="9655" y="3654"/>
                    <a:pt x="9655" y="3654"/>
                  </a:cubicBezTo>
                  <a:lnTo>
                    <a:pt x="9655" y="2871"/>
                  </a:lnTo>
                  <a:lnTo>
                    <a:pt x="9655" y="2609"/>
                  </a:lnTo>
                  <a:lnTo>
                    <a:pt x="9310" y="1827"/>
                  </a:lnTo>
                  <a:lnTo>
                    <a:pt x="9310" y="1305"/>
                  </a:lnTo>
                  <a:lnTo>
                    <a:pt x="7931" y="783"/>
                  </a:lnTo>
                  <a:lnTo>
                    <a:pt x="6552" y="1305"/>
                  </a:lnTo>
                  <a:cubicBezTo>
                    <a:pt x="6552" y="1305"/>
                    <a:pt x="6207" y="1305"/>
                    <a:pt x="5862" y="1044"/>
                  </a:cubicBezTo>
                  <a:lnTo>
                    <a:pt x="5862" y="522"/>
                  </a:lnTo>
                  <a:lnTo>
                    <a:pt x="4828" y="261"/>
                  </a:lnTo>
                  <a:lnTo>
                    <a:pt x="4138" y="0"/>
                  </a:lnTo>
                  <a:lnTo>
                    <a:pt x="3793" y="261"/>
                  </a:lnTo>
                  <a:lnTo>
                    <a:pt x="3448" y="1305"/>
                  </a:lnTo>
                  <a:lnTo>
                    <a:pt x="3103" y="1827"/>
                  </a:lnTo>
                  <a:lnTo>
                    <a:pt x="2414" y="1827"/>
                  </a:lnTo>
                  <a:lnTo>
                    <a:pt x="1724" y="1827"/>
                  </a:lnTo>
                  <a:lnTo>
                    <a:pt x="1724" y="2088"/>
                  </a:lnTo>
                  <a:lnTo>
                    <a:pt x="1724" y="2609"/>
                  </a:lnTo>
                  <a:close/>
                </a:path>
              </a:pathLst>
            </a:custGeom>
            <a:grpFill/>
            <a:ln w="9525">
              <a:solidFill>
                <a:schemeClr val="bg2">
                  <a:lumMod val="50000"/>
                </a:schemeClr>
              </a:solidFill>
              <a:round/>
              <a:headEnd/>
              <a:tailEnd/>
            </a:ln>
          </p:spPr>
          <p:txBody>
            <a:bodyPr/>
            <a:lstStyle/>
            <a:p>
              <a:endParaRPr lang="en-US" dirty="0"/>
            </a:p>
          </p:txBody>
        </p:sp>
        <p:sp>
          <p:nvSpPr>
            <p:cNvPr id="14" name="Freeform 345"/>
            <p:cNvSpPr>
              <a:spLocks/>
            </p:cNvSpPr>
            <p:nvPr/>
          </p:nvSpPr>
          <p:spPr bwMode="gray">
            <a:xfrm>
              <a:off x="5074213" y="2880467"/>
              <a:ext cx="64196" cy="81992"/>
            </a:xfrm>
            <a:custGeom>
              <a:avLst/>
              <a:gdLst>
                <a:gd name="T0" fmla="*/ 2147483647 w 66"/>
                <a:gd name="T1" fmla="*/ 2147483647 h 90"/>
                <a:gd name="T2" fmla="*/ 2147483647 w 66"/>
                <a:gd name="T3" fmla="*/ 2147483647 h 90"/>
                <a:gd name="T4" fmla="*/ 2147483647 w 66"/>
                <a:gd name="T5" fmla="*/ 2147483647 h 90"/>
                <a:gd name="T6" fmla="*/ 2147483647 w 66"/>
                <a:gd name="T7" fmla="*/ 2147483647 h 90"/>
                <a:gd name="T8" fmla="*/ 2147483647 w 66"/>
                <a:gd name="T9" fmla="*/ 2147483647 h 90"/>
                <a:gd name="T10" fmla="*/ 2147483647 w 66"/>
                <a:gd name="T11" fmla="*/ 2147483647 h 90"/>
                <a:gd name="T12" fmla="*/ 2147483647 w 66"/>
                <a:gd name="T13" fmla="*/ 2147483647 h 90"/>
                <a:gd name="T14" fmla="*/ 2147483647 w 66"/>
                <a:gd name="T15" fmla="*/ 2147483647 h 90"/>
                <a:gd name="T16" fmla="*/ 2147483647 w 66"/>
                <a:gd name="T17" fmla="*/ 2147483647 h 90"/>
                <a:gd name="T18" fmla="*/ 2147483647 w 66"/>
                <a:gd name="T19" fmla="*/ 2147483647 h 90"/>
                <a:gd name="T20" fmla="*/ 2147483647 w 66"/>
                <a:gd name="T21" fmla="*/ 0 h 90"/>
                <a:gd name="T22" fmla="*/ 2147483647 w 66"/>
                <a:gd name="T23" fmla="*/ 2147483647 h 90"/>
                <a:gd name="T24" fmla="*/ 2147483647 w 66"/>
                <a:gd name="T25" fmla="*/ 2147483647 h 90"/>
                <a:gd name="T26" fmla="*/ 2147483647 w 66"/>
                <a:gd name="T27" fmla="*/ 2147483647 h 90"/>
                <a:gd name="T28" fmla="*/ 2147483647 w 66"/>
                <a:gd name="T29" fmla="*/ 2147483647 h 90"/>
                <a:gd name="T30" fmla="*/ 2147483647 w 66"/>
                <a:gd name="T31" fmla="*/ 2147483647 h 90"/>
                <a:gd name="T32" fmla="*/ 0 w 66"/>
                <a:gd name="T33" fmla="*/ 2147483647 h 90"/>
                <a:gd name="T34" fmla="*/ 2147483647 w 66"/>
                <a:gd name="T35" fmla="*/ 2147483647 h 90"/>
                <a:gd name="T36" fmla="*/ 2147483647 w 66"/>
                <a:gd name="T37" fmla="*/ 2147483647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6" h="90">
                  <a:moveTo>
                    <a:pt x="18" y="72"/>
                  </a:moveTo>
                  <a:lnTo>
                    <a:pt x="30" y="78"/>
                  </a:lnTo>
                  <a:lnTo>
                    <a:pt x="36" y="84"/>
                  </a:lnTo>
                  <a:lnTo>
                    <a:pt x="42" y="90"/>
                  </a:lnTo>
                  <a:lnTo>
                    <a:pt x="48" y="78"/>
                  </a:lnTo>
                  <a:lnTo>
                    <a:pt x="48" y="60"/>
                  </a:lnTo>
                  <a:lnTo>
                    <a:pt x="60" y="48"/>
                  </a:lnTo>
                  <a:lnTo>
                    <a:pt x="60" y="30"/>
                  </a:lnTo>
                  <a:lnTo>
                    <a:pt x="66" y="18"/>
                  </a:lnTo>
                  <a:lnTo>
                    <a:pt x="66" y="6"/>
                  </a:lnTo>
                  <a:lnTo>
                    <a:pt x="66" y="0"/>
                  </a:lnTo>
                  <a:lnTo>
                    <a:pt x="54" y="6"/>
                  </a:lnTo>
                  <a:lnTo>
                    <a:pt x="36" y="12"/>
                  </a:lnTo>
                  <a:lnTo>
                    <a:pt x="36" y="30"/>
                  </a:lnTo>
                  <a:lnTo>
                    <a:pt x="24" y="18"/>
                  </a:lnTo>
                  <a:lnTo>
                    <a:pt x="12" y="54"/>
                  </a:lnTo>
                  <a:lnTo>
                    <a:pt x="0" y="66"/>
                  </a:lnTo>
                  <a:lnTo>
                    <a:pt x="6" y="72"/>
                  </a:lnTo>
                  <a:lnTo>
                    <a:pt x="18" y="72"/>
                  </a:lnTo>
                  <a:close/>
                </a:path>
              </a:pathLst>
            </a:custGeom>
            <a:grpFill/>
            <a:ln w="9525">
              <a:solidFill>
                <a:schemeClr val="bg2">
                  <a:lumMod val="50000"/>
                </a:schemeClr>
              </a:solidFill>
              <a:round/>
              <a:headEnd/>
              <a:tailEnd/>
            </a:ln>
          </p:spPr>
          <p:txBody>
            <a:bodyPr/>
            <a:lstStyle/>
            <a:p>
              <a:endParaRPr lang="en-US" dirty="0"/>
            </a:p>
          </p:txBody>
        </p:sp>
        <p:sp>
          <p:nvSpPr>
            <p:cNvPr id="15" name="Freeform 346"/>
            <p:cNvSpPr>
              <a:spLocks/>
            </p:cNvSpPr>
            <p:nvPr/>
          </p:nvSpPr>
          <p:spPr bwMode="gray">
            <a:xfrm rot="20966185">
              <a:off x="5395192" y="3230217"/>
              <a:ext cx="133741" cy="131957"/>
            </a:xfrm>
            <a:custGeom>
              <a:avLst/>
              <a:gdLst>
                <a:gd name="T0" fmla="*/ 2147483647 w 9874"/>
                <a:gd name="T1" fmla="*/ 861456484 h 10000"/>
                <a:gd name="T2" fmla="*/ 2147483647 w 9874"/>
                <a:gd name="T3" fmla="*/ 573160271 h 10000"/>
                <a:gd name="T4" fmla="*/ 2147483647 w 9874"/>
                <a:gd name="T5" fmla="*/ 571945092 h 10000"/>
                <a:gd name="T6" fmla="*/ 2147483647 w 9874"/>
                <a:gd name="T7" fmla="*/ 0 h 10000"/>
                <a:gd name="T8" fmla="*/ 2147483647 w 9874"/>
                <a:gd name="T9" fmla="*/ 350414474 h 10000"/>
                <a:gd name="T10" fmla="*/ 2147483647 w 9874"/>
                <a:gd name="T11" fmla="*/ 1282208266 h 10000"/>
                <a:gd name="T12" fmla="*/ 1792679761 w 9874"/>
                <a:gd name="T13" fmla="*/ 1861231051 h 10000"/>
                <a:gd name="T14" fmla="*/ 1792679761 w 9874"/>
                <a:gd name="T15" fmla="*/ 2147483647 h 10000"/>
                <a:gd name="T16" fmla="*/ 1194741583 w 9874"/>
                <a:gd name="T17" fmla="*/ 2147483647 h 10000"/>
                <a:gd name="T18" fmla="*/ 0 w 9874"/>
                <a:gd name="T19" fmla="*/ 2147483647 h 10000"/>
                <a:gd name="T20" fmla="*/ 1194741583 w 9874"/>
                <a:gd name="T21" fmla="*/ 2147483647 h 10000"/>
                <a:gd name="T22" fmla="*/ 2147483647 w 9874"/>
                <a:gd name="T23" fmla="*/ 2147483647 h 10000"/>
                <a:gd name="T24" fmla="*/ 2147483647 w 9874"/>
                <a:gd name="T25" fmla="*/ 2147483647 h 10000"/>
                <a:gd name="T26" fmla="*/ 2147483647 w 9874"/>
                <a:gd name="T27" fmla="*/ 2147483647 h 10000"/>
                <a:gd name="T28" fmla="*/ 2147483647 w 9874"/>
                <a:gd name="T29" fmla="*/ 2147483647 h 10000"/>
                <a:gd name="T30" fmla="*/ 2147483647 w 9874"/>
                <a:gd name="T31" fmla="*/ 2147483647 h 10000"/>
                <a:gd name="T32" fmla="*/ 2147483647 w 9874"/>
                <a:gd name="T33" fmla="*/ 2147483647 h 10000"/>
                <a:gd name="T34" fmla="*/ 2147483647 w 9874"/>
                <a:gd name="T35" fmla="*/ 2147483647 h 10000"/>
                <a:gd name="T36" fmla="*/ 2147483647 w 9874"/>
                <a:gd name="T37" fmla="*/ 2147483647 h 10000"/>
                <a:gd name="T38" fmla="*/ 2147483647 w 9874"/>
                <a:gd name="T39" fmla="*/ 2147483647 h 10000"/>
                <a:gd name="T40" fmla="*/ 2147483647 w 9874"/>
                <a:gd name="T41" fmla="*/ 2147483647 h 10000"/>
                <a:gd name="T42" fmla="*/ 2147483647 w 9874"/>
                <a:gd name="T43" fmla="*/ 2147483647 h 10000"/>
                <a:gd name="T44" fmla="*/ 2147483647 w 9874"/>
                <a:gd name="T45" fmla="*/ 2083902531 h 10000"/>
                <a:gd name="T46" fmla="*/ 2147483647 w 9874"/>
                <a:gd name="T47" fmla="*/ 1331460655 h 10000"/>
                <a:gd name="T48" fmla="*/ 2147483647 w 9874"/>
                <a:gd name="T49" fmla="*/ 1056034845 h 10000"/>
                <a:gd name="T50" fmla="*/ 2147483647 w 9874"/>
                <a:gd name="T51" fmla="*/ 861456484 h 100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9874" h="10000">
                  <a:moveTo>
                    <a:pt x="9677" y="735"/>
                  </a:moveTo>
                  <a:lnTo>
                    <a:pt x="9874" y="489"/>
                  </a:lnTo>
                  <a:lnTo>
                    <a:pt x="9223" y="488"/>
                  </a:lnTo>
                  <a:lnTo>
                    <a:pt x="8813" y="0"/>
                  </a:lnTo>
                  <a:lnTo>
                    <a:pt x="5802" y="299"/>
                  </a:lnTo>
                  <a:lnTo>
                    <a:pt x="3889" y="1094"/>
                  </a:lnTo>
                  <a:lnTo>
                    <a:pt x="1667" y="1588"/>
                  </a:lnTo>
                  <a:lnTo>
                    <a:pt x="1667" y="2083"/>
                  </a:lnTo>
                  <a:lnTo>
                    <a:pt x="1111" y="3073"/>
                  </a:lnTo>
                  <a:lnTo>
                    <a:pt x="0" y="4062"/>
                  </a:lnTo>
                  <a:lnTo>
                    <a:pt x="1111" y="5547"/>
                  </a:lnTo>
                  <a:lnTo>
                    <a:pt x="3333" y="6042"/>
                  </a:lnTo>
                  <a:lnTo>
                    <a:pt x="2222" y="7031"/>
                  </a:lnTo>
                  <a:lnTo>
                    <a:pt x="2222" y="9010"/>
                  </a:lnTo>
                  <a:lnTo>
                    <a:pt x="4445" y="10000"/>
                  </a:lnTo>
                  <a:lnTo>
                    <a:pt x="5555" y="9010"/>
                  </a:lnTo>
                  <a:lnTo>
                    <a:pt x="5555" y="8021"/>
                  </a:lnTo>
                  <a:lnTo>
                    <a:pt x="7777" y="7031"/>
                  </a:lnTo>
                  <a:lnTo>
                    <a:pt x="5555" y="5052"/>
                  </a:lnTo>
                  <a:lnTo>
                    <a:pt x="5555" y="4062"/>
                  </a:lnTo>
                  <a:lnTo>
                    <a:pt x="4445" y="2578"/>
                  </a:lnTo>
                  <a:lnTo>
                    <a:pt x="7777" y="2083"/>
                  </a:lnTo>
                  <a:lnTo>
                    <a:pt x="9152" y="1778"/>
                  </a:lnTo>
                  <a:lnTo>
                    <a:pt x="9179" y="1136"/>
                  </a:lnTo>
                  <a:lnTo>
                    <a:pt x="9413" y="901"/>
                  </a:lnTo>
                  <a:lnTo>
                    <a:pt x="9677" y="735"/>
                  </a:lnTo>
                  <a:close/>
                </a:path>
              </a:pathLst>
            </a:custGeom>
            <a:grpFill/>
            <a:ln w="9525">
              <a:solidFill>
                <a:schemeClr val="bg2">
                  <a:lumMod val="50000"/>
                </a:schemeClr>
              </a:solidFill>
              <a:round/>
              <a:headEnd/>
              <a:tailEnd/>
            </a:ln>
          </p:spPr>
          <p:txBody>
            <a:bodyPr/>
            <a:lstStyle/>
            <a:p>
              <a:endParaRPr lang="en-US" dirty="0"/>
            </a:p>
          </p:txBody>
        </p:sp>
        <p:sp>
          <p:nvSpPr>
            <p:cNvPr id="16" name="Freeform 351"/>
            <p:cNvSpPr>
              <a:spLocks/>
            </p:cNvSpPr>
            <p:nvPr/>
          </p:nvSpPr>
          <p:spPr bwMode="gray">
            <a:xfrm>
              <a:off x="5387168" y="3025236"/>
              <a:ext cx="172526" cy="135800"/>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0 h 10000"/>
                <a:gd name="T8" fmla="*/ 2147483647 w 10000"/>
                <a:gd name="T9" fmla="*/ 962987830 h 10000"/>
                <a:gd name="T10" fmla="*/ 2147483647 w 10000"/>
                <a:gd name="T11" fmla="*/ 1505821189 h 10000"/>
                <a:gd name="T12" fmla="*/ 2147483647 w 10000"/>
                <a:gd name="T13" fmla="*/ 962987830 h 10000"/>
                <a:gd name="T14" fmla="*/ 2147483647 w 10000"/>
                <a:gd name="T15" fmla="*/ 2147483647 h 10000"/>
                <a:gd name="T16" fmla="*/ 1839321513 w 10000"/>
                <a:gd name="T17" fmla="*/ 2147483647 h 10000"/>
                <a:gd name="T18" fmla="*/ 1728171895 w 10000"/>
                <a:gd name="T19" fmla="*/ 2147483647 h 10000"/>
                <a:gd name="T20" fmla="*/ 1513069159 w 10000"/>
                <a:gd name="T21" fmla="*/ 2147483647 h 10000"/>
                <a:gd name="T22" fmla="*/ 7214134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000" h="10000">
                  <a:moveTo>
                    <a:pt x="8952" y="4746"/>
                  </a:moveTo>
                  <a:cubicBezTo>
                    <a:pt x="8952" y="4746"/>
                    <a:pt x="9789" y="4438"/>
                    <a:pt x="9789" y="4036"/>
                  </a:cubicBezTo>
                  <a:cubicBezTo>
                    <a:pt x="10125" y="3229"/>
                    <a:pt x="10054" y="3000"/>
                    <a:pt x="9628" y="2328"/>
                  </a:cubicBezTo>
                  <a:cubicBezTo>
                    <a:pt x="9201" y="1655"/>
                    <a:pt x="8028" y="776"/>
                    <a:pt x="7229" y="0"/>
                  </a:cubicBezTo>
                  <a:cubicBezTo>
                    <a:pt x="6677" y="239"/>
                    <a:pt x="6358" y="529"/>
                    <a:pt x="5576" y="715"/>
                  </a:cubicBezTo>
                  <a:cubicBezTo>
                    <a:pt x="4794" y="901"/>
                    <a:pt x="3551" y="983"/>
                    <a:pt x="2539" y="1118"/>
                  </a:cubicBezTo>
                  <a:lnTo>
                    <a:pt x="2201" y="715"/>
                  </a:lnTo>
                  <a:lnTo>
                    <a:pt x="1188" y="2730"/>
                  </a:lnTo>
                  <a:cubicBezTo>
                    <a:pt x="963" y="3268"/>
                    <a:pt x="631" y="4031"/>
                    <a:pt x="513" y="4343"/>
                  </a:cubicBezTo>
                  <a:cubicBezTo>
                    <a:pt x="396" y="4654"/>
                    <a:pt x="496" y="4524"/>
                    <a:pt x="482" y="4603"/>
                  </a:cubicBezTo>
                  <a:cubicBezTo>
                    <a:pt x="467" y="4681"/>
                    <a:pt x="503" y="4723"/>
                    <a:pt x="422" y="4817"/>
                  </a:cubicBezTo>
                  <a:cubicBezTo>
                    <a:pt x="342" y="4911"/>
                    <a:pt x="-28" y="5153"/>
                    <a:pt x="2" y="5165"/>
                  </a:cubicBezTo>
                  <a:cubicBezTo>
                    <a:pt x="871" y="6361"/>
                    <a:pt x="1309" y="7628"/>
                    <a:pt x="1789" y="8230"/>
                  </a:cubicBezTo>
                  <a:cubicBezTo>
                    <a:pt x="2266" y="8832"/>
                    <a:pt x="2645" y="8558"/>
                    <a:pt x="2875" y="8776"/>
                  </a:cubicBezTo>
                  <a:cubicBezTo>
                    <a:pt x="3105" y="8994"/>
                    <a:pt x="2722" y="9336"/>
                    <a:pt x="3174" y="9539"/>
                  </a:cubicBezTo>
                  <a:cubicBezTo>
                    <a:pt x="3626" y="9742"/>
                    <a:pt x="4682" y="10053"/>
                    <a:pt x="5588" y="9993"/>
                  </a:cubicBezTo>
                  <a:cubicBezTo>
                    <a:pt x="6494" y="9933"/>
                    <a:pt x="8055" y="9717"/>
                    <a:pt x="8615" y="9179"/>
                  </a:cubicBezTo>
                  <a:cubicBezTo>
                    <a:pt x="9175" y="8641"/>
                    <a:pt x="8840" y="7567"/>
                    <a:pt x="8952" y="6761"/>
                  </a:cubicBezTo>
                  <a:lnTo>
                    <a:pt x="9628" y="6358"/>
                  </a:lnTo>
                  <a:cubicBezTo>
                    <a:pt x="9591" y="6168"/>
                    <a:pt x="9555" y="5977"/>
                    <a:pt x="9518" y="5787"/>
                  </a:cubicBezTo>
                  <a:cubicBezTo>
                    <a:pt x="9629" y="5384"/>
                    <a:pt x="8840" y="5149"/>
                    <a:pt x="8952" y="4746"/>
                  </a:cubicBezTo>
                  <a:close/>
                </a:path>
              </a:pathLst>
            </a:custGeom>
            <a:grpFill/>
            <a:ln w="9525">
              <a:solidFill>
                <a:schemeClr val="bg2">
                  <a:lumMod val="50000"/>
                </a:schemeClr>
              </a:solidFill>
              <a:round/>
              <a:headEnd/>
              <a:tailEnd/>
            </a:ln>
          </p:spPr>
          <p:txBody>
            <a:bodyPr/>
            <a:lstStyle/>
            <a:p>
              <a:endParaRPr lang="en-US" dirty="0"/>
            </a:p>
          </p:txBody>
        </p:sp>
        <p:sp>
          <p:nvSpPr>
            <p:cNvPr id="17" name="Freeform 353"/>
            <p:cNvSpPr>
              <a:spLocks/>
            </p:cNvSpPr>
            <p:nvPr/>
          </p:nvSpPr>
          <p:spPr bwMode="gray">
            <a:xfrm>
              <a:off x="5213304" y="2962461"/>
              <a:ext cx="133741" cy="66619"/>
            </a:xfrm>
            <a:custGeom>
              <a:avLst/>
              <a:gdLst>
                <a:gd name="T0" fmla="*/ 2147483647 w 10569"/>
                <a:gd name="T1" fmla="*/ 218132199 h 10092"/>
                <a:gd name="T2" fmla="*/ 2147483647 w 10569"/>
                <a:gd name="T3" fmla="*/ 122706788 h 10092"/>
                <a:gd name="T4" fmla="*/ 2147483647 w 10569"/>
                <a:gd name="T5" fmla="*/ 61371189 h 10092"/>
                <a:gd name="T6" fmla="*/ 2147483647 w 10569"/>
                <a:gd name="T7" fmla="*/ 0 h 10092"/>
                <a:gd name="T8" fmla="*/ 2147483647 w 10569"/>
                <a:gd name="T9" fmla="*/ 30665321 h 10092"/>
                <a:gd name="T10" fmla="*/ 2147483647 w 10569"/>
                <a:gd name="T11" fmla="*/ 0 h 10092"/>
                <a:gd name="T12" fmla="*/ 2097951320 w 10569"/>
                <a:gd name="T13" fmla="*/ 30665321 h 10092"/>
                <a:gd name="T14" fmla="*/ 1401434486 w 10569"/>
                <a:gd name="T15" fmla="*/ 61371189 h 10092"/>
                <a:gd name="T16" fmla="*/ 704917667 w 10569"/>
                <a:gd name="T17" fmla="*/ 92041467 h 10092"/>
                <a:gd name="T18" fmla="*/ 8448222 w 10569"/>
                <a:gd name="T19" fmla="*/ 122706788 h 10092"/>
                <a:gd name="T20" fmla="*/ 357065685 w 10569"/>
                <a:gd name="T21" fmla="*/ 164160932 h 10092"/>
                <a:gd name="T22" fmla="*/ 1012965140 w 10569"/>
                <a:gd name="T23" fmla="*/ 220119984 h 10092"/>
                <a:gd name="T24" fmla="*/ 1750099564 w 10569"/>
                <a:gd name="T25" fmla="*/ 306784830 h 10092"/>
                <a:gd name="T26" fmla="*/ 2097951320 w 10569"/>
                <a:gd name="T27" fmla="*/ 337490632 h 10092"/>
                <a:gd name="T28" fmla="*/ 2147483647 w 10569"/>
                <a:gd name="T29" fmla="*/ 371544855 h 10092"/>
                <a:gd name="T30" fmla="*/ 2147483647 w 10569"/>
                <a:gd name="T31" fmla="*/ 367936564 h 10092"/>
                <a:gd name="T32" fmla="*/ 2147483647 w 10569"/>
                <a:gd name="T33" fmla="*/ 337230696 h 10092"/>
                <a:gd name="T34" fmla="*/ 2147483647 w 10569"/>
                <a:gd name="T35" fmla="*/ 346435062 h 10092"/>
                <a:gd name="T36" fmla="*/ 2147483647 w 10569"/>
                <a:gd name="T37" fmla="*/ 347321125 h 10092"/>
                <a:gd name="T38" fmla="*/ 2147483647 w 10569"/>
                <a:gd name="T39" fmla="*/ 353615522 h 10092"/>
                <a:gd name="T40" fmla="*/ 2147483647 w 10569"/>
                <a:gd name="T41" fmla="*/ 369740943 h 10092"/>
                <a:gd name="T42" fmla="*/ 2147483647 w 10569"/>
                <a:gd name="T43" fmla="*/ 344411753 h 10092"/>
                <a:gd name="T44" fmla="*/ 2147483647 w 10569"/>
                <a:gd name="T45" fmla="*/ 359211597 h 100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569" h="10092">
                  <a:moveTo>
                    <a:pt x="10569" y="5925"/>
                  </a:moveTo>
                  <a:cubicBezTo>
                    <a:pt x="10249" y="5077"/>
                    <a:pt x="8682" y="4197"/>
                    <a:pt x="7738" y="3333"/>
                  </a:cubicBezTo>
                  <a:lnTo>
                    <a:pt x="5920" y="1667"/>
                  </a:lnTo>
                  <a:lnTo>
                    <a:pt x="4102" y="0"/>
                  </a:lnTo>
                  <a:lnTo>
                    <a:pt x="4102" y="833"/>
                  </a:lnTo>
                  <a:lnTo>
                    <a:pt x="3193" y="0"/>
                  </a:lnTo>
                  <a:lnTo>
                    <a:pt x="2738" y="833"/>
                  </a:lnTo>
                  <a:lnTo>
                    <a:pt x="1829" y="1667"/>
                  </a:lnTo>
                  <a:lnTo>
                    <a:pt x="920" y="2500"/>
                  </a:lnTo>
                  <a:cubicBezTo>
                    <a:pt x="617" y="2778"/>
                    <a:pt x="87" y="3007"/>
                    <a:pt x="11" y="3333"/>
                  </a:cubicBezTo>
                  <a:cubicBezTo>
                    <a:pt x="-65" y="3659"/>
                    <a:pt x="248" y="4018"/>
                    <a:pt x="466" y="4459"/>
                  </a:cubicBezTo>
                  <a:cubicBezTo>
                    <a:pt x="684" y="4900"/>
                    <a:pt x="1019" y="5333"/>
                    <a:pt x="1322" y="5979"/>
                  </a:cubicBezTo>
                  <a:cubicBezTo>
                    <a:pt x="1625" y="6625"/>
                    <a:pt x="2048" y="7802"/>
                    <a:pt x="2284" y="8333"/>
                  </a:cubicBezTo>
                  <a:cubicBezTo>
                    <a:pt x="2520" y="8864"/>
                    <a:pt x="2583" y="8874"/>
                    <a:pt x="2738" y="9167"/>
                  </a:cubicBezTo>
                  <a:cubicBezTo>
                    <a:pt x="2893" y="9460"/>
                    <a:pt x="3217" y="10092"/>
                    <a:pt x="3217" y="10092"/>
                  </a:cubicBezTo>
                  <a:cubicBezTo>
                    <a:pt x="4581" y="10092"/>
                    <a:pt x="4900" y="9994"/>
                    <a:pt x="4900" y="9994"/>
                  </a:cubicBezTo>
                  <a:cubicBezTo>
                    <a:pt x="4785" y="9440"/>
                    <a:pt x="5654" y="9714"/>
                    <a:pt x="5539" y="9160"/>
                  </a:cubicBezTo>
                  <a:cubicBezTo>
                    <a:pt x="5853" y="9260"/>
                    <a:pt x="6250" y="9364"/>
                    <a:pt x="6402" y="9410"/>
                  </a:cubicBezTo>
                  <a:cubicBezTo>
                    <a:pt x="6554" y="9456"/>
                    <a:pt x="6377" y="9434"/>
                    <a:pt x="6453" y="9434"/>
                  </a:cubicBezTo>
                  <a:cubicBezTo>
                    <a:pt x="6529" y="9434"/>
                    <a:pt x="6505" y="9504"/>
                    <a:pt x="6723" y="9605"/>
                  </a:cubicBezTo>
                  <a:cubicBezTo>
                    <a:pt x="6941" y="9707"/>
                    <a:pt x="7421" y="10085"/>
                    <a:pt x="7759" y="10043"/>
                  </a:cubicBezTo>
                  <a:cubicBezTo>
                    <a:pt x="8097" y="10001"/>
                    <a:pt x="8436" y="9626"/>
                    <a:pt x="8753" y="9355"/>
                  </a:cubicBezTo>
                  <a:cubicBezTo>
                    <a:pt x="9070" y="9084"/>
                    <a:pt x="8347" y="9964"/>
                    <a:pt x="10391" y="9757"/>
                  </a:cubicBezTo>
                </a:path>
              </a:pathLst>
            </a:custGeom>
            <a:grpFill/>
            <a:ln w="9525">
              <a:solidFill>
                <a:schemeClr val="bg2">
                  <a:lumMod val="50000"/>
                </a:schemeClr>
              </a:solidFill>
              <a:round/>
              <a:headEnd/>
              <a:tailEnd/>
            </a:ln>
          </p:spPr>
          <p:txBody>
            <a:bodyPr/>
            <a:lstStyle/>
            <a:p>
              <a:endParaRPr lang="en-US" dirty="0"/>
            </a:p>
          </p:txBody>
        </p:sp>
        <p:sp>
          <p:nvSpPr>
            <p:cNvPr id="18" name="Freeform 354"/>
            <p:cNvSpPr>
              <a:spLocks/>
            </p:cNvSpPr>
            <p:nvPr/>
          </p:nvSpPr>
          <p:spPr bwMode="gray">
            <a:xfrm>
              <a:off x="5308260" y="3031641"/>
              <a:ext cx="116356" cy="76868"/>
            </a:xfrm>
            <a:custGeom>
              <a:avLst/>
              <a:gdLst>
                <a:gd name="T0" fmla="*/ 2147483647 w 9980"/>
                <a:gd name="T1" fmla="*/ 0 h 10000"/>
                <a:gd name="T2" fmla="*/ 2147483647 w 9980"/>
                <a:gd name="T3" fmla="*/ 120347451 h 10000"/>
                <a:gd name="T4" fmla="*/ 2048295641 w 9980"/>
                <a:gd name="T5" fmla="*/ 174854502 h 10000"/>
                <a:gd name="T6" fmla="*/ 1295790420 w 9980"/>
                <a:gd name="T7" fmla="*/ 229369258 h 10000"/>
                <a:gd name="T8" fmla="*/ 794318046 w 9980"/>
                <a:gd name="T9" fmla="*/ 209556601 h 10000"/>
                <a:gd name="T10" fmla="*/ 543839063 w 9980"/>
                <a:gd name="T11" fmla="*/ 174854502 h 10000"/>
                <a:gd name="T12" fmla="*/ 292843180 w 9980"/>
                <a:gd name="T13" fmla="*/ 283793289 h 10000"/>
                <a:gd name="T14" fmla="*/ 41849789 w 9980"/>
                <a:gd name="T15" fmla="*/ 447321156 h 10000"/>
                <a:gd name="T16" fmla="*/ 11224449 w 9980"/>
                <a:gd name="T17" fmla="*/ 470376980 h 10000"/>
                <a:gd name="T18" fmla="*/ 159185930 w 9980"/>
                <a:gd name="T19" fmla="*/ 536612402 h 10000"/>
                <a:gd name="T20" fmla="*/ 838699122 w 9980"/>
                <a:gd name="T21" fmla="*/ 744424260 h 10000"/>
                <a:gd name="T22" fmla="*/ 1841683506 w 9980"/>
                <a:gd name="T23" fmla="*/ 792279756 h 10000"/>
                <a:gd name="T24" fmla="*/ 2147483647 w 9980"/>
                <a:gd name="T25" fmla="*/ 746169002 h 10000"/>
                <a:gd name="T26" fmla="*/ 2147483647 w 9980"/>
                <a:gd name="T27" fmla="*/ 678509460 h 10000"/>
                <a:gd name="T28" fmla="*/ 2147483647 w 9980"/>
                <a:gd name="T29" fmla="*/ 678509460 h 10000"/>
                <a:gd name="T30" fmla="*/ 2147483647 w 9980"/>
                <a:gd name="T31" fmla="*/ 610766908 h 10000"/>
                <a:gd name="T32" fmla="*/ 2147483647 w 9980"/>
                <a:gd name="T33" fmla="*/ 392815010 h 10000"/>
                <a:gd name="T34" fmla="*/ 2147483647 w 9980"/>
                <a:gd name="T35" fmla="*/ 120347451 h 10000"/>
                <a:gd name="T36" fmla="*/ 2147483647 w 9980"/>
                <a:gd name="T37" fmla="*/ 9902428 h 10000"/>
                <a:gd name="T38" fmla="*/ 2147483647 w 9980"/>
                <a:gd name="T39" fmla="*/ 26306802 h 10000"/>
                <a:gd name="T40" fmla="*/ 2147483647 w 9980"/>
                <a:gd name="T41" fmla="*/ 0 h 100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980" h="10000">
                  <a:moveTo>
                    <a:pt x="7338" y="0"/>
                  </a:moveTo>
                  <a:cubicBezTo>
                    <a:pt x="6885" y="506"/>
                    <a:pt x="6535" y="1151"/>
                    <a:pt x="5980" y="1519"/>
                  </a:cubicBezTo>
                  <a:cubicBezTo>
                    <a:pt x="5426" y="1887"/>
                    <a:pt x="4670" y="1978"/>
                    <a:pt x="4015" y="2207"/>
                  </a:cubicBezTo>
                  <a:cubicBezTo>
                    <a:pt x="2540" y="2895"/>
                    <a:pt x="2950" y="2822"/>
                    <a:pt x="2540" y="2895"/>
                  </a:cubicBezTo>
                  <a:cubicBezTo>
                    <a:pt x="2130" y="2968"/>
                    <a:pt x="1557" y="2645"/>
                    <a:pt x="1557" y="2645"/>
                  </a:cubicBezTo>
                  <a:cubicBezTo>
                    <a:pt x="1066" y="1958"/>
                    <a:pt x="1230" y="2051"/>
                    <a:pt x="1066" y="2207"/>
                  </a:cubicBezTo>
                  <a:cubicBezTo>
                    <a:pt x="902" y="2363"/>
                    <a:pt x="574" y="3582"/>
                    <a:pt x="574" y="3582"/>
                  </a:cubicBezTo>
                  <a:cubicBezTo>
                    <a:pt x="409" y="4270"/>
                    <a:pt x="174" y="5254"/>
                    <a:pt x="82" y="5646"/>
                  </a:cubicBezTo>
                  <a:cubicBezTo>
                    <a:pt x="-10" y="6038"/>
                    <a:pt x="-16" y="5749"/>
                    <a:pt x="22" y="5937"/>
                  </a:cubicBezTo>
                  <a:cubicBezTo>
                    <a:pt x="60" y="6125"/>
                    <a:pt x="42" y="6197"/>
                    <a:pt x="312" y="6773"/>
                  </a:cubicBezTo>
                  <a:cubicBezTo>
                    <a:pt x="583" y="7349"/>
                    <a:pt x="1094" y="8858"/>
                    <a:pt x="1644" y="9396"/>
                  </a:cubicBezTo>
                  <a:cubicBezTo>
                    <a:pt x="2194" y="9934"/>
                    <a:pt x="3153" y="9997"/>
                    <a:pt x="3610" y="10000"/>
                  </a:cubicBezTo>
                  <a:cubicBezTo>
                    <a:pt x="4068" y="10003"/>
                    <a:pt x="3989" y="9657"/>
                    <a:pt x="4389" y="9418"/>
                  </a:cubicBezTo>
                  <a:cubicBezTo>
                    <a:pt x="4788" y="9179"/>
                    <a:pt x="5720" y="8707"/>
                    <a:pt x="6009" y="8564"/>
                  </a:cubicBezTo>
                  <a:cubicBezTo>
                    <a:pt x="6298" y="8421"/>
                    <a:pt x="5883" y="8706"/>
                    <a:pt x="6124" y="8564"/>
                  </a:cubicBezTo>
                  <a:cubicBezTo>
                    <a:pt x="6364" y="8422"/>
                    <a:pt x="7069" y="8310"/>
                    <a:pt x="7455" y="7709"/>
                  </a:cubicBezTo>
                  <a:cubicBezTo>
                    <a:pt x="7841" y="7109"/>
                    <a:pt x="8111" y="5875"/>
                    <a:pt x="8438" y="4958"/>
                  </a:cubicBezTo>
                  <a:cubicBezTo>
                    <a:pt x="8929" y="3812"/>
                    <a:pt x="9701" y="2324"/>
                    <a:pt x="9913" y="1519"/>
                  </a:cubicBezTo>
                  <a:cubicBezTo>
                    <a:pt x="10125" y="713"/>
                    <a:pt x="9778" y="589"/>
                    <a:pt x="9710" y="125"/>
                  </a:cubicBezTo>
                  <a:lnTo>
                    <a:pt x="9128" y="332"/>
                  </a:lnTo>
                  <a:lnTo>
                    <a:pt x="7338" y="0"/>
                  </a:lnTo>
                  <a:close/>
                </a:path>
              </a:pathLst>
            </a:custGeom>
            <a:grpFill/>
            <a:ln w="9525">
              <a:solidFill>
                <a:schemeClr val="bg2">
                  <a:lumMod val="50000"/>
                </a:schemeClr>
              </a:solidFill>
              <a:round/>
              <a:headEnd/>
              <a:tailEnd/>
            </a:ln>
          </p:spPr>
          <p:txBody>
            <a:bodyPr/>
            <a:lstStyle/>
            <a:p>
              <a:endParaRPr lang="en-US" dirty="0"/>
            </a:p>
          </p:txBody>
        </p:sp>
        <p:sp>
          <p:nvSpPr>
            <p:cNvPr id="19" name="Freeform 355"/>
            <p:cNvSpPr>
              <a:spLocks/>
            </p:cNvSpPr>
            <p:nvPr/>
          </p:nvSpPr>
          <p:spPr bwMode="gray">
            <a:xfrm>
              <a:off x="5312273" y="2999613"/>
              <a:ext cx="112343" cy="56370"/>
            </a:xfrm>
            <a:custGeom>
              <a:avLst/>
              <a:gdLst>
                <a:gd name="T0" fmla="*/ 2147483647 w 10000"/>
                <a:gd name="T1" fmla="*/ 11717197 h 9595"/>
                <a:gd name="T2" fmla="*/ 2117831042 w 10000"/>
                <a:gd name="T3" fmla="*/ 1864984 h 9595"/>
                <a:gd name="T4" fmla="*/ 1670018673 w 10000"/>
                <a:gd name="T5" fmla="*/ 1985706 h 9595"/>
                <a:gd name="T6" fmla="*/ 1192608324 w 10000"/>
                <a:gd name="T7" fmla="*/ 11717197 h 9595"/>
                <a:gd name="T8" fmla="*/ 954346452 w 10000"/>
                <a:gd name="T9" fmla="*/ 56295023 h 9595"/>
                <a:gd name="T10" fmla="*/ 0 w 10000"/>
                <a:gd name="T11" fmla="*/ 100895271 h 9595"/>
                <a:gd name="T12" fmla="*/ 238705181 w 10000"/>
                <a:gd name="T13" fmla="*/ 145472777 h 9595"/>
                <a:gd name="T14" fmla="*/ 413599734 w 10000"/>
                <a:gd name="T15" fmla="*/ 172255509 h 9595"/>
                <a:gd name="T16" fmla="*/ 852527046 w 10000"/>
                <a:gd name="T17" fmla="*/ 192499706 h 9595"/>
                <a:gd name="T18" fmla="*/ 1872358309 w 10000"/>
                <a:gd name="T19" fmla="*/ 165736637 h 9595"/>
                <a:gd name="T20" fmla="*/ 2147483647 w 10000"/>
                <a:gd name="T21" fmla="*/ 153539079 h 9595"/>
                <a:gd name="T22" fmla="*/ 2147483647 w 10000"/>
                <a:gd name="T23" fmla="*/ 109902201 h 9595"/>
                <a:gd name="T24" fmla="*/ 2147483647 w 10000"/>
                <a:gd name="T25" fmla="*/ 118909553 h 9595"/>
                <a:gd name="T26" fmla="*/ 2147483647 w 10000"/>
                <a:gd name="T27" fmla="*/ 99771804 h 9595"/>
                <a:gd name="T28" fmla="*/ 2147483647 w 10000"/>
                <a:gd name="T29" fmla="*/ 78603679 h 9595"/>
                <a:gd name="T30" fmla="*/ 2147483647 w 10000"/>
                <a:gd name="T31" fmla="*/ 43215616 h 9595"/>
                <a:gd name="T32" fmla="*/ 2147483647 w 10000"/>
                <a:gd name="T33" fmla="*/ 24356051 h 9595"/>
                <a:gd name="T34" fmla="*/ 2147483647 w 10000"/>
                <a:gd name="T35" fmla="*/ 11717197 h 9595"/>
                <a:gd name="T36" fmla="*/ 2147483647 w 10000"/>
                <a:gd name="T37" fmla="*/ 11717197 h 959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000" h="9595">
                  <a:moveTo>
                    <a:pt x="6210" y="584"/>
                  </a:moveTo>
                  <a:cubicBezTo>
                    <a:pt x="5554" y="325"/>
                    <a:pt x="5389" y="258"/>
                    <a:pt x="5013" y="93"/>
                  </a:cubicBezTo>
                  <a:cubicBezTo>
                    <a:pt x="4637" y="-72"/>
                    <a:pt x="4318" y="17"/>
                    <a:pt x="3953" y="99"/>
                  </a:cubicBezTo>
                  <a:lnTo>
                    <a:pt x="2823" y="584"/>
                  </a:lnTo>
                  <a:lnTo>
                    <a:pt x="2259" y="2806"/>
                  </a:lnTo>
                  <a:lnTo>
                    <a:pt x="0" y="5029"/>
                  </a:lnTo>
                  <a:lnTo>
                    <a:pt x="565" y="7251"/>
                  </a:lnTo>
                  <a:lnTo>
                    <a:pt x="979" y="8586"/>
                  </a:lnTo>
                  <a:lnTo>
                    <a:pt x="2018" y="9595"/>
                  </a:lnTo>
                  <a:lnTo>
                    <a:pt x="4432" y="8261"/>
                  </a:lnTo>
                  <a:lnTo>
                    <a:pt x="6240" y="7653"/>
                  </a:lnTo>
                  <a:lnTo>
                    <a:pt x="7130" y="5478"/>
                  </a:lnTo>
                  <a:lnTo>
                    <a:pt x="9214" y="5927"/>
                  </a:lnTo>
                  <a:lnTo>
                    <a:pt x="9803" y="4973"/>
                  </a:lnTo>
                  <a:cubicBezTo>
                    <a:pt x="9735" y="4622"/>
                    <a:pt x="9905" y="4270"/>
                    <a:pt x="9837" y="3918"/>
                  </a:cubicBezTo>
                  <a:cubicBezTo>
                    <a:pt x="9758" y="2807"/>
                    <a:pt x="10067" y="3265"/>
                    <a:pt x="9987" y="2154"/>
                  </a:cubicBezTo>
                  <a:cubicBezTo>
                    <a:pt x="9527" y="1653"/>
                    <a:pt x="9037" y="1714"/>
                    <a:pt x="8578" y="1214"/>
                  </a:cubicBezTo>
                  <a:cubicBezTo>
                    <a:pt x="8542" y="1004"/>
                    <a:pt x="8505" y="794"/>
                    <a:pt x="8469" y="584"/>
                  </a:cubicBezTo>
                  <a:lnTo>
                    <a:pt x="6210" y="584"/>
                  </a:lnTo>
                  <a:close/>
                </a:path>
              </a:pathLst>
            </a:custGeom>
            <a:grpFill/>
            <a:ln w="9525">
              <a:solidFill>
                <a:schemeClr val="bg2">
                  <a:lumMod val="50000"/>
                </a:schemeClr>
              </a:solidFill>
              <a:round/>
              <a:headEnd/>
              <a:tailEnd/>
            </a:ln>
          </p:spPr>
          <p:txBody>
            <a:bodyPr/>
            <a:lstStyle/>
            <a:p>
              <a:endParaRPr lang="en-US" dirty="0"/>
            </a:p>
          </p:txBody>
        </p:sp>
        <p:sp>
          <p:nvSpPr>
            <p:cNvPr id="20" name="Freeform 356"/>
            <p:cNvSpPr>
              <a:spLocks/>
            </p:cNvSpPr>
            <p:nvPr/>
          </p:nvSpPr>
          <p:spPr bwMode="gray">
            <a:xfrm>
              <a:off x="5437990" y="3145662"/>
              <a:ext cx="153801" cy="114022"/>
            </a:xfrm>
            <a:custGeom>
              <a:avLst/>
              <a:gdLst>
                <a:gd name="T0" fmla="*/ 2147483647 w 10000"/>
                <a:gd name="T1" fmla="*/ 293810106 h 10000"/>
                <a:gd name="T2" fmla="*/ 1846282842 w 10000"/>
                <a:gd name="T3" fmla="*/ 293810106 h 10000"/>
                <a:gd name="T4" fmla="*/ 0 w 10000"/>
                <a:gd name="T5" fmla="*/ 0 h 10000"/>
                <a:gd name="T6" fmla="*/ 0 w 10000"/>
                <a:gd name="T7" fmla="*/ 587019553 h 10000"/>
                <a:gd name="T8" fmla="*/ 924200281 w 10000"/>
                <a:gd name="T9" fmla="*/ 1468447271 h 10000"/>
                <a:gd name="T10" fmla="*/ 1379187541 w 10000"/>
                <a:gd name="T11" fmla="*/ 2147483647 h 10000"/>
                <a:gd name="T12" fmla="*/ 924200281 w 10000"/>
                <a:gd name="T13" fmla="*/ 2147483647 h 10000"/>
                <a:gd name="T14" fmla="*/ 1846282842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1761659502 h 10000"/>
                <a:gd name="T42" fmla="*/ 2147483647 w 10000"/>
                <a:gd name="T43" fmla="*/ 587019553 h 10000"/>
                <a:gd name="T44" fmla="*/ 2147483647 w 10000"/>
                <a:gd name="T45" fmla="*/ 0 h 10000"/>
                <a:gd name="T46" fmla="*/ 2147483647 w 10000"/>
                <a:gd name="T47" fmla="*/ 293810106 h 100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000" h="10000">
                  <a:moveTo>
                    <a:pt x="3636" y="522"/>
                  </a:moveTo>
                  <a:lnTo>
                    <a:pt x="909" y="522"/>
                  </a:lnTo>
                  <a:lnTo>
                    <a:pt x="0" y="0"/>
                  </a:lnTo>
                  <a:lnTo>
                    <a:pt x="0" y="1043"/>
                  </a:lnTo>
                  <a:lnTo>
                    <a:pt x="455" y="2609"/>
                  </a:lnTo>
                  <a:cubicBezTo>
                    <a:pt x="530" y="3171"/>
                    <a:pt x="604" y="3733"/>
                    <a:pt x="679" y="4295"/>
                  </a:cubicBezTo>
                  <a:cubicBezTo>
                    <a:pt x="604" y="4631"/>
                    <a:pt x="530" y="4968"/>
                    <a:pt x="455" y="5304"/>
                  </a:cubicBezTo>
                  <a:lnTo>
                    <a:pt x="909" y="6348"/>
                  </a:lnTo>
                  <a:lnTo>
                    <a:pt x="1598" y="7682"/>
                  </a:lnTo>
                  <a:cubicBezTo>
                    <a:pt x="2779" y="7328"/>
                    <a:pt x="2976" y="7157"/>
                    <a:pt x="4110" y="6712"/>
                  </a:cubicBezTo>
                  <a:lnTo>
                    <a:pt x="4448" y="7069"/>
                  </a:lnTo>
                  <a:lnTo>
                    <a:pt x="5010" y="7076"/>
                  </a:lnTo>
                  <a:cubicBezTo>
                    <a:pt x="5007" y="7181"/>
                    <a:pt x="5003" y="7286"/>
                    <a:pt x="5000" y="7391"/>
                  </a:cubicBezTo>
                  <a:lnTo>
                    <a:pt x="4545" y="7913"/>
                  </a:lnTo>
                  <a:lnTo>
                    <a:pt x="5000" y="10000"/>
                  </a:lnTo>
                  <a:lnTo>
                    <a:pt x="6818" y="8435"/>
                  </a:lnTo>
                  <a:lnTo>
                    <a:pt x="8636" y="8435"/>
                  </a:lnTo>
                  <a:lnTo>
                    <a:pt x="9545" y="6870"/>
                  </a:lnTo>
                  <a:lnTo>
                    <a:pt x="10000" y="6870"/>
                  </a:lnTo>
                  <a:lnTo>
                    <a:pt x="7273" y="5826"/>
                  </a:lnTo>
                  <a:cubicBezTo>
                    <a:pt x="7121" y="4927"/>
                    <a:pt x="6970" y="4029"/>
                    <a:pt x="6818" y="3130"/>
                  </a:cubicBezTo>
                  <a:lnTo>
                    <a:pt x="8636" y="1043"/>
                  </a:lnTo>
                  <a:lnTo>
                    <a:pt x="5909" y="0"/>
                  </a:lnTo>
                  <a:lnTo>
                    <a:pt x="3636" y="522"/>
                  </a:lnTo>
                  <a:close/>
                </a:path>
              </a:pathLst>
            </a:custGeom>
            <a:grpFill/>
            <a:ln w="9525">
              <a:solidFill>
                <a:schemeClr val="bg2">
                  <a:lumMod val="50000"/>
                </a:schemeClr>
              </a:solidFill>
              <a:round/>
              <a:headEnd/>
              <a:tailEnd/>
            </a:ln>
          </p:spPr>
          <p:txBody>
            <a:bodyPr/>
            <a:lstStyle/>
            <a:p>
              <a:endParaRPr lang="en-US" dirty="0"/>
            </a:p>
          </p:txBody>
        </p:sp>
        <p:sp>
          <p:nvSpPr>
            <p:cNvPr id="21" name="Freeform 361"/>
            <p:cNvSpPr>
              <a:spLocks/>
            </p:cNvSpPr>
            <p:nvPr/>
          </p:nvSpPr>
          <p:spPr bwMode="gray">
            <a:xfrm>
              <a:off x="5095613" y="3053420"/>
              <a:ext cx="96293" cy="52527"/>
            </a:xfrm>
            <a:custGeom>
              <a:avLst/>
              <a:gdLst>
                <a:gd name="T0" fmla="*/ 1523412940 w 10000"/>
                <a:gd name="T1" fmla="*/ 20703172 h 11466"/>
                <a:gd name="T2" fmla="*/ 1384973249 w 10000"/>
                <a:gd name="T3" fmla="*/ 13260037 h 11466"/>
                <a:gd name="T4" fmla="*/ 1107889269 w 10000"/>
                <a:gd name="T5" fmla="*/ 5816929 h 11466"/>
                <a:gd name="T6" fmla="*/ 705952907 w 10000"/>
                <a:gd name="T7" fmla="*/ 11598732 h 11466"/>
                <a:gd name="T8" fmla="*/ 629180878 w 10000"/>
                <a:gd name="T9" fmla="*/ 0 h 11466"/>
                <a:gd name="T10" fmla="*/ 415505657 w 10000"/>
                <a:gd name="T11" fmla="*/ 11182239 h 11466"/>
                <a:gd name="T12" fmla="*/ 0 w 10000"/>
                <a:gd name="T13" fmla="*/ 35589387 h 11466"/>
                <a:gd name="T14" fmla="*/ 0 w 10000"/>
                <a:gd name="T15" fmla="*/ 50474506 h 11466"/>
                <a:gd name="T16" fmla="*/ 277065955 w 10000"/>
                <a:gd name="T17" fmla="*/ 50474506 h 11466"/>
                <a:gd name="T18" fmla="*/ 408729233 w 10000"/>
                <a:gd name="T19" fmla="*/ 68272305 h 11466"/>
                <a:gd name="T20" fmla="*/ 553945349 w 10000"/>
                <a:gd name="T21" fmla="*/ 65360750 h 11466"/>
                <a:gd name="T22" fmla="*/ 860112323 w 10000"/>
                <a:gd name="T23" fmla="*/ 53797304 h 11466"/>
                <a:gd name="T24" fmla="*/ 1019100903 w 10000"/>
                <a:gd name="T25" fmla="*/ 60412870 h 11466"/>
                <a:gd name="T26" fmla="*/ 1523412940 w 10000"/>
                <a:gd name="T27" fmla="*/ 50474506 h 11466"/>
                <a:gd name="T28" fmla="*/ 1800478906 w 10000"/>
                <a:gd name="T29" fmla="*/ 43031399 h 11466"/>
                <a:gd name="T30" fmla="*/ 1938918597 w 10000"/>
                <a:gd name="T31" fmla="*/ 43031399 h 11466"/>
                <a:gd name="T32" fmla="*/ 1800478906 w 10000"/>
                <a:gd name="T33" fmla="*/ 35589387 h 11466"/>
                <a:gd name="T34" fmla="*/ 1523412940 w 10000"/>
                <a:gd name="T35" fmla="*/ 20703172 h 114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1466">
                  <a:moveTo>
                    <a:pt x="7857" y="3477"/>
                  </a:moveTo>
                  <a:lnTo>
                    <a:pt x="7143" y="2227"/>
                  </a:lnTo>
                  <a:lnTo>
                    <a:pt x="5714" y="977"/>
                  </a:lnTo>
                  <a:lnTo>
                    <a:pt x="3641" y="1948"/>
                  </a:lnTo>
                  <a:cubicBezTo>
                    <a:pt x="3532" y="1206"/>
                    <a:pt x="3354" y="742"/>
                    <a:pt x="3245" y="0"/>
                  </a:cubicBezTo>
                  <a:lnTo>
                    <a:pt x="2143" y="1878"/>
                  </a:lnTo>
                  <a:lnTo>
                    <a:pt x="0" y="5977"/>
                  </a:lnTo>
                  <a:lnTo>
                    <a:pt x="0" y="8477"/>
                  </a:lnTo>
                  <a:lnTo>
                    <a:pt x="1429" y="8477"/>
                  </a:lnTo>
                  <a:lnTo>
                    <a:pt x="2108" y="11466"/>
                  </a:lnTo>
                  <a:lnTo>
                    <a:pt x="2857" y="10977"/>
                  </a:lnTo>
                  <a:lnTo>
                    <a:pt x="4436" y="9035"/>
                  </a:lnTo>
                  <a:lnTo>
                    <a:pt x="5256" y="10146"/>
                  </a:lnTo>
                  <a:lnTo>
                    <a:pt x="7857" y="8477"/>
                  </a:lnTo>
                  <a:lnTo>
                    <a:pt x="9286" y="7227"/>
                  </a:lnTo>
                  <a:lnTo>
                    <a:pt x="10000" y="7227"/>
                  </a:lnTo>
                  <a:lnTo>
                    <a:pt x="9286" y="5977"/>
                  </a:lnTo>
                  <a:lnTo>
                    <a:pt x="7857" y="3477"/>
                  </a:lnTo>
                  <a:close/>
                </a:path>
              </a:pathLst>
            </a:custGeom>
            <a:grpFill/>
            <a:ln w="9525">
              <a:solidFill>
                <a:schemeClr val="bg2">
                  <a:lumMod val="50000"/>
                </a:schemeClr>
              </a:solidFill>
              <a:round/>
              <a:headEnd/>
              <a:tailEnd/>
            </a:ln>
          </p:spPr>
          <p:txBody>
            <a:bodyPr/>
            <a:lstStyle/>
            <a:p>
              <a:endParaRPr lang="en-US" dirty="0"/>
            </a:p>
          </p:txBody>
        </p:sp>
        <p:sp>
          <p:nvSpPr>
            <p:cNvPr id="22" name="Freeform 363"/>
            <p:cNvSpPr>
              <a:spLocks/>
            </p:cNvSpPr>
            <p:nvPr/>
          </p:nvSpPr>
          <p:spPr bwMode="gray">
            <a:xfrm>
              <a:off x="5047466" y="2935556"/>
              <a:ext cx="60183" cy="60214"/>
            </a:xfrm>
            <a:custGeom>
              <a:avLst/>
              <a:gdLst>
                <a:gd name="T0" fmla="*/ 43091458 w 10056"/>
                <a:gd name="T1" fmla="*/ 105833347 h 10000"/>
                <a:gd name="T2" fmla="*/ 60516545 w 10056"/>
                <a:gd name="T3" fmla="*/ 148181948 h 10000"/>
                <a:gd name="T4" fmla="*/ 95382098 w 10056"/>
                <a:gd name="T5" fmla="*/ 169343381 h 10000"/>
                <a:gd name="T6" fmla="*/ 127165973 w 10056"/>
                <a:gd name="T7" fmla="*/ 196710131 h 10000"/>
                <a:gd name="T8" fmla="*/ 159904912 w 10056"/>
                <a:gd name="T9" fmla="*/ 231533339 h 10000"/>
                <a:gd name="T10" fmla="*/ 180375846 w 10056"/>
                <a:gd name="T11" fmla="*/ 174299266 h 10000"/>
                <a:gd name="T12" fmla="*/ 168237950 w 10056"/>
                <a:gd name="T13" fmla="*/ 131951061 h 10000"/>
                <a:gd name="T14" fmla="*/ 181386826 w 10056"/>
                <a:gd name="T15" fmla="*/ 75990916 h 10000"/>
                <a:gd name="T16" fmla="*/ 155827284 w 10056"/>
                <a:gd name="T17" fmla="*/ 54825744 h 10000"/>
                <a:gd name="T18" fmla="*/ 130232265 w 10056"/>
                <a:gd name="T19" fmla="*/ 42323709 h 10000"/>
                <a:gd name="T20" fmla="*/ 95382098 w 10056"/>
                <a:gd name="T21" fmla="*/ 21161829 h 10000"/>
                <a:gd name="T22" fmla="*/ 60516545 w 10056"/>
                <a:gd name="T23" fmla="*/ 21161829 h 10000"/>
                <a:gd name="T24" fmla="*/ 43091458 w 10056"/>
                <a:gd name="T25" fmla="*/ 0 h 10000"/>
                <a:gd name="T26" fmla="*/ 8243820 w 10056"/>
                <a:gd name="T27" fmla="*/ 21161829 h 10000"/>
                <a:gd name="T28" fmla="*/ 0 w 10056"/>
                <a:gd name="T29" fmla="*/ 22481897 h 10000"/>
                <a:gd name="T30" fmla="*/ 16414107 w 10056"/>
                <a:gd name="T31" fmla="*/ 79716022 h 10000"/>
                <a:gd name="T32" fmla="*/ 43091458 w 10056"/>
                <a:gd name="T33" fmla="*/ 105833347 h 100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056" h="10000">
                  <a:moveTo>
                    <a:pt x="2389" y="4571"/>
                  </a:moveTo>
                  <a:lnTo>
                    <a:pt x="3355" y="6400"/>
                  </a:lnTo>
                  <a:lnTo>
                    <a:pt x="5288" y="7314"/>
                  </a:lnTo>
                  <a:lnTo>
                    <a:pt x="7050" y="8496"/>
                  </a:lnTo>
                  <a:lnTo>
                    <a:pt x="8865" y="10000"/>
                  </a:lnTo>
                  <a:cubicBezTo>
                    <a:pt x="8961" y="9105"/>
                    <a:pt x="9904" y="8423"/>
                    <a:pt x="10000" y="7528"/>
                  </a:cubicBezTo>
                  <a:lnTo>
                    <a:pt x="9327" y="5699"/>
                  </a:lnTo>
                  <a:cubicBezTo>
                    <a:pt x="9382" y="4965"/>
                    <a:pt x="10001" y="4016"/>
                    <a:pt x="10056" y="3282"/>
                  </a:cubicBezTo>
                  <a:lnTo>
                    <a:pt x="8639" y="2368"/>
                  </a:lnTo>
                  <a:lnTo>
                    <a:pt x="7220" y="1828"/>
                  </a:lnTo>
                  <a:lnTo>
                    <a:pt x="5288" y="914"/>
                  </a:lnTo>
                  <a:lnTo>
                    <a:pt x="3355" y="914"/>
                  </a:lnTo>
                  <a:lnTo>
                    <a:pt x="2389" y="0"/>
                  </a:lnTo>
                  <a:lnTo>
                    <a:pt x="457" y="914"/>
                  </a:lnTo>
                  <a:lnTo>
                    <a:pt x="0" y="971"/>
                  </a:lnTo>
                  <a:cubicBezTo>
                    <a:pt x="152" y="1866"/>
                    <a:pt x="757" y="2548"/>
                    <a:pt x="910" y="3443"/>
                  </a:cubicBezTo>
                  <a:lnTo>
                    <a:pt x="2389" y="4571"/>
                  </a:lnTo>
                  <a:close/>
                </a:path>
              </a:pathLst>
            </a:custGeom>
            <a:grpFill/>
            <a:ln w="9525">
              <a:solidFill>
                <a:schemeClr val="bg2">
                  <a:lumMod val="50000"/>
                </a:schemeClr>
              </a:solidFill>
              <a:round/>
              <a:headEnd/>
              <a:tailEnd/>
            </a:ln>
          </p:spPr>
          <p:txBody>
            <a:bodyPr/>
            <a:lstStyle/>
            <a:p>
              <a:endParaRPr lang="en-US" dirty="0"/>
            </a:p>
          </p:txBody>
        </p:sp>
        <p:sp>
          <p:nvSpPr>
            <p:cNvPr id="23" name="Freeform 252"/>
            <p:cNvSpPr>
              <a:spLocks/>
            </p:cNvSpPr>
            <p:nvPr/>
          </p:nvSpPr>
          <p:spPr bwMode="gray">
            <a:xfrm rot="21133526">
              <a:off x="5242728" y="3077763"/>
              <a:ext cx="74895" cy="38434"/>
            </a:xfrm>
            <a:custGeom>
              <a:avLst/>
              <a:gdLst>
                <a:gd name="T0" fmla="*/ 0 w 1912593"/>
                <a:gd name="T1" fmla="*/ 0 h 1229193"/>
                <a:gd name="T2" fmla="*/ 0 w 1912593"/>
                <a:gd name="T3" fmla="*/ 0 h 1229193"/>
                <a:gd name="T4" fmla="*/ 0 w 1912593"/>
                <a:gd name="T5" fmla="*/ 0 h 1229193"/>
                <a:gd name="T6" fmla="*/ 0 w 1912593"/>
                <a:gd name="T7" fmla="*/ 0 h 1229193"/>
                <a:gd name="T8" fmla="*/ 0 w 1912593"/>
                <a:gd name="T9" fmla="*/ 0 h 1229193"/>
                <a:gd name="T10" fmla="*/ 0 w 1912593"/>
                <a:gd name="T11" fmla="*/ 0 h 1229193"/>
                <a:gd name="T12" fmla="*/ 0 w 1912593"/>
                <a:gd name="T13" fmla="*/ 0 h 1229193"/>
                <a:gd name="T14" fmla="*/ 0 w 1912593"/>
                <a:gd name="T15" fmla="*/ 0 h 1229193"/>
                <a:gd name="T16" fmla="*/ 0 w 1912593"/>
                <a:gd name="T17" fmla="*/ 0 h 12291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12593" h="1229193">
                  <a:moveTo>
                    <a:pt x="0" y="233280"/>
                  </a:moveTo>
                  <a:lnTo>
                    <a:pt x="83793" y="1154242"/>
                  </a:lnTo>
                  <a:lnTo>
                    <a:pt x="1103124" y="1229193"/>
                  </a:lnTo>
                  <a:lnTo>
                    <a:pt x="1912593" y="314793"/>
                  </a:lnTo>
                  <a:lnTo>
                    <a:pt x="1792672" y="0"/>
                  </a:lnTo>
                  <a:lnTo>
                    <a:pt x="1124055" y="252554"/>
                  </a:lnTo>
                  <a:cubicBezTo>
                    <a:pt x="892871" y="224853"/>
                    <a:pt x="379360" y="273001"/>
                    <a:pt x="148176" y="245300"/>
                  </a:cubicBezTo>
                  <a:lnTo>
                    <a:pt x="128763" y="242675"/>
                  </a:lnTo>
                  <a:lnTo>
                    <a:pt x="0" y="233280"/>
                  </a:lnTo>
                  <a:close/>
                </a:path>
              </a:pathLst>
            </a:custGeom>
            <a:grpFill/>
            <a:ln w="9525">
              <a:solidFill>
                <a:schemeClr val="bg2">
                  <a:lumMod val="50000"/>
                </a:schemeClr>
              </a:solidFill>
              <a:round/>
              <a:headEnd/>
              <a:tailEnd/>
            </a:ln>
          </p:spPr>
          <p:txBody>
            <a:bodyPr/>
            <a:lstStyle/>
            <a:p>
              <a:endParaRPr lang="en-US" dirty="0"/>
            </a:p>
          </p:txBody>
        </p:sp>
        <p:sp>
          <p:nvSpPr>
            <p:cNvPr id="24" name="Freeform 253"/>
            <p:cNvSpPr>
              <a:spLocks/>
            </p:cNvSpPr>
            <p:nvPr/>
          </p:nvSpPr>
          <p:spPr bwMode="gray">
            <a:xfrm>
              <a:off x="5246739" y="3085450"/>
              <a:ext cx="120367" cy="120427"/>
            </a:xfrm>
            <a:custGeom>
              <a:avLst/>
              <a:gdLst>
                <a:gd name="T0" fmla="*/ 0 w 3644175"/>
                <a:gd name="T1" fmla="*/ 0 h 3780713"/>
                <a:gd name="T2" fmla="*/ 0 w 3644175"/>
                <a:gd name="T3" fmla="*/ 0 h 3780713"/>
                <a:gd name="T4" fmla="*/ 0 w 3644175"/>
                <a:gd name="T5" fmla="*/ 0 h 3780713"/>
                <a:gd name="T6" fmla="*/ 0 w 3644175"/>
                <a:gd name="T7" fmla="*/ 0 h 3780713"/>
                <a:gd name="T8" fmla="*/ 0 w 3644175"/>
                <a:gd name="T9" fmla="*/ 0 h 3780713"/>
                <a:gd name="T10" fmla="*/ 0 w 3644175"/>
                <a:gd name="T11" fmla="*/ 0 h 3780713"/>
                <a:gd name="T12" fmla="*/ 0 w 3644175"/>
                <a:gd name="T13" fmla="*/ 0 h 3780713"/>
                <a:gd name="T14" fmla="*/ 0 w 3644175"/>
                <a:gd name="T15" fmla="*/ 0 h 3780713"/>
                <a:gd name="T16" fmla="*/ 0 w 3644175"/>
                <a:gd name="T17" fmla="*/ 0 h 3780713"/>
                <a:gd name="T18" fmla="*/ 0 w 3644175"/>
                <a:gd name="T19" fmla="*/ 0 h 3780713"/>
                <a:gd name="T20" fmla="*/ 0 w 3644175"/>
                <a:gd name="T21" fmla="*/ 0 h 3780713"/>
                <a:gd name="T22" fmla="*/ 0 w 3644175"/>
                <a:gd name="T23" fmla="*/ 0 h 3780713"/>
                <a:gd name="T24" fmla="*/ 0 w 3644175"/>
                <a:gd name="T25" fmla="*/ 0 h 3780713"/>
                <a:gd name="T26" fmla="*/ 0 w 3644175"/>
                <a:gd name="T27" fmla="*/ 0 h 3780713"/>
                <a:gd name="T28" fmla="*/ 0 w 3644175"/>
                <a:gd name="T29" fmla="*/ 0 h 3780713"/>
                <a:gd name="T30" fmla="*/ 0 w 3644175"/>
                <a:gd name="T31" fmla="*/ 0 h 3780713"/>
                <a:gd name="T32" fmla="*/ 0 w 3644175"/>
                <a:gd name="T33" fmla="*/ 0 h 3780713"/>
                <a:gd name="T34" fmla="*/ 0 w 3644175"/>
                <a:gd name="T35" fmla="*/ 0 h 3780713"/>
                <a:gd name="T36" fmla="*/ 0 w 3644175"/>
                <a:gd name="T37" fmla="*/ 0 h 3780713"/>
                <a:gd name="T38" fmla="*/ 0 w 3644175"/>
                <a:gd name="T39" fmla="*/ 0 h 37807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44175" h="3780713">
                  <a:moveTo>
                    <a:pt x="2018109" y="0"/>
                  </a:moveTo>
                  <a:lnTo>
                    <a:pt x="1131347" y="970851"/>
                  </a:lnTo>
                  <a:lnTo>
                    <a:pt x="106496" y="992543"/>
                  </a:lnTo>
                  <a:lnTo>
                    <a:pt x="0" y="1285960"/>
                  </a:lnTo>
                  <a:lnTo>
                    <a:pt x="250657" y="1838746"/>
                  </a:lnTo>
                  <a:lnTo>
                    <a:pt x="476240" y="1522355"/>
                  </a:lnTo>
                  <a:lnTo>
                    <a:pt x="637449" y="1360281"/>
                  </a:lnTo>
                  <a:lnTo>
                    <a:pt x="900975" y="1622129"/>
                  </a:lnTo>
                  <a:lnTo>
                    <a:pt x="1125827" y="2401618"/>
                  </a:lnTo>
                  <a:lnTo>
                    <a:pt x="1614428" y="2951232"/>
                  </a:lnTo>
                  <a:cubicBezTo>
                    <a:pt x="2156362" y="3074631"/>
                    <a:pt x="2677783" y="3504219"/>
                    <a:pt x="3209460" y="3780713"/>
                  </a:cubicBezTo>
                  <a:lnTo>
                    <a:pt x="1455611" y="1667100"/>
                  </a:lnTo>
                  <a:lnTo>
                    <a:pt x="1543203" y="1366330"/>
                  </a:lnTo>
                  <a:lnTo>
                    <a:pt x="1755414" y="1517198"/>
                  </a:lnTo>
                  <a:lnTo>
                    <a:pt x="3644175" y="1622129"/>
                  </a:lnTo>
                  <a:lnTo>
                    <a:pt x="3394079" y="610450"/>
                  </a:lnTo>
                  <a:lnTo>
                    <a:pt x="3170007" y="750786"/>
                  </a:lnTo>
                  <a:lnTo>
                    <a:pt x="2480463" y="641709"/>
                  </a:lnTo>
                  <a:lnTo>
                    <a:pt x="2078068" y="137463"/>
                  </a:lnTo>
                  <a:lnTo>
                    <a:pt x="2018109" y="0"/>
                  </a:lnTo>
                  <a:close/>
                </a:path>
              </a:pathLst>
            </a:custGeom>
            <a:grpFill/>
            <a:ln w="9525">
              <a:solidFill>
                <a:schemeClr val="bg2">
                  <a:lumMod val="50000"/>
                </a:schemeClr>
              </a:solidFill>
              <a:round/>
              <a:headEnd/>
              <a:tailEnd/>
            </a:ln>
          </p:spPr>
          <p:txBody>
            <a:bodyPr/>
            <a:lstStyle/>
            <a:p>
              <a:endParaRPr lang="en-US" dirty="0"/>
            </a:p>
          </p:txBody>
        </p:sp>
        <p:sp>
          <p:nvSpPr>
            <p:cNvPr id="25" name="Freeform 254"/>
            <p:cNvSpPr>
              <a:spLocks/>
            </p:cNvSpPr>
            <p:nvPr/>
          </p:nvSpPr>
          <p:spPr bwMode="gray">
            <a:xfrm>
              <a:off x="5296224" y="3127727"/>
              <a:ext cx="82919" cy="79430"/>
            </a:xfrm>
            <a:custGeom>
              <a:avLst/>
              <a:gdLst>
                <a:gd name="T0" fmla="*/ 0 w 2398426"/>
                <a:gd name="T1" fmla="*/ 0 h 2488994"/>
                <a:gd name="T2" fmla="*/ 0 w 2398426"/>
                <a:gd name="T3" fmla="*/ 0 h 2488994"/>
                <a:gd name="T4" fmla="*/ 0 w 2398426"/>
                <a:gd name="T5" fmla="*/ 0 h 2488994"/>
                <a:gd name="T6" fmla="*/ 0 w 2398426"/>
                <a:gd name="T7" fmla="*/ 0 h 2488994"/>
                <a:gd name="T8" fmla="*/ 0 w 2398426"/>
                <a:gd name="T9" fmla="*/ 0 h 2488994"/>
                <a:gd name="T10" fmla="*/ 0 w 2398426"/>
                <a:gd name="T11" fmla="*/ 0 h 2488994"/>
                <a:gd name="T12" fmla="*/ 0 w 2398426"/>
                <a:gd name="T13" fmla="*/ 0 h 2488994"/>
                <a:gd name="T14" fmla="*/ 0 w 2398426"/>
                <a:gd name="T15" fmla="*/ 0 h 248899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398426" h="2488994">
                  <a:moveTo>
                    <a:pt x="2113613" y="269822"/>
                  </a:moveTo>
                  <a:lnTo>
                    <a:pt x="254833" y="149901"/>
                  </a:lnTo>
                  <a:lnTo>
                    <a:pt x="74951" y="0"/>
                  </a:lnTo>
                  <a:lnTo>
                    <a:pt x="0" y="329783"/>
                  </a:lnTo>
                  <a:lnTo>
                    <a:pt x="1691048" y="2488994"/>
                  </a:lnTo>
                  <a:lnTo>
                    <a:pt x="2177788" y="1556144"/>
                  </a:lnTo>
                  <a:lnTo>
                    <a:pt x="2398426" y="1439055"/>
                  </a:lnTo>
                  <a:lnTo>
                    <a:pt x="2113613" y="269822"/>
                  </a:lnTo>
                  <a:close/>
                </a:path>
              </a:pathLst>
            </a:custGeom>
            <a:grpFill/>
            <a:ln w="9525">
              <a:solidFill>
                <a:schemeClr val="bg2">
                  <a:lumMod val="50000"/>
                </a:schemeClr>
              </a:solidFill>
              <a:round/>
              <a:headEnd/>
              <a:tailEnd/>
            </a:ln>
          </p:spPr>
          <p:txBody>
            <a:bodyPr/>
            <a:lstStyle/>
            <a:p>
              <a:endParaRPr lang="en-US" dirty="0"/>
            </a:p>
          </p:txBody>
        </p:sp>
        <p:sp>
          <p:nvSpPr>
            <p:cNvPr id="26" name="Freeform 255"/>
            <p:cNvSpPr>
              <a:spLocks/>
            </p:cNvSpPr>
            <p:nvPr/>
          </p:nvSpPr>
          <p:spPr bwMode="gray">
            <a:xfrm rot="286500">
              <a:off x="5356407" y="3176409"/>
              <a:ext cx="37448" cy="47402"/>
            </a:xfrm>
            <a:custGeom>
              <a:avLst/>
              <a:gdLst>
                <a:gd name="T0" fmla="*/ 0 w 1259245"/>
                <a:gd name="T1" fmla="*/ 0 h 1506961"/>
                <a:gd name="T2" fmla="*/ 0 w 1259245"/>
                <a:gd name="T3" fmla="*/ 0 h 1506961"/>
                <a:gd name="T4" fmla="*/ 0 w 1259245"/>
                <a:gd name="T5" fmla="*/ 0 h 1506961"/>
                <a:gd name="T6" fmla="*/ 0 w 1259245"/>
                <a:gd name="T7" fmla="*/ 0 h 1506961"/>
                <a:gd name="T8" fmla="*/ 0 w 1259245"/>
                <a:gd name="T9" fmla="*/ 0 h 15069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9245" h="1506961">
                  <a:moveTo>
                    <a:pt x="459998" y="0"/>
                  </a:moveTo>
                  <a:lnTo>
                    <a:pt x="0" y="967315"/>
                  </a:lnTo>
                  <a:lnTo>
                    <a:pt x="599606" y="1506961"/>
                  </a:lnTo>
                  <a:lnTo>
                    <a:pt x="1259243" y="571259"/>
                  </a:lnTo>
                  <a:lnTo>
                    <a:pt x="459998" y="0"/>
                  </a:lnTo>
                  <a:close/>
                </a:path>
              </a:pathLst>
            </a:custGeom>
            <a:grpFill/>
            <a:ln w="9525">
              <a:solidFill>
                <a:schemeClr val="bg2">
                  <a:lumMod val="50000"/>
                </a:schemeClr>
              </a:solidFill>
              <a:round/>
              <a:headEnd/>
              <a:tailEnd/>
            </a:ln>
          </p:spPr>
          <p:txBody>
            <a:bodyPr/>
            <a:lstStyle/>
            <a:p>
              <a:endParaRPr lang="en-US" dirty="0"/>
            </a:p>
          </p:txBody>
        </p:sp>
        <p:sp>
          <p:nvSpPr>
            <p:cNvPr id="27" name="Freeform 256"/>
            <p:cNvSpPr>
              <a:spLocks/>
            </p:cNvSpPr>
            <p:nvPr/>
          </p:nvSpPr>
          <p:spPr bwMode="gray">
            <a:xfrm>
              <a:off x="5357745" y="3094417"/>
              <a:ext cx="60183" cy="46120"/>
            </a:xfrm>
            <a:custGeom>
              <a:avLst/>
              <a:gdLst>
                <a:gd name="T0" fmla="*/ 0 w 1678899"/>
                <a:gd name="T1" fmla="*/ 0 h 1259174"/>
                <a:gd name="T2" fmla="*/ 0 w 1678899"/>
                <a:gd name="T3" fmla="*/ 0 h 1259174"/>
                <a:gd name="T4" fmla="*/ 0 w 1678899"/>
                <a:gd name="T5" fmla="*/ 0 h 1259174"/>
                <a:gd name="T6" fmla="*/ 0 w 1678899"/>
                <a:gd name="T7" fmla="*/ 0 h 1259174"/>
                <a:gd name="T8" fmla="*/ 0 w 1678899"/>
                <a:gd name="T9" fmla="*/ 0 h 1259174"/>
                <a:gd name="T10" fmla="*/ 0 w 1678899"/>
                <a:gd name="T11" fmla="*/ 0 h 125917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78899" h="1259174">
                  <a:moveTo>
                    <a:pt x="209862" y="1154242"/>
                  </a:moveTo>
                  <a:lnTo>
                    <a:pt x="1678899" y="1259174"/>
                  </a:lnTo>
                  <a:lnTo>
                    <a:pt x="1663908" y="899410"/>
                  </a:lnTo>
                  <a:lnTo>
                    <a:pt x="854439" y="0"/>
                  </a:lnTo>
                  <a:lnTo>
                    <a:pt x="0" y="269823"/>
                  </a:lnTo>
                  <a:lnTo>
                    <a:pt x="209862" y="1154242"/>
                  </a:lnTo>
                  <a:close/>
                </a:path>
              </a:pathLst>
            </a:custGeom>
            <a:grpFill/>
            <a:ln w="9525">
              <a:solidFill>
                <a:schemeClr val="bg2">
                  <a:lumMod val="50000"/>
                </a:schemeClr>
              </a:solidFill>
              <a:round/>
              <a:headEnd/>
              <a:tailEnd/>
            </a:ln>
          </p:spPr>
          <p:txBody>
            <a:bodyPr/>
            <a:lstStyle/>
            <a:p>
              <a:endParaRPr lang="en-US" dirty="0"/>
            </a:p>
          </p:txBody>
        </p:sp>
        <p:sp>
          <p:nvSpPr>
            <p:cNvPr id="28" name="Freeform 257"/>
            <p:cNvSpPr>
              <a:spLocks/>
            </p:cNvSpPr>
            <p:nvPr/>
          </p:nvSpPr>
          <p:spPr bwMode="gray">
            <a:xfrm>
              <a:off x="5368444" y="3136695"/>
              <a:ext cx="84256" cy="78149"/>
            </a:xfrm>
            <a:custGeom>
              <a:avLst/>
              <a:gdLst>
                <a:gd name="T0" fmla="*/ 0 w 2578308"/>
                <a:gd name="T1" fmla="*/ 0 h 2368446"/>
                <a:gd name="T2" fmla="*/ 0 w 2578308"/>
                <a:gd name="T3" fmla="*/ 0 h 2368446"/>
                <a:gd name="T4" fmla="*/ 0 w 2578308"/>
                <a:gd name="T5" fmla="*/ 0 h 2368446"/>
                <a:gd name="T6" fmla="*/ 0 w 2578308"/>
                <a:gd name="T7" fmla="*/ 0 h 2368446"/>
                <a:gd name="T8" fmla="*/ 0 w 2578308"/>
                <a:gd name="T9" fmla="*/ 0 h 2368446"/>
                <a:gd name="T10" fmla="*/ 0 w 2578308"/>
                <a:gd name="T11" fmla="*/ 0 h 2368446"/>
                <a:gd name="T12" fmla="*/ 0 w 2578308"/>
                <a:gd name="T13" fmla="*/ 0 h 2368446"/>
                <a:gd name="T14" fmla="*/ 0 w 2578308"/>
                <a:gd name="T15" fmla="*/ 0 h 2368446"/>
                <a:gd name="T16" fmla="*/ 0 w 2578308"/>
                <a:gd name="T17" fmla="*/ 0 h 2368446"/>
                <a:gd name="T18" fmla="*/ 0 w 2578308"/>
                <a:gd name="T19" fmla="*/ 0 h 2368446"/>
                <a:gd name="T20" fmla="*/ 0 w 2578308"/>
                <a:gd name="T21" fmla="*/ 0 h 2368446"/>
                <a:gd name="T22" fmla="*/ 0 w 2578308"/>
                <a:gd name="T23" fmla="*/ 0 h 23684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578308" h="2368446">
                  <a:moveTo>
                    <a:pt x="0" y="0"/>
                  </a:moveTo>
                  <a:lnTo>
                    <a:pt x="254833" y="1154242"/>
                  </a:lnTo>
                  <a:lnTo>
                    <a:pt x="104931" y="1259173"/>
                  </a:lnTo>
                  <a:lnTo>
                    <a:pt x="855821" y="1873287"/>
                  </a:lnTo>
                  <a:lnTo>
                    <a:pt x="1111621" y="1524299"/>
                  </a:lnTo>
                  <a:lnTo>
                    <a:pt x="1734645" y="2033965"/>
                  </a:lnTo>
                  <a:lnTo>
                    <a:pt x="1633928" y="2368446"/>
                  </a:lnTo>
                  <a:lnTo>
                    <a:pt x="2338465" y="2263514"/>
                  </a:lnTo>
                  <a:lnTo>
                    <a:pt x="2578308" y="1514006"/>
                  </a:lnTo>
                  <a:lnTo>
                    <a:pt x="2113613" y="224852"/>
                  </a:lnTo>
                  <a:lnTo>
                    <a:pt x="1439056" y="14990"/>
                  </a:lnTo>
                  <a:lnTo>
                    <a:pt x="0" y="0"/>
                  </a:lnTo>
                  <a:close/>
                </a:path>
              </a:pathLst>
            </a:custGeom>
            <a:grpFill/>
            <a:ln w="9525">
              <a:solidFill>
                <a:schemeClr val="bg2">
                  <a:lumMod val="50000"/>
                </a:schemeClr>
              </a:solidFill>
              <a:round/>
              <a:headEnd/>
              <a:tailEnd/>
            </a:ln>
          </p:spPr>
          <p:txBody>
            <a:bodyPr/>
            <a:lstStyle/>
            <a:p>
              <a:endParaRPr lang="en-US" dirty="0"/>
            </a:p>
          </p:txBody>
        </p:sp>
        <p:sp>
          <p:nvSpPr>
            <p:cNvPr id="29" name="Freeform 258"/>
            <p:cNvSpPr>
              <a:spLocks/>
            </p:cNvSpPr>
            <p:nvPr/>
          </p:nvSpPr>
          <p:spPr bwMode="gray">
            <a:xfrm>
              <a:off x="5391179" y="3185377"/>
              <a:ext cx="33435" cy="39715"/>
            </a:xfrm>
            <a:custGeom>
              <a:avLst/>
              <a:gdLst>
                <a:gd name="T0" fmla="*/ 0 w 1097536"/>
                <a:gd name="T1" fmla="*/ 0 h 1184223"/>
                <a:gd name="T2" fmla="*/ 0 w 1097536"/>
                <a:gd name="T3" fmla="*/ 0 h 1184223"/>
                <a:gd name="T4" fmla="*/ 0 w 1097536"/>
                <a:gd name="T5" fmla="*/ 0 h 1184223"/>
                <a:gd name="T6" fmla="*/ 0 w 1097536"/>
                <a:gd name="T7" fmla="*/ 0 h 1184223"/>
                <a:gd name="T8" fmla="*/ 0 w 1097536"/>
                <a:gd name="T9" fmla="*/ 0 h 1184223"/>
                <a:gd name="T10" fmla="*/ 0 w 1097536"/>
                <a:gd name="T11" fmla="*/ 0 h 11842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97536" h="1184223">
                  <a:moveTo>
                    <a:pt x="482939" y="0"/>
                  </a:moveTo>
                  <a:lnTo>
                    <a:pt x="0" y="416160"/>
                  </a:lnTo>
                  <a:lnTo>
                    <a:pt x="452959" y="1184223"/>
                  </a:lnTo>
                  <a:lnTo>
                    <a:pt x="1067555" y="824459"/>
                  </a:lnTo>
                  <a:lnTo>
                    <a:pt x="1097536" y="509666"/>
                  </a:lnTo>
                  <a:lnTo>
                    <a:pt x="482939" y="0"/>
                  </a:lnTo>
                  <a:close/>
                </a:path>
              </a:pathLst>
            </a:custGeom>
            <a:grpFill/>
            <a:ln w="9525">
              <a:solidFill>
                <a:schemeClr val="bg2">
                  <a:lumMod val="50000"/>
                </a:schemeClr>
              </a:solidFill>
              <a:round/>
              <a:headEnd/>
              <a:tailEnd/>
            </a:ln>
          </p:spPr>
          <p:txBody>
            <a:bodyPr/>
            <a:lstStyle/>
            <a:p>
              <a:endParaRPr lang="en-US" dirty="0"/>
            </a:p>
          </p:txBody>
        </p:sp>
        <p:sp>
          <p:nvSpPr>
            <p:cNvPr id="30" name="Freeform 259"/>
            <p:cNvSpPr>
              <a:spLocks/>
            </p:cNvSpPr>
            <p:nvPr/>
          </p:nvSpPr>
          <p:spPr bwMode="gray">
            <a:xfrm>
              <a:off x="5405891" y="3207157"/>
              <a:ext cx="54833" cy="48683"/>
            </a:xfrm>
            <a:custGeom>
              <a:avLst/>
              <a:gdLst>
                <a:gd name="T0" fmla="*/ 0 w 1852882"/>
                <a:gd name="T1" fmla="*/ 0 h 1521018"/>
                <a:gd name="T2" fmla="*/ 0 w 1852882"/>
                <a:gd name="T3" fmla="*/ 0 h 1521018"/>
                <a:gd name="T4" fmla="*/ 0 w 1852882"/>
                <a:gd name="T5" fmla="*/ 0 h 1521018"/>
                <a:gd name="T6" fmla="*/ 0 w 1852882"/>
                <a:gd name="T7" fmla="*/ 0 h 1521018"/>
                <a:gd name="T8" fmla="*/ 0 w 1852882"/>
                <a:gd name="T9" fmla="*/ 0 h 1521018"/>
                <a:gd name="T10" fmla="*/ 0 w 1852882"/>
                <a:gd name="T11" fmla="*/ 0 h 1521018"/>
                <a:gd name="T12" fmla="*/ 0 w 1852882"/>
                <a:gd name="T13" fmla="*/ 0 h 1521018"/>
                <a:gd name="T14" fmla="*/ 0 w 1852882"/>
                <a:gd name="T15" fmla="*/ 0 h 1521018"/>
                <a:gd name="T16" fmla="*/ 0 w 1852882"/>
                <a:gd name="T17" fmla="*/ 0 h 1521018"/>
                <a:gd name="T18" fmla="*/ 0 w 1852882"/>
                <a:gd name="T19" fmla="*/ 0 h 1521018"/>
                <a:gd name="T20" fmla="*/ 0 w 1852882"/>
                <a:gd name="T21" fmla="*/ 0 h 15210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52882" h="1521018">
                  <a:moveTo>
                    <a:pt x="0" y="507061"/>
                  </a:moveTo>
                  <a:lnTo>
                    <a:pt x="0" y="1211599"/>
                  </a:lnTo>
                  <a:lnTo>
                    <a:pt x="435424" y="1521018"/>
                  </a:lnTo>
                  <a:lnTo>
                    <a:pt x="839449" y="1391481"/>
                  </a:lnTo>
                  <a:lnTo>
                    <a:pt x="1763339" y="952692"/>
                  </a:lnTo>
                  <a:lnTo>
                    <a:pt x="1852882" y="743963"/>
                  </a:lnTo>
                  <a:lnTo>
                    <a:pt x="1756379" y="372784"/>
                  </a:lnTo>
                  <a:lnTo>
                    <a:pt x="1563372" y="307281"/>
                  </a:lnTo>
                  <a:lnTo>
                    <a:pt x="1370668" y="0"/>
                  </a:lnTo>
                  <a:lnTo>
                    <a:pt x="644577" y="177278"/>
                  </a:lnTo>
                  <a:lnTo>
                    <a:pt x="0" y="507061"/>
                  </a:lnTo>
                  <a:close/>
                </a:path>
              </a:pathLst>
            </a:custGeom>
            <a:grpFill/>
            <a:ln w="9525">
              <a:solidFill>
                <a:schemeClr val="bg2">
                  <a:lumMod val="50000"/>
                </a:schemeClr>
              </a:solidFill>
              <a:round/>
              <a:headEnd/>
              <a:tailEnd/>
            </a:ln>
          </p:spPr>
          <p:txBody>
            <a:bodyPr/>
            <a:lstStyle/>
            <a:p>
              <a:endParaRPr lang="en-US" dirty="0"/>
            </a:p>
          </p:txBody>
        </p:sp>
        <p:sp>
          <p:nvSpPr>
            <p:cNvPr id="31" name="Freeform 260"/>
            <p:cNvSpPr>
              <a:spLocks/>
            </p:cNvSpPr>
            <p:nvPr/>
          </p:nvSpPr>
          <p:spPr bwMode="gray">
            <a:xfrm>
              <a:off x="5372456" y="3199470"/>
              <a:ext cx="45472" cy="88399"/>
            </a:xfrm>
            <a:custGeom>
              <a:avLst/>
              <a:gdLst>
                <a:gd name="T0" fmla="*/ 0 w 444747"/>
                <a:gd name="T1" fmla="*/ 6 h 900169"/>
                <a:gd name="T2" fmla="*/ 3 w 444747"/>
                <a:gd name="T3" fmla="*/ 8 h 900169"/>
                <a:gd name="T4" fmla="*/ 3 w 444747"/>
                <a:gd name="T5" fmla="*/ 19 h 900169"/>
                <a:gd name="T6" fmla="*/ 7 w 444747"/>
                <a:gd name="T7" fmla="*/ 24 h 900169"/>
                <a:gd name="T8" fmla="*/ 8 w 444747"/>
                <a:gd name="T9" fmla="*/ 22 h 900169"/>
                <a:gd name="T10" fmla="*/ 10 w 444747"/>
                <a:gd name="T11" fmla="*/ 18 h 900169"/>
                <a:gd name="T12" fmla="*/ 9 w 444747"/>
                <a:gd name="T13" fmla="*/ 16 h 900169"/>
                <a:gd name="T14" fmla="*/ 12 w 444747"/>
                <a:gd name="T15" fmla="*/ 15 h 900169"/>
                <a:gd name="T16" fmla="*/ 8 w 444747"/>
                <a:gd name="T17" fmla="*/ 13 h 900169"/>
                <a:gd name="T18" fmla="*/ 8 w 444747"/>
                <a:gd name="T19" fmla="*/ 7 h 900169"/>
                <a:gd name="T20" fmla="*/ 5 w 444747"/>
                <a:gd name="T21" fmla="*/ 0 h 900169"/>
                <a:gd name="T22" fmla="*/ 0 w 444747"/>
                <a:gd name="T23" fmla="*/ 6 h 9001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44747" h="900169">
                  <a:moveTo>
                    <a:pt x="0" y="238385"/>
                  </a:moveTo>
                  <a:lnTo>
                    <a:pt x="99623" y="298870"/>
                  </a:lnTo>
                  <a:lnTo>
                    <a:pt x="99623" y="715154"/>
                  </a:lnTo>
                  <a:lnTo>
                    <a:pt x="263290" y="900169"/>
                  </a:lnTo>
                  <a:lnTo>
                    <a:pt x="327333" y="836125"/>
                  </a:lnTo>
                  <a:lnTo>
                    <a:pt x="384261" y="683132"/>
                  </a:lnTo>
                  <a:lnTo>
                    <a:pt x="362913" y="608414"/>
                  </a:lnTo>
                  <a:lnTo>
                    <a:pt x="444747" y="576393"/>
                  </a:lnTo>
                  <a:lnTo>
                    <a:pt x="327333" y="476769"/>
                  </a:lnTo>
                  <a:lnTo>
                    <a:pt x="327333" y="266849"/>
                  </a:lnTo>
                  <a:lnTo>
                    <a:pt x="185014" y="0"/>
                  </a:lnTo>
                  <a:lnTo>
                    <a:pt x="0" y="238385"/>
                  </a:lnTo>
                  <a:close/>
                </a:path>
              </a:pathLst>
            </a:custGeom>
            <a:grpFill/>
            <a:ln w="9525">
              <a:solidFill>
                <a:schemeClr val="bg2">
                  <a:lumMod val="50000"/>
                </a:schemeClr>
              </a:solidFill>
              <a:round/>
              <a:headEnd/>
              <a:tailEnd/>
            </a:ln>
          </p:spPr>
          <p:txBody>
            <a:bodyPr/>
            <a:lstStyle/>
            <a:p>
              <a:endParaRPr lang="en-US" dirty="0"/>
            </a:p>
          </p:txBody>
        </p:sp>
        <p:sp>
          <p:nvSpPr>
            <p:cNvPr id="32" name="Freeform 257"/>
            <p:cNvSpPr>
              <a:spLocks/>
            </p:cNvSpPr>
            <p:nvPr/>
          </p:nvSpPr>
          <p:spPr bwMode="gray">
            <a:xfrm>
              <a:off x="4726487" y="2807442"/>
              <a:ext cx="92281" cy="131957"/>
            </a:xfrm>
            <a:custGeom>
              <a:avLst/>
              <a:gdLst>
                <a:gd name="T0" fmla="*/ 2147483647 w 84"/>
                <a:gd name="T1" fmla="*/ 2147483647 h 126"/>
                <a:gd name="T2" fmla="*/ 0 w 84"/>
                <a:gd name="T3" fmla="*/ 2147483647 h 126"/>
                <a:gd name="T4" fmla="*/ 0 w 84"/>
                <a:gd name="T5" fmla="*/ 2147483647 h 126"/>
                <a:gd name="T6" fmla="*/ 2147483647 w 84"/>
                <a:gd name="T7" fmla="*/ 2147483647 h 126"/>
                <a:gd name="T8" fmla="*/ 2147483647 w 84"/>
                <a:gd name="T9" fmla="*/ 2147483647 h 126"/>
                <a:gd name="T10" fmla="*/ 2147483647 w 84"/>
                <a:gd name="T11" fmla="*/ 2147483647 h 126"/>
                <a:gd name="T12" fmla="*/ 2147483647 w 84"/>
                <a:gd name="T13" fmla="*/ 2147483647 h 126"/>
                <a:gd name="T14" fmla="*/ 2147483647 w 84"/>
                <a:gd name="T15" fmla="*/ 2147483647 h 126"/>
                <a:gd name="T16" fmla="*/ 2147483647 w 84"/>
                <a:gd name="T17" fmla="*/ 2147483647 h 126"/>
                <a:gd name="T18" fmla="*/ 2147483647 w 84"/>
                <a:gd name="T19" fmla="*/ 2147483647 h 126"/>
                <a:gd name="T20" fmla="*/ 2147483647 w 84"/>
                <a:gd name="T21" fmla="*/ 2147483647 h 126"/>
                <a:gd name="T22" fmla="*/ 2147483647 w 84"/>
                <a:gd name="T23" fmla="*/ 0 h 126"/>
                <a:gd name="T24" fmla="*/ 2147483647 w 84"/>
                <a:gd name="T25" fmla="*/ 2147483647 h 126"/>
                <a:gd name="T26" fmla="*/ 2147483647 w 84"/>
                <a:gd name="T27" fmla="*/ 2147483647 h 126"/>
                <a:gd name="T28" fmla="*/ 2147483647 w 84"/>
                <a:gd name="T29" fmla="*/ 2147483647 h 126"/>
                <a:gd name="T30" fmla="*/ 2147483647 w 84"/>
                <a:gd name="T31" fmla="*/ 2147483647 h 126"/>
                <a:gd name="T32" fmla="*/ 2147483647 w 84"/>
                <a:gd name="T33" fmla="*/ 2147483647 h 126"/>
                <a:gd name="T34" fmla="*/ 2147483647 w 84"/>
                <a:gd name="T35" fmla="*/ 2147483647 h 126"/>
                <a:gd name="T36" fmla="*/ 2147483647 w 84"/>
                <a:gd name="T37" fmla="*/ 2147483647 h 126"/>
                <a:gd name="T38" fmla="*/ 2147483647 w 84"/>
                <a:gd name="T39" fmla="*/ 2147483647 h 126"/>
                <a:gd name="T40" fmla="*/ 2147483647 w 84"/>
                <a:gd name="T41" fmla="*/ 2147483647 h 1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84" h="126">
                  <a:moveTo>
                    <a:pt x="18" y="126"/>
                  </a:moveTo>
                  <a:lnTo>
                    <a:pt x="0" y="114"/>
                  </a:lnTo>
                  <a:lnTo>
                    <a:pt x="0" y="102"/>
                  </a:lnTo>
                  <a:lnTo>
                    <a:pt x="6" y="96"/>
                  </a:lnTo>
                  <a:lnTo>
                    <a:pt x="12" y="84"/>
                  </a:lnTo>
                  <a:lnTo>
                    <a:pt x="12" y="66"/>
                  </a:lnTo>
                  <a:lnTo>
                    <a:pt x="6" y="60"/>
                  </a:lnTo>
                  <a:lnTo>
                    <a:pt x="12" y="54"/>
                  </a:lnTo>
                  <a:lnTo>
                    <a:pt x="6" y="36"/>
                  </a:lnTo>
                  <a:lnTo>
                    <a:pt x="30" y="30"/>
                  </a:lnTo>
                  <a:lnTo>
                    <a:pt x="30" y="18"/>
                  </a:lnTo>
                  <a:lnTo>
                    <a:pt x="54" y="0"/>
                  </a:lnTo>
                  <a:lnTo>
                    <a:pt x="60" y="6"/>
                  </a:lnTo>
                  <a:lnTo>
                    <a:pt x="72" y="6"/>
                  </a:lnTo>
                  <a:lnTo>
                    <a:pt x="78" y="18"/>
                  </a:lnTo>
                  <a:lnTo>
                    <a:pt x="84" y="30"/>
                  </a:lnTo>
                  <a:lnTo>
                    <a:pt x="72" y="42"/>
                  </a:lnTo>
                  <a:lnTo>
                    <a:pt x="78" y="66"/>
                  </a:lnTo>
                  <a:lnTo>
                    <a:pt x="72" y="96"/>
                  </a:lnTo>
                  <a:lnTo>
                    <a:pt x="54" y="102"/>
                  </a:lnTo>
                  <a:lnTo>
                    <a:pt x="18" y="126"/>
                  </a:lnTo>
                  <a:close/>
                </a:path>
              </a:pathLst>
            </a:custGeom>
            <a:grpFill/>
            <a:ln w="9525">
              <a:solidFill>
                <a:schemeClr val="bg2">
                  <a:lumMod val="50000"/>
                </a:schemeClr>
              </a:solidFill>
              <a:round/>
              <a:headEnd/>
              <a:tailEnd/>
            </a:ln>
          </p:spPr>
          <p:txBody>
            <a:bodyPr/>
            <a:lstStyle/>
            <a:p>
              <a:endParaRPr lang="en-US" dirty="0"/>
            </a:p>
          </p:txBody>
        </p:sp>
        <p:sp>
          <p:nvSpPr>
            <p:cNvPr id="33" name="Freeform 258"/>
            <p:cNvSpPr>
              <a:spLocks/>
            </p:cNvSpPr>
            <p:nvPr/>
          </p:nvSpPr>
          <p:spPr bwMode="gray">
            <a:xfrm>
              <a:off x="6055873" y="1730010"/>
              <a:ext cx="367788" cy="449677"/>
            </a:xfrm>
            <a:custGeom>
              <a:avLst/>
              <a:gdLst>
                <a:gd name="T0" fmla="*/ 2147483647 w 336"/>
                <a:gd name="T1" fmla="*/ 2147483647 h 427"/>
                <a:gd name="T2" fmla="*/ 2147483647 w 336"/>
                <a:gd name="T3" fmla="*/ 2147483647 h 427"/>
                <a:gd name="T4" fmla="*/ 2147483647 w 336"/>
                <a:gd name="T5" fmla="*/ 2147483647 h 427"/>
                <a:gd name="T6" fmla="*/ 2147483647 w 336"/>
                <a:gd name="T7" fmla="*/ 2147483647 h 427"/>
                <a:gd name="T8" fmla="*/ 2147483647 w 336"/>
                <a:gd name="T9" fmla="*/ 2147483647 h 427"/>
                <a:gd name="T10" fmla="*/ 2147483647 w 336"/>
                <a:gd name="T11" fmla="*/ 2147483647 h 427"/>
                <a:gd name="T12" fmla="*/ 2147483647 w 336"/>
                <a:gd name="T13" fmla="*/ 2147483647 h 427"/>
                <a:gd name="T14" fmla="*/ 2147483647 w 336"/>
                <a:gd name="T15" fmla="*/ 2147483647 h 427"/>
                <a:gd name="T16" fmla="*/ 2147483647 w 336"/>
                <a:gd name="T17" fmla="*/ 2147483647 h 427"/>
                <a:gd name="T18" fmla="*/ 2147483647 w 336"/>
                <a:gd name="T19" fmla="*/ 2147483647 h 427"/>
                <a:gd name="T20" fmla="*/ 2147483647 w 336"/>
                <a:gd name="T21" fmla="*/ 2147483647 h 427"/>
                <a:gd name="T22" fmla="*/ 2147483647 w 336"/>
                <a:gd name="T23" fmla="*/ 0 h 427"/>
                <a:gd name="T24" fmla="*/ 2147483647 w 336"/>
                <a:gd name="T25" fmla="*/ 2147483647 h 427"/>
                <a:gd name="T26" fmla="*/ 2147483647 w 336"/>
                <a:gd name="T27" fmla="*/ 2147483647 h 427"/>
                <a:gd name="T28" fmla="*/ 2147483647 w 336"/>
                <a:gd name="T29" fmla="*/ 2147483647 h 427"/>
                <a:gd name="T30" fmla="*/ 2147483647 w 336"/>
                <a:gd name="T31" fmla="*/ 2147483647 h 427"/>
                <a:gd name="T32" fmla="*/ 2147483647 w 336"/>
                <a:gd name="T33" fmla="*/ 2147483647 h 427"/>
                <a:gd name="T34" fmla="*/ 2147483647 w 336"/>
                <a:gd name="T35" fmla="*/ 2147483647 h 427"/>
                <a:gd name="T36" fmla="*/ 2147483647 w 336"/>
                <a:gd name="T37" fmla="*/ 2147483647 h 427"/>
                <a:gd name="T38" fmla="*/ 2147483647 w 336"/>
                <a:gd name="T39" fmla="*/ 2147483647 h 427"/>
                <a:gd name="T40" fmla="*/ 2147483647 w 336"/>
                <a:gd name="T41" fmla="*/ 2147483647 h 427"/>
                <a:gd name="T42" fmla="*/ 2147483647 w 336"/>
                <a:gd name="T43" fmla="*/ 2147483647 h 427"/>
                <a:gd name="T44" fmla="*/ 2147483647 w 336"/>
                <a:gd name="T45" fmla="*/ 2147483647 h 427"/>
                <a:gd name="T46" fmla="*/ 2147483647 w 336"/>
                <a:gd name="T47" fmla="*/ 2147483647 h 427"/>
                <a:gd name="T48" fmla="*/ 2147483647 w 336"/>
                <a:gd name="T49" fmla="*/ 2147483647 h 427"/>
                <a:gd name="T50" fmla="*/ 2147483647 w 336"/>
                <a:gd name="T51" fmla="*/ 2147483647 h 427"/>
                <a:gd name="T52" fmla="*/ 2147483647 w 336"/>
                <a:gd name="T53" fmla="*/ 2147483647 h 427"/>
                <a:gd name="T54" fmla="*/ 0 w 336"/>
                <a:gd name="T55" fmla="*/ 2147483647 h 427"/>
                <a:gd name="T56" fmla="*/ 2147483647 w 336"/>
                <a:gd name="T57" fmla="*/ 2147483647 h 427"/>
                <a:gd name="T58" fmla="*/ 2147483647 w 336"/>
                <a:gd name="T59" fmla="*/ 2147483647 h 427"/>
                <a:gd name="T60" fmla="*/ 2147483647 w 336"/>
                <a:gd name="T61" fmla="*/ 2147483647 h 427"/>
                <a:gd name="T62" fmla="*/ 2147483647 w 336"/>
                <a:gd name="T63" fmla="*/ 2147483647 h 427"/>
                <a:gd name="T64" fmla="*/ 2147483647 w 336"/>
                <a:gd name="T65" fmla="*/ 2147483647 h 4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6" h="427">
                  <a:moveTo>
                    <a:pt x="120" y="427"/>
                  </a:moveTo>
                  <a:lnTo>
                    <a:pt x="96" y="397"/>
                  </a:lnTo>
                  <a:lnTo>
                    <a:pt x="78" y="325"/>
                  </a:lnTo>
                  <a:lnTo>
                    <a:pt x="96" y="282"/>
                  </a:lnTo>
                  <a:lnTo>
                    <a:pt x="144" y="180"/>
                  </a:lnTo>
                  <a:lnTo>
                    <a:pt x="192" y="150"/>
                  </a:lnTo>
                  <a:lnTo>
                    <a:pt x="222" y="114"/>
                  </a:lnTo>
                  <a:lnTo>
                    <a:pt x="252" y="96"/>
                  </a:lnTo>
                  <a:lnTo>
                    <a:pt x="294" y="72"/>
                  </a:lnTo>
                  <a:lnTo>
                    <a:pt x="336" y="30"/>
                  </a:lnTo>
                  <a:lnTo>
                    <a:pt x="330" y="6"/>
                  </a:lnTo>
                  <a:lnTo>
                    <a:pt x="294" y="0"/>
                  </a:lnTo>
                  <a:lnTo>
                    <a:pt x="270" y="24"/>
                  </a:lnTo>
                  <a:lnTo>
                    <a:pt x="252" y="42"/>
                  </a:lnTo>
                  <a:lnTo>
                    <a:pt x="222" y="48"/>
                  </a:lnTo>
                  <a:lnTo>
                    <a:pt x="186" y="48"/>
                  </a:lnTo>
                  <a:lnTo>
                    <a:pt x="174" y="60"/>
                  </a:lnTo>
                  <a:lnTo>
                    <a:pt x="162" y="78"/>
                  </a:lnTo>
                  <a:lnTo>
                    <a:pt x="114" y="126"/>
                  </a:lnTo>
                  <a:lnTo>
                    <a:pt x="90" y="138"/>
                  </a:lnTo>
                  <a:lnTo>
                    <a:pt x="84" y="168"/>
                  </a:lnTo>
                  <a:lnTo>
                    <a:pt x="66" y="186"/>
                  </a:lnTo>
                  <a:lnTo>
                    <a:pt x="42" y="216"/>
                  </a:lnTo>
                  <a:lnTo>
                    <a:pt x="42" y="240"/>
                  </a:lnTo>
                  <a:lnTo>
                    <a:pt x="30" y="270"/>
                  </a:lnTo>
                  <a:lnTo>
                    <a:pt x="12" y="295"/>
                  </a:lnTo>
                  <a:lnTo>
                    <a:pt x="18" y="325"/>
                  </a:lnTo>
                  <a:lnTo>
                    <a:pt x="0" y="349"/>
                  </a:lnTo>
                  <a:lnTo>
                    <a:pt x="18" y="391"/>
                  </a:lnTo>
                  <a:lnTo>
                    <a:pt x="48" y="403"/>
                  </a:lnTo>
                  <a:lnTo>
                    <a:pt x="54" y="415"/>
                  </a:lnTo>
                  <a:lnTo>
                    <a:pt x="72" y="421"/>
                  </a:lnTo>
                  <a:lnTo>
                    <a:pt x="120" y="427"/>
                  </a:lnTo>
                  <a:close/>
                </a:path>
              </a:pathLst>
            </a:custGeom>
            <a:grpFill/>
            <a:ln w="9525">
              <a:solidFill>
                <a:schemeClr val="bg2">
                  <a:lumMod val="50000"/>
                </a:schemeClr>
              </a:solidFill>
              <a:round/>
              <a:headEnd/>
              <a:tailEnd/>
            </a:ln>
          </p:spPr>
          <p:txBody>
            <a:bodyPr/>
            <a:lstStyle/>
            <a:p>
              <a:endParaRPr lang="en-US" dirty="0"/>
            </a:p>
          </p:txBody>
        </p:sp>
        <p:sp>
          <p:nvSpPr>
            <p:cNvPr id="34" name="Freeform 259"/>
            <p:cNvSpPr>
              <a:spLocks/>
            </p:cNvSpPr>
            <p:nvPr/>
          </p:nvSpPr>
          <p:spPr bwMode="gray">
            <a:xfrm>
              <a:off x="5837875" y="4375551"/>
              <a:ext cx="140429" cy="279288"/>
            </a:xfrm>
            <a:custGeom>
              <a:avLst/>
              <a:gdLst>
                <a:gd name="T0" fmla="*/ 2147483647 w 126"/>
                <a:gd name="T1" fmla="*/ 2147483647 h 265"/>
                <a:gd name="T2" fmla="*/ 0 w 126"/>
                <a:gd name="T3" fmla="*/ 2147483647 h 265"/>
                <a:gd name="T4" fmla="*/ 2147483647 w 126"/>
                <a:gd name="T5" fmla="*/ 2147483647 h 265"/>
                <a:gd name="T6" fmla="*/ 2147483647 w 126"/>
                <a:gd name="T7" fmla="*/ 2147483647 h 265"/>
                <a:gd name="T8" fmla="*/ 2147483647 w 126"/>
                <a:gd name="T9" fmla="*/ 2147483647 h 265"/>
                <a:gd name="T10" fmla="*/ 2147483647 w 126"/>
                <a:gd name="T11" fmla="*/ 2147483647 h 265"/>
                <a:gd name="T12" fmla="*/ 2147483647 w 126"/>
                <a:gd name="T13" fmla="*/ 2147483647 h 265"/>
                <a:gd name="T14" fmla="*/ 2147483647 w 126"/>
                <a:gd name="T15" fmla="*/ 2147483647 h 265"/>
                <a:gd name="T16" fmla="*/ 2147483647 w 126"/>
                <a:gd name="T17" fmla="*/ 0 h 265"/>
                <a:gd name="T18" fmla="*/ 2147483647 w 126"/>
                <a:gd name="T19" fmla="*/ 2147483647 h 265"/>
                <a:gd name="T20" fmla="*/ 2147483647 w 126"/>
                <a:gd name="T21" fmla="*/ 2147483647 h 265"/>
                <a:gd name="T22" fmla="*/ 2147483647 w 126"/>
                <a:gd name="T23" fmla="*/ 2147483647 h 265"/>
                <a:gd name="T24" fmla="*/ 2147483647 w 126"/>
                <a:gd name="T25" fmla="*/ 2147483647 h 265"/>
                <a:gd name="T26" fmla="*/ 2147483647 w 126"/>
                <a:gd name="T27" fmla="*/ 2147483647 h 265"/>
                <a:gd name="T28" fmla="*/ 2147483647 w 126"/>
                <a:gd name="T29" fmla="*/ 2147483647 h 265"/>
                <a:gd name="T30" fmla="*/ 2147483647 w 126"/>
                <a:gd name="T31" fmla="*/ 2147483647 h 265"/>
                <a:gd name="T32" fmla="*/ 2147483647 w 126"/>
                <a:gd name="T33" fmla="*/ 2147483647 h 26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6" h="265">
                  <a:moveTo>
                    <a:pt x="6" y="217"/>
                  </a:moveTo>
                  <a:lnTo>
                    <a:pt x="0" y="193"/>
                  </a:lnTo>
                  <a:lnTo>
                    <a:pt x="12" y="169"/>
                  </a:lnTo>
                  <a:lnTo>
                    <a:pt x="24" y="139"/>
                  </a:lnTo>
                  <a:lnTo>
                    <a:pt x="12" y="91"/>
                  </a:lnTo>
                  <a:lnTo>
                    <a:pt x="30" y="78"/>
                  </a:lnTo>
                  <a:lnTo>
                    <a:pt x="54" y="60"/>
                  </a:lnTo>
                  <a:lnTo>
                    <a:pt x="78" y="24"/>
                  </a:lnTo>
                  <a:lnTo>
                    <a:pt x="108" y="0"/>
                  </a:lnTo>
                  <a:lnTo>
                    <a:pt x="126" y="24"/>
                  </a:lnTo>
                  <a:lnTo>
                    <a:pt x="126" y="66"/>
                  </a:lnTo>
                  <a:lnTo>
                    <a:pt x="126" y="91"/>
                  </a:lnTo>
                  <a:lnTo>
                    <a:pt x="78" y="253"/>
                  </a:lnTo>
                  <a:lnTo>
                    <a:pt x="54" y="259"/>
                  </a:lnTo>
                  <a:lnTo>
                    <a:pt x="30" y="265"/>
                  </a:lnTo>
                  <a:lnTo>
                    <a:pt x="6" y="247"/>
                  </a:lnTo>
                  <a:lnTo>
                    <a:pt x="6" y="217"/>
                  </a:lnTo>
                  <a:close/>
                </a:path>
              </a:pathLst>
            </a:custGeom>
            <a:grpFill/>
            <a:ln w="9525">
              <a:solidFill>
                <a:schemeClr val="bg2">
                  <a:lumMod val="50000"/>
                </a:schemeClr>
              </a:solidFill>
              <a:round/>
              <a:headEnd/>
              <a:tailEnd/>
            </a:ln>
          </p:spPr>
          <p:txBody>
            <a:bodyPr/>
            <a:lstStyle/>
            <a:p>
              <a:endParaRPr lang="en-US" dirty="0"/>
            </a:p>
          </p:txBody>
        </p:sp>
        <p:sp>
          <p:nvSpPr>
            <p:cNvPr id="35" name="Freeform 266"/>
            <p:cNvSpPr>
              <a:spLocks/>
            </p:cNvSpPr>
            <p:nvPr/>
          </p:nvSpPr>
          <p:spPr bwMode="gray">
            <a:xfrm>
              <a:off x="8431116" y="5018679"/>
              <a:ext cx="151127" cy="165267"/>
            </a:xfrm>
            <a:custGeom>
              <a:avLst/>
              <a:gdLst>
                <a:gd name="T0" fmla="*/ 0 w 138"/>
                <a:gd name="T1" fmla="*/ 2147483647 h 157"/>
                <a:gd name="T2" fmla="*/ 2147483647 w 138"/>
                <a:gd name="T3" fmla="*/ 2147483647 h 157"/>
                <a:gd name="T4" fmla="*/ 2147483647 w 138"/>
                <a:gd name="T5" fmla="*/ 2147483647 h 157"/>
                <a:gd name="T6" fmla="*/ 2147483647 w 138"/>
                <a:gd name="T7" fmla="*/ 2147483647 h 157"/>
                <a:gd name="T8" fmla="*/ 2147483647 w 138"/>
                <a:gd name="T9" fmla="*/ 2147483647 h 157"/>
                <a:gd name="T10" fmla="*/ 2147483647 w 138"/>
                <a:gd name="T11" fmla="*/ 2147483647 h 157"/>
                <a:gd name="T12" fmla="*/ 2147483647 w 138"/>
                <a:gd name="T13" fmla="*/ 0 h 157"/>
                <a:gd name="T14" fmla="*/ 2147483647 w 138"/>
                <a:gd name="T15" fmla="*/ 2147483647 h 157"/>
                <a:gd name="T16" fmla="*/ 2147483647 w 138"/>
                <a:gd name="T17" fmla="*/ 2147483647 h 157"/>
                <a:gd name="T18" fmla="*/ 2147483647 w 138"/>
                <a:gd name="T19" fmla="*/ 2147483647 h 157"/>
                <a:gd name="T20" fmla="*/ 2147483647 w 138"/>
                <a:gd name="T21" fmla="*/ 2147483647 h 157"/>
                <a:gd name="T22" fmla="*/ 2147483647 w 138"/>
                <a:gd name="T23" fmla="*/ 2147483647 h 157"/>
                <a:gd name="T24" fmla="*/ 2147483647 w 138"/>
                <a:gd name="T25" fmla="*/ 2147483647 h 157"/>
                <a:gd name="T26" fmla="*/ 2147483647 w 138"/>
                <a:gd name="T27" fmla="*/ 2147483647 h 157"/>
                <a:gd name="T28" fmla="*/ 2147483647 w 138"/>
                <a:gd name="T29" fmla="*/ 2147483647 h 157"/>
                <a:gd name="T30" fmla="*/ 2147483647 w 138"/>
                <a:gd name="T31" fmla="*/ 2147483647 h 157"/>
                <a:gd name="T32" fmla="*/ 2147483647 w 138"/>
                <a:gd name="T33" fmla="*/ 2147483647 h 157"/>
                <a:gd name="T34" fmla="*/ 0 w 138"/>
                <a:gd name="T35" fmla="*/ 2147483647 h 1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38" h="157">
                  <a:moveTo>
                    <a:pt x="0" y="133"/>
                  </a:moveTo>
                  <a:lnTo>
                    <a:pt x="18" y="97"/>
                  </a:lnTo>
                  <a:lnTo>
                    <a:pt x="30" y="79"/>
                  </a:lnTo>
                  <a:lnTo>
                    <a:pt x="66" y="60"/>
                  </a:lnTo>
                  <a:lnTo>
                    <a:pt x="78" y="54"/>
                  </a:lnTo>
                  <a:lnTo>
                    <a:pt x="90" y="30"/>
                  </a:lnTo>
                  <a:lnTo>
                    <a:pt x="102" y="0"/>
                  </a:lnTo>
                  <a:lnTo>
                    <a:pt x="114" y="12"/>
                  </a:lnTo>
                  <a:lnTo>
                    <a:pt x="138" y="18"/>
                  </a:lnTo>
                  <a:lnTo>
                    <a:pt x="138" y="36"/>
                  </a:lnTo>
                  <a:lnTo>
                    <a:pt x="114" y="54"/>
                  </a:lnTo>
                  <a:lnTo>
                    <a:pt x="102" y="67"/>
                  </a:lnTo>
                  <a:lnTo>
                    <a:pt x="78" y="91"/>
                  </a:lnTo>
                  <a:lnTo>
                    <a:pt x="72" y="115"/>
                  </a:lnTo>
                  <a:lnTo>
                    <a:pt x="66" y="151"/>
                  </a:lnTo>
                  <a:lnTo>
                    <a:pt x="36" y="157"/>
                  </a:lnTo>
                  <a:lnTo>
                    <a:pt x="18" y="151"/>
                  </a:lnTo>
                  <a:lnTo>
                    <a:pt x="0" y="133"/>
                  </a:lnTo>
                  <a:close/>
                </a:path>
              </a:pathLst>
            </a:custGeom>
            <a:grpFill/>
            <a:ln w="9525">
              <a:solidFill>
                <a:schemeClr val="bg2">
                  <a:lumMod val="50000"/>
                </a:schemeClr>
              </a:solidFill>
              <a:round/>
              <a:headEnd/>
              <a:tailEnd/>
            </a:ln>
          </p:spPr>
          <p:txBody>
            <a:bodyPr/>
            <a:lstStyle/>
            <a:p>
              <a:endParaRPr lang="en-US" dirty="0"/>
            </a:p>
          </p:txBody>
        </p:sp>
        <p:sp>
          <p:nvSpPr>
            <p:cNvPr id="36" name="Freeform 267"/>
            <p:cNvSpPr>
              <a:spLocks/>
            </p:cNvSpPr>
            <p:nvPr/>
          </p:nvSpPr>
          <p:spPr bwMode="gray">
            <a:xfrm>
              <a:off x="8562182" y="4870068"/>
              <a:ext cx="105655" cy="162704"/>
            </a:xfrm>
            <a:custGeom>
              <a:avLst/>
              <a:gdLst>
                <a:gd name="T0" fmla="*/ 2147483647 w 96"/>
                <a:gd name="T1" fmla="*/ 2147483647 h 156"/>
                <a:gd name="T2" fmla="*/ 2147483647 w 96"/>
                <a:gd name="T3" fmla="*/ 2147483647 h 156"/>
                <a:gd name="T4" fmla="*/ 2147483647 w 96"/>
                <a:gd name="T5" fmla="*/ 2147483647 h 156"/>
                <a:gd name="T6" fmla="*/ 0 w 96"/>
                <a:gd name="T7" fmla="*/ 0 h 156"/>
                <a:gd name="T8" fmla="*/ 2147483647 w 96"/>
                <a:gd name="T9" fmla="*/ 2147483647 h 156"/>
                <a:gd name="T10" fmla="*/ 2147483647 w 96"/>
                <a:gd name="T11" fmla="*/ 2147483647 h 156"/>
                <a:gd name="T12" fmla="*/ 2147483647 w 96"/>
                <a:gd name="T13" fmla="*/ 2147483647 h 156"/>
                <a:gd name="T14" fmla="*/ 2147483647 w 96"/>
                <a:gd name="T15" fmla="*/ 2147483647 h 156"/>
                <a:gd name="T16" fmla="*/ 2147483647 w 96"/>
                <a:gd name="T17" fmla="*/ 2147483647 h 156"/>
                <a:gd name="T18" fmla="*/ 2147483647 w 96"/>
                <a:gd name="T19" fmla="*/ 2147483647 h 156"/>
                <a:gd name="T20" fmla="*/ 2147483647 w 96"/>
                <a:gd name="T21" fmla="*/ 2147483647 h 156"/>
                <a:gd name="T22" fmla="*/ 2147483647 w 96"/>
                <a:gd name="T23" fmla="*/ 2147483647 h 156"/>
                <a:gd name="T24" fmla="*/ 2147483647 w 96"/>
                <a:gd name="T25" fmla="*/ 2147483647 h 156"/>
                <a:gd name="T26" fmla="*/ 2147483647 w 96"/>
                <a:gd name="T27" fmla="*/ 2147483647 h 156"/>
                <a:gd name="T28" fmla="*/ 2147483647 w 96"/>
                <a:gd name="T29" fmla="*/ 2147483647 h 156"/>
                <a:gd name="T30" fmla="*/ 2147483647 w 96"/>
                <a:gd name="T31" fmla="*/ 2147483647 h 156"/>
                <a:gd name="T32" fmla="*/ 2147483647 w 96"/>
                <a:gd name="T33" fmla="*/ 2147483647 h 156"/>
                <a:gd name="T34" fmla="*/ 2147483647 w 96"/>
                <a:gd name="T35" fmla="*/ 2147483647 h 1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6" h="156">
                  <a:moveTo>
                    <a:pt x="6" y="108"/>
                  </a:moveTo>
                  <a:lnTo>
                    <a:pt x="24" y="78"/>
                  </a:lnTo>
                  <a:lnTo>
                    <a:pt x="24" y="54"/>
                  </a:lnTo>
                  <a:lnTo>
                    <a:pt x="0" y="0"/>
                  </a:lnTo>
                  <a:lnTo>
                    <a:pt x="30" y="12"/>
                  </a:lnTo>
                  <a:lnTo>
                    <a:pt x="30" y="42"/>
                  </a:lnTo>
                  <a:lnTo>
                    <a:pt x="42" y="60"/>
                  </a:lnTo>
                  <a:lnTo>
                    <a:pt x="60" y="78"/>
                  </a:lnTo>
                  <a:lnTo>
                    <a:pt x="84" y="66"/>
                  </a:lnTo>
                  <a:lnTo>
                    <a:pt x="96" y="78"/>
                  </a:lnTo>
                  <a:lnTo>
                    <a:pt x="90" y="90"/>
                  </a:lnTo>
                  <a:lnTo>
                    <a:pt x="78" y="102"/>
                  </a:lnTo>
                  <a:lnTo>
                    <a:pt x="66" y="114"/>
                  </a:lnTo>
                  <a:lnTo>
                    <a:pt x="60" y="132"/>
                  </a:lnTo>
                  <a:lnTo>
                    <a:pt x="42" y="156"/>
                  </a:lnTo>
                  <a:lnTo>
                    <a:pt x="24" y="144"/>
                  </a:lnTo>
                  <a:lnTo>
                    <a:pt x="30" y="126"/>
                  </a:lnTo>
                  <a:lnTo>
                    <a:pt x="6" y="108"/>
                  </a:lnTo>
                  <a:close/>
                </a:path>
              </a:pathLst>
            </a:custGeom>
            <a:grpFill/>
            <a:ln w="9525">
              <a:solidFill>
                <a:schemeClr val="bg2">
                  <a:lumMod val="50000"/>
                </a:schemeClr>
              </a:solidFill>
              <a:round/>
              <a:headEnd/>
              <a:tailEnd/>
            </a:ln>
          </p:spPr>
          <p:txBody>
            <a:bodyPr/>
            <a:lstStyle/>
            <a:p>
              <a:endParaRPr lang="en-US" dirty="0"/>
            </a:p>
          </p:txBody>
        </p:sp>
        <p:sp>
          <p:nvSpPr>
            <p:cNvPr id="37" name="Freeform 268"/>
            <p:cNvSpPr>
              <a:spLocks/>
            </p:cNvSpPr>
            <p:nvPr/>
          </p:nvSpPr>
          <p:spPr bwMode="gray">
            <a:xfrm>
              <a:off x="7313040" y="4364021"/>
              <a:ext cx="833207" cy="605976"/>
            </a:xfrm>
            <a:custGeom>
              <a:avLst/>
              <a:gdLst>
                <a:gd name="T0" fmla="*/ 2147483647 w 757"/>
                <a:gd name="T1" fmla="*/ 2147483647 h 577"/>
                <a:gd name="T2" fmla="*/ 2147483647 w 757"/>
                <a:gd name="T3" fmla="*/ 2147483647 h 577"/>
                <a:gd name="T4" fmla="*/ 0 w 757"/>
                <a:gd name="T5" fmla="*/ 2147483647 h 577"/>
                <a:gd name="T6" fmla="*/ 2147483647 w 757"/>
                <a:gd name="T7" fmla="*/ 2147483647 h 577"/>
                <a:gd name="T8" fmla="*/ 2147483647 w 757"/>
                <a:gd name="T9" fmla="*/ 2147483647 h 577"/>
                <a:gd name="T10" fmla="*/ 2147483647 w 757"/>
                <a:gd name="T11" fmla="*/ 2147483647 h 577"/>
                <a:gd name="T12" fmla="*/ 2147483647 w 757"/>
                <a:gd name="T13" fmla="*/ 2147483647 h 577"/>
                <a:gd name="T14" fmla="*/ 2147483647 w 757"/>
                <a:gd name="T15" fmla="*/ 2147483647 h 577"/>
                <a:gd name="T16" fmla="*/ 2147483647 w 757"/>
                <a:gd name="T17" fmla="*/ 2147483647 h 577"/>
                <a:gd name="T18" fmla="*/ 2147483647 w 757"/>
                <a:gd name="T19" fmla="*/ 2147483647 h 577"/>
                <a:gd name="T20" fmla="*/ 2147483647 w 757"/>
                <a:gd name="T21" fmla="*/ 0 h 577"/>
                <a:gd name="T22" fmla="*/ 2147483647 w 757"/>
                <a:gd name="T23" fmla="*/ 2147483647 h 577"/>
                <a:gd name="T24" fmla="*/ 2147483647 w 757"/>
                <a:gd name="T25" fmla="*/ 2147483647 h 577"/>
                <a:gd name="T26" fmla="*/ 2147483647 w 757"/>
                <a:gd name="T27" fmla="*/ 2147483647 h 577"/>
                <a:gd name="T28" fmla="*/ 2147483647 w 757"/>
                <a:gd name="T29" fmla="*/ 2147483647 h 577"/>
                <a:gd name="T30" fmla="*/ 2147483647 w 757"/>
                <a:gd name="T31" fmla="*/ 2147483647 h 577"/>
                <a:gd name="T32" fmla="*/ 2147483647 w 757"/>
                <a:gd name="T33" fmla="*/ 2147483647 h 577"/>
                <a:gd name="T34" fmla="*/ 2147483647 w 757"/>
                <a:gd name="T35" fmla="*/ 2147483647 h 577"/>
                <a:gd name="T36" fmla="*/ 2147483647 w 757"/>
                <a:gd name="T37" fmla="*/ 2147483647 h 577"/>
                <a:gd name="T38" fmla="*/ 2147483647 w 757"/>
                <a:gd name="T39" fmla="*/ 2147483647 h 577"/>
                <a:gd name="T40" fmla="*/ 2147483647 w 757"/>
                <a:gd name="T41" fmla="*/ 2147483647 h 577"/>
                <a:gd name="T42" fmla="*/ 2147483647 w 757"/>
                <a:gd name="T43" fmla="*/ 2147483647 h 577"/>
                <a:gd name="T44" fmla="*/ 2147483647 w 757"/>
                <a:gd name="T45" fmla="*/ 2147483647 h 577"/>
                <a:gd name="T46" fmla="*/ 2147483647 w 757"/>
                <a:gd name="T47" fmla="*/ 2147483647 h 577"/>
                <a:gd name="T48" fmla="*/ 2147483647 w 757"/>
                <a:gd name="T49" fmla="*/ 2147483647 h 577"/>
                <a:gd name="T50" fmla="*/ 2147483647 w 757"/>
                <a:gd name="T51" fmla="*/ 2147483647 h 577"/>
                <a:gd name="T52" fmla="*/ 2147483647 w 757"/>
                <a:gd name="T53" fmla="*/ 2147483647 h 577"/>
                <a:gd name="T54" fmla="*/ 2147483647 w 757"/>
                <a:gd name="T55" fmla="*/ 2147483647 h 577"/>
                <a:gd name="T56" fmla="*/ 2147483647 w 757"/>
                <a:gd name="T57" fmla="*/ 2147483647 h 577"/>
                <a:gd name="T58" fmla="*/ 2147483647 w 757"/>
                <a:gd name="T59" fmla="*/ 2147483647 h 577"/>
                <a:gd name="T60" fmla="*/ 2147483647 w 757"/>
                <a:gd name="T61" fmla="*/ 2147483647 h 577"/>
                <a:gd name="T62" fmla="*/ 2147483647 w 757"/>
                <a:gd name="T63" fmla="*/ 2147483647 h 577"/>
                <a:gd name="T64" fmla="*/ 2147483647 w 757"/>
                <a:gd name="T65" fmla="*/ 2147483647 h 577"/>
                <a:gd name="T66" fmla="*/ 2147483647 w 757"/>
                <a:gd name="T67" fmla="*/ 2147483647 h 577"/>
                <a:gd name="T68" fmla="*/ 2147483647 w 757"/>
                <a:gd name="T69" fmla="*/ 2147483647 h 577"/>
                <a:gd name="T70" fmla="*/ 2147483647 w 757"/>
                <a:gd name="T71" fmla="*/ 2147483647 h 57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57" h="577">
                  <a:moveTo>
                    <a:pt x="30" y="463"/>
                  </a:moveTo>
                  <a:lnTo>
                    <a:pt x="36" y="415"/>
                  </a:lnTo>
                  <a:lnTo>
                    <a:pt x="30" y="385"/>
                  </a:lnTo>
                  <a:lnTo>
                    <a:pt x="6" y="307"/>
                  </a:lnTo>
                  <a:lnTo>
                    <a:pt x="6" y="283"/>
                  </a:lnTo>
                  <a:lnTo>
                    <a:pt x="0" y="247"/>
                  </a:lnTo>
                  <a:lnTo>
                    <a:pt x="6" y="217"/>
                  </a:lnTo>
                  <a:lnTo>
                    <a:pt x="30" y="193"/>
                  </a:lnTo>
                  <a:lnTo>
                    <a:pt x="78" y="175"/>
                  </a:lnTo>
                  <a:lnTo>
                    <a:pt x="114" y="151"/>
                  </a:lnTo>
                  <a:lnTo>
                    <a:pt x="144" y="145"/>
                  </a:lnTo>
                  <a:lnTo>
                    <a:pt x="156" y="109"/>
                  </a:lnTo>
                  <a:lnTo>
                    <a:pt x="180" y="97"/>
                  </a:lnTo>
                  <a:lnTo>
                    <a:pt x="204" y="90"/>
                  </a:lnTo>
                  <a:lnTo>
                    <a:pt x="240" y="60"/>
                  </a:lnTo>
                  <a:lnTo>
                    <a:pt x="264" y="48"/>
                  </a:lnTo>
                  <a:lnTo>
                    <a:pt x="282" y="60"/>
                  </a:lnTo>
                  <a:lnTo>
                    <a:pt x="300" y="66"/>
                  </a:lnTo>
                  <a:lnTo>
                    <a:pt x="312" y="42"/>
                  </a:lnTo>
                  <a:lnTo>
                    <a:pt x="330" y="24"/>
                  </a:lnTo>
                  <a:lnTo>
                    <a:pt x="360" y="18"/>
                  </a:lnTo>
                  <a:lnTo>
                    <a:pt x="372" y="0"/>
                  </a:lnTo>
                  <a:lnTo>
                    <a:pt x="396" y="6"/>
                  </a:lnTo>
                  <a:lnTo>
                    <a:pt x="438" y="12"/>
                  </a:lnTo>
                  <a:lnTo>
                    <a:pt x="432" y="36"/>
                  </a:lnTo>
                  <a:lnTo>
                    <a:pt x="420" y="66"/>
                  </a:lnTo>
                  <a:lnTo>
                    <a:pt x="438" y="78"/>
                  </a:lnTo>
                  <a:lnTo>
                    <a:pt x="468" y="78"/>
                  </a:lnTo>
                  <a:lnTo>
                    <a:pt x="492" y="115"/>
                  </a:lnTo>
                  <a:lnTo>
                    <a:pt x="510" y="109"/>
                  </a:lnTo>
                  <a:lnTo>
                    <a:pt x="540" y="90"/>
                  </a:lnTo>
                  <a:lnTo>
                    <a:pt x="540" y="30"/>
                  </a:lnTo>
                  <a:lnTo>
                    <a:pt x="564" y="0"/>
                  </a:lnTo>
                  <a:lnTo>
                    <a:pt x="576" y="42"/>
                  </a:lnTo>
                  <a:lnTo>
                    <a:pt x="582" y="54"/>
                  </a:lnTo>
                  <a:lnTo>
                    <a:pt x="594" y="60"/>
                  </a:lnTo>
                  <a:lnTo>
                    <a:pt x="612" y="121"/>
                  </a:lnTo>
                  <a:lnTo>
                    <a:pt x="642" y="151"/>
                  </a:lnTo>
                  <a:lnTo>
                    <a:pt x="678" y="163"/>
                  </a:lnTo>
                  <a:lnTo>
                    <a:pt x="690" y="199"/>
                  </a:lnTo>
                  <a:lnTo>
                    <a:pt x="708" y="211"/>
                  </a:lnTo>
                  <a:lnTo>
                    <a:pt x="714" y="241"/>
                  </a:lnTo>
                  <a:lnTo>
                    <a:pt x="751" y="265"/>
                  </a:lnTo>
                  <a:lnTo>
                    <a:pt x="751" y="289"/>
                  </a:lnTo>
                  <a:lnTo>
                    <a:pt x="757" y="325"/>
                  </a:lnTo>
                  <a:lnTo>
                    <a:pt x="757" y="379"/>
                  </a:lnTo>
                  <a:lnTo>
                    <a:pt x="714" y="469"/>
                  </a:lnTo>
                  <a:lnTo>
                    <a:pt x="696" y="523"/>
                  </a:lnTo>
                  <a:lnTo>
                    <a:pt x="696" y="547"/>
                  </a:lnTo>
                  <a:lnTo>
                    <a:pt x="684" y="547"/>
                  </a:lnTo>
                  <a:lnTo>
                    <a:pt x="660" y="559"/>
                  </a:lnTo>
                  <a:lnTo>
                    <a:pt x="636" y="577"/>
                  </a:lnTo>
                  <a:lnTo>
                    <a:pt x="618" y="577"/>
                  </a:lnTo>
                  <a:lnTo>
                    <a:pt x="594" y="559"/>
                  </a:lnTo>
                  <a:lnTo>
                    <a:pt x="576" y="571"/>
                  </a:lnTo>
                  <a:lnTo>
                    <a:pt x="534" y="553"/>
                  </a:lnTo>
                  <a:lnTo>
                    <a:pt x="498" y="535"/>
                  </a:lnTo>
                  <a:lnTo>
                    <a:pt x="480" y="505"/>
                  </a:lnTo>
                  <a:lnTo>
                    <a:pt x="468" y="481"/>
                  </a:lnTo>
                  <a:lnTo>
                    <a:pt x="444" y="487"/>
                  </a:lnTo>
                  <a:lnTo>
                    <a:pt x="420" y="463"/>
                  </a:lnTo>
                  <a:lnTo>
                    <a:pt x="378" y="421"/>
                  </a:lnTo>
                  <a:lnTo>
                    <a:pt x="312" y="409"/>
                  </a:lnTo>
                  <a:lnTo>
                    <a:pt x="264" y="415"/>
                  </a:lnTo>
                  <a:lnTo>
                    <a:pt x="204" y="433"/>
                  </a:lnTo>
                  <a:lnTo>
                    <a:pt x="198" y="451"/>
                  </a:lnTo>
                  <a:lnTo>
                    <a:pt x="162" y="457"/>
                  </a:lnTo>
                  <a:lnTo>
                    <a:pt x="138" y="457"/>
                  </a:lnTo>
                  <a:lnTo>
                    <a:pt x="120" y="475"/>
                  </a:lnTo>
                  <a:lnTo>
                    <a:pt x="84" y="487"/>
                  </a:lnTo>
                  <a:lnTo>
                    <a:pt x="60" y="487"/>
                  </a:lnTo>
                  <a:lnTo>
                    <a:pt x="30" y="463"/>
                  </a:lnTo>
                  <a:close/>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sp>
          <p:nvSpPr>
            <p:cNvPr id="38" name="Freeform 269"/>
            <p:cNvSpPr>
              <a:spLocks/>
            </p:cNvSpPr>
            <p:nvPr/>
          </p:nvSpPr>
          <p:spPr bwMode="gray">
            <a:xfrm>
              <a:off x="7967034" y="5005869"/>
              <a:ext cx="73558" cy="96085"/>
            </a:xfrm>
            <a:custGeom>
              <a:avLst/>
              <a:gdLst>
                <a:gd name="T0" fmla="*/ 0 w 66"/>
                <a:gd name="T1" fmla="*/ 2147483647 h 91"/>
                <a:gd name="T2" fmla="*/ 2147483647 w 66"/>
                <a:gd name="T3" fmla="*/ 2147483647 h 91"/>
                <a:gd name="T4" fmla="*/ 2147483647 w 66"/>
                <a:gd name="T5" fmla="*/ 2147483647 h 91"/>
                <a:gd name="T6" fmla="*/ 2147483647 w 66"/>
                <a:gd name="T7" fmla="*/ 2147483647 h 91"/>
                <a:gd name="T8" fmla="*/ 2147483647 w 66"/>
                <a:gd name="T9" fmla="*/ 2147483647 h 91"/>
                <a:gd name="T10" fmla="*/ 2147483647 w 66"/>
                <a:gd name="T11" fmla="*/ 2147483647 h 91"/>
                <a:gd name="T12" fmla="*/ 2147483647 w 66"/>
                <a:gd name="T13" fmla="*/ 0 h 91"/>
                <a:gd name="T14" fmla="*/ 2147483647 w 66"/>
                <a:gd name="T15" fmla="*/ 2147483647 h 91"/>
                <a:gd name="T16" fmla="*/ 0 w 66"/>
                <a:gd name="T17" fmla="*/ 2147483647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6" h="91">
                  <a:moveTo>
                    <a:pt x="0" y="18"/>
                  </a:moveTo>
                  <a:lnTo>
                    <a:pt x="12" y="48"/>
                  </a:lnTo>
                  <a:lnTo>
                    <a:pt x="18" y="72"/>
                  </a:lnTo>
                  <a:lnTo>
                    <a:pt x="36" y="91"/>
                  </a:lnTo>
                  <a:lnTo>
                    <a:pt x="48" y="66"/>
                  </a:lnTo>
                  <a:lnTo>
                    <a:pt x="66" y="30"/>
                  </a:lnTo>
                  <a:lnTo>
                    <a:pt x="66" y="0"/>
                  </a:lnTo>
                  <a:lnTo>
                    <a:pt x="42" y="12"/>
                  </a:lnTo>
                  <a:lnTo>
                    <a:pt x="0" y="18"/>
                  </a:lnTo>
                  <a:close/>
                </a:path>
              </a:pathLst>
            </a:custGeom>
            <a:grpFill/>
            <a:ln w="9525">
              <a:solidFill>
                <a:schemeClr val="bg2">
                  <a:lumMod val="50000"/>
                </a:schemeClr>
              </a:solidFill>
              <a:round/>
              <a:headEnd/>
              <a:tailEnd/>
            </a:ln>
          </p:spPr>
          <p:txBody>
            <a:bodyPr/>
            <a:lstStyle/>
            <a:p>
              <a:endParaRPr lang="en-US" dirty="0"/>
            </a:p>
          </p:txBody>
        </p:sp>
        <p:sp>
          <p:nvSpPr>
            <p:cNvPr id="39" name="Freeform 271"/>
            <p:cNvSpPr>
              <a:spLocks/>
            </p:cNvSpPr>
            <p:nvPr/>
          </p:nvSpPr>
          <p:spPr bwMode="gray">
            <a:xfrm>
              <a:off x="7259544" y="3998897"/>
              <a:ext cx="191249" cy="213949"/>
            </a:xfrm>
            <a:custGeom>
              <a:avLst/>
              <a:gdLst>
                <a:gd name="T0" fmla="*/ 2147483647 w 174"/>
                <a:gd name="T1" fmla="*/ 2147483647 h 204"/>
                <a:gd name="T2" fmla="*/ 0 w 174"/>
                <a:gd name="T3" fmla="*/ 2147483647 h 204"/>
                <a:gd name="T4" fmla="*/ 0 w 174"/>
                <a:gd name="T5" fmla="*/ 2147483647 h 204"/>
                <a:gd name="T6" fmla="*/ 2147483647 w 174"/>
                <a:gd name="T7" fmla="*/ 2147483647 h 204"/>
                <a:gd name="T8" fmla="*/ 2147483647 w 174"/>
                <a:gd name="T9" fmla="*/ 2147483647 h 204"/>
                <a:gd name="T10" fmla="*/ 2147483647 w 174"/>
                <a:gd name="T11" fmla="*/ 2147483647 h 204"/>
                <a:gd name="T12" fmla="*/ 2147483647 w 174"/>
                <a:gd name="T13" fmla="*/ 2147483647 h 204"/>
                <a:gd name="T14" fmla="*/ 2147483647 w 174"/>
                <a:gd name="T15" fmla="*/ 0 h 204"/>
                <a:gd name="T16" fmla="*/ 2147483647 w 174"/>
                <a:gd name="T17" fmla="*/ 2147483647 h 204"/>
                <a:gd name="T18" fmla="*/ 2147483647 w 174"/>
                <a:gd name="T19" fmla="*/ 2147483647 h 204"/>
                <a:gd name="T20" fmla="*/ 2147483647 w 174"/>
                <a:gd name="T21" fmla="*/ 2147483647 h 204"/>
                <a:gd name="T22" fmla="*/ 2147483647 w 174"/>
                <a:gd name="T23" fmla="*/ 2147483647 h 204"/>
                <a:gd name="T24" fmla="*/ 2147483647 w 174"/>
                <a:gd name="T25" fmla="*/ 2147483647 h 204"/>
                <a:gd name="T26" fmla="*/ 2147483647 w 174"/>
                <a:gd name="T27" fmla="*/ 2147483647 h 204"/>
                <a:gd name="T28" fmla="*/ 2147483647 w 174"/>
                <a:gd name="T29" fmla="*/ 2147483647 h 204"/>
                <a:gd name="T30" fmla="*/ 2147483647 w 174"/>
                <a:gd name="T31" fmla="*/ 2147483647 h 204"/>
                <a:gd name="T32" fmla="*/ 2147483647 w 174"/>
                <a:gd name="T33" fmla="*/ 2147483647 h 204"/>
                <a:gd name="T34" fmla="*/ 2147483647 w 174"/>
                <a:gd name="T35" fmla="*/ 2147483647 h 204"/>
                <a:gd name="T36" fmla="*/ 2147483647 w 174"/>
                <a:gd name="T37" fmla="*/ 2147483647 h 204"/>
                <a:gd name="T38" fmla="*/ 2147483647 w 174"/>
                <a:gd name="T39" fmla="*/ 2147483647 h 204"/>
                <a:gd name="T40" fmla="*/ 2147483647 w 174"/>
                <a:gd name="T41" fmla="*/ 2147483647 h 204"/>
                <a:gd name="T42" fmla="*/ 2147483647 w 174"/>
                <a:gd name="T43" fmla="*/ 2147483647 h 204"/>
                <a:gd name="T44" fmla="*/ 2147483647 w 174"/>
                <a:gd name="T45" fmla="*/ 2147483647 h 204"/>
                <a:gd name="T46" fmla="*/ 2147483647 w 174"/>
                <a:gd name="T47" fmla="*/ 2147483647 h 2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4" h="204">
                  <a:moveTo>
                    <a:pt x="12" y="168"/>
                  </a:moveTo>
                  <a:lnTo>
                    <a:pt x="0" y="144"/>
                  </a:lnTo>
                  <a:lnTo>
                    <a:pt x="0" y="108"/>
                  </a:lnTo>
                  <a:lnTo>
                    <a:pt x="12" y="90"/>
                  </a:lnTo>
                  <a:lnTo>
                    <a:pt x="36" y="84"/>
                  </a:lnTo>
                  <a:lnTo>
                    <a:pt x="60" y="66"/>
                  </a:lnTo>
                  <a:lnTo>
                    <a:pt x="96" y="24"/>
                  </a:lnTo>
                  <a:lnTo>
                    <a:pt x="138" y="0"/>
                  </a:lnTo>
                  <a:lnTo>
                    <a:pt x="162" y="12"/>
                  </a:lnTo>
                  <a:lnTo>
                    <a:pt x="174" y="30"/>
                  </a:lnTo>
                  <a:lnTo>
                    <a:pt x="156" y="48"/>
                  </a:lnTo>
                  <a:lnTo>
                    <a:pt x="150" y="66"/>
                  </a:lnTo>
                  <a:lnTo>
                    <a:pt x="156" y="90"/>
                  </a:lnTo>
                  <a:lnTo>
                    <a:pt x="174" y="108"/>
                  </a:lnTo>
                  <a:lnTo>
                    <a:pt x="156" y="120"/>
                  </a:lnTo>
                  <a:lnTo>
                    <a:pt x="150" y="132"/>
                  </a:lnTo>
                  <a:lnTo>
                    <a:pt x="138" y="150"/>
                  </a:lnTo>
                  <a:lnTo>
                    <a:pt x="126" y="168"/>
                  </a:lnTo>
                  <a:lnTo>
                    <a:pt x="114" y="198"/>
                  </a:lnTo>
                  <a:lnTo>
                    <a:pt x="90" y="204"/>
                  </a:lnTo>
                  <a:lnTo>
                    <a:pt x="72" y="192"/>
                  </a:lnTo>
                  <a:lnTo>
                    <a:pt x="42" y="192"/>
                  </a:lnTo>
                  <a:lnTo>
                    <a:pt x="24" y="192"/>
                  </a:lnTo>
                  <a:lnTo>
                    <a:pt x="12" y="168"/>
                  </a:lnTo>
                  <a:close/>
                </a:path>
              </a:pathLst>
            </a:custGeom>
            <a:grpFill/>
            <a:ln w="9525">
              <a:solidFill>
                <a:schemeClr val="bg2">
                  <a:lumMod val="50000"/>
                </a:schemeClr>
              </a:solidFill>
              <a:round/>
              <a:headEnd/>
              <a:tailEnd/>
            </a:ln>
          </p:spPr>
          <p:txBody>
            <a:bodyPr/>
            <a:lstStyle/>
            <a:p>
              <a:endParaRPr lang="en-US" dirty="0"/>
            </a:p>
          </p:txBody>
        </p:sp>
        <p:sp>
          <p:nvSpPr>
            <p:cNvPr id="40" name="Freeform 274"/>
            <p:cNvSpPr>
              <a:spLocks/>
            </p:cNvSpPr>
            <p:nvPr/>
          </p:nvSpPr>
          <p:spPr bwMode="gray">
            <a:xfrm>
              <a:off x="7425382" y="4105231"/>
              <a:ext cx="119029" cy="139643"/>
            </a:xfrm>
            <a:custGeom>
              <a:avLst/>
              <a:gdLst>
                <a:gd name="T0" fmla="*/ 2147483647 w 108"/>
                <a:gd name="T1" fmla="*/ 2147483647 h 132"/>
                <a:gd name="T2" fmla="*/ 2147483647 w 108"/>
                <a:gd name="T3" fmla="*/ 2147483647 h 132"/>
                <a:gd name="T4" fmla="*/ 0 w 108"/>
                <a:gd name="T5" fmla="*/ 2147483647 h 132"/>
                <a:gd name="T6" fmla="*/ 2147483647 w 108"/>
                <a:gd name="T7" fmla="*/ 2147483647 h 132"/>
                <a:gd name="T8" fmla="*/ 2147483647 w 108"/>
                <a:gd name="T9" fmla="*/ 2147483647 h 132"/>
                <a:gd name="T10" fmla="*/ 2147483647 w 108"/>
                <a:gd name="T11" fmla="*/ 2147483647 h 132"/>
                <a:gd name="T12" fmla="*/ 2147483647 w 108"/>
                <a:gd name="T13" fmla="*/ 2147483647 h 132"/>
                <a:gd name="T14" fmla="*/ 2147483647 w 108"/>
                <a:gd name="T15" fmla="*/ 0 h 132"/>
                <a:gd name="T16" fmla="*/ 2147483647 w 108"/>
                <a:gd name="T17" fmla="*/ 2147483647 h 132"/>
                <a:gd name="T18" fmla="*/ 2147483647 w 108"/>
                <a:gd name="T19" fmla="*/ 2147483647 h 132"/>
                <a:gd name="T20" fmla="*/ 2147483647 w 108"/>
                <a:gd name="T21" fmla="*/ 2147483647 h 132"/>
                <a:gd name="T22" fmla="*/ 2147483647 w 108"/>
                <a:gd name="T23" fmla="*/ 2147483647 h 132"/>
                <a:gd name="T24" fmla="*/ 2147483647 w 108"/>
                <a:gd name="T25" fmla="*/ 2147483647 h 132"/>
                <a:gd name="T26" fmla="*/ 2147483647 w 108"/>
                <a:gd name="T27" fmla="*/ 2147483647 h 132"/>
                <a:gd name="T28" fmla="*/ 2147483647 w 108"/>
                <a:gd name="T29" fmla="*/ 2147483647 h 132"/>
                <a:gd name="T30" fmla="*/ 2147483647 w 108"/>
                <a:gd name="T31" fmla="*/ 2147483647 h 132"/>
                <a:gd name="T32" fmla="*/ 2147483647 w 108"/>
                <a:gd name="T33" fmla="*/ 2147483647 h 132"/>
                <a:gd name="T34" fmla="*/ 2147483647 w 108"/>
                <a:gd name="T35" fmla="*/ 2147483647 h 132"/>
                <a:gd name="T36" fmla="*/ 2147483647 w 108"/>
                <a:gd name="T37" fmla="*/ 2147483647 h 132"/>
                <a:gd name="T38" fmla="*/ 2147483647 w 108"/>
                <a:gd name="T39" fmla="*/ 2147483647 h 132"/>
                <a:gd name="T40" fmla="*/ 2147483647 w 108"/>
                <a:gd name="T41" fmla="*/ 2147483647 h 132"/>
                <a:gd name="T42" fmla="*/ 2147483647 w 108"/>
                <a:gd name="T43" fmla="*/ 2147483647 h 132"/>
                <a:gd name="T44" fmla="*/ 2147483647 w 108"/>
                <a:gd name="T45" fmla="*/ 2147483647 h 132"/>
                <a:gd name="T46" fmla="*/ 2147483647 w 108"/>
                <a:gd name="T47" fmla="*/ 2147483647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8" h="132">
                  <a:moveTo>
                    <a:pt x="12" y="126"/>
                  </a:moveTo>
                  <a:lnTo>
                    <a:pt x="12" y="108"/>
                  </a:lnTo>
                  <a:lnTo>
                    <a:pt x="0" y="84"/>
                  </a:lnTo>
                  <a:lnTo>
                    <a:pt x="6" y="66"/>
                  </a:lnTo>
                  <a:lnTo>
                    <a:pt x="24" y="24"/>
                  </a:lnTo>
                  <a:lnTo>
                    <a:pt x="36" y="12"/>
                  </a:lnTo>
                  <a:lnTo>
                    <a:pt x="66" y="6"/>
                  </a:lnTo>
                  <a:lnTo>
                    <a:pt x="108" y="0"/>
                  </a:lnTo>
                  <a:lnTo>
                    <a:pt x="108" y="12"/>
                  </a:lnTo>
                  <a:lnTo>
                    <a:pt x="90" y="12"/>
                  </a:lnTo>
                  <a:lnTo>
                    <a:pt x="54" y="24"/>
                  </a:lnTo>
                  <a:lnTo>
                    <a:pt x="42" y="42"/>
                  </a:lnTo>
                  <a:lnTo>
                    <a:pt x="84" y="42"/>
                  </a:lnTo>
                  <a:lnTo>
                    <a:pt x="90" y="60"/>
                  </a:lnTo>
                  <a:lnTo>
                    <a:pt x="78" y="66"/>
                  </a:lnTo>
                  <a:lnTo>
                    <a:pt x="66" y="78"/>
                  </a:lnTo>
                  <a:lnTo>
                    <a:pt x="90" y="102"/>
                  </a:lnTo>
                  <a:lnTo>
                    <a:pt x="96" y="126"/>
                  </a:lnTo>
                  <a:lnTo>
                    <a:pt x="72" y="126"/>
                  </a:lnTo>
                  <a:lnTo>
                    <a:pt x="54" y="108"/>
                  </a:lnTo>
                  <a:lnTo>
                    <a:pt x="36" y="84"/>
                  </a:lnTo>
                  <a:lnTo>
                    <a:pt x="36" y="114"/>
                  </a:lnTo>
                  <a:lnTo>
                    <a:pt x="36" y="132"/>
                  </a:lnTo>
                  <a:lnTo>
                    <a:pt x="12" y="126"/>
                  </a:lnTo>
                  <a:close/>
                </a:path>
              </a:pathLst>
            </a:custGeom>
            <a:grpFill/>
            <a:ln w="9525">
              <a:solidFill>
                <a:schemeClr val="bg2">
                  <a:lumMod val="50000"/>
                </a:schemeClr>
              </a:solidFill>
              <a:round/>
              <a:headEnd/>
              <a:tailEnd/>
            </a:ln>
          </p:spPr>
          <p:txBody>
            <a:bodyPr/>
            <a:lstStyle/>
            <a:p>
              <a:endParaRPr lang="en-US" dirty="0"/>
            </a:p>
          </p:txBody>
        </p:sp>
        <p:sp>
          <p:nvSpPr>
            <p:cNvPr id="41" name="Freeform 275"/>
            <p:cNvSpPr>
              <a:spLocks/>
            </p:cNvSpPr>
            <p:nvPr/>
          </p:nvSpPr>
          <p:spPr bwMode="gray">
            <a:xfrm>
              <a:off x="7155225" y="4264092"/>
              <a:ext cx="223348" cy="48683"/>
            </a:xfrm>
            <a:custGeom>
              <a:avLst/>
              <a:gdLst>
                <a:gd name="T0" fmla="*/ 0 w 34"/>
                <a:gd name="T1" fmla="*/ 2147483647 h 8"/>
                <a:gd name="T2" fmla="*/ 2147483647 w 34"/>
                <a:gd name="T3" fmla="*/ 0 h 8"/>
                <a:gd name="T4" fmla="*/ 2147483647 w 34"/>
                <a:gd name="T5" fmla="*/ 0 h 8"/>
                <a:gd name="T6" fmla="*/ 2147483647 w 34"/>
                <a:gd name="T7" fmla="*/ 2147483647 h 8"/>
                <a:gd name="T8" fmla="*/ 2147483647 w 34"/>
                <a:gd name="T9" fmla="*/ 2147483647 h 8"/>
                <a:gd name="T10" fmla="*/ 2147483647 w 34"/>
                <a:gd name="T11" fmla="*/ 2147483647 h 8"/>
                <a:gd name="T12" fmla="*/ 2147483647 w 34"/>
                <a:gd name="T13" fmla="*/ 2147483647 h 8"/>
                <a:gd name="T14" fmla="*/ 2147483647 w 34"/>
                <a:gd name="T15" fmla="*/ 2147483647 h 8"/>
                <a:gd name="T16" fmla="*/ 2147483647 w 34"/>
                <a:gd name="T17" fmla="*/ 2147483647 h 8"/>
                <a:gd name="T18" fmla="*/ 2147483647 w 34"/>
                <a:gd name="T19" fmla="*/ 2147483647 h 8"/>
                <a:gd name="T20" fmla="*/ 0 w 34"/>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 h="8">
                  <a:moveTo>
                    <a:pt x="0" y="1"/>
                  </a:moveTo>
                  <a:cubicBezTo>
                    <a:pt x="9" y="0"/>
                    <a:pt x="9" y="0"/>
                    <a:pt x="9" y="0"/>
                  </a:cubicBezTo>
                  <a:cubicBezTo>
                    <a:pt x="16" y="0"/>
                    <a:pt x="16" y="0"/>
                    <a:pt x="16" y="0"/>
                  </a:cubicBezTo>
                  <a:cubicBezTo>
                    <a:pt x="20" y="1"/>
                    <a:pt x="20" y="1"/>
                    <a:pt x="20" y="1"/>
                  </a:cubicBezTo>
                  <a:cubicBezTo>
                    <a:pt x="23" y="3"/>
                    <a:pt x="23" y="3"/>
                    <a:pt x="23" y="3"/>
                  </a:cubicBezTo>
                  <a:cubicBezTo>
                    <a:pt x="31" y="5"/>
                    <a:pt x="31" y="5"/>
                    <a:pt x="31" y="5"/>
                  </a:cubicBezTo>
                  <a:cubicBezTo>
                    <a:pt x="34" y="8"/>
                    <a:pt x="34" y="8"/>
                    <a:pt x="34" y="8"/>
                  </a:cubicBezTo>
                  <a:cubicBezTo>
                    <a:pt x="26" y="7"/>
                    <a:pt x="26" y="7"/>
                    <a:pt x="26" y="7"/>
                  </a:cubicBezTo>
                  <a:cubicBezTo>
                    <a:pt x="19" y="6"/>
                    <a:pt x="19" y="6"/>
                    <a:pt x="19" y="6"/>
                  </a:cubicBezTo>
                  <a:cubicBezTo>
                    <a:pt x="19" y="6"/>
                    <a:pt x="10" y="4"/>
                    <a:pt x="8" y="4"/>
                  </a:cubicBezTo>
                  <a:cubicBezTo>
                    <a:pt x="7" y="3"/>
                    <a:pt x="0" y="1"/>
                    <a:pt x="0" y="1"/>
                  </a:cubicBezTo>
                  <a:close/>
                </a:path>
              </a:pathLst>
            </a:custGeom>
            <a:grpFill/>
            <a:ln w="9525">
              <a:solidFill>
                <a:schemeClr val="bg2">
                  <a:lumMod val="50000"/>
                </a:schemeClr>
              </a:solidFill>
              <a:round/>
              <a:headEnd/>
              <a:tailEnd/>
            </a:ln>
          </p:spPr>
          <p:txBody>
            <a:bodyPr/>
            <a:lstStyle/>
            <a:p>
              <a:endParaRPr lang="en-US" dirty="0"/>
            </a:p>
          </p:txBody>
        </p:sp>
        <p:sp>
          <p:nvSpPr>
            <p:cNvPr id="42" name="Freeform 276"/>
            <p:cNvSpPr>
              <a:spLocks/>
            </p:cNvSpPr>
            <p:nvPr/>
          </p:nvSpPr>
          <p:spPr bwMode="gray">
            <a:xfrm>
              <a:off x="3611086" y="2943243"/>
              <a:ext cx="133741" cy="144769"/>
            </a:xfrm>
            <a:custGeom>
              <a:avLst/>
              <a:gdLst>
                <a:gd name="T0" fmla="*/ 0 w 120"/>
                <a:gd name="T1" fmla="*/ 2147483647 h 138"/>
                <a:gd name="T2" fmla="*/ 0 w 120"/>
                <a:gd name="T3" fmla="*/ 2147483647 h 138"/>
                <a:gd name="T4" fmla="*/ 2147483647 w 120"/>
                <a:gd name="T5" fmla="*/ 2147483647 h 138"/>
                <a:gd name="T6" fmla="*/ 2147483647 w 120"/>
                <a:gd name="T7" fmla="*/ 2147483647 h 138"/>
                <a:gd name="T8" fmla="*/ 2147483647 w 120"/>
                <a:gd name="T9" fmla="*/ 0 h 138"/>
                <a:gd name="T10" fmla="*/ 2147483647 w 120"/>
                <a:gd name="T11" fmla="*/ 2147483647 h 138"/>
                <a:gd name="T12" fmla="*/ 2147483647 w 120"/>
                <a:gd name="T13" fmla="*/ 2147483647 h 138"/>
                <a:gd name="T14" fmla="*/ 2147483647 w 120"/>
                <a:gd name="T15" fmla="*/ 2147483647 h 138"/>
                <a:gd name="T16" fmla="*/ 2147483647 w 120"/>
                <a:gd name="T17" fmla="*/ 2147483647 h 138"/>
                <a:gd name="T18" fmla="*/ 2147483647 w 120"/>
                <a:gd name="T19" fmla="*/ 2147483647 h 138"/>
                <a:gd name="T20" fmla="*/ 2147483647 w 120"/>
                <a:gd name="T21" fmla="*/ 2147483647 h 138"/>
                <a:gd name="T22" fmla="*/ 2147483647 w 120"/>
                <a:gd name="T23" fmla="*/ 2147483647 h 138"/>
                <a:gd name="T24" fmla="*/ 2147483647 w 120"/>
                <a:gd name="T25" fmla="*/ 2147483647 h 138"/>
                <a:gd name="T26" fmla="*/ 2147483647 w 120"/>
                <a:gd name="T27" fmla="*/ 2147483647 h 138"/>
                <a:gd name="T28" fmla="*/ 2147483647 w 120"/>
                <a:gd name="T29" fmla="*/ 2147483647 h 138"/>
                <a:gd name="T30" fmla="*/ 2147483647 w 120"/>
                <a:gd name="T31" fmla="*/ 2147483647 h 138"/>
                <a:gd name="T32" fmla="*/ 0 w 120"/>
                <a:gd name="T33" fmla="*/ 2147483647 h 13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0" h="138">
                  <a:moveTo>
                    <a:pt x="0" y="114"/>
                  </a:moveTo>
                  <a:lnTo>
                    <a:pt x="0" y="90"/>
                  </a:lnTo>
                  <a:lnTo>
                    <a:pt x="6" y="72"/>
                  </a:lnTo>
                  <a:lnTo>
                    <a:pt x="36" y="24"/>
                  </a:lnTo>
                  <a:lnTo>
                    <a:pt x="66" y="0"/>
                  </a:lnTo>
                  <a:lnTo>
                    <a:pt x="66" y="18"/>
                  </a:lnTo>
                  <a:lnTo>
                    <a:pt x="54" y="42"/>
                  </a:lnTo>
                  <a:lnTo>
                    <a:pt x="60" y="54"/>
                  </a:lnTo>
                  <a:lnTo>
                    <a:pt x="108" y="78"/>
                  </a:lnTo>
                  <a:lnTo>
                    <a:pt x="120" y="108"/>
                  </a:lnTo>
                  <a:lnTo>
                    <a:pt x="120" y="132"/>
                  </a:lnTo>
                  <a:lnTo>
                    <a:pt x="96" y="138"/>
                  </a:lnTo>
                  <a:lnTo>
                    <a:pt x="84" y="120"/>
                  </a:lnTo>
                  <a:lnTo>
                    <a:pt x="66" y="126"/>
                  </a:lnTo>
                  <a:lnTo>
                    <a:pt x="48" y="114"/>
                  </a:lnTo>
                  <a:lnTo>
                    <a:pt x="18" y="108"/>
                  </a:lnTo>
                  <a:lnTo>
                    <a:pt x="0" y="114"/>
                  </a:lnTo>
                  <a:close/>
                </a:path>
              </a:pathLst>
            </a:custGeom>
            <a:grpFill/>
            <a:ln w="9525">
              <a:solidFill>
                <a:schemeClr val="bg2">
                  <a:lumMod val="50000"/>
                </a:schemeClr>
              </a:solidFill>
              <a:round/>
              <a:headEnd/>
              <a:tailEnd/>
            </a:ln>
          </p:spPr>
          <p:txBody>
            <a:bodyPr/>
            <a:lstStyle/>
            <a:p>
              <a:endParaRPr lang="en-US" dirty="0"/>
            </a:p>
          </p:txBody>
        </p:sp>
        <p:sp>
          <p:nvSpPr>
            <p:cNvPr id="43" name="Freeform 277"/>
            <p:cNvSpPr>
              <a:spLocks/>
            </p:cNvSpPr>
            <p:nvPr/>
          </p:nvSpPr>
          <p:spPr bwMode="gray">
            <a:xfrm>
              <a:off x="3061410" y="3674771"/>
              <a:ext cx="232710" cy="62775"/>
            </a:xfrm>
            <a:custGeom>
              <a:avLst/>
              <a:gdLst>
                <a:gd name="T0" fmla="*/ 2147483647 w 35"/>
                <a:gd name="T1" fmla="*/ 2147483647 h 10"/>
                <a:gd name="T2" fmla="*/ 2147483647 w 35"/>
                <a:gd name="T3" fmla="*/ 0 h 10"/>
                <a:gd name="T4" fmla="*/ 2147483647 w 35"/>
                <a:gd name="T5" fmla="*/ 0 h 10"/>
                <a:gd name="T6" fmla="*/ 2147483647 w 35"/>
                <a:gd name="T7" fmla="*/ 2147483647 h 10"/>
                <a:gd name="T8" fmla="*/ 2147483647 w 35"/>
                <a:gd name="T9" fmla="*/ 2147483647 h 10"/>
                <a:gd name="T10" fmla="*/ 2147483647 w 35"/>
                <a:gd name="T11" fmla="*/ 2147483647 h 10"/>
                <a:gd name="T12" fmla="*/ 2147483647 w 35"/>
                <a:gd name="T13" fmla="*/ 2147483647 h 10"/>
                <a:gd name="T14" fmla="*/ 2147483647 w 35"/>
                <a:gd name="T15" fmla="*/ 2147483647 h 10"/>
                <a:gd name="T16" fmla="*/ 2147483647 w 35"/>
                <a:gd name="T17" fmla="*/ 2147483647 h 10"/>
                <a:gd name="T18" fmla="*/ 2147483647 w 35"/>
                <a:gd name="T19" fmla="*/ 2147483647 h 10"/>
                <a:gd name="T20" fmla="*/ 2147483647 w 35"/>
                <a:gd name="T21" fmla="*/ 2147483647 h 10"/>
                <a:gd name="T22" fmla="*/ 2147483647 w 35"/>
                <a:gd name="T23" fmla="*/ 2147483647 h 10"/>
                <a:gd name="T24" fmla="*/ 2147483647 w 35"/>
                <a:gd name="T25" fmla="*/ 2147483647 h 10"/>
                <a:gd name="T26" fmla="*/ 2147483647 w 35"/>
                <a:gd name="T27" fmla="*/ 2147483647 h 10"/>
                <a:gd name="T28" fmla="*/ 0 w 35"/>
                <a:gd name="T29" fmla="*/ 2147483647 h 10"/>
                <a:gd name="T30" fmla="*/ 2147483647 w 35"/>
                <a:gd name="T31" fmla="*/ 214748364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5" h="10">
                  <a:moveTo>
                    <a:pt x="2" y="1"/>
                  </a:moveTo>
                  <a:cubicBezTo>
                    <a:pt x="8" y="0"/>
                    <a:pt x="8" y="0"/>
                    <a:pt x="8" y="0"/>
                  </a:cubicBezTo>
                  <a:cubicBezTo>
                    <a:pt x="19" y="0"/>
                    <a:pt x="19" y="0"/>
                    <a:pt x="19" y="0"/>
                  </a:cubicBezTo>
                  <a:cubicBezTo>
                    <a:pt x="26" y="3"/>
                    <a:pt x="26" y="3"/>
                    <a:pt x="26" y="3"/>
                  </a:cubicBezTo>
                  <a:cubicBezTo>
                    <a:pt x="26" y="3"/>
                    <a:pt x="27" y="5"/>
                    <a:pt x="28" y="6"/>
                  </a:cubicBezTo>
                  <a:cubicBezTo>
                    <a:pt x="30" y="7"/>
                    <a:pt x="33" y="7"/>
                    <a:pt x="33" y="7"/>
                  </a:cubicBezTo>
                  <a:cubicBezTo>
                    <a:pt x="35" y="9"/>
                    <a:pt x="35" y="9"/>
                    <a:pt x="35" y="9"/>
                  </a:cubicBezTo>
                  <a:cubicBezTo>
                    <a:pt x="35" y="9"/>
                    <a:pt x="35" y="10"/>
                    <a:pt x="33" y="10"/>
                  </a:cubicBezTo>
                  <a:cubicBezTo>
                    <a:pt x="31" y="10"/>
                    <a:pt x="25" y="10"/>
                    <a:pt x="25" y="10"/>
                  </a:cubicBezTo>
                  <a:cubicBezTo>
                    <a:pt x="23" y="8"/>
                    <a:pt x="23" y="8"/>
                    <a:pt x="23" y="8"/>
                  </a:cubicBezTo>
                  <a:cubicBezTo>
                    <a:pt x="21" y="5"/>
                    <a:pt x="21" y="5"/>
                    <a:pt x="21" y="5"/>
                  </a:cubicBezTo>
                  <a:cubicBezTo>
                    <a:pt x="15" y="4"/>
                    <a:pt x="15" y="4"/>
                    <a:pt x="15" y="4"/>
                  </a:cubicBezTo>
                  <a:cubicBezTo>
                    <a:pt x="9" y="4"/>
                    <a:pt x="9" y="4"/>
                    <a:pt x="9" y="4"/>
                  </a:cubicBezTo>
                  <a:cubicBezTo>
                    <a:pt x="5" y="4"/>
                    <a:pt x="5" y="4"/>
                    <a:pt x="5" y="4"/>
                  </a:cubicBezTo>
                  <a:cubicBezTo>
                    <a:pt x="0" y="3"/>
                    <a:pt x="0" y="3"/>
                    <a:pt x="0" y="3"/>
                  </a:cubicBezTo>
                  <a:lnTo>
                    <a:pt x="2" y="1"/>
                  </a:lnTo>
                  <a:close/>
                </a:path>
              </a:pathLst>
            </a:custGeom>
            <a:grpFill/>
            <a:ln w="9525">
              <a:solidFill>
                <a:schemeClr val="bg2">
                  <a:lumMod val="50000"/>
                </a:schemeClr>
              </a:solidFill>
              <a:round/>
              <a:headEnd/>
              <a:tailEnd/>
            </a:ln>
          </p:spPr>
          <p:txBody>
            <a:bodyPr/>
            <a:lstStyle/>
            <a:p>
              <a:endParaRPr lang="en-US" dirty="0"/>
            </a:p>
          </p:txBody>
        </p:sp>
        <p:sp>
          <p:nvSpPr>
            <p:cNvPr id="44" name="Freeform 278"/>
            <p:cNvSpPr>
              <a:spLocks/>
            </p:cNvSpPr>
            <p:nvPr/>
          </p:nvSpPr>
          <p:spPr bwMode="gray">
            <a:xfrm>
              <a:off x="3294119" y="3743951"/>
              <a:ext cx="144440" cy="38434"/>
            </a:xfrm>
            <a:custGeom>
              <a:avLst/>
              <a:gdLst>
                <a:gd name="T0" fmla="*/ 2147483647 w 132"/>
                <a:gd name="T1" fmla="*/ 0 h 36"/>
                <a:gd name="T2" fmla="*/ 2147483647 w 132"/>
                <a:gd name="T3" fmla="*/ 2147483647 h 36"/>
                <a:gd name="T4" fmla="*/ 0 w 132"/>
                <a:gd name="T5" fmla="*/ 2147483647 h 36"/>
                <a:gd name="T6" fmla="*/ 2147483647 w 132"/>
                <a:gd name="T7" fmla="*/ 2147483647 h 36"/>
                <a:gd name="T8" fmla="*/ 2147483647 w 132"/>
                <a:gd name="T9" fmla="*/ 2147483647 h 36"/>
                <a:gd name="T10" fmla="*/ 2147483647 w 132"/>
                <a:gd name="T11" fmla="*/ 2147483647 h 36"/>
                <a:gd name="T12" fmla="*/ 2147483647 w 132"/>
                <a:gd name="T13" fmla="*/ 2147483647 h 36"/>
                <a:gd name="T14" fmla="*/ 2147483647 w 132"/>
                <a:gd name="T15" fmla="*/ 2147483647 h 36"/>
                <a:gd name="T16" fmla="*/ 2147483647 w 132"/>
                <a:gd name="T17" fmla="*/ 2147483647 h 36"/>
                <a:gd name="T18" fmla="*/ 2147483647 w 132"/>
                <a:gd name="T19" fmla="*/ 0 h 36"/>
                <a:gd name="T20" fmla="*/ 2147483647 w 132"/>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2" h="36">
                  <a:moveTo>
                    <a:pt x="24" y="0"/>
                  </a:moveTo>
                  <a:lnTo>
                    <a:pt x="24" y="12"/>
                  </a:lnTo>
                  <a:lnTo>
                    <a:pt x="0" y="18"/>
                  </a:lnTo>
                  <a:lnTo>
                    <a:pt x="30" y="30"/>
                  </a:lnTo>
                  <a:lnTo>
                    <a:pt x="42" y="36"/>
                  </a:lnTo>
                  <a:lnTo>
                    <a:pt x="66" y="36"/>
                  </a:lnTo>
                  <a:lnTo>
                    <a:pt x="84" y="24"/>
                  </a:lnTo>
                  <a:lnTo>
                    <a:pt x="132" y="30"/>
                  </a:lnTo>
                  <a:lnTo>
                    <a:pt x="108" y="18"/>
                  </a:lnTo>
                  <a:lnTo>
                    <a:pt x="72" y="0"/>
                  </a:lnTo>
                  <a:lnTo>
                    <a:pt x="24" y="0"/>
                  </a:lnTo>
                  <a:close/>
                </a:path>
              </a:pathLst>
            </a:custGeom>
            <a:grpFill/>
            <a:ln w="9525">
              <a:solidFill>
                <a:schemeClr val="bg2">
                  <a:lumMod val="50000"/>
                </a:schemeClr>
              </a:solidFill>
              <a:round/>
              <a:headEnd/>
              <a:tailEnd/>
            </a:ln>
          </p:spPr>
          <p:txBody>
            <a:bodyPr/>
            <a:lstStyle/>
            <a:p>
              <a:endParaRPr lang="en-US" dirty="0"/>
            </a:p>
          </p:txBody>
        </p:sp>
        <p:sp>
          <p:nvSpPr>
            <p:cNvPr id="45" name="Freeform 279"/>
            <p:cNvSpPr>
              <a:spLocks/>
            </p:cNvSpPr>
            <p:nvPr/>
          </p:nvSpPr>
          <p:spPr bwMode="gray">
            <a:xfrm>
              <a:off x="5199930" y="3318616"/>
              <a:ext cx="65533" cy="37152"/>
            </a:xfrm>
            <a:custGeom>
              <a:avLst/>
              <a:gdLst>
                <a:gd name="T0" fmla="*/ 0 w 60"/>
                <a:gd name="T1" fmla="*/ 2147483647 h 36"/>
                <a:gd name="T2" fmla="*/ 2147483647 w 60"/>
                <a:gd name="T3" fmla="*/ 0 h 36"/>
                <a:gd name="T4" fmla="*/ 2147483647 w 60"/>
                <a:gd name="T5" fmla="*/ 2147483647 h 36"/>
                <a:gd name="T6" fmla="*/ 2147483647 w 60"/>
                <a:gd name="T7" fmla="*/ 2147483647 h 36"/>
                <a:gd name="T8" fmla="*/ 2147483647 w 60"/>
                <a:gd name="T9" fmla="*/ 2147483647 h 36"/>
                <a:gd name="T10" fmla="*/ 2147483647 w 60"/>
                <a:gd name="T11" fmla="*/ 2147483647 h 36"/>
                <a:gd name="T12" fmla="*/ 0 w 60"/>
                <a:gd name="T13" fmla="*/ 2147483647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36">
                  <a:moveTo>
                    <a:pt x="0" y="12"/>
                  </a:moveTo>
                  <a:lnTo>
                    <a:pt x="36" y="0"/>
                  </a:lnTo>
                  <a:lnTo>
                    <a:pt x="60" y="6"/>
                  </a:lnTo>
                  <a:lnTo>
                    <a:pt x="60" y="18"/>
                  </a:lnTo>
                  <a:lnTo>
                    <a:pt x="54" y="36"/>
                  </a:lnTo>
                  <a:lnTo>
                    <a:pt x="30" y="24"/>
                  </a:lnTo>
                  <a:lnTo>
                    <a:pt x="0" y="12"/>
                  </a:lnTo>
                  <a:close/>
                </a:path>
              </a:pathLst>
            </a:custGeom>
            <a:grpFill/>
            <a:ln w="9525">
              <a:solidFill>
                <a:schemeClr val="bg2">
                  <a:lumMod val="50000"/>
                </a:schemeClr>
              </a:solidFill>
              <a:round/>
              <a:headEnd/>
              <a:tailEnd/>
            </a:ln>
          </p:spPr>
          <p:txBody>
            <a:bodyPr/>
            <a:lstStyle/>
            <a:p>
              <a:endParaRPr lang="en-US" dirty="0"/>
            </a:p>
          </p:txBody>
        </p:sp>
        <p:sp>
          <p:nvSpPr>
            <p:cNvPr id="46" name="Freeform 280"/>
            <p:cNvSpPr>
              <a:spLocks/>
            </p:cNvSpPr>
            <p:nvPr/>
          </p:nvSpPr>
          <p:spPr bwMode="gray">
            <a:xfrm>
              <a:off x="5126372" y="3246872"/>
              <a:ext cx="26748" cy="49964"/>
            </a:xfrm>
            <a:custGeom>
              <a:avLst/>
              <a:gdLst>
                <a:gd name="T0" fmla="*/ 0 w 24"/>
                <a:gd name="T1" fmla="*/ 2147483647 h 48"/>
                <a:gd name="T2" fmla="*/ 2147483647 w 24"/>
                <a:gd name="T3" fmla="*/ 2147483647 h 48"/>
                <a:gd name="T4" fmla="*/ 2147483647 w 24"/>
                <a:gd name="T5" fmla="*/ 0 h 48"/>
                <a:gd name="T6" fmla="*/ 2147483647 w 24"/>
                <a:gd name="T7" fmla="*/ 2147483647 h 48"/>
                <a:gd name="T8" fmla="*/ 2147483647 w 24"/>
                <a:gd name="T9" fmla="*/ 2147483647 h 48"/>
                <a:gd name="T10" fmla="*/ 0 w 24"/>
                <a:gd name="T11" fmla="*/ 2147483647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48">
                  <a:moveTo>
                    <a:pt x="0" y="48"/>
                  </a:moveTo>
                  <a:lnTo>
                    <a:pt x="6" y="6"/>
                  </a:lnTo>
                  <a:lnTo>
                    <a:pt x="18" y="0"/>
                  </a:lnTo>
                  <a:lnTo>
                    <a:pt x="24" y="24"/>
                  </a:lnTo>
                  <a:lnTo>
                    <a:pt x="24" y="48"/>
                  </a:lnTo>
                  <a:lnTo>
                    <a:pt x="0" y="48"/>
                  </a:lnTo>
                  <a:close/>
                </a:path>
              </a:pathLst>
            </a:custGeom>
            <a:grpFill/>
            <a:ln w="9525">
              <a:solidFill>
                <a:schemeClr val="bg2">
                  <a:lumMod val="50000"/>
                </a:schemeClr>
              </a:solidFill>
              <a:round/>
              <a:headEnd/>
              <a:tailEnd/>
            </a:ln>
          </p:spPr>
          <p:txBody>
            <a:bodyPr/>
            <a:lstStyle/>
            <a:p>
              <a:endParaRPr lang="en-US" dirty="0"/>
            </a:p>
          </p:txBody>
        </p:sp>
        <p:sp>
          <p:nvSpPr>
            <p:cNvPr id="47" name="Freeform 281"/>
            <p:cNvSpPr>
              <a:spLocks/>
            </p:cNvSpPr>
            <p:nvPr/>
          </p:nvSpPr>
          <p:spPr bwMode="gray">
            <a:xfrm>
              <a:off x="5119686" y="3195627"/>
              <a:ext cx="33435" cy="38434"/>
            </a:xfrm>
            <a:custGeom>
              <a:avLst/>
              <a:gdLst>
                <a:gd name="T0" fmla="*/ 0 w 30"/>
                <a:gd name="T1" fmla="*/ 2147483647 h 37"/>
                <a:gd name="T2" fmla="*/ 2147483647 w 30"/>
                <a:gd name="T3" fmla="*/ 0 h 37"/>
                <a:gd name="T4" fmla="*/ 2147483647 w 30"/>
                <a:gd name="T5" fmla="*/ 2147483647 h 37"/>
                <a:gd name="T6" fmla="*/ 2147483647 w 30"/>
                <a:gd name="T7" fmla="*/ 2147483647 h 37"/>
                <a:gd name="T8" fmla="*/ 0 w 30"/>
                <a:gd name="T9" fmla="*/ 2147483647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37">
                  <a:moveTo>
                    <a:pt x="0" y="12"/>
                  </a:moveTo>
                  <a:lnTo>
                    <a:pt x="24" y="0"/>
                  </a:lnTo>
                  <a:lnTo>
                    <a:pt x="30" y="24"/>
                  </a:lnTo>
                  <a:lnTo>
                    <a:pt x="24" y="37"/>
                  </a:lnTo>
                  <a:lnTo>
                    <a:pt x="0" y="12"/>
                  </a:lnTo>
                  <a:close/>
                </a:path>
              </a:pathLst>
            </a:custGeom>
            <a:grpFill/>
            <a:ln w="9525">
              <a:solidFill>
                <a:schemeClr val="bg2">
                  <a:lumMod val="50000"/>
                </a:schemeClr>
              </a:solidFill>
              <a:round/>
              <a:headEnd/>
              <a:tailEnd/>
            </a:ln>
          </p:spPr>
          <p:txBody>
            <a:bodyPr/>
            <a:lstStyle/>
            <a:p>
              <a:endParaRPr lang="en-US" dirty="0"/>
            </a:p>
          </p:txBody>
        </p:sp>
        <p:sp>
          <p:nvSpPr>
            <p:cNvPr id="48" name="Freeform 282"/>
            <p:cNvSpPr>
              <a:spLocks/>
            </p:cNvSpPr>
            <p:nvPr/>
          </p:nvSpPr>
          <p:spPr bwMode="gray">
            <a:xfrm>
              <a:off x="5792403" y="3337833"/>
              <a:ext cx="33435" cy="6406"/>
            </a:xfrm>
            <a:custGeom>
              <a:avLst/>
              <a:gdLst>
                <a:gd name="T0" fmla="*/ 2147483647 w 30"/>
                <a:gd name="T1" fmla="*/ 0 h 6"/>
                <a:gd name="T2" fmla="*/ 2147483647 w 30"/>
                <a:gd name="T3" fmla="*/ 0 h 6"/>
                <a:gd name="T4" fmla="*/ 0 w 30"/>
                <a:gd name="T5" fmla="*/ 2147483647 h 6"/>
                <a:gd name="T6" fmla="*/ 2147483647 w 30"/>
                <a:gd name="T7" fmla="*/ 0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 h="6">
                  <a:moveTo>
                    <a:pt x="24" y="0"/>
                  </a:moveTo>
                  <a:lnTo>
                    <a:pt x="30" y="0"/>
                  </a:lnTo>
                  <a:lnTo>
                    <a:pt x="0" y="6"/>
                  </a:lnTo>
                  <a:lnTo>
                    <a:pt x="24" y="0"/>
                  </a:lnTo>
                  <a:close/>
                </a:path>
              </a:pathLst>
            </a:custGeom>
            <a:grpFill/>
            <a:ln w="9525">
              <a:solidFill>
                <a:schemeClr val="bg2">
                  <a:lumMod val="50000"/>
                </a:schemeClr>
              </a:solidFill>
              <a:round/>
              <a:headEnd/>
              <a:tailEnd/>
            </a:ln>
          </p:spPr>
          <p:txBody>
            <a:bodyPr/>
            <a:lstStyle/>
            <a:p>
              <a:endParaRPr lang="en-US" dirty="0"/>
            </a:p>
          </p:txBody>
        </p:sp>
        <p:sp>
          <p:nvSpPr>
            <p:cNvPr id="49" name="Rectangle 283"/>
            <p:cNvSpPr>
              <a:spLocks noChangeArrowheads="1"/>
            </p:cNvSpPr>
            <p:nvPr/>
          </p:nvSpPr>
          <p:spPr bwMode="gray">
            <a:xfrm>
              <a:off x="5674711" y="3524877"/>
              <a:ext cx="0" cy="2562"/>
            </a:xfrm>
            <a:prstGeom prst="rect">
              <a:avLst/>
            </a:prstGeom>
            <a:grpFill/>
            <a:ln w="9525">
              <a:solidFill>
                <a:schemeClr val="bg2">
                  <a:lumMod val="50000"/>
                </a:schemeClr>
              </a:solidFill>
              <a:miter lim="800000"/>
              <a:headEnd/>
              <a:tailEnd/>
            </a:ln>
          </p:spPr>
          <p:txBody>
            <a:bodyPr/>
            <a:lstStyle/>
            <a:p>
              <a:pPr algn="ctr" eaLnBrk="1" hangingPunct="1">
                <a:spcBef>
                  <a:spcPct val="15000"/>
                </a:spcBef>
              </a:pPr>
              <a:endParaRPr lang="en-US" dirty="0"/>
            </a:p>
          </p:txBody>
        </p:sp>
        <p:sp>
          <p:nvSpPr>
            <p:cNvPr id="50" name="Freeform 284"/>
            <p:cNvSpPr>
              <a:spLocks/>
            </p:cNvSpPr>
            <p:nvPr/>
          </p:nvSpPr>
          <p:spPr bwMode="gray">
            <a:xfrm>
              <a:off x="5456713" y="3217406"/>
              <a:ext cx="414597" cy="144769"/>
            </a:xfrm>
            <a:custGeom>
              <a:avLst/>
              <a:gdLst>
                <a:gd name="T0" fmla="*/ 2147483647 w 10616"/>
                <a:gd name="T1" fmla="*/ 2147483647 h 10000"/>
                <a:gd name="T2" fmla="*/ 2147483647 w 10616"/>
                <a:gd name="T3" fmla="*/ 2147483647 h 10000"/>
                <a:gd name="T4" fmla="*/ 2147483647 w 10616"/>
                <a:gd name="T5" fmla="*/ 2147483647 h 10000"/>
                <a:gd name="T6" fmla="*/ 2147483647 w 10616"/>
                <a:gd name="T7" fmla="*/ 2147483647 h 10000"/>
                <a:gd name="T8" fmla="*/ 2147483647 w 10616"/>
                <a:gd name="T9" fmla="*/ 2147483647 h 10000"/>
                <a:gd name="T10" fmla="*/ 2147483647 w 10616"/>
                <a:gd name="T11" fmla="*/ 2147483647 h 10000"/>
                <a:gd name="T12" fmla="*/ 2147483647 w 10616"/>
                <a:gd name="T13" fmla="*/ 2147483647 h 10000"/>
                <a:gd name="T14" fmla="*/ 2147483647 w 10616"/>
                <a:gd name="T15" fmla="*/ 2147483647 h 10000"/>
                <a:gd name="T16" fmla="*/ 2147483647 w 10616"/>
                <a:gd name="T17" fmla="*/ 2147483647 h 10000"/>
                <a:gd name="T18" fmla="*/ 2147483647 w 10616"/>
                <a:gd name="T19" fmla="*/ 2147483647 h 10000"/>
                <a:gd name="T20" fmla="*/ 2147483647 w 10616"/>
                <a:gd name="T21" fmla="*/ 808041496 h 10000"/>
                <a:gd name="T22" fmla="*/ 2147483647 w 10616"/>
                <a:gd name="T23" fmla="*/ 808041496 h 10000"/>
                <a:gd name="T24" fmla="*/ 2147483647 w 10616"/>
                <a:gd name="T25" fmla="*/ 0 h 10000"/>
                <a:gd name="T26" fmla="*/ 2147483647 w 10616"/>
                <a:gd name="T27" fmla="*/ 0 h 10000"/>
                <a:gd name="T28" fmla="*/ 2147483647 w 10616"/>
                <a:gd name="T29" fmla="*/ 2147483647 h 10000"/>
                <a:gd name="T30" fmla="*/ 2147483647 w 10616"/>
                <a:gd name="T31" fmla="*/ 2147483647 h 10000"/>
                <a:gd name="T32" fmla="*/ 2147483647 w 10616"/>
                <a:gd name="T33" fmla="*/ 2147483647 h 10000"/>
                <a:gd name="T34" fmla="*/ 2147483647 w 10616"/>
                <a:gd name="T35" fmla="*/ 2147483647 h 10000"/>
                <a:gd name="T36" fmla="*/ 2147483647 w 10616"/>
                <a:gd name="T37" fmla="*/ 808041496 h 10000"/>
                <a:gd name="T38" fmla="*/ 2147483647 w 10616"/>
                <a:gd name="T39" fmla="*/ 0 h 10000"/>
                <a:gd name="T40" fmla="*/ 2147483647 w 10616"/>
                <a:gd name="T41" fmla="*/ 0 h 10000"/>
                <a:gd name="T42" fmla="*/ 2147483647 w 10616"/>
                <a:gd name="T43" fmla="*/ 0 h 10000"/>
                <a:gd name="T44" fmla="*/ 2147483647 w 10616"/>
                <a:gd name="T45" fmla="*/ 808041496 h 10000"/>
                <a:gd name="T46" fmla="*/ 2147483647 w 10616"/>
                <a:gd name="T47" fmla="*/ 2147483647 h 10000"/>
                <a:gd name="T48" fmla="*/ 2147483647 w 10616"/>
                <a:gd name="T49" fmla="*/ 2147483647 h 10000"/>
                <a:gd name="T50" fmla="*/ 2147483647 w 10616"/>
                <a:gd name="T51" fmla="*/ 2147483647 h 10000"/>
                <a:gd name="T52" fmla="*/ 2147483647 w 10616"/>
                <a:gd name="T53" fmla="*/ 2147483647 h 10000"/>
                <a:gd name="T54" fmla="*/ 2147483647 w 10616"/>
                <a:gd name="T55" fmla="*/ 2147483647 h 10000"/>
                <a:gd name="T56" fmla="*/ 2147483647 w 10616"/>
                <a:gd name="T57" fmla="*/ 2147483647 h 10000"/>
                <a:gd name="T58" fmla="*/ 2147483647 w 10616"/>
                <a:gd name="T59" fmla="*/ 2147483647 h 10000"/>
                <a:gd name="T60" fmla="*/ 2147483647 w 10616"/>
                <a:gd name="T61" fmla="*/ 2147483647 h 10000"/>
                <a:gd name="T62" fmla="*/ 0 w 10616"/>
                <a:gd name="T63" fmla="*/ 2147483647 h 10000"/>
                <a:gd name="T64" fmla="*/ 2147483647 w 10616"/>
                <a:gd name="T65" fmla="*/ 2147483647 h 10000"/>
                <a:gd name="T66" fmla="*/ 2147483647 w 10616"/>
                <a:gd name="T67" fmla="*/ 2147483647 h 10000"/>
                <a:gd name="T68" fmla="*/ 2147483647 w 10616"/>
                <a:gd name="T69" fmla="*/ 2147483647 h 10000"/>
                <a:gd name="T70" fmla="*/ 2147483647 w 10616"/>
                <a:gd name="T71" fmla="*/ 2147483647 h 10000"/>
                <a:gd name="T72" fmla="*/ 2147483647 w 10616"/>
                <a:gd name="T73" fmla="*/ 2147483647 h 10000"/>
                <a:gd name="T74" fmla="*/ 2147483647 w 10616"/>
                <a:gd name="T75" fmla="*/ 2147483647 h 10000"/>
                <a:gd name="T76" fmla="*/ 2147483647 w 10616"/>
                <a:gd name="T77" fmla="*/ 2147483647 h 10000"/>
                <a:gd name="T78" fmla="*/ 2147483647 w 10616"/>
                <a:gd name="T79" fmla="*/ 2147483647 h 10000"/>
                <a:gd name="T80" fmla="*/ 2147483647 w 10616"/>
                <a:gd name="T81" fmla="*/ 2147483647 h 10000"/>
                <a:gd name="T82" fmla="*/ 2147483647 w 10616"/>
                <a:gd name="T83" fmla="*/ 2147483647 h 10000"/>
                <a:gd name="T84" fmla="*/ 2147483647 w 10616"/>
                <a:gd name="T85" fmla="*/ 2147483647 h 100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0616" h="10000">
                  <a:moveTo>
                    <a:pt x="6379" y="8696"/>
                  </a:moveTo>
                  <a:lnTo>
                    <a:pt x="6718" y="9130"/>
                  </a:lnTo>
                  <a:lnTo>
                    <a:pt x="8582" y="8696"/>
                  </a:lnTo>
                  <a:lnTo>
                    <a:pt x="9430" y="8261"/>
                  </a:lnTo>
                  <a:lnTo>
                    <a:pt x="10277" y="7826"/>
                  </a:lnTo>
                  <a:lnTo>
                    <a:pt x="10616" y="8261"/>
                  </a:lnTo>
                  <a:cubicBezTo>
                    <a:pt x="10560" y="7826"/>
                    <a:pt x="10503" y="7392"/>
                    <a:pt x="10447" y="6957"/>
                  </a:cubicBezTo>
                  <a:lnTo>
                    <a:pt x="10447" y="3913"/>
                  </a:lnTo>
                  <a:cubicBezTo>
                    <a:pt x="10503" y="3768"/>
                    <a:pt x="10560" y="3623"/>
                    <a:pt x="10616" y="3478"/>
                  </a:cubicBezTo>
                  <a:lnTo>
                    <a:pt x="9938" y="1304"/>
                  </a:lnTo>
                  <a:lnTo>
                    <a:pt x="9599" y="435"/>
                  </a:lnTo>
                  <a:lnTo>
                    <a:pt x="9091" y="435"/>
                  </a:lnTo>
                  <a:cubicBezTo>
                    <a:pt x="9034" y="290"/>
                    <a:pt x="8978" y="145"/>
                    <a:pt x="8921" y="0"/>
                  </a:cubicBezTo>
                  <a:lnTo>
                    <a:pt x="8243" y="1304"/>
                  </a:lnTo>
                  <a:lnTo>
                    <a:pt x="7396" y="1304"/>
                  </a:lnTo>
                  <a:lnTo>
                    <a:pt x="7226" y="1304"/>
                  </a:lnTo>
                  <a:lnTo>
                    <a:pt x="6548" y="435"/>
                  </a:lnTo>
                  <a:lnTo>
                    <a:pt x="6040" y="0"/>
                  </a:lnTo>
                  <a:lnTo>
                    <a:pt x="4684" y="0"/>
                  </a:lnTo>
                  <a:lnTo>
                    <a:pt x="4345" y="0"/>
                  </a:lnTo>
                  <a:lnTo>
                    <a:pt x="3836" y="435"/>
                  </a:lnTo>
                  <a:lnTo>
                    <a:pt x="3497" y="1304"/>
                  </a:lnTo>
                  <a:lnTo>
                    <a:pt x="2650" y="1739"/>
                  </a:lnTo>
                  <a:cubicBezTo>
                    <a:pt x="2593" y="1594"/>
                    <a:pt x="2537" y="1449"/>
                    <a:pt x="2480" y="1304"/>
                  </a:cubicBezTo>
                  <a:lnTo>
                    <a:pt x="2311" y="1304"/>
                  </a:lnTo>
                  <a:lnTo>
                    <a:pt x="1972" y="2609"/>
                  </a:lnTo>
                  <a:cubicBezTo>
                    <a:pt x="1746" y="2609"/>
                    <a:pt x="1494" y="2631"/>
                    <a:pt x="1294" y="2609"/>
                  </a:cubicBezTo>
                  <a:cubicBezTo>
                    <a:pt x="1094" y="2587"/>
                    <a:pt x="883" y="2261"/>
                    <a:pt x="770" y="2478"/>
                  </a:cubicBezTo>
                  <a:cubicBezTo>
                    <a:pt x="657" y="2695"/>
                    <a:pt x="333" y="2962"/>
                    <a:pt x="205" y="3117"/>
                  </a:cubicBezTo>
                  <a:cubicBezTo>
                    <a:pt x="77" y="3272"/>
                    <a:pt x="0" y="3266"/>
                    <a:pt x="0" y="3407"/>
                  </a:cubicBezTo>
                  <a:cubicBezTo>
                    <a:pt x="113" y="3701"/>
                    <a:pt x="482" y="5084"/>
                    <a:pt x="698" y="5748"/>
                  </a:cubicBezTo>
                  <a:cubicBezTo>
                    <a:pt x="914" y="6412"/>
                    <a:pt x="1138" y="6900"/>
                    <a:pt x="1294" y="7391"/>
                  </a:cubicBezTo>
                  <a:cubicBezTo>
                    <a:pt x="1450" y="7882"/>
                    <a:pt x="1520" y="8261"/>
                    <a:pt x="1633" y="8696"/>
                  </a:cubicBezTo>
                  <a:lnTo>
                    <a:pt x="3158" y="9130"/>
                  </a:lnTo>
                  <a:lnTo>
                    <a:pt x="3328" y="9130"/>
                  </a:lnTo>
                  <a:lnTo>
                    <a:pt x="4514" y="10000"/>
                  </a:lnTo>
                  <a:lnTo>
                    <a:pt x="5192" y="9130"/>
                  </a:lnTo>
                  <a:lnTo>
                    <a:pt x="5870" y="10000"/>
                  </a:lnTo>
                  <a:lnTo>
                    <a:pt x="6379" y="8696"/>
                  </a:lnTo>
                  <a:close/>
                </a:path>
              </a:pathLst>
            </a:custGeom>
            <a:grpFill/>
            <a:ln w="9525">
              <a:solidFill>
                <a:schemeClr val="bg2">
                  <a:lumMod val="50000"/>
                </a:schemeClr>
              </a:solidFill>
              <a:round/>
              <a:headEnd/>
              <a:tailEnd/>
            </a:ln>
          </p:spPr>
          <p:txBody>
            <a:bodyPr/>
            <a:lstStyle/>
            <a:p>
              <a:endParaRPr lang="en-US" dirty="0"/>
            </a:p>
          </p:txBody>
        </p:sp>
        <p:sp>
          <p:nvSpPr>
            <p:cNvPr id="51" name="Freeform 285"/>
            <p:cNvSpPr>
              <a:spLocks/>
            </p:cNvSpPr>
            <p:nvPr/>
          </p:nvSpPr>
          <p:spPr bwMode="gray">
            <a:xfrm>
              <a:off x="5665349" y="3337833"/>
              <a:ext cx="152464" cy="117864"/>
            </a:xfrm>
            <a:custGeom>
              <a:avLst/>
              <a:gdLst>
                <a:gd name="T0" fmla="*/ 2147483647 w 139"/>
                <a:gd name="T1" fmla="*/ 2147483647 h 114"/>
                <a:gd name="T2" fmla="*/ 2147483647 w 139"/>
                <a:gd name="T3" fmla="*/ 2147483647 h 114"/>
                <a:gd name="T4" fmla="*/ 2147483647 w 139"/>
                <a:gd name="T5" fmla="*/ 2147483647 h 114"/>
                <a:gd name="T6" fmla="*/ 2147483647 w 139"/>
                <a:gd name="T7" fmla="*/ 2147483647 h 114"/>
                <a:gd name="T8" fmla="*/ 2147483647 w 139"/>
                <a:gd name="T9" fmla="*/ 2147483647 h 114"/>
                <a:gd name="T10" fmla="*/ 2147483647 w 139"/>
                <a:gd name="T11" fmla="*/ 2147483647 h 114"/>
                <a:gd name="T12" fmla="*/ 2147483647 w 139"/>
                <a:gd name="T13" fmla="*/ 0 h 114"/>
                <a:gd name="T14" fmla="*/ 2147483647 w 139"/>
                <a:gd name="T15" fmla="*/ 2147483647 h 114"/>
                <a:gd name="T16" fmla="*/ 2147483647 w 139"/>
                <a:gd name="T17" fmla="*/ 2147483647 h 114"/>
                <a:gd name="T18" fmla="*/ 2147483647 w 139"/>
                <a:gd name="T19" fmla="*/ 2147483647 h 114"/>
                <a:gd name="T20" fmla="*/ 2147483647 w 139"/>
                <a:gd name="T21" fmla="*/ 2147483647 h 114"/>
                <a:gd name="T22" fmla="*/ 2147483647 w 139"/>
                <a:gd name="T23" fmla="*/ 2147483647 h 114"/>
                <a:gd name="T24" fmla="*/ 2147483647 w 139"/>
                <a:gd name="T25" fmla="*/ 2147483647 h 114"/>
                <a:gd name="T26" fmla="*/ 0 w 139"/>
                <a:gd name="T27" fmla="*/ 2147483647 h 114"/>
                <a:gd name="T28" fmla="*/ 2147483647 w 139"/>
                <a:gd name="T29" fmla="*/ 2147483647 h 114"/>
                <a:gd name="T30" fmla="*/ 2147483647 w 139"/>
                <a:gd name="T31" fmla="*/ 2147483647 h 1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9" h="114">
                  <a:moveTo>
                    <a:pt x="25" y="114"/>
                  </a:moveTo>
                  <a:lnTo>
                    <a:pt x="61" y="96"/>
                  </a:lnTo>
                  <a:lnTo>
                    <a:pt x="73" y="90"/>
                  </a:lnTo>
                  <a:lnTo>
                    <a:pt x="115" y="66"/>
                  </a:lnTo>
                  <a:lnTo>
                    <a:pt x="127" y="24"/>
                  </a:lnTo>
                  <a:lnTo>
                    <a:pt x="139" y="6"/>
                  </a:lnTo>
                  <a:lnTo>
                    <a:pt x="139" y="0"/>
                  </a:lnTo>
                  <a:lnTo>
                    <a:pt x="115" y="6"/>
                  </a:lnTo>
                  <a:lnTo>
                    <a:pt x="49" y="12"/>
                  </a:lnTo>
                  <a:lnTo>
                    <a:pt x="37" y="6"/>
                  </a:lnTo>
                  <a:lnTo>
                    <a:pt x="19" y="24"/>
                  </a:lnTo>
                  <a:lnTo>
                    <a:pt x="25" y="48"/>
                  </a:lnTo>
                  <a:lnTo>
                    <a:pt x="0" y="102"/>
                  </a:lnTo>
                  <a:lnTo>
                    <a:pt x="13" y="102"/>
                  </a:lnTo>
                  <a:lnTo>
                    <a:pt x="25" y="114"/>
                  </a:lnTo>
                  <a:close/>
                </a:path>
              </a:pathLst>
            </a:custGeom>
            <a:grpFill/>
            <a:ln w="9525">
              <a:solidFill>
                <a:schemeClr val="bg2">
                  <a:lumMod val="50000"/>
                </a:schemeClr>
              </a:solidFill>
              <a:round/>
              <a:headEnd/>
              <a:tailEnd/>
            </a:ln>
          </p:spPr>
          <p:txBody>
            <a:bodyPr/>
            <a:lstStyle/>
            <a:p>
              <a:endParaRPr lang="en-US" dirty="0"/>
            </a:p>
          </p:txBody>
        </p:sp>
        <p:sp>
          <p:nvSpPr>
            <p:cNvPr id="52" name="Freeform 286"/>
            <p:cNvSpPr>
              <a:spLocks/>
            </p:cNvSpPr>
            <p:nvPr/>
          </p:nvSpPr>
          <p:spPr bwMode="gray">
            <a:xfrm>
              <a:off x="5645288" y="3431355"/>
              <a:ext cx="106993" cy="93522"/>
            </a:xfrm>
            <a:custGeom>
              <a:avLst/>
              <a:gdLst>
                <a:gd name="T0" fmla="*/ 2147483647 w 97"/>
                <a:gd name="T1" fmla="*/ 2147483647 h 90"/>
                <a:gd name="T2" fmla="*/ 2147483647 w 97"/>
                <a:gd name="T3" fmla="*/ 0 h 90"/>
                <a:gd name="T4" fmla="*/ 2147483647 w 97"/>
                <a:gd name="T5" fmla="*/ 2147483647 h 90"/>
                <a:gd name="T6" fmla="*/ 2147483647 w 97"/>
                <a:gd name="T7" fmla="*/ 2147483647 h 90"/>
                <a:gd name="T8" fmla="*/ 2147483647 w 97"/>
                <a:gd name="T9" fmla="*/ 2147483647 h 90"/>
                <a:gd name="T10" fmla="*/ 2147483647 w 97"/>
                <a:gd name="T11" fmla="*/ 2147483647 h 90"/>
                <a:gd name="T12" fmla="*/ 2147483647 w 97"/>
                <a:gd name="T13" fmla="*/ 2147483647 h 90"/>
                <a:gd name="T14" fmla="*/ 0 w 97"/>
                <a:gd name="T15" fmla="*/ 2147483647 h 90"/>
                <a:gd name="T16" fmla="*/ 2147483647 w 97"/>
                <a:gd name="T17" fmla="*/ 2147483647 h 90"/>
                <a:gd name="T18" fmla="*/ 2147483647 w 97"/>
                <a:gd name="T19" fmla="*/ 2147483647 h 90"/>
                <a:gd name="T20" fmla="*/ 2147483647 w 97"/>
                <a:gd name="T21" fmla="*/ 2147483647 h 90"/>
                <a:gd name="T22" fmla="*/ 2147483647 w 97"/>
                <a:gd name="T23" fmla="*/ 2147483647 h 90"/>
                <a:gd name="T24" fmla="*/ 2147483647 w 97"/>
                <a:gd name="T25" fmla="*/ 2147483647 h 90"/>
                <a:gd name="T26" fmla="*/ 2147483647 w 97"/>
                <a:gd name="T27" fmla="*/ 2147483647 h 90"/>
                <a:gd name="T28" fmla="*/ 2147483647 w 97"/>
                <a:gd name="T29" fmla="*/ 2147483647 h 90"/>
                <a:gd name="T30" fmla="*/ 2147483647 w 97"/>
                <a:gd name="T31" fmla="*/ 2147483647 h 90"/>
                <a:gd name="T32" fmla="*/ 2147483647 w 97"/>
                <a:gd name="T33" fmla="*/ 2147483647 h 90"/>
                <a:gd name="T34" fmla="*/ 2147483647 w 97"/>
                <a:gd name="T35" fmla="*/ 2147483647 h 90"/>
                <a:gd name="T36" fmla="*/ 2147483647 w 97"/>
                <a:gd name="T37" fmla="*/ 2147483647 h 90"/>
                <a:gd name="T38" fmla="*/ 2147483647 w 97"/>
                <a:gd name="T39" fmla="*/ 2147483647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close/>
                </a:path>
              </a:pathLst>
            </a:custGeom>
            <a:grpFill/>
            <a:ln w="9525">
              <a:solidFill>
                <a:schemeClr val="bg2">
                  <a:lumMod val="50000"/>
                </a:schemeClr>
              </a:solidFill>
              <a:round/>
              <a:headEnd/>
              <a:tailEnd/>
            </a:ln>
          </p:spPr>
          <p:txBody>
            <a:bodyPr/>
            <a:lstStyle/>
            <a:p>
              <a:endParaRPr lang="en-US" dirty="0"/>
            </a:p>
          </p:txBody>
        </p:sp>
        <p:sp>
          <p:nvSpPr>
            <p:cNvPr id="53" name="Freeform 287"/>
            <p:cNvSpPr>
              <a:spLocks/>
            </p:cNvSpPr>
            <p:nvPr/>
          </p:nvSpPr>
          <p:spPr bwMode="gray">
            <a:xfrm>
              <a:off x="5645288" y="3431355"/>
              <a:ext cx="106993" cy="93522"/>
            </a:xfrm>
            <a:custGeom>
              <a:avLst/>
              <a:gdLst>
                <a:gd name="T0" fmla="*/ 2147483647 w 97"/>
                <a:gd name="T1" fmla="*/ 2147483647 h 90"/>
                <a:gd name="T2" fmla="*/ 2147483647 w 97"/>
                <a:gd name="T3" fmla="*/ 0 h 90"/>
                <a:gd name="T4" fmla="*/ 2147483647 w 97"/>
                <a:gd name="T5" fmla="*/ 2147483647 h 90"/>
                <a:gd name="T6" fmla="*/ 2147483647 w 97"/>
                <a:gd name="T7" fmla="*/ 2147483647 h 90"/>
                <a:gd name="T8" fmla="*/ 2147483647 w 97"/>
                <a:gd name="T9" fmla="*/ 2147483647 h 90"/>
                <a:gd name="T10" fmla="*/ 2147483647 w 97"/>
                <a:gd name="T11" fmla="*/ 2147483647 h 90"/>
                <a:gd name="T12" fmla="*/ 2147483647 w 97"/>
                <a:gd name="T13" fmla="*/ 2147483647 h 90"/>
                <a:gd name="T14" fmla="*/ 0 w 97"/>
                <a:gd name="T15" fmla="*/ 2147483647 h 90"/>
                <a:gd name="T16" fmla="*/ 2147483647 w 97"/>
                <a:gd name="T17" fmla="*/ 2147483647 h 90"/>
                <a:gd name="T18" fmla="*/ 2147483647 w 97"/>
                <a:gd name="T19" fmla="*/ 2147483647 h 90"/>
                <a:gd name="T20" fmla="*/ 2147483647 w 97"/>
                <a:gd name="T21" fmla="*/ 2147483647 h 90"/>
                <a:gd name="T22" fmla="*/ 2147483647 w 97"/>
                <a:gd name="T23" fmla="*/ 2147483647 h 90"/>
                <a:gd name="T24" fmla="*/ 2147483647 w 97"/>
                <a:gd name="T25" fmla="*/ 2147483647 h 90"/>
                <a:gd name="T26" fmla="*/ 2147483647 w 97"/>
                <a:gd name="T27" fmla="*/ 2147483647 h 90"/>
                <a:gd name="T28" fmla="*/ 2147483647 w 97"/>
                <a:gd name="T29" fmla="*/ 2147483647 h 90"/>
                <a:gd name="T30" fmla="*/ 2147483647 w 97"/>
                <a:gd name="T31" fmla="*/ 2147483647 h 90"/>
                <a:gd name="T32" fmla="*/ 2147483647 w 97"/>
                <a:gd name="T33" fmla="*/ 2147483647 h 90"/>
                <a:gd name="T34" fmla="*/ 2147483647 w 97"/>
                <a:gd name="T35" fmla="*/ 2147483647 h 90"/>
                <a:gd name="T36" fmla="*/ 2147483647 w 97"/>
                <a:gd name="T37" fmla="*/ 2147483647 h 90"/>
                <a:gd name="T38" fmla="*/ 2147483647 w 97"/>
                <a:gd name="T39" fmla="*/ 2147483647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path>
              </a:pathLst>
            </a:custGeom>
            <a:grpFill/>
            <a:ln w="9525">
              <a:solidFill>
                <a:schemeClr val="bg2">
                  <a:lumMod val="50000"/>
                </a:schemeClr>
              </a:solidFill>
              <a:round/>
              <a:headEnd/>
              <a:tailEnd/>
            </a:ln>
          </p:spPr>
          <p:txBody>
            <a:bodyPr/>
            <a:lstStyle/>
            <a:p>
              <a:endParaRPr lang="en-US" dirty="0"/>
            </a:p>
          </p:txBody>
        </p:sp>
        <p:sp>
          <p:nvSpPr>
            <p:cNvPr id="54" name="Freeform 288"/>
            <p:cNvSpPr>
              <a:spLocks/>
            </p:cNvSpPr>
            <p:nvPr/>
          </p:nvSpPr>
          <p:spPr bwMode="gray">
            <a:xfrm>
              <a:off x="6015751" y="3608152"/>
              <a:ext cx="100306" cy="62775"/>
            </a:xfrm>
            <a:custGeom>
              <a:avLst/>
              <a:gdLst>
                <a:gd name="T0" fmla="*/ 2147483647 w 90"/>
                <a:gd name="T1" fmla="*/ 2147483647 h 60"/>
                <a:gd name="T2" fmla="*/ 2147483647 w 90"/>
                <a:gd name="T3" fmla="*/ 2147483647 h 60"/>
                <a:gd name="T4" fmla="*/ 2147483647 w 90"/>
                <a:gd name="T5" fmla="*/ 2147483647 h 60"/>
                <a:gd name="T6" fmla="*/ 2147483647 w 90"/>
                <a:gd name="T7" fmla="*/ 2147483647 h 60"/>
                <a:gd name="T8" fmla="*/ 2147483647 w 90"/>
                <a:gd name="T9" fmla="*/ 0 h 60"/>
                <a:gd name="T10" fmla="*/ 2147483647 w 90"/>
                <a:gd name="T11" fmla="*/ 2147483647 h 60"/>
                <a:gd name="T12" fmla="*/ 2147483647 w 90"/>
                <a:gd name="T13" fmla="*/ 2147483647 h 60"/>
                <a:gd name="T14" fmla="*/ 0 w 90"/>
                <a:gd name="T15" fmla="*/ 2147483647 h 60"/>
                <a:gd name="T16" fmla="*/ 2147483647 w 90"/>
                <a:gd name="T17" fmla="*/ 2147483647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0" h="60">
                  <a:moveTo>
                    <a:pt x="18" y="48"/>
                  </a:moveTo>
                  <a:lnTo>
                    <a:pt x="66" y="60"/>
                  </a:lnTo>
                  <a:lnTo>
                    <a:pt x="78" y="30"/>
                  </a:lnTo>
                  <a:lnTo>
                    <a:pt x="90" y="24"/>
                  </a:lnTo>
                  <a:lnTo>
                    <a:pt x="84" y="0"/>
                  </a:lnTo>
                  <a:lnTo>
                    <a:pt x="30" y="18"/>
                  </a:lnTo>
                  <a:lnTo>
                    <a:pt x="6" y="6"/>
                  </a:lnTo>
                  <a:lnTo>
                    <a:pt x="0" y="24"/>
                  </a:lnTo>
                  <a:lnTo>
                    <a:pt x="18" y="48"/>
                  </a:lnTo>
                  <a:close/>
                </a:path>
              </a:pathLst>
            </a:custGeom>
            <a:grpFill/>
            <a:ln w="9525">
              <a:solidFill>
                <a:schemeClr val="bg2">
                  <a:lumMod val="50000"/>
                </a:schemeClr>
              </a:solidFill>
              <a:round/>
              <a:headEnd/>
              <a:tailEnd/>
            </a:ln>
          </p:spPr>
          <p:txBody>
            <a:bodyPr/>
            <a:lstStyle/>
            <a:p>
              <a:endParaRPr lang="en-US" dirty="0"/>
            </a:p>
          </p:txBody>
        </p:sp>
        <p:sp>
          <p:nvSpPr>
            <p:cNvPr id="55" name="Freeform 289"/>
            <p:cNvSpPr>
              <a:spLocks/>
            </p:cNvSpPr>
            <p:nvPr/>
          </p:nvSpPr>
          <p:spPr bwMode="gray">
            <a:xfrm>
              <a:off x="6030462" y="3632493"/>
              <a:ext cx="157814" cy="175516"/>
            </a:xfrm>
            <a:custGeom>
              <a:avLst/>
              <a:gdLst>
                <a:gd name="T0" fmla="*/ 2147483647 w 24"/>
                <a:gd name="T1" fmla="*/ 2147483647 h 28"/>
                <a:gd name="T2" fmla="*/ 2147483647 w 24"/>
                <a:gd name="T3" fmla="*/ 2147483647 h 28"/>
                <a:gd name="T4" fmla="*/ 2147483647 w 24"/>
                <a:gd name="T5" fmla="*/ 2147483647 h 28"/>
                <a:gd name="T6" fmla="*/ 2147483647 w 24"/>
                <a:gd name="T7" fmla="*/ 2147483647 h 28"/>
                <a:gd name="T8" fmla="*/ 0 w 24"/>
                <a:gd name="T9" fmla="*/ 2147483647 h 28"/>
                <a:gd name="T10" fmla="*/ 2147483647 w 24"/>
                <a:gd name="T11" fmla="*/ 2147483647 h 28"/>
                <a:gd name="T12" fmla="*/ 2147483647 w 24"/>
                <a:gd name="T13" fmla="*/ 2147483647 h 28"/>
                <a:gd name="T14" fmla="*/ 2147483647 w 24"/>
                <a:gd name="T15" fmla="*/ 2147483647 h 28"/>
                <a:gd name="T16" fmla="*/ 2147483647 w 24"/>
                <a:gd name="T17" fmla="*/ 2147483647 h 28"/>
                <a:gd name="T18" fmla="*/ 2147483647 w 24"/>
                <a:gd name="T19" fmla="*/ 2147483647 h 28"/>
                <a:gd name="T20" fmla="*/ 2147483647 w 24"/>
                <a:gd name="T21" fmla="*/ 2147483647 h 28"/>
                <a:gd name="T22" fmla="*/ 2147483647 w 24"/>
                <a:gd name="T23" fmla="*/ 2147483647 h 28"/>
                <a:gd name="T24" fmla="*/ 2147483647 w 24"/>
                <a:gd name="T25" fmla="*/ 0 h 28"/>
                <a:gd name="T26" fmla="*/ 2147483647 w 24"/>
                <a:gd name="T27" fmla="*/ 0 h 28"/>
                <a:gd name="T28" fmla="*/ 2147483647 w 24"/>
                <a:gd name="T29" fmla="*/ 2147483647 h 28"/>
                <a:gd name="T30" fmla="*/ 2147483647 w 24"/>
                <a:gd name="T31" fmla="*/ 2147483647 h 2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28">
                  <a:moveTo>
                    <a:pt x="9" y="6"/>
                  </a:moveTo>
                  <a:cubicBezTo>
                    <a:pt x="10" y="6"/>
                    <a:pt x="10" y="6"/>
                    <a:pt x="10" y="6"/>
                  </a:cubicBezTo>
                  <a:cubicBezTo>
                    <a:pt x="9" y="13"/>
                    <a:pt x="9" y="13"/>
                    <a:pt x="9" y="13"/>
                  </a:cubicBezTo>
                  <a:cubicBezTo>
                    <a:pt x="4" y="17"/>
                    <a:pt x="4" y="17"/>
                    <a:pt x="4" y="17"/>
                  </a:cubicBezTo>
                  <a:cubicBezTo>
                    <a:pt x="4" y="17"/>
                    <a:pt x="3" y="18"/>
                    <a:pt x="0" y="18"/>
                  </a:cubicBezTo>
                  <a:cubicBezTo>
                    <a:pt x="1" y="21"/>
                    <a:pt x="1" y="21"/>
                    <a:pt x="1" y="21"/>
                  </a:cubicBezTo>
                  <a:cubicBezTo>
                    <a:pt x="4" y="28"/>
                    <a:pt x="4" y="28"/>
                    <a:pt x="4" y="28"/>
                  </a:cubicBezTo>
                  <a:cubicBezTo>
                    <a:pt x="11" y="23"/>
                    <a:pt x="11" y="23"/>
                    <a:pt x="11" y="23"/>
                  </a:cubicBezTo>
                  <a:cubicBezTo>
                    <a:pt x="17" y="15"/>
                    <a:pt x="17" y="15"/>
                    <a:pt x="17" y="15"/>
                  </a:cubicBezTo>
                  <a:cubicBezTo>
                    <a:pt x="20" y="11"/>
                    <a:pt x="20" y="11"/>
                    <a:pt x="20" y="11"/>
                  </a:cubicBezTo>
                  <a:cubicBezTo>
                    <a:pt x="24" y="7"/>
                    <a:pt x="24" y="7"/>
                    <a:pt x="24" y="7"/>
                  </a:cubicBezTo>
                  <a:cubicBezTo>
                    <a:pt x="16" y="1"/>
                    <a:pt x="16" y="1"/>
                    <a:pt x="16" y="1"/>
                  </a:cubicBezTo>
                  <a:cubicBezTo>
                    <a:pt x="13" y="0"/>
                    <a:pt x="13" y="0"/>
                    <a:pt x="13" y="0"/>
                  </a:cubicBezTo>
                  <a:cubicBezTo>
                    <a:pt x="13" y="0"/>
                    <a:pt x="13" y="0"/>
                    <a:pt x="13" y="0"/>
                  </a:cubicBezTo>
                  <a:cubicBezTo>
                    <a:pt x="11" y="1"/>
                    <a:pt x="11" y="1"/>
                    <a:pt x="11" y="1"/>
                  </a:cubicBezTo>
                  <a:lnTo>
                    <a:pt x="9" y="6"/>
                  </a:lnTo>
                  <a:close/>
                </a:path>
              </a:pathLst>
            </a:custGeom>
            <a:grpFill/>
            <a:ln w="9525">
              <a:solidFill>
                <a:schemeClr val="bg2">
                  <a:lumMod val="50000"/>
                </a:schemeClr>
              </a:solidFill>
              <a:round/>
              <a:headEnd/>
              <a:tailEnd/>
            </a:ln>
          </p:spPr>
          <p:txBody>
            <a:bodyPr/>
            <a:lstStyle/>
            <a:p>
              <a:endParaRPr lang="en-US" dirty="0"/>
            </a:p>
          </p:txBody>
        </p:sp>
        <p:sp>
          <p:nvSpPr>
            <p:cNvPr id="56" name="Freeform 290"/>
            <p:cNvSpPr>
              <a:spLocks/>
            </p:cNvSpPr>
            <p:nvPr/>
          </p:nvSpPr>
          <p:spPr bwMode="gray">
            <a:xfrm>
              <a:off x="5832525" y="3745233"/>
              <a:ext cx="223348" cy="133237"/>
            </a:xfrm>
            <a:custGeom>
              <a:avLst/>
              <a:gdLst>
                <a:gd name="T0" fmla="*/ 2147483647 w 34"/>
                <a:gd name="T1" fmla="*/ 0 h 21"/>
                <a:gd name="T2" fmla="*/ 2147483647 w 34"/>
                <a:gd name="T3" fmla="*/ 2147483647 h 21"/>
                <a:gd name="T4" fmla="*/ 2147483647 w 34"/>
                <a:gd name="T5" fmla="*/ 2147483647 h 21"/>
                <a:gd name="T6" fmla="*/ 2147483647 w 34"/>
                <a:gd name="T7" fmla="*/ 2147483647 h 21"/>
                <a:gd name="T8" fmla="*/ 0 w 34"/>
                <a:gd name="T9" fmla="*/ 2147483647 h 21"/>
                <a:gd name="T10" fmla="*/ 2147483647 w 34"/>
                <a:gd name="T11" fmla="*/ 2147483647 h 21"/>
                <a:gd name="T12" fmla="*/ 2147483647 w 34"/>
                <a:gd name="T13" fmla="*/ 2147483647 h 21"/>
                <a:gd name="T14" fmla="*/ 2147483647 w 34"/>
                <a:gd name="T15" fmla="*/ 2147483647 h 21"/>
                <a:gd name="T16" fmla="*/ 2147483647 w 34"/>
                <a:gd name="T17" fmla="*/ 2147483647 h 21"/>
                <a:gd name="T18" fmla="*/ 2147483647 w 34"/>
                <a:gd name="T19" fmla="*/ 2147483647 h 21"/>
                <a:gd name="T20" fmla="*/ 2147483647 w 34"/>
                <a:gd name="T21" fmla="*/ 2147483647 h 21"/>
                <a:gd name="T22" fmla="*/ 2147483647 w 34"/>
                <a:gd name="T23" fmla="*/ 2147483647 h 21"/>
                <a:gd name="T24" fmla="*/ 2147483647 w 34"/>
                <a:gd name="T25" fmla="*/ 2147483647 h 21"/>
                <a:gd name="T26" fmla="*/ 2147483647 w 34"/>
                <a:gd name="T27" fmla="*/ 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21">
                  <a:moveTo>
                    <a:pt x="30" y="0"/>
                  </a:moveTo>
                  <a:cubicBezTo>
                    <a:pt x="25" y="2"/>
                    <a:pt x="18" y="3"/>
                    <a:pt x="18" y="4"/>
                  </a:cubicBezTo>
                  <a:cubicBezTo>
                    <a:pt x="16" y="5"/>
                    <a:pt x="14" y="7"/>
                    <a:pt x="14" y="7"/>
                  </a:cubicBezTo>
                  <a:cubicBezTo>
                    <a:pt x="3" y="7"/>
                    <a:pt x="3" y="7"/>
                    <a:pt x="3" y="7"/>
                  </a:cubicBezTo>
                  <a:cubicBezTo>
                    <a:pt x="0" y="8"/>
                    <a:pt x="0" y="8"/>
                    <a:pt x="0" y="8"/>
                  </a:cubicBezTo>
                  <a:cubicBezTo>
                    <a:pt x="1" y="12"/>
                    <a:pt x="1" y="12"/>
                    <a:pt x="1" y="12"/>
                  </a:cubicBezTo>
                  <a:cubicBezTo>
                    <a:pt x="5" y="21"/>
                    <a:pt x="5" y="21"/>
                    <a:pt x="5" y="21"/>
                  </a:cubicBezTo>
                  <a:cubicBezTo>
                    <a:pt x="12" y="19"/>
                    <a:pt x="12" y="19"/>
                    <a:pt x="12" y="19"/>
                  </a:cubicBezTo>
                  <a:cubicBezTo>
                    <a:pt x="15" y="19"/>
                    <a:pt x="15" y="19"/>
                    <a:pt x="15" y="19"/>
                  </a:cubicBezTo>
                  <a:cubicBezTo>
                    <a:pt x="19" y="15"/>
                    <a:pt x="19" y="15"/>
                    <a:pt x="19" y="15"/>
                  </a:cubicBezTo>
                  <a:cubicBezTo>
                    <a:pt x="25" y="13"/>
                    <a:pt x="25" y="13"/>
                    <a:pt x="25" y="13"/>
                  </a:cubicBezTo>
                  <a:cubicBezTo>
                    <a:pt x="34" y="10"/>
                    <a:pt x="34" y="10"/>
                    <a:pt x="34" y="10"/>
                  </a:cubicBezTo>
                  <a:cubicBezTo>
                    <a:pt x="31" y="3"/>
                    <a:pt x="31" y="3"/>
                    <a:pt x="31" y="3"/>
                  </a:cubicBezTo>
                  <a:lnTo>
                    <a:pt x="30" y="0"/>
                  </a:lnTo>
                  <a:close/>
                </a:path>
              </a:pathLst>
            </a:custGeom>
            <a:grpFill/>
            <a:ln w="9525">
              <a:solidFill>
                <a:schemeClr val="bg2">
                  <a:lumMod val="50000"/>
                </a:schemeClr>
              </a:solidFill>
              <a:round/>
              <a:headEnd/>
              <a:tailEnd/>
            </a:ln>
          </p:spPr>
          <p:txBody>
            <a:bodyPr/>
            <a:lstStyle/>
            <a:p>
              <a:endParaRPr lang="en-US" dirty="0"/>
            </a:p>
          </p:txBody>
        </p:sp>
        <p:sp>
          <p:nvSpPr>
            <p:cNvPr id="57" name="Freeform 291"/>
            <p:cNvSpPr>
              <a:spLocks/>
            </p:cNvSpPr>
            <p:nvPr/>
          </p:nvSpPr>
          <p:spPr bwMode="gray">
            <a:xfrm>
              <a:off x="5674711" y="3455697"/>
              <a:ext cx="414597" cy="340782"/>
            </a:xfrm>
            <a:custGeom>
              <a:avLst/>
              <a:gdLst>
                <a:gd name="T0" fmla="*/ 2147483647 w 63"/>
                <a:gd name="T1" fmla="*/ 2147483647 h 54"/>
                <a:gd name="T2" fmla="*/ 2147483647 w 63"/>
                <a:gd name="T3" fmla="*/ 2147483647 h 54"/>
                <a:gd name="T4" fmla="*/ 2147483647 w 63"/>
                <a:gd name="T5" fmla="*/ 2147483647 h 54"/>
                <a:gd name="T6" fmla="*/ 2147483647 w 63"/>
                <a:gd name="T7" fmla="*/ 2147483647 h 54"/>
                <a:gd name="T8" fmla="*/ 2147483647 w 63"/>
                <a:gd name="T9" fmla="*/ 2147483647 h 54"/>
                <a:gd name="T10" fmla="*/ 2147483647 w 63"/>
                <a:gd name="T11" fmla="*/ 2147483647 h 54"/>
                <a:gd name="T12" fmla="*/ 2147483647 w 63"/>
                <a:gd name="T13" fmla="*/ 2147483647 h 54"/>
                <a:gd name="T14" fmla="*/ 2147483647 w 63"/>
                <a:gd name="T15" fmla="*/ 2147483647 h 54"/>
                <a:gd name="T16" fmla="*/ 2147483647 w 63"/>
                <a:gd name="T17" fmla="*/ 2147483647 h 54"/>
                <a:gd name="T18" fmla="*/ 2147483647 w 63"/>
                <a:gd name="T19" fmla="*/ 2147483647 h 54"/>
                <a:gd name="T20" fmla="*/ 2147483647 w 63"/>
                <a:gd name="T21" fmla="*/ 2147483647 h 54"/>
                <a:gd name="T22" fmla="*/ 2147483647 w 63"/>
                <a:gd name="T23" fmla="*/ 2147483647 h 54"/>
                <a:gd name="T24" fmla="*/ 2147483647 w 63"/>
                <a:gd name="T25" fmla="*/ 2147483647 h 54"/>
                <a:gd name="T26" fmla="*/ 2147483647 w 63"/>
                <a:gd name="T27" fmla="*/ 2147483647 h 54"/>
                <a:gd name="T28" fmla="*/ 2147483647 w 63"/>
                <a:gd name="T29" fmla="*/ 0 h 54"/>
                <a:gd name="T30" fmla="*/ 2147483647 w 63"/>
                <a:gd name="T31" fmla="*/ 0 h 54"/>
                <a:gd name="T32" fmla="*/ 2147483647 w 63"/>
                <a:gd name="T33" fmla="*/ 2147483647 h 54"/>
                <a:gd name="T34" fmla="*/ 2147483647 w 63"/>
                <a:gd name="T35" fmla="*/ 2147483647 h 54"/>
                <a:gd name="T36" fmla="*/ 2147483647 w 63"/>
                <a:gd name="T37" fmla="*/ 2147483647 h 54"/>
                <a:gd name="T38" fmla="*/ 2147483647 w 63"/>
                <a:gd name="T39" fmla="*/ 2147483647 h 54"/>
                <a:gd name="T40" fmla="*/ 2147483647 w 63"/>
                <a:gd name="T41" fmla="*/ 2147483647 h 54"/>
                <a:gd name="T42" fmla="*/ 2147483647 w 63"/>
                <a:gd name="T43" fmla="*/ 2147483647 h 54"/>
                <a:gd name="T44" fmla="*/ 0 w 63"/>
                <a:gd name="T45" fmla="*/ 2147483647 h 54"/>
                <a:gd name="T46" fmla="*/ 2147483647 w 63"/>
                <a:gd name="T47" fmla="*/ 2147483647 h 54"/>
                <a:gd name="T48" fmla="*/ 2147483647 w 63"/>
                <a:gd name="T49" fmla="*/ 2147483647 h 54"/>
                <a:gd name="T50" fmla="*/ 2147483647 w 63"/>
                <a:gd name="T51" fmla="*/ 2147483647 h 54"/>
                <a:gd name="T52" fmla="*/ 2147483647 w 63"/>
                <a:gd name="T53" fmla="*/ 2147483647 h 54"/>
                <a:gd name="T54" fmla="*/ 2147483647 w 63"/>
                <a:gd name="T55" fmla="*/ 2147483647 h 54"/>
                <a:gd name="T56" fmla="*/ 2147483647 w 63"/>
                <a:gd name="T57" fmla="*/ 2147483647 h 54"/>
                <a:gd name="T58" fmla="*/ 2147483647 w 63"/>
                <a:gd name="T59" fmla="*/ 2147483647 h 54"/>
                <a:gd name="T60" fmla="*/ 2147483647 w 63"/>
                <a:gd name="T61" fmla="*/ 2147483647 h 54"/>
                <a:gd name="T62" fmla="*/ 2147483647 w 63"/>
                <a:gd name="T63" fmla="*/ 2147483647 h 54"/>
                <a:gd name="T64" fmla="*/ 2147483647 w 63"/>
                <a:gd name="T65" fmla="*/ 2147483647 h 54"/>
                <a:gd name="T66" fmla="*/ 2147483647 w 63"/>
                <a:gd name="T67" fmla="*/ 2147483647 h 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3" h="54">
                  <a:moveTo>
                    <a:pt x="63" y="34"/>
                  </a:moveTo>
                  <a:cubicBezTo>
                    <a:pt x="55" y="32"/>
                    <a:pt x="55" y="32"/>
                    <a:pt x="55" y="32"/>
                  </a:cubicBezTo>
                  <a:cubicBezTo>
                    <a:pt x="52" y="28"/>
                    <a:pt x="52" y="28"/>
                    <a:pt x="52" y="28"/>
                  </a:cubicBezTo>
                  <a:cubicBezTo>
                    <a:pt x="53" y="25"/>
                    <a:pt x="53" y="25"/>
                    <a:pt x="53" y="25"/>
                  </a:cubicBezTo>
                  <a:cubicBezTo>
                    <a:pt x="52" y="25"/>
                    <a:pt x="52" y="25"/>
                    <a:pt x="52" y="25"/>
                  </a:cubicBezTo>
                  <a:cubicBezTo>
                    <a:pt x="48" y="23"/>
                    <a:pt x="48" y="23"/>
                    <a:pt x="48" y="23"/>
                  </a:cubicBezTo>
                  <a:cubicBezTo>
                    <a:pt x="46" y="17"/>
                    <a:pt x="46" y="17"/>
                    <a:pt x="46" y="17"/>
                  </a:cubicBezTo>
                  <a:cubicBezTo>
                    <a:pt x="42" y="13"/>
                    <a:pt x="42" y="13"/>
                    <a:pt x="42" y="13"/>
                  </a:cubicBezTo>
                  <a:cubicBezTo>
                    <a:pt x="42" y="12"/>
                    <a:pt x="42" y="12"/>
                    <a:pt x="42" y="12"/>
                  </a:cubicBezTo>
                  <a:cubicBezTo>
                    <a:pt x="39" y="12"/>
                    <a:pt x="39" y="12"/>
                    <a:pt x="39" y="12"/>
                  </a:cubicBezTo>
                  <a:cubicBezTo>
                    <a:pt x="36" y="10"/>
                    <a:pt x="36" y="10"/>
                    <a:pt x="36" y="10"/>
                  </a:cubicBezTo>
                  <a:cubicBezTo>
                    <a:pt x="28" y="9"/>
                    <a:pt x="28" y="9"/>
                    <a:pt x="28" y="9"/>
                  </a:cubicBezTo>
                  <a:cubicBezTo>
                    <a:pt x="25" y="6"/>
                    <a:pt x="25" y="6"/>
                    <a:pt x="25" y="6"/>
                  </a:cubicBezTo>
                  <a:cubicBezTo>
                    <a:pt x="15" y="1"/>
                    <a:pt x="15" y="1"/>
                    <a:pt x="15" y="1"/>
                  </a:cubicBezTo>
                  <a:cubicBezTo>
                    <a:pt x="11" y="0"/>
                    <a:pt x="11" y="0"/>
                    <a:pt x="11" y="0"/>
                  </a:cubicBezTo>
                  <a:cubicBezTo>
                    <a:pt x="12" y="0"/>
                    <a:pt x="12" y="0"/>
                    <a:pt x="12" y="0"/>
                  </a:cubicBezTo>
                  <a:cubicBezTo>
                    <a:pt x="10" y="1"/>
                    <a:pt x="10" y="1"/>
                    <a:pt x="10" y="1"/>
                  </a:cubicBezTo>
                  <a:cubicBezTo>
                    <a:pt x="6" y="2"/>
                    <a:pt x="6" y="2"/>
                    <a:pt x="6" y="2"/>
                  </a:cubicBezTo>
                  <a:cubicBezTo>
                    <a:pt x="8" y="7"/>
                    <a:pt x="8" y="7"/>
                    <a:pt x="8" y="7"/>
                  </a:cubicBezTo>
                  <a:cubicBezTo>
                    <a:pt x="7" y="9"/>
                    <a:pt x="7" y="9"/>
                    <a:pt x="7" y="9"/>
                  </a:cubicBezTo>
                  <a:cubicBezTo>
                    <a:pt x="4" y="9"/>
                    <a:pt x="4" y="9"/>
                    <a:pt x="4" y="9"/>
                  </a:cubicBezTo>
                  <a:cubicBezTo>
                    <a:pt x="2" y="11"/>
                    <a:pt x="2" y="11"/>
                    <a:pt x="2" y="11"/>
                  </a:cubicBezTo>
                  <a:cubicBezTo>
                    <a:pt x="0" y="11"/>
                    <a:pt x="0" y="11"/>
                    <a:pt x="0" y="11"/>
                  </a:cubicBezTo>
                  <a:cubicBezTo>
                    <a:pt x="2" y="15"/>
                    <a:pt x="2" y="15"/>
                    <a:pt x="2" y="15"/>
                  </a:cubicBezTo>
                  <a:cubicBezTo>
                    <a:pt x="9" y="29"/>
                    <a:pt x="9" y="29"/>
                    <a:pt x="9" y="29"/>
                  </a:cubicBezTo>
                  <a:cubicBezTo>
                    <a:pt x="13" y="33"/>
                    <a:pt x="13" y="33"/>
                    <a:pt x="13" y="33"/>
                  </a:cubicBezTo>
                  <a:cubicBezTo>
                    <a:pt x="15" y="39"/>
                    <a:pt x="15" y="39"/>
                    <a:pt x="15" y="39"/>
                  </a:cubicBezTo>
                  <a:cubicBezTo>
                    <a:pt x="17" y="46"/>
                    <a:pt x="17" y="46"/>
                    <a:pt x="17" y="46"/>
                  </a:cubicBezTo>
                  <a:cubicBezTo>
                    <a:pt x="24" y="53"/>
                    <a:pt x="24" y="53"/>
                    <a:pt x="24" y="53"/>
                  </a:cubicBezTo>
                  <a:cubicBezTo>
                    <a:pt x="24" y="54"/>
                    <a:pt x="24" y="54"/>
                    <a:pt x="24" y="54"/>
                  </a:cubicBezTo>
                  <a:cubicBezTo>
                    <a:pt x="27" y="53"/>
                    <a:pt x="27" y="53"/>
                    <a:pt x="27" y="53"/>
                  </a:cubicBezTo>
                  <a:cubicBezTo>
                    <a:pt x="38" y="53"/>
                    <a:pt x="38" y="53"/>
                    <a:pt x="38" y="53"/>
                  </a:cubicBezTo>
                  <a:cubicBezTo>
                    <a:pt x="38" y="53"/>
                    <a:pt x="40" y="51"/>
                    <a:pt x="42" y="50"/>
                  </a:cubicBezTo>
                  <a:cubicBezTo>
                    <a:pt x="42" y="49"/>
                    <a:pt x="49" y="48"/>
                    <a:pt x="54" y="46"/>
                  </a:cubicBezTo>
                </a:path>
              </a:pathLst>
            </a:custGeom>
            <a:grpFill/>
            <a:ln w="9525">
              <a:solidFill>
                <a:schemeClr val="bg2">
                  <a:lumMod val="50000"/>
                </a:schemeClr>
              </a:solidFill>
              <a:round/>
              <a:headEnd/>
              <a:tailEnd/>
            </a:ln>
          </p:spPr>
          <p:txBody>
            <a:bodyPr/>
            <a:lstStyle/>
            <a:p>
              <a:endParaRPr lang="en-US" dirty="0"/>
            </a:p>
          </p:txBody>
        </p:sp>
        <p:sp>
          <p:nvSpPr>
            <p:cNvPr id="58" name="Freeform 292"/>
            <p:cNvSpPr>
              <a:spLocks/>
            </p:cNvSpPr>
            <p:nvPr/>
          </p:nvSpPr>
          <p:spPr bwMode="gray">
            <a:xfrm>
              <a:off x="6030462" y="3670927"/>
              <a:ext cx="65534" cy="74305"/>
            </a:xfrm>
            <a:custGeom>
              <a:avLst/>
              <a:gdLst>
                <a:gd name="T0" fmla="*/ 0 w 10"/>
                <a:gd name="T1" fmla="*/ 2147483647 h 12"/>
                <a:gd name="T2" fmla="*/ 2147483647 w 10"/>
                <a:gd name="T3" fmla="*/ 2147483647 h 12"/>
                <a:gd name="T4" fmla="*/ 2147483647 w 10"/>
                <a:gd name="T5" fmla="*/ 2147483647 h 12"/>
                <a:gd name="T6" fmla="*/ 2147483647 w 10"/>
                <a:gd name="T7" fmla="*/ 0 h 12"/>
                <a:gd name="T8" fmla="*/ 2147483647 w 10"/>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2">
                  <a:moveTo>
                    <a:pt x="0" y="12"/>
                  </a:moveTo>
                  <a:cubicBezTo>
                    <a:pt x="3" y="12"/>
                    <a:pt x="4" y="11"/>
                    <a:pt x="4" y="11"/>
                  </a:cubicBezTo>
                  <a:cubicBezTo>
                    <a:pt x="9" y="7"/>
                    <a:pt x="9" y="7"/>
                    <a:pt x="9" y="7"/>
                  </a:cubicBezTo>
                  <a:cubicBezTo>
                    <a:pt x="10" y="0"/>
                    <a:pt x="10" y="0"/>
                    <a:pt x="10" y="0"/>
                  </a:cubicBezTo>
                  <a:cubicBezTo>
                    <a:pt x="9" y="0"/>
                    <a:pt x="9" y="0"/>
                    <a:pt x="9" y="0"/>
                  </a:cubicBezTo>
                </a:path>
              </a:pathLst>
            </a:custGeom>
            <a:grpFill/>
            <a:ln w="9525">
              <a:solidFill>
                <a:schemeClr val="bg2">
                  <a:lumMod val="50000"/>
                </a:schemeClr>
              </a:solidFill>
              <a:round/>
              <a:headEnd/>
              <a:tailEnd/>
            </a:ln>
          </p:spPr>
          <p:txBody>
            <a:bodyPr/>
            <a:lstStyle/>
            <a:p>
              <a:endParaRPr lang="en-US" dirty="0"/>
            </a:p>
          </p:txBody>
        </p:sp>
        <p:sp>
          <p:nvSpPr>
            <p:cNvPr id="59" name="Freeform 293"/>
            <p:cNvSpPr>
              <a:spLocks/>
            </p:cNvSpPr>
            <p:nvPr/>
          </p:nvSpPr>
          <p:spPr bwMode="gray">
            <a:xfrm>
              <a:off x="5745595" y="3330146"/>
              <a:ext cx="209973" cy="202419"/>
            </a:xfrm>
            <a:custGeom>
              <a:avLst/>
              <a:gdLst>
                <a:gd name="T0" fmla="*/ 2147483647 w 192"/>
                <a:gd name="T1" fmla="*/ 2147483647 h 192"/>
                <a:gd name="T2" fmla="*/ 2147483647 w 192"/>
                <a:gd name="T3" fmla="*/ 2147483647 h 192"/>
                <a:gd name="T4" fmla="*/ 2147483647 w 192"/>
                <a:gd name="T5" fmla="*/ 2147483647 h 192"/>
                <a:gd name="T6" fmla="*/ 2147483647 w 192"/>
                <a:gd name="T7" fmla="*/ 2147483647 h 192"/>
                <a:gd name="T8" fmla="*/ 2147483647 w 192"/>
                <a:gd name="T9" fmla="*/ 2147483647 h 192"/>
                <a:gd name="T10" fmla="*/ 2147483647 w 192"/>
                <a:gd name="T11" fmla="*/ 0 h 192"/>
                <a:gd name="T12" fmla="*/ 2147483647 w 192"/>
                <a:gd name="T13" fmla="*/ 2147483647 h 192"/>
                <a:gd name="T14" fmla="*/ 2147483647 w 192"/>
                <a:gd name="T15" fmla="*/ 2147483647 h 192"/>
                <a:gd name="T16" fmla="*/ 2147483647 w 192"/>
                <a:gd name="T17" fmla="*/ 2147483647 h 192"/>
                <a:gd name="T18" fmla="*/ 2147483647 w 192"/>
                <a:gd name="T19" fmla="*/ 2147483647 h 192"/>
                <a:gd name="T20" fmla="*/ 2147483647 w 192"/>
                <a:gd name="T21" fmla="*/ 2147483647 h 192"/>
                <a:gd name="T22" fmla="*/ 0 w 192"/>
                <a:gd name="T23" fmla="*/ 2147483647 h 192"/>
                <a:gd name="T24" fmla="*/ 0 w 192"/>
                <a:gd name="T25" fmla="*/ 2147483647 h 192"/>
                <a:gd name="T26" fmla="*/ 2147483647 w 192"/>
                <a:gd name="T27" fmla="*/ 2147483647 h 192"/>
                <a:gd name="T28" fmla="*/ 2147483647 w 192"/>
                <a:gd name="T29" fmla="*/ 2147483647 h 192"/>
                <a:gd name="T30" fmla="*/ 2147483647 w 192"/>
                <a:gd name="T31" fmla="*/ 2147483647 h 192"/>
                <a:gd name="T32" fmla="*/ 2147483647 w 192"/>
                <a:gd name="T33" fmla="*/ 2147483647 h 192"/>
                <a:gd name="T34" fmla="*/ 2147483647 w 192"/>
                <a:gd name="T35" fmla="*/ 2147483647 h 192"/>
                <a:gd name="T36" fmla="*/ 2147483647 w 192"/>
                <a:gd name="T37" fmla="*/ 2147483647 h 192"/>
                <a:gd name="T38" fmla="*/ 2147483647 w 192"/>
                <a:gd name="T39" fmla="*/ 2147483647 h 192"/>
                <a:gd name="T40" fmla="*/ 2147483647 w 192"/>
                <a:gd name="T41" fmla="*/ 2147483647 h 192"/>
                <a:gd name="T42" fmla="*/ 2147483647 w 192"/>
                <a:gd name="T43" fmla="*/ 2147483647 h 192"/>
                <a:gd name="T44" fmla="*/ 2147483647 w 192"/>
                <a:gd name="T45" fmla="*/ 2147483647 h 1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92" h="192">
                  <a:moveTo>
                    <a:pt x="168" y="120"/>
                  </a:moveTo>
                  <a:lnTo>
                    <a:pt x="132" y="90"/>
                  </a:lnTo>
                  <a:lnTo>
                    <a:pt x="132" y="66"/>
                  </a:lnTo>
                  <a:lnTo>
                    <a:pt x="138" y="42"/>
                  </a:lnTo>
                  <a:lnTo>
                    <a:pt x="114" y="6"/>
                  </a:lnTo>
                  <a:lnTo>
                    <a:pt x="102" y="0"/>
                  </a:lnTo>
                  <a:lnTo>
                    <a:pt x="72" y="6"/>
                  </a:lnTo>
                  <a:lnTo>
                    <a:pt x="66" y="6"/>
                  </a:lnTo>
                  <a:lnTo>
                    <a:pt x="66" y="12"/>
                  </a:lnTo>
                  <a:lnTo>
                    <a:pt x="54" y="30"/>
                  </a:lnTo>
                  <a:lnTo>
                    <a:pt x="42" y="72"/>
                  </a:lnTo>
                  <a:lnTo>
                    <a:pt x="0" y="96"/>
                  </a:lnTo>
                  <a:lnTo>
                    <a:pt x="0" y="120"/>
                  </a:lnTo>
                  <a:lnTo>
                    <a:pt x="24" y="126"/>
                  </a:lnTo>
                  <a:lnTo>
                    <a:pt x="84" y="156"/>
                  </a:lnTo>
                  <a:lnTo>
                    <a:pt x="102" y="174"/>
                  </a:lnTo>
                  <a:lnTo>
                    <a:pt x="150" y="180"/>
                  </a:lnTo>
                  <a:lnTo>
                    <a:pt x="168" y="192"/>
                  </a:lnTo>
                  <a:lnTo>
                    <a:pt x="186" y="192"/>
                  </a:lnTo>
                  <a:lnTo>
                    <a:pt x="180" y="180"/>
                  </a:lnTo>
                  <a:lnTo>
                    <a:pt x="192" y="174"/>
                  </a:lnTo>
                  <a:lnTo>
                    <a:pt x="180" y="150"/>
                  </a:lnTo>
                  <a:lnTo>
                    <a:pt x="168" y="120"/>
                  </a:lnTo>
                  <a:close/>
                </a:path>
              </a:pathLst>
            </a:custGeom>
            <a:grpFill/>
            <a:ln w="9525">
              <a:solidFill>
                <a:schemeClr val="bg2">
                  <a:lumMod val="50000"/>
                </a:schemeClr>
              </a:solidFill>
              <a:round/>
              <a:headEnd/>
              <a:tailEnd/>
            </a:ln>
          </p:spPr>
          <p:txBody>
            <a:bodyPr/>
            <a:lstStyle/>
            <a:p>
              <a:endParaRPr lang="en-US" dirty="0"/>
            </a:p>
          </p:txBody>
        </p:sp>
        <p:sp>
          <p:nvSpPr>
            <p:cNvPr id="60" name="Freeform 294"/>
            <p:cNvSpPr>
              <a:spLocks/>
            </p:cNvSpPr>
            <p:nvPr/>
          </p:nvSpPr>
          <p:spPr bwMode="gray">
            <a:xfrm>
              <a:off x="5865961" y="3275057"/>
              <a:ext cx="395874" cy="344625"/>
            </a:xfrm>
            <a:custGeom>
              <a:avLst/>
              <a:gdLst>
                <a:gd name="T0" fmla="*/ 2147483647 w 60"/>
                <a:gd name="T1" fmla="*/ 2147483647 h 55"/>
                <a:gd name="T2" fmla="*/ 2147483647 w 60"/>
                <a:gd name="T3" fmla="*/ 2147483647 h 55"/>
                <a:gd name="T4" fmla="*/ 2147483647 w 60"/>
                <a:gd name="T5" fmla="*/ 2147483647 h 55"/>
                <a:gd name="T6" fmla="*/ 2147483647 w 60"/>
                <a:gd name="T7" fmla="*/ 2147483647 h 55"/>
                <a:gd name="T8" fmla="*/ 2147483647 w 60"/>
                <a:gd name="T9" fmla="*/ 2147483647 h 55"/>
                <a:gd name="T10" fmla="*/ 2147483647 w 60"/>
                <a:gd name="T11" fmla="*/ 2147483647 h 55"/>
                <a:gd name="T12" fmla="*/ 2147483647 w 60"/>
                <a:gd name="T13" fmla="*/ 2147483647 h 55"/>
                <a:gd name="T14" fmla="*/ 2147483647 w 60"/>
                <a:gd name="T15" fmla="*/ 2147483647 h 55"/>
                <a:gd name="T16" fmla="*/ 2147483647 w 60"/>
                <a:gd name="T17" fmla="*/ 2147483647 h 55"/>
                <a:gd name="T18" fmla="*/ 2147483647 w 60"/>
                <a:gd name="T19" fmla="*/ 2147483647 h 55"/>
                <a:gd name="T20" fmla="*/ 2147483647 w 60"/>
                <a:gd name="T21" fmla="*/ 2147483647 h 55"/>
                <a:gd name="T22" fmla="*/ 2147483647 w 60"/>
                <a:gd name="T23" fmla="*/ 2147483647 h 55"/>
                <a:gd name="T24" fmla="*/ 2147483647 w 60"/>
                <a:gd name="T25" fmla="*/ 2147483647 h 55"/>
                <a:gd name="T26" fmla="*/ 2147483647 w 60"/>
                <a:gd name="T27" fmla="*/ 2147483647 h 55"/>
                <a:gd name="T28" fmla="*/ 2147483647 w 60"/>
                <a:gd name="T29" fmla="*/ 2147483647 h 55"/>
                <a:gd name="T30" fmla="*/ 2147483647 w 60"/>
                <a:gd name="T31" fmla="*/ 2147483647 h 55"/>
                <a:gd name="T32" fmla="*/ 2147483647 w 60"/>
                <a:gd name="T33" fmla="*/ 2147483647 h 55"/>
                <a:gd name="T34" fmla="*/ 2147483647 w 60"/>
                <a:gd name="T35" fmla="*/ 2147483647 h 55"/>
                <a:gd name="T36" fmla="*/ 2147483647 w 60"/>
                <a:gd name="T37" fmla="*/ 2147483647 h 55"/>
                <a:gd name="T38" fmla="*/ 2147483647 w 60"/>
                <a:gd name="T39" fmla="*/ 2147483647 h 55"/>
                <a:gd name="T40" fmla="*/ 2147483647 w 60"/>
                <a:gd name="T41" fmla="*/ 0 h 55"/>
                <a:gd name="T42" fmla="*/ 2147483647 w 60"/>
                <a:gd name="T43" fmla="*/ 2147483647 h 55"/>
                <a:gd name="T44" fmla="*/ 2147483647 w 60"/>
                <a:gd name="T45" fmla="*/ 2147483647 h 55"/>
                <a:gd name="T46" fmla="*/ 0 w 60"/>
                <a:gd name="T47" fmla="*/ 0 h 55"/>
                <a:gd name="T48" fmla="*/ 0 w 60"/>
                <a:gd name="T49" fmla="*/ 0 h 55"/>
                <a:gd name="T50" fmla="*/ 0 w 60"/>
                <a:gd name="T51" fmla="*/ 2147483647 h 55"/>
                <a:gd name="T52" fmla="*/ 2147483647 w 60"/>
                <a:gd name="T53" fmla="*/ 2147483647 h 55"/>
                <a:gd name="T54" fmla="*/ 2147483647 w 60"/>
                <a:gd name="T55" fmla="*/ 2147483647 h 55"/>
                <a:gd name="T56" fmla="*/ 2147483647 w 60"/>
                <a:gd name="T57" fmla="*/ 2147483647 h 55"/>
                <a:gd name="T58" fmla="*/ 2147483647 w 60"/>
                <a:gd name="T59" fmla="*/ 2147483647 h 55"/>
                <a:gd name="T60" fmla="*/ 2147483647 w 60"/>
                <a:gd name="T61" fmla="*/ 2147483647 h 55"/>
                <a:gd name="T62" fmla="*/ 2147483647 w 60"/>
                <a:gd name="T63" fmla="*/ 2147483647 h 55"/>
                <a:gd name="T64" fmla="*/ 2147483647 w 60"/>
                <a:gd name="T65" fmla="*/ 2147483647 h 55"/>
                <a:gd name="T66" fmla="*/ 2147483647 w 60"/>
                <a:gd name="T67" fmla="*/ 2147483647 h 55"/>
                <a:gd name="T68" fmla="*/ 2147483647 w 60"/>
                <a:gd name="T69" fmla="*/ 2147483647 h 55"/>
                <a:gd name="T70" fmla="*/ 2147483647 w 60"/>
                <a:gd name="T71" fmla="*/ 2147483647 h 55"/>
                <a:gd name="T72" fmla="*/ 2147483647 w 60"/>
                <a:gd name="T73" fmla="*/ 2147483647 h 55"/>
                <a:gd name="T74" fmla="*/ 2147483647 w 60"/>
                <a:gd name="T75" fmla="*/ 2147483647 h 55"/>
                <a:gd name="T76" fmla="*/ 2147483647 w 60"/>
                <a:gd name="T77" fmla="*/ 2147483647 h 55"/>
                <a:gd name="T78" fmla="*/ 2147483647 w 60"/>
                <a:gd name="T79" fmla="*/ 2147483647 h 55"/>
                <a:gd name="T80" fmla="*/ 2147483647 w 60"/>
                <a:gd name="T81" fmla="*/ 2147483647 h 55"/>
                <a:gd name="T82" fmla="*/ 2147483647 w 60"/>
                <a:gd name="T83" fmla="*/ 2147483647 h 55"/>
                <a:gd name="T84" fmla="*/ 2147483647 w 60"/>
                <a:gd name="T85" fmla="*/ 2147483647 h 55"/>
                <a:gd name="T86" fmla="*/ 2147483647 w 60"/>
                <a:gd name="T87" fmla="*/ 2147483647 h 55"/>
                <a:gd name="T88" fmla="*/ 2147483647 w 60"/>
                <a:gd name="T89" fmla="*/ 2147483647 h 55"/>
                <a:gd name="T90" fmla="*/ 2147483647 w 60"/>
                <a:gd name="T91" fmla="*/ 2147483647 h 55"/>
                <a:gd name="T92" fmla="*/ 2147483647 w 60"/>
                <a:gd name="T93" fmla="*/ 2147483647 h 55"/>
                <a:gd name="T94" fmla="*/ 2147483647 w 60"/>
                <a:gd name="T95" fmla="*/ 2147483647 h 55"/>
                <a:gd name="T96" fmla="*/ 2147483647 w 60"/>
                <a:gd name="T97" fmla="*/ 2147483647 h 5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0" h="55">
                  <a:moveTo>
                    <a:pt x="53" y="38"/>
                  </a:moveTo>
                  <a:cubicBezTo>
                    <a:pt x="53" y="38"/>
                    <a:pt x="53" y="38"/>
                    <a:pt x="53" y="38"/>
                  </a:cubicBezTo>
                  <a:cubicBezTo>
                    <a:pt x="55" y="32"/>
                    <a:pt x="55" y="32"/>
                    <a:pt x="55" y="32"/>
                  </a:cubicBezTo>
                  <a:cubicBezTo>
                    <a:pt x="51" y="30"/>
                    <a:pt x="51" y="30"/>
                    <a:pt x="51" y="30"/>
                  </a:cubicBezTo>
                  <a:cubicBezTo>
                    <a:pt x="51" y="25"/>
                    <a:pt x="51" y="25"/>
                    <a:pt x="51" y="25"/>
                  </a:cubicBezTo>
                  <a:cubicBezTo>
                    <a:pt x="52" y="21"/>
                    <a:pt x="52" y="21"/>
                    <a:pt x="52" y="21"/>
                  </a:cubicBezTo>
                  <a:cubicBezTo>
                    <a:pt x="53" y="12"/>
                    <a:pt x="53" y="12"/>
                    <a:pt x="53" y="12"/>
                  </a:cubicBezTo>
                  <a:cubicBezTo>
                    <a:pt x="49" y="11"/>
                    <a:pt x="49" y="11"/>
                    <a:pt x="49" y="11"/>
                  </a:cubicBezTo>
                  <a:cubicBezTo>
                    <a:pt x="45" y="8"/>
                    <a:pt x="45" y="8"/>
                    <a:pt x="45" y="8"/>
                  </a:cubicBezTo>
                  <a:cubicBezTo>
                    <a:pt x="40" y="5"/>
                    <a:pt x="40" y="5"/>
                    <a:pt x="40" y="5"/>
                  </a:cubicBezTo>
                  <a:cubicBezTo>
                    <a:pt x="36" y="6"/>
                    <a:pt x="36" y="6"/>
                    <a:pt x="36" y="6"/>
                  </a:cubicBezTo>
                  <a:cubicBezTo>
                    <a:pt x="31" y="8"/>
                    <a:pt x="31" y="8"/>
                    <a:pt x="31" y="8"/>
                  </a:cubicBezTo>
                  <a:cubicBezTo>
                    <a:pt x="30" y="10"/>
                    <a:pt x="30" y="10"/>
                    <a:pt x="30" y="10"/>
                  </a:cubicBezTo>
                  <a:cubicBezTo>
                    <a:pt x="26" y="11"/>
                    <a:pt x="26" y="11"/>
                    <a:pt x="26" y="11"/>
                  </a:cubicBezTo>
                  <a:cubicBezTo>
                    <a:pt x="22" y="11"/>
                    <a:pt x="22" y="11"/>
                    <a:pt x="22" y="11"/>
                  </a:cubicBezTo>
                  <a:cubicBezTo>
                    <a:pt x="19" y="9"/>
                    <a:pt x="19" y="9"/>
                    <a:pt x="19" y="9"/>
                  </a:cubicBezTo>
                  <a:cubicBezTo>
                    <a:pt x="15" y="9"/>
                    <a:pt x="15" y="9"/>
                    <a:pt x="15" y="9"/>
                  </a:cubicBezTo>
                  <a:cubicBezTo>
                    <a:pt x="15" y="6"/>
                    <a:pt x="15" y="6"/>
                    <a:pt x="15" y="6"/>
                  </a:cubicBezTo>
                  <a:cubicBezTo>
                    <a:pt x="12" y="4"/>
                    <a:pt x="12" y="4"/>
                    <a:pt x="12" y="4"/>
                  </a:cubicBezTo>
                  <a:cubicBezTo>
                    <a:pt x="12" y="2"/>
                    <a:pt x="12" y="2"/>
                    <a:pt x="12" y="2"/>
                  </a:cubicBezTo>
                  <a:cubicBezTo>
                    <a:pt x="10" y="0"/>
                    <a:pt x="10" y="0"/>
                    <a:pt x="10" y="0"/>
                  </a:cubicBezTo>
                  <a:cubicBezTo>
                    <a:pt x="6" y="3"/>
                    <a:pt x="6" y="3"/>
                    <a:pt x="6" y="3"/>
                  </a:cubicBezTo>
                  <a:cubicBezTo>
                    <a:pt x="3" y="2"/>
                    <a:pt x="3" y="2"/>
                    <a:pt x="3" y="2"/>
                  </a:cubicBezTo>
                  <a:cubicBezTo>
                    <a:pt x="0" y="0"/>
                    <a:pt x="0" y="0"/>
                    <a:pt x="0" y="0"/>
                  </a:cubicBezTo>
                  <a:cubicBezTo>
                    <a:pt x="0" y="0"/>
                    <a:pt x="0" y="0"/>
                    <a:pt x="0" y="0"/>
                  </a:cubicBezTo>
                  <a:cubicBezTo>
                    <a:pt x="0" y="0"/>
                    <a:pt x="0" y="6"/>
                    <a:pt x="0" y="7"/>
                  </a:cubicBezTo>
                  <a:cubicBezTo>
                    <a:pt x="0" y="7"/>
                    <a:pt x="1" y="10"/>
                    <a:pt x="1" y="10"/>
                  </a:cubicBezTo>
                  <a:cubicBezTo>
                    <a:pt x="1" y="10"/>
                    <a:pt x="1" y="10"/>
                    <a:pt x="1" y="10"/>
                  </a:cubicBezTo>
                  <a:cubicBezTo>
                    <a:pt x="5" y="16"/>
                    <a:pt x="5" y="16"/>
                    <a:pt x="5" y="16"/>
                  </a:cubicBezTo>
                  <a:cubicBezTo>
                    <a:pt x="4" y="20"/>
                    <a:pt x="4" y="20"/>
                    <a:pt x="4" y="20"/>
                  </a:cubicBezTo>
                  <a:cubicBezTo>
                    <a:pt x="4" y="24"/>
                    <a:pt x="4" y="24"/>
                    <a:pt x="4" y="24"/>
                  </a:cubicBezTo>
                  <a:cubicBezTo>
                    <a:pt x="10" y="29"/>
                    <a:pt x="10" y="29"/>
                    <a:pt x="10" y="29"/>
                  </a:cubicBezTo>
                  <a:cubicBezTo>
                    <a:pt x="12" y="34"/>
                    <a:pt x="12" y="34"/>
                    <a:pt x="12" y="34"/>
                  </a:cubicBezTo>
                  <a:cubicBezTo>
                    <a:pt x="14" y="38"/>
                    <a:pt x="14" y="38"/>
                    <a:pt x="14" y="38"/>
                  </a:cubicBezTo>
                  <a:cubicBezTo>
                    <a:pt x="15" y="36"/>
                    <a:pt x="15" y="36"/>
                    <a:pt x="15" y="36"/>
                  </a:cubicBezTo>
                  <a:cubicBezTo>
                    <a:pt x="19" y="39"/>
                    <a:pt x="19" y="39"/>
                    <a:pt x="19" y="39"/>
                  </a:cubicBezTo>
                  <a:cubicBezTo>
                    <a:pt x="23" y="44"/>
                    <a:pt x="23" y="44"/>
                    <a:pt x="23" y="44"/>
                  </a:cubicBezTo>
                  <a:cubicBezTo>
                    <a:pt x="28" y="48"/>
                    <a:pt x="28" y="48"/>
                    <a:pt x="28" y="48"/>
                  </a:cubicBezTo>
                  <a:cubicBezTo>
                    <a:pt x="34" y="49"/>
                    <a:pt x="34" y="49"/>
                    <a:pt x="34" y="49"/>
                  </a:cubicBezTo>
                  <a:cubicBezTo>
                    <a:pt x="39" y="48"/>
                    <a:pt x="39" y="48"/>
                    <a:pt x="39" y="48"/>
                  </a:cubicBezTo>
                  <a:cubicBezTo>
                    <a:pt x="42" y="52"/>
                    <a:pt x="42" y="52"/>
                    <a:pt x="42" y="52"/>
                  </a:cubicBezTo>
                  <a:cubicBezTo>
                    <a:pt x="53" y="55"/>
                    <a:pt x="53" y="55"/>
                    <a:pt x="53" y="55"/>
                  </a:cubicBezTo>
                  <a:cubicBezTo>
                    <a:pt x="55" y="55"/>
                    <a:pt x="55" y="55"/>
                    <a:pt x="55" y="55"/>
                  </a:cubicBezTo>
                  <a:cubicBezTo>
                    <a:pt x="55" y="51"/>
                    <a:pt x="55" y="51"/>
                    <a:pt x="55" y="51"/>
                  </a:cubicBezTo>
                  <a:cubicBezTo>
                    <a:pt x="60" y="49"/>
                    <a:pt x="60" y="49"/>
                    <a:pt x="60" y="49"/>
                  </a:cubicBezTo>
                  <a:cubicBezTo>
                    <a:pt x="59" y="46"/>
                    <a:pt x="59" y="46"/>
                    <a:pt x="59" y="46"/>
                  </a:cubicBezTo>
                  <a:cubicBezTo>
                    <a:pt x="58" y="44"/>
                    <a:pt x="58" y="44"/>
                    <a:pt x="58" y="44"/>
                  </a:cubicBezTo>
                  <a:cubicBezTo>
                    <a:pt x="54" y="40"/>
                    <a:pt x="54" y="40"/>
                    <a:pt x="54" y="40"/>
                  </a:cubicBezTo>
                  <a:cubicBezTo>
                    <a:pt x="53" y="38"/>
                    <a:pt x="53" y="38"/>
                    <a:pt x="53" y="38"/>
                  </a:cubicBezTo>
                </a:path>
              </a:pathLst>
            </a:custGeom>
            <a:grpFill/>
            <a:ln w="9525">
              <a:solidFill>
                <a:schemeClr val="bg2">
                  <a:lumMod val="50000"/>
                </a:schemeClr>
              </a:solidFill>
              <a:round/>
              <a:headEnd/>
              <a:tailEnd/>
            </a:ln>
          </p:spPr>
          <p:txBody>
            <a:bodyPr/>
            <a:lstStyle/>
            <a:p>
              <a:endParaRPr lang="en-US" dirty="0"/>
            </a:p>
          </p:txBody>
        </p:sp>
        <p:sp>
          <p:nvSpPr>
            <p:cNvPr id="61" name="Freeform 299"/>
            <p:cNvSpPr>
              <a:spLocks/>
            </p:cNvSpPr>
            <p:nvPr/>
          </p:nvSpPr>
          <p:spPr bwMode="gray">
            <a:xfrm>
              <a:off x="5367106" y="2770290"/>
              <a:ext cx="133741" cy="87117"/>
            </a:xfrm>
            <a:custGeom>
              <a:avLst/>
              <a:gdLst>
                <a:gd name="T0" fmla="*/ 2147483647 w 20"/>
                <a:gd name="T1" fmla="*/ 2147483647 h 14"/>
                <a:gd name="T2" fmla="*/ 2147483647 w 20"/>
                <a:gd name="T3" fmla="*/ 2147483647 h 14"/>
                <a:gd name="T4" fmla="*/ 2147483647 w 20"/>
                <a:gd name="T5" fmla="*/ 0 h 14"/>
                <a:gd name="T6" fmla="*/ 2147483647 w 20"/>
                <a:gd name="T7" fmla="*/ 2147483647 h 14"/>
                <a:gd name="T8" fmla="*/ 2147483647 w 20"/>
                <a:gd name="T9" fmla="*/ 0 h 14"/>
                <a:gd name="T10" fmla="*/ 2147483647 w 20"/>
                <a:gd name="T11" fmla="*/ 0 h 14"/>
                <a:gd name="T12" fmla="*/ 2147483647 w 20"/>
                <a:gd name="T13" fmla="*/ 2147483647 h 14"/>
                <a:gd name="T14" fmla="*/ 2147483647 w 20"/>
                <a:gd name="T15" fmla="*/ 2147483647 h 14"/>
                <a:gd name="T16" fmla="*/ 0 w 20"/>
                <a:gd name="T17" fmla="*/ 2147483647 h 14"/>
                <a:gd name="T18" fmla="*/ 2147483647 w 20"/>
                <a:gd name="T19" fmla="*/ 2147483647 h 14"/>
                <a:gd name="T20" fmla="*/ 2147483647 w 20"/>
                <a:gd name="T21" fmla="*/ 2147483647 h 14"/>
                <a:gd name="T22" fmla="*/ 2147483647 w 20"/>
                <a:gd name="T23" fmla="*/ 2147483647 h 14"/>
                <a:gd name="T24" fmla="*/ 2147483647 w 20"/>
                <a:gd name="T25" fmla="*/ 2147483647 h 14"/>
                <a:gd name="T26" fmla="*/ 2147483647 w 20"/>
                <a:gd name="T27" fmla="*/ 2147483647 h 14"/>
                <a:gd name="T28" fmla="*/ 2147483647 w 20"/>
                <a:gd name="T29" fmla="*/ 2147483647 h 14"/>
                <a:gd name="T30" fmla="*/ 2147483647 w 20"/>
                <a:gd name="T31" fmla="*/ 2147483647 h 14"/>
                <a:gd name="T32" fmla="*/ 2147483647 w 20"/>
                <a:gd name="T33" fmla="*/ 2147483647 h 14"/>
                <a:gd name="T34" fmla="*/ 2147483647 w 20"/>
                <a:gd name="T35" fmla="*/ 2147483647 h 14"/>
                <a:gd name="T36" fmla="*/ 2147483647 w 20"/>
                <a:gd name="T37" fmla="*/ 2147483647 h 14"/>
                <a:gd name="T38" fmla="*/ 2147483647 w 20"/>
                <a:gd name="T39" fmla="*/ 2147483647 h 14"/>
                <a:gd name="T40" fmla="*/ 2147483647 w 20"/>
                <a:gd name="T41" fmla="*/ 2147483647 h 14"/>
                <a:gd name="T42" fmla="*/ 2147483647 w 20"/>
                <a:gd name="T43" fmla="*/ 2147483647 h 14"/>
                <a:gd name="T44" fmla="*/ 2147483647 w 20"/>
                <a:gd name="T45" fmla="*/ 2147483647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 h="14">
                  <a:moveTo>
                    <a:pt x="19" y="4"/>
                  </a:moveTo>
                  <a:cubicBezTo>
                    <a:pt x="17" y="2"/>
                    <a:pt x="17" y="2"/>
                    <a:pt x="17" y="2"/>
                  </a:cubicBezTo>
                  <a:cubicBezTo>
                    <a:pt x="15" y="0"/>
                    <a:pt x="15" y="0"/>
                    <a:pt x="15" y="0"/>
                  </a:cubicBezTo>
                  <a:cubicBezTo>
                    <a:pt x="13" y="1"/>
                    <a:pt x="13" y="1"/>
                    <a:pt x="13" y="1"/>
                  </a:cubicBezTo>
                  <a:cubicBezTo>
                    <a:pt x="9" y="0"/>
                    <a:pt x="9" y="0"/>
                    <a:pt x="9" y="0"/>
                  </a:cubicBezTo>
                  <a:cubicBezTo>
                    <a:pt x="5" y="0"/>
                    <a:pt x="5" y="0"/>
                    <a:pt x="5" y="0"/>
                  </a:cubicBezTo>
                  <a:cubicBezTo>
                    <a:pt x="1" y="1"/>
                    <a:pt x="1" y="1"/>
                    <a:pt x="1" y="1"/>
                  </a:cubicBezTo>
                  <a:cubicBezTo>
                    <a:pt x="1" y="3"/>
                    <a:pt x="1" y="5"/>
                    <a:pt x="1" y="5"/>
                  </a:cubicBezTo>
                  <a:cubicBezTo>
                    <a:pt x="0" y="6"/>
                    <a:pt x="0" y="6"/>
                    <a:pt x="0" y="6"/>
                  </a:cubicBezTo>
                  <a:cubicBezTo>
                    <a:pt x="2" y="6"/>
                    <a:pt x="2" y="6"/>
                    <a:pt x="2" y="6"/>
                  </a:cubicBezTo>
                  <a:cubicBezTo>
                    <a:pt x="4" y="7"/>
                    <a:pt x="4" y="7"/>
                    <a:pt x="4" y="7"/>
                  </a:cubicBezTo>
                  <a:cubicBezTo>
                    <a:pt x="6" y="8"/>
                    <a:pt x="6" y="8"/>
                    <a:pt x="6" y="8"/>
                  </a:cubicBezTo>
                  <a:cubicBezTo>
                    <a:pt x="7" y="10"/>
                    <a:pt x="7" y="10"/>
                    <a:pt x="7" y="10"/>
                  </a:cubicBezTo>
                  <a:cubicBezTo>
                    <a:pt x="6" y="12"/>
                    <a:pt x="6" y="12"/>
                    <a:pt x="6" y="12"/>
                  </a:cubicBezTo>
                  <a:cubicBezTo>
                    <a:pt x="7" y="12"/>
                    <a:pt x="7" y="12"/>
                    <a:pt x="7" y="12"/>
                  </a:cubicBezTo>
                  <a:cubicBezTo>
                    <a:pt x="9" y="14"/>
                    <a:pt x="9" y="14"/>
                    <a:pt x="9" y="14"/>
                  </a:cubicBezTo>
                  <a:cubicBezTo>
                    <a:pt x="11" y="13"/>
                    <a:pt x="11" y="13"/>
                    <a:pt x="11" y="13"/>
                  </a:cubicBezTo>
                  <a:cubicBezTo>
                    <a:pt x="13" y="12"/>
                    <a:pt x="13" y="12"/>
                    <a:pt x="13" y="12"/>
                  </a:cubicBezTo>
                  <a:cubicBezTo>
                    <a:pt x="13" y="12"/>
                    <a:pt x="15" y="12"/>
                    <a:pt x="16" y="12"/>
                  </a:cubicBezTo>
                  <a:cubicBezTo>
                    <a:pt x="17" y="12"/>
                    <a:pt x="16" y="9"/>
                    <a:pt x="16" y="9"/>
                  </a:cubicBezTo>
                  <a:cubicBezTo>
                    <a:pt x="18" y="7"/>
                    <a:pt x="18" y="7"/>
                    <a:pt x="18" y="7"/>
                  </a:cubicBezTo>
                  <a:cubicBezTo>
                    <a:pt x="20" y="4"/>
                    <a:pt x="20" y="4"/>
                    <a:pt x="20" y="4"/>
                  </a:cubicBezTo>
                  <a:cubicBezTo>
                    <a:pt x="19" y="4"/>
                    <a:pt x="19" y="4"/>
                    <a:pt x="19" y="4"/>
                  </a:cubicBezTo>
                </a:path>
              </a:pathLst>
            </a:custGeom>
            <a:grpFill/>
            <a:ln w="9525">
              <a:solidFill>
                <a:schemeClr val="bg2">
                  <a:lumMod val="50000"/>
                </a:schemeClr>
              </a:solidFill>
              <a:round/>
              <a:headEnd/>
              <a:tailEnd/>
            </a:ln>
          </p:spPr>
          <p:txBody>
            <a:bodyPr/>
            <a:lstStyle/>
            <a:p>
              <a:endParaRPr lang="en-US" dirty="0"/>
            </a:p>
          </p:txBody>
        </p:sp>
        <p:sp>
          <p:nvSpPr>
            <p:cNvPr id="62" name="Freeform 300"/>
            <p:cNvSpPr>
              <a:spLocks/>
            </p:cNvSpPr>
            <p:nvPr/>
          </p:nvSpPr>
          <p:spPr bwMode="gray">
            <a:xfrm>
              <a:off x="5425953" y="2649864"/>
              <a:ext cx="100306" cy="81992"/>
            </a:xfrm>
            <a:custGeom>
              <a:avLst/>
              <a:gdLst>
                <a:gd name="T0" fmla="*/ 2147483647 w 90"/>
                <a:gd name="T1" fmla="*/ 2147483647 h 78"/>
                <a:gd name="T2" fmla="*/ 2147483647 w 90"/>
                <a:gd name="T3" fmla="*/ 2147483647 h 78"/>
                <a:gd name="T4" fmla="*/ 2147483647 w 90"/>
                <a:gd name="T5" fmla="*/ 2147483647 h 78"/>
                <a:gd name="T6" fmla="*/ 2147483647 w 90"/>
                <a:gd name="T7" fmla="*/ 2147483647 h 78"/>
                <a:gd name="T8" fmla="*/ 2147483647 w 90"/>
                <a:gd name="T9" fmla="*/ 2147483647 h 78"/>
                <a:gd name="T10" fmla="*/ 2147483647 w 90"/>
                <a:gd name="T11" fmla="*/ 0 h 78"/>
                <a:gd name="T12" fmla="*/ 2147483647 w 90"/>
                <a:gd name="T13" fmla="*/ 0 h 78"/>
                <a:gd name="T14" fmla="*/ 2147483647 w 90"/>
                <a:gd name="T15" fmla="*/ 0 h 78"/>
                <a:gd name="T16" fmla="*/ 0 w 90"/>
                <a:gd name="T17" fmla="*/ 2147483647 h 78"/>
                <a:gd name="T18" fmla="*/ 0 w 90"/>
                <a:gd name="T19" fmla="*/ 2147483647 h 78"/>
                <a:gd name="T20" fmla="*/ 2147483647 w 90"/>
                <a:gd name="T21" fmla="*/ 2147483647 h 78"/>
                <a:gd name="T22" fmla="*/ 2147483647 w 90"/>
                <a:gd name="T23" fmla="*/ 2147483647 h 78"/>
                <a:gd name="T24" fmla="*/ 2147483647 w 90"/>
                <a:gd name="T25" fmla="*/ 2147483647 h 78"/>
                <a:gd name="T26" fmla="*/ 2147483647 w 90"/>
                <a:gd name="T27" fmla="*/ 2147483647 h 78"/>
                <a:gd name="T28" fmla="*/ 2147483647 w 90"/>
                <a:gd name="T29" fmla="*/ 2147483647 h 78"/>
                <a:gd name="T30" fmla="*/ 2147483647 w 90"/>
                <a:gd name="T31" fmla="*/ 2147483647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0" h="78">
                  <a:moveTo>
                    <a:pt x="54" y="66"/>
                  </a:moveTo>
                  <a:lnTo>
                    <a:pt x="78" y="78"/>
                  </a:lnTo>
                  <a:lnTo>
                    <a:pt x="84" y="42"/>
                  </a:lnTo>
                  <a:lnTo>
                    <a:pt x="84" y="30"/>
                  </a:lnTo>
                  <a:lnTo>
                    <a:pt x="90" y="6"/>
                  </a:lnTo>
                  <a:lnTo>
                    <a:pt x="84" y="0"/>
                  </a:lnTo>
                  <a:lnTo>
                    <a:pt x="72" y="0"/>
                  </a:lnTo>
                  <a:lnTo>
                    <a:pt x="36" y="0"/>
                  </a:lnTo>
                  <a:lnTo>
                    <a:pt x="0" y="18"/>
                  </a:lnTo>
                  <a:lnTo>
                    <a:pt x="0" y="30"/>
                  </a:lnTo>
                  <a:lnTo>
                    <a:pt x="6" y="42"/>
                  </a:lnTo>
                  <a:lnTo>
                    <a:pt x="12" y="48"/>
                  </a:lnTo>
                  <a:lnTo>
                    <a:pt x="18" y="54"/>
                  </a:lnTo>
                  <a:lnTo>
                    <a:pt x="12" y="60"/>
                  </a:lnTo>
                  <a:lnTo>
                    <a:pt x="36" y="54"/>
                  </a:lnTo>
                  <a:lnTo>
                    <a:pt x="54" y="66"/>
                  </a:lnTo>
                  <a:close/>
                </a:path>
              </a:pathLst>
            </a:custGeom>
            <a:grpFill/>
            <a:ln w="9525">
              <a:solidFill>
                <a:schemeClr val="bg2">
                  <a:lumMod val="50000"/>
                </a:schemeClr>
              </a:solidFill>
              <a:round/>
              <a:headEnd/>
              <a:tailEnd/>
            </a:ln>
          </p:spPr>
          <p:txBody>
            <a:bodyPr/>
            <a:lstStyle/>
            <a:p>
              <a:endParaRPr lang="en-US" dirty="0"/>
            </a:p>
          </p:txBody>
        </p:sp>
        <p:sp>
          <p:nvSpPr>
            <p:cNvPr id="63" name="Freeform 301"/>
            <p:cNvSpPr>
              <a:spLocks/>
            </p:cNvSpPr>
            <p:nvPr/>
          </p:nvSpPr>
          <p:spPr bwMode="gray">
            <a:xfrm>
              <a:off x="5421941" y="2776695"/>
              <a:ext cx="196599" cy="170391"/>
            </a:xfrm>
            <a:custGeom>
              <a:avLst/>
              <a:gdLst>
                <a:gd name="T0" fmla="*/ 2147483647 w 30"/>
                <a:gd name="T1" fmla="*/ 2147483647 h 27"/>
                <a:gd name="T2" fmla="*/ 2147483647 w 30"/>
                <a:gd name="T3" fmla="*/ 2147483647 h 27"/>
                <a:gd name="T4" fmla="*/ 2147483647 w 30"/>
                <a:gd name="T5" fmla="*/ 2147483647 h 27"/>
                <a:gd name="T6" fmla="*/ 2147483647 w 30"/>
                <a:gd name="T7" fmla="*/ 2147483647 h 27"/>
                <a:gd name="T8" fmla="*/ 2147483647 w 30"/>
                <a:gd name="T9" fmla="*/ 0 h 27"/>
                <a:gd name="T10" fmla="*/ 2147483647 w 30"/>
                <a:gd name="T11" fmla="*/ 2147483647 h 27"/>
                <a:gd name="T12" fmla="*/ 2147483647 w 30"/>
                <a:gd name="T13" fmla="*/ 2147483647 h 27"/>
                <a:gd name="T14" fmla="*/ 2147483647 w 30"/>
                <a:gd name="T15" fmla="*/ 2147483647 h 27"/>
                <a:gd name="T16" fmla="*/ 2147483647 w 30"/>
                <a:gd name="T17" fmla="*/ 2147483647 h 27"/>
                <a:gd name="T18" fmla="*/ 2147483647 w 30"/>
                <a:gd name="T19" fmla="*/ 2147483647 h 27"/>
                <a:gd name="T20" fmla="*/ 2147483647 w 30"/>
                <a:gd name="T21" fmla="*/ 2147483647 h 27"/>
                <a:gd name="T22" fmla="*/ 2147483647 w 30"/>
                <a:gd name="T23" fmla="*/ 2147483647 h 27"/>
                <a:gd name="T24" fmla="*/ 2147483647 w 30"/>
                <a:gd name="T25" fmla="*/ 2147483647 h 27"/>
                <a:gd name="T26" fmla="*/ 2147483647 w 30"/>
                <a:gd name="T27" fmla="*/ 2147483647 h 27"/>
                <a:gd name="T28" fmla="*/ 2147483647 w 30"/>
                <a:gd name="T29" fmla="*/ 2147483647 h 27"/>
                <a:gd name="T30" fmla="*/ 2147483647 w 30"/>
                <a:gd name="T31" fmla="*/ 2147483647 h 27"/>
                <a:gd name="T32" fmla="*/ 0 w 30"/>
                <a:gd name="T33" fmla="*/ 2147483647 h 27"/>
                <a:gd name="T34" fmla="*/ 2147483647 w 30"/>
                <a:gd name="T35" fmla="*/ 2147483647 h 27"/>
                <a:gd name="T36" fmla="*/ 2147483647 w 30"/>
                <a:gd name="T37" fmla="*/ 2147483647 h 27"/>
                <a:gd name="T38" fmla="*/ 2147483647 w 30"/>
                <a:gd name="T39" fmla="*/ 2147483647 h 27"/>
                <a:gd name="T40" fmla="*/ 2147483647 w 30"/>
                <a:gd name="T41" fmla="*/ 2147483647 h 27"/>
                <a:gd name="T42" fmla="*/ 2147483647 w 30"/>
                <a:gd name="T43" fmla="*/ 2147483647 h 27"/>
                <a:gd name="T44" fmla="*/ 2147483647 w 30"/>
                <a:gd name="T45" fmla="*/ 2147483647 h 27"/>
                <a:gd name="T46" fmla="*/ 2147483647 w 30"/>
                <a:gd name="T47" fmla="*/ 2147483647 h 27"/>
                <a:gd name="T48" fmla="*/ 2147483647 w 30"/>
                <a:gd name="T49" fmla="*/ 2147483647 h 27"/>
                <a:gd name="T50" fmla="*/ 2147483647 w 30"/>
                <a:gd name="T51" fmla="*/ 2147483647 h 27"/>
                <a:gd name="T52" fmla="*/ 2147483647 w 30"/>
                <a:gd name="T53" fmla="*/ 2147483647 h 27"/>
                <a:gd name="T54" fmla="*/ 2147483647 w 30"/>
                <a:gd name="T55" fmla="*/ 2147483647 h 27"/>
                <a:gd name="T56" fmla="*/ 2147483647 w 30"/>
                <a:gd name="T57" fmla="*/ 2147483647 h 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 h="27">
                  <a:moveTo>
                    <a:pt x="30" y="14"/>
                  </a:moveTo>
                  <a:cubicBezTo>
                    <a:pt x="27" y="11"/>
                    <a:pt x="27" y="11"/>
                    <a:pt x="27" y="11"/>
                  </a:cubicBezTo>
                  <a:cubicBezTo>
                    <a:pt x="23" y="3"/>
                    <a:pt x="23" y="3"/>
                    <a:pt x="23" y="3"/>
                  </a:cubicBezTo>
                  <a:cubicBezTo>
                    <a:pt x="20" y="2"/>
                    <a:pt x="20" y="2"/>
                    <a:pt x="20" y="2"/>
                  </a:cubicBezTo>
                  <a:cubicBezTo>
                    <a:pt x="17" y="0"/>
                    <a:pt x="17" y="0"/>
                    <a:pt x="17" y="0"/>
                  </a:cubicBezTo>
                  <a:cubicBezTo>
                    <a:pt x="14" y="2"/>
                    <a:pt x="14" y="2"/>
                    <a:pt x="14" y="2"/>
                  </a:cubicBezTo>
                  <a:cubicBezTo>
                    <a:pt x="11" y="3"/>
                    <a:pt x="11" y="3"/>
                    <a:pt x="11" y="3"/>
                  </a:cubicBezTo>
                  <a:cubicBezTo>
                    <a:pt x="12" y="3"/>
                    <a:pt x="12" y="3"/>
                    <a:pt x="12" y="3"/>
                  </a:cubicBezTo>
                  <a:cubicBezTo>
                    <a:pt x="10" y="6"/>
                    <a:pt x="10" y="6"/>
                    <a:pt x="10" y="6"/>
                  </a:cubicBezTo>
                  <a:cubicBezTo>
                    <a:pt x="8" y="8"/>
                    <a:pt x="8" y="8"/>
                    <a:pt x="8" y="8"/>
                  </a:cubicBezTo>
                  <a:cubicBezTo>
                    <a:pt x="8" y="8"/>
                    <a:pt x="9" y="11"/>
                    <a:pt x="8" y="11"/>
                  </a:cubicBezTo>
                  <a:cubicBezTo>
                    <a:pt x="7" y="11"/>
                    <a:pt x="5" y="11"/>
                    <a:pt x="5" y="11"/>
                  </a:cubicBezTo>
                  <a:cubicBezTo>
                    <a:pt x="3" y="12"/>
                    <a:pt x="3" y="12"/>
                    <a:pt x="3" y="12"/>
                  </a:cubicBezTo>
                  <a:cubicBezTo>
                    <a:pt x="1" y="13"/>
                    <a:pt x="1" y="13"/>
                    <a:pt x="1" y="13"/>
                  </a:cubicBezTo>
                  <a:cubicBezTo>
                    <a:pt x="1" y="14"/>
                    <a:pt x="1" y="14"/>
                    <a:pt x="1" y="14"/>
                  </a:cubicBezTo>
                  <a:cubicBezTo>
                    <a:pt x="2" y="18"/>
                    <a:pt x="2" y="18"/>
                    <a:pt x="2" y="18"/>
                  </a:cubicBezTo>
                  <a:cubicBezTo>
                    <a:pt x="0" y="20"/>
                    <a:pt x="0" y="20"/>
                    <a:pt x="0" y="20"/>
                  </a:cubicBezTo>
                  <a:cubicBezTo>
                    <a:pt x="1" y="23"/>
                    <a:pt x="1" y="23"/>
                    <a:pt x="1" y="23"/>
                  </a:cubicBezTo>
                  <a:cubicBezTo>
                    <a:pt x="1" y="25"/>
                    <a:pt x="1" y="25"/>
                    <a:pt x="1" y="25"/>
                  </a:cubicBezTo>
                  <a:cubicBezTo>
                    <a:pt x="3" y="24"/>
                    <a:pt x="3" y="24"/>
                    <a:pt x="3" y="24"/>
                  </a:cubicBezTo>
                  <a:cubicBezTo>
                    <a:pt x="7" y="24"/>
                    <a:pt x="7" y="24"/>
                    <a:pt x="7" y="24"/>
                  </a:cubicBezTo>
                  <a:cubicBezTo>
                    <a:pt x="13" y="26"/>
                    <a:pt x="13" y="26"/>
                    <a:pt x="13" y="26"/>
                  </a:cubicBezTo>
                  <a:cubicBezTo>
                    <a:pt x="20" y="26"/>
                    <a:pt x="20" y="26"/>
                    <a:pt x="20" y="26"/>
                  </a:cubicBezTo>
                  <a:cubicBezTo>
                    <a:pt x="24" y="27"/>
                    <a:pt x="24" y="27"/>
                    <a:pt x="24" y="27"/>
                  </a:cubicBezTo>
                  <a:cubicBezTo>
                    <a:pt x="26" y="21"/>
                    <a:pt x="26" y="21"/>
                    <a:pt x="26" y="21"/>
                  </a:cubicBezTo>
                  <a:cubicBezTo>
                    <a:pt x="27" y="21"/>
                    <a:pt x="27" y="21"/>
                    <a:pt x="27" y="21"/>
                  </a:cubicBezTo>
                  <a:cubicBezTo>
                    <a:pt x="26" y="17"/>
                    <a:pt x="26" y="17"/>
                    <a:pt x="26" y="17"/>
                  </a:cubicBezTo>
                  <a:cubicBezTo>
                    <a:pt x="29" y="16"/>
                    <a:pt x="29" y="16"/>
                    <a:pt x="29" y="16"/>
                  </a:cubicBezTo>
                  <a:lnTo>
                    <a:pt x="30" y="14"/>
                  </a:lnTo>
                  <a:close/>
                </a:path>
              </a:pathLst>
            </a:custGeom>
            <a:grpFill/>
            <a:ln w="9525">
              <a:solidFill>
                <a:schemeClr val="bg2">
                  <a:lumMod val="50000"/>
                </a:schemeClr>
              </a:solidFill>
              <a:round/>
              <a:headEnd/>
              <a:tailEnd/>
            </a:ln>
          </p:spPr>
          <p:txBody>
            <a:bodyPr/>
            <a:lstStyle/>
            <a:p>
              <a:endParaRPr lang="en-US" dirty="0"/>
            </a:p>
          </p:txBody>
        </p:sp>
        <p:sp>
          <p:nvSpPr>
            <p:cNvPr id="64" name="Freeform 302"/>
            <p:cNvSpPr>
              <a:spLocks/>
            </p:cNvSpPr>
            <p:nvPr/>
          </p:nvSpPr>
          <p:spPr bwMode="gray">
            <a:xfrm>
              <a:off x="5373794" y="2707515"/>
              <a:ext cx="160489" cy="87117"/>
            </a:xfrm>
            <a:custGeom>
              <a:avLst/>
              <a:gdLst>
                <a:gd name="T0" fmla="*/ 2147483647 w 24"/>
                <a:gd name="T1" fmla="*/ 2147483647 h 14"/>
                <a:gd name="T2" fmla="*/ 2147483647 w 24"/>
                <a:gd name="T3" fmla="*/ 2147483647 h 14"/>
                <a:gd name="T4" fmla="*/ 2147483647 w 24"/>
                <a:gd name="T5" fmla="*/ 2147483647 h 14"/>
                <a:gd name="T6" fmla="*/ 2147483647 w 24"/>
                <a:gd name="T7" fmla="*/ 2147483647 h 14"/>
                <a:gd name="T8" fmla="*/ 2147483647 w 24"/>
                <a:gd name="T9" fmla="*/ 2147483647 h 14"/>
                <a:gd name="T10" fmla="*/ 2147483647 w 24"/>
                <a:gd name="T11" fmla="*/ 2147483647 h 14"/>
                <a:gd name="T12" fmla="*/ 2147483647 w 24"/>
                <a:gd name="T13" fmla="*/ 2147483647 h 14"/>
                <a:gd name="T14" fmla="*/ 2147483647 w 24"/>
                <a:gd name="T15" fmla="*/ 2147483647 h 14"/>
                <a:gd name="T16" fmla="*/ 2147483647 w 24"/>
                <a:gd name="T17" fmla="*/ 2147483647 h 14"/>
                <a:gd name="T18" fmla="*/ 2147483647 w 24"/>
                <a:gd name="T19" fmla="*/ 2147483647 h 14"/>
                <a:gd name="T20" fmla="*/ 2147483647 w 24"/>
                <a:gd name="T21" fmla="*/ 2147483647 h 14"/>
                <a:gd name="T22" fmla="*/ 2147483647 w 24"/>
                <a:gd name="T23" fmla="*/ 0 h 14"/>
                <a:gd name="T24" fmla="*/ 2147483647 w 24"/>
                <a:gd name="T25" fmla="*/ 2147483647 h 14"/>
                <a:gd name="T26" fmla="*/ 2147483647 w 24"/>
                <a:gd name="T27" fmla="*/ 2147483647 h 14"/>
                <a:gd name="T28" fmla="*/ 2147483647 w 24"/>
                <a:gd name="T29" fmla="*/ 2147483647 h 14"/>
                <a:gd name="T30" fmla="*/ 2147483647 w 24"/>
                <a:gd name="T31" fmla="*/ 2147483647 h 14"/>
                <a:gd name="T32" fmla="*/ 2147483647 w 24"/>
                <a:gd name="T33" fmla="*/ 2147483647 h 14"/>
                <a:gd name="T34" fmla="*/ 2147483647 w 24"/>
                <a:gd name="T35" fmla="*/ 2147483647 h 14"/>
                <a:gd name="T36" fmla="*/ 0 w 24"/>
                <a:gd name="T37" fmla="*/ 2147483647 h 14"/>
                <a:gd name="T38" fmla="*/ 2147483647 w 24"/>
                <a:gd name="T39" fmla="*/ 2147483647 h 14"/>
                <a:gd name="T40" fmla="*/ 2147483647 w 24"/>
                <a:gd name="T41" fmla="*/ 2147483647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4" h="14">
                  <a:moveTo>
                    <a:pt x="8" y="10"/>
                  </a:moveTo>
                  <a:cubicBezTo>
                    <a:pt x="12" y="11"/>
                    <a:pt x="12" y="11"/>
                    <a:pt x="12" y="11"/>
                  </a:cubicBezTo>
                  <a:cubicBezTo>
                    <a:pt x="14" y="10"/>
                    <a:pt x="14" y="10"/>
                    <a:pt x="14" y="10"/>
                  </a:cubicBezTo>
                  <a:cubicBezTo>
                    <a:pt x="16" y="12"/>
                    <a:pt x="16" y="12"/>
                    <a:pt x="16" y="12"/>
                  </a:cubicBezTo>
                  <a:cubicBezTo>
                    <a:pt x="18" y="14"/>
                    <a:pt x="18" y="14"/>
                    <a:pt x="18" y="14"/>
                  </a:cubicBezTo>
                  <a:cubicBezTo>
                    <a:pt x="21" y="13"/>
                    <a:pt x="21" y="13"/>
                    <a:pt x="21" y="13"/>
                  </a:cubicBezTo>
                  <a:cubicBezTo>
                    <a:pt x="24" y="11"/>
                    <a:pt x="24" y="11"/>
                    <a:pt x="24" y="11"/>
                  </a:cubicBezTo>
                  <a:cubicBezTo>
                    <a:pt x="23" y="10"/>
                    <a:pt x="23" y="10"/>
                    <a:pt x="23" y="10"/>
                  </a:cubicBezTo>
                  <a:cubicBezTo>
                    <a:pt x="21" y="5"/>
                    <a:pt x="21" y="5"/>
                    <a:pt x="21" y="5"/>
                  </a:cubicBezTo>
                  <a:cubicBezTo>
                    <a:pt x="21" y="4"/>
                    <a:pt x="21" y="4"/>
                    <a:pt x="21" y="4"/>
                  </a:cubicBezTo>
                  <a:cubicBezTo>
                    <a:pt x="17" y="2"/>
                    <a:pt x="17" y="2"/>
                    <a:pt x="17" y="2"/>
                  </a:cubicBezTo>
                  <a:cubicBezTo>
                    <a:pt x="14" y="0"/>
                    <a:pt x="14" y="0"/>
                    <a:pt x="14" y="0"/>
                  </a:cubicBezTo>
                  <a:cubicBezTo>
                    <a:pt x="10" y="1"/>
                    <a:pt x="10" y="1"/>
                    <a:pt x="10" y="1"/>
                  </a:cubicBezTo>
                  <a:cubicBezTo>
                    <a:pt x="9" y="5"/>
                    <a:pt x="9" y="5"/>
                    <a:pt x="9" y="5"/>
                  </a:cubicBezTo>
                  <a:cubicBezTo>
                    <a:pt x="8" y="6"/>
                    <a:pt x="8" y="6"/>
                    <a:pt x="8" y="6"/>
                  </a:cubicBezTo>
                  <a:cubicBezTo>
                    <a:pt x="5" y="3"/>
                    <a:pt x="5" y="3"/>
                    <a:pt x="5" y="3"/>
                  </a:cubicBezTo>
                  <a:cubicBezTo>
                    <a:pt x="3" y="3"/>
                    <a:pt x="3" y="3"/>
                    <a:pt x="3" y="3"/>
                  </a:cubicBezTo>
                  <a:cubicBezTo>
                    <a:pt x="3" y="3"/>
                    <a:pt x="1" y="7"/>
                    <a:pt x="1" y="8"/>
                  </a:cubicBezTo>
                  <a:cubicBezTo>
                    <a:pt x="1" y="8"/>
                    <a:pt x="0" y="10"/>
                    <a:pt x="0" y="11"/>
                  </a:cubicBezTo>
                  <a:cubicBezTo>
                    <a:pt x="4" y="10"/>
                    <a:pt x="4" y="10"/>
                    <a:pt x="4" y="10"/>
                  </a:cubicBezTo>
                  <a:lnTo>
                    <a:pt x="8" y="10"/>
                  </a:lnTo>
                  <a:close/>
                </a:path>
              </a:pathLst>
            </a:custGeom>
            <a:grpFill/>
            <a:ln w="9525">
              <a:solidFill>
                <a:schemeClr val="bg2">
                  <a:lumMod val="50000"/>
                </a:schemeClr>
              </a:solidFill>
              <a:round/>
              <a:headEnd/>
              <a:tailEnd/>
            </a:ln>
          </p:spPr>
          <p:txBody>
            <a:bodyPr/>
            <a:lstStyle/>
            <a:p>
              <a:endParaRPr lang="en-US" dirty="0"/>
            </a:p>
          </p:txBody>
        </p:sp>
        <p:sp>
          <p:nvSpPr>
            <p:cNvPr id="65" name="Freeform 303"/>
            <p:cNvSpPr>
              <a:spLocks/>
            </p:cNvSpPr>
            <p:nvPr/>
          </p:nvSpPr>
          <p:spPr bwMode="gray">
            <a:xfrm>
              <a:off x="4614144" y="3878470"/>
              <a:ext cx="159152" cy="114022"/>
            </a:xfrm>
            <a:custGeom>
              <a:avLst/>
              <a:gdLst>
                <a:gd name="T0" fmla="*/ 2147483647 w 24"/>
                <a:gd name="T1" fmla="*/ 2147483647 h 18"/>
                <a:gd name="T2" fmla="*/ 2147483647 w 24"/>
                <a:gd name="T3" fmla="*/ 2147483647 h 18"/>
                <a:gd name="T4" fmla="*/ 2147483647 w 24"/>
                <a:gd name="T5" fmla="*/ 2147483647 h 18"/>
                <a:gd name="T6" fmla="*/ 2147483647 w 24"/>
                <a:gd name="T7" fmla="*/ 2147483647 h 18"/>
                <a:gd name="T8" fmla="*/ 2147483647 w 24"/>
                <a:gd name="T9" fmla="*/ 2147483647 h 18"/>
                <a:gd name="T10" fmla="*/ 2147483647 w 24"/>
                <a:gd name="T11" fmla="*/ 2147483647 h 18"/>
                <a:gd name="T12" fmla="*/ 2147483647 w 24"/>
                <a:gd name="T13" fmla="*/ 2147483647 h 18"/>
                <a:gd name="T14" fmla="*/ 2147483647 w 24"/>
                <a:gd name="T15" fmla="*/ 2147483647 h 18"/>
                <a:gd name="T16" fmla="*/ 2147483647 w 24"/>
                <a:gd name="T17" fmla="*/ 2147483647 h 18"/>
                <a:gd name="T18" fmla="*/ 2147483647 w 24"/>
                <a:gd name="T19" fmla="*/ 2147483647 h 18"/>
                <a:gd name="T20" fmla="*/ 2147483647 w 24"/>
                <a:gd name="T21" fmla="*/ 2147483647 h 18"/>
                <a:gd name="T22" fmla="*/ 2147483647 w 24"/>
                <a:gd name="T23" fmla="*/ 2147483647 h 18"/>
                <a:gd name="T24" fmla="*/ 2147483647 w 24"/>
                <a:gd name="T25" fmla="*/ 2147483647 h 18"/>
                <a:gd name="T26" fmla="*/ 2147483647 w 24"/>
                <a:gd name="T27" fmla="*/ 2147483647 h 18"/>
                <a:gd name="T28" fmla="*/ 2147483647 w 24"/>
                <a:gd name="T29" fmla="*/ 2147483647 h 18"/>
                <a:gd name="T30" fmla="*/ 2147483647 w 24"/>
                <a:gd name="T31" fmla="*/ 2147483647 h 18"/>
                <a:gd name="T32" fmla="*/ 2147483647 w 24"/>
                <a:gd name="T33" fmla="*/ 0 h 18"/>
                <a:gd name="T34" fmla="*/ 2147483647 w 24"/>
                <a:gd name="T35" fmla="*/ 0 h 18"/>
                <a:gd name="T36" fmla="*/ 2147483647 w 24"/>
                <a:gd name="T37" fmla="*/ 2147483647 h 18"/>
                <a:gd name="T38" fmla="*/ 2147483647 w 24"/>
                <a:gd name="T39" fmla="*/ 2147483647 h 18"/>
                <a:gd name="T40" fmla="*/ 2147483647 w 24"/>
                <a:gd name="T41" fmla="*/ 2147483647 h 18"/>
                <a:gd name="T42" fmla="*/ 0 w 24"/>
                <a:gd name="T43" fmla="*/ 2147483647 h 18"/>
                <a:gd name="T44" fmla="*/ 2147483647 w 24"/>
                <a:gd name="T45" fmla="*/ 2147483647 h 18"/>
                <a:gd name="T46" fmla="*/ 2147483647 w 24"/>
                <a:gd name="T47" fmla="*/ 2147483647 h 18"/>
                <a:gd name="T48" fmla="*/ 2147483647 w 24"/>
                <a:gd name="T49" fmla="*/ 2147483647 h 18"/>
                <a:gd name="T50" fmla="*/ 2147483647 w 24"/>
                <a:gd name="T51" fmla="*/ 2147483647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4" h="18">
                  <a:moveTo>
                    <a:pt x="9" y="10"/>
                  </a:moveTo>
                  <a:cubicBezTo>
                    <a:pt x="13" y="10"/>
                    <a:pt x="13" y="10"/>
                    <a:pt x="13" y="10"/>
                  </a:cubicBezTo>
                  <a:cubicBezTo>
                    <a:pt x="15" y="13"/>
                    <a:pt x="15" y="13"/>
                    <a:pt x="15" y="13"/>
                  </a:cubicBezTo>
                  <a:cubicBezTo>
                    <a:pt x="16" y="14"/>
                    <a:pt x="16" y="14"/>
                    <a:pt x="16" y="14"/>
                  </a:cubicBezTo>
                  <a:cubicBezTo>
                    <a:pt x="18" y="15"/>
                    <a:pt x="18" y="15"/>
                    <a:pt x="18" y="15"/>
                  </a:cubicBezTo>
                  <a:cubicBezTo>
                    <a:pt x="18" y="15"/>
                    <a:pt x="19" y="18"/>
                    <a:pt x="20" y="18"/>
                  </a:cubicBezTo>
                  <a:cubicBezTo>
                    <a:pt x="20" y="18"/>
                    <a:pt x="21" y="17"/>
                    <a:pt x="22" y="17"/>
                  </a:cubicBezTo>
                  <a:cubicBezTo>
                    <a:pt x="23" y="17"/>
                    <a:pt x="24" y="16"/>
                    <a:pt x="24" y="16"/>
                  </a:cubicBezTo>
                  <a:cubicBezTo>
                    <a:pt x="24" y="12"/>
                    <a:pt x="24" y="12"/>
                    <a:pt x="24" y="12"/>
                  </a:cubicBezTo>
                  <a:cubicBezTo>
                    <a:pt x="24" y="8"/>
                    <a:pt x="24" y="8"/>
                    <a:pt x="24" y="8"/>
                  </a:cubicBezTo>
                  <a:cubicBezTo>
                    <a:pt x="23" y="8"/>
                    <a:pt x="23" y="8"/>
                    <a:pt x="23" y="8"/>
                  </a:cubicBezTo>
                  <a:cubicBezTo>
                    <a:pt x="21" y="3"/>
                    <a:pt x="21" y="3"/>
                    <a:pt x="21" y="3"/>
                  </a:cubicBezTo>
                  <a:cubicBezTo>
                    <a:pt x="21" y="3"/>
                    <a:pt x="21" y="1"/>
                    <a:pt x="20" y="1"/>
                  </a:cubicBezTo>
                  <a:cubicBezTo>
                    <a:pt x="20" y="1"/>
                    <a:pt x="16" y="2"/>
                    <a:pt x="16" y="2"/>
                  </a:cubicBezTo>
                  <a:cubicBezTo>
                    <a:pt x="12" y="2"/>
                    <a:pt x="12" y="2"/>
                    <a:pt x="12" y="2"/>
                  </a:cubicBezTo>
                  <a:cubicBezTo>
                    <a:pt x="12" y="1"/>
                    <a:pt x="12" y="1"/>
                    <a:pt x="12" y="1"/>
                  </a:cubicBezTo>
                  <a:cubicBezTo>
                    <a:pt x="7" y="0"/>
                    <a:pt x="7" y="0"/>
                    <a:pt x="7" y="0"/>
                  </a:cubicBezTo>
                  <a:cubicBezTo>
                    <a:pt x="5" y="0"/>
                    <a:pt x="5" y="0"/>
                    <a:pt x="5" y="0"/>
                  </a:cubicBezTo>
                  <a:cubicBezTo>
                    <a:pt x="5" y="1"/>
                    <a:pt x="5" y="1"/>
                    <a:pt x="5" y="1"/>
                  </a:cubicBezTo>
                  <a:cubicBezTo>
                    <a:pt x="5" y="4"/>
                    <a:pt x="5" y="4"/>
                    <a:pt x="5" y="4"/>
                  </a:cubicBezTo>
                  <a:cubicBezTo>
                    <a:pt x="3" y="4"/>
                    <a:pt x="3" y="4"/>
                    <a:pt x="3" y="4"/>
                  </a:cubicBezTo>
                  <a:cubicBezTo>
                    <a:pt x="0" y="6"/>
                    <a:pt x="0" y="6"/>
                    <a:pt x="0" y="6"/>
                  </a:cubicBezTo>
                  <a:cubicBezTo>
                    <a:pt x="1" y="6"/>
                    <a:pt x="1" y="6"/>
                    <a:pt x="1" y="6"/>
                  </a:cubicBezTo>
                  <a:cubicBezTo>
                    <a:pt x="6" y="13"/>
                    <a:pt x="6" y="13"/>
                    <a:pt x="6" y="13"/>
                  </a:cubicBezTo>
                  <a:cubicBezTo>
                    <a:pt x="8" y="12"/>
                    <a:pt x="8" y="12"/>
                    <a:pt x="8" y="12"/>
                  </a:cubicBezTo>
                  <a:lnTo>
                    <a:pt x="9" y="10"/>
                  </a:lnTo>
                  <a:close/>
                </a:path>
              </a:pathLst>
            </a:custGeom>
            <a:grpFill/>
            <a:ln w="9525">
              <a:solidFill>
                <a:schemeClr val="bg2">
                  <a:lumMod val="50000"/>
                </a:schemeClr>
              </a:solidFill>
              <a:round/>
              <a:headEnd/>
              <a:tailEnd/>
            </a:ln>
          </p:spPr>
          <p:txBody>
            <a:bodyPr/>
            <a:lstStyle/>
            <a:p>
              <a:endParaRPr lang="en-US" dirty="0"/>
            </a:p>
          </p:txBody>
        </p:sp>
        <p:sp>
          <p:nvSpPr>
            <p:cNvPr id="66" name="Freeform 304"/>
            <p:cNvSpPr>
              <a:spLocks/>
            </p:cNvSpPr>
            <p:nvPr/>
          </p:nvSpPr>
          <p:spPr bwMode="gray">
            <a:xfrm>
              <a:off x="4575359" y="3796478"/>
              <a:ext cx="124380" cy="89679"/>
            </a:xfrm>
            <a:custGeom>
              <a:avLst/>
              <a:gdLst>
                <a:gd name="T0" fmla="*/ 2147483647 w 114"/>
                <a:gd name="T1" fmla="*/ 2147483647 h 85"/>
                <a:gd name="T2" fmla="*/ 2147483647 w 114"/>
                <a:gd name="T3" fmla="*/ 2147483647 h 85"/>
                <a:gd name="T4" fmla="*/ 2147483647 w 114"/>
                <a:gd name="T5" fmla="*/ 2147483647 h 85"/>
                <a:gd name="T6" fmla="*/ 2147483647 w 114"/>
                <a:gd name="T7" fmla="*/ 2147483647 h 85"/>
                <a:gd name="T8" fmla="*/ 2147483647 w 114"/>
                <a:gd name="T9" fmla="*/ 2147483647 h 85"/>
                <a:gd name="T10" fmla="*/ 2147483647 w 114"/>
                <a:gd name="T11" fmla="*/ 2147483647 h 85"/>
                <a:gd name="T12" fmla="*/ 2147483647 w 114"/>
                <a:gd name="T13" fmla="*/ 2147483647 h 85"/>
                <a:gd name="T14" fmla="*/ 2147483647 w 114"/>
                <a:gd name="T15" fmla="*/ 2147483647 h 85"/>
                <a:gd name="T16" fmla="*/ 2147483647 w 114"/>
                <a:gd name="T17" fmla="*/ 2147483647 h 85"/>
                <a:gd name="T18" fmla="*/ 2147483647 w 114"/>
                <a:gd name="T19" fmla="*/ 2147483647 h 85"/>
                <a:gd name="T20" fmla="*/ 2147483647 w 114"/>
                <a:gd name="T21" fmla="*/ 2147483647 h 85"/>
                <a:gd name="T22" fmla="*/ 2147483647 w 114"/>
                <a:gd name="T23" fmla="*/ 0 h 85"/>
                <a:gd name="T24" fmla="*/ 2147483647 w 114"/>
                <a:gd name="T25" fmla="*/ 2147483647 h 85"/>
                <a:gd name="T26" fmla="*/ 2147483647 w 114"/>
                <a:gd name="T27" fmla="*/ 2147483647 h 85"/>
                <a:gd name="T28" fmla="*/ 0 w 114"/>
                <a:gd name="T29" fmla="*/ 2147483647 h 85"/>
                <a:gd name="T30" fmla="*/ 2147483647 w 114"/>
                <a:gd name="T31" fmla="*/ 2147483647 h 85"/>
                <a:gd name="T32" fmla="*/ 2147483647 w 114"/>
                <a:gd name="T33" fmla="*/ 2147483647 h 85"/>
                <a:gd name="T34" fmla="*/ 2147483647 w 114"/>
                <a:gd name="T35" fmla="*/ 2147483647 h 85"/>
                <a:gd name="T36" fmla="*/ 2147483647 w 114"/>
                <a:gd name="T37" fmla="*/ 2147483647 h 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4" h="85">
                  <a:moveTo>
                    <a:pt x="54" y="79"/>
                  </a:moveTo>
                  <a:lnTo>
                    <a:pt x="66" y="79"/>
                  </a:lnTo>
                  <a:lnTo>
                    <a:pt x="78" y="79"/>
                  </a:lnTo>
                  <a:lnTo>
                    <a:pt x="108" y="85"/>
                  </a:lnTo>
                  <a:lnTo>
                    <a:pt x="114" y="85"/>
                  </a:lnTo>
                  <a:lnTo>
                    <a:pt x="102" y="61"/>
                  </a:lnTo>
                  <a:lnTo>
                    <a:pt x="96" y="43"/>
                  </a:lnTo>
                  <a:lnTo>
                    <a:pt x="96" y="36"/>
                  </a:lnTo>
                  <a:lnTo>
                    <a:pt x="84" y="30"/>
                  </a:lnTo>
                  <a:lnTo>
                    <a:pt x="72" y="18"/>
                  </a:lnTo>
                  <a:lnTo>
                    <a:pt x="42" y="0"/>
                  </a:lnTo>
                  <a:lnTo>
                    <a:pt x="30" y="6"/>
                  </a:lnTo>
                  <a:lnTo>
                    <a:pt x="12" y="6"/>
                  </a:lnTo>
                  <a:lnTo>
                    <a:pt x="0" y="43"/>
                  </a:lnTo>
                  <a:lnTo>
                    <a:pt x="12" y="85"/>
                  </a:lnTo>
                  <a:lnTo>
                    <a:pt x="18" y="85"/>
                  </a:lnTo>
                  <a:lnTo>
                    <a:pt x="24" y="85"/>
                  </a:lnTo>
                  <a:lnTo>
                    <a:pt x="54" y="79"/>
                  </a:lnTo>
                  <a:close/>
                </a:path>
              </a:pathLst>
            </a:custGeom>
            <a:grpFill/>
            <a:ln w="9525">
              <a:solidFill>
                <a:schemeClr val="bg2">
                  <a:lumMod val="50000"/>
                </a:schemeClr>
              </a:solidFill>
              <a:round/>
              <a:headEnd/>
              <a:tailEnd/>
            </a:ln>
          </p:spPr>
          <p:txBody>
            <a:bodyPr/>
            <a:lstStyle/>
            <a:p>
              <a:endParaRPr lang="en-US" dirty="0"/>
            </a:p>
          </p:txBody>
        </p:sp>
        <p:sp>
          <p:nvSpPr>
            <p:cNvPr id="67" name="Freeform 305"/>
            <p:cNvSpPr>
              <a:spLocks/>
            </p:cNvSpPr>
            <p:nvPr/>
          </p:nvSpPr>
          <p:spPr bwMode="gray">
            <a:xfrm>
              <a:off x="4582047" y="3577404"/>
              <a:ext cx="251433" cy="257508"/>
            </a:xfrm>
            <a:custGeom>
              <a:avLst/>
              <a:gdLst>
                <a:gd name="T0" fmla="*/ 2147483647 w 38"/>
                <a:gd name="T1" fmla="*/ 2147483647 h 41"/>
                <a:gd name="T2" fmla="*/ 2147483647 w 38"/>
                <a:gd name="T3" fmla="*/ 2147483647 h 41"/>
                <a:gd name="T4" fmla="*/ 2147483647 w 38"/>
                <a:gd name="T5" fmla="*/ 2147483647 h 41"/>
                <a:gd name="T6" fmla="*/ 2147483647 w 38"/>
                <a:gd name="T7" fmla="*/ 2147483647 h 41"/>
                <a:gd name="T8" fmla="*/ 2147483647 w 38"/>
                <a:gd name="T9" fmla="*/ 2147483647 h 41"/>
                <a:gd name="T10" fmla="*/ 2147483647 w 38"/>
                <a:gd name="T11" fmla="*/ 2147483647 h 41"/>
                <a:gd name="T12" fmla="*/ 2147483647 w 38"/>
                <a:gd name="T13" fmla="*/ 2147483647 h 41"/>
                <a:gd name="T14" fmla="*/ 2147483647 w 38"/>
                <a:gd name="T15" fmla="*/ 2147483647 h 41"/>
                <a:gd name="T16" fmla="*/ 2147483647 w 38"/>
                <a:gd name="T17" fmla="*/ 2147483647 h 41"/>
                <a:gd name="T18" fmla="*/ 2147483647 w 38"/>
                <a:gd name="T19" fmla="*/ 2147483647 h 41"/>
                <a:gd name="T20" fmla="*/ 2147483647 w 38"/>
                <a:gd name="T21" fmla="*/ 2147483647 h 41"/>
                <a:gd name="T22" fmla="*/ 2147483647 w 38"/>
                <a:gd name="T23" fmla="*/ 2147483647 h 41"/>
                <a:gd name="T24" fmla="*/ 2147483647 w 38"/>
                <a:gd name="T25" fmla="*/ 2147483647 h 41"/>
                <a:gd name="T26" fmla="*/ 2147483647 w 38"/>
                <a:gd name="T27" fmla="*/ 0 h 41"/>
                <a:gd name="T28" fmla="*/ 2147483647 w 38"/>
                <a:gd name="T29" fmla="*/ 2147483647 h 41"/>
                <a:gd name="T30" fmla="*/ 2147483647 w 38"/>
                <a:gd name="T31" fmla="*/ 2147483647 h 41"/>
                <a:gd name="T32" fmla="*/ 2147483647 w 38"/>
                <a:gd name="T33" fmla="*/ 2147483647 h 41"/>
                <a:gd name="T34" fmla="*/ 2147483647 w 38"/>
                <a:gd name="T35" fmla="*/ 2147483647 h 41"/>
                <a:gd name="T36" fmla="*/ 2147483647 w 38"/>
                <a:gd name="T37" fmla="*/ 2147483647 h 41"/>
                <a:gd name="T38" fmla="*/ 2147483647 w 38"/>
                <a:gd name="T39" fmla="*/ 2147483647 h 41"/>
                <a:gd name="T40" fmla="*/ 0 w 38"/>
                <a:gd name="T41" fmla="*/ 2147483647 h 41"/>
                <a:gd name="T42" fmla="*/ 2147483647 w 38"/>
                <a:gd name="T43" fmla="*/ 2147483647 h 41"/>
                <a:gd name="T44" fmla="*/ 2147483647 w 38"/>
                <a:gd name="T45" fmla="*/ 2147483647 h 41"/>
                <a:gd name="T46" fmla="*/ 2147483647 w 38"/>
                <a:gd name="T47" fmla="*/ 2147483647 h 41"/>
                <a:gd name="T48" fmla="*/ 2147483647 w 38"/>
                <a:gd name="T49" fmla="*/ 2147483647 h 41"/>
                <a:gd name="T50" fmla="*/ 2147483647 w 38"/>
                <a:gd name="T51" fmla="*/ 2147483647 h 4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8" h="41">
                  <a:moveTo>
                    <a:pt x="6" y="35"/>
                  </a:moveTo>
                  <a:cubicBezTo>
                    <a:pt x="11" y="38"/>
                    <a:pt x="11" y="38"/>
                    <a:pt x="11" y="38"/>
                  </a:cubicBezTo>
                  <a:cubicBezTo>
                    <a:pt x="13" y="40"/>
                    <a:pt x="13" y="40"/>
                    <a:pt x="13" y="40"/>
                  </a:cubicBezTo>
                  <a:cubicBezTo>
                    <a:pt x="15" y="41"/>
                    <a:pt x="15" y="41"/>
                    <a:pt x="15" y="41"/>
                  </a:cubicBezTo>
                  <a:cubicBezTo>
                    <a:pt x="15" y="41"/>
                    <a:pt x="15" y="41"/>
                    <a:pt x="15" y="41"/>
                  </a:cubicBezTo>
                  <a:cubicBezTo>
                    <a:pt x="18" y="38"/>
                    <a:pt x="18" y="38"/>
                    <a:pt x="18" y="38"/>
                  </a:cubicBezTo>
                  <a:cubicBezTo>
                    <a:pt x="20" y="40"/>
                    <a:pt x="20" y="40"/>
                    <a:pt x="20" y="40"/>
                  </a:cubicBezTo>
                  <a:cubicBezTo>
                    <a:pt x="21" y="39"/>
                    <a:pt x="21" y="39"/>
                    <a:pt x="21" y="39"/>
                  </a:cubicBezTo>
                  <a:cubicBezTo>
                    <a:pt x="35" y="39"/>
                    <a:pt x="35" y="39"/>
                    <a:pt x="35" y="39"/>
                  </a:cubicBezTo>
                  <a:cubicBezTo>
                    <a:pt x="38" y="37"/>
                    <a:pt x="38" y="37"/>
                    <a:pt x="38" y="37"/>
                  </a:cubicBezTo>
                  <a:cubicBezTo>
                    <a:pt x="36" y="36"/>
                    <a:pt x="36" y="36"/>
                    <a:pt x="36" y="36"/>
                  </a:cubicBezTo>
                  <a:cubicBezTo>
                    <a:pt x="33" y="7"/>
                    <a:pt x="33" y="7"/>
                    <a:pt x="33" y="7"/>
                  </a:cubicBezTo>
                  <a:cubicBezTo>
                    <a:pt x="36" y="7"/>
                    <a:pt x="36" y="7"/>
                    <a:pt x="36" y="7"/>
                  </a:cubicBezTo>
                  <a:cubicBezTo>
                    <a:pt x="27" y="0"/>
                    <a:pt x="27" y="0"/>
                    <a:pt x="27" y="0"/>
                  </a:cubicBezTo>
                  <a:cubicBezTo>
                    <a:pt x="27" y="3"/>
                    <a:pt x="27" y="3"/>
                    <a:pt x="27" y="3"/>
                  </a:cubicBezTo>
                  <a:cubicBezTo>
                    <a:pt x="17" y="3"/>
                    <a:pt x="17" y="3"/>
                    <a:pt x="17" y="3"/>
                  </a:cubicBezTo>
                  <a:cubicBezTo>
                    <a:pt x="16" y="11"/>
                    <a:pt x="16" y="11"/>
                    <a:pt x="16" y="11"/>
                  </a:cubicBezTo>
                  <a:cubicBezTo>
                    <a:pt x="14" y="13"/>
                    <a:pt x="14" y="13"/>
                    <a:pt x="14" y="13"/>
                  </a:cubicBezTo>
                  <a:cubicBezTo>
                    <a:pt x="14" y="13"/>
                    <a:pt x="14" y="20"/>
                    <a:pt x="13" y="20"/>
                  </a:cubicBezTo>
                  <a:cubicBezTo>
                    <a:pt x="13" y="20"/>
                    <a:pt x="5" y="19"/>
                    <a:pt x="1" y="19"/>
                  </a:cubicBezTo>
                  <a:cubicBezTo>
                    <a:pt x="0" y="20"/>
                    <a:pt x="0" y="20"/>
                    <a:pt x="0" y="20"/>
                  </a:cubicBezTo>
                  <a:cubicBezTo>
                    <a:pt x="3" y="26"/>
                    <a:pt x="3" y="26"/>
                    <a:pt x="3" y="26"/>
                  </a:cubicBezTo>
                  <a:cubicBezTo>
                    <a:pt x="3" y="33"/>
                    <a:pt x="3" y="33"/>
                    <a:pt x="3" y="33"/>
                  </a:cubicBezTo>
                  <a:cubicBezTo>
                    <a:pt x="1" y="36"/>
                    <a:pt x="1" y="36"/>
                    <a:pt x="1" y="36"/>
                  </a:cubicBezTo>
                  <a:cubicBezTo>
                    <a:pt x="4" y="36"/>
                    <a:pt x="4" y="36"/>
                    <a:pt x="4" y="36"/>
                  </a:cubicBezTo>
                  <a:lnTo>
                    <a:pt x="6" y="35"/>
                  </a:lnTo>
                  <a:close/>
                </a:path>
              </a:pathLst>
            </a:custGeom>
            <a:grpFill/>
            <a:ln w="9525">
              <a:solidFill>
                <a:schemeClr val="bg2">
                  <a:lumMod val="50000"/>
                </a:schemeClr>
              </a:solidFill>
              <a:round/>
              <a:headEnd/>
              <a:tailEnd/>
            </a:ln>
          </p:spPr>
          <p:txBody>
            <a:bodyPr/>
            <a:lstStyle/>
            <a:p>
              <a:endParaRPr lang="en-US" dirty="0"/>
            </a:p>
          </p:txBody>
        </p:sp>
        <p:sp>
          <p:nvSpPr>
            <p:cNvPr id="68" name="Freeform 306"/>
            <p:cNvSpPr>
              <a:spLocks/>
            </p:cNvSpPr>
            <p:nvPr/>
          </p:nvSpPr>
          <p:spPr bwMode="gray">
            <a:xfrm>
              <a:off x="5447351" y="3469790"/>
              <a:ext cx="238060" cy="220355"/>
            </a:xfrm>
            <a:custGeom>
              <a:avLst/>
              <a:gdLst>
                <a:gd name="T0" fmla="*/ 0 w 36"/>
                <a:gd name="T1" fmla="*/ 2147483647 h 35"/>
                <a:gd name="T2" fmla="*/ 2147483647 w 36"/>
                <a:gd name="T3" fmla="*/ 2147483647 h 35"/>
                <a:gd name="T4" fmla="*/ 2147483647 w 36"/>
                <a:gd name="T5" fmla="*/ 2147483647 h 35"/>
                <a:gd name="T6" fmla="*/ 2147483647 w 36"/>
                <a:gd name="T7" fmla="*/ 2147483647 h 35"/>
                <a:gd name="T8" fmla="*/ 2147483647 w 36"/>
                <a:gd name="T9" fmla="*/ 2147483647 h 35"/>
                <a:gd name="T10" fmla="*/ 2147483647 w 36"/>
                <a:gd name="T11" fmla="*/ 2147483647 h 35"/>
                <a:gd name="T12" fmla="*/ 2147483647 w 36"/>
                <a:gd name="T13" fmla="*/ 2147483647 h 35"/>
                <a:gd name="T14" fmla="*/ 2147483647 w 36"/>
                <a:gd name="T15" fmla="*/ 2147483647 h 35"/>
                <a:gd name="T16" fmla="*/ 2147483647 w 36"/>
                <a:gd name="T17" fmla="*/ 2147483647 h 35"/>
                <a:gd name="T18" fmla="*/ 2147483647 w 36"/>
                <a:gd name="T19" fmla="*/ 2147483647 h 35"/>
                <a:gd name="T20" fmla="*/ 2147483647 w 36"/>
                <a:gd name="T21" fmla="*/ 2147483647 h 35"/>
                <a:gd name="T22" fmla="*/ 2147483647 w 36"/>
                <a:gd name="T23" fmla="*/ 2147483647 h 35"/>
                <a:gd name="T24" fmla="*/ 2147483647 w 36"/>
                <a:gd name="T25" fmla="*/ 2147483647 h 35"/>
                <a:gd name="T26" fmla="*/ 2147483647 w 36"/>
                <a:gd name="T27" fmla="*/ 2147483647 h 35"/>
                <a:gd name="T28" fmla="*/ 2147483647 w 36"/>
                <a:gd name="T29" fmla="*/ 2147483647 h 35"/>
                <a:gd name="T30" fmla="*/ 2147483647 w 36"/>
                <a:gd name="T31" fmla="*/ 2147483647 h 35"/>
                <a:gd name="T32" fmla="*/ 2147483647 w 36"/>
                <a:gd name="T33" fmla="*/ 2147483647 h 35"/>
                <a:gd name="T34" fmla="*/ 2147483647 w 36"/>
                <a:gd name="T35" fmla="*/ 2147483647 h 35"/>
                <a:gd name="T36" fmla="*/ 2147483647 w 36"/>
                <a:gd name="T37" fmla="*/ 2147483647 h 35"/>
                <a:gd name="T38" fmla="*/ 2147483647 w 36"/>
                <a:gd name="T39" fmla="*/ 2147483647 h 35"/>
                <a:gd name="T40" fmla="*/ 2147483647 w 36"/>
                <a:gd name="T41" fmla="*/ 0 h 35"/>
                <a:gd name="T42" fmla="*/ 2147483647 w 36"/>
                <a:gd name="T43" fmla="*/ 0 h 35"/>
                <a:gd name="T44" fmla="*/ 2147483647 w 36"/>
                <a:gd name="T45" fmla="*/ 2147483647 h 35"/>
                <a:gd name="T46" fmla="*/ 0 w 36"/>
                <a:gd name="T47" fmla="*/ 2147483647 h 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6" h="35">
                  <a:moveTo>
                    <a:pt x="0" y="5"/>
                  </a:moveTo>
                  <a:cubicBezTo>
                    <a:pt x="0" y="5"/>
                    <a:pt x="1" y="7"/>
                    <a:pt x="1" y="8"/>
                  </a:cubicBezTo>
                  <a:cubicBezTo>
                    <a:pt x="1" y="8"/>
                    <a:pt x="2" y="10"/>
                    <a:pt x="2" y="10"/>
                  </a:cubicBezTo>
                  <a:cubicBezTo>
                    <a:pt x="2" y="10"/>
                    <a:pt x="1" y="35"/>
                    <a:pt x="2" y="35"/>
                  </a:cubicBezTo>
                  <a:cubicBezTo>
                    <a:pt x="2" y="35"/>
                    <a:pt x="2" y="35"/>
                    <a:pt x="3" y="35"/>
                  </a:cubicBezTo>
                  <a:cubicBezTo>
                    <a:pt x="7" y="35"/>
                    <a:pt x="29" y="35"/>
                    <a:pt x="29" y="35"/>
                  </a:cubicBezTo>
                  <a:cubicBezTo>
                    <a:pt x="34" y="32"/>
                    <a:pt x="34" y="32"/>
                    <a:pt x="34" y="32"/>
                  </a:cubicBezTo>
                  <a:cubicBezTo>
                    <a:pt x="36" y="30"/>
                    <a:pt x="36" y="30"/>
                    <a:pt x="36" y="30"/>
                  </a:cubicBezTo>
                  <a:cubicBezTo>
                    <a:pt x="36" y="30"/>
                    <a:pt x="36" y="30"/>
                    <a:pt x="36" y="30"/>
                  </a:cubicBezTo>
                  <a:cubicBezTo>
                    <a:pt x="33" y="23"/>
                    <a:pt x="33" y="23"/>
                    <a:pt x="33" y="23"/>
                  </a:cubicBezTo>
                  <a:cubicBezTo>
                    <a:pt x="29" y="15"/>
                    <a:pt x="29" y="15"/>
                    <a:pt x="29" y="15"/>
                  </a:cubicBezTo>
                  <a:cubicBezTo>
                    <a:pt x="24" y="8"/>
                    <a:pt x="24" y="8"/>
                    <a:pt x="24" y="8"/>
                  </a:cubicBezTo>
                  <a:cubicBezTo>
                    <a:pt x="31" y="12"/>
                    <a:pt x="31" y="12"/>
                    <a:pt x="31" y="12"/>
                  </a:cubicBezTo>
                  <a:cubicBezTo>
                    <a:pt x="34" y="9"/>
                    <a:pt x="34" y="9"/>
                    <a:pt x="34" y="9"/>
                  </a:cubicBezTo>
                  <a:cubicBezTo>
                    <a:pt x="33" y="9"/>
                    <a:pt x="33" y="9"/>
                    <a:pt x="33" y="9"/>
                  </a:cubicBezTo>
                  <a:cubicBezTo>
                    <a:pt x="30" y="1"/>
                    <a:pt x="30" y="1"/>
                    <a:pt x="30" y="1"/>
                  </a:cubicBezTo>
                  <a:cubicBezTo>
                    <a:pt x="28" y="3"/>
                    <a:pt x="28" y="3"/>
                    <a:pt x="28" y="3"/>
                  </a:cubicBezTo>
                  <a:cubicBezTo>
                    <a:pt x="22" y="2"/>
                    <a:pt x="22" y="2"/>
                    <a:pt x="22" y="2"/>
                  </a:cubicBezTo>
                  <a:cubicBezTo>
                    <a:pt x="19" y="1"/>
                    <a:pt x="19" y="1"/>
                    <a:pt x="19" y="1"/>
                  </a:cubicBezTo>
                  <a:cubicBezTo>
                    <a:pt x="12" y="3"/>
                    <a:pt x="12" y="3"/>
                    <a:pt x="12" y="3"/>
                  </a:cubicBezTo>
                  <a:cubicBezTo>
                    <a:pt x="6" y="0"/>
                    <a:pt x="6" y="0"/>
                    <a:pt x="6" y="0"/>
                  </a:cubicBezTo>
                  <a:cubicBezTo>
                    <a:pt x="2" y="0"/>
                    <a:pt x="2" y="0"/>
                    <a:pt x="2" y="0"/>
                  </a:cubicBezTo>
                  <a:cubicBezTo>
                    <a:pt x="1" y="2"/>
                    <a:pt x="1" y="2"/>
                    <a:pt x="1" y="2"/>
                  </a:cubicBezTo>
                  <a:lnTo>
                    <a:pt x="0" y="5"/>
                  </a:lnTo>
                  <a:close/>
                </a:path>
              </a:pathLst>
            </a:custGeom>
            <a:grpFill/>
            <a:ln w="9525">
              <a:solidFill>
                <a:schemeClr val="bg2">
                  <a:lumMod val="50000"/>
                </a:schemeClr>
              </a:solidFill>
              <a:round/>
              <a:headEnd/>
              <a:tailEnd/>
            </a:ln>
          </p:spPr>
          <p:txBody>
            <a:bodyPr/>
            <a:lstStyle/>
            <a:p>
              <a:endParaRPr lang="en-US" dirty="0"/>
            </a:p>
          </p:txBody>
        </p:sp>
        <p:sp>
          <p:nvSpPr>
            <p:cNvPr id="69" name="Freeform 307"/>
            <p:cNvSpPr>
              <a:spLocks/>
            </p:cNvSpPr>
            <p:nvPr/>
          </p:nvSpPr>
          <p:spPr bwMode="gray">
            <a:xfrm>
              <a:off x="5122361" y="3431355"/>
              <a:ext cx="345052" cy="313877"/>
            </a:xfrm>
            <a:custGeom>
              <a:avLst/>
              <a:gdLst>
                <a:gd name="T0" fmla="*/ 2147483647 w 52"/>
                <a:gd name="T1" fmla="*/ 2147483647 h 50"/>
                <a:gd name="T2" fmla="*/ 2147483647 w 52"/>
                <a:gd name="T3" fmla="*/ 2147483647 h 50"/>
                <a:gd name="T4" fmla="*/ 2147483647 w 52"/>
                <a:gd name="T5" fmla="*/ 2147483647 h 50"/>
                <a:gd name="T6" fmla="*/ 0 w 52"/>
                <a:gd name="T7" fmla="*/ 2147483647 h 50"/>
                <a:gd name="T8" fmla="*/ 0 w 52"/>
                <a:gd name="T9" fmla="*/ 2147483647 h 50"/>
                <a:gd name="T10" fmla="*/ 2147483647 w 52"/>
                <a:gd name="T11" fmla="*/ 2147483647 h 50"/>
                <a:gd name="T12" fmla="*/ 2147483647 w 52"/>
                <a:gd name="T13" fmla="*/ 2147483647 h 50"/>
                <a:gd name="T14" fmla="*/ 2147483647 w 52"/>
                <a:gd name="T15" fmla="*/ 2147483647 h 50"/>
                <a:gd name="T16" fmla="*/ 2147483647 w 52"/>
                <a:gd name="T17" fmla="*/ 2147483647 h 50"/>
                <a:gd name="T18" fmla="*/ 2147483647 w 52"/>
                <a:gd name="T19" fmla="*/ 2147483647 h 50"/>
                <a:gd name="T20" fmla="*/ 2147483647 w 52"/>
                <a:gd name="T21" fmla="*/ 2147483647 h 50"/>
                <a:gd name="T22" fmla="*/ 2147483647 w 52"/>
                <a:gd name="T23" fmla="*/ 2147483647 h 50"/>
                <a:gd name="T24" fmla="*/ 2147483647 w 52"/>
                <a:gd name="T25" fmla="*/ 2147483647 h 50"/>
                <a:gd name="T26" fmla="*/ 2147483647 w 52"/>
                <a:gd name="T27" fmla="*/ 2147483647 h 50"/>
                <a:gd name="T28" fmla="*/ 2147483647 w 52"/>
                <a:gd name="T29" fmla="*/ 2147483647 h 50"/>
                <a:gd name="T30" fmla="*/ 2147483647 w 52"/>
                <a:gd name="T31" fmla="*/ 2147483647 h 50"/>
                <a:gd name="T32" fmla="*/ 2147483647 w 52"/>
                <a:gd name="T33" fmla="*/ 2147483647 h 50"/>
                <a:gd name="T34" fmla="*/ 2147483647 w 52"/>
                <a:gd name="T35" fmla="*/ 2147483647 h 50"/>
                <a:gd name="T36" fmla="*/ 2147483647 w 52"/>
                <a:gd name="T37" fmla="*/ 2147483647 h 50"/>
                <a:gd name="T38" fmla="*/ 2147483647 w 52"/>
                <a:gd name="T39" fmla="*/ 2147483647 h 50"/>
                <a:gd name="T40" fmla="*/ 2147483647 w 52"/>
                <a:gd name="T41" fmla="*/ 2147483647 h 50"/>
                <a:gd name="T42" fmla="*/ 2147483647 w 52"/>
                <a:gd name="T43" fmla="*/ 2147483647 h 50"/>
                <a:gd name="T44" fmla="*/ 2147483647 w 52"/>
                <a:gd name="T45" fmla="*/ 2147483647 h 50"/>
                <a:gd name="T46" fmla="*/ 2147483647 w 52"/>
                <a:gd name="T47" fmla="*/ 2147483647 h 50"/>
                <a:gd name="T48" fmla="*/ 2147483647 w 52"/>
                <a:gd name="T49" fmla="*/ 2147483647 h 50"/>
                <a:gd name="T50" fmla="*/ 2147483647 w 52"/>
                <a:gd name="T51" fmla="*/ 2147483647 h 50"/>
                <a:gd name="T52" fmla="*/ 2147483647 w 52"/>
                <a:gd name="T53" fmla="*/ 2147483647 h 50"/>
                <a:gd name="T54" fmla="*/ 2147483647 w 52"/>
                <a:gd name="T55" fmla="*/ 2147483647 h 50"/>
                <a:gd name="T56" fmla="*/ 2147483647 w 52"/>
                <a:gd name="T57" fmla="*/ 2147483647 h 50"/>
                <a:gd name="T58" fmla="*/ 2147483647 w 52"/>
                <a:gd name="T59" fmla="*/ 2147483647 h 50"/>
                <a:gd name="T60" fmla="*/ 2147483647 w 52"/>
                <a:gd name="T61" fmla="*/ 2147483647 h 50"/>
                <a:gd name="T62" fmla="*/ 2147483647 w 52"/>
                <a:gd name="T63" fmla="*/ 2147483647 h 50"/>
                <a:gd name="T64" fmla="*/ 2147483647 w 52"/>
                <a:gd name="T65" fmla="*/ 2147483647 h 50"/>
                <a:gd name="T66" fmla="*/ 2147483647 w 52"/>
                <a:gd name="T67" fmla="*/ 0 h 50"/>
                <a:gd name="T68" fmla="*/ 2147483647 w 52"/>
                <a:gd name="T69" fmla="*/ 2147483647 h 50"/>
                <a:gd name="T70" fmla="*/ 2147483647 w 52"/>
                <a:gd name="T71" fmla="*/ 2147483647 h 5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 h="50">
                  <a:moveTo>
                    <a:pt x="4" y="6"/>
                  </a:moveTo>
                  <a:cubicBezTo>
                    <a:pt x="3" y="9"/>
                    <a:pt x="3" y="9"/>
                    <a:pt x="3" y="9"/>
                  </a:cubicBezTo>
                  <a:cubicBezTo>
                    <a:pt x="2" y="10"/>
                    <a:pt x="2" y="10"/>
                    <a:pt x="2" y="10"/>
                  </a:cubicBezTo>
                  <a:cubicBezTo>
                    <a:pt x="0" y="12"/>
                    <a:pt x="0" y="12"/>
                    <a:pt x="0" y="12"/>
                  </a:cubicBezTo>
                  <a:cubicBezTo>
                    <a:pt x="0" y="29"/>
                    <a:pt x="0" y="29"/>
                    <a:pt x="0" y="29"/>
                  </a:cubicBezTo>
                  <a:cubicBezTo>
                    <a:pt x="6" y="34"/>
                    <a:pt x="6" y="34"/>
                    <a:pt x="6" y="34"/>
                  </a:cubicBezTo>
                  <a:cubicBezTo>
                    <a:pt x="9" y="35"/>
                    <a:pt x="9" y="35"/>
                    <a:pt x="9" y="35"/>
                  </a:cubicBezTo>
                  <a:cubicBezTo>
                    <a:pt x="17" y="36"/>
                    <a:pt x="17" y="36"/>
                    <a:pt x="17" y="36"/>
                  </a:cubicBezTo>
                  <a:cubicBezTo>
                    <a:pt x="19" y="38"/>
                    <a:pt x="19" y="38"/>
                    <a:pt x="19" y="38"/>
                  </a:cubicBezTo>
                  <a:cubicBezTo>
                    <a:pt x="23" y="36"/>
                    <a:pt x="23" y="36"/>
                    <a:pt x="23" y="36"/>
                  </a:cubicBezTo>
                  <a:cubicBezTo>
                    <a:pt x="47" y="49"/>
                    <a:pt x="47" y="49"/>
                    <a:pt x="47" y="49"/>
                  </a:cubicBezTo>
                  <a:cubicBezTo>
                    <a:pt x="47" y="48"/>
                    <a:pt x="47" y="48"/>
                    <a:pt x="47" y="48"/>
                  </a:cubicBezTo>
                  <a:cubicBezTo>
                    <a:pt x="47" y="49"/>
                    <a:pt x="47" y="49"/>
                    <a:pt x="47" y="49"/>
                  </a:cubicBezTo>
                  <a:cubicBezTo>
                    <a:pt x="48" y="50"/>
                    <a:pt x="48" y="50"/>
                    <a:pt x="48" y="50"/>
                  </a:cubicBezTo>
                  <a:cubicBezTo>
                    <a:pt x="48" y="47"/>
                    <a:pt x="48" y="47"/>
                    <a:pt x="48" y="47"/>
                  </a:cubicBezTo>
                  <a:cubicBezTo>
                    <a:pt x="51" y="47"/>
                    <a:pt x="51" y="47"/>
                    <a:pt x="51" y="47"/>
                  </a:cubicBezTo>
                  <a:cubicBezTo>
                    <a:pt x="52" y="41"/>
                    <a:pt x="52" y="41"/>
                    <a:pt x="52" y="41"/>
                  </a:cubicBezTo>
                  <a:cubicBezTo>
                    <a:pt x="51" y="41"/>
                    <a:pt x="51" y="41"/>
                    <a:pt x="51" y="41"/>
                  </a:cubicBezTo>
                  <a:cubicBezTo>
                    <a:pt x="50" y="41"/>
                    <a:pt x="51" y="16"/>
                    <a:pt x="51" y="16"/>
                  </a:cubicBezTo>
                  <a:cubicBezTo>
                    <a:pt x="51" y="16"/>
                    <a:pt x="50" y="14"/>
                    <a:pt x="50" y="14"/>
                  </a:cubicBezTo>
                  <a:cubicBezTo>
                    <a:pt x="50" y="13"/>
                    <a:pt x="49" y="11"/>
                    <a:pt x="49" y="11"/>
                  </a:cubicBezTo>
                  <a:cubicBezTo>
                    <a:pt x="50" y="8"/>
                    <a:pt x="50" y="8"/>
                    <a:pt x="50" y="8"/>
                  </a:cubicBezTo>
                  <a:cubicBezTo>
                    <a:pt x="51" y="6"/>
                    <a:pt x="51" y="6"/>
                    <a:pt x="51" y="6"/>
                  </a:cubicBezTo>
                  <a:cubicBezTo>
                    <a:pt x="48" y="5"/>
                    <a:pt x="48" y="5"/>
                    <a:pt x="48" y="5"/>
                  </a:cubicBezTo>
                  <a:cubicBezTo>
                    <a:pt x="45" y="3"/>
                    <a:pt x="45" y="3"/>
                    <a:pt x="45" y="3"/>
                  </a:cubicBezTo>
                  <a:cubicBezTo>
                    <a:pt x="41" y="2"/>
                    <a:pt x="41" y="2"/>
                    <a:pt x="41" y="2"/>
                  </a:cubicBezTo>
                  <a:cubicBezTo>
                    <a:pt x="35" y="4"/>
                    <a:pt x="35" y="4"/>
                    <a:pt x="35" y="4"/>
                  </a:cubicBezTo>
                  <a:cubicBezTo>
                    <a:pt x="35" y="8"/>
                    <a:pt x="35" y="8"/>
                    <a:pt x="35" y="8"/>
                  </a:cubicBezTo>
                  <a:cubicBezTo>
                    <a:pt x="29" y="10"/>
                    <a:pt x="29" y="10"/>
                    <a:pt x="29" y="10"/>
                  </a:cubicBezTo>
                  <a:cubicBezTo>
                    <a:pt x="25" y="7"/>
                    <a:pt x="25" y="7"/>
                    <a:pt x="25" y="7"/>
                  </a:cubicBezTo>
                  <a:cubicBezTo>
                    <a:pt x="22" y="5"/>
                    <a:pt x="22" y="5"/>
                    <a:pt x="22" y="5"/>
                  </a:cubicBezTo>
                  <a:cubicBezTo>
                    <a:pt x="20" y="3"/>
                    <a:pt x="20" y="3"/>
                    <a:pt x="20" y="3"/>
                  </a:cubicBezTo>
                  <a:cubicBezTo>
                    <a:pt x="13" y="2"/>
                    <a:pt x="13" y="2"/>
                    <a:pt x="13" y="2"/>
                  </a:cubicBezTo>
                  <a:cubicBezTo>
                    <a:pt x="8" y="0"/>
                    <a:pt x="8" y="0"/>
                    <a:pt x="8" y="0"/>
                  </a:cubicBezTo>
                  <a:cubicBezTo>
                    <a:pt x="8" y="2"/>
                    <a:pt x="8" y="2"/>
                    <a:pt x="8" y="2"/>
                  </a:cubicBezTo>
                  <a:lnTo>
                    <a:pt x="4" y="6"/>
                  </a:lnTo>
                  <a:close/>
                </a:path>
              </a:pathLst>
            </a:custGeom>
            <a:grpFill/>
            <a:ln w="9525">
              <a:solidFill>
                <a:schemeClr val="bg2">
                  <a:lumMod val="50000"/>
                </a:schemeClr>
              </a:solidFill>
              <a:round/>
              <a:headEnd/>
              <a:tailEnd/>
            </a:ln>
          </p:spPr>
          <p:txBody>
            <a:bodyPr/>
            <a:lstStyle/>
            <a:p>
              <a:endParaRPr lang="en-US" dirty="0"/>
            </a:p>
          </p:txBody>
        </p:sp>
        <p:sp>
          <p:nvSpPr>
            <p:cNvPr id="70" name="Freeform 308"/>
            <p:cNvSpPr>
              <a:spLocks/>
            </p:cNvSpPr>
            <p:nvPr/>
          </p:nvSpPr>
          <p:spPr bwMode="gray">
            <a:xfrm>
              <a:off x="5088925" y="3337833"/>
              <a:ext cx="86932" cy="156299"/>
            </a:xfrm>
            <a:custGeom>
              <a:avLst/>
              <a:gdLst>
                <a:gd name="T0" fmla="*/ 2147483647 w 78"/>
                <a:gd name="T1" fmla="*/ 2147483647 h 150"/>
                <a:gd name="T2" fmla="*/ 2147483647 w 78"/>
                <a:gd name="T3" fmla="*/ 2147483647 h 150"/>
                <a:gd name="T4" fmla="*/ 2147483647 w 78"/>
                <a:gd name="T5" fmla="*/ 2147483647 h 150"/>
                <a:gd name="T6" fmla="*/ 0 w 78"/>
                <a:gd name="T7" fmla="*/ 2147483647 h 150"/>
                <a:gd name="T8" fmla="*/ 0 w 78"/>
                <a:gd name="T9" fmla="*/ 2147483647 h 150"/>
                <a:gd name="T10" fmla="*/ 2147483647 w 78"/>
                <a:gd name="T11" fmla="*/ 2147483647 h 150"/>
                <a:gd name="T12" fmla="*/ 2147483647 w 78"/>
                <a:gd name="T13" fmla="*/ 2147483647 h 150"/>
                <a:gd name="T14" fmla="*/ 2147483647 w 78"/>
                <a:gd name="T15" fmla="*/ 2147483647 h 150"/>
                <a:gd name="T16" fmla="*/ 2147483647 w 78"/>
                <a:gd name="T17" fmla="*/ 2147483647 h 150"/>
                <a:gd name="T18" fmla="*/ 2147483647 w 78"/>
                <a:gd name="T19" fmla="*/ 2147483647 h 150"/>
                <a:gd name="T20" fmla="*/ 2147483647 w 78"/>
                <a:gd name="T21" fmla="*/ 2147483647 h 150"/>
                <a:gd name="T22" fmla="*/ 2147483647 w 78"/>
                <a:gd name="T23" fmla="*/ 2147483647 h 150"/>
                <a:gd name="T24" fmla="*/ 2147483647 w 78"/>
                <a:gd name="T25" fmla="*/ 2147483647 h 150"/>
                <a:gd name="T26" fmla="*/ 2147483647 w 78"/>
                <a:gd name="T27" fmla="*/ 2147483647 h 150"/>
                <a:gd name="T28" fmla="*/ 2147483647 w 78"/>
                <a:gd name="T29" fmla="*/ 2147483647 h 150"/>
                <a:gd name="T30" fmla="*/ 2147483647 w 78"/>
                <a:gd name="T31" fmla="*/ 2147483647 h 150"/>
                <a:gd name="T32" fmla="*/ 2147483647 w 78"/>
                <a:gd name="T33" fmla="*/ 2147483647 h 150"/>
                <a:gd name="T34" fmla="*/ 2147483647 w 78"/>
                <a:gd name="T35" fmla="*/ 2147483647 h 150"/>
                <a:gd name="T36" fmla="*/ 2147483647 w 78"/>
                <a:gd name="T37" fmla="*/ 0 h 150"/>
                <a:gd name="T38" fmla="*/ 2147483647 w 78"/>
                <a:gd name="T39" fmla="*/ 0 h 150"/>
                <a:gd name="T40" fmla="*/ 2147483647 w 78"/>
                <a:gd name="T41" fmla="*/ 2147483647 h 150"/>
                <a:gd name="T42" fmla="*/ 2147483647 w 78"/>
                <a:gd name="T43" fmla="*/ 2147483647 h 15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8" h="150">
                  <a:moveTo>
                    <a:pt x="18" y="12"/>
                  </a:moveTo>
                  <a:lnTo>
                    <a:pt x="18" y="30"/>
                  </a:lnTo>
                  <a:lnTo>
                    <a:pt x="18" y="54"/>
                  </a:lnTo>
                  <a:lnTo>
                    <a:pt x="0" y="78"/>
                  </a:lnTo>
                  <a:lnTo>
                    <a:pt x="0" y="90"/>
                  </a:lnTo>
                  <a:lnTo>
                    <a:pt x="12" y="102"/>
                  </a:lnTo>
                  <a:lnTo>
                    <a:pt x="18" y="108"/>
                  </a:lnTo>
                  <a:lnTo>
                    <a:pt x="36" y="120"/>
                  </a:lnTo>
                  <a:lnTo>
                    <a:pt x="36" y="144"/>
                  </a:lnTo>
                  <a:lnTo>
                    <a:pt x="42" y="150"/>
                  </a:lnTo>
                  <a:lnTo>
                    <a:pt x="48" y="144"/>
                  </a:lnTo>
                  <a:lnTo>
                    <a:pt x="54" y="126"/>
                  </a:lnTo>
                  <a:lnTo>
                    <a:pt x="78" y="102"/>
                  </a:lnTo>
                  <a:lnTo>
                    <a:pt x="78" y="90"/>
                  </a:lnTo>
                  <a:lnTo>
                    <a:pt x="60" y="84"/>
                  </a:lnTo>
                  <a:lnTo>
                    <a:pt x="42" y="72"/>
                  </a:lnTo>
                  <a:lnTo>
                    <a:pt x="66" y="36"/>
                  </a:lnTo>
                  <a:lnTo>
                    <a:pt x="60" y="12"/>
                  </a:lnTo>
                  <a:lnTo>
                    <a:pt x="36" y="0"/>
                  </a:lnTo>
                  <a:lnTo>
                    <a:pt x="24" y="0"/>
                  </a:lnTo>
                  <a:lnTo>
                    <a:pt x="24" y="6"/>
                  </a:lnTo>
                  <a:lnTo>
                    <a:pt x="18" y="12"/>
                  </a:lnTo>
                  <a:close/>
                </a:path>
              </a:pathLst>
            </a:custGeom>
            <a:grpFill/>
            <a:ln w="9525">
              <a:solidFill>
                <a:schemeClr val="bg2">
                  <a:lumMod val="50000"/>
                </a:schemeClr>
              </a:solidFill>
              <a:round/>
              <a:headEnd/>
              <a:tailEnd/>
            </a:ln>
          </p:spPr>
          <p:txBody>
            <a:bodyPr/>
            <a:lstStyle/>
            <a:p>
              <a:endParaRPr lang="en-US" dirty="0"/>
            </a:p>
          </p:txBody>
        </p:sp>
        <p:sp>
          <p:nvSpPr>
            <p:cNvPr id="71" name="Freeform 309"/>
            <p:cNvSpPr>
              <a:spLocks/>
            </p:cNvSpPr>
            <p:nvPr/>
          </p:nvSpPr>
          <p:spPr bwMode="gray">
            <a:xfrm>
              <a:off x="4662291" y="3374986"/>
              <a:ext cx="250095" cy="183201"/>
            </a:xfrm>
            <a:custGeom>
              <a:avLst/>
              <a:gdLst>
                <a:gd name="T0" fmla="*/ 2147483647 w 228"/>
                <a:gd name="T1" fmla="*/ 2147483647 h 174"/>
                <a:gd name="T2" fmla="*/ 2147483647 w 228"/>
                <a:gd name="T3" fmla="*/ 2147483647 h 174"/>
                <a:gd name="T4" fmla="*/ 2147483647 w 228"/>
                <a:gd name="T5" fmla="*/ 2147483647 h 174"/>
                <a:gd name="T6" fmla="*/ 2147483647 w 228"/>
                <a:gd name="T7" fmla="*/ 2147483647 h 174"/>
                <a:gd name="T8" fmla="*/ 2147483647 w 228"/>
                <a:gd name="T9" fmla="*/ 2147483647 h 174"/>
                <a:gd name="T10" fmla="*/ 2147483647 w 228"/>
                <a:gd name="T11" fmla="*/ 2147483647 h 174"/>
                <a:gd name="T12" fmla="*/ 2147483647 w 228"/>
                <a:gd name="T13" fmla="*/ 2147483647 h 174"/>
                <a:gd name="T14" fmla="*/ 2147483647 w 228"/>
                <a:gd name="T15" fmla="*/ 2147483647 h 174"/>
                <a:gd name="T16" fmla="*/ 2147483647 w 228"/>
                <a:gd name="T17" fmla="*/ 2147483647 h 174"/>
                <a:gd name="T18" fmla="*/ 2147483647 w 228"/>
                <a:gd name="T19" fmla="*/ 2147483647 h 174"/>
                <a:gd name="T20" fmla="*/ 2147483647 w 228"/>
                <a:gd name="T21" fmla="*/ 2147483647 h 174"/>
                <a:gd name="T22" fmla="*/ 2147483647 w 228"/>
                <a:gd name="T23" fmla="*/ 2147483647 h 174"/>
                <a:gd name="T24" fmla="*/ 2147483647 w 228"/>
                <a:gd name="T25" fmla="*/ 2147483647 h 174"/>
                <a:gd name="T26" fmla="*/ 2147483647 w 228"/>
                <a:gd name="T27" fmla="*/ 0 h 174"/>
                <a:gd name="T28" fmla="*/ 2147483647 w 228"/>
                <a:gd name="T29" fmla="*/ 2147483647 h 174"/>
                <a:gd name="T30" fmla="*/ 2147483647 w 228"/>
                <a:gd name="T31" fmla="*/ 2147483647 h 174"/>
                <a:gd name="T32" fmla="*/ 2147483647 w 228"/>
                <a:gd name="T33" fmla="*/ 2147483647 h 174"/>
                <a:gd name="T34" fmla="*/ 2147483647 w 228"/>
                <a:gd name="T35" fmla="*/ 2147483647 h 174"/>
                <a:gd name="T36" fmla="*/ 2147483647 w 228"/>
                <a:gd name="T37" fmla="*/ 2147483647 h 174"/>
                <a:gd name="T38" fmla="*/ 0 w 228"/>
                <a:gd name="T39" fmla="*/ 2147483647 h 174"/>
                <a:gd name="T40" fmla="*/ 2147483647 w 228"/>
                <a:gd name="T41" fmla="*/ 2147483647 h 174"/>
                <a:gd name="T42" fmla="*/ 2147483647 w 228"/>
                <a:gd name="T43" fmla="*/ 2147483647 h 1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28" h="174">
                  <a:moveTo>
                    <a:pt x="90" y="156"/>
                  </a:moveTo>
                  <a:lnTo>
                    <a:pt x="114" y="138"/>
                  </a:lnTo>
                  <a:lnTo>
                    <a:pt x="144" y="120"/>
                  </a:lnTo>
                  <a:lnTo>
                    <a:pt x="180" y="108"/>
                  </a:lnTo>
                  <a:lnTo>
                    <a:pt x="186" y="96"/>
                  </a:lnTo>
                  <a:lnTo>
                    <a:pt x="192" y="84"/>
                  </a:lnTo>
                  <a:lnTo>
                    <a:pt x="216" y="78"/>
                  </a:lnTo>
                  <a:lnTo>
                    <a:pt x="228" y="72"/>
                  </a:lnTo>
                  <a:lnTo>
                    <a:pt x="222" y="42"/>
                  </a:lnTo>
                  <a:lnTo>
                    <a:pt x="216" y="12"/>
                  </a:lnTo>
                  <a:lnTo>
                    <a:pt x="210" y="12"/>
                  </a:lnTo>
                  <a:lnTo>
                    <a:pt x="186" y="12"/>
                  </a:lnTo>
                  <a:lnTo>
                    <a:pt x="168" y="12"/>
                  </a:lnTo>
                  <a:lnTo>
                    <a:pt x="144" y="0"/>
                  </a:lnTo>
                  <a:lnTo>
                    <a:pt x="120" y="36"/>
                  </a:lnTo>
                  <a:lnTo>
                    <a:pt x="96" y="60"/>
                  </a:lnTo>
                  <a:lnTo>
                    <a:pt x="72" y="90"/>
                  </a:lnTo>
                  <a:lnTo>
                    <a:pt x="66" y="138"/>
                  </a:lnTo>
                  <a:lnTo>
                    <a:pt x="12" y="162"/>
                  </a:lnTo>
                  <a:lnTo>
                    <a:pt x="0" y="174"/>
                  </a:lnTo>
                  <a:lnTo>
                    <a:pt x="84" y="174"/>
                  </a:lnTo>
                  <a:lnTo>
                    <a:pt x="90" y="156"/>
                  </a:lnTo>
                  <a:close/>
                </a:path>
              </a:pathLst>
            </a:custGeom>
            <a:grpFill/>
            <a:ln w="9525">
              <a:solidFill>
                <a:schemeClr val="bg2">
                  <a:lumMod val="50000"/>
                </a:schemeClr>
              </a:solidFill>
              <a:round/>
              <a:headEnd/>
              <a:tailEnd/>
            </a:ln>
          </p:spPr>
          <p:txBody>
            <a:bodyPr/>
            <a:lstStyle/>
            <a:p>
              <a:endParaRPr lang="en-US" dirty="0"/>
            </a:p>
          </p:txBody>
        </p:sp>
        <p:sp>
          <p:nvSpPr>
            <p:cNvPr id="72" name="Freeform 310"/>
            <p:cNvSpPr>
              <a:spLocks/>
            </p:cNvSpPr>
            <p:nvPr/>
          </p:nvSpPr>
          <p:spPr bwMode="gray">
            <a:xfrm>
              <a:off x="4587396" y="3558187"/>
              <a:ext cx="172526" cy="143487"/>
            </a:xfrm>
            <a:custGeom>
              <a:avLst/>
              <a:gdLst>
                <a:gd name="T0" fmla="*/ 2147483647 w 26"/>
                <a:gd name="T1" fmla="*/ 2147483647 h 23"/>
                <a:gd name="T2" fmla="*/ 2147483647 w 26"/>
                <a:gd name="T3" fmla="*/ 2147483647 h 23"/>
                <a:gd name="T4" fmla="*/ 2147483647 w 26"/>
                <a:gd name="T5" fmla="*/ 2147483647 h 23"/>
                <a:gd name="T6" fmla="*/ 2147483647 w 26"/>
                <a:gd name="T7" fmla="*/ 2147483647 h 23"/>
                <a:gd name="T8" fmla="*/ 2147483647 w 26"/>
                <a:gd name="T9" fmla="*/ 2147483647 h 23"/>
                <a:gd name="T10" fmla="*/ 2147483647 w 26"/>
                <a:gd name="T11" fmla="*/ 2147483647 h 23"/>
                <a:gd name="T12" fmla="*/ 2147483647 w 26"/>
                <a:gd name="T13" fmla="*/ 0 h 23"/>
                <a:gd name="T14" fmla="*/ 2147483647 w 26"/>
                <a:gd name="T15" fmla="*/ 0 h 23"/>
                <a:gd name="T16" fmla="*/ 2147483647 w 26"/>
                <a:gd name="T17" fmla="*/ 2147483647 h 23"/>
                <a:gd name="T18" fmla="*/ 2147483647 w 26"/>
                <a:gd name="T19" fmla="*/ 2147483647 h 23"/>
                <a:gd name="T20" fmla="*/ 0 w 26"/>
                <a:gd name="T21" fmla="*/ 2147483647 h 23"/>
                <a:gd name="T22" fmla="*/ 2147483647 w 26"/>
                <a:gd name="T23" fmla="*/ 2147483647 h 23"/>
                <a:gd name="T24" fmla="*/ 2147483647 w 26"/>
                <a:gd name="T25" fmla="*/ 2147483647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3">
                  <a:moveTo>
                    <a:pt x="13" y="16"/>
                  </a:moveTo>
                  <a:cubicBezTo>
                    <a:pt x="15" y="14"/>
                    <a:pt x="15" y="14"/>
                    <a:pt x="15" y="14"/>
                  </a:cubicBezTo>
                  <a:cubicBezTo>
                    <a:pt x="16" y="6"/>
                    <a:pt x="16" y="6"/>
                    <a:pt x="16" y="6"/>
                  </a:cubicBezTo>
                  <a:cubicBezTo>
                    <a:pt x="26" y="6"/>
                    <a:pt x="26" y="6"/>
                    <a:pt x="26" y="6"/>
                  </a:cubicBezTo>
                  <a:cubicBezTo>
                    <a:pt x="26" y="3"/>
                    <a:pt x="26" y="3"/>
                    <a:pt x="26" y="3"/>
                  </a:cubicBezTo>
                  <a:cubicBezTo>
                    <a:pt x="25" y="3"/>
                    <a:pt x="25" y="3"/>
                    <a:pt x="25" y="3"/>
                  </a:cubicBezTo>
                  <a:cubicBezTo>
                    <a:pt x="25" y="0"/>
                    <a:pt x="25" y="0"/>
                    <a:pt x="25" y="0"/>
                  </a:cubicBezTo>
                  <a:cubicBezTo>
                    <a:pt x="11" y="0"/>
                    <a:pt x="11" y="0"/>
                    <a:pt x="11" y="0"/>
                  </a:cubicBezTo>
                  <a:cubicBezTo>
                    <a:pt x="9" y="2"/>
                    <a:pt x="9" y="2"/>
                    <a:pt x="9" y="2"/>
                  </a:cubicBezTo>
                  <a:cubicBezTo>
                    <a:pt x="4" y="13"/>
                    <a:pt x="4" y="13"/>
                    <a:pt x="4" y="13"/>
                  </a:cubicBezTo>
                  <a:cubicBezTo>
                    <a:pt x="0" y="22"/>
                    <a:pt x="0" y="22"/>
                    <a:pt x="0" y="22"/>
                  </a:cubicBezTo>
                  <a:cubicBezTo>
                    <a:pt x="4" y="22"/>
                    <a:pt x="12" y="23"/>
                    <a:pt x="12" y="23"/>
                  </a:cubicBezTo>
                  <a:cubicBezTo>
                    <a:pt x="13" y="23"/>
                    <a:pt x="13" y="16"/>
                    <a:pt x="13" y="16"/>
                  </a:cubicBezTo>
                  <a:close/>
                </a:path>
              </a:pathLst>
            </a:custGeom>
            <a:grpFill/>
            <a:ln w="9525">
              <a:solidFill>
                <a:schemeClr val="bg2">
                  <a:lumMod val="50000"/>
                </a:schemeClr>
              </a:solidFill>
              <a:round/>
              <a:headEnd/>
              <a:tailEnd/>
            </a:ln>
          </p:spPr>
          <p:txBody>
            <a:bodyPr/>
            <a:lstStyle/>
            <a:p>
              <a:endParaRPr lang="en-US" dirty="0"/>
            </a:p>
          </p:txBody>
        </p:sp>
        <p:sp>
          <p:nvSpPr>
            <p:cNvPr id="73" name="Freeform 311"/>
            <p:cNvSpPr>
              <a:spLocks/>
            </p:cNvSpPr>
            <p:nvPr/>
          </p:nvSpPr>
          <p:spPr bwMode="gray">
            <a:xfrm>
              <a:off x="4595421" y="3878470"/>
              <a:ext cx="52159" cy="38434"/>
            </a:xfrm>
            <a:custGeom>
              <a:avLst/>
              <a:gdLst>
                <a:gd name="T0" fmla="*/ 2147483647 w 48"/>
                <a:gd name="T1" fmla="*/ 2147483647 h 36"/>
                <a:gd name="T2" fmla="*/ 2147483647 w 48"/>
                <a:gd name="T3" fmla="*/ 2147483647 h 36"/>
                <a:gd name="T4" fmla="*/ 2147483647 w 48"/>
                <a:gd name="T5" fmla="*/ 0 h 36"/>
                <a:gd name="T6" fmla="*/ 2147483647 w 48"/>
                <a:gd name="T7" fmla="*/ 0 h 36"/>
                <a:gd name="T8" fmla="*/ 2147483647 w 48"/>
                <a:gd name="T9" fmla="*/ 2147483647 h 36"/>
                <a:gd name="T10" fmla="*/ 0 w 48"/>
                <a:gd name="T11" fmla="*/ 2147483647 h 36"/>
                <a:gd name="T12" fmla="*/ 2147483647 w 48"/>
                <a:gd name="T13" fmla="*/ 2147483647 h 36"/>
                <a:gd name="T14" fmla="*/ 2147483647 w 48"/>
                <a:gd name="T15" fmla="*/ 2147483647 h 36"/>
                <a:gd name="T16" fmla="*/ 2147483647 w 48"/>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36">
                  <a:moveTo>
                    <a:pt x="48" y="24"/>
                  </a:moveTo>
                  <a:lnTo>
                    <a:pt x="48" y="6"/>
                  </a:lnTo>
                  <a:lnTo>
                    <a:pt x="48" y="0"/>
                  </a:lnTo>
                  <a:lnTo>
                    <a:pt x="36" y="0"/>
                  </a:lnTo>
                  <a:lnTo>
                    <a:pt x="6" y="6"/>
                  </a:lnTo>
                  <a:lnTo>
                    <a:pt x="0" y="6"/>
                  </a:lnTo>
                  <a:lnTo>
                    <a:pt x="18" y="36"/>
                  </a:lnTo>
                  <a:lnTo>
                    <a:pt x="36" y="24"/>
                  </a:lnTo>
                  <a:lnTo>
                    <a:pt x="48" y="24"/>
                  </a:lnTo>
                  <a:close/>
                </a:path>
              </a:pathLst>
            </a:custGeom>
            <a:grpFill/>
            <a:ln w="9525">
              <a:solidFill>
                <a:schemeClr val="bg2">
                  <a:lumMod val="50000"/>
                </a:schemeClr>
              </a:solidFill>
              <a:round/>
              <a:headEnd/>
              <a:tailEnd/>
            </a:ln>
          </p:spPr>
          <p:txBody>
            <a:bodyPr/>
            <a:lstStyle/>
            <a:p>
              <a:endParaRPr lang="en-US" dirty="0"/>
            </a:p>
          </p:txBody>
        </p:sp>
        <p:sp>
          <p:nvSpPr>
            <p:cNvPr id="74" name="Freeform 312"/>
            <p:cNvSpPr>
              <a:spLocks/>
            </p:cNvSpPr>
            <p:nvPr/>
          </p:nvSpPr>
          <p:spPr bwMode="gray">
            <a:xfrm>
              <a:off x="5395192" y="3659397"/>
              <a:ext cx="342377" cy="402275"/>
            </a:xfrm>
            <a:custGeom>
              <a:avLst/>
              <a:gdLst>
                <a:gd name="T0" fmla="*/ 2147483647 w 52"/>
                <a:gd name="T1" fmla="*/ 2147483647 h 64"/>
                <a:gd name="T2" fmla="*/ 2147483647 w 52"/>
                <a:gd name="T3" fmla="*/ 2147483647 h 64"/>
                <a:gd name="T4" fmla="*/ 2147483647 w 52"/>
                <a:gd name="T5" fmla="*/ 2147483647 h 64"/>
                <a:gd name="T6" fmla="*/ 2147483647 w 52"/>
                <a:gd name="T7" fmla="*/ 2147483647 h 64"/>
                <a:gd name="T8" fmla="*/ 2147483647 w 52"/>
                <a:gd name="T9" fmla="*/ 2147483647 h 64"/>
                <a:gd name="T10" fmla="*/ 2147483647 w 52"/>
                <a:gd name="T11" fmla="*/ 2147483647 h 64"/>
                <a:gd name="T12" fmla="*/ 2147483647 w 52"/>
                <a:gd name="T13" fmla="*/ 2147483647 h 64"/>
                <a:gd name="T14" fmla="*/ 2147483647 w 52"/>
                <a:gd name="T15" fmla="*/ 2147483647 h 64"/>
                <a:gd name="T16" fmla="*/ 2147483647 w 52"/>
                <a:gd name="T17" fmla="*/ 2147483647 h 64"/>
                <a:gd name="T18" fmla="*/ 0 w 52"/>
                <a:gd name="T19" fmla="*/ 2147483647 h 64"/>
                <a:gd name="T20" fmla="*/ 2147483647 w 52"/>
                <a:gd name="T21" fmla="*/ 2147483647 h 64"/>
                <a:gd name="T22" fmla="*/ 2147483647 w 52"/>
                <a:gd name="T23" fmla="*/ 2147483647 h 64"/>
                <a:gd name="T24" fmla="*/ 2147483647 w 52"/>
                <a:gd name="T25" fmla="*/ 2147483647 h 64"/>
                <a:gd name="T26" fmla="*/ 2147483647 w 52"/>
                <a:gd name="T27" fmla="*/ 2147483647 h 64"/>
                <a:gd name="T28" fmla="*/ 2147483647 w 52"/>
                <a:gd name="T29" fmla="*/ 2147483647 h 64"/>
                <a:gd name="T30" fmla="*/ 2147483647 w 52"/>
                <a:gd name="T31" fmla="*/ 2147483647 h 64"/>
                <a:gd name="T32" fmla="*/ 2147483647 w 52"/>
                <a:gd name="T33" fmla="*/ 2147483647 h 64"/>
                <a:gd name="T34" fmla="*/ 2147483647 w 52"/>
                <a:gd name="T35" fmla="*/ 2147483647 h 64"/>
                <a:gd name="T36" fmla="*/ 2147483647 w 52"/>
                <a:gd name="T37" fmla="*/ 2147483647 h 64"/>
                <a:gd name="T38" fmla="*/ 2147483647 w 52"/>
                <a:gd name="T39" fmla="*/ 2147483647 h 64"/>
                <a:gd name="T40" fmla="*/ 2147483647 w 52"/>
                <a:gd name="T41" fmla="*/ 2147483647 h 64"/>
                <a:gd name="T42" fmla="*/ 2147483647 w 52"/>
                <a:gd name="T43" fmla="*/ 2147483647 h 64"/>
                <a:gd name="T44" fmla="*/ 2147483647 w 52"/>
                <a:gd name="T45" fmla="*/ 2147483647 h 64"/>
                <a:gd name="T46" fmla="*/ 2147483647 w 52"/>
                <a:gd name="T47" fmla="*/ 2147483647 h 64"/>
                <a:gd name="T48" fmla="*/ 2147483647 w 52"/>
                <a:gd name="T49" fmla="*/ 2147483647 h 64"/>
                <a:gd name="T50" fmla="*/ 2147483647 w 52"/>
                <a:gd name="T51" fmla="*/ 2147483647 h 64"/>
                <a:gd name="T52" fmla="*/ 2147483647 w 52"/>
                <a:gd name="T53" fmla="*/ 2147483647 h 64"/>
                <a:gd name="T54" fmla="*/ 2147483647 w 52"/>
                <a:gd name="T55" fmla="*/ 2147483647 h 64"/>
                <a:gd name="T56" fmla="*/ 2147483647 w 52"/>
                <a:gd name="T57" fmla="*/ 2147483647 h 64"/>
                <a:gd name="T58" fmla="*/ 2147483647 w 52"/>
                <a:gd name="T59" fmla="*/ 2147483647 h 64"/>
                <a:gd name="T60" fmla="*/ 2147483647 w 52"/>
                <a:gd name="T61" fmla="*/ 2147483647 h 64"/>
                <a:gd name="T62" fmla="*/ 2147483647 w 52"/>
                <a:gd name="T63" fmla="*/ 2147483647 h 64"/>
                <a:gd name="T64" fmla="*/ 2147483647 w 52"/>
                <a:gd name="T65" fmla="*/ 2147483647 h 64"/>
                <a:gd name="T66" fmla="*/ 2147483647 w 52"/>
                <a:gd name="T67" fmla="*/ 2147483647 h 64"/>
                <a:gd name="T68" fmla="*/ 2147483647 w 52"/>
                <a:gd name="T69" fmla="*/ 2147483647 h 64"/>
                <a:gd name="T70" fmla="*/ 2147483647 w 52"/>
                <a:gd name="T71" fmla="*/ 0 h 64"/>
                <a:gd name="T72" fmla="*/ 2147483647 w 52"/>
                <a:gd name="T73" fmla="*/ 2147483647 h 64"/>
                <a:gd name="T74" fmla="*/ 2147483647 w 52"/>
                <a:gd name="T75" fmla="*/ 2147483647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2" h="64">
                  <a:moveTo>
                    <a:pt x="37" y="5"/>
                  </a:moveTo>
                  <a:cubicBezTo>
                    <a:pt x="37" y="5"/>
                    <a:pt x="15" y="5"/>
                    <a:pt x="11" y="5"/>
                  </a:cubicBezTo>
                  <a:cubicBezTo>
                    <a:pt x="10" y="11"/>
                    <a:pt x="10" y="11"/>
                    <a:pt x="10" y="11"/>
                  </a:cubicBezTo>
                  <a:cubicBezTo>
                    <a:pt x="7" y="11"/>
                    <a:pt x="7" y="11"/>
                    <a:pt x="7" y="11"/>
                  </a:cubicBezTo>
                  <a:cubicBezTo>
                    <a:pt x="7" y="14"/>
                    <a:pt x="7" y="14"/>
                    <a:pt x="7" y="14"/>
                  </a:cubicBezTo>
                  <a:cubicBezTo>
                    <a:pt x="6" y="13"/>
                    <a:pt x="6" y="13"/>
                    <a:pt x="6" y="13"/>
                  </a:cubicBezTo>
                  <a:cubicBezTo>
                    <a:pt x="5" y="25"/>
                    <a:pt x="5" y="25"/>
                    <a:pt x="5" y="25"/>
                  </a:cubicBezTo>
                  <a:cubicBezTo>
                    <a:pt x="2" y="27"/>
                    <a:pt x="2" y="27"/>
                    <a:pt x="2" y="27"/>
                  </a:cubicBezTo>
                  <a:cubicBezTo>
                    <a:pt x="1" y="32"/>
                    <a:pt x="1" y="32"/>
                    <a:pt x="1" y="32"/>
                  </a:cubicBezTo>
                  <a:cubicBezTo>
                    <a:pt x="0" y="35"/>
                    <a:pt x="0" y="35"/>
                    <a:pt x="0" y="35"/>
                  </a:cubicBezTo>
                  <a:cubicBezTo>
                    <a:pt x="3" y="41"/>
                    <a:pt x="3" y="41"/>
                    <a:pt x="3" y="41"/>
                  </a:cubicBezTo>
                  <a:cubicBezTo>
                    <a:pt x="5" y="45"/>
                    <a:pt x="5" y="45"/>
                    <a:pt x="5" y="45"/>
                  </a:cubicBezTo>
                  <a:cubicBezTo>
                    <a:pt x="8" y="50"/>
                    <a:pt x="8" y="50"/>
                    <a:pt x="8" y="50"/>
                  </a:cubicBezTo>
                  <a:cubicBezTo>
                    <a:pt x="12" y="52"/>
                    <a:pt x="12" y="52"/>
                    <a:pt x="12" y="52"/>
                  </a:cubicBezTo>
                  <a:cubicBezTo>
                    <a:pt x="18" y="58"/>
                    <a:pt x="18" y="58"/>
                    <a:pt x="18" y="58"/>
                  </a:cubicBezTo>
                  <a:cubicBezTo>
                    <a:pt x="20" y="61"/>
                    <a:pt x="20" y="61"/>
                    <a:pt x="20" y="61"/>
                  </a:cubicBezTo>
                  <a:cubicBezTo>
                    <a:pt x="25" y="61"/>
                    <a:pt x="25" y="61"/>
                    <a:pt x="25" y="61"/>
                  </a:cubicBezTo>
                  <a:cubicBezTo>
                    <a:pt x="29" y="64"/>
                    <a:pt x="29" y="64"/>
                    <a:pt x="29" y="64"/>
                  </a:cubicBezTo>
                  <a:cubicBezTo>
                    <a:pt x="36" y="63"/>
                    <a:pt x="36" y="63"/>
                    <a:pt x="36" y="63"/>
                  </a:cubicBezTo>
                  <a:cubicBezTo>
                    <a:pt x="41" y="61"/>
                    <a:pt x="41" y="61"/>
                    <a:pt x="41" y="61"/>
                  </a:cubicBezTo>
                  <a:cubicBezTo>
                    <a:pt x="44" y="61"/>
                    <a:pt x="44" y="61"/>
                    <a:pt x="44" y="61"/>
                  </a:cubicBezTo>
                  <a:cubicBezTo>
                    <a:pt x="44" y="59"/>
                    <a:pt x="44" y="59"/>
                    <a:pt x="44" y="59"/>
                  </a:cubicBezTo>
                  <a:cubicBezTo>
                    <a:pt x="42" y="57"/>
                    <a:pt x="42" y="57"/>
                    <a:pt x="42" y="57"/>
                  </a:cubicBezTo>
                  <a:cubicBezTo>
                    <a:pt x="39" y="54"/>
                    <a:pt x="39" y="54"/>
                    <a:pt x="39" y="54"/>
                  </a:cubicBezTo>
                  <a:cubicBezTo>
                    <a:pt x="35" y="51"/>
                    <a:pt x="35" y="51"/>
                    <a:pt x="35" y="51"/>
                  </a:cubicBezTo>
                  <a:cubicBezTo>
                    <a:pt x="36" y="48"/>
                    <a:pt x="36" y="48"/>
                    <a:pt x="36" y="48"/>
                  </a:cubicBezTo>
                  <a:cubicBezTo>
                    <a:pt x="38" y="48"/>
                    <a:pt x="38" y="48"/>
                    <a:pt x="38" y="48"/>
                  </a:cubicBezTo>
                  <a:cubicBezTo>
                    <a:pt x="39" y="42"/>
                    <a:pt x="39" y="42"/>
                    <a:pt x="39" y="42"/>
                  </a:cubicBezTo>
                  <a:cubicBezTo>
                    <a:pt x="43" y="38"/>
                    <a:pt x="43" y="38"/>
                    <a:pt x="43" y="38"/>
                  </a:cubicBezTo>
                  <a:cubicBezTo>
                    <a:pt x="46" y="32"/>
                    <a:pt x="46" y="32"/>
                    <a:pt x="46" y="32"/>
                  </a:cubicBezTo>
                  <a:cubicBezTo>
                    <a:pt x="47" y="21"/>
                    <a:pt x="47" y="21"/>
                    <a:pt x="47" y="21"/>
                  </a:cubicBezTo>
                  <a:cubicBezTo>
                    <a:pt x="50" y="19"/>
                    <a:pt x="50" y="19"/>
                    <a:pt x="50" y="19"/>
                  </a:cubicBezTo>
                  <a:cubicBezTo>
                    <a:pt x="52" y="18"/>
                    <a:pt x="52" y="18"/>
                    <a:pt x="52" y="18"/>
                  </a:cubicBezTo>
                  <a:cubicBezTo>
                    <a:pt x="50" y="13"/>
                    <a:pt x="50" y="13"/>
                    <a:pt x="50" y="13"/>
                  </a:cubicBezTo>
                  <a:cubicBezTo>
                    <a:pt x="47" y="4"/>
                    <a:pt x="47" y="4"/>
                    <a:pt x="47" y="4"/>
                  </a:cubicBezTo>
                  <a:cubicBezTo>
                    <a:pt x="44" y="0"/>
                    <a:pt x="44" y="0"/>
                    <a:pt x="44" y="0"/>
                  </a:cubicBezTo>
                  <a:cubicBezTo>
                    <a:pt x="42" y="2"/>
                    <a:pt x="42" y="2"/>
                    <a:pt x="42" y="2"/>
                  </a:cubicBezTo>
                  <a:lnTo>
                    <a:pt x="37" y="5"/>
                  </a:lnTo>
                  <a:close/>
                </a:path>
              </a:pathLst>
            </a:custGeom>
            <a:grpFill/>
            <a:ln w="9525">
              <a:solidFill>
                <a:schemeClr val="bg2">
                  <a:lumMod val="50000"/>
                </a:schemeClr>
              </a:solidFill>
              <a:round/>
              <a:headEnd/>
              <a:tailEnd/>
            </a:ln>
          </p:spPr>
          <p:txBody>
            <a:bodyPr/>
            <a:lstStyle/>
            <a:p>
              <a:endParaRPr lang="en-US" dirty="0"/>
            </a:p>
          </p:txBody>
        </p:sp>
        <p:sp>
          <p:nvSpPr>
            <p:cNvPr id="75" name="Freeform 313"/>
            <p:cNvSpPr>
              <a:spLocks/>
            </p:cNvSpPr>
            <p:nvPr/>
          </p:nvSpPr>
          <p:spPr bwMode="gray">
            <a:xfrm>
              <a:off x="4759922" y="3923310"/>
              <a:ext cx="125717" cy="119146"/>
            </a:xfrm>
            <a:custGeom>
              <a:avLst/>
              <a:gdLst>
                <a:gd name="T0" fmla="*/ 2147483647 w 19"/>
                <a:gd name="T1" fmla="*/ 2147483647 h 19"/>
                <a:gd name="T2" fmla="*/ 2147483647 w 19"/>
                <a:gd name="T3" fmla="*/ 2147483647 h 19"/>
                <a:gd name="T4" fmla="*/ 2147483647 w 19"/>
                <a:gd name="T5" fmla="*/ 2147483647 h 19"/>
                <a:gd name="T6" fmla="*/ 2147483647 w 19"/>
                <a:gd name="T7" fmla="*/ 2147483647 h 19"/>
                <a:gd name="T8" fmla="*/ 2147483647 w 19"/>
                <a:gd name="T9" fmla="*/ 2147483647 h 19"/>
                <a:gd name="T10" fmla="*/ 2147483647 w 19"/>
                <a:gd name="T11" fmla="*/ 2147483647 h 19"/>
                <a:gd name="T12" fmla="*/ 2147483647 w 19"/>
                <a:gd name="T13" fmla="*/ 0 h 19"/>
                <a:gd name="T14" fmla="*/ 2147483647 w 19"/>
                <a:gd name="T15" fmla="*/ 0 h 19"/>
                <a:gd name="T16" fmla="*/ 2147483647 w 19"/>
                <a:gd name="T17" fmla="*/ 0 h 19"/>
                <a:gd name="T18" fmla="*/ 2147483647 w 19"/>
                <a:gd name="T19" fmla="*/ 2147483647 h 19"/>
                <a:gd name="T20" fmla="*/ 2147483647 w 19"/>
                <a:gd name="T21" fmla="*/ 2147483647 h 19"/>
                <a:gd name="T22" fmla="*/ 2147483647 w 19"/>
                <a:gd name="T23" fmla="*/ 2147483647 h 19"/>
                <a:gd name="T24" fmla="*/ 2147483647 w 19"/>
                <a:gd name="T25" fmla="*/ 2147483647 h 19"/>
                <a:gd name="T26" fmla="*/ 0 w 19"/>
                <a:gd name="T27" fmla="*/ 2147483647 h 19"/>
                <a:gd name="T28" fmla="*/ 2147483647 w 19"/>
                <a:gd name="T29" fmla="*/ 2147483647 h 19"/>
                <a:gd name="T30" fmla="*/ 2147483647 w 19"/>
                <a:gd name="T31" fmla="*/ 2147483647 h 19"/>
                <a:gd name="T32" fmla="*/ 2147483647 w 19"/>
                <a:gd name="T33" fmla="*/ 2147483647 h 19"/>
                <a:gd name="T34" fmla="*/ 2147483647 w 19"/>
                <a:gd name="T35" fmla="*/ 2147483647 h 19"/>
                <a:gd name="T36" fmla="*/ 2147483647 w 19"/>
                <a:gd name="T37" fmla="*/ 2147483647 h 19"/>
                <a:gd name="T38" fmla="*/ 2147483647 w 19"/>
                <a:gd name="T39" fmla="*/ 2147483647 h 19"/>
                <a:gd name="T40" fmla="*/ 2147483647 w 19"/>
                <a:gd name="T41" fmla="*/ 2147483647 h 19"/>
                <a:gd name="T42" fmla="*/ 2147483647 w 19"/>
                <a:gd name="T43" fmla="*/ 2147483647 h 19"/>
                <a:gd name="T44" fmla="*/ 2147483647 w 19"/>
                <a:gd name="T45" fmla="*/ 2147483647 h 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9" h="19">
                  <a:moveTo>
                    <a:pt x="17" y="10"/>
                  </a:moveTo>
                  <a:cubicBezTo>
                    <a:pt x="19" y="6"/>
                    <a:pt x="19" y="6"/>
                    <a:pt x="19" y="6"/>
                  </a:cubicBezTo>
                  <a:cubicBezTo>
                    <a:pt x="17" y="2"/>
                    <a:pt x="17" y="2"/>
                    <a:pt x="17" y="2"/>
                  </a:cubicBezTo>
                  <a:cubicBezTo>
                    <a:pt x="12" y="3"/>
                    <a:pt x="12" y="3"/>
                    <a:pt x="12" y="3"/>
                  </a:cubicBezTo>
                  <a:cubicBezTo>
                    <a:pt x="10" y="1"/>
                    <a:pt x="10" y="1"/>
                    <a:pt x="10" y="1"/>
                  </a:cubicBezTo>
                  <a:cubicBezTo>
                    <a:pt x="8" y="1"/>
                    <a:pt x="8" y="1"/>
                    <a:pt x="8" y="1"/>
                  </a:cubicBezTo>
                  <a:cubicBezTo>
                    <a:pt x="6" y="0"/>
                    <a:pt x="6" y="0"/>
                    <a:pt x="6" y="0"/>
                  </a:cubicBezTo>
                  <a:cubicBezTo>
                    <a:pt x="5" y="0"/>
                    <a:pt x="5" y="0"/>
                    <a:pt x="5" y="0"/>
                  </a:cubicBezTo>
                  <a:cubicBezTo>
                    <a:pt x="3" y="0"/>
                    <a:pt x="3" y="0"/>
                    <a:pt x="3" y="0"/>
                  </a:cubicBezTo>
                  <a:cubicBezTo>
                    <a:pt x="1" y="1"/>
                    <a:pt x="1" y="1"/>
                    <a:pt x="1" y="1"/>
                  </a:cubicBezTo>
                  <a:cubicBezTo>
                    <a:pt x="2" y="1"/>
                    <a:pt x="2" y="1"/>
                    <a:pt x="2" y="1"/>
                  </a:cubicBezTo>
                  <a:cubicBezTo>
                    <a:pt x="2" y="5"/>
                    <a:pt x="2" y="5"/>
                    <a:pt x="2" y="5"/>
                  </a:cubicBezTo>
                  <a:cubicBezTo>
                    <a:pt x="2" y="9"/>
                    <a:pt x="2" y="9"/>
                    <a:pt x="2" y="9"/>
                  </a:cubicBezTo>
                  <a:cubicBezTo>
                    <a:pt x="2" y="9"/>
                    <a:pt x="1" y="10"/>
                    <a:pt x="0" y="10"/>
                  </a:cubicBezTo>
                  <a:cubicBezTo>
                    <a:pt x="1" y="11"/>
                    <a:pt x="1" y="11"/>
                    <a:pt x="1" y="11"/>
                  </a:cubicBezTo>
                  <a:cubicBezTo>
                    <a:pt x="1" y="11"/>
                    <a:pt x="0" y="14"/>
                    <a:pt x="1" y="14"/>
                  </a:cubicBezTo>
                  <a:cubicBezTo>
                    <a:pt x="1" y="14"/>
                    <a:pt x="4" y="16"/>
                    <a:pt x="4" y="16"/>
                  </a:cubicBezTo>
                  <a:cubicBezTo>
                    <a:pt x="4" y="19"/>
                    <a:pt x="4" y="19"/>
                    <a:pt x="4" y="19"/>
                  </a:cubicBezTo>
                  <a:cubicBezTo>
                    <a:pt x="8" y="19"/>
                    <a:pt x="8" y="19"/>
                    <a:pt x="8" y="19"/>
                  </a:cubicBezTo>
                  <a:cubicBezTo>
                    <a:pt x="15" y="16"/>
                    <a:pt x="15" y="16"/>
                    <a:pt x="15" y="16"/>
                  </a:cubicBezTo>
                  <a:cubicBezTo>
                    <a:pt x="18" y="16"/>
                    <a:pt x="18" y="16"/>
                    <a:pt x="18" y="16"/>
                  </a:cubicBezTo>
                  <a:cubicBezTo>
                    <a:pt x="17" y="13"/>
                    <a:pt x="17" y="13"/>
                    <a:pt x="17" y="13"/>
                  </a:cubicBezTo>
                  <a:lnTo>
                    <a:pt x="17" y="10"/>
                  </a:lnTo>
                  <a:close/>
                </a:path>
              </a:pathLst>
            </a:custGeom>
            <a:grpFill/>
            <a:ln w="9525">
              <a:solidFill>
                <a:schemeClr val="bg2">
                  <a:lumMod val="50000"/>
                </a:schemeClr>
              </a:solidFill>
              <a:round/>
              <a:headEnd/>
              <a:tailEnd/>
            </a:ln>
          </p:spPr>
          <p:txBody>
            <a:bodyPr/>
            <a:lstStyle/>
            <a:p>
              <a:endParaRPr lang="en-US" dirty="0"/>
            </a:p>
          </p:txBody>
        </p:sp>
        <p:sp>
          <p:nvSpPr>
            <p:cNvPr id="76" name="Freeform 314"/>
            <p:cNvSpPr>
              <a:spLocks/>
            </p:cNvSpPr>
            <p:nvPr/>
          </p:nvSpPr>
          <p:spPr bwMode="gray">
            <a:xfrm>
              <a:off x="4695726" y="3968149"/>
              <a:ext cx="89607" cy="74305"/>
            </a:xfrm>
            <a:custGeom>
              <a:avLst/>
              <a:gdLst>
                <a:gd name="T0" fmla="*/ 2147483647 w 14"/>
                <a:gd name="T1" fmla="*/ 2147483647 h 12"/>
                <a:gd name="T2" fmla="*/ 2147483647 w 14"/>
                <a:gd name="T3" fmla="*/ 2147483647 h 12"/>
                <a:gd name="T4" fmla="*/ 2147483647 w 14"/>
                <a:gd name="T5" fmla="*/ 2147483647 h 12"/>
                <a:gd name="T6" fmla="*/ 2147483647 w 14"/>
                <a:gd name="T7" fmla="*/ 2147483647 h 12"/>
                <a:gd name="T8" fmla="*/ 2147483647 w 14"/>
                <a:gd name="T9" fmla="*/ 2147483647 h 12"/>
                <a:gd name="T10" fmla="*/ 2147483647 w 14"/>
                <a:gd name="T11" fmla="*/ 0 h 12"/>
                <a:gd name="T12" fmla="*/ 2147483647 w 14"/>
                <a:gd name="T13" fmla="*/ 2147483647 h 12"/>
                <a:gd name="T14" fmla="*/ 2147483647 w 14"/>
                <a:gd name="T15" fmla="*/ 2147483647 h 12"/>
                <a:gd name="T16" fmla="*/ 0 w 14"/>
                <a:gd name="T17" fmla="*/ 2147483647 h 12"/>
                <a:gd name="T18" fmla="*/ 2147483647 w 14"/>
                <a:gd name="T19" fmla="*/ 2147483647 h 12"/>
                <a:gd name="T20" fmla="*/ 2147483647 w 14"/>
                <a:gd name="T21" fmla="*/ 2147483647 h 12"/>
                <a:gd name="T22" fmla="*/ 2147483647 w 14"/>
                <a:gd name="T23" fmla="*/ 2147483647 h 12"/>
                <a:gd name="T24" fmla="*/ 2147483647 w 14"/>
                <a:gd name="T25" fmla="*/ 2147483647 h 12"/>
                <a:gd name="T26" fmla="*/ 2147483647 w 14"/>
                <a:gd name="T27" fmla="*/ 214748364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 h="12">
                  <a:moveTo>
                    <a:pt x="11" y="7"/>
                  </a:moveTo>
                  <a:cubicBezTo>
                    <a:pt x="10" y="7"/>
                    <a:pt x="11" y="4"/>
                    <a:pt x="11" y="4"/>
                  </a:cubicBezTo>
                  <a:cubicBezTo>
                    <a:pt x="10" y="3"/>
                    <a:pt x="10" y="3"/>
                    <a:pt x="10" y="3"/>
                  </a:cubicBezTo>
                  <a:cubicBezTo>
                    <a:pt x="9" y="3"/>
                    <a:pt x="8" y="4"/>
                    <a:pt x="8" y="4"/>
                  </a:cubicBezTo>
                  <a:cubicBezTo>
                    <a:pt x="7" y="4"/>
                    <a:pt x="6" y="1"/>
                    <a:pt x="6" y="1"/>
                  </a:cubicBezTo>
                  <a:cubicBezTo>
                    <a:pt x="4" y="0"/>
                    <a:pt x="4" y="0"/>
                    <a:pt x="4" y="0"/>
                  </a:cubicBezTo>
                  <a:cubicBezTo>
                    <a:pt x="3" y="2"/>
                    <a:pt x="3" y="2"/>
                    <a:pt x="3" y="2"/>
                  </a:cubicBezTo>
                  <a:cubicBezTo>
                    <a:pt x="1" y="3"/>
                    <a:pt x="1" y="3"/>
                    <a:pt x="1" y="3"/>
                  </a:cubicBezTo>
                  <a:cubicBezTo>
                    <a:pt x="0" y="5"/>
                    <a:pt x="0" y="5"/>
                    <a:pt x="0" y="5"/>
                  </a:cubicBezTo>
                  <a:cubicBezTo>
                    <a:pt x="1" y="6"/>
                    <a:pt x="1" y="6"/>
                    <a:pt x="1" y="6"/>
                  </a:cubicBezTo>
                  <a:cubicBezTo>
                    <a:pt x="10" y="12"/>
                    <a:pt x="10" y="12"/>
                    <a:pt x="10" y="12"/>
                  </a:cubicBezTo>
                  <a:cubicBezTo>
                    <a:pt x="14" y="12"/>
                    <a:pt x="14" y="12"/>
                    <a:pt x="14" y="12"/>
                  </a:cubicBezTo>
                  <a:cubicBezTo>
                    <a:pt x="14" y="9"/>
                    <a:pt x="14" y="9"/>
                    <a:pt x="14" y="9"/>
                  </a:cubicBezTo>
                  <a:cubicBezTo>
                    <a:pt x="14" y="9"/>
                    <a:pt x="11" y="7"/>
                    <a:pt x="11" y="7"/>
                  </a:cubicBezTo>
                  <a:close/>
                </a:path>
              </a:pathLst>
            </a:custGeom>
            <a:grpFill/>
            <a:ln w="9525">
              <a:solidFill>
                <a:schemeClr val="bg2">
                  <a:lumMod val="50000"/>
                </a:schemeClr>
              </a:solidFill>
              <a:round/>
              <a:headEnd/>
              <a:tailEnd/>
            </a:ln>
          </p:spPr>
          <p:txBody>
            <a:bodyPr/>
            <a:lstStyle/>
            <a:p>
              <a:endParaRPr lang="en-US" dirty="0"/>
            </a:p>
          </p:txBody>
        </p:sp>
        <p:sp>
          <p:nvSpPr>
            <p:cNvPr id="77" name="Freeform 315"/>
            <p:cNvSpPr>
              <a:spLocks/>
            </p:cNvSpPr>
            <p:nvPr/>
          </p:nvSpPr>
          <p:spPr bwMode="gray">
            <a:xfrm>
              <a:off x="4654267" y="3942527"/>
              <a:ext cx="66871" cy="56370"/>
            </a:xfrm>
            <a:custGeom>
              <a:avLst/>
              <a:gdLst>
                <a:gd name="T0" fmla="*/ 2147483647 w 60"/>
                <a:gd name="T1" fmla="*/ 2147483647 h 54"/>
                <a:gd name="T2" fmla="*/ 2147483647 w 60"/>
                <a:gd name="T3" fmla="*/ 2147483647 h 54"/>
                <a:gd name="T4" fmla="*/ 2147483647 w 60"/>
                <a:gd name="T5" fmla="*/ 2147483647 h 54"/>
                <a:gd name="T6" fmla="*/ 2147483647 w 60"/>
                <a:gd name="T7" fmla="*/ 0 h 54"/>
                <a:gd name="T8" fmla="*/ 2147483647 w 60"/>
                <a:gd name="T9" fmla="*/ 0 h 54"/>
                <a:gd name="T10" fmla="*/ 2147483647 w 60"/>
                <a:gd name="T11" fmla="*/ 2147483647 h 54"/>
                <a:gd name="T12" fmla="*/ 0 w 60"/>
                <a:gd name="T13" fmla="*/ 2147483647 h 54"/>
                <a:gd name="T14" fmla="*/ 2147483647 w 60"/>
                <a:gd name="T15" fmla="*/ 2147483647 h 54"/>
                <a:gd name="T16" fmla="*/ 2147483647 w 60"/>
                <a:gd name="T17" fmla="*/ 2147483647 h 54"/>
                <a:gd name="T18" fmla="*/ 2147483647 w 60"/>
                <a:gd name="T19" fmla="*/ 2147483647 h 54"/>
                <a:gd name="T20" fmla="*/ 2147483647 w 60"/>
                <a:gd name="T21" fmla="*/ 2147483647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0" h="54">
                  <a:moveTo>
                    <a:pt x="54" y="36"/>
                  </a:moveTo>
                  <a:lnTo>
                    <a:pt x="60" y="24"/>
                  </a:lnTo>
                  <a:lnTo>
                    <a:pt x="54" y="18"/>
                  </a:lnTo>
                  <a:lnTo>
                    <a:pt x="42" y="0"/>
                  </a:lnTo>
                  <a:lnTo>
                    <a:pt x="18" y="0"/>
                  </a:lnTo>
                  <a:lnTo>
                    <a:pt x="12" y="12"/>
                  </a:lnTo>
                  <a:lnTo>
                    <a:pt x="0" y="18"/>
                  </a:lnTo>
                  <a:lnTo>
                    <a:pt x="12" y="30"/>
                  </a:lnTo>
                  <a:lnTo>
                    <a:pt x="36" y="54"/>
                  </a:lnTo>
                  <a:lnTo>
                    <a:pt x="42" y="42"/>
                  </a:lnTo>
                  <a:lnTo>
                    <a:pt x="54" y="36"/>
                  </a:lnTo>
                  <a:close/>
                </a:path>
              </a:pathLst>
            </a:custGeom>
            <a:grpFill/>
            <a:ln w="9525">
              <a:solidFill>
                <a:schemeClr val="bg2">
                  <a:lumMod val="50000"/>
                </a:schemeClr>
              </a:solidFill>
              <a:round/>
              <a:headEnd/>
              <a:tailEnd/>
            </a:ln>
          </p:spPr>
          <p:txBody>
            <a:bodyPr/>
            <a:lstStyle/>
            <a:p>
              <a:endParaRPr lang="en-US" dirty="0"/>
            </a:p>
          </p:txBody>
        </p:sp>
        <p:sp>
          <p:nvSpPr>
            <p:cNvPr id="78" name="Rectangle 316"/>
            <p:cNvSpPr>
              <a:spLocks noChangeArrowheads="1"/>
            </p:cNvSpPr>
            <p:nvPr/>
          </p:nvSpPr>
          <p:spPr bwMode="gray">
            <a:xfrm>
              <a:off x="4751897" y="3558187"/>
              <a:ext cx="8024" cy="19218"/>
            </a:xfrm>
            <a:prstGeom prst="rect">
              <a:avLst/>
            </a:prstGeom>
            <a:grpFill/>
            <a:ln w="9525">
              <a:solidFill>
                <a:schemeClr val="bg2">
                  <a:lumMod val="50000"/>
                </a:schemeClr>
              </a:solidFill>
              <a:miter lim="800000"/>
              <a:headEnd/>
              <a:tailEnd/>
            </a:ln>
          </p:spPr>
          <p:txBody>
            <a:bodyPr/>
            <a:lstStyle/>
            <a:p>
              <a:pPr algn="ctr" eaLnBrk="1" hangingPunct="1">
                <a:spcBef>
                  <a:spcPct val="15000"/>
                </a:spcBef>
              </a:pPr>
              <a:endParaRPr lang="en-US" dirty="0"/>
            </a:p>
          </p:txBody>
        </p:sp>
        <p:sp>
          <p:nvSpPr>
            <p:cNvPr id="79" name="Freeform 317"/>
            <p:cNvSpPr>
              <a:spLocks/>
            </p:cNvSpPr>
            <p:nvPr/>
          </p:nvSpPr>
          <p:spPr bwMode="gray">
            <a:xfrm>
              <a:off x="4751897" y="3337833"/>
              <a:ext cx="431984" cy="407400"/>
            </a:xfrm>
            <a:custGeom>
              <a:avLst/>
              <a:gdLst>
                <a:gd name="T0" fmla="*/ 2147483647 w 390"/>
                <a:gd name="T1" fmla="*/ 2147483647 h 390"/>
                <a:gd name="T2" fmla="*/ 2147483647 w 390"/>
                <a:gd name="T3" fmla="*/ 2147483647 h 390"/>
                <a:gd name="T4" fmla="*/ 2147483647 w 390"/>
                <a:gd name="T5" fmla="*/ 2147483647 h 390"/>
                <a:gd name="T6" fmla="*/ 2147483647 w 390"/>
                <a:gd name="T7" fmla="*/ 2147483647 h 390"/>
                <a:gd name="T8" fmla="*/ 2147483647 w 390"/>
                <a:gd name="T9" fmla="*/ 2147483647 h 390"/>
                <a:gd name="T10" fmla="*/ 2147483647 w 390"/>
                <a:gd name="T11" fmla="*/ 2147483647 h 390"/>
                <a:gd name="T12" fmla="*/ 2147483647 w 390"/>
                <a:gd name="T13" fmla="*/ 2147483647 h 390"/>
                <a:gd name="T14" fmla="*/ 2147483647 w 390"/>
                <a:gd name="T15" fmla="*/ 2147483647 h 390"/>
                <a:gd name="T16" fmla="*/ 2147483647 w 390"/>
                <a:gd name="T17" fmla="*/ 2147483647 h 390"/>
                <a:gd name="T18" fmla="*/ 2147483647 w 390"/>
                <a:gd name="T19" fmla="*/ 2147483647 h 390"/>
                <a:gd name="T20" fmla="*/ 2147483647 w 390"/>
                <a:gd name="T21" fmla="*/ 2147483647 h 390"/>
                <a:gd name="T22" fmla="*/ 2147483647 w 390"/>
                <a:gd name="T23" fmla="*/ 2147483647 h 390"/>
                <a:gd name="T24" fmla="*/ 2147483647 w 390"/>
                <a:gd name="T25" fmla="*/ 2147483647 h 390"/>
                <a:gd name="T26" fmla="*/ 2147483647 w 390"/>
                <a:gd name="T27" fmla="*/ 2147483647 h 390"/>
                <a:gd name="T28" fmla="*/ 2147483647 w 390"/>
                <a:gd name="T29" fmla="*/ 2147483647 h 390"/>
                <a:gd name="T30" fmla="*/ 2147483647 w 390"/>
                <a:gd name="T31" fmla="*/ 2147483647 h 390"/>
                <a:gd name="T32" fmla="*/ 2147483647 w 390"/>
                <a:gd name="T33" fmla="*/ 2147483647 h 390"/>
                <a:gd name="T34" fmla="*/ 2147483647 w 390"/>
                <a:gd name="T35" fmla="*/ 2147483647 h 390"/>
                <a:gd name="T36" fmla="*/ 2147483647 w 390"/>
                <a:gd name="T37" fmla="*/ 2147483647 h 390"/>
                <a:gd name="T38" fmla="*/ 2147483647 w 390"/>
                <a:gd name="T39" fmla="*/ 2147483647 h 390"/>
                <a:gd name="T40" fmla="*/ 2147483647 w 390"/>
                <a:gd name="T41" fmla="*/ 2147483647 h 390"/>
                <a:gd name="T42" fmla="*/ 2147483647 w 390"/>
                <a:gd name="T43" fmla="*/ 2147483647 h 390"/>
                <a:gd name="T44" fmla="*/ 2147483647 w 390"/>
                <a:gd name="T45" fmla="*/ 2147483647 h 390"/>
                <a:gd name="T46" fmla="*/ 2147483647 w 390"/>
                <a:gd name="T47" fmla="*/ 2147483647 h 390"/>
                <a:gd name="T48" fmla="*/ 2147483647 w 390"/>
                <a:gd name="T49" fmla="*/ 0 h 390"/>
                <a:gd name="T50" fmla="*/ 2147483647 w 390"/>
                <a:gd name="T51" fmla="*/ 2147483647 h 390"/>
                <a:gd name="T52" fmla="*/ 2147483647 w 390"/>
                <a:gd name="T53" fmla="*/ 2147483647 h 390"/>
                <a:gd name="T54" fmla="*/ 2147483647 w 390"/>
                <a:gd name="T55" fmla="*/ 2147483647 h 390"/>
                <a:gd name="T56" fmla="*/ 2147483647 w 390"/>
                <a:gd name="T57" fmla="*/ 2147483647 h 390"/>
                <a:gd name="T58" fmla="*/ 2147483647 w 390"/>
                <a:gd name="T59" fmla="*/ 2147483647 h 390"/>
                <a:gd name="T60" fmla="*/ 2147483647 w 390"/>
                <a:gd name="T61" fmla="*/ 2147483647 h 390"/>
                <a:gd name="T62" fmla="*/ 2147483647 w 390"/>
                <a:gd name="T63" fmla="*/ 2147483647 h 390"/>
                <a:gd name="T64" fmla="*/ 2147483647 w 390"/>
                <a:gd name="T65" fmla="*/ 2147483647 h 390"/>
                <a:gd name="T66" fmla="*/ 2147483647 w 390"/>
                <a:gd name="T67" fmla="*/ 2147483647 h 390"/>
                <a:gd name="T68" fmla="*/ 2147483647 w 390"/>
                <a:gd name="T69" fmla="*/ 2147483647 h 390"/>
                <a:gd name="T70" fmla="*/ 2147483647 w 390"/>
                <a:gd name="T71" fmla="*/ 2147483647 h 390"/>
                <a:gd name="T72" fmla="*/ 2147483647 w 390"/>
                <a:gd name="T73" fmla="*/ 2147483647 h 390"/>
                <a:gd name="T74" fmla="*/ 2147483647 w 390"/>
                <a:gd name="T75" fmla="*/ 2147483647 h 390"/>
                <a:gd name="T76" fmla="*/ 2147483647 w 390"/>
                <a:gd name="T77" fmla="*/ 2147483647 h 390"/>
                <a:gd name="T78" fmla="*/ 0 w 390"/>
                <a:gd name="T79" fmla="*/ 2147483647 h 390"/>
                <a:gd name="T80" fmla="*/ 2147483647 w 390"/>
                <a:gd name="T81" fmla="*/ 2147483647 h 390"/>
                <a:gd name="T82" fmla="*/ 2147483647 w 390"/>
                <a:gd name="T83" fmla="*/ 2147483647 h 390"/>
                <a:gd name="T84" fmla="*/ 2147483647 w 390"/>
                <a:gd name="T85" fmla="*/ 2147483647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close/>
                </a:path>
              </a:pathLst>
            </a:custGeom>
            <a:grpFill/>
            <a:ln w="9525">
              <a:solidFill>
                <a:schemeClr val="bg2">
                  <a:lumMod val="50000"/>
                </a:schemeClr>
              </a:solidFill>
              <a:round/>
              <a:headEnd/>
              <a:tailEnd/>
            </a:ln>
          </p:spPr>
          <p:txBody>
            <a:bodyPr/>
            <a:lstStyle/>
            <a:p>
              <a:endParaRPr lang="en-US" dirty="0"/>
            </a:p>
          </p:txBody>
        </p:sp>
        <p:sp>
          <p:nvSpPr>
            <p:cNvPr id="80" name="Freeform 318"/>
            <p:cNvSpPr>
              <a:spLocks/>
            </p:cNvSpPr>
            <p:nvPr/>
          </p:nvSpPr>
          <p:spPr bwMode="gray">
            <a:xfrm>
              <a:off x="4751897" y="3337833"/>
              <a:ext cx="431984" cy="407400"/>
            </a:xfrm>
            <a:custGeom>
              <a:avLst/>
              <a:gdLst>
                <a:gd name="T0" fmla="*/ 2147483647 w 390"/>
                <a:gd name="T1" fmla="*/ 2147483647 h 390"/>
                <a:gd name="T2" fmla="*/ 2147483647 w 390"/>
                <a:gd name="T3" fmla="*/ 2147483647 h 390"/>
                <a:gd name="T4" fmla="*/ 2147483647 w 390"/>
                <a:gd name="T5" fmla="*/ 2147483647 h 390"/>
                <a:gd name="T6" fmla="*/ 2147483647 w 390"/>
                <a:gd name="T7" fmla="*/ 2147483647 h 390"/>
                <a:gd name="T8" fmla="*/ 2147483647 w 390"/>
                <a:gd name="T9" fmla="*/ 2147483647 h 390"/>
                <a:gd name="T10" fmla="*/ 2147483647 w 390"/>
                <a:gd name="T11" fmla="*/ 2147483647 h 390"/>
                <a:gd name="T12" fmla="*/ 2147483647 w 390"/>
                <a:gd name="T13" fmla="*/ 2147483647 h 390"/>
                <a:gd name="T14" fmla="*/ 2147483647 w 390"/>
                <a:gd name="T15" fmla="*/ 2147483647 h 390"/>
                <a:gd name="T16" fmla="*/ 2147483647 w 390"/>
                <a:gd name="T17" fmla="*/ 2147483647 h 390"/>
                <a:gd name="T18" fmla="*/ 2147483647 w 390"/>
                <a:gd name="T19" fmla="*/ 2147483647 h 390"/>
                <a:gd name="T20" fmla="*/ 2147483647 w 390"/>
                <a:gd name="T21" fmla="*/ 2147483647 h 390"/>
                <a:gd name="T22" fmla="*/ 2147483647 w 390"/>
                <a:gd name="T23" fmla="*/ 2147483647 h 390"/>
                <a:gd name="T24" fmla="*/ 2147483647 w 390"/>
                <a:gd name="T25" fmla="*/ 2147483647 h 390"/>
                <a:gd name="T26" fmla="*/ 2147483647 w 390"/>
                <a:gd name="T27" fmla="*/ 2147483647 h 390"/>
                <a:gd name="T28" fmla="*/ 2147483647 w 390"/>
                <a:gd name="T29" fmla="*/ 2147483647 h 390"/>
                <a:gd name="T30" fmla="*/ 2147483647 w 390"/>
                <a:gd name="T31" fmla="*/ 2147483647 h 390"/>
                <a:gd name="T32" fmla="*/ 2147483647 w 390"/>
                <a:gd name="T33" fmla="*/ 2147483647 h 390"/>
                <a:gd name="T34" fmla="*/ 2147483647 w 390"/>
                <a:gd name="T35" fmla="*/ 2147483647 h 390"/>
                <a:gd name="T36" fmla="*/ 2147483647 w 390"/>
                <a:gd name="T37" fmla="*/ 2147483647 h 390"/>
                <a:gd name="T38" fmla="*/ 2147483647 w 390"/>
                <a:gd name="T39" fmla="*/ 2147483647 h 390"/>
                <a:gd name="T40" fmla="*/ 2147483647 w 390"/>
                <a:gd name="T41" fmla="*/ 2147483647 h 390"/>
                <a:gd name="T42" fmla="*/ 2147483647 w 390"/>
                <a:gd name="T43" fmla="*/ 2147483647 h 390"/>
                <a:gd name="T44" fmla="*/ 2147483647 w 390"/>
                <a:gd name="T45" fmla="*/ 2147483647 h 390"/>
                <a:gd name="T46" fmla="*/ 2147483647 w 390"/>
                <a:gd name="T47" fmla="*/ 2147483647 h 390"/>
                <a:gd name="T48" fmla="*/ 2147483647 w 390"/>
                <a:gd name="T49" fmla="*/ 0 h 390"/>
                <a:gd name="T50" fmla="*/ 2147483647 w 390"/>
                <a:gd name="T51" fmla="*/ 2147483647 h 390"/>
                <a:gd name="T52" fmla="*/ 2147483647 w 390"/>
                <a:gd name="T53" fmla="*/ 2147483647 h 390"/>
                <a:gd name="T54" fmla="*/ 2147483647 w 390"/>
                <a:gd name="T55" fmla="*/ 2147483647 h 390"/>
                <a:gd name="T56" fmla="*/ 2147483647 w 390"/>
                <a:gd name="T57" fmla="*/ 2147483647 h 390"/>
                <a:gd name="T58" fmla="*/ 2147483647 w 390"/>
                <a:gd name="T59" fmla="*/ 2147483647 h 390"/>
                <a:gd name="T60" fmla="*/ 2147483647 w 390"/>
                <a:gd name="T61" fmla="*/ 2147483647 h 390"/>
                <a:gd name="T62" fmla="*/ 2147483647 w 390"/>
                <a:gd name="T63" fmla="*/ 2147483647 h 390"/>
                <a:gd name="T64" fmla="*/ 2147483647 w 390"/>
                <a:gd name="T65" fmla="*/ 2147483647 h 390"/>
                <a:gd name="T66" fmla="*/ 2147483647 w 390"/>
                <a:gd name="T67" fmla="*/ 2147483647 h 390"/>
                <a:gd name="T68" fmla="*/ 2147483647 w 390"/>
                <a:gd name="T69" fmla="*/ 2147483647 h 390"/>
                <a:gd name="T70" fmla="*/ 2147483647 w 390"/>
                <a:gd name="T71" fmla="*/ 2147483647 h 390"/>
                <a:gd name="T72" fmla="*/ 2147483647 w 390"/>
                <a:gd name="T73" fmla="*/ 2147483647 h 390"/>
                <a:gd name="T74" fmla="*/ 2147483647 w 390"/>
                <a:gd name="T75" fmla="*/ 2147483647 h 390"/>
                <a:gd name="T76" fmla="*/ 2147483647 w 390"/>
                <a:gd name="T77" fmla="*/ 2147483647 h 390"/>
                <a:gd name="T78" fmla="*/ 0 w 390"/>
                <a:gd name="T79" fmla="*/ 2147483647 h 390"/>
                <a:gd name="T80" fmla="*/ 2147483647 w 390"/>
                <a:gd name="T81" fmla="*/ 2147483647 h 390"/>
                <a:gd name="T82" fmla="*/ 2147483647 w 390"/>
                <a:gd name="T83" fmla="*/ 2147483647 h 390"/>
                <a:gd name="T84" fmla="*/ 2147483647 w 390"/>
                <a:gd name="T85" fmla="*/ 2147483647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path>
              </a:pathLst>
            </a:custGeom>
            <a:grpFill/>
            <a:ln w="9525">
              <a:solidFill>
                <a:schemeClr val="bg2">
                  <a:lumMod val="50000"/>
                </a:schemeClr>
              </a:solidFill>
              <a:round/>
              <a:headEnd/>
              <a:tailEnd/>
            </a:ln>
          </p:spPr>
          <p:txBody>
            <a:bodyPr/>
            <a:lstStyle/>
            <a:p>
              <a:endParaRPr lang="en-US" dirty="0"/>
            </a:p>
          </p:txBody>
        </p:sp>
        <p:sp>
          <p:nvSpPr>
            <p:cNvPr id="81" name="Freeform 327"/>
            <p:cNvSpPr>
              <a:spLocks/>
            </p:cNvSpPr>
            <p:nvPr/>
          </p:nvSpPr>
          <p:spPr bwMode="gray">
            <a:xfrm>
              <a:off x="5982315" y="3330146"/>
              <a:ext cx="21398" cy="14093"/>
            </a:xfrm>
            <a:custGeom>
              <a:avLst/>
              <a:gdLst>
                <a:gd name="T0" fmla="*/ 0 w 18"/>
                <a:gd name="T1" fmla="*/ 0 h 12"/>
                <a:gd name="T2" fmla="*/ 2147483647 w 18"/>
                <a:gd name="T3" fmla="*/ 2147483647 h 12"/>
                <a:gd name="T4" fmla="*/ 2147483647 w 18"/>
                <a:gd name="T5" fmla="*/ 2147483647 h 12"/>
                <a:gd name="T6" fmla="*/ 2147483647 w 18"/>
                <a:gd name="T7" fmla="*/ 0 h 12"/>
                <a:gd name="T8" fmla="*/ 0 w 1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2">
                  <a:moveTo>
                    <a:pt x="0" y="0"/>
                  </a:moveTo>
                  <a:lnTo>
                    <a:pt x="18" y="12"/>
                  </a:lnTo>
                  <a:lnTo>
                    <a:pt x="6" y="0"/>
                  </a:lnTo>
                  <a:lnTo>
                    <a:pt x="0" y="0"/>
                  </a:lnTo>
                  <a:close/>
                </a:path>
              </a:pathLst>
            </a:custGeom>
            <a:grpFill/>
            <a:ln w="9525">
              <a:solidFill>
                <a:schemeClr val="bg2">
                  <a:lumMod val="50000"/>
                </a:schemeClr>
              </a:solidFill>
              <a:round/>
              <a:headEnd/>
              <a:tailEnd/>
            </a:ln>
          </p:spPr>
          <p:txBody>
            <a:bodyPr/>
            <a:lstStyle/>
            <a:p>
              <a:endParaRPr lang="en-US" dirty="0"/>
            </a:p>
          </p:txBody>
        </p:sp>
        <p:sp>
          <p:nvSpPr>
            <p:cNvPr id="82" name="Freeform 328"/>
            <p:cNvSpPr>
              <a:spLocks/>
            </p:cNvSpPr>
            <p:nvPr/>
          </p:nvSpPr>
          <p:spPr bwMode="gray">
            <a:xfrm>
              <a:off x="5951556" y="3299398"/>
              <a:ext cx="12036" cy="19218"/>
            </a:xfrm>
            <a:custGeom>
              <a:avLst/>
              <a:gdLst>
                <a:gd name="T0" fmla="*/ 0 w 12"/>
                <a:gd name="T1" fmla="*/ 0 h 18"/>
                <a:gd name="T2" fmla="*/ 2147483647 w 12"/>
                <a:gd name="T3" fmla="*/ 2147483647 h 18"/>
                <a:gd name="T4" fmla="*/ 2147483647 w 12"/>
                <a:gd name="T5" fmla="*/ 2147483647 h 18"/>
                <a:gd name="T6" fmla="*/ 0 w 12"/>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8">
                  <a:moveTo>
                    <a:pt x="0" y="0"/>
                  </a:moveTo>
                  <a:lnTo>
                    <a:pt x="12" y="18"/>
                  </a:lnTo>
                  <a:lnTo>
                    <a:pt x="12" y="12"/>
                  </a:lnTo>
                  <a:lnTo>
                    <a:pt x="0" y="0"/>
                  </a:lnTo>
                  <a:close/>
                </a:path>
              </a:pathLst>
            </a:custGeom>
            <a:grpFill/>
            <a:ln w="9525">
              <a:solidFill>
                <a:schemeClr val="bg2">
                  <a:lumMod val="50000"/>
                </a:schemeClr>
              </a:solidFill>
              <a:round/>
              <a:headEnd/>
              <a:tailEnd/>
            </a:ln>
          </p:spPr>
          <p:txBody>
            <a:bodyPr/>
            <a:lstStyle/>
            <a:p>
              <a:endParaRPr lang="en-US" dirty="0"/>
            </a:p>
          </p:txBody>
        </p:sp>
        <p:sp>
          <p:nvSpPr>
            <p:cNvPr id="83" name="Freeform 334"/>
            <p:cNvSpPr>
              <a:spLocks/>
            </p:cNvSpPr>
            <p:nvPr/>
          </p:nvSpPr>
          <p:spPr bwMode="gray">
            <a:xfrm>
              <a:off x="5367106" y="2159189"/>
              <a:ext cx="224685" cy="472739"/>
            </a:xfrm>
            <a:custGeom>
              <a:avLst/>
              <a:gdLst>
                <a:gd name="T0" fmla="*/ 2147483647 w 34"/>
                <a:gd name="T1" fmla="*/ 2147483647 h 75"/>
                <a:gd name="T2" fmla="*/ 2147483647 w 34"/>
                <a:gd name="T3" fmla="*/ 2147483647 h 75"/>
                <a:gd name="T4" fmla="*/ 2147483647 w 34"/>
                <a:gd name="T5" fmla="*/ 2147483647 h 75"/>
                <a:gd name="T6" fmla="*/ 2147483647 w 34"/>
                <a:gd name="T7" fmla="*/ 2147483647 h 75"/>
                <a:gd name="T8" fmla="*/ 2147483647 w 34"/>
                <a:gd name="T9" fmla="*/ 2147483647 h 75"/>
                <a:gd name="T10" fmla="*/ 2147483647 w 34"/>
                <a:gd name="T11" fmla="*/ 2147483647 h 75"/>
                <a:gd name="T12" fmla="*/ 2147483647 w 34"/>
                <a:gd name="T13" fmla="*/ 2147483647 h 75"/>
                <a:gd name="T14" fmla="*/ 2147483647 w 34"/>
                <a:gd name="T15" fmla="*/ 2147483647 h 75"/>
                <a:gd name="T16" fmla="*/ 2147483647 w 34"/>
                <a:gd name="T17" fmla="*/ 2147483647 h 75"/>
                <a:gd name="T18" fmla="*/ 2147483647 w 34"/>
                <a:gd name="T19" fmla="*/ 2147483647 h 75"/>
                <a:gd name="T20" fmla="*/ 2147483647 w 34"/>
                <a:gd name="T21" fmla="*/ 2147483647 h 75"/>
                <a:gd name="T22" fmla="*/ 2147483647 w 34"/>
                <a:gd name="T23" fmla="*/ 2147483647 h 75"/>
                <a:gd name="T24" fmla="*/ 2147483647 w 34"/>
                <a:gd name="T25" fmla="*/ 2147483647 h 75"/>
                <a:gd name="T26" fmla="*/ 2147483647 w 34"/>
                <a:gd name="T27" fmla="*/ 2147483647 h 75"/>
                <a:gd name="T28" fmla="*/ 2147483647 w 34"/>
                <a:gd name="T29" fmla="*/ 2147483647 h 75"/>
                <a:gd name="T30" fmla="*/ 2147483647 w 34"/>
                <a:gd name="T31" fmla="*/ 2147483647 h 75"/>
                <a:gd name="T32" fmla="*/ 2147483647 w 34"/>
                <a:gd name="T33" fmla="*/ 2147483647 h 75"/>
                <a:gd name="T34" fmla="*/ 2147483647 w 34"/>
                <a:gd name="T35" fmla="*/ 2147483647 h 75"/>
                <a:gd name="T36" fmla="*/ 2147483647 w 34"/>
                <a:gd name="T37" fmla="*/ 2147483647 h 75"/>
                <a:gd name="T38" fmla="*/ 2147483647 w 34"/>
                <a:gd name="T39" fmla="*/ 2147483647 h 75"/>
                <a:gd name="T40" fmla="*/ 2147483647 w 34"/>
                <a:gd name="T41" fmla="*/ 2147483647 h 75"/>
                <a:gd name="T42" fmla="*/ 2147483647 w 34"/>
                <a:gd name="T43" fmla="*/ 0 h 75"/>
                <a:gd name="T44" fmla="*/ 2147483647 w 34"/>
                <a:gd name="T45" fmla="*/ 2147483647 h 75"/>
                <a:gd name="T46" fmla="*/ 2147483647 w 34"/>
                <a:gd name="T47" fmla="*/ 2147483647 h 75"/>
                <a:gd name="T48" fmla="*/ 2147483647 w 34"/>
                <a:gd name="T49" fmla="*/ 2147483647 h 75"/>
                <a:gd name="T50" fmla="*/ 2147483647 w 34"/>
                <a:gd name="T51" fmla="*/ 2147483647 h 75"/>
                <a:gd name="T52" fmla="*/ 2147483647 w 34"/>
                <a:gd name="T53" fmla="*/ 2147483647 h 75"/>
                <a:gd name="T54" fmla="*/ 2147483647 w 34"/>
                <a:gd name="T55" fmla="*/ 2147483647 h 75"/>
                <a:gd name="T56" fmla="*/ 2147483647 w 34"/>
                <a:gd name="T57" fmla="*/ 2147483647 h 75"/>
                <a:gd name="T58" fmla="*/ 2147483647 w 34"/>
                <a:gd name="T59" fmla="*/ 2147483647 h 75"/>
                <a:gd name="T60" fmla="*/ 2147483647 w 34"/>
                <a:gd name="T61" fmla="*/ 2147483647 h 75"/>
                <a:gd name="T62" fmla="*/ 2147483647 w 34"/>
                <a:gd name="T63" fmla="*/ 2147483647 h 75"/>
                <a:gd name="T64" fmla="*/ 0 w 34"/>
                <a:gd name="T65" fmla="*/ 2147483647 h 75"/>
                <a:gd name="T66" fmla="*/ 2147483647 w 34"/>
                <a:gd name="T67" fmla="*/ 2147483647 h 75"/>
                <a:gd name="T68" fmla="*/ 2147483647 w 34"/>
                <a:gd name="T69" fmla="*/ 2147483647 h 75"/>
                <a:gd name="T70" fmla="*/ 2147483647 w 34"/>
                <a:gd name="T71" fmla="*/ 2147483647 h 75"/>
                <a:gd name="T72" fmla="*/ 2147483647 w 34"/>
                <a:gd name="T73" fmla="*/ 2147483647 h 75"/>
                <a:gd name="T74" fmla="*/ 2147483647 w 34"/>
                <a:gd name="T75" fmla="*/ 2147483647 h 75"/>
                <a:gd name="T76" fmla="*/ 2147483647 w 34"/>
                <a:gd name="T77" fmla="*/ 2147483647 h 75"/>
                <a:gd name="T78" fmla="*/ 2147483647 w 34"/>
                <a:gd name="T79" fmla="*/ 2147483647 h 75"/>
                <a:gd name="T80" fmla="*/ 2147483647 w 34"/>
                <a:gd name="T81" fmla="*/ 2147483647 h 75"/>
                <a:gd name="T82" fmla="*/ 2147483647 w 34"/>
                <a:gd name="T83" fmla="*/ 2147483647 h 75"/>
                <a:gd name="T84" fmla="*/ 2147483647 w 34"/>
                <a:gd name="T85" fmla="*/ 2147483647 h 75"/>
                <a:gd name="T86" fmla="*/ 2147483647 w 34"/>
                <a:gd name="T87" fmla="*/ 2147483647 h 75"/>
                <a:gd name="T88" fmla="*/ 2147483647 w 34"/>
                <a:gd name="T89" fmla="*/ 2147483647 h 75"/>
                <a:gd name="T90" fmla="*/ 2147483647 w 34"/>
                <a:gd name="T91" fmla="*/ 2147483647 h 75"/>
                <a:gd name="T92" fmla="*/ 2147483647 w 34"/>
                <a:gd name="T93" fmla="*/ 2147483647 h 75"/>
                <a:gd name="T94" fmla="*/ 2147483647 w 34"/>
                <a:gd name="T95" fmla="*/ 2147483647 h 75"/>
                <a:gd name="T96" fmla="*/ 2147483647 w 34"/>
                <a:gd name="T97" fmla="*/ 2147483647 h 75"/>
                <a:gd name="T98" fmla="*/ 2147483647 w 34"/>
                <a:gd name="T99" fmla="*/ 2147483647 h 75"/>
                <a:gd name="T100" fmla="*/ 2147483647 w 34"/>
                <a:gd name="T101" fmla="*/ 2147483647 h 75"/>
                <a:gd name="T102" fmla="*/ 2147483647 w 34"/>
                <a:gd name="T103" fmla="*/ 2147483647 h 75"/>
                <a:gd name="T104" fmla="*/ 2147483647 w 34"/>
                <a:gd name="T105" fmla="*/ 2147483647 h 75"/>
                <a:gd name="T106" fmla="*/ 2147483647 w 34"/>
                <a:gd name="T107" fmla="*/ 2147483647 h 75"/>
                <a:gd name="T108" fmla="*/ 2147483647 w 34"/>
                <a:gd name="T109" fmla="*/ 2147483647 h 75"/>
                <a:gd name="T110" fmla="*/ 2147483647 w 34"/>
                <a:gd name="T111" fmla="*/ 2147483647 h 75"/>
                <a:gd name="T112" fmla="*/ 2147483647 w 34"/>
                <a:gd name="T113" fmla="*/ 2147483647 h 75"/>
                <a:gd name="T114" fmla="*/ 2147483647 w 34"/>
                <a:gd name="T115" fmla="*/ 2147483647 h 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4" h="75">
                  <a:moveTo>
                    <a:pt x="34" y="55"/>
                  </a:moveTo>
                  <a:cubicBezTo>
                    <a:pt x="32" y="54"/>
                    <a:pt x="32" y="54"/>
                    <a:pt x="32" y="54"/>
                  </a:cubicBezTo>
                  <a:cubicBezTo>
                    <a:pt x="30" y="52"/>
                    <a:pt x="30" y="52"/>
                    <a:pt x="30" y="52"/>
                  </a:cubicBezTo>
                  <a:cubicBezTo>
                    <a:pt x="31" y="47"/>
                    <a:pt x="31" y="47"/>
                    <a:pt x="31" y="47"/>
                  </a:cubicBezTo>
                  <a:cubicBezTo>
                    <a:pt x="31" y="47"/>
                    <a:pt x="30" y="46"/>
                    <a:pt x="30" y="45"/>
                  </a:cubicBezTo>
                  <a:cubicBezTo>
                    <a:pt x="29" y="45"/>
                    <a:pt x="30" y="43"/>
                    <a:pt x="30" y="43"/>
                  </a:cubicBezTo>
                  <a:cubicBezTo>
                    <a:pt x="29" y="42"/>
                    <a:pt x="29" y="42"/>
                    <a:pt x="29" y="42"/>
                  </a:cubicBezTo>
                  <a:cubicBezTo>
                    <a:pt x="29" y="40"/>
                    <a:pt x="29" y="40"/>
                    <a:pt x="29" y="40"/>
                  </a:cubicBezTo>
                  <a:cubicBezTo>
                    <a:pt x="28" y="38"/>
                    <a:pt x="28" y="38"/>
                    <a:pt x="28" y="38"/>
                  </a:cubicBezTo>
                  <a:cubicBezTo>
                    <a:pt x="30" y="36"/>
                    <a:pt x="30" y="36"/>
                    <a:pt x="30" y="36"/>
                  </a:cubicBezTo>
                  <a:cubicBezTo>
                    <a:pt x="27" y="27"/>
                    <a:pt x="27" y="27"/>
                    <a:pt x="27" y="27"/>
                  </a:cubicBezTo>
                  <a:cubicBezTo>
                    <a:pt x="30" y="21"/>
                    <a:pt x="30" y="21"/>
                    <a:pt x="30" y="21"/>
                  </a:cubicBezTo>
                  <a:cubicBezTo>
                    <a:pt x="28" y="17"/>
                    <a:pt x="28" y="17"/>
                    <a:pt x="28" y="17"/>
                  </a:cubicBezTo>
                  <a:cubicBezTo>
                    <a:pt x="25" y="15"/>
                    <a:pt x="25" y="15"/>
                    <a:pt x="25" y="15"/>
                  </a:cubicBezTo>
                  <a:cubicBezTo>
                    <a:pt x="25" y="14"/>
                    <a:pt x="25" y="14"/>
                    <a:pt x="25" y="14"/>
                  </a:cubicBezTo>
                  <a:cubicBezTo>
                    <a:pt x="25" y="10"/>
                    <a:pt x="25" y="10"/>
                    <a:pt x="25" y="10"/>
                  </a:cubicBezTo>
                  <a:cubicBezTo>
                    <a:pt x="25" y="10"/>
                    <a:pt x="25" y="10"/>
                    <a:pt x="25" y="10"/>
                  </a:cubicBezTo>
                  <a:cubicBezTo>
                    <a:pt x="26" y="9"/>
                    <a:pt x="26" y="9"/>
                    <a:pt x="26" y="9"/>
                  </a:cubicBezTo>
                  <a:cubicBezTo>
                    <a:pt x="26" y="8"/>
                    <a:pt x="26" y="8"/>
                    <a:pt x="26" y="8"/>
                  </a:cubicBezTo>
                  <a:cubicBezTo>
                    <a:pt x="27" y="6"/>
                    <a:pt x="27" y="6"/>
                    <a:pt x="27" y="6"/>
                  </a:cubicBezTo>
                  <a:cubicBezTo>
                    <a:pt x="27" y="3"/>
                    <a:pt x="27" y="3"/>
                    <a:pt x="27" y="3"/>
                  </a:cubicBezTo>
                  <a:cubicBezTo>
                    <a:pt x="24" y="0"/>
                    <a:pt x="24" y="0"/>
                    <a:pt x="24" y="0"/>
                  </a:cubicBezTo>
                  <a:cubicBezTo>
                    <a:pt x="19" y="1"/>
                    <a:pt x="19" y="1"/>
                    <a:pt x="19" y="1"/>
                  </a:cubicBezTo>
                  <a:cubicBezTo>
                    <a:pt x="17" y="3"/>
                    <a:pt x="17" y="3"/>
                    <a:pt x="17" y="3"/>
                  </a:cubicBezTo>
                  <a:cubicBezTo>
                    <a:pt x="15" y="8"/>
                    <a:pt x="15" y="8"/>
                    <a:pt x="15" y="8"/>
                  </a:cubicBezTo>
                  <a:cubicBezTo>
                    <a:pt x="12" y="11"/>
                    <a:pt x="12" y="11"/>
                    <a:pt x="12" y="11"/>
                  </a:cubicBezTo>
                  <a:cubicBezTo>
                    <a:pt x="11" y="10"/>
                    <a:pt x="11" y="10"/>
                    <a:pt x="11" y="10"/>
                  </a:cubicBezTo>
                  <a:cubicBezTo>
                    <a:pt x="8" y="11"/>
                    <a:pt x="8" y="11"/>
                    <a:pt x="8" y="11"/>
                  </a:cubicBezTo>
                  <a:cubicBezTo>
                    <a:pt x="5" y="10"/>
                    <a:pt x="5" y="10"/>
                    <a:pt x="5" y="10"/>
                  </a:cubicBezTo>
                  <a:cubicBezTo>
                    <a:pt x="3" y="8"/>
                    <a:pt x="3" y="8"/>
                    <a:pt x="3" y="8"/>
                  </a:cubicBezTo>
                  <a:cubicBezTo>
                    <a:pt x="2" y="6"/>
                    <a:pt x="2" y="6"/>
                    <a:pt x="2" y="6"/>
                  </a:cubicBezTo>
                  <a:cubicBezTo>
                    <a:pt x="1" y="8"/>
                    <a:pt x="1" y="8"/>
                    <a:pt x="1" y="8"/>
                  </a:cubicBezTo>
                  <a:cubicBezTo>
                    <a:pt x="0" y="8"/>
                    <a:pt x="0" y="8"/>
                    <a:pt x="0" y="8"/>
                  </a:cubicBezTo>
                  <a:cubicBezTo>
                    <a:pt x="1" y="10"/>
                    <a:pt x="1" y="10"/>
                    <a:pt x="1" y="10"/>
                  </a:cubicBezTo>
                  <a:cubicBezTo>
                    <a:pt x="4" y="13"/>
                    <a:pt x="4" y="13"/>
                    <a:pt x="4" y="13"/>
                  </a:cubicBezTo>
                  <a:cubicBezTo>
                    <a:pt x="6" y="14"/>
                    <a:pt x="6" y="14"/>
                    <a:pt x="6" y="14"/>
                  </a:cubicBezTo>
                  <a:cubicBezTo>
                    <a:pt x="7" y="14"/>
                    <a:pt x="7" y="14"/>
                    <a:pt x="7" y="14"/>
                  </a:cubicBezTo>
                  <a:cubicBezTo>
                    <a:pt x="9" y="19"/>
                    <a:pt x="9" y="19"/>
                    <a:pt x="9" y="19"/>
                  </a:cubicBezTo>
                  <a:cubicBezTo>
                    <a:pt x="9" y="23"/>
                    <a:pt x="9" y="23"/>
                    <a:pt x="9" y="23"/>
                  </a:cubicBezTo>
                  <a:cubicBezTo>
                    <a:pt x="9" y="26"/>
                    <a:pt x="9" y="26"/>
                    <a:pt x="9" y="26"/>
                  </a:cubicBezTo>
                  <a:cubicBezTo>
                    <a:pt x="10" y="29"/>
                    <a:pt x="10" y="29"/>
                    <a:pt x="10" y="29"/>
                  </a:cubicBezTo>
                  <a:cubicBezTo>
                    <a:pt x="10" y="30"/>
                    <a:pt x="10" y="30"/>
                    <a:pt x="10" y="30"/>
                  </a:cubicBezTo>
                  <a:cubicBezTo>
                    <a:pt x="10" y="35"/>
                    <a:pt x="10" y="35"/>
                    <a:pt x="10" y="35"/>
                  </a:cubicBezTo>
                  <a:cubicBezTo>
                    <a:pt x="10" y="36"/>
                    <a:pt x="10" y="36"/>
                    <a:pt x="10" y="36"/>
                  </a:cubicBezTo>
                  <a:cubicBezTo>
                    <a:pt x="12" y="36"/>
                    <a:pt x="12" y="36"/>
                    <a:pt x="12" y="36"/>
                  </a:cubicBezTo>
                  <a:cubicBezTo>
                    <a:pt x="14" y="40"/>
                    <a:pt x="14" y="40"/>
                    <a:pt x="14" y="40"/>
                  </a:cubicBezTo>
                  <a:cubicBezTo>
                    <a:pt x="9" y="49"/>
                    <a:pt x="9" y="49"/>
                    <a:pt x="9" y="49"/>
                  </a:cubicBezTo>
                  <a:cubicBezTo>
                    <a:pt x="4" y="53"/>
                    <a:pt x="4" y="53"/>
                    <a:pt x="4" y="53"/>
                  </a:cubicBezTo>
                  <a:cubicBezTo>
                    <a:pt x="1" y="58"/>
                    <a:pt x="1" y="58"/>
                    <a:pt x="1" y="58"/>
                  </a:cubicBezTo>
                  <a:cubicBezTo>
                    <a:pt x="2" y="66"/>
                    <a:pt x="2" y="66"/>
                    <a:pt x="2" y="66"/>
                  </a:cubicBezTo>
                  <a:cubicBezTo>
                    <a:pt x="3" y="71"/>
                    <a:pt x="3" y="71"/>
                    <a:pt x="3" y="71"/>
                  </a:cubicBezTo>
                  <a:cubicBezTo>
                    <a:pt x="5" y="73"/>
                    <a:pt x="5" y="73"/>
                    <a:pt x="5" y="73"/>
                  </a:cubicBezTo>
                  <a:cubicBezTo>
                    <a:pt x="7" y="75"/>
                    <a:pt x="7" y="75"/>
                    <a:pt x="7" y="75"/>
                  </a:cubicBezTo>
                  <a:cubicBezTo>
                    <a:pt x="12" y="75"/>
                    <a:pt x="12" y="75"/>
                    <a:pt x="12" y="75"/>
                  </a:cubicBezTo>
                  <a:cubicBezTo>
                    <a:pt x="20" y="72"/>
                    <a:pt x="20" y="72"/>
                    <a:pt x="20" y="72"/>
                  </a:cubicBezTo>
                  <a:cubicBezTo>
                    <a:pt x="22" y="72"/>
                    <a:pt x="22" y="72"/>
                    <a:pt x="22" y="72"/>
                  </a:cubicBezTo>
                  <a:cubicBezTo>
                    <a:pt x="34" y="58"/>
                    <a:pt x="34" y="58"/>
                    <a:pt x="34" y="58"/>
                  </a:cubicBezTo>
                  <a:lnTo>
                    <a:pt x="34" y="55"/>
                  </a:lnTo>
                  <a:close/>
                </a:path>
              </a:pathLst>
            </a:custGeom>
            <a:grpFill/>
            <a:ln w="9525">
              <a:solidFill>
                <a:schemeClr val="bg2">
                  <a:lumMod val="50000"/>
                </a:schemeClr>
              </a:solidFill>
              <a:round/>
              <a:headEnd/>
              <a:tailEnd/>
            </a:ln>
          </p:spPr>
          <p:txBody>
            <a:bodyPr/>
            <a:lstStyle/>
            <a:p>
              <a:endParaRPr lang="en-US" dirty="0"/>
            </a:p>
          </p:txBody>
        </p:sp>
        <p:sp>
          <p:nvSpPr>
            <p:cNvPr id="84" name="Freeform 335"/>
            <p:cNvSpPr>
              <a:spLocks/>
            </p:cNvSpPr>
            <p:nvPr/>
          </p:nvSpPr>
          <p:spPr bwMode="gray">
            <a:xfrm>
              <a:off x="5598479" y="2908653"/>
              <a:ext cx="13374" cy="6405"/>
            </a:xfrm>
            <a:custGeom>
              <a:avLst/>
              <a:gdLst>
                <a:gd name="T0" fmla="*/ 2147483647 w 12"/>
                <a:gd name="T1" fmla="*/ 2147483647 h 6"/>
                <a:gd name="T2" fmla="*/ 0 w 12"/>
                <a:gd name="T3" fmla="*/ 0 h 6"/>
                <a:gd name="T4" fmla="*/ 0 w 12"/>
                <a:gd name="T5" fmla="*/ 2147483647 h 6"/>
                <a:gd name="T6" fmla="*/ 2147483647 w 12"/>
                <a:gd name="T7" fmla="*/ 2147483647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6">
                  <a:moveTo>
                    <a:pt x="12" y="6"/>
                  </a:moveTo>
                  <a:lnTo>
                    <a:pt x="0" y="0"/>
                  </a:lnTo>
                  <a:lnTo>
                    <a:pt x="0" y="6"/>
                  </a:lnTo>
                  <a:lnTo>
                    <a:pt x="12" y="6"/>
                  </a:lnTo>
                  <a:close/>
                </a:path>
              </a:pathLst>
            </a:custGeom>
            <a:grpFill/>
            <a:ln w="9525">
              <a:solidFill>
                <a:schemeClr val="bg2">
                  <a:lumMod val="50000"/>
                </a:schemeClr>
              </a:solidFill>
              <a:round/>
              <a:headEnd/>
              <a:tailEnd/>
            </a:ln>
          </p:spPr>
          <p:txBody>
            <a:bodyPr/>
            <a:lstStyle/>
            <a:p>
              <a:endParaRPr lang="en-US" dirty="0"/>
            </a:p>
          </p:txBody>
        </p:sp>
        <p:sp>
          <p:nvSpPr>
            <p:cNvPr id="85" name="Freeform 336"/>
            <p:cNvSpPr>
              <a:spLocks/>
            </p:cNvSpPr>
            <p:nvPr/>
          </p:nvSpPr>
          <p:spPr bwMode="gray">
            <a:xfrm>
              <a:off x="5512885" y="1628800"/>
              <a:ext cx="3195074" cy="1638571"/>
            </a:xfrm>
            <a:custGeom>
              <a:avLst/>
              <a:gdLst>
                <a:gd name="T0" fmla="*/ 2147483647 w 483"/>
                <a:gd name="T1" fmla="*/ 2147483647 h 260"/>
                <a:gd name="T2" fmla="*/ 2147483647 w 483"/>
                <a:gd name="T3" fmla="*/ 2147483647 h 260"/>
                <a:gd name="T4" fmla="*/ 2147483647 w 483"/>
                <a:gd name="T5" fmla="*/ 2147483647 h 260"/>
                <a:gd name="T6" fmla="*/ 2147483647 w 483"/>
                <a:gd name="T7" fmla="*/ 2147483647 h 260"/>
                <a:gd name="T8" fmla="*/ 2147483647 w 483"/>
                <a:gd name="T9" fmla="*/ 2147483647 h 260"/>
                <a:gd name="T10" fmla="*/ 2147483647 w 483"/>
                <a:gd name="T11" fmla="*/ 2147483647 h 260"/>
                <a:gd name="T12" fmla="*/ 2147483647 w 483"/>
                <a:gd name="T13" fmla="*/ 2147483647 h 260"/>
                <a:gd name="T14" fmla="*/ 2147483647 w 483"/>
                <a:gd name="T15" fmla="*/ 2147483647 h 260"/>
                <a:gd name="T16" fmla="*/ 2147483647 w 483"/>
                <a:gd name="T17" fmla="*/ 2147483647 h 260"/>
                <a:gd name="T18" fmla="*/ 2147483647 w 483"/>
                <a:gd name="T19" fmla="*/ 2147483647 h 260"/>
                <a:gd name="T20" fmla="*/ 2147483647 w 483"/>
                <a:gd name="T21" fmla="*/ 2147483647 h 260"/>
                <a:gd name="T22" fmla="*/ 2147483647 w 483"/>
                <a:gd name="T23" fmla="*/ 2147483647 h 260"/>
                <a:gd name="T24" fmla="*/ 2147483647 w 483"/>
                <a:gd name="T25" fmla="*/ 2147483647 h 260"/>
                <a:gd name="T26" fmla="*/ 2147483647 w 483"/>
                <a:gd name="T27" fmla="*/ 2147483647 h 260"/>
                <a:gd name="T28" fmla="*/ 2147483647 w 483"/>
                <a:gd name="T29" fmla="*/ 2147483647 h 260"/>
                <a:gd name="T30" fmla="*/ 2147483647 w 483"/>
                <a:gd name="T31" fmla="*/ 2147483647 h 260"/>
                <a:gd name="T32" fmla="*/ 2147483647 w 483"/>
                <a:gd name="T33" fmla="*/ 2147483647 h 260"/>
                <a:gd name="T34" fmla="*/ 2147483647 w 483"/>
                <a:gd name="T35" fmla="*/ 2147483647 h 260"/>
                <a:gd name="T36" fmla="*/ 2147483647 w 483"/>
                <a:gd name="T37" fmla="*/ 2147483647 h 260"/>
                <a:gd name="T38" fmla="*/ 2147483647 w 483"/>
                <a:gd name="T39" fmla="*/ 2147483647 h 260"/>
                <a:gd name="T40" fmla="*/ 2147483647 w 483"/>
                <a:gd name="T41" fmla="*/ 2147483647 h 260"/>
                <a:gd name="T42" fmla="*/ 2147483647 w 483"/>
                <a:gd name="T43" fmla="*/ 2147483647 h 260"/>
                <a:gd name="T44" fmla="*/ 2147483647 w 483"/>
                <a:gd name="T45" fmla="*/ 2147483647 h 260"/>
                <a:gd name="T46" fmla="*/ 2147483647 w 483"/>
                <a:gd name="T47" fmla="*/ 2147483647 h 260"/>
                <a:gd name="T48" fmla="*/ 2147483647 w 483"/>
                <a:gd name="T49" fmla="*/ 2147483647 h 260"/>
                <a:gd name="T50" fmla="*/ 2147483647 w 483"/>
                <a:gd name="T51" fmla="*/ 2147483647 h 260"/>
                <a:gd name="T52" fmla="*/ 2147483647 w 483"/>
                <a:gd name="T53" fmla="*/ 2147483647 h 260"/>
                <a:gd name="T54" fmla="*/ 2147483647 w 483"/>
                <a:gd name="T55" fmla="*/ 2147483647 h 260"/>
                <a:gd name="T56" fmla="*/ 2147483647 w 483"/>
                <a:gd name="T57" fmla="*/ 2147483647 h 260"/>
                <a:gd name="T58" fmla="*/ 2147483647 w 483"/>
                <a:gd name="T59" fmla="*/ 2147483647 h 260"/>
                <a:gd name="T60" fmla="*/ 2147483647 w 483"/>
                <a:gd name="T61" fmla="*/ 2147483647 h 260"/>
                <a:gd name="T62" fmla="*/ 2147483647 w 483"/>
                <a:gd name="T63" fmla="*/ 2147483647 h 260"/>
                <a:gd name="T64" fmla="*/ 2147483647 w 483"/>
                <a:gd name="T65" fmla="*/ 2147483647 h 260"/>
                <a:gd name="T66" fmla="*/ 2147483647 w 483"/>
                <a:gd name="T67" fmla="*/ 2147483647 h 260"/>
                <a:gd name="T68" fmla="*/ 2147483647 w 483"/>
                <a:gd name="T69" fmla="*/ 2147483647 h 260"/>
                <a:gd name="T70" fmla="*/ 2147483647 w 483"/>
                <a:gd name="T71" fmla="*/ 2147483647 h 260"/>
                <a:gd name="T72" fmla="*/ 2147483647 w 483"/>
                <a:gd name="T73" fmla="*/ 2147483647 h 260"/>
                <a:gd name="T74" fmla="*/ 2147483647 w 483"/>
                <a:gd name="T75" fmla="*/ 2147483647 h 260"/>
                <a:gd name="T76" fmla="*/ 2147483647 w 483"/>
                <a:gd name="T77" fmla="*/ 2147483647 h 260"/>
                <a:gd name="T78" fmla="*/ 2147483647 w 483"/>
                <a:gd name="T79" fmla="*/ 2147483647 h 260"/>
                <a:gd name="T80" fmla="*/ 2147483647 w 483"/>
                <a:gd name="T81" fmla="*/ 2147483647 h 260"/>
                <a:gd name="T82" fmla="*/ 2147483647 w 483"/>
                <a:gd name="T83" fmla="*/ 2147483647 h 260"/>
                <a:gd name="T84" fmla="*/ 2147483647 w 483"/>
                <a:gd name="T85" fmla="*/ 2147483647 h 260"/>
                <a:gd name="T86" fmla="*/ 2147483647 w 483"/>
                <a:gd name="T87" fmla="*/ 2147483647 h 260"/>
                <a:gd name="T88" fmla="*/ 2147483647 w 483"/>
                <a:gd name="T89" fmla="*/ 2147483647 h 260"/>
                <a:gd name="T90" fmla="*/ 2147483647 w 483"/>
                <a:gd name="T91" fmla="*/ 2147483647 h 260"/>
                <a:gd name="T92" fmla="*/ 2147483647 w 483"/>
                <a:gd name="T93" fmla="*/ 2147483647 h 260"/>
                <a:gd name="T94" fmla="*/ 2147483647 w 483"/>
                <a:gd name="T95" fmla="*/ 2147483647 h 260"/>
                <a:gd name="T96" fmla="*/ 2147483647 w 483"/>
                <a:gd name="T97" fmla="*/ 2147483647 h 260"/>
                <a:gd name="T98" fmla="*/ 2147483647 w 483"/>
                <a:gd name="T99" fmla="*/ 2147483647 h 260"/>
                <a:gd name="T100" fmla="*/ 2147483647 w 483"/>
                <a:gd name="T101" fmla="*/ 2147483647 h 260"/>
                <a:gd name="T102" fmla="*/ 2147483647 w 483"/>
                <a:gd name="T103" fmla="*/ 2147483647 h 260"/>
                <a:gd name="T104" fmla="*/ 2147483647 w 483"/>
                <a:gd name="T105" fmla="*/ 2147483647 h 260"/>
                <a:gd name="T106" fmla="*/ 2147483647 w 483"/>
                <a:gd name="T107" fmla="*/ 2147483647 h 260"/>
                <a:gd name="T108" fmla="*/ 2147483647 w 483"/>
                <a:gd name="T109" fmla="*/ 2147483647 h 260"/>
                <a:gd name="T110" fmla="*/ 2147483647 w 483"/>
                <a:gd name="T111" fmla="*/ 2147483647 h 260"/>
                <a:gd name="T112" fmla="*/ 2147483647 w 483"/>
                <a:gd name="T113" fmla="*/ 2147483647 h 260"/>
                <a:gd name="T114" fmla="*/ 2147483647 w 483"/>
                <a:gd name="T115" fmla="*/ 2147483647 h 260"/>
                <a:gd name="T116" fmla="*/ 2147483647 w 483"/>
                <a:gd name="T117" fmla="*/ 2147483647 h 260"/>
                <a:gd name="T118" fmla="*/ 2147483647 w 483"/>
                <a:gd name="T119" fmla="*/ 2147483647 h 260"/>
                <a:gd name="T120" fmla="*/ 2147483647 w 483"/>
                <a:gd name="T121" fmla="*/ 2147483647 h 260"/>
                <a:gd name="T122" fmla="*/ 2147483647 w 483"/>
                <a:gd name="T123" fmla="*/ 2147483647 h 2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83" h="260">
                  <a:moveTo>
                    <a:pt x="482" y="127"/>
                  </a:moveTo>
                  <a:cubicBezTo>
                    <a:pt x="483" y="96"/>
                    <a:pt x="483" y="96"/>
                    <a:pt x="483" y="96"/>
                  </a:cubicBezTo>
                  <a:cubicBezTo>
                    <a:pt x="480" y="95"/>
                    <a:pt x="480" y="95"/>
                    <a:pt x="480" y="95"/>
                  </a:cubicBezTo>
                  <a:cubicBezTo>
                    <a:pt x="478" y="94"/>
                    <a:pt x="478" y="94"/>
                    <a:pt x="478" y="94"/>
                  </a:cubicBezTo>
                  <a:cubicBezTo>
                    <a:pt x="478" y="94"/>
                    <a:pt x="474" y="90"/>
                    <a:pt x="474" y="90"/>
                  </a:cubicBezTo>
                  <a:cubicBezTo>
                    <a:pt x="473" y="89"/>
                    <a:pt x="470" y="89"/>
                    <a:pt x="470" y="89"/>
                  </a:cubicBezTo>
                  <a:cubicBezTo>
                    <a:pt x="463" y="88"/>
                    <a:pt x="463" y="88"/>
                    <a:pt x="463" y="88"/>
                  </a:cubicBezTo>
                  <a:cubicBezTo>
                    <a:pt x="459" y="87"/>
                    <a:pt x="459" y="87"/>
                    <a:pt x="459" y="87"/>
                  </a:cubicBezTo>
                  <a:cubicBezTo>
                    <a:pt x="456" y="87"/>
                    <a:pt x="456" y="87"/>
                    <a:pt x="456" y="87"/>
                  </a:cubicBezTo>
                  <a:cubicBezTo>
                    <a:pt x="454" y="87"/>
                    <a:pt x="454" y="87"/>
                    <a:pt x="454" y="87"/>
                  </a:cubicBezTo>
                  <a:cubicBezTo>
                    <a:pt x="455" y="95"/>
                    <a:pt x="455" y="95"/>
                    <a:pt x="455" y="95"/>
                  </a:cubicBezTo>
                  <a:cubicBezTo>
                    <a:pt x="455" y="95"/>
                    <a:pt x="451" y="97"/>
                    <a:pt x="451" y="97"/>
                  </a:cubicBezTo>
                  <a:cubicBezTo>
                    <a:pt x="450" y="97"/>
                    <a:pt x="448" y="94"/>
                    <a:pt x="448" y="94"/>
                  </a:cubicBezTo>
                  <a:cubicBezTo>
                    <a:pt x="445" y="91"/>
                    <a:pt x="445" y="91"/>
                    <a:pt x="445" y="91"/>
                  </a:cubicBezTo>
                  <a:cubicBezTo>
                    <a:pt x="445" y="89"/>
                    <a:pt x="445" y="89"/>
                    <a:pt x="445" y="89"/>
                  </a:cubicBezTo>
                  <a:cubicBezTo>
                    <a:pt x="440" y="89"/>
                    <a:pt x="440" y="89"/>
                    <a:pt x="440" y="89"/>
                  </a:cubicBezTo>
                  <a:cubicBezTo>
                    <a:pt x="437" y="90"/>
                    <a:pt x="437" y="90"/>
                    <a:pt x="437" y="90"/>
                  </a:cubicBezTo>
                  <a:cubicBezTo>
                    <a:pt x="431" y="89"/>
                    <a:pt x="431" y="89"/>
                    <a:pt x="431" y="89"/>
                  </a:cubicBezTo>
                  <a:cubicBezTo>
                    <a:pt x="426" y="89"/>
                    <a:pt x="426" y="89"/>
                    <a:pt x="426" y="89"/>
                  </a:cubicBezTo>
                  <a:cubicBezTo>
                    <a:pt x="423" y="90"/>
                    <a:pt x="423" y="90"/>
                    <a:pt x="423" y="90"/>
                  </a:cubicBezTo>
                  <a:cubicBezTo>
                    <a:pt x="419" y="87"/>
                    <a:pt x="419" y="87"/>
                    <a:pt x="419" y="87"/>
                  </a:cubicBezTo>
                  <a:cubicBezTo>
                    <a:pt x="419" y="80"/>
                    <a:pt x="419" y="80"/>
                    <a:pt x="419" y="80"/>
                  </a:cubicBezTo>
                  <a:cubicBezTo>
                    <a:pt x="413" y="77"/>
                    <a:pt x="413" y="77"/>
                    <a:pt x="413" y="77"/>
                  </a:cubicBezTo>
                  <a:cubicBezTo>
                    <a:pt x="403" y="77"/>
                    <a:pt x="403" y="77"/>
                    <a:pt x="403" y="77"/>
                  </a:cubicBezTo>
                  <a:cubicBezTo>
                    <a:pt x="394" y="77"/>
                    <a:pt x="394" y="77"/>
                    <a:pt x="394" y="77"/>
                  </a:cubicBezTo>
                  <a:cubicBezTo>
                    <a:pt x="393" y="75"/>
                    <a:pt x="393" y="75"/>
                    <a:pt x="393" y="75"/>
                  </a:cubicBezTo>
                  <a:cubicBezTo>
                    <a:pt x="392" y="72"/>
                    <a:pt x="392" y="72"/>
                    <a:pt x="392" y="72"/>
                  </a:cubicBezTo>
                  <a:cubicBezTo>
                    <a:pt x="386" y="69"/>
                    <a:pt x="386" y="69"/>
                    <a:pt x="386" y="69"/>
                  </a:cubicBezTo>
                  <a:cubicBezTo>
                    <a:pt x="386" y="64"/>
                    <a:pt x="386" y="64"/>
                    <a:pt x="386" y="64"/>
                  </a:cubicBezTo>
                  <a:cubicBezTo>
                    <a:pt x="362" y="59"/>
                    <a:pt x="362" y="59"/>
                    <a:pt x="362" y="59"/>
                  </a:cubicBezTo>
                  <a:cubicBezTo>
                    <a:pt x="361" y="61"/>
                    <a:pt x="361" y="61"/>
                    <a:pt x="361" y="61"/>
                  </a:cubicBezTo>
                  <a:cubicBezTo>
                    <a:pt x="356" y="65"/>
                    <a:pt x="356" y="65"/>
                    <a:pt x="356" y="65"/>
                  </a:cubicBezTo>
                  <a:cubicBezTo>
                    <a:pt x="357" y="71"/>
                    <a:pt x="357" y="71"/>
                    <a:pt x="357" y="71"/>
                  </a:cubicBezTo>
                  <a:cubicBezTo>
                    <a:pt x="351" y="73"/>
                    <a:pt x="351" y="73"/>
                    <a:pt x="351" y="73"/>
                  </a:cubicBezTo>
                  <a:cubicBezTo>
                    <a:pt x="347" y="72"/>
                    <a:pt x="347" y="72"/>
                    <a:pt x="347" y="72"/>
                  </a:cubicBezTo>
                  <a:cubicBezTo>
                    <a:pt x="342" y="70"/>
                    <a:pt x="342" y="70"/>
                    <a:pt x="342" y="70"/>
                  </a:cubicBezTo>
                  <a:cubicBezTo>
                    <a:pt x="340" y="72"/>
                    <a:pt x="340" y="72"/>
                    <a:pt x="340" y="72"/>
                  </a:cubicBezTo>
                  <a:cubicBezTo>
                    <a:pt x="336" y="71"/>
                    <a:pt x="336" y="71"/>
                    <a:pt x="336" y="71"/>
                  </a:cubicBezTo>
                  <a:cubicBezTo>
                    <a:pt x="332" y="68"/>
                    <a:pt x="332" y="68"/>
                    <a:pt x="332" y="68"/>
                  </a:cubicBezTo>
                  <a:cubicBezTo>
                    <a:pt x="331" y="74"/>
                    <a:pt x="331" y="74"/>
                    <a:pt x="331" y="74"/>
                  </a:cubicBezTo>
                  <a:cubicBezTo>
                    <a:pt x="328" y="78"/>
                    <a:pt x="328" y="78"/>
                    <a:pt x="328" y="78"/>
                  </a:cubicBezTo>
                  <a:cubicBezTo>
                    <a:pt x="323" y="73"/>
                    <a:pt x="323" y="73"/>
                    <a:pt x="323" y="73"/>
                  </a:cubicBezTo>
                  <a:cubicBezTo>
                    <a:pt x="320" y="67"/>
                    <a:pt x="320" y="67"/>
                    <a:pt x="320" y="67"/>
                  </a:cubicBezTo>
                  <a:cubicBezTo>
                    <a:pt x="323" y="60"/>
                    <a:pt x="323" y="60"/>
                    <a:pt x="323" y="60"/>
                  </a:cubicBezTo>
                  <a:cubicBezTo>
                    <a:pt x="323" y="57"/>
                    <a:pt x="323" y="57"/>
                    <a:pt x="323" y="57"/>
                  </a:cubicBezTo>
                  <a:cubicBezTo>
                    <a:pt x="320" y="52"/>
                    <a:pt x="320" y="52"/>
                    <a:pt x="320" y="52"/>
                  </a:cubicBezTo>
                  <a:cubicBezTo>
                    <a:pt x="316" y="51"/>
                    <a:pt x="316" y="51"/>
                    <a:pt x="316" y="51"/>
                  </a:cubicBezTo>
                  <a:cubicBezTo>
                    <a:pt x="312" y="51"/>
                    <a:pt x="312" y="51"/>
                    <a:pt x="312" y="51"/>
                  </a:cubicBezTo>
                  <a:cubicBezTo>
                    <a:pt x="310" y="49"/>
                    <a:pt x="310" y="49"/>
                    <a:pt x="310" y="49"/>
                  </a:cubicBezTo>
                  <a:cubicBezTo>
                    <a:pt x="306" y="46"/>
                    <a:pt x="306" y="46"/>
                    <a:pt x="306" y="46"/>
                  </a:cubicBezTo>
                  <a:cubicBezTo>
                    <a:pt x="303" y="50"/>
                    <a:pt x="303" y="50"/>
                    <a:pt x="303" y="50"/>
                  </a:cubicBezTo>
                  <a:cubicBezTo>
                    <a:pt x="301" y="55"/>
                    <a:pt x="301" y="55"/>
                    <a:pt x="301" y="55"/>
                  </a:cubicBezTo>
                  <a:cubicBezTo>
                    <a:pt x="292" y="55"/>
                    <a:pt x="292" y="55"/>
                    <a:pt x="292" y="55"/>
                  </a:cubicBezTo>
                  <a:cubicBezTo>
                    <a:pt x="287" y="53"/>
                    <a:pt x="287" y="53"/>
                    <a:pt x="287" y="53"/>
                  </a:cubicBezTo>
                  <a:cubicBezTo>
                    <a:pt x="286" y="49"/>
                    <a:pt x="286" y="49"/>
                    <a:pt x="286" y="49"/>
                  </a:cubicBezTo>
                  <a:cubicBezTo>
                    <a:pt x="277" y="49"/>
                    <a:pt x="277" y="49"/>
                    <a:pt x="277" y="49"/>
                  </a:cubicBezTo>
                  <a:cubicBezTo>
                    <a:pt x="272" y="52"/>
                    <a:pt x="272" y="52"/>
                    <a:pt x="272" y="52"/>
                  </a:cubicBezTo>
                  <a:cubicBezTo>
                    <a:pt x="271" y="49"/>
                    <a:pt x="271" y="49"/>
                    <a:pt x="271" y="49"/>
                  </a:cubicBezTo>
                  <a:cubicBezTo>
                    <a:pt x="268" y="45"/>
                    <a:pt x="268" y="45"/>
                    <a:pt x="268" y="45"/>
                  </a:cubicBezTo>
                  <a:cubicBezTo>
                    <a:pt x="264" y="44"/>
                    <a:pt x="264" y="44"/>
                    <a:pt x="264" y="44"/>
                  </a:cubicBezTo>
                  <a:cubicBezTo>
                    <a:pt x="259" y="49"/>
                    <a:pt x="259" y="49"/>
                    <a:pt x="259" y="49"/>
                  </a:cubicBezTo>
                  <a:cubicBezTo>
                    <a:pt x="253" y="52"/>
                    <a:pt x="253" y="52"/>
                    <a:pt x="253" y="52"/>
                  </a:cubicBezTo>
                  <a:cubicBezTo>
                    <a:pt x="247" y="57"/>
                    <a:pt x="247" y="57"/>
                    <a:pt x="247" y="57"/>
                  </a:cubicBezTo>
                  <a:cubicBezTo>
                    <a:pt x="251" y="51"/>
                    <a:pt x="251" y="51"/>
                    <a:pt x="251" y="51"/>
                  </a:cubicBezTo>
                  <a:cubicBezTo>
                    <a:pt x="255" y="48"/>
                    <a:pt x="255" y="48"/>
                    <a:pt x="255" y="48"/>
                  </a:cubicBezTo>
                  <a:cubicBezTo>
                    <a:pt x="262" y="39"/>
                    <a:pt x="262" y="39"/>
                    <a:pt x="262" y="39"/>
                  </a:cubicBezTo>
                  <a:cubicBezTo>
                    <a:pt x="266" y="35"/>
                    <a:pt x="266" y="35"/>
                    <a:pt x="266" y="35"/>
                  </a:cubicBezTo>
                  <a:cubicBezTo>
                    <a:pt x="270" y="29"/>
                    <a:pt x="270" y="29"/>
                    <a:pt x="270" y="29"/>
                  </a:cubicBezTo>
                  <a:cubicBezTo>
                    <a:pt x="268" y="19"/>
                    <a:pt x="268" y="19"/>
                    <a:pt x="268" y="19"/>
                  </a:cubicBezTo>
                  <a:cubicBezTo>
                    <a:pt x="260" y="12"/>
                    <a:pt x="260" y="12"/>
                    <a:pt x="260" y="12"/>
                  </a:cubicBezTo>
                  <a:cubicBezTo>
                    <a:pt x="254" y="11"/>
                    <a:pt x="254" y="11"/>
                    <a:pt x="254" y="11"/>
                  </a:cubicBezTo>
                  <a:cubicBezTo>
                    <a:pt x="254" y="8"/>
                    <a:pt x="254" y="8"/>
                    <a:pt x="254" y="8"/>
                  </a:cubicBezTo>
                  <a:cubicBezTo>
                    <a:pt x="249" y="1"/>
                    <a:pt x="249" y="1"/>
                    <a:pt x="249" y="1"/>
                  </a:cubicBezTo>
                  <a:cubicBezTo>
                    <a:pt x="249" y="1"/>
                    <a:pt x="242" y="0"/>
                    <a:pt x="241" y="0"/>
                  </a:cubicBezTo>
                  <a:cubicBezTo>
                    <a:pt x="241" y="1"/>
                    <a:pt x="233" y="9"/>
                    <a:pt x="233" y="9"/>
                  </a:cubicBezTo>
                  <a:cubicBezTo>
                    <a:pt x="231" y="16"/>
                    <a:pt x="231" y="16"/>
                    <a:pt x="231" y="16"/>
                  </a:cubicBezTo>
                  <a:cubicBezTo>
                    <a:pt x="222" y="22"/>
                    <a:pt x="222" y="22"/>
                    <a:pt x="222" y="22"/>
                  </a:cubicBezTo>
                  <a:cubicBezTo>
                    <a:pt x="216" y="19"/>
                    <a:pt x="216" y="19"/>
                    <a:pt x="216" y="19"/>
                  </a:cubicBezTo>
                  <a:cubicBezTo>
                    <a:pt x="206" y="23"/>
                    <a:pt x="206" y="23"/>
                    <a:pt x="206" y="23"/>
                  </a:cubicBezTo>
                  <a:cubicBezTo>
                    <a:pt x="195" y="29"/>
                    <a:pt x="195" y="29"/>
                    <a:pt x="195" y="29"/>
                  </a:cubicBezTo>
                  <a:cubicBezTo>
                    <a:pt x="190" y="35"/>
                    <a:pt x="190" y="35"/>
                    <a:pt x="190" y="35"/>
                  </a:cubicBezTo>
                  <a:cubicBezTo>
                    <a:pt x="190" y="35"/>
                    <a:pt x="189" y="46"/>
                    <a:pt x="188" y="46"/>
                  </a:cubicBezTo>
                  <a:cubicBezTo>
                    <a:pt x="187" y="46"/>
                    <a:pt x="172" y="50"/>
                    <a:pt x="172" y="50"/>
                  </a:cubicBezTo>
                  <a:cubicBezTo>
                    <a:pt x="169" y="54"/>
                    <a:pt x="169" y="54"/>
                    <a:pt x="169" y="54"/>
                  </a:cubicBezTo>
                  <a:cubicBezTo>
                    <a:pt x="169" y="54"/>
                    <a:pt x="171" y="63"/>
                    <a:pt x="170" y="64"/>
                  </a:cubicBezTo>
                  <a:cubicBezTo>
                    <a:pt x="170" y="64"/>
                    <a:pt x="167" y="63"/>
                    <a:pt x="167" y="63"/>
                  </a:cubicBezTo>
                  <a:cubicBezTo>
                    <a:pt x="162" y="61"/>
                    <a:pt x="162" y="61"/>
                    <a:pt x="162" y="61"/>
                  </a:cubicBezTo>
                  <a:cubicBezTo>
                    <a:pt x="162" y="61"/>
                    <a:pt x="160" y="65"/>
                    <a:pt x="158" y="66"/>
                  </a:cubicBezTo>
                  <a:cubicBezTo>
                    <a:pt x="155" y="67"/>
                    <a:pt x="155" y="62"/>
                    <a:pt x="155" y="62"/>
                  </a:cubicBezTo>
                  <a:cubicBezTo>
                    <a:pt x="152" y="59"/>
                    <a:pt x="152" y="59"/>
                    <a:pt x="152" y="59"/>
                  </a:cubicBezTo>
                  <a:cubicBezTo>
                    <a:pt x="150" y="59"/>
                    <a:pt x="150" y="59"/>
                    <a:pt x="150" y="59"/>
                  </a:cubicBezTo>
                  <a:cubicBezTo>
                    <a:pt x="148" y="65"/>
                    <a:pt x="148" y="65"/>
                    <a:pt x="148" y="65"/>
                  </a:cubicBezTo>
                  <a:cubicBezTo>
                    <a:pt x="148" y="65"/>
                    <a:pt x="148" y="70"/>
                    <a:pt x="148" y="70"/>
                  </a:cubicBezTo>
                  <a:cubicBezTo>
                    <a:pt x="149" y="71"/>
                    <a:pt x="148" y="79"/>
                    <a:pt x="148" y="79"/>
                  </a:cubicBezTo>
                  <a:cubicBezTo>
                    <a:pt x="145" y="80"/>
                    <a:pt x="145" y="80"/>
                    <a:pt x="145" y="80"/>
                  </a:cubicBezTo>
                  <a:cubicBezTo>
                    <a:pt x="143" y="76"/>
                    <a:pt x="143" y="76"/>
                    <a:pt x="143" y="76"/>
                  </a:cubicBezTo>
                  <a:cubicBezTo>
                    <a:pt x="145" y="68"/>
                    <a:pt x="145" y="68"/>
                    <a:pt x="145" y="68"/>
                  </a:cubicBezTo>
                  <a:cubicBezTo>
                    <a:pt x="144" y="63"/>
                    <a:pt x="144" y="63"/>
                    <a:pt x="144" y="63"/>
                  </a:cubicBezTo>
                  <a:cubicBezTo>
                    <a:pt x="143" y="58"/>
                    <a:pt x="143" y="58"/>
                    <a:pt x="143" y="58"/>
                  </a:cubicBezTo>
                  <a:cubicBezTo>
                    <a:pt x="137" y="56"/>
                    <a:pt x="137" y="56"/>
                    <a:pt x="137" y="56"/>
                  </a:cubicBezTo>
                  <a:cubicBezTo>
                    <a:pt x="131" y="56"/>
                    <a:pt x="131" y="56"/>
                    <a:pt x="131" y="56"/>
                  </a:cubicBezTo>
                  <a:cubicBezTo>
                    <a:pt x="128" y="70"/>
                    <a:pt x="128" y="70"/>
                    <a:pt x="128" y="70"/>
                  </a:cubicBezTo>
                  <a:cubicBezTo>
                    <a:pt x="125" y="73"/>
                    <a:pt x="125" y="73"/>
                    <a:pt x="125" y="73"/>
                  </a:cubicBezTo>
                  <a:cubicBezTo>
                    <a:pt x="123" y="76"/>
                    <a:pt x="123" y="76"/>
                    <a:pt x="123" y="76"/>
                  </a:cubicBezTo>
                  <a:cubicBezTo>
                    <a:pt x="126" y="81"/>
                    <a:pt x="126" y="81"/>
                    <a:pt x="126" y="81"/>
                  </a:cubicBezTo>
                  <a:cubicBezTo>
                    <a:pt x="125" y="86"/>
                    <a:pt x="125" y="86"/>
                    <a:pt x="125" y="86"/>
                  </a:cubicBezTo>
                  <a:cubicBezTo>
                    <a:pt x="126" y="88"/>
                    <a:pt x="126" y="88"/>
                    <a:pt x="126" y="88"/>
                  </a:cubicBezTo>
                  <a:cubicBezTo>
                    <a:pt x="132" y="94"/>
                    <a:pt x="132" y="94"/>
                    <a:pt x="132" y="94"/>
                  </a:cubicBezTo>
                  <a:cubicBezTo>
                    <a:pt x="128" y="101"/>
                    <a:pt x="128" y="101"/>
                    <a:pt x="128" y="101"/>
                  </a:cubicBezTo>
                  <a:cubicBezTo>
                    <a:pt x="121" y="94"/>
                    <a:pt x="121" y="94"/>
                    <a:pt x="121" y="94"/>
                  </a:cubicBezTo>
                  <a:cubicBezTo>
                    <a:pt x="113" y="88"/>
                    <a:pt x="113" y="88"/>
                    <a:pt x="113" y="88"/>
                  </a:cubicBezTo>
                  <a:cubicBezTo>
                    <a:pt x="108" y="88"/>
                    <a:pt x="108" y="88"/>
                    <a:pt x="108" y="88"/>
                  </a:cubicBezTo>
                  <a:cubicBezTo>
                    <a:pt x="103" y="88"/>
                    <a:pt x="103" y="88"/>
                    <a:pt x="103" y="88"/>
                  </a:cubicBezTo>
                  <a:cubicBezTo>
                    <a:pt x="104" y="95"/>
                    <a:pt x="104" y="95"/>
                    <a:pt x="104" y="95"/>
                  </a:cubicBezTo>
                  <a:cubicBezTo>
                    <a:pt x="102" y="96"/>
                    <a:pt x="102" y="96"/>
                    <a:pt x="102" y="96"/>
                  </a:cubicBezTo>
                  <a:cubicBezTo>
                    <a:pt x="98" y="95"/>
                    <a:pt x="98" y="95"/>
                    <a:pt x="98" y="95"/>
                  </a:cubicBezTo>
                  <a:cubicBezTo>
                    <a:pt x="93" y="97"/>
                    <a:pt x="93" y="97"/>
                    <a:pt x="93" y="97"/>
                  </a:cubicBezTo>
                  <a:cubicBezTo>
                    <a:pt x="89" y="98"/>
                    <a:pt x="89" y="98"/>
                    <a:pt x="89" y="98"/>
                  </a:cubicBezTo>
                  <a:cubicBezTo>
                    <a:pt x="85" y="99"/>
                    <a:pt x="85" y="99"/>
                    <a:pt x="85" y="99"/>
                  </a:cubicBezTo>
                  <a:cubicBezTo>
                    <a:pt x="83" y="97"/>
                    <a:pt x="83" y="97"/>
                    <a:pt x="83" y="97"/>
                  </a:cubicBezTo>
                  <a:cubicBezTo>
                    <a:pt x="79" y="98"/>
                    <a:pt x="79" y="98"/>
                    <a:pt x="79" y="98"/>
                  </a:cubicBezTo>
                  <a:cubicBezTo>
                    <a:pt x="73" y="102"/>
                    <a:pt x="73" y="102"/>
                    <a:pt x="73" y="102"/>
                  </a:cubicBezTo>
                  <a:cubicBezTo>
                    <a:pt x="66" y="106"/>
                    <a:pt x="66" y="106"/>
                    <a:pt x="66" y="106"/>
                  </a:cubicBezTo>
                  <a:cubicBezTo>
                    <a:pt x="64" y="107"/>
                    <a:pt x="64" y="107"/>
                    <a:pt x="64" y="107"/>
                  </a:cubicBezTo>
                  <a:cubicBezTo>
                    <a:pt x="62" y="112"/>
                    <a:pt x="62" y="112"/>
                    <a:pt x="62" y="112"/>
                  </a:cubicBezTo>
                  <a:cubicBezTo>
                    <a:pt x="59" y="112"/>
                    <a:pt x="59" y="112"/>
                    <a:pt x="59" y="112"/>
                  </a:cubicBezTo>
                  <a:cubicBezTo>
                    <a:pt x="56" y="109"/>
                    <a:pt x="56" y="109"/>
                    <a:pt x="56" y="109"/>
                  </a:cubicBezTo>
                  <a:cubicBezTo>
                    <a:pt x="57" y="106"/>
                    <a:pt x="57" y="106"/>
                    <a:pt x="57" y="106"/>
                  </a:cubicBezTo>
                  <a:cubicBezTo>
                    <a:pt x="60" y="104"/>
                    <a:pt x="60" y="104"/>
                    <a:pt x="60" y="104"/>
                  </a:cubicBezTo>
                  <a:cubicBezTo>
                    <a:pt x="59" y="100"/>
                    <a:pt x="59" y="100"/>
                    <a:pt x="59" y="100"/>
                  </a:cubicBezTo>
                  <a:cubicBezTo>
                    <a:pt x="55" y="99"/>
                    <a:pt x="55" y="99"/>
                    <a:pt x="55" y="99"/>
                  </a:cubicBezTo>
                  <a:cubicBezTo>
                    <a:pt x="53" y="99"/>
                    <a:pt x="53" y="99"/>
                    <a:pt x="53" y="99"/>
                  </a:cubicBezTo>
                  <a:cubicBezTo>
                    <a:pt x="50" y="98"/>
                    <a:pt x="50" y="98"/>
                    <a:pt x="50" y="98"/>
                  </a:cubicBezTo>
                  <a:cubicBezTo>
                    <a:pt x="52" y="102"/>
                    <a:pt x="52" y="102"/>
                    <a:pt x="52" y="102"/>
                  </a:cubicBezTo>
                  <a:cubicBezTo>
                    <a:pt x="52" y="109"/>
                    <a:pt x="52" y="109"/>
                    <a:pt x="52" y="109"/>
                  </a:cubicBezTo>
                  <a:cubicBezTo>
                    <a:pt x="54" y="112"/>
                    <a:pt x="54" y="112"/>
                    <a:pt x="54" y="112"/>
                  </a:cubicBezTo>
                  <a:cubicBezTo>
                    <a:pt x="52" y="118"/>
                    <a:pt x="52" y="118"/>
                    <a:pt x="52" y="118"/>
                  </a:cubicBezTo>
                  <a:cubicBezTo>
                    <a:pt x="49" y="116"/>
                    <a:pt x="49" y="116"/>
                    <a:pt x="49" y="116"/>
                  </a:cubicBezTo>
                  <a:cubicBezTo>
                    <a:pt x="46" y="116"/>
                    <a:pt x="46" y="116"/>
                    <a:pt x="46" y="116"/>
                  </a:cubicBezTo>
                  <a:cubicBezTo>
                    <a:pt x="43" y="118"/>
                    <a:pt x="43" y="118"/>
                    <a:pt x="43" y="118"/>
                  </a:cubicBezTo>
                  <a:cubicBezTo>
                    <a:pt x="40" y="121"/>
                    <a:pt x="40" y="121"/>
                    <a:pt x="40" y="121"/>
                  </a:cubicBezTo>
                  <a:cubicBezTo>
                    <a:pt x="38" y="123"/>
                    <a:pt x="38" y="123"/>
                    <a:pt x="38" y="123"/>
                  </a:cubicBezTo>
                  <a:cubicBezTo>
                    <a:pt x="41" y="130"/>
                    <a:pt x="41" y="130"/>
                    <a:pt x="41" y="130"/>
                  </a:cubicBezTo>
                  <a:cubicBezTo>
                    <a:pt x="41" y="130"/>
                    <a:pt x="39" y="129"/>
                    <a:pt x="39" y="129"/>
                  </a:cubicBezTo>
                  <a:cubicBezTo>
                    <a:pt x="38" y="128"/>
                    <a:pt x="33" y="128"/>
                    <a:pt x="33" y="128"/>
                  </a:cubicBezTo>
                  <a:cubicBezTo>
                    <a:pt x="30" y="127"/>
                    <a:pt x="30" y="127"/>
                    <a:pt x="30" y="127"/>
                  </a:cubicBezTo>
                  <a:cubicBezTo>
                    <a:pt x="30" y="129"/>
                    <a:pt x="30" y="129"/>
                    <a:pt x="30" y="129"/>
                  </a:cubicBezTo>
                  <a:cubicBezTo>
                    <a:pt x="32" y="132"/>
                    <a:pt x="32" y="132"/>
                    <a:pt x="32" y="132"/>
                  </a:cubicBezTo>
                  <a:cubicBezTo>
                    <a:pt x="33" y="135"/>
                    <a:pt x="33" y="135"/>
                    <a:pt x="33" y="135"/>
                  </a:cubicBezTo>
                  <a:cubicBezTo>
                    <a:pt x="31" y="136"/>
                    <a:pt x="31" y="136"/>
                    <a:pt x="31" y="136"/>
                  </a:cubicBezTo>
                  <a:cubicBezTo>
                    <a:pt x="26" y="133"/>
                    <a:pt x="26" y="133"/>
                    <a:pt x="26" y="133"/>
                  </a:cubicBezTo>
                  <a:cubicBezTo>
                    <a:pt x="23" y="130"/>
                    <a:pt x="23" y="130"/>
                    <a:pt x="23" y="130"/>
                  </a:cubicBezTo>
                  <a:cubicBezTo>
                    <a:pt x="23" y="128"/>
                    <a:pt x="23" y="128"/>
                    <a:pt x="23" y="128"/>
                  </a:cubicBezTo>
                  <a:cubicBezTo>
                    <a:pt x="21" y="123"/>
                    <a:pt x="21" y="123"/>
                    <a:pt x="21" y="123"/>
                  </a:cubicBezTo>
                  <a:cubicBezTo>
                    <a:pt x="23" y="121"/>
                    <a:pt x="23" y="121"/>
                    <a:pt x="23" y="121"/>
                  </a:cubicBezTo>
                  <a:cubicBezTo>
                    <a:pt x="23" y="118"/>
                    <a:pt x="23" y="118"/>
                    <a:pt x="23" y="118"/>
                  </a:cubicBezTo>
                  <a:cubicBezTo>
                    <a:pt x="19" y="116"/>
                    <a:pt x="19" y="116"/>
                    <a:pt x="19" y="116"/>
                  </a:cubicBezTo>
                  <a:cubicBezTo>
                    <a:pt x="15" y="113"/>
                    <a:pt x="15" y="113"/>
                    <a:pt x="15" y="113"/>
                  </a:cubicBezTo>
                  <a:cubicBezTo>
                    <a:pt x="14" y="111"/>
                    <a:pt x="14" y="111"/>
                    <a:pt x="14" y="111"/>
                  </a:cubicBezTo>
                  <a:cubicBezTo>
                    <a:pt x="16" y="111"/>
                    <a:pt x="16" y="111"/>
                    <a:pt x="16" y="111"/>
                  </a:cubicBezTo>
                  <a:cubicBezTo>
                    <a:pt x="18" y="112"/>
                    <a:pt x="18" y="112"/>
                    <a:pt x="18" y="112"/>
                  </a:cubicBezTo>
                  <a:cubicBezTo>
                    <a:pt x="18" y="112"/>
                    <a:pt x="22" y="113"/>
                    <a:pt x="22" y="113"/>
                  </a:cubicBezTo>
                  <a:cubicBezTo>
                    <a:pt x="23" y="113"/>
                    <a:pt x="24" y="116"/>
                    <a:pt x="24" y="116"/>
                  </a:cubicBezTo>
                  <a:cubicBezTo>
                    <a:pt x="31" y="118"/>
                    <a:pt x="31" y="118"/>
                    <a:pt x="31" y="118"/>
                  </a:cubicBezTo>
                  <a:cubicBezTo>
                    <a:pt x="38" y="117"/>
                    <a:pt x="38" y="117"/>
                    <a:pt x="38" y="117"/>
                  </a:cubicBezTo>
                  <a:cubicBezTo>
                    <a:pt x="42" y="114"/>
                    <a:pt x="42" y="114"/>
                    <a:pt x="42" y="114"/>
                  </a:cubicBezTo>
                  <a:cubicBezTo>
                    <a:pt x="43" y="109"/>
                    <a:pt x="43" y="109"/>
                    <a:pt x="43" y="109"/>
                  </a:cubicBezTo>
                  <a:cubicBezTo>
                    <a:pt x="36" y="101"/>
                    <a:pt x="36" y="101"/>
                    <a:pt x="36" y="101"/>
                  </a:cubicBezTo>
                  <a:cubicBezTo>
                    <a:pt x="30" y="97"/>
                    <a:pt x="30" y="97"/>
                    <a:pt x="30" y="97"/>
                  </a:cubicBezTo>
                  <a:cubicBezTo>
                    <a:pt x="26" y="93"/>
                    <a:pt x="26" y="93"/>
                    <a:pt x="26" y="93"/>
                  </a:cubicBezTo>
                  <a:cubicBezTo>
                    <a:pt x="20" y="91"/>
                    <a:pt x="20" y="91"/>
                    <a:pt x="20" y="91"/>
                  </a:cubicBezTo>
                  <a:cubicBezTo>
                    <a:pt x="17" y="90"/>
                    <a:pt x="17" y="90"/>
                    <a:pt x="17" y="90"/>
                  </a:cubicBezTo>
                  <a:cubicBezTo>
                    <a:pt x="17" y="87"/>
                    <a:pt x="17" y="87"/>
                    <a:pt x="17" y="87"/>
                  </a:cubicBezTo>
                  <a:cubicBezTo>
                    <a:pt x="13" y="87"/>
                    <a:pt x="13" y="87"/>
                    <a:pt x="13" y="87"/>
                  </a:cubicBezTo>
                  <a:cubicBezTo>
                    <a:pt x="10" y="87"/>
                    <a:pt x="10" y="87"/>
                    <a:pt x="10" y="87"/>
                  </a:cubicBezTo>
                  <a:cubicBezTo>
                    <a:pt x="9" y="87"/>
                    <a:pt x="9" y="87"/>
                    <a:pt x="9" y="87"/>
                  </a:cubicBezTo>
                  <a:cubicBezTo>
                    <a:pt x="8" y="89"/>
                    <a:pt x="8" y="89"/>
                    <a:pt x="8" y="89"/>
                  </a:cubicBezTo>
                  <a:cubicBezTo>
                    <a:pt x="4" y="93"/>
                    <a:pt x="4" y="93"/>
                    <a:pt x="4" y="93"/>
                  </a:cubicBezTo>
                  <a:cubicBezTo>
                    <a:pt x="4" y="93"/>
                    <a:pt x="4" y="93"/>
                    <a:pt x="4" y="93"/>
                  </a:cubicBezTo>
                  <a:cubicBezTo>
                    <a:pt x="4" y="94"/>
                    <a:pt x="4" y="94"/>
                    <a:pt x="4" y="94"/>
                  </a:cubicBezTo>
                  <a:cubicBezTo>
                    <a:pt x="3" y="95"/>
                    <a:pt x="3" y="95"/>
                    <a:pt x="3" y="95"/>
                  </a:cubicBezTo>
                  <a:cubicBezTo>
                    <a:pt x="3" y="96"/>
                    <a:pt x="3" y="96"/>
                    <a:pt x="3" y="96"/>
                  </a:cubicBezTo>
                  <a:cubicBezTo>
                    <a:pt x="2" y="99"/>
                    <a:pt x="2" y="99"/>
                    <a:pt x="2" y="99"/>
                  </a:cubicBezTo>
                  <a:cubicBezTo>
                    <a:pt x="3" y="100"/>
                    <a:pt x="3" y="100"/>
                    <a:pt x="3" y="100"/>
                  </a:cubicBezTo>
                  <a:cubicBezTo>
                    <a:pt x="6" y="102"/>
                    <a:pt x="6" y="102"/>
                    <a:pt x="6" y="102"/>
                  </a:cubicBezTo>
                  <a:cubicBezTo>
                    <a:pt x="8" y="107"/>
                    <a:pt x="8" y="107"/>
                    <a:pt x="8" y="107"/>
                  </a:cubicBezTo>
                  <a:cubicBezTo>
                    <a:pt x="4" y="112"/>
                    <a:pt x="4" y="112"/>
                    <a:pt x="4" y="112"/>
                  </a:cubicBezTo>
                  <a:cubicBezTo>
                    <a:pt x="8" y="122"/>
                    <a:pt x="8" y="122"/>
                    <a:pt x="8" y="122"/>
                  </a:cubicBezTo>
                  <a:cubicBezTo>
                    <a:pt x="6" y="124"/>
                    <a:pt x="6" y="124"/>
                    <a:pt x="6" y="124"/>
                  </a:cubicBezTo>
                  <a:cubicBezTo>
                    <a:pt x="7" y="126"/>
                    <a:pt x="7" y="126"/>
                    <a:pt x="7" y="126"/>
                  </a:cubicBezTo>
                  <a:cubicBezTo>
                    <a:pt x="6" y="127"/>
                    <a:pt x="6" y="127"/>
                    <a:pt x="6" y="127"/>
                  </a:cubicBezTo>
                  <a:cubicBezTo>
                    <a:pt x="8" y="129"/>
                    <a:pt x="8" y="129"/>
                    <a:pt x="8" y="129"/>
                  </a:cubicBezTo>
                  <a:cubicBezTo>
                    <a:pt x="8" y="129"/>
                    <a:pt x="7" y="131"/>
                    <a:pt x="7" y="131"/>
                  </a:cubicBezTo>
                  <a:cubicBezTo>
                    <a:pt x="8" y="131"/>
                    <a:pt x="9" y="133"/>
                    <a:pt x="9" y="133"/>
                  </a:cubicBezTo>
                  <a:cubicBezTo>
                    <a:pt x="8" y="137"/>
                    <a:pt x="8" y="137"/>
                    <a:pt x="8" y="137"/>
                  </a:cubicBezTo>
                  <a:cubicBezTo>
                    <a:pt x="10" y="140"/>
                    <a:pt x="10" y="140"/>
                    <a:pt x="10" y="140"/>
                  </a:cubicBezTo>
                  <a:cubicBezTo>
                    <a:pt x="12" y="141"/>
                    <a:pt x="12" y="141"/>
                    <a:pt x="12" y="141"/>
                  </a:cubicBezTo>
                  <a:cubicBezTo>
                    <a:pt x="11" y="143"/>
                    <a:pt x="11" y="143"/>
                    <a:pt x="11" y="143"/>
                  </a:cubicBezTo>
                  <a:cubicBezTo>
                    <a:pt x="0" y="157"/>
                    <a:pt x="0" y="157"/>
                    <a:pt x="0" y="157"/>
                  </a:cubicBezTo>
                  <a:cubicBezTo>
                    <a:pt x="2" y="157"/>
                    <a:pt x="2" y="157"/>
                    <a:pt x="2" y="157"/>
                  </a:cubicBezTo>
                  <a:cubicBezTo>
                    <a:pt x="4" y="158"/>
                    <a:pt x="4" y="158"/>
                    <a:pt x="4" y="158"/>
                  </a:cubicBezTo>
                  <a:cubicBezTo>
                    <a:pt x="4" y="163"/>
                    <a:pt x="4" y="163"/>
                    <a:pt x="4" y="163"/>
                  </a:cubicBezTo>
                  <a:cubicBezTo>
                    <a:pt x="1" y="163"/>
                    <a:pt x="1" y="163"/>
                    <a:pt x="1" y="163"/>
                  </a:cubicBezTo>
                  <a:cubicBezTo>
                    <a:pt x="2" y="164"/>
                    <a:pt x="2" y="164"/>
                    <a:pt x="2" y="164"/>
                  </a:cubicBezTo>
                  <a:cubicBezTo>
                    <a:pt x="1" y="168"/>
                    <a:pt x="1" y="168"/>
                    <a:pt x="1" y="168"/>
                  </a:cubicBezTo>
                  <a:cubicBezTo>
                    <a:pt x="1" y="171"/>
                    <a:pt x="1" y="171"/>
                    <a:pt x="1" y="171"/>
                  </a:cubicBezTo>
                  <a:cubicBezTo>
                    <a:pt x="0" y="178"/>
                    <a:pt x="0" y="178"/>
                    <a:pt x="0" y="178"/>
                  </a:cubicBezTo>
                  <a:cubicBezTo>
                    <a:pt x="2" y="183"/>
                    <a:pt x="2" y="183"/>
                    <a:pt x="2" y="183"/>
                  </a:cubicBezTo>
                  <a:cubicBezTo>
                    <a:pt x="6" y="185"/>
                    <a:pt x="6" y="185"/>
                    <a:pt x="6" y="185"/>
                  </a:cubicBezTo>
                  <a:cubicBezTo>
                    <a:pt x="9" y="186"/>
                    <a:pt x="9" y="186"/>
                    <a:pt x="9" y="186"/>
                  </a:cubicBezTo>
                  <a:cubicBezTo>
                    <a:pt x="13" y="195"/>
                    <a:pt x="13" y="195"/>
                    <a:pt x="13" y="195"/>
                  </a:cubicBezTo>
                  <a:cubicBezTo>
                    <a:pt x="16" y="197"/>
                    <a:pt x="16" y="197"/>
                    <a:pt x="16" y="197"/>
                  </a:cubicBezTo>
                  <a:cubicBezTo>
                    <a:pt x="15" y="199"/>
                    <a:pt x="15" y="199"/>
                    <a:pt x="15" y="199"/>
                  </a:cubicBezTo>
                  <a:cubicBezTo>
                    <a:pt x="12" y="201"/>
                    <a:pt x="12" y="201"/>
                    <a:pt x="12" y="201"/>
                  </a:cubicBezTo>
                  <a:cubicBezTo>
                    <a:pt x="13" y="204"/>
                    <a:pt x="13" y="204"/>
                    <a:pt x="13" y="204"/>
                  </a:cubicBezTo>
                  <a:cubicBezTo>
                    <a:pt x="15" y="205"/>
                    <a:pt x="15" y="205"/>
                    <a:pt x="15" y="205"/>
                  </a:cubicBezTo>
                  <a:cubicBezTo>
                    <a:pt x="18" y="205"/>
                    <a:pt x="18" y="205"/>
                    <a:pt x="18" y="205"/>
                  </a:cubicBezTo>
                  <a:cubicBezTo>
                    <a:pt x="21" y="208"/>
                    <a:pt x="21" y="208"/>
                    <a:pt x="21" y="208"/>
                  </a:cubicBezTo>
                  <a:cubicBezTo>
                    <a:pt x="22" y="209"/>
                    <a:pt x="22" y="209"/>
                    <a:pt x="22" y="209"/>
                  </a:cubicBezTo>
                  <a:cubicBezTo>
                    <a:pt x="34" y="214"/>
                    <a:pt x="34" y="214"/>
                    <a:pt x="34" y="214"/>
                  </a:cubicBezTo>
                  <a:cubicBezTo>
                    <a:pt x="35" y="214"/>
                    <a:pt x="35" y="214"/>
                    <a:pt x="35" y="214"/>
                  </a:cubicBezTo>
                  <a:cubicBezTo>
                    <a:pt x="34" y="219"/>
                    <a:pt x="34" y="219"/>
                    <a:pt x="34" y="219"/>
                  </a:cubicBezTo>
                  <a:cubicBezTo>
                    <a:pt x="32" y="220"/>
                    <a:pt x="32" y="220"/>
                    <a:pt x="32" y="220"/>
                  </a:cubicBezTo>
                  <a:cubicBezTo>
                    <a:pt x="30" y="223"/>
                    <a:pt x="30" y="223"/>
                    <a:pt x="30" y="223"/>
                  </a:cubicBezTo>
                  <a:cubicBezTo>
                    <a:pt x="28" y="225"/>
                    <a:pt x="28" y="225"/>
                    <a:pt x="28" y="225"/>
                  </a:cubicBezTo>
                  <a:cubicBezTo>
                    <a:pt x="31" y="224"/>
                    <a:pt x="31" y="224"/>
                    <a:pt x="31" y="224"/>
                  </a:cubicBezTo>
                  <a:cubicBezTo>
                    <a:pt x="29" y="228"/>
                    <a:pt x="29" y="228"/>
                    <a:pt x="29" y="228"/>
                  </a:cubicBezTo>
                  <a:cubicBezTo>
                    <a:pt x="26" y="232"/>
                    <a:pt x="26" y="232"/>
                    <a:pt x="26" y="232"/>
                  </a:cubicBezTo>
                  <a:cubicBezTo>
                    <a:pt x="29" y="236"/>
                    <a:pt x="29" y="236"/>
                    <a:pt x="29" y="236"/>
                  </a:cubicBezTo>
                  <a:cubicBezTo>
                    <a:pt x="35" y="239"/>
                    <a:pt x="35" y="239"/>
                    <a:pt x="35" y="239"/>
                  </a:cubicBezTo>
                  <a:cubicBezTo>
                    <a:pt x="40" y="244"/>
                    <a:pt x="40" y="244"/>
                    <a:pt x="40" y="244"/>
                  </a:cubicBezTo>
                  <a:cubicBezTo>
                    <a:pt x="40" y="247"/>
                    <a:pt x="40" y="247"/>
                    <a:pt x="40" y="247"/>
                  </a:cubicBezTo>
                  <a:cubicBezTo>
                    <a:pt x="42" y="248"/>
                    <a:pt x="42" y="248"/>
                    <a:pt x="42" y="248"/>
                  </a:cubicBezTo>
                  <a:cubicBezTo>
                    <a:pt x="45" y="248"/>
                    <a:pt x="45" y="248"/>
                    <a:pt x="45" y="248"/>
                  </a:cubicBezTo>
                  <a:cubicBezTo>
                    <a:pt x="47" y="250"/>
                    <a:pt x="47" y="250"/>
                    <a:pt x="47" y="250"/>
                  </a:cubicBezTo>
                  <a:cubicBezTo>
                    <a:pt x="50" y="255"/>
                    <a:pt x="50" y="255"/>
                    <a:pt x="50" y="255"/>
                  </a:cubicBezTo>
                  <a:cubicBezTo>
                    <a:pt x="49" y="256"/>
                    <a:pt x="49" y="256"/>
                    <a:pt x="49" y="256"/>
                  </a:cubicBezTo>
                  <a:cubicBezTo>
                    <a:pt x="52" y="259"/>
                    <a:pt x="52" y="259"/>
                    <a:pt x="52" y="259"/>
                  </a:cubicBezTo>
                  <a:cubicBezTo>
                    <a:pt x="56" y="259"/>
                    <a:pt x="56" y="259"/>
                    <a:pt x="56" y="259"/>
                  </a:cubicBezTo>
                  <a:cubicBezTo>
                    <a:pt x="59" y="256"/>
                    <a:pt x="59" y="256"/>
                    <a:pt x="59" y="256"/>
                  </a:cubicBezTo>
                  <a:cubicBezTo>
                    <a:pt x="61" y="258"/>
                    <a:pt x="61" y="258"/>
                    <a:pt x="61" y="258"/>
                  </a:cubicBezTo>
                  <a:cubicBezTo>
                    <a:pt x="61" y="260"/>
                    <a:pt x="61" y="260"/>
                    <a:pt x="61" y="260"/>
                  </a:cubicBezTo>
                  <a:cubicBezTo>
                    <a:pt x="62" y="260"/>
                    <a:pt x="62" y="260"/>
                    <a:pt x="62" y="260"/>
                  </a:cubicBezTo>
                  <a:cubicBezTo>
                    <a:pt x="64" y="257"/>
                    <a:pt x="64" y="257"/>
                    <a:pt x="64" y="257"/>
                  </a:cubicBezTo>
                  <a:cubicBezTo>
                    <a:pt x="67" y="253"/>
                    <a:pt x="67" y="253"/>
                    <a:pt x="67" y="253"/>
                  </a:cubicBezTo>
                  <a:cubicBezTo>
                    <a:pt x="67" y="253"/>
                    <a:pt x="64" y="244"/>
                    <a:pt x="63" y="244"/>
                  </a:cubicBezTo>
                  <a:cubicBezTo>
                    <a:pt x="62" y="243"/>
                    <a:pt x="56" y="235"/>
                    <a:pt x="56" y="235"/>
                  </a:cubicBezTo>
                  <a:cubicBezTo>
                    <a:pt x="59" y="229"/>
                    <a:pt x="59" y="229"/>
                    <a:pt x="59" y="229"/>
                  </a:cubicBezTo>
                  <a:cubicBezTo>
                    <a:pt x="63" y="226"/>
                    <a:pt x="63" y="226"/>
                    <a:pt x="63" y="226"/>
                  </a:cubicBezTo>
                  <a:cubicBezTo>
                    <a:pt x="63" y="225"/>
                    <a:pt x="63" y="225"/>
                    <a:pt x="63" y="225"/>
                  </a:cubicBezTo>
                  <a:cubicBezTo>
                    <a:pt x="64" y="226"/>
                    <a:pt x="64" y="226"/>
                    <a:pt x="64" y="226"/>
                  </a:cubicBezTo>
                  <a:cubicBezTo>
                    <a:pt x="63" y="224"/>
                    <a:pt x="63" y="224"/>
                    <a:pt x="63" y="224"/>
                  </a:cubicBezTo>
                  <a:cubicBezTo>
                    <a:pt x="63" y="224"/>
                    <a:pt x="63" y="224"/>
                    <a:pt x="63" y="224"/>
                  </a:cubicBezTo>
                  <a:cubicBezTo>
                    <a:pt x="63" y="224"/>
                    <a:pt x="63" y="224"/>
                    <a:pt x="63" y="224"/>
                  </a:cubicBezTo>
                  <a:cubicBezTo>
                    <a:pt x="60" y="222"/>
                    <a:pt x="60" y="222"/>
                    <a:pt x="60" y="222"/>
                  </a:cubicBezTo>
                  <a:cubicBezTo>
                    <a:pt x="63" y="214"/>
                    <a:pt x="63" y="214"/>
                    <a:pt x="63" y="214"/>
                  </a:cubicBezTo>
                  <a:cubicBezTo>
                    <a:pt x="73" y="210"/>
                    <a:pt x="73" y="210"/>
                    <a:pt x="73" y="210"/>
                  </a:cubicBezTo>
                  <a:cubicBezTo>
                    <a:pt x="82" y="209"/>
                    <a:pt x="82" y="209"/>
                    <a:pt x="82" y="209"/>
                  </a:cubicBezTo>
                  <a:cubicBezTo>
                    <a:pt x="87" y="212"/>
                    <a:pt x="87" y="212"/>
                    <a:pt x="87" y="212"/>
                  </a:cubicBezTo>
                  <a:cubicBezTo>
                    <a:pt x="93" y="211"/>
                    <a:pt x="93" y="211"/>
                    <a:pt x="93" y="211"/>
                  </a:cubicBezTo>
                  <a:cubicBezTo>
                    <a:pt x="100" y="213"/>
                    <a:pt x="100" y="213"/>
                    <a:pt x="100" y="213"/>
                  </a:cubicBezTo>
                  <a:cubicBezTo>
                    <a:pt x="107" y="211"/>
                    <a:pt x="107" y="211"/>
                    <a:pt x="107" y="211"/>
                  </a:cubicBezTo>
                  <a:cubicBezTo>
                    <a:pt x="105" y="205"/>
                    <a:pt x="105" y="205"/>
                    <a:pt x="105" y="205"/>
                  </a:cubicBezTo>
                  <a:cubicBezTo>
                    <a:pt x="109" y="196"/>
                    <a:pt x="109" y="196"/>
                    <a:pt x="109" y="196"/>
                  </a:cubicBezTo>
                  <a:cubicBezTo>
                    <a:pt x="122" y="191"/>
                    <a:pt x="122" y="191"/>
                    <a:pt x="122" y="191"/>
                  </a:cubicBezTo>
                  <a:cubicBezTo>
                    <a:pt x="134" y="189"/>
                    <a:pt x="134" y="189"/>
                    <a:pt x="134" y="189"/>
                  </a:cubicBezTo>
                  <a:cubicBezTo>
                    <a:pt x="142" y="198"/>
                    <a:pt x="142" y="198"/>
                    <a:pt x="142" y="198"/>
                  </a:cubicBezTo>
                  <a:cubicBezTo>
                    <a:pt x="151" y="195"/>
                    <a:pt x="151" y="195"/>
                    <a:pt x="151" y="195"/>
                  </a:cubicBezTo>
                  <a:cubicBezTo>
                    <a:pt x="156" y="194"/>
                    <a:pt x="156" y="194"/>
                    <a:pt x="156" y="194"/>
                  </a:cubicBezTo>
                  <a:cubicBezTo>
                    <a:pt x="160" y="203"/>
                    <a:pt x="160" y="203"/>
                    <a:pt x="160" y="203"/>
                  </a:cubicBezTo>
                  <a:cubicBezTo>
                    <a:pt x="164" y="212"/>
                    <a:pt x="164" y="212"/>
                    <a:pt x="164" y="212"/>
                  </a:cubicBezTo>
                  <a:cubicBezTo>
                    <a:pt x="174" y="212"/>
                    <a:pt x="174" y="212"/>
                    <a:pt x="174" y="212"/>
                  </a:cubicBezTo>
                  <a:cubicBezTo>
                    <a:pt x="182" y="216"/>
                    <a:pt x="182" y="216"/>
                    <a:pt x="182" y="216"/>
                  </a:cubicBezTo>
                  <a:cubicBezTo>
                    <a:pt x="189" y="217"/>
                    <a:pt x="189" y="217"/>
                    <a:pt x="189" y="217"/>
                  </a:cubicBezTo>
                  <a:cubicBezTo>
                    <a:pt x="189" y="223"/>
                    <a:pt x="189" y="223"/>
                    <a:pt x="189" y="223"/>
                  </a:cubicBezTo>
                  <a:cubicBezTo>
                    <a:pt x="191" y="222"/>
                    <a:pt x="191" y="222"/>
                    <a:pt x="191" y="222"/>
                  </a:cubicBezTo>
                  <a:cubicBezTo>
                    <a:pt x="192" y="223"/>
                    <a:pt x="192" y="223"/>
                    <a:pt x="192" y="223"/>
                  </a:cubicBezTo>
                  <a:cubicBezTo>
                    <a:pt x="194" y="219"/>
                    <a:pt x="194" y="219"/>
                    <a:pt x="194" y="219"/>
                  </a:cubicBezTo>
                  <a:cubicBezTo>
                    <a:pt x="201" y="214"/>
                    <a:pt x="201" y="214"/>
                    <a:pt x="201" y="214"/>
                  </a:cubicBezTo>
                  <a:cubicBezTo>
                    <a:pt x="212" y="213"/>
                    <a:pt x="212" y="213"/>
                    <a:pt x="212" y="213"/>
                  </a:cubicBezTo>
                  <a:cubicBezTo>
                    <a:pt x="220" y="217"/>
                    <a:pt x="220" y="217"/>
                    <a:pt x="220" y="217"/>
                  </a:cubicBezTo>
                  <a:cubicBezTo>
                    <a:pt x="224" y="211"/>
                    <a:pt x="224" y="211"/>
                    <a:pt x="224" y="211"/>
                  </a:cubicBezTo>
                  <a:cubicBezTo>
                    <a:pt x="228" y="206"/>
                    <a:pt x="228" y="206"/>
                    <a:pt x="228" y="206"/>
                  </a:cubicBezTo>
                  <a:cubicBezTo>
                    <a:pt x="240" y="211"/>
                    <a:pt x="240" y="211"/>
                    <a:pt x="240" y="211"/>
                  </a:cubicBezTo>
                  <a:cubicBezTo>
                    <a:pt x="243" y="215"/>
                    <a:pt x="243" y="215"/>
                    <a:pt x="243" y="215"/>
                  </a:cubicBezTo>
                  <a:cubicBezTo>
                    <a:pt x="253" y="215"/>
                    <a:pt x="253" y="215"/>
                    <a:pt x="253" y="215"/>
                  </a:cubicBezTo>
                  <a:cubicBezTo>
                    <a:pt x="259" y="220"/>
                    <a:pt x="259" y="220"/>
                    <a:pt x="259" y="220"/>
                  </a:cubicBezTo>
                  <a:cubicBezTo>
                    <a:pt x="275" y="216"/>
                    <a:pt x="275" y="216"/>
                    <a:pt x="275" y="216"/>
                  </a:cubicBezTo>
                  <a:cubicBezTo>
                    <a:pt x="282" y="218"/>
                    <a:pt x="282" y="218"/>
                    <a:pt x="282" y="218"/>
                  </a:cubicBezTo>
                  <a:cubicBezTo>
                    <a:pt x="283" y="216"/>
                    <a:pt x="283" y="216"/>
                    <a:pt x="283" y="216"/>
                  </a:cubicBezTo>
                  <a:cubicBezTo>
                    <a:pt x="289" y="216"/>
                    <a:pt x="289" y="216"/>
                    <a:pt x="289" y="216"/>
                  </a:cubicBezTo>
                  <a:cubicBezTo>
                    <a:pt x="295" y="205"/>
                    <a:pt x="295" y="205"/>
                    <a:pt x="295" y="205"/>
                  </a:cubicBezTo>
                  <a:cubicBezTo>
                    <a:pt x="298" y="200"/>
                    <a:pt x="298" y="200"/>
                    <a:pt x="298" y="200"/>
                  </a:cubicBezTo>
                  <a:cubicBezTo>
                    <a:pt x="307" y="200"/>
                    <a:pt x="307" y="200"/>
                    <a:pt x="307" y="200"/>
                  </a:cubicBezTo>
                  <a:cubicBezTo>
                    <a:pt x="317" y="218"/>
                    <a:pt x="317" y="218"/>
                    <a:pt x="317" y="218"/>
                  </a:cubicBezTo>
                  <a:cubicBezTo>
                    <a:pt x="325" y="220"/>
                    <a:pt x="325" y="220"/>
                    <a:pt x="325" y="220"/>
                  </a:cubicBezTo>
                  <a:cubicBezTo>
                    <a:pt x="327" y="224"/>
                    <a:pt x="327" y="224"/>
                    <a:pt x="327" y="224"/>
                  </a:cubicBezTo>
                  <a:cubicBezTo>
                    <a:pt x="339" y="223"/>
                    <a:pt x="339" y="223"/>
                    <a:pt x="339" y="223"/>
                  </a:cubicBezTo>
                  <a:cubicBezTo>
                    <a:pt x="334" y="238"/>
                    <a:pt x="334" y="238"/>
                    <a:pt x="334" y="238"/>
                  </a:cubicBezTo>
                  <a:cubicBezTo>
                    <a:pt x="329" y="239"/>
                    <a:pt x="329" y="239"/>
                    <a:pt x="329" y="239"/>
                  </a:cubicBezTo>
                  <a:cubicBezTo>
                    <a:pt x="326" y="250"/>
                    <a:pt x="326" y="250"/>
                    <a:pt x="326" y="250"/>
                  </a:cubicBezTo>
                  <a:cubicBezTo>
                    <a:pt x="327" y="250"/>
                    <a:pt x="327" y="250"/>
                    <a:pt x="327" y="250"/>
                  </a:cubicBezTo>
                  <a:cubicBezTo>
                    <a:pt x="329" y="250"/>
                    <a:pt x="329" y="250"/>
                    <a:pt x="329" y="250"/>
                  </a:cubicBezTo>
                  <a:cubicBezTo>
                    <a:pt x="331" y="249"/>
                    <a:pt x="331" y="249"/>
                    <a:pt x="331" y="249"/>
                  </a:cubicBezTo>
                  <a:cubicBezTo>
                    <a:pt x="332" y="249"/>
                    <a:pt x="332" y="249"/>
                    <a:pt x="332" y="249"/>
                  </a:cubicBezTo>
                  <a:cubicBezTo>
                    <a:pt x="335" y="250"/>
                    <a:pt x="335" y="250"/>
                    <a:pt x="335" y="250"/>
                  </a:cubicBezTo>
                  <a:cubicBezTo>
                    <a:pt x="342" y="245"/>
                    <a:pt x="342" y="245"/>
                    <a:pt x="342" y="245"/>
                  </a:cubicBezTo>
                  <a:cubicBezTo>
                    <a:pt x="345" y="241"/>
                    <a:pt x="345" y="241"/>
                    <a:pt x="345" y="241"/>
                  </a:cubicBezTo>
                  <a:cubicBezTo>
                    <a:pt x="353" y="230"/>
                    <a:pt x="353" y="230"/>
                    <a:pt x="353" y="230"/>
                  </a:cubicBezTo>
                  <a:cubicBezTo>
                    <a:pt x="357" y="223"/>
                    <a:pt x="357" y="223"/>
                    <a:pt x="357" y="223"/>
                  </a:cubicBezTo>
                  <a:cubicBezTo>
                    <a:pt x="358" y="214"/>
                    <a:pt x="358" y="214"/>
                    <a:pt x="358" y="214"/>
                  </a:cubicBezTo>
                  <a:cubicBezTo>
                    <a:pt x="360" y="203"/>
                    <a:pt x="360" y="203"/>
                    <a:pt x="360" y="203"/>
                  </a:cubicBezTo>
                  <a:cubicBezTo>
                    <a:pt x="360" y="199"/>
                    <a:pt x="360" y="199"/>
                    <a:pt x="360" y="199"/>
                  </a:cubicBezTo>
                  <a:cubicBezTo>
                    <a:pt x="355" y="194"/>
                    <a:pt x="355" y="194"/>
                    <a:pt x="355" y="194"/>
                  </a:cubicBezTo>
                  <a:cubicBezTo>
                    <a:pt x="355" y="194"/>
                    <a:pt x="349" y="198"/>
                    <a:pt x="349" y="198"/>
                  </a:cubicBezTo>
                  <a:cubicBezTo>
                    <a:pt x="348" y="198"/>
                    <a:pt x="346" y="196"/>
                    <a:pt x="346" y="196"/>
                  </a:cubicBezTo>
                  <a:cubicBezTo>
                    <a:pt x="344" y="192"/>
                    <a:pt x="344" y="192"/>
                    <a:pt x="344" y="192"/>
                  </a:cubicBezTo>
                  <a:cubicBezTo>
                    <a:pt x="341" y="192"/>
                    <a:pt x="341" y="192"/>
                    <a:pt x="341" y="192"/>
                  </a:cubicBezTo>
                  <a:cubicBezTo>
                    <a:pt x="344" y="190"/>
                    <a:pt x="344" y="190"/>
                    <a:pt x="344" y="190"/>
                  </a:cubicBezTo>
                  <a:cubicBezTo>
                    <a:pt x="349" y="185"/>
                    <a:pt x="349" y="185"/>
                    <a:pt x="349" y="185"/>
                  </a:cubicBezTo>
                  <a:cubicBezTo>
                    <a:pt x="353" y="180"/>
                    <a:pt x="353" y="180"/>
                    <a:pt x="353" y="180"/>
                  </a:cubicBezTo>
                  <a:cubicBezTo>
                    <a:pt x="354" y="178"/>
                    <a:pt x="354" y="178"/>
                    <a:pt x="354" y="178"/>
                  </a:cubicBezTo>
                  <a:cubicBezTo>
                    <a:pt x="367" y="165"/>
                    <a:pt x="367" y="165"/>
                    <a:pt x="367" y="165"/>
                  </a:cubicBezTo>
                  <a:cubicBezTo>
                    <a:pt x="371" y="164"/>
                    <a:pt x="371" y="164"/>
                    <a:pt x="371" y="164"/>
                  </a:cubicBezTo>
                  <a:cubicBezTo>
                    <a:pt x="381" y="164"/>
                    <a:pt x="381" y="164"/>
                    <a:pt x="381" y="164"/>
                  </a:cubicBezTo>
                  <a:cubicBezTo>
                    <a:pt x="386" y="163"/>
                    <a:pt x="386" y="163"/>
                    <a:pt x="386" y="163"/>
                  </a:cubicBezTo>
                  <a:cubicBezTo>
                    <a:pt x="392" y="165"/>
                    <a:pt x="392" y="165"/>
                    <a:pt x="392" y="165"/>
                  </a:cubicBezTo>
                  <a:cubicBezTo>
                    <a:pt x="392" y="168"/>
                    <a:pt x="392" y="168"/>
                    <a:pt x="392" y="168"/>
                  </a:cubicBezTo>
                  <a:cubicBezTo>
                    <a:pt x="392" y="168"/>
                    <a:pt x="400" y="166"/>
                    <a:pt x="401" y="166"/>
                  </a:cubicBezTo>
                  <a:cubicBezTo>
                    <a:pt x="401" y="167"/>
                    <a:pt x="403" y="166"/>
                    <a:pt x="403" y="166"/>
                  </a:cubicBezTo>
                  <a:cubicBezTo>
                    <a:pt x="402" y="164"/>
                    <a:pt x="402" y="164"/>
                    <a:pt x="402" y="164"/>
                  </a:cubicBezTo>
                  <a:cubicBezTo>
                    <a:pt x="403" y="159"/>
                    <a:pt x="403" y="159"/>
                    <a:pt x="403" y="159"/>
                  </a:cubicBezTo>
                  <a:cubicBezTo>
                    <a:pt x="406" y="153"/>
                    <a:pt x="406" y="153"/>
                    <a:pt x="406" y="153"/>
                  </a:cubicBezTo>
                  <a:cubicBezTo>
                    <a:pt x="411" y="149"/>
                    <a:pt x="411" y="149"/>
                    <a:pt x="411" y="149"/>
                  </a:cubicBezTo>
                  <a:cubicBezTo>
                    <a:pt x="419" y="150"/>
                    <a:pt x="419" y="150"/>
                    <a:pt x="419" y="150"/>
                  </a:cubicBezTo>
                  <a:cubicBezTo>
                    <a:pt x="421" y="155"/>
                    <a:pt x="421" y="155"/>
                    <a:pt x="421" y="155"/>
                  </a:cubicBezTo>
                  <a:cubicBezTo>
                    <a:pt x="426" y="151"/>
                    <a:pt x="426" y="151"/>
                    <a:pt x="426" y="151"/>
                  </a:cubicBezTo>
                  <a:cubicBezTo>
                    <a:pt x="433" y="144"/>
                    <a:pt x="433" y="144"/>
                    <a:pt x="433" y="144"/>
                  </a:cubicBezTo>
                  <a:cubicBezTo>
                    <a:pt x="433" y="152"/>
                    <a:pt x="433" y="152"/>
                    <a:pt x="433" y="152"/>
                  </a:cubicBezTo>
                  <a:cubicBezTo>
                    <a:pt x="427" y="158"/>
                    <a:pt x="427" y="158"/>
                    <a:pt x="427" y="158"/>
                  </a:cubicBezTo>
                  <a:cubicBezTo>
                    <a:pt x="423" y="160"/>
                    <a:pt x="423" y="160"/>
                    <a:pt x="423" y="160"/>
                  </a:cubicBezTo>
                  <a:cubicBezTo>
                    <a:pt x="419" y="166"/>
                    <a:pt x="419" y="166"/>
                    <a:pt x="419" y="166"/>
                  </a:cubicBezTo>
                  <a:cubicBezTo>
                    <a:pt x="416" y="171"/>
                    <a:pt x="416" y="171"/>
                    <a:pt x="416" y="171"/>
                  </a:cubicBezTo>
                  <a:cubicBezTo>
                    <a:pt x="416" y="171"/>
                    <a:pt x="411" y="173"/>
                    <a:pt x="411" y="174"/>
                  </a:cubicBezTo>
                  <a:cubicBezTo>
                    <a:pt x="410" y="174"/>
                    <a:pt x="409" y="175"/>
                    <a:pt x="409" y="175"/>
                  </a:cubicBezTo>
                  <a:cubicBezTo>
                    <a:pt x="405" y="186"/>
                    <a:pt x="405" y="186"/>
                    <a:pt x="405" y="186"/>
                  </a:cubicBezTo>
                  <a:cubicBezTo>
                    <a:pt x="410" y="210"/>
                    <a:pt x="410" y="210"/>
                    <a:pt x="410" y="210"/>
                  </a:cubicBezTo>
                  <a:cubicBezTo>
                    <a:pt x="416" y="202"/>
                    <a:pt x="416" y="202"/>
                    <a:pt x="416" y="202"/>
                  </a:cubicBezTo>
                  <a:cubicBezTo>
                    <a:pt x="418" y="201"/>
                    <a:pt x="418" y="201"/>
                    <a:pt x="418" y="201"/>
                  </a:cubicBezTo>
                  <a:cubicBezTo>
                    <a:pt x="420" y="196"/>
                    <a:pt x="420" y="196"/>
                    <a:pt x="420" y="196"/>
                  </a:cubicBezTo>
                  <a:cubicBezTo>
                    <a:pt x="422" y="193"/>
                    <a:pt x="422" y="193"/>
                    <a:pt x="422" y="193"/>
                  </a:cubicBezTo>
                  <a:cubicBezTo>
                    <a:pt x="426" y="191"/>
                    <a:pt x="426" y="191"/>
                    <a:pt x="426" y="191"/>
                  </a:cubicBezTo>
                  <a:cubicBezTo>
                    <a:pt x="426" y="186"/>
                    <a:pt x="426" y="186"/>
                    <a:pt x="426" y="186"/>
                  </a:cubicBezTo>
                  <a:cubicBezTo>
                    <a:pt x="427" y="184"/>
                    <a:pt x="427" y="184"/>
                    <a:pt x="427" y="184"/>
                  </a:cubicBezTo>
                  <a:cubicBezTo>
                    <a:pt x="429" y="177"/>
                    <a:pt x="429" y="177"/>
                    <a:pt x="429" y="177"/>
                  </a:cubicBezTo>
                  <a:cubicBezTo>
                    <a:pt x="429" y="175"/>
                    <a:pt x="429" y="175"/>
                    <a:pt x="429" y="175"/>
                  </a:cubicBezTo>
                  <a:cubicBezTo>
                    <a:pt x="426" y="174"/>
                    <a:pt x="426" y="174"/>
                    <a:pt x="426" y="174"/>
                  </a:cubicBezTo>
                  <a:cubicBezTo>
                    <a:pt x="430" y="165"/>
                    <a:pt x="430" y="165"/>
                    <a:pt x="430" y="165"/>
                  </a:cubicBezTo>
                  <a:cubicBezTo>
                    <a:pt x="432" y="162"/>
                    <a:pt x="432" y="162"/>
                    <a:pt x="432" y="162"/>
                  </a:cubicBezTo>
                  <a:cubicBezTo>
                    <a:pt x="435" y="161"/>
                    <a:pt x="435" y="161"/>
                    <a:pt x="435" y="161"/>
                  </a:cubicBezTo>
                  <a:cubicBezTo>
                    <a:pt x="438" y="160"/>
                    <a:pt x="438" y="160"/>
                    <a:pt x="438" y="160"/>
                  </a:cubicBezTo>
                  <a:cubicBezTo>
                    <a:pt x="439" y="162"/>
                    <a:pt x="439" y="162"/>
                    <a:pt x="439" y="162"/>
                  </a:cubicBezTo>
                  <a:cubicBezTo>
                    <a:pt x="446" y="157"/>
                    <a:pt x="446" y="157"/>
                    <a:pt x="446" y="157"/>
                  </a:cubicBezTo>
                  <a:cubicBezTo>
                    <a:pt x="446" y="157"/>
                    <a:pt x="452" y="162"/>
                    <a:pt x="452" y="162"/>
                  </a:cubicBezTo>
                  <a:cubicBezTo>
                    <a:pt x="453" y="162"/>
                    <a:pt x="454" y="157"/>
                    <a:pt x="454" y="157"/>
                  </a:cubicBezTo>
                  <a:cubicBezTo>
                    <a:pt x="457" y="156"/>
                    <a:pt x="457" y="156"/>
                    <a:pt x="457" y="156"/>
                  </a:cubicBezTo>
                  <a:cubicBezTo>
                    <a:pt x="457" y="156"/>
                    <a:pt x="463" y="150"/>
                    <a:pt x="464" y="149"/>
                  </a:cubicBezTo>
                  <a:cubicBezTo>
                    <a:pt x="464" y="149"/>
                    <a:pt x="472" y="145"/>
                    <a:pt x="472" y="145"/>
                  </a:cubicBezTo>
                  <a:cubicBezTo>
                    <a:pt x="473" y="145"/>
                    <a:pt x="476" y="145"/>
                    <a:pt x="476" y="145"/>
                  </a:cubicBezTo>
                  <a:cubicBezTo>
                    <a:pt x="480" y="146"/>
                    <a:pt x="480" y="146"/>
                    <a:pt x="480" y="146"/>
                  </a:cubicBezTo>
                  <a:cubicBezTo>
                    <a:pt x="480" y="144"/>
                    <a:pt x="480" y="144"/>
                    <a:pt x="480" y="144"/>
                  </a:cubicBezTo>
                  <a:cubicBezTo>
                    <a:pt x="479" y="140"/>
                    <a:pt x="479" y="140"/>
                    <a:pt x="479" y="140"/>
                  </a:cubicBezTo>
                  <a:cubicBezTo>
                    <a:pt x="478" y="135"/>
                    <a:pt x="478" y="135"/>
                    <a:pt x="478" y="135"/>
                  </a:cubicBezTo>
                  <a:cubicBezTo>
                    <a:pt x="474" y="131"/>
                    <a:pt x="474" y="131"/>
                    <a:pt x="474" y="131"/>
                  </a:cubicBezTo>
                  <a:cubicBezTo>
                    <a:pt x="477" y="129"/>
                    <a:pt x="477" y="129"/>
                    <a:pt x="477" y="129"/>
                  </a:cubicBezTo>
                  <a:lnTo>
                    <a:pt x="482" y="127"/>
                  </a:lnTo>
                  <a:close/>
                </a:path>
              </a:pathLst>
            </a:custGeom>
            <a:grpFill/>
            <a:ln w="9525">
              <a:solidFill>
                <a:schemeClr val="bg2">
                  <a:lumMod val="50000"/>
                </a:schemeClr>
              </a:solidFill>
              <a:round/>
              <a:headEnd/>
              <a:tailEnd/>
            </a:ln>
          </p:spPr>
          <p:txBody>
            <a:bodyPr/>
            <a:lstStyle/>
            <a:p>
              <a:endParaRPr lang="en-US" dirty="0"/>
            </a:p>
          </p:txBody>
        </p:sp>
        <p:sp>
          <p:nvSpPr>
            <p:cNvPr id="86" name="Freeform 337"/>
            <p:cNvSpPr>
              <a:spLocks/>
            </p:cNvSpPr>
            <p:nvPr/>
          </p:nvSpPr>
          <p:spPr bwMode="gray">
            <a:xfrm>
              <a:off x="6003714" y="3337833"/>
              <a:ext cx="60184" cy="6406"/>
            </a:xfrm>
            <a:custGeom>
              <a:avLst/>
              <a:gdLst>
                <a:gd name="T0" fmla="*/ 2147483647 w 54"/>
                <a:gd name="T1" fmla="*/ 2147483647 h 6"/>
                <a:gd name="T2" fmla="*/ 2147483647 w 54"/>
                <a:gd name="T3" fmla="*/ 2147483647 h 6"/>
                <a:gd name="T4" fmla="*/ 2147483647 w 54"/>
                <a:gd name="T5" fmla="*/ 0 h 6"/>
                <a:gd name="T6" fmla="*/ 0 w 54"/>
                <a:gd name="T7" fmla="*/ 2147483647 h 6"/>
                <a:gd name="T8" fmla="*/ 2147483647 w 54"/>
                <a:gd name="T9" fmla="*/ 2147483647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 h="6">
                  <a:moveTo>
                    <a:pt x="6" y="6"/>
                  </a:moveTo>
                  <a:lnTo>
                    <a:pt x="30" y="6"/>
                  </a:lnTo>
                  <a:lnTo>
                    <a:pt x="54" y="0"/>
                  </a:lnTo>
                  <a:lnTo>
                    <a:pt x="0" y="6"/>
                  </a:lnTo>
                  <a:lnTo>
                    <a:pt x="6" y="6"/>
                  </a:lnTo>
                  <a:close/>
                </a:path>
              </a:pathLst>
            </a:custGeom>
            <a:grpFill/>
            <a:ln w="9525">
              <a:solidFill>
                <a:schemeClr val="bg2">
                  <a:lumMod val="50000"/>
                </a:schemeClr>
              </a:solidFill>
              <a:round/>
              <a:headEnd/>
              <a:tailEnd/>
            </a:ln>
          </p:spPr>
          <p:txBody>
            <a:bodyPr/>
            <a:lstStyle/>
            <a:p>
              <a:endParaRPr lang="en-US" dirty="0"/>
            </a:p>
          </p:txBody>
        </p:sp>
        <p:sp>
          <p:nvSpPr>
            <p:cNvPr id="87" name="Freeform 338"/>
            <p:cNvSpPr>
              <a:spLocks/>
            </p:cNvSpPr>
            <p:nvPr/>
          </p:nvSpPr>
          <p:spPr bwMode="gray">
            <a:xfrm>
              <a:off x="5911433" y="2807442"/>
              <a:ext cx="851930" cy="572667"/>
            </a:xfrm>
            <a:custGeom>
              <a:avLst/>
              <a:gdLst>
                <a:gd name="T0" fmla="*/ 2147483647 w 129"/>
                <a:gd name="T1" fmla="*/ 2147483647 h 91"/>
                <a:gd name="T2" fmla="*/ 2147483647 w 129"/>
                <a:gd name="T3" fmla="*/ 2147483647 h 91"/>
                <a:gd name="T4" fmla="*/ 2147483647 w 129"/>
                <a:gd name="T5" fmla="*/ 2147483647 h 91"/>
                <a:gd name="T6" fmla="*/ 2147483647 w 129"/>
                <a:gd name="T7" fmla="*/ 2147483647 h 91"/>
                <a:gd name="T8" fmla="*/ 2147483647 w 129"/>
                <a:gd name="T9" fmla="*/ 2147483647 h 91"/>
                <a:gd name="T10" fmla="*/ 2147483647 w 129"/>
                <a:gd name="T11" fmla="*/ 2147483647 h 91"/>
                <a:gd name="T12" fmla="*/ 2147483647 w 129"/>
                <a:gd name="T13" fmla="*/ 2147483647 h 91"/>
                <a:gd name="T14" fmla="*/ 2147483647 w 129"/>
                <a:gd name="T15" fmla="*/ 2147483647 h 91"/>
                <a:gd name="T16" fmla="*/ 2147483647 w 129"/>
                <a:gd name="T17" fmla="*/ 2147483647 h 91"/>
                <a:gd name="T18" fmla="*/ 2147483647 w 129"/>
                <a:gd name="T19" fmla="*/ 2147483647 h 91"/>
                <a:gd name="T20" fmla="*/ 2147483647 w 129"/>
                <a:gd name="T21" fmla="*/ 2147483647 h 91"/>
                <a:gd name="T22" fmla="*/ 2147483647 w 129"/>
                <a:gd name="T23" fmla="*/ 2147483647 h 91"/>
                <a:gd name="T24" fmla="*/ 2147483647 w 129"/>
                <a:gd name="T25" fmla="*/ 2147483647 h 91"/>
                <a:gd name="T26" fmla="*/ 2147483647 w 129"/>
                <a:gd name="T27" fmla="*/ 2147483647 h 91"/>
                <a:gd name="T28" fmla="*/ 2147483647 w 129"/>
                <a:gd name="T29" fmla="*/ 2147483647 h 91"/>
                <a:gd name="T30" fmla="*/ 0 w 129"/>
                <a:gd name="T31" fmla="*/ 2147483647 h 91"/>
                <a:gd name="T32" fmla="*/ 2147483647 w 129"/>
                <a:gd name="T33" fmla="*/ 2147483647 h 91"/>
                <a:gd name="T34" fmla="*/ 2147483647 w 129"/>
                <a:gd name="T35" fmla="*/ 2147483647 h 91"/>
                <a:gd name="T36" fmla="*/ 2147483647 w 129"/>
                <a:gd name="T37" fmla="*/ 2147483647 h 91"/>
                <a:gd name="T38" fmla="*/ 2147483647 w 129"/>
                <a:gd name="T39" fmla="*/ 2147483647 h 91"/>
                <a:gd name="T40" fmla="*/ 2147483647 w 129"/>
                <a:gd name="T41" fmla="*/ 2147483647 h 91"/>
                <a:gd name="T42" fmla="*/ 2147483647 w 129"/>
                <a:gd name="T43" fmla="*/ 2147483647 h 91"/>
                <a:gd name="T44" fmla="*/ 2147483647 w 129"/>
                <a:gd name="T45" fmla="*/ 2147483647 h 91"/>
                <a:gd name="T46" fmla="*/ 2147483647 w 129"/>
                <a:gd name="T47" fmla="*/ 2147483647 h 91"/>
                <a:gd name="T48" fmla="*/ 2147483647 w 129"/>
                <a:gd name="T49" fmla="*/ 2147483647 h 91"/>
                <a:gd name="T50" fmla="*/ 2147483647 w 129"/>
                <a:gd name="T51" fmla="*/ 2147483647 h 91"/>
                <a:gd name="T52" fmla="*/ 2147483647 w 129"/>
                <a:gd name="T53" fmla="*/ 2147483647 h 91"/>
                <a:gd name="T54" fmla="*/ 2147483647 w 129"/>
                <a:gd name="T55" fmla="*/ 2147483647 h 91"/>
                <a:gd name="T56" fmla="*/ 2147483647 w 129"/>
                <a:gd name="T57" fmla="*/ 2147483647 h 91"/>
                <a:gd name="T58" fmla="*/ 2147483647 w 129"/>
                <a:gd name="T59" fmla="*/ 2147483647 h 91"/>
                <a:gd name="T60" fmla="*/ 2147483647 w 129"/>
                <a:gd name="T61" fmla="*/ 2147483647 h 91"/>
                <a:gd name="T62" fmla="*/ 2147483647 w 129"/>
                <a:gd name="T63" fmla="*/ 2147483647 h 91"/>
                <a:gd name="T64" fmla="*/ 2147483647 w 129"/>
                <a:gd name="T65" fmla="*/ 2147483647 h 91"/>
                <a:gd name="T66" fmla="*/ 2147483647 w 129"/>
                <a:gd name="T67" fmla="*/ 2147483647 h 91"/>
                <a:gd name="T68" fmla="*/ 2147483647 w 129"/>
                <a:gd name="T69" fmla="*/ 2147483647 h 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9" h="91">
                  <a:moveTo>
                    <a:pt x="89" y="79"/>
                  </a:moveTo>
                  <a:cubicBezTo>
                    <a:pt x="87" y="77"/>
                    <a:pt x="87" y="77"/>
                    <a:pt x="87" y="77"/>
                  </a:cubicBezTo>
                  <a:cubicBezTo>
                    <a:pt x="88" y="73"/>
                    <a:pt x="88" y="73"/>
                    <a:pt x="88" y="73"/>
                  </a:cubicBezTo>
                  <a:cubicBezTo>
                    <a:pt x="96" y="71"/>
                    <a:pt x="96" y="71"/>
                    <a:pt x="96" y="71"/>
                  </a:cubicBezTo>
                  <a:cubicBezTo>
                    <a:pt x="101" y="67"/>
                    <a:pt x="101" y="67"/>
                    <a:pt x="101" y="67"/>
                  </a:cubicBezTo>
                  <a:cubicBezTo>
                    <a:pt x="105" y="63"/>
                    <a:pt x="105" y="63"/>
                    <a:pt x="105" y="63"/>
                  </a:cubicBezTo>
                  <a:cubicBezTo>
                    <a:pt x="107" y="51"/>
                    <a:pt x="107" y="51"/>
                    <a:pt x="107" y="51"/>
                  </a:cubicBezTo>
                  <a:cubicBezTo>
                    <a:pt x="114" y="50"/>
                    <a:pt x="114" y="50"/>
                    <a:pt x="114" y="50"/>
                  </a:cubicBezTo>
                  <a:cubicBezTo>
                    <a:pt x="116" y="40"/>
                    <a:pt x="116" y="40"/>
                    <a:pt x="116" y="40"/>
                  </a:cubicBezTo>
                  <a:cubicBezTo>
                    <a:pt x="124" y="41"/>
                    <a:pt x="124" y="41"/>
                    <a:pt x="124" y="41"/>
                  </a:cubicBezTo>
                  <a:cubicBezTo>
                    <a:pt x="126" y="35"/>
                    <a:pt x="126" y="35"/>
                    <a:pt x="126" y="35"/>
                  </a:cubicBezTo>
                  <a:cubicBezTo>
                    <a:pt x="129" y="34"/>
                    <a:pt x="129" y="34"/>
                    <a:pt x="129" y="34"/>
                  </a:cubicBezTo>
                  <a:cubicBezTo>
                    <a:pt x="129" y="29"/>
                    <a:pt x="129" y="29"/>
                    <a:pt x="129" y="29"/>
                  </a:cubicBezTo>
                  <a:cubicBezTo>
                    <a:pt x="122" y="27"/>
                    <a:pt x="122" y="27"/>
                    <a:pt x="122" y="27"/>
                  </a:cubicBezTo>
                  <a:cubicBezTo>
                    <a:pt x="114" y="23"/>
                    <a:pt x="114" y="23"/>
                    <a:pt x="114" y="23"/>
                  </a:cubicBezTo>
                  <a:cubicBezTo>
                    <a:pt x="104" y="23"/>
                    <a:pt x="104" y="23"/>
                    <a:pt x="104" y="23"/>
                  </a:cubicBezTo>
                  <a:cubicBezTo>
                    <a:pt x="100" y="14"/>
                    <a:pt x="100" y="14"/>
                    <a:pt x="100" y="14"/>
                  </a:cubicBezTo>
                  <a:cubicBezTo>
                    <a:pt x="96" y="6"/>
                    <a:pt x="96" y="6"/>
                    <a:pt x="96" y="6"/>
                  </a:cubicBezTo>
                  <a:cubicBezTo>
                    <a:pt x="91" y="6"/>
                    <a:pt x="91" y="6"/>
                    <a:pt x="91" y="6"/>
                  </a:cubicBezTo>
                  <a:cubicBezTo>
                    <a:pt x="82" y="9"/>
                    <a:pt x="82" y="9"/>
                    <a:pt x="82" y="9"/>
                  </a:cubicBezTo>
                  <a:cubicBezTo>
                    <a:pt x="74" y="0"/>
                    <a:pt x="74" y="0"/>
                    <a:pt x="74" y="0"/>
                  </a:cubicBezTo>
                  <a:cubicBezTo>
                    <a:pt x="62" y="3"/>
                    <a:pt x="62" y="3"/>
                    <a:pt x="62" y="3"/>
                  </a:cubicBezTo>
                  <a:cubicBezTo>
                    <a:pt x="49" y="7"/>
                    <a:pt x="49" y="7"/>
                    <a:pt x="49" y="7"/>
                  </a:cubicBezTo>
                  <a:cubicBezTo>
                    <a:pt x="45" y="16"/>
                    <a:pt x="45" y="16"/>
                    <a:pt x="45" y="16"/>
                  </a:cubicBezTo>
                  <a:cubicBezTo>
                    <a:pt x="47" y="23"/>
                    <a:pt x="47" y="23"/>
                    <a:pt x="47" y="23"/>
                  </a:cubicBezTo>
                  <a:cubicBezTo>
                    <a:pt x="40" y="24"/>
                    <a:pt x="40" y="24"/>
                    <a:pt x="40" y="24"/>
                  </a:cubicBezTo>
                  <a:cubicBezTo>
                    <a:pt x="33" y="23"/>
                    <a:pt x="33" y="23"/>
                    <a:pt x="33" y="23"/>
                  </a:cubicBezTo>
                  <a:cubicBezTo>
                    <a:pt x="27" y="24"/>
                    <a:pt x="27" y="24"/>
                    <a:pt x="27" y="24"/>
                  </a:cubicBezTo>
                  <a:cubicBezTo>
                    <a:pt x="22" y="20"/>
                    <a:pt x="22" y="20"/>
                    <a:pt x="22" y="20"/>
                  </a:cubicBezTo>
                  <a:cubicBezTo>
                    <a:pt x="13" y="21"/>
                    <a:pt x="13" y="21"/>
                    <a:pt x="13" y="21"/>
                  </a:cubicBezTo>
                  <a:cubicBezTo>
                    <a:pt x="3" y="26"/>
                    <a:pt x="3" y="26"/>
                    <a:pt x="3" y="26"/>
                  </a:cubicBezTo>
                  <a:cubicBezTo>
                    <a:pt x="0" y="33"/>
                    <a:pt x="0" y="33"/>
                    <a:pt x="0" y="33"/>
                  </a:cubicBezTo>
                  <a:cubicBezTo>
                    <a:pt x="4" y="37"/>
                    <a:pt x="4" y="37"/>
                    <a:pt x="4" y="37"/>
                  </a:cubicBezTo>
                  <a:cubicBezTo>
                    <a:pt x="6" y="42"/>
                    <a:pt x="6" y="42"/>
                    <a:pt x="6" y="42"/>
                  </a:cubicBezTo>
                  <a:cubicBezTo>
                    <a:pt x="13" y="41"/>
                    <a:pt x="13" y="41"/>
                    <a:pt x="13" y="41"/>
                  </a:cubicBezTo>
                  <a:cubicBezTo>
                    <a:pt x="19" y="41"/>
                    <a:pt x="19" y="41"/>
                    <a:pt x="19" y="41"/>
                  </a:cubicBezTo>
                  <a:cubicBezTo>
                    <a:pt x="26" y="49"/>
                    <a:pt x="26" y="49"/>
                    <a:pt x="26" y="49"/>
                  </a:cubicBezTo>
                  <a:cubicBezTo>
                    <a:pt x="20" y="50"/>
                    <a:pt x="20" y="50"/>
                    <a:pt x="20" y="50"/>
                  </a:cubicBezTo>
                  <a:cubicBezTo>
                    <a:pt x="16" y="50"/>
                    <a:pt x="16" y="50"/>
                    <a:pt x="16" y="50"/>
                  </a:cubicBezTo>
                  <a:cubicBezTo>
                    <a:pt x="13" y="52"/>
                    <a:pt x="13" y="52"/>
                    <a:pt x="13" y="52"/>
                  </a:cubicBezTo>
                  <a:cubicBezTo>
                    <a:pt x="16" y="59"/>
                    <a:pt x="16" y="59"/>
                    <a:pt x="16" y="59"/>
                  </a:cubicBezTo>
                  <a:cubicBezTo>
                    <a:pt x="16" y="59"/>
                    <a:pt x="20" y="62"/>
                    <a:pt x="20" y="63"/>
                  </a:cubicBezTo>
                  <a:cubicBezTo>
                    <a:pt x="20" y="64"/>
                    <a:pt x="20" y="72"/>
                    <a:pt x="20" y="72"/>
                  </a:cubicBezTo>
                  <a:cubicBezTo>
                    <a:pt x="24" y="76"/>
                    <a:pt x="24" y="76"/>
                    <a:pt x="24" y="76"/>
                  </a:cubicBezTo>
                  <a:cubicBezTo>
                    <a:pt x="23" y="84"/>
                    <a:pt x="23" y="84"/>
                    <a:pt x="23" y="84"/>
                  </a:cubicBezTo>
                  <a:cubicBezTo>
                    <a:pt x="24" y="82"/>
                    <a:pt x="24" y="82"/>
                    <a:pt x="24" y="82"/>
                  </a:cubicBezTo>
                  <a:cubicBezTo>
                    <a:pt x="29" y="80"/>
                    <a:pt x="29" y="80"/>
                    <a:pt x="29" y="80"/>
                  </a:cubicBezTo>
                  <a:cubicBezTo>
                    <a:pt x="33" y="79"/>
                    <a:pt x="33" y="79"/>
                    <a:pt x="33" y="79"/>
                  </a:cubicBezTo>
                  <a:cubicBezTo>
                    <a:pt x="38" y="82"/>
                    <a:pt x="38" y="82"/>
                    <a:pt x="38" y="82"/>
                  </a:cubicBezTo>
                  <a:cubicBezTo>
                    <a:pt x="42" y="85"/>
                    <a:pt x="42" y="85"/>
                    <a:pt x="42" y="85"/>
                  </a:cubicBezTo>
                  <a:cubicBezTo>
                    <a:pt x="46" y="86"/>
                    <a:pt x="46" y="86"/>
                    <a:pt x="46" y="86"/>
                  </a:cubicBezTo>
                  <a:cubicBezTo>
                    <a:pt x="46" y="89"/>
                    <a:pt x="46" y="89"/>
                    <a:pt x="46" y="89"/>
                  </a:cubicBezTo>
                  <a:cubicBezTo>
                    <a:pt x="48" y="90"/>
                    <a:pt x="48" y="90"/>
                    <a:pt x="48" y="90"/>
                  </a:cubicBezTo>
                  <a:cubicBezTo>
                    <a:pt x="51" y="91"/>
                    <a:pt x="51" y="91"/>
                    <a:pt x="51" y="91"/>
                  </a:cubicBezTo>
                  <a:cubicBezTo>
                    <a:pt x="53" y="89"/>
                    <a:pt x="53" y="89"/>
                    <a:pt x="53" y="89"/>
                  </a:cubicBezTo>
                  <a:cubicBezTo>
                    <a:pt x="58" y="87"/>
                    <a:pt x="58" y="87"/>
                    <a:pt x="58" y="87"/>
                  </a:cubicBezTo>
                  <a:cubicBezTo>
                    <a:pt x="59" y="82"/>
                    <a:pt x="59" y="82"/>
                    <a:pt x="59" y="82"/>
                  </a:cubicBezTo>
                  <a:cubicBezTo>
                    <a:pt x="63" y="83"/>
                    <a:pt x="63" y="83"/>
                    <a:pt x="63" y="83"/>
                  </a:cubicBezTo>
                  <a:cubicBezTo>
                    <a:pt x="66" y="83"/>
                    <a:pt x="66" y="83"/>
                    <a:pt x="66" y="83"/>
                  </a:cubicBezTo>
                  <a:cubicBezTo>
                    <a:pt x="68" y="85"/>
                    <a:pt x="68" y="85"/>
                    <a:pt x="68" y="85"/>
                  </a:cubicBezTo>
                  <a:cubicBezTo>
                    <a:pt x="72" y="84"/>
                    <a:pt x="72" y="84"/>
                    <a:pt x="72" y="84"/>
                  </a:cubicBezTo>
                  <a:cubicBezTo>
                    <a:pt x="74" y="82"/>
                    <a:pt x="74" y="82"/>
                    <a:pt x="74" y="82"/>
                  </a:cubicBezTo>
                  <a:cubicBezTo>
                    <a:pt x="77" y="79"/>
                    <a:pt x="77" y="79"/>
                    <a:pt x="77" y="79"/>
                  </a:cubicBezTo>
                  <a:cubicBezTo>
                    <a:pt x="78" y="80"/>
                    <a:pt x="78" y="80"/>
                    <a:pt x="78" y="80"/>
                  </a:cubicBezTo>
                  <a:cubicBezTo>
                    <a:pt x="79" y="83"/>
                    <a:pt x="79" y="83"/>
                    <a:pt x="79" y="83"/>
                  </a:cubicBezTo>
                  <a:cubicBezTo>
                    <a:pt x="82" y="83"/>
                    <a:pt x="82" y="83"/>
                    <a:pt x="82" y="83"/>
                  </a:cubicBezTo>
                  <a:cubicBezTo>
                    <a:pt x="86" y="82"/>
                    <a:pt x="86" y="82"/>
                    <a:pt x="86" y="82"/>
                  </a:cubicBezTo>
                  <a:cubicBezTo>
                    <a:pt x="88" y="82"/>
                    <a:pt x="88" y="82"/>
                    <a:pt x="88" y="82"/>
                  </a:cubicBezTo>
                  <a:cubicBezTo>
                    <a:pt x="88" y="83"/>
                    <a:pt x="88" y="83"/>
                    <a:pt x="88" y="83"/>
                  </a:cubicBezTo>
                  <a:cubicBezTo>
                    <a:pt x="90" y="82"/>
                    <a:pt x="90" y="82"/>
                    <a:pt x="90" y="82"/>
                  </a:cubicBezTo>
                  <a:lnTo>
                    <a:pt x="89" y="79"/>
                  </a:lnTo>
                  <a:close/>
                </a:path>
              </a:pathLst>
            </a:custGeom>
            <a:grpFill/>
            <a:ln w="9525">
              <a:solidFill>
                <a:schemeClr val="bg2">
                  <a:lumMod val="50000"/>
                </a:schemeClr>
              </a:solidFill>
              <a:round/>
              <a:headEnd/>
              <a:tailEnd/>
            </a:ln>
          </p:spPr>
          <p:txBody>
            <a:bodyPr/>
            <a:lstStyle/>
            <a:p>
              <a:endParaRPr lang="en-US" dirty="0"/>
            </a:p>
          </p:txBody>
        </p:sp>
        <p:sp>
          <p:nvSpPr>
            <p:cNvPr id="88" name="Freeform 339"/>
            <p:cNvSpPr>
              <a:spLocks/>
            </p:cNvSpPr>
            <p:nvPr/>
          </p:nvSpPr>
          <p:spPr bwMode="gray">
            <a:xfrm>
              <a:off x="5963592" y="3318616"/>
              <a:ext cx="18723" cy="11530"/>
            </a:xfrm>
            <a:custGeom>
              <a:avLst/>
              <a:gdLst>
                <a:gd name="T0" fmla="*/ 0 w 18"/>
                <a:gd name="T1" fmla="*/ 0 h 12"/>
                <a:gd name="T2" fmla="*/ 0 w 18"/>
                <a:gd name="T3" fmla="*/ 2147483647 h 12"/>
                <a:gd name="T4" fmla="*/ 2147483647 w 18"/>
                <a:gd name="T5" fmla="*/ 2147483647 h 12"/>
                <a:gd name="T6" fmla="*/ 2147483647 w 18"/>
                <a:gd name="T7" fmla="*/ 2147483647 h 12"/>
                <a:gd name="T8" fmla="*/ 0 w 1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2">
                  <a:moveTo>
                    <a:pt x="0" y="0"/>
                  </a:moveTo>
                  <a:lnTo>
                    <a:pt x="0" y="12"/>
                  </a:lnTo>
                  <a:lnTo>
                    <a:pt x="18" y="12"/>
                  </a:lnTo>
                  <a:lnTo>
                    <a:pt x="12" y="12"/>
                  </a:lnTo>
                  <a:lnTo>
                    <a:pt x="0" y="0"/>
                  </a:lnTo>
                  <a:close/>
                </a:path>
              </a:pathLst>
            </a:custGeom>
            <a:grpFill/>
            <a:ln w="9525">
              <a:solidFill>
                <a:schemeClr val="bg2">
                  <a:lumMod val="50000"/>
                </a:schemeClr>
              </a:solidFill>
              <a:round/>
              <a:headEnd/>
              <a:tailEnd/>
            </a:ln>
          </p:spPr>
          <p:txBody>
            <a:bodyPr/>
            <a:lstStyle/>
            <a:p>
              <a:endParaRPr lang="en-US" dirty="0"/>
            </a:p>
          </p:txBody>
        </p:sp>
        <p:sp>
          <p:nvSpPr>
            <p:cNvPr id="89" name="Rectangle 340"/>
            <p:cNvSpPr>
              <a:spLocks noChangeArrowheads="1"/>
            </p:cNvSpPr>
            <p:nvPr/>
          </p:nvSpPr>
          <p:spPr bwMode="gray">
            <a:xfrm>
              <a:off x="5274825" y="3021393"/>
              <a:ext cx="8024" cy="1280"/>
            </a:xfrm>
            <a:prstGeom prst="rect">
              <a:avLst/>
            </a:prstGeom>
            <a:grpFill/>
            <a:ln w="9525">
              <a:solidFill>
                <a:schemeClr val="bg2">
                  <a:lumMod val="50000"/>
                </a:schemeClr>
              </a:solidFill>
              <a:miter lim="800000"/>
              <a:headEnd/>
              <a:tailEnd/>
            </a:ln>
          </p:spPr>
          <p:txBody>
            <a:bodyPr/>
            <a:lstStyle/>
            <a:p>
              <a:pPr algn="ctr" eaLnBrk="1" hangingPunct="1">
                <a:spcBef>
                  <a:spcPct val="15000"/>
                </a:spcBef>
              </a:pPr>
              <a:endParaRPr lang="en-US" dirty="0"/>
            </a:p>
          </p:txBody>
        </p:sp>
        <p:sp>
          <p:nvSpPr>
            <p:cNvPr id="90" name="Freeform 347"/>
            <p:cNvSpPr>
              <a:spLocks/>
            </p:cNvSpPr>
            <p:nvPr/>
          </p:nvSpPr>
          <p:spPr bwMode="gray">
            <a:xfrm>
              <a:off x="5032754" y="2088727"/>
              <a:ext cx="547001" cy="618787"/>
            </a:xfrm>
            <a:custGeom>
              <a:avLst/>
              <a:gdLst>
                <a:gd name="T0" fmla="*/ 2147483647 w 83"/>
                <a:gd name="T1" fmla="*/ 2147483647 h 98"/>
                <a:gd name="T2" fmla="*/ 2147483647 w 83"/>
                <a:gd name="T3" fmla="*/ 2147483647 h 98"/>
                <a:gd name="T4" fmla="*/ 2147483647 w 83"/>
                <a:gd name="T5" fmla="*/ 2147483647 h 98"/>
                <a:gd name="T6" fmla="*/ 2147483647 w 83"/>
                <a:gd name="T7" fmla="*/ 2147483647 h 98"/>
                <a:gd name="T8" fmla="*/ 2147483647 w 83"/>
                <a:gd name="T9" fmla="*/ 2147483647 h 98"/>
                <a:gd name="T10" fmla="*/ 2147483647 w 83"/>
                <a:gd name="T11" fmla="*/ 2147483647 h 98"/>
                <a:gd name="T12" fmla="*/ 2147483647 w 83"/>
                <a:gd name="T13" fmla="*/ 2147483647 h 98"/>
                <a:gd name="T14" fmla="*/ 2147483647 w 83"/>
                <a:gd name="T15" fmla="*/ 2147483647 h 98"/>
                <a:gd name="T16" fmla="*/ 2147483647 w 83"/>
                <a:gd name="T17" fmla="*/ 2147483647 h 98"/>
                <a:gd name="T18" fmla="*/ 2147483647 w 83"/>
                <a:gd name="T19" fmla="*/ 2147483647 h 98"/>
                <a:gd name="T20" fmla="*/ 2147483647 w 83"/>
                <a:gd name="T21" fmla="*/ 2147483647 h 98"/>
                <a:gd name="T22" fmla="*/ 2147483647 w 83"/>
                <a:gd name="T23" fmla="*/ 2147483647 h 98"/>
                <a:gd name="T24" fmla="*/ 2147483647 w 83"/>
                <a:gd name="T25" fmla="*/ 2147483647 h 98"/>
                <a:gd name="T26" fmla="*/ 2147483647 w 83"/>
                <a:gd name="T27" fmla="*/ 2147483647 h 98"/>
                <a:gd name="T28" fmla="*/ 2147483647 w 83"/>
                <a:gd name="T29" fmla="*/ 2147483647 h 98"/>
                <a:gd name="T30" fmla="*/ 2147483647 w 83"/>
                <a:gd name="T31" fmla="*/ 2147483647 h 98"/>
                <a:gd name="T32" fmla="*/ 2147483647 w 83"/>
                <a:gd name="T33" fmla="*/ 2147483647 h 98"/>
                <a:gd name="T34" fmla="*/ 2147483647 w 83"/>
                <a:gd name="T35" fmla="*/ 2147483647 h 98"/>
                <a:gd name="T36" fmla="*/ 2147483647 w 83"/>
                <a:gd name="T37" fmla="*/ 2147483647 h 98"/>
                <a:gd name="T38" fmla="*/ 2147483647 w 83"/>
                <a:gd name="T39" fmla="*/ 2147483647 h 98"/>
                <a:gd name="T40" fmla="*/ 2147483647 w 83"/>
                <a:gd name="T41" fmla="*/ 2147483647 h 98"/>
                <a:gd name="T42" fmla="*/ 2147483647 w 83"/>
                <a:gd name="T43" fmla="*/ 2147483647 h 98"/>
                <a:gd name="T44" fmla="*/ 2147483647 w 83"/>
                <a:gd name="T45" fmla="*/ 2147483647 h 98"/>
                <a:gd name="T46" fmla="*/ 2147483647 w 83"/>
                <a:gd name="T47" fmla="*/ 2147483647 h 98"/>
                <a:gd name="T48" fmla="*/ 2147483647 w 83"/>
                <a:gd name="T49" fmla="*/ 2147483647 h 98"/>
                <a:gd name="T50" fmla="*/ 2147483647 w 83"/>
                <a:gd name="T51" fmla="*/ 0 h 98"/>
                <a:gd name="T52" fmla="*/ 2147483647 w 83"/>
                <a:gd name="T53" fmla="*/ 2147483647 h 98"/>
                <a:gd name="T54" fmla="*/ 2147483647 w 83"/>
                <a:gd name="T55" fmla="*/ 2147483647 h 98"/>
                <a:gd name="T56" fmla="*/ 2147483647 w 83"/>
                <a:gd name="T57" fmla="*/ 2147483647 h 98"/>
                <a:gd name="T58" fmla="*/ 2147483647 w 83"/>
                <a:gd name="T59" fmla="*/ 2147483647 h 98"/>
                <a:gd name="T60" fmla="*/ 2147483647 w 83"/>
                <a:gd name="T61" fmla="*/ 2147483647 h 98"/>
                <a:gd name="T62" fmla="*/ 2147483647 w 83"/>
                <a:gd name="T63" fmla="*/ 2147483647 h 98"/>
                <a:gd name="T64" fmla="*/ 2147483647 w 83"/>
                <a:gd name="T65" fmla="*/ 2147483647 h 98"/>
                <a:gd name="T66" fmla="*/ 2147483647 w 83"/>
                <a:gd name="T67" fmla="*/ 2147483647 h 98"/>
                <a:gd name="T68" fmla="*/ 2147483647 w 83"/>
                <a:gd name="T69" fmla="*/ 2147483647 h 98"/>
                <a:gd name="T70" fmla="*/ 2147483647 w 83"/>
                <a:gd name="T71" fmla="*/ 2147483647 h 98"/>
                <a:gd name="T72" fmla="*/ 2147483647 w 83"/>
                <a:gd name="T73" fmla="*/ 2147483647 h 98"/>
                <a:gd name="T74" fmla="*/ 2147483647 w 83"/>
                <a:gd name="T75" fmla="*/ 2147483647 h 98"/>
                <a:gd name="T76" fmla="*/ 2147483647 w 83"/>
                <a:gd name="T77" fmla="*/ 2147483647 h 98"/>
                <a:gd name="T78" fmla="*/ 2147483647 w 83"/>
                <a:gd name="T79" fmla="*/ 2147483647 h 98"/>
                <a:gd name="T80" fmla="*/ 2147483647 w 83"/>
                <a:gd name="T81" fmla="*/ 2147483647 h 98"/>
                <a:gd name="T82" fmla="*/ 2147483647 w 83"/>
                <a:gd name="T83" fmla="*/ 2147483647 h 98"/>
                <a:gd name="T84" fmla="*/ 2147483647 w 83"/>
                <a:gd name="T85" fmla="*/ 2147483647 h 98"/>
                <a:gd name="T86" fmla="*/ 2147483647 w 83"/>
                <a:gd name="T87" fmla="*/ 2147483647 h 98"/>
                <a:gd name="T88" fmla="*/ 2147483647 w 83"/>
                <a:gd name="T89" fmla="*/ 2147483647 h 98"/>
                <a:gd name="T90" fmla="*/ 2147483647 w 83"/>
                <a:gd name="T91" fmla="*/ 2147483647 h 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3" h="98">
                  <a:moveTo>
                    <a:pt x="23" y="87"/>
                  </a:moveTo>
                  <a:cubicBezTo>
                    <a:pt x="23" y="87"/>
                    <a:pt x="24" y="87"/>
                    <a:pt x="24" y="86"/>
                  </a:cubicBezTo>
                  <a:cubicBezTo>
                    <a:pt x="24" y="86"/>
                    <a:pt x="24" y="82"/>
                    <a:pt x="24" y="82"/>
                  </a:cubicBezTo>
                  <a:cubicBezTo>
                    <a:pt x="24" y="80"/>
                    <a:pt x="24" y="80"/>
                    <a:pt x="24" y="80"/>
                  </a:cubicBezTo>
                  <a:cubicBezTo>
                    <a:pt x="26" y="78"/>
                    <a:pt x="26" y="78"/>
                    <a:pt x="26" y="78"/>
                  </a:cubicBezTo>
                  <a:cubicBezTo>
                    <a:pt x="24" y="75"/>
                    <a:pt x="24" y="75"/>
                    <a:pt x="24" y="75"/>
                  </a:cubicBezTo>
                  <a:cubicBezTo>
                    <a:pt x="24" y="75"/>
                    <a:pt x="23" y="70"/>
                    <a:pt x="23" y="70"/>
                  </a:cubicBezTo>
                  <a:cubicBezTo>
                    <a:pt x="23" y="69"/>
                    <a:pt x="24" y="65"/>
                    <a:pt x="24" y="65"/>
                  </a:cubicBezTo>
                  <a:cubicBezTo>
                    <a:pt x="24" y="65"/>
                    <a:pt x="24" y="62"/>
                    <a:pt x="24" y="62"/>
                  </a:cubicBezTo>
                  <a:cubicBezTo>
                    <a:pt x="26" y="60"/>
                    <a:pt x="26" y="60"/>
                    <a:pt x="26" y="60"/>
                  </a:cubicBezTo>
                  <a:cubicBezTo>
                    <a:pt x="30" y="59"/>
                    <a:pt x="30" y="59"/>
                    <a:pt x="30" y="59"/>
                  </a:cubicBezTo>
                  <a:cubicBezTo>
                    <a:pt x="30" y="56"/>
                    <a:pt x="30" y="56"/>
                    <a:pt x="30" y="56"/>
                  </a:cubicBezTo>
                  <a:cubicBezTo>
                    <a:pt x="29" y="54"/>
                    <a:pt x="29" y="54"/>
                    <a:pt x="29" y="54"/>
                  </a:cubicBezTo>
                  <a:cubicBezTo>
                    <a:pt x="31" y="50"/>
                    <a:pt x="31" y="50"/>
                    <a:pt x="31" y="50"/>
                  </a:cubicBezTo>
                  <a:cubicBezTo>
                    <a:pt x="32" y="44"/>
                    <a:pt x="32" y="44"/>
                    <a:pt x="32" y="44"/>
                  </a:cubicBezTo>
                  <a:cubicBezTo>
                    <a:pt x="34" y="43"/>
                    <a:pt x="34" y="43"/>
                    <a:pt x="34" y="43"/>
                  </a:cubicBezTo>
                  <a:cubicBezTo>
                    <a:pt x="36" y="38"/>
                    <a:pt x="36" y="38"/>
                    <a:pt x="36" y="38"/>
                  </a:cubicBezTo>
                  <a:cubicBezTo>
                    <a:pt x="38" y="35"/>
                    <a:pt x="38" y="35"/>
                    <a:pt x="38" y="35"/>
                  </a:cubicBezTo>
                  <a:cubicBezTo>
                    <a:pt x="37" y="32"/>
                    <a:pt x="37" y="32"/>
                    <a:pt x="37" y="32"/>
                  </a:cubicBezTo>
                  <a:cubicBezTo>
                    <a:pt x="38" y="30"/>
                    <a:pt x="38" y="30"/>
                    <a:pt x="38" y="30"/>
                  </a:cubicBezTo>
                  <a:cubicBezTo>
                    <a:pt x="41" y="28"/>
                    <a:pt x="41" y="28"/>
                    <a:pt x="41" y="28"/>
                  </a:cubicBezTo>
                  <a:cubicBezTo>
                    <a:pt x="42" y="28"/>
                    <a:pt x="42" y="28"/>
                    <a:pt x="42" y="28"/>
                  </a:cubicBezTo>
                  <a:cubicBezTo>
                    <a:pt x="44" y="24"/>
                    <a:pt x="44" y="24"/>
                    <a:pt x="44" y="24"/>
                  </a:cubicBezTo>
                  <a:cubicBezTo>
                    <a:pt x="47" y="24"/>
                    <a:pt x="47" y="24"/>
                    <a:pt x="47" y="24"/>
                  </a:cubicBezTo>
                  <a:cubicBezTo>
                    <a:pt x="49" y="24"/>
                    <a:pt x="49" y="24"/>
                    <a:pt x="49" y="24"/>
                  </a:cubicBezTo>
                  <a:cubicBezTo>
                    <a:pt x="49" y="22"/>
                    <a:pt x="49" y="22"/>
                    <a:pt x="49" y="22"/>
                  </a:cubicBezTo>
                  <a:cubicBezTo>
                    <a:pt x="50" y="19"/>
                    <a:pt x="50" y="19"/>
                    <a:pt x="50" y="19"/>
                  </a:cubicBezTo>
                  <a:cubicBezTo>
                    <a:pt x="51" y="19"/>
                    <a:pt x="51" y="19"/>
                    <a:pt x="51" y="19"/>
                  </a:cubicBezTo>
                  <a:cubicBezTo>
                    <a:pt x="52" y="19"/>
                    <a:pt x="52" y="19"/>
                    <a:pt x="52" y="19"/>
                  </a:cubicBezTo>
                  <a:cubicBezTo>
                    <a:pt x="53" y="17"/>
                    <a:pt x="53" y="17"/>
                    <a:pt x="53" y="17"/>
                  </a:cubicBezTo>
                  <a:cubicBezTo>
                    <a:pt x="54" y="19"/>
                    <a:pt x="54" y="19"/>
                    <a:pt x="54" y="19"/>
                  </a:cubicBezTo>
                  <a:cubicBezTo>
                    <a:pt x="56" y="21"/>
                    <a:pt x="56" y="21"/>
                    <a:pt x="56" y="21"/>
                  </a:cubicBezTo>
                  <a:cubicBezTo>
                    <a:pt x="59" y="22"/>
                    <a:pt x="59" y="22"/>
                    <a:pt x="59" y="22"/>
                  </a:cubicBezTo>
                  <a:cubicBezTo>
                    <a:pt x="62" y="21"/>
                    <a:pt x="62" y="21"/>
                    <a:pt x="62" y="21"/>
                  </a:cubicBezTo>
                  <a:cubicBezTo>
                    <a:pt x="63" y="22"/>
                    <a:pt x="63" y="22"/>
                    <a:pt x="63" y="22"/>
                  </a:cubicBezTo>
                  <a:cubicBezTo>
                    <a:pt x="66" y="19"/>
                    <a:pt x="66" y="19"/>
                    <a:pt x="66" y="19"/>
                  </a:cubicBezTo>
                  <a:cubicBezTo>
                    <a:pt x="68" y="14"/>
                    <a:pt x="68" y="14"/>
                    <a:pt x="68" y="14"/>
                  </a:cubicBezTo>
                  <a:cubicBezTo>
                    <a:pt x="70" y="12"/>
                    <a:pt x="70" y="12"/>
                    <a:pt x="70" y="12"/>
                  </a:cubicBezTo>
                  <a:cubicBezTo>
                    <a:pt x="75" y="11"/>
                    <a:pt x="75" y="11"/>
                    <a:pt x="75" y="11"/>
                  </a:cubicBezTo>
                  <a:cubicBezTo>
                    <a:pt x="78" y="14"/>
                    <a:pt x="78" y="14"/>
                    <a:pt x="78" y="14"/>
                  </a:cubicBezTo>
                  <a:cubicBezTo>
                    <a:pt x="78" y="17"/>
                    <a:pt x="78" y="17"/>
                    <a:pt x="78" y="17"/>
                  </a:cubicBezTo>
                  <a:cubicBezTo>
                    <a:pt x="77" y="19"/>
                    <a:pt x="77" y="19"/>
                    <a:pt x="77" y="19"/>
                  </a:cubicBezTo>
                  <a:cubicBezTo>
                    <a:pt x="78" y="18"/>
                    <a:pt x="78" y="18"/>
                    <a:pt x="78" y="18"/>
                  </a:cubicBezTo>
                  <a:cubicBezTo>
                    <a:pt x="77" y="19"/>
                    <a:pt x="77" y="19"/>
                    <a:pt x="77" y="19"/>
                  </a:cubicBezTo>
                  <a:cubicBezTo>
                    <a:pt x="77" y="19"/>
                    <a:pt x="77" y="19"/>
                    <a:pt x="77" y="19"/>
                  </a:cubicBezTo>
                  <a:cubicBezTo>
                    <a:pt x="81" y="15"/>
                    <a:pt x="81" y="15"/>
                    <a:pt x="81" y="15"/>
                  </a:cubicBezTo>
                  <a:cubicBezTo>
                    <a:pt x="82" y="13"/>
                    <a:pt x="82" y="13"/>
                    <a:pt x="82" y="13"/>
                  </a:cubicBezTo>
                  <a:cubicBezTo>
                    <a:pt x="81" y="12"/>
                    <a:pt x="81" y="12"/>
                    <a:pt x="81" y="12"/>
                  </a:cubicBezTo>
                  <a:cubicBezTo>
                    <a:pt x="80" y="9"/>
                    <a:pt x="80" y="9"/>
                    <a:pt x="80" y="9"/>
                  </a:cubicBezTo>
                  <a:cubicBezTo>
                    <a:pt x="83" y="6"/>
                    <a:pt x="83" y="6"/>
                    <a:pt x="83" y="6"/>
                  </a:cubicBezTo>
                  <a:cubicBezTo>
                    <a:pt x="80" y="4"/>
                    <a:pt x="80" y="4"/>
                    <a:pt x="80" y="4"/>
                  </a:cubicBezTo>
                  <a:cubicBezTo>
                    <a:pt x="76" y="0"/>
                    <a:pt x="76" y="0"/>
                    <a:pt x="76" y="0"/>
                  </a:cubicBezTo>
                  <a:cubicBezTo>
                    <a:pt x="72" y="4"/>
                    <a:pt x="72" y="4"/>
                    <a:pt x="72" y="4"/>
                  </a:cubicBezTo>
                  <a:cubicBezTo>
                    <a:pt x="69" y="2"/>
                    <a:pt x="69" y="2"/>
                    <a:pt x="69" y="2"/>
                  </a:cubicBezTo>
                  <a:cubicBezTo>
                    <a:pt x="69" y="1"/>
                    <a:pt x="69" y="1"/>
                    <a:pt x="69" y="1"/>
                  </a:cubicBezTo>
                  <a:cubicBezTo>
                    <a:pt x="66" y="1"/>
                    <a:pt x="66" y="1"/>
                    <a:pt x="66" y="1"/>
                  </a:cubicBezTo>
                  <a:cubicBezTo>
                    <a:pt x="62" y="1"/>
                    <a:pt x="62" y="1"/>
                    <a:pt x="62" y="1"/>
                  </a:cubicBezTo>
                  <a:cubicBezTo>
                    <a:pt x="59" y="5"/>
                    <a:pt x="59" y="5"/>
                    <a:pt x="59" y="5"/>
                  </a:cubicBezTo>
                  <a:cubicBezTo>
                    <a:pt x="56" y="6"/>
                    <a:pt x="56" y="6"/>
                    <a:pt x="56" y="6"/>
                  </a:cubicBezTo>
                  <a:cubicBezTo>
                    <a:pt x="55" y="6"/>
                    <a:pt x="55" y="6"/>
                    <a:pt x="55" y="6"/>
                  </a:cubicBezTo>
                  <a:cubicBezTo>
                    <a:pt x="53" y="8"/>
                    <a:pt x="53" y="8"/>
                    <a:pt x="53" y="8"/>
                  </a:cubicBezTo>
                  <a:cubicBezTo>
                    <a:pt x="50" y="8"/>
                    <a:pt x="50" y="8"/>
                    <a:pt x="50" y="8"/>
                  </a:cubicBezTo>
                  <a:cubicBezTo>
                    <a:pt x="48" y="13"/>
                    <a:pt x="48" y="13"/>
                    <a:pt x="48" y="13"/>
                  </a:cubicBezTo>
                  <a:cubicBezTo>
                    <a:pt x="43" y="14"/>
                    <a:pt x="43" y="14"/>
                    <a:pt x="43" y="14"/>
                  </a:cubicBezTo>
                  <a:cubicBezTo>
                    <a:pt x="41" y="19"/>
                    <a:pt x="41" y="19"/>
                    <a:pt x="41" y="19"/>
                  </a:cubicBezTo>
                  <a:cubicBezTo>
                    <a:pt x="40" y="22"/>
                    <a:pt x="40" y="22"/>
                    <a:pt x="40" y="22"/>
                  </a:cubicBezTo>
                  <a:cubicBezTo>
                    <a:pt x="37" y="22"/>
                    <a:pt x="37" y="22"/>
                    <a:pt x="37" y="22"/>
                  </a:cubicBezTo>
                  <a:cubicBezTo>
                    <a:pt x="32" y="28"/>
                    <a:pt x="32" y="28"/>
                    <a:pt x="32" y="28"/>
                  </a:cubicBezTo>
                  <a:cubicBezTo>
                    <a:pt x="32" y="31"/>
                    <a:pt x="32" y="31"/>
                    <a:pt x="32" y="31"/>
                  </a:cubicBezTo>
                  <a:cubicBezTo>
                    <a:pt x="28" y="38"/>
                    <a:pt x="28" y="38"/>
                    <a:pt x="28" y="38"/>
                  </a:cubicBezTo>
                  <a:cubicBezTo>
                    <a:pt x="26" y="41"/>
                    <a:pt x="26" y="41"/>
                    <a:pt x="26" y="41"/>
                  </a:cubicBezTo>
                  <a:cubicBezTo>
                    <a:pt x="25" y="46"/>
                    <a:pt x="25" y="46"/>
                    <a:pt x="25" y="46"/>
                  </a:cubicBezTo>
                  <a:cubicBezTo>
                    <a:pt x="23" y="49"/>
                    <a:pt x="23" y="49"/>
                    <a:pt x="23" y="49"/>
                  </a:cubicBezTo>
                  <a:cubicBezTo>
                    <a:pt x="17" y="60"/>
                    <a:pt x="17" y="60"/>
                    <a:pt x="17" y="60"/>
                  </a:cubicBezTo>
                  <a:cubicBezTo>
                    <a:pt x="13" y="63"/>
                    <a:pt x="13" y="63"/>
                    <a:pt x="13" y="63"/>
                  </a:cubicBezTo>
                  <a:cubicBezTo>
                    <a:pt x="8" y="65"/>
                    <a:pt x="8" y="65"/>
                    <a:pt x="8" y="65"/>
                  </a:cubicBezTo>
                  <a:cubicBezTo>
                    <a:pt x="6" y="69"/>
                    <a:pt x="6" y="69"/>
                    <a:pt x="6" y="69"/>
                  </a:cubicBezTo>
                  <a:cubicBezTo>
                    <a:pt x="4" y="71"/>
                    <a:pt x="4" y="71"/>
                    <a:pt x="4" y="71"/>
                  </a:cubicBezTo>
                  <a:cubicBezTo>
                    <a:pt x="3" y="73"/>
                    <a:pt x="3" y="73"/>
                    <a:pt x="3" y="73"/>
                  </a:cubicBezTo>
                  <a:cubicBezTo>
                    <a:pt x="2" y="76"/>
                    <a:pt x="2" y="76"/>
                    <a:pt x="2" y="76"/>
                  </a:cubicBezTo>
                  <a:cubicBezTo>
                    <a:pt x="0" y="79"/>
                    <a:pt x="0" y="79"/>
                    <a:pt x="0" y="79"/>
                  </a:cubicBezTo>
                  <a:cubicBezTo>
                    <a:pt x="1" y="84"/>
                    <a:pt x="1" y="84"/>
                    <a:pt x="1" y="84"/>
                  </a:cubicBezTo>
                  <a:cubicBezTo>
                    <a:pt x="2" y="87"/>
                    <a:pt x="2" y="87"/>
                    <a:pt x="2" y="87"/>
                  </a:cubicBezTo>
                  <a:cubicBezTo>
                    <a:pt x="3" y="91"/>
                    <a:pt x="3" y="91"/>
                    <a:pt x="3" y="91"/>
                  </a:cubicBezTo>
                  <a:cubicBezTo>
                    <a:pt x="3" y="95"/>
                    <a:pt x="3" y="95"/>
                    <a:pt x="3" y="95"/>
                  </a:cubicBezTo>
                  <a:cubicBezTo>
                    <a:pt x="7" y="98"/>
                    <a:pt x="7" y="98"/>
                    <a:pt x="7" y="98"/>
                  </a:cubicBezTo>
                  <a:cubicBezTo>
                    <a:pt x="11" y="97"/>
                    <a:pt x="11" y="97"/>
                    <a:pt x="11" y="97"/>
                  </a:cubicBezTo>
                  <a:cubicBezTo>
                    <a:pt x="16" y="93"/>
                    <a:pt x="16" y="93"/>
                    <a:pt x="16" y="93"/>
                  </a:cubicBezTo>
                  <a:cubicBezTo>
                    <a:pt x="19" y="91"/>
                    <a:pt x="19" y="91"/>
                    <a:pt x="19" y="91"/>
                  </a:cubicBezTo>
                  <a:cubicBezTo>
                    <a:pt x="20" y="92"/>
                    <a:pt x="20" y="92"/>
                    <a:pt x="20" y="92"/>
                  </a:cubicBezTo>
                  <a:cubicBezTo>
                    <a:pt x="20" y="93"/>
                    <a:pt x="20" y="93"/>
                    <a:pt x="20" y="93"/>
                  </a:cubicBezTo>
                  <a:cubicBezTo>
                    <a:pt x="21" y="92"/>
                    <a:pt x="21" y="92"/>
                    <a:pt x="21" y="92"/>
                  </a:cubicBezTo>
                  <a:lnTo>
                    <a:pt x="23" y="87"/>
                  </a:lnTo>
                  <a:close/>
                </a:path>
              </a:pathLst>
            </a:custGeom>
            <a:grpFill/>
            <a:ln w="9525">
              <a:solidFill>
                <a:schemeClr val="bg2">
                  <a:lumMod val="50000"/>
                </a:schemeClr>
              </a:solidFill>
              <a:round/>
              <a:headEnd/>
              <a:tailEnd/>
            </a:ln>
          </p:spPr>
          <p:txBody>
            <a:bodyPr/>
            <a:lstStyle/>
            <a:p>
              <a:endParaRPr lang="en-US" dirty="0"/>
            </a:p>
          </p:txBody>
        </p:sp>
        <p:sp>
          <p:nvSpPr>
            <p:cNvPr id="91" name="Freeform 348"/>
            <p:cNvSpPr>
              <a:spLocks/>
            </p:cNvSpPr>
            <p:nvPr/>
          </p:nvSpPr>
          <p:spPr bwMode="gray">
            <a:xfrm>
              <a:off x="5163820" y="2209154"/>
              <a:ext cx="270157" cy="591884"/>
            </a:xfrm>
            <a:custGeom>
              <a:avLst/>
              <a:gdLst>
                <a:gd name="T0" fmla="*/ 329757991 w 10000"/>
                <a:gd name="T1" fmla="*/ 900343932 h 9895"/>
                <a:gd name="T2" fmla="*/ 321712352 w 10000"/>
                <a:gd name="T3" fmla="*/ 642988176 h 9895"/>
                <a:gd name="T4" fmla="*/ 305620110 w 10000"/>
                <a:gd name="T5" fmla="*/ 257355682 h 9895"/>
                <a:gd name="T6" fmla="*/ 281514137 w 10000"/>
                <a:gd name="T7" fmla="*/ 214195752 h 9895"/>
                <a:gd name="T8" fmla="*/ 249329623 w 10000"/>
                <a:gd name="T9" fmla="*/ 0 h 9895"/>
                <a:gd name="T10" fmla="*/ 233237382 w 10000"/>
                <a:gd name="T11" fmla="*/ 128677878 h 9895"/>
                <a:gd name="T12" fmla="*/ 217145140 w 10000"/>
                <a:gd name="T13" fmla="*/ 214195752 h 9895"/>
                <a:gd name="T14" fmla="*/ 176947920 w 10000"/>
                <a:gd name="T15" fmla="*/ 385627008 h 9895"/>
                <a:gd name="T16" fmla="*/ 144763406 w 10000"/>
                <a:gd name="T17" fmla="*/ 471551434 h 9895"/>
                <a:gd name="T18" fmla="*/ 144763406 w 10000"/>
                <a:gd name="T19" fmla="*/ 685741627 h 9895"/>
                <a:gd name="T20" fmla="*/ 112612851 w 10000"/>
                <a:gd name="T21" fmla="*/ 1028615184 h 9895"/>
                <a:gd name="T22" fmla="*/ 88473944 w 10000"/>
                <a:gd name="T23" fmla="*/ 1328729803 h 9895"/>
                <a:gd name="T24" fmla="*/ 80428336 w 10000"/>
                <a:gd name="T25" fmla="*/ 1586085559 h 9895"/>
                <a:gd name="T26" fmla="*/ 48243854 w 10000"/>
                <a:gd name="T27" fmla="*/ 1757522301 h 9895"/>
                <a:gd name="T28" fmla="*/ 32184514 w 10000"/>
                <a:gd name="T29" fmla="*/ 1971718053 h 9895"/>
                <a:gd name="T30" fmla="*/ 32184514 w 10000"/>
                <a:gd name="T31" fmla="*/ 2147483647 h 9895"/>
                <a:gd name="T32" fmla="*/ 32184514 w 10000"/>
                <a:gd name="T33" fmla="*/ 2147483647 h 9895"/>
                <a:gd name="T34" fmla="*/ 32184514 w 10000"/>
                <a:gd name="T35" fmla="*/ 2147483647 h 9895"/>
                <a:gd name="T36" fmla="*/ 8045607 w 10000"/>
                <a:gd name="T37" fmla="*/ 2147483647 h 9895"/>
                <a:gd name="T38" fmla="*/ 16092241 w 10000"/>
                <a:gd name="T39" fmla="*/ 2147483647 h 9895"/>
                <a:gd name="T40" fmla="*/ 57377416 w 10000"/>
                <a:gd name="T41" fmla="*/ 2147483647 h 9895"/>
                <a:gd name="T42" fmla="*/ 62950940 w 10000"/>
                <a:gd name="T43" fmla="*/ 2147483647 h 9895"/>
                <a:gd name="T44" fmla="*/ 80428336 w 10000"/>
                <a:gd name="T45" fmla="*/ 2147483647 h 9895"/>
                <a:gd name="T46" fmla="*/ 104566217 w 10000"/>
                <a:gd name="T47" fmla="*/ 2147483647 h 9895"/>
                <a:gd name="T48" fmla="*/ 144763406 w 10000"/>
                <a:gd name="T49" fmla="*/ 2147483647 h 9895"/>
                <a:gd name="T50" fmla="*/ 152810071 w 10000"/>
                <a:gd name="T51" fmla="*/ 2147483647 h 9895"/>
                <a:gd name="T52" fmla="*/ 193040161 w 10000"/>
                <a:gd name="T53" fmla="*/ 2147483647 h 9895"/>
                <a:gd name="T54" fmla="*/ 184994553 w 10000"/>
                <a:gd name="T55" fmla="*/ 2147483647 h 9895"/>
                <a:gd name="T56" fmla="*/ 168902312 w 10000"/>
                <a:gd name="T57" fmla="*/ 2147483647 h 9895"/>
                <a:gd name="T58" fmla="*/ 193040161 w 10000"/>
                <a:gd name="T59" fmla="*/ 1971718053 h 9895"/>
                <a:gd name="T60" fmla="*/ 265421864 w 10000"/>
                <a:gd name="T61" fmla="*/ 1714768849 h 9895"/>
                <a:gd name="T62" fmla="*/ 265421864 w 10000"/>
                <a:gd name="T63" fmla="*/ 1457407681 h 9895"/>
                <a:gd name="T64" fmla="*/ 305620110 w 10000"/>
                <a:gd name="T65" fmla="*/ 1157293062 h 9895"/>
                <a:gd name="T66" fmla="*/ 329757991 w 10000"/>
                <a:gd name="T67" fmla="*/ 1157293062 h 98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000" h="9895">
                  <a:moveTo>
                    <a:pt x="10000" y="2316"/>
                  </a:moveTo>
                  <a:lnTo>
                    <a:pt x="10000" y="2211"/>
                  </a:lnTo>
                  <a:lnTo>
                    <a:pt x="9756" y="1895"/>
                  </a:lnTo>
                  <a:lnTo>
                    <a:pt x="9756" y="1579"/>
                  </a:lnTo>
                  <a:lnTo>
                    <a:pt x="9756" y="1158"/>
                  </a:lnTo>
                  <a:lnTo>
                    <a:pt x="9268" y="632"/>
                  </a:lnTo>
                  <a:lnTo>
                    <a:pt x="9024" y="632"/>
                  </a:lnTo>
                  <a:lnTo>
                    <a:pt x="8537" y="526"/>
                  </a:lnTo>
                  <a:lnTo>
                    <a:pt x="7805" y="211"/>
                  </a:lnTo>
                  <a:lnTo>
                    <a:pt x="7561" y="0"/>
                  </a:lnTo>
                  <a:lnTo>
                    <a:pt x="7317" y="0"/>
                  </a:lnTo>
                  <a:lnTo>
                    <a:pt x="7073" y="316"/>
                  </a:lnTo>
                  <a:lnTo>
                    <a:pt x="7073" y="526"/>
                  </a:lnTo>
                  <a:lnTo>
                    <a:pt x="6585" y="526"/>
                  </a:lnTo>
                  <a:lnTo>
                    <a:pt x="5854" y="526"/>
                  </a:lnTo>
                  <a:lnTo>
                    <a:pt x="5366" y="947"/>
                  </a:lnTo>
                  <a:lnTo>
                    <a:pt x="5122" y="947"/>
                  </a:lnTo>
                  <a:lnTo>
                    <a:pt x="4390" y="1158"/>
                  </a:lnTo>
                  <a:lnTo>
                    <a:pt x="4146" y="1368"/>
                  </a:lnTo>
                  <a:lnTo>
                    <a:pt x="4390" y="1684"/>
                  </a:lnTo>
                  <a:lnTo>
                    <a:pt x="3902" y="2000"/>
                  </a:lnTo>
                  <a:lnTo>
                    <a:pt x="3415" y="2526"/>
                  </a:lnTo>
                  <a:lnTo>
                    <a:pt x="2927" y="2632"/>
                  </a:lnTo>
                  <a:lnTo>
                    <a:pt x="2683" y="3263"/>
                  </a:lnTo>
                  <a:lnTo>
                    <a:pt x="2195" y="3684"/>
                  </a:lnTo>
                  <a:lnTo>
                    <a:pt x="2439" y="3895"/>
                  </a:lnTo>
                  <a:lnTo>
                    <a:pt x="2439" y="4211"/>
                  </a:lnTo>
                  <a:lnTo>
                    <a:pt x="1463" y="4316"/>
                  </a:lnTo>
                  <a:lnTo>
                    <a:pt x="976" y="4526"/>
                  </a:lnTo>
                  <a:lnTo>
                    <a:pt x="976" y="4842"/>
                  </a:lnTo>
                  <a:cubicBezTo>
                    <a:pt x="976" y="4842"/>
                    <a:pt x="732" y="5263"/>
                    <a:pt x="732" y="5368"/>
                  </a:cubicBezTo>
                  <a:cubicBezTo>
                    <a:pt x="813" y="5544"/>
                    <a:pt x="895" y="5719"/>
                    <a:pt x="976" y="5895"/>
                  </a:cubicBezTo>
                  <a:lnTo>
                    <a:pt x="1463" y="6211"/>
                  </a:lnTo>
                  <a:lnTo>
                    <a:pt x="976" y="6421"/>
                  </a:lnTo>
                  <a:lnTo>
                    <a:pt x="976" y="6632"/>
                  </a:lnTo>
                  <a:lnTo>
                    <a:pt x="976" y="7053"/>
                  </a:lnTo>
                  <a:cubicBezTo>
                    <a:pt x="976" y="7158"/>
                    <a:pt x="732" y="7158"/>
                    <a:pt x="732" y="7158"/>
                  </a:cubicBezTo>
                  <a:lnTo>
                    <a:pt x="244" y="7684"/>
                  </a:lnTo>
                  <a:lnTo>
                    <a:pt x="0" y="7789"/>
                  </a:lnTo>
                  <a:cubicBezTo>
                    <a:pt x="488" y="8316"/>
                    <a:pt x="329" y="8217"/>
                    <a:pt x="488" y="8316"/>
                  </a:cubicBezTo>
                  <a:cubicBezTo>
                    <a:pt x="647" y="8415"/>
                    <a:pt x="746" y="8264"/>
                    <a:pt x="955" y="8384"/>
                  </a:cubicBezTo>
                  <a:cubicBezTo>
                    <a:pt x="1164" y="8504"/>
                    <a:pt x="1597" y="8867"/>
                    <a:pt x="1740" y="9038"/>
                  </a:cubicBezTo>
                  <a:cubicBezTo>
                    <a:pt x="1883" y="9209"/>
                    <a:pt x="1786" y="9301"/>
                    <a:pt x="1814" y="9410"/>
                  </a:cubicBezTo>
                  <a:cubicBezTo>
                    <a:pt x="1842" y="9519"/>
                    <a:pt x="1865" y="9637"/>
                    <a:pt x="1909" y="9693"/>
                  </a:cubicBezTo>
                  <a:cubicBezTo>
                    <a:pt x="1953" y="9749"/>
                    <a:pt x="1990" y="9709"/>
                    <a:pt x="2078" y="9743"/>
                  </a:cubicBezTo>
                  <a:cubicBezTo>
                    <a:pt x="2166" y="9777"/>
                    <a:pt x="2338" y="9905"/>
                    <a:pt x="2439" y="9895"/>
                  </a:cubicBezTo>
                  <a:cubicBezTo>
                    <a:pt x="2540" y="9885"/>
                    <a:pt x="2602" y="9754"/>
                    <a:pt x="2683" y="9684"/>
                  </a:cubicBezTo>
                  <a:lnTo>
                    <a:pt x="3171" y="9474"/>
                  </a:lnTo>
                  <a:lnTo>
                    <a:pt x="3902" y="9474"/>
                  </a:lnTo>
                  <a:lnTo>
                    <a:pt x="4390" y="9053"/>
                  </a:lnTo>
                  <a:cubicBezTo>
                    <a:pt x="4471" y="8807"/>
                    <a:pt x="4553" y="8562"/>
                    <a:pt x="4634" y="8316"/>
                  </a:cubicBezTo>
                  <a:lnTo>
                    <a:pt x="4634" y="7895"/>
                  </a:lnTo>
                  <a:lnTo>
                    <a:pt x="5122" y="7789"/>
                  </a:lnTo>
                  <a:lnTo>
                    <a:pt x="5854" y="7684"/>
                  </a:lnTo>
                  <a:lnTo>
                    <a:pt x="5854" y="7158"/>
                  </a:lnTo>
                  <a:lnTo>
                    <a:pt x="5610" y="6842"/>
                  </a:lnTo>
                  <a:lnTo>
                    <a:pt x="4878" y="6632"/>
                  </a:lnTo>
                  <a:cubicBezTo>
                    <a:pt x="4959" y="6386"/>
                    <a:pt x="5041" y="6141"/>
                    <a:pt x="5122" y="5895"/>
                  </a:cubicBezTo>
                  <a:lnTo>
                    <a:pt x="5122" y="5368"/>
                  </a:lnTo>
                  <a:lnTo>
                    <a:pt x="5854" y="4842"/>
                  </a:lnTo>
                  <a:lnTo>
                    <a:pt x="6585" y="4632"/>
                  </a:lnTo>
                  <a:lnTo>
                    <a:pt x="8049" y="4211"/>
                  </a:lnTo>
                  <a:lnTo>
                    <a:pt x="8293" y="3895"/>
                  </a:lnTo>
                  <a:lnTo>
                    <a:pt x="8049" y="3579"/>
                  </a:lnTo>
                  <a:lnTo>
                    <a:pt x="8537" y="3263"/>
                  </a:lnTo>
                  <a:lnTo>
                    <a:pt x="9268" y="2842"/>
                  </a:lnTo>
                  <a:lnTo>
                    <a:pt x="10000" y="2947"/>
                  </a:lnTo>
                  <a:lnTo>
                    <a:pt x="10000" y="2842"/>
                  </a:lnTo>
                  <a:lnTo>
                    <a:pt x="10000" y="2316"/>
                  </a:lnTo>
                  <a:close/>
                </a:path>
              </a:pathLst>
            </a:custGeom>
            <a:grpFill/>
            <a:ln w="9525">
              <a:solidFill>
                <a:schemeClr val="bg2">
                  <a:lumMod val="50000"/>
                </a:schemeClr>
              </a:solidFill>
              <a:round/>
              <a:headEnd/>
              <a:tailEnd/>
            </a:ln>
          </p:spPr>
          <p:txBody>
            <a:bodyPr/>
            <a:lstStyle/>
            <a:p>
              <a:endParaRPr lang="en-US" dirty="0"/>
            </a:p>
          </p:txBody>
        </p:sp>
        <p:sp>
          <p:nvSpPr>
            <p:cNvPr id="92" name="Freeform 349"/>
            <p:cNvSpPr>
              <a:spLocks/>
            </p:cNvSpPr>
            <p:nvPr/>
          </p:nvSpPr>
          <p:spPr bwMode="gray">
            <a:xfrm>
              <a:off x="5395192" y="2908653"/>
              <a:ext cx="375812" cy="231885"/>
            </a:xfrm>
            <a:custGeom>
              <a:avLst/>
              <a:gdLst>
                <a:gd name="T0" fmla="*/ 2147483647 w 57"/>
                <a:gd name="T1" fmla="*/ 2147483647 h 37"/>
                <a:gd name="T2" fmla="*/ 2147483647 w 57"/>
                <a:gd name="T3" fmla="*/ 2147483647 h 37"/>
                <a:gd name="T4" fmla="*/ 2147483647 w 57"/>
                <a:gd name="T5" fmla="*/ 2147483647 h 37"/>
                <a:gd name="T6" fmla="*/ 2147483647 w 57"/>
                <a:gd name="T7" fmla="*/ 2147483647 h 37"/>
                <a:gd name="T8" fmla="*/ 2147483647 w 57"/>
                <a:gd name="T9" fmla="*/ 2147483647 h 37"/>
                <a:gd name="T10" fmla="*/ 2147483647 w 57"/>
                <a:gd name="T11" fmla="*/ 2147483647 h 37"/>
                <a:gd name="T12" fmla="*/ 2147483647 w 57"/>
                <a:gd name="T13" fmla="*/ 2147483647 h 37"/>
                <a:gd name="T14" fmla="*/ 2147483647 w 57"/>
                <a:gd name="T15" fmla="*/ 2147483647 h 37"/>
                <a:gd name="T16" fmla="*/ 2147483647 w 57"/>
                <a:gd name="T17" fmla="*/ 2147483647 h 37"/>
                <a:gd name="T18" fmla="*/ 2147483647 w 57"/>
                <a:gd name="T19" fmla="*/ 2147483647 h 37"/>
                <a:gd name="T20" fmla="*/ 2147483647 w 57"/>
                <a:gd name="T21" fmla="*/ 2147483647 h 37"/>
                <a:gd name="T22" fmla="*/ 2147483647 w 57"/>
                <a:gd name="T23" fmla="*/ 0 h 37"/>
                <a:gd name="T24" fmla="*/ 2147483647 w 57"/>
                <a:gd name="T25" fmla="*/ 0 h 37"/>
                <a:gd name="T26" fmla="*/ 2147483647 w 57"/>
                <a:gd name="T27" fmla="*/ 2147483647 h 37"/>
                <a:gd name="T28" fmla="*/ 2147483647 w 57"/>
                <a:gd name="T29" fmla="*/ 2147483647 h 37"/>
                <a:gd name="T30" fmla="*/ 2147483647 w 57"/>
                <a:gd name="T31" fmla="*/ 2147483647 h 37"/>
                <a:gd name="T32" fmla="*/ 2147483647 w 57"/>
                <a:gd name="T33" fmla="*/ 2147483647 h 37"/>
                <a:gd name="T34" fmla="*/ 2147483647 w 57"/>
                <a:gd name="T35" fmla="*/ 2147483647 h 37"/>
                <a:gd name="T36" fmla="*/ 2147483647 w 57"/>
                <a:gd name="T37" fmla="*/ 2147483647 h 37"/>
                <a:gd name="T38" fmla="*/ 2147483647 w 57"/>
                <a:gd name="T39" fmla="*/ 2147483647 h 37"/>
                <a:gd name="T40" fmla="*/ 2147483647 w 57"/>
                <a:gd name="T41" fmla="*/ 2147483647 h 37"/>
                <a:gd name="T42" fmla="*/ 2147483647 w 57"/>
                <a:gd name="T43" fmla="*/ 2147483647 h 37"/>
                <a:gd name="T44" fmla="*/ 0 w 57"/>
                <a:gd name="T45" fmla="*/ 2147483647 h 37"/>
                <a:gd name="T46" fmla="*/ 0 w 57"/>
                <a:gd name="T47" fmla="*/ 2147483647 h 37"/>
                <a:gd name="T48" fmla="*/ 2147483647 w 57"/>
                <a:gd name="T49" fmla="*/ 2147483647 h 37"/>
                <a:gd name="T50" fmla="*/ 2147483647 w 57"/>
                <a:gd name="T51" fmla="*/ 2147483647 h 37"/>
                <a:gd name="T52" fmla="*/ 2147483647 w 57"/>
                <a:gd name="T53" fmla="*/ 2147483647 h 37"/>
                <a:gd name="T54" fmla="*/ 2147483647 w 57"/>
                <a:gd name="T55" fmla="*/ 2147483647 h 37"/>
                <a:gd name="T56" fmla="*/ 2147483647 w 57"/>
                <a:gd name="T57" fmla="*/ 2147483647 h 37"/>
                <a:gd name="T58" fmla="*/ 2147483647 w 57"/>
                <a:gd name="T59" fmla="*/ 2147483647 h 37"/>
                <a:gd name="T60" fmla="*/ 2147483647 w 57"/>
                <a:gd name="T61" fmla="*/ 2147483647 h 37"/>
                <a:gd name="T62" fmla="*/ 2147483647 w 57"/>
                <a:gd name="T63" fmla="*/ 2147483647 h 37"/>
                <a:gd name="T64" fmla="*/ 2147483647 w 57"/>
                <a:gd name="T65" fmla="*/ 2147483647 h 37"/>
                <a:gd name="T66" fmla="*/ 2147483647 w 57"/>
                <a:gd name="T67" fmla="*/ 2147483647 h 37"/>
                <a:gd name="T68" fmla="*/ 2147483647 w 57"/>
                <a:gd name="T69" fmla="*/ 2147483647 h 37"/>
                <a:gd name="T70" fmla="*/ 2147483647 w 57"/>
                <a:gd name="T71" fmla="*/ 2147483647 h 37"/>
                <a:gd name="T72" fmla="*/ 2147483647 w 57"/>
                <a:gd name="T73" fmla="*/ 2147483647 h 37"/>
                <a:gd name="T74" fmla="*/ 2147483647 w 57"/>
                <a:gd name="T75" fmla="*/ 2147483647 h 37"/>
                <a:gd name="T76" fmla="*/ 2147483647 w 57"/>
                <a:gd name="T77" fmla="*/ 2147483647 h 37"/>
                <a:gd name="T78" fmla="*/ 2147483647 w 57"/>
                <a:gd name="T79" fmla="*/ 2147483647 h 37"/>
                <a:gd name="T80" fmla="*/ 2147483647 w 57"/>
                <a:gd name="T81" fmla="*/ 2147483647 h 37"/>
                <a:gd name="T82" fmla="*/ 2147483647 w 57"/>
                <a:gd name="T83" fmla="*/ 2147483647 h 37"/>
                <a:gd name="T84" fmla="*/ 2147483647 w 57"/>
                <a:gd name="T85" fmla="*/ 2147483647 h 37"/>
                <a:gd name="T86" fmla="*/ 2147483647 w 57"/>
                <a:gd name="T87" fmla="*/ 2147483647 h 37"/>
                <a:gd name="T88" fmla="*/ 2147483647 w 57"/>
                <a:gd name="T89" fmla="*/ 2147483647 h 37"/>
                <a:gd name="T90" fmla="*/ 2147483647 w 57"/>
                <a:gd name="T91" fmla="*/ 2147483647 h 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57" h="37">
                  <a:moveTo>
                    <a:pt x="54" y="22"/>
                  </a:moveTo>
                  <a:cubicBezTo>
                    <a:pt x="56" y="21"/>
                    <a:pt x="56" y="21"/>
                    <a:pt x="56" y="21"/>
                  </a:cubicBezTo>
                  <a:cubicBezTo>
                    <a:pt x="57" y="16"/>
                    <a:pt x="57" y="16"/>
                    <a:pt x="57" y="16"/>
                  </a:cubicBezTo>
                  <a:cubicBezTo>
                    <a:pt x="57" y="14"/>
                    <a:pt x="57" y="14"/>
                    <a:pt x="57" y="14"/>
                  </a:cubicBezTo>
                  <a:cubicBezTo>
                    <a:pt x="52" y="12"/>
                    <a:pt x="52" y="12"/>
                    <a:pt x="52" y="12"/>
                  </a:cubicBezTo>
                  <a:cubicBezTo>
                    <a:pt x="47" y="9"/>
                    <a:pt x="47" y="9"/>
                    <a:pt x="47" y="9"/>
                  </a:cubicBezTo>
                  <a:cubicBezTo>
                    <a:pt x="45" y="9"/>
                    <a:pt x="45" y="9"/>
                    <a:pt x="45" y="9"/>
                  </a:cubicBezTo>
                  <a:cubicBezTo>
                    <a:pt x="42" y="7"/>
                    <a:pt x="42" y="7"/>
                    <a:pt x="42" y="7"/>
                  </a:cubicBezTo>
                  <a:cubicBezTo>
                    <a:pt x="40" y="4"/>
                    <a:pt x="40" y="4"/>
                    <a:pt x="40" y="4"/>
                  </a:cubicBezTo>
                  <a:cubicBezTo>
                    <a:pt x="33" y="1"/>
                    <a:pt x="33" y="1"/>
                    <a:pt x="33" y="1"/>
                  </a:cubicBezTo>
                  <a:cubicBezTo>
                    <a:pt x="31" y="1"/>
                    <a:pt x="31" y="1"/>
                    <a:pt x="31" y="1"/>
                  </a:cubicBezTo>
                  <a:cubicBezTo>
                    <a:pt x="31" y="0"/>
                    <a:pt x="31" y="0"/>
                    <a:pt x="31" y="0"/>
                  </a:cubicBezTo>
                  <a:cubicBezTo>
                    <a:pt x="30" y="0"/>
                    <a:pt x="30" y="0"/>
                    <a:pt x="30" y="0"/>
                  </a:cubicBezTo>
                  <a:cubicBezTo>
                    <a:pt x="28" y="6"/>
                    <a:pt x="28" y="6"/>
                    <a:pt x="28" y="6"/>
                  </a:cubicBezTo>
                  <a:cubicBezTo>
                    <a:pt x="24" y="5"/>
                    <a:pt x="24" y="5"/>
                    <a:pt x="24" y="5"/>
                  </a:cubicBezTo>
                  <a:cubicBezTo>
                    <a:pt x="17" y="5"/>
                    <a:pt x="17" y="5"/>
                    <a:pt x="17" y="5"/>
                  </a:cubicBezTo>
                  <a:cubicBezTo>
                    <a:pt x="11" y="3"/>
                    <a:pt x="11" y="3"/>
                    <a:pt x="11" y="3"/>
                  </a:cubicBezTo>
                  <a:cubicBezTo>
                    <a:pt x="7" y="3"/>
                    <a:pt x="7" y="3"/>
                    <a:pt x="7" y="3"/>
                  </a:cubicBezTo>
                  <a:cubicBezTo>
                    <a:pt x="5" y="4"/>
                    <a:pt x="5" y="4"/>
                    <a:pt x="5" y="4"/>
                  </a:cubicBezTo>
                  <a:cubicBezTo>
                    <a:pt x="6" y="8"/>
                    <a:pt x="6" y="8"/>
                    <a:pt x="6" y="8"/>
                  </a:cubicBezTo>
                  <a:cubicBezTo>
                    <a:pt x="4" y="10"/>
                    <a:pt x="4" y="10"/>
                    <a:pt x="4" y="10"/>
                  </a:cubicBezTo>
                  <a:cubicBezTo>
                    <a:pt x="2" y="15"/>
                    <a:pt x="2" y="15"/>
                    <a:pt x="2" y="15"/>
                  </a:cubicBezTo>
                  <a:cubicBezTo>
                    <a:pt x="0" y="15"/>
                    <a:pt x="0" y="15"/>
                    <a:pt x="0" y="15"/>
                  </a:cubicBezTo>
                  <a:cubicBezTo>
                    <a:pt x="0" y="18"/>
                    <a:pt x="0" y="18"/>
                    <a:pt x="0" y="18"/>
                  </a:cubicBezTo>
                  <a:cubicBezTo>
                    <a:pt x="1" y="19"/>
                    <a:pt x="1" y="19"/>
                    <a:pt x="1" y="19"/>
                  </a:cubicBezTo>
                  <a:cubicBezTo>
                    <a:pt x="2" y="20"/>
                    <a:pt x="2" y="20"/>
                    <a:pt x="2" y="20"/>
                  </a:cubicBezTo>
                  <a:cubicBezTo>
                    <a:pt x="3" y="21"/>
                    <a:pt x="3" y="21"/>
                    <a:pt x="3" y="21"/>
                  </a:cubicBezTo>
                  <a:cubicBezTo>
                    <a:pt x="12" y="20"/>
                    <a:pt x="12" y="20"/>
                    <a:pt x="12" y="20"/>
                  </a:cubicBezTo>
                  <a:cubicBezTo>
                    <a:pt x="18" y="20"/>
                    <a:pt x="18" y="20"/>
                    <a:pt x="18" y="20"/>
                  </a:cubicBezTo>
                  <a:cubicBezTo>
                    <a:pt x="24" y="24"/>
                    <a:pt x="24" y="24"/>
                    <a:pt x="24" y="24"/>
                  </a:cubicBezTo>
                  <a:cubicBezTo>
                    <a:pt x="24" y="24"/>
                    <a:pt x="26" y="26"/>
                    <a:pt x="25" y="28"/>
                  </a:cubicBezTo>
                  <a:cubicBezTo>
                    <a:pt x="25" y="29"/>
                    <a:pt x="22" y="30"/>
                    <a:pt x="22" y="30"/>
                  </a:cubicBezTo>
                  <a:cubicBezTo>
                    <a:pt x="21" y="33"/>
                    <a:pt x="21" y="33"/>
                    <a:pt x="21" y="33"/>
                  </a:cubicBezTo>
                  <a:cubicBezTo>
                    <a:pt x="24" y="34"/>
                    <a:pt x="24" y="34"/>
                    <a:pt x="24" y="34"/>
                  </a:cubicBezTo>
                  <a:cubicBezTo>
                    <a:pt x="25" y="32"/>
                    <a:pt x="25" y="32"/>
                    <a:pt x="25" y="32"/>
                  </a:cubicBezTo>
                  <a:cubicBezTo>
                    <a:pt x="30" y="29"/>
                    <a:pt x="30" y="29"/>
                    <a:pt x="30" y="29"/>
                  </a:cubicBezTo>
                  <a:cubicBezTo>
                    <a:pt x="33" y="29"/>
                    <a:pt x="33" y="29"/>
                    <a:pt x="33" y="29"/>
                  </a:cubicBezTo>
                  <a:cubicBezTo>
                    <a:pt x="36" y="32"/>
                    <a:pt x="36" y="32"/>
                    <a:pt x="36" y="32"/>
                  </a:cubicBezTo>
                  <a:cubicBezTo>
                    <a:pt x="34" y="34"/>
                    <a:pt x="34" y="34"/>
                    <a:pt x="34" y="34"/>
                  </a:cubicBezTo>
                  <a:cubicBezTo>
                    <a:pt x="37" y="37"/>
                    <a:pt x="37" y="37"/>
                    <a:pt x="37" y="37"/>
                  </a:cubicBezTo>
                  <a:cubicBezTo>
                    <a:pt x="45" y="34"/>
                    <a:pt x="45" y="34"/>
                    <a:pt x="45" y="34"/>
                  </a:cubicBezTo>
                  <a:cubicBezTo>
                    <a:pt x="41" y="31"/>
                    <a:pt x="41" y="31"/>
                    <a:pt x="41" y="31"/>
                  </a:cubicBezTo>
                  <a:cubicBezTo>
                    <a:pt x="43" y="28"/>
                    <a:pt x="43" y="28"/>
                    <a:pt x="43" y="28"/>
                  </a:cubicBezTo>
                  <a:cubicBezTo>
                    <a:pt x="50" y="27"/>
                    <a:pt x="50" y="27"/>
                    <a:pt x="50" y="27"/>
                  </a:cubicBezTo>
                  <a:cubicBezTo>
                    <a:pt x="51" y="25"/>
                    <a:pt x="51" y="25"/>
                    <a:pt x="51" y="25"/>
                  </a:cubicBezTo>
                  <a:lnTo>
                    <a:pt x="54" y="22"/>
                  </a:lnTo>
                  <a:close/>
                </a:path>
              </a:pathLst>
            </a:custGeom>
            <a:grpFill/>
            <a:ln w="9525">
              <a:solidFill>
                <a:schemeClr val="bg2">
                  <a:lumMod val="50000"/>
                </a:schemeClr>
              </a:solidFill>
              <a:round/>
              <a:headEnd/>
              <a:tailEnd/>
            </a:ln>
          </p:spPr>
          <p:txBody>
            <a:bodyPr/>
            <a:lstStyle/>
            <a:p>
              <a:endParaRPr lang="en-US" dirty="0"/>
            </a:p>
          </p:txBody>
        </p:sp>
        <p:sp>
          <p:nvSpPr>
            <p:cNvPr id="93" name="Freeform 350"/>
            <p:cNvSpPr>
              <a:spLocks/>
            </p:cNvSpPr>
            <p:nvPr/>
          </p:nvSpPr>
          <p:spPr bwMode="gray">
            <a:xfrm>
              <a:off x="5611854" y="2908653"/>
              <a:ext cx="46809" cy="24341"/>
            </a:xfrm>
            <a:custGeom>
              <a:avLst/>
              <a:gdLst>
                <a:gd name="T0" fmla="*/ 2147483647 w 42"/>
                <a:gd name="T1" fmla="*/ 2147483647 h 24"/>
                <a:gd name="T2" fmla="*/ 2147483647 w 42"/>
                <a:gd name="T3" fmla="*/ 0 h 24"/>
                <a:gd name="T4" fmla="*/ 0 w 42"/>
                <a:gd name="T5" fmla="*/ 2147483647 h 24"/>
                <a:gd name="T6" fmla="*/ 2147483647 w 42"/>
                <a:gd name="T7" fmla="*/ 2147483647 h 24"/>
                <a:gd name="T8" fmla="*/ 2147483647 w 42"/>
                <a:gd name="T9" fmla="*/ 2147483647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 h="24">
                  <a:moveTo>
                    <a:pt x="36" y="24"/>
                  </a:moveTo>
                  <a:lnTo>
                    <a:pt x="18" y="0"/>
                  </a:lnTo>
                  <a:lnTo>
                    <a:pt x="0" y="6"/>
                  </a:lnTo>
                  <a:lnTo>
                    <a:pt x="42" y="24"/>
                  </a:lnTo>
                  <a:lnTo>
                    <a:pt x="36" y="24"/>
                  </a:lnTo>
                  <a:close/>
                </a:path>
              </a:pathLst>
            </a:custGeom>
            <a:grpFill/>
            <a:ln w="9525">
              <a:solidFill>
                <a:schemeClr val="bg2">
                  <a:lumMod val="50000"/>
                </a:schemeClr>
              </a:solidFill>
              <a:round/>
              <a:headEnd/>
              <a:tailEnd/>
            </a:ln>
          </p:spPr>
          <p:txBody>
            <a:bodyPr/>
            <a:lstStyle/>
            <a:p>
              <a:endParaRPr lang="en-US" dirty="0"/>
            </a:p>
          </p:txBody>
        </p:sp>
        <p:sp>
          <p:nvSpPr>
            <p:cNvPr id="94" name="Freeform 359"/>
            <p:cNvSpPr>
              <a:spLocks/>
            </p:cNvSpPr>
            <p:nvPr/>
          </p:nvSpPr>
          <p:spPr bwMode="gray">
            <a:xfrm>
              <a:off x="5348383" y="2807442"/>
              <a:ext cx="65534" cy="38434"/>
            </a:xfrm>
            <a:custGeom>
              <a:avLst/>
              <a:gdLst>
                <a:gd name="T0" fmla="*/ 2147483647 w 60"/>
                <a:gd name="T1" fmla="*/ 2147483647 h 36"/>
                <a:gd name="T2" fmla="*/ 2147483647 w 60"/>
                <a:gd name="T3" fmla="*/ 2147483647 h 36"/>
                <a:gd name="T4" fmla="*/ 2147483647 w 60"/>
                <a:gd name="T5" fmla="*/ 2147483647 h 36"/>
                <a:gd name="T6" fmla="*/ 2147483647 w 60"/>
                <a:gd name="T7" fmla="*/ 2147483647 h 36"/>
                <a:gd name="T8" fmla="*/ 2147483647 w 60"/>
                <a:gd name="T9" fmla="*/ 0 h 36"/>
                <a:gd name="T10" fmla="*/ 2147483647 w 60"/>
                <a:gd name="T11" fmla="*/ 0 h 36"/>
                <a:gd name="T12" fmla="*/ 2147483647 w 60"/>
                <a:gd name="T13" fmla="*/ 2147483647 h 36"/>
                <a:gd name="T14" fmla="*/ 0 w 60"/>
                <a:gd name="T15" fmla="*/ 2147483647 h 36"/>
                <a:gd name="T16" fmla="*/ 2147483647 w 60"/>
                <a:gd name="T17" fmla="*/ 2147483647 h 36"/>
                <a:gd name="T18" fmla="*/ 2147483647 w 60"/>
                <a:gd name="T19" fmla="*/ 2147483647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0" h="36">
                  <a:moveTo>
                    <a:pt x="54" y="36"/>
                  </a:moveTo>
                  <a:lnTo>
                    <a:pt x="60" y="24"/>
                  </a:lnTo>
                  <a:lnTo>
                    <a:pt x="54" y="12"/>
                  </a:lnTo>
                  <a:lnTo>
                    <a:pt x="42" y="6"/>
                  </a:lnTo>
                  <a:lnTo>
                    <a:pt x="30" y="0"/>
                  </a:lnTo>
                  <a:lnTo>
                    <a:pt x="18" y="0"/>
                  </a:lnTo>
                  <a:lnTo>
                    <a:pt x="6" y="12"/>
                  </a:lnTo>
                  <a:lnTo>
                    <a:pt x="0" y="18"/>
                  </a:lnTo>
                  <a:lnTo>
                    <a:pt x="12" y="30"/>
                  </a:lnTo>
                  <a:lnTo>
                    <a:pt x="54" y="36"/>
                  </a:lnTo>
                  <a:close/>
                </a:path>
              </a:pathLst>
            </a:custGeom>
            <a:grpFill/>
            <a:ln w="9525">
              <a:solidFill>
                <a:schemeClr val="bg2">
                  <a:lumMod val="50000"/>
                </a:schemeClr>
              </a:solidFill>
              <a:round/>
              <a:headEnd/>
              <a:tailEnd/>
            </a:ln>
          </p:spPr>
          <p:txBody>
            <a:bodyPr/>
            <a:lstStyle/>
            <a:p>
              <a:endParaRPr lang="en-US" dirty="0"/>
            </a:p>
          </p:txBody>
        </p:sp>
        <p:sp>
          <p:nvSpPr>
            <p:cNvPr id="95" name="Freeform 360"/>
            <p:cNvSpPr>
              <a:spLocks/>
            </p:cNvSpPr>
            <p:nvPr/>
          </p:nvSpPr>
          <p:spPr bwMode="gray">
            <a:xfrm>
              <a:off x="5229354" y="2826660"/>
              <a:ext cx="204623" cy="175515"/>
            </a:xfrm>
            <a:custGeom>
              <a:avLst/>
              <a:gdLst>
                <a:gd name="T0" fmla="*/ 2147483647 w 31"/>
                <a:gd name="T1" fmla="*/ 2147483647 h 28"/>
                <a:gd name="T2" fmla="*/ 2147483647 w 31"/>
                <a:gd name="T3" fmla="*/ 2147483647 h 28"/>
                <a:gd name="T4" fmla="*/ 2147483647 w 31"/>
                <a:gd name="T5" fmla="*/ 2147483647 h 28"/>
                <a:gd name="T6" fmla="*/ 2147483647 w 31"/>
                <a:gd name="T7" fmla="*/ 2147483647 h 28"/>
                <a:gd name="T8" fmla="*/ 2147483647 w 31"/>
                <a:gd name="T9" fmla="*/ 2147483647 h 28"/>
                <a:gd name="T10" fmla="*/ 2147483647 w 31"/>
                <a:gd name="T11" fmla="*/ 2147483647 h 28"/>
                <a:gd name="T12" fmla="*/ 2147483647 w 31"/>
                <a:gd name="T13" fmla="*/ 2147483647 h 28"/>
                <a:gd name="T14" fmla="*/ 2147483647 w 31"/>
                <a:gd name="T15" fmla="*/ 2147483647 h 28"/>
                <a:gd name="T16" fmla="*/ 2147483647 w 31"/>
                <a:gd name="T17" fmla="*/ 2147483647 h 28"/>
                <a:gd name="T18" fmla="*/ 2147483647 w 31"/>
                <a:gd name="T19" fmla="*/ 2147483647 h 28"/>
                <a:gd name="T20" fmla="*/ 2147483647 w 31"/>
                <a:gd name="T21" fmla="*/ 2147483647 h 28"/>
                <a:gd name="T22" fmla="*/ 2147483647 w 31"/>
                <a:gd name="T23" fmla="*/ 2147483647 h 28"/>
                <a:gd name="T24" fmla="*/ 2147483647 w 31"/>
                <a:gd name="T25" fmla="*/ 2147483647 h 28"/>
                <a:gd name="T26" fmla="*/ 2147483647 w 31"/>
                <a:gd name="T27" fmla="*/ 2147483647 h 28"/>
                <a:gd name="T28" fmla="*/ 2147483647 w 31"/>
                <a:gd name="T29" fmla="*/ 2147483647 h 28"/>
                <a:gd name="T30" fmla="*/ 2147483647 w 31"/>
                <a:gd name="T31" fmla="*/ 2147483647 h 28"/>
                <a:gd name="T32" fmla="*/ 2147483647 w 31"/>
                <a:gd name="T33" fmla="*/ 2147483647 h 28"/>
                <a:gd name="T34" fmla="*/ 2147483647 w 31"/>
                <a:gd name="T35" fmla="*/ 2147483647 h 28"/>
                <a:gd name="T36" fmla="*/ 2147483647 w 31"/>
                <a:gd name="T37" fmla="*/ 2147483647 h 28"/>
                <a:gd name="T38" fmla="*/ 2147483647 w 31"/>
                <a:gd name="T39" fmla="*/ 2147483647 h 28"/>
                <a:gd name="T40" fmla="*/ 2147483647 w 31"/>
                <a:gd name="T41" fmla="*/ 2147483647 h 28"/>
                <a:gd name="T42" fmla="*/ 2147483647 w 31"/>
                <a:gd name="T43" fmla="*/ 2147483647 h 28"/>
                <a:gd name="T44" fmla="*/ 2147483647 w 31"/>
                <a:gd name="T45" fmla="*/ 2147483647 h 28"/>
                <a:gd name="T46" fmla="*/ 2147483647 w 31"/>
                <a:gd name="T47" fmla="*/ 0 h 28"/>
                <a:gd name="T48" fmla="*/ 2147483647 w 31"/>
                <a:gd name="T49" fmla="*/ 2147483647 h 28"/>
                <a:gd name="T50" fmla="*/ 2147483647 w 31"/>
                <a:gd name="T51" fmla="*/ 2147483647 h 28"/>
                <a:gd name="T52" fmla="*/ 2147483647 w 31"/>
                <a:gd name="T53" fmla="*/ 0 h 28"/>
                <a:gd name="T54" fmla="*/ 2147483647 w 31"/>
                <a:gd name="T55" fmla="*/ 0 h 28"/>
                <a:gd name="T56" fmla="*/ 2147483647 w 31"/>
                <a:gd name="T57" fmla="*/ 2147483647 h 28"/>
                <a:gd name="T58" fmla="*/ 2147483647 w 31"/>
                <a:gd name="T59" fmla="*/ 2147483647 h 28"/>
                <a:gd name="T60" fmla="*/ 0 w 31"/>
                <a:gd name="T61" fmla="*/ 2147483647 h 28"/>
                <a:gd name="T62" fmla="*/ 0 w 31"/>
                <a:gd name="T63" fmla="*/ 2147483647 h 28"/>
                <a:gd name="T64" fmla="*/ 2147483647 w 31"/>
                <a:gd name="T65" fmla="*/ 2147483647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 h="28">
                  <a:moveTo>
                    <a:pt x="1" y="9"/>
                  </a:moveTo>
                  <a:cubicBezTo>
                    <a:pt x="1" y="10"/>
                    <a:pt x="1" y="10"/>
                    <a:pt x="1" y="10"/>
                  </a:cubicBezTo>
                  <a:cubicBezTo>
                    <a:pt x="1" y="13"/>
                    <a:pt x="1" y="13"/>
                    <a:pt x="1" y="13"/>
                  </a:cubicBezTo>
                  <a:cubicBezTo>
                    <a:pt x="1" y="13"/>
                    <a:pt x="1" y="17"/>
                    <a:pt x="2" y="17"/>
                  </a:cubicBezTo>
                  <a:cubicBezTo>
                    <a:pt x="2" y="17"/>
                    <a:pt x="2" y="19"/>
                    <a:pt x="2" y="20"/>
                  </a:cubicBezTo>
                  <a:cubicBezTo>
                    <a:pt x="6" y="22"/>
                    <a:pt x="6" y="22"/>
                    <a:pt x="6" y="22"/>
                  </a:cubicBezTo>
                  <a:cubicBezTo>
                    <a:pt x="10" y="24"/>
                    <a:pt x="10" y="24"/>
                    <a:pt x="10" y="24"/>
                  </a:cubicBezTo>
                  <a:cubicBezTo>
                    <a:pt x="15" y="26"/>
                    <a:pt x="15" y="26"/>
                    <a:pt x="15" y="26"/>
                  </a:cubicBezTo>
                  <a:cubicBezTo>
                    <a:pt x="15" y="26"/>
                    <a:pt x="15" y="26"/>
                    <a:pt x="15" y="26"/>
                  </a:cubicBezTo>
                  <a:cubicBezTo>
                    <a:pt x="19" y="28"/>
                    <a:pt x="19" y="28"/>
                    <a:pt x="19" y="28"/>
                  </a:cubicBezTo>
                  <a:cubicBezTo>
                    <a:pt x="23" y="28"/>
                    <a:pt x="23" y="28"/>
                    <a:pt x="23" y="28"/>
                  </a:cubicBezTo>
                  <a:cubicBezTo>
                    <a:pt x="25" y="28"/>
                    <a:pt x="25" y="28"/>
                    <a:pt x="25" y="28"/>
                  </a:cubicBezTo>
                  <a:cubicBezTo>
                    <a:pt x="27" y="28"/>
                    <a:pt x="27" y="28"/>
                    <a:pt x="27" y="28"/>
                  </a:cubicBezTo>
                  <a:cubicBezTo>
                    <a:pt x="29" y="23"/>
                    <a:pt x="29" y="23"/>
                    <a:pt x="29" y="23"/>
                  </a:cubicBezTo>
                  <a:cubicBezTo>
                    <a:pt x="31" y="21"/>
                    <a:pt x="31" y="21"/>
                    <a:pt x="31" y="21"/>
                  </a:cubicBezTo>
                  <a:cubicBezTo>
                    <a:pt x="30" y="17"/>
                    <a:pt x="30" y="17"/>
                    <a:pt x="30" y="17"/>
                  </a:cubicBezTo>
                  <a:cubicBezTo>
                    <a:pt x="30" y="15"/>
                    <a:pt x="30" y="15"/>
                    <a:pt x="30" y="15"/>
                  </a:cubicBezTo>
                  <a:cubicBezTo>
                    <a:pt x="29" y="12"/>
                    <a:pt x="29" y="12"/>
                    <a:pt x="29" y="12"/>
                  </a:cubicBezTo>
                  <a:cubicBezTo>
                    <a:pt x="31" y="10"/>
                    <a:pt x="31" y="10"/>
                    <a:pt x="31" y="10"/>
                  </a:cubicBezTo>
                  <a:cubicBezTo>
                    <a:pt x="30" y="6"/>
                    <a:pt x="30" y="6"/>
                    <a:pt x="30" y="6"/>
                  </a:cubicBezTo>
                  <a:cubicBezTo>
                    <a:pt x="28" y="3"/>
                    <a:pt x="28" y="3"/>
                    <a:pt x="28" y="3"/>
                  </a:cubicBezTo>
                  <a:cubicBezTo>
                    <a:pt x="27" y="3"/>
                    <a:pt x="27" y="3"/>
                    <a:pt x="27" y="3"/>
                  </a:cubicBezTo>
                  <a:cubicBezTo>
                    <a:pt x="20" y="2"/>
                    <a:pt x="20" y="2"/>
                    <a:pt x="20" y="2"/>
                  </a:cubicBezTo>
                  <a:cubicBezTo>
                    <a:pt x="18" y="0"/>
                    <a:pt x="18" y="0"/>
                    <a:pt x="18" y="0"/>
                  </a:cubicBezTo>
                  <a:cubicBezTo>
                    <a:pt x="18" y="1"/>
                    <a:pt x="18" y="1"/>
                    <a:pt x="18" y="1"/>
                  </a:cubicBezTo>
                  <a:cubicBezTo>
                    <a:pt x="18" y="1"/>
                    <a:pt x="15" y="1"/>
                    <a:pt x="15" y="1"/>
                  </a:cubicBezTo>
                  <a:cubicBezTo>
                    <a:pt x="14" y="1"/>
                    <a:pt x="14" y="0"/>
                    <a:pt x="14" y="0"/>
                  </a:cubicBezTo>
                  <a:cubicBezTo>
                    <a:pt x="13" y="0"/>
                    <a:pt x="13" y="0"/>
                    <a:pt x="13" y="0"/>
                  </a:cubicBezTo>
                  <a:cubicBezTo>
                    <a:pt x="5" y="3"/>
                    <a:pt x="5" y="3"/>
                    <a:pt x="5" y="3"/>
                  </a:cubicBezTo>
                  <a:cubicBezTo>
                    <a:pt x="1" y="5"/>
                    <a:pt x="1" y="5"/>
                    <a:pt x="1" y="5"/>
                  </a:cubicBezTo>
                  <a:cubicBezTo>
                    <a:pt x="0" y="4"/>
                    <a:pt x="0" y="4"/>
                    <a:pt x="0" y="4"/>
                  </a:cubicBezTo>
                  <a:cubicBezTo>
                    <a:pt x="0" y="6"/>
                    <a:pt x="0" y="6"/>
                    <a:pt x="0" y="6"/>
                  </a:cubicBezTo>
                  <a:lnTo>
                    <a:pt x="1" y="9"/>
                  </a:lnTo>
                  <a:close/>
                </a:path>
              </a:pathLst>
            </a:custGeom>
            <a:grpFill/>
            <a:ln w="9525">
              <a:solidFill>
                <a:schemeClr val="bg2">
                  <a:lumMod val="50000"/>
                </a:schemeClr>
              </a:solidFill>
              <a:round/>
              <a:headEnd/>
              <a:tailEnd/>
            </a:ln>
          </p:spPr>
          <p:txBody>
            <a:bodyPr/>
            <a:lstStyle/>
            <a:p>
              <a:endParaRPr lang="en-US" dirty="0"/>
            </a:p>
          </p:txBody>
        </p:sp>
        <p:sp>
          <p:nvSpPr>
            <p:cNvPr id="96" name="Freeform 364"/>
            <p:cNvSpPr>
              <a:spLocks/>
            </p:cNvSpPr>
            <p:nvPr/>
          </p:nvSpPr>
          <p:spPr bwMode="gray">
            <a:xfrm>
              <a:off x="4937798" y="3651711"/>
              <a:ext cx="331678" cy="234447"/>
            </a:xfrm>
            <a:custGeom>
              <a:avLst/>
              <a:gdLst>
                <a:gd name="T0" fmla="*/ 2147483647 w 300"/>
                <a:gd name="T1" fmla="*/ 2147483647 h 223"/>
                <a:gd name="T2" fmla="*/ 2147483647 w 300"/>
                <a:gd name="T3" fmla="*/ 2147483647 h 223"/>
                <a:gd name="T4" fmla="*/ 2147483647 w 300"/>
                <a:gd name="T5" fmla="*/ 2147483647 h 223"/>
                <a:gd name="T6" fmla="*/ 2147483647 w 300"/>
                <a:gd name="T7" fmla="*/ 2147483647 h 223"/>
                <a:gd name="T8" fmla="*/ 2147483647 w 300"/>
                <a:gd name="T9" fmla="*/ 2147483647 h 223"/>
                <a:gd name="T10" fmla="*/ 2147483647 w 300"/>
                <a:gd name="T11" fmla="*/ 2147483647 h 223"/>
                <a:gd name="T12" fmla="*/ 2147483647 w 300"/>
                <a:gd name="T13" fmla="*/ 2147483647 h 223"/>
                <a:gd name="T14" fmla="*/ 2147483647 w 300"/>
                <a:gd name="T15" fmla="*/ 2147483647 h 223"/>
                <a:gd name="T16" fmla="*/ 2147483647 w 300"/>
                <a:gd name="T17" fmla="*/ 2147483647 h 223"/>
                <a:gd name="T18" fmla="*/ 2147483647 w 300"/>
                <a:gd name="T19" fmla="*/ 2147483647 h 223"/>
                <a:gd name="T20" fmla="*/ 2147483647 w 300"/>
                <a:gd name="T21" fmla="*/ 2147483647 h 223"/>
                <a:gd name="T22" fmla="*/ 2147483647 w 300"/>
                <a:gd name="T23" fmla="*/ 2147483647 h 223"/>
                <a:gd name="T24" fmla="*/ 2147483647 w 300"/>
                <a:gd name="T25" fmla="*/ 2147483647 h 223"/>
                <a:gd name="T26" fmla="*/ 2147483647 w 300"/>
                <a:gd name="T27" fmla="*/ 2147483647 h 223"/>
                <a:gd name="T28" fmla="*/ 2147483647 w 300"/>
                <a:gd name="T29" fmla="*/ 2147483647 h 223"/>
                <a:gd name="T30" fmla="*/ 2147483647 w 300"/>
                <a:gd name="T31" fmla="*/ 0 h 223"/>
                <a:gd name="T32" fmla="*/ 2147483647 w 300"/>
                <a:gd name="T33" fmla="*/ 2147483647 h 223"/>
                <a:gd name="T34" fmla="*/ 2147483647 w 300"/>
                <a:gd name="T35" fmla="*/ 2147483647 h 223"/>
                <a:gd name="T36" fmla="*/ 2147483647 w 300"/>
                <a:gd name="T37" fmla="*/ 2147483647 h 223"/>
                <a:gd name="T38" fmla="*/ 2147483647 w 300"/>
                <a:gd name="T39" fmla="*/ 2147483647 h 223"/>
                <a:gd name="T40" fmla="*/ 2147483647 w 300"/>
                <a:gd name="T41" fmla="*/ 2147483647 h 223"/>
                <a:gd name="T42" fmla="*/ 2147483647 w 300"/>
                <a:gd name="T43" fmla="*/ 2147483647 h 223"/>
                <a:gd name="T44" fmla="*/ 0 w 300"/>
                <a:gd name="T45" fmla="*/ 2147483647 h 223"/>
                <a:gd name="T46" fmla="*/ 2147483647 w 300"/>
                <a:gd name="T47" fmla="*/ 2147483647 h 223"/>
                <a:gd name="T48" fmla="*/ 2147483647 w 300"/>
                <a:gd name="T49" fmla="*/ 2147483647 h 223"/>
                <a:gd name="T50" fmla="*/ 2147483647 w 300"/>
                <a:gd name="T51" fmla="*/ 2147483647 h 223"/>
                <a:gd name="T52" fmla="*/ 2147483647 w 300"/>
                <a:gd name="T53" fmla="*/ 2147483647 h 223"/>
                <a:gd name="T54" fmla="*/ 2147483647 w 300"/>
                <a:gd name="T55" fmla="*/ 2147483647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close/>
                </a:path>
              </a:pathLst>
            </a:custGeom>
            <a:grpFill/>
            <a:ln w="9525">
              <a:solidFill>
                <a:schemeClr val="bg2">
                  <a:lumMod val="50000"/>
                </a:schemeClr>
              </a:solidFill>
              <a:round/>
              <a:headEnd/>
              <a:tailEnd/>
            </a:ln>
          </p:spPr>
          <p:txBody>
            <a:bodyPr/>
            <a:lstStyle/>
            <a:p>
              <a:endParaRPr lang="en-US" dirty="0"/>
            </a:p>
          </p:txBody>
        </p:sp>
        <p:sp>
          <p:nvSpPr>
            <p:cNvPr id="97" name="Freeform 365"/>
            <p:cNvSpPr>
              <a:spLocks/>
            </p:cNvSpPr>
            <p:nvPr/>
          </p:nvSpPr>
          <p:spPr bwMode="gray">
            <a:xfrm>
              <a:off x="4937798" y="3651711"/>
              <a:ext cx="331678" cy="234447"/>
            </a:xfrm>
            <a:custGeom>
              <a:avLst/>
              <a:gdLst>
                <a:gd name="T0" fmla="*/ 2147483647 w 300"/>
                <a:gd name="T1" fmla="*/ 2147483647 h 223"/>
                <a:gd name="T2" fmla="*/ 2147483647 w 300"/>
                <a:gd name="T3" fmla="*/ 2147483647 h 223"/>
                <a:gd name="T4" fmla="*/ 2147483647 w 300"/>
                <a:gd name="T5" fmla="*/ 2147483647 h 223"/>
                <a:gd name="T6" fmla="*/ 2147483647 w 300"/>
                <a:gd name="T7" fmla="*/ 2147483647 h 223"/>
                <a:gd name="T8" fmla="*/ 2147483647 w 300"/>
                <a:gd name="T9" fmla="*/ 2147483647 h 223"/>
                <a:gd name="T10" fmla="*/ 2147483647 w 300"/>
                <a:gd name="T11" fmla="*/ 2147483647 h 223"/>
                <a:gd name="T12" fmla="*/ 2147483647 w 300"/>
                <a:gd name="T13" fmla="*/ 2147483647 h 223"/>
                <a:gd name="T14" fmla="*/ 2147483647 w 300"/>
                <a:gd name="T15" fmla="*/ 2147483647 h 223"/>
                <a:gd name="T16" fmla="*/ 2147483647 w 300"/>
                <a:gd name="T17" fmla="*/ 2147483647 h 223"/>
                <a:gd name="T18" fmla="*/ 2147483647 w 300"/>
                <a:gd name="T19" fmla="*/ 2147483647 h 223"/>
                <a:gd name="T20" fmla="*/ 2147483647 w 300"/>
                <a:gd name="T21" fmla="*/ 2147483647 h 223"/>
                <a:gd name="T22" fmla="*/ 2147483647 w 300"/>
                <a:gd name="T23" fmla="*/ 2147483647 h 223"/>
                <a:gd name="T24" fmla="*/ 2147483647 w 300"/>
                <a:gd name="T25" fmla="*/ 2147483647 h 223"/>
                <a:gd name="T26" fmla="*/ 2147483647 w 300"/>
                <a:gd name="T27" fmla="*/ 2147483647 h 223"/>
                <a:gd name="T28" fmla="*/ 2147483647 w 300"/>
                <a:gd name="T29" fmla="*/ 2147483647 h 223"/>
                <a:gd name="T30" fmla="*/ 2147483647 w 300"/>
                <a:gd name="T31" fmla="*/ 0 h 223"/>
                <a:gd name="T32" fmla="*/ 2147483647 w 300"/>
                <a:gd name="T33" fmla="*/ 2147483647 h 223"/>
                <a:gd name="T34" fmla="*/ 2147483647 w 300"/>
                <a:gd name="T35" fmla="*/ 2147483647 h 223"/>
                <a:gd name="T36" fmla="*/ 2147483647 w 300"/>
                <a:gd name="T37" fmla="*/ 2147483647 h 223"/>
                <a:gd name="T38" fmla="*/ 2147483647 w 300"/>
                <a:gd name="T39" fmla="*/ 2147483647 h 223"/>
                <a:gd name="T40" fmla="*/ 2147483647 w 300"/>
                <a:gd name="T41" fmla="*/ 2147483647 h 223"/>
                <a:gd name="T42" fmla="*/ 2147483647 w 300"/>
                <a:gd name="T43" fmla="*/ 2147483647 h 223"/>
                <a:gd name="T44" fmla="*/ 0 w 300"/>
                <a:gd name="T45" fmla="*/ 2147483647 h 223"/>
                <a:gd name="T46" fmla="*/ 2147483647 w 300"/>
                <a:gd name="T47" fmla="*/ 2147483647 h 223"/>
                <a:gd name="T48" fmla="*/ 2147483647 w 300"/>
                <a:gd name="T49" fmla="*/ 2147483647 h 223"/>
                <a:gd name="T50" fmla="*/ 2147483647 w 300"/>
                <a:gd name="T51" fmla="*/ 2147483647 h 223"/>
                <a:gd name="T52" fmla="*/ 2147483647 w 300"/>
                <a:gd name="T53" fmla="*/ 2147483647 h 223"/>
                <a:gd name="T54" fmla="*/ 2147483647 w 300"/>
                <a:gd name="T55" fmla="*/ 2147483647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path>
              </a:pathLst>
            </a:custGeom>
            <a:grpFill/>
            <a:ln w="9525">
              <a:solidFill>
                <a:schemeClr val="bg2">
                  <a:lumMod val="50000"/>
                </a:schemeClr>
              </a:solidFill>
              <a:round/>
              <a:headEnd/>
              <a:tailEnd/>
            </a:ln>
          </p:spPr>
          <p:txBody>
            <a:bodyPr/>
            <a:lstStyle/>
            <a:p>
              <a:endParaRPr lang="en-US" dirty="0"/>
            </a:p>
          </p:txBody>
        </p:sp>
        <p:sp>
          <p:nvSpPr>
            <p:cNvPr id="98" name="Freeform 366"/>
            <p:cNvSpPr>
              <a:spLocks/>
            </p:cNvSpPr>
            <p:nvPr/>
          </p:nvSpPr>
          <p:spPr bwMode="gray">
            <a:xfrm>
              <a:off x="4681015" y="3619681"/>
              <a:ext cx="343714" cy="310035"/>
            </a:xfrm>
            <a:custGeom>
              <a:avLst/>
              <a:gdLst>
                <a:gd name="T0" fmla="*/ 2147483647 w 52"/>
                <a:gd name="T1" fmla="*/ 2147483647 h 49"/>
                <a:gd name="T2" fmla="*/ 2147483647 w 52"/>
                <a:gd name="T3" fmla="*/ 2147483647 h 49"/>
                <a:gd name="T4" fmla="*/ 2147483647 w 52"/>
                <a:gd name="T5" fmla="*/ 2147483647 h 49"/>
                <a:gd name="T6" fmla="*/ 2147483647 w 52"/>
                <a:gd name="T7" fmla="*/ 2147483647 h 49"/>
                <a:gd name="T8" fmla="*/ 2147483647 w 52"/>
                <a:gd name="T9" fmla="*/ 2147483647 h 49"/>
                <a:gd name="T10" fmla="*/ 2147483647 w 52"/>
                <a:gd name="T11" fmla="*/ 2147483647 h 49"/>
                <a:gd name="T12" fmla="*/ 2147483647 w 52"/>
                <a:gd name="T13" fmla="*/ 2147483647 h 49"/>
                <a:gd name="T14" fmla="*/ 2147483647 w 52"/>
                <a:gd name="T15" fmla="*/ 2147483647 h 49"/>
                <a:gd name="T16" fmla="*/ 2147483647 w 52"/>
                <a:gd name="T17" fmla="*/ 2147483647 h 49"/>
                <a:gd name="T18" fmla="*/ 2147483647 w 52"/>
                <a:gd name="T19" fmla="*/ 2147483647 h 49"/>
                <a:gd name="T20" fmla="*/ 2147483647 w 52"/>
                <a:gd name="T21" fmla="*/ 2147483647 h 49"/>
                <a:gd name="T22" fmla="*/ 2147483647 w 52"/>
                <a:gd name="T23" fmla="*/ 0 h 49"/>
                <a:gd name="T24" fmla="*/ 2147483647 w 52"/>
                <a:gd name="T25" fmla="*/ 0 h 49"/>
                <a:gd name="T26" fmla="*/ 2147483647 w 52"/>
                <a:gd name="T27" fmla="*/ 2147483647 h 49"/>
                <a:gd name="T28" fmla="*/ 2147483647 w 52"/>
                <a:gd name="T29" fmla="*/ 2147483647 h 49"/>
                <a:gd name="T30" fmla="*/ 2147483647 w 52"/>
                <a:gd name="T31" fmla="*/ 2147483647 h 49"/>
                <a:gd name="T32" fmla="*/ 2147483647 w 52"/>
                <a:gd name="T33" fmla="*/ 2147483647 h 49"/>
                <a:gd name="T34" fmla="*/ 2147483647 w 52"/>
                <a:gd name="T35" fmla="*/ 2147483647 h 49"/>
                <a:gd name="T36" fmla="*/ 2147483647 w 52"/>
                <a:gd name="T37" fmla="*/ 2147483647 h 49"/>
                <a:gd name="T38" fmla="*/ 0 w 52"/>
                <a:gd name="T39" fmla="*/ 2147483647 h 49"/>
                <a:gd name="T40" fmla="*/ 0 w 52"/>
                <a:gd name="T41" fmla="*/ 2147483647 h 49"/>
                <a:gd name="T42" fmla="*/ 2147483647 w 52"/>
                <a:gd name="T43" fmla="*/ 2147483647 h 49"/>
                <a:gd name="T44" fmla="*/ 2147483647 w 52"/>
                <a:gd name="T45" fmla="*/ 2147483647 h 49"/>
                <a:gd name="T46" fmla="*/ 2147483647 w 52"/>
                <a:gd name="T47" fmla="*/ 2147483647 h 49"/>
                <a:gd name="T48" fmla="*/ 2147483647 w 52"/>
                <a:gd name="T49" fmla="*/ 2147483647 h 49"/>
                <a:gd name="T50" fmla="*/ 2147483647 w 52"/>
                <a:gd name="T51" fmla="*/ 2147483647 h 49"/>
                <a:gd name="T52" fmla="*/ 2147483647 w 52"/>
                <a:gd name="T53" fmla="*/ 2147483647 h 49"/>
                <a:gd name="T54" fmla="*/ 2147483647 w 52"/>
                <a:gd name="T55" fmla="*/ 2147483647 h 49"/>
                <a:gd name="T56" fmla="*/ 2147483647 w 52"/>
                <a:gd name="T57" fmla="*/ 2147483647 h 49"/>
                <a:gd name="T58" fmla="*/ 2147483647 w 52"/>
                <a:gd name="T59" fmla="*/ 2147483647 h 49"/>
                <a:gd name="T60" fmla="*/ 2147483647 w 52"/>
                <a:gd name="T61" fmla="*/ 2147483647 h 49"/>
                <a:gd name="T62" fmla="*/ 2147483647 w 52"/>
                <a:gd name="T63" fmla="*/ 2147483647 h 49"/>
                <a:gd name="T64" fmla="*/ 2147483647 w 52"/>
                <a:gd name="T65" fmla="*/ 2147483647 h 49"/>
                <a:gd name="T66" fmla="*/ 2147483647 w 52"/>
                <a:gd name="T67" fmla="*/ 2147483647 h 49"/>
                <a:gd name="T68" fmla="*/ 2147483647 w 52"/>
                <a:gd name="T69" fmla="*/ 2147483647 h 49"/>
                <a:gd name="T70" fmla="*/ 2147483647 w 52"/>
                <a:gd name="T71" fmla="*/ 2147483647 h 49"/>
                <a:gd name="T72" fmla="*/ 2147483647 w 52"/>
                <a:gd name="T73" fmla="*/ 2147483647 h 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2" h="49">
                  <a:moveTo>
                    <a:pt x="24" y="44"/>
                  </a:moveTo>
                  <a:cubicBezTo>
                    <a:pt x="27" y="40"/>
                    <a:pt x="27" y="40"/>
                    <a:pt x="27" y="40"/>
                  </a:cubicBezTo>
                  <a:cubicBezTo>
                    <a:pt x="32" y="36"/>
                    <a:pt x="32" y="36"/>
                    <a:pt x="32" y="36"/>
                  </a:cubicBezTo>
                  <a:cubicBezTo>
                    <a:pt x="38" y="33"/>
                    <a:pt x="38" y="33"/>
                    <a:pt x="38" y="33"/>
                  </a:cubicBezTo>
                  <a:cubicBezTo>
                    <a:pt x="39" y="33"/>
                    <a:pt x="39" y="33"/>
                    <a:pt x="39" y="33"/>
                  </a:cubicBezTo>
                  <a:cubicBezTo>
                    <a:pt x="43" y="33"/>
                    <a:pt x="43" y="33"/>
                    <a:pt x="43" y="33"/>
                  </a:cubicBezTo>
                  <a:cubicBezTo>
                    <a:pt x="50" y="32"/>
                    <a:pt x="50" y="32"/>
                    <a:pt x="50" y="32"/>
                  </a:cubicBezTo>
                  <a:cubicBezTo>
                    <a:pt x="51" y="29"/>
                    <a:pt x="51" y="29"/>
                    <a:pt x="51" y="29"/>
                  </a:cubicBezTo>
                  <a:cubicBezTo>
                    <a:pt x="52" y="20"/>
                    <a:pt x="52" y="20"/>
                    <a:pt x="52" y="20"/>
                  </a:cubicBezTo>
                  <a:cubicBezTo>
                    <a:pt x="49" y="20"/>
                    <a:pt x="49" y="20"/>
                    <a:pt x="49" y="20"/>
                  </a:cubicBezTo>
                  <a:cubicBezTo>
                    <a:pt x="47" y="18"/>
                    <a:pt x="47" y="18"/>
                    <a:pt x="47" y="18"/>
                  </a:cubicBezTo>
                  <a:cubicBezTo>
                    <a:pt x="21" y="0"/>
                    <a:pt x="21" y="0"/>
                    <a:pt x="21" y="0"/>
                  </a:cubicBezTo>
                  <a:cubicBezTo>
                    <a:pt x="18" y="0"/>
                    <a:pt x="18" y="0"/>
                    <a:pt x="18" y="0"/>
                  </a:cubicBezTo>
                  <a:cubicBezTo>
                    <a:pt x="21" y="29"/>
                    <a:pt x="21" y="29"/>
                    <a:pt x="21" y="29"/>
                  </a:cubicBezTo>
                  <a:cubicBezTo>
                    <a:pt x="23" y="30"/>
                    <a:pt x="23" y="30"/>
                    <a:pt x="23" y="30"/>
                  </a:cubicBezTo>
                  <a:cubicBezTo>
                    <a:pt x="20" y="32"/>
                    <a:pt x="20" y="32"/>
                    <a:pt x="20" y="32"/>
                  </a:cubicBezTo>
                  <a:cubicBezTo>
                    <a:pt x="6" y="32"/>
                    <a:pt x="6" y="32"/>
                    <a:pt x="6" y="32"/>
                  </a:cubicBezTo>
                  <a:cubicBezTo>
                    <a:pt x="5" y="33"/>
                    <a:pt x="5" y="33"/>
                    <a:pt x="5" y="33"/>
                  </a:cubicBezTo>
                  <a:cubicBezTo>
                    <a:pt x="3" y="31"/>
                    <a:pt x="3" y="31"/>
                    <a:pt x="3" y="31"/>
                  </a:cubicBezTo>
                  <a:cubicBezTo>
                    <a:pt x="0" y="34"/>
                    <a:pt x="0" y="34"/>
                    <a:pt x="0" y="34"/>
                  </a:cubicBezTo>
                  <a:cubicBezTo>
                    <a:pt x="0" y="35"/>
                    <a:pt x="0" y="35"/>
                    <a:pt x="0" y="35"/>
                  </a:cubicBezTo>
                  <a:cubicBezTo>
                    <a:pt x="1" y="38"/>
                    <a:pt x="1" y="38"/>
                    <a:pt x="1" y="38"/>
                  </a:cubicBezTo>
                  <a:cubicBezTo>
                    <a:pt x="3" y="42"/>
                    <a:pt x="3" y="42"/>
                    <a:pt x="3" y="42"/>
                  </a:cubicBezTo>
                  <a:cubicBezTo>
                    <a:pt x="2" y="42"/>
                    <a:pt x="2" y="42"/>
                    <a:pt x="2" y="42"/>
                  </a:cubicBezTo>
                  <a:cubicBezTo>
                    <a:pt x="2" y="43"/>
                    <a:pt x="2" y="43"/>
                    <a:pt x="2" y="43"/>
                  </a:cubicBezTo>
                  <a:cubicBezTo>
                    <a:pt x="6" y="43"/>
                    <a:pt x="6" y="43"/>
                    <a:pt x="6" y="43"/>
                  </a:cubicBezTo>
                  <a:cubicBezTo>
                    <a:pt x="6" y="43"/>
                    <a:pt x="10" y="42"/>
                    <a:pt x="10" y="42"/>
                  </a:cubicBezTo>
                  <a:cubicBezTo>
                    <a:pt x="11" y="42"/>
                    <a:pt x="11" y="44"/>
                    <a:pt x="11" y="44"/>
                  </a:cubicBezTo>
                  <a:cubicBezTo>
                    <a:pt x="13" y="49"/>
                    <a:pt x="13" y="49"/>
                    <a:pt x="13" y="49"/>
                  </a:cubicBezTo>
                  <a:cubicBezTo>
                    <a:pt x="15" y="48"/>
                    <a:pt x="15" y="48"/>
                    <a:pt x="15" y="48"/>
                  </a:cubicBezTo>
                  <a:cubicBezTo>
                    <a:pt x="17" y="48"/>
                    <a:pt x="17" y="48"/>
                    <a:pt x="17" y="48"/>
                  </a:cubicBezTo>
                  <a:cubicBezTo>
                    <a:pt x="18" y="48"/>
                    <a:pt x="18" y="48"/>
                    <a:pt x="18" y="48"/>
                  </a:cubicBezTo>
                  <a:cubicBezTo>
                    <a:pt x="20" y="49"/>
                    <a:pt x="20" y="49"/>
                    <a:pt x="20" y="49"/>
                  </a:cubicBezTo>
                  <a:cubicBezTo>
                    <a:pt x="22" y="49"/>
                    <a:pt x="22" y="49"/>
                    <a:pt x="22" y="49"/>
                  </a:cubicBezTo>
                  <a:cubicBezTo>
                    <a:pt x="23" y="49"/>
                    <a:pt x="23" y="49"/>
                    <a:pt x="23" y="49"/>
                  </a:cubicBezTo>
                  <a:cubicBezTo>
                    <a:pt x="23" y="47"/>
                    <a:pt x="23" y="47"/>
                    <a:pt x="23" y="47"/>
                  </a:cubicBezTo>
                  <a:lnTo>
                    <a:pt x="24" y="44"/>
                  </a:lnTo>
                  <a:close/>
                </a:path>
              </a:pathLst>
            </a:custGeom>
            <a:grpFill/>
            <a:ln w="9525">
              <a:solidFill>
                <a:schemeClr val="bg2">
                  <a:lumMod val="50000"/>
                </a:schemeClr>
              </a:solidFill>
              <a:round/>
              <a:headEnd/>
              <a:tailEnd/>
            </a:ln>
          </p:spPr>
          <p:txBody>
            <a:bodyPr/>
            <a:lstStyle/>
            <a:p>
              <a:endParaRPr lang="en-US" dirty="0"/>
            </a:p>
          </p:txBody>
        </p:sp>
        <p:sp>
          <p:nvSpPr>
            <p:cNvPr id="99" name="Freeform 367"/>
            <p:cNvSpPr>
              <a:spLocks/>
            </p:cNvSpPr>
            <p:nvPr/>
          </p:nvSpPr>
          <p:spPr bwMode="gray">
            <a:xfrm>
              <a:off x="5799090" y="3905375"/>
              <a:ext cx="197937" cy="256226"/>
            </a:xfrm>
            <a:custGeom>
              <a:avLst/>
              <a:gdLst>
                <a:gd name="T0" fmla="*/ 2147483647 w 180"/>
                <a:gd name="T1" fmla="*/ 2147483647 h 246"/>
                <a:gd name="T2" fmla="*/ 2147483647 w 180"/>
                <a:gd name="T3" fmla="*/ 2147483647 h 246"/>
                <a:gd name="T4" fmla="*/ 2147483647 w 180"/>
                <a:gd name="T5" fmla="*/ 2147483647 h 246"/>
                <a:gd name="T6" fmla="*/ 2147483647 w 180"/>
                <a:gd name="T7" fmla="*/ 2147483647 h 246"/>
                <a:gd name="T8" fmla="*/ 2147483647 w 180"/>
                <a:gd name="T9" fmla="*/ 2147483647 h 246"/>
                <a:gd name="T10" fmla="*/ 2147483647 w 180"/>
                <a:gd name="T11" fmla="*/ 2147483647 h 246"/>
                <a:gd name="T12" fmla="*/ 2147483647 w 180"/>
                <a:gd name="T13" fmla="*/ 2147483647 h 246"/>
                <a:gd name="T14" fmla="*/ 2147483647 w 180"/>
                <a:gd name="T15" fmla="*/ 2147483647 h 246"/>
                <a:gd name="T16" fmla="*/ 2147483647 w 180"/>
                <a:gd name="T17" fmla="*/ 2147483647 h 246"/>
                <a:gd name="T18" fmla="*/ 2147483647 w 180"/>
                <a:gd name="T19" fmla="*/ 2147483647 h 246"/>
                <a:gd name="T20" fmla="*/ 2147483647 w 180"/>
                <a:gd name="T21" fmla="*/ 2147483647 h 246"/>
                <a:gd name="T22" fmla="*/ 2147483647 w 180"/>
                <a:gd name="T23" fmla="*/ 2147483647 h 246"/>
                <a:gd name="T24" fmla="*/ 2147483647 w 180"/>
                <a:gd name="T25" fmla="*/ 2147483647 h 246"/>
                <a:gd name="T26" fmla="*/ 0 w 180"/>
                <a:gd name="T27" fmla="*/ 2147483647 h 246"/>
                <a:gd name="T28" fmla="*/ 0 w 180"/>
                <a:gd name="T29" fmla="*/ 2147483647 h 246"/>
                <a:gd name="T30" fmla="*/ 2147483647 w 180"/>
                <a:gd name="T31" fmla="*/ 2147483647 h 246"/>
                <a:gd name="T32" fmla="*/ 2147483647 w 180"/>
                <a:gd name="T33" fmla="*/ 2147483647 h 246"/>
                <a:gd name="T34" fmla="*/ 2147483647 w 180"/>
                <a:gd name="T35" fmla="*/ 2147483647 h 246"/>
                <a:gd name="T36" fmla="*/ 2147483647 w 180"/>
                <a:gd name="T37" fmla="*/ 2147483647 h 246"/>
                <a:gd name="T38" fmla="*/ 2147483647 w 180"/>
                <a:gd name="T39" fmla="*/ 2147483647 h 246"/>
                <a:gd name="T40" fmla="*/ 2147483647 w 180"/>
                <a:gd name="T41" fmla="*/ 0 h 246"/>
                <a:gd name="T42" fmla="*/ 2147483647 w 180"/>
                <a:gd name="T43" fmla="*/ 2147483647 h 24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0" h="246">
                  <a:moveTo>
                    <a:pt x="72" y="18"/>
                  </a:moveTo>
                  <a:lnTo>
                    <a:pt x="48" y="12"/>
                  </a:lnTo>
                  <a:lnTo>
                    <a:pt x="48" y="6"/>
                  </a:lnTo>
                  <a:lnTo>
                    <a:pt x="30" y="18"/>
                  </a:lnTo>
                  <a:lnTo>
                    <a:pt x="42" y="36"/>
                  </a:lnTo>
                  <a:lnTo>
                    <a:pt x="84" y="60"/>
                  </a:lnTo>
                  <a:lnTo>
                    <a:pt x="126" y="66"/>
                  </a:lnTo>
                  <a:lnTo>
                    <a:pt x="78" y="120"/>
                  </a:lnTo>
                  <a:lnTo>
                    <a:pt x="36" y="132"/>
                  </a:lnTo>
                  <a:lnTo>
                    <a:pt x="18" y="144"/>
                  </a:lnTo>
                  <a:lnTo>
                    <a:pt x="24" y="150"/>
                  </a:lnTo>
                  <a:lnTo>
                    <a:pt x="18" y="144"/>
                  </a:lnTo>
                  <a:lnTo>
                    <a:pt x="18" y="150"/>
                  </a:lnTo>
                  <a:lnTo>
                    <a:pt x="0" y="168"/>
                  </a:lnTo>
                  <a:lnTo>
                    <a:pt x="0" y="228"/>
                  </a:lnTo>
                  <a:lnTo>
                    <a:pt x="12" y="246"/>
                  </a:lnTo>
                  <a:lnTo>
                    <a:pt x="42" y="204"/>
                  </a:lnTo>
                  <a:lnTo>
                    <a:pt x="90" y="180"/>
                  </a:lnTo>
                  <a:lnTo>
                    <a:pt x="132" y="132"/>
                  </a:lnTo>
                  <a:lnTo>
                    <a:pt x="168" y="48"/>
                  </a:lnTo>
                  <a:lnTo>
                    <a:pt x="180" y="0"/>
                  </a:lnTo>
                  <a:lnTo>
                    <a:pt x="72" y="18"/>
                  </a:lnTo>
                  <a:close/>
                </a:path>
              </a:pathLst>
            </a:custGeom>
            <a:grpFill/>
            <a:ln w="9525">
              <a:solidFill>
                <a:schemeClr val="bg2">
                  <a:lumMod val="50000"/>
                </a:schemeClr>
              </a:solidFill>
              <a:round/>
              <a:headEnd/>
              <a:tailEnd/>
            </a:ln>
          </p:spPr>
          <p:txBody>
            <a:bodyPr/>
            <a:lstStyle/>
            <a:p>
              <a:endParaRPr lang="en-US" dirty="0"/>
            </a:p>
          </p:txBody>
        </p:sp>
        <p:sp>
          <p:nvSpPr>
            <p:cNvPr id="100" name="Freeform 368"/>
            <p:cNvSpPr>
              <a:spLocks/>
            </p:cNvSpPr>
            <p:nvPr/>
          </p:nvSpPr>
          <p:spPr bwMode="gray">
            <a:xfrm>
              <a:off x="5229354" y="3886157"/>
              <a:ext cx="26748" cy="99929"/>
            </a:xfrm>
            <a:custGeom>
              <a:avLst/>
              <a:gdLst>
                <a:gd name="T0" fmla="*/ 2147483647 w 24"/>
                <a:gd name="T1" fmla="*/ 0 h 96"/>
                <a:gd name="T2" fmla="*/ 2147483647 w 24"/>
                <a:gd name="T3" fmla="*/ 0 h 96"/>
                <a:gd name="T4" fmla="*/ 2147483647 w 24"/>
                <a:gd name="T5" fmla="*/ 2147483647 h 96"/>
                <a:gd name="T6" fmla="*/ 0 w 24"/>
                <a:gd name="T7" fmla="*/ 2147483647 h 96"/>
                <a:gd name="T8" fmla="*/ 0 w 24"/>
                <a:gd name="T9" fmla="*/ 2147483647 h 96"/>
                <a:gd name="T10" fmla="*/ 2147483647 w 24"/>
                <a:gd name="T11" fmla="*/ 2147483647 h 96"/>
                <a:gd name="T12" fmla="*/ 2147483647 w 24"/>
                <a:gd name="T13" fmla="*/ 2147483647 h 96"/>
                <a:gd name="T14" fmla="*/ 2147483647 w 24"/>
                <a:gd name="T15" fmla="*/ 0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96">
                  <a:moveTo>
                    <a:pt x="12" y="0"/>
                  </a:moveTo>
                  <a:lnTo>
                    <a:pt x="12" y="0"/>
                  </a:lnTo>
                  <a:lnTo>
                    <a:pt x="24" y="42"/>
                  </a:lnTo>
                  <a:lnTo>
                    <a:pt x="0" y="48"/>
                  </a:lnTo>
                  <a:lnTo>
                    <a:pt x="0" y="66"/>
                  </a:lnTo>
                  <a:lnTo>
                    <a:pt x="18" y="96"/>
                  </a:lnTo>
                  <a:lnTo>
                    <a:pt x="24" y="96"/>
                  </a:lnTo>
                  <a:lnTo>
                    <a:pt x="12" y="0"/>
                  </a:lnTo>
                  <a:close/>
                </a:path>
              </a:pathLst>
            </a:custGeom>
            <a:grpFill/>
            <a:ln w="9525">
              <a:solidFill>
                <a:schemeClr val="bg2">
                  <a:lumMod val="50000"/>
                </a:schemeClr>
              </a:solidFill>
              <a:round/>
              <a:headEnd/>
              <a:tailEnd/>
            </a:ln>
          </p:spPr>
          <p:txBody>
            <a:bodyPr/>
            <a:lstStyle/>
            <a:p>
              <a:endParaRPr lang="en-US" dirty="0"/>
            </a:p>
          </p:txBody>
        </p:sp>
        <p:sp>
          <p:nvSpPr>
            <p:cNvPr id="101" name="Freeform 369"/>
            <p:cNvSpPr>
              <a:spLocks/>
            </p:cNvSpPr>
            <p:nvPr/>
          </p:nvSpPr>
          <p:spPr bwMode="gray">
            <a:xfrm>
              <a:off x="5229354" y="3886157"/>
              <a:ext cx="26748" cy="99929"/>
            </a:xfrm>
            <a:custGeom>
              <a:avLst/>
              <a:gdLst>
                <a:gd name="T0" fmla="*/ 2147483647 w 24"/>
                <a:gd name="T1" fmla="*/ 0 h 96"/>
                <a:gd name="T2" fmla="*/ 2147483647 w 24"/>
                <a:gd name="T3" fmla="*/ 0 h 96"/>
                <a:gd name="T4" fmla="*/ 2147483647 w 24"/>
                <a:gd name="T5" fmla="*/ 2147483647 h 96"/>
                <a:gd name="T6" fmla="*/ 0 w 24"/>
                <a:gd name="T7" fmla="*/ 2147483647 h 96"/>
                <a:gd name="T8" fmla="*/ 0 w 24"/>
                <a:gd name="T9" fmla="*/ 2147483647 h 96"/>
                <a:gd name="T10" fmla="*/ 2147483647 w 24"/>
                <a:gd name="T11" fmla="*/ 2147483647 h 96"/>
                <a:gd name="T12" fmla="*/ 2147483647 w 24"/>
                <a:gd name="T13" fmla="*/ 2147483647 h 9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96">
                  <a:moveTo>
                    <a:pt x="12" y="0"/>
                  </a:moveTo>
                  <a:lnTo>
                    <a:pt x="12" y="0"/>
                  </a:lnTo>
                  <a:lnTo>
                    <a:pt x="24" y="42"/>
                  </a:lnTo>
                  <a:lnTo>
                    <a:pt x="0" y="48"/>
                  </a:lnTo>
                  <a:lnTo>
                    <a:pt x="0" y="66"/>
                  </a:lnTo>
                  <a:lnTo>
                    <a:pt x="18" y="96"/>
                  </a:lnTo>
                  <a:lnTo>
                    <a:pt x="24" y="96"/>
                  </a:lnTo>
                </a:path>
              </a:pathLst>
            </a:custGeom>
            <a:grpFill/>
            <a:ln w="9525">
              <a:solidFill>
                <a:schemeClr val="bg2">
                  <a:lumMod val="50000"/>
                </a:schemeClr>
              </a:solidFill>
              <a:round/>
              <a:headEnd/>
              <a:tailEnd/>
            </a:ln>
          </p:spPr>
          <p:txBody>
            <a:bodyPr/>
            <a:lstStyle/>
            <a:p>
              <a:endParaRPr lang="en-US" dirty="0"/>
            </a:p>
          </p:txBody>
        </p:sp>
        <p:sp>
          <p:nvSpPr>
            <p:cNvPr id="102" name="Freeform 370"/>
            <p:cNvSpPr>
              <a:spLocks/>
            </p:cNvSpPr>
            <p:nvPr/>
          </p:nvSpPr>
          <p:spPr bwMode="gray">
            <a:xfrm>
              <a:off x="5215979" y="3659397"/>
              <a:ext cx="217997" cy="326688"/>
            </a:xfrm>
            <a:custGeom>
              <a:avLst/>
              <a:gdLst>
                <a:gd name="T0" fmla="*/ 2147483647 w 198"/>
                <a:gd name="T1" fmla="*/ 2147483647 h 313"/>
                <a:gd name="T2" fmla="*/ 2147483647 w 198"/>
                <a:gd name="T3" fmla="*/ 2147483647 h 313"/>
                <a:gd name="T4" fmla="*/ 2147483647 w 198"/>
                <a:gd name="T5" fmla="*/ 2147483647 h 313"/>
                <a:gd name="T6" fmla="*/ 2147483647 w 198"/>
                <a:gd name="T7" fmla="*/ 2147483647 h 313"/>
                <a:gd name="T8" fmla="*/ 2147483647 w 198"/>
                <a:gd name="T9" fmla="*/ 2147483647 h 313"/>
                <a:gd name="T10" fmla="*/ 2147483647 w 198"/>
                <a:gd name="T11" fmla="*/ 2147483647 h 313"/>
                <a:gd name="T12" fmla="*/ 2147483647 w 198"/>
                <a:gd name="T13" fmla="*/ 2147483647 h 313"/>
                <a:gd name="T14" fmla="*/ 2147483647 w 198"/>
                <a:gd name="T15" fmla="*/ 2147483647 h 313"/>
                <a:gd name="T16" fmla="*/ 2147483647 w 198"/>
                <a:gd name="T17" fmla="*/ 2147483647 h 313"/>
                <a:gd name="T18" fmla="*/ 2147483647 w 198"/>
                <a:gd name="T19" fmla="*/ 2147483647 h 313"/>
                <a:gd name="T20" fmla="*/ 2147483647 w 198"/>
                <a:gd name="T21" fmla="*/ 2147483647 h 313"/>
                <a:gd name="T22" fmla="*/ 2147483647 w 198"/>
                <a:gd name="T23" fmla="*/ 2147483647 h 313"/>
                <a:gd name="T24" fmla="*/ 2147483647 w 198"/>
                <a:gd name="T25" fmla="*/ 0 h 313"/>
                <a:gd name="T26" fmla="*/ 2147483647 w 198"/>
                <a:gd name="T27" fmla="*/ 2147483647 h 313"/>
                <a:gd name="T28" fmla="*/ 2147483647 w 198"/>
                <a:gd name="T29" fmla="*/ 2147483647 h 313"/>
                <a:gd name="T30" fmla="*/ 2147483647 w 198"/>
                <a:gd name="T31" fmla="*/ 2147483647 h 313"/>
                <a:gd name="T32" fmla="*/ 2147483647 w 198"/>
                <a:gd name="T33" fmla="*/ 2147483647 h 313"/>
                <a:gd name="T34" fmla="*/ 2147483647 w 198"/>
                <a:gd name="T35" fmla="*/ 2147483647 h 313"/>
                <a:gd name="T36" fmla="*/ 2147483647 w 198"/>
                <a:gd name="T37" fmla="*/ 2147483647 h 313"/>
                <a:gd name="T38" fmla="*/ 2147483647 w 198"/>
                <a:gd name="T39" fmla="*/ 2147483647 h 313"/>
                <a:gd name="T40" fmla="*/ 2147483647 w 198"/>
                <a:gd name="T41" fmla="*/ 2147483647 h 313"/>
                <a:gd name="T42" fmla="*/ 0 w 198"/>
                <a:gd name="T43" fmla="*/ 2147483647 h 313"/>
                <a:gd name="T44" fmla="*/ 2147483647 w 198"/>
                <a:gd name="T45" fmla="*/ 2147483647 h 313"/>
                <a:gd name="T46" fmla="*/ 2147483647 w 198"/>
                <a:gd name="T47" fmla="*/ 2147483647 h 313"/>
                <a:gd name="T48" fmla="*/ 2147483647 w 198"/>
                <a:gd name="T49" fmla="*/ 2147483647 h 313"/>
                <a:gd name="T50" fmla="*/ 2147483647 w 198"/>
                <a:gd name="T51" fmla="*/ 2147483647 h 31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lnTo>
                    <a:pt x="36" y="313"/>
                  </a:lnTo>
                  <a:close/>
                </a:path>
              </a:pathLst>
            </a:custGeom>
            <a:grpFill/>
            <a:ln w="9525">
              <a:solidFill>
                <a:schemeClr val="bg2">
                  <a:lumMod val="50000"/>
                </a:schemeClr>
              </a:solidFill>
              <a:round/>
              <a:headEnd/>
              <a:tailEnd/>
            </a:ln>
          </p:spPr>
          <p:txBody>
            <a:bodyPr/>
            <a:lstStyle/>
            <a:p>
              <a:endParaRPr lang="en-US" dirty="0"/>
            </a:p>
          </p:txBody>
        </p:sp>
        <p:sp>
          <p:nvSpPr>
            <p:cNvPr id="103" name="Freeform 371"/>
            <p:cNvSpPr>
              <a:spLocks/>
            </p:cNvSpPr>
            <p:nvPr/>
          </p:nvSpPr>
          <p:spPr bwMode="gray">
            <a:xfrm>
              <a:off x="5215979" y="3659397"/>
              <a:ext cx="217997" cy="326688"/>
            </a:xfrm>
            <a:custGeom>
              <a:avLst/>
              <a:gdLst>
                <a:gd name="T0" fmla="*/ 2147483647 w 198"/>
                <a:gd name="T1" fmla="*/ 2147483647 h 313"/>
                <a:gd name="T2" fmla="*/ 2147483647 w 198"/>
                <a:gd name="T3" fmla="*/ 2147483647 h 313"/>
                <a:gd name="T4" fmla="*/ 2147483647 w 198"/>
                <a:gd name="T5" fmla="*/ 2147483647 h 313"/>
                <a:gd name="T6" fmla="*/ 2147483647 w 198"/>
                <a:gd name="T7" fmla="*/ 2147483647 h 313"/>
                <a:gd name="T8" fmla="*/ 2147483647 w 198"/>
                <a:gd name="T9" fmla="*/ 2147483647 h 313"/>
                <a:gd name="T10" fmla="*/ 2147483647 w 198"/>
                <a:gd name="T11" fmla="*/ 2147483647 h 313"/>
                <a:gd name="T12" fmla="*/ 2147483647 w 198"/>
                <a:gd name="T13" fmla="*/ 2147483647 h 313"/>
                <a:gd name="T14" fmla="*/ 2147483647 w 198"/>
                <a:gd name="T15" fmla="*/ 2147483647 h 313"/>
                <a:gd name="T16" fmla="*/ 2147483647 w 198"/>
                <a:gd name="T17" fmla="*/ 2147483647 h 313"/>
                <a:gd name="T18" fmla="*/ 2147483647 w 198"/>
                <a:gd name="T19" fmla="*/ 2147483647 h 313"/>
                <a:gd name="T20" fmla="*/ 2147483647 w 198"/>
                <a:gd name="T21" fmla="*/ 2147483647 h 313"/>
                <a:gd name="T22" fmla="*/ 2147483647 w 198"/>
                <a:gd name="T23" fmla="*/ 2147483647 h 313"/>
                <a:gd name="T24" fmla="*/ 2147483647 w 198"/>
                <a:gd name="T25" fmla="*/ 0 h 313"/>
                <a:gd name="T26" fmla="*/ 2147483647 w 198"/>
                <a:gd name="T27" fmla="*/ 2147483647 h 313"/>
                <a:gd name="T28" fmla="*/ 2147483647 w 198"/>
                <a:gd name="T29" fmla="*/ 2147483647 h 313"/>
                <a:gd name="T30" fmla="*/ 2147483647 w 198"/>
                <a:gd name="T31" fmla="*/ 2147483647 h 313"/>
                <a:gd name="T32" fmla="*/ 2147483647 w 198"/>
                <a:gd name="T33" fmla="*/ 2147483647 h 313"/>
                <a:gd name="T34" fmla="*/ 2147483647 w 198"/>
                <a:gd name="T35" fmla="*/ 2147483647 h 313"/>
                <a:gd name="T36" fmla="*/ 2147483647 w 198"/>
                <a:gd name="T37" fmla="*/ 2147483647 h 313"/>
                <a:gd name="T38" fmla="*/ 2147483647 w 198"/>
                <a:gd name="T39" fmla="*/ 2147483647 h 313"/>
                <a:gd name="T40" fmla="*/ 2147483647 w 198"/>
                <a:gd name="T41" fmla="*/ 2147483647 h 313"/>
                <a:gd name="T42" fmla="*/ 0 w 198"/>
                <a:gd name="T43" fmla="*/ 2147483647 h 313"/>
                <a:gd name="T44" fmla="*/ 2147483647 w 198"/>
                <a:gd name="T45" fmla="*/ 2147483647 h 313"/>
                <a:gd name="T46" fmla="*/ 2147483647 w 198"/>
                <a:gd name="T47" fmla="*/ 2147483647 h 313"/>
                <a:gd name="T48" fmla="*/ 2147483647 w 198"/>
                <a:gd name="T49" fmla="*/ 2147483647 h 3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path>
              </a:pathLst>
            </a:custGeom>
            <a:grpFill/>
            <a:ln w="9525">
              <a:solidFill>
                <a:schemeClr val="bg2">
                  <a:lumMod val="50000"/>
                </a:schemeClr>
              </a:solidFill>
              <a:round/>
              <a:headEnd/>
              <a:tailEnd/>
            </a:ln>
          </p:spPr>
          <p:txBody>
            <a:bodyPr/>
            <a:lstStyle/>
            <a:p>
              <a:endParaRPr lang="en-US" dirty="0"/>
            </a:p>
          </p:txBody>
        </p:sp>
        <p:sp>
          <p:nvSpPr>
            <p:cNvPr id="104" name="Freeform 372"/>
            <p:cNvSpPr>
              <a:spLocks/>
            </p:cNvSpPr>
            <p:nvPr/>
          </p:nvSpPr>
          <p:spPr bwMode="gray">
            <a:xfrm>
              <a:off x="5282849" y="4584375"/>
              <a:ext cx="335689" cy="285693"/>
            </a:xfrm>
            <a:custGeom>
              <a:avLst/>
              <a:gdLst>
                <a:gd name="T0" fmla="*/ 2147483647 w 51"/>
                <a:gd name="T1" fmla="*/ 2147483647 h 45"/>
                <a:gd name="T2" fmla="*/ 2147483647 w 51"/>
                <a:gd name="T3" fmla="*/ 2147483647 h 45"/>
                <a:gd name="T4" fmla="*/ 2147483647 w 51"/>
                <a:gd name="T5" fmla="*/ 2147483647 h 45"/>
                <a:gd name="T6" fmla="*/ 2147483647 w 51"/>
                <a:gd name="T7" fmla="*/ 2147483647 h 45"/>
                <a:gd name="T8" fmla="*/ 2147483647 w 51"/>
                <a:gd name="T9" fmla="*/ 0 h 45"/>
                <a:gd name="T10" fmla="*/ 2147483647 w 51"/>
                <a:gd name="T11" fmla="*/ 2147483647 h 45"/>
                <a:gd name="T12" fmla="*/ 2147483647 w 51"/>
                <a:gd name="T13" fmla="*/ 2147483647 h 45"/>
                <a:gd name="T14" fmla="*/ 2147483647 w 51"/>
                <a:gd name="T15" fmla="*/ 2147483647 h 45"/>
                <a:gd name="T16" fmla="*/ 2147483647 w 51"/>
                <a:gd name="T17" fmla="*/ 2147483647 h 45"/>
                <a:gd name="T18" fmla="*/ 2147483647 w 51"/>
                <a:gd name="T19" fmla="*/ 2147483647 h 45"/>
                <a:gd name="T20" fmla="*/ 2147483647 w 51"/>
                <a:gd name="T21" fmla="*/ 2147483647 h 45"/>
                <a:gd name="T22" fmla="*/ 2147483647 w 51"/>
                <a:gd name="T23" fmla="*/ 2147483647 h 45"/>
                <a:gd name="T24" fmla="*/ 2147483647 w 51"/>
                <a:gd name="T25" fmla="*/ 2147483647 h 45"/>
                <a:gd name="T26" fmla="*/ 2147483647 w 51"/>
                <a:gd name="T27" fmla="*/ 2147483647 h 45"/>
                <a:gd name="T28" fmla="*/ 2147483647 w 51"/>
                <a:gd name="T29" fmla="*/ 2147483647 h 45"/>
                <a:gd name="T30" fmla="*/ 2147483647 w 51"/>
                <a:gd name="T31" fmla="*/ 2147483647 h 45"/>
                <a:gd name="T32" fmla="*/ 2147483647 w 51"/>
                <a:gd name="T33" fmla="*/ 2147483647 h 45"/>
                <a:gd name="T34" fmla="*/ 0 w 51"/>
                <a:gd name="T35" fmla="*/ 2147483647 h 45"/>
                <a:gd name="T36" fmla="*/ 2147483647 w 51"/>
                <a:gd name="T37" fmla="*/ 2147483647 h 45"/>
                <a:gd name="T38" fmla="*/ 2147483647 w 51"/>
                <a:gd name="T39" fmla="*/ 2147483647 h 45"/>
                <a:gd name="T40" fmla="*/ 2147483647 w 51"/>
                <a:gd name="T41" fmla="*/ 2147483647 h 45"/>
                <a:gd name="T42" fmla="*/ 2147483647 w 51"/>
                <a:gd name="T43" fmla="*/ 2147483647 h 45"/>
                <a:gd name="T44" fmla="*/ 2147483647 w 51"/>
                <a:gd name="T45" fmla="*/ 2147483647 h 45"/>
                <a:gd name="T46" fmla="*/ 2147483647 w 51"/>
                <a:gd name="T47" fmla="*/ 2147483647 h 45"/>
                <a:gd name="T48" fmla="*/ 2147483647 w 51"/>
                <a:gd name="T49" fmla="*/ 2147483647 h 45"/>
                <a:gd name="T50" fmla="*/ 2147483647 w 51"/>
                <a:gd name="T51" fmla="*/ 2147483647 h 45"/>
                <a:gd name="T52" fmla="*/ 2147483647 w 51"/>
                <a:gd name="T53" fmla="*/ 2147483647 h 45"/>
                <a:gd name="T54" fmla="*/ 2147483647 w 51"/>
                <a:gd name="T55" fmla="*/ 2147483647 h 45"/>
                <a:gd name="T56" fmla="*/ 2147483647 w 51"/>
                <a:gd name="T57" fmla="*/ 2147483647 h 45"/>
                <a:gd name="T58" fmla="*/ 2147483647 w 51"/>
                <a:gd name="T59" fmla="*/ 2147483647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1" h="45">
                  <a:moveTo>
                    <a:pt x="48" y="1"/>
                  </a:moveTo>
                  <a:cubicBezTo>
                    <a:pt x="47" y="1"/>
                    <a:pt x="47" y="1"/>
                    <a:pt x="47" y="1"/>
                  </a:cubicBezTo>
                  <a:cubicBezTo>
                    <a:pt x="46" y="2"/>
                    <a:pt x="46" y="2"/>
                    <a:pt x="46" y="2"/>
                  </a:cubicBezTo>
                  <a:cubicBezTo>
                    <a:pt x="47" y="1"/>
                    <a:pt x="47" y="1"/>
                    <a:pt x="47" y="1"/>
                  </a:cubicBezTo>
                  <a:cubicBezTo>
                    <a:pt x="41" y="0"/>
                    <a:pt x="41" y="0"/>
                    <a:pt x="41" y="0"/>
                  </a:cubicBezTo>
                  <a:cubicBezTo>
                    <a:pt x="34" y="5"/>
                    <a:pt x="34" y="5"/>
                    <a:pt x="34" y="5"/>
                  </a:cubicBezTo>
                  <a:cubicBezTo>
                    <a:pt x="26" y="12"/>
                    <a:pt x="26" y="12"/>
                    <a:pt x="26" y="12"/>
                  </a:cubicBezTo>
                  <a:cubicBezTo>
                    <a:pt x="22" y="12"/>
                    <a:pt x="22" y="12"/>
                    <a:pt x="22" y="12"/>
                  </a:cubicBezTo>
                  <a:cubicBezTo>
                    <a:pt x="17" y="15"/>
                    <a:pt x="17" y="15"/>
                    <a:pt x="17" y="15"/>
                  </a:cubicBezTo>
                  <a:cubicBezTo>
                    <a:pt x="14" y="15"/>
                    <a:pt x="14" y="15"/>
                    <a:pt x="14" y="15"/>
                  </a:cubicBezTo>
                  <a:cubicBezTo>
                    <a:pt x="13" y="13"/>
                    <a:pt x="13" y="13"/>
                    <a:pt x="13" y="13"/>
                  </a:cubicBezTo>
                  <a:cubicBezTo>
                    <a:pt x="11" y="9"/>
                    <a:pt x="11" y="9"/>
                    <a:pt x="11" y="9"/>
                  </a:cubicBezTo>
                  <a:cubicBezTo>
                    <a:pt x="11" y="11"/>
                    <a:pt x="11" y="11"/>
                    <a:pt x="11" y="11"/>
                  </a:cubicBezTo>
                  <a:cubicBezTo>
                    <a:pt x="11" y="9"/>
                    <a:pt x="11" y="9"/>
                    <a:pt x="11" y="9"/>
                  </a:cubicBezTo>
                  <a:cubicBezTo>
                    <a:pt x="9" y="23"/>
                    <a:pt x="9" y="23"/>
                    <a:pt x="9" y="23"/>
                  </a:cubicBezTo>
                  <a:cubicBezTo>
                    <a:pt x="6" y="24"/>
                    <a:pt x="6" y="24"/>
                    <a:pt x="6" y="24"/>
                  </a:cubicBezTo>
                  <a:cubicBezTo>
                    <a:pt x="1" y="22"/>
                    <a:pt x="1" y="22"/>
                    <a:pt x="1" y="22"/>
                  </a:cubicBezTo>
                  <a:cubicBezTo>
                    <a:pt x="0" y="24"/>
                    <a:pt x="0" y="24"/>
                    <a:pt x="0" y="24"/>
                  </a:cubicBezTo>
                  <a:cubicBezTo>
                    <a:pt x="2" y="27"/>
                    <a:pt x="2" y="27"/>
                    <a:pt x="2" y="27"/>
                  </a:cubicBezTo>
                  <a:cubicBezTo>
                    <a:pt x="5" y="35"/>
                    <a:pt x="5" y="35"/>
                    <a:pt x="5" y="35"/>
                  </a:cubicBezTo>
                  <a:cubicBezTo>
                    <a:pt x="5" y="39"/>
                    <a:pt x="5" y="39"/>
                    <a:pt x="5" y="39"/>
                  </a:cubicBezTo>
                  <a:cubicBezTo>
                    <a:pt x="9" y="45"/>
                    <a:pt x="9" y="45"/>
                    <a:pt x="9" y="45"/>
                  </a:cubicBezTo>
                  <a:cubicBezTo>
                    <a:pt x="17" y="43"/>
                    <a:pt x="17" y="43"/>
                    <a:pt x="17" y="43"/>
                  </a:cubicBezTo>
                  <a:cubicBezTo>
                    <a:pt x="25" y="42"/>
                    <a:pt x="25" y="42"/>
                    <a:pt x="25" y="42"/>
                  </a:cubicBezTo>
                  <a:cubicBezTo>
                    <a:pt x="32" y="41"/>
                    <a:pt x="32" y="41"/>
                    <a:pt x="32" y="41"/>
                  </a:cubicBezTo>
                  <a:cubicBezTo>
                    <a:pt x="47" y="25"/>
                    <a:pt x="47" y="25"/>
                    <a:pt x="47" y="25"/>
                  </a:cubicBezTo>
                  <a:cubicBezTo>
                    <a:pt x="47" y="25"/>
                    <a:pt x="50" y="19"/>
                    <a:pt x="51" y="16"/>
                  </a:cubicBezTo>
                  <a:cubicBezTo>
                    <a:pt x="51" y="16"/>
                    <a:pt x="51" y="16"/>
                    <a:pt x="51" y="16"/>
                  </a:cubicBezTo>
                  <a:cubicBezTo>
                    <a:pt x="49" y="16"/>
                    <a:pt x="49" y="16"/>
                    <a:pt x="49" y="16"/>
                  </a:cubicBezTo>
                  <a:lnTo>
                    <a:pt x="48" y="1"/>
                  </a:lnTo>
                  <a:close/>
                </a:path>
              </a:pathLst>
            </a:custGeom>
            <a:grpFill/>
            <a:ln w="9525">
              <a:solidFill>
                <a:schemeClr val="bg2">
                  <a:lumMod val="50000"/>
                </a:schemeClr>
              </a:solidFill>
              <a:round/>
              <a:headEnd/>
              <a:tailEnd/>
            </a:ln>
          </p:spPr>
          <p:txBody>
            <a:bodyPr/>
            <a:lstStyle/>
            <a:p>
              <a:endParaRPr lang="en-US" dirty="0"/>
            </a:p>
          </p:txBody>
        </p:sp>
        <p:sp>
          <p:nvSpPr>
            <p:cNvPr id="105" name="Freeform 373"/>
            <p:cNvSpPr>
              <a:spLocks/>
            </p:cNvSpPr>
            <p:nvPr/>
          </p:nvSpPr>
          <p:spPr bwMode="gray">
            <a:xfrm>
              <a:off x="5355071" y="4490853"/>
              <a:ext cx="199274" cy="189608"/>
            </a:xfrm>
            <a:custGeom>
              <a:avLst/>
              <a:gdLst>
                <a:gd name="T0" fmla="*/ 2147483647 w 180"/>
                <a:gd name="T1" fmla="*/ 2147483647 h 180"/>
                <a:gd name="T2" fmla="*/ 2147483647 w 180"/>
                <a:gd name="T3" fmla="*/ 2147483647 h 180"/>
                <a:gd name="T4" fmla="*/ 2147483647 w 180"/>
                <a:gd name="T5" fmla="*/ 2147483647 h 180"/>
                <a:gd name="T6" fmla="*/ 2147483647 w 180"/>
                <a:gd name="T7" fmla="*/ 2147483647 h 180"/>
                <a:gd name="T8" fmla="*/ 2147483647 w 180"/>
                <a:gd name="T9" fmla="*/ 2147483647 h 180"/>
                <a:gd name="T10" fmla="*/ 2147483647 w 180"/>
                <a:gd name="T11" fmla="*/ 2147483647 h 180"/>
                <a:gd name="T12" fmla="*/ 2147483647 w 180"/>
                <a:gd name="T13" fmla="*/ 2147483647 h 180"/>
                <a:gd name="T14" fmla="*/ 2147483647 w 180"/>
                <a:gd name="T15" fmla="*/ 0 h 180"/>
                <a:gd name="T16" fmla="*/ 2147483647 w 180"/>
                <a:gd name="T17" fmla="*/ 2147483647 h 180"/>
                <a:gd name="T18" fmla="*/ 2147483647 w 180"/>
                <a:gd name="T19" fmla="*/ 2147483647 h 180"/>
                <a:gd name="T20" fmla="*/ 2147483647 w 180"/>
                <a:gd name="T21" fmla="*/ 2147483647 h 180"/>
                <a:gd name="T22" fmla="*/ 0 w 180"/>
                <a:gd name="T23" fmla="*/ 2147483647 h 180"/>
                <a:gd name="T24" fmla="*/ 0 w 180"/>
                <a:gd name="T25" fmla="*/ 2147483647 h 180"/>
                <a:gd name="T26" fmla="*/ 2147483647 w 180"/>
                <a:gd name="T27" fmla="*/ 2147483647 h 180"/>
                <a:gd name="T28" fmla="*/ 2147483647 w 180"/>
                <a:gd name="T29" fmla="*/ 2147483647 h 180"/>
                <a:gd name="T30" fmla="*/ 2147483647 w 180"/>
                <a:gd name="T31" fmla="*/ 2147483647 h 180"/>
                <a:gd name="T32" fmla="*/ 2147483647 w 180"/>
                <a:gd name="T33" fmla="*/ 2147483647 h 180"/>
                <a:gd name="T34" fmla="*/ 2147483647 w 180"/>
                <a:gd name="T35" fmla="*/ 2147483647 h 180"/>
                <a:gd name="T36" fmla="*/ 2147483647 w 180"/>
                <a:gd name="T37" fmla="*/ 2147483647 h 180"/>
                <a:gd name="T38" fmla="*/ 2147483647 w 180"/>
                <a:gd name="T39" fmla="*/ 2147483647 h 180"/>
                <a:gd name="T40" fmla="*/ 2147483647 w 180"/>
                <a:gd name="T41" fmla="*/ 2147483647 h 180"/>
                <a:gd name="T42" fmla="*/ 2147483647 w 180"/>
                <a:gd name="T43" fmla="*/ 2147483647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0" h="180">
                  <a:moveTo>
                    <a:pt x="144" y="54"/>
                  </a:moveTo>
                  <a:lnTo>
                    <a:pt x="132" y="54"/>
                  </a:lnTo>
                  <a:lnTo>
                    <a:pt x="114" y="30"/>
                  </a:lnTo>
                  <a:lnTo>
                    <a:pt x="102" y="6"/>
                  </a:lnTo>
                  <a:lnTo>
                    <a:pt x="96" y="6"/>
                  </a:lnTo>
                  <a:lnTo>
                    <a:pt x="84" y="12"/>
                  </a:lnTo>
                  <a:lnTo>
                    <a:pt x="96" y="6"/>
                  </a:lnTo>
                  <a:lnTo>
                    <a:pt x="84" y="0"/>
                  </a:lnTo>
                  <a:lnTo>
                    <a:pt x="66" y="6"/>
                  </a:lnTo>
                  <a:lnTo>
                    <a:pt x="18" y="18"/>
                  </a:lnTo>
                  <a:lnTo>
                    <a:pt x="12" y="84"/>
                  </a:lnTo>
                  <a:lnTo>
                    <a:pt x="0" y="90"/>
                  </a:lnTo>
                  <a:lnTo>
                    <a:pt x="0" y="144"/>
                  </a:lnTo>
                  <a:lnTo>
                    <a:pt x="12" y="168"/>
                  </a:lnTo>
                  <a:lnTo>
                    <a:pt x="18" y="180"/>
                  </a:lnTo>
                  <a:lnTo>
                    <a:pt x="36" y="180"/>
                  </a:lnTo>
                  <a:lnTo>
                    <a:pt x="66" y="162"/>
                  </a:lnTo>
                  <a:lnTo>
                    <a:pt x="90" y="162"/>
                  </a:lnTo>
                  <a:lnTo>
                    <a:pt x="138" y="120"/>
                  </a:lnTo>
                  <a:lnTo>
                    <a:pt x="180" y="90"/>
                  </a:lnTo>
                  <a:lnTo>
                    <a:pt x="150" y="78"/>
                  </a:lnTo>
                  <a:lnTo>
                    <a:pt x="144" y="54"/>
                  </a:lnTo>
                  <a:close/>
                </a:path>
              </a:pathLst>
            </a:custGeom>
            <a:grpFill/>
            <a:ln w="9525">
              <a:solidFill>
                <a:schemeClr val="bg2">
                  <a:lumMod val="50000"/>
                </a:schemeClr>
              </a:solidFill>
              <a:round/>
              <a:headEnd/>
              <a:tailEnd/>
            </a:ln>
          </p:spPr>
          <p:txBody>
            <a:bodyPr/>
            <a:lstStyle/>
            <a:p>
              <a:endParaRPr lang="en-US" dirty="0"/>
            </a:p>
          </p:txBody>
        </p:sp>
        <p:sp>
          <p:nvSpPr>
            <p:cNvPr id="106" name="Freeform 374"/>
            <p:cNvSpPr>
              <a:spLocks/>
            </p:cNvSpPr>
            <p:nvPr/>
          </p:nvSpPr>
          <p:spPr bwMode="gray">
            <a:xfrm>
              <a:off x="5559694" y="4344803"/>
              <a:ext cx="226023" cy="340782"/>
            </a:xfrm>
            <a:custGeom>
              <a:avLst/>
              <a:gdLst>
                <a:gd name="T0" fmla="*/ 2147483647 w 34"/>
                <a:gd name="T1" fmla="*/ 2147483647 h 54"/>
                <a:gd name="T2" fmla="*/ 2147483647 w 34"/>
                <a:gd name="T3" fmla="*/ 2147483647 h 54"/>
                <a:gd name="T4" fmla="*/ 2147483647 w 34"/>
                <a:gd name="T5" fmla="*/ 2147483647 h 54"/>
                <a:gd name="T6" fmla="*/ 2147483647 w 34"/>
                <a:gd name="T7" fmla="*/ 2147483647 h 54"/>
                <a:gd name="T8" fmla="*/ 2147483647 w 34"/>
                <a:gd name="T9" fmla="*/ 2147483647 h 54"/>
                <a:gd name="T10" fmla="*/ 2147483647 w 34"/>
                <a:gd name="T11" fmla="*/ 2147483647 h 54"/>
                <a:gd name="T12" fmla="*/ 2147483647 w 34"/>
                <a:gd name="T13" fmla="*/ 2147483647 h 54"/>
                <a:gd name="T14" fmla="*/ 2147483647 w 34"/>
                <a:gd name="T15" fmla="*/ 2147483647 h 54"/>
                <a:gd name="T16" fmla="*/ 2147483647 w 34"/>
                <a:gd name="T17" fmla="*/ 2147483647 h 54"/>
                <a:gd name="T18" fmla="*/ 2147483647 w 34"/>
                <a:gd name="T19" fmla="*/ 2147483647 h 54"/>
                <a:gd name="T20" fmla="*/ 2147483647 w 34"/>
                <a:gd name="T21" fmla="*/ 2147483647 h 54"/>
                <a:gd name="T22" fmla="*/ 2147483647 w 34"/>
                <a:gd name="T23" fmla="*/ 2147483647 h 54"/>
                <a:gd name="T24" fmla="*/ 0 w 34"/>
                <a:gd name="T25" fmla="*/ 2147483647 h 54"/>
                <a:gd name="T26" fmla="*/ 0 w 34"/>
                <a:gd name="T27" fmla="*/ 2147483647 h 54"/>
                <a:gd name="T28" fmla="*/ 2147483647 w 34"/>
                <a:gd name="T29" fmla="*/ 2147483647 h 54"/>
                <a:gd name="T30" fmla="*/ 2147483647 w 34"/>
                <a:gd name="T31" fmla="*/ 2147483647 h 54"/>
                <a:gd name="T32" fmla="*/ 2147483647 w 34"/>
                <a:gd name="T33" fmla="*/ 2147483647 h 54"/>
                <a:gd name="T34" fmla="*/ 2147483647 w 34"/>
                <a:gd name="T35" fmla="*/ 2147483647 h 54"/>
                <a:gd name="T36" fmla="*/ 2147483647 w 34"/>
                <a:gd name="T37" fmla="*/ 2147483647 h 54"/>
                <a:gd name="T38" fmla="*/ 2147483647 w 34"/>
                <a:gd name="T39" fmla="*/ 2147483647 h 54"/>
                <a:gd name="T40" fmla="*/ 2147483647 w 34"/>
                <a:gd name="T41" fmla="*/ 2147483647 h 54"/>
                <a:gd name="T42" fmla="*/ 2147483647 w 34"/>
                <a:gd name="T43" fmla="*/ 2147483647 h 54"/>
                <a:gd name="T44" fmla="*/ 2147483647 w 34"/>
                <a:gd name="T45" fmla="*/ 2147483647 h 54"/>
                <a:gd name="T46" fmla="*/ 2147483647 w 34"/>
                <a:gd name="T47" fmla="*/ 2147483647 h 54"/>
                <a:gd name="T48" fmla="*/ 2147483647 w 34"/>
                <a:gd name="T49" fmla="*/ 2147483647 h 54"/>
                <a:gd name="T50" fmla="*/ 2147483647 w 34"/>
                <a:gd name="T51" fmla="*/ 2147483647 h 54"/>
                <a:gd name="T52" fmla="*/ 2147483647 w 34"/>
                <a:gd name="T53" fmla="*/ 2147483647 h 54"/>
                <a:gd name="T54" fmla="*/ 2147483647 w 34"/>
                <a:gd name="T55" fmla="*/ 2147483647 h 54"/>
                <a:gd name="T56" fmla="*/ 2147483647 w 34"/>
                <a:gd name="T57" fmla="*/ 2147483647 h 54"/>
                <a:gd name="T58" fmla="*/ 2147483647 w 34"/>
                <a:gd name="T59" fmla="*/ 2147483647 h 54"/>
                <a:gd name="T60" fmla="*/ 2147483647 w 34"/>
                <a:gd name="T61" fmla="*/ 2147483647 h 54"/>
                <a:gd name="T62" fmla="*/ 2147483647 w 34"/>
                <a:gd name="T63" fmla="*/ 2147483647 h 54"/>
                <a:gd name="T64" fmla="*/ 2147483647 w 34"/>
                <a:gd name="T65" fmla="*/ 2147483647 h 54"/>
                <a:gd name="T66" fmla="*/ 2147483647 w 34"/>
                <a:gd name="T67" fmla="*/ 2147483647 h 54"/>
                <a:gd name="T68" fmla="*/ 2147483647 w 34"/>
                <a:gd name="T69" fmla="*/ 0 h 54"/>
                <a:gd name="T70" fmla="*/ 2147483647 w 34"/>
                <a:gd name="T71" fmla="*/ 0 h 54"/>
                <a:gd name="T72" fmla="*/ 2147483647 w 34"/>
                <a:gd name="T73" fmla="*/ 2147483647 h 54"/>
                <a:gd name="T74" fmla="*/ 2147483647 w 34"/>
                <a:gd name="T75" fmla="*/ 2147483647 h 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4" h="54">
                  <a:moveTo>
                    <a:pt x="22" y="2"/>
                  </a:moveTo>
                  <a:cubicBezTo>
                    <a:pt x="17" y="3"/>
                    <a:pt x="17" y="3"/>
                    <a:pt x="17" y="3"/>
                  </a:cubicBezTo>
                  <a:cubicBezTo>
                    <a:pt x="17" y="4"/>
                    <a:pt x="17" y="4"/>
                    <a:pt x="17" y="4"/>
                  </a:cubicBezTo>
                  <a:cubicBezTo>
                    <a:pt x="17" y="3"/>
                    <a:pt x="17" y="3"/>
                    <a:pt x="17" y="3"/>
                  </a:cubicBezTo>
                  <a:cubicBezTo>
                    <a:pt x="16" y="3"/>
                    <a:pt x="16" y="3"/>
                    <a:pt x="16" y="3"/>
                  </a:cubicBezTo>
                  <a:cubicBezTo>
                    <a:pt x="16" y="8"/>
                    <a:pt x="16" y="8"/>
                    <a:pt x="16" y="8"/>
                  </a:cubicBezTo>
                  <a:cubicBezTo>
                    <a:pt x="19" y="13"/>
                    <a:pt x="19" y="13"/>
                    <a:pt x="19" y="13"/>
                  </a:cubicBezTo>
                  <a:cubicBezTo>
                    <a:pt x="19" y="16"/>
                    <a:pt x="19" y="16"/>
                    <a:pt x="19" y="16"/>
                  </a:cubicBezTo>
                  <a:cubicBezTo>
                    <a:pt x="16" y="18"/>
                    <a:pt x="16" y="18"/>
                    <a:pt x="16" y="18"/>
                  </a:cubicBezTo>
                  <a:cubicBezTo>
                    <a:pt x="15" y="16"/>
                    <a:pt x="15" y="16"/>
                    <a:pt x="15" y="16"/>
                  </a:cubicBezTo>
                  <a:cubicBezTo>
                    <a:pt x="13" y="13"/>
                    <a:pt x="13" y="13"/>
                    <a:pt x="13" y="13"/>
                  </a:cubicBezTo>
                  <a:cubicBezTo>
                    <a:pt x="9" y="11"/>
                    <a:pt x="9" y="11"/>
                    <a:pt x="9" y="11"/>
                  </a:cubicBezTo>
                  <a:cubicBezTo>
                    <a:pt x="0" y="15"/>
                    <a:pt x="0" y="15"/>
                    <a:pt x="0" y="15"/>
                  </a:cubicBezTo>
                  <a:cubicBezTo>
                    <a:pt x="0" y="16"/>
                    <a:pt x="0" y="16"/>
                    <a:pt x="0" y="16"/>
                  </a:cubicBezTo>
                  <a:cubicBezTo>
                    <a:pt x="1" y="16"/>
                    <a:pt x="1" y="16"/>
                    <a:pt x="1" y="16"/>
                  </a:cubicBezTo>
                  <a:cubicBezTo>
                    <a:pt x="2" y="15"/>
                    <a:pt x="2" y="15"/>
                    <a:pt x="2" y="15"/>
                  </a:cubicBezTo>
                  <a:cubicBezTo>
                    <a:pt x="1" y="16"/>
                    <a:pt x="1" y="16"/>
                    <a:pt x="1" y="16"/>
                  </a:cubicBezTo>
                  <a:cubicBezTo>
                    <a:pt x="9" y="19"/>
                    <a:pt x="9" y="19"/>
                    <a:pt x="9" y="19"/>
                  </a:cubicBezTo>
                  <a:cubicBezTo>
                    <a:pt x="9" y="23"/>
                    <a:pt x="9" y="23"/>
                    <a:pt x="9" y="23"/>
                  </a:cubicBezTo>
                  <a:cubicBezTo>
                    <a:pt x="9" y="28"/>
                    <a:pt x="9" y="28"/>
                    <a:pt x="9" y="28"/>
                  </a:cubicBezTo>
                  <a:cubicBezTo>
                    <a:pt x="7" y="36"/>
                    <a:pt x="7" y="36"/>
                    <a:pt x="7" y="36"/>
                  </a:cubicBezTo>
                  <a:cubicBezTo>
                    <a:pt x="5" y="39"/>
                    <a:pt x="5" y="39"/>
                    <a:pt x="5" y="39"/>
                  </a:cubicBezTo>
                  <a:cubicBezTo>
                    <a:pt x="6" y="39"/>
                    <a:pt x="6" y="39"/>
                    <a:pt x="6" y="39"/>
                  </a:cubicBezTo>
                  <a:cubicBezTo>
                    <a:pt x="7" y="54"/>
                    <a:pt x="7" y="54"/>
                    <a:pt x="7" y="54"/>
                  </a:cubicBezTo>
                  <a:cubicBezTo>
                    <a:pt x="9" y="54"/>
                    <a:pt x="9" y="54"/>
                    <a:pt x="9" y="54"/>
                  </a:cubicBezTo>
                  <a:cubicBezTo>
                    <a:pt x="10" y="51"/>
                    <a:pt x="9" y="51"/>
                    <a:pt x="9" y="51"/>
                  </a:cubicBezTo>
                  <a:cubicBezTo>
                    <a:pt x="16" y="45"/>
                    <a:pt x="16" y="45"/>
                    <a:pt x="16" y="45"/>
                  </a:cubicBezTo>
                  <a:cubicBezTo>
                    <a:pt x="18" y="40"/>
                    <a:pt x="18" y="40"/>
                    <a:pt x="18" y="40"/>
                  </a:cubicBezTo>
                  <a:cubicBezTo>
                    <a:pt x="16" y="31"/>
                    <a:pt x="16" y="31"/>
                    <a:pt x="16" y="31"/>
                  </a:cubicBezTo>
                  <a:cubicBezTo>
                    <a:pt x="21" y="25"/>
                    <a:pt x="21" y="25"/>
                    <a:pt x="21" y="25"/>
                  </a:cubicBezTo>
                  <a:cubicBezTo>
                    <a:pt x="30" y="20"/>
                    <a:pt x="30" y="20"/>
                    <a:pt x="30" y="20"/>
                  </a:cubicBezTo>
                  <a:cubicBezTo>
                    <a:pt x="33" y="16"/>
                    <a:pt x="33" y="16"/>
                    <a:pt x="33" y="16"/>
                  </a:cubicBezTo>
                  <a:cubicBezTo>
                    <a:pt x="34" y="11"/>
                    <a:pt x="34" y="11"/>
                    <a:pt x="34" y="11"/>
                  </a:cubicBezTo>
                  <a:cubicBezTo>
                    <a:pt x="33" y="4"/>
                    <a:pt x="33" y="4"/>
                    <a:pt x="33" y="4"/>
                  </a:cubicBezTo>
                  <a:cubicBezTo>
                    <a:pt x="33" y="0"/>
                    <a:pt x="33" y="0"/>
                    <a:pt x="33" y="0"/>
                  </a:cubicBezTo>
                  <a:cubicBezTo>
                    <a:pt x="33" y="0"/>
                    <a:pt x="33" y="0"/>
                    <a:pt x="33" y="0"/>
                  </a:cubicBezTo>
                  <a:cubicBezTo>
                    <a:pt x="30" y="1"/>
                    <a:pt x="30" y="1"/>
                    <a:pt x="30" y="1"/>
                  </a:cubicBezTo>
                  <a:lnTo>
                    <a:pt x="22" y="2"/>
                  </a:lnTo>
                  <a:close/>
                </a:path>
              </a:pathLst>
            </a:custGeom>
            <a:grpFill/>
            <a:ln w="9525">
              <a:solidFill>
                <a:schemeClr val="bg2">
                  <a:lumMod val="50000"/>
                </a:schemeClr>
              </a:solidFill>
              <a:round/>
              <a:headEnd/>
              <a:tailEnd/>
            </a:ln>
          </p:spPr>
          <p:txBody>
            <a:bodyPr/>
            <a:lstStyle/>
            <a:p>
              <a:endParaRPr lang="en-US" dirty="0"/>
            </a:p>
          </p:txBody>
        </p:sp>
        <p:sp>
          <p:nvSpPr>
            <p:cNvPr id="107" name="Freeform 375"/>
            <p:cNvSpPr>
              <a:spLocks/>
            </p:cNvSpPr>
            <p:nvPr/>
          </p:nvSpPr>
          <p:spPr bwMode="gray">
            <a:xfrm>
              <a:off x="5559694" y="4150071"/>
              <a:ext cx="219335" cy="213949"/>
            </a:xfrm>
            <a:custGeom>
              <a:avLst/>
              <a:gdLst>
                <a:gd name="T0" fmla="*/ 2147483647 w 33"/>
                <a:gd name="T1" fmla="*/ 2147483647 h 34"/>
                <a:gd name="T2" fmla="*/ 2147483647 w 33"/>
                <a:gd name="T3" fmla="*/ 2147483647 h 34"/>
                <a:gd name="T4" fmla="*/ 2147483647 w 33"/>
                <a:gd name="T5" fmla="*/ 2147483647 h 34"/>
                <a:gd name="T6" fmla="*/ 2147483647 w 33"/>
                <a:gd name="T7" fmla="*/ 2147483647 h 34"/>
                <a:gd name="T8" fmla="*/ 2147483647 w 33"/>
                <a:gd name="T9" fmla="*/ 0 h 34"/>
                <a:gd name="T10" fmla="*/ 2147483647 w 33"/>
                <a:gd name="T11" fmla="*/ 2147483647 h 34"/>
                <a:gd name="T12" fmla="*/ 2147483647 w 33"/>
                <a:gd name="T13" fmla="*/ 2147483647 h 34"/>
                <a:gd name="T14" fmla="*/ 2147483647 w 33"/>
                <a:gd name="T15" fmla="*/ 2147483647 h 34"/>
                <a:gd name="T16" fmla="*/ 2147483647 w 33"/>
                <a:gd name="T17" fmla="*/ 2147483647 h 34"/>
                <a:gd name="T18" fmla="*/ 2147483647 w 33"/>
                <a:gd name="T19" fmla="*/ 2147483647 h 34"/>
                <a:gd name="T20" fmla="*/ 2147483647 w 33"/>
                <a:gd name="T21" fmla="*/ 2147483647 h 34"/>
                <a:gd name="T22" fmla="*/ 0 w 33"/>
                <a:gd name="T23" fmla="*/ 2147483647 h 34"/>
                <a:gd name="T24" fmla="*/ 2147483647 w 33"/>
                <a:gd name="T25" fmla="*/ 2147483647 h 34"/>
                <a:gd name="T26" fmla="*/ 2147483647 w 33"/>
                <a:gd name="T27" fmla="*/ 2147483647 h 34"/>
                <a:gd name="T28" fmla="*/ 2147483647 w 33"/>
                <a:gd name="T29" fmla="*/ 2147483647 h 34"/>
                <a:gd name="T30" fmla="*/ 2147483647 w 33"/>
                <a:gd name="T31" fmla="*/ 2147483647 h 34"/>
                <a:gd name="T32" fmla="*/ 2147483647 w 33"/>
                <a:gd name="T33" fmla="*/ 2147483647 h 34"/>
                <a:gd name="T34" fmla="*/ 2147483647 w 33"/>
                <a:gd name="T35" fmla="*/ 2147483647 h 34"/>
                <a:gd name="T36" fmla="*/ 2147483647 w 33"/>
                <a:gd name="T37" fmla="*/ 2147483647 h 34"/>
                <a:gd name="T38" fmla="*/ 2147483647 w 33"/>
                <a:gd name="T39" fmla="*/ 2147483647 h 34"/>
                <a:gd name="T40" fmla="*/ 2147483647 w 33"/>
                <a:gd name="T41" fmla="*/ 2147483647 h 34"/>
                <a:gd name="T42" fmla="*/ 2147483647 w 33"/>
                <a:gd name="T43" fmla="*/ 2147483647 h 34"/>
                <a:gd name="T44" fmla="*/ 2147483647 w 33"/>
                <a:gd name="T45" fmla="*/ 2147483647 h 34"/>
                <a:gd name="T46" fmla="*/ 2147483647 w 33"/>
                <a:gd name="T47" fmla="*/ 2147483647 h 34"/>
                <a:gd name="T48" fmla="*/ 2147483647 w 33"/>
                <a:gd name="T49" fmla="*/ 2147483647 h 34"/>
                <a:gd name="T50" fmla="*/ 2147483647 w 33"/>
                <a:gd name="T51" fmla="*/ 2147483647 h 34"/>
                <a:gd name="T52" fmla="*/ 2147483647 w 33"/>
                <a:gd name="T53" fmla="*/ 2147483647 h 3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3" h="34">
                  <a:moveTo>
                    <a:pt x="25" y="6"/>
                  </a:moveTo>
                  <a:cubicBezTo>
                    <a:pt x="14" y="1"/>
                    <a:pt x="14" y="1"/>
                    <a:pt x="14" y="1"/>
                  </a:cubicBezTo>
                  <a:cubicBezTo>
                    <a:pt x="14" y="1"/>
                    <a:pt x="14" y="1"/>
                    <a:pt x="14" y="1"/>
                  </a:cubicBezTo>
                  <a:cubicBezTo>
                    <a:pt x="14" y="1"/>
                    <a:pt x="14" y="1"/>
                    <a:pt x="14" y="1"/>
                  </a:cubicBezTo>
                  <a:cubicBezTo>
                    <a:pt x="13" y="0"/>
                    <a:pt x="13" y="0"/>
                    <a:pt x="13" y="0"/>
                  </a:cubicBezTo>
                  <a:cubicBezTo>
                    <a:pt x="12" y="2"/>
                    <a:pt x="12" y="2"/>
                    <a:pt x="12" y="2"/>
                  </a:cubicBezTo>
                  <a:cubicBezTo>
                    <a:pt x="12" y="5"/>
                    <a:pt x="12" y="5"/>
                    <a:pt x="12" y="5"/>
                  </a:cubicBezTo>
                  <a:cubicBezTo>
                    <a:pt x="8" y="5"/>
                    <a:pt x="8" y="5"/>
                    <a:pt x="8" y="5"/>
                  </a:cubicBezTo>
                  <a:cubicBezTo>
                    <a:pt x="6" y="1"/>
                    <a:pt x="6" y="1"/>
                    <a:pt x="6" y="1"/>
                  </a:cubicBezTo>
                  <a:cubicBezTo>
                    <a:pt x="1" y="1"/>
                    <a:pt x="1" y="1"/>
                    <a:pt x="1" y="1"/>
                  </a:cubicBezTo>
                  <a:cubicBezTo>
                    <a:pt x="2" y="8"/>
                    <a:pt x="2" y="8"/>
                    <a:pt x="2" y="8"/>
                  </a:cubicBezTo>
                  <a:cubicBezTo>
                    <a:pt x="0" y="11"/>
                    <a:pt x="0" y="11"/>
                    <a:pt x="0" y="11"/>
                  </a:cubicBezTo>
                  <a:cubicBezTo>
                    <a:pt x="2" y="19"/>
                    <a:pt x="2" y="19"/>
                    <a:pt x="2" y="19"/>
                  </a:cubicBezTo>
                  <a:cubicBezTo>
                    <a:pt x="4" y="24"/>
                    <a:pt x="4" y="24"/>
                    <a:pt x="4" y="24"/>
                  </a:cubicBezTo>
                  <a:cubicBezTo>
                    <a:pt x="4" y="24"/>
                    <a:pt x="8" y="26"/>
                    <a:pt x="9" y="26"/>
                  </a:cubicBezTo>
                  <a:cubicBezTo>
                    <a:pt x="9" y="26"/>
                    <a:pt x="14" y="27"/>
                    <a:pt x="14" y="27"/>
                  </a:cubicBezTo>
                  <a:cubicBezTo>
                    <a:pt x="15" y="29"/>
                    <a:pt x="15" y="29"/>
                    <a:pt x="15" y="29"/>
                  </a:cubicBezTo>
                  <a:cubicBezTo>
                    <a:pt x="17" y="34"/>
                    <a:pt x="17" y="34"/>
                    <a:pt x="17" y="34"/>
                  </a:cubicBezTo>
                  <a:cubicBezTo>
                    <a:pt x="22" y="33"/>
                    <a:pt x="22" y="33"/>
                    <a:pt x="22" y="33"/>
                  </a:cubicBezTo>
                  <a:cubicBezTo>
                    <a:pt x="30" y="32"/>
                    <a:pt x="30" y="32"/>
                    <a:pt x="30" y="32"/>
                  </a:cubicBezTo>
                  <a:cubicBezTo>
                    <a:pt x="33" y="31"/>
                    <a:pt x="33" y="31"/>
                    <a:pt x="33" y="31"/>
                  </a:cubicBezTo>
                  <a:cubicBezTo>
                    <a:pt x="31" y="28"/>
                    <a:pt x="31" y="28"/>
                    <a:pt x="31" y="28"/>
                  </a:cubicBezTo>
                  <a:cubicBezTo>
                    <a:pt x="30" y="19"/>
                    <a:pt x="30" y="19"/>
                    <a:pt x="30" y="19"/>
                  </a:cubicBezTo>
                  <a:cubicBezTo>
                    <a:pt x="30" y="19"/>
                    <a:pt x="28" y="15"/>
                    <a:pt x="28" y="14"/>
                  </a:cubicBezTo>
                  <a:cubicBezTo>
                    <a:pt x="28" y="13"/>
                    <a:pt x="29" y="12"/>
                    <a:pt x="30" y="12"/>
                  </a:cubicBezTo>
                  <a:cubicBezTo>
                    <a:pt x="25" y="9"/>
                    <a:pt x="25" y="9"/>
                    <a:pt x="25" y="9"/>
                  </a:cubicBezTo>
                  <a:lnTo>
                    <a:pt x="25" y="6"/>
                  </a:lnTo>
                  <a:close/>
                </a:path>
              </a:pathLst>
            </a:custGeom>
            <a:grpFill/>
            <a:ln w="9525">
              <a:solidFill>
                <a:schemeClr val="bg2">
                  <a:lumMod val="50000"/>
                </a:schemeClr>
              </a:solidFill>
              <a:round/>
              <a:headEnd/>
              <a:tailEnd/>
            </a:ln>
          </p:spPr>
          <p:txBody>
            <a:bodyPr/>
            <a:lstStyle/>
            <a:p>
              <a:endParaRPr lang="en-US" dirty="0"/>
            </a:p>
          </p:txBody>
        </p:sp>
        <p:sp>
          <p:nvSpPr>
            <p:cNvPr id="108" name="Freeform 376"/>
            <p:cNvSpPr>
              <a:spLocks/>
            </p:cNvSpPr>
            <p:nvPr/>
          </p:nvSpPr>
          <p:spPr bwMode="gray">
            <a:xfrm>
              <a:off x="5189231" y="4249999"/>
              <a:ext cx="251433" cy="240853"/>
            </a:xfrm>
            <a:custGeom>
              <a:avLst/>
              <a:gdLst>
                <a:gd name="T0" fmla="*/ 2147483647 w 38"/>
                <a:gd name="T1" fmla="*/ 2147483647 h 38"/>
                <a:gd name="T2" fmla="*/ 2147483647 w 38"/>
                <a:gd name="T3" fmla="*/ 2147483647 h 38"/>
                <a:gd name="T4" fmla="*/ 2147483647 w 38"/>
                <a:gd name="T5" fmla="*/ 2147483647 h 38"/>
                <a:gd name="T6" fmla="*/ 2147483647 w 38"/>
                <a:gd name="T7" fmla="*/ 2147483647 h 38"/>
                <a:gd name="T8" fmla="*/ 2147483647 w 38"/>
                <a:gd name="T9" fmla="*/ 2147483647 h 38"/>
                <a:gd name="T10" fmla="*/ 2147483647 w 38"/>
                <a:gd name="T11" fmla="*/ 2147483647 h 38"/>
                <a:gd name="T12" fmla="*/ 2147483647 w 38"/>
                <a:gd name="T13" fmla="*/ 2147483647 h 38"/>
                <a:gd name="T14" fmla="*/ 2147483647 w 38"/>
                <a:gd name="T15" fmla="*/ 2147483647 h 38"/>
                <a:gd name="T16" fmla="*/ 2147483647 w 38"/>
                <a:gd name="T17" fmla="*/ 2147483647 h 38"/>
                <a:gd name="T18" fmla="*/ 2147483647 w 38"/>
                <a:gd name="T19" fmla="*/ 2147483647 h 38"/>
                <a:gd name="T20" fmla="*/ 2147483647 w 38"/>
                <a:gd name="T21" fmla="*/ 2147483647 h 38"/>
                <a:gd name="T22" fmla="*/ 2147483647 w 38"/>
                <a:gd name="T23" fmla="*/ 2147483647 h 38"/>
                <a:gd name="T24" fmla="*/ 2147483647 w 38"/>
                <a:gd name="T25" fmla="*/ 2147483647 h 38"/>
                <a:gd name="T26" fmla="*/ 2147483647 w 38"/>
                <a:gd name="T27" fmla="*/ 2147483647 h 38"/>
                <a:gd name="T28" fmla="*/ 2147483647 w 38"/>
                <a:gd name="T29" fmla="*/ 2147483647 h 38"/>
                <a:gd name="T30" fmla="*/ 2147483647 w 38"/>
                <a:gd name="T31" fmla="*/ 2147483647 h 38"/>
                <a:gd name="T32" fmla="*/ 2147483647 w 38"/>
                <a:gd name="T33" fmla="*/ 0 h 38"/>
                <a:gd name="T34" fmla="*/ 2147483647 w 38"/>
                <a:gd name="T35" fmla="*/ 0 h 38"/>
                <a:gd name="T36" fmla="*/ 2147483647 w 38"/>
                <a:gd name="T37" fmla="*/ 2147483647 h 38"/>
                <a:gd name="T38" fmla="*/ 2147483647 w 38"/>
                <a:gd name="T39" fmla="*/ 2147483647 h 38"/>
                <a:gd name="T40" fmla="*/ 2147483647 w 38"/>
                <a:gd name="T41" fmla="*/ 2147483647 h 38"/>
                <a:gd name="T42" fmla="*/ 0 w 38"/>
                <a:gd name="T43" fmla="*/ 2147483647 h 38"/>
                <a:gd name="T44" fmla="*/ 0 w 38"/>
                <a:gd name="T45" fmla="*/ 2147483647 h 38"/>
                <a:gd name="T46" fmla="*/ 2147483647 w 38"/>
                <a:gd name="T47" fmla="*/ 2147483647 h 38"/>
                <a:gd name="T48" fmla="*/ 2147483647 w 38"/>
                <a:gd name="T49" fmla="*/ 2147483647 h 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38">
                  <a:moveTo>
                    <a:pt x="4" y="37"/>
                  </a:moveTo>
                  <a:cubicBezTo>
                    <a:pt x="18" y="37"/>
                    <a:pt x="18" y="37"/>
                    <a:pt x="18" y="37"/>
                  </a:cubicBezTo>
                  <a:cubicBezTo>
                    <a:pt x="20" y="38"/>
                    <a:pt x="20" y="38"/>
                    <a:pt x="20" y="38"/>
                  </a:cubicBezTo>
                  <a:cubicBezTo>
                    <a:pt x="28" y="38"/>
                    <a:pt x="28" y="38"/>
                    <a:pt x="28" y="38"/>
                  </a:cubicBezTo>
                  <a:cubicBezTo>
                    <a:pt x="34" y="37"/>
                    <a:pt x="34" y="37"/>
                    <a:pt x="34" y="37"/>
                  </a:cubicBezTo>
                  <a:cubicBezTo>
                    <a:pt x="32" y="33"/>
                    <a:pt x="32" y="33"/>
                    <a:pt x="32" y="33"/>
                  </a:cubicBezTo>
                  <a:cubicBezTo>
                    <a:pt x="32" y="22"/>
                    <a:pt x="32" y="22"/>
                    <a:pt x="32" y="22"/>
                  </a:cubicBezTo>
                  <a:cubicBezTo>
                    <a:pt x="38" y="21"/>
                    <a:pt x="38" y="21"/>
                    <a:pt x="38" y="21"/>
                  </a:cubicBezTo>
                  <a:cubicBezTo>
                    <a:pt x="38" y="17"/>
                    <a:pt x="38" y="17"/>
                    <a:pt x="38" y="17"/>
                  </a:cubicBezTo>
                  <a:cubicBezTo>
                    <a:pt x="37" y="17"/>
                    <a:pt x="37" y="17"/>
                    <a:pt x="37" y="17"/>
                  </a:cubicBezTo>
                  <a:cubicBezTo>
                    <a:pt x="38" y="17"/>
                    <a:pt x="38" y="17"/>
                    <a:pt x="38" y="17"/>
                  </a:cubicBezTo>
                  <a:cubicBezTo>
                    <a:pt x="32" y="16"/>
                    <a:pt x="32" y="16"/>
                    <a:pt x="32" y="16"/>
                  </a:cubicBezTo>
                  <a:cubicBezTo>
                    <a:pt x="30" y="4"/>
                    <a:pt x="30" y="4"/>
                    <a:pt x="30" y="4"/>
                  </a:cubicBezTo>
                  <a:cubicBezTo>
                    <a:pt x="30" y="4"/>
                    <a:pt x="25" y="4"/>
                    <a:pt x="24" y="4"/>
                  </a:cubicBezTo>
                  <a:cubicBezTo>
                    <a:pt x="24" y="4"/>
                    <a:pt x="22" y="6"/>
                    <a:pt x="21" y="6"/>
                  </a:cubicBezTo>
                  <a:cubicBezTo>
                    <a:pt x="20" y="7"/>
                    <a:pt x="19" y="6"/>
                    <a:pt x="18" y="6"/>
                  </a:cubicBezTo>
                  <a:cubicBezTo>
                    <a:pt x="17" y="6"/>
                    <a:pt x="13" y="0"/>
                    <a:pt x="12" y="0"/>
                  </a:cubicBezTo>
                  <a:cubicBezTo>
                    <a:pt x="11" y="0"/>
                    <a:pt x="4" y="0"/>
                    <a:pt x="4" y="0"/>
                  </a:cubicBezTo>
                  <a:cubicBezTo>
                    <a:pt x="1" y="2"/>
                    <a:pt x="1" y="2"/>
                    <a:pt x="1" y="2"/>
                  </a:cubicBezTo>
                  <a:cubicBezTo>
                    <a:pt x="3" y="15"/>
                    <a:pt x="3" y="15"/>
                    <a:pt x="3" y="15"/>
                  </a:cubicBezTo>
                  <a:cubicBezTo>
                    <a:pt x="4" y="21"/>
                    <a:pt x="4" y="21"/>
                    <a:pt x="4" y="21"/>
                  </a:cubicBezTo>
                  <a:cubicBezTo>
                    <a:pt x="0" y="28"/>
                    <a:pt x="0" y="28"/>
                    <a:pt x="0" y="28"/>
                  </a:cubicBezTo>
                  <a:cubicBezTo>
                    <a:pt x="0" y="36"/>
                    <a:pt x="0" y="36"/>
                    <a:pt x="0" y="36"/>
                  </a:cubicBezTo>
                  <a:cubicBezTo>
                    <a:pt x="2" y="35"/>
                    <a:pt x="2" y="35"/>
                    <a:pt x="2" y="35"/>
                  </a:cubicBezTo>
                  <a:lnTo>
                    <a:pt x="4" y="37"/>
                  </a:lnTo>
                  <a:close/>
                </a:path>
              </a:pathLst>
            </a:custGeom>
            <a:grpFill/>
            <a:ln w="9525">
              <a:solidFill>
                <a:schemeClr val="bg2">
                  <a:lumMod val="50000"/>
                </a:schemeClr>
              </a:solidFill>
              <a:round/>
              <a:headEnd/>
              <a:tailEnd/>
            </a:ln>
          </p:spPr>
          <p:txBody>
            <a:bodyPr/>
            <a:lstStyle/>
            <a:p>
              <a:endParaRPr lang="en-US" dirty="0"/>
            </a:p>
          </p:txBody>
        </p:sp>
        <p:sp>
          <p:nvSpPr>
            <p:cNvPr id="109" name="Freeform 377"/>
            <p:cNvSpPr>
              <a:spLocks/>
            </p:cNvSpPr>
            <p:nvPr/>
          </p:nvSpPr>
          <p:spPr bwMode="gray">
            <a:xfrm>
              <a:off x="5189231" y="4023239"/>
              <a:ext cx="390524" cy="371528"/>
            </a:xfrm>
            <a:custGeom>
              <a:avLst/>
              <a:gdLst>
                <a:gd name="T0" fmla="*/ 2147483647 w 59"/>
                <a:gd name="T1" fmla="*/ 2147483647 h 59"/>
                <a:gd name="T2" fmla="*/ 2147483647 w 59"/>
                <a:gd name="T3" fmla="*/ 2147483647 h 59"/>
                <a:gd name="T4" fmla="*/ 2147483647 w 59"/>
                <a:gd name="T5" fmla="*/ 2147483647 h 59"/>
                <a:gd name="T6" fmla="*/ 2147483647 w 59"/>
                <a:gd name="T7" fmla="*/ 2147483647 h 59"/>
                <a:gd name="T8" fmla="*/ 2147483647 w 59"/>
                <a:gd name="T9" fmla="*/ 2147483647 h 59"/>
                <a:gd name="T10" fmla="*/ 2147483647 w 59"/>
                <a:gd name="T11" fmla="*/ 2147483647 h 59"/>
                <a:gd name="T12" fmla="*/ 0 w 59"/>
                <a:gd name="T13" fmla="*/ 2147483647 h 59"/>
                <a:gd name="T14" fmla="*/ 2147483647 w 59"/>
                <a:gd name="T15" fmla="*/ 2147483647 h 59"/>
                <a:gd name="T16" fmla="*/ 2147483647 w 59"/>
                <a:gd name="T17" fmla="*/ 2147483647 h 59"/>
                <a:gd name="T18" fmla="*/ 2147483647 w 59"/>
                <a:gd name="T19" fmla="*/ 2147483647 h 59"/>
                <a:gd name="T20" fmla="*/ 2147483647 w 59"/>
                <a:gd name="T21" fmla="*/ 2147483647 h 59"/>
                <a:gd name="T22" fmla="*/ 2147483647 w 59"/>
                <a:gd name="T23" fmla="*/ 2147483647 h 59"/>
                <a:gd name="T24" fmla="*/ 2147483647 w 59"/>
                <a:gd name="T25" fmla="*/ 2147483647 h 59"/>
                <a:gd name="T26" fmla="*/ 2147483647 w 59"/>
                <a:gd name="T27" fmla="*/ 2147483647 h 59"/>
                <a:gd name="T28" fmla="*/ 2147483647 w 59"/>
                <a:gd name="T29" fmla="*/ 2147483647 h 59"/>
                <a:gd name="T30" fmla="*/ 2147483647 w 59"/>
                <a:gd name="T31" fmla="*/ 2147483647 h 59"/>
                <a:gd name="T32" fmla="*/ 2147483647 w 59"/>
                <a:gd name="T33" fmla="*/ 2147483647 h 59"/>
                <a:gd name="T34" fmla="*/ 2147483647 w 59"/>
                <a:gd name="T35" fmla="*/ 2147483647 h 59"/>
                <a:gd name="T36" fmla="*/ 2147483647 w 59"/>
                <a:gd name="T37" fmla="*/ 2147483647 h 59"/>
                <a:gd name="T38" fmla="*/ 2147483647 w 59"/>
                <a:gd name="T39" fmla="*/ 2147483647 h 59"/>
                <a:gd name="T40" fmla="*/ 2147483647 w 59"/>
                <a:gd name="T41" fmla="*/ 2147483647 h 59"/>
                <a:gd name="T42" fmla="*/ 2147483647 w 59"/>
                <a:gd name="T43" fmla="*/ 2147483647 h 59"/>
                <a:gd name="T44" fmla="*/ 2147483647 w 59"/>
                <a:gd name="T45" fmla="*/ 2147483647 h 59"/>
                <a:gd name="T46" fmla="*/ 2147483647 w 59"/>
                <a:gd name="T47" fmla="*/ 2147483647 h 59"/>
                <a:gd name="T48" fmla="*/ 2147483647 w 59"/>
                <a:gd name="T49" fmla="*/ 2147483647 h 59"/>
                <a:gd name="T50" fmla="*/ 2147483647 w 59"/>
                <a:gd name="T51" fmla="*/ 2147483647 h 59"/>
                <a:gd name="T52" fmla="*/ 2147483647 w 59"/>
                <a:gd name="T53" fmla="*/ 2147483647 h 59"/>
                <a:gd name="T54" fmla="*/ 2147483647 w 59"/>
                <a:gd name="T55" fmla="*/ 2147483647 h 59"/>
                <a:gd name="T56" fmla="*/ 2147483647 w 59"/>
                <a:gd name="T57" fmla="*/ 2147483647 h 59"/>
                <a:gd name="T58" fmla="*/ 2147483647 w 59"/>
                <a:gd name="T59" fmla="*/ 2147483647 h 59"/>
                <a:gd name="T60" fmla="*/ 2147483647 w 59"/>
                <a:gd name="T61" fmla="*/ 2147483647 h 59"/>
                <a:gd name="T62" fmla="*/ 2147483647 w 59"/>
                <a:gd name="T63" fmla="*/ 2147483647 h 59"/>
                <a:gd name="T64" fmla="*/ 2147483647 w 59"/>
                <a:gd name="T65" fmla="*/ 2147483647 h 59"/>
                <a:gd name="T66" fmla="*/ 2147483647 w 59"/>
                <a:gd name="T67" fmla="*/ 2147483647 h 59"/>
                <a:gd name="T68" fmla="*/ 2147483647 w 59"/>
                <a:gd name="T69" fmla="*/ 0 h 59"/>
                <a:gd name="T70" fmla="*/ 2147483647 w 59"/>
                <a:gd name="T71" fmla="*/ 2147483647 h 59"/>
                <a:gd name="T72" fmla="*/ 2147483647 w 59"/>
                <a:gd name="T73" fmla="*/ 2147483647 h 59"/>
                <a:gd name="T74" fmla="*/ 2147483647 w 59"/>
                <a:gd name="T75" fmla="*/ 2147483647 h 59"/>
                <a:gd name="T76" fmla="*/ 2147483647 w 59"/>
                <a:gd name="T77" fmla="*/ 2147483647 h 59"/>
                <a:gd name="T78" fmla="*/ 2147483647 w 59"/>
                <a:gd name="T79" fmla="*/ 2147483647 h 5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59" h="59">
                  <a:moveTo>
                    <a:pt x="21" y="6"/>
                  </a:moveTo>
                  <a:cubicBezTo>
                    <a:pt x="18" y="18"/>
                    <a:pt x="18" y="18"/>
                    <a:pt x="18" y="18"/>
                  </a:cubicBezTo>
                  <a:cubicBezTo>
                    <a:pt x="15" y="21"/>
                    <a:pt x="15" y="21"/>
                    <a:pt x="15" y="21"/>
                  </a:cubicBezTo>
                  <a:cubicBezTo>
                    <a:pt x="11" y="29"/>
                    <a:pt x="11" y="29"/>
                    <a:pt x="11" y="29"/>
                  </a:cubicBezTo>
                  <a:cubicBezTo>
                    <a:pt x="7" y="32"/>
                    <a:pt x="7" y="32"/>
                    <a:pt x="7" y="32"/>
                  </a:cubicBezTo>
                  <a:cubicBezTo>
                    <a:pt x="3" y="32"/>
                    <a:pt x="3" y="32"/>
                    <a:pt x="3" y="32"/>
                  </a:cubicBezTo>
                  <a:cubicBezTo>
                    <a:pt x="0" y="35"/>
                    <a:pt x="0" y="35"/>
                    <a:pt x="0" y="35"/>
                  </a:cubicBezTo>
                  <a:cubicBezTo>
                    <a:pt x="1" y="38"/>
                    <a:pt x="1" y="38"/>
                    <a:pt x="1" y="38"/>
                  </a:cubicBezTo>
                  <a:cubicBezTo>
                    <a:pt x="1" y="38"/>
                    <a:pt x="1" y="38"/>
                    <a:pt x="1" y="38"/>
                  </a:cubicBezTo>
                  <a:cubicBezTo>
                    <a:pt x="4" y="36"/>
                    <a:pt x="4" y="36"/>
                    <a:pt x="4" y="36"/>
                  </a:cubicBezTo>
                  <a:cubicBezTo>
                    <a:pt x="4" y="36"/>
                    <a:pt x="11" y="36"/>
                    <a:pt x="12" y="36"/>
                  </a:cubicBezTo>
                  <a:cubicBezTo>
                    <a:pt x="13" y="36"/>
                    <a:pt x="17" y="42"/>
                    <a:pt x="18" y="42"/>
                  </a:cubicBezTo>
                  <a:cubicBezTo>
                    <a:pt x="19" y="42"/>
                    <a:pt x="20" y="43"/>
                    <a:pt x="21" y="42"/>
                  </a:cubicBezTo>
                  <a:cubicBezTo>
                    <a:pt x="22" y="42"/>
                    <a:pt x="24" y="40"/>
                    <a:pt x="24" y="40"/>
                  </a:cubicBezTo>
                  <a:cubicBezTo>
                    <a:pt x="25" y="40"/>
                    <a:pt x="30" y="40"/>
                    <a:pt x="30" y="40"/>
                  </a:cubicBezTo>
                  <a:cubicBezTo>
                    <a:pt x="32" y="52"/>
                    <a:pt x="32" y="52"/>
                    <a:pt x="32" y="52"/>
                  </a:cubicBezTo>
                  <a:cubicBezTo>
                    <a:pt x="38" y="53"/>
                    <a:pt x="38" y="53"/>
                    <a:pt x="38" y="53"/>
                  </a:cubicBezTo>
                  <a:cubicBezTo>
                    <a:pt x="43" y="53"/>
                    <a:pt x="43" y="53"/>
                    <a:pt x="43" y="53"/>
                  </a:cubicBezTo>
                  <a:cubicBezTo>
                    <a:pt x="49" y="56"/>
                    <a:pt x="49" y="56"/>
                    <a:pt x="49" y="56"/>
                  </a:cubicBezTo>
                  <a:cubicBezTo>
                    <a:pt x="55" y="59"/>
                    <a:pt x="55" y="59"/>
                    <a:pt x="55" y="59"/>
                  </a:cubicBezTo>
                  <a:cubicBezTo>
                    <a:pt x="55" y="57"/>
                    <a:pt x="55" y="57"/>
                    <a:pt x="55" y="57"/>
                  </a:cubicBezTo>
                  <a:cubicBezTo>
                    <a:pt x="52" y="53"/>
                    <a:pt x="52" y="53"/>
                    <a:pt x="52" y="53"/>
                  </a:cubicBezTo>
                  <a:cubicBezTo>
                    <a:pt x="53" y="50"/>
                    <a:pt x="53" y="50"/>
                    <a:pt x="53" y="50"/>
                  </a:cubicBezTo>
                  <a:cubicBezTo>
                    <a:pt x="54" y="44"/>
                    <a:pt x="54" y="44"/>
                    <a:pt x="54" y="44"/>
                  </a:cubicBezTo>
                  <a:cubicBezTo>
                    <a:pt x="57" y="43"/>
                    <a:pt x="57" y="43"/>
                    <a:pt x="57" y="43"/>
                  </a:cubicBezTo>
                  <a:cubicBezTo>
                    <a:pt x="55" y="37"/>
                    <a:pt x="55" y="37"/>
                    <a:pt x="55" y="37"/>
                  </a:cubicBezTo>
                  <a:cubicBezTo>
                    <a:pt x="54" y="31"/>
                    <a:pt x="54" y="31"/>
                    <a:pt x="54" y="31"/>
                  </a:cubicBezTo>
                  <a:cubicBezTo>
                    <a:pt x="53" y="25"/>
                    <a:pt x="53" y="25"/>
                    <a:pt x="53" y="25"/>
                  </a:cubicBezTo>
                  <a:cubicBezTo>
                    <a:pt x="55" y="18"/>
                    <a:pt x="55" y="18"/>
                    <a:pt x="55" y="18"/>
                  </a:cubicBezTo>
                  <a:cubicBezTo>
                    <a:pt x="59" y="11"/>
                    <a:pt x="59" y="11"/>
                    <a:pt x="59" y="11"/>
                  </a:cubicBezTo>
                  <a:cubicBezTo>
                    <a:pt x="59" y="10"/>
                    <a:pt x="59" y="10"/>
                    <a:pt x="59" y="10"/>
                  </a:cubicBezTo>
                  <a:cubicBezTo>
                    <a:pt x="59" y="5"/>
                    <a:pt x="59" y="5"/>
                    <a:pt x="59" y="5"/>
                  </a:cubicBezTo>
                  <a:cubicBezTo>
                    <a:pt x="56" y="3"/>
                    <a:pt x="56" y="3"/>
                    <a:pt x="56" y="3"/>
                  </a:cubicBezTo>
                  <a:cubicBezTo>
                    <a:pt x="51" y="3"/>
                    <a:pt x="51" y="3"/>
                    <a:pt x="51" y="3"/>
                  </a:cubicBezTo>
                  <a:cubicBezTo>
                    <a:pt x="49" y="0"/>
                    <a:pt x="49" y="0"/>
                    <a:pt x="49" y="0"/>
                  </a:cubicBezTo>
                  <a:cubicBezTo>
                    <a:pt x="41" y="1"/>
                    <a:pt x="41" y="1"/>
                    <a:pt x="41" y="1"/>
                  </a:cubicBezTo>
                  <a:cubicBezTo>
                    <a:pt x="32" y="3"/>
                    <a:pt x="32" y="3"/>
                    <a:pt x="32" y="3"/>
                  </a:cubicBezTo>
                  <a:cubicBezTo>
                    <a:pt x="27" y="1"/>
                    <a:pt x="27" y="1"/>
                    <a:pt x="27" y="1"/>
                  </a:cubicBezTo>
                  <a:cubicBezTo>
                    <a:pt x="21" y="2"/>
                    <a:pt x="21" y="2"/>
                    <a:pt x="21" y="2"/>
                  </a:cubicBezTo>
                  <a:cubicBezTo>
                    <a:pt x="21" y="6"/>
                    <a:pt x="21" y="6"/>
                    <a:pt x="21" y="6"/>
                  </a:cubicBezTo>
                </a:path>
              </a:pathLst>
            </a:custGeom>
            <a:grpFill/>
            <a:ln w="9525">
              <a:solidFill>
                <a:schemeClr val="bg2">
                  <a:lumMod val="50000"/>
                </a:schemeClr>
              </a:solidFill>
              <a:round/>
              <a:headEnd/>
              <a:tailEnd/>
            </a:ln>
          </p:spPr>
          <p:txBody>
            <a:bodyPr/>
            <a:lstStyle/>
            <a:p>
              <a:endParaRPr lang="en-US" dirty="0"/>
            </a:p>
          </p:txBody>
        </p:sp>
        <p:sp>
          <p:nvSpPr>
            <p:cNvPr id="110" name="Freeform 378"/>
            <p:cNvSpPr>
              <a:spLocks/>
            </p:cNvSpPr>
            <p:nvPr/>
          </p:nvSpPr>
          <p:spPr bwMode="gray">
            <a:xfrm>
              <a:off x="5625227" y="3770855"/>
              <a:ext cx="311616" cy="285693"/>
            </a:xfrm>
            <a:custGeom>
              <a:avLst/>
              <a:gdLst>
                <a:gd name="T0" fmla="*/ 2147483647 w 47"/>
                <a:gd name="T1" fmla="*/ 2147483647 h 45"/>
                <a:gd name="T2" fmla="*/ 2147483647 w 47"/>
                <a:gd name="T3" fmla="*/ 2147483647 h 45"/>
                <a:gd name="T4" fmla="*/ 2147483647 w 47"/>
                <a:gd name="T5" fmla="*/ 2147483647 h 45"/>
                <a:gd name="T6" fmla="*/ 2147483647 w 47"/>
                <a:gd name="T7" fmla="*/ 2147483647 h 45"/>
                <a:gd name="T8" fmla="*/ 2147483647 w 47"/>
                <a:gd name="T9" fmla="*/ 2147483647 h 45"/>
                <a:gd name="T10" fmla="*/ 2147483647 w 47"/>
                <a:gd name="T11" fmla="*/ 2147483647 h 45"/>
                <a:gd name="T12" fmla="*/ 2147483647 w 47"/>
                <a:gd name="T13" fmla="*/ 2147483647 h 45"/>
                <a:gd name="T14" fmla="*/ 2147483647 w 47"/>
                <a:gd name="T15" fmla="*/ 2147483647 h 45"/>
                <a:gd name="T16" fmla="*/ 2147483647 w 47"/>
                <a:gd name="T17" fmla="*/ 2147483647 h 45"/>
                <a:gd name="T18" fmla="*/ 2147483647 w 47"/>
                <a:gd name="T19" fmla="*/ 2147483647 h 45"/>
                <a:gd name="T20" fmla="*/ 2147483647 w 47"/>
                <a:gd name="T21" fmla="*/ 2147483647 h 45"/>
                <a:gd name="T22" fmla="*/ 2147483647 w 47"/>
                <a:gd name="T23" fmla="*/ 2147483647 h 45"/>
                <a:gd name="T24" fmla="*/ 2147483647 w 47"/>
                <a:gd name="T25" fmla="*/ 2147483647 h 45"/>
                <a:gd name="T26" fmla="*/ 2147483647 w 47"/>
                <a:gd name="T27" fmla="*/ 2147483647 h 45"/>
                <a:gd name="T28" fmla="*/ 2147483647 w 47"/>
                <a:gd name="T29" fmla="*/ 0 h 45"/>
                <a:gd name="T30" fmla="*/ 2147483647 w 47"/>
                <a:gd name="T31" fmla="*/ 0 h 45"/>
                <a:gd name="T32" fmla="*/ 2147483647 w 47"/>
                <a:gd name="T33" fmla="*/ 2147483647 h 45"/>
                <a:gd name="T34" fmla="*/ 2147483647 w 47"/>
                <a:gd name="T35" fmla="*/ 2147483647 h 45"/>
                <a:gd name="T36" fmla="*/ 2147483647 w 47"/>
                <a:gd name="T37" fmla="*/ 2147483647 h 45"/>
                <a:gd name="T38" fmla="*/ 2147483647 w 47"/>
                <a:gd name="T39" fmla="*/ 2147483647 h 45"/>
                <a:gd name="T40" fmla="*/ 2147483647 w 47"/>
                <a:gd name="T41" fmla="*/ 2147483647 h 45"/>
                <a:gd name="T42" fmla="*/ 2147483647 w 47"/>
                <a:gd name="T43" fmla="*/ 2147483647 h 45"/>
                <a:gd name="T44" fmla="*/ 2147483647 w 47"/>
                <a:gd name="T45" fmla="*/ 2147483647 h 45"/>
                <a:gd name="T46" fmla="*/ 0 w 47"/>
                <a:gd name="T47" fmla="*/ 2147483647 h 45"/>
                <a:gd name="T48" fmla="*/ 2147483647 w 47"/>
                <a:gd name="T49" fmla="*/ 2147483647 h 45"/>
                <a:gd name="T50" fmla="*/ 2147483647 w 47"/>
                <a:gd name="T51" fmla="*/ 2147483647 h 45"/>
                <a:gd name="T52" fmla="*/ 2147483647 w 47"/>
                <a:gd name="T53" fmla="*/ 2147483647 h 45"/>
                <a:gd name="T54" fmla="*/ 2147483647 w 47"/>
                <a:gd name="T55" fmla="*/ 2147483647 h 45"/>
                <a:gd name="T56" fmla="*/ 2147483647 w 47"/>
                <a:gd name="T57" fmla="*/ 2147483647 h 45"/>
                <a:gd name="T58" fmla="*/ 2147483647 w 47"/>
                <a:gd name="T59" fmla="*/ 2147483647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7" h="45">
                  <a:moveTo>
                    <a:pt x="22" y="45"/>
                  </a:moveTo>
                  <a:cubicBezTo>
                    <a:pt x="23" y="45"/>
                    <a:pt x="24" y="44"/>
                    <a:pt x="24" y="44"/>
                  </a:cubicBezTo>
                  <a:cubicBezTo>
                    <a:pt x="27" y="45"/>
                    <a:pt x="27" y="45"/>
                    <a:pt x="27" y="45"/>
                  </a:cubicBezTo>
                  <a:cubicBezTo>
                    <a:pt x="29" y="45"/>
                    <a:pt x="29" y="45"/>
                    <a:pt x="29" y="45"/>
                  </a:cubicBezTo>
                  <a:cubicBezTo>
                    <a:pt x="32" y="43"/>
                    <a:pt x="32" y="43"/>
                    <a:pt x="32" y="43"/>
                  </a:cubicBezTo>
                  <a:cubicBezTo>
                    <a:pt x="39" y="41"/>
                    <a:pt x="39" y="41"/>
                    <a:pt x="39" y="41"/>
                  </a:cubicBezTo>
                  <a:cubicBezTo>
                    <a:pt x="47" y="32"/>
                    <a:pt x="47" y="32"/>
                    <a:pt x="47" y="32"/>
                  </a:cubicBezTo>
                  <a:cubicBezTo>
                    <a:pt x="40" y="31"/>
                    <a:pt x="40" y="31"/>
                    <a:pt x="40" y="31"/>
                  </a:cubicBezTo>
                  <a:cubicBezTo>
                    <a:pt x="33" y="27"/>
                    <a:pt x="33" y="27"/>
                    <a:pt x="33" y="27"/>
                  </a:cubicBezTo>
                  <a:cubicBezTo>
                    <a:pt x="31" y="24"/>
                    <a:pt x="31" y="24"/>
                    <a:pt x="31" y="24"/>
                  </a:cubicBezTo>
                  <a:cubicBezTo>
                    <a:pt x="34" y="22"/>
                    <a:pt x="34" y="22"/>
                    <a:pt x="34" y="22"/>
                  </a:cubicBezTo>
                  <a:cubicBezTo>
                    <a:pt x="33" y="20"/>
                    <a:pt x="33" y="20"/>
                    <a:pt x="33" y="20"/>
                  </a:cubicBezTo>
                  <a:cubicBezTo>
                    <a:pt x="25" y="8"/>
                    <a:pt x="25" y="8"/>
                    <a:pt x="25" y="8"/>
                  </a:cubicBezTo>
                  <a:cubicBezTo>
                    <a:pt x="20" y="6"/>
                    <a:pt x="20" y="6"/>
                    <a:pt x="20" y="6"/>
                  </a:cubicBezTo>
                  <a:cubicBezTo>
                    <a:pt x="17" y="0"/>
                    <a:pt x="17" y="0"/>
                    <a:pt x="17" y="0"/>
                  </a:cubicBezTo>
                  <a:cubicBezTo>
                    <a:pt x="17" y="0"/>
                    <a:pt x="17" y="0"/>
                    <a:pt x="17" y="0"/>
                  </a:cubicBezTo>
                  <a:cubicBezTo>
                    <a:pt x="15" y="1"/>
                    <a:pt x="15" y="1"/>
                    <a:pt x="15" y="1"/>
                  </a:cubicBezTo>
                  <a:cubicBezTo>
                    <a:pt x="12" y="3"/>
                    <a:pt x="12" y="3"/>
                    <a:pt x="12" y="3"/>
                  </a:cubicBezTo>
                  <a:cubicBezTo>
                    <a:pt x="11" y="14"/>
                    <a:pt x="11" y="14"/>
                    <a:pt x="11" y="14"/>
                  </a:cubicBezTo>
                  <a:cubicBezTo>
                    <a:pt x="8" y="20"/>
                    <a:pt x="8" y="20"/>
                    <a:pt x="8" y="20"/>
                  </a:cubicBezTo>
                  <a:cubicBezTo>
                    <a:pt x="4" y="24"/>
                    <a:pt x="4" y="24"/>
                    <a:pt x="4" y="24"/>
                  </a:cubicBezTo>
                  <a:cubicBezTo>
                    <a:pt x="3" y="30"/>
                    <a:pt x="3" y="30"/>
                    <a:pt x="3" y="30"/>
                  </a:cubicBezTo>
                  <a:cubicBezTo>
                    <a:pt x="1" y="30"/>
                    <a:pt x="1" y="30"/>
                    <a:pt x="1" y="30"/>
                  </a:cubicBezTo>
                  <a:cubicBezTo>
                    <a:pt x="0" y="33"/>
                    <a:pt x="0" y="33"/>
                    <a:pt x="0" y="33"/>
                  </a:cubicBezTo>
                  <a:cubicBezTo>
                    <a:pt x="4" y="36"/>
                    <a:pt x="4" y="36"/>
                    <a:pt x="4" y="36"/>
                  </a:cubicBezTo>
                  <a:cubicBezTo>
                    <a:pt x="7" y="39"/>
                    <a:pt x="7" y="39"/>
                    <a:pt x="7" y="39"/>
                  </a:cubicBezTo>
                  <a:cubicBezTo>
                    <a:pt x="9" y="41"/>
                    <a:pt x="9" y="41"/>
                    <a:pt x="9" y="41"/>
                  </a:cubicBezTo>
                  <a:cubicBezTo>
                    <a:pt x="9" y="42"/>
                    <a:pt x="9" y="42"/>
                    <a:pt x="9" y="42"/>
                  </a:cubicBezTo>
                  <a:cubicBezTo>
                    <a:pt x="12" y="43"/>
                    <a:pt x="12" y="43"/>
                    <a:pt x="12" y="43"/>
                  </a:cubicBezTo>
                  <a:cubicBezTo>
                    <a:pt x="12" y="43"/>
                    <a:pt x="21" y="45"/>
                    <a:pt x="22" y="45"/>
                  </a:cubicBezTo>
                  <a:close/>
                </a:path>
              </a:pathLst>
            </a:custGeom>
            <a:grpFill/>
            <a:ln w="9525">
              <a:solidFill>
                <a:schemeClr val="bg2">
                  <a:lumMod val="50000"/>
                </a:schemeClr>
              </a:solidFill>
              <a:round/>
              <a:headEnd/>
              <a:tailEnd/>
            </a:ln>
          </p:spPr>
          <p:txBody>
            <a:bodyPr/>
            <a:lstStyle/>
            <a:p>
              <a:endParaRPr lang="en-US" dirty="0"/>
            </a:p>
          </p:txBody>
        </p:sp>
        <p:sp>
          <p:nvSpPr>
            <p:cNvPr id="111" name="Freeform 379"/>
            <p:cNvSpPr>
              <a:spLocks/>
            </p:cNvSpPr>
            <p:nvPr/>
          </p:nvSpPr>
          <p:spPr bwMode="gray">
            <a:xfrm>
              <a:off x="5645288" y="4036051"/>
              <a:ext cx="172527" cy="189608"/>
            </a:xfrm>
            <a:custGeom>
              <a:avLst/>
              <a:gdLst>
                <a:gd name="T0" fmla="*/ 2147483647 w 26"/>
                <a:gd name="T1" fmla="*/ 2147483647 h 30"/>
                <a:gd name="T2" fmla="*/ 2147483647 w 26"/>
                <a:gd name="T3" fmla="*/ 2147483647 h 30"/>
                <a:gd name="T4" fmla="*/ 2147483647 w 26"/>
                <a:gd name="T5" fmla="*/ 2147483647 h 30"/>
                <a:gd name="T6" fmla="*/ 2147483647 w 26"/>
                <a:gd name="T7" fmla="*/ 2147483647 h 30"/>
                <a:gd name="T8" fmla="*/ 2147483647 w 26"/>
                <a:gd name="T9" fmla="*/ 2147483647 h 30"/>
                <a:gd name="T10" fmla="*/ 2147483647 w 26"/>
                <a:gd name="T11" fmla="*/ 2147483647 h 30"/>
                <a:gd name="T12" fmla="*/ 2147483647 w 26"/>
                <a:gd name="T13" fmla="*/ 2147483647 h 30"/>
                <a:gd name="T14" fmla="*/ 2147483647 w 26"/>
                <a:gd name="T15" fmla="*/ 0 h 30"/>
                <a:gd name="T16" fmla="*/ 2147483647 w 26"/>
                <a:gd name="T17" fmla="*/ 2147483647 h 30"/>
                <a:gd name="T18" fmla="*/ 2147483647 w 26"/>
                <a:gd name="T19" fmla="*/ 2147483647 h 30"/>
                <a:gd name="T20" fmla="*/ 0 w 26"/>
                <a:gd name="T21" fmla="*/ 2147483647 h 30"/>
                <a:gd name="T22" fmla="*/ 2147483647 w 26"/>
                <a:gd name="T23" fmla="*/ 2147483647 h 30"/>
                <a:gd name="T24" fmla="*/ 2147483647 w 26"/>
                <a:gd name="T25" fmla="*/ 2147483647 h 30"/>
                <a:gd name="T26" fmla="*/ 0 w 26"/>
                <a:gd name="T27" fmla="*/ 2147483647 h 30"/>
                <a:gd name="T28" fmla="*/ 2147483647 w 26"/>
                <a:gd name="T29" fmla="*/ 2147483647 h 30"/>
                <a:gd name="T30" fmla="*/ 2147483647 w 26"/>
                <a:gd name="T31" fmla="*/ 2147483647 h 30"/>
                <a:gd name="T32" fmla="*/ 2147483647 w 26"/>
                <a:gd name="T33" fmla="*/ 2147483647 h 30"/>
                <a:gd name="T34" fmla="*/ 2147483647 w 26"/>
                <a:gd name="T35" fmla="*/ 2147483647 h 30"/>
                <a:gd name="T36" fmla="*/ 2147483647 w 26"/>
                <a:gd name="T37" fmla="*/ 2147483647 h 30"/>
                <a:gd name="T38" fmla="*/ 2147483647 w 26"/>
                <a:gd name="T39" fmla="*/ 2147483647 h 30"/>
                <a:gd name="T40" fmla="*/ 2147483647 w 26"/>
                <a:gd name="T41" fmla="*/ 2147483647 h 30"/>
                <a:gd name="T42" fmla="*/ 2147483647 w 26"/>
                <a:gd name="T43" fmla="*/ 2147483647 h 30"/>
                <a:gd name="T44" fmla="*/ 2147483647 w 26"/>
                <a:gd name="T45" fmla="*/ 2147483647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6" h="30">
                  <a:moveTo>
                    <a:pt x="23" y="7"/>
                  </a:moveTo>
                  <a:cubicBezTo>
                    <a:pt x="26" y="4"/>
                    <a:pt x="26" y="4"/>
                    <a:pt x="26" y="4"/>
                  </a:cubicBezTo>
                  <a:cubicBezTo>
                    <a:pt x="26" y="3"/>
                    <a:pt x="26" y="3"/>
                    <a:pt x="26" y="3"/>
                  </a:cubicBezTo>
                  <a:cubicBezTo>
                    <a:pt x="24" y="3"/>
                    <a:pt x="24" y="3"/>
                    <a:pt x="24" y="3"/>
                  </a:cubicBezTo>
                  <a:cubicBezTo>
                    <a:pt x="21" y="2"/>
                    <a:pt x="21" y="2"/>
                    <a:pt x="21" y="2"/>
                  </a:cubicBezTo>
                  <a:cubicBezTo>
                    <a:pt x="21" y="2"/>
                    <a:pt x="20" y="3"/>
                    <a:pt x="19" y="3"/>
                  </a:cubicBezTo>
                  <a:cubicBezTo>
                    <a:pt x="18" y="3"/>
                    <a:pt x="9" y="1"/>
                    <a:pt x="9" y="1"/>
                  </a:cubicBezTo>
                  <a:cubicBezTo>
                    <a:pt x="6" y="0"/>
                    <a:pt x="6" y="0"/>
                    <a:pt x="6" y="0"/>
                  </a:cubicBezTo>
                  <a:cubicBezTo>
                    <a:pt x="6" y="1"/>
                    <a:pt x="6" y="1"/>
                    <a:pt x="6" y="1"/>
                  </a:cubicBezTo>
                  <a:cubicBezTo>
                    <a:pt x="3" y="1"/>
                    <a:pt x="3" y="1"/>
                    <a:pt x="3" y="1"/>
                  </a:cubicBezTo>
                  <a:cubicBezTo>
                    <a:pt x="0" y="3"/>
                    <a:pt x="0" y="3"/>
                    <a:pt x="0" y="3"/>
                  </a:cubicBezTo>
                  <a:cubicBezTo>
                    <a:pt x="2" y="5"/>
                    <a:pt x="2" y="5"/>
                    <a:pt x="2" y="5"/>
                  </a:cubicBezTo>
                  <a:cubicBezTo>
                    <a:pt x="2" y="9"/>
                    <a:pt x="2" y="9"/>
                    <a:pt x="2" y="9"/>
                  </a:cubicBezTo>
                  <a:cubicBezTo>
                    <a:pt x="0" y="13"/>
                    <a:pt x="0" y="13"/>
                    <a:pt x="0" y="13"/>
                  </a:cubicBezTo>
                  <a:cubicBezTo>
                    <a:pt x="1" y="19"/>
                    <a:pt x="1" y="19"/>
                    <a:pt x="1" y="19"/>
                  </a:cubicBezTo>
                  <a:cubicBezTo>
                    <a:pt x="12" y="24"/>
                    <a:pt x="12" y="24"/>
                    <a:pt x="12" y="24"/>
                  </a:cubicBezTo>
                  <a:cubicBezTo>
                    <a:pt x="12" y="27"/>
                    <a:pt x="12" y="27"/>
                    <a:pt x="12" y="27"/>
                  </a:cubicBezTo>
                  <a:cubicBezTo>
                    <a:pt x="17" y="30"/>
                    <a:pt x="17" y="30"/>
                    <a:pt x="17" y="30"/>
                  </a:cubicBezTo>
                  <a:cubicBezTo>
                    <a:pt x="17" y="29"/>
                    <a:pt x="18" y="29"/>
                    <a:pt x="18" y="29"/>
                  </a:cubicBezTo>
                  <a:cubicBezTo>
                    <a:pt x="22" y="23"/>
                    <a:pt x="22" y="23"/>
                    <a:pt x="22" y="23"/>
                  </a:cubicBezTo>
                  <a:cubicBezTo>
                    <a:pt x="25" y="20"/>
                    <a:pt x="25" y="20"/>
                    <a:pt x="25" y="20"/>
                  </a:cubicBezTo>
                  <a:cubicBezTo>
                    <a:pt x="23" y="17"/>
                    <a:pt x="23" y="17"/>
                    <a:pt x="23" y="17"/>
                  </a:cubicBezTo>
                  <a:lnTo>
                    <a:pt x="23" y="7"/>
                  </a:lnTo>
                  <a:close/>
                </a:path>
              </a:pathLst>
            </a:custGeom>
            <a:grpFill/>
            <a:ln w="9525">
              <a:solidFill>
                <a:schemeClr val="bg2">
                  <a:lumMod val="50000"/>
                </a:schemeClr>
              </a:solidFill>
              <a:round/>
              <a:headEnd/>
              <a:tailEnd/>
            </a:ln>
          </p:spPr>
          <p:txBody>
            <a:bodyPr/>
            <a:lstStyle/>
            <a:p>
              <a:endParaRPr lang="en-US" dirty="0"/>
            </a:p>
          </p:txBody>
        </p:sp>
        <p:sp>
          <p:nvSpPr>
            <p:cNvPr id="112" name="Freeform 380"/>
            <p:cNvSpPr>
              <a:spLocks/>
            </p:cNvSpPr>
            <p:nvPr/>
          </p:nvSpPr>
          <p:spPr bwMode="gray">
            <a:xfrm>
              <a:off x="5459388" y="4446013"/>
              <a:ext cx="159152" cy="144768"/>
            </a:xfrm>
            <a:custGeom>
              <a:avLst/>
              <a:gdLst>
                <a:gd name="T0" fmla="*/ 2147483647 w 24"/>
                <a:gd name="T1" fmla="*/ 2147483647 h 23"/>
                <a:gd name="T2" fmla="*/ 2147483647 w 24"/>
                <a:gd name="T3" fmla="*/ 2147483647 h 23"/>
                <a:gd name="T4" fmla="*/ 2147483647 w 24"/>
                <a:gd name="T5" fmla="*/ 2147483647 h 23"/>
                <a:gd name="T6" fmla="*/ 0 w 24"/>
                <a:gd name="T7" fmla="*/ 2147483647 h 23"/>
                <a:gd name="T8" fmla="*/ 2147483647 w 24"/>
                <a:gd name="T9" fmla="*/ 2147483647 h 23"/>
                <a:gd name="T10" fmla="*/ 2147483647 w 24"/>
                <a:gd name="T11" fmla="*/ 2147483647 h 23"/>
                <a:gd name="T12" fmla="*/ 2147483647 w 24"/>
                <a:gd name="T13" fmla="*/ 2147483647 h 23"/>
                <a:gd name="T14" fmla="*/ 2147483647 w 24"/>
                <a:gd name="T15" fmla="*/ 2147483647 h 23"/>
                <a:gd name="T16" fmla="*/ 2147483647 w 24"/>
                <a:gd name="T17" fmla="*/ 2147483647 h 23"/>
                <a:gd name="T18" fmla="*/ 2147483647 w 24"/>
                <a:gd name="T19" fmla="*/ 2147483647 h 23"/>
                <a:gd name="T20" fmla="*/ 2147483647 w 24"/>
                <a:gd name="T21" fmla="*/ 2147483647 h 23"/>
                <a:gd name="T22" fmla="*/ 2147483647 w 24"/>
                <a:gd name="T23" fmla="*/ 2147483647 h 23"/>
                <a:gd name="T24" fmla="*/ 2147483647 w 24"/>
                <a:gd name="T25" fmla="*/ 2147483647 h 23"/>
                <a:gd name="T26" fmla="*/ 2147483647 w 24"/>
                <a:gd name="T27" fmla="*/ 2147483647 h 23"/>
                <a:gd name="T28" fmla="*/ 2147483647 w 24"/>
                <a:gd name="T29" fmla="*/ 2147483647 h 23"/>
                <a:gd name="T30" fmla="*/ 2147483647 w 24"/>
                <a:gd name="T31" fmla="*/ 0 h 23"/>
                <a:gd name="T32" fmla="*/ 2147483647 w 24"/>
                <a:gd name="T33" fmla="*/ 2147483647 h 23"/>
                <a:gd name="T34" fmla="*/ 2147483647 w 24"/>
                <a:gd name="T35" fmla="*/ 2147483647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 h="23">
                  <a:moveTo>
                    <a:pt x="9" y="5"/>
                  </a:moveTo>
                  <a:cubicBezTo>
                    <a:pt x="9" y="5"/>
                    <a:pt x="6" y="8"/>
                    <a:pt x="6" y="8"/>
                  </a:cubicBezTo>
                  <a:cubicBezTo>
                    <a:pt x="5" y="8"/>
                    <a:pt x="2" y="7"/>
                    <a:pt x="2" y="7"/>
                  </a:cubicBezTo>
                  <a:cubicBezTo>
                    <a:pt x="0" y="8"/>
                    <a:pt x="0" y="8"/>
                    <a:pt x="0" y="8"/>
                  </a:cubicBezTo>
                  <a:cubicBezTo>
                    <a:pt x="1" y="8"/>
                    <a:pt x="1" y="8"/>
                    <a:pt x="1" y="8"/>
                  </a:cubicBezTo>
                  <a:cubicBezTo>
                    <a:pt x="3" y="12"/>
                    <a:pt x="3" y="12"/>
                    <a:pt x="3" y="12"/>
                  </a:cubicBezTo>
                  <a:cubicBezTo>
                    <a:pt x="6" y="16"/>
                    <a:pt x="6" y="16"/>
                    <a:pt x="6" y="16"/>
                  </a:cubicBezTo>
                  <a:cubicBezTo>
                    <a:pt x="8" y="16"/>
                    <a:pt x="8" y="16"/>
                    <a:pt x="8" y="16"/>
                  </a:cubicBezTo>
                  <a:cubicBezTo>
                    <a:pt x="9" y="20"/>
                    <a:pt x="9" y="20"/>
                    <a:pt x="9" y="20"/>
                  </a:cubicBezTo>
                  <a:cubicBezTo>
                    <a:pt x="14" y="22"/>
                    <a:pt x="14" y="22"/>
                    <a:pt x="14" y="22"/>
                  </a:cubicBezTo>
                  <a:cubicBezTo>
                    <a:pt x="20" y="23"/>
                    <a:pt x="20" y="23"/>
                    <a:pt x="20" y="23"/>
                  </a:cubicBezTo>
                  <a:cubicBezTo>
                    <a:pt x="22" y="20"/>
                    <a:pt x="22" y="20"/>
                    <a:pt x="22" y="20"/>
                  </a:cubicBezTo>
                  <a:cubicBezTo>
                    <a:pt x="24" y="12"/>
                    <a:pt x="24" y="12"/>
                    <a:pt x="24" y="12"/>
                  </a:cubicBezTo>
                  <a:cubicBezTo>
                    <a:pt x="24" y="7"/>
                    <a:pt x="24" y="7"/>
                    <a:pt x="24" y="7"/>
                  </a:cubicBezTo>
                  <a:cubicBezTo>
                    <a:pt x="24" y="3"/>
                    <a:pt x="24" y="3"/>
                    <a:pt x="24" y="3"/>
                  </a:cubicBezTo>
                  <a:cubicBezTo>
                    <a:pt x="16" y="0"/>
                    <a:pt x="16" y="0"/>
                    <a:pt x="16" y="0"/>
                  </a:cubicBezTo>
                  <a:cubicBezTo>
                    <a:pt x="13" y="1"/>
                    <a:pt x="13" y="1"/>
                    <a:pt x="13" y="1"/>
                  </a:cubicBezTo>
                  <a:lnTo>
                    <a:pt x="9" y="5"/>
                  </a:lnTo>
                  <a:close/>
                </a:path>
              </a:pathLst>
            </a:custGeom>
            <a:grpFill/>
            <a:ln w="9525">
              <a:solidFill>
                <a:schemeClr val="bg2">
                  <a:lumMod val="50000"/>
                </a:schemeClr>
              </a:solidFill>
              <a:round/>
              <a:headEnd/>
              <a:tailEnd/>
            </a:ln>
          </p:spPr>
          <p:txBody>
            <a:bodyPr/>
            <a:lstStyle/>
            <a:p>
              <a:endParaRPr lang="en-US" dirty="0"/>
            </a:p>
          </p:txBody>
        </p:sp>
        <p:sp>
          <p:nvSpPr>
            <p:cNvPr id="113" name="Freeform 381"/>
            <p:cNvSpPr>
              <a:spLocks/>
            </p:cNvSpPr>
            <p:nvPr/>
          </p:nvSpPr>
          <p:spPr bwMode="gray">
            <a:xfrm>
              <a:off x="5400542" y="4056549"/>
              <a:ext cx="284868" cy="439429"/>
            </a:xfrm>
            <a:custGeom>
              <a:avLst/>
              <a:gdLst>
                <a:gd name="T0" fmla="*/ 2147483647 w 43"/>
                <a:gd name="T1" fmla="*/ 2147483647 h 70"/>
                <a:gd name="T2" fmla="*/ 2147483647 w 43"/>
                <a:gd name="T3" fmla="*/ 2147483647 h 70"/>
                <a:gd name="T4" fmla="*/ 2147483647 w 43"/>
                <a:gd name="T5" fmla="*/ 2147483647 h 70"/>
                <a:gd name="T6" fmla="*/ 2147483647 w 43"/>
                <a:gd name="T7" fmla="*/ 2147483647 h 70"/>
                <a:gd name="T8" fmla="*/ 2147483647 w 43"/>
                <a:gd name="T9" fmla="*/ 2147483647 h 70"/>
                <a:gd name="T10" fmla="*/ 2147483647 w 43"/>
                <a:gd name="T11" fmla="*/ 2147483647 h 70"/>
                <a:gd name="T12" fmla="*/ 2147483647 w 43"/>
                <a:gd name="T13" fmla="*/ 2147483647 h 70"/>
                <a:gd name="T14" fmla="*/ 2147483647 w 43"/>
                <a:gd name="T15" fmla="*/ 2147483647 h 70"/>
                <a:gd name="T16" fmla="*/ 2147483647 w 43"/>
                <a:gd name="T17" fmla="*/ 2147483647 h 70"/>
                <a:gd name="T18" fmla="*/ 2147483647 w 43"/>
                <a:gd name="T19" fmla="*/ 2147483647 h 70"/>
                <a:gd name="T20" fmla="*/ 2147483647 w 43"/>
                <a:gd name="T21" fmla="*/ 2147483647 h 70"/>
                <a:gd name="T22" fmla="*/ 2147483647 w 43"/>
                <a:gd name="T23" fmla="*/ 2147483647 h 70"/>
                <a:gd name="T24" fmla="*/ 2147483647 w 43"/>
                <a:gd name="T25" fmla="*/ 2147483647 h 70"/>
                <a:gd name="T26" fmla="*/ 2147483647 w 43"/>
                <a:gd name="T27" fmla="*/ 2147483647 h 70"/>
                <a:gd name="T28" fmla="*/ 2147483647 w 43"/>
                <a:gd name="T29" fmla="*/ 2147483647 h 70"/>
                <a:gd name="T30" fmla="*/ 0 w 43"/>
                <a:gd name="T31" fmla="*/ 2147483647 h 70"/>
                <a:gd name="T32" fmla="*/ 0 w 43"/>
                <a:gd name="T33" fmla="*/ 2147483647 h 70"/>
                <a:gd name="T34" fmla="*/ 2147483647 w 43"/>
                <a:gd name="T35" fmla="*/ 2147483647 h 70"/>
                <a:gd name="T36" fmla="*/ 2147483647 w 43"/>
                <a:gd name="T37" fmla="*/ 2147483647 h 70"/>
                <a:gd name="T38" fmla="*/ 2147483647 w 43"/>
                <a:gd name="T39" fmla="*/ 2147483647 h 70"/>
                <a:gd name="T40" fmla="*/ 2147483647 w 43"/>
                <a:gd name="T41" fmla="*/ 2147483647 h 70"/>
                <a:gd name="T42" fmla="*/ 2147483647 w 43"/>
                <a:gd name="T43" fmla="*/ 2147483647 h 70"/>
                <a:gd name="T44" fmla="*/ 2147483647 w 43"/>
                <a:gd name="T45" fmla="*/ 2147483647 h 70"/>
                <a:gd name="T46" fmla="*/ 2147483647 w 43"/>
                <a:gd name="T47" fmla="*/ 2147483647 h 70"/>
                <a:gd name="T48" fmla="*/ 2147483647 w 43"/>
                <a:gd name="T49" fmla="*/ 2147483647 h 70"/>
                <a:gd name="T50" fmla="*/ 2147483647 w 43"/>
                <a:gd name="T51" fmla="*/ 2147483647 h 70"/>
                <a:gd name="T52" fmla="*/ 2147483647 w 43"/>
                <a:gd name="T53" fmla="*/ 2147483647 h 70"/>
                <a:gd name="T54" fmla="*/ 2147483647 w 43"/>
                <a:gd name="T55" fmla="*/ 2147483647 h 70"/>
                <a:gd name="T56" fmla="*/ 2147483647 w 43"/>
                <a:gd name="T57" fmla="*/ 2147483647 h 70"/>
                <a:gd name="T58" fmla="*/ 2147483647 w 43"/>
                <a:gd name="T59" fmla="*/ 2147483647 h 70"/>
                <a:gd name="T60" fmla="*/ 2147483647 w 43"/>
                <a:gd name="T61" fmla="*/ 2147483647 h 70"/>
                <a:gd name="T62" fmla="*/ 2147483647 w 43"/>
                <a:gd name="T63" fmla="*/ 2147483647 h 70"/>
                <a:gd name="T64" fmla="*/ 2147483647 w 43"/>
                <a:gd name="T65" fmla="*/ 2147483647 h 70"/>
                <a:gd name="T66" fmla="*/ 2147483647 w 43"/>
                <a:gd name="T67" fmla="*/ 2147483647 h 70"/>
                <a:gd name="T68" fmla="*/ 2147483647 w 43"/>
                <a:gd name="T69" fmla="*/ 2147483647 h 70"/>
                <a:gd name="T70" fmla="*/ 2147483647 w 43"/>
                <a:gd name="T71" fmla="*/ 2147483647 h 70"/>
                <a:gd name="T72" fmla="*/ 2147483647 w 43"/>
                <a:gd name="T73" fmla="*/ 2147483647 h 70"/>
                <a:gd name="T74" fmla="*/ 2147483647 w 43"/>
                <a:gd name="T75" fmla="*/ 2147483647 h 70"/>
                <a:gd name="T76" fmla="*/ 2147483647 w 43"/>
                <a:gd name="T77" fmla="*/ 2147483647 h 70"/>
                <a:gd name="T78" fmla="*/ 2147483647 w 43"/>
                <a:gd name="T79" fmla="*/ 2147483647 h 70"/>
                <a:gd name="T80" fmla="*/ 2147483647 w 43"/>
                <a:gd name="T81" fmla="*/ 2147483647 h 70"/>
                <a:gd name="T82" fmla="*/ 2147483647 w 43"/>
                <a:gd name="T83" fmla="*/ 2147483647 h 70"/>
                <a:gd name="T84" fmla="*/ 2147483647 w 43"/>
                <a:gd name="T85" fmla="*/ 2147483647 h 70"/>
                <a:gd name="T86" fmla="*/ 2147483647 w 43"/>
                <a:gd name="T87" fmla="*/ 2147483647 h 70"/>
                <a:gd name="T88" fmla="*/ 2147483647 w 43"/>
                <a:gd name="T89" fmla="*/ 2147483647 h 70"/>
                <a:gd name="T90" fmla="*/ 2147483647 w 43"/>
                <a:gd name="T91" fmla="*/ 2147483647 h 70"/>
                <a:gd name="T92" fmla="*/ 2147483647 w 43"/>
                <a:gd name="T93" fmla="*/ 2147483647 h 70"/>
                <a:gd name="T94" fmla="*/ 2147483647 w 43"/>
                <a:gd name="T95" fmla="*/ 2147483647 h 70"/>
                <a:gd name="T96" fmla="*/ 2147483647 w 43"/>
                <a:gd name="T97" fmla="*/ 2147483647 h 70"/>
                <a:gd name="T98" fmla="*/ 2147483647 w 43"/>
                <a:gd name="T99" fmla="*/ 2147483647 h 70"/>
                <a:gd name="T100" fmla="*/ 2147483647 w 43"/>
                <a:gd name="T101" fmla="*/ 2147483647 h 70"/>
                <a:gd name="T102" fmla="*/ 2147483647 w 43"/>
                <a:gd name="T103" fmla="*/ 2147483647 h 70"/>
                <a:gd name="T104" fmla="*/ 2147483647 w 43"/>
                <a:gd name="T105" fmla="*/ 2147483647 h 70"/>
                <a:gd name="T106" fmla="*/ 2147483647 w 43"/>
                <a:gd name="T107" fmla="*/ 2147483647 h 70"/>
                <a:gd name="T108" fmla="*/ 2147483647 w 43"/>
                <a:gd name="T109" fmla="*/ 2147483647 h 70"/>
                <a:gd name="T110" fmla="*/ 2147483647 w 43"/>
                <a:gd name="T111" fmla="*/ 0 h 70"/>
                <a:gd name="T112" fmla="*/ 2147483647 w 43"/>
                <a:gd name="T113" fmla="*/ 0 h 70"/>
                <a:gd name="T114" fmla="*/ 2147483647 w 43"/>
                <a:gd name="T115" fmla="*/ 2147483647 h 70"/>
                <a:gd name="T116" fmla="*/ 2147483647 w 43"/>
                <a:gd name="T117" fmla="*/ 0 h 70"/>
                <a:gd name="T118" fmla="*/ 2147483647 w 43"/>
                <a:gd name="T119" fmla="*/ 2147483647 h 70"/>
                <a:gd name="T120" fmla="*/ 2147483647 w 43"/>
                <a:gd name="T121" fmla="*/ 2147483647 h 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3" h="70">
                  <a:moveTo>
                    <a:pt x="27" y="6"/>
                  </a:moveTo>
                  <a:cubicBezTo>
                    <a:pt x="23" y="13"/>
                    <a:pt x="23" y="13"/>
                    <a:pt x="23" y="13"/>
                  </a:cubicBezTo>
                  <a:cubicBezTo>
                    <a:pt x="21" y="20"/>
                    <a:pt x="21" y="20"/>
                    <a:pt x="21" y="20"/>
                  </a:cubicBezTo>
                  <a:cubicBezTo>
                    <a:pt x="22" y="26"/>
                    <a:pt x="22" y="26"/>
                    <a:pt x="22" y="26"/>
                  </a:cubicBezTo>
                  <a:cubicBezTo>
                    <a:pt x="23" y="32"/>
                    <a:pt x="23" y="32"/>
                    <a:pt x="23" y="32"/>
                  </a:cubicBezTo>
                  <a:cubicBezTo>
                    <a:pt x="25" y="38"/>
                    <a:pt x="25" y="38"/>
                    <a:pt x="25" y="38"/>
                  </a:cubicBezTo>
                  <a:cubicBezTo>
                    <a:pt x="22" y="39"/>
                    <a:pt x="22" y="39"/>
                    <a:pt x="22" y="39"/>
                  </a:cubicBezTo>
                  <a:cubicBezTo>
                    <a:pt x="21" y="45"/>
                    <a:pt x="21" y="45"/>
                    <a:pt x="21" y="45"/>
                  </a:cubicBezTo>
                  <a:cubicBezTo>
                    <a:pt x="20" y="48"/>
                    <a:pt x="20" y="48"/>
                    <a:pt x="20" y="48"/>
                  </a:cubicBezTo>
                  <a:cubicBezTo>
                    <a:pt x="23" y="52"/>
                    <a:pt x="23" y="52"/>
                    <a:pt x="23" y="52"/>
                  </a:cubicBezTo>
                  <a:cubicBezTo>
                    <a:pt x="23" y="54"/>
                    <a:pt x="23" y="54"/>
                    <a:pt x="23" y="54"/>
                  </a:cubicBezTo>
                  <a:cubicBezTo>
                    <a:pt x="17" y="51"/>
                    <a:pt x="17" y="51"/>
                    <a:pt x="17" y="51"/>
                  </a:cubicBezTo>
                  <a:cubicBezTo>
                    <a:pt x="11" y="48"/>
                    <a:pt x="11" y="48"/>
                    <a:pt x="11" y="48"/>
                  </a:cubicBezTo>
                  <a:cubicBezTo>
                    <a:pt x="6" y="48"/>
                    <a:pt x="6" y="48"/>
                    <a:pt x="6" y="48"/>
                  </a:cubicBezTo>
                  <a:cubicBezTo>
                    <a:pt x="6" y="52"/>
                    <a:pt x="6" y="52"/>
                    <a:pt x="6" y="52"/>
                  </a:cubicBezTo>
                  <a:cubicBezTo>
                    <a:pt x="0" y="53"/>
                    <a:pt x="0" y="53"/>
                    <a:pt x="0" y="53"/>
                  </a:cubicBezTo>
                  <a:cubicBezTo>
                    <a:pt x="0" y="64"/>
                    <a:pt x="0" y="64"/>
                    <a:pt x="0" y="64"/>
                  </a:cubicBezTo>
                  <a:cubicBezTo>
                    <a:pt x="2" y="68"/>
                    <a:pt x="2" y="68"/>
                    <a:pt x="2" y="68"/>
                  </a:cubicBezTo>
                  <a:cubicBezTo>
                    <a:pt x="6" y="68"/>
                    <a:pt x="6" y="68"/>
                    <a:pt x="6" y="68"/>
                  </a:cubicBezTo>
                  <a:cubicBezTo>
                    <a:pt x="8" y="69"/>
                    <a:pt x="8" y="69"/>
                    <a:pt x="8" y="69"/>
                  </a:cubicBezTo>
                  <a:cubicBezTo>
                    <a:pt x="7" y="69"/>
                    <a:pt x="7" y="69"/>
                    <a:pt x="7" y="69"/>
                  </a:cubicBezTo>
                  <a:cubicBezTo>
                    <a:pt x="9" y="70"/>
                    <a:pt x="9" y="70"/>
                    <a:pt x="9" y="70"/>
                  </a:cubicBezTo>
                  <a:cubicBezTo>
                    <a:pt x="11" y="69"/>
                    <a:pt x="11" y="69"/>
                    <a:pt x="11" y="69"/>
                  </a:cubicBezTo>
                  <a:cubicBezTo>
                    <a:pt x="11" y="69"/>
                    <a:pt x="14" y="70"/>
                    <a:pt x="15" y="70"/>
                  </a:cubicBezTo>
                  <a:cubicBezTo>
                    <a:pt x="15" y="70"/>
                    <a:pt x="18" y="67"/>
                    <a:pt x="18" y="67"/>
                  </a:cubicBezTo>
                  <a:cubicBezTo>
                    <a:pt x="22" y="63"/>
                    <a:pt x="22" y="63"/>
                    <a:pt x="22" y="63"/>
                  </a:cubicBezTo>
                  <a:cubicBezTo>
                    <a:pt x="25" y="62"/>
                    <a:pt x="25" y="62"/>
                    <a:pt x="25" y="62"/>
                  </a:cubicBezTo>
                  <a:cubicBezTo>
                    <a:pt x="24" y="62"/>
                    <a:pt x="24" y="62"/>
                    <a:pt x="24" y="62"/>
                  </a:cubicBezTo>
                  <a:cubicBezTo>
                    <a:pt x="24" y="61"/>
                    <a:pt x="24" y="61"/>
                    <a:pt x="24" y="61"/>
                  </a:cubicBezTo>
                  <a:cubicBezTo>
                    <a:pt x="33" y="57"/>
                    <a:pt x="33" y="57"/>
                    <a:pt x="33" y="57"/>
                  </a:cubicBezTo>
                  <a:cubicBezTo>
                    <a:pt x="37" y="59"/>
                    <a:pt x="37" y="59"/>
                    <a:pt x="37" y="59"/>
                  </a:cubicBezTo>
                  <a:cubicBezTo>
                    <a:pt x="39" y="62"/>
                    <a:pt x="39" y="62"/>
                    <a:pt x="39" y="62"/>
                  </a:cubicBezTo>
                  <a:cubicBezTo>
                    <a:pt x="40" y="64"/>
                    <a:pt x="40" y="64"/>
                    <a:pt x="40" y="64"/>
                  </a:cubicBezTo>
                  <a:cubicBezTo>
                    <a:pt x="43" y="62"/>
                    <a:pt x="43" y="62"/>
                    <a:pt x="43" y="62"/>
                  </a:cubicBezTo>
                  <a:cubicBezTo>
                    <a:pt x="43" y="59"/>
                    <a:pt x="43" y="59"/>
                    <a:pt x="43" y="59"/>
                  </a:cubicBezTo>
                  <a:cubicBezTo>
                    <a:pt x="40" y="54"/>
                    <a:pt x="40" y="54"/>
                    <a:pt x="40" y="54"/>
                  </a:cubicBezTo>
                  <a:cubicBezTo>
                    <a:pt x="40" y="49"/>
                    <a:pt x="40" y="49"/>
                    <a:pt x="40" y="49"/>
                  </a:cubicBezTo>
                  <a:cubicBezTo>
                    <a:pt x="41" y="49"/>
                    <a:pt x="41" y="49"/>
                    <a:pt x="41" y="49"/>
                  </a:cubicBezTo>
                  <a:cubicBezTo>
                    <a:pt x="39" y="44"/>
                    <a:pt x="39" y="44"/>
                    <a:pt x="39" y="44"/>
                  </a:cubicBezTo>
                  <a:cubicBezTo>
                    <a:pt x="38" y="42"/>
                    <a:pt x="38" y="42"/>
                    <a:pt x="38" y="42"/>
                  </a:cubicBezTo>
                  <a:cubicBezTo>
                    <a:pt x="38" y="42"/>
                    <a:pt x="33" y="41"/>
                    <a:pt x="33" y="41"/>
                  </a:cubicBezTo>
                  <a:cubicBezTo>
                    <a:pt x="32" y="41"/>
                    <a:pt x="28" y="39"/>
                    <a:pt x="28" y="39"/>
                  </a:cubicBezTo>
                  <a:cubicBezTo>
                    <a:pt x="26" y="34"/>
                    <a:pt x="26" y="34"/>
                    <a:pt x="26" y="34"/>
                  </a:cubicBezTo>
                  <a:cubicBezTo>
                    <a:pt x="24" y="26"/>
                    <a:pt x="24" y="26"/>
                    <a:pt x="24" y="26"/>
                  </a:cubicBezTo>
                  <a:cubicBezTo>
                    <a:pt x="26" y="23"/>
                    <a:pt x="26" y="23"/>
                    <a:pt x="26" y="23"/>
                  </a:cubicBezTo>
                  <a:cubicBezTo>
                    <a:pt x="25" y="16"/>
                    <a:pt x="25" y="16"/>
                    <a:pt x="25" y="16"/>
                  </a:cubicBezTo>
                  <a:cubicBezTo>
                    <a:pt x="30" y="16"/>
                    <a:pt x="30" y="16"/>
                    <a:pt x="30" y="16"/>
                  </a:cubicBezTo>
                  <a:cubicBezTo>
                    <a:pt x="32" y="20"/>
                    <a:pt x="32" y="20"/>
                    <a:pt x="32" y="20"/>
                  </a:cubicBezTo>
                  <a:cubicBezTo>
                    <a:pt x="36" y="20"/>
                    <a:pt x="36" y="20"/>
                    <a:pt x="36" y="20"/>
                  </a:cubicBezTo>
                  <a:cubicBezTo>
                    <a:pt x="36" y="17"/>
                    <a:pt x="36" y="17"/>
                    <a:pt x="36" y="17"/>
                  </a:cubicBezTo>
                  <a:cubicBezTo>
                    <a:pt x="37" y="15"/>
                    <a:pt x="37" y="15"/>
                    <a:pt x="37" y="15"/>
                  </a:cubicBezTo>
                  <a:cubicBezTo>
                    <a:pt x="38" y="16"/>
                    <a:pt x="38" y="16"/>
                    <a:pt x="38" y="16"/>
                  </a:cubicBezTo>
                  <a:cubicBezTo>
                    <a:pt x="37" y="10"/>
                    <a:pt x="37" y="10"/>
                    <a:pt x="37" y="10"/>
                  </a:cubicBezTo>
                  <a:cubicBezTo>
                    <a:pt x="39" y="6"/>
                    <a:pt x="39" y="6"/>
                    <a:pt x="39" y="6"/>
                  </a:cubicBezTo>
                  <a:cubicBezTo>
                    <a:pt x="39" y="2"/>
                    <a:pt x="39" y="2"/>
                    <a:pt x="39" y="2"/>
                  </a:cubicBezTo>
                  <a:cubicBezTo>
                    <a:pt x="37" y="0"/>
                    <a:pt x="37" y="0"/>
                    <a:pt x="37" y="0"/>
                  </a:cubicBezTo>
                  <a:cubicBezTo>
                    <a:pt x="35" y="0"/>
                    <a:pt x="35" y="0"/>
                    <a:pt x="35" y="0"/>
                  </a:cubicBezTo>
                  <a:cubicBezTo>
                    <a:pt x="28" y="1"/>
                    <a:pt x="28" y="1"/>
                    <a:pt x="28" y="1"/>
                  </a:cubicBezTo>
                  <a:cubicBezTo>
                    <a:pt x="27" y="0"/>
                    <a:pt x="27" y="0"/>
                    <a:pt x="27" y="0"/>
                  </a:cubicBezTo>
                  <a:cubicBezTo>
                    <a:pt x="27" y="5"/>
                    <a:pt x="27" y="5"/>
                    <a:pt x="27" y="5"/>
                  </a:cubicBezTo>
                  <a:lnTo>
                    <a:pt x="27" y="6"/>
                  </a:lnTo>
                  <a:close/>
                </a:path>
              </a:pathLst>
            </a:custGeom>
            <a:grpFill/>
            <a:ln w="9525">
              <a:solidFill>
                <a:schemeClr val="bg2">
                  <a:lumMod val="50000"/>
                </a:schemeClr>
              </a:solidFill>
              <a:round/>
              <a:headEnd/>
              <a:tailEnd/>
            </a:ln>
          </p:spPr>
          <p:txBody>
            <a:bodyPr/>
            <a:lstStyle/>
            <a:p>
              <a:endParaRPr lang="en-US" dirty="0"/>
            </a:p>
          </p:txBody>
        </p:sp>
        <p:sp>
          <p:nvSpPr>
            <p:cNvPr id="114" name="Freeform 382"/>
            <p:cNvSpPr>
              <a:spLocks/>
            </p:cNvSpPr>
            <p:nvPr/>
          </p:nvSpPr>
          <p:spPr bwMode="gray">
            <a:xfrm>
              <a:off x="4833480" y="3828507"/>
              <a:ext cx="157814" cy="114021"/>
            </a:xfrm>
            <a:custGeom>
              <a:avLst/>
              <a:gdLst>
                <a:gd name="T0" fmla="*/ 2147483647 w 144"/>
                <a:gd name="T1" fmla="*/ 2147483647 h 109"/>
                <a:gd name="T2" fmla="*/ 2147483647 w 144"/>
                <a:gd name="T3" fmla="*/ 2147483647 h 109"/>
                <a:gd name="T4" fmla="*/ 2147483647 w 144"/>
                <a:gd name="T5" fmla="*/ 2147483647 h 109"/>
                <a:gd name="T6" fmla="*/ 2147483647 w 144"/>
                <a:gd name="T7" fmla="*/ 2147483647 h 109"/>
                <a:gd name="T8" fmla="*/ 2147483647 w 144"/>
                <a:gd name="T9" fmla="*/ 2147483647 h 109"/>
                <a:gd name="T10" fmla="*/ 2147483647 w 144"/>
                <a:gd name="T11" fmla="*/ 2147483647 h 109"/>
                <a:gd name="T12" fmla="*/ 2147483647 w 144"/>
                <a:gd name="T13" fmla="*/ 0 h 109"/>
                <a:gd name="T14" fmla="*/ 2147483647 w 144"/>
                <a:gd name="T15" fmla="*/ 0 h 109"/>
                <a:gd name="T16" fmla="*/ 2147483647 w 144"/>
                <a:gd name="T17" fmla="*/ 2147483647 h 109"/>
                <a:gd name="T18" fmla="*/ 2147483647 w 144"/>
                <a:gd name="T19" fmla="*/ 2147483647 h 109"/>
                <a:gd name="T20" fmla="*/ 2147483647 w 144"/>
                <a:gd name="T21" fmla="*/ 2147483647 h 109"/>
                <a:gd name="T22" fmla="*/ 0 w 144"/>
                <a:gd name="T23" fmla="*/ 2147483647 h 109"/>
                <a:gd name="T24" fmla="*/ 0 w 144"/>
                <a:gd name="T25" fmla="*/ 2147483647 h 109"/>
                <a:gd name="T26" fmla="*/ 2147483647 w 144"/>
                <a:gd name="T27" fmla="*/ 2147483647 h 109"/>
                <a:gd name="T28" fmla="*/ 2147483647 w 144"/>
                <a:gd name="T29" fmla="*/ 2147483647 h 109"/>
                <a:gd name="T30" fmla="*/ 2147483647 w 144"/>
                <a:gd name="T31" fmla="*/ 2147483647 h 109"/>
                <a:gd name="T32" fmla="*/ 2147483647 w 144"/>
                <a:gd name="T33" fmla="*/ 2147483647 h 109"/>
                <a:gd name="T34" fmla="*/ 2147483647 w 144"/>
                <a:gd name="T35" fmla="*/ 2147483647 h 109"/>
                <a:gd name="T36" fmla="*/ 2147483647 w 144"/>
                <a:gd name="T37" fmla="*/ 2147483647 h 109"/>
                <a:gd name="T38" fmla="*/ 2147483647 w 144"/>
                <a:gd name="T39" fmla="*/ 2147483647 h 1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lnTo>
                    <a:pt x="114" y="79"/>
                  </a:lnTo>
                  <a:close/>
                </a:path>
              </a:pathLst>
            </a:custGeom>
            <a:grpFill/>
            <a:ln w="9525">
              <a:solidFill>
                <a:schemeClr val="bg2">
                  <a:lumMod val="50000"/>
                </a:schemeClr>
              </a:solidFill>
              <a:round/>
              <a:headEnd/>
              <a:tailEnd/>
            </a:ln>
          </p:spPr>
          <p:txBody>
            <a:bodyPr/>
            <a:lstStyle/>
            <a:p>
              <a:endParaRPr lang="en-US" dirty="0"/>
            </a:p>
          </p:txBody>
        </p:sp>
        <p:sp>
          <p:nvSpPr>
            <p:cNvPr id="115" name="Freeform 383"/>
            <p:cNvSpPr>
              <a:spLocks/>
            </p:cNvSpPr>
            <p:nvPr/>
          </p:nvSpPr>
          <p:spPr bwMode="gray">
            <a:xfrm>
              <a:off x="4833480" y="3828507"/>
              <a:ext cx="157814" cy="114021"/>
            </a:xfrm>
            <a:custGeom>
              <a:avLst/>
              <a:gdLst>
                <a:gd name="T0" fmla="*/ 2147483647 w 144"/>
                <a:gd name="T1" fmla="*/ 2147483647 h 109"/>
                <a:gd name="T2" fmla="*/ 2147483647 w 144"/>
                <a:gd name="T3" fmla="*/ 2147483647 h 109"/>
                <a:gd name="T4" fmla="*/ 2147483647 w 144"/>
                <a:gd name="T5" fmla="*/ 2147483647 h 109"/>
                <a:gd name="T6" fmla="*/ 2147483647 w 144"/>
                <a:gd name="T7" fmla="*/ 2147483647 h 109"/>
                <a:gd name="T8" fmla="*/ 2147483647 w 144"/>
                <a:gd name="T9" fmla="*/ 2147483647 h 109"/>
                <a:gd name="T10" fmla="*/ 2147483647 w 144"/>
                <a:gd name="T11" fmla="*/ 2147483647 h 109"/>
                <a:gd name="T12" fmla="*/ 2147483647 w 144"/>
                <a:gd name="T13" fmla="*/ 0 h 109"/>
                <a:gd name="T14" fmla="*/ 2147483647 w 144"/>
                <a:gd name="T15" fmla="*/ 0 h 109"/>
                <a:gd name="T16" fmla="*/ 2147483647 w 144"/>
                <a:gd name="T17" fmla="*/ 2147483647 h 109"/>
                <a:gd name="T18" fmla="*/ 2147483647 w 144"/>
                <a:gd name="T19" fmla="*/ 2147483647 h 109"/>
                <a:gd name="T20" fmla="*/ 2147483647 w 144"/>
                <a:gd name="T21" fmla="*/ 2147483647 h 109"/>
                <a:gd name="T22" fmla="*/ 0 w 144"/>
                <a:gd name="T23" fmla="*/ 2147483647 h 109"/>
                <a:gd name="T24" fmla="*/ 0 w 144"/>
                <a:gd name="T25" fmla="*/ 2147483647 h 109"/>
                <a:gd name="T26" fmla="*/ 2147483647 w 144"/>
                <a:gd name="T27" fmla="*/ 2147483647 h 109"/>
                <a:gd name="T28" fmla="*/ 2147483647 w 144"/>
                <a:gd name="T29" fmla="*/ 2147483647 h 109"/>
                <a:gd name="T30" fmla="*/ 2147483647 w 144"/>
                <a:gd name="T31" fmla="*/ 2147483647 h 109"/>
                <a:gd name="T32" fmla="*/ 2147483647 w 144"/>
                <a:gd name="T33" fmla="*/ 2147483647 h 109"/>
                <a:gd name="T34" fmla="*/ 2147483647 w 144"/>
                <a:gd name="T35" fmla="*/ 2147483647 h 109"/>
                <a:gd name="T36" fmla="*/ 2147483647 w 144"/>
                <a:gd name="T37" fmla="*/ 2147483647 h 1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path>
              </a:pathLst>
            </a:custGeom>
            <a:grpFill/>
            <a:ln w="9525">
              <a:solidFill>
                <a:schemeClr val="bg2">
                  <a:lumMod val="50000"/>
                </a:schemeClr>
              </a:solidFill>
              <a:round/>
              <a:headEnd/>
              <a:tailEnd/>
            </a:ln>
          </p:spPr>
          <p:txBody>
            <a:bodyPr/>
            <a:lstStyle/>
            <a:p>
              <a:endParaRPr lang="en-US" dirty="0"/>
            </a:p>
          </p:txBody>
        </p:sp>
        <p:sp>
          <p:nvSpPr>
            <p:cNvPr id="116" name="Freeform 384"/>
            <p:cNvSpPr>
              <a:spLocks/>
            </p:cNvSpPr>
            <p:nvPr/>
          </p:nvSpPr>
          <p:spPr bwMode="gray">
            <a:xfrm>
              <a:off x="4937798" y="3911780"/>
              <a:ext cx="20060" cy="5125"/>
            </a:xfrm>
            <a:custGeom>
              <a:avLst/>
              <a:gdLst>
                <a:gd name="T0" fmla="*/ 0 w 18"/>
                <a:gd name="T1" fmla="*/ 2147483647 h 6"/>
                <a:gd name="T2" fmla="*/ 2147483647 w 18"/>
                <a:gd name="T3" fmla="*/ 2147483647 h 6"/>
                <a:gd name="T4" fmla="*/ 2147483647 w 18"/>
                <a:gd name="T5" fmla="*/ 0 h 6"/>
                <a:gd name="T6" fmla="*/ 0 w 18"/>
                <a:gd name="T7" fmla="*/ 2147483647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 h="6">
                  <a:moveTo>
                    <a:pt x="0" y="6"/>
                  </a:moveTo>
                  <a:lnTo>
                    <a:pt x="6" y="6"/>
                  </a:lnTo>
                  <a:lnTo>
                    <a:pt x="18" y="0"/>
                  </a:lnTo>
                  <a:lnTo>
                    <a:pt x="0" y="6"/>
                  </a:lnTo>
                  <a:close/>
                </a:path>
              </a:pathLst>
            </a:custGeom>
            <a:grpFill/>
            <a:ln w="9525">
              <a:solidFill>
                <a:schemeClr val="bg2">
                  <a:lumMod val="50000"/>
                </a:schemeClr>
              </a:solidFill>
              <a:round/>
              <a:headEnd/>
              <a:tailEnd/>
            </a:ln>
          </p:spPr>
          <p:txBody>
            <a:bodyPr/>
            <a:lstStyle/>
            <a:p>
              <a:endParaRPr lang="en-US" dirty="0"/>
            </a:p>
          </p:txBody>
        </p:sp>
        <p:sp>
          <p:nvSpPr>
            <p:cNvPr id="117" name="Freeform 385"/>
            <p:cNvSpPr>
              <a:spLocks/>
            </p:cNvSpPr>
            <p:nvPr/>
          </p:nvSpPr>
          <p:spPr bwMode="gray">
            <a:xfrm>
              <a:off x="4937798" y="3911780"/>
              <a:ext cx="20060" cy="5125"/>
            </a:xfrm>
            <a:custGeom>
              <a:avLst/>
              <a:gdLst>
                <a:gd name="T0" fmla="*/ 0 w 18"/>
                <a:gd name="T1" fmla="*/ 2147483647 h 6"/>
                <a:gd name="T2" fmla="*/ 2147483647 w 18"/>
                <a:gd name="T3" fmla="*/ 2147483647 h 6"/>
                <a:gd name="T4" fmla="*/ 2147483647 w 18"/>
                <a:gd name="T5" fmla="*/ 0 h 6"/>
                <a:gd name="T6" fmla="*/ 0 60000 65536"/>
                <a:gd name="T7" fmla="*/ 0 60000 65536"/>
                <a:gd name="T8" fmla="*/ 0 60000 65536"/>
              </a:gdLst>
              <a:ahLst/>
              <a:cxnLst>
                <a:cxn ang="T6">
                  <a:pos x="T0" y="T1"/>
                </a:cxn>
                <a:cxn ang="T7">
                  <a:pos x="T2" y="T3"/>
                </a:cxn>
                <a:cxn ang="T8">
                  <a:pos x="T4" y="T5"/>
                </a:cxn>
              </a:cxnLst>
              <a:rect l="0" t="0" r="r" b="b"/>
              <a:pathLst>
                <a:path w="18" h="6">
                  <a:moveTo>
                    <a:pt x="0" y="6"/>
                  </a:moveTo>
                  <a:lnTo>
                    <a:pt x="6" y="6"/>
                  </a:lnTo>
                  <a:lnTo>
                    <a:pt x="18" y="0"/>
                  </a:lnTo>
                </a:path>
              </a:pathLst>
            </a:custGeom>
            <a:grpFill/>
            <a:ln w="9525">
              <a:solidFill>
                <a:schemeClr val="bg2">
                  <a:lumMod val="50000"/>
                </a:schemeClr>
              </a:solidFill>
              <a:round/>
              <a:headEnd/>
              <a:tailEnd/>
            </a:ln>
          </p:spPr>
          <p:txBody>
            <a:bodyPr/>
            <a:lstStyle/>
            <a:p>
              <a:endParaRPr lang="en-US" dirty="0"/>
            </a:p>
          </p:txBody>
        </p:sp>
        <p:sp>
          <p:nvSpPr>
            <p:cNvPr id="118" name="Freeform 386"/>
            <p:cNvSpPr>
              <a:spLocks/>
            </p:cNvSpPr>
            <p:nvPr/>
          </p:nvSpPr>
          <p:spPr bwMode="gray">
            <a:xfrm>
              <a:off x="4872264" y="3916904"/>
              <a:ext cx="85594" cy="106335"/>
            </a:xfrm>
            <a:custGeom>
              <a:avLst/>
              <a:gdLst>
                <a:gd name="T0" fmla="*/ 2147483647 w 78"/>
                <a:gd name="T1" fmla="*/ 2147483647 h 102"/>
                <a:gd name="T2" fmla="*/ 2147483647 w 78"/>
                <a:gd name="T3" fmla="*/ 0 h 102"/>
                <a:gd name="T4" fmla="*/ 2147483647 w 78"/>
                <a:gd name="T5" fmla="*/ 0 h 102"/>
                <a:gd name="T6" fmla="*/ 2147483647 w 78"/>
                <a:gd name="T7" fmla="*/ 0 h 102"/>
                <a:gd name="T8" fmla="*/ 0 w 78"/>
                <a:gd name="T9" fmla="*/ 2147483647 h 102"/>
                <a:gd name="T10" fmla="*/ 2147483647 w 78"/>
                <a:gd name="T11" fmla="*/ 2147483647 h 102"/>
                <a:gd name="T12" fmla="*/ 0 w 78"/>
                <a:gd name="T13" fmla="*/ 2147483647 h 102"/>
                <a:gd name="T14" fmla="*/ 0 w 78"/>
                <a:gd name="T15" fmla="*/ 2147483647 h 102"/>
                <a:gd name="T16" fmla="*/ 2147483647 w 78"/>
                <a:gd name="T17" fmla="*/ 2147483647 h 102"/>
                <a:gd name="T18" fmla="*/ 2147483647 w 78"/>
                <a:gd name="T19" fmla="*/ 2147483647 h 102"/>
                <a:gd name="T20" fmla="*/ 2147483647 w 78"/>
                <a:gd name="T21" fmla="*/ 2147483647 h 102"/>
                <a:gd name="T22" fmla="*/ 2147483647 w 78"/>
                <a:gd name="T23" fmla="*/ 2147483647 h 102"/>
                <a:gd name="T24" fmla="*/ 2147483647 w 78"/>
                <a:gd name="T25" fmla="*/ 2147483647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8" h="102">
                  <a:moveTo>
                    <a:pt x="60" y="6"/>
                  </a:moveTo>
                  <a:lnTo>
                    <a:pt x="60" y="0"/>
                  </a:lnTo>
                  <a:lnTo>
                    <a:pt x="36" y="0"/>
                  </a:lnTo>
                  <a:lnTo>
                    <a:pt x="6" y="0"/>
                  </a:lnTo>
                  <a:lnTo>
                    <a:pt x="0" y="24"/>
                  </a:lnTo>
                  <a:lnTo>
                    <a:pt x="12" y="42"/>
                  </a:lnTo>
                  <a:lnTo>
                    <a:pt x="0" y="66"/>
                  </a:lnTo>
                  <a:lnTo>
                    <a:pt x="0" y="84"/>
                  </a:lnTo>
                  <a:lnTo>
                    <a:pt x="6" y="102"/>
                  </a:lnTo>
                  <a:lnTo>
                    <a:pt x="36" y="102"/>
                  </a:lnTo>
                  <a:lnTo>
                    <a:pt x="78" y="90"/>
                  </a:lnTo>
                  <a:lnTo>
                    <a:pt x="60" y="36"/>
                  </a:lnTo>
                  <a:lnTo>
                    <a:pt x="60" y="6"/>
                  </a:lnTo>
                  <a:close/>
                </a:path>
              </a:pathLst>
            </a:custGeom>
            <a:grpFill/>
            <a:ln w="9525">
              <a:solidFill>
                <a:schemeClr val="bg2">
                  <a:lumMod val="50000"/>
                </a:schemeClr>
              </a:solidFill>
              <a:round/>
              <a:headEnd/>
              <a:tailEnd/>
            </a:ln>
          </p:spPr>
          <p:txBody>
            <a:bodyPr/>
            <a:lstStyle/>
            <a:p>
              <a:endParaRPr lang="en-US" dirty="0"/>
            </a:p>
          </p:txBody>
        </p:sp>
        <p:sp>
          <p:nvSpPr>
            <p:cNvPr id="119" name="Freeform 387"/>
            <p:cNvSpPr>
              <a:spLocks/>
            </p:cNvSpPr>
            <p:nvPr/>
          </p:nvSpPr>
          <p:spPr bwMode="gray">
            <a:xfrm>
              <a:off x="4999319" y="3834912"/>
              <a:ext cx="250095" cy="215231"/>
            </a:xfrm>
            <a:custGeom>
              <a:avLst/>
              <a:gdLst>
                <a:gd name="T0" fmla="*/ 2147483647 w 228"/>
                <a:gd name="T1" fmla="*/ 2147483647 h 205"/>
                <a:gd name="T2" fmla="*/ 2147483647 w 228"/>
                <a:gd name="T3" fmla="*/ 2147483647 h 205"/>
                <a:gd name="T4" fmla="*/ 2147483647 w 228"/>
                <a:gd name="T5" fmla="*/ 2147483647 h 205"/>
                <a:gd name="T6" fmla="*/ 2147483647 w 228"/>
                <a:gd name="T7" fmla="*/ 2147483647 h 205"/>
                <a:gd name="T8" fmla="*/ 2147483647 w 228"/>
                <a:gd name="T9" fmla="*/ 2147483647 h 205"/>
                <a:gd name="T10" fmla="*/ 2147483647 w 228"/>
                <a:gd name="T11" fmla="*/ 2147483647 h 205"/>
                <a:gd name="T12" fmla="*/ 2147483647 w 228"/>
                <a:gd name="T13" fmla="*/ 2147483647 h 205"/>
                <a:gd name="T14" fmla="*/ 2147483647 w 228"/>
                <a:gd name="T15" fmla="*/ 2147483647 h 205"/>
                <a:gd name="T16" fmla="*/ 2147483647 w 228"/>
                <a:gd name="T17" fmla="*/ 2147483647 h 205"/>
                <a:gd name="T18" fmla="*/ 2147483647 w 228"/>
                <a:gd name="T19" fmla="*/ 0 h 205"/>
                <a:gd name="T20" fmla="*/ 2147483647 w 228"/>
                <a:gd name="T21" fmla="*/ 2147483647 h 205"/>
                <a:gd name="T22" fmla="*/ 2147483647 w 228"/>
                <a:gd name="T23" fmla="*/ 2147483647 h 205"/>
                <a:gd name="T24" fmla="*/ 2147483647 w 228"/>
                <a:gd name="T25" fmla="*/ 2147483647 h 205"/>
                <a:gd name="T26" fmla="*/ 2147483647 w 228"/>
                <a:gd name="T27" fmla="*/ 2147483647 h 205"/>
                <a:gd name="T28" fmla="*/ 2147483647 w 228"/>
                <a:gd name="T29" fmla="*/ 2147483647 h 205"/>
                <a:gd name="T30" fmla="*/ 2147483647 w 228"/>
                <a:gd name="T31" fmla="*/ 2147483647 h 205"/>
                <a:gd name="T32" fmla="*/ 2147483647 w 228"/>
                <a:gd name="T33" fmla="*/ 2147483647 h 205"/>
                <a:gd name="T34" fmla="*/ 2147483647 w 228"/>
                <a:gd name="T35" fmla="*/ 2147483647 h 205"/>
                <a:gd name="T36" fmla="*/ 2147483647 w 228"/>
                <a:gd name="T37" fmla="*/ 2147483647 h 205"/>
                <a:gd name="T38" fmla="*/ 0 w 228"/>
                <a:gd name="T39" fmla="*/ 2147483647 h 205"/>
                <a:gd name="T40" fmla="*/ 0 w 228"/>
                <a:gd name="T41" fmla="*/ 2147483647 h 205"/>
                <a:gd name="T42" fmla="*/ 2147483647 w 228"/>
                <a:gd name="T43" fmla="*/ 2147483647 h 205"/>
                <a:gd name="T44" fmla="*/ 2147483647 w 228"/>
                <a:gd name="T45" fmla="*/ 2147483647 h 205"/>
                <a:gd name="T46" fmla="*/ 2147483647 w 228"/>
                <a:gd name="T47" fmla="*/ 2147483647 h 205"/>
                <a:gd name="T48" fmla="*/ 2147483647 w 228"/>
                <a:gd name="T49" fmla="*/ 2147483647 h 205"/>
                <a:gd name="T50" fmla="*/ 2147483647 w 228"/>
                <a:gd name="T51" fmla="*/ 2147483647 h 205"/>
                <a:gd name="T52" fmla="*/ 2147483647 w 228"/>
                <a:gd name="T53" fmla="*/ 2147483647 h 20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28" h="205">
                  <a:moveTo>
                    <a:pt x="120" y="151"/>
                  </a:moveTo>
                  <a:lnTo>
                    <a:pt x="150" y="163"/>
                  </a:lnTo>
                  <a:lnTo>
                    <a:pt x="180" y="121"/>
                  </a:lnTo>
                  <a:lnTo>
                    <a:pt x="198" y="73"/>
                  </a:lnTo>
                  <a:lnTo>
                    <a:pt x="204" y="55"/>
                  </a:lnTo>
                  <a:lnTo>
                    <a:pt x="222" y="49"/>
                  </a:lnTo>
                  <a:lnTo>
                    <a:pt x="228" y="31"/>
                  </a:lnTo>
                  <a:lnTo>
                    <a:pt x="210" y="25"/>
                  </a:lnTo>
                  <a:lnTo>
                    <a:pt x="198" y="7"/>
                  </a:lnTo>
                  <a:lnTo>
                    <a:pt x="204" y="0"/>
                  </a:lnTo>
                  <a:lnTo>
                    <a:pt x="174" y="25"/>
                  </a:lnTo>
                  <a:lnTo>
                    <a:pt x="144" y="31"/>
                  </a:lnTo>
                  <a:lnTo>
                    <a:pt x="108" y="31"/>
                  </a:lnTo>
                  <a:lnTo>
                    <a:pt x="84" y="43"/>
                  </a:lnTo>
                  <a:lnTo>
                    <a:pt x="48" y="31"/>
                  </a:lnTo>
                  <a:lnTo>
                    <a:pt x="24" y="31"/>
                  </a:lnTo>
                  <a:lnTo>
                    <a:pt x="12" y="49"/>
                  </a:lnTo>
                  <a:lnTo>
                    <a:pt x="12" y="67"/>
                  </a:lnTo>
                  <a:lnTo>
                    <a:pt x="12" y="91"/>
                  </a:lnTo>
                  <a:lnTo>
                    <a:pt x="0" y="133"/>
                  </a:lnTo>
                  <a:lnTo>
                    <a:pt x="0" y="163"/>
                  </a:lnTo>
                  <a:lnTo>
                    <a:pt x="24" y="163"/>
                  </a:lnTo>
                  <a:lnTo>
                    <a:pt x="48" y="193"/>
                  </a:lnTo>
                  <a:lnTo>
                    <a:pt x="72" y="199"/>
                  </a:lnTo>
                  <a:lnTo>
                    <a:pt x="96" y="205"/>
                  </a:lnTo>
                  <a:lnTo>
                    <a:pt x="102" y="175"/>
                  </a:lnTo>
                  <a:lnTo>
                    <a:pt x="120" y="151"/>
                  </a:lnTo>
                  <a:close/>
                </a:path>
              </a:pathLst>
            </a:custGeom>
            <a:grpFill/>
            <a:ln w="9525">
              <a:solidFill>
                <a:schemeClr val="bg2">
                  <a:lumMod val="50000"/>
                </a:schemeClr>
              </a:solidFill>
              <a:round/>
              <a:headEnd/>
              <a:tailEnd/>
            </a:ln>
          </p:spPr>
          <p:txBody>
            <a:bodyPr/>
            <a:lstStyle/>
            <a:p>
              <a:endParaRPr lang="en-US" dirty="0"/>
            </a:p>
          </p:txBody>
        </p:sp>
        <p:sp>
          <p:nvSpPr>
            <p:cNvPr id="120" name="Freeform 388"/>
            <p:cNvSpPr>
              <a:spLocks/>
            </p:cNvSpPr>
            <p:nvPr/>
          </p:nvSpPr>
          <p:spPr bwMode="gray">
            <a:xfrm>
              <a:off x="5242728" y="3916904"/>
              <a:ext cx="270157" cy="151174"/>
            </a:xfrm>
            <a:custGeom>
              <a:avLst/>
              <a:gdLst>
                <a:gd name="T0" fmla="*/ 2147483647 w 246"/>
                <a:gd name="T1" fmla="*/ 2147483647 h 144"/>
                <a:gd name="T2" fmla="*/ 2147483647 w 246"/>
                <a:gd name="T3" fmla="*/ 2147483647 h 144"/>
                <a:gd name="T4" fmla="*/ 2147483647 w 246"/>
                <a:gd name="T5" fmla="*/ 2147483647 h 144"/>
                <a:gd name="T6" fmla="*/ 2147483647 w 246"/>
                <a:gd name="T7" fmla="*/ 2147483647 h 144"/>
                <a:gd name="T8" fmla="*/ 0 w 246"/>
                <a:gd name="T9" fmla="*/ 2147483647 h 144"/>
                <a:gd name="T10" fmla="*/ 2147483647 w 246"/>
                <a:gd name="T11" fmla="*/ 2147483647 h 144"/>
                <a:gd name="T12" fmla="*/ 2147483647 w 246"/>
                <a:gd name="T13" fmla="*/ 2147483647 h 144"/>
                <a:gd name="T14" fmla="*/ 2147483647 w 246"/>
                <a:gd name="T15" fmla="*/ 2147483647 h 144"/>
                <a:gd name="T16" fmla="*/ 2147483647 w 246"/>
                <a:gd name="T17" fmla="*/ 2147483647 h 144"/>
                <a:gd name="T18" fmla="*/ 2147483647 w 246"/>
                <a:gd name="T19" fmla="*/ 2147483647 h 144"/>
                <a:gd name="T20" fmla="*/ 2147483647 w 246"/>
                <a:gd name="T21" fmla="*/ 2147483647 h 144"/>
                <a:gd name="T22" fmla="*/ 2147483647 w 246"/>
                <a:gd name="T23" fmla="*/ 2147483647 h 144"/>
                <a:gd name="T24" fmla="*/ 2147483647 w 246"/>
                <a:gd name="T25" fmla="*/ 2147483647 h 144"/>
                <a:gd name="T26" fmla="*/ 2147483647 w 246"/>
                <a:gd name="T27" fmla="*/ 2147483647 h 144"/>
                <a:gd name="T28" fmla="*/ 2147483647 w 246"/>
                <a:gd name="T29" fmla="*/ 2147483647 h 144"/>
                <a:gd name="T30" fmla="*/ 2147483647 w 246"/>
                <a:gd name="T31" fmla="*/ 2147483647 h 144"/>
                <a:gd name="T32" fmla="*/ 2147483647 w 246"/>
                <a:gd name="T33" fmla="*/ 2147483647 h 144"/>
                <a:gd name="T34" fmla="*/ 2147483647 w 246"/>
                <a:gd name="T35" fmla="*/ 2147483647 h 144"/>
                <a:gd name="T36" fmla="*/ 2147483647 w 246"/>
                <a:gd name="T37" fmla="*/ 2147483647 h 144"/>
                <a:gd name="T38" fmla="*/ 2147483647 w 246"/>
                <a:gd name="T39" fmla="*/ 0 h 144"/>
                <a:gd name="T40" fmla="*/ 2147483647 w 246"/>
                <a:gd name="T41" fmla="*/ 2147483647 h 144"/>
                <a:gd name="T42" fmla="*/ 2147483647 w 246"/>
                <a:gd name="T43" fmla="*/ 2147483647 h 1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6" h="144">
                  <a:moveTo>
                    <a:pt x="78" y="36"/>
                  </a:moveTo>
                  <a:lnTo>
                    <a:pt x="72" y="48"/>
                  </a:lnTo>
                  <a:lnTo>
                    <a:pt x="36" y="60"/>
                  </a:lnTo>
                  <a:lnTo>
                    <a:pt x="12" y="66"/>
                  </a:lnTo>
                  <a:lnTo>
                    <a:pt x="0" y="102"/>
                  </a:lnTo>
                  <a:lnTo>
                    <a:pt x="12" y="132"/>
                  </a:lnTo>
                  <a:lnTo>
                    <a:pt x="18" y="144"/>
                  </a:lnTo>
                  <a:lnTo>
                    <a:pt x="42" y="132"/>
                  </a:lnTo>
                  <a:lnTo>
                    <a:pt x="66" y="132"/>
                  </a:lnTo>
                  <a:lnTo>
                    <a:pt x="78" y="138"/>
                  </a:lnTo>
                  <a:lnTo>
                    <a:pt x="78" y="114"/>
                  </a:lnTo>
                  <a:lnTo>
                    <a:pt x="114" y="108"/>
                  </a:lnTo>
                  <a:lnTo>
                    <a:pt x="144" y="120"/>
                  </a:lnTo>
                  <a:lnTo>
                    <a:pt x="198" y="108"/>
                  </a:lnTo>
                  <a:lnTo>
                    <a:pt x="246" y="102"/>
                  </a:lnTo>
                  <a:lnTo>
                    <a:pt x="210" y="66"/>
                  </a:lnTo>
                  <a:lnTo>
                    <a:pt x="186" y="54"/>
                  </a:lnTo>
                  <a:lnTo>
                    <a:pt x="168" y="24"/>
                  </a:lnTo>
                  <a:lnTo>
                    <a:pt x="156" y="0"/>
                  </a:lnTo>
                  <a:lnTo>
                    <a:pt x="108" y="30"/>
                  </a:lnTo>
                  <a:lnTo>
                    <a:pt x="78" y="36"/>
                  </a:lnTo>
                  <a:close/>
                </a:path>
              </a:pathLst>
            </a:custGeom>
            <a:grpFill/>
            <a:ln w="9525">
              <a:solidFill>
                <a:schemeClr val="bg2">
                  <a:lumMod val="50000"/>
                </a:schemeClr>
              </a:solidFill>
              <a:round/>
              <a:headEnd/>
              <a:tailEnd/>
            </a:ln>
          </p:spPr>
          <p:txBody>
            <a:bodyPr/>
            <a:lstStyle/>
            <a:p>
              <a:endParaRPr lang="en-US" dirty="0"/>
            </a:p>
          </p:txBody>
        </p:sp>
        <p:sp>
          <p:nvSpPr>
            <p:cNvPr id="121" name="Freeform 389"/>
            <p:cNvSpPr>
              <a:spLocks/>
            </p:cNvSpPr>
            <p:nvPr/>
          </p:nvSpPr>
          <p:spPr bwMode="gray">
            <a:xfrm>
              <a:off x="5163820" y="4056549"/>
              <a:ext cx="164502" cy="188326"/>
            </a:xfrm>
            <a:custGeom>
              <a:avLst/>
              <a:gdLst>
                <a:gd name="T0" fmla="*/ 2147483647 w 150"/>
                <a:gd name="T1" fmla="*/ 2147483647 h 180"/>
                <a:gd name="T2" fmla="*/ 2147483647 w 150"/>
                <a:gd name="T3" fmla="*/ 2147483647 h 180"/>
                <a:gd name="T4" fmla="*/ 2147483647 w 150"/>
                <a:gd name="T5" fmla="*/ 2147483647 h 180"/>
                <a:gd name="T6" fmla="*/ 2147483647 w 150"/>
                <a:gd name="T7" fmla="*/ 2147483647 h 180"/>
                <a:gd name="T8" fmla="*/ 2147483647 w 150"/>
                <a:gd name="T9" fmla="*/ 2147483647 h 180"/>
                <a:gd name="T10" fmla="*/ 2147483647 w 150"/>
                <a:gd name="T11" fmla="*/ 0 h 180"/>
                <a:gd name="T12" fmla="*/ 2147483647 w 150"/>
                <a:gd name="T13" fmla="*/ 0 h 180"/>
                <a:gd name="T14" fmla="*/ 2147483647 w 150"/>
                <a:gd name="T15" fmla="*/ 2147483647 h 180"/>
                <a:gd name="T16" fmla="*/ 2147483647 w 150"/>
                <a:gd name="T17" fmla="*/ 2147483647 h 180"/>
                <a:gd name="T18" fmla="*/ 2147483647 w 150"/>
                <a:gd name="T19" fmla="*/ 2147483647 h 180"/>
                <a:gd name="T20" fmla="*/ 2147483647 w 150"/>
                <a:gd name="T21" fmla="*/ 2147483647 h 180"/>
                <a:gd name="T22" fmla="*/ 2147483647 w 150"/>
                <a:gd name="T23" fmla="*/ 2147483647 h 180"/>
                <a:gd name="T24" fmla="*/ 2147483647 w 150"/>
                <a:gd name="T25" fmla="*/ 2147483647 h 180"/>
                <a:gd name="T26" fmla="*/ 2147483647 w 150"/>
                <a:gd name="T27" fmla="*/ 2147483647 h 180"/>
                <a:gd name="T28" fmla="*/ 2147483647 w 150"/>
                <a:gd name="T29" fmla="*/ 2147483647 h 180"/>
                <a:gd name="T30" fmla="*/ 2147483647 w 150"/>
                <a:gd name="T31" fmla="*/ 2147483647 h 180"/>
                <a:gd name="T32" fmla="*/ 2147483647 w 150"/>
                <a:gd name="T33" fmla="*/ 2147483647 h 180"/>
                <a:gd name="T34" fmla="*/ 0 w 150"/>
                <a:gd name="T35" fmla="*/ 2147483647 h 180"/>
                <a:gd name="T36" fmla="*/ 2147483647 w 150"/>
                <a:gd name="T37" fmla="*/ 2147483647 h 180"/>
                <a:gd name="T38" fmla="*/ 2147483647 w 150"/>
                <a:gd name="T39" fmla="*/ 2147483647 h 180"/>
                <a:gd name="T40" fmla="*/ 2147483647 w 150"/>
                <a:gd name="T41" fmla="*/ 2147483647 h 180"/>
                <a:gd name="T42" fmla="*/ 2147483647 w 150"/>
                <a:gd name="T43" fmla="*/ 2147483647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50" h="180">
                  <a:moveTo>
                    <a:pt x="66" y="162"/>
                  </a:moveTo>
                  <a:lnTo>
                    <a:pt x="90" y="144"/>
                  </a:lnTo>
                  <a:lnTo>
                    <a:pt x="114" y="96"/>
                  </a:lnTo>
                  <a:lnTo>
                    <a:pt x="132" y="78"/>
                  </a:lnTo>
                  <a:lnTo>
                    <a:pt x="150" y="6"/>
                  </a:lnTo>
                  <a:lnTo>
                    <a:pt x="138" y="0"/>
                  </a:lnTo>
                  <a:lnTo>
                    <a:pt x="114" y="0"/>
                  </a:lnTo>
                  <a:lnTo>
                    <a:pt x="90" y="12"/>
                  </a:lnTo>
                  <a:lnTo>
                    <a:pt x="72" y="18"/>
                  </a:lnTo>
                  <a:lnTo>
                    <a:pt x="60" y="30"/>
                  </a:lnTo>
                  <a:lnTo>
                    <a:pt x="48" y="36"/>
                  </a:lnTo>
                  <a:lnTo>
                    <a:pt x="48" y="48"/>
                  </a:lnTo>
                  <a:lnTo>
                    <a:pt x="60" y="54"/>
                  </a:lnTo>
                  <a:lnTo>
                    <a:pt x="54" y="84"/>
                  </a:lnTo>
                  <a:lnTo>
                    <a:pt x="48" y="114"/>
                  </a:lnTo>
                  <a:lnTo>
                    <a:pt x="30" y="114"/>
                  </a:lnTo>
                  <a:lnTo>
                    <a:pt x="12" y="126"/>
                  </a:lnTo>
                  <a:lnTo>
                    <a:pt x="0" y="138"/>
                  </a:lnTo>
                  <a:lnTo>
                    <a:pt x="18" y="156"/>
                  </a:lnTo>
                  <a:lnTo>
                    <a:pt x="24" y="180"/>
                  </a:lnTo>
                  <a:lnTo>
                    <a:pt x="42" y="162"/>
                  </a:lnTo>
                  <a:lnTo>
                    <a:pt x="66" y="162"/>
                  </a:lnTo>
                  <a:close/>
                </a:path>
              </a:pathLst>
            </a:custGeom>
            <a:grpFill/>
            <a:ln w="9525">
              <a:solidFill>
                <a:schemeClr val="bg2">
                  <a:lumMod val="50000"/>
                </a:schemeClr>
              </a:solidFill>
              <a:round/>
              <a:headEnd/>
              <a:tailEnd/>
            </a:ln>
          </p:spPr>
          <p:txBody>
            <a:bodyPr/>
            <a:lstStyle/>
            <a:p>
              <a:endParaRPr lang="en-US" dirty="0"/>
            </a:p>
          </p:txBody>
        </p:sp>
        <p:sp>
          <p:nvSpPr>
            <p:cNvPr id="122" name="Freeform 390"/>
            <p:cNvSpPr>
              <a:spLocks/>
            </p:cNvSpPr>
            <p:nvPr/>
          </p:nvSpPr>
          <p:spPr bwMode="gray">
            <a:xfrm>
              <a:off x="5130385" y="4094983"/>
              <a:ext cx="98969" cy="105052"/>
            </a:xfrm>
            <a:custGeom>
              <a:avLst/>
              <a:gdLst>
                <a:gd name="T0" fmla="*/ 2147483647 w 90"/>
                <a:gd name="T1" fmla="*/ 2147483647 h 102"/>
                <a:gd name="T2" fmla="*/ 2147483647 w 90"/>
                <a:gd name="T3" fmla="*/ 2147483647 h 102"/>
                <a:gd name="T4" fmla="*/ 2147483647 w 90"/>
                <a:gd name="T5" fmla="*/ 2147483647 h 102"/>
                <a:gd name="T6" fmla="*/ 2147483647 w 90"/>
                <a:gd name="T7" fmla="*/ 2147483647 h 102"/>
                <a:gd name="T8" fmla="*/ 2147483647 w 90"/>
                <a:gd name="T9" fmla="*/ 2147483647 h 102"/>
                <a:gd name="T10" fmla="*/ 2147483647 w 90"/>
                <a:gd name="T11" fmla="*/ 0 h 102"/>
                <a:gd name="T12" fmla="*/ 2147483647 w 90"/>
                <a:gd name="T13" fmla="*/ 0 h 102"/>
                <a:gd name="T14" fmla="*/ 0 w 90"/>
                <a:gd name="T15" fmla="*/ 0 h 102"/>
                <a:gd name="T16" fmla="*/ 0 w 90"/>
                <a:gd name="T17" fmla="*/ 2147483647 h 102"/>
                <a:gd name="T18" fmla="*/ 0 w 90"/>
                <a:gd name="T19" fmla="*/ 2147483647 h 102"/>
                <a:gd name="T20" fmla="*/ 2147483647 w 90"/>
                <a:gd name="T21" fmla="*/ 2147483647 h 102"/>
                <a:gd name="T22" fmla="*/ 2147483647 w 90"/>
                <a:gd name="T23" fmla="*/ 2147483647 h 102"/>
                <a:gd name="T24" fmla="*/ 2147483647 w 90"/>
                <a:gd name="T25" fmla="*/ 2147483647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102">
                  <a:moveTo>
                    <a:pt x="60" y="78"/>
                  </a:moveTo>
                  <a:lnTo>
                    <a:pt x="78" y="78"/>
                  </a:lnTo>
                  <a:lnTo>
                    <a:pt x="84" y="48"/>
                  </a:lnTo>
                  <a:lnTo>
                    <a:pt x="90" y="18"/>
                  </a:lnTo>
                  <a:lnTo>
                    <a:pt x="78" y="12"/>
                  </a:lnTo>
                  <a:lnTo>
                    <a:pt x="78" y="0"/>
                  </a:lnTo>
                  <a:lnTo>
                    <a:pt x="48" y="0"/>
                  </a:lnTo>
                  <a:lnTo>
                    <a:pt x="0" y="0"/>
                  </a:lnTo>
                  <a:lnTo>
                    <a:pt x="0" y="18"/>
                  </a:lnTo>
                  <a:lnTo>
                    <a:pt x="0" y="54"/>
                  </a:lnTo>
                  <a:lnTo>
                    <a:pt x="30" y="102"/>
                  </a:lnTo>
                  <a:lnTo>
                    <a:pt x="42" y="90"/>
                  </a:lnTo>
                  <a:lnTo>
                    <a:pt x="60" y="78"/>
                  </a:lnTo>
                  <a:close/>
                </a:path>
              </a:pathLst>
            </a:custGeom>
            <a:grpFill/>
            <a:ln w="9525">
              <a:solidFill>
                <a:schemeClr val="bg2">
                  <a:lumMod val="50000"/>
                </a:schemeClr>
              </a:solidFill>
              <a:round/>
              <a:headEnd/>
              <a:tailEnd/>
            </a:ln>
          </p:spPr>
          <p:txBody>
            <a:bodyPr/>
            <a:lstStyle/>
            <a:p>
              <a:endParaRPr lang="en-US" dirty="0"/>
            </a:p>
          </p:txBody>
        </p:sp>
        <p:sp>
          <p:nvSpPr>
            <p:cNvPr id="123" name="Freeform 391"/>
            <p:cNvSpPr>
              <a:spLocks/>
            </p:cNvSpPr>
            <p:nvPr/>
          </p:nvSpPr>
          <p:spPr bwMode="gray">
            <a:xfrm>
              <a:off x="5103637" y="3886157"/>
              <a:ext cx="157814" cy="208826"/>
            </a:xfrm>
            <a:custGeom>
              <a:avLst/>
              <a:gdLst>
                <a:gd name="T0" fmla="*/ 2147483647 w 144"/>
                <a:gd name="T1" fmla="*/ 2147483647 h 198"/>
                <a:gd name="T2" fmla="*/ 2147483647 w 144"/>
                <a:gd name="T3" fmla="*/ 2147483647 h 198"/>
                <a:gd name="T4" fmla="*/ 2147483647 w 144"/>
                <a:gd name="T5" fmla="*/ 2147483647 h 198"/>
                <a:gd name="T6" fmla="*/ 2147483647 w 144"/>
                <a:gd name="T7" fmla="*/ 2147483647 h 198"/>
                <a:gd name="T8" fmla="*/ 2147483647 w 144"/>
                <a:gd name="T9" fmla="*/ 2147483647 h 198"/>
                <a:gd name="T10" fmla="*/ 2147483647 w 144"/>
                <a:gd name="T11" fmla="*/ 2147483647 h 198"/>
                <a:gd name="T12" fmla="*/ 2147483647 w 144"/>
                <a:gd name="T13" fmla="*/ 2147483647 h 198"/>
                <a:gd name="T14" fmla="*/ 2147483647 w 144"/>
                <a:gd name="T15" fmla="*/ 2147483647 h 198"/>
                <a:gd name="T16" fmla="*/ 2147483647 w 144"/>
                <a:gd name="T17" fmla="*/ 0 h 198"/>
                <a:gd name="T18" fmla="*/ 2147483647 w 144"/>
                <a:gd name="T19" fmla="*/ 0 h 198"/>
                <a:gd name="T20" fmla="*/ 2147483647 w 144"/>
                <a:gd name="T21" fmla="*/ 2147483647 h 198"/>
                <a:gd name="T22" fmla="*/ 2147483647 w 144"/>
                <a:gd name="T23" fmla="*/ 2147483647 h 198"/>
                <a:gd name="T24" fmla="*/ 2147483647 w 144"/>
                <a:gd name="T25" fmla="*/ 2147483647 h 198"/>
                <a:gd name="T26" fmla="*/ 2147483647 w 144"/>
                <a:gd name="T27" fmla="*/ 2147483647 h 198"/>
                <a:gd name="T28" fmla="*/ 2147483647 w 144"/>
                <a:gd name="T29" fmla="*/ 2147483647 h 198"/>
                <a:gd name="T30" fmla="*/ 2147483647 w 144"/>
                <a:gd name="T31" fmla="*/ 2147483647 h 198"/>
                <a:gd name="T32" fmla="*/ 0 w 144"/>
                <a:gd name="T33" fmla="*/ 2147483647 h 198"/>
                <a:gd name="T34" fmla="*/ 2147483647 w 144"/>
                <a:gd name="T35" fmla="*/ 2147483647 h 198"/>
                <a:gd name="T36" fmla="*/ 2147483647 w 144"/>
                <a:gd name="T37" fmla="*/ 2147483647 h 198"/>
                <a:gd name="T38" fmla="*/ 2147483647 w 144"/>
                <a:gd name="T39" fmla="*/ 2147483647 h 198"/>
                <a:gd name="T40" fmla="*/ 2147483647 w 144"/>
                <a:gd name="T41" fmla="*/ 2147483647 h 198"/>
                <a:gd name="T42" fmla="*/ 2147483647 w 144"/>
                <a:gd name="T43" fmla="*/ 2147483647 h 19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lnTo>
                    <a:pt x="144" y="174"/>
                  </a:lnTo>
                  <a:close/>
                </a:path>
              </a:pathLst>
            </a:custGeom>
            <a:grpFill/>
            <a:ln w="9525">
              <a:solidFill>
                <a:schemeClr val="bg2">
                  <a:lumMod val="50000"/>
                </a:schemeClr>
              </a:solidFill>
              <a:round/>
              <a:headEnd/>
              <a:tailEnd/>
            </a:ln>
          </p:spPr>
          <p:txBody>
            <a:bodyPr/>
            <a:lstStyle/>
            <a:p>
              <a:endParaRPr lang="en-US" dirty="0"/>
            </a:p>
          </p:txBody>
        </p:sp>
        <p:sp>
          <p:nvSpPr>
            <p:cNvPr id="124" name="Freeform 392"/>
            <p:cNvSpPr>
              <a:spLocks/>
            </p:cNvSpPr>
            <p:nvPr/>
          </p:nvSpPr>
          <p:spPr bwMode="gray">
            <a:xfrm>
              <a:off x="5103637" y="3886157"/>
              <a:ext cx="157814" cy="208826"/>
            </a:xfrm>
            <a:custGeom>
              <a:avLst/>
              <a:gdLst>
                <a:gd name="T0" fmla="*/ 2147483647 w 144"/>
                <a:gd name="T1" fmla="*/ 2147483647 h 198"/>
                <a:gd name="T2" fmla="*/ 2147483647 w 144"/>
                <a:gd name="T3" fmla="*/ 2147483647 h 198"/>
                <a:gd name="T4" fmla="*/ 2147483647 w 144"/>
                <a:gd name="T5" fmla="*/ 2147483647 h 198"/>
                <a:gd name="T6" fmla="*/ 2147483647 w 144"/>
                <a:gd name="T7" fmla="*/ 2147483647 h 198"/>
                <a:gd name="T8" fmla="*/ 2147483647 w 144"/>
                <a:gd name="T9" fmla="*/ 2147483647 h 198"/>
                <a:gd name="T10" fmla="*/ 2147483647 w 144"/>
                <a:gd name="T11" fmla="*/ 2147483647 h 198"/>
                <a:gd name="T12" fmla="*/ 2147483647 w 144"/>
                <a:gd name="T13" fmla="*/ 2147483647 h 198"/>
                <a:gd name="T14" fmla="*/ 2147483647 w 144"/>
                <a:gd name="T15" fmla="*/ 2147483647 h 198"/>
                <a:gd name="T16" fmla="*/ 2147483647 w 144"/>
                <a:gd name="T17" fmla="*/ 0 h 198"/>
                <a:gd name="T18" fmla="*/ 2147483647 w 144"/>
                <a:gd name="T19" fmla="*/ 0 h 198"/>
                <a:gd name="T20" fmla="*/ 2147483647 w 144"/>
                <a:gd name="T21" fmla="*/ 2147483647 h 198"/>
                <a:gd name="T22" fmla="*/ 2147483647 w 144"/>
                <a:gd name="T23" fmla="*/ 2147483647 h 198"/>
                <a:gd name="T24" fmla="*/ 2147483647 w 144"/>
                <a:gd name="T25" fmla="*/ 2147483647 h 198"/>
                <a:gd name="T26" fmla="*/ 2147483647 w 144"/>
                <a:gd name="T27" fmla="*/ 2147483647 h 198"/>
                <a:gd name="T28" fmla="*/ 2147483647 w 144"/>
                <a:gd name="T29" fmla="*/ 2147483647 h 198"/>
                <a:gd name="T30" fmla="*/ 2147483647 w 144"/>
                <a:gd name="T31" fmla="*/ 2147483647 h 198"/>
                <a:gd name="T32" fmla="*/ 0 w 144"/>
                <a:gd name="T33" fmla="*/ 2147483647 h 198"/>
                <a:gd name="T34" fmla="*/ 2147483647 w 144"/>
                <a:gd name="T35" fmla="*/ 2147483647 h 198"/>
                <a:gd name="T36" fmla="*/ 2147483647 w 144"/>
                <a:gd name="T37" fmla="*/ 2147483647 h 198"/>
                <a:gd name="T38" fmla="*/ 2147483647 w 144"/>
                <a:gd name="T39" fmla="*/ 2147483647 h 198"/>
                <a:gd name="T40" fmla="*/ 2147483647 w 144"/>
                <a:gd name="T41" fmla="*/ 2147483647 h 1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path>
              </a:pathLst>
            </a:custGeom>
            <a:grpFill/>
            <a:ln w="9525">
              <a:solidFill>
                <a:schemeClr val="bg2">
                  <a:lumMod val="50000"/>
                </a:schemeClr>
              </a:solidFill>
              <a:round/>
              <a:headEnd/>
              <a:tailEnd/>
            </a:ln>
          </p:spPr>
          <p:txBody>
            <a:bodyPr/>
            <a:lstStyle/>
            <a:p>
              <a:endParaRPr lang="en-US" dirty="0"/>
            </a:p>
          </p:txBody>
        </p:sp>
        <p:sp>
          <p:nvSpPr>
            <p:cNvPr id="125" name="Freeform 393"/>
            <p:cNvSpPr>
              <a:spLocks/>
            </p:cNvSpPr>
            <p:nvPr/>
          </p:nvSpPr>
          <p:spPr bwMode="gray">
            <a:xfrm>
              <a:off x="4957859" y="3878470"/>
              <a:ext cx="53497" cy="126832"/>
            </a:xfrm>
            <a:custGeom>
              <a:avLst/>
              <a:gdLst>
                <a:gd name="T0" fmla="*/ 2147483647 w 48"/>
                <a:gd name="T1" fmla="*/ 2147483647 h 120"/>
                <a:gd name="T2" fmla="*/ 2147483647 w 48"/>
                <a:gd name="T3" fmla="*/ 2147483647 h 120"/>
                <a:gd name="T4" fmla="*/ 2147483647 w 48"/>
                <a:gd name="T5" fmla="*/ 2147483647 h 120"/>
                <a:gd name="T6" fmla="*/ 2147483647 w 48"/>
                <a:gd name="T7" fmla="*/ 2147483647 h 120"/>
                <a:gd name="T8" fmla="*/ 2147483647 w 48"/>
                <a:gd name="T9" fmla="*/ 0 h 120"/>
                <a:gd name="T10" fmla="*/ 2147483647 w 48"/>
                <a:gd name="T11" fmla="*/ 2147483647 h 120"/>
                <a:gd name="T12" fmla="*/ 2147483647 w 48"/>
                <a:gd name="T13" fmla="*/ 2147483647 h 120"/>
                <a:gd name="T14" fmla="*/ 0 w 48"/>
                <a:gd name="T15" fmla="*/ 2147483647 h 120"/>
                <a:gd name="T16" fmla="*/ 0 w 48"/>
                <a:gd name="T17" fmla="*/ 2147483647 h 120"/>
                <a:gd name="T18" fmla="*/ 2147483647 w 48"/>
                <a:gd name="T19" fmla="*/ 2147483647 h 120"/>
                <a:gd name="T20" fmla="*/ 2147483647 w 48"/>
                <a:gd name="T21" fmla="*/ 2147483647 h 120"/>
                <a:gd name="T22" fmla="*/ 2147483647 w 48"/>
                <a:gd name="T23" fmla="*/ 2147483647 h 120"/>
                <a:gd name="T24" fmla="*/ 2147483647 w 48"/>
                <a:gd name="T25" fmla="*/ 2147483647 h 120"/>
                <a:gd name="T26" fmla="*/ 2147483647 w 48"/>
                <a:gd name="T27" fmla="*/ 2147483647 h 120"/>
                <a:gd name="T28" fmla="*/ 2147483647 w 48"/>
                <a:gd name="T29" fmla="*/ 2147483647 h 1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8" h="120">
                  <a:moveTo>
                    <a:pt x="48" y="48"/>
                  </a:moveTo>
                  <a:lnTo>
                    <a:pt x="48" y="24"/>
                  </a:lnTo>
                  <a:lnTo>
                    <a:pt x="48" y="6"/>
                  </a:lnTo>
                  <a:lnTo>
                    <a:pt x="42" y="6"/>
                  </a:lnTo>
                  <a:lnTo>
                    <a:pt x="30" y="0"/>
                  </a:lnTo>
                  <a:lnTo>
                    <a:pt x="24" y="6"/>
                  </a:lnTo>
                  <a:lnTo>
                    <a:pt x="6" y="30"/>
                  </a:lnTo>
                  <a:lnTo>
                    <a:pt x="0" y="30"/>
                  </a:lnTo>
                  <a:lnTo>
                    <a:pt x="0" y="48"/>
                  </a:lnTo>
                  <a:lnTo>
                    <a:pt x="6" y="90"/>
                  </a:lnTo>
                  <a:lnTo>
                    <a:pt x="24" y="120"/>
                  </a:lnTo>
                  <a:lnTo>
                    <a:pt x="36" y="120"/>
                  </a:lnTo>
                  <a:lnTo>
                    <a:pt x="36" y="90"/>
                  </a:lnTo>
                  <a:lnTo>
                    <a:pt x="48" y="48"/>
                  </a:lnTo>
                  <a:close/>
                </a:path>
              </a:pathLst>
            </a:custGeom>
            <a:grpFill/>
            <a:ln w="9525">
              <a:solidFill>
                <a:schemeClr val="bg2">
                  <a:lumMod val="50000"/>
                </a:schemeClr>
              </a:solidFill>
              <a:round/>
              <a:headEnd/>
              <a:tailEnd/>
            </a:ln>
          </p:spPr>
          <p:txBody>
            <a:bodyPr/>
            <a:lstStyle/>
            <a:p>
              <a:endParaRPr lang="en-US" dirty="0"/>
            </a:p>
          </p:txBody>
        </p:sp>
        <p:sp>
          <p:nvSpPr>
            <p:cNvPr id="126" name="Freeform 394"/>
            <p:cNvSpPr>
              <a:spLocks/>
            </p:cNvSpPr>
            <p:nvPr/>
          </p:nvSpPr>
          <p:spPr bwMode="gray">
            <a:xfrm>
              <a:off x="4937798" y="3911780"/>
              <a:ext cx="46809" cy="99929"/>
            </a:xfrm>
            <a:custGeom>
              <a:avLst/>
              <a:gdLst>
                <a:gd name="T0" fmla="*/ 2147483647 w 42"/>
                <a:gd name="T1" fmla="*/ 2147483647 h 96"/>
                <a:gd name="T2" fmla="*/ 2147483647 w 42"/>
                <a:gd name="T3" fmla="*/ 0 h 96"/>
                <a:gd name="T4" fmla="*/ 2147483647 w 42"/>
                <a:gd name="T5" fmla="*/ 2147483647 h 96"/>
                <a:gd name="T6" fmla="*/ 0 w 42"/>
                <a:gd name="T7" fmla="*/ 2147483647 h 96"/>
                <a:gd name="T8" fmla="*/ 0 w 42"/>
                <a:gd name="T9" fmla="*/ 2147483647 h 96"/>
                <a:gd name="T10" fmla="*/ 0 w 42"/>
                <a:gd name="T11" fmla="*/ 2147483647 h 96"/>
                <a:gd name="T12" fmla="*/ 2147483647 w 42"/>
                <a:gd name="T13" fmla="*/ 2147483647 h 96"/>
                <a:gd name="T14" fmla="*/ 2147483647 w 42"/>
                <a:gd name="T15" fmla="*/ 2147483647 h 96"/>
                <a:gd name="T16" fmla="*/ 2147483647 w 42"/>
                <a:gd name="T17" fmla="*/ 2147483647 h 96"/>
                <a:gd name="T18" fmla="*/ 2147483647 w 42"/>
                <a:gd name="T19" fmla="*/ 2147483647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2" h="96">
                  <a:moveTo>
                    <a:pt x="18" y="18"/>
                  </a:moveTo>
                  <a:lnTo>
                    <a:pt x="18" y="0"/>
                  </a:lnTo>
                  <a:lnTo>
                    <a:pt x="6" y="6"/>
                  </a:lnTo>
                  <a:lnTo>
                    <a:pt x="0" y="6"/>
                  </a:lnTo>
                  <a:lnTo>
                    <a:pt x="0" y="12"/>
                  </a:lnTo>
                  <a:lnTo>
                    <a:pt x="0" y="42"/>
                  </a:lnTo>
                  <a:lnTo>
                    <a:pt x="18" y="96"/>
                  </a:lnTo>
                  <a:lnTo>
                    <a:pt x="42" y="90"/>
                  </a:lnTo>
                  <a:lnTo>
                    <a:pt x="24" y="60"/>
                  </a:lnTo>
                  <a:lnTo>
                    <a:pt x="18" y="18"/>
                  </a:lnTo>
                  <a:close/>
                </a:path>
              </a:pathLst>
            </a:custGeom>
            <a:grpFill/>
            <a:ln w="9525">
              <a:solidFill>
                <a:schemeClr val="bg2">
                  <a:lumMod val="50000"/>
                </a:schemeClr>
              </a:solidFill>
              <a:round/>
              <a:headEnd/>
              <a:tailEnd/>
            </a:ln>
          </p:spPr>
          <p:txBody>
            <a:bodyPr/>
            <a:lstStyle/>
            <a:p>
              <a:endParaRPr lang="en-US" dirty="0"/>
            </a:p>
          </p:txBody>
        </p:sp>
        <p:sp>
          <p:nvSpPr>
            <p:cNvPr id="127" name="Freeform 395"/>
            <p:cNvSpPr>
              <a:spLocks/>
            </p:cNvSpPr>
            <p:nvPr/>
          </p:nvSpPr>
          <p:spPr bwMode="gray">
            <a:xfrm>
              <a:off x="5183882" y="4472916"/>
              <a:ext cx="270157" cy="262633"/>
            </a:xfrm>
            <a:custGeom>
              <a:avLst/>
              <a:gdLst>
                <a:gd name="T0" fmla="*/ 2147483647 w 246"/>
                <a:gd name="T1" fmla="*/ 2147483647 h 252"/>
                <a:gd name="T2" fmla="*/ 2147483647 w 246"/>
                <a:gd name="T3" fmla="*/ 2147483647 h 252"/>
                <a:gd name="T4" fmla="*/ 2147483647 w 246"/>
                <a:gd name="T5" fmla="*/ 2147483647 h 252"/>
                <a:gd name="T6" fmla="*/ 2147483647 w 246"/>
                <a:gd name="T7" fmla="*/ 2147483647 h 252"/>
                <a:gd name="T8" fmla="*/ 2147483647 w 246"/>
                <a:gd name="T9" fmla="*/ 2147483647 h 252"/>
                <a:gd name="T10" fmla="*/ 2147483647 w 246"/>
                <a:gd name="T11" fmla="*/ 2147483647 h 252"/>
                <a:gd name="T12" fmla="*/ 2147483647 w 246"/>
                <a:gd name="T13" fmla="*/ 2147483647 h 252"/>
                <a:gd name="T14" fmla="*/ 2147483647 w 246"/>
                <a:gd name="T15" fmla="*/ 2147483647 h 252"/>
                <a:gd name="T16" fmla="*/ 2147483647 w 246"/>
                <a:gd name="T17" fmla="*/ 2147483647 h 252"/>
                <a:gd name="T18" fmla="*/ 2147483647 w 246"/>
                <a:gd name="T19" fmla="*/ 2147483647 h 252"/>
                <a:gd name="T20" fmla="*/ 2147483647 w 246"/>
                <a:gd name="T21" fmla="*/ 2147483647 h 252"/>
                <a:gd name="T22" fmla="*/ 2147483647 w 246"/>
                <a:gd name="T23" fmla="*/ 2147483647 h 252"/>
                <a:gd name="T24" fmla="*/ 2147483647 w 246"/>
                <a:gd name="T25" fmla="*/ 2147483647 h 252"/>
                <a:gd name="T26" fmla="*/ 2147483647 w 246"/>
                <a:gd name="T27" fmla="*/ 2147483647 h 252"/>
                <a:gd name="T28" fmla="*/ 2147483647 w 246"/>
                <a:gd name="T29" fmla="*/ 2147483647 h 252"/>
                <a:gd name="T30" fmla="*/ 2147483647 w 246"/>
                <a:gd name="T31" fmla="*/ 2147483647 h 252"/>
                <a:gd name="T32" fmla="*/ 2147483647 w 246"/>
                <a:gd name="T33" fmla="*/ 2147483647 h 252"/>
                <a:gd name="T34" fmla="*/ 2147483647 w 246"/>
                <a:gd name="T35" fmla="*/ 2147483647 h 252"/>
                <a:gd name="T36" fmla="*/ 2147483647 w 246"/>
                <a:gd name="T37" fmla="*/ 2147483647 h 252"/>
                <a:gd name="T38" fmla="*/ 2147483647 w 246"/>
                <a:gd name="T39" fmla="*/ 0 h 252"/>
                <a:gd name="T40" fmla="*/ 2147483647 w 246"/>
                <a:gd name="T41" fmla="*/ 2147483647 h 252"/>
                <a:gd name="T42" fmla="*/ 0 w 246"/>
                <a:gd name="T43" fmla="*/ 2147483647 h 252"/>
                <a:gd name="T44" fmla="*/ 2147483647 w 246"/>
                <a:gd name="T45" fmla="*/ 2147483647 h 252"/>
                <a:gd name="T46" fmla="*/ 2147483647 w 246"/>
                <a:gd name="T47" fmla="*/ 2147483647 h 252"/>
                <a:gd name="T48" fmla="*/ 2147483647 w 246"/>
                <a:gd name="T49" fmla="*/ 2147483647 h 252"/>
                <a:gd name="T50" fmla="*/ 2147483647 w 246"/>
                <a:gd name="T51" fmla="*/ 2147483647 h 252"/>
                <a:gd name="T52" fmla="*/ 2147483647 w 246"/>
                <a:gd name="T53" fmla="*/ 2147483647 h 252"/>
                <a:gd name="T54" fmla="*/ 2147483647 w 246"/>
                <a:gd name="T55" fmla="*/ 2147483647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46" h="252">
                  <a:moveTo>
                    <a:pt x="126" y="252"/>
                  </a:moveTo>
                  <a:lnTo>
                    <a:pt x="144" y="246"/>
                  </a:lnTo>
                  <a:lnTo>
                    <a:pt x="156" y="162"/>
                  </a:lnTo>
                  <a:lnTo>
                    <a:pt x="156" y="108"/>
                  </a:lnTo>
                  <a:lnTo>
                    <a:pt x="168" y="102"/>
                  </a:lnTo>
                  <a:lnTo>
                    <a:pt x="174" y="36"/>
                  </a:lnTo>
                  <a:lnTo>
                    <a:pt x="222" y="24"/>
                  </a:lnTo>
                  <a:lnTo>
                    <a:pt x="240" y="18"/>
                  </a:lnTo>
                  <a:lnTo>
                    <a:pt x="246" y="18"/>
                  </a:lnTo>
                  <a:lnTo>
                    <a:pt x="234" y="12"/>
                  </a:lnTo>
                  <a:lnTo>
                    <a:pt x="210" y="12"/>
                  </a:lnTo>
                  <a:lnTo>
                    <a:pt x="216" y="18"/>
                  </a:lnTo>
                  <a:lnTo>
                    <a:pt x="210" y="12"/>
                  </a:lnTo>
                  <a:lnTo>
                    <a:pt x="174" y="18"/>
                  </a:lnTo>
                  <a:lnTo>
                    <a:pt x="126" y="18"/>
                  </a:lnTo>
                  <a:lnTo>
                    <a:pt x="114" y="12"/>
                  </a:lnTo>
                  <a:lnTo>
                    <a:pt x="30" y="12"/>
                  </a:lnTo>
                  <a:lnTo>
                    <a:pt x="18" y="0"/>
                  </a:lnTo>
                  <a:lnTo>
                    <a:pt x="6" y="6"/>
                  </a:lnTo>
                  <a:lnTo>
                    <a:pt x="0" y="42"/>
                  </a:lnTo>
                  <a:lnTo>
                    <a:pt x="42" y="126"/>
                  </a:lnTo>
                  <a:lnTo>
                    <a:pt x="48" y="144"/>
                  </a:lnTo>
                  <a:lnTo>
                    <a:pt x="60" y="222"/>
                  </a:lnTo>
                  <a:lnTo>
                    <a:pt x="90" y="252"/>
                  </a:lnTo>
                  <a:lnTo>
                    <a:pt x="96" y="240"/>
                  </a:lnTo>
                  <a:lnTo>
                    <a:pt x="126" y="252"/>
                  </a:lnTo>
                  <a:close/>
                </a:path>
              </a:pathLst>
            </a:custGeom>
            <a:grpFill/>
            <a:ln w="9525">
              <a:solidFill>
                <a:schemeClr val="bg2">
                  <a:lumMod val="50000"/>
                </a:schemeClr>
              </a:solidFill>
              <a:round/>
              <a:headEnd/>
              <a:tailEnd/>
            </a:ln>
          </p:spPr>
          <p:txBody>
            <a:bodyPr/>
            <a:lstStyle/>
            <a:p>
              <a:endParaRPr lang="en-US" dirty="0"/>
            </a:p>
          </p:txBody>
        </p:sp>
        <p:sp>
          <p:nvSpPr>
            <p:cNvPr id="128" name="Freeform 396"/>
            <p:cNvSpPr>
              <a:spLocks/>
            </p:cNvSpPr>
            <p:nvPr/>
          </p:nvSpPr>
          <p:spPr bwMode="gray">
            <a:xfrm>
              <a:off x="4957859" y="3752920"/>
              <a:ext cx="66871" cy="75587"/>
            </a:xfrm>
            <a:custGeom>
              <a:avLst/>
              <a:gdLst>
                <a:gd name="T0" fmla="*/ 0 w 10"/>
                <a:gd name="T1" fmla="*/ 2147483647 h 12"/>
                <a:gd name="T2" fmla="*/ 2147483647 w 10"/>
                <a:gd name="T3" fmla="*/ 2147483647 h 12"/>
                <a:gd name="T4" fmla="*/ 2147483647 w 10"/>
                <a:gd name="T5" fmla="*/ 2147483647 h 12"/>
                <a:gd name="T6" fmla="*/ 2147483647 w 10"/>
                <a:gd name="T7" fmla="*/ 2147483647 h 12"/>
                <a:gd name="T8" fmla="*/ 2147483647 w 10"/>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2">
                  <a:moveTo>
                    <a:pt x="0" y="12"/>
                  </a:moveTo>
                  <a:cubicBezTo>
                    <a:pt x="4" y="11"/>
                    <a:pt x="4" y="11"/>
                    <a:pt x="4" y="11"/>
                  </a:cubicBezTo>
                  <a:cubicBezTo>
                    <a:pt x="9" y="10"/>
                    <a:pt x="9" y="10"/>
                    <a:pt x="9" y="10"/>
                  </a:cubicBezTo>
                  <a:cubicBezTo>
                    <a:pt x="9" y="10"/>
                    <a:pt x="10" y="8"/>
                    <a:pt x="10" y="8"/>
                  </a:cubicBezTo>
                  <a:cubicBezTo>
                    <a:pt x="10" y="7"/>
                    <a:pt x="10" y="0"/>
                    <a:pt x="10" y="0"/>
                  </a:cubicBezTo>
                </a:path>
              </a:pathLst>
            </a:custGeom>
            <a:grpFill/>
            <a:ln w="9525">
              <a:solidFill>
                <a:schemeClr val="bg2">
                  <a:lumMod val="50000"/>
                </a:schemeClr>
              </a:solidFill>
              <a:round/>
              <a:headEnd/>
              <a:tailEnd/>
            </a:ln>
          </p:spPr>
          <p:txBody>
            <a:bodyPr/>
            <a:lstStyle/>
            <a:p>
              <a:endParaRPr lang="en-US" dirty="0"/>
            </a:p>
          </p:txBody>
        </p:sp>
        <p:sp>
          <p:nvSpPr>
            <p:cNvPr id="129" name="Freeform 397"/>
            <p:cNvSpPr>
              <a:spLocks/>
            </p:cNvSpPr>
            <p:nvPr/>
          </p:nvSpPr>
          <p:spPr bwMode="gray">
            <a:xfrm>
              <a:off x="1329463" y="2079759"/>
              <a:ext cx="569737" cy="744338"/>
            </a:xfrm>
            <a:custGeom>
              <a:avLst/>
              <a:gdLst>
                <a:gd name="T0" fmla="*/ 2147483647 w 516"/>
                <a:gd name="T1" fmla="*/ 2147483647 h 709"/>
                <a:gd name="T2" fmla="*/ 2147483647 w 516"/>
                <a:gd name="T3" fmla="*/ 2147483647 h 709"/>
                <a:gd name="T4" fmla="*/ 2147483647 w 516"/>
                <a:gd name="T5" fmla="*/ 2147483647 h 709"/>
                <a:gd name="T6" fmla="*/ 2147483647 w 516"/>
                <a:gd name="T7" fmla="*/ 2147483647 h 709"/>
                <a:gd name="T8" fmla="*/ 2147483647 w 516"/>
                <a:gd name="T9" fmla="*/ 2147483647 h 709"/>
                <a:gd name="T10" fmla="*/ 2147483647 w 516"/>
                <a:gd name="T11" fmla="*/ 2147483647 h 709"/>
                <a:gd name="T12" fmla="*/ 2147483647 w 516"/>
                <a:gd name="T13" fmla="*/ 2147483647 h 709"/>
                <a:gd name="T14" fmla="*/ 2147483647 w 516"/>
                <a:gd name="T15" fmla="*/ 0 h 709"/>
                <a:gd name="T16" fmla="*/ 2147483647 w 516"/>
                <a:gd name="T17" fmla="*/ 2147483647 h 709"/>
                <a:gd name="T18" fmla="*/ 2147483647 w 516"/>
                <a:gd name="T19" fmla="*/ 2147483647 h 709"/>
                <a:gd name="T20" fmla="*/ 2147483647 w 516"/>
                <a:gd name="T21" fmla="*/ 2147483647 h 709"/>
                <a:gd name="T22" fmla="*/ 2147483647 w 516"/>
                <a:gd name="T23" fmla="*/ 2147483647 h 709"/>
                <a:gd name="T24" fmla="*/ 2147483647 w 516"/>
                <a:gd name="T25" fmla="*/ 2147483647 h 709"/>
                <a:gd name="T26" fmla="*/ 2147483647 w 516"/>
                <a:gd name="T27" fmla="*/ 2147483647 h 709"/>
                <a:gd name="T28" fmla="*/ 2147483647 w 516"/>
                <a:gd name="T29" fmla="*/ 2147483647 h 709"/>
                <a:gd name="T30" fmla="*/ 2147483647 w 516"/>
                <a:gd name="T31" fmla="*/ 2147483647 h 709"/>
                <a:gd name="T32" fmla="*/ 2147483647 w 516"/>
                <a:gd name="T33" fmla="*/ 2147483647 h 709"/>
                <a:gd name="T34" fmla="*/ 2147483647 w 516"/>
                <a:gd name="T35" fmla="*/ 2147483647 h 709"/>
                <a:gd name="T36" fmla="*/ 2147483647 w 516"/>
                <a:gd name="T37" fmla="*/ 2147483647 h 709"/>
                <a:gd name="T38" fmla="*/ 0 w 516"/>
                <a:gd name="T39" fmla="*/ 2147483647 h 709"/>
                <a:gd name="T40" fmla="*/ 2147483647 w 516"/>
                <a:gd name="T41" fmla="*/ 2147483647 h 709"/>
                <a:gd name="T42" fmla="*/ 2147483647 w 516"/>
                <a:gd name="T43" fmla="*/ 2147483647 h 709"/>
                <a:gd name="T44" fmla="*/ 2147483647 w 516"/>
                <a:gd name="T45" fmla="*/ 2147483647 h 709"/>
                <a:gd name="T46" fmla="*/ 2147483647 w 516"/>
                <a:gd name="T47" fmla="*/ 2147483647 h 709"/>
                <a:gd name="T48" fmla="*/ 2147483647 w 516"/>
                <a:gd name="T49" fmla="*/ 2147483647 h 709"/>
                <a:gd name="T50" fmla="*/ 2147483647 w 516"/>
                <a:gd name="T51" fmla="*/ 2147483647 h 709"/>
                <a:gd name="T52" fmla="*/ 2147483647 w 516"/>
                <a:gd name="T53" fmla="*/ 2147483647 h 709"/>
                <a:gd name="T54" fmla="*/ 2147483647 w 516"/>
                <a:gd name="T55" fmla="*/ 2147483647 h 709"/>
                <a:gd name="T56" fmla="*/ 2147483647 w 516"/>
                <a:gd name="T57" fmla="*/ 2147483647 h 709"/>
                <a:gd name="T58" fmla="*/ 2147483647 w 516"/>
                <a:gd name="T59" fmla="*/ 2147483647 h 709"/>
                <a:gd name="T60" fmla="*/ 2147483647 w 516"/>
                <a:gd name="T61" fmla="*/ 2147483647 h 709"/>
                <a:gd name="T62" fmla="*/ 2147483647 w 516"/>
                <a:gd name="T63" fmla="*/ 2147483647 h 709"/>
                <a:gd name="T64" fmla="*/ 2147483647 w 516"/>
                <a:gd name="T65" fmla="*/ 2147483647 h 709"/>
                <a:gd name="T66" fmla="*/ 2147483647 w 516"/>
                <a:gd name="T67" fmla="*/ 2147483647 h 709"/>
                <a:gd name="T68" fmla="*/ 2147483647 w 516"/>
                <a:gd name="T69" fmla="*/ 2147483647 h 709"/>
                <a:gd name="T70" fmla="*/ 2147483647 w 516"/>
                <a:gd name="T71" fmla="*/ 2147483647 h 709"/>
                <a:gd name="T72" fmla="*/ 2147483647 w 516"/>
                <a:gd name="T73" fmla="*/ 2147483647 h 709"/>
                <a:gd name="T74" fmla="*/ 2147483647 w 516"/>
                <a:gd name="T75" fmla="*/ 2147483647 h 709"/>
                <a:gd name="T76" fmla="*/ 2147483647 w 516"/>
                <a:gd name="T77" fmla="*/ 2147483647 h 709"/>
                <a:gd name="T78" fmla="*/ 2147483647 w 516"/>
                <a:gd name="T79" fmla="*/ 2147483647 h 709"/>
                <a:gd name="T80" fmla="*/ 2147483647 w 516"/>
                <a:gd name="T81" fmla="*/ 2147483647 h 709"/>
                <a:gd name="T82" fmla="*/ 2147483647 w 516"/>
                <a:gd name="T83" fmla="*/ 2147483647 h 709"/>
                <a:gd name="T84" fmla="*/ 2147483647 w 516"/>
                <a:gd name="T85" fmla="*/ 2147483647 h 709"/>
                <a:gd name="T86" fmla="*/ 2147483647 w 516"/>
                <a:gd name="T87" fmla="*/ 2147483647 h 709"/>
                <a:gd name="T88" fmla="*/ 2147483647 w 516"/>
                <a:gd name="T89" fmla="*/ 2147483647 h 709"/>
                <a:gd name="T90" fmla="*/ 2147483647 w 516"/>
                <a:gd name="T91" fmla="*/ 2147483647 h 709"/>
                <a:gd name="T92" fmla="*/ 2147483647 w 516"/>
                <a:gd name="T93" fmla="*/ 2147483647 h 709"/>
                <a:gd name="T94" fmla="*/ 2147483647 w 516"/>
                <a:gd name="T95" fmla="*/ 2147483647 h 7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6" h="709">
                  <a:moveTo>
                    <a:pt x="504" y="96"/>
                  </a:moveTo>
                  <a:lnTo>
                    <a:pt x="486" y="78"/>
                  </a:lnTo>
                  <a:lnTo>
                    <a:pt x="432" y="84"/>
                  </a:lnTo>
                  <a:lnTo>
                    <a:pt x="354" y="48"/>
                  </a:lnTo>
                  <a:lnTo>
                    <a:pt x="318" y="54"/>
                  </a:lnTo>
                  <a:lnTo>
                    <a:pt x="288" y="36"/>
                  </a:lnTo>
                  <a:lnTo>
                    <a:pt x="282" y="18"/>
                  </a:lnTo>
                  <a:lnTo>
                    <a:pt x="228" y="0"/>
                  </a:lnTo>
                  <a:lnTo>
                    <a:pt x="198" y="24"/>
                  </a:lnTo>
                  <a:lnTo>
                    <a:pt x="150" y="42"/>
                  </a:lnTo>
                  <a:lnTo>
                    <a:pt x="114" y="66"/>
                  </a:lnTo>
                  <a:lnTo>
                    <a:pt x="90" y="126"/>
                  </a:lnTo>
                  <a:lnTo>
                    <a:pt x="42" y="138"/>
                  </a:lnTo>
                  <a:lnTo>
                    <a:pt x="42" y="174"/>
                  </a:lnTo>
                  <a:lnTo>
                    <a:pt x="78" y="222"/>
                  </a:lnTo>
                  <a:lnTo>
                    <a:pt x="114" y="240"/>
                  </a:lnTo>
                  <a:lnTo>
                    <a:pt x="114" y="264"/>
                  </a:lnTo>
                  <a:lnTo>
                    <a:pt x="90" y="276"/>
                  </a:lnTo>
                  <a:lnTo>
                    <a:pt x="60" y="264"/>
                  </a:lnTo>
                  <a:lnTo>
                    <a:pt x="0" y="306"/>
                  </a:lnTo>
                  <a:lnTo>
                    <a:pt x="18" y="324"/>
                  </a:lnTo>
                  <a:lnTo>
                    <a:pt x="42" y="348"/>
                  </a:lnTo>
                  <a:lnTo>
                    <a:pt x="96" y="348"/>
                  </a:lnTo>
                  <a:lnTo>
                    <a:pt x="138" y="354"/>
                  </a:lnTo>
                  <a:lnTo>
                    <a:pt x="120" y="396"/>
                  </a:lnTo>
                  <a:lnTo>
                    <a:pt x="72" y="414"/>
                  </a:lnTo>
                  <a:lnTo>
                    <a:pt x="36" y="438"/>
                  </a:lnTo>
                  <a:lnTo>
                    <a:pt x="30" y="468"/>
                  </a:lnTo>
                  <a:lnTo>
                    <a:pt x="72" y="498"/>
                  </a:lnTo>
                  <a:lnTo>
                    <a:pt x="78" y="529"/>
                  </a:lnTo>
                  <a:lnTo>
                    <a:pt x="108" y="541"/>
                  </a:lnTo>
                  <a:lnTo>
                    <a:pt x="114" y="583"/>
                  </a:lnTo>
                  <a:lnTo>
                    <a:pt x="156" y="577"/>
                  </a:lnTo>
                  <a:lnTo>
                    <a:pt x="210" y="577"/>
                  </a:lnTo>
                  <a:lnTo>
                    <a:pt x="180" y="631"/>
                  </a:lnTo>
                  <a:lnTo>
                    <a:pt x="90" y="709"/>
                  </a:lnTo>
                  <a:lnTo>
                    <a:pt x="192" y="655"/>
                  </a:lnTo>
                  <a:lnTo>
                    <a:pt x="270" y="571"/>
                  </a:lnTo>
                  <a:lnTo>
                    <a:pt x="264" y="553"/>
                  </a:lnTo>
                  <a:lnTo>
                    <a:pt x="312" y="492"/>
                  </a:lnTo>
                  <a:lnTo>
                    <a:pt x="324" y="517"/>
                  </a:lnTo>
                  <a:lnTo>
                    <a:pt x="330" y="547"/>
                  </a:lnTo>
                  <a:lnTo>
                    <a:pt x="366" y="517"/>
                  </a:lnTo>
                  <a:lnTo>
                    <a:pt x="408" y="492"/>
                  </a:lnTo>
                  <a:lnTo>
                    <a:pt x="426" y="505"/>
                  </a:lnTo>
                  <a:lnTo>
                    <a:pt x="516" y="523"/>
                  </a:lnTo>
                  <a:lnTo>
                    <a:pt x="516" y="96"/>
                  </a:lnTo>
                  <a:lnTo>
                    <a:pt x="504" y="96"/>
                  </a:lnTo>
                  <a:close/>
                </a:path>
              </a:pathLst>
            </a:custGeom>
            <a:grpFill/>
            <a:ln w="9525">
              <a:solidFill>
                <a:schemeClr val="bg2">
                  <a:lumMod val="50000"/>
                </a:schemeClr>
              </a:solidFill>
              <a:round/>
              <a:headEnd/>
              <a:tailEnd/>
            </a:ln>
          </p:spPr>
          <p:txBody>
            <a:bodyPr/>
            <a:lstStyle/>
            <a:p>
              <a:endParaRPr lang="en-US" dirty="0"/>
            </a:p>
          </p:txBody>
        </p:sp>
        <p:sp>
          <p:nvSpPr>
            <p:cNvPr id="130" name="Freeform 398"/>
            <p:cNvSpPr>
              <a:spLocks/>
            </p:cNvSpPr>
            <p:nvPr/>
          </p:nvSpPr>
          <p:spPr bwMode="gray">
            <a:xfrm>
              <a:off x="1899200" y="2049012"/>
              <a:ext cx="1785443" cy="1172237"/>
            </a:xfrm>
            <a:custGeom>
              <a:avLst/>
              <a:gdLst>
                <a:gd name="T0" fmla="*/ 2147483647 w 1622"/>
                <a:gd name="T1" fmla="*/ 2147483647 h 1117"/>
                <a:gd name="T2" fmla="*/ 2147483647 w 1622"/>
                <a:gd name="T3" fmla="*/ 2147483647 h 1117"/>
                <a:gd name="T4" fmla="*/ 2147483647 w 1622"/>
                <a:gd name="T5" fmla="*/ 2147483647 h 1117"/>
                <a:gd name="T6" fmla="*/ 2147483647 w 1622"/>
                <a:gd name="T7" fmla="*/ 2147483647 h 1117"/>
                <a:gd name="T8" fmla="*/ 2147483647 w 1622"/>
                <a:gd name="T9" fmla="*/ 2147483647 h 1117"/>
                <a:gd name="T10" fmla="*/ 2147483647 w 1622"/>
                <a:gd name="T11" fmla="*/ 2147483647 h 1117"/>
                <a:gd name="T12" fmla="*/ 2147483647 w 1622"/>
                <a:gd name="T13" fmla="*/ 2147483647 h 1117"/>
                <a:gd name="T14" fmla="*/ 2147483647 w 1622"/>
                <a:gd name="T15" fmla="*/ 2147483647 h 1117"/>
                <a:gd name="T16" fmla="*/ 2147483647 w 1622"/>
                <a:gd name="T17" fmla="*/ 2147483647 h 1117"/>
                <a:gd name="T18" fmla="*/ 2147483647 w 1622"/>
                <a:gd name="T19" fmla="*/ 2147483647 h 1117"/>
                <a:gd name="T20" fmla="*/ 2147483647 w 1622"/>
                <a:gd name="T21" fmla="*/ 2147483647 h 1117"/>
                <a:gd name="T22" fmla="*/ 2147483647 w 1622"/>
                <a:gd name="T23" fmla="*/ 2147483647 h 1117"/>
                <a:gd name="T24" fmla="*/ 2147483647 w 1622"/>
                <a:gd name="T25" fmla="*/ 2147483647 h 1117"/>
                <a:gd name="T26" fmla="*/ 2147483647 w 1622"/>
                <a:gd name="T27" fmla="*/ 2147483647 h 1117"/>
                <a:gd name="T28" fmla="*/ 2147483647 w 1622"/>
                <a:gd name="T29" fmla="*/ 2147483647 h 1117"/>
                <a:gd name="T30" fmla="*/ 2147483647 w 1622"/>
                <a:gd name="T31" fmla="*/ 2147483647 h 1117"/>
                <a:gd name="T32" fmla="*/ 2147483647 w 1622"/>
                <a:gd name="T33" fmla="*/ 2147483647 h 1117"/>
                <a:gd name="T34" fmla="*/ 2147483647 w 1622"/>
                <a:gd name="T35" fmla="*/ 2147483647 h 1117"/>
                <a:gd name="T36" fmla="*/ 2147483647 w 1622"/>
                <a:gd name="T37" fmla="*/ 2147483647 h 1117"/>
                <a:gd name="T38" fmla="*/ 2147483647 w 1622"/>
                <a:gd name="T39" fmla="*/ 2147483647 h 1117"/>
                <a:gd name="T40" fmla="*/ 2147483647 w 1622"/>
                <a:gd name="T41" fmla="*/ 2147483647 h 1117"/>
                <a:gd name="T42" fmla="*/ 2147483647 w 1622"/>
                <a:gd name="T43" fmla="*/ 2147483647 h 1117"/>
                <a:gd name="T44" fmla="*/ 2147483647 w 1622"/>
                <a:gd name="T45" fmla="*/ 2147483647 h 1117"/>
                <a:gd name="T46" fmla="*/ 2147483647 w 1622"/>
                <a:gd name="T47" fmla="*/ 2147483647 h 1117"/>
                <a:gd name="T48" fmla="*/ 2147483647 w 1622"/>
                <a:gd name="T49" fmla="*/ 2147483647 h 1117"/>
                <a:gd name="T50" fmla="*/ 2147483647 w 1622"/>
                <a:gd name="T51" fmla="*/ 2147483647 h 1117"/>
                <a:gd name="T52" fmla="*/ 2147483647 w 1622"/>
                <a:gd name="T53" fmla="*/ 2147483647 h 1117"/>
                <a:gd name="T54" fmla="*/ 2147483647 w 1622"/>
                <a:gd name="T55" fmla="*/ 2147483647 h 1117"/>
                <a:gd name="T56" fmla="*/ 2147483647 w 1622"/>
                <a:gd name="T57" fmla="*/ 2147483647 h 1117"/>
                <a:gd name="T58" fmla="*/ 2147483647 w 1622"/>
                <a:gd name="T59" fmla="*/ 2147483647 h 1117"/>
                <a:gd name="T60" fmla="*/ 2147483647 w 1622"/>
                <a:gd name="T61" fmla="*/ 2147483647 h 1117"/>
                <a:gd name="T62" fmla="*/ 2147483647 w 1622"/>
                <a:gd name="T63" fmla="*/ 2147483647 h 1117"/>
                <a:gd name="T64" fmla="*/ 2147483647 w 1622"/>
                <a:gd name="T65" fmla="*/ 2147483647 h 1117"/>
                <a:gd name="T66" fmla="*/ 2147483647 w 1622"/>
                <a:gd name="T67" fmla="*/ 2147483647 h 1117"/>
                <a:gd name="T68" fmla="*/ 2147483647 w 1622"/>
                <a:gd name="T69" fmla="*/ 2147483647 h 1117"/>
                <a:gd name="T70" fmla="*/ 2147483647 w 1622"/>
                <a:gd name="T71" fmla="*/ 2147483647 h 1117"/>
                <a:gd name="T72" fmla="*/ 2147483647 w 1622"/>
                <a:gd name="T73" fmla="*/ 2147483647 h 1117"/>
                <a:gd name="T74" fmla="*/ 2147483647 w 1622"/>
                <a:gd name="T75" fmla="*/ 2147483647 h 1117"/>
                <a:gd name="T76" fmla="*/ 2147483647 w 1622"/>
                <a:gd name="T77" fmla="*/ 2147483647 h 1117"/>
                <a:gd name="T78" fmla="*/ 2147483647 w 1622"/>
                <a:gd name="T79" fmla="*/ 2147483647 h 1117"/>
                <a:gd name="T80" fmla="*/ 2147483647 w 1622"/>
                <a:gd name="T81" fmla="*/ 0 h 1117"/>
                <a:gd name="T82" fmla="*/ 2147483647 w 1622"/>
                <a:gd name="T83" fmla="*/ 2147483647 h 1117"/>
                <a:gd name="T84" fmla="*/ 2147483647 w 1622"/>
                <a:gd name="T85" fmla="*/ 2147483647 h 1117"/>
                <a:gd name="T86" fmla="*/ 2147483647 w 1622"/>
                <a:gd name="T87" fmla="*/ 2147483647 h 1117"/>
                <a:gd name="T88" fmla="*/ 2147483647 w 1622"/>
                <a:gd name="T89" fmla="*/ 2147483647 h 1117"/>
                <a:gd name="T90" fmla="*/ 2147483647 w 1622"/>
                <a:gd name="T91" fmla="*/ 2147483647 h 1117"/>
                <a:gd name="T92" fmla="*/ 2147483647 w 1622"/>
                <a:gd name="T93" fmla="*/ 2147483647 h 1117"/>
                <a:gd name="T94" fmla="*/ 2147483647 w 1622"/>
                <a:gd name="T95" fmla="*/ 2147483647 h 1117"/>
                <a:gd name="T96" fmla="*/ 2147483647 w 1622"/>
                <a:gd name="T97" fmla="*/ 2147483647 h 1117"/>
                <a:gd name="T98" fmla="*/ 2147483647 w 1622"/>
                <a:gd name="T99" fmla="*/ 2147483647 h 1117"/>
                <a:gd name="T100" fmla="*/ 2147483647 w 1622"/>
                <a:gd name="T101" fmla="*/ 2147483647 h 1117"/>
                <a:gd name="T102" fmla="*/ 2147483647 w 1622"/>
                <a:gd name="T103" fmla="*/ 2147483647 h 1117"/>
                <a:gd name="T104" fmla="*/ 2147483647 w 1622"/>
                <a:gd name="T105" fmla="*/ 2147483647 h 1117"/>
                <a:gd name="T106" fmla="*/ 2147483647 w 1622"/>
                <a:gd name="T107" fmla="*/ 2147483647 h 1117"/>
                <a:gd name="T108" fmla="*/ 2147483647 w 1622"/>
                <a:gd name="T109" fmla="*/ 2147483647 h 1117"/>
                <a:gd name="T110" fmla="*/ 0 w 1622"/>
                <a:gd name="T111" fmla="*/ 2147483647 h 1117"/>
                <a:gd name="T112" fmla="*/ 2147483647 w 1622"/>
                <a:gd name="T113" fmla="*/ 2147483647 h 1117"/>
                <a:gd name="T114" fmla="*/ 2147483647 w 1622"/>
                <a:gd name="T115" fmla="*/ 2147483647 h 1117"/>
                <a:gd name="T116" fmla="*/ 2147483647 w 1622"/>
                <a:gd name="T117" fmla="*/ 2147483647 h 1117"/>
                <a:gd name="T118" fmla="*/ 2147483647 w 1622"/>
                <a:gd name="T119" fmla="*/ 2147483647 h 1117"/>
                <a:gd name="T120" fmla="*/ 2147483647 w 1622"/>
                <a:gd name="T121" fmla="*/ 2147483647 h 1117"/>
                <a:gd name="T122" fmla="*/ 2147483647 w 1622"/>
                <a:gd name="T123" fmla="*/ 2147483647 h 111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22" h="1117">
                  <a:moveTo>
                    <a:pt x="931" y="943"/>
                  </a:moveTo>
                  <a:lnTo>
                    <a:pt x="973" y="955"/>
                  </a:lnTo>
                  <a:lnTo>
                    <a:pt x="1075" y="1003"/>
                  </a:lnTo>
                  <a:lnTo>
                    <a:pt x="1111" y="1081"/>
                  </a:lnTo>
                  <a:lnTo>
                    <a:pt x="1111" y="1117"/>
                  </a:lnTo>
                  <a:lnTo>
                    <a:pt x="1190" y="1093"/>
                  </a:lnTo>
                  <a:lnTo>
                    <a:pt x="1232" y="1057"/>
                  </a:lnTo>
                  <a:lnTo>
                    <a:pt x="1262" y="1051"/>
                  </a:lnTo>
                  <a:lnTo>
                    <a:pt x="1322" y="1039"/>
                  </a:lnTo>
                  <a:lnTo>
                    <a:pt x="1370" y="979"/>
                  </a:lnTo>
                  <a:lnTo>
                    <a:pt x="1394" y="985"/>
                  </a:lnTo>
                  <a:lnTo>
                    <a:pt x="1406" y="1045"/>
                  </a:lnTo>
                  <a:lnTo>
                    <a:pt x="1430" y="1027"/>
                  </a:lnTo>
                  <a:lnTo>
                    <a:pt x="1448" y="1033"/>
                  </a:lnTo>
                  <a:lnTo>
                    <a:pt x="1436" y="1051"/>
                  </a:lnTo>
                  <a:lnTo>
                    <a:pt x="1448" y="1075"/>
                  </a:lnTo>
                  <a:lnTo>
                    <a:pt x="1502" y="1033"/>
                  </a:lnTo>
                  <a:lnTo>
                    <a:pt x="1520" y="1009"/>
                  </a:lnTo>
                  <a:lnTo>
                    <a:pt x="1466" y="1003"/>
                  </a:lnTo>
                  <a:lnTo>
                    <a:pt x="1442" y="967"/>
                  </a:lnTo>
                  <a:lnTo>
                    <a:pt x="1460" y="949"/>
                  </a:lnTo>
                  <a:lnTo>
                    <a:pt x="1466" y="925"/>
                  </a:lnTo>
                  <a:lnTo>
                    <a:pt x="1382" y="943"/>
                  </a:lnTo>
                  <a:lnTo>
                    <a:pt x="1340" y="979"/>
                  </a:lnTo>
                  <a:lnTo>
                    <a:pt x="1358" y="937"/>
                  </a:lnTo>
                  <a:lnTo>
                    <a:pt x="1400" y="913"/>
                  </a:lnTo>
                  <a:lnTo>
                    <a:pt x="1424" y="889"/>
                  </a:lnTo>
                  <a:lnTo>
                    <a:pt x="1496" y="895"/>
                  </a:lnTo>
                  <a:lnTo>
                    <a:pt x="1550" y="889"/>
                  </a:lnTo>
                  <a:lnTo>
                    <a:pt x="1592" y="859"/>
                  </a:lnTo>
                  <a:lnTo>
                    <a:pt x="1622" y="835"/>
                  </a:lnTo>
                  <a:lnTo>
                    <a:pt x="1598" y="775"/>
                  </a:lnTo>
                  <a:lnTo>
                    <a:pt x="1592" y="745"/>
                  </a:lnTo>
                  <a:lnTo>
                    <a:pt x="1514" y="703"/>
                  </a:lnTo>
                  <a:lnTo>
                    <a:pt x="1514" y="679"/>
                  </a:lnTo>
                  <a:lnTo>
                    <a:pt x="1448" y="553"/>
                  </a:lnTo>
                  <a:lnTo>
                    <a:pt x="1430" y="607"/>
                  </a:lnTo>
                  <a:lnTo>
                    <a:pt x="1388" y="619"/>
                  </a:lnTo>
                  <a:lnTo>
                    <a:pt x="1376" y="607"/>
                  </a:lnTo>
                  <a:lnTo>
                    <a:pt x="1358" y="607"/>
                  </a:lnTo>
                  <a:lnTo>
                    <a:pt x="1358" y="522"/>
                  </a:lnTo>
                  <a:lnTo>
                    <a:pt x="1322" y="516"/>
                  </a:lnTo>
                  <a:lnTo>
                    <a:pt x="1292" y="474"/>
                  </a:lnTo>
                  <a:lnTo>
                    <a:pt x="1262" y="480"/>
                  </a:lnTo>
                  <a:lnTo>
                    <a:pt x="1226" y="468"/>
                  </a:lnTo>
                  <a:lnTo>
                    <a:pt x="1202" y="474"/>
                  </a:lnTo>
                  <a:lnTo>
                    <a:pt x="1202" y="504"/>
                  </a:lnTo>
                  <a:lnTo>
                    <a:pt x="1202" y="535"/>
                  </a:lnTo>
                  <a:lnTo>
                    <a:pt x="1196" y="601"/>
                  </a:lnTo>
                  <a:lnTo>
                    <a:pt x="1190" y="625"/>
                  </a:lnTo>
                  <a:lnTo>
                    <a:pt x="1226" y="697"/>
                  </a:lnTo>
                  <a:lnTo>
                    <a:pt x="1166" y="751"/>
                  </a:lnTo>
                  <a:lnTo>
                    <a:pt x="1178" y="841"/>
                  </a:lnTo>
                  <a:lnTo>
                    <a:pt x="1154" y="859"/>
                  </a:lnTo>
                  <a:lnTo>
                    <a:pt x="1130" y="847"/>
                  </a:lnTo>
                  <a:lnTo>
                    <a:pt x="1117" y="739"/>
                  </a:lnTo>
                  <a:lnTo>
                    <a:pt x="1057" y="733"/>
                  </a:lnTo>
                  <a:lnTo>
                    <a:pt x="943" y="667"/>
                  </a:lnTo>
                  <a:lnTo>
                    <a:pt x="919" y="667"/>
                  </a:lnTo>
                  <a:lnTo>
                    <a:pt x="901" y="613"/>
                  </a:lnTo>
                  <a:lnTo>
                    <a:pt x="883" y="595"/>
                  </a:lnTo>
                  <a:lnTo>
                    <a:pt x="931" y="450"/>
                  </a:lnTo>
                  <a:lnTo>
                    <a:pt x="961" y="420"/>
                  </a:lnTo>
                  <a:lnTo>
                    <a:pt x="991" y="402"/>
                  </a:lnTo>
                  <a:lnTo>
                    <a:pt x="1009" y="402"/>
                  </a:lnTo>
                  <a:lnTo>
                    <a:pt x="1027" y="342"/>
                  </a:lnTo>
                  <a:lnTo>
                    <a:pt x="1039" y="294"/>
                  </a:lnTo>
                  <a:lnTo>
                    <a:pt x="1099" y="282"/>
                  </a:lnTo>
                  <a:lnTo>
                    <a:pt x="1130" y="258"/>
                  </a:lnTo>
                  <a:lnTo>
                    <a:pt x="1111" y="204"/>
                  </a:lnTo>
                  <a:lnTo>
                    <a:pt x="1124" y="168"/>
                  </a:lnTo>
                  <a:lnTo>
                    <a:pt x="1099" y="138"/>
                  </a:lnTo>
                  <a:lnTo>
                    <a:pt x="1063" y="132"/>
                  </a:lnTo>
                  <a:lnTo>
                    <a:pt x="1051" y="192"/>
                  </a:lnTo>
                  <a:lnTo>
                    <a:pt x="1015" y="246"/>
                  </a:lnTo>
                  <a:lnTo>
                    <a:pt x="1003" y="180"/>
                  </a:lnTo>
                  <a:lnTo>
                    <a:pt x="985" y="156"/>
                  </a:lnTo>
                  <a:lnTo>
                    <a:pt x="961" y="186"/>
                  </a:lnTo>
                  <a:lnTo>
                    <a:pt x="949" y="156"/>
                  </a:lnTo>
                  <a:lnTo>
                    <a:pt x="925" y="114"/>
                  </a:lnTo>
                  <a:lnTo>
                    <a:pt x="913" y="60"/>
                  </a:lnTo>
                  <a:lnTo>
                    <a:pt x="877" y="0"/>
                  </a:lnTo>
                  <a:lnTo>
                    <a:pt x="847" y="84"/>
                  </a:lnTo>
                  <a:lnTo>
                    <a:pt x="847" y="114"/>
                  </a:lnTo>
                  <a:lnTo>
                    <a:pt x="889" y="150"/>
                  </a:lnTo>
                  <a:lnTo>
                    <a:pt x="895" y="186"/>
                  </a:lnTo>
                  <a:lnTo>
                    <a:pt x="865" y="216"/>
                  </a:lnTo>
                  <a:lnTo>
                    <a:pt x="847" y="204"/>
                  </a:lnTo>
                  <a:lnTo>
                    <a:pt x="823" y="204"/>
                  </a:lnTo>
                  <a:lnTo>
                    <a:pt x="811" y="234"/>
                  </a:lnTo>
                  <a:lnTo>
                    <a:pt x="769" y="222"/>
                  </a:lnTo>
                  <a:lnTo>
                    <a:pt x="709" y="222"/>
                  </a:lnTo>
                  <a:lnTo>
                    <a:pt x="673" y="198"/>
                  </a:lnTo>
                  <a:lnTo>
                    <a:pt x="619" y="210"/>
                  </a:lnTo>
                  <a:lnTo>
                    <a:pt x="625" y="228"/>
                  </a:lnTo>
                  <a:lnTo>
                    <a:pt x="631" y="264"/>
                  </a:lnTo>
                  <a:lnTo>
                    <a:pt x="613" y="258"/>
                  </a:lnTo>
                  <a:lnTo>
                    <a:pt x="583" y="222"/>
                  </a:lnTo>
                  <a:lnTo>
                    <a:pt x="517" y="234"/>
                  </a:lnTo>
                  <a:lnTo>
                    <a:pt x="487" y="210"/>
                  </a:lnTo>
                  <a:lnTo>
                    <a:pt x="499" y="186"/>
                  </a:lnTo>
                  <a:lnTo>
                    <a:pt x="457" y="174"/>
                  </a:lnTo>
                  <a:lnTo>
                    <a:pt x="409" y="150"/>
                  </a:lnTo>
                  <a:lnTo>
                    <a:pt x="343" y="132"/>
                  </a:lnTo>
                  <a:lnTo>
                    <a:pt x="301" y="144"/>
                  </a:lnTo>
                  <a:lnTo>
                    <a:pt x="259" y="96"/>
                  </a:lnTo>
                  <a:lnTo>
                    <a:pt x="145" y="150"/>
                  </a:lnTo>
                  <a:lnTo>
                    <a:pt x="115" y="180"/>
                  </a:lnTo>
                  <a:lnTo>
                    <a:pt x="67" y="168"/>
                  </a:lnTo>
                  <a:lnTo>
                    <a:pt x="37" y="138"/>
                  </a:lnTo>
                  <a:lnTo>
                    <a:pt x="0" y="126"/>
                  </a:lnTo>
                  <a:lnTo>
                    <a:pt x="0" y="553"/>
                  </a:lnTo>
                  <a:lnTo>
                    <a:pt x="61" y="583"/>
                  </a:lnTo>
                  <a:lnTo>
                    <a:pt x="109" y="559"/>
                  </a:lnTo>
                  <a:lnTo>
                    <a:pt x="175" y="679"/>
                  </a:lnTo>
                  <a:lnTo>
                    <a:pt x="217" y="709"/>
                  </a:lnTo>
                  <a:lnTo>
                    <a:pt x="211" y="757"/>
                  </a:lnTo>
                  <a:lnTo>
                    <a:pt x="229" y="793"/>
                  </a:lnTo>
                  <a:lnTo>
                    <a:pt x="277" y="859"/>
                  </a:lnTo>
                  <a:lnTo>
                    <a:pt x="343" y="901"/>
                  </a:lnTo>
                  <a:lnTo>
                    <a:pt x="349" y="931"/>
                  </a:lnTo>
                  <a:lnTo>
                    <a:pt x="871" y="931"/>
                  </a:lnTo>
                  <a:lnTo>
                    <a:pt x="931" y="943"/>
                  </a:lnTo>
                  <a:close/>
                </a:path>
              </a:pathLst>
            </a:custGeom>
            <a:grpFill/>
            <a:ln w="9525">
              <a:solidFill>
                <a:schemeClr val="bg2">
                  <a:lumMod val="50000"/>
                </a:schemeClr>
              </a:solidFill>
              <a:round/>
              <a:headEnd/>
              <a:tailEnd/>
            </a:ln>
          </p:spPr>
          <p:txBody>
            <a:bodyPr/>
            <a:lstStyle/>
            <a:p>
              <a:endParaRPr lang="en-US" dirty="0"/>
            </a:p>
          </p:txBody>
        </p:sp>
        <p:sp>
          <p:nvSpPr>
            <p:cNvPr id="131" name="Freeform 399"/>
            <p:cNvSpPr>
              <a:spLocks/>
            </p:cNvSpPr>
            <p:nvPr/>
          </p:nvSpPr>
          <p:spPr bwMode="gray">
            <a:xfrm>
              <a:off x="2236228" y="3025236"/>
              <a:ext cx="1209019" cy="598289"/>
            </a:xfrm>
            <a:custGeom>
              <a:avLst/>
              <a:gdLst>
                <a:gd name="T0" fmla="*/ 2147483647 w 1099"/>
                <a:gd name="T1" fmla="*/ 2147483647 h 571"/>
                <a:gd name="T2" fmla="*/ 2147483647 w 1099"/>
                <a:gd name="T3" fmla="*/ 2147483647 h 571"/>
                <a:gd name="T4" fmla="*/ 2147483647 w 1099"/>
                <a:gd name="T5" fmla="*/ 2147483647 h 571"/>
                <a:gd name="T6" fmla="*/ 2147483647 w 1099"/>
                <a:gd name="T7" fmla="*/ 2147483647 h 571"/>
                <a:gd name="T8" fmla="*/ 2147483647 w 1099"/>
                <a:gd name="T9" fmla="*/ 2147483647 h 571"/>
                <a:gd name="T10" fmla="*/ 2147483647 w 1099"/>
                <a:gd name="T11" fmla="*/ 2147483647 h 571"/>
                <a:gd name="T12" fmla="*/ 2147483647 w 1099"/>
                <a:gd name="T13" fmla="*/ 2147483647 h 571"/>
                <a:gd name="T14" fmla="*/ 2147483647 w 1099"/>
                <a:gd name="T15" fmla="*/ 2147483647 h 571"/>
                <a:gd name="T16" fmla="*/ 2147483647 w 1099"/>
                <a:gd name="T17" fmla="*/ 2147483647 h 571"/>
                <a:gd name="T18" fmla="*/ 2147483647 w 1099"/>
                <a:gd name="T19" fmla="*/ 2147483647 h 571"/>
                <a:gd name="T20" fmla="*/ 2147483647 w 1099"/>
                <a:gd name="T21" fmla="*/ 2147483647 h 571"/>
                <a:gd name="T22" fmla="*/ 2147483647 w 1099"/>
                <a:gd name="T23" fmla="*/ 2147483647 h 571"/>
                <a:gd name="T24" fmla="*/ 2147483647 w 1099"/>
                <a:gd name="T25" fmla="*/ 2147483647 h 571"/>
                <a:gd name="T26" fmla="*/ 2147483647 w 1099"/>
                <a:gd name="T27" fmla="*/ 2147483647 h 571"/>
                <a:gd name="T28" fmla="*/ 2147483647 w 1099"/>
                <a:gd name="T29" fmla="*/ 2147483647 h 571"/>
                <a:gd name="T30" fmla="*/ 2147483647 w 1099"/>
                <a:gd name="T31" fmla="*/ 2147483647 h 571"/>
                <a:gd name="T32" fmla="*/ 2147483647 w 1099"/>
                <a:gd name="T33" fmla="*/ 2147483647 h 571"/>
                <a:gd name="T34" fmla="*/ 2147483647 w 1099"/>
                <a:gd name="T35" fmla="*/ 2147483647 h 571"/>
                <a:gd name="T36" fmla="*/ 2147483647 w 1099"/>
                <a:gd name="T37" fmla="*/ 2147483647 h 571"/>
                <a:gd name="T38" fmla="*/ 2147483647 w 1099"/>
                <a:gd name="T39" fmla="*/ 2147483647 h 571"/>
                <a:gd name="T40" fmla="*/ 2147483647 w 1099"/>
                <a:gd name="T41" fmla="*/ 2147483647 h 571"/>
                <a:gd name="T42" fmla="*/ 2147483647 w 1099"/>
                <a:gd name="T43" fmla="*/ 2147483647 h 571"/>
                <a:gd name="T44" fmla="*/ 2147483647 w 1099"/>
                <a:gd name="T45" fmla="*/ 2147483647 h 571"/>
                <a:gd name="T46" fmla="*/ 2147483647 w 1099"/>
                <a:gd name="T47" fmla="*/ 2147483647 h 571"/>
                <a:gd name="T48" fmla="*/ 2147483647 w 1099"/>
                <a:gd name="T49" fmla="*/ 2147483647 h 571"/>
                <a:gd name="T50" fmla="*/ 2147483647 w 1099"/>
                <a:gd name="T51" fmla="*/ 0 h 571"/>
                <a:gd name="T52" fmla="*/ 2147483647 w 1099"/>
                <a:gd name="T53" fmla="*/ 2147483647 h 571"/>
                <a:gd name="T54" fmla="*/ 2147483647 w 1099"/>
                <a:gd name="T55" fmla="*/ 2147483647 h 571"/>
                <a:gd name="T56" fmla="*/ 2147483647 w 1099"/>
                <a:gd name="T57" fmla="*/ 2147483647 h 571"/>
                <a:gd name="T58" fmla="*/ 0 w 1099"/>
                <a:gd name="T59" fmla="*/ 2147483647 h 571"/>
                <a:gd name="T60" fmla="*/ 2147483647 w 1099"/>
                <a:gd name="T61" fmla="*/ 2147483647 h 571"/>
                <a:gd name="T62" fmla="*/ 2147483647 w 1099"/>
                <a:gd name="T63" fmla="*/ 2147483647 h 571"/>
                <a:gd name="T64" fmla="*/ 2147483647 w 1099"/>
                <a:gd name="T65" fmla="*/ 2147483647 h 571"/>
                <a:gd name="T66" fmla="*/ 2147483647 w 1099"/>
                <a:gd name="T67" fmla="*/ 2147483647 h 57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99" h="571">
                  <a:moveTo>
                    <a:pt x="252" y="439"/>
                  </a:moveTo>
                  <a:lnTo>
                    <a:pt x="300" y="439"/>
                  </a:lnTo>
                  <a:lnTo>
                    <a:pt x="318" y="427"/>
                  </a:lnTo>
                  <a:lnTo>
                    <a:pt x="348" y="433"/>
                  </a:lnTo>
                  <a:lnTo>
                    <a:pt x="396" y="487"/>
                  </a:lnTo>
                  <a:lnTo>
                    <a:pt x="432" y="475"/>
                  </a:lnTo>
                  <a:lnTo>
                    <a:pt x="456" y="493"/>
                  </a:lnTo>
                  <a:lnTo>
                    <a:pt x="474" y="523"/>
                  </a:lnTo>
                  <a:lnTo>
                    <a:pt x="498" y="547"/>
                  </a:lnTo>
                  <a:lnTo>
                    <a:pt x="528" y="553"/>
                  </a:lnTo>
                  <a:lnTo>
                    <a:pt x="528" y="511"/>
                  </a:lnTo>
                  <a:lnTo>
                    <a:pt x="552" y="487"/>
                  </a:lnTo>
                  <a:lnTo>
                    <a:pt x="570" y="469"/>
                  </a:lnTo>
                  <a:lnTo>
                    <a:pt x="630" y="475"/>
                  </a:lnTo>
                  <a:lnTo>
                    <a:pt x="666" y="475"/>
                  </a:lnTo>
                  <a:lnTo>
                    <a:pt x="714" y="463"/>
                  </a:lnTo>
                  <a:lnTo>
                    <a:pt x="744" y="463"/>
                  </a:lnTo>
                  <a:lnTo>
                    <a:pt x="774" y="457"/>
                  </a:lnTo>
                  <a:lnTo>
                    <a:pt x="780" y="487"/>
                  </a:lnTo>
                  <a:lnTo>
                    <a:pt x="792" y="529"/>
                  </a:lnTo>
                  <a:lnTo>
                    <a:pt x="829" y="565"/>
                  </a:lnTo>
                  <a:lnTo>
                    <a:pt x="847" y="571"/>
                  </a:lnTo>
                  <a:lnTo>
                    <a:pt x="841" y="511"/>
                  </a:lnTo>
                  <a:lnTo>
                    <a:pt x="817" y="445"/>
                  </a:lnTo>
                  <a:lnTo>
                    <a:pt x="847" y="409"/>
                  </a:lnTo>
                  <a:lnTo>
                    <a:pt x="877" y="397"/>
                  </a:lnTo>
                  <a:lnTo>
                    <a:pt x="931" y="343"/>
                  </a:lnTo>
                  <a:lnTo>
                    <a:pt x="925" y="307"/>
                  </a:lnTo>
                  <a:lnTo>
                    <a:pt x="919" y="271"/>
                  </a:lnTo>
                  <a:lnTo>
                    <a:pt x="937" y="283"/>
                  </a:lnTo>
                  <a:lnTo>
                    <a:pt x="943" y="277"/>
                  </a:lnTo>
                  <a:lnTo>
                    <a:pt x="937" y="253"/>
                  </a:lnTo>
                  <a:lnTo>
                    <a:pt x="949" y="253"/>
                  </a:lnTo>
                  <a:lnTo>
                    <a:pt x="967" y="247"/>
                  </a:lnTo>
                  <a:lnTo>
                    <a:pt x="979" y="217"/>
                  </a:lnTo>
                  <a:lnTo>
                    <a:pt x="1003" y="211"/>
                  </a:lnTo>
                  <a:lnTo>
                    <a:pt x="1039" y="193"/>
                  </a:lnTo>
                  <a:lnTo>
                    <a:pt x="1039" y="144"/>
                  </a:lnTo>
                  <a:lnTo>
                    <a:pt x="1099" y="114"/>
                  </a:lnTo>
                  <a:lnTo>
                    <a:pt x="1087" y="54"/>
                  </a:lnTo>
                  <a:lnTo>
                    <a:pt x="1063" y="48"/>
                  </a:lnTo>
                  <a:lnTo>
                    <a:pt x="1015" y="108"/>
                  </a:lnTo>
                  <a:lnTo>
                    <a:pt x="955" y="120"/>
                  </a:lnTo>
                  <a:lnTo>
                    <a:pt x="925" y="126"/>
                  </a:lnTo>
                  <a:lnTo>
                    <a:pt x="883" y="162"/>
                  </a:lnTo>
                  <a:lnTo>
                    <a:pt x="804" y="186"/>
                  </a:lnTo>
                  <a:lnTo>
                    <a:pt x="804" y="150"/>
                  </a:lnTo>
                  <a:lnTo>
                    <a:pt x="768" y="72"/>
                  </a:lnTo>
                  <a:lnTo>
                    <a:pt x="666" y="24"/>
                  </a:lnTo>
                  <a:lnTo>
                    <a:pt x="624" y="12"/>
                  </a:lnTo>
                  <a:lnTo>
                    <a:pt x="564" y="0"/>
                  </a:lnTo>
                  <a:lnTo>
                    <a:pt x="42" y="0"/>
                  </a:lnTo>
                  <a:lnTo>
                    <a:pt x="48" y="36"/>
                  </a:lnTo>
                  <a:lnTo>
                    <a:pt x="30" y="48"/>
                  </a:lnTo>
                  <a:lnTo>
                    <a:pt x="36" y="24"/>
                  </a:lnTo>
                  <a:lnTo>
                    <a:pt x="0" y="12"/>
                  </a:lnTo>
                  <a:lnTo>
                    <a:pt x="18" y="78"/>
                  </a:lnTo>
                  <a:lnTo>
                    <a:pt x="12" y="126"/>
                  </a:lnTo>
                  <a:lnTo>
                    <a:pt x="0" y="174"/>
                  </a:lnTo>
                  <a:lnTo>
                    <a:pt x="12" y="211"/>
                  </a:lnTo>
                  <a:lnTo>
                    <a:pt x="12" y="235"/>
                  </a:lnTo>
                  <a:lnTo>
                    <a:pt x="42" y="295"/>
                  </a:lnTo>
                  <a:lnTo>
                    <a:pt x="66" y="337"/>
                  </a:lnTo>
                  <a:lnTo>
                    <a:pt x="84" y="367"/>
                  </a:lnTo>
                  <a:lnTo>
                    <a:pt x="138" y="403"/>
                  </a:lnTo>
                  <a:lnTo>
                    <a:pt x="144" y="415"/>
                  </a:lnTo>
                  <a:lnTo>
                    <a:pt x="192" y="409"/>
                  </a:lnTo>
                  <a:lnTo>
                    <a:pt x="252" y="439"/>
                  </a:lnTo>
                  <a:close/>
                </a:path>
              </a:pathLst>
            </a:custGeom>
            <a:grpFill/>
            <a:ln w="9525">
              <a:solidFill>
                <a:schemeClr val="bg2">
                  <a:lumMod val="50000"/>
                </a:schemeClr>
              </a:solidFill>
              <a:round/>
              <a:headEnd/>
              <a:tailEnd/>
            </a:ln>
          </p:spPr>
          <p:txBody>
            <a:bodyPr/>
            <a:lstStyle/>
            <a:p>
              <a:endParaRPr lang="en-US" dirty="0"/>
            </a:p>
          </p:txBody>
        </p:sp>
        <p:sp>
          <p:nvSpPr>
            <p:cNvPr id="132" name="Freeform 400"/>
            <p:cNvSpPr>
              <a:spLocks/>
            </p:cNvSpPr>
            <p:nvPr/>
          </p:nvSpPr>
          <p:spPr bwMode="gray">
            <a:xfrm>
              <a:off x="3007914" y="3837474"/>
              <a:ext cx="93618" cy="90960"/>
            </a:xfrm>
            <a:custGeom>
              <a:avLst/>
              <a:gdLst>
                <a:gd name="T0" fmla="*/ 2147483647 w 14"/>
                <a:gd name="T1" fmla="*/ 2147483647 h 14"/>
                <a:gd name="T2" fmla="*/ 2147483647 w 14"/>
                <a:gd name="T3" fmla="*/ 2147483647 h 14"/>
                <a:gd name="T4" fmla="*/ 2147483647 w 14"/>
                <a:gd name="T5" fmla="*/ 0 h 14"/>
                <a:gd name="T6" fmla="*/ 2147483647 w 14"/>
                <a:gd name="T7" fmla="*/ 2147483647 h 14"/>
                <a:gd name="T8" fmla="*/ 0 w 14"/>
                <a:gd name="T9" fmla="*/ 2147483647 h 14"/>
                <a:gd name="T10" fmla="*/ 2147483647 w 14"/>
                <a:gd name="T11" fmla="*/ 2147483647 h 14"/>
                <a:gd name="T12" fmla="*/ 2147483647 w 14"/>
                <a:gd name="T13" fmla="*/ 2147483647 h 14"/>
                <a:gd name="T14" fmla="*/ 2147483647 w 14"/>
                <a:gd name="T15" fmla="*/ 2147483647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14">
                  <a:moveTo>
                    <a:pt x="14" y="14"/>
                  </a:moveTo>
                  <a:cubicBezTo>
                    <a:pt x="14" y="12"/>
                    <a:pt x="13" y="11"/>
                    <a:pt x="13" y="11"/>
                  </a:cubicBezTo>
                  <a:cubicBezTo>
                    <a:pt x="14" y="0"/>
                    <a:pt x="14" y="0"/>
                    <a:pt x="14" y="0"/>
                  </a:cubicBezTo>
                  <a:cubicBezTo>
                    <a:pt x="7" y="3"/>
                    <a:pt x="7" y="3"/>
                    <a:pt x="7" y="3"/>
                  </a:cubicBezTo>
                  <a:cubicBezTo>
                    <a:pt x="0" y="6"/>
                    <a:pt x="0" y="6"/>
                    <a:pt x="0" y="6"/>
                  </a:cubicBezTo>
                  <a:cubicBezTo>
                    <a:pt x="5" y="14"/>
                    <a:pt x="5" y="14"/>
                    <a:pt x="5" y="14"/>
                  </a:cubicBezTo>
                  <a:cubicBezTo>
                    <a:pt x="9" y="13"/>
                    <a:pt x="9" y="13"/>
                    <a:pt x="9" y="13"/>
                  </a:cubicBezTo>
                  <a:lnTo>
                    <a:pt x="14" y="14"/>
                  </a:lnTo>
                  <a:close/>
                </a:path>
              </a:pathLst>
            </a:custGeom>
            <a:grpFill/>
            <a:ln w="9525">
              <a:solidFill>
                <a:schemeClr val="bg2">
                  <a:lumMod val="50000"/>
                </a:schemeClr>
              </a:solidFill>
              <a:round/>
              <a:headEnd/>
              <a:tailEnd/>
            </a:ln>
          </p:spPr>
          <p:txBody>
            <a:bodyPr/>
            <a:lstStyle/>
            <a:p>
              <a:endParaRPr lang="en-US" dirty="0"/>
            </a:p>
          </p:txBody>
        </p:sp>
        <p:sp>
          <p:nvSpPr>
            <p:cNvPr id="133" name="Freeform 401"/>
            <p:cNvSpPr>
              <a:spLocks/>
            </p:cNvSpPr>
            <p:nvPr/>
          </p:nvSpPr>
          <p:spPr bwMode="gray">
            <a:xfrm>
              <a:off x="3041349" y="3920749"/>
              <a:ext cx="80244" cy="56370"/>
            </a:xfrm>
            <a:custGeom>
              <a:avLst/>
              <a:gdLst>
                <a:gd name="T0" fmla="*/ 2147483647 w 12"/>
                <a:gd name="T1" fmla="*/ 2147483647 h 9"/>
                <a:gd name="T2" fmla="*/ 2147483647 w 12"/>
                <a:gd name="T3" fmla="*/ 0 h 9"/>
                <a:gd name="T4" fmla="*/ 0 w 12"/>
                <a:gd name="T5" fmla="*/ 2147483647 h 9"/>
                <a:gd name="T6" fmla="*/ 2147483647 w 12"/>
                <a:gd name="T7" fmla="*/ 2147483647 h 9"/>
                <a:gd name="T8" fmla="*/ 2147483647 w 12"/>
                <a:gd name="T9" fmla="*/ 2147483647 h 9"/>
                <a:gd name="T10" fmla="*/ 2147483647 w 12"/>
                <a:gd name="T11" fmla="*/ 2147483647 h 9"/>
                <a:gd name="T12" fmla="*/ 2147483647 w 12"/>
                <a:gd name="T13" fmla="*/ 2147483647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9">
                  <a:moveTo>
                    <a:pt x="9" y="1"/>
                  </a:moveTo>
                  <a:cubicBezTo>
                    <a:pt x="4" y="0"/>
                    <a:pt x="4" y="0"/>
                    <a:pt x="4" y="0"/>
                  </a:cubicBezTo>
                  <a:cubicBezTo>
                    <a:pt x="0" y="1"/>
                    <a:pt x="0" y="1"/>
                    <a:pt x="0" y="1"/>
                  </a:cubicBezTo>
                  <a:cubicBezTo>
                    <a:pt x="2" y="3"/>
                    <a:pt x="2" y="3"/>
                    <a:pt x="2" y="3"/>
                  </a:cubicBezTo>
                  <a:cubicBezTo>
                    <a:pt x="11" y="9"/>
                    <a:pt x="11" y="9"/>
                    <a:pt x="11" y="9"/>
                  </a:cubicBezTo>
                  <a:cubicBezTo>
                    <a:pt x="12" y="5"/>
                    <a:pt x="12" y="5"/>
                    <a:pt x="12" y="5"/>
                  </a:cubicBezTo>
                  <a:cubicBezTo>
                    <a:pt x="11" y="4"/>
                    <a:pt x="10" y="2"/>
                    <a:pt x="9" y="1"/>
                  </a:cubicBezTo>
                  <a:close/>
                </a:path>
              </a:pathLst>
            </a:custGeom>
            <a:grpFill/>
            <a:ln w="9525">
              <a:solidFill>
                <a:schemeClr val="bg2">
                  <a:lumMod val="50000"/>
                </a:schemeClr>
              </a:solidFill>
              <a:round/>
              <a:headEnd/>
              <a:tailEnd/>
            </a:ln>
          </p:spPr>
          <p:txBody>
            <a:bodyPr/>
            <a:lstStyle/>
            <a:p>
              <a:endParaRPr lang="en-US" dirty="0"/>
            </a:p>
          </p:txBody>
        </p:sp>
        <p:sp>
          <p:nvSpPr>
            <p:cNvPr id="134" name="Freeform 402"/>
            <p:cNvSpPr>
              <a:spLocks/>
            </p:cNvSpPr>
            <p:nvPr/>
          </p:nvSpPr>
          <p:spPr bwMode="gray">
            <a:xfrm>
              <a:off x="3114906" y="3952776"/>
              <a:ext cx="119030" cy="48683"/>
            </a:xfrm>
            <a:custGeom>
              <a:avLst/>
              <a:gdLst>
                <a:gd name="T0" fmla="*/ 2147483647 w 18"/>
                <a:gd name="T1" fmla="*/ 2147483647 h 8"/>
                <a:gd name="T2" fmla="*/ 2147483647 w 18"/>
                <a:gd name="T3" fmla="*/ 2147483647 h 8"/>
                <a:gd name="T4" fmla="*/ 2147483647 w 18"/>
                <a:gd name="T5" fmla="*/ 2147483647 h 8"/>
                <a:gd name="T6" fmla="*/ 2147483647 w 18"/>
                <a:gd name="T7" fmla="*/ 0 h 8"/>
                <a:gd name="T8" fmla="*/ 0 w 18"/>
                <a:gd name="T9" fmla="*/ 2147483647 h 8"/>
                <a:gd name="T10" fmla="*/ 2147483647 w 18"/>
                <a:gd name="T11" fmla="*/ 2147483647 h 8"/>
                <a:gd name="T12" fmla="*/ 2147483647 w 18"/>
                <a:gd name="T13" fmla="*/ 2147483647 h 8"/>
                <a:gd name="T14" fmla="*/ 2147483647 w 18"/>
                <a:gd name="T15" fmla="*/ 2147483647 h 8"/>
                <a:gd name="T16" fmla="*/ 2147483647 w 18"/>
                <a:gd name="T17" fmla="*/ 2147483647 h 8"/>
                <a:gd name="T18" fmla="*/ 2147483647 w 18"/>
                <a:gd name="T19" fmla="*/ 2147483647 h 8"/>
                <a:gd name="T20" fmla="*/ 2147483647 w 18"/>
                <a:gd name="T21" fmla="*/ 2147483647 h 8"/>
                <a:gd name="T22" fmla="*/ 2147483647 w 18"/>
                <a:gd name="T23" fmla="*/ 2147483647 h 8"/>
                <a:gd name="T24" fmla="*/ 2147483647 w 18"/>
                <a:gd name="T25" fmla="*/ 2147483647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8">
                  <a:moveTo>
                    <a:pt x="14" y="1"/>
                  </a:moveTo>
                  <a:cubicBezTo>
                    <a:pt x="9" y="1"/>
                    <a:pt x="9" y="1"/>
                    <a:pt x="9" y="1"/>
                  </a:cubicBezTo>
                  <a:cubicBezTo>
                    <a:pt x="9" y="1"/>
                    <a:pt x="3" y="2"/>
                    <a:pt x="2" y="1"/>
                  </a:cubicBezTo>
                  <a:cubicBezTo>
                    <a:pt x="1" y="1"/>
                    <a:pt x="1" y="1"/>
                    <a:pt x="1" y="0"/>
                  </a:cubicBezTo>
                  <a:cubicBezTo>
                    <a:pt x="0" y="4"/>
                    <a:pt x="0" y="4"/>
                    <a:pt x="0" y="4"/>
                  </a:cubicBezTo>
                  <a:cubicBezTo>
                    <a:pt x="0" y="4"/>
                    <a:pt x="3" y="7"/>
                    <a:pt x="4" y="8"/>
                  </a:cubicBezTo>
                  <a:cubicBezTo>
                    <a:pt x="5" y="8"/>
                    <a:pt x="6" y="8"/>
                    <a:pt x="6" y="8"/>
                  </a:cubicBezTo>
                  <a:cubicBezTo>
                    <a:pt x="7" y="6"/>
                    <a:pt x="7" y="6"/>
                    <a:pt x="7" y="6"/>
                  </a:cubicBezTo>
                  <a:cubicBezTo>
                    <a:pt x="10" y="3"/>
                    <a:pt x="10" y="3"/>
                    <a:pt x="10" y="3"/>
                  </a:cubicBezTo>
                  <a:cubicBezTo>
                    <a:pt x="14" y="4"/>
                    <a:pt x="14" y="4"/>
                    <a:pt x="14" y="4"/>
                  </a:cubicBezTo>
                  <a:cubicBezTo>
                    <a:pt x="15" y="7"/>
                    <a:pt x="15" y="7"/>
                    <a:pt x="15" y="7"/>
                  </a:cubicBezTo>
                  <a:cubicBezTo>
                    <a:pt x="18" y="4"/>
                    <a:pt x="18" y="4"/>
                    <a:pt x="18" y="4"/>
                  </a:cubicBezTo>
                  <a:lnTo>
                    <a:pt x="14" y="1"/>
                  </a:lnTo>
                  <a:close/>
                </a:path>
              </a:pathLst>
            </a:custGeom>
            <a:grpFill/>
            <a:ln w="9525">
              <a:solidFill>
                <a:schemeClr val="bg2">
                  <a:lumMod val="50000"/>
                </a:schemeClr>
              </a:solidFill>
              <a:round/>
              <a:headEnd/>
              <a:tailEnd/>
            </a:ln>
          </p:spPr>
          <p:txBody>
            <a:bodyPr/>
            <a:lstStyle/>
            <a:p>
              <a:endParaRPr lang="en-US" dirty="0"/>
            </a:p>
          </p:txBody>
        </p:sp>
        <p:sp>
          <p:nvSpPr>
            <p:cNvPr id="135" name="Freeform 403"/>
            <p:cNvSpPr>
              <a:spLocks/>
            </p:cNvSpPr>
            <p:nvPr/>
          </p:nvSpPr>
          <p:spPr bwMode="gray">
            <a:xfrm>
              <a:off x="3193814" y="3896407"/>
              <a:ext cx="244746" cy="257508"/>
            </a:xfrm>
            <a:custGeom>
              <a:avLst/>
              <a:gdLst>
                <a:gd name="T0" fmla="*/ 2147483647 w 37"/>
                <a:gd name="T1" fmla="*/ 2147483647 h 41"/>
                <a:gd name="T2" fmla="*/ 2147483647 w 37"/>
                <a:gd name="T3" fmla="*/ 2147483647 h 41"/>
                <a:gd name="T4" fmla="*/ 2147483647 w 37"/>
                <a:gd name="T5" fmla="*/ 2147483647 h 41"/>
                <a:gd name="T6" fmla="*/ 2147483647 w 37"/>
                <a:gd name="T7" fmla="*/ 2147483647 h 41"/>
                <a:gd name="T8" fmla="*/ 2147483647 w 37"/>
                <a:gd name="T9" fmla="*/ 2147483647 h 41"/>
                <a:gd name="T10" fmla="*/ 2147483647 w 37"/>
                <a:gd name="T11" fmla="*/ 2147483647 h 41"/>
                <a:gd name="T12" fmla="*/ 2147483647 w 37"/>
                <a:gd name="T13" fmla="*/ 2147483647 h 41"/>
                <a:gd name="T14" fmla="*/ 2147483647 w 37"/>
                <a:gd name="T15" fmla="*/ 2147483647 h 41"/>
                <a:gd name="T16" fmla="*/ 2147483647 w 37"/>
                <a:gd name="T17" fmla="*/ 2147483647 h 41"/>
                <a:gd name="T18" fmla="*/ 2147483647 w 37"/>
                <a:gd name="T19" fmla="*/ 2147483647 h 41"/>
                <a:gd name="T20" fmla="*/ 2147483647 w 37"/>
                <a:gd name="T21" fmla="*/ 0 h 41"/>
                <a:gd name="T22" fmla="*/ 2147483647 w 37"/>
                <a:gd name="T23" fmla="*/ 2147483647 h 41"/>
                <a:gd name="T24" fmla="*/ 2147483647 w 37"/>
                <a:gd name="T25" fmla="*/ 2147483647 h 41"/>
                <a:gd name="T26" fmla="*/ 2147483647 w 37"/>
                <a:gd name="T27" fmla="*/ 2147483647 h 41"/>
                <a:gd name="T28" fmla="*/ 2147483647 w 37"/>
                <a:gd name="T29" fmla="*/ 2147483647 h 41"/>
                <a:gd name="T30" fmla="*/ 2147483647 w 37"/>
                <a:gd name="T31" fmla="*/ 2147483647 h 41"/>
                <a:gd name="T32" fmla="*/ 2147483647 w 37"/>
                <a:gd name="T33" fmla="*/ 2147483647 h 41"/>
                <a:gd name="T34" fmla="*/ 2147483647 w 37"/>
                <a:gd name="T35" fmla="*/ 2147483647 h 41"/>
                <a:gd name="T36" fmla="*/ 2147483647 w 37"/>
                <a:gd name="T37" fmla="*/ 2147483647 h 41"/>
                <a:gd name="T38" fmla="*/ 2147483647 w 37"/>
                <a:gd name="T39" fmla="*/ 2147483647 h 41"/>
                <a:gd name="T40" fmla="*/ 2147483647 w 37"/>
                <a:gd name="T41" fmla="*/ 2147483647 h 41"/>
                <a:gd name="T42" fmla="*/ 2147483647 w 37"/>
                <a:gd name="T43" fmla="*/ 2147483647 h 41"/>
                <a:gd name="T44" fmla="*/ 0 w 37"/>
                <a:gd name="T45" fmla="*/ 2147483647 h 41"/>
                <a:gd name="T46" fmla="*/ 2147483647 w 37"/>
                <a:gd name="T47" fmla="*/ 2147483647 h 41"/>
                <a:gd name="T48" fmla="*/ 2147483647 w 37"/>
                <a:gd name="T49" fmla="*/ 2147483647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7" h="41">
                  <a:moveTo>
                    <a:pt x="37" y="34"/>
                  </a:moveTo>
                  <a:cubicBezTo>
                    <a:pt x="37" y="34"/>
                    <a:pt x="37" y="34"/>
                    <a:pt x="37" y="34"/>
                  </a:cubicBezTo>
                  <a:cubicBezTo>
                    <a:pt x="37" y="27"/>
                    <a:pt x="37" y="27"/>
                    <a:pt x="37" y="27"/>
                  </a:cubicBezTo>
                  <a:cubicBezTo>
                    <a:pt x="35" y="23"/>
                    <a:pt x="35" y="23"/>
                    <a:pt x="35" y="23"/>
                  </a:cubicBezTo>
                  <a:cubicBezTo>
                    <a:pt x="36" y="21"/>
                    <a:pt x="36" y="21"/>
                    <a:pt x="36" y="21"/>
                  </a:cubicBezTo>
                  <a:cubicBezTo>
                    <a:pt x="31" y="20"/>
                    <a:pt x="31" y="20"/>
                    <a:pt x="31" y="20"/>
                  </a:cubicBezTo>
                  <a:cubicBezTo>
                    <a:pt x="21" y="16"/>
                    <a:pt x="21" y="16"/>
                    <a:pt x="21" y="16"/>
                  </a:cubicBezTo>
                  <a:cubicBezTo>
                    <a:pt x="19" y="11"/>
                    <a:pt x="19" y="11"/>
                    <a:pt x="19" y="11"/>
                  </a:cubicBezTo>
                  <a:cubicBezTo>
                    <a:pt x="20" y="3"/>
                    <a:pt x="20" y="3"/>
                    <a:pt x="20" y="3"/>
                  </a:cubicBezTo>
                  <a:cubicBezTo>
                    <a:pt x="24" y="1"/>
                    <a:pt x="24" y="1"/>
                    <a:pt x="24" y="1"/>
                  </a:cubicBezTo>
                  <a:cubicBezTo>
                    <a:pt x="24" y="0"/>
                    <a:pt x="24" y="0"/>
                    <a:pt x="24" y="0"/>
                  </a:cubicBezTo>
                  <a:cubicBezTo>
                    <a:pt x="17" y="2"/>
                    <a:pt x="17" y="2"/>
                    <a:pt x="17" y="2"/>
                  </a:cubicBezTo>
                  <a:cubicBezTo>
                    <a:pt x="13" y="4"/>
                    <a:pt x="13" y="4"/>
                    <a:pt x="13" y="4"/>
                  </a:cubicBezTo>
                  <a:cubicBezTo>
                    <a:pt x="11" y="9"/>
                    <a:pt x="11" y="9"/>
                    <a:pt x="11" y="9"/>
                  </a:cubicBezTo>
                  <a:cubicBezTo>
                    <a:pt x="9" y="10"/>
                    <a:pt x="9" y="10"/>
                    <a:pt x="9" y="10"/>
                  </a:cubicBezTo>
                  <a:cubicBezTo>
                    <a:pt x="6" y="13"/>
                    <a:pt x="6" y="13"/>
                    <a:pt x="6" y="13"/>
                  </a:cubicBezTo>
                  <a:cubicBezTo>
                    <a:pt x="3" y="16"/>
                    <a:pt x="3" y="16"/>
                    <a:pt x="3" y="16"/>
                  </a:cubicBezTo>
                  <a:cubicBezTo>
                    <a:pt x="4" y="18"/>
                    <a:pt x="4" y="18"/>
                    <a:pt x="4" y="18"/>
                  </a:cubicBezTo>
                  <a:cubicBezTo>
                    <a:pt x="5" y="23"/>
                    <a:pt x="5" y="23"/>
                    <a:pt x="5" y="23"/>
                  </a:cubicBezTo>
                  <a:cubicBezTo>
                    <a:pt x="5" y="26"/>
                    <a:pt x="5" y="26"/>
                    <a:pt x="5" y="26"/>
                  </a:cubicBezTo>
                  <a:cubicBezTo>
                    <a:pt x="6" y="30"/>
                    <a:pt x="6" y="30"/>
                    <a:pt x="6" y="30"/>
                  </a:cubicBezTo>
                  <a:cubicBezTo>
                    <a:pt x="2" y="33"/>
                    <a:pt x="2" y="33"/>
                    <a:pt x="2" y="33"/>
                  </a:cubicBezTo>
                  <a:cubicBezTo>
                    <a:pt x="0" y="35"/>
                    <a:pt x="0" y="35"/>
                    <a:pt x="0" y="35"/>
                  </a:cubicBezTo>
                  <a:cubicBezTo>
                    <a:pt x="8" y="38"/>
                    <a:pt x="8" y="38"/>
                    <a:pt x="8" y="38"/>
                  </a:cubicBezTo>
                  <a:cubicBezTo>
                    <a:pt x="12" y="41"/>
                    <a:pt x="12" y="41"/>
                    <a:pt x="12" y="41"/>
                  </a:cubicBezTo>
                </a:path>
              </a:pathLst>
            </a:custGeom>
            <a:grpFill/>
            <a:ln w="9525">
              <a:solidFill>
                <a:schemeClr val="bg2">
                  <a:lumMod val="50000"/>
                </a:schemeClr>
              </a:solidFill>
              <a:round/>
              <a:headEnd/>
              <a:tailEnd/>
            </a:ln>
          </p:spPr>
          <p:txBody>
            <a:bodyPr/>
            <a:lstStyle/>
            <a:p>
              <a:endParaRPr lang="en-US" dirty="0"/>
            </a:p>
          </p:txBody>
        </p:sp>
        <p:sp>
          <p:nvSpPr>
            <p:cNvPr id="136" name="Freeform 422"/>
            <p:cNvSpPr>
              <a:spLocks/>
            </p:cNvSpPr>
            <p:nvPr/>
          </p:nvSpPr>
          <p:spPr bwMode="gray">
            <a:xfrm>
              <a:off x="2974478" y="3819538"/>
              <a:ext cx="127054" cy="56370"/>
            </a:xfrm>
            <a:custGeom>
              <a:avLst/>
              <a:gdLst>
                <a:gd name="T0" fmla="*/ 2147483647 w 19"/>
                <a:gd name="T1" fmla="*/ 2147483647 h 9"/>
                <a:gd name="T2" fmla="*/ 2147483647 w 19"/>
                <a:gd name="T3" fmla="*/ 2147483647 h 9"/>
                <a:gd name="T4" fmla="*/ 2147483647 w 19"/>
                <a:gd name="T5" fmla="*/ 0 h 9"/>
                <a:gd name="T6" fmla="*/ 2147483647 w 19"/>
                <a:gd name="T7" fmla="*/ 2147483647 h 9"/>
                <a:gd name="T8" fmla="*/ 0 w 19"/>
                <a:gd name="T9" fmla="*/ 2147483647 h 9"/>
                <a:gd name="T10" fmla="*/ 0 w 19"/>
                <a:gd name="T11" fmla="*/ 2147483647 h 9"/>
                <a:gd name="T12" fmla="*/ 2147483647 w 19"/>
                <a:gd name="T13" fmla="*/ 2147483647 h 9"/>
                <a:gd name="T14" fmla="*/ 2147483647 w 19"/>
                <a:gd name="T15" fmla="*/ 2147483647 h 9"/>
                <a:gd name="T16" fmla="*/ 2147483647 w 19"/>
                <a:gd name="T17" fmla="*/ 2147483647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 h="9">
                  <a:moveTo>
                    <a:pt x="19" y="3"/>
                  </a:moveTo>
                  <a:cubicBezTo>
                    <a:pt x="19" y="3"/>
                    <a:pt x="10" y="1"/>
                    <a:pt x="8" y="1"/>
                  </a:cubicBezTo>
                  <a:cubicBezTo>
                    <a:pt x="7" y="1"/>
                    <a:pt x="6" y="0"/>
                    <a:pt x="5" y="0"/>
                  </a:cubicBezTo>
                  <a:cubicBezTo>
                    <a:pt x="1" y="3"/>
                    <a:pt x="1" y="3"/>
                    <a:pt x="1" y="3"/>
                  </a:cubicBezTo>
                  <a:cubicBezTo>
                    <a:pt x="0" y="6"/>
                    <a:pt x="0" y="6"/>
                    <a:pt x="0" y="6"/>
                  </a:cubicBezTo>
                  <a:cubicBezTo>
                    <a:pt x="0" y="6"/>
                    <a:pt x="0" y="6"/>
                    <a:pt x="0" y="6"/>
                  </a:cubicBezTo>
                  <a:cubicBezTo>
                    <a:pt x="5" y="9"/>
                    <a:pt x="5" y="9"/>
                    <a:pt x="5" y="9"/>
                  </a:cubicBezTo>
                  <a:cubicBezTo>
                    <a:pt x="12" y="6"/>
                    <a:pt x="12" y="6"/>
                    <a:pt x="12" y="6"/>
                  </a:cubicBezTo>
                  <a:lnTo>
                    <a:pt x="19" y="3"/>
                  </a:lnTo>
                  <a:close/>
                </a:path>
              </a:pathLst>
            </a:custGeom>
            <a:grpFill/>
            <a:ln w="9525">
              <a:solidFill>
                <a:schemeClr val="bg2">
                  <a:lumMod val="50000"/>
                </a:schemeClr>
              </a:solidFill>
              <a:round/>
              <a:headEnd/>
              <a:tailEnd/>
            </a:ln>
          </p:spPr>
          <p:txBody>
            <a:bodyPr/>
            <a:lstStyle/>
            <a:p>
              <a:endParaRPr lang="en-US" dirty="0"/>
            </a:p>
          </p:txBody>
        </p:sp>
        <p:sp>
          <p:nvSpPr>
            <p:cNvPr id="137" name="Freeform 423"/>
            <p:cNvSpPr>
              <a:spLocks/>
            </p:cNvSpPr>
            <p:nvPr/>
          </p:nvSpPr>
          <p:spPr bwMode="gray">
            <a:xfrm>
              <a:off x="2907608" y="3786228"/>
              <a:ext cx="100306" cy="79430"/>
            </a:xfrm>
            <a:custGeom>
              <a:avLst/>
              <a:gdLst>
                <a:gd name="T0" fmla="*/ 2147483647 w 15"/>
                <a:gd name="T1" fmla="*/ 2147483647 h 12"/>
                <a:gd name="T2" fmla="*/ 2147483647 w 15"/>
                <a:gd name="T3" fmla="*/ 2147483647 h 12"/>
                <a:gd name="T4" fmla="*/ 2147483647 w 15"/>
                <a:gd name="T5" fmla="*/ 0 h 12"/>
                <a:gd name="T6" fmla="*/ 2147483647 w 15"/>
                <a:gd name="T7" fmla="*/ 0 h 12"/>
                <a:gd name="T8" fmla="*/ 2147483647 w 15"/>
                <a:gd name="T9" fmla="*/ 2147483647 h 12"/>
                <a:gd name="T10" fmla="*/ 2147483647 w 15"/>
                <a:gd name="T11" fmla="*/ 2147483647 h 12"/>
                <a:gd name="T12" fmla="*/ 2147483647 w 15"/>
                <a:gd name="T13" fmla="*/ 2147483647 h 12"/>
                <a:gd name="T14" fmla="*/ 2147483647 w 15"/>
                <a:gd name="T15" fmla="*/ 2147483647 h 12"/>
                <a:gd name="T16" fmla="*/ 0 w 15"/>
                <a:gd name="T17" fmla="*/ 2147483647 h 12"/>
                <a:gd name="T18" fmla="*/ 2147483647 w 15"/>
                <a:gd name="T19" fmla="*/ 2147483647 h 12"/>
                <a:gd name="T20" fmla="*/ 2147483647 w 15"/>
                <a:gd name="T21" fmla="*/ 2147483647 h 12"/>
                <a:gd name="T22" fmla="*/ 2147483647 w 15"/>
                <a:gd name="T23" fmla="*/ 2147483647 h 12"/>
                <a:gd name="T24" fmla="*/ 2147483647 w 15"/>
                <a:gd name="T25" fmla="*/ 2147483647 h 12"/>
                <a:gd name="T26" fmla="*/ 2147483647 w 15"/>
                <a:gd name="T27" fmla="*/ 214748364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 h="12">
                  <a:moveTo>
                    <a:pt x="15" y="5"/>
                  </a:moveTo>
                  <a:cubicBezTo>
                    <a:pt x="13" y="5"/>
                    <a:pt x="11" y="4"/>
                    <a:pt x="11" y="4"/>
                  </a:cubicBezTo>
                  <a:cubicBezTo>
                    <a:pt x="11" y="0"/>
                    <a:pt x="11" y="0"/>
                    <a:pt x="11" y="0"/>
                  </a:cubicBezTo>
                  <a:cubicBezTo>
                    <a:pt x="6" y="0"/>
                    <a:pt x="6" y="0"/>
                    <a:pt x="6" y="0"/>
                  </a:cubicBezTo>
                  <a:cubicBezTo>
                    <a:pt x="4" y="1"/>
                    <a:pt x="4" y="1"/>
                    <a:pt x="4" y="1"/>
                  </a:cubicBezTo>
                  <a:cubicBezTo>
                    <a:pt x="6" y="5"/>
                    <a:pt x="6" y="5"/>
                    <a:pt x="6" y="5"/>
                  </a:cubicBezTo>
                  <a:cubicBezTo>
                    <a:pt x="3" y="5"/>
                    <a:pt x="3" y="5"/>
                    <a:pt x="3" y="5"/>
                  </a:cubicBezTo>
                  <a:cubicBezTo>
                    <a:pt x="1" y="8"/>
                    <a:pt x="1" y="8"/>
                    <a:pt x="1" y="8"/>
                  </a:cubicBezTo>
                  <a:cubicBezTo>
                    <a:pt x="0" y="10"/>
                    <a:pt x="0" y="10"/>
                    <a:pt x="0" y="10"/>
                  </a:cubicBezTo>
                  <a:cubicBezTo>
                    <a:pt x="1" y="11"/>
                    <a:pt x="1" y="11"/>
                    <a:pt x="1" y="11"/>
                  </a:cubicBezTo>
                  <a:cubicBezTo>
                    <a:pt x="7" y="12"/>
                    <a:pt x="7" y="12"/>
                    <a:pt x="7" y="12"/>
                  </a:cubicBezTo>
                  <a:cubicBezTo>
                    <a:pt x="10" y="11"/>
                    <a:pt x="10" y="11"/>
                    <a:pt x="10" y="11"/>
                  </a:cubicBezTo>
                  <a:cubicBezTo>
                    <a:pt x="11" y="8"/>
                    <a:pt x="11" y="8"/>
                    <a:pt x="11" y="8"/>
                  </a:cubicBezTo>
                  <a:lnTo>
                    <a:pt x="15" y="5"/>
                  </a:lnTo>
                  <a:close/>
                </a:path>
              </a:pathLst>
            </a:custGeom>
            <a:grpFill/>
            <a:ln w="9525">
              <a:solidFill>
                <a:schemeClr val="bg2">
                  <a:lumMod val="50000"/>
                </a:schemeClr>
              </a:solidFill>
              <a:round/>
              <a:headEnd/>
              <a:tailEnd/>
            </a:ln>
          </p:spPr>
          <p:txBody>
            <a:bodyPr/>
            <a:lstStyle/>
            <a:p>
              <a:endParaRPr lang="en-US" dirty="0"/>
            </a:p>
          </p:txBody>
        </p:sp>
        <p:sp>
          <p:nvSpPr>
            <p:cNvPr id="138" name="Freeform 424"/>
            <p:cNvSpPr>
              <a:spLocks/>
            </p:cNvSpPr>
            <p:nvPr/>
          </p:nvSpPr>
          <p:spPr bwMode="gray">
            <a:xfrm>
              <a:off x="2394042" y="3453134"/>
              <a:ext cx="635270" cy="398433"/>
            </a:xfrm>
            <a:custGeom>
              <a:avLst/>
              <a:gdLst>
                <a:gd name="T0" fmla="*/ 2147483647 w 576"/>
                <a:gd name="T1" fmla="*/ 2147483647 h 379"/>
                <a:gd name="T2" fmla="*/ 2147483647 w 576"/>
                <a:gd name="T3" fmla="*/ 2147483647 h 379"/>
                <a:gd name="T4" fmla="*/ 2147483647 w 576"/>
                <a:gd name="T5" fmla="*/ 2147483647 h 379"/>
                <a:gd name="T6" fmla="*/ 2147483647 w 576"/>
                <a:gd name="T7" fmla="*/ 2147483647 h 379"/>
                <a:gd name="T8" fmla="*/ 2147483647 w 576"/>
                <a:gd name="T9" fmla="*/ 2147483647 h 379"/>
                <a:gd name="T10" fmla="*/ 2147483647 w 576"/>
                <a:gd name="T11" fmla="*/ 2147483647 h 379"/>
                <a:gd name="T12" fmla="*/ 2147483647 w 576"/>
                <a:gd name="T13" fmla="*/ 2147483647 h 379"/>
                <a:gd name="T14" fmla="*/ 2147483647 w 576"/>
                <a:gd name="T15" fmla="*/ 2147483647 h 379"/>
                <a:gd name="T16" fmla="*/ 2147483647 w 576"/>
                <a:gd name="T17" fmla="*/ 2147483647 h 379"/>
                <a:gd name="T18" fmla="*/ 2147483647 w 576"/>
                <a:gd name="T19" fmla="*/ 2147483647 h 379"/>
                <a:gd name="T20" fmla="*/ 2147483647 w 576"/>
                <a:gd name="T21" fmla="*/ 2147483647 h 379"/>
                <a:gd name="T22" fmla="*/ 2147483647 w 576"/>
                <a:gd name="T23" fmla="*/ 2147483647 h 379"/>
                <a:gd name="T24" fmla="*/ 2147483647 w 576"/>
                <a:gd name="T25" fmla="*/ 2147483647 h 379"/>
                <a:gd name="T26" fmla="*/ 2147483647 w 576"/>
                <a:gd name="T27" fmla="*/ 2147483647 h 379"/>
                <a:gd name="T28" fmla="*/ 2147483647 w 576"/>
                <a:gd name="T29" fmla="*/ 2147483647 h 379"/>
                <a:gd name="T30" fmla="*/ 2147483647 w 576"/>
                <a:gd name="T31" fmla="*/ 2147483647 h 379"/>
                <a:gd name="T32" fmla="*/ 2147483647 w 576"/>
                <a:gd name="T33" fmla="*/ 2147483647 h 379"/>
                <a:gd name="T34" fmla="*/ 2147483647 w 576"/>
                <a:gd name="T35" fmla="*/ 2147483647 h 379"/>
                <a:gd name="T36" fmla="*/ 2147483647 w 576"/>
                <a:gd name="T37" fmla="*/ 2147483647 h 379"/>
                <a:gd name="T38" fmla="*/ 2147483647 w 576"/>
                <a:gd name="T39" fmla="*/ 2147483647 h 379"/>
                <a:gd name="T40" fmla="*/ 2147483647 w 576"/>
                <a:gd name="T41" fmla="*/ 2147483647 h 379"/>
                <a:gd name="T42" fmla="*/ 2147483647 w 576"/>
                <a:gd name="T43" fmla="*/ 2147483647 h 379"/>
                <a:gd name="T44" fmla="*/ 2147483647 w 576"/>
                <a:gd name="T45" fmla="*/ 2147483647 h 379"/>
                <a:gd name="T46" fmla="*/ 2147483647 w 576"/>
                <a:gd name="T47" fmla="*/ 2147483647 h 379"/>
                <a:gd name="T48" fmla="*/ 2147483647 w 576"/>
                <a:gd name="T49" fmla="*/ 0 h 379"/>
                <a:gd name="T50" fmla="*/ 0 w 576"/>
                <a:gd name="T51" fmla="*/ 2147483647 h 379"/>
                <a:gd name="T52" fmla="*/ 2147483647 w 576"/>
                <a:gd name="T53" fmla="*/ 2147483647 h 379"/>
                <a:gd name="T54" fmla="*/ 2147483647 w 576"/>
                <a:gd name="T55" fmla="*/ 2147483647 h 379"/>
                <a:gd name="T56" fmla="*/ 2147483647 w 576"/>
                <a:gd name="T57" fmla="*/ 2147483647 h 379"/>
                <a:gd name="T58" fmla="*/ 2147483647 w 576"/>
                <a:gd name="T59" fmla="*/ 2147483647 h 379"/>
                <a:gd name="T60" fmla="*/ 2147483647 w 576"/>
                <a:gd name="T61" fmla="*/ 2147483647 h 379"/>
                <a:gd name="T62" fmla="*/ 2147483647 w 576"/>
                <a:gd name="T63" fmla="*/ 2147483647 h 379"/>
                <a:gd name="T64" fmla="*/ 2147483647 w 576"/>
                <a:gd name="T65" fmla="*/ 2147483647 h 379"/>
                <a:gd name="T66" fmla="*/ 2147483647 w 576"/>
                <a:gd name="T67" fmla="*/ 2147483647 h 379"/>
                <a:gd name="T68" fmla="*/ 2147483647 w 576"/>
                <a:gd name="T69" fmla="*/ 2147483647 h 379"/>
                <a:gd name="T70" fmla="*/ 2147483647 w 576"/>
                <a:gd name="T71" fmla="*/ 2147483647 h 379"/>
                <a:gd name="T72" fmla="*/ 2147483647 w 576"/>
                <a:gd name="T73" fmla="*/ 2147483647 h 379"/>
                <a:gd name="T74" fmla="*/ 2147483647 w 576"/>
                <a:gd name="T75" fmla="*/ 2147483647 h 379"/>
                <a:gd name="T76" fmla="*/ 2147483647 w 576"/>
                <a:gd name="T77" fmla="*/ 2147483647 h 379"/>
                <a:gd name="T78" fmla="*/ 2147483647 w 576"/>
                <a:gd name="T79" fmla="*/ 2147483647 h 379"/>
                <a:gd name="T80" fmla="*/ 2147483647 w 576"/>
                <a:gd name="T81" fmla="*/ 2147483647 h 379"/>
                <a:gd name="T82" fmla="*/ 2147483647 w 576"/>
                <a:gd name="T83" fmla="*/ 2147483647 h 379"/>
                <a:gd name="T84" fmla="*/ 2147483647 w 576"/>
                <a:gd name="T85" fmla="*/ 2147483647 h 379"/>
                <a:gd name="T86" fmla="*/ 2147483647 w 576"/>
                <a:gd name="T87" fmla="*/ 2147483647 h 379"/>
                <a:gd name="T88" fmla="*/ 2147483647 w 576"/>
                <a:gd name="T89" fmla="*/ 2147483647 h 379"/>
                <a:gd name="T90" fmla="*/ 2147483647 w 576"/>
                <a:gd name="T91" fmla="*/ 2147483647 h 379"/>
                <a:gd name="T92" fmla="*/ 2147483647 w 576"/>
                <a:gd name="T93" fmla="*/ 2147483647 h 379"/>
                <a:gd name="T94" fmla="*/ 2147483647 w 576"/>
                <a:gd name="T95" fmla="*/ 2147483647 h 379"/>
                <a:gd name="T96" fmla="*/ 2147483647 w 576"/>
                <a:gd name="T97" fmla="*/ 2147483647 h 379"/>
                <a:gd name="T98" fmla="*/ 2147483647 w 576"/>
                <a:gd name="T99" fmla="*/ 2147483647 h 379"/>
                <a:gd name="T100" fmla="*/ 2147483647 w 576"/>
                <a:gd name="T101" fmla="*/ 2147483647 h 379"/>
                <a:gd name="T102" fmla="*/ 2147483647 w 576"/>
                <a:gd name="T103" fmla="*/ 2147483647 h 379"/>
                <a:gd name="T104" fmla="*/ 2147483647 w 576"/>
                <a:gd name="T105" fmla="*/ 2147483647 h 379"/>
                <a:gd name="T106" fmla="*/ 2147483647 w 576"/>
                <a:gd name="T107" fmla="*/ 2147483647 h 379"/>
                <a:gd name="T108" fmla="*/ 2147483647 w 576"/>
                <a:gd name="T109" fmla="*/ 2147483647 h 379"/>
                <a:gd name="T110" fmla="*/ 2147483647 w 576"/>
                <a:gd name="T111" fmla="*/ 2147483647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6" h="379">
                  <a:moveTo>
                    <a:pt x="486" y="348"/>
                  </a:moveTo>
                  <a:lnTo>
                    <a:pt x="504" y="348"/>
                  </a:lnTo>
                  <a:lnTo>
                    <a:pt x="492" y="324"/>
                  </a:lnTo>
                  <a:lnTo>
                    <a:pt x="504" y="318"/>
                  </a:lnTo>
                  <a:lnTo>
                    <a:pt x="534" y="318"/>
                  </a:lnTo>
                  <a:lnTo>
                    <a:pt x="528" y="312"/>
                  </a:lnTo>
                  <a:lnTo>
                    <a:pt x="546" y="300"/>
                  </a:lnTo>
                  <a:lnTo>
                    <a:pt x="564" y="288"/>
                  </a:lnTo>
                  <a:lnTo>
                    <a:pt x="576" y="240"/>
                  </a:lnTo>
                  <a:lnTo>
                    <a:pt x="504" y="252"/>
                  </a:lnTo>
                  <a:lnTo>
                    <a:pt x="474" y="294"/>
                  </a:lnTo>
                  <a:lnTo>
                    <a:pt x="426" y="300"/>
                  </a:lnTo>
                  <a:lnTo>
                    <a:pt x="378" y="240"/>
                  </a:lnTo>
                  <a:lnTo>
                    <a:pt x="372" y="162"/>
                  </a:lnTo>
                  <a:lnTo>
                    <a:pt x="384" y="144"/>
                  </a:lnTo>
                  <a:lnTo>
                    <a:pt x="354" y="138"/>
                  </a:lnTo>
                  <a:lnTo>
                    <a:pt x="330" y="114"/>
                  </a:lnTo>
                  <a:lnTo>
                    <a:pt x="312" y="84"/>
                  </a:lnTo>
                  <a:lnTo>
                    <a:pt x="288" y="66"/>
                  </a:lnTo>
                  <a:lnTo>
                    <a:pt x="252" y="78"/>
                  </a:lnTo>
                  <a:lnTo>
                    <a:pt x="204" y="24"/>
                  </a:lnTo>
                  <a:lnTo>
                    <a:pt x="174" y="18"/>
                  </a:lnTo>
                  <a:lnTo>
                    <a:pt x="156" y="30"/>
                  </a:lnTo>
                  <a:lnTo>
                    <a:pt x="108" y="30"/>
                  </a:lnTo>
                  <a:lnTo>
                    <a:pt x="48" y="0"/>
                  </a:lnTo>
                  <a:lnTo>
                    <a:pt x="0" y="6"/>
                  </a:lnTo>
                  <a:lnTo>
                    <a:pt x="36" y="72"/>
                  </a:lnTo>
                  <a:lnTo>
                    <a:pt x="60" y="108"/>
                  </a:lnTo>
                  <a:lnTo>
                    <a:pt x="54" y="120"/>
                  </a:lnTo>
                  <a:lnTo>
                    <a:pt x="96" y="150"/>
                  </a:lnTo>
                  <a:lnTo>
                    <a:pt x="102" y="180"/>
                  </a:lnTo>
                  <a:lnTo>
                    <a:pt x="120" y="192"/>
                  </a:lnTo>
                  <a:lnTo>
                    <a:pt x="144" y="216"/>
                  </a:lnTo>
                  <a:lnTo>
                    <a:pt x="150" y="198"/>
                  </a:lnTo>
                  <a:lnTo>
                    <a:pt x="126" y="180"/>
                  </a:lnTo>
                  <a:lnTo>
                    <a:pt x="102" y="126"/>
                  </a:lnTo>
                  <a:lnTo>
                    <a:pt x="60" y="66"/>
                  </a:lnTo>
                  <a:lnTo>
                    <a:pt x="48" y="30"/>
                  </a:lnTo>
                  <a:lnTo>
                    <a:pt x="78" y="42"/>
                  </a:lnTo>
                  <a:lnTo>
                    <a:pt x="108" y="102"/>
                  </a:lnTo>
                  <a:lnTo>
                    <a:pt x="120" y="120"/>
                  </a:lnTo>
                  <a:lnTo>
                    <a:pt x="150" y="138"/>
                  </a:lnTo>
                  <a:lnTo>
                    <a:pt x="150" y="156"/>
                  </a:lnTo>
                  <a:lnTo>
                    <a:pt x="174" y="168"/>
                  </a:lnTo>
                  <a:lnTo>
                    <a:pt x="186" y="186"/>
                  </a:lnTo>
                  <a:lnTo>
                    <a:pt x="216" y="216"/>
                  </a:lnTo>
                  <a:lnTo>
                    <a:pt x="222" y="258"/>
                  </a:lnTo>
                  <a:lnTo>
                    <a:pt x="222" y="276"/>
                  </a:lnTo>
                  <a:lnTo>
                    <a:pt x="300" y="324"/>
                  </a:lnTo>
                  <a:lnTo>
                    <a:pt x="336" y="342"/>
                  </a:lnTo>
                  <a:lnTo>
                    <a:pt x="402" y="360"/>
                  </a:lnTo>
                  <a:lnTo>
                    <a:pt x="420" y="354"/>
                  </a:lnTo>
                  <a:lnTo>
                    <a:pt x="438" y="354"/>
                  </a:lnTo>
                  <a:lnTo>
                    <a:pt x="468" y="379"/>
                  </a:lnTo>
                  <a:lnTo>
                    <a:pt x="474" y="366"/>
                  </a:lnTo>
                  <a:lnTo>
                    <a:pt x="486" y="348"/>
                  </a:lnTo>
                  <a:close/>
                </a:path>
              </a:pathLst>
            </a:custGeom>
            <a:grpFill/>
            <a:ln w="9525">
              <a:solidFill>
                <a:schemeClr val="bg2">
                  <a:lumMod val="50000"/>
                </a:schemeClr>
              </a:solidFill>
              <a:round/>
              <a:headEnd/>
              <a:tailEnd/>
            </a:ln>
          </p:spPr>
          <p:txBody>
            <a:bodyPr/>
            <a:lstStyle/>
            <a:p>
              <a:endParaRPr lang="en-US" dirty="0"/>
            </a:p>
          </p:txBody>
        </p:sp>
        <p:sp>
          <p:nvSpPr>
            <p:cNvPr id="139" name="Freeform 425"/>
            <p:cNvSpPr>
              <a:spLocks/>
            </p:cNvSpPr>
            <p:nvPr/>
          </p:nvSpPr>
          <p:spPr bwMode="gray">
            <a:xfrm rot="20747712">
              <a:off x="3433210" y="1856841"/>
              <a:ext cx="684754" cy="723841"/>
            </a:xfrm>
            <a:custGeom>
              <a:avLst/>
              <a:gdLst>
                <a:gd name="T0" fmla="*/ 2147483647 w 1125"/>
                <a:gd name="T1" fmla="*/ 2147483647 h 2047"/>
                <a:gd name="T2" fmla="*/ 2147483647 w 1125"/>
                <a:gd name="T3" fmla="*/ 2147483647 h 2047"/>
                <a:gd name="T4" fmla="*/ 2147483647 w 1125"/>
                <a:gd name="T5" fmla="*/ 2147483647 h 2047"/>
                <a:gd name="T6" fmla="*/ 2147483647 w 1125"/>
                <a:gd name="T7" fmla="*/ 2147483647 h 2047"/>
                <a:gd name="T8" fmla="*/ 2147483647 w 1125"/>
                <a:gd name="T9" fmla="*/ 2147483647 h 2047"/>
                <a:gd name="T10" fmla="*/ 2147483647 w 1125"/>
                <a:gd name="T11" fmla="*/ 2147483647 h 2047"/>
                <a:gd name="T12" fmla="*/ 2147483647 w 1125"/>
                <a:gd name="T13" fmla="*/ 2147483647 h 2047"/>
                <a:gd name="T14" fmla="*/ 2147483647 w 1125"/>
                <a:gd name="T15" fmla="*/ 2147483647 h 2047"/>
                <a:gd name="T16" fmla="*/ 2147483647 w 1125"/>
                <a:gd name="T17" fmla="*/ 2147483647 h 2047"/>
                <a:gd name="T18" fmla="*/ 2147483647 w 1125"/>
                <a:gd name="T19" fmla="*/ 2147483647 h 2047"/>
                <a:gd name="T20" fmla="*/ 2147483647 w 1125"/>
                <a:gd name="T21" fmla="*/ 2147483647 h 2047"/>
                <a:gd name="T22" fmla="*/ 2147483647 w 1125"/>
                <a:gd name="T23" fmla="*/ 2147483647 h 2047"/>
                <a:gd name="T24" fmla="*/ 2147483647 w 1125"/>
                <a:gd name="T25" fmla="*/ 2147483647 h 2047"/>
                <a:gd name="T26" fmla="*/ 2147483647 w 1125"/>
                <a:gd name="T27" fmla="*/ 2147483647 h 2047"/>
                <a:gd name="T28" fmla="*/ 2147483647 w 1125"/>
                <a:gd name="T29" fmla="*/ 2147483647 h 2047"/>
                <a:gd name="T30" fmla="*/ 2147483647 w 1125"/>
                <a:gd name="T31" fmla="*/ 2147483647 h 2047"/>
                <a:gd name="T32" fmla="*/ 2147483647 w 1125"/>
                <a:gd name="T33" fmla="*/ 2147483647 h 2047"/>
                <a:gd name="T34" fmla="*/ 2147483647 w 1125"/>
                <a:gd name="T35" fmla="*/ 2147483647 h 2047"/>
                <a:gd name="T36" fmla="*/ 2147483647 w 1125"/>
                <a:gd name="T37" fmla="*/ 2147483647 h 2047"/>
                <a:gd name="T38" fmla="*/ 2147483647 w 1125"/>
                <a:gd name="T39" fmla="*/ 2147483647 h 2047"/>
                <a:gd name="T40" fmla="*/ 2147483647 w 1125"/>
                <a:gd name="T41" fmla="*/ 2147483647 h 2047"/>
                <a:gd name="T42" fmla="*/ 2147483647 w 1125"/>
                <a:gd name="T43" fmla="*/ 2147483647 h 2047"/>
                <a:gd name="T44" fmla="*/ 2147483647 w 1125"/>
                <a:gd name="T45" fmla="*/ 2147483647 h 2047"/>
                <a:gd name="T46" fmla="*/ 2147483647 w 1125"/>
                <a:gd name="T47" fmla="*/ 2147483647 h 2047"/>
                <a:gd name="T48" fmla="*/ 2147483647 w 1125"/>
                <a:gd name="T49" fmla="*/ 2147483647 h 2047"/>
                <a:gd name="T50" fmla="*/ 2147483647 w 1125"/>
                <a:gd name="T51" fmla="*/ 2147483647 h 2047"/>
                <a:gd name="T52" fmla="*/ 2147483647 w 1125"/>
                <a:gd name="T53" fmla="*/ 2147483647 h 2047"/>
                <a:gd name="T54" fmla="*/ 2147483647 w 1125"/>
                <a:gd name="T55" fmla="*/ 2147483647 h 2047"/>
                <a:gd name="T56" fmla="*/ 2147483647 w 1125"/>
                <a:gd name="T57" fmla="*/ 2147483647 h 2047"/>
                <a:gd name="T58" fmla="*/ 2147483647 w 1125"/>
                <a:gd name="T59" fmla="*/ 2147483647 h 2047"/>
                <a:gd name="T60" fmla="*/ 2147483647 w 1125"/>
                <a:gd name="T61" fmla="*/ 2147483647 h 2047"/>
                <a:gd name="T62" fmla="*/ 2147483647 w 1125"/>
                <a:gd name="T63" fmla="*/ 2147483647 h 2047"/>
                <a:gd name="T64" fmla="*/ 2147483647 w 1125"/>
                <a:gd name="T65" fmla="*/ 2147483647 h 2047"/>
                <a:gd name="T66" fmla="*/ 2147483647 w 1125"/>
                <a:gd name="T67" fmla="*/ 2147483647 h 2047"/>
                <a:gd name="T68" fmla="*/ 2147483647 w 1125"/>
                <a:gd name="T69" fmla="*/ 2147483647 h 2047"/>
                <a:gd name="T70" fmla="*/ 2147483647 w 1125"/>
                <a:gd name="T71" fmla="*/ 2147483647 h 2047"/>
                <a:gd name="T72" fmla="*/ 2147483647 w 1125"/>
                <a:gd name="T73" fmla="*/ 2147483647 h 2047"/>
                <a:gd name="T74" fmla="*/ 2147483647 w 1125"/>
                <a:gd name="T75" fmla="*/ 2147483647 h 2047"/>
                <a:gd name="T76" fmla="*/ 2147483647 w 1125"/>
                <a:gd name="T77" fmla="*/ 2147483647 h 2047"/>
                <a:gd name="T78" fmla="*/ 2147483647 w 1125"/>
                <a:gd name="T79" fmla="*/ 2147483647 h 2047"/>
                <a:gd name="T80" fmla="*/ 2147483647 w 1125"/>
                <a:gd name="T81" fmla="*/ 2147483647 h 2047"/>
                <a:gd name="T82" fmla="*/ 2147483647 w 1125"/>
                <a:gd name="T83" fmla="*/ 2147483647 h 2047"/>
                <a:gd name="T84" fmla="*/ 2147483647 w 1125"/>
                <a:gd name="T85" fmla="*/ 2147483647 h 2047"/>
                <a:gd name="T86" fmla="*/ 2147483647 w 1125"/>
                <a:gd name="T87" fmla="*/ 2147483647 h 2047"/>
                <a:gd name="T88" fmla="*/ 2147483647 w 1125"/>
                <a:gd name="T89" fmla="*/ 2147483647 h 2047"/>
                <a:gd name="T90" fmla="*/ 2147483647 w 1125"/>
                <a:gd name="T91" fmla="*/ 2147483647 h 2047"/>
                <a:gd name="T92" fmla="*/ 2147483647 w 1125"/>
                <a:gd name="T93" fmla="*/ 2147483647 h 2047"/>
                <a:gd name="T94" fmla="*/ 2147483647 w 1125"/>
                <a:gd name="T95" fmla="*/ 2147483647 h 2047"/>
                <a:gd name="T96" fmla="*/ 2147483647 w 1125"/>
                <a:gd name="T97" fmla="*/ 2147483647 h 2047"/>
                <a:gd name="T98" fmla="*/ 2147483647 w 1125"/>
                <a:gd name="T99" fmla="*/ 2147483647 h 2047"/>
                <a:gd name="T100" fmla="*/ 2147483647 w 1125"/>
                <a:gd name="T101" fmla="*/ 2147483647 h 2047"/>
                <a:gd name="T102" fmla="*/ 2147483647 w 1125"/>
                <a:gd name="T103" fmla="*/ 2147483647 h 2047"/>
                <a:gd name="T104" fmla="*/ 2147483647 w 1125"/>
                <a:gd name="T105" fmla="*/ 2147483647 h 2047"/>
                <a:gd name="T106" fmla="*/ 2147483647 w 1125"/>
                <a:gd name="T107" fmla="*/ 2147483647 h 2047"/>
                <a:gd name="T108" fmla="*/ 2147483647 w 1125"/>
                <a:gd name="T109" fmla="*/ 2147483647 h 2047"/>
                <a:gd name="T110" fmla="*/ 2147483647 w 1125"/>
                <a:gd name="T111" fmla="*/ 2147483647 h 2047"/>
                <a:gd name="T112" fmla="*/ 2147483647 w 1125"/>
                <a:gd name="T113" fmla="*/ 2147483647 h 2047"/>
                <a:gd name="T114" fmla="*/ 2147483647 w 1125"/>
                <a:gd name="T115" fmla="*/ 2147483647 h 2047"/>
                <a:gd name="T116" fmla="*/ 2147483647 w 1125"/>
                <a:gd name="T117" fmla="*/ 2147483647 h 2047"/>
                <a:gd name="T118" fmla="*/ 2147483647 w 1125"/>
                <a:gd name="T119" fmla="*/ 2147483647 h 2047"/>
                <a:gd name="T120" fmla="*/ 2147483647 w 1125"/>
                <a:gd name="T121" fmla="*/ 2147483647 h 2047"/>
                <a:gd name="T122" fmla="*/ 2147483647 w 1125"/>
                <a:gd name="T123" fmla="*/ 2147483647 h 2047"/>
                <a:gd name="T124" fmla="*/ 2147483647 w 1125"/>
                <a:gd name="T125" fmla="*/ 2147483647 h 20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25" h="2047">
                  <a:moveTo>
                    <a:pt x="718" y="105"/>
                  </a:moveTo>
                  <a:lnTo>
                    <a:pt x="722" y="102"/>
                  </a:lnTo>
                  <a:lnTo>
                    <a:pt x="730" y="95"/>
                  </a:lnTo>
                  <a:lnTo>
                    <a:pt x="740" y="83"/>
                  </a:lnTo>
                  <a:lnTo>
                    <a:pt x="751" y="70"/>
                  </a:lnTo>
                  <a:lnTo>
                    <a:pt x="760" y="58"/>
                  </a:lnTo>
                  <a:lnTo>
                    <a:pt x="764" y="46"/>
                  </a:lnTo>
                  <a:lnTo>
                    <a:pt x="761" y="37"/>
                  </a:lnTo>
                  <a:lnTo>
                    <a:pt x="748" y="32"/>
                  </a:lnTo>
                  <a:lnTo>
                    <a:pt x="735" y="30"/>
                  </a:lnTo>
                  <a:lnTo>
                    <a:pt x="725" y="27"/>
                  </a:lnTo>
                  <a:lnTo>
                    <a:pt x="716" y="22"/>
                  </a:lnTo>
                  <a:lnTo>
                    <a:pt x="708" y="17"/>
                  </a:lnTo>
                  <a:lnTo>
                    <a:pt x="700" y="13"/>
                  </a:lnTo>
                  <a:lnTo>
                    <a:pt x="693" y="8"/>
                  </a:lnTo>
                  <a:lnTo>
                    <a:pt x="686" y="4"/>
                  </a:lnTo>
                  <a:lnTo>
                    <a:pt x="678" y="1"/>
                  </a:lnTo>
                  <a:lnTo>
                    <a:pt x="672" y="0"/>
                  </a:lnTo>
                  <a:lnTo>
                    <a:pt x="665" y="0"/>
                  </a:lnTo>
                  <a:lnTo>
                    <a:pt x="658" y="0"/>
                  </a:lnTo>
                  <a:lnTo>
                    <a:pt x="651" y="2"/>
                  </a:lnTo>
                  <a:lnTo>
                    <a:pt x="633" y="7"/>
                  </a:lnTo>
                  <a:lnTo>
                    <a:pt x="610" y="13"/>
                  </a:lnTo>
                  <a:lnTo>
                    <a:pt x="583" y="19"/>
                  </a:lnTo>
                  <a:lnTo>
                    <a:pt x="558" y="25"/>
                  </a:lnTo>
                  <a:lnTo>
                    <a:pt x="534" y="34"/>
                  </a:lnTo>
                  <a:lnTo>
                    <a:pt x="512" y="42"/>
                  </a:lnTo>
                  <a:lnTo>
                    <a:pt x="496" y="52"/>
                  </a:lnTo>
                  <a:lnTo>
                    <a:pt x="487" y="62"/>
                  </a:lnTo>
                  <a:lnTo>
                    <a:pt x="483" y="74"/>
                  </a:lnTo>
                  <a:lnTo>
                    <a:pt x="478" y="84"/>
                  </a:lnTo>
                  <a:lnTo>
                    <a:pt x="474" y="93"/>
                  </a:lnTo>
                  <a:lnTo>
                    <a:pt x="468" y="102"/>
                  </a:lnTo>
                  <a:lnTo>
                    <a:pt x="461" y="107"/>
                  </a:lnTo>
                  <a:lnTo>
                    <a:pt x="452" y="110"/>
                  </a:lnTo>
                  <a:lnTo>
                    <a:pt x="440" y="110"/>
                  </a:lnTo>
                  <a:lnTo>
                    <a:pt x="426" y="105"/>
                  </a:lnTo>
                  <a:lnTo>
                    <a:pt x="409" y="100"/>
                  </a:lnTo>
                  <a:lnTo>
                    <a:pt x="391" y="98"/>
                  </a:lnTo>
                  <a:lnTo>
                    <a:pt x="371" y="100"/>
                  </a:lnTo>
                  <a:lnTo>
                    <a:pt x="351" y="105"/>
                  </a:lnTo>
                  <a:lnTo>
                    <a:pt x="334" y="112"/>
                  </a:lnTo>
                  <a:lnTo>
                    <a:pt x="319" y="120"/>
                  </a:lnTo>
                  <a:lnTo>
                    <a:pt x="306" y="130"/>
                  </a:lnTo>
                  <a:lnTo>
                    <a:pt x="300" y="141"/>
                  </a:lnTo>
                  <a:lnTo>
                    <a:pt x="291" y="151"/>
                  </a:lnTo>
                  <a:lnTo>
                    <a:pt x="278" y="161"/>
                  </a:lnTo>
                  <a:lnTo>
                    <a:pt x="260" y="172"/>
                  </a:lnTo>
                  <a:lnTo>
                    <a:pt x="241" y="182"/>
                  </a:lnTo>
                  <a:lnTo>
                    <a:pt x="221" y="194"/>
                  </a:lnTo>
                  <a:lnTo>
                    <a:pt x="204" y="208"/>
                  </a:lnTo>
                  <a:lnTo>
                    <a:pt x="191" y="224"/>
                  </a:lnTo>
                  <a:lnTo>
                    <a:pt x="184" y="242"/>
                  </a:lnTo>
                  <a:lnTo>
                    <a:pt x="180" y="261"/>
                  </a:lnTo>
                  <a:lnTo>
                    <a:pt x="172" y="277"/>
                  </a:lnTo>
                  <a:lnTo>
                    <a:pt x="160" y="289"/>
                  </a:lnTo>
                  <a:lnTo>
                    <a:pt x="146" y="299"/>
                  </a:lnTo>
                  <a:lnTo>
                    <a:pt x="130" y="305"/>
                  </a:lnTo>
                  <a:lnTo>
                    <a:pt x="113" y="311"/>
                  </a:lnTo>
                  <a:lnTo>
                    <a:pt x="94" y="314"/>
                  </a:lnTo>
                  <a:lnTo>
                    <a:pt x="76" y="315"/>
                  </a:lnTo>
                  <a:lnTo>
                    <a:pt x="59" y="316"/>
                  </a:lnTo>
                  <a:lnTo>
                    <a:pt x="44" y="319"/>
                  </a:lnTo>
                  <a:lnTo>
                    <a:pt x="31" y="325"/>
                  </a:lnTo>
                  <a:lnTo>
                    <a:pt x="22" y="332"/>
                  </a:lnTo>
                  <a:lnTo>
                    <a:pt x="16" y="342"/>
                  </a:lnTo>
                  <a:lnTo>
                    <a:pt x="13" y="355"/>
                  </a:lnTo>
                  <a:lnTo>
                    <a:pt x="11" y="369"/>
                  </a:lnTo>
                  <a:lnTo>
                    <a:pt x="15" y="386"/>
                  </a:lnTo>
                  <a:lnTo>
                    <a:pt x="17" y="402"/>
                  </a:lnTo>
                  <a:lnTo>
                    <a:pt x="16" y="415"/>
                  </a:lnTo>
                  <a:lnTo>
                    <a:pt x="13" y="425"/>
                  </a:lnTo>
                  <a:lnTo>
                    <a:pt x="9" y="434"/>
                  </a:lnTo>
                  <a:lnTo>
                    <a:pt x="4" y="444"/>
                  </a:lnTo>
                  <a:lnTo>
                    <a:pt x="1" y="454"/>
                  </a:lnTo>
                  <a:lnTo>
                    <a:pt x="0" y="466"/>
                  </a:lnTo>
                  <a:lnTo>
                    <a:pt x="2" y="482"/>
                  </a:lnTo>
                  <a:lnTo>
                    <a:pt x="7" y="499"/>
                  </a:lnTo>
                  <a:lnTo>
                    <a:pt x="13" y="515"/>
                  </a:lnTo>
                  <a:lnTo>
                    <a:pt x="18" y="530"/>
                  </a:lnTo>
                  <a:lnTo>
                    <a:pt x="25" y="543"/>
                  </a:lnTo>
                  <a:lnTo>
                    <a:pt x="34" y="553"/>
                  </a:lnTo>
                  <a:lnTo>
                    <a:pt x="45" y="562"/>
                  </a:lnTo>
                  <a:lnTo>
                    <a:pt x="59" y="568"/>
                  </a:lnTo>
                  <a:lnTo>
                    <a:pt x="76" y="572"/>
                  </a:lnTo>
                  <a:lnTo>
                    <a:pt x="94" y="575"/>
                  </a:lnTo>
                  <a:lnTo>
                    <a:pt x="113" y="579"/>
                  </a:lnTo>
                  <a:lnTo>
                    <a:pt x="130" y="584"/>
                  </a:lnTo>
                  <a:lnTo>
                    <a:pt x="145" y="593"/>
                  </a:lnTo>
                  <a:lnTo>
                    <a:pt x="159" y="605"/>
                  </a:lnTo>
                  <a:lnTo>
                    <a:pt x="169" y="621"/>
                  </a:lnTo>
                  <a:lnTo>
                    <a:pt x="176" y="642"/>
                  </a:lnTo>
                  <a:lnTo>
                    <a:pt x="179" y="668"/>
                  </a:lnTo>
                  <a:lnTo>
                    <a:pt x="181" y="695"/>
                  </a:lnTo>
                  <a:lnTo>
                    <a:pt x="185" y="718"/>
                  </a:lnTo>
                  <a:lnTo>
                    <a:pt x="191" y="740"/>
                  </a:lnTo>
                  <a:lnTo>
                    <a:pt x="198" y="762"/>
                  </a:lnTo>
                  <a:lnTo>
                    <a:pt x="203" y="785"/>
                  </a:lnTo>
                  <a:lnTo>
                    <a:pt x="206" y="810"/>
                  </a:lnTo>
                  <a:lnTo>
                    <a:pt x="207" y="841"/>
                  </a:lnTo>
                  <a:lnTo>
                    <a:pt x="203" y="878"/>
                  </a:lnTo>
                  <a:lnTo>
                    <a:pt x="196" y="915"/>
                  </a:lnTo>
                  <a:lnTo>
                    <a:pt x="190" y="945"/>
                  </a:lnTo>
                  <a:lnTo>
                    <a:pt x="184" y="968"/>
                  </a:lnTo>
                  <a:lnTo>
                    <a:pt x="181" y="986"/>
                  </a:lnTo>
                  <a:lnTo>
                    <a:pt x="180" y="999"/>
                  </a:lnTo>
                  <a:lnTo>
                    <a:pt x="180" y="1009"/>
                  </a:lnTo>
                  <a:lnTo>
                    <a:pt x="184" y="1016"/>
                  </a:lnTo>
                  <a:lnTo>
                    <a:pt x="191" y="1022"/>
                  </a:lnTo>
                  <a:lnTo>
                    <a:pt x="200" y="1028"/>
                  </a:lnTo>
                  <a:lnTo>
                    <a:pt x="210" y="1034"/>
                  </a:lnTo>
                  <a:lnTo>
                    <a:pt x="218" y="1042"/>
                  </a:lnTo>
                  <a:lnTo>
                    <a:pt x="225" y="1050"/>
                  </a:lnTo>
                  <a:lnTo>
                    <a:pt x="227" y="1057"/>
                  </a:lnTo>
                  <a:lnTo>
                    <a:pt x="225" y="1062"/>
                  </a:lnTo>
                  <a:lnTo>
                    <a:pt x="217" y="1067"/>
                  </a:lnTo>
                  <a:lnTo>
                    <a:pt x="203" y="1068"/>
                  </a:lnTo>
                  <a:lnTo>
                    <a:pt x="189" y="1070"/>
                  </a:lnTo>
                  <a:lnTo>
                    <a:pt x="183" y="1075"/>
                  </a:lnTo>
                  <a:lnTo>
                    <a:pt x="183" y="1082"/>
                  </a:lnTo>
                  <a:lnTo>
                    <a:pt x="188" y="1089"/>
                  </a:lnTo>
                  <a:lnTo>
                    <a:pt x="194" y="1097"/>
                  </a:lnTo>
                  <a:lnTo>
                    <a:pt x="200" y="1104"/>
                  </a:lnTo>
                  <a:lnTo>
                    <a:pt x="206" y="1108"/>
                  </a:lnTo>
                  <a:lnTo>
                    <a:pt x="208" y="1111"/>
                  </a:lnTo>
                  <a:lnTo>
                    <a:pt x="206" y="1111"/>
                  </a:lnTo>
                  <a:lnTo>
                    <a:pt x="200" y="1110"/>
                  </a:lnTo>
                  <a:lnTo>
                    <a:pt x="191" y="1108"/>
                  </a:lnTo>
                  <a:lnTo>
                    <a:pt x="182" y="1108"/>
                  </a:lnTo>
                  <a:lnTo>
                    <a:pt x="172" y="1111"/>
                  </a:lnTo>
                  <a:lnTo>
                    <a:pt x="162" y="1115"/>
                  </a:lnTo>
                  <a:lnTo>
                    <a:pt x="157" y="1123"/>
                  </a:lnTo>
                  <a:lnTo>
                    <a:pt x="154" y="1135"/>
                  </a:lnTo>
                  <a:lnTo>
                    <a:pt x="157" y="1149"/>
                  </a:lnTo>
                  <a:lnTo>
                    <a:pt x="164" y="1163"/>
                  </a:lnTo>
                  <a:lnTo>
                    <a:pt x="173" y="1176"/>
                  </a:lnTo>
                  <a:lnTo>
                    <a:pt x="184" y="1187"/>
                  </a:lnTo>
                  <a:lnTo>
                    <a:pt x="196" y="1196"/>
                  </a:lnTo>
                  <a:lnTo>
                    <a:pt x="207" y="1201"/>
                  </a:lnTo>
                  <a:lnTo>
                    <a:pt x="219" y="1201"/>
                  </a:lnTo>
                  <a:lnTo>
                    <a:pt x="227" y="1195"/>
                  </a:lnTo>
                  <a:lnTo>
                    <a:pt x="234" y="1186"/>
                  </a:lnTo>
                  <a:lnTo>
                    <a:pt x="238" y="1178"/>
                  </a:lnTo>
                  <a:lnTo>
                    <a:pt x="244" y="1171"/>
                  </a:lnTo>
                  <a:lnTo>
                    <a:pt x="249" y="1165"/>
                  </a:lnTo>
                  <a:lnTo>
                    <a:pt x="252" y="1161"/>
                  </a:lnTo>
                  <a:lnTo>
                    <a:pt x="258" y="1158"/>
                  </a:lnTo>
                  <a:lnTo>
                    <a:pt x="263" y="1158"/>
                  </a:lnTo>
                  <a:lnTo>
                    <a:pt x="270" y="1159"/>
                  </a:lnTo>
                  <a:lnTo>
                    <a:pt x="278" y="1174"/>
                  </a:lnTo>
                  <a:lnTo>
                    <a:pt x="275" y="1202"/>
                  </a:lnTo>
                  <a:lnTo>
                    <a:pt x="267" y="1233"/>
                  </a:lnTo>
                  <a:lnTo>
                    <a:pt x="258" y="1255"/>
                  </a:lnTo>
                  <a:lnTo>
                    <a:pt x="252" y="1261"/>
                  </a:lnTo>
                  <a:lnTo>
                    <a:pt x="244" y="1265"/>
                  </a:lnTo>
                  <a:lnTo>
                    <a:pt x="234" y="1270"/>
                  </a:lnTo>
                  <a:lnTo>
                    <a:pt x="223" y="1273"/>
                  </a:lnTo>
                  <a:lnTo>
                    <a:pt x="212" y="1279"/>
                  </a:lnTo>
                  <a:lnTo>
                    <a:pt x="202" y="1285"/>
                  </a:lnTo>
                  <a:lnTo>
                    <a:pt x="192" y="1292"/>
                  </a:lnTo>
                  <a:lnTo>
                    <a:pt x="184" y="1302"/>
                  </a:lnTo>
                  <a:lnTo>
                    <a:pt x="177" y="1318"/>
                  </a:lnTo>
                  <a:lnTo>
                    <a:pt x="169" y="1340"/>
                  </a:lnTo>
                  <a:lnTo>
                    <a:pt x="161" y="1369"/>
                  </a:lnTo>
                  <a:lnTo>
                    <a:pt x="154" y="1399"/>
                  </a:lnTo>
                  <a:lnTo>
                    <a:pt x="149" y="1430"/>
                  </a:lnTo>
                  <a:lnTo>
                    <a:pt x="144" y="1459"/>
                  </a:lnTo>
                  <a:lnTo>
                    <a:pt x="142" y="1483"/>
                  </a:lnTo>
                  <a:lnTo>
                    <a:pt x="143" y="1500"/>
                  </a:lnTo>
                  <a:lnTo>
                    <a:pt x="146" y="1514"/>
                  </a:lnTo>
                  <a:lnTo>
                    <a:pt x="153" y="1530"/>
                  </a:lnTo>
                  <a:lnTo>
                    <a:pt x="160" y="1547"/>
                  </a:lnTo>
                  <a:lnTo>
                    <a:pt x="168" y="1566"/>
                  </a:lnTo>
                  <a:lnTo>
                    <a:pt x="174" y="1585"/>
                  </a:lnTo>
                  <a:lnTo>
                    <a:pt x="180" y="1606"/>
                  </a:lnTo>
                  <a:lnTo>
                    <a:pt x="181" y="1628"/>
                  </a:lnTo>
                  <a:lnTo>
                    <a:pt x="179" y="1650"/>
                  </a:lnTo>
                  <a:lnTo>
                    <a:pt x="176" y="1672"/>
                  </a:lnTo>
                  <a:lnTo>
                    <a:pt x="179" y="1694"/>
                  </a:lnTo>
                  <a:lnTo>
                    <a:pt x="184" y="1714"/>
                  </a:lnTo>
                  <a:lnTo>
                    <a:pt x="191" y="1735"/>
                  </a:lnTo>
                  <a:lnTo>
                    <a:pt x="200" y="1754"/>
                  </a:lnTo>
                  <a:lnTo>
                    <a:pt x="210" y="1772"/>
                  </a:lnTo>
                  <a:lnTo>
                    <a:pt x="219" y="1791"/>
                  </a:lnTo>
                  <a:lnTo>
                    <a:pt x="227" y="1807"/>
                  </a:lnTo>
                  <a:lnTo>
                    <a:pt x="235" y="1825"/>
                  </a:lnTo>
                  <a:lnTo>
                    <a:pt x="245" y="1847"/>
                  </a:lnTo>
                  <a:lnTo>
                    <a:pt x="257" y="1872"/>
                  </a:lnTo>
                  <a:lnTo>
                    <a:pt x="270" y="1897"/>
                  </a:lnTo>
                  <a:lnTo>
                    <a:pt x="283" y="1918"/>
                  </a:lnTo>
                  <a:lnTo>
                    <a:pt x="300" y="1937"/>
                  </a:lnTo>
                  <a:lnTo>
                    <a:pt x="315" y="1948"/>
                  </a:lnTo>
                  <a:lnTo>
                    <a:pt x="331" y="1951"/>
                  </a:lnTo>
                  <a:lnTo>
                    <a:pt x="346" y="1950"/>
                  </a:lnTo>
                  <a:lnTo>
                    <a:pt x="358" y="1953"/>
                  </a:lnTo>
                  <a:lnTo>
                    <a:pt x="370" y="1959"/>
                  </a:lnTo>
                  <a:lnTo>
                    <a:pt x="379" y="1967"/>
                  </a:lnTo>
                  <a:lnTo>
                    <a:pt x="386" y="1977"/>
                  </a:lnTo>
                  <a:lnTo>
                    <a:pt x="392" y="1988"/>
                  </a:lnTo>
                  <a:lnTo>
                    <a:pt x="395" y="1999"/>
                  </a:lnTo>
                  <a:lnTo>
                    <a:pt x="396" y="2011"/>
                  </a:lnTo>
                  <a:lnTo>
                    <a:pt x="398" y="2016"/>
                  </a:lnTo>
                  <a:lnTo>
                    <a:pt x="401" y="2022"/>
                  </a:lnTo>
                  <a:lnTo>
                    <a:pt x="406" y="2028"/>
                  </a:lnTo>
                  <a:lnTo>
                    <a:pt x="413" y="2032"/>
                  </a:lnTo>
                  <a:lnTo>
                    <a:pt x="421" y="2037"/>
                  </a:lnTo>
                  <a:lnTo>
                    <a:pt x="430" y="2042"/>
                  </a:lnTo>
                  <a:lnTo>
                    <a:pt x="439" y="2044"/>
                  </a:lnTo>
                  <a:lnTo>
                    <a:pt x="449" y="2046"/>
                  </a:lnTo>
                  <a:lnTo>
                    <a:pt x="460" y="2047"/>
                  </a:lnTo>
                  <a:lnTo>
                    <a:pt x="470" y="2046"/>
                  </a:lnTo>
                  <a:lnTo>
                    <a:pt x="479" y="2044"/>
                  </a:lnTo>
                  <a:lnTo>
                    <a:pt x="489" y="2039"/>
                  </a:lnTo>
                  <a:lnTo>
                    <a:pt x="497" y="2034"/>
                  </a:lnTo>
                  <a:lnTo>
                    <a:pt x="504" y="2024"/>
                  </a:lnTo>
                  <a:lnTo>
                    <a:pt x="508" y="2013"/>
                  </a:lnTo>
                  <a:lnTo>
                    <a:pt x="512" y="1998"/>
                  </a:lnTo>
                  <a:lnTo>
                    <a:pt x="515" y="1969"/>
                  </a:lnTo>
                  <a:lnTo>
                    <a:pt x="519" y="1947"/>
                  </a:lnTo>
                  <a:lnTo>
                    <a:pt x="522" y="1930"/>
                  </a:lnTo>
                  <a:lnTo>
                    <a:pt x="524" y="1916"/>
                  </a:lnTo>
                  <a:lnTo>
                    <a:pt x="529" y="1906"/>
                  </a:lnTo>
                  <a:lnTo>
                    <a:pt x="534" y="1898"/>
                  </a:lnTo>
                  <a:lnTo>
                    <a:pt x="539" y="1891"/>
                  </a:lnTo>
                  <a:lnTo>
                    <a:pt x="547" y="1884"/>
                  </a:lnTo>
                  <a:lnTo>
                    <a:pt x="557" y="1865"/>
                  </a:lnTo>
                  <a:lnTo>
                    <a:pt x="555" y="1840"/>
                  </a:lnTo>
                  <a:lnTo>
                    <a:pt x="551" y="1816"/>
                  </a:lnTo>
                  <a:lnTo>
                    <a:pt x="554" y="1800"/>
                  </a:lnTo>
                  <a:lnTo>
                    <a:pt x="561" y="1792"/>
                  </a:lnTo>
                  <a:lnTo>
                    <a:pt x="570" y="1779"/>
                  </a:lnTo>
                  <a:lnTo>
                    <a:pt x="582" y="1762"/>
                  </a:lnTo>
                  <a:lnTo>
                    <a:pt x="595" y="1741"/>
                  </a:lnTo>
                  <a:lnTo>
                    <a:pt x="605" y="1718"/>
                  </a:lnTo>
                  <a:lnTo>
                    <a:pt x="614" y="1695"/>
                  </a:lnTo>
                  <a:lnTo>
                    <a:pt x="620" y="1672"/>
                  </a:lnTo>
                  <a:lnTo>
                    <a:pt x="621" y="1650"/>
                  </a:lnTo>
                  <a:lnTo>
                    <a:pt x="622" y="1629"/>
                  </a:lnTo>
                  <a:lnTo>
                    <a:pt x="630" y="1607"/>
                  </a:lnTo>
                  <a:lnTo>
                    <a:pt x="642" y="1587"/>
                  </a:lnTo>
                  <a:lnTo>
                    <a:pt x="658" y="1567"/>
                  </a:lnTo>
                  <a:lnTo>
                    <a:pt x="675" y="1550"/>
                  </a:lnTo>
                  <a:lnTo>
                    <a:pt x="692" y="1536"/>
                  </a:lnTo>
                  <a:lnTo>
                    <a:pt x="707" y="1528"/>
                  </a:lnTo>
                  <a:lnTo>
                    <a:pt x="718" y="1524"/>
                  </a:lnTo>
                  <a:lnTo>
                    <a:pt x="728" y="1523"/>
                  </a:lnTo>
                  <a:lnTo>
                    <a:pt x="743" y="1519"/>
                  </a:lnTo>
                  <a:lnTo>
                    <a:pt x="760" y="1511"/>
                  </a:lnTo>
                  <a:lnTo>
                    <a:pt x="777" y="1498"/>
                  </a:lnTo>
                  <a:lnTo>
                    <a:pt x="795" y="1482"/>
                  </a:lnTo>
                  <a:lnTo>
                    <a:pt x="814" y="1461"/>
                  </a:lnTo>
                  <a:lnTo>
                    <a:pt x="831" y="1436"/>
                  </a:lnTo>
                  <a:lnTo>
                    <a:pt x="846" y="1405"/>
                  </a:lnTo>
                  <a:lnTo>
                    <a:pt x="858" y="1375"/>
                  </a:lnTo>
                  <a:lnTo>
                    <a:pt x="867" y="1354"/>
                  </a:lnTo>
                  <a:lnTo>
                    <a:pt x="875" y="1338"/>
                  </a:lnTo>
                  <a:lnTo>
                    <a:pt x="881" y="1327"/>
                  </a:lnTo>
                  <a:lnTo>
                    <a:pt x="888" y="1320"/>
                  </a:lnTo>
                  <a:lnTo>
                    <a:pt x="893" y="1316"/>
                  </a:lnTo>
                  <a:lnTo>
                    <a:pt x="901" y="1312"/>
                  </a:lnTo>
                  <a:lnTo>
                    <a:pt x="912" y="1309"/>
                  </a:lnTo>
                  <a:lnTo>
                    <a:pt x="919" y="1305"/>
                  </a:lnTo>
                  <a:lnTo>
                    <a:pt x="929" y="1299"/>
                  </a:lnTo>
                  <a:lnTo>
                    <a:pt x="943" y="1289"/>
                  </a:lnTo>
                  <a:lnTo>
                    <a:pt x="958" y="1279"/>
                  </a:lnTo>
                  <a:lnTo>
                    <a:pt x="974" y="1265"/>
                  </a:lnTo>
                  <a:lnTo>
                    <a:pt x="991" y="1251"/>
                  </a:lnTo>
                  <a:lnTo>
                    <a:pt x="1009" y="1236"/>
                  </a:lnTo>
                  <a:lnTo>
                    <a:pt x="1027" y="1220"/>
                  </a:lnTo>
                  <a:lnTo>
                    <a:pt x="1045" y="1204"/>
                  </a:lnTo>
                  <a:lnTo>
                    <a:pt x="1062" y="1188"/>
                  </a:lnTo>
                  <a:lnTo>
                    <a:pt x="1078" y="1173"/>
                  </a:lnTo>
                  <a:lnTo>
                    <a:pt x="1092" y="1158"/>
                  </a:lnTo>
                  <a:lnTo>
                    <a:pt x="1103" y="1143"/>
                  </a:lnTo>
                  <a:lnTo>
                    <a:pt x="1111" y="1130"/>
                  </a:lnTo>
                  <a:lnTo>
                    <a:pt x="1117" y="1120"/>
                  </a:lnTo>
                  <a:lnTo>
                    <a:pt x="1119" y="1111"/>
                  </a:lnTo>
                  <a:lnTo>
                    <a:pt x="1116" y="1097"/>
                  </a:lnTo>
                  <a:lnTo>
                    <a:pt x="1104" y="1087"/>
                  </a:lnTo>
                  <a:lnTo>
                    <a:pt x="1088" y="1080"/>
                  </a:lnTo>
                  <a:lnTo>
                    <a:pt x="1070" y="1077"/>
                  </a:lnTo>
                  <a:lnTo>
                    <a:pt x="1048" y="1077"/>
                  </a:lnTo>
                  <a:lnTo>
                    <a:pt x="1027" y="1082"/>
                  </a:lnTo>
                  <a:lnTo>
                    <a:pt x="1007" y="1088"/>
                  </a:lnTo>
                  <a:lnTo>
                    <a:pt x="991" y="1098"/>
                  </a:lnTo>
                  <a:lnTo>
                    <a:pt x="983" y="1105"/>
                  </a:lnTo>
                  <a:lnTo>
                    <a:pt x="983" y="1102"/>
                  </a:lnTo>
                  <a:lnTo>
                    <a:pt x="988" y="1093"/>
                  </a:lnTo>
                  <a:lnTo>
                    <a:pt x="995" y="1081"/>
                  </a:lnTo>
                  <a:lnTo>
                    <a:pt x="999" y="1066"/>
                  </a:lnTo>
                  <a:lnTo>
                    <a:pt x="998" y="1053"/>
                  </a:lnTo>
                  <a:lnTo>
                    <a:pt x="989" y="1043"/>
                  </a:lnTo>
                  <a:lnTo>
                    <a:pt x="967" y="1039"/>
                  </a:lnTo>
                  <a:lnTo>
                    <a:pt x="958" y="1038"/>
                  </a:lnTo>
                  <a:lnTo>
                    <a:pt x="961" y="1034"/>
                  </a:lnTo>
                  <a:lnTo>
                    <a:pt x="975" y="1028"/>
                  </a:lnTo>
                  <a:lnTo>
                    <a:pt x="994" y="1022"/>
                  </a:lnTo>
                  <a:lnTo>
                    <a:pt x="1015" y="1019"/>
                  </a:lnTo>
                  <a:lnTo>
                    <a:pt x="1035" y="1017"/>
                  </a:lnTo>
                  <a:lnTo>
                    <a:pt x="1051" y="1020"/>
                  </a:lnTo>
                  <a:lnTo>
                    <a:pt x="1058" y="1028"/>
                  </a:lnTo>
                  <a:lnTo>
                    <a:pt x="1063" y="1037"/>
                  </a:lnTo>
                  <a:lnTo>
                    <a:pt x="1071" y="1043"/>
                  </a:lnTo>
                  <a:lnTo>
                    <a:pt x="1082" y="1045"/>
                  </a:lnTo>
                  <a:lnTo>
                    <a:pt x="1094" y="1043"/>
                  </a:lnTo>
                  <a:lnTo>
                    <a:pt x="1105" y="1038"/>
                  </a:lnTo>
                  <a:lnTo>
                    <a:pt x="1116" y="1030"/>
                  </a:lnTo>
                  <a:lnTo>
                    <a:pt x="1123" y="1019"/>
                  </a:lnTo>
                  <a:lnTo>
                    <a:pt x="1125" y="1004"/>
                  </a:lnTo>
                  <a:lnTo>
                    <a:pt x="1124" y="989"/>
                  </a:lnTo>
                  <a:lnTo>
                    <a:pt x="1120" y="976"/>
                  </a:lnTo>
                  <a:lnTo>
                    <a:pt x="1115" y="966"/>
                  </a:lnTo>
                  <a:lnTo>
                    <a:pt x="1107" y="955"/>
                  </a:lnTo>
                  <a:lnTo>
                    <a:pt x="1096" y="946"/>
                  </a:lnTo>
                  <a:lnTo>
                    <a:pt x="1085" y="937"/>
                  </a:lnTo>
                  <a:lnTo>
                    <a:pt x="1070" y="929"/>
                  </a:lnTo>
                  <a:lnTo>
                    <a:pt x="1052" y="920"/>
                  </a:lnTo>
                  <a:lnTo>
                    <a:pt x="1036" y="913"/>
                  </a:lnTo>
                  <a:lnTo>
                    <a:pt x="1022" y="909"/>
                  </a:lnTo>
                  <a:lnTo>
                    <a:pt x="1013" y="908"/>
                  </a:lnTo>
                  <a:lnTo>
                    <a:pt x="1007" y="908"/>
                  </a:lnTo>
                  <a:lnTo>
                    <a:pt x="1003" y="908"/>
                  </a:lnTo>
                  <a:lnTo>
                    <a:pt x="1002" y="907"/>
                  </a:lnTo>
                  <a:lnTo>
                    <a:pt x="1002" y="903"/>
                  </a:lnTo>
                  <a:lnTo>
                    <a:pt x="1003" y="896"/>
                  </a:lnTo>
                  <a:lnTo>
                    <a:pt x="1009" y="891"/>
                  </a:lnTo>
                  <a:lnTo>
                    <a:pt x="1018" y="891"/>
                  </a:lnTo>
                  <a:lnTo>
                    <a:pt x="1029" y="893"/>
                  </a:lnTo>
                  <a:lnTo>
                    <a:pt x="1042" y="896"/>
                  </a:lnTo>
                  <a:lnTo>
                    <a:pt x="1051" y="899"/>
                  </a:lnTo>
                  <a:lnTo>
                    <a:pt x="1058" y="898"/>
                  </a:lnTo>
                  <a:lnTo>
                    <a:pt x="1059" y="892"/>
                  </a:lnTo>
                  <a:lnTo>
                    <a:pt x="1052" y="878"/>
                  </a:lnTo>
                  <a:lnTo>
                    <a:pt x="1041" y="862"/>
                  </a:lnTo>
                  <a:lnTo>
                    <a:pt x="1030" y="848"/>
                  </a:lnTo>
                  <a:lnTo>
                    <a:pt x="1021" y="838"/>
                  </a:lnTo>
                  <a:lnTo>
                    <a:pt x="1014" y="830"/>
                  </a:lnTo>
                  <a:lnTo>
                    <a:pt x="1010" y="823"/>
                  </a:lnTo>
                  <a:lnTo>
                    <a:pt x="1009" y="818"/>
                  </a:lnTo>
                  <a:lnTo>
                    <a:pt x="1013" y="815"/>
                  </a:lnTo>
                  <a:lnTo>
                    <a:pt x="1021" y="812"/>
                  </a:lnTo>
                  <a:lnTo>
                    <a:pt x="1033" y="808"/>
                  </a:lnTo>
                  <a:lnTo>
                    <a:pt x="1043" y="801"/>
                  </a:lnTo>
                  <a:lnTo>
                    <a:pt x="1051" y="790"/>
                  </a:lnTo>
                  <a:lnTo>
                    <a:pt x="1059" y="780"/>
                  </a:lnTo>
                  <a:lnTo>
                    <a:pt x="1064" y="767"/>
                  </a:lnTo>
                  <a:lnTo>
                    <a:pt x="1067" y="756"/>
                  </a:lnTo>
                  <a:lnTo>
                    <a:pt x="1067" y="744"/>
                  </a:lnTo>
                  <a:lnTo>
                    <a:pt x="1064" y="734"/>
                  </a:lnTo>
                  <a:lnTo>
                    <a:pt x="1062" y="725"/>
                  </a:lnTo>
                  <a:lnTo>
                    <a:pt x="1063" y="716"/>
                  </a:lnTo>
                  <a:lnTo>
                    <a:pt x="1066" y="706"/>
                  </a:lnTo>
                  <a:lnTo>
                    <a:pt x="1071" y="698"/>
                  </a:lnTo>
                  <a:lnTo>
                    <a:pt x="1074" y="689"/>
                  </a:lnTo>
                  <a:lnTo>
                    <a:pt x="1075" y="680"/>
                  </a:lnTo>
                  <a:lnTo>
                    <a:pt x="1072" y="672"/>
                  </a:lnTo>
                  <a:lnTo>
                    <a:pt x="1064" y="663"/>
                  </a:lnTo>
                  <a:lnTo>
                    <a:pt x="1056" y="655"/>
                  </a:lnTo>
                  <a:lnTo>
                    <a:pt x="1051" y="646"/>
                  </a:lnTo>
                  <a:lnTo>
                    <a:pt x="1051" y="640"/>
                  </a:lnTo>
                  <a:lnTo>
                    <a:pt x="1052" y="632"/>
                  </a:lnTo>
                  <a:lnTo>
                    <a:pt x="1054" y="625"/>
                  </a:lnTo>
                  <a:lnTo>
                    <a:pt x="1055" y="618"/>
                  </a:lnTo>
                  <a:lnTo>
                    <a:pt x="1052" y="610"/>
                  </a:lnTo>
                  <a:lnTo>
                    <a:pt x="1045" y="602"/>
                  </a:lnTo>
                  <a:lnTo>
                    <a:pt x="1034" y="592"/>
                  </a:lnTo>
                  <a:lnTo>
                    <a:pt x="1020" y="582"/>
                  </a:lnTo>
                  <a:lnTo>
                    <a:pt x="1005" y="570"/>
                  </a:lnTo>
                  <a:lnTo>
                    <a:pt x="990" y="559"/>
                  </a:lnTo>
                  <a:lnTo>
                    <a:pt x="980" y="547"/>
                  </a:lnTo>
                  <a:lnTo>
                    <a:pt x="974" y="535"/>
                  </a:lnTo>
                  <a:lnTo>
                    <a:pt x="975" y="523"/>
                  </a:lnTo>
                  <a:lnTo>
                    <a:pt x="986" y="512"/>
                  </a:lnTo>
                  <a:lnTo>
                    <a:pt x="998" y="501"/>
                  </a:lnTo>
                  <a:lnTo>
                    <a:pt x="1006" y="491"/>
                  </a:lnTo>
                  <a:lnTo>
                    <a:pt x="1010" y="482"/>
                  </a:lnTo>
                  <a:lnTo>
                    <a:pt x="1010" y="474"/>
                  </a:lnTo>
                  <a:lnTo>
                    <a:pt x="1006" y="468"/>
                  </a:lnTo>
                  <a:lnTo>
                    <a:pt x="999" y="463"/>
                  </a:lnTo>
                  <a:lnTo>
                    <a:pt x="990" y="460"/>
                  </a:lnTo>
                  <a:lnTo>
                    <a:pt x="979" y="459"/>
                  </a:lnTo>
                  <a:lnTo>
                    <a:pt x="969" y="456"/>
                  </a:lnTo>
                  <a:lnTo>
                    <a:pt x="964" y="452"/>
                  </a:lnTo>
                  <a:lnTo>
                    <a:pt x="960" y="444"/>
                  </a:lnTo>
                  <a:lnTo>
                    <a:pt x="958" y="436"/>
                  </a:lnTo>
                  <a:lnTo>
                    <a:pt x="956" y="428"/>
                  </a:lnTo>
                  <a:lnTo>
                    <a:pt x="952" y="421"/>
                  </a:lnTo>
                  <a:lnTo>
                    <a:pt x="946" y="416"/>
                  </a:lnTo>
                  <a:lnTo>
                    <a:pt x="937" y="416"/>
                  </a:lnTo>
                  <a:lnTo>
                    <a:pt x="920" y="405"/>
                  </a:lnTo>
                  <a:lnTo>
                    <a:pt x="913" y="371"/>
                  </a:lnTo>
                  <a:lnTo>
                    <a:pt x="912" y="328"/>
                  </a:lnTo>
                  <a:lnTo>
                    <a:pt x="912" y="290"/>
                  </a:lnTo>
                  <a:lnTo>
                    <a:pt x="914" y="263"/>
                  </a:lnTo>
                  <a:lnTo>
                    <a:pt x="920" y="240"/>
                  </a:lnTo>
                  <a:lnTo>
                    <a:pt x="922" y="219"/>
                  </a:lnTo>
                  <a:lnTo>
                    <a:pt x="919" y="195"/>
                  </a:lnTo>
                  <a:lnTo>
                    <a:pt x="917" y="173"/>
                  </a:lnTo>
                  <a:lnTo>
                    <a:pt x="924" y="146"/>
                  </a:lnTo>
                  <a:lnTo>
                    <a:pt x="934" y="120"/>
                  </a:lnTo>
                  <a:lnTo>
                    <a:pt x="939" y="95"/>
                  </a:lnTo>
                  <a:lnTo>
                    <a:pt x="939" y="84"/>
                  </a:lnTo>
                  <a:lnTo>
                    <a:pt x="937" y="75"/>
                  </a:lnTo>
                  <a:lnTo>
                    <a:pt x="932" y="68"/>
                  </a:lnTo>
                  <a:lnTo>
                    <a:pt x="924" y="62"/>
                  </a:lnTo>
                  <a:lnTo>
                    <a:pt x="917" y="60"/>
                  </a:lnTo>
                  <a:lnTo>
                    <a:pt x="911" y="59"/>
                  </a:lnTo>
                  <a:lnTo>
                    <a:pt x="904" y="59"/>
                  </a:lnTo>
                  <a:lnTo>
                    <a:pt x="898" y="59"/>
                  </a:lnTo>
                  <a:lnTo>
                    <a:pt x="889" y="62"/>
                  </a:lnTo>
                  <a:lnTo>
                    <a:pt x="879" y="68"/>
                  </a:lnTo>
                  <a:lnTo>
                    <a:pt x="871" y="76"/>
                  </a:lnTo>
                  <a:lnTo>
                    <a:pt x="863" y="84"/>
                  </a:lnTo>
                  <a:lnTo>
                    <a:pt x="856" y="93"/>
                  </a:lnTo>
                  <a:lnTo>
                    <a:pt x="851" y="104"/>
                  </a:lnTo>
                  <a:lnTo>
                    <a:pt x="845" y="113"/>
                  </a:lnTo>
                  <a:lnTo>
                    <a:pt x="839" y="122"/>
                  </a:lnTo>
                  <a:lnTo>
                    <a:pt x="832" y="133"/>
                  </a:lnTo>
                  <a:lnTo>
                    <a:pt x="826" y="140"/>
                  </a:lnTo>
                  <a:lnTo>
                    <a:pt x="821" y="143"/>
                  </a:lnTo>
                  <a:lnTo>
                    <a:pt x="816" y="144"/>
                  </a:lnTo>
                  <a:lnTo>
                    <a:pt x="813" y="143"/>
                  </a:lnTo>
                  <a:lnTo>
                    <a:pt x="809" y="140"/>
                  </a:lnTo>
                  <a:lnTo>
                    <a:pt x="806" y="133"/>
                  </a:lnTo>
                  <a:lnTo>
                    <a:pt x="803" y="122"/>
                  </a:lnTo>
                  <a:lnTo>
                    <a:pt x="800" y="114"/>
                  </a:lnTo>
                  <a:lnTo>
                    <a:pt x="795" y="110"/>
                  </a:lnTo>
                  <a:lnTo>
                    <a:pt x="790" y="111"/>
                  </a:lnTo>
                  <a:lnTo>
                    <a:pt x="783" y="114"/>
                  </a:lnTo>
                  <a:lnTo>
                    <a:pt x="776" y="120"/>
                  </a:lnTo>
                  <a:lnTo>
                    <a:pt x="769" y="128"/>
                  </a:lnTo>
                  <a:lnTo>
                    <a:pt x="761" y="137"/>
                  </a:lnTo>
                  <a:lnTo>
                    <a:pt x="754" y="146"/>
                  </a:lnTo>
                  <a:lnTo>
                    <a:pt x="750" y="151"/>
                  </a:lnTo>
                  <a:lnTo>
                    <a:pt x="750" y="149"/>
                  </a:lnTo>
                  <a:lnTo>
                    <a:pt x="753" y="142"/>
                  </a:lnTo>
                  <a:lnTo>
                    <a:pt x="755" y="133"/>
                  </a:lnTo>
                  <a:lnTo>
                    <a:pt x="754" y="121"/>
                  </a:lnTo>
                  <a:lnTo>
                    <a:pt x="749" y="112"/>
                  </a:lnTo>
                  <a:lnTo>
                    <a:pt x="738" y="106"/>
                  </a:lnTo>
                  <a:lnTo>
                    <a:pt x="718" y="105"/>
                  </a:lnTo>
                  <a:close/>
                </a:path>
              </a:pathLst>
            </a:custGeom>
            <a:grpFill/>
            <a:ln w="9525">
              <a:solidFill>
                <a:schemeClr val="bg2">
                  <a:lumMod val="50000"/>
                </a:schemeClr>
              </a:solidFill>
              <a:round/>
              <a:headEnd/>
              <a:tailEnd/>
            </a:ln>
          </p:spPr>
          <p:txBody>
            <a:bodyPr/>
            <a:lstStyle/>
            <a:p>
              <a:endParaRPr lang="en-US" dirty="0"/>
            </a:p>
          </p:txBody>
        </p:sp>
        <p:sp>
          <p:nvSpPr>
            <p:cNvPr id="140" name="Freeform 426"/>
            <p:cNvSpPr>
              <a:spLocks/>
            </p:cNvSpPr>
            <p:nvPr/>
          </p:nvSpPr>
          <p:spPr bwMode="gray">
            <a:xfrm>
              <a:off x="2618728" y="2051574"/>
              <a:ext cx="34773" cy="29467"/>
            </a:xfrm>
            <a:custGeom>
              <a:avLst/>
              <a:gdLst>
                <a:gd name="T0" fmla="*/ 2147483647 w 40"/>
                <a:gd name="T1" fmla="*/ 2147483647 h 36"/>
                <a:gd name="T2" fmla="*/ 2147483647 w 40"/>
                <a:gd name="T3" fmla="*/ 2147483647 h 36"/>
                <a:gd name="T4" fmla="*/ 2147483647 w 40"/>
                <a:gd name="T5" fmla="*/ 2147483647 h 36"/>
                <a:gd name="T6" fmla="*/ 2147483647 w 40"/>
                <a:gd name="T7" fmla="*/ 2147483647 h 36"/>
                <a:gd name="T8" fmla="*/ 2147483647 w 40"/>
                <a:gd name="T9" fmla="*/ 2147483647 h 36"/>
                <a:gd name="T10" fmla="*/ 2147483647 w 40"/>
                <a:gd name="T11" fmla="*/ 2147483647 h 36"/>
                <a:gd name="T12" fmla="*/ 2147483647 w 40"/>
                <a:gd name="T13" fmla="*/ 2147483647 h 36"/>
                <a:gd name="T14" fmla="*/ 2147483647 w 40"/>
                <a:gd name="T15" fmla="*/ 2147483647 h 36"/>
                <a:gd name="T16" fmla="*/ 2147483647 w 40"/>
                <a:gd name="T17" fmla="*/ 2147483647 h 36"/>
                <a:gd name="T18" fmla="*/ 2147483647 w 40"/>
                <a:gd name="T19" fmla="*/ 2147483647 h 36"/>
                <a:gd name="T20" fmla="*/ 2147483647 w 40"/>
                <a:gd name="T21" fmla="*/ 2147483647 h 36"/>
                <a:gd name="T22" fmla="*/ 2147483647 w 40"/>
                <a:gd name="T23" fmla="*/ 2147483647 h 36"/>
                <a:gd name="T24" fmla="*/ 2147483647 w 40"/>
                <a:gd name="T25" fmla="*/ 2147483647 h 36"/>
                <a:gd name="T26" fmla="*/ 2147483647 w 40"/>
                <a:gd name="T27" fmla="*/ 2147483647 h 36"/>
                <a:gd name="T28" fmla="*/ 0 w 40"/>
                <a:gd name="T29" fmla="*/ 2147483647 h 36"/>
                <a:gd name="T30" fmla="*/ 2147483647 w 40"/>
                <a:gd name="T31" fmla="*/ 2147483647 h 36"/>
                <a:gd name="T32" fmla="*/ 2147483647 w 40"/>
                <a:gd name="T33" fmla="*/ 2147483647 h 36"/>
                <a:gd name="T34" fmla="*/ 2147483647 w 40"/>
                <a:gd name="T35" fmla="*/ 2147483647 h 36"/>
                <a:gd name="T36" fmla="*/ 2147483647 w 40"/>
                <a:gd name="T37" fmla="*/ 2147483647 h 36"/>
                <a:gd name="T38" fmla="*/ 2147483647 w 40"/>
                <a:gd name="T39" fmla="*/ 0 h 36"/>
                <a:gd name="T40" fmla="*/ 2147483647 w 40"/>
                <a:gd name="T41" fmla="*/ 2147483647 h 36"/>
                <a:gd name="T42" fmla="*/ 2147483647 w 40"/>
                <a:gd name="T43" fmla="*/ 2147483647 h 36"/>
                <a:gd name="T44" fmla="*/ 2147483647 w 40"/>
                <a:gd name="T45" fmla="*/ 2147483647 h 36"/>
                <a:gd name="T46" fmla="*/ 2147483647 w 40"/>
                <a:gd name="T47" fmla="*/ 2147483647 h 36"/>
                <a:gd name="T48" fmla="*/ 2147483647 w 40"/>
                <a:gd name="T49" fmla="*/ 2147483647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0" h="36">
                  <a:moveTo>
                    <a:pt x="39" y="19"/>
                  </a:moveTo>
                  <a:lnTo>
                    <a:pt x="38" y="21"/>
                  </a:lnTo>
                  <a:lnTo>
                    <a:pt x="35" y="25"/>
                  </a:lnTo>
                  <a:lnTo>
                    <a:pt x="31" y="29"/>
                  </a:lnTo>
                  <a:lnTo>
                    <a:pt x="27" y="33"/>
                  </a:lnTo>
                  <a:lnTo>
                    <a:pt x="23" y="35"/>
                  </a:lnTo>
                  <a:lnTo>
                    <a:pt x="18" y="36"/>
                  </a:lnTo>
                  <a:lnTo>
                    <a:pt x="13" y="36"/>
                  </a:lnTo>
                  <a:lnTo>
                    <a:pt x="12" y="36"/>
                  </a:lnTo>
                  <a:lnTo>
                    <a:pt x="11" y="35"/>
                  </a:lnTo>
                  <a:lnTo>
                    <a:pt x="10" y="33"/>
                  </a:lnTo>
                  <a:lnTo>
                    <a:pt x="8" y="31"/>
                  </a:lnTo>
                  <a:lnTo>
                    <a:pt x="4" y="27"/>
                  </a:lnTo>
                  <a:lnTo>
                    <a:pt x="1" y="24"/>
                  </a:lnTo>
                  <a:lnTo>
                    <a:pt x="0" y="19"/>
                  </a:lnTo>
                  <a:lnTo>
                    <a:pt x="1" y="16"/>
                  </a:lnTo>
                  <a:lnTo>
                    <a:pt x="7" y="11"/>
                  </a:lnTo>
                  <a:lnTo>
                    <a:pt x="12" y="6"/>
                  </a:lnTo>
                  <a:lnTo>
                    <a:pt x="16" y="2"/>
                  </a:lnTo>
                  <a:lnTo>
                    <a:pt x="19" y="0"/>
                  </a:lnTo>
                  <a:lnTo>
                    <a:pt x="24" y="1"/>
                  </a:lnTo>
                  <a:lnTo>
                    <a:pt x="31" y="3"/>
                  </a:lnTo>
                  <a:lnTo>
                    <a:pt x="37" y="6"/>
                  </a:lnTo>
                  <a:lnTo>
                    <a:pt x="40" y="11"/>
                  </a:lnTo>
                  <a:lnTo>
                    <a:pt x="39" y="19"/>
                  </a:lnTo>
                  <a:close/>
                </a:path>
              </a:pathLst>
            </a:custGeom>
            <a:grpFill/>
            <a:ln w="9525">
              <a:solidFill>
                <a:schemeClr val="bg2">
                  <a:lumMod val="50000"/>
                </a:schemeClr>
              </a:solidFill>
              <a:round/>
              <a:headEnd/>
              <a:tailEnd/>
            </a:ln>
          </p:spPr>
          <p:txBody>
            <a:bodyPr/>
            <a:lstStyle/>
            <a:p>
              <a:endParaRPr lang="en-US" dirty="0"/>
            </a:p>
          </p:txBody>
        </p:sp>
        <p:sp>
          <p:nvSpPr>
            <p:cNvPr id="141" name="Freeform 427"/>
            <p:cNvSpPr>
              <a:spLocks/>
            </p:cNvSpPr>
            <p:nvPr/>
          </p:nvSpPr>
          <p:spPr bwMode="gray">
            <a:xfrm>
              <a:off x="2915632" y="2289865"/>
              <a:ext cx="0" cy="3843"/>
            </a:xfrm>
            <a:custGeom>
              <a:avLst/>
              <a:gdLst>
                <a:gd name="T0" fmla="*/ 1 w 1"/>
                <a:gd name="T1" fmla="*/ 2147483647 h 4"/>
                <a:gd name="T2" fmla="*/ 1 w 1"/>
                <a:gd name="T3" fmla="*/ 2147483647 h 4"/>
                <a:gd name="T4" fmla="*/ 1 w 1"/>
                <a:gd name="T5" fmla="*/ 2147483647 h 4"/>
                <a:gd name="T6" fmla="*/ 0 w 1"/>
                <a:gd name="T7" fmla="*/ 0 h 4"/>
                <a:gd name="T8" fmla="*/ 0 w 1"/>
                <a:gd name="T9" fmla="*/ 0 h 4"/>
                <a:gd name="T10" fmla="*/ 1 w 1"/>
                <a:gd name="T11" fmla="*/ 2147483647 h 4"/>
                <a:gd name="T12" fmla="*/ 1 w 1"/>
                <a:gd name="T13" fmla="*/ 2147483647 h 4"/>
                <a:gd name="T14" fmla="*/ 1 w 1"/>
                <a:gd name="T15" fmla="*/ 2147483647 h 4"/>
                <a:gd name="T16" fmla="*/ 1 w 1"/>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 h="4">
                  <a:moveTo>
                    <a:pt x="1" y="2"/>
                  </a:moveTo>
                  <a:lnTo>
                    <a:pt x="1" y="1"/>
                  </a:lnTo>
                  <a:lnTo>
                    <a:pt x="0" y="0"/>
                  </a:lnTo>
                  <a:lnTo>
                    <a:pt x="1" y="2"/>
                  </a:lnTo>
                  <a:lnTo>
                    <a:pt x="1" y="4"/>
                  </a:lnTo>
                  <a:lnTo>
                    <a:pt x="1" y="2"/>
                  </a:lnTo>
                  <a:close/>
                </a:path>
              </a:pathLst>
            </a:custGeom>
            <a:grpFill/>
            <a:ln w="9525">
              <a:solidFill>
                <a:schemeClr val="bg2">
                  <a:lumMod val="50000"/>
                </a:schemeClr>
              </a:solidFill>
              <a:round/>
              <a:headEnd/>
              <a:tailEnd/>
            </a:ln>
          </p:spPr>
          <p:txBody>
            <a:bodyPr/>
            <a:lstStyle/>
            <a:p>
              <a:endParaRPr lang="en-US" dirty="0"/>
            </a:p>
          </p:txBody>
        </p:sp>
        <p:sp>
          <p:nvSpPr>
            <p:cNvPr id="142" name="Freeform 428"/>
            <p:cNvSpPr>
              <a:spLocks/>
            </p:cNvSpPr>
            <p:nvPr/>
          </p:nvSpPr>
          <p:spPr bwMode="gray">
            <a:xfrm>
              <a:off x="3216549" y="2316769"/>
              <a:ext cx="2675" cy="5125"/>
            </a:xfrm>
            <a:custGeom>
              <a:avLst/>
              <a:gdLst>
                <a:gd name="T0" fmla="*/ 2147483647 w 5"/>
                <a:gd name="T1" fmla="*/ 2147483647 h 8"/>
                <a:gd name="T2" fmla="*/ 2147483647 w 5"/>
                <a:gd name="T3" fmla="*/ 2147483647 h 8"/>
                <a:gd name="T4" fmla="*/ 2147483647 w 5"/>
                <a:gd name="T5" fmla="*/ 2147483647 h 8"/>
                <a:gd name="T6" fmla="*/ 2147483647 w 5"/>
                <a:gd name="T7" fmla="*/ 2147483647 h 8"/>
                <a:gd name="T8" fmla="*/ 2147483647 w 5"/>
                <a:gd name="T9" fmla="*/ 0 h 8"/>
                <a:gd name="T10" fmla="*/ 0 w 5"/>
                <a:gd name="T11" fmla="*/ 0 h 8"/>
                <a:gd name="T12" fmla="*/ 0 w 5"/>
                <a:gd name="T13" fmla="*/ 2147483647 h 8"/>
                <a:gd name="T14" fmla="*/ 2147483647 w 5"/>
                <a:gd name="T15" fmla="*/ 2147483647 h 8"/>
                <a:gd name="T16" fmla="*/ 2147483647 w 5"/>
                <a:gd name="T17" fmla="*/ 214748364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8">
                  <a:moveTo>
                    <a:pt x="5" y="8"/>
                  </a:moveTo>
                  <a:lnTo>
                    <a:pt x="5" y="6"/>
                  </a:lnTo>
                  <a:lnTo>
                    <a:pt x="5" y="5"/>
                  </a:lnTo>
                  <a:lnTo>
                    <a:pt x="5" y="2"/>
                  </a:lnTo>
                  <a:lnTo>
                    <a:pt x="3" y="0"/>
                  </a:lnTo>
                  <a:lnTo>
                    <a:pt x="0" y="0"/>
                  </a:lnTo>
                  <a:lnTo>
                    <a:pt x="0" y="1"/>
                  </a:lnTo>
                  <a:lnTo>
                    <a:pt x="2" y="5"/>
                  </a:lnTo>
                  <a:lnTo>
                    <a:pt x="5" y="8"/>
                  </a:lnTo>
                  <a:close/>
                </a:path>
              </a:pathLst>
            </a:custGeom>
            <a:grpFill/>
            <a:ln w="9525">
              <a:solidFill>
                <a:schemeClr val="bg2">
                  <a:lumMod val="50000"/>
                </a:schemeClr>
              </a:solidFill>
              <a:round/>
              <a:headEnd/>
              <a:tailEnd/>
            </a:ln>
          </p:spPr>
          <p:txBody>
            <a:bodyPr/>
            <a:lstStyle/>
            <a:p>
              <a:endParaRPr lang="en-US" dirty="0"/>
            </a:p>
          </p:txBody>
        </p:sp>
        <p:sp>
          <p:nvSpPr>
            <p:cNvPr id="143" name="Freeform 429"/>
            <p:cNvSpPr>
              <a:spLocks/>
            </p:cNvSpPr>
            <p:nvPr/>
          </p:nvSpPr>
          <p:spPr bwMode="gray">
            <a:xfrm>
              <a:off x="2920982" y="1979830"/>
              <a:ext cx="12036" cy="11530"/>
            </a:xfrm>
            <a:custGeom>
              <a:avLst/>
              <a:gdLst>
                <a:gd name="T0" fmla="*/ 2147483647 w 14"/>
                <a:gd name="T1" fmla="*/ 2147483647 h 15"/>
                <a:gd name="T2" fmla="*/ 2147483647 w 14"/>
                <a:gd name="T3" fmla="*/ 2147483647 h 15"/>
                <a:gd name="T4" fmla="*/ 2147483647 w 14"/>
                <a:gd name="T5" fmla="*/ 2147483647 h 15"/>
                <a:gd name="T6" fmla="*/ 2147483647 w 14"/>
                <a:gd name="T7" fmla="*/ 2147483647 h 15"/>
                <a:gd name="T8" fmla="*/ 2147483647 w 14"/>
                <a:gd name="T9" fmla="*/ 2147483647 h 15"/>
                <a:gd name="T10" fmla="*/ 2147483647 w 14"/>
                <a:gd name="T11" fmla="*/ 2147483647 h 15"/>
                <a:gd name="T12" fmla="*/ 2147483647 w 14"/>
                <a:gd name="T13" fmla="*/ 2147483647 h 15"/>
                <a:gd name="T14" fmla="*/ 2147483647 w 14"/>
                <a:gd name="T15" fmla="*/ 2147483647 h 15"/>
                <a:gd name="T16" fmla="*/ 2147483647 w 14"/>
                <a:gd name="T17" fmla="*/ 0 h 15"/>
                <a:gd name="T18" fmla="*/ 2147483647 w 14"/>
                <a:gd name="T19" fmla="*/ 2147483647 h 15"/>
                <a:gd name="T20" fmla="*/ 2147483647 w 14"/>
                <a:gd name="T21" fmla="*/ 2147483647 h 15"/>
                <a:gd name="T22" fmla="*/ 2147483647 w 14"/>
                <a:gd name="T23" fmla="*/ 2147483647 h 15"/>
                <a:gd name="T24" fmla="*/ 0 w 14"/>
                <a:gd name="T25" fmla="*/ 2147483647 h 15"/>
                <a:gd name="T26" fmla="*/ 2147483647 w 14"/>
                <a:gd name="T27" fmla="*/ 2147483647 h 15"/>
                <a:gd name="T28" fmla="*/ 2147483647 w 14"/>
                <a:gd name="T29" fmla="*/ 2147483647 h 15"/>
                <a:gd name="T30" fmla="*/ 2147483647 w 14"/>
                <a:gd name="T31" fmla="*/ 2147483647 h 15"/>
                <a:gd name="T32" fmla="*/ 2147483647 w 14"/>
                <a:gd name="T33" fmla="*/ 2147483647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15">
                  <a:moveTo>
                    <a:pt x="2" y="7"/>
                  </a:moveTo>
                  <a:lnTo>
                    <a:pt x="9" y="13"/>
                  </a:lnTo>
                  <a:lnTo>
                    <a:pt x="14" y="15"/>
                  </a:lnTo>
                  <a:lnTo>
                    <a:pt x="14" y="14"/>
                  </a:lnTo>
                  <a:lnTo>
                    <a:pt x="10" y="7"/>
                  </a:lnTo>
                  <a:lnTo>
                    <a:pt x="9" y="5"/>
                  </a:lnTo>
                  <a:lnTo>
                    <a:pt x="9" y="3"/>
                  </a:lnTo>
                  <a:lnTo>
                    <a:pt x="8" y="1"/>
                  </a:lnTo>
                  <a:lnTo>
                    <a:pt x="7" y="0"/>
                  </a:lnTo>
                  <a:lnTo>
                    <a:pt x="6" y="1"/>
                  </a:lnTo>
                  <a:lnTo>
                    <a:pt x="3" y="2"/>
                  </a:lnTo>
                  <a:lnTo>
                    <a:pt x="2" y="3"/>
                  </a:lnTo>
                  <a:lnTo>
                    <a:pt x="0" y="5"/>
                  </a:lnTo>
                  <a:lnTo>
                    <a:pt x="1" y="6"/>
                  </a:lnTo>
                  <a:lnTo>
                    <a:pt x="2" y="7"/>
                  </a:lnTo>
                  <a:close/>
                </a:path>
              </a:pathLst>
            </a:custGeom>
            <a:grpFill/>
            <a:ln w="9525">
              <a:solidFill>
                <a:schemeClr val="bg2">
                  <a:lumMod val="50000"/>
                </a:schemeClr>
              </a:solidFill>
              <a:round/>
              <a:headEnd/>
              <a:tailEnd/>
            </a:ln>
          </p:spPr>
          <p:txBody>
            <a:bodyPr/>
            <a:lstStyle/>
            <a:p>
              <a:endParaRPr lang="en-US" dirty="0"/>
            </a:p>
          </p:txBody>
        </p:sp>
        <p:sp>
          <p:nvSpPr>
            <p:cNvPr id="144" name="Freeform 430"/>
            <p:cNvSpPr>
              <a:spLocks/>
            </p:cNvSpPr>
            <p:nvPr/>
          </p:nvSpPr>
          <p:spPr bwMode="gray">
            <a:xfrm>
              <a:off x="3078797" y="2357765"/>
              <a:ext cx="121704" cy="97366"/>
            </a:xfrm>
            <a:custGeom>
              <a:avLst/>
              <a:gdLst>
                <a:gd name="T0" fmla="*/ 2147483647 w 135"/>
                <a:gd name="T1" fmla="*/ 2147483647 h 119"/>
                <a:gd name="T2" fmla="*/ 2147483647 w 135"/>
                <a:gd name="T3" fmla="*/ 2147483647 h 119"/>
                <a:gd name="T4" fmla="*/ 2147483647 w 135"/>
                <a:gd name="T5" fmla="*/ 2147483647 h 119"/>
                <a:gd name="T6" fmla="*/ 2147483647 w 135"/>
                <a:gd name="T7" fmla="*/ 2147483647 h 119"/>
                <a:gd name="T8" fmla="*/ 2147483647 w 135"/>
                <a:gd name="T9" fmla="*/ 2147483647 h 119"/>
                <a:gd name="T10" fmla="*/ 2147483647 w 135"/>
                <a:gd name="T11" fmla="*/ 2147483647 h 119"/>
                <a:gd name="T12" fmla="*/ 2147483647 w 135"/>
                <a:gd name="T13" fmla="*/ 2147483647 h 119"/>
                <a:gd name="T14" fmla="*/ 2147483647 w 135"/>
                <a:gd name="T15" fmla="*/ 2147483647 h 119"/>
                <a:gd name="T16" fmla="*/ 2147483647 w 135"/>
                <a:gd name="T17" fmla="*/ 2147483647 h 119"/>
                <a:gd name="T18" fmla="*/ 2147483647 w 135"/>
                <a:gd name="T19" fmla="*/ 2147483647 h 119"/>
                <a:gd name="T20" fmla="*/ 2147483647 w 135"/>
                <a:gd name="T21" fmla="*/ 2147483647 h 119"/>
                <a:gd name="T22" fmla="*/ 2147483647 w 135"/>
                <a:gd name="T23" fmla="*/ 2147483647 h 119"/>
                <a:gd name="T24" fmla="*/ 2147483647 w 135"/>
                <a:gd name="T25" fmla="*/ 2147483647 h 119"/>
                <a:gd name="T26" fmla="*/ 2147483647 w 135"/>
                <a:gd name="T27" fmla="*/ 2147483647 h 119"/>
                <a:gd name="T28" fmla="*/ 2147483647 w 135"/>
                <a:gd name="T29" fmla="*/ 2147483647 h 119"/>
                <a:gd name="T30" fmla="*/ 2147483647 w 135"/>
                <a:gd name="T31" fmla="*/ 2147483647 h 119"/>
                <a:gd name="T32" fmla="*/ 2147483647 w 135"/>
                <a:gd name="T33" fmla="*/ 2147483647 h 119"/>
                <a:gd name="T34" fmla="*/ 2147483647 w 135"/>
                <a:gd name="T35" fmla="*/ 2147483647 h 119"/>
                <a:gd name="T36" fmla="*/ 2147483647 w 135"/>
                <a:gd name="T37" fmla="*/ 2147483647 h 119"/>
                <a:gd name="T38" fmla="*/ 2147483647 w 135"/>
                <a:gd name="T39" fmla="*/ 2147483647 h 119"/>
                <a:gd name="T40" fmla="*/ 2147483647 w 135"/>
                <a:gd name="T41" fmla="*/ 2147483647 h 119"/>
                <a:gd name="T42" fmla="*/ 2147483647 w 135"/>
                <a:gd name="T43" fmla="*/ 2147483647 h 119"/>
                <a:gd name="T44" fmla="*/ 2147483647 w 135"/>
                <a:gd name="T45" fmla="*/ 2147483647 h 119"/>
                <a:gd name="T46" fmla="*/ 2147483647 w 135"/>
                <a:gd name="T47" fmla="*/ 2147483647 h 119"/>
                <a:gd name="T48" fmla="*/ 2147483647 w 135"/>
                <a:gd name="T49" fmla="*/ 2147483647 h 119"/>
                <a:gd name="T50" fmla="*/ 2147483647 w 135"/>
                <a:gd name="T51" fmla="*/ 2147483647 h 119"/>
                <a:gd name="T52" fmla="*/ 2147483647 w 135"/>
                <a:gd name="T53" fmla="*/ 2147483647 h 119"/>
                <a:gd name="T54" fmla="*/ 2147483647 w 135"/>
                <a:gd name="T55" fmla="*/ 2147483647 h 119"/>
                <a:gd name="T56" fmla="*/ 2147483647 w 135"/>
                <a:gd name="T57" fmla="*/ 2147483647 h 119"/>
                <a:gd name="T58" fmla="*/ 2147483647 w 135"/>
                <a:gd name="T59" fmla="*/ 2147483647 h 119"/>
                <a:gd name="T60" fmla="*/ 2147483647 w 135"/>
                <a:gd name="T61" fmla="*/ 2147483647 h 119"/>
                <a:gd name="T62" fmla="*/ 2147483647 w 135"/>
                <a:gd name="T63" fmla="*/ 2147483647 h 119"/>
                <a:gd name="T64" fmla="*/ 2147483647 w 135"/>
                <a:gd name="T65" fmla="*/ 2147483647 h 119"/>
                <a:gd name="T66" fmla="*/ 2147483647 w 135"/>
                <a:gd name="T67" fmla="*/ 2147483647 h 119"/>
                <a:gd name="T68" fmla="*/ 2147483647 w 135"/>
                <a:gd name="T69" fmla="*/ 2147483647 h 119"/>
                <a:gd name="T70" fmla="*/ 2147483647 w 135"/>
                <a:gd name="T71" fmla="*/ 2147483647 h 119"/>
                <a:gd name="T72" fmla="*/ 2147483647 w 135"/>
                <a:gd name="T73" fmla="*/ 2147483647 h 119"/>
                <a:gd name="T74" fmla="*/ 2147483647 w 135"/>
                <a:gd name="T75" fmla="*/ 2147483647 h 119"/>
                <a:gd name="T76" fmla="*/ 2147483647 w 135"/>
                <a:gd name="T77" fmla="*/ 2147483647 h 119"/>
                <a:gd name="T78" fmla="*/ 2147483647 w 135"/>
                <a:gd name="T79" fmla="*/ 2147483647 h 119"/>
                <a:gd name="T80" fmla="*/ 2147483647 w 135"/>
                <a:gd name="T81" fmla="*/ 2147483647 h 1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35" h="119">
                  <a:moveTo>
                    <a:pt x="122" y="59"/>
                  </a:moveTo>
                  <a:lnTo>
                    <a:pt x="124" y="60"/>
                  </a:lnTo>
                  <a:lnTo>
                    <a:pt x="130" y="62"/>
                  </a:lnTo>
                  <a:lnTo>
                    <a:pt x="135" y="67"/>
                  </a:lnTo>
                  <a:lnTo>
                    <a:pt x="133" y="71"/>
                  </a:lnTo>
                  <a:lnTo>
                    <a:pt x="129" y="76"/>
                  </a:lnTo>
                  <a:lnTo>
                    <a:pt x="126" y="78"/>
                  </a:lnTo>
                  <a:lnTo>
                    <a:pt x="124" y="81"/>
                  </a:lnTo>
                  <a:lnTo>
                    <a:pt x="121" y="83"/>
                  </a:lnTo>
                  <a:lnTo>
                    <a:pt x="118" y="83"/>
                  </a:lnTo>
                  <a:lnTo>
                    <a:pt x="116" y="83"/>
                  </a:lnTo>
                  <a:lnTo>
                    <a:pt x="114" y="82"/>
                  </a:lnTo>
                  <a:lnTo>
                    <a:pt x="108" y="79"/>
                  </a:lnTo>
                  <a:lnTo>
                    <a:pt x="101" y="77"/>
                  </a:lnTo>
                  <a:lnTo>
                    <a:pt x="95" y="75"/>
                  </a:lnTo>
                  <a:lnTo>
                    <a:pt x="91" y="74"/>
                  </a:lnTo>
                  <a:lnTo>
                    <a:pt x="86" y="71"/>
                  </a:lnTo>
                  <a:lnTo>
                    <a:pt x="82" y="68"/>
                  </a:lnTo>
                  <a:lnTo>
                    <a:pt x="77" y="66"/>
                  </a:lnTo>
                  <a:lnTo>
                    <a:pt x="72" y="66"/>
                  </a:lnTo>
                  <a:lnTo>
                    <a:pt x="70" y="70"/>
                  </a:lnTo>
                  <a:lnTo>
                    <a:pt x="71" y="78"/>
                  </a:lnTo>
                  <a:lnTo>
                    <a:pt x="72" y="85"/>
                  </a:lnTo>
                  <a:lnTo>
                    <a:pt x="72" y="92"/>
                  </a:lnTo>
                  <a:lnTo>
                    <a:pt x="68" y="96"/>
                  </a:lnTo>
                  <a:lnTo>
                    <a:pt x="61" y="99"/>
                  </a:lnTo>
                  <a:lnTo>
                    <a:pt x="58" y="102"/>
                  </a:lnTo>
                  <a:lnTo>
                    <a:pt x="57" y="107"/>
                  </a:lnTo>
                  <a:lnTo>
                    <a:pt x="56" y="111"/>
                  </a:lnTo>
                  <a:lnTo>
                    <a:pt x="53" y="114"/>
                  </a:lnTo>
                  <a:lnTo>
                    <a:pt x="48" y="117"/>
                  </a:lnTo>
                  <a:lnTo>
                    <a:pt x="44" y="119"/>
                  </a:lnTo>
                  <a:lnTo>
                    <a:pt x="40" y="116"/>
                  </a:lnTo>
                  <a:lnTo>
                    <a:pt x="39" y="111"/>
                  </a:lnTo>
                  <a:lnTo>
                    <a:pt x="38" y="105"/>
                  </a:lnTo>
                  <a:lnTo>
                    <a:pt x="34" y="100"/>
                  </a:lnTo>
                  <a:lnTo>
                    <a:pt x="29" y="99"/>
                  </a:lnTo>
                  <a:lnTo>
                    <a:pt x="23" y="99"/>
                  </a:lnTo>
                  <a:lnTo>
                    <a:pt x="20" y="100"/>
                  </a:lnTo>
                  <a:lnTo>
                    <a:pt x="17" y="101"/>
                  </a:lnTo>
                  <a:lnTo>
                    <a:pt x="10" y="104"/>
                  </a:lnTo>
                  <a:lnTo>
                    <a:pt x="3" y="105"/>
                  </a:lnTo>
                  <a:lnTo>
                    <a:pt x="0" y="101"/>
                  </a:lnTo>
                  <a:lnTo>
                    <a:pt x="1" y="97"/>
                  </a:lnTo>
                  <a:lnTo>
                    <a:pt x="4" y="90"/>
                  </a:lnTo>
                  <a:lnTo>
                    <a:pt x="9" y="84"/>
                  </a:lnTo>
                  <a:lnTo>
                    <a:pt x="12" y="82"/>
                  </a:lnTo>
                  <a:lnTo>
                    <a:pt x="16" y="79"/>
                  </a:lnTo>
                  <a:lnTo>
                    <a:pt x="16" y="75"/>
                  </a:lnTo>
                  <a:lnTo>
                    <a:pt x="14" y="68"/>
                  </a:lnTo>
                  <a:lnTo>
                    <a:pt x="12" y="61"/>
                  </a:lnTo>
                  <a:lnTo>
                    <a:pt x="11" y="55"/>
                  </a:lnTo>
                  <a:lnTo>
                    <a:pt x="12" y="48"/>
                  </a:lnTo>
                  <a:lnTo>
                    <a:pt x="12" y="44"/>
                  </a:lnTo>
                  <a:lnTo>
                    <a:pt x="10" y="39"/>
                  </a:lnTo>
                  <a:lnTo>
                    <a:pt x="8" y="35"/>
                  </a:lnTo>
                  <a:lnTo>
                    <a:pt x="8" y="26"/>
                  </a:lnTo>
                  <a:lnTo>
                    <a:pt x="8" y="16"/>
                  </a:lnTo>
                  <a:lnTo>
                    <a:pt x="8" y="8"/>
                  </a:lnTo>
                  <a:lnTo>
                    <a:pt x="9" y="2"/>
                  </a:lnTo>
                  <a:lnTo>
                    <a:pt x="12" y="0"/>
                  </a:lnTo>
                  <a:lnTo>
                    <a:pt x="18" y="1"/>
                  </a:lnTo>
                  <a:lnTo>
                    <a:pt x="24" y="3"/>
                  </a:lnTo>
                  <a:lnTo>
                    <a:pt x="27" y="9"/>
                  </a:lnTo>
                  <a:lnTo>
                    <a:pt x="30" y="18"/>
                  </a:lnTo>
                  <a:lnTo>
                    <a:pt x="32" y="26"/>
                  </a:lnTo>
                  <a:lnTo>
                    <a:pt x="33" y="30"/>
                  </a:lnTo>
                  <a:lnTo>
                    <a:pt x="37" y="30"/>
                  </a:lnTo>
                  <a:lnTo>
                    <a:pt x="40" y="28"/>
                  </a:lnTo>
                  <a:lnTo>
                    <a:pt x="44" y="25"/>
                  </a:lnTo>
                  <a:lnTo>
                    <a:pt x="48" y="23"/>
                  </a:lnTo>
                  <a:lnTo>
                    <a:pt x="54" y="23"/>
                  </a:lnTo>
                  <a:lnTo>
                    <a:pt x="61" y="24"/>
                  </a:lnTo>
                  <a:lnTo>
                    <a:pt x="70" y="26"/>
                  </a:lnTo>
                  <a:lnTo>
                    <a:pt x="78" y="30"/>
                  </a:lnTo>
                  <a:lnTo>
                    <a:pt x="85" y="33"/>
                  </a:lnTo>
                  <a:lnTo>
                    <a:pt x="90" y="40"/>
                  </a:lnTo>
                  <a:lnTo>
                    <a:pt x="93" y="48"/>
                  </a:lnTo>
                  <a:lnTo>
                    <a:pt x="98" y="54"/>
                  </a:lnTo>
                  <a:lnTo>
                    <a:pt x="100" y="58"/>
                  </a:lnTo>
                  <a:lnTo>
                    <a:pt x="101" y="59"/>
                  </a:lnTo>
                  <a:lnTo>
                    <a:pt x="122" y="59"/>
                  </a:lnTo>
                  <a:close/>
                </a:path>
              </a:pathLst>
            </a:custGeom>
            <a:grpFill/>
            <a:ln w="9525">
              <a:solidFill>
                <a:schemeClr val="bg2">
                  <a:lumMod val="50000"/>
                </a:schemeClr>
              </a:solidFill>
              <a:round/>
              <a:headEnd/>
              <a:tailEnd/>
            </a:ln>
          </p:spPr>
          <p:txBody>
            <a:bodyPr/>
            <a:lstStyle/>
            <a:p>
              <a:endParaRPr lang="en-US" dirty="0"/>
            </a:p>
          </p:txBody>
        </p:sp>
        <p:sp>
          <p:nvSpPr>
            <p:cNvPr id="145" name="Freeform 431"/>
            <p:cNvSpPr>
              <a:spLocks/>
            </p:cNvSpPr>
            <p:nvPr/>
          </p:nvSpPr>
          <p:spPr bwMode="gray">
            <a:xfrm>
              <a:off x="2981165" y="2065667"/>
              <a:ext cx="504205" cy="322846"/>
            </a:xfrm>
            <a:custGeom>
              <a:avLst/>
              <a:gdLst>
                <a:gd name="T0" fmla="*/ 2147483647 w 556"/>
                <a:gd name="T1" fmla="*/ 2147483647 h 395"/>
                <a:gd name="T2" fmla="*/ 2147483647 w 556"/>
                <a:gd name="T3" fmla="*/ 2147483647 h 395"/>
                <a:gd name="T4" fmla="*/ 2147483647 w 556"/>
                <a:gd name="T5" fmla="*/ 2147483647 h 395"/>
                <a:gd name="T6" fmla="*/ 2147483647 w 556"/>
                <a:gd name="T7" fmla="*/ 2147483647 h 395"/>
                <a:gd name="T8" fmla="*/ 2147483647 w 556"/>
                <a:gd name="T9" fmla="*/ 2147483647 h 395"/>
                <a:gd name="T10" fmla="*/ 2147483647 w 556"/>
                <a:gd name="T11" fmla="*/ 2147483647 h 395"/>
                <a:gd name="T12" fmla="*/ 2147483647 w 556"/>
                <a:gd name="T13" fmla="*/ 2147483647 h 395"/>
                <a:gd name="T14" fmla="*/ 2147483647 w 556"/>
                <a:gd name="T15" fmla="*/ 2147483647 h 395"/>
                <a:gd name="T16" fmla="*/ 2147483647 w 556"/>
                <a:gd name="T17" fmla="*/ 2147483647 h 395"/>
                <a:gd name="T18" fmla="*/ 2147483647 w 556"/>
                <a:gd name="T19" fmla="*/ 2147483647 h 395"/>
                <a:gd name="T20" fmla="*/ 2147483647 w 556"/>
                <a:gd name="T21" fmla="*/ 2147483647 h 395"/>
                <a:gd name="T22" fmla="*/ 2147483647 w 556"/>
                <a:gd name="T23" fmla="*/ 2147483647 h 395"/>
                <a:gd name="T24" fmla="*/ 2147483647 w 556"/>
                <a:gd name="T25" fmla="*/ 2147483647 h 395"/>
                <a:gd name="T26" fmla="*/ 2147483647 w 556"/>
                <a:gd name="T27" fmla="*/ 2147483647 h 395"/>
                <a:gd name="T28" fmla="*/ 2147483647 w 556"/>
                <a:gd name="T29" fmla="*/ 2147483647 h 395"/>
                <a:gd name="T30" fmla="*/ 2147483647 w 556"/>
                <a:gd name="T31" fmla="*/ 2147483647 h 395"/>
                <a:gd name="T32" fmla="*/ 2147483647 w 556"/>
                <a:gd name="T33" fmla="*/ 2147483647 h 395"/>
                <a:gd name="T34" fmla="*/ 2147483647 w 556"/>
                <a:gd name="T35" fmla="*/ 2147483647 h 395"/>
                <a:gd name="T36" fmla="*/ 2147483647 w 556"/>
                <a:gd name="T37" fmla="*/ 2147483647 h 395"/>
                <a:gd name="T38" fmla="*/ 2147483647 w 556"/>
                <a:gd name="T39" fmla="*/ 2147483647 h 395"/>
                <a:gd name="T40" fmla="*/ 2147483647 w 556"/>
                <a:gd name="T41" fmla="*/ 2147483647 h 395"/>
                <a:gd name="T42" fmla="*/ 2147483647 w 556"/>
                <a:gd name="T43" fmla="*/ 2147483647 h 395"/>
                <a:gd name="T44" fmla="*/ 2147483647 w 556"/>
                <a:gd name="T45" fmla="*/ 2147483647 h 395"/>
                <a:gd name="T46" fmla="*/ 2147483647 w 556"/>
                <a:gd name="T47" fmla="*/ 2147483647 h 395"/>
                <a:gd name="T48" fmla="*/ 2147483647 w 556"/>
                <a:gd name="T49" fmla="*/ 2147483647 h 395"/>
                <a:gd name="T50" fmla="*/ 0 w 556"/>
                <a:gd name="T51" fmla="*/ 2147483647 h 395"/>
                <a:gd name="T52" fmla="*/ 2147483647 w 556"/>
                <a:gd name="T53" fmla="*/ 2147483647 h 395"/>
                <a:gd name="T54" fmla="*/ 2147483647 w 556"/>
                <a:gd name="T55" fmla="*/ 2147483647 h 395"/>
                <a:gd name="T56" fmla="*/ 2147483647 w 556"/>
                <a:gd name="T57" fmla="*/ 2147483647 h 395"/>
                <a:gd name="T58" fmla="*/ 2147483647 w 556"/>
                <a:gd name="T59" fmla="*/ 2147483647 h 395"/>
                <a:gd name="T60" fmla="*/ 2147483647 w 556"/>
                <a:gd name="T61" fmla="*/ 2147483647 h 395"/>
                <a:gd name="T62" fmla="*/ 2147483647 w 556"/>
                <a:gd name="T63" fmla="*/ 2147483647 h 395"/>
                <a:gd name="T64" fmla="*/ 2147483647 w 556"/>
                <a:gd name="T65" fmla="*/ 2147483647 h 395"/>
                <a:gd name="T66" fmla="*/ 2147483647 w 556"/>
                <a:gd name="T67" fmla="*/ 2147483647 h 395"/>
                <a:gd name="T68" fmla="*/ 2147483647 w 556"/>
                <a:gd name="T69" fmla="*/ 2147483647 h 395"/>
                <a:gd name="T70" fmla="*/ 2147483647 w 556"/>
                <a:gd name="T71" fmla="*/ 2147483647 h 395"/>
                <a:gd name="T72" fmla="*/ 2147483647 w 556"/>
                <a:gd name="T73" fmla="*/ 2147483647 h 395"/>
                <a:gd name="T74" fmla="*/ 2147483647 w 556"/>
                <a:gd name="T75" fmla="*/ 2147483647 h 395"/>
                <a:gd name="T76" fmla="*/ 2147483647 w 556"/>
                <a:gd name="T77" fmla="*/ 2147483647 h 395"/>
                <a:gd name="T78" fmla="*/ 2147483647 w 556"/>
                <a:gd name="T79" fmla="*/ 2147483647 h 395"/>
                <a:gd name="T80" fmla="*/ 2147483647 w 556"/>
                <a:gd name="T81" fmla="*/ 2147483647 h 395"/>
                <a:gd name="T82" fmla="*/ 2147483647 w 556"/>
                <a:gd name="T83" fmla="*/ 2147483647 h 395"/>
                <a:gd name="T84" fmla="*/ 2147483647 w 556"/>
                <a:gd name="T85" fmla="*/ 2147483647 h 395"/>
                <a:gd name="T86" fmla="*/ 2147483647 w 556"/>
                <a:gd name="T87" fmla="*/ 2147483647 h 395"/>
                <a:gd name="T88" fmla="*/ 2147483647 w 556"/>
                <a:gd name="T89" fmla="*/ 2147483647 h 395"/>
                <a:gd name="T90" fmla="*/ 2147483647 w 556"/>
                <a:gd name="T91" fmla="*/ 2147483647 h 395"/>
                <a:gd name="T92" fmla="*/ 2147483647 w 556"/>
                <a:gd name="T93" fmla="*/ 2147483647 h 395"/>
                <a:gd name="T94" fmla="*/ 2147483647 w 556"/>
                <a:gd name="T95" fmla="*/ 2147483647 h 395"/>
                <a:gd name="T96" fmla="*/ 2147483647 w 556"/>
                <a:gd name="T97" fmla="*/ 2147483647 h 395"/>
                <a:gd name="T98" fmla="*/ 2147483647 w 556"/>
                <a:gd name="T99" fmla="*/ 2147483647 h 395"/>
                <a:gd name="T100" fmla="*/ 2147483647 w 556"/>
                <a:gd name="T101" fmla="*/ 2147483647 h 395"/>
                <a:gd name="T102" fmla="*/ 2147483647 w 556"/>
                <a:gd name="T103" fmla="*/ 2147483647 h 395"/>
                <a:gd name="T104" fmla="*/ 2147483647 w 556"/>
                <a:gd name="T105" fmla="*/ 2147483647 h 395"/>
                <a:gd name="T106" fmla="*/ 2147483647 w 556"/>
                <a:gd name="T107" fmla="*/ 2147483647 h 395"/>
                <a:gd name="T108" fmla="*/ 2147483647 w 556"/>
                <a:gd name="T109" fmla="*/ 2147483647 h 395"/>
                <a:gd name="T110" fmla="*/ 2147483647 w 556"/>
                <a:gd name="T111" fmla="*/ 2147483647 h 395"/>
                <a:gd name="T112" fmla="*/ 2147483647 w 556"/>
                <a:gd name="T113" fmla="*/ 2147483647 h 395"/>
                <a:gd name="T114" fmla="*/ 2147483647 w 556"/>
                <a:gd name="T115" fmla="*/ 2147483647 h 395"/>
                <a:gd name="T116" fmla="*/ 2147483647 w 556"/>
                <a:gd name="T117" fmla="*/ 2147483647 h 395"/>
                <a:gd name="T118" fmla="*/ 2147483647 w 556"/>
                <a:gd name="T119" fmla="*/ 2147483647 h 395"/>
                <a:gd name="T120" fmla="*/ 2147483647 w 556"/>
                <a:gd name="T121" fmla="*/ 2147483647 h 395"/>
                <a:gd name="T122" fmla="*/ 2147483647 w 556"/>
                <a:gd name="T123" fmla="*/ 2147483647 h 395"/>
                <a:gd name="T124" fmla="*/ 2147483647 w 556"/>
                <a:gd name="T125" fmla="*/ 2147483647 h 3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56" h="395">
                  <a:moveTo>
                    <a:pt x="539" y="379"/>
                  </a:moveTo>
                  <a:lnTo>
                    <a:pt x="540" y="380"/>
                  </a:lnTo>
                  <a:lnTo>
                    <a:pt x="542" y="383"/>
                  </a:lnTo>
                  <a:lnTo>
                    <a:pt x="541" y="387"/>
                  </a:lnTo>
                  <a:lnTo>
                    <a:pt x="533" y="388"/>
                  </a:lnTo>
                  <a:lnTo>
                    <a:pt x="527" y="388"/>
                  </a:lnTo>
                  <a:lnTo>
                    <a:pt x="523" y="387"/>
                  </a:lnTo>
                  <a:lnTo>
                    <a:pt x="518" y="387"/>
                  </a:lnTo>
                  <a:lnTo>
                    <a:pt x="514" y="388"/>
                  </a:lnTo>
                  <a:lnTo>
                    <a:pt x="510" y="388"/>
                  </a:lnTo>
                  <a:lnTo>
                    <a:pt x="506" y="389"/>
                  </a:lnTo>
                  <a:lnTo>
                    <a:pt x="501" y="390"/>
                  </a:lnTo>
                  <a:lnTo>
                    <a:pt x="495" y="392"/>
                  </a:lnTo>
                  <a:lnTo>
                    <a:pt x="488" y="393"/>
                  </a:lnTo>
                  <a:lnTo>
                    <a:pt x="482" y="394"/>
                  </a:lnTo>
                  <a:lnTo>
                    <a:pt x="478" y="395"/>
                  </a:lnTo>
                  <a:lnTo>
                    <a:pt x="473" y="395"/>
                  </a:lnTo>
                  <a:lnTo>
                    <a:pt x="468" y="395"/>
                  </a:lnTo>
                  <a:lnTo>
                    <a:pt x="464" y="394"/>
                  </a:lnTo>
                  <a:lnTo>
                    <a:pt x="459" y="394"/>
                  </a:lnTo>
                  <a:lnTo>
                    <a:pt x="453" y="393"/>
                  </a:lnTo>
                  <a:lnTo>
                    <a:pt x="449" y="393"/>
                  </a:lnTo>
                  <a:lnTo>
                    <a:pt x="444" y="393"/>
                  </a:lnTo>
                  <a:lnTo>
                    <a:pt x="440" y="394"/>
                  </a:lnTo>
                  <a:lnTo>
                    <a:pt x="435" y="395"/>
                  </a:lnTo>
                  <a:lnTo>
                    <a:pt x="430" y="395"/>
                  </a:lnTo>
                  <a:lnTo>
                    <a:pt x="427" y="395"/>
                  </a:lnTo>
                  <a:lnTo>
                    <a:pt x="422" y="394"/>
                  </a:lnTo>
                  <a:lnTo>
                    <a:pt x="419" y="392"/>
                  </a:lnTo>
                  <a:lnTo>
                    <a:pt x="414" y="386"/>
                  </a:lnTo>
                  <a:lnTo>
                    <a:pt x="413" y="380"/>
                  </a:lnTo>
                  <a:lnTo>
                    <a:pt x="409" y="375"/>
                  </a:lnTo>
                  <a:lnTo>
                    <a:pt x="397" y="372"/>
                  </a:lnTo>
                  <a:lnTo>
                    <a:pt x="389" y="371"/>
                  </a:lnTo>
                  <a:lnTo>
                    <a:pt x="382" y="368"/>
                  </a:lnTo>
                  <a:lnTo>
                    <a:pt x="376" y="366"/>
                  </a:lnTo>
                  <a:lnTo>
                    <a:pt x="372" y="364"/>
                  </a:lnTo>
                  <a:lnTo>
                    <a:pt x="368" y="362"/>
                  </a:lnTo>
                  <a:lnTo>
                    <a:pt x="365" y="359"/>
                  </a:lnTo>
                  <a:lnTo>
                    <a:pt x="362" y="358"/>
                  </a:lnTo>
                  <a:lnTo>
                    <a:pt x="359" y="356"/>
                  </a:lnTo>
                  <a:lnTo>
                    <a:pt x="354" y="352"/>
                  </a:lnTo>
                  <a:lnTo>
                    <a:pt x="350" y="351"/>
                  </a:lnTo>
                  <a:lnTo>
                    <a:pt x="344" y="352"/>
                  </a:lnTo>
                  <a:lnTo>
                    <a:pt x="335" y="357"/>
                  </a:lnTo>
                  <a:lnTo>
                    <a:pt x="324" y="362"/>
                  </a:lnTo>
                  <a:lnTo>
                    <a:pt x="316" y="363"/>
                  </a:lnTo>
                  <a:lnTo>
                    <a:pt x="309" y="365"/>
                  </a:lnTo>
                  <a:lnTo>
                    <a:pt x="304" y="370"/>
                  </a:lnTo>
                  <a:lnTo>
                    <a:pt x="297" y="377"/>
                  </a:lnTo>
                  <a:lnTo>
                    <a:pt x="290" y="381"/>
                  </a:lnTo>
                  <a:lnTo>
                    <a:pt x="283" y="381"/>
                  </a:lnTo>
                  <a:lnTo>
                    <a:pt x="276" y="377"/>
                  </a:lnTo>
                  <a:lnTo>
                    <a:pt x="271" y="373"/>
                  </a:lnTo>
                  <a:lnTo>
                    <a:pt x="267" y="370"/>
                  </a:lnTo>
                  <a:lnTo>
                    <a:pt x="262" y="366"/>
                  </a:lnTo>
                  <a:lnTo>
                    <a:pt x="259" y="363"/>
                  </a:lnTo>
                  <a:lnTo>
                    <a:pt x="256" y="358"/>
                  </a:lnTo>
                  <a:lnTo>
                    <a:pt x="256" y="355"/>
                  </a:lnTo>
                  <a:lnTo>
                    <a:pt x="260" y="350"/>
                  </a:lnTo>
                  <a:lnTo>
                    <a:pt x="268" y="344"/>
                  </a:lnTo>
                  <a:lnTo>
                    <a:pt x="277" y="340"/>
                  </a:lnTo>
                  <a:lnTo>
                    <a:pt x="283" y="337"/>
                  </a:lnTo>
                  <a:lnTo>
                    <a:pt x="288" y="337"/>
                  </a:lnTo>
                  <a:lnTo>
                    <a:pt x="291" y="337"/>
                  </a:lnTo>
                  <a:lnTo>
                    <a:pt x="293" y="337"/>
                  </a:lnTo>
                  <a:lnTo>
                    <a:pt x="296" y="336"/>
                  </a:lnTo>
                  <a:lnTo>
                    <a:pt x="300" y="334"/>
                  </a:lnTo>
                  <a:lnTo>
                    <a:pt x="305" y="329"/>
                  </a:lnTo>
                  <a:lnTo>
                    <a:pt x="316" y="320"/>
                  </a:lnTo>
                  <a:lnTo>
                    <a:pt x="326" y="313"/>
                  </a:lnTo>
                  <a:lnTo>
                    <a:pt x="330" y="307"/>
                  </a:lnTo>
                  <a:lnTo>
                    <a:pt x="327" y="301"/>
                  </a:lnTo>
                  <a:lnTo>
                    <a:pt x="318" y="295"/>
                  </a:lnTo>
                  <a:lnTo>
                    <a:pt x="308" y="292"/>
                  </a:lnTo>
                  <a:lnTo>
                    <a:pt x="305" y="287"/>
                  </a:lnTo>
                  <a:lnTo>
                    <a:pt x="309" y="273"/>
                  </a:lnTo>
                  <a:lnTo>
                    <a:pt x="320" y="258"/>
                  </a:lnTo>
                  <a:lnTo>
                    <a:pt x="328" y="246"/>
                  </a:lnTo>
                  <a:lnTo>
                    <a:pt x="327" y="235"/>
                  </a:lnTo>
                  <a:lnTo>
                    <a:pt x="315" y="218"/>
                  </a:lnTo>
                  <a:lnTo>
                    <a:pt x="306" y="208"/>
                  </a:lnTo>
                  <a:lnTo>
                    <a:pt x="297" y="200"/>
                  </a:lnTo>
                  <a:lnTo>
                    <a:pt x="289" y="193"/>
                  </a:lnTo>
                  <a:lnTo>
                    <a:pt x="282" y="188"/>
                  </a:lnTo>
                  <a:lnTo>
                    <a:pt x="274" y="183"/>
                  </a:lnTo>
                  <a:lnTo>
                    <a:pt x="267" y="180"/>
                  </a:lnTo>
                  <a:lnTo>
                    <a:pt x="260" y="176"/>
                  </a:lnTo>
                  <a:lnTo>
                    <a:pt x="252" y="173"/>
                  </a:lnTo>
                  <a:lnTo>
                    <a:pt x="244" y="169"/>
                  </a:lnTo>
                  <a:lnTo>
                    <a:pt x="236" y="166"/>
                  </a:lnTo>
                  <a:lnTo>
                    <a:pt x="228" y="161"/>
                  </a:lnTo>
                  <a:lnTo>
                    <a:pt x="221" y="156"/>
                  </a:lnTo>
                  <a:lnTo>
                    <a:pt x="214" y="152"/>
                  </a:lnTo>
                  <a:lnTo>
                    <a:pt x="208" y="148"/>
                  </a:lnTo>
                  <a:lnTo>
                    <a:pt x="202" y="145"/>
                  </a:lnTo>
                  <a:lnTo>
                    <a:pt x="199" y="142"/>
                  </a:lnTo>
                  <a:lnTo>
                    <a:pt x="191" y="137"/>
                  </a:lnTo>
                  <a:lnTo>
                    <a:pt x="183" y="132"/>
                  </a:lnTo>
                  <a:lnTo>
                    <a:pt x="178" y="131"/>
                  </a:lnTo>
                  <a:lnTo>
                    <a:pt x="179" y="137"/>
                  </a:lnTo>
                  <a:lnTo>
                    <a:pt x="185" y="146"/>
                  </a:lnTo>
                  <a:lnTo>
                    <a:pt x="186" y="152"/>
                  </a:lnTo>
                  <a:lnTo>
                    <a:pt x="183" y="155"/>
                  </a:lnTo>
                  <a:lnTo>
                    <a:pt x="171" y="155"/>
                  </a:lnTo>
                  <a:lnTo>
                    <a:pt x="163" y="155"/>
                  </a:lnTo>
                  <a:lnTo>
                    <a:pt x="159" y="155"/>
                  </a:lnTo>
                  <a:lnTo>
                    <a:pt x="154" y="156"/>
                  </a:lnTo>
                  <a:lnTo>
                    <a:pt x="151" y="159"/>
                  </a:lnTo>
                  <a:lnTo>
                    <a:pt x="147" y="161"/>
                  </a:lnTo>
                  <a:lnTo>
                    <a:pt x="142" y="162"/>
                  </a:lnTo>
                  <a:lnTo>
                    <a:pt x="138" y="163"/>
                  </a:lnTo>
                  <a:lnTo>
                    <a:pt x="131" y="165"/>
                  </a:lnTo>
                  <a:lnTo>
                    <a:pt x="124" y="166"/>
                  </a:lnTo>
                  <a:lnTo>
                    <a:pt x="118" y="167"/>
                  </a:lnTo>
                  <a:lnTo>
                    <a:pt x="114" y="168"/>
                  </a:lnTo>
                  <a:lnTo>
                    <a:pt x="110" y="169"/>
                  </a:lnTo>
                  <a:lnTo>
                    <a:pt x="106" y="170"/>
                  </a:lnTo>
                  <a:lnTo>
                    <a:pt x="101" y="170"/>
                  </a:lnTo>
                  <a:lnTo>
                    <a:pt x="95" y="170"/>
                  </a:lnTo>
                  <a:lnTo>
                    <a:pt x="87" y="169"/>
                  </a:lnTo>
                  <a:lnTo>
                    <a:pt x="74" y="166"/>
                  </a:lnTo>
                  <a:lnTo>
                    <a:pt x="70" y="162"/>
                  </a:lnTo>
                  <a:lnTo>
                    <a:pt x="66" y="160"/>
                  </a:lnTo>
                  <a:lnTo>
                    <a:pt x="60" y="161"/>
                  </a:lnTo>
                  <a:lnTo>
                    <a:pt x="51" y="166"/>
                  </a:lnTo>
                  <a:lnTo>
                    <a:pt x="47" y="168"/>
                  </a:lnTo>
                  <a:lnTo>
                    <a:pt x="43" y="168"/>
                  </a:lnTo>
                  <a:lnTo>
                    <a:pt x="35" y="163"/>
                  </a:lnTo>
                  <a:lnTo>
                    <a:pt x="30" y="160"/>
                  </a:lnTo>
                  <a:lnTo>
                    <a:pt x="24" y="156"/>
                  </a:lnTo>
                  <a:lnTo>
                    <a:pt x="18" y="153"/>
                  </a:lnTo>
                  <a:lnTo>
                    <a:pt x="13" y="151"/>
                  </a:lnTo>
                  <a:lnTo>
                    <a:pt x="10" y="148"/>
                  </a:lnTo>
                  <a:lnTo>
                    <a:pt x="9" y="145"/>
                  </a:lnTo>
                  <a:lnTo>
                    <a:pt x="11" y="143"/>
                  </a:lnTo>
                  <a:lnTo>
                    <a:pt x="16" y="140"/>
                  </a:lnTo>
                  <a:lnTo>
                    <a:pt x="23" y="138"/>
                  </a:lnTo>
                  <a:lnTo>
                    <a:pt x="30" y="137"/>
                  </a:lnTo>
                  <a:lnTo>
                    <a:pt x="36" y="136"/>
                  </a:lnTo>
                  <a:lnTo>
                    <a:pt x="41" y="135"/>
                  </a:lnTo>
                  <a:lnTo>
                    <a:pt x="45" y="133"/>
                  </a:lnTo>
                  <a:lnTo>
                    <a:pt x="45" y="132"/>
                  </a:lnTo>
                  <a:lnTo>
                    <a:pt x="42" y="130"/>
                  </a:lnTo>
                  <a:lnTo>
                    <a:pt x="35" y="128"/>
                  </a:lnTo>
                  <a:lnTo>
                    <a:pt x="27" y="125"/>
                  </a:lnTo>
                  <a:lnTo>
                    <a:pt x="19" y="123"/>
                  </a:lnTo>
                  <a:lnTo>
                    <a:pt x="13" y="122"/>
                  </a:lnTo>
                  <a:lnTo>
                    <a:pt x="9" y="121"/>
                  </a:lnTo>
                  <a:lnTo>
                    <a:pt x="4" y="118"/>
                  </a:lnTo>
                  <a:lnTo>
                    <a:pt x="2" y="116"/>
                  </a:lnTo>
                  <a:lnTo>
                    <a:pt x="0" y="112"/>
                  </a:lnTo>
                  <a:lnTo>
                    <a:pt x="0" y="105"/>
                  </a:lnTo>
                  <a:lnTo>
                    <a:pt x="0" y="93"/>
                  </a:lnTo>
                  <a:lnTo>
                    <a:pt x="0" y="85"/>
                  </a:lnTo>
                  <a:lnTo>
                    <a:pt x="0" y="76"/>
                  </a:lnTo>
                  <a:lnTo>
                    <a:pt x="1" y="60"/>
                  </a:lnTo>
                  <a:lnTo>
                    <a:pt x="5" y="39"/>
                  </a:lnTo>
                  <a:lnTo>
                    <a:pt x="12" y="21"/>
                  </a:lnTo>
                  <a:lnTo>
                    <a:pt x="22" y="9"/>
                  </a:lnTo>
                  <a:lnTo>
                    <a:pt x="31" y="3"/>
                  </a:lnTo>
                  <a:lnTo>
                    <a:pt x="39" y="3"/>
                  </a:lnTo>
                  <a:lnTo>
                    <a:pt x="46" y="6"/>
                  </a:lnTo>
                  <a:lnTo>
                    <a:pt x="50" y="10"/>
                  </a:lnTo>
                  <a:lnTo>
                    <a:pt x="49" y="19"/>
                  </a:lnTo>
                  <a:lnTo>
                    <a:pt x="43" y="40"/>
                  </a:lnTo>
                  <a:lnTo>
                    <a:pt x="42" y="56"/>
                  </a:lnTo>
                  <a:lnTo>
                    <a:pt x="45" y="70"/>
                  </a:lnTo>
                  <a:lnTo>
                    <a:pt x="50" y="80"/>
                  </a:lnTo>
                  <a:lnTo>
                    <a:pt x="56" y="90"/>
                  </a:lnTo>
                  <a:lnTo>
                    <a:pt x="62" y="97"/>
                  </a:lnTo>
                  <a:lnTo>
                    <a:pt x="68" y="102"/>
                  </a:lnTo>
                  <a:lnTo>
                    <a:pt x="71" y="108"/>
                  </a:lnTo>
                  <a:lnTo>
                    <a:pt x="70" y="107"/>
                  </a:lnTo>
                  <a:lnTo>
                    <a:pt x="63" y="87"/>
                  </a:lnTo>
                  <a:lnTo>
                    <a:pt x="56" y="62"/>
                  </a:lnTo>
                  <a:lnTo>
                    <a:pt x="55" y="41"/>
                  </a:lnTo>
                  <a:lnTo>
                    <a:pt x="58" y="26"/>
                  </a:lnTo>
                  <a:lnTo>
                    <a:pt x="62" y="12"/>
                  </a:lnTo>
                  <a:lnTo>
                    <a:pt x="69" y="3"/>
                  </a:lnTo>
                  <a:lnTo>
                    <a:pt x="79" y="0"/>
                  </a:lnTo>
                  <a:lnTo>
                    <a:pt x="91" y="2"/>
                  </a:lnTo>
                  <a:lnTo>
                    <a:pt x="100" y="7"/>
                  </a:lnTo>
                  <a:lnTo>
                    <a:pt x="106" y="14"/>
                  </a:lnTo>
                  <a:lnTo>
                    <a:pt x="109" y="21"/>
                  </a:lnTo>
                  <a:lnTo>
                    <a:pt x="111" y="26"/>
                  </a:lnTo>
                  <a:lnTo>
                    <a:pt x="114" y="32"/>
                  </a:lnTo>
                  <a:lnTo>
                    <a:pt x="115" y="39"/>
                  </a:lnTo>
                  <a:lnTo>
                    <a:pt x="116" y="47"/>
                  </a:lnTo>
                  <a:lnTo>
                    <a:pt x="118" y="53"/>
                  </a:lnTo>
                  <a:lnTo>
                    <a:pt x="124" y="54"/>
                  </a:lnTo>
                  <a:lnTo>
                    <a:pt x="132" y="52"/>
                  </a:lnTo>
                  <a:lnTo>
                    <a:pt x="140" y="47"/>
                  </a:lnTo>
                  <a:lnTo>
                    <a:pt x="146" y="41"/>
                  </a:lnTo>
                  <a:lnTo>
                    <a:pt x="147" y="36"/>
                  </a:lnTo>
                  <a:lnTo>
                    <a:pt x="149" y="31"/>
                  </a:lnTo>
                  <a:lnTo>
                    <a:pt x="156" y="27"/>
                  </a:lnTo>
                  <a:lnTo>
                    <a:pt x="164" y="23"/>
                  </a:lnTo>
                  <a:lnTo>
                    <a:pt x="169" y="19"/>
                  </a:lnTo>
                  <a:lnTo>
                    <a:pt x="175" y="19"/>
                  </a:lnTo>
                  <a:lnTo>
                    <a:pt x="185" y="24"/>
                  </a:lnTo>
                  <a:lnTo>
                    <a:pt x="197" y="32"/>
                  </a:lnTo>
                  <a:lnTo>
                    <a:pt x="202" y="38"/>
                  </a:lnTo>
                  <a:lnTo>
                    <a:pt x="206" y="44"/>
                  </a:lnTo>
                  <a:lnTo>
                    <a:pt x="209" y="49"/>
                  </a:lnTo>
                  <a:lnTo>
                    <a:pt x="214" y="55"/>
                  </a:lnTo>
                  <a:lnTo>
                    <a:pt x="221" y="60"/>
                  </a:lnTo>
                  <a:lnTo>
                    <a:pt x="227" y="61"/>
                  </a:lnTo>
                  <a:lnTo>
                    <a:pt x="231" y="56"/>
                  </a:lnTo>
                  <a:lnTo>
                    <a:pt x="237" y="49"/>
                  </a:lnTo>
                  <a:lnTo>
                    <a:pt x="246" y="46"/>
                  </a:lnTo>
                  <a:lnTo>
                    <a:pt x="256" y="46"/>
                  </a:lnTo>
                  <a:lnTo>
                    <a:pt x="263" y="49"/>
                  </a:lnTo>
                  <a:lnTo>
                    <a:pt x="266" y="54"/>
                  </a:lnTo>
                  <a:lnTo>
                    <a:pt x="268" y="56"/>
                  </a:lnTo>
                  <a:lnTo>
                    <a:pt x="271" y="59"/>
                  </a:lnTo>
                  <a:lnTo>
                    <a:pt x="281" y="61"/>
                  </a:lnTo>
                  <a:lnTo>
                    <a:pt x="288" y="62"/>
                  </a:lnTo>
                  <a:lnTo>
                    <a:pt x="296" y="62"/>
                  </a:lnTo>
                  <a:lnTo>
                    <a:pt x="304" y="63"/>
                  </a:lnTo>
                  <a:lnTo>
                    <a:pt x="311" y="63"/>
                  </a:lnTo>
                  <a:lnTo>
                    <a:pt x="318" y="63"/>
                  </a:lnTo>
                  <a:lnTo>
                    <a:pt x="321" y="64"/>
                  </a:lnTo>
                  <a:lnTo>
                    <a:pt x="323" y="67"/>
                  </a:lnTo>
                  <a:lnTo>
                    <a:pt x="321" y="69"/>
                  </a:lnTo>
                  <a:lnTo>
                    <a:pt x="319" y="72"/>
                  </a:lnTo>
                  <a:lnTo>
                    <a:pt x="322" y="72"/>
                  </a:lnTo>
                  <a:lnTo>
                    <a:pt x="329" y="72"/>
                  </a:lnTo>
                  <a:lnTo>
                    <a:pt x="335" y="74"/>
                  </a:lnTo>
                  <a:lnTo>
                    <a:pt x="339" y="78"/>
                  </a:lnTo>
                  <a:lnTo>
                    <a:pt x="345" y="83"/>
                  </a:lnTo>
                  <a:lnTo>
                    <a:pt x="349" y="86"/>
                  </a:lnTo>
                  <a:lnTo>
                    <a:pt x="351" y="87"/>
                  </a:lnTo>
                  <a:lnTo>
                    <a:pt x="350" y="87"/>
                  </a:lnTo>
                  <a:lnTo>
                    <a:pt x="345" y="89"/>
                  </a:lnTo>
                  <a:lnTo>
                    <a:pt x="342" y="91"/>
                  </a:lnTo>
                  <a:lnTo>
                    <a:pt x="339" y="93"/>
                  </a:lnTo>
                  <a:lnTo>
                    <a:pt x="343" y="97"/>
                  </a:lnTo>
                  <a:lnTo>
                    <a:pt x="352" y="100"/>
                  </a:lnTo>
                  <a:lnTo>
                    <a:pt x="361" y="102"/>
                  </a:lnTo>
                  <a:lnTo>
                    <a:pt x="361" y="105"/>
                  </a:lnTo>
                  <a:lnTo>
                    <a:pt x="357" y="107"/>
                  </a:lnTo>
                  <a:lnTo>
                    <a:pt x="353" y="108"/>
                  </a:lnTo>
                  <a:lnTo>
                    <a:pt x="351" y="110"/>
                  </a:lnTo>
                  <a:lnTo>
                    <a:pt x="351" y="115"/>
                  </a:lnTo>
                  <a:lnTo>
                    <a:pt x="350" y="118"/>
                  </a:lnTo>
                  <a:lnTo>
                    <a:pt x="349" y="123"/>
                  </a:lnTo>
                  <a:lnTo>
                    <a:pt x="349" y="127"/>
                  </a:lnTo>
                  <a:lnTo>
                    <a:pt x="353" y="132"/>
                  </a:lnTo>
                  <a:lnTo>
                    <a:pt x="361" y="135"/>
                  </a:lnTo>
                  <a:lnTo>
                    <a:pt x="371" y="133"/>
                  </a:lnTo>
                  <a:lnTo>
                    <a:pt x="377" y="133"/>
                  </a:lnTo>
                  <a:lnTo>
                    <a:pt x="384" y="136"/>
                  </a:lnTo>
                  <a:lnTo>
                    <a:pt x="392" y="143"/>
                  </a:lnTo>
                  <a:lnTo>
                    <a:pt x="400" y="150"/>
                  </a:lnTo>
                  <a:lnTo>
                    <a:pt x="407" y="152"/>
                  </a:lnTo>
                  <a:lnTo>
                    <a:pt x="409" y="150"/>
                  </a:lnTo>
                  <a:lnTo>
                    <a:pt x="406" y="144"/>
                  </a:lnTo>
                  <a:lnTo>
                    <a:pt x="403" y="139"/>
                  </a:lnTo>
                  <a:lnTo>
                    <a:pt x="403" y="137"/>
                  </a:lnTo>
                  <a:lnTo>
                    <a:pt x="409" y="139"/>
                  </a:lnTo>
                  <a:lnTo>
                    <a:pt x="414" y="140"/>
                  </a:lnTo>
                  <a:lnTo>
                    <a:pt x="421" y="142"/>
                  </a:lnTo>
                  <a:lnTo>
                    <a:pt x="429" y="143"/>
                  </a:lnTo>
                  <a:lnTo>
                    <a:pt x="436" y="143"/>
                  </a:lnTo>
                  <a:lnTo>
                    <a:pt x="442" y="144"/>
                  </a:lnTo>
                  <a:lnTo>
                    <a:pt x="447" y="145"/>
                  </a:lnTo>
                  <a:lnTo>
                    <a:pt x="450" y="146"/>
                  </a:lnTo>
                  <a:lnTo>
                    <a:pt x="451" y="148"/>
                  </a:lnTo>
                  <a:lnTo>
                    <a:pt x="450" y="152"/>
                  </a:lnTo>
                  <a:lnTo>
                    <a:pt x="451" y="154"/>
                  </a:lnTo>
                  <a:lnTo>
                    <a:pt x="453" y="155"/>
                  </a:lnTo>
                  <a:lnTo>
                    <a:pt x="457" y="155"/>
                  </a:lnTo>
                  <a:lnTo>
                    <a:pt x="461" y="155"/>
                  </a:lnTo>
                  <a:lnTo>
                    <a:pt x="466" y="153"/>
                  </a:lnTo>
                  <a:lnTo>
                    <a:pt x="472" y="152"/>
                  </a:lnTo>
                  <a:lnTo>
                    <a:pt x="480" y="152"/>
                  </a:lnTo>
                  <a:lnTo>
                    <a:pt x="490" y="153"/>
                  </a:lnTo>
                  <a:lnTo>
                    <a:pt x="501" y="154"/>
                  </a:lnTo>
                  <a:lnTo>
                    <a:pt x="509" y="158"/>
                  </a:lnTo>
                  <a:lnTo>
                    <a:pt x="511" y="163"/>
                  </a:lnTo>
                  <a:lnTo>
                    <a:pt x="508" y="169"/>
                  </a:lnTo>
                  <a:lnTo>
                    <a:pt x="501" y="173"/>
                  </a:lnTo>
                  <a:lnTo>
                    <a:pt x="496" y="176"/>
                  </a:lnTo>
                  <a:lnTo>
                    <a:pt x="496" y="180"/>
                  </a:lnTo>
                  <a:lnTo>
                    <a:pt x="501" y="183"/>
                  </a:lnTo>
                  <a:lnTo>
                    <a:pt x="505" y="186"/>
                  </a:lnTo>
                  <a:lnTo>
                    <a:pt x="510" y="191"/>
                  </a:lnTo>
                  <a:lnTo>
                    <a:pt x="511" y="196"/>
                  </a:lnTo>
                  <a:lnTo>
                    <a:pt x="511" y="200"/>
                  </a:lnTo>
                  <a:lnTo>
                    <a:pt x="509" y="204"/>
                  </a:lnTo>
                  <a:lnTo>
                    <a:pt x="505" y="207"/>
                  </a:lnTo>
                  <a:lnTo>
                    <a:pt x="501" y="209"/>
                  </a:lnTo>
                  <a:lnTo>
                    <a:pt x="497" y="212"/>
                  </a:lnTo>
                  <a:lnTo>
                    <a:pt x="497" y="214"/>
                  </a:lnTo>
                  <a:lnTo>
                    <a:pt x="499" y="219"/>
                  </a:lnTo>
                  <a:lnTo>
                    <a:pt x="505" y="223"/>
                  </a:lnTo>
                  <a:lnTo>
                    <a:pt x="511" y="228"/>
                  </a:lnTo>
                  <a:lnTo>
                    <a:pt x="514" y="234"/>
                  </a:lnTo>
                  <a:lnTo>
                    <a:pt x="514" y="239"/>
                  </a:lnTo>
                  <a:lnTo>
                    <a:pt x="511" y="244"/>
                  </a:lnTo>
                  <a:lnTo>
                    <a:pt x="506" y="248"/>
                  </a:lnTo>
                  <a:lnTo>
                    <a:pt x="503" y="249"/>
                  </a:lnTo>
                  <a:lnTo>
                    <a:pt x="501" y="249"/>
                  </a:lnTo>
                  <a:lnTo>
                    <a:pt x="495" y="245"/>
                  </a:lnTo>
                  <a:lnTo>
                    <a:pt x="487" y="242"/>
                  </a:lnTo>
                  <a:lnTo>
                    <a:pt x="480" y="238"/>
                  </a:lnTo>
                  <a:lnTo>
                    <a:pt x="474" y="235"/>
                  </a:lnTo>
                  <a:lnTo>
                    <a:pt x="468" y="231"/>
                  </a:lnTo>
                  <a:lnTo>
                    <a:pt x="465" y="229"/>
                  </a:lnTo>
                  <a:lnTo>
                    <a:pt x="460" y="228"/>
                  </a:lnTo>
                  <a:lnTo>
                    <a:pt x="456" y="226"/>
                  </a:lnTo>
                  <a:lnTo>
                    <a:pt x="449" y="223"/>
                  </a:lnTo>
                  <a:lnTo>
                    <a:pt x="440" y="220"/>
                  </a:lnTo>
                  <a:lnTo>
                    <a:pt x="432" y="219"/>
                  </a:lnTo>
                  <a:lnTo>
                    <a:pt x="425" y="220"/>
                  </a:lnTo>
                  <a:lnTo>
                    <a:pt x="421" y="224"/>
                  </a:lnTo>
                  <a:lnTo>
                    <a:pt x="421" y="230"/>
                  </a:lnTo>
                  <a:lnTo>
                    <a:pt x="423" y="236"/>
                  </a:lnTo>
                  <a:lnTo>
                    <a:pt x="428" y="243"/>
                  </a:lnTo>
                  <a:lnTo>
                    <a:pt x="435" y="251"/>
                  </a:lnTo>
                  <a:lnTo>
                    <a:pt x="440" y="254"/>
                  </a:lnTo>
                  <a:lnTo>
                    <a:pt x="443" y="259"/>
                  </a:lnTo>
                  <a:lnTo>
                    <a:pt x="449" y="262"/>
                  </a:lnTo>
                  <a:lnTo>
                    <a:pt x="453" y="265"/>
                  </a:lnTo>
                  <a:lnTo>
                    <a:pt x="459" y="268"/>
                  </a:lnTo>
                  <a:lnTo>
                    <a:pt x="465" y="271"/>
                  </a:lnTo>
                  <a:lnTo>
                    <a:pt x="471" y="272"/>
                  </a:lnTo>
                  <a:lnTo>
                    <a:pt x="476" y="273"/>
                  </a:lnTo>
                  <a:lnTo>
                    <a:pt x="487" y="275"/>
                  </a:lnTo>
                  <a:lnTo>
                    <a:pt x="495" y="277"/>
                  </a:lnTo>
                  <a:lnTo>
                    <a:pt x="501" y="281"/>
                  </a:lnTo>
                  <a:lnTo>
                    <a:pt x="505" y="286"/>
                  </a:lnTo>
                  <a:lnTo>
                    <a:pt x="512" y="289"/>
                  </a:lnTo>
                  <a:lnTo>
                    <a:pt x="520" y="291"/>
                  </a:lnTo>
                  <a:lnTo>
                    <a:pt x="528" y="294"/>
                  </a:lnTo>
                  <a:lnTo>
                    <a:pt x="533" y="301"/>
                  </a:lnTo>
                  <a:lnTo>
                    <a:pt x="534" y="307"/>
                  </a:lnTo>
                  <a:lnTo>
                    <a:pt x="533" y="311"/>
                  </a:lnTo>
                  <a:lnTo>
                    <a:pt x="533" y="315"/>
                  </a:lnTo>
                  <a:lnTo>
                    <a:pt x="536" y="324"/>
                  </a:lnTo>
                  <a:lnTo>
                    <a:pt x="541" y="332"/>
                  </a:lnTo>
                  <a:lnTo>
                    <a:pt x="543" y="337"/>
                  </a:lnTo>
                  <a:lnTo>
                    <a:pt x="544" y="342"/>
                  </a:lnTo>
                  <a:lnTo>
                    <a:pt x="548" y="345"/>
                  </a:lnTo>
                  <a:lnTo>
                    <a:pt x="552" y="350"/>
                  </a:lnTo>
                  <a:lnTo>
                    <a:pt x="556" y="354"/>
                  </a:lnTo>
                  <a:lnTo>
                    <a:pt x="555" y="357"/>
                  </a:lnTo>
                  <a:lnTo>
                    <a:pt x="549" y="356"/>
                  </a:lnTo>
                  <a:lnTo>
                    <a:pt x="544" y="352"/>
                  </a:lnTo>
                  <a:lnTo>
                    <a:pt x="541" y="349"/>
                  </a:lnTo>
                  <a:lnTo>
                    <a:pt x="535" y="345"/>
                  </a:lnTo>
                  <a:lnTo>
                    <a:pt x="525" y="345"/>
                  </a:lnTo>
                  <a:lnTo>
                    <a:pt x="513" y="348"/>
                  </a:lnTo>
                  <a:lnTo>
                    <a:pt x="505" y="349"/>
                  </a:lnTo>
                  <a:lnTo>
                    <a:pt x="499" y="349"/>
                  </a:lnTo>
                  <a:lnTo>
                    <a:pt x="493" y="345"/>
                  </a:lnTo>
                  <a:lnTo>
                    <a:pt x="488" y="343"/>
                  </a:lnTo>
                  <a:lnTo>
                    <a:pt x="483" y="342"/>
                  </a:lnTo>
                  <a:lnTo>
                    <a:pt x="478" y="340"/>
                  </a:lnTo>
                  <a:lnTo>
                    <a:pt x="472" y="339"/>
                  </a:lnTo>
                  <a:lnTo>
                    <a:pt x="466" y="337"/>
                  </a:lnTo>
                  <a:lnTo>
                    <a:pt x="461" y="337"/>
                  </a:lnTo>
                  <a:lnTo>
                    <a:pt x="457" y="337"/>
                  </a:lnTo>
                  <a:lnTo>
                    <a:pt x="453" y="337"/>
                  </a:lnTo>
                  <a:lnTo>
                    <a:pt x="451" y="340"/>
                  </a:lnTo>
                  <a:lnTo>
                    <a:pt x="455" y="343"/>
                  </a:lnTo>
                  <a:lnTo>
                    <a:pt x="463" y="347"/>
                  </a:lnTo>
                  <a:lnTo>
                    <a:pt x="476" y="352"/>
                  </a:lnTo>
                  <a:lnTo>
                    <a:pt x="485" y="355"/>
                  </a:lnTo>
                  <a:lnTo>
                    <a:pt x="490" y="357"/>
                  </a:lnTo>
                  <a:lnTo>
                    <a:pt x="496" y="358"/>
                  </a:lnTo>
                  <a:lnTo>
                    <a:pt x="499" y="358"/>
                  </a:lnTo>
                  <a:lnTo>
                    <a:pt x="503" y="359"/>
                  </a:lnTo>
                  <a:lnTo>
                    <a:pt x="506" y="360"/>
                  </a:lnTo>
                  <a:lnTo>
                    <a:pt x="509" y="362"/>
                  </a:lnTo>
                  <a:lnTo>
                    <a:pt x="511" y="364"/>
                  </a:lnTo>
                  <a:lnTo>
                    <a:pt x="517" y="367"/>
                  </a:lnTo>
                  <a:lnTo>
                    <a:pt x="525" y="371"/>
                  </a:lnTo>
                  <a:lnTo>
                    <a:pt x="533" y="374"/>
                  </a:lnTo>
                  <a:lnTo>
                    <a:pt x="539" y="379"/>
                  </a:lnTo>
                  <a:close/>
                </a:path>
              </a:pathLst>
            </a:custGeom>
            <a:grpFill/>
            <a:ln w="9525">
              <a:solidFill>
                <a:schemeClr val="bg2">
                  <a:lumMod val="50000"/>
                </a:schemeClr>
              </a:solidFill>
              <a:round/>
              <a:headEnd/>
              <a:tailEnd/>
            </a:ln>
          </p:spPr>
          <p:txBody>
            <a:bodyPr/>
            <a:lstStyle/>
            <a:p>
              <a:endParaRPr lang="en-US" dirty="0"/>
            </a:p>
          </p:txBody>
        </p:sp>
        <p:sp>
          <p:nvSpPr>
            <p:cNvPr id="146" name="Freeform 432"/>
            <p:cNvSpPr>
              <a:spLocks/>
            </p:cNvSpPr>
            <p:nvPr/>
          </p:nvSpPr>
          <p:spPr bwMode="gray">
            <a:xfrm>
              <a:off x="2545169" y="2011860"/>
              <a:ext cx="133741" cy="117864"/>
            </a:xfrm>
            <a:custGeom>
              <a:avLst/>
              <a:gdLst>
                <a:gd name="T0" fmla="*/ 2147483647 w 148"/>
                <a:gd name="T1" fmla="*/ 2147483647 h 146"/>
                <a:gd name="T2" fmla="*/ 2147483647 w 148"/>
                <a:gd name="T3" fmla="*/ 2147483647 h 146"/>
                <a:gd name="T4" fmla="*/ 2147483647 w 148"/>
                <a:gd name="T5" fmla="*/ 2147483647 h 146"/>
                <a:gd name="T6" fmla="*/ 2147483647 w 148"/>
                <a:gd name="T7" fmla="*/ 2147483647 h 146"/>
                <a:gd name="T8" fmla="*/ 2147483647 w 148"/>
                <a:gd name="T9" fmla="*/ 2147483647 h 146"/>
                <a:gd name="T10" fmla="*/ 2147483647 w 148"/>
                <a:gd name="T11" fmla="*/ 2147483647 h 146"/>
                <a:gd name="T12" fmla="*/ 2147483647 w 148"/>
                <a:gd name="T13" fmla="*/ 2147483647 h 146"/>
                <a:gd name="T14" fmla="*/ 2147483647 w 148"/>
                <a:gd name="T15" fmla="*/ 2147483647 h 146"/>
                <a:gd name="T16" fmla="*/ 2147483647 w 148"/>
                <a:gd name="T17" fmla="*/ 2147483647 h 146"/>
                <a:gd name="T18" fmla="*/ 2147483647 w 148"/>
                <a:gd name="T19" fmla="*/ 0 h 146"/>
                <a:gd name="T20" fmla="*/ 2147483647 w 148"/>
                <a:gd name="T21" fmla="*/ 2147483647 h 146"/>
                <a:gd name="T22" fmla="*/ 2147483647 w 148"/>
                <a:gd name="T23" fmla="*/ 2147483647 h 146"/>
                <a:gd name="T24" fmla="*/ 2147483647 w 148"/>
                <a:gd name="T25" fmla="*/ 2147483647 h 146"/>
                <a:gd name="T26" fmla="*/ 2147483647 w 148"/>
                <a:gd name="T27" fmla="*/ 2147483647 h 146"/>
                <a:gd name="T28" fmla="*/ 2147483647 w 148"/>
                <a:gd name="T29" fmla="*/ 2147483647 h 146"/>
                <a:gd name="T30" fmla="*/ 2147483647 w 148"/>
                <a:gd name="T31" fmla="*/ 2147483647 h 146"/>
                <a:gd name="T32" fmla="*/ 2147483647 w 148"/>
                <a:gd name="T33" fmla="*/ 2147483647 h 146"/>
                <a:gd name="T34" fmla="*/ 2147483647 w 148"/>
                <a:gd name="T35" fmla="*/ 2147483647 h 146"/>
                <a:gd name="T36" fmla="*/ 2147483647 w 148"/>
                <a:gd name="T37" fmla="*/ 2147483647 h 146"/>
                <a:gd name="T38" fmla="*/ 2147483647 w 148"/>
                <a:gd name="T39" fmla="*/ 2147483647 h 146"/>
                <a:gd name="T40" fmla="*/ 2147483647 w 148"/>
                <a:gd name="T41" fmla="*/ 2147483647 h 146"/>
                <a:gd name="T42" fmla="*/ 2147483647 w 148"/>
                <a:gd name="T43" fmla="*/ 2147483647 h 146"/>
                <a:gd name="T44" fmla="*/ 2147483647 w 148"/>
                <a:gd name="T45" fmla="*/ 2147483647 h 146"/>
                <a:gd name="T46" fmla="*/ 2147483647 w 148"/>
                <a:gd name="T47" fmla="*/ 2147483647 h 146"/>
                <a:gd name="T48" fmla="*/ 2147483647 w 148"/>
                <a:gd name="T49" fmla="*/ 2147483647 h 146"/>
                <a:gd name="T50" fmla="*/ 2147483647 w 148"/>
                <a:gd name="T51" fmla="*/ 2147483647 h 146"/>
                <a:gd name="T52" fmla="*/ 2147483647 w 148"/>
                <a:gd name="T53" fmla="*/ 2147483647 h 146"/>
                <a:gd name="T54" fmla="*/ 2147483647 w 148"/>
                <a:gd name="T55" fmla="*/ 2147483647 h 146"/>
                <a:gd name="T56" fmla="*/ 2147483647 w 148"/>
                <a:gd name="T57" fmla="*/ 2147483647 h 146"/>
                <a:gd name="T58" fmla="*/ 2147483647 w 148"/>
                <a:gd name="T59" fmla="*/ 2147483647 h 146"/>
                <a:gd name="T60" fmla="*/ 2147483647 w 148"/>
                <a:gd name="T61" fmla="*/ 2147483647 h 146"/>
                <a:gd name="T62" fmla="*/ 2147483647 w 148"/>
                <a:gd name="T63" fmla="*/ 2147483647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8" h="146">
                  <a:moveTo>
                    <a:pt x="148" y="71"/>
                  </a:moveTo>
                  <a:lnTo>
                    <a:pt x="146" y="67"/>
                  </a:lnTo>
                  <a:lnTo>
                    <a:pt x="145" y="56"/>
                  </a:lnTo>
                  <a:lnTo>
                    <a:pt x="141" y="44"/>
                  </a:lnTo>
                  <a:lnTo>
                    <a:pt x="135" y="36"/>
                  </a:lnTo>
                  <a:lnTo>
                    <a:pt x="129" y="33"/>
                  </a:lnTo>
                  <a:lnTo>
                    <a:pt x="125" y="33"/>
                  </a:lnTo>
                  <a:lnTo>
                    <a:pt x="120" y="35"/>
                  </a:lnTo>
                  <a:lnTo>
                    <a:pt x="115" y="32"/>
                  </a:lnTo>
                  <a:lnTo>
                    <a:pt x="111" y="26"/>
                  </a:lnTo>
                  <a:lnTo>
                    <a:pt x="108" y="20"/>
                  </a:lnTo>
                  <a:lnTo>
                    <a:pt x="104" y="14"/>
                  </a:lnTo>
                  <a:lnTo>
                    <a:pt x="95" y="12"/>
                  </a:lnTo>
                  <a:lnTo>
                    <a:pt x="88" y="10"/>
                  </a:lnTo>
                  <a:lnTo>
                    <a:pt x="82" y="9"/>
                  </a:lnTo>
                  <a:lnTo>
                    <a:pt x="77" y="7"/>
                  </a:lnTo>
                  <a:lnTo>
                    <a:pt x="73" y="3"/>
                  </a:lnTo>
                  <a:lnTo>
                    <a:pt x="68" y="1"/>
                  </a:lnTo>
                  <a:lnTo>
                    <a:pt x="65" y="0"/>
                  </a:lnTo>
                  <a:lnTo>
                    <a:pt x="62" y="0"/>
                  </a:lnTo>
                  <a:lnTo>
                    <a:pt x="60" y="2"/>
                  </a:lnTo>
                  <a:lnTo>
                    <a:pt x="58" y="8"/>
                  </a:lnTo>
                  <a:lnTo>
                    <a:pt x="58" y="15"/>
                  </a:lnTo>
                  <a:lnTo>
                    <a:pt x="57" y="20"/>
                  </a:lnTo>
                  <a:lnTo>
                    <a:pt x="55" y="24"/>
                  </a:lnTo>
                  <a:lnTo>
                    <a:pt x="50" y="31"/>
                  </a:lnTo>
                  <a:lnTo>
                    <a:pt x="42" y="40"/>
                  </a:lnTo>
                  <a:lnTo>
                    <a:pt x="32" y="50"/>
                  </a:lnTo>
                  <a:lnTo>
                    <a:pt x="27" y="55"/>
                  </a:lnTo>
                  <a:lnTo>
                    <a:pt x="20" y="62"/>
                  </a:lnTo>
                  <a:lnTo>
                    <a:pt x="11" y="71"/>
                  </a:lnTo>
                  <a:lnTo>
                    <a:pt x="3" y="82"/>
                  </a:lnTo>
                  <a:lnTo>
                    <a:pt x="0" y="90"/>
                  </a:lnTo>
                  <a:lnTo>
                    <a:pt x="3" y="91"/>
                  </a:lnTo>
                  <a:lnTo>
                    <a:pt x="4" y="91"/>
                  </a:lnTo>
                  <a:lnTo>
                    <a:pt x="6" y="94"/>
                  </a:lnTo>
                  <a:lnTo>
                    <a:pt x="11" y="107"/>
                  </a:lnTo>
                  <a:lnTo>
                    <a:pt x="14" y="123"/>
                  </a:lnTo>
                  <a:lnTo>
                    <a:pt x="14" y="136"/>
                  </a:lnTo>
                  <a:lnTo>
                    <a:pt x="15" y="144"/>
                  </a:lnTo>
                  <a:lnTo>
                    <a:pt x="20" y="146"/>
                  </a:lnTo>
                  <a:lnTo>
                    <a:pt x="27" y="143"/>
                  </a:lnTo>
                  <a:lnTo>
                    <a:pt x="32" y="139"/>
                  </a:lnTo>
                  <a:lnTo>
                    <a:pt x="36" y="137"/>
                  </a:lnTo>
                  <a:lnTo>
                    <a:pt x="39" y="138"/>
                  </a:lnTo>
                  <a:lnTo>
                    <a:pt x="44" y="143"/>
                  </a:lnTo>
                  <a:lnTo>
                    <a:pt x="50" y="146"/>
                  </a:lnTo>
                  <a:lnTo>
                    <a:pt x="55" y="145"/>
                  </a:lnTo>
                  <a:lnTo>
                    <a:pt x="60" y="135"/>
                  </a:lnTo>
                  <a:lnTo>
                    <a:pt x="66" y="124"/>
                  </a:lnTo>
                  <a:lnTo>
                    <a:pt x="75" y="119"/>
                  </a:lnTo>
                  <a:lnTo>
                    <a:pt x="83" y="116"/>
                  </a:lnTo>
                  <a:lnTo>
                    <a:pt x="87" y="111"/>
                  </a:lnTo>
                  <a:lnTo>
                    <a:pt x="87" y="104"/>
                  </a:lnTo>
                  <a:lnTo>
                    <a:pt x="87" y="99"/>
                  </a:lnTo>
                  <a:lnTo>
                    <a:pt x="91" y="96"/>
                  </a:lnTo>
                  <a:lnTo>
                    <a:pt x="104" y="92"/>
                  </a:lnTo>
                  <a:lnTo>
                    <a:pt x="112" y="90"/>
                  </a:lnTo>
                  <a:lnTo>
                    <a:pt x="120" y="89"/>
                  </a:lnTo>
                  <a:lnTo>
                    <a:pt x="128" y="86"/>
                  </a:lnTo>
                  <a:lnTo>
                    <a:pt x="135" y="84"/>
                  </a:lnTo>
                  <a:lnTo>
                    <a:pt x="140" y="82"/>
                  </a:lnTo>
                  <a:lnTo>
                    <a:pt x="144" y="78"/>
                  </a:lnTo>
                  <a:lnTo>
                    <a:pt x="146" y="75"/>
                  </a:lnTo>
                  <a:lnTo>
                    <a:pt x="148" y="71"/>
                  </a:lnTo>
                  <a:close/>
                </a:path>
              </a:pathLst>
            </a:custGeom>
            <a:grpFill/>
            <a:ln w="9525">
              <a:solidFill>
                <a:schemeClr val="bg2">
                  <a:lumMod val="50000"/>
                </a:schemeClr>
              </a:solidFill>
              <a:round/>
              <a:headEnd/>
              <a:tailEnd/>
            </a:ln>
          </p:spPr>
          <p:txBody>
            <a:bodyPr/>
            <a:lstStyle/>
            <a:p>
              <a:endParaRPr lang="en-US" dirty="0"/>
            </a:p>
          </p:txBody>
        </p:sp>
        <p:sp>
          <p:nvSpPr>
            <p:cNvPr id="147" name="Freeform 433"/>
            <p:cNvSpPr>
              <a:spLocks/>
            </p:cNvSpPr>
            <p:nvPr/>
          </p:nvSpPr>
          <p:spPr bwMode="gray">
            <a:xfrm>
              <a:off x="2686935" y="1968301"/>
              <a:ext cx="121705" cy="75587"/>
            </a:xfrm>
            <a:custGeom>
              <a:avLst/>
              <a:gdLst>
                <a:gd name="T0" fmla="*/ 2147483647 w 133"/>
                <a:gd name="T1" fmla="*/ 2147483647 h 91"/>
                <a:gd name="T2" fmla="*/ 2147483647 w 133"/>
                <a:gd name="T3" fmla="*/ 2147483647 h 91"/>
                <a:gd name="T4" fmla="*/ 2147483647 w 133"/>
                <a:gd name="T5" fmla="*/ 2147483647 h 91"/>
                <a:gd name="T6" fmla="*/ 2147483647 w 133"/>
                <a:gd name="T7" fmla="*/ 2147483647 h 91"/>
                <a:gd name="T8" fmla="*/ 2147483647 w 133"/>
                <a:gd name="T9" fmla="*/ 2147483647 h 91"/>
                <a:gd name="T10" fmla="*/ 2147483647 w 133"/>
                <a:gd name="T11" fmla="*/ 2147483647 h 91"/>
                <a:gd name="T12" fmla="*/ 2147483647 w 133"/>
                <a:gd name="T13" fmla="*/ 2147483647 h 91"/>
                <a:gd name="T14" fmla="*/ 2147483647 w 133"/>
                <a:gd name="T15" fmla="*/ 2147483647 h 91"/>
                <a:gd name="T16" fmla="*/ 2147483647 w 133"/>
                <a:gd name="T17" fmla="*/ 2147483647 h 91"/>
                <a:gd name="T18" fmla="*/ 2147483647 w 133"/>
                <a:gd name="T19" fmla="*/ 2147483647 h 91"/>
                <a:gd name="T20" fmla="*/ 2147483647 w 133"/>
                <a:gd name="T21" fmla="*/ 2147483647 h 91"/>
                <a:gd name="T22" fmla="*/ 2147483647 w 133"/>
                <a:gd name="T23" fmla="*/ 2147483647 h 91"/>
                <a:gd name="T24" fmla="*/ 2147483647 w 133"/>
                <a:gd name="T25" fmla="*/ 2147483647 h 91"/>
                <a:gd name="T26" fmla="*/ 2147483647 w 133"/>
                <a:gd name="T27" fmla="*/ 2147483647 h 91"/>
                <a:gd name="T28" fmla="*/ 2147483647 w 133"/>
                <a:gd name="T29" fmla="*/ 2147483647 h 91"/>
                <a:gd name="T30" fmla="*/ 2147483647 w 133"/>
                <a:gd name="T31" fmla="*/ 2147483647 h 91"/>
                <a:gd name="T32" fmla="*/ 2147483647 w 133"/>
                <a:gd name="T33" fmla="*/ 2147483647 h 91"/>
                <a:gd name="T34" fmla="*/ 2147483647 w 133"/>
                <a:gd name="T35" fmla="*/ 2147483647 h 91"/>
                <a:gd name="T36" fmla="*/ 2147483647 w 133"/>
                <a:gd name="T37" fmla="*/ 2147483647 h 91"/>
                <a:gd name="T38" fmla="*/ 2147483647 w 133"/>
                <a:gd name="T39" fmla="*/ 2147483647 h 91"/>
                <a:gd name="T40" fmla="*/ 2147483647 w 133"/>
                <a:gd name="T41" fmla="*/ 2147483647 h 91"/>
                <a:gd name="T42" fmla="*/ 2147483647 w 133"/>
                <a:gd name="T43" fmla="*/ 2147483647 h 91"/>
                <a:gd name="T44" fmla="*/ 2147483647 w 133"/>
                <a:gd name="T45" fmla="*/ 2147483647 h 91"/>
                <a:gd name="T46" fmla="*/ 2147483647 w 133"/>
                <a:gd name="T47" fmla="*/ 2147483647 h 91"/>
                <a:gd name="T48" fmla="*/ 2147483647 w 133"/>
                <a:gd name="T49" fmla="*/ 2147483647 h 91"/>
                <a:gd name="T50" fmla="*/ 2147483647 w 133"/>
                <a:gd name="T51" fmla="*/ 2147483647 h 91"/>
                <a:gd name="T52" fmla="*/ 2147483647 w 133"/>
                <a:gd name="T53" fmla="*/ 2147483647 h 91"/>
                <a:gd name="T54" fmla="*/ 2147483647 w 133"/>
                <a:gd name="T55" fmla="*/ 2147483647 h 91"/>
                <a:gd name="T56" fmla="*/ 0 w 133"/>
                <a:gd name="T57" fmla="*/ 2147483647 h 91"/>
                <a:gd name="T58" fmla="*/ 2147483647 w 133"/>
                <a:gd name="T59" fmla="*/ 2147483647 h 91"/>
                <a:gd name="T60" fmla="*/ 2147483647 w 133"/>
                <a:gd name="T61" fmla="*/ 2147483647 h 91"/>
                <a:gd name="T62" fmla="*/ 2147483647 w 133"/>
                <a:gd name="T63" fmla="*/ 2147483647 h 91"/>
                <a:gd name="T64" fmla="*/ 2147483647 w 133"/>
                <a:gd name="T65" fmla="*/ 2147483647 h 91"/>
                <a:gd name="T66" fmla="*/ 2147483647 w 133"/>
                <a:gd name="T67" fmla="*/ 2147483647 h 91"/>
                <a:gd name="T68" fmla="*/ 2147483647 w 133"/>
                <a:gd name="T69" fmla="*/ 0 h 91"/>
                <a:gd name="T70" fmla="*/ 2147483647 w 133"/>
                <a:gd name="T71" fmla="*/ 2147483647 h 91"/>
                <a:gd name="T72" fmla="*/ 2147483647 w 133"/>
                <a:gd name="T73" fmla="*/ 2147483647 h 91"/>
                <a:gd name="T74" fmla="*/ 2147483647 w 133"/>
                <a:gd name="T75" fmla="*/ 2147483647 h 91"/>
                <a:gd name="T76" fmla="*/ 2147483647 w 133"/>
                <a:gd name="T77" fmla="*/ 2147483647 h 91"/>
                <a:gd name="T78" fmla="*/ 2147483647 w 133"/>
                <a:gd name="T79" fmla="*/ 2147483647 h 91"/>
                <a:gd name="T80" fmla="*/ 2147483647 w 133"/>
                <a:gd name="T81" fmla="*/ 2147483647 h 91"/>
                <a:gd name="T82" fmla="*/ 2147483647 w 133"/>
                <a:gd name="T83" fmla="*/ 2147483647 h 91"/>
                <a:gd name="T84" fmla="*/ 2147483647 w 133"/>
                <a:gd name="T85" fmla="*/ 2147483647 h 91"/>
                <a:gd name="T86" fmla="*/ 2147483647 w 133"/>
                <a:gd name="T87" fmla="*/ 2147483647 h 91"/>
                <a:gd name="T88" fmla="*/ 2147483647 w 133"/>
                <a:gd name="T89" fmla="*/ 2147483647 h 91"/>
                <a:gd name="T90" fmla="*/ 2147483647 w 133"/>
                <a:gd name="T91" fmla="*/ 2147483647 h 91"/>
                <a:gd name="T92" fmla="*/ 2147483647 w 133"/>
                <a:gd name="T93" fmla="*/ 2147483647 h 91"/>
                <a:gd name="T94" fmla="*/ 2147483647 w 133"/>
                <a:gd name="T95" fmla="*/ 2147483647 h 91"/>
                <a:gd name="T96" fmla="*/ 2147483647 w 133"/>
                <a:gd name="T97" fmla="*/ 2147483647 h 91"/>
                <a:gd name="T98" fmla="*/ 2147483647 w 133"/>
                <a:gd name="T99" fmla="*/ 2147483647 h 91"/>
                <a:gd name="T100" fmla="*/ 2147483647 w 133"/>
                <a:gd name="T101" fmla="*/ 2147483647 h 91"/>
                <a:gd name="T102" fmla="*/ 2147483647 w 133"/>
                <a:gd name="T103" fmla="*/ 2147483647 h 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33" h="91">
                  <a:moveTo>
                    <a:pt x="104" y="0"/>
                  </a:moveTo>
                  <a:lnTo>
                    <a:pt x="104" y="4"/>
                  </a:lnTo>
                  <a:lnTo>
                    <a:pt x="103" y="13"/>
                  </a:lnTo>
                  <a:lnTo>
                    <a:pt x="103" y="23"/>
                  </a:lnTo>
                  <a:lnTo>
                    <a:pt x="102" y="30"/>
                  </a:lnTo>
                  <a:lnTo>
                    <a:pt x="101" y="35"/>
                  </a:lnTo>
                  <a:lnTo>
                    <a:pt x="101" y="39"/>
                  </a:lnTo>
                  <a:lnTo>
                    <a:pt x="102" y="44"/>
                  </a:lnTo>
                  <a:lnTo>
                    <a:pt x="107" y="46"/>
                  </a:lnTo>
                  <a:lnTo>
                    <a:pt x="111" y="43"/>
                  </a:lnTo>
                  <a:lnTo>
                    <a:pt x="113" y="37"/>
                  </a:lnTo>
                  <a:lnTo>
                    <a:pt x="115" y="34"/>
                  </a:lnTo>
                  <a:lnTo>
                    <a:pt x="121" y="36"/>
                  </a:lnTo>
                  <a:lnTo>
                    <a:pt x="128" y="42"/>
                  </a:lnTo>
                  <a:lnTo>
                    <a:pt x="132" y="45"/>
                  </a:lnTo>
                  <a:lnTo>
                    <a:pt x="133" y="49"/>
                  </a:lnTo>
                  <a:lnTo>
                    <a:pt x="132" y="54"/>
                  </a:lnTo>
                  <a:lnTo>
                    <a:pt x="132" y="60"/>
                  </a:lnTo>
                  <a:lnTo>
                    <a:pt x="132" y="62"/>
                  </a:lnTo>
                  <a:lnTo>
                    <a:pt x="131" y="66"/>
                  </a:lnTo>
                  <a:lnTo>
                    <a:pt x="128" y="72"/>
                  </a:lnTo>
                  <a:lnTo>
                    <a:pt x="123" y="78"/>
                  </a:lnTo>
                  <a:lnTo>
                    <a:pt x="121" y="82"/>
                  </a:lnTo>
                  <a:lnTo>
                    <a:pt x="116" y="84"/>
                  </a:lnTo>
                  <a:lnTo>
                    <a:pt x="107" y="83"/>
                  </a:lnTo>
                  <a:lnTo>
                    <a:pt x="96" y="81"/>
                  </a:lnTo>
                  <a:lnTo>
                    <a:pt x="88" y="78"/>
                  </a:lnTo>
                  <a:lnTo>
                    <a:pt x="83" y="77"/>
                  </a:lnTo>
                  <a:lnTo>
                    <a:pt x="79" y="80"/>
                  </a:lnTo>
                  <a:lnTo>
                    <a:pt x="76" y="83"/>
                  </a:lnTo>
                  <a:lnTo>
                    <a:pt x="72" y="85"/>
                  </a:lnTo>
                  <a:lnTo>
                    <a:pt x="68" y="88"/>
                  </a:lnTo>
                  <a:lnTo>
                    <a:pt x="61" y="90"/>
                  </a:lnTo>
                  <a:lnTo>
                    <a:pt x="54" y="91"/>
                  </a:lnTo>
                  <a:lnTo>
                    <a:pt x="49" y="91"/>
                  </a:lnTo>
                  <a:lnTo>
                    <a:pt x="45" y="91"/>
                  </a:lnTo>
                  <a:lnTo>
                    <a:pt x="39" y="91"/>
                  </a:lnTo>
                  <a:lnTo>
                    <a:pt x="32" y="89"/>
                  </a:lnTo>
                  <a:lnTo>
                    <a:pt x="24" y="85"/>
                  </a:lnTo>
                  <a:lnTo>
                    <a:pt x="18" y="82"/>
                  </a:lnTo>
                  <a:lnTo>
                    <a:pt x="19" y="78"/>
                  </a:lnTo>
                  <a:lnTo>
                    <a:pt x="25" y="77"/>
                  </a:lnTo>
                  <a:lnTo>
                    <a:pt x="32" y="77"/>
                  </a:lnTo>
                  <a:lnTo>
                    <a:pt x="38" y="77"/>
                  </a:lnTo>
                  <a:lnTo>
                    <a:pt x="43" y="75"/>
                  </a:lnTo>
                  <a:lnTo>
                    <a:pt x="48" y="70"/>
                  </a:lnTo>
                  <a:lnTo>
                    <a:pt x="49" y="64"/>
                  </a:lnTo>
                  <a:lnTo>
                    <a:pt x="48" y="60"/>
                  </a:lnTo>
                  <a:lnTo>
                    <a:pt x="42" y="60"/>
                  </a:lnTo>
                  <a:lnTo>
                    <a:pt x="35" y="65"/>
                  </a:lnTo>
                  <a:lnTo>
                    <a:pt x="32" y="67"/>
                  </a:lnTo>
                  <a:lnTo>
                    <a:pt x="27" y="67"/>
                  </a:lnTo>
                  <a:lnTo>
                    <a:pt x="20" y="62"/>
                  </a:lnTo>
                  <a:lnTo>
                    <a:pt x="14" y="57"/>
                  </a:lnTo>
                  <a:lnTo>
                    <a:pt x="8" y="53"/>
                  </a:lnTo>
                  <a:lnTo>
                    <a:pt x="4" y="51"/>
                  </a:lnTo>
                  <a:lnTo>
                    <a:pt x="2" y="46"/>
                  </a:lnTo>
                  <a:lnTo>
                    <a:pt x="0" y="42"/>
                  </a:lnTo>
                  <a:lnTo>
                    <a:pt x="0" y="38"/>
                  </a:lnTo>
                  <a:lnTo>
                    <a:pt x="2" y="35"/>
                  </a:lnTo>
                  <a:lnTo>
                    <a:pt x="8" y="30"/>
                  </a:lnTo>
                  <a:lnTo>
                    <a:pt x="12" y="25"/>
                  </a:lnTo>
                  <a:lnTo>
                    <a:pt x="14" y="22"/>
                  </a:lnTo>
                  <a:lnTo>
                    <a:pt x="15" y="20"/>
                  </a:lnTo>
                  <a:lnTo>
                    <a:pt x="18" y="14"/>
                  </a:lnTo>
                  <a:lnTo>
                    <a:pt x="23" y="7"/>
                  </a:lnTo>
                  <a:lnTo>
                    <a:pt x="25" y="4"/>
                  </a:lnTo>
                  <a:lnTo>
                    <a:pt x="28" y="1"/>
                  </a:lnTo>
                  <a:lnTo>
                    <a:pt x="34" y="0"/>
                  </a:lnTo>
                  <a:lnTo>
                    <a:pt x="41" y="0"/>
                  </a:lnTo>
                  <a:lnTo>
                    <a:pt x="45" y="2"/>
                  </a:lnTo>
                  <a:lnTo>
                    <a:pt x="46" y="5"/>
                  </a:lnTo>
                  <a:lnTo>
                    <a:pt x="45" y="8"/>
                  </a:lnTo>
                  <a:lnTo>
                    <a:pt x="46" y="13"/>
                  </a:lnTo>
                  <a:lnTo>
                    <a:pt x="50" y="15"/>
                  </a:lnTo>
                  <a:lnTo>
                    <a:pt x="55" y="19"/>
                  </a:lnTo>
                  <a:lnTo>
                    <a:pt x="56" y="23"/>
                  </a:lnTo>
                  <a:lnTo>
                    <a:pt x="56" y="28"/>
                  </a:lnTo>
                  <a:lnTo>
                    <a:pt x="61" y="31"/>
                  </a:lnTo>
                  <a:lnTo>
                    <a:pt x="65" y="35"/>
                  </a:lnTo>
                  <a:lnTo>
                    <a:pt x="68" y="39"/>
                  </a:lnTo>
                  <a:lnTo>
                    <a:pt x="68" y="44"/>
                  </a:lnTo>
                  <a:lnTo>
                    <a:pt x="68" y="47"/>
                  </a:lnTo>
                  <a:lnTo>
                    <a:pt x="70" y="50"/>
                  </a:lnTo>
                  <a:lnTo>
                    <a:pt x="75" y="52"/>
                  </a:lnTo>
                  <a:lnTo>
                    <a:pt x="80" y="55"/>
                  </a:lnTo>
                  <a:lnTo>
                    <a:pt x="86" y="59"/>
                  </a:lnTo>
                  <a:lnTo>
                    <a:pt x="90" y="59"/>
                  </a:lnTo>
                  <a:lnTo>
                    <a:pt x="91" y="54"/>
                  </a:lnTo>
                  <a:lnTo>
                    <a:pt x="91" y="47"/>
                  </a:lnTo>
                  <a:lnTo>
                    <a:pt x="91" y="42"/>
                  </a:lnTo>
                  <a:lnTo>
                    <a:pt x="91" y="37"/>
                  </a:lnTo>
                  <a:lnTo>
                    <a:pt x="91" y="32"/>
                  </a:lnTo>
                  <a:lnTo>
                    <a:pt x="88" y="30"/>
                  </a:lnTo>
                  <a:lnTo>
                    <a:pt x="86" y="30"/>
                  </a:lnTo>
                  <a:lnTo>
                    <a:pt x="85" y="29"/>
                  </a:lnTo>
                  <a:lnTo>
                    <a:pt x="84" y="24"/>
                  </a:lnTo>
                  <a:lnTo>
                    <a:pt x="84" y="19"/>
                  </a:lnTo>
                  <a:lnTo>
                    <a:pt x="84" y="14"/>
                  </a:lnTo>
                  <a:lnTo>
                    <a:pt x="85" y="11"/>
                  </a:lnTo>
                  <a:lnTo>
                    <a:pt x="88" y="8"/>
                  </a:lnTo>
                  <a:lnTo>
                    <a:pt x="94" y="6"/>
                  </a:lnTo>
                  <a:lnTo>
                    <a:pt x="99" y="4"/>
                  </a:lnTo>
                  <a:lnTo>
                    <a:pt x="103" y="1"/>
                  </a:lnTo>
                  <a:lnTo>
                    <a:pt x="104" y="0"/>
                  </a:lnTo>
                  <a:close/>
                </a:path>
              </a:pathLst>
            </a:custGeom>
            <a:grpFill/>
            <a:ln w="9525">
              <a:solidFill>
                <a:schemeClr val="bg2">
                  <a:lumMod val="50000"/>
                </a:schemeClr>
              </a:solidFill>
              <a:round/>
              <a:headEnd/>
              <a:tailEnd/>
            </a:ln>
          </p:spPr>
          <p:txBody>
            <a:bodyPr/>
            <a:lstStyle/>
            <a:p>
              <a:endParaRPr lang="en-US" dirty="0"/>
            </a:p>
          </p:txBody>
        </p:sp>
        <p:sp>
          <p:nvSpPr>
            <p:cNvPr id="148" name="Freeform 434"/>
            <p:cNvSpPr>
              <a:spLocks/>
            </p:cNvSpPr>
            <p:nvPr/>
          </p:nvSpPr>
          <p:spPr bwMode="gray">
            <a:xfrm>
              <a:off x="2636113" y="1928585"/>
              <a:ext cx="92281" cy="49965"/>
            </a:xfrm>
            <a:custGeom>
              <a:avLst/>
              <a:gdLst>
                <a:gd name="T0" fmla="*/ 2147483647 w 102"/>
                <a:gd name="T1" fmla="*/ 2147483647 h 60"/>
                <a:gd name="T2" fmla="*/ 2147483647 w 102"/>
                <a:gd name="T3" fmla="*/ 2147483647 h 60"/>
                <a:gd name="T4" fmla="*/ 2147483647 w 102"/>
                <a:gd name="T5" fmla="*/ 2147483647 h 60"/>
                <a:gd name="T6" fmla="*/ 2147483647 w 102"/>
                <a:gd name="T7" fmla="*/ 2147483647 h 60"/>
                <a:gd name="T8" fmla="*/ 2147483647 w 102"/>
                <a:gd name="T9" fmla="*/ 2147483647 h 60"/>
                <a:gd name="T10" fmla="*/ 2147483647 w 102"/>
                <a:gd name="T11" fmla="*/ 2147483647 h 60"/>
                <a:gd name="T12" fmla="*/ 2147483647 w 102"/>
                <a:gd name="T13" fmla="*/ 2147483647 h 60"/>
                <a:gd name="T14" fmla="*/ 2147483647 w 102"/>
                <a:gd name="T15" fmla="*/ 2147483647 h 60"/>
                <a:gd name="T16" fmla="*/ 2147483647 w 102"/>
                <a:gd name="T17" fmla="*/ 2147483647 h 60"/>
                <a:gd name="T18" fmla="*/ 2147483647 w 102"/>
                <a:gd name="T19" fmla="*/ 2147483647 h 60"/>
                <a:gd name="T20" fmla="*/ 2147483647 w 102"/>
                <a:gd name="T21" fmla="*/ 2147483647 h 60"/>
                <a:gd name="T22" fmla="*/ 2147483647 w 102"/>
                <a:gd name="T23" fmla="*/ 2147483647 h 60"/>
                <a:gd name="T24" fmla="*/ 2147483647 w 102"/>
                <a:gd name="T25" fmla="*/ 2147483647 h 60"/>
                <a:gd name="T26" fmla="*/ 2147483647 w 102"/>
                <a:gd name="T27" fmla="*/ 2147483647 h 60"/>
                <a:gd name="T28" fmla="*/ 2147483647 w 102"/>
                <a:gd name="T29" fmla="*/ 2147483647 h 60"/>
                <a:gd name="T30" fmla="*/ 2147483647 w 102"/>
                <a:gd name="T31" fmla="*/ 2147483647 h 60"/>
                <a:gd name="T32" fmla="*/ 2147483647 w 102"/>
                <a:gd name="T33" fmla="*/ 2147483647 h 60"/>
                <a:gd name="T34" fmla="*/ 2147483647 w 102"/>
                <a:gd name="T35" fmla="*/ 2147483647 h 60"/>
                <a:gd name="T36" fmla="*/ 2147483647 w 102"/>
                <a:gd name="T37" fmla="*/ 2147483647 h 60"/>
                <a:gd name="T38" fmla="*/ 2147483647 w 102"/>
                <a:gd name="T39" fmla="*/ 2147483647 h 60"/>
                <a:gd name="T40" fmla="*/ 2147483647 w 102"/>
                <a:gd name="T41" fmla="*/ 2147483647 h 60"/>
                <a:gd name="T42" fmla="*/ 2147483647 w 102"/>
                <a:gd name="T43" fmla="*/ 2147483647 h 60"/>
                <a:gd name="T44" fmla="*/ 2147483647 w 102"/>
                <a:gd name="T45" fmla="*/ 2147483647 h 60"/>
                <a:gd name="T46" fmla="*/ 0 w 102"/>
                <a:gd name="T47" fmla="*/ 2147483647 h 60"/>
                <a:gd name="T48" fmla="*/ 2147483647 w 102"/>
                <a:gd name="T49" fmla="*/ 2147483647 h 60"/>
                <a:gd name="T50" fmla="*/ 2147483647 w 102"/>
                <a:gd name="T51" fmla="*/ 2147483647 h 60"/>
                <a:gd name="T52" fmla="*/ 2147483647 w 102"/>
                <a:gd name="T53" fmla="*/ 2147483647 h 60"/>
                <a:gd name="T54" fmla="*/ 2147483647 w 102"/>
                <a:gd name="T55" fmla="*/ 2147483647 h 60"/>
                <a:gd name="T56" fmla="*/ 2147483647 w 102"/>
                <a:gd name="T57" fmla="*/ 2147483647 h 60"/>
                <a:gd name="T58" fmla="*/ 2147483647 w 102"/>
                <a:gd name="T59" fmla="*/ 2147483647 h 60"/>
                <a:gd name="T60" fmla="*/ 2147483647 w 102"/>
                <a:gd name="T61" fmla="*/ 2147483647 h 60"/>
                <a:gd name="T62" fmla="*/ 2147483647 w 102"/>
                <a:gd name="T63" fmla="*/ 2147483647 h 60"/>
                <a:gd name="T64" fmla="*/ 2147483647 w 102"/>
                <a:gd name="T65" fmla="*/ 0 h 60"/>
                <a:gd name="T66" fmla="*/ 2147483647 w 102"/>
                <a:gd name="T67" fmla="*/ 0 h 60"/>
                <a:gd name="T68" fmla="*/ 2147483647 w 102"/>
                <a:gd name="T69" fmla="*/ 0 h 60"/>
                <a:gd name="T70" fmla="*/ 2147483647 w 102"/>
                <a:gd name="T71" fmla="*/ 0 h 60"/>
                <a:gd name="T72" fmla="*/ 2147483647 w 102"/>
                <a:gd name="T73" fmla="*/ 0 h 60"/>
                <a:gd name="T74" fmla="*/ 2147483647 w 102"/>
                <a:gd name="T75" fmla="*/ 0 h 60"/>
                <a:gd name="T76" fmla="*/ 2147483647 w 102"/>
                <a:gd name="T77" fmla="*/ 2147483647 h 60"/>
                <a:gd name="T78" fmla="*/ 2147483647 w 102"/>
                <a:gd name="T79" fmla="*/ 2147483647 h 60"/>
                <a:gd name="T80" fmla="*/ 2147483647 w 102"/>
                <a:gd name="T81" fmla="*/ 2147483647 h 60"/>
                <a:gd name="T82" fmla="*/ 2147483647 w 102"/>
                <a:gd name="T83" fmla="*/ 2147483647 h 60"/>
                <a:gd name="T84" fmla="*/ 2147483647 w 102"/>
                <a:gd name="T85" fmla="*/ 2147483647 h 60"/>
                <a:gd name="T86" fmla="*/ 2147483647 w 102"/>
                <a:gd name="T87" fmla="*/ 2147483647 h 60"/>
                <a:gd name="T88" fmla="*/ 2147483647 w 102"/>
                <a:gd name="T89" fmla="*/ 2147483647 h 60"/>
                <a:gd name="T90" fmla="*/ 2147483647 w 102"/>
                <a:gd name="T91" fmla="*/ 2147483647 h 60"/>
                <a:gd name="T92" fmla="*/ 2147483647 w 102"/>
                <a:gd name="T93" fmla="*/ 2147483647 h 60"/>
                <a:gd name="T94" fmla="*/ 2147483647 w 102"/>
                <a:gd name="T95" fmla="*/ 2147483647 h 60"/>
                <a:gd name="T96" fmla="*/ 2147483647 w 102"/>
                <a:gd name="T97" fmla="*/ 2147483647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2" h="60">
                  <a:moveTo>
                    <a:pt x="76" y="40"/>
                  </a:moveTo>
                  <a:lnTo>
                    <a:pt x="75" y="41"/>
                  </a:lnTo>
                  <a:lnTo>
                    <a:pt x="72" y="45"/>
                  </a:lnTo>
                  <a:lnTo>
                    <a:pt x="68" y="46"/>
                  </a:lnTo>
                  <a:lnTo>
                    <a:pt x="66" y="42"/>
                  </a:lnTo>
                  <a:lnTo>
                    <a:pt x="64" y="35"/>
                  </a:lnTo>
                  <a:lnTo>
                    <a:pt x="61" y="30"/>
                  </a:lnTo>
                  <a:lnTo>
                    <a:pt x="58" y="27"/>
                  </a:lnTo>
                  <a:lnTo>
                    <a:pt x="56" y="31"/>
                  </a:lnTo>
                  <a:lnTo>
                    <a:pt x="55" y="38"/>
                  </a:lnTo>
                  <a:lnTo>
                    <a:pt x="55" y="44"/>
                  </a:lnTo>
                  <a:lnTo>
                    <a:pt x="53" y="47"/>
                  </a:lnTo>
                  <a:lnTo>
                    <a:pt x="48" y="47"/>
                  </a:lnTo>
                  <a:lnTo>
                    <a:pt x="42" y="47"/>
                  </a:lnTo>
                  <a:lnTo>
                    <a:pt x="38" y="52"/>
                  </a:lnTo>
                  <a:lnTo>
                    <a:pt x="38" y="57"/>
                  </a:lnTo>
                  <a:lnTo>
                    <a:pt x="38" y="60"/>
                  </a:lnTo>
                  <a:lnTo>
                    <a:pt x="37" y="57"/>
                  </a:lnTo>
                  <a:lnTo>
                    <a:pt x="33" y="54"/>
                  </a:lnTo>
                  <a:lnTo>
                    <a:pt x="27" y="50"/>
                  </a:lnTo>
                  <a:lnTo>
                    <a:pt x="22" y="48"/>
                  </a:lnTo>
                  <a:lnTo>
                    <a:pt x="15" y="48"/>
                  </a:lnTo>
                  <a:lnTo>
                    <a:pt x="6" y="48"/>
                  </a:lnTo>
                  <a:lnTo>
                    <a:pt x="0" y="46"/>
                  </a:lnTo>
                  <a:lnTo>
                    <a:pt x="4" y="40"/>
                  </a:lnTo>
                  <a:lnTo>
                    <a:pt x="11" y="34"/>
                  </a:lnTo>
                  <a:lnTo>
                    <a:pt x="17" y="30"/>
                  </a:lnTo>
                  <a:lnTo>
                    <a:pt x="23" y="25"/>
                  </a:lnTo>
                  <a:lnTo>
                    <a:pt x="35" y="19"/>
                  </a:lnTo>
                  <a:lnTo>
                    <a:pt x="46" y="12"/>
                  </a:lnTo>
                  <a:lnTo>
                    <a:pt x="55" y="7"/>
                  </a:lnTo>
                  <a:lnTo>
                    <a:pt x="60" y="2"/>
                  </a:lnTo>
                  <a:lnTo>
                    <a:pt x="68" y="0"/>
                  </a:lnTo>
                  <a:lnTo>
                    <a:pt x="76" y="0"/>
                  </a:lnTo>
                  <a:lnTo>
                    <a:pt x="80" y="0"/>
                  </a:lnTo>
                  <a:lnTo>
                    <a:pt x="83" y="0"/>
                  </a:lnTo>
                  <a:lnTo>
                    <a:pt x="87" y="0"/>
                  </a:lnTo>
                  <a:lnTo>
                    <a:pt x="93" y="0"/>
                  </a:lnTo>
                  <a:lnTo>
                    <a:pt x="98" y="2"/>
                  </a:lnTo>
                  <a:lnTo>
                    <a:pt x="102" y="6"/>
                  </a:lnTo>
                  <a:lnTo>
                    <a:pt x="99" y="10"/>
                  </a:lnTo>
                  <a:lnTo>
                    <a:pt x="95" y="15"/>
                  </a:lnTo>
                  <a:lnTo>
                    <a:pt x="93" y="17"/>
                  </a:lnTo>
                  <a:lnTo>
                    <a:pt x="93" y="19"/>
                  </a:lnTo>
                  <a:lnTo>
                    <a:pt x="91" y="24"/>
                  </a:lnTo>
                  <a:lnTo>
                    <a:pt x="89" y="31"/>
                  </a:lnTo>
                  <a:lnTo>
                    <a:pt x="86" y="35"/>
                  </a:lnTo>
                  <a:lnTo>
                    <a:pt x="81" y="39"/>
                  </a:lnTo>
                  <a:lnTo>
                    <a:pt x="76" y="40"/>
                  </a:lnTo>
                  <a:close/>
                </a:path>
              </a:pathLst>
            </a:custGeom>
            <a:grpFill/>
            <a:ln w="9525">
              <a:solidFill>
                <a:schemeClr val="bg2">
                  <a:lumMod val="50000"/>
                </a:schemeClr>
              </a:solidFill>
              <a:round/>
              <a:headEnd/>
              <a:tailEnd/>
            </a:ln>
          </p:spPr>
          <p:txBody>
            <a:bodyPr/>
            <a:lstStyle/>
            <a:p>
              <a:endParaRPr lang="en-US" dirty="0"/>
            </a:p>
          </p:txBody>
        </p:sp>
        <p:sp>
          <p:nvSpPr>
            <p:cNvPr id="149" name="Freeform 435"/>
            <p:cNvSpPr>
              <a:spLocks/>
            </p:cNvSpPr>
            <p:nvPr/>
          </p:nvSpPr>
          <p:spPr bwMode="gray">
            <a:xfrm>
              <a:off x="2818001" y="1978550"/>
              <a:ext cx="77570" cy="65337"/>
            </a:xfrm>
            <a:custGeom>
              <a:avLst/>
              <a:gdLst>
                <a:gd name="T0" fmla="*/ 2147483647 w 86"/>
                <a:gd name="T1" fmla="*/ 2147483647 h 80"/>
                <a:gd name="T2" fmla="*/ 2147483647 w 86"/>
                <a:gd name="T3" fmla="*/ 0 h 80"/>
                <a:gd name="T4" fmla="*/ 2147483647 w 86"/>
                <a:gd name="T5" fmla="*/ 2147483647 h 80"/>
                <a:gd name="T6" fmla="*/ 2147483647 w 86"/>
                <a:gd name="T7" fmla="*/ 2147483647 h 80"/>
                <a:gd name="T8" fmla="*/ 2147483647 w 86"/>
                <a:gd name="T9" fmla="*/ 2147483647 h 80"/>
                <a:gd name="T10" fmla="*/ 2147483647 w 86"/>
                <a:gd name="T11" fmla="*/ 2147483647 h 80"/>
                <a:gd name="T12" fmla="*/ 2147483647 w 86"/>
                <a:gd name="T13" fmla="*/ 2147483647 h 80"/>
                <a:gd name="T14" fmla="*/ 2147483647 w 86"/>
                <a:gd name="T15" fmla="*/ 2147483647 h 80"/>
                <a:gd name="T16" fmla="*/ 2147483647 w 86"/>
                <a:gd name="T17" fmla="*/ 2147483647 h 80"/>
                <a:gd name="T18" fmla="*/ 2147483647 w 86"/>
                <a:gd name="T19" fmla="*/ 2147483647 h 80"/>
                <a:gd name="T20" fmla="*/ 2147483647 w 86"/>
                <a:gd name="T21" fmla="*/ 2147483647 h 80"/>
                <a:gd name="T22" fmla="*/ 2147483647 w 86"/>
                <a:gd name="T23" fmla="*/ 2147483647 h 80"/>
                <a:gd name="T24" fmla="*/ 2147483647 w 86"/>
                <a:gd name="T25" fmla="*/ 2147483647 h 80"/>
                <a:gd name="T26" fmla="*/ 2147483647 w 86"/>
                <a:gd name="T27" fmla="*/ 2147483647 h 80"/>
                <a:gd name="T28" fmla="*/ 2147483647 w 86"/>
                <a:gd name="T29" fmla="*/ 2147483647 h 80"/>
                <a:gd name="T30" fmla="*/ 2147483647 w 86"/>
                <a:gd name="T31" fmla="*/ 2147483647 h 80"/>
                <a:gd name="T32" fmla="*/ 2147483647 w 86"/>
                <a:gd name="T33" fmla="*/ 2147483647 h 80"/>
                <a:gd name="T34" fmla="*/ 2147483647 w 86"/>
                <a:gd name="T35" fmla="*/ 2147483647 h 80"/>
                <a:gd name="T36" fmla="*/ 2147483647 w 86"/>
                <a:gd name="T37" fmla="*/ 2147483647 h 80"/>
                <a:gd name="T38" fmla="*/ 2147483647 w 86"/>
                <a:gd name="T39" fmla="*/ 2147483647 h 80"/>
                <a:gd name="T40" fmla="*/ 2147483647 w 86"/>
                <a:gd name="T41" fmla="*/ 2147483647 h 80"/>
                <a:gd name="T42" fmla="*/ 2147483647 w 86"/>
                <a:gd name="T43" fmla="*/ 2147483647 h 80"/>
                <a:gd name="T44" fmla="*/ 2147483647 w 86"/>
                <a:gd name="T45" fmla="*/ 2147483647 h 80"/>
                <a:gd name="T46" fmla="*/ 2147483647 w 86"/>
                <a:gd name="T47" fmla="*/ 2147483647 h 80"/>
                <a:gd name="T48" fmla="*/ 2147483647 w 86"/>
                <a:gd name="T49" fmla="*/ 2147483647 h 80"/>
                <a:gd name="T50" fmla="*/ 2147483647 w 86"/>
                <a:gd name="T51" fmla="*/ 2147483647 h 80"/>
                <a:gd name="T52" fmla="*/ 2147483647 w 86"/>
                <a:gd name="T53" fmla="*/ 2147483647 h 80"/>
                <a:gd name="T54" fmla="*/ 2147483647 w 86"/>
                <a:gd name="T55" fmla="*/ 2147483647 h 80"/>
                <a:gd name="T56" fmla="*/ 2147483647 w 86"/>
                <a:gd name="T57" fmla="*/ 2147483647 h 80"/>
                <a:gd name="T58" fmla="*/ 2147483647 w 86"/>
                <a:gd name="T59" fmla="*/ 2147483647 h 80"/>
                <a:gd name="T60" fmla="*/ 2147483647 w 86"/>
                <a:gd name="T61" fmla="*/ 2147483647 h 80"/>
                <a:gd name="T62" fmla="*/ 2147483647 w 86"/>
                <a:gd name="T63" fmla="*/ 2147483647 h 80"/>
                <a:gd name="T64" fmla="*/ 2147483647 w 86"/>
                <a:gd name="T65" fmla="*/ 2147483647 h 80"/>
                <a:gd name="T66" fmla="*/ 2147483647 w 86"/>
                <a:gd name="T67" fmla="*/ 2147483647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6" h="80">
                  <a:moveTo>
                    <a:pt x="20" y="16"/>
                  </a:moveTo>
                  <a:lnTo>
                    <a:pt x="17" y="12"/>
                  </a:lnTo>
                  <a:lnTo>
                    <a:pt x="10" y="5"/>
                  </a:lnTo>
                  <a:lnTo>
                    <a:pt x="3" y="0"/>
                  </a:lnTo>
                  <a:lnTo>
                    <a:pt x="0" y="2"/>
                  </a:lnTo>
                  <a:lnTo>
                    <a:pt x="1" y="9"/>
                  </a:lnTo>
                  <a:lnTo>
                    <a:pt x="2" y="15"/>
                  </a:lnTo>
                  <a:lnTo>
                    <a:pt x="3" y="22"/>
                  </a:lnTo>
                  <a:lnTo>
                    <a:pt x="4" y="27"/>
                  </a:lnTo>
                  <a:lnTo>
                    <a:pt x="5" y="33"/>
                  </a:lnTo>
                  <a:lnTo>
                    <a:pt x="8" y="38"/>
                  </a:lnTo>
                  <a:lnTo>
                    <a:pt x="11" y="41"/>
                  </a:lnTo>
                  <a:lnTo>
                    <a:pt x="15" y="42"/>
                  </a:lnTo>
                  <a:lnTo>
                    <a:pt x="18" y="42"/>
                  </a:lnTo>
                  <a:lnTo>
                    <a:pt x="22" y="42"/>
                  </a:lnTo>
                  <a:lnTo>
                    <a:pt x="24" y="43"/>
                  </a:lnTo>
                  <a:lnTo>
                    <a:pt x="23" y="47"/>
                  </a:lnTo>
                  <a:lnTo>
                    <a:pt x="20" y="52"/>
                  </a:lnTo>
                  <a:lnTo>
                    <a:pt x="22" y="54"/>
                  </a:lnTo>
                  <a:lnTo>
                    <a:pt x="24" y="54"/>
                  </a:lnTo>
                  <a:lnTo>
                    <a:pt x="31" y="54"/>
                  </a:lnTo>
                  <a:lnTo>
                    <a:pt x="38" y="53"/>
                  </a:lnTo>
                  <a:lnTo>
                    <a:pt x="41" y="53"/>
                  </a:lnTo>
                  <a:lnTo>
                    <a:pt x="42" y="54"/>
                  </a:lnTo>
                  <a:lnTo>
                    <a:pt x="42" y="58"/>
                  </a:lnTo>
                  <a:lnTo>
                    <a:pt x="40" y="65"/>
                  </a:lnTo>
                  <a:lnTo>
                    <a:pt x="38" y="73"/>
                  </a:lnTo>
                  <a:lnTo>
                    <a:pt x="38" y="79"/>
                  </a:lnTo>
                  <a:lnTo>
                    <a:pt x="43" y="80"/>
                  </a:lnTo>
                  <a:lnTo>
                    <a:pt x="54" y="77"/>
                  </a:lnTo>
                  <a:lnTo>
                    <a:pt x="64" y="72"/>
                  </a:lnTo>
                  <a:lnTo>
                    <a:pt x="72" y="66"/>
                  </a:lnTo>
                  <a:lnTo>
                    <a:pt x="76" y="64"/>
                  </a:lnTo>
                  <a:lnTo>
                    <a:pt x="75" y="62"/>
                  </a:lnTo>
                  <a:lnTo>
                    <a:pt x="72" y="57"/>
                  </a:lnTo>
                  <a:lnTo>
                    <a:pt x="72" y="54"/>
                  </a:lnTo>
                  <a:lnTo>
                    <a:pt x="75" y="54"/>
                  </a:lnTo>
                  <a:lnTo>
                    <a:pt x="79" y="56"/>
                  </a:lnTo>
                  <a:lnTo>
                    <a:pt x="84" y="58"/>
                  </a:lnTo>
                  <a:lnTo>
                    <a:pt x="86" y="57"/>
                  </a:lnTo>
                  <a:lnTo>
                    <a:pt x="83" y="50"/>
                  </a:lnTo>
                  <a:lnTo>
                    <a:pt x="77" y="42"/>
                  </a:lnTo>
                  <a:lnTo>
                    <a:pt x="72" y="39"/>
                  </a:lnTo>
                  <a:lnTo>
                    <a:pt x="71" y="37"/>
                  </a:lnTo>
                  <a:lnTo>
                    <a:pt x="72" y="31"/>
                  </a:lnTo>
                  <a:lnTo>
                    <a:pt x="76" y="22"/>
                  </a:lnTo>
                  <a:lnTo>
                    <a:pt x="77" y="15"/>
                  </a:lnTo>
                  <a:lnTo>
                    <a:pt x="76" y="9"/>
                  </a:lnTo>
                  <a:lnTo>
                    <a:pt x="71" y="7"/>
                  </a:lnTo>
                  <a:lnTo>
                    <a:pt x="65" y="8"/>
                  </a:lnTo>
                  <a:lnTo>
                    <a:pt x="64" y="10"/>
                  </a:lnTo>
                  <a:lnTo>
                    <a:pt x="63" y="12"/>
                  </a:lnTo>
                  <a:lnTo>
                    <a:pt x="60" y="11"/>
                  </a:lnTo>
                  <a:lnTo>
                    <a:pt x="55" y="8"/>
                  </a:lnTo>
                  <a:lnTo>
                    <a:pt x="50" y="3"/>
                  </a:lnTo>
                  <a:lnTo>
                    <a:pt x="47" y="2"/>
                  </a:lnTo>
                  <a:lnTo>
                    <a:pt x="45" y="3"/>
                  </a:lnTo>
                  <a:lnTo>
                    <a:pt x="45" y="7"/>
                  </a:lnTo>
                  <a:lnTo>
                    <a:pt x="47" y="11"/>
                  </a:lnTo>
                  <a:lnTo>
                    <a:pt x="48" y="13"/>
                  </a:lnTo>
                  <a:lnTo>
                    <a:pt x="47" y="16"/>
                  </a:lnTo>
                  <a:lnTo>
                    <a:pt x="43" y="15"/>
                  </a:lnTo>
                  <a:lnTo>
                    <a:pt x="39" y="11"/>
                  </a:lnTo>
                  <a:lnTo>
                    <a:pt x="35" y="9"/>
                  </a:lnTo>
                  <a:lnTo>
                    <a:pt x="32" y="11"/>
                  </a:lnTo>
                  <a:lnTo>
                    <a:pt x="28" y="15"/>
                  </a:lnTo>
                  <a:lnTo>
                    <a:pt x="25" y="16"/>
                  </a:lnTo>
                  <a:lnTo>
                    <a:pt x="22" y="16"/>
                  </a:lnTo>
                  <a:lnTo>
                    <a:pt x="20" y="16"/>
                  </a:lnTo>
                  <a:close/>
                </a:path>
              </a:pathLst>
            </a:custGeom>
            <a:grpFill/>
            <a:ln w="9525">
              <a:solidFill>
                <a:schemeClr val="bg2">
                  <a:lumMod val="50000"/>
                </a:schemeClr>
              </a:solidFill>
              <a:round/>
              <a:headEnd/>
              <a:tailEnd/>
            </a:ln>
          </p:spPr>
          <p:txBody>
            <a:bodyPr/>
            <a:lstStyle/>
            <a:p>
              <a:endParaRPr lang="en-US" dirty="0"/>
            </a:p>
          </p:txBody>
        </p:sp>
        <p:sp>
          <p:nvSpPr>
            <p:cNvPr id="150" name="Freeform 436"/>
            <p:cNvSpPr>
              <a:spLocks/>
            </p:cNvSpPr>
            <p:nvPr/>
          </p:nvSpPr>
          <p:spPr bwMode="gray">
            <a:xfrm>
              <a:off x="2896909" y="2018265"/>
              <a:ext cx="30760" cy="37153"/>
            </a:xfrm>
            <a:custGeom>
              <a:avLst/>
              <a:gdLst>
                <a:gd name="T0" fmla="*/ 2147483647 w 34"/>
                <a:gd name="T1" fmla="*/ 2147483647 h 46"/>
                <a:gd name="T2" fmla="*/ 2147483647 w 34"/>
                <a:gd name="T3" fmla="*/ 2147483647 h 46"/>
                <a:gd name="T4" fmla="*/ 2147483647 w 34"/>
                <a:gd name="T5" fmla="*/ 2147483647 h 46"/>
                <a:gd name="T6" fmla="*/ 2147483647 w 34"/>
                <a:gd name="T7" fmla="*/ 2147483647 h 46"/>
                <a:gd name="T8" fmla="*/ 2147483647 w 34"/>
                <a:gd name="T9" fmla="*/ 2147483647 h 46"/>
                <a:gd name="T10" fmla="*/ 2147483647 w 34"/>
                <a:gd name="T11" fmla="*/ 2147483647 h 46"/>
                <a:gd name="T12" fmla="*/ 2147483647 w 34"/>
                <a:gd name="T13" fmla="*/ 2147483647 h 46"/>
                <a:gd name="T14" fmla="*/ 0 w 34"/>
                <a:gd name="T15" fmla="*/ 2147483647 h 46"/>
                <a:gd name="T16" fmla="*/ 2147483647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2147483647 h 46"/>
                <a:gd name="T48" fmla="*/ 2147483647 w 34"/>
                <a:gd name="T49" fmla="*/ 0 h 46"/>
                <a:gd name="T50" fmla="*/ 2147483647 w 34"/>
                <a:gd name="T51" fmla="*/ 0 h 46"/>
                <a:gd name="T52" fmla="*/ 2147483647 w 34"/>
                <a:gd name="T53" fmla="*/ 0 h 46"/>
                <a:gd name="T54" fmla="*/ 2147483647 w 34"/>
                <a:gd name="T55" fmla="*/ 2147483647 h 46"/>
                <a:gd name="T56" fmla="*/ 2147483647 w 34"/>
                <a:gd name="T57" fmla="*/ 2147483647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4" h="46">
                  <a:moveTo>
                    <a:pt x="14" y="4"/>
                  </a:moveTo>
                  <a:lnTo>
                    <a:pt x="14" y="5"/>
                  </a:lnTo>
                  <a:lnTo>
                    <a:pt x="13" y="7"/>
                  </a:lnTo>
                  <a:lnTo>
                    <a:pt x="11" y="12"/>
                  </a:lnTo>
                  <a:lnTo>
                    <a:pt x="7" y="15"/>
                  </a:lnTo>
                  <a:lnTo>
                    <a:pt x="4" y="18"/>
                  </a:lnTo>
                  <a:lnTo>
                    <a:pt x="1" y="23"/>
                  </a:lnTo>
                  <a:lnTo>
                    <a:pt x="0" y="28"/>
                  </a:lnTo>
                  <a:lnTo>
                    <a:pt x="3" y="31"/>
                  </a:lnTo>
                  <a:lnTo>
                    <a:pt x="7" y="35"/>
                  </a:lnTo>
                  <a:lnTo>
                    <a:pt x="12" y="37"/>
                  </a:lnTo>
                  <a:lnTo>
                    <a:pt x="16" y="40"/>
                  </a:lnTo>
                  <a:lnTo>
                    <a:pt x="19" y="44"/>
                  </a:lnTo>
                  <a:lnTo>
                    <a:pt x="22" y="46"/>
                  </a:lnTo>
                  <a:lnTo>
                    <a:pt x="27" y="44"/>
                  </a:lnTo>
                  <a:lnTo>
                    <a:pt x="31" y="40"/>
                  </a:lnTo>
                  <a:lnTo>
                    <a:pt x="34" y="35"/>
                  </a:lnTo>
                  <a:lnTo>
                    <a:pt x="34" y="29"/>
                  </a:lnTo>
                  <a:lnTo>
                    <a:pt x="33" y="24"/>
                  </a:lnTo>
                  <a:lnTo>
                    <a:pt x="30" y="20"/>
                  </a:lnTo>
                  <a:lnTo>
                    <a:pt x="30" y="15"/>
                  </a:lnTo>
                  <a:lnTo>
                    <a:pt x="29" y="9"/>
                  </a:lnTo>
                  <a:lnTo>
                    <a:pt x="27" y="5"/>
                  </a:lnTo>
                  <a:lnTo>
                    <a:pt x="23" y="1"/>
                  </a:lnTo>
                  <a:lnTo>
                    <a:pt x="22" y="0"/>
                  </a:lnTo>
                  <a:lnTo>
                    <a:pt x="21" y="0"/>
                  </a:lnTo>
                  <a:lnTo>
                    <a:pt x="19" y="0"/>
                  </a:lnTo>
                  <a:lnTo>
                    <a:pt x="16" y="1"/>
                  </a:lnTo>
                  <a:lnTo>
                    <a:pt x="14" y="4"/>
                  </a:lnTo>
                  <a:close/>
                </a:path>
              </a:pathLst>
            </a:custGeom>
            <a:grpFill/>
            <a:ln w="9525">
              <a:solidFill>
                <a:schemeClr val="bg2">
                  <a:lumMod val="50000"/>
                </a:schemeClr>
              </a:solidFill>
              <a:round/>
              <a:headEnd/>
              <a:tailEnd/>
            </a:ln>
          </p:spPr>
          <p:txBody>
            <a:bodyPr/>
            <a:lstStyle/>
            <a:p>
              <a:endParaRPr lang="en-US" dirty="0"/>
            </a:p>
          </p:txBody>
        </p:sp>
        <p:sp>
          <p:nvSpPr>
            <p:cNvPr id="151" name="Freeform 437"/>
            <p:cNvSpPr>
              <a:spLocks/>
            </p:cNvSpPr>
            <p:nvPr/>
          </p:nvSpPr>
          <p:spPr bwMode="gray">
            <a:xfrm>
              <a:off x="2888884" y="1967020"/>
              <a:ext cx="181888" cy="83274"/>
            </a:xfrm>
            <a:custGeom>
              <a:avLst/>
              <a:gdLst>
                <a:gd name="T0" fmla="*/ 2147483647 w 202"/>
                <a:gd name="T1" fmla="*/ 2147483647 h 100"/>
                <a:gd name="T2" fmla="*/ 2147483647 w 202"/>
                <a:gd name="T3" fmla="*/ 2147483647 h 100"/>
                <a:gd name="T4" fmla="*/ 2147483647 w 202"/>
                <a:gd name="T5" fmla="*/ 2147483647 h 100"/>
                <a:gd name="T6" fmla="*/ 2147483647 w 202"/>
                <a:gd name="T7" fmla="*/ 2147483647 h 100"/>
                <a:gd name="T8" fmla="*/ 2147483647 w 202"/>
                <a:gd name="T9" fmla="*/ 2147483647 h 100"/>
                <a:gd name="T10" fmla="*/ 2147483647 w 202"/>
                <a:gd name="T11" fmla="*/ 2147483647 h 100"/>
                <a:gd name="T12" fmla="*/ 2147483647 w 202"/>
                <a:gd name="T13" fmla="*/ 2147483647 h 100"/>
                <a:gd name="T14" fmla="*/ 2147483647 w 202"/>
                <a:gd name="T15" fmla="*/ 2147483647 h 100"/>
                <a:gd name="T16" fmla="*/ 2147483647 w 202"/>
                <a:gd name="T17" fmla="*/ 2147483647 h 100"/>
                <a:gd name="T18" fmla="*/ 2147483647 w 202"/>
                <a:gd name="T19" fmla="*/ 2147483647 h 100"/>
                <a:gd name="T20" fmla="*/ 2147483647 w 202"/>
                <a:gd name="T21" fmla="*/ 2147483647 h 100"/>
                <a:gd name="T22" fmla="*/ 2147483647 w 202"/>
                <a:gd name="T23" fmla="*/ 2147483647 h 100"/>
                <a:gd name="T24" fmla="*/ 2147483647 w 202"/>
                <a:gd name="T25" fmla="*/ 2147483647 h 100"/>
                <a:gd name="T26" fmla="*/ 2147483647 w 202"/>
                <a:gd name="T27" fmla="*/ 2147483647 h 100"/>
                <a:gd name="T28" fmla="*/ 2147483647 w 202"/>
                <a:gd name="T29" fmla="*/ 2147483647 h 100"/>
                <a:gd name="T30" fmla="*/ 2147483647 w 202"/>
                <a:gd name="T31" fmla="*/ 2147483647 h 100"/>
                <a:gd name="T32" fmla="*/ 2147483647 w 202"/>
                <a:gd name="T33" fmla="*/ 2147483647 h 100"/>
                <a:gd name="T34" fmla="*/ 2147483647 w 202"/>
                <a:gd name="T35" fmla="*/ 2147483647 h 100"/>
                <a:gd name="T36" fmla="*/ 2147483647 w 202"/>
                <a:gd name="T37" fmla="*/ 2147483647 h 100"/>
                <a:gd name="T38" fmla="*/ 2147483647 w 202"/>
                <a:gd name="T39" fmla="*/ 2147483647 h 100"/>
                <a:gd name="T40" fmla="*/ 2147483647 w 202"/>
                <a:gd name="T41" fmla="*/ 2147483647 h 100"/>
                <a:gd name="T42" fmla="*/ 2147483647 w 202"/>
                <a:gd name="T43" fmla="*/ 2147483647 h 100"/>
                <a:gd name="T44" fmla="*/ 2147483647 w 202"/>
                <a:gd name="T45" fmla="*/ 2147483647 h 100"/>
                <a:gd name="T46" fmla="*/ 2147483647 w 202"/>
                <a:gd name="T47" fmla="*/ 2147483647 h 100"/>
                <a:gd name="T48" fmla="*/ 2147483647 w 202"/>
                <a:gd name="T49" fmla="*/ 2147483647 h 100"/>
                <a:gd name="T50" fmla="*/ 2147483647 w 202"/>
                <a:gd name="T51" fmla="*/ 2147483647 h 100"/>
                <a:gd name="T52" fmla="*/ 2147483647 w 202"/>
                <a:gd name="T53" fmla="*/ 2147483647 h 100"/>
                <a:gd name="T54" fmla="*/ 0 w 202"/>
                <a:gd name="T55" fmla="*/ 2147483647 h 100"/>
                <a:gd name="T56" fmla="*/ 2147483647 w 202"/>
                <a:gd name="T57" fmla="*/ 2147483647 h 100"/>
                <a:gd name="T58" fmla="*/ 2147483647 w 202"/>
                <a:gd name="T59" fmla="*/ 0 h 100"/>
                <a:gd name="T60" fmla="*/ 2147483647 w 202"/>
                <a:gd name="T61" fmla="*/ 2147483647 h 100"/>
                <a:gd name="T62" fmla="*/ 2147483647 w 202"/>
                <a:gd name="T63" fmla="*/ 2147483647 h 100"/>
                <a:gd name="T64" fmla="*/ 2147483647 w 202"/>
                <a:gd name="T65" fmla="*/ 2147483647 h 100"/>
                <a:gd name="T66" fmla="*/ 2147483647 w 202"/>
                <a:gd name="T67" fmla="*/ 2147483647 h 100"/>
                <a:gd name="T68" fmla="*/ 2147483647 w 202"/>
                <a:gd name="T69" fmla="*/ 2147483647 h 100"/>
                <a:gd name="T70" fmla="*/ 2147483647 w 202"/>
                <a:gd name="T71" fmla="*/ 2147483647 h 100"/>
                <a:gd name="T72" fmla="*/ 2147483647 w 202"/>
                <a:gd name="T73" fmla="*/ 2147483647 h 100"/>
                <a:gd name="T74" fmla="*/ 2147483647 w 202"/>
                <a:gd name="T75" fmla="*/ 2147483647 h 100"/>
                <a:gd name="T76" fmla="*/ 2147483647 w 202"/>
                <a:gd name="T77" fmla="*/ 2147483647 h 100"/>
                <a:gd name="T78" fmla="*/ 2147483647 w 202"/>
                <a:gd name="T79" fmla="*/ 2147483647 h 100"/>
                <a:gd name="T80" fmla="*/ 2147483647 w 202"/>
                <a:gd name="T81" fmla="*/ 2147483647 h 100"/>
                <a:gd name="T82" fmla="*/ 2147483647 w 202"/>
                <a:gd name="T83" fmla="*/ 2147483647 h 100"/>
                <a:gd name="T84" fmla="*/ 2147483647 w 202"/>
                <a:gd name="T85" fmla="*/ 2147483647 h 100"/>
                <a:gd name="T86" fmla="*/ 2147483647 w 202"/>
                <a:gd name="T87" fmla="*/ 2147483647 h 1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2" h="100">
                  <a:moveTo>
                    <a:pt x="166" y="28"/>
                  </a:moveTo>
                  <a:lnTo>
                    <a:pt x="169" y="29"/>
                  </a:lnTo>
                  <a:lnTo>
                    <a:pt x="176" y="30"/>
                  </a:lnTo>
                  <a:lnTo>
                    <a:pt x="184" y="33"/>
                  </a:lnTo>
                  <a:lnTo>
                    <a:pt x="191" y="37"/>
                  </a:lnTo>
                  <a:lnTo>
                    <a:pt x="196" y="41"/>
                  </a:lnTo>
                  <a:lnTo>
                    <a:pt x="198" y="46"/>
                  </a:lnTo>
                  <a:lnTo>
                    <a:pt x="201" y="52"/>
                  </a:lnTo>
                  <a:lnTo>
                    <a:pt x="201" y="60"/>
                  </a:lnTo>
                  <a:lnTo>
                    <a:pt x="201" y="67"/>
                  </a:lnTo>
                  <a:lnTo>
                    <a:pt x="202" y="69"/>
                  </a:lnTo>
                  <a:lnTo>
                    <a:pt x="201" y="73"/>
                  </a:lnTo>
                  <a:lnTo>
                    <a:pt x="196" y="76"/>
                  </a:lnTo>
                  <a:lnTo>
                    <a:pt x="190" y="81"/>
                  </a:lnTo>
                  <a:lnTo>
                    <a:pt x="186" y="84"/>
                  </a:lnTo>
                  <a:lnTo>
                    <a:pt x="180" y="85"/>
                  </a:lnTo>
                  <a:lnTo>
                    <a:pt x="172" y="85"/>
                  </a:lnTo>
                  <a:lnTo>
                    <a:pt x="166" y="84"/>
                  </a:lnTo>
                  <a:lnTo>
                    <a:pt x="163" y="83"/>
                  </a:lnTo>
                  <a:lnTo>
                    <a:pt x="160" y="84"/>
                  </a:lnTo>
                  <a:lnTo>
                    <a:pt x="156" y="88"/>
                  </a:lnTo>
                  <a:lnTo>
                    <a:pt x="152" y="90"/>
                  </a:lnTo>
                  <a:lnTo>
                    <a:pt x="148" y="91"/>
                  </a:lnTo>
                  <a:lnTo>
                    <a:pt x="142" y="92"/>
                  </a:lnTo>
                  <a:lnTo>
                    <a:pt x="136" y="92"/>
                  </a:lnTo>
                  <a:lnTo>
                    <a:pt x="130" y="93"/>
                  </a:lnTo>
                  <a:lnTo>
                    <a:pt x="125" y="93"/>
                  </a:lnTo>
                  <a:lnTo>
                    <a:pt x="120" y="94"/>
                  </a:lnTo>
                  <a:lnTo>
                    <a:pt x="116" y="96"/>
                  </a:lnTo>
                  <a:lnTo>
                    <a:pt x="111" y="98"/>
                  </a:lnTo>
                  <a:lnTo>
                    <a:pt x="106" y="99"/>
                  </a:lnTo>
                  <a:lnTo>
                    <a:pt x="100" y="100"/>
                  </a:lnTo>
                  <a:lnTo>
                    <a:pt x="92" y="100"/>
                  </a:lnTo>
                  <a:lnTo>
                    <a:pt x="84" y="99"/>
                  </a:lnTo>
                  <a:lnTo>
                    <a:pt x="77" y="99"/>
                  </a:lnTo>
                  <a:lnTo>
                    <a:pt x="73" y="97"/>
                  </a:lnTo>
                  <a:lnTo>
                    <a:pt x="68" y="93"/>
                  </a:lnTo>
                  <a:lnTo>
                    <a:pt x="63" y="90"/>
                  </a:lnTo>
                  <a:lnTo>
                    <a:pt x="58" y="85"/>
                  </a:lnTo>
                  <a:lnTo>
                    <a:pt x="53" y="79"/>
                  </a:lnTo>
                  <a:lnTo>
                    <a:pt x="52" y="71"/>
                  </a:lnTo>
                  <a:lnTo>
                    <a:pt x="53" y="61"/>
                  </a:lnTo>
                  <a:lnTo>
                    <a:pt x="53" y="54"/>
                  </a:lnTo>
                  <a:lnTo>
                    <a:pt x="53" y="48"/>
                  </a:lnTo>
                  <a:lnTo>
                    <a:pt x="51" y="44"/>
                  </a:lnTo>
                  <a:lnTo>
                    <a:pt x="49" y="39"/>
                  </a:lnTo>
                  <a:lnTo>
                    <a:pt x="46" y="35"/>
                  </a:lnTo>
                  <a:lnTo>
                    <a:pt x="42" y="32"/>
                  </a:lnTo>
                  <a:lnTo>
                    <a:pt x="36" y="32"/>
                  </a:lnTo>
                  <a:lnTo>
                    <a:pt x="30" y="33"/>
                  </a:lnTo>
                  <a:lnTo>
                    <a:pt x="28" y="35"/>
                  </a:lnTo>
                  <a:lnTo>
                    <a:pt x="24" y="35"/>
                  </a:lnTo>
                  <a:lnTo>
                    <a:pt x="20" y="31"/>
                  </a:lnTo>
                  <a:lnTo>
                    <a:pt x="12" y="25"/>
                  </a:lnTo>
                  <a:lnTo>
                    <a:pt x="5" y="22"/>
                  </a:lnTo>
                  <a:lnTo>
                    <a:pt x="0" y="16"/>
                  </a:lnTo>
                  <a:lnTo>
                    <a:pt x="1" y="9"/>
                  </a:lnTo>
                  <a:lnTo>
                    <a:pt x="7" y="3"/>
                  </a:lnTo>
                  <a:lnTo>
                    <a:pt x="13" y="0"/>
                  </a:lnTo>
                  <a:lnTo>
                    <a:pt x="19" y="0"/>
                  </a:lnTo>
                  <a:lnTo>
                    <a:pt x="24" y="1"/>
                  </a:lnTo>
                  <a:lnTo>
                    <a:pt x="30" y="6"/>
                  </a:lnTo>
                  <a:lnTo>
                    <a:pt x="34" y="12"/>
                  </a:lnTo>
                  <a:lnTo>
                    <a:pt x="37" y="17"/>
                  </a:lnTo>
                  <a:lnTo>
                    <a:pt x="43" y="21"/>
                  </a:lnTo>
                  <a:lnTo>
                    <a:pt x="49" y="20"/>
                  </a:lnTo>
                  <a:lnTo>
                    <a:pt x="52" y="16"/>
                  </a:lnTo>
                  <a:lnTo>
                    <a:pt x="54" y="13"/>
                  </a:lnTo>
                  <a:lnTo>
                    <a:pt x="59" y="12"/>
                  </a:lnTo>
                  <a:lnTo>
                    <a:pt x="63" y="13"/>
                  </a:lnTo>
                  <a:lnTo>
                    <a:pt x="67" y="13"/>
                  </a:lnTo>
                  <a:lnTo>
                    <a:pt x="69" y="16"/>
                  </a:lnTo>
                  <a:lnTo>
                    <a:pt x="70" y="21"/>
                  </a:lnTo>
                  <a:lnTo>
                    <a:pt x="73" y="29"/>
                  </a:lnTo>
                  <a:lnTo>
                    <a:pt x="80" y="36"/>
                  </a:lnTo>
                  <a:lnTo>
                    <a:pt x="85" y="43"/>
                  </a:lnTo>
                  <a:lnTo>
                    <a:pt x="88" y="50"/>
                  </a:lnTo>
                  <a:lnTo>
                    <a:pt x="91" y="53"/>
                  </a:lnTo>
                  <a:lnTo>
                    <a:pt x="100" y="52"/>
                  </a:lnTo>
                  <a:lnTo>
                    <a:pt x="111" y="51"/>
                  </a:lnTo>
                  <a:lnTo>
                    <a:pt x="119" y="52"/>
                  </a:lnTo>
                  <a:lnTo>
                    <a:pt x="123" y="53"/>
                  </a:lnTo>
                  <a:lnTo>
                    <a:pt x="128" y="51"/>
                  </a:lnTo>
                  <a:lnTo>
                    <a:pt x="133" y="46"/>
                  </a:lnTo>
                  <a:lnTo>
                    <a:pt x="138" y="41"/>
                  </a:lnTo>
                  <a:lnTo>
                    <a:pt x="143" y="37"/>
                  </a:lnTo>
                  <a:lnTo>
                    <a:pt x="149" y="32"/>
                  </a:lnTo>
                  <a:lnTo>
                    <a:pt x="154" y="29"/>
                  </a:lnTo>
                  <a:lnTo>
                    <a:pt x="166" y="28"/>
                  </a:lnTo>
                  <a:close/>
                </a:path>
              </a:pathLst>
            </a:custGeom>
            <a:grpFill/>
            <a:ln w="9525">
              <a:solidFill>
                <a:schemeClr val="bg2">
                  <a:lumMod val="50000"/>
                </a:schemeClr>
              </a:solidFill>
              <a:round/>
              <a:headEnd/>
              <a:tailEnd/>
            </a:ln>
          </p:spPr>
          <p:txBody>
            <a:bodyPr/>
            <a:lstStyle/>
            <a:p>
              <a:endParaRPr lang="en-US" dirty="0"/>
            </a:p>
          </p:txBody>
        </p:sp>
        <p:sp>
          <p:nvSpPr>
            <p:cNvPr id="152" name="Freeform 438"/>
            <p:cNvSpPr>
              <a:spLocks/>
            </p:cNvSpPr>
            <p:nvPr/>
          </p:nvSpPr>
          <p:spPr bwMode="gray">
            <a:xfrm>
              <a:off x="2745781" y="1914493"/>
              <a:ext cx="37448" cy="30747"/>
            </a:xfrm>
            <a:custGeom>
              <a:avLst/>
              <a:gdLst>
                <a:gd name="T0" fmla="*/ 2147483647 w 40"/>
                <a:gd name="T1" fmla="*/ 2147483647 h 37"/>
                <a:gd name="T2" fmla="*/ 2147483647 w 40"/>
                <a:gd name="T3" fmla="*/ 2147483647 h 37"/>
                <a:gd name="T4" fmla="*/ 2147483647 w 40"/>
                <a:gd name="T5" fmla="*/ 2147483647 h 37"/>
                <a:gd name="T6" fmla="*/ 2147483647 w 40"/>
                <a:gd name="T7" fmla="*/ 2147483647 h 37"/>
                <a:gd name="T8" fmla="*/ 2147483647 w 40"/>
                <a:gd name="T9" fmla="*/ 2147483647 h 37"/>
                <a:gd name="T10" fmla="*/ 2147483647 w 40"/>
                <a:gd name="T11" fmla="*/ 2147483647 h 37"/>
                <a:gd name="T12" fmla="*/ 2147483647 w 40"/>
                <a:gd name="T13" fmla="*/ 2147483647 h 37"/>
                <a:gd name="T14" fmla="*/ 2147483647 w 40"/>
                <a:gd name="T15" fmla="*/ 2147483647 h 37"/>
                <a:gd name="T16" fmla="*/ 2147483647 w 40"/>
                <a:gd name="T17" fmla="*/ 2147483647 h 37"/>
                <a:gd name="T18" fmla="*/ 2147483647 w 40"/>
                <a:gd name="T19" fmla="*/ 2147483647 h 37"/>
                <a:gd name="T20" fmla="*/ 2147483647 w 40"/>
                <a:gd name="T21" fmla="*/ 2147483647 h 37"/>
                <a:gd name="T22" fmla="*/ 2147483647 w 40"/>
                <a:gd name="T23" fmla="*/ 2147483647 h 37"/>
                <a:gd name="T24" fmla="*/ 2147483647 w 40"/>
                <a:gd name="T25" fmla="*/ 2147483647 h 37"/>
                <a:gd name="T26" fmla="*/ 2147483647 w 40"/>
                <a:gd name="T27" fmla="*/ 2147483647 h 37"/>
                <a:gd name="T28" fmla="*/ 0 w 40"/>
                <a:gd name="T29" fmla="*/ 2147483647 h 37"/>
                <a:gd name="T30" fmla="*/ 2147483647 w 40"/>
                <a:gd name="T31" fmla="*/ 2147483647 h 37"/>
                <a:gd name="T32" fmla="*/ 2147483647 w 40"/>
                <a:gd name="T33" fmla="*/ 2147483647 h 37"/>
                <a:gd name="T34" fmla="*/ 2147483647 w 40"/>
                <a:gd name="T35" fmla="*/ 2147483647 h 37"/>
                <a:gd name="T36" fmla="*/ 2147483647 w 40"/>
                <a:gd name="T37" fmla="*/ 2147483647 h 37"/>
                <a:gd name="T38" fmla="*/ 2147483647 w 40"/>
                <a:gd name="T39" fmla="*/ 0 h 37"/>
                <a:gd name="T40" fmla="*/ 2147483647 w 40"/>
                <a:gd name="T41" fmla="*/ 2147483647 h 37"/>
                <a:gd name="T42" fmla="*/ 2147483647 w 40"/>
                <a:gd name="T43" fmla="*/ 2147483647 h 37"/>
                <a:gd name="T44" fmla="*/ 2147483647 w 40"/>
                <a:gd name="T45" fmla="*/ 2147483647 h 37"/>
                <a:gd name="T46" fmla="*/ 2147483647 w 40"/>
                <a:gd name="T47" fmla="*/ 2147483647 h 37"/>
                <a:gd name="T48" fmla="*/ 2147483647 w 40"/>
                <a:gd name="T49" fmla="*/ 2147483647 h 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0" h="37">
                  <a:moveTo>
                    <a:pt x="38" y="20"/>
                  </a:moveTo>
                  <a:lnTo>
                    <a:pt x="37" y="21"/>
                  </a:lnTo>
                  <a:lnTo>
                    <a:pt x="35" y="26"/>
                  </a:lnTo>
                  <a:lnTo>
                    <a:pt x="32" y="30"/>
                  </a:lnTo>
                  <a:lnTo>
                    <a:pt x="28" y="34"/>
                  </a:lnTo>
                  <a:lnTo>
                    <a:pt x="24" y="36"/>
                  </a:lnTo>
                  <a:lnTo>
                    <a:pt x="19" y="37"/>
                  </a:lnTo>
                  <a:lnTo>
                    <a:pt x="14" y="37"/>
                  </a:lnTo>
                  <a:lnTo>
                    <a:pt x="13" y="37"/>
                  </a:lnTo>
                  <a:lnTo>
                    <a:pt x="12" y="36"/>
                  </a:lnTo>
                  <a:lnTo>
                    <a:pt x="11" y="34"/>
                  </a:lnTo>
                  <a:lnTo>
                    <a:pt x="9" y="32"/>
                  </a:lnTo>
                  <a:lnTo>
                    <a:pt x="5" y="28"/>
                  </a:lnTo>
                  <a:lnTo>
                    <a:pt x="2" y="24"/>
                  </a:lnTo>
                  <a:lnTo>
                    <a:pt x="0" y="20"/>
                  </a:lnTo>
                  <a:lnTo>
                    <a:pt x="2" y="17"/>
                  </a:lnTo>
                  <a:lnTo>
                    <a:pt x="6" y="12"/>
                  </a:lnTo>
                  <a:lnTo>
                    <a:pt x="12" y="7"/>
                  </a:lnTo>
                  <a:lnTo>
                    <a:pt x="17" y="3"/>
                  </a:lnTo>
                  <a:lnTo>
                    <a:pt x="20" y="0"/>
                  </a:lnTo>
                  <a:lnTo>
                    <a:pt x="25" y="2"/>
                  </a:lnTo>
                  <a:lnTo>
                    <a:pt x="32" y="4"/>
                  </a:lnTo>
                  <a:lnTo>
                    <a:pt x="37" y="7"/>
                  </a:lnTo>
                  <a:lnTo>
                    <a:pt x="40" y="12"/>
                  </a:lnTo>
                  <a:lnTo>
                    <a:pt x="38" y="20"/>
                  </a:lnTo>
                  <a:close/>
                </a:path>
              </a:pathLst>
            </a:custGeom>
            <a:grpFill/>
            <a:ln w="9525">
              <a:solidFill>
                <a:schemeClr val="bg2">
                  <a:lumMod val="50000"/>
                </a:schemeClr>
              </a:solidFill>
              <a:round/>
              <a:headEnd/>
              <a:tailEnd/>
            </a:ln>
          </p:spPr>
          <p:txBody>
            <a:bodyPr/>
            <a:lstStyle/>
            <a:p>
              <a:endParaRPr lang="en-US" dirty="0"/>
            </a:p>
          </p:txBody>
        </p:sp>
        <p:sp>
          <p:nvSpPr>
            <p:cNvPr id="153" name="Freeform 439"/>
            <p:cNvSpPr>
              <a:spLocks/>
            </p:cNvSpPr>
            <p:nvPr/>
          </p:nvSpPr>
          <p:spPr bwMode="gray">
            <a:xfrm flipV="1">
              <a:off x="2888884" y="1719760"/>
              <a:ext cx="181888" cy="261351"/>
            </a:xfrm>
            <a:custGeom>
              <a:avLst/>
              <a:gdLst>
                <a:gd name="T0" fmla="*/ 2147483647 w 201"/>
                <a:gd name="T1" fmla="*/ 2147483647 h 319"/>
                <a:gd name="T2" fmla="*/ 2147483647 w 201"/>
                <a:gd name="T3" fmla="*/ 2147483647 h 319"/>
                <a:gd name="T4" fmla="*/ 2147483647 w 201"/>
                <a:gd name="T5" fmla="*/ 2147483647 h 319"/>
                <a:gd name="T6" fmla="*/ 2147483647 w 201"/>
                <a:gd name="T7" fmla="*/ 2147483647 h 319"/>
                <a:gd name="T8" fmla="*/ 2147483647 w 201"/>
                <a:gd name="T9" fmla="*/ 2147483647 h 319"/>
                <a:gd name="T10" fmla="*/ 2147483647 w 201"/>
                <a:gd name="T11" fmla="*/ 2147483647 h 319"/>
                <a:gd name="T12" fmla="*/ 2147483647 w 201"/>
                <a:gd name="T13" fmla="*/ 2147483647 h 319"/>
                <a:gd name="T14" fmla="*/ 2147483647 w 201"/>
                <a:gd name="T15" fmla="*/ 2147483647 h 319"/>
                <a:gd name="T16" fmla="*/ 2147483647 w 201"/>
                <a:gd name="T17" fmla="*/ 2147483647 h 319"/>
                <a:gd name="T18" fmla="*/ 2147483647 w 201"/>
                <a:gd name="T19" fmla="*/ 2147483647 h 319"/>
                <a:gd name="T20" fmla="*/ 2147483647 w 201"/>
                <a:gd name="T21" fmla="*/ 2147483647 h 319"/>
                <a:gd name="T22" fmla="*/ 2147483647 w 201"/>
                <a:gd name="T23" fmla="*/ 2147483647 h 319"/>
                <a:gd name="T24" fmla="*/ 2147483647 w 201"/>
                <a:gd name="T25" fmla="*/ 2147483647 h 319"/>
                <a:gd name="T26" fmla="*/ 2147483647 w 201"/>
                <a:gd name="T27" fmla="*/ 2147483647 h 319"/>
                <a:gd name="T28" fmla="*/ 2147483647 w 201"/>
                <a:gd name="T29" fmla="*/ 2147483647 h 319"/>
                <a:gd name="T30" fmla="*/ 2147483647 w 201"/>
                <a:gd name="T31" fmla="*/ 2147483647 h 319"/>
                <a:gd name="T32" fmla="*/ 2147483647 w 201"/>
                <a:gd name="T33" fmla="*/ 2147483647 h 319"/>
                <a:gd name="T34" fmla="*/ 2147483647 w 201"/>
                <a:gd name="T35" fmla="*/ 2147483647 h 319"/>
                <a:gd name="T36" fmla="*/ 2147483647 w 201"/>
                <a:gd name="T37" fmla="*/ 2147483647 h 319"/>
                <a:gd name="T38" fmla="*/ 2147483647 w 201"/>
                <a:gd name="T39" fmla="*/ 2147483647 h 319"/>
                <a:gd name="T40" fmla="*/ 2147483647 w 201"/>
                <a:gd name="T41" fmla="*/ 2147483647 h 319"/>
                <a:gd name="T42" fmla="*/ 2147483647 w 201"/>
                <a:gd name="T43" fmla="*/ 2147483647 h 319"/>
                <a:gd name="T44" fmla="*/ 2147483647 w 201"/>
                <a:gd name="T45" fmla="*/ 2147483647 h 319"/>
                <a:gd name="T46" fmla="*/ 2147483647 w 201"/>
                <a:gd name="T47" fmla="*/ 2147483647 h 319"/>
                <a:gd name="T48" fmla="*/ 2147483647 w 201"/>
                <a:gd name="T49" fmla="*/ 2147483647 h 319"/>
                <a:gd name="T50" fmla="*/ 2147483647 w 201"/>
                <a:gd name="T51" fmla="*/ 0 h 319"/>
                <a:gd name="T52" fmla="*/ 2147483647 w 201"/>
                <a:gd name="T53" fmla="*/ 2147483647 h 319"/>
                <a:gd name="T54" fmla="*/ 2147483647 w 201"/>
                <a:gd name="T55" fmla="*/ 2147483647 h 319"/>
                <a:gd name="T56" fmla="*/ 2147483647 w 201"/>
                <a:gd name="T57" fmla="*/ 2147483647 h 319"/>
                <a:gd name="T58" fmla="*/ 2147483647 w 201"/>
                <a:gd name="T59" fmla="*/ 2147483647 h 319"/>
                <a:gd name="T60" fmla="*/ 2147483647 w 201"/>
                <a:gd name="T61" fmla="*/ 2147483647 h 319"/>
                <a:gd name="T62" fmla="*/ 2147483647 w 201"/>
                <a:gd name="T63" fmla="*/ 2147483647 h 319"/>
                <a:gd name="T64" fmla="*/ 2147483647 w 201"/>
                <a:gd name="T65" fmla="*/ 2147483647 h 319"/>
                <a:gd name="T66" fmla="*/ 2147483647 w 201"/>
                <a:gd name="T67" fmla="*/ 2147483647 h 319"/>
                <a:gd name="T68" fmla="*/ 2147483647 w 201"/>
                <a:gd name="T69" fmla="*/ 2147483647 h 319"/>
                <a:gd name="T70" fmla="*/ 2147483647 w 201"/>
                <a:gd name="T71" fmla="*/ 2147483647 h 319"/>
                <a:gd name="T72" fmla="*/ 2147483647 w 201"/>
                <a:gd name="T73" fmla="*/ 2147483647 h 319"/>
                <a:gd name="T74" fmla="*/ 2147483647 w 201"/>
                <a:gd name="T75" fmla="*/ 2147483647 h 319"/>
                <a:gd name="T76" fmla="*/ 2147483647 w 201"/>
                <a:gd name="T77" fmla="*/ 2147483647 h 319"/>
                <a:gd name="T78" fmla="*/ 2147483647 w 201"/>
                <a:gd name="T79" fmla="*/ 2147483647 h 319"/>
                <a:gd name="T80" fmla="*/ 2147483647 w 201"/>
                <a:gd name="T81" fmla="*/ 2147483647 h 319"/>
                <a:gd name="T82" fmla="*/ 2147483647 w 201"/>
                <a:gd name="T83" fmla="*/ 2147483647 h 319"/>
                <a:gd name="T84" fmla="*/ 2147483647 w 201"/>
                <a:gd name="T85" fmla="*/ 2147483647 h 319"/>
                <a:gd name="T86" fmla="*/ 0 w 201"/>
                <a:gd name="T87" fmla="*/ 2147483647 h 319"/>
                <a:gd name="T88" fmla="*/ 2147483647 w 201"/>
                <a:gd name="T89" fmla="*/ 2147483647 h 319"/>
                <a:gd name="T90" fmla="*/ 2147483647 w 201"/>
                <a:gd name="T91" fmla="*/ 2147483647 h 319"/>
                <a:gd name="T92" fmla="*/ 2147483647 w 201"/>
                <a:gd name="T93" fmla="*/ 2147483647 h 319"/>
                <a:gd name="T94" fmla="*/ 2147483647 w 201"/>
                <a:gd name="T95" fmla="*/ 2147483647 h 319"/>
                <a:gd name="T96" fmla="*/ 2147483647 w 201"/>
                <a:gd name="T97" fmla="*/ 2147483647 h 319"/>
                <a:gd name="T98" fmla="*/ 2147483647 w 201"/>
                <a:gd name="T99" fmla="*/ 2147483647 h 319"/>
                <a:gd name="T100" fmla="*/ 2147483647 w 201"/>
                <a:gd name="T101" fmla="*/ 2147483647 h 319"/>
                <a:gd name="T102" fmla="*/ 2147483647 w 201"/>
                <a:gd name="T103" fmla="*/ 2147483647 h 319"/>
                <a:gd name="T104" fmla="*/ 2147483647 w 201"/>
                <a:gd name="T105" fmla="*/ 2147483647 h 319"/>
                <a:gd name="T106" fmla="*/ 2147483647 w 201"/>
                <a:gd name="T107" fmla="*/ 2147483647 h 319"/>
                <a:gd name="T108" fmla="*/ 2147483647 w 201"/>
                <a:gd name="T109" fmla="*/ 2147483647 h 319"/>
                <a:gd name="T110" fmla="*/ 2147483647 w 201"/>
                <a:gd name="T111" fmla="*/ 2147483647 h 3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01" h="319">
                  <a:moveTo>
                    <a:pt x="84" y="267"/>
                  </a:moveTo>
                  <a:lnTo>
                    <a:pt x="88" y="270"/>
                  </a:lnTo>
                  <a:lnTo>
                    <a:pt x="93" y="277"/>
                  </a:lnTo>
                  <a:lnTo>
                    <a:pt x="97" y="283"/>
                  </a:lnTo>
                  <a:lnTo>
                    <a:pt x="95" y="290"/>
                  </a:lnTo>
                  <a:lnTo>
                    <a:pt x="88" y="294"/>
                  </a:lnTo>
                  <a:lnTo>
                    <a:pt x="82" y="296"/>
                  </a:lnTo>
                  <a:lnTo>
                    <a:pt x="78" y="301"/>
                  </a:lnTo>
                  <a:lnTo>
                    <a:pt x="80" y="308"/>
                  </a:lnTo>
                  <a:lnTo>
                    <a:pt x="82" y="315"/>
                  </a:lnTo>
                  <a:lnTo>
                    <a:pt x="85" y="318"/>
                  </a:lnTo>
                  <a:lnTo>
                    <a:pt x="92" y="319"/>
                  </a:lnTo>
                  <a:lnTo>
                    <a:pt x="104" y="319"/>
                  </a:lnTo>
                  <a:lnTo>
                    <a:pt x="116" y="319"/>
                  </a:lnTo>
                  <a:lnTo>
                    <a:pt x="123" y="318"/>
                  </a:lnTo>
                  <a:lnTo>
                    <a:pt x="129" y="316"/>
                  </a:lnTo>
                  <a:lnTo>
                    <a:pt x="136" y="312"/>
                  </a:lnTo>
                  <a:lnTo>
                    <a:pt x="144" y="309"/>
                  </a:lnTo>
                  <a:lnTo>
                    <a:pt x="151" y="305"/>
                  </a:lnTo>
                  <a:lnTo>
                    <a:pt x="158" y="304"/>
                  </a:lnTo>
                  <a:lnTo>
                    <a:pt x="164" y="304"/>
                  </a:lnTo>
                  <a:lnTo>
                    <a:pt x="171" y="306"/>
                  </a:lnTo>
                  <a:lnTo>
                    <a:pt x="176" y="306"/>
                  </a:lnTo>
                  <a:lnTo>
                    <a:pt x="182" y="305"/>
                  </a:lnTo>
                  <a:lnTo>
                    <a:pt x="187" y="300"/>
                  </a:lnTo>
                  <a:lnTo>
                    <a:pt x="191" y="294"/>
                  </a:lnTo>
                  <a:lnTo>
                    <a:pt x="197" y="289"/>
                  </a:lnTo>
                  <a:lnTo>
                    <a:pt x="198" y="285"/>
                  </a:lnTo>
                  <a:lnTo>
                    <a:pt x="191" y="279"/>
                  </a:lnTo>
                  <a:lnTo>
                    <a:pt x="180" y="273"/>
                  </a:lnTo>
                  <a:lnTo>
                    <a:pt x="173" y="270"/>
                  </a:lnTo>
                  <a:lnTo>
                    <a:pt x="169" y="266"/>
                  </a:lnTo>
                  <a:lnTo>
                    <a:pt x="172" y="263"/>
                  </a:lnTo>
                  <a:lnTo>
                    <a:pt x="177" y="259"/>
                  </a:lnTo>
                  <a:lnTo>
                    <a:pt x="181" y="256"/>
                  </a:lnTo>
                  <a:lnTo>
                    <a:pt x="182" y="251"/>
                  </a:lnTo>
                  <a:lnTo>
                    <a:pt x="182" y="244"/>
                  </a:lnTo>
                  <a:lnTo>
                    <a:pt x="180" y="238"/>
                  </a:lnTo>
                  <a:lnTo>
                    <a:pt x="179" y="235"/>
                  </a:lnTo>
                  <a:lnTo>
                    <a:pt x="179" y="232"/>
                  </a:lnTo>
                  <a:lnTo>
                    <a:pt x="182" y="227"/>
                  </a:lnTo>
                  <a:lnTo>
                    <a:pt x="188" y="219"/>
                  </a:lnTo>
                  <a:lnTo>
                    <a:pt x="195" y="209"/>
                  </a:lnTo>
                  <a:lnTo>
                    <a:pt x="197" y="197"/>
                  </a:lnTo>
                  <a:lnTo>
                    <a:pt x="190" y="187"/>
                  </a:lnTo>
                  <a:lnTo>
                    <a:pt x="177" y="179"/>
                  </a:lnTo>
                  <a:lnTo>
                    <a:pt x="168" y="173"/>
                  </a:lnTo>
                  <a:lnTo>
                    <a:pt x="165" y="168"/>
                  </a:lnTo>
                  <a:lnTo>
                    <a:pt x="168" y="162"/>
                  </a:lnTo>
                  <a:lnTo>
                    <a:pt x="177" y="156"/>
                  </a:lnTo>
                  <a:lnTo>
                    <a:pt x="188" y="149"/>
                  </a:lnTo>
                  <a:lnTo>
                    <a:pt x="195" y="139"/>
                  </a:lnTo>
                  <a:lnTo>
                    <a:pt x="195" y="130"/>
                  </a:lnTo>
                  <a:lnTo>
                    <a:pt x="192" y="120"/>
                  </a:lnTo>
                  <a:lnTo>
                    <a:pt x="194" y="109"/>
                  </a:lnTo>
                  <a:lnTo>
                    <a:pt x="195" y="100"/>
                  </a:lnTo>
                  <a:lnTo>
                    <a:pt x="196" y="90"/>
                  </a:lnTo>
                  <a:lnTo>
                    <a:pt x="197" y="77"/>
                  </a:lnTo>
                  <a:lnTo>
                    <a:pt x="199" y="65"/>
                  </a:lnTo>
                  <a:lnTo>
                    <a:pt x="201" y="55"/>
                  </a:lnTo>
                  <a:lnTo>
                    <a:pt x="196" y="52"/>
                  </a:lnTo>
                  <a:lnTo>
                    <a:pt x="189" y="54"/>
                  </a:lnTo>
                  <a:lnTo>
                    <a:pt x="183" y="54"/>
                  </a:lnTo>
                  <a:lnTo>
                    <a:pt x="183" y="51"/>
                  </a:lnTo>
                  <a:lnTo>
                    <a:pt x="190" y="40"/>
                  </a:lnTo>
                  <a:lnTo>
                    <a:pt x="197" y="29"/>
                  </a:lnTo>
                  <a:lnTo>
                    <a:pt x="199" y="18"/>
                  </a:lnTo>
                  <a:lnTo>
                    <a:pt x="198" y="10"/>
                  </a:lnTo>
                  <a:lnTo>
                    <a:pt x="194" y="6"/>
                  </a:lnTo>
                  <a:lnTo>
                    <a:pt x="192" y="5"/>
                  </a:lnTo>
                  <a:lnTo>
                    <a:pt x="190" y="5"/>
                  </a:lnTo>
                  <a:lnTo>
                    <a:pt x="189" y="5"/>
                  </a:lnTo>
                  <a:lnTo>
                    <a:pt x="187" y="5"/>
                  </a:lnTo>
                  <a:lnTo>
                    <a:pt x="179" y="6"/>
                  </a:lnTo>
                  <a:lnTo>
                    <a:pt x="173" y="3"/>
                  </a:lnTo>
                  <a:lnTo>
                    <a:pt x="168" y="1"/>
                  </a:lnTo>
                  <a:lnTo>
                    <a:pt x="164" y="0"/>
                  </a:lnTo>
                  <a:lnTo>
                    <a:pt x="163" y="0"/>
                  </a:lnTo>
                  <a:lnTo>
                    <a:pt x="161" y="0"/>
                  </a:lnTo>
                  <a:lnTo>
                    <a:pt x="160" y="1"/>
                  </a:lnTo>
                  <a:lnTo>
                    <a:pt x="159" y="2"/>
                  </a:lnTo>
                  <a:lnTo>
                    <a:pt x="156" y="5"/>
                  </a:lnTo>
                  <a:lnTo>
                    <a:pt x="151" y="6"/>
                  </a:lnTo>
                  <a:lnTo>
                    <a:pt x="145" y="6"/>
                  </a:lnTo>
                  <a:lnTo>
                    <a:pt x="139" y="7"/>
                  </a:lnTo>
                  <a:lnTo>
                    <a:pt x="135" y="8"/>
                  </a:lnTo>
                  <a:lnTo>
                    <a:pt x="129" y="9"/>
                  </a:lnTo>
                  <a:lnTo>
                    <a:pt x="126" y="10"/>
                  </a:lnTo>
                  <a:lnTo>
                    <a:pt x="123" y="14"/>
                  </a:lnTo>
                  <a:lnTo>
                    <a:pt x="121" y="17"/>
                  </a:lnTo>
                  <a:lnTo>
                    <a:pt x="119" y="18"/>
                  </a:lnTo>
                  <a:lnTo>
                    <a:pt x="115" y="18"/>
                  </a:lnTo>
                  <a:lnTo>
                    <a:pt x="108" y="20"/>
                  </a:lnTo>
                  <a:lnTo>
                    <a:pt x="100" y="23"/>
                  </a:lnTo>
                  <a:lnTo>
                    <a:pt x="93" y="26"/>
                  </a:lnTo>
                  <a:lnTo>
                    <a:pt x="87" y="31"/>
                  </a:lnTo>
                  <a:lnTo>
                    <a:pt x="82" y="39"/>
                  </a:lnTo>
                  <a:lnTo>
                    <a:pt x="80" y="47"/>
                  </a:lnTo>
                  <a:lnTo>
                    <a:pt x="81" y="54"/>
                  </a:lnTo>
                  <a:lnTo>
                    <a:pt x="81" y="59"/>
                  </a:lnTo>
                  <a:lnTo>
                    <a:pt x="80" y="60"/>
                  </a:lnTo>
                  <a:lnTo>
                    <a:pt x="74" y="61"/>
                  </a:lnTo>
                  <a:lnTo>
                    <a:pt x="67" y="62"/>
                  </a:lnTo>
                  <a:lnTo>
                    <a:pt x="60" y="66"/>
                  </a:lnTo>
                  <a:lnTo>
                    <a:pt x="59" y="70"/>
                  </a:lnTo>
                  <a:lnTo>
                    <a:pt x="57" y="74"/>
                  </a:lnTo>
                  <a:lnTo>
                    <a:pt x="52" y="77"/>
                  </a:lnTo>
                  <a:lnTo>
                    <a:pt x="46" y="81"/>
                  </a:lnTo>
                  <a:lnTo>
                    <a:pt x="43" y="84"/>
                  </a:lnTo>
                  <a:lnTo>
                    <a:pt x="40" y="89"/>
                  </a:lnTo>
                  <a:lnTo>
                    <a:pt x="37" y="93"/>
                  </a:lnTo>
                  <a:lnTo>
                    <a:pt x="35" y="99"/>
                  </a:lnTo>
                  <a:lnTo>
                    <a:pt x="38" y="107"/>
                  </a:lnTo>
                  <a:lnTo>
                    <a:pt x="44" y="115"/>
                  </a:lnTo>
                  <a:lnTo>
                    <a:pt x="47" y="122"/>
                  </a:lnTo>
                  <a:lnTo>
                    <a:pt x="49" y="128"/>
                  </a:lnTo>
                  <a:lnTo>
                    <a:pt x="47" y="132"/>
                  </a:lnTo>
                  <a:lnTo>
                    <a:pt x="45" y="138"/>
                  </a:lnTo>
                  <a:lnTo>
                    <a:pt x="44" y="143"/>
                  </a:lnTo>
                  <a:lnTo>
                    <a:pt x="43" y="143"/>
                  </a:lnTo>
                  <a:lnTo>
                    <a:pt x="38" y="136"/>
                  </a:lnTo>
                  <a:lnTo>
                    <a:pt x="34" y="126"/>
                  </a:lnTo>
                  <a:lnTo>
                    <a:pt x="31" y="118"/>
                  </a:lnTo>
                  <a:lnTo>
                    <a:pt x="28" y="113"/>
                  </a:lnTo>
                  <a:lnTo>
                    <a:pt x="24" y="114"/>
                  </a:lnTo>
                  <a:lnTo>
                    <a:pt x="21" y="118"/>
                  </a:lnTo>
                  <a:lnTo>
                    <a:pt x="16" y="123"/>
                  </a:lnTo>
                  <a:lnTo>
                    <a:pt x="12" y="128"/>
                  </a:lnTo>
                  <a:lnTo>
                    <a:pt x="9" y="132"/>
                  </a:lnTo>
                  <a:lnTo>
                    <a:pt x="7" y="141"/>
                  </a:lnTo>
                  <a:lnTo>
                    <a:pt x="4" y="153"/>
                  </a:lnTo>
                  <a:lnTo>
                    <a:pt x="0" y="166"/>
                  </a:lnTo>
                  <a:lnTo>
                    <a:pt x="0" y="176"/>
                  </a:lnTo>
                  <a:lnTo>
                    <a:pt x="1" y="184"/>
                  </a:lnTo>
                  <a:lnTo>
                    <a:pt x="2" y="190"/>
                  </a:lnTo>
                  <a:lnTo>
                    <a:pt x="6" y="195"/>
                  </a:lnTo>
                  <a:lnTo>
                    <a:pt x="12" y="198"/>
                  </a:lnTo>
                  <a:lnTo>
                    <a:pt x="19" y="199"/>
                  </a:lnTo>
                  <a:lnTo>
                    <a:pt x="23" y="200"/>
                  </a:lnTo>
                  <a:lnTo>
                    <a:pt x="27" y="200"/>
                  </a:lnTo>
                  <a:lnTo>
                    <a:pt x="30" y="199"/>
                  </a:lnTo>
                  <a:lnTo>
                    <a:pt x="31" y="200"/>
                  </a:lnTo>
                  <a:lnTo>
                    <a:pt x="30" y="205"/>
                  </a:lnTo>
                  <a:lnTo>
                    <a:pt x="28" y="211"/>
                  </a:lnTo>
                  <a:lnTo>
                    <a:pt x="24" y="215"/>
                  </a:lnTo>
                  <a:lnTo>
                    <a:pt x="23" y="219"/>
                  </a:lnTo>
                  <a:lnTo>
                    <a:pt x="24" y="224"/>
                  </a:lnTo>
                  <a:lnTo>
                    <a:pt x="28" y="229"/>
                  </a:lnTo>
                  <a:lnTo>
                    <a:pt x="31" y="234"/>
                  </a:lnTo>
                  <a:lnTo>
                    <a:pt x="36" y="238"/>
                  </a:lnTo>
                  <a:lnTo>
                    <a:pt x="44" y="245"/>
                  </a:lnTo>
                  <a:lnTo>
                    <a:pt x="54" y="248"/>
                  </a:lnTo>
                  <a:lnTo>
                    <a:pt x="63" y="244"/>
                  </a:lnTo>
                  <a:lnTo>
                    <a:pt x="70" y="237"/>
                  </a:lnTo>
                  <a:lnTo>
                    <a:pt x="75" y="232"/>
                  </a:lnTo>
                  <a:lnTo>
                    <a:pt x="77" y="229"/>
                  </a:lnTo>
                  <a:lnTo>
                    <a:pt x="82" y="230"/>
                  </a:lnTo>
                  <a:lnTo>
                    <a:pt x="88" y="234"/>
                  </a:lnTo>
                  <a:lnTo>
                    <a:pt x="96" y="240"/>
                  </a:lnTo>
                  <a:lnTo>
                    <a:pt x="104" y="247"/>
                  </a:lnTo>
                  <a:lnTo>
                    <a:pt x="111" y="256"/>
                  </a:lnTo>
                  <a:lnTo>
                    <a:pt x="113" y="263"/>
                  </a:lnTo>
                  <a:lnTo>
                    <a:pt x="113" y="264"/>
                  </a:lnTo>
                  <a:lnTo>
                    <a:pt x="110" y="262"/>
                  </a:lnTo>
                  <a:lnTo>
                    <a:pt x="103" y="256"/>
                  </a:lnTo>
                  <a:lnTo>
                    <a:pt x="93" y="252"/>
                  </a:lnTo>
                  <a:lnTo>
                    <a:pt x="85" y="252"/>
                  </a:lnTo>
                  <a:lnTo>
                    <a:pt x="82" y="258"/>
                  </a:lnTo>
                  <a:lnTo>
                    <a:pt x="84" y="267"/>
                  </a:lnTo>
                  <a:close/>
                </a:path>
              </a:pathLst>
            </a:custGeom>
            <a:grpFill/>
            <a:ln w="9525">
              <a:solidFill>
                <a:schemeClr val="bg2">
                  <a:lumMod val="50000"/>
                </a:schemeClr>
              </a:solidFill>
              <a:round/>
              <a:headEnd/>
              <a:tailEnd/>
            </a:ln>
          </p:spPr>
          <p:txBody>
            <a:bodyPr/>
            <a:lstStyle/>
            <a:p>
              <a:endParaRPr lang="en-US" dirty="0"/>
            </a:p>
          </p:txBody>
        </p:sp>
        <p:sp>
          <p:nvSpPr>
            <p:cNvPr id="154" name="Freeform 440"/>
            <p:cNvSpPr>
              <a:spLocks/>
            </p:cNvSpPr>
            <p:nvPr/>
          </p:nvSpPr>
          <p:spPr bwMode="gray">
            <a:xfrm>
              <a:off x="2892896" y="1936272"/>
              <a:ext cx="30760" cy="14093"/>
            </a:xfrm>
            <a:custGeom>
              <a:avLst/>
              <a:gdLst>
                <a:gd name="T0" fmla="*/ 2147483647 w 34"/>
                <a:gd name="T1" fmla="*/ 0 h 18"/>
                <a:gd name="T2" fmla="*/ 2147483647 w 34"/>
                <a:gd name="T3" fmla="*/ 2147483647 h 18"/>
                <a:gd name="T4" fmla="*/ 2147483647 w 34"/>
                <a:gd name="T5" fmla="*/ 2147483647 h 18"/>
                <a:gd name="T6" fmla="*/ 2147483647 w 34"/>
                <a:gd name="T7" fmla="*/ 2147483647 h 18"/>
                <a:gd name="T8" fmla="*/ 2147483647 w 34"/>
                <a:gd name="T9" fmla="*/ 2147483647 h 18"/>
                <a:gd name="T10" fmla="*/ 2147483647 w 34"/>
                <a:gd name="T11" fmla="*/ 2147483647 h 18"/>
                <a:gd name="T12" fmla="*/ 2147483647 w 34"/>
                <a:gd name="T13" fmla="*/ 2147483647 h 18"/>
                <a:gd name="T14" fmla="*/ 2147483647 w 34"/>
                <a:gd name="T15" fmla="*/ 2147483647 h 18"/>
                <a:gd name="T16" fmla="*/ 2147483647 w 34"/>
                <a:gd name="T17" fmla="*/ 2147483647 h 18"/>
                <a:gd name="T18" fmla="*/ 2147483647 w 34"/>
                <a:gd name="T19" fmla="*/ 2147483647 h 18"/>
                <a:gd name="T20" fmla="*/ 0 w 34"/>
                <a:gd name="T21" fmla="*/ 2147483647 h 18"/>
                <a:gd name="T22" fmla="*/ 0 w 34"/>
                <a:gd name="T23" fmla="*/ 2147483647 h 18"/>
                <a:gd name="T24" fmla="*/ 2147483647 w 34"/>
                <a:gd name="T25" fmla="*/ 2147483647 h 18"/>
                <a:gd name="T26" fmla="*/ 2147483647 w 34"/>
                <a:gd name="T27" fmla="*/ 2147483647 h 18"/>
                <a:gd name="T28" fmla="*/ 2147483647 w 34"/>
                <a:gd name="T29" fmla="*/ 2147483647 h 18"/>
                <a:gd name="T30" fmla="*/ 2147483647 w 34"/>
                <a:gd name="T31" fmla="*/ 2147483647 h 18"/>
                <a:gd name="T32" fmla="*/ 2147483647 w 34"/>
                <a:gd name="T33" fmla="*/ 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18">
                  <a:moveTo>
                    <a:pt x="31" y="0"/>
                  </a:moveTo>
                  <a:lnTo>
                    <a:pt x="32" y="1"/>
                  </a:lnTo>
                  <a:lnTo>
                    <a:pt x="34" y="3"/>
                  </a:lnTo>
                  <a:lnTo>
                    <a:pt x="34" y="6"/>
                  </a:lnTo>
                  <a:lnTo>
                    <a:pt x="30" y="10"/>
                  </a:lnTo>
                  <a:lnTo>
                    <a:pt x="24" y="14"/>
                  </a:lnTo>
                  <a:lnTo>
                    <a:pt x="22" y="16"/>
                  </a:lnTo>
                  <a:lnTo>
                    <a:pt x="19" y="18"/>
                  </a:lnTo>
                  <a:lnTo>
                    <a:pt x="12" y="18"/>
                  </a:lnTo>
                  <a:lnTo>
                    <a:pt x="4" y="16"/>
                  </a:lnTo>
                  <a:lnTo>
                    <a:pt x="0" y="13"/>
                  </a:lnTo>
                  <a:lnTo>
                    <a:pt x="0" y="9"/>
                  </a:lnTo>
                  <a:lnTo>
                    <a:pt x="4" y="7"/>
                  </a:lnTo>
                  <a:lnTo>
                    <a:pt x="14" y="4"/>
                  </a:lnTo>
                  <a:lnTo>
                    <a:pt x="22" y="2"/>
                  </a:lnTo>
                  <a:lnTo>
                    <a:pt x="29" y="1"/>
                  </a:lnTo>
                  <a:lnTo>
                    <a:pt x="31" y="0"/>
                  </a:lnTo>
                  <a:close/>
                </a:path>
              </a:pathLst>
            </a:custGeom>
            <a:grpFill/>
            <a:ln w="9525">
              <a:solidFill>
                <a:schemeClr val="bg2">
                  <a:lumMod val="50000"/>
                </a:schemeClr>
              </a:solidFill>
              <a:round/>
              <a:headEnd/>
              <a:tailEnd/>
            </a:ln>
          </p:spPr>
          <p:txBody>
            <a:bodyPr/>
            <a:lstStyle/>
            <a:p>
              <a:endParaRPr lang="en-US" dirty="0"/>
            </a:p>
          </p:txBody>
        </p:sp>
        <p:sp>
          <p:nvSpPr>
            <p:cNvPr id="155" name="Freeform 441"/>
            <p:cNvSpPr>
              <a:spLocks/>
            </p:cNvSpPr>
            <p:nvPr/>
          </p:nvSpPr>
          <p:spPr bwMode="gray">
            <a:xfrm>
              <a:off x="2876847" y="1899119"/>
              <a:ext cx="28086" cy="38434"/>
            </a:xfrm>
            <a:custGeom>
              <a:avLst/>
              <a:gdLst>
                <a:gd name="T0" fmla="*/ 2147483647 w 34"/>
                <a:gd name="T1" fmla="*/ 2147483647 h 46"/>
                <a:gd name="T2" fmla="*/ 2147483647 w 34"/>
                <a:gd name="T3" fmla="*/ 2147483647 h 46"/>
                <a:gd name="T4" fmla="*/ 2147483647 w 34"/>
                <a:gd name="T5" fmla="*/ 2147483647 h 46"/>
                <a:gd name="T6" fmla="*/ 2147483647 w 34"/>
                <a:gd name="T7" fmla="*/ 0 h 46"/>
                <a:gd name="T8" fmla="*/ 2147483647 w 34"/>
                <a:gd name="T9" fmla="*/ 0 h 46"/>
                <a:gd name="T10" fmla="*/ 2147483647 w 34"/>
                <a:gd name="T11" fmla="*/ 2147483647 h 46"/>
                <a:gd name="T12" fmla="*/ 0 w 34"/>
                <a:gd name="T13" fmla="*/ 2147483647 h 46"/>
                <a:gd name="T14" fmla="*/ 2147483647 w 34"/>
                <a:gd name="T15" fmla="*/ 2147483647 h 46"/>
                <a:gd name="T16" fmla="*/ 2147483647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2147483647 h 46"/>
                <a:gd name="T48" fmla="*/ 2147483647 w 34"/>
                <a:gd name="T49" fmla="*/ 2147483647 h 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4" h="46">
                  <a:moveTo>
                    <a:pt x="22" y="14"/>
                  </a:moveTo>
                  <a:lnTo>
                    <a:pt x="20" y="10"/>
                  </a:lnTo>
                  <a:lnTo>
                    <a:pt x="14" y="5"/>
                  </a:lnTo>
                  <a:lnTo>
                    <a:pt x="7" y="0"/>
                  </a:lnTo>
                  <a:lnTo>
                    <a:pt x="3" y="0"/>
                  </a:lnTo>
                  <a:lnTo>
                    <a:pt x="1" y="5"/>
                  </a:lnTo>
                  <a:lnTo>
                    <a:pt x="0" y="10"/>
                  </a:lnTo>
                  <a:lnTo>
                    <a:pt x="1" y="15"/>
                  </a:lnTo>
                  <a:lnTo>
                    <a:pt x="1" y="20"/>
                  </a:lnTo>
                  <a:lnTo>
                    <a:pt x="3" y="27"/>
                  </a:lnTo>
                  <a:lnTo>
                    <a:pt x="4" y="36"/>
                  </a:lnTo>
                  <a:lnTo>
                    <a:pt x="7" y="43"/>
                  </a:lnTo>
                  <a:lnTo>
                    <a:pt x="11" y="46"/>
                  </a:lnTo>
                  <a:lnTo>
                    <a:pt x="16" y="46"/>
                  </a:lnTo>
                  <a:lnTo>
                    <a:pt x="21" y="44"/>
                  </a:lnTo>
                  <a:lnTo>
                    <a:pt x="26" y="42"/>
                  </a:lnTo>
                  <a:lnTo>
                    <a:pt x="29" y="38"/>
                  </a:lnTo>
                  <a:lnTo>
                    <a:pt x="31" y="33"/>
                  </a:lnTo>
                  <a:lnTo>
                    <a:pt x="34" y="30"/>
                  </a:lnTo>
                  <a:lnTo>
                    <a:pt x="34" y="27"/>
                  </a:lnTo>
                  <a:lnTo>
                    <a:pt x="30" y="22"/>
                  </a:lnTo>
                  <a:lnTo>
                    <a:pt x="26" y="17"/>
                  </a:lnTo>
                  <a:lnTo>
                    <a:pt x="23" y="15"/>
                  </a:lnTo>
                  <a:lnTo>
                    <a:pt x="22" y="14"/>
                  </a:lnTo>
                  <a:close/>
                </a:path>
              </a:pathLst>
            </a:custGeom>
            <a:grpFill/>
            <a:ln w="9525">
              <a:solidFill>
                <a:schemeClr val="bg2">
                  <a:lumMod val="50000"/>
                </a:schemeClr>
              </a:solidFill>
              <a:round/>
              <a:headEnd/>
              <a:tailEnd/>
            </a:ln>
          </p:spPr>
          <p:txBody>
            <a:bodyPr/>
            <a:lstStyle/>
            <a:p>
              <a:endParaRPr lang="en-US" dirty="0"/>
            </a:p>
          </p:txBody>
        </p:sp>
        <p:sp>
          <p:nvSpPr>
            <p:cNvPr id="156" name="Freeform 442"/>
            <p:cNvSpPr>
              <a:spLocks/>
            </p:cNvSpPr>
            <p:nvPr/>
          </p:nvSpPr>
          <p:spPr bwMode="gray">
            <a:xfrm>
              <a:off x="2820676" y="1881184"/>
              <a:ext cx="50822" cy="55089"/>
            </a:xfrm>
            <a:custGeom>
              <a:avLst/>
              <a:gdLst>
                <a:gd name="T0" fmla="*/ 2147483647 w 58"/>
                <a:gd name="T1" fmla="*/ 2147483647 h 67"/>
                <a:gd name="T2" fmla="*/ 2147483647 w 58"/>
                <a:gd name="T3" fmla="*/ 2147483647 h 67"/>
                <a:gd name="T4" fmla="*/ 2147483647 w 58"/>
                <a:gd name="T5" fmla="*/ 2147483647 h 67"/>
                <a:gd name="T6" fmla="*/ 2147483647 w 58"/>
                <a:gd name="T7" fmla="*/ 2147483647 h 67"/>
                <a:gd name="T8" fmla="*/ 2147483647 w 58"/>
                <a:gd name="T9" fmla="*/ 2147483647 h 67"/>
                <a:gd name="T10" fmla="*/ 2147483647 w 58"/>
                <a:gd name="T11" fmla="*/ 2147483647 h 67"/>
                <a:gd name="T12" fmla="*/ 2147483647 w 58"/>
                <a:gd name="T13" fmla="*/ 2147483647 h 67"/>
                <a:gd name="T14" fmla="*/ 2147483647 w 58"/>
                <a:gd name="T15" fmla="*/ 2147483647 h 67"/>
                <a:gd name="T16" fmla="*/ 2147483647 w 58"/>
                <a:gd name="T17" fmla="*/ 2147483647 h 67"/>
                <a:gd name="T18" fmla="*/ 2147483647 w 58"/>
                <a:gd name="T19" fmla="*/ 2147483647 h 67"/>
                <a:gd name="T20" fmla="*/ 2147483647 w 58"/>
                <a:gd name="T21" fmla="*/ 2147483647 h 67"/>
                <a:gd name="T22" fmla="*/ 2147483647 w 58"/>
                <a:gd name="T23" fmla="*/ 2147483647 h 67"/>
                <a:gd name="T24" fmla="*/ 2147483647 w 58"/>
                <a:gd name="T25" fmla="*/ 2147483647 h 67"/>
                <a:gd name="T26" fmla="*/ 2147483647 w 58"/>
                <a:gd name="T27" fmla="*/ 2147483647 h 67"/>
                <a:gd name="T28" fmla="*/ 2147483647 w 58"/>
                <a:gd name="T29" fmla="*/ 2147483647 h 67"/>
                <a:gd name="T30" fmla="*/ 2147483647 w 58"/>
                <a:gd name="T31" fmla="*/ 2147483647 h 67"/>
                <a:gd name="T32" fmla="*/ 2147483647 w 58"/>
                <a:gd name="T33" fmla="*/ 2147483647 h 67"/>
                <a:gd name="T34" fmla="*/ 2147483647 w 58"/>
                <a:gd name="T35" fmla="*/ 2147483647 h 67"/>
                <a:gd name="T36" fmla="*/ 2147483647 w 58"/>
                <a:gd name="T37" fmla="*/ 2147483647 h 67"/>
                <a:gd name="T38" fmla="*/ 2147483647 w 58"/>
                <a:gd name="T39" fmla="*/ 2147483647 h 67"/>
                <a:gd name="T40" fmla="*/ 2147483647 w 58"/>
                <a:gd name="T41" fmla="*/ 2147483647 h 67"/>
                <a:gd name="T42" fmla="*/ 2147483647 w 58"/>
                <a:gd name="T43" fmla="*/ 2147483647 h 67"/>
                <a:gd name="T44" fmla="*/ 2147483647 w 58"/>
                <a:gd name="T45" fmla="*/ 2147483647 h 67"/>
                <a:gd name="T46" fmla="*/ 0 w 58"/>
                <a:gd name="T47" fmla="*/ 2147483647 h 67"/>
                <a:gd name="T48" fmla="*/ 2147483647 w 58"/>
                <a:gd name="T49" fmla="*/ 0 h 67"/>
                <a:gd name="T50" fmla="*/ 2147483647 w 58"/>
                <a:gd name="T51" fmla="*/ 0 h 67"/>
                <a:gd name="T52" fmla="*/ 2147483647 w 58"/>
                <a:gd name="T53" fmla="*/ 0 h 67"/>
                <a:gd name="T54" fmla="*/ 2147483647 w 58"/>
                <a:gd name="T55" fmla="*/ 2147483647 h 67"/>
                <a:gd name="T56" fmla="*/ 2147483647 w 58"/>
                <a:gd name="T57" fmla="*/ 2147483647 h 67"/>
                <a:gd name="T58" fmla="*/ 2147483647 w 58"/>
                <a:gd name="T59" fmla="*/ 2147483647 h 67"/>
                <a:gd name="T60" fmla="*/ 2147483647 w 58"/>
                <a:gd name="T61" fmla="*/ 2147483647 h 67"/>
                <a:gd name="T62" fmla="*/ 2147483647 w 58"/>
                <a:gd name="T63" fmla="*/ 2147483647 h 67"/>
                <a:gd name="T64" fmla="*/ 2147483647 w 58"/>
                <a:gd name="T65" fmla="*/ 2147483647 h 67"/>
                <a:gd name="T66" fmla="*/ 2147483647 w 58"/>
                <a:gd name="T67" fmla="*/ 2147483647 h 67"/>
                <a:gd name="T68" fmla="*/ 2147483647 w 58"/>
                <a:gd name="T69" fmla="*/ 2147483647 h 67"/>
                <a:gd name="T70" fmla="*/ 2147483647 w 58"/>
                <a:gd name="T71" fmla="*/ 2147483647 h 67"/>
                <a:gd name="T72" fmla="*/ 2147483647 w 58"/>
                <a:gd name="T73" fmla="*/ 2147483647 h 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8" h="67">
                  <a:moveTo>
                    <a:pt x="53" y="34"/>
                  </a:moveTo>
                  <a:lnTo>
                    <a:pt x="54" y="37"/>
                  </a:lnTo>
                  <a:lnTo>
                    <a:pt x="57" y="44"/>
                  </a:lnTo>
                  <a:lnTo>
                    <a:pt x="58" y="53"/>
                  </a:lnTo>
                  <a:lnTo>
                    <a:pt x="57" y="60"/>
                  </a:lnTo>
                  <a:lnTo>
                    <a:pt x="54" y="64"/>
                  </a:lnTo>
                  <a:lnTo>
                    <a:pt x="52" y="66"/>
                  </a:lnTo>
                  <a:lnTo>
                    <a:pt x="48" y="67"/>
                  </a:lnTo>
                  <a:lnTo>
                    <a:pt x="44" y="65"/>
                  </a:lnTo>
                  <a:lnTo>
                    <a:pt x="39" y="62"/>
                  </a:lnTo>
                  <a:lnTo>
                    <a:pt x="35" y="60"/>
                  </a:lnTo>
                  <a:lnTo>
                    <a:pt x="32" y="58"/>
                  </a:lnTo>
                  <a:lnTo>
                    <a:pt x="29" y="53"/>
                  </a:lnTo>
                  <a:lnTo>
                    <a:pt x="24" y="50"/>
                  </a:lnTo>
                  <a:lnTo>
                    <a:pt x="17" y="49"/>
                  </a:lnTo>
                  <a:lnTo>
                    <a:pt x="12" y="47"/>
                  </a:lnTo>
                  <a:lnTo>
                    <a:pt x="8" y="42"/>
                  </a:lnTo>
                  <a:lnTo>
                    <a:pt x="9" y="37"/>
                  </a:lnTo>
                  <a:lnTo>
                    <a:pt x="13" y="37"/>
                  </a:lnTo>
                  <a:lnTo>
                    <a:pt x="15" y="36"/>
                  </a:lnTo>
                  <a:lnTo>
                    <a:pt x="13" y="30"/>
                  </a:lnTo>
                  <a:lnTo>
                    <a:pt x="7" y="20"/>
                  </a:lnTo>
                  <a:lnTo>
                    <a:pt x="2" y="11"/>
                  </a:lnTo>
                  <a:lnTo>
                    <a:pt x="0" y="4"/>
                  </a:lnTo>
                  <a:lnTo>
                    <a:pt x="4" y="0"/>
                  </a:lnTo>
                  <a:lnTo>
                    <a:pt x="9" y="0"/>
                  </a:lnTo>
                  <a:lnTo>
                    <a:pt x="14" y="0"/>
                  </a:lnTo>
                  <a:lnTo>
                    <a:pt x="19" y="2"/>
                  </a:lnTo>
                  <a:lnTo>
                    <a:pt x="23" y="8"/>
                  </a:lnTo>
                  <a:lnTo>
                    <a:pt x="28" y="13"/>
                  </a:lnTo>
                  <a:lnTo>
                    <a:pt x="34" y="15"/>
                  </a:lnTo>
                  <a:lnTo>
                    <a:pt x="38" y="16"/>
                  </a:lnTo>
                  <a:lnTo>
                    <a:pt x="40" y="19"/>
                  </a:lnTo>
                  <a:lnTo>
                    <a:pt x="43" y="24"/>
                  </a:lnTo>
                  <a:lnTo>
                    <a:pt x="47" y="29"/>
                  </a:lnTo>
                  <a:lnTo>
                    <a:pt x="51" y="32"/>
                  </a:lnTo>
                  <a:lnTo>
                    <a:pt x="53" y="34"/>
                  </a:lnTo>
                  <a:close/>
                </a:path>
              </a:pathLst>
            </a:custGeom>
            <a:grpFill/>
            <a:ln w="9525">
              <a:solidFill>
                <a:schemeClr val="bg2">
                  <a:lumMod val="50000"/>
                </a:schemeClr>
              </a:solidFill>
              <a:round/>
              <a:headEnd/>
              <a:tailEnd/>
            </a:ln>
          </p:spPr>
          <p:txBody>
            <a:bodyPr/>
            <a:lstStyle/>
            <a:p>
              <a:endParaRPr lang="en-US" dirty="0"/>
            </a:p>
          </p:txBody>
        </p:sp>
        <p:sp>
          <p:nvSpPr>
            <p:cNvPr id="157" name="Freeform 443"/>
            <p:cNvSpPr>
              <a:spLocks/>
            </p:cNvSpPr>
            <p:nvPr/>
          </p:nvSpPr>
          <p:spPr bwMode="gray">
            <a:xfrm>
              <a:off x="2616053" y="2081040"/>
              <a:ext cx="227359" cy="189608"/>
            </a:xfrm>
            <a:custGeom>
              <a:avLst/>
              <a:gdLst>
                <a:gd name="T0" fmla="*/ 2147483647 w 249"/>
                <a:gd name="T1" fmla="*/ 2147483647 h 231"/>
                <a:gd name="T2" fmla="*/ 2147483647 w 249"/>
                <a:gd name="T3" fmla="*/ 2147483647 h 231"/>
                <a:gd name="T4" fmla="*/ 2147483647 w 249"/>
                <a:gd name="T5" fmla="*/ 2147483647 h 231"/>
                <a:gd name="T6" fmla="*/ 2147483647 w 249"/>
                <a:gd name="T7" fmla="*/ 2147483647 h 231"/>
                <a:gd name="T8" fmla="*/ 2147483647 w 249"/>
                <a:gd name="T9" fmla="*/ 2147483647 h 231"/>
                <a:gd name="T10" fmla="*/ 2147483647 w 249"/>
                <a:gd name="T11" fmla="*/ 2147483647 h 231"/>
                <a:gd name="T12" fmla="*/ 2147483647 w 249"/>
                <a:gd name="T13" fmla="*/ 2147483647 h 231"/>
                <a:gd name="T14" fmla="*/ 2147483647 w 249"/>
                <a:gd name="T15" fmla="*/ 2147483647 h 231"/>
                <a:gd name="T16" fmla="*/ 2147483647 w 249"/>
                <a:gd name="T17" fmla="*/ 2147483647 h 231"/>
                <a:gd name="T18" fmla="*/ 2147483647 w 249"/>
                <a:gd name="T19" fmla="*/ 2147483647 h 231"/>
                <a:gd name="T20" fmla="*/ 2147483647 w 249"/>
                <a:gd name="T21" fmla="*/ 2147483647 h 231"/>
                <a:gd name="T22" fmla="*/ 2147483647 w 249"/>
                <a:gd name="T23" fmla="*/ 2147483647 h 231"/>
                <a:gd name="T24" fmla="*/ 2147483647 w 249"/>
                <a:gd name="T25" fmla="*/ 2147483647 h 231"/>
                <a:gd name="T26" fmla="*/ 2147483647 w 249"/>
                <a:gd name="T27" fmla="*/ 2147483647 h 231"/>
                <a:gd name="T28" fmla="*/ 2147483647 w 249"/>
                <a:gd name="T29" fmla="*/ 2147483647 h 231"/>
                <a:gd name="T30" fmla="*/ 2147483647 w 249"/>
                <a:gd name="T31" fmla="*/ 2147483647 h 231"/>
                <a:gd name="T32" fmla="*/ 2147483647 w 249"/>
                <a:gd name="T33" fmla="*/ 2147483647 h 231"/>
                <a:gd name="T34" fmla="*/ 2147483647 w 249"/>
                <a:gd name="T35" fmla="*/ 2147483647 h 231"/>
                <a:gd name="T36" fmla="*/ 2147483647 w 249"/>
                <a:gd name="T37" fmla="*/ 2147483647 h 231"/>
                <a:gd name="T38" fmla="*/ 2147483647 w 249"/>
                <a:gd name="T39" fmla="*/ 2147483647 h 231"/>
                <a:gd name="T40" fmla="*/ 2147483647 w 249"/>
                <a:gd name="T41" fmla="*/ 2147483647 h 231"/>
                <a:gd name="T42" fmla="*/ 2147483647 w 249"/>
                <a:gd name="T43" fmla="*/ 2147483647 h 231"/>
                <a:gd name="T44" fmla="*/ 2147483647 w 249"/>
                <a:gd name="T45" fmla="*/ 2147483647 h 231"/>
                <a:gd name="T46" fmla="*/ 2147483647 w 249"/>
                <a:gd name="T47" fmla="*/ 2147483647 h 231"/>
                <a:gd name="T48" fmla="*/ 2147483647 w 249"/>
                <a:gd name="T49" fmla="*/ 2147483647 h 231"/>
                <a:gd name="T50" fmla="*/ 2147483647 w 249"/>
                <a:gd name="T51" fmla="*/ 2147483647 h 231"/>
                <a:gd name="T52" fmla="*/ 2147483647 w 249"/>
                <a:gd name="T53" fmla="*/ 2147483647 h 231"/>
                <a:gd name="T54" fmla="*/ 2147483647 w 249"/>
                <a:gd name="T55" fmla="*/ 2147483647 h 231"/>
                <a:gd name="T56" fmla="*/ 2147483647 w 249"/>
                <a:gd name="T57" fmla="*/ 2147483647 h 231"/>
                <a:gd name="T58" fmla="*/ 2147483647 w 249"/>
                <a:gd name="T59" fmla="*/ 2147483647 h 231"/>
                <a:gd name="T60" fmla="*/ 2147483647 w 249"/>
                <a:gd name="T61" fmla="*/ 2147483647 h 231"/>
                <a:gd name="T62" fmla="*/ 2147483647 w 249"/>
                <a:gd name="T63" fmla="*/ 2147483647 h 231"/>
                <a:gd name="T64" fmla="*/ 2147483647 w 249"/>
                <a:gd name="T65" fmla="*/ 2147483647 h 231"/>
                <a:gd name="T66" fmla="*/ 2147483647 w 249"/>
                <a:gd name="T67" fmla="*/ 2147483647 h 231"/>
                <a:gd name="T68" fmla="*/ 2147483647 w 249"/>
                <a:gd name="T69" fmla="*/ 2147483647 h 231"/>
                <a:gd name="T70" fmla="*/ 2147483647 w 249"/>
                <a:gd name="T71" fmla="*/ 2147483647 h 231"/>
                <a:gd name="T72" fmla="*/ 2147483647 w 249"/>
                <a:gd name="T73" fmla="*/ 2147483647 h 231"/>
                <a:gd name="T74" fmla="*/ 2147483647 w 249"/>
                <a:gd name="T75" fmla="*/ 2147483647 h 231"/>
                <a:gd name="T76" fmla="*/ 2147483647 w 249"/>
                <a:gd name="T77" fmla="*/ 2147483647 h 231"/>
                <a:gd name="T78" fmla="*/ 2147483647 w 249"/>
                <a:gd name="T79" fmla="*/ 2147483647 h 231"/>
                <a:gd name="T80" fmla="*/ 2147483647 w 249"/>
                <a:gd name="T81" fmla="*/ 2147483647 h 231"/>
                <a:gd name="T82" fmla="*/ 2147483647 w 249"/>
                <a:gd name="T83" fmla="*/ 2147483647 h 231"/>
                <a:gd name="T84" fmla="*/ 2147483647 w 249"/>
                <a:gd name="T85" fmla="*/ 2147483647 h 231"/>
                <a:gd name="T86" fmla="*/ 2147483647 w 249"/>
                <a:gd name="T87" fmla="*/ 2147483647 h 231"/>
                <a:gd name="T88" fmla="*/ 2147483647 w 249"/>
                <a:gd name="T89" fmla="*/ 2147483647 h 231"/>
                <a:gd name="T90" fmla="*/ 2147483647 w 249"/>
                <a:gd name="T91" fmla="*/ 2147483647 h 231"/>
                <a:gd name="T92" fmla="*/ 2147483647 w 249"/>
                <a:gd name="T93" fmla="*/ 2147483647 h 231"/>
                <a:gd name="T94" fmla="*/ 2147483647 w 249"/>
                <a:gd name="T95" fmla="*/ 2147483647 h 231"/>
                <a:gd name="T96" fmla="*/ 2147483647 w 249"/>
                <a:gd name="T97" fmla="*/ 2147483647 h 2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49" h="231">
                  <a:moveTo>
                    <a:pt x="239" y="162"/>
                  </a:moveTo>
                  <a:lnTo>
                    <a:pt x="241" y="164"/>
                  </a:lnTo>
                  <a:lnTo>
                    <a:pt x="246" y="168"/>
                  </a:lnTo>
                  <a:lnTo>
                    <a:pt x="249" y="175"/>
                  </a:lnTo>
                  <a:lnTo>
                    <a:pt x="248" y="182"/>
                  </a:lnTo>
                  <a:lnTo>
                    <a:pt x="244" y="187"/>
                  </a:lnTo>
                  <a:lnTo>
                    <a:pt x="239" y="188"/>
                  </a:lnTo>
                  <a:lnTo>
                    <a:pt x="236" y="187"/>
                  </a:lnTo>
                  <a:lnTo>
                    <a:pt x="232" y="187"/>
                  </a:lnTo>
                  <a:lnTo>
                    <a:pt x="229" y="187"/>
                  </a:lnTo>
                  <a:lnTo>
                    <a:pt x="226" y="187"/>
                  </a:lnTo>
                  <a:lnTo>
                    <a:pt x="226" y="189"/>
                  </a:lnTo>
                  <a:lnTo>
                    <a:pt x="228" y="195"/>
                  </a:lnTo>
                  <a:lnTo>
                    <a:pt x="230" y="204"/>
                  </a:lnTo>
                  <a:lnTo>
                    <a:pt x="232" y="213"/>
                  </a:lnTo>
                  <a:lnTo>
                    <a:pt x="231" y="220"/>
                  </a:lnTo>
                  <a:lnTo>
                    <a:pt x="224" y="225"/>
                  </a:lnTo>
                  <a:lnTo>
                    <a:pt x="216" y="227"/>
                  </a:lnTo>
                  <a:lnTo>
                    <a:pt x="211" y="230"/>
                  </a:lnTo>
                  <a:lnTo>
                    <a:pt x="205" y="231"/>
                  </a:lnTo>
                  <a:lnTo>
                    <a:pt x="195" y="225"/>
                  </a:lnTo>
                  <a:lnTo>
                    <a:pt x="190" y="220"/>
                  </a:lnTo>
                  <a:lnTo>
                    <a:pt x="184" y="215"/>
                  </a:lnTo>
                  <a:lnTo>
                    <a:pt x="178" y="210"/>
                  </a:lnTo>
                  <a:lnTo>
                    <a:pt x="173" y="205"/>
                  </a:lnTo>
                  <a:lnTo>
                    <a:pt x="170" y="202"/>
                  </a:lnTo>
                  <a:lnTo>
                    <a:pt x="165" y="198"/>
                  </a:lnTo>
                  <a:lnTo>
                    <a:pt x="163" y="196"/>
                  </a:lnTo>
                  <a:lnTo>
                    <a:pt x="161" y="195"/>
                  </a:lnTo>
                  <a:lnTo>
                    <a:pt x="158" y="194"/>
                  </a:lnTo>
                  <a:lnTo>
                    <a:pt x="157" y="194"/>
                  </a:lnTo>
                  <a:lnTo>
                    <a:pt x="154" y="196"/>
                  </a:lnTo>
                  <a:lnTo>
                    <a:pt x="146" y="202"/>
                  </a:lnTo>
                  <a:lnTo>
                    <a:pt x="140" y="206"/>
                  </a:lnTo>
                  <a:lnTo>
                    <a:pt x="132" y="210"/>
                  </a:lnTo>
                  <a:lnTo>
                    <a:pt x="123" y="213"/>
                  </a:lnTo>
                  <a:lnTo>
                    <a:pt x="114" y="216"/>
                  </a:lnTo>
                  <a:lnTo>
                    <a:pt x="104" y="219"/>
                  </a:lnTo>
                  <a:lnTo>
                    <a:pt x="95" y="220"/>
                  </a:lnTo>
                  <a:lnTo>
                    <a:pt x="89" y="221"/>
                  </a:lnTo>
                  <a:lnTo>
                    <a:pt x="85" y="223"/>
                  </a:lnTo>
                  <a:lnTo>
                    <a:pt x="81" y="223"/>
                  </a:lnTo>
                  <a:lnTo>
                    <a:pt x="78" y="223"/>
                  </a:lnTo>
                  <a:lnTo>
                    <a:pt x="73" y="221"/>
                  </a:lnTo>
                  <a:lnTo>
                    <a:pt x="67" y="219"/>
                  </a:lnTo>
                  <a:lnTo>
                    <a:pt x="62" y="218"/>
                  </a:lnTo>
                  <a:lnTo>
                    <a:pt x="57" y="216"/>
                  </a:lnTo>
                  <a:lnTo>
                    <a:pt x="52" y="215"/>
                  </a:lnTo>
                  <a:lnTo>
                    <a:pt x="49" y="215"/>
                  </a:lnTo>
                  <a:lnTo>
                    <a:pt x="46" y="213"/>
                  </a:lnTo>
                  <a:lnTo>
                    <a:pt x="44" y="210"/>
                  </a:lnTo>
                  <a:lnTo>
                    <a:pt x="44" y="204"/>
                  </a:lnTo>
                  <a:lnTo>
                    <a:pt x="43" y="197"/>
                  </a:lnTo>
                  <a:lnTo>
                    <a:pt x="40" y="188"/>
                  </a:lnTo>
                  <a:lnTo>
                    <a:pt x="33" y="180"/>
                  </a:lnTo>
                  <a:lnTo>
                    <a:pt x="25" y="173"/>
                  </a:lnTo>
                  <a:lnTo>
                    <a:pt x="16" y="167"/>
                  </a:lnTo>
                  <a:lnTo>
                    <a:pt x="9" y="164"/>
                  </a:lnTo>
                  <a:lnTo>
                    <a:pt x="3" y="162"/>
                  </a:lnTo>
                  <a:lnTo>
                    <a:pt x="1" y="157"/>
                  </a:lnTo>
                  <a:lnTo>
                    <a:pt x="0" y="151"/>
                  </a:lnTo>
                  <a:lnTo>
                    <a:pt x="0" y="143"/>
                  </a:lnTo>
                  <a:lnTo>
                    <a:pt x="0" y="136"/>
                  </a:lnTo>
                  <a:lnTo>
                    <a:pt x="1" y="130"/>
                  </a:lnTo>
                  <a:lnTo>
                    <a:pt x="5" y="129"/>
                  </a:lnTo>
                  <a:lnTo>
                    <a:pt x="12" y="129"/>
                  </a:lnTo>
                  <a:lnTo>
                    <a:pt x="20" y="128"/>
                  </a:lnTo>
                  <a:lnTo>
                    <a:pt x="27" y="129"/>
                  </a:lnTo>
                  <a:lnTo>
                    <a:pt x="36" y="132"/>
                  </a:lnTo>
                  <a:lnTo>
                    <a:pt x="42" y="135"/>
                  </a:lnTo>
                  <a:lnTo>
                    <a:pt x="49" y="138"/>
                  </a:lnTo>
                  <a:lnTo>
                    <a:pt x="57" y="142"/>
                  </a:lnTo>
                  <a:lnTo>
                    <a:pt x="65" y="147"/>
                  </a:lnTo>
                  <a:lnTo>
                    <a:pt x="72" y="149"/>
                  </a:lnTo>
                  <a:lnTo>
                    <a:pt x="79" y="151"/>
                  </a:lnTo>
                  <a:lnTo>
                    <a:pt x="82" y="151"/>
                  </a:lnTo>
                  <a:lnTo>
                    <a:pt x="85" y="149"/>
                  </a:lnTo>
                  <a:lnTo>
                    <a:pt x="86" y="141"/>
                  </a:lnTo>
                  <a:lnTo>
                    <a:pt x="86" y="133"/>
                  </a:lnTo>
                  <a:lnTo>
                    <a:pt x="81" y="126"/>
                  </a:lnTo>
                  <a:lnTo>
                    <a:pt x="69" y="121"/>
                  </a:lnTo>
                  <a:lnTo>
                    <a:pt x="56" y="118"/>
                  </a:lnTo>
                  <a:lnTo>
                    <a:pt x="50" y="117"/>
                  </a:lnTo>
                  <a:lnTo>
                    <a:pt x="44" y="117"/>
                  </a:lnTo>
                  <a:lnTo>
                    <a:pt x="35" y="115"/>
                  </a:lnTo>
                  <a:lnTo>
                    <a:pt x="24" y="115"/>
                  </a:lnTo>
                  <a:lnTo>
                    <a:pt x="17" y="115"/>
                  </a:lnTo>
                  <a:lnTo>
                    <a:pt x="12" y="114"/>
                  </a:lnTo>
                  <a:lnTo>
                    <a:pt x="8" y="111"/>
                  </a:lnTo>
                  <a:lnTo>
                    <a:pt x="3" y="104"/>
                  </a:lnTo>
                  <a:lnTo>
                    <a:pt x="2" y="96"/>
                  </a:lnTo>
                  <a:lnTo>
                    <a:pt x="2" y="90"/>
                  </a:lnTo>
                  <a:lnTo>
                    <a:pt x="4" y="86"/>
                  </a:lnTo>
                  <a:lnTo>
                    <a:pt x="11" y="84"/>
                  </a:lnTo>
                  <a:lnTo>
                    <a:pt x="20" y="86"/>
                  </a:lnTo>
                  <a:lnTo>
                    <a:pt x="28" y="84"/>
                  </a:lnTo>
                  <a:lnTo>
                    <a:pt x="29" y="79"/>
                  </a:lnTo>
                  <a:lnTo>
                    <a:pt x="26" y="73"/>
                  </a:lnTo>
                  <a:lnTo>
                    <a:pt x="23" y="71"/>
                  </a:lnTo>
                  <a:lnTo>
                    <a:pt x="19" y="68"/>
                  </a:lnTo>
                  <a:lnTo>
                    <a:pt x="13" y="62"/>
                  </a:lnTo>
                  <a:lnTo>
                    <a:pt x="8" y="54"/>
                  </a:lnTo>
                  <a:lnTo>
                    <a:pt x="3" y="49"/>
                  </a:lnTo>
                  <a:lnTo>
                    <a:pt x="3" y="44"/>
                  </a:lnTo>
                  <a:lnTo>
                    <a:pt x="8" y="39"/>
                  </a:lnTo>
                  <a:lnTo>
                    <a:pt x="14" y="37"/>
                  </a:lnTo>
                  <a:lnTo>
                    <a:pt x="19" y="35"/>
                  </a:lnTo>
                  <a:lnTo>
                    <a:pt x="21" y="33"/>
                  </a:lnTo>
                  <a:lnTo>
                    <a:pt x="24" y="27"/>
                  </a:lnTo>
                  <a:lnTo>
                    <a:pt x="25" y="21"/>
                  </a:lnTo>
                  <a:lnTo>
                    <a:pt x="25" y="18"/>
                  </a:lnTo>
                  <a:lnTo>
                    <a:pt x="28" y="15"/>
                  </a:lnTo>
                  <a:lnTo>
                    <a:pt x="33" y="14"/>
                  </a:lnTo>
                  <a:lnTo>
                    <a:pt x="40" y="13"/>
                  </a:lnTo>
                  <a:lnTo>
                    <a:pt x="46" y="9"/>
                  </a:lnTo>
                  <a:lnTo>
                    <a:pt x="51" y="7"/>
                  </a:lnTo>
                  <a:lnTo>
                    <a:pt x="61" y="5"/>
                  </a:lnTo>
                  <a:lnTo>
                    <a:pt x="72" y="3"/>
                  </a:lnTo>
                  <a:lnTo>
                    <a:pt x="81" y="0"/>
                  </a:lnTo>
                  <a:lnTo>
                    <a:pt x="88" y="3"/>
                  </a:lnTo>
                  <a:lnTo>
                    <a:pt x="88" y="9"/>
                  </a:lnTo>
                  <a:lnTo>
                    <a:pt x="85" y="18"/>
                  </a:lnTo>
                  <a:lnTo>
                    <a:pt x="81" y="23"/>
                  </a:lnTo>
                  <a:lnTo>
                    <a:pt x="82" y="27"/>
                  </a:lnTo>
                  <a:lnTo>
                    <a:pt x="88" y="26"/>
                  </a:lnTo>
                  <a:lnTo>
                    <a:pt x="95" y="23"/>
                  </a:lnTo>
                  <a:lnTo>
                    <a:pt x="100" y="24"/>
                  </a:lnTo>
                  <a:lnTo>
                    <a:pt x="102" y="27"/>
                  </a:lnTo>
                  <a:lnTo>
                    <a:pt x="104" y="34"/>
                  </a:lnTo>
                  <a:lnTo>
                    <a:pt x="110" y="41"/>
                  </a:lnTo>
                  <a:lnTo>
                    <a:pt x="117" y="46"/>
                  </a:lnTo>
                  <a:lnTo>
                    <a:pt x="124" y="47"/>
                  </a:lnTo>
                  <a:lnTo>
                    <a:pt x="127" y="45"/>
                  </a:lnTo>
                  <a:lnTo>
                    <a:pt x="127" y="38"/>
                  </a:lnTo>
                  <a:lnTo>
                    <a:pt x="126" y="31"/>
                  </a:lnTo>
                  <a:lnTo>
                    <a:pt x="125" y="27"/>
                  </a:lnTo>
                  <a:lnTo>
                    <a:pt x="129" y="27"/>
                  </a:lnTo>
                  <a:lnTo>
                    <a:pt x="134" y="33"/>
                  </a:lnTo>
                  <a:lnTo>
                    <a:pt x="140" y="39"/>
                  </a:lnTo>
                  <a:lnTo>
                    <a:pt x="145" y="47"/>
                  </a:lnTo>
                  <a:lnTo>
                    <a:pt x="146" y="58"/>
                  </a:lnTo>
                  <a:lnTo>
                    <a:pt x="147" y="69"/>
                  </a:lnTo>
                  <a:lnTo>
                    <a:pt x="148" y="80"/>
                  </a:lnTo>
                  <a:lnTo>
                    <a:pt x="152" y="83"/>
                  </a:lnTo>
                  <a:lnTo>
                    <a:pt x="155" y="75"/>
                  </a:lnTo>
                  <a:lnTo>
                    <a:pt x="158" y="64"/>
                  </a:lnTo>
                  <a:lnTo>
                    <a:pt x="161" y="57"/>
                  </a:lnTo>
                  <a:lnTo>
                    <a:pt x="162" y="51"/>
                  </a:lnTo>
                  <a:lnTo>
                    <a:pt x="160" y="46"/>
                  </a:lnTo>
                  <a:lnTo>
                    <a:pt x="157" y="39"/>
                  </a:lnTo>
                  <a:lnTo>
                    <a:pt x="156" y="33"/>
                  </a:lnTo>
                  <a:lnTo>
                    <a:pt x="157" y="27"/>
                  </a:lnTo>
                  <a:lnTo>
                    <a:pt x="160" y="22"/>
                  </a:lnTo>
                  <a:lnTo>
                    <a:pt x="164" y="20"/>
                  </a:lnTo>
                  <a:lnTo>
                    <a:pt x="169" y="21"/>
                  </a:lnTo>
                  <a:lnTo>
                    <a:pt x="173" y="23"/>
                  </a:lnTo>
                  <a:lnTo>
                    <a:pt x="179" y="26"/>
                  </a:lnTo>
                  <a:lnTo>
                    <a:pt x="181" y="24"/>
                  </a:lnTo>
                  <a:lnTo>
                    <a:pt x="183" y="22"/>
                  </a:lnTo>
                  <a:lnTo>
                    <a:pt x="181" y="19"/>
                  </a:lnTo>
                  <a:lnTo>
                    <a:pt x="181" y="18"/>
                  </a:lnTo>
                  <a:lnTo>
                    <a:pt x="179" y="15"/>
                  </a:lnTo>
                  <a:lnTo>
                    <a:pt x="175" y="11"/>
                  </a:lnTo>
                  <a:lnTo>
                    <a:pt x="172" y="7"/>
                  </a:lnTo>
                  <a:lnTo>
                    <a:pt x="179" y="5"/>
                  </a:lnTo>
                  <a:lnTo>
                    <a:pt x="185" y="5"/>
                  </a:lnTo>
                  <a:lnTo>
                    <a:pt x="192" y="5"/>
                  </a:lnTo>
                  <a:lnTo>
                    <a:pt x="198" y="5"/>
                  </a:lnTo>
                  <a:lnTo>
                    <a:pt x="203" y="6"/>
                  </a:lnTo>
                  <a:lnTo>
                    <a:pt x="208" y="8"/>
                  </a:lnTo>
                  <a:lnTo>
                    <a:pt x="211" y="11"/>
                  </a:lnTo>
                  <a:lnTo>
                    <a:pt x="213" y="15"/>
                  </a:lnTo>
                  <a:lnTo>
                    <a:pt x="211" y="21"/>
                  </a:lnTo>
                  <a:lnTo>
                    <a:pt x="207" y="31"/>
                  </a:lnTo>
                  <a:lnTo>
                    <a:pt x="203" y="37"/>
                  </a:lnTo>
                  <a:lnTo>
                    <a:pt x="199" y="39"/>
                  </a:lnTo>
                  <a:lnTo>
                    <a:pt x="195" y="42"/>
                  </a:lnTo>
                  <a:lnTo>
                    <a:pt x="192" y="45"/>
                  </a:lnTo>
                  <a:lnTo>
                    <a:pt x="193" y="52"/>
                  </a:lnTo>
                  <a:lnTo>
                    <a:pt x="195" y="60"/>
                  </a:lnTo>
                  <a:lnTo>
                    <a:pt x="196" y="69"/>
                  </a:lnTo>
                  <a:lnTo>
                    <a:pt x="198" y="79"/>
                  </a:lnTo>
                  <a:lnTo>
                    <a:pt x="199" y="89"/>
                  </a:lnTo>
                  <a:lnTo>
                    <a:pt x="201" y="98"/>
                  </a:lnTo>
                  <a:lnTo>
                    <a:pt x="201" y="105"/>
                  </a:lnTo>
                  <a:lnTo>
                    <a:pt x="200" y="110"/>
                  </a:lnTo>
                  <a:lnTo>
                    <a:pt x="199" y="112"/>
                  </a:lnTo>
                  <a:lnTo>
                    <a:pt x="198" y="115"/>
                  </a:lnTo>
                  <a:lnTo>
                    <a:pt x="198" y="122"/>
                  </a:lnTo>
                  <a:lnTo>
                    <a:pt x="201" y="130"/>
                  </a:lnTo>
                  <a:lnTo>
                    <a:pt x="205" y="136"/>
                  </a:lnTo>
                  <a:lnTo>
                    <a:pt x="209" y="141"/>
                  </a:lnTo>
                  <a:lnTo>
                    <a:pt x="216" y="147"/>
                  </a:lnTo>
                  <a:lnTo>
                    <a:pt x="224" y="153"/>
                  </a:lnTo>
                  <a:lnTo>
                    <a:pt x="231" y="158"/>
                  </a:lnTo>
                  <a:lnTo>
                    <a:pt x="237" y="160"/>
                  </a:lnTo>
                  <a:lnTo>
                    <a:pt x="239" y="162"/>
                  </a:lnTo>
                  <a:close/>
                </a:path>
              </a:pathLst>
            </a:custGeom>
            <a:grpFill/>
            <a:ln w="9525">
              <a:solidFill>
                <a:schemeClr val="bg2">
                  <a:lumMod val="50000"/>
                </a:schemeClr>
              </a:solidFill>
              <a:round/>
              <a:headEnd/>
              <a:tailEnd/>
            </a:ln>
          </p:spPr>
          <p:txBody>
            <a:bodyPr/>
            <a:lstStyle/>
            <a:p>
              <a:endParaRPr lang="en-US" dirty="0"/>
            </a:p>
          </p:txBody>
        </p:sp>
        <p:sp>
          <p:nvSpPr>
            <p:cNvPr id="158" name="Freeform 445"/>
            <p:cNvSpPr>
              <a:spLocks/>
            </p:cNvSpPr>
            <p:nvPr/>
          </p:nvSpPr>
          <p:spPr bwMode="gray">
            <a:xfrm>
              <a:off x="3482695" y="3804165"/>
              <a:ext cx="30760" cy="15373"/>
            </a:xfrm>
            <a:custGeom>
              <a:avLst/>
              <a:gdLst>
                <a:gd name="T0" fmla="*/ 2147483647 w 23"/>
                <a:gd name="T1" fmla="*/ 0 h 18"/>
                <a:gd name="T2" fmla="*/ 2147483647 w 23"/>
                <a:gd name="T3" fmla="*/ 2147483647 h 18"/>
                <a:gd name="T4" fmla="*/ 2147483647 w 23"/>
                <a:gd name="T5" fmla="*/ 2147483647 h 18"/>
                <a:gd name="T6" fmla="*/ 0 w 23"/>
                <a:gd name="T7" fmla="*/ 2147483647 h 18"/>
                <a:gd name="T8" fmla="*/ 2147483647 w 23"/>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18">
                  <a:moveTo>
                    <a:pt x="2" y="0"/>
                  </a:moveTo>
                  <a:lnTo>
                    <a:pt x="23" y="1"/>
                  </a:lnTo>
                  <a:lnTo>
                    <a:pt x="21" y="18"/>
                  </a:lnTo>
                  <a:lnTo>
                    <a:pt x="0" y="13"/>
                  </a:lnTo>
                  <a:lnTo>
                    <a:pt x="2" y="0"/>
                  </a:lnTo>
                  <a:close/>
                </a:path>
              </a:pathLst>
            </a:custGeom>
            <a:grpFill/>
            <a:ln w="6350" cap="flat" cmpd="sng">
              <a:solidFill>
                <a:schemeClr val="bg2">
                  <a:lumMod val="50000"/>
                </a:schemeClr>
              </a:solidFill>
              <a:prstDash val="solid"/>
              <a:round/>
              <a:headEnd type="none" w="med" len="med"/>
              <a:tailEnd type="none" w="med" len="med"/>
            </a:ln>
            <a:effectLst/>
          </p:spPr>
          <p:txBody>
            <a:bodyPr/>
            <a:lstStyle/>
            <a:p>
              <a:endParaRPr lang="en-US" dirty="0"/>
            </a:p>
          </p:txBody>
        </p:sp>
        <p:sp>
          <p:nvSpPr>
            <p:cNvPr id="159" name="Freeform 450"/>
            <p:cNvSpPr>
              <a:spLocks/>
            </p:cNvSpPr>
            <p:nvPr/>
          </p:nvSpPr>
          <p:spPr bwMode="gray">
            <a:xfrm>
              <a:off x="4361374" y="2373138"/>
              <a:ext cx="111006" cy="40997"/>
            </a:xfrm>
            <a:custGeom>
              <a:avLst/>
              <a:gdLst>
                <a:gd name="T0" fmla="*/ 2147483647 w 114"/>
                <a:gd name="T1" fmla="*/ 0 h 54"/>
                <a:gd name="T2" fmla="*/ 2147483647 w 114"/>
                <a:gd name="T3" fmla="*/ 2147483647 h 54"/>
                <a:gd name="T4" fmla="*/ 2147483647 w 114"/>
                <a:gd name="T5" fmla="*/ 2147483647 h 54"/>
                <a:gd name="T6" fmla="*/ 2147483647 w 114"/>
                <a:gd name="T7" fmla="*/ 0 h 54"/>
                <a:gd name="T8" fmla="*/ 2147483647 w 114"/>
                <a:gd name="T9" fmla="*/ 2147483647 h 54"/>
                <a:gd name="T10" fmla="*/ 2147483647 w 114"/>
                <a:gd name="T11" fmla="*/ 2147483647 h 54"/>
                <a:gd name="T12" fmla="*/ 2147483647 w 114"/>
                <a:gd name="T13" fmla="*/ 2147483647 h 54"/>
                <a:gd name="T14" fmla="*/ 2147483647 w 114"/>
                <a:gd name="T15" fmla="*/ 2147483647 h 54"/>
                <a:gd name="T16" fmla="*/ 2147483647 w 114"/>
                <a:gd name="T17" fmla="*/ 2147483647 h 54"/>
                <a:gd name="T18" fmla="*/ 2147483647 w 114"/>
                <a:gd name="T19" fmla="*/ 2147483647 h 54"/>
                <a:gd name="T20" fmla="*/ 2147483647 w 114"/>
                <a:gd name="T21" fmla="*/ 2147483647 h 54"/>
                <a:gd name="T22" fmla="*/ 0 w 114"/>
                <a:gd name="T23" fmla="*/ 2147483647 h 54"/>
                <a:gd name="T24" fmla="*/ 2147483647 w 114"/>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4" h="54">
                  <a:moveTo>
                    <a:pt x="14" y="0"/>
                  </a:moveTo>
                  <a:lnTo>
                    <a:pt x="26" y="14"/>
                  </a:lnTo>
                  <a:lnTo>
                    <a:pt x="54" y="4"/>
                  </a:lnTo>
                  <a:lnTo>
                    <a:pt x="88" y="0"/>
                  </a:lnTo>
                  <a:lnTo>
                    <a:pt x="114" y="18"/>
                  </a:lnTo>
                  <a:lnTo>
                    <a:pt x="96" y="38"/>
                  </a:lnTo>
                  <a:lnTo>
                    <a:pt x="68" y="54"/>
                  </a:lnTo>
                  <a:lnTo>
                    <a:pt x="30" y="42"/>
                  </a:lnTo>
                  <a:lnTo>
                    <a:pt x="10" y="44"/>
                  </a:lnTo>
                  <a:lnTo>
                    <a:pt x="26" y="36"/>
                  </a:lnTo>
                  <a:lnTo>
                    <a:pt x="16" y="22"/>
                  </a:lnTo>
                  <a:lnTo>
                    <a:pt x="0" y="16"/>
                  </a:lnTo>
                  <a:lnTo>
                    <a:pt x="14" y="0"/>
                  </a:lnTo>
                  <a:close/>
                </a:path>
              </a:pathLst>
            </a:custGeom>
            <a:grpFill/>
            <a:ln w="9525" cap="flat" cmpd="sng">
              <a:solidFill>
                <a:schemeClr val="bg2">
                  <a:lumMod val="50000"/>
                </a:schemeClr>
              </a:solidFill>
              <a:prstDash val="solid"/>
              <a:round/>
              <a:headEnd/>
              <a:tailEnd/>
            </a:ln>
            <a:effectLst/>
          </p:spPr>
          <p:txBody>
            <a:bodyPr anchor="ctr"/>
            <a:lstStyle/>
            <a:p>
              <a:endParaRPr lang="en-US" dirty="0"/>
            </a:p>
          </p:txBody>
        </p:sp>
        <p:sp>
          <p:nvSpPr>
            <p:cNvPr id="160" name="Freeform 451"/>
            <p:cNvSpPr>
              <a:spLocks/>
            </p:cNvSpPr>
            <p:nvPr/>
          </p:nvSpPr>
          <p:spPr bwMode="gray">
            <a:xfrm>
              <a:off x="7727637" y="4094983"/>
              <a:ext cx="181888" cy="149892"/>
            </a:xfrm>
            <a:custGeom>
              <a:avLst/>
              <a:gdLst>
                <a:gd name="T0" fmla="*/ 2147483647 w 575"/>
                <a:gd name="T1" fmla="*/ 2147483647 h 488"/>
                <a:gd name="T2" fmla="*/ 2147483647 w 575"/>
                <a:gd name="T3" fmla="*/ 2147483647 h 488"/>
                <a:gd name="T4" fmla="*/ 2147483647 w 575"/>
                <a:gd name="T5" fmla="*/ 2147483647 h 488"/>
                <a:gd name="T6" fmla="*/ 2147483647 w 575"/>
                <a:gd name="T7" fmla="*/ 2147483647 h 488"/>
                <a:gd name="T8" fmla="*/ 2147483647 w 575"/>
                <a:gd name="T9" fmla="*/ 0 h 488"/>
                <a:gd name="T10" fmla="*/ 2147483647 w 575"/>
                <a:gd name="T11" fmla="*/ 2147483647 h 488"/>
                <a:gd name="T12" fmla="*/ 0 w 575"/>
                <a:gd name="T13" fmla="*/ 2147483647 h 488"/>
                <a:gd name="T14" fmla="*/ 2147483647 w 575"/>
                <a:gd name="T15" fmla="*/ 2147483647 h 488"/>
                <a:gd name="T16" fmla="*/ 2147483647 w 575"/>
                <a:gd name="T17" fmla="*/ 2147483647 h 488"/>
                <a:gd name="T18" fmla="*/ 2147483647 w 575"/>
                <a:gd name="T19" fmla="*/ 2147483647 h 488"/>
                <a:gd name="T20" fmla="*/ 2147483647 w 575"/>
                <a:gd name="T21" fmla="*/ 2147483647 h 488"/>
                <a:gd name="T22" fmla="*/ 2147483647 w 575"/>
                <a:gd name="T23" fmla="*/ 2147483647 h 488"/>
                <a:gd name="T24" fmla="*/ 2147483647 w 575"/>
                <a:gd name="T25" fmla="*/ 2147483647 h 488"/>
                <a:gd name="T26" fmla="*/ 2147483647 w 575"/>
                <a:gd name="T27" fmla="*/ 2147483647 h 488"/>
                <a:gd name="T28" fmla="*/ 2147483647 w 575"/>
                <a:gd name="T29" fmla="*/ 2147483647 h 488"/>
                <a:gd name="T30" fmla="*/ 2147483647 w 575"/>
                <a:gd name="T31" fmla="*/ 2147483647 h 488"/>
                <a:gd name="T32" fmla="*/ 2147483647 w 575"/>
                <a:gd name="T33" fmla="*/ 2147483647 h 488"/>
                <a:gd name="T34" fmla="*/ 2147483647 w 575"/>
                <a:gd name="T35" fmla="*/ 2147483647 h 488"/>
                <a:gd name="T36" fmla="*/ 2147483647 w 575"/>
                <a:gd name="T37" fmla="*/ 2147483647 h 488"/>
                <a:gd name="T38" fmla="*/ 2147483647 w 575"/>
                <a:gd name="T39" fmla="*/ 2147483647 h 488"/>
                <a:gd name="T40" fmla="*/ 2147483647 w 575"/>
                <a:gd name="T41" fmla="*/ 2147483647 h 4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5" h="488">
                  <a:moveTo>
                    <a:pt x="410" y="71"/>
                  </a:moveTo>
                  <a:lnTo>
                    <a:pt x="321" y="142"/>
                  </a:lnTo>
                  <a:lnTo>
                    <a:pt x="233" y="142"/>
                  </a:lnTo>
                  <a:lnTo>
                    <a:pt x="178" y="71"/>
                  </a:lnTo>
                  <a:lnTo>
                    <a:pt x="107" y="0"/>
                  </a:lnTo>
                  <a:lnTo>
                    <a:pt x="36" y="19"/>
                  </a:lnTo>
                  <a:lnTo>
                    <a:pt x="0" y="90"/>
                  </a:lnTo>
                  <a:lnTo>
                    <a:pt x="72" y="124"/>
                  </a:lnTo>
                  <a:lnTo>
                    <a:pt x="89" y="159"/>
                  </a:lnTo>
                  <a:lnTo>
                    <a:pt x="107" y="213"/>
                  </a:lnTo>
                  <a:lnTo>
                    <a:pt x="160" y="213"/>
                  </a:lnTo>
                  <a:lnTo>
                    <a:pt x="197" y="230"/>
                  </a:lnTo>
                  <a:lnTo>
                    <a:pt x="321" y="283"/>
                  </a:lnTo>
                  <a:lnTo>
                    <a:pt x="446" y="353"/>
                  </a:lnTo>
                  <a:lnTo>
                    <a:pt x="465" y="389"/>
                  </a:lnTo>
                  <a:lnTo>
                    <a:pt x="393" y="424"/>
                  </a:lnTo>
                  <a:lnTo>
                    <a:pt x="465" y="442"/>
                  </a:lnTo>
                  <a:lnTo>
                    <a:pt x="518" y="459"/>
                  </a:lnTo>
                  <a:lnTo>
                    <a:pt x="575" y="488"/>
                  </a:lnTo>
                  <a:lnTo>
                    <a:pt x="575" y="122"/>
                  </a:lnTo>
                  <a:lnTo>
                    <a:pt x="410" y="71"/>
                  </a:lnTo>
                  <a:close/>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sp>
          <p:nvSpPr>
            <p:cNvPr id="161" name="Freeform 452"/>
            <p:cNvSpPr>
              <a:spLocks/>
            </p:cNvSpPr>
            <p:nvPr/>
          </p:nvSpPr>
          <p:spPr bwMode="gray">
            <a:xfrm>
              <a:off x="7909525" y="4130854"/>
              <a:ext cx="147115" cy="137081"/>
            </a:xfrm>
            <a:custGeom>
              <a:avLst/>
              <a:gdLst>
                <a:gd name="T0" fmla="*/ 2147483647 w 460"/>
                <a:gd name="T1" fmla="*/ 2147483647 h 443"/>
                <a:gd name="T2" fmla="*/ 2147483647 w 460"/>
                <a:gd name="T3" fmla="*/ 2147483647 h 443"/>
                <a:gd name="T4" fmla="*/ 2147483647 w 460"/>
                <a:gd name="T5" fmla="*/ 2147483647 h 443"/>
                <a:gd name="T6" fmla="*/ 2147483647 w 460"/>
                <a:gd name="T7" fmla="*/ 2147483647 h 443"/>
                <a:gd name="T8" fmla="*/ 2147483647 w 460"/>
                <a:gd name="T9" fmla="*/ 2147483647 h 443"/>
                <a:gd name="T10" fmla="*/ 2147483647 w 460"/>
                <a:gd name="T11" fmla="*/ 2147483647 h 443"/>
                <a:gd name="T12" fmla="*/ 0 w 460"/>
                <a:gd name="T13" fmla="*/ 0 h 443"/>
                <a:gd name="T14" fmla="*/ 0 w 460"/>
                <a:gd name="T15" fmla="*/ 2147483647 h 443"/>
                <a:gd name="T16" fmla="*/ 2147483647 w 460"/>
                <a:gd name="T17" fmla="*/ 2147483647 h 443"/>
                <a:gd name="T18" fmla="*/ 2147483647 w 460"/>
                <a:gd name="T19" fmla="*/ 2147483647 h 443"/>
                <a:gd name="T20" fmla="*/ 2147483647 w 460"/>
                <a:gd name="T21" fmla="*/ 2147483647 h 443"/>
                <a:gd name="T22" fmla="*/ 2147483647 w 460"/>
                <a:gd name="T23" fmla="*/ 2147483647 h 443"/>
                <a:gd name="T24" fmla="*/ 2147483647 w 460"/>
                <a:gd name="T25" fmla="*/ 2147483647 h 443"/>
                <a:gd name="T26" fmla="*/ 2147483647 w 460"/>
                <a:gd name="T27" fmla="*/ 2147483647 h 443"/>
                <a:gd name="T28" fmla="*/ 2147483647 w 460"/>
                <a:gd name="T29" fmla="*/ 2147483647 h 443"/>
                <a:gd name="T30" fmla="*/ 2147483647 w 460"/>
                <a:gd name="T31" fmla="*/ 2147483647 h 443"/>
                <a:gd name="T32" fmla="*/ 2147483647 w 460"/>
                <a:gd name="T33" fmla="*/ 2147483647 h 4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60" h="443">
                  <a:moveTo>
                    <a:pt x="353" y="302"/>
                  </a:moveTo>
                  <a:lnTo>
                    <a:pt x="336" y="249"/>
                  </a:lnTo>
                  <a:lnTo>
                    <a:pt x="372" y="214"/>
                  </a:lnTo>
                  <a:lnTo>
                    <a:pt x="283" y="161"/>
                  </a:lnTo>
                  <a:lnTo>
                    <a:pt x="247" y="108"/>
                  </a:lnTo>
                  <a:lnTo>
                    <a:pt x="122" y="37"/>
                  </a:lnTo>
                  <a:lnTo>
                    <a:pt x="0" y="0"/>
                  </a:lnTo>
                  <a:lnTo>
                    <a:pt x="0" y="366"/>
                  </a:lnTo>
                  <a:lnTo>
                    <a:pt x="14" y="373"/>
                  </a:lnTo>
                  <a:lnTo>
                    <a:pt x="67" y="373"/>
                  </a:lnTo>
                  <a:lnTo>
                    <a:pt x="122" y="320"/>
                  </a:lnTo>
                  <a:lnTo>
                    <a:pt x="211" y="284"/>
                  </a:lnTo>
                  <a:lnTo>
                    <a:pt x="264" y="320"/>
                  </a:lnTo>
                  <a:lnTo>
                    <a:pt x="389" y="408"/>
                  </a:lnTo>
                  <a:lnTo>
                    <a:pt x="460" y="443"/>
                  </a:lnTo>
                  <a:lnTo>
                    <a:pt x="460" y="337"/>
                  </a:lnTo>
                  <a:lnTo>
                    <a:pt x="353" y="302"/>
                  </a:lnTo>
                  <a:close/>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grpSp>
          <p:nvGrpSpPr>
            <p:cNvPr id="162" name="Group 453"/>
            <p:cNvGrpSpPr>
              <a:grpSpLocks/>
            </p:cNvGrpSpPr>
            <p:nvPr/>
          </p:nvGrpSpPr>
          <p:grpSpPr bwMode="gray">
            <a:xfrm>
              <a:off x="4759922" y="2687016"/>
              <a:ext cx="211311" cy="297223"/>
              <a:chOff x="2201" y="1250"/>
              <a:chExt cx="133" cy="193"/>
            </a:xfrm>
            <a:grpFill/>
          </p:grpSpPr>
          <p:sp>
            <p:nvSpPr>
              <p:cNvPr id="203" name="Freeform 454"/>
              <p:cNvSpPr>
                <a:spLocks/>
              </p:cNvSpPr>
              <p:nvPr/>
            </p:nvSpPr>
            <p:spPr bwMode="gray">
              <a:xfrm>
                <a:off x="2234" y="1250"/>
                <a:ext cx="100" cy="193"/>
              </a:xfrm>
              <a:custGeom>
                <a:avLst/>
                <a:gdLst>
                  <a:gd name="T0" fmla="*/ 543767 w 24"/>
                  <a:gd name="T1" fmla="*/ 2833725 h 47"/>
                  <a:gd name="T2" fmla="*/ 371667 w 24"/>
                  <a:gd name="T3" fmla="*/ 2675083 h 47"/>
                  <a:gd name="T4" fmla="*/ 915658 w 24"/>
                  <a:gd name="T5" fmla="*/ 2344646 h 47"/>
                  <a:gd name="T6" fmla="*/ 826458 w 24"/>
                  <a:gd name="T7" fmla="*/ 2028208 h 47"/>
                  <a:gd name="T8" fmla="*/ 722154 w 24"/>
                  <a:gd name="T9" fmla="*/ 1773736 h 47"/>
                  <a:gd name="T10" fmla="*/ 282692 w 24"/>
                  <a:gd name="T11" fmla="*/ 1773736 h 47"/>
                  <a:gd name="T12" fmla="*/ 371667 w 24"/>
                  <a:gd name="T13" fmla="*/ 1299416 h 47"/>
                  <a:gd name="T14" fmla="*/ 89200 w 24"/>
                  <a:gd name="T15" fmla="*/ 1457232 h 47"/>
                  <a:gd name="T16" fmla="*/ 0 w 24"/>
                  <a:gd name="T17" fmla="*/ 1044943 h 47"/>
                  <a:gd name="T18" fmla="*/ 0 w 24"/>
                  <a:gd name="T19" fmla="*/ 651445 h 47"/>
                  <a:gd name="T20" fmla="*/ 89200 w 24"/>
                  <a:gd name="T21" fmla="*/ 316438 h 47"/>
                  <a:gd name="T22" fmla="*/ 460867 w 24"/>
                  <a:gd name="T23" fmla="*/ 0 h 47"/>
                  <a:gd name="T24" fmla="*/ 722154 w 24"/>
                  <a:gd name="T25" fmla="*/ 77060 h 47"/>
                  <a:gd name="T26" fmla="*/ 632950 w 24"/>
                  <a:gd name="T27" fmla="*/ 493916 h 47"/>
                  <a:gd name="T28" fmla="*/ 1177883 w 24"/>
                  <a:gd name="T29" fmla="*/ 493916 h 47"/>
                  <a:gd name="T30" fmla="*/ 1004638 w 24"/>
                  <a:gd name="T31" fmla="*/ 887418 h 47"/>
                  <a:gd name="T32" fmla="*/ 826458 w 24"/>
                  <a:gd name="T33" fmla="*/ 1222355 h 47"/>
                  <a:gd name="T34" fmla="*/ 1177883 w 24"/>
                  <a:gd name="T35" fmla="*/ 1376492 h 47"/>
                  <a:gd name="T36" fmla="*/ 1548613 w 24"/>
                  <a:gd name="T37" fmla="*/ 1951148 h 47"/>
                  <a:gd name="T38" fmla="*/ 1721929 w 24"/>
                  <a:gd name="T39" fmla="*/ 2344646 h 47"/>
                  <a:gd name="T40" fmla="*/ 1721929 w 24"/>
                  <a:gd name="T41" fmla="*/ 2579252 h 47"/>
                  <a:gd name="T42" fmla="*/ 2093613 w 24"/>
                  <a:gd name="T43" fmla="*/ 2579252 h 47"/>
                  <a:gd name="T44" fmla="*/ 2004342 w 24"/>
                  <a:gd name="T45" fmla="*/ 3150228 h 47"/>
                  <a:gd name="T46" fmla="*/ 2182796 w 24"/>
                  <a:gd name="T47" fmla="*/ 3227223 h 47"/>
                  <a:gd name="T48" fmla="*/ 1548613 w 24"/>
                  <a:gd name="T49" fmla="*/ 3485436 h 47"/>
                  <a:gd name="T50" fmla="*/ 1004638 w 24"/>
                  <a:gd name="T51" fmla="*/ 3562497 h 47"/>
                  <a:gd name="T52" fmla="*/ 722154 w 24"/>
                  <a:gd name="T53" fmla="*/ 3644078 h 47"/>
                  <a:gd name="T54" fmla="*/ 371667 w 24"/>
                  <a:gd name="T55" fmla="*/ 3644078 h 47"/>
                  <a:gd name="T56" fmla="*/ 89200 w 24"/>
                  <a:gd name="T57" fmla="*/ 3721139 h 47"/>
                  <a:gd name="T58" fmla="*/ 460867 w 24"/>
                  <a:gd name="T59" fmla="*/ 3384752 h 47"/>
                  <a:gd name="T60" fmla="*/ 543767 w 24"/>
                  <a:gd name="T61" fmla="*/ 3073151 h 47"/>
                  <a:gd name="T62" fmla="*/ 282692 w 24"/>
                  <a:gd name="T63" fmla="*/ 2991521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 h="47">
                    <a:moveTo>
                      <a:pt x="3" y="37"/>
                    </a:moveTo>
                    <a:cubicBezTo>
                      <a:pt x="6" y="35"/>
                      <a:pt x="6" y="35"/>
                      <a:pt x="6" y="35"/>
                    </a:cubicBezTo>
                    <a:cubicBezTo>
                      <a:pt x="6" y="33"/>
                      <a:pt x="6" y="33"/>
                      <a:pt x="6" y="33"/>
                    </a:cubicBezTo>
                    <a:cubicBezTo>
                      <a:pt x="4" y="33"/>
                      <a:pt x="4" y="33"/>
                      <a:pt x="4" y="33"/>
                    </a:cubicBezTo>
                    <a:cubicBezTo>
                      <a:pt x="6" y="30"/>
                      <a:pt x="6" y="30"/>
                      <a:pt x="6" y="30"/>
                    </a:cubicBezTo>
                    <a:cubicBezTo>
                      <a:pt x="10" y="29"/>
                      <a:pt x="10" y="29"/>
                      <a:pt x="10" y="29"/>
                    </a:cubicBezTo>
                    <a:cubicBezTo>
                      <a:pt x="9" y="26"/>
                      <a:pt x="9" y="26"/>
                      <a:pt x="9" y="26"/>
                    </a:cubicBezTo>
                    <a:cubicBezTo>
                      <a:pt x="9" y="25"/>
                      <a:pt x="9" y="25"/>
                      <a:pt x="9" y="25"/>
                    </a:cubicBezTo>
                    <a:cubicBezTo>
                      <a:pt x="8" y="23"/>
                      <a:pt x="8" y="23"/>
                      <a:pt x="8" y="23"/>
                    </a:cubicBezTo>
                    <a:cubicBezTo>
                      <a:pt x="8" y="22"/>
                      <a:pt x="8" y="22"/>
                      <a:pt x="8" y="22"/>
                    </a:cubicBezTo>
                    <a:cubicBezTo>
                      <a:pt x="5" y="22"/>
                      <a:pt x="5" y="22"/>
                      <a:pt x="5" y="22"/>
                    </a:cubicBezTo>
                    <a:cubicBezTo>
                      <a:pt x="3" y="22"/>
                      <a:pt x="3" y="22"/>
                      <a:pt x="3" y="22"/>
                    </a:cubicBezTo>
                    <a:cubicBezTo>
                      <a:pt x="3" y="20"/>
                      <a:pt x="3" y="20"/>
                      <a:pt x="3" y="20"/>
                    </a:cubicBezTo>
                    <a:cubicBezTo>
                      <a:pt x="4" y="16"/>
                      <a:pt x="4" y="16"/>
                      <a:pt x="4" y="16"/>
                    </a:cubicBezTo>
                    <a:cubicBezTo>
                      <a:pt x="2" y="16"/>
                      <a:pt x="2" y="16"/>
                      <a:pt x="2" y="16"/>
                    </a:cubicBezTo>
                    <a:cubicBezTo>
                      <a:pt x="1" y="18"/>
                      <a:pt x="1" y="18"/>
                      <a:pt x="1" y="18"/>
                    </a:cubicBezTo>
                    <a:cubicBezTo>
                      <a:pt x="1" y="18"/>
                      <a:pt x="0" y="17"/>
                      <a:pt x="0" y="16"/>
                    </a:cubicBezTo>
                    <a:cubicBezTo>
                      <a:pt x="0" y="15"/>
                      <a:pt x="0" y="13"/>
                      <a:pt x="0" y="13"/>
                    </a:cubicBezTo>
                    <a:cubicBezTo>
                      <a:pt x="0" y="11"/>
                      <a:pt x="0" y="11"/>
                      <a:pt x="0" y="11"/>
                    </a:cubicBezTo>
                    <a:cubicBezTo>
                      <a:pt x="0" y="8"/>
                      <a:pt x="0" y="8"/>
                      <a:pt x="0" y="8"/>
                    </a:cubicBezTo>
                    <a:cubicBezTo>
                      <a:pt x="0" y="6"/>
                      <a:pt x="0" y="6"/>
                      <a:pt x="0" y="6"/>
                    </a:cubicBezTo>
                    <a:cubicBezTo>
                      <a:pt x="1" y="4"/>
                      <a:pt x="1" y="4"/>
                      <a:pt x="1" y="4"/>
                    </a:cubicBezTo>
                    <a:cubicBezTo>
                      <a:pt x="3" y="0"/>
                      <a:pt x="3" y="0"/>
                      <a:pt x="3" y="0"/>
                    </a:cubicBezTo>
                    <a:cubicBezTo>
                      <a:pt x="5" y="0"/>
                      <a:pt x="5" y="0"/>
                      <a:pt x="5" y="0"/>
                    </a:cubicBezTo>
                    <a:cubicBezTo>
                      <a:pt x="8" y="0"/>
                      <a:pt x="8" y="0"/>
                      <a:pt x="8" y="0"/>
                    </a:cubicBezTo>
                    <a:cubicBezTo>
                      <a:pt x="8" y="1"/>
                      <a:pt x="8" y="1"/>
                      <a:pt x="8" y="1"/>
                    </a:cubicBezTo>
                    <a:cubicBezTo>
                      <a:pt x="6" y="5"/>
                      <a:pt x="6" y="5"/>
                      <a:pt x="6" y="5"/>
                    </a:cubicBezTo>
                    <a:cubicBezTo>
                      <a:pt x="7" y="6"/>
                      <a:pt x="7" y="6"/>
                      <a:pt x="7" y="6"/>
                    </a:cubicBezTo>
                    <a:cubicBezTo>
                      <a:pt x="10" y="5"/>
                      <a:pt x="10" y="5"/>
                      <a:pt x="10" y="5"/>
                    </a:cubicBezTo>
                    <a:cubicBezTo>
                      <a:pt x="13" y="6"/>
                      <a:pt x="13" y="6"/>
                      <a:pt x="13" y="6"/>
                    </a:cubicBezTo>
                    <a:cubicBezTo>
                      <a:pt x="12" y="8"/>
                      <a:pt x="12" y="8"/>
                      <a:pt x="12" y="8"/>
                    </a:cubicBezTo>
                    <a:cubicBezTo>
                      <a:pt x="11" y="11"/>
                      <a:pt x="11" y="11"/>
                      <a:pt x="11" y="11"/>
                    </a:cubicBezTo>
                    <a:cubicBezTo>
                      <a:pt x="9" y="14"/>
                      <a:pt x="9" y="14"/>
                      <a:pt x="9" y="14"/>
                    </a:cubicBezTo>
                    <a:cubicBezTo>
                      <a:pt x="9" y="15"/>
                      <a:pt x="9" y="15"/>
                      <a:pt x="9" y="15"/>
                    </a:cubicBezTo>
                    <a:cubicBezTo>
                      <a:pt x="11" y="16"/>
                      <a:pt x="11" y="16"/>
                      <a:pt x="11" y="16"/>
                    </a:cubicBezTo>
                    <a:cubicBezTo>
                      <a:pt x="13" y="17"/>
                      <a:pt x="13" y="17"/>
                      <a:pt x="13" y="17"/>
                    </a:cubicBezTo>
                    <a:cubicBezTo>
                      <a:pt x="15" y="22"/>
                      <a:pt x="15" y="22"/>
                      <a:pt x="15" y="22"/>
                    </a:cubicBezTo>
                    <a:cubicBezTo>
                      <a:pt x="17" y="24"/>
                      <a:pt x="17" y="24"/>
                      <a:pt x="17" y="24"/>
                    </a:cubicBezTo>
                    <a:cubicBezTo>
                      <a:pt x="20" y="28"/>
                      <a:pt x="20" y="28"/>
                      <a:pt x="20" y="28"/>
                    </a:cubicBezTo>
                    <a:cubicBezTo>
                      <a:pt x="19" y="29"/>
                      <a:pt x="19" y="29"/>
                      <a:pt x="19" y="29"/>
                    </a:cubicBezTo>
                    <a:cubicBezTo>
                      <a:pt x="19" y="30"/>
                      <a:pt x="19" y="30"/>
                      <a:pt x="19" y="30"/>
                    </a:cubicBezTo>
                    <a:cubicBezTo>
                      <a:pt x="19" y="32"/>
                      <a:pt x="19" y="32"/>
                      <a:pt x="19" y="32"/>
                    </a:cubicBezTo>
                    <a:cubicBezTo>
                      <a:pt x="21" y="32"/>
                      <a:pt x="21" y="32"/>
                      <a:pt x="21" y="32"/>
                    </a:cubicBezTo>
                    <a:cubicBezTo>
                      <a:pt x="23" y="32"/>
                      <a:pt x="23" y="32"/>
                      <a:pt x="23" y="32"/>
                    </a:cubicBezTo>
                    <a:cubicBezTo>
                      <a:pt x="24" y="36"/>
                      <a:pt x="24" y="36"/>
                      <a:pt x="24" y="36"/>
                    </a:cubicBezTo>
                    <a:cubicBezTo>
                      <a:pt x="22" y="39"/>
                      <a:pt x="22" y="39"/>
                      <a:pt x="22" y="39"/>
                    </a:cubicBezTo>
                    <a:cubicBezTo>
                      <a:pt x="22" y="40"/>
                      <a:pt x="22" y="40"/>
                      <a:pt x="22" y="40"/>
                    </a:cubicBezTo>
                    <a:cubicBezTo>
                      <a:pt x="24" y="40"/>
                      <a:pt x="24" y="40"/>
                      <a:pt x="24" y="40"/>
                    </a:cubicBezTo>
                    <a:cubicBezTo>
                      <a:pt x="22" y="41"/>
                      <a:pt x="22" y="41"/>
                      <a:pt x="22" y="41"/>
                    </a:cubicBezTo>
                    <a:cubicBezTo>
                      <a:pt x="17" y="43"/>
                      <a:pt x="17" y="43"/>
                      <a:pt x="17" y="43"/>
                    </a:cubicBezTo>
                    <a:cubicBezTo>
                      <a:pt x="14" y="43"/>
                      <a:pt x="14" y="43"/>
                      <a:pt x="14" y="43"/>
                    </a:cubicBezTo>
                    <a:cubicBezTo>
                      <a:pt x="11" y="44"/>
                      <a:pt x="11" y="44"/>
                      <a:pt x="11" y="44"/>
                    </a:cubicBezTo>
                    <a:cubicBezTo>
                      <a:pt x="11" y="44"/>
                      <a:pt x="10" y="43"/>
                      <a:pt x="9" y="43"/>
                    </a:cubicBezTo>
                    <a:cubicBezTo>
                      <a:pt x="9" y="43"/>
                      <a:pt x="8" y="45"/>
                      <a:pt x="8" y="45"/>
                    </a:cubicBezTo>
                    <a:cubicBezTo>
                      <a:pt x="6" y="45"/>
                      <a:pt x="6" y="45"/>
                      <a:pt x="6" y="45"/>
                    </a:cubicBezTo>
                    <a:cubicBezTo>
                      <a:pt x="4" y="45"/>
                      <a:pt x="4" y="45"/>
                      <a:pt x="4" y="45"/>
                    </a:cubicBezTo>
                    <a:cubicBezTo>
                      <a:pt x="3" y="47"/>
                      <a:pt x="3" y="47"/>
                      <a:pt x="3" y="47"/>
                    </a:cubicBezTo>
                    <a:cubicBezTo>
                      <a:pt x="1" y="46"/>
                      <a:pt x="1" y="46"/>
                      <a:pt x="1" y="46"/>
                    </a:cubicBezTo>
                    <a:cubicBezTo>
                      <a:pt x="2" y="44"/>
                      <a:pt x="2" y="44"/>
                      <a:pt x="2" y="44"/>
                    </a:cubicBezTo>
                    <a:cubicBezTo>
                      <a:pt x="5" y="42"/>
                      <a:pt x="5" y="42"/>
                      <a:pt x="5" y="42"/>
                    </a:cubicBezTo>
                    <a:cubicBezTo>
                      <a:pt x="8" y="39"/>
                      <a:pt x="8" y="39"/>
                      <a:pt x="8" y="39"/>
                    </a:cubicBezTo>
                    <a:cubicBezTo>
                      <a:pt x="6" y="38"/>
                      <a:pt x="6" y="38"/>
                      <a:pt x="6" y="38"/>
                    </a:cubicBezTo>
                    <a:cubicBezTo>
                      <a:pt x="4" y="38"/>
                      <a:pt x="4" y="38"/>
                      <a:pt x="4" y="38"/>
                    </a:cubicBezTo>
                    <a:lnTo>
                      <a:pt x="3" y="37"/>
                    </a:lnTo>
                    <a:close/>
                  </a:path>
                </a:pathLst>
              </a:custGeom>
              <a:grpFill/>
              <a:ln w="9525">
                <a:solidFill>
                  <a:schemeClr val="bg2">
                    <a:lumMod val="50000"/>
                  </a:schemeClr>
                </a:solidFill>
                <a:round/>
                <a:headEnd/>
                <a:tailEnd/>
              </a:ln>
            </p:spPr>
            <p:txBody>
              <a:bodyPr/>
              <a:lstStyle/>
              <a:p>
                <a:endParaRPr lang="en-US" dirty="0"/>
              </a:p>
            </p:txBody>
          </p:sp>
          <p:sp>
            <p:nvSpPr>
              <p:cNvPr id="204" name="Freeform 455"/>
              <p:cNvSpPr>
                <a:spLocks/>
              </p:cNvSpPr>
              <p:nvPr/>
            </p:nvSpPr>
            <p:spPr bwMode="gray">
              <a:xfrm>
                <a:off x="2201" y="1331"/>
                <a:ext cx="34" cy="22"/>
              </a:xfrm>
              <a:custGeom>
                <a:avLst/>
                <a:gdLst>
                  <a:gd name="T0" fmla="*/ 24 w 34"/>
                  <a:gd name="T1" fmla="*/ 22 h 22"/>
                  <a:gd name="T2" fmla="*/ 0 w 34"/>
                  <a:gd name="T3" fmla="*/ 18 h 22"/>
                  <a:gd name="T4" fmla="*/ 13 w 34"/>
                  <a:gd name="T5" fmla="*/ 0 h 22"/>
                  <a:gd name="T6" fmla="*/ 27 w 34"/>
                  <a:gd name="T7" fmla="*/ 3 h 22"/>
                  <a:gd name="T8" fmla="*/ 34 w 34"/>
                  <a:gd name="T9" fmla="*/ 15 h 22"/>
                  <a:gd name="T10" fmla="*/ 24 w 34"/>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22">
                    <a:moveTo>
                      <a:pt x="24" y="22"/>
                    </a:moveTo>
                    <a:lnTo>
                      <a:pt x="0" y="18"/>
                    </a:lnTo>
                    <a:lnTo>
                      <a:pt x="13" y="0"/>
                    </a:lnTo>
                    <a:lnTo>
                      <a:pt x="27" y="3"/>
                    </a:lnTo>
                    <a:lnTo>
                      <a:pt x="34" y="15"/>
                    </a:lnTo>
                    <a:lnTo>
                      <a:pt x="24" y="22"/>
                    </a:lnTo>
                    <a:close/>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grpSp>
        <p:sp>
          <p:nvSpPr>
            <p:cNvPr id="163" name="Freeform 458"/>
            <p:cNvSpPr>
              <a:spLocks/>
            </p:cNvSpPr>
            <p:nvPr/>
          </p:nvSpPr>
          <p:spPr bwMode="gray">
            <a:xfrm>
              <a:off x="5587779" y="3372423"/>
              <a:ext cx="61521" cy="35872"/>
            </a:xfrm>
            <a:custGeom>
              <a:avLst/>
              <a:gdLst>
                <a:gd name="T0" fmla="*/ 0 w 46"/>
                <a:gd name="T1" fmla="*/ 2147483647 h 28"/>
                <a:gd name="T2" fmla="*/ 2147483647 w 46"/>
                <a:gd name="T3" fmla="*/ 2147483647 h 28"/>
                <a:gd name="T4" fmla="*/ 2147483647 w 46"/>
                <a:gd name="T5" fmla="*/ 2147483647 h 28"/>
                <a:gd name="T6" fmla="*/ 2147483647 w 46"/>
                <a:gd name="T7" fmla="*/ 2147483647 h 28"/>
                <a:gd name="T8" fmla="*/ 2147483647 w 46"/>
                <a:gd name="T9" fmla="*/ 2147483647 h 28"/>
                <a:gd name="T10" fmla="*/ 2147483647 w 46"/>
                <a:gd name="T11" fmla="*/ 0 h 28"/>
                <a:gd name="T12" fmla="*/ 2147483647 w 46"/>
                <a:gd name="T13" fmla="*/ 2147483647 h 28"/>
                <a:gd name="T14" fmla="*/ 2147483647 w 46"/>
                <a:gd name="T15" fmla="*/ 2147483647 h 28"/>
                <a:gd name="T16" fmla="*/ 2147483647 w 46"/>
                <a:gd name="T17" fmla="*/ 2147483647 h 28"/>
                <a:gd name="T18" fmla="*/ 2147483647 w 46"/>
                <a:gd name="T19" fmla="*/ 2147483647 h 28"/>
                <a:gd name="T20" fmla="*/ 2147483647 w 46"/>
                <a:gd name="T21" fmla="*/ 2147483647 h 28"/>
                <a:gd name="T22" fmla="*/ 2147483647 w 46"/>
                <a:gd name="T23" fmla="*/ 2147483647 h 28"/>
                <a:gd name="T24" fmla="*/ 2147483647 w 46"/>
                <a:gd name="T25" fmla="*/ 2147483647 h 28"/>
                <a:gd name="T26" fmla="*/ 2147483647 w 46"/>
                <a:gd name="T27" fmla="*/ 2147483647 h 28"/>
                <a:gd name="T28" fmla="*/ 0 w 46"/>
                <a:gd name="T29" fmla="*/ 2147483647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 h="28">
                  <a:moveTo>
                    <a:pt x="0" y="15"/>
                  </a:moveTo>
                  <a:lnTo>
                    <a:pt x="3" y="17"/>
                  </a:lnTo>
                  <a:lnTo>
                    <a:pt x="12" y="14"/>
                  </a:lnTo>
                  <a:lnTo>
                    <a:pt x="13" y="8"/>
                  </a:lnTo>
                  <a:lnTo>
                    <a:pt x="27" y="9"/>
                  </a:lnTo>
                  <a:lnTo>
                    <a:pt x="46" y="0"/>
                  </a:lnTo>
                  <a:lnTo>
                    <a:pt x="46" y="1"/>
                  </a:lnTo>
                  <a:lnTo>
                    <a:pt x="33" y="11"/>
                  </a:lnTo>
                  <a:lnTo>
                    <a:pt x="36" y="18"/>
                  </a:lnTo>
                  <a:lnTo>
                    <a:pt x="27" y="21"/>
                  </a:lnTo>
                  <a:lnTo>
                    <a:pt x="15" y="28"/>
                  </a:lnTo>
                  <a:lnTo>
                    <a:pt x="13" y="28"/>
                  </a:lnTo>
                  <a:lnTo>
                    <a:pt x="8" y="26"/>
                  </a:lnTo>
                  <a:lnTo>
                    <a:pt x="2" y="23"/>
                  </a:lnTo>
                  <a:lnTo>
                    <a:pt x="0" y="15"/>
                  </a:lnTo>
                  <a:close/>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sp>
          <p:nvSpPr>
            <p:cNvPr id="164" name="Freeform 507"/>
            <p:cNvSpPr>
              <a:spLocks/>
            </p:cNvSpPr>
            <p:nvPr/>
          </p:nvSpPr>
          <p:spPr bwMode="gray">
            <a:xfrm>
              <a:off x="6486520" y="2876624"/>
              <a:ext cx="1270540" cy="845549"/>
            </a:xfrm>
            <a:custGeom>
              <a:avLst/>
              <a:gdLst>
                <a:gd name="T0" fmla="*/ 2147483647 w 950"/>
                <a:gd name="T1" fmla="*/ 2147483647 h 660"/>
                <a:gd name="T2" fmla="*/ 2147483647 w 950"/>
                <a:gd name="T3" fmla="*/ 2147483647 h 660"/>
                <a:gd name="T4" fmla="*/ 2147483647 w 950"/>
                <a:gd name="T5" fmla="*/ 2147483647 h 660"/>
                <a:gd name="T6" fmla="*/ 2147483647 w 950"/>
                <a:gd name="T7" fmla="*/ 2147483647 h 660"/>
                <a:gd name="T8" fmla="*/ 2147483647 w 950"/>
                <a:gd name="T9" fmla="*/ 2147483647 h 660"/>
                <a:gd name="T10" fmla="*/ 2147483647 w 950"/>
                <a:gd name="T11" fmla="*/ 2147483647 h 660"/>
                <a:gd name="T12" fmla="*/ 2147483647 w 950"/>
                <a:gd name="T13" fmla="*/ 2147483647 h 660"/>
                <a:gd name="T14" fmla="*/ 2147483647 w 950"/>
                <a:gd name="T15" fmla="*/ 2147483647 h 660"/>
                <a:gd name="T16" fmla="*/ 2147483647 w 950"/>
                <a:gd name="T17" fmla="*/ 2147483647 h 660"/>
                <a:gd name="T18" fmla="*/ 2147483647 w 950"/>
                <a:gd name="T19" fmla="*/ 2147483647 h 660"/>
                <a:gd name="T20" fmla="*/ 2147483647 w 950"/>
                <a:gd name="T21" fmla="*/ 2147483647 h 660"/>
                <a:gd name="T22" fmla="*/ 2147483647 w 950"/>
                <a:gd name="T23" fmla="*/ 2147483647 h 660"/>
                <a:gd name="T24" fmla="*/ 2147483647 w 950"/>
                <a:gd name="T25" fmla="*/ 2147483647 h 660"/>
                <a:gd name="T26" fmla="*/ 2147483647 w 950"/>
                <a:gd name="T27" fmla="*/ 2147483647 h 660"/>
                <a:gd name="T28" fmla="*/ 2147483647 w 950"/>
                <a:gd name="T29" fmla="*/ 2147483647 h 660"/>
                <a:gd name="T30" fmla="*/ 2147483647 w 950"/>
                <a:gd name="T31" fmla="*/ 2147483647 h 660"/>
                <a:gd name="T32" fmla="*/ 2147483647 w 950"/>
                <a:gd name="T33" fmla="*/ 2147483647 h 660"/>
                <a:gd name="T34" fmla="*/ 2147483647 w 950"/>
                <a:gd name="T35" fmla="*/ 2147483647 h 660"/>
                <a:gd name="T36" fmla="*/ 2147483647 w 950"/>
                <a:gd name="T37" fmla="*/ 2147483647 h 660"/>
                <a:gd name="T38" fmla="*/ 2147483647 w 950"/>
                <a:gd name="T39" fmla="*/ 2147483647 h 660"/>
                <a:gd name="T40" fmla="*/ 2147483647 w 950"/>
                <a:gd name="T41" fmla="*/ 2147483647 h 660"/>
                <a:gd name="T42" fmla="*/ 2147483647 w 950"/>
                <a:gd name="T43" fmla="*/ 2147483647 h 660"/>
                <a:gd name="T44" fmla="*/ 2147483647 w 950"/>
                <a:gd name="T45" fmla="*/ 2147483647 h 660"/>
                <a:gd name="T46" fmla="*/ 2147483647 w 950"/>
                <a:gd name="T47" fmla="*/ 2147483647 h 660"/>
                <a:gd name="T48" fmla="*/ 2147483647 w 950"/>
                <a:gd name="T49" fmla="*/ 2147483647 h 660"/>
                <a:gd name="T50" fmla="*/ 2147483647 w 950"/>
                <a:gd name="T51" fmla="*/ 2147483647 h 660"/>
                <a:gd name="T52" fmla="*/ 2147483647 w 950"/>
                <a:gd name="T53" fmla="*/ 2147483647 h 660"/>
                <a:gd name="T54" fmla="*/ 2147483647 w 950"/>
                <a:gd name="T55" fmla="*/ 2147483647 h 660"/>
                <a:gd name="T56" fmla="*/ 2147483647 w 950"/>
                <a:gd name="T57" fmla="*/ 2147483647 h 660"/>
                <a:gd name="T58" fmla="*/ 2147483647 w 950"/>
                <a:gd name="T59" fmla="*/ 2147483647 h 660"/>
                <a:gd name="T60" fmla="*/ 2147483647 w 950"/>
                <a:gd name="T61" fmla="*/ 2147483647 h 660"/>
                <a:gd name="T62" fmla="*/ 2147483647 w 950"/>
                <a:gd name="T63" fmla="*/ 2147483647 h 660"/>
                <a:gd name="T64" fmla="*/ 2147483647 w 950"/>
                <a:gd name="T65" fmla="*/ 2147483647 h 660"/>
                <a:gd name="T66" fmla="*/ 2147483647 w 950"/>
                <a:gd name="T67" fmla="*/ 2147483647 h 660"/>
                <a:gd name="T68" fmla="*/ 2147483647 w 950"/>
                <a:gd name="T69" fmla="*/ 2147483647 h 660"/>
                <a:gd name="T70" fmla="*/ 2147483647 w 950"/>
                <a:gd name="T71" fmla="*/ 2147483647 h 660"/>
                <a:gd name="T72" fmla="*/ 2147483647 w 950"/>
                <a:gd name="T73" fmla="*/ 2147483647 h 660"/>
                <a:gd name="T74" fmla="*/ 2147483647 w 950"/>
                <a:gd name="T75" fmla="*/ 2147483647 h 660"/>
                <a:gd name="T76" fmla="*/ 2147483647 w 950"/>
                <a:gd name="T77" fmla="*/ 2147483647 h 660"/>
                <a:gd name="T78" fmla="*/ 2147483647 w 950"/>
                <a:gd name="T79" fmla="*/ 2147483647 h 660"/>
                <a:gd name="T80" fmla="*/ 2147483647 w 950"/>
                <a:gd name="T81" fmla="*/ 2147483647 h 660"/>
                <a:gd name="T82" fmla="*/ 2147483647 w 950"/>
                <a:gd name="T83" fmla="*/ 2147483647 h 660"/>
                <a:gd name="T84" fmla="*/ 2147483647 w 950"/>
                <a:gd name="T85" fmla="*/ 2147483647 h 660"/>
                <a:gd name="T86" fmla="*/ 2147483647 w 950"/>
                <a:gd name="T87" fmla="*/ 2147483647 h 660"/>
                <a:gd name="T88" fmla="*/ 2147483647 w 950"/>
                <a:gd name="T89" fmla="*/ 2147483647 h 660"/>
                <a:gd name="T90" fmla="*/ 2147483647 w 950"/>
                <a:gd name="T91" fmla="*/ 2147483647 h 660"/>
                <a:gd name="T92" fmla="*/ 2147483647 w 950"/>
                <a:gd name="T93" fmla="*/ 2147483647 h 660"/>
                <a:gd name="T94" fmla="*/ 2147483647 w 950"/>
                <a:gd name="T95" fmla="*/ 2147483647 h 660"/>
                <a:gd name="T96" fmla="*/ 2147483647 w 950"/>
                <a:gd name="T97" fmla="*/ 2147483647 h 660"/>
                <a:gd name="T98" fmla="*/ 2147483647 w 950"/>
                <a:gd name="T99" fmla="*/ 2147483647 h 660"/>
                <a:gd name="T100" fmla="*/ 2147483647 w 950"/>
                <a:gd name="T101" fmla="*/ 2147483647 h 660"/>
                <a:gd name="T102" fmla="*/ 2147483647 w 950"/>
                <a:gd name="T103" fmla="*/ 2147483647 h 660"/>
                <a:gd name="T104" fmla="*/ 2147483647 w 950"/>
                <a:gd name="T105" fmla="*/ 2147483647 h 660"/>
                <a:gd name="T106" fmla="*/ 2147483647 w 950"/>
                <a:gd name="T107" fmla="*/ 2147483647 h 660"/>
                <a:gd name="T108" fmla="*/ 2147483647 w 950"/>
                <a:gd name="T109" fmla="*/ 2147483647 h 660"/>
                <a:gd name="T110" fmla="*/ 2147483647 w 950"/>
                <a:gd name="T111" fmla="*/ 2147483647 h 660"/>
                <a:gd name="T112" fmla="*/ 2147483647 w 950"/>
                <a:gd name="T113" fmla="*/ 2147483647 h 660"/>
                <a:gd name="T114" fmla="*/ 2147483647 w 950"/>
                <a:gd name="T115" fmla="*/ 2147483647 h 660"/>
                <a:gd name="T116" fmla="*/ 2147483647 w 950"/>
                <a:gd name="T117" fmla="*/ 2147483647 h 660"/>
                <a:gd name="T118" fmla="*/ 2147483647 w 950"/>
                <a:gd name="T119" fmla="*/ 2147483647 h 660"/>
                <a:gd name="T120" fmla="*/ 2147483647 w 950"/>
                <a:gd name="T121" fmla="*/ 2147483647 h 6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950" h="660">
                  <a:moveTo>
                    <a:pt x="890" y="118"/>
                  </a:moveTo>
                  <a:lnTo>
                    <a:pt x="890" y="118"/>
                  </a:lnTo>
                  <a:lnTo>
                    <a:pt x="880" y="98"/>
                  </a:lnTo>
                  <a:lnTo>
                    <a:pt x="840" y="88"/>
                  </a:lnTo>
                  <a:lnTo>
                    <a:pt x="792" y="0"/>
                  </a:lnTo>
                  <a:lnTo>
                    <a:pt x="746" y="0"/>
                  </a:lnTo>
                  <a:lnTo>
                    <a:pt x="732" y="24"/>
                  </a:lnTo>
                  <a:lnTo>
                    <a:pt x="702" y="78"/>
                  </a:lnTo>
                  <a:lnTo>
                    <a:pt x="672" y="78"/>
                  </a:lnTo>
                  <a:lnTo>
                    <a:pt x="668" y="88"/>
                  </a:lnTo>
                  <a:lnTo>
                    <a:pt x="668" y="90"/>
                  </a:lnTo>
                  <a:lnTo>
                    <a:pt x="670" y="90"/>
                  </a:lnTo>
                  <a:lnTo>
                    <a:pt x="672" y="90"/>
                  </a:lnTo>
                  <a:lnTo>
                    <a:pt x="672" y="92"/>
                  </a:lnTo>
                  <a:lnTo>
                    <a:pt x="674" y="92"/>
                  </a:lnTo>
                  <a:lnTo>
                    <a:pt x="676" y="92"/>
                  </a:lnTo>
                  <a:lnTo>
                    <a:pt x="676" y="94"/>
                  </a:lnTo>
                  <a:lnTo>
                    <a:pt x="678" y="94"/>
                  </a:lnTo>
                  <a:lnTo>
                    <a:pt x="676" y="94"/>
                  </a:lnTo>
                  <a:lnTo>
                    <a:pt x="676" y="92"/>
                  </a:lnTo>
                  <a:lnTo>
                    <a:pt x="674" y="92"/>
                  </a:lnTo>
                  <a:lnTo>
                    <a:pt x="672" y="92"/>
                  </a:lnTo>
                  <a:lnTo>
                    <a:pt x="672" y="90"/>
                  </a:lnTo>
                  <a:lnTo>
                    <a:pt x="670" y="90"/>
                  </a:lnTo>
                  <a:lnTo>
                    <a:pt x="668" y="90"/>
                  </a:lnTo>
                  <a:lnTo>
                    <a:pt x="668" y="88"/>
                  </a:lnTo>
                  <a:lnTo>
                    <a:pt x="658" y="108"/>
                  </a:lnTo>
                  <a:lnTo>
                    <a:pt x="658" y="132"/>
                  </a:lnTo>
                  <a:lnTo>
                    <a:pt x="702" y="138"/>
                  </a:lnTo>
                  <a:lnTo>
                    <a:pt x="712" y="158"/>
                  </a:lnTo>
                  <a:lnTo>
                    <a:pt x="668" y="172"/>
                  </a:lnTo>
                  <a:lnTo>
                    <a:pt x="632" y="188"/>
                  </a:lnTo>
                  <a:lnTo>
                    <a:pt x="598" y="202"/>
                  </a:lnTo>
                  <a:lnTo>
                    <a:pt x="588" y="236"/>
                  </a:lnTo>
                  <a:lnTo>
                    <a:pt x="534" y="242"/>
                  </a:lnTo>
                  <a:lnTo>
                    <a:pt x="480" y="276"/>
                  </a:lnTo>
                  <a:lnTo>
                    <a:pt x="430" y="252"/>
                  </a:lnTo>
                  <a:lnTo>
                    <a:pt x="370" y="246"/>
                  </a:lnTo>
                  <a:lnTo>
                    <a:pt x="326" y="202"/>
                  </a:lnTo>
                  <a:lnTo>
                    <a:pt x="262" y="182"/>
                  </a:lnTo>
                  <a:lnTo>
                    <a:pt x="256" y="132"/>
                  </a:lnTo>
                  <a:lnTo>
                    <a:pt x="226" y="118"/>
                  </a:lnTo>
                  <a:lnTo>
                    <a:pt x="222" y="114"/>
                  </a:lnTo>
                  <a:lnTo>
                    <a:pt x="220" y="116"/>
                  </a:lnTo>
                  <a:lnTo>
                    <a:pt x="218" y="120"/>
                  </a:lnTo>
                  <a:lnTo>
                    <a:pt x="218" y="122"/>
                  </a:lnTo>
                  <a:lnTo>
                    <a:pt x="218" y="124"/>
                  </a:lnTo>
                  <a:lnTo>
                    <a:pt x="218" y="122"/>
                  </a:lnTo>
                  <a:lnTo>
                    <a:pt x="218" y="120"/>
                  </a:lnTo>
                  <a:lnTo>
                    <a:pt x="222" y="114"/>
                  </a:lnTo>
                  <a:lnTo>
                    <a:pt x="218" y="108"/>
                  </a:lnTo>
                  <a:lnTo>
                    <a:pt x="208" y="114"/>
                  </a:lnTo>
                  <a:lnTo>
                    <a:pt x="208" y="124"/>
                  </a:lnTo>
                  <a:lnTo>
                    <a:pt x="208" y="114"/>
                  </a:lnTo>
                  <a:lnTo>
                    <a:pt x="192" y="118"/>
                  </a:lnTo>
                  <a:lnTo>
                    <a:pt x="182" y="148"/>
                  </a:lnTo>
                  <a:lnTo>
                    <a:pt x="142" y="142"/>
                  </a:lnTo>
                  <a:lnTo>
                    <a:pt x="132" y="192"/>
                  </a:lnTo>
                  <a:lnTo>
                    <a:pt x="98" y="198"/>
                  </a:lnTo>
                  <a:lnTo>
                    <a:pt x="88" y="256"/>
                  </a:lnTo>
                  <a:lnTo>
                    <a:pt x="68" y="276"/>
                  </a:lnTo>
                  <a:lnTo>
                    <a:pt x="44" y="296"/>
                  </a:lnTo>
                  <a:lnTo>
                    <a:pt x="4" y="306"/>
                  </a:lnTo>
                  <a:lnTo>
                    <a:pt x="0" y="326"/>
                  </a:lnTo>
                  <a:lnTo>
                    <a:pt x="10" y="334"/>
                  </a:lnTo>
                  <a:lnTo>
                    <a:pt x="14" y="350"/>
                  </a:lnTo>
                  <a:lnTo>
                    <a:pt x="4" y="354"/>
                  </a:lnTo>
                  <a:lnTo>
                    <a:pt x="14" y="364"/>
                  </a:lnTo>
                  <a:lnTo>
                    <a:pt x="30" y="370"/>
                  </a:lnTo>
                  <a:lnTo>
                    <a:pt x="44" y="390"/>
                  </a:lnTo>
                  <a:lnTo>
                    <a:pt x="64" y="390"/>
                  </a:lnTo>
                  <a:lnTo>
                    <a:pt x="94" y="390"/>
                  </a:lnTo>
                  <a:lnTo>
                    <a:pt x="98" y="398"/>
                  </a:lnTo>
                  <a:lnTo>
                    <a:pt x="78" y="428"/>
                  </a:lnTo>
                  <a:lnTo>
                    <a:pt x="84" y="444"/>
                  </a:lnTo>
                  <a:lnTo>
                    <a:pt x="74" y="458"/>
                  </a:lnTo>
                  <a:lnTo>
                    <a:pt x="84" y="478"/>
                  </a:lnTo>
                  <a:lnTo>
                    <a:pt x="108" y="488"/>
                  </a:lnTo>
                  <a:lnTo>
                    <a:pt x="104" y="492"/>
                  </a:lnTo>
                  <a:lnTo>
                    <a:pt x="114" y="492"/>
                  </a:lnTo>
                  <a:lnTo>
                    <a:pt x="148" y="508"/>
                  </a:lnTo>
                  <a:lnTo>
                    <a:pt x="178" y="522"/>
                  </a:lnTo>
                  <a:lnTo>
                    <a:pt x="208" y="528"/>
                  </a:lnTo>
                  <a:lnTo>
                    <a:pt x="218" y="536"/>
                  </a:lnTo>
                  <a:lnTo>
                    <a:pt x="226" y="536"/>
                  </a:lnTo>
                  <a:lnTo>
                    <a:pt x="242" y="546"/>
                  </a:lnTo>
                  <a:lnTo>
                    <a:pt x="262" y="546"/>
                  </a:lnTo>
                  <a:lnTo>
                    <a:pt x="282" y="546"/>
                  </a:lnTo>
                  <a:lnTo>
                    <a:pt x="296" y="528"/>
                  </a:lnTo>
                  <a:lnTo>
                    <a:pt x="316" y="512"/>
                  </a:lnTo>
                  <a:lnTo>
                    <a:pt x="340" y="512"/>
                  </a:lnTo>
                  <a:lnTo>
                    <a:pt x="360" y="528"/>
                  </a:lnTo>
                  <a:lnTo>
                    <a:pt x="370" y="528"/>
                  </a:lnTo>
                  <a:lnTo>
                    <a:pt x="380" y="532"/>
                  </a:lnTo>
                  <a:lnTo>
                    <a:pt x="386" y="556"/>
                  </a:lnTo>
                  <a:lnTo>
                    <a:pt x="376" y="586"/>
                  </a:lnTo>
                  <a:lnTo>
                    <a:pt x="376" y="596"/>
                  </a:lnTo>
                  <a:lnTo>
                    <a:pt x="390" y="600"/>
                  </a:lnTo>
                  <a:lnTo>
                    <a:pt x="400" y="616"/>
                  </a:lnTo>
                  <a:lnTo>
                    <a:pt x="400" y="626"/>
                  </a:lnTo>
                  <a:lnTo>
                    <a:pt x="424" y="636"/>
                  </a:lnTo>
                  <a:lnTo>
                    <a:pt x="420" y="640"/>
                  </a:lnTo>
                  <a:lnTo>
                    <a:pt x="444" y="636"/>
                  </a:lnTo>
                  <a:lnTo>
                    <a:pt x="450" y="616"/>
                  </a:lnTo>
                  <a:lnTo>
                    <a:pt x="500" y="616"/>
                  </a:lnTo>
                  <a:lnTo>
                    <a:pt x="518" y="630"/>
                  </a:lnTo>
                  <a:lnTo>
                    <a:pt x="524" y="646"/>
                  </a:lnTo>
                  <a:lnTo>
                    <a:pt x="534" y="640"/>
                  </a:lnTo>
                  <a:lnTo>
                    <a:pt x="568" y="660"/>
                  </a:lnTo>
                  <a:lnTo>
                    <a:pt x="568" y="646"/>
                  </a:lnTo>
                  <a:lnTo>
                    <a:pt x="608" y="630"/>
                  </a:lnTo>
                  <a:lnTo>
                    <a:pt x="612" y="626"/>
                  </a:lnTo>
                  <a:lnTo>
                    <a:pt x="622" y="620"/>
                  </a:lnTo>
                  <a:lnTo>
                    <a:pt x="632" y="626"/>
                  </a:lnTo>
                  <a:lnTo>
                    <a:pt x="652" y="616"/>
                  </a:lnTo>
                  <a:lnTo>
                    <a:pt x="678" y="600"/>
                  </a:lnTo>
                  <a:lnTo>
                    <a:pt x="702" y="582"/>
                  </a:lnTo>
                  <a:lnTo>
                    <a:pt x="712" y="562"/>
                  </a:lnTo>
                  <a:lnTo>
                    <a:pt x="726" y="542"/>
                  </a:lnTo>
                  <a:lnTo>
                    <a:pt x="742" y="512"/>
                  </a:lnTo>
                  <a:lnTo>
                    <a:pt x="742" y="498"/>
                  </a:lnTo>
                  <a:lnTo>
                    <a:pt x="736" y="488"/>
                  </a:lnTo>
                  <a:lnTo>
                    <a:pt x="742" y="472"/>
                  </a:lnTo>
                  <a:lnTo>
                    <a:pt x="736" y="454"/>
                  </a:lnTo>
                  <a:lnTo>
                    <a:pt x="712" y="404"/>
                  </a:lnTo>
                  <a:lnTo>
                    <a:pt x="716" y="398"/>
                  </a:lnTo>
                  <a:lnTo>
                    <a:pt x="736" y="374"/>
                  </a:lnTo>
                  <a:lnTo>
                    <a:pt x="752" y="370"/>
                  </a:lnTo>
                  <a:lnTo>
                    <a:pt x="754" y="368"/>
                  </a:lnTo>
                  <a:lnTo>
                    <a:pt x="754" y="364"/>
                  </a:lnTo>
                  <a:lnTo>
                    <a:pt x="752" y="360"/>
                  </a:lnTo>
                  <a:lnTo>
                    <a:pt x="726" y="354"/>
                  </a:lnTo>
                  <a:lnTo>
                    <a:pt x="712" y="360"/>
                  </a:lnTo>
                  <a:lnTo>
                    <a:pt x="702" y="354"/>
                  </a:lnTo>
                  <a:lnTo>
                    <a:pt x="692" y="340"/>
                  </a:lnTo>
                  <a:lnTo>
                    <a:pt x="682" y="330"/>
                  </a:lnTo>
                  <a:lnTo>
                    <a:pt x="706" y="320"/>
                  </a:lnTo>
                  <a:lnTo>
                    <a:pt x="722" y="306"/>
                  </a:lnTo>
                  <a:lnTo>
                    <a:pt x="746" y="290"/>
                  </a:lnTo>
                  <a:lnTo>
                    <a:pt x="756" y="290"/>
                  </a:lnTo>
                  <a:lnTo>
                    <a:pt x="742" y="310"/>
                  </a:lnTo>
                  <a:lnTo>
                    <a:pt x="752" y="320"/>
                  </a:lnTo>
                  <a:lnTo>
                    <a:pt x="762" y="316"/>
                  </a:lnTo>
                  <a:lnTo>
                    <a:pt x="786" y="306"/>
                  </a:lnTo>
                  <a:lnTo>
                    <a:pt x="792" y="284"/>
                  </a:lnTo>
                  <a:lnTo>
                    <a:pt x="806" y="272"/>
                  </a:lnTo>
                  <a:lnTo>
                    <a:pt x="820" y="282"/>
                  </a:lnTo>
                  <a:lnTo>
                    <a:pt x="818" y="262"/>
                  </a:lnTo>
                  <a:lnTo>
                    <a:pt x="838" y="250"/>
                  </a:lnTo>
                  <a:lnTo>
                    <a:pt x="864" y="254"/>
                  </a:lnTo>
                  <a:lnTo>
                    <a:pt x="876" y="246"/>
                  </a:lnTo>
                  <a:lnTo>
                    <a:pt x="890" y="252"/>
                  </a:lnTo>
                  <a:lnTo>
                    <a:pt x="900" y="198"/>
                  </a:lnTo>
                  <a:lnTo>
                    <a:pt x="924" y="192"/>
                  </a:lnTo>
                  <a:lnTo>
                    <a:pt x="950" y="118"/>
                  </a:lnTo>
                  <a:lnTo>
                    <a:pt x="890" y="118"/>
                  </a:lnTo>
                  <a:close/>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sp>
          <p:nvSpPr>
            <p:cNvPr id="165" name="Freeform 260"/>
            <p:cNvSpPr>
              <a:spLocks/>
            </p:cNvSpPr>
            <p:nvPr/>
          </p:nvSpPr>
          <p:spPr bwMode="gray">
            <a:xfrm>
              <a:off x="6624341" y="4052764"/>
              <a:ext cx="48147" cy="55089"/>
            </a:xfrm>
            <a:custGeom>
              <a:avLst/>
              <a:gdLst>
                <a:gd name="T0" fmla="*/ 2147483647 w 42"/>
                <a:gd name="T1" fmla="*/ 0 h 54"/>
                <a:gd name="T2" fmla="*/ 0 w 42"/>
                <a:gd name="T3" fmla="*/ 2147483647 h 54"/>
                <a:gd name="T4" fmla="*/ 2147483647 w 42"/>
                <a:gd name="T5" fmla="*/ 2147483647 h 54"/>
                <a:gd name="T6" fmla="*/ 2147483647 w 42"/>
                <a:gd name="T7" fmla="*/ 2147483647 h 54"/>
                <a:gd name="T8" fmla="*/ 2147483647 w 42"/>
                <a:gd name="T9" fmla="*/ 2147483647 h 54"/>
                <a:gd name="T10" fmla="*/ 2147483647 w 42"/>
                <a:gd name="T11" fmla="*/ 0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54">
                  <a:moveTo>
                    <a:pt x="6" y="0"/>
                  </a:moveTo>
                  <a:lnTo>
                    <a:pt x="0" y="24"/>
                  </a:lnTo>
                  <a:lnTo>
                    <a:pt x="6" y="54"/>
                  </a:lnTo>
                  <a:lnTo>
                    <a:pt x="30" y="54"/>
                  </a:lnTo>
                  <a:lnTo>
                    <a:pt x="42" y="30"/>
                  </a:lnTo>
                  <a:lnTo>
                    <a:pt x="6" y="0"/>
                  </a:lnTo>
                  <a:close/>
                </a:path>
              </a:pathLst>
            </a:custGeom>
            <a:grpFill/>
            <a:ln w="9525">
              <a:solidFill>
                <a:schemeClr val="bg2">
                  <a:lumMod val="50000"/>
                </a:schemeClr>
              </a:solidFill>
              <a:round/>
              <a:headEnd/>
              <a:tailEnd/>
            </a:ln>
          </p:spPr>
          <p:txBody>
            <a:bodyPr/>
            <a:lstStyle/>
            <a:p>
              <a:endParaRPr lang="en-US" dirty="0"/>
            </a:p>
          </p:txBody>
        </p:sp>
        <p:sp>
          <p:nvSpPr>
            <p:cNvPr id="166" name="Freeform 261"/>
            <p:cNvSpPr>
              <a:spLocks/>
            </p:cNvSpPr>
            <p:nvPr/>
          </p:nvSpPr>
          <p:spPr bwMode="gray">
            <a:xfrm>
              <a:off x="7214071" y="3722173"/>
              <a:ext cx="45472" cy="43559"/>
            </a:xfrm>
            <a:custGeom>
              <a:avLst/>
              <a:gdLst>
                <a:gd name="T0" fmla="*/ 0 w 42"/>
                <a:gd name="T1" fmla="*/ 2147483647 h 42"/>
                <a:gd name="T2" fmla="*/ 2147483647 w 42"/>
                <a:gd name="T3" fmla="*/ 2147483647 h 42"/>
                <a:gd name="T4" fmla="*/ 2147483647 w 42"/>
                <a:gd name="T5" fmla="*/ 0 h 42"/>
                <a:gd name="T6" fmla="*/ 2147483647 w 42"/>
                <a:gd name="T7" fmla="*/ 2147483647 h 42"/>
                <a:gd name="T8" fmla="*/ 2147483647 w 42"/>
                <a:gd name="T9" fmla="*/ 2147483647 h 42"/>
                <a:gd name="T10" fmla="*/ 2147483647 w 42"/>
                <a:gd name="T11" fmla="*/ 2147483647 h 42"/>
                <a:gd name="T12" fmla="*/ 0 w 42"/>
                <a:gd name="T13" fmla="*/ 2147483647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42">
                  <a:moveTo>
                    <a:pt x="0" y="30"/>
                  </a:moveTo>
                  <a:lnTo>
                    <a:pt x="12" y="12"/>
                  </a:lnTo>
                  <a:lnTo>
                    <a:pt x="30" y="0"/>
                  </a:lnTo>
                  <a:lnTo>
                    <a:pt x="42" y="12"/>
                  </a:lnTo>
                  <a:lnTo>
                    <a:pt x="30" y="30"/>
                  </a:lnTo>
                  <a:lnTo>
                    <a:pt x="12" y="42"/>
                  </a:lnTo>
                  <a:lnTo>
                    <a:pt x="0" y="30"/>
                  </a:lnTo>
                  <a:close/>
                </a:path>
              </a:pathLst>
            </a:custGeom>
            <a:grpFill/>
            <a:ln w="9525">
              <a:solidFill>
                <a:schemeClr val="bg2">
                  <a:lumMod val="50000"/>
                </a:schemeClr>
              </a:solidFill>
              <a:round/>
              <a:headEnd/>
              <a:tailEnd/>
            </a:ln>
          </p:spPr>
          <p:txBody>
            <a:bodyPr/>
            <a:lstStyle/>
            <a:p>
              <a:endParaRPr lang="en-US" dirty="0"/>
            </a:p>
          </p:txBody>
        </p:sp>
        <p:sp>
          <p:nvSpPr>
            <p:cNvPr id="167" name="Freeform 262"/>
            <p:cNvSpPr>
              <a:spLocks/>
            </p:cNvSpPr>
            <p:nvPr/>
          </p:nvSpPr>
          <p:spPr bwMode="gray">
            <a:xfrm>
              <a:off x="7458817" y="3614557"/>
              <a:ext cx="26748" cy="75587"/>
            </a:xfrm>
            <a:custGeom>
              <a:avLst/>
              <a:gdLst>
                <a:gd name="T0" fmla="*/ 0 w 24"/>
                <a:gd name="T1" fmla="*/ 2147483647 h 72"/>
                <a:gd name="T2" fmla="*/ 0 w 24"/>
                <a:gd name="T3" fmla="*/ 2147483647 h 72"/>
                <a:gd name="T4" fmla="*/ 2147483647 w 24"/>
                <a:gd name="T5" fmla="*/ 0 h 72"/>
                <a:gd name="T6" fmla="*/ 2147483647 w 24"/>
                <a:gd name="T7" fmla="*/ 2147483647 h 72"/>
                <a:gd name="T8" fmla="*/ 2147483647 w 24"/>
                <a:gd name="T9" fmla="*/ 2147483647 h 72"/>
                <a:gd name="T10" fmla="*/ 0 w 24"/>
                <a:gd name="T11" fmla="*/ 2147483647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72">
                  <a:moveTo>
                    <a:pt x="0" y="42"/>
                  </a:moveTo>
                  <a:lnTo>
                    <a:pt x="0" y="18"/>
                  </a:lnTo>
                  <a:lnTo>
                    <a:pt x="24" y="0"/>
                  </a:lnTo>
                  <a:lnTo>
                    <a:pt x="24" y="24"/>
                  </a:lnTo>
                  <a:lnTo>
                    <a:pt x="6" y="72"/>
                  </a:lnTo>
                  <a:lnTo>
                    <a:pt x="0" y="42"/>
                  </a:lnTo>
                  <a:close/>
                </a:path>
              </a:pathLst>
            </a:custGeom>
            <a:grpFill/>
            <a:ln w="9525">
              <a:solidFill>
                <a:schemeClr val="bg2">
                  <a:lumMod val="50000"/>
                </a:schemeClr>
              </a:solidFill>
              <a:round/>
              <a:headEnd/>
              <a:tailEnd/>
            </a:ln>
          </p:spPr>
          <p:txBody>
            <a:bodyPr/>
            <a:lstStyle/>
            <a:p>
              <a:endParaRPr lang="en-US" dirty="0"/>
            </a:p>
          </p:txBody>
        </p:sp>
        <p:sp>
          <p:nvSpPr>
            <p:cNvPr id="168" name="Freeform 263"/>
            <p:cNvSpPr>
              <a:spLocks/>
            </p:cNvSpPr>
            <p:nvPr/>
          </p:nvSpPr>
          <p:spPr bwMode="gray">
            <a:xfrm>
              <a:off x="7656754" y="3418544"/>
              <a:ext cx="38785" cy="56370"/>
            </a:xfrm>
            <a:custGeom>
              <a:avLst/>
              <a:gdLst>
                <a:gd name="T0" fmla="*/ 0 w 36"/>
                <a:gd name="T1" fmla="*/ 2147483647 h 54"/>
                <a:gd name="T2" fmla="*/ 2147483647 w 36"/>
                <a:gd name="T3" fmla="*/ 2147483647 h 54"/>
                <a:gd name="T4" fmla="*/ 2147483647 w 36"/>
                <a:gd name="T5" fmla="*/ 2147483647 h 54"/>
                <a:gd name="T6" fmla="*/ 2147483647 w 36"/>
                <a:gd name="T7" fmla="*/ 2147483647 h 54"/>
                <a:gd name="T8" fmla="*/ 2147483647 w 36"/>
                <a:gd name="T9" fmla="*/ 2147483647 h 54"/>
                <a:gd name="T10" fmla="*/ 2147483647 w 36"/>
                <a:gd name="T11" fmla="*/ 0 h 54"/>
                <a:gd name="T12" fmla="*/ 0 w 36"/>
                <a:gd name="T13" fmla="*/ 2147483647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54">
                  <a:moveTo>
                    <a:pt x="0" y="18"/>
                  </a:moveTo>
                  <a:lnTo>
                    <a:pt x="6" y="36"/>
                  </a:lnTo>
                  <a:lnTo>
                    <a:pt x="12" y="54"/>
                  </a:lnTo>
                  <a:lnTo>
                    <a:pt x="30" y="42"/>
                  </a:lnTo>
                  <a:lnTo>
                    <a:pt x="36" y="18"/>
                  </a:lnTo>
                  <a:lnTo>
                    <a:pt x="30" y="0"/>
                  </a:lnTo>
                  <a:lnTo>
                    <a:pt x="0" y="18"/>
                  </a:lnTo>
                  <a:close/>
                </a:path>
              </a:pathLst>
            </a:custGeom>
            <a:grpFill/>
            <a:ln w="9525">
              <a:solidFill>
                <a:schemeClr val="bg2">
                  <a:lumMod val="50000"/>
                </a:schemeClr>
              </a:solidFill>
              <a:round/>
              <a:headEnd/>
              <a:tailEnd/>
            </a:ln>
          </p:spPr>
          <p:txBody>
            <a:bodyPr/>
            <a:lstStyle/>
            <a:p>
              <a:endParaRPr lang="en-US" dirty="0"/>
            </a:p>
          </p:txBody>
        </p:sp>
        <p:sp>
          <p:nvSpPr>
            <p:cNvPr id="169" name="Freeform 264"/>
            <p:cNvSpPr>
              <a:spLocks/>
            </p:cNvSpPr>
            <p:nvPr/>
          </p:nvSpPr>
          <p:spPr bwMode="gray">
            <a:xfrm>
              <a:off x="7703564" y="3129008"/>
              <a:ext cx="290218" cy="302348"/>
            </a:xfrm>
            <a:custGeom>
              <a:avLst/>
              <a:gdLst>
                <a:gd name="T0" fmla="*/ 2147483647 w 264"/>
                <a:gd name="T1" fmla="*/ 2147483647 h 289"/>
                <a:gd name="T2" fmla="*/ 2147483647 w 264"/>
                <a:gd name="T3" fmla="*/ 2147483647 h 289"/>
                <a:gd name="T4" fmla="*/ 2147483647 w 264"/>
                <a:gd name="T5" fmla="*/ 2147483647 h 289"/>
                <a:gd name="T6" fmla="*/ 2147483647 w 264"/>
                <a:gd name="T7" fmla="*/ 2147483647 h 289"/>
                <a:gd name="T8" fmla="*/ 2147483647 w 264"/>
                <a:gd name="T9" fmla="*/ 2147483647 h 289"/>
                <a:gd name="T10" fmla="*/ 2147483647 w 264"/>
                <a:gd name="T11" fmla="*/ 2147483647 h 289"/>
                <a:gd name="T12" fmla="*/ 2147483647 w 264"/>
                <a:gd name="T13" fmla="*/ 2147483647 h 289"/>
                <a:gd name="T14" fmla="*/ 2147483647 w 264"/>
                <a:gd name="T15" fmla="*/ 2147483647 h 289"/>
                <a:gd name="T16" fmla="*/ 2147483647 w 264"/>
                <a:gd name="T17" fmla="*/ 2147483647 h 289"/>
                <a:gd name="T18" fmla="*/ 2147483647 w 264"/>
                <a:gd name="T19" fmla="*/ 2147483647 h 289"/>
                <a:gd name="T20" fmla="*/ 2147483647 w 264"/>
                <a:gd name="T21" fmla="*/ 0 h 289"/>
                <a:gd name="T22" fmla="*/ 2147483647 w 264"/>
                <a:gd name="T23" fmla="*/ 2147483647 h 289"/>
                <a:gd name="T24" fmla="*/ 2147483647 w 264"/>
                <a:gd name="T25" fmla="*/ 2147483647 h 289"/>
                <a:gd name="T26" fmla="*/ 2147483647 w 264"/>
                <a:gd name="T27" fmla="*/ 2147483647 h 289"/>
                <a:gd name="T28" fmla="*/ 2147483647 w 264"/>
                <a:gd name="T29" fmla="*/ 2147483647 h 289"/>
                <a:gd name="T30" fmla="*/ 2147483647 w 264"/>
                <a:gd name="T31" fmla="*/ 2147483647 h 289"/>
                <a:gd name="T32" fmla="*/ 2147483647 w 264"/>
                <a:gd name="T33" fmla="*/ 2147483647 h 289"/>
                <a:gd name="T34" fmla="*/ 2147483647 w 264"/>
                <a:gd name="T35" fmla="*/ 2147483647 h 289"/>
                <a:gd name="T36" fmla="*/ 2147483647 w 264"/>
                <a:gd name="T37" fmla="*/ 2147483647 h 289"/>
                <a:gd name="T38" fmla="*/ 2147483647 w 264"/>
                <a:gd name="T39" fmla="*/ 2147483647 h 289"/>
                <a:gd name="T40" fmla="*/ 2147483647 w 264"/>
                <a:gd name="T41" fmla="*/ 2147483647 h 289"/>
                <a:gd name="T42" fmla="*/ 2147483647 w 264"/>
                <a:gd name="T43" fmla="*/ 2147483647 h 289"/>
                <a:gd name="T44" fmla="*/ 2147483647 w 264"/>
                <a:gd name="T45" fmla="*/ 2147483647 h 289"/>
                <a:gd name="T46" fmla="*/ 2147483647 w 264"/>
                <a:gd name="T47" fmla="*/ 2147483647 h 289"/>
                <a:gd name="T48" fmla="*/ 2147483647 w 264"/>
                <a:gd name="T49" fmla="*/ 2147483647 h 289"/>
                <a:gd name="T50" fmla="*/ 2147483647 w 264"/>
                <a:gd name="T51" fmla="*/ 2147483647 h 289"/>
                <a:gd name="T52" fmla="*/ 2147483647 w 264"/>
                <a:gd name="T53" fmla="*/ 2147483647 h 289"/>
                <a:gd name="T54" fmla="*/ 2147483647 w 264"/>
                <a:gd name="T55" fmla="*/ 2147483647 h 289"/>
                <a:gd name="T56" fmla="*/ 2147483647 w 264"/>
                <a:gd name="T57" fmla="*/ 2147483647 h 289"/>
                <a:gd name="T58" fmla="*/ 2147483647 w 264"/>
                <a:gd name="T59" fmla="*/ 2147483647 h 289"/>
                <a:gd name="T60" fmla="*/ 2147483647 w 264"/>
                <a:gd name="T61" fmla="*/ 2147483647 h 289"/>
                <a:gd name="T62" fmla="*/ 2147483647 w 264"/>
                <a:gd name="T63" fmla="*/ 2147483647 h 289"/>
                <a:gd name="T64" fmla="*/ 2147483647 w 264"/>
                <a:gd name="T65" fmla="*/ 2147483647 h 289"/>
                <a:gd name="T66" fmla="*/ 0 w 264"/>
                <a:gd name="T67" fmla="*/ 2147483647 h 289"/>
                <a:gd name="T68" fmla="*/ 2147483647 w 264"/>
                <a:gd name="T69" fmla="*/ 2147483647 h 2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4" h="289">
                  <a:moveTo>
                    <a:pt x="6" y="247"/>
                  </a:moveTo>
                  <a:lnTo>
                    <a:pt x="42" y="235"/>
                  </a:lnTo>
                  <a:lnTo>
                    <a:pt x="66" y="235"/>
                  </a:lnTo>
                  <a:lnTo>
                    <a:pt x="108" y="199"/>
                  </a:lnTo>
                  <a:lnTo>
                    <a:pt x="138" y="187"/>
                  </a:lnTo>
                  <a:lnTo>
                    <a:pt x="144" y="157"/>
                  </a:lnTo>
                  <a:lnTo>
                    <a:pt x="156" y="109"/>
                  </a:lnTo>
                  <a:lnTo>
                    <a:pt x="156" y="72"/>
                  </a:lnTo>
                  <a:lnTo>
                    <a:pt x="174" y="48"/>
                  </a:lnTo>
                  <a:lnTo>
                    <a:pt x="174" y="18"/>
                  </a:lnTo>
                  <a:lnTo>
                    <a:pt x="186" y="0"/>
                  </a:lnTo>
                  <a:lnTo>
                    <a:pt x="210" y="18"/>
                  </a:lnTo>
                  <a:lnTo>
                    <a:pt x="246" y="30"/>
                  </a:lnTo>
                  <a:lnTo>
                    <a:pt x="264" y="30"/>
                  </a:lnTo>
                  <a:lnTo>
                    <a:pt x="240" y="54"/>
                  </a:lnTo>
                  <a:lnTo>
                    <a:pt x="222" y="66"/>
                  </a:lnTo>
                  <a:lnTo>
                    <a:pt x="210" y="85"/>
                  </a:lnTo>
                  <a:lnTo>
                    <a:pt x="180" y="60"/>
                  </a:lnTo>
                  <a:lnTo>
                    <a:pt x="162" y="97"/>
                  </a:lnTo>
                  <a:lnTo>
                    <a:pt x="186" y="139"/>
                  </a:lnTo>
                  <a:lnTo>
                    <a:pt x="168" y="169"/>
                  </a:lnTo>
                  <a:lnTo>
                    <a:pt x="162" y="193"/>
                  </a:lnTo>
                  <a:lnTo>
                    <a:pt x="162" y="235"/>
                  </a:lnTo>
                  <a:lnTo>
                    <a:pt x="150" y="247"/>
                  </a:lnTo>
                  <a:lnTo>
                    <a:pt x="138" y="241"/>
                  </a:lnTo>
                  <a:lnTo>
                    <a:pt x="126" y="247"/>
                  </a:lnTo>
                  <a:lnTo>
                    <a:pt x="102" y="247"/>
                  </a:lnTo>
                  <a:lnTo>
                    <a:pt x="90" y="247"/>
                  </a:lnTo>
                  <a:lnTo>
                    <a:pt x="66" y="271"/>
                  </a:lnTo>
                  <a:lnTo>
                    <a:pt x="60" y="259"/>
                  </a:lnTo>
                  <a:lnTo>
                    <a:pt x="48" y="265"/>
                  </a:lnTo>
                  <a:lnTo>
                    <a:pt x="36" y="271"/>
                  </a:lnTo>
                  <a:lnTo>
                    <a:pt x="12" y="289"/>
                  </a:lnTo>
                  <a:lnTo>
                    <a:pt x="0" y="259"/>
                  </a:lnTo>
                  <a:lnTo>
                    <a:pt x="6" y="247"/>
                  </a:lnTo>
                  <a:close/>
                </a:path>
              </a:pathLst>
            </a:custGeom>
            <a:grpFill/>
            <a:ln w="9525">
              <a:solidFill>
                <a:schemeClr val="bg2">
                  <a:lumMod val="50000"/>
                </a:schemeClr>
              </a:solidFill>
              <a:round/>
              <a:headEnd/>
              <a:tailEnd/>
            </a:ln>
          </p:spPr>
          <p:txBody>
            <a:bodyPr/>
            <a:lstStyle/>
            <a:p>
              <a:endParaRPr lang="en-US" dirty="0"/>
            </a:p>
          </p:txBody>
        </p:sp>
        <p:sp>
          <p:nvSpPr>
            <p:cNvPr id="170" name="Freeform 265"/>
            <p:cNvSpPr>
              <a:spLocks/>
            </p:cNvSpPr>
            <p:nvPr/>
          </p:nvSpPr>
          <p:spPr bwMode="gray">
            <a:xfrm>
              <a:off x="7908187" y="2851001"/>
              <a:ext cx="52160" cy="247259"/>
            </a:xfrm>
            <a:custGeom>
              <a:avLst/>
              <a:gdLst>
                <a:gd name="T0" fmla="*/ 2147483647 w 48"/>
                <a:gd name="T1" fmla="*/ 2147483647 h 234"/>
                <a:gd name="T2" fmla="*/ 2147483647 w 48"/>
                <a:gd name="T3" fmla="*/ 2147483647 h 234"/>
                <a:gd name="T4" fmla="*/ 2147483647 w 48"/>
                <a:gd name="T5" fmla="*/ 2147483647 h 234"/>
                <a:gd name="T6" fmla="*/ 0 w 48"/>
                <a:gd name="T7" fmla="*/ 2147483647 h 234"/>
                <a:gd name="T8" fmla="*/ 2147483647 w 48"/>
                <a:gd name="T9" fmla="*/ 2147483647 h 234"/>
                <a:gd name="T10" fmla="*/ 2147483647 w 48"/>
                <a:gd name="T11" fmla="*/ 0 h 234"/>
                <a:gd name="T12" fmla="*/ 2147483647 w 48"/>
                <a:gd name="T13" fmla="*/ 2147483647 h 234"/>
                <a:gd name="T14" fmla="*/ 2147483647 w 48"/>
                <a:gd name="T15" fmla="*/ 2147483647 h 234"/>
                <a:gd name="T16" fmla="*/ 2147483647 w 48"/>
                <a:gd name="T17" fmla="*/ 2147483647 h 234"/>
                <a:gd name="T18" fmla="*/ 2147483647 w 48"/>
                <a:gd name="T19" fmla="*/ 2147483647 h 234"/>
                <a:gd name="T20" fmla="*/ 2147483647 w 48"/>
                <a:gd name="T21" fmla="*/ 2147483647 h 234"/>
                <a:gd name="T22" fmla="*/ 2147483647 w 48"/>
                <a:gd name="T23" fmla="*/ 2147483647 h 234"/>
                <a:gd name="T24" fmla="*/ 2147483647 w 48"/>
                <a:gd name="T25" fmla="*/ 2147483647 h 234"/>
                <a:gd name="T26" fmla="*/ 2147483647 w 48"/>
                <a:gd name="T27" fmla="*/ 2147483647 h 2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8" h="234">
                  <a:moveTo>
                    <a:pt x="12" y="222"/>
                  </a:moveTo>
                  <a:lnTo>
                    <a:pt x="12" y="180"/>
                  </a:lnTo>
                  <a:lnTo>
                    <a:pt x="6" y="90"/>
                  </a:lnTo>
                  <a:lnTo>
                    <a:pt x="0" y="66"/>
                  </a:lnTo>
                  <a:lnTo>
                    <a:pt x="6" y="30"/>
                  </a:lnTo>
                  <a:lnTo>
                    <a:pt x="12" y="0"/>
                  </a:lnTo>
                  <a:lnTo>
                    <a:pt x="24" y="36"/>
                  </a:lnTo>
                  <a:lnTo>
                    <a:pt x="24" y="60"/>
                  </a:lnTo>
                  <a:lnTo>
                    <a:pt x="48" y="156"/>
                  </a:lnTo>
                  <a:lnTo>
                    <a:pt x="30" y="144"/>
                  </a:lnTo>
                  <a:lnTo>
                    <a:pt x="24" y="168"/>
                  </a:lnTo>
                  <a:lnTo>
                    <a:pt x="24" y="198"/>
                  </a:lnTo>
                  <a:lnTo>
                    <a:pt x="42" y="234"/>
                  </a:lnTo>
                  <a:lnTo>
                    <a:pt x="12" y="222"/>
                  </a:lnTo>
                  <a:close/>
                </a:path>
              </a:pathLst>
            </a:custGeom>
            <a:grpFill/>
            <a:ln w="9525">
              <a:solidFill>
                <a:schemeClr val="bg2">
                  <a:lumMod val="50000"/>
                </a:schemeClr>
              </a:solidFill>
              <a:round/>
              <a:headEnd/>
              <a:tailEnd/>
            </a:ln>
          </p:spPr>
          <p:txBody>
            <a:bodyPr/>
            <a:lstStyle/>
            <a:p>
              <a:endParaRPr lang="en-US" dirty="0"/>
            </a:p>
          </p:txBody>
        </p:sp>
        <p:sp>
          <p:nvSpPr>
            <p:cNvPr id="171" name="Freeform 272"/>
            <p:cNvSpPr>
              <a:spLocks/>
            </p:cNvSpPr>
            <p:nvPr/>
          </p:nvSpPr>
          <p:spPr bwMode="gray">
            <a:xfrm>
              <a:off x="7444107" y="3759326"/>
              <a:ext cx="119029" cy="157579"/>
            </a:xfrm>
            <a:custGeom>
              <a:avLst/>
              <a:gdLst>
                <a:gd name="T0" fmla="*/ 2147483647 w 108"/>
                <a:gd name="T1" fmla="*/ 2147483647 h 151"/>
                <a:gd name="T2" fmla="*/ 0 w 108"/>
                <a:gd name="T3" fmla="*/ 2147483647 h 151"/>
                <a:gd name="T4" fmla="*/ 2147483647 w 108"/>
                <a:gd name="T5" fmla="*/ 2147483647 h 151"/>
                <a:gd name="T6" fmla="*/ 2147483647 w 108"/>
                <a:gd name="T7" fmla="*/ 2147483647 h 151"/>
                <a:gd name="T8" fmla="*/ 2147483647 w 108"/>
                <a:gd name="T9" fmla="*/ 2147483647 h 151"/>
                <a:gd name="T10" fmla="*/ 2147483647 w 108"/>
                <a:gd name="T11" fmla="*/ 2147483647 h 151"/>
                <a:gd name="T12" fmla="*/ 2147483647 w 108"/>
                <a:gd name="T13" fmla="*/ 2147483647 h 151"/>
                <a:gd name="T14" fmla="*/ 2147483647 w 108"/>
                <a:gd name="T15" fmla="*/ 2147483647 h 151"/>
                <a:gd name="T16" fmla="*/ 2147483647 w 108"/>
                <a:gd name="T17" fmla="*/ 2147483647 h 151"/>
                <a:gd name="T18" fmla="*/ 2147483647 w 108"/>
                <a:gd name="T19" fmla="*/ 2147483647 h 151"/>
                <a:gd name="T20" fmla="*/ 2147483647 w 108"/>
                <a:gd name="T21" fmla="*/ 2147483647 h 151"/>
                <a:gd name="T22" fmla="*/ 2147483647 w 108"/>
                <a:gd name="T23" fmla="*/ 2147483647 h 151"/>
                <a:gd name="T24" fmla="*/ 2147483647 w 108"/>
                <a:gd name="T25" fmla="*/ 2147483647 h 151"/>
                <a:gd name="T26" fmla="*/ 2147483647 w 108"/>
                <a:gd name="T27" fmla="*/ 0 h 151"/>
                <a:gd name="T28" fmla="*/ 2147483647 w 108"/>
                <a:gd name="T29" fmla="*/ 2147483647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8" h="151">
                  <a:moveTo>
                    <a:pt x="12" y="18"/>
                  </a:moveTo>
                  <a:lnTo>
                    <a:pt x="0" y="42"/>
                  </a:lnTo>
                  <a:lnTo>
                    <a:pt x="6" y="72"/>
                  </a:lnTo>
                  <a:lnTo>
                    <a:pt x="18" y="85"/>
                  </a:lnTo>
                  <a:lnTo>
                    <a:pt x="36" y="91"/>
                  </a:lnTo>
                  <a:lnTo>
                    <a:pt x="72" y="109"/>
                  </a:lnTo>
                  <a:lnTo>
                    <a:pt x="78" y="139"/>
                  </a:lnTo>
                  <a:lnTo>
                    <a:pt x="108" y="151"/>
                  </a:lnTo>
                  <a:lnTo>
                    <a:pt x="102" y="127"/>
                  </a:lnTo>
                  <a:lnTo>
                    <a:pt x="78" y="91"/>
                  </a:lnTo>
                  <a:lnTo>
                    <a:pt x="42" y="66"/>
                  </a:lnTo>
                  <a:lnTo>
                    <a:pt x="48" y="48"/>
                  </a:lnTo>
                  <a:lnTo>
                    <a:pt x="54" y="12"/>
                  </a:lnTo>
                  <a:lnTo>
                    <a:pt x="30" y="0"/>
                  </a:lnTo>
                  <a:lnTo>
                    <a:pt x="12" y="18"/>
                  </a:lnTo>
                  <a:close/>
                </a:path>
              </a:pathLst>
            </a:custGeom>
            <a:grpFill/>
            <a:ln w="9525">
              <a:solidFill>
                <a:schemeClr val="bg2">
                  <a:lumMod val="50000"/>
                </a:schemeClr>
              </a:solidFill>
              <a:round/>
              <a:headEnd/>
              <a:tailEnd/>
            </a:ln>
          </p:spPr>
          <p:txBody>
            <a:bodyPr/>
            <a:lstStyle/>
            <a:p>
              <a:endParaRPr lang="en-US" dirty="0"/>
            </a:p>
          </p:txBody>
        </p:sp>
        <p:sp>
          <p:nvSpPr>
            <p:cNvPr id="172" name="Freeform 273"/>
            <p:cNvSpPr>
              <a:spLocks/>
            </p:cNvSpPr>
            <p:nvPr/>
          </p:nvSpPr>
          <p:spPr bwMode="gray">
            <a:xfrm>
              <a:off x="7492253" y="3942527"/>
              <a:ext cx="97631" cy="74305"/>
            </a:xfrm>
            <a:custGeom>
              <a:avLst/>
              <a:gdLst>
                <a:gd name="T0" fmla="*/ 0 w 90"/>
                <a:gd name="T1" fmla="*/ 2147483647 h 72"/>
                <a:gd name="T2" fmla="*/ 2147483647 w 90"/>
                <a:gd name="T3" fmla="*/ 2147483647 h 72"/>
                <a:gd name="T4" fmla="*/ 2147483647 w 90"/>
                <a:gd name="T5" fmla="*/ 2147483647 h 72"/>
                <a:gd name="T6" fmla="*/ 2147483647 w 90"/>
                <a:gd name="T7" fmla="*/ 0 h 72"/>
                <a:gd name="T8" fmla="*/ 2147483647 w 90"/>
                <a:gd name="T9" fmla="*/ 2147483647 h 72"/>
                <a:gd name="T10" fmla="*/ 2147483647 w 90"/>
                <a:gd name="T11" fmla="*/ 2147483647 h 72"/>
                <a:gd name="T12" fmla="*/ 2147483647 w 90"/>
                <a:gd name="T13" fmla="*/ 2147483647 h 72"/>
                <a:gd name="T14" fmla="*/ 2147483647 w 90"/>
                <a:gd name="T15" fmla="*/ 2147483647 h 72"/>
                <a:gd name="T16" fmla="*/ 2147483647 w 90"/>
                <a:gd name="T17" fmla="*/ 2147483647 h 72"/>
                <a:gd name="T18" fmla="*/ 0 w 90"/>
                <a:gd name="T19" fmla="*/ 2147483647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72">
                  <a:moveTo>
                    <a:pt x="0" y="54"/>
                  </a:moveTo>
                  <a:lnTo>
                    <a:pt x="18" y="24"/>
                  </a:lnTo>
                  <a:lnTo>
                    <a:pt x="42" y="24"/>
                  </a:lnTo>
                  <a:lnTo>
                    <a:pt x="60" y="0"/>
                  </a:lnTo>
                  <a:lnTo>
                    <a:pt x="90" y="24"/>
                  </a:lnTo>
                  <a:lnTo>
                    <a:pt x="90" y="72"/>
                  </a:lnTo>
                  <a:lnTo>
                    <a:pt x="60" y="60"/>
                  </a:lnTo>
                  <a:lnTo>
                    <a:pt x="42" y="60"/>
                  </a:lnTo>
                  <a:lnTo>
                    <a:pt x="24" y="48"/>
                  </a:lnTo>
                  <a:lnTo>
                    <a:pt x="0" y="54"/>
                  </a:lnTo>
                  <a:close/>
                </a:path>
              </a:pathLst>
            </a:custGeom>
            <a:grpFill/>
            <a:ln w="9525">
              <a:solidFill>
                <a:schemeClr val="bg2">
                  <a:lumMod val="50000"/>
                </a:schemeClr>
              </a:solidFill>
              <a:round/>
              <a:headEnd/>
              <a:tailEnd/>
            </a:ln>
          </p:spPr>
          <p:txBody>
            <a:bodyPr/>
            <a:lstStyle/>
            <a:p>
              <a:endParaRPr lang="en-US" dirty="0"/>
            </a:p>
          </p:txBody>
        </p:sp>
        <p:sp>
          <p:nvSpPr>
            <p:cNvPr id="173" name="Freeform 333"/>
            <p:cNvSpPr>
              <a:spLocks/>
            </p:cNvSpPr>
            <p:nvPr/>
          </p:nvSpPr>
          <p:spPr bwMode="gray">
            <a:xfrm>
              <a:off x="6782088" y="2915058"/>
              <a:ext cx="655331" cy="315158"/>
            </a:xfrm>
            <a:custGeom>
              <a:avLst/>
              <a:gdLst>
                <a:gd name="T0" fmla="*/ 2147483647 w 595"/>
                <a:gd name="T1" fmla="*/ 2147483647 h 301"/>
                <a:gd name="T2" fmla="*/ 2147483647 w 595"/>
                <a:gd name="T3" fmla="*/ 2147483647 h 301"/>
                <a:gd name="T4" fmla="*/ 2147483647 w 595"/>
                <a:gd name="T5" fmla="*/ 2147483647 h 301"/>
                <a:gd name="T6" fmla="*/ 2147483647 w 595"/>
                <a:gd name="T7" fmla="*/ 2147483647 h 301"/>
                <a:gd name="T8" fmla="*/ 2147483647 w 595"/>
                <a:gd name="T9" fmla="*/ 2147483647 h 301"/>
                <a:gd name="T10" fmla="*/ 2147483647 w 595"/>
                <a:gd name="T11" fmla="*/ 2147483647 h 301"/>
                <a:gd name="T12" fmla="*/ 2147483647 w 595"/>
                <a:gd name="T13" fmla="*/ 2147483647 h 301"/>
                <a:gd name="T14" fmla="*/ 2147483647 w 595"/>
                <a:gd name="T15" fmla="*/ 2147483647 h 301"/>
                <a:gd name="T16" fmla="*/ 2147483647 w 595"/>
                <a:gd name="T17" fmla="*/ 2147483647 h 301"/>
                <a:gd name="T18" fmla="*/ 2147483647 w 595"/>
                <a:gd name="T19" fmla="*/ 2147483647 h 301"/>
                <a:gd name="T20" fmla="*/ 2147483647 w 595"/>
                <a:gd name="T21" fmla="*/ 2147483647 h 301"/>
                <a:gd name="T22" fmla="*/ 2147483647 w 595"/>
                <a:gd name="T23" fmla="*/ 2147483647 h 301"/>
                <a:gd name="T24" fmla="*/ 2147483647 w 595"/>
                <a:gd name="T25" fmla="*/ 2147483647 h 301"/>
                <a:gd name="T26" fmla="*/ 2147483647 w 595"/>
                <a:gd name="T27" fmla="*/ 2147483647 h 301"/>
                <a:gd name="T28" fmla="*/ 2147483647 w 595"/>
                <a:gd name="T29" fmla="*/ 2147483647 h 301"/>
                <a:gd name="T30" fmla="*/ 2147483647 w 595"/>
                <a:gd name="T31" fmla="*/ 2147483647 h 301"/>
                <a:gd name="T32" fmla="*/ 2147483647 w 595"/>
                <a:gd name="T33" fmla="*/ 2147483647 h 301"/>
                <a:gd name="T34" fmla="*/ 2147483647 w 595"/>
                <a:gd name="T35" fmla="*/ 2147483647 h 301"/>
                <a:gd name="T36" fmla="*/ 2147483647 w 595"/>
                <a:gd name="T37" fmla="*/ 2147483647 h 301"/>
                <a:gd name="T38" fmla="*/ 2147483647 w 595"/>
                <a:gd name="T39" fmla="*/ 2147483647 h 301"/>
                <a:gd name="T40" fmla="*/ 2147483647 w 595"/>
                <a:gd name="T41" fmla="*/ 2147483647 h 301"/>
                <a:gd name="T42" fmla="*/ 2147483647 w 595"/>
                <a:gd name="T43" fmla="*/ 0 h 301"/>
                <a:gd name="T44" fmla="*/ 2147483647 w 595"/>
                <a:gd name="T45" fmla="*/ 2147483647 h 301"/>
                <a:gd name="T46" fmla="*/ 2147483647 w 595"/>
                <a:gd name="T47" fmla="*/ 2147483647 h 301"/>
                <a:gd name="T48" fmla="*/ 2147483647 w 595"/>
                <a:gd name="T49" fmla="*/ 2147483647 h 301"/>
                <a:gd name="T50" fmla="*/ 2147483647 w 595"/>
                <a:gd name="T51" fmla="*/ 2147483647 h 301"/>
                <a:gd name="T52" fmla="*/ 2147483647 w 595"/>
                <a:gd name="T53" fmla="*/ 2147483647 h 301"/>
                <a:gd name="T54" fmla="*/ 0 w 595"/>
                <a:gd name="T55" fmla="*/ 2147483647 h 301"/>
                <a:gd name="T56" fmla="*/ 2147483647 w 595"/>
                <a:gd name="T57" fmla="*/ 2147483647 h 301"/>
                <a:gd name="T58" fmla="*/ 2147483647 w 595"/>
                <a:gd name="T59" fmla="*/ 2147483647 h 30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95" h="301">
                  <a:moveTo>
                    <a:pt x="42" y="126"/>
                  </a:moveTo>
                  <a:lnTo>
                    <a:pt x="48" y="186"/>
                  </a:lnTo>
                  <a:lnTo>
                    <a:pt x="127" y="210"/>
                  </a:lnTo>
                  <a:lnTo>
                    <a:pt x="181" y="264"/>
                  </a:lnTo>
                  <a:lnTo>
                    <a:pt x="253" y="270"/>
                  </a:lnTo>
                  <a:lnTo>
                    <a:pt x="313" y="301"/>
                  </a:lnTo>
                  <a:lnTo>
                    <a:pt x="379" y="258"/>
                  </a:lnTo>
                  <a:lnTo>
                    <a:pt x="445" y="252"/>
                  </a:lnTo>
                  <a:lnTo>
                    <a:pt x="457" y="210"/>
                  </a:lnTo>
                  <a:lnTo>
                    <a:pt x="499" y="192"/>
                  </a:lnTo>
                  <a:lnTo>
                    <a:pt x="541" y="174"/>
                  </a:lnTo>
                  <a:lnTo>
                    <a:pt x="595" y="156"/>
                  </a:lnTo>
                  <a:lnTo>
                    <a:pt x="583" y="132"/>
                  </a:lnTo>
                  <a:lnTo>
                    <a:pt x="529" y="126"/>
                  </a:lnTo>
                  <a:lnTo>
                    <a:pt x="529" y="96"/>
                  </a:lnTo>
                  <a:lnTo>
                    <a:pt x="541" y="72"/>
                  </a:lnTo>
                  <a:lnTo>
                    <a:pt x="499" y="60"/>
                  </a:lnTo>
                  <a:lnTo>
                    <a:pt x="403" y="84"/>
                  </a:lnTo>
                  <a:lnTo>
                    <a:pt x="367" y="54"/>
                  </a:lnTo>
                  <a:lnTo>
                    <a:pt x="307" y="54"/>
                  </a:lnTo>
                  <a:lnTo>
                    <a:pt x="289" y="36"/>
                  </a:lnTo>
                  <a:lnTo>
                    <a:pt x="217" y="0"/>
                  </a:lnTo>
                  <a:lnTo>
                    <a:pt x="193" y="30"/>
                  </a:lnTo>
                  <a:lnTo>
                    <a:pt x="169" y="66"/>
                  </a:lnTo>
                  <a:lnTo>
                    <a:pt x="121" y="48"/>
                  </a:lnTo>
                  <a:lnTo>
                    <a:pt x="54" y="54"/>
                  </a:lnTo>
                  <a:lnTo>
                    <a:pt x="12" y="78"/>
                  </a:lnTo>
                  <a:lnTo>
                    <a:pt x="0" y="102"/>
                  </a:lnTo>
                  <a:lnTo>
                    <a:pt x="6" y="108"/>
                  </a:lnTo>
                  <a:lnTo>
                    <a:pt x="42" y="126"/>
                  </a:lnTo>
                  <a:close/>
                </a:path>
              </a:pathLst>
            </a:custGeom>
            <a:grpFill/>
            <a:ln w="9525">
              <a:solidFill>
                <a:schemeClr val="bg2">
                  <a:lumMod val="50000"/>
                </a:schemeClr>
              </a:solidFill>
              <a:round/>
              <a:headEnd/>
              <a:tailEnd/>
            </a:ln>
          </p:spPr>
          <p:txBody>
            <a:bodyPr/>
            <a:lstStyle/>
            <a:p>
              <a:endParaRPr lang="en-US" dirty="0"/>
            </a:p>
          </p:txBody>
        </p:sp>
        <p:sp>
          <p:nvSpPr>
            <p:cNvPr id="174" name="Line 449"/>
            <p:cNvSpPr>
              <a:spLocks noChangeShapeType="1"/>
            </p:cNvSpPr>
            <p:nvPr/>
          </p:nvSpPr>
          <p:spPr bwMode="gray">
            <a:xfrm>
              <a:off x="7412008" y="3773418"/>
              <a:ext cx="0" cy="0"/>
            </a:xfrm>
            <a:prstGeom prst="line">
              <a:avLst/>
            </a:prstGeom>
            <a:grpFill/>
            <a:ln w="0">
              <a:solidFill>
                <a:schemeClr val="bg2">
                  <a:lumMod val="50000"/>
                </a:schemeClr>
              </a:solidFill>
              <a:round/>
              <a:headEnd/>
              <a:tailEnd/>
            </a:ln>
          </p:spPr>
          <p:txBody>
            <a:bodyPr/>
            <a:lstStyle/>
            <a:p>
              <a:endParaRPr lang="en-US" dirty="0"/>
            </a:p>
          </p:txBody>
        </p:sp>
        <p:sp>
          <p:nvSpPr>
            <p:cNvPr id="175" name="Freeform 506"/>
            <p:cNvSpPr>
              <a:spLocks/>
            </p:cNvSpPr>
            <p:nvPr/>
          </p:nvSpPr>
          <p:spPr bwMode="gray">
            <a:xfrm>
              <a:off x="7537725" y="3196907"/>
              <a:ext cx="104319" cy="125551"/>
            </a:xfrm>
            <a:custGeom>
              <a:avLst/>
              <a:gdLst>
                <a:gd name="T0" fmla="*/ 2147483647 w 78"/>
                <a:gd name="T1" fmla="*/ 2147483647 h 98"/>
                <a:gd name="T2" fmla="*/ 2147483647 w 78"/>
                <a:gd name="T3" fmla="*/ 2147483647 h 98"/>
                <a:gd name="T4" fmla="*/ 2147483647 w 78"/>
                <a:gd name="T5" fmla="*/ 2147483647 h 98"/>
                <a:gd name="T6" fmla="*/ 2147483647 w 78"/>
                <a:gd name="T7" fmla="*/ 2147483647 h 98"/>
                <a:gd name="T8" fmla="*/ 0 w 78"/>
                <a:gd name="T9" fmla="*/ 2147483647 h 98"/>
                <a:gd name="T10" fmla="*/ 0 w 78"/>
                <a:gd name="T11" fmla="*/ 2147483647 h 98"/>
                <a:gd name="T12" fmla="*/ 2147483647 w 78"/>
                <a:gd name="T13" fmla="*/ 2147483647 h 98"/>
                <a:gd name="T14" fmla="*/ 2147483647 w 78"/>
                <a:gd name="T15" fmla="*/ 2147483647 h 98"/>
                <a:gd name="T16" fmla="*/ 2147483647 w 78"/>
                <a:gd name="T17" fmla="*/ 2147483647 h 98"/>
                <a:gd name="T18" fmla="*/ 2147483647 w 78"/>
                <a:gd name="T19" fmla="*/ 2147483647 h 98"/>
                <a:gd name="T20" fmla="*/ 2147483647 w 78"/>
                <a:gd name="T21" fmla="*/ 2147483647 h 98"/>
                <a:gd name="T22" fmla="*/ 2147483647 w 78"/>
                <a:gd name="T23" fmla="*/ 2147483647 h 98"/>
                <a:gd name="T24" fmla="*/ 2147483647 w 78"/>
                <a:gd name="T25" fmla="*/ 2147483647 h 98"/>
                <a:gd name="T26" fmla="*/ 2147483647 w 78"/>
                <a:gd name="T27" fmla="*/ 2147483647 h 98"/>
                <a:gd name="T28" fmla="*/ 2147483647 w 78"/>
                <a:gd name="T29" fmla="*/ 2147483647 h 98"/>
                <a:gd name="T30" fmla="*/ 2147483647 w 78"/>
                <a:gd name="T31" fmla="*/ 2147483647 h 98"/>
                <a:gd name="T32" fmla="*/ 2147483647 w 78"/>
                <a:gd name="T33" fmla="*/ 2147483647 h 98"/>
                <a:gd name="T34" fmla="*/ 2147483647 w 78"/>
                <a:gd name="T35" fmla="*/ 2147483647 h 98"/>
                <a:gd name="T36" fmla="*/ 2147483647 w 78"/>
                <a:gd name="T37" fmla="*/ 2147483647 h 98"/>
                <a:gd name="T38" fmla="*/ 2147483647 w 78"/>
                <a:gd name="T39" fmla="*/ 2147483647 h 98"/>
                <a:gd name="T40" fmla="*/ 2147483647 w 78"/>
                <a:gd name="T41" fmla="*/ 2147483647 h 98"/>
                <a:gd name="T42" fmla="*/ 2147483647 w 78"/>
                <a:gd name="T43" fmla="*/ 2147483647 h 98"/>
                <a:gd name="T44" fmla="*/ 2147483647 w 78"/>
                <a:gd name="T45" fmla="*/ 2147483647 h 98"/>
                <a:gd name="T46" fmla="*/ 2147483647 w 78"/>
                <a:gd name="T47" fmla="*/ 2147483647 h 98"/>
                <a:gd name="T48" fmla="*/ 2147483647 w 78"/>
                <a:gd name="T49" fmla="*/ 2147483647 h 98"/>
                <a:gd name="T50" fmla="*/ 2147483647 w 78"/>
                <a:gd name="T51" fmla="*/ 2147483647 h 98"/>
                <a:gd name="T52" fmla="*/ 2147483647 w 78"/>
                <a:gd name="T53" fmla="*/ 2147483647 h 98"/>
                <a:gd name="T54" fmla="*/ 2147483647 w 78"/>
                <a:gd name="T55" fmla="*/ 2147483647 h 98"/>
                <a:gd name="T56" fmla="*/ 2147483647 w 78"/>
                <a:gd name="T57" fmla="*/ 2147483647 h 98"/>
                <a:gd name="T58" fmla="*/ 2147483647 w 78"/>
                <a:gd name="T59" fmla="*/ 2147483647 h 98"/>
                <a:gd name="T60" fmla="*/ 2147483647 w 78"/>
                <a:gd name="T61" fmla="*/ 2147483647 h 98"/>
                <a:gd name="T62" fmla="*/ 2147483647 w 78"/>
                <a:gd name="T63" fmla="*/ 0 h 98"/>
                <a:gd name="T64" fmla="*/ 2147483647 w 78"/>
                <a:gd name="T65" fmla="*/ 2147483647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98">
                  <a:moveTo>
                    <a:pt x="32" y="12"/>
                  </a:moveTo>
                  <a:lnTo>
                    <a:pt x="34" y="32"/>
                  </a:lnTo>
                  <a:lnTo>
                    <a:pt x="20" y="22"/>
                  </a:lnTo>
                  <a:lnTo>
                    <a:pt x="6" y="34"/>
                  </a:lnTo>
                  <a:lnTo>
                    <a:pt x="0" y="56"/>
                  </a:lnTo>
                  <a:lnTo>
                    <a:pt x="6" y="56"/>
                  </a:lnTo>
                  <a:lnTo>
                    <a:pt x="10" y="56"/>
                  </a:lnTo>
                  <a:lnTo>
                    <a:pt x="30" y="70"/>
                  </a:lnTo>
                  <a:lnTo>
                    <a:pt x="34" y="84"/>
                  </a:lnTo>
                  <a:lnTo>
                    <a:pt x="36" y="92"/>
                  </a:lnTo>
                  <a:lnTo>
                    <a:pt x="40" y="98"/>
                  </a:lnTo>
                  <a:lnTo>
                    <a:pt x="70" y="88"/>
                  </a:lnTo>
                  <a:lnTo>
                    <a:pt x="70" y="84"/>
                  </a:lnTo>
                  <a:lnTo>
                    <a:pt x="68" y="82"/>
                  </a:lnTo>
                  <a:lnTo>
                    <a:pt x="66" y="78"/>
                  </a:lnTo>
                  <a:lnTo>
                    <a:pt x="64" y="76"/>
                  </a:lnTo>
                  <a:lnTo>
                    <a:pt x="64" y="60"/>
                  </a:lnTo>
                  <a:lnTo>
                    <a:pt x="64" y="46"/>
                  </a:lnTo>
                  <a:lnTo>
                    <a:pt x="54" y="26"/>
                  </a:lnTo>
                  <a:lnTo>
                    <a:pt x="64" y="16"/>
                  </a:lnTo>
                  <a:lnTo>
                    <a:pt x="78" y="4"/>
                  </a:lnTo>
                  <a:lnTo>
                    <a:pt x="52" y="0"/>
                  </a:lnTo>
                  <a:lnTo>
                    <a:pt x="32" y="12"/>
                  </a:lnTo>
                  <a:close/>
                </a:path>
              </a:pathLst>
            </a:custGeom>
            <a:grpFill/>
            <a:ln w="9525">
              <a:solidFill>
                <a:schemeClr val="bg2">
                  <a:lumMod val="50000"/>
                </a:schemeClr>
              </a:solidFill>
              <a:round/>
              <a:headEnd/>
              <a:tailEnd/>
            </a:ln>
          </p:spPr>
          <p:txBody>
            <a:bodyPr/>
            <a:lstStyle/>
            <a:p>
              <a:endParaRPr lang="en-US" dirty="0"/>
            </a:p>
          </p:txBody>
        </p:sp>
        <p:sp>
          <p:nvSpPr>
            <p:cNvPr id="176" name="Freeform 517"/>
            <p:cNvSpPr>
              <a:spLocks/>
            </p:cNvSpPr>
            <p:nvPr/>
          </p:nvSpPr>
          <p:spPr bwMode="gray">
            <a:xfrm>
              <a:off x="7577848" y="3309648"/>
              <a:ext cx="72220" cy="84555"/>
            </a:xfrm>
            <a:custGeom>
              <a:avLst/>
              <a:gdLst>
                <a:gd name="T0" fmla="*/ 2147483647 w 54"/>
                <a:gd name="T1" fmla="*/ 2147483647 h 66"/>
                <a:gd name="T2" fmla="*/ 2147483647 w 54"/>
                <a:gd name="T3" fmla="*/ 2147483647 h 66"/>
                <a:gd name="T4" fmla="*/ 2147483647 w 54"/>
                <a:gd name="T5" fmla="*/ 2147483647 h 66"/>
                <a:gd name="T6" fmla="*/ 2147483647 w 54"/>
                <a:gd name="T7" fmla="*/ 2147483647 h 66"/>
                <a:gd name="T8" fmla="*/ 0 w 54"/>
                <a:gd name="T9" fmla="*/ 2147483647 h 66"/>
                <a:gd name="T10" fmla="*/ 0 w 54"/>
                <a:gd name="T11" fmla="*/ 2147483647 h 66"/>
                <a:gd name="T12" fmla="*/ 2147483647 w 54"/>
                <a:gd name="T13" fmla="*/ 2147483647 h 66"/>
                <a:gd name="T14" fmla="*/ 2147483647 w 54"/>
                <a:gd name="T15" fmla="*/ 2147483647 h 66"/>
                <a:gd name="T16" fmla="*/ 2147483647 w 54"/>
                <a:gd name="T17" fmla="*/ 2147483647 h 66"/>
                <a:gd name="T18" fmla="*/ 2147483647 w 54"/>
                <a:gd name="T19" fmla="*/ 2147483647 h 66"/>
                <a:gd name="T20" fmla="*/ 2147483647 w 54"/>
                <a:gd name="T21" fmla="*/ 2147483647 h 66"/>
                <a:gd name="T22" fmla="*/ 2147483647 w 54"/>
                <a:gd name="T23" fmla="*/ 2147483647 h 66"/>
                <a:gd name="T24" fmla="*/ 2147483647 w 54"/>
                <a:gd name="T25" fmla="*/ 2147483647 h 66"/>
                <a:gd name="T26" fmla="*/ 2147483647 w 54"/>
                <a:gd name="T27" fmla="*/ 0 h 66"/>
                <a:gd name="T28" fmla="*/ 2147483647 w 54"/>
                <a:gd name="T29" fmla="*/ 2147483647 h 66"/>
                <a:gd name="T30" fmla="*/ 2147483647 w 54"/>
                <a:gd name="T31" fmla="*/ 2147483647 h 66"/>
                <a:gd name="T32" fmla="*/ 2147483647 w 54"/>
                <a:gd name="T33" fmla="*/ 2147483647 h 66"/>
                <a:gd name="T34" fmla="*/ 2147483647 w 54"/>
                <a:gd name="T35" fmla="*/ 2147483647 h 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4" h="66">
                  <a:moveTo>
                    <a:pt x="10" y="12"/>
                  </a:moveTo>
                  <a:lnTo>
                    <a:pt x="10" y="12"/>
                  </a:lnTo>
                  <a:lnTo>
                    <a:pt x="10" y="36"/>
                  </a:lnTo>
                  <a:lnTo>
                    <a:pt x="0" y="66"/>
                  </a:lnTo>
                  <a:lnTo>
                    <a:pt x="20" y="66"/>
                  </a:lnTo>
                  <a:lnTo>
                    <a:pt x="40" y="60"/>
                  </a:lnTo>
                  <a:lnTo>
                    <a:pt x="50" y="52"/>
                  </a:lnTo>
                  <a:lnTo>
                    <a:pt x="54" y="36"/>
                  </a:lnTo>
                  <a:lnTo>
                    <a:pt x="40" y="0"/>
                  </a:lnTo>
                  <a:lnTo>
                    <a:pt x="10" y="10"/>
                  </a:lnTo>
                  <a:lnTo>
                    <a:pt x="10" y="12"/>
                  </a:lnTo>
                  <a:close/>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sp>
          <p:nvSpPr>
            <p:cNvPr id="177" name="Freeform 411"/>
            <p:cNvSpPr>
              <a:spLocks/>
            </p:cNvSpPr>
            <p:nvPr/>
          </p:nvSpPr>
          <p:spPr bwMode="gray">
            <a:xfrm>
              <a:off x="3603062" y="4708646"/>
              <a:ext cx="106993" cy="134519"/>
            </a:xfrm>
            <a:custGeom>
              <a:avLst/>
              <a:gdLst>
                <a:gd name="T0" fmla="*/ 2147483647 w 102"/>
                <a:gd name="T1" fmla="*/ 2147483647 h 114"/>
                <a:gd name="T2" fmla="*/ 2147483647 w 102"/>
                <a:gd name="T3" fmla="*/ 2147483647 h 114"/>
                <a:gd name="T4" fmla="*/ 2147483647 w 102"/>
                <a:gd name="T5" fmla="*/ 0 h 114"/>
                <a:gd name="T6" fmla="*/ 2147483647 w 102"/>
                <a:gd name="T7" fmla="*/ 2147483647 h 114"/>
                <a:gd name="T8" fmla="*/ 0 w 102"/>
                <a:gd name="T9" fmla="*/ 2147483647 h 114"/>
                <a:gd name="T10" fmla="*/ 0 w 102"/>
                <a:gd name="T11" fmla="*/ 2147483647 h 114"/>
                <a:gd name="T12" fmla="*/ 2147483647 w 102"/>
                <a:gd name="T13" fmla="*/ 2147483647 h 114"/>
                <a:gd name="T14" fmla="*/ 2147483647 w 102"/>
                <a:gd name="T15" fmla="*/ 2147483647 h 114"/>
                <a:gd name="T16" fmla="*/ 2147483647 w 102"/>
                <a:gd name="T17" fmla="*/ 2147483647 h 114"/>
                <a:gd name="T18" fmla="*/ 2147483647 w 102"/>
                <a:gd name="T19" fmla="*/ 2147483647 h 114"/>
                <a:gd name="T20" fmla="*/ 2147483647 w 102"/>
                <a:gd name="T21" fmla="*/ 2147483647 h 114"/>
                <a:gd name="T22" fmla="*/ 2147483647 w 102"/>
                <a:gd name="T23" fmla="*/ 2147483647 h 114"/>
                <a:gd name="T24" fmla="*/ 2147483647 w 102"/>
                <a:gd name="T25" fmla="*/ 2147483647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14">
                  <a:moveTo>
                    <a:pt x="66" y="24"/>
                  </a:moveTo>
                  <a:lnTo>
                    <a:pt x="36" y="6"/>
                  </a:lnTo>
                  <a:lnTo>
                    <a:pt x="18" y="0"/>
                  </a:lnTo>
                  <a:lnTo>
                    <a:pt x="6" y="18"/>
                  </a:lnTo>
                  <a:lnTo>
                    <a:pt x="0" y="48"/>
                  </a:lnTo>
                  <a:lnTo>
                    <a:pt x="0" y="78"/>
                  </a:lnTo>
                  <a:lnTo>
                    <a:pt x="24" y="96"/>
                  </a:lnTo>
                  <a:lnTo>
                    <a:pt x="36" y="108"/>
                  </a:lnTo>
                  <a:lnTo>
                    <a:pt x="66" y="114"/>
                  </a:lnTo>
                  <a:lnTo>
                    <a:pt x="96" y="90"/>
                  </a:lnTo>
                  <a:lnTo>
                    <a:pt x="102" y="78"/>
                  </a:lnTo>
                  <a:lnTo>
                    <a:pt x="84" y="42"/>
                  </a:lnTo>
                  <a:lnTo>
                    <a:pt x="66" y="24"/>
                  </a:lnTo>
                  <a:close/>
                </a:path>
              </a:pathLst>
            </a:custGeom>
            <a:grpFill/>
            <a:ln w="9525">
              <a:solidFill>
                <a:schemeClr val="bg2">
                  <a:lumMod val="50000"/>
                </a:schemeClr>
              </a:solidFill>
              <a:round/>
              <a:headEnd/>
              <a:tailEnd/>
            </a:ln>
          </p:spPr>
          <p:txBody>
            <a:bodyPr/>
            <a:lstStyle/>
            <a:p>
              <a:endParaRPr lang="en-US" dirty="0"/>
            </a:p>
          </p:txBody>
        </p:sp>
        <p:sp>
          <p:nvSpPr>
            <p:cNvPr id="178" name="Freeform 420"/>
            <p:cNvSpPr>
              <a:spLocks/>
            </p:cNvSpPr>
            <p:nvPr/>
          </p:nvSpPr>
          <p:spPr bwMode="gray">
            <a:xfrm>
              <a:off x="3141655" y="4151353"/>
              <a:ext cx="270157" cy="316440"/>
            </a:xfrm>
            <a:custGeom>
              <a:avLst/>
              <a:gdLst>
                <a:gd name="T0" fmla="*/ 2147483647 w 240"/>
                <a:gd name="T1" fmla="*/ 2147483647 h 337"/>
                <a:gd name="T2" fmla="*/ 2147483647 w 240"/>
                <a:gd name="T3" fmla="*/ 2147483647 h 337"/>
                <a:gd name="T4" fmla="*/ 2147483647 w 240"/>
                <a:gd name="T5" fmla="*/ 2147483647 h 337"/>
                <a:gd name="T6" fmla="*/ 2147483647 w 240"/>
                <a:gd name="T7" fmla="*/ 2147483647 h 337"/>
                <a:gd name="T8" fmla="*/ 2147483647 w 240"/>
                <a:gd name="T9" fmla="*/ 2147483647 h 337"/>
                <a:gd name="T10" fmla="*/ 2147483647 w 240"/>
                <a:gd name="T11" fmla="*/ 2147483647 h 337"/>
                <a:gd name="T12" fmla="*/ 2147483647 w 240"/>
                <a:gd name="T13" fmla="*/ 2147483647 h 337"/>
                <a:gd name="T14" fmla="*/ 2147483647 w 240"/>
                <a:gd name="T15" fmla="*/ 2147483647 h 337"/>
                <a:gd name="T16" fmla="*/ 2147483647 w 240"/>
                <a:gd name="T17" fmla="*/ 2147483647 h 337"/>
                <a:gd name="T18" fmla="*/ 2147483647 w 240"/>
                <a:gd name="T19" fmla="*/ 2147483647 h 337"/>
                <a:gd name="T20" fmla="*/ 2147483647 w 240"/>
                <a:gd name="T21" fmla="*/ 2147483647 h 337"/>
                <a:gd name="T22" fmla="*/ 2147483647 w 240"/>
                <a:gd name="T23" fmla="*/ 2147483647 h 337"/>
                <a:gd name="T24" fmla="*/ 2147483647 w 240"/>
                <a:gd name="T25" fmla="*/ 2147483647 h 337"/>
                <a:gd name="T26" fmla="*/ 2147483647 w 240"/>
                <a:gd name="T27" fmla="*/ 0 h 337"/>
                <a:gd name="T28" fmla="*/ 2147483647 w 240"/>
                <a:gd name="T29" fmla="*/ 0 h 337"/>
                <a:gd name="T30" fmla="*/ 2147483647 w 240"/>
                <a:gd name="T31" fmla="*/ 2147483647 h 337"/>
                <a:gd name="T32" fmla="*/ 2147483647 w 240"/>
                <a:gd name="T33" fmla="*/ 2147483647 h 337"/>
                <a:gd name="T34" fmla="*/ 2147483647 w 240"/>
                <a:gd name="T35" fmla="*/ 2147483647 h 337"/>
                <a:gd name="T36" fmla="*/ 2147483647 w 240"/>
                <a:gd name="T37" fmla="*/ 2147483647 h 337"/>
                <a:gd name="T38" fmla="*/ 2147483647 w 240"/>
                <a:gd name="T39" fmla="*/ 2147483647 h 337"/>
                <a:gd name="T40" fmla="*/ 2147483647 w 240"/>
                <a:gd name="T41" fmla="*/ 2147483647 h 337"/>
                <a:gd name="T42" fmla="*/ 0 w 240"/>
                <a:gd name="T43" fmla="*/ 2147483647 h 337"/>
                <a:gd name="T44" fmla="*/ 2147483647 w 240"/>
                <a:gd name="T45" fmla="*/ 2147483647 h 337"/>
                <a:gd name="T46" fmla="*/ 2147483647 w 240"/>
                <a:gd name="T47" fmla="*/ 2147483647 h 337"/>
                <a:gd name="T48" fmla="*/ 2147483647 w 240"/>
                <a:gd name="T49" fmla="*/ 2147483647 h 337"/>
                <a:gd name="T50" fmla="*/ 2147483647 w 240"/>
                <a:gd name="T51" fmla="*/ 2147483647 h 337"/>
                <a:gd name="T52" fmla="*/ 2147483647 w 240"/>
                <a:gd name="T53" fmla="*/ 2147483647 h 337"/>
                <a:gd name="T54" fmla="*/ 2147483647 w 240"/>
                <a:gd name="T55" fmla="*/ 2147483647 h 337"/>
                <a:gd name="T56" fmla="*/ 2147483647 w 240"/>
                <a:gd name="T57" fmla="*/ 2147483647 h 337"/>
                <a:gd name="T58" fmla="*/ 2147483647 w 240"/>
                <a:gd name="T59" fmla="*/ 2147483647 h 337"/>
                <a:gd name="T60" fmla="*/ 2147483647 w 240"/>
                <a:gd name="T61" fmla="*/ 2147483647 h 337"/>
                <a:gd name="T62" fmla="*/ 2147483647 w 240"/>
                <a:gd name="T63" fmla="*/ 2147483647 h 3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0" h="337">
                  <a:moveTo>
                    <a:pt x="228" y="204"/>
                  </a:moveTo>
                  <a:lnTo>
                    <a:pt x="228" y="198"/>
                  </a:lnTo>
                  <a:lnTo>
                    <a:pt x="216" y="198"/>
                  </a:lnTo>
                  <a:lnTo>
                    <a:pt x="210" y="162"/>
                  </a:lnTo>
                  <a:lnTo>
                    <a:pt x="180" y="174"/>
                  </a:lnTo>
                  <a:lnTo>
                    <a:pt x="156" y="156"/>
                  </a:lnTo>
                  <a:lnTo>
                    <a:pt x="156" y="120"/>
                  </a:lnTo>
                  <a:lnTo>
                    <a:pt x="180" y="84"/>
                  </a:lnTo>
                  <a:lnTo>
                    <a:pt x="198" y="72"/>
                  </a:lnTo>
                  <a:lnTo>
                    <a:pt x="204" y="54"/>
                  </a:lnTo>
                  <a:lnTo>
                    <a:pt x="192" y="36"/>
                  </a:lnTo>
                  <a:lnTo>
                    <a:pt x="168" y="36"/>
                  </a:lnTo>
                  <a:lnTo>
                    <a:pt x="150" y="18"/>
                  </a:lnTo>
                  <a:lnTo>
                    <a:pt x="120" y="0"/>
                  </a:lnTo>
                  <a:lnTo>
                    <a:pt x="108" y="24"/>
                  </a:lnTo>
                  <a:lnTo>
                    <a:pt x="84" y="48"/>
                  </a:lnTo>
                  <a:lnTo>
                    <a:pt x="66" y="54"/>
                  </a:lnTo>
                  <a:lnTo>
                    <a:pt x="42" y="78"/>
                  </a:lnTo>
                  <a:lnTo>
                    <a:pt x="24" y="72"/>
                  </a:lnTo>
                  <a:lnTo>
                    <a:pt x="18" y="60"/>
                  </a:lnTo>
                  <a:lnTo>
                    <a:pt x="0" y="72"/>
                  </a:lnTo>
                  <a:lnTo>
                    <a:pt x="18" y="114"/>
                  </a:lnTo>
                  <a:lnTo>
                    <a:pt x="54" y="174"/>
                  </a:lnTo>
                  <a:lnTo>
                    <a:pt x="90" y="252"/>
                  </a:lnTo>
                  <a:lnTo>
                    <a:pt x="90" y="264"/>
                  </a:lnTo>
                  <a:lnTo>
                    <a:pt x="216" y="337"/>
                  </a:lnTo>
                  <a:lnTo>
                    <a:pt x="222" y="337"/>
                  </a:lnTo>
                  <a:lnTo>
                    <a:pt x="228" y="307"/>
                  </a:lnTo>
                  <a:lnTo>
                    <a:pt x="234" y="270"/>
                  </a:lnTo>
                  <a:lnTo>
                    <a:pt x="240" y="222"/>
                  </a:lnTo>
                  <a:lnTo>
                    <a:pt x="228" y="204"/>
                  </a:lnTo>
                </a:path>
              </a:pathLst>
            </a:custGeom>
            <a:grpFill/>
            <a:ln w="9525">
              <a:solidFill>
                <a:schemeClr val="bg2">
                  <a:lumMod val="50000"/>
                </a:schemeClr>
              </a:solidFill>
              <a:round/>
              <a:headEnd/>
              <a:tailEnd/>
            </a:ln>
          </p:spPr>
          <p:txBody>
            <a:bodyPr/>
            <a:lstStyle/>
            <a:p>
              <a:endParaRPr lang="en-US" dirty="0"/>
            </a:p>
          </p:txBody>
        </p:sp>
        <p:sp>
          <p:nvSpPr>
            <p:cNvPr id="179" name="Freeform 413"/>
            <p:cNvSpPr>
              <a:spLocks/>
            </p:cNvSpPr>
            <p:nvPr/>
          </p:nvSpPr>
          <p:spPr bwMode="gray">
            <a:xfrm>
              <a:off x="3314180" y="4051424"/>
              <a:ext cx="744938" cy="735370"/>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1978554233 h 10000"/>
                <a:gd name="T28" fmla="*/ 2147483647 w 10000"/>
                <a:gd name="T29" fmla="*/ 1571492712 h 10000"/>
                <a:gd name="T30" fmla="*/ 2147483647 w 10000"/>
                <a:gd name="T31" fmla="*/ 1454980750 h 10000"/>
                <a:gd name="T32" fmla="*/ 2147483647 w 10000"/>
                <a:gd name="T33" fmla="*/ 1106175301 h 10000"/>
                <a:gd name="T34" fmla="*/ 2147483647 w 10000"/>
                <a:gd name="T35" fmla="*/ 640102212 h 10000"/>
                <a:gd name="T36" fmla="*/ 2147483647 w 10000"/>
                <a:gd name="T37" fmla="*/ 174776418 h 10000"/>
                <a:gd name="T38" fmla="*/ 2147483647 w 10000"/>
                <a:gd name="T39" fmla="*/ 640102212 h 10000"/>
                <a:gd name="T40" fmla="*/ 2147483647 w 10000"/>
                <a:gd name="T41" fmla="*/ 581837847 h 10000"/>
                <a:gd name="T42" fmla="*/ 2147483647 w 10000"/>
                <a:gd name="T43" fmla="*/ 640102212 h 10000"/>
                <a:gd name="T44" fmla="*/ 2147483647 w 10000"/>
                <a:gd name="T45" fmla="*/ 756622557 h 10000"/>
                <a:gd name="T46" fmla="*/ 2147483647 w 10000"/>
                <a:gd name="T47" fmla="*/ 233040691 h 10000"/>
                <a:gd name="T48" fmla="*/ 2147483647 w 10000"/>
                <a:gd name="T49" fmla="*/ 0 h 10000"/>
                <a:gd name="T50" fmla="*/ 1983523268 w 10000"/>
                <a:gd name="T51" fmla="*/ 233040691 h 10000"/>
                <a:gd name="T52" fmla="*/ 1700062263 w 10000"/>
                <a:gd name="T53" fmla="*/ 523581775 h 10000"/>
                <a:gd name="T54" fmla="*/ 1246527822 w 10000"/>
                <a:gd name="T55" fmla="*/ 873134519 h 10000"/>
                <a:gd name="T56" fmla="*/ 623607879 w 10000"/>
                <a:gd name="T57" fmla="*/ 814878538 h 10000"/>
                <a:gd name="T58" fmla="*/ 566914139 w 10000"/>
                <a:gd name="T59" fmla="*/ 1746277422 h 10000"/>
                <a:gd name="T60" fmla="*/ 396840702 w 10000"/>
                <a:gd name="T61" fmla="*/ 1804533494 h 10000"/>
                <a:gd name="T62" fmla="*/ 0 w 10000"/>
                <a:gd name="T63" fmla="*/ 2147483647 h 10000"/>
                <a:gd name="T64" fmla="*/ 226767265 w 10000"/>
                <a:gd name="T65" fmla="*/ 2147483647 h 10000"/>
                <a:gd name="T66" fmla="*/ 566914139 w 10000"/>
                <a:gd name="T67" fmla="*/ 2147483647 h 10000"/>
                <a:gd name="T68" fmla="*/ 680301707 w 10000"/>
                <a:gd name="T69" fmla="*/ 2147483647 h 10000"/>
                <a:gd name="T70" fmla="*/ 975514221 w 10000"/>
                <a:gd name="T71" fmla="*/ 2147483647 h 10000"/>
                <a:gd name="T72" fmla="*/ 1292157988 w 10000"/>
                <a:gd name="T73" fmla="*/ 2147483647 h 10000"/>
                <a:gd name="T74" fmla="*/ 1529988738 w 10000"/>
                <a:gd name="T75" fmla="*/ 2147483647 h 10000"/>
                <a:gd name="T76" fmla="*/ 2147483647 w 10000"/>
                <a:gd name="T77" fmla="*/ 2147483647 h 10000"/>
                <a:gd name="T78" fmla="*/ 2147483647 w 10000"/>
                <a:gd name="T79" fmla="*/ 2147483647 h 10000"/>
                <a:gd name="T80" fmla="*/ 2147483647 w 10000"/>
                <a:gd name="T81" fmla="*/ 2147483647 h 100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000" h="10000">
                  <a:moveTo>
                    <a:pt x="5000" y="7769"/>
                  </a:moveTo>
                  <a:cubicBezTo>
                    <a:pt x="5027" y="7795"/>
                    <a:pt x="5055" y="7820"/>
                    <a:pt x="5082" y="7846"/>
                  </a:cubicBezTo>
                  <a:cubicBezTo>
                    <a:pt x="5027" y="8000"/>
                    <a:pt x="4973" y="8154"/>
                    <a:pt x="4918" y="8308"/>
                  </a:cubicBezTo>
                  <a:lnTo>
                    <a:pt x="4672" y="8462"/>
                  </a:lnTo>
                  <a:lnTo>
                    <a:pt x="4098" y="9000"/>
                  </a:lnTo>
                  <a:lnTo>
                    <a:pt x="4180" y="9000"/>
                  </a:lnTo>
                  <a:lnTo>
                    <a:pt x="4098" y="9000"/>
                  </a:lnTo>
                  <a:lnTo>
                    <a:pt x="4344" y="9077"/>
                  </a:lnTo>
                  <a:lnTo>
                    <a:pt x="4754" y="9308"/>
                  </a:lnTo>
                  <a:lnTo>
                    <a:pt x="5000" y="9538"/>
                  </a:lnTo>
                  <a:lnTo>
                    <a:pt x="5246" y="10000"/>
                  </a:lnTo>
                  <a:cubicBezTo>
                    <a:pt x="5273" y="9923"/>
                    <a:pt x="5301" y="9846"/>
                    <a:pt x="5328" y="9769"/>
                  </a:cubicBezTo>
                  <a:lnTo>
                    <a:pt x="5656" y="9462"/>
                  </a:lnTo>
                  <a:lnTo>
                    <a:pt x="6066" y="9077"/>
                  </a:lnTo>
                  <a:lnTo>
                    <a:pt x="6393" y="8077"/>
                  </a:lnTo>
                  <a:lnTo>
                    <a:pt x="6639" y="7615"/>
                  </a:lnTo>
                  <a:lnTo>
                    <a:pt x="7541" y="7077"/>
                  </a:lnTo>
                  <a:lnTo>
                    <a:pt x="8115" y="7000"/>
                  </a:lnTo>
                  <a:lnTo>
                    <a:pt x="8279" y="6923"/>
                  </a:lnTo>
                  <a:lnTo>
                    <a:pt x="8443" y="6615"/>
                  </a:lnTo>
                  <a:cubicBezTo>
                    <a:pt x="8470" y="6513"/>
                    <a:pt x="8498" y="6410"/>
                    <a:pt x="8525" y="6308"/>
                  </a:cubicBezTo>
                  <a:cubicBezTo>
                    <a:pt x="8607" y="6180"/>
                    <a:pt x="8688" y="6051"/>
                    <a:pt x="8770" y="5923"/>
                  </a:cubicBezTo>
                  <a:cubicBezTo>
                    <a:pt x="8797" y="5872"/>
                    <a:pt x="8825" y="5820"/>
                    <a:pt x="8852" y="5769"/>
                  </a:cubicBezTo>
                  <a:cubicBezTo>
                    <a:pt x="8879" y="5333"/>
                    <a:pt x="8907" y="4898"/>
                    <a:pt x="8934" y="4462"/>
                  </a:cubicBezTo>
                  <a:lnTo>
                    <a:pt x="9180" y="4385"/>
                  </a:lnTo>
                  <a:lnTo>
                    <a:pt x="10000" y="3385"/>
                  </a:lnTo>
                  <a:lnTo>
                    <a:pt x="10000" y="3154"/>
                  </a:lnTo>
                  <a:cubicBezTo>
                    <a:pt x="9945" y="2974"/>
                    <a:pt x="9891" y="2795"/>
                    <a:pt x="9836" y="2615"/>
                  </a:cubicBezTo>
                  <a:lnTo>
                    <a:pt x="9344" y="2462"/>
                  </a:lnTo>
                  <a:lnTo>
                    <a:pt x="8607" y="2077"/>
                  </a:lnTo>
                  <a:lnTo>
                    <a:pt x="7787" y="2000"/>
                  </a:lnTo>
                  <a:lnTo>
                    <a:pt x="7541" y="1923"/>
                  </a:lnTo>
                  <a:lnTo>
                    <a:pt x="7377" y="1692"/>
                  </a:lnTo>
                  <a:lnTo>
                    <a:pt x="6721" y="1462"/>
                  </a:lnTo>
                  <a:lnTo>
                    <a:pt x="6148" y="1154"/>
                  </a:lnTo>
                  <a:cubicBezTo>
                    <a:pt x="6121" y="1051"/>
                    <a:pt x="6093" y="949"/>
                    <a:pt x="6066" y="846"/>
                  </a:cubicBezTo>
                  <a:lnTo>
                    <a:pt x="5820" y="231"/>
                  </a:lnTo>
                  <a:lnTo>
                    <a:pt x="5738" y="231"/>
                  </a:lnTo>
                  <a:lnTo>
                    <a:pt x="5410" y="692"/>
                  </a:lnTo>
                  <a:lnTo>
                    <a:pt x="5082" y="846"/>
                  </a:lnTo>
                  <a:cubicBezTo>
                    <a:pt x="5055" y="820"/>
                    <a:pt x="5027" y="795"/>
                    <a:pt x="5000" y="769"/>
                  </a:cubicBezTo>
                  <a:lnTo>
                    <a:pt x="4590" y="769"/>
                  </a:lnTo>
                  <a:lnTo>
                    <a:pt x="4426" y="846"/>
                  </a:lnTo>
                  <a:lnTo>
                    <a:pt x="4344" y="846"/>
                  </a:lnTo>
                  <a:lnTo>
                    <a:pt x="3934" y="923"/>
                  </a:lnTo>
                  <a:lnTo>
                    <a:pt x="3689" y="1000"/>
                  </a:lnTo>
                  <a:lnTo>
                    <a:pt x="3443" y="769"/>
                  </a:lnTo>
                  <a:cubicBezTo>
                    <a:pt x="3470" y="615"/>
                    <a:pt x="3498" y="462"/>
                    <a:pt x="3525" y="308"/>
                  </a:cubicBezTo>
                  <a:lnTo>
                    <a:pt x="3361" y="77"/>
                  </a:lnTo>
                  <a:lnTo>
                    <a:pt x="3197" y="0"/>
                  </a:lnTo>
                  <a:cubicBezTo>
                    <a:pt x="3224" y="51"/>
                    <a:pt x="3252" y="103"/>
                    <a:pt x="3279" y="154"/>
                  </a:cubicBezTo>
                  <a:lnTo>
                    <a:pt x="2869" y="308"/>
                  </a:lnTo>
                  <a:lnTo>
                    <a:pt x="2213" y="308"/>
                  </a:lnTo>
                  <a:lnTo>
                    <a:pt x="2459" y="692"/>
                  </a:lnTo>
                  <a:cubicBezTo>
                    <a:pt x="2486" y="769"/>
                    <a:pt x="2514" y="846"/>
                    <a:pt x="2541" y="923"/>
                  </a:cubicBezTo>
                  <a:lnTo>
                    <a:pt x="1803" y="1154"/>
                  </a:lnTo>
                  <a:lnTo>
                    <a:pt x="1557" y="923"/>
                  </a:lnTo>
                  <a:lnTo>
                    <a:pt x="902" y="1077"/>
                  </a:lnTo>
                  <a:cubicBezTo>
                    <a:pt x="929" y="1205"/>
                    <a:pt x="957" y="1334"/>
                    <a:pt x="984" y="1462"/>
                  </a:cubicBezTo>
                  <a:cubicBezTo>
                    <a:pt x="929" y="1744"/>
                    <a:pt x="875" y="2026"/>
                    <a:pt x="820" y="2308"/>
                  </a:cubicBezTo>
                  <a:cubicBezTo>
                    <a:pt x="765" y="2257"/>
                    <a:pt x="711" y="2205"/>
                    <a:pt x="656" y="2154"/>
                  </a:cubicBezTo>
                  <a:cubicBezTo>
                    <a:pt x="629" y="2231"/>
                    <a:pt x="601" y="2308"/>
                    <a:pt x="574" y="2385"/>
                  </a:cubicBezTo>
                  <a:lnTo>
                    <a:pt x="328" y="2538"/>
                  </a:lnTo>
                  <a:lnTo>
                    <a:pt x="0" y="3000"/>
                  </a:lnTo>
                  <a:lnTo>
                    <a:pt x="0" y="3462"/>
                  </a:lnTo>
                  <a:lnTo>
                    <a:pt x="328" y="3692"/>
                  </a:lnTo>
                  <a:lnTo>
                    <a:pt x="738" y="3538"/>
                  </a:lnTo>
                  <a:cubicBezTo>
                    <a:pt x="765" y="3692"/>
                    <a:pt x="793" y="3846"/>
                    <a:pt x="820" y="4000"/>
                  </a:cubicBezTo>
                  <a:lnTo>
                    <a:pt x="984" y="4000"/>
                  </a:lnTo>
                  <a:lnTo>
                    <a:pt x="984" y="4077"/>
                  </a:lnTo>
                  <a:cubicBezTo>
                    <a:pt x="1311" y="4000"/>
                    <a:pt x="1240" y="3993"/>
                    <a:pt x="1311" y="4000"/>
                  </a:cubicBezTo>
                  <a:cubicBezTo>
                    <a:pt x="1382" y="4007"/>
                    <a:pt x="1378" y="4124"/>
                    <a:pt x="1411" y="4121"/>
                  </a:cubicBezTo>
                  <a:cubicBezTo>
                    <a:pt x="1487" y="4047"/>
                    <a:pt x="1644" y="3939"/>
                    <a:pt x="1720" y="3900"/>
                  </a:cubicBezTo>
                  <a:cubicBezTo>
                    <a:pt x="1796" y="3861"/>
                    <a:pt x="1787" y="3873"/>
                    <a:pt x="1869" y="3886"/>
                  </a:cubicBezTo>
                  <a:cubicBezTo>
                    <a:pt x="1951" y="3899"/>
                    <a:pt x="2074" y="3776"/>
                    <a:pt x="2131" y="3846"/>
                  </a:cubicBezTo>
                  <a:cubicBezTo>
                    <a:pt x="2188" y="3916"/>
                    <a:pt x="2186" y="4154"/>
                    <a:pt x="2213" y="4308"/>
                  </a:cubicBezTo>
                  <a:lnTo>
                    <a:pt x="2705" y="4538"/>
                  </a:lnTo>
                  <a:lnTo>
                    <a:pt x="3279" y="4769"/>
                  </a:lnTo>
                  <a:lnTo>
                    <a:pt x="3279" y="5077"/>
                  </a:lnTo>
                  <a:lnTo>
                    <a:pt x="3443" y="5308"/>
                  </a:lnTo>
                  <a:cubicBezTo>
                    <a:pt x="3525" y="5308"/>
                    <a:pt x="3934" y="5385"/>
                    <a:pt x="3934" y="5385"/>
                  </a:cubicBezTo>
                  <a:lnTo>
                    <a:pt x="3934" y="5692"/>
                  </a:lnTo>
                  <a:lnTo>
                    <a:pt x="3934" y="6231"/>
                  </a:lnTo>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sp>
          <p:nvSpPr>
            <p:cNvPr id="180" name="Freeform 409"/>
            <p:cNvSpPr>
              <a:spLocks/>
            </p:cNvSpPr>
            <p:nvPr/>
          </p:nvSpPr>
          <p:spPr bwMode="gray">
            <a:xfrm>
              <a:off x="3303481" y="4536973"/>
              <a:ext cx="398548" cy="764837"/>
            </a:xfrm>
            <a:custGeom>
              <a:avLst/>
              <a:gdLst>
                <a:gd name="T0" fmla="*/ 2147483647 w 10000"/>
                <a:gd name="T1" fmla="*/ 2147483647 h 10001"/>
                <a:gd name="T2" fmla="*/ 2147483647 w 10000"/>
                <a:gd name="T3" fmla="*/ 2147483647 h 10001"/>
                <a:gd name="T4" fmla="*/ 2147483647 w 10000"/>
                <a:gd name="T5" fmla="*/ 2147483647 h 10001"/>
                <a:gd name="T6" fmla="*/ 2147483647 w 10000"/>
                <a:gd name="T7" fmla="*/ 2147483647 h 10001"/>
                <a:gd name="T8" fmla="*/ 2147483647 w 10000"/>
                <a:gd name="T9" fmla="*/ 2147483647 h 10001"/>
                <a:gd name="T10" fmla="*/ 2147483647 w 10000"/>
                <a:gd name="T11" fmla="*/ 2147483647 h 10001"/>
                <a:gd name="T12" fmla="*/ 2147483647 w 10000"/>
                <a:gd name="T13" fmla="*/ 2147483647 h 10001"/>
                <a:gd name="T14" fmla="*/ 2147483647 w 10000"/>
                <a:gd name="T15" fmla="*/ 2147483647 h 10001"/>
                <a:gd name="T16" fmla="*/ 2147483647 w 10000"/>
                <a:gd name="T17" fmla="*/ 2147483647 h 10001"/>
                <a:gd name="T18" fmla="*/ 2147483647 w 10000"/>
                <a:gd name="T19" fmla="*/ 2147483647 h 10001"/>
                <a:gd name="T20" fmla="*/ 2147483647 w 10000"/>
                <a:gd name="T21" fmla="*/ 2147483647 h 10001"/>
                <a:gd name="T22" fmla="*/ 2147483647 w 10000"/>
                <a:gd name="T23" fmla="*/ 2147483647 h 10001"/>
                <a:gd name="T24" fmla="*/ 2147483647 w 10000"/>
                <a:gd name="T25" fmla="*/ 2147483647 h 10001"/>
                <a:gd name="T26" fmla="*/ 2147483647 w 10000"/>
                <a:gd name="T27" fmla="*/ 2147483647 h 10001"/>
                <a:gd name="T28" fmla="*/ 2147483647 w 10000"/>
                <a:gd name="T29" fmla="*/ 0 h 10001"/>
                <a:gd name="T30" fmla="*/ 2147483647 w 10000"/>
                <a:gd name="T31" fmla="*/ 2147483647 h 10001"/>
                <a:gd name="T32" fmla="*/ 2147483647 w 10000"/>
                <a:gd name="T33" fmla="*/ 2147483647 h 10001"/>
                <a:gd name="T34" fmla="*/ 2147483647 w 10000"/>
                <a:gd name="T35" fmla="*/ 2147483647 h 10001"/>
                <a:gd name="T36" fmla="*/ 2147483647 w 10000"/>
                <a:gd name="T37" fmla="*/ 2147483647 h 10001"/>
                <a:gd name="T38" fmla="*/ 2147483647 w 10000"/>
                <a:gd name="T39" fmla="*/ 2147483647 h 10001"/>
                <a:gd name="T40" fmla="*/ 2147483647 w 10000"/>
                <a:gd name="T41" fmla="*/ 2147483647 h 10001"/>
                <a:gd name="T42" fmla="*/ 2147483647 w 10000"/>
                <a:gd name="T43" fmla="*/ 2147483647 h 10001"/>
                <a:gd name="T44" fmla="*/ 2147483647 w 10000"/>
                <a:gd name="T45" fmla="*/ 2147483647 h 10001"/>
                <a:gd name="T46" fmla="*/ 2147483647 w 10000"/>
                <a:gd name="T47" fmla="*/ 2147483647 h 10001"/>
                <a:gd name="T48" fmla="*/ 2147483647 w 10000"/>
                <a:gd name="T49" fmla="*/ 2147483647 h 10001"/>
                <a:gd name="T50" fmla="*/ 2147483647 w 10000"/>
                <a:gd name="T51" fmla="*/ 2147483647 h 10001"/>
                <a:gd name="T52" fmla="*/ 2147483647 w 10000"/>
                <a:gd name="T53" fmla="*/ 2147483647 h 10001"/>
                <a:gd name="T54" fmla="*/ 2147483647 w 10000"/>
                <a:gd name="T55" fmla="*/ 2147483647 h 10001"/>
                <a:gd name="T56" fmla="*/ 2147483647 w 10000"/>
                <a:gd name="T57" fmla="*/ 2147483647 h 10001"/>
                <a:gd name="T58" fmla="*/ 2147483647 w 10000"/>
                <a:gd name="T59" fmla="*/ 2147483647 h 10001"/>
                <a:gd name="T60" fmla="*/ 2147483647 w 10000"/>
                <a:gd name="T61" fmla="*/ 2147483647 h 10001"/>
                <a:gd name="T62" fmla="*/ 2147483647 w 10000"/>
                <a:gd name="T63" fmla="*/ 2147483647 h 10001"/>
                <a:gd name="T64" fmla="*/ 2147483647 w 10000"/>
                <a:gd name="T65" fmla="*/ 2147483647 h 10001"/>
                <a:gd name="T66" fmla="*/ 0 w 10000"/>
                <a:gd name="T67" fmla="*/ 2147483647 h 10001"/>
                <a:gd name="T68" fmla="*/ 806443005 w 10000"/>
                <a:gd name="T69" fmla="*/ 2147483647 h 10001"/>
                <a:gd name="T70" fmla="*/ 2147483647 w 10000"/>
                <a:gd name="T71" fmla="*/ 2147483647 h 10001"/>
                <a:gd name="T72" fmla="*/ 2147483647 w 10000"/>
                <a:gd name="T73" fmla="*/ 2147483647 h 10001"/>
                <a:gd name="T74" fmla="*/ 2147483647 w 10000"/>
                <a:gd name="T75" fmla="*/ 2147483647 h 10001"/>
                <a:gd name="T76" fmla="*/ 2147483647 w 10000"/>
                <a:gd name="T77" fmla="*/ 2147483647 h 10001"/>
                <a:gd name="T78" fmla="*/ 2147483647 w 10000"/>
                <a:gd name="T79" fmla="*/ 2147483647 h 10001"/>
                <a:gd name="T80" fmla="*/ 2147483647 w 10000"/>
                <a:gd name="T81" fmla="*/ 2147483647 h 10001"/>
                <a:gd name="T82" fmla="*/ 2147483647 w 10000"/>
                <a:gd name="T83" fmla="*/ 2147483647 h 10001"/>
                <a:gd name="T84" fmla="*/ 2147483647 w 10000"/>
                <a:gd name="T85" fmla="*/ 2147483647 h 10001"/>
                <a:gd name="T86" fmla="*/ 2147483647 w 10000"/>
                <a:gd name="T87" fmla="*/ 2147483647 h 10001"/>
                <a:gd name="T88" fmla="*/ 2147483647 w 10000"/>
                <a:gd name="T89" fmla="*/ 2147483647 h 10001"/>
                <a:gd name="T90" fmla="*/ 2147483647 w 10000"/>
                <a:gd name="T91" fmla="*/ 2147483647 h 10001"/>
                <a:gd name="T92" fmla="*/ 2147483647 w 10000"/>
                <a:gd name="T93" fmla="*/ 2147483647 h 10001"/>
                <a:gd name="T94" fmla="*/ 2147483647 w 10000"/>
                <a:gd name="T95" fmla="*/ 2147483647 h 10001"/>
                <a:gd name="T96" fmla="*/ 2147483647 w 10000"/>
                <a:gd name="T97" fmla="*/ 2147483647 h 10001"/>
                <a:gd name="T98" fmla="*/ 2147483647 w 10000"/>
                <a:gd name="T99" fmla="*/ 2147483647 h 10001"/>
                <a:gd name="T100" fmla="*/ 2147483647 w 10000"/>
                <a:gd name="T101" fmla="*/ 2147483647 h 10001"/>
                <a:gd name="T102" fmla="*/ 2147483647 w 10000"/>
                <a:gd name="T103" fmla="*/ 2147483647 h 10001"/>
                <a:gd name="T104" fmla="*/ 2147483647 w 10000"/>
                <a:gd name="T105" fmla="*/ 2147483647 h 10001"/>
                <a:gd name="T106" fmla="*/ 2147483647 w 10000"/>
                <a:gd name="T107" fmla="*/ 2147483647 h 10001"/>
                <a:gd name="T108" fmla="*/ 2147483647 w 10000"/>
                <a:gd name="T109" fmla="*/ 2147483647 h 10001"/>
                <a:gd name="T110" fmla="*/ 2147483647 w 10000"/>
                <a:gd name="T111" fmla="*/ 2147483647 h 10001"/>
                <a:gd name="T112" fmla="*/ 2147483647 w 10000"/>
                <a:gd name="T113" fmla="*/ 2147483647 h 10001"/>
                <a:gd name="T114" fmla="*/ 2147483647 w 10000"/>
                <a:gd name="T115" fmla="*/ 2147483647 h 10001"/>
                <a:gd name="T116" fmla="*/ 2147483647 w 10000"/>
                <a:gd name="T117" fmla="*/ 2147483647 h 10001"/>
                <a:gd name="T118" fmla="*/ 2147483647 w 10000"/>
                <a:gd name="T119" fmla="*/ 2147483647 h 10001"/>
                <a:gd name="T120" fmla="*/ 2147483647 w 10000"/>
                <a:gd name="T121" fmla="*/ 2147483647 h 10001"/>
                <a:gd name="T122" fmla="*/ 2147483647 w 10000"/>
                <a:gd name="T123" fmla="*/ 2147483647 h 10001"/>
                <a:gd name="T124" fmla="*/ 2147483647 w 10000"/>
                <a:gd name="T125" fmla="*/ 2147483647 h 1000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000" h="10001">
                  <a:moveTo>
                    <a:pt x="7581" y="2950"/>
                  </a:moveTo>
                  <a:cubicBezTo>
                    <a:pt x="7635" y="2818"/>
                    <a:pt x="7688" y="2685"/>
                    <a:pt x="7742" y="2552"/>
                  </a:cubicBezTo>
                  <a:lnTo>
                    <a:pt x="8065" y="2312"/>
                  </a:lnTo>
                  <a:lnTo>
                    <a:pt x="9194" y="1754"/>
                  </a:lnTo>
                  <a:lnTo>
                    <a:pt x="9677" y="1595"/>
                  </a:lnTo>
                  <a:lnTo>
                    <a:pt x="10000" y="1116"/>
                  </a:lnTo>
                  <a:lnTo>
                    <a:pt x="9839" y="1037"/>
                  </a:lnTo>
                  <a:lnTo>
                    <a:pt x="9355" y="1197"/>
                  </a:lnTo>
                  <a:lnTo>
                    <a:pt x="8387" y="1435"/>
                  </a:lnTo>
                  <a:lnTo>
                    <a:pt x="7581" y="1356"/>
                  </a:lnTo>
                  <a:cubicBezTo>
                    <a:pt x="7635" y="1170"/>
                    <a:pt x="7688" y="983"/>
                    <a:pt x="7742" y="797"/>
                  </a:cubicBezTo>
                  <a:lnTo>
                    <a:pt x="7258" y="638"/>
                  </a:lnTo>
                  <a:lnTo>
                    <a:pt x="6290" y="479"/>
                  </a:lnTo>
                  <a:lnTo>
                    <a:pt x="5806" y="319"/>
                  </a:lnTo>
                  <a:lnTo>
                    <a:pt x="5323" y="0"/>
                  </a:lnTo>
                  <a:lnTo>
                    <a:pt x="4677" y="81"/>
                  </a:lnTo>
                  <a:lnTo>
                    <a:pt x="4516" y="159"/>
                  </a:lnTo>
                  <a:lnTo>
                    <a:pt x="3710" y="81"/>
                  </a:lnTo>
                  <a:cubicBezTo>
                    <a:pt x="3387" y="81"/>
                    <a:pt x="3476" y="72"/>
                    <a:pt x="3387" y="81"/>
                  </a:cubicBezTo>
                  <a:cubicBezTo>
                    <a:pt x="3298" y="89"/>
                    <a:pt x="3178" y="131"/>
                    <a:pt x="3178" y="131"/>
                  </a:cubicBezTo>
                  <a:cubicBezTo>
                    <a:pt x="3339" y="211"/>
                    <a:pt x="3245" y="168"/>
                    <a:pt x="3226" y="240"/>
                  </a:cubicBezTo>
                  <a:cubicBezTo>
                    <a:pt x="3207" y="310"/>
                    <a:pt x="3065" y="558"/>
                    <a:pt x="3065" y="558"/>
                  </a:cubicBezTo>
                  <a:lnTo>
                    <a:pt x="2581" y="797"/>
                  </a:lnTo>
                  <a:lnTo>
                    <a:pt x="2581" y="1275"/>
                  </a:lnTo>
                  <a:lnTo>
                    <a:pt x="2258" y="1595"/>
                  </a:lnTo>
                  <a:lnTo>
                    <a:pt x="1774" y="2631"/>
                  </a:lnTo>
                  <a:cubicBezTo>
                    <a:pt x="1828" y="2896"/>
                    <a:pt x="1881" y="3163"/>
                    <a:pt x="1935" y="3428"/>
                  </a:cubicBezTo>
                  <a:lnTo>
                    <a:pt x="968" y="4466"/>
                  </a:lnTo>
                  <a:lnTo>
                    <a:pt x="806" y="5582"/>
                  </a:lnTo>
                  <a:lnTo>
                    <a:pt x="806" y="6141"/>
                  </a:lnTo>
                  <a:cubicBezTo>
                    <a:pt x="752" y="6327"/>
                    <a:pt x="699" y="6514"/>
                    <a:pt x="645" y="6699"/>
                  </a:cubicBezTo>
                  <a:lnTo>
                    <a:pt x="968" y="7019"/>
                  </a:lnTo>
                  <a:lnTo>
                    <a:pt x="484" y="8294"/>
                  </a:lnTo>
                  <a:lnTo>
                    <a:pt x="0" y="8852"/>
                  </a:lnTo>
                  <a:cubicBezTo>
                    <a:pt x="54" y="8985"/>
                    <a:pt x="47" y="9085"/>
                    <a:pt x="161" y="9251"/>
                  </a:cubicBezTo>
                  <a:cubicBezTo>
                    <a:pt x="275" y="9417"/>
                    <a:pt x="316" y="9724"/>
                    <a:pt x="685" y="9848"/>
                  </a:cubicBezTo>
                  <a:cubicBezTo>
                    <a:pt x="1054" y="9973"/>
                    <a:pt x="2126" y="10011"/>
                    <a:pt x="2375" y="10000"/>
                  </a:cubicBezTo>
                  <a:cubicBezTo>
                    <a:pt x="2624" y="9989"/>
                    <a:pt x="2202" y="9881"/>
                    <a:pt x="2182" y="9783"/>
                  </a:cubicBezTo>
                  <a:cubicBezTo>
                    <a:pt x="2163" y="9685"/>
                    <a:pt x="2172" y="9527"/>
                    <a:pt x="2258" y="9410"/>
                  </a:cubicBezTo>
                  <a:cubicBezTo>
                    <a:pt x="2345" y="9293"/>
                    <a:pt x="2550" y="9220"/>
                    <a:pt x="2701" y="9082"/>
                  </a:cubicBezTo>
                  <a:cubicBezTo>
                    <a:pt x="2852" y="8944"/>
                    <a:pt x="3004" y="8707"/>
                    <a:pt x="3165" y="8584"/>
                  </a:cubicBezTo>
                  <a:cubicBezTo>
                    <a:pt x="3326" y="8461"/>
                    <a:pt x="3550" y="8459"/>
                    <a:pt x="3668" y="8344"/>
                  </a:cubicBezTo>
                  <a:cubicBezTo>
                    <a:pt x="3786" y="8229"/>
                    <a:pt x="3918" y="7996"/>
                    <a:pt x="3871" y="7895"/>
                  </a:cubicBezTo>
                  <a:cubicBezTo>
                    <a:pt x="3824" y="7794"/>
                    <a:pt x="3548" y="7789"/>
                    <a:pt x="3387" y="7736"/>
                  </a:cubicBezTo>
                  <a:cubicBezTo>
                    <a:pt x="3280" y="7629"/>
                    <a:pt x="3000" y="7495"/>
                    <a:pt x="3065" y="7416"/>
                  </a:cubicBezTo>
                  <a:cubicBezTo>
                    <a:pt x="3130" y="7337"/>
                    <a:pt x="3541" y="7312"/>
                    <a:pt x="3779" y="7260"/>
                  </a:cubicBezTo>
                  <a:cubicBezTo>
                    <a:pt x="3810" y="7153"/>
                    <a:pt x="3875" y="7075"/>
                    <a:pt x="3971" y="6968"/>
                  </a:cubicBezTo>
                  <a:cubicBezTo>
                    <a:pt x="4067" y="6861"/>
                    <a:pt x="4220" y="6700"/>
                    <a:pt x="4355" y="6620"/>
                  </a:cubicBezTo>
                  <a:cubicBezTo>
                    <a:pt x="4490" y="6540"/>
                    <a:pt x="4699" y="6570"/>
                    <a:pt x="4780" y="6490"/>
                  </a:cubicBezTo>
                  <a:cubicBezTo>
                    <a:pt x="4861" y="6410"/>
                    <a:pt x="4853" y="6226"/>
                    <a:pt x="4839" y="6141"/>
                  </a:cubicBezTo>
                  <a:cubicBezTo>
                    <a:pt x="5323" y="5822"/>
                    <a:pt x="5348" y="5984"/>
                    <a:pt x="5437" y="5921"/>
                  </a:cubicBezTo>
                  <a:cubicBezTo>
                    <a:pt x="5526" y="5858"/>
                    <a:pt x="5368" y="5818"/>
                    <a:pt x="5376" y="5762"/>
                  </a:cubicBezTo>
                  <a:cubicBezTo>
                    <a:pt x="5384" y="5706"/>
                    <a:pt x="5412" y="5665"/>
                    <a:pt x="5484" y="5582"/>
                  </a:cubicBezTo>
                  <a:cubicBezTo>
                    <a:pt x="5556" y="5499"/>
                    <a:pt x="5622" y="5319"/>
                    <a:pt x="5806" y="5264"/>
                  </a:cubicBezTo>
                  <a:cubicBezTo>
                    <a:pt x="5990" y="5209"/>
                    <a:pt x="6266" y="5289"/>
                    <a:pt x="6588" y="5253"/>
                  </a:cubicBezTo>
                  <a:cubicBezTo>
                    <a:pt x="6910" y="5217"/>
                    <a:pt x="7468" y="5176"/>
                    <a:pt x="7741" y="5045"/>
                  </a:cubicBezTo>
                  <a:cubicBezTo>
                    <a:pt x="8014" y="4914"/>
                    <a:pt x="8092" y="4629"/>
                    <a:pt x="8226" y="4466"/>
                  </a:cubicBezTo>
                  <a:cubicBezTo>
                    <a:pt x="8361" y="4303"/>
                    <a:pt x="8441" y="4199"/>
                    <a:pt x="8548" y="4066"/>
                  </a:cubicBezTo>
                  <a:lnTo>
                    <a:pt x="8226" y="3748"/>
                  </a:lnTo>
                  <a:cubicBezTo>
                    <a:pt x="8065" y="3668"/>
                    <a:pt x="7825" y="3557"/>
                    <a:pt x="7742" y="3509"/>
                  </a:cubicBezTo>
                  <a:cubicBezTo>
                    <a:pt x="7659" y="3461"/>
                    <a:pt x="7731" y="3475"/>
                    <a:pt x="7726" y="3458"/>
                  </a:cubicBezTo>
                  <a:lnTo>
                    <a:pt x="7581" y="3350"/>
                  </a:lnTo>
                  <a:lnTo>
                    <a:pt x="7581" y="2950"/>
                  </a:lnTo>
                  <a:close/>
                </a:path>
              </a:pathLst>
            </a:custGeom>
            <a:grpFill/>
            <a:ln w="9525">
              <a:solidFill>
                <a:schemeClr val="bg2">
                  <a:lumMod val="50000"/>
                </a:schemeClr>
              </a:solidFill>
              <a:round/>
              <a:headEnd/>
              <a:tailEnd/>
            </a:ln>
          </p:spPr>
          <p:txBody>
            <a:bodyPr/>
            <a:lstStyle/>
            <a:p>
              <a:endParaRPr lang="en-US" dirty="0"/>
            </a:p>
          </p:txBody>
        </p:sp>
        <p:sp>
          <p:nvSpPr>
            <p:cNvPr id="181" name="Freeform 444"/>
            <p:cNvSpPr>
              <a:spLocks/>
            </p:cNvSpPr>
            <p:nvPr/>
          </p:nvSpPr>
          <p:spPr bwMode="gray">
            <a:xfrm>
              <a:off x="3249985" y="4456263"/>
              <a:ext cx="204623" cy="951881"/>
            </a:xfrm>
            <a:custGeom>
              <a:avLst/>
              <a:gdLst>
                <a:gd name="T0" fmla="*/ 2147483647 w 14463"/>
                <a:gd name="T1" fmla="*/ 2147483647 h 11339"/>
                <a:gd name="T2" fmla="*/ 2147483647 w 14463"/>
                <a:gd name="T3" fmla="*/ 0 h 11339"/>
                <a:gd name="T4" fmla="*/ 2147483647 w 14463"/>
                <a:gd name="T5" fmla="*/ 2147483647 h 11339"/>
                <a:gd name="T6" fmla="*/ 2147483647 w 14463"/>
                <a:gd name="T7" fmla="*/ 2147483647 h 11339"/>
                <a:gd name="T8" fmla="*/ 2147483647 w 14463"/>
                <a:gd name="T9" fmla="*/ 2147483647 h 11339"/>
                <a:gd name="T10" fmla="*/ 2147483647 w 14463"/>
                <a:gd name="T11" fmla="*/ 2147483647 h 11339"/>
                <a:gd name="T12" fmla="*/ 2147483647 w 14463"/>
                <a:gd name="T13" fmla="*/ 2147483647 h 11339"/>
                <a:gd name="T14" fmla="*/ 2147483647 w 14463"/>
                <a:gd name="T15" fmla="*/ 2147483647 h 11339"/>
                <a:gd name="T16" fmla="*/ 2147483647 w 14463"/>
                <a:gd name="T17" fmla="*/ 2147483647 h 11339"/>
                <a:gd name="T18" fmla="*/ 2147483647 w 14463"/>
                <a:gd name="T19" fmla="*/ 2147483647 h 11339"/>
                <a:gd name="T20" fmla="*/ 2147483647 w 14463"/>
                <a:gd name="T21" fmla="*/ 2147483647 h 11339"/>
                <a:gd name="T22" fmla="*/ 2147483647 w 14463"/>
                <a:gd name="T23" fmla="*/ 2147483647 h 11339"/>
                <a:gd name="T24" fmla="*/ 2147483647 w 14463"/>
                <a:gd name="T25" fmla="*/ 2147483647 h 11339"/>
                <a:gd name="T26" fmla="*/ 2147483647 w 14463"/>
                <a:gd name="T27" fmla="*/ 2147483647 h 11339"/>
                <a:gd name="T28" fmla="*/ 2147483647 w 14463"/>
                <a:gd name="T29" fmla="*/ 2147483647 h 11339"/>
                <a:gd name="T30" fmla="*/ 2147483647 w 14463"/>
                <a:gd name="T31" fmla="*/ 2147483647 h 11339"/>
                <a:gd name="T32" fmla="*/ 2147483647 w 14463"/>
                <a:gd name="T33" fmla="*/ 2147483647 h 11339"/>
                <a:gd name="T34" fmla="*/ 2147483647 w 14463"/>
                <a:gd name="T35" fmla="*/ 2147483647 h 11339"/>
                <a:gd name="T36" fmla="*/ 2147483647 w 14463"/>
                <a:gd name="T37" fmla="*/ 2147483647 h 11339"/>
                <a:gd name="T38" fmla="*/ 2147483647 w 14463"/>
                <a:gd name="T39" fmla="*/ 2147483647 h 11339"/>
                <a:gd name="T40" fmla="*/ 2147483647 w 14463"/>
                <a:gd name="T41" fmla="*/ 2147483647 h 11339"/>
                <a:gd name="T42" fmla="*/ 2147483647 w 14463"/>
                <a:gd name="T43" fmla="*/ 2147483647 h 11339"/>
                <a:gd name="T44" fmla="*/ 2147483647 w 14463"/>
                <a:gd name="T45" fmla="*/ 2147483647 h 11339"/>
                <a:gd name="T46" fmla="*/ 2147483647 w 14463"/>
                <a:gd name="T47" fmla="*/ 2147483647 h 11339"/>
                <a:gd name="T48" fmla="*/ 2147483647 w 14463"/>
                <a:gd name="T49" fmla="*/ 2147483647 h 11339"/>
                <a:gd name="T50" fmla="*/ 2147483647 w 14463"/>
                <a:gd name="T51" fmla="*/ 2147483647 h 11339"/>
                <a:gd name="T52" fmla="*/ 2147483647 w 14463"/>
                <a:gd name="T53" fmla="*/ 2147483647 h 11339"/>
                <a:gd name="T54" fmla="*/ 2147483647 w 14463"/>
                <a:gd name="T55" fmla="*/ 2147483647 h 11339"/>
                <a:gd name="T56" fmla="*/ 2147483647 w 14463"/>
                <a:gd name="T57" fmla="*/ 2147483647 h 11339"/>
                <a:gd name="T58" fmla="*/ 2147483647 w 14463"/>
                <a:gd name="T59" fmla="*/ 2147483647 h 11339"/>
                <a:gd name="T60" fmla="*/ 2147483647 w 14463"/>
                <a:gd name="T61" fmla="*/ 2147483647 h 11339"/>
                <a:gd name="T62" fmla="*/ 2147483647 w 14463"/>
                <a:gd name="T63" fmla="*/ 2147483647 h 11339"/>
                <a:gd name="T64" fmla="*/ 0 w 14463"/>
                <a:gd name="T65" fmla="*/ 2147483647 h 11339"/>
                <a:gd name="T66" fmla="*/ 2147483647 w 14463"/>
                <a:gd name="T67" fmla="*/ 2147483647 h 11339"/>
                <a:gd name="T68" fmla="*/ 2147483647 w 14463"/>
                <a:gd name="T69" fmla="*/ 2147483647 h 11339"/>
                <a:gd name="T70" fmla="*/ 2147483647 w 14463"/>
                <a:gd name="T71" fmla="*/ 2147483647 h 11339"/>
                <a:gd name="T72" fmla="*/ 2147483647 w 14463"/>
                <a:gd name="T73" fmla="*/ 2147483647 h 11339"/>
                <a:gd name="T74" fmla="*/ 2147483647 w 14463"/>
                <a:gd name="T75" fmla="*/ 2147483647 h 11339"/>
                <a:gd name="T76" fmla="*/ 2147483647 w 14463"/>
                <a:gd name="T77" fmla="*/ 2147483647 h 11339"/>
                <a:gd name="T78" fmla="*/ 2147483647 w 14463"/>
                <a:gd name="T79" fmla="*/ 2147483647 h 11339"/>
                <a:gd name="T80" fmla="*/ 2147483647 w 14463"/>
                <a:gd name="T81" fmla="*/ 2147483647 h 11339"/>
                <a:gd name="T82" fmla="*/ 2147483647 w 14463"/>
                <a:gd name="T83" fmla="*/ 2147483647 h 11339"/>
                <a:gd name="T84" fmla="*/ 2147483647 w 14463"/>
                <a:gd name="T85" fmla="*/ 2147483647 h 113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463" h="11339">
                  <a:moveTo>
                    <a:pt x="8188" y="209"/>
                  </a:moveTo>
                  <a:lnTo>
                    <a:pt x="8780" y="0"/>
                  </a:lnTo>
                  <a:lnTo>
                    <a:pt x="10217" y="207"/>
                  </a:lnTo>
                  <a:cubicBezTo>
                    <a:pt x="10556" y="264"/>
                    <a:pt x="10640" y="126"/>
                    <a:pt x="10761" y="229"/>
                  </a:cubicBezTo>
                  <a:cubicBezTo>
                    <a:pt x="10936" y="271"/>
                    <a:pt x="11461" y="322"/>
                    <a:pt x="11696" y="417"/>
                  </a:cubicBezTo>
                  <a:cubicBezTo>
                    <a:pt x="11902" y="494"/>
                    <a:pt x="11642" y="593"/>
                    <a:pt x="11730" y="676"/>
                  </a:cubicBezTo>
                  <a:cubicBezTo>
                    <a:pt x="11818" y="759"/>
                    <a:pt x="12063" y="841"/>
                    <a:pt x="12227" y="913"/>
                  </a:cubicBezTo>
                  <a:lnTo>
                    <a:pt x="12983" y="1126"/>
                  </a:lnTo>
                  <a:lnTo>
                    <a:pt x="12748" y="1307"/>
                  </a:lnTo>
                  <a:cubicBezTo>
                    <a:pt x="12663" y="1515"/>
                    <a:pt x="11910" y="1697"/>
                    <a:pt x="11825" y="1905"/>
                  </a:cubicBezTo>
                  <a:lnTo>
                    <a:pt x="10725" y="2530"/>
                  </a:lnTo>
                  <a:lnTo>
                    <a:pt x="10429" y="2947"/>
                  </a:lnTo>
                  <a:cubicBezTo>
                    <a:pt x="10471" y="3165"/>
                    <a:pt x="10514" y="3383"/>
                    <a:pt x="10556" y="3601"/>
                  </a:cubicBezTo>
                  <a:lnTo>
                    <a:pt x="10852" y="3839"/>
                  </a:lnTo>
                  <a:lnTo>
                    <a:pt x="10345" y="3839"/>
                  </a:lnTo>
                  <a:lnTo>
                    <a:pt x="11191" y="4197"/>
                  </a:lnTo>
                  <a:cubicBezTo>
                    <a:pt x="11149" y="4405"/>
                    <a:pt x="11106" y="4613"/>
                    <a:pt x="11064" y="4821"/>
                  </a:cubicBezTo>
                  <a:lnTo>
                    <a:pt x="10599" y="5030"/>
                  </a:lnTo>
                  <a:lnTo>
                    <a:pt x="9456" y="5298"/>
                  </a:lnTo>
                  <a:lnTo>
                    <a:pt x="8822" y="6012"/>
                  </a:lnTo>
                  <a:lnTo>
                    <a:pt x="8272" y="6161"/>
                  </a:lnTo>
                  <a:lnTo>
                    <a:pt x="8526" y="6429"/>
                  </a:lnTo>
                  <a:lnTo>
                    <a:pt x="8145" y="7084"/>
                  </a:lnTo>
                  <a:lnTo>
                    <a:pt x="7299" y="7768"/>
                  </a:lnTo>
                  <a:lnTo>
                    <a:pt x="7383" y="8155"/>
                  </a:lnTo>
                  <a:lnTo>
                    <a:pt x="7680" y="8393"/>
                  </a:lnTo>
                  <a:cubicBezTo>
                    <a:pt x="7624" y="8571"/>
                    <a:pt x="7567" y="8750"/>
                    <a:pt x="7511" y="8928"/>
                  </a:cubicBezTo>
                  <a:lnTo>
                    <a:pt x="7003" y="9465"/>
                  </a:lnTo>
                  <a:lnTo>
                    <a:pt x="10190" y="10380"/>
                  </a:lnTo>
                  <a:cubicBezTo>
                    <a:pt x="10685" y="10621"/>
                    <a:pt x="15360" y="10855"/>
                    <a:pt x="14311" y="11050"/>
                  </a:cubicBezTo>
                  <a:cubicBezTo>
                    <a:pt x="11744" y="11422"/>
                    <a:pt x="9928" y="11345"/>
                    <a:pt x="8880" y="11304"/>
                  </a:cubicBezTo>
                  <a:lnTo>
                    <a:pt x="3686" y="10662"/>
                  </a:lnTo>
                  <a:lnTo>
                    <a:pt x="0" y="9499"/>
                  </a:lnTo>
                  <a:lnTo>
                    <a:pt x="1492" y="8492"/>
                  </a:lnTo>
                  <a:lnTo>
                    <a:pt x="2079" y="7943"/>
                  </a:lnTo>
                  <a:lnTo>
                    <a:pt x="4644" y="6748"/>
                  </a:lnTo>
                  <a:cubicBezTo>
                    <a:pt x="4630" y="6430"/>
                    <a:pt x="2665" y="7030"/>
                    <a:pt x="2651" y="6712"/>
                  </a:cubicBezTo>
                  <a:lnTo>
                    <a:pt x="4099" y="5323"/>
                  </a:lnTo>
                  <a:lnTo>
                    <a:pt x="5760" y="4554"/>
                  </a:lnTo>
                  <a:cubicBezTo>
                    <a:pt x="5651" y="3371"/>
                    <a:pt x="6192" y="4301"/>
                    <a:pt x="6082" y="3119"/>
                  </a:cubicBezTo>
                  <a:lnTo>
                    <a:pt x="7891" y="1548"/>
                  </a:lnTo>
                  <a:lnTo>
                    <a:pt x="8314" y="982"/>
                  </a:lnTo>
                  <a:lnTo>
                    <a:pt x="8188" y="209"/>
                  </a:lnTo>
                  <a:close/>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sp>
          <p:nvSpPr>
            <p:cNvPr id="182" name="Freeform 410"/>
            <p:cNvSpPr>
              <a:spLocks/>
            </p:cNvSpPr>
            <p:nvPr/>
          </p:nvSpPr>
          <p:spPr bwMode="gray">
            <a:xfrm>
              <a:off x="3520143" y="4498540"/>
              <a:ext cx="168514" cy="151174"/>
            </a:xfrm>
            <a:custGeom>
              <a:avLst/>
              <a:gdLst>
                <a:gd name="T0" fmla="*/ 2147483647 w 168"/>
                <a:gd name="T1" fmla="*/ 0 h 156"/>
                <a:gd name="T2" fmla="*/ 0 w 168"/>
                <a:gd name="T3" fmla="*/ 2147483647 h 156"/>
                <a:gd name="T4" fmla="*/ 0 w 168"/>
                <a:gd name="T5" fmla="*/ 2147483647 h 156"/>
                <a:gd name="T6" fmla="*/ 2147483647 w 168"/>
                <a:gd name="T7" fmla="*/ 2147483647 h 156"/>
                <a:gd name="T8" fmla="*/ 2147483647 w 168"/>
                <a:gd name="T9" fmla="*/ 2147483647 h 156"/>
                <a:gd name="T10" fmla="*/ 2147483647 w 168"/>
                <a:gd name="T11" fmla="*/ 2147483647 h 156"/>
                <a:gd name="T12" fmla="*/ 2147483647 w 168"/>
                <a:gd name="T13" fmla="*/ 2147483647 h 156"/>
                <a:gd name="T14" fmla="*/ 2147483647 w 168"/>
                <a:gd name="T15" fmla="*/ 2147483647 h 156"/>
                <a:gd name="T16" fmla="*/ 2147483647 w 168"/>
                <a:gd name="T17" fmla="*/ 2147483647 h 156"/>
                <a:gd name="T18" fmla="*/ 2147483647 w 168"/>
                <a:gd name="T19" fmla="*/ 2147483647 h 156"/>
                <a:gd name="T20" fmla="*/ 2147483647 w 168"/>
                <a:gd name="T21" fmla="*/ 2147483647 h 156"/>
                <a:gd name="T22" fmla="*/ 2147483647 w 168"/>
                <a:gd name="T23" fmla="*/ 2147483647 h 156"/>
                <a:gd name="T24" fmla="*/ 2147483647 w 168"/>
                <a:gd name="T25" fmla="*/ 2147483647 h 156"/>
                <a:gd name="T26" fmla="*/ 2147483647 w 168"/>
                <a:gd name="T27" fmla="*/ 2147483647 h 156"/>
                <a:gd name="T28" fmla="*/ 2147483647 w 168"/>
                <a:gd name="T29" fmla="*/ 2147483647 h 156"/>
                <a:gd name="T30" fmla="*/ 2147483647 w 168"/>
                <a:gd name="T31" fmla="*/ 2147483647 h 156"/>
                <a:gd name="T32" fmla="*/ 2147483647 w 168"/>
                <a:gd name="T33" fmla="*/ 2147483647 h 156"/>
                <a:gd name="T34" fmla="*/ 2147483647 w 168"/>
                <a:gd name="T35" fmla="*/ 2147483647 h 156"/>
                <a:gd name="T36" fmla="*/ 2147483647 w 168"/>
                <a:gd name="T37" fmla="*/ 0 h 156"/>
                <a:gd name="T38" fmla="*/ 2147483647 w 168"/>
                <a:gd name="T39" fmla="*/ 0 h 1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8" h="156">
                  <a:moveTo>
                    <a:pt x="48" y="0"/>
                  </a:moveTo>
                  <a:lnTo>
                    <a:pt x="0" y="36"/>
                  </a:lnTo>
                  <a:lnTo>
                    <a:pt x="0" y="48"/>
                  </a:lnTo>
                  <a:lnTo>
                    <a:pt x="18" y="72"/>
                  </a:lnTo>
                  <a:lnTo>
                    <a:pt x="36" y="84"/>
                  </a:lnTo>
                  <a:lnTo>
                    <a:pt x="72" y="96"/>
                  </a:lnTo>
                  <a:lnTo>
                    <a:pt x="90" y="108"/>
                  </a:lnTo>
                  <a:lnTo>
                    <a:pt x="84" y="150"/>
                  </a:lnTo>
                  <a:lnTo>
                    <a:pt x="114" y="156"/>
                  </a:lnTo>
                  <a:lnTo>
                    <a:pt x="150" y="138"/>
                  </a:lnTo>
                  <a:lnTo>
                    <a:pt x="168" y="126"/>
                  </a:lnTo>
                  <a:lnTo>
                    <a:pt x="162" y="114"/>
                  </a:lnTo>
                  <a:lnTo>
                    <a:pt x="162" y="90"/>
                  </a:lnTo>
                  <a:lnTo>
                    <a:pt x="144" y="84"/>
                  </a:lnTo>
                  <a:lnTo>
                    <a:pt x="120" y="54"/>
                  </a:lnTo>
                  <a:lnTo>
                    <a:pt x="108" y="42"/>
                  </a:lnTo>
                  <a:lnTo>
                    <a:pt x="90" y="12"/>
                  </a:lnTo>
                  <a:lnTo>
                    <a:pt x="90" y="6"/>
                  </a:lnTo>
                  <a:lnTo>
                    <a:pt x="78" y="0"/>
                  </a:lnTo>
                  <a:lnTo>
                    <a:pt x="48" y="0"/>
                  </a:lnTo>
                  <a:close/>
                </a:path>
              </a:pathLst>
            </a:custGeom>
            <a:grpFill/>
            <a:ln w="9525">
              <a:solidFill>
                <a:schemeClr val="bg2">
                  <a:lumMod val="50000"/>
                </a:schemeClr>
              </a:solidFill>
              <a:round/>
              <a:headEnd/>
              <a:tailEnd/>
            </a:ln>
          </p:spPr>
          <p:txBody>
            <a:bodyPr/>
            <a:lstStyle/>
            <a:p>
              <a:endParaRPr lang="en-US" dirty="0"/>
            </a:p>
          </p:txBody>
        </p:sp>
        <p:sp>
          <p:nvSpPr>
            <p:cNvPr id="183" name="Freeform 412"/>
            <p:cNvSpPr>
              <a:spLocks/>
            </p:cNvSpPr>
            <p:nvPr/>
          </p:nvSpPr>
          <p:spPr bwMode="gray">
            <a:xfrm>
              <a:off x="3390413" y="4330711"/>
              <a:ext cx="224685" cy="231885"/>
            </a:xfrm>
            <a:custGeom>
              <a:avLst/>
              <a:gdLst>
                <a:gd name="T0" fmla="*/ 2147483647 w 10141"/>
                <a:gd name="T1" fmla="*/ 2147483647 h 10000"/>
                <a:gd name="T2" fmla="*/ 2147483647 w 10141"/>
                <a:gd name="T3" fmla="*/ 2147483647 h 10000"/>
                <a:gd name="T4" fmla="*/ 2147483647 w 10141"/>
                <a:gd name="T5" fmla="*/ 2147483647 h 10000"/>
                <a:gd name="T6" fmla="*/ 2147483647 w 10141"/>
                <a:gd name="T7" fmla="*/ 2147483647 h 10000"/>
                <a:gd name="T8" fmla="*/ 2147483647 w 10141"/>
                <a:gd name="T9" fmla="*/ 2147483647 h 10000"/>
                <a:gd name="T10" fmla="*/ 2147483647 w 10141"/>
                <a:gd name="T11" fmla="*/ 2147483647 h 10000"/>
                <a:gd name="T12" fmla="*/ 2147483647 w 10141"/>
                <a:gd name="T13" fmla="*/ 2147483647 h 10000"/>
                <a:gd name="T14" fmla="*/ 2147483647 w 10141"/>
                <a:gd name="T15" fmla="*/ 2147483647 h 10000"/>
                <a:gd name="T16" fmla="*/ 2147483647 w 10141"/>
                <a:gd name="T17" fmla="*/ 2147483647 h 10000"/>
                <a:gd name="T18" fmla="*/ 2147483647 w 10141"/>
                <a:gd name="T19" fmla="*/ 2147483647 h 10000"/>
                <a:gd name="T20" fmla="*/ 2147483647 w 10141"/>
                <a:gd name="T21" fmla="*/ 2147483647 h 10000"/>
                <a:gd name="T22" fmla="*/ 2147483647 w 10141"/>
                <a:gd name="T23" fmla="*/ 2147483647 h 10000"/>
                <a:gd name="T24" fmla="*/ 2147483647 w 10141"/>
                <a:gd name="T25" fmla="*/ 2147483647 h 10000"/>
                <a:gd name="T26" fmla="*/ 2147483647 w 10141"/>
                <a:gd name="T27" fmla="*/ 0 h 10000"/>
                <a:gd name="T28" fmla="*/ 2147483647 w 10141"/>
                <a:gd name="T29" fmla="*/ 2147483647 h 10000"/>
                <a:gd name="T30" fmla="*/ 2147483647 w 10141"/>
                <a:gd name="T31" fmla="*/ 2147483647 h 10000"/>
                <a:gd name="T32" fmla="*/ 2147483647 w 10141"/>
                <a:gd name="T33" fmla="*/ 2147483647 h 10000"/>
                <a:gd name="T34" fmla="*/ 2147483647 w 10141"/>
                <a:gd name="T35" fmla="*/ 2147483647 h 10000"/>
                <a:gd name="T36" fmla="*/ 2147483647 w 10141"/>
                <a:gd name="T37" fmla="*/ 2147483647 h 10000"/>
                <a:gd name="T38" fmla="*/ 2147483647 w 10141"/>
                <a:gd name="T39" fmla="*/ 2147483647 h 10000"/>
                <a:gd name="T40" fmla="*/ 2147483647 w 10141"/>
                <a:gd name="T41" fmla="*/ 2147483647 h 10000"/>
                <a:gd name="T42" fmla="*/ 2147483647 w 10141"/>
                <a:gd name="T43" fmla="*/ 2147483647 h 10000"/>
                <a:gd name="T44" fmla="*/ 2147483647 w 10141"/>
                <a:gd name="T45" fmla="*/ 2147483647 h 10000"/>
                <a:gd name="T46" fmla="*/ 2147483647 w 10141"/>
                <a:gd name="T47" fmla="*/ 2147483647 h 10000"/>
                <a:gd name="T48" fmla="*/ 2147483647 w 10141"/>
                <a:gd name="T49" fmla="*/ 2147483647 h 10000"/>
                <a:gd name="T50" fmla="*/ 2147483647 w 10141"/>
                <a:gd name="T51" fmla="*/ 2147483647 h 10000"/>
                <a:gd name="T52" fmla="*/ 2147483647 w 10141"/>
                <a:gd name="T53" fmla="*/ 2147483647 h 10000"/>
                <a:gd name="T54" fmla="*/ 2147483647 w 10141"/>
                <a:gd name="T55" fmla="*/ 2147483647 h 10000"/>
                <a:gd name="T56" fmla="*/ 2147483647 w 10141"/>
                <a:gd name="T57" fmla="*/ 2147483647 h 10000"/>
                <a:gd name="T58" fmla="*/ 2147483647 w 10141"/>
                <a:gd name="T59" fmla="*/ 2147483647 h 10000"/>
                <a:gd name="T60" fmla="*/ 2147483647 w 10141"/>
                <a:gd name="T61" fmla="*/ 2147483647 h 100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141" h="10000">
                  <a:moveTo>
                    <a:pt x="6087" y="9512"/>
                  </a:moveTo>
                  <a:lnTo>
                    <a:pt x="6087" y="9024"/>
                  </a:lnTo>
                  <a:lnTo>
                    <a:pt x="8249" y="7561"/>
                  </a:lnTo>
                  <a:lnTo>
                    <a:pt x="9600" y="7561"/>
                  </a:lnTo>
                  <a:lnTo>
                    <a:pt x="10141" y="7805"/>
                  </a:lnTo>
                  <a:lnTo>
                    <a:pt x="10141" y="6098"/>
                  </a:lnTo>
                  <a:lnTo>
                    <a:pt x="10141" y="5122"/>
                  </a:lnTo>
                  <a:cubicBezTo>
                    <a:pt x="10141" y="5122"/>
                    <a:pt x="8790" y="4878"/>
                    <a:pt x="8519" y="4878"/>
                  </a:cubicBezTo>
                  <a:lnTo>
                    <a:pt x="7979" y="4146"/>
                  </a:lnTo>
                  <a:lnTo>
                    <a:pt x="7979" y="3171"/>
                  </a:lnTo>
                  <a:lnTo>
                    <a:pt x="6087" y="2439"/>
                  </a:lnTo>
                  <a:lnTo>
                    <a:pt x="4465" y="1707"/>
                  </a:lnTo>
                  <a:lnTo>
                    <a:pt x="4195" y="244"/>
                  </a:lnTo>
                  <a:lnTo>
                    <a:pt x="2573" y="0"/>
                  </a:lnTo>
                  <a:lnTo>
                    <a:pt x="1492" y="732"/>
                  </a:lnTo>
                  <a:lnTo>
                    <a:pt x="411" y="976"/>
                  </a:lnTo>
                  <a:cubicBezTo>
                    <a:pt x="591" y="1220"/>
                    <a:pt x="924" y="1260"/>
                    <a:pt x="952" y="1707"/>
                  </a:cubicBezTo>
                  <a:cubicBezTo>
                    <a:pt x="980" y="2154"/>
                    <a:pt x="691" y="3085"/>
                    <a:pt x="578" y="3659"/>
                  </a:cubicBezTo>
                  <a:cubicBezTo>
                    <a:pt x="465" y="4234"/>
                    <a:pt x="368" y="4765"/>
                    <a:pt x="272" y="5154"/>
                  </a:cubicBezTo>
                  <a:cubicBezTo>
                    <a:pt x="176" y="5543"/>
                    <a:pt x="-27" y="5787"/>
                    <a:pt x="2" y="5992"/>
                  </a:cubicBezTo>
                  <a:cubicBezTo>
                    <a:pt x="31" y="6197"/>
                    <a:pt x="243" y="6244"/>
                    <a:pt x="446" y="6383"/>
                  </a:cubicBezTo>
                  <a:cubicBezTo>
                    <a:pt x="649" y="6522"/>
                    <a:pt x="1138" y="6592"/>
                    <a:pt x="1222" y="6829"/>
                  </a:cubicBezTo>
                  <a:cubicBezTo>
                    <a:pt x="1306" y="7066"/>
                    <a:pt x="1042" y="7480"/>
                    <a:pt x="952" y="7805"/>
                  </a:cubicBezTo>
                  <a:lnTo>
                    <a:pt x="2033" y="9512"/>
                  </a:lnTo>
                  <a:lnTo>
                    <a:pt x="2303" y="10000"/>
                  </a:lnTo>
                  <a:lnTo>
                    <a:pt x="2844" y="9756"/>
                  </a:lnTo>
                  <a:lnTo>
                    <a:pt x="3384" y="9756"/>
                  </a:lnTo>
                  <a:lnTo>
                    <a:pt x="4736" y="10000"/>
                  </a:lnTo>
                  <a:lnTo>
                    <a:pt x="5006" y="9756"/>
                  </a:lnTo>
                  <a:lnTo>
                    <a:pt x="6087" y="9512"/>
                  </a:lnTo>
                </a:path>
              </a:pathLst>
            </a:custGeom>
            <a:grpFill/>
            <a:ln w="9525">
              <a:solidFill>
                <a:schemeClr val="bg2">
                  <a:lumMod val="50000"/>
                </a:schemeClr>
              </a:solidFill>
              <a:round/>
              <a:headEnd/>
              <a:tailEnd/>
            </a:ln>
          </p:spPr>
          <p:txBody>
            <a:bodyPr/>
            <a:lstStyle/>
            <a:p>
              <a:endParaRPr lang="en-US" dirty="0"/>
            </a:p>
          </p:txBody>
        </p:sp>
        <p:sp>
          <p:nvSpPr>
            <p:cNvPr id="184" name="Freeform 405"/>
            <p:cNvSpPr>
              <a:spLocks/>
            </p:cNvSpPr>
            <p:nvPr/>
          </p:nvSpPr>
          <p:spPr bwMode="gray">
            <a:xfrm>
              <a:off x="3276734" y="4114200"/>
              <a:ext cx="164502" cy="112740"/>
            </a:xfrm>
            <a:custGeom>
              <a:avLst/>
              <a:gdLst>
                <a:gd name="T0" fmla="*/ 0 w 10000"/>
                <a:gd name="T1" fmla="*/ 2069270529 h 10000"/>
                <a:gd name="T2" fmla="*/ 0 w 10000"/>
                <a:gd name="T3" fmla="*/ 2069270529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069270529 h 10000"/>
                <a:gd name="T20" fmla="*/ 2147483647 w 10000"/>
                <a:gd name="T21" fmla="*/ 591159340 h 10000"/>
                <a:gd name="T22" fmla="*/ 2147483647 w 10000"/>
                <a:gd name="T23" fmla="*/ 0 h 100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000" h="10000">
                  <a:moveTo>
                    <a:pt x="0" y="3889"/>
                  </a:moveTo>
                  <a:lnTo>
                    <a:pt x="0" y="3889"/>
                  </a:lnTo>
                  <a:lnTo>
                    <a:pt x="2000" y="5556"/>
                  </a:lnTo>
                  <a:lnTo>
                    <a:pt x="3200" y="7222"/>
                  </a:lnTo>
                  <a:lnTo>
                    <a:pt x="4800" y="7222"/>
                  </a:lnTo>
                  <a:lnTo>
                    <a:pt x="5600" y="8889"/>
                  </a:lnTo>
                  <a:lnTo>
                    <a:pt x="5268" y="8163"/>
                  </a:lnTo>
                  <a:lnTo>
                    <a:pt x="5600" y="8889"/>
                  </a:lnTo>
                  <a:lnTo>
                    <a:pt x="6400" y="10000"/>
                  </a:lnTo>
                  <a:lnTo>
                    <a:pt x="7200" y="3889"/>
                  </a:lnTo>
                  <a:cubicBezTo>
                    <a:pt x="7067" y="2963"/>
                    <a:pt x="6933" y="2037"/>
                    <a:pt x="6800" y="1111"/>
                  </a:cubicBezTo>
                  <a:lnTo>
                    <a:pt x="10000" y="0"/>
                  </a:lnTo>
                </a:path>
              </a:pathLst>
            </a:custGeom>
            <a:grpFill/>
            <a:ln w="9525">
              <a:solidFill>
                <a:schemeClr val="bg2">
                  <a:lumMod val="50000"/>
                </a:schemeClr>
              </a:solidFill>
              <a:round/>
              <a:headEnd/>
              <a:tailEnd/>
            </a:ln>
          </p:spPr>
          <p:txBody>
            <a:bodyPr/>
            <a:lstStyle/>
            <a:p>
              <a:endParaRPr lang="en-US" dirty="0"/>
            </a:p>
          </p:txBody>
        </p:sp>
        <p:sp>
          <p:nvSpPr>
            <p:cNvPr id="185" name="Freeform 407"/>
            <p:cNvSpPr>
              <a:spLocks/>
            </p:cNvSpPr>
            <p:nvPr/>
          </p:nvSpPr>
          <p:spPr bwMode="gray">
            <a:xfrm>
              <a:off x="3548227" y="3979681"/>
              <a:ext cx="98969" cy="144768"/>
            </a:xfrm>
            <a:custGeom>
              <a:avLst/>
              <a:gdLst>
                <a:gd name="T0" fmla="*/ 2147483647 w 90"/>
                <a:gd name="T1" fmla="*/ 2147483647 h 138"/>
                <a:gd name="T2" fmla="*/ 2147483647 w 90"/>
                <a:gd name="T3" fmla="*/ 2147483647 h 138"/>
                <a:gd name="T4" fmla="*/ 2147483647 w 90"/>
                <a:gd name="T5" fmla="*/ 2147483647 h 138"/>
                <a:gd name="T6" fmla="*/ 2147483647 w 90"/>
                <a:gd name="T7" fmla="*/ 2147483647 h 138"/>
                <a:gd name="T8" fmla="*/ 2147483647 w 90"/>
                <a:gd name="T9" fmla="*/ 2147483647 h 138"/>
                <a:gd name="T10" fmla="*/ 2147483647 w 90"/>
                <a:gd name="T11" fmla="*/ 2147483647 h 138"/>
                <a:gd name="T12" fmla="*/ 2147483647 w 90"/>
                <a:gd name="T13" fmla="*/ 2147483647 h 138"/>
                <a:gd name="T14" fmla="*/ 2147483647 w 90"/>
                <a:gd name="T15" fmla="*/ 0 h 138"/>
                <a:gd name="T16" fmla="*/ 2147483647 w 90"/>
                <a:gd name="T17" fmla="*/ 2147483647 h 138"/>
                <a:gd name="T18" fmla="*/ 0 w 90"/>
                <a:gd name="T19" fmla="*/ 2147483647 h 138"/>
                <a:gd name="T20" fmla="*/ 2147483647 w 90"/>
                <a:gd name="T21" fmla="*/ 2147483647 h 138"/>
                <a:gd name="T22" fmla="*/ 2147483647 w 90"/>
                <a:gd name="T23" fmla="*/ 2147483647 h 138"/>
                <a:gd name="T24" fmla="*/ 2147483647 w 90"/>
                <a:gd name="T25" fmla="*/ 2147483647 h 138"/>
                <a:gd name="T26" fmla="*/ 2147483647 w 90"/>
                <a:gd name="T27" fmla="*/ 2147483647 h 138"/>
                <a:gd name="T28" fmla="*/ 2147483647 w 90"/>
                <a:gd name="T29" fmla="*/ 2147483647 h 138"/>
                <a:gd name="T30" fmla="*/ 2147483647 w 90"/>
                <a:gd name="T31" fmla="*/ 2147483647 h 138"/>
                <a:gd name="T32" fmla="*/ 2147483647 w 90"/>
                <a:gd name="T33" fmla="*/ 2147483647 h 138"/>
                <a:gd name="T34" fmla="*/ 2147483647 w 90"/>
                <a:gd name="T35" fmla="*/ 2147483647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0" h="138">
                  <a:moveTo>
                    <a:pt x="90" y="126"/>
                  </a:moveTo>
                  <a:lnTo>
                    <a:pt x="78" y="102"/>
                  </a:lnTo>
                  <a:lnTo>
                    <a:pt x="66" y="78"/>
                  </a:lnTo>
                  <a:lnTo>
                    <a:pt x="84" y="60"/>
                  </a:lnTo>
                  <a:lnTo>
                    <a:pt x="90" y="42"/>
                  </a:lnTo>
                  <a:lnTo>
                    <a:pt x="66" y="36"/>
                  </a:lnTo>
                  <a:lnTo>
                    <a:pt x="60" y="18"/>
                  </a:lnTo>
                  <a:lnTo>
                    <a:pt x="36" y="0"/>
                  </a:lnTo>
                  <a:lnTo>
                    <a:pt x="12" y="24"/>
                  </a:lnTo>
                  <a:lnTo>
                    <a:pt x="0" y="42"/>
                  </a:lnTo>
                  <a:lnTo>
                    <a:pt x="6" y="60"/>
                  </a:lnTo>
                  <a:lnTo>
                    <a:pt x="18" y="66"/>
                  </a:lnTo>
                  <a:lnTo>
                    <a:pt x="30" y="84"/>
                  </a:lnTo>
                  <a:lnTo>
                    <a:pt x="24" y="120"/>
                  </a:lnTo>
                  <a:lnTo>
                    <a:pt x="42" y="138"/>
                  </a:lnTo>
                  <a:lnTo>
                    <a:pt x="60" y="132"/>
                  </a:lnTo>
                  <a:lnTo>
                    <a:pt x="90" y="126"/>
                  </a:lnTo>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sp>
          <p:nvSpPr>
            <p:cNvPr id="186" name="Freeform 408"/>
            <p:cNvSpPr>
              <a:spLocks/>
            </p:cNvSpPr>
            <p:nvPr/>
          </p:nvSpPr>
          <p:spPr bwMode="gray">
            <a:xfrm>
              <a:off x="3702030" y="4030926"/>
              <a:ext cx="64196" cy="75587"/>
            </a:xfrm>
            <a:custGeom>
              <a:avLst/>
              <a:gdLst>
                <a:gd name="T0" fmla="*/ 2147483647 w 60"/>
                <a:gd name="T1" fmla="*/ 2147483647 h 72"/>
                <a:gd name="T2" fmla="*/ 2147483647 w 60"/>
                <a:gd name="T3" fmla="*/ 2147483647 h 72"/>
                <a:gd name="T4" fmla="*/ 2147483647 w 60"/>
                <a:gd name="T5" fmla="*/ 2147483647 h 72"/>
                <a:gd name="T6" fmla="*/ 2147483647 w 60"/>
                <a:gd name="T7" fmla="*/ 2147483647 h 72"/>
                <a:gd name="T8" fmla="*/ 2147483647 w 60"/>
                <a:gd name="T9" fmla="*/ 2147483647 h 72"/>
                <a:gd name="T10" fmla="*/ 2147483647 w 60"/>
                <a:gd name="T11" fmla="*/ 0 h 72"/>
                <a:gd name="T12" fmla="*/ 2147483647 w 60"/>
                <a:gd name="T13" fmla="*/ 0 h 72"/>
                <a:gd name="T14" fmla="*/ 0 w 60"/>
                <a:gd name="T15" fmla="*/ 2147483647 h 72"/>
                <a:gd name="T16" fmla="*/ 2147483647 w 60"/>
                <a:gd name="T17" fmla="*/ 2147483647 h 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 h="72">
                  <a:moveTo>
                    <a:pt x="6" y="42"/>
                  </a:moveTo>
                  <a:lnTo>
                    <a:pt x="6" y="66"/>
                  </a:lnTo>
                  <a:lnTo>
                    <a:pt x="12" y="72"/>
                  </a:lnTo>
                  <a:lnTo>
                    <a:pt x="36" y="60"/>
                  </a:lnTo>
                  <a:lnTo>
                    <a:pt x="60" y="24"/>
                  </a:lnTo>
                  <a:lnTo>
                    <a:pt x="18" y="0"/>
                  </a:lnTo>
                  <a:lnTo>
                    <a:pt x="6" y="0"/>
                  </a:lnTo>
                  <a:lnTo>
                    <a:pt x="0" y="18"/>
                  </a:lnTo>
                  <a:lnTo>
                    <a:pt x="6" y="42"/>
                  </a:lnTo>
                  <a:close/>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sp>
          <p:nvSpPr>
            <p:cNvPr id="187" name="Freeform 417"/>
            <p:cNvSpPr>
              <a:spLocks/>
            </p:cNvSpPr>
            <p:nvPr/>
          </p:nvSpPr>
          <p:spPr bwMode="gray">
            <a:xfrm>
              <a:off x="3623122" y="4028364"/>
              <a:ext cx="81582" cy="88397"/>
            </a:xfrm>
            <a:custGeom>
              <a:avLst/>
              <a:gdLst>
                <a:gd name="T0" fmla="*/ 2147483647 w 72"/>
                <a:gd name="T1" fmla="*/ 2147483647 h 84"/>
                <a:gd name="T2" fmla="*/ 2147483647 w 72"/>
                <a:gd name="T3" fmla="*/ 2147483647 h 84"/>
                <a:gd name="T4" fmla="*/ 2147483647 w 72"/>
                <a:gd name="T5" fmla="*/ 2147483647 h 84"/>
                <a:gd name="T6" fmla="*/ 2147483647 w 72"/>
                <a:gd name="T7" fmla="*/ 2147483647 h 84"/>
                <a:gd name="T8" fmla="*/ 2147483647 w 72"/>
                <a:gd name="T9" fmla="*/ 2147483647 h 84"/>
                <a:gd name="T10" fmla="*/ 2147483647 w 72"/>
                <a:gd name="T11" fmla="*/ 0 h 84"/>
                <a:gd name="T12" fmla="*/ 2147483647 w 72"/>
                <a:gd name="T13" fmla="*/ 2147483647 h 84"/>
                <a:gd name="T14" fmla="*/ 0 w 72"/>
                <a:gd name="T15" fmla="*/ 2147483647 h 84"/>
                <a:gd name="T16" fmla="*/ 2147483647 w 72"/>
                <a:gd name="T17" fmla="*/ 2147483647 h 84"/>
                <a:gd name="T18" fmla="*/ 2147483647 w 72"/>
                <a:gd name="T19" fmla="*/ 2147483647 h 84"/>
                <a:gd name="T20" fmla="*/ 2147483647 w 72"/>
                <a:gd name="T21" fmla="*/ 2147483647 h 84"/>
                <a:gd name="T22" fmla="*/ 2147483647 w 72"/>
                <a:gd name="T23" fmla="*/ 2147483647 h 84"/>
                <a:gd name="T24" fmla="*/ 2147483647 w 72"/>
                <a:gd name="T25" fmla="*/ 2147483647 h 84"/>
                <a:gd name="T26" fmla="*/ 2147483647 w 72"/>
                <a:gd name="T27" fmla="*/ 2147483647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2" h="84">
                  <a:moveTo>
                    <a:pt x="72" y="78"/>
                  </a:moveTo>
                  <a:lnTo>
                    <a:pt x="72" y="54"/>
                  </a:lnTo>
                  <a:lnTo>
                    <a:pt x="66" y="30"/>
                  </a:lnTo>
                  <a:lnTo>
                    <a:pt x="72" y="12"/>
                  </a:lnTo>
                  <a:lnTo>
                    <a:pt x="24" y="6"/>
                  </a:lnTo>
                  <a:lnTo>
                    <a:pt x="24" y="0"/>
                  </a:lnTo>
                  <a:lnTo>
                    <a:pt x="18" y="18"/>
                  </a:lnTo>
                  <a:lnTo>
                    <a:pt x="0" y="36"/>
                  </a:lnTo>
                  <a:lnTo>
                    <a:pt x="12" y="60"/>
                  </a:lnTo>
                  <a:lnTo>
                    <a:pt x="24" y="84"/>
                  </a:lnTo>
                  <a:lnTo>
                    <a:pt x="30" y="84"/>
                  </a:lnTo>
                  <a:lnTo>
                    <a:pt x="42" y="78"/>
                  </a:lnTo>
                  <a:lnTo>
                    <a:pt x="72" y="78"/>
                  </a:lnTo>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sp>
          <p:nvSpPr>
            <p:cNvPr id="188" name="Freeform 418"/>
            <p:cNvSpPr>
              <a:spLocks/>
            </p:cNvSpPr>
            <p:nvPr/>
          </p:nvSpPr>
          <p:spPr bwMode="gray">
            <a:xfrm>
              <a:off x="3316855" y="3911780"/>
              <a:ext cx="280856" cy="226761"/>
            </a:xfrm>
            <a:custGeom>
              <a:avLst/>
              <a:gdLst>
                <a:gd name="T0" fmla="*/ 2147483647 w 43"/>
                <a:gd name="T1" fmla="*/ 2147483647 h 36"/>
                <a:gd name="T2" fmla="*/ 2147483647 w 43"/>
                <a:gd name="T3" fmla="*/ 2147483647 h 36"/>
                <a:gd name="T4" fmla="*/ 2147483647 w 43"/>
                <a:gd name="T5" fmla="*/ 2147483647 h 36"/>
                <a:gd name="T6" fmla="*/ 2147483647 w 43"/>
                <a:gd name="T7" fmla="*/ 2147483647 h 36"/>
                <a:gd name="T8" fmla="*/ 2147483647 w 43"/>
                <a:gd name="T9" fmla="*/ 2147483647 h 36"/>
                <a:gd name="T10" fmla="*/ 2147483647 w 43"/>
                <a:gd name="T11" fmla="*/ 2147483647 h 36"/>
                <a:gd name="T12" fmla="*/ 2147483647 w 43"/>
                <a:gd name="T13" fmla="*/ 2147483647 h 36"/>
                <a:gd name="T14" fmla="*/ 2147483647 w 43"/>
                <a:gd name="T15" fmla="*/ 2147483647 h 36"/>
                <a:gd name="T16" fmla="*/ 2147483647 w 43"/>
                <a:gd name="T17" fmla="*/ 2147483647 h 36"/>
                <a:gd name="T18" fmla="*/ 2147483647 w 43"/>
                <a:gd name="T19" fmla="*/ 2147483647 h 36"/>
                <a:gd name="T20" fmla="*/ 2147483647 w 43"/>
                <a:gd name="T21" fmla="*/ 2147483647 h 36"/>
                <a:gd name="T22" fmla="*/ 2147483647 w 43"/>
                <a:gd name="T23" fmla="*/ 2147483647 h 36"/>
                <a:gd name="T24" fmla="*/ 2147483647 w 43"/>
                <a:gd name="T25" fmla="*/ 2147483647 h 36"/>
                <a:gd name="T26" fmla="*/ 2147483647 w 43"/>
                <a:gd name="T27" fmla="*/ 0 h 36"/>
                <a:gd name="T28" fmla="*/ 2147483647 w 43"/>
                <a:gd name="T29" fmla="*/ 2147483647 h 36"/>
                <a:gd name="T30" fmla="*/ 0 w 43"/>
                <a:gd name="T31" fmla="*/ 2147483647 h 36"/>
                <a:gd name="T32" fmla="*/ 2147483647 w 43"/>
                <a:gd name="T33" fmla="*/ 2147483647 h 36"/>
                <a:gd name="T34" fmla="*/ 2147483647 w 43"/>
                <a:gd name="T35" fmla="*/ 2147483647 h 36"/>
                <a:gd name="T36" fmla="*/ 2147483647 w 43"/>
                <a:gd name="T37" fmla="*/ 2147483647 h 36"/>
                <a:gd name="T38" fmla="*/ 2147483647 w 43"/>
                <a:gd name="T39" fmla="*/ 2147483647 h 36"/>
                <a:gd name="T40" fmla="*/ 2147483647 w 43"/>
                <a:gd name="T41" fmla="*/ 2147483647 h 36"/>
                <a:gd name="T42" fmla="*/ 2147483647 w 43"/>
                <a:gd name="T43" fmla="*/ 2147483647 h 36"/>
                <a:gd name="T44" fmla="*/ 2147483647 w 43"/>
                <a:gd name="T45" fmla="*/ 2147483647 h 36"/>
                <a:gd name="T46" fmla="*/ 2147483647 w 43"/>
                <a:gd name="T47" fmla="*/ 2147483647 h 36"/>
                <a:gd name="T48" fmla="*/ 2147483647 w 43"/>
                <a:gd name="T49" fmla="*/ 2147483647 h 36"/>
                <a:gd name="T50" fmla="*/ 2147483647 w 43"/>
                <a:gd name="T51" fmla="*/ 2147483647 h 36"/>
                <a:gd name="T52" fmla="*/ 2147483647 w 43"/>
                <a:gd name="T53" fmla="*/ 2147483647 h 36"/>
                <a:gd name="T54" fmla="*/ 2147483647 w 43"/>
                <a:gd name="T55" fmla="*/ 2147483647 h 36"/>
                <a:gd name="T56" fmla="*/ 2147483647 w 43"/>
                <a:gd name="T57" fmla="*/ 2147483647 h 36"/>
                <a:gd name="T58" fmla="*/ 2147483647 w 43"/>
                <a:gd name="T59" fmla="*/ 2147483647 h 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3" h="36">
                  <a:moveTo>
                    <a:pt x="38" y="21"/>
                  </a:moveTo>
                  <a:cubicBezTo>
                    <a:pt x="37" y="18"/>
                    <a:pt x="37" y="18"/>
                    <a:pt x="37" y="18"/>
                  </a:cubicBezTo>
                  <a:cubicBezTo>
                    <a:pt x="39" y="15"/>
                    <a:pt x="39" y="15"/>
                    <a:pt x="39" y="15"/>
                  </a:cubicBezTo>
                  <a:cubicBezTo>
                    <a:pt x="43" y="11"/>
                    <a:pt x="43" y="11"/>
                    <a:pt x="43" y="11"/>
                  </a:cubicBezTo>
                  <a:cubicBezTo>
                    <a:pt x="42" y="11"/>
                    <a:pt x="42" y="11"/>
                    <a:pt x="42" y="11"/>
                  </a:cubicBezTo>
                  <a:cubicBezTo>
                    <a:pt x="39" y="10"/>
                    <a:pt x="39" y="10"/>
                    <a:pt x="39" y="10"/>
                  </a:cubicBezTo>
                  <a:cubicBezTo>
                    <a:pt x="38" y="8"/>
                    <a:pt x="38" y="8"/>
                    <a:pt x="38" y="8"/>
                  </a:cubicBezTo>
                  <a:cubicBezTo>
                    <a:pt x="32" y="5"/>
                    <a:pt x="32" y="5"/>
                    <a:pt x="32" y="5"/>
                  </a:cubicBezTo>
                  <a:cubicBezTo>
                    <a:pt x="22" y="6"/>
                    <a:pt x="22" y="6"/>
                    <a:pt x="22" y="6"/>
                  </a:cubicBezTo>
                  <a:cubicBezTo>
                    <a:pt x="17" y="5"/>
                    <a:pt x="17" y="5"/>
                    <a:pt x="17" y="5"/>
                  </a:cubicBezTo>
                  <a:cubicBezTo>
                    <a:pt x="16" y="3"/>
                    <a:pt x="16" y="3"/>
                    <a:pt x="16" y="3"/>
                  </a:cubicBezTo>
                  <a:cubicBezTo>
                    <a:pt x="11" y="2"/>
                    <a:pt x="11" y="2"/>
                    <a:pt x="11" y="2"/>
                  </a:cubicBezTo>
                  <a:cubicBezTo>
                    <a:pt x="11" y="2"/>
                    <a:pt x="7" y="3"/>
                    <a:pt x="6" y="3"/>
                  </a:cubicBezTo>
                  <a:cubicBezTo>
                    <a:pt x="5" y="3"/>
                    <a:pt x="5" y="1"/>
                    <a:pt x="5" y="0"/>
                  </a:cubicBezTo>
                  <a:cubicBezTo>
                    <a:pt x="1" y="2"/>
                    <a:pt x="1" y="2"/>
                    <a:pt x="1" y="2"/>
                  </a:cubicBezTo>
                  <a:cubicBezTo>
                    <a:pt x="0" y="10"/>
                    <a:pt x="0" y="10"/>
                    <a:pt x="0" y="10"/>
                  </a:cubicBezTo>
                  <a:cubicBezTo>
                    <a:pt x="2" y="15"/>
                    <a:pt x="2" y="15"/>
                    <a:pt x="2" y="15"/>
                  </a:cubicBezTo>
                  <a:cubicBezTo>
                    <a:pt x="12" y="19"/>
                    <a:pt x="12" y="19"/>
                    <a:pt x="12" y="19"/>
                  </a:cubicBezTo>
                  <a:cubicBezTo>
                    <a:pt x="17" y="20"/>
                    <a:pt x="17" y="20"/>
                    <a:pt x="17" y="20"/>
                  </a:cubicBezTo>
                  <a:cubicBezTo>
                    <a:pt x="16" y="22"/>
                    <a:pt x="16" y="22"/>
                    <a:pt x="16" y="22"/>
                  </a:cubicBezTo>
                  <a:cubicBezTo>
                    <a:pt x="18" y="26"/>
                    <a:pt x="18" y="26"/>
                    <a:pt x="18" y="26"/>
                  </a:cubicBezTo>
                  <a:cubicBezTo>
                    <a:pt x="18" y="33"/>
                    <a:pt x="18" y="33"/>
                    <a:pt x="18" y="33"/>
                  </a:cubicBezTo>
                  <a:cubicBezTo>
                    <a:pt x="18" y="33"/>
                    <a:pt x="18" y="33"/>
                    <a:pt x="18" y="33"/>
                  </a:cubicBezTo>
                  <a:cubicBezTo>
                    <a:pt x="21" y="36"/>
                    <a:pt x="21" y="36"/>
                    <a:pt x="21" y="36"/>
                  </a:cubicBezTo>
                  <a:cubicBezTo>
                    <a:pt x="30" y="33"/>
                    <a:pt x="30" y="33"/>
                    <a:pt x="30" y="33"/>
                  </a:cubicBezTo>
                  <a:cubicBezTo>
                    <a:pt x="29" y="30"/>
                    <a:pt x="29" y="30"/>
                    <a:pt x="29" y="30"/>
                  </a:cubicBezTo>
                  <a:cubicBezTo>
                    <a:pt x="26" y="25"/>
                    <a:pt x="26" y="25"/>
                    <a:pt x="26" y="25"/>
                  </a:cubicBezTo>
                  <a:cubicBezTo>
                    <a:pt x="34" y="25"/>
                    <a:pt x="34" y="25"/>
                    <a:pt x="34" y="25"/>
                  </a:cubicBezTo>
                  <a:cubicBezTo>
                    <a:pt x="39" y="23"/>
                    <a:pt x="39" y="23"/>
                    <a:pt x="39" y="23"/>
                  </a:cubicBezTo>
                  <a:cubicBezTo>
                    <a:pt x="38" y="21"/>
                    <a:pt x="38" y="21"/>
                    <a:pt x="38" y="21"/>
                  </a:cubicBezTo>
                </a:path>
              </a:pathLst>
            </a:custGeom>
            <a:grpFill/>
            <a:ln w="9525">
              <a:solidFill>
                <a:schemeClr val="bg2">
                  <a:lumMod val="50000"/>
                </a:schemeClr>
              </a:solidFill>
              <a:round/>
              <a:headEnd/>
              <a:tailEnd/>
            </a:ln>
          </p:spPr>
          <p:txBody>
            <a:bodyPr/>
            <a:lstStyle/>
            <a:p>
              <a:endParaRPr lang="en-US" dirty="0"/>
            </a:p>
          </p:txBody>
        </p:sp>
        <p:sp>
          <p:nvSpPr>
            <p:cNvPr id="189" name="Freeform 421"/>
            <p:cNvSpPr>
              <a:spLocks/>
            </p:cNvSpPr>
            <p:nvPr/>
          </p:nvSpPr>
          <p:spPr bwMode="gray">
            <a:xfrm>
              <a:off x="3157703" y="4112918"/>
              <a:ext cx="113681" cy="120427"/>
            </a:xfrm>
            <a:custGeom>
              <a:avLst/>
              <a:gdLst>
                <a:gd name="T0" fmla="*/ 2147483647 w 102"/>
                <a:gd name="T1" fmla="*/ 2147483647 h 114"/>
                <a:gd name="T2" fmla="*/ 2147483647 w 102"/>
                <a:gd name="T3" fmla="*/ 2147483647 h 114"/>
                <a:gd name="T4" fmla="*/ 2147483647 w 102"/>
                <a:gd name="T5" fmla="*/ 2147483647 h 114"/>
                <a:gd name="T6" fmla="*/ 2147483647 w 102"/>
                <a:gd name="T7" fmla="*/ 2147483647 h 114"/>
                <a:gd name="T8" fmla="*/ 2147483647 w 102"/>
                <a:gd name="T9" fmla="*/ 2147483647 h 114"/>
                <a:gd name="T10" fmla="*/ 2147483647 w 102"/>
                <a:gd name="T11" fmla="*/ 2147483647 h 114"/>
                <a:gd name="T12" fmla="*/ 2147483647 w 102"/>
                <a:gd name="T13" fmla="*/ 0 h 114"/>
                <a:gd name="T14" fmla="*/ 2147483647 w 102"/>
                <a:gd name="T15" fmla="*/ 2147483647 h 114"/>
                <a:gd name="T16" fmla="*/ 0 w 102"/>
                <a:gd name="T17" fmla="*/ 2147483647 h 114"/>
                <a:gd name="T18" fmla="*/ 2147483647 w 102"/>
                <a:gd name="T19" fmla="*/ 2147483647 h 114"/>
                <a:gd name="T20" fmla="*/ 0 w 102"/>
                <a:gd name="T21" fmla="*/ 2147483647 h 114"/>
                <a:gd name="T22" fmla="*/ 2147483647 w 102"/>
                <a:gd name="T23" fmla="*/ 2147483647 h 114"/>
                <a:gd name="T24" fmla="*/ 2147483647 w 102"/>
                <a:gd name="T25" fmla="*/ 2147483647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14">
                  <a:moveTo>
                    <a:pt x="24" y="114"/>
                  </a:moveTo>
                  <a:lnTo>
                    <a:pt x="48" y="90"/>
                  </a:lnTo>
                  <a:lnTo>
                    <a:pt x="66" y="84"/>
                  </a:lnTo>
                  <a:lnTo>
                    <a:pt x="90" y="60"/>
                  </a:lnTo>
                  <a:lnTo>
                    <a:pt x="102" y="36"/>
                  </a:lnTo>
                  <a:lnTo>
                    <a:pt x="78" y="18"/>
                  </a:lnTo>
                  <a:lnTo>
                    <a:pt x="30" y="0"/>
                  </a:lnTo>
                  <a:lnTo>
                    <a:pt x="24" y="12"/>
                  </a:lnTo>
                  <a:lnTo>
                    <a:pt x="0" y="66"/>
                  </a:lnTo>
                  <a:lnTo>
                    <a:pt x="12" y="90"/>
                  </a:lnTo>
                  <a:lnTo>
                    <a:pt x="0" y="96"/>
                  </a:lnTo>
                  <a:lnTo>
                    <a:pt x="6" y="108"/>
                  </a:lnTo>
                  <a:lnTo>
                    <a:pt x="24" y="114"/>
                  </a:lnTo>
                  <a:close/>
                </a:path>
              </a:pathLst>
            </a:custGeom>
            <a:grpFill/>
            <a:ln w="9525">
              <a:solidFill>
                <a:schemeClr val="bg2">
                  <a:lumMod val="50000"/>
                </a:schemeClr>
              </a:solidFill>
              <a:round/>
              <a:headEnd/>
              <a:tailEnd/>
            </a:ln>
          </p:spPr>
          <p:txBody>
            <a:bodyPr/>
            <a:lstStyle/>
            <a:p>
              <a:endParaRPr lang="en-US" dirty="0"/>
            </a:p>
          </p:txBody>
        </p:sp>
        <p:sp>
          <p:nvSpPr>
            <p:cNvPr id="190" name="Freeform 263"/>
            <p:cNvSpPr>
              <a:spLocks/>
            </p:cNvSpPr>
            <p:nvPr/>
          </p:nvSpPr>
          <p:spPr bwMode="gray">
            <a:xfrm>
              <a:off x="5151783" y="2772853"/>
              <a:ext cx="41460" cy="78149"/>
            </a:xfrm>
            <a:custGeom>
              <a:avLst/>
              <a:gdLst>
                <a:gd name="T0" fmla="*/ 1 w 429209"/>
                <a:gd name="T1" fmla="*/ 16 h 839755"/>
                <a:gd name="T2" fmla="*/ 1 w 429209"/>
                <a:gd name="T3" fmla="*/ 11 h 839755"/>
                <a:gd name="T4" fmla="*/ 0 w 429209"/>
                <a:gd name="T5" fmla="*/ 11 h 839755"/>
                <a:gd name="T6" fmla="*/ 2 w 429209"/>
                <a:gd name="T7" fmla="*/ 3 h 839755"/>
                <a:gd name="T8" fmla="*/ 5 w 429209"/>
                <a:gd name="T9" fmla="*/ 3 h 839755"/>
                <a:gd name="T10" fmla="*/ 8 w 429209"/>
                <a:gd name="T11" fmla="*/ 0 h 839755"/>
                <a:gd name="T12" fmla="*/ 8 w 429209"/>
                <a:gd name="T13" fmla="*/ 5 h 839755"/>
                <a:gd name="T14" fmla="*/ 8 w 429209"/>
                <a:gd name="T15" fmla="*/ 8 h 839755"/>
                <a:gd name="T16" fmla="*/ 4 w 429209"/>
                <a:gd name="T17" fmla="*/ 13 h 839755"/>
                <a:gd name="T18" fmla="*/ 4 w 429209"/>
                <a:gd name="T19" fmla="*/ 17 h 839755"/>
                <a:gd name="T20" fmla="*/ 2 w 429209"/>
                <a:gd name="T21" fmla="*/ 16 h 839755"/>
                <a:gd name="T22" fmla="*/ 1 w 429209"/>
                <a:gd name="T23" fmla="*/ 16 h 8397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29209" h="839755">
                  <a:moveTo>
                    <a:pt x="53214" y="797282"/>
                  </a:moveTo>
                  <a:cubicBezTo>
                    <a:pt x="54137" y="718133"/>
                    <a:pt x="55061" y="638985"/>
                    <a:pt x="55984" y="559836"/>
                  </a:cubicBezTo>
                  <a:lnTo>
                    <a:pt x="0" y="522514"/>
                  </a:lnTo>
                  <a:lnTo>
                    <a:pt x="111968" y="130628"/>
                  </a:lnTo>
                  <a:lnTo>
                    <a:pt x="261258" y="130628"/>
                  </a:lnTo>
                  <a:lnTo>
                    <a:pt x="391886" y="0"/>
                  </a:lnTo>
                  <a:lnTo>
                    <a:pt x="410547" y="261257"/>
                  </a:lnTo>
                  <a:lnTo>
                    <a:pt x="429209" y="410547"/>
                  </a:lnTo>
                  <a:lnTo>
                    <a:pt x="223935" y="634481"/>
                  </a:lnTo>
                  <a:lnTo>
                    <a:pt x="223935" y="839755"/>
                  </a:lnTo>
                  <a:lnTo>
                    <a:pt x="111968" y="783771"/>
                  </a:lnTo>
                  <a:lnTo>
                    <a:pt x="53214" y="797282"/>
                  </a:lnTo>
                  <a:close/>
                </a:path>
              </a:pathLst>
            </a:custGeom>
            <a:grpFill/>
            <a:ln w="9525">
              <a:solidFill>
                <a:schemeClr val="bg2">
                  <a:lumMod val="50000"/>
                </a:schemeClr>
              </a:solidFill>
              <a:round/>
              <a:headEnd/>
              <a:tailEnd/>
            </a:ln>
          </p:spPr>
          <p:txBody>
            <a:bodyPr/>
            <a:lstStyle/>
            <a:p>
              <a:endParaRPr lang="en-US" dirty="0"/>
            </a:p>
          </p:txBody>
        </p:sp>
        <p:sp>
          <p:nvSpPr>
            <p:cNvPr id="191" name="Freeform 295"/>
            <p:cNvSpPr>
              <a:spLocks/>
            </p:cNvSpPr>
            <p:nvPr/>
          </p:nvSpPr>
          <p:spPr bwMode="gray">
            <a:xfrm>
              <a:off x="6215025" y="3326303"/>
              <a:ext cx="369126" cy="336938"/>
            </a:xfrm>
            <a:custGeom>
              <a:avLst/>
              <a:gdLst>
                <a:gd name="T0" fmla="*/ 466397904 w 10944"/>
                <a:gd name="T1" fmla="*/ 611944579 h 10652"/>
                <a:gd name="T2" fmla="*/ 517357383 w 10944"/>
                <a:gd name="T3" fmla="*/ 582817865 h 10652"/>
                <a:gd name="T4" fmla="*/ 462547877 w 10944"/>
                <a:gd name="T5" fmla="*/ 488039035 h 10652"/>
                <a:gd name="T6" fmla="*/ 473072204 w 10944"/>
                <a:gd name="T7" fmla="*/ 451330707 h 10652"/>
                <a:gd name="T8" fmla="*/ 492840160 w 10944"/>
                <a:gd name="T9" fmla="*/ 428221700 h 10652"/>
                <a:gd name="T10" fmla="*/ 543863776 w 10944"/>
                <a:gd name="T11" fmla="*/ 423588226 h 10652"/>
                <a:gd name="T12" fmla="*/ 607658881 w 10944"/>
                <a:gd name="T13" fmla="*/ 305580529 h 10652"/>
                <a:gd name="T14" fmla="*/ 642894364 w 10944"/>
                <a:gd name="T15" fmla="*/ 229636695 h 10652"/>
                <a:gd name="T16" fmla="*/ 664587393 w 10944"/>
                <a:gd name="T17" fmla="*/ 152068986 h 10652"/>
                <a:gd name="T18" fmla="*/ 623382877 w 10944"/>
                <a:gd name="T19" fmla="*/ 124868816 h 10652"/>
                <a:gd name="T20" fmla="*/ 628260338 w 10944"/>
                <a:gd name="T21" fmla="*/ 67939730 h 10652"/>
                <a:gd name="T22" fmla="*/ 699372476 w 10944"/>
                <a:gd name="T23" fmla="*/ 50969780 h 10652"/>
                <a:gd name="T24" fmla="*/ 686216285 w 10944"/>
                <a:gd name="T25" fmla="*/ 28103512 h 10652"/>
                <a:gd name="T26" fmla="*/ 656821561 w 10944"/>
                <a:gd name="T27" fmla="*/ 10771002 h 10652"/>
                <a:gd name="T28" fmla="*/ 619082409 w 10944"/>
                <a:gd name="T29" fmla="*/ 59930 h 10652"/>
                <a:gd name="T30" fmla="*/ 538858041 w 10944"/>
                <a:gd name="T31" fmla="*/ 14261453 h 10652"/>
                <a:gd name="T32" fmla="*/ 499836628 w 10944"/>
                <a:gd name="T33" fmla="*/ 15826966 h 10652"/>
                <a:gd name="T34" fmla="*/ 454782044 w 10944"/>
                <a:gd name="T35" fmla="*/ 34482211 h 10652"/>
                <a:gd name="T36" fmla="*/ 444961383 w 10944"/>
                <a:gd name="T37" fmla="*/ 97668646 h 10652"/>
                <a:gd name="T38" fmla="*/ 444961383 w 10944"/>
                <a:gd name="T39" fmla="*/ 124868816 h 10652"/>
                <a:gd name="T40" fmla="*/ 431162420 w 10944"/>
                <a:gd name="T41" fmla="*/ 138468137 h 10652"/>
                <a:gd name="T42" fmla="*/ 415566658 w 10944"/>
                <a:gd name="T43" fmla="*/ 185586397 h 10652"/>
                <a:gd name="T44" fmla="*/ 335085862 w 10944"/>
                <a:gd name="T45" fmla="*/ 220309818 h 10652"/>
                <a:gd name="T46" fmla="*/ 293945443 w 10944"/>
                <a:gd name="T47" fmla="*/ 247509987 h 10652"/>
                <a:gd name="T48" fmla="*/ 252678431 w 10944"/>
                <a:gd name="T49" fmla="*/ 301609187 h 10652"/>
                <a:gd name="T50" fmla="*/ 170399193 w 10944"/>
                <a:gd name="T51" fmla="*/ 315630998 h 10652"/>
                <a:gd name="T52" fmla="*/ 91072464 w 10944"/>
                <a:gd name="T53" fmla="*/ 376711138 h 10652"/>
                <a:gd name="T54" fmla="*/ 10846495 w 10944"/>
                <a:gd name="T55" fmla="*/ 372979477 h 10652"/>
                <a:gd name="T56" fmla="*/ 44990446 w 10944"/>
                <a:gd name="T57" fmla="*/ 421723141 h 10652"/>
                <a:gd name="T58" fmla="*/ 85423996 w 10944"/>
                <a:gd name="T59" fmla="*/ 440739456 h 10652"/>
                <a:gd name="T60" fmla="*/ 86515528 w 10944"/>
                <a:gd name="T61" fmla="*/ 460296554 h 10652"/>
                <a:gd name="T62" fmla="*/ 88055899 w 10944"/>
                <a:gd name="T63" fmla="*/ 479133079 h 10652"/>
                <a:gd name="T64" fmla="*/ 65014870 w 10944"/>
                <a:gd name="T65" fmla="*/ 489483159 h 10652"/>
                <a:gd name="T66" fmla="*/ 20665555 w 10944"/>
                <a:gd name="T67" fmla="*/ 524205012 h 10652"/>
                <a:gd name="T68" fmla="*/ 30035855 w 10944"/>
                <a:gd name="T69" fmla="*/ 552488275 h 10652"/>
                <a:gd name="T70" fmla="*/ 392783739 w 10944"/>
                <a:gd name="T71" fmla="*/ 641009795 h 10652"/>
                <a:gd name="T72" fmla="*/ 409535130 w 10944"/>
                <a:gd name="T73" fmla="*/ 632103879 h 10652"/>
                <a:gd name="T74" fmla="*/ 466397904 w 10944"/>
                <a:gd name="T75" fmla="*/ 611944579 h 106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944" h="10652">
                  <a:moveTo>
                    <a:pt x="7267" y="10169"/>
                  </a:moveTo>
                  <a:cubicBezTo>
                    <a:pt x="7552" y="10018"/>
                    <a:pt x="8071" y="10028"/>
                    <a:pt x="8061" y="9685"/>
                  </a:cubicBezTo>
                  <a:cubicBezTo>
                    <a:pt x="8051" y="9342"/>
                    <a:pt x="7322" y="8474"/>
                    <a:pt x="7207" y="8110"/>
                  </a:cubicBezTo>
                  <a:cubicBezTo>
                    <a:pt x="7092" y="7746"/>
                    <a:pt x="7292" y="7666"/>
                    <a:pt x="7371" y="7500"/>
                  </a:cubicBezTo>
                  <a:cubicBezTo>
                    <a:pt x="7450" y="7334"/>
                    <a:pt x="7495" y="7193"/>
                    <a:pt x="7679" y="7116"/>
                  </a:cubicBezTo>
                  <a:cubicBezTo>
                    <a:pt x="7863" y="7039"/>
                    <a:pt x="8176" y="7379"/>
                    <a:pt x="8474" y="7039"/>
                  </a:cubicBezTo>
                  <a:cubicBezTo>
                    <a:pt x="8772" y="6699"/>
                    <a:pt x="9211" y="5615"/>
                    <a:pt x="9468" y="5078"/>
                  </a:cubicBezTo>
                  <a:cubicBezTo>
                    <a:pt x="9725" y="4541"/>
                    <a:pt x="9869" y="4241"/>
                    <a:pt x="10017" y="3816"/>
                  </a:cubicBezTo>
                  <a:cubicBezTo>
                    <a:pt x="10165" y="3391"/>
                    <a:pt x="10406" y="2817"/>
                    <a:pt x="10355" y="2527"/>
                  </a:cubicBezTo>
                  <a:cubicBezTo>
                    <a:pt x="10304" y="2237"/>
                    <a:pt x="9687" y="2325"/>
                    <a:pt x="9713" y="2075"/>
                  </a:cubicBezTo>
                  <a:cubicBezTo>
                    <a:pt x="9740" y="1811"/>
                    <a:pt x="9649" y="1164"/>
                    <a:pt x="9789" y="1129"/>
                  </a:cubicBezTo>
                  <a:cubicBezTo>
                    <a:pt x="10290" y="1004"/>
                    <a:pt x="10747" y="957"/>
                    <a:pt x="10897" y="847"/>
                  </a:cubicBezTo>
                  <a:cubicBezTo>
                    <a:pt x="11047" y="737"/>
                    <a:pt x="10802" y="578"/>
                    <a:pt x="10692" y="467"/>
                  </a:cubicBezTo>
                  <a:cubicBezTo>
                    <a:pt x="10582" y="356"/>
                    <a:pt x="10409" y="257"/>
                    <a:pt x="10234" y="179"/>
                  </a:cubicBezTo>
                  <a:cubicBezTo>
                    <a:pt x="10060" y="102"/>
                    <a:pt x="9954" y="-9"/>
                    <a:pt x="9646" y="1"/>
                  </a:cubicBezTo>
                  <a:cubicBezTo>
                    <a:pt x="9341" y="11"/>
                    <a:pt x="8705" y="193"/>
                    <a:pt x="8396" y="237"/>
                  </a:cubicBezTo>
                  <a:cubicBezTo>
                    <a:pt x="8087" y="279"/>
                    <a:pt x="8007" y="208"/>
                    <a:pt x="7788" y="263"/>
                  </a:cubicBezTo>
                  <a:cubicBezTo>
                    <a:pt x="7570" y="320"/>
                    <a:pt x="7301" y="573"/>
                    <a:pt x="7086" y="573"/>
                  </a:cubicBezTo>
                  <a:cubicBezTo>
                    <a:pt x="7035" y="922"/>
                    <a:pt x="6959" y="1372"/>
                    <a:pt x="6933" y="1623"/>
                  </a:cubicBezTo>
                  <a:cubicBezTo>
                    <a:pt x="6907" y="1873"/>
                    <a:pt x="6933" y="1924"/>
                    <a:pt x="6933" y="2075"/>
                  </a:cubicBezTo>
                  <a:cubicBezTo>
                    <a:pt x="6861" y="2150"/>
                    <a:pt x="6794" y="2133"/>
                    <a:pt x="6718" y="2301"/>
                  </a:cubicBezTo>
                  <a:cubicBezTo>
                    <a:pt x="6642" y="2469"/>
                    <a:pt x="6556" y="2823"/>
                    <a:pt x="6475" y="3084"/>
                  </a:cubicBezTo>
                  <a:cubicBezTo>
                    <a:pt x="6475" y="3084"/>
                    <a:pt x="5537" y="3490"/>
                    <a:pt x="5221" y="3661"/>
                  </a:cubicBezTo>
                  <a:cubicBezTo>
                    <a:pt x="4905" y="3832"/>
                    <a:pt x="4793" y="3888"/>
                    <a:pt x="4580" y="4113"/>
                  </a:cubicBezTo>
                  <a:cubicBezTo>
                    <a:pt x="4366" y="4338"/>
                    <a:pt x="3937" y="5012"/>
                    <a:pt x="3937" y="5012"/>
                  </a:cubicBezTo>
                  <a:cubicBezTo>
                    <a:pt x="3937" y="5012"/>
                    <a:pt x="3074" y="5037"/>
                    <a:pt x="2655" y="5245"/>
                  </a:cubicBezTo>
                  <a:cubicBezTo>
                    <a:pt x="2236" y="5453"/>
                    <a:pt x="1833" y="6101"/>
                    <a:pt x="1419" y="6260"/>
                  </a:cubicBezTo>
                  <a:cubicBezTo>
                    <a:pt x="1005" y="6419"/>
                    <a:pt x="289" y="6073"/>
                    <a:pt x="169" y="6198"/>
                  </a:cubicBezTo>
                  <a:cubicBezTo>
                    <a:pt x="49" y="6323"/>
                    <a:pt x="507" y="6820"/>
                    <a:pt x="701" y="7008"/>
                  </a:cubicBezTo>
                  <a:cubicBezTo>
                    <a:pt x="895" y="7196"/>
                    <a:pt x="1223" y="7217"/>
                    <a:pt x="1331" y="7324"/>
                  </a:cubicBezTo>
                  <a:cubicBezTo>
                    <a:pt x="1439" y="7431"/>
                    <a:pt x="1341" y="7543"/>
                    <a:pt x="1348" y="7649"/>
                  </a:cubicBezTo>
                  <a:cubicBezTo>
                    <a:pt x="1355" y="7755"/>
                    <a:pt x="1428" y="7881"/>
                    <a:pt x="1372" y="7962"/>
                  </a:cubicBezTo>
                  <a:cubicBezTo>
                    <a:pt x="1316" y="8043"/>
                    <a:pt x="1188" y="8009"/>
                    <a:pt x="1013" y="8134"/>
                  </a:cubicBezTo>
                  <a:cubicBezTo>
                    <a:pt x="838" y="8259"/>
                    <a:pt x="295" y="8195"/>
                    <a:pt x="322" y="8711"/>
                  </a:cubicBezTo>
                  <a:cubicBezTo>
                    <a:pt x="331" y="8882"/>
                    <a:pt x="-498" y="8858"/>
                    <a:pt x="468" y="9181"/>
                  </a:cubicBezTo>
                  <a:cubicBezTo>
                    <a:pt x="1434" y="9504"/>
                    <a:pt x="5678" y="9982"/>
                    <a:pt x="6120" y="10652"/>
                  </a:cubicBezTo>
                  <a:lnTo>
                    <a:pt x="6381" y="10504"/>
                  </a:lnTo>
                  <a:lnTo>
                    <a:pt x="7267" y="10169"/>
                  </a:lnTo>
                  <a:close/>
                </a:path>
              </a:pathLst>
            </a:custGeom>
            <a:grpFill/>
            <a:ln w="9525">
              <a:solidFill>
                <a:schemeClr val="bg2">
                  <a:lumMod val="50000"/>
                </a:schemeClr>
              </a:solidFill>
              <a:round/>
              <a:headEnd/>
              <a:tailEnd/>
            </a:ln>
          </p:spPr>
          <p:txBody>
            <a:bodyPr/>
            <a:lstStyle/>
            <a:p>
              <a:endParaRPr lang="en-US" dirty="0"/>
            </a:p>
          </p:txBody>
        </p:sp>
        <p:sp>
          <p:nvSpPr>
            <p:cNvPr id="192" name="Freeform 296"/>
            <p:cNvSpPr>
              <a:spLocks/>
            </p:cNvSpPr>
            <p:nvPr/>
          </p:nvSpPr>
          <p:spPr bwMode="gray">
            <a:xfrm>
              <a:off x="6420986" y="3337691"/>
              <a:ext cx="615209" cy="711169"/>
            </a:xfrm>
            <a:custGeom>
              <a:avLst/>
              <a:gdLst>
                <a:gd name="T0" fmla="*/ 639173 w 10736"/>
                <a:gd name="T1" fmla="*/ 413856 h 10000"/>
                <a:gd name="T2" fmla="*/ 649104 w 10736"/>
                <a:gd name="T3" fmla="*/ 463284 h 10000"/>
                <a:gd name="T4" fmla="*/ 730250 w 10736"/>
                <a:gd name="T5" fmla="*/ 360688 h 10000"/>
                <a:gd name="T6" fmla="*/ 720523 w 10736"/>
                <a:gd name="T7" fmla="*/ 301019 h 10000"/>
                <a:gd name="T8" fmla="*/ 683929 w 10736"/>
                <a:gd name="T9" fmla="*/ 248474 h 10000"/>
                <a:gd name="T10" fmla="*/ 617271 w 10736"/>
                <a:gd name="T11" fmla="*/ 226209 h 10000"/>
                <a:gd name="T12" fmla="*/ 598089 w 10736"/>
                <a:gd name="T13" fmla="*/ 287927 h 10000"/>
                <a:gd name="T14" fmla="*/ 573875 w 10736"/>
                <a:gd name="T15" fmla="*/ 308054 h 10000"/>
                <a:gd name="T16" fmla="*/ 561971 w 10736"/>
                <a:gd name="T17" fmla="*/ 280446 h 10000"/>
                <a:gd name="T18" fmla="*/ 493408 w 10736"/>
                <a:gd name="T19" fmla="*/ 280713 h 10000"/>
                <a:gd name="T20" fmla="*/ 463072 w 10736"/>
                <a:gd name="T21" fmla="*/ 308856 h 10000"/>
                <a:gd name="T22" fmla="*/ 417499 w 10736"/>
                <a:gd name="T23" fmla="*/ 299505 h 10000"/>
                <a:gd name="T24" fmla="*/ 288400 w 10736"/>
                <a:gd name="T25" fmla="*/ 243309 h 10000"/>
                <a:gd name="T26" fmla="*/ 273232 w 10736"/>
                <a:gd name="T27" fmla="*/ 168410 h 10000"/>
                <a:gd name="T28" fmla="*/ 273232 w 10736"/>
                <a:gd name="T29" fmla="*/ 102952 h 10000"/>
                <a:gd name="T30" fmla="*/ 287924 w 10736"/>
                <a:gd name="T31" fmla="*/ 53524 h 10000"/>
                <a:gd name="T32" fmla="*/ 242895 w 10736"/>
                <a:gd name="T33" fmla="*/ 0 h 10000"/>
                <a:gd name="T34" fmla="*/ 220109 w 10736"/>
                <a:gd name="T35" fmla="*/ 9351 h 10000"/>
                <a:gd name="T36" fmla="*/ 144200 w 10736"/>
                <a:gd name="T37" fmla="*/ 37405 h 10000"/>
                <a:gd name="T38" fmla="*/ 166986 w 10736"/>
                <a:gd name="T39" fmla="*/ 102952 h 10000"/>
                <a:gd name="T40" fmla="*/ 136650 w 10736"/>
                <a:gd name="T41" fmla="*/ 187202 h 10000"/>
                <a:gd name="T42" fmla="*/ 60741 w 10736"/>
                <a:gd name="T43" fmla="*/ 271362 h 10000"/>
                <a:gd name="T44" fmla="*/ 53123 w 10736"/>
                <a:gd name="T45" fmla="*/ 336909 h 10000"/>
                <a:gd name="T46" fmla="*/ 45573 w 10736"/>
                <a:gd name="T47" fmla="*/ 393016 h 10000"/>
                <a:gd name="T48" fmla="*/ 0 w 10736"/>
                <a:gd name="T49" fmla="*/ 411719 h 10000"/>
                <a:gd name="T50" fmla="*/ 53123 w 10736"/>
                <a:gd name="T51" fmla="*/ 495968 h 10000"/>
                <a:gd name="T52" fmla="*/ 113795 w 10736"/>
                <a:gd name="T53" fmla="*/ 636325 h 10000"/>
                <a:gd name="T54" fmla="*/ 174536 w 10736"/>
                <a:gd name="T55" fmla="*/ 796987 h 10000"/>
                <a:gd name="T56" fmla="*/ 220109 w 10736"/>
                <a:gd name="T57" fmla="*/ 890588 h 10000"/>
                <a:gd name="T58" fmla="*/ 273232 w 10736"/>
                <a:gd name="T59" fmla="*/ 815690 h 10000"/>
                <a:gd name="T60" fmla="*/ 288400 w 10736"/>
                <a:gd name="T61" fmla="*/ 712827 h 10000"/>
                <a:gd name="T62" fmla="*/ 349141 w 10736"/>
                <a:gd name="T63" fmla="*/ 598920 h 10000"/>
                <a:gd name="T64" fmla="*/ 451577 w 10736"/>
                <a:gd name="T65" fmla="*/ 523220 h 10000"/>
                <a:gd name="T66" fmla="*/ 548368 w 10736"/>
                <a:gd name="T67" fmla="*/ 472546 h 10000"/>
                <a:gd name="T68" fmla="*/ 541022 w 10736"/>
                <a:gd name="T69" fmla="*/ 391235 h 10000"/>
                <a:gd name="T70" fmla="*/ 572106 w 10736"/>
                <a:gd name="T71" fmla="*/ 376541 h 100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connsiteX0" fmla="*/ 8784 w 10736"/>
                <a:gd name="connsiteY0" fmla="*/ 4494 h 10022"/>
                <a:gd name="connsiteX1" fmla="*/ 9397 w 10736"/>
                <a:gd name="connsiteY1" fmla="*/ 4669 h 10022"/>
                <a:gd name="connsiteX2" fmla="*/ 9150 w 10736"/>
                <a:gd name="connsiteY2" fmla="*/ 5081 h 10022"/>
                <a:gd name="connsiteX3" fmla="*/ 9543 w 10736"/>
                <a:gd name="connsiteY3" fmla="*/ 5224 h 10022"/>
                <a:gd name="connsiteX4" fmla="*/ 9949 w 10736"/>
                <a:gd name="connsiteY4" fmla="*/ 4592 h 10022"/>
                <a:gd name="connsiteX5" fmla="*/ 10736 w 10736"/>
                <a:gd name="connsiteY5" fmla="*/ 4072 h 10022"/>
                <a:gd name="connsiteX6" fmla="*/ 10429 w 10736"/>
                <a:gd name="connsiteY6" fmla="*/ 4013 h 10022"/>
                <a:gd name="connsiteX7" fmla="*/ 10593 w 10736"/>
                <a:gd name="connsiteY7" fmla="*/ 3402 h 10022"/>
                <a:gd name="connsiteX8" fmla="*/ 10508 w 10736"/>
                <a:gd name="connsiteY8" fmla="*/ 3023 h 10022"/>
                <a:gd name="connsiteX9" fmla="*/ 10055 w 10736"/>
                <a:gd name="connsiteY9" fmla="*/ 2812 h 10022"/>
                <a:gd name="connsiteX10" fmla="*/ 9600 w 10736"/>
                <a:gd name="connsiteY10" fmla="*/ 2566 h 10022"/>
                <a:gd name="connsiteX11" fmla="*/ 9075 w 10736"/>
                <a:gd name="connsiteY11" fmla="*/ 2562 h 10022"/>
                <a:gd name="connsiteX12" fmla="*/ 8247 w 10736"/>
                <a:gd name="connsiteY12" fmla="*/ 3185 h 10022"/>
                <a:gd name="connsiteX13" fmla="*/ 8793 w 10736"/>
                <a:gd name="connsiteY13" fmla="*/ 3255 h 10022"/>
                <a:gd name="connsiteX14" fmla="*/ 8859 w 10736"/>
                <a:gd name="connsiteY14" fmla="*/ 3460 h 10022"/>
                <a:gd name="connsiteX15" fmla="*/ 8437 w 10736"/>
                <a:gd name="connsiteY15" fmla="*/ 3481 h 10022"/>
                <a:gd name="connsiteX16" fmla="*/ 8149 w 10736"/>
                <a:gd name="connsiteY16" fmla="*/ 3362 h 10022"/>
                <a:gd name="connsiteX17" fmla="*/ 8262 w 10736"/>
                <a:gd name="connsiteY17" fmla="*/ 3171 h 10022"/>
                <a:gd name="connsiteX18" fmla="*/ 7715 w 10736"/>
                <a:gd name="connsiteY18" fmla="*/ 3132 h 10022"/>
                <a:gd name="connsiteX19" fmla="*/ 7254 w 10736"/>
                <a:gd name="connsiteY19" fmla="*/ 3174 h 10022"/>
                <a:gd name="connsiteX20" fmla="*/ 7031 w 10736"/>
                <a:gd name="connsiteY20" fmla="*/ 3174 h 10022"/>
                <a:gd name="connsiteX21" fmla="*/ 6808 w 10736"/>
                <a:gd name="connsiteY21" fmla="*/ 3490 h 10022"/>
                <a:gd name="connsiteX22" fmla="*/ 6584 w 10736"/>
                <a:gd name="connsiteY22" fmla="*/ 3490 h 10022"/>
                <a:gd name="connsiteX23" fmla="*/ 6138 w 10736"/>
                <a:gd name="connsiteY23" fmla="*/ 3385 h 10022"/>
                <a:gd name="connsiteX24" fmla="*/ 5357 w 10736"/>
                <a:gd name="connsiteY24" fmla="*/ 3279 h 10022"/>
                <a:gd name="connsiteX25" fmla="*/ 4240 w 10736"/>
                <a:gd name="connsiteY25" fmla="*/ 2754 h 10022"/>
                <a:gd name="connsiteX26" fmla="*/ 4575 w 10736"/>
                <a:gd name="connsiteY26" fmla="*/ 2124 h 10022"/>
                <a:gd name="connsiteX27" fmla="*/ 4017 w 10736"/>
                <a:gd name="connsiteY27" fmla="*/ 1913 h 10022"/>
                <a:gd name="connsiteX28" fmla="*/ 3794 w 10736"/>
                <a:gd name="connsiteY28" fmla="*/ 1493 h 10022"/>
                <a:gd name="connsiteX29" fmla="*/ 4017 w 10736"/>
                <a:gd name="connsiteY29" fmla="*/ 1178 h 10022"/>
                <a:gd name="connsiteX30" fmla="*/ 3974 w 10736"/>
                <a:gd name="connsiteY30" fmla="*/ 916 h 10022"/>
                <a:gd name="connsiteX31" fmla="*/ 4233 w 10736"/>
                <a:gd name="connsiteY31" fmla="*/ 623 h 10022"/>
                <a:gd name="connsiteX32" fmla="*/ 4240 w 10736"/>
                <a:gd name="connsiteY32" fmla="*/ 22 h 10022"/>
                <a:gd name="connsiteX33" fmla="*/ 3571 w 10736"/>
                <a:gd name="connsiteY33" fmla="*/ 22 h 10022"/>
                <a:gd name="connsiteX34" fmla="*/ 3125 w 10736"/>
                <a:gd name="connsiteY34" fmla="*/ 22 h 10022"/>
                <a:gd name="connsiteX35" fmla="*/ 3236 w 10736"/>
                <a:gd name="connsiteY35" fmla="*/ 127 h 10022"/>
                <a:gd name="connsiteX36" fmla="*/ 2392 w 10736"/>
                <a:gd name="connsiteY36" fmla="*/ 0 h 10022"/>
                <a:gd name="connsiteX37" fmla="*/ 2120 w 10736"/>
                <a:gd name="connsiteY37" fmla="*/ 442 h 10022"/>
                <a:gd name="connsiteX38" fmla="*/ 2120 w 10736"/>
                <a:gd name="connsiteY38" fmla="*/ 968 h 10022"/>
                <a:gd name="connsiteX39" fmla="*/ 2455 w 10736"/>
                <a:gd name="connsiteY39" fmla="*/ 1178 h 10022"/>
                <a:gd name="connsiteX40" fmla="*/ 2232 w 10736"/>
                <a:gd name="connsiteY40" fmla="*/ 1703 h 10022"/>
                <a:gd name="connsiteX41" fmla="*/ 2009 w 10736"/>
                <a:gd name="connsiteY41" fmla="*/ 2124 h 10022"/>
                <a:gd name="connsiteX42" fmla="*/ 1339 w 10736"/>
                <a:gd name="connsiteY42" fmla="*/ 3069 h 10022"/>
                <a:gd name="connsiteX43" fmla="*/ 893 w 10736"/>
                <a:gd name="connsiteY43" fmla="*/ 3069 h 10022"/>
                <a:gd name="connsiteX44" fmla="*/ 557 w 10736"/>
                <a:gd name="connsiteY44" fmla="*/ 3385 h 10022"/>
                <a:gd name="connsiteX45" fmla="*/ 781 w 10736"/>
                <a:gd name="connsiteY45" fmla="*/ 3805 h 10022"/>
                <a:gd name="connsiteX46" fmla="*/ 1116 w 10736"/>
                <a:gd name="connsiteY46" fmla="*/ 4225 h 10022"/>
                <a:gd name="connsiteX47" fmla="*/ 670 w 10736"/>
                <a:gd name="connsiteY47" fmla="*/ 4435 h 10022"/>
                <a:gd name="connsiteX48" fmla="*/ 223 w 10736"/>
                <a:gd name="connsiteY48" fmla="*/ 4540 h 10022"/>
                <a:gd name="connsiteX49" fmla="*/ 0 w 10736"/>
                <a:gd name="connsiteY49" fmla="*/ 4645 h 10022"/>
                <a:gd name="connsiteX50" fmla="*/ 446 w 10736"/>
                <a:gd name="connsiteY50" fmla="*/ 5171 h 10022"/>
                <a:gd name="connsiteX51" fmla="*/ 781 w 10736"/>
                <a:gd name="connsiteY51" fmla="*/ 5591 h 10022"/>
                <a:gd name="connsiteX52" fmla="*/ 1450 w 10736"/>
                <a:gd name="connsiteY52" fmla="*/ 5171 h 10022"/>
                <a:gd name="connsiteX53" fmla="*/ 1673 w 10736"/>
                <a:gd name="connsiteY53" fmla="*/ 7167 h 10022"/>
                <a:gd name="connsiteX54" fmla="*/ 2009 w 10736"/>
                <a:gd name="connsiteY54" fmla="*/ 8026 h 10022"/>
                <a:gd name="connsiteX55" fmla="*/ 2566 w 10736"/>
                <a:gd name="connsiteY55" fmla="*/ 8971 h 10022"/>
                <a:gd name="connsiteX56" fmla="*/ 2901 w 10736"/>
                <a:gd name="connsiteY56" fmla="*/ 9497 h 10022"/>
                <a:gd name="connsiteX57" fmla="*/ 3236 w 10736"/>
                <a:gd name="connsiteY57" fmla="*/ 10022 h 10022"/>
                <a:gd name="connsiteX58" fmla="*/ 3571 w 10736"/>
                <a:gd name="connsiteY58" fmla="*/ 9707 h 10022"/>
                <a:gd name="connsiteX59" fmla="*/ 4017 w 10736"/>
                <a:gd name="connsiteY59" fmla="*/ 9181 h 10022"/>
                <a:gd name="connsiteX60" fmla="*/ 4128 w 10736"/>
                <a:gd name="connsiteY60" fmla="*/ 8761 h 10022"/>
                <a:gd name="connsiteX61" fmla="*/ 4240 w 10736"/>
                <a:gd name="connsiteY61" fmla="*/ 8026 h 10022"/>
                <a:gd name="connsiteX62" fmla="*/ 4352 w 10736"/>
                <a:gd name="connsiteY62" fmla="*/ 7378 h 10022"/>
                <a:gd name="connsiteX63" fmla="*/ 5133 w 10736"/>
                <a:gd name="connsiteY63" fmla="*/ 6747 h 10022"/>
                <a:gd name="connsiteX64" fmla="*/ 5915 w 10736"/>
                <a:gd name="connsiteY64" fmla="*/ 6222 h 10022"/>
                <a:gd name="connsiteX65" fmla="*/ 6639 w 10736"/>
                <a:gd name="connsiteY65" fmla="*/ 5897 h 10022"/>
                <a:gd name="connsiteX66" fmla="*/ 7176 w 10736"/>
                <a:gd name="connsiteY66" fmla="*/ 5372 h 10022"/>
                <a:gd name="connsiteX67" fmla="*/ 8062 w 10736"/>
                <a:gd name="connsiteY67" fmla="*/ 5328 h 10022"/>
                <a:gd name="connsiteX68" fmla="*/ 7861 w 10736"/>
                <a:gd name="connsiteY68" fmla="*/ 4606 h 10022"/>
                <a:gd name="connsiteX69" fmla="*/ 7954 w 10736"/>
                <a:gd name="connsiteY69" fmla="*/ 4415 h 10022"/>
                <a:gd name="connsiteX70" fmla="*/ 8087 w 10736"/>
                <a:gd name="connsiteY70" fmla="*/ 4257 h 10022"/>
                <a:gd name="connsiteX71" fmla="*/ 8411 w 10736"/>
                <a:gd name="connsiteY71" fmla="*/ 4250 h 10022"/>
                <a:gd name="connsiteX72" fmla="*/ 8784 w 10736"/>
                <a:gd name="connsiteY72" fmla="*/ 4494 h 10022"/>
                <a:gd name="connsiteX0" fmla="*/ 8784 w 10736"/>
                <a:gd name="connsiteY0" fmla="*/ 4593 h 10121"/>
                <a:gd name="connsiteX1" fmla="*/ 9397 w 10736"/>
                <a:gd name="connsiteY1" fmla="*/ 4768 h 10121"/>
                <a:gd name="connsiteX2" fmla="*/ 9150 w 10736"/>
                <a:gd name="connsiteY2" fmla="*/ 5180 h 10121"/>
                <a:gd name="connsiteX3" fmla="*/ 9543 w 10736"/>
                <a:gd name="connsiteY3" fmla="*/ 5323 h 10121"/>
                <a:gd name="connsiteX4" fmla="*/ 9949 w 10736"/>
                <a:gd name="connsiteY4" fmla="*/ 4691 h 10121"/>
                <a:gd name="connsiteX5" fmla="*/ 10736 w 10736"/>
                <a:gd name="connsiteY5" fmla="*/ 4171 h 10121"/>
                <a:gd name="connsiteX6" fmla="*/ 10429 w 10736"/>
                <a:gd name="connsiteY6" fmla="*/ 4112 h 10121"/>
                <a:gd name="connsiteX7" fmla="*/ 10593 w 10736"/>
                <a:gd name="connsiteY7" fmla="*/ 3501 h 10121"/>
                <a:gd name="connsiteX8" fmla="*/ 10508 w 10736"/>
                <a:gd name="connsiteY8" fmla="*/ 3122 h 10121"/>
                <a:gd name="connsiteX9" fmla="*/ 10055 w 10736"/>
                <a:gd name="connsiteY9" fmla="*/ 2911 h 10121"/>
                <a:gd name="connsiteX10" fmla="*/ 9600 w 10736"/>
                <a:gd name="connsiteY10" fmla="*/ 2665 h 10121"/>
                <a:gd name="connsiteX11" fmla="*/ 9075 w 10736"/>
                <a:gd name="connsiteY11" fmla="*/ 2661 h 10121"/>
                <a:gd name="connsiteX12" fmla="*/ 8247 w 10736"/>
                <a:gd name="connsiteY12" fmla="*/ 3284 h 10121"/>
                <a:gd name="connsiteX13" fmla="*/ 8793 w 10736"/>
                <a:gd name="connsiteY13" fmla="*/ 3354 h 10121"/>
                <a:gd name="connsiteX14" fmla="*/ 8859 w 10736"/>
                <a:gd name="connsiteY14" fmla="*/ 3559 h 10121"/>
                <a:gd name="connsiteX15" fmla="*/ 8437 w 10736"/>
                <a:gd name="connsiteY15" fmla="*/ 3580 h 10121"/>
                <a:gd name="connsiteX16" fmla="*/ 8149 w 10736"/>
                <a:gd name="connsiteY16" fmla="*/ 3461 h 10121"/>
                <a:gd name="connsiteX17" fmla="*/ 8262 w 10736"/>
                <a:gd name="connsiteY17" fmla="*/ 3270 h 10121"/>
                <a:gd name="connsiteX18" fmla="*/ 7715 w 10736"/>
                <a:gd name="connsiteY18" fmla="*/ 3231 h 10121"/>
                <a:gd name="connsiteX19" fmla="*/ 7254 w 10736"/>
                <a:gd name="connsiteY19" fmla="*/ 3273 h 10121"/>
                <a:gd name="connsiteX20" fmla="*/ 7031 w 10736"/>
                <a:gd name="connsiteY20" fmla="*/ 3273 h 10121"/>
                <a:gd name="connsiteX21" fmla="*/ 6808 w 10736"/>
                <a:gd name="connsiteY21" fmla="*/ 3589 h 10121"/>
                <a:gd name="connsiteX22" fmla="*/ 6584 w 10736"/>
                <a:gd name="connsiteY22" fmla="*/ 3589 h 10121"/>
                <a:gd name="connsiteX23" fmla="*/ 6138 w 10736"/>
                <a:gd name="connsiteY23" fmla="*/ 3484 h 10121"/>
                <a:gd name="connsiteX24" fmla="*/ 5357 w 10736"/>
                <a:gd name="connsiteY24" fmla="*/ 3378 h 10121"/>
                <a:gd name="connsiteX25" fmla="*/ 4240 w 10736"/>
                <a:gd name="connsiteY25" fmla="*/ 2853 h 10121"/>
                <a:gd name="connsiteX26" fmla="*/ 4575 w 10736"/>
                <a:gd name="connsiteY26" fmla="*/ 2223 h 10121"/>
                <a:gd name="connsiteX27" fmla="*/ 4017 w 10736"/>
                <a:gd name="connsiteY27" fmla="*/ 2012 h 10121"/>
                <a:gd name="connsiteX28" fmla="*/ 3794 w 10736"/>
                <a:gd name="connsiteY28" fmla="*/ 1592 h 10121"/>
                <a:gd name="connsiteX29" fmla="*/ 4017 w 10736"/>
                <a:gd name="connsiteY29" fmla="*/ 1277 h 10121"/>
                <a:gd name="connsiteX30" fmla="*/ 3974 w 10736"/>
                <a:gd name="connsiteY30" fmla="*/ 1015 h 10121"/>
                <a:gd name="connsiteX31" fmla="*/ 4233 w 10736"/>
                <a:gd name="connsiteY31" fmla="*/ 722 h 10121"/>
                <a:gd name="connsiteX32" fmla="*/ 4240 w 10736"/>
                <a:gd name="connsiteY32" fmla="*/ 121 h 10121"/>
                <a:gd name="connsiteX33" fmla="*/ 3571 w 10736"/>
                <a:gd name="connsiteY33" fmla="*/ 121 h 10121"/>
                <a:gd name="connsiteX34" fmla="*/ 3125 w 10736"/>
                <a:gd name="connsiteY34" fmla="*/ 121 h 10121"/>
                <a:gd name="connsiteX35" fmla="*/ 3236 w 10736"/>
                <a:gd name="connsiteY35" fmla="*/ 226 h 10121"/>
                <a:gd name="connsiteX36" fmla="*/ 1727 w 10736"/>
                <a:gd name="connsiteY36" fmla="*/ 0 h 10121"/>
                <a:gd name="connsiteX37" fmla="*/ 2120 w 10736"/>
                <a:gd name="connsiteY37" fmla="*/ 541 h 10121"/>
                <a:gd name="connsiteX38" fmla="*/ 2120 w 10736"/>
                <a:gd name="connsiteY38" fmla="*/ 1067 h 10121"/>
                <a:gd name="connsiteX39" fmla="*/ 2455 w 10736"/>
                <a:gd name="connsiteY39" fmla="*/ 1277 h 10121"/>
                <a:gd name="connsiteX40" fmla="*/ 2232 w 10736"/>
                <a:gd name="connsiteY40" fmla="*/ 1802 h 10121"/>
                <a:gd name="connsiteX41" fmla="*/ 2009 w 10736"/>
                <a:gd name="connsiteY41" fmla="*/ 2223 h 10121"/>
                <a:gd name="connsiteX42" fmla="*/ 1339 w 10736"/>
                <a:gd name="connsiteY42" fmla="*/ 3168 h 10121"/>
                <a:gd name="connsiteX43" fmla="*/ 893 w 10736"/>
                <a:gd name="connsiteY43" fmla="*/ 3168 h 10121"/>
                <a:gd name="connsiteX44" fmla="*/ 557 w 10736"/>
                <a:gd name="connsiteY44" fmla="*/ 3484 h 10121"/>
                <a:gd name="connsiteX45" fmla="*/ 781 w 10736"/>
                <a:gd name="connsiteY45" fmla="*/ 3904 h 10121"/>
                <a:gd name="connsiteX46" fmla="*/ 1116 w 10736"/>
                <a:gd name="connsiteY46" fmla="*/ 4324 h 10121"/>
                <a:gd name="connsiteX47" fmla="*/ 670 w 10736"/>
                <a:gd name="connsiteY47" fmla="*/ 4534 h 10121"/>
                <a:gd name="connsiteX48" fmla="*/ 223 w 10736"/>
                <a:gd name="connsiteY48" fmla="*/ 4639 h 10121"/>
                <a:gd name="connsiteX49" fmla="*/ 0 w 10736"/>
                <a:gd name="connsiteY49" fmla="*/ 4744 h 10121"/>
                <a:gd name="connsiteX50" fmla="*/ 446 w 10736"/>
                <a:gd name="connsiteY50" fmla="*/ 5270 h 10121"/>
                <a:gd name="connsiteX51" fmla="*/ 781 w 10736"/>
                <a:gd name="connsiteY51" fmla="*/ 5690 h 10121"/>
                <a:gd name="connsiteX52" fmla="*/ 1450 w 10736"/>
                <a:gd name="connsiteY52" fmla="*/ 5270 h 10121"/>
                <a:gd name="connsiteX53" fmla="*/ 1673 w 10736"/>
                <a:gd name="connsiteY53" fmla="*/ 7266 h 10121"/>
                <a:gd name="connsiteX54" fmla="*/ 2009 w 10736"/>
                <a:gd name="connsiteY54" fmla="*/ 8125 h 10121"/>
                <a:gd name="connsiteX55" fmla="*/ 2566 w 10736"/>
                <a:gd name="connsiteY55" fmla="*/ 9070 h 10121"/>
                <a:gd name="connsiteX56" fmla="*/ 2901 w 10736"/>
                <a:gd name="connsiteY56" fmla="*/ 9596 h 10121"/>
                <a:gd name="connsiteX57" fmla="*/ 3236 w 10736"/>
                <a:gd name="connsiteY57" fmla="*/ 10121 h 10121"/>
                <a:gd name="connsiteX58" fmla="*/ 3571 w 10736"/>
                <a:gd name="connsiteY58" fmla="*/ 9806 h 10121"/>
                <a:gd name="connsiteX59" fmla="*/ 4017 w 10736"/>
                <a:gd name="connsiteY59" fmla="*/ 9280 h 10121"/>
                <a:gd name="connsiteX60" fmla="*/ 4128 w 10736"/>
                <a:gd name="connsiteY60" fmla="*/ 8860 h 10121"/>
                <a:gd name="connsiteX61" fmla="*/ 4240 w 10736"/>
                <a:gd name="connsiteY61" fmla="*/ 8125 h 10121"/>
                <a:gd name="connsiteX62" fmla="*/ 4352 w 10736"/>
                <a:gd name="connsiteY62" fmla="*/ 7477 h 10121"/>
                <a:gd name="connsiteX63" fmla="*/ 5133 w 10736"/>
                <a:gd name="connsiteY63" fmla="*/ 6846 h 10121"/>
                <a:gd name="connsiteX64" fmla="*/ 5915 w 10736"/>
                <a:gd name="connsiteY64" fmla="*/ 6321 h 10121"/>
                <a:gd name="connsiteX65" fmla="*/ 6639 w 10736"/>
                <a:gd name="connsiteY65" fmla="*/ 5996 h 10121"/>
                <a:gd name="connsiteX66" fmla="*/ 7176 w 10736"/>
                <a:gd name="connsiteY66" fmla="*/ 5471 h 10121"/>
                <a:gd name="connsiteX67" fmla="*/ 8062 w 10736"/>
                <a:gd name="connsiteY67" fmla="*/ 5427 h 10121"/>
                <a:gd name="connsiteX68" fmla="*/ 7861 w 10736"/>
                <a:gd name="connsiteY68" fmla="*/ 4705 h 10121"/>
                <a:gd name="connsiteX69" fmla="*/ 7954 w 10736"/>
                <a:gd name="connsiteY69" fmla="*/ 4514 h 10121"/>
                <a:gd name="connsiteX70" fmla="*/ 8087 w 10736"/>
                <a:gd name="connsiteY70" fmla="*/ 4356 h 10121"/>
                <a:gd name="connsiteX71" fmla="*/ 8411 w 10736"/>
                <a:gd name="connsiteY71" fmla="*/ 4349 h 10121"/>
                <a:gd name="connsiteX72" fmla="*/ 8784 w 10736"/>
                <a:gd name="connsiteY72" fmla="*/ 4593 h 10121"/>
                <a:gd name="connsiteX0" fmla="*/ 8784 w 10736"/>
                <a:gd name="connsiteY0" fmla="*/ 4593 h 10121"/>
                <a:gd name="connsiteX1" fmla="*/ 9397 w 10736"/>
                <a:gd name="connsiteY1" fmla="*/ 4768 h 10121"/>
                <a:gd name="connsiteX2" fmla="*/ 9150 w 10736"/>
                <a:gd name="connsiteY2" fmla="*/ 5180 h 10121"/>
                <a:gd name="connsiteX3" fmla="*/ 9543 w 10736"/>
                <a:gd name="connsiteY3" fmla="*/ 5323 h 10121"/>
                <a:gd name="connsiteX4" fmla="*/ 9949 w 10736"/>
                <a:gd name="connsiteY4" fmla="*/ 4691 h 10121"/>
                <a:gd name="connsiteX5" fmla="*/ 10736 w 10736"/>
                <a:gd name="connsiteY5" fmla="*/ 4171 h 10121"/>
                <a:gd name="connsiteX6" fmla="*/ 10429 w 10736"/>
                <a:gd name="connsiteY6" fmla="*/ 4112 h 10121"/>
                <a:gd name="connsiteX7" fmla="*/ 10593 w 10736"/>
                <a:gd name="connsiteY7" fmla="*/ 3501 h 10121"/>
                <a:gd name="connsiteX8" fmla="*/ 10508 w 10736"/>
                <a:gd name="connsiteY8" fmla="*/ 3122 h 10121"/>
                <a:gd name="connsiteX9" fmla="*/ 10055 w 10736"/>
                <a:gd name="connsiteY9" fmla="*/ 2911 h 10121"/>
                <a:gd name="connsiteX10" fmla="*/ 9600 w 10736"/>
                <a:gd name="connsiteY10" fmla="*/ 2665 h 10121"/>
                <a:gd name="connsiteX11" fmla="*/ 9075 w 10736"/>
                <a:gd name="connsiteY11" fmla="*/ 2661 h 10121"/>
                <a:gd name="connsiteX12" fmla="*/ 8247 w 10736"/>
                <a:gd name="connsiteY12" fmla="*/ 3284 h 10121"/>
                <a:gd name="connsiteX13" fmla="*/ 8793 w 10736"/>
                <a:gd name="connsiteY13" fmla="*/ 3354 h 10121"/>
                <a:gd name="connsiteX14" fmla="*/ 8859 w 10736"/>
                <a:gd name="connsiteY14" fmla="*/ 3559 h 10121"/>
                <a:gd name="connsiteX15" fmla="*/ 8437 w 10736"/>
                <a:gd name="connsiteY15" fmla="*/ 3580 h 10121"/>
                <a:gd name="connsiteX16" fmla="*/ 8149 w 10736"/>
                <a:gd name="connsiteY16" fmla="*/ 3461 h 10121"/>
                <a:gd name="connsiteX17" fmla="*/ 8262 w 10736"/>
                <a:gd name="connsiteY17" fmla="*/ 3270 h 10121"/>
                <a:gd name="connsiteX18" fmla="*/ 7715 w 10736"/>
                <a:gd name="connsiteY18" fmla="*/ 3231 h 10121"/>
                <a:gd name="connsiteX19" fmla="*/ 7254 w 10736"/>
                <a:gd name="connsiteY19" fmla="*/ 3273 h 10121"/>
                <a:gd name="connsiteX20" fmla="*/ 7031 w 10736"/>
                <a:gd name="connsiteY20" fmla="*/ 3273 h 10121"/>
                <a:gd name="connsiteX21" fmla="*/ 6808 w 10736"/>
                <a:gd name="connsiteY21" fmla="*/ 3589 h 10121"/>
                <a:gd name="connsiteX22" fmla="*/ 6584 w 10736"/>
                <a:gd name="connsiteY22" fmla="*/ 3589 h 10121"/>
                <a:gd name="connsiteX23" fmla="*/ 6138 w 10736"/>
                <a:gd name="connsiteY23" fmla="*/ 3484 h 10121"/>
                <a:gd name="connsiteX24" fmla="*/ 5357 w 10736"/>
                <a:gd name="connsiteY24" fmla="*/ 3378 h 10121"/>
                <a:gd name="connsiteX25" fmla="*/ 4240 w 10736"/>
                <a:gd name="connsiteY25" fmla="*/ 2853 h 10121"/>
                <a:gd name="connsiteX26" fmla="*/ 4575 w 10736"/>
                <a:gd name="connsiteY26" fmla="*/ 2223 h 10121"/>
                <a:gd name="connsiteX27" fmla="*/ 4017 w 10736"/>
                <a:gd name="connsiteY27" fmla="*/ 2012 h 10121"/>
                <a:gd name="connsiteX28" fmla="*/ 3794 w 10736"/>
                <a:gd name="connsiteY28" fmla="*/ 1592 h 10121"/>
                <a:gd name="connsiteX29" fmla="*/ 4017 w 10736"/>
                <a:gd name="connsiteY29" fmla="*/ 1277 h 10121"/>
                <a:gd name="connsiteX30" fmla="*/ 3974 w 10736"/>
                <a:gd name="connsiteY30" fmla="*/ 1015 h 10121"/>
                <a:gd name="connsiteX31" fmla="*/ 4233 w 10736"/>
                <a:gd name="connsiteY31" fmla="*/ 722 h 10121"/>
                <a:gd name="connsiteX32" fmla="*/ 4240 w 10736"/>
                <a:gd name="connsiteY32" fmla="*/ 121 h 10121"/>
                <a:gd name="connsiteX33" fmla="*/ 3571 w 10736"/>
                <a:gd name="connsiteY33" fmla="*/ 121 h 10121"/>
                <a:gd name="connsiteX34" fmla="*/ 3125 w 10736"/>
                <a:gd name="connsiteY34" fmla="*/ 121 h 10121"/>
                <a:gd name="connsiteX35" fmla="*/ 3236 w 10736"/>
                <a:gd name="connsiteY35" fmla="*/ 226 h 10121"/>
                <a:gd name="connsiteX36" fmla="*/ 1727 w 10736"/>
                <a:gd name="connsiteY36" fmla="*/ 0 h 10121"/>
                <a:gd name="connsiteX37" fmla="*/ 1871 w 10736"/>
                <a:gd name="connsiteY37" fmla="*/ 607 h 10121"/>
                <a:gd name="connsiteX38" fmla="*/ 2120 w 10736"/>
                <a:gd name="connsiteY38" fmla="*/ 1067 h 10121"/>
                <a:gd name="connsiteX39" fmla="*/ 2455 w 10736"/>
                <a:gd name="connsiteY39" fmla="*/ 1277 h 10121"/>
                <a:gd name="connsiteX40" fmla="*/ 2232 w 10736"/>
                <a:gd name="connsiteY40" fmla="*/ 1802 h 10121"/>
                <a:gd name="connsiteX41" fmla="*/ 2009 w 10736"/>
                <a:gd name="connsiteY41" fmla="*/ 2223 h 10121"/>
                <a:gd name="connsiteX42" fmla="*/ 1339 w 10736"/>
                <a:gd name="connsiteY42" fmla="*/ 3168 h 10121"/>
                <a:gd name="connsiteX43" fmla="*/ 893 w 10736"/>
                <a:gd name="connsiteY43" fmla="*/ 3168 h 10121"/>
                <a:gd name="connsiteX44" fmla="*/ 557 w 10736"/>
                <a:gd name="connsiteY44" fmla="*/ 3484 h 10121"/>
                <a:gd name="connsiteX45" fmla="*/ 781 w 10736"/>
                <a:gd name="connsiteY45" fmla="*/ 3904 h 10121"/>
                <a:gd name="connsiteX46" fmla="*/ 1116 w 10736"/>
                <a:gd name="connsiteY46" fmla="*/ 4324 h 10121"/>
                <a:gd name="connsiteX47" fmla="*/ 670 w 10736"/>
                <a:gd name="connsiteY47" fmla="*/ 4534 h 10121"/>
                <a:gd name="connsiteX48" fmla="*/ 223 w 10736"/>
                <a:gd name="connsiteY48" fmla="*/ 4639 h 10121"/>
                <a:gd name="connsiteX49" fmla="*/ 0 w 10736"/>
                <a:gd name="connsiteY49" fmla="*/ 4744 h 10121"/>
                <a:gd name="connsiteX50" fmla="*/ 446 w 10736"/>
                <a:gd name="connsiteY50" fmla="*/ 5270 h 10121"/>
                <a:gd name="connsiteX51" fmla="*/ 781 w 10736"/>
                <a:gd name="connsiteY51" fmla="*/ 5690 h 10121"/>
                <a:gd name="connsiteX52" fmla="*/ 1450 w 10736"/>
                <a:gd name="connsiteY52" fmla="*/ 5270 h 10121"/>
                <a:gd name="connsiteX53" fmla="*/ 1673 w 10736"/>
                <a:gd name="connsiteY53" fmla="*/ 7266 h 10121"/>
                <a:gd name="connsiteX54" fmla="*/ 2009 w 10736"/>
                <a:gd name="connsiteY54" fmla="*/ 8125 h 10121"/>
                <a:gd name="connsiteX55" fmla="*/ 2566 w 10736"/>
                <a:gd name="connsiteY55" fmla="*/ 9070 h 10121"/>
                <a:gd name="connsiteX56" fmla="*/ 2901 w 10736"/>
                <a:gd name="connsiteY56" fmla="*/ 9596 h 10121"/>
                <a:gd name="connsiteX57" fmla="*/ 3236 w 10736"/>
                <a:gd name="connsiteY57" fmla="*/ 10121 h 10121"/>
                <a:gd name="connsiteX58" fmla="*/ 3571 w 10736"/>
                <a:gd name="connsiteY58" fmla="*/ 9806 h 10121"/>
                <a:gd name="connsiteX59" fmla="*/ 4017 w 10736"/>
                <a:gd name="connsiteY59" fmla="*/ 9280 h 10121"/>
                <a:gd name="connsiteX60" fmla="*/ 4128 w 10736"/>
                <a:gd name="connsiteY60" fmla="*/ 8860 h 10121"/>
                <a:gd name="connsiteX61" fmla="*/ 4240 w 10736"/>
                <a:gd name="connsiteY61" fmla="*/ 8125 h 10121"/>
                <a:gd name="connsiteX62" fmla="*/ 4352 w 10736"/>
                <a:gd name="connsiteY62" fmla="*/ 7477 h 10121"/>
                <a:gd name="connsiteX63" fmla="*/ 5133 w 10736"/>
                <a:gd name="connsiteY63" fmla="*/ 6846 h 10121"/>
                <a:gd name="connsiteX64" fmla="*/ 5915 w 10736"/>
                <a:gd name="connsiteY64" fmla="*/ 6321 h 10121"/>
                <a:gd name="connsiteX65" fmla="*/ 6639 w 10736"/>
                <a:gd name="connsiteY65" fmla="*/ 5996 h 10121"/>
                <a:gd name="connsiteX66" fmla="*/ 7176 w 10736"/>
                <a:gd name="connsiteY66" fmla="*/ 5471 h 10121"/>
                <a:gd name="connsiteX67" fmla="*/ 8062 w 10736"/>
                <a:gd name="connsiteY67" fmla="*/ 5427 h 10121"/>
                <a:gd name="connsiteX68" fmla="*/ 7861 w 10736"/>
                <a:gd name="connsiteY68" fmla="*/ 4705 h 10121"/>
                <a:gd name="connsiteX69" fmla="*/ 7954 w 10736"/>
                <a:gd name="connsiteY69" fmla="*/ 4514 h 10121"/>
                <a:gd name="connsiteX70" fmla="*/ 8087 w 10736"/>
                <a:gd name="connsiteY70" fmla="*/ 4356 h 10121"/>
                <a:gd name="connsiteX71" fmla="*/ 8411 w 10736"/>
                <a:gd name="connsiteY71" fmla="*/ 4349 h 10121"/>
                <a:gd name="connsiteX72" fmla="*/ 8784 w 10736"/>
                <a:gd name="connsiteY72" fmla="*/ 4593 h 10121"/>
                <a:gd name="connsiteX0" fmla="*/ 8784 w 10736"/>
                <a:gd name="connsiteY0" fmla="*/ 4472 h 10000"/>
                <a:gd name="connsiteX1" fmla="*/ 9397 w 10736"/>
                <a:gd name="connsiteY1" fmla="*/ 4647 h 10000"/>
                <a:gd name="connsiteX2" fmla="*/ 9150 w 10736"/>
                <a:gd name="connsiteY2" fmla="*/ 5059 h 10000"/>
                <a:gd name="connsiteX3" fmla="*/ 9543 w 10736"/>
                <a:gd name="connsiteY3" fmla="*/ 5202 h 10000"/>
                <a:gd name="connsiteX4" fmla="*/ 9949 w 10736"/>
                <a:gd name="connsiteY4" fmla="*/ 4570 h 10000"/>
                <a:gd name="connsiteX5" fmla="*/ 10736 w 10736"/>
                <a:gd name="connsiteY5" fmla="*/ 4050 h 10000"/>
                <a:gd name="connsiteX6" fmla="*/ 10429 w 10736"/>
                <a:gd name="connsiteY6" fmla="*/ 3991 h 10000"/>
                <a:gd name="connsiteX7" fmla="*/ 10593 w 10736"/>
                <a:gd name="connsiteY7" fmla="*/ 3380 h 10000"/>
                <a:gd name="connsiteX8" fmla="*/ 10508 w 10736"/>
                <a:gd name="connsiteY8" fmla="*/ 3001 h 10000"/>
                <a:gd name="connsiteX9" fmla="*/ 10055 w 10736"/>
                <a:gd name="connsiteY9" fmla="*/ 2790 h 10000"/>
                <a:gd name="connsiteX10" fmla="*/ 9600 w 10736"/>
                <a:gd name="connsiteY10" fmla="*/ 2544 h 10000"/>
                <a:gd name="connsiteX11" fmla="*/ 9075 w 10736"/>
                <a:gd name="connsiteY11" fmla="*/ 2540 h 10000"/>
                <a:gd name="connsiteX12" fmla="*/ 8247 w 10736"/>
                <a:gd name="connsiteY12" fmla="*/ 3163 h 10000"/>
                <a:gd name="connsiteX13" fmla="*/ 8793 w 10736"/>
                <a:gd name="connsiteY13" fmla="*/ 3233 h 10000"/>
                <a:gd name="connsiteX14" fmla="*/ 8859 w 10736"/>
                <a:gd name="connsiteY14" fmla="*/ 3438 h 10000"/>
                <a:gd name="connsiteX15" fmla="*/ 8437 w 10736"/>
                <a:gd name="connsiteY15" fmla="*/ 3459 h 10000"/>
                <a:gd name="connsiteX16" fmla="*/ 8149 w 10736"/>
                <a:gd name="connsiteY16" fmla="*/ 3340 h 10000"/>
                <a:gd name="connsiteX17" fmla="*/ 8262 w 10736"/>
                <a:gd name="connsiteY17" fmla="*/ 3149 h 10000"/>
                <a:gd name="connsiteX18" fmla="*/ 7715 w 10736"/>
                <a:gd name="connsiteY18" fmla="*/ 3110 h 10000"/>
                <a:gd name="connsiteX19" fmla="*/ 7254 w 10736"/>
                <a:gd name="connsiteY19" fmla="*/ 3152 h 10000"/>
                <a:gd name="connsiteX20" fmla="*/ 7031 w 10736"/>
                <a:gd name="connsiteY20" fmla="*/ 3152 h 10000"/>
                <a:gd name="connsiteX21" fmla="*/ 6808 w 10736"/>
                <a:gd name="connsiteY21" fmla="*/ 3468 h 10000"/>
                <a:gd name="connsiteX22" fmla="*/ 6584 w 10736"/>
                <a:gd name="connsiteY22" fmla="*/ 3468 h 10000"/>
                <a:gd name="connsiteX23" fmla="*/ 6138 w 10736"/>
                <a:gd name="connsiteY23" fmla="*/ 3363 h 10000"/>
                <a:gd name="connsiteX24" fmla="*/ 5357 w 10736"/>
                <a:gd name="connsiteY24" fmla="*/ 3257 h 10000"/>
                <a:gd name="connsiteX25" fmla="*/ 4240 w 10736"/>
                <a:gd name="connsiteY25" fmla="*/ 2732 h 10000"/>
                <a:gd name="connsiteX26" fmla="*/ 4575 w 10736"/>
                <a:gd name="connsiteY26" fmla="*/ 2102 h 10000"/>
                <a:gd name="connsiteX27" fmla="*/ 4017 w 10736"/>
                <a:gd name="connsiteY27" fmla="*/ 1891 h 10000"/>
                <a:gd name="connsiteX28" fmla="*/ 3794 w 10736"/>
                <a:gd name="connsiteY28" fmla="*/ 1471 h 10000"/>
                <a:gd name="connsiteX29" fmla="*/ 4017 w 10736"/>
                <a:gd name="connsiteY29" fmla="*/ 1156 h 10000"/>
                <a:gd name="connsiteX30" fmla="*/ 3974 w 10736"/>
                <a:gd name="connsiteY30" fmla="*/ 894 h 10000"/>
                <a:gd name="connsiteX31" fmla="*/ 4233 w 10736"/>
                <a:gd name="connsiteY31" fmla="*/ 601 h 10000"/>
                <a:gd name="connsiteX32" fmla="*/ 4240 w 10736"/>
                <a:gd name="connsiteY32" fmla="*/ 0 h 10000"/>
                <a:gd name="connsiteX33" fmla="*/ 3571 w 10736"/>
                <a:gd name="connsiteY33" fmla="*/ 0 h 10000"/>
                <a:gd name="connsiteX34" fmla="*/ 3125 w 10736"/>
                <a:gd name="connsiteY34" fmla="*/ 0 h 10000"/>
                <a:gd name="connsiteX35" fmla="*/ 3236 w 10736"/>
                <a:gd name="connsiteY35" fmla="*/ 105 h 10000"/>
                <a:gd name="connsiteX36" fmla="*/ 2184 w 10736"/>
                <a:gd name="connsiteY36" fmla="*/ 78 h 10000"/>
                <a:gd name="connsiteX37" fmla="*/ 1871 w 10736"/>
                <a:gd name="connsiteY37" fmla="*/ 486 h 10000"/>
                <a:gd name="connsiteX38" fmla="*/ 2120 w 10736"/>
                <a:gd name="connsiteY38" fmla="*/ 946 h 10000"/>
                <a:gd name="connsiteX39" fmla="*/ 2455 w 10736"/>
                <a:gd name="connsiteY39" fmla="*/ 1156 h 10000"/>
                <a:gd name="connsiteX40" fmla="*/ 2232 w 10736"/>
                <a:gd name="connsiteY40" fmla="*/ 1681 h 10000"/>
                <a:gd name="connsiteX41" fmla="*/ 2009 w 10736"/>
                <a:gd name="connsiteY41" fmla="*/ 2102 h 10000"/>
                <a:gd name="connsiteX42" fmla="*/ 1339 w 10736"/>
                <a:gd name="connsiteY42" fmla="*/ 3047 h 10000"/>
                <a:gd name="connsiteX43" fmla="*/ 893 w 10736"/>
                <a:gd name="connsiteY43" fmla="*/ 3047 h 10000"/>
                <a:gd name="connsiteX44" fmla="*/ 557 w 10736"/>
                <a:gd name="connsiteY44" fmla="*/ 3363 h 10000"/>
                <a:gd name="connsiteX45" fmla="*/ 781 w 10736"/>
                <a:gd name="connsiteY45" fmla="*/ 3783 h 10000"/>
                <a:gd name="connsiteX46" fmla="*/ 1116 w 10736"/>
                <a:gd name="connsiteY46" fmla="*/ 4203 h 10000"/>
                <a:gd name="connsiteX47" fmla="*/ 670 w 10736"/>
                <a:gd name="connsiteY47" fmla="*/ 4413 h 10000"/>
                <a:gd name="connsiteX48" fmla="*/ 223 w 10736"/>
                <a:gd name="connsiteY48" fmla="*/ 4518 h 10000"/>
                <a:gd name="connsiteX49" fmla="*/ 0 w 10736"/>
                <a:gd name="connsiteY49" fmla="*/ 4623 h 10000"/>
                <a:gd name="connsiteX50" fmla="*/ 446 w 10736"/>
                <a:gd name="connsiteY50" fmla="*/ 5149 h 10000"/>
                <a:gd name="connsiteX51" fmla="*/ 781 w 10736"/>
                <a:gd name="connsiteY51" fmla="*/ 5569 h 10000"/>
                <a:gd name="connsiteX52" fmla="*/ 1450 w 10736"/>
                <a:gd name="connsiteY52" fmla="*/ 5149 h 10000"/>
                <a:gd name="connsiteX53" fmla="*/ 1673 w 10736"/>
                <a:gd name="connsiteY53" fmla="*/ 7145 h 10000"/>
                <a:gd name="connsiteX54" fmla="*/ 2009 w 10736"/>
                <a:gd name="connsiteY54" fmla="*/ 8004 h 10000"/>
                <a:gd name="connsiteX55" fmla="*/ 2566 w 10736"/>
                <a:gd name="connsiteY55" fmla="*/ 8949 h 10000"/>
                <a:gd name="connsiteX56" fmla="*/ 2901 w 10736"/>
                <a:gd name="connsiteY56" fmla="*/ 9475 h 10000"/>
                <a:gd name="connsiteX57" fmla="*/ 3236 w 10736"/>
                <a:gd name="connsiteY57" fmla="*/ 10000 h 10000"/>
                <a:gd name="connsiteX58" fmla="*/ 3571 w 10736"/>
                <a:gd name="connsiteY58" fmla="*/ 9685 h 10000"/>
                <a:gd name="connsiteX59" fmla="*/ 4017 w 10736"/>
                <a:gd name="connsiteY59" fmla="*/ 9159 h 10000"/>
                <a:gd name="connsiteX60" fmla="*/ 4128 w 10736"/>
                <a:gd name="connsiteY60" fmla="*/ 8739 h 10000"/>
                <a:gd name="connsiteX61" fmla="*/ 4240 w 10736"/>
                <a:gd name="connsiteY61" fmla="*/ 8004 h 10000"/>
                <a:gd name="connsiteX62" fmla="*/ 4352 w 10736"/>
                <a:gd name="connsiteY62" fmla="*/ 7356 h 10000"/>
                <a:gd name="connsiteX63" fmla="*/ 5133 w 10736"/>
                <a:gd name="connsiteY63" fmla="*/ 6725 h 10000"/>
                <a:gd name="connsiteX64" fmla="*/ 5915 w 10736"/>
                <a:gd name="connsiteY64" fmla="*/ 6200 h 10000"/>
                <a:gd name="connsiteX65" fmla="*/ 6639 w 10736"/>
                <a:gd name="connsiteY65" fmla="*/ 5875 h 10000"/>
                <a:gd name="connsiteX66" fmla="*/ 7176 w 10736"/>
                <a:gd name="connsiteY66" fmla="*/ 5350 h 10000"/>
                <a:gd name="connsiteX67" fmla="*/ 8062 w 10736"/>
                <a:gd name="connsiteY67" fmla="*/ 5306 h 10000"/>
                <a:gd name="connsiteX68" fmla="*/ 7861 w 10736"/>
                <a:gd name="connsiteY68" fmla="*/ 4584 h 10000"/>
                <a:gd name="connsiteX69" fmla="*/ 7954 w 10736"/>
                <a:gd name="connsiteY69" fmla="*/ 4393 h 10000"/>
                <a:gd name="connsiteX70" fmla="*/ 8087 w 10736"/>
                <a:gd name="connsiteY70" fmla="*/ 4235 h 10000"/>
                <a:gd name="connsiteX71" fmla="*/ 8411 w 10736"/>
                <a:gd name="connsiteY71" fmla="*/ 4228 h 10000"/>
                <a:gd name="connsiteX72" fmla="*/ 8784 w 10736"/>
                <a:gd name="connsiteY72" fmla="*/ 4472 h 10000"/>
                <a:gd name="connsiteX0" fmla="*/ 8784 w 10736"/>
                <a:gd name="connsiteY0" fmla="*/ 4665 h 10193"/>
                <a:gd name="connsiteX1" fmla="*/ 9397 w 10736"/>
                <a:gd name="connsiteY1" fmla="*/ 4840 h 10193"/>
                <a:gd name="connsiteX2" fmla="*/ 9150 w 10736"/>
                <a:gd name="connsiteY2" fmla="*/ 5252 h 10193"/>
                <a:gd name="connsiteX3" fmla="*/ 9543 w 10736"/>
                <a:gd name="connsiteY3" fmla="*/ 5395 h 10193"/>
                <a:gd name="connsiteX4" fmla="*/ 9949 w 10736"/>
                <a:gd name="connsiteY4" fmla="*/ 4763 h 10193"/>
                <a:gd name="connsiteX5" fmla="*/ 10736 w 10736"/>
                <a:gd name="connsiteY5" fmla="*/ 4243 h 10193"/>
                <a:gd name="connsiteX6" fmla="*/ 10429 w 10736"/>
                <a:gd name="connsiteY6" fmla="*/ 4184 h 10193"/>
                <a:gd name="connsiteX7" fmla="*/ 10593 w 10736"/>
                <a:gd name="connsiteY7" fmla="*/ 3573 h 10193"/>
                <a:gd name="connsiteX8" fmla="*/ 10508 w 10736"/>
                <a:gd name="connsiteY8" fmla="*/ 3194 h 10193"/>
                <a:gd name="connsiteX9" fmla="*/ 10055 w 10736"/>
                <a:gd name="connsiteY9" fmla="*/ 2983 h 10193"/>
                <a:gd name="connsiteX10" fmla="*/ 9600 w 10736"/>
                <a:gd name="connsiteY10" fmla="*/ 2737 h 10193"/>
                <a:gd name="connsiteX11" fmla="*/ 9075 w 10736"/>
                <a:gd name="connsiteY11" fmla="*/ 2733 h 10193"/>
                <a:gd name="connsiteX12" fmla="*/ 8247 w 10736"/>
                <a:gd name="connsiteY12" fmla="*/ 3356 h 10193"/>
                <a:gd name="connsiteX13" fmla="*/ 8793 w 10736"/>
                <a:gd name="connsiteY13" fmla="*/ 3426 h 10193"/>
                <a:gd name="connsiteX14" fmla="*/ 8859 w 10736"/>
                <a:gd name="connsiteY14" fmla="*/ 3631 h 10193"/>
                <a:gd name="connsiteX15" fmla="*/ 8437 w 10736"/>
                <a:gd name="connsiteY15" fmla="*/ 3652 h 10193"/>
                <a:gd name="connsiteX16" fmla="*/ 8149 w 10736"/>
                <a:gd name="connsiteY16" fmla="*/ 3533 h 10193"/>
                <a:gd name="connsiteX17" fmla="*/ 8262 w 10736"/>
                <a:gd name="connsiteY17" fmla="*/ 3342 h 10193"/>
                <a:gd name="connsiteX18" fmla="*/ 7715 w 10736"/>
                <a:gd name="connsiteY18" fmla="*/ 3303 h 10193"/>
                <a:gd name="connsiteX19" fmla="*/ 7254 w 10736"/>
                <a:gd name="connsiteY19" fmla="*/ 3345 h 10193"/>
                <a:gd name="connsiteX20" fmla="*/ 7031 w 10736"/>
                <a:gd name="connsiteY20" fmla="*/ 3345 h 10193"/>
                <a:gd name="connsiteX21" fmla="*/ 6808 w 10736"/>
                <a:gd name="connsiteY21" fmla="*/ 3661 h 10193"/>
                <a:gd name="connsiteX22" fmla="*/ 6584 w 10736"/>
                <a:gd name="connsiteY22" fmla="*/ 3661 h 10193"/>
                <a:gd name="connsiteX23" fmla="*/ 6138 w 10736"/>
                <a:gd name="connsiteY23" fmla="*/ 3556 h 10193"/>
                <a:gd name="connsiteX24" fmla="*/ 5357 w 10736"/>
                <a:gd name="connsiteY24" fmla="*/ 3450 h 10193"/>
                <a:gd name="connsiteX25" fmla="*/ 4240 w 10736"/>
                <a:gd name="connsiteY25" fmla="*/ 2925 h 10193"/>
                <a:gd name="connsiteX26" fmla="*/ 4575 w 10736"/>
                <a:gd name="connsiteY26" fmla="*/ 2295 h 10193"/>
                <a:gd name="connsiteX27" fmla="*/ 4017 w 10736"/>
                <a:gd name="connsiteY27" fmla="*/ 2084 h 10193"/>
                <a:gd name="connsiteX28" fmla="*/ 3794 w 10736"/>
                <a:gd name="connsiteY28" fmla="*/ 1664 h 10193"/>
                <a:gd name="connsiteX29" fmla="*/ 4017 w 10736"/>
                <a:gd name="connsiteY29" fmla="*/ 1349 h 10193"/>
                <a:gd name="connsiteX30" fmla="*/ 3974 w 10736"/>
                <a:gd name="connsiteY30" fmla="*/ 1087 h 10193"/>
                <a:gd name="connsiteX31" fmla="*/ 4233 w 10736"/>
                <a:gd name="connsiteY31" fmla="*/ 794 h 10193"/>
                <a:gd name="connsiteX32" fmla="*/ 4240 w 10736"/>
                <a:gd name="connsiteY32" fmla="*/ 193 h 10193"/>
                <a:gd name="connsiteX33" fmla="*/ 3571 w 10736"/>
                <a:gd name="connsiteY33" fmla="*/ 193 h 10193"/>
                <a:gd name="connsiteX34" fmla="*/ 3125 w 10736"/>
                <a:gd name="connsiteY34" fmla="*/ 193 h 10193"/>
                <a:gd name="connsiteX35" fmla="*/ 2820 w 10736"/>
                <a:gd name="connsiteY35" fmla="*/ 0 h 10193"/>
                <a:gd name="connsiteX36" fmla="*/ 2184 w 10736"/>
                <a:gd name="connsiteY36" fmla="*/ 271 h 10193"/>
                <a:gd name="connsiteX37" fmla="*/ 1871 w 10736"/>
                <a:gd name="connsiteY37" fmla="*/ 679 h 10193"/>
                <a:gd name="connsiteX38" fmla="*/ 2120 w 10736"/>
                <a:gd name="connsiteY38" fmla="*/ 1139 h 10193"/>
                <a:gd name="connsiteX39" fmla="*/ 2455 w 10736"/>
                <a:gd name="connsiteY39" fmla="*/ 1349 h 10193"/>
                <a:gd name="connsiteX40" fmla="*/ 2232 w 10736"/>
                <a:gd name="connsiteY40" fmla="*/ 1874 h 10193"/>
                <a:gd name="connsiteX41" fmla="*/ 2009 w 10736"/>
                <a:gd name="connsiteY41" fmla="*/ 2295 h 10193"/>
                <a:gd name="connsiteX42" fmla="*/ 1339 w 10736"/>
                <a:gd name="connsiteY42" fmla="*/ 3240 h 10193"/>
                <a:gd name="connsiteX43" fmla="*/ 893 w 10736"/>
                <a:gd name="connsiteY43" fmla="*/ 3240 h 10193"/>
                <a:gd name="connsiteX44" fmla="*/ 557 w 10736"/>
                <a:gd name="connsiteY44" fmla="*/ 3556 h 10193"/>
                <a:gd name="connsiteX45" fmla="*/ 781 w 10736"/>
                <a:gd name="connsiteY45" fmla="*/ 3976 h 10193"/>
                <a:gd name="connsiteX46" fmla="*/ 1116 w 10736"/>
                <a:gd name="connsiteY46" fmla="*/ 4396 h 10193"/>
                <a:gd name="connsiteX47" fmla="*/ 670 w 10736"/>
                <a:gd name="connsiteY47" fmla="*/ 4606 h 10193"/>
                <a:gd name="connsiteX48" fmla="*/ 223 w 10736"/>
                <a:gd name="connsiteY48" fmla="*/ 4711 h 10193"/>
                <a:gd name="connsiteX49" fmla="*/ 0 w 10736"/>
                <a:gd name="connsiteY49" fmla="*/ 4816 h 10193"/>
                <a:gd name="connsiteX50" fmla="*/ 446 w 10736"/>
                <a:gd name="connsiteY50" fmla="*/ 5342 h 10193"/>
                <a:gd name="connsiteX51" fmla="*/ 781 w 10736"/>
                <a:gd name="connsiteY51" fmla="*/ 5762 h 10193"/>
                <a:gd name="connsiteX52" fmla="*/ 1450 w 10736"/>
                <a:gd name="connsiteY52" fmla="*/ 5342 h 10193"/>
                <a:gd name="connsiteX53" fmla="*/ 1673 w 10736"/>
                <a:gd name="connsiteY53" fmla="*/ 7338 h 10193"/>
                <a:gd name="connsiteX54" fmla="*/ 2009 w 10736"/>
                <a:gd name="connsiteY54" fmla="*/ 8197 h 10193"/>
                <a:gd name="connsiteX55" fmla="*/ 2566 w 10736"/>
                <a:gd name="connsiteY55" fmla="*/ 9142 h 10193"/>
                <a:gd name="connsiteX56" fmla="*/ 2901 w 10736"/>
                <a:gd name="connsiteY56" fmla="*/ 9668 h 10193"/>
                <a:gd name="connsiteX57" fmla="*/ 3236 w 10736"/>
                <a:gd name="connsiteY57" fmla="*/ 10193 h 10193"/>
                <a:gd name="connsiteX58" fmla="*/ 3571 w 10736"/>
                <a:gd name="connsiteY58" fmla="*/ 9878 h 10193"/>
                <a:gd name="connsiteX59" fmla="*/ 4017 w 10736"/>
                <a:gd name="connsiteY59" fmla="*/ 9352 h 10193"/>
                <a:gd name="connsiteX60" fmla="*/ 4128 w 10736"/>
                <a:gd name="connsiteY60" fmla="*/ 8932 h 10193"/>
                <a:gd name="connsiteX61" fmla="*/ 4240 w 10736"/>
                <a:gd name="connsiteY61" fmla="*/ 8197 h 10193"/>
                <a:gd name="connsiteX62" fmla="*/ 4352 w 10736"/>
                <a:gd name="connsiteY62" fmla="*/ 7549 h 10193"/>
                <a:gd name="connsiteX63" fmla="*/ 5133 w 10736"/>
                <a:gd name="connsiteY63" fmla="*/ 6918 h 10193"/>
                <a:gd name="connsiteX64" fmla="*/ 5915 w 10736"/>
                <a:gd name="connsiteY64" fmla="*/ 6393 h 10193"/>
                <a:gd name="connsiteX65" fmla="*/ 6639 w 10736"/>
                <a:gd name="connsiteY65" fmla="*/ 6068 h 10193"/>
                <a:gd name="connsiteX66" fmla="*/ 7176 w 10736"/>
                <a:gd name="connsiteY66" fmla="*/ 5543 h 10193"/>
                <a:gd name="connsiteX67" fmla="*/ 8062 w 10736"/>
                <a:gd name="connsiteY67" fmla="*/ 5499 h 10193"/>
                <a:gd name="connsiteX68" fmla="*/ 7861 w 10736"/>
                <a:gd name="connsiteY68" fmla="*/ 4777 h 10193"/>
                <a:gd name="connsiteX69" fmla="*/ 7954 w 10736"/>
                <a:gd name="connsiteY69" fmla="*/ 4586 h 10193"/>
                <a:gd name="connsiteX70" fmla="*/ 8087 w 10736"/>
                <a:gd name="connsiteY70" fmla="*/ 4428 h 10193"/>
                <a:gd name="connsiteX71" fmla="*/ 8411 w 10736"/>
                <a:gd name="connsiteY71" fmla="*/ 4421 h 10193"/>
                <a:gd name="connsiteX72" fmla="*/ 8784 w 10736"/>
                <a:gd name="connsiteY72" fmla="*/ 4665 h 10193"/>
                <a:gd name="connsiteX0" fmla="*/ 8784 w 10736"/>
                <a:gd name="connsiteY0" fmla="*/ 4665 h 10193"/>
                <a:gd name="connsiteX1" fmla="*/ 9397 w 10736"/>
                <a:gd name="connsiteY1" fmla="*/ 4840 h 10193"/>
                <a:gd name="connsiteX2" fmla="*/ 9150 w 10736"/>
                <a:gd name="connsiteY2" fmla="*/ 5252 h 10193"/>
                <a:gd name="connsiteX3" fmla="*/ 9543 w 10736"/>
                <a:gd name="connsiteY3" fmla="*/ 5395 h 10193"/>
                <a:gd name="connsiteX4" fmla="*/ 9949 w 10736"/>
                <a:gd name="connsiteY4" fmla="*/ 4763 h 10193"/>
                <a:gd name="connsiteX5" fmla="*/ 10736 w 10736"/>
                <a:gd name="connsiteY5" fmla="*/ 4243 h 10193"/>
                <a:gd name="connsiteX6" fmla="*/ 10429 w 10736"/>
                <a:gd name="connsiteY6" fmla="*/ 4184 h 10193"/>
                <a:gd name="connsiteX7" fmla="*/ 10593 w 10736"/>
                <a:gd name="connsiteY7" fmla="*/ 3573 h 10193"/>
                <a:gd name="connsiteX8" fmla="*/ 10508 w 10736"/>
                <a:gd name="connsiteY8" fmla="*/ 3194 h 10193"/>
                <a:gd name="connsiteX9" fmla="*/ 10055 w 10736"/>
                <a:gd name="connsiteY9" fmla="*/ 2983 h 10193"/>
                <a:gd name="connsiteX10" fmla="*/ 9600 w 10736"/>
                <a:gd name="connsiteY10" fmla="*/ 2737 h 10193"/>
                <a:gd name="connsiteX11" fmla="*/ 9075 w 10736"/>
                <a:gd name="connsiteY11" fmla="*/ 2733 h 10193"/>
                <a:gd name="connsiteX12" fmla="*/ 8247 w 10736"/>
                <a:gd name="connsiteY12" fmla="*/ 3356 h 10193"/>
                <a:gd name="connsiteX13" fmla="*/ 8793 w 10736"/>
                <a:gd name="connsiteY13" fmla="*/ 3426 h 10193"/>
                <a:gd name="connsiteX14" fmla="*/ 8859 w 10736"/>
                <a:gd name="connsiteY14" fmla="*/ 3631 h 10193"/>
                <a:gd name="connsiteX15" fmla="*/ 8437 w 10736"/>
                <a:gd name="connsiteY15" fmla="*/ 3652 h 10193"/>
                <a:gd name="connsiteX16" fmla="*/ 8149 w 10736"/>
                <a:gd name="connsiteY16" fmla="*/ 3533 h 10193"/>
                <a:gd name="connsiteX17" fmla="*/ 8262 w 10736"/>
                <a:gd name="connsiteY17" fmla="*/ 3342 h 10193"/>
                <a:gd name="connsiteX18" fmla="*/ 7715 w 10736"/>
                <a:gd name="connsiteY18" fmla="*/ 3303 h 10193"/>
                <a:gd name="connsiteX19" fmla="*/ 7254 w 10736"/>
                <a:gd name="connsiteY19" fmla="*/ 3345 h 10193"/>
                <a:gd name="connsiteX20" fmla="*/ 7031 w 10736"/>
                <a:gd name="connsiteY20" fmla="*/ 3345 h 10193"/>
                <a:gd name="connsiteX21" fmla="*/ 6808 w 10736"/>
                <a:gd name="connsiteY21" fmla="*/ 3661 h 10193"/>
                <a:gd name="connsiteX22" fmla="*/ 6584 w 10736"/>
                <a:gd name="connsiteY22" fmla="*/ 3661 h 10193"/>
                <a:gd name="connsiteX23" fmla="*/ 6138 w 10736"/>
                <a:gd name="connsiteY23" fmla="*/ 3556 h 10193"/>
                <a:gd name="connsiteX24" fmla="*/ 5357 w 10736"/>
                <a:gd name="connsiteY24" fmla="*/ 3450 h 10193"/>
                <a:gd name="connsiteX25" fmla="*/ 4240 w 10736"/>
                <a:gd name="connsiteY25" fmla="*/ 2925 h 10193"/>
                <a:gd name="connsiteX26" fmla="*/ 4575 w 10736"/>
                <a:gd name="connsiteY26" fmla="*/ 2295 h 10193"/>
                <a:gd name="connsiteX27" fmla="*/ 4017 w 10736"/>
                <a:gd name="connsiteY27" fmla="*/ 2084 h 10193"/>
                <a:gd name="connsiteX28" fmla="*/ 3794 w 10736"/>
                <a:gd name="connsiteY28" fmla="*/ 1664 h 10193"/>
                <a:gd name="connsiteX29" fmla="*/ 4017 w 10736"/>
                <a:gd name="connsiteY29" fmla="*/ 1349 h 10193"/>
                <a:gd name="connsiteX30" fmla="*/ 3974 w 10736"/>
                <a:gd name="connsiteY30" fmla="*/ 1087 h 10193"/>
                <a:gd name="connsiteX31" fmla="*/ 4233 w 10736"/>
                <a:gd name="connsiteY31" fmla="*/ 794 h 10193"/>
                <a:gd name="connsiteX32" fmla="*/ 4240 w 10736"/>
                <a:gd name="connsiteY32" fmla="*/ 193 h 10193"/>
                <a:gd name="connsiteX33" fmla="*/ 3571 w 10736"/>
                <a:gd name="connsiteY33" fmla="*/ 193 h 10193"/>
                <a:gd name="connsiteX34" fmla="*/ 3125 w 10736"/>
                <a:gd name="connsiteY34" fmla="*/ 591 h 10193"/>
                <a:gd name="connsiteX35" fmla="*/ 2820 w 10736"/>
                <a:gd name="connsiteY35" fmla="*/ 0 h 10193"/>
                <a:gd name="connsiteX36" fmla="*/ 2184 w 10736"/>
                <a:gd name="connsiteY36" fmla="*/ 271 h 10193"/>
                <a:gd name="connsiteX37" fmla="*/ 1871 w 10736"/>
                <a:gd name="connsiteY37" fmla="*/ 679 h 10193"/>
                <a:gd name="connsiteX38" fmla="*/ 2120 w 10736"/>
                <a:gd name="connsiteY38" fmla="*/ 1139 h 10193"/>
                <a:gd name="connsiteX39" fmla="*/ 2455 w 10736"/>
                <a:gd name="connsiteY39" fmla="*/ 1349 h 10193"/>
                <a:gd name="connsiteX40" fmla="*/ 2232 w 10736"/>
                <a:gd name="connsiteY40" fmla="*/ 1874 h 10193"/>
                <a:gd name="connsiteX41" fmla="*/ 2009 w 10736"/>
                <a:gd name="connsiteY41" fmla="*/ 2295 h 10193"/>
                <a:gd name="connsiteX42" fmla="*/ 1339 w 10736"/>
                <a:gd name="connsiteY42" fmla="*/ 3240 h 10193"/>
                <a:gd name="connsiteX43" fmla="*/ 893 w 10736"/>
                <a:gd name="connsiteY43" fmla="*/ 3240 h 10193"/>
                <a:gd name="connsiteX44" fmla="*/ 557 w 10736"/>
                <a:gd name="connsiteY44" fmla="*/ 3556 h 10193"/>
                <a:gd name="connsiteX45" fmla="*/ 781 w 10736"/>
                <a:gd name="connsiteY45" fmla="*/ 3976 h 10193"/>
                <a:gd name="connsiteX46" fmla="*/ 1116 w 10736"/>
                <a:gd name="connsiteY46" fmla="*/ 4396 h 10193"/>
                <a:gd name="connsiteX47" fmla="*/ 670 w 10736"/>
                <a:gd name="connsiteY47" fmla="*/ 4606 h 10193"/>
                <a:gd name="connsiteX48" fmla="*/ 223 w 10736"/>
                <a:gd name="connsiteY48" fmla="*/ 4711 h 10193"/>
                <a:gd name="connsiteX49" fmla="*/ 0 w 10736"/>
                <a:gd name="connsiteY49" fmla="*/ 4816 h 10193"/>
                <a:gd name="connsiteX50" fmla="*/ 446 w 10736"/>
                <a:gd name="connsiteY50" fmla="*/ 5342 h 10193"/>
                <a:gd name="connsiteX51" fmla="*/ 781 w 10736"/>
                <a:gd name="connsiteY51" fmla="*/ 5762 h 10193"/>
                <a:gd name="connsiteX52" fmla="*/ 1450 w 10736"/>
                <a:gd name="connsiteY52" fmla="*/ 5342 h 10193"/>
                <a:gd name="connsiteX53" fmla="*/ 1673 w 10736"/>
                <a:gd name="connsiteY53" fmla="*/ 7338 h 10193"/>
                <a:gd name="connsiteX54" fmla="*/ 2009 w 10736"/>
                <a:gd name="connsiteY54" fmla="*/ 8197 h 10193"/>
                <a:gd name="connsiteX55" fmla="*/ 2566 w 10736"/>
                <a:gd name="connsiteY55" fmla="*/ 9142 h 10193"/>
                <a:gd name="connsiteX56" fmla="*/ 2901 w 10736"/>
                <a:gd name="connsiteY56" fmla="*/ 9668 h 10193"/>
                <a:gd name="connsiteX57" fmla="*/ 3236 w 10736"/>
                <a:gd name="connsiteY57" fmla="*/ 10193 h 10193"/>
                <a:gd name="connsiteX58" fmla="*/ 3571 w 10736"/>
                <a:gd name="connsiteY58" fmla="*/ 9878 h 10193"/>
                <a:gd name="connsiteX59" fmla="*/ 4017 w 10736"/>
                <a:gd name="connsiteY59" fmla="*/ 9352 h 10193"/>
                <a:gd name="connsiteX60" fmla="*/ 4128 w 10736"/>
                <a:gd name="connsiteY60" fmla="*/ 8932 h 10193"/>
                <a:gd name="connsiteX61" fmla="*/ 4240 w 10736"/>
                <a:gd name="connsiteY61" fmla="*/ 8197 h 10193"/>
                <a:gd name="connsiteX62" fmla="*/ 4352 w 10736"/>
                <a:gd name="connsiteY62" fmla="*/ 7549 h 10193"/>
                <a:gd name="connsiteX63" fmla="*/ 5133 w 10736"/>
                <a:gd name="connsiteY63" fmla="*/ 6918 h 10193"/>
                <a:gd name="connsiteX64" fmla="*/ 5915 w 10736"/>
                <a:gd name="connsiteY64" fmla="*/ 6393 h 10193"/>
                <a:gd name="connsiteX65" fmla="*/ 6639 w 10736"/>
                <a:gd name="connsiteY65" fmla="*/ 6068 h 10193"/>
                <a:gd name="connsiteX66" fmla="*/ 7176 w 10736"/>
                <a:gd name="connsiteY66" fmla="*/ 5543 h 10193"/>
                <a:gd name="connsiteX67" fmla="*/ 8062 w 10736"/>
                <a:gd name="connsiteY67" fmla="*/ 5499 h 10193"/>
                <a:gd name="connsiteX68" fmla="*/ 7861 w 10736"/>
                <a:gd name="connsiteY68" fmla="*/ 4777 h 10193"/>
                <a:gd name="connsiteX69" fmla="*/ 7954 w 10736"/>
                <a:gd name="connsiteY69" fmla="*/ 4586 h 10193"/>
                <a:gd name="connsiteX70" fmla="*/ 8087 w 10736"/>
                <a:gd name="connsiteY70" fmla="*/ 4428 h 10193"/>
                <a:gd name="connsiteX71" fmla="*/ 8411 w 10736"/>
                <a:gd name="connsiteY71" fmla="*/ 4421 h 10193"/>
                <a:gd name="connsiteX72" fmla="*/ 8784 w 10736"/>
                <a:gd name="connsiteY72" fmla="*/ 4665 h 10193"/>
                <a:gd name="connsiteX0" fmla="*/ 8784 w 10736"/>
                <a:gd name="connsiteY0" fmla="*/ 4671 h 10199"/>
                <a:gd name="connsiteX1" fmla="*/ 9397 w 10736"/>
                <a:gd name="connsiteY1" fmla="*/ 4846 h 10199"/>
                <a:gd name="connsiteX2" fmla="*/ 9150 w 10736"/>
                <a:gd name="connsiteY2" fmla="*/ 5258 h 10199"/>
                <a:gd name="connsiteX3" fmla="*/ 9543 w 10736"/>
                <a:gd name="connsiteY3" fmla="*/ 5401 h 10199"/>
                <a:gd name="connsiteX4" fmla="*/ 9949 w 10736"/>
                <a:gd name="connsiteY4" fmla="*/ 4769 h 10199"/>
                <a:gd name="connsiteX5" fmla="*/ 10736 w 10736"/>
                <a:gd name="connsiteY5" fmla="*/ 4249 h 10199"/>
                <a:gd name="connsiteX6" fmla="*/ 10429 w 10736"/>
                <a:gd name="connsiteY6" fmla="*/ 4190 h 10199"/>
                <a:gd name="connsiteX7" fmla="*/ 10593 w 10736"/>
                <a:gd name="connsiteY7" fmla="*/ 3579 h 10199"/>
                <a:gd name="connsiteX8" fmla="*/ 10508 w 10736"/>
                <a:gd name="connsiteY8" fmla="*/ 3200 h 10199"/>
                <a:gd name="connsiteX9" fmla="*/ 10055 w 10736"/>
                <a:gd name="connsiteY9" fmla="*/ 2989 h 10199"/>
                <a:gd name="connsiteX10" fmla="*/ 9600 w 10736"/>
                <a:gd name="connsiteY10" fmla="*/ 2743 h 10199"/>
                <a:gd name="connsiteX11" fmla="*/ 9075 w 10736"/>
                <a:gd name="connsiteY11" fmla="*/ 2739 h 10199"/>
                <a:gd name="connsiteX12" fmla="*/ 8247 w 10736"/>
                <a:gd name="connsiteY12" fmla="*/ 3362 h 10199"/>
                <a:gd name="connsiteX13" fmla="*/ 8793 w 10736"/>
                <a:gd name="connsiteY13" fmla="*/ 3432 h 10199"/>
                <a:gd name="connsiteX14" fmla="*/ 8859 w 10736"/>
                <a:gd name="connsiteY14" fmla="*/ 3637 h 10199"/>
                <a:gd name="connsiteX15" fmla="*/ 8437 w 10736"/>
                <a:gd name="connsiteY15" fmla="*/ 3658 h 10199"/>
                <a:gd name="connsiteX16" fmla="*/ 8149 w 10736"/>
                <a:gd name="connsiteY16" fmla="*/ 3539 h 10199"/>
                <a:gd name="connsiteX17" fmla="*/ 8262 w 10736"/>
                <a:gd name="connsiteY17" fmla="*/ 3348 h 10199"/>
                <a:gd name="connsiteX18" fmla="*/ 7715 w 10736"/>
                <a:gd name="connsiteY18" fmla="*/ 3309 h 10199"/>
                <a:gd name="connsiteX19" fmla="*/ 7254 w 10736"/>
                <a:gd name="connsiteY19" fmla="*/ 3351 h 10199"/>
                <a:gd name="connsiteX20" fmla="*/ 7031 w 10736"/>
                <a:gd name="connsiteY20" fmla="*/ 3351 h 10199"/>
                <a:gd name="connsiteX21" fmla="*/ 6808 w 10736"/>
                <a:gd name="connsiteY21" fmla="*/ 3667 h 10199"/>
                <a:gd name="connsiteX22" fmla="*/ 6584 w 10736"/>
                <a:gd name="connsiteY22" fmla="*/ 3667 h 10199"/>
                <a:gd name="connsiteX23" fmla="*/ 6138 w 10736"/>
                <a:gd name="connsiteY23" fmla="*/ 3562 h 10199"/>
                <a:gd name="connsiteX24" fmla="*/ 5357 w 10736"/>
                <a:gd name="connsiteY24" fmla="*/ 3456 h 10199"/>
                <a:gd name="connsiteX25" fmla="*/ 4240 w 10736"/>
                <a:gd name="connsiteY25" fmla="*/ 2931 h 10199"/>
                <a:gd name="connsiteX26" fmla="*/ 4575 w 10736"/>
                <a:gd name="connsiteY26" fmla="*/ 2301 h 10199"/>
                <a:gd name="connsiteX27" fmla="*/ 4017 w 10736"/>
                <a:gd name="connsiteY27" fmla="*/ 2090 h 10199"/>
                <a:gd name="connsiteX28" fmla="*/ 3794 w 10736"/>
                <a:gd name="connsiteY28" fmla="*/ 1670 h 10199"/>
                <a:gd name="connsiteX29" fmla="*/ 4017 w 10736"/>
                <a:gd name="connsiteY29" fmla="*/ 1355 h 10199"/>
                <a:gd name="connsiteX30" fmla="*/ 3974 w 10736"/>
                <a:gd name="connsiteY30" fmla="*/ 1093 h 10199"/>
                <a:gd name="connsiteX31" fmla="*/ 4233 w 10736"/>
                <a:gd name="connsiteY31" fmla="*/ 800 h 10199"/>
                <a:gd name="connsiteX32" fmla="*/ 4240 w 10736"/>
                <a:gd name="connsiteY32" fmla="*/ 199 h 10199"/>
                <a:gd name="connsiteX33" fmla="*/ 3696 w 10736"/>
                <a:gd name="connsiteY33" fmla="*/ 0 h 10199"/>
                <a:gd name="connsiteX34" fmla="*/ 3125 w 10736"/>
                <a:gd name="connsiteY34" fmla="*/ 597 h 10199"/>
                <a:gd name="connsiteX35" fmla="*/ 2820 w 10736"/>
                <a:gd name="connsiteY35" fmla="*/ 6 h 10199"/>
                <a:gd name="connsiteX36" fmla="*/ 2184 w 10736"/>
                <a:gd name="connsiteY36" fmla="*/ 277 h 10199"/>
                <a:gd name="connsiteX37" fmla="*/ 1871 w 10736"/>
                <a:gd name="connsiteY37" fmla="*/ 685 h 10199"/>
                <a:gd name="connsiteX38" fmla="*/ 2120 w 10736"/>
                <a:gd name="connsiteY38" fmla="*/ 1145 h 10199"/>
                <a:gd name="connsiteX39" fmla="*/ 2455 w 10736"/>
                <a:gd name="connsiteY39" fmla="*/ 1355 h 10199"/>
                <a:gd name="connsiteX40" fmla="*/ 2232 w 10736"/>
                <a:gd name="connsiteY40" fmla="*/ 1880 h 10199"/>
                <a:gd name="connsiteX41" fmla="*/ 2009 w 10736"/>
                <a:gd name="connsiteY41" fmla="*/ 2301 h 10199"/>
                <a:gd name="connsiteX42" fmla="*/ 1339 w 10736"/>
                <a:gd name="connsiteY42" fmla="*/ 3246 h 10199"/>
                <a:gd name="connsiteX43" fmla="*/ 893 w 10736"/>
                <a:gd name="connsiteY43" fmla="*/ 3246 h 10199"/>
                <a:gd name="connsiteX44" fmla="*/ 557 w 10736"/>
                <a:gd name="connsiteY44" fmla="*/ 3562 h 10199"/>
                <a:gd name="connsiteX45" fmla="*/ 781 w 10736"/>
                <a:gd name="connsiteY45" fmla="*/ 3982 h 10199"/>
                <a:gd name="connsiteX46" fmla="*/ 1116 w 10736"/>
                <a:gd name="connsiteY46" fmla="*/ 4402 h 10199"/>
                <a:gd name="connsiteX47" fmla="*/ 670 w 10736"/>
                <a:gd name="connsiteY47" fmla="*/ 4612 h 10199"/>
                <a:gd name="connsiteX48" fmla="*/ 223 w 10736"/>
                <a:gd name="connsiteY48" fmla="*/ 4717 h 10199"/>
                <a:gd name="connsiteX49" fmla="*/ 0 w 10736"/>
                <a:gd name="connsiteY49" fmla="*/ 4822 h 10199"/>
                <a:gd name="connsiteX50" fmla="*/ 446 w 10736"/>
                <a:gd name="connsiteY50" fmla="*/ 5348 h 10199"/>
                <a:gd name="connsiteX51" fmla="*/ 781 w 10736"/>
                <a:gd name="connsiteY51" fmla="*/ 5768 h 10199"/>
                <a:gd name="connsiteX52" fmla="*/ 1450 w 10736"/>
                <a:gd name="connsiteY52" fmla="*/ 5348 h 10199"/>
                <a:gd name="connsiteX53" fmla="*/ 1673 w 10736"/>
                <a:gd name="connsiteY53" fmla="*/ 7344 h 10199"/>
                <a:gd name="connsiteX54" fmla="*/ 2009 w 10736"/>
                <a:gd name="connsiteY54" fmla="*/ 8203 h 10199"/>
                <a:gd name="connsiteX55" fmla="*/ 2566 w 10736"/>
                <a:gd name="connsiteY55" fmla="*/ 9148 h 10199"/>
                <a:gd name="connsiteX56" fmla="*/ 2901 w 10736"/>
                <a:gd name="connsiteY56" fmla="*/ 9674 h 10199"/>
                <a:gd name="connsiteX57" fmla="*/ 3236 w 10736"/>
                <a:gd name="connsiteY57" fmla="*/ 10199 h 10199"/>
                <a:gd name="connsiteX58" fmla="*/ 3571 w 10736"/>
                <a:gd name="connsiteY58" fmla="*/ 9884 h 10199"/>
                <a:gd name="connsiteX59" fmla="*/ 4017 w 10736"/>
                <a:gd name="connsiteY59" fmla="*/ 9358 h 10199"/>
                <a:gd name="connsiteX60" fmla="*/ 4128 w 10736"/>
                <a:gd name="connsiteY60" fmla="*/ 8938 h 10199"/>
                <a:gd name="connsiteX61" fmla="*/ 4240 w 10736"/>
                <a:gd name="connsiteY61" fmla="*/ 8203 h 10199"/>
                <a:gd name="connsiteX62" fmla="*/ 4352 w 10736"/>
                <a:gd name="connsiteY62" fmla="*/ 7555 h 10199"/>
                <a:gd name="connsiteX63" fmla="*/ 5133 w 10736"/>
                <a:gd name="connsiteY63" fmla="*/ 6924 h 10199"/>
                <a:gd name="connsiteX64" fmla="*/ 5915 w 10736"/>
                <a:gd name="connsiteY64" fmla="*/ 6399 h 10199"/>
                <a:gd name="connsiteX65" fmla="*/ 6639 w 10736"/>
                <a:gd name="connsiteY65" fmla="*/ 6074 h 10199"/>
                <a:gd name="connsiteX66" fmla="*/ 7176 w 10736"/>
                <a:gd name="connsiteY66" fmla="*/ 5549 h 10199"/>
                <a:gd name="connsiteX67" fmla="*/ 8062 w 10736"/>
                <a:gd name="connsiteY67" fmla="*/ 5505 h 10199"/>
                <a:gd name="connsiteX68" fmla="*/ 7861 w 10736"/>
                <a:gd name="connsiteY68" fmla="*/ 4783 h 10199"/>
                <a:gd name="connsiteX69" fmla="*/ 7954 w 10736"/>
                <a:gd name="connsiteY69" fmla="*/ 4592 h 10199"/>
                <a:gd name="connsiteX70" fmla="*/ 8087 w 10736"/>
                <a:gd name="connsiteY70" fmla="*/ 4434 h 10199"/>
                <a:gd name="connsiteX71" fmla="*/ 8411 w 10736"/>
                <a:gd name="connsiteY71" fmla="*/ 4427 h 10199"/>
                <a:gd name="connsiteX72" fmla="*/ 8784 w 10736"/>
                <a:gd name="connsiteY72" fmla="*/ 4671 h 10199"/>
                <a:gd name="connsiteX0" fmla="*/ 8784 w 10736"/>
                <a:gd name="connsiteY0" fmla="*/ 4671 h 10199"/>
                <a:gd name="connsiteX1" fmla="*/ 9397 w 10736"/>
                <a:gd name="connsiteY1" fmla="*/ 4846 h 10199"/>
                <a:gd name="connsiteX2" fmla="*/ 9150 w 10736"/>
                <a:gd name="connsiteY2" fmla="*/ 5258 h 10199"/>
                <a:gd name="connsiteX3" fmla="*/ 9543 w 10736"/>
                <a:gd name="connsiteY3" fmla="*/ 5401 h 10199"/>
                <a:gd name="connsiteX4" fmla="*/ 9949 w 10736"/>
                <a:gd name="connsiteY4" fmla="*/ 4769 h 10199"/>
                <a:gd name="connsiteX5" fmla="*/ 10736 w 10736"/>
                <a:gd name="connsiteY5" fmla="*/ 4249 h 10199"/>
                <a:gd name="connsiteX6" fmla="*/ 10429 w 10736"/>
                <a:gd name="connsiteY6" fmla="*/ 4190 h 10199"/>
                <a:gd name="connsiteX7" fmla="*/ 10593 w 10736"/>
                <a:gd name="connsiteY7" fmla="*/ 3579 h 10199"/>
                <a:gd name="connsiteX8" fmla="*/ 10508 w 10736"/>
                <a:gd name="connsiteY8" fmla="*/ 3200 h 10199"/>
                <a:gd name="connsiteX9" fmla="*/ 10055 w 10736"/>
                <a:gd name="connsiteY9" fmla="*/ 2989 h 10199"/>
                <a:gd name="connsiteX10" fmla="*/ 9600 w 10736"/>
                <a:gd name="connsiteY10" fmla="*/ 2743 h 10199"/>
                <a:gd name="connsiteX11" fmla="*/ 9075 w 10736"/>
                <a:gd name="connsiteY11" fmla="*/ 2739 h 10199"/>
                <a:gd name="connsiteX12" fmla="*/ 8247 w 10736"/>
                <a:gd name="connsiteY12" fmla="*/ 3362 h 10199"/>
                <a:gd name="connsiteX13" fmla="*/ 8793 w 10736"/>
                <a:gd name="connsiteY13" fmla="*/ 3432 h 10199"/>
                <a:gd name="connsiteX14" fmla="*/ 8859 w 10736"/>
                <a:gd name="connsiteY14" fmla="*/ 3637 h 10199"/>
                <a:gd name="connsiteX15" fmla="*/ 8437 w 10736"/>
                <a:gd name="connsiteY15" fmla="*/ 3658 h 10199"/>
                <a:gd name="connsiteX16" fmla="*/ 8149 w 10736"/>
                <a:gd name="connsiteY16" fmla="*/ 3539 h 10199"/>
                <a:gd name="connsiteX17" fmla="*/ 8262 w 10736"/>
                <a:gd name="connsiteY17" fmla="*/ 3348 h 10199"/>
                <a:gd name="connsiteX18" fmla="*/ 7715 w 10736"/>
                <a:gd name="connsiteY18" fmla="*/ 3309 h 10199"/>
                <a:gd name="connsiteX19" fmla="*/ 7254 w 10736"/>
                <a:gd name="connsiteY19" fmla="*/ 3351 h 10199"/>
                <a:gd name="connsiteX20" fmla="*/ 7031 w 10736"/>
                <a:gd name="connsiteY20" fmla="*/ 3351 h 10199"/>
                <a:gd name="connsiteX21" fmla="*/ 6808 w 10736"/>
                <a:gd name="connsiteY21" fmla="*/ 3667 h 10199"/>
                <a:gd name="connsiteX22" fmla="*/ 6584 w 10736"/>
                <a:gd name="connsiteY22" fmla="*/ 3667 h 10199"/>
                <a:gd name="connsiteX23" fmla="*/ 6138 w 10736"/>
                <a:gd name="connsiteY23" fmla="*/ 3562 h 10199"/>
                <a:gd name="connsiteX24" fmla="*/ 5357 w 10736"/>
                <a:gd name="connsiteY24" fmla="*/ 3456 h 10199"/>
                <a:gd name="connsiteX25" fmla="*/ 4240 w 10736"/>
                <a:gd name="connsiteY25" fmla="*/ 2931 h 10199"/>
                <a:gd name="connsiteX26" fmla="*/ 4575 w 10736"/>
                <a:gd name="connsiteY26" fmla="*/ 2301 h 10199"/>
                <a:gd name="connsiteX27" fmla="*/ 4017 w 10736"/>
                <a:gd name="connsiteY27" fmla="*/ 2090 h 10199"/>
                <a:gd name="connsiteX28" fmla="*/ 3794 w 10736"/>
                <a:gd name="connsiteY28" fmla="*/ 1670 h 10199"/>
                <a:gd name="connsiteX29" fmla="*/ 4017 w 10736"/>
                <a:gd name="connsiteY29" fmla="*/ 1355 h 10199"/>
                <a:gd name="connsiteX30" fmla="*/ 3974 w 10736"/>
                <a:gd name="connsiteY30" fmla="*/ 1093 h 10199"/>
                <a:gd name="connsiteX31" fmla="*/ 4233 w 10736"/>
                <a:gd name="connsiteY31" fmla="*/ 800 h 10199"/>
                <a:gd name="connsiteX32" fmla="*/ 4240 w 10736"/>
                <a:gd name="connsiteY32" fmla="*/ 398 h 10199"/>
                <a:gd name="connsiteX33" fmla="*/ 3696 w 10736"/>
                <a:gd name="connsiteY33" fmla="*/ 0 h 10199"/>
                <a:gd name="connsiteX34" fmla="*/ 3125 w 10736"/>
                <a:gd name="connsiteY34" fmla="*/ 597 h 10199"/>
                <a:gd name="connsiteX35" fmla="*/ 2820 w 10736"/>
                <a:gd name="connsiteY35" fmla="*/ 6 h 10199"/>
                <a:gd name="connsiteX36" fmla="*/ 2184 w 10736"/>
                <a:gd name="connsiteY36" fmla="*/ 277 h 10199"/>
                <a:gd name="connsiteX37" fmla="*/ 1871 w 10736"/>
                <a:gd name="connsiteY37" fmla="*/ 685 h 10199"/>
                <a:gd name="connsiteX38" fmla="*/ 2120 w 10736"/>
                <a:gd name="connsiteY38" fmla="*/ 1145 h 10199"/>
                <a:gd name="connsiteX39" fmla="*/ 2455 w 10736"/>
                <a:gd name="connsiteY39" fmla="*/ 1355 h 10199"/>
                <a:gd name="connsiteX40" fmla="*/ 2232 w 10736"/>
                <a:gd name="connsiteY40" fmla="*/ 1880 h 10199"/>
                <a:gd name="connsiteX41" fmla="*/ 2009 w 10736"/>
                <a:gd name="connsiteY41" fmla="*/ 2301 h 10199"/>
                <a:gd name="connsiteX42" fmla="*/ 1339 w 10736"/>
                <a:gd name="connsiteY42" fmla="*/ 3246 h 10199"/>
                <a:gd name="connsiteX43" fmla="*/ 893 w 10736"/>
                <a:gd name="connsiteY43" fmla="*/ 3246 h 10199"/>
                <a:gd name="connsiteX44" fmla="*/ 557 w 10736"/>
                <a:gd name="connsiteY44" fmla="*/ 3562 h 10199"/>
                <a:gd name="connsiteX45" fmla="*/ 781 w 10736"/>
                <a:gd name="connsiteY45" fmla="*/ 3982 h 10199"/>
                <a:gd name="connsiteX46" fmla="*/ 1116 w 10736"/>
                <a:gd name="connsiteY46" fmla="*/ 4402 h 10199"/>
                <a:gd name="connsiteX47" fmla="*/ 670 w 10736"/>
                <a:gd name="connsiteY47" fmla="*/ 4612 h 10199"/>
                <a:gd name="connsiteX48" fmla="*/ 223 w 10736"/>
                <a:gd name="connsiteY48" fmla="*/ 4717 h 10199"/>
                <a:gd name="connsiteX49" fmla="*/ 0 w 10736"/>
                <a:gd name="connsiteY49" fmla="*/ 4822 h 10199"/>
                <a:gd name="connsiteX50" fmla="*/ 446 w 10736"/>
                <a:gd name="connsiteY50" fmla="*/ 5348 h 10199"/>
                <a:gd name="connsiteX51" fmla="*/ 781 w 10736"/>
                <a:gd name="connsiteY51" fmla="*/ 5768 h 10199"/>
                <a:gd name="connsiteX52" fmla="*/ 1450 w 10736"/>
                <a:gd name="connsiteY52" fmla="*/ 5348 h 10199"/>
                <a:gd name="connsiteX53" fmla="*/ 1673 w 10736"/>
                <a:gd name="connsiteY53" fmla="*/ 7344 h 10199"/>
                <a:gd name="connsiteX54" fmla="*/ 2009 w 10736"/>
                <a:gd name="connsiteY54" fmla="*/ 8203 h 10199"/>
                <a:gd name="connsiteX55" fmla="*/ 2566 w 10736"/>
                <a:gd name="connsiteY55" fmla="*/ 9148 h 10199"/>
                <a:gd name="connsiteX56" fmla="*/ 2901 w 10736"/>
                <a:gd name="connsiteY56" fmla="*/ 9674 h 10199"/>
                <a:gd name="connsiteX57" fmla="*/ 3236 w 10736"/>
                <a:gd name="connsiteY57" fmla="*/ 10199 h 10199"/>
                <a:gd name="connsiteX58" fmla="*/ 3571 w 10736"/>
                <a:gd name="connsiteY58" fmla="*/ 9884 h 10199"/>
                <a:gd name="connsiteX59" fmla="*/ 4017 w 10736"/>
                <a:gd name="connsiteY59" fmla="*/ 9358 h 10199"/>
                <a:gd name="connsiteX60" fmla="*/ 4128 w 10736"/>
                <a:gd name="connsiteY60" fmla="*/ 8938 h 10199"/>
                <a:gd name="connsiteX61" fmla="*/ 4240 w 10736"/>
                <a:gd name="connsiteY61" fmla="*/ 8203 h 10199"/>
                <a:gd name="connsiteX62" fmla="*/ 4352 w 10736"/>
                <a:gd name="connsiteY62" fmla="*/ 7555 h 10199"/>
                <a:gd name="connsiteX63" fmla="*/ 5133 w 10736"/>
                <a:gd name="connsiteY63" fmla="*/ 6924 h 10199"/>
                <a:gd name="connsiteX64" fmla="*/ 5915 w 10736"/>
                <a:gd name="connsiteY64" fmla="*/ 6399 h 10199"/>
                <a:gd name="connsiteX65" fmla="*/ 6639 w 10736"/>
                <a:gd name="connsiteY65" fmla="*/ 6074 h 10199"/>
                <a:gd name="connsiteX66" fmla="*/ 7176 w 10736"/>
                <a:gd name="connsiteY66" fmla="*/ 5549 h 10199"/>
                <a:gd name="connsiteX67" fmla="*/ 8062 w 10736"/>
                <a:gd name="connsiteY67" fmla="*/ 5505 h 10199"/>
                <a:gd name="connsiteX68" fmla="*/ 7861 w 10736"/>
                <a:gd name="connsiteY68" fmla="*/ 4783 h 10199"/>
                <a:gd name="connsiteX69" fmla="*/ 7954 w 10736"/>
                <a:gd name="connsiteY69" fmla="*/ 4592 h 10199"/>
                <a:gd name="connsiteX70" fmla="*/ 8087 w 10736"/>
                <a:gd name="connsiteY70" fmla="*/ 4434 h 10199"/>
                <a:gd name="connsiteX71" fmla="*/ 8411 w 10736"/>
                <a:gd name="connsiteY71" fmla="*/ 4427 h 10199"/>
                <a:gd name="connsiteX72" fmla="*/ 8784 w 10736"/>
                <a:gd name="connsiteY72" fmla="*/ 4671 h 10199"/>
                <a:gd name="connsiteX0" fmla="*/ 8784 w 10736"/>
                <a:gd name="connsiteY0" fmla="*/ 4671 h 10199"/>
                <a:gd name="connsiteX1" fmla="*/ 9397 w 10736"/>
                <a:gd name="connsiteY1" fmla="*/ 4846 h 10199"/>
                <a:gd name="connsiteX2" fmla="*/ 9150 w 10736"/>
                <a:gd name="connsiteY2" fmla="*/ 5258 h 10199"/>
                <a:gd name="connsiteX3" fmla="*/ 9543 w 10736"/>
                <a:gd name="connsiteY3" fmla="*/ 5401 h 10199"/>
                <a:gd name="connsiteX4" fmla="*/ 9949 w 10736"/>
                <a:gd name="connsiteY4" fmla="*/ 4769 h 10199"/>
                <a:gd name="connsiteX5" fmla="*/ 10736 w 10736"/>
                <a:gd name="connsiteY5" fmla="*/ 4249 h 10199"/>
                <a:gd name="connsiteX6" fmla="*/ 10429 w 10736"/>
                <a:gd name="connsiteY6" fmla="*/ 4190 h 10199"/>
                <a:gd name="connsiteX7" fmla="*/ 10593 w 10736"/>
                <a:gd name="connsiteY7" fmla="*/ 3579 h 10199"/>
                <a:gd name="connsiteX8" fmla="*/ 10508 w 10736"/>
                <a:gd name="connsiteY8" fmla="*/ 3200 h 10199"/>
                <a:gd name="connsiteX9" fmla="*/ 10055 w 10736"/>
                <a:gd name="connsiteY9" fmla="*/ 2989 h 10199"/>
                <a:gd name="connsiteX10" fmla="*/ 9600 w 10736"/>
                <a:gd name="connsiteY10" fmla="*/ 2743 h 10199"/>
                <a:gd name="connsiteX11" fmla="*/ 9075 w 10736"/>
                <a:gd name="connsiteY11" fmla="*/ 2739 h 10199"/>
                <a:gd name="connsiteX12" fmla="*/ 8247 w 10736"/>
                <a:gd name="connsiteY12" fmla="*/ 3362 h 10199"/>
                <a:gd name="connsiteX13" fmla="*/ 8793 w 10736"/>
                <a:gd name="connsiteY13" fmla="*/ 3432 h 10199"/>
                <a:gd name="connsiteX14" fmla="*/ 8859 w 10736"/>
                <a:gd name="connsiteY14" fmla="*/ 3637 h 10199"/>
                <a:gd name="connsiteX15" fmla="*/ 8437 w 10736"/>
                <a:gd name="connsiteY15" fmla="*/ 3658 h 10199"/>
                <a:gd name="connsiteX16" fmla="*/ 8149 w 10736"/>
                <a:gd name="connsiteY16" fmla="*/ 3539 h 10199"/>
                <a:gd name="connsiteX17" fmla="*/ 8262 w 10736"/>
                <a:gd name="connsiteY17" fmla="*/ 3348 h 10199"/>
                <a:gd name="connsiteX18" fmla="*/ 7715 w 10736"/>
                <a:gd name="connsiteY18" fmla="*/ 3309 h 10199"/>
                <a:gd name="connsiteX19" fmla="*/ 7254 w 10736"/>
                <a:gd name="connsiteY19" fmla="*/ 3351 h 10199"/>
                <a:gd name="connsiteX20" fmla="*/ 7031 w 10736"/>
                <a:gd name="connsiteY20" fmla="*/ 3351 h 10199"/>
                <a:gd name="connsiteX21" fmla="*/ 6808 w 10736"/>
                <a:gd name="connsiteY21" fmla="*/ 3667 h 10199"/>
                <a:gd name="connsiteX22" fmla="*/ 6584 w 10736"/>
                <a:gd name="connsiteY22" fmla="*/ 3667 h 10199"/>
                <a:gd name="connsiteX23" fmla="*/ 6138 w 10736"/>
                <a:gd name="connsiteY23" fmla="*/ 3562 h 10199"/>
                <a:gd name="connsiteX24" fmla="*/ 5357 w 10736"/>
                <a:gd name="connsiteY24" fmla="*/ 3456 h 10199"/>
                <a:gd name="connsiteX25" fmla="*/ 4240 w 10736"/>
                <a:gd name="connsiteY25" fmla="*/ 2931 h 10199"/>
                <a:gd name="connsiteX26" fmla="*/ 4575 w 10736"/>
                <a:gd name="connsiteY26" fmla="*/ 2301 h 10199"/>
                <a:gd name="connsiteX27" fmla="*/ 4017 w 10736"/>
                <a:gd name="connsiteY27" fmla="*/ 2090 h 10199"/>
                <a:gd name="connsiteX28" fmla="*/ 3794 w 10736"/>
                <a:gd name="connsiteY28" fmla="*/ 1670 h 10199"/>
                <a:gd name="connsiteX29" fmla="*/ 4017 w 10736"/>
                <a:gd name="connsiteY29" fmla="*/ 1355 h 10199"/>
                <a:gd name="connsiteX30" fmla="*/ 3974 w 10736"/>
                <a:gd name="connsiteY30" fmla="*/ 1093 h 10199"/>
                <a:gd name="connsiteX31" fmla="*/ 4233 w 10736"/>
                <a:gd name="connsiteY31" fmla="*/ 800 h 10199"/>
                <a:gd name="connsiteX32" fmla="*/ 4240 w 10736"/>
                <a:gd name="connsiteY32" fmla="*/ 398 h 10199"/>
                <a:gd name="connsiteX33" fmla="*/ 3696 w 10736"/>
                <a:gd name="connsiteY33" fmla="*/ 0 h 10199"/>
                <a:gd name="connsiteX34" fmla="*/ 3125 w 10736"/>
                <a:gd name="connsiteY34" fmla="*/ 597 h 10199"/>
                <a:gd name="connsiteX35" fmla="*/ 2654 w 10736"/>
                <a:gd name="connsiteY35" fmla="*/ 304 h 10199"/>
                <a:gd name="connsiteX36" fmla="*/ 2184 w 10736"/>
                <a:gd name="connsiteY36" fmla="*/ 277 h 10199"/>
                <a:gd name="connsiteX37" fmla="*/ 1871 w 10736"/>
                <a:gd name="connsiteY37" fmla="*/ 685 h 10199"/>
                <a:gd name="connsiteX38" fmla="*/ 2120 w 10736"/>
                <a:gd name="connsiteY38" fmla="*/ 1145 h 10199"/>
                <a:gd name="connsiteX39" fmla="*/ 2455 w 10736"/>
                <a:gd name="connsiteY39" fmla="*/ 1355 h 10199"/>
                <a:gd name="connsiteX40" fmla="*/ 2232 w 10736"/>
                <a:gd name="connsiteY40" fmla="*/ 1880 h 10199"/>
                <a:gd name="connsiteX41" fmla="*/ 2009 w 10736"/>
                <a:gd name="connsiteY41" fmla="*/ 2301 h 10199"/>
                <a:gd name="connsiteX42" fmla="*/ 1339 w 10736"/>
                <a:gd name="connsiteY42" fmla="*/ 3246 h 10199"/>
                <a:gd name="connsiteX43" fmla="*/ 893 w 10736"/>
                <a:gd name="connsiteY43" fmla="*/ 3246 h 10199"/>
                <a:gd name="connsiteX44" fmla="*/ 557 w 10736"/>
                <a:gd name="connsiteY44" fmla="*/ 3562 h 10199"/>
                <a:gd name="connsiteX45" fmla="*/ 781 w 10736"/>
                <a:gd name="connsiteY45" fmla="*/ 3982 h 10199"/>
                <a:gd name="connsiteX46" fmla="*/ 1116 w 10736"/>
                <a:gd name="connsiteY46" fmla="*/ 4402 h 10199"/>
                <a:gd name="connsiteX47" fmla="*/ 670 w 10736"/>
                <a:gd name="connsiteY47" fmla="*/ 4612 h 10199"/>
                <a:gd name="connsiteX48" fmla="*/ 223 w 10736"/>
                <a:gd name="connsiteY48" fmla="*/ 4717 h 10199"/>
                <a:gd name="connsiteX49" fmla="*/ 0 w 10736"/>
                <a:gd name="connsiteY49" fmla="*/ 4822 h 10199"/>
                <a:gd name="connsiteX50" fmla="*/ 446 w 10736"/>
                <a:gd name="connsiteY50" fmla="*/ 5348 h 10199"/>
                <a:gd name="connsiteX51" fmla="*/ 781 w 10736"/>
                <a:gd name="connsiteY51" fmla="*/ 5768 h 10199"/>
                <a:gd name="connsiteX52" fmla="*/ 1450 w 10736"/>
                <a:gd name="connsiteY52" fmla="*/ 5348 h 10199"/>
                <a:gd name="connsiteX53" fmla="*/ 1673 w 10736"/>
                <a:gd name="connsiteY53" fmla="*/ 7344 h 10199"/>
                <a:gd name="connsiteX54" fmla="*/ 2009 w 10736"/>
                <a:gd name="connsiteY54" fmla="*/ 8203 h 10199"/>
                <a:gd name="connsiteX55" fmla="*/ 2566 w 10736"/>
                <a:gd name="connsiteY55" fmla="*/ 9148 h 10199"/>
                <a:gd name="connsiteX56" fmla="*/ 2901 w 10736"/>
                <a:gd name="connsiteY56" fmla="*/ 9674 h 10199"/>
                <a:gd name="connsiteX57" fmla="*/ 3236 w 10736"/>
                <a:gd name="connsiteY57" fmla="*/ 10199 h 10199"/>
                <a:gd name="connsiteX58" fmla="*/ 3571 w 10736"/>
                <a:gd name="connsiteY58" fmla="*/ 9884 h 10199"/>
                <a:gd name="connsiteX59" fmla="*/ 4017 w 10736"/>
                <a:gd name="connsiteY59" fmla="*/ 9358 h 10199"/>
                <a:gd name="connsiteX60" fmla="*/ 4128 w 10736"/>
                <a:gd name="connsiteY60" fmla="*/ 8938 h 10199"/>
                <a:gd name="connsiteX61" fmla="*/ 4240 w 10736"/>
                <a:gd name="connsiteY61" fmla="*/ 8203 h 10199"/>
                <a:gd name="connsiteX62" fmla="*/ 4352 w 10736"/>
                <a:gd name="connsiteY62" fmla="*/ 7555 h 10199"/>
                <a:gd name="connsiteX63" fmla="*/ 5133 w 10736"/>
                <a:gd name="connsiteY63" fmla="*/ 6924 h 10199"/>
                <a:gd name="connsiteX64" fmla="*/ 5915 w 10736"/>
                <a:gd name="connsiteY64" fmla="*/ 6399 h 10199"/>
                <a:gd name="connsiteX65" fmla="*/ 6639 w 10736"/>
                <a:gd name="connsiteY65" fmla="*/ 6074 h 10199"/>
                <a:gd name="connsiteX66" fmla="*/ 7176 w 10736"/>
                <a:gd name="connsiteY66" fmla="*/ 5549 h 10199"/>
                <a:gd name="connsiteX67" fmla="*/ 8062 w 10736"/>
                <a:gd name="connsiteY67" fmla="*/ 5505 h 10199"/>
                <a:gd name="connsiteX68" fmla="*/ 7861 w 10736"/>
                <a:gd name="connsiteY68" fmla="*/ 4783 h 10199"/>
                <a:gd name="connsiteX69" fmla="*/ 7954 w 10736"/>
                <a:gd name="connsiteY69" fmla="*/ 4592 h 10199"/>
                <a:gd name="connsiteX70" fmla="*/ 8087 w 10736"/>
                <a:gd name="connsiteY70" fmla="*/ 4434 h 10199"/>
                <a:gd name="connsiteX71" fmla="*/ 8411 w 10736"/>
                <a:gd name="connsiteY71" fmla="*/ 4427 h 10199"/>
                <a:gd name="connsiteX72" fmla="*/ 8784 w 10736"/>
                <a:gd name="connsiteY72" fmla="*/ 4671 h 10199"/>
                <a:gd name="connsiteX0" fmla="*/ 8784 w 10736"/>
                <a:gd name="connsiteY0" fmla="*/ 4671 h 10199"/>
                <a:gd name="connsiteX1" fmla="*/ 9397 w 10736"/>
                <a:gd name="connsiteY1" fmla="*/ 4846 h 10199"/>
                <a:gd name="connsiteX2" fmla="*/ 9150 w 10736"/>
                <a:gd name="connsiteY2" fmla="*/ 5258 h 10199"/>
                <a:gd name="connsiteX3" fmla="*/ 9543 w 10736"/>
                <a:gd name="connsiteY3" fmla="*/ 5401 h 10199"/>
                <a:gd name="connsiteX4" fmla="*/ 9949 w 10736"/>
                <a:gd name="connsiteY4" fmla="*/ 4769 h 10199"/>
                <a:gd name="connsiteX5" fmla="*/ 10736 w 10736"/>
                <a:gd name="connsiteY5" fmla="*/ 4249 h 10199"/>
                <a:gd name="connsiteX6" fmla="*/ 10429 w 10736"/>
                <a:gd name="connsiteY6" fmla="*/ 4190 h 10199"/>
                <a:gd name="connsiteX7" fmla="*/ 10593 w 10736"/>
                <a:gd name="connsiteY7" fmla="*/ 3579 h 10199"/>
                <a:gd name="connsiteX8" fmla="*/ 10508 w 10736"/>
                <a:gd name="connsiteY8" fmla="*/ 3200 h 10199"/>
                <a:gd name="connsiteX9" fmla="*/ 10055 w 10736"/>
                <a:gd name="connsiteY9" fmla="*/ 2989 h 10199"/>
                <a:gd name="connsiteX10" fmla="*/ 9600 w 10736"/>
                <a:gd name="connsiteY10" fmla="*/ 2743 h 10199"/>
                <a:gd name="connsiteX11" fmla="*/ 9075 w 10736"/>
                <a:gd name="connsiteY11" fmla="*/ 2739 h 10199"/>
                <a:gd name="connsiteX12" fmla="*/ 8247 w 10736"/>
                <a:gd name="connsiteY12" fmla="*/ 3362 h 10199"/>
                <a:gd name="connsiteX13" fmla="*/ 8793 w 10736"/>
                <a:gd name="connsiteY13" fmla="*/ 3432 h 10199"/>
                <a:gd name="connsiteX14" fmla="*/ 8859 w 10736"/>
                <a:gd name="connsiteY14" fmla="*/ 3637 h 10199"/>
                <a:gd name="connsiteX15" fmla="*/ 8437 w 10736"/>
                <a:gd name="connsiteY15" fmla="*/ 3658 h 10199"/>
                <a:gd name="connsiteX16" fmla="*/ 8149 w 10736"/>
                <a:gd name="connsiteY16" fmla="*/ 3539 h 10199"/>
                <a:gd name="connsiteX17" fmla="*/ 8262 w 10736"/>
                <a:gd name="connsiteY17" fmla="*/ 3348 h 10199"/>
                <a:gd name="connsiteX18" fmla="*/ 7715 w 10736"/>
                <a:gd name="connsiteY18" fmla="*/ 3309 h 10199"/>
                <a:gd name="connsiteX19" fmla="*/ 7254 w 10736"/>
                <a:gd name="connsiteY19" fmla="*/ 3351 h 10199"/>
                <a:gd name="connsiteX20" fmla="*/ 7031 w 10736"/>
                <a:gd name="connsiteY20" fmla="*/ 3351 h 10199"/>
                <a:gd name="connsiteX21" fmla="*/ 6808 w 10736"/>
                <a:gd name="connsiteY21" fmla="*/ 3667 h 10199"/>
                <a:gd name="connsiteX22" fmla="*/ 6584 w 10736"/>
                <a:gd name="connsiteY22" fmla="*/ 3667 h 10199"/>
                <a:gd name="connsiteX23" fmla="*/ 6138 w 10736"/>
                <a:gd name="connsiteY23" fmla="*/ 3562 h 10199"/>
                <a:gd name="connsiteX24" fmla="*/ 5357 w 10736"/>
                <a:gd name="connsiteY24" fmla="*/ 3456 h 10199"/>
                <a:gd name="connsiteX25" fmla="*/ 4240 w 10736"/>
                <a:gd name="connsiteY25" fmla="*/ 2931 h 10199"/>
                <a:gd name="connsiteX26" fmla="*/ 4575 w 10736"/>
                <a:gd name="connsiteY26" fmla="*/ 2301 h 10199"/>
                <a:gd name="connsiteX27" fmla="*/ 4017 w 10736"/>
                <a:gd name="connsiteY27" fmla="*/ 2090 h 10199"/>
                <a:gd name="connsiteX28" fmla="*/ 3794 w 10736"/>
                <a:gd name="connsiteY28" fmla="*/ 1670 h 10199"/>
                <a:gd name="connsiteX29" fmla="*/ 4017 w 10736"/>
                <a:gd name="connsiteY29" fmla="*/ 1355 h 10199"/>
                <a:gd name="connsiteX30" fmla="*/ 3974 w 10736"/>
                <a:gd name="connsiteY30" fmla="*/ 1093 h 10199"/>
                <a:gd name="connsiteX31" fmla="*/ 4233 w 10736"/>
                <a:gd name="connsiteY31" fmla="*/ 800 h 10199"/>
                <a:gd name="connsiteX32" fmla="*/ 4240 w 10736"/>
                <a:gd name="connsiteY32" fmla="*/ 398 h 10199"/>
                <a:gd name="connsiteX33" fmla="*/ 3696 w 10736"/>
                <a:gd name="connsiteY33" fmla="*/ 0 h 10199"/>
                <a:gd name="connsiteX34" fmla="*/ 3125 w 10736"/>
                <a:gd name="connsiteY34" fmla="*/ 597 h 10199"/>
                <a:gd name="connsiteX35" fmla="*/ 2654 w 10736"/>
                <a:gd name="connsiteY35" fmla="*/ 304 h 10199"/>
                <a:gd name="connsiteX36" fmla="*/ 1935 w 10736"/>
                <a:gd name="connsiteY36" fmla="*/ 376 h 10199"/>
                <a:gd name="connsiteX37" fmla="*/ 1871 w 10736"/>
                <a:gd name="connsiteY37" fmla="*/ 685 h 10199"/>
                <a:gd name="connsiteX38" fmla="*/ 2120 w 10736"/>
                <a:gd name="connsiteY38" fmla="*/ 1145 h 10199"/>
                <a:gd name="connsiteX39" fmla="*/ 2455 w 10736"/>
                <a:gd name="connsiteY39" fmla="*/ 1355 h 10199"/>
                <a:gd name="connsiteX40" fmla="*/ 2232 w 10736"/>
                <a:gd name="connsiteY40" fmla="*/ 1880 h 10199"/>
                <a:gd name="connsiteX41" fmla="*/ 2009 w 10736"/>
                <a:gd name="connsiteY41" fmla="*/ 2301 h 10199"/>
                <a:gd name="connsiteX42" fmla="*/ 1339 w 10736"/>
                <a:gd name="connsiteY42" fmla="*/ 3246 h 10199"/>
                <a:gd name="connsiteX43" fmla="*/ 893 w 10736"/>
                <a:gd name="connsiteY43" fmla="*/ 3246 h 10199"/>
                <a:gd name="connsiteX44" fmla="*/ 557 w 10736"/>
                <a:gd name="connsiteY44" fmla="*/ 3562 h 10199"/>
                <a:gd name="connsiteX45" fmla="*/ 781 w 10736"/>
                <a:gd name="connsiteY45" fmla="*/ 3982 h 10199"/>
                <a:gd name="connsiteX46" fmla="*/ 1116 w 10736"/>
                <a:gd name="connsiteY46" fmla="*/ 4402 h 10199"/>
                <a:gd name="connsiteX47" fmla="*/ 670 w 10736"/>
                <a:gd name="connsiteY47" fmla="*/ 4612 h 10199"/>
                <a:gd name="connsiteX48" fmla="*/ 223 w 10736"/>
                <a:gd name="connsiteY48" fmla="*/ 4717 h 10199"/>
                <a:gd name="connsiteX49" fmla="*/ 0 w 10736"/>
                <a:gd name="connsiteY49" fmla="*/ 4822 h 10199"/>
                <a:gd name="connsiteX50" fmla="*/ 446 w 10736"/>
                <a:gd name="connsiteY50" fmla="*/ 5348 h 10199"/>
                <a:gd name="connsiteX51" fmla="*/ 781 w 10736"/>
                <a:gd name="connsiteY51" fmla="*/ 5768 h 10199"/>
                <a:gd name="connsiteX52" fmla="*/ 1450 w 10736"/>
                <a:gd name="connsiteY52" fmla="*/ 5348 h 10199"/>
                <a:gd name="connsiteX53" fmla="*/ 1673 w 10736"/>
                <a:gd name="connsiteY53" fmla="*/ 7344 h 10199"/>
                <a:gd name="connsiteX54" fmla="*/ 2009 w 10736"/>
                <a:gd name="connsiteY54" fmla="*/ 8203 h 10199"/>
                <a:gd name="connsiteX55" fmla="*/ 2566 w 10736"/>
                <a:gd name="connsiteY55" fmla="*/ 9148 h 10199"/>
                <a:gd name="connsiteX56" fmla="*/ 2901 w 10736"/>
                <a:gd name="connsiteY56" fmla="*/ 9674 h 10199"/>
                <a:gd name="connsiteX57" fmla="*/ 3236 w 10736"/>
                <a:gd name="connsiteY57" fmla="*/ 10199 h 10199"/>
                <a:gd name="connsiteX58" fmla="*/ 3571 w 10736"/>
                <a:gd name="connsiteY58" fmla="*/ 9884 h 10199"/>
                <a:gd name="connsiteX59" fmla="*/ 4017 w 10736"/>
                <a:gd name="connsiteY59" fmla="*/ 9358 h 10199"/>
                <a:gd name="connsiteX60" fmla="*/ 4128 w 10736"/>
                <a:gd name="connsiteY60" fmla="*/ 8938 h 10199"/>
                <a:gd name="connsiteX61" fmla="*/ 4240 w 10736"/>
                <a:gd name="connsiteY61" fmla="*/ 8203 h 10199"/>
                <a:gd name="connsiteX62" fmla="*/ 4352 w 10736"/>
                <a:gd name="connsiteY62" fmla="*/ 7555 h 10199"/>
                <a:gd name="connsiteX63" fmla="*/ 5133 w 10736"/>
                <a:gd name="connsiteY63" fmla="*/ 6924 h 10199"/>
                <a:gd name="connsiteX64" fmla="*/ 5915 w 10736"/>
                <a:gd name="connsiteY64" fmla="*/ 6399 h 10199"/>
                <a:gd name="connsiteX65" fmla="*/ 6639 w 10736"/>
                <a:gd name="connsiteY65" fmla="*/ 6074 h 10199"/>
                <a:gd name="connsiteX66" fmla="*/ 7176 w 10736"/>
                <a:gd name="connsiteY66" fmla="*/ 5549 h 10199"/>
                <a:gd name="connsiteX67" fmla="*/ 8062 w 10736"/>
                <a:gd name="connsiteY67" fmla="*/ 5505 h 10199"/>
                <a:gd name="connsiteX68" fmla="*/ 7861 w 10736"/>
                <a:gd name="connsiteY68" fmla="*/ 4783 h 10199"/>
                <a:gd name="connsiteX69" fmla="*/ 7954 w 10736"/>
                <a:gd name="connsiteY69" fmla="*/ 4592 h 10199"/>
                <a:gd name="connsiteX70" fmla="*/ 8087 w 10736"/>
                <a:gd name="connsiteY70" fmla="*/ 4434 h 10199"/>
                <a:gd name="connsiteX71" fmla="*/ 8411 w 10736"/>
                <a:gd name="connsiteY71" fmla="*/ 4427 h 10199"/>
                <a:gd name="connsiteX72" fmla="*/ 8784 w 10736"/>
                <a:gd name="connsiteY72" fmla="*/ 4671 h 10199"/>
                <a:gd name="connsiteX0" fmla="*/ 8784 w 10736"/>
                <a:gd name="connsiteY0" fmla="*/ 4671 h 10199"/>
                <a:gd name="connsiteX1" fmla="*/ 9397 w 10736"/>
                <a:gd name="connsiteY1" fmla="*/ 4846 h 10199"/>
                <a:gd name="connsiteX2" fmla="*/ 9150 w 10736"/>
                <a:gd name="connsiteY2" fmla="*/ 5258 h 10199"/>
                <a:gd name="connsiteX3" fmla="*/ 9543 w 10736"/>
                <a:gd name="connsiteY3" fmla="*/ 5401 h 10199"/>
                <a:gd name="connsiteX4" fmla="*/ 9949 w 10736"/>
                <a:gd name="connsiteY4" fmla="*/ 4769 h 10199"/>
                <a:gd name="connsiteX5" fmla="*/ 10736 w 10736"/>
                <a:gd name="connsiteY5" fmla="*/ 4249 h 10199"/>
                <a:gd name="connsiteX6" fmla="*/ 10429 w 10736"/>
                <a:gd name="connsiteY6" fmla="*/ 4190 h 10199"/>
                <a:gd name="connsiteX7" fmla="*/ 10593 w 10736"/>
                <a:gd name="connsiteY7" fmla="*/ 3579 h 10199"/>
                <a:gd name="connsiteX8" fmla="*/ 10508 w 10736"/>
                <a:gd name="connsiteY8" fmla="*/ 3200 h 10199"/>
                <a:gd name="connsiteX9" fmla="*/ 10055 w 10736"/>
                <a:gd name="connsiteY9" fmla="*/ 2989 h 10199"/>
                <a:gd name="connsiteX10" fmla="*/ 9600 w 10736"/>
                <a:gd name="connsiteY10" fmla="*/ 2743 h 10199"/>
                <a:gd name="connsiteX11" fmla="*/ 9075 w 10736"/>
                <a:gd name="connsiteY11" fmla="*/ 2739 h 10199"/>
                <a:gd name="connsiteX12" fmla="*/ 8247 w 10736"/>
                <a:gd name="connsiteY12" fmla="*/ 3362 h 10199"/>
                <a:gd name="connsiteX13" fmla="*/ 8793 w 10736"/>
                <a:gd name="connsiteY13" fmla="*/ 3432 h 10199"/>
                <a:gd name="connsiteX14" fmla="*/ 8859 w 10736"/>
                <a:gd name="connsiteY14" fmla="*/ 3637 h 10199"/>
                <a:gd name="connsiteX15" fmla="*/ 8437 w 10736"/>
                <a:gd name="connsiteY15" fmla="*/ 3658 h 10199"/>
                <a:gd name="connsiteX16" fmla="*/ 8149 w 10736"/>
                <a:gd name="connsiteY16" fmla="*/ 3539 h 10199"/>
                <a:gd name="connsiteX17" fmla="*/ 8262 w 10736"/>
                <a:gd name="connsiteY17" fmla="*/ 3348 h 10199"/>
                <a:gd name="connsiteX18" fmla="*/ 7715 w 10736"/>
                <a:gd name="connsiteY18" fmla="*/ 3309 h 10199"/>
                <a:gd name="connsiteX19" fmla="*/ 7254 w 10736"/>
                <a:gd name="connsiteY19" fmla="*/ 3351 h 10199"/>
                <a:gd name="connsiteX20" fmla="*/ 7031 w 10736"/>
                <a:gd name="connsiteY20" fmla="*/ 3351 h 10199"/>
                <a:gd name="connsiteX21" fmla="*/ 6808 w 10736"/>
                <a:gd name="connsiteY21" fmla="*/ 3667 h 10199"/>
                <a:gd name="connsiteX22" fmla="*/ 6584 w 10736"/>
                <a:gd name="connsiteY22" fmla="*/ 3667 h 10199"/>
                <a:gd name="connsiteX23" fmla="*/ 6138 w 10736"/>
                <a:gd name="connsiteY23" fmla="*/ 3562 h 10199"/>
                <a:gd name="connsiteX24" fmla="*/ 5357 w 10736"/>
                <a:gd name="connsiteY24" fmla="*/ 3456 h 10199"/>
                <a:gd name="connsiteX25" fmla="*/ 4240 w 10736"/>
                <a:gd name="connsiteY25" fmla="*/ 2931 h 10199"/>
                <a:gd name="connsiteX26" fmla="*/ 4575 w 10736"/>
                <a:gd name="connsiteY26" fmla="*/ 2301 h 10199"/>
                <a:gd name="connsiteX27" fmla="*/ 4017 w 10736"/>
                <a:gd name="connsiteY27" fmla="*/ 2090 h 10199"/>
                <a:gd name="connsiteX28" fmla="*/ 3794 w 10736"/>
                <a:gd name="connsiteY28" fmla="*/ 1670 h 10199"/>
                <a:gd name="connsiteX29" fmla="*/ 4017 w 10736"/>
                <a:gd name="connsiteY29" fmla="*/ 1355 h 10199"/>
                <a:gd name="connsiteX30" fmla="*/ 3974 w 10736"/>
                <a:gd name="connsiteY30" fmla="*/ 1093 h 10199"/>
                <a:gd name="connsiteX31" fmla="*/ 4233 w 10736"/>
                <a:gd name="connsiteY31" fmla="*/ 800 h 10199"/>
                <a:gd name="connsiteX32" fmla="*/ 4240 w 10736"/>
                <a:gd name="connsiteY32" fmla="*/ 398 h 10199"/>
                <a:gd name="connsiteX33" fmla="*/ 3696 w 10736"/>
                <a:gd name="connsiteY33" fmla="*/ 0 h 10199"/>
                <a:gd name="connsiteX34" fmla="*/ 3125 w 10736"/>
                <a:gd name="connsiteY34" fmla="*/ 597 h 10199"/>
                <a:gd name="connsiteX35" fmla="*/ 2654 w 10736"/>
                <a:gd name="connsiteY35" fmla="*/ 304 h 10199"/>
                <a:gd name="connsiteX36" fmla="*/ 1935 w 10736"/>
                <a:gd name="connsiteY36" fmla="*/ 376 h 10199"/>
                <a:gd name="connsiteX37" fmla="*/ 1705 w 10736"/>
                <a:gd name="connsiteY37" fmla="*/ 917 h 10199"/>
                <a:gd name="connsiteX38" fmla="*/ 2120 w 10736"/>
                <a:gd name="connsiteY38" fmla="*/ 1145 h 10199"/>
                <a:gd name="connsiteX39" fmla="*/ 2455 w 10736"/>
                <a:gd name="connsiteY39" fmla="*/ 1355 h 10199"/>
                <a:gd name="connsiteX40" fmla="*/ 2232 w 10736"/>
                <a:gd name="connsiteY40" fmla="*/ 1880 h 10199"/>
                <a:gd name="connsiteX41" fmla="*/ 2009 w 10736"/>
                <a:gd name="connsiteY41" fmla="*/ 2301 h 10199"/>
                <a:gd name="connsiteX42" fmla="*/ 1339 w 10736"/>
                <a:gd name="connsiteY42" fmla="*/ 3246 h 10199"/>
                <a:gd name="connsiteX43" fmla="*/ 893 w 10736"/>
                <a:gd name="connsiteY43" fmla="*/ 3246 h 10199"/>
                <a:gd name="connsiteX44" fmla="*/ 557 w 10736"/>
                <a:gd name="connsiteY44" fmla="*/ 3562 h 10199"/>
                <a:gd name="connsiteX45" fmla="*/ 781 w 10736"/>
                <a:gd name="connsiteY45" fmla="*/ 3982 h 10199"/>
                <a:gd name="connsiteX46" fmla="*/ 1116 w 10736"/>
                <a:gd name="connsiteY46" fmla="*/ 4402 h 10199"/>
                <a:gd name="connsiteX47" fmla="*/ 670 w 10736"/>
                <a:gd name="connsiteY47" fmla="*/ 4612 h 10199"/>
                <a:gd name="connsiteX48" fmla="*/ 223 w 10736"/>
                <a:gd name="connsiteY48" fmla="*/ 4717 h 10199"/>
                <a:gd name="connsiteX49" fmla="*/ 0 w 10736"/>
                <a:gd name="connsiteY49" fmla="*/ 4822 h 10199"/>
                <a:gd name="connsiteX50" fmla="*/ 446 w 10736"/>
                <a:gd name="connsiteY50" fmla="*/ 5348 h 10199"/>
                <a:gd name="connsiteX51" fmla="*/ 781 w 10736"/>
                <a:gd name="connsiteY51" fmla="*/ 5768 h 10199"/>
                <a:gd name="connsiteX52" fmla="*/ 1450 w 10736"/>
                <a:gd name="connsiteY52" fmla="*/ 5348 h 10199"/>
                <a:gd name="connsiteX53" fmla="*/ 1673 w 10736"/>
                <a:gd name="connsiteY53" fmla="*/ 7344 h 10199"/>
                <a:gd name="connsiteX54" fmla="*/ 2009 w 10736"/>
                <a:gd name="connsiteY54" fmla="*/ 8203 h 10199"/>
                <a:gd name="connsiteX55" fmla="*/ 2566 w 10736"/>
                <a:gd name="connsiteY55" fmla="*/ 9148 h 10199"/>
                <a:gd name="connsiteX56" fmla="*/ 2901 w 10736"/>
                <a:gd name="connsiteY56" fmla="*/ 9674 h 10199"/>
                <a:gd name="connsiteX57" fmla="*/ 3236 w 10736"/>
                <a:gd name="connsiteY57" fmla="*/ 10199 h 10199"/>
                <a:gd name="connsiteX58" fmla="*/ 3571 w 10736"/>
                <a:gd name="connsiteY58" fmla="*/ 9884 h 10199"/>
                <a:gd name="connsiteX59" fmla="*/ 4017 w 10736"/>
                <a:gd name="connsiteY59" fmla="*/ 9358 h 10199"/>
                <a:gd name="connsiteX60" fmla="*/ 4128 w 10736"/>
                <a:gd name="connsiteY60" fmla="*/ 8938 h 10199"/>
                <a:gd name="connsiteX61" fmla="*/ 4240 w 10736"/>
                <a:gd name="connsiteY61" fmla="*/ 8203 h 10199"/>
                <a:gd name="connsiteX62" fmla="*/ 4352 w 10736"/>
                <a:gd name="connsiteY62" fmla="*/ 7555 h 10199"/>
                <a:gd name="connsiteX63" fmla="*/ 5133 w 10736"/>
                <a:gd name="connsiteY63" fmla="*/ 6924 h 10199"/>
                <a:gd name="connsiteX64" fmla="*/ 5915 w 10736"/>
                <a:gd name="connsiteY64" fmla="*/ 6399 h 10199"/>
                <a:gd name="connsiteX65" fmla="*/ 6639 w 10736"/>
                <a:gd name="connsiteY65" fmla="*/ 6074 h 10199"/>
                <a:gd name="connsiteX66" fmla="*/ 7176 w 10736"/>
                <a:gd name="connsiteY66" fmla="*/ 5549 h 10199"/>
                <a:gd name="connsiteX67" fmla="*/ 8062 w 10736"/>
                <a:gd name="connsiteY67" fmla="*/ 5505 h 10199"/>
                <a:gd name="connsiteX68" fmla="*/ 7861 w 10736"/>
                <a:gd name="connsiteY68" fmla="*/ 4783 h 10199"/>
                <a:gd name="connsiteX69" fmla="*/ 7954 w 10736"/>
                <a:gd name="connsiteY69" fmla="*/ 4592 h 10199"/>
                <a:gd name="connsiteX70" fmla="*/ 8087 w 10736"/>
                <a:gd name="connsiteY70" fmla="*/ 4434 h 10199"/>
                <a:gd name="connsiteX71" fmla="*/ 8411 w 10736"/>
                <a:gd name="connsiteY71" fmla="*/ 4427 h 10199"/>
                <a:gd name="connsiteX72" fmla="*/ 8784 w 10736"/>
                <a:gd name="connsiteY72" fmla="*/ 4671 h 10199"/>
                <a:gd name="connsiteX0" fmla="*/ 8784 w 10736"/>
                <a:gd name="connsiteY0" fmla="*/ 4671 h 10199"/>
                <a:gd name="connsiteX1" fmla="*/ 9397 w 10736"/>
                <a:gd name="connsiteY1" fmla="*/ 4846 h 10199"/>
                <a:gd name="connsiteX2" fmla="*/ 9150 w 10736"/>
                <a:gd name="connsiteY2" fmla="*/ 5258 h 10199"/>
                <a:gd name="connsiteX3" fmla="*/ 9543 w 10736"/>
                <a:gd name="connsiteY3" fmla="*/ 5401 h 10199"/>
                <a:gd name="connsiteX4" fmla="*/ 9949 w 10736"/>
                <a:gd name="connsiteY4" fmla="*/ 4769 h 10199"/>
                <a:gd name="connsiteX5" fmla="*/ 10736 w 10736"/>
                <a:gd name="connsiteY5" fmla="*/ 4249 h 10199"/>
                <a:gd name="connsiteX6" fmla="*/ 10429 w 10736"/>
                <a:gd name="connsiteY6" fmla="*/ 4190 h 10199"/>
                <a:gd name="connsiteX7" fmla="*/ 10593 w 10736"/>
                <a:gd name="connsiteY7" fmla="*/ 3579 h 10199"/>
                <a:gd name="connsiteX8" fmla="*/ 10508 w 10736"/>
                <a:gd name="connsiteY8" fmla="*/ 3200 h 10199"/>
                <a:gd name="connsiteX9" fmla="*/ 10055 w 10736"/>
                <a:gd name="connsiteY9" fmla="*/ 2989 h 10199"/>
                <a:gd name="connsiteX10" fmla="*/ 9600 w 10736"/>
                <a:gd name="connsiteY10" fmla="*/ 2743 h 10199"/>
                <a:gd name="connsiteX11" fmla="*/ 9075 w 10736"/>
                <a:gd name="connsiteY11" fmla="*/ 2739 h 10199"/>
                <a:gd name="connsiteX12" fmla="*/ 8247 w 10736"/>
                <a:gd name="connsiteY12" fmla="*/ 3362 h 10199"/>
                <a:gd name="connsiteX13" fmla="*/ 8793 w 10736"/>
                <a:gd name="connsiteY13" fmla="*/ 3432 h 10199"/>
                <a:gd name="connsiteX14" fmla="*/ 8859 w 10736"/>
                <a:gd name="connsiteY14" fmla="*/ 3637 h 10199"/>
                <a:gd name="connsiteX15" fmla="*/ 8437 w 10736"/>
                <a:gd name="connsiteY15" fmla="*/ 3658 h 10199"/>
                <a:gd name="connsiteX16" fmla="*/ 8149 w 10736"/>
                <a:gd name="connsiteY16" fmla="*/ 3539 h 10199"/>
                <a:gd name="connsiteX17" fmla="*/ 8262 w 10736"/>
                <a:gd name="connsiteY17" fmla="*/ 3348 h 10199"/>
                <a:gd name="connsiteX18" fmla="*/ 7715 w 10736"/>
                <a:gd name="connsiteY18" fmla="*/ 3309 h 10199"/>
                <a:gd name="connsiteX19" fmla="*/ 7254 w 10736"/>
                <a:gd name="connsiteY19" fmla="*/ 3351 h 10199"/>
                <a:gd name="connsiteX20" fmla="*/ 7031 w 10736"/>
                <a:gd name="connsiteY20" fmla="*/ 3351 h 10199"/>
                <a:gd name="connsiteX21" fmla="*/ 6808 w 10736"/>
                <a:gd name="connsiteY21" fmla="*/ 3667 h 10199"/>
                <a:gd name="connsiteX22" fmla="*/ 6584 w 10736"/>
                <a:gd name="connsiteY22" fmla="*/ 3667 h 10199"/>
                <a:gd name="connsiteX23" fmla="*/ 6138 w 10736"/>
                <a:gd name="connsiteY23" fmla="*/ 3562 h 10199"/>
                <a:gd name="connsiteX24" fmla="*/ 5357 w 10736"/>
                <a:gd name="connsiteY24" fmla="*/ 3456 h 10199"/>
                <a:gd name="connsiteX25" fmla="*/ 4240 w 10736"/>
                <a:gd name="connsiteY25" fmla="*/ 2931 h 10199"/>
                <a:gd name="connsiteX26" fmla="*/ 4575 w 10736"/>
                <a:gd name="connsiteY26" fmla="*/ 2301 h 10199"/>
                <a:gd name="connsiteX27" fmla="*/ 4017 w 10736"/>
                <a:gd name="connsiteY27" fmla="*/ 2090 h 10199"/>
                <a:gd name="connsiteX28" fmla="*/ 3794 w 10736"/>
                <a:gd name="connsiteY28" fmla="*/ 1670 h 10199"/>
                <a:gd name="connsiteX29" fmla="*/ 4017 w 10736"/>
                <a:gd name="connsiteY29" fmla="*/ 1355 h 10199"/>
                <a:gd name="connsiteX30" fmla="*/ 3974 w 10736"/>
                <a:gd name="connsiteY30" fmla="*/ 1093 h 10199"/>
                <a:gd name="connsiteX31" fmla="*/ 4233 w 10736"/>
                <a:gd name="connsiteY31" fmla="*/ 800 h 10199"/>
                <a:gd name="connsiteX32" fmla="*/ 4240 w 10736"/>
                <a:gd name="connsiteY32" fmla="*/ 398 h 10199"/>
                <a:gd name="connsiteX33" fmla="*/ 3696 w 10736"/>
                <a:gd name="connsiteY33" fmla="*/ 0 h 10199"/>
                <a:gd name="connsiteX34" fmla="*/ 3125 w 10736"/>
                <a:gd name="connsiteY34" fmla="*/ 597 h 10199"/>
                <a:gd name="connsiteX35" fmla="*/ 2654 w 10736"/>
                <a:gd name="connsiteY35" fmla="*/ 304 h 10199"/>
                <a:gd name="connsiteX36" fmla="*/ 1935 w 10736"/>
                <a:gd name="connsiteY36" fmla="*/ 376 h 10199"/>
                <a:gd name="connsiteX37" fmla="*/ 1705 w 10736"/>
                <a:gd name="connsiteY37" fmla="*/ 917 h 10199"/>
                <a:gd name="connsiteX38" fmla="*/ 2120 w 10736"/>
                <a:gd name="connsiteY38" fmla="*/ 1377 h 10199"/>
                <a:gd name="connsiteX39" fmla="*/ 2455 w 10736"/>
                <a:gd name="connsiteY39" fmla="*/ 1355 h 10199"/>
                <a:gd name="connsiteX40" fmla="*/ 2232 w 10736"/>
                <a:gd name="connsiteY40" fmla="*/ 1880 h 10199"/>
                <a:gd name="connsiteX41" fmla="*/ 2009 w 10736"/>
                <a:gd name="connsiteY41" fmla="*/ 2301 h 10199"/>
                <a:gd name="connsiteX42" fmla="*/ 1339 w 10736"/>
                <a:gd name="connsiteY42" fmla="*/ 3246 h 10199"/>
                <a:gd name="connsiteX43" fmla="*/ 893 w 10736"/>
                <a:gd name="connsiteY43" fmla="*/ 3246 h 10199"/>
                <a:gd name="connsiteX44" fmla="*/ 557 w 10736"/>
                <a:gd name="connsiteY44" fmla="*/ 3562 h 10199"/>
                <a:gd name="connsiteX45" fmla="*/ 781 w 10736"/>
                <a:gd name="connsiteY45" fmla="*/ 3982 h 10199"/>
                <a:gd name="connsiteX46" fmla="*/ 1116 w 10736"/>
                <a:gd name="connsiteY46" fmla="*/ 4402 h 10199"/>
                <a:gd name="connsiteX47" fmla="*/ 670 w 10736"/>
                <a:gd name="connsiteY47" fmla="*/ 4612 h 10199"/>
                <a:gd name="connsiteX48" fmla="*/ 223 w 10736"/>
                <a:gd name="connsiteY48" fmla="*/ 4717 h 10199"/>
                <a:gd name="connsiteX49" fmla="*/ 0 w 10736"/>
                <a:gd name="connsiteY49" fmla="*/ 4822 h 10199"/>
                <a:gd name="connsiteX50" fmla="*/ 446 w 10736"/>
                <a:gd name="connsiteY50" fmla="*/ 5348 h 10199"/>
                <a:gd name="connsiteX51" fmla="*/ 781 w 10736"/>
                <a:gd name="connsiteY51" fmla="*/ 5768 h 10199"/>
                <a:gd name="connsiteX52" fmla="*/ 1450 w 10736"/>
                <a:gd name="connsiteY52" fmla="*/ 5348 h 10199"/>
                <a:gd name="connsiteX53" fmla="*/ 1673 w 10736"/>
                <a:gd name="connsiteY53" fmla="*/ 7344 h 10199"/>
                <a:gd name="connsiteX54" fmla="*/ 2009 w 10736"/>
                <a:gd name="connsiteY54" fmla="*/ 8203 h 10199"/>
                <a:gd name="connsiteX55" fmla="*/ 2566 w 10736"/>
                <a:gd name="connsiteY55" fmla="*/ 9148 h 10199"/>
                <a:gd name="connsiteX56" fmla="*/ 2901 w 10736"/>
                <a:gd name="connsiteY56" fmla="*/ 9674 h 10199"/>
                <a:gd name="connsiteX57" fmla="*/ 3236 w 10736"/>
                <a:gd name="connsiteY57" fmla="*/ 10199 h 10199"/>
                <a:gd name="connsiteX58" fmla="*/ 3571 w 10736"/>
                <a:gd name="connsiteY58" fmla="*/ 9884 h 10199"/>
                <a:gd name="connsiteX59" fmla="*/ 4017 w 10736"/>
                <a:gd name="connsiteY59" fmla="*/ 9358 h 10199"/>
                <a:gd name="connsiteX60" fmla="*/ 4128 w 10736"/>
                <a:gd name="connsiteY60" fmla="*/ 8938 h 10199"/>
                <a:gd name="connsiteX61" fmla="*/ 4240 w 10736"/>
                <a:gd name="connsiteY61" fmla="*/ 8203 h 10199"/>
                <a:gd name="connsiteX62" fmla="*/ 4352 w 10736"/>
                <a:gd name="connsiteY62" fmla="*/ 7555 h 10199"/>
                <a:gd name="connsiteX63" fmla="*/ 5133 w 10736"/>
                <a:gd name="connsiteY63" fmla="*/ 6924 h 10199"/>
                <a:gd name="connsiteX64" fmla="*/ 5915 w 10736"/>
                <a:gd name="connsiteY64" fmla="*/ 6399 h 10199"/>
                <a:gd name="connsiteX65" fmla="*/ 6639 w 10736"/>
                <a:gd name="connsiteY65" fmla="*/ 6074 h 10199"/>
                <a:gd name="connsiteX66" fmla="*/ 7176 w 10736"/>
                <a:gd name="connsiteY66" fmla="*/ 5549 h 10199"/>
                <a:gd name="connsiteX67" fmla="*/ 8062 w 10736"/>
                <a:gd name="connsiteY67" fmla="*/ 5505 h 10199"/>
                <a:gd name="connsiteX68" fmla="*/ 7861 w 10736"/>
                <a:gd name="connsiteY68" fmla="*/ 4783 h 10199"/>
                <a:gd name="connsiteX69" fmla="*/ 7954 w 10736"/>
                <a:gd name="connsiteY69" fmla="*/ 4592 h 10199"/>
                <a:gd name="connsiteX70" fmla="*/ 8087 w 10736"/>
                <a:gd name="connsiteY70" fmla="*/ 4434 h 10199"/>
                <a:gd name="connsiteX71" fmla="*/ 8411 w 10736"/>
                <a:gd name="connsiteY71" fmla="*/ 4427 h 10199"/>
                <a:gd name="connsiteX72" fmla="*/ 8784 w 10736"/>
                <a:gd name="connsiteY72" fmla="*/ 4671 h 10199"/>
                <a:gd name="connsiteX0" fmla="*/ 8784 w 10736"/>
                <a:gd name="connsiteY0" fmla="*/ 4671 h 10199"/>
                <a:gd name="connsiteX1" fmla="*/ 9397 w 10736"/>
                <a:gd name="connsiteY1" fmla="*/ 4846 h 10199"/>
                <a:gd name="connsiteX2" fmla="*/ 9150 w 10736"/>
                <a:gd name="connsiteY2" fmla="*/ 5258 h 10199"/>
                <a:gd name="connsiteX3" fmla="*/ 9543 w 10736"/>
                <a:gd name="connsiteY3" fmla="*/ 5401 h 10199"/>
                <a:gd name="connsiteX4" fmla="*/ 9949 w 10736"/>
                <a:gd name="connsiteY4" fmla="*/ 4769 h 10199"/>
                <a:gd name="connsiteX5" fmla="*/ 10736 w 10736"/>
                <a:gd name="connsiteY5" fmla="*/ 4249 h 10199"/>
                <a:gd name="connsiteX6" fmla="*/ 10429 w 10736"/>
                <a:gd name="connsiteY6" fmla="*/ 4190 h 10199"/>
                <a:gd name="connsiteX7" fmla="*/ 10593 w 10736"/>
                <a:gd name="connsiteY7" fmla="*/ 3579 h 10199"/>
                <a:gd name="connsiteX8" fmla="*/ 10508 w 10736"/>
                <a:gd name="connsiteY8" fmla="*/ 3200 h 10199"/>
                <a:gd name="connsiteX9" fmla="*/ 10055 w 10736"/>
                <a:gd name="connsiteY9" fmla="*/ 2989 h 10199"/>
                <a:gd name="connsiteX10" fmla="*/ 9600 w 10736"/>
                <a:gd name="connsiteY10" fmla="*/ 2743 h 10199"/>
                <a:gd name="connsiteX11" fmla="*/ 9075 w 10736"/>
                <a:gd name="connsiteY11" fmla="*/ 2739 h 10199"/>
                <a:gd name="connsiteX12" fmla="*/ 8247 w 10736"/>
                <a:gd name="connsiteY12" fmla="*/ 3362 h 10199"/>
                <a:gd name="connsiteX13" fmla="*/ 8793 w 10736"/>
                <a:gd name="connsiteY13" fmla="*/ 3432 h 10199"/>
                <a:gd name="connsiteX14" fmla="*/ 8859 w 10736"/>
                <a:gd name="connsiteY14" fmla="*/ 3637 h 10199"/>
                <a:gd name="connsiteX15" fmla="*/ 8437 w 10736"/>
                <a:gd name="connsiteY15" fmla="*/ 3658 h 10199"/>
                <a:gd name="connsiteX16" fmla="*/ 8149 w 10736"/>
                <a:gd name="connsiteY16" fmla="*/ 3539 h 10199"/>
                <a:gd name="connsiteX17" fmla="*/ 8262 w 10736"/>
                <a:gd name="connsiteY17" fmla="*/ 3348 h 10199"/>
                <a:gd name="connsiteX18" fmla="*/ 7715 w 10736"/>
                <a:gd name="connsiteY18" fmla="*/ 3309 h 10199"/>
                <a:gd name="connsiteX19" fmla="*/ 7254 w 10736"/>
                <a:gd name="connsiteY19" fmla="*/ 3351 h 10199"/>
                <a:gd name="connsiteX20" fmla="*/ 7031 w 10736"/>
                <a:gd name="connsiteY20" fmla="*/ 3351 h 10199"/>
                <a:gd name="connsiteX21" fmla="*/ 6808 w 10736"/>
                <a:gd name="connsiteY21" fmla="*/ 3667 h 10199"/>
                <a:gd name="connsiteX22" fmla="*/ 6584 w 10736"/>
                <a:gd name="connsiteY22" fmla="*/ 3667 h 10199"/>
                <a:gd name="connsiteX23" fmla="*/ 6138 w 10736"/>
                <a:gd name="connsiteY23" fmla="*/ 3562 h 10199"/>
                <a:gd name="connsiteX24" fmla="*/ 5357 w 10736"/>
                <a:gd name="connsiteY24" fmla="*/ 3456 h 10199"/>
                <a:gd name="connsiteX25" fmla="*/ 4240 w 10736"/>
                <a:gd name="connsiteY25" fmla="*/ 2931 h 10199"/>
                <a:gd name="connsiteX26" fmla="*/ 4575 w 10736"/>
                <a:gd name="connsiteY26" fmla="*/ 2301 h 10199"/>
                <a:gd name="connsiteX27" fmla="*/ 4017 w 10736"/>
                <a:gd name="connsiteY27" fmla="*/ 2090 h 10199"/>
                <a:gd name="connsiteX28" fmla="*/ 3794 w 10736"/>
                <a:gd name="connsiteY28" fmla="*/ 1670 h 10199"/>
                <a:gd name="connsiteX29" fmla="*/ 4017 w 10736"/>
                <a:gd name="connsiteY29" fmla="*/ 1355 h 10199"/>
                <a:gd name="connsiteX30" fmla="*/ 3974 w 10736"/>
                <a:gd name="connsiteY30" fmla="*/ 1093 h 10199"/>
                <a:gd name="connsiteX31" fmla="*/ 4233 w 10736"/>
                <a:gd name="connsiteY31" fmla="*/ 800 h 10199"/>
                <a:gd name="connsiteX32" fmla="*/ 4240 w 10736"/>
                <a:gd name="connsiteY32" fmla="*/ 398 h 10199"/>
                <a:gd name="connsiteX33" fmla="*/ 3696 w 10736"/>
                <a:gd name="connsiteY33" fmla="*/ 0 h 10199"/>
                <a:gd name="connsiteX34" fmla="*/ 3125 w 10736"/>
                <a:gd name="connsiteY34" fmla="*/ 597 h 10199"/>
                <a:gd name="connsiteX35" fmla="*/ 2654 w 10736"/>
                <a:gd name="connsiteY35" fmla="*/ 304 h 10199"/>
                <a:gd name="connsiteX36" fmla="*/ 1935 w 10736"/>
                <a:gd name="connsiteY36" fmla="*/ 376 h 10199"/>
                <a:gd name="connsiteX37" fmla="*/ 1830 w 10736"/>
                <a:gd name="connsiteY37" fmla="*/ 818 h 10199"/>
                <a:gd name="connsiteX38" fmla="*/ 2120 w 10736"/>
                <a:gd name="connsiteY38" fmla="*/ 1377 h 10199"/>
                <a:gd name="connsiteX39" fmla="*/ 2455 w 10736"/>
                <a:gd name="connsiteY39" fmla="*/ 1355 h 10199"/>
                <a:gd name="connsiteX40" fmla="*/ 2232 w 10736"/>
                <a:gd name="connsiteY40" fmla="*/ 1880 h 10199"/>
                <a:gd name="connsiteX41" fmla="*/ 2009 w 10736"/>
                <a:gd name="connsiteY41" fmla="*/ 2301 h 10199"/>
                <a:gd name="connsiteX42" fmla="*/ 1339 w 10736"/>
                <a:gd name="connsiteY42" fmla="*/ 3246 h 10199"/>
                <a:gd name="connsiteX43" fmla="*/ 893 w 10736"/>
                <a:gd name="connsiteY43" fmla="*/ 3246 h 10199"/>
                <a:gd name="connsiteX44" fmla="*/ 557 w 10736"/>
                <a:gd name="connsiteY44" fmla="*/ 3562 h 10199"/>
                <a:gd name="connsiteX45" fmla="*/ 781 w 10736"/>
                <a:gd name="connsiteY45" fmla="*/ 3982 h 10199"/>
                <a:gd name="connsiteX46" fmla="*/ 1116 w 10736"/>
                <a:gd name="connsiteY46" fmla="*/ 4402 h 10199"/>
                <a:gd name="connsiteX47" fmla="*/ 670 w 10736"/>
                <a:gd name="connsiteY47" fmla="*/ 4612 h 10199"/>
                <a:gd name="connsiteX48" fmla="*/ 223 w 10736"/>
                <a:gd name="connsiteY48" fmla="*/ 4717 h 10199"/>
                <a:gd name="connsiteX49" fmla="*/ 0 w 10736"/>
                <a:gd name="connsiteY49" fmla="*/ 4822 h 10199"/>
                <a:gd name="connsiteX50" fmla="*/ 446 w 10736"/>
                <a:gd name="connsiteY50" fmla="*/ 5348 h 10199"/>
                <a:gd name="connsiteX51" fmla="*/ 781 w 10736"/>
                <a:gd name="connsiteY51" fmla="*/ 5768 h 10199"/>
                <a:gd name="connsiteX52" fmla="*/ 1450 w 10736"/>
                <a:gd name="connsiteY52" fmla="*/ 5348 h 10199"/>
                <a:gd name="connsiteX53" fmla="*/ 1673 w 10736"/>
                <a:gd name="connsiteY53" fmla="*/ 7344 h 10199"/>
                <a:gd name="connsiteX54" fmla="*/ 2009 w 10736"/>
                <a:gd name="connsiteY54" fmla="*/ 8203 h 10199"/>
                <a:gd name="connsiteX55" fmla="*/ 2566 w 10736"/>
                <a:gd name="connsiteY55" fmla="*/ 9148 h 10199"/>
                <a:gd name="connsiteX56" fmla="*/ 2901 w 10736"/>
                <a:gd name="connsiteY56" fmla="*/ 9674 h 10199"/>
                <a:gd name="connsiteX57" fmla="*/ 3236 w 10736"/>
                <a:gd name="connsiteY57" fmla="*/ 10199 h 10199"/>
                <a:gd name="connsiteX58" fmla="*/ 3571 w 10736"/>
                <a:gd name="connsiteY58" fmla="*/ 9884 h 10199"/>
                <a:gd name="connsiteX59" fmla="*/ 4017 w 10736"/>
                <a:gd name="connsiteY59" fmla="*/ 9358 h 10199"/>
                <a:gd name="connsiteX60" fmla="*/ 4128 w 10736"/>
                <a:gd name="connsiteY60" fmla="*/ 8938 h 10199"/>
                <a:gd name="connsiteX61" fmla="*/ 4240 w 10736"/>
                <a:gd name="connsiteY61" fmla="*/ 8203 h 10199"/>
                <a:gd name="connsiteX62" fmla="*/ 4352 w 10736"/>
                <a:gd name="connsiteY62" fmla="*/ 7555 h 10199"/>
                <a:gd name="connsiteX63" fmla="*/ 5133 w 10736"/>
                <a:gd name="connsiteY63" fmla="*/ 6924 h 10199"/>
                <a:gd name="connsiteX64" fmla="*/ 5915 w 10736"/>
                <a:gd name="connsiteY64" fmla="*/ 6399 h 10199"/>
                <a:gd name="connsiteX65" fmla="*/ 6639 w 10736"/>
                <a:gd name="connsiteY65" fmla="*/ 6074 h 10199"/>
                <a:gd name="connsiteX66" fmla="*/ 7176 w 10736"/>
                <a:gd name="connsiteY66" fmla="*/ 5549 h 10199"/>
                <a:gd name="connsiteX67" fmla="*/ 8062 w 10736"/>
                <a:gd name="connsiteY67" fmla="*/ 5505 h 10199"/>
                <a:gd name="connsiteX68" fmla="*/ 7861 w 10736"/>
                <a:gd name="connsiteY68" fmla="*/ 4783 h 10199"/>
                <a:gd name="connsiteX69" fmla="*/ 7954 w 10736"/>
                <a:gd name="connsiteY69" fmla="*/ 4592 h 10199"/>
                <a:gd name="connsiteX70" fmla="*/ 8087 w 10736"/>
                <a:gd name="connsiteY70" fmla="*/ 4434 h 10199"/>
                <a:gd name="connsiteX71" fmla="*/ 8411 w 10736"/>
                <a:gd name="connsiteY71" fmla="*/ 4427 h 10199"/>
                <a:gd name="connsiteX72" fmla="*/ 8784 w 10736"/>
                <a:gd name="connsiteY72" fmla="*/ 4671 h 10199"/>
                <a:gd name="connsiteX0" fmla="*/ 8784 w 10736"/>
                <a:gd name="connsiteY0" fmla="*/ 4671 h 10199"/>
                <a:gd name="connsiteX1" fmla="*/ 9397 w 10736"/>
                <a:gd name="connsiteY1" fmla="*/ 4846 h 10199"/>
                <a:gd name="connsiteX2" fmla="*/ 9150 w 10736"/>
                <a:gd name="connsiteY2" fmla="*/ 5258 h 10199"/>
                <a:gd name="connsiteX3" fmla="*/ 9543 w 10736"/>
                <a:gd name="connsiteY3" fmla="*/ 5401 h 10199"/>
                <a:gd name="connsiteX4" fmla="*/ 9949 w 10736"/>
                <a:gd name="connsiteY4" fmla="*/ 4769 h 10199"/>
                <a:gd name="connsiteX5" fmla="*/ 10736 w 10736"/>
                <a:gd name="connsiteY5" fmla="*/ 4249 h 10199"/>
                <a:gd name="connsiteX6" fmla="*/ 10429 w 10736"/>
                <a:gd name="connsiteY6" fmla="*/ 4190 h 10199"/>
                <a:gd name="connsiteX7" fmla="*/ 10593 w 10736"/>
                <a:gd name="connsiteY7" fmla="*/ 3579 h 10199"/>
                <a:gd name="connsiteX8" fmla="*/ 10508 w 10736"/>
                <a:gd name="connsiteY8" fmla="*/ 3200 h 10199"/>
                <a:gd name="connsiteX9" fmla="*/ 10055 w 10736"/>
                <a:gd name="connsiteY9" fmla="*/ 2989 h 10199"/>
                <a:gd name="connsiteX10" fmla="*/ 9600 w 10736"/>
                <a:gd name="connsiteY10" fmla="*/ 2743 h 10199"/>
                <a:gd name="connsiteX11" fmla="*/ 9075 w 10736"/>
                <a:gd name="connsiteY11" fmla="*/ 2739 h 10199"/>
                <a:gd name="connsiteX12" fmla="*/ 8247 w 10736"/>
                <a:gd name="connsiteY12" fmla="*/ 3362 h 10199"/>
                <a:gd name="connsiteX13" fmla="*/ 8793 w 10736"/>
                <a:gd name="connsiteY13" fmla="*/ 3432 h 10199"/>
                <a:gd name="connsiteX14" fmla="*/ 8859 w 10736"/>
                <a:gd name="connsiteY14" fmla="*/ 3637 h 10199"/>
                <a:gd name="connsiteX15" fmla="*/ 8437 w 10736"/>
                <a:gd name="connsiteY15" fmla="*/ 3658 h 10199"/>
                <a:gd name="connsiteX16" fmla="*/ 8149 w 10736"/>
                <a:gd name="connsiteY16" fmla="*/ 3539 h 10199"/>
                <a:gd name="connsiteX17" fmla="*/ 8262 w 10736"/>
                <a:gd name="connsiteY17" fmla="*/ 3348 h 10199"/>
                <a:gd name="connsiteX18" fmla="*/ 7715 w 10736"/>
                <a:gd name="connsiteY18" fmla="*/ 3309 h 10199"/>
                <a:gd name="connsiteX19" fmla="*/ 7254 w 10736"/>
                <a:gd name="connsiteY19" fmla="*/ 3351 h 10199"/>
                <a:gd name="connsiteX20" fmla="*/ 7031 w 10736"/>
                <a:gd name="connsiteY20" fmla="*/ 3351 h 10199"/>
                <a:gd name="connsiteX21" fmla="*/ 6808 w 10736"/>
                <a:gd name="connsiteY21" fmla="*/ 3667 h 10199"/>
                <a:gd name="connsiteX22" fmla="*/ 6584 w 10736"/>
                <a:gd name="connsiteY22" fmla="*/ 3667 h 10199"/>
                <a:gd name="connsiteX23" fmla="*/ 6138 w 10736"/>
                <a:gd name="connsiteY23" fmla="*/ 3562 h 10199"/>
                <a:gd name="connsiteX24" fmla="*/ 5357 w 10736"/>
                <a:gd name="connsiteY24" fmla="*/ 3456 h 10199"/>
                <a:gd name="connsiteX25" fmla="*/ 4240 w 10736"/>
                <a:gd name="connsiteY25" fmla="*/ 2931 h 10199"/>
                <a:gd name="connsiteX26" fmla="*/ 4575 w 10736"/>
                <a:gd name="connsiteY26" fmla="*/ 2301 h 10199"/>
                <a:gd name="connsiteX27" fmla="*/ 4017 w 10736"/>
                <a:gd name="connsiteY27" fmla="*/ 2090 h 10199"/>
                <a:gd name="connsiteX28" fmla="*/ 3794 w 10736"/>
                <a:gd name="connsiteY28" fmla="*/ 1670 h 10199"/>
                <a:gd name="connsiteX29" fmla="*/ 4017 w 10736"/>
                <a:gd name="connsiteY29" fmla="*/ 1355 h 10199"/>
                <a:gd name="connsiteX30" fmla="*/ 3974 w 10736"/>
                <a:gd name="connsiteY30" fmla="*/ 1093 h 10199"/>
                <a:gd name="connsiteX31" fmla="*/ 4233 w 10736"/>
                <a:gd name="connsiteY31" fmla="*/ 800 h 10199"/>
                <a:gd name="connsiteX32" fmla="*/ 4240 w 10736"/>
                <a:gd name="connsiteY32" fmla="*/ 398 h 10199"/>
                <a:gd name="connsiteX33" fmla="*/ 3696 w 10736"/>
                <a:gd name="connsiteY33" fmla="*/ 0 h 10199"/>
                <a:gd name="connsiteX34" fmla="*/ 3125 w 10736"/>
                <a:gd name="connsiteY34" fmla="*/ 597 h 10199"/>
                <a:gd name="connsiteX35" fmla="*/ 2654 w 10736"/>
                <a:gd name="connsiteY35" fmla="*/ 304 h 10199"/>
                <a:gd name="connsiteX36" fmla="*/ 1727 w 10736"/>
                <a:gd name="connsiteY36" fmla="*/ 442 h 10199"/>
                <a:gd name="connsiteX37" fmla="*/ 1830 w 10736"/>
                <a:gd name="connsiteY37" fmla="*/ 818 h 10199"/>
                <a:gd name="connsiteX38" fmla="*/ 2120 w 10736"/>
                <a:gd name="connsiteY38" fmla="*/ 1377 h 10199"/>
                <a:gd name="connsiteX39" fmla="*/ 2455 w 10736"/>
                <a:gd name="connsiteY39" fmla="*/ 1355 h 10199"/>
                <a:gd name="connsiteX40" fmla="*/ 2232 w 10736"/>
                <a:gd name="connsiteY40" fmla="*/ 1880 h 10199"/>
                <a:gd name="connsiteX41" fmla="*/ 2009 w 10736"/>
                <a:gd name="connsiteY41" fmla="*/ 2301 h 10199"/>
                <a:gd name="connsiteX42" fmla="*/ 1339 w 10736"/>
                <a:gd name="connsiteY42" fmla="*/ 3246 h 10199"/>
                <a:gd name="connsiteX43" fmla="*/ 893 w 10736"/>
                <a:gd name="connsiteY43" fmla="*/ 3246 h 10199"/>
                <a:gd name="connsiteX44" fmla="*/ 557 w 10736"/>
                <a:gd name="connsiteY44" fmla="*/ 3562 h 10199"/>
                <a:gd name="connsiteX45" fmla="*/ 781 w 10736"/>
                <a:gd name="connsiteY45" fmla="*/ 3982 h 10199"/>
                <a:gd name="connsiteX46" fmla="*/ 1116 w 10736"/>
                <a:gd name="connsiteY46" fmla="*/ 4402 h 10199"/>
                <a:gd name="connsiteX47" fmla="*/ 670 w 10736"/>
                <a:gd name="connsiteY47" fmla="*/ 4612 h 10199"/>
                <a:gd name="connsiteX48" fmla="*/ 223 w 10736"/>
                <a:gd name="connsiteY48" fmla="*/ 4717 h 10199"/>
                <a:gd name="connsiteX49" fmla="*/ 0 w 10736"/>
                <a:gd name="connsiteY49" fmla="*/ 4822 h 10199"/>
                <a:gd name="connsiteX50" fmla="*/ 446 w 10736"/>
                <a:gd name="connsiteY50" fmla="*/ 5348 h 10199"/>
                <a:gd name="connsiteX51" fmla="*/ 781 w 10736"/>
                <a:gd name="connsiteY51" fmla="*/ 5768 h 10199"/>
                <a:gd name="connsiteX52" fmla="*/ 1450 w 10736"/>
                <a:gd name="connsiteY52" fmla="*/ 5348 h 10199"/>
                <a:gd name="connsiteX53" fmla="*/ 1673 w 10736"/>
                <a:gd name="connsiteY53" fmla="*/ 7344 h 10199"/>
                <a:gd name="connsiteX54" fmla="*/ 2009 w 10736"/>
                <a:gd name="connsiteY54" fmla="*/ 8203 h 10199"/>
                <a:gd name="connsiteX55" fmla="*/ 2566 w 10736"/>
                <a:gd name="connsiteY55" fmla="*/ 9148 h 10199"/>
                <a:gd name="connsiteX56" fmla="*/ 2901 w 10736"/>
                <a:gd name="connsiteY56" fmla="*/ 9674 h 10199"/>
                <a:gd name="connsiteX57" fmla="*/ 3236 w 10736"/>
                <a:gd name="connsiteY57" fmla="*/ 10199 h 10199"/>
                <a:gd name="connsiteX58" fmla="*/ 3571 w 10736"/>
                <a:gd name="connsiteY58" fmla="*/ 9884 h 10199"/>
                <a:gd name="connsiteX59" fmla="*/ 4017 w 10736"/>
                <a:gd name="connsiteY59" fmla="*/ 9358 h 10199"/>
                <a:gd name="connsiteX60" fmla="*/ 4128 w 10736"/>
                <a:gd name="connsiteY60" fmla="*/ 8938 h 10199"/>
                <a:gd name="connsiteX61" fmla="*/ 4240 w 10736"/>
                <a:gd name="connsiteY61" fmla="*/ 8203 h 10199"/>
                <a:gd name="connsiteX62" fmla="*/ 4352 w 10736"/>
                <a:gd name="connsiteY62" fmla="*/ 7555 h 10199"/>
                <a:gd name="connsiteX63" fmla="*/ 5133 w 10736"/>
                <a:gd name="connsiteY63" fmla="*/ 6924 h 10199"/>
                <a:gd name="connsiteX64" fmla="*/ 5915 w 10736"/>
                <a:gd name="connsiteY64" fmla="*/ 6399 h 10199"/>
                <a:gd name="connsiteX65" fmla="*/ 6639 w 10736"/>
                <a:gd name="connsiteY65" fmla="*/ 6074 h 10199"/>
                <a:gd name="connsiteX66" fmla="*/ 7176 w 10736"/>
                <a:gd name="connsiteY66" fmla="*/ 5549 h 10199"/>
                <a:gd name="connsiteX67" fmla="*/ 8062 w 10736"/>
                <a:gd name="connsiteY67" fmla="*/ 5505 h 10199"/>
                <a:gd name="connsiteX68" fmla="*/ 7861 w 10736"/>
                <a:gd name="connsiteY68" fmla="*/ 4783 h 10199"/>
                <a:gd name="connsiteX69" fmla="*/ 7954 w 10736"/>
                <a:gd name="connsiteY69" fmla="*/ 4592 h 10199"/>
                <a:gd name="connsiteX70" fmla="*/ 8087 w 10736"/>
                <a:gd name="connsiteY70" fmla="*/ 4434 h 10199"/>
                <a:gd name="connsiteX71" fmla="*/ 8411 w 10736"/>
                <a:gd name="connsiteY71" fmla="*/ 4427 h 10199"/>
                <a:gd name="connsiteX72" fmla="*/ 8784 w 10736"/>
                <a:gd name="connsiteY72" fmla="*/ 4671 h 10199"/>
                <a:gd name="connsiteX0" fmla="*/ 8784 w 10736"/>
                <a:gd name="connsiteY0" fmla="*/ 4671 h 10199"/>
                <a:gd name="connsiteX1" fmla="*/ 9397 w 10736"/>
                <a:gd name="connsiteY1" fmla="*/ 4846 h 10199"/>
                <a:gd name="connsiteX2" fmla="*/ 9150 w 10736"/>
                <a:gd name="connsiteY2" fmla="*/ 5258 h 10199"/>
                <a:gd name="connsiteX3" fmla="*/ 9543 w 10736"/>
                <a:gd name="connsiteY3" fmla="*/ 5401 h 10199"/>
                <a:gd name="connsiteX4" fmla="*/ 9949 w 10736"/>
                <a:gd name="connsiteY4" fmla="*/ 4769 h 10199"/>
                <a:gd name="connsiteX5" fmla="*/ 10736 w 10736"/>
                <a:gd name="connsiteY5" fmla="*/ 4249 h 10199"/>
                <a:gd name="connsiteX6" fmla="*/ 10429 w 10736"/>
                <a:gd name="connsiteY6" fmla="*/ 4190 h 10199"/>
                <a:gd name="connsiteX7" fmla="*/ 10593 w 10736"/>
                <a:gd name="connsiteY7" fmla="*/ 3579 h 10199"/>
                <a:gd name="connsiteX8" fmla="*/ 10508 w 10736"/>
                <a:gd name="connsiteY8" fmla="*/ 3200 h 10199"/>
                <a:gd name="connsiteX9" fmla="*/ 10055 w 10736"/>
                <a:gd name="connsiteY9" fmla="*/ 2989 h 10199"/>
                <a:gd name="connsiteX10" fmla="*/ 9600 w 10736"/>
                <a:gd name="connsiteY10" fmla="*/ 2743 h 10199"/>
                <a:gd name="connsiteX11" fmla="*/ 9075 w 10736"/>
                <a:gd name="connsiteY11" fmla="*/ 2739 h 10199"/>
                <a:gd name="connsiteX12" fmla="*/ 8247 w 10736"/>
                <a:gd name="connsiteY12" fmla="*/ 3362 h 10199"/>
                <a:gd name="connsiteX13" fmla="*/ 8793 w 10736"/>
                <a:gd name="connsiteY13" fmla="*/ 3432 h 10199"/>
                <a:gd name="connsiteX14" fmla="*/ 8859 w 10736"/>
                <a:gd name="connsiteY14" fmla="*/ 3637 h 10199"/>
                <a:gd name="connsiteX15" fmla="*/ 8437 w 10736"/>
                <a:gd name="connsiteY15" fmla="*/ 3658 h 10199"/>
                <a:gd name="connsiteX16" fmla="*/ 8149 w 10736"/>
                <a:gd name="connsiteY16" fmla="*/ 3539 h 10199"/>
                <a:gd name="connsiteX17" fmla="*/ 8262 w 10736"/>
                <a:gd name="connsiteY17" fmla="*/ 3348 h 10199"/>
                <a:gd name="connsiteX18" fmla="*/ 7715 w 10736"/>
                <a:gd name="connsiteY18" fmla="*/ 3309 h 10199"/>
                <a:gd name="connsiteX19" fmla="*/ 7254 w 10736"/>
                <a:gd name="connsiteY19" fmla="*/ 3351 h 10199"/>
                <a:gd name="connsiteX20" fmla="*/ 7031 w 10736"/>
                <a:gd name="connsiteY20" fmla="*/ 3351 h 10199"/>
                <a:gd name="connsiteX21" fmla="*/ 6808 w 10736"/>
                <a:gd name="connsiteY21" fmla="*/ 3667 h 10199"/>
                <a:gd name="connsiteX22" fmla="*/ 6584 w 10736"/>
                <a:gd name="connsiteY22" fmla="*/ 3667 h 10199"/>
                <a:gd name="connsiteX23" fmla="*/ 6138 w 10736"/>
                <a:gd name="connsiteY23" fmla="*/ 3562 h 10199"/>
                <a:gd name="connsiteX24" fmla="*/ 5357 w 10736"/>
                <a:gd name="connsiteY24" fmla="*/ 3456 h 10199"/>
                <a:gd name="connsiteX25" fmla="*/ 4240 w 10736"/>
                <a:gd name="connsiteY25" fmla="*/ 2931 h 10199"/>
                <a:gd name="connsiteX26" fmla="*/ 4575 w 10736"/>
                <a:gd name="connsiteY26" fmla="*/ 2301 h 10199"/>
                <a:gd name="connsiteX27" fmla="*/ 4017 w 10736"/>
                <a:gd name="connsiteY27" fmla="*/ 2090 h 10199"/>
                <a:gd name="connsiteX28" fmla="*/ 3794 w 10736"/>
                <a:gd name="connsiteY28" fmla="*/ 1670 h 10199"/>
                <a:gd name="connsiteX29" fmla="*/ 4017 w 10736"/>
                <a:gd name="connsiteY29" fmla="*/ 1355 h 10199"/>
                <a:gd name="connsiteX30" fmla="*/ 3974 w 10736"/>
                <a:gd name="connsiteY30" fmla="*/ 1093 h 10199"/>
                <a:gd name="connsiteX31" fmla="*/ 4233 w 10736"/>
                <a:gd name="connsiteY31" fmla="*/ 800 h 10199"/>
                <a:gd name="connsiteX32" fmla="*/ 4240 w 10736"/>
                <a:gd name="connsiteY32" fmla="*/ 398 h 10199"/>
                <a:gd name="connsiteX33" fmla="*/ 3696 w 10736"/>
                <a:gd name="connsiteY33" fmla="*/ 0 h 10199"/>
                <a:gd name="connsiteX34" fmla="*/ 3125 w 10736"/>
                <a:gd name="connsiteY34" fmla="*/ 597 h 10199"/>
                <a:gd name="connsiteX35" fmla="*/ 2654 w 10736"/>
                <a:gd name="connsiteY35" fmla="*/ 304 h 10199"/>
                <a:gd name="connsiteX36" fmla="*/ 1727 w 10736"/>
                <a:gd name="connsiteY36" fmla="*/ 442 h 10199"/>
                <a:gd name="connsiteX37" fmla="*/ 2204 w 10736"/>
                <a:gd name="connsiteY37" fmla="*/ 818 h 10199"/>
                <a:gd name="connsiteX38" fmla="*/ 2120 w 10736"/>
                <a:gd name="connsiteY38" fmla="*/ 1377 h 10199"/>
                <a:gd name="connsiteX39" fmla="*/ 2455 w 10736"/>
                <a:gd name="connsiteY39" fmla="*/ 1355 h 10199"/>
                <a:gd name="connsiteX40" fmla="*/ 2232 w 10736"/>
                <a:gd name="connsiteY40" fmla="*/ 1880 h 10199"/>
                <a:gd name="connsiteX41" fmla="*/ 2009 w 10736"/>
                <a:gd name="connsiteY41" fmla="*/ 2301 h 10199"/>
                <a:gd name="connsiteX42" fmla="*/ 1339 w 10736"/>
                <a:gd name="connsiteY42" fmla="*/ 3246 h 10199"/>
                <a:gd name="connsiteX43" fmla="*/ 893 w 10736"/>
                <a:gd name="connsiteY43" fmla="*/ 3246 h 10199"/>
                <a:gd name="connsiteX44" fmla="*/ 557 w 10736"/>
                <a:gd name="connsiteY44" fmla="*/ 3562 h 10199"/>
                <a:gd name="connsiteX45" fmla="*/ 781 w 10736"/>
                <a:gd name="connsiteY45" fmla="*/ 3982 h 10199"/>
                <a:gd name="connsiteX46" fmla="*/ 1116 w 10736"/>
                <a:gd name="connsiteY46" fmla="*/ 4402 h 10199"/>
                <a:gd name="connsiteX47" fmla="*/ 670 w 10736"/>
                <a:gd name="connsiteY47" fmla="*/ 4612 h 10199"/>
                <a:gd name="connsiteX48" fmla="*/ 223 w 10736"/>
                <a:gd name="connsiteY48" fmla="*/ 4717 h 10199"/>
                <a:gd name="connsiteX49" fmla="*/ 0 w 10736"/>
                <a:gd name="connsiteY49" fmla="*/ 4822 h 10199"/>
                <a:gd name="connsiteX50" fmla="*/ 446 w 10736"/>
                <a:gd name="connsiteY50" fmla="*/ 5348 h 10199"/>
                <a:gd name="connsiteX51" fmla="*/ 781 w 10736"/>
                <a:gd name="connsiteY51" fmla="*/ 5768 h 10199"/>
                <a:gd name="connsiteX52" fmla="*/ 1450 w 10736"/>
                <a:gd name="connsiteY52" fmla="*/ 5348 h 10199"/>
                <a:gd name="connsiteX53" fmla="*/ 1673 w 10736"/>
                <a:gd name="connsiteY53" fmla="*/ 7344 h 10199"/>
                <a:gd name="connsiteX54" fmla="*/ 2009 w 10736"/>
                <a:gd name="connsiteY54" fmla="*/ 8203 h 10199"/>
                <a:gd name="connsiteX55" fmla="*/ 2566 w 10736"/>
                <a:gd name="connsiteY55" fmla="*/ 9148 h 10199"/>
                <a:gd name="connsiteX56" fmla="*/ 2901 w 10736"/>
                <a:gd name="connsiteY56" fmla="*/ 9674 h 10199"/>
                <a:gd name="connsiteX57" fmla="*/ 3236 w 10736"/>
                <a:gd name="connsiteY57" fmla="*/ 10199 h 10199"/>
                <a:gd name="connsiteX58" fmla="*/ 3571 w 10736"/>
                <a:gd name="connsiteY58" fmla="*/ 9884 h 10199"/>
                <a:gd name="connsiteX59" fmla="*/ 4017 w 10736"/>
                <a:gd name="connsiteY59" fmla="*/ 9358 h 10199"/>
                <a:gd name="connsiteX60" fmla="*/ 4128 w 10736"/>
                <a:gd name="connsiteY60" fmla="*/ 8938 h 10199"/>
                <a:gd name="connsiteX61" fmla="*/ 4240 w 10736"/>
                <a:gd name="connsiteY61" fmla="*/ 8203 h 10199"/>
                <a:gd name="connsiteX62" fmla="*/ 4352 w 10736"/>
                <a:gd name="connsiteY62" fmla="*/ 7555 h 10199"/>
                <a:gd name="connsiteX63" fmla="*/ 5133 w 10736"/>
                <a:gd name="connsiteY63" fmla="*/ 6924 h 10199"/>
                <a:gd name="connsiteX64" fmla="*/ 5915 w 10736"/>
                <a:gd name="connsiteY64" fmla="*/ 6399 h 10199"/>
                <a:gd name="connsiteX65" fmla="*/ 6639 w 10736"/>
                <a:gd name="connsiteY65" fmla="*/ 6074 h 10199"/>
                <a:gd name="connsiteX66" fmla="*/ 7176 w 10736"/>
                <a:gd name="connsiteY66" fmla="*/ 5549 h 10199"/>
                <a:gd name="connsiteX67" fmla="*/ 8062 w 10736"/>
                <a:gd name="connsiteY67" fmla="*/ 5505 h 10199"/>
                <a:gd name="connsiteX68" fmla="*/ 7861 w 10736"/>
                <a:gd name="connsiteY68" fmla="*/ 4783 h 10199"/>
                <a:gd name="connsiteX69" fmla="*/ 7954 w 10736"/>
                <a:gd name="connsiteY69" fmla="*/ 4592 h 10199"/>
                <a:gd name="connsiteX70" fmla="*/ 8087 w 10736"/>
                <a:gd name="connsiteY70" fmla="*/ 4434 h 10199"/>
                <a:gd name="connsiteX71" fmla="*/ 8411 w 10736"/>
                <a:gd name="connsiteY71" fmla="*/ 4427 h 10199"/>
                <a:gd name="connsiteX72" fmla="*/ 8784 w 10736"/>
                <a:gd name="connsiteY72" fmla="*/ 4671 h 10199"/>
                <a:gd name="connsiteX0" fmla="*/ 8784 w 10736"/>
                <a:gd name="connsiteY0" fmla="*/ 4671 h 10199"/>
                <a:gd name="connsiteX1" fmla="*/ 9397 w 10736"/>
                <a:gd name="connsiteY1" fmla="*/ 4846 h 10199"/>
                <a:gd name="connsiteX2" fmla="*/ 9150 w 10736"/>
                <a:gd name="connsiteY2" fmla="*/ 5258 h 10199"/>
                <a:gd name="connsiteX3" fmla="*/ 9543 w 10736"/>
                <a:gd name="connsiteY3" fmla="*/ 5401 h 10199"/>
                <a:gd name="connsiteX4" fmla="*/ 9949 w 10736"/>
                <a:gd name="connsiteY4" fmla="*/ 4769 h 10199"/>
                <a:gd name="connsiteX5" fmla="*/ 10736 w 10736"/>
                <a:gd name="connsiteY5" fmla="*/ 4249 h 10199"/>
                <a:gd name="connsiteX6" fmla="*/ 10429 w 10736"/>
                <a:gd name="connsiteY6" fmla="*/ 4190 h 10199"/>
                <a:gd name="connsiteX7" fmla="*/ 10593 w 10736"/>
                <a:gd name="connsiteY7" fmla="*/ 3579 h 10199"/>
                <a:gd name="connsiteX8" fmla="*/ 10508 w 10736"/>
                <a:gd name="connsiteY8" fmla="*/ 3200 h 10199"/>
                <a:gd name="connsiteX9" fmla="*/ 10055 w 10736"/>
                <a:gd name="connsiteY9" fmla="*/ 2989 h 10199"/>
                <a:gd name="connsiteX10" fmla="*/ 9600 w 10736"/>
                <a:gd name="connsiteY10" fmla="*/ 2743 h 10199"/>
                <a:gd name="connsiteX11" fmla="*/ 9075 w 10736"/>
                <a:gd name="connsiteY11" fmla="*/ 2739 h 10199"/>
                <a:gd name="connsiteX12" fmla="*/ 8247 w 10736"/>
                <a:gd name="connsiteY12" fmla="*/ 3362 h 10199"/>
                <a:gd name="connsiteX13" fmla="*/ 8793 w 10736"/>
                <a:gd name="connsiteY13" fmla="*/ 3432 h 10199"/>
                <a:gd name="connsiteX14" fmla="*/ 8859 w 10736"/>
                <a:gd name="connsiteY14" fmla="*/ 3637 h 10199"/>
                <a:gd name="connsiteX15" fmla="*/ 8437 w 10736"/>
                <a:gd name="connsiteY15" fmla="*/ 3658 h 10199"/>
                <a:gd name="connsiteX16" fmla="*/ 8149 w 10736"/>
                <a:gd name="connsiteY16" fmla="*/ 3539 h 10199"/>
                <a:gd name="connsiteX17" fmla="*/ 8262 w 10736"/>
                <a:gd name="connsiteY17" fmla="*/ 3348 h 10199"/>
                <a:gd name="connsiteX18" fmla="*/ 7715 w 10736"/>
                <a:gd name="connsiteY18" fmla="*/ 3309 h 10199"/>
                <a:gd name="connsiteX19" fmla="*/ 7254 w 10736"/>
                <a:gd name="connsiteY19" fmla="*/ 3351 h 10199"/>
                <a:gd name="connsiteX20" fmla="*/ 7031 w 10736"/>
                <a:gd name="connsiteY20" fmla="*/ 3351 h 10199"/>
                <a:gd name="connsiteX21" fmla="*/ 6808 w 10736"/>
                <a:gd name="connsiteY21" fmla="*/ 3667 h 10199"/>
                <a:gd name="connsiteX22" fmla="*/ 6584 w 10736"/>
                <a:gd name="connsiteY22" fmla="*/ 3667 h 10199"/>
                <a:gd name="connsiteX23" fmla="*/ 6138 w 10736"/>
                <a:gd name="connsiteY23" fmla="*/ 3562 h 10199"/>
                <a:gd name="connsiteX24" fmla="*/ 5357 w 10736"/>
                <a:gd name="connsiteY24" fmla="*/ 3456 h 10199"/>
                <a:gd name="connsiteX25" fmla="*/ 4240 w 10736"/>
                <a:gd name="connsiteY25" fmla="*/ 2931 h 10199"/>
                <a:gd name="connsiteX26" fmla="*/ 4575 w 10736"/>
                <a:gd name="connsiteY26" fmla="*/ 2301 h 10199"/>
                <a:gd name="connsiteX27" fmla="*/ 4017 w 10736"/>
                <a:gd name="connsiteY27" fmla="*/ 2090 h 10199"/>
                <a:gd name="connsiteX28" fmla="*/ 3794 w 10736"/>
                <a:gd name="connsiteY28" fmla="*/ 1670 h 10199"/>
                <a:gd name="connsiteX29" fmla="*/ 4017 w 10736"/>
                <a:gd name="connsiteY29" fmla="*/ 1355 h 10199"/>
                <a:gd name="connsiteX30" fmla="*/ 3974 w 10736"/>
                <a:gd name="connsiteY30" fmla="*/ 1093 h 10199"/>
                <a:gd name="connsiteX31" fmla="*/ 4233 w 10736"/>
                <a:gd name="connsiteY31" fmla="*/ 800 h 10199"/>
                <a:gd name="connsiteX32" fmla="*/ 4240 w 10736"/>
                <a:gd name="connsiteY32" fmla="*/ 398 h 10199"/>
                <a:gd name="connsiteX33" fmla="*/ 3696 w 10736"/>
                <a:gd name="connsiteY33" fmla="*/ 0 h 10199"/>
                <a:gd name="connsiteX34" fmla="*/ 3125 w 10736"/>
                <a:gd name="connsiteY34" fmla="*/ 597 h 10199"/>
                <a:gd name="connsiteX35" fmla="*/ 2654 w 10736"/>
                <a:gd name="connsiteY35" fmla="*/ 304 h 10199"/>
                <a:gd name="connsiteX36" fmla="*/ 1727 w 10736"/>
                <a:gd name="connsiteY36" fmla="*/ 442 h 10199"/>
                <a:gd name="connsiteX37" fmla="*/ 2204 w 10736"/>
                <a:gd name="connsiteY37" fmla="*/ 818 h 10199"/>
                <a:gd name="connsiteX38" fmla="*/ 2120 w 10736"/>
                <a:gd name="connsiteY38" fmla="*/ 1377 h 10199"/>
                <a:gd name="connsiteX39" fmla="*/ 2455 w 10736"/>
                <a:gd name="connsiteY39" fmla="*/ 1355 h 10199"/>
                <a:gd name="connsiteX40" fmla="*/ 2232 w 10736"/>
                <a:gd name="connsiteY40" fmla="*/ 1880 h 10199"/>
                <a:gd name="connsiteX41" fmla="*/ 2009 w 10736"/>
                <a:gd name="connsiteY41" fmla="*/ 2301 h 10199"/>
                <a:gd name="connsiteX42" fmla="*/ 1339 w 10736"/>
                <a:gd name="connsiteY42" fmla="*/ 3246 h 10199"/>
                <a:gd name="connsiteX43" fmla="*/ 893 w 10736"/>
                <a:gd name="connsiteY43" fmla="*/ 3246 h 10199"/>
                <a:gd name="connsiteX44" fmla="*/ 557 w 10736"/>
                <a:gd name="connsiteY44" fmla="*/ 3562 h 10199"/>
                <a:gd name="connsiteX45" fmla="*/ 781 w 10736"/>
                <a:gd name="connsiteY45" fmla="*/ 3982 h 10199"/>
                <a:gd name="connsiteX46" fmla="*/ 1116 w 10736"/>
                <a:gd name="connsiteY46" fmla="*/ 4402 h 10199"/>
                <a:gd name="connsiteX47" fmla="*/ 670 w 10736"/>
                <a:gd name="connsiteY47" fmla="*/ 4612 h 10199"/>
                <a:gd name="connsiteX48" fmla="*/ 223 w 10736"/>
                <a:gd name="connsiteY48" fmla="*/ 4717 h 10199"/>
                <a:gd name="connsiteX49" fmla="*/ 0 w 10736"/>
                <a:gd name="connsiteY49" fmla="*/ 4822 h 10199"/>
                <a:gd name="connsiteX50" fmla="*/ 446 w 10736"/>
                <a:gd name="connsiteY50" fmla="*/ 5348 h 10199"/>
                <a:gd name="connsiteX51" fmla="*/ 781 w 10736"/>
                <a:gd name="connsiteY51" fmla="*/ 5768 h 10199"/>
                <a:gd name="connsiteX52" fmla="*/ 1450 w 10736"/>
                <a:gd name="connsiteY52" fmla="*/ 5348 h 10199"/>
                <a:gd name="connsiteX53" fmla="*/ 1673 w 10736"/>
                <a:gd name="connsiteY53" fmla="*/ 7344 h 10199"/>
                <a:gd name="connsiteX54" fmla="*/ 2009 w 10736"/>
                <a:gd name="connsiteY54" fmla="*/ 8203 h 10199"/>
                <a:gd name="connsiteX55" fmla="*/ 2566 w 10736"/>
                <a:gd name="connsiteY55" fmla="*/ 9148 h 10199"/>
                <a:gd name="connsiteX56" fmla="*/ 2901 w 10736"/>
                <a:gd name="connsiteY56" fmla="*/ 9674 h 10199"/>
                <a:gd name="connsiteX57" fmla="*/ 3236 w 10736"/>
                <a:gd name="connsiteY57" fmla="*/ 10199 h 10199"/>
                <a:gd name="connsiteX58" fmla="*/ 3571 w 10736"/>
                <a:gd name="connsiteY58" fmla="*/ 9884 h 10199"/>
                <a:gd name="connsiteX59" fmla="*/ 4017 w 10736"/>
                <a:gd name="connsiteY59" fmla="*/ 9358 h 10199"/>
                <a:gd name="connsiteX60" fmla="*/ 4128 w 10736"/>
                <a:gd name="connsiteY60" fmla="*/ 8938 h 10199"/>
                <a:gd name="connsiteX61" fmla="*/ 4240 w 10736"/>
                <a:gd name="connsiteY61" fmla="*/ 8203 h 10199"/>
                <a:gd name="connsiteX62" fmla="*/ 4352 w 10736"/>
                <a:gd name="connsiteY62" fmla="*/ 7555 h 10199"/>
                <a:gd name="connsiteX63" fmla="*/ 5133 w 10736"/>
                <a:gd name="connsiteY63" fmla="*/ 6924 h 10199"/>
                <a:gd name="connsiteX64" fmla="*/ 5915 w 10736"/>
                <a:gd name="connsiteY64" fmla="*/ 6399 h 10199"/>
                <a:gd name="connsiteX65" fmla="*/ 6639 w 10736"/>
                <a:gd name="connsiteY65" fmla="*/ 6074 h 10199"/>
                <a:gd name="connsiteX66" fmla="*/ 7176 w 10736"/>
                <a:gd name="connsiteY66" fmla="*/ 5549 h 10199"/>
                <a:gd name="connsiteX67" fmla="*/ 8062 w 10736"/>
                <a:gd name="connsiteY67" fmla="*/ 5505 h 10199"/>
                <a:gd name="connsiteX68" fmla="*/ 7861 w 10736"/>
                <a:gd name="connsiteY68" fmla="*/ 4783 h 10199"/>
                <a:gd name="connsiteX69" fmla="*/ 7954 w 10736"/>
                <a:gd name="connsiteY69" fmla="*/ 4592 h 10199"/>
                <a:gd name="connsiteX70" fmla="*/ 8087 w 10736"/>
                <a:gd name="connsiteY70" fmla="*/ 4434 h 10199"/>
                <a:gd name="connsiteX71" fmla="*/ 8411 w 10736"/>
                <a:gd name="connsiteY71" fmla="*/ 4427 h 10199"/>
                <a:gd name="connsiteX72" fmla="*/ 8784 w 10736"/>
                <a:gd name="connsiteY72" fmla="*/ 4671 h 10199"/>
                <a:gd name="connsiteX0" fmla="*/ 8784 w 10736"/>
                <a:gd name="connsiteY0" fmla="*/ 4367 h 9895"/>
                <a:gd name="connsiteX1" fmla="*/ 9397 w 10736"/>
                <a:gd name="connsiteY1" fmla="*/ 4542 h 9895"/>
                <a:gd name="connsiteX2" fmla="*/ 9150 w 10736"/>
                <a:gd name="connsiteY2" fmla="*/ 4954 h 9895"/>
                <a:gd name="connsiteX3" fmla="*/ 9543 w 10736"/>
                <a:gd name="connsiteY3" fmla="*/ 5097 h 9895"/>
                <a:gd name="connsiteX4" fmla="*/ 9949 w 10736"/>
                <a:gd name="connsiteY4" fmla="*/ 4465 h 9895"/>
                <a:gd name="connsiteX5" fmla="*/ 10736 w 10736"/>
                <a:gd name="connsiteY5" fmla="*/ 3945 h 9895"/>
                <a:gd name="connsiteX6" fmla="*/ 10429 w 10736"/>
                <a:gd name="connsiteY6" fmla="*/ 3886 h 9895"/>
                <a:gd name="connsiteX7" fmla="*/ 10593 w 10736"/>
                <a:gd name="connsiteY7" fmla="*/ 3275 h 9895"/>
                <a:gd name="connsiteX8" fmla="*/ 10508 w 10736"/>
                <a:gd name="connsiteY8" fmla="*/ 2896 h 9895"/>
                <a:gd name="connsiteX9" fmla="*/ 10055 w 10736"/>
                <a:gd name="connsiteY9" fmla="*/ 2685 h 9895"/>
                <a:gd name="connsiteX10" fmla="*/ 9600 w 10736"/>
                <a:gd name="connsiteY10" fmla="*/ 2439 h 9895"/>
                <a:gd name="connsiteX11" fmla="*/ 9075 w 10736"/>
                <a:gd name="connsiteY11" fmla="*/ 2435 h 9895"/>
                <a:gd name="connsiteX12" fmla="*/ 8247 w 10736"/>
                <a:gd name="connsiteY12" fmla="*/ 3058 h 9895"/>
                <a:gd name="connsiteX13" fmla="*/ 8793 w 10736"/>
                <a:gd name="connsiteY13" fmla="*/ 3128 h 9895"/>
                <a:gd name="connsiteX14" fmla="*/ 8859 w 10736"/>
                <a:gd name="connsiteY14" fmla="*/ 3333 h 9895"/>
                <a:gd name="connsiteX15" fmla="*/ 8437 w 10736"/>
                <a:gd name="connsiteY15" fmla="*/ 3354 h 9895"/>
                <a:gd name="connsiteX16" fmla="*/ 8149 w 10736"/>
                <a:gd name="connsiteY16" fmla="*/ 3235 h 9895"/>
                <a:gd name="connsiteX17" fmla="*/ 8262 w 10736"/>
                <a:gd name="connsiteY17" fmla="*/ 3044 h 9895"/>
                <a:gd name="connsiteX18" fmla="*/ 7715 w 10736"/>
                <a:gd name="connsiteY18" fmla="*/ 3005 h 9895"/>
                <a:gd name="connsiteX19" fmla="*/ 7254 w 10736"/>
                <a:gd name="connsiteY19" fmla="*/ 3047 h 9895"/>
                <a:gd name="connsiteX20" fmla="*/ 7031 w 10736"/>
                <a:gd name="connsiteY20" fmla="*/ 3047 h 9895"/>
                <a:gd name="connsiteX21" fmla="*/ 6808 w 10736"/>
                <a:gd name="connsiteY21" fmla="*/ 3363 h 9895"/>
                <a:gd name="connsiteX22" fmla="*/ 6584 w 10736"/>
                <a:gd name="connsiteY22" fmla="*/ 3363 h 9895"/>
                <a:gd name="connsiteX23" fmla="*/ 6138 w 10736"/>
                <a:gd name="connsiteY23" fmla="*/ 3258 h 9895"/>
                <a:gd name="connsiteX24" fmla="*/ 5357 w 10736"/>
                <a:gd name="connsiteY24" fmla="*/ 3152 h 9895"/>
                <a:gd name="connsiteX25" fmla="*/ 4240 w 10736"/>
                <a:gd name="connsiteY25" fmla="*/ 2627 h 9895"/>
                <a:gd name="connsiteX26" fmla="*/ 4575 w 10736"/>
                <a:gd name="connsiteY26" fmla="*/ 1997 h 9895"/>
                <a:gd name="connsiteX27" fmla="*/ 4017 w 10736"/>
                <a:gd name="connsiteY27" fmla="*/ 1786 h 9895"/>
                <a:gd name="connsiteX28" fmla="*/ 3794 w 10736"/>
                <a:gd name="connsiteY28" fmla="*/ 1366 h 9895"/>
                <a:gd name="connsiteX29" fmla="*/ 4017 w 10736"/>
                <a:gd name="connsiteY29" fmla="*/ 1051 h 9895"/>
                <a:gd name="connsiteX30" fmla="*/ 3974 w 10736"/>
                <a:gd name="connsiteY30" fmla="*/ 789 h 9895"/>
                <a:gd name="connsiteX31" fmla="*/ 4233 w 10736"/>
                <a:gd name="connsiteY31" fmla="*/ 496 h 9895"/>
                <a:gd name="connsiteX32" fmla="*/ 4240 w 10736"/>
                <a:gd name="connsiteY32" fmla="*/ 94 h 9895"/>
                <a:gd name="connsiteX33" fmla="*/ 3738 w 10736"/>
                <a:gd name="connsiteY33" fmla="*/ 60 h 9895"/>
                <a:gd name="connsiteX34" fmla="*/ 3125 w 10736"/>
                <a:gd name="connsiteY34" fmla="*/ 293 h 9895"/>
                <a:gd name="connsiteX35" fmla="*/ 2654 w 10736"/>
                <a:gd name="connsiteY35" fmla="*/ 0 h 9895"/>
                <a:gd name="connsiteX36" fmla="*/ 1727 w 10736"/>
                <a:gd name="connsiteY36" fmla="*/ 138 h 9895"/>
                <a:gd name="connsiteX37" fmla="*/ 2204 w 10736"/>
                <a:gd name="connsiteY37" fmla="*/ 514 h 9895"/>
                <a:gd name="connsiteX38" fmla="*/ 2120 w 10736"/>
                <a:gd name="connsiteY38" fmla="*/ 1073 h 9895"/>
                <a:gd name="connsiteX39" fmla="*/ 2455 w 10736"/>
                <a:gd name="connsiteY39" fmla="*/ 1051 h 9895"/>
                <a:gd name="connsiteX40" fmla="*/ 2232 w 10736"/>
                <a:gd name="connsiteY40" fmla="*/ 1576 h 9895"/>
                <a:gd name="connsiteX41" fmla="*/ 2009 w 10736"/>
                <a:gd name="connsiteY41" fmla="*/ 1997 h 9895"/>
                <a:gd name="connsiteX42" fmla="*/ 1339 w 10736"/>
                <a:gd name="connsiteY42" fmla="*/ 2942 h 9895"/>
                <a:gd name="connsiteX43" fmla="*/ 893 w 10736"/>
                <a:gd name="connsiteY43" fmla="*/ 2942 h 9895"/>
                <a:gd name="connsiteX44" fmla="*/ 557 w 10736"/>
                <a:gd name="connsiteY44" fmla="*/ 3258 h 9895"/>
                <a:gd name="connsiteX45" fmla="*/ 781 w 10736"/>
                <a:gd name="connsiteY45" fmla="*/ 3678 h 9895"/>
                <a:gd name="connsiteX46" fmla="*/ 1116 w 10736"/>
                <a:gd name="connsiteY46" fmla="*/ 4098 h 9895"/>
                <a:gd name="connsiteX47" fmla="*/ 670 w 10736"/>
                <a:gd name="connsiteY47" fmla="*/ 4308 h 9895"/>
                <a:gd name="connsiteX48" fmla="*/ 223 w 10736"/>
                <a:gd name="connsiteY48" fmla="*/ 4413 h 9895"/>
                <a:gd name="connsiteX49" fmla="*/ 0 w 10736"/>
                <a:gd name="connsiteY49" fmla="*/ 4518 h 9895"/>
                <a:gd name="connsiteX50" fmla="*/ 446 w 10736"/>
                <a:gd name="connsiteY50" fmla="*/ 5044 h 9895"/>
                <a:gd name="connsiteX51" fmla="*/ 781 w 10736"/>
                <a:gd name="connsiteY51" fmla="*/ 5464 h 9895"/>
                <a:gd name="connsiteX52" fmla="*/ 1450 w 10736"/>
                <a:gd name="connsiteY52" fmla="*/ 5044 h 9895"/>
                <a:gd name="connsiteX53" fmla="*/ 1673 w 10736"/>
                <a:gd name="connsiteY53" fmla="*/ 7040 h 9895"/>
                <a:gd name="connsiteX54" fmla="*/ 2009 w 10736"/>
                <a:gd name="connsiteY54" fmla="*/ 7899 h 9895"/>
                <a:gd name="connsiteX55" fmla="*/ 2566 w 10736"/>
                <a:gd name="connsiteY55" fmla="*/ 8844 h 9895"/>
                <a:gd name="connsiteX56" fmla="*/ 2901 w 10736"/>
                <a:gd name="connsiteY56" fmla="*/ 9370 h 9895"/>
                <a:gd name="connsiteX57" fmla="*/ 3236 w 10736"/>
                <a:gd name="connsiteY57" fmla="*/ 9895 h 9895"/>
                <a:gd name="connsiteX58" fmla="*/ 3571 w 10736"/>
                <a:gd name="connsiteY58" fmla="*/ 9580 h 9895"/>
                <a:gd name="connsiteX59" fmla="*/ 4017 w 10736"/>
                <a:gd name="connsiteY59" fmla="*/ 9054 h 9895"/>
                <a:gd name="connsiteX60" fmla="*/ 4128 w 10736"/>
                <a:gd name="connsiteY60" fmla="*/ 8634 h 9895"/>
                <a:gd name="connsiteX61" fmla="*/ 4240 w 10736"/>
                <a:gd name="connsiteY61" fmla="*/ 7899 h 9895"/>
                <a:gd name="connsiteX62" fmla="*/ 4352 w 10736"/>
                <a:gd name="connsiteY62" fmla="*/ 7251 h 9895"/>
                <a:gd name="connsiteX63" fmla="*/ 5133 w 10736"/>
                <a:gd name="connsiteY63" fmla="*/ 6620 h 9895"/>
                <a:gd name="connsiteX64" fmla="*/ 5915 w 10736"/>
                <a:gd name="connsiteY64" fmla="*/ 6095 h 9895"/>
                <a:gd name="connsiteX65" fmla="*/ 6639 w 10736"/>
                <a:gd name="connsiteY65" fmla="*/ 5770 h 9895"/>
                <a:gd name="connsiteX66" fmla="*/ 7176 w 10736"/>
                <a:gd name="connsiteY66" fmla="*/ 5245 h 9895"/>
                <a:gd name="connsiteX67" fmla="*/ 8062 w 10736"/>
                <a:gd name="connsiteY67" fmla="*/ 5201 h 9895"/>
                <a:gd name="connsiteX68" fmla="*/ 7861 w 10736"/>
                <a:gd name="connsiteY68" fmla="*/ 4479 h 9895"/>
                <a:gd name="connsiteX69" fmla="*/ 7954 w 10736"/>
                <a:gd name="connsiteY69" fmla="*/ 4288 h 9895"/>
                <a:gd name="connsiteX70" fmla="*/ 8087 w 10736"/>
                <a:gd name="connsiteY70" fmla="*/ 4130 h 9895"/>
                <a:gd name="connsiteX71" fmla="*/ 8411 w 10736"/>
                <a:gd name="connsiteY71" fmla="*/ 4123 h 9895"/>
                <a:gd name="connsiteX72" fmla="*/ 8784 w 10736"/>
                <a:gd name="connsiteY72" fmla="*/ 4367 h 9895"/>
                <a:gd name="connsiteX0" fmla="*/ 8182 w 10000"/>
                <a:gd name="connsiteY0" fmla="*/ 4413 h 10000"/>
                <a:gd name="connsiteX1" fmla="*/ 8753 w 10000"/>
                <a:gd name="connsiteY1" fmla="*/ 4590 h 10000"/>
                <a:gd name="connsiteX2" fmla="*/ 8523 w 10000"/>
                <a:gd name="connsiteY2" fmla="*/ 5007 h 10000"/>
                <a:gd name="connsiteX3" fmla="*/ 8889 w 10000"/>
                <a:gd name="connsiteY3" fmla="*/ 5151 h 10000"/>
                <a:gd name="connsiteX4" fmla="*/ 9267 w 10000"/>
                <a:gd name="connsiteY4" fmla="*/ 4512 h 10000"/>
                <a:gd name="connsiteX5" fmla="*/ 10000 w 10000"/>
                <a:gd name="connsiteY5" fmla="*/ 3987 h 10000"/>
                <a:gd name="connsiteX6" fmla="*/ 9714 w 10000"/>
                <a:gd name="connsiteY6" fmla="*/ 3927 h 10000"/>
                <a:gd name="connsiteX7" fmla="*/ 9867 w 10000"/>
                <a:gd name="connsiteY7" fmla="*/ 3310 h 10000"/>
                <a:gd name="connsiteX8" fmla="*/ 9788 w 10000"/>
                <a:gd name="connsiteY8" fmla="*/ 2927 h 10000"/>
                <a:gd name="connsiteX9" fmla="*/ 9366 w 10000"/>
                <a:gd name="connsiteY9" fmla="*/ 2713 h 10000"/>
                <a:gd name="connsiteX10" fmla="*/ 8942 w 10000"/>
                <a:gd name="connsiteY10" fmla="*/ 2465 h 10000"/>
                <a:gd name="connsiteX11" fmla="*/ 8453 w 10000"/>
                <a:gd name="connsiteY11" fmla="*/ 2461 h 10000"/>
                <a:gd name="connsiteX12" fmla="*/ 7682 w 10000"/>
                <a:gd name="connsiteY12" fmla="*/ 3090 h 10000"/>
                <a:gd name="connsiteX13" fmla="*/ 8190 w 10000"/>
                <a:gd name="connsiteY13" fmla="*/ 3161 h 10000"/>
                <a:gd name="connsiteX14" fmla="*/ 8252 w 10000"/>
                <a:gd name="connsiteY14" fmla="*/ 3368 h 10000"/>
                <a:gd name="connsiteX15" fmla="*/ 7859 w 10000"/>
                <a:gd name="connsiteY15" fmla="*/ 3390 h 10000"/>
                <a:gd name="connsiteX16" fmla="*/ 7590 w 10000"/>
                <a:gd name="connsiteY16" fmla="*/ 3269 h 10000"/>
                <a:gd name="connsiteX17" fmla="*/ 7696 w 10000"/>
                <a:gd name="connsiteY17" fmla="*/ 3076 h 10000"/>
                <a:gd name="connsiteX18" fmla="*/ 7186 w 10000"/>
                <a:gd name="connsiteY18" fmla="*/ 3037 h 10000"/>
                <a:gd name="connsiteX19" fmla="*/ 6757 w 10000"/>
                <a:gd name="connsiteY19" fmla="*/ 3079 h 10000"/>
                <a:gd name="connsiteX20" fmla="*/ 6549 w 10000"/>
                <a:gd name="connsiteY20" fmla="*/ 3079 h 10000"/>
                <a:gd name="connsiteX21" fmla="*/ 6341 w 10000"/>
                <a:gd name="connsiteY21" fmla="*/ 3399 h 10000"/>
                <a:gd name="connsiteX22" fmla="*/ 6133 w 10000"/>
                <a:gd name="connsiteY22" fmla="*/ 3399 h 10000"/>
                <a:gd name="connsiteX23" fmla="*/ 5717 w 10000"/>
                <a:gd name="connsiteY23" fmla="*/ 3293 h 10000"/>
                <a:gd name="connsiteX24" fmla="*/ 4990 w 10000"/>
                <a:gd name="connsiteY24" fmla="*/ 3185 h 10000"/>
                <a:gd name="connsiteX25" fmla="*/ 3949 w 10000"/>
                <a:gd name="connsiteY25" fmla="*/ 2655 h 10000"/>
                <a:gd name="connsiteX26" fmla="*/ 4261 w 10000"/>
                <a:gd name="connsiteY26" fmla="*/ 2018 h 10000"/>
                <a:gd name="connsiteX27" fmla="*/ 3742 w 10000"/>
                <a:gd name="connsiteY27" fmla="*/ 1805 h 10000"/>
                <a:gd name="connsiteX28" fmla="*/ 3534 w 10000"/>
                <a:gd name="connsiteY28" fmla="*/ 1380 h 10000"/>
                <a:gd name="connsiteX29" fmla="*/ 3742 w 10000"/>
                <a:gd name="connsiteY29" fmla="*/ 1062 h 10000"/>
                <a:gd name="connsiteX30" fmla="*/ 3702 w 10000"/>
                <a:gd name="connsiteY30" fmla="*/ 797 h 10000"/>
                <a:gd name="connsiteX31" fmla="*/ 3943 w 10000"/>
                <a:gd name="connsiteY31" fmla="*/ 501 h 10000"/>
                <a:gd name="connsiteX32" fmla="*/ 3910 w 10000"/>
                <a:gd name="connsiteY32" fmla="*/ 162 h 10000"/>
                <a:gd name="connsiteX33" fmla="*/ 3482 w 10000"/>
                <a:gd name="connsiteY33" fmla="*/ 61 h 10000"/>
                <a:gd name="connsiteX34" fmla="*/ 2911 w 10000"/>
                <a:gd name="connsiteY34" fmla="*/ 296 h 10000"/>
                <a:gd name="connsiteX35" fmla="*/ 2472 w 10000"/>
                <a:gd name="connsiteY35" fmla="*/ 0 h 10000"/>
                <a:gd name="connsiteX36" fmla="*/ 1609 w 10000"/>
                <a:gd name="connsiteY36" fmla="*/ 139 h 10000"/>
                <a:gd name="connsiteX37" fmla="*/ 2053 w 10000"/>
                <a:gd name="connsiteY37" fmla="*/ 519 h 10000"/>
                <a:gd name="connsiteX38" fmla="*/ 1975 w 10000"/>
                <a:gd name="connsiteY38" fmla="*/ 1084 h 10000"/>
                <a:gd name="connsiteX39" fmla="*/ 2287 w 10000"/>
                <a:gd name="connsiteY39" fmla="*/ 1062 h 10000"/>
                <a:gd name="connsiteX40" fmla="*/ 2079 w 10000"/>
                <a:gd name="connsiteY40" fmla="*/ 1593 h 10000"/>
                <a:gd name="connsiteX41" fmla="*/ 1871 w 10000"/>
                <a:gd name="connsiteY41" fmla="*/ 2018 h 10000"/>
                <a:gd name="connsiteX42" fmla="*/ 1247 w 10000"/>
                <a:gd name="connsiteY42" fmla="*/ 2973 h 10000"/>
                <a:gd name="connsiteX43" fmla="*/ 832 w 10000"/>
                <a:gd name="connsiteY43" fmla="*/ 2973 h 10000"/>
                <a:gd name="connsiteX44" fmla="*/ 519 w 10000"/>
                <a:gd name="connsiteY44" fmla="*/ 3293 h 10000"/>
                <a:gd name="connsiteX45" fmla="*/ 727 w 10000"/>
                <a:gd name="connsiteY45" fmla="*/ 3717 h 10000"/>
                <a:gd name="connsiteX46" fmla="*/ 1039 w 10000"/>
                <a:gd name="connsiteY46" fmla="*/ 4141 h 10000"/>
                <a:gd name="connsiteX47" fmla="*/ 624 w 10000"/>
                <a:gd name="connsiteY47" fmla="*/ 4354 h 10000"/>
                <a:gd name="connsiteX48" fmla="*/ 208 w 10000"/>
                <a:gd name="connsiteY48" fmla="*/ 4460 h 10000"/>
                <a:gd name="connsiteX49" fmla="*/ 0 w 10000"/>
                <a:gd name="connsiteY49" fmla="*/ 4566 h 10000"/>
                <a:gd name="connsiteX50" fmla="*/ 415 w 10000"/>
                <a:gd name="connsiteY50" fmla="*/ 5098 h 10000"/>
                <a:gd name="connsiteX51" fmla="*/ 727 w 10000"/>
                <a:gd name="connsiteY51" fmla="*/ 5522 h 10000"/>
                <a:gd name="connsiteX52" fmla="*/ 1351 w 10000"/>
                <a:gd name="connsiteY52" fmla="*/ 5098 h 10000"/>
                <a:gd name="connsiteX53" fmla="*/ 1558 w 10000"/>
                <a:gd name="connsiteY53" fmla="*/ 7115 h 10000"/>
                <a:gd name="connsiteX54" fmla="*/ 1871 w 10000"/>
                <a:gd name="connsiteY54" fmla="*/ 7983 h 10000"/>
                <a:gd name="connsiteX55" fmla="*/ 2390 w 10000"/>
                <a:gd name="connsiteY55" fmla="*/ 8938 h 10000"/>
                <a:gd name="connsiteX56" fmla="*/ 2702 w 10000"/>
                <a:gd name="connsiteY56" fmla="*/ 9469 h 10000"/>
                <a:gd name="connsiteX57" fmla="*/ 3014 w 10000"/>
                <a:gd name="connsiteY57" fmla="*/ 10000 h 10000"/>
                <a:gd name="connsiteX58" fmla="*/ 3326 w 10000"/>
                <a:gd name="connsiteY58" fmla="*/ 9682 h 10000"/>
                <a:gd name="connsiteX59" fmla="*/ 3742 w 10000"/>
                <a:gd name="connsiteY59" fmla="*/ 9150 h 10000"/>
                <a:gd name="connsiteX60" fmla="*/ 3845 w 10000"/>
                <a:gd name="connsiteY60" fmla="*/ 8726 h 10000"/>
                <a:gd name="connsiteX61" fmla="*/ 3949 w 10000"/>
                <a:gd name="connsiteY61" fmla="*/ 7983 h 10000"/>
                <a:gd name="connsiteX62" fmla="*/ 4054 w 10000"/>
                <a:gd name="connsiteY62" fmla="*/ 7328 h 10000"/>
                <a:gd name="connsiteX63" fmla="*/ 4781 w 10000"/>
                <a:gd name="connsiteY63" fmla="*/ 6690 h 10000"/>
                <a:gd name="connsiteX64" fmla="*/ 5510 w 10000"/>
                <a:gd name="connsiteY64" fmla="*/ 6160 h 10000"/>
                <a:gd name="connsiteX65" fmla="*/ 6184 w 10000"/>
                <a:gd name="connsiteY65" fmla="*/ 5831 h 10000"/>
                <a:gd name="connsiteX66" fmla="*/ 6684 w 10000"/>
                <a:gd name="connsiteY66" fmla="*/ 5301 h 10000"/>
                <a:gd name="connsiteX67" fmla="*/ 7509 w 10000"/>
                <a:gd name="connsiteY67" fmla="*/ 5256 h 10000"/>
                <a:gd name="connsiteX68" fmla="*/ 7322 w 10000"/>
                <a:gd name="connsiteY68" fmla="*/ 4527 h 10000"/>
                <a:gd name="connsiteX69" fmla="*/ 7409 w 10000"/>
                <a:gd name="connsiteY69" fmla="*/ 4334 h 10000"/>
                <a:gd name="connsiteX70" fmla="*/ 7533 w 10000"/>
                <a:gd name="connsiteY70" fmla="*/ 4174 h 10000"/>
                <a:gd name="connsiteX71" fmla="*/ 7834 w 10000"/>
                <a:gd name="connsiteY71" fmla="*/ 4167 h 10000"/>
                <a:gd name="connsiteX72" fmla="*/ 8182 w 10000"/>
                <a:gd name="connsiteY72" fmla="*/ 4413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0000" h="10000">
                  <a:moveTo>
                    <a:pt x="8182" y="4413"/>
                  </a:moveTo>
                  <a:cubicBezTo>
                    <a:pt x="8335" y="4484"/>
                    <a:pt x="8627" y="4441"/>
                    <a:pt x="8753" y="4590"/>
                  </a:cubicBezTo>
                  <a:cubicBezTo>
                    <a:pt x="8646" y="4837"/>
                    <a:pt x="8612" y="4791"/>
                    <a:pt x="8523" y="5007"/>
                  </a:cubicBezTo>
                  <a:cubicBezTo>
                    <a:pt x="8642" y="5048"/>
                    <a:pt x="8898" y="5194"/>
                    <a:pt x="8889" y="5151"/>
                  </a:cubicBezTo>
                  <a:cubicBezTo>
                    <a:pt x="8900" y="5088"/>
                    <a:pt x="9260" y="4618"/>
                    <a:pt x="9267" y="4512"/>
                  </a:cubicBezTo>
                  <a:cubicBezTo>
                    <a:pt x="9372" y="4448"/>
                    <a:pt x="9851" y="4024"/>
                    <a:pt x="10000" y="3987"/>
                  </a:cubicBezTo>
                  <a:lnTo>
                    <a:pt x="9714" y="3927"/>
                  </a:lnTo>
                  <a:cubicBezTo>
                    <a:pt x="9832" y="3793"/>
                    <a:pt x="9833" y="3622"/>
                    <a:pt x="9867" y="3310"/>
                  </a:cubicBezTo>
                  <a:cubicBezTo>
                    <a:pt x="9946" y="3036"/>
                    <a:pt x="9839" y="3073"/>
                    <a:pt x="9788" y="2927"/>
                  </a:cubicBezTo>
                  <a:cubicBezTo>
                    <a:pt x="9736" y="2780"/>
                    <a:pt x="9715" y="2733"/>
                    <a:pt x="9366" y="2713"/>
                  </a:cubicBezTo>
                  <a:cubicBezTo>
                    <a:pt x="9088" y="2636"/>
                    <a:pt x="9118" y="2589"/>
                    <a:pt x="8942" y="2465"/>
                  </a:cubicBezTo>
                  <a:lnTo>
                    <a:pt x="8453" y="2461"/>
                  </a:lnTo>
                  <a:cubicBezTo>
                    <a:pt x="8294" y="2553"/>
                    <a:pt x="7713" y="2982"/>
                    <a:pt x="7682" y="3090"/>
                  </a:cubicBezTo>
                  <a:cubicBezTo>
                    <a:pt x="7650" y="3199"/>
                    <a:pt x="8082" y="3075"/>
                    <a:pt x="8190" y="3161"/>
                  </a:cubicBezTo>
                  <a:cubicBezTo>
                    <a:pt x="8298" y="3247"/>
                    <a:pt x="8270" y="3296"/>
                    <a:pt x="8252" y="3368"/>
                  </a:cubicBezTo>
                  <a:lnTo>
                    <a:pt x="7859" y="3390"/>
                  </a:lnTo>
                  <a:cubicBezTo>
                    <a:pt x="7734" y="3366"/>
                    <a:pt x="7623" y="3339"/>
                    <a:pt x="7590" y="3269"/>
                  </a:cubicBezTo>
                  <a:lnTo>
                    <a:pt x="7696" y="3076"/>
                  </a:lnTo>
                  <a:lnTo>
                    <a:pt x="7186" y="3037"/>
                  </a:lnTo>
                  <a:lnTo>
                    <a:pt x="6757" y="3079"/>
                  </a:lnTo>
                  <a:lnTo>
                    <a:pt x="6549" y="3079"/>
                  </a:lnTo>
                  <a:cubicBezTo>
                    <a:pt x="6480" y="3186"/>
                    <a:pt x="6410" y="3292"/>
                    <a:pt x="6341" y="3399"/>
                  </a:cubicBezTo>
                  <a:lnTo>
                    <a:pt x="6133" y="3399"/>
                  </a:lnTo>
                  <a:lnTo>
                    <a:pt x="5717" y="3293"/>
                  </a:lnTo>
                  <a:lnTo>
                    <a:pt x="4990" y="3185"/>
                  </a:lnTo>
                  <a:lnTo>
                    <a:pt x="3949" y="2655"/>
                  </a:lnTo>
                  <a:lnTo>
                    <a:pt x="4261" y="2018"/>
                  </a:lnTo>
                  <a:lnTo>
                    <a:pt x="3742" y="1805"/>
                  </a:lnTo>
                  <a:cubicBezTo>
                    <a:pt x="3673" y="1663"/>
                    <a:pt x="3603" y="1522"/>
                    <a:pt x="3534" y="1380"/>
                  </a:cubicBezTo>
                  <a:lnTo>
                    <a:pt x="3742" y="1062"/>
                  </a:lnTo>
                  <a:cubicBezTo>
                    <a:pt x="3707" y="956"/>
                    <a:pt x="3736" y="903"/>
                    <a:pt x="3702" y="797"/>
                  </a:cubicBezTo>
                  <a:lnTo>
                    <a:pt x="3943" y="501"/>
                  </a:lnTo>
                  <a:cubicBezTo>
                    <a:pt x="3945" y="299"/>
                    <a:pt x="3908" y="364"/>
                    <a:pt x="3910" y="162"/>
                  </a:cubicBezTo>
                  <a:lnTo>
                    <a:pt x="3482" y="61"/>
                  </a:lnTo>
                  <a:lnTo>
                    <a:pt x="2911" y="296"/>
                  </a:lnTo>
                  <a:lnTo>
                    <a:pt x="2472" y="0"/>
                  </a:lnTo>
                  <a:lnTo>
                    <a:pt x="1609" y="139"/>
                  </a:lnTo>
                  <a:cubicBezTo>
                    <a:pt x="1589" y="244"/>
                    <a:pt x="2072" y="415"/>
                    <a:pt x="2053" y="519"/>
                  </a:cubicBezTo>
                  <a:cubicBezTo>
                    <a:pt x="2143" y="707"/>
                    <a:pt x="1884" y="896"/>
                    <a:pt x="1975" y="1084"/>
                  </a:cubicBezTo>
                  <a:lnTo>
                    <a:pt x="2287" y="1062"/>
                  </a:lnTo>
                  <a:cubicBezTo>
                    <a:pt x="2218" y="1239"/>
                    <a:pt x="2148" y="1416"/>
                    <a:pt x="2079" y="1593"/>
                  </a:cubicBezTo>
                  <a:cubicBezTo>
                    <a:pt x="2010" y="1735"/>
                    <a:pt x="1940" y="1876"/>
                    <a:pt x="1871" y="2018"/>
                  </a:cubicBezTo>
                  <a:lnTo>
                    <a:pt x="1247" y="2973"/>
                  </a:lnTo>
                  <a:lnTo>
                    <a:pt x="832" y="2973"/>
                  </a:lnTo>
                  <a:lnTo>
                    <a:pt x="519" y="3293"/>
                  </a:lnTo>
                  <a:lnTo>
                    <a:pt x="727" y="3717"/>
                  </a:lnTo>
                  <a:lnTo>
                    <a:pt x="1039" y="4141"/>
                  </a:lnTo>
                  <a:lnTo>
                    <a:pt x="624" y="4354"/>
                  </a:lnTo>
                  <a:lnTo>
                    <a:pt x="208" y="4460"/>
                  </a:lnTo>
                  <a:lnTo>
                    <a:pt x="0" y="4566"/>
                  </a:lnTo>
                  <a:lnTo>
                    <a:pt x="415" y="5098"/>
                  </a:lnTo>
                  <a:lnTo>
                    <a:pt x="727" y="5522"/>
                  </a:lnTo>
                  <a:lnTo>
                    <a:pt x="1351" y="5098"/>
                  </a:lnTo>
                  <a:lnTo>
                    <a:pt x="1558" y="7115"/>
                  </a:lnTo>
                  <a:lnTo>
                    <a:pt x="1871" y="7983"/>
                  </a:lnTo>
                  <a:lnTo>
                    <a:pt x="2390" y="8938"/>
                  </a:lnTo>
                  <a:lnTo>
                    <a:pt x="2702" y="9469"/>
                  </a:lnTo>
                  <a:lnTo>
                    <a:pt x="3014" y="10000"/>
                  </a:lnTo>
                  <a:lnTo>
                    <a:pt x="3326" y="9682"/>
                  </a:lnTo>
                  <a:lnTo>
                    <a:pt x="3742" y="9150"/>
                  </a:lnTo>
                  <a:cubicBezTo>
                    <a:pt x="3776" y="9009"/>
                    <a:pt x="3811" y="8867"/>
                    <a:pt x="3845" y="8726"/>
                  </a:cubicBezTo>
                  <a:cubicBezTo>
                    <a:pt x="3879" y="8478"/>
                    <a:pt x="3915" y="8230"/>
                    <a:pt x="3949" y="7983"/>
                  </a:cubicBezTo>
                  <a:lnTo>
                    <a:pt x="4054" y="7328"/>
                  </a:lnTo>
                  <a:lnTo>
                    <a:pt x="4781" y="6690"/>
                  </a:lnTo>
                  <a:lnTo>
                    <a:pt x="5510" y="6160"/>
                  </a:lnTo>
                  <a:lnTo>
                    <a:pt x="6184" y="5831"/>
                  </a:lnTo>
                  <a:cubicBezTo>
                    <a:pt x="6202" y="5622"/>
                    <a:pt x="6665" y="5510"/>
                    <a:pt x="6684" y="5301"/>
                  </a:cubicBezTo>
                  <a:cubicBezTo>
                    <a:pt x="6722" y="5208"/>
                    <a:pt x="7471" y="5349"/>
                    <a:pt x="7509" y="5256"/>
                  </a:cubicBezTo>
                  <a:cubicBezTo>
                    <a:pt x="7440" y="4973"/>
                    <a:pt x="7391" y="4809"/>
                    <a:pt x="7322" y="4527"/>
                  </a:cubicBezTo>
                  <a:cubicBezTo>
                    <a:pt x="7296" y="4428"/>
                    <a:pt x="7435" y="4432"/>
                    <a:pt x="7409" y="4334"/>
                  </a:cubicBezTo>
                  <a:cubicBezTo>
                    <a:pt x="7435" y="4325"/>
                    <a:pt x="7507" y="4182"/>
                    <a:pt x="7533" y="4174"/>
                  </a:cubicBezTo>
                  <a:cubicBezTo>
                    <a:pt x="7563" y="4145"/>
                    <a:pt x="7772" y="4173"/>
                    <a:pt x="7834" y="4167"/>
                  </a:cubicBezTo>
                  <a:cubicBezTo>
                    <a:pt x="7897" y="4161"/>
                    <a:pt x="8029" y="4343"/>
                    <a:pt x="8182" y="4413"/>
                  </a:cubicBezTo>
                  <a:close/>
                </a:path>
              </a:pathLst>
            </a:custGeom>
            <a:grpFill/>
            <a:ln w="9525">
              <a:solidFill>
                <a:schemeClr val="bg2">
                  <a:lumMod val="50000"/>
                </a:schemeClr>
              </a:solidFill>
              <a:round/>
              <a:headEnd/>
              <a:tailEnd/>
            </a:ln>
          </p:spPr>
          <p:txBody>
            <a:bodyPr/>
            <a:lstStyle/>
            <a:p>
              <a:endParaRPr lang="en-US" dirty="0"/>
            </a:p>
          </p:txBody>
        </p:sp>
        <p:sp>
          <p:nvSpPr>
            <p:cNvPr id="193" name="Freeform 297"/>
            <p:cNvSpPr>
              <a:spLocks/>
            </p:cNvSpPr>
            <p:nvPr/>
          </p:nvSpPr>
          <p:spPr bwMode="gray">
            <a:xfrm>
              <a:off x="6200314" y="3304523"/>
              <a:ext cx="298243" cy="221636"/>
            </a:xfrm>
            <a:custGeom>
              <a:avLst/>
              <a:gdLst>
                <a:gd name="T0" fmla="*/ 383016421 w 10348"/>
                <a:gd name="T1" fmla="*/ 5109433 h 11017"/>
                <a:gd name="T2" fmla="*/ 344410605 w 10348"/>
                <a:gd name="T3" fmla="*/ 18263315 h 11017"/>
                <a:gd name="T4" fmla="*/ 318326544 w 10348"/>
                <a:gd name="T5" fmla="*/ 18263315 h 11017"/>
                <a:gd name="T6" fmla="*/ 309604944 w 10348"/>
                <a:gd name="T7" fmla="*/ 4565667 h 11017"/>
                <a:gd name="T8" fmla="*/ 300924329 w 10348"/>
                <a:gd name="T9" fmla="*/ 0 h 11017"/>
                <a:gd name="T10" fmla="*/ 274840302 w 10348"/>
                <a:gd name="T11" fmla="*/ 13697623 h 11017"/>
                <a:gd name="T12" fmla="*/ 257438053 w 10348"/>
                <a:gd name="T13" fmla="*/ 22844512 h 11017"/>
                <a:gd name="T14" fmla="*/ 224192536 w 10348"/>
                <a:gd name="T15" fmla="*/ 18014727 h 11017"/>
                <a:gd name="T16" fmla="*/ 205269999 w 10348"/>
                <a:gd name="T17" fmla="*/ 18263315 h 11017"/>
                <a:gd name="T18" fmla="*/ 179146185 w 10348"/>
                <a:gd name="T19" fmla="*/ 18263315 h 11017"/>
                <a:gd name="T20" fmla="*/ 144381509 w 10348"/>
                <a:gd name="T21" fmla="*/ 13697623 h 11017"/>
                <a:gd name="T22" fmla="*/ 135659909 w 10348"/>
                <a:gd name="T23" fmla="*/ 36542135 h 11017"/>
                <a:gd name="T24" fmla="*/ 92213455 w 10348"/>
                <a:gd name="T25" fmla="*/ 45674117 h 11017"/>
                <a:gd name="T26" fmla="*/ 74811206 w 10348"/>
                <a:gd name="T27" fmla="*/ 54805450 h 11017"/>
                <a:gd name="T28" fmla="*/ 48727179 w 10348"/>
                <a:gd name="T29" fmla="*/ 50239783 h 11017"/>
                <a:gd name="T30" fmla="*/ 22963843 w 10348"/>
                <a:gd name="T31" fmla="*/ 44198819 h 11017"/>
                <a:gd name="T32" fmla="*/ 14242243 w 10348"/>
                <a:gd name="T33" fmla="*/ 73084295 h 11017"/>
                <a:gd name="T34" fmla="*/ 13921553 w 10348"/>
                <a:gd name="T35" fmla="*/ 91348208 h 11017"/>
                <a:gd name="T36" fmla="*/ 0 w 10348"/>
                <a:gd name="T37" fmla="*/ 120109391 h 11017"/>
                <a:gd name="T38" fmla="*/ 32004936 w 10348"/>
                <a:gd name="T39" fmla="*/ 130716645 h 11017"/>
                <a:gd name="T40" fmla="*/ 31324965 w 10348"/>
                <a:gd name="T41" fmla="*/ 150734881 h 11017"/>
                <a:gd name="T42" fmla="*/ 18882750 w 10348"/>
                <a:gd name="T43" fmla="*/ 164945185 h 11017"/>
                <a:gd name="T44" fmla="*/ 54608301 w 10348"/>
                <a:gd name="T45" fmla="*/ 168998170 h 11017"/>
                <a:gd name="T46" fmla="*/ 72331206 w 10348"/>
                <a:gd name="T47" fmla="*/ 169169081 h 11017"/>
                <a:gd name="T48" fmla="*/ 120977614 w 10348"/>
                <a:gd name="T49" fmla="*/ 170520059 h 11017"/>
                <a:gd name="T50" fmla="*/ 191308660 w 10348"/>
                <a:gd name="T51" fmla="*/ 159354156 h 11017"/>
                <a:gd name="T52" fmla="*/ 202070207 w 10348"/>
                <a:gd name="T53" fmla="*/ 138543591 h 11017"/>
                <a:gd name="T54" fmla="*/ 235875171 w 10348"/>
                <a:gd name="T55" fmla="*/ 133480774 h 11017"/>
                <a:gd name="T56" fmla="*/ 289922862 w 10348"/>
                <a:gd name="T57" fmla="*/ 120792982 h 11017"/>
                <a:gd name="T58" fmla="*/ 291923023 w 10348"/>
                <a:gd name="T59" fmla="*/ 105045233 h 11017"/>
                <a:gd name="T60" fmla="*/ 303524887 w 10348"/>
                <a:gd name="T61" fmla="*/ 100992248 h 11017"/>
                <a:gd name="T62" fmla="*/ 318806417 w 10348"/>
                <a:gd name="T63" fmla="*/ 94391986 h 11017"/>
                <a:gd name="T64" fmla="*/ 344810870 w 10348"/>
                <a:gd name="T65" fmla="*/ 76640754 h 11017"/>
                <a:gd name="T66" fmla="*/ 349770869 w 10348"/>
                <a:gd name="T67" fmla="*/ 65971976 h 11017"/>
                <a:gd name="T68" fmla="*/ 366974149 w 10348"/>
                <a:gd name="T69" fmla="*/ 49742633 h 11017"/>
                <a:gd name="T70" fmla="*/ 353092383 w 10348"/>
                <a:gd name="T71" fmla="*/ 31976469 h 11017"/>
                <a:gd name="T72" fmla="*/ 413980873 w 10348"/>
                <a:gd name="T73" fmla="*/ 27410802 h 11017"/>
                <a:gd name="T74" fmla="*/ 396578659 w 10348"/>
                <a:gd name="T75" fmla="*/ 13697623 h 11017"/>
                <a:gd name="T76" fmla="*/ 383016421 w 10348"/>
                <a:gd name="T77" fmla="*/ 5109433 h 1101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348" h="11017">
                  <a:moveTo>
                    <a:pt x="9574" y="329"/>
                  </a:moveTo>
                  <a:cubicBezTo>
                    <a:pt x="9252" y="611"/>
                    <a:pt x="8879" y="1035"/>
                    <a:pt x="8609" y="1176"/>
                  </a:cubicBezTo>
                  <a:cubicBezTo>
                    <a:pt x="8340" y="1317"/>
                    <a:pt x="8174" y="1176"/>
                    <a:pt x="7957" y="1176"/>
                  </a:cubicBezTo>
                  <a:cubicBezTo>
                    <a:pt x="7884" y="882"/>
                    <a:pt x="7812" y="588"/>
                    <a:pt x="7739" y="294"/>
                  </a:cubicBezTo>
                  <a:lnTo>
                    <a:pt x="7522" y="0"/>
                  </a:lnTo>
                  <a:lnTo>
                    <a:pt x="6870" y="882"/>
                  </a:lnTo>
                  <a:cubicBezTo>
                    <a:pt x="6725" y="1078"/>
                    <a:pt x="6646" y="1425"/>
                    <a:pt x="6435" y="1471"/>
                  </a:cubicBezTo>
                  <a:cubicBezTo>
                    <a:pt x="6224" y="1517"/>
                    <a:pt x="5881" y="1264"/>
                    <a:pt x="5604" y="1160"/>
                  </a:cubicBezTo>
                  <a:cubicBezTo>
                    <a:pt x="5446" y="1165"/>
                    <a:pt x="5319" y="1173"/>
                    <a:pt x="5131" y="1176"/>
                  </a:cubicBezTo>
                  <a:cubicBezTo>
                    <a:pt x="4943" y="1179"/>
                    <a:pt x="4696" y="1176"/>
                    <a:pt x="4478" y="1176"/>
                  </a:cubicBezTo>
                  <a:lnTo>
                    <a:pt x="3609" y="882"/>
                  </a:lnTo>
                  <a:cubicBezTo>
                    <a:pt x="3536" y="1372"/>
                    <a:pt x="3464" y="1863"/>
                    <a:pt x="3391" y="2353"/>
                  </a:cubicBezTo>
                  <a:lnTo>
                    <a:pt x="2305" y="2941"/>
                  </a:lnTo>
                  <a:lnTo>
                    <a:pt x="1870" y="3529"/>
                  </a:lnTo>
                  <a:lnTo>
                    <a:pt x="1218" y="3235"/>
                  </a:lnTo>
                  <a:lnTo>
                    <a:pt x="574" y="2846"/>
                  </a:lnTo>
                  <a:cubicBezTo>
                    <a:pt x="501" y="3434"/>
                    <a:pt x="429" y="4118"/>
                    <a:pt x="356" y="4706"/>
                  </a:cubicBezTo>
                  <a:cubicBezTo>
                    <a:pt x="284" y="5098"/>
                    <a:pt x="420" y="5490"/>
                    <a:pt x="348" y="5882"/>
                  </a:cubicBezTo>
                  <a:cubicBezTo>
                    <a:pt x="278" y="6404"/>
                    <a:pt x="70" y="7212"/>
                    <a:pt x="0" y="7734"/>
                  </a:cubicBezTo>
                  <a:cubicBezTo>
                    <a:pt x="290" y="7930"/>
                    <a:pt x="510" y="8221"/>
                    <a:pt x="800" y="8417"/>
                  </a:cubicBezTo>
                  <a:cubicBezTo>
                    <a:pt x="365" y="10182"/>
                    <a:pt x="838" y="9339"/>
                    <a:pt x="783" y="9706"/>
                  </a:cubicBezTo>
                  <a:cubicBezTo>
                    <a:pt x="728" y="10073"/>
                    <a:pt x="375" y="10425"/>
                    <a:pt x="472" y="10621"/>
                  </a:cubicBezTo>
                  <a:cubicBezTo>
                    <a:pt x="569" y="10817"/>
                    <a:pt x="1142" y="10837"/>
                    <a:pt x="1365" y="10882"/>
                  </a:cubicBezTo>
                  <a:cubicBezTo>
                    <a:pt x="1588" y="10927"/>
                    <a:pt x="1663" y="10844"/>
                    <a:pt x="1808" y="10893"/>
                  </a:cubicBezTo>
                  <a:cubicBezTo>
                    <a:pt x="1953" y="10942"/>
                    <a:pt x="2528" y="11085"/>
                    <a:pt x="3024" y="10980"/>
                  </a:cubicBezTo>
                  <a:cubicBezTo>
                    <a:pt x="3520" y="10875"/>
                    <a:pt x="4444" y="10604"/>
                    <a:pt x="4782" y="10261"/>
                  </a:cubicBezTo>
                  <a:cubicBezTo>
                    <a:pt x="5120" y="9918"/>
                    <a:pt x="4865" y="9199"/>
                    <a:pt x="5051" y="8921"/>
                  </a:cubicBezTo>
                  <a:cubicBezTo>
                    <a:pt x="5237" y="8643"/>
                    <a:pt x="5530" y="8785"/>
                    <a:pt x="5896" y="8595"/>
                  </a:cubicBezTo>
                  <a:cubicBezTo>
                    <a:pt x="6262" y="8405"/>
                    <a:pt x="7014" y="8083"/>
                    <a:pt x="7247" y="7778"/>
                  </a:cubicBezTo>
                  <a:cubicBezTo>
                    <a:pt x="7481" y="7473"/>
                    <a:pt x="7240" y="6977"/>
                    <a:pt x="7297" y="6764"/>
                  </a:cubicBezTo>
                  <a:cubicBezTo>
                    <a:pt x="7354" y="6552"/>
                    <a:pt x="7475" y="6617"/>
                    <a:pt x="7587" y="6503"/>
                  </a:cubicBezTo>
                  <a:cubicBezTo>
                    <a:pt x="7699" y="6389"/>
                    <a:pt x="7797" y="6339"/>
                    <a:pt x="7969" y="6078"/>
                  </a:cubicBezTo>
                  <a:cubicBezTo>
                    <a:pt x="8141" y="5817"/>
                    <a:pt x="8490" y="5240"/>
                    <a:pt x="8619" y="4935"/>
                  </a:cubicBezTo>
                  <a:cubicBezTo>
                    <a:pt x="8748" y="4630"/>
                    <a:pt x="8651" y="4537"/>
                    <a:pt x="8743" y="4248"/>
                  </a:cubicBezTo>
                  <a:cubicBezTo>
                    <a:pt x="8835" y="3959"/>
                    <a:pt x="9159" y="3568"/>
                    <a:pt x="9173" y="3203"/>
                  </a:cubicBezTo>
                  <a:cubicBezTo>
                    <a:pt x="9187" y="2838"/>
                    <a:pt x="8630" y="2299"/>
                    <a:pt x="8826" y="2059"/>
                  </a:cubicBezTo>
                  <a:cubicBezTo>
                    <a:pt x="9022" y="1819"/>
                    <a:pt x="9841" y="1863"/>
                    <a:pt x="10348" y="1765"/>
                  </a:cubicBezTo>
                  <a:lnTo>
                    <a:pt x="9913" y="882"/>
                  </a:lnTo>
                  <a:lnTo>
                    <a:pt x="9574" y="329"/>
                  </a:lnTo>
                  <a:close/>
                </a:path>
              </a:pathLst>
            </a:custGeom>
            <a:grpFill/>
            <a:ln w="9525">
              <a:solidFill>
                <a:schemeClr val="bg2">
                  <a:lumMod val="50000"/>
                </a:schemeClr>
              </a:solidFill>
              <a:round/>
              <a:headEnd/>
              <a:tailEnd/>
            </a:ln>
          </p:spPr>
          <p:txBody>
            <a:bodyPr/>
            <a:lstStyle/>
            <a:p>
              <a:endParaRPr lang="en-US" dirty="0"/>
            </a:p>
          </p:txBody>
        </p:sp>
        <p:sp>
          <p:nvSpPr>
            <p:cNvPr id="194" name="Freeform 298"/>
            <p:cNvSpPr>
              <a:spLocks/>
            </p:cNvSpPr>
            <p:nvPr/>
          </p:nvSpPr>
          <p:spPr bwMode="gray">
            <a:xfrm>
              <a:off x="6870356" y="3635056"/>
              <a:ext cx="94956" cy="111459"/>
            </a:xfrm>
            <a:custGeom>
              <a:avLst/>
              <a:gdLst>
                <a:gd name="T0" fmla="*/ 2147483647 w 90"/>
                <a:gd name="T1" fmla="*/ 2147483647 h 78"/>
                <a:gd name="T2" fmla="*/ 2147483647 w 90"/>
                <a:gd name="T3" fmla="*/ 2147483647 h 78"/>
                <a:gd name="T4" fmla="*/ 2147483647 w 90"/>
                <a:gd name="T5" fmla="*/ 2147483647 h 78"/>
                <a:gd name="T6" fmla="*/ 2147483647 w 90"/>
                <a:gd name="T7" fmla="*/ 2147483647 h 78"/>
                <a:gd name="T8" fmla="*/ 2147483647 w 90"/>
                <a:gd name="T9" fmla="*/ 0 h 78"/>
                <a:gd name="T10" fmla="*/ 2147483647 w 90"/>
                <a:gd name="T11" fmla="*/ 0 h 78"/>
                <a:gd name="T12" fmla="*/ 2147483647 w 90"/>
                <a:gd name="T13" fmla="*/ 2147483647 h 78"/>
                <a:gd name="T14" fmla="*/ 0 w 90"/>
                <a:gd name="T15" fmla="*/ 2147483647 h 78"/>
                <a:gd name="T16" fmla="*/ 2147483647 w 90"/>
                <a:gd name="T17" fmla="*/ 2147483647 h 78"/>
                <a:gd name="T18" fmla="*/ 2147483647 w 90"/>
                <a:gd name="T19" fmla="*/ 2147483647 h 78"/>
                <a:gd name="T20" fmla="*/ 2147483647 w 90"/>
                <a:gd name="T21" fmla="*/ 2147483647 h 78"/>
                <a:gd name="T22" fmla="*/ 2147483647 w 90"/>
                <a:gd name="T23" fmla="*/ 2147483647 h 78"/>
                <a:gd name="T24" fmla="*/ 2147483647 w 90"/>
                <a:gd name="T25" fmla="*/ 2147483647 h 78"/>
                <a:gd name="T26" fmla="*/ 2147483647 w 90"/>
                <a:gd name="T27" fmla="*/ 2147483647 h 78"/>
                <a:gd name="T28" fmla="*/ 2147483647 w 90"/>
                <a:gd name="T29" fmla="*/ 2147483647 h 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0" h="78">
                  <a:moveTo>
                    <a:pt x="72" y="42"/>
                  </a:moveTo>
                  <a:lnTo>
                    <a:pt x="78" y="30"/>
                  </a:lnTo>
                  <a:lnTo>
                    <a:pt x="84" y="18"/>
                  </a:lnTo>
                  <a:lnTo>
                    <a:pt x="48" y="12"/>
                  </a:lnTo>
                  <a:lnTo>
                    <a:pt x="30" y="0"/>
                  </a:lnTo>
                  <a:lnTo>
                    <a:pt x="12" y="0"/>
                  </a:lnTo>
                  <a:lnTo>
                    <a:pt x="6" y="12"/>
                  </a:lnTo>
                  <a:lnTo>
                    <a:pt x="0" y="18"/>
                  </a:lnTo>
                  <a:lnTo>
                    <a:pt x="6" y="30"/>
                  </a:lnTo>
                  <a:lnTo>
                    <a:pt x="18" y="78"/>
                  </a:lnTo>
                  <a:lnTo>
                    <a:pt x="54" y="72"/>
                  </a:lnTo>
                  <a:lnTo>
                    <a:pt x="78" y="66"/>
                  </a:lnTo>
                  <a:lnTo>
                    <a:pt x="84" y="72"/>
                  </a:lnTo>
                  <a:lnTo>
                    <a:pt x="90" y="48"/>
                  </a:lnTo>
                  <a:lnTo>
                    <a:pt x="72" y="42"/>
                  </a:lnTo>
                  <a:close/>
                </a:path>
              </a:pathLst>
            </a:custGeom>
            <a:grpFill/>
            <a:ln w="9525">
              <a:solidFill>
                <a:schemeClr val="bg2">
                  <a:lumMod val="50000"/>
                </a:schemeClr>
              </a:solidFill>
              <a:round/>
              <a:headEnd/>
              <a:tailEnd/>
            </a:ln>
          </p:spPr>
          <p:txBody>
            <a:bodyPr/>
            <a:lstStyle/>
            <a:p>
              <a:endParaRPr lang="en-US" dirty="0"/>
            </a:p>
          </p:txBody>
        </p:sp>
        <p:sp>
          <p:nvSpPr>
            <p:cNvPr id="195" name="Freeform 331"/>
            <p:cNvSpPr>
              <a:spLocks/>
            </p:cNvSpPr>
            <p:nvPr/>
          </p:nvSpPr>
          <p:spPr bwMode="gray">
            <a:xfrm>
              <a:off x="6665733" y="3487725"/>
              <a:ext cx="180550" cy="97366"/>
            </a:xfrm>
            <a:custGeom>
              <a:avLst/>
              <a:gdLst>
                <a:gd name="T0" fmla="*/ 2147483647 w 10000"/>
                <a:gd name="T1" fmla="*/ 243402179 h 11631"/>
                <a:gd name="T2" fmla="*/ 2147483647 w 10000"/>
                <a:gd name="T3" fmla="*/ 201909865 h 11631"/>
                <a:gd name="T4" fmla="*/ 1716206681 w 10000"/>
                <a:gd name="T5" fmla="*/ 52554460 h 11631"/>
                <a:gd name="T6" fmla="*/ 729640913 w 10000"/>
                <a:gd name="T7" fmla="*/ 0 h 11631"/>
                <a:gd name="T8" fmla="*/ 0 w 10000"/>
                <a:gd name="T9" fmla="*/ 216853640 h 11631"/>
                <a:gd name="T10" fmla="*/ 2147483647 w 10000"/>
                <a:gd name="T11" fmla="*/ 419168950 h 11631"/>
                <a:gd name="T12" fmla="*/ 2147483647 w 10000"/>
                <a:gd name="T13" fmla="*/ 463190339 h 11631"/>
                <a:gd name="T14" fmla="*/ 2147483647 w 10000"/>
                <a:gd name="T15" fmla="*/ 525135769 h 11631"/>
                <a:gd name="T16" fmla="*/ 2147483647 w 10000"/>
                <a:gd name="T17" fmla="*/ 393253317 h 11631"/>
                <a:gd name="T18" fmla="*/ 2147483647 w 10000"/>
                <a:gd name="T19" fmla="*/ 366976575 h 11631"/>
                <a:gd name="T20" fmla="*/ 2147483647 w 10000"/>
                <a:gd name="T21" fmla="*/ 305167054 h 11631"/>
                <a:gd name="T22" fmla="*/ 2147483647 w 10000"/>
                <a:gd name="T23" fmla="*/ 298981436 h 11631"/>
                <a:gd name="T24" fmla="*/ 2147483647 w 10000"/>
                <a:gd name="T25" fmla="*/ 243402179 h 116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00" h="11631">
                  <a:moveTo>
                    <a:pt x="7686" y="5391"/>
                  </a:moveTo>
                  <a:lnTo>
                    <a:pt x="5498" y="4472"/>
                  </a:lnTo>
                  <a:lnTo>
                    <a:pt x="2084" y="1164"/>
                  </a:lnTo>
                  <a:lnTo>
                    <a:pt x="886" y="0"/>
                  </a:lnTo>
                  <a:lnTo>
                    <a:pt x="0" y="4803"/>
                  </a:lnTo>
                  <a:lnTo>
                    <a:pt x="3459" y="9284"/>
                  </a:lnTo>
                  <a:lnTo>
                    <a:pt x="5903" y="10259"/>
                  </a:lnTo>
                  <a:lnTo>
                    <a:pt x="8016" y="11631"/>
                  </a:lnTo>
                  <a:lnTo>
                    <a:pt x="8676" y="8710"/>
                  </a:lnTo>
                  <a:lnTo>
                    <a:pt x="10000" y="8128"/>
                  </a:lnTo>
                  <a:lnTo>
                    <a:pt x="8915" y="6759"/>
                  </a:lnTo>
                  <a:lnTo>
                    <a:pt x="8310" y="6622"/>
                  </a:lnTo>
                  <a:cubicBezTo>
                    <a:pt x="8207" y="6039"/>
                    <a:pt x="7790" y="5973"/>
                    <a:pt x="7686" y="5391"/>
                  </a:cubicBezTo>
                  <a:close/>
                </a:path>
              </a:pathLst>
            </a:custGeom>
            <a:grpFill/>
            <a:ln w="9525">
              <a:solidFill>
                <a:schemeClr val="bg2">
                  <a:lumMod val="50000"/>
                </a:schemeClr>
              </a:solidFill>
              <a:round/>
              <a:headEnd/>
              <a:tailEnd/>
            </a:ln>
          </p:spPr>
          <p:txBody>
            <a:bodyPr/>
            <a:lstStyle/>
            <a:p>
              <a:endParaRPr lang="en-US" dirty="0"/>
            </a:p>
          </p:txBody>
        </p:sp>
        <p:sp>
          <p:nvSpPr>
            <p:cNvPr id="196" name="Freeform 447"/>
            <p:cNvSpPr>
              <a:spLocks/>
            </p:cNvSpPr>
            <p:nvPr/>
          </p:nvSpPr>
          <p:spPr bwMode="gray">
            <a:xfrm>
              <a:off x="6958625" y="3597902"/>
              <a:ext cx="227359" cy="394589"/>
            </a:xfrm>
            <a:custGeom>
              <a:avLst/>
              <a:gdLst>
                <a:gd name="T0" fmla="*/ 61661990 w 12864"/>
                <a:gd name="T1" fmla="*/ 0 h 10000"/>
                <a:gd name="T2" fmla="*/ 48236946 w 12864"/>
                <a:gd name="T3" fmla="*/ 73483611 h 10000"/>
                <a:gd name="T4" fmla="*/ 41690569 w 12864"/>
                <a:gd name="T5" fmla="*/ 93173579 h 10000"/>
                <a:gd name="T6" fmla="*/ 39619366 w 12864"/>
                <a:gd name="T7" fmla="*/ 70552551 h 10000"/>
                <a:gd name="T8" fmla="*/ 17105342 w 12864"/>
                <a:gd name="T9" fmla="*/ 177087862 h 10000"/>
                <a:gd name="T10" fmla="*/ 3337878 w 12864"/>
                <a:gd name="T11" fmla="*/ 316435825 h 10000"/>
                <a:gd name="T12" fmla="*/ 0 w 12864"/>
                <a:gd name="T13" fmla="*/ 413360432 h 10000"/>
                <a:gd name="T14" fmla="*/ 22800976 w 12864"/>
                <a:gd name="T15" fmla="*/ 632988803 h 10000"/>
                <a:gd name="T16" fmla="*/ 17678386 w 12864"/>
                <a:gd name="T17" fmla="*/ 751946328 h 10000"/>
                <a:gd name="T18" fmla="*/ 43928156 w 12864"/>
                <a:gd name="T19" fmla="*/ 774916368 h 10000"/>
                <a:gd name="T20" fmla="*/ 58990009 w 12864"/>
                <a:gd name="T21" fmla="*/ 770933430 h 10000"/>
                <a:gd name="T22" fmla="*/ 50603933 w 12864"/>
                <a:gd name="T23" fmla="*/ 678697022 h 10000"/>
                <a:gd name="T24" fmla="*/ 56142434 w 12864"/>
                <a:gd name="T25" fmla="*/ 703778055 h 10000"/>
                <a:gd name="T26" fmla="*/ 61791830 w 12864"/>
                <a:gd name="T27" fmla="*/ 838323062 h 10000"/>
                <a:gd name="T28" fmla="*/ 68310032 w 12864"/>
                <a:gd name="T29" fmla="*/ 939347759 h 10000"/>
                <a:gd name="T30" fmla="*/ 69863240 w 12864"/>
                <a:gd name="T31" fmla="*/ 1171986453 h 10000"/>
                <a:gd name="T32" fmla="*/ 83279473 w 12864"/>
                <a:gd name="T33" fmla="*/ 1041192475 h 10000"/>
                <a:gd name="T34" fmla="*/ 77463712 w 12864"/>
                <a:gd name="T35" fmla="*/ 812773420 h 10000"/>
                <a:gd name="T36" fmla="*/ 67986556 w 12864"/>
                <a:gd name="T37" fmla="*/ 747843842 h 10000"/>
                <a:gd name="T38" fmla="*/ 72720508 w 12864"/>
                <a:gd name="T39" fmla="*/ 695924540 h 10000"/>
                <a:gd name="T40" fmla="*/ 71925212 w 12864"/>
                <a:gd name="T41" fmla="*/ 652795923 h 10000"/>
                <a:gd name="T42" fmla="*/ 59295024 w 12864"/>
                <a:gd name="T43" fmla="*/ 561967642 h 10000"/>
                <a:gd name="T44" fmla="*/ 65610338 w 12864"/>
                <a:gd name="T45" fmla="*/ 492820822 h 10000"/>
                <a:gd name="T46" fmla="*/ 73191887 w 12864"/>
                <a:gd name="T47" fmla="*/ 491766548 h 10000"/>
                <a:gd name="T48" fmla="*/ 89548570 w 12864"/>
                <a:gd name="T49" fmla="*/ 447815517 h 10000"/>
                <a:gd name="T50" fmla="*/ 95484498 w 12864"/>
                <a:gd name="T51" fmla="*/ 410195117 h 10000"/>
                <a:gd name="T52" fmla="*/ 102770284 w 12864"/>
                <a:gd name="T53" fmla="*/ 351830476 h 10000"/>
                <a:gd name="T54" fmla="*/ 118941700 w 12864"/>
                <a:gd name="T55" fmla="*/ 341165449 h 10000"/>
                <a:gd name="T56" fmla="*/ 113393948 w 12864"/>
                <a:gd name="T57" fmla="*/ 240492209 h 10000"/>
                <a:gd name="T58" fmla="*/ 102187569 w 12864"/>
                <a:gd name="T59" fmla="*/ 202403199 h 10000"/>
                <a:gd name="T60" fmla="*/ 87921012 w 12864"/>
                <a:gd name="T61" fmla="*/ 190447247 h 10000"/>
                <a:gd name="T62" fmla="*/ 71915960 w 12864"/>
                <a:gd name="T63" fmla="*/ 200526512 h 10000"/>
                <a:gd name="T64" fmla="*/ 68698230 w 12864"/>
                <a:gd name="T65" fmla="*/ 206620442 h 10000"/>
                <a:gd name="T66" fmla="*/ 65610338 w 12864"/>
                <a:gd name="T67" fmla="*/ 181658958 h 10000"/>
                <a:gd name="T68" fmla="*/ 72720508 w 12864"/>
                <a:gd name="T69" fmla="*/ 146967173 h 10000"/>
                <a:gd name="T70" fmla="*/ 72720508 w 12864"/>
                <a:gd name="T71" fmla="*/ 56256044 h 10000"/>
                <a:gd name="T72" fmla="*/ 61661990 w 12864"/>
                <a:gd name="T73" fmla="*/ 0 h 100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2864" h="10000">
                  <a:moveTo>
                    <a:pt x="6669" y="0"/>
                  </a:moveTo>
                  <a:lnTo>
                    <a:pt x="5217" y="627"/>
                  </a:lnTo>
                  <a:lnTo>
                    <a:pt x="4509" y="795"/>
                  </a:lnTo>
                  <a:lnTo>
                    <a:pt x="4285" y="602"/>
                  </a:lnTo>
                  <a:lnTo>
                    <a:pt x="1850" y="1511"/>
                  </a:lnTo>
                  <a:lnTo>
                    <a:pt x="361" y="2700"/>
                  </a:lnTo>
                  <a:lnTo>
                    <a:pt x="0" y="3527"/>
                  </a:lnTo>
                  <a:lnTo>
                    <a:pt x="2466" y="5401"/>
                  </a:lnTo>
                  <a:lnTo>
                    <a:pt x="1912" y="6416"/>
                  </a:lnTo>
                  <a:cubicBezTo>
                    <a:pt x="2658" y="6304"/>
                    <a:pt x="4006" y="6725"/>
                    <a:pt x="4751" y="6612"/>
                  </a:cubicBezTo>
                  <a:lnTo>
                    <a:pt x="6380" y="6578"/>
                  </a:lnTo>
                  <a:lnTo>
                    <a:pt x="5473" y="5791"/>
                  </a:lnTo>
                  <a:lnTo>
                    <a:pt x="6072" y="6005"/>
                  </a:lnTo>
                  <a:lnTo>
                    <a:pt x="6683" y="7153"/>
                  </a:lnTo>
                  <a:lnTo>
                    <a:pt x="7388" y="8015"/>
                  </a:lnTo>
                  <a:cubicBezTo>
                    <a:pt x="7359" y="8285"/>
                    <a:pt x="7584" y="9729"/>
                    <a:pt x="7556" y="10000"/>
                  </a:cubicBezTo>
                  <a:lnTo>
                    <a:pt x="9007" y="8884"/>
                  </a:lnTo>
                  <a:lnTo>
                    <a:pt x="8378" y="6935"/>
                  </a:lnTo>
                  <a:lnTo>
                    <a:pt x="7353" y="6381"/>
                  </a:lnTo>
                  <a:lnTo>
                    <a:pt x="7865" y="5938"/>
                  </a:lnTo>
                  <a:cubicBezTo>
                    <a:pt x="7836" y="5815"/>
                    <a:pt x="7808" y="5693"/>
                    <a:pt x="7779" y="5570"/>
                  </a:cubicBezTo>
                  <a:lnTo>
                    <a:pt x="6413" y="4795"/>
                  </a:lnTo>
                  <a:lnTo>
                    <a:pt x="7096" y="4205"/>
                  </a:lnTo>
                  <a:lnTo>
                    <a:pt x="7916" y="4196"/>
                  </a:lnTo>
                  <a:lnTo>
                    <a:pt x="9685" y="3821"/>
                  </a:lnTo>
                  <a:cubicBezTo>
                    <a:pt x="9793" y="3687"/>
                    <a:pt x="10219" y="3634"/>
                    <a:pt x="10327" y="3500"/>
                  </a:cubicBezTo>
                  <a:lnTo>
                    <a:pt x="11115" y="3002"/>
                  </a:lnTo>
                  <a:cubicBezTo>
                    <a:pt x="11093" y="2923"/>
                    <a:pt x="12886" y="2990"/>
                    <a:pt x="12864" y="2911"/>
                  </a:cubicBezTo>
                  <a:lnTo>
                    <a:pt x="12264" y="2052"/>
                  </a:lnTo>
                  <a:cubicBezTo>
                    <a:pt x="12238" y="1992"/>
                    <a:pt x="11078" y="1787"/>
                    <a:pt x="11052" y="1727"/>
                  </a:cubicBezTo>
                  <a:cubicBezTo>
                    <a:pt x="11067" y="1385"/>
                    <a:pt x="9494" y="1967"/>
                    <a:pt x="9509" y="1625"/>
                  </a:cubicBezTo>
                  <a:lnTo>
                    <a:pt x="7778" y="1711"/>
                  </a:lnTo>
                  <a:lnTo>
                    <a:pt x="7430" y="1763"/>
                  </a:lnTo>
                  <a:lnTo>
                    <a:pt x="7096" y="1550"/>
                  </a:lnTo>
                  <a:lnTo>
                    <a:pt x="7865" y="1254"/>
                  </a:lnTo>
                  <a:lnTo>
                    <a:pt x="7865" y="480"/>
                  </a:lnTo>
                  <a:lnTo>
                    <a:pt x="6669" y="0"/>
                  </a:lnTo>
                  <a:close/>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sp>
          <p:nvSpPr>
            <p:cNvPr id="197" name="Freeform 241"/>
            <p:cNvSpPr>
              <a:spLocks/>
            </p:cNvSpPr>
            <p:nvPr/>
          </p:nvSpPr>
          <p:spPr bwMode="gray">
            <a:xfrm>
              <a:off x="6863670" y="3544095"/>
              <a:ext cx="74895" cy="39715"/>
            </a:xfrm>
            <a:custGeom>
              <a:avLst/>
              <a:gdLst>
                <a:gd name="T0" fmla="*/ 0 w 348468"/>
                <a:gd name="T1" fmla="*/ 2314 h 191264"/>
                <a:gd name="T2" fmla="*/ 1695 w 348468"/>
                <a:gd name="T3" fmla="*/ 3248 h 191264"/>
                <a:gd name="T4" fmla="*/ 2694 w 348468"/>
                <a:gd name="T5" fmla="*/ 2759 h 191264"/>
                <a:gd name="T6" fmla="*/ 3607 w 348468"/>
                <a:gd name="T7" fmla="*/ 3204 h 191264"/>
                <a:gd name="T8" fmla="*/ 5389 w 348468"/>
                <a:gd name="T9" fmla="*/ 2848 h 191264"/>
                <a:gd name="T10" fmla="*/ 5780 w 348468"/>
                <a:gd name="T11" fmla="*/ 1780 h 191264"/>
                <a:gd name="T12" fmla="*/ 4215 w 348468"/>
                <a:gd name="T13" fmla="*/ 89 h 191264"/>
                <a:gd name="T14" fmla="*/ 2781 w 348468"/>
                <a:gd name="T15" fmla="*/ 356 h 191264"/>
                <a:gd name="T16" fmla="*/ 1912 w 348468"/>
                <a:gd name="T17" fmla="*/ 0 h 191264"/>
                <a:gd name="T18" fmla="*/ 478 w 348468"/>
                <a:gd name="T19" fmla="*/ 1246 h 191264"/>
                <a:gd name="T20" fmla="*/ 0 w 348468"/>
                <a:gd name="T21" fmla="*/ 2314 h 1912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8468" h="191264">
                  <a:moveTo>
                    <a:pt x="0" y="136243"/>
                  </a:moveTo>
                  <a:lnTo>
                    <a:pt x="102182" y="191264"/>
                  </a:lnTo>
                  <a:lnTo>
                    <a:pt x="162443" y="162443"/>
                  </a:lnTo>
                  <a:lnTo>
                    <a:pt x="217465" y="188644"/>
                  </a:lnTo>
                  <a:lnTo>
                    <a:pt x="324887" y="167683"/>
                  </a:lnTo>
                  <a:lnTo>
                    <a:pt x="348468" y="104802"/>
                  </a:lnTo>
                  <a:lnTo>
                    <a:pt x="254145" y="5240"/>
                  </a:lnTo>
                  <a:lnTo>
                    <a:pt x="167684" y="20960"/>
                  </a:lnTo>
                  <a:lnTo>
                    <a:pt x="115282" y="0"/>
                  </a:lnTo>
                  <a:lnTo>
                    <a:pt x="28821" y="73361"/>
                  </a:lnTo>
                  <a:lnTo>
                    <a:pt x="0" y="136243"/>
                  </a:lnTo>
                  <a:close/>
                </a:path>
              </a:pathLst>
            </a:custGeom>
            <a:grpFill/>
            <a:ln w="9525">
              <a:solidFill>
                <a:schemeClr val="bg2">
                  <a:lumMod val="50000"/>
                </a:schemeClr>
              </a:solidFill>
              <a:round/>
              <a:headEnd/>
              <a:tailEnd/>
            </a:ln>
          </p:spPr>
          <p:txBody>
            <a:bodyPr/>
            <a:lstStyle/>
            <a:p>
              <a:endParaRPr lang="en-US" dirty="0"/>
            </a:p>
          </p:txBody>
        </p:sp>
        <p:sp>
          <p:nvSpPr>
            <p:cNvPr id="198" name="Freeform 448"/>
            <p:cNvSpPr>
              <a:spLocks/>
            </p:cNvSpPr>
            <p:nvPr/>
          </p:nvSpPr>
          <p:spPr bwMode="gray">
            <a:xfrm>
              <a:off x="7149876" y="4062954"/>
              <a:ext cx="108330" cy="119146"/>
            </a:xfrm>
            <a:custGeom>
              <a:avLst/>
              <a:gdLst>
                <a:gd name="T0" fmla="*/ 0 w 675"/>
                <a:gd name="T1" fmla="*/ 2147483647 h 773"/>
                <a:gd name="T2" fmla="*/ 2147483647 w 675"/>
                <a:gd name="T3" fmla="*/ 2147483647 h 773"/>
                <a:gd name="T4" fmla="*/ 2147483647 w 675"/>
                <a:gd name="T5" fmla="*/ 2147483647 h 773"/>
                <a:gd name="T6" fmla="*/ 2147483647 w 675"/>
                <a:gd name="T7" fmla="*/ 2147483647 h 773"/>
                <a:gd name="T8" fmla="*/ 2147483647 w 675"/>
                <a:gd name="T9" fmla="*/ 2147483647 h 773"/>
                <a:gd name="T10" fmla="*/ 2147483647 w 675"/>
                <a:gd name="T11" fmla="*/ 2147483647 h 773"/>
                <a:gd name="T12" fmla="*/ 2147483647 w 675"/>
                <a:gd name="T13" fmla="*/ 2147483647 h 773"/>
                <a:gd name="T14" fmla="*/ 2147483647 w 675"/>
                <a:gd name="T15" fmla="*/ 2147483647 h 773"/>
                <a:gd name="T16" fmla="*/ 2147483647 w 675"/>
                <a:gd name="T17" fmla="*/ 2147483647 h 773"/>
                <a:gd name="T18" fmla="*/ 2147483647 w 675"/>
                <a:gd name="T19" fmla="*/ 2147483647 h 773"/>
                <a:gd name="T20" fmla="*/ 2147483647 w 675"/>
                <a:gd name="T21" fmla="*/ 2147483647 h 773"/>
                <a:gd name="T22" fmla="*/ 2147483647 w 675"/>
                <a:gd name="T23" fmla="*/ 2147483647 h 773"/>
                <a:gd name="T24" fmla="*/ 2147483647 w 675"/>
                <a:gd name="T25" fmla="*/ 2147483647 h 773"/>
                <a:gd name="T26" fmla="*/ 2147483647 w 675"/>
                <a:gd name="T27" fmla="*/ 0 h 773"/>
                <a:gd name="T28" fmla="*/ 0 w 675"/>
                <a:gd name="T29" fmla="*/ 2147483647 h 7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75" h="773">
                  <a:moveTo>
                    <a:pt x="0" y="41"/>
                  </a:moveTo>
                  <a:lnTo>
                    <a:pt x="75" y="339"/>
                  </a:lnTo>
                  <a:lnTo>
                    <a:pt x="273" y="579"/>
                  </a:lnTo>
                  <a:lnTo>
                    <a:pt x="605" y="769"/>
                  </a:lnTo>
                  <a:lnTo>
                    <a:pt x="675" y="773"/>
                  </a:lnTo>
                  <a:lnTo>
                    <a:pt x="563" y="583"/>
                  </a:lnTo>
                  <a:lnTo>
                    <a:pt x="493" y="521"/>
                  </a:lnTo>
                  <a:lnTo>
                    <a:pt x="493" y="269"/>
                  </a:lnTo>
                  <a:lnTo>
                    <a:pt x="323" y="78"/>
                  </a:lnTo>
                  <a:lnTo>
                    <a:pt x="286" y="58"/>
                  </a:lnTo>
                  <a:lnTo>
                    <a:pt x="253" y="111"/>
                  </a:lnTo>
                  <a:lnTo>
                    <a:pt x="141" y="128"/>
                  </a:lnTo>
                  <a:lnTo>
                    <a:pt x="145" y="70"/>
                  </a:lnTo>
                  <a:lnTo>
                    <a:pt x="17" y="0"/>
                  </a:lnTo>
                  <a:lnTo>
                    <a:pt x="0" y="41"/>
                  </a:lnTo>
                  <a:close/>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sp>
          <p:nvSpPr>
            <p:cNvPr id="199" name="Freeform 330"/>
            <p:cNvSpPr>
              <a:spLocks/>
            </p:cNvSpPr>
            <p:nvPr/>
          </p:nvSpPr>
          <p:spPr bwMode="gray">
            <a:xfrm>
              <a:off x="7179298" y="3693988"/>
              <a:ext cx="168514" cy="316440"/>
            </a:xfrm>
            <a:custGeom>
              <a:avLst/>
              <a:gdLst>
                <a:gd name="T0" fmla="*/ 2147483647 w 138"/>
                <a:gd name="T1" fmla="*/ 0 h 271"/>
                <a:gd name="T2" fmla="*/ 2147483647 w 138"/>
                <a:gd name="T3" fmla="*/ 0 h 271"/>
                <a:gd name="T4" fmla="*/ 0 w 138"/>
                <a:gd name="T5" fmla="*/ 2147483647 h 271"/>
                <a:gd name="T6" fmla="*/ 2147483647 w 138"/>
                <a:gd name="T7" fmla="*/ 2147483647 h 271"/>
                <a:gd name="T8" fmla="*/ 2147483647 w 138"/>
                <a:gd name="T9" fmla="*/ 2147483647 h 271"/>
                <a:gd name="T10" fmla="*/ 2147483647 w 138"/>
                <a:gd name="T11" fmla="*/ 2147483647 h 271"/>
                <a:gd name="T12" fmla="*/ 2147483647 w 138"/>
                <a:gd name="T13" fmla="*/ 2147483647 h 271"/>
                <a:gd name="T14" fmla="*/ 2147483647 w 138"/>
                <a:gd name="T15" fmla="*/ 2147483647 h 271"/>
                <a:gd name="T16" fmla="*/ 2147483647 w 138"/>
                <a:gd name="T17" fmla="*/ 2147483647 h 271"/>
                <a:gd name="T18" fmla="*/ 2147483647 w 138"/>
                <a:gd name="T19" fmla="*/ 2147483647 h 271"/>
                <a:gd name="T20" fmla="*/ 2147483647 w 138"/>
                <a:gd name="T21" fmla="*/ 2147483647 h 271"/>
                <a:gd name="T22" fmla="*/ 2147483647 w 138"/>
                <a:gd name="T23" fmla="*/ 2147483647 h 271"/>
                <a:gd name="T24" fmla="*/ 2147483647 w 138"/>
                <a:gd name="T25" fmla="*/ 2147483647 h 271"/>
                <a:gd name="T26" fmla="*/ 2147483647 w 138"/>
                <a:gd name="T27" fmla="*/ 2147483647 h 271"/>
                <a:gd name="T28" fmla="*/ 2147483647 w 138"/>
                <a:gd name="T29" fmla="*/ 2147483647 h 271"/>
                <a:gd name="T30" fmla="*/ 2147483647 w 138"/>
                <a:gd name="T31" fmla="*/ 2147483647 h 271"/>
                <a:gd name="T32" fmla="*/ 2147483647 w 138"/>
                <a:gd name="T33" fmla="*/ 2147483647 h 271"/>
                <a:gd name="T34" fmla="*/ 2147483647 w 138"/>
                <a:gd name="T35" fmla="*/ 2147483647 h 271"/>
                <a:gd name="T36" fmla="*/ 2147483647 w 138"/>
                <a:gd name="T37" fmla="*/ 2147483647 h 271"/>
                <a:gd name="T38" fmla="*/ 2147483647 w 138"/>
                <a:gd name="T39" fmla="*/ 2147483647 h 271"/>
                <a:gd name="T40" fmla="*/ 2147483647 w 138"/>
                <a:gd name="T41" fmla="*/ 2147483647 h 271"/>
                <a:gd name="T42" fmla="*/ 2147483647 w 138"/>
                <a:gd name="T43" fmla="*/ 2147483647 h 271"/>
                <a:gd name="T44" fmla="*/ 2147483647 w 138"/>
                <a:gd name="T45" fmla="*/ 2147483647 h 271"/>
                <a:gd name="T46" fmla="*/ 2147483647 w 138"/>
                <a:gd name="T47" fmla="*/ 2147483647 h 271"/>
                <a:gd name="T48" fmla="*/ 2147483647 w 138"/>
                <a:gd name="T49" fmla="*/ 2147483647 h 271"/>
                <a:gd name="T50" fmla="*/ 2147483647 w 138"/>
                <a:gd name="T51" fmla="*/ 2147483647 h 271"/>
                <a:gd name="T52" fmla="*/ 2147483647 w 138"/>
                <a:gd name="T53" fmla="*/ 2147483647 h 271"/>
                <a:gd name="T54" fmla="*/ 2147483647 w 138"/>
                <a:gd name="T55" fmla="*/ 2147483647 h 271"/>
                <a:gd name="T56" fmla="*/ 2147483647 w 138"/>
                <a:gd name="T57" fmla="*/ 0 h 27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8" h="271">
                  <a:moveTo>
                    <a:pt x="66" y="0"/>
                  </a:moveTo>
                  <a:lnTo>
                    <a:pt x="6" y="0"/>
                  </a:lnTo>
                  <a:lnTo>
                    <a:pt x="0" y="24"/>
                  </a:lnTo>
                  <a:lnTo>
                    <a:pt x="6" y="24"/>
                  </a:lnTo>
                  <a:lnTo>
                    <a:pt x="18" y="42"/>
                  </a:lnTo>
                  <a:lnTo>
                    <a:pt x="36" y="48"/>
                  </a:lnTo>
                  <a:lnTo>
                    <a:pt x="42" y="60"/>
                  </a:lnTo>
                  <a:lnTo>
                    <a:pt x="36" y="72"/>
                  </a:lnTo>
                  <a:lnTo>
                    <a:pt x="54" y="96"/>
                  </a:lnTo>
                  <a:lnTo>
                    <a:pt x="78" y="126"/>
                  </a:lnTo>
                  <a:lnTo>
                    <a:pt x="96" y="144"/>
                  </a:lnTo>
                  <a:lnTo>
                    <a:pt x="96" y="175"/>
                  </a:lnTo>
                  <a:lnTo>
                    <a:pt x="96" y="211"/>
                  </a:lnTo>
                  <a:lnTo>
                    <a:pt x="78" y="223"/>
                  </a:lnTo>
                  <a:lnTo>
                    <a:pt x="60" y="229"/>
                  </a:lnTo>
                  <a:lnTo>
                    <a:pt x="54" y="241"/>
                  </a:lnTo>
                  <a:lnTo>
                    <a:pt x="42" y="247"/>
                  </a:lnTo>
                  <a:lnTo>
                    <a:pt x="48" y="253"/>
                  </a:lnTo>
                  <a:lnTo>
                    <a:pt x="66" y="271"/>
                  </a:lnTo>
                  <a:lnTo>
                    <a:pt x="108" y="241"/>
                  </a:lnTo>
                  <a:lnTo>
                    <a:pt x="138" y="211"/>
                  </a:lnTo>
                  <a:lnTo>
                    <a:pt x="114" y="132"/>
                  </a:lnTo>
                  <a:lnTo>
                    <a:pt x="102" y="114"/>
                  </a:lnTo>
                  <a:lnTo>
                    <a:pt x="78" y="84"/>
                  </a:lnTo>
                  <a:lnTo>
                    <a:pt x="66" y="60"/>
                  </a:lnTo>
                  <a:lnTo>
                    <a:pt x="78" y="48"/>
                  </a:lnTo>
                  <a:lnTo>
                    <a:pt x="96" y="36"/>
                  </a:lnTo>
                  <a:lnTo>
                    <a:pt x="90" y="18"/>
                  </a:lnTo>
                  <a:lnTo>
                    <a:pt x="66" y="0"/>
                  </a:lnTo>
                  <a:close/>
                </a:path>
              </a:pathLst>
            </a:custGeom>
            <a:grpFill/>
            <a:ln w="9525">
              <a:solidFill>
                <a:schemeClr val="bg2">
                  <a:lumMod val="50000"/>
                </a:schemeClr>
              </a:solidFill>
              <a:round/>
              <a:headEnd/>
              <a:tailEnd/>
            </a:ln>
          </p:spPr>
          <p:txBody>
            <a:bodyPr/>
            <a:lstStyle/>
            <a:p>
              <a:endParaRPr lang="en-US" dirty="0"/>
            </a:p>
          </p:txBody>
        </p:sp>
        <p:sp>
          <p:nvSpPr>
            <p:cNvPr id="200" name="Freeform 446"/>
            <p:cNvSpPr>
              <a:spLocks/>
            </p:cNvSpPr>
            <p:nvPr/>
          </p:nvSpPr>
          <p:spPr bwMode="gray">
            <a:xfrm>
              <a:off x="7070968" y="3746514"/>
              <a:ext cx="187238" cy="322846"/>
            </a:xfrm>
            <a:custGeom>
              <a:avLst/>
              <a:gdLst>
                <a:gd name="T0" fmla="*/ 2147483647 w 107"/>
                <a:gd name="T1" fmla="*/ 2147483647 h 190"/>
                <a:gd name="T2" fmla="*/ 0 w 107"/>
                <a:gd name="T3" fmla="*/ 2147483647 h 190"/>
                <a:gd name="T4" fmla="*/ 2147483647 w 107"/>
                <a:gd name="T5" fmla="*/ 2147483647 h 190"/>
                <a:gd name="T6" fmla="*/ 2147483647 w 107"/>
                <a:gd name="T7" fmla="*/ 2147483647 h 190"/>
                <a:gd name="T8" fmla="*/ 2147483647 w 107"/>
                <a:gd name="T9" fmla="*/ 2147483647 h 190"/>
                <a:gd name="T10" fmla="*/ 2147483647 w 107"/>
                <a:gd name="T11" fmla="*/ 2147483647 h 190"/>
                <a:gd name="T12" fmla="*/ 2147483647 w 107"/>
                <a:gd name="T13" fmla="*/ 2147483647 h 190"/>
                <a:gd name="T14" fmla="*/ 2147483647 w 107"/>
                <a:gd name="T15" fmla="*/ 2147483647 h 190"/>
                <a:gd name="T16" fmla="*/ 2147483647 w 107"/>
                <a:gd name="T17" fmla="*/ 2147483647 h 190"/>
                <a:gd name="T18" fmla="*/ 2147483647 w 107"/>
                <a:gd name="T19" fmla="*/ 2147483647 h 190"/>
                <a:gd name="T20" fmla="*/ 2147483647 w 107"/>
                <a:gd name="T21" fmla="*/ 2147483647 h 190"/>
                <a:gd name="T22" fmla="*/ 2147483647 w 107"/>
                <a:gd name="T23" fmla="*/ 2147483647 h 190"/>
                <a:gd name="T24" fmla="*/ 2147483647 w 107"/>
                <a:gd name="T25" fmla="*/ 2147483647 h 190"/>
                <a:gd name="T26" fmla="*/ 2147483647 w 107"/>
                <a:gd name="T27" fmla="*/ 2147483647 h 190"/>
                <a:gd name="T28" fmla="*/ 2147483647 w 107"/>
                <a:gd name="T29" fmla="*/ 2147483647 h 190"/>
                <a:gd name="T30" fmla="*/ 2147483647 w 107"/>
                <a:gd name="T31" fmla="*/ 2147483647 h 190"/>
                <a:gd name="T32" fmla="*/ 2147483647 w 107"/>
                <a:gd name="T33" fmla="*/ 2147483647 h 190"/>
                <a:gd name="T34" fmla="*/ 2147483647 w 107"/>
                <a:gd name="T35" fmla="*/ 2147483647 h 190"/>
                <a:gd name="T36" fmla="*/ 2147483647 w 107"/>
                <a:gd name="T37" fmla="*/ 2147483647 h 190"/>
                <a:gd name="T38" fmla="*/ 2147483647 w 107"/>
                <a:gd name="T39" fmla="*/ 2147483647 h 190"/>
                <a:gd name="T40" fmla="*/ 2147483647 w 107"/>
                <a:gd name="T41" fmla="*/ 2147483647 h 190"/>
                <a:gd name="T42" fmla="*/ 2147483647 w 107"/>
                <a:gd name="T43" fmla="*/ 2147483647 h 190"/>
                <a:gd name="T44" fmla="*/ 2147483647 w 107"/>
                <a:gd name="T45" fmla="*/ 2147483647 h 190"/>
                <a:gd name="T46" fmla="*/ 2147483647 w 107"/>
                <a:gd name="T47" fmla="*/ 2147483647 h 190"/>
                <a:gd name="T48" fmla="*/ 2147483647 w 107"/>
                <a:gd name="T49" fmla="*/ 2147483647 h 190"/>
                <a:gd name="T50" fmla="*/ 2147483647 w 107"/>
                <a:gd name="T51" fmla="*/ 2147483647 h 190"/>
                <a:gd name="T52" fmla="*/ 2147483647 w 107"/>
                <a:gd name="T53" fmla="*/ 2147483647 h 190"/>
                <a:gd name="T54" fmla="*/ 2147483647 w 107"/>
                <a:gd name="T55" fmla="*/ 2147483647 h 190"/>
                <a:gd name="T56" fmla="*/ 2147483647 w 107"/>
                <a:gd name="T57" fmla="*/ 2147483647 h 190"/>
                <a:gd name="T58" fmla="*/ 2147483647 w 107"/>
                <a:gd name="T59" fmla="*/ 0 h 190"/>
                <a:gd name="T60" fmla="*/ 2147483647 w 107"/>
                <a:gd name="T61" fmla="*/ 2147483647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7" h="190">
                  <a:moveTo>
                    <a:pt x="7" y="9"/>
                  </a:moveTo>
                  <a:lnTo>
                    <a:pt x="0" y="23"/>
                  </a:lnTo>
                  <a:lnTo>
                    <a:pt x="15" y="47"/>
                  </a:lnTo>
                  <a:lnTo>
                    <a:pt x="15" y="60"/>
                  </a:lnTo>
                  <a:lnTo>
                    <a:pt x="22" y="78"/>
                  </a:lnTo>
                  <a:lnTo>
                    <a:pt x="19" y="93"/>
                  </a:lnTo>
                  <a:lnTo>
                    <a:pt x="23" y="110"/>
                  </a:lnTo>
                  <a:lnTo>
                    <a:pt x="26" y="118"/>
                  </a:lnTo>
                  <a:lnTo>
                    <a:pt x="19" y="126"/>
                  </a:lnTo>
                  <a:lnTo>
                    <a:pt x="13" y="159"/>
                  </a:lnTo>
                  <a:lnTo>
                    <a:pt x="33" y="182"/>
                  </a:lnTo>
                  <a:lnTo>
                    <a:pt x="34" y="178"/>
                  </a:lnTo>
                  <a:lnTo>
                    <a:pt x="46" y="185"/>
                  </a:lnTo>
                  <a:lnTo>
                    <a:pt x="46" y="190"/>
                  </a:lnTo>
                  <a:lnTo>
                    <a:pt x="56" y="188"/>
                  </a:lnTo>
                  <a:lnTo>
                    <a:pt x="59" y="184"/>
                  </a:lnTo>
                  <a:lnTo>
                    <a:pt x="43" y="174"/>
                  </a:lnTo>
                  <a:lnTo>
                    <a:pt x="27" y="149"/>
                  </a:lnTo>
                  <a:lnTo>
                    <a:pt x="19" y="138"/>
                  </a:lnTo>
                  <a:lnTo>
                    <a:pt x="32" y="113"/>
                  </a:lnTo>
                  <a:lnTo>
                    <a:pt x="57" y="108"/>
                  </a:lnTo>
                  <a:lnTo>
                    <a:pt x="70" y="119"/>
                  </a:lnTo>
                  <a:lnTo>
                    <a:pt x="63" y="97"/>
                  </a:lnTo>
                  <a:lnTo>
                    <a:pt x="72" y="87"/>
                  </a:lnTo>
                  <a:lnTo>
                    <a:pt x="101" y="87"/>
                  </a:lnTo>
                  <a:lnTo>
                    <a:pt x="107" y="73"/>
                  </a:lnTo>
                  <a:lnTo>
                    <a:pt x="95" y="50"/>
                  </a:lnTo>
                  <a:lnTo>
                    <a:pt x="85" y="37"/>
                  </a:lnTo>
                  <a:lnTo>
                    <a:pt x="48" y="27"/>
                  </a:lnTo>
                  <a:lnTo>
                    <a:pt x="36" y="0"/>
                  </a:lnTo>
                  <a:lnTo>
                    <a:pt x="7" y="9"/>
                  </a:lnTo>
                  <a:close/>
                </a:path>
              </a:pathLst>
            </a:custGeom>
            <a:grpFill/>
            <a:ln w="9525" cap="flat" cmpd="sng">
              <a:solidFill>
                <a:schemeClr val="bg2">
                  <a:lumMod val="50000"/>
                </a:schemeClr>
              </a:solidFill>
              <a:prstDash val="solid"/>
              <a:round/>
              <a:headEnd type="none" w="med" len="med"/>
              <a:tailEnd type="none" w="med" len="med"/>
            </a:ln>
            <a:effectLst/>
          </p:spPr>
          <p:txBody>
            <a:bodyPr/>
            <a:lstStyle/>
            <a:p>
              <a:endParaRPr lang="en-US" dirty="0"/>
            </a:p>
          </p:txBody>
        </p:sp>
        <p:sp>
          <p:nvSpPr>
            <p:cNvPr id="201" name="Freeform 329"/>
            <p:cNvSpPr>
              <a:spLocks/>
            </p:cNvSpPr>
            <p:nvPr/>
          </p:nvSpPr>
          <p:spPr bwMode="gray">
            <a:xfrm>
              <a:off x="7127139" y="3714486"/>
              <a:ext cx="177877" cy="185764"/>
            </a:xfrm>
            <a:custGeom>
              <a:avLst/>
              <a:gdLst>
                <a:gd name="T0" fmla="*/ 1557099446 w 10000"/>
                <a:gd name="T1" fmla="*/ 2147483647 h 10000"/>
                <a:gd name="T2" fmla="*/ 1795553424 w 10000"/>
                <a:gd name="T3" fmla="*/ 2147483647 h 10000"/>
                <a:gd name="T4" fmla="*/ 1795553424 w 10000"/>
                <a:gd name="T5" fmla="*/ 2019481425 h 10000"/>
                <a:gd name="T6" fmla="*/ 1561415592 w 10000"/>
                <a:gd name="T7" fmla="*/ 1716105542 h 10000"/>
                <a:gd name="T8" fmla="*/ 1249166454 w 10000"/>
                <a:gd name="T9" fmla="*/ 1211740132 h 10000"/>
                <a:gd name="T10" fmla="*/ 1014850316 w 10000"/>
                <a:gd name="T11" fmla="*/ 806974560 h 10000"/>
                <a:gd name="T12" fmla="*/ 1092952268 w 10000"/>
                <a:gd name="T13" fmla="*/ 605742369 h 10000"/>
                <a:gd name="T14" fmla="*/ 1014850316 w 10000"/>
                <a:gd name="T15" fmla="*/ 403998332 h 10000"/>
                <a:gd name="T16" fmla="*/ 780703130 w 10000"/>
                <a:gd name="T17" fmla="*/ 302621350 h 10000"/>
                <a:gd name="T18" fmla="*/ 624489387 w 10000"/>
                <a:gd name="T19" fmla="*/ 0 h 10000"/>
                <a:gd name="T20" fmla="*/ 546386970 w 10000"/>
                <a:gd name="T21" fmla="*/ 0 h 10000"/>
                <a:gd name="T22" fmla="*/ 156213743 w 10000"/>
                <a:gd name="T23" fmla="*/ 100622449 h 10000"/>
                <a:gd name="T24" fmla="*/ 0 w 10000"/>
                <a:gd name="T25" fmla="*/ 403998332 h 10000"/>
                <a:gd name="T26" fmla="*/ 78102417 w 10000"/>
                <a:gd name="T27" fmla="*/ 605742369 h 10000"/>
                <a:gd name="T28" fmla="*/ 156213743 w 10000"/>
                <a:gd name="T29" fmla="*/ 1211740132 h 10000"/>
                <a:gd name="T30" fmla="*/ 702600713 w 10000"/>
                <a:gd name="T31" fmla="*/ 1211740132 h 10000"/>
                <a:gd name="T32" fmla="*/ 936738546 w 10000"/>
                <a:gd name="T33" fmla="*/ 1312362604 h 10000"/>
                <a:gd name="T34" fmla="*/ 1327090100 w 10000"/>
                <a:gd name="T35" fmla="*/ 2120103874 h 10000"/>
                <a:gd name="T36" fmla="*/ 1249166454 w 10000"/>
                <a:gd name="T37" fmla="*/ 2147483647 h 10000"/>
                <a:gd name="T38" fmla="*/ 1557099446 w 10000"/>
                <a:gd name="T39" fmla="*/ 2147483647 h 100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0000" h="10000">
                  <a:moveTo>
                    <a:pt x="8672" y="9830"/>
                  </a:moveTo>
                  <a:lnTo>
                    <a:pt x="10000" y="10000"/>
                  </a:lnTo>
                  <a:lnTo>
                    <a:pt x="10000" y="7948"/>
                  </a:lnTo>
                  <a:lnTo>
                    <a:pt x="8696" y="6754"/>
                  </a:lnTo>
                  <a:lnTo>
                    <a:pt x="6957" y="4769"/>
                  </a:lnTo>
                  <a:lnTo>
                    <a:pt x="5652" y="3176"/>
                  </a:lnTo>
                  <a:lnTo>
                    <a:pt x="6087" y="2384"/>
                  </a:lnTo>
                  <a:lnTo>
                    <a:pt x="5652" y="1590"/>
                  </a:lnTo>
                  <a:lnTo>
                    <a:pt x="4348" y="1191"/>
                  </a:lnTo>
                  <a:lnTo>
                    <a:pt x="3478" y="0"/>
                  </a:lnTo>
                  <a:lnTo>
                    <a:pt x="3043" y="0"/>
                  </a:lnTo>
                  <a:lnTo>
                    <a:pt x="870" y="396"/>
                  </a:lnTo>
                  <a:lnTo>
                    <a:pt x="0" y="1590"/>
                  </a:lnTo>
                  <a:lnTo>
                    <a:pt x="435" y="2384"/>
                  </a:lnTo>
                  <a:lnTo>
                    <a:pt x="870" y="4769"/>
                  </a:lnTo>
                  <a:lnTo>
                    <a:pt x="3913" y="4769"/>
                  </a:lnTo>
                  <a:lnTo>
                    <a:pt x="5217" y="5165"/>
                  </a:lnTo>
                  <a:lnTo>
                    <a:pt x="7391" y="8344"/>
                  </a:lnTo>
                  <a:lnTo>
                    <a:pt x="6957" y="9602"/>
                  </a:lnTo>
                  <a:lnTo>
                    <a:pt x="8672" y="9830"/>
                  </a:lnTo>
                  <a:close/>
                </a:path>
              </a:pathLst>
            </a:custGeom>
            <a:grpFill/>
            <a:ln w="9525">
              <a:solidFill>
                <a:schemeClr val="bg2">
                  <a:lumMod val="50000"/>
                </a:schemeClr>
              </a:solidFill>
              <a:round/>
              <a:headEnd/>
              <a:tailEnd/>
            </a:ln>
          </p:spPr>
          <p:txBody>
            <a:bodyPr/>
            <a:lstStyle/>
            <a:p>
              <a:endParaRPr lang="en-US" dirty="0"/>
            </a:p>
          </p:txBody>
        </p:sp>
        <p:sp>
          <p:nvSpPr>
            <p:cNvPr id="202" name="Freeform 329"/>
            <p:cNvSpPr>
              <a:spLocks/>
            </p:cNvSpPr>
            <p:nvPr/>
          </p:nvSpPr>
          <p:spPr bwMode="gray">
            <a:xfrm>
              <a:off x="7180636" y="3887439"/>
              <a:ext cx="124380" cy="94804"/>
            </a:xfrm>
            <a:custGeom>
              <a:avLst/>
              <a:gdLst>
                <a:gd name="T0" fmla="*/ 348872861 w 10000"/>
                <a:gd name="T1" fmla="*/ 27209600 h 6448"/>
                <a:gd name="T2" fmla="*/ 315095383 w 10000"/>
                <a:gd name="T3" fmla="*/ 15074732 h 6448"/>
                <a:gd name="T4" fmla="*/ 240533365 w 10000"/>
                <a:gd name="T5" fmla="*/ 0 h 6448"/>
                <a:gd name="T6" fmla="*/ 80162754 w 10000"/>
                <a:gd name="T7" fmla="*/ 50172884 h 6448"/>
                <a:gd name="T8" fmla="*/ 0 w 10000"/>
                <a:gd name="T9" fmla="*/ 150615594 h 6448"/>
                <a:gd name="T10" fmla="*/ 0 w 10000"/>
                <a:gd name="T11" fmla="*/ 351307147 h 6448"/>
                <a:gd name="T12" fmla="*/ 133606765 w 10000"/>
                <a:gd name="T13" fmla="*/ 601966131 h 6448"/>
                <a:gd name="T14" fmla="*/ 187047513 w 10000"/>
                <a:gd name="T15" fmla="*/ 652241915 h 6448"/>
                <a:gd name="T16" fmla="*/ 240533365 w 10000"/>
                <a:gd name="T17" fmla="*/ 601966131 h 6448"/>
                <a:gd name="T18" fmla="*/ 267168619 w 10000"/>
                <a:gd name="T19" fmla="*/ 501626339 h 6448"/>
                <a:gd name="T20" fmla="*/ 347418124 w 10000"/>
                <a:gd name="T21" fmla="*/ 451756161 h 6448"/>
                <a:gd name="T22" fmla="*/ 427539023 w 10000"/>
                <a:gd name="T23" fmla="*/ 351307147 h 6448"/>
                <a:gd name="T24" fmla="*/ 427539023 w 10000"/>
                <a:gd name="T25" fmla="*/ 50172884 h 6448"/>
                <a:gd name="T26" fmla="*/ 348872861 w 10000"/>
                <a:gd name="T27" fmla="*/ 27209600 h 64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000" h="6448">
                  <a:moveTo>
                    <a:pt x="8160" y="269"/>
                  </a:moveTo>
                  <a:cubicBezTo>
                    <a:pt x="7722" y="211"/>
                    <a:pt x="7792" y="194"/>
                    <a:pt x="7370" y="149"/>
                  </a:cubicBezTo>
                  <a:lnTo>
                    <a:pt x="5626" y="0"/>
                  </a:lnTo>
                  <a:lnTo>
                    <a:pt x="1875" y="496"/>
                  </a:lnTo>
                  <a:lnTo>
                    <a:pt x="0" y="1489"/>
                  </a:lnTo>
                  <a:lnTo>
                    <a:pt x="0" y="3473"/>
                  </a:lnTo>
                  <a:lnTo>
                    <a:pt x="3125" y="5951"/>
                  </a:lnTo>
                  <a:lnTo>
                    <a:pt x="4375" y="6448"/>
                  </a:lnTo>
                  <a:lnTo>
                    <a:pt x="5626" y="5951"/>
                  </a:lnTo>
                  <a:lnTo>
                    <a:pt x="6249" y="4959"/>
                  </a:lnTo>
                  <a:lnTo>
                    <a:pt x="8126" y="4466"/>
                  </a:lnTo>
                  <a:lnTo>
                    <a:pt x="10000" y="3473"/>
                  </a:lnTo>
                  <a:lnTo>
                    <a:pt x="10000" y="496"/>
                  </a:lnTo>
                  <a:lnTo>
                    <a:pt x="8160" y="269"/>
                  </a:lnTo>
                  <a:close/>
                </a:path>
              </a:pathLst>
            </a:custGeom>
            <a:grpFill/>
            <a:ln w="9525">
              <a:solidFill>
                <a:schemeClr val="bg2">
                  <a:lumMod val="50000"/>
                </a:schemeClr>
              </a:solidFill>
              <a:round/>
              <a:headEnd/>
              <a:tailEnd/>
            </a:ln>
          </p:spPr>
          <p:txBody>
            <a:bodyPr/>
            <a:lstStyle/>
            <a:p>
              <a:endParaRPr lang="en-US" dirty="0"/>
            </a:p>
          </p:txBody>
        </p:sp>
      </p:grpSp>
      <p:graphicFrame>
        <p:nvGraphicFramePr>
          <p:cNvPr id="205" name="Table 204"/>
          <p:cNvGraphicFramePr>
            <a:graphicFrameLocks noGrp="1"/>
          </p:cNvGraphicFramePr>
          <p:nvPr/>
        </p:nvGraphicFramePr>
        <p:xfrm>
          <a:off x="8833491" y="1788345"/>
          <a:ext cx="3045647" cy="3353419"/>
        </p:xfrm>
        <a:graphic>
          <a:graphicData uri="http://schemas.openxmlformats.org/drawingml/2006/table">
            <a:tbl>
              <a:tblPr firstRow="1">
                <a:tableStyleId>{21E4AEA4-8DFA-4A89-87EB-49C32662AFE0}</a:tableStyleId>
              </a:tblPr>
              <a:tblGrid>
                <a:gridCol w="2071039">
                  <a:extLst>
                    <a:ext uri="{9D8B030D-6E8A-4147-A177-3AD203B41FA5}">
                      <a16:colId xmlns:a16="http://schemas.microsoft.com/office/drawing/2014/main" val="20000"/>
                    </a:ext>
                  </a:extLst>
                </a:gridCol>
                <a:gridCol w="974608">
                  <a:extLst>
                    <a:ext uri="{9D8B030D-6E8A-4147-A177-3AD203B41FA5}">
                      <a16:colId xmlns:a16="http://schemas.microsoft.com/office/drawing/2014/main" val="20001"/>
                    </a:ext>
                  </a:extLst>
                </a:gridCol>
              </a:tblGrid>
              <a:tr h="534409">
                <a:tc>
                  <a:txBody>
                    <a:bodyPr/>
                    <a:lstStyle/>
                    <a:p>
                      <a:pPr algn="ctr" fontAlgn="b"/>
                      <a:r>
                        <a:rPr lang="en-US" sz="1100" u="none" strike="noStrike" dirty="0">
                          <a:solidFill>
                            <a:schemeClr val="tx1"/>
                          </a:solidFill>
                          <a:effectLst/>
                        </a:rPr>
                        <a:t>Top 10 World Chemical Sales </a:t>
                      </a:r>
                    </a:p>
                    <a:p>
                      <a:pPr algn="ctr" fontAlgn="b"/>
                      <a:r>
                        <a:rPr lang="en-US" sz="1100" u="none" strike="noStrike" dirty="0">
                          <a:solidFill>
                            <a:schemeClr val="tx1"/>
                          </a:solidFill>
                          <a:effectLst/>
                        </a:rPr>
                        <a:t>(US$ Billion) by Countries</a:t>
                      </a:r>
                      <a:endParaRPr lang="en-US" sz="1100" b="1" i="0" u="none" strike="noStrike" dirty="0">
                        <a:solidFill>
                          <a:schemeClr val="tx1"/>
                        </a:solidFill>
                        <a:effectLst/>
                        <a:latin typeface="Calibri" panose="020F0502020204030204" pitchFamily="34" charset="0"/>
                      </a:endParaRPr>
                    </a:p>
                  </a:txBody>
                  <a:tcPr marR="9525" marT="9525" marB="0" anchor="ctr">
                    <a:solidFill>
                      <a:srgbClr val="7AABD8"/>
                    </a:solidFill>
                  </a:tcPr>
                </a:tc>
                <a:tc>
                  <a:txBody>
                    <a:bodyPr/>
                    <a:lstStyle/>
                    <a:p>
                      <a:pPr algn="ctr" fontAlgn="b"/>
                      <a:r>
                        <a:rPr lang="en-US" sz="1100" u="none" strike="noStrike" dirty="0">
                          <a:solidFill>
                            <a:schemeClr val="tx1"/>
                          </a:solidFill>
                          <a:effectLst/>
                        </a:rPr>
                        <a:t>2022</a:t>
                      </a:r>
                      <a:endParaRPr lang="en-US" sz="1100" b="1" i="0" u="none" strike="noStrike" dirty="0">
                        <a:solidFill>
                          <a:schemeClr val="tx1"/>
                        </a:solidFill>
                        <a:effectLst/>
                        <a:latin typeface="Calibri" panose="020F0502020204030204" pitchFamily="34" charset="0"/>
                      </a:endParaRPr>
                    </a:p>
                  </a:txBody>
                  <a:tcPr marL="9525" marR="9525" marT="9525" marB="0" anchor="ctr">
                    <a:solidFill>
                      <a:srgbClr val="7AABD8"/>
                    </a:solidFill>
                  </a:tcPr>
                </a:tc>
                <a:extLst>
                  <a:ext uri="{0D108BD9-81ED-4DB2-BD59-A6C34878D82A}">
                    <a16:rowId xmlns:a16="http://schemas.microsoft.com/office/drawing/2014/main" val="10000"/>
                  </a:ext>
                </a:extLst>
              </a:tr>
              <a:tr h="280565">
                <a:tc>
                  <a:txBody>
                    <a:bodyPr/>
                    <a:lstStyle/>
                    <a:p>
                      <a:pPr algn="ctr" fontAlgn="b"/>
                      <a:r>
                        <a:rPr lang="en-IN" sz="1200" b="0" i="0" u="none" strike="noStrike" dirty="0">
                          <a:solidFill>
                            <a:srgbClr val="000000"/>
                          </a:solidFill>
                          <a:effectLst/>
                          <a:latin typeface="Calibri" panose="020F0502020204030204" pitchFamily="34" charset="0"/>
                        </a:rPr>
                        <a:t>China</a:t>
                      </a:r>
                    </a:p>
                  </a:txBody>
                  <a:tcPr marL="9525" marR="9525" marT="9525" marB="0" anchor="ctr"/>
                </a:tc>
                <a:tc>
                  <a:txBody>
                    <a:bodyPr/>
                    <a:lstStyle/>
                    <a:p>
                      <a:pPr algn="ctr" fontAlgn="b"/>
                      <a:r>
                        <a:rPr lang="en-IN" sz="1100" b="0" i="0" u="none" strike="noStrike" dirty="0">
                          <a:solidFill>
                            <a:srgbClr val="000000"/>
                          </a:solidFill>
                          <a:effectLst/>
                          <a:latin typeface="Calibri" panose="020F0502020204030204" pitchFamily="34" charset="0"/>
                        </a:rPr>
                        <a:t>2,551.3</a:t>
                      </a:r>
                    </a:p>
                  </a:txBody>
                  <a:tcPr marL="9525" marR="9525" marT="9525" marB="0" anchor="ctr"/>
                </a:tc>
                <a:extLst>
                  <a:ext uri="{0D108BD9-81ED-4DB2-BD59-A6C34878D82A}">
                    <a16:rowId xmlns:a16="http://schemas.microsoft.com/office/drawing/2014/main" val="10001"/>
                  </a:ext>
                </a:extLst>
              </a:tr>
              <a:tr h="280565">
                <a:tc>
                  <a:txBody>
                    <a:bodyPr/>
                    <a:lstStyle/>
                    <a:p>
                      <a:pPr algn="ctr" fontAlgn="b"/>
                      <a:r>
                        <a:rPr lang="en-IN" sz="1200" b="0" i="0" u="none" strike="noStrike" dirty="0">
                          <a:solidFill>
                            <a:srgbClr val="000000"/>
                          </a:solidFill>
                          <a:effectLst/>
                          <a:latin typeface="Calibri" panose="020F0502020204030204" pitchFamily="34" charset="0"/>
                        </a:rPr>
                        <a:t>EU27</a:t>
                      </a:r>
                    </a:p>
                  </a:txBody>
                  <a:tcPr marL="9525" marR="9525" marT="9525" marB="0" anchor="ctr"/>
                </a:tc>
                <a:tc>
                  <a:txBody>
                    <a:bodyPr/>
                    <a:lstStyle/>
                    <a:p>
                      <a:pPr algn="ctr" fontAlgn="b"/>
                      <a:r>
                        <a:rPr lang="en-IN" sz="1100" b="0" i="0" u="none" strike="noStrike" dirty="0">
                          <a:solidFill>
                            <a:srgbClr val="000000"/>
                          </a:solidFill>
                          <a:effectLst/>
                          <a:latin typeface="Calibri" panose="020F0502020204030204" pitchFamily="34" charset="0"/>
                        </a:rPr>
                        <a:t>811.3</a:t>
                      </a:r>
                    </a:p>
                  </a:txBody>
                  <a:tcPr marL="9525" marR="9525" marT="9525" marB="0" anchor="ctr"/>
                </a:tc>
                <a:extLst>
                  <a:ext uri="{0D108BD9-81ED-4DB2-BD59-A6C34878D82A}">
                    <a16:rowId xmlns:a16="http://schemas.microsoft.com/office/drawing/2014/main" val="10002"/>
                  </a:ext>
                </a:extLst>
              </a:tr>
              <a:tr h="280565">
                <a:tc>
                  <a:txBody>
                    <a:bodyPr/>
                    <a:lstStyle/>
                    <a:p>
                      <a:pPr algn="ctr" fontAlgn="b"/>
                      <a:r>
                        <a:rPr lang="en-IN" sz="1200" b="0" i="0" u="none" strike="noStrike" dirty="0">
                          <a:solidFill>
                            <a:srgbClr val="000000"/>
                          </a:solidFill>
                          <a:effectLst/>
                          <a:latin typeface="Calibri" panose="020F0502020204030204" pitchFamily="34" charset="0"/>
                        </a:rPr>
                        <a:t>USA</a:t>
                      </a:r>
                    </a:p>
                  </a:txBody>
                  <a:tcPr marL="9525" marR="9525" marT="9525" marB="0" anchor="ctr"/>
                </a:tc>
                <a:tc>
                  <a:txBody>
                    <a:bodyPr/>
                    <a:lstStyle/>
                    <a:p>
                      <a:pPr algn="ctr" fontAlgn="b"/>
                      <a:r>
                        <a:rPr lang="en-IN" sz="1100" b="0" i="0" u="none" strike="noStrike" dirty="0">
                          <a:solidFill>
                            <a:srgbClr val="000000"/>
                          </a:solidFill>
                          <a:effectLst/>
                          <a:latin typeface="Calibri" panose="020F0502020204030204" pitchFamily="34" charset="0"/>
                        </a:rPr>
                        <a:t>646.9</a:t>
                      </a:r>
                    </a:p>
                  </a:txBody>
                  <a:tcPr marL="9525" marR="9525" marT="9525" marB="0" anchor="ctr"/>
                </a:tc>
                <a:extLst>
                  <a:ext uri="{0D108BD9-81ED-4DB2-BD59-A6C34878D82A}">
                    <a16:rowId xmlns:a16="http://schemas.microsoft.com/office/drawing/2014/main" val="10003"/>
                  </a:ext>
                </a:extLst>
              </a:tr>
              <a:tr h="280565">
                <a:tc>
                  <a:txBody>
                    <a:bodyPr/>
                    <a:lstStyle/>
                    <a:p>
                      <a:pPr algn="ctr" fontAlgn="b"/>
                      <a:r>
                        <a:rPr lang="en-IN" sz="1200" b="0" i="0" u="none" strike="noStrike" dirty="0">
                          <a:solidFill>
                            <a:srgbClr val="000000"/>
                          </a:solidFill>
                          <a:effectLst/>
                          <a:latin typeface="Calibri" panose="020F0502020204030204" pitchFamily="34" charset="0"/>
                        </a:rPr>
                        <a:t>Japan</a:t>
                      </a:r>
                    </a:p>
                  </a:txBody>
                  <a:tcPr marL="9525" marR="9525" marT="9525" marB="0" anchor="ctr"/>
                </a:tc>
                <a:tc>
                  <a:txBody>
                    <a:bodyPr/>
                    <a:lstStyle/>
                    <a:p>
                      <a:pPr algn="ctr" fontAlgn="b"/>
                      <a:r>
                        <a:rPr lang="en-IN" sz="1100" b="0" i="0" u="none" strike="noStrike" dirty="0">
                          <a:solidFill>
                            <a:srgbClr val="000000"/>
                          </a:solidFill>
                          <a:effectLst/>
                          <a:latin typeface="Calibri" panose="020F0502020204030204" pitchFamily="34" charset="0"/>
                        </a:rPr>
                        <a:t>242.3</a:t>
                      </a:r>
                    </a:p>
                  </a:txBody>
                  <a:tcPr marL="9525" marR="9525" marT="9525" marB="0" anchor="ctr"/>
                </a:tc>
                <a:extLst>
                  <a:ext uri="{0D108BD9-81ED-4DB2-BD59-A6C34878D82A}">
                    <a16:rowId xmlns:a16="http://schemas.microsoft.com/office/drawing/2014/main" val="10004"/>
                  </a:ext>
                </a:extLst>
              </a:tr>
              <a:tr h="280565">
                <a:tc>
                  <a:txBody>
                    <a:bodyPr/>
                    <a:lstStyle/>
                    <a:p>
                      <a:pPr algn="ctr" fontAlgn="b"/>
                      <a:r>
                        <a:rPr lang="en-IN" sz="1200" b="0" i="0" u="none" strike="noStrike" dirty="0">
                          <a:solidFill>
                            <a:srgbClr val="000000"/>
                          </a:solidFill>
                          <a:effectLst/>
                          <a:latin typeface="Calibri" panose="020F0502020204030204" pitchFamily="34" charset="0"/>
                        </a:rPr>
                        <a:t>South Korea</a:t>
                      </a:r>
                    </a:p>
                  </a:txBody>
                  <a:tcPr marL="9525" marR="9525" marT="9525" marB="0" anchor="ctr"/>
                </a:tc>
                <a:tc>
                  <a:txBody>
                    <a:bodyPr/>
                    <a:lstStyle/>
                    <a:p>
                      <a:pPr algn="ctr" fontAlgn="b"/>
                      <a:r>
                        <a:rPr lang="en-IN" sz="1100" b="0" i="0" u="none" strike="noStrike" dirty="0">
                          <a:solidFill>
                            <a:srgbClr val="000000"/>
                          </a:solidFill>
                          <a:effectLst/>
                          <a:latin typeface="Calibri" panose="020F0502020204030204" pitchFamily="34" charset="0"/>
                        </a:rPr>
                        <a:t>148.4</a:t>
                      </a:r>
                    </a:p>
                  </a:txBody>
                  <a:tcPr marL="9525" marR="9525" marT="9525" marB="0" anchor="ctr"/>
                </a:tc>
                <a:extLst>
                  <a:ext uri="{0D108BD9-81ED-4DB2-BD59-A6C34878D82A}">
                    <a16:rowId xmlns:a16="http://schemas.microsoft.com/office/drawing/2014/main" val="10005"/>
                  </a:ext>
                </a:extLst>
              </a:tr>
              <a:tr h="280565">
                <a:tc>
                  <a:txBody>
                    <a:bodyPr/>
                    <a:lstStyle/>
                    <a:p>
                      <a:pPr algn="ctr" fontAlgn="b"/>
                      <a:r>
                        <a:rPr lang="en-IN" sz="1200" b="0" i="0" u="none" strike="noStrike" dirty="0">
                          <a:solidFill>
                            <a:srgbClr val="000000"/>
                          </a:solidFill>
                          <a:effectLst/>
                          <a:latin typeface="Calibri" panose="020F0502020204030204" pitchFamily="34" charset="0"/>
                        </a:rPr>
                        <a:t>Brazil</a:t>
                      </a:r>
                    </a:p>
                  </a:txBody>
                  <a:tcPr marL="9525" marR="9525" marT="9525" marB="0" anchor="ctr"/>
                </a:tc>
                <a:tc>
                  <a:txBody>
                    <a:bodyPr/>
                    <a:lstStyle/>
                    <a:p>
                      <a:pPr algn="ctr" fontAlgn="b"/>
                      <a:r>
                        <a:rPr lang="en-IN" sz="1100" b="0" i="0" u="none" strike="noStrike" dirty="0">
                          <a:solidFill>
                            <a:srgbClr val="000000"/>
                          </a:solidFill>
                          <a:effectLst/>
                          <a:latin typeface="Calibri" panose="020F0502020204030204" pitchFamily="34" charset="0"/>
                        </a:rPr>
                        <a:t>128.1</a:t>
                      </a:r>
                    </a:p>
                  </a:txBody>
                  <a:tcPr marL="9525" marR="9525" marT="9525" marB="0" anchor="ctr"/>
                </a:tc>
                <a:extLst>
                  <a:ext uri="{0D108BD9-81ED-4DB2-BD59-A6C34878D82A}">
                    <a16:rowId xmlns:a16="http://schemas.microsoft.com/office/drawing/2014/main" val="10006"/>
                  </a:ext>
                </a:extLst>
              </a:tr>
              <a:tr h="280565">
                <a:tc>
                  <a:txBody>
                    <a:bodyPr/>
                    <a:lstStyle/>
                    <a:p>
                      <a:pPr algn="ctr" fontAlgn="b"/>
                      <a:r>
                        <a:rPr lang="en-IN" sz="1200" b="0" i="0" u="none" strike="noStrike" dirty="0">
                          <a:solidFill>
                            <a:srgbClr val="000000"/>
                          </a:solidFill>
                          <a:effectLst/>
                          <a:latin typeface="Calibri" panose="020F0502020204030204" pitchFamily="34" charset="0"/>
                        </a:rPr>
                        <a:t>India</a:t>
                      </a:r>
                    </a:p>
                  </a:txBody>
                  <a:tcPr marL="9525" marR="9525" marT="9525" marB="0" anchor="ctr"/>
                </a:tc>
                <a:tc>
                  <a:txBody>
                    <a:bodyPr/>
                    <a:lstStyle/>
                    <a:p>
                      <a:pPr algn="ctr" fontAlgn="b"/>
                      <a:r>
                        <a:rPr lang="en-IN" sz="1100" b="0" i="0" u="none" strike="noStrike" dirty="0">
                          <a:solidFill>
                            <a:srgbClr val="000000"/>
                          </a:solidFill>
                          <a:effectLst/>
                          <a:latin typeface="Calibri" panose="020F0502020204030204" pitchFamily="34" charset="0"/>
                        </a:rPr>
                        <a:t>122.8</a:t>
                      </a:r>
                    </a:p>
                  </a:txBody>
                  <a:tcPr marL="9525" marR="9525" marT="9525" marB="0" anchor="ctr"/>
                </a:tc>
                <a:extLst>
                  <a:ext uri="{0D108BD9-81ED-4DB2-BD59-A6C34878D82A}">
                    <a16:rowId xmlns:a16="http://schemas.microsoft.com/office/drawing/2014/main" val="10007"/>
                  </a:ext>
                </a:extLst>
              </a:tr>
              <a:tr h="280565">
                <a:tc>
                  <a:txBody>
                    <a:bodyPr/>
                    <a:lstStyle/>
                    <a:p>
                      <a:pPr algn="ctr" fontAlgn="b"/>
                      <a:r>
                        <a:rPr lang="en-IN" sz="1200" b="0" i="0" u="none" strike="noStrike" dirty="0">
                          <a:solidFill>
                            <a:srgbClr val="000000"/>
                          </a:solidFill>
                          <a:effectLst/>
                          <a:latin typeface="Calibri" panose="020F0502020204030204" pitchFamily="34" charset="0"/>
                        </a:rPr>
                        <a:t>Taiwan</a:t>
                      </a:r>
                    </a:p>
                  </a:txBody>
                  <a:tcPr marL="9525" marR="9525" marT="9525" marB="0" anchor="ctr"/>
                </a:tc>
                <a:tc>
                  <a:txBody>
                    <a:bodyPr/>
                    <a:lstStyle/>
                    <a:p>
                      <a:pPr algn="ctr" fontAlgn="b"/>
                      <a:r>
                        <a:rPr lang="en-IN" sz="1100" b="0" i="0" u="none" strike="noStrike" dirty="0">
                          <a:solidFill>
                            <a:srgbClr val="000000"/>
                          </a:solidFill>
                          <a:effectLst/>
                          <a:latin typeface="Calibri" panose="020F0502020204030204" pitchFamily="34" charset="0"/>
                        </a:rPr>
                        <a:t>95.0</a:t>
                      </a:r>
                    </a:p>
                  </a:txBody>
                  <a:tcPr marL="9525" marR="9525" marT="9525" marB="0" anchor="ctr"/>
                </a:tc>
                <a:extLst>
                  <a:ext uri="{0D108BD9-81ED-4DB2-BD59-A6C34878D82A}">
                    <a16:rowId xmlns:a16="http://schemas.microsoft.com/office/drawing/2014/main" val="10008"/>
                  </a:ext>
                </a:extLst>
              </a:tr>
              <a:tr h="280565">
                <a:tc>
                  <a:txBody>
                    <a:bodyPr/>
                    <a:lstStyle/>
                    <a:p>
                      <a:pPr algn="ctr" fontAlgn="b"/>
                      <a:r>
                        <a:rPr lang="en-IN" sz="1200" b="0" i="0" u="none" strike="noStrike" dirty="0">
                          <a:solidFill>
                            <a:srgbClr val="000000"/>
                          </a:solidFill>
                          <a:effectLst/>
                          <a:latin typeface="Calibri" panose="020F0502020204030204" pitchFamily="34" charset="0"/>
                        </a:rPr>
                        <a:t>Saudi Arabia</a:t>
                      </a:r>
                    </a:p>
                  </a:txBody>
                  <a:tcPr marL="9525" marR="9525" marT="9525" marB="0" anchor="ctr"/>
                </a:tc>
                <a:tc>
                  <a:txBody>
                    <a:bodyPr/>
                    <a:lstStyle/>
                    <a:p>
                      <a:pPr algn="ctr" fontAlgn="b"/>
                      <a:r>
                        <a:rPr lang="en-IN" sz="1100" b="0" i="0" u="none" strike="noStrike" dirty="0">
                          <a:solidFill>
                            <a:srgbClr val="000000"/>
                          </a:solidFill>
                          <a:effectLst/>
                          <a:latin typeface="Calibri" panose="020F0502020204030204" pitchFamily="34" charset="0"/>
                        </a:rPr>
                        <a:t>92.9</a:t>
                      </a:r>
                    </a:p>
                  </a:txBody>
                  <a:tcPr marL="9525" marR="9525" marT="9525" marB="0" anchor="ctr"/>
                </a:tc>
                <a:extLst>
                  <a:ext uri="{0D108BD9-81ED-4DB2-BD59-A6C34878D82A}">
                    <a16:rowId xmlns:a16="http://schemas.microsoft.com/office/drawing/2014/main" val="10009"/>
                  </a:ext>
                </a:extLst>
              </a:tr>
              <a:tr h="293925">
                <a:tc>
                  <a:txBody>
                    <a:bodyPr/>
                    <a:lstStyle/>
                    <a:p>
                      <a:pPr algn="ctr" fontAlgn="b"/>
                      <a:r>
                        <a:rPr lang="en-IN" sz="1200" b="0" i="0" u="none" strike="noStrike" dirty="0">
                          <a:solidFill>
                            <a:srgbClr val="000000"/>
                          </a:solidFill>
                          <a:effectLst/>
                          <a:latin typeface="Calibri" panose="020F0502020204030204" pitchFamily="34" charset="0"/>
                        </a:rPr>
                        <a:t>Russia</a:t>
                      </a:r>
                    </a:p>
                  </a:txBody>
                  <a:tcPr marL="9525" marR="9525" marT="9525" marB="0" anchor="ctr"/>
                </a:tc>
                <a:tc>
                  <a:txBody>
                    <a:bodyPr/>
                    <a:lstStyle/>
                    <a:p>
                      <a:pPr algn="ctr" fontAlgn="b"/>
                      <a:r>
                        <a:rPr lang="en-IN" sz="1100" b="0" i="0" u="none" strike="noStrike" dirty="0">
                          <a:solidFill>
                            <a:srgbClr val="000000"/>
                          </a:solidFill>
                          <a:effectLst/>
                          <a:latin typeface="Calibri" panose="020F0502020204030204" pitchFamily="34" charset="0"/>
                        </a:rPr>
                        <a:t>84.3</a:t>
                      </a:r>
                    </a:p>
                  </a:txBody>
                  <a:tcPr marL="9525" marR="9525" marT="9525" marB="0" anchor="ctr"/>
                </a:tc>
                <a:extLst>
                  <a:ext uri="{0D108BD9-81ED-4DB2-BD59-A6C34878D82A}">
                    <a16:rowId xmlns:a16="http://schemas.microsoft.com/office/drawing/2014/main" val="10010"/>
                  </a:ext>
                </a:extLst>
              </a:tr>
            </a:tbl>
          </a:graphicData>
        </a:graphic>
      </p:graphicFrame>
      <p:sp>
        <p:nvSpPr>
          <p:cNvPr id="206" name="Oval 205"/>
          <p:cNvSpPr/>
          <p:nvPr/>
        </p:nvSpPr>
        <p:spPr>
          <a:xfrm>
            <a:off x="1344052" y="2234346"/>
            <a:ext cx="675257" cy="626103"/>
          </a:xfrm>
          <a:prstGeom prst="ellipse">
            <a:avLst/>
          </a:prstGeom>
          <a:solidFill>
            <a:srgbClr val="8E14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prstClr val="white"/>
              </a:solidFill>
            </a:endParaRPr>
          </a:p>
        </p:txBody>
      </p:sp>
      <p:sp>
        <p:nvSpPr>
          <p:cNvPr id="207" name="Oval 206"/>
          <p:cNvSpPr/>
          <p:nvPr/>
        </p:nvSpPr>
        <p:spPr>
          <a:xfrm>
            <a:off x="2136460" y="4152592"/>
            <a:ext cx="594445" cy="542400"/>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b="1" dirty="0">
              <a:solidFill>
                <a:prstClr val="white"/>
              </a:solidFill>
            </a:endParaRPr>
          </a:p>
        </p:txBody>
      </p:sp>
      <p:sp>
        <p:nvSpPr>
          <p:cNvPr id="208" name="Oval 207"/>
          <p:cNvSpPr/>
          <p:nvPr/>
        </p:nvSpPr>
        <p:spPr>
          <a:xfrm>
            <a:off x="3601309" y="2252536"/>
            <a:ext cx="675257" cy="626103"/>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prstClr val="white"/>
              </a:solidFill>
            </a:endParaRPr>
          </a:p>
        </p:txBody>
      </p:sp>
      <p:sp>
        <p:nvSpPr>
          <p:cNvPr id="209" name="Oval 208"/>
          <p:cNvSpPr/>
          <p:nvPr/>
        </p:nvSpPr>
        <p:spPr>
          <a:xfrm>
            <a:off x="3952455" y="1820419"/>
            <a:ext cx="371186" cy="32644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10" name="TextBox 209"/>
          <p:cNvSpPr txBox="1"/>
          <p:nvPr/>
        </p:nvSpPr>
        <p:spPr>
          <a:xfrm>
            <a:off x="1324603" y="2351951"/>
            <a:ext cx="798617" cy="385042"/>
          </a:xfrm>
          <a:prstGeom prst="rect">
            <a:avLst/>
          </a:prstGeom>
          <a:noFill/>
        </p:spPr>
        <p:txBody>
          <a:bodyPr wrap="none" rtlCol="0">
            <a:spAutoFit/>
          </a:bodyPr>
          <a:lstStyle/>
          <a:p>
            <a:r>
              <a:rPr lang="en-US" b="1" dirty="0">
                <a:solidFill>
                  <a:prstClr val="white"/>
                </a:solidFill>
              </a:rPr>
              <a:t>646.9 </a:t>
            </a:r>
          </a:p>
        </p:txBody>
      </p:sp>
      <p:sp>
        <p:nvSpPr>
          <p:cNvPr id="211" name="TextBox 210"/>
          <p:cNvSpPr txBox="1"/>
          <p:nvPr/>
        </p:nvSpPr>
        <p:spPr>
          <a:xfrm>
            <a:off x="2060275" y="4228755"/>
            <a:ext cx="798617" cy="385042"/>
          </a:xfrm>
          <a:prstGeom prst="rect">
            <a:avLst/>
          </a:prstGeom>
          <a:noFill/>
        </p:spPr>
        <p:txBody>
          <a:bodyPr wrap="none" rtlCol="0">
            <a:spAutoFit/>
          </a:bodyPr>
          <a:lstStyle/>
          <a:p>
            <a:r>
              <a:rPr lang="en-US" b="1" dirty="0">
                <a:solidFill>
                  <a:schemeClr val="bg1"/>
                </a:solidFill>
              </a:rPr>
              <a:t>206.0 </a:t>
            </a:r>
          </a:p>
        </p:txBody>
      </p:sp>
      <p:sp>
        <p:nvSpPr>
          <p:cNvPr id="212" name="TextBox 211"/>
          <p:cNvSpPr txBox="1"/>
          <p:nvPr/>
        </p:nvSpPr>
        <p:spPr>
          <a:xfrm>
            <a:off x="3592984" y="2365534"/>
            <a:ext cx="798617" cy="385042"/>
          </a:xfrm>
          <a:prstGeom prst="rect">
            <a:avLst/>
          </a:prstGeom>
          <a:noFill/>
        </p:spPr>
        <p:txBody>
          <a:bodyPr wrap="none" rtlCol="0">
            <a:spAutoFit/>
          </a:bodyPr>
          <a:lstStyle/>
          <a:p>
            <a:r>
              <a:rPr lang="en-US" b="1" dirty="0">
                <a:solidFill>
                  <a:prstClr val="white"/>
                </a:solidFill>
              </a:rPr>
              <a:t>811.3 </a:t>
            </a:r>
          </a:p>
        </p:txBody>
      </p:sp>
      <p:sp>
        <p:nvSpPr>
          <p:cNvPr id="213" name="TextBox 212"/>
          <p:cNvSpPr txBox="1"/>
          <p:nvPr/>
        </p:nvSpPr>
        <p:spPr>
          <a:xfrm>
            <a:off x="3865461" y="1850432"/>
            <a:ext cx="575799" cy="276999"/>
          </a:xfrm>
          <a:prstGeom prst="rect">
            <a:avLst/>
          </a:prstGeom>
          <a:noFill/>
        </p:spPr>
        <p:txBody>
          <a:bodyPr wrap="none" rtlCol="0">
            <a:spAutoFit/>
          </a:bodyPr>
          <a:lstStyle/>
          <a:p>
            <a:r>
              <a:rPr lang="en-US" sz="1200" b="1" dirty="0">
                <a:solidFill>
                  <a:prstClr val="white"/>
                </a:solidFill>
              </a:rPr>
              <a:t>227.4 </a:t>
            </a:r>
          </a:p>
        </p:txBody>
      </p:sp>
      <p:sp>
        <p:nvSpPr>
          <p:cNvPr id="214" name="Oval 213"/>
          <p:cNvSpPr/>
          <p:nvPr/>
        </p:nvSpPr>
        <p:spPr>
          <a:xfrm>
            <a:off x="5502988" y="3084339"/>
            <a:ext cx="448868" cy="408719"/>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15" name="TextBox 214"/>
          <p:cNvSpPr txBox="1"/>
          <p:nvPr/>
        </p:nvSpPr>
        <p:spPr>
          <a:xfrm>
            <a:off x="5440235" y="3125316"/>
            <a:ext cx="638316" cy="307777"/>
          </a:xfrm>
          <a:prstGeom prst="rect">
            <a:avLst/>
          </a:prstGeom>
          <a:noFill/>
        </p:spPr>
        <p:txBody>
          <a:bodyPr wrap="none" rtlCol="0">
            <a:spAutoFit/>
          </a:bodyPr>
          <a:lstStyle/>
          <a:p>
            <a:r>
              <a:rPr lang="en-US" sz="1400" b="1" dirty="0">
                <a:solidFill>
                  <a:prstClr val="white"/>
                </a:solidFill>
              </a:rPr>
              <a:t>122.8 </a:t>
            </a:r>
          </a:p>
        </p:txBody>
      </p:sp>
      <p:sp>
        <p:nvSpPr>
          <p:cNvPr id="216" name="Oval 215"/>
          <p:cNvSpPr/>
          <p:nvPr/>
        </p:nvSpPr>
        <p:spPr>
          <a:xfrm>
            <a:off x="5448373" y="4957822"/>
            <a:ext cx="395841" cy="39675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17" name="TextBox 216"/>
          <p:cNvSpPr txBox="1"/>
          <p:nvPr/>
        </p:nvSpPr>
        <p:spPr>
          <a:xfrm>
            <a:off x="5389933" y="5010912"/>
            <a:ext cx="575799" cy="276999"/>
          </a:xfrm>
          <a:prstGeom prst="rect">
            <a:avLst/>
          </a:prstGeom>
          <a:noFill/>
        </p:spPr>
        <p:txBody>
          <a:bodyPr wrap="none" rtlCol="0">
            <a:spAutoFit/>
          </a:bodyPr>
          <a:lstStyle/>
          <a:p>
            <a:r>
              <a:rPr lang="en-US" sz="1200" b="1" dirty="0">
                <a:solidFill>
                  <a:schemeClr val="bg1"/>
                </a:solidFill>
              </a:rPr>
              <a:t>114.2 </a:t>
            </a:r>
          </a:p>
        </p:txBody>
      </p:sp>
      <p:sp>
        <p:nvSpPr>
          <p:cNvPr id="218" name="Oval 217"/>
          <p:cNvSpPr/>
          <p:nvPr/>
        </p:nvSpPr>
        <p:spPr>
          <a:xfrm>
            <a:off x="5822407" y="3447851"/>
            <a:ext cx="687585" cy="645355"/>
          </a:xfrm>
          <a:prstGeom prst="ellips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19" name="TextBox 218"/>
          <p:cNvSpPr txBox="1"/>
          <p:nvPr/>
        </p:nvSpPr>
        <p:spPr>
          <a:xfrm>
            <a:off x="5877964" y="3617416"/>
            <a:ext cx="638316" cy="307777"/>
          </a:xfrm>
          <a:prstGeom prst="rect">
            <a:avLst/>
          </a:prstGeom>
          <a:noFill/>
        </p:spPr>
        <p:txBody>
          <a:bodyPr wrap="none" rtlCol="0">
            <a:spAutoFit/>
          </a:bodyPr>
          <a:lstStyle/>
          <a:p>
            <a:r>
              <a:rPr lang="en-US" sz="1400" b="1" dirty="0">
                <a:solidFill>
                  <a:schemeClr val="bg1"/>
                </a:solidFill>
              </a:rPr>
              <a:t>661.8 </a:t>
            </a:r>
          </a:p>
        </p:txBody>
      </p:sp>
      <p:sp>
        <p:nvSpPr>
          <p:cNvPr id="220" name="Oval 219"/>
          <p:cNvSpPr/>
          <p:nvPr/>
        </p:nvSpPr>
        <p:spPr>
          <a:xfrm>
            <a:off x="6293771" y="2660465"/>
            <a:ext cx="387624" cy="358252"/>
          </a:xfrm>
          <a:prstGeom prst="ellips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21" name="TextBox 220"/>
          <p:cNvSpPr txBox="1"/>
          <p:nvPr/>
        </p:nvSpPr>
        <p:spPr>
          <a:xfrm>
            <a:off x="6186225" y="2688465"/>
            <a:ext cx="638316" cy="307777"/>
          </a:xfrm>
          <a:prstGeom prst="rect">
            <a:avLst/>
          </a:prstGeom>
          <a:noFill/>
        </p:spPr>
        <p:txBody>
          <a:bodyPr wrap="none" rtlCol="0">
            <a:spAutoFit/>
          </a:bodyPr>
          <a:lstStyle/>
          <a:p>
            <a:r>
              <a:rPr lang="en-US" sz="1400" b="1" dirty="0">
                <a:solidFill>
                  <a:prstClr val="white"/>
                </a:solidFill>
              </a:rPr>
              <a:t>148.4 </a:t>
            </a:r>
          </a:p>
        </p:txBody>
      </p:sp>
      <p:sp>
        <p:nvSpPr>
          <p:cNvPr id="222" name="Oval 221"/>
          <p:cNvSpPr/>
          <p:nvPr/>
        </p:nvSpPr>
        <p:spPr>
          <a:xfrm>
            <a:off x="6771239" y="2433958"/>
            <a:ext cx="510895" cy="475437"/>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23" name="TextBox 222"/>
          <p:cNvSpPr txBox="1"/>
          <p:nvPr/>
        </p:nvSpPr>
        <p:spPr>
          <a:xfrm>
            <a:off x="6726339" y="2509523"/>
            <a:ext cx="638316" cy="307777"/>
          </a:xfrm>
          <a:prstGeom prst="rect">
            <a:avLst/>
          </a:prstGeom>
          <a:noFill/>
        </p:spPr>
        <p:txBody>
          <a:bodyPr wrap="none" rtlCol="0">
            <a:spAutoFit/>
          </a:bodyPr>
          <a:lstStyle/>
          <a:p>
            <a:r>
              <a:rPr lang="en-US" sz="1400" b="1" dirty="0">
                <a:solidFill>
                  <a:prstClr val="white"/>
                </a:solidFill>
              </a:rPr>
              <a:t>242.3 </a:t>
            </a:r>
          </a:p>
        </p:txBody>
      </p:sp>
      <p:sp>
        <p:nvSpPr>
          <p:cNvPr id="224" name="TextBox 223"/>
          <p:cNvSpPr txBox="1"/>
          <p:nvPr/>
        </p:nvSpPr>
        <p:spPr>
          <a:xfrm>
            <a:off x="667314" y="2816723"/>
            <a:ext cx="439223" cy="276999"/>
          </a:xfrm>
          <a:prstGeom prst="rect">
            <a:avLst/>
          </a:prstGeom>
          <a:noFill/>
        </p:spPr>
        <p:txBody>
          <a:bodyPr wrap="none" rtlCol="0">
            <a:spAutoFit/>
          </a:bodyPr>
          <a:lstStyle/>
          <a:p>
            <a:r>
              <a:rPr lang="en-US" sz="1200" b="1" dirty="0">
                <a:solidFill>
                  <a:prstClr val="black"/>
                </a:solidFill>
              </a:rPr>
              <a:t>U.S.</a:t>
            </a:r>
          </a:p>
        </p:txBody>
      </p:sp>
      <p:sp>
        <p:nvSpPr>
          <p:cNvPr id="225" name="TextBox 224"/>
          <p:cNvSpPr txBox="1"/>
          <p:nvPr/>
        </p:nvSpPr>
        <p:spPr>
          <a:xfrm>
            <a:off x="947576" y="4727740"/>
            <a:ext cx="1060803" cy="276999"/>
          </a:xfrm>
          <a:prstGeom prst="rect">
            <a:avLst/>
          </a:prstGeom>
          <a:noFill/>
        </p:spPr>
        <p:txBody>
          <a:bodyPr wrap="none" rtlCol="0">
            <a:spAutoFit/>
          </a:bodyPr>
          <a:lstStyle/>
          <a:p>
            <a:r>
              <a:rPr lang="en-US" sz="1200" b="1" dirty="0">
                <a:solidFill>
                  <a:prstClr val="black"/>
                </a:solidFill>
              </a:rPr>
              <a:t>Latin America</a:t>
            </a:r>
          </a:p>
        </p:txBody>
      </p:sp>
      <p:sp>
        <p:nvSpPr>
          <p:cNvPr id="226" name="TextBox 225"/>
          <p:cNvSpPr txBox="1"/>
          <p:nvPr/>
        </p:nvSpPr>
        <p:spPr>
          <a:xfrm>
            <a:off x="3066652" y="2553058"/>
            <a:ext cx="518091" cy="276999"/>
          </a:xfrm>
          <a:prstGeom prst="rect">
            <a:avLst/>
          </a:prstGeom>
          <a:noFill/>
        </p:spPr>
        <p:txBody>
          <a:bodyPr wrap="none" rtlCol="0">
            <a:spAutoFit/>
          </a:bodyPr>
          <a:lstStyle/>
          <a:p>
            <a:r>
              <a:rPr lang="en-US" sz="1200" b="1" dirty="0">
                <a:solidFill>
                  <a:prstClr val="black"/>
                </a:solidFill>
              </a:rPr>
              <a:t>EU27</a:t>
            </a:r>
          </a:p>
        </p:txBody>
      </p:sp>
      <p:sp>
        <p:nvSpPr>
          <p:cNvPr id="227" name="TextBox 226"/>
          <p:cNvSpPr txBox="1"/>
          <p:nvPr/>
        </p:nvSpPr>
        <p:spPr>
          <a:xfrm>
            <a:off x="4918081" y="3471198"/>
            <a:ext cx="506870" cy="276999"/>
          </a:xfrm>
          <a:prstGeom prst="rect">
            <a:avLst/>
          </a:prstGeom>
          <a:noFill/>
        </p:spPr>
        <p:txBody>
          <a:bodyPr wrap="none" rtlCol="0">
            <a:spAutoFit/>
          </a:bodyPr>
          <a:lstStyle/>
          <a:p>
            <a:r>
              <a:rPr lang="en-US" sz="1200" b="1" dirty="0">
                <a:solidFill>
                  <a:prstClr val="black"/>
                </a:solidFill>
              </a:rPr>
              <a:t>India</a:t>
            </a:r>
          </a:p>
        </p:txBody>
      </p:sp>
      <p:sp>
        <p:nvSpPr>
          <p:cNvPr id="228" name="TextBox 227"/>
          <p:cNvSpPr txBox="1"/>
          <p:nvPr/>
        </p:nvSpPr>
        <p:spPr>
          <a:xfrm>
            <a:off x="5602485" y="5332814"/>
            <a:ext cx="1301575" cy="276999"/>
          </a:xfrm>
          <a:prstGeom prst="rect">
            <a:avLst/>
          </a:prstGeom>
          <a:noFill/>
        </p:spPr>
        <p:txBody>
          <a:bodyPr wrap="none" rtlCol="0">
            <a:spAutoFit/>
          </a:bodyPr>
          <a:lstStyle/>
          <a:p>
            <a:r>
              <a:rPr lang="en-US" sz="1200" b="1" dirty="0">
                <a:solidFill>
                  <a:prstClr val="black"/>
                </a:solidFill>
              </a:rPr>
              <a:t>Rest of the World</a:t>
            </a:r>
          </a:p>
        </p:txBody>
      </p:sp>
      <p:sp>
        <p:nvSpPr>
          <p:cNvPr id="229" name="TextBox 228"/>
          <p:cNvSpPr txBox="1"/>
          <p:nvPr/>
        </p:nvSpPr>
        <p:spPr>
          <a:xfrm>
            <a:off x="3731872" y="1535110"/>
            <a:ext cx="1114985" cy="276999"/>
          </a:xfrm>
          <a:prstGeom prst="rect">
            <a:avLst/>
          </a:prstGeom>
          <a:noFill/>
        </p:spPr>
        <p:txBody>
          <a:bodyPr wrap="none" rtlCol="0">
            <a:spAutoFit/>
          </a:bodyPr>
          <a:lstStyle/>
          <a:p>
            <a:r>
              <a:rPr lang="en-US" sz="1200" b="1" dirty="0">
                <a:solidFill>
                  <a:prstClr val="black"/>
                </a:solidFill>
              </a:rPr>
              <a:t>Rest of Europe</a:t>
            </a:r>
          </a:p>
        </p:txBody>
      </p:sp>
      <p:sp>
        <p:nvSpPr>
          <p:cNvPr id="230" name="TextBox 229"/>
          <p:cNvSpPr txBox="1"/>
          <p:nvPr/>
        </p:nvSpPr>
        <p:spPr>
          <a:xfrm>
            <a:off x="6350869" y="1816810"/>
            <a:ext cx="546945" cy="276999"/>
          </a:xfrm>
          <a:prstGeom prst="rect">
            <a:avLst/>
          </a:prstGeom>
          <a:noFill/>
        </p:spPr>
        <p:txBody>
          <a:bodyPr wrap="none" rtlCol="0">
            <a:spAutoFit/>
          </a:bodyPr>
          <a:lstStyle/>
          <a:p>
            <a:r>
              <a:rPr lang="en-US" sz="1200" b="1" dirty="0">
                <a:solidFill>
                  <a:prstClr val="black"/>
                </a:solidFill>
              </a:rPr>
              <a:t>China</a:t>
            </a:r>
          </a:p>
        </p:txBody>
      </p:sp>
      <p:sp>
        <p:nvSpPr>
          <p:cNvPr id="231" name="TextBox 230"/>
          <p:cNvSpPr txBox="1"/>
          <p:nvPr/>
        </p:nvSpPr>
        <p:spPr>
          <a:xfrm>
            <a:off x="6860735" y="3875594"/>
            <a:ext cx="927690" cy="276999"/>
          </a:xfrm>
          <a:prstGeom prst="rect">
            <a:avLst/>
          </a:prstGeom>
          <a:noFill/>
        </p:spPr>
        <p:txBody>
          <a:bodyPr wrap="none" rtlCol="0">
            <a:spAutoFit/>
          </a:bodyPr>
          <a:lstStyle/>
          <a:p>
            <a:r>
              <a:rPr lang="en-US" sz="1200" b="1" dirty="0">
                <a:solidFill>
                  <a:prstClr val="black"/>
                </a:solidFill>
              </a:rPr>
              <a:t>Rest of Asia</a:t>
            </a:r>
          </a:p>
        </p:txBody>
      </p:sp>
      <p:sp>
        <p:nvSpPr>
          <p:cNvPr id="232" name="TextBox 231"/>
          <p:cNvSpPr txBox="1"/>
          <p:nvPr/>
        </p:nvSpPr>
        <p:spPr>
          <a:xfrm>
            <a:off x="6383187" y="2975242"/>
            <a:ext cx="965905" cy="276999"/>
          </a:xfrm>
          <a:prstGeom prst="rect">
            <a:avLst/>
          </a:prstGeom>
          <a:noFill/>
        </p:spPr>
        <p:txBody>
          <a:bodyPr wrap="none" rtlCol="0">
            <a:spAutoFit/>
          </a:bodyPr>
          <a:lstStyle/>
          <a:p>
            <a:r>
              <a:rPr lang="en-US" sz="1200" b="1" dirty="0">
                <a:solidFill>
                  <a:prstClr val="black"/>
                </a:solidFill>
              </a:rPr>
              <a:t>South Korea</a:t>
            </a:r>
          </a:p>
        </p:txBody>
      </p:sp>
      <p:sp>
        <p:nvSpPr>
          <p:cNvPr id="233" name="TextBox 232"/>
          <p:cNvSpPr txBox="1"/>
          <p:nvPr/>
        </p:nvSpPr>
        <p:spPr>
          <a:xfrm>
            <a:off x="7261232" y="1944588"/>
            <a:ext cx="553357" cy="276999"/>
          </a:xfrm>
          <a:prstGeom prst="rect">
            <a:avLst/>
          </a:prstGeom>
          <a:noFill/>
        </p:spPr>
        <p:txBody>
          <a:bodyPr wrap="none" rtlCol="0">
            <a:spAutoFit/>
          </a:bodyPr>
          <a:lstStyle/>
          <a:p>
            <a:r>
              <a:rPr lang="en-US" sz="1200" b="1" dirty="0">
                <a:solidFill>
                  <a:prstClr val="black"/>
                </a:solidFill>
              </a:rPr>
              <a:t>Japan</a:t>
            </a:r>
          </a:p>
        </p:txBody>
      </p:sp>
      <p:sp>
        <p:nvSpPr>
          <p:cNvPr id="234" name="TextBox 233"/>
          <p:cNvSpPr txBox="1"/>
          <p:nvPr/>
        </p:nvSpPr>
        <p:spPr bwMode="gray">
          <a:xfrm>
            <a:off x="9052298" y="1389772"/>
            <a:ext cx="2385899" cy="400110"/>
          </a:xfrm>
          <a:prstGeom prst="rect">
            <a:avLst/>
          </a:prstGeom>
          <a:noFill/>
        </p:spPr>
        <p:txBody>
          <a:bodyPr wrap="square" rtlCol="0" anchor="ctr">
            <a:spAutoFit/>
          </a:bodyPr>
          <a:lstStyle/>
          <a:p>
            <a:pPr algn="ctr"/>
            <a:r>
              <a:rPr lang="en-US" sz="2000" b="1" dirty="0">
                <a:solidFill>
                  <a:prstClr val="black"/>
                </a:solidFill>
              </a:rPr>
              <a:t>US$ 5,800.7 Billion</a:t>
            </a:r>
          </a:p>
        </p:txBody>
      </p:sp>
      <p:sp>
        <p:nvSpPr>
          <p:cNvPr id="235" name="Rectangle 234"/>
          <p:cNvSpPr/>
          <p:nvPr/>
        </p:nvSpPr>
        <p:spPr>
          <a:xfrm>
            <a:off x="8729479" y="1219276"/>
            <a:ext cx="3207294" cy="276999"/>
          </a:xfrm>
          <a:prstGeom prst="rect">
            <a:avLst/>
          </a:prstGeom>
        </p:spPr>
        <p:txBody>
          <a:bodyPr wrap="square">
            <a:spAutoFit/>
          </a:bodyPr>
          <a:lstStyle/>
          <a:p>
            <a:pPr algn="ctr"/>
            <a:r>
              <a:rPr lang="en-US" sz="1200" b="1" dirty="0">
                <a:solidFill>
                  <a:prstClr val="black"/>
                </a:solidFill>
              </a:rPr>
              <a:t>World Chemical Sales (2022)</a:t>
            </a:r>
            <a:endParaRPr lang="en-GB" sz="1200" b="1" dirty="0">
              <a:solidFill>
                <a:prstClr val="black"/>
              </a:solidFill>
            </a:endParaRPr>
          </a:p>
        </p:txBody>
      </p:sp>
      <p:sp>
        <p:nvSpPr>
          <p:cNvPr id="236" name="TextBox 235"/>
          <p:cNvSpPr txBox="1"/>
          <p:nvPr/>
        </p:nvSpPr>
        <p:spPr>
          <a:xfrm>
            <a:off x="8958307" y="5886433"/>
            <a:ext cx="3081293" cy="230832"/>
          </a:xfrm>
          <a:prstGeom prst="rect">
            <a:avLst/>
          </a:prstGeom>
          <a:noFill/>
        </p:spPr>
        <p:txBody>
          <a:bodyPr wrap="none" rtlCol="0">
            <a:spAutoFit/>
          </a:bodyPr>
          <a:lstStyle/>
          <a:p>
            <a:r>
              <a:rPr lang="en-US" sz="900" dirty="0">
                <a:solidFill>
                  <a:prstClr val="black"/>
                </a:solidFill>
              </a:rPr>
              <a:t>Note: Rest of Asia excluding China, India, Japan &amp; South Korea</a:t>
            </a:r>
          </a:p>
        </p:txBody>
      </p:sp>
      <p:sp>
        <p:nvSpPr>
          <p:cNvPr id="238" name="Oval 237"/>
          <p:cNvSpPr/>
          <p:nvPr/>
        </p:nvSpPr>
        <p:spPr>
          <a:xfrm>
            <a:off x="5375904" y="2045351"/>
            <a:ext cx="1001245" cy="959243"/>
          </a:xfrm>
          <a:prstGeom prst="ellipse">
            <a:avLst/>
          </a:prstGeom>
          <a:solidFill>
            <a:srgbClr val="EEA8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9" name="TextBox 238"/>
          <p:cNvSpPr txBox="1"/>
          <p:nvPr/>
        </p:nvSpPr>
        <p:spPr>
          <a:xfrm>
            <a:off x="5439416" y="2318250"/>
            <a:ext cx="984565" cy="385042"/>
          </a:xfrm>
          <a:prstGeom prst="rect">
            <a:avLst/>
          </a:prstGeom>
          <a:noFill/>
        </p:spPr>
        <p:txBody>
          <a:bodyPr wrap="none" rtlCol="0">
            <a:spAutoFit/>
          </a:bodyPr>
          <a:lstStyle/>
          <a:p>
            <a:r>
              <a:rPr lang="en-US" b="1" dirty="0">
                <a:solidFill>
                  <a:schemeClr val="bg1"/>
                </a:solidFill>
              </a:rPr>
              <a:t>2,551.3 </a:t>
            </a:r>
          </a:p>
        </p:txBody>
      </p:sp>
      <p:cxnSp>
        <p:nvCxnSpPr>
          <p:cNvPr id="240" name="Elbow Connector 239"/>
          <p:cNvCxnSpPr>
            <a:stCxn id="206" idx="4"/>
            <a:endCxn id="224" idx="3"/>
          </p:cNvCxnSpPr>
          <p:nvPr/>
        </p:nvCxnSpPr>
        <p:spPr>
          <a:xfrm rot="5400000">
            <a:off x="1346721" y="2620263"/>
            <a:ext cx="94774" cy="575144"/>
          </a:xfrm>
          <a:prstGeom prst="bentConnector2">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41" name="Elbow Connector 240"/>
          <p:cNvCxnSpPr>
            <a:stCxn id="212" idx="1"/>
            <a:endCxn id="226" idx="3"/>
          </p:cNvCxnSpPr>
          <p:nvPr/>
        </p:nvCxnSpPr>
        <p:spPr>
          <a:xfrm rot="10800000" flipV="1">
            <a:off x="3584744" y="2558055"/>
            <a:ext cx="8241" cy="133502"/>
          </a:xfrm>
          <a:prstGeom prst="bentConnector3">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42" name="Elbow Connector 241"/>
          <p:cNvCxnSpPr>
            <a:stCxn id="214" idx="2"/>
            <a:endCxn id="227" idx="3"/>
          </p:cNvCxnSpPr>
          <p:nvPr/>
        </p:nvCxnSpPr>
        <p:spPr>
          <a:xfrm rot="10800000" flipV="1">
            <a:off x="5424953" y="3288698"/>
            <a:ext cx="78037" cy="320999"/>
          </a:xfrm>
          <a:prstGeom prst="bentConnector3">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43" name="Elbow Connector 242"/>
          <p:cNvCxnSpPr>
            <a:endCxn id="223" idx="3"/>
          </p:cNvCxnSpPr>
          <p:nvPr/>
        </p:nvCxnSpPr>
        <p:spPr>
          <a:xfrm rot="5400000">
            <a:off x="7206081" y="2305441"/>
            <a:ext cx="516547" cy="199395"/>
          </a:xfrm>
          <a:prstGeom prst="bentConnector2">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44" name="Elbow Connector 243"/>
          <p:cNvCxnSpPr>
            <a:stCxn id="218" idx="6"/>
            <a:endCxn id="231" idx="1"/>
          </p:cNvCxnSpPr>
          <p:nvPr/>
        </p:nvCxnSpPr>
        <p:spPr>
          <a:xfrm>
            <a:off x="6509991" y="3770529"/>
            <a:ext cx="350744" cy="243565"/>
          </a:xfrm>
          <a:prstGeom prst="bentConnector3">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45" name="Elbow Connector 244"/>
          <p:cNvCxnSpPr>
            <a:endCxn id="238" idx="0"/>
          </p:cNvCxnSpPr>
          <p:nvPr/>
        </p:nvCxnSpPr>
        <p:spPr>
          <a:xfrm rot="10800000" flipV="1">
            <a:off x="5876526" y="1925206"/>
            <a:ext cx="464282" cy="120144"/>
          </a:xfrm>
          <a:prstGeom prst="bentConnector2">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46" name="Elbow Connector 245"/>
          <p:cNvCxnSpPr>
            <a:stCxn id="207" idx="2"/>
            <a:endCxn id="225" idx="0"/>
          </p:cNvCxnSpPr>
          <p:nvPr/>
        </p:nvCxnSpPr>
        <p:spPr>
          <a:xfrm rot="10800000" flipV="1">
            <a:off x="1477977" y="4423792"/>
            <a:ext cx="658482" cy="303947"/>
          </a:xfrm>
          <a:prstGeom prst="bentConnector2">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247" name="Oval 246"/>
          <p:cNvSpPr/>
          <p:nvPr/>
        </p:nvSpPr>
        <p:spPr>
          <a:xfrm>
            <a:off x="4187091" y="3414487"/>
            <a:ext cx="395841" cy="396755"/>
          </a:xfrm>
          <a:prstGeom prst="ellipse">
            <a:avLst/>
          </a:prstGeom>
          <a:solidFill>
            <a:srgbClr val="CC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8" name="TextBox 247"/>
          <p:cNvSpPr txBox="1"/>
          <p:nvPr/>
        </p:nvSpPr>
        <p:spPr>
          <a:xfrm>
            <a:off x="4151107" y="3465884"/>
            <a:ext cx="546945" cy="307777"/>
          </a:xfrm>
          <a:prstGeom prst="rect">
            <a:avLst/>
          </a:prstGeom>
          <a:noFill/>
        </p:spPr>
        <p:txBody>
          <a:bodyPr wrap="none" rtlCol="0">
            <a:spAutoFit/>
          </a:bodyPr>
          <a:lstStyle/>
          <a:p>
            <a:r>
              <a:rPr lang="en-US" sz="1400" b="1" dirty="0">
                <a:solidFill>
                  <a:schemeClr val="bg1"/>
                </a:solidFill>
              </a:rPr>
              <a:t>68.3 </a:t>
            </a:r>
          </a:p>
        </p:txBody>
      </p:sp>
      <p:sp>
        <p:nvSpPr>
          <p:cNvPr id="249" name="TextBox 248"/>
          <p:cNvSpPr txBox="1"/>
          <p:nvPr/>
        </p:nvSpPr>
        <p:spPr>
          <a:xfrm>
            <a:off x="3729335" y="3658240"/>
            <a:ext cx="557268" cy="276999"/>
          </a:xfrm>
          <a:prstGeom prst="rect">
            <a:avLst/>
          </a:prstGeom>
          <a:noFill/>
        </p:spPr>
        <p:txBody>
          <a:bodyPr wrap="none" rtlCol="0">
            <a:spAutoFit/>
          </a:bodyPr>
          <a:lstStyle/>
          <a:p>
            <a:r>
              <a:rPr lang="en-US" sz="1200" b="1" dirty="0">
                <a:solidFill>
                  <a:prstClr val="black"/>
                </a:solidFill>
              </a:rPr>
              <a:t>Africa</a:t>
            </a:r>
          </a:p>
        </p:txBody>
      </p:sp>
      <p:sp>
        <p:nvSpPr>
          <p:cNvPr id="250" name="TextBox 249"/>
          <p:cNvSpPr txBox="1"/>
          <p:nvPr/>
        </p:nvSpPr>
        <p:spPr>
          <a:xfrm>
            <a:off x="229798" y="6205752"/>
            <a:ext cx="1782539" cy="153888"/>
          </a:xfrm>
          <a:prstGeom prst="rect">
            <a:avLst/>
          </a:prstGeom>
          <a:noFill/>
        </p:spPr>
        <p:txBody>
          <a:bodyPr wrap="none" lIns="0" tIns="0" rIns="0" bIns="0" rtlCol="0">
            <a:spAutoFit/>
          </a:bodyPr>
          <a:lstStyle/>
          <a:p>
            <a:pPr defTabSz="966537"/>
            <a:r>
              <a:rPr lang="en-US" sz="1000" dirty="0"/>
              <a:t>Source: TMR Analysis, 2024, </a:t>
            </a:r>
            <a:r>
              <a:rPr lang="en-GB" sz="1000" dirty="0"/>
              <a:t>CEFIC</a:t>
            </a:r>
          </a:p>
        </p:txBody>
      </p:sp>
      <p:sp>
        <p:nvSpPr>
          <p:cNvPr id="4" name="Slide Number Placeholder 3"/>
          <p:cNvSpPr>
            <a:spLocks noGrp="1"/>
          </p:cNvSpPr>
          <p:nvPr>
            <p:ph type="sldNum" sz="quarter" idx="4"/>
          </p:nvPr>
        </p:nvSpPr>
        <p:spPr/>
        <p:txBody>
          <a:bodyPr/>
          <a:lstStyle/>
          <a:p>
            <a:fld id="{4B17068C-EB94-40A3-A5F2-664CDD77FDAC}" type="slidenum">
              <a:rPr lang="en-GB" smtClean="0"/>
              <a:pPr/>
              <a:t>39</a:t>
            </a:fld>
            <a:endParaRPr lang="en-GB" dirty="0"/>
          </a:p>
        </p:txBody>
      </p:sp>
    </p:spTree>
    <p:extLst>
      <p:ext uri="{BB962C8B-B14F-4D97-AF65-F5344CB8AC3E}">
        <p14:creationId xmlns:p14="http://schemas.microsoft.com/office/powerpoint/2010/main" val="217498215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p:txBody>
          <a:bodyPr/>
          <a:lstStyle/>
          <a:p>
            <a:r>
              <a:rPr lang="en-US" dirty="0"/>
              <a:t>Food and Beverages Industry Overview </a:t>
            </a:r>
            <a:endParaRPr lang="en-IN" sz="1400" dirty="0"/>
          </a:p>
        </p:txBody>
      </p:sp>
      <p:sp>
        <p:nvSpPr>
          <p:cNvPr id="5" name="Freeform 4"/>
          <p:cNvSpPr>
            <a:spLocks/>
          </p:cNvSpPr>
          <p:nvPr/>
        </p:nvSpPr>
        <p:spPr bwMode="auto">
          <a:xfrm>
            <a:off x="3756819" y="1093453"/>
            <a:ext cx="2449009" cy="1990267"/>
          </a:xfrm>
          <a:custGeom>
            <a:avLst/>
            <a:gdLst>
              <a:gd name="T0" fmla="*/ 84 w 1400"/>
              <a:gd name="T1" fmla="*/ 822 h 1113"/>
              <a:gd name="T2" fmla="*/ 0 w 1400"/>
              <a:gd name="T3" fmla="*/ 1091 h 1113"/>
              <a:gd name="T4" fmla="*/ 103 w 1400"/>
              <a:gd name="T5" fmla="*/ 947 h 1113"/>
              <a:gd name="T6" fmla="*/ 146 w 1400"/>
              <a:gd name="T7" fmla="*/ 647 h 1113"/>
              <a:gd name="T8" fmla="*/ 398 w 1400"/>
              <a:gd name="T9" fmla="*/ 560 h 1113"/>
              <a:gd name="T10" fmla="*/ 425 w 1400"/>
              <a:gd name="T11" fmla="*/ 674 h 1113"/>
              <a:gd name="T12" fmla="*/ 475 w 1400"/>
              <a:gd name="T13" fmla="*/ 775 h 1113"/>
              <a:gd name="T14" fmla="*/ 546 w 1400"/>
              <a:gd name="T15" fmla="*/ 862 h 1113"/>
              <a:gd name="T16" fmla="*/ 634 w 1400"/>
              <a:gd name="T17" fmla="*/ 931 h 1113"/>
              <a:gd name="T18" fmla="*/ 737 w 1400"/>
              <a:gd name="T19" fmla="*/ 980 h 1113"/>
              <a:gd name="T20" fmla="*/ 850 w 1400"/>
              <a:gd name="T21" fmla="*/ 1003 h 1113"/>
              <a:gd name="T22" fmla="*/ 948 w 1400"/>
              <a:gd name="T23" fmla="*/ 1003 h 1113"/>
              <a:gd name="T24" fmla="*/ 1070 w 1400"/>
              <a:gd name="T25" fmla="*/ 975 h 1113"/>
              <a:gd name="T26" fmla="*/ 1179 w 1400"/>
              <a:gd name="T27" fmla="*/ 921 h 1113"/>
              <a:gd name="T28" fmla="*/ 1269 w 1400"/>
              <a:gd name="T29" fmla="*/ 841 h 1113"/>
              <a:gd name="T30" fmla="*/ 1340 w 1400"/>
              <a:gd name="T31" fmla="*/ 743 h 1113"/>
              <a:gd name="T32" fmla="*/ 1385 w 1400"/>
              <a:gd name="T33" fmla="*/ 628 h 1113"/>
              <a:gd name="T34" fmla="*/ 1400 w 1400"/>
              <a:gd name="T35" fmla="*/ 503 h 1113"/>
              <a:gd name="T36" fmla="*/ 1390 w 1400"/>
              <a:gd name="T37" fmla="*/ 402 h 1113"/>
              <a:gd name="T38" fmla="*/ 1351 w 1400"/>
              <a:gd name="T39" fmla="*/ 285 h 1113"/>
              <a:gd name="T40" fmla="*/ 1285 w 1400"/>
              <a:gd name="T41" fmla="*/ 184 h 1113"/>
              <a:gd name="T42" fmla="*/ 1198 w 1400"/>
              <a:gd name="T43" fmla="*/ 100 h 1113"/>
              <a:gd name="T44" fmla="*/ 1094 w 1400"/>
              <a:gd name="T45" fmla="*/ 40 h 1113"/>
              <a:gd name="T46" fmla="*/ 975 w 1400"/>
              <a:gd name="T47" fmla="*/ 6 h 1113"/>
              <a:gd name="T48" fmla="*/ 873 w 1400"/>
              <a:gd name="T49" fmla="*/ 1 h 1113"/>
              <a:gd name="T50" fmla="*/ 759 w 1400"/>
              <a:gd name="T51" fmla="*/ 21 h 1113"/>
              <a:gd name="T52" fmla="*/ 654 w 1400"/>
              <a:gd name="T53" fmla="*/ 63 h 1113"/>
              <a:gd name="T54" fmla="*/ 563 w 1400"/>
              <a:gd name="T55" fmla="*/ 129 h 1113"/>
              <a:gd name="T56" fmla="*/ 488 w 1400"/>
              <a:gd name="T57" fmla="*/ 212 h 1113"/>
              <a:gd name="T58" fmla="*/ 434 w 1400"/>
              <a:gd name="T59" fmla="*/ 310 h 1113"/>
              <a:gd name="T60" fmla="*/ 401 w 1400"/>
              <a:gd name="T61" fmla="*/ 421 h 1113"/>
              <a:gd name="T62" fmla="*/ 450 w 1400"/>
              <a:gd name="T63" fmla="*/ 415 h 1113"/>
              <a:gd name="T64" fmla="*/ 482 w 1400"/>
              <a:gd name="T65" fmla="*/ 315 h 1113"/>
              <a:gd name="T66" fmla="*/ 535 w 1400"/>
              <a:gd name="T67" fmla="*/ 227 h 1113"/>
              <a:gd name="T68" fmla="*/ 606 w 1400"/>
              <a:gd name="T69" fmla="*/ 151 h 1113"/>
              <a:gd name="T70" fmla="*/ 693 w 1400"/>
              <a:gd name="T71" fmla="*/ 96 h 1113"/>
              <a:gd name="T72" fmla="*/ 791 w 1400"/>
              <a:gd name="T73" fmla="*/ 59 h 1113"/>
              <a:gd name="T74" fmla="*/ 898 w 1400"/>
              <a:gd name="T75" fmla="*/ 47 h 1113"/>
              <a:gd name="T76" fmla="*/ 990 w 1400"/>
              <a:gd name="T77" fmla="*/ 56 h 1113"/>
              <a:gd name="T78" fmla="*/ 1095 w 1400"/>
              <a:gd name="T79" fmla="*/ 91 h 1113"/>
              <a:gd name="T80" fmla="*/ 1188 w 1400"/>
              <a:gd name="T81" fmla="*/ 151 h 1113"/>
              <a:gd name="T82" fmla="*/ 1263 w 1400"/>
              <a:gd name="T83" fmla="*/ 231 h 1113"/>
              <a:gd name="T84" fmla="*/ 1318 w 1400"/>
              <a:gd name="T85" fmla="*/ 325 h 1113"/>
              <a:gd name="T86" fmla="*/ 1348 w 1400"/>
              <a:gd name="T87" fmla="*/ 434 h 1113"/>
              <a:gd name="T88" fmla="*/ 1354 w 1400"/>
              <a:gd name="T89" fmla="*/ 527 h 1113"/>
              <a:gd name="T90" fmla="*/ 1334 w 1400"/>
              <a:gd name="T91" fmla="*/ 638 h 1113"/>
              <a:gd name="T92" fmla="*/ 1288 w 1400"/>
              <a:gd name="T93" fmla="*/ 740 h 1113"/>
              <a:gd name="T94" fmla="*/ 1220 w 1400"/>
              <a:gd name="T95" fmla="*/ 825 h 1113"/>
              <a:gd name="T96" fmla="*/ 1134 w 1400"/>
              <a:gd name="T97" fmla="*/ 894 h 1113"/>
              <a:gd name="T98" fmla="*/ 1034 w 1400"/>
              <a:gd name="T99" fmla="*/ 940 h 1113"/>
              <a:gd name="T100" fmla="*/ 922 w 1400"/>
              <a:gd name="T101" fmla="*/ 959 h 1113"/>
              <a:gd name="T102" fmla="*/ 829 w 1400"/>
              <a:gd name="T103" fmla="*/ 955 h 1113"/>
              <a:gd name="T104" fmla="*/ 723 w 1400"/>
              <a:gd name="T105" fmla="*/ 925 h 1113"/>
              <a:gd name="T106" fmla="*/ 629 w 1400"/>
              <a:gd name="T107" fmla="*/ 872 h 1113"/>
              <a:gd name="T108" fmla="*/ 551 w 1400"/>
              <a:gd name="T109" fmla="*/ 799 h 1113"/>
              <a:gd name="T110" fmla="*/ 491 w 1400"/>
              <a:gd name="T111" fmla="*/ 710 h 1113"/>
              <a:gd name="T112" fmla="*/ 453 w 1400"/>
              <a:gd name="T113" fmla="*/ 607 h 1113"/>
              <a:gd name="T114" fmla="*/ 396 w 1400"/>
              <a:gd name="T115" fmla="*/ 515 h 1113"/>
              <a:gd name="T116" fmla="*/ 99 w 1400"/>
              <a:gd name="T117" fmla="*/ 647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00" h="1113">
                <a:moveTo>
                  <a:pt x="99" y="647"/>
                </a:moveTo>
                <a:lnTo>
                  <a:pt x="99" y="647"/>
                </a:lnTo>
                <a:lnTo>
                  <a:pt x="97" y="706"/>
                </a:lnTo>
                <a:lnTo>
                  <a:pt x="93" y="765"/>
                </a:lnTo>
                <a:lnTo>
                  <a:pt x="84" y="822"/>
                </a:lnTo>
                <a:lnTo>
                  <a:pt x="74" y="878"/>
                </a:lnTo>
                <a:lnTo>
                  <a:pt x="59" y="934"/>
                </a:lnTo>
                <a:lnTo>
                  <a:pt x="43" y="987"/>
                </a:lnTo>
                <a:lnTo>
                  <a:pt x="22" y="1040"/>
                </a:lnTo>
                <a:lnTo>
                  <a:pt x="0" y="1091"/>
                </a:lnTo>
                <a:lnTo>
                  <a:pt x="41" y="1113"/>
                </a:lnTo>
                <a:lnTo>
                  <a:pt x="41" y="1113"/>
                </a:lnTo>
                <a:lnTo>
                  <a:pt x="65" y="1059"/>
                </a:lnTo>
                <a:lnTo>
                  <a:pt x="85" y="1005"/>
                </a:lnTo>
                <a:lnTo>
                  <a:pt x="103" y="947"/>
                </a:lnTo>
                <a:lnTo>
                  <a:pt x="118" y="890"/>
                </a:lnTo>
                <a:lnTo>
                  <a:pt x="129" y="831"/>
                </a:lnTo>
                <a:lnTo>
                  <a:pt x="138" y="771"/>
                </a:lnTo>
                <a:lnTo>
                  <a:pt x="144" y="709"/>
                </a:lnTo>
                <a:lnTo>
                  <a:pt x="146" y="647"/>
                </a:lnTo>
                <a:lnTo>
                  <a:pt x="146" y="647"/>
                </a:lnTo>
                <a:lnTo>
                  <a:pt x="144" y="612"/>
                </a:lnTo>
                <a:lnTo>
                  <a:pt x="143" y="577"/>
                </a:lnTo>
                <a:lnTo>
                  <a:pt x="398" y="560"/>
                </a:lnTo>
                <a:lnTo>
                  <a:pt x="398" y="560"/>
                </a:lnTo>
                <a:lnTo>
                  <a:pt x="401" y="584"/>
                </a:lnTo>
                <a:lnTo>
                  <a:pt x="406" y="606"/>
                </a:lnTo>
                <a:lnTo>
                  <a:pt x="412" y="630"/>
                </a:lnTo>
                <a:lnTo>
                  <a:pt x="418" y="652"/>
                </a:lnTo>
                <a:lnTo>
                  <a:pt x="425" y="674"/>
                </a:lnTo>
                <a:lnTo>
                  <a:pt x="432" y="694"/>
                </a:lnTo>
                <a:lnTo>
                  <a:pt x="443" y="715"/>
                </a:lnTo>
                <a:lnTo>
                  <a:pt x="453" y="735"/>
                </a:lnTo>
                <a:lnTo>
                  <a:pt x="463" y="756"/>
                </a:lnTo>
                <a:lnTo>
                  <a:pt x="475" y="775"/>
                </a:lnTo>
                <a:lnTo>
                  <a:pt x="488" y="793"/>
                </a:lnTo>
                <a:lnTo>
                  <a:pt x="501" y="812"/>
                </a:lnTo>
                <a:lnTo>
                  <a:pt x="515" y="828"/>
                </a:lnTo>
                <a:lnTo>
                  <a:pt x="531" y="846"/>
                </a:lnTo>
                <a:lnTo>
                  <a:pt x="546" y="862"/>
                </a:lnTo>
                <a:lnTo>
                  <a:pt x="562" y="877"/>
                </a:lnTo>
                <a:lnTo>
                  <a:pt x="579" y="891"/>
                </a:lnTo>
                <a:lnTo>
                  <a:pt x="597" y="906"/>
                </a:lnTo>
                <a:lnTo>
                  <a:pt x="615" y="919"/>
                </a:lnTo>
                <a:lnTo>
                  <a:pt x="634" y="931"/>
                </a:lnTo>
                <a:lnTo>
                  <a:pt x="653" y="943"/>
                </a:lnTo>
                <a:lnTo>
                  <a:pt x="673" y="953"/>
                </a:lnTo>
                <a:lnTo>
                  <a:pt x="694" y="963"/>
                </a:lnTo>
                <a:lnTo>
                  <a:pt x="715" y="972"/>
                </a:lnTo>
                <a:lnTo>
                  <a:pt x="737" y="980"/>
                </a:lnTo>
                <a:lnTo>
                  <a:pt x="759" y="987"/>
                </a:lnTo>
                <a:lnTo>
                  <a:pt x="781" y="993"/>
                </a:lnTo>
                <a:lnTo>
                  <a:pt x="803" y="997"/>
                </a:lnTo>
                <a:lnTo>
                  <a:pt x="826" y="1002"/>
                </a:lnTo>
                <a:lnTo>
                  <a:pt x="850" y="1003"/>
                </a:lnTo>
                <a:lnTo>
                  <a:pt x="873" y="1006"/>
                </a:lnTo>
                <a:lnTo>
                  <a:pt x="898" y="1006"/>
                </a:lnTo>
                <a:lnTo>
                  <a:pt x="898" y="1006"/>
                </a:lnTo>
                <a:lnTo>
                  <a:pt x="923" y="1006"/>
                </a:lnTo>
                <a:lnTo>
                  <a:pt x="948" y="1003"/>
                </a:lnTo>
                <a:lnTo>
                  <a:pt x="975" y="1000"/>
                </a:lnTo>
                <a:lnTo>
                  <a:pt x="998" y="996"/>
                </a:lnTo>
                <a:lnTo>
                  <a:pt x="1023" y="990"/>
                </a:lnTo>
                <a:lnTo>
                  <a:pt x="1047" y="984"/>
                </a:lnTo>
                <a:lnTo>
                  <a:pt x="1070" y="975"/>
                </a:lnTo>
                <a:lnTo>
                  <a:pt x="1094" y="966"/>
                </a:lnTo>
                <a:lnTo>
                  <a:pt x="1116" y="956"/>
                </a:lnTo>
                <a:lnTo>
                  <a:pt x="1137" y="946"/>
                </a:lnTo>
                <a:lnTo>
                  <a:pt x="1159" y="933"/>
                </a:lnTo>
                <a:lnTo>
                  <a:pt x="1179" y="921"/>
                </a:lnTo>
                <a:lnTo>
                  <a:pt x="1198" y="906"/>
                </a:lnTo>
                <a:lnTo>
                  <a:pt x="1218" y="891"/>
                </a:lnTo>
                <a:lnTo>
                  <a:pt x="1235" y="875"/>
                </a:lnTo>
                <a:lnTo>
                  <a:pt x="1253" y="859"/>
                </a:lnTo>
                <a:lnTo>
                  <a:pt x="1269" y="841"/>
                </a:lnTo>
                <a:lnTo>
                  <a:pt x="1285" y="822"/>
                </a:lnTo>
                <a:lnTo>
                  <a:pt x="1300" y="805"/>
                </a:lnTo>
                <a:lnTo>
                  <a:pt x="1315" y="784"/>
                </a:lnTo>
                <a:lnTo>
                  <a:pt x="1328" y="763"/>
                </a:lnTo>
                <a:lnTo>
                  <a:pt x="1340" y="743"/>
                </a:lnTo>
                <a:lnTo>
                  <a:pt x="1351" y="721"/>
                </a:lnTo>
                <a:lnTo>
                  <a:pt x="1360" y="699"/>
                </a:lnTo>
                <a:lnTo>
                  <a:pt x="1370" y="677"/>
                </a:lnTo>
                <a:lnTo>
                  <a:pt x="1378" y="653"/>
                </a:lnTo>
                <a:lnTo>
                  <a:pt x="1385" y="628"/>
                </a:lnTo>
                <a:lnTo>
                  <a:pt x="1390" y="605"/>
                </a:lnTo>
                <a:lnTo>
                  <a:pt x="1394" y="580"/>
                </a:lnTo>
                <a:lnTo>
                  <a:pt x="1398" y="555"/>
                </a:lnTo>
                <a:lnTo>
                  <a:pt x="1400" y="530"/>
                </a:lnTo>
                <a:lnTo>
                  <a:pt x="1400" y="503"/>
                </a:lnTo>
                <a:lnTo>
                  <a:pt x="1400" y="503"/>
                </a:lnTo>
                <a:lnTo>
                  <a:pt x="1400" y="478"/>
                </a:lnTo>
                <a:lnTo>
                  <a:pt x="1398" y="452"/>
                </a:lnTo>
                <a:lnTo>
                  <a:pt x="1394" y="427"/>
                </a:lnTo>
                <a:lnTo>
                  <a:pt x="1390" y="402"/>
                </a:lnTo>
                <a:lnTo>
                  <a:pt x="1385" y="378"/>
                </a:lnTo>
                <a:lnTo>
                  <a:pt x="1378" y="354"/>
                </a:lnTo>
                <a:lnTo>
                  <a:pt x="1370" y="331"/>
                </a:lnTo>
                <a:lnTo>
                  <a:pt x="1360" y="307"/>
                </a:lnTo>
                <a:lnTo>
                  <a:pt x="1351" y="285"/>
                </a:lnTo>
                <a:lnTo>
                  <a:pt x="1340" y="263"/>
                </a:lnTo>
                <a:lnTo>
                  <a:pt x="1328" y="243"/>
                </a:lnTo>
                <a:lnTo>
                  <a:pt x="1315" y="222"/>
                </a:lnTo>
                <a:lnTo>
                  <a:pt x="1300" y="203"/>
                </a:lnTo>
                <a:lnTo>
                  <a:pt x="1285" y="184"/>
                </a:lnTo>
                <a:lnTo>
                  <a:pt x="1269" y="165"/>
                </a:lnTo>
                <a:lnTo>
                  <a:pt x="1253" y="149"/>
                </a:lnTo>
                <a:lnTo>
                  <a:pt x="1235" y="131"/>
                </a:lnTo>
                <a:lnTo>
                  <a:pt x="1218" y="115"/>
                </a:lnTo>
                <a:lnTo>
                  <a:pt x="1198" y="100"/>
                </a:lnTo>
                <a:lnTo>
                  <a:pt x="1179" y="87"/>
                </a:lnTo>
                <a:lnTo>
                  <a:pt x="1159" y="74"/>
                </a:lnTo>
                <a:lnTo>
                  <a:pt x="1137" y="62"/>
                </a:lnTo>
                <a:lnTo>
                  <a:pt x="1116" y="50"/>
                </a:lnTo>
                <a:lnTo>
                  <a:pt x="1094" y="40"/>
                </a:lnTo>
                <a:lnTo>
                  <a:pt x="1070" y="31"/>
                </a:lnTo>
                <a:lnTo>
                  <a:pt x="1047" y="24"/>
                </a:lnTo>
                <a:lnTo>
                  <a:pt x="1023" y="16"/>
                </a:lnTo>
                <a:lnTo>
                  <a:pt x="998" y="10"/>
                </a:lnTo>
                <a:lnTo>
                  <a:pt x="975" y="6"/>
                </a:lnTo>
                <a:lnTo>
                  <a:pt x="948" y="3"/>
                </a:lnTo>
                <a:lnTo>
                  <a:pt x="923" y="1"/>
                </a:lnTo>
                <a:lnTo>
                  <a:pt x="898" y="0"/>
                </a:lnTo>
                <a:lnTo>
                  <a:pt x="898" y="0"/>
                </a:lnTo>
                <a:lnTo>
                  <a:pt x="873" y="1"/>
                </a:lnTo>
                <a:lnTo>
                  <a:pt x="850" y="3"/>
                </a:lnTo>
                <a:lnTo>
                  <a:pt x="826" y="6"/>
                </a:lnTo>
                <a:lnTo>
                  <a:pt x="804" y="9"/>
                </a:lnTo>
                <a:lnTo>
                  <a:pt x="781" y="15"/>
                </a:lnTo>
                <a:lnTo>
                  <a:pt x="759" y="21"/>
                </a:lnTo>
                <a:lnTo>
                  <a:pt x="737" y="26"/>
                </a:lnTo>
                <a:lnTo>
                  <a:pt x="716" y="35"/>
                </a:lnTo>
                <a:lnTo>
                  <a:pt x="694" y="44"/>
                </a:lnTo>
                <a:lnTo>
                  <a:pt x="673" y="53"/>
                </a:lnTo>
                <a:lnTo>
                  <a:pt x="654" y="63"/>
                </a:lnTo>
                <a:lnTo>
                  <a:pt x="635" y="75"/>
                </a:lnTo>
                <a:lnTo>
                  <a:pt x="616" y="87"/>
                </a:lnTo>
                <a:lnTo>
                  <a:pt x="597" y="100"/>
                </a:lnTo>
                <a:lnTo>
                  <a:pt x="579" y="115"/>
                </a:lnTo>
                <a:lnTo>
                  <a:pt x="563" y="129"/>
                </a:lnTo>
                <a:lnTo>
                  <a:pt x="547" y="144"/>
                </a:lnTo>
                <a:lnTo>
                  <a:pt x="531" y="160"/>
                </a:lnTo>
                <a:lnTo>
                  <a:pt x="516" y="177"/>
                </a:lnTo>
                <a:lnTo>
                  <a:pt x="501" y="194"/>
                </a:lnTo>
                <a:lnTo>
                  <a:pt x="488" y="212"/>
                </a:lnTo>
                <a:lnTo>
                  <a:pt x="476" y="231"/>
                </a:lnTo>
                <a:lnTo>
                  <a:pt x="465" y="250"/>
                </a:lnTo>
                <a:lnTo>
                  <a:pt x="453" y="269"/>
                </a:lnTo>
                <a:lnTo>
                  <a:pt x="443" y="290"/>
                </a:lnTo>
                <a:lnTo>
                  <a:pt x="434" y="310"/>
                </a:lnTo>
                <a:lnTo>
                  <a:pt x="425" y="331"/>
                </a:lnTo>
                <a:lnTo>
                  <a:pt x="418" y="353"/>
                </a:lnTo>
                <a:lnTo>
                  <a:pt x="412" y="375"/>
                </a:lnTo>
                <a:lnTo>
                  <a:pt x="406" y="399"/>
                </a:lnTo>
                <a:lnTo>
                  <a:pt x="401" y="421"/>
                </a:lnTo>
                <a:lnTo>
                  <a:pt x="398" y="444"/>
                </a:lnTo>
                <a:lnTo>
                  <a:pt x="444" y="457"/>
                </a:lnTo>
                <a:lnTo>
                  <a:pt x="444" y="457"/>
                </a:lnTo>
                <a:lnTo>
                  <a:pt x="447" y="435"/>
                </a:lnTo>
                <a:lnTo>
                  <a:pt x="450" y="415"/>
                </a:lnTo>
                <a:lnTo>
                  <a:pt x="454" y="394"/>
                </a:lnTo>
                <a:lnTo>
                  <a:pt x="460" y="374"/>
                </a:lnTo>
                <a:lnTo>
                  <a:pt x="466" y="353"/>
                </a:lnTo>
                <a:lnTo>
                  <a:pt x="473" y="334"/>
                </a:lnTo>
                <a:lnTo>
                  <a:pt x="482" y="315"/>
                </a:lnTo>
                <a:lnTo>
                  <a:pt x="491" y="296"/>
                </a:lnTo>
                <a:lnTo>
                  <a:pt x="501" y="278"/>
                </a:lnTo>
                <a:lnTo>
                  <a:pt x="512" y="260"/>
                </a:lnTo>
                <a:lnTo>
                  <a:pt x="523" y="243"/>
                </a:lnTo>
                <a:lnTo>
                  <a:pt x="535" y="227"/>
                </a:lnTo>
                <a:lnTo>
                  <a:pt x="548" y="210"/>
                </a:lnTo>
                <a:lnTo>
                  <a:pt x="562" y="194"/>
                </a:lnTo>
                <a:lnTo>
                  <a:pt x="576" y="179"/>
                </a:lnTo>
                <a:lnTo>
                  <a:pt x="591" y="166"/>
                </a:lnTo>
                <a:lnTo>
                  <a:pt x="606" y="151"/>
                </a:lnTo>
                <a:lnTo>
                  <a:pt x="622" y="140"/>
                </a:lnTo>
                <a:lnTo>
                  <a:pt x="640" y="128"/>
                </a:lnTo>
                <a:lnTo>
                  <a:pt x="657" y="116"/>
                </a:lnTo>
                <a:lnTo>
                  <a:pt x="675" y="106"/>
                </a:lnTo>
                <a:lnTo>
                  <a:pt x="693" y="96"/>
                </a:lnTo>
                <a:lnTo>
                  <a:pt x="712" y="87"/>
                </a:lnTo>
                <a:lnTo>
                  <a:pt x="731" y="78"/>
                </a:lnTo>
                <a:lnTo>
                  <a:pt x="750" y="71"/>
                </a:lnTo>
                <a:lnTo>
                  <a:pt x="771" y="65"/>
                </a:lnTo>
                <a:lnTo>
                  <a:pt x="791" y="59"/>
                </a:lnTo>
                <a:lnTo>
                  <a:pt x="812" y="54"/>
                </a:lnTo>
                <a:lnTo>
                  <a:pt x="832" y="51"/>
                </a:lnTo>
                <a:lnTo>
                  <a:pt x="854" y="49"/>
                </a:lnTo>
                <a:lnTo>
                  <a:pt x="876" y="47"/>
                </a:lnTo>
                <a:lnTo>
                  <a:pt x="898" y="47"/>
                </a:lnTo>
                <a:lnTo>
                  <a:pt x="898" y="47"/>
                </a:lnTo>
                <a:lnTo>
                  <a:pt x="922" y="47"/>
                </a:lnTo>
                <a:lnTo>
                  <a:pt x="944" y="49"/>
                </a:lnTo>
                <a:lnTo>
                  <a:pt x="968" y="51"/>
                </a:lnTo>
                <a:lnTo>
                  <a:pt x="990" y="56"/>
                </a:lnTo>
                <a:lnTo>
                  <a:pt x="1012" y="62"/>
                </a:lnTo>
                <a:lnTo>
                  <a:pt x="1034" y="68"/>
                </a:lnTo>
                <a:lnTo>
                  <a:pt x="1054" y="75"/>
                </a:lnTo>
                <a:lnTo>
                  <a:pt x="1075" y="82"/>
                </a:lnTo>
                <a:lnTo>
                  <a:pt x="1095" y="91"/>
                </a:lnTo>
                <a:lnTo>
                  <a:pt x="1115" y="101"/>
                </a:lnTo>
                <a:lnTo>
                  <a:pt x="1134" y="113"/>
                </a:lnTo>
                <a:lnTo>
                  <a:pt x="1153" y="125"/>
                </a:lnTo>
                <a:lnTo>
                  <a:pt x="1170" y="138"/>
                </a:lnTo>
                <a:lnTo>
                  <a:pt x="1188" y="151"/>
                </a:lnTo>
                <a:lnTo>
                  <a:pt x="1204" y="166"/>
                </a:lnTo>
                <a:lnTo>
                  <a:pt x="1220" y="181"/>
                </a:lnTo>
                <a:lnTo>
                  <a:pt x="1235" y="197"/>
                </a:lnTo>
                <a:lnTo>
                  <a:pt x="1250" y="213"/>
                </a:lnTo>
                <a:lnTo>
                  <a:pt x="1263" y="231"/>
                </a:lnTo>
                <a:lnTo>
                  <a:pt x="1276" y="249"/>
                </a:lnTo>
                <a:lnTo>
                  <a:pt x="1288" y="266"/>
                </a:lnTo>
                <a:lnTo>
                  <a:pt x="1298" y="285"/>
                </a:lnTo>
                <a:lnTo>
                  <a:pt x="1309" y="306"/>
                </a:lnTo>
                <a:lnTo>
                  <a:pt x="1318" y="325"/>
                </a:lnTo>
                <a:lnTo>
                  <a:pt x="1326" y="347"/>
                </a:lnTo>
                <a:lnTo>
                  <a:pt x="1334" y="368"/>
                </a:lnTo>
                <a:lnTo>
                  <a:pt x="1340" y="390"/>
                </a:lnTo>
                <a:lnTo>
                  <a:pt x="1345" y="412"/>
                </a:lnTo>
                <a:lnTo>
                  <a:pt x="1348" y="434"/>
                </a:lnTo>
                <a:lnTo>
                  <a:pt x="1351" y="456"/>
                </a:lnTo>
                <a:lnTo>
                  <a:pt x="1354" y="479"/>
                </a:lnTo>
                <a:lnTo>
                  <a:pt x="1354" y="503"/>
                </a:lnTo>
                <a:lnTo>
                  <a:pt x="1354" y="503"/>
                </a:lnTo>
                <a:lnTo>
                  <a:pt x="1354" y="527"/>
                </a:lnTo>
                <a:lnTo>
                  <a:pt x="1351" y="550"/>
                </a:lnTo>
                <a:lnTo>
                  <a:pt x="1348" y="572"/>
                </a:lnTo>
                <a:lnTo>
                  <a:pt x="1345" y="596"/>
                </a:lnTo>
                <a:lnTo>
                  <a:pt x="1340" y="618"/>
                </a:lnTo>
                <a:lnTo>
                  <a:pt x="1334" y="638"/>
                </a:lnTo>
                <a:lnTo>
                  <a:pt x="1326" y="660"/>
                </a:lnTo>
                <a:lnTo>
                  <a:pt x="1318" y="681"/>
                </a:lnTo>
                <a:lnTo>
                  <a:pt x="1309" y="702"/>
                </a:lnTo>
                <a:lnTo>
                  <a:pt x="1298" y="721"/>
                </a:lnTo>
                <a:lnTo>
                  <a:pt x="1288" y="740"/>
                </a:lnTo>
                <a:lnTo>
                  <a:pt x="1276" y="759"/>
                </a:lnTo>
                <a:lnTo>
                  <a:pt x="1263" y="777"/>
                </a:lnTo>
                <a:lnTo>
                  <a:pt x="1250" y="793"/>
                </a:lnTo>
                <a:lnTo>
                  <a:pt x="1235" y="810"/>
                </a:lnTo>
                <a:lnTo>
                  <a:pt x="1220" y="825"/>
                </a:lnTo>
                <a:lnTo>
                  <a:pt x="1204" y="841"/>
                </a:lnTo>
                <a:lnTo>
                  <a:pt x="1188" y="856"/>
                </a:lnTo>
                <a:lnTo>
                  <a:pt x="1170" y="869"/>
                </a:lnTo>
                <a:lnTo>
                  <a:pt x="1153" y="881"/>
                </a:lnTo>
                <a:lnTo>
                  <a:pt x="1134" y="894"/>
                </a:lnTo>
                <a:lnTo>
                  <a:pt x="1115" y="905"/>
                </a:lnTo>
                <a:lnTo>
                  <a:pt x="1095" y="915"/>
                </a:lnTo>
                <a:lnTo>
                  <a:pt x="1075" y="924"/>
                </a:lnTo>
                <a:lnTo>
                  <a:pt x="1054" y="933"/>
                </a:lnTo>
                <a:lnTo>
                  <a:pt x="1034" y="940"/>
                </a:lnTo>
                <a:lnTo>
                  <a:pt x="1012" y="946"/>
                </a:lnTo>
                <a:lnTo>
                  <a:pt x="990" y="950"/>
                </a:lnTo>
                <a:lnTo>
                  <a:pt x="968" y="955"/>
                </a:lnTo>
                <a:lnTo>
                  <a:pt x="944" y="958"/>
                </a:lnTo>
                <a:lnTo>
                  <a:pt x="922" y="959"/>
                </a:lnTo>
                <a:lnTo>
                  <a:pt x="898" y="959"/>
                </a:lnTo>
                <a:lnTo>
                  <a:pt x="898" y="959"/>
                </a:lnTo>
                <a:lnTo>
                  <a:pt x="875" y="959"/>
                </a:lnTo>
                <a:lnTo>
                  <a:pt x="853" y="958"/>
                </a:lnTo>
                <a:lnTo>
                  <a:pt x="829" y="955"/>
                </a:lnTo>
                <a:lnTo>
                  <a:pt x="807" y="950"/>
                </a:lnTo>
                <a:lnTo>
                  <a:pt x="787" y="946"/>
                </a:lnTo>
                <a:lnTo>
                  <a:pt x="765" y="940"/>
                </a:lnTo>
                <a:lnTo>
                  <a:pt x="744" y="933"/>
                </a:lnTo>
                <a:lnTo>
                  <a:pt x="723" y="925"/>
                </a:lnTo>
                <a:lnTo>
                  <a:pt x="704" y="916"/>
                </a:lnTo>
                <a:lnTo>
                  <a:pt x="684" y="906"/>
                </a:lnTo>
                <a:lnTo>
                  <a:pt x="666" y="896"/>
                </a:lnTo>
                <a:lnTo>
                  <a:pt x="647" y="884"/>
                </a:lnTo>
                <a:lnTo>
                  <a:pt x="629" y="872"/>
                </a:lnTo>
                <a:lnTo>
                  <a:pt x="613" y="859"/>
                </a:lnTo>
                <a:lnTo>
                  <a:pt x="596" y="846"/>
                </a:lnTo>
                <a:lnTo>
                  <a:pt x="581" y="831"/>
                </a:lnTo>
                <a:lnTo>
                  <a:pt x="565" y="815"/>
                </a:lnTo>
                <a:lnTo>
                  <a:pt x="551" y="799"/>
                </a:lnTo>
                <a:lnTo>
                  <a:pt x="537" y="782"/>
                </a:lnTo>
                <a:lnTo>
                  <a:pt x="525" y="765"/>
                </a:lnTo>
                <a:lnTo>
                  <a:pt x="513" y="747"/>
                </a:lnTo>
                <a:lnTo>
                  <a:pt x="501" y="730"/>
                </a:lnTo>
                <a:lnTo>
                  <a:pt x="491" y="710"/>
                </a:lnTo>
                <a:lnTo>
                  <a:pt x="482" y="690"/>
                </a:lnTo>
                <a:lnTo>
                  <a:pt x="473" y="671"/>
                </a:lnTo>
                <a:lnTo>
                  <a:pt x="466" y="650"/>
                </a:lnTo>
                <a:lnTo>
                  <a:pt x="459" y="628"/>
                </a:lnTo>
                <a:lnTo>
                  <a:pt x="453" y="607"/>
                </a:lnTo>
                <a:lnTo>
                  <a:pt x="448" y="585"/>
                </a:lnTo>
                <a:lnTo>
                  <a:pt x="446" y="563"/>
                </a:lnTo>
                <a:lnTo>
                  <a:pt x="443" y="541"/>
                </a:lnTo>
                <a:lnTo>
                  <a:pt x="441" y="518"/>
                </a:lnTo>
                <a:lnTo>
                  <a:pt x="396" y="515"/>
                </a:lnTo>
                <a:lnTo>
                  <a:pt x="140" y="530"/>
                </a:lnTo>
                <a:lnTo>
                  <a:pt x="93" y="531"/>
                </a:lnTo>
                <a:lnTo>
                  <a:pt x="93" y="531"/>
                </a:lnTo>
                <a:lnTo>
                  <a:pt x="97" y="588"/>
                </a:lnTo>
                <a:lnTo>
                  <a:pt x="99" y="647"/>
                </a:lnTo>
                <a:lnTo>
                  <a:pt x="99" y="647"/>
                </a:lnTo>
                <a:close/>
              </a:path>
            </a:pathLst>
          </a:custGeom>
          <a:solidFill>
            <a:srgbClr val="ED1B24"/>
          </a:solidFill>
          <a:ln w="1588">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 name="Freeform 5"/>
          <p:cNvSpPr>
            <a:spLocks/>
          </p:cNvSpPr>
          <p:nvPr/>
        </p:nvSpPr>
        <p:spPr bwMode="auto">
          <a:xfrm>
            <a:off x="1182712" y="3626938"/>
            <a:ext cx="1701051" cy="2423082"/>
          </a:xfrm>
          <a:custGeom>
            <a:avLst/>
            <a:gdLst>
              <a:gd name="T0" fmla="*/ 59 w 1031"/>
              <a:gd name="T1" fmla="*/ 75 h 1527"/>
              <a:gd name="T2" fmla="*/ 218 w 1031"/>
              <a:gd name="T3" fmla="*/ 148 h 1527"/>
              <a:gd name="T4" fmla="*/ 387 w 1031"/>
              <a:gd name="T5" fmla="*/ 195 h 1527"/>
              <a:gd name="T6" fmla="*/ 529 w 1031"/>
              <a:gd name="T7" fmla="*/ 520 h 1527"/>
              <a:gd name="T8" fmla="*/ 476 w 1031"/>
              <a:gd name="T9" fmla="*/ 523 h 1527"/>
              <a:gd name="T10" fmla="*/ 356 w 1031"/>
              <a:gd name="T11" fmla="*/ 551 h 1527"/>
              <a:gd name="T12" fmla="*/ 247 w 1031"/>
              <a:gd name="T13" fmla="*/ 607 h 1527"/>
              <a:gd name="T14" fmla="*/ 156 w 1031"/>
              <a:gd name="T15" fmla="*/ 687 h 1527"/>
              <a:gd name="T16" fmla="*/ 87 w 1031"/>
              <a:gd name="T17" fmla="*/ 784 h 1527"/>
              <a:gd name="T18" fmla="*/ 41 w 1031"/>
              <a:gd name="T19" fmla="*/ 898 h 1527"/>
              <a:gd name="T20" fmla="*/ 25 w 1031"/>
              <a:gd name="T21" fmla="*/ 1024 h 1527"/>
              <a:gd name="T22" fmla="*/ 35 w 1031"/>
              <a:gd name="T23" fmla="*/ 1125 h 1527"/>
              <a:gd name="T24" fmla="*/ 75 w 1031"/>
              <a:gd name="T25" fmla="*/ 1241 h 1527"/>
              <a:gd name="T26" fmla="*/ 141 w 1031"/>
              <a:gd name="T27" fmla="*/ 1344 h 1527"/>
              <a:gd name="T28" fmla="*/ 228 w 1031"/>
              <a:gd name="T29" fmla="*/ 1427 h 1527"/>
              <a:gd name="T30" fmla="*/ 332 w 1031"/>
              <a:gd name="T31" fmla="*/ 1487 h 1527"/>
              <a:gd name="T32" fmla="*/ 451 w 1031"/>
              <a:gd name="T33" fmla="*/ 1521 h 1527"/>
              <a:gd name="T34" fmla="*/ 554 w 1031"/>
              <a:gd name="T35" fmla="*/ 1527 h 1527"/>
              <a:gd name="T36" fmla="*/ 678 w 1031"/>
              <a:gd name="T37" fmla="*/ 1504 h 1527"/>
              <a:gd name="T38" fmla="*/ 788 w 1031"/>
              <a:gd name="T39" fmla="*/ 1454 h 1527"/>
              <a:gd name="T40" fmla="*/ 884 w 1031"/>
              <a:gd name="T41" fmla="*/ 1379 h 1527"/>
              <a:gd name="T42" fmla="*/ 957 w 1031"/>
              <a:gd name="T43" fmla="*/ 1284 h 1527"/>
              <a:gd name="T44" fmla="*/ 1009 w 1031"/>
              <a:gd name="T45" fmla="*/ 1174 h 1527"/>
              <a:gd name="T46" fmla="*/ 1031 w 1031"/>
              <a:gd name="T47" fmla="*/ 1050 h 1527"/>
              <a:gd name="T48" fmla="*/ 1026 w 1031"/>
              <a:gd name="T49" fmla="*/ 956 h 1527"/>
              <a:gd name="T50" fmla="*/ 1000 w 1031"/>
              <a:gd name="T51" fmla="*/ 848 h 1527"/>
              <a:gd name="T52" fmla="*/ 951 w 1031"/>
              <a:gd name="T53" fmla="*/ 753 h 1527"/>
              <a:gd name="T54" fmla="*/ 884 w 1031"/>
              <a:gd name="T55" fmla="*/ 669 h 1527"/>
              <a:gd name="T56" fmla="*/ 800 w 1031"/>
              <a:gd name="T57" fmla="*/ 601 h 1527"/>
              <a:gd name="T58" fmla="*/ 704 w 1031"/>
              <a:gd name="T59" fmla="*/ 553 h 1527"/>
              <a:gd name="T60" fmla="*/ 615 w 1031"/>
              <a:gd name="T61" fmla="*/ 534 h 1527"/>
              <a:gd name="T62" fmla="*/ 663 w 1031"/>
              <a:gd name="T63" fmla="*/ 588 h 1527"/>
              <a:gd name="T64" fmla="*/ 819 w 1031"/>
              <a:gd name="T65" fmla="*/ 673 h 1527"/>
              <a:gd name="T66" fmla="*/ 940 w 1031"/>
              <a:gd name="T67" fmla="*/ 826 h 1527"/>
              <a:gd name="T68" fmla="*/ 976 w 1031"/>
              <a:gd name="T69" fmla="*/ 941 h 1527"/>
              <a:gd name="T70" fmla="*/ 985 w 1031"/>
              <a:gd name="T71" fmla="*/ 1024 h 1527"/>
              <a:gd name="T72" fmla="*/ 971 w 1031"/>
              <a:gd name="T73" fmla="*/ 1138 h 1527"/>
              <a:gd name="T74" fmla="*/ 929 w 1031"/>
              <a:gd name="T75" fmla="*/ 1241 h 1527"/>
              <a:gd name="T76" fmla="*/ 866 w 1031"/>
              <a:gd name="T77" fmla="*/ 1331 h 1527"/>
              <a:gd name="T78" fmla="*/ 784 w 1031"/>
              <a:gd name="T79" fmla="*/ 1403 h 1527"/>
              <a:gd name="T80" fmla="*/ 685 w 1031"/>
              <a:gd name="T81" fmla="*/ 1453 h 1527"/>
              <a:gd name="T82" fmla="*/ 575 w 1031"/>
              <a:gd name="T83" fmla="*/ 1478 h 1527"/>
              <a:gd name="T84" fmla="*/ 482 w 1031"/>
              <a:gd name="T85" fmla="*/ 1478 h 1527"/>
              <a:gd name="T86" fmla="*/ 372 w 1031"/>
              <a:gd name="T87" fmla="*/ 1453 h 1527"/>
              <a:gd name="T88" fmla="*/ 274 w 1031"/>
              <a:gd name="T89" fmla="*/ 1403 h 1527"/>
              <a:gd name="T90" fmla="*/ 191 w 1031"/>
              <a:gd name="T91" fmla="*/ 1331 h 1527"/>
              <a:gd name="T92" fmla="*/ 126 w 1031"/>
              <a:gd name="T93" fmla="*/ 1241 h 1527"/>
              <a:gd name="T94" fmla="*/ 87 w 1031"/>
              <a:gd name="T95" fmla="*/ 1138 h 1527"/>
              <a:gd name="T96" fmla="*/ 72 w 1031"/>
              <a:gd name="T97" fmla="*/ 1024 h 1527"/>
              <a:gd name="T98" fmla="*/ 81 w 1031"/>
              <a:gd name="T99" fmla="*/ 932 h 1527"/>
              <a:gd name="T100" fmla="*/ 118 w 1031"/>
              <a:gd name="T101" fmla="*/ 826 h 1527"/>
              <a:gd name="T102" fmla="*/ 176 w 1031"/>
              <a:gd name="T103" fmla="*/ 734 h 1527"/>
              <a:gd name="T104" fmla="*/ 256 w 1031"/>
              <a:gd name="T105" fmla="*/ 659 h 1527"/>
              <a:gd name="T106" fmla="*/ 351 w 1031"/>
              <a:gd name="T107" fmla="*/ 603 h 1527"/>
              <a:gd name="T108" fmla="*/ 459 w 1031"/>
              <a:gd name="T109" fmla="*/ 573 h 1527"/>
              <a:gd name="T110" fmla="*/ 563 w 1031"/>
              <a:gd name="T111" fmla="*/ 569 h 1527"/>
              <a:gd name="T112" fmla="*/ 537 w 1031"/>
              <a:gd name="T113" fmla="*/ 167 h 1527"/>
              <a:gd name="T114" fmla="*/ 354 w 1031"/>
              <a:gd name="T115" fmla="*/ 141 h 1527"/>
              <a:gd name="T116" fmla="*/ 184 w 1031"/>
              <a:gd name="T117" fmla="*/ 85 h 1527"/>
              <a:gd name="T118" fmla="*/ 26 w 1031"/>
              <a:gd name="T119" fmla="*/ 0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31" h="1527">
                <a:moveTo>
                  <a:pt x="26" y="0"/>
                </a:moveTo>
                <a:lnTo>
                  <a:pt x="0" y="38"/>
                </a:lnTo>
                <a:lnTo>
                  <a:pt x="0" y="38"/>
                </a:lnTo>
                <a:lnTo>
                  <a:pt x="29" y="57"/>
                </a:lnTo>
                <a:lnTo>
                  <a:pt x="59" y="75"/>
                </a:lnTo>
                <a:lnTo>
                  <a:pt x="90" y="91"/>
                </a:lnTo>
                <a:lnTo>
                  <a:pt x="121" y="107"/>
                </a:lnTo>
                <a:lnTo>
                  <a:pt x="153" y="122"/>
                </a:lnTo>
                <a:lnTo>
                  <a:pt x="184" y="135"/>
                </a:lnTo>
                <a:lnTo>
                  <a:pt x="218" y="148"/>
                </a:lnTo>
                <a:lnTo>
                  <a:pt x="250" y="159"/>
                </a:lnTo>
                <a:lnTo>
                  <a:pt x="284" y="170"/>
                </a:lnTo>
                <a:lnTo>
                  <a:pt x="318" y="179"/>
                </a:lnTo>
                <a:lnTo>
                  <a:pt x="351" y="188"/>
                </a:lnTo>
                <a:lnTo>
                  <a:pt x="387" y="195"/>
                </a:lnTo>
                <a:lnTo>
                  <a:pt x="422" y="201"/>
                </a:lnTo>
                <a:lnTo>
                  <a:pt x="457" y="207"/>
                </a:lnTo>
                <a:lnTo>
                  <a:pt x="494" y="212"/>
                </a:lnTo>
                <a:lnTo>
                  <a:pt x="529" y="213"/>
                </a:lnTo>
                <a:lnTo>
                  <a:pt x="529" y="520"/>
                </a:lnTo>
                <a:lnTo>
                  <a:pt x="529" y="520"/>
                </a:lnTo>
                <a:lnTo>
                  <a:pt x="528" y="520"/>
                </a:lnTo>
                <a:lnTo>
                  <a:pt x="528" y="520"/>
                </a:lnTo>
                <a:lnTo>
                  <a:pt x="503" y="522"/>
                </a:lnTo>
                <a:lnTo>
                  <a:pt x="476" y="523"/>
                </a:lnTo>
                <a:lnTo>
                  <a:pt x="451" y="526"/>
                </a:lnTo>
                <a:lnTo>
                  <a:pt x="426" y="531"/>
                </a:lnTo>
                <a:lnTo>
                  <a:pt x="403" y="537"/>
                </a:lnTo>
                <a:lnTo>
                  <a:pt x="379" y="544"/>
                </a:lnTo>
                <a:lnTo>
                  <a:pt x="356" y="551"/>
                </a:lnTo>
                <a:lnTo>
                  <a:pt x="332" y="560"/>
                </a:lnTo>
                <a:lnTo>
                  <a:pt x="310" y="570"/>
                </a:lnTo>
                <a:lnTo>
                  <a:pt x="288" y="582"/>
                </a:lnTo>
                <a:lnTo>
                  <a:pt x="268" y="594"/>
                </a:lnTo>
                <a:lnTo>
                  <a:pt x="247" y="607"/>
                </a:lnTo>
                <a:lnTo>
                  <a:pt x="228" y="620"/>
                </a:lnTo>
                <a:lnTo>
                  <a:pt x="209" y="637"/>
                </a:lnTo>
                <a:lnTo>
                  <a:pt x="191" y="651"/>
                </a:lnTo>
                <a:lnTo>
                  <a:pt x="174" y="669"/>
                </a:lnTo>
                <a:lnTo>
                  <a:pt x="156" y="687"/>
                </a:lnTo>
                <a:lnTo>
                  <a:pt x="141" y="704"/>
                </a:lnTo>
                <a:lnTo>
                  <a:pt x="125" y="723"/>
                </a:lnTo>
                <a:lnTo>
                  <a:pt x="112" y="743"/>
                </a:lnTo>
                <a:lnTo>
                  <a:pt x="99" y="763"/>
                </a:lnTo>
                <a:lnTo>
                  <a:pt x="87" y="784"/>
                </a:lnTo>
                <a:lnTo>
                  <a:pt x="75" y="806"/>
                </a:lnTo>
                <a:lnTo>
                  <a:pt x="65" y="828"/>
                </a:lnTo>
                <a:lnTo>
                  <a:pt x="56" y="851"/>
                </a:lnTo>
                <a:lnTo>
                  <a:pt x="49" y="875"/>
                </a:lnTo>
                <a:lnTo>
                  <a:pt x="41" y="898"/>
                </a:lnTo>
                <a:lnTo>
                  <a:pt x="35" y="922"/>
                </a:lnTo>
                <a:lnTo>
                  <a:pt x="31" y="947"/>
                </a:lnTo>
                <a:lnTo>
                  <a:pt x="28" y="972"/>
                </a:lnTo>
                <a:lnTo>
                  <a:pt x="26" y="998"/>
                </a:lnTo>
                <a:lnTo>
                  <a:pt x="25" y="1024"/>
                </a:lnTo>
                <a:lnTo>
                  <a:pt x="25" y="1024"/>
                </a:lnTo>
                <a:lnTo>
                  <a:pt x="26" y="1050"/>
                </a:lnTo>
                <a:lnTo>
                  <a:pt x="28" y="1075"/>
                </a:lnTo>
                <a:lnTo>
                  <a:pt x="31" y="1100"/>
                </a:lnTo>
                <a:lnTo>
                  <a:pt x="35" y="1125"/>
                </a:lnTo>
                <a:lnTo>
                  <a:pt x="41" y="1150"/>
                </a:lnTo>
                <a:lnTo>
                  <a:pt x="49" y="1174"/>
                </a:lnTo>
                <a:lnTo>
                  <a:pt x="56" y="1197"/>
                </a:lnTo>
                <a:lnTo>
                  <a:pt x="65" y="1219"/>
                </a:lnTo>
                <a:lnTo>
                  <a:pt x="75" y="1241"/>
                </a:lnTo>
                <a:lnTo>
                  <a:pt x="87" y="1263"/>
                </a:lnTo>
                <a:lnTo>
                  <a:pt x="99" y="1284"/>
                </a:lnTo>
                <a:lnTo>
                  <a:pt x="112" y="1304"/>
                </a:lnTo>
                <a:lnTo>
                  <a:pt x="125" y="1325"/>
                </a:lnTo>
                <a:lnTo>
                  <a:pt x="141" y="1344"/>
                </a:lnTo>
                <a:lnTo>
                  <a:pt x="156" y="1362"/>
                </a:lnTo>
                <a:lnTo>
                  <a:pt x="174" y="1379"/>
                </a:lnTo>
                <a:lnTo>
                  <a:pt x="191" y="1396"/>
                </a:lnTo>
                <a:lnTo>
                  <a:pt x="209" y="1412"/>
                </a:lnTo>
                <a:lnTo>
                  <a:pt x="228" y="1427"/>
                </a:lnTo>
                <a:lnTo>
                  <a:pt x="247" y="1441"/>
                </a:lnTo>
                <a:lnTo>
                  <a:pt x="268" y="1454"/>
                </a:lnTo>
                <a:lnTo>
                  <a:pt x="288" y="1466"/>
                </a:lnTo>
                <a:lnTo>
                  <a:pt x="310" y="1477"/>
                </a:lnTo>
                <a:lnTo>
                  <a:pt x="332" y="1487"/>
                </a:lnTo>
                <a:lnTo>
                  <a:pt x="356" y="1496"/>
                </a:lnTo>
                <a:lnTo>
                  <a:pt x="379" y="1504"/>
                </a:lnTo>
                <a:lnTo>
                  <a:pt x="403" y="1510"/>
                </a:lnTo>
                <a:lnTo>
                  <a:pt x="426" y="1516"/>
                </a:lnTo>
                <a:lnTo>
                  <a:pt x="451" y="1521"/>
                </a:lnTo>
                <a:lnTo>
                  <a:pt x="476" y="1524"/>
                </a:lnTo>
                <a:lnTo>
                  <a:pt x="503" y="1527"/>
                </a:lnTo>
                <a:lnTo>
                  <a:pt x="528" y="1527"/>
                </a:lnTo>
                <a:lnTo>
                  <a:pt x="528" y="1527"/>
                </a:lnTo>
                <a:lnTo>
                  <a:pt x="554" y="1527"/>
                </a:lnTo>
                <a:lnTo>
                  <a:pt x="579" y="1524"/>
                </a:lnTo>
                <a:lnTo>
                  <a:pt x="604" y="1521"/>
                </a:lnTo>
                <a:lnTo>
                  <a:pt x="629" y="1516"/>
                </a:lnTo>
                <a:lnTo>
                  <a:pt x="654" y="1510"/>
                </a:lnTo>
                <a:lnTo>
                  <a:pt x="678" y="1504"/>
                </a:lnTo>
                <a:lnTo>
                  <a:pt x="701" y="1496"/>
                </a:lnTo>
                <a:lnTo>
                  <a:pt x="723" y="1487"/>
                </a:lnTo>
                <a:lnTo>
                  <a:pt x="746" y="1477"/>
                </a:lnTo>
                <a:lnTo>
                  <a:pt x="768" y="1466"/>
                </a:lnTo>
                <a:lnTo>
                  <a:pt x="788" y="1454"/>
                </a:lnTo>
                <a:lnTo>
                  <a:pt x="809" y="1441"/>
                </a:lnTo>
                <a:lnTo>
                  <a:pt x="829" y="1427"/>
                </a:lnTo>
                <a:lnTo>
                  <a:pt x="848" y="1412"/>
                </a:lnTo>
                <a:lnTo>
                  <a:pt x="866" y="1396"/>
                </a:lnTo>
                <a:lnTo>
                  <a:pt x="884" y="1379"/>
                </a:lnTo>
                <a:lnTo>
                  <a:pt x="900" y="1362"/>
                </a:lnTo>
                <a:lnTo>
                  <a:pt x="916" y="1344"/>
                </a:lnTo>
                <a:lnTo>
                  <a:pt x="931" y="1325"/>
                </a:lnTo>
                <a:lnTo>
                  <a:pt x="946" y="1304"/>
                </a:lnTo>
                <a:lnTo>
                  <a:pt x="957" y="1284"/>
                </a:lnTo>
                <a:lnTo>
                  <a:pt x="971" y="1263"/>
                </a:lnTo>
                <a:lnTo>
                  <a:pt x="981" y="1241"/>
                </a:lnTo>
                <a:lnTo>
                  <a:pt x="991" y="1219"/>
                </a:lnTo>
                <a:lnTo>
                  <a:pt x="1000" y="1197"/>
                </a:lnTo>
                <a:lnTo>
                  <a:pt x="1009" y="1174"/>
                </a:lnTo>
                <a:lnTo>
                  <a:pt x="1015" y="1150"/>
                </a:lnTo>
                <a:lnTo>
                  <a:pt x="1021" y="1125"/>
                </a:lnTo>
                <a:lnTo>
                  <a:pt x="1025" y="1100"/>
                </a:lnTo>
                <a:lnTo>
                  <a:pt x="1028" y="1075"/>
                </a:lnTo>
                <a:lnTo>
                  <a:pt x="1031" y="1050"/>
                </a:lnTo>
                <a:lnTo>
                  <a:pt x="1031" y="1024"/>
                </a:lnTo>
                <a:lnTo>
                  <a:pt x="1031" y="1024"/>
                </a:lnTo>
                <a:lnTo>
                  <a:pt x="1031" y="1001"/>
                </a:lnTo>
                <a:lnTo>
                  <a:pt x="1029" y="978"/>
                </a:lnTo>
                <a:lnTo>
                  <a:pt x="1026" y="956"/>
                </a:lnTo>
                <a:lnTo>
                  <a:pt x="1023" y="934"/>
                </a:lnTo>
                <a:lnTo>
                  <a:pt x="1019" y="912"/>
                </a:lnTo>
                <a:lnTo>
                  <a:pt x="1013" y="891"/>
                </a:lnTo>
                <a:lnTo>
                  <a:pt x="1007" y="869"/>
                </a:lnTo>
                <a:lnTo>
                  <a:pt x="1000" y="848"/>
                </a:lnTo>
                <a:lnTo>
                  <a:pt x="991" y="829"/>
                </a:lnTo>
                <a:lnTo>
                  <a:pt x="982" y="809"/>
                </a:lnTo>
                <a:lnTo>
                  <a:pt x="973" y="790"/>
                </a:lnTo>
                <a:lnTo>
                  <a:pt x="962" y="771"/>
                </a:lnTo>
                <a:lnTo>
                  <a:pt x="951" y="753"/>
                </a:lnTo>
                <a:lnTo>
                  <a:pt x="940" y="735"/>
                </a:lnTo>
                <a:lnTo>
                  <a:pt x="926" y="718"/>
                </a:lnTo>
                <a:lnTo>
                  <a:pt x="913" y="700"/>
                </a:lnTo>
                <a:lnTo>
                  <a:pt x="898" y="685"/>
                </a:lnTo>
                <a:lnTo>
                  <a:pt x="884" y="669"/>
                </a:lnTo>
                <a:lnTo>
                  <a:pt x="869" y="654"/>
                </a:lnTo>
                <a:lnTo>
                  <a:pt x="853" y="640"/>
                </a:lnTo>
                <a:lnTo>
                  <a:pt x="835" y="626"/>
                </a:lnTo>
                <a:lnTo>
                  <a:pt x="819" y="613"/>
                </a:lnTo>
                <a:lnTo>
                  <a:pt x="800" y="601"/>
                </a:lnTo>
                <a:lnTo>
                  <a:pt x="782" y="591"/>
                </a:lnTo>
                <a:lnTo>
                  <a:pt x="763" y="579"/>
                </a:lnTo>
                <a:lnTo>
                  <a:pt x="744" y="570"/>
                </a:lnTo>
                <a:lnTo>
                  <a:pt x="725" y="562"/>
                </a:lnTo>
                <a:lnTo>
                  <a:pt x="704" y="553"/>
                </a:lnTo>
                <a:lnTo>
                  <a:pt x="684" y="545"/>
                </a:lnTo>
                <a:lnTo>
                  <a:pt x="663" y="540"/>
                </a:lnTo>
                <a:lnTo>
                  <a:pt x="641" y="534"/>
                </a:lnTo>
                <a:lnTo>
                  <a:pt x="619" y="529"/>
                </a:lnTo>
                <a:lnTo>
                  <a:pt x="615" y="534"/>
                </a:lnTo>
                <a:lnTo>
                  <a:pt x="604" y="573"/>
                </a:lnTo>
                <a:lnTo>
                  <a:pt x="604" y="573"/>
                </a:lnTo>
                <a:lnTo>
                  <a:pt x="625" y="578"/>
                </a:lnTo>
                <a:lnTo>
                  <a:pt x="644" y="582"/>
                </a:lnTo>
                <a:lnTo>
                  <a:pt x="663" y="588"/>
                </a:lnTo>
                <a:lnTo>
                  <a:pt x="682" y="594"/>
                </a:lnTo>
                <a:lnTo>
                  <a:pt x="719" y="610"/>
                </a:lnTo>
                <a:lnTo>
                  <a:pt x="754" y="628"/>
                </a:lnTo>
                <a:lnTo>
                  <a:pt x="788" y="648"/>
                </a:lnTo>
                <a:lnTo>
                  <a:pt x="819" y="673"/>
                </a:lnTo>
                <a:lnTo>
                  <a:pt x="848" y="698"/>
                </a:lnTo>
                <a:lnTo>
                  <a:pt x="875" y="728"/>
                </a:lnTo>
                <a:lnTo>
                  <a:pt x="900" y="759"/>
                </a:lnTo>
                <a:lnTo>
                  <a:pt x="921" y="793"/>
                </a:lnTo>
                <a:lnTo>
                  <a:pt x="940" y="826"/>
                </a:lnTo>
                <a:lnTo>
                  <a:pt x="956" y="863"/>
                </a:lnTo>
                <a:lnTo>
                  <a:pt x="962" y="882"/>
                </a:lnTo>
                <a:lnTo>
                  <a:pt x="968" y="901"/>
                </a:lnTo>
                <a:lnTo>
                  <a:pt x="973" y="922"/>
                </a:lnTo>
                <a:lnTo>
                  <a:pt x="976" y="941"/>
                </a:lnTo>
                <a:lnTo>
                  <a:pt x="981" y="962"/>
                </a:lnTo>
                <a:lnTo>
                  <a:pt x="982" y="982"/>
                </a:lnTo>
                <a:lnTo>
                  <a:pt x="984" y="1003"/>
                </a:lnTo>
                <a:lnTo>
                  <a:pt x="985" y="1024"/>
                </a:lnTo>
                <a:lnTo>
                  <a:pt x="985" y="1024"/>
                </a:lnTo>
                <a:lnTo>
                  <a:pt x="984" y="1047"/>
                </a:lnTo>
                <a:lnTo>
                  <a:pt x="982" y="1071"/>
                </a:lnTo>
                <a:lnTo>
                  <a:pt x="979" y="1093"/>
                </a:lnTo>
                <a:lnTo>
                  <a:pt x="975" y="1116"/>
                </a:lnTo>
                <a:lnTo>
                  <a:pt x="971" y="1138"/>
                </a:lnTo>
                <a:lnTo>
                  <a:pt x="965" y="1159"/>
                </a:lnTo>
                <a:lnTo>
                  <a:pt x="957" y="1181"/>
                </a:lnTo>
                <a:lnTo>
                  <a:pt x="948" y="1201"/>
                </a:lnTo>
                <a:lnTo>
                  <a:pt x="940" y="1222"/>
                </a:lnTo>
                <a:lnTo>
                  <a:pt x="929" y="1241"/>
                </a:lnTo>
                <a:lnTo>
                  <a:pt x="919" y="1260"/>
                </a:lnTo>
                <a:lnTo>
                  <a:pt x="907" y="1279"/>
                </a:lnTo>
                <a:lnTo>
                  <a:pt x="894" y="1297"/>
                </a:lnTo>
                <a:lnTo>
                  <a:pt x="881" y="1315"/>
                </a:lnTo>
                <a:lnTo>
                  <a:pt x="866" y="1331"/>
                </a:lnTo>
                <a:lnTo>
                  <a:pt x="851" y="1347"/>
                </a:lnTo>
                <a:lnTo>
                  <a:pt x="835" y="1362"/>
                </a:lnTo>
                <a:lnTo>
                  <a:pt x="819" y="1377"/>
                </a:lnTo>
                <a:lnTo>
                  <a:pt x="801" y="1390"/>
                </a:lnTo>
                <a:lnTo>
                  <a:pt x="784" y="1403"/>
                </a:lnTo>
                <a:lnTo>
                  <a:pt x="765" y="1415"/>
                </a:lnTo>
                <a:lnTo>
                  <a:pt x="746" y="1425"/>
                </a:lnTo>
                <a:lnTo>
                  <a:pt x="726" y="1435"/>
                </a:lnTo>
                <a:lnTo>
                  <a:pt x="706" y="1444"/>
                </a:lnTo>
                <a:lnTo>
                  <a:pt x="685" y="1453"/>
                </a:lnTo>
                <a:lnTo>
                  <a:pt x="663" y="1460"/>
                </a:lnTo>
                <a:lnTo>
                  <a:pt x="643" y="1466"/>
                </a:lnTo>
                <a:lnTo>
                  <a:pt x="621" y="1471"/>
                </a:lnTo>
                <a:lnTo>
                  <a:pt x="597" y="1475"/>
                </a:lnTo>
                <a:lnTo>
                  <a:pt x="575" y="1478"/>
                </a:lnTo>
                <a:lnTo>
                  <a:pt x="551" y="1479"/>
                </a:lnTo>
                <a:lnTo>
                  <a:pt x="528" y="1481"/>
                </a:lnTo>
                <a:lnTo>
                  <a:pt x="528" y="1481"/>
                </a:lnTo>
                <a:lnTo>
                  <a:pt x="504" y="1479"/>
                </a:lnTo>
                <a:lnTo>
                  <a:pt x="482" y="1478"/>
                </a:lnTo>
                <a:lnTo>
                  <a:pt x="459" y="1475"/>
                </a:lnTo>
                <a:lnTo>
                  <a:pt x="437" y="1471"/>
                </a:lnTo>
                <a:lnTo>
                  <a:pt x="415" y="1466"/>
                </a:lnTo>
                <a:lnTo>
                  <a:pt x="393" y="1460"/>
                </a:lnTo>
                <a:lnTo>
                  <a:pt x="372" y="1453"/>
                </a:lnTo>
                <a:lnTo>
                  <a:pt x="351" y="1444"/>
                </a:lnTo>
                <a:lnTo>
                  <a:pt x="331" y="1435"/>
                </a:lnTo>
                <a:lnTo>
                  <a:pt x="310" y="1425"/>
                </a:lnTo>
                <a:lnTo>
                  <a:pt x="291" y="1415"/>
                </a:lnTo>
                <a:lnTo>
                  <a:pt x="274" y="1403"/>
                </a:lnTo>
                <a:lnTo>
                  <a:pt x="256" y="1390"/>
                </a:lnTo>
                <a:lnTo>
                  <a:pt x="238" y="1377"/>
                </a:lnTo>
                <a:lnTo>
                  <a:pt x="222" y="1362"/>
                </a:lnTo>
                <a:lnTo>
                  <a:pt x="206" y="1347"/>
                </a:lnTo>
                <a:lnTo>
                  <a:pt x="191" y="1331"/>
                </a:lnTo>
                <a:lnTo>
                  <a:pt x="176" y="1315"/>
                </a:lnTo>
                <a:lnTo>
                  <a:pt x="163" y="1297"/>
                </a:lnTo>
                <a:lnTo>
                  <a:pt x="150" y="1279"/>
                </a:lnTo>
                <a:lnTo>
                  <a:pt x="138" y="1260"/>
                </a:lnTo>
                <a:lnTo>
                  <a:pt x="126" y="1241"/>
                </a:lnTo>
                <a:lnTo>
                  <a:pt x="118" y="1222"/>
                </a:lnTo>
                <a:lnTo>
                  <a:pt x="107" y="1201"/>
                </a:lnTo>
                <a:lnTo>
                  <a:pt x="100" y="1181"/>
                </a:lnTo>
                <a:lnTo>
                  <a:pt x="93" y="1159"/>
                </a:lnTo>
                <a:lnTo>
                  <a:pt x="87" y="1138"/>
                </a:lnTo>
                <a:lnTo>
                  <a:pt x="81" y="1116"/>
                </a:lnTo>
                <a:lnTo>
                  <a:pt x="76" y="1093"/>
                </a:lnTo>
                <a:lnTo>
                  <a:pt x="74" y="1071"/>
                </a:lnTo>
                <a:lnTo>
                  <a:pt x="72" y="1047"/>
                </a:lnTo>
                <a:lnTo>
                  <a:pt x="72" y="1024"/>
                </a:lnTo>
                <a:lnTo>
                  <a:pt x="72" y="1024"/>
                </a:lnTo>
                <a:lnTo>
                  <a:pt x="72" y="1000"/>
                </a:lnTo>
                <a:lnTo>
                  <a:pt x="74" y="978"/>
                </a:lnTo>
                <a:lnTo>
                  <a:pt x="76" y="954"/>
                </a:lnTo>
                <a:lnTo>
                  <a:pt x="81" y="932"/>
                </a:lnTo>
                <a:lnTo>
                  <a:pt x="87" y="910"/>
                </a:lnTo>
                <a:lnTo>
                  <a:pt x="93" y="888"/>
                </a:lnTo>
                <a:lnTo>
                  <a:pt x="100" y="868"/>
                </a:lnTo>
                <a:lnTo>
                  <a:pt x="107" y="847"/>
                </a:lnTo>
                <a:lnTo>
                  <a:pt x="118" y="826"/>
                </a:lnTo>
                <a:lnTo>
                  <a:pt x="126" y="806"/>
                </a:lnTo>
                <a:lnTo>
                  <a:pt x="138" y="787"/>
                </a:lnTo>
                <a:lnTo>
                  <a:pt x="150" y="769"/>
                </a:lnTo>
                <a:lnTo>
                  <a:pt x="163" y="751"/>
                </a:lnTo>
                <a:lnTo>
                  <a:pt x="176" y="734"/>
                </a:lnTo>
                <a:lnTo>
                  <a:pt x="191" y="718"/>
                </a:lnTo>
                <a:lnTo>
                  <a:pt x="206" y="701"/>
                </a:lnTo>
                <a:lnTo>
                  <a:pt x="222" y="687"/>
                </a:lnTo>
                <a:lnTo>
                  <a:pt x="238" y="672"/>
                </a:lnTo>
                <a:lnTo>
                  <a:pt x="256" y="659"/>
                </a:lnTo>
                <a:lnTo>
                  <a:pt x="274" y="645"/>
                </a:lnTo>
                <a:lnTo>
                  <a:pt x="291" y="634"/>
                </a:lnTo>
                <a:lnTo>
                  <a:pt x="310" y="622"/>
                </a:lnTo>
                <a:lnTo>
                  <a:pt x="331" y="613"/>
                </a:lnTo>
                <a:lnTo>
                  <a:pt x="351" y="603"/>
                </a:lnTo>
                <a:lnTo>
                  <a:pt x="372" y="595"/>
                </a:lnTo>
                <a:lnTo>
                  <a:pt x="393" y="588"/>
                </a:lnTo>
                <a:lnTo>
                  <a:pt x="415" y="582"/>
                </a:lnTo>
                <a:lnTo>
                  <a:pt x="437" y="576"/>
                </a:lnTo>
                <a:lnTo>
                  <a:pt x="459" y="573"/>
                </a:lnTo>
                <a:lnTo>
                  <a:pt x="482" y="570"/>
                </a:lnTo>
                <a:lnTo>
                  <a:pt x="504" y="568"/>
                </a:lnTo>
                <a:lnTo>
                  <a:pt x="528" y="568"/>
                </a:lnTo>
                <a:lnTo>
                  <a:pt x="528" y="568"/>
                </a:lnTo>
                <a:lnTo>
                  <a:pt x="563" y="569"/>
                </a:lnTo>
                <a:lnTo>
                  <a:pt x="576" y="523"/>
                </a:lnTo>
                <a:lnTo>
                  <a:pt x="576" y="216"/>
                </a:lnTo>
                <a:lnTo>
                  <a:pt x="575" y="169"/>
                </a:lnTo>
                <a:lnTo>
                  <a:pt x="575" y="169"/>
                </a:lnTo>
                <a:lnTo>
                  <a:pt x="537" y="167"/>
                </a:lnTo>
                <a:lnTo>
                  <a:pt x="500" y="165"/>
                </a:lnTo>
                <a:lnTo>
                  <a:pt x="463" y="162"/>
                </a:lnTo>
                <a:lnTo>
                  <a:pt x="426" y="156"/>
                </a:lnTo>
                <a:lnTo>
                  <a:pt x="390" y="148"/>
                </a:lnTo>
                <a:lnTo>
                  <a:pt x="354" y="141"/>
                </a:lnTo>
                <a:lnTo>
                  <a:pt x="319" y="132"/>
                </a:lnTo>
                <a:lnTo>
                  <a:pt x="285" y="122"/>
                </a:lnTo>
                <a:lnTo>
                  <a:pt x="250" y="110"/>
                </a:lnTo>
                <a:lnTo>
                  <a:pt x="216" y="98"/>
                </a:lnTo>
                <a:lnTo>
                  <a:pt x="184" y="85"/>
                </a:lnTo>
                <a:lnTo>
                  <a:pt x="151" y="70"/>
                </a:lnTo>
                <a:lnTo>
                  <a:pt x="119" y="54"/>
                </a:lnTo>
                <a:lnTo>
                  <a:pt x="88" y="37"/>
                </a:lnTo>
                <a:lnTo>
                  <a:pt x="57" y="19"/>
                </a:lnTo>
                <a:lnTo>
                  <a:pt x="26" y="0"/>
                </a:lnTo>
                <a:lnTo>
                  <a:pt x="26" y="0"/>
                </a:lnTo>
                <a:close/>
              </a:path>
            </a:pathLst>
          </a:custGeom>
          <a:solidFill>
            <a:srgbClr val="5D6E93"/>
          </a:solidFill>
          <a:ln w="1588">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 name="Freeform 6"/>
          <p:cNvSpPr>
            <a:spLocks/>
          </p:cNvSpPr>
          <p:nvPr/>
        </p:nvSpPr>
        <p:spPr bwMode="auto">
          <a:xfrm>
            <a:off x="2213020" y="3679032"/>
            <a:ext cx="2781836" cy="2592980"/>
          </a:xfrm>
          <a:custGeom>
            <a:avLst/>
            <a:gdLst>
              <a:gd name="T0" fmla="*/ 41 w 1557"/>
              <a:gd name="T1" fmla="*/ 195 h 1451"/>
              <a:gd name="T2" fmla="*/ 203 w 1557"/>
              <a:gd name="T3" fmla="*/ 172 h 1451"/>
              <a:gd name="T4" fmla="*/ 357 w 1557"/>
              <a:gd name="T5" fmla="*/ 128 h 1451"/>
              <a:gd name="T6" fmla="*/ 500 w 1557"/>
              <a:gd name="T7" fmla="*/ 62 h 1451"/>
              <a:gd name="T8" fmla="*/ 700 w 1557"/>
              <a:gd name="T9" fmla="*/ 592 h 1451"/>
              <a:gd name="T10" fmla="*/ 610 w 1557"/>
              <a:gd name="T11" fmla="*/ 711 h 1451"/>
              <a:gd name="T12" fmla="*/ 560 w 1557"/>
              <a:gd name="T13" fmla="*/ 853 h 1451"/>
              <a:gd name="T14" fmla="*/ 551 w 1557"/>
              <a:gd name="T15" fmla="*/ 974 h 1451"/>
              <a:gd name="T16" fmla="*/ 574 w 1557"/>
              <a:gd name="T17" fmla="*/ 1098 h 1451"/>
              <a:gd name="T18" fmla="*/ 624 w 1557"/>
              <a:gd name="T19" fmla="*/ 1208 h 1451"/>
              <a:gd name="T20" fmla="*/ 699 w 1557"/>
              <a:gd name="T21" fmla="*/ 1304 h 1451"/>
              <a:gd name="T22" fmla="*/ 794 w 1557"/>
              <a:gd name="T23" fmla="*/ 1377 h 1451"/>
              <a:gd name="T24" fmla="*/ 904 w 1557"/>
              <a:gd name="T25" fmla="*/ 1429 h 1451"/>
              <a:gd name="T26" fmla="*/ 1028 w 1557"/>
              <a:gd name="T27" fmla="*/ 1451 h 1451"/>
              <a:gd name="T28" fmla="*/ 1131 w 1557"/>
              <a:gd name="T29" fmla="*/ 1445 h 1451"/>
              <a:gd name="T30" fmla="*/ 1250 w 1557"/>
              <a:gd name="T31" fmla="*/ 1411 h 1451"/>
              <a:gd name="T32" fmla="*/ 1354 w 1557"/>
              <a:gd name="T33" fmla="*/ 1351 h 1451"/>
              <a:gd name="T34" fmla="*/ 1441 w 1557"/>
              <a:gd name="T35" fmla="*/ 1267 h 1451"/>
              <a:gd name="T36" fmla="*/ 1507 w 1557"/>
              <a:gd name="T37" fmla="*/ 1165 h 1451"/>
              <a:gd name="T38" fmla="*/ 1547 w 1557"/>
              <a:gd name="T39" fmla="*/ 1049 h 1451"/>
              <a:gd name="T40" fmla="*/ 1557 w 1557"/>
              <a:gd name="T41" fmla="*/ 948 h 1451"/>
              <a:gd name="T42" fmla="*/ 1541 w 1557"/>
              <a:gd name="T43" fmla="*/ 823 h 1451"/>
              <a:gd name="T44" fmla="*/ 1496 w 1557"/>
              <a:gd name="T45" fmla="*/ 708 h 1451"/>
              <a:gd name="T46" fmla="*/ 1426 w 1557"/>
              <a:gd name="T47" fmla="*/ 609 h 1451"/>
              <a:gd name="T48" fmla="*/ 1335 w 1557"/>
              <a:gd name="T49" fmla="*/ 531 h 1451"/>
              <a:gd name="T50" fmla="*/ 1226 w 1557"/>
              <a:gd name="T51" fmla="*/ 475 h 1451"/>
              <a:gd name="T52" fmla="*/ 1106 w 1557"/>
              <a:gd name="T53" fmla="*/ 448 h 1451"/>
              <a:gd name="T54" fmla="*/ 1001 w 1557"/>
              <a:gd name="T55" fmla="*/ 448 h 1451"/>
              <a:gd name="T56" fmla="*/ 875 w 1557"/>
              <a:gd name="T57" fmla="*/ 478 h 1451"/>
              <a:gd name="T58" fmla="*/ 893 w 1557"/>
              <a:gd name="T59" fmla="*/ 521 h 1451"/>
              <a:gd name="T60" fmla="*/ 1006 w 1557"/>
              <a:gd name="T61" fmla="*/ 495 h 1451"/>
              <a:gd name="T62" fmla="*/ 1100 w 1557"/>
              <a:gd name="T63" fmla="*/ 493 h 1451"/>
              <a:gd name="T64" fmla="*/ 1210 w 1557"/>
              <a:gd name="T65" fmla="*/ 520 h 1451"/>
              <a:gd name="T66" fmla="*/ 1309 w 1557"/>
              <a:gd name="T67" fmla="*/ 570 h 1451"/>
              <a:gd name="T68" fmla="*/ 1391 w 1557"/>
              <a:gd name="T69" fmla="*/ 642 h 1451"/>
              <a:gd name="T70" fmla="*/ 1456 w 1557"/>
              <a:gd name="T71" fmla="*/ 730 h 1451"/>
              <a:gd name="T72" fmla="*/ 1496 w 1557"/>
              <a:gd name="T73" fmla="*/ 834 h 1451"/>
              <a:gd name="T74" fmla="*/ 1510 w 1557"/>
              <a:gd name="T75" fmla="*/ 948 h 1451"/>
              <a:gd name="T76" fmla="*/ 1501 w 1557"/>
              <a:gd name="T77" fmla="*/ 1040 h 1451"/>
              <a:gd name="T78" fmla="*/ 1465 w 1557"/>
              <a:gd name="T79" fmla="*/ 1146 h 1451"/>
              <a:gd name="T80" fmla="*/ 1406 w 1557"/>
              <a:gd name="T81" fmla="*/ 1237 h 1451"/>
              <a:gd name="T82" fmla="*/ 1326 w 1557"/>
              <a:gd name="T83" fmla="*/ 1314 h 1451"/>
              <a:gd name="T84" fmla="*/ 1231 w 1557"/>
              <a:gd name="T85" fmla="*/ 1368 h 1451"/>
              <a:gd name="T86" fmla="*/ 1124 w 1557"/>
              <a:gd name="T87" fmla="*/ 1399 h 1451"/>
              <a:gd name="T88" fmla="*/ 1031 w 1557"/>
              <a:gd name="T89" fmla="*/ 1404 h 1451"/>
              <a:gd name="T90" fmla="*/ 919 w 1557"/>
              <a:gd name="T91" fmla="*/ 1384 h 1451"/>
              <a:gd name="T92" fmla="*/ 818 w 1557"/>
              <a:gd name="T93" fmla="*/ 1339 h 1451"/>
              <a:gd name="T94" fmla="*/ 731 w 1557"/>
              <a:gd name="T95" fmla="*/ 1271 h 1451"/>
              <a:gd name="T96" fmla="*/ 663 w 1557"/>
              <a:gd name="T97" fmla="*/ 1184 h 1451"/>
              <a:gd name="T98" fmla="*/ 618 w 1557"/>
              <a:gd name="T99" fmla="*/ 1083 h 1451"/>
              <a:gd name="T100" fmla="*/ 599 w 1557"/>
              <a:gd name="T101" fmla="*/ 971 h 1451"/>
              <a:gd name="T102" fmla="*/ 607 w 1557"/>
              <a:gd name="T103" fmla="*/ 855 h 1451"/>
              <a:gd name="T104" fmla="*/ 662 w 1557"/>
              <a:gd name="T105" fmla="*/ 715 h 1451"/>
              <a:gd name="T106" fmla="*/ 756 w 1557"/>
              <a:gd name="T107" fmla="*/ 602 h 1451"/>
              <a:gd name="T108" fmla="*/ 541 w 1557"/>
              <a:gd name="T109" fmla="*/ 39 h 1451"/>
              <a:gd name="T110" fmla="*/ 428 w 1557"/>
              <a:gd name="T111" fmla="*/ 47 h 1451"/>
              <a:gd name="T112" fmla="*/ 274 w 1557"/>
              <a:gd name="T113" fmla="*/ 108 h 1451"/>
              <a:gd name="T114" fmla="*/ 107 w 1557"/>
              <a:gd name="T115" fmla="*/ 142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57" h="1451">
                <a:moveTo>
                  <a:pt x="4" y="149"/>
                </a:moveTo>
                <a:lnTo>
                  <a:pt x="0" y="156"/>
                </a:lnTo>
                <a:lnTo>
                  <a:pt x="7" y="196"/>
                </a:lnTo>
                <a:lnTo>
                  <a:pt x="7" y="196"/>
                </a:lnTo>
                <a:lnTo>
                  <a:pt x="41" y="195"/>
                </a:lnTo>
                <a:lnTo>
                  <a:pt x="75" y="192"/>
                </a:lnTo>
                <a:lnTo>
                  <a:pt x="107" y="189"/>
                </a:lnTo>
                <a:lnTo>
                  <a:pt x="140" y="184"/>
                </a:lnTo>
                <a:lnTo>
                  <a:pt x="172" y="178"/>
                </a:lnTo>
                <a:lnTo>
                  <a:pt x="203" y="172"/>
                </a:lnTo>
                <a:lnTo>
                  <a:pt x="235" y="165"/>
                </a:lnTo>
                <a:lnTo>
                  <a:pt x="266" y="158"/>
                </a:lnTo>
                <a:lnTo>
                  <a:pt x="297" y="149"/>
                </a:lnTo>
                <a:lnTo>
                  <a:pt x="327" y="139"/>
                </a:lnTo>
                <a:lnTo>
                  <a:pt x="357" y="128"/>
                </a:lnTo>
                <a:lnTo>
                  <a:pt x="387" y="117"/>
                </a:lnTo>
                <a:lnTo>
                  <a:pt x="416" y="105"/>
                </a:lnTo>
                <a:lnTo>
                  <a:pt x="444" y="92"/>
                </a:lnTo>
                <a:lnTo>
                  <a:pt x="474" y="77"/>
                </a:lnTo>
                <a:lnTo>
                  <a:pt x="500" y="62"/>
                </a:lnTo>
                <a:lnTo>
                  <a:pt x="769" y="534"/>
                </a:lnTo>
                <a:lnTo>
                  <a:pt x="769" y="534"/>
                </a:lnTo>
                <a:lnTo>
                  <a:pt x="744" y="552"/>
                </a:lnTo>
                <a:lnTo>
                  <a:pt x="722" y="571"/>
                </a:lnTo>
                <a:lnTo>
                  <a:pt x="700" y="592"/>
                </a:lnTo>
                <a:lnTo>
                  <a:pt x="679" y="614"/>
                </a:lnTo>
                <a:lnTo>
                  <a:pt x="660" y="636"/>
                </a:lnTo>
                <a:lnTo>
                  <a:pt x="643" y="659"/>
                </a:lnTo>
                <a:lnTo>
                  <a:pt x="626" y="684"/>
                </a:lnTo>
                <a:lnTo>
                  <a:pt x="610" y="711"/>
                </a:lnTo>
                <a:lnTo>
                  <a:pt x="597" y="737"/>
                </a:lnTo>
                <a:lnTo>
                  <a:pt x="585" y="765"/>
                </a:lnTo>
                <a:lnTo>
                  <a:pt x="575" y="795"/>
                </a:lnTo>
                <a:lnTo>
                  <a:pt x="566" y="824"/>
                </a:lnTo>
                <a:lnTo>
                  <a:pt x="560" y="853"/>
                </a:lnTo>
                <a:lnTo>
                  <a:pt x="556" y="884"/>
                </a:lnTo>
                <a:lnTo>
                  <a:pt x="553" y="917"/>
                </a:lnTo>
                <a:lnTo>
                  <a:pt x="551" y="948"/>
                </a:lnTo>
                <a:lnTo>
                  <a:pt x="551" y="948"/>
                </a:lnTo>
                <a:lnTo>
                  <a:pt x="551" y="974"/>
                </a:lnTo>
                <a:lnTo>
                  <a:pt x="554" y="999"/>
                </a:lnTo>
                <a:lnTo>
                  <a:pt x="557" y="1024"/>
                </a:lnTo>
                <a:lnTo>
                  <a:pt x="562" y="1049"/>
                </a:lnTo>
                <a:lnTo>
                  <a:pt x="568" y="1074"/>
                </a:lnTo>
                <a:lnTo>
                  <a:pt x="574" y="1098"/>
                </a:lnTo>
                <a:lnTo>
                  <a:pt x="582" y="1121"/>
                </a:lnTo>
                <a:lnTo>
                  <a:pt x="591" y="1143"/>
                </a:lnTo>
                <a:lnTo>
                  <a:pt x="601" y="1165"/>
                </a:lnTo>
                <a:lnTo>
                  <a:pt x="612" y="1187"/>
                </a:lnTo>
                <a:lnTo>
                  <a:pt x="624" y="1208"/>
                </a:lnTo>
                <a:lnTo>
                  <a:pt x="637" y="1229"/>
                </a:lnTo>
                <a:lnTo>
                  <a:pt x="651" y="1249"/>
                </a:lnTo>
                <a:lnTo>
                  <a:pt x="666" y="1267"/>
                </a:lnTo>
                <a:lnTo>
                  <a:pt x="682" y="1286"/>
                </a:lnTo>
                <a:lnTo>
                  <a:pt x="699" y="1304"/>
                </a:lnTo>
                <a:lnTo>
                  <a:pt x="716" y="1320"/>
                </a:lnTo>
                <a:lnTo>
                  <a:pt x="734" y="1336"/>
                </a:lnTo>
                <a:lnTo>
                  <a:pt x="753" y="1351"/>
                </a:lnTo>
                <a:lnTo>
                  <a:pt x="774" y="1365"/>
                </a:lnTo>
                <a:lnTo>
                  <a:pt x="794" y="1377"/>
                </a:lnTo>
                <a:lnTo>
                  <a:pt x="815" y="1390"/>
                </a:lnTo>
                <a:lnTo>
                  <a:pt x="837" y="1401"/>
                </a:lnTo>
                <a:lnTo>
                  <a:pt x="859" y="1411"/>
                </a:lnTo>
                <a:lnTo>
                  <a:pt x="881" y="1420"/>
                </a:lnTo>
                <a:lnTo>
                  <a:pt x="904" y="1429"/>
                </a:lnTo>
                <a:lnTo>
                  <a:pt x="928" y="1434"/>
                </a:lnTo>
                <a:lnTo>
                  <a:pt x="953" y="1440"/>
                </a:lnTo>
                <a:lnTo>
                  <a:pt x="978" y="1445"/>
                </a:lnTo>
                <a:lnTo>
                  <a:pt x="1003" y="1448"/>
                </a:lnTo>
                <a:lnTo>
                  <a:pt x="1028" y="1451"/>
                </a:lnTo>
                <a:lnTo>
                  <a:pt x="1054" y="1451"/>
                </a:lnTo>
                <a:lnTo>
                  <a:pt x="1054" y="1451"/>
                </a:lnTo>
                <a:lnTo>
                  <a:pt x="1079" y="1451"/>
                </a:lnTo>
                <a:lnTo>
                  <a:pt x="1106" y="1448"/>
                </a:lnTo>
                <a:lnTo>
                  <a:pt x="1131" y="1445"/>
                </a:lnTo>
                <a:lnTo>
                  <a:pt x="1156" y="1440"/>
                </a:lnTo>
                <a:lnTo>
                  <a:pt x="1179" y="1434"/>
                </a:lnTo>
                <a:lnTo>
                  <a:pt x="1203" y="1429"/>
                </a:lnTo>
                <a:lnTo>
                  <a:pt x="1226" y="1420"/>
                </a:lnTo>
                <a:lnTo>
                  <a:pt x="1250" y="1411"/>
                </a:lnTo>
                <a:lnTo>
                  <a:pt x="1272" y="1401"/>
                </a:lnTo>
                <a:lnTo>
                  <a:pt x="1294" y="1390"/>
                </a:lnTo>
                <a:lnTo>
                  <a:pt x="1315" y="1377"/>
                </a:lnTo>
                <a:lnTo>
                  <a:pt x="1335" y="1365"/>
                </a:lnTo>
                <a:lnTo>
                  <a:pt x="1354" y="1351"/>
                </a:lnTo>
                <a:lnTo>
                  <a:pt x="1373" y="1336"/>
                </a:lnTo>
                <a:lnTo>
                  <a:pt x="1391" y="1320"/>
                </a:lnTo>
                <a:lnTo>
                  <a:pt x="1409" y="1304"/>
                </a:lnTo>
                <a:lnTo>
                  <a:pt x="1426" y="1286"/>
                </a:lnTo>
                <a:lnTo>
                  <a:pt x="1441" y="1267"/>
                </a:lnTo>
                <a:lnTo>
                  <a:pt x="1457" y="1249"/>
                </a:lnTo>
                <a:lnTo>
                  <a:pt x="1471" y="1229"/>
                </a:lnTo>
                <a:lnTo>
                  <a:pt x="1484" y="1208"/>
                </a:lnTo>
                <a:lnTo>
                  <a:pt x="1496" y="1187"/>
                </a:lnTo>
                <a:lnTo>
                  <a:pt x="1507" y="1165"/>
                </a:lnTo>
                <a:lnTo>
                  <a:pt x="1518" y="1143"/>
                </a:lnTo>
                <a:lnTo>
                  <a:pt x="1526" y="1121"/>
                </a:lnTo>
                <a:lnTo>
                  <a:pt x="1534" y="1098"/>
                </a:lnTo>
                <a:lnTo>
                  <a:pt x="1541" y="1074"/>
                </a:lnTo>
                <a:lnTo>
                  <a:pt x="1547" y="1049"/>
                </a:lnTo>
                <a:lnTo>
                  <a:pt x="1551" y="1024"/>
                </a:lnTo>
                <a:lnTo>
                  <a:pt x="1554" y="999"/>
                </a:lnTo>
                <a:lnTo>
                  <a:pt x="1556" y="974"/>
                </a:lnTo>
                <a:lnTo>
                  <a:pt x="1557" y="948"/>
                </a:lnTo>
                <a:lnTo>
                  <a:pt x="1557" y="948"/>
                </a:lnTo>
                <a:lnTo>
                  <a:pt x="1556" y="923"/>
                </a:lnTo>
                <a:lnTo>
                  <a:pt x="1554" y="896"/>
                </a:lnTo>
                <a:lnTo>
                  <a:pt x="1551" y="871"/>
                </a:lnTo>
                <a:lnTo>
                  <a:pt x="1547" y="846"/>
                </a:lnTo>
                <a:lnTo>
                  <a:pt x="1541" y="823"/>
                </a:lnTo>
                <a:lnTo>
                  <a:pt x="1534" y="799"/>
                </a:lnTo>
                <a:lnTo>
                  <a:pt x="1526" y="776"/>
                </a:lnTo>
                <a:lnTo>
                  <a:pt x="1518" y="752"/>
                </a:lnTo>
                <a:lnTo>
                  <a:pt x="1507" y="730"/>
                </a:lnTo>
                <a:lnTo>
                  <a:pt x="1496" y="708"/>
                </a:lnTo>
                <a:lnTo>
                  <a:pt x="1484" y="687"/>
                </a:lnTo>
                <a:lnTo>
                  <a:pt x="1471" y="667"/>
                </a:lnTo>
                <a:lnTo>
                  <a:pt x="1457" y="648"/>
                </a:lnTo>
                <a:lnTo>
                  <a:pt x="1441" y="628"/>
                </a:lnTo>
                <a:lnTo>
                  <a:pt x="1426" y="609"/>
                </a:lnTo>
                <a:lnTo>
                  <a:pt x="1409" y="593"/>
                </a:lnTo>
                <a:lnTo>
                  <a:pt x="1391" y="575"/>
                </a:lnTo>
                <a:lnTo>
                  <a:pt x="1373" y="561"/>
                </a:lnTo>
                <a:lnTo>
                  <a:pt x="1354" y="545"/>
                </a:lnTo>
                <a:lnTo>
                  <a:pt x="1335" y="531"/>
                </a:lnTo>
                <a:lnTo>
                  <a:pt x="1315" y="518"/>
                </a:lnTo>
                <a:lnTo>
                  <a:pt x="1294" y="506"/>
                </a:lnTo>
                <a:lnTo>
                  <a:pt x="1272" y="495"/>
                </a:lnTo>
                <a:lnTo>
                  <a:pt x="1250" y="484"/>
                </a:lnTo>
                <a:lnTo>
                  <a:pt x="1226" y="475"/>
                </a:lnTo>
                <a:lnTo>
                  <a:pt x="1203" y="468"/>
                </a:lnTo>
                <a:lnTo>
                  <a:pt x="1179" y="461"/>
                </a:lnTo>
                <a:lnTo>
                  <a:pt x="1156" y="455"/>
                </a:lnTo>
                <a:lnTo>
                  <a:pt x="1131" y="450"/>
                </a:lnTo>
                <a:lnTo>
                  <a:pt x="1106" y="448"/>
                </a:lnTo>
                <a:lnTo>
                  <a:pt x="1079" y="446"/>
                </a:lnTo>
                <a:lnTo>
                  <a:pt x="1054" y="445"/>
                </a:lnTo>
                <a:lnTo>
                  <a:pt x="1054" y="445"/>
                </a:lnTo>
                <a:lnTo>
                  <a:pt x="1028" y="446"/>
                </a:lnTo>
                <a:lnTo>
                  <a:pt x="1001" y="448"/>
                </a:lnTo>
                <a:lnTo>
                  <a:pt x="975" y="452"/>
                </a:lnTo>
                <a:lnTo>
                  <a:pt x="950" y="456"/>
                </a:lnTo>
                <a:lnTo>
                  <a:pt x="924" y="462"/>
                </a:lnTo>
                <a:lnTo>
                  <a:pt x="900" y="470"/>
                </a:lnTo>
                <a:lnTo>
                  <a:pt x="875" y="478"/>
                </a:lnTo>
                <a:lnTo>
                  <a:pt x="851" y="487"/>
                </a:lnTo>
                <a:lnTo>
                  <a:pt x="851" y="490"/>
                </a:lnTo>
                <a:lnTo>
                  <a:pt x="872" y="530"/>
                </a:lnTo>
                <a:lnTo>
                  <a:pt x="872" y="530"/>
                </a:lnTo>
                <a:lnTo>
                  <a:pt x="893" y="521"/>
                </a:lnTo>
                <a:lnTo>
                  <a:pt x="915" y="514"/>
                </a:lnTo>
                <a:lnTo>
                  <a:pt x="937" y="506"/>
                </a:lnTo>
                <a:lnTo>
                  <a:pt x="959" y="502"/>
                </a:lnTo>
                <a:lnTo>
                  <a:pt x="982" y="498"/>
                </a:lnTo>
                <a:lnTo>
                  <a:pt x="1006" y="495"/>
                </a:lnTo>
                <a:lnTo>
                  <a:pt x="1029" y="492"/>
                </a:lnTo>
                <a:lnTo>
                  <a:pt x="1054" y="492"/>
                </a:lnTo>
                <a:lnTo>
                  <a:pt x="1054" y="492"/>
                </a:lnTo>
                <a:lnTo>
                  <a:pt x="1078" y="492"/>
                </a:lnTo>
                <a:lnTo>
                  <a:pt x="1100" y="493"/>
                </a:lnTo>
                <a:lnTo>
                  <a:pt x="1124" y="496"/>
                </a:lnTo>
                <a:lnTo>
                  <a:pt x="1146" y="500"/>
                </a:lnTo>
                <a:lnTo>
                  <a:pt x="1168" y="506"/>
                </a:lnTo>
                <a:lnTo>
                  <a:pt x="1190" y="512"/>
                </a:lnTo>
                <a:lnTo>
                  <a:pt x="1210" y="520"/>
                </a:lnTo>
                <a:lnTo>
                  <a:pt x="1231" y="527"/>
                </a:lnTo>
                <a:lnTo>
                  <a:pt x="1251" y="536"/>
                </a:lnTo>
                <a:lnTo>
                  <a:pt x="1272" y="546"/>
                </a:lnTo>
                <a:lnTo>
                  <a:pt x="1291" y="558"/>
                </a:lnTo>
                <a:lnTo>
                  <a:pt x="1309" y="570"/>
                </a:lnTo>
                <a:lnTo>
                  <a:pt x="1326" y="583"/>
                </a:lnTo>
                <a:lnTo>
                  <a:pt x="1344" y="596"/>
                </a:lnTo>
                <a:lnTo>
                  <a:pt x="1360" y="611"/>
                </a:lnTo>
                <a:lnTo>
                  <a:pt x="1376" y="625"/>
                </a:lnTo>
                <a:lnTo>
                  <a:pt x="1391" y="642"/>
                </a:lnTo>
                <a:lnTo>
                  <a:pt x="1406" y="658"/>
                </a:lnTo>
                <a:lnTo>
                  <a:pt x="1419" y="676"/>
                </a:lnTo>
                <a:lnTo>
                  <a:pt x="1432" y="693"/>
                </a:lnTo>
                <a:lnTo>
                  <a:pt x="1444" y="711"/>
                </a:lnTo>
                <a:lnTo>
                  <a:pt x="1456" y="730"/>
                </a:lnTo>
                <a:lnTo>
                  <a:pt x="1465" y="751"/>
                </a:lnTo>
                <a:lnTo>
                  <a:pt x="1475" y="770"/>
                </a:lnTo>
                <a:lnTo>
                  <a:pt x="1482" y="792"/>
                </a:lnTo>
                <a:lnTo>
                  <a:pt x="1490" y="812"/>
                </a:lnTo>
                <a:lnTo>
                  <a:pt x="1496" y="834"/>
                </a:lnTo>
                <a:lnTo>
                  <a:pt x="1501" y="856"/>
                </a:lnTo>
                <a:lnTo>
                  <a:pt x="1504" y="878"/>
                </a:lnTo>
                <a:lnTo>
                  <a:pt x="1507" y="901"/>
                </a:lnTo>
                <a:lnTo>
                  <a:pt x="1510" y="924"/>
                </a:lnTo>
                <a:lnTo>
                  <a:pt x="1510" y="948"/>
                </a:lnTo>
                <a:lnTo>
                  <a:pt x="1510" y="948"/>
                </a:lnTo>
                <a:lnTo>
                  <a:pt x="1510" y="971"/>
                </a:lnTo>
                <a:lnTo>
                  <a:pt x="1507" y="995"/>
                </a:lnTo>
                <a:lnTo>
                  <a:pt x="1504" y="1017"/>
                </a:lnTo>
                <a:lnTo>
                  <a:pt x="1501" y="1040"/>
                </a:lnTo>
                <a:lnTo>
                  <a:pt x="1496" y="1062"/>
                </a:lnTo>
                <a:lnTo>
                  <a:pt x="1490" y="1083"/>
                </a:lnTo>
                <a:lnTo>
                  <a:pt x="1482" y="1105"/>
                </a:lnTo>
                <a:lnTo>
                  <a:pt x="1475" y="1126"/>
                </a:lnTo>
                <a:lnTo>
                  <a:pt x="1465" y="1146"/>
                </a:lnTo>
                <a:lnTo>
                  <a:pt x="1456" y="1165"/>
                </a:lnTo>
                <a:lnTo>
                  <a:pt x="1444" y="1184"/>
                </a:lnTo>
                <a:lnTo>
                  <a:pt x="1432" y="1204"/>
                </a:lnTo>
                <a:lnTo>
                  <a:pt x="1419" y="1221"/>
                </a:lnTo>
                <a:lnTo>
                  <a:pt x="1406" y="1237"/>
                </a:lnTo>
                <a:lnTo>
                  <a:pt x="1391" y="1255"/>
                </a:lnTo>
                <a:lnTo>
                  <a:pt x="1376" y="1271"/>
                </a:lnTo>
                <a:lnTo>
                  <a:pt x="1360" y="1286"/>
                </a:lnTo>
                <a:lnTo>
                  <a:pt x="1344" y="1301"/>
                </a:lnTo>
                <a:lnTo>
                  <a:pt x="1326" y="1314"/>
                </a:lnTo>
                <a:lnTo>
                  <a:pt x="1309" y="1326"/>
                </a:lnTo>
                <a:lnTo>
                  <a:pt x="1291" y="1339"/>
                </a:lnTo>
                <a:lnTo>
                  <a:pt x="1272" y="1349"/>
                </a:lnTo>
                <a:lnTo>
                  <a:pt x="1251" y="1359"/>
                </a:lnTo>
                <a:lnTo>
                  <a:pt x="1231" y="1368"/>
                </a:lnTo>
                <a:lnTo>
                  <a:pt x="1210" y="1377"/>
                </a:lnTo>
                <a:lnTo>
                  <a:pt x="1190" y="1384"/>
                </a:lnTo>
                <a:lnTo>
                  <a:pt x="1168" y="1390"/>
                </a:lnTo>
                <a:lnTo>
                  <a:pt x="1146" y="1395"/>
                </a:lnTo>
                <a:lnTo>
                  <a:pt x="1124" y="1399"/>
                </a:lnTo>
                <a:lnTo>
                  <a:pt x="1100" y="1402"/>
                </a:lnTo>
                <a:lnTo>
                  <a:pt x="1078" y="1404"/>
                </a:lnTo>
                <a:lnTo>
                  <a:pt x="1054" y="1405"/>
                </a:lnTo>
                <a:lnTo>
                  <a:pt x="1054" y="1405"/>
                </a:lnTo>
                <a:lnTo>
                  <a:pt x="1031" y="1404"/>
                </a:lnTo>
                <a:lnTo>
                  <a:pt x="1007" y="1402"/>
                </a:lnTo>
                <a:lnTo>
                  <a:pt x="985" y="1399"/>
                </a:lnTo>
                <a:lnTo>
                  <a:pt x="962" y="1395"/>
                </a:lnTo>
                <a:lnTo>
                  <a:pt x="940" y="1390"/>
                </a:lnTo>
                <a:lnTo>
                  <a:pt x="919" y="1384"/>
                </a:lnTo>
                <a:lnTo>
                  <a:pt x="897" y="1377"/>
                </a:lnTo>
                <a:lnTo>
                  <a:pt x="876" y="1368"/>
                </a:lnTo>
                <a:lnTo>
                  <a:pt x="856" y="1359"/>
                </a:lnTo>
                <a:lnTo>
                  <a:pt x="837" y="1349"/>
                </a:lnTo>
                <a:lnTo>
                  <a:pt x="818" y="1339"/>
                </a:lnTo>
                <a:lnTo>
                  <a:pt x="799" y="1326"/>
                </a:lnTo>
                <a:lnTo>
                  <a:pt x="781" y="1314"/>
                </a:lnTo>
                <a:lnTo>
                  <a:pt x="763" y="1301"/>
                </a:lnTo>
                <a:lnTo>
                  <a:pt x="747" y="1286"/>
                </a:lnTo>
                <a:lnTo>
                  <a:pt x="731" y="1271"/>
                </a:lnTo>
                <a:lnTo>
                  <a:pt x="716" y="1255"/>
                </a:lnTo>
                <a:lnTo>
                  <a:pt x="701" y="1237"/>
                </a:lnTo>
                <a:lnTo>
                  <a:pt x="688" y="1221"/>
                </a:lnTo>
                <a:lnTo>
                  <a:pt x="675" y="1204"/>
                </a:lnTo>
                <a:lnTo>
                  <a:pt x="663" y="1184"/>
                </a:lnTo>
                <a:lnTo>
                  <a:pt x="653" y="1165"/>
                </a:lnTo>
                <a:lnTo>
                  <a:pt x="643" y="1146"/>
                </a:lnTo>
                <a:lnTo>
                  <a:pt x="634" y="1126"/>
                </a:lnTo>
                <a:lnTo>
                  <a:pt x="625" y="1105"/>
                </a:lnTo>
                <a:lnTo>
                  <a:pt x="618" y="1083"/>
                </a:lnTo>
                <a:lnTo>
                  <a:pt x="612" y="1062"/>
                </a:lnTo>
                <a:lnTo>
                  <a:pt x="607" y="1040"/>
                </a:lnTo>
                <a:lnTo>
                  <a:pt x="603" y="1017"/>
                </a:lnTo>
                <a:lnTo>
                  <a:pt x="600" y="995"/>
                </a:lnTo>
                <a:lnTo>
                  <a:pt x="599" y="971"/>
                </a:lnTo>
                <a:lnTo>
                  <a:pt x="597" y="948"/>
                </a:lnTo>
                <a:lnTo>
                  <a:pt x="597" y="948"/>
                </a:lnTo>
                <a:lnTo>
                  <a:pt x="599" y="917"/>
                </a:lnTo>
                <a:lnTo>
                  <a:pt x="601" y="886"/>
                </a:lnTo>
                <a:lnTo>
                  <a:pt x="607" y="855"/>
                </a:lnTo>
                <a:lnTo>
                  <a:pt x="615" y="826"/>
                </a:lnTo>
                <a:lnTo>
                  <a:pt x="624" y="796"/>
                </a:lnTo>
                <a:lnTo>
                  <a:pt x="634" y="768"/>
                </a:lnTo>
                <a:lnTo>
                  <a:pt x="647" y="742"/>
                </a:lnTo>
                <a:lnTo>
                  <a:pt x="662" y="715"/>
                </a:lnTo>
                <a:lnTo>
                  <a:pt x="678" y="690"/>
                </a:lnTo>
                <a:lnTo>
                  <a:pt x="696" y="667"/>
                </a:lnTo>
                <a:lnTo>
                  <a:pt x="715" y="643"/>
                </a:lnTo>
                <a:lnTo>
                  <a:pt x="734" y="623"/>
                </a:lnTo>
                <a:lnTo>
                  <a:pt x="756" y="602"/>
                </a:lnTo>
                <a:lnTo>
                  <a:pt x="779" y="584"/>
                </a:lnTo>
                <a:lnTo>
                  <a:pt x="803" y="567"/>
                </a:lnTo>
                <a:lnTo>
                  <a:pt x="829" y="550"/>
                </a:lnTo>
                <a:lnTo>
                  <a:pt x="807" y="509"/>
                </a:lnTo>
                <a:lnTo>
                  <a:pt x="541" y="39"/>
                </a:lnTo>
                <a:lnTo>
                  <a:pt x="515" y="0"/>
                </a:lnTo>
                <a:lnTo>
                  <a:pt x="515" y="0"/>
                </a:lnTo>
                <a:lnTo>
                  <a:pt x="487" y="18"/>
                </a:lnTo>
                <a:lnTo>
                  <a:pt x="457" y="33"/>
                </a:lnTo>
                <a:lnTo>
                  <a:pt x="428" y="47"/>
                </a:lnTo>
                <a:lnTo>
                  <a:pt x="399" y="62"/>
                </a:lnTo>
                <a:lnTo>
                  <a:pt x="368" y="74"/>
                </a:lnTo>
                <a:lnTo>
                  <a:pt x="337" y="86"/>
                </a:lnTo>
                <a:lnTo>
                  <a:pt x="304" y="97"/>
                </a:lnTo>
                <a:lnTo>
                  <a:pt x="274" y="108"/>
                </a:lnTo>
                <a:lnTo>
                  <a:pt x="241" y="117"/>
                </a:lnTo>
                <a:lnTo>
                  <a:pt x="207" y="124"/>
                </a:lnTo>
                <a:lnTo>
                  <a:pt x="175" y="131"/>
                </a:lnTo>
                <a:lnTo>
                  <a:pt x="141" y="137"/>
                </a:lnTo>
                <a:lnTo>
                  <a:pt x="107" y="142"/>
                </a:lnTo>
                <a:lnTo>
                  <a:pt x="74" y="145"/>
                </a:lnTo>
                <a:lnTo>
                  <a:pt x="38" y="147"/>
                </a:lnTo>
                <a:lnTo>
                  <a:pt x="4" y="149"/>
                </a:lnTo>
                <a:lnTo>
                  <a:pt x="4" y="149"/>
                </a:lnTo>
                <a:close/>
              </a:path>
            </a:pathLst>
          </a:custGeom>
          <a:solidFill>
            <a:srgbClr val="F58121"/>
          </a:solidFill>
          <a:ln w="1588">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 name="Freeform 7"/>
          <p:cNvSpPr>
            <a:spLocks/>
          </p:cNvSpPr>
          <p:nvPr/>
        </p:nvSpPr>
        <p:spPr bwMode="auto">
          <a:xfrm>
            <a:off x="3591059" y="1133342"/>
            <a:ext cx="421706" cy="748797"/>
          </a:xfrm>
          <a:custGeom>
            <a:avLst/>
            <a:gdLst>
              <a:gd name="T0" fmla="*/ 156 w 200"/>
              <a:gd name="T1" fmla="*/ 424 h 424"/>
              <a:gd name="T2" fmla="*/ 200 w 200"/>
              <a:gd name="T3" fmla="*/ 410 h 424"/>
              <a:gd name="T4" fmla="*/ 200 w 200"/>
              <a:gd name="T5" fmla="*/ 410 h 424"/>
              <a:gd name="T6" fmla="*/ 190 w 200"/>
              <a:gd name="T7" fmla="*/ 354 h 424"/>
              <a:gd name="T8" fmla="*/ 175 w 200"/>
              <a:gd name="T9" fmla="*/ 300 h 424"/>
              <a:gd name="T10" fmla="*/ 159 w 200"/>
              <a:gd name="T11" fmla="*/ 247 h 424"/>
              <a:gd name="T12" fmla="*/ 140 w 200"/>
              <a:gd name="T13" fmla="*/ 194 h 424"/>
              <a:gd name="T14" fmla="*/ 120 w 200"/>
              <a:gd name="T15" fmla="*/ 144 h 424"/>
              <a:gd name="T16" fmla="*/ 96 w 200"/>
              <a:gd name="T17" fmla="*/ 94 h 424"/>
              <a:gd name="T18" fmla="*/ 70 w 200"/>
              <a:gd name="T19" fmla="*/ 47 h 424"/>
              <a:gd name="T20" fmla="*/ 40 w 200"/>
              <a:gd name="T21" fmla="*/ 0 h 424"/>
              <a:gd name="T22" fmla="*/ 0 w 200"/>
              <a:gd name="T23" fmla="*/ 23 h 424"/>
              <a:gd name="T24" fmla="*/ 0 w 200"/>
              <a:gd name="T25" fmla="*/ 23 h 424"/>
              <a:gd name="T26" fmla="*/ 28 w 200"/>
              <a:gd name="T27" fmla="*/ 69 h 424"/>
              <a:gd name="T28" fmla="*/ 55 w 200"/>
              <a:gd name="T29" fmla="*/ 116 h 424"/>
              <a:gd name="T30" fmla="*/ 77 w 200"/>
              <a:gd name="T31" fmla="*/ 163 h 424"/>
              <a:gd name="T32" fmla="*/ 99 w 200"/>
              <a:gd name="T33" fmla="*/ 213 h 424"/>
              <a:gd name="T34" fmla="*/ 117 w 200"/>
              <a:gd name="T35" fmla="*/ 265 h 424"/>
              <a:gd name="T36" fmla="*/ 133 w 200"/>
              <a:gd name="T37" fmla="*/ 316 h 424"/>
              <a:gd name="T38" fmla="*/ 146 w 200"/>
              <a:gd name="T39" fmla="*/ 369 h 424"/>
              <a:gd name="T40" fmla="*/ 156 w 200"/>
              <a:gd name="T41" fmla="*/ 424 h 424"/>
              <a:gd name="T42" fmla="*/ 156 w 200"/>
              <a:gd name="T43"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0" h="424">
                <a:moveTo>
                  <a:pt x="156" y="424"/>
                </a:moveTo>
                <a:lnTo>
                  <a:pt x="200" y="410"/>
                </a:lnTo>
                <a:lnTo>
                  <a:pt x="200" y="410"/>
                </a:lnTo>
                <a:lnTo>
                  <a:pt x="190" y="354"/>
                </a:lnTo>
                <a:lnTo>
                  <a:pt x="175" y="300"/>
                </a:lnTo>
                <a:lnTo>
                  <a:pt x="159" y="247"/>
                </a:lnTo>
                <a:lnTo>
                  <a:pt x="140" y="194"/>
                </a:lnTo>
                <a:lnTo>
                  <a:pt x="120" y="144"/>
                </a:lnTo>
                <a:lnTo>
                  <a:pt x="96" y="94"/>
                </a:lnTo>
                <a:lnTo>
                  <a:pt x="70" y="47"/>
                </a:lnTo>
                <a:lnTo>
                  <a:pt x="40" y="0"/>
                </a:lnTo>
                <a:lnTo>
                  <a:pt x="0" y="23"/>
                </a:lnTo>
                <a:lnTo>
                  <a:pt x="0" y="23"/>
                </a:lnTo>
                <a:lnTo>
                  <a:pt x="28" y="69"/>
                </a:lnTo>
                <a:lnTo>
                  <a:pt x="55" y="116"/>
                </a:lnTo>
                <a:lnTo>
                  <a:pt x="77" y="163"/>
                </a:lnTo>
                <a:lnTo>
                  <a:pt x="99" y="213"/>
                </a:lnTo>
                <a:lnTo>
                  <a:pt x="117" y="265"/>
                </a:lnTo>
                <a:lnTo>
                  <a:pt x="133" y="316"/>
                </a:lnTo>
                <a:lnTo>
                  <a:pt x="146" y="369"/>
                </a:lnTo>
                <a:lnTo>
                  <a:pt x="156" y="424"/>
                </a:lnTo>
                <a:lnTo>
                  <a:pt x="156" y="424"/>
                </a:lnTo>
                <a:close/>
              </a:path>
            </a:pathLst>
          </a:custGeom>
          <a:solidFill>
            <a:srgbClr val="ED1B24"/>
          </a:solidFill>
          <a:ln w="1588">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 name="TextBox 52"/>
          <p:cNvSpPr txBox="1"/>
          <p:nvPr/>
        </p:nvSpPr>
        <p:spPr>
          <a:xfrm>
            <a:off x="3414736" y="4781316"/>
            <a:ext cx="1374775" cy="1191095"/>
          </a:xfrm>
          <a:prstGeom prst="rect">
            <a:avLst/>
          </a:prstGeom>
          <a:noFill/>
        </p:spPr>
        <p:txBody>
          <a:bodyPr wrap="squar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r>
              <a:rPr lang="en-US" sz="1400" dirty="0"/>
              <a:t>Approximately </a:t>
            </a:r>
            <a:r>
              <a:rPr lang="en-US" sz="1400" b="1" dirty="0">
                <a:solidFill>
                  <a:srgbClr val="00B0F0"/>
                </a:solidFill>
              </a:rPr>
              <a:t>60% </a:t>
            </a:r>
            <a:r>
              <a:rPr lang="en-US" sz="1400" b="1" dirty="0"/>
              <a:t>Europeans</a:t>
            </a:r>
            <a:r>
              <a:rPr lang="en-US" sz="1400" dirty="0"/>
              <a:t> </a:t>
            </a:r>
            <a:r>
              <a:rPr lang="en-US" sz="1000" dirty="0"/>
              <a:t>consume </a:t>
            </a:r>
            <a:r>
              <a:rPr lang="en-US" sz="1400" b="1" dirty="0"/>
              <a:t>functional food</a:t>
            </a:r>
            <a:r>
              <a:rPr lang="en-US" sz="1000" dirty="0"/>
              <a:t>, with women consuming higher amount of functional </a:t>
            </a:r>
          </a:p>
          <a:p>
            <a:pPr algn="ctr">
              <a:lnSpc>
                <a:spcPct val="90000"/>
              </a:lnSpc>
            </a:pPr>
            <a:r>
              <a:rPr lang="en-US" sz="1000" dirty="0"/>
              <a:t>drinks</a:t>
            </a:r>
            <a:endParaRPr lang="en-US" sz="800" dirty="0"/>
          </a:p>
        </p:txBody>
      </p:sp>
      <p:sp>
        <p:nvSpPr>
          <p:cNvPr id="10" name="Rectangle 9"/>
          <p:cNvSpPr/>
          <p:nvPr/>
        </p:nvSpPr>
        <p:spPr>
          <a:xfrm>
            <a:off x="1168400" y="1800136"/>
            <a:ext cx="2603500" cy="1739900"/>
          </a:xfrm>
          <a:prstGeom prst="rect">
            <a:avLst/>
          </a:prstGeom>
        </p:spPr>
        <p:txBody>
          <a:bodyPr wrap="square">
            <a:spAutoFit/>
          </a:bodyPr>
          <a:lstStyle/>
          <a:p>
            <a:r>
              <a:rPr lang="en-US" sz="1200" dirty="0"/>
              <a:t>The global </a:t>
            </a:r>
            <a:r>
              <a:rPr lang="en-US" sz="1400" i="1" dirty="0"/>
              <a:t>food and beverages </a:t>
            </a:r>
            <a:r>
              <a:rPr lang="en-US" sz="1200" dirty="0"/>
              <a:t>market is estimated to grow from around </a:t>
            </a:r>
          </a:p>
          <a:p>
            <a:r>
              <a:rPr lang="en-US" b="1" dirty="0"/>
              <a:t>US$ 16.2 trillion </a:t>
            </a:r>
            <a:r>
              <a:rPr lang="en-US" sz="1200" dirty="0"/>
              <a:t>in 2021 to </a:t>
            </a:r>
            <a:r>
              <a:rPr lang="en-US" b="1" dirty="0"/>
              <a:t>US$ 20.02 trillion </a:t>
            </a:r>
            <a:r>
              <a:rPr lang="en-US" sz="1200" dirty="0"/>
              <a:t>by 2027, representing an annual growth rate of </a:t>
            </a:r>
            <a:r>
              <a:rPr lang="en-US" b="1" dirty="0"/>
              <a:t>3.6%</a:t>
            </a:r>
            <a:endParaRPr lang="en-US" sz="1200" b="1" dirty="0"/>
          </a:p>
        </p:txBody>
      </p:sp>
      <p:sp>
        <p:nvSpPr>
          <p:cNvPr id="11" name="Freeform 10"/>
          <p:cNvSpPr>
            <a:spLocks/>
          </p:cNvSpPr>
          <p:nvPr/>
        </p:nvSpPr>
        <p:spPr bwMode="auto">
          <a:xfrm rot="11221719">
            <a:off x="6419390" y="4324269"/>
            <a:ext cx="2222500" cy="1766888"/>
          </a:xfrm>
          <a:custGeom>
            <a:avLst/>
            <a:gdLst>
              <a:gd name="T0" fmla="*/ 84 w 1400"/>
              <a:gd name="T1" fmla="*/ 822 h 1113"/>
              <a:gd name="T2" fmla="*/ 0 w 1400"/>
              <a:gd name="T3" fmla="*/ 1091 h 1113"/>
              <a:gd name="T4" fmla="*/ 103 w 1400"/>
              <a:gd name="T5" fmla="*/ 947 h 1113"/>
              <a:gd name="T6" fmla="*/ 146 w 1400"/>
              <a:gd name="T7" fmla="*/ 647 h 1113"/>
              <a:gd name="T8" fmla="*/ 398 w 1400"/>
              <a:gd name="T9" fmla="*/ 560 h 1113"/>
              <a:gd name="T10" fmla="*/ 425 w 1400"/>
              <a:gd name="T11" fmla="*/ 674 h 1113"/>
              <a:gd name="T12" fmla="*/ 475 w 1400"/>
              <a:gd name="T13" fmla="*/ 775 h 1113"/>
              <a:gd name="T14" fmla="*/ 546 w 1400"/>
              <a:gd name="T15" fmla="*/ 862 h 1113"/>
              <a:gd name="T16" fmla="*/ 634 w 1400"/>
              <a:gd name="T17" fmla="*/ 931 h 1113"/>
              <a:gd name="T18" fmla="*/ 737 w 1400"/>
              <a:gd name="T19" fmla="*/ 980 h 1113"/>
              <a:gd name="T20" fmla="*/ 850 w 1400"/>
              <a:gd name="T21" fmla="*/ 1003 h 1113"/>
              <a:gd name="T22" fmla="*/ 948 w 1400"/>
              <a:gd name="T23" fmla="*/ 1003 h 1113"/>
              <a:gd name="T24" fmla="*/ 1070 w 1400"/>
              <a:gd name="T25" fmla="*/ 975 h 1113"/>
              <a:gd name="T26" fmla="*/ 1179 w 1400"/>
              <a:gd name="T27" fmla="*/ 921 h 1113"/>
              <a:gd name="T28" fmla="*/ 1269 w 1400"/>
              <a:gd name="T29" fmla="*/ 841 h 1113"/>
              <a:gd name="T30" fmla="*/ 1340 w 1400"/>
              <a:gd name="T31" fmla="*/ 743 h 1113"/>
              <a:gd name="T32" fmla="*/ 1385 w 1400"/>
              <a:gd name="T33" fmla="*/ 628 h 1113"/>
              <a:gd name="T34" fmla="*/ 1400 w 1400"/>
              <a:gd name="T35" fmla="*/ 503 h 1113"/>
              <a:gd name="T36" fmla="*/ 1390 w 1400"/>
              <a:gd name="T37" fmla="*/ 402 h 1113"/>
              <a:gd name="T38" fmla="*/ 1351 w 1400"/>
              <a:gd name="T39" fmla="*/ 285 h 1113"/>
              <a:gd name="T40" fmla="*/ 1285 w 1400"/>
              <a:gd name="T41" fmla="*/ 184 h 1113"/>
              <a:gd name="T42" fmla="*/ 1198 w 1400"/>
              <a:gd name="T43" fmla="*/ 100 h 1113"/>
              <a:gd name="T44" fmla="*/ 1094 w 1400"/>
              <a:gd name="T45" fmla="*/ 40 h 1113"/>
              <a:gd name="T46" fmla="*/ 975 w 1400"/>
              <a:gd name="T47" fmla="*/ 6 h 1113"/>
              <a:gd name="T48" fmla="*/ 873 w 1400"/>
              <a:gd name="T49" fmla="*/ 1 h 1113"/>
              <a:gd name="T50" fmla="*/ 759 w 1400"/>
              <a:gd name="T51" fmla="*/ 21 h 1113"/>
              <a:gd name="T52" fmla="*/ 654 w 1400"/>
              <a:gd name="T53" fmla="*/ 63 h 1113"/>
              <a:gd name="T54" fmla="*/ 563 w 1400"/>
              <a:gd name="T55" fmla="*/ 129 h 1113"/>
              <a:gd name="T56" fmla="*/ 488 w 1400"/>
              <a:gd name="T57" fmla="*/ 212 h 1113"/>
              <a:gd name="T58" fmla="*/ 434 w 1400"/>
              <a:gd name="T59" fmla="*/ 310 h 1113"/>
              <a:gd name="T60" fmla="*/ 401 w 1400"/>
              <a:gd name="T61" fmla="*/ 421 h 1113"/>
              <a:gd name="T62" fmla="*/ 450 w 1400"/>
              <a:gd name="T63" fmla="*/ 415 h 1113"/>
              <a:gd name="T64" fmla="*/ 482 w 1400"/>
              <a:gd name="T65" fmla="*/ 315 h 1113"/>
              <a:gd name="T66" fmla="*/ 535 w 1400"/>
              <a:gd name="T67" fmla="*/ 227 h 1113"/>
              <a:gd name="T68" fmla="*/ 606 w 1400"/>
              <a:gd name="T69" fmla="*/ 151 h 1113"/>
              <a:gd name="T70" fmla="*/ 693 w 1400"/>
              <a:gd name="T71" fmla="*/ 96 h 1113"/>
              <a:gd name="T72" fmla="*/ 791 w 1400"/>
              <a:gd name="T73" fmla="*/ 59 h 1113"/>
              <a:gd name="T74" fmla="*/ 898 w 1400"/>
              <a:gd name="T75" fmla="*/ 47 h 1113"/>
              <a:gd name="T76" fmla="*/ 990 w 1400"/>
              <a:gd name="T77" fmla="*/ 56 h 1113"/>
              <a:gd name="T78" fmla="*/ 1095 w 1400"/>
              <a:gd name="T79" fmla="*/ 91 h 1113"/>
              <a:gd name="T80" fmla="*/ 1188 w 1400"/>
              <a:gd name="T81" fmla="*/ 151 h 1113"/>
              <a:gd name="T82" fmla="*/ 1263 w 1400"/>
              <a:gd name="T83" fmla="*/ 231 h 1113"/>
              <a:gd name="T84" fmla="*/ 1318 w 1400"/>
              <a:gd name="T85" fmla="*/ 325 h 1113"/>
              <a:gd name="T86" fmla="*/ 1348 w 1400"/>
              <a:gd name="T87" fmla="*/ 434 h 1113"/>
              <a:gd name="T88" fmla="*/ 1354 w 1400"/>
              <a:gd name="T89" fmla="*/ 527 h 1113"/>
              <a:gd name="T90" fmla="*/ 1334 w 1400"/>
              <a:gd name="T91" fmla="*/ 638 h 1113"/>
              <a:gd name="T92" fmla="*/ 1288 w 1400"/>
              <a:gd name="T93" fmla="*/ 740 h 1113"/>
              <a:gd name="T94" fmla="*/ 1220 w 1400"/>
              <a:gd name="T95" fmla="*/ 825 h 1113"/>
              <a:gd name="T96" fmla="*/ 1134 w 1400"/>
              <a:gd name="T97" fmla="*/ 894 h 1113"/>
              <a:gd name="T98" fmla="*/ 1034 w 1400"/>
              <a:gd name="T99" fmla="*/ 940 h 1113"/>
              <a:gd name="T100" fmla="*/ 922 w 1400"/>
              <a:gd name="T101" fmla="*/ 959 h 1113"/>
              <a:gd name="T102" fmla="*/ 829 w 1400"/>
              <a:gd name="T103" fmla="*/ 955 h 1113"/>
              <a:gd name="T104" fmla="*/ 723 w 1400"/>
              <a:gd name="T105" fmla="*/ 925 h 1113"/>
              <a:gd name="T106" fmla="*/ 629 w 1400"/>
              <a:gd name="T107" fmla="*/ 872 h 1113"/>
              <a:gd name="T108" fmla="*/ 551 w 1400"/>
              <a:gd name="T109" fmla="*/ 799 h 1113"/>
              <a:gd name="T110" fmla="*/ 491 w 1400"/>
              <a:gd name="T111" fmla="*/ 710 h 1113"/>
              <a:gd name="T112" fmla="*/ 453 w 1400"/>
              <a:gd name="T113" fmla="*/ 607 h 1113"/>
              <a:gd name="T114" fmla="*/ 396 w 1400"/>
              <a:gd name="T115" fmla="*/ 515 h 1113"/>
              <a:gd name="T116" fmla="*/ 99 w 1400"/>
              <a:gd name="T117" fmla="*/ 647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00" h="1113">
                <a:moveTo>
                  <a:pt x="99" y="647"/>
                </a:moveTo>
                <a:lnTo>
                  <a:pt x="99" y="647"/>
                </a:lnTo>
                <a:lnTo>
                  <a:pt x="97" y="706"/>
                </a:lnTo>
                <a:lnTo>
                  <a:pt x="93" y="765"/>
                </a:lnTo>
                <a:lnTo>
                  <a:pt x="84" y="822"/>
                </a:lnTo>
                <a:lnTo>
                  <a:pt x="74" y="878"/>
                </a:lnTo>
                <a:lnTo>
                  <a:pt x="59" y="934"/>
                </a:lnTo>
                <a:lnTo>
                  <a:pt x="43" y="987"/>
                </a:lnTo>
                <a:lnTo>
                  <a:pt x="22" y="1040"/>
                </a:lnTo>
                <a:lnTo>
                  <a:pt x="0" y="1091"/>
                </a:lnTo>
                <a:lnTo>
                  <a:pt x="41" y="1113"/>
                </a:lnTo>
                <a:lnTo>
                  <a:pt x="41" y="1113"/>
                </a:lnTo>
                <a:lnTo>
                  <a:pt x="65" y="1059"/>
                </a:lnTo>
                <a:lnTo>
                  <a:pt x="85" y="1005"/>
                </a:lnTo>
                <a:lnTo>
                  <a:pt x="103" y="947"/>
                </a:lnTo>
                <a:lnTo>
                  <a:pt x="118" y="890"/>
                </a:lnTo>
                <a:lnTo>
                  <a:pt x="129" y="831"/>
                </a:lnTo>
                <a:lnTo>
                  <a:pt x="138" y="771"/>
                </a:lnTo>
                <a:lnTo>
                  <a:pt x="144" y="709"/>
                </a:lnTo>
                <a:lnTo>
                  <a:pt x="146" y="647"/>
                </a:lnTo>
                <a:lnTo>
                  <a:pt x="146" y="647"/>
                </a:lnTo>
                <a:lnTo>
                  <a:pt x="144" y="612"/>
                </a:lnTo>
                <a:lnTo>
                  <a:pt x="143" y="577"/>
                </a:lnTo>
                <a:lnTo>
                  <a:pt x="398" y="560"/>
                </a:lnTo>
                <a:lnTo>
                  <a:pt x="398" y="560"/>
                </a:lnTo>
                <a:lnTo>
                  <a:pt x="401" y="584"/>
                </a:lnTo>
                <a:lnTo>
                  <a:pt x="406" y="606"/>
                </a:lnTo>
                <a:lnTo>
                  <a:pt x="412" y="630"/>
                </a:lnTo>
                <a:lnTo>
                  <a:pt x="418" y="652"/>
                </a:lnTo>
                <a:lnTo>
                  <a:pt x="425" y="674"/>
                </a:lnTo>
                <a:lnTo>
                  <a:pt x="432" y="694"/>
                </a:lnTo>
                <a:lnTo>
                  <a:pt x="443" y="715"/>
                </a:lnTo>
                <a:lnTo>
                  <a:pt x="453" y="735"/>
                </a:lnTo>
                <a:lnTo>
                  <a:pt x="463" y="756"/>
                </a:lnTo>
                <a:lnTo>
                  <a:pt x="475" y="775"/>
                </a:lnTo>
                <a:lnTo>
                  <a:pt x="488" y="793"/>
                </a:lnTo>
                <a:lnTo>
                  <a:pt x="501" y="812"/>
                </a:lnTo>
                <a:lnTo>
                  <a:pt x="515" y="828"/>
                </a:lnTo>
                <a:lnTo>
                  <a:pt x="531" y="846"/>
                </a:lnTo>
                <a:lnTo>
                  <a:pt x="546" y="862"/>
                </a:lnTo>
                <a:lnTo>
                  <a:pt x="562" y="877"/>
                </a:lnTo>
                <a:lnTo>
                  <a:pt x="579" y="891"/>
                </a:lnTo>
                <a:lnTo>
                  <a:pt x="597" y="906"/>
                </a:lnTo>
                <a:lnTo>
                  <a:pt x="615" y="919"/>
                </a:lnTo>
                <a:lnTo>
                  <a:pt x="634" y="931"/>
                </a:lnTo>
                <a:lnTo>
                  <a:pt x="653" y="943"/>
                </a:lnTo>
                <a:lnTo>
                  <a:pt x="673" y="953"/>
                </a:lnTo>
                <a:lnTo>
                  <a:pt x="694" y="963"/>
                </a:lnTo>
                <a:lnTo>
                  <a:pt x="715" y="972"/>
                </a:lnTo>
                <a:lnTo>
                  <a:pt x="737" y="980"/>
                </a:lnTo>
                <a:lnTo>
                  <a:pt x="759" y="987"/>
                </a:lnTo>
                <a:lnTo>
                  <a:pt x="781" y="993"/>
                </a:lnTo>
                <a:lnTo>
                  <a:pt x="803" y="997"/>
                </a:lnTo>
                <a:lnTo>
                  <a:pt x="826" y="1002"/>
                </a:lnTo>
                <a:lnTo>
                  <a:pt x="850" y="1003"/>
                </a:lnTo>
                <a:lnTo>
                  <a:pt x="873" y="1006"/>
                </a:lnTo>
                <a:lnTo>
                  <a:pt x="898" y="1006"/>
                </a:lnTo>
                <a:lnTo>
                  <a:pt x="898" y="1006"/>
                </a:lnTo>
                <a:lnTo>
                  <a:pt x="923" y="1006"/>
                </a:lnTo>
                <a:lnTo>
                  <a:pt x="948" y="1003"/>
                </a:lnTo>
                <a:lnTo>
                  <a:pt x="975" y="1000"/>
                </a:lnTo>
                <a:lnTo>
                  <a:pt x="998" y="996"/>
                </a:lnTo>
                <a:lnTo>
                  <a:pt x="1023" y="990"/>
                </a:lnTo>
                <a:lnTo>
                  <a:pt x="1047" y="984"/>
                </a:lnTo>
                <a:lnTo>
                  <a:pt x="1070" y="975"/>
                </a:lnTo>
                <a:lnTo>
                  <a:pt x="1094" y="966"/>
                </a:lnTo>
                <a:lnTo>
                  <a:pt x="1116" y="956"/>
                </a:lnTo>
                <a:lnTo>
                  <a:pt x="1137" y="946"/>
                </a:lnTo>
                <a:lnTo>
                  <a:pt x="1159" y="933"/>
                </a:lnTo>
                <a:lnTo>
                  <a:pt x="1179" y="921"/>
                </a:lnTo>
                <a:lnTo>
                  <a:pt x="1198" y="906"/>
                </a:lnTo>
                <a:lnTo>
                  <a:pt x="1218" y="891"/>
                </a:lnTo>
                <a:lnTo>
                  <a:pt x="1235" y="875"/>
                </a:lnTo>
                <a:lnTo>
                  <a:pt x="1253" y="859"/>
                </a:lnTo>
                <a:lnTo>
                  <a:pt x="1269" y="841"/>
                </a:lnTo>
                <a:lnTo>
                  <a:pt x="1285" y="822"/>
                </a:lnTo>
                <a:lnTo>
                  <a:pt x="1300" y="805"/>
                </a:lnTo>
                <a:lnTo>
                  <a:pt x="1315" y="784"/>
                </a:lnTo>
                <a:lnTo>
                  <a:pt x="1328" y="763"/>
                </a:lnTo>
                <a:lnTo>
                  <a:pt x="1340" y="743"/>
                </a:lnTo>
                <a:lnTo>
                  <a:pt x="1351" y="721"/>
                </a:lnTo>
                <a:lnTo>
                  <a:pt x="1360" y="699"/>
                </a:lnTo>
                <a:lnTo>
                  <a:pt x="1370" y="677"/>
                </a:lnTo>
                <a:lnTo>
                  <a:pt x="1378" y="653"/>
                </a:lnTo>
                <a:lnTo>
                  <a:pt x="1385" y="628"/>
                </a:lnTo>
                <a:lnTo>
                  <a:pt x="1390" y="605"/>
                </a:lnTo>
                <a:lnTo>
                  <a:pt x="1394" y="580"/>
                </a:lnTo>
                <a:lnTo>
                  <a:pt x="1398" y="555"/>
                </a:lnTo>
                <a:lnTo>
                  <a:pt x="1400" y="530"/>
                </a:lnTo>
                <a:lnTo>
                  <a:pt x="1400" y="503"/>
                </a:lnTo>
                <a:lnTo>
                  <a:pt x="1400" y="503"/>
                </a:lnTo>
                <a:lnTo>
                  <a:pt x="1400" y="478"/>
                </a:lnTo>
                <a:lnTo>
                  <a:pt x="1398" y="452"/>
                </a:lnTo>
                <a:lnTo>
                  <a:pt x="1394" y="427"/>
                </a:lnTo>
                <a:lnTo>
                  <a:pt x="1390" y="402"/>
                </a:lnTo>
                <a:lnTo>
                  <a:pt x="1385" y="378"/>
                </a:lnTo>
                <a:lnTo>
                  <a:pt x="1378" y="354"/>
                </a:lnTo>
                <a:lnTo>
                  <a:pt x="1370" y="331"/>
                </a:lnTo>
                <a:lnTo>
                  <a:pt x="1360" y="307"/>
                </a:lnTo>
                <a:lnTo>
                  <a:pt x="1351" y="285"/>
                </a:lnTo>
                <a:lnTo>
                  <a:pt x="1340" y="263"/>
                </a:lnTo>
                <a:lnTo>
                  <a:pt x="1328" y="243"/>
                </a:lnTo>
                <a:lnTo>
                  <a:pt x="1315" y="222"/>
                </a:lnTo>
                <a:lnTo>
                  <a:pt x="1300" y="203"/>
                </a:lnTo>
                <a:lnTo>
                  <a:pt x="1285" y="184"/>
                </a:lnTo>
                <a:lnTo>
                  <a:pt x="1269" y="165"/>
                </a:lnTo>
                <a:lnTo>
                  <a:pt x="1253" y="149"/>
                </a:lnTo>
                <a:lnTo>
                  <a:pt x="1235" y="131"/>
                </a:lnTo>
                <a:lnTo>
                  <a:pt x="1218" y="115"/>
                </a:lnTo>
                <a:lnTo>
                  <a:pt x="1198" y="100"/>
                </a:lnTo>
                <a:lnTo>
                  <a:pt x="1179" y="87"/>
                </a:lnTo>
                <a:lnTo>
                  <a:pt x="1159" y="74"/>
                </a:lnTo>
                <a:lnTo>
                  <a:pt x="1137" y="62"/>
                </a:lnTo>
                <a:lnTo>
                  <a:pt x="1116" y="50"/>
                </a:lnTo>
                <a:lnTo>
                  <a:pt x="1094" y="40"/>
                </a:lnTo>
                <a:lnTo>
                  <a:pt x="1070" y="31"/>
                </a:lnTo>
                <a:lnTo>
                  <a:pt x="1047" y="24"/>
                </a:lnTo>
                <a:lnTo>
                  <a:pt x="1023" y="16"/>
                </a:lnTo>
                <a:lnTo>
                  <a:pt x="998" y="10"/>
                </a:lnTo>
                <a:lnTo>
                  <a:pt x="975" y="6"/>
                </a:lnTo>
                <a:lnTo>
                  <a:pt x="948" y="3"/>
                </a:lnTo>
                <a:lnTo>
                  <a:pt x="923" y="1"/>
                </a:lnTo>
                <a:lnTo>
                  <a:pt x="898" y="0"/>
                </a:lnTo>
                <a:lnTo>
                  <a:pt x="898" y="0"/>
                </a:lnTo>
                <a:lnTo>
                  <a:pt x="873" y="1"/>
                </a:lnTo>
                <a:lnTo>
                  <a:pt x="850" y="3"/>
                </a:lnTo>
                <a:lnTo>
                  <a:pt x="826" y="6"/>
                </a:lnTo>
                <a:lnTo>
                  <a:pt x="804" y="9"/>
                </a:lnTo>
                <a:lnTo>
                  <a:pt x="781" y="15"/>
                </a:lnTo>
                <a:lnTo>
                  <a:pt x="759" y="21"/>
                </a:lnTo>
                <a:lnTo>
                  <a:pt x="737" y="26"/>
                </a:lnTo>
                <a:lnTo>
                  <a:pt x="716" y="35"/>
                </a:lnTo>
                <a:lnTo>
                  <a:pt x="694" y="44"/>
                </a:lnTo>
                <a:lnTo>
                  <a:pt x="673" y="53"/>
                </a:lnTo>
                <a:lnTo>
                  <a:pt x="654" y="63"/>
                </a:lnTo>
                <a:lnTo>
                  <a:pt x="635" y="75"/>
                </a:lnTo>
                <a:lnTo>
                  <a:pt x="616" y="87"/>
                </a:lnTo>
                <a:lnTo>
                  <a:pt x="597" y="100"/>
                </a:lnTo>
                <a:lnTo>
                  <a:pt x="579" y="115"/>
                </a:lnTo>
                <a:lnTo>
                  <a:pt x="563" y="129"/>
                </a:lnTo>
                <a:lnTo>
                  <a:pt x="547" y="144"/>
                </a:lnTo>
                <a:lnTo>
                  <a:pt x="531" y="160"/>
                </a:lnTo>
                <a:lnTo>
                  <a:pt x="516" y="177"/>
                </a:lnTo>
                <a:lnTo>
                  <a:pt x="501" y="194"/>
                </a:lnTo>
                <a:lnTo>
                  <a:pt x="488" y="212"/>
                </a:lnTo>
                <a:lnTo>
                  <a:pt x="476" y="231"/>
                </a:lnTo>
                <a:lnTo>
                  <a:pt x="465" y="250"/>
                </a:lnTo>
                <a:lnTo>
                  <a:pt x="453" y="269"/>
                </a:lnTo>
                <a:lnTo>
                  <a:pt x="443" y="290"/>
                </a:lnTo>
                <a:lnTo>
                  <a:pt x="434" y="310"/>
                </a:lnTo>
                <a:lnTo>
                  <a:pt x="425" y="331"/>
                </a:lnTo>
                <a:lnTo>
                  <a:pt x="418" y="353"/>
                </a:lnTo>
                <a:lnTo>
                  <a:pt x="412" y="375"/>
                </a:lnTo>
                <a:lnTo>
                  <a:pt x="406" y="399"/>
                </a:lnTo>
                <a:lnTo>
                  <a:pt x="401" y="421"/>
                </a:lnTo>
                <a:lnTo>
                  <a:pt x="398" y="444"/>
                </a:lnTo>
                <a:lnTo>
                  <a:pt x="444" y="457"/>
                </a:lnTo>
                <a:lnTo>
                  <a:pt x="444" y="457"/>
                </a:lnTo>
                <a:lnTo>
                  <a:pt x="447" y="435"/>
                </a:lnTo>
                <a:lnTo>
                  <a:pt x="450" y="415"/>
                </a:lnTo>
                <a:lnTo>
                  <a:pt x="454" y="394"/>
                </a:lnTo>
                <a:lnTo>
                  <a:pt x="460" y="374"/>
                </a:lnTo>
                <a:lnTo>
                  <a:pt x="466" y="353"/>
                </a:lnTo>
                <a:lnTo>
                  <a:pt x="473" y="334"/>
                </a:lnTo>
                <a:lnTo>
                  <a:pt x="482" y="315"/>
                </a:lnTo>
                <a:lnTo>
                  <a:pt x="491" y="296"/>
                </a:lnTo>
                <a:lnTo>
                  <a:pt x="501" y="278"/>
                </a:lnTo>
                <a:lnTo>
                  <a:pt x="512" y="260"/>
                </a:lnTo>
                <a:lnTo>
                  <a:pt x="523" y="243"/>
                </a:lnTo>
                <a:lnTo>
                  <a:pt x="535" y="227"/>
                </a:lnTo>
                <a:lnTo>
                  <a:pt x="548" y="210"/>
                </a:lnTo>
                <a:lnTo>
                  <a:pt x="562" y="194"/>
                </a:lnTo>
                <a:lnTo>
                  <a:pt x="576" y="179"/>
                </a:lnTo>
                <a:lnTo>
                  <a:pt x="591" y="166"/>
                </a:lnTo>
                <a:lnTo>
                  <a:pt x="606" y="151"/>
                </a:lnTo>
                <a:lnTo>
                  <a:pt x="622" y="140"/>
                </a:lnTo>
                <a:lnTo>
                  <a:pt x="640" y="128"/>
                </a:lnTo>
                <a:lnTo>
                  <a:pt x="657" y="116"/>
                </a:lnTo>
                <a:lnTo>
                  <a:pt x="675" y="106"/>
                </a:lnTo>
                <a:lnTo>
                  <a:pt x="693" y="96"/>
                </a:lnTo>
                <a:lnTo>
                  <a:pt x="712" y="87"/>
                </a:lnTo>
                <a:lnTo>
                  <a:pt x="731" y="78"/>
                </a:lnTo>
                <a:lnTo>
                  <a:pt x="750" y="71"/>
                </a:lnTo>
                <a:lnTo>
                  <a:pt x="771" y="65"/>
                </a:lnTo>
                <a:lnTo>
                  <a:pt x="791" y="59"/>
                </a:lnTo>
                <a:lnTo>
                  <a:pt x="812" y="54"/>
                </a:lnTo>
                <a:lnTo>
                  <a:pt x="832" y="51"/>
                </a:lnTo>
                <a:lnTo>
                  <a:pt x="854" y="49"/>
                </a:lnTo>
                <a:lnTo>
                  <a:pt x="876" y="47"/>
                </a:lnTo>
                <a:lnTo>
                  <a:pt x="898" y="47"/>
                </a:lnTo>
                <a:lnTo>
                  <a:pt x="898" y="47"/>
                </a:lnTo>
                <a:lnTo>
                  <a:pt x="922" y="47"/>
                </a:lnTo>
                <a:lnTo>
                  <a:pt x="944" y="49"/>
                </a:lnTo>
                <a:lnTo>
                  <a:pt x="968" y="51"/>
                </a:lnTo>
                <a:lnTo>
                  <a:pt x="990" y="56"/>
                </a:lnTo>
                <a:lnTo>
                  <a:pt x="1012" y="62"/>
                </a:lnTo>
                <a:lnTo>
                  <a:pt x="1034" y="68"/>
                </a:lnTo>
                <a:lnTo>
                  <a:pt x="1054" y="75"/>
                </a:lnTo>
                <a:lnTo>
                  <a:pt x="1075" y="82"/>
                </a:lnTo>
                <a:lnTo>
                  <a:pt x="1095" y="91"/>
                </a:lnTo>
                <a:lnTo>
                  <a:pt x="1115" y="101"/>
                </a:lnTo>
                <a:lnTo>
                  <a:pt x="1134" y="113"/>
                </a:lnTo>
                <a:lnTo>
                  <a:pt x="1153" y="125"/>
                </a:lnTo>
                <a:lnTo>
                  <a:pt x="1170" y="138"/>
                </a:lnTo>
                <a:lnTo>
                  <a:pt x="1188" y="151"/>
                </a:lnTo>
                <a:lnTo>
                  <a:pt x="1204" y="166"/>
                </a:lnTo>
                <a:lnTo>
                  <a:pt x="1220" y="181"/>
                </a:lnTo>
                <a:lnTo>
                  <a:pt x="1235" y="197"/>
                </a:lnTo>
                <a:lnTo>
                  <a:pt x="1250" y="213"/>
                </a:lnTo>
                <a:lnTo>
                  <a:pt x="1263" y="231"/>
                </a:lnTo>
                <a:lnTo>
                  <a:pt x="1276" y="249"/>
                </a:lnTo>
                <a:lnTo>
                  <a:pt x="1288" y="266"/>
                </a:lnTo>
                <a:lnTo>
                  <a:pt x="1298" y="285"/>
                </a:lnTo>
                <a:lnTo>
                  <a:pt x="1309" y="306"/>
                </a:lnTo>
                <a:lnTo>
                  <a:pt x="1318" y="325"/>
                </a:lnTo>
                <a:lnTo>
                  <a:pt x="1326" y="347"/>
                </a:lnTo>
                <a:lnTo>
                  <a:pt x="1334" y="368"/>
                </a:lnTo>
                <a:lnTo>
                  <a:pt x="1340" y="390"/>
                </a:lnTo>
                <a:lnTo>
                  <a:pt x="1345" y="412"/>
                </a:lnTo>
                <a:lnTo>
                  <a:pt x="1348" y="434"/>
                </a:lnTo>
                <a:lnTo>
                  <a:pt x="1351" y="456"/>
                </a:lnTo>
                <a:lnTo>
                  <a:pt x="1354" y="479"/>
                </a:lnTo>
                <a:lnTo>
                  <a:pt x="1354" y="503"/>
                </a:lnTo>
                <a:lnTo>
                  <a:pt x="1354" y="503"/>
                </a:lnTo>
                <a:lnTo>
                  <a:pt x="1354" y="527"/>
                </a:lnTo>
                <a:lnTo>
                  <a:pt x="1351" y="550"/>
                </a:lnTo>
                <a:lnTo>
                  <a:pt x="1348" y="572"/>
                </a:lnTo>
                <a:lnTo>
                  <a:pt x="1345" y="596"/>
                </a:lnTo>
                <a:lnTo>
                  <a:pt x="1340" y="618"/>
                </a:lnTo>
                <a:lnTo>
                  <a:pt x="1334" y="638"/>
                </a:lnTo>
                <a:lnTo>
                  <a:pt x="1326" y="660"/>
                </a:lnTo>
                <a:lnTo>
                  <a:pt x="1318" y="681"/>
                </a:lnTo>
                <a:lnTo>
                  <a:pt x="1309" y="702"/>
                </a:lnTo>
                <a:lnTo>
                  <a:pt x="1298" y="721"/>
                </a:lnTo>
                <a:lnTo>
                  <a:pt x="1288" y="740"/>
                </a:lnTo>
                <a:lnTo>
                  <a:pt x="1276" y="759"/>
                </a:lnTo>
                <a:lnTo>
                  <a:pt x="1263" y="777"/>
                </a:lnTo>
                <a:lnTo>
                  <a:pt x="1250" y="793"/>
                </a:lnTo>
                <a:lnTo>
                  <a:pt x="1235" y="810"/>
                </a:lnTo>
                <a:lnTo>
                  <a:pt x="1220" y="825"/>
                </a:lnTo>
                <a:lnTo>
                  <a:pt x="1204" y="841"/>
                </a:lnTo>
                <a:lnTo>
                  <a:pt x="1188" y="856"/>
                </a:lnTo>
                <a:lnTo>
                  <a:pt x="1170" y="869"/>
                </a:lnTo>
                <a:lnTo>
                  <a:pt x="1153" y="881"/>
                </a:lnTo>
                <a:lnTo>
                  <a:pt x="1134" y="894"/>
                </a:lnTo>
                <a:lnTo>
                  <a:pt x="1115" y="905"/>
                </a:lnTo>
                <a:lnTo>
                  <a:pt x="1095" y="915"/>
                </a:lnTo>
                <a:lnTo>
                  <a:pt x="1075" y="924"/>
                </a:lnTo>
                <a:lnTo>
                  <a:pt x="1054" y="933"/>
                </a:lnTo>
                <a:lnTo>
                  <a:pt x="1034" y="940"/>
                </a:lnTo>
                <a:lnTo>
                  <a:pt x="1012" y="946"/>
                </a:lnTo>
                <a:lnTo>
                  <a:pt x="990" y="950"/>
                </a:lnTo>
                <a:lnTo>
                  <a:pt x="968" y="955"/>
                </a:lnTo>
                <a:lnTo>
                  <a:pt x="944" y="958"/>
                </a:lnTo>
                <a:lnTo>
                  <a:pt x="922" y="959"/>
                </a:lnTo>
                <a:lnTo>
                  <a:pt x="898" y="959"/>
                </a:lnTo>
                <a:lnTo>
                  <a:pt x="898" y="959"/>
                </a:lnTo>
                <a:lnTo>
                  <a:pt x="875" y="959"/>
                </a:lnTo>
                <a:lnTo>
                  <a:pt x="853" y="958"/>
                </a:lnTo>
                <a:lnTo>
                  <a:pt x="829" y="955"/>
                </a:lnTo>
                <a:lnTo>
                  <a:pt x="807" y="950"/>
                </a:lnTo>
                <a:lnTo>
                  <a:pt x="787" y="946"/>
                </a:lnTo>
                <a:lnTo>
                  <a:pt x="765" y="940"/>
                </a:lnTo>
                <a:lnTo>
                  <a:pt x="744" y="933"/>
                </a:lnTo>
                <a:lnTo>
                  <a:pt x="723" y="925"/>
                </a:lnTo>
                <a:lnTo>
                  <a:pt x="704" y="916"/>
                </a:lnTo>
                <a:lnTo>
                  <a:pt x="684" y="906"/>
                </a:lnTo>
                <a:lnTo>
                  <a:pt x="666" y="896"/>
                </a:lnTo>
                <a:lnTo>
                  <a:pt x="647" y="884"/>
                </a:lnTo>
                <a:lnTo>
                  <a:pt x="629" y="872"/>
                </a:lnTo>
                <a:lnTo>
                  <a:pt x="613" y="859"/>
                </a:lnTo>
                <a:lnTo>
                  <a:pt x="596" y="846"/>
                </a:lnTo>
                <a:lnTo>
                  <a:pt x="581" y="831"/>
                </a:lnTo>
                <a:lnTo>
                  <a:pt x="565" y="815"/>
                </a:lnTo>
                <a:lnTo>
                  <a:pt x="551" y="799"/>
                </a:lnTo>
                <a:lnTo>
                  <a:pt x="537" y="782"/>
                </a:lnTo>
                <a:lnTo>
                  <a:pt x="525" y="765"/>
                </a:lnTo>
                <a:lnTo>
                  <a:pt x="513" y="747"/>
                </a:lnTo>
                <a:lnTo>
                  <a:pt x="501" y="730"/>
                </a:lnTo>
                <a:lnTo>
                  <a:pt x="491" y="710"/>
                </a:lnTo>
                <a:lnTo>
                  <a:pt x="482" y="690"/>
                </a:lnTo>
                <a:lnTo>
                  <a:pt x="473" y="671"/>
                </a:lnTo>
                <a:lnTo>
                  <a:pt x="466" y="650"/>
                </a:lnTo>
                <a:lnTo>
                  <a:pt x="459" y="628"/>
                </a:lnTo>
                <a:lnTo>
                  <a:pt x="453" y="607"/>
                </a:lnTo>
                <a:lnTo>
                  <a:pt x="448" y="585"/>
                </a:lnTo>
                <a:lnTo>
                  <a:pt x="446" y="563"/>
                </a:lnTo>
                <a:lnTo>
                  <a:pt x="443" y="541"/>
                </a:lnTo>
                <a:lnTo>
                  <a:pt x="441" y="518"/>
                </a:lnTo>
                <a:lnTo>
                  <a:pt x="396" y="515"/>
                </a:lnTo>
                <a:lnTo>
                  <a:pt x="140" y="530"/>
                </a:lnTo>
                <a:lnTo>
                  <a:pt x="93" y="531"/>
                </a:lnTo>
                <a:lnTo>
                  <a:pt x="93" y="531"/>
                </a:lnTo>
                <a:lnTo>
                  <a:pt x="97" y="588"/>
                </a:lnTo>
                <a:lnTo>
                  <a:pt x="99" y="647"/>
                </a:lnTo>
                <a:lnTo>
                  <a:pt x="99" y="647"/>
                </a:lnTo>
                <a:close/>
              </a:path>
            </a:pathLst>
          </a:custGeom>
          <a:solidFill>
            <a:srgbClr val="ED1B24"/>
          </a:solidFill>
          <a:ln w="1588">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 name="TextBox 49"/>
          <p:cNvSpPr txBox="1"/>
          <p:nvPr/>
        </p:nvSpPr>
        <p:spPr>
          <a:xfrm>
            <a:off x="8802542" y="4467049"/>
            <a:ext cx="2154384" cy="1508105"/>
          </a:xfrm>
          <a:prstGeom prst="rect">
            <a:avLst/>
          </a:prstGeom>
          <a:noFill/>
        </p:spPr>
        <p:txBody>
          <a:bodyPr wrap="squar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200" dirty="0">
                <a:solidFill>
                  <a:srgbClr val="000000"/>
                </a:solidFill>
                <a:latin typeface="Calibri" panose="020F0502020204030204" pitchFamily="34" charset="0"/>
              </a:rPr>
              <a:t>Global </a:t>
            </a:r>
            <a:r>
              <a:rPr lang="en-US" sz="1400" i="1" dirty="0">
                <a:solidFill>
                  <a:srgbClr val="000000"/>
                </a:solidFill>
                <a:latin typeface="Calibri" panose="020F0502020204030204" pitchFamily="34" charset="0"/>
              </a:rPr>
              <a:t>Dairy Products </a:t>
            </a:r>
            <a:r>
              <a:rPr lang="en-US" sz="1200" dirty="0">
                <a:solidFill>
                  <a:srgbClr val="000000"/>
                </a:solidFill>
                <a:latin typeface="Calibri" panose="020F0502020204030204" pitchFamily="34" charset="0"/>
              </a:rPr>
              <a:t>market in food and beverages is estimated</a:t>
            </a:r>
          </a:p>
          <a:p>
            <a:r>
              <a:rPr lang="en-US" sz="1200" dirty="0">
                <a:solidFill>
                  <a:srgbClr val="000000"/>
                </a:solidFill>
                <a:latin typeface="Calibri" panose="020F0502020204030204" pitchFamily="34" charset="0"/>
              </a:rPr>
              <a:t> to grow from </a:t>
            </a:r>
            <a:r>
              <a:rPr lang="en-US" b="1" dirty="0">
                <a:solidFill>
                  <a:srgbClr val="000000"/>
                </a:solidFill>
                <a:latin typeface="Calibri" panose="020F0502020204030204" pitchFamily="34" charset="0"/>
              </a:rPr>
              <a:t>US$ 18,582.5</a:t>
            </a:r>
          </a:p>
          <a:p>
            <a:r>
              <a:rPr lang="en-US" b="1" dirty="0"/>
              <a:t>Million </a:t>
            </a:r>
            <a:r>
              <a:rPr lang="en-US" sz="1200" dirty="0"/>
              <a:t>in 2017 to </a:t>
            </a:r>
            <a:r>
              <a:rPr lang="en-US" b="1" dirty="0"/>
              <a:t>US$ 25,332.2 Million</a:t>
            </a:r>
            <a:r>
              <a:rPr lang="en-US" sz="1200" b="1" dirty="0"/>
              <a:t> </a:t>
            </a:r>
            <a:r>
              <a:rPr lang="en-US" sz="1200" dirty="0"/>
              <a:t>by 2027 with a CAGR of </a:t>
            </a:r>
            <a:r>
              <a:rPr lang="en-US" b="1" dirty="0"/>
              <a:t>5.3%</a:t>
            </a:r>
            <a:endParaRPr lang="en-US" sz="1200" b="1" dirty="0"/>
          </a:p>
        </p:txBody>
      </p:sp>
      <p:sp>
        <p:nvSpPr>
          <p:cNvPr id="13" name="TextBox 50"/>
          <p:cNvSpPr txBox="1"/>
          <p:nvPr/>
        </p:nvSpPr>
        <p:spPr>
          <a:xfrm>
            <a:off x="6622280" y="4857640"/>
            <a:ext cx="1141413" cy="692497"/>
          </a:xfrm>
          <a:prstGeom prst="rect">
            <a:avLst/>
          </a:prstGeom>
          <a:noFill/>
        </p:spPr>
        <p:txBody>
          <a:bodyPr wrap="squar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r>
              <a:rPr lang="en-US" sz="1000" dirty="0"/>
              <a:t>North America Dairy Products Market in food and beverages is estimated to be the largest</a:t>
            </a:r>
          </a:p>
        </p:txBody>
      </p:sp>
      <p:grpSp>
        <p:nvGrpSpPr>
          <p:cNvPr id="14" name="Group 13"/>
          <p:cNvGrpSpPr/>
          <p:nvPr/>
        </p:nvGrpSpPr>
        <p:grpSpPr>
          <a:xfrm>
            <a:off x="6410278" y="2090395"/>
            <a:ext cx="2360747" cy="2388533"/>
            <a:chOff x="4721177" y="807694"/>
            <a:chExt cx="2360747" cy="2388533"/>
          </a:xfrm>
        </p:grpSpPr>
        <p:sp>
          <p:nvSpPr>
            <p:cNvPr id="15" name="Oval 14"/>
            <p:cNvSpPr/>
            <p:nvPr/>
          </p:nvSpPr>
          <p:spPr>
            <a:xfrm>
              <a:off x="4851400" y="952500"/>
              <a:ext cx="1879600" cy="2044700"/>
            </a:xfrm>
            <a:prstGeom prst="ellipse">
              <a:avLst/>
            </a:prstGeom>
            <a:solidFill>
              <a:srgbClr val="F5812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Pie 15"/>
            <p:cNvSpPr/>
            <p:nvPr/>
          </p:nvSpPr>
          <p:spPr>
            <a:xfrm rot="1964630">
              <a:off x="4721177" y="807694"/>
              <a:ext cx="2360747" cy="2388533"/>
            </a:xfrm>
            <a:prstGeom prst="pie">
              <a:avLst>
                <a:gd name="adj1" fmla="val 0"/>
                <a:gd name="adj2" fmla="val 21548667"/>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7" name="TextBox 16"/>
          <p:cNvSpPr txBox="1"/>
          <p:nvPr/>
        </p:nvSpPr>
        <p:spPr>
          <a:xfrm>
            <a:off x="6769100" y="2882901"/>
            <a:ext cx="1663700" cy="830997"/>
          </a:xfrm>
          <a:prstGeom prst="rect">
            <a:avLst/>
          </a:prstGeom>
          <a:noFill/>
        </p:spPr>
        <p:txBody>
          <a:bodyPr wrap="square" rtlCol="0">
            <a:spAutoFit/>
          </a:bodyPr>
          <a:lstStyle/>
          <a:p>
            <a:pPr algn="ctr"/>
            <a:r>
              <a:rPr lang="en-US" sz="1600" dirty="0"/>
              <a:t>Food and Beverages Market</a:t>
            </a:r>
          </a:p>
        </p:txBody>
      </p:sp>
      <p:cxnSp>
        <p:nvCxnSpPr>
          <p:cNvPr id="18" name="Elbow Connector 17"/>
          <p:cNvCxnSpPr>
            <a:stCxn id="16" idx="0"/>
            <a:endCxn id="12" idx="0"/>
          </p:cNvCxnSpPr>
          <p:nvPr/>
        </p:nvCxnSpPr>
        <p:spPr>
          <a:xfrm>
            <a:off x="8583460" y="3923106"/>
            <a:ext cx="1296275" cy="543942"/>
          </a:xfrm>
          <a:prstGeom prst="bentConnector2">
            <a:avLst/>
          </a:prstGeom>
          <a:ln>
            <a:solidFill>
              <a:srgbClr val="B8813B"/>
            </a:solidFill>
            <a:tailEnd type="triangle"/>
          </a:ln>
        </p:spPr>
        <p:style>
          <a:lnRef idx="3">
            <a:schemeClr val="accent4"/>
          </a:lnRef>
          <a:fillRef idx="0">
            <a:schemeClr val="accent4"/>
          </a:fillRef>
          <a:effectRef idx="2">
            <a:schemeClr val="accent4"/>
          </a:effectRef>
          <a:fontRef idx="minor">
            <a:schemeClr val="tx1"/>
          </a:fontRef>
        </p:style>
      </p:cxnSp>
      <p:sp>
        <p:nvSpPr>
          <p:cNvPr id="19" name="Rectangle 18"/>
          <p:cNvSpPr/>
          <p:nvPr/>
        </p:nvSpPr>
        <p:spPr>
          <a:xfrm>
            <a:off x="9028640" y="1549430"/>
            <a:ext cx="1144496" cy="769441"/>
          </a:xfrm>
          <a:prstGeom prst="rect">
            <a:avLst/>
          </a:prstGeom>
        </p:spPr>
        <p:txBody>
          <a:bodyPr wrap="square">
            <a:spAutoFit/>
          </a:bodyPr>
          <a:lstStyle/>
          <a:p>
            <a:pPr algn="ctr"/>
            <a:r>
              <a:rPr lang="en-US" sz="1100" dirty="0">
                <a:solidFill>
                  <a:srgbClr val="000000"/>
                </a:solidFill>
                <a:latin typeface="Calibri" panose="020F0502020204030204" pitchFamily="34" charset="0"/>
              </a:rPr>
              <a:t>Asia Pacific to grow over the forecast period rapidly</a:t>
            </a:r>
            <a:endParaRPr lang="en-US" sz="1100" dirty="0"/>
          </a:p>
        </p:txBody>
      </p:sp>
      <p:sp>
        <p:nvSpPr>
          <p:cNvPr id="20" name="Freeform 19"/>
          <p:cNvSpPr>
            <a:spLocks/>
          </p:cNvSpPr>
          <p:nvPr/>
        </p:nvSpPr>
        <p:spPr bwMode="auto">
          <a:xfrm>
            <a:off x="3157796" y="2973287"/>
            <a:ext cx="3240858" cy="1856291"/>
          </a:xfrm>
          <a:custGeom>
            <a:avLst/>
            <a:gdLst>
              <a:gd name="T0" fmla="*/ 1190 w 1788"/>
              <a:gd name="T1" fmla="*/ 13 h 1009"/>
              <a:gd name="T2" fmla="*/ 1045 w 1788"/>
              <a:gd name="T3" fmla="*/ 65 h 1009"/>
              <a:gd name="T4" fmla="*/ 925 w 1788"/>
              <a:gd name="T5" fmla="*/ 156 h 1009"/>
              <a:gd name="T6" fmla="*/ 901 w 1788"/>
              <a:gd name="T7" fmla="*/ 260 h 1009"/>
              <a:gd name="T8" fmla="*/ 973 w 1788"/>
              <a:gd name="T9" fmla="*/ 173 h 1009"/>
              <a:gd name="T10" fmla="*/ 1088 w 1788"/>
              <a:gd name="T11" fmla="*/ 94 h 1009"/>
              <a:gd name="T12" fmla="*/ 1226 w 1788"/>
              <a:gd name="T13" fmla="*/ 54 h 1009"/>
              <a:gd name="T14" fmla="*/ 1332 w 1788"/>
              <a:gd name="T15" fmla="*/ 53 h 1009"/>
              <a:gd name="T16" fmla="*/ 1442 w 1788"/>
              <a:gd name="T17" fmla="*/ 78 h 1009"/>
              <a:gd name="T18" fmla="*/ 1541 w 1788"/>
              <a:gd name="T19" fmla="*/ 128 h 1009"/>
              <a:gd name="T20" fmla="*/ 1623 w 1788"/>
              <a:gd name="T21" fmla="*/ 200 h 1009"/>
              <a:gd name="T22" fmla="*/ 1687 w 1788"/>
              <a:gd name="T23" fmla="*/ 290 h 1009"/>
              <a:gd name="T24" fmla="*/ 1728 w 1788"/>
              <a:gd name="T25" fmla="*/ 393 h 1009"/>
              <a:gd name="T26" fmla="*/ 1742 w 1788"/>
              <a:gd name="T27" fmla="*/ 506 h 1009"/>
              <a:gd name="T28" fmla="*/ 1732 w 1788"/>
              <a:gd name="T29" fmla="*/ 599 h 1009"/>
              <a:gd name="T30" fmla="*/ 1697 w 1788"/>
              <a:gd name="T31" fmla="*/ 704 h 1009"/>
              <a:gd name="T32" fmla="*/ 1638 w 1788"/>
              <a:gd name="T33" fmla="*/ 797 h 1009"/>
              <a:gd name="T34" fmla="*/ 1559 w 1788"/>
              <a:gd name="T35" fmla="*/ 872 h 1009"/>
              <a:gd name="T36" fmla="*/ 1463 w 1788"/>
              <a:gd name="T37" fmla="*/ 927 h 1009"/>
              <a:gd name="T38" fmla="*/ 1354 w 1788"/>
              <a:gd name="T39" fmla="*/ 957 h 1009"/>
              <a:gd name="T40" fmla="*/ 1262 w 1788"/>
              <a:gd name="T41" fmla="*/ 962 h 1009"/>
              <a:gd name="T42" fmla="*/ 1150 w 1788"/>
              <a:gd name="T43" fmla="*/ 943 h 1009"/>
              <a:gd name="T44" fmla="*/ 1048 w 1788"/>
              <a:gd name="T45" fmla="*/ 897 h 1009"/>
              <a:gd name="T46" fmla="*/ 963 w 1788"/>
              <a:gd name="T47" fmla="*/ 829 h 1009"/>
              <a:gd name="T48" fmla="*/ 895 w 1788"/>
              <a:gd name="T49" fmla="*/ 743 h 1009"/>
              <a:gd name="T50" fmla="*/ 850 w 1788"/>
              <a:gd name="T51" fmla="*/ 643 h 1009"/>
              <a:gd name="T52" fmla="*/ 829 w 1788"/>
              <a:gd name="T53" fmla="*/ 529 h 1009"/>
              <a:gd name="T54" fmla="*/ 837 w 1788"/>
              <a:gd name="T55" fmla="*/ 426 h 1009"/>
              <a:gd name="T56" fmla="*/ 876 w 1788"/>
              <a:gd name="T57" fmla="*/ 304 h 1009"/>
              <a:gd name="T58" fmla="*/ 329 w 1788"/>
              <a:gd name="T59" fmla="*/ 28 h 1009"/>
              <a:gd name="T60" fmla="*/ 238 w 1788"/>
              <a:gd name="T61" fmla="*/ 162 h 1009"/>
              <a:gd name="T62" fmla="*/ 128 w 1788"/>
              <a:gd name="T63" fmla="*/ 279 h 1009"/>
              <a:gd name="T64" fmla="*/ 0 w 1788"/>
              <a:gd name="T65" fmla="*/ 379 h 1009"/>
              <a:gd name="T66" fmla="*/ 170 w 1788"/>
              <a:gd name="T67" fmla="*/ 301 h 1009"/>
              <a:gd name="T68" fmla="*/ 348 w 1788"/>
              <a:gd name="T69" fmla="*/ 87 h 1009"/>
              <a:gd name="T70" fmla="*/ 803 w 1788"/>
              <a:gd name="T71" fmla="*/ 366 h 1009"/>
              <a:gd name="T72" fmla="*/ 784 w 1788"/>
              <a:gd name="T73" fmla="*/ 482 h 1009"/>
              <a:gd name="T74" fmla="*/ 788 w 1788"/>
              <a:gd name="T75" fmla="*/ 582 h 1009"/>
              <a:gd name="T76" fmla="*/ 822 w 1788"/>
              <a:gd name="T77" fmla="*/ 701 h 1009"/>
              <a:gd name="T78" fmla="*/ 882 w 1788"/>
              <a:gd name="T79" fmla="*/ 807 h 1009"/>
              <a:gd name="T80" fmla="*/ 966 w 1788"/>
              <a:gd name="T81" fmla="*/ 894 h 1009"/>
              <a:gd name="T82" fmla="*/ 1067 w 1788"/>
              <a:gd name="T83" fmla="*/ 959 h 1009"/>
              <a:gd name="T84" fmla="*/ 1184 w 1788"/>
              <a:gd name="T85" fmla="*/ 999 h 1009"/>
              <a:gd name="T86" fmla="*/ 1285 w 1788"/>
              <a:gd name="T87" fmla="*/ 1009 h 1009"/>
              <a:gd name="T88" fmla="*/ 1410 w 1788"/>
              <a:gd name="T89" fmla="*/ 993 h 1009"/>
              <a:gd name="T90" fmla="*/ 1525 w 1788"/>
              <a:gd name="T91" fmla="*/ 949 h 1009"/>
              <a:gd name="T92" fmla="*/ 1623 w 1788"/>
              <a:gd name="T93" fmla="*/ 878 h 1009"/>
              <a:gd name="T94" fmla="*/ 1703 w 1788"/>
              <a:gd name="T95" fmla="*/ 787 h 1009"/>
              <a:gd name="T96" fmla="*/ 1757 w 1788"/>
              <a:gd name="T97" fmla="*/ 679 h 1009"/>
              <a:gd name="T98" fmla="*/ 1785 w 1788"/>
              <a:gd name="T99" fmla="*/ 557 h 1009"/>
              <a:gd name="T100" fmla="*/ 1785 w 1788"/>
              <a:gd name="T101" fmla="*/ 454 h 1009"/>
              <a:gd name="T102" fmla="*/ 1757 w 1788"/>
              <a:gd name="T103" fmla="*/ 334 h 1009"/>
              <a:gd name="T104" fmla="*/ 1703 w 1788"/>
              <a:gd name="T105" fmla="*/ 225 h 1009"/>
              <a:gd name="T106" fmla="*/ 1623 w 1788"/>
              <a:gd name="T107" fmla="*/ 134 h 1009"/>
              <a:gd name="T108" fmla="*/ 1525 w 1788"/>
              <a:gd name="T109" fmla="*/ 65 h 1009"/>
              <a:gd name="T110" fmla="*/ 1410 w 1788"/>
              <a:gd name="T111" fmla="*/ 19 h 1009"/>
              <a:gd name="T112" fmla="*/ 1285 w 1788"/>
              <a:gd name="T113" fmla="*/ 4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8" h="1009">
                <a:moveTo>
                  <a:pt x="1285" y="4"/>
                </a:moveTo>
                <a:lnTo>
                  <a:pt x="1285" y="4"/>
                </a:lnTo>
                <a:lnTo>
                  <a:pt x="1253" y="4"/>
                </a:lnTo>
                <a:lnTo>
                  <a:pt x="1222" y="7"/>
                </a:lnTo>
                <a:lnTo>
                  <a:pt x="1190" y="13"/>
                </a:lnTo>
                <a:lnTo>
                  <a:pt x="1160" y="19"/>
                </a:lnTo>
                <a:lnTo>
                  <a:pt x="1129" y="28"/>
                </a:lnTo>
                <a:lnTo>
                  <a:pt x="1101" y="38"/>
                </a:lnTo>
                <a:lnTo>
                  <a:pt x="1073" y="51"/>
                </a:lnTo>
                <a:lnTo>
                  <a:pt x="1045" y="65"/>
                </a:lnTo>
                <a:lnTo>
                  <a:pt x="1019" y="81"/>
                </a:lnTo>
                <a:lnTo>
                  <a:pt x="994" y="97"/>
                </a:lnTo>
                <a:lnTo>
                  <a:pt x="970" y="115"/>
                </a:lnTo>
                <a:lnTo>
                  <a:pt x="947" y="135"/>
                </a:lnTo>
                <a:lnTo>
                  <a:pt x="925" y="156"/>
                </a:lnTo>
                <a:lnTo>
                  <a:pt x="906" y="178"/>
                </a:lnTo>
                <a:lnTo>
                  <a:pt x="887" y="201"/>
                </a:lnTo>
                <a:lnTo>
                  <a:pt x="869" y="226"/>
                </a:lnTo>
                <a:lnTo>
                  <a:pt x="870" y="229"/>
                </a:lnTo>
                <a:lnTo>
                  <a:pt x="901" y="260"/>
                </a:lnTo>
                <a:lnTo>
                  <a:pt x="901" y="260"/>
                </a:lnTo>
                <a:lnTo>
                  <a:pt x="917" y="237"/>
                </a:lnTo>
                <a:lnTo>
                  <a:pt x="935" y="215"/>
                </a:lnTo>
                <a:lnTo>
                  <a:pt x="953" y="194"/>
                </a:lnTo>
                <a:lnTo>
                  <a:pt x="973" y="173"/>
                </a:lnTo>
                <a:lnTo>
                  <a:pt x="994" y="156"/>
                </a:lnTo>
                <a:lnTo>
                  <a:pt x="1016" y="138"/>
                </a:lnTo>
                <a:lnTo>
                  <a:pt x="1040" y="122"/>
                </a:lnTo>
                <a:lnTo>
                  <a:pt x="1063" y="107"/>
                </a:lnTo>
                <a:lnTo>
                  <a:pt x="1088" y="94"/>
                </a:lnTo>
                <a:lnTo>
                  <a:pt x="1115" y="84"/>
                </a:lnTo>
                <a:lnTo>
                  <a:pt x="1141" y="73"/>
                </a:lnTo>
                <a:lnTo>
                  <a:pt x="1169" y="65"/>
                </a:lnTo>
                <a:lnTo>
                  <a:pt x="1197" y="59"/>
                </a:lnTo>
                <a:lnTo>
                  <a:pt x="1226" y="54"/>
                </a:lnTo>
                <a:lnTo>
                  <a:pt x="1256" y="51"/>
                </a:lnTo>
                <a:lnTo>
                  <a:pt x="1285" y="50"/>
                </a:lnTo>
                <a:lnTo>
                  <a:pt x="1285" y="50"/>
                </a:lnTo>
                <a:lnTo>
                  <a:pt x="1309" y="50"/>
                </a:lnTo>
                <a:lnTo>
                  <a:pt x="1332" y="53"/>
                </a:lnTo>
                <a:lnTo>
                  <a:pt x="1354" y="56"/>
                </a:lnTo>
                <a:lnTo>
                  <a:pt x="1378" y="59"/>
                </a:lnTo>
                <a:lnTo>
                  <a:pt x="1400" y="65"/>
                </a:lnTo>
                <a:lnTo>
                  <a:pt x="1420" y="71"/>
                </a:lnTo>
                <a:lnTo>
                  <a:pt x="1442" y="78"/>
                </a:lnTo>
                <a:lnTo>
                  <a:pt x="1463" y="85"/>
                </a:lnTo>
                <a:lnTo>
                  <a:pt x="1484" y="96"/>
                </a:lnTo>
                <a:lnTo>
                  <a:pt x="1503" y="106"/>
                </a:lnTo>
                <a:lnTo>
                  <a:pt x="1522" y="116"/>
                </a:lnTo>
                <a:lnTo>
                  <a:pt x="1541" y="128"/>
                </a:lnTo>
                <a:lnTo>
                  <a:pt x="1559" y="141"/>
                </a:lnTo>
                <a:lnTo>
                  <a:pt x="1575" y="154"/>
                </a:lnTo>
                <a:lnTo>
                  <a:pt x="1592" y="169"/>
                </a:lnTo>
                <a:lnTo>
                  <a:pt x="1609" y="184"/>
                </a:lnTo>
                <a:lnTo>
                  <a:pt x="1623" y="200"/>
                </a:lnTo>
                <a:lnTo>
                  <a:pt x="1638" y="216"/>
                </a:lnTo>
                <a:lnTo>
                  <a:pt x="1651" y="234"/>
                </a:lnTo>
                <a:lnTo>
                  <a:pt x="1663" y="251"/>
                </a:lnTo>
                <a:lnTo>
                  <a:pt x="1676" y="271"/>
                </a:lnTo>
                <a:lnTo>
                  <a:pt x="1687" y="290"/>
                </a:lnTo>
                <a:lnTo>
                  <a:pt x="1697" y="309"/>
                </a:lnTo>
                <a:lnTo>
                  <a:pt x="1706" y="329"/>
                </a:lnTo>
                <a:lnTo>
                  <a:pt x="1714" y="350"/>
                </a:lnTo>
                <a:lnTo>
                  <a:pt x="1722" y="371"/>
                </a:lnTo>
                <a:lnTo>
                  <a:pt x="1728" y="393"/>
                </a:lnTo>
                <a:lnTo>
                  <a:pt x="1732" y="415"/>
                </a:lnTo>
                <a:lnTo>
                  <a:pt x="1737" y="437"/>
                </a:lnTo>
                <a:lnTo>
                  <a:pt x="1739" y="460"/>
                </a:lnTo>
                <a:lnTo>
                  <a:pt x="1741" y="482"/>
                </a:lnTo>
                <a:lnTo>
                  <a:pt x="1742" y="506"/>
                </a:lnTo>
                <a:lnTo>
                  <a:pt x="1742" y="506"/>
                </a:lnTo>
                <a:lnTo>
                  <a:pt x="1741" y="529"/>
                </a:lnTo>
                <a:lnTo>
                  <a:pt x="1739" y="553"/>
                </a:lnTo>
                <a:lnTo>
                  <a:pt x="1737" y="576"/>
                </a:lnTo>
                <a:lnTo>
                  <a:pt x="1732" y="599"/>
                </a:lnTo>
                <a:lnTo>
                  <a:pt x="1728" y="621"/>
                </a:lnTo>
                <a:lnTo>
                  <a:pt x="1722" y="643"/>
                </a:lnTo>
                <a:lnTo>
                  <a:pt x="1714" y="663"/>
                </a:lnTo>
                <a:lnTo>
                  <a:pt x="1706" y="684"/>
                </a:lnTo>
                <a:lnTo>
                  <a:pt x="1697" y="704"/>
                </a:lnTo>
                <a:lnTo>
                  <a:pt x="1687" y="724"/>
                </a:lnTo>
                <a:lnTo>
                  <a:pt x="1676" y="743"/>
                </a:lnTo>
                <a:lnTo>
                  <a:pt x="1663" y="762"/>
                </a:lnTo>
                <a:lnTo>
                  <a:pt x="1651" y="779"/>
                </a:lnTo>
                <a:lnTo>
                  <a:pt x="1638" y="797"/>
                </a:lnTo>
                <a:lnTo>
                  <a:pt x="1623" y="813"/>
                </a:lnTo>
                <a:lnTo>
                  <a:pt x="1609" y="829"/>
                </a:lnTo>
                <a:lnTo>
                  <a:pt x="1592" y="844"/>
                </a:lnTo>
                <a:lnTo>
                  <a:pt x="1575" y="859"/>
                </a:lnTo>
                <a:lnTo>
                  <a:pt x="1559" y="872"/>
                </a:lnTo>
                <a:lnTo>
                  <a:pt x="1541" y="885"/>
                </a:lnTo>
                <a:lnTo>
                  <a:pt x="1522" y="897"/>
                </a:lnTo>
                <a:lnTo>
                  <a:pt x="1503" y="907"/>
                </a:lnTo>
                <a:lnTo>
                  <a:pt x="1484" y="918"/>
                </a:lnTo>
                <a:lnTo>
                  <a:pt x="1463" y="927"/>
                </a:lnTo>
                <a:lnTo>
                  <a:pt x="1442" y="935"/>
                </a:lnTo>
                <a:lnTo>
                  <a:pt x="1420" y="943"/>
                </a:lnTo>
                <a:lnTo>
                  <a:pt x="1400" y="949"/>
                </a:lnTo>
                <a:lnTo>
                  <a:pt x="1378" y="953"/>
                </a:lnTo>
                <a:lnTo>
                  <a:pt x="1354" y="957"/>
                </a:lnTo>
                <a:lnTo>
                  <a:pt x="1332" y="960"/>
                </a:lnTo>
                <a:lnTo>
                  <a:pt x="1309" y="962"/>
                </a:lnTo>
                <a:lnTo>
                  <a:pt x="1285" y="963"/>
                </a:lnTo>
                <a:lnTo>
                  <a:pt x="1285" y="963"/>
                </a:lnTo>
                <a:lnTo>
                  <a:pt x="1262" y="962"/>
                </a:lnTo>
                <a:lnTo>
                  <a:pt x="1238" y="960"/>
                </a:lnTo>
                <a:lnTo>
                  <a:pt x="1216" y="957"/>
                </a:lnTo>
                <a:lnTo>
                  <a:pt x="1194" y="953"/>
                </a:lnTo>
                <a:lnTo>
                  <a:pt x="1172" y="949"/>
                </a:lnTo>
                <a:lnTo>
                  <a:pt x="1150" y="943"/>
                </a:lnTo>
                <a:lnTo>
                  <a:pt x="1129" y="935"/>
                </a:lnTo>
                <a:lnTo>
                  <a:pt x="1107" y="927"/>
                </a:lnTo>
                <a:lnTo>
                  <a:pt x="1088" y="918"/>
                </a:lnTo>
                <a:lnTo>
                  <a:pt x="1067" y="907"/>
                </a:lnTo>
                <a:lnTo>
                  <a:pt x="1048" y="897"/>
                </a:lnTo>
                <a:lnTo>
                  <a:pt x="1031" y="885"/>
                </a:lnTo>
                <a:lnTo>
                  <a:pt x="1013" y="872"/>
                </a:lnTo>
                <a:lnTo>
                  <a:pt x="995" y="859"/>
                </a:lnTo>
                <a:lnTo>
                  <a:pt x="979" y="844"/>
                </a:lnTo>
                <a:lnTo>
                  <a:pt x="963" y="829"/>
                </a:lnTo>
                <a:lnTo>
                  <a:pt x="948" y="813"/>
                </a:lnTo>
                <a:lnTo>
                  <a:pt x="934" y="797"/>
                </a:lnTo>
                <a:lnTo>
                  <a:pt x="920" y="779"/>
                </a:lnTo>
                <a:lnTo>
                  <a:pt x="907" y="762"/>
                </a:lnTo>
                <a:lnTo>
                  <a:pt x="895" y="743"/>
                </a:lnTo>
                <a:lnTo>
                  <a:pt x="884" y="724"/>
                </a:lnTo>
                <a:lnTo>
                  <a:pt x="873" y="704"/>
                </a:lnTo>
                <a:lnTo>
                  <a:pt x="865" y="684"/>
                </a:lnTo>
                <a:lnTo>
                  <a:pt x="857" y="663"/>
                </a:lnTo>
                <a:lnTo>
                  <a:pt x="850" y="643"/>
                </a:lnTo>
                <a:lnTo>
                  <a:pt x="844" y="621"/>
                </a:lnTo>
                <a:lnTo>
                  <a:pt x="838" y="599"/>
                </a:lnTo>
                <a:lnTo>
                  <a:pt x="834" y="576"/>
                </a:lnTo>
                <a:lnTo>
                  <a:pt x="831" y="553"/>
                </a:lnTo>
                <a:lnTo>
                  <a:pt x="829" y="529"/>
                </a:lnTo>
                <a:lnTo>
                  <a:pt x="829" y="506"/>
                </a:lnTo>
                <a:lnTo>
                  <a:pt x="829" y="506"/>
                </a:lnTo>
                <a:lnTo>
                  <a:pt x="829" y="479"/>
                </a:lnTo>
                <a:lnTo>
                  <a:pt x="832" y="453"/>
                </a:lnTo>
                <a:lnTo>
                  <a:pt x="837" y="426"/>
                </a:lnTo>
                <a:lnTo>
                  <a:pt x="841" y="401"/>
                </a:lnTo>
                <a:lnTo>
                  <a:pt x="848" y="376"/>
                </a:lnTo>
                <a:lnTo>
                  <a:pt x="856" y="351"/>
                </a:lnTo>
                <a:lnTo>
                  <a:pt x="866" y="328"/>
                </a:lnTo>
                <a:lnTo>
                  <a:pt x="876" y="304"/>
                </a:lnTo>
                <a:lnTo>
                  <a:pt x="837" y="281"/>
                </a:lnTo>
                <a:lnTo>
                  <a:pt x="387" y="19"/>
                </a:lnTo>
                <a:lnTo>
                  <a:pt x="345" y="0"/>
                </a:lnTo>
                <a:lnTo>
                  <a:pt x="345" y="0"/>
                </a:lnTo>
                <a:lnTo>
                  <a:pt x="329" y="28"/>
                </a:lnTo>
                <a:lnTo>
                  <a:pt x="312" y="56"/>
                </a:lnTo>
                <a:lnTo>
                  <a:pt x="295" y="84"/>
                </a:lnTo>
                <a:lnTo>
                  <a:pt x="276" y="110"/>
                </a:lnTo>
                <a:lnTo>
                  <a:pt x="257" y="137"/>
                </a:lnTo>
                <a:lnTo>
                  <a:pt x="238" y="162"/>
                </a:lnTo>
                <a:lnTo>
                  <a:pt x="218" y="187"/>
                </a:lnTo>
                <a:lnTo>
                  <a:pt x="195" y="210"/>
                </a:lnTo>
                <a:lnTo>
                  <a:pt x="173" y="234"/>
                </a:lnTo>
                <a:lnTo>
                  <a:pt x="151" y="257"/>
                </a:lnTo>
                <a:lnTo>
                  <a:pt x="128" y="279"/>
                </a:lnTo>
                <a:lnTo>
                  <a:pt x="103" y="300"/>
                </a:lnTo>
                <a:lnTo>
                  <a:pt x="78" y="321"/>
                </a:lnTo>
                <a:lnTo>
                  <a:pt x="53" y="341"/>
                </a:lnTo>
                <a:lnTo>
                  <a:pt x="26" y="360"/>
                </a:lnTo>
                <a:lnTo>
                  <a:pt x="0" y="379"/>
                </a:lnTo>
                <a:lnTo>
                  <a:pt x="25" y="418"/>
                </a:lnTo>
                <a:lnTo>
                  <a:pt x="25" y="418"/>
                </a:lnTo>
                <a:lnTo>
                  <a:pt x="76" y="381"/>
                </a:lnTo>
                <a:lnTo>
                  <a:pt x="125" y="343"/>
                </a:lnTo>
                <a:lnTo>
                  <a:pt x="170" y="301"/>
                </a:lnTo>
                <a:lnTo>
                  <a:pt x="215" y="257"/>
                </a:lnTo>
                <a:lnTo>
                  <a:pt x="256" y="212"/>
                </a:lnTo>
                <a:lnTo>
                  <a:pt x="295" y="163"/>
                </a:lnTo>
                <a:lnTo>
                  <a:pt x="331" y="113"/>
                </a:lnTo>
                <a:lnTo>
                  <a:pt x="348" y="87"/>
                </a:lnTo>
                <a:lnTo>
                  <a:pt x="365" y="60"/>
                </a:lnTo>
                <a:lnTo>
                  <a:pt x="817" y="323"/>
                </a:lnTo>
                <a:lnTo>
                  <a:pt x="817" y="323"/>
                </a:lnTo>
                <a:lnTo>
                  <a:pt x="810" y="344"/>
                </a:lnTo>
                <a:lnTo>
                  <a:pt x="803" y="366"/>
                </a:lnTo>
                <a:lnTo>
                  <a:pt x="797" y="388"/>
                </a:lnTo>
                <a:lnTo>
                  <a:pt x="791" y="412"/>
                </a:lnTo>
                <a:lnTo>
                  <a:pt x="788" y="435"/>
                </a:lnTo>
                <a:lnTo>
                  <a:pt x="785" y="459"/>
                </a:lnTo>
                <a:lnTo>
                  <a:pt x="784" y="482"/>
                </a:lnTo>
                <a:lnTo>
                  <a:pt x="782" y="506"/>
                </a:lnTo>
                <a:lnTo>
                  <a:pt x="782" y="506"/>
                </a:lnTo>
                <a:lnTo>
                  <a:pt x="784" y="532"/>
                </a:lnTo>
                <a:lnTo>
                  <a:pt x="785" y="557"/>
                </a:lnTo>
                <a:lnTo>
                  <a:pt x="788" y="582"/>
                </a:lnTo>
                <a:lnTo>
                  <a:pt x="792" y="607"/>
                </a:lnTo>
                <a:lnTo>
                  <a:pt x="798" y="632"/>
                </a:lnTo>
                <a:lnTo>
                  <a:pt x="806" y="656"/>
                </a:lnTo>
                <a:lnTo>
                  <a:pt x="813" y="679"/>
                </a:lnTo>
                <a:lnTo>
                  <a:pt x="822" y="701"/>
                </a:lnTo>
                <a:lnTo>
                  <a:pt x="832" y="724"/>
                </a:lnTo>
                <a:lnTo>
                  <a:pt x="844" y="746"/>
                </a:lnTo>
                <a:lnTo>
                  <a:pt x="856" y="766"/>
                </a:lnTo>
                <a:lnTo>
                  <a:pt x="869" y="787"/>
                </a:lnTo>
                <a:lnTo>
                  <a:pt x="882" y="807"/>
                </a:lnTo>
                <a:lnTo>
                  <a:pt x="897" y="827"/>
                </a:lnTo>
                <a:lnTo>
                  <a:pt x="913" y="844"/>
                </a:lnTo>
                <a:lnTo>
                  <a:pt x="931" y="862"/>
                </a:lnTo>
                <a:lnTo>
                  <a:pt x="947" y="878"/>
                </a:lnTo>
                <a:lnTo>
                  <a:pt x="966" y="894"/>
                </a:lnTo>
                <a:lnTo>
                  <a:pt x="985" y="909"/>
                </a:lnTo>
                <a:lnTo>
                  <a:pt x="1004" y="924"/>
                </a:lnTo>
                <a:lnTo>
                  <a:pt x="1025" y="937"/>
                </a:lnTo>
                <a:lnTo>
                  <a:pt x="1045" y="949"/>
                </a:lnTo>
                <a:lnTo>
                  <a:pt x="1067" y="959"/>
                </a:lnTo>
                <a:lnTo>
                  <a:pt x="1090" y="969"/>
                </a:lnTo>
                <a:lnTo>
                  <a:pt x="1113" y="978"/>
                </a:lnTo>
                <a:lnTo>
                  <a:pt x="1137" y="987"/>
                </a:lnTo>
                <a:lnTo>
                  <a:pt x="1160" y="993"/>
                </a:lnTo>
                <a:lnTo>
                  <a:pt x="1184" y="999"/>
                </a:lnTo>
                <a:lnTo>
                  <a:pt x="1209" y="1003"/>
                </a:lnTo>
                <a:lnTo>
                  <a:pt x="1234" y="1006"/>
                </a:lnTo>
                <a:lnTo>
                  <a:pt x="1260" y="1009"/>
                </a:lnTo>
                <a:lnTo>
                  <a:pt x="1285" y="1009"/>
                </a:lnTo>
                <a:lnTo>
                  <a:pt x="1285" y="1009"/>
                </a:lnTo>
                <a:lnTo>
                  <a:pt x="1312" y="1009"/>
                </a:lnTo>
                <a:lnTo>
                  <a:pt x="1337" y="1006"/>
                </a:lnTo>
                <a:lnTo>
                  <a:pt x="1362" y="1003"/>
                </a:lnTo>
                <a:lnTo>
                  <a:pt x="1387" y="999"/>
                </a:lnTo>
                <a:lnTo>
                  <a:pt x="1410" y="993"/>
                </a:lnTo>
                <a:lnTo>
                  <a:pt x="1435" y="987"/>
                </a:lnTo>
                <a:lnTo>
                  <a:pt x="1459" y="978"/>
                </a:lnTo>
                <a:lnTo>
                  <a:pt x="1481" y="969"/>
                </a:lnTo>
                <a:lnTo>
                  <a:pt x="1503" y="959"/>
                </a:lnTo>
                <a:lnTo>
                  <a:pt x="1525" y="949"/>
                </a:lnTo>
                <a:lnTo>
                  <a:pt x="1545" y="937"/>
                </a:lnTo>
                <a:lnTo>
                  <a:pt x="1566" y="924"/>
                </a:lnTo>
                <a:lnTo>
                  <a:pt x="1587" y="909"/>
                </a:lnTo>
                <a:lnTo>
                  <a:pt x="1604" y="894"/>
                </a:lnTo>
                <a:lnTo>
                  <a:pt x="1623" y="878"/>
                </a:lnTo>
                <a:lnTo>
                  <a:pt x="1641" y="862"/>
                </a:lnTo>
                <a:lnTo>
                  <a:pt x="1657" y="844"/>
                </a:lnTo>
                <a:lnTo>
                  <a:pt x="1673" y="827"/>
                </a:lnTo>
                <a:lnTo>
                  <a:pt x="1688" y="807"/>
                </a:lnTo>
                <a:lnTo>
                  <a:pt x="1703" y="787"/>
                </a:lnTo>
                <a:lnTo>
                  <a:pt x="1714" y="766"/>
                </a:lnTo>
                <a:lnTo>
                  <a:pt x="1728" y="746"/>
                </a:lnTo>
                <a:lnTo>
                  <a:pt x="1738" y="724"/>
                </a:lnTo>
                <a:lnTo>
                  <a:pt x="1748" y="701"/>
                </a:lnTo>
                <a:lnTo>
                  <a:pt x="1757" y="679"/>
                </a:lnTo>
                <a:lnTo>
                  <a:pt x="1766" y="656"/>
                </a:lnTo>
                <a:lnTo>
                  <a:pt x="1772" y="632"/>
                </a:lnTo>
                <a:lnTo>
                  <a:pt x="1778" y="607"/>
                </a:lnTo>
                <a:lnTo>
                  <a:pt x="1782" y="582"/>
                </a:lnTo>
                <a:lnTo>
                  <a:pt x="1785" y="557"/>
                </a:lnTo>
                <a:lnTo>
                  <a:pt x="1788" y="532"/>
                </a:lnTo>
                <a:lnTo>
                  <a:pt x="1788" y="506"/>
                </a:lnTo>
                <a:lnTo>
                  <a:pt x="1788" y="506"/>
                </a:lnTo>
                <a:lnTo>
                  <a:pt x="1788" y="481"/>
                </a:lnTo>
                <a:lnTo>
                  <a:pt x="1785" y="454"/>
                </a:lnTo>
                <a:lnTo>
                  <a:pt x="1782" y="429"/>
                </a:lnTo>
                <a:lnTo>
                  <a:pt x="1778" y="406"/>
                </a:lnTo>
                <a:lnTo>
                  <a:pt x="1772" y="381"/>
                </a:lnTo>
                <a:lnTo>
                  <a:pt x="1766" y="357"/>
                </a:lnTo>
                <a:lnTo>
                  <a:pt x="1757" y="334"/>
                </a:lnTo>
                <a:lnTo>
                  <a:pt x="1748" y="310"/>
                </a:lnTo>
                <a:lnTo>
                  <a:pt x="1738" y="288"/>
                </a:lnTo>
                <a:lnTo>
                  <a:pt x="1728" y="268"/>
                </a:lnTo>
                <a:lnTo>
                  <a:pt x="1714" y="246"/>
                </a:lnTo>
                <a:lnTo>
                  <a:pt x="1703" y="225"/>
                </a:lnTo>
                <a:lnTo>
                  <a:pt x="1688" y="206"/>
                </a:lnTo>
                <a:lnTo>
                  <a:pt x="1673" y="187"/>
                </a:lnTo>
                <a:lnTo>
                  <a:pt x="1657" y="169"/>
                </a:lnTo>
                <a:lnTo>
                  <a:pt x="1641" y="151"/>
                </a:lnTo>
                <a:lnTo>
                  <a:pt x="1623" y="134"/>
                </a:lnTo>
                <a:lnTo>
                  <a:pt x="1604" y="119"/>
                </a:lnTo>
                <a:lnTo>
                  <a:pt x="1587" y="104"/>
                </a:lnTo>
                <a:lnTo>
                  <a:pt x="1566" y="90"/>
                </a:lnTo>
                <a:lnTo>
                  <a:pt x="1545" y="76"/>
                </a:lnTo>
                <a:lnTo>
                  <a:pt x="1525" y="65"/>
                </a:lnTo>
                <a:lnTo>
                  <a:pt x="1503" y="53"/>
                </a:lnTo>
                <a:lnTo>
                  <a:pt x="1481" y="43"/>
                </a:lnTo>
                <a:lnTo>
                  <a:pt x="1459" y="34"/>
                </a:lnTo>
                <a:lnTo>
                  <a:pt x="1435" y="26"/>
                </a:lnTo>
                <a:lnTo>
                  <a:pt x="1410" y="19"/>
                </a:lnTo>
                <a:lnTo>
                  <a:pt x="1387" y="15"/>
                </a:lnTo>
                <a:lnTo>
                  <a:pt x="1362" y="10"/>
                </a:lnTo>
                <a:lnTo>
                  <a:pt x="1337" y="6"/>
                </a:lnTo>
                <a:lnTo>
                  <a:pt x="1312" y="4"/>
                </a:lnTo>
                <a:lnTo>
                  <a:pt x="1285" y="4"/>
                </a:lnTo>
                <a:lnTo>
                  <a:pt x="1285" y="4"/>
                </a:lnTo>
                <a:close/>
              </a:path>
            </a:pathLst>
          </a:custGeom>
          <a:solidFill>
            <a:srgbClr val="56A275"/>
          </a:solidFill>
          <a:ln w="1588">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1" name="TextBox 51"/>
          <p:cNvSpPr txBox="1"/>
          <p:nvPr/>
        </p:nvSpPr>
        <p:spPr>
          <a:xfrm>
            <a:off x="4831604" y="3215862"/>
            <a:ext cx="1293017" cy="1329595"/>
          </a:xfrm>
          <a:prstGeom prst="rect">
            <a:avLst/>
          </a:prstGeom>
          <a:noFill/>
        </p:spPr>
        <p:txBody>
          <a:bodyPr wrap="squar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r>
              <a:rPr lang="en-US" sz="1400" b="1" dirty="0"/>
              <a:t>Japan</a:t>
            </a:r>
            <a:r>
              <a:rPr lang="en-US" sz="1400" dirty="0"/>
              <a:t> </a:t>
            </a:r>
            <a:r>
              <a:rPr lang="en-US" sz="1000" dirty="0"/>
              <a:t>is valued among the </a:t>
            </a:r>
            <a:r>
              <a:rPr lang="en-US" sz="1400" b="1" dirty="0"/>
              <a:t>top five markets</a:t>
            </a:r>
            <a:r>
              <a:rPr lang="en-US" sz="1400" dirty="0"/>
              <a:t> </a:t>
            </a:r>
            <a:r>
              <a:rPr lang="en-US" sz="1000" dirty="0"/>
              <a:t>for </a:t>
            </a:r>
            <a:r>
              <a:rPr lang="en-US" sz="1400" b="1" dirty="0"/>
              <a:t>baked goods </a:t>
            </a:r>
            <a:r>
              <a:rPr lang="en-US" sz="1000" dirty="0"/>
              <a:t>and Is the second largest in the Asia Pacific with an increasing demand for bakery products </a:t>
            </a:r>
          </a:p>
        </p:txBody>
      </p:sp>
      <p:sp>
        <p:nvSpPr>
          <p:cNvPr id="22" name="TextBox 50"/>
          <p:cNvSpPr txBox="1"/>
          <p:nvPr/>
        </p:nvSpPr>
        <p:spPr>
          <a:xfrm>
            <a:off x="4754867" y="1240743"/>
            <a:ext cx="1229517" cy="1419619"/>
          </a:xfrm>
          <a:prstGeom prst="rect">
            <a:avLst/>
          </a:prstGeom>
          <a:noFill/>
        </p:spPr>
        <p:txBody>
          <a:bodyPr wrap="squar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endParaRPr lang="en-US" sz="1050" b="1" dirty="0"/>
          </a:p>
          <a:p>
            <a:pPr algn="ctr">
              <a:lnSpc>
                <a:spcPct val="90000"/>
              </a:lnSpc>
            </a:pPr>
            <a:r>
              <a:rPr lang="en-US" sz="1000" dirty="0"/>
              <a:t>The </a:t>
            </a:r>
            <a:r>
              <a:rPr lang="en-US" sz="1400" b="1" dirty="0"/>
              <a:t>U.S</a:t>
            </a:r>
            <a:r>
              <a:rPr lang="en-US" sz="1000" dirty="0"/>
              <a:t>. food and beverage industry is growing at a </a:t>
            </a:r>
            <a:r>
              <a:rPr lang="en-US" sz="1400" b="1" dirty="0"/>
              <a:t>steady pace</a:t>
            </a:r>
            <a:r>
              <a:rPr lang="en-US" sz="1000" dirty="0"/>
              <a:t>. The industry is also expanding rapidly in terms of number of companies and number of products</a:t>
            </a:r>
          </a:p>
        </p:txBody>
      </p:sp>
      <p:grpSp>
        <p:nvGrpSpPr>
          <p:cNvPr id="23" name="Group 22"/>
          <p:cNvGrpSpPr/>
          <p:nvPr/>
        </p:nvGrpSpPr>
        <p:grpSpPr>
          <a:xfrm rot="6076967">
            <a:off x="6767388" y="2479494"/>
            <a:ext cx="1645920" cy="1645920"/>
            <a:chOff x="6045288" y="2112748"/>
            <a:chExt cx="1645920" cy="1645920"/>
          </a:xfrm>
        </p:grpSpPr>
        <p:sp>
          <p:nvSpPr>
            <p:cNvPr id="24" name="Arc 23"/>
            <p:cNvSpPr>
              <a:spLocks noChangeAspect="1"/>
            </p:cNvSpPr>
            <p:nvPr/>
          </p:nvSpPr>
          <p:spPr>
            <a:xfrm>
              <a:off x="6045288" y="2112748"/>
              <a:ext cx="1645920" cy="1645920"/>
            </a:xfrm>
            <a:prstGeom prst="arc">
              <a:avLst/>
            </a:prstGeom>
            <a:ln w="63500">
              <a:solidFill>
                <a:schemeClr val="bg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25" name="Arc 24"/>
            <p:cNvSpPr>
              <a:spLocks noChangeAspect="1"/>
            </p:cNvSpPr>
            <p:nvPr/>
          </p:nvSpPr>
          <p:spPr>
            <a:xfrm>
              <a:off x="6045288" y="2112748"/>
              <a:ext cx="1645920" cy="1645920"/>
            </a:xfrm>
            <a:prstGeom prst="arc">
              <a:avLst>
                <a:gd name="adj1" fmla="val 18311247"/>
                <a:gd name="adj2" fmla="val 147834"/>
              </a:avLst>
            </a:prstGeom>
            <a:ln w="190500">
              <a:solidFill>
                <a:srgbClr val="F8AD41"/>
              </a:solidFill>
            </a:ln>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26" name="Arc 25"/>
            <p:cNvSpPr>
              <a:spLocks noChangeAspect="1"/>
            </p:cNvSpPr>
            <p:nvPr/>
          </p:nvSpPr>
          <p:spPr>
            <a:xfrm>
              <a:off x="6045288" y="2112748"/>
              <a:ext cx="1645920" cy="1645920"/>
            </a:xfrm>
            <a:prstGeom prst="arc">
              <a:avLst>
                <a:gd name="adj1" fmla="val 5408"/>
                <a:gd name="adj2" fmla="val 5414433"/>
              </a:avLst>
            </a:prstGeom>
            <a:ln w="254000">
              <a:solidFill>
                <a:srgbClr val="F5921B"/>
              </a:solidFill>
            </a:ln>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27" name="Arc 26"/>
            <p:cNvSpPr>
              <a:spLocks noChangeAspect="1"/>
            </p:cNvSpPr>
            <p:nvPr/>
          </p:nvSpPr>
          <p:spPr>
            <a:xfrm>
              <a:off x="6045288" y="2112748"/>
              <a:ext cx="1645920" cy="1645920"/>
            </a:xfrm>
            <a:prstGeom prst="arc">
              <a:avLst>
                <a:gd name="adj1" fmla="val 5372507"/>
                <a:gd name="adj2" fmla="val 16209392"/>
              </a:avLst>
            </a:prstGeom>
            <a:ln w="317500">
              <a:solidFill>
                <a:srgbClr val="F05A28"/>
              </a:solidFill>
            </a:ln>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28" name="Oval 27"/>
            <p:cNvSpPr>
              <a:spLocks noChangeAspect="1"/>
            </p:cNvSpPr>
            <p:nvPr/>
          </p:nvSpPr>
          <p:spPr>
            <a:xfrm>
              <a:off x="6342102" y="2380534"/>
              <a:ext cx="1097280" cy="1097280"/>
            </a:xfrm>
            <a:prstGeom prst="ellipse">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29" name="TextBox 53"/>
          <p:cNvSpPr txBox="1"/>
          <p:nvPr/>
        </p:nvSpPr>
        <p:spPr>
          <a:xfrm>
            <a:off x="1385495" y="4742857"/>
            <a:ext cx="1311275" cy="997196"/>
          </a:xfrm>
          <a:prstGeom prst="rect">
            <a:avLst/>
          </a:prstGeom>
          <a:noFill/>
        </p:spPr>
        <p:txBody>
          <a:bodyPr wrap="squar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r>
              <a:rPr lang="en-US" sz="1200" dirty="0"/>
              <a:t>Growing </a:t>
            </a:r>
            <a:r>
              <a:rPr lang="en-US" sz="1200" b="1" dirty="0"/>
              <a:t>wellness trends </a:t>
            </a:r>
            <a:r>
              <a:rPr lang="en-US" sz="1200" dirty="0"/>
              <a:t>across </a:t>
            </a:r>
            <a:r>
              <a:rPr lang="en-US" sz="1200" b="1" dirty="0"/>
              <a:t>Brazil</a:t>
            </a:r>
            <a:r>
              <a:rPr lang="en-US" sz="1200" dirty="0"/>
              <a:t> have </a:t>
            </a:r>
            <a:r>
              <a:rPr lang="en-US" sz="1200" b="1" dirty="0"/>
              <a:t>elevated</a:t>
            </a:r>
            <a:r>
              <a:rPr lang="en-US" sz="1200" dirty="0"/>
              <a:t> per capita </a:t>
            </a:r>
            <a:r>
              <a:rPr lang="en-US" sz="1200" b="1" dirty="0"/>
              <a:t>consumption</a:t>
            </a:r>
            <a:r>
              <a:rPr lang="en-US" sz="1200" dirty="0"/>
              <a:t> of flavored and </a:t>
            </a:r>
            <a:r>
              <a:rPr lang="en-US" sz="1200" b="1" dirty="0"/>
              <a:t>functional water</a:t>
            </a:r>
          </a:p>
        </p:txBody>
      </p:sp>
      <p:sp>
        <p:nvSpPr>
          <p:cNvPr id="30" name="TextBox 29"/>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3" name="Slide Number Placeholder 2"/>
          <p:cNvSpPr>
            <a:spLocks noGrp="1"/>
          </p:cNvSpPr>
          <p:nvPr>
            <p:ph type="sldNum" sz="quarter" idx="4"/>
          </p:nvPr>
        </p:nvSpPr>
        <p:spPr/>
        <p:txBody>
          <a:bodyPr/>
          <a:lstStyle/>
          <a:p>
            <a:fld id="{4B17068C-EB94-40A3-A5F2-664CDD77FDAC}" type="slidenum">
              <a:rPr lang="en-GB" smtClean="0"/>
              <a:pPr/>
              <a:t>40</a:t>
            </a:fld>
            <a:endParaRPr lang="en-GB" dirty="0"/>
          </a:p>
        </p:txBody>
      </p:sp>
    </p:spTree>
    <p:extLst>
      <p:ext uri="{BB962C8B-B14F-4D97-AF65-F5344CB8AC3E}">
        <p14:creationId xmlns:p14="http://schemas.microsoft.com/office/powerpoint/2010/main" val="250981726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Macro-Economic Factors: Global Military Expenditure Outlook</a:t>
            </a:r>
            <a:endParaRPr lang="en-IN" dirty="0"/>
          </a:p>
        </p:txBody>
      </p:sp>
      <p:sp>
        <p:nvSpPr>
          <p:cNvPr id="7" name="Text Placeholder 6"/>
          <p:cNvSpPr>
            <a:spLocks noGrp="1"/>
          </p:cNvSpPr>
          <p:nvPr>
            <p:ph type="body" idx="12"/>
          </p:nvPr>
        </p:nvSpPr>
        <p:spPr>
          <a:xfrm>
            <a:off x="152400" y="1143000"/>
            <a:ext cx="3924300" cy="470578"/>
          </a:xfrm>
        </p:spPr>
        <p:txBody>
          <a:bodyPr/>
          <a:lstStyle/>
          <a:p>
            <a:r>
              <a:rPr lang="en-US" sz="1400" dirty="0"/>
              <a:t>Military Expenditure (US$ Billion) Of Top 10 Countries</a:t>
            </a:r>
            <a:endParaRPr lang="en-IN" sz="1400" dirty="0"/>
          </a:p>
        </p:txBody>
      </p:sp>
      <p:sp>
        <p:nvSpPr>
          <p:cNvPr id="9" name="Text Placeholder 8"/>
          <p:cNvSpPr>
            <a:spLocks noGrp="1"/>
          </p:cNvSpPr>
          <p:nvPr>
            <p:ph type="body" idx="14"/>
          </p:nvPr>
        </p:nvSpPr>
        <p:spPr/>
        <p:txBody>
          <a:bodyPr/>
          <a:lstStyle/>
          <a:p>
            <a:r>
              <a:rPr lang="en-US" sz="1400" dirty="0"/>
              <a:t>Military Expenditure (% Of GDP and % of Global Spending) Of Top 10 Countries</a:t>
            </a:r>
            <a:endParaRPr lang="en-IN" sz="1400" dirty="0"/>
          </a:p>
        </p:txBody>
      </p:sp>
      <p:sp>
        <p:nvSpPr>
          <p:cNvPr id="11" name="Text Placeholder 10"/>
          <p:cNvSpPr>
            <a:spLocks noGrp="1"/>
          </p:cNvSpPr>
          <p:nvPr>
            <p:ph type="body" idx="18"/>
          </p:nvPr>
        </p:nvSpPr>
        <p:spPr/>
        <p:txBody>
          <a:bodyPr/>
          <a:lstStyle/>
          <a:p>
            <a:r>
              <a:rPr lang="en-IN" sz="1600" dirty="0"/>
              <a:t>Key Takeaways</a:t>
            </a:r>
          </a:p>
        </p:txBody>
      </p:sp>
      <p:sp>
        <p:nvSpPr>
          <p:cNvPr id="13" name="Content Placeholder 9"/>
          <p:cNvSpPr>
            <a:spLocks noGrp="1"/>
          </p:cNvSpPr>
          <p:nvPr>
            <p:ph idx="17"/>
          </p:nvPr>
        </p:nvSpPr>
        <p:spPr/>
        <p:txBody>
          <a:bodyPr/>
          <a:lstStyle/>
          <a:p>
            <a:pPr>
              <a:spcAft>
                <a:spcPts val="300"/>
              </a:spcAft>
            </a:pPr>
            <a:r>
              <a:rPr lang="en-US" sz="1280" dirty="0"/>
              <a:t>The considerable military expenditures of top-spending nations, such as the United States, China, and Russia, directly contribute to the growth of the WXYZ market. Higher defense budgets enable countries to invest in advanced protective technologies for their armed forces. For instance, the United States, with a substantial military expenditure of $877.0 billion and a 39.0% share of global spending, continues to drive demand for cutting-edge WXYZ to enhance the safety and capabilities of its military personnel.</a:t>
            </a:r>
          </a:p>
          <a:p>
            <a:r>
              <a:rPr lang="en-US" sz="1280" dirty="0"/>
              <a:t>The escalating global threats and geopolitical tensions contribute to the continuous growth in defense budgets, fostering the demand for WXYZ. For example, countries like India and Saudi Arabia allocate significant percentages of their GDPs to defense (2.4% and 7.4%, respectively) to address regional security concerns. This increased spending correlates with a higher demand for advanced WXYZ to address evolving threats, thereby bolstering the overall market. The 3.6% of global spending by India and the 3.3% by Saudi Arabia highlight their commitment to strengthening their defense capabilities in response to growing global challenges</a:t>
            </a:r>
          </a:p>
        </p:txBody>
      </p:sp>
      <p:sp>
        <p:nvSpPr>
          <p:cNvPr id="14" name="TextBox 13"/>
          <p:cNvSpPr txBox="1"/>
          <p:nvPr/>
        </p:nvSpPr>
        <p:spPr>
          <a:xfrm>
            <a:off x="229798" y="6205752"/>
            <a:ext cx="2370842" cy="153888"/>
          </a:xfrm>
          <a:prstGeom prst="rect">
            <a:avLst/>
          </a:prstGeom>
          <a:noFill/>
        </p:spPr>
        <p:txBody>
          <a:bodyPr wrap="none" lIns="0" tIns="0" rIns="0" bIns="0" rtlCol="0">
            <a:spAutoFit/>
          </a:bodyPr>
          <a:lstStyle/>
          <a:p>
            <a:pPr defTabSz="966537"/>
            <a:r>
              <a:rPr lang="en-US" sz="1000" dirty="0"/>
              <a:t>Source: TMR Analysis, 2024, </a:t>
            </a:r>
            <a:r>
              <a:rPr lang="en-GB" sz="1000" dirty="0"/>
              <a:t>World Data Bank</a:t>
            </a:r>
          </a:p>
        </p:txBody>
      </p:sp>
      <p:graphicFrame>
        <p:nvGraphicFramePr>
          <p:cNvPr id="15" name="Content Placeholder 17"/>
          <p:cNvGraphicFramePr>
            <a:graphicFrameLocks noGrp="1"/>
          </p:cNvGraphicFramePr>
          <p:nvPr>
            <p:ph idx="1"/>
            <p:extLst>
              <p:ext uri="{D42A27DB-BD31-4B8C-83A1-F6EECF244321}">
                <p14:modId xmlns:p14="http://schemas.microsoft.com/office/powerpoint/2010/main" val="932880536"/>
              </p:ext>
            </p:extLst>
          </p:nvPr>
        </p:nvGraphicFramePr>
        <p:xfrm>
          <a:off x="152400" y="1612900"/>
          <a:ext cx="3768725" cy="196691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6" name="Content Placeholder 7"/>
          <p:cNvGraphicFramePr>
            <a:graphicFrameLocks noGrp="1"/>
          </p:cNvGraphicFramePr>
          <p:nvPr>
            <p:ph idx="13"/>
            <p:extLst>
              <p:ext uri="{D42A27DB-BD31-4B8C-83A1-F6EECF244321}">
                <p14:modId xmlns:p14="http://schemas.microsoft.com/office/powerpoint/2010/main" val="393118837"/>
              </p:ext>
            </p:extLst>
          </p:nvPr>
        </p:nvGraphicFramePr>
        <p:xfrm>
          <a:off x="4178300" y="1612900"/>
          <a:ext cx="7861300" cy="1966913"/>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41</a:t>
            </a:fld>
            <a:endParaRPr lang="en-GB" dirty="0"/>
          </a:p>
        </p:txBody>
      </p:sp>
    </p:spTree>
    <p:extLst>
      <p:ext uri="{BB962C8B-B14F-4D97-AF65-F5344CB8AC3E}">
        <p14:creationId xmlns:p14="http://schemas.microsoft.com/office/powerpoint/2010/main" val="186599592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a:t>Global Agriculture Sector Outlook</a:t>
            </a:r>
          </a:p>
        </p:txBody>
      </p:sp>
      <p:sp>
        <p:nvSpPr>
          <p:cNvPr id="3" name="Slide Number Placeholder 2"/>
          <p:cNvSpPr>
            <a:spLocks noGrp="1"/>
          </p:cNvSpPr>
          <p:nvPr>
            <p:ph type="sldNum" sz="quarter" idx="4"/>
          </p:nvPr>
        </p:nvSpPr>
        <p:spPr/>
        <p:txBody>
          <a:bodyPr/>
          <a:lstStyle/>
          <a:p>
            <a:fld id="{4B17068C-EB94-40A3-A5F2-664CDD77FDAC}" type="slidenum">
              <a:rPr lang="en-GB" smtClean="0"/>
              <a:pPr/>
              <a:t>42</a:t>
            </a:fld>
            <a:endParaRPr lang="en-GB" dirty="0"/>
          </a:p>
        </p:txBody>
      </p:sp>
      <p:pic>
        <p:nvPicPr>
          <p:cNvPr id="4" name="Picture 3"/>
          <p:cNvPicPr>
            <a:picLocks noChangeAspect="1"/>
          </p:cNvPicPr>
          <p:nvPr/>
        </p:nvPicPr>
        <p:blipFill>
          <a:blip r:embed="rId2" cstate="screen">
            <a:extLst>
              <a:ext uri="{28A0092B-C50C-407E-A947-70E740481C1C}">
                <a14:useLocalDpi xmlns:a14="http://schemas.microsoft.com/office/drawing/2010/main" val="0"/>
              </a:ext>
            </a:extLst>
          </a:blip>
          <a:stretch>
            <a:fillRect/>
          </a:stretch>
        </p:blipFill>
        <p:spPr>
          <a:xfrm>
            <a:off x="152400" y="1143000"/>
            <a:ext cx="11887200" cy="1447476"/>
          </a:xfrm>
          <a:prstGeom prst="rect">
            <a:avLst/>
          </a:prstGeom>
        </p:spPr>
      </p:pic>
      <p:grpSp>
        <p:nvGrpSpPr>
          <p:cNvPr id="5" name="Group 4"/>
          <p:cNvGrpSpPr/>
          <p:nvPr/>
        </p:nvGrpSpPr>
        <p:grpSpPr>
          <a:xfrm>
            <a:off x="152400" y="1513990"/>
            <a:ext cx="11734799" cy="4793993"/>
            <a:chOff x="228596" y="1517041"/>
            <a:chExt cx="8933693" cy="3648126"/>
          </a:xfrm>
        </p:grpSpPr>
        <p:sp>
          <p:nvSpPr>
            <p:cNvPr id="6" name="Content Placeholder 14"/>
            <p:cNvSpPr txBox="1">
              <a:spLocks/>
            </p:cNvSpPr>
            <p:nvPr/>
          </p:nvSpPr>
          <p:spPr>
            <a:xfrm>
              <a:off x="228596" y="2345789"/>
              <a:ext cx="8933693" cy="2819378"/>
            </a:xfrm>
            <a:prstGeom prst="rect">
              <a:avLst/>
            </a:prstGeom>
            <a:ln>
              <a:noFill/>
            </a:ln>
          </p:spPr>
          <p:txBody>
            <a:bodyPr>
              <a:noAutofit/>
            </a:bodyPr>
            <a:lstStyle>
              <a:lvl1pPr marL="166157" indent="-166157" algn="l" defTabSz="844078" rtl="0" eaLnBrk="1" latinLnBrk="0" hangingPunct="1">
                <a:spcBef>
                  <a:spcPts val="354"/>
                </a:spcBef>
                <a:spcAft>
                  <a:spcPts val="0"/>
                </a:spcAft>
                <a:buClrTx/>
                <a:buFont typeface="Arial" pitchFamily="34" charset="0"/>
                <a:buNone/>
                <a:defRPr sz="1477" b="1" kern="1200">
                  <a:solidFill>
                    <a:schemeClr val="tx1"/>
                  </a:solidFill>
                  <a:latin typeface="+mn-lt"/>
                  <a:ea typeface="+mn-ea"/>
                  <a:cs typeface="+mn-cs"/>
                </a:defRPr>
              </a:lvl1pPr>
              <a:lvl2pPr marL="332649" indent="-165592" algn="l" defTabSz="844078" rtl="0" eaLnBrk="1" latinLnBrk="0" hangingPunct="1">
                <a:spcBef>
                  <a:spcPts val="354"/>
                </a:spcBef>
                <a:spcAft>
                  <a:spcPts val="0"/>
                </a:spcAft>
                <a:buClr>
                  <a:srgbClr val="EF0000"/>
                </a:buClr>
                <a:buFont typeface="Arial" pitchFamily="34" charset="0"/>
                <a:buChar char="•"/>
                <a:defRPr sz="1477" kern="1200">
                  <a:solidFill>
                    <a:schemeClr val="tx1"/>
                  </a:solidFill>
                  <a:latin typeface="+mn-lt"/>
                  <a:ea typeface="+mn-ea"/>
                  <a:cs typeface="+mn-cs"/>
                </a:defRPr>
              </a:lvl2pPr>
              <a:lvl3pPr marL="655040" indent="-165592" algn="l" defTabSz="844078" rtl="0" eaLnBrk="1" latinLnBrk="0" hangingPunct="1">
                <a:spcBef>
                  <a:spcPts val="354"/>
                </a:spcBef>
                <a:spcAft>
                  <a:spcPts val="0"/>
                </a:spcAft>
                <a:buClr>
                  <a:srgbClr val="EF0000"/>
                </a:buClr>
                <a:buFont typeface="Arial" pitchFamily="34" charset="0"/>
                <a:buChar char="•"/>
                <a:defRPr sz="1477" kern="1200">
                  <a:solidFill>
                    <a:schemeClr val="tx1"/>
                  </a:solidFill>
                  <a:latin typeface="+mn-lt"/>
                  <a:ea typeface="+mn-ea"/>
                  <a:cs typeface="+mn-cs"/>
                </a:defRPr>
              </a:lvl3pPr>
              <a:lvl4pPr marL="989154" indent="-165592" algn="l" defTabSz="844078" rtl="0" eaLnBrk="1" latinLnBrk="0" hangingPunct="1">
                <a:spcBef>
                  <a:spcPts val="354"/>
                </a:spcBef>
                <a:spcAft>
                  <a:spcPts val="0"/>
                </a:spcAft>
                <a:buClr>
                  <a:srgbClr val="EF0000"/>
                </a:buClr>
                <a:buFont typeface="Arial" pitchFamily="34" charset="0"/>
                <a:buChar char="•"/>
                <a:defRPr sz="1477" kern="1200">
                  <a:solidFill>
                    <a:schemeClr val="tx1"/>
                  </a:solidFill>
                  <a:latin typeface="+mn-lt"/>
                  <a:ea typeface="+mn-ea"/>
                  <a:cs typeface="+mn-cs"/>
                </a:defRPr>
              </a:lvl4pPr>
              <a:lvl5pPr marL="1330594" indent="-165592" algn="l" defTabSz="844078" rtl="0" eaLnBrk="1" latinLnBrk="0" hangingPunct="1">
                <a:spcBef>
                  <a:spcPts val="354"/>
                </a:spcBef>
                <a:spcAft>
                  <a:spcPts val="0"/>
                </a:spcAft>
                <a:buClr>
                  <a:srgbClr val="EF0000"/>
                </a:buClr>
                <a:buFont typeface="Arial" pitchFamily="34" charset="0"/>
                <a:buChar char="•"/>
                <a:defRPr sz="1477" kern="1200">
                  <a:solidFill>
                    <a:schemeClr val="tx1"/>
                  </a:solidFill>
                  <a:latin typeface="+mn-lt"/>
                  <a:ea typeface="+mn-ea"/>
                  <a:cs typeface="+mn-cs"/>
                </a:defRPr>
              </a:lvl5pPr>
              <a:lvl6pPr marL="2321213" indent="-211020" algn="l" defTabSz="844078" rtl="0" eaLnBrk="1" latinLnBrk="0" hangingPunct="1">
                <a:spcBef>
                  <a:spcPct val="20000"/>
                </a:spcBef>
                <a:buFont typeface="Arial" pitchFamily="34" charset="0"/>
                <a:buChar char="•"/>
                <a:defRPr sz="1846" kern="1200">
                  <a:solidFill>
                    <a:schemeClr val="tx1"/>
                  </a:solidFill>
                  <a:latin typeface="+mn-lt"/>
                  <a:ea typeface="+mn-ea"/>
                  <a:cs typeface="+mn-cs"/>
                </a:defRPr>
              </a:lvl6pPr>
              <a:lvl7pPr marL="2743253" indent="-211020" algn="l" defTabSz="844078" rtl="0" eaLnBrk="1" latinLnBrk="0" hangingPunct="1">
                <a:spcBef>
                  <a:spcPct val="20000"/>
                </a:spcBef>
                <a:buFont typeface="Arial" pitchFamily="34" charset="0"/>
                <a:buChar char="•"/>
                <a:defRPr sz="1846" kern="1200">
                  <a:solidFill>
                    <a:schemeClr val="tx1"/>
                  </a:solidFill>
                  <a:latin typeface="+mn-lt"/>
                  <a:ea typeface="+mn-ea"/>
                  <a:cs typeface="+mn-cs"/>
                </a:defRPr>
              </a:lvl7pPr>
              <a:lvl8pPr marL="3165291" indent="-211020" algn="l" defTabSz="844078" rtl="0" eaLnBrk="1" latinLnBrk="0" hangingPunct="1">
                <a:spcBef>
                  <a:spcPct val="20000"/>
                </a:spcBef>
                <a:buFont typeface="Arial" pitchFamily="34" charset="0"/>
                <a:buChar char="•"/>
                <a:defRPr sz="1846" kern="1200">
                  <a:solidFill>
                    <a:schemeClr val="tx1"/>
                  </a:solidFill>
                  <a:latin typeface="+mn-lt"/>
                  <a:ea typeface="+mn-ea"/>
                  <a:cs typeface="+mn-cs"/>
                </a:defRPr>
              </a:lvl8pPr>
              <a:lvl9pPr marL="3587330" indent="-211020" algn="l" defTabSz="844078" rtl="0" eaLnBrk="1" latinLnBrk="0" hangingPunct="1">
                <a:spcBef>
                  <a:spcPct val="20000"/>
                </a:spcBef>
                <a:buFont typeface="Arial" pitchFamily="34" charset="0"/>
                <a:buChar char="•"/>
                <a:defRPr sz="1846" kern="1200">
                  <a:solidFill>
                    <a:schemeClr val="tx1"/>
                  </a:solidFill>
                  <a:latin typeface="+mn-lt"/>
                  <a:ea typeface="+mn-ea"/>
                  <a:cs typeface="+mn-cs"/>
                </a:defRPr>
              </a:lvl9pPr>
            </a:lstStyle>
            <a:p>
              <a:pPr marL="228600" indent="-228600" algn="just">
                <a:spcBef>
                  <a:spcPts val="600"/>
                </a:spcBef>
                <a:spcAft>
                  <a:spcPts val="600"/>
                </a:spcAft>
                <a:buFont typeface="Wingdings" panose="05000000000000000000" pitchFamily="2" charset="2"/>
                <a:buChar char="q"/>
              </a:pPr>
              <a:r>
                <a:rPr lang="en-US" sz="1200" b="0" dirty="0"/>
                <a:t>Agricultural commodities are consumed mainly as food, feed, and in industrial End Uses including fuel. Food demand is influenced by population and income growth, and increasingly also by trends in dietary patterns and consumer preferences. Demand for animal feed is closely linked to the human consumption of livestock products, such as meat, eggs, and milk, but also by the evolution of livestock production technology. Industrial uses of agricultural commodities (mostly as biofuel and as input in the chemical industry) are shaped by general economic conditions, as well as regulatory policies and technological advances. Moreover, the relative importance of each use varies by commodity, by region, and by the level of economic development. </a:t>
              </a:r>
            </a:p>
            <a:p>
              <a:pPr marL="228600" indent="-228600" algn="just">
                <a:spcBef>
                  <a:spcPts val="600"/>
                </a:spcBef>
                <a:spcAft>
                  <a:spcPts val="600"/>
                </a:spcAft>
                <a:buFont typeface="Wingdings" panose="05000000000000000000" pitchFamily="2" charset="2"/>
                <a:buChar char="q"/>
              </a:pPr>
              <a:r>
                <a:rPr lang="en-US" sz="1200" b="0" dirty="0"/>
                <a:t>For cereals and oilseeds, the foremost source of demand growth will be feed, closely followed by food. A large share of additional feed demand will continue to come from China. Feed demand growth is nevertheless projected to slow globally, despite livestock production intensification. Much of the additional food demand will originate in regions with high population growth such as Africa, Asia Pacific, and the Middle East.</a:t>
              </a:r>
            </a:p>
            <a:p>
              <a:pPr marL="228600" indent="-228600" algn="just">
                <a:spcBef>
                  <a:spcPts val="600"/>
                </a:spcBef>
                <a:spcAft>
                  <a:spcPts val="600"/>
                </a:spcAft>
                <a:buFont typeface="Wingdings" panose="05000000000000000000" pitchFamily="2" charset="2"/>
                <a:buChar char="q"/>
              </a:pPr>
              <a:r>
                <a:rPr lang="en-US" sz="1200" b="0" dirty="0"/>
                <a:t>Over the last ten years, agricultural markets experienced a strong increase in demand across a wide range of commodities. Much of that growth was attributable to non-food uses of agricultural commodities, mostly feedstock for biofuel and animal feed. While food demand stagnated in the developed world, biofuel mandates led to increased demand for maize, sugarcane and vegetable oils as feedstock. </a:t>
              </a:r>
            </a:p>
            <a:p>
              <a:pPr marL="228600" indent="-228600" algn="just">
                <a:spcBef>
                  <a:spcPts val="600"/>
                </a:spcBef>
                <a:spcAft>
                  <a:spcPts val="600"/>
                </a:spcAft>
                <a:buFont typeface="Wingdings" panose="05000000000000000000" pitchFamily="2" charset="2"/>
                <a:buChar char="q"/>
              </a:pPr>
              <a:r>
                <a:rPr lang="en-US" sz="1200" b="0" dirty="0"/>
                <a:t>Food and agribusiness form a $5 trillion global industry that is only getting bigger. If current trends continue, by 2050, caloric demand will increase by 70 percent, and crop demand for human consumption and animal feed will increase by at least 100 percent. Meeting this demand won’t be easy, for example, 40 percent of water demand in 2032 is unlikely to be met, and more than 20 percent of arable land is already degraded.</a:t>
              </a:r>
            </a:p>
          </p:txBody>
        </p:sp>
        <p:sp>
          <p:nvSpPr>
            <p:cNvPr id="7" name="TextBox 6"/>
            <p:cNvSpPr txBox="1"/>
            <p:nvPr/>
          </p:nvSpPr>
          <p:spPr>
            <a:xfrm>
              <a:off x="337609" y="1517041"/>
              <a:ext cx="3087532" cy="860727"/>
            </a:xfrm>
            <a:prstGeom prst="rect">
              <a:avLst/>
            </a:prstGeom>
            <a:noFill/>
          </p:spPr>
          <p:txBody>
            <a:bodyPr wrap="square" rtlCol="0" anchor="b">
              <a:spAutoFit/>
            </a:bodyPr>
            <a:lstStyle/>
            <a:p>
              <a:pPr>
                <a:lnSpc>
                  <a:spcPts val="2727"/>
                </a:lnSpc>
              </a:pPr>
              <a:r>
                <a:rPr lang="en-US" sz="3200" dirty="0">
                  <a:solidFill>
                    <a:schemeClr val="bg1"/>
                  </a:solidFill>
                  <a:latin typeface="Aharoni" panose="02010803020104030203" pitchFamily="2" charset="-79"/>
                  <a:cs typeface="Aharoni" panose="02010803020104030203" pitchFamily="2" charset="-79"/>
                </a:rPr>
                <a:t>AGRICULTURE</a:t>
              </a:r>
            </a:p>
            <a:p>
              <a:pPr>
                <a:lnSpc>
                  <a:spcPts val="2727"/>
                </a:lnSpc>
              </a:pPr>
              <a:r>
                <a:rPr lang="en-US" sz="3200" dirty="0">
                  <a:solidFill>
                    <a:schemeClr val="bg1"/>
                  </a:solidFill>
                  <a:latin typeface="Aharoni" panose="02010803020104030203" pitchFamily="2" charset="-79"/>
                  <a:cs typeface="Aharoni" panose="02010803020104030203" pitchFamily="2" charset="-79"/>
                </a:rPr>
                <a:t>INDUSTRY OUTLOOK</a:t>
              </a:r>
            </a:p>
            <a:p>
              <a:pPr>
                <a:lnSpc>
                  <a:spcPts val="2727"/>
                </a:lnSpc>
              </a:pPr>
              <a:r>
                <a:rPr lang="en-US" sz="2400" dirty="0">
                  <a:solidFill>
                    <a:schemeClr val="bg1"/>
                  </a:solidFill>
                  <a:latin typeface="Aharoni" panose="02010803020104030203" pitchFamily="2" charset="-79"/>
                  <a:cs typeface="Aharoni" panose="02010803020104030203" pitchFamily="2" charset="-79"/>
                </a:rPr>
                <a:t>GLOBAL</a:t>
              </a:r>
            </a:p>
          </p:txBody>
        </p:sp>
      </p:grpSp>
      <p:sp>
        <p:nvSpPr>
          <p:cNvPr id="11" name="TextBox 10"/>
          <p:cNvSpPr txBox="1"/>
          <p:nvPr/>
        </p:nvSpPr>
        <p:spPr>
          <a:xfrm>
            <a:off x="229798" y="6205752"/>
            <a:ext cx="2689839" cy="153888"/>
          </a:xfrm>
          <a:prstGeom prst="rect">
            <a:avLst/>
          </a:prstGeom>
          <a:noFill/>
        </p:spPr>
        <p:txBody>
          <a:bodyPr wrap="none" lIns="0" tIns="0" rIns="0" bIns="0" rtlCol="0">
            <a:spAutoFit/>
          </a:bodyPr>
          <a:lstStyle/>
          <a:p>
            <a:pPr defTabSz="966537"/>
            <a:r>
              <a:rPr lang="en-US" sz="1000" dirty="0"/>
              <a:t>Source: TMR Analysis, 2024, </a:t>
            </a:r>
            <a:r>
              <a:rPr lang="fr-FR" sz="1000" dirty="0"/>
              <a:t>Agriculture Association</a:t>
            </a:r>
            <a:endParaRPr lang="en-US" sz="1000" dirty="0"/>
          </a:p>
        </p:txBody>
      </p:sp>
    </p:spTree>
    <p:extLst>
      <p:ext uri="{BB962C8B-B14F-4D97-AF65-F5344CB8AC3E}">
        <p14:creationId xmlns:p14="http://schemas.microsoft.com/office/powerpoint/2010/main" val="305401105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a:t>Global Automotive Industry Overview</a:t>
            </a:r>
          </a:p>
        </p:txBody>
      </p:sp>
      <p:sp>
        <p:nvSpPr>
          <p:cNvPr id="4" name="Text Placeholder 3"/>
          <p:cNvSpPr>
            <a:spLocks noGrp="1"/>
          </p:cNvSpPr>
          <p:nvPr>
            <p:ph type="body" idx="12"/>
          </p:nvPr>
        </p:nvSpPr>
        <p:spPr/>
        <p:txBody>
          <a:bodyPr/>
          <a:lstStyle/>
          <a:p>
            <a:r>
              <a:rPr lang="en-US" dirty="0"/>
              <a:t>Automotive Production Share by Manufacturer, 2022</a:t>
            </a:r>
          </a:p>
        </p:txBody>
      </p:sp>
      <p:sp>
        <p:nvSpPr>
          <p:cNvPr id="7" name="Text Placeholder 6"/>
          <p:cNvSpPr>
            <a:spLocks noGrp="1"/>
          </p:cNvSpPr>
          <p:nvPr>
            <p:ph type="body" idx="14"/>
          </p:nvPr>
        </p:nvSpPr>
        <p:spPr/>
        <p:txBody>
          <a:bodyPr/>
          <a:lstStyle/>
          <a:p>
            <a:r>
              <a:rPr lang="en-US" dirty="0">
                <a:solidFill>
                  <a:sysClr val="windowText" lastClr="000000"/>
                </a:solidFill>
              </a:rPr>
              <a:t>Global Automotive Production Share by Region 2022</a:t>
            </a:r>
          </a:p>
        </p:txBody>
      </p:sp>
      <p:sp>
        <p:nvSpPr>
          <p:cNvPr id="8" name="Content Placeholder 7"/>
          <p:cNvSpPr>
            <a:spLocks noGrp="1"/>
          </p:cNvSpPr>
          <p:nvPr>
            <p:ph idx="15"/>
          </p:nvPr>
        </p:nvSpPr>
        <p:spPr/>
        <p:txBody>
          <a:bodyPr/>
          <a:lstStyle/>
          <a:p>
            <a:pPr>
              <a:spcBef>
                <a:spcPts val="100"/>
              </a:spcBef>
              <a:spcAft>
                <a:spcPts val="100"/>
              </a:spcAft>
              <a:buClr>
                <a:sysClr val="windowText" lastClr="000000"/>
              </a:buClr>
              <a:defRPr/>
            </a:pPr>
            <a:r>
              <a:rPr lang="en-US" sz="1400" dirty="0">
                <a:solidFill>
                  <a:sysClr val="windowText" lastClr="000000"/>
                </a:solidFill>
              </a:rPr>
              <a:t>Growth in the automobile sector will substantially impact the growth of Automotive Parts Aftermarket market in the coming years. </a:t>
            </a:r>
          </a:p>
          <a:p>
            <a:pPr>
              <a:spcBef>
                <a:spcPts val="100"/>
              </a:spcBef>
              <a:spcAft>
                <a:spcPts val="100"/>
              </a:spcAft>
              <a:buClr>
                <a:sysClr val="windowText" lastClr="000000"/>
              </a:buClr>
              <a:defRPr/>
            </a:pPr>
            <a:r>
              <a:rPr lang="en-US" sz="1400" dirty="0">
                <a:solidFill>
                  <a:sysClr val="windowText" lastClr="000000"/>
                </a:solidFill>
              </a:rPr>
              <a:t>Asia Pacific including China and India, dominated the global automotive industry in terms of vehicle production, with 54.8% market volume share in 2022.</a:t>
            </a:r>
          </a:p>
          <a:p>
            <a:pPr marL="457200">
              <a:spcBef>
                <a:spcPts val="100"/>
              </a:spcBef>
              <a:spcAft>
                <a:spcPts val="100"/>
              </a:spcAft>
              <a:buFont typeface="Wingdings" panose="05000000000000000000" pitchFamily="2" charset="2"/>
              <a:buChar char="Ø"/>
              <a:defRPr/>
            </a:pPr>
            <a:r>
              <a:rPr lang="en-US" sz="1100" i="1" dirty="0">
                <a:solidFill>
                  <a:sysClr val="windowText" lastClr="000000"/>
                </a:solidFill>
              </a:rPr>
              <a:t>Automotive production statistics include passenger cars, light commercial vehicles (LCVs), and heavy commercial vehicles (trucks and buses only).</a:t>
            </a:r>
          </a:p>
          <a:p>
            <a:pPr marL="457200">
              <a:spcBef>
                <a:spcPts val="100"/>
              </a:spcBef>
              <a:spcAft>
                <a:spcPts val="100"/>
              </a:spcAft>
              <a:buFont typeface="Wingdings" panose="05000000000000000000" pitchFamily="2" charset="2"/>
              <a:buChar char="Ø"/>
              <a:defRPr/>
            </a:pPr>
            <a:r>
              <a:rPr lang="en-US" sz="1100" i="1" dirty="0">
                <a:solidFill>
                  <a:sysClr val="windowText" lastClr="000000"/>
                </a:solidFill>
              </a:rPr>
              <a:t>The production of high-end cars, luxury cars, sports cars has not been included.</a:t>
            </a:r>
          </a:p>
          <a:p>
            <a:endParaRPr lang="en-US" sz="1400" dirty="0"/>
          </a:p>
        </p:txBody>
      </p:sp>
      <p:sp>
        <p:nvSpPr>
          <p:cNvPr id="9" name="Text Placeholder 8"/>
          <p:cNvSpPr>
            <a:spLocks noGrp="1"/>
          </p:cNvSpPr>
          <p:nvPr>
            <p:ph type="body" idx="16"/>
          </p:nvPr>
        </p:nvSpPr>
        <p:spPr/>
        <p:txBody>
          <a:bodyPr/>
          <a:lstStyle/>
          <a:p>
            <a:r>
              <a:rPr lang="en-US" dirty="0"/>
              <a:t>Quick Facts</a:t>
            </a:r>
          </a:p>
        </p:txBody>
      </p:sp>
      <p:sp>
        <p:nvSpPr>
          <p:cNvPr id="13" name="TextBox 12"/>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4" name="Content Placeholder 13"/>
          <p:cNvGraphicFramePr>
            <a:graphicFrameLocks noGrp="1"/>
          </p:cNvGraphicFramePr>
          <p:nvPr>
            <p:ph idx="1"/>
            <p:extLst>
              <p:ext uri="{D42A27DB-BD31-4B8C-83A1-F6EECF244321}">
                <p14:modId xmlns:p14="http://schemas.microsoft.com/office/powerpoint/2010/main" val="993119423"/>
              </p:ext>
            </p:extLst>
          </p:nvPr>
        </p:nvGraphicFramePr>
        <p:xfrm>
          <a:off x="152400" y="1612900"/>
          <a:ext cx="5764213" cy="45910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 name="Content Placeholder 13"/>
          <p:cNvGraphicFramePr>
            <a:graphicFrameLocks noGrp="1"/>
          </p:cNvGraphicFramePr>
          <p:nvPr>
            <p:ph idx="13"/>
            <p:extLst>
              <p:ext uri="{D42A27DB-BD31-4B8C-83A1-F6EECF244321}">
                <p14:modId xmlns:p14="http://schemas.microsoft.com/office/powerpoint/2010/main" val="2748120075"/>
              </p:ext>
            </p:extLst>
          </p:nvPr>
        </p:nvGraphicFramePr>
        <p:xfrm>
          <a:off x="6278563" y="1612900"/>
          <a:ext cx="5764212" cy="1966913"/>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43</a:t>
            </a:fld>
            <a:endParaRPr lang="en-GB" dirty="0"/>
          </a:p>
        </p:txBody>
      </p:sp>
    </p:spTree>
    <p:extLst>
      <p:ext uri="{BB962C8B-B14F-4D97-AF65-F5344CB8AC3E}">
        <p14:creationId xmlns:p14="http://schemas.microsoft.com/office/powerpoint/2010/main" val="92794143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a:t>Macroeconomic Factor: Automotive Garages Outlook</a:t>
            </a:r>
          </a:p>
        </p:txBody>
      </p:sp>
      <p:sp>
        <p:nvSpPr>
          <p:cNvPr id="4" name="Rounded Rectangle 3"/>
          <p:cNvSpPr/>
          <p:nvPr/>
        </p:nvSpPr>
        <p:spPr>
          <a:xfrm>
            <a:off x="152400" y="1115864"/>
            <a:ext cx="11887200" cy="5153859"/>
          </a:xfrm>
          <a:prstGeom prst="roundRect">
            <a:avLst>
              <a:gd name="adj" fmla="val 0"/>
            </a:avLst>
          </a:prstGeom>
          <a:solidFill>
            <a:schemeClr val="bg1">
              <a:lumMod val="95000"/>
            </a:schemeClr>
          </a:solidFill>
          <a:ln>
            <a:noFill/>
            <a:prstDash val="sysDot"/>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4"/>
          <p:cNvGrpSpPr/>
          <p:nvPr/>
        </p:nvGrpSpPr>
        <p:grpSpPr>
          <a:xfrm>
            <a:off x="152400" y="1160054"/>
            <a:ext cx="5791200" cy="2679027"/>
            <a:chOff x="150766" y="1358339"/>
            <a:chExt cx="5223789" cy="2679027"/>
          </a:xfrm>
        </p:grpSpPr>
        <p:sp>
          <p:nvSpPr>
            <p:cNvPr id="6" name="TextBox 5"/>
            <p:cNvSpPr txBox="1"/>
            <p:nvPr/>
          </p:nvSpPr>
          <p:spPr>
            <a:xfrm>
              <a:off x="150766" y="1358339"/>
              <a:ext cx="5223789" cy="338554"/>
            </a:xfrm>
            <a:prstGeom prst="rect">
              <a:avLst/>
            </a:prstGeom>
            <a:gradFill flip="none" rotWithShape="1">
              <a:gsLst>
                <a:gs pos="0">
                  <a:schemeClr val="bg1">
                    <a:lumMod val="75000"/>
                    <a:tint val="66000"/>
                    <a:satMod val="160000"/>
                  </a:schemeClr>
                </a:gs>
                <a:gs pos="50000">
                  <a:schemeClr val="bg1">
                    <a:lumMod val="75000"/>
                    <a:tint val="44500"/>
                    <a:satMod val="160000"/>
                  </a:schemeClr>
                </a:gs>
                <a:gs pos="100000">
                  <a:schemeClr val="bg1">
                    <a:lumMod val="75000"/>
                    <a:tint val="23500"/>
                    <a:satMod val="160000"/>
                  </a:schemeClr>
                </a:gs>
              </a:gsLst>
              <a:path path="circle">
                <a:fillToRect l="100000" b="100000"/>
              </a:path>
              <a:tileRect t="-100000" r="-100000"/>
            </a:gradFill>
          </p:spPr>
          <p:txBody>
            <a:bodyPr wrap="square" rtlCol="0">
              <a:spAutoFit/>
            </a:bodyPr>
            <a:lstStyle/>
            <a:p>
              <a:pPr algn="ctr"/>
              <a:r>
                <a:rPr lang="en-US" sz="1600" b="1" dirty="0"/>
                <a:t>Overview of Automotive Garages By Region</a:t>
              </a:r>
            </a:p>
          </p:txBody>
        </p:sp>
        <p:grpSp>
          <p:nvGrpSpPr>
            <p:cNvPr id="7" name="Group 6"/>
            <p:cNvGrpSpPr/>
            <p:nvPr/>
          </p:nvGrpSpPr>
          <p:grpSpPr>
            <a:xfrm>
              <a:off x="544038" y="1413709"/>
              <a:ext cx="2606675" cy="2623657"/>
              <a:chOff x="3678238" y="2079626"/>
              <a:chExt cx="2606675" cy="2623657"/>
            </a:xfrm>
          </p:grpSpPr>
          <p:sp>
            <p:nvSpPr>
              <p:cNvPr id="17" name="Oval 16"/>
              <p:cNvSpPr/>
              <p:nvPr/>
            </p:nvSpPr>
            <p:spPr>
              <a:xfrm>
                <a:off x="3687912" y="2194728"/>
                <a:ext cx="2508555" cy="2508555"/>
              </a:xfrm>
              <a:prstGeom prst="ellipse">
                <a:avLst/>
              </a:prstGeom>
              <a:solidFill>
                <a:srgbClr val="009F95"/>
              </a:solidFill>
              <a:ln>
                <a:noFill/>
              </a:ln>
              <a:scene3d>
                <a:camera prst="isometricOffAxis2Top">
                  <a:rot lat="18448658" lon="2370240" rev="18834399"/>
                </a:camera>
                <a:lightRig rig="threePt" dir="t"/>
              </a:scene3d>
              <a:sp3d>
                <a:bevelT w="0" h="381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reeform 18"/>
              <p:cNvSpPr>
                <a:spLocks/>
              </p:cNvSpPr>
              <p:nvPr/>
            </p:nvSpPr>
            <p:spPr bwMode="auto">
              <a:xfrm>
                <a:off x="4884058" y="3455988"/>
                <a:ext cx="1274763" cy="439738"/>
              </a:xfrm>
              <a:custGeom>
                <a:avLst/>
                <a:gdLst>
                  <a:gd name="T0" fmla="*/ 0 w 6688"/>
                  <a:gd name="T1" fmla="*/ 925 h 2306"/>
                  <a:gd name="T2" fmla="*/ 6499 w 6688"/>
                  <a:gd name="T3" fmla="*/ 2306 h 2306"/>
                  <a:gd name="T4" fmla="*/ 6580 w 6688"/>
                  <a:gd name="T5" fmla="*/ 0 h 2306"/>
                  <a:gd name="T6" fmla="*/ 0 w 6688"/>
                  <a:gd name="T7" fmla="*/ 925 h 2306"/>
                </a:gdLst>
                <a:ahLst/>
                <a:cxnLst>
                  <a:cxn ang="0">
                    <a:pos x="T0" y="T1"/>
                  </a:cxn>
                  <a:cxn ang="0">
                    <a:pos x="T2" y="T3"/>
                  </a:cxn>
                  <a:cxn ang="0">
                    <a:pos x="T4" y="T5"/>
                  </a:cxn>
                  <a:cxn ang="0">
                    <a:pos x="T6" y="T7"/>
                  </a:cxn>
                </a:cxnLst>
                <a:rect l="0" t="0" r="r" b="b"/>
                <a:pathLst>
                  <a:path w="6688" h="2306">
                    <a:moveTo>
                      <a:pt x="0" y="925"/>
                    </a:moveTo>
                    <a:lnTo>
                      <a:pt x="6499" y="2306"/>
                    </a:lnTo>
                    <a:cubicBezTo>
                      <a:pt x="6660" y="1548"/>
                      <a:pt x="6688" y="768"/>
                      <a:pt x="6580" y="0"/>
                    </a:cubicBezTo>
                    <a:lnTo>
                      <a:pt x="0" y="925"/>
                    </a:lnTo>
                    <a:close/>
                  </a:path>
                </a:pathLst>
              </a:custGeom>
              <a:solidFill>
                <a:schemeClr val="accent4"/>
              </a:solidFill>
              <a:ln w="0">
                <a:noFill/>
                <a:prstDash val="solid"/>
                <a:round/>
                <a:headEnd/>
                <a:tailEnd/>
              </a:ln>
              <a:scene3d>
                <a:camera prst="isometricOffAxis2Top">
                  <a:rot lat="18448671" lon="2370244" rev="18834421"/>
                </a:camera>
                <a:lightRig rig="threePt" dir="t"/>
              </a:scene3d>
              <a:sp3d>
                <a:bevelT w="0" h="254000"/>
              </a:sp3d>
            </p:spPr>
            <p:txBody>
              <a:bodyPr vert="horz" wrap="square" lIns="91440" tIns="45720" rIns="91440" bIns="45720" numCol="1" anchor="t" anchorCtr="0" compatLnSpc="1">
                <a:prstTxWarp prst="textNoShape">
                  <a:avLst/>
                </a:prstTxWarp>
              </a:bodyPr>
              <a:lstStyle/>
              <a:p>
                <a:endParaRPr lang="en-US" dirty="0"/>
              </a:p>
            </p:txBody>
          </p:sp>
          <p:sp>
            <p:nvSpPr>
              <p:cNvPr id="19" name="Freeform 20"/>
              <p:cNvSpPr>
                <a:spLocks/>
              </p:cNvSpPr>
              <p:nvPr/>
            </p:nvSpPr>
            <p:spPr bwMode="auto">
              <a:xfrm>
                <a:off x="4680858" y="3501570"/>
                <a:ext cx="1239838" cy="996950"/>
              </a:xfrm>
              <a:custGeom>
                <a:avLst/>
                <a:gdLst>
                  <a:gd name="T0" fmla="*/ 0 w 6499"/>
                  <a:gd name="T1" fmla="*/ 0 h 5236"/>
                  <a:gd name="T2" fmla="*/ 4091 w 6499"/>
                  <a:gd name="T3" fmla="*/ 5236 h 5236"/>
                  <a:gd name="T4" fmla="*/ 6499 w 6499"/>
                  <a:gd name="T5" fmla="*/ 1381 h 5236"/>
                  <a:gd name="T6" fmla="*/ 0 w 6499"/>
                  <a:gd name="T7" fmla="*/ 0 h 5236"/>
                </a:gdLst>
                <a:ahLst/>
                <a:cxnLst>
                  <a:cxn ang="0">
                    <a:pos x="T0" y="T1"/>
                  </a:cxn>
                  <a:cxn ang="0">
                    <a:pos x="T2" y="T3"/>
                  </a:cxn>
                  <a:cxn ang="0">
                    <a:pos x="T4" y="T5"/>
                  </a:cxn>
                  <a:cxn ang="0">
                    <a:pos x="T6" y="T7"/>
                  </a:cxn>
                </a:cxnLst>
                <a:rect l="0" t="0" r="r" b="b"/>
                <a:pathLst>
                  <a:path w="6499" h="5236">
                    <a:moveTo>
                      <a:pt x="0" y="0"/>
                    </a:moveTo>
                    <a:lnTo>
                      <a:pt x="4091" y="5236"/>
                    </a:lnTo>
                    <a:cubicBezTo>
                      <a:pt x="5322" y="4274"/>
                      <a:pt x="6174" y="2909"/>
                      <a:pt x="6499" y="1381"/>
                    </a:cubicBezTo>
                    <a:lnTo>
                      <a:pt x="0" y="0"/>
                    </a:lnTo>
                    <a:close/>
                  </a:path>
                </a:pathLst>
              </a:custGeom>
              <a:solidFill>
                <a:schemeClr val="accent3"/>
              </a:solidFill>
              <a:ln w="0">
                <a:noFill/>
                <a:prstDash val="solid"/>
                <a:round/>
                <a:headEnd/>
                <a:tailEnd/>
              </a:ln>
              <a:scene3d>
                <a:camera prst="isometricOffAxis2Top">
                  <a:rot lat="18448671" lon="2370244" rev="18834421"/>
                </a:camera>
                <a:lightRig rig="threePt" dir="t"/>
              </a:scene3d>
              <a:sp3d>
                <a:bevelT w="0" h="127000"/>
              </a:sp3d>
            </p:spPr>
            <p:txBody>
              <a:bodyPr vert="horz" wrap="square" lIns="91440" tIns="45720" rIns="91440" bIns="45720" numCol="1" anchor="t" anchorCtr="0" compatLnSpc="1">
                <a:prstTxWarp prst="textNoShape">
                  <a:avLst/>
                </a:prstTxWarp>
              </a:bodyPr>
              <a:lstStyle/>
              <a:p>
                <a:endParaRPr lang="en-US" dirty="0"/>
              </a:p>
            </p:txBody>
          </p:sp>
          <p:sp>
            <p:nvSpPr>
              <p:cNvPr id="20" name="Freeform 22"/>
              <p:cNvSpPr>
                <a:spLocks/>
              </p:cNvSpPr>
              <p:nvPr/>
            </p:nvSpPr>
            <p:spPr bwMode="auto">
              <a:xfrm>
                <a:off x="3833133" y="3182258"/>
                <a:ext cx="1628775" cy="1374775"/>
              </a:xfrm>
              <a:custGeom>
                <a:avLst/>
                <a:gdLst>
                  <a:gd name="T0" fmla="*/ 8892 w 17074"/>
                  <a:gd name="T1" fmla="*/ 0 h 14442"/>
                  <a:gd name="T2" fmla="*/ 0 w 17074"/>
                  <a:gd name="T3" fmla="*/ 9876 h 14442"/>
                  <a:gd name="T4" fmla="*/ 17074 w 17074"/>
                  <a:gd name="T5" fmla="*/ 10472 h 14442"/>
                  <a:gd name="T6" fmla="*/ 8892 w 17074"/>
                  <a:gd name="T7" fmla="*/ 0 h 14442"/>
                </a:gdLst>
                <a:ahLst/>
                <a:cxnLst>
                  <a:cxn ang="0">
                    <a:pos x="T0" y="T1"/>
                  </a:cxn>
                  <a:cxn ang="0">
                    <a:pos x="T2" y="T3"/>
                  </a:cxn>
                  <a:cxn ang="0">
                    <a:pos x="T4" y="T5"/>
                  </a:cxn>
                  <a:cxn ang="0">
                    <a:pos x="T6" y="T7"/>
                  </a:cxn>
                </a:cxnLst>
                <a:rect l="0" t="0" r="r" b="b"/>
                <a:pathLst>
                  <a:path w="17074" h="14442">
                    <a:moveTo>
                      <a:pt x="8892" y="0"/>
                    </a:moveTo>
                    <a:lnTo>
                      <a:pt x="0" y="9876"/>
                    </a:lnTo>
                    <a:cubicBezTo>
                      <a:pt x="4793" y="14191"/>
                      <a:pt x="11992" y="14442"/>
                      <a:pt x="17074" y="10472"/>
                    </a:cubicBezTo>
                    <a:lnTo>
                      <a:pt x="8892" y="0"/>
                    </a:lnTo>
                    <a:close/>
                  </a:path>
                </a:pathLst>
              </a:custGeom>
              <a:solidFill>
                <a:schemeClr val="accent2"/>
              </a:solidFill>
              <a:ln w="0">
                <a:noFill/>
                <a:prstDash val="solid"/>
                <a:round/>
                <a:headEnd/>
                <a:tailEnd/>
              </a:ln>
              <a:scene3d>
                <a:camera prst="isometricOffAxis2Top">
                  <a:rot lat="18448671" lon="2370244" rev="18834421"/>
                </a:camera>
                <a:lightRig rig="threePt" dir="t"/>
              </a:scene3d>
              <a:sp3d>
                <a:bevelT w="0" h="254000"/>
              </a:sp3d>
            </p:spPr>
            <p:txBody>
              <a:bodyPr vert="horz" wrap="square" lIns="91440" tIns="45720" rIns="91440" bIns="45720" numCol="1" anchor="t" anchorCtr="0" compatLnSpc="1">
                <a:prstTxWarp prst="textNoShape">
                  <a:avLst/>
                </a:prstTxWarp>
              </a:bodyPr>
              <a:lstStyle/>
              <a:p>
                <a:endParaRPr lang="en-US" dirty="0"/>
              </a:p>
            </p:txBody>
          </p:sp>
          <p:sp>
            <p:nvSpPr>
              <p:cNvPr id="21" name="Freeform 16"/>
              <p:cNvSpPr>
                <a:spLocks/>
              </p:cNvSpPr>
              <p:nvPr/>
            </p:nvSpPr>
            <p:spPr bwMode="auto">
              <a:xfrm>
                <a:off x="3678238" y="2079626"/>
                <a:ext cx="2606675" cy="2289175"/>
              </a:xfrm>
              <a:custGeom>
                <a:avLst/>
                <a:gdLst>
                  <a:gd name="T0" fmla="*/ 7091 w 13671"/>
                  <a:gd name="T1" fmla="*/ 7091 h 12029"/>
                  <a:gd name="T2" fmla="*/ 13671 w 13671"/>
                  <a:gd name="T3" fmla="*/ 6166 h 12029"/>
                  <a:gd name="T4" fmla="*/ 6166 w 13671"/>
                  <a:gd name="T5" fmla="*/ 511 h 12029"/>
                  <a:gd name="T6" fmla="*/ 511 w 13671"/>
                  <a:gd name="T7" fmla="*/ 8015 h 12029"/>
                  <a:gd name="T8" fmla="*/ 2645 w 13671"/>
                  <a:gd name="T9" fmla="*/ 12029 h 12029"/>
                  <a:gd name="T10" fmla="*/ 7091 w 13671"/>
                  <a:gd name="T11" fmla="*/ 7091 h 12029"/>
                </a:gdLst>
                <a:ahLst/>
                <a:cxnLst>
                  <a:cxn ang="0">
                    <a:pos x="T0" y="T1"/>
                  </a:cxn>
                  <a:cxn ang="0">
                    <a:pos x="T2" y="T3"/>
                  </a:cxn>
                  <a:cxn ang="0">
                    <a:pos x="T4" y="T5"/>
                  </a:cxn>
                  <a:cxn ang="0">
                    <a:pos x="T6" y="T7"/>
                  </a:cxn>
                  <a:cxn ang="0">
                    <a:pos x="T8" y="T9"/>
                  </a:cxn>
                  <a:cxn ang="0">
                    <a:pos x="T10" y="T11"/>
                  </a:cxn>
                </a:cxnLst>
                <a:rect l="0" t="0" r="r" b="b"/>
                <a:pathLst>
                  <a:path w="13671" h="12029">
                    <a:moveTo>
                      <a:pt x="7091" y="7091"/>
                    </a:moveTo>
                    <a:lnTo>
                      <a:pt x="13671" y="6166"/>
                    </a:lnTo>
                    <a:cubicBezTo>
                      <a:pt x="13160" y="2532"/>
                      <a:pt x="9800" y="0"/>
                      <a:pt x="6166" y="511"/>
                    </a:cubicBezTo>
                    <a:cubicBezTo>
                      <a:pt x="2532" y="1022"/>
                      <a:pt x="0" y="4382"/>
                      <a:pt x="511" y="8015"/>
                    </a:cubicBezTo>
                    <a:cubicBezTo>
                      <a:pt x="728" y="9562"/>
                      <a:pt x="1484" y="10983"/>
                      <a:pt x="2645" y="12029"/>
                    </a:cubicBezTo>
                    <a:lnTo>
                      <a:pt x="7091" y="7091"/>
                    </a:lnTo>
                    <a:close/>
                  </a:path>
                </a:pathLst>
              </a:custGeom>
              <a:solidFill>
                <a:schemeClr val="accent1"/>
              </a:solidFill>
              <a:ln w="0">
                <a:noFill/>
                <a:prstDash val="solid"/>
                <a:round/>
                <a:headEnd/>
                <a:tailEnd/>
              </a:ln>
              <a:effectLst>
                <a:outerShdw blurRad="50800" dist="139700" dir="2700000" algn="tl" rotWithShape="0">
                  <a:prstClr val="black">
                    <a:alpha val="40000"/>
                  </a:prstClr>
                </a:outerShdw>
              </a:effectLst>
              <a:scene3d>
                <a:camera prst="isometricOffAxis2Top">
                  <a:rot lat="18448671" lon="2370244" rev="18834421"/>
                </a:camera>
                <a:lightRig rig="threePt" dir="t"/>
              </a:scene3d>
              <a:sp3d>
                <a:bevelT w="0" h="254000"/>
              </a:sp3d>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7"/>
            <p:cNvGrpSpPr/>
            <p:nvPr/>
          </p:nvGrpSpPr>
          <p:grpSpPr>
            <a:xfrm>
              <a:off x="3464114" y="2019261"/>
              <a:ext cx="1580496" cy="1543363"/>
              <a:chOff x="3967914" y="1989677"/>
              <a:chExt cx="1580496" cy="1543363"/>
            </a:xfrm>
          </p:grpSpPr>
          <p:sp>
            <p:nvSpPr>
              <p:cNvPr id="9" name="Rectangle 8"/>
              <p:cNvSpPr/>
              <p:nvPr/>
            </p:nvSpPr>
            <p:spPr>
              <a:xfrm>
                <a:off x="3967914" y="2093960"/>
                <a:ext cx="215757" cy="2054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3967914" y="2472091"/>
                <a:ext cx="215757" cy="2054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p:cNvSpPr/>
              <p:nvPr/>
            </p:nvSpPr>
            <p:spPr>
              <a:xfrm>
                <a:off x="3967914" y="2850222"/>
                <a:ext cx="215757" cy="20548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p:nvSpPr>
            <p:spPr>
              <a:xfrm>
                <a:off x="3986128" y="3228352"/>
                <a:ext cx="215757" cy="20548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Box 12"/>
              <p:cNvSpPr txBox="1"/>
              <p:nvPr/>
            </p:nvSpPr>
            <p:spPr>
              <a:xfrm>
                <a:off x="4183671" y="3147998"/>
                <a:ext cx="677728" cy="385042"/>
              </a:xfrm>
              <a:prstGeom prst="rect">
                <a:avLst/>
              </a:prstGeom>
              <a:noFill/>
            </p:spPr>
            <p:txBody>
              <a:bodyPr wrap="square" rtlCol="0">
                <a:spAutoFit/>
              </a:bodyPr>
              <a:lstStyle/>
              <a:p>
                <a:pPr algn="ctr"/>
                <a:r>
                  <a:rPr lang="en-US" b="1" dirty="0"/>
                  <a:t>MEA</a:t>
                </a:r>
              </a:p>
            </p:txBody>
          </p:sp>
          <p:sp>
            <p:nvSpPr>
              <p:cNvPr id="14" name="TextBox 13"/>
              <p:cNvSpPr txBox="1"/>
              <p:nvPr/>
            </p:nvSpPr>
            <p:spPr>
              <a:xfrm>
                <a:off x="4183670" y="1989677"/>
                <a:ext cx="1364740" cy="385042"/>
              </a:xfrm>
              <a:prstGeom prst="rect">
                <a:avLst/>
              </a:prstGeom>
              <a:noFill/>
            </p:spPr>
            <p:txBody>
              <a:bodyPr wrap="square" rtlCol="0">
                <a:spAutoFit/>
              </a:bodyPr>
              <a:lstStyle/>
              <a:p>
                <a:pPr algn="ctr"/>
                <a:r>
                  <a:rPr lang="en-US" b="1" dirty="0"/>
                  <a:t>Asia Pacific </a:t>
                </a:r>
              </a:p>
            </p:txBody>
          </p:sp>
          <p:sp>
            <p:nvSpPr>
              <p:cNvPr id="15" name="TextBox 14"/>
              <p:cNvSpPr txBox="1"/>
              <p:nvPr/>
            </p:nvSpPr>
            <p:spPr>
              <a:xfrm>
                <a:off x="4183670" y="2375784"/>
                <a:ext cx="982706" cy="385042"/>
              </a:xfrm>
              <a:prstGeom prst="rect">
                <a:avLst/>
              </a:prstGeom>
              <a:noFill/>
            </p:spPr>
            <p:txBody>
              <a:bodyPr wrap="square" rtlCol="0">
                <a:spAutoFit/>
              </a:bodyPr>
              <a:lstStyle/>
              <a:p>
                <a:pPr algn="ctr"/>
                <a:r>
                  <a:rPr lang="en-US" b="1" dirty="0"/>
                  <a:t>Europe</a:t>
                </a:r>
              </a:p>
            </p:txBody>
          </p:sp>
          <p:sp>
            <p:nvSpPr>
              <p:cNvPr id="16" name="TextBox 15"/>
              <p:cNvSpPr txBox="1"/>
              <p:nvPr/>
            </p:nvSpPr>
            <p:spPr>
              <a:xfrm>
                <a:off x="4183670" y="2761891"/>
                <a:ext cx="1158892" cy="385042"/>
              </a:xfrm>
              <a:prstGeom prst="rect">
                <a:avLst/>
              </a:prstGeom>
              <a:noFill/>
            </p:spPr>
            <p:txBody>
              <a:bodyPr wrap="square" rtlCol="0">
                <a:spAutoFit/>
              </a:bodyPr>
              <a:lstStyle/>
              <a:p>
                <a:pPr algn="ctr"/>
                <a:r>
                  <a:rPr lang="en-US" b="1" dirty="0"/>
                  <a:t>Americas</a:t>
                </a:r>
              </a:p>
            </p:txBody>
          </p:sp>
        </p:grpSp>
      </p:grpSp>
      <p:grpSp>
        <p:nvGrpSpPr>
          <p:cNvPr id="22" name="Group 21"/>
          <p:cNvGrpSpPr/>
          <p:nvPr/>
        </p:nvGrpSpPr>
        <p:grpSpPr>
          <a:xfrm>
            <a:off x="6248400" y="1170295"/>
            <a:ext cx="5791200" cy="2454209"/>
            <a:chOff x="122690" y="1415144"/>
            <a:chExt cx="5096908" cy="2454209"/>
          </a:xfrm>
        </p:grpSpPr>
        <p:sp>
          <p:nvSpPr>
            <p:cNvPr id="23" name="TextBox 22"/>
            <p:cNvSpPr txBox="1"/>
            <p:nvPr/>
          </p:nvSpPr>
          <p:spPr>
            <a:xfrm>
              <a:off x="122690" y="1415144"/>
              <a:ext cx="5096908" cy="338554"/>
            </a:xfrm>
            <a:prstGeom prst="rect">
              <a:avLst/>
            </a:prstGeom>
            <a:gradFill flip="none" rotWithShape="1">
              <a:gsLst>
                <a:gs pos="0">
                  <a:schemeClr val="bg1">
                    <a:lumMod val="75000"/>
                    <a:tint val="66000"/>
                    <a:satMod val="160000"/>
                  </a:schemeClr>
                </a:gs>
                <a:gs pos="50000">
                  <a:schemeClr val="bg1">
                    <a:lumMod val="75000"/>
                    <a:tint val="44500"/>
                    <a:satMod val="160000"/>
                  </a:schemeClr>
                </a:gs>
                <a:gs pos="100000">
                  <a:schemeClr val="bg1">
                    <a:lumMod val="75000"/>
                    <a:tint val="23500"/>
                    <a:satMod val="160000"/>
                  </a:schemeClr>
                </a:gs>
              </a:gsLst>
              <a:path path="circle">
                <a:fillToRect l="100000" b="100000"/>
              </a:path>
              <a:tileRect t="-100000" r="-100000"/>
            </a:gradFill>
          </p:spPr>
          <p:txBody>
            <a:bodyPr wrap="square" rtlCol="0">
              <a:spAutoFit/>
            </a:bodyPr>
            <a:lstStyle/>
            <a:p>
              <a:pPr algn="ctr"/>
              <a:r>
                <a:rPr lang="en-US" sz="1600" b="1" dirty="0"/>
                <a:t>Overview of Automotive Garages By Type</a:t>
              </a:r>
            </a:p>
          </p:txBody>
        </p:sp>
        <p:grpSp>
          <p:nvGrpSpPr>
            <p:cNvPr id="24" name="Group 23"/>
            <p:cNvGrpSpPr/>
            <p:nvPr/>
          </p:nvGrpSpPr>
          <p:grpSpPr>
            <a:xfrm>
              <a:off x="3449339" y="1911483"/>
              <a:ext cx="1595272" cy="1957870"/>
              <a:chOff x="3953139" y="1881899"/>
              <a:chExt cx="1595272" cy="1957870"/>
            </a:xfrm>
          </p:grpSpPr>
          <p:sp>
            <p:nvSpPr>
              <p:cNvPr id="25" name="Rectangle 24"/>
              <p:cNvSpPr/>
              <p:nvPr/>
            </p:nvSpPr>
            <p:spPr>
              <a:xfrm>
                <a:off x="3969567" y="1976870"/>
                <a:ext cx="215757" cy="205484"/>
              </a:xfrm>
              <a:prstGeom prst="rect">
                <a:avLst/>
              </a:prstGeom>
              <a:solidFill>
                <a:srgbClr val="9E7E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p:cNvSpPr/>
              <p:nvPr/>
            </p:nvSpPr>
            <p:spPr>
              <a:xfrm>
                <a:off x="3953139" y="2595127"/>
                <a:ext cx="215757" cy="205484"/>
              </a:xfrm>
              <a:prstGeom prst="rect">
                <a:avLst/>
              </a:prstGeom>
              <a:solidFill>
                <a:srgbClr val="721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26"/>
              <p:cNvSpPr/>
              <p:nvPr/>
            </p:nvSpPr>
            <p:spPr>
              <a:xfrm>
                <a:off x="3961152" y="3252427"/>
                <a:ext cx="215757" cy="205484"/>
              </a:xfrm>
              <a:prstGeom prst="rect">
                <a:avLst/>
              </a:prstGeom>
              <a:solidFill>
                <a:srgbClr val="2657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Box 27"/>
              <p:cNvSpPr txBox="1"/>
              <p:nvPr/>
            </p:nvSpPr>
            <p:spPr>
              <a:xfrm>
                <a:off x="4165291" y="1881899"/>
                <a:ext cx="1207133" cy="677750"/>
              </a:xfrm>
              <a:prstGeom prst="rect">
                <a:avLst/>
              </a:prstGeom>
              <a:noFill/>
            </p:spPr>
            <p:txBody>
              <a:bodyPr wrap="square" rtlCol="0">
                <a:spAutoFit/>
              </a:bodyPr>
              <a:lstStyle/>
              <a:p>
                <a:r>
                  <a:rPr lang="en-US" b="1" dirty="0"/>
                  <a:t>Small Garages</a:t>
                </a:r>
              </a:p>
            </p:txBody>
          </p:sp>
          <p:sp>
            <p:nvSpPr>
              <p:cNvPr id="29" name="TextBox 28"/>
              <p:cNvSpPr txBox="1"/>
              <p:nvPr/>
            </p:nvSpPr>
            <p:spPr>
              <a:xfrm>
                <a:off x="4141683" y="2514921"/>
                <a:ext cx="1406728" cy="677750"/>
              </a:xfrm>
              <a:prstGeom prst="rect">
                <a:avLst/>
              </a:prstGeom>
              <a:noFill/>
            </p:spPr>
            <p:txBody>
              <a:bodyPr wrap="square" rtlCol="0">
                <a:spAutoFit/>
              </a:bodyPr>
              <a:lstStyle/>
              <a:p>
                <a:r>
                  <a:rPr lang="en-US" b="1" dirty="0"/>
                  <a:t>Midsized Garages</a:t>
                </a:r>
              </a:p>
            </p:txBody>
          </p:sp>
          <p:sp>
            <p:nvSpPr>
              <p:cNvPr id="30" name="TextBox 29"/>
              <p:cNvSpPr txBox="1"/>
              <p:nvPr/>
            </p:nvSpPr>
            <p:spPr>
              <a:xfrm>
                <a:off x="4157477" y="3162019"/>
                <a:ext cx="1158892" cy="677750"/>
              </a:xfrm>
              <a:prstGeom prst="rect">
                <a:avLst/>
              </a:prstGeom>
              <a:noFill/>
            </p:spPr>
            <p:txBody>
              <a:bodyPr wrap="square" rtlCol="0">
                <a:spAutoFit/>
              </a:bodyPr>
              <a:lstStyle/>
              <a:p>
                <a:r>
                  <a:rPr lang="en-US" b="1" dirty="0"/>
                  <a:t>Large Garages</a:t>
                </a:r>
              </a:p>
            </p:txBody>
          </p:sp>
        </p:grpSp>
      </p:grpSp>
      <p:sp>
        <p:nvSpPr>
          <p:cNvPr id="31" name="TextBox 30"/>
          <p:cNvSpPr txBox="1"/>
          <p:nvPr/>
        </p:nvSpPr>
        <p:spPr>
          <a:xfrm>
            <a:off x="152400" y="3839081"/>
            <a:ext cx="5791199" cy="338554"/>
          </a:xfrm>
          <a:prstGeom prst="rect">
            <a:avLst/>
          </a:prstGeom>
          <a:gradFill flip="none" rotWithShape="1">
            <a:gsLst>
              <a:gs pos="0">
                <a:schemeClr val="bg1">
                  <a:lumMod val="75000"/>
                  <a:tint val="66000"/>
                  <a:satMod val="160000"/>
                </a:schemeClr>
              </a:gs>
              <a:gs pos="50000">
                <a:schemeClr val="bg1">
                  <a:lumMod val="75000"/>
                  <a:tint val="44500"/>
                  <a:satMod val="160000"/>
                </a:schemeClr>
              </a:gs>
              <a:gs pos="100000">
                <a:schemeClr val="bg1">
                  <a:lumMod val="75000"/>
                  <a:tint val="23500"/>
                  <a:satMod val="160000"/>
                </a:schemeClr>
              </a:gs>
            </a:gsLst>
            <a:path path="circle">
              <a:fillToRect l="100000" b="100000"/>
            </a:path>
            <a:tileRect t="-100000" r="-100000"/>
          </a:gradFill>
        </p:spPr>
        <p:txBody>
          <a:bodyPr wrap="square" rtlCol="0">
            <a:spAutoFit/>
          </a:bodyPr>
          <a:lstStyle/>
          <a:p>
            <a:pPr algn="ctr"/>
            <a:r>
              <a:rPr lang="en-US" sz="1600" b="1" dirty="0"/>
              <a:t>Growth of Automotive Garages By Region</a:t>
            </a:r>
          </a:p>
        </p:txBody>
      </p:sp>
      <p:graphicFrame>
        <p:nvGraphicFramePr>
          <p:cNvPr id="32" name="Table 31"/>
          <p:cNvGraphicFramePr>
            <a:graphicFrameLocks noGrp="1"/>
          </p:cNvGraphicFramePr>
          <p:nvPr>
            <p:extLst>
              <p:ext uri="{D42A27DB-BD31-4B8C-83A1-F6EECF244321}">
                <p14:modId xmlns:p14="http://schemas.microsoft.com/office/powerpoint/2010/main" val="3507213601"/>
              </p:ext>
            </p:extLst>
          </p:nvPr>
        </p:nvGraphicFramePr>
        <p:xfrm>
          <a:off x="2268858" y="4432561"/>
          <a:ext cx="3294753" cy="370840"/>
        </p:xfrm>
        <a:graphic>
          <a:graphicData uri="http://schemas.openxmlformats.org/drawingml/2006/table">
            <a:tbl>
              <a:tblPr firstRow="1" bandRow="1">
                <a:tableStyleId>{5C22544A-7EE6-4342-B048-85BDC9FD1C3A}</a:tableStyleId>
              </a:tblPr>
              <a:tblGrid>
                <a:gridCol w="470679">
                  <a:extLst>
                    <a:ext uri="{9D8B030D-6E8A-4147-A177-3AD203B41FA5}">
                      <a16:colId xmlns:a16="http://schemas.microsoft.com/office/drawing/2014/main" val="20000"/>
                    </a:ext>
                  </a:extLst>
                </a:gridCol>
                <a:gridCol w="470679">
                  <a:extLst>
                    <a:ext uri="{9D8B030D-6E8A-4147-A177-3AD203B41FA5}">
                      <a16:colId xmlns:a16="http://schemas.microsoft.com/office/drawing/2014/main" val="20001"/>
                    </a:ext>
                  </a:extLst>
                </a:gridCol>
                <a:gridCol w="470679">
                  <a:extLst>
                    <a:ext uri="{9D8B030D-6E8A-4147-A177-3AD203B41FA5}">
                      <a16:colId xmlns:a16="http://schemas.microsoft.com/office/drawing/2014/main" val="20002"/>
                    </a:ext>
                  </a:extLst>
                </a:gridCol>
                <a:gridCol w="470679">
                  <a:extLst>
                    <a:ext uri="{9D8B030D-6E8A-4147-A177-3AD203B41FA5}">
                      <a16:colId xmlns:a16="http://schemas.microsoft.com/office/drawing/2014/main" val="20003"/>
                    </a:ext>
                  </a:extLst>
                </a:gridCol>
                <a:gridCol w="470679">
                  <a:extLst>
                    <a:ext uri="{9D8B030D-6E8A-4147-A177-3AD203B41FA5}">
                      <a16:colId xmlns:a16="http://schemas.microsoft.com/office/drawing/2014/main" val="20004"/>
                    </a:ext>
                  </a:extLst>
                </a:gridCol>
                <a:gridCol w="470679">
                  <a:extLst>
                    <a:ext uri="{9D8B030D-6E8A-4147-A177-3AD203B41FA5}">
                      <a16:colId xmlns:a16="http://schemas.microsoft.com/office/drawing/2014/main" val="20005"/>
                    </a:ext>
                  </a:extLst>
                </a:gridCol>
                <a:gridCol w="470679">
                  <a:extLst>
                    <a:ext uri="{9D8B030D-6E8A-4147-A177-3AD203B41FA5}">
                      <a16:colId xmlns:a16="http://schemas.microsoft.com/office/drawing/2014/main" val="20006"/>
                    </a:ext>
                  </a:extLst>
                </a:gridCol>
              </a:tblGrid>
              <a:tr h="370840">
                <a:tc>
                  <a:txBody>
                    <a:bodyPr/>
                    <a:lstStyle/>
                    <a:p>
                      <a:endParaRPr lang="en-US" dirty="0"/>
                    </a:p>
                  </a:txBody>
                  <a:tcPr>
                    <a:solidFill>
                      <a:srgbClr val="3BF28D"/>
                    </a:solidFill>
                  </a:tcPr>
                </a:tc>
                <a:tc>
                  <a:txBody>
                    <a:bodyPr/>
                    <a:lstStyle/>
                    <a:p>
                      <a:endParaRPr lang="en-US" dirty="0"/>
                    </a:p>
                  </a:txBody>
                  <a:tcPr>
                    <a:solidFill>
                      <a:srgbClr val="3BF28D"/>
                    </a:solidFill>
                  </a:tcPr>
                </a:tc>
                <a:tc>
                  <a:txBody>
                    <a:bodyPr/>
                    <a:lstStyle/>
                    <a:p>
                      <a:endParaRPr lang="en-US" dirty="0"/>
                    </a:p>
                  </a:txBody>
                  <a:tcPr>
                    <a:solidFill>
                      <a:srgbClr val="3BF28D"/>
                    </a:solidFill>
                  </a:tcPr>
                </a:tc>
                <a:tc>
                  <a:txBody>
                    <a:bodyPr/>
                    <a:lstStyle/>
                    <a:p>
                      <a:endParaRPr lang="en-US" dirty="0"/>
                    </a:p>
                  </a:txBody>
                  <a:tcPr>
                    <a:solidFill>
                      <a:srgbClr val="3BF28D"/>
                    </a:solidFill>
                  </a:tcPr>
                </a:tc>
                <a:tc>
                  <a:txBody>
                    <a:bodyPr/>
                    <a:lstStyle/>
                    <a:p>
                      <a:endParaRPr lang="en-US" dirty="0"/>
                    </a:p>
                  </a:txBody>
                  <a:tcPr>
                    <a:solidFill>
                      <a:srgbClr val="3BF28D"/>
                    </a:solidFill>
                  </a:tcPr>
                </a:tc>
                <a:tc>
                  <a:txBody>
                    <a:bodyPr/>
                    <a:lstStyle/>
                    <a:p>
                      <a:endParaRPr lang="en-US" dirty="0"/>
                    </a:p>
                  </a:txBody>
                  <a:tcPr>
                    <a:solidFill>
                      <a:schemeClr val="bg1">
                        <a:lumMod val="85000"/>
                      </a:schemeClr>
                    </a:solidFill>
                  </a:tcPr>
                </a:tc>
                <a:tc>
                  <a:txBody>
                    <a:bodyPr/>
                    <a:lstStyle/>
                    <a:p>
                      <a:endParaRPr lang="en-US" dirty="0"/>
                    </a:p>
                  </a:txBody>
                  <a:tcPr>
                    <a:solidFill>
                      <a:schemeClr val="bg1">
                        <a:lumMod val="85000"/>
                      </a:schemeClr>
                    </a:solidFill>
                  </a:tcPr>
                </a:tc>
                <a:extLst>
                  <a:ext uri="{0D108BD9-81ED-4DB2-BD59-A6C34878D82A}">
                    <a16:rowId xmlns:a16="http://schemas.microsoft.com/office/drawing/2014/main" val="10000"/>
                  </a:ext>
                </a:extLst>
              </a:tr>
            </a:tbl>
          </a:graphicData>
        </a:graphic>
      </p:graphicFrame>
      <p:grpSp>
        <p:nvGrpSpPr>
          <p:cNvPr id="33" name="Group 32"/>
          <p:cNvGrpSpPr/>
          <p:nvPr/>
        </p:nvGrpSpPr>
        <p:grpSpPr>
          <a:xfrm>
            <a:off x="381096" y="4425603"/>
            <a:ext cx="1821036" cy="1632789"/>
            <a:chOff x="3788283" y="1999822"/>
            <a:chExt cx="1821036" cy="1632789"/>
          </a:xfrm>
        </p:grpSpPr>
        <p:sp>
          <p:nvSpPr>
            <p:cNvPr id="34" name="TextBox 33"/>
            <p:cNvSpPr txBox="1"/>
            <p:nvPr/>
          </p:nvSpPr>
          <p:spPr>
            <a:xfrm>
              <a:off x="3788283" y="3324834"/>
              <a:ext cx="1821036" cy="307777"/>
            </a:xfrm>
            <a:prstGeom prst="rect">
              <a:avLst/>
            </a:prstGeom>
            <a:noFill/>
          </p:spPr>
          <p:txBody>
            <a:bodyPr wrap="square" rtlCol="0">
              <a:spAutoFit/>
            </a:bodyPr>
            <a:lstStyle/>
            <a:p>
              <a:pPr algn="ctr"/>
              <a:r>
                <a:rPr lang="en-US" sz="1400" b="1" dirty="0"/>
                <a:t>Middle East Africa</a:t>
              </a:r>
            </a:p>
          </p:txBody>
        </p:sp>
        <p:sp>
          <p:nvSpPr>
            <p:cNvPr id="35" name="TextBox 34"/>
            <p:cNvSpPr txBox="1"/>
            <p:nvPr/>
          </p:nvSpPr>
          <p:spPr>
            <a:xfrm>
              <a:off x="4055040" y="1999822"/>
              <a:ext cx="1379989" cy="307777"/>
            </a:xfrm>
            <a:prstGeom prst="rect">
              <a:avLst/>
            </a:prstGeom>
            <a:noFill/>
          </p:spPr>
          <p:txBody>
            <a:bodyPr wrap="square" rtlCol="0">
              <a:spAutoFit/>
            </a:bodyPr>
            <a:lstStyle/>
            <a:p>
              <a:pPr algn="ctr"/>
              <a:r>
                <a:rPr lang="en-US" sz="1400" b="1" dirty="0"/>
                <a:t>Asia Pacific </a:t>
              </a:r>
            </a:p>
          </p:txBody>
        </p:sp>
        <p:sp>
          <p:nvSpPr>
            <p:cNvPr id="36" name="TextBox 35"/>
            <p:cNvSpPr txBox="1"/>
            <p:nvPr/>
          </p:nvSpPr>
          <p:spPr>
            <a:xfrm>
              <a:off x="4209714" y="2452773"/>
              <a:ext cx="1022115" cy="307777"/>
            </a:xfrm>
            <a:prstGeom prst="rect">
              <a:avLst/>
            </a:prstGeom>
            <a:noFill/>
          </p:spPr>
          <p:txBody>
            <a:bodyPr wrap="square" rtlCol="0">
              <a:spAutoFit/>
            </a:bodyPr>
            <a:lstStyle/>
            <a:p>
              <a:pPr algn="ctr"/>
              <a:r>
                <a:rPr lang="en-US" sz="1400" b="1" dirty="0"/>
                <a:t>Europe</a:t>
              </a:r>
              <a:endParaRPr lang="en-US" b="1" dirty="0"/>
            </a:p>
          </p:txBody>
        </p:sp>
        <p:sp>
          <p:nvSpPr>
            <p:cNvPr id="37" name="TextBox 36"/>
            <p:cNvSpPr txBox="1"/>
            <p:nvPr/>
          </p:nvSpPr>
          <p:spPr>
            <a:xfrm>
              <a:off x="4055040" y="2867911"/>
              <a:ext cx="1287522" cy="307777"/>
            </a:xfrm>
            <a:prstGeom prst="rect">
              <a:avLst/>
            </a:prstGeom>
            <a:noFill/>
          </p:spPr>
          <p:txBody>
            <a:bodyPr wrap="square" rtlCol="0">
              <a:spAutoFit/>
            </a:bodyPr>
            <a:lstStyle/>
            <a:p>
              <a:pPr algn="ctr"/>
              <a:r>
                <a:rPr lang="en-US" sz="1400" b="1" dirty="0"/>
                <a:t>Americas</a:t>
              </a:r>
            </a:p>
          </p:txBody>
        </p:sp>
      </p:grpSp>
      <p:graphicFrame>
        <p:nvGraphicFramePr>
          <p:cNvPr id="38" name="Table 37"/>
          <p:cNvGraphicFramePr>
            <a:graphicFrameLocks noGrp="1"/>
          </p:cNvGraphicFramePr>
          <p:nvPr>
            <p:extLst>
              <p:ext uri="{D42A27DB-BD31-4B8C-83A1-F6EECF244321}">
                <p14:modId xmlns:p14="http://schemas.microsoft.com/office/powerpoint/2010/main" val="4115905707"/>
              </p:ext>
            </p:extLst>
          </p:nvPr>
        </p:nvGraphicFramePr>
        <p:xfrm>
          <a:off x="2268858" y="4883735"/>
          <a:ext cx="3294753" cy="370840"/>
        </p:xfrm>
        <a:graphic>
          <a:graphicData uri="http://schemas.openxmlformats.org/drawingml/2006/table">
            <a:tbl>
              <a:tblPr firstRow="1" bandRow="1">
                <a:tableStyleId>{5C22544A-7EE6-4342-B048-85BDC9FD1C3A}</a:tableStyleId>
              </a:tblPr>
              <a:tblGrid>
                <a:gridCol w="470679">
                  <a:extLst>
                    <a:ext uri="{9D8B030D-6E8A-4147-A177-3AD203B41FA5}">
                      <a16:colId xmlns:a16="http://schemas.microsoft.com/office/drawing/2014/main" val="20000"/>
                    </a:ext>
                  </a:extLst>
                </a:gridCol>
                <a:gridCol w="470679">
                  <a:extLst>
                    <a:ext uri="{9D8B030D-6E8A-4147-A177-3AD203B41FA5}">
                      <a16:colId xmlns:a16="http://schemas.microsoft.com/office/drawing/2014/main" val="20001"/>
                    </a:ext>
                  </a:extLst>
                </a:gridCol>
                <a:gridCol w="470679">
                  <a:extLst>
                    <a:ext uri="{9D8B030D-6E8A-4147-A177-3AD203B41FA5}">
                      <a16:colId xmlns:a16="http://schemas.microsoft.com/office/drawing/2014/main" val="20002"/>
                    </a:ext>
                  </a:extLst>
                </a:gridCol>
                <a:gridCol w="470679">
                  <a:extLst>
                    <a:ext uri="{9D8B030D-6E8A-4147-A177-3AD203B41FA5}">
                      <a16:colId xmlns:a16="http://schemas.microsoft.com/office/drawing/2014/main" val="20003"/>
                    </a:ext>
                  </a:extLst>
                </a:gridCol>
                <a:gridCol w="470679">
                  <a:extLst>
                    <a:ext uri="{9D8B030D-6E8A-4147-A177-3AD203B41FA5}">
                      <a16:colId xmlns:a16="http://schemas.microsoft.com/office/drawing/2014/main" val="20004"/>
                    </a:ext>
                  </a:extLst>
                </a:gridCol>
                <a:gridCol w="470679">
                  <a:extLst>
                    <a:ext uri="{9D8B030D-6E8A-4147-A177-3AD203B41FA5}">
                      <a16:colId xmlns:a16="http://schemas.microsoft.com/office/drawing/2014/main" val="20005"/>
                    </a:ext>
                  </a:extLst>
                </a:gridCol>
                <a:gridCol w="470679">
                  <a:extLst>
                    <a:ext uri="{9D8B030D-6E8A-4147-A177-3AD203B41FA5}">
                      <a16:colId xmlns:a16="http://schemas.microsoft.com/office/drawing/2014/main" val="20006"/>
                    </a:ext>
                  </a:extLst>
                </a:gridCol>
              </a:tblGrid>
              <a:tr h="370840">
                <a:tc>
                  <a:txBody>
                    <a:bodyPr/>
                    <a:lstStyle/>
                    <a:p>
                      <a:endParaRPr lang="en-US" dirty="0"/>
                    </a:p>
                  </a:txBody>
                  <a:tcPr>
                    <a:solidFill>
                      <a:srgbClr val="3BF28D"/>
                    </a:solidFill>
                  </a:tcPr>
                </a:tc>
                <a:tc>
                  <a:txBody>
                    <a:bodyPr/>
                    <a:lstStyle/>
                    <a:p>
                      <a:endParaRPr lang="en-US" dirty="0"/>
                    </a:p>
                  </a:txBody>
                  <a:tcPr>
                    <a:solidFill>
                      <a:srgbClr val="3BF28D"/>
                    </a:solidFill>
                  </a:tcPr>
                </a:tc>
                <a:tc>
                  <a:txBody>
                    <a:bodyPr/>
                    <a:lstStyle/>
                    <a:p>
                      <a:endParaRPr lang="en-US" dirty="0"/>
                    </a:p>
                  </a:txBody>
                  <a:tcPr>
                    <a:solidFill>
                      <a:srgbClr val="3BF28D"/>
                    </a:solidFill>
                  </a:tcPr>
                </a:tc>
                <a:tc>
                  <a:txBody>
                    <a:bodyPr/>
                    <a:lstStyle/>
                    <a:p>
                      <a:endParaRPr lang="en-US" dirty="0"/>
                    </a:p>
                  </a:txBody>
                  <a:tcPr>
                    <a:solidFill>
                      <a:schemeClr val="bg1">
                        <a:lumMod val="85000"/>
                      </a:schemeClr>
                    </a:solidFill>
                  </a:tcPr>
                </a:tc>
                <a:tc>
                  <a:txBody>
                    <a:bodyPr/>
                    <a:lstStyle/>
                    <a:p>
                      <a:endParaRPr lang="en-US" dirty="0"/>
                    </a:p>
                  </a:txBody>
                  <a:tcPr>
                    <a:solidFill>
                      <a:schemeClr val="bg1">
                        <a:lumMod val="85000"/>
                      </a:schemeClr>
                    </a:solidFill>
                  </a:tcPr>
                </a:tc>
                <a:tc>
                  <a:txBody>
                    <a:bodyPr/>
                    <a:lstStyle/>
                    <a:p>
                      <a:endParaRPr lang="en-US" dirty="0"/>
                    </a:p>
                  </a:txBody>
                  <a:tcPr>
                    <a:solidFill>
                      <a:schemeClr val="bg1">
                        <a:lumMod val="85000"/>
                      </a:schemeClr>
                    </a:solidFill>
                  </a:tcPr>
                </a:tc>
                <a:tc>
                  <a:txBody>
                    <a:bodyPr/>
                    <a:lstStyle/>
                    <a:p>
                      <a:endParaRPr lang="en-US" dirty="0"/>
                    </a:p>
                  </a:txBody>
                  <a:tcPr>
                    <a:solidFill>
                      <a:schemeClr val="bg1">
                        <a:lumMod val="85000"/>
                      </a:schemeClr>
                    </a:solidFill>
                  </a:tcPr>
                </a:tc>
                <a:extLst>
                  <a:ext uri="{0D108BD9-81ED-4DB2-BD59-A6C34878D82A}">
                    <a16:rowId xmlns:a16="http://schemas.microsoft.com/office/drawing/2014/main" val="10000"/>
                  </a:ext>
                </a:extLst>
              </a:tr>
            </a:tbl>
          </a:graphicData>
        </a:graphic>
      </p:graphicFrame>
      <p:graphicFrame>
        <p:nvGraphicFramePr>
          <p:cNvPr id="39" name="Table 38"/>
          <p:cNvGraphicFramePr>
            <a:graphicFrameLocks noGrp="1"/>
          </p:cNvGraphicFramePr>
          <p:nvPr>
            <p:extLst>
              <p:ext uri="{D42A27DB-BD31-4B8C-83A1-F6EECF244321}">
                <p14:modId xmlns:p14="http://schemas.microsoft.com/office/powerpoint/2010/main" val="2251059017"/>
              </p:ext>
            </p:extLst>
          </p:nvPr>
        </p:nvGraphicFramePr>
        <p:xfrm>
          <a:off x="2268858" y="5334909"/>
          <a:ext cx="3294753" cy="370840"/>
        </p:xfrm>
        <a:graphic>
          <a:graphicData uri="http://schemas.openxmlformats.org/drawingml/2006/table">
            <a:tbl>
              <a:tblPr firstRow="1" bandRow="1">
                <a:tableStyleId>{5C22544A-7EE6-4342-B048-85BDC9FD1C3A}</a:tableStyleId>
              </a:tblPr>
              <a:tblGrid>
                <a:gridCol w="470679">
                  <a:extLst>
                    <a:ext uri="{9D8B030D-6E8A-4147-A177-3AD203B41FA5}">
                      <a16:colId xmlns:a16="http://schemas.microsoft.com/office/drawing/2014/main" val="20000"/>
                    </a:ext>
                  </a:extLst>
                </a:gridCol>
                <a:gridCol w="470679">
                  <a:extLst>
                    <a:ext uri="{9D8B030D-6E8A-4147-A177-3AD203B41FA5}">
                      <a16:colId xmlns:a16="http://schemas.microsoft.com/office/drawing/2014/main" val="20001"/>
                    </a:ext>
                  </a:extLst>
                </a:gridCol>
                <a:gridCol w="470679">
                  <a:extLst>
                    <a:ext uri="{9D8B030D-6E8A-4147-A177-3AD203B41FA5}">
                      <a16:colId xmlns:a16="http://schemas.microsoft.com/office/drawing/2014/main" val="20002"/>
                    </a:ext>
                  </a:extLst>
                </a:gridCol>
                <a:gridCol w="470679">
                  <a:extLst>
                    <a:ext uri="{9D8B030D-6E8A-4147-A177-3AD203B41FA5}">
                      <a16:colId xmlns:a16="http://schemas.microsoft.com/office/drawing/2014/main" val="20003"/>
                    </a:ext>
                  </a:extLst>
                </a:gridCol>
                <a:gridCol w="470679">
                  <a:extLst>
                    <a:ext uri="{9D8B030D-6E8A-4147-A177-3AD203B41FA5}">
                      <a16:colId xmlns:a16="http://schemas.microsoft.com/office/drawing/2014/main" val="20004"/>
                    </a:ext>
                  </a:extLst>
                </a:gridCol>
                <a:gridCol w="470679">
                  <a:extLst>
                    <a:ext uri="{9D8B030D-6E8A-4147-A177-3AD203B41FA5}">
                      <a16:colId xmlns:a16="http://schemas.microsoft.com/office/drawing/2014/main" val="20005"/>
                    </a:ext>
                  </a:extLst>
                </a:gridCol>
                <a:gridCol w="470679">
                  <a:extLst>
                    <a:ext uri="{9D8B030D-6E8A-4147-A177-3AD203B41FA5}">
                      <a16:colId xmlns:a16="http://schemas.microsoft.com/office/drawing/2014/main" val="20006"/>
                    </a:ext>
                  </a:extLst>
                </a:gridCol>
              </a:tblGrid>
              <a:tr h="370840">
                <a:tc>
                  <a:txBody>
                    <a:bodyPr/>
                    <a:lstStyle/>
                    <a:p>
                      <a:endParaRPr lang="en-US" dirty="0"/>
                    </a:p>
                  </a:txBody>
                  <a:tcPr>
                    <a:solidFill>
                      <a:srgbClr val="3BF28D"/>
                    </a:solidFill>
                  </a:tcPr>
                </a:tc>
                <a:tc>
                  <a:txBody>
                    <a:bodyPr/>
                    <a:lstStyle/>
                    <a:p>
                      <a:endParaRPr lang="en-US" dirty="0"/>
                    </a:p>
                  </a:txBody>
                  <a:tcPr>
                    <a:solidFill>
                      <a:srgbClr val="3BF28D"/>
                    </a:solidFill>
                  </a:tcPr>
                </a:tc>
                <a:tc>
                  <a:txBody>
                    <a:bodyPr/>
                    <a:lstStyle/>
                    <a:p>
                      <a:endParaRPr lang="en-US" dirty="0"/>
                    </a:p>
                  </a:txBody>
                  <a:tcPr>
                    <a:solidFill>
                      <a:schemeClr val="bg1">
                        <a:lumMod val="85000"/>
                      </a:schemeClr>
                    </a:solidFill>
                  </a:tcPr>
                </a:tc>
                <a:tc>
                  <a:txBody>
                    <a:bodyPr/>
                    <a:lstStyle/>
                    <a:p>
                      <a:endParaRPr lang="en-US" dirty="0"/>
                    </a:p>
                  </a:txBody>
                  <a:tcPr>
                    <a:solidFill>
                      <a:schemeClr val="bg1">
                        <a:lumMod val="85000"/>
                      </a:schemeClr>
                    </a:solidFill>
                  </a:tcPr>
                </a:tc>
                <a:tc>
                  <a:txBody>
                    <a:bodyPr/>
                    <a:lstStyle/>
                    <a:p>
                      <a:endParaRPr lang="en-US" dirty="0"/>
                    </a:p>
                  </a:txBody>
                  <a:tcPr>
                    <a:solidFill>
                      <a:schemeClr val="bg1">
                        <a:lumMod val="85000"/>
                      </a:schemeClr>
                    </a:solidFill>
                  </a:tcPr>
                </a:tc>
                <a:tc>
                  <a:txBody>
                    <a:bodyPr/>
                    <a:lstStyle/>
                    <a:p>
                      <a:endParaRPr lang="en-US" dirty="0"/>
                    </a:p>
                  </a:txBody>
                  <a:tcPr>
                    <a:solidFill>
                      <a:schemeClr val="bg1">
                        <a:lumMod val="85000"/>
                      </a:schemeClr>
                    </a:solidFill>
                  </a:tcPr>
                </a:tc>
                <a:tc>
                  <a:txBody>
                    <a:bodyPr/>
                    <a:lstStyle/>
                    <a:p>
                      <a:endParaRPr lang="en-US" dirty="0"/>
                    </a:p>
                  </a:txBody>
                  <a:tcPr>
                    <a:solidFill>
                      <a:schemeClr val="bg1">
                        <a:lumMod val="85000"/>
                      </a:schemeClr>
                    </a:solidFill>
                  </a:tcPr>
                </a:tc>
                <a:extLst>
                  <a:ext uri="{0D108BD9-81ED-4DB2-BD59-A6C34878D82A}">
                    <a16:rowId xmlns:a16="http://schemas.microsoft.com/office/drawing/2014/main" val="10000"/>
                  </a:ext>
                </a:extLst>
              </a:tr>
            </a:tbl>
          </a:graphicData>
        </a:graphic>
      </p:graphicFrame>
      <p:graphicFrame>
        <p:nvGraphicFramePr>
          <p:cNvPr id="40" name="Table 39"/>
          <p:cNvGraphicFramePr>
            <a:graphicFrameLocks noGrp="1"/>
          </p:cNvGraphicFramePr>
          <p:nvPr>
            <p:extLst>
              <p:ext uri="{D42A27DB-BD31-4B8C-83A1-F6EECF244321}">
                <p14:modId xmlns:p14="http://schemas.microsoft.com/office/powerpoint/2010/main" val="4156473524"/>
              </p:ext>
            </p:extLst>
          </p:nvPr>
        </p:nvGraphicFramePr>
        <p:xfrm>
          <a:off x="2268858" y="5786083"/>
          <a:ext cx="3294753" cy="370840"/>
        </p:xfrm>
        <a:graphic>
          <a:graphicData uri="http://schemas.openxmlformats.org/drawingml/2006/table">
            <a:tbl>
              <a:tblPr firstRow="1" bandRow="1">
                <a:tableStyleId>{5C22544A-7EE6-4342-B048-85BDC9FD1C3A}</a:tableStyleId>
              </a:tblPr>
              <a:tblGrid>
                <a:gridCol w="470679">
                  <a:extLst>
                    <a:ext uri="{9D8B030D-6E8A-4147-A177-3AD203B41FA5}">
                      <a16:colId xmlns:a16="http://schemas.microsoft.com/office/drawing/2014/main" val="20000"/>
                    </a:ext>
                  </a:extLst>
                </a:gridCol>
                <a:gridCol w="470679">
                  <a:extLst>
                    <a:ext uri="{9D8B030D-6E8A-4147-A177-3AD203B41FA5}">
                      <a16:colId xmlns:a16="http://schemas.microsoft.com/office/drawing/2014/main" val="20001"/>
                    </a:ext>
                  </a:extLst>
                </a:gridCol>
                <a:gridCol w="470679">
                  <a:extLst>
                    <a:ext uri="{9D8B030D-6E8A-4147-A177-3AD203B41FA5}">
                      <a16:colId xmlns:a16="http://schemas.microsoft.com/office/drawing/2014/main" val="20002"/>
                    </a:ext>
                  </a:extLst>
                </a:gridCol>
                <a:gridCol w="470679">
                  <a:extLst>
                    <a:ext uri="{9D8B030D-6E8A-4147-A177-3AD203B41FA5}">
                      <a16:colId xmlns:a16="http://schemas.microsoft.com/office/drawing/2014/main" val="20003"/>
                    </a:ext>
                  </a:extLst>
                </a:gridCol>
                <a:gridCol w="470679">
                  <a:extLst>
                    <a:ext uri="{9D8B030D-6E8A-4147-A177-3AD203B41FA5}">
                      <a16:colId xmlns:a16="http://schemas.microsoft.com/office/drawing/2014/main" val="20004"/>
                    </a:ext>
                  </a:extLst>
                </a:gridCol>
                <a:gridCol w="470679">
                  <a:extLst>
                    <a:ext uri="{9D8B030D-6E8A-4147-A177-3AD203B41FA5}">
                      <a16:colId xmlns:a16="http://schemas.microsoft.com/office/drawing/2014/main" val="20005"/>
                    </a:ext>
                  </a:extLst>
                </a:gridCol>
                <a:gridCol w="470679">
                  <a:extLst>
                    <a:ext uri="{9D8B030D-6E8A-4147-A177-3AD203B41FA5}">
                      <a16:colId xmlns:a16="http://schemas.microsoft.com/office/drawing/2014/main" val="20006"/>
                    </a:ext>
                  </a:extLst>
                </a:gridCol>
              </a:tblGrid>
              <a:tr h="370840">
                <a:tc>
                  <a:txBody>
                    <a:bodyPr/>
                    <a:lstStyle/>
                    <a:p>
                      <a:endParaRPr lang="en-US" dirty="0"/>
                    </a:p>
                  </a:txBody>
                  <a:tcPr>
                    <a:solidFill>
                      <a:srgbClr val="3BF28D"/>
                    </a:solidFill>
                  </a:tcPr>
                </a:tc>
                <a:tc>
                  <a:txBody>
                    <a:bodyPr/>
                    <a:lstStyle/>
                    <a:p>
                      <a:endParaRPr lang="en-US" dirty="0"/>
                    </a:p>
                  </a:txBody>
                  <a:tcPr>
                    <a:solidFill>
                      <a:schemeClr val="bg1">
                        <a:lumMod val="85000"/>
                      </a:schemeClr>
                    </a:solidFill>
                  </a:tcPr>
                </a:tc>
                <a:tc>
                  <a:txBody>
                    <a:bodyPr/>
                    <a:lstStyle/>
                    <a:p>
                      <a:endParaRPr lang="en-US" dirty="0"/>
                    </a:p>
                  </a:txBody>
                  <a:tcPr>
                    <a:solidFill>
                      <a:schemeClr val="bg1">
                        <a:lumMod val="85000"/>
                      </a:schemeClr>
                    </a:solidFill>
                  </a:tcPr>
                </a:tc>
                <a:tc>
                  <a:txBody>
                    <a:bodyPr/>
                    <a:lstStyle/>
                    <a:p>
                      <a:endParaRPr lang="en-US" dirty="0"/>
                    </a:p>
                  </a:txBody>
                  <a:tcPr>
                    <a:solidFill>
                      <a:schemeClr val="bg1">
                        <a:lumMod val="85000"/>
                      </a:schemeClr>
                    </a:solidFill>
                  </a:tcPr>
                </a:tc>
                <a:tc>
                  <a:txBody>
                    <a:bodyPr/>
                    <a:lstStyle/>
                    <a:p>
                      <a:endParaRPr lang="en-US" dirty="0"/>
                    </a:p>
                  </a:txBody>
                  <a:tcPr>
                    <a:solidFill>
                      <a:schemeClr val="bg1">
                        <a:lumMod val="85000"/>
                      </a:schemeClr>
                    </a:solidFill>
                  </a:tcPr>
                </a:tc>
                <a:tc>
                  <a:txBody>
                    <a:bodyPr/>
                    <a:lstStyle/>
                    <a:p>
                      <a:endParaRPr lang="en-US" dirty="0"/>
                    </a:p>
                  </a:txBody>
                  <a:tcPr>
                    <a:solidFill>
                      <a:schemeClr val="bg1">
                        <a:lumMod val="85000"/>
                      </a:schemeClr>
                    </a:solidFill>
                  </a:tcPr>
                </a:tc>
                <a:tc>
                  <a:txBody>
                    <a:bodyPr/>
                    <a:lstStyle/>
                    <a:p>
                      <a:endParaRPr lang="en-US" dirty="0"/>
                    </a:p>
                  </a:txBody>
                  <a:tcPr>
                    <a:solidFill>
                      <a:schemeClr val="bg1">
                        <a:lumMod val="85000"/>
                      </a:schemeClr>
                    </a:solidFill>
                  </a:tcPr>
                </a:tc>
                <a:extLst>
                  <a:ext uri="{0D108BD9-81ED-4DB2-BD59-A6C34878D82A}">
                    <a16:rowId xmlns:a16="http://schemas.microsoft.com/office/drawing/2014/main" val="10000"/>
                  </a:ext>
                </a:extLst>
              </a:tr>
            </a:tbl>
          </a:graphicData>
        </a:graphic>
      </p:graphicFrame>
      <p:grpSp>
        <p:nvGrpSpPr>
          <p:cNvPr id="41" name="Group 40"/>
          <p:cNvGrpSpPr>
            <a:grpSpLocks noChangeAspect="1"/>
          </p:cNvGrpSpPr>
          <p:nvPr/>
        </p:nvGrpSpPr>
        <p:grpSpPr>
          <a:xfrm flipH="1">
            <a:off x="6975129" y="1702804"/>
            <a:ext cx="598736" cy="1920240"/>
            <a:chOff x="2843212" y="2258733"/>
            <a:chExt cx="395288" cy="2092100"/>
          </a:xfrm>
        </p:grpSpPr>
        <p:sp>
          <p:nvSpPr>
            <p:cNvPr id="42" name="Rectangle 41"/>
            <p:cNvSpPr/>
            <p:nvPr/>
          </p:nvSpPr>
          <p:spPr>
            <a:xfrm>
              <a:off x="2843212" y="2325408"/>
              <a:ext cx="395288" cy="238829"/>
            </a:xfrm>
            <a:prstGeom prst="rect">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p:cNvSpPr/>
            <p:nvPr/>
          </p:nvSpPr>
          <p:spPr>
            <a:xfrm>
              <a:off x="2843212" y="2507438"/>
              <a:ext cx="395288" cy="133350"/>
            </a:xfrm>
            <a:prstGeom prst="ellipse">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Oval 43"/>
            <p:cNvSpPr/>
            <p:nvPr/>
          </p:nvSpPr>
          <p:spPr>
            <a:xfrm>
              <a:off x="2843212" y="2258733"/>
              <a:ext cx="395288" cy="133350"/>
            </a:xfrm>
            <a:prstGeom prst="ellipse">
              <a:avLst/>
            </a:prstGeom>
            <a:gradFill>
              <a:gsLst>
                <a:gs pos="0">
                  <a:srgbClr val="A09F9D"/>
                </a:gs>
                <a:gs pos="17000">
                  <a:srgbClr val="D2C9C4"/>
                </a:gs>
                <a:gs pos="70000">
                  <a:srgbClr val="E4E1DC"/>
                </a:gs>
                <a:gs pos="42000">
                  <a:schemeClr val="bg1"/>
                </a:gs>
                <a:gs pos="100000">
                  <a:srgbClr val="F8F8F8"/>
                </a:gs>
              </a:gsLst>
              <a:lin ang="13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ectangle 44"/>
            <p:cNvSpPr/>
            <p:nvPr/>
          </p:nvSpPr>
          <p:spPr>
            <a:xfrm>
              <a:off x="2843212" y="3810001"/>
              <a:ext cx="395288" cy="464282"/>
            </a:xfrm>
            <a:prstGeom prst="rect">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p:cNvSpPr/>
            <p:nvPr/>
          </p:nvSpPr>
          <p:spPr>
            <a:xfrm>
              <a:off x="2843212" y="4217483"/>
              <a:ext cx="395288" cy="133350"/>
            </a:xfrm>
            <a:prstGeom prst="ellipse">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Rectangle 46"/>
            <p:cNvSpPr/>
            <p:nvPr/>
          </p:nvSpPr>
          <p:spPr>
            <a:xfrm>
              <a:off x="2843212" y="2392083"/>
              <a:ext cx="395288" cy="1898928"/>
            </a:xfrm>
            <a:prstGeom prst="rect">
              <a:avLst/>
            </a:prstGeom>
            <a:gradFill>
              <a:gsLst>
                <a:gs pos="0">
                  <a:srgbClr val="A09F9D">
                    <a:alpha val="50000"/>
                  </a:srgbClr>
                </a:gs>
                <a:gs pos="17000">
                  <a:srgbClr val="D2C9C4">
                    <a:alpha val="50000"/>
                  </a:srgbClr>
                </a:gs>
                <a:gs pos="70000">
                  <a:srgbClr val="E4E1DC">
                    <a:alpha val="50000"/>
                  </a:srgbClr>
                </a:gs>
                <a:gs pos="42000">
                  <a:schemeClr val="bg1">
                    <a:alpha val="50000"/>
                  </a:schemeClr>
                </a:gs>
                <a:gs pos="100000">
                  <a:srgbClr val="F8F8F8">
                    <a:alpha val="5000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ectangle 47"/>
            <p:cNvSpPr/>
            <p:nvPr/>
          </p:nvSpPr>
          <p:spPr>
            <a:xfrm>
              <a:off x="2843212" y="4052182"/>
              <a:ext cx="395288" cy="165302"/>
            </a:xfrm>
            <a:prstGeom prst="rect">
              <a:avLst/>
            </a:prstGeom>
            <a:gradFill>
              <a:gsLst>
                <a:gs pos="0">
                  <a:srgbClr val="A09F9D">
                    <a:lumMod val="80000"/>
                  </a:srgbClr>
                </a:gs>
                <a:gs pos="17000">
                  <a:srgbClr val="D2C9C4">
                    <a:lumMod val="80000"/>
                  </a:srgbClr>
                </a:gs>
                <a:gs pos="70000">
                  <a:srgbClr val="E4E1DC">
                    <a:lumMod val="80000"/>
                  </a:srgbClr>
                </a:gs>
                <a:gs pos="42000">
                  <a:schemeClr val="bg1"/>
                </a:gs>
                <a:gs pos="100000">
                  <a:srgbClr val="F8F8F8">
                    <a:lumMod val="8000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p:cNvSpPr/>
            <p:nvPr/>
          </p:nvSpPr>
          <p:spPr>
            <a:xfrm>
              <a:off x="2843212" y="4156068"/>
              <a:ext cx="395288" cy="133350"/>
            </a:xfrm>
            <a:prstGeom prst="ellipse">
              <a:avLst/>
            </a:prstGeom>
            <a:gradFill>
              <a:gsLst>
                <a:gs pos="0">
                  <a:srgbClr val="A09F9D">
                    <a:lumMod val="80000"/>
                  </a:srgbClr>
                </a:gs>
                <a:gs pos="17000">
                  <a:srgbClr val="D2C9C4">
                    <a:lumMod val="80000"/>
                  </a:srgbClr>
                </a:gs>
                <a:gs pos="70000">
                  <a:srgbClr val="E4E1DC">
                    <a:lumMod val="80000"/>
                  </a:srgbClr>
                </a:gs>
                <a:gs pos="42000">
                  <a:schemeClr val="bg1"/>
                </a:gs>
                <a:gs pos="100000">
                  <a:srgbClr val="F8F8F8">
                    <a:lumMod val="8000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Oval 49"/>
            <p:cNvSpPr/>
            <p:nvPr/>
          </p:nvSpPr>
          <p:spPr>
            <a:xfrm>
              <a:off x="2843212" y="3992360"/>
              <a:ext cx="395288" cy="133350"/>
            </a:xfrm>
            <a:prstGeom prst="ellipse">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Rectangle 50"/>
            <p:cNvSpPr/>
            <p:nvPr/>
          </p:nvSpPr>
          <p:spPr>
            <a:xfrm>
              <a:off x="2843212" y="3507849"/>
              <a:ext cx="395288" cy="302152"/>
            </a:xfrm>
            <a:prstGeom prst="rect">
              <a:avLst/>
            </a:prstGeom>
            <a:gradFill>
              <a:gsLst>
                <a:gs pos="0">
                  <a:schemeClr val="accent1">
                    <a:lumMod val="75000"/>
                  </a:schemeClr>
                </a:gs>
                <a:gs pos="17000">
                  <a:schemeClr val="accent1">
                    <a:lumMod val="60000"/>
                    <a:lumOff val="40000"/>
                  </a:schemeClr>
                </a:gs>
                <a:gs pos="70000">
                  <a:schemeClr val="accent1">
                    <a:lumMod val="60000"/>
                    <a:lumOff val="40000"/>
                  </a:schemeClr>
                </a:gs>
                <a:gs pos="42000">
                  <a:schemeClr val="bg1"/>
                </a:gs>
                <a:gs pos="100000">
                  <a:schemeClr val="accent1"/>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p:cNvSpPr/>
            <p:nvPr/>
          </p:nvSpPr>
          <p:spPr>
            <a:xfrm>
              <a:off x="2843212" y="3746678"/>
              <a:ext cx="395288" cy="133350"/>
            </a:xfrm>
            <a:prstGeom prst="ellipse">
              <a:avLst/>
            </a:prstGeom>
            <a:gradFill>
              <a:gsLst>
                <a:gs pos="0">
                  <a:schemeClr val="accent1">
                    <a:lumMod val="50000"/>
                  </a:schemeClr>
                </a:gs>
                <a:gs pos="17000">
                  <a:schemeClr val="accent1"/>
                </a:gs>
                <a:gs pos="70000">
                  <a:schemeClr val="accent1"/>
                </a:gs>
                <a:gs pos="42000">
                  <a:schemeClr val="bg1"/>
                </a:gs>
                <a:gs pos="100000">
                  <a:schemeClr val="accent1">
                    <a:lumMod val="5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Oval 52"/>
            <p:cNvSpPr/>
            <p:nvPr/>
          </p:nvSpPr>
          <p:spPr>
            <a:xfrm>
              <a:off x="2843212" y="3441174"/>
              <a:ext cx="395288" cy="133350"/>
            </a:xfrm>
            <a:prstGeom prst="ellipse">
              <a:avLst/>
            </a:prstGeom>
            <a:gradFill>
              <a:gsLst>
                <a:gs pos="0">
                  <a:schemeClr val="accent1">
                    <a:lumMod val="50000"/>
                  </a:schemeClr>
                </a:gs>
                <a:gs pos="17000">
                  <a:schemeClr val="accent1"/>
                </a:gs>
                <a:gs pos="70000">
                  <a:schemeClr val="accent1"/>
                </a:gs>
                <a:gs pos="42000">
                  <a:schemeClr val="bg1"/>
                </a:gs>
                <a:gs pos="100000">
                  <a:schemeClr val="accent1">
                    <a:lumMod val="5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4" name="Group 53"/>
          <p:cNvGrpSpPr>
            <a:grpSpLocks noChangeAspect="1"/>
          </p:cNvGrpSpPr>
          <p:nvPr/>
        </p:nvGrpSpPr>
        <p:grpSpPr>
          <a:xfrm flipH="1">
            <a:off x="7913342" y="1702804"/>
            <a:ext cx="634705" cy="1920240"/>
            <a:chOff x="2843212" y="2258733"/>
            <a:chExt cx="395288" cy="2092100"/>
          </a:xfrm>
        </p:grpSpPr>
        <p:sp>
          <p:nvSpPr>
            <p:cNvPr id="55" name="Rectangle 54"/>
            <p:cNvSpPr/>
            <p:nvPr/>
          </p:nvSpPr>
          <p:spPr>
            <a:xfrm>
              <a:off x="2843212" y="2325408"/>
              <a:ext cx="395288" cy="238829"/>
            </a:xfrm>
            <a:prstGeom prst="rect">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Oval 55"/>
            <p:cNvSpPr/>
            <p:nvPr/>
          </p:nvSpPr>
          <p:spPr>
            <a:xfrm>
              <a:off x="2843212" y="2507438"/>
              <a:ext cx="395288" cy="133350"/>
            </a:xfrm>
            <a:prstGeom prst="ellipse">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Oval 56"/>
            <p:cNvSpPr/>
            <p:nvPr/>
          </p:nvSpPr>
          <p:spPr>
            <a:xfrm>
              <a:off x="2843212" y="2258733"/>
              <a:ext cx="395288" cy="133350"/>
            </a:xfrm>
            <a:prstGeom prst="ellipse">
              <a:avLst/>
            </a:prstGeom>
            <a:gradFill>
              <a:gsLst>
                <a:gs pos="0">
                  <a:srgbClr val="A09F9D"/>
                </a:gs>
                <a:gs pos="17000">
                  <a:srgbClr val="D2C9C4"/>
                </a:gs>
                <a:gs pos="70000">
                  <a:srgbClr val="E4E1DC"/>
                </a:gs>
                <a:gs pos="42000">
                  <a:schemeClr val="bg1"/>
                </a:gs>
                <a:gs pos="100000">
                  <a:srgbClr val="F8F8F8"/>
                </a:gs>
              </a:gsLst>
              <a:lin ang="13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Rectangle 57"/>
            <p:cNvSpPr/>
            <p:nvPr/>
          </p:nvSpPr>
          <p:spPr>
            <a:xfrm>
              <a:off x="2843212" y="3810001"/>
              <a:ext cx="395288" cy="464282"/>
            </a:xfrm>
            <a:prstGeom prst="rect">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Oval 58"/>
            <p:cNvSpPr/>
            <p:nvPr/>
          </p:nvSpPr>
          <p:spPr>
            <a:xfrm>
              <a:off x="2843212" y="4217483"/>
              <a:ext cx="395288" cy="133350"/>
            </a:xfrm>
            <a:prstGeom prst="ellipse">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Rectangle 59"/>
            <p:cNvSpPr/>
            <p:nvPr/>
          </p:nvSpPr>
          <p:spPr>
            <a:xfrm>
              <a:off x="2843212" y="2392083"/>
              <a:ext cx="395288" cy="1898928"/>
            </a:xfrm>
            <a:prstGeom prst="rect">
              <a:avLst/>
            </a:prstGeom>
            <a:gradFill>
              <a:gsLst>
                <a:gs pos="0">
                  <a:srgbClr val="A09F9D">
                    <a:alpha val="50000"/>
                  </a:srgbClr>
                </a:gs>
                <a:gs pos="17000">
                  <a:srgbClr val="D2C9C4">
                    <a:alpha val="50000"/>
                  </a:srgbClr>
                </a:gs>
                <a:gs pos="70000">
                  <a:srgbClr val="E4E1DC">
                    <a:alpha val="50000"/>
                  </a:srgbClr>
                </a:gs>
                <a:gs pos="42000">
                  <a:schemeClr val="bg1">
                    <a:alpha val="50000"/>
                  </a:schemeClr>
                </a:gs>
                <a:gs pos="100000">
                  <a:srgbClr val="F8F8F8">
                    <a:alpha val="5000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Rectangle 60"/>
            <p:cNvSpPr/>
            <p:nvPr/>
          </p:nvSpPr>
          <p:spPr>
            <a:xfrm>
              <a:off x="2843212" y="4052182"/>
              <a:ext cx="395288" cy="165302"/>
            </a:xfrm>
            <a:prstGeom prst="rect">
              <a:avLst/>
            </a:prstGeom>
            <a:gradFill>
              <a:gsLst>
                <a:gs pos="0">
                  <a:srgbClr val="A09F9D">
                    <a:lumMod val="80000"/>
                  </a:srgbClr>
                </a:gs>
                <a:gs pos="17000">
                  <a:srgbClr val="D2C9C4">
                    <a:lumMod val="80000"/>
                  </a:srgbClr>
                </a:gs>
                <a:gs pos="70000">
                  <a:srgbClr val="E4E1DC">
                    <a:lumMod val="80000"/>
                  </a:srgbClr>
                </a:gs>
                <a:gs pos="42000">
                  <a:schemeClr val="bg1"/>
                </a:gs>
                <a:gs pos="100000">
                  <a:srgbClr val="F8F8F8">
                    <a:lumMod val="8000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Oval 61"/>
            <p:cNvSpPr/>
            <p:nvPr/>
          </p:nvSpPr>
          <p:spPr>
            <a:xfrm>
              <a:off x="2843212" y="4156068"/>
              <a:ext cx="395288" cy="133350"/>
            </a:xfrm>
            <a:prstGeom prst="ellipse">
              <a:avLst/>
            </a:prstGeom>
            <a:gradFill>
              <a:gsLst>
                <a:gs pos="0">
                  <a:srgbClr val="A09F9D">
                    <a:lumMod val="80000"/>
                  </a:srgbClr>
                </a:gs>
                <a:gs pos="17000">
                  <a:srgbClr val="D2C9C4">
                    <a:lumMod val="80000"/>
                  </a:srgbClr>
                </a:gs>
                <a:gs pos="70000">
                  <a:srgbClr val="E4E1DC">
                    <a:lumMod val="80000"/>
                  </a:srgbClr>
                </a:gs>
                <a:gs pos="42000">
                  <a:schemeClr val="bg1"/>
                </a:gs>
                <a:gs pos="100000">
                  <a:srgbClr val="F8F8F8">
                    <a:lumMod val="8000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Oval 62"/>
            <p:cNvSpPr/>
            <p:nvPr/>
          </p:nvSpPr>
          <p:spPr>
            <a:xfrm>
              <a:off x="2843212" y="3992360"/>
              <a:ext cx="395288" cy="133350"/>
            </a:xfrm>
            <a:prstGeom prst="ellipse">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Rectangle 63"/>
            <p:cNvSpPr/>
            <p:nvPr/>
          </p:nvSpPr>
          <p:spPr>
            <a:xfrm>
              <a:off x="2843212" y="3270646"/>
              <a:ext cx="395288" cy="539355"/>
            </a:xfrm>
            <a:prstGeom prst="rect">
              <a:avLst/>
            </a:prstGeom>
            <a:gradFill>
              <a:gsLst>
                <a:gs pos="0">
                  <a:schemeClr val="accent2">
                    <a:lumMod val="75000"/>
                  </a:schemeClr>
                </a:gs>
                <a:gs pos="17000">
                  <a:schemeClr val="accent2"/>
                </a:gs>
                <a:gs pos="70000">
                  <a:schemeClr val="accent2">
                    <a:lumMod val="60000"/>
                    <a:lumOff val="40000"/>
                  </a:schemeClr>
                </a:gs>
                <a:gs pos="42000">
                  <a:schemeClr val="bg1"/>
                </a:gs>
                <a:gs pos="100000">
                  <a:schemeClr val="accent2">
                    <a:lumMod val="40000"/>
                    <a:lumOff val="6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Oval 64"/>
            <p:cNvSpPr/>
            <p:nvPr/>
          </p:nvSpPr>
          <p:spPr>
            <a:xfrm>
              <a:off x="2843212" y="3746678"/>
              <a:ext cx="395288" cy="133350"/>
            </a:xfrm>
            <a:prstGeom prst="ellipse">
              <a:avLst/>
            </a:prstGeom>
            <a:gradFill>
              <a:gsLst>
                <a:gs pos="0">
                  <a:schemeClr val="accent2">
                    <a:lumMod val="75000"/>
                  </a:schemeClr>
                </a:gs>
                <a:gs pos="17000">
                  <a:schemeClr val="accent2">
                    <a:lumMod val="80000"/>
                  </a:schemeClr>
                </a:gs>
                <a:gs pos="70000">
                  <a:schemeClr val="accent2">
                    <a:lumMod val="80000"/>
                  </a:schemeClr>
                </a:gs>
                <a:gs pos="42000">
                  <a:schemeClr val="bg1"/>
                </a:gs>
                <a:gs pos="100000">
                  <a:schemeClr val="accent2">
                    <a:lumMod val="8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Oval 65"/>
            <p:cNvSpPr/>
            <p:nvPr/>
          </p:nvSpPr>
          <p:spPr>
            <a:xfrm>
              <a:off x="2843212" y="3208820"/>
              <a:ext cx="395288" cy="133350"/>
            </a:xfrm>
            <a:prstGeom prst="ellipse">
              <a:avLst/>
            </a:prstGeom>
            <a:gradFill>
              <a:gsLst>
                <a:gs pos="0">
                  <a:schemeClr val="accent2">
                    <a:lumMod val="75000"/>
                  </a:schemeClr>
                </a:gs>
                <a:gs pos="17000">
                  <a:schemeClr val="accent2">
                    <a:lumMod val="80000"/>
                  </a:schemeClr>
                </a:gs>
                <a:gs pos="70000">
                  <a:schemeClr val="accent2">
                    <a:lumMod val="80000"/>
                  </a:schemeClr>
                </a:gs>
                <a:gs pos="42000">
                  <a:schemeClr val="bg1"/>
                </a:gs>
                <a:gs pos="100000">
                  <a:schemeClr val="accent2">
                    <a:lumMod val="8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7" name="Group 66"/>
          <p:cNvGrpSpPr>
            <a:grpSpLocks noChangeAspect="1"/>
          </p:cNvGrpSpPr>
          <p:nvPr/>
        </p:nvGrpSpPr>
        <p:grpSpPr>
          <a:xfrm flipH="1">
            <a:off x="8887523" y="1702804"/>
            <a:ext cx="604477" cy="1920240"/>
            <a:chOff x="2843212" y="2258733"/>
            <a:chExt cx="395288" cy="2092100"/>
          </a:xfrm>
        </p:grpSpPr>
        <p:sp>
          <p:nvSpPr>
            <p:cNvPr id="68" name="Rectangle 67"/>
            <p:cNvSpPr/>
            <p:nvPr/>
          </p:nvSpPr>
          <p:spPr>
            <a:xfrm>
              <a:off x="2843212" y="2325408"/>
              <a:ext cx="395288" cy="238829"/>
            </a:xfrm>
            <a:prstGeom prst="rect">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 name="Oval 68"/>
            <p:cNvSpPr/>
            <p:nvPr/>
          </p:nvSpPr>
          <p:spPr>
            <a:xfrm>
              <a:off x="2843212" y="2507438"/>
              <a:ext cx="395288" cy="133350"/>
            </a:xfrm>
            <a:prstGeom prst="ellipse">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 name="Oval 69"/>
            <p:cNvSpPr/>
            <p:nvPr/>
          </p:nvSpPr>
          <p:spPr>
            <a:xfrm>
              <a:off x="2843212" y="2258733"/>
              <a:ext cx="395288" cy="133350"/>
            </a:xfrm>
            <a:prstGeom prst="ellipse">
              <a:avLst/>
            </a:prstGeom>
            <a:gradFill>
              <a:gsLst>
                <a:gs pos="0">
                  <a:srgbClr val="A09F9D"/>
                </a:gs>
                <a:gs pos="17000">
                  <a:srgbClr val="D2C9C4"/>
                </a:gs>
                <a:gs pos="70000">
                  <a:srgbClr val="E4E1DC"/>
                </a:gs>
                <a:gs pos="42000">
                  <a:schemeClr val="bg1"/>
                </a:gs>
                <a:gs pos="100000">
                  <a:srgbClr val="F8F8F8"/>
                </a:gs>
              </a:gsLst>
              <a:lin ang="13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Rectangle 70"/>
            <p:cNvSpPr/>
            <p:nvPr/>
          </p:nvSpPr>
          <p:spPr>
            <a:xfrm>
              <a:off x="2843212" y="3810001"/>
              <a:ext cx="395288" cy="464282"/>
            </a:xfrm>
            <a:prstGeom prst="rect">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Oval 71"/>
            <p:cNvSpPr/>
            <p:nvPr/>
          </p:nvSpPr>
          <p:spPr>
            <a:xfrm>
              <a:off x="2843212" y="4217483"/>
              <a:ext cx="395288" cy="133350"/>
            </a:xfrm>
            <a:prstGeom prst="ellipse">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Rectangle 72"/>
            <p:cNvSpPr/>
            <p:nvPr/>
          </p:nvSpPr>
          <p:spPr>
            <a:xfrm>
              <a:off x="2843212" y="2392083"/>
              <a:ext cx="395288" cy="1898928"/>
            </a:xfrm>
            <a:prstGeom prst="rect">
              <a:avLst/>
            </a:prstGeom>
            <a:gradFill>
              <a:gsLst>
                <a:gs pos="0">
                  <a:srgbClr val="A09F9D">
                    <a:alpha val="50000"/>
                  </a:srgbClr>
                </a:gs>
                <a:gs pos="17000">
                  <a:srgbClr val="D2C9C4">
                    <a:alpha val="50000"/>
                  </a:srgbClr>
                </a:gs>
                <a:gs pos="70000">
                  <a:srgbClr val="E4E1DC">
                    <a:alpha val="50000"/>
                  </a:srgbClr>
                </a:gs>
                <a:gs pos="42000">
                  <a:schemeClr val="bg1">
                    <a:alpha val="50000"/>
                  </a:schemeClr>
                </a:gs>
                <a:gs pos="100000">
                  <a:srgbClr val="F8F8F8">
                    <a:alpha val="5000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 name="Rectangle 73"/>
            <p:cNvSpPr/>
            <p:nvPr/>
          </p:nvSpPr>
          <p:spPr>
            <a:xfrm>
              <a:off x="2843212" y="4052182"/>
              <a:ext cx="395288" cy="165302"/>
            </a:xfrm>
            <a:prstGeom prst="rect">
              <a:avLst/>
            </a:prstGeom>
            <a:gradFill>
              <a:gsLst>
                <a:gs pos="0">
                  <a:srgbClr val="A09F9D">
                    <a:lumMod val="80000"/>
                  </a:srgbClr>
                </a:gs>
                <a:gs pos="17000">
                  <a:srgbClr val="D2C9C4">
                    <a:lumMod val="80000"/>
                  </a:srgbClr>
                </a:gs>
                <a:gs pos="70000">
                  <a:srgbClr val="E4E1DC">
                    <a:lumMod val="80000"/>
                  </a:srgbClr>
                </a:gs>
                <a:gs pos="42000">
                  <a:schemeClr val="bg1"/>
                </a:gs>
                <a:gs pos="100000">
                  <a:srgbClr val="F8F8F8">
                    <a:lumMod val="8000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Oval 74"/>
            <p:cNvSpPr/>
            <p:nvPr/>
          </p:nvSpPr>
          <p:spPr>
            <a:xfrm>
              <a:off x="2843212" y="4156068"/>
              <a:ext cx="395288" cy="133350"/>
            </a:xfrm>
            <a:prstGeom prst="ellipse">
              <a:avLst/>
            </a:prstGeom>
            <a:gradFill>
              <a:gsLst>
                <a:gs pos="0">
                  <a:srgbClr val="A09F9D">
                    <a:lumMod val="80000"/>
                  </a:srgbClr>
                </a:gs>
                <a:gs pos="17000">
                  <a:srgbClr val="D2C9C4">
                    <a:lumMod val="80000"/>
                  </a:srgbClr>
                </a:gs>
                <a:gs pos="70000">
                  <a:srgbClr val="E4E1DC">
                    <a:lumMod val="80000"/>
                  </a:srgbClr>
                </a:gs>
                <a:gs pos="42000">
                  <a:schemeClr val="bg1"/>
                </a:gs>
                <a:gs pos="100000">
                  <a:srgbClr val="F8F8F8">
                    <a:lumMod val="8000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Oval 75"/>
            <p:cNvSpPr/>
            <p:nvPr/>
          </p:nvSpPr>
          <p:spPr>
            <a:xfrm>
              <a:off x="2843212" y="3992360"/>
              <a:ext cx="395288" cy="133350"/>
            </a:xfrm>
            <a:prstGeom prst="ellipse">
              <a:avLst/>
            </a:prstGeom>
            <a:gradFill>
              <a:gsLst>
                <a:gs pos="0">
                  <a:srgbClr val="A09F9D"/>
                </a:gs>
                <a:gs pos="17000">
                  <a:srgbClr val="D2C9C4"/>
                </a:gs>
                <a:gs pos="70000">
                  <a:srgbClr val="E4E1DC"/>
                </a:gs>
                <a:gs pos="42000">
                  <a:schemeClr val="bg1"/>
                </a:gs>
                <a:gs pos="100000">
                  <a:srgbClr val="F8F8F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Rectangle 76"/>
            <p:cNvSpPr/>
            <p:nvPr/>
          </p:nvSpPr>
          <p:spPr>
            <a:xfrm>
              <a:off x="2843212" y="3065174"/>
              <a:ext cx="395288" cy="744826"/>
            </a:xfrm>
            <a:prstGeom prst="rect">
              <a:avLst/>
            </a:prstGeom>
            <a:gradFill>
              <a:gsLst>
                <a:gs pos="0">
                  <a:schemeClr val="accent3">
                    <a:lumMod val="75000"/>
                  </a:schemeClr>
                </a:gs>
                <a:gs pos="17000">
                  <a:schemeClr val="accent3">
                    <a:lumMod val="75000"/>
                  </a:schemeClr>
                </a:gs>
                <a:gs pos="70000">
                  <a:schemeClr val="accent3">
                    <a:lumMod val="100000"/>
                  </a:schemeClr>
                </a:gs>
                <a:gs pos="42000">
                  <a:schemeClr val="bg1"/>
                </a:gs>
                <a:gs pos="100000">
                  <a:schemeClr val="accent3">
                    <a:lumMod val="10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Oval 77"/>
            <p:cNvSpPr/>
            <p:nvPr/>
          </p:nvSpPr>
          <p:spPr>
            <a:xfrm>
              <a:off x="2843212" y="3746678"/>
              <a:ext cx="395288" cy="133350"/>
            </a:xfrm>
            <a:prstGeom prst="ellipse">
              <a:avLst/>
            </a:prstGeom>
            <a:gradFill>
              <a:gsLst>
                <a:gs pos="0">
                  <a:schemeClr val="accent3">
                    <a:lumMod val="25000"/>
                  </a:schemeClr>
                </a:gs>
                <a:gs pos="17000">
                  <a:schemeClr val="accent3">
                    <a:lumMod val="50000"/>
                  </a:schemeClr>
                </a:gs>
                <a:gs pos="70000">
                  <a:schemeClr val="accent3">
                    <a:lumMod val="75000"/>
                  </a:schemeClr>
                </a:gs>
                <a:gs pos="42000">
                  <a:schemeClr val="bg1"/>
                </a:gs>
                <a:gs pos="100000">
                  <a:schemeClr val="accent3">
                    <a:lumMod val="9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Oval 78"/>
            <p:cNvSpPr/>
            <p:nvPr/>
          </p:nvSpPr>
          <p:spPr>
            <a:xfrm>
              <a:off x="2843212" y="2999154"/>
              <a:ext cx="395288" cy="133350"/>
            </a:xfrm>
            <a:prstGeom prst="ellipse">
              <a:avLst/>
            </a:prstGeom>
            <a:gradFill>
              <a:gsLst>
                <a:gs pos="0">
                  <a:schemeClr val="accent3">
                    <a:lumMod val="25000"/>
                  </a:schemeClr>
                </a:gs>
                <a:gs pos="17000">
                  <a:schemeClr val="accent3">
                    <a:lumMod val="50000"/>
                  </a:schemeClr>
                </a:gs>
                <a:gs pos="70000">
                  <a:schemeClr val="accent3">
                    <a:lumMod val="75000"/>
                  </a:schemeClr>
                </a:gs>
                <a:gs pos="42000">
                  <a:schemeClr val="bg1"/>
                </a:gs>
                <a:gs pos="100000">
                  <a:schemeClr val="accent3">
                    <a:lumMod val="9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0" name="TextBox 79"/>
          <p:cNvSpPr txBox="1"/>
          <p:nvPr/>
        </p:nvSpPr>
        <p:spPr>
          <a:xfrm>
            <a:off x="6248400" y="3822469"/>
            <a:ext cx="5791200" cy="1969770"/>
          </a:xfrm>
          <a:prstGeom prst="rect">
            <a:avLst/>
          </a:prstGeom>
          <a:noFill/>
        </p:spPr>
        <p:txBody>
          <a:bodyPr wrap="square" rtlCol="0">
            <a:spAutoFit/>
          </a:bodyPr>
          <a:lstStyle/>
          <a:p>
            <a:pPr marL="285750" indent="-285750">
              <a:spcBef>
                <a:spcPts val="600"/>
              </a:spcBef>
              <a:spcAft>
                <a:spcPts val="600"/>
              </a:spcAft>
              <a:buFont typeface="Wingdings" panose="05000000000000000000" pitchFamily="2" charset="2"/>
              <a:buChar char="Ø"/>
            </a:pPr>
            <a:r>
              <a:rPr lang="en-US" sz="1400" b="1" dirty="0"/>
              <a:t>More than 2.1 Million garages are being in operation across the globe. Growing automotive aftermarket is resulting in increasing number of independent garages. Relatively large automobiles fleet in Asia Pacific region demands higher number of service stations primarily the small sized garages</a:t>
            </a:r>
          </a:p>
          <a:p>
            <a:pPr marL="285750" indent="-285750">
              <a:spcBef>
                <a:spcPts val="600"/>
              </a:spcBef>
              <a:spcAft>
                <a:spcPts val="600"/>
              </a:spcAft>
              <a:buFont typeface="Wingdings" panose="05000000000000000000" pitchFamily="2" charset="2"/>
              <a:buChar char="Ø"/>
            </a:pPr>
            <a:r>
              <a:rPr lang="en-US" sz="1400" b="1" dirty="0"/>
              <a:t>This in turn is significantly contributing to the demand of wheel bearing during the repair and maintenance of passenger and commercial vehicles.  </a:t>
            </a:r>
          </a:p>
        </p:txBody>
      </p:sp>
      <p:sp>
        <p:nvSpPr>
          <p:cNvPr id="83" name="TextBox 82"/>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
        <p:nvSpPr>
          <p:cNvPr id="81" name="Slide Number Placeholder 80"/>
          <p:cNvSpPr>
            <a:spLocks noGrp="1"/>
          </p:cNvSpPr>
          <p:nvPr>
            <p:ph type="sldNum" sz="quarter" idx="4"/>
          </p:nvPr>
        </p:nvSpPr>
        <p:spPr/>
        <p:txBody>
          <a:bodyPr/>
          <a:lstStyle/>
          <a:p>
            <a:fld id="{4B17068C-EB94-40A3-A5F2-664CDD77FDAC}" type="slidenum">
              <a:rPr lang="en-GB" smtClean="0"/>
              <a:pPr/>
              <a:t>44</a:t>
            </a:fld>
            <a:endParaRPr lang="en-GB" dirty="0"/>
          </a:p>
        </p:txBody>
      </p:sp>
    </p:spTree>
    <p:extLst>
      <p:ext uri="{BB962C8B-B14F-4D97-AF65-F5344CB8AC3E}">
        <p14:creationId xmlns:p14="http://schemas.microsoft.com/office/powerpoint/2010/main" val="9433465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Content Placeholder 17"/>
          <p:cNvGraphicFramePr>
            <a:graphicFrameLocks/>
          </p:cNvGraphicFramePr>
          <p:nvPr>
            <p:extLst>
              <p:ext uri="{D42A27DB-BD31-4B8C-83A1-F6EECF244321}">
                <p14:modId xmlns:p14="http://schemas.microsoft.com/office/powerpoint/2010/main" val="1217943499"/>
              </p:ext>
            </p:extLst>
          </p:nvPr>
        </p:nvGraphicFramePr>
        <p:xfrm>
          <a:off x="1450466" y="1234753"/>
          <a:ext cx="9702396" cy="2647799"/>
        </p:xfrm>
        <a:graphic>
          <a:graphicData uri="http://schemas.openxmlformats.org/drawingml/2006/chart">
            <c:chart xmlns:c="http://schemas.openxmlformats.org/drawingml/2006/chart" xmlns:r="http://schemas.openxmlformats.org/officeDocument/2006/relationships" r:id="rId2"/>
          </a:graphicData>
        </a:graphic>
      </p:graphicFrame>
      <p:sp>
        <p:nvSpPr>
          <p:cNvPr id="17" name="Rounded Rectangle 16"/>
          <p:cNvSpPr/>
          <p:nvPr/>
        </p:nvSpPr>
        <p:spPr>
          <a:xfrm>
            <a:off x="1329096" y="3890542"/>
            <a:ext cx="9648628" cy="2124635"/>
          </a:xfrm>
          <a:prstGeom prst="round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p:txBody>
          <a:bodyPr/>
          <a:lstStyle/>
          <a:p>
            <a:r>
              <a:rPr lang="en-US" dirty="0"/>
              <a:t>Electric Vehicle Projection</a:t>
            </a:r>
          </a:p>
        </p:txBody>
      </p:sp>
      <p:grpSp>
        <p:nvGrpSpPr>
          <p:cNvPr id="4" name="Group 3"/>
          <p:cNvGrpSpPr/>
          <p:nvPr/>
        </p:nvGrpSpPr>
        <p:grpSpPr>
          <a:xfrm>
            <a:off x="3758155" y="1169559"/>
            <a:ext cx="5191563" cy="447199"/>
            <a:chOff x="-2057400" y="1990165"/>
            <a:chExt cx="4183069" cy="447199"/>
          </a:xfrm>
        </p:grpSpPr>
        <p:sp>
          <p:nvSpPr>
            <p:cNvPr id="5" name="Rounded Rectangle 4"/>
            <p:cNvSpPr/>
            <p:nvPr/>
          </p:nvSpPr>
          <p:spPr>
            <a:xfrm>
              <a:off x="-2057400" y="1990165"/>
              <a:ext cx="2554941" cy="336176"/>
            </a:xfrm>
            <a:prstGeom prst="roundRect">
              <a:avLst/>
            </a:prstGeom>
            <a:solidFill>
              <a:srgbClr val="2A5F8F"/>
            </a:solidFill>
            <a:ln w="3175">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b="1" dirty="0">
                <a:solidFill>
                  <a:schemeClr val="accent1">
                    <a:lumMod val="75000"/>
                  </a:schemeClr>
                </a:solidFill>
              </a:endParaRPr>
            </a:p>
          </p:txBody>
        </p:sp>
        <p:sp>
          <p:nvSpPr>
            <p:cNvPr id="6" name="Rounded Rectangle 5"/>
            <p:cNvSpPr/>
            <p:nvPr/>
          </p:nvSpPr>
          <p:spPr>
            <a:xfrm>
              <a:off x="-1997321" y="2063349"/>
              <a:ext cx="4122990" cy="374015"/>
            </a:xfrm>
            <a:prstGeom prst="roundRect">
              <a:avLst/>
            </a:prstGeom>
            <a:solidFill>
              <a:srgbClr val="E8EAEE"/>
            </a:solidFill>
            <a:ln w="3175">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r>
                <a:rPr lang="en-US" sz="1200" b="1" dirty="0">
                  <a:solidFill>
                    <a:schemeClr val="tx1"/>
                  </a:solidFill>
                </a:rPr>
                <a:t>Electric Vehicle Projection ‘000 Tons (2018-2030)</a:t>
              </a:r>
            </a:p>
          </p:txBody>
        </p:sp>
      </p:grpSp>
      <p:grpSp>
        <p:nvGrpSpPr>
          <p:cNvPr id="8" name="Group 7"/>
          <p:cNvGrpSpPr/>
          <p:nvPr/>
        </p:nvGrpSpPr>
        <p:grpSpPr>
          <a:xfrm>
            <a:off x="4533873" y="4035719"/>
            <a:ext cx="3124253" cy="398230"/>
            <a:chOff x="-268603" y="5681391"/>
            <a:chExt cx="3124253" cy="398230"/>
          </a:xfrm>
        </p:grpSpPr>
        <p:sp>
          <p:nvSpPr>
            <p:cNvPr id="9" name="TextBox 8"/>
            <p:cNvSpPr txBox="1"/>
            <p:nvPr/>
          </p:nvSpPr>
          <p:spPr>
            <a:xfrm>
              <a:off x="-268603" y="5681391"/>
              <a:ext cx="3124253" cy="161583"/>
            </a:xfrm>
            <a:prstGeom prst="rect">
              <a:avLst/>
            </a:prstGeom>
            <a:noFill/>
          </p:spPr>
          <p:txBody>
            <a:bodyPr wrap="none" lIns="0" tIns="0" rIns="0" bIns="0" rtlCol="0">
              <a:spAutoFit/>
            </a:bodyPr>
            <a:lstStyle/>
            <a:p>
              <a:pPr marL="0" lvl="1" algn="ctr">
                <a:spcBef>
                  <a:spcPts val="500"/>
                </a:spcBef>
                <a:spcAft>
                  <a:spcPts val="500"/>
                </a:spcAft>
              </a:pPr>
              <a:r>
                <a:rPr lang="en-US" sz="1050" b="1" kern="0" dirty="0">
                  <a:solidFill>
                    <a:prstClr val="black"/>
                  </a:solidFill>
                </a:rPr>
                <a:t>Impact on Global Automotive Parts Aftermarket Market</a:t>
              </a:r>
            </a:p>
          </p:txBody>
        </p:sp>
        <p:grpSp>
          <p:nvGrpSpPr>
            <p:cNvPr id="10" name="Group 9"/>
            <p:cNvGrpSpPr/>
            <p:nvPr/>
          </p:nvGrpSpPr>
          <p:grpSpPr>
            <a:xfrm>
              <a:off x="679127" y="5819327"/>
              <a:ext cx="1004130" cy="260294"/>
              <a:chOff x="679127" y="5819327"/>
              <a:chExt cx="1004130" cy="260294"/>
            </a:xfrm>
          </p:grpSpPr>
          <p:sp>
            <p:nvSpPr>
              <p:cNvPr id="11" name="5-Point Star 10"/>
              <p:cNvSpPr/>
              <p:nvPr/>
            </p:nvSpPr>
            <p:spPr>
              <a:xfrm>
                <a:off x="679127" y="5819327"/>
                <a:ext cx="280058" cy="260294"/>
              </a:xfrm>
              <a:prstGeom prst="star5">
                <a:avLst/>
              </a:prstGeom>
              <a:solidFill>
                <a:srgbClr val="2A5F8F"/>
              </a:solidFill>
              <a:ln>
                <a:solidFill>
                  <a:srgbClr val="2A5F8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5-Point Star 11"/>
              <p:cNvSpPr/>
              <p:nvPr/>
            </p:nvSpPr>
            <p:spPr>
              <a:xfrm>
                <a:off x="1041163" y="5819327"/>
                <a:ext cx="280058" cy="260294"/>
              </a:xfrm>
              <a:prstGeom prst="star5">
                <a:avLst/>
              </a:prstGeom>
              <a:solidFill>
                <a:srgbClr val="2A5F8F"/>
              </a:solidFill>
              <a:ln>
                <a:solidFill>
                  <a:srgbClr val="2A5F8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5-Point Star 12"/>
              <p:cNvSpPr/>
              <p:nvPr/>
            </p:nvSpPr>
            <p:spPr>
              <a:xfrm>
                <a:off x="1403199" y="5819327"/>
                <a:ext cx="280058" cy="260294"/>
              </a:xfrm>
              <a:prstGeom prst="star5">
                <a:avLst/>
              </a:prstGeom>
              <a:solidFill>
                <a:srgbClr val="2A5F8F"/>
              </a:solidFill>
              <a:ln>
                <a:solidFill>
                  <a:srgbClr val="2A5F8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4" name="Rectangle 13"/>
          <p:cNvSpPr/>
          <p:nvPr/>
        </p:nvSpPr>
        <p:spPr>
          <a:xfrm>
            <a:off x="1450466" y="4670135"/>
            <a:ext cx="9444460" cy="1200329"/>
          </a:xfrm>
          <a:prstGeom prst="rect">
            <a:avLst/>
          </a:prstGeom>
        </p:spPr>
        <p:txBody>
          <a:bodyPr wrap="square">
            <a:spAutoFit/>
          </a:bodyPr>
          <a:lstStyle/>
          <a:p>
            <a:pPr marL="285750" indent="-285750" algn="just">
              <a:buFont typeface="Wingdings" panose="05000000000000000000" pitchFamily="2" charset="2"/>
              <a:buChar char="Ø"/>
              <a:defRPr/>
            </a:pPr>
            <a:r>
              <a:rPr lang="en-US" sz="1200" i="1" kern="0" dirty="0">
                <a:latin typeface="Century Gothic" panose="020B0502020202020204" pitchFamily="34" charset="0"/>
              </a:rPr>
              <a:t>The rising production of electric vehicles is significantly impacting the global Automotive Parts Aftermarket market, with a strong focus on innovative components tailored to the specific needs of EVs. This includes advanced wheel bearings designed to handle the unique demands of electric propulsion systems, such as higher torque and reduced noise. Furthermore, the market is witnessing the development of sustainable, eco-friendly clutch kits and transmission bearings that align with the eco-conscious image of electric mobility. These trends cater to the evolving preferences of consumers and reflect the automotive industry's commitment to cleaner, more efficient transportation solutions.</a:t>
            </a:r>
          </a:p>
        </p:txBody>
      </p:sp>
      <p:sp>
        <p:nvSpPr>
          <p:cNvPr id="15" name="Rounded Rectangle 14"/>
          <p:cNvSpPr/>
          <p:nvPr/>
        </p:nvSpPr>
        <p:spPr>
          <a:xfrm>
            <a:off x="1124110" y="1109722"/>
            <a:ext cx="9943780" cy="5029200"/>
          </a:xfrm>
          <a:prstGeom prst="roundRect">
            <a:avLst>
              <a:gd name="adj" fmla="val 1218"/>
            </a:avLst>
          </a:prstGeom>
          <a:noFill/>
          <a:ln>
            <a:solidFill>
              <a:srgbClr val="00206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dirty="0"/>
          </a:p>
        </p:txBody>
      </p:sp>
      <p:sp>
        <p:nvSpPr>
          <p:cNvPr id="18" name="TextBox 17"/>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
        <p:nvSpPr>
          <p:cNvPr id="16" name="Slide Number Placeholder 15"/>
          <p:cNvSpPr>
            <a:spLocks noGrp="1"/>
          </p:cNvSpPr>
          <p:nvPr>
            <p:ph type="sldNum" sz="quarter" idx="4"/>
          </p:nvPr>
        </p:nvSpPr>
        <p:spPr/>
        <p:txBody>
          <a:bodyPr/>
          <a:lstStyle/>
          <a:p>
            <a:fld id="{4B17068C-EB94-40A3-A5F2-664CDD77FDAC}" type="slidenum">
              <a:rPr lang="en-GB" smtClean="0"/>
              <a:pPr/>
              <a:t>45</a:t>
            </a:fld>
            <a:endParaRPr lang="en-GB" dirty="0"/>
          </a:p>
        </p:txBody>
      </p:sp>
    </p:spTree>
    <p:extLst>
      <p:ext uri="{BB962C8B-B14F-4D97-AF65-F5344CB8AC3E}">
        <p14:creationId xmlns:p14="http://schemas.microsoft.com/office/powerpoint/2010/main" val="1402196142"/>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Macroeconomic Factors </a:t>
            </a:r>
          </a:p>
        </p:txBody>
      </p:sp>
      <p:sp>
        <p:nvSpPr>
          <p:cNvPr id="4" name="Freeform 3"/>
          <p:cNvSpPr>
            <a:spLocks/>
          </p:cNvSpPr>
          <p:nvPr/>
        </p:nvSpPr>
        <p:spPr bwMode="auto">
          <a:xfrm>
            <a:off x="4496362" y="2652723"/>
            <a:ext cx="1456813" cy="1496375"/>
          </a:xfrm>
          <a:custGeom>
            <a:avLst/>
            <a:gdLst>
              <a:gd name="T0" fmla="*/ 10436 w 10436"/>
              <a:gd name="T1" fmla="*/ 7894 h 10711"/>
              <a:gd name="T2" fmla="*/ 4909 w 10436"/>
              <a:gd name="T3" fmla="*/ 0 h 10711"/>
              <a:gd name="T4" fmla="*/ 1221 w 10436"/>
              <a:gd name="T5" fmla="*/ 10711 h 10711"/>
              <a:gd name="T6" fmla="*/ 10436 w 10436"/>
              <a:gd name="T7" fmla="*/ 7894 h 10711"/>
            </a:gdLst>
            <a:ahLst/>
            <a:cxnLst>
              <a:cxn ang="0">
                <a:pos x="T0" y="T1"/>
              </a:cxn>
              <a:cxn ang="0">
                <a:pos x="T2" y="T3"/>
              </a:cxn>
              <a:cxn ang="0">
                <a:pos x="T4" y="T5"/>
              </a:cxn>
              <a:cxn ang="0">
                <a:pos x="T6" y="T7"/>
              </a:cxn>
            </a:cxnLst>
            <a:rect l="0" t="0" r="r" b="b"/>
            <a:pathLst>
              <a:path w="10436" h="10711">
                <a:moveTo>
                  <a:pt x="10436" y="7894"/>
                </a:moveTo>
                <a:lnTo>
                  <a:pt x="4909" y="0"/>
                </a:lnTo>
                <a:cubicBezTo>
                  <a:pt x="1489" y="2395"/>
                  <a:pt x="0" y="6719"/>
                  <a:pt x="1221" y="10711"/>
                </a:cubicBezTo>
                <a:lnTo>
                  <a:pt x="10436" y="7894"/>
                </a:lnTo>
                <a:close/>
              </a:path>
            </a:pathLst>
          </a:custGeom>
          <a:solidFill>
            <a:srgbClr val="E1E3E4"/>
          </a:solidFill>
          <a:ln w="12700">
            <a:solidFill>
              <a:schemeClr val="tx1">
                <a:lumMod val="65000"/>
                <a:lumOff val="3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5" name="Freeform 7"/>
          <p:cNvSpPr>
            <a:spLocks/>
          </p:cNvSpPr>
          <p:nvPr/>
        </p:nvSpPr>
        <p:spPr bwMode="auto">
          <a:xfrm>
            <a:off x="5246876" y="2272228"/>
            <a:ext cx="1581317" cy="1438196"/>
          </a:xfrm>
          <a:custGeom>
            <a:avLst/>
            <a:gdLst>
              <a:gd name="T0" fmla="*/ 5527 w 11326"/>
              <a:gd name="T1" fmla="*/ 10288 h 10288"/>
              <a:gd name="T2" fmla="*/ 11326 w 11326"/>
              <a:gd name="T3" fmla="*/ 2592 h 10288"/>
              <a:gd name="T4" fmla="*/ 0 w 11326"/>
              <a:gd name="T5" fmla="*/ 2394 h 10288"/>
              <a:gd name="T6" fmla="*/ 5527 w 11326"/>
              <a:gd name="T7" fmla="*/ 10288 h 10288"/>
            </a:gdLst>
            <a:ahLst/>
            <a:cxnLst>
              <a:cxn ang="0">
                <a:pos x="T0" y="T1"/>
              </a:cxn>
              <a:cxn ang="0">
                <a:pos x="T2" y="T3"/>
              </a:cxn>
              <a:cxn ang="0">
                <a:pos x="T4" y="T5"/>
              </a:cxn>
              <a:cxn ang="0">
                <a:pos x="T6" y="T7"/>
              </a:cxn>
            </a:cxnLst>
            <a:rect l="0" t="0" r="r" b="b"/>
            <a:pathLst>
              <a:path w="11326" h="10288">
                <a:moveTo>
                  <a:pt x="5527" y="10288"/>
                </a:moveTo>
                <a:lnTo>
                  <a:pt x="11326" y="2592"/>
                </a:lnTo>
                <a:cubicBezTo>
                  <a:pt x="7992" y="80"/>
                  <a:pt x="3419" y="0"/>
                  <a:pt x="0" y="2394"/>
                </a:cubicBezTo>
                <a:lnTo>
                  <a:pt x="5527" y="10288"/>
                </a:lnTo>
                <a:close/>
              </a:path>
            </a:pathLst>
          </a:custGeom>
          <a:solidFill>
            <a:srgbClr val="E1E3E4"/>
          </a:solidFill>
          <a:ln w="12700">
            <a:solidFill>
              <a:schemeClr val="tx1">
                <a:lumMod val="65000"/>
                <a:lumOff val="3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6" name="Freeform 9"/>
          <p:cNvSpPr>
            <a:spLocks/>
          </p:cNvSpPr>
          <p:nvPr/>
        </p:nvSpPr>
        <p:spPr bwMode="auto">
          <a:xfrm>
            <a:off x="6081170" y="2681812"/>
            <a:ext cx="1462631" cy="1513829"/>
          </a:xfrm>
          <a:custGeom>
            <a:avLst/>
            <a:gdLst>
              <a:gd name="T0" fmla="*/ 0 w 10470"/>
              <a:gd name="T1" fmla="*/ 7696 h 10833"/>
              <a:gd name="T2" fmla="*/ 9111 w 10470"/>
              <a:gd name="T3" fmla="*/ 10833 h 10833"/>
              <a:gd name="T4" fmla="*/ 5799 w 10470"/>
              <a:gd name="T5" fmla="*/ 0 h 10833"/>
              <a:gd name="T6" fmla="*/ 0 w 10470"/>
              <a:gd name="T7" fmla="*/ 7696 h 10833"/>
            </a:gdLst>
            <a:ahLst/>
            <a:cxnLst>
              <a:cxn ang="0">
                <a:pos x="T0" y="T1"/>
              </a:cxn>
              <a:cxn ang="0">
                <a:pos x="T2" y="T3"/>
              </a:cxn>
              <a:cxn ang="0">
                <a:pos x="T4" y="T5"/>
              </a:cxn>
              <a:cxn ang="0">
                <a:pos x="T6" y="T7"/>
              </a:cxn>
            </a:cxnLst>
            <a:rect l="0" t="0" r="r" b="b"/>
            <a:pathLst>
              <a:path w="10470" h="10833">
                <a:moveTo>
                  <a:pt x="0" y="7696"/>
                </a:moveTo>
                <a:lnTo>
                  <a:pt x="9111" y="10833"/>
                </a:lnTo>
                <a:cubicBezTo>
                  <a:pt x="10470" y="6886"/>
                  <a:pt x="9133" y="2512"/>
                  <a:pt x="5799" y="0"/>
                </a:cubicBezTo>
                <a:lnTo>
                  <a:pt x="0" y="7696"/>
                </a:lnTo>
                <a:close/>
              </a:path>
            </a:pathLst>
          </a:custGeom>
          <a:solidFill>
            <a:srgbClr val="E1E3E4"/>
          </a:solidFill>
          <a:ln w="12700">
            <a:solidFill>
              <a:schemeClr val="tx1">
                <a:lumMod val="65000"/>
                <a:lumOff val="3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7" name="Freeform 11"/>
          <p:cNvSpPr>
            <a:spLocks/>
          </p:cNvSpPr>
          <p:nvPr/>
        </p:nvSpPr>
        <p:spPr bwMode="auto">
          <a:xfrm>
            <a:off x="6032298" y="3832602"/>
            <a:ext cx="1296238" cy="1355581"/>
          </a:xfrm>
          <a:custGeom>
            <a:avLst/>
            <a:gdLst>
              <a:gd name="T0" fmla="*/ 168 w 9279"/>
              <a:gd name="T1" fmla="*/ 0 h 9708"/>
              <a:gd name="T2" fmla="*/ 0 w 9279"/>
              <a:gd name="T3" fmla="*/ 9635 h 9708"/>
              <a:gd name="T4" fmla="*/ 9279 w 9279"/>
              <a:gd name="T5" fmla="*/ 3137 h 9708"/>
              <a:gd name="T6" fmla="*/ 168 w 9279"/>
              <a:gd name="T7" fmla="*/ 0 h 9708"/>
            </a:gdLst>
            <a:ahLst/>
            <a:cxnLst>
              <a:cxn ang="0">
                <a:pos x="T0" y="T1"/>
              </a:cxn>
              <a:cxn ang="0">
                <a:pos x="T2" y="T3"/>
              </a:cxn>
              <a:cxn ang="0">
                <a:pos x="T4" y="T5"/>
              </a:cxn>
              <a:cxn ang="0">
                <a:pos x="T6" y="T7"/>
              </a:cxn>
            </a:cxnLst>
            <a:rect l="0" t="0" r="r" b="b"/>
            <a:pathLst>
              <a:path w="9279" h="9708">
                <a:moveTo>
                  <a:pt x="168" y="0"/>
                </a:moveTo>
                <a:lnTo>
                  <a:pt x="0" y="9635"/>
                </a:lnTo>
                <a:cubicBezTo>
                  <a:pt x="4174" y="9708"/>
                  <a:pt x="7920" y="7085"/>
                  <a:pt x="9279" y="3137"/>
                </a:cubicBezTo>
                <a:lnTo>
                  <a:pt x="168" y="0"/>
                </a:lnTo>
                <a:close/>
              </a:path>
            </a:pathLst>
          </a:custGeom>
          <a:solidFill>
            <a:srgbClr val="E1E3E4"/>
          </a:solidFill>
          <a:ln w="12700">
            <a:solidFill>
              <a:schemeClr val="tx1">
                <a:lumMod val="65000"/>
                <a:lumOff val="3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8" name="Freeform 13"/>
          <p:cNvSpPr>
            <a:spLocks/>
          </p:cNvSpPr>
          <p:nvPr/>
        </p:nvSpPr>
        <p:spPr bwMode="auto">
          <a:xfrm>
            <a:off x="4689518" y="3830274"/>
            <a:ext cx="1286929" cy="1346272"/>
          </a:xfrm>
          <a:custGeom>
            <a:avLst/>
            <a:gdLst>
              <a:gd name="T0" fmla="*/ 9215 w 9215"/>
              <a:gd name="T1" fmla="*/ 0 h 9635"/>
              <a:gd name="T2" fmla="*/ 0 w 9215"/>
              <a:gd name="T3" fmla="*/ 2818 h 9635"/>
              <a:gd name="T4" fmla="*/ 9046 w 9215"/>
              <a:gd name="T5" fmla="*/ 9635 h 9635"/>
              <a:gd name="T6" fmla="*/ 9215 w 9215"/>
              <a:gd name="T7" fmla="*/ 0 h 9635"/>
            </a:gdLst>
            <a:ahLst/>
            <a:cxnLst>
              <a:cxn ang="0">
                <a:pos x="T0" y="T1"/>
              </a:cxn>
              <a:cxn ang="0">
                <a:pos x="T2" y="T3"/>
              </a:cxn>
              <a:cxn ang="0">
                <a:pos x="T4" y="T5"/>
              </a:cxn>
              <a:cxn ang="0">
                <a:pos x="T6" y="T7"/>
              </a:cxn>
            </a:cxnLst>
            <a:rect l="0" t="0" r="r" b="b"/>
            <a:pathLst>
              <a:path w="9215" h="9635">
                <a:moveTo>
                  <a:pt x="9215" y="0"/>
                </a:moveTo>
                <a:lnTo>
                  <a:pt x="0" y="2818"/>
                </a:lnTo>
                <a:cubicBezTo>
                  <a:pt x="1220" y="6810"/>
                  <a:pt x="4872" y="9562"/>
                  <a:pt x="9046" y="9635"/>
                </a:cubicBezTo>
                <a:lnTo>
                  <a:pt x="9215" y="0"/>
                </a:lnTo>
                <a:close/>
              </a:path>
            </a:pathLst>
          </a:custGeom>
          <a:solidFill>
            <a:srgbClr val="E1E3E4"/>
          </a:solidFill>
          <a:ln w="12700">
            <a:solidFill>
              <a:schemeClr val="tx1">
                <a:lumMod val="65000"/>
                <a:lumOff val="3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9" name="Oval 8"/>
          <p:cNvSpPr/>
          <p:nvPr/>
        </p:nvSpPr>
        <p:spPr>
          <a:xfrm>
            <a:off x="5471188" y="3236519"/>
            <a:ext cx="1050731" cy="1050731"/>
          </a:xfrm>
          <a:prstGeom prst="ellipse">
            <a:avLst/>
          </a:prstGeom>
          <a:solidFill>
            <a:schemeClr val="accent5">
              <a:lumMod val="60000"/>
              <a:lumOff val="40000"/>
            </a:schemeClr>
          </a:solidFill>
          <a:ln>
            <a:noFill/>
          </a:ln>
          <a:effectLst>
            <a:outerShdw blurRad="266700" dir="10440000" sx="110000" sy="110000" algn="ctr" rotWithShape="0">
              <a:prstClr val="black">
                <a:alpha val="3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dirty="0">
                <a:solidFill>
                  <a:schemeClr val="tx1"/>
                </a:solidFill>
              </a:rPr>
              <a:t>Importance of Chemical Industry</a:t>
            </a:r>
            <a:endParaRPr lang="en-IN" sz="900" b="1" dirty="0">
              <a:solidFill>
                <a:schemeClr val="tx1"/>
              </a:solidFill>
            </a:endParaRPr>
          </a:p>
        </p:txBody>
      </p:sp>
      <p:sp>
        <p:nvSpPr>
          <p:cNvPr id="10" name="Rounded Rectangle 9"/>
          <p:cNvSpPr/>
          <p:nvPr/>
        </p:nvSpPr>
        <p:spPr>
          <a:xfrm>
            <a:off x="404567" y="1178643"/>
            <a:ext cx="3613048" cy="1911759"/>
          </a:xfrm>
          <a:prstGeom prst="roundRect">
            <a:avLst>
              <a:gd name="adj" fmla="val 8423"/>
            </a:avLst>
          </a:prstGeom>
          <a:solidFill>
            <a:srgbClr val="E1E3E4"/>
          </a:solidFill>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11" name="Rounded Rectangle 10"/>
          <p:cNvSpPr/>
          <p:nvPr/>
        </p:nvSpPr>
        <p:spPr>
          <a:xfrm>
            <a:off x="7718718" y="1201459"/>
            <a:ext cx="3611880" cy="1911096"/>
          </a:xfrm>
          <a:prstGeom prst="roundRect">
            <a:avLst>
              <a:gd name="adj" fmla="val 8423"/>
            </a:avLst>
          </a:prstGeom>
          <a:solidFill>
            <a:srgbClr val="E1E3E4"/>
          </a:solidFill>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12" name="Rounded Rectangle 11"/>
          <p:cNvSpPr/>
          <p:nvPr/>
        </p:nvSpPr>
        <p:spPr>
          <a:xfrm>
            <a:off x="7773379" y="4350475"/>
            <a:ext cx="3611880" cy="1911096"/>
          </a:xfrm>
          <a:prstGeom prst="roundRect">
            <a:avLst>
              <a:gd name="adj" fmla="val 8423"/>
            </a:avLst>
          </a:prstGeom>
          <a:solidFill>
            <a:srgbClr val="E1E3E4"/>
          </a:solidFill>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pic>
        <p:nvPicPr>
          <p:cNvPr id="13" name="Picture 12"/>
          <p:cNvPicPr>
            <a:picLocks noChangeAspect="1"/>
          </p:cNvPicPr>
          <p:nvPr/>
        </p:nvPicPr>
        <p:blipFill rotWithShape="1">
          <a:blip r:embed="rId2">
            <a:extLst>
              <a:ext uri="{28A0092B-C50C-407E-A947-70E740481C1C}">
                <a14:useLocalDpi xmlns:a14="http://schemas.microsoft.com/office/drawing/2010/main" val="0"/>
              </a:ext>
            </a:extLst>
          </a:blip>
          <a:srcRect l="5675" t="6679" r="87192" b="83798"/>
          <a:stretch/>
        </p:blipFill>
        <p:spPr>
          <a:xfrm>
            <a:off x="624862" y="1300053"/>
            <a:ext cx="798730" cy="558753"/>
          </a:xfrm>
          <a:custGeom>
            <a:avLst/>
            <a:gdLst>
              <a:gd name="connsiteX0" fmla="*/ 0 w 708025"/>
              <a:gd name="connsiteY0" fmla="*/ 0 h 495300"/>
              <a:gd name="connsiteX1" fmla="*/ 708025 w 708025"/>
              <a:gd name="connsiteY1" fmla="*/ 0 h 495300"/>
              <a:gd name="connsiteX2" fmla="*/ 708025 w 708025"/>
              <a:gd name="connsiteY2" fmla="*/ 495300 h 495300"/>
              <a:gd name="connsiteX3" fmla="*/ 0 w 708025"/>
              <a:gd name="connsiteY3" fmla="*/ 495300 h 495300"/>
              <a:gd name="connsiteX4" fmla="*/ 0 w 708025"/>
              <a:gd name="connsiteY4" fmla="*/ 0 h 495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025" h="495300">
                <a:moveTo>
                  <a:pt x="0" y="0"/>
                </a:moveTo>
                <a:lnTo>
                  <a:pt x="708025" y="0"/>
                </a:lnTo>
                <a:lnTo>
                  <a:pt x="708025" y="495300"/>
                </a:lnTo>
                <a:lnTo>
                  <a:pt x="0" y="495300"/>
                </a:lnTo>
                <a:lnTo>
                  <a:pt x="0" y="0"/>
                </a:lnTo>
                <a:close/>
              </a:path>
            </a:pathLst>
          </a:custGeom>
        </p:spPr>
      </p:pic>
      <p:pic>
        <p:nvPicPr>
          <p:cNvPr id="14" name="Picture 13"/>
          <p:cNvPicPr>
            <a:picLocks noChangeAspect="1"/>
          </p:cNvPicPr>
          <p:nvPr/>
        </p:nvPicPr>
        <p:blipFill rotWithShape="1">
          <a:blip r:embed="rId2">
            <a:extLst>
              <a:ext uri="{28A0092B-C50C-407E-A947-70E740481C1C}">
                <a14:useLocalDpi xmlns:a14="http://schemas.microsoft.com/office/drawing/2010/main" val="0"/>
              </a:ext>
            </a:extLst>
          </a:blip>
          <a:srcRect l="13688" t="6679" r="79179" b="83798"/>
          <a:stretch/>
        </p:blipFill>
        <p:spPr>
          <a:xfrm>
            <a:off x="1725023" y="1326207"/>
            <a:ext cx="798730" cy="558753"/>
          </a:xfrm>
          <a:custGeom>
            <a:avLst/>
            <a:gdLst>
              <a:gd name="connsiteX0" fmla="*/ 0 w 708025"/>
              <a:gd name="connsiteY0" fmla="*/ 0 h 495300"/>
              <a:gd name="connsiteX1" fmla="*/ 708025 w 708025"/>
              <a:gd name="connsiteY1" fmla="*/ 0 h 495300"/>
              <a:gd name="connsiteX2" fmla="*/ 708025 w 708025"/>
              <a:gd name="connsiteY2" fmla="*/ 495300 h 495300"/>
              <a:gd name="connsiteX3" fmla="*/ 0 w 708025"/>
              <a:gd name="connsiteY3" fmla="*/ 495300 h 495300"/>
              <a:gd name="connsiteX4" fmla="*/ 0 w 708025"/>
              <a:gd name="connsiteY4" fmla="*/ 0 h 495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025" h="495300">
                <a:moveTo>
                  <a:pt x="0" y="0"/>
                </a:moveTo>
                <a:lnTo>
                  <a:pt x="708025" y="0"/>
                </a:lnTo>
                <a:lnTo>
                  <a:pt x="708025" y="495300"/>
                </a:lnTo>
                <a:lnTo>
                  <a:pt x="0" y="495300"/>
                </a:lnTo>
                <a:lnTo>
                  <a:pt x="0" y="0"/>
                </a:lnTo>
                <a:close/>
              </a:path>
            </a:pathLst>
          </a:custGeom>
        </p:spPr>
      </p:pic>
      <p:pic>
        <p:nvPicPr>
          <p:cNvPr id="15" name="Picture 14"/>
          <p:cNvPicPr>
            <a:picLocks noChangeAspect="1"/>
          </p:cNvPicPr>
          <p:nvPr/>
        </p:nvPicPr>
        <p:blipFill rotWithShape="1">
          <a:blip r:embed="rId2">
            <a:extLst>
              <a:ext uri="{28A0092B-C50C-407E-A947-70E740481C1C}">
                <a14:useLocalDpi xmlns:a14="http://schemas.microsoft.com/office/drawing/2010/main" val="0"/>
              </a:ext>
            </a:extLst>
          </a:blip>
          <a:srcRect l="22948" t="6679" r="69920" b="83798"/>
          <a:stretch/>
        </p:blipFill>
        <p:spPr>
          <a:xfrm>
            <a:off x="2976632" y="1311718"/>
            <a:ext cx="798730" cy="558753"/>
          </a:xfrm>
          <a:custGeom>
            <a:avLst/>
            <a:gdLst>
              <a:gd name="connsiteX0" fmla="*/ 0 w 708025"/>
              <a:gd name="connsiteY0" fmla="*/ 0 h 495300"/>
              <a:gd name="connsiteX1" fmla="*/ 708025 w 708025"/>
              <a:gd name="connsiteY1" fmla="*/ 0 h 495300"/>
              <a:gd name="connsiteX2" fmla="*/ 708025 w 708025"/>
              <a:gd name="connsiteY2" fmla="*/ 495300 h 495300"/>
              <a:gd name="connsiteX3" fmla="*/ 0 w 708025"/>
              <a:gd name="connsiteY3" fmla="*/ 495300 h 495300"/>
              <a:gd name="connsiteX4" fmla="*/ 0 w 708025"/>
              <a:gd name="connsiteY4" fmla="*/ 0 h 495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025" h="495300">
                <a:moveTo>
                  <a:pt x="0" y="0"/>
                </a:moveTo>
                <a:lnTo>
                  <a:pt x="708025" y="0"/>
                </a:lnTo>
                <a:lnTo>
                  <a:pt x="708025" y="495300"/>
                </a:lnTo>
                <a:lnTo>
                  <a:pt x="0" y="495300"/>
                </a:lnTo>
                <a:lnTo>
                  <a:pt x="0" y="0"/>
                </a:lnTo>
                <a:close/>
              </a:path>
            </a:pathLst>
          </a:custGeom>
        </p:spPr>
      </p:pic>
      <p:pic>
        <p:nvPicPr>
          <p:cNvPr id="16" name="Picture 15"/>
          <p:cNvPicPr>
            <a:picLocks noChangeAspect="1"/>
          </p:cNvPicPr>
          <p:nvPr/>
        </p:nvPicPr>
        <p:blipFill rotWithShape="1">
          <a:blip r:embed="rId2">
            <a:extLst>
              <a:ext uri="{28A0092B-C50C-407E-A947-70E740481C1C}">
                <a14:useLocalDpi xmlns:a14="http://schemas.microsoft.com/office/drawing/2010/main" val="0"/>
              </a:ext>
            </a:extLst>
          </a:blip>
          <a:srcRect l="5675" t="20872" r="87192" b="69148"/>
          <a:stretch/>
        </p:blipFill>
        <p:spPr>
          <a:xfrm>
            <a:off x="580153" y="2212755"/>
            <a:ext cx="798730" cy="585615"/>
          </a:xfrm>
          <a:custGeom>
            <a:avLst/>
            <a:gdLst>
              <a:gd name="connsiteX0" fmla="*/ 0 w 708025"/>
              <a:gd name="connsiteY0" fmla="*/ 0 h 519112"/>
              <a:gd name="connsiteX1" fmla="*/ 708025 w 708025"/>
              <a:gd name="connsiteY1" fmla="*/ 0 h 519112"/>
              <a:gd name="connsiteX2" fmla="*/ 708025 w 708025"/>
              <a:gd name="connsiteY2" fmla="*/ 519112 h 519112"/>
              <a:gd name="connsiteX3" fmla="*/ 0 w 708025"/>
              <a:gd name="connsiteY3" fmla="*/ 519112 h 519112"/>
              <a:gd name="connsiteX4" fmla="*/ 0 w 708025"/>
              <a:gd name="connsiteY4" fmla="*/ 0 h 519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025" h="519112">
                <a:moveTo>
                  <a:pt x="0" y="0"/>
                </a:moveTo>
                <a:lnTo>
                  <a:pt x="708025" y="0"/>
                </a:lnTo>
                <a:lnTo>
                  <a:pt x="708025" y="519112"/>
                </a:lnTo>
                <a:lnTo>
                  <a:pt x="0" y="519112"/>
                </a:lnTo>
                <a:lnTo>
                  <a:pt x="0" y="0"/>
                </a:lnTo>
                <a:close/>
              </a:path>
            </a:pathLst>
          </a:custGeom>
        </p:spPr>
      </p:pic>
      <p:pic>
        <p:nvPicPr>
          <p:cNvPr id="17" name="Picture 16"/>
          <p:cNvPicPr>
            <a:picLocks noChangeAspect="1"/>
          </p:cNvPicPr>
          <p:nvPr/>
        </p:nvPicPr>
        <p:blipFill rotWithShape="1">
          <a:blip r:embed="rId2">
            <a:extLst>
              <a:ext uri="{28A0092B-C50C-407E-A947-70E740481C1C}">
                <a14:useLocalDpi xmlns:a14="http://schemas.microsoft.com/office/drawing/2010/main" val="0"/>
              </a:ext>
            </a:extLst>
          </a:blip>
          <a:srcRect l="13688" t="20872" r="78460" b="69148"/>
          <a:stretch/>
        </p:blipFill>
        <p:spPr>
          <a:xfrm>
            <a:off x="1732409" y="2219126"/>
            <a:ext cx="879319" cy="585616"/>
          </a:xfrm>
          <a:custGeom>
            <a:avLst/>
            <a:gdLst>
              <a:gd name="connsiteX0" fmla="*/ 0 w 779462"/>
              <a:gd name="connsiteY0" fmla="*/ 0 h 519112"/>
              <a:gd name="connsiteX1" fmla="*/ 779462 w 779462"/>
              <a:gd name="connsiteY1" fmla="*/ 0 h 519112"/>
              <a:gd name="connsiteX2" fmla="*/ 779462 w 779462"/>
              <a:gd name="connsiteY2" fmla="*/ 519112 h 519112"/>
              <a:gd name="connsiteX3" fmla="*/ 0 w 779462"/>
              <a:gd name="connsiteY3" fmla="*/ 519112 h 519112"/>
              <a:gd name="connsiteX4" fmla="*/ 0 w 779462"/>
              <a:gd name="connsiteY4" fmla="*/ 0 h 519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9462" h="519112">
                <a:moveTo>
                  <a:pt x="0" y="0"/>
                </a:moveTo>
                <a:lnTo>
                  <a:pt x="779462" y="0"/>
                </a:lnTo>
                <a:lnTo>
                  <a:pt x="779462" y="519112"/>
                </a:lnTo>
                <a:lnTo>
                  <a:pt x="0" y="519112"/>
                </a:lnTo>
                <a:lnTo>
                  <a:pt x="0" y="0"/>
                </a:lnTo>
                <a:close/>
              </a:path>
            </a:pathLst>
          </a:custGeom>
        </p:spPr>
      </p:pic>
      <p:pic>
        <p:nvPicPr>
          <p:cNvPr id="18" name="Picture 17"/>
          <p:cNvPicPr>
            <a:picLocks noChangeAspect="1"/>
          </p:cNvPicPr>
          <p:nvPr/>
        </p:nvPicPr>
        <p:blipFill rotWithShape="1">
          <a:blip r:embed="rId2">
            <a:extLst>
              <a:ext uri="{28A0092B-C50C-407E-A947-70E740481C1C}">
                <a14:useLocalDpi xmlns:a14="http://schemas.microsoft.com/office/drawing/2010/main" val="0"/>
              </a:ext>
            </a:extLst>
          </a:blip>
          <a:srcRect l="22228" t="20872" r="69920" b="68141"/>
          <a:stretch/>
        </p:blipFill>
        <p:spPr>
          <a:xfrm>
            <a:off x="2840954" y="2148240"/>
            <a:ext cx="879319" cy="644715"/>
          </a:xfrm>
          <a:custGeom>
            <a:avLst/>
            <a:gdLst>
              <a:gd name="connsiteX0" fmla="*/ 0 w 779462"/>
              <a:gd name="connsiteY0" fmla="*/ 0 h 571500"/>
              <a:gd name="connsiteX1" fmla="*/ 779462 w 779462"/>
              <a:gd name="connsiteY1" fmla="*/ 0 h 571500"/>
              <a:gd name="connsiteX2" fmla="*/ 779462 w 779462"/>
              <a:gd name="connsiteY2" fmla="*/ 571500 h 571500"/>
              <a:gd name="connsiteX3" fmla="*/ 0 w 779462"/>
              <a:gd name="connsiteY3" fmla="*/ 571500 h 571500"/>
              <a:gd name="connsiteX4" fmla="*/ 0 w 779462"/>
              <a:gd name="connsiteY4" fmla="*/ 0 h 571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9462" h="571500">
                <a:moveTo>
                  <a:pt x="0" y="0"/>
                </a:moveTo>
                <a:lnTo>
                  <a:pt x="779462" y="0"/>
                </a:lnTo>
                <a:lnTo>
                  <a:pt x="779462" y="571500"/>
                </a:lnTo>
                <a:lnTo>
                  <a:pt x="0" y="571500"/>
                </a:lnTo>
                <a:lnTo>
                  <a:pt x="0" y="0"/>
                </a:lnTo>
                <a:close/>
              </a:path>
            </a:pathLst>
          </a:custGeom>
        </p:spPr>
      </p:pic>
      <p:sp>
        <p:nvSpPr>
          <p:cNvPr id="19" name="TextBox 18"/>
          <p:cNvSpPr txBox="1"/>
          <p:nvPr/>
        </p:nvSpPr>
        <p:spPr>
          <a:xfrm>
            <a:off x="680638" y="1886455"/>
            <a:ext cx="687178" cy="173603"/>
          </a:xfrm>
          <a:prstGeom prst="rect">
            <a:avLst/>
          </a:prstGeom>
          <a:noFill/>
        </p:spPr>
        <p:txBody>
          <a:bodyPr wrap="none" lIns="0" tIns="0" rIns="0" bIns="0" rtlCol="0">
            <a:noAutofit/>
          </a:bodyPr>
          <a:lstStyle/>
          <a:p>
            <a:pPr algn="ctr"/>
            <a:r>
              <a:rPr lang="en-US" sz="900" b="1" dirty="0"/>
              <a:t>Organization &amp; </a:t>
            </a:r>
          </a:p>
          <a:p>
            <a:pPr algn="ctr"/>
            <a:r>
              <a:rPr lang="en-US" sz="900" b="1" dirty="0"/>
              <a:t>Technology</a:t>
            </a:r>
            <a:endParaRPr lang="en-IN" sz="900" b="1" dirty="0"/>
          </a:p>
        </p:txBody>
      </p:sp>
      <p:sp>
        <p:nvSpPr>
          <p:cNvPr id="20" name="TextBox 19"/>
          <p:cNvSpPr txBox="1"/>
          <p:nvPr/>
        </p:nvSpPr>
        <p:spPr>
          <a:xfrm>
            <a:off x="630183" y="2780082"/>
            <a:ext cx="687178" cy="173603"/>
          </a:xfrm>
          <a:prstGeom prst="rect">
            <a:avLst/>
          </a:prstGeom>
          <a:noFill/>
        </p:spPr>
        <p:txBody>
          <a:bodyPr wrap="none" lIns="0" tIns="0" rIns="0" bIns="0" rtlCol="0">
            <a:noAutofit/>
          </a:bodyPr>
          <a:lstStyle/>
          <a:p>
            <a:pPr algn="ctr"/>
            <a:r>
              <a:rPr lang="en-US" sz="900" b="1" dirty="0"/>
              <a:t>Digitalize </a:t>
            </a:r>
          </a:p>
          <a:p>
            <a:pPr algn="ctr"/>
            <a:r>
              <a:rPr lang="en-US" sz="900" b="1" dirty="0"/>
              <a:t>Enterprise</a:t>
            </a:r>
            <a:endParaRPr lang="en-IN" sz="900" b="1" dirty="0"/>
          </a:p>
        </p:txBody>
      </p:sp>
      <p:sp>
        <p:nvSpPr>
          <p:cNvPr id="21" name="TextBox 20"/>
          <p:cNvSpPr txBox="1"/>
          <p:nvPr/>
        </p:nvSpPr>
        <p:spPr>
          <a:xfrm>
            <a:off x="5699571" y="2505805"/>
            <a:ext cx="609141" cy="153888"/>
          </a:xfrm>
          <a:prstGeom prst="rect">
            <a:avLst/>
          </a:prstGeom>
          <a:noFill/>
        </p:spPr>
        <p:txBody>
          <a:bodyPr wrap="none" lIns="0" tIns="0" rIns="0" bIns="0" rtlCol="0">
            <a:noAutofit/>
          </a:bodyPr>
          <a:lstStyle/>
          <a:p>
            <a:pPr algn="ctr"/>
            <a:r>
              <a:rPr lang="en-US" sz="900" b="1" dirty="0"/>
              <a:t>GDP Contribution </a:t>
            </a:r>
          </a:p>
          <a:p>
            <a:pPr algn="ctr"/>
            <a:r>
              <a:rPr lang="en-US" sz="900" b="1" dirty="0"/>
              <a:t>– ~5.0%</a:t>
            </a:r>
            <a:endParaRPr lang="en-IN" sz="900" b="1" dirty="0"/>
          </a:p>
        </p:txBody>
      </p:sp>
      <p:sp>
        <p:nvSpPr>
          <p:cNvPr id="22" name="TextBox 21"/>
          <p:cNvSpPr txBox="1"/>
          <p:nvPr/>
        </p:nvSpPr>
        <p:spPr>
          <a:xfrm>
            <a:off x="1803731" y="2780082"/>
            <a:ext cx="687178" cy="173603"/>
          </a:xfrm>
          <a:prstGeom prst="rect">
            <a:avLst/>
          </a:prstGeom>
          <a:noFill/>
        </p:spPr>
        <p:txBody>
          <a:bodyPr wrap="none" lIns="0" tIns="0" rIns="0" bIns="0" rtlCol="0">
            <a:noAutofit/>
          </a:bodyPr>
          <a:lstStyle/>
          <a:p>
            <a:pPr algn="ctr"/>
            <a:r>
              <a:rPr lang="en-US" sz="900" b="1" dirty="0"/>
              <a:t>Ecosystem</a:t>
            </a:r>
          </a:p>
          <a:p>
            <a:pPr algn="ctr"/>
            <a:r>
              <a:rPr lang="en-US" sz="900" b="1" dirty="0"/>
              <a:t> Collaboration</a:t>
            </a:r>
            <a:endParaRPr lang="en-IN" sz="900" b="1" dirty="0"/>
          </a:p>
        </p:txBody>
      </p:sp>
      <p:sp>
        <p:nvSpPr>
          <p:cNvPr id="23" name="TextBox 22"/>
          <p:cNvSpPr txBox="1"/>
          <p:nvPr/>
        </p:nvSpPr>
        <p:spPr>
          <a:xfrm>
            <a:off x="3015822" y="1942792"/>
            <a:ext cx="687178" cy="173603"/>
          </a:xfrm>
          <a:prstGeom prst="rect">
            <a:avLst/>
          </a:prstGeom>
          <a:noFill/>
        </p:spPr>
        <p:txBody>
          <a:bodyPr wrap="none" lIns="0" tIns="0" rIns="0" bIns="0" rtlCol="0">
            <a:noAutofit/>
          </a:bodyPr>
          <a:lstStyle/>
          <a:p>
            <a:pPr algn="ctr"/>
            <a:r>
              <a:rPr lang="en-US" sz="900" b="1" dirty="0"/>
              <a:t>Cyber Security</a:t>
            </a:r>
            <a:endParaRPr lang="en-IN" sz="900" b="1" dirty="0"/>
          </a:p>
        </p:txBody>
      </p:sp>
      <p:sp>
        <p:nvSpPr>
          <p:cNvPr id="24" name="TextBox 23"/>
          <p:cNvSpPr txBox="1"/>
          <p:nvPr/>
        </p:nvSpPr>
        <p:spPr>
          <a:xfrm>
            <a:off x="2992555" y="2865276"/>
            <a:ext cx="687178" cy="173603"/>
          </a:xfrm>
          <a:prstGeom prst="rect">
            <a:avLst/>
          </a:prstGeom>
          <a:noFill/>
        </p:spPr>
        <p:txBody>
          <a:bodyPr wrap="none" lIns="0" tIns="0" rIns="0" bIns="0" rtlCol="0">
            <a:noAutofit/>
          </a:bodyPr>
          <a:lstStyle/>
          <a:p>
            <a:pPr algn="ctr"/>
            <a:r>
              <a:rPr lang="en-US" sz="900" b="1" dirty="0"/>
              <a:t>Workforce</a:t>
            </a:r>
            <a:endParaRPr lang="en-IN" sz="900" b="1" dirty="0"/>
          </a:p>
        </p:txBody>
      </p:sp>
      <p:pic>
        <p:nvPicPr>
          <p:cNvPr id="25" name="Picture 24"/>
          <p:cNvPicPr>
            <a:picLocks noChangeAspect="1"/>
          </p:cNvPicPr>
          <p:nvPr/>
        </p:nvPicPr>
        <p:blipFill rotWithShape="1">
          <a:blip r:embed="rId3">
            <a:extLst>
              <a:ext uri="{28A0092B-C50C-407E-A947-70E740481C1C}">
                <a14:useLocalDpi xmlns:a14="http://schemas.microsoft.com/office/drawing/2010/main" val="0"/>
              </a:ext>
            </a:extLst>
          </a:blip>
          <a:srcRect l="71863" t="6679" r="23291" b="85263"/>
          <a:stretch/>
        </p:blipFill>
        <p:spPr>
          <a:xfrm>
            <a:off x="8127781" y="1357965"/>
            <a:ext cx="481013" cy="419100"/>
          </a:xfrm>
          <a:custGeom>
            <a:avLst/>
            <a:gdLst>
              <a:gd name="connsiteX0" fmla="*/ 0 w 481013"/>
              <a:gd name="connsiteY0" fmla="*/ 0 h 419100"/>
              <a:gd name="connsiteX1" fmla="*/ 481013 w 481013"/>
              <a:gd name="connsiteY1" fmla="*/ 0 h 419100"/>
              <a:gd name="connsiteX2" fmla="*/ 481013 w 481013"/>
              <a:gd name="connsiteY2" fmla="*/ 419100 h 419100"/>
              <a:gd name="connsiteX3" fmla="*/ 0 w 481013"/>
              <a:gd name="connsiteY3" fmla="*/ 419100 h 419100"/>
              <a:gd name="connsiteX4" fmla="*/ 0 w 481013"/>
              <a:gd name="connsiteY4" fmla="*/ 0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013" h="419100">
                <a:moveTo>
                  <a:pt x="0" y="0"/>
                </a:moveTo>
                <a:lnTo>
                  <a:pt x="481013" y="0"/>
                </a:lnTo>
                <a:lnTo>
                  <a:pt x="481013" y="419100"/>
                </a:lnTo>
                <a:lnTo>
                  <a:pt x="0" y="419100"/>
                </a:lnTo>
                <a:lnTo>
                  <a:pt x="0" y="0"/>
                </a:lnTo>
                <a:close/>
              </a:path>
            </a:pathLst>
          </a:custGeom>
        </p:spPr>
      </p:pic>
      <p:pic>
        <p:nvPicPr>
          <p:cNvPr id="26" name="Picture 25"/>
          <p:cNvPicPr>
            <a:picLocks noChangeAspect="1"/>
          </p:cNvPicPr>
          <p:nvPr/>
        </p:nvPicPr>
        <p:blipFill rotWithShape="1">
          <a:blip r:embed="rId3">
            <a:extLst>
              <a:ext uri="{28A0092B-C50C-407E-A947-70E740481C1C}">
                <a14:useLocalDpi xmlns:a14="http://schemas.microsoft.com/office/drawing/2010/main" val="0"/>
              </a:ext>
            </a:extLst>
          </a:blip>
          <a:srcRect l="78556" t="6679" r="13359" b="85263"/>
          <a:stretch/>
        </p:blipFill>
        <p:spPr>
          <a:xfrm>
            <a:off x="8998666" y="1336063"/>
            <a:ext cx="802481" cy="419100"/>
          </a:xfrm>
          <a:custGeom>
            <a:avLst/>
            <a:gdLst>
              <a:gd name="connsiteX0" fmla="*/ 0 w 802481"/>
              <a:gd name="connsiteY0" fmla="*/ 0 h 419100"/>
              <a:gd name="connsiteX1" fmla="*/ 802481 w 802481"/>
              <a:gd name="connsiteY1" fmla="*/ 0 h 419100"/>
              <a:gd name="connsiteX2" fmla="*/ 802481 w 802481"/>
              <a:gd name="connsiteY2" fmla="*/ 419100 h 419100"/>
              <a:gd name="connsiteX3" fmla="*/ 0 w 802481"/>
              <a:gd name="connsiteY3" fmla="*/ 419100 h 419100"/>
              <a:gd name="connsiteX4" fmla="*/ 0 w 802481"/>
              <a:gd name="connsiteY4" fmla="*/ 0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481" h="419100">
                <a:moveTo>
                  <a:pt x="0" y="0"/>
                </a:moveTo>
                <a:lnTo>
                  <a:pt x="802481" y="0"/>
                </a:lnTo>
                <a:lnTo>
                  <a:pt x="802481" y="419100"/>
                </a:lnTo>
                <a:lnTo>
                  <a:pt x="0" y="419100"/>
                </a:lnTo>
                <a:lnTo>
                  <a:pt x="0" y="0"/>
                </a:lnTo>
                <a:close/>
              </a:path>
            </a:pathLst>
          </a:custGeom>
        </p:spPr>
      </p:pic>
      <p:pic>
        <p:nvPicPr>
          <p:cNvPr id="27" name="Picture 26"/>
          <p:cNvPicPr>
            <a:picLocks noChangeAspect="1"/>
          </p:cNvPicPr>
          <p:nvPr/>
        </p:nvPicPr>
        <p:blipFill rotWithShape="1">
          <a:blip r:embed="rId3">
            <a:extLst>
              <a:ext uri="{28A0092B-C50C-407E-A947-70E740481C1C}">
                <a14:useLocalDpi xmlns:a14="http://schemas.microsoft.com/office/drawing/2010/main" val="0"/>
              </a:ext>
            </a:extLst>
          </a:blip>
          <a:srcRect l="89472" t="6679" r="4915" b="85263"/>
          <a:stretch/>
        </p:blipFill>
        <p:spPr>
          <a:xfrm>
            <a:off x="10317683" y="1357919"/>
            <a:ext cx="557214" cy="419100"/>
          </a:xfrm>
          <a:custGeom>
            <a:avLst/>
            <a:gdLst>
              <a:gd name="connsiteX0" fmla="*/ 0 w 557214"/>
              <a:gd name="connsiteY0" fmla="*/ 0 h 419100"/>
              <a:gd name="connsiteX1" fmla="*/ 557214 w 557214"/>
              <a:gd name="connsiteY1" fmla="*/ 0 h 419100"/>
              <a:gd name="connsiteX2" fmla="*/ 557214 w 557214"/>
              <a:gd name="connsiteY2" fmla="*/ 419100 h 419100"/>
              <a:gd name="connsiteX3" fmla="*/ 0 w 557214"/>
              <a:gd name="connsiteY3" fmla="*/ 419100 h 419100"/>
              <a:gd name="connsiteX4" fmla="*/ 0 w 557214"/>
              <a:gd name="connsiteY4" fmla="*/ 0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214" h="419100">
                <a:moveTo>
                  <a:pt x="0" y="0"/>
                </a:moveTo>
                <a:lnTo>
                  <a:pt x="557214" y="0"/>
                </a:lnTo>
                <a:lnTo>
                  <a:pt x="557214" y="419100"/>
                </a:lnTo>
                <a:lnTo>
                  <a:pt x="0" y="419100"/>
                </a:lnTo>
                <a:lnTo>
                  <a:pt x="0" y="0"/>
                </a:lnTo>
                <a:close/>
              </a:path>
            </a:pathLst>
          </a:custGeom>
        </p:spPr>
      </p:pic>
      <p:pic>
        <p:nvPicPr>
          <p:cNvPr id="28" name="Picture 27"/>
          <p:cNvPicPr>
            <a:picLocks noChangeAspect="1"/>
          </p:cNvPicPr>
          <p:nvPr/>
        </p:nvPicPr>
        <p:blipFill rotWithShape="1">
          <a:blip r:embed="rId3">
            <a:extLst>
              <a:ext uri="{28A0092B-C50C-407E-A947-70E740481C1C}">
                <a14:useLocalDpi xmlns:a14="http://schemas.microsoft.com/office/drawing/2010/main" val="0"/>
              </a:ext>
            </a:extLst>
          </a:blip>
          <a:srcRect l="71599" t="20872" r="23291" b="68598"/>
          <a:stretch/>
        </p:blipFill>
        <p:spPr>
          <a:xfrm>
            <a:off x="8110853" y="2139200"/>
            <a:ext cx="507207" cy="547687"/>
          </a:xfrm>
          <a:custGeom>
            <a:avLst/>
            <a:gdLst>
              <a:gd name="connsiteX0" fmla="*/ 0 w 507207"/>
              <a:gd name="connsiteY0" fmla="*/ 0 h 547687"/>
              <a:gd name="connsiteX1" fmla="*/ 507207 w 507207"/>
              <a:gd name="connsiteY1" fmla="*/ 0 h 547687"/>
              <a:gd name="connsiteX2" fmla="*/ 507207 w 507207"/>
              <a:gd name="connsiteY2" fmla="*/ 547687 h 547687"/>
              <a:gd name="connsiteX3" fmla="*/ 0 w 507207"/>
              <a:gd name="connsiteY3" fmla="*/ 547687 h 547687"/>
              <a:gd name="connsiteX4" fmla="*/ 0 w 507207"/>
              <a:gd name="connsiteY4" fmla="*/ 0 h 547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207" h="547687">
                <a:moveTo>
                  <a:pt x="0" y="0"/>
                </a:moveTo>
                <a:lnTo>
                  <a:pt x="507207" y="0"/>
                </a:lnTo>
                <a:lnTo>
                  <a:pt x="507207" y="547687"/>
                </a:lnTo>
                <a:lnTo>
                  <a:pt x="0" y="547687"/>
                </a:lnTo>
                <a:lnTo>
                  <a:pt x="0" y="0"/>
                </a:lnTo>
                <a:close/>
              </a:path>
            </a:pathLst>
          </a:custGeom>
        </p:spPr>
      </p:pic>
      <p:pic>
        <p:nvPicPr>
          <p:cNvPr id="29" name="Picture 28"/>
          <p:cNvPicPr>
            <a:picLocks noChangeAspect="1"/>
          </p:cNvPicPr>
          <p:nvPr/>
        </p:nvPicPr>
        <p:blipFill rotWithShape="1">
          <a:blip r:embed="rId3">
            <a:extLst>
              <a:ext uri="{28A0092B-C50C-407E-A947-70E740481C1C}">
                <a14:useLocalDpi xmlns:a14="http://schemas.microsoft.com/office/drawing/2010/main" val="0"/>
              </a:ext>
            </a:extLst>
          </a:blip>
          <a:srcRect l="80536" t="20872" r="14355" b="68598"/>
          <a:stretch/>
        </p:blipFill>
        <p:spPr>
          <a:xfrm>
            <a:off x="9209093" y="2190633"/>
            <a:ext cx="507207" cy="547687"/>
          </a:xfrm>
          <a:custGeom>
            <a:avLst/>
            <a:gdLst>
              <a:gd name="connsiteX0" fmla="*/ 0 w 507207"/>
              <a:gd name="connsiteY0" fmla="*/ 0 h 547687"/>
              <a:gd name="connsiteX1" fmla="*/ 507207 w 507207"/>
              <a:gd name="connsiteY1" fmla="*/ 0 h 547687"/>
              <a:gd name="connsiteX2" fmla="*/ 507207 w 507207"/>
              <a:gd name="connsiteY2" fmla="*/ 547687 h 547687"/>
              <a:gd name="connsiteX3" fmla="*/ 0 w 507207"/>
              <a:gd name="connsiteY3" fmla="*/ 547687 h 547687"/>
              <a:gd name="connsiteX4" fmla="*/ 0 w 507207"/>
              <a:gd name="connsiteY4" fmla="*/ 0 h 547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207" h="547687">
                <a:moveTo>
                  <a:pt x="0" y="0"/>
                </a:moveTo>
                <a:lnTo>
                  <a:pt x="507207" y="0"/>
                </a:lnTo>
                <a:lnTo>
                  <a:pt x="507207" y="547687"/>
                </a:lnTo>
                <a:lnTo>
                  <a:pt x="0" y="547687"/>
                </a:lnTo>
                <a:lnTo>
                  <a:pt x="0" y="0"/>
                </a:lnTo>
                <a:close/>
              </a:path>
            </a:pathLst>
          </a:custGeom>
        </p:spPr>
      </p:pic>
      <p:pic>
        <p:nvPicPr>
          <p:cNvPr id="30" name="Picture 29"/>
          <p:cNvPicPr>
            <a:picLocks noChangeAspect="1"/>
          </p:cNvPicPr>
          <p:nvPr/>
        </p:nvPicPr>
        <p:blipFill rotWithShape="1">
          <a:blip r:embed="rId3">
            <a:extLst>
              <a:ext uri="{28A0092B-C50C-407E-A947-70E740481C1C}">
                <a14:useLocalDpi xmlns:a14="http://schemas.microsoft.com/office/drawing/2010/main" val="0"/>
              </a:ext>
            </a:extLst>
          </a:blip>
          <a:srcRect l="89064" t="20872" r="5322" b="68140"/>
          <a:stretch/>
        </p:blipFill>
        <p:spPr>
          <a:xfrm>
            <a:off x="10256324" y="2148240"/>
            <a:ext cx="557214" cy="571500"/>
          </a:xfrm>
          <a:custGeom>
            <a:avLst/>
            <a:gdLst>
              <a:gd name="connsiteX0" fmla="*/ 0 w 557214"/>
              <a:gd name="connsiteY0" fmla="*/ 0 h 571500"/>
              <a:gd name="connsiteX1" fmla="*/ 557214 w 557214"/>
              <a:gd name="connsiteY1" fmla="*/ 0 h 571500"/>
              <a:gd name="connsiteX2" fmla="*/ 557214 w 557214"/>
              <a:gd name="connsiteY2" fmla="*/ 571500 h 571500"/>
              <a:gd name="connsiteX3" fmla="*/ 0 w 557214"/>
              <a:gd name="connsiteY3" fmla="*/ 571500 h 571500"/>
              <a:gd name="connsiteX4" fmla="*/ 0 w 557214"/>
              <a:gd name="connsiteY4" fmla="*/ 0 h 571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214" h="571500">
                <a:moveTo>
                  <a:pt x="0" y="0"/>
                </a:moveTo>
                <a:lnTo>
                  <a:pt x="557214" y="0"/>
                </a:lnTo>
                <a:lnTo>
                  <a:pt x="557214" y="571500"/>
                </a:lnTo>
                <a:lnTo>
                  <a:pt x="0" y="571500"/>
                </a:lnTo>
                <a:lnTo>
                  <a:pt x="0" y="0"/>
                </a:lnTo>
                <a:close/>
              </a:path>
            </a:pathLst>
          </a:custGeom>
        </p:spPr>
      </p:pic>
      <p:pic>
        <p:nvPicPr>
          <p:cNvPr id="31" name="Picture 30"/>
          <p:cNvPicPr>
            <a:picLocks noChangeAspect="1"/>
          </p:cNvPicPr>
          <p:nvPr/>
        </p:nvPicPr>
        <p:blipFill rotWithShape="1">
          <a:blip r:embed="rId4">
            <a:extLst>
              <a:ext uri="{BEBA8EAE-BF5A-486C-A8C5-ECC9F3942E4B}">
                <a14:imgProps xmlns:a14="http://schemas.microsoft.com/office/drawing/2010/main">
                  <a14:imgLayer r:embed="rId5">
                    <a14:imgEffect>
                      <a14:sharpenSoften amount="43000"/>
                    </a14:imgEffect>
                    <a14:imgEffect>
                      <a14:brightnessContrast bright="25000" contrast="-26000"/>
                    </a14:imgEffect>
                  </a14:imgLayer>
                </a14:imgProps>
              </a:ext>
              <a:ext uri="{28A0092B-C50C-407E-A947-70E740481C1C}">
                <a14:useLocalDpi xmlns:a14="http://schemas.microsoft.com/office/drawing/2010/main" val="0"/>
              </a:ext>
            </a:extLst>
          </a:blip>
          <a:srcRect l="83328" t="38966" r="11562" b="48891"/>
          <a:stretch/>
        </p:blipFill>
        <p:spPr>
          <a:xfrm>
            <a:off x="9458645" y="3172773"/>
            <a:ext cx="677246" cy="843309"/>
          </a:xfrm>
          <a:custGeom>
            <a:avLst/>
            <a:gdLst>
              <a:gd name="connsiteX0" fmla="*/ 0 w 507207"/>
              <a:gd name="connsiteY0" fmla="*/ 0 h 631576"/>
              <a:gd name="connsiteX1" fmla="*/ 507207 w 507207"/>
              <a:gd name="connsiteY1" fmla="*/ 0 h 631576"/>
              <a:gd name="connsiteX2" fmla="*/ 507207 w 507207"/>
              <a:gd name="connsiteY2" fmla="*/ 631576 h 631576"/>
              <a:gd name="connsiteX3" fmla="*/ 0 w 507207"/>
              <a:gd name="connsiteY3" fmla="*/ 631576 h 631576"/>
              <a:gd name="connsiteX4" fmla="*/ 0 w 507207"/>
              <a:gd name="connsiteY4" fmla="*/ 0 h 631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207" h="631576">
                <a:moveTo>
                  <a:pt x="0" y="0"/>
                </a:moveTo>
                <a:lnTo>
                  <a:pt x="507207" y="0"/>
                </a:lnTo>
                <a:lnTo>
                  <a:pt x="507207" y="631576"/>
                </a:lnTo>
                <a:lnTo>
                  <a:pt x="0" y="631576"/>
                </a:lnTo>
                <a:lnTo>
                  <a:pt x="0" y="0"/>
                </a:lnTo>
                <a:close/>
              </a:path>
            </a:pathLst>
          </a:custGeom>
        </p:spPr>
      </p:pic>
      <p:pic>
        <p:nvPicPr>
          <p:cNvPr id="32" name="Picture 31"/>
          <p:cNvPicPr>
            <a:picLocks noChangeAspect="1"/>
          </p:cNvPicPr>
          <p:nvPr/>
        </p:nvPicPr>
        <p:blipFill rotWithShape="1">
          <a:blip r:embed="rId3">
            <a:extLst>
              <a:ext uri="{28A0092B-C50C-407E-A947-70E740481C1C}">
                <a14:useLocalDpi xmlns:a14="http://schemas.microsoft.com/office/drawing/2010/main" val="0"/>
              </a:ext>
            </a:extLst>
          </a:blip>
          <a:srcRect l="73071" t="64611" r="21819" b="25187"/>
          <a:stretch/>
        </p:blipFill>
        <p:spPr>
          <a:xfrm>
            <a:off x="8211239" y="4551302"/>
            <a:ext cx="507207" cy="530642"/>
          </a:xfrm>
          <a:custGeom>
            <a:avLst/>
            <a:gdLst>
              <a:gd name="connsiteX0" fmla="*/ 0 w 507207"/>
              <a:gd name="connsiteY0" fmla="*/ 0 h 530642"/>
              <a:gd name="connsiteX1" fmla="*/ 507207 w 507207"/>
              <a:gd name="connsiteY1" fmla="*/ 0 h 530642"/>
              <a:gd name="connsiteX2" fmla="*/ 507207 w 507207"/>
              <a:gd name="connsiteY2" fmla="*/ 530642 h 530642"/>
              <a:gd name="connsiteX3" fmla="*/ 0 w 507207"/>
              <a:gd name="connsiteY3" fmla="*/ 530642 h 530642"/>
              <a:gd name="connsiteX4" fmla="*/ 0 w 507207"/>
              <a:gd name="connsiteY4" fmla="*/ 0 h 53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207" h="530642">
                <a:moveTo>
                  <a:pt x="0" y="0"/>
                </a:moveTo>
                <a:lnTo>
                  <a:pt x="507207" y="0"/>
                </a:lnTo>
                <a:lnTo>
                  <a:pt x="507207" y="530642"/>
                </a:lnTo>
                <a:lnTo>
                  <a:pt x="0" y="530642"/>
                </a:lnTo>
                <a:lnTo>
                  <a:pt x="0" y="0"/>
                </a:lnTo>
                <a:close/>
              </a:path>
            </a:pathLst>
          </a:custGeom>
        </p:spPr>
      </p:pic>
      <p:pic>
        <p:nvPicPr>
          <p:cNvPr id="33" name="Picture 32"/>
          <p:cNvPicPr>
            <a:picLocks noChangeAspect="1"/>
          </p:cNvPicPr>
          <p:nvPr/>
        </p:nvPicPr>
        <p:blipFill rotWithShape="1">
          <a:blip r:embed="rId3">
            <a:extLst>
              <a:ext uri="{28A0092B-C50C-407E-A947-70E740481C1C}">
                <a14:useLocalDpi xmlns:a14="http://schemas.microsoft.com/office/drawing/2010/main" val="0"/>
              </a:ext>
            </a:extLst>
          </a:blip>
          <a:srcRect l="81049" t="64611" r="13841" b="25187"/>
          <a:stretch/>
        </p:blipFill>
        <p:spPr>
          <a:xfrm>
            <a:off x="9290061" y="4513133"/>
            <a:ext cx="507207" cy="530642"/>
          </a:xfrm>
          <a:custGeom>
            <a:avLst/>
            <a:gdLst>
              <a:gd name="connsiteX0" fmla="*/ 0 w 507207"/>
              <a:gd name="connsiteY0" fmla="*/ 0 h 530642"/>
              <a:gd name="connsiteX1" fmla="*/ 507207 w 507207"/>
              <a:gd name="connsiteY1" fmla="*/ 0 h 530642"/>
              <a:gd name="connsiteX2" fmla="*/ 507207 w 507207"/>
              <a:gd name="connsiteY2" fmla="*/ 530642 h 530642"/>
              <a:gd name="connsiteX3" fmla="*/ 0 w 507207"/>
              <a:gd name="connsiteY3" fmla="*/ 530642 h 530642"/>
              <a:gd name="connsiteX4" fmla="*/ 0 w 507207"/>
              <a:gd name="connsiteY4" fmla="*/ 0 h 53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207" h="530642">
                <a:moveTo>
                  <a:pt x="0" y="0"/>
                </a:moveTo>
                <a:lnTo>
                  <a:pt x="507207" y="0"/>
                </a:lnTo>
                <a:lnTo>
                  <a:pt x="507207" y="530642"/>
                </a:lnTo>
                <a:lnTo>
                  <a:pt x="0" y="530642"/>
                </a:lnTo>
                <a:lnTo>
                  <a:pt x="0" y="0"/>
                </a:lnTo>
                <a:close/>
              </a:path>
            </a:pathLst>
          </a:custGeom>
        </p:spPr>
      </p:pic>
      <p:pic>
        <p:nvPicPr>
          <p:cNvPr id="34" name="Picture 33"/>
          <p:cNvPicPr>
            <a:picLocks noChangeAspect="1"/>
          </p:cNvPicPr>
          <p:nvPr/>
        </p:nvPicPr>
        <p:blipFill rotWithShape="1">
          <a:blip r:embed="rId3">
            <a:extLst>
              <a:ext uri="{28A0092B-C50C-407E-A947-70E740481C1C}">
                <a14:useLocalDpi xmlns:a14="http://schemas.microsoft.com/office/drawing/2010/main" val="0"/>
              </a:ext>
            </a:extLst>
          </a:blip>
          <a:srcRect l="89316" t="65099" r="5574" b="25744"/>
          <a:stretch/>
        </p:blipFill>
        <p:spPr>
          <a:xfrm>
            <a:off x="10287881" y="4484510"/>
            <a:ext cx="507207" cy="476250"/>
          </a:xfrm>
          <a:custGeom>
            <a:avLst/>
            <a:gdLst>
              <a:gd name="connsiteX0" fmla="*/ 0 w 507207"/>
              <a:gd name="connsiteY0" fmla="*/ 0 h 476250"/>
              <a:gd name="connsiteX1" fmla="*/ 507207 w 507207"/>
              <a:gd name="connsiteY1" fmla="*/ 0 h 476250"/>
              <a:gd name="connsiteX2" fmla="*/ 507207 w 507207"/>
              <a:gd name="connsiteY2" fmla="*/ 476250 h 476250"/>
              <a:gd name="connsiteX3" fmla="*/ 0 w 507207"/>
              <a:gd name="connsiteY3" fmla="*/ 476250 h 476250"/>
              <a:gd name="connsiteX4" fmla="*/ 0 w 507207"/>
              <a:gd name="connsiteY4" fmla="*/ 0 h 476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207" h="476250">
                <a:moveTo>
                  <a:pt x="0" y="0"/>
                </a:moveTo>
                <a:lnTo>
                  <a:pt x="507207" y="0"/>
                </a:lnTo>
                <a:lnTo>
                  <a:pt x="507207" y="476250"/>
                </a:lnTo>
                <a:lnTo>
                  <a:pt x="0" y="476250"/>
                </a:lnTo>
                <a:lnTo>
                  <a:pt x="0" y="0"/>
                </a:lnTo>
                <a:close/>
              </a:path>
            </a:pathLst>
          </a:custGeom>
        </p:spPr>
      </p:pic>
      <p:pic>
        <p:nvPicPr>
          <p:cNvPr id="35" name="Picture 34"/>
          <p:cNvPicPr>
            <a:picLocks noChangeAspect="1"/>
          </p:cNvPicPr>
          <p:nvPr/>
        </p:nvPicPr>
        <p:blipFill rotWithShape="1">
          <a:blip r:embed="rId3">
            <a:extLst>
              <a:ext uri="{28A0092B-C50C-407E-A947-70E740481C1C}">
                <a14:useLocalDpi xmlns:a14="http://schemas.microsoft.com/office/drawing/2010/main" val="0"/>
              </a:ext>
            </a:extLst>
          </a:blip>
          <a:srcRect l="72663" t="80162" r="22227" b="9712"/>
          <a:stretch/>
        </p:blipFill>
        <p:spPr>
          <a:xfrm>
            <a:off x="8181105" y="5286733"/>
            <a:ext cx="507207" cy="526674"/>
          </a:xfrm>
          <a:custGeom>
            <a:avLst/>
            <a:gdLst>
              <a:gd name="connsiteX0" fmla="*/ 0 w 507207"/>
              <a:gd name="connsiteY0" fmla="*/ 0 h 526674"/>
              <a:gd name="connsiteX1" fmla="*/ 507207 w 507207"/>
              <a:gd name="connsiteY1" fmla="*/ 0 h 526674"/>
              <a:gd name="connsiteX2" fmla="*/ 507207 w 507207"/>
              <a:gd name="connsiteY2" fmla="*/ 526674 h 526674"/>
              <a:gd name="connsiteX3" fmla="*/ 0 w 507207"/>
              <a:gd name="connsiteY3" fmla="*/ 526674 h 526674"/>
              <a:gd name="connsiteX4" fmla="*/ 0 w 507207"/>
              <a:gd name="connsiteY4" fmla="*/ 0 h 526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207" h="526674">
                <a:moveTo>
                  <a:pt x="0" y="0"/>
                </a:moveTo>
                <a:lnTo>
                  <a:pt x="507207" y="0"/>
                </a:lnTo>
                <a:lnTo>
                  <a:pt x="507207" y="526674"/>
                </a:lnTo>
                <a:lnTo>
                  <a:pt x="0" y="526674"/>
                </a:lnTo>
                <a:lnTo>
                  <a:pt x="0" y="0"/>
                </a:lnTo>
                <a:close/>
              </a:path>
            </a:pathLst>
          </a:custGeom>
        </p:spPr>
      </p:pic>
      <p:pic>
        <p:nvPicPr>
          <p:cNvPr id="36" name="Picture 35"/>
          <p:cNvPicPr>
            <a:picLocks noChangeAspect="1"/>
          </p:cNvPicPr>
          <p:nvPr/>
        </p:nvPicPr>
        <p:blipFill rotWithShape="1">
          <a:blip r:embed="rId3">
            <a:extLst>
              <a:ext uri="{28A0092B-C50C-407E-A947-70E740481C1C}">
                <a14:useLocalDpi xmlns:a14="http://schemas.microsoft.com/office/drawing/2010/main" val="0"/>
              </a:ext>
            </a:extLst>
          </a:blip>
          <a:srcRect l="81049" t="80162" r="13841" b="9712"/>
          <a:stretch/>
        </p:blipFill>
        <p:spPr>
          <a:xfrm>
            <a:off x="9355881" y="5300210"/>
            <a:ext cx="507207" cy="526674"/>
          </a:xfrm>
          <a:custGeom>
            <a:avLst/>
            <a:gdLst>
              <a:gd name="connsiteX0" fmla="*/ 0 w 507207"/>
              <a:gd name="connsiteY0" fmla="*/ 0 h 526674"/>
              <a:gd name="connsiteX1" fmla="*/ 507207 w 507207"/>
              <a:gd name="connsiteY1" fmla="*/ 0 h 526674"/>
              <a:gd name="connsiteX2" fmla="*/ 507207 w 507207"/>
              <a:gd name="connsiteY2" fmla="*/ 526674 h 526674"/>
              <a:gd name="connsiteX3" fmla="*/ 0 w 507207"/>
              <a:gd name="connsiteY3" fmla="*/ 526674 h 526674"/>
              <a:gd name="connsiteX4" fmla="*/ 0 w 507207"/>
              <a:gd name="connsiteY4" fmla="*/ 0 h 526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207" h="526674">
                <a:moveTo>
                  <a:pt x="0" y="0"/>
                </a:moveTo>
                <a:lnTo>
                  <a:pt x="507207" y="0"/>
                </a:lnTo>
                <a:lnTo>
                  <a:pt x="507207" y="526674"/>
                </a:lnTo>
                <a:lnTo>
                  <a:pt x="0" y="526674"/>
                </a:lnTo>
                <a:lnTo>
                  <a:pt x="0" y="0"/>
                </a:lnTo>
                <a:close/>
              </a:path>
            </a:pathLst>
          </a:custGeom>
        </p:spPr>
      </p:pic>
      <p:pic>
        <p:nvPicPr>
          <p:cNvPr id="37" name="Picture 36"/>
          <p:cNvPicPr>
            <a:picLocks noChangeAspect="1"/>
          </p:cNvPicPr>
          <p:nvPr/>
        </p:nvPicPr>
        <p:blipFill rotWithShape="1">
          <a:blip r:embed="rId3">
            <a:extLst>
              <a:ext uri="{28A0092B-C50C-407E-A947-70E740481C1C}">
                <a14:useLocalDpi xmlns:a14="http://schemas.microsoft.com/office/drawing/2010/main" val="0"/>
              </a:ext>
            </a:extLst>
          </a:blip>
          <a:srcRect l="89976" t="80162" r="4915" b="9712"/>
          <a:stretch/>
        </p:blipFill>
        <p:spPr>
          <a:xfrm>
            <a:off x="10317683" y="5345534"/>
            <a:ext cx="507207" cy="526674"/>
          </a:xfrm>
          <a:custGeom>
            <a:avLst/>
            <a:gdLst>
              <a:gd name="connsiteX0" fmla="*/ 0 w 507207"/>
              <a:gd name="connsiteY0" fmla="*/ 0 h 526674"/>
              <a:gd name="connsiteX1" fmla="*/ 507207 w 507207"/>
              <a:gd name="connsiteY1" fmla="*/ 0 h 526674"/>
              <a:gd name="connsiteX2" fmla="*/ 507207 w 507207"/>
              <a:gd name="connsiteY2" fmla="*/ 526674 h 526674"/>
              <a:gd name="connsiteX3" fmla="*/ 0 w 507207"/>
              <a:gd name="connsiteY3" fmla="*/ 526674 h 526674"/>
              <a:gd name="connsiteX4" fmla="*/ 0 w 507207"/>
              <a:gd name="connsiteY4" fmla="*/ 0 h 526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207" h="526674">
                <a:moveTo>
                  <a:pt x="0" y="0"/>
                </a:moveTo>
                <a:lnTo>
                  <a:pt x="507207" y="0"/>
                </a:lnTo>
                <a:lnTo>
                  <a:pt x="507207" y="526674"/>
                </a:lnTo>
                <a:lnTo>
                  <a:pt x="0" y="526674"/>
                </a:lnTo>
                <a:lnTo>
                  <a:pt x="0" y="0"/>
                </a:lnTo>
                <a:close/>
              </a:path>
            </a:pathLst>
          </a:custGeom>
        </p:spPr>
      </p:pic>
      <p:sp>
        <p:nvSpPr>
          <p:cNvPr id="38" name="TextBox 37"/>
          <p:cNvSpPr txBox="1"/>
          <p:nvPr/>
        </p:nvSpPr>
        <p:spPr>
          <a:xfrm>
            <a:off x="8063717" y="1867552"/>
            <a:ext cx="609141" cy="153888"/>
          </a:xfrm>
          <a:prstGeom prst="rect">
            <a:avLst/>
          </a:prstGeom>
          <a:noFill/>
        </p:spPr>
        <p:txBody>
          <a:bodyPr wrap="none" lIns="0" tIns="0" rIns="0" bIns="0" rtlCol="0">
            <a:noAutofit/>
          </a:bodyPr>
          <a:lstStyle/>
          <a:p>
            <a:pPr algn="ctr"/>
            <a:r>
              <a:rPr lang="en-US" sz="900" b="1" dirty="0"/>
              <a:t>Cultural Change</a:t>
            </a:r>
            <a:endParaRPr lang="en-IN" sz="900" b="1" dirty="0"/>
          </a:p>
        </p:txBody>
      </p:sp>
      <p:sp>
        <p:nvSpPr>
          <p:cNvPr id="39" name="TextBox 38"/>
          <p:cNvSpPr txBox="1"/>
          <p:nvPr/>
        </p:nvSpPr>
        <p:spPr>
          <a:xfrm>
            <a:off x="8092544" y="2673168"/>
            <a:ext cx="609141" cy="153888"/>
          </a:xfrm>
          <a:prstGeom prst="rect">
            <a:avLst/>
          </a:prstGeom>
          <a:noFill/>
        </p:spPr>
        <p:txBody>
          <a:bodyPr wrap="none" lIns="0" tIns="0" rIns="0" bIns="0" rtlCol="0">
            <a:noAutofit/>
          </a:bodyPr>
          <a:lstStyle/>
          <a:p>
            <a:pPr algn="ctr"/>
            <a:r>
              <a:rPr lang="en-US" sz="900" b="1" dirty="0"/>
              <a:t>Innovative </a:t>
            </a:r>
          </a:p>
          <a:p>
            <a:pPr algn="ctr"/>
            <a:r>
              <a:rPr lang="en-US" sz="900" b="1" dirty="0"/>
              <a:t>Business Model</a:t>
            </a:r>
            <a:endParaRPr lang="en-IN" sz="900" b="1" dirty="0"/>
          </a:p>
        </p:txBody>
      </p:sp>
      <p:sp>
        <p:nvSpPr>
          <p:cNvPr id="40" name="TextBox 39"/>
          <p:cNvSpPr txBox="1"/>
          <p:nvPr/>
        </p:nvSpPr>
        <p:spPr>
          <a:xfrm>
            <a:off x="9229699" y="1815269"/>
            <a:ext cx="609141" cy="153888"/>
          </a:xfrm>
          <a:prstGeom prst="rect">
            <a:avLst/>
          </a:prstGeom>
          <a:noFill/>
        </p:spPr>
        <p:txBody>
          <a:bodyPr wrap="none" lIns="0" tIns="0" rIns="0" bIns="0" rtlCol="0">
            <a:noAutofit/>
          </a:bodyPr>
          <a:lstStyle/>
          <a:p>
            <a:pPr algn="ctr"/>
            <a:r>
              <a:rPr lang="en-US" sz="900" b="1" dirty="0"/>
              <a:t>Workforce Connected </a:t>
            </a:r>
          </a:p>
          <a:p>
            <a:pPr algn="ctr"/>
            <a:r>
              <a:rPr lang="en-US" sz="900" b="1" dirty="0"/>
              <a:t>with Digital Change</a:t>
            </a:r>
            <a:endParaRPr lang="en-IN" sz="900" b="1" dirty="0"/>
          </a:p>
        </p:txBody>
      </p:sp>
      <p:sp>
        <p:nvSpPr>
          <p:cNvPr id="41" name="TextBox 40"/>
          <p:cNvSpPr txBox="1"/>
          <p:nvPr/>
        </p:nvSpPr>
        <p:spPr>
          <a:xfrm>
            <a:off x="10291719" y="1821494"/>
            <a:ext cx="609141" cy="153888"/>
          </a:xfrm>
          <a:prstGeom prst="rect">
            <a:avLst/>
          </a:prstGeom>
          <a:noFill/>
        </p:spPr>
        <p:txBody>
          <a:bodyPr wrap="none" lIns="0" tIns="0" rIns="0" bIns="0" rtlCol="0">
            <a:noAutofit/>
          </a:bodyPr>
          <a:lstStyle/>
          <a:p>
            <a:pPr algn="ctr"/>
            <a:r>
              <a:rPr lang="en-US" sz="900" b="1" dirty="0"/>
              <a:t>Digital Strategy</a:t>
            </a:r>
            <a:endParaRPr lang="en-IN" sz="900" b="1" dirty="0"/>
          </a:p>
        </p:txBody>
      </p:sp>
      <p:sp>
        <p:nvSpPr>
          <p:cNvPr id="42" name="TextBox 41"/>
          <p:cNvSpPr txBox="1"/>
          <p:nvPr/>
        </p:nvSpPr>
        <p:spPr>
          <a:xfrm>
            <a:off x="9158126" y="2730580"/>
            <a:ext cx="609141" cy="153888"/>
          </a:xfrm>
          <a:prstGeom prst="rect">
            <a:avLst/>
          </a:prstGeom>
          <a:noFill/>
        </p:spPr>
        <p:txBody>
          <a:bodyPr wrap="none" lIns="0" tIns="0" rIns="0" bIns="0" rtlCol="0">
            <a:noAutofit/>
          </a:bodyPr>
          <a:lstStyle/>
          <a:p>
            <a:pPr algn="ctr"/>
            <a:r>
              <a:rPr lang="en-US" sz="900" b="1" dirty="0"/>
              <a:t>Ensure Cyber</a:t>
            </a:r>
          </a:p>
          <a:p>
            <a:pPr algn="ctr"/>
            <a:r>
              <a:rPr lang="en-US" sz="900" b="1" dirty="0"/>
              <a:t> Security</a:t>
            </a:r>
            <a:endParaRPr lang="en-IN" sz="900" b="1" dirty="0"/>
          </a:p>
        </p:txBody>
      </p:sp>
      <p:sp>
        <p:nvSpPr>
          <p:cNvPr id="43" name="TextBox 42"/>
          <p:cNvSpPr txBox="1"/>
          <p:nvPr/>
        </p:nvSpPr>
        <p:spPr>
          <a:xfrm>
            <a:off x="10230362" y="2688188"/>
            <a:ext cx="609141" cy="153888"/>
          </a:xfrm>
          <a:prstGeom prst="rect">
            <a:avLst/>
          </a:prstGeom>
          <a:noFill/>
        </p:spPr>
        <p:txBody>
          <a:bodyPr wrap="none" lIns="0" tIns="0" rIns="0" bIns="0" rtlCol="0">
            <a:noAutofit/>
          </a:bodyPr>
          <a:lstStyle/>
          <a:p>
            <a:pPr algn="ctr"/>
            <a:r>
              <a:rPr lang="en-US" sz="900" b="1" dirty="0"/>
              <a:t>Regulation &amp; Policies</a:t>
            </a:r>
            <a:endParaRPr lang="en-IN" sz="900" b="1" dirty="0"/>
          </a:p>
        </p:txBody>
      </p:sp>
      <p:sp>
        <p:nvSpPr>
          <p:cNvPr id="44" name="TextBox 43"/>
          <p:cNvSpPr txBox="1"/>
          <p:nvPr/>
        </p:nvSpPr>
        <p:spPr>
          <a:xfrm>
            <a:off x="8138521" y="5025056"/>
            <a:ext cx="609141" cy="153888"/>
          </a:xfrm>
          <a:prstGeom prst="rect">
            <a:avLst/>
          </a:prstGeom>
          <a:noFill/>
        </p:spPr>
        <p:txBody>
          <a:bodyPr wrap="none" lIns="0" tIns="0" rIns="0" bIns="0" rtlCol="0">
            <a:noAutofit/>
          </a:bodyPr>
          <a:lstStyle/>
          <a:p>
            <a:pPr algn="ctr"/>
            <a:r>
              <a:rPr lang="en-US" sz="900" b="1" dirty="0"/>
              <a:t>Data </a:t>
            </a:r>
          </a:p>
          <a:p>
            <a:pPr algn="ctr"/>
            <a:r>
              <a:rPr lang="en-US" sz="900" b="1" dirty="0"/>
              <a:t>Management </a:t>
            </a:r>
            <a:endParaRPr lang="en-IN" sz="900" b="1" dirty="0"/>
          </a:p>
        </p:txBody>
      </p:sp>
      <p:sp>
        <p:nvSpPr>
          <p:cNvPr id="45" name="TextBox 44"/>
          <p:cNvSpPr txBox="1"/>
          <p:nvPr/>
        </p:nvSpPr>
        <p:spPr>
          <a:xfrm>
            <a:off x="8130138" y="5840989"/>
            <a:ext cx="609141" cy="153888"/>
          </a:xfrm>
          <a:prstGeom prst="rect">
            <a:avLst/>
          </a:prstGeom>
          <a:noFill/>
        </p:spPr>
        <p:txBody>
          <a:bodyPr wrap="none" lIns="0" tIns="0" rIns="0" bIns="0" rtlCol="0">
            <a:noAutofit/>
          </a:bodyPr>
          <a:lstStyle/>
          <a:p>
            <a:pPr algn="ctr"/>
            <a:r>
              <a:rPr lang="en-US" sz="900" b="1" dirty="0"/>
              <a:t>Profitable </a:t>
            </a:r>
          </a:p>
          <a:p>
            <a:pPr algn="ctr"/>
            <a:r>
              <a:rPr lang="en-US" sz="900" b="1" dirty="0"/>
              <a:t>Operation</a:t>
            </a:r>
            <a:endParaRPr lang="en-IN" sz="900" b="1" dirty="0"/>
          </a:p>
        </p:txBody>
      </p:sp>
      <p:sp>
        <p:nvSpPr>
          <p:cNvPr id="46" name="TextBox 45"/>
          <p:cNvSpPr txBox="1"/>
          <p:nvPr/>
        </p:nvSpPr>
        <p:spPr>
          <a:xfrm>
            <a:off x="9239094" y="5095133"/>
            <a:ext cx="609141" cy="153888"/>
          </a:xfrm>
          <a:prstGeom prst="rect">
            <a:avLst/>
          </a:prstGeom>
          <a:noFill/>
        </p:spPr>
        <p:txBody>
          <a:bodyPr wrap="none" lIns="0" tIns="0" rIns="0" bIns="0" rtlCol="0">
            <a:noAutofit/>
          </a:bodyPr>
          <a:lstStyle/>
          <a:p>
            <a:pPr algn="ctr"/>
            <a:r>
              <a:rPr lang="en-US" sz="900" b="1" dirty="0"/>
              <a:t>Innovation</a:t>
            </a:r>
            <a:endParaRPr lang="en-IN" sz="900" b="1" dirty="0"/>
          </a:p>
        </p:txBody>
      </p:sp>
      <p:sp>
        <p:nvSpPr>
          <p:cNvPr id="47" name="TextBox 46"/>
          <p:cNvSpPr txBox="1"/>
          <p:nvPr/>
        </p:nvSpPr>
        <p:spPr>
          <a:xfrm>
            <a:off x="9304914" y="5854466"/>
            <a:ext cx="609141" cy="153888"/>
          </a:xfrm>
          <a:prstGeom prst="rect">
            <a:avLst/>
          </a:prstGeom>
          <a:noFill/>
        </p:spPr>
        <p:txBody>
          <a:bodyPr wrap="none" lIns="0" tIns="0" rIns="0" bIns="0" rtlCol="0">
            <a:noAutofit/>
          </a:bodyPr>
          <a:lstStyle/>
          <a:p>
            <a:pPr algn="ctr"/>
            <a:r>
              <a:rPr lang="en-US" sz="900" b="1" dirty="0"/>
              <a:t>Process </a:t>
            </a:r>
          </a:p>
          <a:p>
            <a:pPr algn="ctr"/>
            <a:r>
              <a:rPr lang="en-US" sz="900" b="1" dirty="0"/>
              <a:t>Optimization</a:t>
            </a:r>
            <a:endParaRPr lang="en-IN" sz="900" b="1" dirty="0"/>
          </a:p>
        </p:txBody>
      </p:sp>
      <p:sp>
        <p:nvSpPr>
          <p:cNvPr id="48" name="TextBox 47"/>
          <p:cNvSpPr txBox="1"/>
          <p:nvPr/>
        </p:nvSpPr>
        <p:spPr>
          <a:xfrm>
            <a:off x="10287881" y="4983134"/>
            <a:ext cx="609141" cy="153888"/>
          </a:xfrm>
          <a:prstGeom prst="rect">
            <a:avLst/>
          </a:prstGeom>
          <a:noFill/>
        </p:spPr>
        <p:txBody>
          <a:bodyPr wrap="none" lIns="0" tIns="0" rIns="0" bIns="0" rtlCol="0">
            <a:noAutofit/>
          </a:bodyPr>
          <a:lstStyle/>
          <a:p>
            <a:pPr algn="ctr"/>
            <a:r>
              <a:rPr lang="en-US" sz="900" b="1" dirty="0"/>
              <a:t>Supply Chain</a:t>
            </a:r>
          </a:p>
          <a:p>
            <a:pPr algn="ctr"/>
            <a:r>
              <a:rPr lang="en-US" sz="900" b="1" dirty="0"/>
              <a:t> Network</a:t>
            </a:r>
            <a:endParaRPr lang="en-IN" sz="900" b="1" dirty="0"/>
          </a:p>
        </p:txBody>
      </p:sp>
      <p:sp>
        <p:nvSpPr>
          <p:cNvPr id="49" name="TextBox 48"/>
          <p:cNvSpPr txBox="1"/>
          <p:nvPr/>
        </p:nvSpPr>
        <p:spPr>
          <a:xfrm>
            <a:off x="10266716" y="5899790"/>
            <a:ext cx="609141" cy="153888"/>
          </a:xfrm>
          <a:prstGeom prst="rect">
            <a:avLst/>
          </a:prstGeom>
          <a:noFill/>
        </p:spPr>
        <p:txBody>
          <a:bodyPr wrap="none" lIns="0" tIns="0" rIns="0" bIns="0" rtlCol="0">
            <a:noAutofit/>
          </a:bodyPr>
          <a:lstStyle/>
          <a:p>
            <a:pPr algn="ctr"/>
            <a:r>
              <a:rPr lang="en-US" sz="900" b="1" dirty="0"/>
              <a:t>Increase </a:t>
            </a:r>
          </a:p>
          <a:p>
            <a:pPr algn="ctr"/>
            <a:r>
              <a:rPr lang="en-US" sz="900" b="1" dirty="0"/>
              <a:t>Productivity</a:t>
            </a:r>
            <a:endParaRPr lang="en-IN" sz="900" b="1" dirty="0"/>
          </a:p>
        </p:txBody>
      </p:sp>
      <p:pic>
        <p:nvPicPr>
          <p:cNvPr id="50" name="Picture 49"/>
          <p:cNvPicPr>
            <a:picLocks noChangeAspect="1"/>
          </p:cNvPicPr>
          <p:nvPr/>
        </p:nvPicPr>
        <p:blipFill rotWithShape="1">
          <a:blip r:embed="rId6">
            <a:clrChange>
              <a:clrFrom>
                <a:srgbClr val="FFFFFF"/>
              </a:clrFrom>
              <a:clrTo>
                <a:srgbClr val="FFFFFF">
                  <a:alpha val="0"/>
                </a:srgbClr>
              </a:clrTo>
            </a:clrChange>
            <a:duotone>
              <a:schemeClr val="accent2">
                <a:shade val="45000"/>
                <a:satMod val="135000"/>
              </a:schemeClr>
              <a:prstClr val="white"/>
            </a:duotone>
            <a:extLst>
              <a:ext uri="{BEBA8EAE-BF5A-486C-A8C5-ECC9F3942E4B}">
                <a14:imgProps xmlns:a14="http://schemas.microsoft.com/office/drawing/2010/main">
                  <a14:imgLayer r:embed="rId7">
                    <a14:imgEffect>
                      <a14:sharpenSoften amount="91000"/>
                    </a14:imgEffect>
                    <a14:imgEffect>
                      <a14:brightnessContrast bright="59000"/>
                    </a14:imgEffect>
                  </a14:imgLayer>
                </a14:imgProps>
              </a:ext>
              <a:ext uri="{28A0092B-C50C-407E-A947-70E740481C1C}">
                <a14:useLocalDpi xmlns:a14="http://schemas.microsoft.com/office/drawing/2010/main" val="0"/>
              </a:ext>
            </a:extLst>
          </a:blip>
          <a:srcRect l="20297" r="16044"/>
          <a:stretch/>
        </p:blipFill>
        <p:spPr>
          <a:xfrm>
            <a:off x="2219859" y="3233217"/>
            <a:ext cx="736661" cy="822217"/>
          </a:xfrm>
          <a:prstGeom prst="rect">
            <a:avLst/>
          </a:prstGeom>
        </p:spPr>
      </p:pic>
      <p:pic>
        <p:nvPicPr>
          <p:cNvPr id="51" name="Picture 50"/>
          <p:cNvPicPr>
            <a:picLocks noChangeAspect="1"/>
          </p:cNvPicPr>
          <p:nvPr/>
        </p:nvPicPr>
        <p:blipFill>
          <a:blip r:embed="rId8" cstate="print">
            <a:extLst>
              <a:ext uri="{BEBA8EAE-BF5A-486C-A8C5-ECC9F3942E4B}">
                <a14:imgProps xmlns:a14="http://schemas.microsoft.com/office/drawing/2010/main">
                  <a14:imgLayer r:embed="rId9">
                    <a14:imgEffect>
                      <a14:sharpenSoften amount="50000"/>
                    </a14:imgEffect>
                    <a14:imgEffect>
                      <a14:brightnessContrast bright="33000"/>
                    </a14:imgEffect>
                  </a14:imgLayer>
                </a14:imgProps>
              </a:ext>
              <a:ext uri="{28A0092B-C50C-407E-A947-70E740481C1C}">
                <a14:useLocalDpi xmlns:a14="http://schemas.microsoft.com/office/drawing/2010/main" val="0"/>
              </a:ext>
            </a:extLst>
          </a:blip>
          <a:stretch>
            <a:fillRect/>
          </a:stretch>
        </p:blipFill>
        <p:spPr>
          <a:xfrm>
            <a:off x="4786044" y="5244896"/>
            <a:ext cx="566507" cy="566507"/>
          </a:xfrm>
          <a:prstGeom prst="rect">
            <a:avLst/>
          </a:prstGeom>
        </p:spPr>
      </p:pic>
      <p:pic>
        <p:nvPicPr>
          <p:cNvPr id="52" name="Picture 51"/>
          <p:cNvPicPr>
            <a:picLocks noChangeAspect="1"/>
          </p:cNvPicPr>
          <p:nvPr/>
        </p:nvPicPr>
        <p:blipFill>
          <a:blip r:embed="rId10" cstate="print">
            <a:clrChange>
              <a:clrFrom>
                <a:srgbClr val="FFFFFF"/>
              </a:clrFrom>
              <a:clrTo>
                <a:srgbClr val="FFFFFF">
                  <a:alpha val="0"/>
                </a:srgbClr>
              </a:clrTo>
            </a:clrChange>
            <a:duotone>
              <a:prstClr val="black"/>
              <a:schemeClr val="accent6">
                <a:tint val="45000"/>
                <a:satMod val="400000"/>
              </a:schemeClr>
            </a:duotone>
            <a:extLst>
              <a:ext uri="{BEBA8EAE-BF5A-486C-A8C5-ECC9F3942E4B}">
                <a14:imgProps xmlns:a14="http://schemas.microsoft.com/office/drawing/2010/main">
                  <a14:imgLayer r:embed="rId11">
                    <a14:imgEffect>
                      <a14:sharpenSoften amount="100000"/>
                    </a14:imgEffect>
                    <a14:imgEffect>
                      <a14:brightnessContrast bright="38000" contrast="20000"/>
                    </a14:imgEffect>
                  </a14:imgLayer>
                </a14:imgProps>
              </a:ext>
              <a:ext uri="{28A0092B-C50C-407E-A947-70E740481C1C}">
                <a14:useLocalDpi xmlns:a14="http://schemas.microsoft.com/office/drawing/2010/main" val="0"/>
              </a:ext>
            </a:extLst>
          </a:blip>
          <a:stretch>
            <a:fillRect/>
          </a:stretch>
        </p:blipFill>
        <p:spPr>
          <a:xfrm>
            <a:off x="7063958" y="5140310"/>
            <a:ext cx="607656" cy="729187"/>
          </a:xfrm>
          <a:prstGeom prst="rect">
            <a:avLst/>
          </a:prstGeom>
        </p:spPr>
      </p:pic>
      <p:pic>
        <p:nvPicPr>
          <p:cNvPr id="53" name="Picture 52"/>
          <p:cNvPicPr>
            <a:picLocks noChangeAspect="1"/>
          </p:cNvPicPr>
          <p:nvPr/>
        </p:nvPicPr>
        <p:blipFill rotWithShape="1">
          <a:blip r:embed="rId12" cstate="print">
            <a:clrChange>
              <a:clrFrom>
                <a:srgbClr val="FFFFFF"/>
              </a:clrFrom>
              <a:clrTo>
                <a:srgbClr val="FFFFFF">
                  <a:alpha val="0"/>
                </a:srgbClr>
              </a:clrTo>
            </a:clrChange>
            <a:duotone>
              <a:schemeClr val="accent3">
                <a:shade val="45000"/>
                <a:satMod val="135000"/>
              </a:schemeClr>
              <a:prstClr val="white"/>
            </a:duotone>
            <a:extLst>
              <a:ext uri="{28A0092B-C50C-407E-A947-70E740481C1C}">
                <a14:useLocalDpi xmlns:a14="http://schemas.microsoft.com/office/drawing/2010/main" val="0"/>
              </a:ext>
            </a:extLst>
          </a:blip>
          <a:srcRect l="23111" t="22596" r="23141" b="23004"/>
          <a:stretch/>
        </p:blipFill>
        <p:spPr>
          <a:xfrm>
            <a:off x="5819306" y="2759923"/>
            <a:ext cx="441289" cy="446643"/>
          </a:xfrm>
          <a:prstGeom prst="ellipse">
            <a:avLst/>
          </a:prstGeom>
        </p:spPr>
      </p:pic>
      <p:pic>
        <p:nvPicPr>
          <p:cNvPr id="54" name="Picture 53"/>
          <p:cNvPicPr>
            <a:picLocks noChangeAspect="1"/>
          </p:cNvPicPr>
          <p:nvPr/>
        </p:nvPicPr>
        <p:blipFill rotWithShape="1">
          <a:blip r:embed="rId13" cstate="print">
            <a:clrChange>
              <a:clrFrom>
                <a:srgbClr val="FFFFFF"/>
              </a:clrFrom>
              <a:clrTo>
                <a:srgbClr val="FFFFFF">
                  <a:alpha val="0"/>
                </a:srgbClr>
              </a:clrTo>
            </a:clrChange>
            <a:duotone>
              <a:schemeClr val="accent3">
                <a:shade val="45000"/>
                <a:satMod val="135000"/>
              </a:schemeClr>
              <a:prstClr val="white"/>
            </a:duotone>
            <a:extLst>
              <a:ext uri="{28A0092B-C50C-407E-A947-70E740481C1C}">
                <a14:useLocalDpi xmlns:a14="http://schemas.microsoft.com/office/drawing/2010/main" val="0"/>
              </a:ext>
            </a:extLst>
          </a:blip>
          <a:srcRect l="10445" t="8667" r="9778" b="7333"/>
          <a:stretch/>
        </p:blipFill>
        <p:spPr>
          <a:xfrm>
            <a:off x="4829376" y="3044453"/>
            <a:ext cx="446854" cy="470504"/>
          </a:xfrm>
          <a:prstGeom prst="rect">
            <a:avLst/>
          </a:prstGeom>
        </p:spPr>
      </p:pic>
      <p:sp>
        <p:nvSpPr>
          <p:cNvPr id="55" name="Freeform 54"/>
          <p:cNvSpPr/>
          <p:nvPr/>
        </p:nvSpPr>
        <p:spPr>
          <a:xfrm>
            <a:off x="6674952" y="3268833"/>
            <a:ext cx="444165" cy="217487"/>
          </a:xfrm>
          <a:custGeom>
            <a:avLst/>
            <a:gdLst>
              <a:gd name="connsiteX0" fmla="*/ 0 w 345281"/>
              <a:gd name="connsiteY0" fmla="*/ 169068 h 169068"/>
              <a:gd name="connsiteX1" fmla="*/ 0 w 345281"/>
              <a:gd name="connsiteY1" fmla="*/ 169068 h 169068"/>
              <a:gd name="connsiteX2" fmla="*/ 52387 w 345281"/>
              <a:gd name="connsiteY2" fmla="*/ 116681 h 169068"/>
              <a:gd name="connsiteX3" fmla="*/ 97631 w 345281"/>
              <a:gd name="connsiteY3" fmla="*/ 145256 h 169068"/>
              <a:gd name="connsiteX4" fmla="*/ 169068 w 345281"/>
              <a:gd name="connsiteY4" fmla="*/ 54768 h 169068"/>
              <a:gd name="connsiteX5" fmla="*/ 235743 w 345281"/>
              <a:gd name="connsiteY5" fmla="*/ 121443 h 169068"/>
              <a:gd name="connsiteX6" fmla="*/ 345281 w 345281"/>
              <a:gd name="connsiteY6" fmla="*/ 0 h 169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5281" h="169068">
                <a:moveTo>
                  <a:pt x="0" y="169068"/>
                </a:moveTo>
                <a:lnTo>
                  <a:pt x="0" y="169068"/>
                </a:lnTo>
                <a:lnTo>
                  <a:pt x="52387" y="116681"/>
                </a:lnTo>
                <a:lnTo>
                  <a:pt x="97631" y="145256"/>
                </a:lnTo>
                <a:lnTo>
                  <a:pt x="169068" y="54768"/>
                </a:lnTo>
                <a:lnTo>
                  <a:pt x="235743" y="121443"/>
                </a:lnTo>
                <a:lnTo>
                  <a:pt x="345281" y="0"/>
                </a:lnTo>
              </a:path>
            </a:pathLst>
          </a:custGeom>
          <a:noFill/>
          <a:ln w="12700">
            <a:solidFill>
              <a:srgbClr val="80610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56" name="Freeform 55"/>
          <p:cNvSpPr/>
          <p:nvPr/>
        </p:nvSpPr>
        <p:spPr>
          <a:xfrm>
            <a:off x="6614458" y="3162663"/>
            <a:ext cx="565150" cy="355600"/>
          </a:xfrm>
          <a:custGeom>
            <a:avLst/>
            <a:gdLst>
              <a:gd name="connsiteX0" fmla="*/ 0 w 565150"/>
              <a:gd name="connsiteY0" fmla="*/ 355600 h 355600"/>
              <a:gd name="connsiteX1" fmla="*/ 0 w 565150"/>
              <a:gd name="connsiteY1" fmla="*/ 0 h 355600"/>
              <a:gd name="connsiteX2" fmla="*/ 565150 w 565150"/>
              <a:gd name="connsiteY2" fmla="*/ 0 h 355600"/>
              <a:gd name="connsiteX3" fmla="*/ 565150 w 565150"/>
              <a:gd name="connsiteY3" fmla="*/ 342900 h 355600"/>
            </a:gdLst>
            <a:ahLst/>
            <a:cxnLst>
              <a:cxn ang="0">
                <a:pos x="connsiteX0" y="connsiteY0"/>
              </a:cxn>
              <a:cxn ang="0">
                <a:pos x="connsiteX1" y="connsiteY1"/>
              </a:cxn>
              <a:cxn ang="0">
                <a:pos x="connsiteX2" y="connsiteY2"/>
              </a:cxn>
              <a:cxn ang="0">
                <a:pos x="connsiteX3" y="connsiteY3"/>
              </a:cxn>
            </a:cxnLst>
            <a:rect l="l" t="t" r="r" b="b"/>
            <a:pathLst>
              <a:path w="565150" h="355600">
                <a:moveTo>
                  <a:pt x="0" y="355600"/>
                </a:moveTo>
                <a:lnTo>
                  <a:pt x="0" y="0"/>
                </a:lnTo>
                <a:lnTo>
                  <a:pt x="565150" y="0"/>
                </a:lnTo>
                <a:lnTo>
                  <a:pt x="565150" y="342900"/>
                </a:lnTo>
              </a:path>
            </a:pathLst>
          </a:custGeom>
          <a:noFill/>
          <a:ln w="12700">
            <a:solidFill>
              <a:srgbClr val="806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pic>
        <p:nvPicPr>
          <p:cNvPr id="57" name="Picture 56"/>
          <p:cNvPicPr>
            <a:picLocks noChangeAspect="1"/>
          </p:cNvPicPr>
          <p:nvPr/>
        </p:nvPicPr>
        <p:blipFill rotWithShape="1">
          <a:blip r:embed="rId14" cstate="print">
            <a:clrChange>
              <a:clrFrom>
                <a:srgbClr val="FFFFFF"/>
              </a:clrFrom>
              <a:clrTo>
                <a:srgbClr val="FFFFFF">
                  <a:alpha val="0"/>
                </a:srgbClr>
              </a:clrTo>
            </a:clrChange>
            <a:duotone>
              <a:prstClr val="black"/>
              <a:schemeClr val="accent6">
                <a:tint val="45000"/>
                <a:satMod val="400000"/>
              </a:schemeClr>
            </a:duotone>
            <a:extLst>
              <a:ext uri="{BEBA8EAE-BF5A-486C-A8C5-ECC9F3942E4B}">
                <a14:imgProps xmlns:a14="http://schemas.microsoft.com/office/drawing/2010/main">
                  <a14:imgLayer r:embed="rId15">
                    <a14:imgEffect>
                      <a14:colorTemperature colorTemp="8800"/>
                    </a14:imgEffect>
                    <a14:imgEffect>
                      <a14:saturation sat="400000"/>
                    </a14:imgEffect>
                    <a14:imgEffect>
                      <a14:brightnessContrast bright="61000" contrast="31000"/>
                    </a14:imgEffect>
                  </a14:imgLayer>
                </a14:imgProps>
              </a:ext>
              <a:ext uri="{28A0092B-C50C-407E-A947-70E740481C1C}">
                <a14:useLocalDpi xmlns:a14="http://schemas.microsoft.com/office/drawing/2010/main" val="0"/>
              </a:ext>
            </a:extLst>
          </a:blip>
          <a:srcRect l="20476" t="48677" r="57302" b="17037"/>
          <a:stretch/>
        </p:blipFill>
        <p:spPr>
          <a:xfrm>
            <a:off x="6748242" y="4193722"/>
            <a:ext cx="188155" cy="290296"/>
          </a:xfrm>
          <a:prstGeom prst="rect">
            <a:avLst/>
          </a:prstGeom>
        </p:spPr>
      </p:pic>
      <p:pic>
        <p:nvPicPr>
          <p:cNvPr id="58" name="Picture 57"/>
          <p:cNvPicPr>
            <a:picLocks noChangeAspect="1"/>
          </p:cNvPicPr>
          <p:nvPr/>
        </p:nvPicPr>
        <p:blipFill rotWithShape="1">
          <a:blip r:embed="rId14" cstate="print">
            <a:clrChange>
              <a:clrFrom>
                <a:srgbClr val="FFFFFF"/>
              </a:clrFrom>
              <a:clrTo>
                <a:srgbClr val="FFFFFF">
                  <a:alpha val="0"/>
                </a:srgbClr>
              </a:clrTo>
            </a:clrChange>
            <a:duotone>
              <a:prstClr val="black"/>
              <a:schemeClr val="accent6">
                <a:tint val="45000"/>
                <a:satMod val="400000"/>
              </a:schemeClr>
            </a:duotone>
            <a:extLst>
              <a:ext uri="{BEBA8EAE-BF5A-486C-A8C5-ECC9F3942E4B}">
                <a14:imgProps xmlns:a14="http://schemas.microsoft.com/office/drawing/2010/main">
                  <a14:imgLayer r:embed="rId15">
                    <a14:imgEffect>
                      <a14:colorTemperature colorTemp="8800"/>
                    </a14:imgEffect>
                    <a14:imgEffect>
                      <a14:saturation sat="400000"/>
                    </a14:imgEffect>
                    <a14:imgEffect>
                      <a14:brightnessContrast bright="61000" contrast="31000"/>
                    </a14:imgEffect>
                  </a14:imgLayer>
                </a14:imgProps>
              </a:ext>
              <a:ext uri="{28A0092B-C50C-407E-A947-70E740481C1C}">
                <a14:useLocalDpi xmlns:a14="http://schemas.microsoft.com/office/drawing/2010/main" val="0"/>
              </a:ext>
            </a:extLst>
          </a:blip>
          <a:srcRect l="20476" t="48677" r="57302" b="17037"/>
          <a:stretch/>
        </p:blipFill>
        <p:spPr>
          <a:xfrm>
            <a:off x="6374555" y="4193722"/>
            <a:ext cx="188155" cy="290296"/>
          </a:xfrm>
          <a:prstGeom prst="rect">
            <a:avLst/>
          </a:prstGeom>
        </p:spPr>
      </p:pic>
      <p:pic>
        <p:nvPicPr>
          <p:cNvPr id="59" name="Picture 58"/>
          <p:cNvPicPr>
            <a:picLocks noChangeAspect="1"/>
          </p:cNvPicPr>
          <p:nvPr/>
        </p:nvPicPr>
        <p:blipFill rotWithShape="1">
          <a:blip r:embed="rId14" cstate="print">
            <a:clrChange>
              <a:clrFrom>
                <a:srgbClr val="FFFFFF"/>
              </a:clrFrom>
              <a:clrTo>
                <a:srgbClr val="FFFFFF">
                  <a:alpha val="0"/>
                </a:srgbClr>
              </a:clrTo>
            </a:clrChange>
            <a:duotone>
              <a:prstClr val="black"/>
              <a:schemeClr val="accent6">
                <a:tint val="45000"/>
                <a:satMod val="400000"/>
              </a:schemeClr>
            </a:duotone>
            <a:extLst>
              <a:ext uri="{BEBA8EAE-BF5A-486C-A8C5-ECC9F3942E4B}">
                <a14:imgProps xmlns:a14="http://schemas.microsoft.com/office/drawing/2010/main">
                  <a14:imgLayer r:embed="rId15">
                    <a14:imgEffect>
                      <a14:colorTemperature colorTemp="8800"/>
                    </a14:imgEffect>
                    <a14:imgEffect>
                      <a14:saturation sat="400000"/>
                    </a14:imgEffect>
                    <a14:imgEffect>
                      <a14:brightnessContrast bright="61000" contrast="31000"/>
                    </a14:imgEffect>
                  </a14:imgLayer>
                </a14:imgProps>
              </a:ext>
              <a:ext uri="{28A0092B-C50C-407E-A947-70E740481C1C}">
                <a14:useLocalDpi xmlns:a14="http://schemas.microsoft.com/office/drawing/2010/main" val="0"/>
              </a:ext>
            </a:extLst>
          </a:blip>
          <a:srcRect l="20476" t="48677" r="57302" b="17037"/>
          <a:stretch/>
        </p:blipFill>
        <p:spPr>
          <a:xfrm>
            <a:off x="6561398" y="4193722"/>
            <a:ext cx="188155" cy="290296"/>
          </a:xfrm>
          <a:prstGeom prst="rect">
            <a:avLst/>
          </a:prstGeom>
        </p:spPr>
      </p:pic>
      <p:sp>
        <p:nvSpPr>
          <p:cNvPr id="60" name="TextBox 59"/>
          <p:cNvSpPr txBox="1"/>
          <p:nvPr/>
        </p:nvSpPr>
        <p:spPr>
          <a:xfrm>
            <a:off x="4734052" y="3524471"/>
            <a:ext cx="609141" cy="153888"/>
          </a:xfrm>
          <a:prstGeom prst="rect">
            <a:avLst/>
          </a:prstGeom>
          <a:noFill/>
        </p:spPr>
        <p:txBody>
          <a:bodyPr wrap="none" lIns="0" tIns="0" rIns="0" bIns="0" rtlCol="0">
            <a:noAutofit/>
          </a:bodyPr>
          <a:lstStyle/>
          <a:p>
            <a:pPr algn="ctr"/>
            <a:r>
              <a:rPr lang="en-US" sz="900" b="1" dirty="0"/>
              <a:t>Chemical Sales</a:t>
            </a:r>
          </a:p>
          <a:p>
            <a:pPr algn="ctr"/>
            <a:r>
              <a:rPr lang="en-US" sz="900" b="1" dirty="0"/>
              <a:t> (2019)</a:t>
            </a:r>
          </a:p>
          <a:p>
            <a:pPr algn="ctr"/>
            <a:r>
              <a:rPr lang="en-US" sz="900" b="1" dirty="0"/>
              <a:t>~US$ 5.9 Trn</a:t>
            </a:r>
            <a:endParaRPr lang="en-IN" sz="900" b="1" dirty="0"/>
          </a:p>
        </p:txBody>
      </p:sp>
      <p:sp>
        <p:nvSpPr>
          <p:cNvPr id="61" name="TextBox 60"/>
          <p:cNvSpPr txBox="1"/>
          <p:nvPr/>
        </p:nvSpPr>
        <p:spPr>
          <a:xfrm>
            <a:off x="5332982" y="4396220"/>
            <a:ext cx="609141" cy="153888"/>
          </a:xfrm>
          <a:prstGeom prst="rect">
            <a:avLst/>
          </a:prstGeom>
          <a:noFill/>
        </p:spPr>
        <p:txBody>
          <a:bodyPr wrap="none" lIns="0" tIns="0" rIns="0" bIns="0" rtlCol="0">
            <a:noAutofit/>
          </a:bodyPr>
          <a:lstStyle/>
          <a:p>
            <a:pPr algn="ctr"/>
            <a:r>
              <a:rPr lang="en-US" sz="900" b="1" dirty="0"/>
              <a:t>~ 10 Million </a:t>
            </a:r>
          </a:p>
          <a:p>
            <a:pPr algn="ctr"/>
            <a:r>
              <a:rPr lang="en-US" sz="900" b="1" dirty="0"/>
              <a:t>People </a:t>
            </a:r>
          </a:p>
          <a:p>
            <a:pPr algn="ctr"/>
            <a:r>
              <a:rPr lang="en-US" sz="900" b="1" dirty="0"/>
              <a:t>Employed</a:t>
            </a:r>
            <a:endParaRPr lang="en-IN" sz="900" b="1" dirty="0"/>
          </a:p>
        </p:txBody>
      </p:sp>
      <p:sp>
        <p:nvSpPr>
          <p:cNvPr id="62" name="TextBox 61"/>
          <p:cNvSpPr txBox="1"/>
          <p:nvPr/>
        </p:nvSpPr>
        <p:spPr>
          <a:xfrm>
            <a:off x="6245502" y="4510391"/>
            <a:ext cx="609141" cy="153888"/>
          </a:xfrm>
          <a:prstGeom prst="rect">
            <a:avLst/>
          </a:prstGeom>
          <a:noFill/>
        </p:spPr>
        <p:txBody>
          <a:bodyPr wrap="none" lIns="0" tIns="0" rIns="0" bIns="0" rtlCol="0">
            <a:noAutofit/>
          </a:bodyPr>
          <a:lstStyle/>
          <a:p>
            <a:pPr algn="ctr"/>
            <a:r>
              <a:rPr lang="en-US" sz="900" b="1" dirty="0"/>
              <a:t>~100,000 Chemicals </a:t>
            </a:r>
          </a:p>
          <a:p>
            <a:pPr algn="ctr"/>
            <a:r>
              <a:rPr lang="en-US" sz="900" b="1" dirty="0"/>
              <a:t>in the Market Today</a:t>
            </a:r>
            <a:endParaRPr lang="en-IN" sz="900" b="1" dirty="0"/>
          </a:p>
        </p:txBody>
      </p:sp>
      <p:sp>
        <p:nvSpPr>
          <p:cNvPr id="63" name="TextBox 62"/>
          <p:cNvSpPr txBox="1"/>
          <p:nvPr/>
        </p:nvSpPr>
        <p:spPr>
          <a:xfrm>
            <a:off x="6734845" y="3569723"/>
            <a:ext cx="609141" cy="153888"/>
          </a:xfrm>
          <a:prstGeom prst="rect">
            <a:avLst/>
          </a:prstGeom>
          <a:noFill/>
        </p:spPr>
        <p:txBody>
          <a:bodyPr wrap="none" lIns="0" tIns="0" rIns="0" bIns="0" rtlCol="0">
            <a:noAutofit/>
          </a:bodyPr>
          <a:lstStyle/>
          <a:p>
            <a:pPr algn="ctr"/>
            <a:r>
              <a:rPr lang="en-US" sz="900" b="1" dirty="0"/>
              <a:t>Forecast sale </a:t>
            </a:r>
          </a:p>
          <a:p>
            <a:pPr algn="ctr"/>
            <a:r>
              <a:rPr lang="en-US" sz="900" b="1" dirty="0"/>
              <a:t>(2030)</a:t>
            </a:r>
          </a:p>
          <a:p>
            <a:pPr algn="ctr"/>
            <a:r>
              <a:rPr lang="en-US" sz="900" b="1" dirty="0"/>
              <a:t>~US$ 7.9 Trn</a:t>
            </a:r>
            <a:endParaRPr lang="en-IN" sz="900" b="1" dirty="0"/>
          </a:p>
        </p:txBody>
      </p:sp>
      <p:sp>
        <p:nvSpPr>
          <p:cNvPr id="64" name="TextBox 63"/>
          <p:cNvSpPr txBox="1"/>
          <p:nvPr/>
        </p:nvSpPr>
        <p:spPr>
          <a:xfrm>
            <a:off x="1755550" y="3228827"/>
            <a:ext cx="367825" cy="830997"/>
          </a:xfrm>
          <a:prstGeom prst="rect">
            <a:avLst/>
          </a:prstGeom>
          <a:noFill/>
        </p:spPr>
        <p:txBody>
          <a:bodyPr wrap="square" lIns="0" tIns="0" rIns="0" bIns="0" rtlCol="0">
            <a:spAutoFit/>
          </a:bodyPr>
          <a:lstStyle/>
          <a:p>
            <a:r>
              <a:rPr lang="en-US" sz="5400" b="1" dirty="0">
                <a:solidFill>
                  <a:srgbClr val="7030A0"/>
                </a:solidFill>
              </a:rPr>
              <a:t>1</a:t>
            </a:r>
            <a:endParaRPr lang="en-IN" sz="5400" b="1" dirty="0">
              <a:solidFill>
                <a:srgbClr val="7030A0"/>
              </a:solidFill>
            </a:endParaRPr>
          </a:p>
        </p:txBody>
      </p:sp>
      <p:sp>
        <p:nvSpPr>
          <p:cNvPr id="65" name="TextBox 64"/>
          <p:cNvSpPr txBox="1"/>
          <p:nvPr/>
        </p:nvSpPr>
        <p:spPr>
          <a:xfrm>
            <a:off x="9083397" y="3178929"/>
            <a:ext cx="361879" cy="830997"/>
          </a:xfrm>
          <a:prstGeom prst="rect">
            <a:avLst/>
          </a:prstGeom>
          <a:noFill/>
        </p:spPr>
        <p:txBody>
          <a:bodyPr wrap="square" lIns="0" tIns="0" rIns="0" bIns="0" rtlCol="0">
            <a:spAutoFit/>
          </a:bodyPr>
          <a:lstStyle/>
          <a:p>
            <a:r>
              <a:rPr lang="en-US" sz="5400" b="1" dirty="0">
                <a:solidFill>
                  <a:srgbClr val="7030A0"/>
                </a:solidFill>
              </a:rPr>
              <a:t>2</a:t>
            </a:r>
            <a:endParaRPr lang="en-IN" sz="5400" b="1" dirty="0">
              <a:solidFill>
                <a:srgbClr val="7030A0"/>
              </a:solidFill>
            </a:endParaRPr>
          </a:p>
        </p:txBody>
      </p:sp>
      <p:sp>
        <p:nvSpPr>
          <p:cNvPr id="66" name="TextBox 65"/>
          <p:cNvSpPr txBox="1"/>
          <p:nvPr/>
        </p:nvSpPr>
        <p:spPr>
          <a:xfrm>
            <a:off x="4381634" y="5112651"/>
            <a:ext cx="351058" cy="830997"/>
          </a:xfrm>
          <a:prstGeom prst="rect">
            <a:avLst/>
          </a:prstGeom>
          <a:noFill/>
        </p:spPr>
        <p:txBody>
          <a:bodyPr wrap="none" lIns="0" tIns="0" rIns="0" bIns="0" rtlCol="0">
            <a:spAutoFit/>
          </a:bodyPr>
          <a:lstStyle/>
          <a:p>
            <a:r>
              <a:rPr lang="en-US" sz="5400" b="1" dirty="0">
                <a:solidFill>
                  <a:srgbClr val="7030A0"/>
                </a:solidFill>
              </a:rPr>
              <a:t>3</a:t>
            </a:r>
            <a:endParaRPr lang="en-IN" sz="5400" b="1" dirty="0">
              <a:solidFill>
                <a:srgbClr val="7030A0"/>
              </a:solidFill>
            </a:endParaRPr>
          </a:p>
        </p:txBody>
      </p:sp>
      <p:sp>
        <p:nvSpPr>
          <p:cNvPr id="67" name="TextBox 66"/>
          <p:cNvSpPr txBox="1"/>
          <p:nvPr/>
        </p:nvSpPr>
        <p:spPr>
          <a:xfrm>
            <a:off x="6789797" y="5089405"/>
            <a:ext cx="351058" cy="830997"/>
          </a:xfrm>
          <a:prstGeom prst="rect">
            <a:avLst/>
          </a:prstGeom>
          <a:noFill/>
        </p:spPr>
        <p:txBody>
          <a:bodyPr wrap="none" lIns="0" tIns="0" rIns="0" bIns="0" rtlCol="0">
            <a:spAutoFit/>
          </a:bodyPr>
          <a:lstStyle/>
          <a:p>
            <a:r>
              <a:rPr lang="en-US" sz="5400" b="1" dirty="0">
                <a:solidFill>
                  <a:srgbClr val="7030A0"/>
                </a:solidFill>
              </a:rPr>
              <a:t>4</a:t>
            </a:r>
            <a:endParaRPr lang="en-IN" sz="5400" b="1" dirty="0">
              <a:solidFill>
                <a:srgbClr val="7030A0"/>
              </a:solidFill>
            </a:endParaRPr>
          </a:p>
        </p:txBody>
      </p:sp>
      <p:sp>
        <p:nvSpPr>
          <p:cNvPr id="68" name="Rectangle 67"/>
          <p:cNvSpPr/>
          <p:nvPr/>
        </p:nvSpPr>
        <p:spPr>
          <a:xfrm>
            <a:off x="4415359" y="1119801"/>
            <a:ext cx="3212630" cy="1108637"/>
          </a:xfrm>
          <a:prstGeom prst="rect">
            <a:avLst/>
          </a:prstGeom>
        </p:spPr>
        <p:txBody>
          <a:bodyPr wrap="square">
            <a:spAutoFit/>
          </a:bodyPr>
          <a:lstStyle/>
          <a:p>
            <a:pPr algn="ctr"/>
            <a:r>
              <a:rPr lang="en-IN" sz="2800" b="1" dirty="0"/>
              <a:t>4</a:t>
            </a:r>
            <a:r>
              <a:rPr lang="en-IN" b="1" dirty="0"/>
              <a:t> </a:t>
            </a:r>
            <a:r>
              <a:rPr lang="en-IN" b="1" dirty="0">
                <a:solidFill>
                  <a:srgbClr val="002060"/>
                </a:solidFill>
              </a:rPr>
              <a:t>STEPS TO BRING DIGITAL TRANSFORMATION IN THE CHEMICAL INDUSTRY</a:t>
            </a:r>
          </a:p>
        </p:txBody>
      </p:sp>
      <p:sp>
        <p:nvSpPr>
          <p:cNvPr id="69" name="TextBox 68"/>
          <p:cNvSpPr txBox="1"/>
          <p:nvPr/>
        </p:nvSpPr>
        <p:spPr>
          <a:xfrm>
            <a:off x="1833657" y="1943777"/>
            <a:ext cx="687178" cy="173603"/>
          </a:xfrm>
          <a:prstGeom prst="rect">
            <a:avLst/>
          </a:prstGeom>
          <a:noFill/>
        </p:spPr>
        <p:txBody>
          <a:bodyPr wrap="none" lIns="0" tIns="0" rIns="0" bIns="0" rtlCol="0">
            <a:noAutofit/>
          </a:bodyPr>
          <a:lstStyle/>
          <a:p>
            <a:pPr algn="ctr"/>
            <a:r>
              <a:rPr lang="en-US" sz="900" b="1" dirty="0"/>
              <a:t>Regulation</a:t>
            </a:r>
            <a:endParaRPr lang="en-IN" sz="900" b="1" dirty="0"/>
          </a:p>
        </p:txBody>
      </p:sp>
      <p:sp>
        <p:nvSpPr>
          <p:cNvPr id="70" name="TextBox 69"/>
          <p:cNvSpPr txBox="1"/>
          <p:nvPr/>
        </p:nvSpPr>
        <p:spPr>
          <a:xfrm>
            <a:off x="1590978" y="3948522"/>
            <a:ext cx="609141" cy="153888"/>
          </a:xfrm>
          <a:prstGeom prst="rect">
            <a:avLst/>
          </a:prstGeom>
          <a:noFill/>
        </p:spPr>
        <p:txBody>
          <a:bodyPr wrap="none" lIns="0" tIns="0" rIns="0" bIns="0" rtlCol="0">
            <a:noAutofit/>
          </a:bodyPr>
          <a:lstStyle/>
          <a:p>
            <a:pPr algn="ctr"/>
            <a:r>
              <a:rPr lang="en-US" sz="900" b="1" dirty="0"/>
              <a:t>Changing the</a:t>
            </a:r>
          </a:p>
          <a:p>
            <a:pPr algn="ctr"/>
            <a:r>
              <a:rPr lang="en-US" sz="900" b="1" dirty="0"/>
              <a:t> Digitalization Trend</a:t>
            </a:r>
            <a:endParaRPr lang="en-IN" sz="900" b="1" dirty="0"/>
          </a:p>
        </p:txBody>
      </p:sp>
      <p:sp>
        <p:nvSpPr>
          <p:cNvPr id="71" name="TextBox 70"/>
          <p:cNvSpPr txBox="1"/>
          <p:nvPr/>
        </p:nvSpPr>
        <p:spPr>
          <a:xfrm>
            <a:off x="9382055" y="3985405"/>
            <a:ext cx="609141" cy="153888"/>
          </a:xfrm>
          <a:prstGeom prst="rect">
            <a:avLst/>
          </a:prstGeom>
          <a:noFill/>
        </p:spPr>
        <p:txBody>
          <a:bodyPr wrap="none" lIns="0" tIns="0" rIns="0" bIns="0" rtlCol="0">
            <a:noAutofit/>
          </a:bodyPr>
          <a:lstStyle/>
          <a:p>
            <a:pPr algn="ctr"/>
            <a:r>
              <a:rPr lang="en-US" sz="900" b="1" dirty="0"/>
              <a:t>Strengthen Key Focus</a:t>
            </a:r>
            <a:endParaRPr lang="en-IN" sz="900" b="1" dirty="0"/>
          </a:p>
        </p:txBody>
      </p:sp>
      <p:sp>
        <p:nvSpPr>
          <p:cNvPr id="72" name="TextBox 71"/>
          <p:cNvSpPr txBox="1"/>
          <p:nvPr/>
        </p:nvSpPr>
        <p:spPr>
          <a:xfrm>
            <a:off x="4647818" y="5918812"/>
            <a:ext cx="609141" cy="153888"/>
          </a:xfrm>
          <a:prstGeom prst="rect">
            <a:avLst/>
          </a:prstGeom>
          <a:noFill/>
        </p:spPr>
        <p:txBody>
          <a:bodyPr wrap="none" lIns="0" tIns="0" rIns="0" bIns="0" rtlCol="0">
            <a:noAutofit/>
          </a:bodyPr>
          <a:lstStyle/>
          <a:p>
            <a:pPr algn="ctr"/>
            <a:r>
              <a:rPr lang="en-US" sz="900" b="1" dirty="0"/>
              <a:t>Growth in </a:t>
            </a:r>
          </a:p>
          <a:p>
            <a:pPr algn="ctr"/>
            <a:r>
              <a:rPr lang="en-US" sz="900" b="1" dirty="0"/>
              <a:t>Advanced Technology</a:t>
            </a:r>
            <a:endParaRPr lang="en-IN" sz="900" b="1" dirty="0"/>
          </a:p>
        </p:txBody>
      </p:sp>
      <p:sp>
        <p:nvSpPr>
          <p:cNvPr id="73" name="TextBox 72"/>
          <p:cNvSpPr txBox="1"/>
          <p:nvPr/>
        </p:nvSpPr>
        <p:spPr>
          <a:xfrm>
            <a:off x="6882482" y="5907405"/>
            <a:ext cx="609141" cy="153888"/>
          </a:xfrm>
          <a:prstGeom prst="rect">
            <a:avLst/>
          </a:prstGeom>
          <a:noFill/>
        </p:spPr>
        <p:txBody>
          <a:bodyPr wrap="none" lIns="0" tIns="0" rIns="0" bIns="0" rtlCol="0">
            <a:noAutofit/>
          </a:bodyPr>
          <a:lstStyle/>
          <a:p>
            <a:pPr algn="ctr"/>
            <a:r>
              <a:rPr lang="en-US" sz="900" b="1" dirty="0"/>
              <a:t>Continuous </a:t>
            </a:r>
          </a:p>
          <a:p>
            <a:pPr algn="ctr"/>
            <a:r>
              <a:rPr lang="en-US" sz="900" b="1" dirty="0"/>
              <a:t>Development</a:t>
            </a:r>
            <a:endParaRPr lang="en-IN" sz="900" b="1" dirty="0"/>
          </a:p>
        </p:txBody>
      </p:sp>
      <p:sp>
        <p:nvSpPr>
          <p:cNvPr id="74" name="Rounded Rectangle 73"/>
          <p:cNvSpPr/>
          <p:nvPr/>
        </p:nvSpPr>
        <p:spPr>
          <a:xfrm>
            <a:off x="420265" y="4350247"/>
            <a:ext cx="3611081" cy="1911096"/>
          </a:xfrm>
          <a:prstGeom prst="roundRect">
            <a:avLst>
              <a:gd name="adj" fmla="val 8423"/>
            </a:avLst>
          </a:prstGeom>
          <a:solidFill>
            <a:srgbClr val="E1E3E4"/>
          </a:solidFill>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pic>
        <p:nvPicPr>
          <p:cNvPr id="75" name="Picture 74"/>
          <p:cNvPicPr>
            <a:picLocks noChangeAspect="1"/>
          </p:cNvPicPr>
          <p:nvPr/>
        </p:nvPicPr>
        <p:blipFill rotWithShape="1">
          <a:blip r:embed="rId3">
            <a:extLst>
              <a:ext uri="{28A0092B-C50C-407E-A947-70E740481C1C}">
                <a14:useLocalDpi xmlns:a14="http://schemas.microsoft.com/office/drawing/2010/main" val="0"/>
              </a:ext>
            </a:extLst>
          </a:blip>
          <a:srcRect l="17966" t="65656" r="76325" b="25187"/>
          <a:stretch/>
        </p:blipFill>
        <p:spPr>
          <a:xfrm>
            <a:off x="2208505" y="4608979"/>
            <a:ext cx="638991" cy="536968"/>
          </a:xfrm>
          <a:custGeom>
            <a:avLst/>
            <a:gdLst>
              <a:gd name="connsiteX0" fmla="*/ 0 w 566735"/>
              <a:gd name="connsiteY0" fmla="*/ 0 h 476249"/>
              <a:gd name="connsiteX1" fmla="*/ 566735 w 566735"/>
              <a:gd name="connsiteY1" fmla="*/ 0 h 476249"/>
              <a:gd name="connsiteX2" fmla="*/ 566735 w 566735"/>
              <a:gd name="connsiteY2" fmla="*/ 476249 h 476249"/>
              <a:gd name="connsiteX3" fmla="*/ 0 w 566735"/>
              <a:gd name="connsiteY3" fmla="*/ 476249 h 476249"/>
              <a:gd name="connsiteX4" fmla="*/ 0 w 566735"/>
              <a:gd name="connsiteY4" fmla="*/ 0 h 476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735" h="476249">
                <a:moveTo>
                  <a:pt x="0" y="0"/>
                </a:moveTo>
                <a:lnTo>
                  <a:pt x="566735" y="0"/>
                </a:lnTo>
                <a:lnTo>
                  <a:pt x="566735" y="476249"/>
                </a:lnTo>
                <a:lnTo>
                  <a:pt x="0" y="476249"/>
                </a:lnTo>
                <a:lnTo>
                  <a:pt x="0" y="0"/>
                </a:lnTo>
                <a:close/>
              </a:path>
            </a:pathLst>
          </a:custGeom>
        </p:spPr>
      </p:pic>
      <p:pic>
        <p:nvPicPr>
          <p:cNvPr id="76" name="Picture 75"/>
          <p:cNvPicPr>
            <a:picLocks noChangeAspect="1"/>
          </p:cNvPicPr>
          <p:nvPr/>
        </p:nvPicPr>
        <p:blipFill rotWithShape="1">
          <a:blip r:embed="rId3">
            <a:extLst>
              <a:ext uri="{28A0092B-C50C-407E-A947-70E740481C1C}">
                <a14:useLocalDpi xmlns:a14="http://schemas.microsoft.com/office/drawing/2010/main" val="0"/>
              </a:ext>
            </a:extLst>
          </a:blip>
          <a:srcRect l="23962" t="65656" r="70329" b="25187"/>
          <a:stretch/>
        </p:blipFill>
        <p:spPr>
          <a:xfrm>
            <a:off x="3021339" y="4512398"/>
            <a:ext cx="638991" cy="536968"/>
          </a:xfrm>
          <a:custGeom>
            <a:avLst/>
            <a:gdLst>
              <a:gd name="connsiteX0" fmla="*/ 0 w 566735"/>
              <a:gd name="connsiteY0" fmla="*/ 0 h 476249"/>
              <a:gd name="connsiteX1" fmla="*/ 566735 w 566735"/>
              <a:gd name="connsiteY1" fmla="*/ 0 h 476249"/>
              <a:gd name="connsiteX2" fmla="*/ 566735 w 566735"/>
              <a:gd name="connsiteY2" fmla="*/ 476249 h 476249"/>
              <a:gd name="connsiteX3" fmla="*/ 0 w 566735"/>
              <a:gd name="connsiteY3" fmla="*/ 476249 h 476249"/>
              <a:gd name="connsiteX4" fmla="*/ 0 w 566735"/>
              <a:gd name="connsiteY4" fmla="*/ 0 h 476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735" h="476249">
                <a:moveTo>
                  <a:pt x="0" y="0"/>
                </a:moveTo>
                <a:lnTo>
                  <a:pt x="566735" y="0"/>
                </a:lnTo>
                <a:lnTo>
                  <a:pt x="566735" y="476249"/>
                </a:lnTo>
                <a:lnTo>
                  <a:pt x="0" y="476249"/>
                </a:lnTo>
                <a:lnTo>
                  <a:pt x="0" y="0"/>
                </a:lnTo>
                <a:close/>
              </a:path>
            </a:pathLst>
          </a:custGeom>
        </p:spPr>
      </p:pic>
      <p:pic>
        <p:nvPicPr>
          <p:cNvPr id="77" name="Picture 76"/>
          <p:cNvPicPr>
            <a:picLocks noChangeAspect="1"/>
          </p:cNvPicPr>
          <p:nvPr/>
        </p:nvPicPr>
        <p:blipFill rotWithShape="1">
          <a:blip r:embed="rId3">
            <a:extLst>
              <a:ext uri="{28A0092B-C50C-407E-A947-70E740481C1C}">
                <a14:useLocalDpi xmlns:a14="http://schemas.microsoft.com/office/drawing/2010/main" val="0"/>
              </a:ext>
            </a:extLst>
          </a:blip>
          <a:srcRect l="5059" t="65831" r="89231" b="25012"/>
          <a:stretch/>
        </p:blipFill>
        <p:spPr>
          <a:xfrm>
            <a:off x="685351" y="4616750"/>
            <a:ext cx="638991" cy="536968"/>
          </a:xfrm>
          <a:custGeom>
            <a:avLst/>
            <a:gdLst>
              <a:gd name="connsiteX0" fmla="*/ 0 w 566735"/>
              <a:gd name="connsiteY0" fmla="*/ 0 h 476249"/>
              <a:gd name="connsiteX1" fmla="*/ 566735 w 566735"/>
              <a:gd name="connsiteY1" fmla="*/ 0 h 476249"/>
              <a:gd name="connsiteX2" fmla="*/ 566735 w 566735"/>
              <a:gd name="connsiteY2" fmla="*/ 476249 h 476249"/>
              <a:gd name="connsiteX3" fmla="*/ 0 w 566735"/>
              <a:gd name="connsiteY3" fmla="*/ 476249 h 476249"/>
              <a:gd name="connsiteX4" fmla="*/ 0 w 566735"/>
              <a:gd name="connsiteY4" fmla="*/ 0 h 476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735" h="476249">
                <a:moveTo>
                  <a:pt x="0" y="0"/>
                </a:moveTo>
                <a:lnTo>
                  <a:pt x="566735" y="0"/>
                </a:lnTo>
                <a:lnTo>
                  <a:pt x="566735" y="476249"/>
                </a:lnTo>
                <a:lnTo>
                  <a:pt x="0" y="476249"/>
                </a:lnTo>
                <a:lnTo>
                  <a:pt x="0" y="0"/>
                </a:lnTo>
                <a:close/>
              </a:path>
            </a:pathLst>
          </a:custGeom>
        </p:spPr>
      </p:pic>
      <p:pic>
        <p:nvPicPr>
          <p:cNvPr id="78" name="Picture 77"/>
          <p:cNvPicPr>
            <a:picLocks noChangeAspect="1"/>
          </p:cNvPicPr>
          <p:nvPr/>
        </p:nvPicPr>
        <p:blipFill rotWithShape="1">
          <a:blip r:embed="rId3">
            <a:extLst>
              <a:ext uri="{28A0092B-C50C-407E-A947-70E740481C1C}">
                <a14:useLocalDpi xmlns:a14="http://schemas.microsoft.com/office/drawing/2010/main" val="0"/>
              </a:ext>
            </a:extLst>
          </a:blip>
          <a:srcRect l="11970" t="65831" r="82320" b="25012"/>
          <a:stretch/>
        </p:blipFill>
        <p:spPr>
          <a:xfrm>
            <a:off x="1497279" y="4567432"/>
            <a:ext cx="638991" cy="536968"/>
          </a:xfrm>
          <a:custGeom>
            <a:avLst/>
            <a:gdLst>
              <a:gd name="connsiteX0" fmla="*/ 0 w 566735"/>
              <a:gd name="connsiteY0" fmla="*/ 0 h 476249"/>
              <a:gd name="connsiteX1" fmla="*/ 566735 w 566735"/>
              <a:gd name="connsiteY1" fmla="*/ 0 h 476249"/>
              <a:gd name="connsiteX2" fmla="*/ 566735 w 566735"/>
              <a:gd name="connsiteY2" fmla="*/ 476249 h 476249"/>
              <a:gd name="connsiteX3" fmla="*/ 0 w 566735"/>
              <a:gd name="connsiteY3" fmla="*/ 476249 h 476249"/>
              <a:gd name="connsiteX4" fmla="*/ 0 w 566735"/>
              <a:gd name="connsiteY4" fmla="*/ 0 h 476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735" h="476249">
                <a:moveTo>
                  <a:pt x="0" y="0"/>
                </a:moveTo>
                <a:lnTo>
                  <a:pt x="566735" y="0"/>
                </a:lnTo>
                <a:lnTo>
                  <a:pt x="566735" y="476249"/>
                </a:lnTo>
                <a:lnTo>
                  <a:pt x="0" y="476249"/>
                </a:lnTo>
                <a:lnTo>
                  <a:pt x="0" y="0"/>
                </a:lnTo>
                <a:close/>
              </a:path>
            </a:pathLst>
          </a:custGeom>
        </p:spPr>
      </p:pic>
      <p:pic>
        <p:nvPicPr>
          <p:cNvPr id="79" name="Picture 78"/>
          <p:cNvPicPr>
            <a:picLocks noChangeAspect="1"/>
          </p:cNvPicPr>
          <p:nvPr/>
        </p:nvPicPr>
        <p:blipFill rotWithShape="1">
          <a:blip r:embed="rId3">
            <a:extLst>
              <a:ext uri="{28A0092B-C50C-407E-A947-70E740481C1C}">
                <a14:useLocalDpi xmlns:a14="http://schemas.microsoft.com/office/drawing/2010/main" val="0"/>
              </a:ext>
            </a:extLst>
          </a:blip>
          <a:srcRect l="4976" t="81001" r="89314" b="9354"/>
          <a:stretch/>
        </p:blipFill>
        <p:spPr>
          <a:xfrm>
            <a:off x="664148" y="5406883"/>
            <a:ext cx="638991" cy="565609"/>
          </a:xfrm>
          <a:custGeom>
            <a:avLst/>
            <a:gdLst>
              <a:gd name="connsiteX0" fmla="*/ 0 w 566735"/>
              <a:gd name="connsiteY0" fmla="*/ 0 h 501651"/>
              <a:gd name="connsiteX1" fmla="*/ 566735 w 566735"/>
              <a:gd name="connsiteY1" fmla="*/ 0 h 501651"/>
              <a:gd name="connsiteX2" fmla="*/ 566735 w 566735"/>
              <a:gd name="connsiteY2" fmla="*/ 501651 h 501651"/>
              <a:gd name="connsiteX3" fmla="*/ 0 w 566735"/>
              <a:gd name="connsiteY3" fmla="*/ 501651 h 501651"/>
              <a:gd name="connsiteX4" fmla="*/ 0 w 566735"/>
              <a:gd name="connsiteY4" fmla="*/ 0 h 501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735" h="501651">
                <a:moveTo>
                  <a:pt x="0" y="0"/>
                </a:moveTo>
                <a:lnTo>
                  <a:pt x="566735" y="0"/>
                </a:lnTo>
                <a:lnTo>
                  <a:pt x="566735" y="501651"/>
                </a:lnTo>
                <a:lnTo>
                  <a:pt x="0" y="501651"/>
                </a:lnTo>
                <a:lnTo>
                  <a:pt x="0" y="0"/>
                </a:lnTo>
                <a:close/>
              </a:path>
            </a:pathLst>
          </a:custGeom>
        </p:spPr>
      </p:pic>
      <p:pic>
        <p:nvPicPr>
          <p:cNvPr id="80" name="Picture 79"/>
          <p:cNvPicPr>
            <a:picLocks noChangeAspect="1"/>
          </p:cNvPicPr>
          <p:nvPr/>
        </p:nvPicPr>
        <p:blipFill rotWithShape="1">
          <a:blip r:embed="rId3">
            <a:extLst>
              <a:ext uri="{28A0092B-C50C-407E-A947-70E740481C1C}">
                <a14:useLocalDpi xmlns:a14="http://schemas.microsoft.com/office/drawing/2010/main" val="0"/>
              </a:ext>
            </a:extLst>
          </a:blip>
          <a:srcRect l="11107" t="81001" r="83183" b="9354"/>
          <a:stretch/>
        </p:blipFill>
        <p:spPr>
          <a:xfrm>
            <a:off x="1397517" y="5399692"/>
            <a:ext cx="638991" cy="565609"/>
          </a:xfrm>
          <a:custGeom>
            <a:avLst/>
            <a:gdLst>
              <a:gd name="connsiteX0" fmla="*/ 0 w 566735"/>
              <a:gd name="connsiteY0" fmla="*/ 0 h 501651"/>
              <a:gd name="connsiteX1" fmla="*/ 566735 w 566735"/>
              <a:gd name="connsiteY1" fmla="*/ 0 h 501651"/>
              <a:gd name="connsiteX2" fmla="*/ 566735 w 566735"/>
              <a:gd name="connsiteY2" fmla="*/ 501651 h 501651"/>
              <a:gd name="connsiteX3" fmla="*/ 0 w 566735"/>
              <a:gd name="connsiteY3" fmla="*/ 501651 h 501651"/>
              <a:gd name="connsiteX4" fmla="*/ 0 w 566735"/>
              <a:gd name="connsiteY4" fmla="*/ 0 h 501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735" h="501651">
                <a:moveTo>
                  <a:pt x="0" y="0"/>
                </a:moveTo>
                <a:lnTo>
                  <a:pt x="566735" y="0"/>
                </a:lnTo>
                <a:lnTo>
                  <a:pt x="566735" y="501651"/>
                </a:lnTo>
                <a:lnTo>
                  <a:pt x="0" y="501651"/>
                </a:lnTo>
                <a:lnTo>
                  <a:pt x="0" y="0"/>
                </a:lnTo>
                <a:close/>
              </a:path>
            </a:pathLst>
          </a:custGeom>
        </p:spPr>
      </p:pic>
      <p:pic>
        <p:nvPicPr>
          <p:cNvPr id="81" name="Picture 80"/>
          <p:cNvPicPr>
            <a:picLocks noChangeAspect="1"/>
          </p:cNvPicPr>
          <p:nvPr/>
        </p:nvPicPr>
        <p:blipFill rotWithShape="1">
          <a:blip r:embed="rId3">
            <a:extLst>
              <a:ext uri="{28A0092B-C50C-407E-A947-70E740481C1C}">
                <a14:useLocalDpi xmlns:a14="http://schemas.microsoft.com/office/drawing/2010/main" val="0"/>
              </a:ext>
            </a:extLst>
          </a:blip>
          <a:srcRect l="17238" t="81001" r="77052" b="9354"/>
          <a:stretch/>
        </p:blipFill>
        <p:spPr>
          <a:xfrm>
            <a:off x="2162956" y="5347997"/>
            <a:ext cx="638991" cy="565609"/>
          </a:xfrm>
          <a:custGeom>
            <a:avLst/>
            <a:gdLst>
              <a:gd name="connsiteX0" fmla="*/ 0 w 566735"/>
              <a:gd name="connsiteY0" fmla="*/ 0 h 501651"/>
              <a:gd name="connsiteX1" fmla="*/ 566735 w 566735"/>
              <a:gd name="connsiteY1" fmla="*/ 0 h 501651"/>
              <a:gd name="connsiteX2" fmla="*/ 566735 w 566735"/>
              <a:gd name="connsiteY2" fmla="*/ 501651 h 501651"/>
              <a:gd name="connsiteX3" fmla="*/ 0 w 566735"/>
              <a:gd name="connsiteY3" fmla="*/ 501651 h 501651"/>
              <a:gd name="connsiteX4" fmla="*/ 0 w 566735"/>
              <a:gd name="connsiteY4" fmla="*/ 0 h 501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735" h="501651">
                <a:moveTo>
                  <a:pt x="0" y="0"/>
                </a:moveTo>
                <a:lnTo>
                  <a:pt x="566735" y="0"/>
                </a:lnTo>
                <a:lnTo>
                  <a:pt x="566735" y="501651"/>
                </a:lnTo>
                <a:lnTo>
                  <a:pt x="0" y="501651"/>
                </a:lnTo>
                <a:lnTo>
                  <a:pt x="0" y="0"/>
                </a:lnTo>
                <a:close/>
              </a:path>
            </a:pathLst>
          </a:custGeom>
        </p:spPr>
      </p:pic>
      <p:pic>
        <p:nvPicPr>
          <p:cNvPr id="82" name="Picture 81"/>
          <p:cNvPicPr>
            <a:picLocks noChangeAspect="1"/>
          </p:cNvPicPr>
          <p:nvPr/>
        </p:nvPicPr>
        <p:blipFill rotWithShape="1">
          <a:blip r:embed="rId3">
            <a:extLst>
              <a:ext uri="{28A0092B-C50C-407E-A947-70E740481C1C}">
                <a14:useLocalDpi xmlns:a14="http://schemas.microsoft.com/office/drawing/2010/main" val="0"/>
              </a:ext>
            </a:extLst>
          </a:blip>
          <a:srcRect l="23170" t="81001" r="71120" b="9354"/>
          <a:stretch/>
        </p:blipFill>
        <p:spPr>
          <a:xfrm>
            <a:off x="2988182" y="5372259"/>
            <a:ext cx="638991" cy="565609"/>
          </a:xfrm>
          <a:custGeom>
            <a:avLst/>
            <a:gdLst>
              <a:gd name="connsiteX0" fmla="*/ 0 w 566735"/>
              <a:gd name="connsiteY0" fmla="*/ 0 h 501651"/>
              <a:gd name="connsiteX1" fmla="*/ 566735 w 566735"/>
              <a:gd name="connsiteY1" fmla="*/ 0 h 501651"/>
              <a:gd name="connsiteX2" fmla="*/ 566735 w 566735"/>
              <a:gd name="connsiteY2" fmla="*/ 501651 h 501651"/>
              <a:gd name="connsiteX3" fmla="*/ 0 w 566735"/>
              <a:gd name="connsiteY3" fmla="*/ 501651 h 501651"/>
              <a:gd name="connsiteX4" fmla="*/ 0 w 566735"/>
              <a:gd name="connsiteY4" fmla="*/ 0 h 501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735" h="501651">
                <a:moveTo>
                  <a:pt x="0" y="0"/>
                </a:moveTo>
                <a:lnTo>
                  <a:pt x="566735" y="0"/>
                </a:lnTo>
                <a:lnTo>
                  <a:pt x="566735" y="501651"/>
                </a:lnTo>
                <a:lnTo>
                  <a:pt x="0" y="501651"/>
                </a:lnTo>
                <a:lnTo>
                  <a:pt x="0" y="0"/>
                </a:lnTo>
                <a:close/>
              </a:path>
            </a:pathLst>
          </a:custGeom>
        </p:spPr>
      </p:pic>
      <p:sp>
        <p:nvSpPr>
          <p:cNvPr id="83" name="TextBox 82"/>
          <p:cNvSpPr txBox="1"/>
          <p:nvPr/>
        </p:nvSpPr>
        <p:spPr>
          <a:xfrm>
            <a:off x="664148" y="5107294"/>
            <a:ext cx="686804" cy="158004"/>
          </a:xfrm>
          <a:prstGeom prst="rect">
            <a:avLst/>
          </a:prstGeom>
          <a:noFill/>
        </p:spPr>
        <p:txBody>
          <a:bodyPr wrap="none" lIns="0" tIns="0" rIns="0" bIns="0" rtlCol="0">
            <a:noAutofit/>
          </a:bodyPr>
          <a:lstStyle/>
          <a:p>
            <a:pPr algn="ctr"/>
            <a:r>
              <a:rPr lang="en-US" sz="900" b="1" dirty="0"/>
              <a:t>AI</a:t>
            </a:r>
            <a:endParaRPr lang="en-IN" sz="900" b="1" dirty="0"/>
          </a:p>
        </p:txBody>
      </p:sp>
      <p:sp>
        <p:nvSpPr>
          <p:cNvPr id="84" name="TextBox 83"/>
          <p:cNvSpPr txBox="1"/>
          <p:nvPr/>
        </p:nvSpPr>
        <p:spPr>
          <a:xfrm>
            <a:off x="642945" y="5887386"/>
            <a:ext cx="686804" cy="158004"/>
          </a:xfrm>
          <a:prstGeom prst="rect">
            <a:avLst/>
          </a:prstGeom>
          <a:noFill/>
        </p:spPr>
        <p:txBody>
          <a:bodyPr wrap="none" lIns="0" tIns="0" rIns="0" bIns="0" rtlCol="0">
            <a:noAutofit/>
          </a:bodyPr>
          <a:lstStyle/>
          <a:p>
            <a:pPr algn="ctr"/>
            <a:r>
              <a:rPr lang="en-US" sz="900" b="1" dirty="0"/>
              <a:t>Cloud</a:t>
            </a:r>
            <a:endParaRPr lang="en-IN" sz="900" b="1" dirty="0"/>
          </a:p>
        </p:txBody>
      </p:sp>
      <p:sp>
        <p:nvSpPr>
          <p:cNvPr id="85" name="TextBox 84"/>
          <p:cNvSpPr txBox="1"/>
          <p:nvPr/>
        </p:nvSpPr>
        <p:spPr>
          <a:xfrm>
            <a:off x="1476076" y="5057976"/>
            <a:ext cx="686804" cy="158004"/>
          </a:xfrm>
          <a:prstGeom prst="rect">
            <a:avLst/>
          </a:prstGeom>
          <a:noFill/>
        </p:spPr>
        <p:txBody>
          <a:bodyPr wrap="none" lIns="0" tIns="0" rIns="0" bIns="0" rtlCol="0">
            <a:noAutofit/>
          </a:bodyPr>
          <a:lstStyle/>
          <a:p>
            <a:pPr algn="ctr"/>
            <a:r>
              <a:rPr lang="en-US" sz="900" b="1" dirty="0"/>
              <a:t>IT/OT </a:t>
            </a:r>
          </a:p>
          <a:p>
            <a:pPr algn="ctr"/>
            <a:r>
              <a:rPr lang="en-US" sz="900" b="1" dirty="0"/>
              <a:t>Convergence</a:t>
            </a:r>
            <a:endParaRPr lang="en-IN" sz="900" b="1" dirty="0"/>
          </a:p>
        </p:txBody>
      </p:sp>
      <p:sp>
        <p:nvSpPr>
          <p:cNvPr id="86" name="TextBox 85"/>
          <p:cNvSpPr txBox="1"/>
          <p:nvPr/>
        </p:nvSpPr>
        <p:spPr>
          <a:xfrm>
            <a:off x="1376314" y="5880195"/>
            <a:ext cx="686804" cy="158004"/>
          </a:xfrm>
          <a:prstGeom prst="rect">
            <a:avLst/>
          </a:prstGeom>
          <a:noFill/>
        </p:spPr>
        <p:txBody>
          <a:bodyPr wrap="none" lIns="0" tIns="0" rIns="0" bIns="0" rtlCol="0">
            <a:noAutofit/>
          </a:bodyPr>
          <a:lstStyle/>
          <a:p>
            <a:pPr algn="ctr"/>
            <a:r>
              <a:rPr lang="en-US" sz="900" b="1" dirty="0"/>
              <a:t>Platform</a:t>
            </a:r>
          </a:p>
          <a:p>
            <a:pPr algn="ctr"/>
            <a:r>
              <a:rPr lang="en-US" sz="900" b="1" dirty="0"/>
              <a:t> &amp; Product Type Type</a:t>
            </a:r>
            <a:endParaRPr lang="en-IN" sz="900" b="1" dirty="0"/>
          </a:p>
        </p:txBody>
      </p:sp>
      <p:sp>
        <p:nvSpPr>
          <p:cNvPr id="87" name="TextBox 86"/>
          <p:cNvSpPr txBox="1"/>
          <p:nvPr/>
        </p:nvSpPr>
        <p:spPr>
          <a:xfrm>
            <a:off x="2102169" y="5121788"/>
            <a:ext cx="686804" cy="158004"/>
          </a:xfrm>
          <a:prstGeom prst="rect">
            <a:avLst/>
          </a:prstGeom>
          <a:noFill/>
        </p:spPr>
        <p:txBody>
          <a:bodyPr wrap="none" lIns="0" tIns="0" rIns="0" bIns="0" rtlCol="0">
            <a:noAutofit/>
          </a:bodyPr>
          <a:lstStyle/>
          <a:p>
            <a:pPr algn="ctr"/>
            <a:r>
              <a:rPr lang="en-US" sz="900" b="1" dirty="0"/>
              <a:t>Mobility</a:t>
            </a:r>
            <a:endParaRPr lang="en-IN" sz="900" b="1" dirty="0"/>
          </a:p>
        </p:txBody>
      </p:sp>
      <p:sp>
        <p:nvSpPr>
          <p:cNvPr id="88" name="TextBox 87"/>
          <p:cNvSpPr txBox="1"/>
          <p:nvPr/>
        </p:nvSpPr>
        <p:spPr>
          <a:xfrm>
            <a:off x="2152852" y="5839734"/>
            <a:ext cx="686804" cy="158004"/>
          </a:xfrm>
          <a:prstGeom prst="rect">
            <a:avLst/>
          </a:prstGeom>
          <a:noFill/>
        </p:spPr>
        <p:txBody>
          <a:bodyPr wrap="none" lIns="0" tIns="0" rIns="0" bIns="0" rtlCol="0">
            <a:noAutofit/>
          </a:bodyPr>
          <a:lstStyle/>
          <a:p>
            <a:pPr algn="ctr"/>
            <a:r>
              <a:rPr lang="en-US" sz="900" b="1" dirty="0"/>
              <a:t>Big Data </a:t>
            </a:r>
          </a:p>
          <a:p>
            <a:pPr algn="ctr"/>
            <a:r>
              <a:rPr lang="en-US" sz="900" b="1" dirty="0"/>
              <a:t>Analytics</a:t>
            </a:r>
            <a:endParaRPr lang="en-IN" sz="900" b="1" dirty="0"/>
          </a:p>
        </p:txBody>
      </p:sp>
      <p:sp>
        <p:nvSpPr>
          <p:cNvPr id="89" name="TextBox 88"/>
          <p:cNvSpPr txBox="1"/>
          <p:nvPr/>
        </p:nvSpPr>
        <p:spPr>
          <a:xfrm>
            <a:off x="3000136" y="5002942"/>
            <a:ext cx="686804" cy="158004"/>
          </a:xfrm>
          <a:prstGeom prst="rect">
            <a:avLst/>
          </a:prstGeom>
          <a:noFill/>
        </p:spPr>
        <p:txBody>
          <a:bodyPr wrap="none" lIns="0" tIns="0" rIns="0" bIns="0" rtlCol="0">
            <a:noAutofit/>
          </a:bodyPr>
          <a:lstStyle/>
          <a:p>
            <a:pPr algn="ctr"/>
            <a:r>
              <a:rPr lang="en-US" sz="900" b="1" dirty="0"/>
              <a:t>Automation </a:t>
            </a:r>
          </a:p>
          <a:p>
            <a:pPr algn="ctr"/>
            <a:r>
              <a:rPr lang="en-US" sz="900" b="1" dirty="0"/>
              <a:t>&amp; Robotics</a:t>
            </a:r>
            <a:endParaRPr lang="en-IN" sz="900" b="1" dirty="0"/>
          </a:p>
        </p:txBody>
      </p:sp>
      <p:sp>
        <p:nvSpPr>
          <p:cNvPr id="90" name="TextBox 89"/>
          <p:cNvSpPr txBox="1"/>
          <p:nvPr/>
        </p:nvSpPr>
        <p:spPr>
          <a:xfrm>
            <a:off x="3043429" y="5949139"/>
            <a:ext cx="686804" cy="158004"/>
          </a:xfrm>
          <a:prstGeom prst="rect">
            <a:avLst/>
          </a:prstGeom>
          <a:noFill/>
        </p:spPr>
        <p:txBody>
          <a:bodyPr wrap="none" lIns="0" tIns="0" rIns="0" bIns="0" rtlCol="0">
            <a:noAutofit/>
          </a:bodyPr>
          <a:lstStyle/>
          <a:p>
            <a:pPr algn="ctr"/>
            <a:r>
              <a:rPr lang="en-US" sz="900" b="1" dirty="0"/>
              <a:t>Industrial IOT</a:t>
            </a:r>
            <a:endParaRPr lang="en-IN" sz="900" b="1" dirty="0"/>
          </a:p>
        </p:txBody>
      </p:sp>
      <p:pic>
        <p:nvPicPr>
          <p:cNvPr id="91" name="Picture 90"/>
          <p:cNvPicPr>
            <a:picLocks noChangeAspect="1"/>
          </p:cNvPicPr>
          <p:nvPr/>
        </p:nvPicPr>
        <p:blipFill>
          <a:blip r:embed="rId16"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4878058" y="4087310"/>
            <a:ext cx="457200" cy="457200"/>
          </a:xfrm>
          <a:prstGeom prst="rect">
            <a:avLst/>
          </a:prstGeom>
        </p:spPr>
      </p:pic>
      <p:sp>
        <p:nvSpPr>
          <p:cNvPr id="3" name="Slide Number Placeholder 2"/>
          <p:cNvSpPr>
            <a:spLocks noGrp="1"/>
          </p:cNvSpPr>
          <p:nvPr>
            <p:ph type="sldNum" sz="quarter" idx="4"/>
          </p:nvPr>
        </p:nvSpPr>
        <p:spPr/>
        <p:txBody>
          <a:bodyPr/>
          <a:lstStyle/>
          <a:p>
            <a:fld id="{4B17068C-EB94-40A3-A5F2-664CDD77FDAC}" type="slidenum">
              <a:rPr lang="en-GB" smtClean="0"/>
              <a:pPr/>
              <a:t>46</a:t>
            </a:fld>
            <a:endParaRPr lang="en-GB" dirty="0"/>
          </a:p>
        </p:txBody>
      </p:sp>
    </p:spTree>
    <p:extLst>
      <p:ext uri="{BB962C8B-B14F-4D97-AF65-F5344CB8AC3E}">
        <p14:creationId xmlns:p14="http://schemas.microsoft.com/office/powerpoint/2010/main" val="190044253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Macroeconomic Factors: Automation Analysis</a:t>
            </a:r>
            <a:endParaRPr lang="en-IN" dirty="0"/>
          </a:p>
        </p:txBody>
      </p:sp>
      <p:sp>
        <p:nvSpPr>
          <p:cNvPr id="4" name="Slide Number Placeholder 3"/>
          <p:cNvSpPr>
            <a:spLocks noGrp="1"/>
          </p:cNvSpPr>
          <p:nvPr>
            <p:ph type="sldNum" sz="quarter" idx="4"/>
          </p:nvPr>
        </p:nvSpPr>
        <p:spPr/>
        <p:txBody>
          <a:bodyPr/>
          <a:lstStyle/>
          <a:p>
            <a:fld id="{4B17068C-EB94-40A3-A5F2-664CDD77FDAC}" type="slidenum">
              <a:rPr lang="en-GB" smtClean="0"/>
              <a:pPr/>
              <a:t>47</a:t>
            </a:fld>
            <a:endParaRPr lang="en-GB" dirty="0"/>
          </a:p>
        </p:txBody>
      </p:sp>
      <p:pic>
        <p:nvPicPr>
          <p:cNvPr id="5" name="Picture 4"/>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365760" y="1080433"/>
            <a:ext cx="11493305" cy="5066215"/>
          </a:xfrm>
          <a:prstGeom prst="rect">
            <a:avLst/>
          </a:prstGeom>
        </p:spPr>
      </p:pic>
      <p:sp>
        <p:nvSpPr>
          <p:cNvPr id="6" name="TextBox 5"/>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Tree>
    <p:extLst>
      <p:ext uri="{BB962C8B-B14F-4D97-AF65-F5344CB8AC3E}">
        <p14:creationId xmlns:p14="http://schemas.microsoft.com/office/powerpoint/2010/main" val="89070766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Macro-Economic Factors: Manufacturing Outlook </a:t>
            </a:r>
            <a:endParaRPr lang="en-US" dirty="0"/>
          </a:p>
        </p:txBody>
      </p:sp>
      <p:sp>
        <p:nvSpPr>
          <p:cNvPr id="4" name="Slide Number Placeholder 3"/>
          <p:cNvSpPr>
            <a:spLocks noGrp="1"/>
          </p:cNvSpPr>
          <p:nvPr>
            <p:ph type="sldNum" sz="quarter" idx="4"/>
          </p:nvPr>
        </p:nvSpPr>
        <p:spPr/>
        <p:txBody>
          <a:bodyPr/>
          <a:lstStyle/>
          <a:p>
            <a:fld id="{4B17068C-EB94-40A3-A5F2-664CDD77FDAC}" type="slidenum">
              <a:rPr lang="en-GB" smtClean="0"/>
              <a:pPr/>
              <a:t>48</a:t>
            </a:fld>
            <a:endParaRPr lang="en-GB" dirty="0"/>
          </a:p>
        </p:txBody>
      </p:sp>
      <p:pic>
        <p:nvPicPr>
          <p:cNvPr id="7" name="Picture 6"/>
          <p:cNvPicPr>
            <a:picLocks noChangeAspect="1"/>
          </p:cNvPicPr>
          <p:nvPr/>
        </p:nvPicPr>
        <p:blipFill>
          <a:blip r:embed="rId2"/>
          <a:stretch>
            <a:fillRect/>
          </a:stretch>
        </p:blipFill>
        <p:spPr>
          <a:xfrm>
            <a:off x="393894" y="1059707"/>
            <a:ext cx="11451103" cy="5151566"/>
          </a:xfrm>
          <a:prstGeom prst="rect">
            <a:avLst/>
          </a:prstGeom>
        </p:spPr>
      </p:pic>
      <p:sp>
        <p:nvSpPr>
          <p:cNvPr id="6" name="TextBox 5"/>
          <p:cNvSpPr txBox="1"/>
          <p:nvPr/>
        </p:nvSpPr>
        <p:spPr>
          <a:xfrm>
            <a:off x="229798" y="6205752"/>
            <a:ext cx="1421864" cy="153888"/>
          </a:xfrm>
          <a:prstGeom prst="rect">
            <a:avLst/>
          </a:prstGeom>
          <a:noFill/>
        </p:spPr>
        <p:txBody>
          <a:bodyPr wrap="none" lIns="0" tIns="0" rIns="0" bIns="0" rtlCol="0">
            <a:spAutoFit/>
          </a:bodyPr>
          <a:lstStyle/>
          <a:p>
            <a:pPr defTabSz="966537"/>
            <a:r>
              <a:rPr lang="en-US" sz="1000" dirty="0"/>
              <a:t>Source: TMR Analysis, 2024</a:t>
            </a:r>
          </a:p>
        </p:txBody>
      </p:sp>
    </p:spTree>
    <p:extLst>
      <p:ext uri="{BB962C8B-B14F-4D97-AF65-F5344CB8AC3E}">
        <p14:creationId xmlns:p14="http://schemas.microsoft.com/office/powerpoint/2010/main" val="383412266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Forecast Factors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49</a:t>
            </a:r>
          </a:p>
        </p:txBody>
      </p:sp>
    </p:spTree>
    <p:extLst>
      <p:ext uri="{BB962C8B-B14F-4D97-AF65-F5344CB8AC3E}">
        <p14:creationId xmlns:p14="http://schemas.microsoft.com/office/powerpoint/2010/main" val="237616333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Forecast Factors: Relevance and Impact (1/2)</a:t>
            </a:r>
          </a:p>
        </p:txBody>
      </p:sp>
      <p:grpSp>
        <p:nvGrpSpPr>
          <p:cNvPr id="3" name="Group 2"/>
          <p:cNvGrpSpPr/>
          <p:nvPr/>
        </p:nvGrpSpPr>
        <p:grpSpPr>
          <a:xfrm>
            <a:off x="183319" y="1273935"/>
            <a:ext cx="11856281" cy="4933661"/>
            <a:chOff x="1246770" y="1204687"/>
            <a:chExt cx="9654582" cy="5035815"/>
          </a:xfrm>
        </p:grpSpPr>
        <p:sp>
          <p:nvSpPr>
            <p:cNvPr id="156" name="Freeform 26"/>
            <p:cNvSpPr>
              <a:spLocks/>
            </p:cNvSpPr>
            <p:nvPr/>
          </p:nvSpPr>
          <p:spPr bwMode="auto">
            <a:xfrm>
              <a:off x="2597892" y="2943021"/>
              <a:ext cx="5117674" cy="471472"/>
            </a:xfrm>
            <a:custGeom>
              <a:avLst/>
              <a:gdLst>
                <a:gd name="T0" fmla="*/ 0 w 16069"/>
                <a:gd name="T1" fmla="*/ 0 h 1159"/>
                <a:gd name="T2" fmla="*/ 1031 w 16069"/>
                <a:gd name="T3" fmla="*/ 1159 h 1159"/>
                <a:gd name="T4" fmla="*/ 16069 w 16069"/>
                <a:gd name="T5" fmla="*/ 1159 h 1159"/>
                <a:gd name="T6" fmla="*/ 16069 w 16069"/>
                <a:gd name="T7" fmla="*/ 0 h 1159"/>
                <a:gd name="T8" fmla="*/ 0 w 16069"/>
                <a:gd name="T9" fmla="*/ 0 h 1159"/>
              </a:gdLst>
              <a:ahLst/>
              <a:cxnLst>
                <a:cxn ang="0">
                  <a:pos x="T0" y="T1"/>
                </a:cxn>
                <a:cxn ang="0">
                  <a:pos x="T2" y="T3"/>
                </a:cxn>
                <a:cxn ang="0">
                  <a:pos x="T4" y="T5"/>
                </a:cxn>
                <a:cxn ang="0">
                  <a:pos x="T6" y="T7"/>
                </a:cxn>
                <a:cxn ang="0">
                  <a:pos x="T8" y="T9"/>
                </a:cxn>
              </a:cxnLst>
              <a:rect l="0" t="0" r="r" b="b"/>
              <a:pathLst>
                <a:path w="16069" h="1159">
                  <a:moveTo>
                    <a:pt x="0" y="0"/>
                  </a:moveTo>
                  <a:lnTo>
                    <a:pt x="1031" y="1159"/>
                  </a:lnTo>
                  <a:lnTo>
                    <a:pt x="16069" y="1159"/>
                  </a:lnTo>
                  <a:lnTo>
                    <a:pt x="16069" y="0"/>
                  </a:lnTo>
                  <a:lnTo>
                    <a:pt x="0" y="0"/>
                  </a:lnTo>
                  <a:close/>
                </a:path>
              </a:pathLst>
            </a:custGeom>
            <a:solidFill>
              <a:srgbClr val="F1F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 name="Rectangle 4"/>
            <p:cNvSpPr/>
            <p:nvPr/>
          </p:nvSpPr>
          <p:spPr>
            <a:xfrm>
              <a:off x="1246771" y="1204687"/>
              <a:ext cx="1571556" cy="493241"/>
            </a:xfrm>
            <a:prstGeom prst="rect">
              <a:avLst/>
            </a:prstGeom>
            <a:solidFill>
              <a:srgbClr val="2A5F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Market Force</a:t>
              </a:r>
            </a:p>
          </p:txBody>
        </p:sp>
        <p:sp>
          <p:nvSpPr>
            <p:cNvPr id="6" name="Rectangle 5"/>
            <p:cNvSpPr/>
            <p:nvPr/>
          </p:nvSpPr>
          <p:spPr>
            <a:xfrm>
              <a:off x="2883846" y="1204687"/>
              <a:ext cx="5036457" cy="493241"/>
            </a:xfrm>
            <a:prstGeom prst="rect">
              <a:avLst/>
            </a:prstGeom>
            <a:solidFill>
              <a:srgbClr val="2A5F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TMR Perspective and Assumptions</a:t>
              </a:r>
            </a:p>
          </p:txBody>
        </p:sp>
        <p:grpSp>
          <p:nvGrpSpPr>
            <p:cNvPr id="10" name="Group 9"/>
            <p:cNvGrpSpPr/>
            <p:nvPr/>
          </p:nvGrpSpPr>
          <p:grpSpPr>
            <a:xfrm>
              <a:off x="1246771" y="1828055"/>
              <a:ext cx="6673532" cy="962836"/>
              <a:chOff x="366713" y="1855228"/>
              <a:chExt cx="8315699" cy="988218"/>
            </a:xfrm>
          </p:grpSpPr>
          <p:sp>
            <p:nvSpPr>
              <p:cNvPr id="146" name="Freeform 5"/>
              <p:cNvSpPr>
                <a:spLocks/>
              </p:cNvSpPr>
              <p:nvPr/>
            </p:nvSpPr>
            <p:spPr bwMode="auto">
              <a:xfrm>
                <a:off x="366713" y="2315603"/>
                <a:ext cx="1920875" cy="460375"/>
              </a:xfrm>
              <a:custGeom>
                <a:avLst/>
                <a:gdLst>
                  <a:gd name="T0" fmla="*/ 4839 w 4839"/>
                  <a:gd name="T1" fmla="*/ 0 h 1160"/>
                  <a:gd name="T2" fmla="*/ 3808 w 4839"/>
                  <a:gd name="T3" fmla="*/ 1160 h 1160"/>
                  <a:gd name="T4" fmla="*/ 0 w 4839"/>
                  <a:gd name="T5" fmla="*/ 1160 h 1160"/>
                  <a:gd name="T6" fmla="*/ 1031 w 4839"/>
                  <a:gd name="T7" fmla="*/ 0 h 1160"/>
                  <a:gd name="T8" fmla="*/ 4839 w 4839"/>
                  <a:gd name="T9" fmla="*/ 0 h 1160"/>
                </a:gdLst>
                <a:ahLst/>
                <a:cxnLst>
                  <a:cxn ang="0">
                    <a:pos x="T0" y="T1"/>
                  </a:cxn>
                  <a:cxn ang="0">
                    <a:pos x="T2" y="T3"/>
                  </a:cxn>
                  <a:cxn ang="0">
                    <a:pos x="T4" y="T5"/>
                  </a:cxn>
                  <a:cxn ang="0">
                    <a:pos x="T6" y="T7"/>
                  </a:cxn>
                  <a:cxn ang="0">
                    <a:pos x="T8" y="T9"/>
                  </a:cxn>
                </a:cxnLst>
                <a:rect l="0" t="0" r="r" b="b"/>
                <a:pathLst>
                  <a:path w="4839" h="1160">
                    <a:moveTo>
                      <a:pt x="4839" y="0"/>
                    </a:moveTo>
                    <a:lnTo>
                      <a:pt x="3808" y="1160"/>
                    </a:lnTo>
                    <a:lnTo>
                      <a:pt x="0" y="1160"/>
                    </a:lnTo>
                    <a:lnTo>
                      <a:pt x="1031" y="0"/>
                    </a:lnTo>
                    <a:lnTo>
                      <a:pt x="4839" y="0"/>
                    </a:lnTo>
                    <a:close/>
                  </a:path>
                </a:pathLst>
              </a:custGeom>
              <a:solidFill>
                <a:srgbClr val="6B40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7" name="Freeform 6"/>
              <p:cNvSpPr>
                <a:spLocks/>
              </p:cNvSpPr>
              <p:nvPr/>
            </p:nvSpPr>
            <p:spPr bwMode="auto">
              <a:xfrm>
                <a:off x="366713" y="1855228"/>
                <a:ext cx="1920875" cy="460375"/>
              </a:xfrm>
              <a:custGeom>
                <a:avLst/>
                <a:gdLst>
                  <a:gd name="T0" fmla="*/ 0 w 4839"/>
                  <a:gd name="T1" fmla="*/ 0 h 1161"/>
                  <a:gd name="T2" fmla="*/ 1031 w 4839"/>
                  <a:gd name="T3" fmla="*/ 1161 h 1161"/>
                  <a:gd name="T4" fmla="*/ 4839 w 4839"/>
                  <a:gd name="T5" fmla="*/ 1161 h 1161"/>
                  <a:gd name="T6" fmla="*/ 3808 w 4839"/>
                  <a:gd name="T7" fmla="*/ 0 h 1161"/>
                  <a:gd name="T8" fmla="*/ 0 w 4839"/>
                  <a:gd name="T9" fmla="*/ 0 h 1161"/>
                </a:gdLst>
                <a:ahLst/>
                <a:cxnLst>
                  <a:cxn ang="0">
                    <a:pos x="T0" y="T1"/>
                  </a:cxn>
                  <a:cxn ang="0">
                    <a:pos x="T2" y="T3"/>
                  </a:cxn>
                  <a:cxn ang="0">
                    <a:pos x="T4" y="T5"/>
                  </a:cxn>
                  <a:cxn ang="0">
                    <a:pos x="T6" y="T7"/>
                  </a:cxn>
                  <a:cxn ang="0">
                    <a:pos x="T8" y="T9"/>
                  </a:cxn>
                </a:cxnLst>
                <a:rect l="0" t="0" r="r" b="b"/>
                <a:pathLst>
                  <a:path w="4839" h="1161">
                    <a:moveTo>
                      <a:pt x="0" y="0"/>
                    </a:moveTo>
                    <a:lnTo>
                      <a:pt x="1031" y="1161"/>
                    </a:lnTo>
                    <a:lnTo>
                      <a:pt x="4839" y="1161"/>
                    </a:lnTo>
                    <a:lnTo>
                      <a:pt x="3808" y="0"/>
                    </a:lnTo>
                    <a:lnTo>
                      <a:pt x="0" y="0"/>
                    </a:lnTo>
                    <a:close/>
                  </a:path>
                </a:pathLst>
              </a:custGeom>
              <a:solidFill>
                <a:srgbClr val="6B40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 name="Freeform 7"/>
              <p:cNvSpPr>
                <a:spLocks/>
              </p:cNvSpPr>
              <p:nvPr/>
            </p:nvSpPr>
            <p:spPr bwMode="auto">
              <a:xfrm>
                <a:off x="2020888" y="2315603"/>
                <a:ext cx="6376988" cy="460375"/>
              </a:xfrm>
              <a:custGeom>
                <a:avLst/>
                <a:gdLst>
                  <a:gd name="T0" fmla="*/ 16069 w 16069"/>
                  <a:gd name="T1" fmla="*/ 0 h 1160"/>
                  <a:gd name="T2" fmla="*/ 16069 w 16069"/>
                  <a:gd name="T3" fmla="*/ 1160 h 1160"/>
                  <a:gd name="T4" fmla="*/ 0 w 16069"/>
                  <a:gd name="T5" fmla="*/ 1160 h 1160"/>
                  <a:gd name="T6" fmla="*/ 1031 w 16069"/>
                  <a:gd name="T7" fmla="*/ 0 h 1160"/>
                  <a:gd name="T8" fmla="*/ 16069 w 16069"/>
                  <a:gd name="T9" fmla="*/ 0 h 1160"/>
                </a:gdLst>
                <a:ahLst/>
                <a:cxnLst>
                  <a:cxn ang="0">
                    <a:pos x="T0" y="T1"/>
                  </a:cxn>
                  <a:cxn ang="0">
                    <a:pos x="T2" y="T3"/>
                  </a:cxn>
                  <a:cxn ang="0">
                    <a:pos x="T4" y="T5"/>
                  </a:cxn>
                  <a:cxn ang="0">
                    <a:pos x="T6" y="T7"/>
                  </a:cxn>
                  <a:cxn ang="0">
                    <a:pos x="T8" y="T9"/>
                  </a:cxn>
                </a:cxnLst>
                <a:rect l="0" t="0" r="r" b="b"/>
                <a:pathLst>
                  <a:path w="16069" h="1160">
                    <a:moveTo>
                      <a:pt x="16069" y="0"/>
                    </a:moveTo>
                    <a:lnTo>
                      <a:pt x="16069" y="1160"/>
                    </a:lnTo>
                    <a:lnTo>
                      <a:pt x="0" y="1160"/>
                    </a:lnTo>
                    <a:lnTo>
                      <a:pt x="1031" y="0"/>
                    </a:lnTo>
                    <a:lnTo>
                      <a:pt x="16069" y="0"/>
                    </a:lnTo>
                    <a:close/>
                  </a:path>
                </a:pathLst>
              </a:custGeom>
              <a:solidFill>
                <a:srgbClr val="E5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 name="Freeform 8"/>
              <p:cNvSpPr>
                <a:spLocks/>
              </p:cNvSpPr>
              <p:nvPr/>
            </p:nvSpPr>
            <p:spPr bwMode="auto">
              <a:xfrm>
                <a:off x="2020888" y="1855228"/>
                <a:ext cx="6376988" cy="460375"/>
              </a:xfrm>
              <a:custGeom>
                <a:avLst/>
                <a:gdLst>
                  <a:gd name="T0" fmla="*/ 0 w 16069"/>
                  <a:gd name="T1" fmla="*/ 0 h 1161"/>
                  <a:gd name="T2" fmla="*/ 1031 w 16069"/>
                  <a:gd name="T3" fmla="*/ 1161 h 1161"/>
                  <a:gd name="T4" fmla="*/ 16069 w 16069"/>
                  <a:gd name="T5" fmla="*/ 1161 h 1161"/>
                  <a:gd name="T6" fmla="*/ 16069 w 16069"/>
                  <a:gd name="T7" fmla="*/ 0 h 1161"/>
                  <a:gd name="T8" fmla="*/ 0 w 16069"/>
                  <a:gd name="T9" fmla="*/ 0 h 1161"/>
                </a:gdLst>
                <a:ahLst/>
                <a:cxnLst>
                  <a:cxn ang="0">
                    <a:pos x="T0" y="T1"/>
                  </a:cxn>
                  <a:cxn ang="0">
                    <a:pos x="T2" y="T3"/>
                  </a:cxn>
                  <a:cxn ang="0">
                    <a:pos x="T4" y="T5"/>
                  </a:cxn>
                  <a:cxn ang="0">
                    <a:pos x="T6" y="T7"/>
                  </a:cxn>
                  <a:cxn ang="0">
                    <a:pos x="T8" y="T9"/>
                  </a:cxn>
                </a:cxnLst>
                <a:rect l="0" t="0" r="r" b="b"/>
                <a:pathLst>
                  <a:path w="16069" h="1161">
                    <a:moveTo>
                      <a:pt x="0" y="0"/>
                    </a:moveTo>
                    <a:lnTo>
                      <a:pt x="1031" y="1161"/>
                    </a:lnTo>
                    <a:lnTo>
                      <a:pt x="16069" y="1161"/>
                    </a:lnTo>
                    <a:lnTo>
                      <a:pt x="16069" y="0"/>
                    </a:lnTo>
                    <a:lnTo>
                      <a:pt x="0" y="0"/>
                    </a:lnTo>
                    <a:close/>
                  </a:path>
                </a:pathLst>
              </a:custGeom>
              <a:solidFill>
                <a:srgbClr val="F1F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 name="Rectangle 9"/>
              <p:cNvSpPr>
                <a:spLocks noChangeArrowheads="1"/>
              </p:cNvSpPr>
              <p:nvPr/>
            </p:nvSpPr>
            <p:spPr bwMode="auto">
              <a:xfrm>
                <a:off x="8450637" y="1855228"/>
                <a:ext cx="231775" cy="460375"/>
              </a:xfrm>
              <a:prstGeom prst="rect">
                <a:avLst/>
              </a:prstGeom>
              <a:solidFill>
                <a:srgbClr val="6B40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 name="Rectangle 10"/>
              <p:cNvSpPr>
                <a:spLocks noChangeArrowheads="1"/>
              </p:cNvSpPr>
              <p:nvPr/>
            </p:nvSpPr>
            <p:spPr bwMode="auto">
              <a:xfrm>
                <a:off x="8450637" y="2315603"/>
                <a:ext cx="231775" cy="460375"/>
              </a:xfrm>
              <a:prstGeom prst="rect">
                <a:avLst/>
              </a:prstGeom>
              <a:solidFill>
                <a:srgbClr val="6B40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2" name="TextBox 151"/>
              <p:cNvSpPr txBox="1"/>
              <p:nvPr/>
            </p:nvSpPr>
            <p:spPr>
              <a:xfrm>
                <a:off x="724394" y="2152041"/>
                <a:ext cx="1295451" cy="284302"/>
              </a:xfrm>
              <a:prstGeom prst="rect">
                <a:avLst/>
              </a:prstGeom>
              <a:noFill/>
            </p:spPr>
            <p:txBody>
              <a:bodyPr wrap="square" rtlCol="0">
                <a:spAutoFit/>
              </a:bodyPr>
              <a:lstStyle>
                <a:defPPr>
                  <a:defRPr lang="en-US"/>
                </a:defPPr>
                <a:lvl1pPr algn="ctr">
                  <a:defRPr sz="1400" b="1">
                    <a:solidFill>
                      <a:schemeClr val="bg1"/>
                    </a:solidFill>
                  </a:defRPr>
                </a:lvl1pPr>
              </a:lstStyle>
              <a:p>
                <a:r>
                  <a:rPr lang="en-US" sz="1200" dirty="0"/>
                  <a:t>GDP Growth</a:t>
                </a:r>
              </a:p>
            </p:txBody>
          </p:sp>
          <p:sp>
            <p:nvSpPr>
              <p:cNvPr id="153" name="TextBox 152"/>
              <p:cNvSpPr txBox="1"/>
              <p:nvPr/>
            </p:nvSpPr>
            <p:spPr>
              <a:xfrm>
                <a:off x="2322187" y="1900337"/>
                <a:ext cx="5991289" cy="943109"/>
              </a:xfrm>
              <a:prstGeom prst="rect">
                <a:avLst/>
              </a:prstGeom>
              <a:noFill/>
            </p:spPr>
            <p:txBody>
              <a:bodyPr wrap="square" rtlCol="0">
                <a:spAutoFit/>
              </a:bodyPr>
              <a:lstStyle/>
              <a:p>
                <a:pPr algn="just">
                  <a:defRPr/>
                </a:pPr>
                <a:r>
                  <a:rPr lang="en-US" sz="1050" kern="0" dirty="0">
                    <a:solidFill>
                      <a:sysClr val="windowText" lastClr="000000"/>
                    </a:solidFill>
                  </a:rPr>
                  <a:t>The Gross Domestic Product (GDP) growth is a major indicator of the market’s performance and what lies ahead for industries. It reflects the rate at which the economy is growing, providing an insight into the wellbeing of a country and its citizens. Substantial growth in GDP can provide much-needed assurance to businesses, investors and consumers that the economy is doing well. GDP growth acts as an important signal to policymakers who use this data to inform their decisions on economic policies.</a:t>
                </a:r>
              </a:p>
            </p:txBody>
          </p:sp>
        </p:grpSp>
        <p:grpSp>
          <p:nvGrpSpPr>
            <p:cNvPr id="11" name="Group 10"/>
            <p:cNvGrpSpPr/>
            <p:nvPr/>
          </p:nvGrpSpPr>
          <p:grpSpPr>
            <a:xfrm>
              <a:off x="1246771" y="2911141"/>
              <a:ext cx="6673532" cy="938421"/>
              <a:chOff x="366713" y="2843884"/>
              <a:chExt cx="8315699" cy="960798"/>
            </a:xfrm>
            <a:solidFill>
              <a:srgbClr val="9C5224"/>
            </a:solidFill>
          </p:grpSpPr>
          <p:sp>
            <p:nvSpPr>
              <p:cNvPr id="139" name="Freeform 11"/>
              <p:cNvSpPr>
                <a:spLocks/>
              </p:cNvSpPr>
              <p:nvPr/>
            </p:nvSpPr>
            <p:spPr bwMode="auto">
              <a:xfrm>
                <a:off x="366713" y="3344306"/>
                <a:ext cx="1920876" cy="460376"/>
              </a:xfrm>
              <a:custGeom>
                <a:avLst/>
                <a:gdLst>
                  <a:gd name="T0" fmla="*/ 4839 w 4839"/>
                  <a:gd name="T1" fmla="*/ 0 h 1159"/>
                  <a:gd name="T2" fmla="*/ 3808 w 4839"/>
                  <a:gd name="T3" fmla="*/ 1159 h 1159"/>
                  <a:gd name="T4" fmla="*/ 0 w 4839"/>
                  <a:gd name="T5" fmla="*/ 1159 h 1159"/>
                  <a:gd name="T6" fmla="*/ 1031 w 4839"/>
                  <a:gd name="T7" fmla="*/ 0 h 1159"/>
                  <a:gd name="T8" fmla="*/ 4839 w 4839"/>
                  <a:gd name="T9" fmla="*/ 0 h 1159"/>
                </a:gdLst>
                <a:ahLst/>
                <a:cxnLst>
                  <a:cxn ang="0">
                    <a:pos x="T0" y="T1"/>
                  </a:cxn>
                  <a:cxn ang="0">
                    <a:pos x="T2" y="T3"/>
                  </a:cxn>
                  <a:cxn ang="0">
                    <a:pos x="T4" y="T5"/>
                  </a:cxn>
                  <a:cxn ang="0">
                    <a:pos x="T6" y="T7"/>
                  </a:cxn>
                  <a:cxn ang="0">
                    <a:pos x="T8" y="T9"/>
                  </a:cxn>
                </a:cxnLst>
                <a:rect l="0" t="0" r="r" b="b"/>
                <a:pathLst>
                  <a:path w="4839" h="1159">
                    <a:moveTo>
                      <a:pt x="4839" y="0"/>
                    </a:moveTo>
                    <a:lnTo>
                      <a:pt x="3808" y="1159"/>
                    </a:lnTo>
                    <a:lnTo>
                      <a:pt x="0" y="1159"/>
                    </a:lnTo>
                    <a:lnTo>
                      <a:pt x="1031" y="0"/>
                    </a:lnTo>
                    <a:lnTo>
                      <a:pt x="4839" y="0"/>
                    </a:lnTo>
                    <a:close/>
                  </a:path>
                </a:pathLst>
              </a:custGeom>
              <a:solidFill>
                <a:srgbClr val="B2A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 name="Freeform 12"/>
              <p:cNvSpPr>
                <a:spLocks/>
              </p:cNvSpPr>
              <p:nvPr/>
            </p:nvSpPr>
            <p:spPr bwMode="auto">
              <a:xfrm>
                <a:off x="366713" y="2883930"/>
                <a:ext cx="1920876" cy="460376"/>
              </a:xfrm>
              <a:custGeom>
                <a:avLst/>
                <a:gdLst>
                  <a:gd name="T0" fmla="*/ 0 w 4839"/>
                  <a:gd name="T1" fmla="*/ 0 h 1161"/>
                  <a:gd name="T2" fmla="*/ 1031 w 4839"/>
                  <a:gd name="T3" fmla="*/ 1161 h 1161"/>
                  <a:gd name="T4" fmla="*/ 4839 w 4839"/>
                  <a:gd name="T5" fmla="*/ 1161 h 1161"/>
                  <a:gd name="T6" fmla="*/ 3808 w 4839"/>
                  <a:gd name="T7" fmla="*/ 0 h 1161"/>
                  <a:gd name="T8" fmla="*/ 0 w 4839"/>
                  <a:gd name="T9" fmla="*/ 0 h 1161"/>
                </a:gdLst>
                <a:ahLst/>
                <a:cxnLst>
                  <a:cxn ang="0">
                    <a:pos x="T0" y="T1"/>
                  </a:cxn>
                  <a:cxn ang="0">
                    <a:pos x="T2" y="T3"/>
                  </a:cxn>
                  <a:cxn ang="0">
                    <a:pos x="T4" y="T5"/>
                  </a:cxn>
                  <a:cxn ang="0">
                    <a:pos x="T6" y="T7"/>
                  </a:cxn>
                  <a:cxn ang="0">
                    <a:pos x="T8" y="T9"/>
                  </a:cxn>
                </a:cxnLst>
                <a:rect l="0" t="0" r="r" b="b"/>
                <a:pathLst>
                  <a:path w="4839" h="1161">
                    <a:moveTo>
                      <a:pt x="0" y="0"/>
                    </a:moveTo>
                    <a:lnTo>
                      <a:pt x="1031" y="1161"/>
                    </a:lnTo>
                    <a:lnTo>
                      <a:pt x="4839" y="1161"/>
                    </a:lnTo>
                    <a:lnTo>
                      <a:pt x="3808" y="0"/>
                    </a:lnTo>
                    <a:lnTo>
                      <a:pt x="0" y="0"/>
                    </a:lnTo>
                    <a:close/>
                  </a:path>
                </a:pathLst>
              </a:custGeom>
              <a:solidFill>
                <a:srgbClr val="B2A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 name="Rectangle 13"/>
              <p:cNvSpPr>
                <a:spLocks noChangeArrowheads="1"/>
              </p:cNvSpPr>
              <p:nvPr/>
            </p:nvSpPr>
            <p:spPr bwMode="auto">
              <a:xfrm>
                <a:off x="8450636" y="2883930"/>
                <a:ext cx="231776" cy="460376"/>
              </a:xfrm>
              <a:prstGeom prst="rect">
                <a:avLst/>
              </a:prstGeom>
              <a:solidFill>
                <a:srgbClr val="B2A88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2" name="Rectangle 14"/>
              <p:cNvSpPr>
                <a:spLocks noChangeArrowheads="1"/>
              </p:cNvSpPr>
              <p:nvPr/>
            </p:nvSpPr>
            <p:spPr bwMode="auto">
              <a:xfrm>
                <a:off x="8450636" y="3344306"/>
                <a:ext cx="231776" cy="460376"/>
              </a:xfrm>
              <a:prstGeom prst="rect">
                <a:avLst/>
              </a:prstGeom>
              <a:solidFill>
                <a:srgbClr val="B2A88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3" name="Freeform 23"/>
              <p:cNvSpPr>
                <a:spLocks/>
              </p:cNvSpPr>
              <p:nvPr/>
            </p:nvSpPr>
            <p:spPr bwMode="auto">
              <a:xfrm>
                <a:off x="2020888" y="3344305"/>
                <a:ext cx="6376988" cy="460376"/>
              </a:xfrm>
              <a:custGeom>
                <a:avLst/>
                <a:gdLst>
                  <a:gd name="T0" fmla="*/ 16069 w 16069"/>
                  <a:gd name="T1" fmla="*/ 0 h 1159"/>
                  <a:gd name="T2" fmla="*/ 16069 w 16069"/>
                  <a:gd name="T3" fmla="*/ 1159 h 1159"/>
                  <a:gd name="T4" fmla="*/ 0 w 16069"/>
                  <a:gd name="T5" fmla="*/ 1159 h 1159"/>
                  <a:gd name="T6" fmla="*/ 1031 w 16069"/>
                  <a:gd name="T7" fmla="*/ 0 h 1159"/>
                  <a:gd name="T8" fmla="*/ 16069 w 16069"/>
                  <a:gd name="T9" fmla="*/ 0 h 1159"/>
                </a:gdLst>
                <a:ahLst/>
                <a:cxnLst>
                  <a:cxn ang="0">
                    <a:pos x="T0" y="T1"/>
                  </a:cxn>
                  <a:cxn ang="0">
                    <a:pos x="T2" y="T3"/>
                  </a:cxn>
                  <a:cxn ang="0">
                    <a:pos x="T4" y="T5"/>
                  </a:cxn>
                  <a:cxn ang="0">
                    <a:pos x="T6" y="T7"/>
                  </a:cxn>
                  <a:cxn ang="0">
                    <a:pos x="T8" y="T9"/>
                  </a:cxn>
                </a:cxnLst>
                <a:rect l="0" t="0" r="r" b="b"/>
                <a:pathLst>
                  <a:path w="16069" h="1159">
                    <a:moveTo>
                      <a:pt x="16069" y="0"/>
                    </a:moveTo>
                    <a:lnTo>
                      <a:pt x="16069" y="1159"/>
                    </a:lnTo>
                    <a:lnTo>
                      <a:pt x="0" y="1159"/>
                    </a:lnTo>
                    <a:lnTo>
                      <a:pt x="1031" y="0"/>
                    </a:lnTo>
                    <a:lnTo>
                      <a:pt x="16069" y="0"/>
                    </a:lnTo>
                    <a:close/>
                  </a:path>
                </a:pathLst>
              </a:custGeom>
              <a:solidFill>
                <a:srgbClr val="F1F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 name="Freeform 24"/>
              <p:cNvSpPr>
                <a:spLocks/>
              </p:cNvSpPr>
              <p:nvPr/>
            </p:nvSpPr>
            <p:spPr bwMode="auto">
              <a:xfrm>
                <a:off x="2020888" y="2883928"/>
                <a:ext cx="6376988" cy="267848"/>
              </a:xfrm>
              <a:custGeom>
                <a:avLst/>
                <a:gdLst>
                  <a:gd name="T0" fmla="*/ 0 w 16069"/>
                  <a:gd name="T1" fmla="*/ 0 h 1161"/>
                  <a:gd name="T2" fmla="*/ 1031 w 16069"/>
                  <a:gd name="T3" fmla="*/ 1161 h 1161"/>
                  <a:gd name="T4" fmla="*/ 16069 w 16069"/>
                  <a:gd name="T5" fmla="*/ 1161 h 1161"/>
                  <a:gd name="T6" fmla="*/ 16069 w 16069"/>
                  <a:gd name="T7" fmla="*/ 0 h 1161"/>
                  <a:gd name="T8" fmla="*/ 0 w 16069"/>
                  <a:gd name="T9" fmla="*/ 0 h 1161"/>
                </a:gdLst>
                <a:ahLst/>
                <a:cxnLst>
                  <a:cxn ang="0">
                    <a:pos x="T0" y="T1"/>
                  </a:cxn>
                  <a:cxn ang="0">
                    <a:pos x="T2" y="T3"/>
                  </a:cxn>
                  <a:cxn ang="0">
                    <a:pos x="T4" y="T5"/>
                  </a:cxn>
                  <a:cxn ang="0">
                    <a:pos x="T6" y="T7"/>
                  </a:cxn>
                  <a:cxn ang="0">
                    <a:pos x="T8" y="T9"/>
                  </a:cxn>
                </a:cxnLst>
                <a:rect l="0" t="0" r="r" b="b"/>
                <a:pathLst>
                  <a:path w="16069" h="1161">
                    <a:moveTo>
                      <a:pt x="0" y="0"/>
                    </a:moveTo>
                    <a:lnTo>
                      <a:pt x="1031" y="1161"/>
                    </a:lnTo>
                    <a:lnTo>
                      <a:pt x="16069" y="1161"/>
                    </a:lnTo>
                    <a:lnTo>
                      <a:pt x="16069" y="0"/>
                    </a:lnTo>
                    <a:lnTo>
                      <a:pt x="0" y="0"/>
                    </a:lnTo>
                    <a:close/>
                  </a:path>
                </a:pathLst>
              </a:custGeom>
              <a:noFill/>
            </p:spPr>
            <p:txBody>
              <a:bodyPr wrap="square" rtlCol="0">
                <a:spAutoFit/>
              </a:bodyPr>
              <a:lstStyle/>
              <a:p>
                <a:pPr algn="just"/>
                <a:endParaRPr lang="en-US" sz="1100" dirty="0"/>
              </a:p>
            </p:txBody>
          </p:sp>
          <p:sp>
            <p:nvSpPr>
              <p:cNvPr id="145" name="TextBox 144"/>
              <p:cNvSpPr txBox="1"/>
              <p:nvPr/>
            </p:nvSpPr>
            <p:spPr>
              <a:xfrm>
                <a:off x="2366453" y="2843884"/>
                <a:ext cx="5940051" cy="940798"/>
              </a:xfrm>
              <a:prstGeom prst="rect">
                <a:avLst/>
              </a:prstGeom>
              <a:noFill/>
            </p:spPr>
            <p:txBody>
              <a:bodyPr wrap="square" rtlCol="0">
                <a:spAutoFit/>
              </a:bodyPr>
              <a:lstStyle>
                <a:defPPr>
                  <a:defRPr lang="en-US"/>
                </a:defPPr>
                <a:lvl1pPr algn="just">
                  <a:defRPr sz="1100"/>
                </a:lvl1pPr>
              </a:lstStyle>
              <a:p>
                <a:pPr>
                  <a:spcBef>
                    <a:spcPts val="200"/>
                  </a:spcBef>
                  <a:spcAft>
                    <a:spcPts val="200"/>
                  </a:spcAft>
                </a:pPr>
                <a:r>
                  <a:rPr lang="en-US" sz="1050" dirty="0">
                    <a:solidFill>
                      <a:sysClr val="windowText" lastClr="000000"/>
                    </a:solidFill>
                  </a:rPr>
                  <a:t>Mergers and acquisitions, as well as the opening of new facilities and sales offices, help major market players expand their market presence, especially in emerging markets, while also improving their distribution networks. The companies are also focusing on product development by investing in research and development to develop sophisticated and new technologies, solutions, and materials to meet the growing demands of customers.</a:t>
                </a:r>
              </a:p>
            </p:txBody>
          </p:sp>
        </p:grpSp>
        <p:grpSp>
          <p:nvGrpSpPr>
            <p:cNvPr id="12" name="Group 11"/>
            <p:cNvGrpSpPr/>
            <p:nvPr/>
          </p:nvGrpSpPr>
          <p:grpSpPr>
            <a:xfrm>
              <a:off x="1246770" y="4022696"/>
              <a:ext cx="6673532" cy="1036693"/>
              <a:chOff x="366713" y="3884867"/>
              <a:chExt cx="8315699" cy="1012293"/>
            </a:xfrm>
          </p:grpSpPr>
          <p:sp>
            <p:nvSpPr>
              <p:cNvPr id="131" name="Freeform 15"/>
              <p:cNvSpPr>
                <a:spLocks/>
              </p:cNvSpPr>
              <p:nvPr/>
            </p:nvSpPr>
            <p:spPr bwMode="auto">
              <a:xfrm>
                <a:off x="366713" y="4374590"/>
                <a:ext cx="1920875" cy="460375"/>
              </a:xfrm>
              <a:custGeom>
                <a:avLst/>
                <a:gdLst>
                  <a:gd name="T0" fmla="*/ 4839 w 4839"/>
                  <a:gd name="T1" fmla="*/ 0 h 1161"/>
                  <a:gd name="T2" fmla="*/ 3808 w 4839"/>
                  <a:gd name="T3" fmla="*/ 1161 h 1161"/>
                  <a:gd name="T4" fmla="*/ 0 w 4839"/>
                  <a:gd name="T5" fmla="*/ 1161 h 1161"/>
                  <a:gd name="T6" fmla="*/ 1031 w 4839"/>
                  <a:gd name="T7" fmla="*/ 0 h 1161"/>
                  <a:gd name="T8" fmla="*/ 4839 w 4839"/>
                  <a:gd name="T9" fmla="*/ 0 h 1161"/>
                </a:gdLst>
                <a:ahLst/>
                <a:cxnLst>
                  <a:cxn ang="0">
                    <a:pos x="T0" y="T1"/>
                  </a:cxn>
                  <a:cxn ang="0">
                    <a:pos x="T2" y="T3"/>
                  </a:cxn>
                  <a:cxn ang="0">
                    <a:pos x="T4" y="T5"/>
                  </a:cxn>
                  <a:cxn ang="0">
                    <a:pos x="T6" y="T7"/>
                  </a:cxn>
                  <a:cxn ang="0">
                    <a:pos x="T8" y="T9"/>
                  </a:cxn>
                </a:cxnLst>
                <a:rect l="0" t="0" r="r" b="b"/>
                <a:pathLst>
                  <a:path w="4839" h="1161">
                    <a:moveTo>
                      <a:pt x="4839" y="0"/>
                    </a:moveTo>
                    <a:lnTo>
                      <a:pt x="3808" y="1161"/>
                    </a:lnTo>
                    <a:lnTo>
                      <a:pt x="0" y="1161"/>
                    </a:lnTo>
                    <a:lnTo>
                      <a:pt x="1031" y="0"/>
                    </a:lnTo>
                    <a:lnTo>
                      <a:pt x="4839" y="0"/>
                    </a:lnTo>
                    <a:close/>
                  </a:path>
                </a:pathLst>
              </a:custGeom>
              <a:solidFill>
                <a:srgbClr val="D83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2" name="Freeform 16"/>
              <p:cNvSpPr>
                <a:spLocks/>
              </p:cNvSpPr>
              <p:nvPr/>
            </p:nvSpPr>
            <p:spPr bwMode="auto">
              <a:xfrm>
                <a:off x="366713" y="3914215"/>
                <a:ext cx="1920876" cy="460375"/>
              </a:xfrm>
              <a:custGeom>
                <a:avLst/>
                <a:gdLst>
                  <a:gd name="T0" fmla="*/ 0 w 4839"/>
                  <a:gd name="T1" fmla="*/ 0 h 1159"/>
                  <a:gd name="T2" fmla="*/ 1031 w 4839"/>
                  <a:gd name="T3" fmla="*/ 1159 h 1159"/>
                  <a:gd name="T4" fmla="*/ 4839 w 4839"/>
                  <a:gd name="T5" fmla="*/ 1159 h 1159"/>
                  <a:gd name="T6" fmla="*/ 3808 w 4839"/>
                  <a:gd name="T7" fmla="*/ 0 h 1159"/>
                  <a:gd name="T8" fmla="*/ 0 w 4839"/>
                  <a:gd name="T9" fmla="*/ 0 h 1159"/>
                </a:gdLst>
                <a:ahLst/>
                <a:cxnLst>
                  <a:cxn ang="0">
                    <a:pos x="T0" y="T1"/>
                  </a:cxn>
                  <a:cxn ang="0">
                    <a:pos x="T2" y="T3"/>
                  </a:cxn>
                  <a:cxn ang="0">
                    <a:pos x="T4" y="T5"/>
                  </a:cxn>
                  <a:cxn ang="0">
                    <a:pos x="T6" y="T7"/>
                  </a:cxn>
                  <a:cxn ang="0">
                    <a:pos x="T8" y="T9"/>
                  </a:cxn>
                </a:cxnLst>
                <a:rect l="0" t="0" r="r" b="b"/>
                <a:pathLst>
                  <a:path w="4839" h="1159">
                    <a:moveTo>
                      <a:pt x="0" y="0"/>
                    </a:moveTo>
                    <a:lnTo>
                      <a:pt x="1031" y="1159"/>
                    </a:lnTo>
                    <a:lnTo>
                      <a:pt x="4839" y="1159"/>
                    </a:lnTo>
                    <a:lnTo>
                      <a:pt x="3808" y="0"/>
                    </a:lnTo>
                    <a:lnTo>
                      <a:pt x="0" y="0"/>
                    </a:lnTo>
                    <a:close/>
                  </a:path>
                </a:pathLst>
              </a:custGeom>
              <a:solidFill>
                <a:srgbClr val="D83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 name="Rectangle 17"/>
              <p:cNvSpPr>
                <a:spLocks noChangeArrowheads="1"/>
              </p:cNvSpPr>
              <p:nvPr/>
            </p:nvSpPr>
            <p:spPr bwMode="auto">
              <a:xfrm>
                <a:off x="8450637" y="3914215"/>
                <a:ext cx="231775" cy="460375"/>
              </a:xfrm>
              <a:prstGeom prst="rect">
                <a:avLst/>
              </a:prstGeom>
              <a:solidFill>
                <a:srgbClr val="D834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 name="Rectangle 18"/>
              <p:cNvSpPr>
                <a:spLocks noChangeArrowheads="1"/>
              </p:cNvSpPr>
              <p:nvPr/>
            </p:nvSpPr>
            <p:spPr bwMode="auto">
              <a:xfrm>
                <a:off x="8450637" y="4374590"/>
                <a:ext cx="231775" cy="460375"/>
              </a:xfrm>
              <a:prstGeom prst="rect">
                <a:avLst/>
              </a:prstGeom>
              <a:solidFill>
                <a:srgbClr val="D834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 name="Freeform 25"/>
              <p:cNvSpPr>
                <a:spLocks/>
              </p:cNvSpPr>
              <p:nvPr/>
            </p:nvSpPr>
            <p:spPr bwMode="auto">
              <a:xfrm>
                <a:off x="2020888" y="4374590"/>
                <a:ext cx="6376988" cy="460375"/>
              </a:xfrm>
              <a:custGeom>
                <a:avLst/>
                <a:gdLst>
                  <a:gd name="T0" fmla="*/ 16069 w 16069"/>
                  <a:gd name="T1" fmla="*/ 0 h 1161"/>
                  <a:gd name="T2" fmla="*/ 16069 w 16069"/>
                  <a:gd name="T3" fmla="*/ 1161 h 1161"/>
                  <a:gd name="T4" fmla="*/ 0 w 16069"/>
                  <a:gd name="T5" fmla="*/ 1161 h 1161"/>
                  <a:gd name="T6" fmla="*/ 1031 w 16069"/>
                  <a:gd name="T7" fmla="*/ 0 h 1161"/>
                  <a:gd name="T8" fmla="*/ 16069 w 16069"/>
                  <a:gd name="T9" fmla="*/ 0 h 1161"/>
                </a:gdLst>
                <a:ahLst/>
                <a:cxnLst>
                  <a:cxn ang="0">
                    <a:pos x="T0" y="T1"/>
                  </a:cxn>
                  <a:cxn ang="0">
                    <a:pos x="T2" y="T3"/>
                  </a:cxn>
                  <a:cxn ang="0">
                    <a:pos x="T4" y="T5"/>
                  </a:cxn>
                  <a:cxn ang="0">
                    <a:pos x="T6" y="T7"/>
                  </a:cxn>
                  <a:cxn ang="0">
                    <a:pos x="T8" y="T9"/>
                  </a:cxn>
                </a:cxnLst>
                <a:rect l="0" t="0" r="r" b="b"/>
                <a:pathLst>
                  <a:path w="16069" h="1161">
                    <a:moveTo>
                      <a:pt x="16069" y="0"/>
                    </a:moveTo>
                    <a:lnTo>
                      <a:pt x="16069" y="1161"/>
                    </a:lnTo>
                    <a:lnTo>
                      <a:pt x="0" y="1161"/>
                    </a:lnTo>
                    <a:lnTo>
                      <a:pt x="1031" y="0"/>
                    </a:lnTo>
                    <a:lnTo>
                      <a:pt x="16069" y="0"/>
                    </a:lnTo>
                    <a:close/>
                  </a:path>
                </a:pathLst>
              </a:custGeom>
              <a:solidFill>
                <a:srgbClr val="E5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 name="Freeform 26"/>
              <p:cNvSpPr>
                <a:spLocks/>
              </p:cNvSpPr>
              <p:nvPr/>
            </p:nvSpPr>
            <p:spPr bwMode="auto">
              <a:xfrm>
                <a:off x="2020888" y="3914215"/>
                <a:ext cx="6376988" cy="460375"/>
              </a:xfrm>
              <a:custGeom>
                <a:avLst/>
                <a:gdLst>
                  <a:gd name="T0" fmla="*/ 0 w 16069"/>
                  <a:gd name="T1" fmla="*/ 0 h 1159"/>
                  <a:gd name="T2" fmla="*/ 1031 w 16069"/>
                  <a:gd name="T3" fmla="*/ 1159 h 1159"/>
                  <a:gd name="T4" fmla="*/ 16069 w 16069"/>
                  <a:gd name="T5" fmla="*/ 1159 h 1159"/>
                  <a:gd name="T6" fmla="*/ 16069 w 16069"/>
                  <a:gd name="T7" fmla="*/ 0 h 1159"/>
                  <a:gd name="T8" fmla="*/ 0 w 16069"/>
                  <a:gd name="T9" fmla="*/ 0 h 1159"/>
                </a:gdLst>
                <a:ahLst/>
                <a:cxnLst>
                  <a:cxn ang="0">
                    <a:pos x="T0" y="T1"/>
                  </a:cxn>
                  <a:cxn ang="0">
                    <a:pos x="T2" y="T3"/>
                  </a:cxn>
                  <a:cxn ang="0">
                    <a:pos x="T4" y="T5"/>
                  </a:cxn>
                  <a:cxn ang="0">
                    <a:pos x="T6" y="T7"/>
                  </a:cxn>
                  <a:cxn ang="0">
                    <a:pos x="T8" y="T9"/>
                  </a:cxn>
                </a:cxnLst>
                <a:rect l="0" t="0" r="r" b="b"/>
                <a:pathLst>
                  <a:path w="16069" h="1159">
                    <a:moveTo>
                      <a:pt x="0" y="0"/>
                    </a:moveTo>
                    <a:lnTo>
                      <a:pt x="1031" y="1159"/>
                    </a:lnTo>
                    <a:lnTo>
                      <a:pt x="16069" y="1159"/>
                    </a:lnTo>
                    <a:lnTo>
                      <a:pt x="16069" y="0"/>
                    </a:lnTo>
                    <a:lnTo>
                      <a:pt x="0" y="0"/>
                    </a:lnTo>
                    <a:close/>
                  </a:path>
                </a:pathLst>
              </a:custGeom>
              <a:solidFill>
                <a:srgbClr val="F1F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 name="TextBox 136"/>
              <p:cNvSpPr txBox="1"/>
              <p:nvPr/>
            </p:nvSpPr>
            <p:spPr>
              <a:xfrm>
                <a:off x="657543" y="4129330"/>
                <a:ext cx="1295451" cy="460133"/>
              </a:xfrm>
              <a:prstGeom prst="rect">
                <a:avLst/>
              </a:prstGeom>
              <a:noFill/>
            </p:spPr>
            <p:txBody>
              <a:bodyPr wrap="square" rtlCol="0">
                <a:spAutoFit/>
              </a:bodyPr>
              <a:lstStyle/>
              <a:p>
                <a:pPr algn="ctr"/>
                <a:r>
                  <a:rPr lang="en-US" sz="1200" b="1" dirty="0">
                    <a:solidFill>
                      <a:schemeClr val="bg1"/>
                    </a:solidFill>
                  </a:rPr>
                  <a:t>Regulatory Aspects</a:t>
                </a:r>
              </a:p>
            </p:txBody>
          </p:sp>
          <p:sp>
            <p:nvSpPr>
              <p:cNvPr id="138" name="TextBox 137"/>
              <p:cNvSpPr txBox="1"/>
              <p:nvPr/>
            </p:nvSpPr>
            <p:spPr>
              <a:xfrm>
                <a:off x="2381772" y="3884867"/>
                <a:ext cx="6137414" cy="1012293"/>
              </a:xfrm>
              <a:prstGeom prst="rect">
                <a:avLst/>
              </a:prstGeom>
              <a:noFill/>
            </p:spPr>
            <p:txBody>
              <a:bodyPr wrap="square" rtlCol="0">
                <a:spAutoFit/>
              </a:bodyPr>
              <a:lstStyle>
                <a:defPPr>
                  <a:defRPr lang="en-US"/>
                </a:defPPr>
                <a:lvl1pPr algn="just">
                  <a:spcBef>
                    <a:spcPts val="200"/>
                  </a:spcBef>
                  <a:spcAft>
                    <a:spcPts val="200"/>
                  </a:spcAft>
                  <a:defRPr sz="1100">
                    <a:solidFill>
                      <a:sysClr val="windowText" lastClr="000000"/>
                    </a:solidFill>
                  </a:defRPr>
                </a:lvl1pPr>
              </a:lstStyle>
              <a:p>
                <a:pPr>
                  <a:defRPr/>
                </a:pPr>
                <a:r>
                  <a:rPr lang="en-US" sz="1000" dirty="0"/>
                  <a:t>Regulation plays an important role in ensuring that the customers get quality goods or services. It not only helps to protect stakeholders’ interests, but also encourages ethical competition among businesses. Poor quality goods or services can be harmful for the customers and regulatory forces ensure that such products do not reach them. Companies must adhere to certain standards when it comes to pricing, advertising, and other aspects related to their operations so as to remain compliant with regulations. This helps create a level playing field for everyone involved in the marketplace.</a:t>
                </a:r>
              </a:p>
            </p:txBody>
          </p:sp>
        </p:grpSp>
        <p:grpSp>
          <p:nvGrpSpPr>
            <p:cNvPr id="13" name="Group 12"/>
            <p:cNvGrpSpPr/>
            <p:nvPr/>
          </p:nvGrpSpPr>
          <p:grpSpPr>
            <a:xfrm>
              <a:off x="1246770" y="5156687"/>
              <a:ext cx="6673532" cy="1083815"/>
              <a:chOff x="366713" y="4922845"/>
              <a:chExt cx="8315699" cy="1048055"/>
            </a:xfrm>
          </p:grpSpPr>
          <p:sp>
            <p:nvSpPr>
              <p:cNvPr id="123" name="Freeform 19"/>
              <p:cNvSpPr>
                <a:spLocks/>
              </p:cNvSpPr>
              <p:nvPr/>
            </p:nvSpPr>
            <p:spPr bwMode="auto">
              <a:xfrm>
                <a:off x="366713" y="5403290"/>
                <a:ext cx="1920875" cy="460375"/>
              </a:xfrm>
              <a:custGeom>
                <a:avLst/>
                <a:gdLst>
                  <a:gd name="T0" fmla="*/ 4839 w 4839"/>
                  <a:gd name="T1" fmla="*/ 0 h 1161"/>
                  <a:gd name="T2" fmla="*/ 3808 w 4839"/>
                  <a:gd name="T3" fmla="*/ 1161 h 1161"/>
                  <a:gd name="T4" fmla="*/ 0 w 4839"/>
                  <a:gd name="T5" fmla="*/ 1161 h 1161"/>
                  <a:gd name="T6" fmla="*/ 1031 w 4839"/>
                  <a:gd name="T7" fmla="*/ 0 h 1161"/>
                  <a:gd name="T8" fmla="*/ 4839 w 4839"/>
                  <a:gd name="T9" fmla="*/ 0 h 1161"/>
                </a:gdLst>
                <a:ahLst/>
                <a:cxnLst>
                  <a:cxn ang="0">
                    <a:pos x="T0" y="T1"/>
                  </a:cxn>
                  <a:cxn ang="0">
                    <a:pos x="T2" y="T3"/>
                  </a:cxn>
                  <a:cxn ang="0">
                    <a:pos x="T4" y="T5"/>
                  </a:cxn>
                  <a:cxn ang="0">
                    <a:pos x="T6" y="T7"/>
                  </a:cxn>
                  <a:cxn ang="0">
                    <a:pos x="T8" y="T9"/>
                  </a:cxn>
                </a:cxnLst>
                <a:rect l="0" t="0" r="r" b="b"/>
                <a:pathLst>
                  <a:path w="4839" h="1161">
                    <a:moveTo>
                      <a:pt x="4839" y="0"/>
                    </a:moveTo>
                    <a:lnTo>
                      <a:pt x="3808" y="1161"/>
                    </a:lnTo>
                    <a:lnTo>
                      <a:pt x="0" y="1161"/>
                    </a:lnTo>
                    <a:lnTo>
                      <a:pt x="1031" y="0"/>
                    </a:lnTo>
                    <a:lnTo>
                      <a:pt x="4839" y="0"/>
                    </a:lnTo>
                    <a:close/>
                  </a:path>
                </a:pathLst>
              </a:custGeom>
              <a:solidFill>
                <a:srgbClr val="F2C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20"/>
              <p:cNvSpPr>
                <a:spLocks/>
              </p:cNvSpPr>
              <p:nvPr/>
            </p:nvSpPr>
            <p:spPr bwMode="auto">
              <a:xfrm>
                <a:off x="366713" y="4942915"/>
                <a:ext cx="1920875" cy="460375"/>
              </a:xfrm>
              <a:custGeom>
                <a:avLst/>
                <a:gdLst>
                  <a:gd name="T0" fmla="*/ 0 w 4839"/>
                  <a:gd name="T1" fmla="*/ 0 h 1160"/>
                  <a:gd name="T2" fmla="*/ 1031 w 4839"/>
                  <a:gd name="T3" fmla="*/ 1160 h 1160"/>
                  <a:gd name="T4" fmla="*/ 4839 w 4839"/>
                  <a:gd name="T5" fmla="*/ 1160 h 1160"/>
                  <a:gd name="T6" fmla="*/ 3808 w 4839"/>
                  <a:gd name="T7" fmla="*/ 0 h 1160"/>
                  <a:gd name="T8" fmla="*/ 0 w 4839"/>
                  <a:gd name="T9" fmla="*/ 0 h 1160"/>
                </a:gdLst>
                <a:ahLst/>
                <a:cxnLst>
                  <a:cxn ang="0">
                    <a:pos x="T0" y="T1"/>
                  </a:cxn>
                  <a:cxn ang="0">
                    <a:pos x="T2" y="T3"/>
                  </a:cxn>
                  <a:cxn ang="0">
                    <a:pos x="T4" y="T5"/>
                  </a:cxn>
                  <a:cxn ang="0">
                    <a:pos x="T6" y="T7"/>
                  </a:cxn>
                  <a:cxn ang="0">
                    <a:pos x="T8" y="T9"/>
                  </a:cxn>
                </a:cxnLst>
                <a:rect l="0" t="0" r="r" b="b"/>
                <a:pathLst>
                  <a:path w="4839" h="1160">
                    <a:moveTo>
                      <a:pt x="0" y="0"/>
                    </a:moveTo>
                    <a:lnTo>
                      <a:pt x="1031" y="1160"/>
                    </a:lnTo>
                    <a:lnTo>
                      <a:pt x="4839" y="1160"/>
                    </a:lnTo>
                    <a:lnTo>
                      <a:pt x="3808" y="0"/>
                    </a:lnTo>
                    <a:lnTo>
                      <a:pt x="0" y="0"/>
                    </a:lnTo>
                    <a:close/>
                  </a:path>
                </a:pathLst>
              </a:custGeom>
              <a:solidFill>
                <a:srgbClr val="F2C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Rectangle 21"/>
              <p:cNvSpPr>
                <a:spLocks noChangeArrowheads="1"/>
              </p:cNvSpPr>
              <p:nvPr/>
            </p:nvSpPr>
            <p:spPr bwMode="auto">
              <a:xfrm>
                <a:off x="8450637" y="4942915"/>
                <a:ext cx="231775" cy="460375"/>
              </a:xfrm>
              <a:prstGeom prst="rect">
                <a:avLst/>
              </a:prstGeom>
              <a:solidFill>
                <a:srgbClr val="F2C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Rectangle 22"/>
              <p:cNvSpPr>
                <a:spLocks noChangeArrowheads="1"/>
              </p:cNvSpPr>
              <p:nvPr/>
            </p:nvSpPr>
            <p:spPr bwMode="auto">
              <a:xfrm>
                <a:off x="8450637" y="5403290"/>
                <a:ext cx="231775" cy="460375"/>
              </a:xfrm>
              <a:prstGeom prst="rect">
                <a:avLst/>
              </a:prstGeom>
              <a:solidFill>
                <a:srgbClr val="F2C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27"/>
              <p:cNvSpPr>
                <a:spLocks/>
              </p:cNvSpPr>
              <p:nvPr/>
            </p:nvSpPr>
            <p:spPr bwMode="auto">
              <a:xfrm>
                <a:off x="2016273" y="5418335"/>
                <a:ext cx="6376988" cy="460376"/>
              </a:xfrm>
              <a:custGeom>
                <a:avLst/>
                <a:gdLst>
                  <a:gd name="T0" fmla="*/ 16069 w 16069"/>
                  <a:gd name="T1" fmla="*/ 0 h 1161"/>
                  <a:gd name="T2" fmla="*/ 16069 w 16069"/>
                  <a:gd name="T3" fmla="*/ 1161 h 1161"/>
                  <a:gd name="T4" fmla="*/ 0 w 16069"/>
                  <a:gd name="T5" fmla="*/ 1161 h 1161"/>
                  <a:gd name="T6" fmla="*/ 1031 w 16069"/>
                  <a:gd name="T7" fmla="*/ 0 h 1161"/>
                  <a:gd name="T8" fmla="*/ 16069 w 16069"/>
                  <a:gd name="T9" fmla="*/ 0 h 1161"/>
                </a:gdLst>
                <a:ahLst/>
                <a:cxnLst>
                  <a:cxn ang="0">
                    <a:pos x="T0" y="T1"/>
                  </a:cxn>
                  <a:cxn ang="0">
                    <a:pos x="T2" y="T3"/>
                  </a:cxn>
                  <a:cxn ang="0">
                    <a:pos x="T4" y="T5"/>
                  </a:cxn>
                  <a:cxn ang="0">
                    <a:pos x="T6" y="T7"/>
                  </a:cxn>
                  <a:cxn ang="0">
                    <a:pos x="T8" y="T9"/>
                  </a:cxn>
                </a:cxnLst>
                <a:rect l="0" t="0" r="r" b="b"/>
                <a:pathLst>
                  <a:path w="16069" h="1161">
                    <a:moveTo>
                      <a:pt x="16069" y="0"/>
                    </a:moveTo>
                    <a:lnTo>
                      <a:pt x="16069" y="1161"/>
                    </a:lnTo>
                    <a:lnTo>
                      <a:pt x="0" y="1161"/>
                    </a:lnTo>
                    <a:lnTo>
                      <a:pt x="1031" y="0"/>
                    </a:lnTo>
                    <a:lnTo>
                      <a:pt x="16069" y="0"/>
                    </a:lnTo>
                    <a:close/>
                  </a:path>
                </a:pathLst>
              </a:custGeom>
              <a:solidFill>
                <a:srgbClr val="E5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8" name="Freeform 28"/>
              <p:cNvSpPr>
                <a:spLocks/>
              </p:cNvSpPr>
              <p:nvPr/>
            </p:nvSpPr>
            <p:spPr bwMode="auto">
              <a:xfrm>
                <a:off x="2036936" y="4955369"/>
                <a:ext cx="6376988" cy="460375"/>
              </a:xfrm>
              <a:custGeom>
                <a:avLst/>
                <a:gdLst>
                  <a:gd name="T0" fmla="*/ 0 w 16069"/>
                  <a:gd name="T1" fmla="*/ 0 h 1160"/>
                  <a:gd name="T2" fmla="*/ 1031 w 16069"/>
                  <a:gd name="T3" fmla="*/ 1160 h 1160"/>
                  <a:gd name="T4" fmla="*/ 16069 w 16069"/>
                  <a:gd name="T5" fmla="*/ 1160 h 1160"/>
                  <a:gd name="T6" fmla="*/ 16069 w 16069"/>
                  <a:gd name="T7" fmla="*/ 0 h 1160"/>
                  <a:gd name="T8" fmla="*/ 0 w 16069"/>
                  <a:gd name="T9" fmla="*/ 0 h 1160"/>
                </a:gdLst>
                <a:ahLst/>
                <a:cxnLst>
                  <a:cxn ang="0">
                    <a:pos x="T0" y="T1"/>
                  </a:cxn>
                  <a:cxn ang="0">
                    <a:pos x="T2" y="T3"/>
                  </a:cxn>
                  <a:cxn ang="0">
                    <a:pos x="T4" y="T5"/>
                  </a:cxn>
                  <a:cxn ang="0">
                    <a:pos x="T6" y="T7"/>
                  </a:cxn>
                  <a:cxn ang="0">
                    <a:pos x="T8" y="T9"/>
                  </a:cxn>
                </a:cxnLst>
                <a:rect l="0" t="0" r="r" b="b"/>
                <a:pathLst>
                  <a:path w="16069" h="1160">
                    <a:moveTo>
                      <a:pt x="0" y="0"/>
                    </a:moveTo>
                    <a:lnTo>
                      <a:pt x="1031" y="1160"/>
                    </a:lnTo>
                    <a:lnTo>
                      <a:pt x="16069" y="1160"/>
                    </a:lnTo>
                    <a:lnTo>
                      <a:pt x="16069" y="0"/>
                    </a:lnTo>
                    <a:lnTo>
                      <a:pt x="0" y="0"/>
                    </a:lnTo>
                    <a:close/>
                  </a:path>
                </a:pathLst>
              </a:custGeom>
              <a:solidFill>
                <a:srgbClr val="F1F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9" name="TextBox 128"/>
              <p:cNvSpPr txBox="1"/>
              <p:nvPr/>
            </p:nvSpPr>
            <p:spPr>
              <a:xfrm>
                <a:off x="632888" y="5187906"/>
                <a:ext cx="1411622" cy="273406"/>
              </a:xfrm>
              <a:prstGeom prst="rect">
                <a:avLst/>
              </a:prstGeom>
              <a:noFill/>
            </p:spPr>
            <p:txBody>
              <a:bodyPr wrap="square" rtlCol="0">
                <a:spAutoFit/>
              </a:bodyPr>
              <a:lstStyle/>
              <a:p>
                <a:pPr lvl="0" algn="ctr">
                  <a:defRPr/>
                </a:pPr>
                <a:r>
                  <a:rPr lang="en-US" sz="1200" b="1" kern="0" dirty="0">
                    <a:solidFill>
                      <a:sysClr val="windowText" lastClr="000000"/>
                    </a:solidFill>
                  </a:rPr>
                  <a:t>Trade Prospects</a:t>
                </a:r>
              </a:p>
            </p:txBody>
          </p:sp>
          <p:sp>
            <p:nvSpPr>
              <p:cNvPr id="130" name="TextBox 129"/>
              <p:cNvSpPr txBox="1"/>
              <p:nvPr/>
            </p:nvSpPr>
            <p:spPr>
              <a:xfrm>
                <a:off x="2383080" y="4922845"/>
                <a:ext cx="5993524" cy="1048055"/>
              </a:xfrm>
              <a:prstGeom prst="rect">
                <a:avLst/>
              </a:prstGeom>
              <a:noFill/>
            </p:spPr>
            <p:txBody>
              <a:bodyPr wrap="square" rtlCol="0">
                <a:spAutoFit/>
              </a:bodyPr>
              <a:lstStyle>
                <a:defPPr>
                  <a:defRPr lang="en-US"/>
                </a:defPPr>
                <a:lvl1pPr algn="just">
                  <a:spcBef>
                    <a:spcPts val="200"/>
                  </a:spcBef>
                  <a:spcAft>
                    <a:spcPts val="200"/>
                  </a:spcAft>
                  <a:defRPr sz="1100">
                    <a:solidFill>
                      <a:sysClr val="windowText" lastClr="000000"/>
                    </a:solidFill>
                  </a:defRPr>
                </a:lvl1pPr>
              </a:lstStyle>
              <a:p>
                <a:r>
                  <a:rPr lang="en-US" sz="1050" dirty="0"/>
                  <a:t>Global trade is an important indicator of wide business prospects and reaching out to prospective consumers. The open market opportunities presented by global trading are vast, and companies should take advantage of these opportunities to help boost their revenue. Trade between different countries can open up new markets and create relationships with other businesses who can be potential customers. The ability to access goods from other nations gives companies the chance to create a more diverse product offering as well as increase the number of consumers they serve.</a:t>
                </a:r>
              </a:p>
            </p:txBody>
          </p:sp>
        </p:grpSp>
        <p:sp>
          <p:nvSpPr>
            <p:cNvPr id="14" name="TextBox 13"/>
            <p:cNvSpPr txBox="1"/>
            <p:nvPr/>
          </p:nvSpPr>
          <p:spPr>
            <a:xfrm>
              <a:off x="1460382" y="3167047"/>
              <a:ext cx="1219876" cy="471224"/>
            </a:xfrm>
            <a:prstGeom prst="rect">
              <a:avLst/>
            </a:prstGeom>
            <a:noFill/>
          </p:spPr>
          <p:txBody>
            <a:bodyPr wrap="square" rtlCol="0">
              <a:spAutoFit/>
            </a:bodyPr>
            <a:lstStyle>
              <a:defPPr>
                <a:defRPr lang="en-US"/>
              </a:defPPr>
              <a:lvl1pPr algn="ctr">
                <a:defRPr sz="1400" b="1">
                  <a:solidFill>
                    <a:schemeClr val="bg1"/>
                  </a:solidFill>
                </a:defRPr>
              </a:lvl1pPr>
            </a:lstStyle>
            <a:p>
              <a:r>
                <a:rPr lang="en-US" sz="1200" dirty="0">
                  <a:solidFill>
                    <a:prstClr val="black"/>
                  </a:solidFill>
                </a:rPr>
                <a:t>Historical Growth Rate of Companies </a:t>
              </a:r>
            </a:p>
          </p:txBody>
        </p:sp>
        <p:grpSp>
          <p:nvGrpSpPr>
            <p:cNvPr id="155" name="Group 154"/>
            <p:cNvGrpSpPr/>
            <p:nvPr/>
          </p:nvGrpSpPr>
          <p:grpSpPr>
            <a:xfrm>
              <a:off x="8319738" y="1204687"/>
              <a:ext cx="2581614" cy="4579679"/>
              <a:chOff x="7370284" y="1204686"/>
              <a:chExt cx="2346922" cy="4579679"/>
            </a:xfrm>
          </p:grpSpPr>
          <p:sp>
            <p:nvSpPr>
              <p:cNvPr id="7" name="Rectangle 6"/>
              <p:cNvSpPr/>
              <p:nvPr/>
            </p:nvSpPr>
            <p:spPr>
              <a:xfrm>
                <a:off x="7370284" y="1204686"/>
                <a:ext cx="2346922" cy="493241"/>
              </a:xfrm>
              <a:prstGeom prst="rect">
                <a:avLst/>
              </a:prstGeom>
              <a:solidFill>
                <a:srgbClr val="2A5F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Impact</a:t>
                </a:r>
              </a:p>
            </p:txBody>
          </p:sp>
          <p:grpSp>
            <p:nvGrpSpPr>
              <p:cNvPr id="15" name="Group 14"/>
              <p:cNvGrpSpPr/>
              <p:nvPr/>
            </p:nvGrpSpPr>
            <p:grpSpPr>
              <a:xfrm>
                <a:off x="7827486" y="1989208"/>
                <a:ext cx="1488425" cy="414322"/>
                <a:chOff x="3261572" y="2320197"/>
                <a:chExt cx="5722734" cy="438912"/>
              </a:xfrm>
              <a:effectLst/>
            </p:grpSpPr>
            <p:sp>
              <p:nvSpPr>
                <p:cNvPr id="114" name="Rectangle 113"/>
                <p:cNvSpPr/>
                <p:nvPr/>
              </p:nvSpPr>
              <p:spPr>
                <a:xfrm>
                  <a:off x="3261572" y="2320197"/>
                  <a:ext cx="5722734" cy="438912"/>
                </a:xfrm>
                <a:prstGeom prst="rect">
                  <a:avLst/>
                </a:prstGeom>
                <a:solidFill>
                  <a:schemeClr val="bg1">
                    <a:lumMod val="85000"/>
                  </a:schemeClr>
                </a:solidFill>
                <a:ln>
                  <a:solidFill>
                    <a:schemeClr val="bg1"/>
                  </a:solidFill>
                </a:ln>
                <a:effectLst>
                  <a:outerShdw blurRad="152400" dist="317500" dir="5400000" sx="90000" sy="-19000" rotWithShape="0">
                    <a:prstClr val="black">
                      <a:alpha val="15000"/>
                    </a:prstClr>
                  </a:outerShdw>
                </a:effectLst>
              </p:spPr>
              <p:style>
                <a:lnRef idx="1">
                  <a:schemeClr val="dk1"/>
                </a:lnRef>
                <a:fillRef idx="2">
                  <a:schemeClr val="dk1"/>
                </a:fillRef>
                <a:effectRef idx="1">
                  <a:schemeClr val="dk1"/>
                </a:effectRef>
                <a:fontRef idx="minor">
                  <a:schemeClr val="dk1"/>
                </a:fontRef>
              </p:style>
              <p:txBody>
                <a:bodyPr rtlCol="0" anchor="ct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algn="ctr"/>
                  <a:endParaRPr lang="en-US" sz="1000" dirty="0"/>
                </a:p>
              </p:txBody>
            </p:sp>
            <p:sp>
              <p:nvSpPr>
                <p:cNvPr id="115" name="Rectangle 114"/>
                <p:cNvSpPr/>
                <p:nvPr/>
              </p:nvSpPr>
              <p:spPr>
                <a:xfrm>
                  <a:off x="3670163" y="2424837"/>
                  <a:ext cx="980441" cy="175599"/>
                </a:xfrm>
                <a:prstGeom prst="rect">
                  <a:avLst/>
                </a:prstGeom>
                <a:solidFill>
                  <a:srgbClr val="E02D17"/>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16" name="Rectangle 115"/>
                <p:cNvSpPr/>
                <p:nvPr/>
              </p:nvSpPr>
              <p:spPr>
                <a:xfrm>
                  <a:off x="4620347" y="2424837"/>
                  <a:ext cx="980441" cy="175599"/>
                </a:xfrm>
                <a:prstGeom prst="rect">
                  <a:avLst/>
                </a:prstGeom>
                <a:solidFill>
                  <a:srgbClr val="ED82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17" name="Rectangle 116"/>
                <p:cNvSpPr/>
                <p:nvPr/>
              </p:nvSpPr>
              <p:spPr>
                <a:xfrm>
                  <a:off x="5603190" y="2424837"/>
                  <a:ext cx="980441" cy="175599"/>
                </a:xfrm>
                <a:prstGeom prst="rect">
                  <a:avLst/>
                </a:prstGeom>
                <a:solidFill>
                  <a:srgbClr val="E5CB0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18" name="Rectangle 117"/>
                <p:cNvSpPr/>
                <p:nvPr/>
              </p:nvSpPr>
              <p:spPr>
                <a:xfrm>
                  <a:off x="6586035" y="2424837"/>
                  <a:ext cx="980441" cy="175599"/>
                </a:xfrm>
                <a:prstGeom prst="rect">
                  <a:avLst/>
                </a:prstGeom>
                <a:solidFill>
                  <a:srgbClr val="8FAE2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19" name="Rectangle 118"/>
                <p:cNvSpPr/>
                <p:nvPr/>
              </p:nvSpPr>
              <p:spPr>
                <a:xfrm>
                  <a:off x="7568879" y="2424837"/>
                  <a:ext cx="980441" cy="175599"/>
                </a:xfrm>
                <a:prstGeom prst="rect">
                  <a:avLst/>
                </a:prstGeom>
                <a:solidFill>
                  <a:srgbClr val="44A64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20" name="TextBox 19"/>
                <p:cNvSpPr txBox="1"/>
                <p:nvPr/>
              </p:nvSpPr>
              <p:spPr>
                <a:xfrm>
                  <a:off x="3402300" y="2590813"/>
                  <a:ext cx="767609"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Low</a:t>
                  </a:r>
                </a:p>
              </p:txBody>
            </p:sp>
            <p:sp>
              <p:nvSpPr>
                <p:cNvPr id="121" name="TextBox 20"/>
                <p:cNvSpPr txBox="1"/>
                <p:nvPr/>
              </p:nvSpPr>
              <p:spPr>
                <a:xfrm>
                  <a:off x="5335723" y="2590813"/>
                  <a:ext cx="1574435"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Medium</a:t>
                  </a:r>
                </a:p>
              </p:txBody>
            </p:sp>
            <p:sp>
              <p:nvSpPr>
                <p:cNvPr id="122" name="TextBox 21"/>
                <p:cNvSpPr txBox="1"/>
                <p:nvPr/>
              </p:nvSpPr>
              <p:spPr>
                <a:xfrm>
                  <a:off x="8009181" y="2590813"/>
                  <a:ext cx="846051"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High</a:t>
                  </a:r>
                </a:p>
              </p:txBody>
            </p:sp>
          </p:grpSp>
          <p:grpSp>
            <p:nvGrpSpPr>
              <p:cNvPr id="16" name="Group 15"/>
              <p:cNvGrpSpPr/>
              <p:nvPr/>
            </p:nvGrpSpPr>
            <p:grpSpPr>
              <a:xfrm>
                <a:off x="8387969" y="2059729"/>
                <a:ext cx="260918" cy="243605"/>
                <a:chOff x="4729871" y="1860807"/>
                <a:chExt cx="354191" cy="357788"/>
              </a:xfrm>
            </p:grpSpPr>
            <p:sp>
              <p:nvSpPr>
                <p:cNvPr id="112" name="Oval 111"/>
                <p:cNvSpPr/>
                <p:nvPr/>
              </p:nvSpPr>
              <p:spPr bwMode="gray">
                <a:xfrm>
                  <a:off x="4729871" y="1860807"/>
                  <a:ext cx="354191" cy="357788"/>
                </a:xfrm>
                <a:prstGeom prst="ellipse">
                  <a:avLst/>
                </a:prstGeom>
                <a:solidFill>
                  <a:schemeClr val="tx1">
                    <a:lumMod val="75000"/>
                    <a:lumOff val="25000"/>
                  </a:schemeClr>
                </a:solidFill>
                <a:scene3d>
                  <a:camera prst="orthographicFront"/>
                  <a:lightRig rig="threePt" dir="t"/>
                </a:scene3d>
                <a:sp3d>
                  <a:bevelT w="114300" prst="artDeco"/>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13" name="Oval 112"/>
                <p:cNvSpPr/>
                <p:nvPr/>
              </p:nvSpPr>
              <p:spPr bwMode="gray">
                <a:xfrm>
                  <a:off x="4823151" y="1955034"/>
                  <a:ext cx="167631" cy="169333"/>
                </a:xfrm>
                <a:prstGeom prst="ellipse">
                  <a:avLst/>
                </a:prstGeom>
                <a:solidFill>
                  <a:srgbClr val="00B0F0"/>
                </a:solidFill>
                <a:scene3d>
                  <a:camera prst="orthographicFront"/>
                  <a:lightRig rig="threePt" dir="t"/>
                </a:scene3d>
                <a:sp3d>
                  <a:bevelT/>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17" name="Group 16"/>
              <p:cNvGrpSpPr/>
              <p:nvPr/>
            </p:nvGrpSpPr>
            <p:grpSpPr>
              <a:xfrm>
                <a:off x="7782917" y="3074995"/>
                <a:ext cx="1488425" cy="414322"/>
                <a:chOff x="3261572" y="2320197"/>
                <a:chExt cx="5722734" cy="438912"/>
              </a:xfrm>
              <a:effectLst/>
            </p:grpSpPr>
            <p:sp>
              <p:nvSpPr>
                <p:cNvPr id="103" name="Rectangle 102"/>
                <p:cNvSpPr/>
                <p:nvPr/>
              </p:nvSpPr>
              <p:spPr>
                <a:xfrm>
                  <a:off x="3261572" y="2320197"/>
                  <a:ext cx="5722734" cy="438912"/>
                </a:xfrm>
                <a:prstGeom prst="rect">
                  <a:avLst/>
                </a:prstGeom>
                <a:solidFill>
                  <a:schemeClr val="bg1">
                    <a:lumMod val="85000"/>
                  </a:schemeClr>
                </a:solidFill>
                <a:ln>
                  <a:solidFill>
                    <a:schemeClr val="bg1"/>
                  </a:solidFill>
                </a:ln>
                <a:effectLst>
                  <a:outerShdw blurRad="152400" dist="317500" dir="5400000" sx="90000" sy="-19000" rotWithShape="0">
                    <a:prstClr val="black">
                      <a:alpha val="15000"/>
                    </a:prstClr>
                  </a:outerShdw>
                </a:effectLst>
              </p:spPr>
              <p:style>
                <a:lnRef idx="1">
                  <a:schemeClr val="dk1"/>
                </a:lnRef>
                <a:fillRef idx="2">
                  <a:schemeClr val="dk1"/>
                </a:fillRef>
                <a:effectRef idx="1">
                  <a:schemeClr val="dk1"/>
                </a:effectRef>
                <a:fontRef idx="minor">
                  <a:schemeClr val="dk1"/>
                </a:fontRef>
              </p:style>
              <p:txBody>
                <a:bodyPr rtlCol="0" anchor="ct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algn="ctr"/>
                  <a:endParaRPr lang="en-US" sz="1000" dirty="0"/>
                </a:p>
              </p:txBody>
            </p:sp>
            <p:sp>
              <p:nvSpPr>
                <p:cNvPr id="104" name="Rectangle 103"/>
                <p:cNvSpPr/>
                <p:nvPr/>
              </p:nvSpPr>
              <p:spPr>
                <a:xfrm>
                  <a:off x="3670163" y="2424837"/>
                  <a:ext cx="980441" cy="175599"/>
                </a:xfrm>
                <a:prstGeom prst="rect">
                  <a:avLst/>
                </a:prstGeom>
                <a:solidFill>
                  <a:srgbClr val="E02D17"/>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05" name="Rectangle 104"/>
                <p:cNvSpPr/>
                <p:nvPr/>
              </p:nvSpPr>
              <p:spPr>
                <a:xfrm>
                  <a:off x="4620347" y="2424837"/>
                  <a:ext cx="980441" cy="175599"/>
                </a:xfrm>
                <a:prstGeom prst="rect">
                  <a:avLst/>
                </a:prstGeom>
                <a:solidFill>
                  <a:srgbClr val="ED82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06" name="Rectangle 105"/>
                <p:cNvSpPr/>
                <p:nvPr/>
              </p:nvSpPr>
              <p:spPr>
                <a:xfrm>
                  <a:off x="5603190" y="2424837"/>
                  <a:ext cx="980441" cy="175599"/>
                </a:xfrm>
                <a:prstGeom prst="rect">
                  <a:avLst/>
                </a:prstGeom>
                <a:solidFill>
                  <a:srgbClr val="E5CB0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07" name="Rectangle 106"/>
                <p:cNvSpPr/>
                <p:nvPr/>
              </p:nvSpPr>
              <p:spPr>
                <a:xfrm>
                  <a:off x="6586035" y="2424837"/>
                  <a:ext cx="980441" cy="175599"/>
                </a:xfrm>
                <a:prstGeom prst="rect">
                  <a:avLst/>
                </a:prstGeom>
                <a:solidFill>
                  <a:srgbClr val="8FAE2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08" name="Rectangle 107"/>
                <p:cNvSpPr/>
                <p:nvPr/>
              </p:nvSpPr>
              <p:spPr>
                <a:xfrm>
                  <a:off x="7568879" y="2424837"/>
                  <a:ext cx="980441" cy="175599"/>
                </a:xfrm>
                <a:prstGeom prst="rect">
                  <a:avLst/>
                </a:prstGeom>
                <a:solidFill>
                  <a:srgbClr val="44A64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09" name="TextBox 19"/>
                <p:cNvSpPr txBox="1"/>
                <p:nvPr/>
              </p:nvSpPr>
              <p:spPr>
                <a:xfrm>
                  <a:off x="3402300" y="2590813"/>
                  <a:ext cx="767609"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Low</a:t>
                  </a:r>
                </a:p>
              </p:txBody>
            </p:sp>
            <p:sp>
              <p:nvSpPr>
                <p:cNvPr id="110" name="TextBox 20"/>
                <p:cNvSpPr txBox="1"/>
                <p:nvPr/>
              </p:nvSpPr>
              <p:spPr>
                <a:xfrm>
                  <a:off x="5335723" y="2590813"/>
                  <a:ext cx="1574435"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Medium</a:t>
                  </a:r>
                </a:p>
              </p:txBody>
            </p:sp>
            <p:sp>
              <p:nvSpPr>
                <p:cNvPr id="111" name="TextBox 21"/>
                <p:cNvSpPr txBox="1"/>
                <p:nvPr/>
              </p:nvSpPr>
              <p:spPr>
                <a:xfrm>
                  <a:off x="8009181" y="2590813"/>
                  <a:ext cx="846051"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High</a:t>
                  </a:r>
                </a:p>
              </p:txBody>
            </p:sp>
          </p:grpSp>
          <p:grpSp>
            <p:nvGrpSpPr>
              <p:cNvPr id="18" name="Group 17"/>
              <p:cNvGrpSpPr/>
              <p:nvPr/>
            </p:nvGrpSpPr>
            <p:grpSpPr>
              <a:xfrm>
                <a:off x="8670706" y="3132465"/>
                <a:ext cx="260919" cy="243605"/>
                <a:chOff x="4860724" y="1842817"/>
                <a:chExt cx="354191" cy="357788"/>
              </a:xfrm>
            </p:grpSpPr>
            <p:sp>
              <p:nvSpPr>
                <p:cNvPr id="101" name="Oval 100"/>
                <p:cNvSpPr/>
                <p:nvPr/>
              </p:nvSpPr>
              <p:spPr bwMode="gray">
                <a:xfrm>
                  <a:off x="4860724" y="1842817"/>
                  <a:ext cx="354191" cy="357788"/>
                </a:xfrm>
                <a:prstGeom prst="ellipse">
                  <a:avLst/>
                </a:prstGeom>
                <a:solidFill>
                  <a:schemeClr val="tx1">
                    <a:lumMod val="75000"/>
                    <a:lumOff val="25000"/>
                  </a:schemeClr>
                </a:solidFill>
                <a:scene3d>
                  <a:camera prst="orthographicFront"/>
                  <a:lightRig rig="threePt" dir="t"/>
                </a:scene3d>
                <a:sp3d>
                  <a:bevelT w="114300" prst="artDeco"/>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02" name="Oval 101"/>
                <p:cNvSpPr/>
                <p:nvPr/>
              </p:nvSpPr>
              <p:spPr bwMode="gray">
                <a:xfrm>
                  <a:off x="4953985" y="1937044"/>
                  <a:ext cx="167631" cy="169333"/>
                </a:xfrm>
                <a:prstGeom prst="ellipse">
                  <a:avLst/>
                </a:prstGeom>
                <a:solidFill>
                  <a:srgbClr val="00B0F0"/>
                </a:solidFill>
                <a:scene3d>
                  <a:camera prst="orthographicFront"/>
                  <a:lightRig rig="threePt" dir="t"/>
                </a:scene3d>
                <a:sp3d>
                  <a:bevelT/>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19" name="Group 18"/>
              <p:cNvGrpSpPr/>
              <p:nvPr/>
            </p:nvGrpSpPr>
            <p:grpSpPr>
              <a:xfrm>
                <a:off x="7802126" y="4222519"/>
                <a:ext cx="1488425" cy="414322"/>
                <a:chOff x="3261572" y="2320197"/>
                <a:chExt cx="5722734" cy="438912"/>
              </a:xfrm>
              <a:effectLst/>
            </p:grpSpPr>
            <p:sp>
              <p:nvSpPr>
                <p:cNvPr id="92" name="Rectangle 91"/>
                <p:cNvSpPr/>
                <p:nvPr/>
              </p:nvSpPr>
              <p:spPr>
                <a:xfrm>
                  <a:off x="3261572" y="2320197"/>
                  <a:ext cx="5722734" cy="438912"/>
                </a:xfrm>
                <a:prstGeom prst="rect">
                  <a:avLst/>
                </a:prstGeom>
                <a:solidFill>
                  <a:schemeClr val="bg1">
                    <a:lumMod val="85000"/>
                  </a:schemeClr>
                </a:solidFill>
                <a:ln>
                  <a:solidFill>
                    <a:schemeClr val="bg1"/>
                  </a:solidFill>
                </a:ln>
                <a:effectLst>
                  <a:outerShdw blurRad="152400" dist="317500" dir="5400000" sx="90000" sy="-19000" rotWithShape="0">
                    <a:prstClr val="black">
                      <a:alpha val="15000"/>
                    </a:prstClr>
                  </a:outerShdw>
                </a:effectLst>
              </p:spPr>
              <p:style>
                <a:lnRef idx="1">
                  <a:schemeClr val="dk1"/>
                </a:lnRef>
                <a:fillRef idx="2">
                  <a:schemeClr val="dk1"/>
                </a:fillRef>
                <a:effectRef idx="1">
                  <a:schemeClr val="dk1"/>
                </a:effectRef>
                <a:fontRef idx="minor">
                  <a:schemeClr val="dk1"/>
                </a:fontRef>
              </p:style>
              <p:txBody>
                <a:bodyPr rtlCol="0" anchor="ct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algn="ctr"/>
                  <a:endParaRPr lang="en-US" sz="1000" dirty="0"/>
                </a:p>
              </p:txBody>
            </p:sp>
            <p:sp>
              <p:nvSpPr>
                <p:cNvPr id="93" name="Rectangle 92"/>
                <p:cNvSpPr/>
                <p:nvPr/>
              </p:nvSpPr>
              <p:spPr>
                <a:xfrm>
                  <a:off x="3670163" y="2424837"/>
                  <a:ext cx="980441" cy="175599"/>
                </a:xfrm>
                <a:prstGeom prst="rect">
                  <a:avLst/>
                </a:prstGeom>
                <a:solidFill>
                  <a:srgbClr val="E02D17"/>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94" name="Rectangle 93"/>
                <p:cNvSpPr/>
                <p:nvPr/>
              </p:nvSpPr>
              <p:spPr>
                <a:xfrm>
                  <a:off x="4620347" y="2424837"/>
                  <a:ext cx="980441" cy="175599"/>
                </a:xfrm>
                <a:prstGeom prst="rect">
                  <a:avLst/>
                </a:prstGeom>
                <a:solidFill>
                  <a:srgbClr val="ED82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95" name="Rectangle 94"/>
                <p:cNvSpPr/>
                <p:nvPr/>
              </p:nvSpPr>
              <p:spPr>
                <a:xfrm>
                  <a:off x="5603190" y="2424837"/>
                  <a:ext cx="980441" cy="175599"/>
                </a:xfrm>
                <a:prstGeom prst="rect">
                  <a:avLst/>
                </a:prstGeom>
                <a:solidFill>
                  <a:srgbClr val="E5CB0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96" name="Rectangle 95"/>
                <p:cNvSpPr/>
                <p:nvPr/>
              </p:nvSpPr>
              <p:spPr>
                <a:xfrm>
                  <a:off x="6586035" y="2424837"/>
                  <a:ext cx="980441" cy="175599"/>
                </a:xfrm>
                <a:prstGeom prst="rect">
                  <a:avLst/>
                </a:prstGeom>
                <a:solidFill>
                  <a:srgbClr val="8FAE2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97" name="Rectangle 96"/>
                <p:cNvSpPr/>
                <p:nvPr/>
              </p:nvSpPr>
              <p:spPr>
                <a:xfrm>
                  <a:off x="7568879" y="2424837"/>
                  <a:ext cx="980441" cy="175599"/>
                </a:xfrm>
                <a:prstGeom prst="rect">
                  <a:avLst/>
                </a:prstGeom>
                <a:solidFill>
                  <a:srgbClr val="44A64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98" name="TextBox 19"/>
                <p:cNvSpPr txBox="1"/>
                <p:nvPr/>
              </p:nvSpPr>
              <p:spPr>
                <a:xfrm>
                  <a:off x="3402300" y="2590813"/>
                  <a:ext cx="767609"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Low</a:t>
                  </a:r>
                </a:p>
              </p:txBody>
            </p:sp>
            <p:sp>
              <p:nvSpPr>
                <p:cNvPr id="99" name="TextBox 20"/>
                <p:cNvSpPr txBox="1"/>
                <p:nvPr/>
              </p:nvSpPr>
              <p:spPr>
                <a:xfrm>
                  <a:off x="5335723" y="2590813"/>
                  <a:ext cx="1574435"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Medium</a:t>
                  </a:r>
                </a:p>
              </p:txBody>
            </p:sp>
            <p:sp>
              <p:nvSpPr>
                <p:cNvPr id="100" name="TextBox 21"/>
                <p:cNvSpPr txBox="1"/>
                <p:nvPr/>
              </p:nvSpPr>
              <p:spPr>
                <a:xfrm>
                  <a:off x="8009181" y="2590813"/>
                  <a:ext cx="846051"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High</a:t>
                  </a:r>
                </a:p>
              </p:txBody>
            </p:sp>
          </p:grpSp>
          <p:grpSp>
            <p:nvGrpSpPr>
              <p:cNvPr id="20" name="Group 19"/>
              <p:cNvGrpSpPr/>
              <p:nvPr/>
            </p:nvGrpSpPr>
            <p:grpSpPr>
              <a:xfrm>
                <a:off x="8510654" y="4293438"/>
                <a:ext cx="260918" cy="243605"/>
                <a:chOff x="4455478" y="1860807"/>
                <a:chExt cx="354191" cy="357788"/>
              </a:xfrm>
            </p:grpSpPr>
            <p:sp>
              <p:nvSpPr>
                <p:cNvPr id="90" name="Oval 89"/>
                <p:cNvSpPr/>
                <p:nvPr/>
              </p:nvSpPr>
              <p:spPr bwMode="gray">
                <a:xfrm>
                  <a:off x="4455478" y="1860807"/>
                  <a:ext cx="354191" cy="357788"/>
                </a:xfrm>
                <a:prstGeom prst="ellipse">
                  <a:avLst/>
                </a:prstGeom>
                <a:solidFill>
                  <a:schemeClr val="tx1">
                    <a:lumMod val="75000"/>
                    <a:lumOff val="25000"/>
                  </a:schemeClr>
                </a:solidFill>
                <a:scene3d>
                  <a:camera prst="orthographicFront"/>
                  <a:lightRig rig="threePt" dir="t"/>
                </a:scene3d>
                <a:sp3d>
                  <a:bevelT w="114300" prst="artDeco"/>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91" name="Oval 90"/>
                <p:cNvSpPr/>
                <p:nvPr/>
              </p:nvSpPr>
              <p:spPr bwMode="gray">
                <a:xfrm>
                  <a:off x="4548756" y="1955034"/>
                  <a:ext cx="167631" cy="169333"/>
                </a:xfrm>
                <a:prstGeom prst="ellipse">
                  <a:avLst/>
                </a:prstGeom>
                <a:solidFill>
                  <a:srgbClr val="00B0F0"/>
                </a:solidFill>
                <a:scene3d>
                  <a:camera prst="orthographicFront"/>
                  <a:lightRig rig="threePt" dir="t"/>
                </a:scene3d>
                <a:sp3d>
                  <a:bevelT/>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21" name="Group 20"/>
              <p:cNvGrpSpPr/>
              <p:nvPr/>
            </p:nvGrpSpPr>
            <p:grpSpPr>
              <a:xfrm>
                <a:off x="7782917" y="5370043"/>
                <a:ext cx="1488425" cy="414322"/>
                <a:chOff x="3261572" y="2320197"/>
                <a:chExt cx="5722734" cy="438912"/>
              </a:xfrm>
              <a:effectLst/>
            </p:grpSpPr>
            <p:sp>
              <p:nvSpPr>
                <p:cNvPr id="81" name="Rectangle 80"/>
                <p:cNvSpPr/>
                <p:nvPr/>
              </p:nvSpPr>
              <p:spPr>
                <a:xfrm>
                  <a:off x="3261572" y="2320197"/>
                  <a:ext cx="5722734" cy="438912"/>
                </a:xfrm>
                <a:prstGeom prst="rect">
                  <a:avLst/>
                </a:prstGeom>
                <a:solidFill>
                  <a:schemeClr val="bg1">
                    <a:lumMod val="85000"/>
                  </a:schemeClr>
                </a:solidFill>
                <a:ln>
                  <a:solidFill>
                    <a:schemeClr val="bg1"/>
                  </a:solidFill>
                </a:ln>
                <a:effectLst>
                  <a:outerShdw blurRad="152400" dist="317500" dir="5400000" sx="90000" sy="-19000" rotWithShape="0">
                    <a:prstClr val="black">
                      <a:alpha val="15000"/>
                    </a:prstClr>
                  </a:outerShdw>
                </a:effectLst>
              </p:spPr>
              <p:style>
                <a:lnRef idx="1">
                  <a:schemeClr val="dk1"/>
                </a:lnRef>
                <a:fillRef idx="2">
                  <a:schemeClr val="dk1"/>
                </a:fillRef>
                <a:effectRef idx="1">
                  <a:schemeClr val="dk1"/>
                </a:effectRef>
                <a:fontRef idx="minor">
                  <a:schemeClr val="dk1"/>
                </a:fontRef>
              </p:style>
              <p:txBody>
                <a:bodyPr rtlCol="0" anchor="ct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algn="ctr"/>
                  <a:endParaRPr lang="en-US" sz="1000" dirty="0"/>
                </a:p>
              </p:txBody>
            </p:sp>
            <p:sp>
              <p:nvSpPr>
                <p:cNvPr id="82" name="Rectangle 81"/>
                <p:cNvSpPr/>
                <p:nvPr/>
              </p:nvSpPr>
              <p:spPr>
                <a:xfrm>
                  <a:off x="3670163" y="2424837"/>
                  <a:ext cx="980441" cy="175599"/>
                </a:xfrm>
                <a:prstGeom prst="rect">
                  <a:avLst/>
                </a:prstGeom>
                <a:solidFill>
                  <a:srgbClr val="E02D17"/>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83" name="Rectangle 82"/>
                <p:cNvSpPr/>
                <p:nvPr/>
              </p:nvSpPr>
              <p:spPr>
                <a:xfrm>
                  <a:off x="4620347" y="2424837"/>
                  <a:ext cx="980441" cy="175599"/>
                </a:xfrm>
                <a:prstGeom prst="rect">
                  <a:avLst/>
                </a:prstGeom>
                <a:solidFill>
                  <a:srgbClr val="ED82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84" name="Rectangle 83"/>
                <p:cNvSpPr/>
                <p:nvPr/>
              </p:nvSpPr>
              <p:spPr>
                <a:xfrm>
                  <a:off x="5603190" y="2424837"/>
                  <a:ext cx="980441" cy="175599"/>
                </a:xfrm>
                <a:prstGeom prst="rect">
                  <a:avLst/>
                </a:prstGeom>
                <a:solidFill>
                  <a:srgbClr val="E5CB0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85" name="Rectangle 84"/>
                <p:cNvSpPr/>
                <p:nvPr/>
              </p:nvSpPr>
              <p:spPr>
                <a:xfrm>
                  <a:off x="6586035" y="2424837"/>
                  <a:ext cx="980441" cy="175599"/>
                </a:xfrm>
                <a:prstGeom prst="rect">
                  <a:avLst/>
                </a:prstGeom>
                <a:solidFill>
                  <a:srgbClr val="8FAE2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86" name="Rectangle 85"/>
                <p:cNvSpPr/>
                <p:nvPr/>
              </p:nvSpPr>
              <p:spPr>
                <a:xfrm>
                  <a:off x="7568879" y="2424837"/>
                  <a:ext cx="980441" cy="175599"/>
                </a:xfrm>
                <a:prstGeom prst="rect">
                  <a:avLst/>
                </a:prstGeom>
                <a:solidFill>
                  <a:srgbClr val="44A64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87" name="TextBox 19"/>
                <p:cNvSpPr txBox="1"/>
                <p:nvPr/>
              </p:nvSpPr>
              <p:spPr>
                <a:xfrm>
                  <a:off x="3402300" y="2590813"/>
                  <a:ext cx="767609"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Low</a:t>
                  </a:r>
                </a:p>
              </p:txBody>
            </p:sp>
            <p:sp>
              <p:nvSpPr>
                <p:cNvPr id="88" name="TextBox 20"/>
                <p:cNvSpPr txBox="1"/>
                <p:nvPr/>
              </p:nvSpPr>
              <p:spPr>
                <a:xfrm>
                  <a:off x="5335723" y="2590813"/>
                  <a:ext cx="1574435"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Medium</a:t>
                  </a:r>
                </a:p>
              </p:txBody>
            </p:sp>
            <p:sp>
              <p:nvSpPr>
                <p:cNvPr id="89" name="TextBox 21"/>
                <p:cNvSpPr txBox="1"/>
                <p:nvPr/>
              </p:nvSpPr>
              <p:spPr>
                <a:xfrm>
                  <a:off x="8009181" y="2590813"/>
                  <a:ext cx="846051"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High</a:t>
                  </a:r>
                </a:p>
              </p:txBody>
            </p:sp>
          </p:grpSp>
          <p:grpSp>
            <p:nvGrpSpPr>
              <p:cNvPr id="22" name="Group 21"/>
              <p:cNvGrpSpPr/>
              <p:nvPr/>
            </p:nvGrpSpPr>
            <p:grpSpPr>
              <a:xfrm>
                <a:off x="8642344" y="5454989"/>
                <a:ext cx="260918" cy="243605"/>
                <a:chOff x="4935921" y="1860807"/>
                <a:chExt cx="354191" cy="357788"/>
              </a:xfrm>
            </p:grpSpPr>
            <p:sp>
              <p:nvSpPr>
                <p:cNvPr id="79" name="Oval 78"/>
                <p:cNvSpPr/>
                <p:nvPr/>
              </p:nvSpPr>
              <p:spPr bwMode="gray">
                <a:xfrm>
                  <a:off x="4935921" y="1860807"/>
                  <a:ext cx="354191" cy="357788"/>
                </a:xfrm>
                <a:prstGeom prst="ellipse">
                  <a:avLst/>
                </a:prstGeom>
                <a:solidFill>
                  <a:schemeClr val="tx1">
                    <a:lumMod val="75000"/>
                    <a:lumOff val="25000"/>
                  </a:schemeClr>
                </a:solidFill>
                <a:scene3d>
                  <a:camera prst="orthographicFront"/>
                  <a:lightRig rig="threePt" dir="t"/>
                </a:scene3d>
                <a:sp3d>
                  <a:bevelT w="114300" prst="artDeco"/>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0" name="Oval 79"/>
                <p:cNvSpPr/>
                <p:nvPr/>
              </p:nvSpPr>
              <p:spPr bwMode="gray">
                <a:xfrm>
                  <a:off x="5029201" y="1955034"/>
                  <a:ext cx="167631" cy="169333"/>
                </a:xfrm>
                <a:prstGeom prst="ellipse">
                  <a:avLst/>
                </a:prstGeom>
                <a:solidFill>
                  <a:srgbClr val="00B0F0"/>
                </a:solidFill>
                <a:scene3d>
                  <a:camera prst="orthographicFront"/>
                  <a:lightRig rig="threePt" dir="t"/>
                </a:scene3d>
                <a:sp3d>
                  <a:bevelT/>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grpSp>
      <p:sp>
        <p:nvSpPr>
          <p:cNvPr id="157" name="TextBox 156"/>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4" name="Slide Number Placeholder 3"/>
          <p:cNvSpPr>
            <a:spLocks noGrp="1"/>
          </p:cNvSpPr>
          <p:nvPr>
            <p:ph type="sldNum" sz="quarter" idx="4"/>
          </p:nvPr>
        </p:nvSpPr>
        <p:spPr/>
        <p:txBody>
          <a:bodyPr/>
          <a:lstStyle/>
          <a:p>
            <a:fld id="{4B17068C-EB94-40A3-A5F2-664CDD77FDAC}" type="slidenum">
              <a:rPr lang="en-GB" smtClean="0"/>
              <a:pPr/>
              <a:t>50</a:t>
            </a:fld>
            <a:endParaRPr lang="en-GB" dirty="0"/>
          </a:p>
        </p:txBody>
      </p:sp>
    </p:spTree>
    <p:extLst>
      <p:ext uri="{BB962C8B-B14F-4D97-AF65-F5344CB8AC3E}">
        <p14:creationId xmlns:p14="http://schemas.microsoft.com/office/powerpoint/2010/main" val="313354652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Forecast Factors: Relevance and Impact (2/2)</a:t>
            </a:r>
          </a:p>
        </p:txBody>
      </p:sp>
      <p:sp>
        <p:nvSpPr>
          <p:cNvPr id="156" name="Freeform 26"/>
          <p:cNvSpPr>
            <a:spLocks/>
          </p:cNvSpPr>
          <p:nvPr/>
        </p:nvSpPr>
        <p:spPr bwMode="auto">
          <a:xfrm>
            <a:off x="1842560" y="2977006"/>
            <a:ext cx="6284744" cy="461908"/>
          </a:xfrm>
          <a:custGeom>
            <a:avLst/>
            <a:gdLst>
              <a:gd name="T0" fmla="*/ 0 w 16069"/>
              <a:gd name="T1" fmla="*/ 0 h 1159"/>
              <a:gd name="T2" fmla="*/ 1031 w 16069"/>
              <a:gd name="T3" fmla="*/ 1159 h 1159"/>
              <a:gd name="T4" fmla="*/ 16069 w 16069"/>
              <a:gd name="T5" fmla="*/ 1159 h 1159"/>
              <a:gd name="T6" fmla="*/ 16069 w 16069"/>
              <a:gd name="T7" fmla="*/ 0 h 1159"/>
              <a:gd name="T8" fmla="*/ 0 w 16069"/>
              <a:gd name="T9" fmla="*/ 0 h 1159"/>
            </a:gdLst>
            <a:ahLst/>
            <a:cxnLst>
              <a:cxn ang="0">
                <a:pos x="T0" y="T1"/>
              </a:cxn>
              <a:cxn ang="0">
                <a:pos x="T2" y="T3"/>
              </a:cxn>
              <a:cxn ang="0">
                <a:pos x="T4" y="T5"/>
              </a:cxn>
              <a:cxn ang="0">
                <a:pos x="T6" y="T7"/>
              </a:cxn>
              <a:cxn ang="0">
                <a:pos x="T8" y="T9"/>
              </a:cxn>
            </a:cxnLst>
            <a:rect l="0" t="0" r="r" b="b"/>
            <a:pathLst>
              <a:path w="16069" h="1159">
                <a:moveTo>
                  <a:pt x="0" y="0"/>
                </a:moveTo>
                <a:lnTo>
                  <a:pt x="1031" y="1159"/>
                </a:lnTo>
                <a:lnTo>
                  <a:pt x="16069" y="1159"/>
                </a:lnTo>
                <a:lnTo>
                  <a:pt x="16069" y="0"/>
                </a:lnTo>
                <a:lnTo>
                  <a:pt x="0" y="0"/>
                </a:lnTo>
                <a:close/>
              </a:path>
            </a:pathLst>
          </a:custGeom>
          <a:solidFill>
            <a:srgbClr val="F1F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 name="Rectangle 4"/>
          <p:cNvSpPr/>
          <p:nvPr/>
        </p:nvSpPr>
        <p:spPr>
          <a:xfrm>
            <a:off x="183320" y="1273935"/>
            <a:ext cx="1929945" cy="483235"/>
          </a:xfrm>
          <a:prstGeom prst="rect">
            <a:avLst/>
          </a:prstGeom>
          <a:solidFill>
            <a:srgbClr val="2A5F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Market Force</a:t>
            </a:r>
          </a:p>
        </p:txBody>
      </p:sp>
      <p:sp>
        <p:nvSpPr>
          <p:cNvPr id="6" name="Rectangle 5"/>
          <p:cNvSpPr/>
          <p:nvPr/>
        </p:nvSpPr>
        <p:spPr>
          <a:xfrm>
            <a:off x="2193725" y="1273935"/>
            <a:ext cx="6185006" cy="483235"/>
          </a:xfrm>
          <a:prstGeom prst="rect">
            <a:avLst/>
          </a:prstGeom>
          <a:solidFill>
            <a:srgbClr val="2A5F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TMR Perspective and Assumptions</a:t>
            </a:r>
          </a:p>
        </p:txBody>
      </p:sp>
      <p:grpSp>
        <p:nvGrpSpPr>
          <p:cNvPr id="10" name="Group 9"/>
          <p:cNvGrpSpPr/>
          <p:nvPr/>
        </p:nvGrpSpPr>
        <p:grpSpPr>
          <a:xfrm>
            <a:off x="183320" y="1787040"/>
            <a:ext cx="8195411" cy="1061829"/>
            <a:chOff x="366713" y="1752962"/>
            <a:chExt cx="8315699" cy="1112386"/>
          </a:xfrm>
        </p:grpSpPr>
        <p:sp>
          <p:nvSpPr>
            <p:cNvPr id="146" name="Freeform 5"/>
            <p:cNvSpPr>
              <a:spLocks/>
            </p:cNvSpPr>
            <p:nvPr/>
          </p:nvSpPr>
          <p:spPr bwMode="auto">
            <a:xfrm>
              <a:off x="366713" y="2315603"/>
              <a:ext cx="1920875" cy="460375"/>
            </a:xfrm>
            <a:custGeom>
              <a:avLst/>
              <a:gdLst>
                <a:gd name="T0" fmla="*/ 4839 w 4839"/>
                <a:gd name="T1" fmla="*/ 0 h 1160"/>
                <a:gd name="T2" fmla="*/ 3808 w 4839"/>
                <a:gd name="T3" fmla="*/ 1160 h 1160"/>
                <a:gd name="T4" fmla="*/ 0 w 4839"/>
                <a:gd name="T5" fmla="*/ 1160 h 1160"/>
                <a:gd name="T6" fmla="*/ 1031 w 4839"/>
                <a:gd name="T7" fmla="*/ 0 h 1160"/>
                <a:gd name="T8" fmla="*/ 4839 w 4839"/>
                <a:gd name="T9" fmla="*/ 0 h 1160"/>
              </a:gdLst>
              <a:ahLst/>
              <a:cxnLst>
                <a:cxn ang="0">
                  <a:pos x="T0" y="T1"/>
                </a:cxn>
                <a:cxn ang="0">
                  <a:pos x="T2" y="T3"/>
                </a:cxn>
                <a:cxn ang="0">
                  <a:pos x="T4" y="T5"/>
                </a:cxn>
                <a:cxn ang="0">
                  <a:pos x="T6" y="T7"/>
                </a:cxn>
                <a:cxn ang="0">
                  <a:pos x="T8" y="T9"/>
                </a:cxn>
              </a:cxnLst>
              <a:rect l="0" t="0" r="r" b="b"/>
              <a:pathLst>
                <a:path w="4839" h="1160">
                  <a:moveTo>
                    <a:pt x="4839" y="0"/>
                  </a:moveTo>
                  <a:lnTo>
                    <a:pt x="3808" y="1160"/>
                  </a:lnTo>
                  <a:lnTo>
                    <a:pt x="0" y="1160"/>
                  </a:lnTo>
                  <a:lnTo>
                    <a:pt x="1031" y="0"/>
                  </a:lnTo>
                  <a:lnTo>
                    <a:pt x="4839" y="0"/>
                  </a:lnTo>
                  <a:close/>
                </a:path>
              </a:pathLst>
            </a:custGeom>
            <a:solidFill>
              <a:srgbClr val="6B40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7" name="Freeform 6"/>
            <p:cNvSpPr>
              <a:spLocks/>
            </p:cNvSpPr>
            <p:nvPr/>
          </p:nvSpPr>
          <p:spPr bwMode="auto">
            <a:xfrm>
              <a:off x="366713" y="1855228"/>
              <a:ext cx="1920875" cy="460375"/>
            </a:xfrm>
            <a:custGeom>
              <a:avLst/>
              <a:gdLst>
                <a:gd name="T0" fmla="*/ 0 w 4839"/>
                <a:gd name="T1" fmla="*/ 0 h 1161"/>
                <a:gd name="T2" fmla="*/ 1031 w 4839"/>
                <a:gd name="T3" fmla="*/ 1161 h 1161"/>
                <a:gd name="T4" fmla="*/ 4839 w 4839"/>
                <a:gd name="T5" fmla="*/ 1161 h 1161"/>
                <a:gd name="T6" fmla="*/ 3808 w 4839"/>
                <a:gd name="T7" fmla="*/ 0 h 1161"/>
                <a:gd name="T8" fmla="*/ 0 w 4839"/>
                <a:gd name="T9" fmla="*/ 0 h 1161"/>
              </a:gdLst>
              <a:ahLst/>
              <a:cxnLst>
                <a:cxn ang="0">
                  <a:pos x="T0" y="T1"/>
                </a:cxn>
                <a:cxn ang="0">
                  <a:pos x="T2" y="T3"/>
                </a:cxn>
                <a:cxn ang="0">
                  <a:pos x="T4" y="T5"/>
                </a:cxn>
                <a:cxn ang="0">
                  <a:pos x="T6" y="T7"/>
                </a:cxn>
                <a:cxn ang="0">
                  <a:pos x="T8" y="T9"/>
                </a:cxn>
              </a:cxnLst>
              <a:rect l="0" t="0" r="r" b="b"/>
              <a:pathLst>
                <a:path w="4839" h="1161">
                  <a:moveTo>
                    <a:pt x="0" y="0"/>
                  </a:moveTo>
                  <a:lnTo>
                    <a:pt x="1031" y="1161"/>
                  </a:lnTo>
                  <a:lnTo>
                    <a:pt x="4839" y="1161"/>
                  </a:lnTo>
                  <a:lnTo>
                    <a:pt x="3808" y="0"/>
                  </a:lnTo>
                  <a:lnTo>
                    <a:pt x="0" y="0"/>
                  </a:lnTo>
                  <a:close/>
                </a:path>
              </a:pathLst>
            </a:custGeom>
            <a:solidFill>
              <a:srgbClr val="6B40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 name="Freeform 7"/>
            <p:cNvSpPr>
              <a:spLocks/>
            </p:cNvSpPr>
            <p:nvPr/>
          </p:nvSpPr>
          <p:spPr bwMode="auto">
            <a:xfrm>
              <a:off x="2020888" y="2315603"/>
              <a:ext cx="6376988" cy="460375"/>
            </a:xfrm>
            <a:custGeom>
              <a:avLst/>
              <a:gdLst>
                <a:gd name="T0" fmla="*/ 16069 w 16069"/>
                <a:gd name="T1" fmla="*/ 0 h 1160"/>
                <a:gd name="T2" fmla="*/ 16069 w 16069"/>
                <a:gd name="T3" fmla="*/ 1160 h 1160"/>
                <a:gd name="T4" fmla="*/ 0 w 16069"/>
                <a:gd name="T5" fmla="*/ 1160 h 1160"/>
                <a:gd name="T6" fmla="*/ 1031 w 16069"/>
                <a:gd name="T7" fmla="*/ 0 h 1160"/>
                <a:gd name="T8" fmla="*/ 16069 w 16069"/>
                <a:gd name="T9" fmla="*/ 0 h 1160"/>
              </a:gdLst>
              <a:ahLst/>
              <a:cxnLst>
                <a:cxn ang="0">
                  <a:pos x="T0" y="T1"/>
                </a:cxn>
                <a:cxn ang="0">
                  <a:pos x="T2" y="T3"/>
                </a:cxn>
                <a:cxn ang="0">
                  <a:pos x="T4" y="T5"/>
                </a:cxn>
                <a:cxn ang="0">
                  <a:pos x="T6" y="T7"/>
                </a:cxn>
                <a:cxn ang="0">
                  <a:pos x="T8" y="T9"/>
                </a:cxn>
              </a:cxnLst>
              <a:rect l="0" t="0" r="r" b="b"/>
              <a:pathLst>
                <a:path w="16069" h="1160">
                  <a:moveTo>
                    <a:pt x="16069" y="0"/>
                  </a:moveTo>
                  <a:lnTo>
                    <a:pt x="16069" y="1160"/>
                  </a:lnTo>
                  <a:lnTo>
                    <a:pt x="0" y="1160"/>
                  </a:lnTo>
                  <a:lnTo>
                    <a:pt x="1031" y="0"/>
                  </a:lnTo>
                  <a:lnTo>
                    <a:pt x="16069" y="0"/>
                  </a:lnTo>
                  <a:close/>
                </a:path>
              </a:pathLst>
            </a:custGeom>
            <a:solidFill>
              <a:srgbClr val="E5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 name="Freeform 8"/>
            <p:cNvSpPr>
              <a:spLocks/>
            </p:cNvSpPr>
            <p:nvPr/>
          </p:nvSpPr>
          <p:spPr bwMode="auto">
            <a:xfrm>
              <a:off x="2020888" y="1855228"/>
              <a:ext cx="6376988" cy="460375"/>
            </a:xfrm>
            <a:custGeom>
              <a:avLst/>
              <a:gdLst>
                <a:gd name="T0" fmla="*/ 0 w 16069"/>
                <a:gd name="T1" fmla="*/ 0 h 1161"/>
                <a:gd name="T2" fmla="*/ 1031 w 16069"/>
                <a:gd name="T3" fmla="*/ 1161 h 1161"/>
                <a:gd name="T4" fmla="*/ 16069 w 16069"/>
                <a:gd name="T5" fmla="*/ 1161 h 1161"/>
                <a:gd name="T6" fmla="*/ 16069 w 16069"/>
                <a:gd name="T7" fmla="*/ 0 h 1161"/>
                <a:gd name="T8" fmla="*/ 0 w 16069"/>
                <a:gd name="T9" fmla="*/ 0 h 1161"/>
              </a:gdLst>
              <a:ahLst/>
              <a:cxnLst>
                <a:cxn ang="0">
                  <a:pos x="T0" y="T1"/>
                </a:cxn>
                <a:cxn ang="0">
                  <a:pos x="T2" y="T3"/>
                </a:cxn>
                <a:cxn ang="0">
                  <a:pos x="T4" y="T5"/>
                </a:cxn>
                <a:cxn ang="0">
                  <a:pos x="T6" y="T7"/>
                </a:cxn>
                <a:cxn ang="0">
                  <a:pos x="T8" y="T9"/>
                </a:cxn>
              </a:cxnLst>
              <a:rect l="0" t="0" r="r" b="b"/>
              <a:pathLst>
                <a:path w="16069" h="1161">
                  <a:moveTo>
                    <a:pt x="0" y="0"/>
                  </a:moveTo>
                  <a:lnTo>
                    <a:pt x="1031" y="1161"/>
                  </a:lnTo>
                  <a:lnTo>
                    <a:pt x="16069" y="1161"/>
                  </a:lnTo>
                  <a:lnTo>
                    <a:pt x="16069" y="0"/>
                  </a:lnTo>
                  <a:lnTo>
                    <a:pt x="0" y="0"/>
                  </a:lnTo>
                  <a:close/>
                </a:path>
              </a:pathLst>
            </a:custGeom>
            <a:solidFill>
              <a:srgbClr val="F1F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 name="Rectangle 9"/>
            <p:cNvSpPr>
              <a:spLocks noChangeArrowheads="1"/>
            </p:cNvSpPr>
            <p:nvPr/>
          </p:nvSpPr>
          <p:spPr bwMode="auto">
            <a:xfrm>
              <a:off x="8450637" y="1855228"/>
              <a:ext cx="231775" cy="460375"/>
            </a:xfrm>
            <a:prstGeom prst="rect">
              <a:avLst/>
            </a:prstGeom>
            <a:solidFill>
              <a:srgbClr val="6B40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 name="Rectangle 10"/>
            <p:cNvSpPr>
              <a:spLocks noChangeArrowheads="1"/>
            </p:cNvSpPr>
            <p:nvPr/>
          </p:nvSpPr>
          <p:spPr bwMode="auto">
            <a:xfrm>
              <a:off x="8450637" y="2315603"/>
              <a:ext cx="231775" cy="460375"/>
            </a:xfrm>
            <a:prstGeom prst="rect">
              <a:avLst/>
            </a:prstGeom>
            <a:solidFill>
              <a:srgbClr val="6B40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2" name="TextBox 151"/>
            <p:cNvSpPr txBox="1"/>
            <p:nvPr/>
          </p:nvSpPr>
          <p:spPr>
            <a:xfrm>
              <a:off x="724394" y="2152041"/>
              <a:ext cx="1295451" cy="483646"/>
            </a:xfrm>
            <a:prstGeom prst="rect">
              <a:avLst/>
            </a:prstGeom>
            <a:noFill/>
          </p:spPr>
          <p:txBody>
            <a:bodyPr wrap="square" rtlCol="0">
              <a:spAutoFit/>
            </a:bodyPr>
            <a:lstStyle>
              <a:defPPr>
                <a:defRPr lang="en-US"/>
              </a:defPPr>
              <a:lvl1pPr algn="ctr">
                <a:defRPr sz="1400" b="1">
                  <a:solidFill>
                    <a:schemeClr val="bg1"/>
                  </a:solidFill>
                </a:defRPr>
              </a:lvl1pPr>
            </a:lstStyle>
            <a:p>
              <a:r>
                <a:rPr lang="en-US" sz="1200" dirty="0"/>
                <a:t>Raw Material Availability</a:t>
              </a:r>
            </a:p>
          </p:txBody>
        </p:sp>
        <p:sp>
          <p:nvSpPr>
            <p:cNvPr id="153" name="TextBox 152"/>
            <p:cNvSpPr txBox="1"/>
            <p:nvPr/>
          </p:nvSpPr>
          <p:spPr>
            <a:xfrm>
              <a:off x="2322187" y="1752962"/>
              <a:ext cx="5991289" cy="1112386"/>
            </a:xfrm>
            <a:prstGeom prst="rect">
              <a:avLst/>
            </a:prstGeom>
            <a:noFill/>
          </p:spPr>
          <p:txBody>
            <a:bodyPr wrap="square" rtlCol="0">
              <a:spAutoFit/>
            </a:bodyPr>
            <a:lstStyle/>
            <a:p>
              <a:pPr algn="just">
                <a:defRPr/>
              </a:pPr>
              <a:r>
                <a:rPr lang="en-US" sz="1050" kern="0" dirty="0">
                  <a:solidFill>
                    <a:sysClr val="windowText" lastClr="000000"/>
                  </a:solidFill>
                </a:rPr>
                <a:t>Raw material or component availability is an essential factor in the effective planning of production and keeping up with market demand. Without a reliable supply of quality raw materials, it can be difficult for businesses to meet customer expectations. As such, organizations need to focus on establishing long-term supply contracts with vendors and developing relationships that guarantee steady access to necessary components. This helps organizations plan their production effectively while ensuring that they don’t miss out on any potential opportunities due to lack of supplies. </a:t>
              </a:r>
            </a:p>
          </p:txBody>
        </p:sp>
      </p:grpSp>
      <p:grpSp>
        <p:nvGrpSpPr>
          <p:cNvPr id="11" name="Group 10"/>
          <p:cNvGrpSpPr/>
          <p:nvPr/>
        </p:nvGrpSpPr>
        <p:grpSpPr>
          <a:xfrm>
            <a:off x="183320" y="2945773"/>
            <a:ext cx="8195411" cy="919385"/>
            <a:chOff x="366713" y="2843884"/>
            <a:chExt cx="8315699" cy="960798"/>
          </a:xfrm>
          <a:solidFill>
            <a:srgbClr val="9C5224"/>
          </a:solidFill>
        </p:grpSpPr>
        <p:sp>
          <p:nvSpPr>
            <p:cNvPr id="139" name="Freeform 11"/>
            <p:cNvSpPr>
              <a:spLocks/>
            </p:cNvSpPr>
            <p:nvPr/>
          </p:nvSpPr>
          <p:spPr bwMode="auto">
            <a:xfrm>
              <a:off x="366713" y="3344306"/>
              <a:ext cx="1920876" cy="460376"/>
            </a:xfrm>
            <a:custGeom>
              <a:avLst/>
              <a:gdLst>
                <a:gd name="T0" fmla="*/ 4839 w 4839"/>
                <a:gd name="T1" fmla="*/ 0 h 1159"/>
                <a:gd name="T2" fmla="*/ 3808 w 4839"/>
                <a:gd name="T3" fmla="*/ 1159 h 1159"/>
                <a:gd name="T4" fmla="*/ 0 w 4839"/>
                <a:gd name="T5" fmla="*/ 1159 h 1159"/>
                <a:gd name="T6" fmla="*/ 1031 w 4839"/>
                <a:gd name="T7" fmla="*/ 0 h 1159"/>
                <a:gd name="T8" fmla="*/ 4839 w 4839"/>
                <a:gd name="T9" fmla="*/ 0 h 1159"/>
              </a:gdLst>
              <a:ahLst/>
              <a:cxnLst>
                <a:cxn ang="0">
                  <a:pos x="T0" y="T1"/>
                </a:cxn>
                <a:cxn ang="0">
                  <a:pos x="T2" y="T3"/>
                </a:cxn>
                <a:cxn ang="0">
                  <a:pos x="T4" y="T5"/>
                </a:cxn>
                <a:cxn ang="0">
                  <a:pos x="T6" y="T7"/>
                </a:cxn>
                <a:cxn ang="0">
                  <a:pos x="T8" y="T9"/>
                </a:cxn>
              </a:cxnLst>
              <a:rect l="0" t="0" r="r" b="b"/>
              <a:pathLst>
                <a:path w="4839" h="1159">
                  <a:moveTo>
                    <a:pt x="4839" y="0"/>
                  </a:moveTo>
                  <a:lnTo>
                    <a:pt x="3808" y="1159"/>
                  </a:lnTo>
                  <a:lnTo>
                    <a:pt x="0" y="1159"/>
                  </a:lnTo>
                  <a:lnTo>
                    <a:pt x="1031" y="0"/>
                  </a:lnTo>
                  <a:lnTo>
                    <a:pt x="4839" y="0"/>
                  </a:lnTo>
                  <a:close/>
                </a:path>
              </a:pathLst>
            </a:custGeom>
            <a:solidFill>
              <a:srgbClr val="B2A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 name="Freeform 12"/>
            <p:cNvSpPr>
              <a:spLocks/>
            </p:cNvSpPr>
            <p:nvPr/>
          </p:nvSpPr>
          <p:spPr bwMode="auto">
            <a:xfrm>
              <a:off x="366713" y="2883930"/>
              <a:ext cx="1920876" cy="460376"/>
            </a:xfrm>
            <a:custGeom>
              <a:avLst/>
              <a:gdLst>
                <a:gd name="T0" fmla="*/ 0 w 4839"/>
                <a:gd name="T1" fmla="*/ 0 h 1161"/>
                <a:gd name="T2" fmla="*/ 1031 w 4839"/>
                <a:gd name="T3" fmla="*/ 1161 h 1161"/>
                <a:gd name="T4" fmla="*/ 4839 w 4839"/>
                <a:gd name="T5" fmla="*/ 1161 h 1161"/>
                <a:gd name="T6" fmla="*/ 3808 w 4839"/>
                <a:gd name="T7" fmla="*/ 0 h 1161"/>
                <a:gd name="T8" fmla="*/ 0 w 4839"/>
                <a:gd name="T9" fmla="*/ 0 h 1161"/>
              </a:gdLst>
              <a:ahLst/>
              <a:cxnLst>
                <a:cxn ang="0">
                  <a:pos x="T0" y="T1"/>
                </a:cxn>
                <a:cxn ang="0">
                  <a:pos x="T2" y="T3"/>
                </a:cxn>
                <a:cxn ang="0">
                  <a:pos x="T4" y="T5"/>
                </a:cxn>
                <a:cxn ang="0">
                  <a:pos x="T6" y="T7"/>
                </a:cxn>
                <a:cxn ang="0">
                  <a:pos x="T8" y="T9"/>
                </a:cxn>
              </a:cxnLst>
              <a:rect l="0" t="0" r="r" b="b"/>
              <a:pathLst>
                <a:path w="4839" h="1161">
                  <a:moveTo>
                    <a:pt x="0" y="0"/>
                  </a:moveTo>
                  <a:lnTo>
                    <a:pt x="1031" y="1161"/>
                  </a:lnTo>
                  <a:lnTo>
                    <a:pt x="4839" y="1161"/>
                  </a:lnTo>
                  <a:lnTo>
                    <a:pt x="3808" y="0"/>
                  </a:lnTo>
                  <a:lnTo>
                    <a:pt x="0" y="0"/>
                  </a:lnTo>
                  <a:close/>
                </a:path>
              </a:pathLst>
            </a:custGeom>
            <a:solidFill>
              <a:srgbClr val="B2A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 name="Rectangle 13"/>
            <p:cNvSpPr>
              <a:spLocks noChangeArrowheads="1"/>
            </p:cNvSpPr>
            <p:nvPr/>
          </p:nvSpPr>
          <p:spPr bwMode="auto">
            <a:xfrm>
              <a:off x="8450636" y="2883930"/>
              <a:ext cx="231776" cy="460376"/>
            </a:xfrm>
            <a:prstGeom prst="rect">
              <a:avLst/>
            </a:prstGeom>
            <a:solidFill>
              <a:srgbClr val="B2A88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2" name="Rectangle 14"/>
            <p:cNvSpPr>
              <a:spLocks noChangeArrowheads="1"/>
            </p:cNvSpPr>
            <p:nvPr/>
          </p:nvSpPr>
          <p:spPr bwMode="auto">
            <a:xfrm>
              <a:off x="8450636" y="3344306"/>
              <a:ext cx="231776" cy="460376"/>
            </a:xfrm>
            <a:prstGeom prst="rect">
              <a:avLst/>
            </a:prstGeom>
            <a:solidFill>
              <a:srgbClr val="B2A88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3" name="Freeform 23"/>
            <p:cNvSpPr>
              <a:spLocks/>
            </p:cNvSpPr>
            <p:nvPr/>
          </p:nvSpPr>
          <p:spPr bwMode="auto">
            <a:xfrm>
              <a:off x="2020888" y="3344305"/>
              <a:ext cx="6376988" cy="460376"/>
            </a:xfrm>
            <a:custGeom>
              <a:avLst/>
              <a:gdLst>
                <a:gd name="T0" fmla="*/ 16069 w 16069"/>
                <a:gd name="T1" fmla="*/ 0 h 1159"/>
                <a:gd name="T2" fmla="*/ 16069 w 16069"/>
                <a:gd name="T3" fmla="*/ 1159 h 1159"/>
                <a:gd name="T4" fmla="*/ 0 w 16069"/>
                <a:gd name="T5" fmla="*/ 1159 h 1159"/>
                <a:gd name="T6" fmla="*/ 1031 w 16069"/>
                <a:gd name="T7" fmla="*/ 0 h 1159"/>
                <a:gd name="T8" fmla="*/ 16069 w 16069"/>
                <a:gd name="T9" fmla="*/ 0 h 1159"/>
              </a:gdLst>
              <a:ahLst/>
              <a:cxnLst>
                <a:cxn ang="0">
                  <a:pos x="T0" y="T1"/>
                </a:cxn>
                <a:cxn ang="0">
                  <a:pos x="T2" y="T3"/>
                </a:cxn>
                <a:cxn ang="0">
                  <a:pos x="T4" y="T5"/>
                </a:cxn>
                <a:cxn ang="0">
                  <a:pos x="T6" y="T7"/>
                </a:cxn>
                <a:cxn ang="0">
                  <a:pos x="T8" y="T9"/>
                </a:cxn>
              </a:cxnLst>
              <a:rect l="0" t="0" r="r" b="b"/>
              <a:pathLst>
                <a:path w="16069" h="1159">
                  <a:moveTo>
                    <a:pt x="16069" y="0"/>
                  </a:moveTo>
                  <a:lnTo>
                    <a:pt x="16069" y="1159"/>
                  </a:lnTo>
                  <a:lnTo>
                    <a:pt x="0" y="1159"/>
                  </a:lnTo>
                  <a:lnTo>
                    <a:pt x="1031" y="0"/>
                  </a:lnTo>
                  <a:lnTo>
                    <a:pt x="16069" y="0"/>
                  </a:lnTo>
                  <a:close/>
                </a:path>
              </a:pathLst>
            </a:custGeom>
            <a:solidFill>
              <a:srgbClr val="F1F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 name="Freeform 24"/>
            <p:cNvSpPr>
              <a:spLocks/>
            </p:cNvSpPr>
            <p:nvPr/>
          </p:nvSpPr>
          <p:spPr bwMode="auto">
            <a:xfrm>
              <a:off x="2020888" y="2883928"/>
              <a:ext cx="6376988" cy="267848"/>
            </a:xfrm>
            <a:custGeom>
              <a:avLst/>
              <a:gdLst>
                <a:gd name="T0" fmla="*/ 0 w 16069"/>
                <a:gd name="T1" fmla="*/ 0 h 1161"/>
                <a:gd name="T2" fmla="*/ 1031 w 16069"/>
                <a:gd name="T3" fmla="*/ 1161 h 1161"/>
                <a:gd name="T4" fmla="*/ 16069 w 16069"/>
                <a:gd name="T5" fmla="*/ 1161 h 1161"/>
                <a:gd name="T6" fmla="*/ 16069 w 16069"/>
                <a:gd name="T7" fmla="*/ 0 h 1161"/>
                <a:gd name="T8" fmla="*/ 0 w 16069"/>
                <a:gd name="T9" fmla="*/ 0 h 1161"/>
              </a:gdLst>
              <a:ahLst/>
              <a:cxnLst>
                <a:cxn ang="0">
                  <a:pos x="T0" y="T1"/>
                </a:cxn>
                <a:cxn ang="0">
                  <a:pos x="T2" y="T3"/>
                </a:cxn>
                <a:cxn ang="0">
                  <a:pos x="T4" y="T5"/>
                </a:cxn>
                <a:cxn ang="0">
                  <a:pos x="T6" y="T7"/>
                </a:cxn>
                <a:cxn ang="0">
                  <a:pos x="T8" y="T9"/>
                </a:cxn>
              </a:cxnLst>
              <a:rect l="0" t="0" r="r" b="b"/>
              <a:pathLst>
                <a:path w="16069" h="1161">
                  <a:moveTo>
                    <a:pt x="0" y="0"/>
                  </a:moveTo>
                  <a:lnTo>
                    <a:pt x="1031" y="1161"/>
                  </a:lnTo>
                  <a:lnTo>
                    <a:pt x="16069" y="1161"/>
                  </a:lnTo>
                  <a:lnTo>
                    <a:pt x="16069" y="0"/>
                  </a:lnTo>
                  <a:lnTo>
                    <a:pt x="0" y="0"/>
                  </a:lnTo>
                  <a:close/>
                </a:path>
              </a:pathLst>
            </a:custGeom>
            <a:noFill/>
          </p:spPr>
          <p:txBody>
            <a:bodyPr wrap="square" rtlCol="0">
              <a:spAutoFit/>
            </a:bodyPr>
            <a:lstStyle/>
            <a:p>
              <a:pPr algn="just"/>
              <a:endParaRPr lang="en-US" sz="1100" dirty="0"/>
            </a:p>
          </p:txBody>
        </p:sp>
        <p:sp>
          <p:nvSpPr>
            <p:cNvPr id="145" name="TextBox 144"/>
            <p:cNvSpPr txBox="1"/>
            <p:nvPr/>
          </p:nvSpPr>
          <p:spPr>
            <a:xfrm>
              <a:off x="2366453" y="2843884"/>
              <a:ext cx="5940051" cy="940798"/>
            </a:xfrm>
            <a:prstGeom prst="rect">
              <a:avLst/>
            </a:prstGeom>
            <a:noFill/>
          </p:spPr>
          <p:txBody>
            <a:bodyPr wrap="square" rtlCol="0">
              <a:spAutoFit/>
            </a:bodyPr>
            <a:lstStyle>
              <a:defPPr>
                <a:defRPr lang="en-US"/>
              </a:defPPr>
              <a:lvl1pPr algn="just">
                <a:defRPr sz="1100"/>
              </a:lvl1pPr>
            </a:lstStyle>
            <a:p>
              <a:pPr>
                <a:spcBef>
                  <a:spcPts val="200"/>
                </a:spcBef>
                <a:spcAft>
                  <a:spcPts val="200"/>
                </a:spcAft>
              </a:pPr>
              <a:r>
                <a:rPr lang="en-US" sz="1050" dirty="0">
                  <a:solidFill>
                    <a:sysClr val="windowText" lastClr="000000"/>
                  </a:solidFill>
                </a:rPr>
                <a:t>The overall economic climate, including factors such as GDP growth, inflation rates, and trade dynamics, is a crucial forecast factor. Economic conditions influence farmers' spending capacity on equipment maintenance, including product purchases. During economic downturns, farmers may prioritize cost-effective product, while periods of economic growth may see increased investments in higher-quality and specialized product.</a:t>
              </a:r>
            </a:p>
          </p:txBody>
        </p:sp>
      </p:grpSp>
      <p:grpSp>
        <p:nvGrpSpPr>
          <p:cNvPr id="12" name="Group 11"/>
          <p:cNvGrpSpPr/>
          <p:nvPr/>
        </p:nvGrpSpPr>
        <p:grpSpPr>
          <a:xfrm>
            <a:off x="183319" y="4034780"/>
            <a:ext cx="8195411" cy="953261"/>
            <a:chOff x="366713" y="3884867"/>
            <a:chExt cx="8315699" cy="950098"/>
          </a:xfrm>
        </p:grpSpPr>
        <p:sp>
          <p:nvSpPr>
            <p:cNvPr id="131" name="Freeform 15"/>
            <p:cNvSpPr>
              <a:spLocks/>
            </p:cNvSpPr>
            <p:nvPr/>
          </p:nvSpPr>
          <p:spPr bwMode="auto">
            <a:xfrm>
              <a:off x="366713" y="4374590"/>
              <a:ext cx="1920875" cy="460375"/>
            </a:xfrm>
            <a:custGeom>
              <a:avLst/>
              <a:gdLst>
                <a:gd name="T0" fmla="*/ 4839 w 4839"/>
                <a:gd name="T1" fmla="*/ 0 h 1161"/>
                <a:gd name="T2" fmla="*/ 3808 w 4839"/>
                <a:gd name="T3" fmla="*/ 1161 h 1161"/>
                <a:gd name="T4" fmla="*/ 0 w 4839"/>
                <a:gd name="T5" fmla="*/ 1161 h 1161"/>
                <a:gd name="T6" fmla="*/ 1031 w 4839"/>
                <a:gd name="T7" fmla="*/ 0 h 1161"/>
                <a:gd name="T8" fmla="*/ 4839 w 4839"/>
                <a:gd name="T9" fmla="*/ 0 h 1161"/>
              </a:gdLst>
              <a:ahLst/>
              <a:cxnLst>
                <a:cxn ang="0">
                  <a:pos x="T0" y="T1"/>
                </a:cxn>
                <a:cxn ang="0">
                  <a:pos x="T2" y="T3"/>
                </a:cxn>
                <a:cxn ang="0">
                  <a:pos x="T4" y="T5"/>
                </a:cxn>
                <a:cxn ang="0">
                  <a:pos x="T6" y="T7"/>
                </a:cxn>
                <a:cxn ang="0">
                  <a:pos x="T8" y="T9"/>
                </a:cxn>
              </a:cxnLst>
              <a:rect l="0" t="0" r="r" b="b"/>
              <a:pathLst>
                <a:path w="4839" h="1161">
                  <a:moveTo>
                    <a:pt x="4839" y="0"/>
                  </a:moveTo>
                  <a:lnTo>
                    <a:pt x="3808" y="1161"/>
                  </a:lnTo>
                  <a:lnTo>
                    <a:pt x="0" y="1161"/>
                  </a:lnTo>
                  <a:lnTo>
                    <a:pt x="1031" y="0"/>
                  </a:lnTo>
                  <a:lnTo>
                    <a:pt x="4839" y="0"/>
                  </a:lnTo>
                  <a:close/>
                </a:path>
              </a:pathLst>
            </a:custGeom>
            <a:solidFill>
              <a:srgbClr val="D83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2" name="Freeform 16"/>
            <p:cNvSpPr>
              <a:spLocks/>
            </p:cNvSpPr>
            <p:nvPr/>
          </p:nvSpPr>
          <p:spPr bwMode="auto">
            <a:xfrm>
              <a:off x="366713" y="3914215"/>
              <a:ext cx="1920876" cy="460375"/>
            </a:xfrm>
            <a:custGeom>
              <a:avLst/>
              <a:gdLst>
                <a:gd name="T0" fmla="*/ 0 w 4839"/>
                <a:gd name="T1" fmla="*/ 0 h 1159"/>
                <a:gd name="T2" fmla="*/ 1031 w 4839"/>
                <a:gd name="T3" fmla="*/ 1159 h 1159"/>
                <a:gd name="T4" fmla="*/ 4839 w 4839"/>
                <a:gd name="T5" fmla="*/ 1159 h 1159"/>
                <a:gd name="T6" fmla="*/ 3808 w 4839"/>
                <a:gd name="T7" fmla="*/ 0 h 1159"/>
                <a:gd name="T8" fmla="*/ 0 w 4839"/>
                <a:gd name="T9" fmla="*/ 0 h 1159"/>
              </a:gdLst>
              <a:ahLst/>
              <a:cxnLst>
                <a:cxn ang="0">
                  <a:pos x="T0" y="T1"/>
                </a:cxn>
                <a:cxn ang="0">
                  <a:pos x="T2" y="T3"/>
                </a:cxn>
                <a:cxn ang="0">
                  <a:pos x="T4" y="T5"/>
                </a:cxn>
                <a:cxn ang="0">
                  <a:pos x="T6" y="T7"/>
                </a:cxn>
                <a:cxn ang="0">
                  <a:pos x="T8" y="T9"/>
                </a:cxn>
              </a:cxnLst>
              <a:rect l="0" t="0" r="r" b="b"/>
              <a:pathLst>
                <a:path w="4839" h="1159">
                  <a:moveTo>
                    <a:pt x="0" y="0"/>
                  </a:moveTo>
                  <a:lnTo>
                    <a:pt x="1031" y="1159"/>
                  </a:lnTo>
                  <a:lnTo>
                    <a:pt x="4839" y="1159"/>
                  </a:lnTo>
                  <a:lnTo>
                    <a:pt x="3808" y="0"/>
                  </a:lnTo>
                  <a:lnTo>
                    <a:pt x="0" y="0"/>
                  </a:lnTo>
                  <a:close/>
                </a:path>
              </a:pathLst>
            </a:custGeom>
            <a:solidFill>
              <a:srgbClr val="D83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 name="Rectangle 17"/>
            <p:cNvSpPr>
              <a:spLocks noChangeArrowheads="1"/>
            </p:cNvSpPr>
            <p:nvPr/>
          </p:nvSpPr>
          <p:spPr bwMode="auto">
            <a:xfrm>
              <a:off x="8450637" y="3914215"/>
              <a:ext cx="231775" cy="460375"/>
            </a:xfrm>
            <a:prstGeom prst="rect">
              <a:avLst/>
            </a:prstGeom>
            <a:solidFill>
              <a:srgbClr val="D834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 name="Rectangle 18"/>
            <p:cNvSpPr>
              <a:spLocks noChangeArrowheads="1"/>
            </p:cNvSpPr>
            <p:nvPr/>
          </p:nvSpPr>
          <p:spPr bwMode="auto">
            <a:xfrm>
              <a:off x="8450637" y="4374590"/>
              <a:ext cx="231775" cy="460375"/>
            </a:xfrm>
            <a:prstGeom prst="rect">
              <a:avLst/>
            </a:prstGeom>
            <a:solidFill>
              <a:srgbClr val="D834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 name="Freeform 25"/>
            <p:cNvSpPr>
              <a:spLocks/>
            </p:cNvSpPr>
            <p:nvPr/>
          </p:nvSpPr>
          <p:spPr bwMode="auto">
            <a:xfrm>
              <a:off x="2020888" y="4374590"/>
              <a:ext cx="6376988" cy="460375"/>
            </a:xfrm>
            <a:custGeom>
              <a:avLst/>
              <a:gdLst>
                <a:gd name="T0" fmla="*/ 16069 w 16069"/>
                <a:gd name="T1" fmla="*/ 0 h 1161"/>
                <a:gd name="T2" fmla="*/ 16069 w 16069"/>
                <a:gd name="T3" fmla="*/ 1161 h 1161"/>
                <a:gd name="T4" fmla="*/ 0 w 16069"/>
                <a:gd name="T5" fmla="*/ 1161 h 1161"/>
                <a:gd name="T6" fmla="*/ 1031 w 16069"/>
                <a:gd name="T7" fmla="*/ 0 h 1161"/>
                <a:gd name="T8" fmla="*/ 16069 w 16069"/>
                <a:gd name="T9" fmla="*/ 0 h 1161"/>
              </a:gdLst>
              <a:ahLst/>
              <a:cxnLst>
                <a:cxn ang="0">
                  <a:pos x="T0" y="T1"/>
                </a:cxn>
                <a:cxn ang="0">
                  <a:pos x="T2" y="T3"/>
                </a:cxn>
                <a:cxn ang="0">
                  <a:pos x="T4" y="T5"/>
                </a:cxn>
                <a:cxn ang="0">
                  <a:pos x="T6" y="T7"/>
                </a:cxn>
                <a:cxn ang="0">
                  <a:pos x="T8" y="T9"/>
                </a:cxn>
              </a:cxnLst>
              <a:rect l="0" t="0" r="r" b="b"/>
              <a:pathLst>
                <a:path w="16069" h="1161">
                  <a:moveTo>
                    <a:pt x="16069" y="0"/>
                  </a:moveTo>
                  <a:lnTo>
                    <a:pt x="16069" y="1161"/>
                  </a:lnTo>
                  <a:lnTo>
                    <a:pt x="0" y="1161"/>
                  </a:lnTo>
                  <a:lnTo>
                    <a:pt x="1031" y="0"/>
                  </a:lnTo>
                  <a:lnTo>
                    <a:pt x="16069" y="0"/>
                  </a:lnTo>
                  <a:close/>
                </a:path>
              </a:pathLst>
            </a:custGeom>
            <a:solidFill>
              <a:srgbClr val="E5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 name="Freeform 26"/>
            <p:cNvSpPr>
              <a:spLocks/>
            </p:cNvSpPr>
            <p:nvPr/>
          </p:nvSpPr>
          <p:spPr bwMode="auto">
            <a:xfrm>
              <a:off x="2020888" y="3914215"/>
              <a:ext cx="6376988" cy="460375"/>
            </a:xfrm>
            <a:custGeom>
              <a:avLst/>
              <a:gdLst>
                <a:gd name="T0" fmla="*/ 0 w 16069"/>
                <a:gd name="T1" fmla="*/ 0 h 1159"/>
                <a:gd name="T2" fmla="*/ 1031 w 16069"/>
                <a:gd name="T3" fmla="*/ 1159 h 1159"/>
                <a:gd name="T4" fmla="*/ 16069 w 16069"/>
                <a:gd name="T5" fmla="*/ 1159 h 1159"/>
                <a:gd name="T6" fmla="*/ 16069 w 16069"/>
                <a:gd name="T7" fmla="*/ 0 h 1159"/>
                <a:gd name="T8" fmla="*/ 0 w 16069"/>
                <a:gd name="T9" fmla="*/ 0 h 1159"/>
              </a:gdLst>
              <a:ahLst/>
              <a:cxnLst>
                <a:cxn ang="0">
                  <a:pos x="T0" y="T1"/>
                </a:cxn>
                <a:cxn ang="0">
                  <a:pos x="T2" y="T3"/>
                </a:cxn>
                <a:cxn ang="0">
                  <a:pos x="T4" y="T5"/>
                </a:cxn>
                <a:cxn ang="0">
                  <a:pos x="T6" y="T7"/>
                </a:cxn>
                <a:cxn ang="0">
                  <a:pos x="T8" y="T9"/>
                </a:cxn>
              </a:cxnLst>
              <a:rect l="0" t="0" r="r" b="b"/>
              <a:pathLst>
                <a:path w="16069" h="1159">
                  <a:moveTo>
                    <a:pt x="0" y="0"/>
                  </a:moveTo>
                  <a:lnTo>
                    <a:pt x="1031" y="1159"/>
                  </a:lnTo>
                  <a:lnTo>
                    <a:pt x="16069" y="1159"/>
                  </a:lnTo>
                  <a:lnTo>
                    <a:pt x="16069" y="0"/>
                  </a:lnTo>
                  <a:lnTo>
                    <a:pt x="0" y="0"/>
                  </a:lnTo>
                  <a:close/>
                </a:path>
              </a:pathLst>
            </a:custGeom>
            <a:solidFill>
              <a:srgbClr val="F1F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 name="TextBox 136"/>
            <p:cNvSpPr txBox="1"/>
            <p:nvPr/>
          </p:nvSpPr>
          <p:spPr>
            <a:xfrm>
              <a:off x="657543" y="4032939"/>
              <a:ext cx="1295451" cy="644186"/>
            </a:xfrm>
            <a:prstGeom prst="rect">
              <a:avLst/>
            </a:prstGeom>
            <a:noFill/>
          </p:spPr>
          <p:txBody>
            <a:bodyPr wrap="square" rtlCol="0">
              <a:spAutoFit/>
            </a:bodyPr>
            <a:lstStyle/>
            <a:p>
              <a:pPr algn="ctr"/>
              <a:r>
                <a:rPr lang="en-US" sz="1200" b="1" dirty="0">
                  <a:solidFill>
                    <a:schemeClr val="bg1"/>
                  </a:solidFill>
                </a:rPr>
                <a:t>Government Initiatives and Policies</a:t>
              </a:r>
            </a:p>
          </p:txBody>
        </p:sp>
        <p:sp>
          <p:nvSpPr>
            <p:cNvPr id="138" name="TextBox 137"/>
            <p:cNvSpPr txBox="1"/>
            <p:nvPr/>
          </p:nvSpPr>
          <p:spPr>
            <a:xfrm>
              <a:off x="2381772" y="3884867"/>
              <a:ext cx="6137414" cy="858915"/>
            </a:xfrm>
            <a:prstGeom prst="rect">
              <a:avLst/>
            </a:prstGeom>
            <a:noFill/>
          </p:spPr>
          <p:txBody>
            <a:bodyPr wrap="square" rtlCol="0">
              <a:spAutoFit/>
            </a:bodyPr>
            <a:lstStyle>
              <a:defPPr>
                <a:defRPr lang="en-US"/>
              </a:defPPr>
              <a:lvl1pPr algn="just">
                <a:spcBef>
                  <a:spcPts val="200"/>
                </a:spcBef>
                <a:spcAft>
                  <a:spcPts val="200"/>
                </a:spcAft>
                <a:defRPr sz="1100">
                  <a:solidFill>
                    <a:sysClr val="windowText" lastClr="000000"/>
                  </a:solidFill>
                </a:defRPr>
              </a:lvl1pPr>
            </a:lstStyle>
            <a:p>
              <a:pPr>
                <a:defRPr/>
              </a:pPr>
              <a:r>
                <a:rPr lang="en-US" sz="1000" dirty="0"/>
                <a:t>Government initiatives and policies supporting or regulating the industry sector have a profound impact on market forecasts. Subsidies, incentives, and environmental policies can influence the adoption of specific products or impact the overall demand for products in the market. Forecasts assess the potential implications of government actions on the market, considering how policy changes may drive shifts in preferences and usage patterns within the industries.</a:t>
              </a:r>
            </a:p>
          </p:txBody>
        </p:sp>
      </p:grpSp>
      <p:grpSp>
        <p:nvGrpSpPr>
          <p:cNvPr id="13" name="Group 12"/>
          <p:cNvGrpSpPr/>
          <p:nvPr/>
        </p:nvGrpSpPr>
        <p:grpSpPr>
          <a:xfrm>
            <a:off x="183319" y="5145765"/>
            <a:ext cx="8195411" cy="968428"/>
            <a:chOff x="366713" y="4922845"/>
            <a:chExt cx="8315699" cy="955866"/>
          </a:xfrm>
        </p:grpSpPr>
        <p:sp>
          <p:nvSpPr>
            <p:cNvPr id="123" name="Freeform 19"/>
            <p:cNvSpPr>
              <a:spLocks/>
            </p:cNvSpPr>
            <p:nvPr/>
          </p:nvSpPr>
          <p:spPr bwMode="auto">
            <a:xfrm>
              <a:off x="366713" y="5403290"/>
              <a:ext cx="1920875" cy="460375"/>
            </a:xfrm>
            <a:custGeom>
              <a:avLst/>
              <a:gdLst>
                <a:gd name="T0" fmla="*/ 4839 w 4839"/>
                <a:gd name="T1" fmla="*/ 0 h 1161"/>
                <a:gd name="T2" fmla="*/ 3808 w 4839"/>
                <a:gd name="T3" fmla="*/ 1161 h 1161"/>
                <a:gd name="T4" fmla="*/ 0 w 4839"/>
                <a:gd name="T5" fmla="*/ 1161 h 1161"/>
                <a:gd name="T6" fmla="*/ 1031 w 4839"/>
                <a:gd name="T7" fmla="*/ 0 h 1161"/>
                <a:gd name="T8" fmla="*/ 4839 w 4839"/>
                <a:gd name="T9" fmla="*/ 0 h 1161"/>
              </a:gdLst>
              <a:ahLst/>
              <a:cxnLst>
                <a:cxn ang="0">
                  <a:pos x="T0" y="T1"/>
                </a:cxn>
                <a:cxn ang="0">
                  <a:pos x="T2" y="T3"/>
                </a:cxn>
                <a:cxn ang="0">
                  <a:pos x="T4" y="T5"/>
                </a:cxn>
                <a:cxn ang="0">
                  <a:pos x="T6" y="T7"/>
                </a:cxn>
                <a:cxn ang="0">
                  <a:pos x="T8" y="T9"/>
                </a:cxn>
              </a:cxnLst>
              <a:rect l="0" t="0" r="r" b="b"/>
              <a:pathLst>
                <a:path w="4839" h="1161">
                  <a:moveTo>
                    <a:pt x="4839" y="0"/>
                  </a:moveTo>
                  <a:lnTo>
                    <a:pt x="3808" y="1161"/>
                  </a:lnTo>
                  <a:lnTo>
                    <a:pt x="0" y="1161"/>
                  </a:lnTo>
                  <a:lnTo>
                    <a:pt x="1031" y="0"/>
                  </a:lnTo>
                  <a:lnTo>
                    <a:pt x="4839" y="0"/>
                  </a:lnTo>
                  <a:close/>
                </a:path>
              </a:pathLst>
            </a:custGeom>
            <a:solidFill>
              <a:srgbClr val="F2C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20"/>
            <p:cNvSpPr>
              <a:spLocks/>
            </p:cNvSpPr>
            <p:nvPr/>
          </p:nvSpPr>
          <p:spPr bwMode="auto">
            <a:xfrm>
              <a:off x="366713" y="4942915"/>
              <a:ext cx="1920875" cy="460375"/>
            </a:xfrm>
            <a:custGeom>
              <a:avLst/>
              <a:gdLst>
                <a:gd name="T0" fmla="*/ 0 w 4839"/>
                <a:gd name="T1" fmla="*/ 0 h 1160"/>
                <a:gd name="T2" fmla="*/ 1031 w 4839"/>
                <a:gd name="T3" fmla="*/ 1160 h 1160"/>
                <a:gd name="T4" fmla="*/ 4839 w 4839"/>
                <a:gd name="T5" fmla="*/ 1160 h 1160"/>
                <a:gd name="T6" fmla="*/ 3808 w 4839"/>
                <a:gd name="T7" fmla="*/ 0 h 1160"/>
                <a:gd name="T8" fmla="*/ 0 w 4839"/>
                <a:gd name="T9" fmla="*/ 0 h 1160"/>
              </a:gdLst>
              <a:ahLst/>
              <a:cxnLst>
                <a:cxn ang="0">
                  <a:pos x="T0" y="T1"/>
                </a:cxn>
                <a:cxn ang="0">
                  <a:pos x="T2" y="T3"/>
                </a:cxn>
                <a:cxn ang="0">
                  <a:pos x="T4" y="T5"/>
                </a:cxn>
                <a:cxn ang="0">
                  <a:pos x="T6" y="T7"/>
                </a:cxn>
                <a:cxn ang="0">
                  <a:pos x="T8" y="T9"/>
                </a:cxn>
              </a:cxnLst>
              <a:rect l="0" t="0" r="r" b="b"/>
              <a:pathLst>
                <a:path w="4839" h="1160">
                  <a:moveTo>
                    <a:pt x="0" y="0"/>
                  </a:moveTo>
                  <a:lnTo>
                    <a:pt x="1031" y="1160"/>
                  </a:lnTo>
                  <a:lnTo>
                    <a:pt x="4839" y="1160"/>
                  </a:lnTo>
                  <a:lnTo>
                    <a:pt x="3808" y="0"/>
                  </a:lnTo>
                  <a:lnTo>
                    <a:pt x="0" y="0"/>
                  </a:lnTo>
                  <a:close/>
                </a:path>
              </a:pathLst>
            </a:custGeom>
            <a:solidFill>
              <a:srgbClr val="F2C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Rectangle 21"/>
            <p:cNvSpPr>
              <a:spLocks noChangeArrowheads="1"/>
            </p:cNvSpPr>
            <p:nvPr/>
          </p:nvSpPr>
          <p:spPr bwMode="auto">
            <a:xfrm>
              <a:off x="8450637" y="4942915"/>
              <a:ext cx="231775" cy="460375"/>
            </a:xfrm>
            <a:prstGeom prst="rect">
              <a:avLst/>
            </a:prstGeom>
            <a:solidFill>
              <a:srgbClr val="F2C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Rectangle 22"/>
            <p:cNvSpPr>
              <a:spLocks noChangeArrowheads="1"/>
            </p:cNvSpPr>
            <p:nvPr/>
          </p:nvSpPr>
          <p:spPr bwMode="auto">
            <a:xfrm>
              <a:off x="8450637" y="5403290"/>
              <a:ext cx="231775" cy="460375"/>
            </a:xfrm>
            <a:prstGeom prst="rect">
              <a:avLst/>
            </a:prstGeom>
            <a:solidFill>
              <a:srgbClr val="F2C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27"/>
            <p:cNvSpPr>
              <a:spLocks/>
            </p:cNvSpPr>
            <p:nvPr/>
          </p:nvSpPr>
          <p:spPr bwMode="auto">
            <a:xfrm>
              <a:off x="2016273" y="5418335"/>
              <a:ext cx="6376988" cy="460376"/>
            </a:xfrm>
            <a:custGeom>
              <a:avLst/>
              <a:gdLst>
                <a:gd name="T0" fmla="*/ 16069 w 16069"/>
                <a:gd name="T1" fmla="*/ 0 h 1161"/>
                <a:gd name="T2" fmla="*/ 16069 w 16069"/>
                <a:gd name="T3" fmla="*/ 1161 h 1161"/>
                <a:gd name="T4" fmla="*/ 0 w 16069"/>
                <a:gd name="T5" fmla="*/ 1161 h 1161"/>
                <a:gd name="T6" fmla="*/ 1031 w 16069"/>
                <a:gd name="T7" fmla="*/ 0 h 1161"/>
                <a:gd name="T8" fmla="*/ 16069 w 16069"/>
                <a:gd name="T9" fmla="*/ 0 h 1161"/>
              </a:gdLst>
              <a:ahLst/>
              <a:cxnLst>
                <a:cxn ang="0">
                  <a:pos x="T0" y="T1"/>
                </a:cxn>
                <a:cxn ang="0">
                  <a:pos x="T2" y="T3"/>
                </a:cxn>
                <a:cxn ang="0">
                  <a:pos x="T4" y="T5"/>
                </a:cxn>
                <a:cxn ang="0">
                  <a:pos x="T6" y="T7"/>
                </a:cxn>
                <a:cxn ang="0">
                  <a:pos x="T8" y="T9"/>
                </a:cxn>
              </a:cxnLst>
              <a:rect l="0" t="0" r="r" b="b"/>
              <a:pathLst>
                <a:path w="16069" h="1161">
                  <a:moveTo>
                    <a:pt x="16069" y="0"/>
                  </a:moveTo>
                  <a:lnTo>
                    <a:pt x="16069" y="1161"/>
                  </a:lnTo>
                  <a:lnTo>
                    <a:pt x="0" y="1161"/>
                  </a:lnTo>
                  <a:lnTo>
                    <a:pt x="1031" y="0"/>
                  </a:lnTo>
                  <a:lnTo>
                    <a:pt x="16069" y="0"/>
                  </a:lnTo>
                  <a:close/>
                </a:path>
              </a:pathLst>
            </a:custGeom>
            <a:solidFill>
              <a:srgbClr val="E5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8" name="Freeform 28"/>
            <p:cNvSpPr>
              <a:spLocks/>
            </p:cNvSpPr>
            <p:nvPr/>
          </p:nvSpPr>
          <p:spPr bwMode="auto">
            <a:xfrm>
              <a:off x="2036936" y="4955369"/>
              <a:ext cx="6376988" cy="460375"/>
            </a:xfrm>
            <a:custGeom>
              <a:avLst/>
              <a:gdLst>
                <a:gd name="T0" fmla="*/ 0 w 16069"/>
                <a:gd name="T1" fmla="*/ 0 h 1160"/>
                <a:gd name="T2" fmla="*/ 1031 w 16069"/>
                <a:gd name="T3" fmla="*/ 1160 h 1160"/>
                <a:gd name="T4" fmla="*/ 16069 w 16069"/>
                <a:gd name="T5" fmla="*/ 1160 h 1160"/>
                <a:gd name="T6" fmla="*/ 16069 w 16069"/>
                <a:gd name="T7" fmla="*/ 0 h 1160"/>
                <a:gd name="T8" fmla="*/ 0 w 16069"/>
                <a:gd name="T9" fmla="*/ 0 h 1160"/>
              </a:gdLst>
              <a:ahLst/>
              <a:cxnLst>
                <a:cxn ang="0">
                  <a:pos x="T0" y="T1"/>
                </a:cxn>
                <a:cxn ang="0">
                  <a:pos x="T2" y="T3"/>
                </a:cxn>
                <a:cxn ang="0">
                  <a:pos x="T4" y="T5"/>
                </a:cxn>
                <a:cxn ang="0">
                  <a:pos x="T6" y="T7"/>
                </a:cxn>
                <a:cxn ang="0">
                  <a:pos x="T8" y="T9"/>
                </a:cxn>
              </a:cxnLst>
              <a:rect l="0" t="0" r="r" b="b"/>
              <a:pathLst>
                <a:path w="16069" h="1160">
                  <a:moveTo>
                    <a:pt x="0" y="0"/>
                  </a:moveTo>
                  <a:lnTo>
                    <a:pt x="1031" y="1160"/>
                  </a:lnTo>
                  <a:lnTo>
                    <a:pt x="16069" y="1160"/>
                  </a:lnTo>
                  <a:lnTo>
                    <a:pt x="16069" y="0"/>
                  </a:lnTo>
                  <a:lnTo>
                    <a:pt x="0" y="0"/>
                  </a:lnTo>
                  <a:close/>
                </a:path>
              </a:pathLst>
            </a:custGeom>
            <a:solidFill>
              <a:srgbClr val="F1F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9" name="TextBox 128"/>
            <p:cNvSpPr txBox="1"/>
            <p:nvPr/>
          </p:nvSpPr>
          <p:spPr>
            <a:xfrm>
              <a:off x="632888" y="5092448"/>
              <a:ext cx="1411622" cy="637947"/>
            </a:xfrm>
            <a:prstGeom prst="rect">
              <a:avLst/>
            </a:prstGeom>
            <a:noFill/>
          </p:spPr>
          <p:txBody>
            <a:bodyPr wrap="square" rtlCol="0">
              <a:spAutoFit/>
            </a:bodyPr>
            <a:lstStyle/>
            <a:p>
              <a:pPr lvl="0" algn="ctr">
                <a:defRPr/>
              </a:pPr>
              <a:r>
                <a:rPr lang="en-US" sz="1200" b="1" kern="0" dirty="0">
                  <a:solidFill>
                    <a:sysClr val="windowText" lastClr="000000"/>
                  </a:solidFill>
                </a:rPr>
                <a:t>Logistics and Transport Capabilities</a:t>
              </a:r>
            </a:p>
          </p:txBody>
        </p:sp>
        <p:sp>
          <p:nvSpPr>
            <p:cNvPr id="130" name="TextBox 129"/>
            <p:cNvSpPr txBox="1"/>
            <p:nvPr/>
          </p:nvSpPr>
          <p:spPr>
            <a:xfrm>
              <a:off x="2383080" y="4922845"/>
              <a:ext cx="5993524" cy="888568"/>
            </a:xfrm>
            <a:prstGeom prst="rect">
              <a:avLst/>
            </a:prstGeom>
            <a:noFill/>
          </p:spPr>
          <p:txBody>
            <a:bodyPr wrap="square" rtlCol="0">
              <a:spAutoFit/>
            </a:bodyPr>
            <a:lstStyle>
              <a:defPPr>
                <a:defRPr lang="en-US"/>
              </a:defPPr>
              <a:lvl1pPr algn="just">
                <a:spcBef>
                  <a:spcPts val="200"/>
                </a:spcBef>
                <a:spcAft>
                  <a:spcPts val="200"/>
                </a:spcAft>
                <a:defRPr sz="1100">
                  <a:solidFill>
                    <a:sysClr val="windowText" lastClr="000000"/>
                  </a:solidFill>
                </a:defRPr>
              </a:lvl1pPr>
            </a:lstStyle>
            <a:p>
              <a:r>
                <a:rPr lang="en-US" sz="1050" dirty="0"/>
                <a:t>Port infrastructure and shipping capabilities are of the utmost importance in any business. With efficient transport of raw materials, work-in-progress (WIP) goods and finished products, businesses can have better opportunities for growth. A reliable logistics system is key to connecting customers with the right product at the right time. Companies must have an effective cargo delivery and transportation system that is dependable and cost-effective. </a:t>
              </a:r>
            </a:p>
          </p:txBody>
        </p:sp>
      </p:grpSp>
      <p:sp>
        <p:nvSpPr>
          <p:cNvPr id="14" name="TextBox 13"/>
          <p:cNvSpPr txBox="1"/>
          <p:nvPr/>
        </p:nvSpPr>
        <p:spPr>
          <a:xfrm>
            <a:off x="445645" y="3170112"/>
            <a:ext cx="1498065" cy="461665"/>
          </a:xfrm>
          <a:prstGeom prst="rect">
            <a:avLst/>
          </a:prstGeom>
          <a:noFill/>
        </p:spPr>
        <p:txBody>
          <a:bodyPr wrap="square" rtlCol="0">
            <a:spAutoFit/>
          </a:bodyPr>
          <a:lstStyle>
            <a:defPPr>
              <a:defRPr lang="en-US"/>
            </a:defPPr>
            <a:lvl1pPr algn="ctr">
              <a:defRPr sz="1400" b="1">
                <a:solidFill>
                  <a:schemeClr val="bg1"/>
                </a:solidFill>
              </a:defRPr>
            </a:lvl1pPr>
          </a:lstStyle>
          <a:p>
            <a:r>
              <a:rPr lang="en-US" sz="1200" dirty="0">
                <a:solidFill>
                  <a:prstClr val="black"/>
                </a:solidFill>
              </a:rPr>
              <a:t>Global Economic Conditions</a:t>
            </a:r>
          </a:p>
        </p:txBody>
      </p:sp>
      <p:sp>
        <p:nvSpPr>
          <p:cNvPr id="7" name="Rectangle 6"/>
          <p:cNvSpPr/>
          <p:nvPr/>
        </p:nvSpPr>
        <p:spPr>
          <a:xfrm>
            <a:off x="8869257" y="1273935"/>
            <a:ext cx="3170343" cy="483235"/>
          </a:xfrm>
          <a:prstGeom prst="rect">
            <a:avLst/>
          </a:prstGeom>
          <a:solidFill>
            <a:srgbClr val="2A5F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Impact</a:t>
            </a:r>
          </a:p>
        </p:txBody>
      </p:sp>
      <p:sp>
        <p:nvSpPr>
          <p:cNvPr id="157" name="TextBox 156"/>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4" name="Slide Number Placeholder 3"/>
          <p:cNvSpPr>
            <a:spLocks noGrp="1"/>
          </p:cNvSpPr>
          <p:nvPr>
            <p:ph type="sldNum" sz="quarter" idx="4"/>
          </p:nvPr>
        </p:nvSpPr>
        <p:spPr/>
        <p:txBody>
          <a:bodyPr/>
          <a:lstStyle/>
          <a:p>
            <a:fld id="{4B17068C-EB94-40A3-A5F2-664CDD77FDAC}" type="slidenum">
              <a:rPr lang="en-GB" smtClean="0"/>
              <a:pPr/>
              <a:t>51</a:t>
            </a:fld>
            <a:endParaRPr lang="en-GB" dirty="0"/>
          </a:p>
        </p:txBody>
      </p:sp>
      <p:grpSp>
        <p:nvGrpSpPr>
          <p:cNvPr id="154" name="Group 153"/>
          <p:cNvGrpSpPr/>
          <p:nvPr/>
        </p:nvGrpSpPr>
        <p:grpSpPr>
          <a:xfrm>
            <a:off x="9426663" y="2042543"/>
            <a:ext cx="2051380" cy="3707687"/>
            <a:chOff x="9339769" y="2040376"/>
            <a:chExt cx="2051380" cy="3707687"/>
          </a:xfrm>
        </p:grpSpPr>
        <p:grpSp>
          <p:nvGrpSpPr>
            <p:cNvPr id="158" name="Group 157"/>
            <p:cNvGrpSpPr/>
            <p:nvPr/>
          </p:nvGrpSpPr>
          <p:grpSpPr>
            <a:xfrm>
              <a:off x="9399409" y="2040376"/>
              <a:ext cx="1991740" cy="404773"/>
              <a:chOff x="3261572" y="2320197"/>
              <a:chExt cx="5722734" cy="438912"/>
            </a:xfrm>
            <a:effectLst/>
          </p:grpSpPr>
          <p:sp>
            <p:nvSpPr>
              <p:cNvPr id="201" name="Rectangle 200"/>
              <p:cNvSpPr/>
              <p:nvPr/>
            </p:nvSpPr>
            <p:spPr>
              <a:xfrm>
                <a:off x="3261572" y="2320197"/>
                <a:ext cx="5722734" cy="438912"/>
              </a:xfrm>
              <a:prstGeom prst="rect">
                <a:avLst/>
              </a:prstGeom>
              <a:solidFill>
                <a:schemeClr val="bg1">
                  <a:lumMod val="85000"/>
                </a:schemeClr>
              </a:solidFill>
              <a:ln>
                <a:solidFill>
                  <a:schemeClr val="bg1"/>
                </a:solidFill>
              </a:ln>
              <a:effectLst>
                <a:outerShdw blurRad="152400" dist="317500" dir="5400000" sx="90000" sy="-19000" rotWithShape="0">
                  <a:prstClr val="black">
                    <a:alpha val="15000"/>
                  </a:prstClr>
                </a:outerShdw>
              </a:effectLst>
            </p:spPr>
            <p:style>
              <a:lnRef idx="1">
                <a:schemeClr val="dk1"/>
              </a:lnRef>
              <a:fillRef idx="2">
                <a:schemeClr val="dk1"/>
              </a:fillRef>
              <a:effectRef idx="1">
                <a:schemeClr val="dk1"/>
              </a:effectRef>
              <a:fontRef idx="minor">
                <a:schemeClr val="dk1"/>
              </a:fontRef>
            </p:style>
            <p:txBody>
              <a:bodyPr rtlCol="0" anchor="ct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algn="ctr"/>
                <a:endParaRPr lang="en-US" sz="1000" dirty="0"/>
              </a:p>
            </p:txBody>
          </p:sp>
          <p:sp>
            <p:nvSpPr>
              <p:cNvPr id="202" name="Rectangle 201"/>
              <p:cNvSpPr/>
              <p:nvPr/>
            </p:nvSpPr>
            <p:spPr>
              <a:xfrm>
                <a:off x="3670163" y="2424837"/>
                <a:ext cx="980441" cy="175599"/>
              </a:xfrm>
              <a:prstGeom prst="rect">
                <a:avLst/>
              </a:prstGeom>
              <a:solidFill>
                <a:srgbClr val="E02D17"/>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203" name="Rectangle 202"/>
              <p:cNvSpPr/>
              <p:nvPr/>
            </p:nvSpPr>
            <p:spPr>
              <a:xfrm>
                <a:off x="4620347" y="2424837"/>
                <a:ext cx="980441" cy="175599"/>
              </a:xfrm>
              <a:prstGeom prst="rect">
                <a:avLst/>
              </a:prstGeom>
              <a:solidFill>
                <a:srgbClr val="ED82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204" name="Rectangle 203"/>
              <p:cNvSpPr/>
              <p:nvPr/>
            </p:nvSpPr>
            <p:spPr>
              <a:xfrm>
                <a:off x="5603190" y="2424837"/>
                <a:ext cx="980441" cy="175599"/>
              </a:xfrm>
              <a:prstGeom prst="rect">
                <a:avLst/>
              </a:prstGeom>
              <a:solidFill>
                <a:srgbClr val="E5CB0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205" name="Rectangle 204"/>
              <p:cNvSpPr/>
              <p:nvPr/>
            </p:nvSpPr>
            <p:spPr>
              <a:xfrm>
                <a:off x="6586035" y="2424837"/>
                <a:ext cx="980441" cy="175599"/>
              </a:xfrm>
              <a:prstGeom prst="rect">
                <a:avLst/>
              </a:prstGeom>
              <a:solidFill>
                <a:srgbClr val="8FAE2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206" name="Rectangle 205"/>
              <p:cNvSpPr/>
              <p:nvPr/>
            </p:nvSpPr>
            <p:spPr>
              <a:xfrm>
                <a:off x="7568879" y="2424837"/>
                <a:ext cx="980441" cy="175599"/>
              </a:xfrm>
              <a:prstGeom prst="rect">
                <a:avLst/>
              </a:prstGeom>
              <a:solidFill>
                <a:srgbClr val="44A64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207" name="TextBox 19"/>
              <p:cNvSpPr txBox="1"/>
              <p:nvPr/>
            </p:nvSpPr>
            <p:spPr>
              <a:xfrm>
                <a:off x="3402300" y="2590813"/>
                <a:ext cx="767609"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Low</a:t>
                </a:r>
              </a:p>
            </p:txBody>
          </p:sp>
          <p:sp>
            <p:nvSpPr>
              <p:cNvPr id="208" name="TextBox 20"/>
              <p:cNvSpPr txBox="1"/>
              <p:nvPr/>
            </p:nvSpPr>
            <p:spPr>
              <a:xfrm>
                <a:off x="5335723" y="2590813"/>
                <a:ext cx="1574435"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Medium</a:t>
                </a:r>
              </a:p>
            </p:txBody>
          </p:sp>
          <p:sp>
            <p:nvSpPr>
              <p:cNvPr id="209" name="TextBox 21"/>
              <p:cNvSpPr txBox="1"/>
              <p:nvPr/>
            </p:nvSpPr>
            <p:spPr>
              <a:xfrm>
                <a:off x="8009181" y="2590813"/>
                <a:ext cx="846051"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High</a:t>
                </a:r>
              </a:p>
            </p:txBody>
          </p:sp>
        </p:grpSp>
        <p:grpSp>
          <p:nvGrpSpPr>
            <p:cNvPr id="159" name="Group 158"/>
            <p:cNvGrpSpPr/>
            <p:nvPr/>
          </p:nvGrpSpPr>
          <p:grpSpPr>
            <a:xfrm>
              <a:off x="10534960" y="2109271"/>
              <a:ext cx="349148" cy="237990"/>
              <a:chOff x="5120992" y="1860807"/>
              <a:chExt cx="354192" cy="357788"/>
            </a:xfrm>
          </p:grpSpPr>
          <p:sp>
            <p:nvSpPr>
              <p:cNvPr id="199" name="Oval 198"/>
              <p:cNvSpPr/>
              <p:nvPr/>
            </p:nvSpPr>
            <p:spPr bwMode="gray">
              <a:xfrm>
                <a:off x="5120992" y="1860807"/>
                <a:ext cx="354192" cy="357788"/>
              </a:xfrm>
              <a:prstGeom prst="ellipse">
                <a:avLst/>
              </a:prstGeom>
              <a:solidFill>
                <a:schemeClr val="tx1">
                  <a:lumMod val="75000"/>
                  <a:lumOff val="25000"/>
                </a:schemeClr>
              </a:solidFill>
              <a:scene3d>
                <a:camera prst="orthographicFront"/>
                <a:lightRig rig="threePt" dir="t"/>
              </a:scene3d>
              <a:sp3d>
                <a:bevelT w="114300" prst="artDeco"/>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200" name="Oval 199"/>
              <p:cNvSpPr/>
              <p:nvPr/>
            </p:nvSpPr>
            <p:spPr bwMode="gray">
              <a:xfrm>
                <a:off x="5214273" y="1955033"/>
                <a:ext cx="167630" cy="169333"/>
              </a:xfrm>
              <a:prstGeom prst="ellipse">
                <a:avLst/>
              </a:prstGeom>
              <a:solidFill>
                <a:srgbClr val="00B0F0"/>
              </a:solidFill>
              <a:scene3d>
                <a:camera prst="orthographicFront"/>
                <a:lightRig rig="threePt" dir="t"/>
              </a:scene3d>
              <a:sp3d>
                <a:bevelT/>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160" name="Group 159"/>
            <p:cNvGrpSpPr/>
            <p:nvPr/>
          </p:nvGrpSpPr>
          <p:grpSpPr>
            <a:xfrm>
              <a:off x="9339769" y="3101138"/>
              <a:ext cx="1991740" cy="404773"/>
              <a:chOff x="3261572" y="2320197"/>
              <a:chExt cx="5722734" cy="438912"/>
            </a:xfrm>
            <a:effectLst/>
          </p:grpSpPr>
          <p:sp>
            <p:nvSpPr>
              <p:cNvPr id="190" name="Rectangle 189"/>
              <p:cNvSpPr/>
              <p:nvPr/>
            </p:nvSpPr>
            <p:spPr>
              <a:xfrm>
                <a:off x="3261572" y="2320197"/>
                <a:ext cx="5722734" cy="438912"/>
              </a:xfrm>
              <a:prstGeom prst="rect">
                <a:avLst/>
              </a:prstGeom>
              <a:solidFill>
                <a:schemeClr val="bg1">
                  <a:lumMod val="85000"/>
                </a:schemeClr>
              </a:solidFill>
              <a:ln>
                <a:solidFill>
                  <a:schemeClr val="bg1"/>
                </a:solidFill>
              </a:ln>
              <a:effectLst>
                <a:outerShdw blurRad="152400" dist="317500" dir="5400000" sx="90000" sy="-19000" rotWithShape="0">
                  <a:prstClr val="black">
                    <a:alpha val="15000"/>
                  </a:prstClr>
                </a:outerShdw>
              </a:effectLst>
            </p:spPr>
            <p:style>
              <a:lnRef idx="1">
                <a:schemeClr val="dk1"/>
              </a:lnRef>
              <a:fillRef idx="2">
                <a:schemeClr val="dk1"/>
              </a:fillRef>
              <a:effectRef idx="1">
                <a:schemeClr val="dk1"/>
              </a:effectRef>
              <a:fontRef idx="minor">
                <a:schemeClr val="dk1"/>
              </a:fontRef>
            </p:style>
            <p:txBody>
              <a:bodyPr rtlCol="0" anchor="ct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algn="ctr"/>
                <a:endParaRPr lang="en-US" sz="1000" dirty="0"/>
              </a:p>
            </p:txBody>
          </p:sp>
          <p:sp>
            <p:nvSpPr>
              <p:cNvPr id="191" name="Rectangle 190"/>
              <p:cNvSpPr/>
              <p:nvPr/>
            </p:nvSpPr>
            <p:spPr>
              <a:xfrm>
                <a:off x="3670163" y="2424837"/>
                <a:ext cx="980441" cy="175599"/>
              </a:xfrm>
              <a:prstGeom prst="rect">
                <a:avLst/>
              </a:prstGeom>
              <a:solidFill>
                <a:srgbClr val="E02D17"/>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92" name="Rectangle 191"/>
              <p:cNvSpPr/>
              <p:nvPr/>
            </p:nvSpPr>
            <p:spPr>
              <a:xfrm>
                <a:off x="4620347" y="2424837"/>
                <a:ext cx="980441" cy="175599"/>
              </a:xfrm>
              <a:prstGeom prst="rect">
                <a:avLst/>
              </a:prstGeom>
              <a:solidFill>
                <a:srgbClr val="ED82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93" name="Rectangle 192"/>
              <p:cNvSpPr/>
              <p:nvPr/>
            </p:nvSpPr>
            <p:spPr>
              <a:xfrm>
                <a:off x="5603190" y="2424837"/>
                <a:ext cx="980441" cy="175599"/>
              </a:xfrm>
              <a:prstGeom prst="rect">
                <a:avLst/>
              </a:prstGeom>
              <a:solidFill>
                <a:srgbClr val="E5CB0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94" name="Rectangle 193"/>
              <p:cNvSpPr/>
              <p:nvPr/>
            </p:nvSpPr>
            <p:spPr>
              <a:xfrm>
                <a:off x="6586035" y="2424837"/>
                <a:ext cx="980441" cy="175599"/>
              </a:xfrm>
              <a:prstGeom prst="rect">
                <a:avLst/>
              </a:prstGeom>
              <a:solidFill>
                <a:srgbClr val="8FAE2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95" name="Rectangle 194"/>
              <p:cNvSpPr/>
              <p:nvPr/>
            </p:nvSpPr>
            <p:spPr>
              <a:xfrm>
                <a:off x="7568879" y="2424837"/>
                <a:ext cx="980441" cy="175599"/>
              </a:xfrm>
              <a:prstGeom prst="rect">
                <a:avLst/>
              </a:prstGeom>
              <a:solidFill>
                <a:srgbClr val="44A64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96" name="TextBox 19"/>
              <p:cNvSpPr txBox="1"/>
              <p:nvPr/>
            </p:nvSpPr>
            <p:spPr>
              <a:xfrm>
                <a:off x="3402300" y="2590813"/>
                <a:ext cx="767609"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Low</a:t>
                </a:r>
              </a:p>
            </p:txBody>
          </p:sp>
          <p:sp>
            <p:nvSpPr>
              <p:cNvPr id="197" name="TextBox 20"/>
              <p:cNvSpPr txBox="1"/>
              <p:nvPr/>
            </p:nvSpPr>
            <p:spPr>
              <a:xfrm>
                <a:off x="5335723" y="2590813"/>
                <a:ext cx="1574435"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Medium</a:t>
                </a:r>
              </a:p>
            </p:txBody>
          </p:sp>
          <p:sp>
            <p:nvSpPr>
              <p:cNvPr id="198" name="TextBox 21"/>
              <p:cNvSpPr txBox="1"/>
              <p:nvPr/>
            </p:nvSpPr>
            <p:spPr>
              <a:xfrm>
                <a:off x="8009181" y="2590813"/>
                <a:ext cx="846051"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High</a:t>
                </a:r>
              </a:p>
            </p:txBody>
          </p:sp>
        </p:grpSp>
        <p:grpSp>
          <p:nvGrpSpPr>
            <p:cNvPr id="161" name="Group 160"/>
            <p:cNvGrpSpPr/>
            <p:nvPr/>
          </p:nvGrpSpPr>
          <p:grpSpPr>
            <a:xfrm>
              <a:off x="10201574" y="3157283"/>
              <a:ext cx="349153" cy="237990"/>
              <a:chOff x="4529775" y="1842817"/>
              <a:chExt cx="354191" cy="357788"/>
            </a:xfrm>
          </p:grpSpPr>
          <p:sp>
            <p:nvSpPr>
              <p:cNvPr id="188" name="Oval 187"/>
              <p:cNvSpPr/>
              <p:nvPr/>
            </p:nvSpPr>
            <p:spPr bwMode="gray">
              <a:xfrm>
                <a:off x="4529775" y="1842817"/>
                <a:ext cx="354191" cy="357788"/>
              </a:xfrm>
              <a:prstGeom prst="ellipse">
                <a:avLst/>
              </a:prstGeom>
              <a:solidFill>
                <a:schemeClr val="tx1">
                  <a:lumMod val="75000"/>
                  <a:lumOff val="25000"/>
                </a:schemeClr>
              </a:solidFill>
              <a:scene3d>
                <a:camera prst="orthographicFront"/>
                <a:lightRig rig="threePt" dir="t"/>
              </a:scene3d>
              <a:sp3d>
                <a:bevelT w="114300" prst="artDeco"/>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89" name="Oval 188"/>
              <p:cNvSpPr/>
              <p:nvPr/>
            </p:nvSpPr>
            <p:spPr bwMode="gray">
              <a:xfrm>
                <a:off x="4638079" y="1937043"/>
                <a:ext cx="167631" cy="169333"/>
              </a:xfrm>
              <a:prstGeom prst="ellipse">
                <a:avLst/>
              </a:prstGeom>
              <a:solidFill>
                <a:srgbClr val="00B0F0"/>
              </a:solidFill>
              <a:scene3d>
                <a:camera prst="orthographicFront"/>
                <a:lightRig rig="threePt" dir="t"/>
              </a:scene3d>
              <a:sp3d>
                <a:bevelT/>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162" name="Group 161"/>
            <p:cNvGrpSpPr/>
            <p:nvPr/>
          </p:nvGrpSpPr>
          <p:grpSpPr>
            <a:xfrm>
              <a:off x="9365474" y="4222214"/>
              <a:ext cx="1991740" cy="404773"/>
              <a:chOff x="3261572" y="2320197"/>
              <a:chExt cx="5722734" cy="438912"/>
            </a:xfrm>
            <a:effectLst/>
          </p:grpSpPr>
          <p:sp>
            <p:nvSpPr>
              <p:cNvPr id="179" name="Rectangle 178"/>
              <p:cNvSpPr/>
              <p:nvPr/>
            </p:nvSpPr>
            <p:spPr>
              <a:xfrm>
                <a:off x="3261572" y="2320197"/>
                <a:ext cx="5722734" cy="438912"/>
              </a:xfrm>
              <a:prstGeom prst="rect">
                <a:avLst/>
              </a:prstGeom>
              <a:solidFill>
                <a:schemeClr val="bg1">
                  <a:lumMod val="85000"/>
                </a:schemeClr>
              </a:solidFill>
              <a:ln>
                <a:solidFill>
                  <a:schemeClr val="bg1"/>
                </a:solidFill>
              </a:ln>
              <a:effectLst>
                <a:outerShdw blurRad="152400" dist="317500" dir="5400000" sx="90000" sy="-19000" rotWithShape="0">
                  <a:prstClr val="black">
                    <a:alpha val="15000"/>
                  </a:prstClr>
                </a:outerShdw>
              </a:effectLst>
            </p:spPr>
            <p:style>
              <a:lnRef idx="1">
                <a:schemeClr val="dk1"/>
              </a:lnRef>
              <a:fillRef idx="2">
                <a:schemeClr val="dk1"/>
              </a:fillRef>
              <a:effectRef idx="1">
                <a:schemeClr val="dk1"/>
              </a:effectRef>
              <a:fontRef idx="minor">
                <a:schemeClr val="dk1"/>
              </a:fontRef>
            </p:style>
            <p:txBody>
              <a:bodyPr rtlCol="0" anchor="ct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algn="ctr"/>
                <a:endParaRPr lang="en-US" sz="1000" dirty="0"/>
              </a:p>
            </p:txBody>
          </p:sp>
          <p:sp>
            <p:nvSpPr>
              <p:cNvPr id="180" name="Rectangle 179"/>
              <p:cNvSpPr/>
              <p:nvPr/>
            </p:nvSpPr>
            <p:spPr>
              <a:xfrm>
                <a:off x="3670163" y="2424837"/>
                <a:ext cx="980441" cy="175599"/>
              </a:xfrm>
              <a:prstGeom prst="rect">
                <a:avLst/>
              </a:prstGeom>
              <a:solidFill>
                <a:srgbClr val="E02D17"/>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81" name="Rectangle 180"/>
              <p:cNvSpPr/>
              <p:nvPr/>
            </p:nvSpPr>
            <p:spPr>
              <a:xfrm>
                <a:off x="4620347" y="2424837"/>
                <a:ext cx="980441" cy="175599"/>
              </a:xfrm>
              <a:prstGeom prst="rect">
                <a:avLst/>
              </a:prstGeom>
              <a:solidFill>
                <a:srgbClr val="ED82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82" name="Rectangle 181"/>
              <p:cNvSpPr/>
              <p:nvPr/>
            </p:nvSpPr>
            <p:spPr>
              <a:xfrm>
                <a:off x="5603190" y="2424837"/>
                <a:ext cx="980441" cy="175599"/>
              </a:xfrm>
              <a:prstGeom prst="rect">
                <a:avLst/>
              </a:prstGeom>
              <a:solidFill>
                <a:srgbClr val="E5CB0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83" name="Rectangle 182"/>
              <p:cNvSpPr/>
              <p:nvPr/>
            </p:nvSpPr>
            <p:spPr>
              <a:xfrm>
                <a:off x="6586035" y="2424837"/>
                <a:ext cx="980441" cy="175599"/>
              </a:xfrm>
              <a:prstGeom prst="rect">
                <a:avLst/>
              </a:prstGeom>
              <a:solidFill>
                <a:srgbClr val="8FAE2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84" name="Rectangle 183"/>
              <p:cNvSpPr/>
              <p:nvPr/>
            </p:nvSpPr>
            <p:spPr>
              <a:xfrm>
                <a:off x="7568879" y="2424837"/>
                <a:ext cx="980441" cy="175599"/>
              </a:xfrm>
              <a:prstGeom prst="rect">
                <a:avLst/>
              </a:prstGeom>
              <a:solidFill>
                <a:srgbClr val="44A64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85" name="TextBox 19"/>
              <p:cNvSpPr txBox="1"/>
              <p:nvPr/>
            </p:nvSpPr>
            <p:spPr>
              <a:xfrm>
                <a:off x="3402300" y="2590813"/>
                <a:ext cx="767609"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Low</a:t>
                </a:r>
              </a:p>
            </p:txBody>
          </p:sp>
          <p:sp>
            <p:nvSpPr>
              <p:cNvPr id="186" name="TextBox 20"/>
              <p:cNvSpPr txBox="1"/>
              <p:nvPr/>
            </p:nvSpPr>
            <p:spPr>
              <a:xfrm>
                <a:off x="5335723" y="2590813"/>
                <a:ext cx="1574435"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Medium</a:t>
                </a:r>
              </a:p>
            </p:txBody>
          </p:sp>
          <p:sp>
            <p:nvSpPr>
              <p:cNvPr id="187" name="TextBox 21"/>
              <p:cNvSpPr txBox="1"/>
              <p:nvPr/>
            </p:nvSpPr>
            <p:spPr>
              <a:xfrm>
                <a:off x="8009181" y="2590813"/>
                <a:ext cx="846051"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High</a:t>
                </a:r>
              </a:p>
            </p:txBody>
          </p:sp>
        </p:grpSp>
        <p:grpSp>
          <p:nvGrpSpPr>
            <p:cNvPr id="163" name="Group 162"/>
            <p:cNvGrpSpPr/>
            <p:nvPr/>
          </p:nvGrpSpPr>
          <p:grpSpPr>
            <a:xfrm>
              <a:off x="10536017" y="4291498"/>
              <a:ext cx="349147" cy="237990"/>
              <a:chOff x="4681137" y="1860807"/>
              <a:chExt cx="354191" cy="357788"/>
            </a:xfrm>
          </p:grpSpPr>
          <p:sp>
            <p:nvSpPr>
              <p:cNvPr id="177" name="Oval 176"/>
              <p:cNvSpPr/>
              <p:nvPr/>
            </p:nvSpPr>
            <p:spPr bwMode="gray">
              <a:xfrm>
                <a:off x="4681137" y="1860807"/>
                <a:ext cx="354191" cy="357788"/>
              </a:xfrm>
              <a:prstGeom prst="ellipse">
                <a:avLst/>
              </a:prstGeom>
              <a:solidFill>
                <a:schemeClr val="tx1">
                  <a:lumMod val="75000"/>
                  <a:lumOff val="25000"/>
                </a:schemeClr>
              </a:solidFill>
              <a:scene3d>
                <a:camera prst="orthographicFront"/>
                <a:lightRig rig="threePt" dir="t"/>
              </a:scene3d>
              <a:sp3d>
                <a:bevelT w="114300" prst="artDeco"/>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78" name="Oval 177"/>
              <p:cNvSpPr/>
              <p:nvPr/>
            </p:nvSpPr>
            <p:spPr bwMode="gray">
              <a:xfrm>
                <a:off x="4789452" y="1955033"/>
                <a:ext cx="167631" cy="169333"/>
              </a:xfrm>
              <a:prstGeom prst="ellipse">
                <a:avLst/>
              </a:prstGeom>
              <a:solidFill>
                <a:srgbClr val="00B0F0"/>
              </a:solidFill>
              <a:scene3d>
                <a:camera prst="orthographicFront"/>
                <a:lightRig rig="threePt" dir="t"/>
              </a:scene3d>
              <a:sp3d>
                <a:bevelT/>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164" name="Group 163"/>
            <p:cNvGrpSpPr/>
            <p:nvPr/>
          </p:nvGrpSpPr>
          <p:grpSpPr>
            <a:xfrm>
              <a:off x="9339769" y="5343290"/>
              <a:ext cx="1991740" cy="404773"/>
              <a:chOff x="3261572" y="2320197"/>
              <a:chExt cx="5722734" cy="438912"/>
            </a:xfrm>
            <a:effectLst/>
          </p:grpSpPr>
          <p:sp>
            <p:nvSpPr>
              <p:cNvPr id="168" name="Rectangle 167"/>
              <p:cNvSpPr/>
              <p:nvPr/>
            </p:nvSpPr>
            <p:spPr>
              <a:xfrm>
                <a:off x="3261572" y="2320197"/>
                <a:ext cx="5722734" cy="438912"/>
              </a:xfrm>
              <a:prstGeom prst="rect">
                <a:avLst/>
              </a:prstGeom>
              <a:solidFill>
                <a:schemeClr val="bg1">
                  <a:lumMod val="85000"/>
                </a:schemeClr>
              </a:solidFill>
              <a:ln>
                <a:solidFill>
                  <a:schemeClr val="bg1"/>
                </a:solidFill>
              </a:ln>
              <a:effectLst>
                <a:outerShdw blurRad="152400" dist="317500" dir="5400000" sx="90000" sy="-19000" rotWithShape="0">
                  <a:prstClr val="black">
                    <a:alpha val="15000"/>
                  </a:prstClr>
                </a:outerShdw>
              </a:effectLst>
            </p:spPr>
            <p:style>
              <a:lnRef idx="1">
                <a:schemeClr val="dk1"/>
              </a:lnRef>
              <a:fillRef idx="2">
                <a:schemeClr val="dk1"/>
              </a:fillRef>
              <a:effectRef idx="1">
                <a:schemeClr val="dk1"/>
              </a:effectRef>
              <a:fontRef idx="minor">
                <a:schemeClr val="dk1"/>
              </a:fontRef>
            </p:style>
            <p:txBody>
              <a:bodyPr rtlCol="0" anchor="ct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algn="ctr"/>
                <a:endParaRPr lang="en-US" sz="1000" dirty="0"/>
              </a:p>
            </p:txBody>
          </p:sp>
          <p:sp>
            <p:nvSpPr>
              <p:cNvPr id="169" name="Rectangle 168"/>
              <p:cNvSpPr/>
              <p:nvPr/>
            </p:nvSpPr>
            <p:spPr>
              <a:xfrm>
                <a:off x="3670163" y="2424837"/>
                <a:ext cx="980441" cy="175599"/>
              </a:xfrm>
              <a:prstGeom prst="rect">
                <a:avLst/>
              </a:prstGeom>
              <a:solidFill>
                <a:srgbClr val="E02D17"/>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70" name="Rectangle 169"/>
              <p:cNvSpPr/>
              <p:nvPr/>
            </p:nvSpPr>
            <p:spPr>
              <a:xfrm>
                <a:off x="4620347" y="2424837"/>
                <a:ext cx="980441" cy="175599"/>
              </a:xfrm>
              <a:prstGeom prst="rect">
                <a:avLst/>
              </a:prstGeom>
              <a:solidFill>
                <a:srgbClr val="ED82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71" name="Rectangle 170"/>
              <p:cNvSpPr/>
              <p:nvPr/>
            </p:nvSpPr>
            <p:spPr>
              <a:xfrm>
                <a:off x="5603190" y="2424837"/>
                <a:ext cx="980441" cy="175599"/>
              </a:xfrm>
              <a:prstGeom prst="rect">
                <a:avLst/>
              </a:prstGeom>
              <a:solidFill>
                <a:srgbClr val="E5CB0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72" name="Rectangle 171"/>
              <p:cNvSpPr/>
              <p:nvPr/>
            </p:nvSpPr>
            <p:spPr>
              <a:xfrm>
                <a:off x="6586035" y="2424837"/>
                <a:ext cx="980441" cy="175599"/>
              </a:xfrm>
              <a:prstGeom prst="rect">
                <a:avLst/>
              </a:prstGeom>
              <a:solidFill>
                <a:srgbClr val="8FAE2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73" name="Rectangle 172"/>
              <p:cNvSpPr/>
              <p:nvPr/>
            </p:nvSpPr>
            <p:spPr>
              <a:xfrm>
                <a:off x="7568879" y="2424837"/>
                <a:ext cx="980441" cy="175599"/>
              </a:xfrm>
              <a:prstGeom prst="rect">
                <a:avLst/>
              </a:prstGeom>
              <a:solidFill>
                <a:srgbClr val="44A64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000" dirty="0"/>
              </a:p>
            </p:txBody>
          </p:sp>
          <p:sp>
            <p:nvSpPr>
              <p:cNvPr id="174" name="TextBox 19"/>
              <p:cNvSpPr txBox="1"/>
              <p:nvPr/>
            </p:nvSpPr>
            <p:spPr>
              <a:xfrm>
                <a:off x="3402300" y="2590813"/>
                <a:ext cx="767609"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Low</a:t>
                </a:r>
              </a:p>
            </p:txBody>
          </p:sp>
          <p:sp>
            <p:nvSpPr>
              <p:cNvPr id="175" name="TextBox 20"/>
              <p:cNvSpPr txBox="1"/>
              <p:nvPr/>
            </p:nvSpPr>
            <p:spPr>
              <a:xfrm>
                <a:off x="5335723" y="2590813"/>
                <a:ext cx="1574435"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Medium</a:t>
                </a:r>
              </a:p>
            </p:txBody>
          </p:sp>
          <p:sp>
            <p:nvSpPr>
              <p:cNvPr id="176" name="TextBox 21"/>
              <p:cNvSpPr txBox="1"/>
              <p:nvPr/>
            </p:nvSpPr>
            <p:spPr>
              <a:xfrm>
                <a:off x="8009181" y="2590813"/>
                <a:ext cx="846051" cy="163021"/>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000" b="1" dirty="0"/>
                  <a:t>High</a:t>
                </a:r>
              </a:p>
            </p:txBody>
          </p:sp>
        </p:grpSp>
        <p:grpSp>
          <p:nvGrpSpPr>
            <p:cNvPr id="165" name="Group 164"/>
            <p:cNvGrpSpPr/>
            <p:nvPr/>
          </p:nvGrpSpPr>
          <p:grpSpPr>
            <a:xfrm>
              <a:off x="10222936" y="5426278"/>
              <a:ext cx="349151" cy="237990"/>
              <a:chOff x="4665141" y="1860807"/>
              <a:chExt cx="354190" cy="357788"/>
            </a:xfrm>
          </p:grpSpPr>
          <p:sp>
            <p:nvSpPr>
              <p:cNvPr id="166" name="Oval 165"/>
              <p:cNvSpPr/>
              <p:nvPr/>
            </p:nvSpPr>
            <p:spPr bwMode="gray">
              <a:xfrm>
                <a:off x="4665141" y="1860807"/>
                <a:ext cx="354190" cy="357788"/>
              </a:xfrm>
              <a:prstGeom prst="ellipse">
                <a:avLst/>
              </a:prstGeom>
              <a:solidFill>
                <a:schemeClr val="tx1">
                  <a:lumMod val="75000"/>
                  <a:lumOff val="25000"/>
                </a:schemeClr>
              </a:solidFill>
              <a:scene3d>
                <a:camera prst="orthographicFront"/>
                <a:lightRig rig="threePt" dir="t"/>
              </a:scene3d>
              <a:sp3d>
                <a:bevelT w="114300" prst="artDeco"/>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67" name="Oval 166"/>
              <p:cNvSpPr/>
              <p:nvPr/>
            </p:nvSpPr>
            <p:spPr bwMode="gray">
              <a:xfrm>
                <a:off x="4773468" y="1955033"/>
                <a:ext cx="167631" cy="169333"/>
              </a:xfrm>
              <a:prstGeom prst="ellipse">
                <a:avLst/>
              </a:prstGeom>
              <a:solidFill>
                <a:srgbClr val="00B0F0"/>
              </a:solidFill>
              <a:scene3d>
                <a:camera prst="orthographicFront"/>
                <a:lightRig rig="threePt" dir="t"/>
              </a:scene3d>
              <a:sp3d>
                <a:bevelT/>
              </a:sp3d>
            </p:spPr>
            <p:style>
              <a:lnRef idx="0">
                <a:schemeClr val="dk1"/>
              </a:lnRef>
              <a:fillRef idx="3">
                <a:schemeClr val="dk1"/>
              </a:fillRef>
              <a:effectRef idx="3">
                <a:schemeClr val="dk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spTree>
    <p:extLst>
      <p:ext uri="{BB962C8B-B14F-4D97-AF65-F5344CB8AC3E}">
        <p14:creationId xmlns:p14="http://schemas.microsoft.com/office/powerpoint/2010/main" val="287849874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Value Chain Analysis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52</a:t>
            </a:r>
          </a:p>
        </p:txBody>
      </p:sp>
    </p:spTree>
    <p:extLst>
      <p:ext uri="{BB962C8B-B14F-4D97-AF65-F5344CB8AC3E}">
        <p14:creationId xmlns:p14="http://schemas.microsoft.com/office/powerpoint/2010/main" val="2795193761"/>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1864562" y="4768175"/>
            <a:ext cx="8724132" cy="1298561"/>
          </a:xfrm>
          <a:prstGeom prst="rect">
            <a:avLst/>
          </a:prstGeom>
        </p:spPr>
      </p:pic>
      <p:sp>
        <p:nvSpPr>
          <p:cNvPr id="46" name="Rounded Rectangle 45"/>
          <p:cNvSpPr/>
          <p:nvPr/>
        </p:nvSpPr>
        <p:spPr>
          <a:xfrm>
            <a:off x="1570474" y="1460910"/>
            <a:ext cx="2105477" cy="1064576"/>
          </a:xfrm>
          <a:prstGeom prst="round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Rounded Rectangle 46"/>
          <p:cNvSpPr/>
          <p:nvPr/>
        </p:nvSpPr>
        <p:spPr>
          <a:xfrm>
            <a:off x="1769771" y="1552876"/>
            <a:ext cx="1706880" cy="880644"/>
          </a:xfrm>
          <a:prstGeom prst="roundRect">
            <a:avLst>
              <a:gd name="adj" fmla="val 4613"/>
            </a:avLst>
          </a:prstGeom>
          <a:solidFill>
            <a:schemeClr val="bg1"/>
          </a:solidFill>
          <a:ln>
            <a:noFill/>
          </a:ln>
          <a:effectLst>
            <a:outerShdw blurRad="50800" dist="76200" dir="8100000" algn="tr"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ectangle 47"/>
          <p:cNvSpPr/>
          <p:nvPr/>
        </p:nvSpPr>
        <p:spPr>
          <a:xfrm>
            <a:off x="2159569" y="1444136"/>
            <a:ext cx="927284" cy="338554"/>
          </a:xfrm>
          <a:prstGeom prst="rect">
            <a:avLst/>
          </a:prstGeom>
          <a:solidFill>
            <a:schemeClr val="bg1"/>
          </a:solidFill>
        </p:spPr>
        <p:txBody>
          <a:bodyPr wrap="square">
            <a:spAutoFit/>
          </a:bodyPr>
          <a:lstStyle/>
          <a:p>
            <a:pPr algn="ctr"/>
            <a:endParaRPr lang="en-US" sz="1600" b="1" dirty="0">
              <a:solidFill>
                <a:schemeClr val="accent3"/>
              </a:solidFill>
            </a:endParaRPr>
          </a:p>
        </p:txBody>
      </p:sp>
      <p:sp>
        <p:nvSpPr>
          <p:cNvPr id="49" name="Rectangle 48"/>
          <p:cNvSpPr/>
          <p:nvPr/>
        </p:nvSpPr>
        <p:spPr>
          <a:xfrm>
            <a:off x="1774613" y="1552134"/>
            <a:ext cx="1697195" cy="970458"/>
          </a:xfrm>
          <a:prstGeom prst="rect">
            <a:avLst/>
          </a:prstGeom>
        </p:spPr>
        <p:txBody>
          <a:bodyPr wrap="none">
            <a:spAutoFit/>
          </a:bodyPr>
          <a:lstStyle/>
          <a:p>
            <a:pPr algn="ctr"/>
            <a:r>
              <a:rPr lang="en-US" b="1" dirty="0">
                <a:solidFill>
                  <a:schemeClr val="accent3"/>
                </a:solidFill>
              </a:rPr>
              <a:t>Raw Material/ </a:t>
            </a:r>
            <a:br>
              <a:rPr lang="en-US" b="1" dirty="0">
                <a:solidFill>
                  <a:schemeClr val="accent3"/>
                </a:solidFill>
              </a:rPr>
            </a:br>
            <a:r>
              <a:rPr lang="en-US" b="1" dirty="0">
                <a:solidFill>
                  <a:schemeClr val="accent3"/>
                </a:solidFill>
              </a:rPr>
              <a:t>Component </a:t>
            </a:r>
          </a:p>
          <a:p>
            <a:pPr algn="ctr"/>
            <a:r>
              <a:rPr lang="en-IN" b="1" dirty="0">
                <a:solidFill>
                  <a:schemeClr val="accent3"/>
                </a:solidFill>
              </a:rPr>
              <a:t>Suppliers</a:t>
            </a:r>
            <a:endParaRPr lang="en-US" b="1" dirty="0">
              <a:solidFill>
                <a:schemeClr val="accent3"/>
              </a:solidFill>
            </a:endParaRPr>
          </a:p>
        </p:txBody>
      </p:sp>
      <p:sp>
        <p:nvSpPr>
          <p:cNvPr id="50" name="Rounded Rectangle 49"/>
          <p:cNvSpPr/>
          <p:nvPr/>
        </p:nvSpPr>
        <p:spPr>
          <a:xfrm>
            <a:off x="3875249" y="1460910"/>
            <a:ext cx="2105477" cy="1064576"/>
          </a:xfrm>
          <a:prstGeom prst="round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Rounded Rectangle 50"/>
          <p:cNvSpPr/>
          <p:nvPr/>
        </p:nvSpPr>
        <p:spPr>
          <a:xfrm>
            <a:off x="4074546" y="1552876"/>
            <a:ext cx="1706880" cy="880644"/>
          </a:xfrm>
          <a:prstGeom prst="roundRect">
            <a:avLst>
              <a:gd name="adj" fmla="val 4613"/>
            </a:avLst>
          </a:prstGeom>
          <a:solidFill>
            <a:schemeClr val="bg1"/>
          </a:solidFill>
          <a:ln>
            <a:noFill/>
          </a:ln>
          <a:effectLst>
            <a:outerShdw blurRad="50800" dist="76200" dir="8100000" algn="tr"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Rectangle 51"/>
          <p:cNvSpPr/>
          <p:nvPr/>
        </p:nvSpPr>
        <p:spPr>
          <a:xfrm>
            <a:off x="4464344" y="1444136"/>
            <a:ext cx="927284" cy="338554"/>
          </a:xfrm>
          <a:prstGeom prst="rect">
            <a:avLst/>
          </a:prstGeom>
          <a:solidFill>
            <a:schemeClr val="bg1"/>
          </a:solidFill>
        </p:spPr>
        <p:txBody>
          <a:bodyPr wrap="square">
            <a:spAutoFit/>
          </a:bodyPr>
          <a:lstStyle/>
          <a:p>
            <a:pPr algn="ctr"/>
            <a:endParaRPr lang="en-US" sz="1600" b="1" dirty="0">
              <a:solidFill>
                <a:schemeClr val="accent2">
                  <a:lumMod val="60000"/>
                  <a:lumOff val="40000"/>
                </a:schemeClr>
              </a:solidFill>
            </a:endParaRPr>
          </a:p>
        </p:txBody>
      </p:sp>
      <p:sp>
        <p:nvSpPr>
          <p:cNvPr id="53" name="Rectangle 52"/>
          <p:cNvSpPr/>
          <p:nvPr/>
        </p:nvSpPr>
        <p:spPr>
          <a:xfrm>
            <a:off x="4130075" y="1808532"/>
            <a:ext cx="1595822" cy="369332"/>
          </a:xfrm>
          <a:prstGeom prst="rect">
            <a:avLst/>
          </a:prstGeom>
        </p:spPr>
        <p:txBody>
          <a:bodyPr wrap="none">
            <a:spAutoFit/>
          </a:bodyPr>
          <a:lstStyle/>
          <a:p>
            <a:pPr algn="ctr"/>
            <a:r>
              <a:rPr lang="en-US" sz="1800" b="1" dirty="0">
                <a:solidFill>
                  <a:schemeClr val="accent3">
                    <a:lumMod val="60000"/>
                    <a:lumOff val="40000"/>
                  </a:schemeClr>
                </a:solidFill>
              </a:rPr>
              <a:t>Manufacturers</a:t>
            </a:r>
          </a:p>
        </p:txBody>
      </p:sp>
      <p:sp>
        <p:nvSpPr>
          <p:cNvPr id="54" name="Rounded Rectangle 53"/>
          <p:cNvSpPr/>
          <p:nvPr/>
        </p:nvSpPr>
        <p:spPr>
          <a:xfrm>
            <a:off x="6180024" y="1460910"/>
            <a:ext cx="2105477" cy="1064576"/>
          </a:xfrm>
          <a:prstGeom prst="round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Rounded Rectangle 54"/>
          <p:cNvSpPr/>
          <p:nvPr/>
        </p:nvSpPr>
        <p:spPr>
          <a:xfrm>
            <a:off x="6379321" y="1552876"/>
            <a:ext cx="1706880" cy="880644"/>
          </a:xfrm>
          <a:prstGeom prst="roundRect">
            <a:avLst>
              <a:gd name="adj" fmla="val 4613"/>
            </a:avLst>
          </a:prstGeom>
          <a:solidFill>
            <a:schemeClr val="bg1"/>
          </a:solidFill>
          <a:ln>
            <a:noFill/>
          </a:ln>
          <a:effectLst>
            <a:outerShdw blurRad="50800" dist="76200" dir="8100000" algn="tr"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Rectangle 55"/>
          <p:cNvSpPr/>
          <p:nvPr/>
        </p:nvSpPr>
        <p:spPr>
          <a:xfrm>
            <a:off x="6769119" y="1444136"/>
            <a:ext cx="927284" cy="338554"/>
          </a:xfrm>
          <a:prstGeom prst="rect">
            <a:avLst/>
          </a:prstGeom>
          <a:solidFill>
            <a:schemeClr val="bg1"/>
          </a:solidFill>
        </p:spPr>
        <p:txBody>
          <a:bodyPr wrap="square">
            <a:spAutoFit/>
          </a:bodyPr>
          <a:lstStyle/>
          <a:p>
            <a:pPr algn="ctr"/>
            <a:endParaRPr lang="en-US" sz="1600" b="1" dirty="0">
              <a:solidFill>
                <a:schemeClr val="accent4">
                  <a:lumMod val="60000"/>
                  <a:lumOff val="40000"/>
                </a:schemeClr>
              </a:solidFill>
            </a:endParaRPr>
          </a:p>
        </p:txBody>
      </p:sp>
      <p:sp>
        <p:nvSpPr>
          <p:cNvPr id="57" name="Rectangle 56"/>
          <p:cNvSpPr/>
          <p:nvPr/>
        </p:nvSpPr>
        <p:spPr>
          <a:xfrm>
            <a:off x="6576780" y="1808532"/>
            <a:ext cx="1311962" cy="369332"/>
          </a:xfrm>
          <a:prstGeom prst="rect">
            <a:avLst/>
          </a:prstGeom>
        </p:spPr>
        <p:txBody>
          <a:bodyPr wrap="none">
            <a:spAutoFit/>
          </a:bodyPr>
          <a:lstStyle/>
          <a:p>
            <a:pPr algn="ctr"/>
            <a:r>
              <a:rPr lang="en-US" sz="1800" b="1" dirty="0">
                <a:solidFill>
                  <a:schemeClr val="accent4">
                    <a:lumMod val="75000"/>
                  </a:schemeClr>
                </a:solidFill>
              </a:rPr>
              <a:t>Distributors</a:t>
            </a:r>
          </a:p>
        </p:txBody>
      </p:sp>
      <p:sp>
        <p:nvSpPr>
          <p:cNvPr id="58" name="Rounded Rectangle 57"/>
          <p:cNvSpPr/>
          <p:nvPr/>
        </p:nvSpPr>
        <p:spPr>
          <a:xfrm>
            <a:off x="8484799" y="1460910"/>
            <a:ext cx="2105477" cy="1064576"/>
          </a:xfrm>
          <a:prstGeom prst="roundRect">
            <a:avLst/>
          </a:prstGeom>
          <a:solidFill>
            <a:srgbClr val="7AABD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Rounded Rectangle 58"/>
          <p:cNvSpPr/>
          <p:nvPr/>
        </p:nvSpPr>
        <p:spPr>
          <a:xfrm>
            <a:off x="8684096" y="1552876"/>
            <a:ext cx="1706880" cy="880644"/>
          </a:xfrm>
          <a:prstGeom prst="roundRect">
            <a:avLst>
              <a:gd name="adj" fmla="val 4613"/>
            </a:avLst>
          </a:prstGeom>
          <a:solidFill>
            <a:schemeClr val="bg1"/>
          </a:solidFill>
          <a:ln>
            <a:noFill/>
          </a:ln>
          <a:effectLst>
            <a:outerShdw blurRad="50800" dist="76200" dir="8100000" algn="tr"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Rectangle 59"/>
          <p:cNvSpPr/>
          <p:nvPr/>
        </p:nvSpPr>
        <p:spPr>
          <a:xfrm>
            <a:off x="9073894" y="1444136"/>
            <a:ext cx="927284" cy="338554"/>
          </a:xfrm>
          <a:prstGeom prst="rect">
            <a:avLst/>
          </a:prstGeom>
          <a:solidFill>
            <a:schemeClr val="bg1"/>
          </a:solidFill>
        </p:spPr>
        <p:txBody>
          <a:bodyPr wrap="square">
            <a:spAutoFit/>
          </a:bodyPr>
          <a:lstStyle/>
          <a:p>
            <a:pPr algn="ctr"/>
            <a:endParaRPr lang="en-US" sz="1600" b="1" dirty="0">
              <a:solidFill>
                <a:schemeClr val="accent1">
                  <a:lumMod val="60000"/>
                  <a:lumOff val="40000"/>
                </a:schemeClr>
              </a:solidFill>
            </a:endParaRPr>
          </a:p>
        </p:txBody>
      </p:sp>
      <p:sp>
        <p:nvSpPr>
          <p:cNvPr id="61" name="Rectangle 60"/>
          <p:cNvSpPr/>
          <p:nvPr/>
        </p:nvSpPr>
        <p:spPr>
          <a:xfrm>
            <a:off x="8930791" y="1775614"/>
            <a:ext cx="1124411" cy="369332"/>
          </a:xfrm>
          <a:prstGeom prst="rect">
            <a:avLst/>
          </a:prstGeom>
        </p:spPr>
        <p:txBody>
          <a:bodyPr wrap="none">
            <a:spAutoFit/>
          </a:bodyPr>
          <a:lstStyle/>
          <a:p>
            <a:pPr algn="ctr"/>
            <a:r>
              <a:rPr lang="en-US" sz="1800" b="1">
                <a:solidFill>
                  <a:srgbClr val="0070C0"/>
                </a:solidFill>
              </a:rPr>
              <a:t>End Users</a:t>
            </a:r>
            <a:endParaRPr lang="en-US" sz="1800" b="1" dirty="0">
              <a:solidFill>
                <a:srgbClr val="0070C0"/>
              </a:solidFill>
            </a:endParaRPr>
          </a:p>
        </p:txBody>
      </p:sp>
      <p:sp>
        <p:nvSpPr>
          <p:cNvPr id="62" name="Rounded Rectangle 61"/>
          <p:cNvSpPr/>
          <p:nvPr/>
        </p:nvSpPr>
        <p:spPr>
          <a:xfrm>
            <a:off x="1570473" y="2894700"/>
            <a:ext cx="2105477" cy="1280160"/>
          </a:xfrm>
          <a:prstGeom prst="roundRect">
            <a:avLst>
              <a:gd name="adj" fmla="val 2935"/>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000" dirty="0">
                <a:solidFill>
                  <a:schemeClr val="tx1"/>
                </a:solidFill>
                <a:latin typeface="Arial" panose="020B0604020202020204" pitchFamily="34" charset="0"/>
                <a:cs typeface="Arial" panose="020B0604020202020204" pitchFamily="34" charset="0"/>
              </a:rPr>
              <a:t>This part of the value chain comprises sources from which components of  WXYZ are procured. </a:t>
            </a:r>
          </a:p>
        </p:txBody>
      </p:sp>
      <p:sp>
        <p:nvSpPr>
          <p:cNvPr id="63" name="Rounded Rectangle 62"/>
          <p:cNvSpPr/>
          <p:nvPr/>
        </p:nvSpPr>
        <p:spPr>
          <a:xfrm>
            <a:off x="3875248" y="2894700"/>
            <a:ext cx="2105477" cy="1280160"/>
          </a:xfrm>
          <a:prstGeom prst="roundRect">
            <a:avLst>
              <a:gd name="adj" fmla="val 2935"/>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000" dirty="0">
                <a:solidFill>
                  <a:schemeClr val="tx1"/>
                </a:solidFill>
                <a:latin typeface="Arial" panose="020B0604020202020204" pitchFamily="34" charset="0"/>
                <a:cs typeface="Arial" panose="020B0604020202020204" pitchFamily="34" charset="0"/>
              </a:rPr>
              <a:t>These companies are engaged in the production of WXYZ</a:t>
            </a:r>
          </a:p>
        </p:txBody>
      </p:sp>
      <p:sp>
        <p:nvSpPr>
          <p:cNvPr id="64" name="Rounded Rectangle 63"/>
          <p:cNvSpPr/>
          <p:nvPr/>
        </p:nvSpPr>
        <p:spPr>
          <a:xfrm>
            <a:off x="8484799" y="2894700"/>
            <a:ext cx="2105477" cy="1280160"/>
          </a:xfrm>
          <a:prstGeom prst="roundRect">
            <a:avLst>
              <a:gd name="adj" fmla="val 2935"/>
            </a:avLst>
          </a:prstGeom>
          <a:solidFill>
            <a:srgbClr val="7AABD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000" dirty="0">
                <a:solidFill>
                  <a:schemeClr val="tx1"/>
                </a:solidFill>
                <a:latin typeface="Arial" panose="020B0604020202020204" pitchFamily="34" charset="0"/>
                <a:cs typeface="Arial" panose="020B0604020202020204" pitchFamily="34" charset="0"/>
              </a:rPr>
              <a:t>End users depend on the product being produced.</a:t>
            </a:r>
          </a:p>
        </p:txBody>
      </p:sp>
      <p:sp>
        <p:nvSpPr>
          <p:cNvPr id="65" name="Rounded Rectangle 64"/>
          <p:cNvSpPr/>
          <p:nvPr/>
        </p:nvSpPr>
        <p:spPr>
          <a:xfrm>
            <a:off x="6180023" y="2894700"/>
            <a:ext cx="2105477" cy="1280160"/>
          </a:xfrm>
          <a:prstGeom prst="roundRect">
            <a:avLst>
              <a:gd name="adj" fmla="val 2935"/>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000" dirty="0">
                <a:solidFill>
                  <a:schemeClr val="tx1"/>
                </a:solidFill>
                <a:latin typeface="Arial" panose="020B0604020202020204" pitchFamily="34" charset="0"/>
                <a:cs typeface="Arial" panose="020B0604020202020204" pitchFamily="34" charset="0"/>
              </a:rPr>
              <a:t>These companies are engaged in distribution and supply of WXYZ and act as a vital link between producers and end users</a:t>
            </a:r>
          </a:p>
        </p:txBody>
      </p:sp>
      <p:sp>
        <p:nvSpPr>
          <p:cNvPr id="66" name="Rectangle 23"/>
          <p:cNvSpPr>
            <a:spLocks noChangeArrowheads="1"/>
          </p:cNvSpPr>
          <p:nvPr/>
        </p:nvSpPr>
        <p:spPr bwMode="auto">
          <a:xfrm>
            <a:off x="4030641" y="4262541"/>
            <a:ext cx="4229100" cy="381000"/>
          </a:xfrm>
          <a:prstGeom prst="rect">
            <a:avLst/>
          </a:prstGeom>
          <a:gradFill flip="none" rotWithShape="1">
            <a:gsLst>
              <a:gs pos="0">
                <a:schemeClr val="bg1">
                  <a:lumMod val="65000"/>
                  <a:shade val="30000"/>
                  <a:satMod val="115000"/>
                </a:schemeClr>
              </a:gs>
              <a:gs pos="50000">
                <a:schemeClr val="bg1">
                  <a:lumMod val="65000"/>
                  <a:shade val="67500"/>
                  <a:satMod val="115000"/>
                </a:schemeClr>
              </a:gs>
              <a:gs pos="100000">
                <a:schemeClr val="bg1">
                  <a:lumMod val="65000"/>
                  <a:shade val="100000"/>
                  <a:satMod val="115000"/>
                </a:schemeClr>
              </a:gs>
            </a:gsLst>
            <a:path path="circle">
              <a:fillToRect t="100000" r="100000"/>
            </a:path>
            <a:tileRect l="-100000" b="-100000"/>
          </a:gradFill>
          <a:ln>
            <a:noFill/>
          </a:ln>
        </p:spPr>
        <p:style>
          <a:lnRef idx="1">
            <a:schemeClr val="accent1"/>
          </a:lnRef>
          <a:fillRef idx="2">
            <a:schemeClr val="accent1"/>
          </a:fillRef>
          <a:effectRef idx="1">
            <a:schemeClr val="accent1"/>
          </a:effectRef>
          <a:fontRef idx="minor">
            <a:schemeClr val="dk1"/>
          </a:fontRef>
        </p:style>
        <p:txBody>
          <a:bodyPr lIns="54000" tIns="0" rIns="54000" bIns="54000" anchor="ctr" anchorCtr="1"/>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defRPr/>
            </a:pPr>
            <a:r>
              <a:rPr lang="en-GB" altLang="en-US" sz="1000" b="1" dirty="0">
                <a:solidFill>
                  <a:schemeClr val="bg1"/>
                </a:solidFill>
              </a:rPr>
              <a:t>Key Stakeholders Working Across the Value Chain</a:t>
            </a:r>
          </a:p>
        </p:txBody>
      </p:sp>
      <p:sp>
        <p:nvSpPr>
          <p:cNvPr id="67" name="Right Arrow 66"/>
          <p:cNvSpPr/>
          <p:nvPr/>
        </p:nvSpPr>
        <p:spPr>
          <a:xfrm>
            <a:off x="8374040" y="4313341"/>
            <a:ext cx="1981200" cy="266700"/>
          </a:xfrm>
          <a:prstGeom prst="rightArrow">
            <a:avLst/>
          </a:prstGeom>
          <a:solidFill>
            <a:schemeClr val="bg1">
              <a:lumMod val="6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solidFill>
                <a:srgbClr val="FF0000"/>
              </a:solidFill>
            </a:endParaRPr>
          </a:p>
        </p:txBody>
      </p:sp>
      <p:sp>
        <p:nvSpPr>
          <p:cNvPr id="68" name="Right Arrow 67"/>
          <p:cNvSpPr/>
          <p:nvPr/>
        </p:nvSpPr>
        <p:spPr>
          <a:xfrm rot="10800000">
            <a:off x="1897040" y="4338741"/>
            <a:ext cx="1981200" cy="266700"/>
          </a:xfrm>
          <a:prstGeom prst="rightArrow">
            <a:avLst/>
          </a:prstGeom>
          <a:solidFill>
            <a:schemeClr val="bg1">
              <a:lumMod val="6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solidFill>
                <a:srgbClr val="FF0000"/>
              </a:solidFill>
            </a:endParaRPr>
          </a:p>
        </p:txBody>
      </p:sp>
      <p:sp>
        <p:nvSpPr>
          <p:cNvPr id="71" name="Rectangle 39"/>
          <p:cNvSpPr>
            <a:spLocks noChangeArrowheads="1"/>
          </p:cNvSpPr>
          <p:nvPr/>
        </p:nvSpPr>
        <p:spPr bwMode="auto">
          <a:xfrm>
            <a:off x="4071058" y="4774147"/>
            <a:ext cx="2103120" cy="1280160"/>
          </a:xfrm>
          <a:prstGeom prst="roundRect">
            <a:avLst>
              <a:gd name="adj" fmla="val 834"/>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buFont typeface="Wingdings" panose="05000000000000000000" pitchFamily="2" charset="2"/>
              <a:buChar char="Ø"/>
            </a:pPr>
            <a:r>
              <a:rPr lang="en-US" altLang="en-US" sz="1000" dirty="0" err="1">
                <a:solidFill>
                  <a:schemeClr val="tx1"/>
                </a:solidFill>
                <a:latin typeface="Arial" panose="020B0604020202020204" pitchFamily="34" charset="0"/>
                <a:cs typeface="Arial" panose="020B0604020202020204" pitchFamily="34" charset="0"/>
              </a:rPr>
              <a:t>CompanyA</a:t>
            </a:r>
            <a:endParaRPr lang="en-US" altLang="en-US" sz="1000" dirty="0">
              <a:solidFill>
                <a:schemeClr val="tx1"/>
              </a:solidFill>
              <a:latin typeface="Arial" panose="020B0604020202020204" pitchFamily="34" charset="0"/>
              <a:cs typeface="Arial" panose="020B0604020202020204" pitchFamily="34" charset="0"/>
            </a:endParaRPr>
          </a:p>
          <a:p>
            <a:pPr marL="171450" indent="-171450">
              <a:buFont typeface="Wingdings" panose="05000000000000000000" pitchFamily="2" charset="2"/>
              <a:buChar char="Ø"/>
            </a:pPr>
            <a:r>
              <a:rPr lang="en-US" altLang="en-US" sz="1000" dirty="0" err="1">
                <a:solidFill>
                  <a:schemeClr val="tx1"/>
                </a:solidFill>
                <a:latin typeface="Arial" panose="020B0604020202020204" pitchFamily="34" charset="0"/>
                <a:cs typeface="Arial" panose="020B0604020202020204" pitchFamily="34" charset="0"/>
              </a:rPr>
              <a:t>CompanyB</a:t>
            </a:r>
            <a:endParaRPr lang="en-US" altLang="en-US" sz="1000" dirty="0">
              <a:solidFill>
                <a:schemeClr val="tx1"/>
              </a:solidFill>
              <a:latin typeface="Arial" panose="020B0604020202020204" pitchFamily="34" charset="0"/>
              <a:cs typeface="Arial" panose="020B0604020202020204" pitchFamily="34" charset="0"/>
            </a:endParaRPr>
          </a:p>
          <a:p>
            <a:pPr marL="171450" indent="-171450">
              <a:buFont typeface="Wingdings" panose="05000000000000000000" pitchFamily="2" charset="2"/>
              <a:buChar char="Ø"/>
            </a:pPr>
            <a:r>
              <a:rPr lang="en-US" altLang="en-US" sz="1000" dirty="0" err="1">
                <a:solidFill>
                  <a:schemeClr val="tx1"/>
                </a:solidFill>
                <a:latin typeface="Arial" panose="020B0604020202020204" pitchFamily="34" charset="0"/>
                <a:cs typeface="Arial" panose="020B0604020202020204" pitchFamily="34" charset="0"/>
              </a:rPr>
              <a:t>CompanyC</a:t>
            </a:r>
            <a:endParaRPr lang="en-US" altLang="en-US" sz="1000" dirty="0">
              <a:solidFill>
                <a:schemeClr val="tx1"/>
              </a:solidFill>
              <a:latin typeface="Arial" panose="020B0604020202020204" pitchFamily="34" charset="0"/>
              <a:cs typeface="Arial" panose="020B0604020202020204" pitchFamily="34" charset="0"/>
            </a:endParaRPr>
          </a:p>
          <a:p>
            <a:pPr marL="171450" indent="-171450">
              <a:buFont typeface="Wingdings" panose="05000000000000000000" pitchFamily="2" charset="2"/>
              <a:buChar char="Ø"/>
            </a:pPr>
            <a:r>
              <a:rPr lang="en-US" altLang="en-US" sz="1000" dirty="0" err="1">
                <a:solidFill>
                  <a:schemeClr val="tx1"/>
                </a:solidFill>
                <a:latin typeface="Arial" panose="020B0604020202020204" pitchFamily="34" charset="0"/>
                <a:cs typeface="Arial" panose="020B0604020202020204" pitchFamily="34" charset="0"/>
              </a:rPr>
              <a:t>CompanyD</a:t>
            </a:r>
            <a:endParaRPr lang="en-US" altLang="en-US" sz="1000" dirty="0">
              <a:solidFill>
                <a:schemeClr val="tx1"/>
              </a:solidFill>
              <a:latin typeface="Arial" panose="020B0604020202020204" pitchFamily="34" charset="0"/>
              <a:cs typeface="Arial" panose="020B0604020202020204" pitchFamily="34" charset="0"/>
            </a:endParaRPr>
          </a:p>
          <a:p>
            <a:pPr marL="171450" indent="-171450">
              <a:buFont typeface="Wingdings" panose="05000000000000000000" pitchFamily="2" charset="2"/>
              <a:buChar char="Ø"/>
            </a:pPr>
            <a:r>
              <a:rPr lang="en-US" altLang="en-US" sz="1000" dirty="0" err="1">
                <a:solidFill>
                  <a:schemeClr val="tx1"/>
                </a:solidFill>
                <a:latin typeface="Arial" panose="020B0604020202020204" pitchFamily="34" charset="0"/>
                <a:cs typeface="Arial" panose="020B0604020202020204" pitchFamily="34" charset="0"/>
              </a:rPr>
              <a:t>CompanyE</a:t>
            </a:r>
            <a:endParaRPr lang="en-US" altLang="en-US" sz="1000" dirty="0">
              <a:solidFill>
                <a:schemeClr val="tx1"/>
              </a:solidFill>
              <a:latin typeface="Arial" panose="020B0604020202020204" pitchFamily="34" charset="0"/>
              <a:cs typeface="Arial" panose="020B0604020202020204" pitchFamily="34" charset="0"/>
            </a:endParaRPr>
          </a:p>
          <a:p>
            <a:pPr marL="171450" indent="-171450">
              <a:buFont typeface="Wingdings" panose="05000000000000000000" pitchFamily="2" charset="2"/>
              <a:buChar char="Ø"/>
            </a:pPr>
            <a:r>
              <a:rPr lang="en-US" altLang="en-US" sz="1000" dirty="0" err="1">
                <a:solidFill>
                  <a:schemeClr val="tx1"/>
                </a:solidFill>
                <a:latin typeface="Arial" panose="020B0604020202020204" pitchFamily="34" charset="0"/>
                <a:cs typeface="Arial" panose="020B0604020202020204" pitchFamily="34" charset="0"/>
              </a:rPr>
              <a:t>CompanyF</a:t>
            </a:r>
            <a:endParaRPr lang="en-US" altLang="en-US" sz="1000" dirty="0">
              <a:solidFill>
                <a:schemeClr val="tx1"/>
              </a:solidFill>
              <a:latin typeface="Arial" panose="020B0604020202020204" pitchFamily="34" charset="0"/>
              <a:cs typeface="Arial" panose="020B0604020202020204" pitchFamily="34" charset="0"/>
            </a:endParaRPr>
          </a:p>
        </p:txBody>
      </p:sp>
      <p:sp>
        <p:nvSpPr>
          <p:cNvPr id="72" name="Rectangle 39"/>
          <p:cNvSpPr>
            <a:spLocks noChangeArrowheads="1"/>
          </p:cNvSpPr>
          <p:nvPr/>
        </p:nvSpPr>
        <p:spPr bwMode="auto">
          <a:xfrm rot="16200000">
            <a:off x="858182" y="5074582"/>
            <a:ext cx="1268283" cy="672150"/>
          </a:xfrm>
          <a:prstGeom prst="rect">
            <a:avLst/>
          </a:prstGeom>
          <a:ln>
            <a:noFill/>
            <a:headEnd/>
            <a:tailEnd/>
          </a:ln>
        </p:spPr>
        <p:style>
          <a:lnRef idx="1">
            <a:schemeClr val="accent2"/>
          </a:lnRef>
          <a:fillRef idx="3">
            <a:schemeClr val="accent2"/>
          </a:fillRef>
          <a:effectRef idx="2">
            <a:schemeClr val="accent2"/>
          </a:effectRef>
          <a:fontRef idx="minor">
            <a:schemeClr val="lt1"/>
          </a:fontRef>
        </p:style>
        <p:txBody>
          <a:bodyPr lIns="54000" tIns="0" rIns="54000" bIns="54000" anchor="ctr"/>
          <a:lstStyle>
            <a:lvl1pPr eaLnBrk="0" hangingPunct="0">
              <a:spcBef>
                <a:spcPct val="20000"/>
              </a:spcBef>
              <a:buClr>
                <a:srgbClr val="17426B"/>
              </a:buClr>
              <a:buFont typeface="Arial" charset="0"/>
              <a:buChar char="•"/>
              <a:defRPr>
                <a:solidFill>
                  <a:schemeClr val="tx1"/>
                </a:solidFill>
                <a:latin typeface="Arial" charset="0"/>
                <a:cs typeface="Arial" charset="0"/>
              </a:defRPr>
            </a:lvl1pPr>
            <a:lvl2pPr marL="742950" indent="-285750" eaLnBrk="0" hangingPunct="0">
              <a:spcBef>
                <a:spcPct val="20000"/>
              </a:spcBef>
              <a:buClr>
                <a:srgbClr val="17426B"/>
              </a:buClr>
              <a:buFont typeface="Courier New" pitchFamily="49" charset="0"/>
              <a:buChar char="o"/>
              <a:defRPr sz="1600">
                <a:solidFill>
                  <a:schemeClr val="tx1"/>
                </a:solidFill>
                <a:latin typeface="Arial" charset="0"/>
                <a:cs typeface="Arial" charset="0"/>
              </a:defRPr>
            </a:lvl2pPr>
            <a:lvl3pPr marL="1143000" indent="-228600" eaLnBrk="0" hangingPunct="0">
              <a:spcBef>
                <a:spcPct val="20000"/>
              </a:spcBef>
              <a:buClr>
                <a:srgbClr val="17426B"/>
              </a:buClr>
              <a:buFont typeface="Arial" charset="0"/>
              <a:buChar char="•"/>
              <a:defRPr sz="1400">
                <a:solidFill>
                  <a:schemeClr val="tx1"/>
                </a:solidFill>
                <a:latin typeface="Arial" charset="0"/>
                <a:cs typeface="Arial" charset="0"/>
              </a:defRPr>
            </a:lvl3pPr>
            <a:lvl4pPr marL="1600200" indent="-228600" eaLnBrk="0" hangingPunct="0">
              <a:spcBef>
                <a:spcPct val="20000"/>
              </a:spcBef>
              <a:buClr>
                <a:srgbClr val="17426B"/>
              </a:buClr>
              <a:buFont typeface="Courier New" pitchFamily="49" charset="0"/>
              <a:buChar char="o"/>
              <a:defRPr sz="1400">
                <a:solidFill>
                  <a:schemeClr val="tx1"/>
                </a:solidFill>
                <a:latin typeface="Arial" charset="0"/>
                <a:cs typeface="Arial" charset="0"/>
              </a:defRPr>
            </a:lvl4pPr>
            <a:lvl5pPr marL="2057400" indent="-228600" eaLnBrk="0" hangingPunct="0">
              <a:spcBef>
                <a:spcPct val="20000"/>
              </a:spcBef>
              <a:buFont typeface="Arial" charset="0"/>
              <a:defRPr sz="2000">
                <a:solidFill>
                  <a:schemeClr val="tx1"/>
                </a:solidFill>
                <a:latin typeface="Arial" charset="0"/>
                <a:cs typeface="Arial" charset="0"/>
              </a:defRPr>
            </a:lvl5pPr>
            <a:lvl6pPr marL="2514600" indent="-228600" eaLnBrk="0" fontAlgn="base" hangingPunct="0">
              <a:spcBef>
                <a:spcPct val="20000"/>
              </a:spcBef>
              <a:spcAft>
                <a:spcPct val="0"/>
              </a:spcAft>
              <a:buFont typeface="Arial" charset="0"/>
              <a:defRPr sz="2000">
                <a:solidFill>
                  <a:schemeClr val="tx1"/>
                </a:solidFill>
                <a:latin typeface="Arial" charset="0"/>
                <a:cs typeface="Arial" charset="0"/>
              </a:defRPr>
            </a:lvl6pPr>
            <a:lvl7pPr marL="2971800" indent="-228600" eaLnBrk="0" fontAlgn="base" hangingPunct="0">
              <a:spcBef>
                <a:spcPct val="20000"/>
              </a:spcBef>
              <a:spcAft>
                <a:spcPct val="0"/>
              </a:spcAft>
              <a:buFont typeface="Arial" charset="0"/>
              <a:defRPr sz="2000">
                <a:solidFill>
                  <a:schemeClr val="tx1"/>
                </a:solidFill>
                <a:latin typeface="Arial" charset="0"/>
                <a:cs typeface="Arial" charset="0"/>
              </a:defRPr>
            </a:lvl7pPr>
            <a:lvl8pPr marL="3429000" indent="-228600" eaLnBrk="0" fontAlgn="base" hangingPunct="0">
              <a:spcBef>
                <a:spcPct val="20000"/>
              </a:spcBef>
              <a:spcAft>
                <a:spcPct val="0"/>
              </a:spcAft>
              <a:buFont typeface="Arial" charset="0"/>
              <a:defRPr sz="2000">
                <a:solidFill>
                  <a:schemeClr val="tx1"/>
                </a:solidFill>
                <a:latin typeface="Arial" charset="0"/>
                <a:cs typeface="Arial" charset="0"/>
              </a:defRPr>
            </a:lvl8pPr>
            <a:lvl9pPr marL="3886200" indent="-228600" eaLnBrk="0" fontAlgn="base" hangingPunct="0">
              <a:spcBef>
                <a:spcPct val="20000"/>
              </a:spcBef>
              <a:spcAft>
                <a:spcPct val="0"/>
              </a:spcAft>
              <a:buFont typeface="Arial" charset="0"/>
              <a:defRPr sz="2000">
                <a:solidFill>
                  <a:schemeClr val="tx1"/>
                </a:solidFill>
                <a:latin typeface="Arial" charset="0"/>
                <a:cs typeface="Arial" charset="0"/>
              </a:defRPr>
            </a:lvl9pPr>
          </a:lstStyle>
          <a:p>
            <a:pPr algn="ctr" eaLnBrk="1" hangingPunct="1">
              <a:spcBef>
                <a:spcPct val="0"/>
              </a:spcBef>
              <a:buClrTx/>
              <a:buFontTx/>
              <a:buNone/>
              <a:defRPr/>
            </a:pPr>
            <a:r>
              <a:rPr lang="en-US" altLang="en-US" sz="1200" b="1" dirty="0">
                <a:solidFill>
                  <a:schemeClr val="bg1"/>
                </a:solidFill>
                <a:latin typeface="+mn-lt"/>
              </a:rPr>
              <a:t>Major Participants/ Prospects</a:t>
            </a:r>
            <a:endParaRPr lang="en-IN" altLang="en-US" sz="1200" b="1" dirty="0">
              <a:solidFill>
                <a:schemeClr val="bg1"/>
              </a:solidFill>
              <a:latin typeface="+mn-lt"/>
            </a:endParaRPr>
          </a:p>
        </p:txBody>
      </p:sp>
      <p:grpSp>
        <p:nvGrpSpPr>
          <p:cNvPr id="74" name="Group 73"/>
          <p:cNvGrpSpPr/>
          <p:nvPr/>
        </p:nvGrpSpPr>
        <p:grpSpPr>
          <a:xfrm>
            <a:off x="4767944" y="1193800"/>
            <a:ext cx="4746170" cy="309580"/>
            <a:chOff x="5057224" y="1155700"/>
            <a:chExt cx="3680375" cy="309580"/>
          </a:xfrm>
        </p:grpSpPr>
        <p:cxnSp>
          <p:nvCxnSpPr>
            <p:cNvPr id="75" name="Elbow Connector 74"/>
            <p:cNvCxnSpPr/>
            <p:nvPr/>
          </p:nvCxnSpPr>
          <p:spPr>
            <a:xfrm rot="10800000" flipH="1">
              <a:off x="5057224" y="1155700"/>
              <a:ext cx="3680375" cy="214056"/>
            </a:xfrm>
            <a:prstGeom prst="bentConnector3">
              <a:avLst>
                <a:gd name="adj1" fmla="val 0"/>
              </a:avLst>
            </a:prstGeom>
            <a:ln w="12700">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p:cNvCxnSpPr/>
            <p:nvPr/>
          </p:nvCxnSpPr>
          <p:spPr>
            <a:xfrm>
              <a:off x="8736122" y="1161060"/>
              <a:ext cx="0" cy="304220"/>
            </a:xfrm>
            <a:prstGeom prst="straightConnector1">
              <a:avLst/>
            </a:prstGeom>
            <a:ln w="12700">
              <a:prstDash val="dash"/>
              <a:tailEnd type="triangle"/>
            </a:ln>
          </p:spPr>
          <p:style>
            <a:lnRef idx="1">
              <a:schemeClr val="accent1"/>
            </a:lnRef>
            <a:fillRef idx="0">
              <a:schemeClr val="accent1"/>
            </a:fillRef>
            <a:effectRef idx="0">
              <a:schemeClr val="accent1"/>
            </a:effectRef>
            <a:fontRef idx="minor">
              <a:schemeClr val="tx1"/>
            </a:fontRef>
          </p:style>
        </p:cxnSp>
      </p:grpSp>
      <p:cxnSp>
        <p:nvCxnSpPr>
          <p:cNvPr id="77" name="Straight Arrow Connector 76"/>
          <p:cNvCxnSpPr/>
          <p:nvPr/>
        </p:nvCxnSpPr>
        <p:spPr>
          <a:xfrm rot="10800000">
            <a:off x="7313771" y="2340425"/>
            <a:ext cx="0" cy="414536"/>
          </a:xfrm>
          <a:prstGeom prst="straightConnector1">
            <a:avLst/>
          </a:prstGeom>
          <a:ln w="12700">
            <a:prstDash val="dash"/>
            <a:tailEnd type="triangle"/>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4889422" y="2743640"/>
            <a:ext cx="2429513"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4873560" y="2292002"/>
            <a:ext cx="0" cy="461180"/>
          </a:xfrm>
          <a:prstGeom prst="line">
            <a:avLst/>
          </a:prstGeom>
          <a:ln>
            <a:prstDash val="dashDot"/>
          </a:ln>
        </p:spPr>
        <p:style>
          <a:lnRef idx="1">
            <a:schemeClr val="accent1"/>
          </a:lnRef>
          <a:fillRef idx="0">
            <a:schemeClr val="accent1"/>
          </a:fillRef>
          <a:effectRef idx="0">
            <a:schemeClr val="accent1"/>
          </a:effectRef>
          <a:fontRef idx="minor">
            <a:schemeClr val="tx1"/>
          </a:fontRef>
        </p:style>
      </p:cxnSp>
      <p:sp>
        <p:nvSpPr>
          <p:cNvPr id="80" name="Rectangle 79"/>
          <p:cNvSpPr/>
          <p:nvPr/>
        </p:nvSpPr>
        <p:spPr>
          <a:xfrm>
            <a:off x="5725898" y="1199160"/>
            <a:ext cx="3069381" cy="215444"/>
          </a:xfrm>
          <a:prstGeom prst="rect">
            <a:avLst/>
          </a:prstGeom>
        </p:spPr>
        <p:txBody>
          <a:bodyPr wrap="square" lIns="0" tIns="0" rIns="0" bIns="0">
            <a:spAutoFit/>
          </a:bodyPr>
          <a:lstStyle/>
          <a:p>
            <a:pPr algn="ctr"/>
            <a:r>
              <a:rPr lang="en-GB" sz="1400" b="1" dirty="0"/>
              <a:t>Average Margin: 12%*</a:t>
            </a:r>
          </a:p>
        </p:txBody>
      </p:sp>
      <p:sp>
        <p:nvSpPr>
          <p:cNvPr id="41" name="Rectangle 40"/>
          <p:cNvSpPr/>
          <p:nvPr/>
        </p:nvSpPr>
        <p:spPr>
          <a:xfrm>
            <a:off x="4569487" y="2537738"/>
            <a:ext cx="3069381" cy="215444"/>
          </a:xfrm>
          <a:prstGeom prst="rect">
            <a:avLst/>
          </a:prstGeom>
        </p:spPr>
        <p:txBody>
          <a:bodyPr wrap="square" lIns="0" tIns="0" rIns="0" bIns="0">
            <a:spAutoFit/>
          </a:bodyPr>
          <a:lstStyle/>
          <a:p>
            <a:pPr algn="ctr"/>
            <a:r>
              <a:rPr lang="en-GB" sz="1400" b="1" dirty="0"/>
              <a:t>Average Margin: 4%*</a:t>
            </a:r>
          </a:p>
        </p:txBody>
      </p:sp>
      <p:sp>
        <p:nvSpPr>
          <p:cNvPr id="42" name="TextBox 41"/>
          <p:cNvSpPr txBox="1"/>
          <p:nvPr/>
        </p:nvSpPr>
        <p:spPr>
          <a:xfrm>
            <a:off x="7403206" y="6151337"/>
            <a:ext cx="3540822" cy="153888"/>
          </a:xfrm>
          <a:prstGeom prst="rect">
            <a:avLst/>
          </a:prstGeom>
          <a:noFill/>
        </p:spPr>
        <p:txBody>
          <a:bodyPr wrap="square" lIns="0" tIns="0" rIns="0" bIns="0" rtlCol="0">
            <a:spAutoFit/>
          </a:bodyPr>
          <a:lstStyle/>
          <a:p>
            <a:pPr defTabSz="914400">
              <a:defRPr/>
            </a:pPr>
            <a:r>
              <a:rPr lang="en-IN" sz="1000" i="1" kern="0" dirty="0">
                <a:solidFill>
                  <a:prstClr val="black"/>
                </a:solidFill>
              </a:rPr>
              <a:t>*Note: The figures provided above are for illustration purpose only</a:t>
            </a:r>
            <a:endParaRPr lang="en-US" sz="1000" i="1" kern="0" dirty="0">
              <a:solidFill>
                <a:prstClr val="black"/>
              </a:solidFill>
            </a:endParaRPr>
          </a:p>
        </p:txBody>
      </p:sp>
      <p:sp>
        <p:nvSpPr>
          <p:cNvPr id="45" name="Title 1"/>
          <p:cNvSpPr>
            <a:spLocks noGrp="1"/>
          </p:cNvSpPr>
          <p:nvPr>
            <p:ph type="title"/>
          </p:nvPr>
        </p:nvSpPr>
        <p:spPr/>
        <p:txBody>
          <a:bodyPr/>
          <a:lstStyle/>
          <a:p>
            <a:r>
              <a:rPr lang="en-US" dirty="0"/>
              <a:t>Global WXYZ Market: Value Chain Analysis</a:t>
            </a:r>
          </a:p>
        </p:txBody>
      </p:sp>
      <p:sp>
        <p:nvSpPr>
          <p:cNvPr id="69" name="TextBox 68"/>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3" name="Slide Number Placeholder 2"/>
          <p:cNvSpPr>
            <a:spLocks noGrp="1"/>
          </p:cNvSpPr>
          <p:nvPr>
            <p:ph type="sldNum" sz="quarter" idx="4"/>
          </p:nvPr>
        </p:nvSpPr>
        <p:spPr/>
        <p:txBody>
          <a:bodyPr/>
          <a:lstStyle/>
          <a:p>
            <a:fld id="{4B17068C-EB94-40A3-A5F2-664CDD77FDAC}" type="slidenum">
              <a:rPr lang="en-GB" smtClean="0"/>
              <a:pPr/>
              <a:t>53</a:t>
            </a:fld>
            <a:endParaRPr lang="en-GB" dirty="0"/>
          </a:p>
        </p:txBody>
      </p:sp>
    </p:spTree>
    <p:extLst>
      <p:ext uri="{BB962C8B-B14F-4D97-AF65-F5344CB8AC3E}">
        <p14:creationId xmlns:p14="http://schemas.microsoft.com/office/powerpoint/2010/main" val="361521360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 name="Picture 28"/>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2320485" y="4692674"/>
            <a:ext cx="8455885" cy="1353429"/>
          </a:xfrm>
          <a:prstGeom prst="rect">
            <a:avLst/>
          </a:prstGeom>
        </p:spPr>
      </p:pic>
      <p:graphicFrame>
        <p:nvGraphicFramePr>
          <p:cNvPr id="4" name="Diagram 3"/>
          <p:cNvGraphicFramePr/>
          <p:nvPr>
            <p:extLst>
              <p:ext uri="{D42A27DB-BD31-4B8C-83A1-F6EECF244321}">
                <p14:modId xmlns:p14="http://schemas.microsoft.com/office/powerpoint/2010/main" val="611735827"/>
              </p:ext>
            </p:extLst>
          </p:nvPr>
        </p:nvGraphicFramePr>
        <p:xfrm>
          <a:off x="2265350" y="1497255"/>
          <a:ext cx="8305801" cy="685704"/>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5" name="Rectangle 23"/>
          <p:cNvSpPr>
            <a:spLocks noChangeArrowheads="1"/>
          </p:cNvSpPr>
          <p:nvPr/>
        </p:nvSpPr>
        <p:spPr bwMode="auto">
          <a:xfrm>
            <a:off x="4042130" y="4240245"/>
            <a:ext cx="4229100" cy="381000"/>
          </a:xfrm>
          <a:prstGeom prst="rect">
            <a:avLst/>
          </a:prstGeom>
          <a:gradFill flip="none" rotWithShape="1">
            <a:gsLst>
              <a:gs pos="0">
                <a:schemeClr val="bg1">
                  <a:lumMod val="65000"/>
                  <a:shade val="30000"/>
                  <a:satMod val="115000"/>
                </a:schemeClr>
              </a:gs>
              <a:gs pos="50000">
                <a:schemeClr val="bg1">
                  <a:lumMod val="65000"/>
                  <a:shade val="67500"/>
                  <a:satMod val="115000"/>
                </a:schemeClr>
              </a:gs>
              <a:gs pos="100000">
                <a:schemeClr val="bg1">
                  <a:lumMod val="65000"/>
                  <a:shade val="100000"/>
                  <a:satMod val="115000"/>
                </a:schemeClr>
              </a:gs>
            </a:gsLst>
            <a:path path="circle">
              <a:fillToRect t="100000" r="100000"/>
            </a:path>
            <a:tileRect l="-100000" b="-100000"/>
          </a:gradFill>
          <a:ln>
            <a:noFill/>
          </a:ln>
        </p:spPr>
        <p:style>
          <a:lnRef idx="1">
            <a:schemeClr val="accent1"/>
          </a:lnRef>
          <a:fillRef idx="2">
            <a:schemeClr val="accent1"/>
          </a:fillRef>
          <a:effectRef idx="1">
            <a:schemeClr val="accent1"/>
          </a:effectRef>
          <a:fontRef idx="minor">
            <a:schemeClr val="dk1"/>
          </a:fontRef>
        </p:style>
        <p:txBody>
          <a:bodyPr lIns="54000" tIns="0" rIns="54000" bIns="54000" anchor="ctr" anchorCtr="1"/>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defRPr/>
            </a:pPr>
            <a:r>
              <a:rPr lang="en-GB" altLang="en-US" sz="1000" b="1" dirty="0">
                <a:solidFill>
                  <a:schemeClr val="bg1"/>
                </a:solidFill>
              </a:rPr>
              <a:t>Key Stakeholders Working Across the Value Chain</a:t>
            </a:r>
          </a:p>
        </p:txBody>
      </p:sp>
      <p:sp>
        <p:nvSpPr>
          <p:cNvPr id="6" name="Rectangle 39"/>
          <p:cNvSpPr>
            <a:spLocks noChangeArrowheads="1"/>
          </p:cNvSpPr>
          <p:nvPr/>
        </p:nvSpPr>
        <p:spPr bwMode="auto">
          <a:xfrm>
            <a:off x="8902896" y="2313231"/>
            <a:ext cx="1440000" cy="671512"/>
          </a:xfrm>
          <a:prstGeom prst="rect">
            <a:avLst/>
          </a:prstGeom>
          <a:noFill/>
          <a:ln>
            <a:noFill/>
            <a:headEnd/>
            <a:tailEnd/>
          </a:ln>
        </p:spPr>
        <p:style>
          <a:lnRef idx="2">
            <a:schemeClr val="accent1"/>
          </a:lnRef>
          <a:fillRef idx="1">
            <a:schemeClr val="lt1"/>
          </a:fillRef>
          <a:effectRef idx="0">
            <a:schemeClr val="accent1"/>
          </a:effectRef>
          <a:fontRef idx="minor">
            <a:schemeClr val="dk1"/>
          </a:fontRef>
        </p:style>
        <p:txBody>
          <a:bodyPr lIns="54000" tIns="0" rIns="54000" bIns="54000" anchor="ctr"/>
          <a:lstStyle>
            <a:lvl1pPr marL="85725" indent="-85725" eaLnBrk="0" hangingPunct="0">
              <a:spcBef>
                <a:spcPct val="20000"/>
              </a:spcBef>
              <a:buClr>
                <a:srgbClr val="17426B"/>
              </a:buClr>
              <a:buFont typeface="Arial" charset="0"/>
              <a:buChar char="•"/>
              <a:defRPr>
                <a:solidFill>
                  <a:schemeClr val="tx1"/>
                </a:solidFill>
                <a:latin typeface="Arial" charset="0"/>
                <a:cs typeface="Arial" charset="0"/>
              </a:defRPr>
            </a:lvl1pPr>
            <a:lvl2pPr marL="742950" indent="-285750" eaLnBrk="0" hangingPunct="0">
              <a:spcBef>
                <a:spcPct val="20000"/>
              </a:spcBef>
              <a:buClr>
                <a:srgbClr val="17426B"/>
              </a:buClr>
              <a:buFont typeface="Courier New" pitchFamily="49" charset="0"/>
              <a:buChar char="o"/>
              <a:defRPr sz="1600">
                <a:solidFill>
                  <a:schemeClr val="tx1"/>
                </a:solidFill>
                <a:latin typeface="Arial" charset="0"/>
                <a:cs typeface="Arial" charset="0"/>
              </a:defRPr>
            </a:lvl2pPr>
            <a:lvl3pPr marL="1143000" indent="-228600" eaLnBrk="0" hangingPunct="0">
              <a:spcBef>
                <a:spcPct val="20000"/>
              </a:spcBef>
              <a:buClr>
                <a:srgbClr val="17426B"/>
              </a:buClr>
              <a:buFont typeface="Arial" charset="0"/>
              <a:buChar char="•"/>
              <a:defRPr sz="1400">
                <a:solidFill>
                  <a:schemeClr val="tx1"/>
                </a:solidFill>
                <a:latin typeface="Arial" charset="0"/>
                <a:cs typeface="Arial" charset="0"/>
              </a:defRPr>
            </a:lvl3pPr>
            <a:lvl4pPr marL="1600200" indent="-228600" eaLnBrk="0" hangingPunct="0">
              <a:spcBef>
                <a:spcPct val="20000"/>
              </a:spcBef>
              <a:buClr>
                <a:srgbClr val="17426B"/>
              </a:buClr>
              <a:buFont typeface="Courier New" pitchFamily="49" charset="0"/>
              <a:buChar char="o"/>
              <a:defRPr sz="1400">
                <a:solidFill>
                  <a:schemeClr val="tx1"/>
                </a:solidFill>
                <a:latin typeface="Arial" charset="0"/>
                <a:cs typeface="Arial" charset="0"/>
              </a:defRPr>
            </a:lvl4pPr>
            <a:lvl5pPr marL="2057400" indent="-228600" eaLnBrk="0" hangingPunct="0">
              <a:spcBef>
                <a:spcPct val="20000"/>
              </a:spcBef>
              <a:buFont typeface="Arial" charset="0"/>
              <a:defRPr sz="2000">
                <a:solidFill>
                  <a:schemeClr val="tx1"/>
                </a:solidFill>
                <a:latin typeface="Arial" charset="0"/>
                <a:cs typeface="Arial" charset="0"/>
              </a:defRPr>
            </a:lvl5pPr>
            <a:lvl6pPr marL="2514600" indent="-228600" eaLnBrk="0" fontAlgn="base" hangingPunct="0">
              <a:spcBef>
                <a:spcPct val="20000"/>
              </a:spcBef>
              <a:spcAft>
                <a:spcPct val="0"/>
              </a:spcAft>
              <a:buFont typeface="Arial" charset="0"/>
              <a:defRPr sz="2000">
                <a:solidFill>
                  <a:schemeClr val="tx1"/>
                </a:solidFill>
                <a:latin typeface="Arial" charset="0"/>
                <a:cs typeface="Arial" charset="0"/>
              </a:defRPr>
            </a:lvl6pPr>
            <a:lvl7pPr marL="2971800" indent="-228600" eaLnBrk="0" fontAlgn="base" hangingPunct="0">
              <a:spcBef>
                <a:spcPct val="20000"/>
              </a:spcBef>
              <a:spcAft>
                <a:spcPct val="0"/>
              </a:spcAft>
              <a:buFont typeface="Arial" charset="0"/>
              <a:defRPr sz="2000">
                <a:solidFill>
                  <a:schemeClr val="tx1"/>
                </a:solidFill>
                <a:latin typeface="Arial" charset="0"/>
                <a:cs typeface="Arial" charset="0"/>
              </a:defRPr>
            </a:lvl7pPr>
            <a:lvl8pPr marL="3429000" indent="-228600" eaLnBrk="0" fontAlgn="base" hangingPunct="0">
              <a:spcBef>
                <a:spcPct val="20000"/>
              </a:spcBef>
              <a:spcAft>
                <a:spcPct val="0"/>
              </a:spcAft>
              <a:buFont typeface="Arial" charset="0"/>
              <a:defRPr sz="2000">
                <a:solidFill>
                  <a:schemeClr val="tx1"/>
                </a:solidFill>
                <a:latin typeface="Arial" charset="0"/>
                <a:cs typeface="Arial" charset="0"/>
              </a:defRPr>
            </a:lvl8pPr>
            <a:lvl9pPr marL="3886200" indent="-228600" eaLnBrk="0" fontAlgn="base" hangingPunct="0">
              <a:spcBef>
                <a:spcPct val="20000"/>
              </a:spcBef>
              <a:spcAft>
                <a:spcPct val="0"/>
              </a:spcAft>
              <a:buFont typeface="Arial" charset="0"/>
              <a:defRPr sz="2000">
                <a:solidFill>
                  <a:schemeClr val="tx1"/>
                </a:solidFill>
                <a:latin typeface="Arial" charset="0"/>
                <a:cs typeface="Arial" charset="0"/>
              </a:defRPr>
            </a:lvl9pPr>
          </a:lstStyle>
          <a:p>
            <a:pPr marL="0" indent="0" algn="ctr" eaLnBrk="1" hangingPunct="1">
              <a:spcBef>
                <a:spcPct val="0"/>
              </a:spcBef>
              <a:buClrTx/>
              <a:buNone/>
              <a:defRPr/>
            </a:pPr>
            <a:r>
              <a:rPr lang="en-US" altLang="en-US" sz="1000" dirty="0"/>
              <a:t>Customers that buy or use the product</a:t>
            </a:r>
          </a:p>
        </p:txBody>
      </p:sp>
      <p:sp>
        <p:nvSpPr>
          <p:cNvPr id="7" name="Right Arrow 6"/>
          <p:cNvSpPr/>
          <p:nvPr/>
        </p:nvSpPr>
        <p:spPr>
          <a:xfrm>
            <a:off x="8374040" y="4271777"/>
            <a:ext cx="1981200" cy="266700"/>
          </a:xfrm>
          <a:prstGeom prst="rightArrow">
            <a:avLst/>
          </a:prstGeom>
          <a:solidFill>
            <a:schemeClr val="bg1">
              <a:lumMod val="6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solidFill>
                <a:schemeClr val="bg1"/>
              </a:solidFill>
            </a:endParaRPr>
          </a:p>
        </p:txBody>
      </p:sp>
      <p:sp>
        <p:nvSpPr>
          <p:cNvPr id="8" name="Right Arrow 7"/>
          <p:cNvSpPr/>
          <p:nvPr/>
        </p:nvSpPr>
        <p:spPr>
          <a:xfrm rot="10800000">
            <a:off x="1897040" y="4297177"/>
            <a:ext cx="1981200" cy="266700"/>
          </a:xfrm>
          <a:prstGeom prst="rightArrow">
            <a:avLst/>
          </a:prstGeom>
          <a:solidFill>
            <a:schemeClr val="bg1">
              <a:lumMod val="6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solidFill>
                <a:schemeClr val="bg1"/>
              </a:solidFill>
            </a:endParaRPr>
          </a:p>
        </p:txBody>
      </p:sp>
      <p:sp>
        <p:nvSpPr>
          <p:cNvPr id="9" name="Rounded Rectangle 8"/>
          <p:cNvSpPr/>
          <p:nvPr/>
        </p:nvSpPr>
        <p:spPr>
          <a:xfrm>
            <a:off x="2308302" y="2956988"/>
            <a:ext cx="1584000" cy="1219200"/>
          </a:xfrm>
          <a:prstGeom prst="roundRect">
            <a:avLst>
              <a:gd name="adj" fmla="val 2935"/>
            </a:avLst>
          </a:prstGeom>
          <a:ln/>
        </p:spPr>
        <p:style>
          <a:lnRef idx="1">
            <a:schemeClr val="accent5"/>
          </a:lnRef>
          <a:fillRef idx="3">
            <a:schemeClr val="accent5"/>
          </a:fillRef>
          <a:effectRef idx="2">
            <a:schemeClr val="accent5"/>
          </a:effectRef>
          <a:fontRef idx="minor">
            <a:schemeClr val="lt1"/>
          </a:fontRef>
        </p:style>
        <p:txBody>
          <a:bodyPr anchor="ctr"/>
          <a:lstStyle/>
          <a:p>
            <a:pPr algn="ctr">
              <a:defRPr/>
            </a:pPr>
            <a:r>
              <a:rPr lang="en-US" sz="1000" dirty="0">
                <a:solidFill>
                  <a:schemeClr val="bg1"/>
                </a:solidFill>
                <a:latin typeface="Arial" panose="020B0604020202020204" pitchFamily="34" charset="0"/>
                <a:cs typeface="Arial" panose="020B0604020202020204" pitchFamily="34" charset="0"/>
              </a:rPr>
              <a:t>This part of the value chain comprises of sources from which product is produced</a:t>
            </a:r>
          </a:p>
        </p:txBody>
      </p:sp>
      <p:sp>
        <p:nvSpPr>
          <p:cNvPr id="10" name="Rounded Rectangle 9"/>
          <p:cNvSpPr/>
          <p:nvPr/>
        </p:nvSpPr>
        <p:spPr>
          <a:xfrm>
            <a:off x="3925644" y="2956988"/>
            <a:ext cx="1893128" cy="1219200"/>
          </a:xfrm>
          <a:prstGeom prst="roundRect">
            <a:avLst>
              <a:gd name="adj" fmla="val 2935"/>
            </a:avLst>
          </a:prstGeom>
          <a:ln/>
        </p:spPr>
        <p:style>
          <a:lnRef idx="1">
            <a:schemeClr val="accent4"/>
          </a:lnRef>
          <a:fillRef idx="3">
            <a:schemeClr val="accent4"/>
          </a:fillRef>
          <a:effectRef idx="2">
            <a:schemeClr val="accent4"/>
          </a:effectRef>
          <a:fontRef idx="minor">
            <a:schemeClr val="lt1"/>
          </a:fontRef>
        </p:style>
        <p:txBody>
          <a:bodyPr anchor="ctr"/>
          <a:lstStyle/>
          <a:p>
            <a:pPr algn="ctr">
              <a:defRPr/>
            </a:pPr>
            <a:r>
              <a:rPr lang="en-US" sz="1000" dirty="0">
                <a:solidFill>
                  <a:schemeClr val="bg1"/>
                </a:solidFill>
                <a:latin typeface="Arial" panose="020B0604020202020204" pitchFamily="34" charset="0"/>
                <a:cs typeface="Arial" panose="020B0604020202020204" pitchFamily="34" charset="0"/>
              </a:rPr>
              <a:t>Regulatory bodies maintain safety of the process and environment and standardize the processes. </a:t>
            </a:r>
          </a:p>
        </p:txBody>
      </p:sp>
      <p:sp>
        <p:nvSpPr>
          <p:cNvPr id="11" name="Rounded Rectangle 10"/>
          <p:cNvSpPr/>
          <p:nvPr/>
        </p:nvSpPr>
        <p:spPr>
          <a:xfrm>
            <a:off x="7501165" y="2956988"/>
            <a:ext cx="1664498" cy="1219200"/>
          </a:xfrm>
          <a:prstGeom prst="roundRect">
            <a:avLst>
              <a:gd name="adj" fmla="val 2935"/>
            </a:avLst>
          </a:prstGeom>
          <a:ln/>
        </p:spPr>
        <p:style>
          <a:lnRef idx="1">
            <a:schemeClr val="accent1"/>
          </a:lnRef>
          <a:fillRef idx="3">
            <a:schemeClr val="accent1"/>
          </a:fillRef>
          <a:effectRef idx="2">
            <a:schemeClr val="accent1"/>
          </a:effectRef>
          <a:fontRef idx="minor">
            <a:schemeClr val="lt1"/>
          </a:fontRef>
        </p:style>
        <p:txBody>
          <a:bodyPr anchor="ctr"/>
          <a:lstStyle/>
          <a:p>
            <a:pPr algn="ctr">
              <a:defRPr/>
            </a:pPr>
            <a:r>
              <a:rPr lang="en-US" sz="1000" dirty="0">
                <a:solidFill>
                  <a:schemeClr val="bg1"/>
                </a:solidFill>
                <a:latin typeface="Arial" panose="020B0604020202020204" pitchFamily="34" charset="0"/>
                <a:cs typeface="Arial" panose="020B0604020202020204" pitchFamily="34" charset="0"/>
              </a:rPr>
              <a:t>These companies are engaged in distribution and supplying and act as a link between producers and Applications</a:t>
            </a:r>
          </a:p>
        </p:txBody>
      </p:sp>
      <p:sp>
        <p:nvSpPr>
          <p:cNvPr id="12" name="Rounded Rectangle 11"/>
          <p:cNvSpPr/>
          <p:nvPr/>
        </p:nvSpPr>
        <p:spPr>
          <a:xfrm>
            <a:off x="9217836" y="2956989"/>
            <a:ext cx="1526364" cy="1232079"/>
          </a:xfrm>
          <a:prstGeom prst="roundRect">
            <a:avLst>
              <a:gd name="adj" fmla="val 1878"/>
            </a:avLst>
          </a:prstGeom>
          <a:ln/>
        </p:spPr>
        <p:style>
          <a:lnRef idx="1">
            <a:schemeClr val="accent2"/>
          </a:lnRef>
          <a:fillRef idx="3">
            <a:schemeClr val="accent2"/>
          </a:fillRef>
          <a:effectRef idx="2">
            <a:schemeClr val="accent2"/>
          </a:effectRef>
          <a:fontRef idx="minor">
            <a:schemeClr val="lt1"/>
          </a:fontRef>
        </p:style>
        <p:txBody>
          <a:bodyPr anchor="ctr"/>
          <a:lstStyle/>
          <a:p>
            <a:pPr algn="ctr">
              <a:defRPr/>
            </a:pPr>
            <a:r>
              <a:rPr lang="en-US" sz="1000" dirty="0">
                <a:solidFill>
                  <a:schemeClr val="bg1"/>
                </a:solidFill>
                <a:latin typeface="Arial" panose="020B0604020202020204" pitchFamily="34" charset="0"/>
                <a:cs typeface="Arial" panose="020B0604020202020204" pitchFamily="34" charset="0"/>
              </a:rPr>
              <a:t>Application depend on the product for further processing.</a:t>
            </a:r>
          </a:p>
        </p:txBody>
      </p:sp>
      <p:sp>
        <p:nvSpPr>
          <p:cNvPr id="13" name="Rectangle 39"/>
          <p:cNvSpPr>
            <a:spLocks noChangeArrowheads="1"/>
          </p:cNvSpPr>
          <p:nvPr/>
        </p:nvSpPr>
        <p:spPr bwMode="auto">
          <a:xfrm>
            <a:off x="2320485" y="2242243"/>
            <a:ext cx="1309091" cy="696610"/>
          </a:xfrm>
          <a:prstGeom prst="rect">
            <a:avLst/>
          </a:prstGeom>
          <a:noFill/>
          <a:ln>
            <a:noFill/>
            <a:headEnd/>
            <a:tailEnd/>
          </a:ln>
        </p:spPr>
        <p:style>
          <a:lnRef idx="2">
            <a:schemeClr val="accent5">
              <a:shade val="50000"/>
            </a:schemeClr>
          </a:lnRef>
          <a:fillRef idx="1">
            <a:schemeClr val="accent5"/>
          </a:fillRef>
          <a:effectRef idx="0">
            <a:schemeClr val="accent5"/>
          </a:effectRef>
          <a:fontRef idx="minor">
            <a:schemeClr val="lt1"/>
          </a:fontRef>
        </p:style>
        <p:txBody>
          <a:bodyPr lIns="54000" tIns="0" rIns="54000" bIns="54000" anchor="ctr"/>
          <a:lstStyle>
            <a:lvl1pPr marL="85725" indent="-85725" eaLnBrk="0" hangingPunct="0">
              <a:spcBef>
                <a:spcPct val="20000"/>
              </a:spcBef>
              <a:buClr>
                <a:srgbClr val="17426B"/>
              </a:buClr>
              <a:buFont typeface="Arial" charset="0"/>
              <a:buChar char="•"/>
              <a:defRPr>
                <a:solidFill>
                  <a:schemeClr val="tx1"/>
                </a:solidFill>
                <a:latin typeface="Arial" charset="0"/>
                <a:cs typeface="Arial" charset="0"/>
              </a:defRPr>
            </a:lvl1pPr>
            <a:lvl2pPr marL="742950" indent="-285750" eaLnBrk="0" hangingPunct="0">
              <a:spcBef>
                <a:spcPct val="20000"/>
              </a:spcBef>
              <a:buClr>
                <a:srgbClr val="17426B"/>
              </a:buClr>
              <a:buFont typeface="Courier New" pitchFamily="49" charset="0"/>
              <a:buChar char="o"/>
              <a:defRPr sz="1600">
                <a:solidFill>
                  <a:schemeClr val="tx1"/>
                </a:solidFill>
                <a:latin typeface="Arial" charset="0"/>
                <a:cs typeface="Arial" charset="0"/>
              </a:defRPr>
            </a:lvl2pPr>
            <a:lvl3pPr marL="1143000" indent="-228600" eaLnBrk="0" hangingPunct="0">
              <a:spcBef>
                <a:spcPct val="20000"/>
              </a:spcBef>
              <a:buClr>
                <a:srgbClr val="17426B"/>
              </a:buClr>
              <a:buFont typeface="Arial" charset="0"/>
              <a:buChar char="•"/>
              <a:defRPr sz="1400">
                <a:solidFill>
                  <a:schemeClr val="tx1"/>
                </a:solidFill>
                <a:latin typeface="Arial" charset="0"/>
                <a:cs typeface="Arial" charset="0"/>
              </a:defRPr>
            </a:lvl3pPr>
            <a:lvl4pPr marL="1600200" indent="-228600" eaLnBrk="0" hangingPunct="0">
              <a:spcBef>
                <a:spcPct val="20000"/>
              </a:spcBef>
              <a:buClr>
                <a:srgbClr val="17426B"/>
              </a:buClr>
              <a:buFont typeface="Courier New" pitchFamily="49" charset="0"/>
              <a:buChar char="o"/>
              <a:defRPr sz="1400">
                <a:solidFill>
                  <a:schemeClr val="tx1"/>
                </a:solidFill>
                <a:latin typeface="Arial" charset="0"/>
                <a:cs typeface="Arial" charset="0"/>
              </a:defRPr>
            </a:lvl4pPr>
            <a:lvl5pPr marL="2057400" indent="-228600" eaLnBrk="0" hangingPunct="0">
              <a:spcBef>
                <a:spcPct val="20000"/>
              </a:spcBef>
              <a:buFont typeface="Arial" charset="0"/>
              <a:defRPr sz="2000">
                <a:solidFill>
                  <a:schemeClr val="tx1"/>
                </a:solidFill>
                <a:latin typeface="Arial" charset="0"/>
                <a:cs typeface="Arial" charset="0"/>
              </a:defRPr>
            </a:lvl5pPr>
            <a:lvl6pPr marL="2514600" indent="-228600" eaLnBrk="0" fontAlgn="base" hangingPunct="0">
              <a:spcBef>
                <a:spcPct val="20000"/>
              </a:spcBef>
              <a:spcAft>
                <a:spcPct val="0"/>
              </a:spcAft>
              <a:buFont typeface="Arial" charset="0"/>
              <a:defRPr sz="2000">
                <a:solidFill>
                  <a:schemeClr val="tx1"/>
                </a:solidFill>
                <a:latin typeface="Arial" charset="0"/>
                <a:cs typeface="Arial" charset="0"/>
              </a:defRPr>
            </a:lvl6pPr>
            <a:lvl7pPr marL="2971800" indent="-228600" eaLnBrk="0" fontAlgn="base" hangingPunct="0">
              <a:spcBef>
                <a:spcPct val="20000"/>
              </a:spcBef>
              <a:spcAft>
                <a:spcPct val="0"/>
              </a:spcAft>
              <a:buFont typeface="Arial" charset="0"/>
              <a:defRPr sz="2000">
                <a:solidFill>
                  <a:schemeClr val="tx1"/>
                </a:solidFill>
                <a:latin typeface="Arial" charset="0"/>
                <a:cs typeface="Arial" charset="0"/>
              </a:defRPr>
            </a:lvl7pPr>
            <a:lvl8pPr marL="3429000" indent="-228600" eaLnBrk="0" fontAlgn="base" hangingPunct="0">
              <a:spcBef>
                <a:spcPct val="20000"/>
              </a:spcBef>
              <a:spcAft>
                <a:spcPct val="0"/>
              </a:spcAft>
              <a:buFont typeface="Arial" charset="0"/>
              <a:defRPr sz="2000">
                <a:solidFill>
                  <a:schemeClr val="tx1"/>
                </a:solidFill>
                <a:latin typeface="Arial" charset="0"/>
                <a:cs typeface="Arial" charset="0"/>
              </a:defRPr>
            </a:lvl8pPr>
            <a:lvl9pPr marL="3886200" indent="-228600" eaLnBrk="0" fontAlgn="base" hangingPunct="0">
              <a:spcBef>
                <a:spcPct val="20000"/>
              </a:spcBef>
              <a:spcAft>
                <a:spcPct val="0"/>
              </a:spcAft>
              <a:buFont typeface="Arial" charset="0"/>
              <a:defRPr sz="2000">
                <a:solidFill>
                  <a:schemeClr val="tx1"/>
                </a:solidFill>
                <a:latin typeface="Arial" charset="0"/>
                <a:cs typeface="Arial" charset="0"/>
              </a:defRPr>
            </a:lvl9pPr>
          </a:lstStyle>
          <a:p>
            <a:pPr marL="0" indent="0" algn="ctr" eaLnBrk="1" hangingPunct="1">
              <a:spcBef>
                <a:spcPct val="0"/>
              </a:spcBef>
              <a:buClrTx/>
              <a:buNone/>
              <a:defRPr/>
            </a:pPr>
            <a:r>
              <a:rPr lang="en-US" altLang="en-US" sz="1000" dirty="0"/>
              <a:t>Major Raw Material Suppliers</a:t>
            </a:r>
          </a:p>
        </p:txBody>
      </p:sp>
      <p:sp>
        <p:nvSpPr>
          <p:cNvPr id="14" name="Rectangle 39"/>
          <p:cNvSpPr>
            <a:spLocks noChangeArrowheads="1"/>
          </p:cNvSpPr>
          <p:nvPr/>
        </p:nvSpPr>
        <p:spPr bwMode="auto">
          <a:xfrm>
            <a:off x="3945285" y="2260378"/>
            <a:ext cx="1564569" cy="696610"/>
          </a:xfrm>
          <a:prstGeom prst="rect">
            <a:avLst/>
          </a:prstGeom>
          <a:noFill/>
          <a:ln>
            <a:noFill/>
            <a:headEnd/>
            <a:tailEnd/>
          </a:ln>
        </p:spPr>
        <p:style>
          <a:lnRef idx="2">
            <a:schemeClr val="accent5">
              <a:shade val="50000"/>
            </a:schemeClr>
          </a:lnRef>
          <a:fillRef idx="1">
            <a:schemeClr val="accent5"/>
          </a:fillRef>
          <a:effectRef idx="0">
            <a:schemeClr val="accent5"/>
          </a:effectRef>
          <a:fontRef idx="minor">
            <a:schemeClr val="lt1"/>
          </a:fontRef>
        </p:style>
        <p:txBody>
          <a:bodyPr lIns="54000" tIns="0" rIns="54000" bIns="54000" anchor="ctr"/>
          <a:lstStyle>
            <a:lvl1pPr marL="85725" indent="-85725" eaLnBrk="0" hangingPunct="0">
              <a:spcBef>
                <a:spcPct val="20000"/>
              </a:spcBef>
              <a:buClr>
                <a:srgbClr val="17426B"/>
              </a:buClr>
              <a:buFont typeface="Arial" charset="0"/>
              <a:buChar char="•"/>
              <a:defRPr>
                <a:solidFill>
                  <a:schemeClr val="tx1"/>
                </a:solidFill>
                <a:latin typeface="Arial" charset="0"/>
                <a:cs typeface="Arial" charset="0"/>
              </a:defRPr>
            </a:lvl1pPr>
            <a:lvl2pPr marL="742950" indent="-285750" eaLnBrk="0" hangingPunct="0">
              <a:spcBef>
                <a:spcPct val="20000"/>
              </a:spcBef>
              <a:buClr>
                <a:srgbClr val="17426B"/>
              </a:buClr>
              <a:buFont typeface="Courier New" pitchFamily="49" charset="0"/>
              <a:buChar char="o"/>
              <a:defRPr sz="1600">
                <a:solidFill>
                  <a:schemeClr val="tx1"/>
                </a:solidFill>
                <a:latin typeface="Arial" charset="0"/>
                <a:cs typeface="Arial" charset="0"/>
              </a:defRPr>
            </a:lvl2pPr>
            <a:lvl3pPr marL="1143000" indent="-228600" eaLnBrk="0" hangingPunct="0">
              <a:spcBef>
                <a:spcPct val="20000"/>
              </a:spcBef>
              <a:buClr>
                <a:srgbClr val="17426B"/>
              </a:buClr>
              <a:buFont typeface="Arial" charset="0"/>
              <a:buChar char="•"/>
              <a:defRPr sz="1400">
                <a:solidFill>
                  <a:schemeClr val="tx1"/>
                </a:solidFill>
                <a:latin typeface="Arial" charset="0"/>
                <a:cs typeface="Arial" charset="0"/>
              </a:defRPr>
            </a:lvl3pPr>
            <a:lvl4pPr marL="1600200" indent="-228600" eaLnBrk="0" hangingPunct="0">
              <a:spcBef>
                <a:spcPct val="20000"/>
              </a:spcBef>
              <a:buClr>
                <a:srgbClr val="17426B"/>
              </a:buClr>
              <a:buFont typeface="Courier New" pitchFamily="49" charset="0"/>
              <a:buChar char="o"/>
              <a:defRPr sz="1400">
                <a:solidFill>
                  <a:schemeClr val="tx1"/>
                </a:solidFill>
                <a:latin typeface="Arial" charset="0"/>
                <a:cs typeface="Arial" charset="0"/>
              </a:defRPr>
            </a:lvl4pPr>
            <a:lvl5pPr marL="2057400" indent="-228600" eaLnBrk="0" hangingPunct="0">
              <a:spcBef>
                <a:spcPct val="20000"/>
              </a:spcBef>
              <a:buFont typeface="Arial" charset="0"/>
              <a:defRPr sz="2000">
                <a:solidFill>
                  <a:schemeClr val="tx1"/>
                </a:solidFill>
                <a:latin typeface="Arial" charset="0"/>
                <a:cs typeface="Arial" charset="0"/>
              </a:defRPr>
            </a:lvl5pPr>
            <a:lvl6pPr marL="2514600" indent="-228600" eaLnBrk="0" fontAlgn="base" hangingPunct="0">
              <a:spcBef>
                <a:spcPct val="20000"/>
              </a:spcBef>
              <a:spcAft>
                <a:spcPct val="0"/>
              </a:spcAft>
              <a:buFont typeface="Arial" charset="0"/>
              <a:defRPr sz="2000">
                <a:solidFill>
                  <a:schemeClr val="tx1"/>
                </a:solidFill>
                <a:latin typeface="Arial" charset="0"/>
                <a:cs typeface="Arial" charset="0"/>
              </a:defRPr>
            </a:lvl6pPr>
            <a:lvl7pPr marL="2971800" indent="-228600" eaLnBrk="0" fontAlgn="base" hangingPunct="0">
              <a:spcBef>
                <a:spcPct val="20000"/>
              </a:spcBef>
              <a:spcAft>
                <a:spcPct val="0"/>
              </a:spcAft>
              <a:buFont typeface="Arial" charset="0"/>
              <a:defRPr sz="2000">
                <a:solidFill>
                  <a:schemeClr val="tx1"/>
                </a:solidFill>
                <a:latin typeface="Arial" charset="0"/>
                <a:cs typeface="Arial" charset="0"/>
              </a:defRPr>
            </a:lvl7pPr>
            <a:lvl8pPr marL="3429000" indent="-228600" eaLnBrk="0" fontAlgn="base" hangingPunct="0">
              <a:spcBef>
                <a:spcPct val="20000"/>
              </a:spcBef>
              <a:spcAft>
                <a:spcPct val="0"/>
              </a:spcAft>
              <a:buFont typeface="Arial" charset="0"/>
              <a:defRPr sz="2000">
                <a:solidFill>
                  <a:schemeClr val="tx1"/>
                </a:solidFill>
                <a:latin typeface="Arial" charset="0"/>
                <a:cs typeface="Arial" charset="0"/>
              </a:defRPr>
            </a:lvl8pPr>
            <a:lvl9pPr marL="3886200" indent="-228600" eaLnBrk="0" fontAlgn="base" hangingPunct="0">
              <a:spcBef>
                <a:spcPct val="20000"/>
              </a:spcBef>
              <a:spcAft>
                <a:spcPct val="0"/>
              </a:spcAft>
              <a:buFont typeface="Arial" charset="0"/>
              <a:defRPr sz="2000">
                <a:solidFill>
                  <a:schemeClr val="tx1"/>
                </a:solidFill>
                <a:latin typeface="Arial" charset="0"/>
                <a:cs typeface="Arial" charset="0"/>
              </a:defRPr>
            </a:lvl9pPr>
          </a:lstStyle>
          <a:p>
            <a:pPr marL="0" indent="0" algn="ctr" eaLnBrk="1" hangingPunct="1">
              <a:spcBef>
                <a:spcPct val="0"/>
              </a:spcBef>
              <a:buClrTx/>
              <a:buNone/>
              <a:defRPr/>
            </a:pPr>
            <a:r>
              <a:rPr lang="en-US" altLang="en-US" sz="1000" dirty="0"/>
              <a:t>Evaluate standards and chemical emissions during manufacturing, development &amp; transportation</a:t>
            </a:r>
          </a:p>
        </p:txBody>
      </p:sp>
      <p:sp>
        <p:nvSpPr>
          <p:cNvPr id="19" name="Rectangle 39"/>
          <p:cNvSpPr>
            <a:spLocks noChangeArrowheads="1"/>
          </p:cNvSpPr>
          <p:nvPr/>
        </p:nvSpPr>
        <p:spPr bwMode="auto">
          <a:xfrm rot="16200000">
            <a:off x="1294176" y="5050137"/>
            <a:ext cx="1268283" cy="672150"/>
          </a:xfrm>
          <a:prstGeom prst="rect">
            <a:avLst/>
          </a:prstGeom>
          <a:ln>
            <a:noFill/>
            <a:headEnd/>
            <a:tailEnd/>
          </a:ln>
        </p:spPr>
        <p:style>
          <a:lnRef idx="1">
            <a:schemeClr val="accent2"/>
          </a:lnRef>
          <a:fillRef idx="3">
            <a:schemeClr val="accent2"/>
          </a:fillRef>
          <a:effectRef idx="2">
            <a:schemeClr val="accent2"/>
          </a:effectRef>
          <a:fontRef idx="minor">
            <a:schemeClr val="lt1"/>
          </a:fontRef>
        </p:style>
        <p:txBody>
          <a:bodyPr lIns="54000" tIns="0" rIns="54000" bIns="54000" anchor="ctr"/>
          <a:lstStyle>
            <a:lvl1pPr eaLnBrk="0" hangingPunct="0">
              <a:spcBef>
                <a:spcPct val="20000"/>
              </a:spcBef>
              <a:buClr>
                <a:srgbClr val="17426B"/>
              </a:buClr>
              <a:buFont typeface="Arial" charset="0"/>
              <a:buChar char="•"/>
              <a:defRPr>
                <a:solidFill>
                  <a:schemeClr val="tx1"/>
                </a:solidFill>
                <a:latin typeface="Arial" charset="0"/>
                <a:cs typeface="Arial" charset="0"/>
              </a:defRPr>
            </a:lvl1pPr>
            <a:lvl2pPr marL="742950" indent="-285750" eaLnBrk="0" hangingPunct="0">
              <a:spcBef>
                <a:spcPct val="20000"/>
              </a:spcBef>
              <a:buClr>
                <a:srgbClr val="17426B"/>
              </a:buClr>
              <a:buFont typeface="Courier New" pitchFamily="49" charset="0"/>
              <a:buChar char="o"/>
              <a:defRPr sz="1600">
                <a:solidFill>
                  <a:schemeClr val="tx1"/>
                </a:solidFill>
                <a:latin typeface="Arial" charset="0"/>
                <a:cs typeface="Arial" charset="0"/>
              </a:defRPr>
            </a:lvl2pPr>
            <a:lvl3pPr marL="1143000" indent="-228600" eaLnBrk="0" hangingPunct="0">
              <a:spcBef>
                <a:spcPct val="20000"/>
              </a:spcBef>
              <a:buClr>
                <a:srgbClr val="17426B"/>
              </a:buClr>
              <a:buFont typeface="Arial" charset="0"/>
              <a:buChar char="•"/>
              <a:defRPr sz="1400">
                <a:solidFill>
                  <a:schemeClr val="tx1"/>
                </a:solidFill>
                <a:latin typeface="Arial" charset="0"/>
                <a:cs typeface="Arial" charset="0"/>
              </a:defRPr>
            </a:lvl3pPr>
            <a:lvl4pPr marL="1600200" indent="-228600" eaLnBrk="0" hangingPunct="0">
              <a:spcBef>
                <a:spcPct val="20000"/>
              </a:spcBef>
              <a:buClr>
                <a:srgbClr val="17426B"/>
              </a:buClr>
              <a:buFont typeface="Courier New" pitchFamily="49" charset="0"/>
              <a:buChar char="o"/>
              <a:defRPr sz="1400">
                <a:solidFill>
                  <a:schemeClr val="tx1"/>
                </a:solidFill>
                <a:latin typeface="Arial" charset="0"/>
                <a:cs typeface="Arial" charset="0"/>
              </a:defRPr>
            </a:lvl4pPr>
            <a:lvl5pPr marL="2057400" indent="-228600" eaLnBrk="0" hangingPunct="0">
              <a:spcBef>
                <a:spcPct val="20000"/>
              </a:spcBef>
              <a:buFont typeface="Arial" charset="0"/>
              <a:defRPr sz="2000">
                <a:solidFill>
                  <a:schemeClr val="tx1"/>
                </a:solidFill>
                <a:latin typeface="Arial" charset="0"/>
                <a:cs typeface="Arial" charset="0"/>
              </a:defRPr>
            </a:lvl5pPr>
            <a:lvl6pPr marL="2514600" indent="-228600" eaLnBrk="0" fontAlgn="base" hangingPunct="0">
              <a:spcBef>
                <a:spcPct val="20000"/>
              </a:spcBef>
              <a:spcAft>
                <a:spcPct val="0"/>
              </a:spcAft>
              <a:buFont typeface="Arial" charset="0"/>
              <a:defRPr sz="2000">
                <a:solidFill>
                  <a:schemeClr val="tx1"/>
                </a:solidFill>
                <a:latin typeface="Arial" charset="0"/>
                <a:cs typeface="Arial" charset="0"/>
              </a:defRPr>
            </a:lvl6pPr>
            <a:lvl7pPr marL="2971800" indent="-228600" eaLnBrk="0" fontAlgn="base" hangingPunct="0">
              <a:spcBef>
                <a:spcPct val="20000"/>
              </a:spcBef>
              <a:spcAft>
                <a:spcPct val="0"/>
              </a:spcAft>
              <a:buFont typeface="Arial" charset="0"/>
              <a:defRPr sz="2000">
                <a:solidFill>
                  <a:schemeClr val="tx1"/>
                </a:solidFill>
                <a:latin typeface="Arial" charset="0"/>
                <a:cs typeface="Arial" charset="0"/>
              </a:defRPr>
            </a:lvl7pPr>
            <a:lvl8pPr marL="3429000" indent="-228600" eaLnBrk="0" fontAlgn="base" hangingPunct="0">
              <a:spcBef>
                <a:spcPct val="20000"/>
              </a:spcBef>
              <a:spcAft>
                <a:spcPct val="0"/>
              </a:spcAft>
              <a:buFont typeface="Arial" charset="0"/>
              <a:defRPr sz="2000">
                <a:solidFill>
                  <a:schemeClr val="tx1"/>
                </a:solidFill>
                <a:latin typeface="Arial" charset="0"/>
                <a:cs typeface="Arial" charset="0"/>
              </a:defRPr>
            </a:lvl8pPr>
            <a:lvl9pPr marL="3886200" indent="-228600" eaLnBrk="0" fontAlgn="base" hangingPunct="0">
              <a:spcBef>
                <a:spcPct val="20000"/>
              </a:spcBef>
              <a:spcAft>
                <a:spcPct val="0"/>
              </a:spcAft>
              <a:buFont typeface="Arial" charset="0"/>
              <a:defRPr sz="2000">
                <a:solidFill>
                  <a:schemeClr val="tx1"/>
                </a:solidFill>
                <a:latin typeface="Arial" charset="0"/>
                <a:cs typeface="Arial" charset="0"/>
              </a:defRPr>
            </a:lvl9pPr>
          </a:lstStyle>
          <a:p>
            <a:pPr algn="ctr" eaLnBrk="1" hangingPunct="1">
              <a:spcBef>
                <a:spcPct val="0"/>
              </a:spcBef>
              <a:buClrTx/>
              <a:buFontTx/>
              <a:buNone/>
              <a:defRPr/>
            </a:pPr>
            <a:r>
              <a:rPr lang="en-US" altLang="en-US" sz="1200" b="1" dirty="0">
                <a:solidFill>
                  <a:schemeClr val="bg1"/>
                </a:solidFill>
                <a:latin typeface="+mn-lt"/>
              </a:rPr>
              <a:t>Major Participants/ Prospects</a:t>
            </a:r>
            <a:endParaRPr lang="en-IN" altLang="en-US" sz="1200" b="1" dirty="0">
              <a:solidFill>
                <a:schemeClr val="bg1"/>
              </a:solidFill>
              <a:latin typeface="+mn-lt"/>
            </a:endParaRPr>
          </a:p>
        </p:txBody>
      </p:sp>
      <p:sp>
        <p:nvSpPr>
          <p:cNvPr id="20" name="Rectangle 39"/>
          <p:cNvSpPr>
            <a:spLocks noChangeArrowheads="1"/>
          </p:cNvSpPr>
          <p:nvPr/>
        </p:nvSpPr>
        <p:spPr bwMode="auto">
          <a:xfrm>
            <a:off x="1627166" y="2286868"/>
            <a:ext cx="637225" cy="1979473"/>
          </a:xfrm>
          <a:prstGeom prst="rect">
            <a:avLst/>
          </a:prstGeom>
          <a:ln>
            <a:headEnd/>
            <a:tailEnd/>
          </a:ln>
        </p:spPr>
        <p:style>
          <a:lnRef idx="1">
            <a:schemeClr val="accent1"/>
          </a:lnRef>
          <a:fillRef idx="3">
            <a:schemeClr val="accent1"/>
          </a:fillRef>
          <a:effectRef idx="2">
            <a:schemeClr val="accent1"/>
          </a:effectRef>
          <a:fontRef idx="minor">
            <a:schemeClr val="lt1"/>
          </a:fontRef>
        </p:style>
        <p:txBody>
          <a:bodyPr vert="vert270" lIns="54000" tIns="0" rIns="54000" bIns="54000" anchor="ctr"/>
          <a:lstStyle>
            <a:lvl1pPr eaLnBrk="0" hangingPunct="0">
              <a:spcBef>
                <a:spcPct val="20000"/>
              </a:spcBef>
              <a:buClr>
                <a:srgbClr val="17426B"/>
              </a:buClr>
              <a:buFont typeface="Arial" charset="0"/>
              <a:buChar char="•"/>
              <a:defRPr>
                <a:solidFill>
                  <a:schemeClr val="tx1"/>
                </a:solidFill>
                <a:latin typeface="Arial" charset="0"/>
                <a:cs typeface="Arial" charset="0"/>
              </a:defRPr>
            </a:lvl1pPr>
            <a:lvl2pPr marL="742950" indent="-285750" eaLnBrk="0" hangingPunct="0">
              <a:spcBef>
                <a:spcPct val="20000"/>
              </a:spcBef>
              <a:buClr>
                <a:srgbClr val="17426B"/>
              </a:buClr>
              <a:buFont typeface="Courier New" pitchFamily="49" charset="0"/>
              <a:buChar char="o"/>
              <a:defRPr sz="1600">
                <a:solidFill>
                  <a:schemeClr val="tx1"/>
                </a:solidFill>
                <a:latin typeface="Arial" charset="0"/>
                <a:cs typeface="Arial" charset="0"/>
              </a:defRPr>
            </a:lvl2pPr>
            <a:lvl3pPr marL="1143000" indent="-228600" eaLnBrk="0" hangingPunct="0">
              <a:spcBef>
                <a:spcPct val="20000"/>
              </a:spcBef>
              <a:buClr>
                <a:srgbClr val="17426B"/>
              </a:buClr>
              <a:buFont typeface="Arial" charset="0"/>
              <a:buChar char="•"/>
              <a:defRPr sz="1400">
                <a:solidFill>
                  <a:schemeClr val="tx1"/>
                </a:solidFill>
                <a:latin typeface="Arial" charset="0"/>
                <a:cs typeface="Arial" charset="0"/>
              </a:defRPr>
            </a:lvl3pPr>
            <a:lvl4pPr marL="1600200" indent="-228600" eaLnBrk="0" hangingPunct="0">
              <a:spcBef>
                <a:spcPct val="20000"/>
              </a:spcBef>
              <a:buClr>
                <a:srgbClr val="17426B"/>
              </a:buClr>
              <a:buFont typeface="Courier New" pitchFamily="49" charset="0"/>
              <a:buChar char="o"/>
              <a:defRPr sz="1400">
                <a:solidFill>
                  <a:schemeClr val="tx1"/>
                </a:solidFill>
                <a:latin typeface="Arial" charset="0"/>
                <a:cs typeface="Arial" charset="0"/>
              </a:defRPr>
            </a:lvl4pPr>
            <a:lvl5pPr marL="2057400" indent="-228600" eaLnBrk="0" hangingPunct="0">
              <a:spcBef>
                <a:spcPct val="20000"/>
              </a:spcBef>
              <a:buFont typeface="Arial" charset="0"/>
              <a:defRPr sz="2000">
                <a:solidFill>
                  <a:schemeClr val="tx1"/>
                </a:solidFill>
                <a:latin typeface="Arial" charset="0"/>
                <a:cs typeface="Arial" charset="0"/>
              </a:defRPr>
            </a:lvl5pPr>
            <a:lvl6pPr marL="2514600" indent="-228600" eaLnBrk="0" fontAlgn="base" hangingPunct="0">
              <a:spcBef>
                <a:spcPct val="20000"/>
              </a:spcBef>
              <a:spcAft>
                <a:spcPct val="0"/>
              </a:spcAft>
              <a:buFont typeface="Arial" charset="0"/>
              <a:defRPr sz="2000">
                <a:solidFill>
                  <a:schemeClr val="tx1"/>
                </a:solidFill>
                <a:latin typeface="Arial" charset="0"/>
                <a:cs typeface="Arial" charset="0"/>
              </a:defRPr>
            </a:lvl6pPr>
            <a:lvl7pPr marL="2971800" indent="-228600" eaLnBrk="0" fontAlgn="base" hangingPunct="0">
              <a:spcBef>
                <a:spcPct val="20000"/>
              </a:spcBef>
              <a:spcAft>
                <a:spcPct val="0"/>
              </a:spcAft>
              <a:buFont typeface="Arial" charset="0"/>
              <a:defRPr sz="2000">
                <a:solidFill>
                  <a:schemeClr val="tx1"/>
                </a:solidFill>
                <a:latin typeface="Arial" charset="0"/>
                <a:cs typeface="Arial" charset="0"/>
              </a:defRPr>
            </a:lvl7pPr>
            <a:lvl8pPr marL="3429000" indent="-228600" eaLnBrk="0" fontAlgn="base" hangingPunct="0">
              <a:spcBef>
                <a:spcPct val="20000"/>
              </a:spcBef>
              <a:spcAft>
                <a:spcPct val="0"/>
              </a:spcAft>
              <a:buFont typeface="Arial" charset="0"/>
              <a:defRPr sz="2000">
                <a:solidFill>
                  <a:schemeClr val="tx1"/>
                </a:solidFill>
                <a:latin typeface="Arial" charset="0"/>
                <a:cs typeface="Arial" charset="0"/>
              </a:defRPr>
            </a:lvl8pPr>
            <a:lvl9pPr marL="3886200" indent="-228600" eaLnBrk="0" fontAlgn="base" hangingPunct="0">
              <a:spcBef>
                <a:spcPct val="20000"/>
              </a:spcBef>
              <a:spcAft>
                <a:spcPct val="0"/>
              </a:spcAft>
              <a:buFont typeface="Arial" charset="0"/>
              <a:defRPr sz="2000">
                <a:solidFill>
                  <a:schemeClr val="tx1"/>
                </a:solidFill>
                <a:latin typeface="Arial" charset="0"/>
                <a:cs typeface="Arial" charset="0"/>
              </a:defRPr>
            </a:lvl9pPr>
          </a:lstStyle>
          <a:p>
            <a:pPr algn="ctr" eaLnBrk="1" hangingPunct="1">
              <a:spcBef>
                <a:spcPct val="0"/>
              </a:spcBef>
              <a:buClrTx/>
              <a:buFontTx/>
              <a:buNone/>
              <a:defRPr/>
            </a:pPr>
            <a:r>
              <a:rPr lang="en-US" altLang="en-US" sz="1200" b="1" dirty="0">
                <a:solidFill>
                  <a:schemeClr val="bg1"/>
                </a:solidFill>
                <a:latin typeface="+mn-lt"/>
              </a:rPr>
              <a:t>Description</a:t>
            </a:r>
            <a:endParaRPr lang="en-IN" altLang="en-US" sz="1200" b="1" dirty="0">
              <a:solidFill>
                <a:schemeClr val="bg1"/>
              </a:solidFill>
              <a:latin typeface="+mn-lt"/>
            </a:endParaRPr>
          </a:p>
        </p:txBody>
      </p:sp>
      <p:sp>
        <p:nvSpPr>
          <p:cNvPr id="21" name="Rectangle 39"/>
          <p:cNvSpPr>
            <a:spLocks noChangeArrowheads="1"/>
          </p:cNvSpPr>
          <p:nvPr/>
        </p:nvSpPr>
        <p:spPr bwMode="auto">
          <a:xfrm>
            <a:off x="7372776" y="2405557"/>
            <a:ext cx="1440000" cy="685800"/>
          </a:xfrm>
          <a:prstGeom prst="rect">
            <a:avLst/>
          </a:prstGeom>
          <a:noFill/>
          <a:ln>
            <a:noFill/>
            <a:headEnd/>
            <a:tailEnd/>
          </a:ln>
        </p:spPr>
        <p:style>
          <a:lnRef idx="2">
            <a:schemeClr val="accent1"/>
          </a:lnRef>
          <a:fillRef idx="1">
            <a:schemeClr val="lt1"/>
          </a:fillRef>
          <a:effectRef idx="0">
            <a:schemeClr val="accent1"/>
          </a:effectRef>
          <a:fontRef idx="minor">
            <a:schemeClr val="dk1"/>
          </a:fontRef>
        </p:style>
        <p:txBody>
          <a:bodyPr lIns="54000" tIns="0" rIns="54000" bIns="54000" anchor="ctr"/>
          <a:lstStyle>
            <a:lvl1pPr marL="85725" indent="-85725" eaLnBrk="0" hangingPunct="0">
              <a:spcBef>
                <a:spcPct val="20000"/>
              </a:spcBef>
              <a:buClr>
                <a:srgbClr val="17426B"/>
              </a:buClr>
              <a:buFont typeface="Arial" charset="0"/>
              <a:buChar char="•"/>
              <a:defRPr>
                <a:solidFill>
                  <a:schemeClr val="tx1"/>
                </a:solidFill>
                <a:latin typeface="Arial" charset="0"/>
                <a:cs typeface="Arial" charset="0"/>
              </a:defRPr>
            </a:lvl1pPr>
            <a:lvl2pPr marL="742950" indent="-285750" eaLnBrk="0" hangingPunct="0">
              <a:spcBef>
                <a:spcPct val="20000"/>
              </a:spcBef>
              <a:buClr>
                <a:srgbClr val="17426B"/>
              </a:buClr>
              <a:buFont typeface="Courier New" pitchFamily="49" charset="0"/>
              <a:buChar char="o"/>
              <a:defRPr sz="1600">
                <a:solidFill>
                  <a:schemeClr val="tx1"/>
                </a:solidFill>
                <a:latin typeface="Arial" charset="0"/>
                <a:cs typeface="Arial" charset="0"/>
              </a:defRPr>
            </a:lvl2pPr>
            <a:lvl3pPr marL="1143000" indent="-228600" eaLnBrk="0" hangingPunct="0">
              <a:spcBef>
                <a:spcPct val="20000"/>
              </a:spcBef>
              <a:buClr>
                <a:srgbClr val="17426B"/>
              </a:buClr>
              <a:buFont typeface="Arial" charset="0"/>
              <a:buChar char="•"/>
              <a:defRPr sz="1400">
                <a:solidFill>
                  <a:schemeClr val="tx1"/>
                </a:solidFill>
                <a:latin typeface="Arial" charset="0"/>
                <a:cs typeface="Arial" charset="0"/>
              </a:defRPr>
            </a:lvl3pPr>
            <a:lvl4pPr marL="1600200" indent="-228600" eaLnBrk="0" hangingPunct="0">
              <a:spcBef>
                <a:spcPct val="20000"/>
              </a:spcBef>
              <a:buClr>
                <a:srgbClr val="17426B"/>
              </a:buClr>
              <a:buFont typeface="Courier New" pitchFamily="49" charset="0"/>
              <a:buChar char="o"/>
              <a:defRPr sz="1400">
                <a:solidFill>
                  <a:schemeClr val="tx1"/>
                </a:solidFill>
                <a:latin typeface="Arial" charset="0"/>
                <a:cs typeface="Arial" charset="0"/>
              </a:defRPr>
            </a:lvl4pPr>
            <a:lvl5pPr marL="2057400" indent="-228600" eaLnBrk="0" hangingPunct="0">
              <a:spcBef>
                <a:spcPct val="20000"/>
              </a:spcBef>
              <a:buFont typeface="Arial" charset="0"/>
              <a:defRPr sz="2000">
                <a:solidFill>
                  <a:schemeClr val="tx1"/>
                </a:solidFill>
                <a:latin typeface="Arial" charset="0"/>
                <a:cs typeface="Arial" charset="0"/>
              </a:defRPr>
            </a:lvl5pPr>
            <a:lvl6pPr marL="2514600" indent="-228600" eaLnBrk="0" fontAlgn="base" hangingPunct="0">
              <a:spcBef>
                <a:spcPct val="20000"/>
              </a:spcBef>
              <a:spcAft>
                <a:spcPct val="0"/>
              </a:spcAft>
              <a:buFont typeface="Arial" charset="0"/>
              <a:defRPr sz="2000">
                <a:solidFill>
                  <a:schemeClr val="tx1"/>
                </a:solidFill>
                <a:latin typeface="Arial" charset="0"/>
                <a:cs typeface="Arial" charset="0"/>
              </a:defRPr>
            </a:lvl6pPr>
            <a:lvl7pPr marL="2971800" indent="-228600" eaLnBrk="0" fontAlgn="base" hangingPunct="0">
              <a:spcBef>
                <a:spcPct val="20000"/>
              </a:spcBef>
              <a:spcAft>
                <a:spcPct val="0"/>
              </a:spcAft>
              <a:buFont typeface="Arial" charset="0"/>
              <a:defRPr sz="2000">
                <a:solidFill>
                  <a:schemeClr val="tx1"/>
                </a:solidFill>
                <a:latin typeface="Arial" charset="0"/>
                <a:cs typeface="Arial" charset="0"/>
              </a:defRPr>
            </a:lvl7pPr>
            <a:lvl8pPr marL="3429000" indent="-228600" eaLnBrk="0" fontAlgn="base" hangingPunct="0">
              <a:spcBef>
                <a:spcPct val="20000"/>
              </a:spcBef>
              <a:spcAft>
                <a:spcPct val="0"/>
              </a:spcAft>
              <a:buFont typeface="Arial" charset="0"/>
              <a:defRPr sz="2000">
                <a:solidFill>
                  <a:schemeClr val="tx1"/>
                </a:solidFill>
                <a:latin typeface="Arial" charset="0"/>
                <a:cs typeface="Arial" charset="0"/>
              </a:defRPr>
            </a:lvl8pPr>
            <a:lvl9pPr marL="3886200" indent="-228600" eaLnBrk="0" fontAlgn="base" hangingPunct="0">
              <a:spcBef>
                <a:spcPct val="20000"/>
              </a:spcBef>
              <a:spcAft>
                <a:spcPct val="0"/>
              </a:spcAft>
              <a:buFont typeface="Arial" charset="0"/>
              <a:defRPr sz="2000">
                <a:solidFill>
                  <a:schemeClr val="tx1"/>
                </a:solidFill>
                <a:latin typeface="Arial" charset="0"/>
                <a:cs typeface="Arial" charset="0"/>
              </a:defRPr>
            </a:lvl9pPr>
          </a:lstStyle>
          <a:p>
            <a:pPr marL="0" indent="0" algn="ctr" eaLnBrk="1" hangingPunct="1">
              <a:spcBef>
                <a:spcPct val="0"/>
              </a:spcBef>
              <a:buClrTx/>
              <a:buNone/>
              <a:defRPr/>
            </a:pPr>
            <a:r>
              <a:rPr lang="en-US" altLang="en-US" sz="1000" dirty="0"/>
              <a:t>Major Distributors</a:t>
            </a:r>
          </a:p>
        </p:txBody>
      </p:sp>
      <p:sp>
        <p:nvSpPr>
          <p:cNvPr id="23" name="Rounded Rectangle 22"/>
          <p:cNvSpPr/>
          <p:nvPr/>
        </p:nvSpPr>
        <p:spPr>
          <a:xfrm>
            <a:off x="5864993" y="2956988"/>
            <a:ext cx="1584000" cy="1219200"/>
          </a:xfrm>
          <a:prstGeom prst="roundRect">
            <a:avLst>
              <a:gd name="adj" fmla="val 2935"/>
            </a:avLst>
          </a:prstGeom>
          <a:ln/>
        </p:spPr>
        <p:style>
          <a:lnRef idx="1">
            <a:schemeClr val="accent3"/>
          </a:lnRef>
          <a:fillRef idx="3">
            <a:schemeClr val="accent3"/>
          </a:fillRef>
          <a:effectRef idx="2">
            <a:schemeClr val="accent3"/>
          </a:effectRef>
          <a:fontRef idx="minor">
            <a:schemeClr val="lt1"/>
          </a:fontRef>
        </p:style>
        <p:txBody>
          <a:bodyPr anchor="ctr"/>
          <a:lstStyle/>
          <a:p>
            <a:pPr algn="ctr">
              <a:defRPr/>
            </a:pPr>
            <a:r>
              <a:rPr lang="en-US" sz="1000" dirty="0">
                <a:solidFill>
                  <a:schemeClr val="bg1"/>
                </a:solidFill>
                <a:latin typeface="Arial" panose="020B0604020202020204" pitchFamily="34" charset="0"/>
                <a:cs typeface="Arial" panose="020B0604020202020204" pitchFamily="34" charset="0"/>
              </a:rPr>
              <a:t>These companies are engaged in production</a:t>
            </a:r>
          </a:p>
        </p:txBody>
      </p:sp>
      <p:sp>
        <p:nvSpPr>
          <p:cNvPr id="24" name="Rectangle 39"/>
          <p:cNvSpPr>
            <a:spLocks noChangeArrowheads="1"/>
          </p:cNvSpPr>
          <p:nvPr/>
        </p:nvSpPr>
        <p:spPr bwMode="auto">
          <a:xfrm>
            <a:off x="5677066" y="2383162"/>
            <a:ext cx="1771926" cy="685800"/>
          </a:xfrm>
          <a:prstGeom prst="rect">
            <a:avLst/>
          </a:prstGeom>
          <a:noFill/>
          <a:ln>
            <a:noFill/>
            <a:headEnd/>
            <a:tailEnd/>
          </a:ln>
        </p:spPr>
        <p:style>
          <a:lnRef idx="2">
            <a:schemeClr val="accent1"/>
          </a:lnRef>
          <a:fillRef idx="1">
            <a:schemeClr val="lt1"/>
          </a:fillRef>
          <a:effectRef idx="0">
            <a:schemeClr val="accent1"/>
          </a:effectRef>
          <a:fontRef idx="minor">
            <a:schemeClr val="dk1"/>
          </a:fontRef>
        </p:style>
        <p:txBody>
          <a:bodyPr lIns="54000" tIns="0" rIns="54000" bIns="54000" anchor="ctr"/>
          <a:lstStyle>
            <a:lvl1pPr marL="85725" indent="-85725" eaLnBrk="0" hangingPunct="0">
              <a:spcBef>
                <a:spcPct val="20000"/>
              </a:spcBef>
              <a:buClr>
                <a:srgbClr val="17426B"/>
              </a:buClr>
              <a:buFont typeface="Arial" charset="0"/>
              <a:buChar char="•"/>
              <a:defRPr>
                <a:solidFill>
                  <a:schemeClr val="tx1"/>
                </a:solidFill>
                <a:latin typeface="Arial" charset="0"/>
                <a:cs typeface="Arial" charset="0"/>
              </a:defRPr>
            </a:lvl1pPr>
            <a:lvl2pPr marL="742950" indent="-285750" eaLnBrk="0" hangingPunct="0">
              <a:spcBef>
                <a:spcPct val="20000"/>
              </a:spcBef>
              <a:buClr>
                <a:srgbClr val="17426B"/>
              </a:buClr>
              <a:buFont typeface="Courier New" pitchFamily="49" charset="0"/>
              <a:buChar char="o"/>
              <a:defRPr sz="1600">
                <a:solidFill>
                  <a:schemeClr val="tx1"/>
                </a:solidFill>
                <a:latin typeface="Arial" charset="0"/>
                <a:cs typeface="Arial" charset="0"/>
              </a:defRPr>
            </a:lvl2pPr>
            <a:lvl3pPr marL="1143000" indent="-228600" eaLnBrk="0" hangingPunct="0">
              <a:spcBef>
                <a:spcPct val="20000"/>
              </a:spcBef>
              <a:buClr>
                <a:srgbClr val="17426B"/>
              </a:buClr>
              <a:buFont typeface="Arial" charset="0"/>
              <a:buChar char="•"/>
              <a:defRPr sz="1400">
                <a:solidFill>
                  <a:schemeClr val="tx1"/>
                </a:solidFill>
                <a:latin typeface="Arial" charset="0"/>
                <a:cs typeface="Arial" charset="0"/>
              </a:defRPr>
            </a:lvl3pPr>
            <a:lvl4pPr marL="1600200" indent="-228600" eaLnBrk="0" hangingPunct="0">
              <a:spcBef>
                <a:spcPct val="20000"/>
              </a:spcBef>
              <a:buClr>
                <a:srgbClr val="17426B"/>
              </a:buClr>
              <a:buFont typeface="Courier New" pitchFamily="49" charset="0"/>
              <a:buChar char="o"/>
              <a:defRPr sz="1400">
                <a:solidFill>
                  <a:schemeClr val="tx1"/>
                </a:solidFill>
                <a:latin typeface="Arial" charset="0"/>
                <a:cs typeface="Arial" charset="0"/>
              </a:defRPr>
            </a:lvl4pPr>
            <a:lvl5pPr marL="2057400" indent="-228600" eaLnBrk="0" hangingPunct="0">
              <a:spcBef>
                <a:spcPct val="20000"/>
              </a:spcBef>
              <a:buFont typeface="Arial" charset="0"/>
              <a:defRPr sz="2000">
                <a:solidFill>
                  <a:schemeClr val="tx1"/>
                </a:solidFill>
                <a:latin typeface="Arial" charset="0"/>
                <a:cs typeface="Arial" charset="0"/>
              </a:defRPr>
            </a:lvl5pPr>
            <a:lvl6pPr marL="2514600" indent="-228600" eaLnBrk="0" fontAlgn="base" hangingPunct="0">
              <a:spcBef>
                <a:spcPct val="20000"/>
              </a:spcBef>
              <a:spcAft>
                <a:spcPct val="0"/>
              </a:spcAft>
              <a:buFont typeface="Arial" charset="0"/>
              <a:defRPr sz="2000">
                <a:solidFill>
                  <a:schemeClr val="tx1"/>
                </a:solidFill>
                <a:latin typeface="Arial" charset="0"/>
                <a:cs typeface="Arial" charset="0"/>
              </a:defRPr>
            </a:lvl6pPr>
            <a:lvl7pPr marL="2971800" indent="-228600" eaLnBrk="0" fontAlgn="base" hangingPunct="0">
              <a:spcBef>
                <a:spcPct val="20000"/>
              </a:spcBef>
              <a:spcAft>
                <a:spcPct val="0"/>
              </a:spcAft>
              <a:buFont typeface="Arial" charset="0"/>
              <a:defRPr sz="2000">
                <a:solidFill>
                  <a:schemeClr val="tx1"/>
                </a:solidFill>
                <a:latin typeface="Arial" charset="0"/>
                <a:cs typeface="Arial" charset="0"/>
              </a:defRPr>
            </a:lvl7pPr>
            <a:lvl8pPr marL="3429000" indent="-228600" eaLnBrk="0" fontAlgn="base" hangingPunct="0">
              <a:spcBef>
                <a:spcPct val="20000"/>
              </a:spcBef>
              <a:spcAft>
                <a:spcPct val="0"/>
              </a:spcAft>
              <a:buFont typeface="Arial" charset="0"/>
              <a:defRPr sz="2000">
                <a:solidFill>
                  <a:schemeClr val="tx1"/>
                </a:solidFill>
                <a:latin typeface="Arial" charset="0"/>
                <a:cs typeface="Arial" charset="0"/>
              </a:defRPr>
            </a:lvl8pPr>
            <a:lvl9pPr marL="3886200" indent="-228600" eaLnBrk="0" fontAlgn="base" hangingPunct="0">
              <a:spcBef>
                <a:spcPct val="20000"/>
              </a:spcBef>
              <a:spcAft>
                <a:spcPct val="0"/>
              </a:spcAft>
              <a:buFont typeface="Arial" charset="0"/>
              <a:defRPr sz="2000">
                <a:solidFill>
                  <a:schemeClr val="tx1"/>
                </a:solidFill>
                <a:latin typeface="Arial" charset="0"/>
                <a:cs typeface="Arial" charset="0"/>
              </a:defRPr>
            </a:lvl9pPr>
          </a:lstStyle>
          <a:p>
            <a:pPr marL="0" indent="0" algn="ctr" eaLnBrk="1" hangingPunct="1">
              <a:spcBef>
                <a:spcPct val="0"/>
              </a:spcBef>
              <a:buClrTx/>
              <a:buNone/>
              <a:defRPr/>
            </a:pPr>
            <a:r>
              <a:rPr lang="en-US" altLang="en-US" sz="1000" dirty="0"/>
              <a:t>Major Manufacturers </a:t>
            </a:r>
          </a:p>
        </p:txBody>
      </p:sp>
      <p:sp>
        <p:nvSpPr>
          <p:cNvPr id="25" name="Rectangle 24"/>
          <p:cNvSpPr/>
          <p:nvPr/>
        </p:nvSpPr>
        <p:spPr>
          <a:xfrm>
            <a:off x="6124025" y="1285118"/>
            <a:ext cx="3818152" cy="169277"/>
          </a:xfrm>
          <a:prstGeom prst="rect">
            <a:avLst/>
          </a:prstGeom>
        </p:spPr>
        <p:txBody>
          <a:bodyPr wrap="square" lIns="0" tIns="0" rIns="0" bIns="0">
            <a:spAutoFit/>
          </a:bodyPr>
          <a:lstStyle/>
          <a:p>
            <a:pPr algn="ctr"/>
            <a:r>
              <a:rPr lang="en-GB" sz="1100" dirty="0"/>
              <a:t>Average Margin: </a:t>
            </a:r>
            <a:r>
              <a:rPr lang="en-GB" sz="1100" b="1" dirty="0"/>
              <a:t>12– 14%</a:t>
            </a:r>
          </a:p>
        </p:txBody>
      </p:sp>
      <p:grpSp>
        <p:nvGrpSpPr>
          <p:cNvPr id="26" name="Group 25"/>
          <p:cNvGrpSpPr/>
          <p:nvPr/>
        </p:nvGrpSpPr>
        <p:grpSpPr>
          <a:xfrm>
            <a:off x="6263725" y="1188274"/>
            <a:ext cx="3680375" cy="304220"/>
            <a:chOff x="5057224" y="1150174"/>
            <a:chExt cx="3680375" cy="304220"/>
          </a:xfrm>
        </p:grpSpPr>
        <p:cxnSp>
          <p:nvCxnSpPr>
            <p:cNvPr id="27" name="Elbow Connector 26"/>
            <p:cNvCxnSpPr>
              <a:stCxn id="25" idx="1"/>
            </p:cNvCxnSpPr>
            <p:nvPr/>
          </p:nvCxnSpPr>
          <p:spPr>
            <a:xfrm rot="10800000" flipH="1">
              <a:off x="5057224" y="1155700"/>
              <a:ext cx="3680375" cy="214056"/>
            </a:xfrm>
            <a:prstGeom prst="bentConnector3">
              <a:avLst>
                <a:gd name="adj1" fmla="val 0"/>
              </a:avLst>
            </a:prstGeom>
            <a:ln w="12700">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a:off x="8712200" y="1150174"/>
              <a:ext cx="0" cy="304220"/>
            </a:xfrm>
            <a:prstGeom prst="straightConnector1">
              <a:avLst/>
            </a:prstGeom>
            <a:ln w="12700">
              <a:prstDash val="dash"/>
              <a:tailEnd type="triangle"/>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rot="10800000">
            <a:off x="6141271" y="2040884"/>
            <a:ext cx="2232769" cy="414536"/>
            <a:chOff x="5057224" y="1150174"/>
            <a:chExt cx="3680375" cy="304220"/>
          </a:xfrm>
        </p:grpSpPr>
        <p:cxnSp>
          <p:nvCxnSpPr>
            <p:cNvPr id="31" name="Elbow Connector 30"/>
            <p:cNvCxnSpPr/>
            <p:nvPr/>
          </p:nvCxnSpPr>
          <p:spPr>
            <a:xfrm rot="10800000" flipH="1">
              <a:off x="5057224" y="1155700"/>
              <a:ext cx="3680375" cy="214056"/>
            </a:xfrm>
            <a:prstGeom prst="bentConnector3">
              <a:avLst>
                <a:gd name="adj1" fmla="val 0"/>
              </a:avLst>
            </a:prstGeom>
            <a:ln w="12700">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a:off x="8712200" y="1150174"/>
              <a:ext cx="0" cy="304220"/>
            </a:xfrm>
            <a:prstGeom prst="straightConnector1">
              <a:avLst/>
            </a:prstGeom>
            <a:ln w="12700">
              <a:prstDash val="dash"/>
              <a:tailEnd type="triangle"/>
            </a:ln>
          </p:spPr>
          <p:style>
            <a:lnRef idx="1">
              <a:schemeClr val="accent1"/>
            </a:lnRef>
            <a:fillRef idx="0">
              <a:schemeClr val="accent1"/>
            </a:fillRef>
            <a:effectRef idx="0">
              <a:schemeClr val="accent1"/>
            </a:effectRef>
            <a:fontRef idx="minor">
              <a:schemeClr val="tx1"/>
            </a:fontRef>
          </p:style>
        </p:cxnSp>
      </p:grpSp>
      <p:sp>
        <p:nvSpPr>
          <p:cNvPr id="33" name="Rectangle 32"/>
          <p:cNvSpPr/>
          <p:nvPr/>
        </p:nvSpPr>
        <p:spPr>
          <a:xfrm>
            <a:off x="5399684" y="2274186"/>
            <a:ext cx="3818152" cy="169277"/>
          </a:xfrm>
          <a:prstGeom prst="rect">
            <a:avLst/>
          </a:prstGeom>
        </p:spPr>
        <p:txBody>
          <a:bodyPr wrap="square" lIns="0" tIns="0" rIns="0" bIns="0">
            <a:spAutoFit/>
          </a:bodyPr>
          <a:lstStyle/>
          <a:p>
            <a:pPr algn="ctr"/>
            <a:r>
              <a:rPr lang="en-GB" sz="1100" dirty="0"/>
              <a:t>Average Margin: </a:t>
            </a:r>
            <a:r>
              <a:rPr lang="en-GB" sz="1100" b="1" dirty="0"/>
              <a:t>08– 10%</a:t>
            </a:r>
          </a:p>
        </p:txBody>
      </p:sp>
      <p:sp>
        <p:nvSpPr>
          <p:cNvPr id="34" name="Rectangle 33"/>
          <p:cNvSpPr/>
          <p:nvPr/>
        </p:nvSpPr>
        <p:spPr>
          <a:xfrm>
            <a:off x="8731250" y="6073347"/>
            <a:ext cx="2236424" cy="203629"/>
          </a:xfrm>
          <a:prstGeom prst="rect">
            <a:avLst/>
          </a:prstGeom>
          <a:no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a:r>
              <a:rPr lang="en-US" sz="1100" b="1" dirty="0">
                <a:solidFill>
                  <a:schemeClr val="tx1"/>
                </a:solidFill>
              </a:rPr>
              <a:t>Wholesaler's/Retailers Margin: 3-5%</a:t>
            </a:r>
          </a:p>
        </p:txBody>
      </p:sp>
      <p:sp>
        <p:nvSpPr>
          <p:cNvPr id="41" name="Rectangle 39"/>
          <p:cNvSpPr>
            <a:spLocks noChangeArrowheads="1"/>
          </p:cNvSpPr>
          <p:nvPr/>
        </p:nvSpPr>
        <p:spPr bwMode="auto">
          <a:xfrm>
            <a:off x="5864993" y="4740940"/>
            <a:ext cx="1583998" cy="1275249"/>
          </a:xfrm>
          <a:prstGeom prst="roundRect">
            <a:avLst>
              <a:gd name="adj" fmla="val 1729"/>
            </a:avLst>
          </a:prstGeom>
          <a:ln>
            <a:headEnd/>
            <a:tailEnd/>
          </a:ln>
        </p:spPr>
        <p:style>
          <a:lnRef idx="1">
            <a:schemeClr val="accent3"/>
          </a:lnRef>
          <a:fillRef idx="3">
            <a:schemeClr val="accent3"/>
          </a:fillRef>
          <a:effectRef idx="2">
            <a:schemeClr val="accent3"/>
          </a:effectRef>
          <a:fontRef idx="minor">
            <a:schemeClr val="lt1"/>
          </a:fontRef>
        </p:style>
        <p:txBody>
          <a:bodyPr lIns="54000" tIns="0" rIns="54000" bIns="54000" anchor="ctr"/>
          <a:lstStyle>
            <a:lvl1pPr marL="85725" indent="-85725" eaLnBrk="0" hangingPunct="0">
              <a:spcBef>
                <a:spcPct val="20000"/>
              </a:spcBef>
              <a:buClr>
                <a:srgbClr val="17426B"/>
              </a:buClr>
              <a:buFont typeface="Arial" charset="0"/>
              <a:buChar char="•"/>
              <a:defRPr>
                <a:solidFill>
                  <a:schemeClr val="tx1"/>
                </a:solidFill>
                <a:latin typeface="Arial" charset="0"/>
                <a:cs typeface="Arial" charset="0"/>
              </a:defRPr>
            </a:lvl1pPr>
            <a:lvl2pPr marL="742950" indent="-285750" eaLnBrk="0" hangingPunct="0">
              <a:spcBef>
                <a:spcPct val="20000"/>
              </a:spcBef>
              <a:buClr>
                <a:srgbClr val="17426B"/>
              </a:buClr>
              <a:buFont typeface="Courier New" pitchFamily="49" charset="0"/>
              <a:buChar char="o"/>
              <a:defRPr sz="1600">
                <a:solidFill>
                  <a:schemeClr val="tx1"/>
                </a:solidFill>
                <a:latin typeface="Arial" charset="0"/>
                <a:cs typeface="Arial" charset="0"/>
              </a:defRPr>
            </a:lvl2pPr>
            <a:lvl3pPr marL="1143000" indent="-228600" eaLnBrk="0" hangingPunct="0">
              <a:spcBef>
                <a:spcPct val="20000"/>
              </a:spcBef>
              <a:buClr>
                <a:srgbClr val="17426B"/>
              </a:buClr>
              <a:buFont typeface="Arial" charset="0"/>
              <a:buChar char="•"/>
              <a:defRPr sz="1400">
                <a:solidFill>
                  <a:schemeClr val="tx1"/>
                </a:solidFill>
                <a:latin typeface="Arial" charset="0"/>
                <a:cs typeface="Arial" charset="0"/>
              </a:defRPr>
            </a:lvl3pPr>
            <a:lvl4pPr marL="1600200" indent="-228600" eaLnBrk="0" hangingPunct="0">
              <a:spcBef>
                <a:spcPct val="20000"/>
              </a:spcBef>
              <a:buClr>
                <a:srgbClr val="17426B"/>
              </a:buClr>
              <a:buFont typeface="Courier New" pitchFamily="49" charset="0"/>
              <a:buChar char="o"/>
              <a:defRPr sz="1400">
                <a:solidFill>
                  <a:schemeClr val="tx1"/>
                </a:solidFill>
                <a:latin typeface="Arial" charset="0"/>
                <a:cs typeface="Arial" charset="0"/>
              </a:defRPr>
            </a:lvl4pPr>
            <a:lvl5pPr marL="2057400" indent="-228600" eaLnBrk="0" hangingPunct="0">
              <a:spcBef>
                <a:spcPct val="20000"/>
              </a:spcBef>
              <a:buFont typeface="Arial" charset="0"/>
              <a:defRPr sz="2000">
                <a:solidFill>
                  <a:schemeClr val="tx1"/>
                </a:solidFill>
                <a:latin typeface="Arial" charset="0"/>
                <a:cs typeface="Arial" charset="0"/>
              </a:defRPr>
            </a:lvl5pPr>
            <a:lvl6pPr marL="2514600" indent="-228600" eaLnBrk="0" fontAlgn="base" hangingPunct="0">
              <a:spcBef>
                <a:spcPct val="20000"/>
              </a:spcBef>
              <a:spcAft>
                <a:spcPct val="0"/>
              </a:spcAft>
              <a:buFont typeface="Arial" charset="0"/>
              <a:defRPr sz="2000">
                <a:solidFill>
                  <a:schemeClr val="tx1"/>
                </a:solidFill>
                <a:latin typeface="Arial" charset="0"/>
                <a:cs typeface="Arial" charset="0"/>
              </a:defRPr>
            </a:lvl6pPr>
            <a:lvl7pPr marL="2971800" indent="-228600" eaLnBrk="0" fontAlgn="base" hangingPunct="0">
              <a:spcBef>
                <a:spcPct val="20000"/>
              </a:spcBef>
              <a:spcAft>
                <a:spcPct val="0"/>
              </a:spcAft>
              <a:buFont typeface="Arial" charset="0"/>
              <a:defRPr sz="2000">
                <a:solidFill>
                  <a:schemeClr val="tx1"/>
                </a:solidFill>
                <a:latin typeface="Arial" charset="0"/>
                <a:cs typeface="Arial" charset="0"/>
              </a:defRPr>
            </a:lvl7pPr>
            <a:lvl8pPr marL="3429000" indent="-228600" eaLnBrk="0" fontAlgn="base" hangingPunct="0">
              <a:spcBef>
                <a:spcPct val="20000"/>
              </a:spcBef>
              <a:spcAft>
                <a:spcPct val="0"/>
              </a:spcAft>
              <a:buFont typeface="Arial" charset="0"/>
              <a:defRPr sz="2000">
                <a:solidFill>
                  <a:schemeClr val="tx1"/>
                </a:solidFill>
                <a:latin typeface="Arial" charset="0"/>
                <a:cs typeface="Arial" charset="0"/>
              </a:defRPr>
            </a:lvl8pPr>
            <a:lvl9pPr marL="3886200" indent="-228600" eaLnBrk="0" fontAlgn="base" hangingPunct="0">
              <a:spcBef>
                <a:spcPct val="20000"/>
              </a:spcBef>
              <a:spcAft>
                <a:spcPct val="0"/>
              </a:spcAft>
              <a:buFont typeface="Arial" charset="0"/>
              <a:defRPr sz="2000">
                <a:solidFill>
                  <a:schemeClr val="tx1"/>
                </a:solidFill>
                <a:latin typeface="Arial" charset="0"/>
                <a:cs typeface="Arial" charset="0"/>
              </a:defRPr>
            </a:lvl9pPr>
          </a:lstStyle>
          <a:p>
            <a:pPr marL="173736" indent="-173736" eaLnBrk="1" hangingPunct="1">
              <a:spcBef>
                <a:spcPct val="0"/>
              </a:spcBef>
              <a:buClrTx/>
              <a:buFont typeface="Wingdings" panose="05000000000000000000" pitchFamily="2" charset="2"/>
              <a:buChar char="q"/>
              <a:defRPr/>
            </a:pPr>
            <a:r>
              <a:rPr lang="en-US" altLang="en-US" sz="950" dirty="0" err="1">
                <a:solidFill>
                  <a:schemeClr val="bg1"/>
                </a:solidFill>
              </a:rPr>
              <a:t>CompanyA</a:t>
            </a:r>
            <a:endParaRPr lang="en-US" altLang="en-US" sz="950" dirty="0">
              <a:solidFill>
                <a:schemeClr val="bg1"/>
              </a:solidFill>
            </a:endParaRPr>
          </a:p>
          <a:p>
            <a:pPr marL="173736" indent="-173736" eaLnBrk="1" hangingPunct="1">
              <a:spcBef>
                <a:spcPct val="0"/>
              </a:spcBef>
              <a:buClrTx/>
              <a:buFont typeface="Wingdings" panose="05000000000000000000" pitchFamily="2" charset="2"/>
              <a:buChar char="q"/>
              <a:defRPr/>
            </a:pPr>
            <a:r>
              <a:rPr lang="en-US" altLang="en-US" sz="950" dirty="0" err="1">
                <a:solidFill>
                  <a:schemeClr val="bg1"/>
                </a:solidFill>
              </a:rPr>
              <a:t>CompanyB</a:t>
            </a:r>
            <a:endParaRPr lang="en-US" altLang="en-US" sz="950" dirty="0">
              <a:solidFill>
                <a:schemeClr val="bg1"/>
              </a:solidFill>
            </a:endParaRPr>
          </a:p>
          <a:p>
            <a:pPr marL="173736" indent="-173736" eaLnBrk="1" hangingPunct="1">
              <a:spcBef>
                <a:spcPct val="0"/>
              </a:spcBef>
              <a:buClrTx/>
              <a:buFont typeface="Wingdings" panose="05000000000000000000" pitchFamily="2" charset="2"/>
              <a:buChar char="q"/>
              <a:defRPr/>
            </a:pPr>
            <a:r>
              <a:rPr lang="en-US" altLang="en-US" sz="950" dirty="0" err="1">
                <a:solidFill>
                  <a:schemeClr val="bg1"/>
                </a:solidFill>
              </a:rPr>
              <a:t>CompanyC</a:t>
            </a:r>
            <a:endParaRPr lang="en-US" altLang="en-US" sz="950" dirty="0">
              <a:solidFill>
                <a:schemeClr val="bg1"/>
              </a:solidFill>
            </a:endParaRPr>
          </a:p>
          <a:p>
            <a:pPr marL="173736" indent="-173736" eaLnBrk="1" hangingPunct="1">
              <a:spcBef>
                <a:spcPct val="0"/>
              </a:spcBef>
              <a:buClrTx/>
              <a:buFont typeface="Wingdings" panose="05000000000000000000" pitchFamily="2" charset="2"/>
              <a:buChar char="q"/>
              <a:defRPr/>
            </a:pPr>
            <a:r>
              <a:rPr lang="en-US" altLang="en-US" sz="950" dirty="0" err="1">
                <a:solidFill>
                  <a:schemeClr val="bg1"/>
                </a:solidFill>
              </a:rPr>
              <a:t>CompanyD</a:t>
            </a:r>
            <a:endParaRPr lang="en-US" altLang="en-US" sz="950" dirty="0">
              <a:solidFill>
                <a:schemeClr val="bg1"/>
              </a:solidFill>
            </a:endParaRPr>
          </a:p>
          <a:p>
            <a:pPr marL="173736" indent="-173736" eaLnBrk="1" hangingPunct="1">
              <a:spcBef>
                <a:spcPct val="0"/>
              </a:spcBef>
              <a:buClrTx/>
              <a:buFont typeface="Wingdings" panose="05000000000000000000" pitchFamily="2" charset="2"/>
              <a:buChar char="q"/>
              <a:defRPr/>
            </a:pPr>
            <a:r>
              <a:rPr lang="en-US" altLang="en-US" sz="950" dirty="0" err="1">
                <a:solidFill>
                  <a:schemeClr val="bg1"/>
                </a:solidFill>
              </a:rPr>
              <a:t>CompanyE</a:t>
            </a:r>
            <a:endParaRPr lang="en-US" altLang="en-US" sz="950" dirty="0">
              <a:solidFill>
                <a:schemeClr val="bg1"/>
              </a:solidFill>
            </a:endParaRPr>
          </a:p>
          <a:p>
            <a:pPr marL="173736" indent="-173736" eaLnBrk="1" hangingPunct="1">
              <a:spcBef>
                <a:spcPct val="0"/>
              </a:spcBef>
              <a:buClrTx/>
              <a:buFont typeface="Wingdings" panose="05000000000000000000" pitchFamily="2" charset="2"/>
              <a:buChar char="q"/>
              <a:defRPr/>
            </a:pPr>
            <a:r>
              <a:rPr lang="en-US" altLang="en-US" sz="950" dirty="0" err="1">
                <a:solidFill>
                  <a:schemeClr val="bg1"/>
                </a:solidFill>
              </a:rPr>
              <a:t>CompanyF</a:t>
            </a:r>
            <a:endParaRPr lang="en-US" altLang="en-US" sz="950" dirty="0">
              <a:solidFill>
                <a:schemeClr val="bg1"/>
              </a:solidFill>
            </a:endParaRPr>
          </a:p>
        </p:txBody>
      </p:sp>
      <p:sp>
        <p:nvSpPr>
          <p:cNvPr id="45" name="Title 1"/>
          <p:cNvSpPr>
            <a:spLocks noGrp="1"/>
          </p:cNvSpPr>
          <p:nvPr>
            <p:ph type="title"/>
          </p:nvPr>
        </p:nvSpPr>
        <p:spPr/>
        <p:txBody>
          <a:bodyPr/>
          <a:lstStyle/>
          <a:p>
            <a:r>
              <a:rPr lang="en-US" dirty="0"/>
              <a:t>Global WXYZ Market: Value Chain Analysis</a:t>
            </a:r>
          </a:p>
        </p:txBody>
      </p:sp>
      <p:sp>
        <p:nvSpPr>
          <p:cNvPr id="46" name="TextBox 4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54</a:t>
            </a:fld>
            <a:endParaRPr lang="en-GB" dirty="0"/>
          </a:p>
        </p:txBody>
      </p:sp>
    </p:spTree>
    <p:extLst>
      <p:ext uri="{BB962C8B-B14F-4D97-AF65-F5344CB8AC3E}">
        <p14:creationId xmlns:p14="http://schemas.microsoft.com/office/powerpoint/2010/main" val="100995285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Global WXYZ Market: Value Chain Analysis</a:t>
            </a:r>
          </a:p>
        </p:txBody>
      </p:sp>
      <p:grpSp>
        <p:nvGrpSpPr>
          <p:cNvPr id="4" name="Group 3"/>
          <p:cNvGrpSpPr/>
          <p:nvPr/>
        </p:nvGrpSpPr>
        <p:grpSpPr>
          <a:xfrm>
            <a:off x="2103301" y="1384301"/>
            <a:ext cx="7161822" cy="4404498"/>
            <a:chOff x="1036501" y="1384301"/>
            <a:chExt cx="7161822" cy="4404498"/>
          </a:xfrm>
        </p:grpSpPr>
        <p:sp>
          <p:nvSpPr>
            <p:cNvPr id="5" name="Rectangle 4"/>
            <p:cNvSpPr/>
            <p:nvPr/>
          </p:nvSpPr>
          <p:spPr>
            <a:xfrm>
              <a:off x="1036501" y="1384301"/>
              <a:ext cx="844088" cy="4127499"/>
            </a:xfrm>
            <a:prstGeom prst="rect">
              <a:avLst/>
            </a:prstGeom>
            <a:solidFill>
              <a:schemeClr val="accent1"/>
            </a:solidFill>
            <a:ln w="3175">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IN" sz="2400" b="1" dirty="0">
                  <a:solidFill>
                    <a:schemeClr val="bg1"/>
                  </a:solidFill>
                </a:rPr>
                <a:t>Manufacturer</a:t>
              </a:r>
              <a:endParaRPr lang="en-GB" sz="2400" b="1" dirty="0">
                <a:solidFill>
                  <a:schemeClr val="bg1"/>
                </a:solidFill>
              </a:endParaRPr>
            </a:p>
          </p:txBody>
        </p:sp>
        <p:sp>
          <p:nvSpPr>
            <p:cNvPr id="6" name="Rectangle 5"/>
            <p:cNvSpPr/>
            <p:nvPr/>
          </p:nvSpPr>
          <p:spPr>
            <a:xfrm>
              <a:off x="3599935" y="1686212"/>
              <a:ext cx="1894840" cy="763155"/>
            </a:xfrm>
            <a:prstGeom prst="rect">
              <a:avLst/>
            </a:prstGeom>
            <a:solidFill>
              <a:schemeClr val="accent1"/>
            </a:solidFill>
            <a:ln w="3175">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800" b="1" dirty="0">
                  <a:solidFill>
                    <a:schemeClr val="bg1"/>
                  </a:solidFill>
                </a:rPr>
                <a:t>Supplier</a:t>
              </a:r>
              <a:endParaRPr lang="en-GB" b="1" dirty="0">
                <a:solidFill>
                  <a:schemeClr val="bg1"/>
                </a:solidFill>
              </a:endParaRPr>
            </a:p>
          </p:txBody>
        </p:sp>
        <p:sp>
          <p:nvSpPr>
            <p:cNvPr id="7" name="Rectangle 6"/>
            <p:cNvSpPr/>
            <p:nvPr/>
          </p:nvSpPr>
          <p:spPr>
            <a:xfrm>
              <a:off x="3599935" y="3251432"/>
              <a:ext cx="1894840" cy="763846"/>
            </a:xfrm>
            <a:prstGeom prst="rect">
              <a:avLst/>
            </a:prstGeom>
            <a:solidFill>
              <a:schemeClr val="accent1"/>
            </a:solidFill>
            <a:ln w="3175">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800" b="1" dirty="0">
                  <a:solidFill>
                    <a:schemeClr val="bg1"/>
                  </a:solidFill>
                </a:rPr>
                <a:t>Installation Service Provider</a:t>
              </a:r>
              <a:endParaRPr lang="en-GB" b="1" dirty="0">
                <a:solidFill>
                  <a:schemeClr val="bg1"/>
                </a:solidFill>
              </a:endParaRPr>
            </a:p>
          </p:txBody>
        </p:sp>
        <p:sp>
          <p:nvSpPr>
            <p:cNvPr id="8" name="Rectangle 7"/>
            <p:cNvSpPr/>
            <p:nvPr/>
          </p:nvSpPr>
          <p:spPr>
            <a:xfrm>
              <a:off x="3599935" y="4974938"/>
              <a:ext cx="1894840" cy="743526"/>
            </a:xfrm>
            <a:prstGeom prst="rect">
              <a:avLst/>
            </a:prstGeom>
            <a:solidFill>
              <a:schemeClr val="accent1"/>
            </a:solidFill>
            <a:ln w="3175">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b="1" dirty="0">
                  <a:solidFill>
                    <a:schemeClr val="bg1"/>
                  </a:solidFill>
                </a:rPr>
                <a:t>System Contractor</a:t>
              </a:r>
              <a:endParaRPr lang="en-GB" b="1" dirty="0">
                <a:solidFill>
                  <a:schemeClr val="bg1"/>
                </a:solidFill>
              </a:endParaRPr>
            </a:p>
          </p:txBody>
        </p:sp>
        <p:cxnSp>
          <p:nvCxnSpPr>
            <p:cNvPr id="9" name="Straight Arrow Connector 8"/>
            <p:cNvCxnSpPr>
              <a:endCxn id="6" idx="1"/>
            </p:cNvCxnSpPr>
            <p:nvPr/>
          </p:nvCxnSpPr>
          <p:spPr>
            <a:xfrm flipV="1">
              <a:off x="1880589" y="2067790"/>
              <a:ext cx="1719346" cy="15703"/>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a:endCxn id="8" idx="1"/>
            </p:cNvCxnSpPr>
            <p:nvPr/>
          </p:nvCxnSpPr>
          <p:spPr>
            <a:xfrm>
              <a:off x="1880589" y="5346701"/>
              <a:ext cx="1719346" cy="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endCxn id="7" idx="1"/>
            </p:cNvCxnSpPr>
            <p:nvPr/>
          </p:nvCxnSpPr>
          <p:spPr>
            <a:xfrm>
              <a:off x="1880589" y="3630252"/>
              <a:ext cx="1719346" cy="3103"/>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a:stCxn id="6" idx="2"/>
              <a:endCxn id="7" idx="0"/>
            </p:cNvCxnSpPr>
            <p:nvPr/>
          </p:nvCxnSpPr>
          <p:spPr>
            <a:xfrm>
              <a:off x="4547355" y="2449367"/>
              <a:ext cx="0" cy="802065"/>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8" idx="0"/>
              <a:endCxn id="7" idx="2"/>
            </p:cNvCxnSpPr>
            <p:nvPr/>
          </p:nvCxnSpPr>
          <p:spPr>
            <a:xfrm flipV="1">
              <a:off x="4547355" y="4015278"/>
              <a:ext cx="0" cy="95966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flipV="1">
              <a:off x="5494775" y="2253729"/>
              <a:ext cx="991296" cy="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6486071" y="2253729"/>
              <a:ext cx="0" cy="281357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flipH="1">
              <a:off x="5494775" y="5092701"/>
              <a:ext cx="991296" cy="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5494775" y="1865342"/>
              <a:ext cx="2703548" cy="3362"/>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5494775" y="3630252"/>
              <a:ext cx="2703548" cy="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5494775" y="5446120"/>
              <a:ext cx="2703548" cy="9568"/>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1934686" y="1726842"/>
              <a:ext cx="1528950" cy="276999"/>
            </a:xfrm>
            <a:prstGeom prst="rect">
              <a:avLst/>
            </a:prstGeom>
            <a:ln>
              <a:solidFill>
                <a:schemeClr val="tx1"/>
              </a:solidFill>
              <a:prstDash val="lgDash"/>
            </a:ln>
          </p:spPr>
          <p:txBody>
            <a:bodyPr wrap="square">
              <a:spAutoFit/>
            </a:bodyPr>
            <a:lstStyle/>
            <a:p>
              <a:r>
                <a:rPr lang="en-US" sz="1200" b="1" dirty="0"/>
                <a:t>Profit Margin: 8-10%</a:t>
              </a:r>
            </a:p>
          </p:txBody>
        </p:sp>
        <p:sp>
          <p:nvSpPr>
            <p:cNvPr id="21" name="Rectangle 20"/>
            <p:cNvSpPr/>
            <p:nvPr/>
          </p:nvSpPr>
          <p:spPr>
            <a:xfrm>
              <a:off x="1943459" y="3258490"/>
              <a:ext cx="1418114" cy="276999"/>
            </a:xfrm>
            <a:prstGeom prst="rect">
              <a:avLst/>
            </a:prstGeom>
            <a:ln>
              <a:solidFill>
                <a:schemeClr val="tx1"/>
              </a:solidFill>
              <a:prstDash val="lgDash"/>
            </a:ln>
          </p:spPr>
          <p:txBody>
            <a:bodyPr wrap="square">
              <a:spAutoFit/>
            </a:bodyPr>
            <a:lstStyle/>
            <a:p>
              <a:r>
                <a:rPr lang="en-US" sz="1200" b="1" dirty="0"/>
                <a:t>Profit Margin: 5-7%</a:t>
              </a:r>
            </a:p>
          </p:txBody>
        </p:sp>
        <p:sp>
          <p:nvSpPr>
            <p:cNvPr id="22" name="Rectangle 21"/>
            <p:cNvSpPr/>
            <p:nvPr/>
          </p:nvSpPr>
          <p:spPr>
            <a:xfrm>
              <a:off x="1943458" y="4974938"/>
              <a:ext cx="1418114" cy="276999"/>
            </a:xfrm>
            <a:prstGeom prst="rect">
              <a:avLst/>
            </a:prstGeom>
            <a:ln>
              <a:solidFill>
                <a:schemeClr val="tx1"/>
              </a:solidFill>
              <a:prstDash val="lgDash"/>
            </a:ln>
          </p:spPr>
          <p:txBody>
            <a:bodyPr wrap="square">
              <a:spAutoFit/>
            </a:bodyPr>
            <a:lstStyle/>
            <a:p>
              <a:r>
                <a:rPr lang="en-US" sz="1200" b="1" dirty="0"/>
                <a:t>Profit Margin: 5-7%</a:t>
              </a:r>
            </a:p>
          </p:txBody>
        </p:sp>
        <p:sp>
          <p:nvSpPr>
            <p:cNvPr id="23" name="Rectangle 22"/>
            <p:cNvSpPr/>
            <p:nvPr/>
          </p:nvSpPr>
          <p:spPr>
            <a:xfrm>
              <a:off x="3599935" y="2527233"/>
              <a:ext cx="825305" cy="646331"/>
            </a:xfrm>
            <a:prstGeom prst="rect">
              <a:avLst/>
            </a:prstGeom>
            <a:ln>
              <a:solidFill>
                <a:schemeClr val="tx1"/>
              </a:solidFill>
              <a:prstDash val="lgDash"/>
            </a:ln>
          </p:spPr>
          <p:txBody>
            <a:bodyPr wrap="square">
              <a:spAutoFit/>
            </a:bodyPr>
            <a:lstStyle/>
            <a:p>
              <a:r>
                <a:rPr lang="en-US" sz="1200" b="1" dirty="0"/>
                <a:t>Profit Margin: 10-12%</a:t>
              </a:r>
            </a:p>
          </p:txBody>
        </p:sp>
        <p:sp>
          <p:nvSpPr>
            <p:cNvPr id="24" name="Rectangle 23"/>
            <p:cNvSpPr/>
            <p:nvPr/>
          </p:nvSpPr>
          <p:spPr>
            <a:xfrm>
              <a:off x="3599935" y="4225619"/>
              <a:ext cx="825305" cy="646331"/>
            </a:xfrm>
            <a:prstGeom prst="rect">
              <a:avLst/>
            </a:prstGeom>
            <a:ln>
              <a:solidFill>
                <a:schemeClr val="tx1"/>
              </a:solidFill>
              <a:prstDash val="lgDash"/>
            </a:ln>
          </p:spPr>
          <p:txBody>
            <a:bodyPr wrap="square">
              <a:spAutoFit/>
            </a:bodyPr>
            <a:lstStyle/>
            <a:p>
              <a:r>
                <a:rPr lang="en-US" sz="1200" b="1" dirty="0"/>
                <a:t>Profit Margin: 80-10%</a:t>
              </a:r>
            </a:p>
          </p:txBody>
        </p:sp>
        <p:sp>
          <p:nvSpPr>
            <p:cNvPr id="25" name="Rectangle 24"/>
            <p:cNvSpPr/>
            <p:nvPr/>
          </p:nvSpPr>
          <p:spPr>
            <a:xfrm>
              <a:off x="6054227" y="1437143"/>
              <a:ext cx="1584643" cy="276999"/>
            </a:xfrm>
            <a:prstGeom prst="rect">
              <a:avLst/>
            </a:prstGeom>
            <a:ln>
              <a:solidFill>
                <a:schemeClr val="tx1"/>
              </a:solidFill>
              <a:prstDash val="lgDash"/>
            </a:ln>
          </p:spPr>
          <p:txBody>
            <a:bodyPr wrap="square">
              <a:spAutoFit/>
            </a:bodyPr>
            <a:lstStyle/>
            <a:p>
              <a:r>
                <a:rPr lang="en-US" sz="1200" b="1" dirty="0"/>
                <a:t>Profit Margin: 15-18%</a:t>
              </a:r>
            </a:p>
          </p:txBody>
        </p:sp>
        <p:sp>
          <p:nvSpPr>
            <p:cNvPr id="26" name="Rectangle 25"/>
            <p:cNvSpPr/>
            <p:nvPr/>
          </p:nvSpPr>
          <p:spPr>
            <a:xfrm>
              <a:off x="6566463" y="3253010"/>
              <a:ext cx="1584643" cy="276999"/>
            </a:xfrm>
            <a:prstGeom prst="rect">
              <a:avLst/>
            </a:prstGeom>
            <a:ln>
              <a:solidFill>
                <a:schemeClr val="tx1"/>
              </a:solidFill>
              <a:prstDash val="lgDash"/>
            </a:ln>
          </p:spPr>
          <p:txBody>
            <a:bodyPr wrap="square">
              <a:spAutoFit/>
            </a:bodyPr>
            <a:lstStyle/>
            <a:p>
              <a:r>
                <a:rPr lang="en-US" sz="1200" b="1" dirty="0"/>
                <a:t>Profit Margin: 12-15%</a:t>
              </a:r>
            </a:p>
          </p:txBody>
        </p:sp>
        <p:sp>
          <p:nvSpPr>
            <p:cNvPr id="27" name="Rectangle 26"/>
            <p:cNvSpPr/>
            <p:nvPr/>
          </p:nvSpPr>
          <p:spPr>
            <a:xfrm>
              <a:off x="6261663" y="5511800"/>
              <a:ext cx="1584643" cy="276999"/>
            </a:xfrm>
            <a:prstGeom prst="rect">
              <a:avLst/>
            </a:prstGeom>
            <a:ln>
              <a:solidFill>
                <a:schemeClr val="tx1"/>
              </a:solidFill>
              <a:prstDash val="lgDash"/>
            </a:ln>
          </p:spPr>
          <p:txBody>
            <a:bodyPr wrap="square">
              <a:spAutoFit/>
            </a:bodyPr>
            <a:lstStyle/>
            <a:p>
              <a:r>
                <a:rPr lang="en-US" sz="1200" b="1" dirty="0"/>
                <a:t>Profit Margin: 10-12%</a:t>
              </a:r>
            </a:p>
          </p:txBody>
        </p:sp>
        <p:sp>
          <p:nvSpPr>
            <p:cNvPr id="28" name="Rectangle 27"/>
            <p:cNvSpPr/>
            <p:nvPr/>
          </p:nvSpPr>
          <p:spPr>
            <a:xfrm>
              <a:off x="5580375" y="4225619"/>
              <a:ext cx="825305" cy="646331"/>
            </a:xfrm>
            <a:prstGeom prst="rect">
              <a:avLst/>
            </a:prstGeom>
            <a:ln>
              <a:solidFill>
                <a:schemeClr val="tx1"/>
              </a:solidFill>
              <a:prstDash val="lgDash"/>
            </a:ln>
          </p:spPr>
          <p:txBody>
            <a:bodyPr wrap="square">
              <a:spAutoFit/>
            </a:bodyPr>
            <a:lstStyle/>
            <a:p>
              <a:r>
                <a:rPr lang="en-US" sz="1200" b="1" dirty="0"/>
                <a:t>Profit Margin: 8-10%</a:t>
              </a:r>
            </a:p>
          </p:txBody>
        </p:sp>
      </p:grpSp>
      <p:sp>
        <p:nvSpPr>
          <p:cNvPr id="29" name="Rectangle 28"/>
          <p:cNvSpPr/>
          <p:nvPr/>
        </p:nvSpPr>
        <p:spPr>
          <a:xfrm>
            <a:off x="9265123" y="1384302"/>
            <a:ext cx="844088" cy="4127499"/>
          </a:xfrm>
          <a:prstGeom prst="rect">
            <a:avLst/>
          </a:prstGeom>
          <a:solidFill>
            <a:schemeClr val="accent1"/>
          </a:solidFill>
          <a:ln w="3175">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IN" sz="2400" b="1" dirty="0">
                <a:solidFill>
                  <a:schemeClr val="bg1"/>
                </a:solidFill>
              </a:rPr>
              <a:t>End-User</a:t>
            </a:r>
            <a:endParaRPr lang="en-GB" sz="2400" b="1" dirty="0">
              <a:solidFill>
                <a:schemeClr val="bg1"/>
              </a:solidFill>
            </a:endParaRPr>
          </a:p>
        </p:txBody>
      </p:sp>
      <p:sp>
        <p:nvSpPr>
          <p:cNvPr id="30" name="TextBox 29"/>
          <p:cNvSpPr txBox="1"/>
          <p:nvPr/>
        </p:nvSpPr>
        <p:spPr>
          <a:xfrm>
            <a:off x="7403206" y="6151337"/>
            <a:ext cx="3540822" cy="153888"/>
          </a:xfrm>
          <a:prstGeom prst="rect">
            <a:avLst/>
          </a:prstGeom>
          <a:noFill/>
        </p:spPr>
        <p:txBody>
          <a:bodyPr wrap="square" lIns="0" tIns="0" rIns="0" bIns="0" rtlCol="0">
            <a:spAutoFit/>
          </a:bodyPr>
          <a:lstStyle/>
          <a:p>
            <a:pPr defTabSz="914400">
              <a:defRPr/>
            </a:pPr>
            <a:r>
              <a:rPr lang="en-IN" sz="1000" i="1" kern="0" dirty="0">
                <a:solidFill>
                  <a:prstClr val="black"/>
                </a:solidFill>
              </a:rPr>
              <a:t>*Note: The figures provided above are for illustration purpose only</a:t>
            </a:r>
            <a:endParaRPr lang="en-US" sz="1000" i="1" kern="0" dirty="0">
              <a:solidFill>
                <a:prstClr val="black"/>
              </a:solidFill>
            </a:endParaRPr>
          </a:p>
        </p:txBody>
      </p:sp>
      <p:sp>
        <p:nvSpPr>
          <p:cNvPr id="31" name="TextBox 30"/>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32" name="Slide Number Placeholder 31"/>
          <p:cNvSpPr>
            <a:spLocks noGrp="1"/>
          </p:cNvSpPr>
          <p:nvPr>
            <p:ph type="sldNum" sz="quarter" idx="4"/>
          </p:nvPr>
        </p:nvSpPr>
        <p:spPr/>
        <p:txBody>
          <a:bodyPr/>
          <a:lstStyle/>
          <a:p>
            <a:fld id="{4B17068C-EB94-40A3-A5F2-664CDD77FDAC}" type="slidenum">
              <a:rPr lang="en-GB" smtClean="0"/>
              <a:pPr/>
              <a:t>55</a:t>
            </a:fld>
            <a:endParaRPr lang="en-GB" dirty="0"/>
          </a:p>
        </p:txBody>
      </p:sp>
    </p:spTree>
    <p:extLst>
      <p:ext uri="{BB962C8B-B14F-4D97-AF65-F5344CB8AC3E}">
        <p14:creationId xmlns:p14="http://schemas.microsoft.com/office/powerpoint/2010/main" val="251003324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 name="Picture 40"/>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1502037" y="2825331"/>
            <a:ext cx="9217951" cy="3401863"/>
          </a:xfrm>
          <a:prstGeom prst="rect">
            <a:avLst/>
          </a:prstGeom>
        </p:spPr>
      </p:pic>
      <p:sp>
        <p:nvSpPr>
          <p:cNvPr id="2" name="Title 1"/>
          <p:cNvSpPr>
            <a:spLocks noGrp="1"/>
          </p:cNvSpPr>
          <p:nvPr>
            <p:ph type="title"/>
          </p:nvPr>
        </p:nvSpPr>
        <p:spPr/>
        <p:txBody>
          <a:bodyPr/>
          <a:lstStyle/>
          <a:p>
            <a:r>
              <a:rPr lang="en-US" dirty="0"/>
              <a:t>Global WXYZ Market: Value Chain Analysis</a:t>
            </a:r>
          </a:p>
        </p:txBody>
      </p:sp>
      <p:sp>
        <p:nvSpPr>
          <p:cNvPr id="4" name="Freeform 3"/>
          <p:cNvSpPr/>
          <p:nvPr/>
        </p:nvSpPr>
        <p:spPr>
          <a:xfrm>
            <a:off x="4714875" y="1536700"/>
            <a:ext cx="2381250" cy="323850"/>
          </a:xfrm>
          <a:custGeom>
            <a:avLst/>
            <a:gdLst>
              <a:gd name="connsiteX0" fmla="*/ 0 w 2381250"/>
              <a:gd name="connsiteY0" fmla="*/ 323850 h 323850"/>
              <a:gd name="connsiteX1" fmla="*/ 0 w 2381250"/>
              <a:gd name="connsiteY1" fmla="*/ 0 h 323850"/>
              <a:gd name="connsiteX2" fmla="*/ 2381250 w 2381250"/>
              <a:gd name="connsiteY2" fmla="*/ 0 h 323850"/>
              <a:gd name="connsiteX3" fmla="*/ 2381250 w 2381250"/>
              <a:gd name="connsiteY3" fmla="*/ 304800 h 323850"/>
            </a:gdLst>
            <a:ahLst/>
            <a:cxnLst>
              <a:cxn ang="0">
                <a:pos x="connsiteX0" y="connsiteY0"/>
              </a:cxn>
              <a:cxn ang="0">
                <a:pos x="connsiteX1" y="connsiteY1"/>
              </a:cxn>
              <a:cxn ang="0">
                <a:pos x="connsiteX2" y="connsiteY2"/>
              </a:cxn>
              <a:cxn ang="0">
                <a:pos x="connsiteX3" y="connsiteY3"/>
              </a:cxn>
            </a:cxnLst>
            <a:rect l="l" t="t" r="r" b="b"/>
            <a:pathLst>
              <a:path w="2381250" h="323850">
                <a:moveTo>
                  <a:pt x="0" y="323850"/>
                </a:moveTo>
                <a:lnTo>
                  <a:pt x="0" y="0"/>
                </a:lnTo>
                <a:lnTo>
                  <a:pt x="2381250" y="0"/>
                </a:lnTo>
                <a:lnTo>
                  <a:pt x="2381250" y="304800"/>
                </a:lnTo>
              </a:path>
            </a:pathLst>
          </a:custGeom>
          <a:noFill/>
          <a:ln>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white"/>
              </a:solidFill>
            </a:endParaRPr>
          </a:p>
        </p:txBody>
      </p:sp>
      <p:grpSp>
        <p:nvGrpSpPr>
          <p:cNvPr id="5" name="Group 4"/>
          <p:cNvGrpSpPr/>
          <p:nvPr/>
        </p:nvGrpSpPr>
        <p:grpSpPr>
          <a:xfrm>
            <a:off x="1538805" y="2022010"/>
            <a:ext cx="2064422" cy="823172"/>
            <a:chOff x="2716741" y="1850322"/>
            <a:chExt cx="2338244" cy="841828"/>
          </a:xfrm>
          <a:solidFill>
            <a:schemeClr val="accent1"/>
          </a:solidFill>
        </p:grpSpPr>
        <p:sp>
          <p:nvSpPr>
            <p:cNvPr id="6" name="Pentagon 5"/>
            <p:cNvSpPr/>
            <p:nvPr/>
          </p:nvSpPr>
          <p:spPr>
            <a:xfrm>
              <a:off x="2716741" y="1850322"/>
              <a:ext cx="2131096" cy="841828"/>
            </a:xfrm>
            <a:prstGeom prst="homePlate">
              <a:avLst/>
            </a:prstGeom>
            <a:grpFill/>
            <a:ln w="12700" cap="flat" cmpd="sng" algn="ctr">
              <a:noFill/>
              <a:prstDash val="solid"/>
              <a:miter lim="800000"/>
            </a:ln>
            <a:effectLst/>
          </p:spPr>
          <p:txBody>
            <a:bodyPr rtlCol="0" anchor="ctr"/>
            <a:lstStyle/>
            <a:p>
              <a:pPr algn="ctr">
                <a:defRPr/>
              </a:pPr>
              <a:endParaRPr lang="en-GB" kern="0" dirty="0">
                <a:solidFill>
                  <a:prstClr val="white"/>
                </a:solidFill>
              </a:endParaRPr>
            </a:p>
          </p:txBody>
        </p:sp>
        <p:sp>
          <p:nvSpPr>
            <p:cNvPr id="7" name="Chevron 6"/>
            <p:cNvSpPr/>
            <p:nvPr/>
          </p:nvSpPr>
          <p:spPr>
            <a:xfrm>
              <a:off x="3696496" y="1857600"/>
              <a:ext cx="863600" cy="817655"/>
            </a:xfrm>
            <a:prstGeom prst="chevron">
              <a:avLst>
                <a:gd name="adj" fmla="val 50283"/>
              </a:avLst>
            </a:prstGeom>
            <a:grpFill/>
            <a:ln w="12700" cap="flat" cmpd="sng" algn="ctr">
              <a:noFill/>
              <a:prstDash val="solid"/>
              <a:miter lim="800000"/>
            </a:ln>
            <a:effectLst/>
          </p:spPr>
          <p:txBody>
            <a:bodyPr rtlCol="0" anchor="ctr"/>
            <a:lstStyle/>
            <a:p>
              <a:pPr algn="ctr">
                <a:defRPr/>
              </a:pPr>
              <a:endParaRPr lang="en-GB" kern="0" dirty="0">
                <a:solidFill>
                  <a:prstClr val="black"/>
                </a:solidFill>
              </a:endParaRPr>
            </a:p>
          </p:txBody>
        </p:sp>
        <p:sp>
          <p:nvSpPr>
            <p:cNvPr id="8" name="TextBox 7"/>
            <p:cNvSpPr txBox="1"/>
            <p:nvPr/>
          </p:nvSpPr>
          <p:spPr>
            <a:xfrm>
              <a:off x="2770621" y="2027763"/>
              <a:ext cx="1125697" cy="440652"/>
            </a:xfrm>
            <a:prstGeom prst="rect">
              <a:avLst/>
            </a:prstGeom>
            <a:grpFill/>
          </p:spPr>
          <p:txBody>
            <a:bodyPr wrap="square" rtlCol="0" anchor="ctr">
              <a:spAutoFit/>
            </a:bodyPr>
            <a:lstStyle/>
            <a:p>
              <a:pPr algn="ctr">
                <a:defRPr/>
              </a:pPr>
              <a:r>
                <a:rPr lang="en-US" sz="1100" b="1" kern="0" dirty="0">
                  <a:solidFill>
                    <a:prstClr val="white"/>
                  </a:solidFill>
                </a:rPr>
                <a:t>Raw Material Suppliers</a:t>
              </a:r>
              <a:endParaRPr lang="en-GB" sz="1100" b="1" kern="0" dirty="0">
                <a:solidFill>
                  <a:prstClr val="white"/>
                </a:solidFill>
              </a:endParaRPr>
            </a:p>
          </p:txBody>
        </p:sp>
        <p:sp>
          <p:nvSpPr>
            <p:cNvPr id="9" name="TextBox 8"/>
            <p:cNvSpPr txBox="1"/>
            <p:nvPr/>
          </p:nvSpPr>
          <p:spPr>
            <a:xfrm>
              <a:off x="4138626" y="2072389"/>
              <a:ext cx="183379" cy="393440"/>
            </a:xfrm>
            <a:prstGeom prst="rect">
              <a:avLst/>
            </a:prstGeom>
            <a:grpFill/>
          </p:spPr>
          <p:txBody>
            <a:bodyPr wrap="none" lIns="0" tIns="0" rIns="0" bIns="0" rtlCol="0">
              <a:spAutoFit/>
            </a:bodyPr>
            <a:lstStyle/>
            <a:p>
              <a:pPr>
                <a:defRPr/>
              </a:pPr>
              <a:r>
                <a:rPr lang="en-US" sz="2500" b="1" kern="0" dirty="0">
                  <a:solidFill>
                    <a:prstClr val="white"/>
                  </a:solidFill>
                </a:rPr>
                <a:t>1</a:t>
              </a:r>
              <a:endParaRPr lang="en-GB" sz="2500" b="1" kern="0" dirty="0">
                <a:solidFill>
                  <a:prstClr val="white"/>
                </a:solidFill>
              </a:endParaRPr>
            </a:p>
          </p:txBody>
        </p:sp>
        <p:sp>
          <p:nvSpPr>
            <p:cNvPr id="10" name="Chevron 9"/>
            <p:cNvSpPr/>
            <p:nvPr/>
          </p:nvSpPr>
          <p:spPr>
            <a:xfrm>
              <a:off x="4489835" y="1867246"/>
              <a:ext cx="565150" cy="813328"/>
            </a:xfrm>
            <a:prstGeom prst="chevron">
              <a:avLst>
                <a:gd name="adj" fmla="val 77579"/>
              </a:avLst>
            </a:prstGeom>
            <a:grpFill/>
            <a:ln w="12700" cap="flat" cmpd="sng" algn="ctr">
              <a:solidFill>
                <a:srgbClr val="C9D4B4"/>
              </a:solidFill>
              <a:prstDash val="solid"/>
              <a:miter lim="800000"/>
            </a:ln>
            <a:effectLst/>
          </p:spPr>
          <p:txBody>
            <a:bodyPr rtlCol="0" anchor="ctr"/>
            <a:lstStyle/>
            <a:p>
              <a:pPr algn="ctr">
                <a:defRPr/>
              </a:pPr>
              <a:endParaRPr lang="en-US" kern="0" dirty="0">
                <a:solidFill>
                  <a:prstClr val="black"/>
                </a:solidFill>
              </a:endParaRPr>
            </a:p>
          </p:txBody>
        </p:sp>
      </p:grpSp>
      <p:grpSp>
        <p:nvGrpSpPr>
          <p:cNvPr id="11" name="Group 10"/>
          <p:cNvGrpSpPr/>
          <p:nvPr/>
        </p:nvGrpSpPr>
        <p:grpSpPr>
          <a:xfrm>
            <a:off x="8431983" y="2022010"/>
            <a:ext cx="1961128" cy="841828"/>
            <a:chOff x="4964768" y="2766933"/>
            <a:chExt cx="2328266" cy="841828"/>
          </a:xfrm>
          <a:solidFill>
            <a:schemeClr val="accent2">
              <a:lumMod val="40000"/>
              <a:lumOff val="60000"/>
            </a:schemeClr>
          </a:solidFill>
        </p:grpSpPr>
        <p:sp>
          <p:nvSpPr>
            <p:cNvPr id="12" name="Pentagon 11"/>
            <p:cNvSpPr/>
            <p:nvPr/>
          </p:nvSpPr>
          <p:spPr>
            <a:xfrm rot="10800000" flipH="1">
              <a:off x="4964768" y="2766933"/>
              <a:ext cx="2130552" cy="841828"/>
            </a:xfrm>
            <a:prstGeom prst="homePlate">
              <a:avLst/>
            </a:prstGeom>
            <a:grpFill/>
            <a:ln w="12700" cap="flat" cmpd="sng" algn="ctr">
              <a:noFill/>
              <a:prstDash val="solid"/>
              <a:miter lim="800000"/>
            </a:ln>
            <a:effectLst/>
          </p:spPr>
          <p:txBody>
            <a:bodyPr rtlCol="0" anchor="ctr"/>
            <a:lstStyle/>
            <a:p>
              <a:pPr algn="ctr">
                <a:defRPr/>
              </a:pPr>
              <a:endParaRPr lang="en-GB" kern="0" dirty="0">
                <a:solidFill>
                  <a:prstClr val="white"/>
                </a:solidFill>
              </a:endParaRPr>
            </a:p>
          </p:txBody>
        </p:sp>
        <p:sp>
          <p:nvSpPr>
            <p:cNvPr id="13" name="Chevron 12"/>
            <p:cNvSpPr/>
            <p:nvPr/>
          </p:nvSpPr>
          <p:spPr>
            <a:xfrm>
              <a:off x="5914634" y="2791915"/>
              <a:ext cx="863600" cy="791862"/>
            </a:xfrm>
            <a:prstGeom prst="chevron">
              <a:avLst>
                <a:gd name="adj" fmla="val 50283"/>
              </a:avLst>
            </a:prstGeom>
            <a:grpFill/>
            <a:ln w="12700" cap="flat" cmpd="sng" algn="ctr">
              <a:noFill/>
              <a:prstDash val="solid"/>
              <a:miter lim="800000"/>
            </a:ln>
            <a:effectLst/>
          </p:spPr>
          <p:txBody>
            <a:bodyPr rtlCol="0" anchor="ctr"/>
            <a:lstStyle/>
            <a:p>
              <a:pPr algn="ctr">
                <a:defRPr/>
              </a:pPr>
              <a:endParaRPr lang="en-GB" kern="0" dirty="0">
                <a:solidFill>
                  <a:prstClr val="black"/>
                </a:solidFill>
              </a:endParaRPr>
            </a:p>
          </p:txBody>
        </p:sp>
        <p:sp>
          <p:nvSpPr>
            <p:cNvPr id="14" name="TextBox 13"/>
            <p:cNvSpPr txBox="1"/>
            <p:nvPr/>
          </p:nvSpPr>
          <p:spPr>
            <a:xfrm>
              <a:off x="6413153" y="2981479"/>
              <a:ext cx="192214" cy="384721"/>
            </a:xfrm>
            <a:prstGeom prst="rect">
              <a:avLst/>
            </a:prstGeom>
            <a:grpFill/>
          </p:spPr>
          <p:txBody>
            <a:bodyPr wrap="none" lIns="0" tIns="0" rIns="0" bIns="0" rtlCol="0">
              <a:spAutoFit/>
            </a:bodyPr>
            <a:lstStyle/>
            <a:p>
              <a:pPr>
                <a:defRPr/>
              </a:pPr>
              <a:r>
                <a:rPr lang="en-US" sz="2500" b="1" kern="0" dirty="0">
                  <a:solidFill>
                    <a:prstClr val="black"/>
                  </a:solidFill>
                </a:rPr>
                <a:t>4</a:t>
              </a:r>
              <a:endParaRPr lang="en-GB" sz="2500" b="1" kern="0" dirty="0">
                <a:solidFill>
                  <a:prstClr val="black"/>
                </a:solidFill>
              </a:endParaRPr>
            </a:p>
          </p:txBody>
        </p:sp>
        <p:sp>
          <p:nvSpPr>
            <p:cNvPr id="15" name="Chevron 14"/>
            <p:cNvSpPr/>
            <p:nvPr/>
          </p:nvSpPr>
          <p:spPr>
            <a:xfrm>
              <a:off x="6727884" y="2781425"/>
              <a:ext cx="565150" cy="813328"/>
            </a:xfrm>
            <a:prstGeom prst="chevron">
              <a:avLst>
                <a:gd name="adj" fmla="val 77579"/>
              </a:avLst>
            </a:prstGeom>
            <a:grpFill/>
            <a:ln w="12700" cap="flat" cmpd="sng" algn="ctr">
              <a:solidFill>
                <a:srgbClr val="C9D4B4"/>
              </a:solidFill>
              <a:prstDash val="solid"/>
              <a:miter lim="800000"/>
            </a:ln>
            <a:effectLst/>
          </p:spPr>
          <p:txBody>
            <a:bodyPr rtlCol="0" anchor="ctr"/>
            <a:lstStyle/>
            <a:p>
              <a:pPr algn="ctr">
                <a:defRPr/>
              </a:pPr>
              <a:endParaRPr lang="en-US" kern="0" dirty="0">
                <a:solidFill>
                  <a:prstClr val="black"/>
                </a:solidFill>
              </a:endParaRPr>
            </a:p>
          </p:txBody>
        </p:sp>
        <p:sp>
          <p:nvSpPr>
            <p:cNvPr id="16" name="TextBox 15"/>
            <p:cNvSpPr txBox="1"/>
            <p:nvPr/>
          </p:nvSpPr>
          <p:spPr>
            <a:xfrm>
              <a:off x="4970712" y="3057041"/>
              <a:ext cx="1257829" cy="261610"/>
            </a:xfrm>
            <a:prstGeom prst="rect">
              <a:avLst/>
            </a:prstGeom>
            <a:grpFill/>
          </p:spPr>
          <p:txBody>
            <a:bodyPr wrap="square" rtlCol="0" anchor="ctr">
              <a:spAutoFit/>
            </a:bodyPr>
            <a:lstStyle/>
            <a:p>
              <a:pPr algn="ctr">
                <a:defRPr/>
              </a:pPr>
              <a:r>
                <a:rPr lang="en-GB" sz="1100" b="1" kern="0" dirty="0">
                  <a:solidFill>
                    <a:prstClr val="black"/>
                  </a:solidFill>
                </a:rPr>
                <a:t>Application</a:t>
              </a:r>
            </a:p>
          </p:txBody>
        </p:sp>
      </p:grpSp>
      <p:grpSp>
        <p:nvGrpSpPr>
          <p:cNvPr id="18" name="Group 17"/>
          <p:cNvGrpSpPr/>
          <p:nvPr/>
        </p:nvGrpSpPr>
        <p:grpSpPr>
          <a:xfrm>
            <a:off x="3868329" y="2009573"/>
            <a:ext cx="2072322" cy="841828"/>
            <a:chOff x="4964767" y="2766933"/>
            <a:chExt cx="2328267" cy="841828"/>
          </a:xfrm>
          <a:solidFill>
            <a:schemeClr val="bg1">
              <a:lumMod val="65000"/>
            </a:schemeClr>
          </a:solidFill>
        </p:grpSpPr>
        <p:sp>
          <p:nvSpPr>
            <p:cNvPr id="19" name="Pentagon 18"/>
            <p:cNvSpPr/>
            <p:nvPr/>
          </p:nvSpPr>
          <p:spPr>
            <a:xfrm rot="10800000" flipH="1">
              <a:off x="4964767" y="2766933"/>
              <a:ext cx="2130552" cy="841828"/>
            </a:xfrm>
            <a:prstGeom prst="homePlate">
              <a:avLst/>
            </a:prstGeom>
            <a:grpFill/>
            <a:ln w="12700" cap="flat" cmpd="sng" algn="ctr">
              <a:noFill/>
              <a:prstDash val="solid"/>
              <a:miter lim="800000"/>
            </a:ln>
            <a:effectLst/>
          </p:spPr>
          <p:txBody>
            <a:bodyPr rtlCol="0" anchor="ctr"/>
            <a:lstStyle/>
            <a:p>
              <a:pPr algn="ctr">
                <a:defRPr/>
              </a:pPr>
              <a:endParaRPr lang="en-GB" kern="0" dirty="0">
                <a:solidFill>
                  <a:prstClr val="white"/>
                </a:solidFill>
              </a:endParaRPr>
            </a:p>
          </p:txBody>
        </p:sp>
        <p:sp>
          <p:nvSpPr>
            <p:cNvPr id="20" name="Chevron 19"/>
            <p:cNvSpPr/>
            <p:nvPr/>
          </p:nvSpPr>
          <p:spPr>
            <a:xfrm>
              <a:off x="5934545" y="2771779"/>
              <a:ext cx="863600" cy="773866"/>
            </a:xfrm>
            <a:prstGeom prst="chevron">
              <a:avLst>
                <a:gd name="adj" fmla="val 50283"/>
              </a:avLst>
            </a:prstGeom>
            <a:grpFill/>
            <a:ln w="12700" cap="flat" cmpd="sng" algn="ctr">
              <a:noFill/>
              <a:prstDash val="solid"/>
              <a:miter lim="800000"/>
            </a:ln>
            <a:effectLst/>
          </p:spPr>
          <p:txBody>
            <a:bodyPr rtlCol="0" anchor="ctr"/>
            <a:lstStyle/>
            <a:p>
              <a:pPr algn="ctr">
                <a:defRPr/>
              </a:pPr>
              <a:endParaRPr lang="en-GB" kern="0" dirty="0">
                <a:solidFill>
                  <a:prstClr val="black"/>
                </a:solidFill>
              </a:endParaRPr>
            </a:p>
          </p:txBody>
        </p:sp>
        <p:sp>
          <p:nvSpPr>
            <p:cNvPr id="21" name="TextBox 20"/>
            <p:cNvSpPr txBox="1"/>
            <p:nvPr/>
          </p:nvSpPr>
          <p:spPr>
            <a:xfrm>
              <a:off x="6413153" y="2981479"/>
              <a:ext cx="181900" cy="384721"/>
            </a:xfrm>
            <a:prstGeom prst="rect">
              <a:avLst/>
            </a:prstGeom>
            <a:grpFill/>
          </p:spPr>
          <p:txBody>
            <a:bodyPr wrap="none" lIns="0" tIns="0" rIns="0" bIns="0" rtlCol="0">
              <a:spAutoFit/>
            </a:bodyPr>
            <a:lstStyle/>
            <a:p>
              <a:pPr>
                <a:defRPr/>
              </a:pPr>
              <a:r>
                <a:rPr lang="en-GB" sz="2500" b="1" kern="0" dirty="0">
                  <a:solidFill>
                    <a:prstClr val="black"/>
                  </a:solidFill>
                </a:rPr>
                <a:t>2</a:t>
              </a:r>
            </a:p>
          </p:txBody>
        </p:sp>
        <p:sp>
          <p:nvSpPr>
            <p:cNvPr id="22" name="Chevron 21"/>
            <p:cNvSpPr/>
            <p:nvPr/>
          </p:nvSpPr>
          <p:spPr>
            <a:xfrm>
              <a:off x="6727884" y="2781425"/>
              <a:ext cx="565150" cy="813328"/>
            </a:xfrm>
            <a:prstGeom prst="chevron">
              <a:avLst>
                <a:gd name="adj" fmla="val 77579"/>
              </a:avLst>
            </a:prstGeom>
            <a:grpFill/>
            <a:ln w="12700" cap="flat" cmpd="sng" algn="ctr">
              <a:solidFill>
                <a:srgbClr val="C9D4B4"/>
              </a:solidFill>
              <a:prstDash val="solid"/>
              <a:miter lim="800000"/>
            </a:ln>
            <a:effectLst/>
          </p:spPr>
          <p:txBody>
            <a:bodyPr rtlCol="0" anchor="ctr"/>
            <a:lstStyle/>
            <a:p>
              <a:pPr algn="ctr">
                <a:defRPr/>
              </a:pPr>
              <a:endParaRPr lang="en-US" kern="0" dirty="0">
                <a:solidFill>
                  <a:prstClr val="black"/>
                </a:solidFill>
              </a:endParaRPr>
            </a:p>
          </p:txBody>
        </p:sp>
        <p:sp>
          <p:nvSpPr>
            <p:cNvPr id="23" name="TextBox 22"/>
            <p:cNvSpPr txBox="1"/>
            <p:nvPr/>
          </p:nvSpPr>
          <p:spPr>
            <a:xfrm>
              <a:off x="4979012" y="2982943"/>
              <a:ext cx="1344738" cy="430887"/>
            </a:xfrm>
            <a:prstGeom prst="rect">
              <a:avLst/>
            </a:prstGeom>
            <a:grpFill/>
          </p:spPr>
          <p:txBody>
            <a:bodyPr wrap="square" rtlCol="0" anchor="ctr">
              <a:spAutoFit/>
            </a:bodyPr>
            <a:lstStyle/>
            <a:p>
              <a:pPr algn="ctr">
                <a:defRPr/>
              </a:pPr>
              <a:r>
                <a:rPr lang="en-US" sz="1100" b="1" kern="0" dirty="0">
                  <a:solidFill>
                    <a:prstClr val="black"/>
                  </a:solidFill>
                </a:rPr>
                <a:t>WXYZ Manufacturers</a:t>
              </a:r>
            </a:p>
          </p:txBody>
        </p:sp>
      </p:grpSp>
      <p:grpSp>
        <p:nvGrpSpPr>
          <p:cNvPr id="24" name="Group 23"/>
          <p:cNvGrpSpPr/>
          <p:nvPr/>
        </p:nvGrpSpPr>
        <p:grpSpPr>
          <a:xfrm>
            <a:off x="6205753" y="2015792"/>
            <a:ext cx="1961128" cy="841828"/>
            <a:chOff x="4964768" y="2766933"/>
            <a:chExt cx="2328266" cy="841828"/>
          </a:xfrm>
          <a:solidFill>
            <a:schemeClr val="accent1">
              <a:lumMod val="20000"/>
              <a:lumOff val="80000"/>
            </a:schemeClr>
          </a:solidFill>
        </p:grpSpPr>
        <p:sp>
          <p:nvSpPr>
            <p:cNvPr id="25" name="Pentagon 24"/>
            <p:cNvSpPr/>
            <p:nvPr/>
          </p:nvSpPr>
          <p:spPr>
            <a:xfrm rot="10800000" flipH="1">
              <a:off x="4964768" y="2766933"/>
              <a:ext cx="2130552" cy="841828"/>
            </a:xfrm>
            <a:prstGeom prst="homePlate">
              <a:avLst/>
            </a:prstGeom>
            <a:grpFill/>
            <a:ln w="12700" cap="flat" cmpd="sng" algn="ctr">
              <a:noFill/>
              <a:prstDash val="solid"/>
              <a:miter lim="800000"/>
            </a:ln>
            <a:effectLst/>
          </p:spPr>
          <p:txBody>
            <a:bodyPr rtlCol="0" anchor="ctr"/>
            <a:lstStyle/>
            <a:p>
              <a:pPr algn="ctr">
                <a:defRPr/>
              </a:pPr>
              <a:endParaRPr lang="en-GB" kern="0" dirty="0">
                <a:solidFill>
                  <a:prstClr val="white"/>
                </a:solidFill>
              </a:endParaRPr>
            </a:p>
          </p:txBody>
        </p:sp>
        <p:sp>
          <p:nvSpPr>
            <p:cNvPr id="26" name="Chevron 25"/>
            <p:cNvSpPr/>
            <p:nvPr/>
          </p:nvSpPr>
          <p:spPr>
            <a:xfrm>
              <a:off x="5928046" y="2780661"/>
              <a:ext cx="863600" cy="745744"/>
            </a:xfrm>
            <a:prstGeom prst="chevron">
              <a:avLst>
                <a:gd name="adj" fmla="val 50283"/>
              </a:avLst>
            </a:prstGeom>
            <a:grpFill/>
            <a:ln w="12700" cap="flat" cmpd="sng" algn="ctr">
              <a:noFill/>
              <a:prstDash val="solid"/>
              <a:miter lim="800000"/>
            </a:ln>
            <a:effectLst/>
          </p:spPr>
          <p:txBody>
            <a:bodyPr rtlCol="0" anchor="ctr"/>
            <a:lstStyle/>
            <a:p>
              <a:pPr algn="ctr">
                <a:defRPr/>
              </a:pPr>
              <a:endParaRPr lang="en-GB" kern="0" dirty="0">
                <a:solidFill>
                  <a:prstClr val="black"/>
                </a:solidFill>
              </a:endParaRPr>
            </a:p>
          </p:txBody>
        </p:sp>
        <p:sp>
          <p:nvSpPr>
            <p:cNvPr id="27" name="TextBox 26"/>
            <p:cNvSpPr txBox="1"/>
            <p:nvPr/>
          </p:nvSpPr>
          <p:spPr>
            <a:xfrm>
              <a:off x="6413153" y="2981479"/>
              <a:ext cx="192214" cy="384721"/>
            </a:xfrm>
            <a:prstGeom prst="rect">
              <a:avLst/>
            </a:prstGeom>
            <a:grpFill/>
          </p:spPr>
          <p:txBody>
            <a:bodyPr wrap="none" lIns="0" tIns="0" rIns="0" bIns="0" rtlCol="0">
              <a:spAutoFit/>
            </a:bodyPr>
            <a:lstStyle/>
            <a:p>
              <a:pPr>
                <a:defRPr/>
              </a:pPr>
              <a:r>
                <a:rPr lang="en-US" sz="2500" b="1" kern="0" dirty="0">
                  <a:solidFill>
                    <a:prstClr val="black"/>
                  </a:solidFill>
                </a:rPr>
                <a:t>3</a:t>
              </a:r>
              <a:endParaRPr lang="en-GB" sz="2500" b="1" kern="0" dirty="0">
                <a:solidFill>
                  <a:prstClr val="black"/>
                </a:solidFill>
              </a:endParaRPr>
            </a:p>
          </p:txBody>
        </p:sp>
        <p:sp>
          <p:nvSpPr>
            <p:cNvPr id="28" name="Chevron 27"/>
            <p:cNvSpPr/>
            <p:nvPr/>
          </p:nvSpPr>
          <p:spPr>
            <a:xfrm>
              <a:off x="6727884" y="2781425"/>
              <a:ext cx="565150" cy="813328"/>
            </a:xfrm>
            <a:prstGeom prst="chevron">
              <a:avLst>
                <a:gd name="adj" fmla="val 77579"/>
              </a:avLst>
            </a:prstGeom>
            <a:grpFill/>
            <a:ln w="12700" cap="flat" cmpd="sng" algn="ctr">
              <a:solidFill>
                <a:srgbClr val="C9D4B4"/>
              </a:solidFill>
              <a:prstDash val="solid"/>
              <a:miter lim="800000"/>
            </a:ln>
            <a:effectLst/>
          </p:spPr>
          <p:txBody>
            <a:bodyPr rtlCol="0" anchor="ctr"/>
            <a:lstStyle/>
            <a:p>
              <a:pPr algn="ctr">
                <a:defRPr/>
              </a:pPr>
              <a:endParaRPr lang="en-US" kern="0" dirty="0">
                <a:solidFill>
                  <a:prstClr val="black"/>
                </a:solidFill>
              </a:endParaRPr>
            </a:p>
          </p:txBody>
        </p:sp>
        <p:sp>
          <p:nvSpPr>
            <p:cNvPr id="29" name="TextBox 28"/>
            <p:cNvSpPr txBox="1"/>
            <p:nvPr/>
          </p:nvSpPr>
          <p:spPr>
            <a:xfrm>
              <a:off x="5112157" y="3068041"/>
              <a:ext cx="1050422" cy="261610"/>
            </a:xfrm>
            <a:prstGeom prst="rect">
              <a:avLst/>
            </a:prstGeom>
            <a:grpFill/>
          </p:spPr>
          <p:txBody>
            <a:bodyPr wrap="square" rtlCol="0" anchor="ctr">
              <a:spAutoFit/>
            </a:bodyPr>
            <a:lstStyle/>
            <a:p>
              <a:pPr algn="ctr">
                <a:defRPr/>
              </a:pPr>
              <a:r>
                <a:rPr lang="en-US" sz="1100" b="1" kern="0" dirty="0">
                  <a:solidFill>
                    <a:prstClr val="black"/>
                  </a:solidFill>
                </a:rPr>
                <a:t>Distributers</a:t>
              </a:r>
            </a:p>
          </p:txBody>
        </p:sp>
      </p:grpSp>
      <p:sp>
        <p:nvSpPr>
          <p:cNvPr id="31" name="Freeform 30"/>
          <p:cNvSpPr/>
          <p:nvPr/>
        </p:nvSpPr>
        <p:spPr>
          <a:xfrm>
            <a:off x="4238628" y="1260475"/>
            <a:ext cx="5324475" cy="609600"/>
          </a:xfrm>
          <a:custGeom>
            <a:avLst/>
            <a:gdLst>
              <a:gd name="connsiteX0" fmla="*/ 0 w 5324475"/>
              <a:gd name="connsiteY0" fmla="*/ 609600 h 609600"/>
              <a:gd name="connsiteX1" fmla="*/ 0 w 5324475"/>
              <a:gd name="connsiteY1" fmla="*/ 0 h 609600"/>
              <a:gd name="connsiteX2" fmla="*/ 5324475 w 5324475"/>
              <a:gd name="connsiteY2" fmla="*/ 0 h 609600"/>
              <a:gd name="connsiteX3" fmla="*/ 5324475 w 5324475"/>
              <a:gd name="connsiteY3" fmla="*/ 590550 h 609600"/>
            </a:gdLst>
            <a:ahLst/>
            <a:cxnLst>
              <a:cxn ang="0">
                <a:pos x="connsiteX0" y="connsiteY0"/>
              </a:cxn>
              <a:cxn ang="0">
                <a:pos x="connsiteX1" y="connsiteY1"/>
              </a:cxn>
              <a:cxn ang="0">
                <a:pos x="connsiteX2" y="connsiteY2"/>
              </a:cxn>
              <a:cxn ang="0">
                <a:pos x="connsiteX3" y="connsiteY3"/>
              </a:cxn>
            </a:cxnLst>
            <a:rect l="l" t="t" r="r" b="b"/>
            <a:pathLst>
              <a:path w="5324475" h="609600">
                <a:moveTo>
                  <a:pt x="0" y="609600"/>
                </a:moveTo>
                <a:lnTo>
                  <a:pt x="0" y="0"/>
                </a:lnTo>
                <a:lnTo>
                  <a:pt x="5324475" y="0"/>
                </a:lnTo>
                <a:lnTo>
                  <a:pt x="5324475" y="590550"/>
                </a:lnTo>
              </a:path>
            </a:pathLst>
          </a:custGeom>
          <a:noFill/>
          <a:ln>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prstClr val="black"/>
              </a:solidFill>
            </a:endParaRPr>
          </a:p>
        </p:txBody>
      </p:sp>
      <p:sp>
        <p:nvSpPr>
          <p:cNvPr id="32" name="Rectangle 31"/>
          <p:cNvSpPr/>
          <p:nvPr/>
        </p:nvSpPr>
        <p:spPr>
          <a:xfrm>
            <a:off x="5368499" y="1392270"/>
            <a:ext cx="1220509" cy="369878"/>
          </a:xfrm>
          <a:prstGeom prst="rect">
            <a:avLst/>
          </a:prstGeom>
          <a:solidFill>
            <a:srgbClr val="7AB287"/>
          </a:solidFill>
          <a:ln w="12700" cap="flat" cmpd="sng" algn="ctr">
            <a:noFill/>
            <a:prstDash val="solid"/>
            <a:miter lim="800000"/>
          </a:ln>
          <a:effectLst/>
        </p:spPr>
        <p:txBody>
          <a:bodyPr rtlCol="0" anchor="ctr"/>
          <a:lstStyle/>
          <a:p>
            <a:pPr algn="ctr">
              <a:defRPr/>
            </a:pPr>
            <a:r>
              <a:rPr lang="en-GB" sz="1000" b="1" kern="0" dirty="0">
                <a:solidFill>
                  <a:prstClr val="black"/>
                </a:solidFill>
              </a:rPr>
              <a:t>Profitability Margin </a:t>
            </a:r>
            <a:r>
              <a:rPr lang="en-GB" sz="1200" b="1" kern="0" dirty="0">
                <a:solidFill>
                  <a:prstClr val="black"/>
                </a:solidFill>
              </a:rPr>
              <a:t>(08%–10%)</a:t>
            </a:r>
          </a:p>
        </p:txBody>
      </p:sp>
      <p:sp>
        <p:nvSpPr>
          <p:cNvPr id="34" name="Rectangle 33"/>
          <p:cNvSpPr/>
          <p:nvPr/>
        </p:nvSpPr>
        <p:spPr>
          <a:xfrm>
            <a:off x="7821729" y="1156729"/>
            <a:ext cx="1220509" cy="369878"/>
          </a:xfrm>
          <a:prstGeom prst="rect">
            <a:avLst/>
          </a:prstGeom>
          <a:solidFill>
            <a:srgbClr val="7AB287"/>
          </a:solidFill>
          <a:ln w="12700" cap="flat" cmpd="sng" algn="ctr">
            <a:noFill/>
            <a:prstDash val="solid"/>
            <a:miter lim="800000"/>
          </a:ln>
          <a:effectLst/>
        </p:spPr>
        <p:txBody>
          <a:bodyPr rtlCol="0" anchor="ctr"/>
          <a:lstStyle/>
          <a:p>
            <a:pPr algn="ctr">
              <a:defRPr/>
            </a:pPr>
            <a:r>
              <a:rPr lang="en-GB" sz="1000" b="1" kern="0" dirty="0">
                <a:solidFill>
                  <a:prstClr val="black"/>
                </a:solidFill>
              </a:rPr>
              <a:t>Profitability Margin </a:t>
            </a:r>
            <a:r>
              <a:rPr lang="en-GB" sz="1200" b="1" kern="0" dirty="0">
                <a:solidFill>
                  <a:prstClr val="black"/>
                </a:solidFill>
              </a:rPr>
              <a:t>(12%–15%)</a:t>
            </a:r>
          </a:p>
        </p:txBody>
      </p:sp>
      <p:sp>
        <p:nvSpPr>
          <p:cNvPr id="35" name="Rounded Rectangle 34"/>
          <p:cNvSpPr/>
          <p:nvPr/>
        </p:nvSpPr>
        <p:spPr>
          <a:xfrm>
            <a:off x="3708368" y="2888448"/>
            <a:ext cx="2371107" cy="3336045"/>
          </a:xfrm>
          <a:prstGeom prst="roundRect">
            <a:avLst/>
          </a:prstGeom>
          <a:noFill/>
          <a:ln w="12700" cap="flat" cmpd="sng" algn="ctr">
            <a:noFill/>
            <a:prstDash val="solid"/>
            <a:miter lim="800000"/>
          </a:ln>
          <a:effectLst/>
        </p:spPr>
        <p:txBody>
          <a:bodyPr rtlCol="0" anchor="t"/>
          <a:lstStyle/>
          <a:p>
            <a:pPr marL="228600" indent="-228600">
              <a:spcBef>
                <a:spcPts val="200"/>
              </a:spcBef>
              <a:spcAft>
                <a:spcPts val="200"/>
              </a:spcAft>
              <a:buFont typeface="Wingdings" panose="05000000000000000000" pitchFamily="2" charset="2"/>
              <a:buChar char="q"/>
              <a:defRPr/>
            </a:pPr>
            <a:r>
              <a:rPr lang="en-US" sz="1200" kern="0" dirty="0" err="1">
                <a:solidFill>
                  <a:prstClr val="black"/>
                </a:solidFill>
              </a:rPr>
              <a:t>CompanyA</a:t>
            </a:r>
            <a:endParaRPr lang="en-US" sz="1200" kern="0" dirty="0">
              <a:solidFill>
                <a:prstClr val="black"/>
              </a:solidFill>
            </a:endParaRPr>
          </a:p>
          <a:p>
            <a:pPr marL="228600" indent="-228600">
              <a:spcBef>
                <a:spcPts val="200"/>
              </a:spcBef>
              <a:spcAft>
                <a:spcPts val="200"/>
              </a:spcAft>
              <a:buFont typeface="Wingdings" panose="05000000000000000000" pitchFamily="2" charset="2"/>
              <a:buChar char="q"/>
              <a:defRPr/>
            </a:pPr>
            <a:r>
              <a:rPr lang="en-US" sz="1200" kern="0" dirty="0" err="1">
                <a:solidFill>
                  <a:prstClr val="black"/>
                </a:solidFill>
              </a:rPr>
              <a:t>CompanyB</a:t>
            </a:r>
            <a:endParaRPr lang="en-US" sz="1200" kern="0" dirty="0">
              <a:solidFill>
                <a:prstClr val="black"/>
              </a:solidFill>
            </a:endParaRPr>
          </a:p>
          <a:p>
            <a:pPr marL="228600" indent="-228600">
              <a:spcBef>
                <a:spcPts val="200"/>
              </a:spcBef>
              <a:spcAft>
                <a:spcPts val="200"/>
              </a:spcAft>
              <a:buFont typeface="Wingdings" panose="05000000000000000000" pitchFamily="2" charset="2"/>
              <a:buChar char="q"/>
              <a:defRPr/>
            </a:pPr>
            <a:r>
              <a:rPr lang="en-US" sz="1200" kern="0" dirty="0" err="1">
                <a:solidFill>
                  <a:prstClr val="black"/>
                </a:solidFill>
              </a:rPr>
              <a:t>CompanyC</a:t>
            </a:r>
            <a:endParaRPr lang="en-US" sz="1200" kern="0" dirty="0">
              <a:solidFill>
                <a:prstClr val="black"/>
              </a:solidFill>
            </a:endParaRPr>
          </a:p>
          <a:p>
            <a:pPr marL="228600" indent="-228600">
              <a:spcBef>
                <a:spcPts val="200"/>
              </a:spcBef>
              <a:spcAft>
                <a:spcPts val="200"/>
              </a:spcAft>
              <a:buFont typeface="Wingdings" panose="05000000000000000000" pitchFamily="2" charset="2"/>
              <a:buChar char="q"/>
              <a:defRPr/>
            </a:pPr>
            <a:r>
              <a:rPr lang="en-US" sz="1200" kern="0" dirty="0" err="1">
                <a:solidFill>
                  <a:prstClr val="black"/>
                </a:solidFill>
              </a:rPr>
              <a:t>CompanyD</a:t>
            </a:r>
            <a:endParaRPr lang="en-US" sz="1200" kern="0" dirty="0">
              <a:solidFill>
                <a:prstClr val="black"/>
              </a:solidFill>
            </a:endParaRPr>
          </a:p>
          <a:p>
            <a:pPr marL="228600" indent="-228600">
              <a:spcBef>
                <a:spcPts val="200"/>
              </a:spcBef>
              <a:spcAft>
                <a:spcPts val="200"/>
              </a:spcAft>
              <a:buFont typeface="Wingdings" panose="05000000000000000000" pitchFamily="2" charset="2"/>
              <a:buChar char="q"/>
              <a:defRPr/>
            </a:pPr>
            <a:r>
              <a:rPr lang="en-US" sz="1200" kern="0" dirty="0" err="1">
                <a:solidFill>
                  <a:prstClr val="black"/>
                </a:solidFill>
              </a:rPr>
              <a:t>CompanyE</a:t>
            </a:r>
            <a:endParaRPr lang="en-US" sz="1200" kern="0" dirty="0">
              <a:solidFill>
                <a:prstClr val="black"/>
              </a:solidFill>
            </a:endParaRPr>
          </a:p>
          <a:p>
            <a:pPr marL="228600" indent="-228600">
              <a:spcBef>
                <a:spcPts val="200"/>
              </a:spcBef>
              <a:spcAft>
                <a:spcPts val="200"/>
              </a:spcAft>
              <a:buFont typeface="Wingdings" panose="05000000000000000000" pitchFamily="2" charset="2"/>
              <a:buChar char="q"/>
              <a:defRPr/>
            </a:pPr>
            <a:r>
              <a:rPr lang="en-US" sz="1200" kern="0" dirty="0" err="1">
                <a:solidFill>
                  <a:prstClr val="black"/>
                </a:solidFill>
              </a:rPr>
              <a:t>CompanyF</a:t>
            </a:r>
            <a:endParaRPr lang="en-US" sz="1200" kern="0" dirty="0">
              <a:solidFill>
                <a:prstClr val="black"/>
              </a:solidFill>
            </a:endParaRPr>
          </a:p>
          <a:p>
            <a:pPr marL="228600" indent="-228600">
              <a:spcBef>
                <a:spcPts val="200"/>
              </a:spcBef>
              <a:spcAft>
                <a:spcPts val="200"/>
              </a:spcAft>
              <a:buFont typeface="Wingdings" panose="05000000000000000000" pitchFamily="2" charset="2"/>
              <a:buChar char="q"/>
              <a:defRPr/>
            </a:pPr>
            <a:r>
              <a:rPr lang="en-US" sz="1200" kern="0" dirty="0" err="1">
                <a:solidFill>
                  <a:prstClr val="black"/>
                </a:solidFill>
              </a:rPr>
              <a:t>CompanyG</a:t>
            </a:r>
            <a:endParaRPr lang="en-US" sz="1200" kern="0" dirty="0">
              <a:solidFill>
                <a:prstClr val="black"/>
              </a:solidFill>
            </a:endParaRPr>
          </a:p>
          <a:p>
            <a:pPr marL="228600" indent="-228600">
              <a:spcBef>
                <a:spcPts val="200"/>
              </a:spcBef>
              <a:spcAft>
                <a:spcPts val="200"/>
              </a:spcAft>
              <a:buFont typeface="Wingdings" panose="05000000000000000000" pitchFamily="2" charset="2"/>
              <a:buChar char="q"/>
              <a:defRPr/>
            </a:pPr>
            <a:r>
              <a:rPr lang="en-US" sz="1200" kern="0" dirty="0" err="1">
                <a:solidFill>
                  <a:prstClr val="black"/>
                </a:solidFill>
              </a:rPr>
              <a:t>CompanyH</a:t>
            </a:r>
            <a:endParaRPr lang="en-US" sz="1200" kern="0" dirty="0">
              <a:solidFill>
                <a:prstClr val="black"/>
              </a:solidFill>
            </a:endParaRPr>
          </a:p>
          <a:p>
            <a:pPr marL="228600" indent="-228600">
              <a:spcBef>
                <a:spcPts val="200"/>
              </a:spcBef>
              <a:spcAft>
                <a:spcPts val="200"/>
              </a:spcAft>
              <a:buFont typeface="Wingdings" panose="05000000000000000000" pitchFamily="2" charset="2"/>
              <a:buChar char="q"/>
              <a:defRPr/>
            </a:pPr>
            <a:r>
              <a:rPr lang="en-US" sz="1200" kern="0" dirty="0" err="1">
                <a:solidFill>
                  <a:prstClr val="black"/>
                </a:solidFill>
              </a:rPr>
              <a:t>CompanyI</a:t>
            </a:r>
            <a:endParaRPr lang="en-US" sz="1200" kern="0" dirty="0">
              <a:solidFill>
                <a:prstClr val="black"/>
              </a:solidFill>
            </a:endParaRPr>
          </a:p>
          <a:p>
            <a:pPr marL="228600" indent="-228600">
              <a:spcBef>
                <a:spcPts val="200"/>
              </a:spcBef>
              <a:spcAft>
                <a:spcPts val="200"/>
              </a:spcAft>
              <a:buFont typeface="Wingdings" panose="05000000000000000000" pitchFamily="2" charset="2"/>
              <a:buChar char="q"/>
              <a:defRPr/>
            </a:pPr>
            <a:r>
              <a:rPr lang="en-US" sz="1200" kern="0" dirty="0" err="1">
                <a:solidFill>
                  <a:prstClr val="black"/>
                </a:solidFill>
              </a:rPr>
              <a:t>CompanyJ</a:t>
            </a:r>
            <a:endParaRPr lang="en-US" sz="1200" kern="0" dirty="0">
              <a:solidFill>
                <a:prstClr val="black"/>
              </a:solidFill>
            </a:endParaRPr>
          </a:p>
          <a:p>
            <a:pPr marL="228600" indent="-228600">
              <a:spcBef>
                <a:spcPts val="200"/>
              </a:spcBef>
              <a:spcAft>
                <a:spcPts val="200"/>
              </a:spcAft>
              <a:buFont typeface="Wingdings" panose="05000000000000000000" pitchFamily="2" charset="2"/>
              <a:buChar char="q"/>
              <a:defRPr/>
            </a:pPr>
            <a:r>
              <a:rPr lang="en-US" sz="1200" kern="0" dirty="0" err="1">
                <a:solidFill>
                  <a:prstClr val="black"/>
                </a:solidFill>
              </a:rPr>
              <a:t>CompanyK</a:t>
            </a:r>
            <a:endParaRPr lang="en-US" sz="1200" kern="0" dirty="0">
              <a:solidFill>
                <a:prstClr val="black"/>
              </a:solidFill>
            </a:endParaRPr>
          </a:p>
        </p:txBody>
      </p:sp>
      <p:sp>
        <p:nvSpPr>
          <p:cNvPr id="36" name="TextBox 35"/>
          <p:cNvSpPr txBox="1"/>
          <p:nvPr/>
        </p:nvSpPr>
        <p:spPr>
          <a:xfrm>
            <a:off x="7403206" y="6151337"/>
            <a:ext cx="3540822" cy="153888"/>
          </a:xfrm>
          <a:prstGeom prst="rect">
            <a:avLst/>
          </a:prstGeom>
          <a:noFill/>
        </p:spPr>
        <p:txBody>
          <a:bodyPr wrap="square" lIns="0" tIns="0" rIns="0" bIns="0" rtlCol="0">
            <a:spAutoFit/>
          </a:bodyPr>
          <a:lstStyle/>
          <a:p>
            <a:pPr defTabSz="914400">
              <a:defRPr/>
            </a:pPr>
            <a:r>
              <a:rPr lang="en-IN" sz="1000" i="1" kern="0" dirty="0">
                <a:solidFill>
                  <a:prstClr val="black"/>
                </a:solidFill>
              </a:rPr>
              <a:t>*Note: The figures provided above are for illustration purpose only</a:t>
            </a:r>
            <a:endParaRPr lang="en-US" sz="1000" i="1" kern="0" dirty="0">
              <a:solidFill>
                <a:prstClr val="black"/>
              </a:solidFill>
            </a:endParaRPr>
          </a:p>
        </p:txBody>
      </p:sp>
      <p:sp>
        <p:nvSpPr>
          <p:cNvPr id="42" name="TextBox 4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7" name="Slide Number Placeholder 16"/>
          <p:cNvSpPr>
            <a:spLocks noGrp="1"/>
          </p:cNvSpPr>
          <p:nvPr>
            <p:ph type="sldNum" sz="quarter" idx="4"/>
          </p:nvPr>
        </p:nvSpPr>
        <p:spPr/>
        <p:txBody>
          <a:bodyPr/>
          <a:lstStyle/>
          <a:p>
            <a:fld id="{4B17068C-EB94-40A3-A5F2-664CDD77FDAC}" type="slidenum">
              <a:rPr lang="en-GB" smtClean="0"/>
              <a:pPr/>
              <a:t>56</a:t>
            </a:fld>
            <a:endParaRPr lang="en-GB" dirty="0"/>
          </a:p>
        </p:txBody>
      </p:sp>
    </p:spTree>
    <p:extLst>
      <p:ext uri="{BB962C8B-B14F-4D97-AF65-F5344CB8AC3E}">
        <p14:creationId xmlns:p14="http://schemas.microsoft.com/office/powerpoint/2010/main" val="24159592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dirty="0"/>
              <a:t>WXYZ Market : List of Raw Material Suppliers</a:t>
            </a:r>
          </a:p>
        </p:txBody>
      </p:sp>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pic>
        <p:nvPicPr>
          <p:cNvPr id="3" name="Picture 2"/>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307346" y="1110660"/>
            <a:ext cx="11577307" cy="511498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57</a:t>
            </a:fld>
            <a:endParaRPr lang="en-GB" dirty="0"/>
          </a:p>
        </p:txBody>
      </p:sp>
    </p:spTree>
    <p:extLst>
      <p:ext uri="{BB962C8B-B14F-4D97-AF65-F5344CB8AC3E}">
        <p14:creationId xmlns:p14="http://schemas.microsoft.com/office/powerpoint/2010/main" val="1561259383"/>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dirty="0"/>
              <a:t>WXYZ Market : List of Manufacturers</a:t>
            </a:r>
          </a:p>
        </p:txBody>
      </p:sp>
      <p:graphicFrame>
        <p:nvGraphicFramePr>
          <p:cNvPr id="4" name="Content Placeholder 8"/>
          <p:cNvGraphicFramePr>
            <a:graphicFrameLocks/>
          </p:cNvGraphicFramePr>
          <p:nvPr>
            <p:extLst>
              <p:ext uri="{D42A27DB-BD31-4B8C-83A1-F6EECF244321}">
                <p14:modId xmlns:p14="http://schemas.microsoft.com/office/powerpoint/2010/main" val="2001732598"/>
              </p:ext>
            </p:extLst>
          </p:nvPr>
        </p:nvGraphicFramePr>
        <p:xfrm>
          <a:off x="152400" y="1146216"/>
          <a:ext cx="11887200" cy="5025993"/>
        </p:xfrm>
        <a:graphic>
          <a:graphicData uri="http://schemas.openxmlformats.org/drawingml/2006/table">
            <a:tbl>
              <a:tblPr firstRow="1">
                <a:tableStyleId>{B301B821-A1FF-4177-AEE7-76D212191A09}</a:tableStyleId>
              </a:tblPr>
              <a:tblGrid>
                <a:gridCol w="1465858">
                  <a:extLst>
                    <a:ext uri="{9D8B030D-6E8A-4147-A177-3AD203B41FA5}">
                      <a16:colId xmlns:a16="http://schemas.microsoft.com/office/drawing/2014/main" val="20000"/>
                    </a:ext>
                  </a:extLst>
                </a:gridCol>
                <a:gridCol w="6007066">
                  <a:extLst>
                    <a:ext uri="{9D8B030D-6E8A-4147-A177-3AD203B41FA5}">
                      <a16:colId xmlns:a16="http://schemas.microsoft.com/office/drawing/2014/main" val="20001"/>
                    </a:ext>
                  </a:extLst>
                </a:gridCol>
                <a:gridCol w="4414276">
                  <a:extLst>
                    <a:ext uri="{9D8B030D-6E8A-4147-A177-3AD203B41FA5}">
                      <a16:colId xmlns:a16="http://schemas.microsoft.com/office/drawing/2014/main" val="20002"/>
                    </a:ext>
                  </a:extLst>
                </a:gridCol>
              </a:tblGrid>
              <a:tr h="239333">
                <a:tc>
                  <a:txBody>
                    <a:bodyPr/>
                    <a:lstStyle/>
                    <a:p>
                      <a:pPr algn="ctr" fontAlgn="b"/>
                      <a:r>
                        <a:rPr lang="en-US" sz="1200" u="none" strike="noStrike" dirty="0">
                          <a:effectLst/>
                          <a:latin typeface="+mn-lt"/>
                        </a:rPr>
                        <a:t>Sr. No</a:t>
                      </a:r>
                      <a:endParaRPr lang="en-US" sz="1200" b="1" i="0" u="none" strike="noStrike" dirty="0">
                        <a:solidFill>
                          <a:srgbClr val="000000"/>
                        </a:solidFill>
                        <a:effectLst/>
                        <a:latin typeface="+mn-lt"/>
                      </a:endParaRPr>
                    </a:p>
                  </a:txBody>
                  <a:tcPr marL="9358" marR="9358" marT="9358" marB="0" anchor="ctr"/>
                </a:tc>
                <a:tc>
                  <a:txBody>
                    <a:bodyPr/>
                    <a:lstStyle/>
                    <a:p>
                      <a:pPr algn="ctr" fontAlgn="b"/>
                      <a:r>
                        <a:rPr lang="en-US" sz="1200" u="none" strike="noStrike" dirty="0">
                          <a:effectLst/>
                          <a:latin typeface="+mn-lt"/>
                        </a:rPr>
                        <a:t>List of Manufacturers </a:t>
                      </a:r>
                      <a:endParaRPr lang="en-US" sz="1200" b="1" i="0" u="none" strike="noStrike" dirty="0">
                        <a:solidFill>
                          <a:srgbClr val="000000"/>
                        </a:solidFill>
                        <a:effectLst/>
                        <a:latin typeface="+mn-lt"/>
                      </a:endParaRPr>
                    </a:p>
                  </a:txBody>
                  <a:tcPr marL="9358" marR="9358" marT="9358" marB="0" anchor="ctr"/>
                </a:tc>
                <a:tc>
                  <a:txBody>
                    <a:bodyPr/>
                    <a:lstStyle/>
                    <a:p>
                      <a:pPr algn="ctr" fontAlgn="b"/>
                      <a:r>
                        <a:rPr lang="en-US" sz="1200" u="none" strike="noStrike" dirty="0">
                          <a:effectLst/>
                          <a:latin typeface="+mn-lt"/>
                        </a:rPr>
                        <a:t>Location</a:t>
                      </a:r>
                      <a:endParaRPr lang="en-US" sz="1200" b="1" i="0" u="none" strike="noStrike" dirty="0">
                        <a:solidFill>
                          <a:srgbClr val="000000"/>
                        </a:solidFill>
                        <a:effectLst/>
                        <a:latin typeface="+mn-lt"/>
                      </a:endParaRPr>
                    </a:p>
                  </a:txBody>
                  <a:tcPr marL="9358" marR="9358" marT="9358" marB="0" anchor="ctr"/>
                </a:tc>
                <a:extLst>
                  <a:ext uri="{0D108BD9-81ED-4DB2-BD59-A6C34878D82A}">
                    <a16:rowId xmlns:a16="http://schemas.microsoft.com/office/drawing/2014/main" val="10000"/>
                  </a:ext>
                </a:extLst>
              </a:tr>
              <a:tr h="239333">
                <a:tc>
                  <a:txBody>
                    <a:bodyPr/>
                    <a:lstStyle/>
                    <a:p>
                      <a:pPr algn="ctr" fontAlgn="ctr"/>
                      <a:r>
                        <a:rPr lang="en-IN" sz="1200" b="0" i="0" u="none" strike="noStrike" dirty="0">
                          <a:solidFill>
                            <a:schemeClr val="tx1"/>
                          </a:solidFill>
                          <a:effectLst/>
                          <a:latin typeface="+mn-lt"/>
                        </a:rPr>
                        <a:t>1</a:t>
                      </a:r>
                    </a:p>
                  </a:txBody>
                  <a:tcPr marL="9525" marR="9525" marT="9525" marB="0" anchor="ctr"/>
                </a:tc>
                <a:tc>
                  <a:txBody>
                    <a:bodyPr/>
                    <a:lstStyle/>
                    <a:p>
                      <a:pPr algn="ctr" rtl="0" fontAlgn="ctr"/>
                      <a:r>
                        <a:rPr lang="en-IN" sz="1200" b="0" i="0" u="none" strike="noStrike" dirty="0" err="1">
                          <a:solidFill>
                            <a:srgbClr val="000000"/>
                          </a:solidFill>
                          <a:effectLst/>
                          <a:latin typeface="+mn-lt"/>
                        </a:rPr>
                        <a:t>CompanyA</a:t>
                      </a:r>
                      <a:endParaRPr lang="en-IN" sz="1200" b="0" i="0" u="none" strike="noStrike" dirty="0">
                        <a:solidFill>
                          <a:srgbClr val="000000"/>
                        </a:solidFill>
                        <a:effectLst/>
                        <a:latin typeface="+mn-lt"/>
                      </a:endParaRPr>
                    </a:p>
                  </a:txBody>
                  <a:tcPr marL="171450" marR="9525" marT="9525" marB="0" anchor="ctr"/>
                </a:tc>
                <a:tc>
                  <a:txBody>
                    <a:bodyPr/>
                    <a:lstStyle/>
                    <a:p>
                      <a:pPr algn="ctr" fontAlgn="b"/>
                      <a:r>
                        <a:rPr lang="en-US" sz="1200" b="0" i="0" u="none" strike="noStrike" dirty="0">
                          <a:solidFill>
                            <a:srgbClr val="000000"/>
                          </a:solidFill>
                          <a:effectLst/>
                          <a:latin typeface="+mn-lt"/>
                        </a:rPr>
                        <a:t>London, United Kingdom</a:t>
                      </a:r>
                    </a:p>
                  </a:txBody>
                  <a:tcPr marL="9525" marR="9525" marT="9525" marB="0" anchor="ctr"/>
                </a:tc>
                <a:extLst>
                  <a:ext uri="{0D108BD9-81ED-4DB2-BD59-A6C34878D82A}">
                    <a16:rowId xmlns:a16="http://schemas.microsoft.com/office/drawing/2014/main" val="10001"/>
                  </a:ext>
                </a:extLst>
              </a:tr>
              <a:tr h="239333">
                <a:tc>
                  <a:txBody>
                    <a:bodyPr/>
                    <a:lstStyle/>
                    <a:p>
                      <a:pPr algn="ctr" fontAlgn="ctr"/>
                      <a:r>
                        <a:rPr lang="en-IN" sz="1200" b="0" i="0" u="none" strike="noStrike" dirty="0">
                          <a:solidFill>
                            <a:schemeClr val="tx1"/>
                          </a:solidFill>
                          <a:effectLst/>
                          <a:latin typeface="+mn-lt"/>
                        </a:rPr>
                        <a:t>2</a:t>
                      </a:r>
                    </a:p>
                  </a:txBody>
                  <a:tcPr marL="9525" marR="9525" marT="9525" marB="0" anchor="ctr"/>
                </a:tc>
                <a:tc>
                  <a:txBody>
                    <a:bodyPr/>
                    <a:lstStyle/>
                    <a:p>
                      <a:pPr algn="ctr" rtl="0" fontAlgn="ctr"/>
                      <a:r>
                        <a:rPr lang="en-IN" sz="1200" b="0" i="0" u="none" strike="noStrike">
                          <a:solidFill>
                            <a:srgbClr val="000000"/>
                          </a:solidFill>
                          <a:effectLst/>
                          <a:latin typeface="+mn-lt"/>
                        </a:rPr>
                        <a:t>CompanyB</a:t>
                      </a:r>
                    </a:p>
                  </a:txBody>
                  <a:tcPr marL="171450" marR="9525" marT="9525" marB="0" anchor="ctr"/>
                </a:tc>
                <a:tc>
                  <a:txBody>
                    <a:bodyPr/>
                    <a:lstStyle/>
                    <a:p>
                      <a:pPr algn="ctr" fontAlgn="b"/>
                      <a:r>
                        <a:rPr lang="en-US" sz="1200" b="0" i="0" u="none" strike="noStrike">
                          <a:solidFill>
                            <a:srgbClr val="000000"/>
                          </a:solidFill>
                          <a:effectLst/>
                          <a:latin typeface="+mn-lt"/>
                        </a:rPr>
                        <a:t>Chiyoda City, Tokyo, Japan</a:t>
                      </a:r>
                    </a:p>
                  </a:txBody>
                  <a:tcPr marL="9525" marR="9525" marT="9525" marB="0" anchor="ctr"/>
                </a:tc>
                <a:extLst>
                  <a:ext uri="{0D108BD9-81ED-4DB2-BD59-A6C34878D82A}">
                    <a16:rowId xmlns:a16="http://schemas.microsoft.com/office/drawing/2014/main" val="10002"/>
                  </a:ext>
                </a:extLst>
              </a:tr>
              <a:tr h="239333">
                <a:tc>
                  <a:txBody>
                    <a:bodyPr/>
                    <a:lstStyle/>
                    <a:p>
                      <a:pPr algn="ctr" fontAlgn="ctr"/>
                      <a:r>
                        <a:rPr lang="en-IN" sz="1200" b="0" i="0" u="none" strike="noStrike" dirty="0">
                          <a:solidFill>
                            <a:schemeClr val="tx1"/>
                          </a:solidFill>
                          <a:effectLst/>
                          <a:latin typeface="+mn-lt"/>
                        </a:rPr>
                        <a:t>3</a:t>
                      </a:r>
                    </a:p>
                  </a:txBody>
                  <a:tcPr marL="9525" marR="9525" marT="9525" marB="0" anchor="ctr"/>
                </a:tc>
                <a:tc>
                  <a:txBody>
                    <a:bodyPr/>
                    <a:lstStyle/>
                    <a:p>
                      <a:pPr algn="ctr" rtl="0" fontAlgn="ctr"/>
                      <a:r>
                        <a:rPr lang="en-IN" sz="1200" b="0" i="0" u="none" strike="noStrike">
                          <a:solidFill>
                            <a:srgbClr val="000000"/>
                          </a:solidFill>
                          <a:effectLst/>
                          <a:latin typeface="+mn-lt"/>
                        </a:rPr>
                        <a:t>CompanyC</a:t>
                      </a:r>
                    </a:p>
                  </a:txBody>
                  <a:tcPr marL="171450" marR="9525" marT="9525" marB="0" anchor="ctr"/>
                </a:tc>
                <a:tc>
                  <a:txBody>
                    <a:bodyPr/>
                    <a:lstStyle/>
                    <a:p>
                      <a:pPr algn="ctr" fontAlgn="b"/>
                      <a:r>
                        <a:rPr lang="en-US" sz="1200" b="0" i="0" u="none" strike="noStrike">
                          <a:solidFill>
                            <a:srgbClr val="000000"/>
                          </a:solidFill>
                          <a:effectLst/>
                          <a:latin typeface="+mn-lt"/>
                        </a:rPr>
                        <a:t>Rome, Italy</a:t>
                      </a:r>
                    </a:p>
                  </a:txBody>
                  <a:tcPr marL="9525" marR="9525" marT="9525" marB="0" anchor="ctr"/>
                </a:tc>
                <a:extLst>
                  <a:ext uri="{0D108BD9-81ED-4DB2-BD59-A6C34878D82A}">
                    <a16:rowId xmlns:a16="http://schemas.microsoft.com/office/drawing/2014/main" val="10003"/>
                  </a:ext>
                </a:extLst>
              </a:tr>
              <a:tr h="239333">
                <a:tc>
                  <a:txBody>
                    <a:bodyPr/>
                    <a:lstStyle/>
                    <a:p>
                      <a:pPr algn="ctr" fontAlgn="ctr"/>
                      <a:r>
                        <a:rPr lang="en-IN" sz="1200" b="0" i="0" u="none" strike="noStrike" dirty="0">
                          <a:solidFill>
                            <a:schemeClr val="tx1"/>
                          </a:solidFill>
                          <a:effectLst/>
                          <a:latin typeface="+mn-lt"/>
                        </a:rPr>
                        <a:t>4</a:t>
                      </a:r>
                    </a:p>
                  </a:txBody>
                  <a:tcPr marL="9525" marR="9525" marT="9525" marB="0" anchor="ctr"/>
                </a:tc>
                <a:tc>
                  <a:txBody>
                    <a:bodyPr/>
                    <a:lstStyle/>
                    <a:p>
                      <a:pPr algn="ctr" rtl="0" fontAlgn="ctr"/>
                      <a:r>
                        <a:rPr lang="en-IN" sz="1200" b="0" i="0" u="none" strike="noStrike">
                          <a:solidFill>
                            <a:srgbClr val="000000"/>
                          </a:solidFill>
                          <a:effectLst/>
                          <a:latin typeface="+mn-lt"/>
                        </a:rPr>
                        <a:t>CompanyD</a:t>
                      </a:r>
                    </a:p>
                  </a:txBody>
                  <a:tcPr marL="171450" marR="9525" marT="9525" marB="0" anchor="ctr"/>
                </a:tc>
                <a:tc>
                  <a:txBody>
                    <a:bodyPr/>
                    <a:lstStyle/>
                    <a:p>
                      <a:pPr algn="ctr" fontAlgn="b"/>
                      <a:r>
                        <a:rPr lang="en-US" sz="1200" b="0" i="0" u="none" strike="noStrike" dirty="0">
                          <a:solidFill>
                            <a:srgbClr val="4D5156"/>
                          </a:solidFill>
                          <a:effectLst/>
                          <a:latin typeface="+mn-lt"/>
                        </a:rPr>
                        <a:t>United States</a:t>
                      </a:r>
                    </a:p>
                  </a:txBody>
                  <a:tcPr marL="9525" marR="9525" marT="9525" marB="0" anchor="ctr"/>
                </a:tc>
                <a:extLst>
                  <a:ext uri="{0D108BD9-81ED-4DB2-BD59-A6C34878D82A}">
                    <a16:rowId xmlns:a16="http://schemas.microsoft.com/office/drawing/2014/main" val="10004"/>
                  </a:ext>
                </a:extLst>
              </a:tr>
              <a:tr h="239333">
                <a:tc>
                  <a:txBody>
                    <a:bodyPr/>
                    <a:lstStyle/>
                    <a:p>
                      <a:pPr algn="ctr" fontAlgn="ctr"/>
                      <a:r>
                        <a:rPr lang="en-IN" sz="1200" b="0" i="0" u="none" strike="noStrike" dirty="0">
                          <a:solidFill>
                            <a:schemeClr val="tx1"/>
                          </a:solidFill>
                          <a:effectLst/>
                          <a:latin typeface="+mn-lt"/>
                        </a:rPr>
                        <a:t>5</a:t>
                      </a:r>
                    </a:p>
                  </a:txBody>
                  <a:tcPr marL="9525" marR="9525" marT="9525" marB="0" anchor="ctr"/>
                </a:tc>
                <a:tc>
                  <a:txBody>
                    <a:bodyPr/>
                    <a:lstStyle/>
                    <a:p>
                      <a:pPr algn="ctr" rtl="0" fontAlgn="ctr"/>
                      <a:r>
                        <a:rPr lang="en-IN" sz="1200" b="0" i="0" u="none" strike="noStrike">
                          <a:solidFill>
                            <a:srgbClr val="000000"/>
                          </a:solidFill>
                          <a:effectLst/>
                          <a:latin typeface="+mn-lt"/>
                        </a:rPr>
                        <a:t>CompanyE</a:t>
                      </a:r>
                    </a:p>
                  </a:txBody>
                  <a:tcPr marL="171450" marR="9525" marT="9525" marB="0" anchor="ctr"/>
                </a:tc>
                <a:tc>
                  <a:txBody>
                    <a:bodyPr/>
                    <a:lstStyle/>
                    <a:p>
                      <a:pPr algn="ctr" fontAlgn="b"/>
                      <a:r>
                        <a:rPr lang="en-US" sz="1200" b="0" i="0" u="none" strike="noStrike" dirty="0">
                          <a:solidFill>
                            <a:srgbClr val="202124"/>
                          </a:solidFill>
                          <a:effectLst/>
                          <a:latin typeface="+mn-lt"/>
                        </a:rPr>
                        <a:t>South Africa</a:t>
                      </a:r>
                    </a:p>
                  </a:txBody>
                  <a:tcPr marL="9525" marR="9525" marT="9525" marB="0" anchor="ctr"/>
                </a:tc>
                <a:extLst>
                  <a:ext uri="{0D108BD9-81ED-4DB2-BD59-A6C34878D82A}">
                    <a16:rowId xmlns:a16="http://schemas.microsoft.com/office/drawing/2014/main" val="10005"/>
                  </a:ext>
                </a:extLst>
              </a:tr>
              <a:tr h="239333">
                <a:tc>
                  <a:txBody>
                    <a:bodyPr/>
                    <a:lstStyle/>
                    <a:p>
                      <a:pPr algn="ctr" fontAlgn="ctr"/>
                      <a:r>
                        <a:rPr lang="en-IN" sz="1200" b="0" i="0" u="none" strike="noStrike" dirty="0">
                          <a:solidFill>
                            <a:schemeClr val="tx1"/>
                          </a:solidFill>
                          <a:effectLst/>
                          <a:latin typeface="+mn-lt"/>
                        </a:rPr>
                        <a:t>6</a:t>
                      </a:r>
                    </a:p>
                  </a:txBody>
                  <a:tcPr marL="9525" marR="9525" marT="9525" marB="0" anchor="ctr"/>
                </a:tc>
                <a:tc>
                  <a:txBody>
                    <a:bodyPr/>
                    <a:lstStyle/>
                    <a:p>
                      <a:pPr algn="ctr" rtl="0" fontAlgn="ctr"/>
                      <a:r>
                        <a:rPr lang="en-IN" sz="1200" b="0" i="0" u="none" strike="noStrike" dirty="0" err="1">
                          <a:solidFill>
                            <a:srgbClr val="000000"/>
                          </a:solidFill>
                          <a:effectLst/>
                          <a:latin typeface="+mn-lt"/>
                        </a:rPr>
                        <a:t>CompanyF</a:t>
                      </a:r>
                      <a:endParaRPr lang="en-IN" sz="1200" b="0" i="0" u="none" strike="noStrike" dirty="0">
                        <a:solidFill>
                          <a:srgbClr val="000000"/>
                        </a:solidFill>
                        <a:effectLst/>
                        <a:latin typeface="+mn-lt"/>
                      </a:endParaRPr>
                    </a:p>
                  </a:txBody>
                  <a:tcPr marL="171450" marR="9525" marT="9525" marB="0" anchor="ctr"/>
                </a:tc>
                <a:tc>
                  <a:txBody>
                    <a:bodyPr/>
                    <a:lstStyle/>
                    <a:p>
                      <a:pPr algn="ctr" fontAlgn="b"/>
                      <a:r>
                        <a:rPr lang="en-US" sz="1200" b="0" i="0" u="none" strike="noStrike" dirty="0">
                          <a:solidFill>
                            <a:srgbClr val="4D5156"/>
                          </a:solidFill>
                          <a:effectLst/>
                          <a:latin typeface="+mn-lt"/>
                        </a:rPr>
                        <a:t>USA. </a:t>
                      </a:r>
                    </a:p>
                  </a:txBody>
                  <a:tcPr marL="9525" marR="9525" marT="9525" marB="0" anchor="ctr"/>
                </a:tc>
                <a:extLst>
                  <a:ext uri="{0D108BD9-81ED-4DB2-BD59-A6C34878D82A}">
                    <a16:rowId xmlns:a16="http://schemas.microsoft.com/office/drawing/2014/main" val="10006"/>
                  </a:ext>
                </a:extLst>
              </a:tr>
              <a:tr h="239333">
                <a:tc>
                  <a:txBody>
                    <a:bodyPr/>
                    <a:lstStyle/>
                    <a:p>
                      <a:pPr algn="ctr" fontAlgn="ctr"/>
                      <a:r>
                        <a:rPr lang="en-IN" sz="1200" b="0" i="0" u="none" strike="noStrike" dirty="0">
                          <a:solidFill>
                            <a:schemeClr val="tx1"/>
                          </a:solidFill>
                          <a:effectLst/>
                          <a:latin typeface="+mn-lt"/>
                        </a:rPr>
                        <a:t>7</a:t>
                      </a:r>
                    </a:p>
                  </a:txBody>
                  <a:tcPr marL="9525" marR="9525" marT="9525" marB="0" anchor="ctr"/>
                </a:tc>
                <a:tc>
                  <a:txBody>
                    <a:bodyPr/>
                    <a:lstStyle/>
                    <a:p>
                      <a:pPr algn="ctr" rtl="0" fontAlgn="ctr"/>
                      <a:r>
                        <a:rPr lang="en-IN" sz="1200" b="0" i="0" u="none" strike="noStrike" dirty="0" err="1">
                          <a:solidFill>
                            <a:srgbClr val="000000"/>
                          </a:solidFill>
                          <a:effectLst/>
                          <a:latin typeface="+mn-lt"/>
                        </a:rPr>
                        <a:t>CompanyG</a:t>
                      </a:r>
                      <a:endParaRPr lang="en-IN" sz="1200" b="0" i="0" u="none" strike="noStrike" dirty="0">
                        <a:solidFill>
                          <a:srgbClr val="000000"/>
                        </a:solidFill>
                        <a:effectLst/>
                        <a:latin typeface="+mn-lt"/>
                      </a:endParaRPr>
                    </a:p>
                  </a:txBody>
                  <a:tcPr marL="171450" marR="9525" marT="9525" marB="0" anchor="ctr"/>
                </a:tc>
                <a:tc>
                  <a:txBody>
                    <a:bodyPr/>
                    <a:lstStyle/>
                    <a:p>
                      <a:pPr algn="ctr" fontAlgn="b"/>
                      <a:r>
                        <a:rPr lang="en-US" sz="1200" b="0" i="0" u="none" strike="noStrike" dirty="0">
                          <a:solidFill>
                            <a:srgbClr val="000000"/>
                          </a:solidFill>
                          <a:effectLst/>
                          <a:latin typeface="+mn-lt"/>
                        </a:rPr>
                        <a:t>Dunn, North Carolina</a:t>
                      </a:r>
                    </a:p>
                  </a:txBody>
                  <a:tcPr marL="9525" marR="9525" marT="9525" marB="0" anchor="ctr"/>
                </a:tc>
                <a:extLst>
                  <a:ext uri="{0D108BD9-81ED-4DB2-BD59-A6C34878D82A}">
                    <a16:rowId xmlns:a16="http://schemas.microsoft.com/office/drawing/2014/main" val="10007"/>
                  </a:ext>
                </a:extLst>
              </a:tr>
              <a:tr h="239333">
                <a:tc>
                  <a:txBody>
                    <a:bodyPr/>
                    <a:lstStyle/>
                    <a:p>
                      <a:pPr algn="ctr" fontAlgn="ctr"/>
                      <a:r>
                        <a:rPr lang="en-IN" sz="1200" b="0" i="0" u="none" strike="noStrike" dirty="0">
                          <a:solidFill>
                            <a:schemeClr val="tx1"/>
                          </a:solidFill>
                          <a:effectLst/>
                          <a:latin typeface="+mn-lt"/>
                        </a:rPr>
                        <a:t>8</a:t>
                      </a:r>
                    </a:p>
                  </a:txBody>
                  <a:tcPr marL="9525" marR="9525" marT="9525" marB="0" anchor="ctr"/>
                </a:tc>
                <a:tc>
                  <a:txBody>
                    <a:bodyPr/>
                    <a:lstStyle/>
                    <a:p>
                      <a:pPr algn="ctr" rtl="0" fontAlgn="ctr"/>
                      <a:r>
                        <a:rPr lang="en-IN" sz="1200" b="0" i="0" u="none" strike="noStrike" dirty="0" err="1">
                          <a:solidFill>
                            <a:srgbClr val="000000"/>
                          </a:solidFill>
                          <a:effectLst/>
                          <a:latin typeface="+mn-lt"/>
                        </a:rPr>
                        <a:t>CompanyH</a:t>
                      </a:r>
                      <a:endParaRPr lang="en-IN" sz="1200" b="0" i="0" u="none" strike="noStrike" dirty="0">
                        <a:solidFill>
                          <a:srgbClr val="000000"/>
                        </a:solidFill>
                        <a:effectLst/>
                        <a:latin typeface="+mn-lt"/>
                      </a:endParaRPr>
                    </a:p>
                  </a:txBody>
                  <a:tcPr marL="171450" marR="9525" marT="9525" marB="0" anchor="ctr"/>
                </a:tc>
                <a:tc>
                  <a:txBody>
                    <a:bodyPr/>
                    <a:lstStyle/>
                    <a:p>
                      <a:pPr marL="0" algn="ctr" defTabSz="914391" rtl="0" eaLnBrk="1" fontAlgn="b" latinLnBrk="0" hangingPunct="1"/>
                      <a:r>
                        <a:rPr lang="en-US" sz="1200" b="0" i="0" u="none" strike="noStrike" kern="1200" dirty="0">
                          <a:solidFill>
                            <a:srgbClr val="000000"/>
                          </a:solidFill>
                          <a:effectLst/>
                          <a:latin typeface="+mn-lt"/>
                          <a:ea typeface="+mn-ea"/>
                          <a:cs typeface="+mn-cs"/>
                        </a:rPr>
                        <a:t>United States</a:t>
                      </a:r>
                    </a:p>
                  </a:txBody>
                  <a:tcPr marL="9525" marR="9525" marT="9525" marB="0" anchor="ctr"/>
                </a:tc>
                <a:extLst>
                  <a:ext uri="{0D108BD9-81ED-4DB2-BD59-A6C34878D82A}">
                    <a16:rowId xmlns:a16="http://schemas.microsoft.com/office/drawing/2014/main" val="10008"/>
                  </a:ext>
                </a:extLst>
              </a:tr>
              <a:tr h="239333">
                <a:tc>
                  <a:txBody>
                    <a:bodyPr/>
                    <a:lstStyle/>
                    <a:p>
                      <a:pPr algn="ctr" fontAlgn="ctr"/>
                      <a:r>
                        <a:rPr lang="en-IN" sz="1200" b="0" i="0" u="none" strike="noStrike" dirty="0">
                          <a:solidFill>
                            <a:schemeClr val="tx1"/>
                          </a:solidFill>
                          <a:effectLst/>
                          <a:latin typeface="+mn-lt"/>
                        </a:rPr>
                        <a:t>9</a:t>
                      </a:r>
                    </a:p>
                  </a:txBody>
                  <a:tcPr marL="9525" marR="9525" marT="9525" marB="0" anchor="ctr"/>
                </a:tc>
                <a:tc>
                  <a:txBody>
                    <a:bodyPr/>
                    <a:lstStyle/>
                    <a:p>
                      <a:pPr algn="ctr" rtl="0" fontAlgn="ctr"/>
                      <a:r>
                        <a:rPr lang="en-IN" sz="1200" b="0" i="0" u="none" strike="noStrike">
                          <a:solidFill>
                            <a:srgbClr val="000000"/>
                          </a:solidFill>
                          <a:effectLst/>
                          <a:latin typeface="+mn-lt"/>
                        </a:rPr>
                        <a:t>CompanyI</a:t>
                      </a:r>
                    </a:p>
                  </a:txBody>
                  <a:tcPr marL="171450" marR="9525" marT="9525" marB="0" anchor="ctr"/>
                </a:tc>
                <a:tc>
                  <a:txBody>
                    <a:bodyPr/>
                    <a:lstStyle/>
                    <a:p>
                      <a:pPr marL="0" algn="ctr" defTabSz="914391" rtl="0" eaLnBrk="1" fontAlgn="b" latinLnBrk="0" hangingPunct="1"/>
                      <a:r>
                        <a:rPr lang="en-US" sz="1200" b="0" i="0" u="none" strike="noStrike" kern="1200" dirty="0">
                          <a:solidFill>
                            <a:srgbClr val="000000"/>
                          </a:solidFill>
                          <a:effectLst/>
                          <a:latin typeface="+mn-lt"/>
                          <a:ea typeface="+mn-ea"/>
                          <a:cs typeface="+mn-cs"/>
                        </a:rPr>
                        <a:t>near Atlanta, Georgia</a:t>
                      </a:r>
                    </a:p>
                  </a:txBody>
                  <a:tcPr marL="9525" marR="9525" marT="9525" marB="0" anchor="ctr"/>
                </a:tc>
                <a:extLst>
                  <a:ext uri="{0D108BD9-81ED-4DB2-BD59-A6C34878D82A}">
                    <a16:rowId xmlns:a16="http://schemas.microsoft.com/office/drawing/2014/main" val="10009"/>
                  </a:ext>
                </a:extLst>
              </a:tr>
              <a:tr h="239333">
                <a:tc>
                  <a:txBody>
                    <a:bodyPr/>
                    <a:lstStyle/>
                    <a:p>
                      <a:pPr algn="ctr" fontAlgn="ctr"/>
                      <a:r>
                        <a:rPr lang="en-IN" sz="1200" b="0" i="0" u="none" strike="noStrike" dirty="0">
                          <a:solidFill>
                            <a:schemeClr val="tx1"/>
                          </a:solidFill>
                          <a:effectLst/>
                          <a:latin typeface="+mn-lt"/>
                        </a:rPr>
                        <a:t>10</a:t>
                      </a:r>
                    </a:p>
                  </a:txBody>
                  <a:tcPr marL="9525" marR="9525" marT="9525" marB="0" anchor="ctr"/>
                </a:tc>
                <a:tc>
                  <a:txBody>
                    <a:bodyPr/>
                    <a:lstStyle/>
                    <a:p>
                      <a:pPr algn="ctr" rtl="0" fontAlgn="ctr"/>
                      <a:r>
                        <a:rPr lang="en-IN" sz="1200" b="0" i="0" u="none" strike="noStrike">
                          <a:solidFill>
                            <a:srgbClr val="000000"/>
                          </a:solidFill>
                          <a:effectLst/>
                          <a:latin typeface="+mn-lt"/>
                        </a:rPr>
                        <a:t>CompanyJ</a:t>
                      </a:r>
                    </a:p>
                  </a:txBody>
                  <a:tcPr marL="171450" marR="9525" marT="9525" marB="0" anchor="ctr"/>
                </a:tc>
                <a:tc>
                  <a:txBody>
                    <a:bodyPr/>
                    <a:lstStyle/>
                    <a:p>
                      <a:pPr marL="0" algn="ctr" defTabSz="914391" rtl="0" eaLnBrk="1" fontAlgn="b" latinLnBrk="0" hangingPunct="1"/>
                      <a:r>
                        <a:rPr lang="en-US" sz="1200" b="0" i="0" u="none" strike="noStrike" kern="1200" dirty="0">
                          <a:solidFill>
                            <a:srgbClr val="000000"/>
                          </a:solidFill>
                          <a:effectLst/>
                          <a:latin typeface="+mn-lt"/>
                          <a:ea typeface="+mn-ea"/>
                          <a:cs typeface="+mn-cs"/>
                        </a:rPr>
                        <a:t>Beijing, China</a:t>
                      </a:r>
                    </a:p>
                  </a:txBody>
                  <a:tcPr marL="9525" marR="9525" marT="9525" marB="0" anchor="ctr"/>
                </a:tc>
                <a:extLst>
                  <a:ext uri="{0D108BD9-81ED-4DB2-BD59-A6C34878D82A}">
                    <a16:rowId xmlns:a16="http://schemas.microsoft.com/office/drawing/2014/main" val="10010"/>
                  </a:ext>
                </a:extLst>
              </a:tr>
              <a:tr h="239333">
                <a:tc>
                  <a:txBody>
                    <a:bodyPr/>
                    <a:lstStyle/>
                    <a:p>
                      <a:pPr algn="ctr" fontAlgn="ctr"/>
                      <a:r>
                        <a:rPr lang="en-IN" sz="1200" b="0" i="0" u="none" strike="noStrike" dirty="0">
                          <a:solidFill>
                            <a:schemeClr val="tx1"/>
                          </a:solidFill>
                          <a:effectLst/>
                          <a:latin typeface="+mn-lt"/>
                        </a:rPr>
                        <a:t>11</a:t>
                      </a:r>
                    </a:p>
                  </a:txBody>
                  <a:tcPr marL="9525" marR="9525" marT="9525" marB="0" anchor="ctr"/>
                </a:tc>
                <a:tc>
                  <a:txBody>
                    <a:bodyPr/>
                    <a:lstStyle/>
                    <a:p>
                      <a:pPr algn="ctr" rtl="0" fontAlgn="ctr"/>
                      <a:r>
                        <a:rPr lang="en-IN" sz="1200" b="0" i="0" u="none" strike="noStrike" dirty="0" err="1">
                          <a:solidFill>
                            <a:srgbClr val="000000"/>
                          </a:solidFill>
                          <a:effectLst/>
                          <a:latin typeface="+mn-lt"/>
                        </a:rPr>
                        <a:t>CompanyK</a:t>
                      </a:r>
                      <a:endParaRPr lang="en-IN" sz="1200" b="0" i="0" u="none" strike="noStrike" dirty="0">
                        <a:solidFill>
                          <a:srgbClr val="000000"/>
                        </a:solidFill>
                        <a:effectLst/>
                        <a:latin typeface="+mn-lt"/>
                      </a:endParaRPr>
                    </a:p>
                  </a:txBody>
                  <a:tcPr marL="171450" marR="9525" marT="9525" marB="0" anchor="ctr"/>
                </a:tc>
                <a:tc>
                  <a:txBody>
                    <a:bodyPr/>
                    <a:lstStyle/>
                    <a:p>
                      <a:pPr marL="0" algn="ctr" defTabSz="914391" rtl="0" eaLnBrk="1" fontAlgn="b" latinLnBrk="0" hangingPunct="1"/>
                      <a:r>
                        <a:rPr lang="en-US" sz="1200" b="0" i="0" u="none" strike="noStrike" kern="1200" dirty="0">
                          <a:solidFill>
                            <a:srgbClr val="000000"/>
                          </a:solidFill>
                          <a:effectLst/>
                          <a:latin typeface="+mn-lt"/>
                          <a:ea typeface="+mn-ea"/>
                          <a:cs typeface="+mn-cs"/>
                        </a:rPr>
                        <a:t>Beijing, China</a:t>
                      </a:r>
                    </a:p>
                  </a:txBody>
                  <a:tcPr marL="9525" marR="9525" marT="9525" marB="0" anchor="ctr"/>
                </a:tc>
                <a:extLst>
                  <a:ext uri="{0D108BD9-81ED-4DB2-BD59-A6C34878D82A}">
                    <a16:rowId xmlns:a16="http://schemas.microsoft.com/office/drawing/2014/main" val="10011"/>
                  </a:ext>
                </a:extLst>
              </a:tr>
              <a:tr h="239333">
                <a:tc>
                  <a:txBody>
                    <a:bodyPr/>
                    <a:lstStyle/>
                    <a:p>
                      <a:pPr algn="ctr" fontAlgn="ctr"/>
                      <a:r>
                        <a:rPr lang="en-IN" sz="1200" b="0" i="0" u="none" strike="noStrike" dirty="0">
                          <a:solidFill>
                            <a:schemeClr val="tx1"/>
                          </a:solidFill>
                          <a:effectLst/>
                          <a:latin typeface="+mn-lt"/>
                        </a:rPr>
                        <a:t>12</a:t>
                      </a:r>
                    </a:p>
                  </a:txBody>
                  <a:tcPr marL="9525" marR="9525" marT="9525" marB="0" anchor="ctr"/>
                </a:tc>
                <a:tc>
                  <a:txBody>
                    <a:bodyPr/>
                    <a:lstStyle/>
                    <a:p>
                      <a:pPr algn="ctr" rtl="0" fontAlgn="ctr"/>
                      <a:r>
                        <a:rPr lang="en-IN" sz="1200" b="0" i="0" u="none" strike="noStrike" dirty="0" err="1">
                          <a:solidFill>
                            <a:srgbClr val="000000"/>
                          </a:solidFill>
                          <a:effectLst/>
                          <a:latin typeface="+mn-lt"/>
                        </a:rPr>
                        <a:t>CompanyL</a:t>
                      </a:r>
                      <a:endParaRPr lang="en-IN" sz="1200" b="0" i="0" u="none" strike="noStrike" dirty="0">
                        <a:solidFill>
                          <a:srgbClr val="000000"/>
                        </a:solidFill>
                        <a:effectLst/>
                        <a:latin typeface="+mn-lt"/>
                      </a:endParaRPr>
                    </a:p>
                  </a:txBody>
                  <a:tcPr marL="171450" marR="9525" marT="9525" marB="0" anchor="ctr"/>
                </a:tc>
                <a:tc>
                  <a:txBody>
                    <a:bodyPr/>
                    <a:lstStyle/>
                    <a:p>
                      <a:pPr marL="0" algn="ctr" defTabSz="914391" rtl="0" eaLnBrk="1" fontAlgn="b" latinLnBrk="0" hangingPunct="1"/>
                      <a:r>
                        <a:rPr lang="en-US" sz="1200" b="0" i="0" u="none" strike="noStrike" kern="1200" dirty="0">
                          <a:solidFill>
                            <a:srgbClr val="000000"/>
                          </a:solidFill>
                          <a:effectLst/>
                          <a:latin typeface="+mn-lt"/>
                          <a:ea typeface="+mn-ea"/>
                          <a:cs typeface="+mn-cs"/>
                        </a:rPr>
                        <a:t>Moscow, Russia</a:t>
                      </a:r>
                    </a:p>
                  </a:txBody>
                  <a:tcPr marL="9525" marR="9525" marT="9525" marB="0" anchor="ctr"/>
                </a:tc>
                <a:extLst>
                  <a:ext uri="{0D108BD9-81ED-4DB2-BD59-A6C34878D82A}">
                    <a16:rowId xmlns:a16="http://schemas.microsoft.com/office/drawing/2014/main" val="10012"/>
                  </a:ext>
                </a:extLst>
              </a:tr>
              <a:tr h="239333">
                <a:tc>
                  <a:txBody>
                    <a:bodyPr/>
                    <a:lstStyle/>
                    <a:p>
                      <a:pPr algn="ctr" fontAlgn="ctr"/>
                      <a:r>
                        <a:rPr lang="en-IN" sz="1200" b="0" i="0" u="none" strike="noStrike" dirty="0">
                          <a:solidFill>
                            <a:schemeClr val="tx1"/>
                          </a:solidFill>
                          <a:effectLst/>
                          <a:latin typeface="+mn-lt"/>
                        </a:rPr>
                        <a:t>13</a:t>
                      </a:r>
                    </a:p>
                  </a:txBody>
                  <a:tcPr marL="9525" marR="9525" marT="9525" marB="0" anchor="ctr"/>
                </a:tc>
                <a:tc>
                  <a:txBody>
                    <a:bodyPr/>
                    <a:lstStyle/>
                    <a:p>
                      <a:pPr algn="ctr" rtl="0" fontAlgn="ctr"/>
                      <a:r>
                        <a:rPr lang="en-IN" sz="1200" b="0" i="0" u="none" strike="noStrike" dirty="0" err="1">
                          <a:solidFill>
                            <a:srgbClr val="000000"/>
                          </a:solidFill>
                          <a:effectLst/>
                          <a:latin typeface="+mn-lt"/>
                        </a:rPr>
                        <a:t>CompanyM</a:t>
                      </a:r>
                      <a:endParaRPr lang="en-IN" sz="1200" b="0" i="0" u="none" strike="noStrike" dirty="0">
                        <a:solidFill>
                          <a:srgbClr val="000000"/>
                        </a:solidFill>
                        <a:effectLst/>
                        <a:latin typeface="+mn-lt"/>
                      </a:endParaRPr>
                    </a:p>
                  </a:txBody>
                  <a:tcPr marL="171450" marR="9525" marT="9525" marB="0" anchor="ctr"/>
                </a:tc>
                <a:tc>
                  <a:txBody>
                    <a:bodyPr/>
                    <a:lstStyle/>
                    <a:p>
                      <a:pPr algn="ctr" fontAlgn="b"/>
                      <a:r>
                        <a:rPr lang="en-US" sz="1200" b="0" i="0" u="none" strike="noStrike">
                          <a:solidFill>
                            <a:srgbClr val="000000"/>
                          </a:solidFill>
                          <a:effectLst/>
                          <a:latin typeface="+mn-lt"/>
                        </a:rPr>
                        <a:t>New Delhi, India</a:t>
                      </a:r>
                    </a:p>
                  </a:txBody>
                  <a:tcPr marL="9525" marR="9525" marT="9525" marB="0" anchor="ctr"/>
                </a:tc>
                <a:extLst>
                  <a:ext uri="{0D108BD9-81ED-4DB2-BD59-A6C34878D82A}">
                    <a16:rowId xmlns:a16="http://schemas.microsoft.com/office/drawing/2014/main" val="10013"/>
                  </a:ext>
                </a:extLst>
              </a:tr>
              <a:tr h="239333">
                <a:tc>
                  <a:txBody>
                    <a:bodyPr/>
                    <a:lstStyle/>
                    <a:p>
                      <a:pPr algn="ctr" fontAlgn="ctr"/>
                      <a:r>
                        <a:rPr lang="en-IN" sz="1200" b="0" i="0" u="none" strike="noStrike" dirty="0">
                          <a:solidFill>
                            <a:schemeClr val="tx1"/>
                          </a:solidFill>
                          <a:effectLst/>
                          <a:latin typeface="+mn-lt"/>
                        </a:rPr>
                        <a:t>14</a:t>
                      </a:r>
                    </a:p>
                  </a:txBody>
                  <a:tcPr marL="9525" marR="9525" marT="9525" marB="0" anchor="ctr"/>
                </a:tc>
                <a:tc>
                  <a:txBody>
                    <a:bodyPr/>
                    <a:lstStyle/>
                    <a:p>
                      <a:pPr algn="ctr" rtl="0" fontAlgn="ctr"/>
                      <a:r>
                        <a:rPr lang="en-IN" sz="1200" b="0" i="0" u="none" strike="noStrike" dirty="0" err="1">
                          <a:solidFill>
                            <a:srgbClr val="000000"/>
                          </a:solidFill>
                          <a:effectLst/>
                          <a:latin typeface="+mn-lt"/>
                        </a:rPr>
                        <a:t>CompanyN</a:t>
                      </a:r>
                      <a:endParaRPr lang="en-IN" sz="1200" b="0" i="0" u="none" strike="noStrike" dirty="0">
                        <a:solidFill>
                          <a:srgbClr val="000000"/>
                        </a:solidFill>
                        <a:effectLst/>
                        <a:latin typeface="+mn-lt"/>
                      </a:endParaRPr>
                    </a:p>
                  </a:txBody>
                  <a:tcPr marL="171450" marR="9525" marT="9525" marB="0" anchor="ctr"/>
                </a:tc>
                <a:tc>
                  <a:txBody>
                    <a:bodyPr/>
                    <a:lstStyle/>
                    <a:p>
                      <a:pPr algn="ctr" fontAlgn="b"/>
                      <a:r>
                        <a:rPr lang="en-US" sz="1200" b="0" i="0" u="none" strike="noStrike">
                          <a:solidFill>
                            <a:srgbClr val="000000"/>
                          </a:solidFill>
                          <a:effectLst/>
                          <a:latin typeface="+mn-lt"/>
                        </a:rPr>
                        <a:t>Japan</a:t>
                      </a:r>
                    </a:p>
                  </a:txBody>
                  <a:tcPr marL="9525" marR="9525" marT="9525" marB="0" anchor="ctr"/>
                </a:tc>
                <a:extLst>
                  <a:ext uri="{0D108BD9-81ED-4DB2-BD59-A6C34878D82A}">
                    <a16:rowId xmlns:a16="http://schemas.microsoft.com/office/drawing/2014/main" val="10014"/>
                  </a:ext>
                </a:extLst>
              </a:tr>
              <a:tr h="239333">
                <a:tc>
                  <a:txBody>
                    <a:bodyPr/>
                    <a:lstStyle/>
                    <a:p>
                      <a:pPr algn="ctr" fontAlgn="ctr"/>
                      <a:r>
                        <a:rPr lang="en-IN" sz="1200" b="0" i="0" u="none" strike="noStrike" dirty="0">
                          <a:solidFill>
                            <a:schemeClr val="tx1"/>
                          </a:solidFill>
                          <a:effectLst/>
                          <a:latin typeface="+mn-lt"/>
                        </a:rPr>
                        <a:t>15</a:t>
                      </a:r>
                    </a:p>
                  </a:txBody>
                  <a:tcPr marL="9525" marR="9525" marT="9525" marB="0" anchor="ctr"/>
                </a:tc>
                <a:tc>
                  <a:txBody>
                    <a:bodyPr/>
                    <a:lstStyle/>
                    <a:p>
                      <a:pPr algn="ctr" rtl="0" fontAlgn="ctr"/>
                      <a:r>
                        <a:rPr lang="en-IN" sz="1200" b="0" i="0" u="none" strike="noStrike" dirty="0" err="1">
                          <a:solidFill>
                            <a:srgbClr val="000000"/>
                          </a:solidFill>
                          <a:effectLst/>
                          <a:latin typeface="+mn-lt"/>
                        </a:rPr>
                        <a:t>CompanyO</a:t>
                      </a:r>
                      <a:endParaRPr lang="en-IN" sz="1200" b="0" i="0" u="none" strike="noStrike" dirty="0">
                        <a:solidFill>
                          <a:srgbClr val="000000"/>
                        </a:solidFill>
                        <a:effectLst/>
                        <a:latin typeface="+mn-lt"/>
                      </a:endParaRPr>
                    </a:p>
                  </a:txBody>
                  <a:tcPr marL="171450" marR="9525" marT="9525" marB="0" anchor="ctr"/>
                </a:tc>
                <a:tc>
                  <a:txBody>
                    <a:bodyPr/>
                    <a:lstStyle/>
                    <a:p>
                      <a:pPr algn="ctr" fontAlgn="b"/>
                      <a:r>
                        <a:rPr lang="en-US" sz="1200" b="0" i="0" u="none" strike="noStrike">
                          <a:solidFill>
                            <a:srgbClr val="000000"/>
                          </a:solidFill>
                          <a:effectLst/>
                          <a:latin typeface="+mn-lt"/>
                        </a:rPr>
                        <a:t>South Korea</a:t>
                      </a:r>
                    </a:p>
                  </a:txBody>
                  <a:tcPr marL="9525" marR="9525" marT="9525" marB="0" anchor="ctr"/>
                </a:tc>
                <a:extLst>
                  <a:ext uri="{0D108BD9-81ED-4DB2-BD59-A6C34878D82A}">
                    <a16:rowId xmlns:a16="http://schemas.microsoft.com/office/drawing/2014/main" val="4059028479"/>
                  </a:ext>
                </a:extLst>
              </a:tr>
              <a:tr h="239333">
                <a:tc>
                  <a:txBody>
                    <a:bodyPr/>
                    <a:lstStyle/>
                    <a:p>
                      <a:pPr algn="ctr" fontAlgn="ctr"/>
                      <a:r>
                        <a:rPr lang="en-IN" sz="1200" b="0" i="0" u="none" strike="noStrike" dirty="0">
                          <a:solidFill>
                            <a:schemeClr val="tx1"/>
                          </a:solidFill>
                          <a:effectLst/>
                          <a:latin typeface="+mn-lt"/>
                        </a:rPr>
                        <a:t>16</a:t>
                      </a:r>
                    </a:p>
                  </a:txBody>
                  <a:tcPr marL="9525" marR="9525" marT="9525" marB="0" anchor="ctr"/>
                </a:tc>
                <a:tc>
                  <a:txBody>
                    <a:bodyPr/>
                    <a:lstStyle/>
                    <a:p>
                      <a:pPr algn="ctr" rtl="0" fontAlgn="ctr"/>
                      <a:r>
                        <a:rPr lang="en-IN" sz="1200" b="0" i="0" u="none" strike="noStrike" dirty="0" err="1">
                          <a:solidFill>
                            <a:srgbClr val="000000"/>
                          </a:solidFill>
                          <a:effectLst/>
                          <a:latin typeface="+mn-lt"/>
                        </a:rPr>
                        <a:t>CompanyP</a:t>
                      </a:r>
                      <a:endParaRPr lang="en-IN" sz="1200" b="0" i="0" u="none" strike="noStrike" dirty="0">
                        <a:solidFill>
                          <a:srgbClr val="000000"/>
                        </a:solidFill>
                        <a:effectLst/>
                        <a:latin typeface="+mn-lt"/>
                      </a:endParaRPr>
                    </a:p>
                  </a:txBody>
                  <a:tcPr marL="171450" marR="9525" marT="9525" marB="0" anchor="ctr"/>
                </a:tc>
                <a:tc>
                  <a:txBody>
                    <a:bodyPr/>
                    <a:lstStyle/>
                    <a:p>
                      <a:pPr algn="ctr" fontAlgn="b"/>
                      <a:r>
                        <a:rPr lang="en-US" sz="1200" b="0" i="0" u="none" strike="noStrike">
                          <a:solidFill>
                            <a:srgbClr val="202124"/>
                          </a:solidFill>
                          <a:effectLst/>
                          <a:latin typeface="+mn-lt"/>
                        </a:rPr>
                        <a:t>Gurugram, Haryana </a:t>
                      </a:r>
                    </a:p>
                  </a:txBody>
                  <a:tcPr marL="9525" marR="9525" marT="9525" marB="0" anchor="ctr"/>
                </a:tc>
                <a:extLst>
                  <a:ext uri="{0D108BD9-81ED-4DB2-BD59-A6C34878D82A}">
                    <a16:rowId xmlns:a16="http://schemas.microsoft.com/office/drawing/2014/main" val="644112160"/>
                  </a:ext>
                </a:extLst>
              </a:tr>
              <a:tr h="239333">
                <a:tc>
                  <a:txBody>
                    <a:bodyPr/>
                    <a:lstStyle/>
                    <a:p>
                      <a:pPr algn="ctr" fontAlgn="ctr"/>
                      <a:r>
                        <a:rPr lang="en-IN" sz="1200" b="0" i="0" u="none" strike="noStrike" dirty="0">
                          <a:solidFill>
                            <a:schemeClr val="tx1"/>
                          </a:solidFill>
                          <a:effectLst/>
                          <a:latin typeface="+mn-lt"/>
                        </a:rPr>
                        <a:t>17</a:t>
                      </a:r>
                    </a:p>
                  </a:txBody>
                  <a:tcPr marL="9525" marR="9525" marT="9525" marB="0" anchor="ctr"/>
                </a:tc>
                <a:tc>
                  <a:txBody>
                    <a:bodyPr/>
                    <a:lstStyle/>
                    <a:p>
                      <a:pPr algn="ctr" rtl="0" fontAlgn="ctr"/>
                      <a:r>
                        <a:rPr lang="en-IN" sz="1200" b="0" i="0" u="none" strike="noStrike" dirty="0" err="1">
                          <a:solidFill>
                            <a:srgbClr val="000000"/>
                          </a:solidFill>
                          <a:effectLst/>
                          <a:latin typeface="+mn-lt"/>
                        </a:rPr>
                        <a:t>CompanyQ</a:t>
                      </a:r>
                      <a:endParaRPr lang="en-IN" sz="1200" b="0" i="0" u="none" strike="noStrike" dirty="0">
                        <a:solidFill>
                          <a:srgbClr val="000000"/>
                        </a:solidFill>
                        <a:effectLst/>
                        <a:latin typeface="+mn-lt"/>
                      </a:endParaRPr>
                    </a:p>
                  </a:txBody>
                  <a:tcPr marL="171450" marR="9525" marT="9525" marB="0" anchor="ctr"/>
                </a:tc>
                <a:tc>
                  <a:txBody>
                    <a:bodyPr/>
                    <a:lstStyle/>
                    <a:p>
                      <a:pPr algn="ctr" fontAlgn="b"/>
                      <a:r>
                        <a:rPr lang="en-US" sz="1200" b="0" i="0" u="none" strike="noStrike">
                          <a:solidFill>
                            <a:srgbClr val="000000"/>
                          </a:solidFill>
                          <a:effectLst/>
                          <a:latin typeface="+mn-lt"/>
                        </a:rPr>
                        <a:t>Mumbai, India</a:t>
                      </a:r>
                    </a:p>
                  </a:txBody>
                  <a:tcPr marL="9525" marR="9525" marT="9525" marB="0" anchor="ctr"/>
                </a:tc>
                <a:extLst>
                  <a:ext uri="{0D108BD9-81ED-4DB2-BD59-A6C34878D82A}">
                    <a16:rowId xmlns:a16="http://schemas.microsoft.com/office/drawing/2014/main" val="10015"/>
                  </a:ext>
                </a:extLst>
              </a:tr>
              <a:tr h="239333">
                <a:tc>
                  <a:txBody>
                    <a:bodyPr/>
                    <a:lstStyle/>
                    <a:p>
                      <a:pPr algn="ctr"/>
                      <a:r>
                        <a:rPr lang="en-US" sz="1200" dirty="0">
                          <a:solidFill>
                            <a:schemeClr val="tx1"/>
                          </a:solidFill>
                          <a:latin typeface="+mn-lt"/>
                        </a:rPr>
                        <a:t>18</a:t>
                      </a:r>
                    </a:p>
                  </a:txBody>
                  <a:tcPr marL="9525" marR="9525" marT="9525" marB="0" anchor="ctr"/>
                </a:tc>
                <a:tc>
                  <a:txBody>
                    <a:bodyPr/>
                    <a:lstStyle/>
                    <a:p>
                      <a:pPr algn="ctr" rtl="0" fontAlgn="ctr"/>
                      <a:r>
                        <a:rPr lang="en-IN" sz="1200" b="0" i="0" u="none" strike="noStrike" dirty="0" err="1">
                          <a:solidFill>
                            <a:srgbClr val="000000"/>
                          </a:solidFill>
                          <a:effectLst/>
                          <a:latin typeface="+mn-lt"/>
                        </a:rPr>
                        <a:t>CompanyR</a:t>
                      </a:r>
                      <a:endParaRPr lang="en-IN" sz="1200" b="0" i="0" u="none" strike="noStrike" dirty="0">
                        <a:solidFill>
                          <a:srgbClr val="000000"/>
                        </a:solidFill>
                        <a:effectLst/>
                        <a:latin typeface="+mn-lt"/>
                      </a:endParaRPr>
                    </a:p>
                  </a:txBody>
                  <a:tcPr marL="171450" marR="9525" marT="9525" marB="0" anchor="ctr"/>
                </a:tc>
                <a:tc>
                  <a:txBody>
                    <a:bodyPr/>
                    <a:lstStyle/>
                    <a:p>
                      <a:pPr algn="ctr" fontAlgn="b"/>
                      <a:r>
                        <a:rPr lang="en-US" sz="1200" b="0" i="0" u="none" strike="noStrike">
                          <a:solidFill>
                            <a:srgbClr val="000000"/>
                          </a:solidFill>
                          <a:effectLst/>
                          <a:latin typeface="+mn-lt"/>
                        </a:rPr>
                        <a:t>Gongdeok-dong, Seoul, South Korea</a:t>
                      </a:r>
                    </a:p>
                  </a:txBody>
                  <a:tcPr marL="9525" marR="9525" marT="9525" marB="0" anchor="ctr"/>
                </a:tc>
                <a:extLst>
                  <a:ext uri="{0D108BD9-81ED-4DB2-BD59-A6C34878D82A}">
                    <a16:rowId xmlns:a16="http://schemas.microsoft.com/office/drawing/2014/main" val="10016"/>
                  </a:ext>
                </a:extLst>
              </a:tr>
              <a:tr h="239333">
                <a:tc>
                  <a:txBody>
                    <a:bodyPr/>
                    <a:lstStyle/>
                    <a:p>
                      <a:pPr algn="ctr"/>
                      <a:r>
                        <a:rPr lang="en-US" sz="1200" dirty="0">
                          <a:solidFill>
                            <a:schemeClr val="tx1"/>
                          </a:solidFill>
                          <a:latin typeface="+mn-lt"/>
                        </a:rPr>
                        <a:t>19</a:t>
                      </a:r>
                    </a:p>
                  </a:txBody>
                  <a:tcPr marL="9525" marR="9525" marT="9525" marB="0" anchor="ctr"/>
                </a:tc>
                <a:tc>
                  <a:txBody>
                    <a:bodyPr/>
                    <a:lstStyle/>
                    <a:p>
                      <a:pPr algn="ctr" rtl="0" fontAlgn="ctr"/>
                      <a:r>
                        <a:rPr lang="en-IN" sz="1200" b="0" i="0" u="none" strike="noStrike" dirty="0" err="1">
                          <a:solidFill>
                            <a:srgbClr val="000000"/>
                          </a:solidFill>
                          <a:effectLst/>
                          <a:latin typeface="+mn-lt"/>
                        </a:rPr>
                        <a:t>CompanyS</a:t>
                      </a:r>
                      <a:endParaRPr lang="en-IN" sz="1200" b="0" i="0" u="none" strike="noStrike" dirty="0">
                        <a:solidFill>
                          <a:srgbClr val="000000"/>
                        </a:solidFill>
                        <a:effectLst/>
                        <a:latin typeface="+mn-lt"/>
                      </a:endParaRPr>
                    </a:p>
                  </a:txBody>
                  <a:tcPr marL="171450" marR="9525" marT="9525" marB="0" anchor="ctr"/>
                </a:tc>
                <a:tc>
                  <a:txBody>
                    <a:bodyPr/>
                    <a:lstStyle/>
                    <a:p>
                      <a:pPr algn="ctr" fontAlgn="b"/>
                      <a:r>
                        <a:rPr lang="en-US" sz="1200" b="0" i="0" u="none" strike="noStrike">
                          <a:solidFill>
                            <a:srgbClr val="000000"/>
                          </a:solidFill>
                          <a:effectLst/>
                          <a:latin typeface="+mn-lt"/>
                        </a:rPr>
                        <a:t>Jeddah, Saudi Arabia</a:t>
                      </a:r>
                    </a:p>
                  </a:txBody>
                  <a:tcPr marL="9525" marR="9525" marT="9525" marB="0" anchor="ctr"/>
                </a:tc>
                <a:extLst>
                  <a:ext uri="{0D108BD9-81ED-4DB2-BD59-A6C34878D82A}">
                    <a16:rowId xmlns:a16="http://schemas.microsoft.com/office/drawing/2014/main" val="10017"/>
                  </a:ext>
                </a:extLst>
              </a:tr>
              <a:tr h="239333">
                <a:tc>
                  <a:txBody>
                    <a:bodyPr/>
                    <a:lstStyle/>
                    <a:p>
                      <a:pPr algn="ctr"/>
                      <a:r>
                        <a:rPr lang="en-US" sz="1200" dirty="0">
                          <a:solidFill>
                            <a:schemeClr val="tx1"/>
                          </a:solidFill>
                          <a:latin typeface="+mn-lt"/>
                        </a:rPr>
                        <a:t>20</a:t>
                      </a:r>
                    </a:p>
                  </a:txBody>
                  <a:tcPr marL="9525" marR="9525" marT="9525" marB="0" anchor="ctr"/>
                </a:tc>
                <a:tc>
                  <a:txBody>
                    <a:bodyPr/>
                    <a:lstStyle/>
                    <a:p>
                      <a:pPr algn="ctr" rtl="0" fontAlgn="ctr"/>
                      <a:r>
                        <a:rPr lang="en-IN" sz="1200" b="0" i="0" u="none" strike="noStrike" dirty="0" err="1">
                          <a:solidFill>
                            <a:srgbClr val="000000"/>
                          </a:solidFill>
                          <a:effectLst/>
                          <a:latin typeface="+mn-lt"/>
                        </a:rPr>
                        <a:t>CompanyT</a:t>
                      </a:r>
                      <a:endParaRPr lang="en-IN" sz="1200" b="0" i="0" u="none" strike="noStrike" dirty="0">
                        <a:solidFill>
                          <a:srgbClr val="000000"/>
                        </a:solidFill>
                        <a:effectLst/>
                        <a:latin typeface="+mn-lt"/>
                      </a:endParaRPr>
                    </a:p>
                  </a:txBody>
                  <a:tcPr marL="171450" marR="9525" marT="9525" marB="0" anchor="ctr"/>
                </a:tc>
                <a:tc>
                  <a:txBody>
                    <a:bodyPr/>
                    <a:lstStyle/>
                    <a:p>
                      <a:pPr algn="ctr" fontAlgn="b"/>
                      <a:r>
                        <a:rPr lang="en-US" sz="1200" b="0" i="0" u="none" strike="noStrike" dirty="0">
                          <a:solidFill>
                            <a:srgbClr val="000000"/>
                          </a:solidFill>
                          <a:effectLst/>
                          <a:latin typeface="+mn-lt"/>
                        </a:rPr>
                        <a:t>Beijing, China</a:t>
                      </a:r>
                    </a:p>
                  </a:txBody>
                  <a:tcPr marL="9525" marR="9525" marT="9525" marB="0" anchor="ctr"/>
                </a:tc>
                <a:extLst>
                  <a:ext uri="{0D108BD9-81ED-4DB2-BD59-A6C34878D82A}">
                    <a16:rowId xmlns:a16="http://schemas.microsoft.com/office/drawing/2014/main" val="408269141"/>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pic>
        <p:nvPicPr>
          <p:cNvPr id="3" name="Picture 2"/>
          <p:cNvPicPr>
            <a:picLocks noChangeAspect="1"/>
          </p:cNvPicPr>
          <p:nvPr/>
        </p:nvPicPr>
        <p:blipFill rotWithShape="1">
          <a:blip r:embed="rId2">
            <a:extLst>
              <a:ext uri="{BEBA8EAE-BF5A-486C-A8C5-ECC9F3942E4B}">
                <a14:imgProps xmlns:a14="http://schemas.microsoft.com/office/drawing/2010/main">
                  <a14:imgLayer r:embed="rId3">
                    <a14:imgEffect>
                      <a14:artisticBlur/>
                    </a14:imgEffect>
                  </a14:imgLayer>
                </a14:imgProps>
              </a:ext>
            </a:extLst>
          </a:blip>
          <a:srcRect l="64125" t="4569"/>
          <a:stretch/>
        </p:blipFill>
        <p:spPr>
          <a:xfrm>
            <a:off x="7840281" y="1357750"/>
            <a:ext cx="4199319" cy="4881282"/>
          </a:xfrm>
          <a:prstGeom prst="rect">
            <a:avLst/>
          </a:prstGeom>
        </p:spPr>
      </p:pic>
      <p:sp>
        <p:nvSpPr>
          <p:cNvPr id="7" name="Slide Number Placeholder 6"/>
          <p:cNvSpPr>
            <a:spLocks noGrp="1"/>
          </p:cNvSpPr>
          <p:nvPr>
            <p:ph type="sldNum" sz="quarter" idx="4"/>
          </p:nvPr>
        </p:nvSpPr>
        <p:spPr/>
        <p:txBody>
          <a:bodyPr/>
          <a:lstStyle/>
          <a:p>
            <a:fld id="{4B17068C-EB94-40A3-A5F2-664CDD77FDAC}" type="slidenum">
              <a:rPr lang="en-GB" smtClean="0"/>
              <a:pPr/>
              <a:t>58</a:t>
            </a:fld>
            <a:endParaRPr lang="en-GB" dirty="0"/>
          </a:p>
        </p:txBody>
      </p:sp>
    </p:spTree>
    <p:extLst>
      <p:ext uri="{BB962C8B-B14F-4D97-AF65-F5344CB8AC3E}">
        <p14:creationId xmlns:p14="http://schemas.microsoft.com/office/powerpoint/2010/main" val="173287015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dirty="0"/>
              <a:t>WXYZ Market : List of Distributors</a:t>
            </a:r>
          </a:p>
        </p:txBody>
      </p:sp>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pic>
        <p:nvPicPr>
          <p:cNvPr id="3" name="Picture 2"/>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341305" y="1127816"/>
            <a:ext cx="11613887" cy="5035732"/>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59</a:t>
            </a:fld>
            <a:endParaRPr lang="en-GB" dirty="0"/>
          </a:p>
        </p:txBody>
      </p:sp>
    </p:spTree>
    <p:extLst>
      <p:ext uri="{BB962C8B-B14F-4D97-AF65-F5344CB8AC3E}">
        <p14:creationId xmlns:p14="http://schemas.microsoft.com/office/powerpoint/2010/main" val="366242697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a:t>WXYZ Market: </a:t>
            </a:r>
            <a:r>
              <a:rPr lang="en-US"/>
              <a:t>List of Probable End Users</a:t>
            </a:r>
            <a:endParaRPr lang="en-IN" dirty="0"/>
          </a:p>
        </p:txBody>
      </p:sp>
      <p:sp>
        <p:nvSpPr>
          <p:cNvPr id="4" name="Slide Number Placeholder 3"/>
          <p:cNvSpPr>
            <a:spLocks noGrp="1"/>
          </p:cNvSpPr>
          <p:nvPr>
            <p:ph type="sldNum" sz="quarter" idx="4"/>
          </p:nvPr>
        </p:nvSpPr>
        <p:spPr/>
        <p:txBody>
          <a:bodyPr/>
          <a:lstStyle/>
          <a:p>
            <a:fld id="{4B17068C-EB94-40A3-A5F2-664CDD77FDAC}" type="slidenum">
              <a:rPr lang="en-GB" smtClean="0"/>
              <a:pPr/>
              <a:t>60</a:t>
            </a:fld>
            <a:endParaRPr lang="en-GB" dirty="0"/>
          </a:p>
        </p:txBody>
      </p:sp>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pic>
        <p:nvPicPr>
          <p:cNvPr id="3" name="Picture 2"/>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324891" y="1127816"/>
            <a:ext cx="11644369" cy="5035732"/>
          </a:xfrm>
          <a:prstGeom prst="rect">
            <a:avLst/>
          </a:prstGeom>
        </p:spPr>
      </p:pic>
    </p:spTree>
    <p:extLst>
      <p:ext uri="{BB962C8B-B14F-4D97-AF65-F5344CB8AC3E}">
        <p14:creationId xmlns:p14="http://schemas.microsoft.com/office/powerpoint/2010/main" val="263012921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COVID-19 Crisis – Impact Assessment</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61</a:t>
            </a:r>
          </a:p>
        </p:txBody>
      </p:sp>
    </p:spTree>
    <p:extLst>
      <p:ext uri="{BB962C8B-B14F-4D97-AF65-F5344CB8AC3E}">
        <p14:creationId xmlns:p14="http://schemas.microsoft.com/office/powerpoint/2010/main" val="2373788534"/>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a:t>Global Economy – Pre and Post COVID-19</a:t>
            </a:r>
          </a:p>
        </p:txBody>
      </p:sp>
      <p:sp>
        <p:nvSpPr>
          <p:cNvPr id="10" name="Text Placeholder 9"/>
          <p:cNvSpPr>
            <a:spLocks noGrp="1"/>
          </p:cNvSpPr>
          <p:nvPr>
            <p:ph type="body" idx="12"/>
          </p:nvPr>
        </p:nvSpPr>
        <p:spPr/>
        <p:txBody>
          <a:bodyPr/>
          <a:lstStyle/>
          <a:p>
            <a:r>
              <a:rPr lang="en-US" dirty="0"/>
              <a:t>Global GDP 2019 and 2020</a:t>
            </a:r>
          </a:p>
        </p:txBody>
      </p:sp>
      <p:sp>
        <p:nvSpPr>
          <p:cNvPr id="12" name="Text Placeholder 11"/>
          <p:cNvSpPr>
            <a:spLocks noGrp="1"/>
          </p:cNvSpPr>
          <p:nvPr>
            <p:ph type="body" idx="14"/>
          </p:nvPr>
        </p:nvSpPr>
        <p:spPr/>
        <p:txBody>
          <a:bodyPr/>
          <a:lstStyle/>
          <a:p>
            <a:r>
              <a:rPr lang="en-US" dirty="0"/>
              <a:t>Negative Impact on Key Countries</a:t>
            </a:r>
          </a:p>
        </p:txBody>
      </p:sp>
      <p:sp>
        <p:nvSpPr>
          <p:cNvPr id="14" name="Text Placeholder 13"/>
          <p:cNvSpPr>
            <a:spLocks noGrp="1"/>
          </p:cNvSpPr>
          <p:nvPr>
            <p:ph type="body" idx="16"/>
          </p:nvPr>
        </p:nvSpPr>
        <p:spPr/>
        <p:txBody>
          <a:bodyPr/>
          <a:lstStyle/>
          <a:p>
            <a:r>
              <a:rPr lang="en-US" dirty="0"/>
              <a:t>Key Takeaways</a:t>
            </a:r>
          </a:p>
        </p:txBody>
      </p:sp>
      <p:graphicFrame>
        <p:nvGraphicFramePr>
          <p:cNvPr id="13" name="Content Placeholder 12"/>
          <p:cNvGraphicFramePr>
            <a:graphicFrameLocks noGrp="1"/>
          </p:cNvGraphicFramePr>
          <p:nvPr>
            <p:ph idx="1"/>
            <p:extLst>
              <p:ext uri="{D42A27DB-BD31-4B8C-83A1-F6EECF244321}">
                <p14:modId xmlns:p14="http://schemas.microsoft.com/office/powerpoint/2010/main" val="2433644180"/>
              </p:ext>
            </p:extLst>
          </p:nvPr>
        </p:nvGraphicFramePr>
        <p:xfrm>
          <a:off x="152400" y="1612900"/>
          <a:ext cx="3768725" cy="459422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9" name="Content Placeholder 25"/>
          <p:cNvGraphicFramePr>
            <a:graphicFrameLocks noGrp="1"/>
          </p:cNvGraphicFramePr>
          <p:nvPr>
            <p:ph idx="13"/>
            <p:extLst>
              <p:ext uri="{D42A27DB-BD31-4B8C-83A1-F6EECF244321}">
                <p14:modId xmlns:p14="http://schemas.microsoft.com/office/powerpoint/2010/main" val="711615185"/>
              </p:ext>
            </p:extLst>
          </p:nvPr>
        </p:nvGraphicFramePr>
        <p:xfrm>
          <a:off x="4213225" y="1612900"/>
          <a:ext cx="3768725" cy="4594225"/>
        </p:xfrm>
        <a:graphic>
          <a:graphicData uri="http://schemas.openxmlformats.org/drawingml/2006/chart">
            <c:chart xmlns:c="http://schemas.openxmlformats.org/drawingml/2006/chart" xmlns:r="http://schemas.openxmlformats.org/officeDocument/2006/relationships" r:id="rId3"/>
          </a:graphicData>
        </a:graphic>
      </p:graphicFrame>
      <p:sp>
        <p:nvSpPr>
          <p:cNvPr id="20" name="Content Placeholder 12"/>
          <p:cNvSpPr>
            <a:spLocks noGrp="1"/>
          </p:cNvSpPr>
          <p:nvPr>
            <p:ph idx="15"/>
          </p:nvPr>
        </p:nvSpPr>
        <p:spPr/>
        <p:txBody>
          <a:bodyPr/>
          <a:lstStyle/>
          <a:p>
            <a:r>
              <a:rPr lang="en-US" dirty="0"/>
              <a:t>COVID-19 crisis has significantly impacted on performance of global economies, compelling them to call for lockdowns in the society and temporary closure of key industries including manufacturing and service industries</a:t>
            </a:r>
          </a:p>
          <a:p>
            <a:r>
              <a:rPr lang="en-US" dirty="0"/>
              <a:t>Though this impact has severely impacted on consumer basket, spending on other commodities have reduced to a drastic extent due to stalling of the market</a:t>
            </a:r>
          </a:p>
          <a:p>
            <a:r>
              <a:rPr lang="en-US" dirty="0"/>
              <a:t>Key countries have compromised more than one quarter of output which is anticipated to further contract the global output between </a:t>
            </a:r>
            <a:r>
              <a:rPr lang="en-US" b="1" dirty="0"/>
              <a:t>4.5%</a:t>
            </a:r>
            <a:r>
              <a:rPr lang="en-US" dirty="0"/>
              <a:t> and </a:t>
            </a:r>
            <a:r>
              <a:rPr lang="en-US" b="1" dirty="0"/>
              <a:t>5%</a:t>
            </a:r>
          </a:p>
          <a:p>
            <a:r>
              <a:rPr lang="en-US" dirty="0"/>
              <a:t>This crisis has called for key countries to lower growth projections from as much as </a:t>
            </a:r>
            <a:r>
              <a:rPr lang="en-US" b="1" dirty="0"/>
              <a:t>8%</a:t>
            </a:r>
            <a:r>
              <a:rPr lang="en-US" dirty="0"/>
              <a:t> to </a:t>
            </a:r>
            <a:r>
              <a:rPr lang="en-US" b="1" dirty="0"/>
              <a:t>2%</a:t>
            </a:r>
            <a:r>
              <a:rPr lang="en-US" dirty="0"/>
              <a:t> on overall level</a:t>
            </a:r>
          </a:p>
          <a:p>
            <a:endParaRPr lang="en-US" dirty="0"/>
          </a:p>
          <a:p>
            <a:endParaRPr lang="en-US" dirty="0"/>
          </a:p>
        </p:txBody>
      </p:sp>
      <p:sp>
        <p:nvSpPr>
          <p:cNvPr id="21" name="TextBox 20"/>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62</a:t>
            </a:fld>
            <a:endParaRPr lang="en-GB" dirty="0"/>
          </a:p>
        </p:txBody>
      </p:sp>
    </p:spTree>
    <p:extLst>
      <p:ext uri="{BB962C8B-B14F-4D97-AF65-F5344CB8AC3E}">
        <p14:creationId xmlns:p14="http://schemas.microsoft.com/office/powerpoint/2010/main" val="4073740748"/>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ontent Placeholder 28"/>
          <p:cNvGraphicFramePr>
            <a:graphicFrameLocks noGrp="1"/>
          </p:cNvGraphicFramePr>
          <p:nvPr>
            <p:ph idx="1"/>
            <p:extLst>
              <p:ext uri="{D42A27DB-BD31-4B8C-83A1-F6EECF244321}">
                <p14:modId xmlns:p14="http://schemas.microsoft.com/office/powerpoint/2010/main" val="703633431"/>
              </p:ext>
            </p:extLst>
          </p:nvPr>
        </p:nvGraphicFramePr>
        <p:xfrm>
          <a:off x="152399" y="1612901"/>
          <a:ext cx="5763492" cy="4594225"/>
        </p:xfrm>
        <a:graphic>
          <a:graphicData uri="http://schemas.openxmlformats.org/drawingml/2006/chart">
            <c:chart xmlns:c="http://schemas.openxmlformats.org/drawingml/2006/chart" xmlns:r="http://schemas.openxmlformats.org/officeDocument/2006/relationships" r:id="rId2"/>
          </a:graphicData>
        </a:graphic>
      </p:graphicFrame>
      <p:sp>
        <p:nvSpPr>
          <p:cNvPr id="4" name="Title 3"/>
          <p:cNvSpPr>
            <a:spLocks noGrp="1"/>
          </p:cNvSpPr>
          <p:nvPr>
            <p:ph type="title"/>
          </p:nvPr>
        </p:nvSpPr>
        <p:spPr/>
        <p:txBody>
          <a:bodyPr/>
          <a:lstStyle/>
          <a:p>
            <a:r>
              <a:rPr lang="en-US" dirty="0"/>
              <a:t>Impact of COVID–19 Crisis on WXYZ</a:t>
            </a:r>
            <a:r>
              <a:rPr lang="en-GB" dirty="0"/>
              <a:t> Market </a:t>
            </a:r>
            <a:endParaRPr lang="en-US" dirty="0"/>
          </a:p>
        </p:txBody>
      </p:sp>
      <p:sp>
        <p:nvSpPr>
          <p:cNvPr id="6" name="Text Placeholder 5"/>
          <p:cNvSpPr>
            <a:spLocks noGrp="1"/>
          </p:cNvSpPr>
          <p:nvPr>
            <p:ph type="body" idx="12"/>
          </p:nvPr>
        </p:nvSpPr>
        <p:spPr/>
        <p:txBody>
          <a:bodyPr/>
          <a:lstStyle/>
          <a:p>
            <a:r>
              <a:rPr lang="en-US" dirty="0"/>
              <a:t>Global </a:t>
            </a:r>
            <a:r>
              <a:rPr lang="en-US" sz="1400" dirty="0"/>
              <a:t>WXYZ</a:t>
            </a:r>
            <a:r>
              <a:rPr lang="en-GB" sz="1400" dirty="0"/>
              <a:t> Market </a:t>
            </a:r>
            <a:r>
              <a:rPr lang="en-US" dirty="0"/>
              <a:t>Volume Y-o-Y Growth, 2019-2034</a:t>
            </a:r>
          </a:p>
        </p:txBody>
      </p:sp>
      <p:sp>
        <p:nvSpPr>
          <p:cNvPr id="7" name="Content Placeholder 6"/>
          <p:cNvSpPr>
            <a:spLocks noGrp="1"/>
          </p:cNvSpPr>
          <p:nvPr>
            <p:ph idx="13"/>
          </p:nvPr>
        </p:nvSpPr>
        <p:spPr>
          <a:xfrm>
            <a:off x="6278579" y="1612900"/>
            <a:ext cx="5761021" cy="4593546"/>
          </a:xfrm>
        </p:spPr>
        <p:txBody>
          <a:bodyPr/>
          <a:lstStyle/>
          <a:p>
            <a:pPr>
              <a:lnSpc>
                <a:spcPts val="1500"/>
              </a:lnSpc>
              <a:spcBef>
                <a:spcPts val="200"/>
              </a:spcBef>
              <a:spcAft>
                <a:spcPts val="200"/>
              </a:spcAft>
            </a:pPr>
            <a:r>
              <a:rPr lang="en-US" b="1" dirty="0"/>
              <a:t>Historical Performance:</a:t>
            </a:r>
            <a:r>
              <a:rPr lang="en-US" sz="1100" b="1" dirty="0"/>
              <a:t> </a:t>
            </a:r>
            <a:r>
              <a:rPr lang="en-US" sz="1100" dirty="0"/>
              <a:t>The historical growth trend of WXYZ demand has been a steady upward trend, driven by growing consumption in end use industries, increasing consumption of WXYZ.</a:t>
            </a:r>
            <a:endParaRPr lang="en-US" sz="1100" b="1" dirty="0"/>
          </a:p>
          <a:p>
            <a:pPr>
              <a:lnSpc>
                <a:spcPts val="1500"/>
              </a:lnSpc>
              <a:spcBef>
                <a:spcPts val="200"/>
              </a:spcBef>
              <a:spcAft>
                <a:spcPts val="200"/>
              </a:spcAft>
            </a:pPr>
            <a:r>
              <a:rPr lang="en-US" b="1" dirty="0"/>
              <a:t>2019-2025:</a:t>
            </a:r>
            <a:r>
              <a:rPr lang="en-US" dirty="0"/>
              <a:t> </a:t>
            </a:r>
            <a:r>
              <a:rPr lang="en-US" sz="1100" dirty="0"/>
              <a:t>The WXYZ growth is projected to be affected by the COVID-19 pandemic crisis, and has witnessed significant drop in demand in 2020. The COVID-19 pandemic had an impact on a number of industries, which includes Military and Defense, Law Enforcement, Civilians which have seen a significant slowdown. New difficulties were reportedly encountered throughout the  supply chain, including a scarcity of raw materials, financial difficulties, and a shortage of line employees for the manufacturing process, among others. The production consumption and sales of XYZ products witnessed never before slowdown impacting the sales of WXYZ. The growth has witnessed a sharp rise as the economic activity is back to pre-crisis levels and Application industries are operating at near full capacities.</a:t>
            </a:r>
          </a:p>
          <a:p>
            <a:pPr>
              <a:lnSpc>
                <a:spcPts val="1500"/>
              </a:lnSpc>
              <a:spcBef>
                <a:spcPts val="200"/>
              </a:spcBef>
              <a:spcAft>
                <a:spcPts val="200"/>
              </a:spcAft>
            </a:pPr>
            <a:r>
              <a:rPr lang="en-US" b="1" dirty="0"/>
              <a:t>2026-2029:</a:t>
            </a:r>
            <a:r>
              <a:rPr lang="en-US" dirty="0"/>
              <a:t> </a:t>
            </a:r>
            <a:r>
              <a:rPr lang="en-US" sz="1100" dirty="0"/>
              <a:t>Once the economic activity returns to pre-crisis levels, industrial activity and economic growth is projected to follow the post-2020-crisis trend, growing for the next 4 years after 2023 and then steadying after. The WXYZ demand pattern is anticipated to reflect the same trend during the period.</a:t>
            </a:r>
          </a:p>
          <a:p>
            <a:pPr>
              <a:lnSpc>
                <a:spcPts val="1500"/>
              </a:lnSpc>
              <a:spcBef>
                <a:spcPts val="200"/>
              </a:spcBef>
              <a:spcAft>
                <a:spcPts val="200"/>
              </a:spcAft>
            </a:pPr>
            <a:r>
              <a:rPr lang="en-US" b="1" dirty="0"/>
              <a:t>2030-2034: </a:t>
            </a:r>
            <a:r>
              <a:rPr lang="en-US" sz="1100" b="1" dirty="0"/>
              <a:t>T</a:t>
            </a:r>
            <a:r>
              <a:rPr lang="en-US" sz="1100" dirty="0"/>
              <a:t>he growth is expected to witness a moderate decline after 2028. The Y-O-Y growth is expected to peak in 2030, as end use industries are expected to witness a surge in demand after the crisis ends</a:t>
            </a:r>
          </a:p>
        </p:txBody>
      </p:sp>
      <p:sp>
        <p:nvSpPr>
          <p:cNvPr id="8" name="Text Placeholder 7"/>
          <p:cNvSpPr>
            <a:spLocks noGrp="1"/>
          </p:cNvSpPr>
          <p:nvPr>
            <p:ph type="body" idx="14"/>
          </p:nvPr>
        </p:nvSpPr>
        <p:spPr/>
        <p:txBody>
          <a:bodyPr/>
          <a:lstStyle/>
          <a:p>
            <a:r>
              <a:rPr lang="en-US" dirty="0"/>
              <a:t>Key Takeaways</a:t>
            </a:r>
          </a:p>
        </p:txBody>
      </p:sp>
      <p:sp>
        <p:nvSpPr>
          <p:cNvPr id="11" name="TextBox 10"/>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63</a:t>
            </a:fld>
            <a:endParaRPr lang="en-GB" dirty="0"/>
          </a:p>
        </p:txBody>
      </p:sp>
    </p:spTree>
    <p:extLst>
      <p:ext uri="{BB962C8B-B14F-4D97-AF65-F5344CB8AC3E}">
        <p14:creationId xmlns:p14="http://schemas.microsoft.com/office/powerpoint/2010/main" val="361227742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COVID – 19 Impact By Region</a:t>
            </a:r>
            <a:endParaRPr lang="en-US" dirty="0"/>
          </a:p>
        </p:txBody>
      </p:sp>
      <p:sp>
        <p:nvSpPr>
          <p:cNvPr id="2" name="Slide Number Placeholder 1"/>
          <p:cNvSpPr>
            <a:spLocks noGrp="1"/>
          </p:cNvSpPr>
          <p:nvPr>
            <p:ph type="sldNum" sz="quarter" idx="4"/>
          </p:nvPr>
        </p:nvSpPr>
        <p:spPr/>
        <p:txBody>
          <a:bodyPr/>
          <a:lstStyle/>
          <a:p>
            <a:fld id="{4B17068C-EB94-40A3-A5F2-664CDD77FDAC}" type="slidenum">
              <a:rPr lang="en-GB" smtClean="0"/>
              <a:pPr/>
              <a:t>64</a:t>
            </a:fld>
            <a:endParaRPr lang="en-GB" dirty="0"/>
          </a:p>
        </p:txBody>
      </p:sp>
      <p:graphicFrame>
        <p:nvGraphicFramePr>
          <p:cNvPr id="11" name="Table 10"/>
          <p:cNvGraphicFramePr>
            <a:graphicFrameLocks noGrp="1"/>
          </p:cNvGraphicFramePr>
          <p:nvPr/>
        </p:nvGraphicFramePr>
        <p:xfrm>
          <a:off x="444137" y="1498433"/>
          <a:ext cx="2492979" cy="4657648"/>
        </p:xfrm>
        <a:graphic>
          <a:graphicData uri="http://schemas.openxmlformats.org/drawingml/2006/table">
            <a:tbl>
              <a:tblPr firstRow="1" bandRow="1">
                <a:tableStyleId>{9D7B26C5-4107-4FEC-AEDC-1716B250A1EF}</a:tableStyleId>
              </a:tblPr>
              <a:tblGrid>
                <a:gridCol w="2492979">
                  <a:extLst>
                    <a:ext uri="{9D8B030D-6E8A-4147-A177-3AD203B41FA5}">
                      <a16:colId xmlns:a16="http://schemas.microsoft.com/office/drawing/2014/main" val="20000"/>
                    </a:ext>
                  </a:extLst>
                </a:gridCol>
              </a:tblGrid>
              <a:tr h="476149">
                <a:tc>
                  <a:txBody>
                    <a:bodyPr/>
                    <a:lstStyle/>
                    <a:p>
                      <a:pPr algn="ctr" fontAlgn="b"/>
                      <a:r>
                        <a:rPr lang="en-US" sz="1400" u="none" strike="noStrike" baseline="0" dirty="0">
                          <a:effectLst/>
                        </a:rPr>
                        <a:t>Region</a:t>
                      </a:r>
                    </a:p>
                  </a:txBody>
                  <a:tcPr marR="0" marT="0" marB="0" anchor="ctr"/>
                </a:tc>
                <a:extLst>
                  <a:ext uri="{0D108BD9-81ED-4DB2-BD59-A6C34878D82A}">
                    <a16:rowId xmlns:a16="http://schemas.microsoft.com/office/drawing/2014/main" val="10000"/>
                  </a:ext>
                </a:extLst>
              </a:tr>
              <a:tr h="597357">
                <a:tc>
                  <a:txBody>
                    <a:bodyPr/>
                    <a:lstStyle/>
                    <a:p>
                      <a:pPr algn="ctr" fontAlgn="ctr"/>
                      <a:r>
                        <a:rPr lang="en-US" sz="1400" b="0" i="0" u="none" strike="noStrike" dirty="0">
                          <a:solidFill>
                            <a:srgbClr val="000000"/>
                          </a:solidFill>
                          <a:effectLst/>
                          <a:latin typeface="Calibri" panose="020F0502020204030204" pitchFamily="34" charset="0"/>
                        </a:rPr>
                        <a:t>North America</a:t>
                      </a:r>
                    </a:p>
                  </a:txBody>
                  <a:tcPr marL="9525" marR="9525" marT="9525" marB="0" anchor="ctr"/>
                </a:tc>
                <a:extLst>
                  <a:ext uri="{0D108BD9-81ED-4DB2-BD59-A6C34878D82A}">
                    <a16:rowId xmlns:a16="http://schemas.microsoft.com/office/drawing/2014/main" val="10001"/>
                  </a:ext>
                </a:extLst>
              </a:tr>
              <a:tr h="597357">
                <a:tc>
                  <a:txBody>
                    <a:bodyPr/>
                    <a:lstStyle/>
                    <a:p>
                      <a:pPr algn="ctr" fontAlgn="ctr"/>
                      <a:r>
                        <a:rPr lang="en-US" sz="1400" b="0" i="0" u="none" strike="noStrike" dirty="0">
                          <a:solidFill>
                            <a:srgbClr val="000000"/>
                          </a:solidFill>
                          <a:effectLst/>
                          <a:latin typeface="Calibri" panose="020F0502020204030204" pitchFamily="34" charset="0"/>
                        </a:rPr>
                        <a:t>Latin America</a:t>
                      </a:r>
                    </a:p>
                  </a:txBody>
                  <a:tcPr marL="9525" marR="9525" marT="9525" marB="0" anchor="ctr"/>
                </a:tc>
                <a:extLst>
                  <a:ext uri="{0D108BD9-81ED-4DB2-BD59-A6C34878D82A}">
                    <a16:rowId xmlns:a16="http://schemas.microsoft.com/office/drawing/2014/main" val="10002"/>
                  </a:ext>
                </a:extLst>
              </a:tr>
              <a:tr h="597357">
                <a:tc>
                  <a:txBody>
                    <a:bodyPr/>
                    <a:lstStyle/>
                    <a:p>
                      <a:pPr algn="ctr" fontAlgn="ctr"/>
                      <a:r>
                        <a:rPr lang="en-US" sz="1400" b="0" i="0" u="none" strike="noStrike" dirty="0">
                          <a:solidFill>
                            <a:srgbClr val="000000"/>
                          </a:solidFill>
                          <a:effectLst/>
                          <a:latin typeface="Calibri" panose="020F0502020204030204" pitchFamily="34" charset="0"/>
                        </a:rPr>
                        <a:t>Western Europe</a:t>
                      </a:r>
                    </a:p>
                  </a:txBody>
                  <a:tcPr marL="9525" marR="9525" marT="9525" marB="0" anchor="ctr"/>
                </a:tc>
                <a:extLst>
                  <a:ext uri="{0D108BD9-81ED-4DB2-BD59-A6C34878D82A}">
                    <a16:rowId xmlns:a16="http://schemas.microsoft.com/office/drawing/2014/main" val="10003"/>
                  </a:ext>
                </a:extLst>
              </a:tr>
              <a:tr h="597357">
                <a:tc>
                  <a:txBody>
                    <a:bodyPr/>
                    <a:lstStyle/>
                    <a:p>
                      <a:pPr algn="ctr" fontAlgn="ctr"/>
                      <a:r>
                        <a:rPr lang="en-US" sz="1400" b="0" i="0" u="none" strike="noStrike" dirty="0">
                          <a:solidFill>
                            <a:srgbClr val="000000"/>
                          </a:solidFill>
                          <a:effectLst/>
                          <a:latin typeface="Calibri" panose="020F0502020204030204" pitchFamily="34" charset="0"/>
                        </a:rPr>
                        <a:t>Eastern Europe</a:t>
                      </a:r>
                    </a:p>
                  </a:txBody>
                  <a:tcPr marL="9525" marR="9525" marT="9525" marB="0" anchor="ctr"/>
                </a:tc>
                <a:extLst>
                  <a:ext uri="{0D108BD9-81ED-4DB2-BD59-A6C34878D82A}">
                    <a16:rowId xmlns:a16="http://schemas.microsoft.com/office/drawing/2014/main" val="3078094776"/>
                  </a:ext>
                </a:extLst>
              </a:tr>
              <a:tr h="597357">
                <a:tc>
                  <a:txBody>
                    <a:bodyPr/>
                    <a:lstStyle/>
                    <a:p>
                      <a:pPr algn="ctr" fontAlgn="ctr"/>
                      <a:r>
                        <a:rPr lang="en-US" sz="1400" b="0" i="0" u="none" strike="noStrike" dirty="0">
                          <a:solidFill>
                            <a:srgbClr val="000000"/>
                          </a:solidFill>
                          <a:effectLst/>
                          <a:latin typeface="Calibri" panose="020F0502020204030204" pitchFamily="34" charset="0"/>
                        </a:rPr>
                        <a:t>East Asia</a:t>
                      </a:r>
                    </a:p>
                  </a:txBody>
                  <a:tcPr marL="9525" marR="9525" marT="9525" marB="0" anchor="ctr"/>
                </a:tc>
                <a:extLst>
                  <a:ext uri="{0D108BD9-81ED-4DB2-BD59-A6C34878D82A}">
                    <a16:rowId xmlns:a16="http://schemas.microsoft.com/office/drawing/2014/main" val="10004"/>
                  </a:ext>
                </a:extLst>
              </a:tr>
              <a:tr h="597357">
                <a:tc>
                  <a:txBody>
                    <a:bodyPr/>
                    <a:lstStyle/>
                    <a:p>
                      <a:pPr algn="ctr" fontAlgn="ctr"/>
                      <a:r>
                        <a:rPr lang="en-US" sz="1400" b="0" i="0" u="none" strike="noStrike" dirty="0">
                          <a:solidFill>
                            <a:srgbClr val="000000"/>
                          </a:solidFill>
                          <a:effectLst/>
                          <a:latin typeface="Calibri" panose="020F0502020204030204" pitchFamily="34" charset="0"/>
                        </a:rPr>
                        <a:t>South</a:t>
                      </a:r>
                      <a:r>
                        <a:rPr lang="en-US" sz="1400" b="0" i="0" u="none" strike="noStrike" baseline="0" dirty="0">
                          <a:solidFill>
                            <a:srgbClr val="000000"/>
                          </a:solidFill>
                          <a:effectLst/>
                          <a:latin typeface="Calibri" panose="020F0502020204030204" pitchFamily="34" charset="0"/>
                        </a:rPr>
                        <a:t> Asia Pacific</a:t>
                      </a:r>
                      <a:endParaRPr lang="en-US" sz="14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5"/>
                  </a:ext>
                </a:extLst>
              </a:tr>
              <a:tr h="597357">
                <a:tc>
                  <a:txBody>
                    <a:bodyPr/>
                    <a:lstStyle/>
                    <a:p>
                      <a:pPr algn="ctr" fontAlgn="ctr"/>
                      <a:r>
                        <a:rPr lang="en-US" sz="1400" b="0" i="0" u="none" strike="noStrike" dirty="0">
                          <a:solidFill>
                            <a:srgbClr val="000000"/>
                          </a:solidFill>
                          <a:effectLst/>
                          <a:latin typeface="Calibri" panose="020F0502020204030204" pitchFamily="34" charset="0"/>
                        </a:rPr>
                        <a:t>Middle East and Africa</a:t>
                      </a:r>
                    </a:p>
                  </a:txBody>
                  <a:tcPr marL="9525" marR="9525" marT="9525" marB="0" anchor="ctr"/>
                </a:tc>
                <a:extLst>
                  <a:ext uri="{0D108BD9-81ED-4DB2-BD59-A6C34878D82A}">
                    <a16:rowId xmlns:a16="http://schemas.microsoft.com/office/drawing/2014/main" val="3982640221"/>
                  </a:ext>
                </a:extLst>
              </a:tr>
            </a:tbl>
          </a:graphicData>
        </a:graphic>
      </p:graphicFrame>
      <p:graphicFrame>
        <p:nvGraphicFramePr>
          <p:cNvPr id="12" name="Chart 11"/>
          <p:cNvGraphicFramePr/>
          <p:nvPr/>
        </p:nvGraphicFramePr>
        <p:xfrm>
          <a:off x="3532577" y="1939819"/>
          <a:ext cx="5629825" cy="498451"/>
        </p:xfrm>
        <a:graphic>
          <a:graphicData uri="http://schemas.openxmlformats.org/drawingml/2006/chart">
            <c:chart xmlns:c="http://schemas.openxmlformats.org/drawingml/2006/chart" xmlns:r="http://schemas.openxmlformats.org/officeDocument/2006/relationships" r:id="rId2"/>
          </a:graphicData>
        </a:graphic>
      </p:graphicFrame>
      <p:sp>
        <p:nvSpPr>
          <p:cNvPr id="13" name="TextBox 12"/>
          <p:cNvSpPr txBox="1"/>
          <p:nvPr/>
        </p:nvSpPr>
        <p:spPr>
          <a:xfrm>
            <a:off x="4045622" y="1088554"/>
            <a:ext cx="5547449" cy="307777"/>
          </a:xfrm>
          <a:prstGeom prst="rect">
            <a:avLst/>
          </a:prstGeom>
          <a:noFill/>
        </p:spPr>
        <p:txBody>
          <a:bodyPr wrap="square" rtlCol="0">
            <a:spAutoFit/>
          </a:bodyPr>
          <a:lstStyle/>
          <a:p>
            <a:pPr algn="ctr"/>
            <a:r>
              <a:rPr lang="en-US" sz="1400" b="1" dirty="0">
                <a:solidFill>
                  <a:prstClr val="black"/>
                </a:solidFill>
              </a:rPr>
              <a:t>Global WXYZ Market Y-o-Y 2019 - 2023</a:t>
            </a:r>
          </a:p>
        </p:txBody>
      </p:sp>
      <p:grpSp>
        <p:nvGrpSpPr>
          <p:cNvPr id="14" name="Group 13"/>
          <p:cNvGrpSpPr/>
          <p:nvPr/>
        </p:nvGrpSpPr>
        <p:grpSpPr>
          <a:xfrm>
            <a:off x="3556433" y="1498430"/>
            <a:ext cx="5550423" cy="190217"/>
            <a:chOff x="2835536" y="1935474"/>
            <a:chExt cx="2905983" cy="160634"/>
          </a:xfrm>
        </p:grpSpPr>
        <p:sp>
          <p:nvSpPr>
            <p:cNvPr id="15" name="Rectangle 14"/>
            <p:cNvSpPr/>
            <p:nvPr/>
          </p:nvSpPr>
          <p:spPr>
            <a:xfrm>
              <a:off x="2835536" y="1935603"/>
              <a:ext cx="580060" cy="16050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prstClr val="black"/>
                  </a:solidFill>
                </a:rPr>
                <a:t>2019A</a:t>
              </a:r>
              <a:endParaRPr lang="en-US" sz="1050" dirty="0">
                <a:solidFill>
                  <a:prstClr val="black"/>
                </a:solidFill>
              </a:endParaRPr>
            </a:p>
          </p:txBody>
        </p:sp>
        <p:sp>
          <p:nvSpPr>
            <p:cNvPr id="16" name="Rectangle 15"/>
            <p:cNvSpPr/>
            <p:nvPr/>
          </p:nvSpPr>
          <p:spPr>
            <a:xfrm>
              <a:off x="3416496" y="1935474"/>
              <a:ext cx="580960" cy="16063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prstClr val="black"/>
                  </a:solidFill>
                </a:rPr>
                <a:t>2020A</a:t>
              </a:r>
              <a:endParaRPr lang="en-US" sz="1050" dirty="0">
                <a:solidFill>
                  <a:prstClr val="black"/>
                </a:solidFill>
              </a:endParaRPr>
            </a:p>
          </p:txBody>
        </p:sp>
        <p:sp>
          <p:nvSpPr>
            <p:cNvPr id="17" name="Rectangle 16"/>
            <p:cNvSpPr/>
            <p:nvPr/>
          </p:nvSpPr>
          <p:spPr>
            <a:xfrm>
              <a:off x="3998356" y="1935474"/>
              <a:ext cx="580960" cy="157302"/>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prstClr val="black"/>
                  </a:solidFill>
                </a:rPr>
                <a:t>2021A</a:t>
              </a:r>
              <a:endParaRPr lang="en-US" sz="1050" dirty="0">
                <a:solidFill>
                  <a:prstClr val="black"/>
                </a:solidFill>
              </a:endParaRPr>
            </a:p>
          </p:txBody>
        </p:sp>
        <p:sp>
          <p:nvSpPr>
            <p:cNvPr id="18" name="Rectangle 17"/>
            <p:cNvSpPr/>
            <p:nvPr/>
          </p:nvSpPr>
          <p:spPr>
            <a:xfrm>
              <a:off x="4580449" y="1935474"/>
              <a:ext cx="580960" cy="157173"/>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prstClr val="black"/>
                  </a:solidFill>
                </a:rPr>
                <a:t>2022A</a:t>
              </a:r>
              <a:endParaRPr lang="en-US" sz="1050" dirty="0">
                <a:solidFill>
                  <a:prstClr val="black"/>
                </a:solidFill>
              </a:endParaRPr>
            </a:p>
          </p:txBody>
        </p:sp>
        <p:sp>
          <p:nvSpPr>
            <p:cNvPr id="19" name="Rectangle 18"/>
            <p:cNvSpPr/>
            <p:nvPr/>
          </p:nvSpPr>
          <p:spPr>
            <a:xfrm>
              <a:off x="5160559" y="1935603"/>
              <a:ext cx="580960" cy="157173"/>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prstClr val="black"/>
                  </a:solidFill>
                </a:rPr>
                <a:t>2023A</a:t>
              </a:r>
              <a:endParaRPr lang="en-US" sz="1050" dirty="0">
                <a:solidFill>
                  <a:prstClr val="black"/>
                </a:solidFill>
              </a:endParaRPr>
            </a:p>
          </p:txBody>
        </p:sp>
      </p:grpSp>
      <p:sp>
        <p:nvSpPr>
          <p:cNvPr id="20" name="TextBox 19"/>
          <p:cNvSpPr txBox="1"/>
          <p:nvPr/>
        </p:nvSpPr>
        <p:spPr>
          <a:xfrm>
            <a:off x="9694671" y="1440054"/>
            <a:ext cx="2207207" cy="276999"/>
          </a:xfrm>
          <a:prstGeom prst="rect">
            <a:avLst/>
          </a:prstGeom>
          <a:noFill/>
        </p:spPr>
        <p:txBody>
          <a:bodyPr wrap="square" rtlCol="0">
            <a:spAutoFit/>
          </a:bodyPr>
          <a:lstStyle/>
          <a:p>
            <a:pPr algn="ctr"/>
            <a:r>
              <a:rPr lang="en-US" sz="1200" b="1" dirty="0">
                <a:solidFill>
                  <a:prstClr val="black"/>
                </a:solidFill>
              </a:rPr>
              <a:t>Potential of COVID-19 Impact</a:t>
            </a:r>
          </a:p>
        </p:txBody>
      </p:sp>
      <p:grpSp>
        <p:nvGrpSpPr>
          <p:cNvPr id="21" name="Group 20"/>
          <p:cNvGrpSpPr/>
          <p:nvPr/>
        </p:nvGrpSpPr>
        <p:grpSpPr>
          <a:xfrm>
            <a:off x="9796525" y="2522550"/>
            <a:ext cx="2082800" cy="514642"/>
            <a:chOff x="7750387" y="2630235"/>
            <a:chExt cx="2154901" cy="756200"/>
          </a:xfrm>
        </p:grpSpPr>
        <p:sp>
          <p:nvSpPr>
            <p:cNvPr id="22" name="Rounded Rectangle 21"/>
            <p:cNvSpPr/>
            <p:nvPr/>
          </p:nvSpPr>
          <p:spPr>
            <a:xfrm rot="5400000">
              <a:off x="8583209" y="1797413"/>
              <a:ext cx="489257" cy="2154901"/>
            </a:xfrm>
            <a:prstGeom prst="roundRect">
              <a:avLst>
                <a:gd name="adj" fmla="val 50000"/>
              </a:avLst>
            </a:prstGeom>
            <a:gradFill flip="none" rotWithShape="1">
              <a:gsLst>
                <a:gs pos="0">
                  <a:schemeClr val="accent1">
                    <a:lumMod val="20000"/>
                    <a:lumOff val="80000"/>
                  </a:schemeClr>
                </a:gs>
                <a:gs pos="50000">
                  <a:srgbClr val="4CA7AE"/>
                </a:gs>
                <a:gs pos="100000">
                  <a:srgbClr val="306A6E"/>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23" name="Straight Connector 22"/>
            <p:cNvCxnSpPr>
              <a:stCxn id="24" idx="0"/>
              <a:endCxn id="22" idx="2"/>
            </p:cNvCxnSpPr>
            <p:nvPr/>
          </p:nvCxnSpPr>
          <p:spPr>
            <a:xfrm flipH="1">
              <a:off x="7750387" y="2862556"/>
              <a:ext cx="639545" cy="12307"/>
            </a:xfrm>
            <a:prstGeom prst="line">
              <a:avLst/>
            </a:prstGeom>
            <a:ln w="28575">
              <a:solidFill>
                <a:srgbClr val="347276"/>
              </a:solidFill>
              <a:prstDash val="solid"/>
            </a:ln>
          </p:spPr>
          <p:style>
            <a:lnRef idx="1">
              <a:schemeClr val="accent1"/>
            </a:lnRef>
            <a:fillRef idx="0">
              <a:schemeClr val="accent1"/>
            </a:fillRef>
            <a:effectRef idx="0">
              <a:schemeClr val="accent1"/>
            </a:effectRef>
            <a:fontRef idx="minor">
              <a:schemeClr val="tx1"/>
            </a:fontRef>
          </p:style>
        </p:cxnSp>
        <p:sp>
          <p:nvSpPr>
            <p:cNvPr id="24" name="Oval 23"/>
            <p:cNvSpPr/>
            <p:nvPr/>
          </p:nvSpPr>
          <p:spPr>
            <a:xfrm rot="5400000">
              <a:off x="8125352" y="2730265"/>
              <a:ext cx="264579" cy="2645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 name="TextBox 24"/>
            <p:cNvSpPr txBox="1"/>
            <p:nvPr/>
          </p:nvSpPr>
          <p:spPr bwMode="gray">
            <a:xfrm>
              <a:off x="7842313" y="3160316"/>
              <a:ext cx="314114" cy="226119"/>
            </a:xfrm>
            <a:prstGeom prst="rect">
              <a:avLst/>
            </a:prstGeom>
            <a:noFill/>
          </p:spPr>
          <p:txBody>
            <a:bodyPr wrap="none" lIns="0" tIns="0" rIns="0" bIns="0" rtlCol="0">
              <a:spAutoFit/>
            </a:bodyPr>
            <a:lstStyle/>
            <a:p>
              <a:pPr algn="ctr"/>
              <a:r>
                <a:rPr lang="en-US" sz="1000" b="1" dirty="0">
                  <a:solidFill>
                    <a:prstClr val="black"/>
                  </a:solidFill>
                </a:rPr>
                <a:t>Low</a:t>
              </a:r>
            </a:p>
          </p:txBody>
        </p:sp>
        <p:sp>
          <p:nvSpPr>
            <p:cNvPr id="26" name="TextBox 25"/>
            <p:cNvSpPr txBox="1"/>
            <p:nvPr/>
          </p:nvSpPr>
          <p:spPr bwMode="gray">
            <a:xfrm>
              <a:off x="8496959" y="3160316"/>
              <a:ext cx="644276" cy="226119"/>
            </a:xfrm>
            <a:prstGeom prst="rect">
              <a:avLst/>
            </a:prstGeom>
            <a:noFill/>
          </p:spPr>
          <p:txBody>
            <a:bodyPr wrap="none" lIns="0" tIns="0" rIns="0" bIns="0" rtlCol="0">
              <a:spAutoFit/>
            </a:bodyPr>
            <a:lstStyle/>
            <a:p>
              <a:pPr algn="ctr"/>
              <a:r>
                <a:rPr lang="en-US" sz="1000" b="1" dirty="0">
                  <a:solidFill>
                    <a:prstClr val="black"/>
                  </a:solidFill>
                </a:rPr>
                <a:t>Medium</a:t>
              </a:r>
            </a:p>
          </p:txBody>
        </p:sp>
        <p:sp>
          <p:nvSpPr>
            <p:cNvPr id="27" name="TextBox 26"/>
            <p:cNvSpPr txBox="1"/>
            <p:nvPr/>
          </p:nvSpPr>
          <p:spPr bwMode="gray">
            <a:xfrm>
              <a:off x="9463033" y="3160316"/>
              <a:ext cx="346213" cy="226119"/>
            </a:xfrm>
            <a:prstGeom prst="rect">
              <a:avLst/>
            </a:prstGeom>
            <a:noFill/>
          </p:spPr>
          <p:txBody>
            <a:bodyPr wrap="none" lIns="0" tIns="0" rIns="0" bIns="0" rtlCol="0">
              <a:spAutoFit/>
            </a:bodyPr>
            <a:lstStyle/>
            <a:p>
              <a:pPr algn="ctr"/>
              <a:r>
                <a:rPr lang="en-US" sz="1000" b="1" dirty="0">
                  <a:solidFill>
                    <a:prstClr val="black"/>
                  </a:solidFill>
                </a:rPr>
                <a:t>High</a:t>
              </a:r>
            </a:p>
          </p:txBody>
        </p:sp>
      </p:grpSp>
      <p:grpSp>
        <p:nvGrpSpPr>
          <p:cNvPr id="28" name="Group 27"/>
          <p:cNvGrpSpPr/>
          <p:nvPr/>
        </p:nvGrpSpPr>
        <p:grpSpPr>
          <a:xfrm>
            <a:off x="9817100" y="3145540"/>
            <a:ext cx="2082800" cy="514642"/>
            <a:chOff x="7750387" y="2630235"/>
            <a:chExt cx="2154901" cy="756200"/>
          </a:xfrm>
        </p:grpSpPr>
        <p:sp>
          <p:nvSpPr>
            <p:cNvPr id="29" name="Rounded Rectangle 28"/>
            <p:cNvSpPr/>
            <p:nvPr/>
          </p:nvSpPr>
          <p:spPr>
            <a:xfrm rot="5400000">
              <a:off x="8583209" y="1797413"/>
              <a:ext cx="489257" cy="2154901"/>
            </a:xfrm>
            <a:prstGeom prst="roundRect">
              <a:avLst>
                <a:gd name="adj" fmla="val 50000"/>
              </a:avLst>
            </a:prstGeom>
            <a:gradFill flip="none" rotWithShape="1">
              <a:gsLst>
                <a:gs pos="0">
                  <a:schemeClr val="accent1">
                    <a:lumMod val="20000"/>
                    <a:lumOff val="80000"/>
                  </a:schemeClr>
                </a:gs>
                <a:gs pos="50000">
                  <a:srgbClr val="4CA7AE"/>
                </a:gs>
                <a:gs pos="100000">
                  <a:srgbClr val="306A6E"/>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30" name="Straight Connector 29"/>
            <p:cNvCxnSpPr>
              <a:stCxn id="31" idx="0"/>
              <a:endCxn id="29" idx="2"/>
            </p:cNvCxnSpPr>
            <p:nvPr/>
          </p:nvCxnSpPr>
          <p:spPr>
            <a:xfrm flipH="1">
              <a:off x="7750387" y="2862556"/>
              <a:ext cx="1142076" cy="12307"/>
            </a:xfrm>
            <a:prstGeom prst="line">
              <a:avLst/>
            </a:prstGeom>
            <a:ln w="28575">
              <a:solidFill>
                <a:srgbClr val="347276"/>
              </a:solidFill>
              <a:prstDash val="solid"/>
            </a:ln>
          </p:spPr>
          <p:style>
            <a:lnRef idx="1">
              <a:schemeClr val="accent1"/>
            </a:lnRef>
            <a:fillRef idx="0">
              <a:schemeClr val="accent1"/>
            </a:fillRef>
            <a:effectRef idx="0">
              <a:schemeClr val="accent1"/>
            </a:effectRef>
            <a:fontRef idx="minor">
              <a:schemeClr val="tx1"/>
            </a:fontRef>
          </p:style>
        </p:cxnSp>
        <p:sp>
          <p:nvSpPr>
            <p:cNvPr id="31" name="Oval 30"/>
            <p:cNvSpPr/>
            <p:nvPr/>
          </p:nvSpPr>
          <p:spPr>
            <a:xfrm rot="5400000">
              <a:off x="8627883" y="2730265"/>
              <a:ext cx="264579" cy="2645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2" name="TextBox 31"/>
            <p:cNvSpPr txBox="1"/>
            <p:nvPr/>
          </p:nvSpPr>
          <p:spPr bwMode="gray">
            <a:xfrm>
              <a:off x="7842313" y="3160316"/>
              <a:ext cx="314114" cy="226119"/>
            </a:xfrm>
            <a:prstGeom prst="rect">
              <a:avLst/>
            </a:prstGeom>
            <a:noFill/>
          </p:spPr>
          <p:txBody>
            <a:bodyPr wrap="none" lIns="0" tIns="0" rIns="0" bIns="0" rtlCol="0">
              <a:spAutoFit/>
            </a:bodyPr>
            <a:lstStyle/>
            <a:p>
              <a:pPr algn="ctr"/>
              <a:r>
                <a:rPr lang="en-US" sz="1000" b="1" dirty="0">
                  <a:solidFill>
                    <a:prstClr val="black"/>
                  </a:solidFill>
                </a:rPr>
                <a:t>Low</a:t>
              </a:r>
            </a:p>
          </p:txBody>
        </p:sp>
        <p:sp>
          <p:nvSpPr>
            <p:cNvPr id="33" name="TextBox 32"/>
            <p:cNvSpPr txBox="1"/>
            <p:nvPr/>
          </p:nvSpPr>
          <p:spPr bwMode="gray">
            <a:xfrm>
              <a:off x="8496959" y="3160316"/>
              <a:ext cx="644276" cy="226119"/>
            </a:xfrm>
            <a:prstGeom prst="rect">
              <a:avLst/>
            </a:prstGeom>
            <a:noFill/>
          </p:spPr>
          <p:txBody>
            <a:bodyPr wrap="none" lIns="0" tIns="0" rIns="0" bIns="0" rtlCol="0">
              <a:spAutoFit/>
            </a:bodyPr>
            <a:lstStyle/>
            <a:p>
              <a:pPr algn="ctr"/>
              <a:r>
                <a:rPr lang="en-US" sz="1000" b="1" dirty="0">
                  <a:solidFill>
                    <a:prstClr val="black"/>
                  </a:solidFill>
                </a:rPr>
                <a:t>Medium</a:t>
              </a:r>
            </a:p>
          </p:txBody>
        </p:sp>
        <p:sp>
          <p:nvSpPr>
            <p:cNvPr id="34" name="TextBox 33"/>
            <p:cNvSpPr txBox="1"/>
            <p:nvPr/>
          </p:nvSpPr>
          <p:spPr bwMode="gray">
            <a:xfrm>
              <a:off x="9463033" y="3160316"/>
              <a:ext cx="346213" cy="226119"/>
            </a:xfrm>
            <a:prstGeom prst="rect">
              <a:avLst/>
            </a:prstGeom>
            <a:noFill/>
          </p:spPr>
          <p:txBody>
            <a:bodyPr wrap="none" lIns="0" tIns="0" rIns="0" bIns="0" rtlCol="0">
              <a:spAutoFit/>
            </a:bodyPr>
            <a:lstStyle/>
            <a:p>
              <a:pPr algn="ctr"/>
              <a:r>
                <a:rPr lang="en-US" sz="1000" b="1" dirty="0">
                  <a:solidFill>
                    <a:prstClr val="black"/>
                  </a:solidFill>
                </a:rPr>
                <a:t>High</a:t>
              </a:r>
            </a:p>
          </p:txBody>
        </p:sp>
      </p:grpSp>
      <p:grpSp>
        <p:nvGrpSpPr>
          <p:cNvPr id="35" name="Group 34"/>
          <p:cNvGrpSpPr/>
          <p:nvPr/>
        </p:nvGrpSpPr>
        <p:grpSpPr>
          <a:xfrm>
            <a:off x="9829323" y="3768530"/>
            <a:ext cx="2082800" cy="514642"/>
            <a:chOff x="7750387" y="2630235"/>
            <a:chExt cx="2154901" cy="756200"/>
          </a:xfrm>
        </p:grpSpPr>
        <p:sp>
          <p:nvSpPr>
            <p:cNvPr id="36" name="Rounded Rectangle 35"/>
            <p:cNvSpPr/>
            <p:nvPr/>
          </p:nvSpPr>
          <p:spPr>
            <a:xfrm rot="5400000">
              <a:off x="8583209" y="1797413"/>
              <a:ext cx="489257" cy="2154901"/>
            </a:xfrm>
            <a:prstGeom prst="roundRect">
              <a:avLst>
                <a:gd name="adj" fmla="val 50000"/>
              </a:avLst>
            </a:prstGeom>
            <a:gradFill flip="none" rotWithShape="1">
              <a:gsLst>
                <a:gs pos="0">
                  <a:schemeClr val="accent1">
                    <a:lumMod val="20000"/>
                    <a:lumOff val="80000"/>
                  </a:schemeClr>
                </a:gs>
                <a:gs pos="50000">
                  <a:srgbClr val="4CA7AE"/>
                </a:gs>
                <a:gs pos="100000">
                  <a:srgbClr val="306A6E"/>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37" name="Straight Connector 36"/>
            <p:cNvCxnSpPr>
              <a:stCxn id="38" idx="4"/>
              <a:endCxn id="36" idx="2"/>
            </p:cNvCxnSpPr>
            <p:nvPr/>
          </p:nvCxnSpPr>
          <p:spPr>
            <a:xfrm flipH="1">
              <a:off x="7750387" y="2864156"/>
              <a:ext cx="758928" cy="10707"/>
            </a:xfrm>
            <a:prstGeom prst="line">
              <a:avLst/>
            </a:prstGeom>
            <a:ln w="28575">
              <a:solidFill>
                <a:srgbClr val="347276"/>
              </a:solidFill>
              <a:prstDash val="solid"/>
            </a:ln>
          </p:spPr>
          <p:style>
            <a:lnRef idx="1">
              <a:schemeClr val="accent1"/>
            </a:lnRef>
            <a:fillRef idx="0">
              <a:schemeClr val="accent1"/>
            </a:fillRef>
            <a:effectRef idx="0">
              <a:schemeClr val="accent1"/>
            </a:effectRef>
            <a:fontRef idx="minor">
              <a:schemeClr val="tx1"/>
            </a:fontRef>
          </p:style>
        </p:cxnSp>
        <p:sp>
          <p:nvSpPr>
            <p:cNvPr id="38" name="Oval 37"/>
            <p:cNvSpPr/>
            <p:nvPr/>
          </p:nvSpPr>
          <p:spPr>
            <a:xfrm rot="5400000">
              <a:off x="8509314" y="2731865"/>
              <a:ext cx="264579" cy="2645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9" name="TextBox 38"/>
            <p:cNvSpPr txBox="1"/>
            <p:nvPr/>
          </p:nvSpPr>
          <p:spPr bwMode="gray">
            <a:xfrm>
              <a:off x="7842313" y="3160316"/>
              <a:ext cx="314114" cy="226119"/>
            </a:xfrm>
            <a:prstGeom prst="rect">
              <a:avLst/>
            </a:prstGeom>
            <a:noFill/>
          </p:spPr>
          <p:txBody>
            <a:bodyPr wrap="none" lIns="0" tIns="0" rIns="0" bIns="0" rtlCol="0">
              <a:spAutoFit/>
            </a:bodyPr>
            <a:lstStyle/>
            <a:p>
              <a:pPr algn="ctr"/>
              <a:r>
                <a:rPr lang="en-US" sz="1000" b="1" dirty="0">
                  <a:solidFill>
                    <a:prstClr val="black"/>
                  </a:solidFill>
                </a:rPr>
                <a:t>Low</a:t>
              </a:r>
            </a:p>
          </p:txBody>
        </p:sp>
        <p:sp>
          <p:nvSpPr>
            <p:cNvPr id="40" name="TextBox 39"/>
            <p:cNvSpPr txBox="1"/>
            <p:nvPr/>
          </p:nvSpPr>
          <p:spPr bwMode="gray">
            <a:xfrm>
              <a:off x="8496959" y="3160316"/>
              <a:ext cx="644276" cy="226119"/>
            </a:xfrm>
            <a:prstGeom prst="rect">
              <a:avLst/>
            </a:prstGeom>
            <a:noFill/>
          </p:spPr>
          <p:txBody>
            <a:bodyPr wrap="none" lIns="0" tIns="0" rIns="0" bIns="0" rtlCol="0">
              <a:spAutoFit/>
            </a:bodyPr>
            <a:lstStyle/>
            <a:p>
              <a:pPr algn="ctr"/>
              <a:r>
                <a:rPr lang="en-US" sz="1000" b="1" dirty="0">
                  <a:solidFill>
                    <a:prstClr val="black"/>
                  </a:solidFill>
                </a:rPr>
                <a:t>Medium</a:t>
              </a:r>
            </a:p>
          </p:txBody>
        </p:sp>
        <p:sp>
          <p:nvSpPr>
            <p:cNvPr id="41" name="TextBox 40"/>
            <p:cNvSpPr txBox="1"/>
            <p:nvPr/>
          </p:nvSpPr>
          <p:spPr bwMode="gray">
            <a:xfrm>
              <a:off x="9463033" y="3160316"/>
              <a:ext cx="346213" cy="226119"/>
            </a:xfrm>
            <a:prstGeom prst="rect">
              <a:avLst/>
            </a:prstGeom>
            <a:noFill/>
          </p:spPr>
          <p:txBody>
            <a:bodyPr wrap="none" lIns="0" tIns="0" rIns="0" bIns="0" rtlCol="0">
              <a:spAutoFit/>
            </a:bodyPr>
            <a:lstStyle/>
            <a:p>
              <a:pPr algn="ctr"/>
              <a:r>
                <a:rPr lang="en-US" sz="1000" b="1" dirty="0">
                  <a:solidFill>
                    <a:prstClr val="black"/>
                  </a:solidFill>
                </a:rPr>
                <a:t>High</a:t>
              </a:r>
            </a:p>
          </p:txBody>
        </p:sp>
      </p:grpSp>
      <p:grpSp>
        <p:nvGrpSpPr>
          <p:cNvPr id="42" name="Group 41"/>
          <p:cNvGrpSpPr/>
          <p:nvPr/>
        </p:nvGrpSpPr>
        <p:grpSpPr>
          <a:xfrm>
            <a:off x="9823212" y="4391520"/>
            <a:ext cx="2082800" cy="514642"/>
            <a:chOff x="7750387" y="2630235"/>
            <a:chExt cx="2154901" cy="756200"/>
          </a:xfrm>
        </p:grpSpPr>
        <p:sp>
          <p:nvSpPr>
            <p:cNvPr id="43" name="Rounded Rectangle 42"/>
            <p:cNvSpPr/>
            <p:nvPr/>
          </p:nvSpPr>
          <p:spPr>
            <a:xfrm rot="5400000">
              <a:off x="8583209" y="1797413"/>
              <a:ext cx="489257" cy="2154901"/>
            </a:xfrm>
            <a:prstGeom prst="roundRect">
              <a:avLst>
                <a:gd name="adj" fmla="val 50000"/>
              </a:avLst>
            </a:prstGeom>
            <a:gradFill flip="none" rotWithShape="1">
              <a:gsLst>
                <a:gs pos="0">
                  <a:schemeClr val="accent1">
                    <a:lumMod val="20000"/>
                    <a:lumOff val="80000"/>
                  </a:schemeClr>
                </a:gs>
                <a:gs pos="50000">
                  <a:srgbClr val="4CA7AE"/>
                </a:gs>
                <a:gs pos="100000">
                  <a:srgbClr val="306A6E"/>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44" name="Straight Connector 43"/>
            <p:cNvCxnSpPr>
              <a:stCxn id="45" idx="0"/>
              <a:endCxn id="43" idx="2"/>
            </p:cNvCxnSpPr>
            <p:nvPr/>
          </p:nvCxnSpPr>
          <p:spPr>
            <a:xfrm flipH="1">
              <a:off x="7750387" y="2860491"/>
              <a:ext cx="1374497" cy="14372"/>
            </a:xfrm>
            <a:prstGeom prst="line">
              <a:avLst/>
            </a:prstGeom>
            <a:ln w="28575">
              <a:solidFill>
                <a:srgbClr val="347276"/>
              </a:solidFill>
              <a:prstDash val="solid"/>
            </a:ln>
          </p:spPr>
          <p:style>
            <a:lnRef idx="1">
              <a:schemeClr val="accent1"/>
            </a:lnRef>
            <a:fillRef idx="0">
              <a:schemeClr val="accent1"/>
            </a:fillRef>
            <a:effectRef idx="0">
              <a:schemeClr val="accent1"/>
            </a:effectRef>
            <a:fontRef idx="minor">
              <a:schemeClr val="tx1"/>
            </a:fontRef>
          </p:style>
        </p:cxnSp>
        <p:sp>
          <p:nvSpPr>
            <p:cNvPr id="45" name="Oval 44"/>
            <p:cNvSpPr/>
            <p:nvPr/>
          </p:nvSpPr>
          <p:spPr>
            <a:xfrm rot="5400000">
              <a:off x="8860305" y="2728201"/>
              <a:ext cx="264579" cy="2645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6" name="TextBox 45"/>
            <p:cNvSpPr txBox="1"/>
            <p:nvPr/>
          </p:nvSpPr>
          <p:spPr bwMode="gray">
            <a:xfrm>
              <a:off x="7842313" y="3160316"/>
              <a:ext cx="314114" cy="226119"/>
            </a:xfrm>
            <a:prstGeom prst="rect">
              <a:avLst/>
            </a:prstGeom>
            <a:noFill/>
          </p:spPr>
          <p:txBody>
            <a:bodyPr wrap="none" lIns="0" tIns="0" rIns="0" bIns="0" rtlCol="0">
              <a:spAutoFit/>
            </a:bodyPr>
            <a:lstStyle/>
            <a:p>
              <a:pPr algn="ctr"/>
              <a:r>
                <a:rPr lang="en-US" sz="1000" b="1" dirty="0">
                  <a:solidFill>
                    <a:prstClr val="black"/>
                  </a:solidFill>
                </a:rPr>
                <a:t>Low</a:t>
              </a:r>
            </a:p>
          </p:txBody>
        </p:sp>
        <p:sp>
          <p:nvSpPr>
            <p:cNvPr id="47" name="TextBox 46"/>
            <p:cNvSpPr txBox="1"/>
            <p:nvPr/>
          </p:nvSpPr>
          <p:spPr bwMode="gray">
            <a:xfrm>
              <a:off x="8496959" y="3160316"/>
              <a:ext cx="644276" cy="226119"/>
            </a:xfrm>
            <a:prstGeom prst="rect">
              <a:avLst/>
            </a:prstGeom>
            <a:noFill/>
          </p:spPr>
          <p:txBody>
            <a:bodyPr wrap="none" lIns="0" tIns="0" rIns="0" bIns="0" rtlCol="0">
              <a:spAutoFit/>
            </a:bodyPr>
            <a:lstStyle/>
            <a:p>
              <a:pPr algn="ctr"/>
              <a:r>
                <a:rPr lang="en-US" sz="1000" b="1" dirty="0">
                  <a:solidFill>
                    <a:prstClr val="black"/>
                  </a:solidFill>
                </a:rPr>
                <a:t>Medium</a:t>
              </a:r>
            </a:p>
          </p:txBody>
        </p:sp>
        <p:sp>
          <p:nvSpPr>
            <p:cNvPr id="48" name="TextBox 47"/>
            <p:cNvSpPr txBox="1"/>
            <p:nvPr/>
          </p:nvSpPr>
          <p:spPr bwMode="gray">
            <a:xfrm>
              <a:off x="9463033" y="3160316"/>
              <a:ext cx="346213" cy="226119"/>
            </a:xfrm>
            <a:prstGeom prst="rect">
              <a:avLst/>
            </a:prstGeom>
            <a:noFill/>
          </p:spPr>
          <p:txBody>
            <a:bodyPr wrap="none" lIns="0" tIns="0" rIns="0" bIns="0" rtlCol="0">
              <a:spAutoFit/>
            </a:bodyPr>
            <a:lstStyle/>
            <a:p>
              <a:pPr algn="ctr"/>
              <a:r>
                <a:rPr lang="en-US" sz="1000" b="1" dirty="0">
                  <a:solidFill>
                    <a:prstClr val="black"/>
                  </a:solidFill>
                </a:rPr>
                <a:t>High</a:t>
              </a:r>
            </a:p>
          </p:txBody>
        </p:sp>
      </p:grpSp>
      <p:graphicFrame>
        <p:nvGraphicFramePr>
          <p:cNvPr id="49" name="Chart 48"/>
          <p:cNvGraphicFramePr/>
          <p:nvPr/>
        </p:nvGraphicFramePr>
        <p:xfrm>
          <a:off x="3556433" y="2551761"/>
          <a:ext cx="5629825" cy="4984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0" name="Chart 49"/>
          <p:cNvGraphicFramePr/>
          <p:nvPr/>
        </p:nvGraphicFramePr>
        <p:xfrm>
          <a:off x="3540034" y="3163703"/>
          <a:ext cx="5629825" cy="49845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1" name="Chart 50"/>
          <p:cNvGraphicFramePr/>
          <p:nvPr/>
        </p:nvGraphicFramePr>
        <p:xfrm>
          <a:off x="3540034" y="3775645"/>
          <a:ext cx="5629825" cy="49845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2" name="Chart 51"/>
          <p:cNvGraphicFramePr/>
          <p:nvPr/>
        </p:nvGraphicFramePr>
        <p:xfrm>
          <a:off x="3532578" y="4387587"/>
          <a:ext cx="5629825" cy="498451"/>
        </p:xfrm>
        <a:graphic>
          <a:graphicData uri="http://schemas.openxmlformats.org/drawingml/2006/chart">
            <c:chart xmlns:c="http://schemas.openxmlformats.org/drawingml/2006/chart" xmlns:r="http://schemas.openxmlformats.org/officeDocument/2006/relationships" r:id="rId6"/>
          </a:graphicData>
        </a:graphic>
      </p:graphicFrame>
      <p:grpSp>
        <p:nvGrpSpPr>
          <p:cNvPr id="53" name="Group 52"/>
          <p:cNvGrpSpPr/>
          <p:nvPr/>
        </p:nvGrpSpPr>
        <p:grpSpPr>
          <a:xfrm>
            <a:off x="9782413" y="1899560"/>
            <a:ext cx="2082800" cy="514642"/>
            <a:chOff x="7750387" y="2630235"/>
            <a:chExt cx="2154901" cy="756200"/>
          </a:xfrm>
        </p:grpSpPr>
        <p:sp>
          <p:nvSpPr>
            <p:cNvPr id="54" name="Rounded Rectangle 53"/>
            <p:cNvSpPr/>
            <p:nvPr/>
          </p:nvSpPr>
          <p:spPr>
            <a:xfrm rot="5400000">
              <a:off x="8583209" y="1797413"/>
              <a:ext cx="489257" cy="2154901"/>
            </a:xfrm>
            <a:prstGeom prst="roundRect">
              <a:avLst>
                <a:gd name="adj" fmla="val 50000"/>
              </a:avLst>
            </a:prstGeom>
            <a:gradFill flip="none" rotWithShape="1">
              <a:gsLst>
                <a:gs pos="0">
                  <a:schemeClr val="accent1">
                    <a:lumMod val="20000"/>
                    <a:lumOff val="80000"/>
                  </a:schemeClr>
                </a:gs>
                <a:gs pos="50000">
                  <a:srgbClr val="4CA7AE"/>
                </a:gs>
                <a:gs pos="100000">
                  <a:srgbClr val="306A6E"/>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5" name="Straight Connector 54"/>
            <p:cNvCxnSpPr>
              <a:stCxn id="56" idx="0"/>
              <a:endCxn id="54" idx="2"/>
            </p:cNvCxnSpPr>
            <p:nvPr/>
          </p:nvCxnSpPr>
          <p:spPr>
            <a:xfrm flipH="1">
              <a:off x="7750387" y="2864861"/>
              <a:ext cx="1647234" cy="10002"/>
            </a:xfrm>
            <a:prstGeom prst="line">
              <a:avLst/>
            </a:prstGeom>
            <a:ln w="28575">
              <a:solidFill>
                <a:srgbClr val="347276"/>
              </a:solidFill>
              <a:prstDash val="solid"/>
            </a:ln>
          </p:spPr>
          <p:style>
            <a:lnRef idx="1">
              <a:schemeClr val="accent1"/>
            </a:lnRef>
            <a:fillRef idx="0">
              <a:schemeClr val="accent1"/>
            </a:fillRef>
            <a:effectRef idx="0">
              <a:schemeClr val="accent1"/>
            </a:effectRef>
            <a:fontRef idx="minor">
              <a:schemeClr val="tx1"/>
            </a:fontRef>
          </p:style>
        </p:cxnSp>
        <p:sp>
          <p:nvSpPr>
            <p:cNvPr id="56" name="Oval 55"/>
            <p:cNvSpPr/>
            <p:nvPr/>
          </p:nvSpPr>
          <p:spPr>
            <a:xfrm rot="5400000">
              <a:off x="9133042" y="2732570"/>
              <a:ext cx="264579" cy="2645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7" name="TextBox 56"/>
            <p:cNvSpPr txBox="1"/>
            <p:nvPr/>
          </p:nvSpPr>
          <p:spPr bwMode="gray">
            <a:xfrm>
              <a:off x="7842313" y="3160316"/>
              <a:ext cx="314114" cy="226119"/>
            </a:xfrm>
            <a:prstGeom prst="rect">
              <a:avLst/>
            </a:prstGeom>
            <a:noFill/>
          </p:spPr>
          <p:txBody>
            <a:bodyPr wrap="none" lIns="0" tIns="0" rIns="0" bIns="0" rtlCol="0">
              <a:spAutoFit/>
            </a:bodyPr>
            <a:lstStyle/>
            <a:p>
              <a:pPr algn="ctr"/>
              <a:r>
                <a:rPr lang="en-US" sz="1000" b="1" dirty="0">
                  <a:solidFill>
                    <a:prstClr val="black"/>
                  </a:solidFill>
                </a:rPr>
                <a:t>Low</a:t>
              </a:r>
            </a:p>
          </p:txBody>
        </p:sp>
        <p:sp>
          <p:nvSpPr>
            <p:cNvPr id="58" name="TextBox 57"/>
            <p:cNvSpPr txBox="1"/>
            <p:nvPr/>
          </p:nvSpPr>
          <p:spPr bwMode="gray">
            <a:xfrm>
              <a:off x="8496959" y="3160316"/>
              <a:ext cx="644276" cy="226119"/>
            </a:xfrm>
            <a:prstGeom prst="rect">
              <a:avLst/>
            </a:prstGeom>
            <a:noFill/>
          </p:spPr>
          <p:txBody>
            <a:bodyPr wrap="none" lIns="0" tIns="0" rIns="0" bIns="0" rtlCol="0">
              <a:spAutoFit/>
            </a:bodyPr>
            <a:lstStyle/>
            <a:p>
              <a:pPr algn="ctr"/>
              <a:r>
                <a:rPr lang="en-US" sz="1000" b="1" dirty="0">
                  <a:solidFill>
                    <a:prstClr val="black"/>
                  </a:solidFill>
                </a:rPr>
                <a:t>Medium</a:t>
              </a:r>
            </a:p>
          </p:txBody>
        </p:sp>
        <p:sp>
          <p:nvSpPr>
            <p:cNvPr id="59" name="TextBox 58"/>
            <p:cNvSpPr txBox="1"/>
            <p:nvPr/>
          </p:nvSpPr>
          <p:spPr bwMode="gray">
            <a:xfrm>
              <a:off x="9463033" y="3160316"/>
              <a:ext cx="346213" cy="226119"/>
            </a:xfrm>
            <a:prstGeom prst="rect">
              <a:avLst/>
            </a:prstGeom>
            <a:noFill/>
          </p:spPr>
          <p:txBody>
            <a:bodyPr wrap="none" lIns="0" tIns="0" rIns="0" bIns="0" rtlCol="0">
              <a:spAutoFit/>
            </a:bodyPr>
            <a:lstStyle/>
            <a:p>
              <a:pPr algn="ctr"/>
              <a:r>
                <a:rPr lang="en-US" sz="1000" b="1" dirty="0">
                  <a:solidFill>
                    <a:prstClr val="black"/>
                  </a:solidFill>
                </a:rPr>
                <a:t>High</a:t>
              </a:r>
            </a:p>
          </p:txBody>
        </p:sp>
      </p:grpSp>
      <p:graphicFrame>
        <p:nvGraphicFramePr>
          <p:cNvPr id="61" name="Chart 60"/>
          <p:cNvGraphicFramePr/>
          <p:nvPr/>
        </p:nvGraphicFramePr>
        <p:xfrm>
          <a:off x="3595248" y="4999529"/>
          <a:ext cx="5629825" cy="498451"/>
        </p:xfrm>
        <a:graphic>
          <a:graphicData uri="http://schemas.openxmlformats.org/drawingml/2006/chart">
            <c:chart xmlns:c="http://schemas.openxmlformats.org/drawingml/2006/chart" xmlns:r="http://schemas.openxmlformats.org/officeDocument/2006/relationships" r:id="rId7"/>
          </a:graphicData>
        </a:graphic>
      </p:graphicFrame>
      <p:grpSp>
        <p:nvGrpSpPr>
          <p:cNvPr id="62" name="Group 61"/>
          <p:cNvGrpSpPr/>
          <p:nvPr/>
        </p:nvGrpSpPr>
        <p:grpSpPr>
          <a:xfrm>
            <a:off x="9817100" y="5014510"/>
            <a:ext cx="2082800" cy="514642"/>
            <a:chOff x="7750387" y="2630235"/>
            <a:chExt cx="2154901" cy="756200"/>
          </a:xfrm>
        </p:grpSpPr>
        <p:sp>
          <p:nvSpPr>
            <p:cNvPr id="63" name="Rounded Rectangle 62"/>
            <p:cNvSpPr/>
            <p:nvPr/>
          </p:nvSpPr>
          <p:spPr>
            <a:xfrm rot="5400000">
              <a:off x="8583209" y="1797413"/>
              <a:ext cx="489257" cy="2154901"/>
            </a:xfrm>
            <a:prstGeom prst="roundRect">
              <a:avLst>
                <a:gd name="adj" fmla="val 50000"/>
              </a:avLst>
            </a:prstGeom>
            <a:gradFill flip="none" rotWithShape="1">
              <a:gsLst>
                <a:gs pos="0">
                  <a:schemeClr val="accent1">
                    <a:lumMod val="20000"/>
                    <a:lumOff val="80000"/>
                  </a:schemeClr>
                </a:gs>
                <a:gs pos="50000">
                  <a:srgbClr val="4CA7AE"/>
                </a:gs>
                <a:gs pos="100000">
                  <a:srgbClr val="306A6E"/>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64" name="Straight Connector 63"/>
            <p:cNvCxnSpPr>
              <a:stCxn id="65" idx="4"/>
              <a:endCxn id="63" idx="2"/>
            </p:cNvCxnSpPr>
            <p:nvPr/>
          </p:nvCxnSpPr>
          <p:spPr>
            <a:xfrm flipH="1">
              <a:off x="7750387" y="2862485"/>
              <a:ext cx="1435068" cy="12378"/>
            </a:xfrm>
            <a:prstGeom prst="line">
              <a:avLst/>
            </a:prstGeom>
            <a:ln w="28575">
              <a:solidFill>
                <a:srgbClr val="347276"/>
              </a:solidFill>
              <a:prstDash val="solid"/>
            </a:ln>
          </p:spPr>
          <p:style>
            <a:lnRef idx="1">
              <a:schemeClr val="accent1"/>
            </a:lnRef>
            <a:fillRef idx="0">
              <a:schemeClr val="accent1"/>
            </a:fillRef>
            <a:effectRef idx="0">
              <a:schemeClr val="accent1"/>
            </a:effectRef>
            <a:fontRef idx="minor">
              <a:schemeClr val="tx1"/>
            </a:fontRef>
          </p:style>
        </p:cxnSp>
        <p:sp>
          <p:nvSpPr>
            <p:cNvPr id="65" name="Oval 64"/>
            <p:cNvSpPr/>
            <p:nvPr/>
          </p:nvSpPr>
          <p:spPr>
            <a:xfrm rot="5400000">
              <a:off x="9185454" y="2730194"/>
              <a:ext cx="264579" cy="2645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6" name="TextBox 65"/>
            <p:cNvSpPr txBox="1"/>
            <p:nvPr/>
          </p:nvSpPr>
          <p:spPr bwMode="gray">
            <a:xfrm>
              <a:off x="7842313" y="3160316"/>
              <a:ext cx="314114" cy="226119"/>
            </a:xfrm>
            <a:prstGeom prst="rect">
              <a:avLst/>
            </a:prstGeom>
            <a:noFill/>
          </p:spPr>
          <p:txBody>
            <a:bodyPr wrap="none" lIns="0" tIns="0" rIns="0" bIns="0" rtlCol="0">
              <a:spAutoFit/>
            </a:bodyPr>
            <a:lstStyle/>
            <a:p>
              <a:pPr algn="ctr"/>
              <a:r>
                <a:rPr lang="en-US" sz="1000" b="1" dirty="0">
                  <a:solidFill>
                    <a:prstClr val="black"/>
                  </a:solidFill>
                </a:rPr>
                <a:t>Low</a:t>
              </a:r>
            </a:p>
          </p:txBody>
        </p:sp>
        <p:sp>
          <p:nvSpPr>
            <p:cNvPr id="67" name="TextBox 66"/>
            <p:cNvSpPr txBox="1"/>
            <p:nvPr/>
          </p:nvSpPr>
          <p:spPr bwMode="gray">
            <a:xfrm>
              <a:off x="8496959" y="3160316"/>
              <a:ext cx="644276" cy="226119"/>
            </a:xfrm>
            <a:prstGeom prst="rect">
              <a:avLst/>
            </a:prstGeom>
            <a:noFill/>
          </p:spPr>
          <p:txBody>
            <a:bodyPr wrap="none" lIns="0" tIns="0" rIns="0" bIns="0" rtlCol="0">
              <a:spAutoFit/>
            </a:bodyPr>
            <a:lstStyle/>
            <a:p>
              <a:pPr algn="ctr"/>
              <a:r>
                <a:rPr lang="en-US" sz="1000" b="1" dirty="0">
                  <a:solidFill>
                    <a:prstClr val="black"/>
                  </a:solidFill>
                </a:rPr>
                <a:t>Medium</a:t>
              </a:r>
            </a:p>
          </p:txBody>
        </p:sp>
        <p:sp>
          <p:nvSpPr>
            <p:cNvPr id="68" name="TextBox 67"/>
            <p:cNvSpPr txBox="1"/>
            <p:nvPr/>
          </p:nvSpPr>
          <p:spPr bwMode="gray">
            <a:xfrm>
              <a:off x="9463033" y="3160316"/>
              <a:ext cx="346213" cy="226119"/>
            </a:xfrm>
            <a:prstGeom prst="rect">
              <a:avLst/>
            </a:prstGeom>
            <a:noFill/>
          </p:spPr>
          <p:txBody>
            <a:bodyPr wrap="none" lIns="0" tIns="0" rIns="0" bIns="0" rtlCol="0">
              <a:spAutoFit/>
            </a:bodyPr>
            <a:lstStyle/>
            <a:p>
              <a:pPr algn="ctr"/>
              <a:r>
                <a:rPr lang="en-US" sz="1000" b="1" dirty="0">
                  <a:solidFill>
                    <a:prstClr val="black"/>
                  </a:solidFill>
                </a:rPr>
                <a:t>High</a:t>
              </a:r>
            </a:p>
          </p:txBody>
        </p:sp>
      </p:grpSp>
      <p:graphicFrame>
        <p:nvGraphicFramePr>
          <p:cNvPr id="69" name="Chart 68"/>
          <p:cNvGraphicFramePr/>
          <p:nvPr/>
        </p:nvGraphicFramePr>
        <p:xfrm>
          <a:off x="3540034" y="5611471"/>
          <a:ext cx="5629825" cy="498451"/>
        </p:xfrm>
        <a:graphic>
          <a:graphicData uri="http://schemas.openxmlformats.org/drawingml/2006/chart">
            <c:chart xmlns:c="http://schemas.openxmlformats.org/drawingml/2006/chart" xmlns:r="http://schemas.openxmlformats.org/officeDocument/2006/relationships" r:id="rId8"/>
          </a:graphicData>
        </a:graphic>
      </p:graphicFrame>
      <p:grpSp>
        <p:nvGrpSpPr>
          <p:cNvPr id="70" name="Group 69"/>
          <p:cNvGrpSpPr/>
          <p:nvPr/>
        </p:nvGrpSpPr>
        <p:grpSpPr>
          <a:xfrm>
            <a:off x="9808651" y="5637499"/>
            <a:ext cx="2082800" cy="514642"/>
            <a:chOff x="7750387" y="2630235"/>
            <a:chExt cx="2154901" cy="756200"/>
          </a:xfrm>
        </p:grpSpPr>
        <p:sp>
          <p:nvSpPr>
            <p:cNvPr id="71" name="Rounded Rectangle 70"/>
            <p:cNvSpPr/>
            <p:nvPr/>
          </p:nvSpPr>
          <p:spPr>
            <a:xfrm rot="5400000">
              <a:off x="8583209" y="1797413"/>
              <a:ext cx="489257" cy="2154901"/>
            </a:xfrm>
            <a:prstGeom prst="roundRect">
              <a:avLst>
                <a:gd name="adj" fmla="val 50000"/>
              </a:avLst>
            </a:prstGeom>
            <a:gradFill flip="none" rotWithShape="1">
              <a:gsLst>
                <a:gs pos="0">
                  <a:schemeClr val="accent1">
                    <a:lumMod val="20000"/>
                    <a:lumOff val="80000"/>
                  </a:schemeClr>
                </a:gs>
                <a:gs pos="50000">
                  <a:srgbClr val="4CA7AE"/>
                </a:gs>
                <a:gs pos="100000">
                  <a:srgbClr val="306A6E"/>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72" name="Straight Connector 71"/>
            <p:cNvCxnSpPr>
              <a:stCxn id="73" idx="4"/>
              <a:endCxn id="71" idx="2"/>
            </p:cNvCxnSpPr>
            <p:nvPr/>
          </p:nvCxnSpPr>
          <p:spPr>
            <a:xfrm flipH="1">
              <a:off x="7750387" y="2864861"/>
              <a:ext cx="1053586" cy="10002"/>
            </a:xfrm>
            <a:prstGeom prst="line">
              <a:avLst/>
            </a:prstGeom>
            <a:ln w="28575">
              <a:solidFill>
                <a:srgbClr val="347276"/>
              </a:solidFill>
              <a:prstDash val="solid"/>
            </a:ln>
          </p:spPr>
          <p:style>
            <a:lnRef idx="1">
              <a:schemeClr val="accent1"/>
            </a:lnRef>
            <a:fillRef idx="0">
              <a:schemeClr val="accent1"/>
            </a:fillRef>
            <a:effectRef idx="0">
              <a:schemeClr val="accent1"/>
            </a:effectRef>
            <a:fontRef idx="minor">
              <a:schemeClr val="tx1"/>
            </a:fontRef>
          </p:style>
        </p:cxnSp>
        <p:sp>
          <p:nvSpPr>
            <p:cNvPr id="73" name="Oval 72"/>
            <p:cNvSpPr/>
            <p:nvPr/>
          </p:nvSpPr>
          <p:spPr>
            <a:xfrm rot="5400000">
              <a:off x="8803972" y="2732570"/>
              <a:ext cx="264579" cy="2645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74" name="TextBox 73"/>
            <p:cNvSpPr txBox="1"/>
            <p:nvPr/>
          </p:nvSpPr>
          <p:spPr bwMode="gray">
            <a:xfrm>
              <a:off x="7842313" y="3160316"/>
              <a:ext cx="314114" cy="226119"/>
            </a:xfrm>
            <a:prstGeom prst="rect">
              <a:avLst/>
            </a:prstGeom>
            <a:noFill/>
          </p:spPr>
          <p:txBody>
            <a:bodyPr wrap="none" lIns="0" tIns="0" rIns="0" bIns="0" rtlCol="0">
              <a:spAutoFit/>
            </a:bodyPr>
            <a:lstStyle/>
            <a:p>
              <a:pPr algn="ctr"/>
              <a:r>
                <a:rPr lang="en-US" sz="1000" b="1" dirty="0">
                  <a:solidFill>
                    <a:prstClr val="black"/>
                  </a:solidFill>
                </a:rPr>
                <a:t>Low</a:t>
              </a:r>
            </a:p>
          </p:txBody>
        </p:sp>
        <p:sp>
          <p:nvSpPr>
            <p:cNvPr id="75" name="TextBox 74"/>
            <p:cNvSpPr txBox="1"/>
            <p:nvPr/>
          </p:nvSpPr>
          <p:spPr bwMode="gray">
            <a:xfrm>
              <a:off x="8496959" y="3160316"/>
              <a:ext cx="644276" cy="226119"/>
            </a:xfrm>
            <a:prstGeom prst="rect">
              <a:avLst/>
            </a:prstGeom>
            <a:noFill/>
          </p:spPr>
          <p:txBody>
            <a:bodyPr wrap="none" lIns="0" tIns="0" rIns="0" bIns="0" rtlCol="0">
              <a:spAutoFit/>
            </a:bodyPr>
            <a:lstStyle/>
            <a:p>
              <a:pPr algn="ctr"/>
              <a:r>
                <a:rPr lang="en-US" sz="1000" b="1" dirty="0">
                  <a:solidFill>
                    <a:prstClr val="black"/>
                  </a:solidFill>
                </a:rPr>
                <a:t>Medium</a:t>
              </a:r>
            </a:p>
          </p:txBody>
        </p:sp>
        <p:sp>
          <p:nvSpPr>
            <p:cNvPr id="76" name="TextBox 75"/>
            <p:cNvSpPr txBox="1"/>
            <p:nvPr/>
          </p:nvSpPr>
          <p:spPr bwMode="gray">
            <a:xfrm>
              <a:off x="9463033" y="3160316"/>
              <a:ext cx="346213" cy="226119"/>
            </a:xfrm>
            <a:prstGeom prst="rect">
              <a:avLst/>
            </a:prstGeom>
            <a:noFill/>
          </p:spPr>
          <p:txBody>
            <a:bodyPr wrap="none" lIns="0" tIns="0" rIns="0" bIns="0" rtlCol="0">
              <a:spAutoFit/>
            </a:bodyPr>
            <a:lstStyle/>
            <a:p>
              <a:pPr algn="ctr"/>
              <a:r>
                <a:rPr lang="en-US" sz="1000" b="1" dirty="0">
                  <a:solidFill>
                    <a:prstClr val="black"/>
                  </a:solidFill>
                </a:rPr>
                <a:t>High</a:t>
              </a:r>
            </a:p>
          </p:txBody>
        </p:sp>
      </p:grpSp>
      <p:sp>
        <p:nvSpPr>
          <p:cNvPr id="77" name="TextBox 76"/>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Tree>
    <p:extLst>
      <p:ext uri="{BB962C8B-B14F-4D97-AF65-F5344CB8AC3E}">
        <p14:creationId xmlns:p14="http://schemas.microsoft.com/office/powerpoint/2010/main" val="2245495125"/>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COVID – 19 Impact Assessment</a:t>
            </a:r>
          </a:p>
        </p:txBody>
      </p:sp>
      <p:graphicFrame>
        <p:nvGraphicFramePr>
          <p:cNvPr id="4" name="Table 3"/>
          <p:cNvGraphicFramePr>
            <a:graphicFrameLocks noGrp="1"/>
          </p:cNvGraphicFramePr>
          <p:nvPr>
            <p:extLst>
              <p:ext uri="{D42A27DB-BD31-4B8C-83A1-F6EECF244321}">
                <p14:modId xmlns:p14="http://schemas.microsoft.com/office/powerpoint/2010/main" val="1356511109"/>
              </p:ext>
            </p:extLst>
          </p:nvPr>
        </p:nvGraphicFramePr>
        <p:xfrm>
          <a:off x="356413" y="1713354"/>
          <a:ext cx="2560320" cy="4412128"/>
        </p:xfrm>
        <a:graphic>
          <a:graphicData uri="http://schemas.openxmlformats.org/drawingml/2006/table">
            <a:tbl>
              <a:tblPr bandRow="1">
                <a:tableStyleId>{5C22544A-7EE6-4342-B048-85BDC9FD1C3A}</a:tableStyleId>
              </a:tblPr>
              <a:tblGrid>
                <a:gridCol w="2560320">
                  <a:extLst>
                    <a:ext uri="{9D8B030D-6E8A-4147-A177-3AD203B41FA5}">
                      <a16:colId xmlns:a16="http://schemas.microsoft.com/office/drawing/2014/main" val="20000"/>
                    </a:ext>
                  </a:extLst>
                </a:gridCol>
              </a:tblGrid>
              <a:tr h="315152">
                <a:tc>
                  <a:txBody>
                    <a:bodyPr/>
                    <a:lstStyle/>
                    <a:p>
                      <a:pPr algn="l" fontAlgn="b"/>
                      <a:r>
                        <a:rPr lang="en-US" sz="1100" b="0" i="0" u="none" strike="noStrike" dirty="0">
                          <a:solidFill>
                            <a:srgbClr val="000000"/>
                          </a:solidFill>
                          <a:effectLst/>
                          <a:latin typeface="Calibri" panose="020F0502020204030204" pitchFamily="34" charset="0"/>
                        </a:rPr>
                        <a:t>Manufacturing GVA Growth</a:t>
                      </a:r>
                    </a:p>
                  </a:txBody>
                  <a:tcPr marR="0" marT="0" marB="0" anchor="ctr"/>
                </a:tc>
                <a:extLst>
                  <a:ext uri="{0D108BD9-81ED-4DB2-BD59-A6C34878D82A}">
                    <a16:rowId xmlns:a16="http://schemas.microsoft.com/office/drawing/2014/main" val="10000"/>
                  </a:ext>
                </a:extLst>
              </a:tr>
              <a:tr h="315152">
                <a:tc>
                  <a:txBody>
                    <a:bodyPr/>
                    <a:lstStyle/>
                    <a:p>
                      <a:pPr algn="l" fontAlgn="b"/>
                      <a:r>
                        <a:rPr lang="en-US" sz="1100" b="0" i="0" u="none" strike="noStrike" dirty="0">
                          <a:solidFill>
                            <a:srgbClr val="000000"/>
                          </a:solidFill>
                          <a:effectLst/>
                          <a:latin typeface="Calibri" panose="020F0502020204030204" pitchFamily="34" charset="0"/>
                        </a:rPr>
                        <a:t>Services GVA Growth</a:t>
                      </a:r>
                    </a:p>
                  </a:txBody>
                  <a:tcPr marR="0" marT="0" marB="0" anchor="ctr"/>
                </a:tc>
                <a:extLst>
                  <a:ext uri="{0D108BD9-81ED-4DB2-BD59-A6C34878D82A}">
                    <a16:rowId xmlns:a16="http://schemas.microsoft.com/office/drawing/2014/main" val="10001"/>
                  </a:ext>
                </a:extLst>
              </a:tr>
              <a:tr h="315152">
                <a:tc>
                  <a:txBody>
                    <a:bodyPr/>
                    <a:lstStyle/>
                    <a:p>
                      <a:pPr algn="l" fontAlgn="b"/>
                      <a:r>
                        <a:rPr lang="en-US" sz="1100" b="0" i="0" u="none" strike="noStrike" dirty="0">
                          <a:solidFill>
                            <a:srgbClr val="000000"/>
                          </a:solidFill>
                          <a:effectLst/>
                          <a:latin typeface="Calibri" panose="020F0502020204030204" pitchFamily="34" charset="0"/>
                        </a:rPr>
                        <a:t>Agriculture GVA Growth</a:t>
                      </a:r>
                    </a:p>
                  </a:txBody>
                  <a:tcPr marR="0" marT="0" marB="0" anchor="ctr"/>
                </a:tc>
                <a:extLst>
                  <a:ext uri="{0D108BD9-81ED-4DB2-BD59-A6C34878D82A}">
                    <a16:rowId xmlns:a16="http://schemas.microsoft.com/office/drawing/2014/main" val="10002"/>
                  </a:ext>
                </a:extLst>
              </a:tr>
              <a:tr h="315152">
                <a:tc>
                  <a:txBody>
                    <a:bodyPr/>
                    <a:lstStyle/>
                    <a:p>
                      <a:pPr algn="l" fontAlgn="b"/>
                      <a:r>
                        <a:rPr lang="en-US" sz="1100" b="0" i="0" u="none" strike="noStrike" dirty="0">
                          <a:solidFill>
                            <a:srgbClr val="000000"/>
                          </a:solidFill>
                          <a:effectLst/>
                          <a:latin typeface="Calibri" panose="020F0502020204030204" pitchFamily="34" charset="0"/>
                        </a:rPr>
                        <a:t>Population</a:t>
                      </a:r>
                    </a:p>
                  </a:txBody>
                  <a:tcPr marR="0" marT="0" marB="0" anchor="ctr"/>
                </a:tc>
                <a:extLst>
                  <a:ext uri="{0D108BD9-81ED-4DB2-BD59-A6C34878D82A}">
                    <a16:rowId xmlns:a16="http://schemas.microsoft.com/office/drawing/2014/main" val="10003"/>
                  </a:ext>
                </a:extLst>
              </a:tr>
              <a:tr h="315152">
                <a:tc>
                  <a:txBody>
                    <a:bodyPr/>
                    <a:lstStyle/>
                    <a:p>
                      <a:pPr algn="l" fontAlgn="b"/>
                      <a:r>
                        <a:rPr lang="en-US" sz="1100" b="0" i="0" u="none" strike="noStrike" dirty="0">
                          <a:solidFill>
                            <a:srgbClr val="000000"/>
                          </a:solidFill>
                          <a:effectLst/>
                          <a:latin typeface="Calibri" panose="020F0502020204030204" pitchFamily="34" charset="0"/>
                        </a:rPr>
                        <a:t>Employment Growth</a:t>
                      </a:r>
                    </a:p>
                  </a:txBody>
                  <a:tcPr marR="0" marT="0" marB="0" anchor="ctr"/>
                </a:tc>
                <a:extLst>
                  <a:ext uri="{0D108BD9-81ED-4DB2-BD59-A6C34878D82A}">
                    <a16:rowId xmlns:a16="http://schemas.microsoft.com/office/drawing/2014/main" val="10004"/>
                  </a:ext>
                </a:extLst>
              </a:tr>
              <a:tr h="315152">
                <a:tc>
                  <a:txBody>
                    <a:bodyPr/>
                    <a:lstStyle/>
                    <a:p>
                      <a:pPr algn="l" fontAlgn="b"/>
                      <a:r>
                        <a:rPr lang="en-US" sz="1100" b="0" i="0" u="none" strike="noStrike" dirty="0">
                          <a:solidFill>
                            <a:srgbClr val="000000"/>
                          </a:solidFill>
                          <a:effectLst/>
                          <a:latin typeface="Calibri" panose="020F0502020204030204" pitchFamily="34" charset="0"/>
                        </a:rPr>
                        <a:t>Infrastructure Spending</a:t>
                      </a:r>
                    </a:p>
                  </a:txBody>
                  <a:tcPr marR="0" marT="0" marB="0" anchor="ctr"/>
                </a:tc>
                <a:extLst>
                  <a:ext uri="{0D108BD9-81ED-4DB2-BD59-A6C34878D82A}">
                    <a16:rowId xmlns:a16="http://schemas.microsoft.com/office/drawing/2014/main" val="10005"/>
                  </a:ext>
                </a:extLst>
              </a:tr>
              <a:tr h="315152">
                <a:tc>
                  <a:txBody>
                    <a:bodyPr/>
                    <a:lstStyle/>
                    <a:p>
                      <a:pPr algn="l" fontAlgn="b"/>
                      <a:r>
                        <a:rPr lang="en-US" sz="1100" b="0" i="0" u="none" strike="noStrike" dirty="0">
                          <a:solidFill>
                            <a:srgbClr val="000000"/>
                          </a:solidFill>
                          <a:effectLst/>
                          <a:latin typeface="Calibri" panose="020F0502020204030204" pitchFamily="34" charset="0"/>
                        </a:rPr>
                        <a:t>Military Expenditure</a:t>
                      </a:r>
                    </a:p>
                  </a:txBody>
                  <a:tcPr marR="0" marT="0" marB="0" anchor="ctr"/>
                </a:tc>
                <a:extLst>
                  <a:ext uri="{0D108BD9-81ED-4DB2-BD59-A6C34878D82A}">
                    <a16:rowId xmlns:a16="http://schemas.microsoft.com/office/drawing/2014/main" val="10006"/>
                  </a:ext>
                </a:extLst>
              </a:tr>
              <a:tr h="315152">
                <a:tc>
                  <a:txBody>
                    <a:bodyPr/>
                    <a:lstStyle/>
                    <a:p>
                      <a:pPr algn="l" fontAlgn="b"/>
                      <a:r>
                        <a:rPr lang="en-US" sz="1100" b="0" i="0" u="none" strike="noStrike" dirty="0">
                          <a:solidFill>
                            <a:srgbClr val="000000"/>
                          </a:solidFill>
                          <a:effectLst/>
                          <a:latin typeface="Calibri" panose="020F0502020204030204" pitchFamily="34" charset="0"/>
                        </a:rPr>
                        <a:t>Cement Demand</a:t>
                      </a:r>
                    </a:p>
                  </a:txBody>
                  <a:tcPr marR="0" marT="0" marB="0" anchor="ctr"/>
                </a:tc>
                <a:extLst>
                  <a:ext uri="{0D108BD9-81ED-4DB2-BD59-A6C34878D82A}">
                    <a16:rowId xmlns:a16="http://schemas.microsoft.com/office/drawing/2014/main" val="10007"/>
                  </a:ext>
                </a:extLst>
              </a:tr>
              <a:tr h="315152">
                <a:tc>
                  <a:txBody>
                    <a:bodyPr/>
                    <a:lstStyle/>
                    <a:p>
                      <a:pPr algn="l" fontAlgn="b"/>
                      <a:r>
                        <a:rPr lang="en-US" sz="1100" b="0" i="0" u="none" strike="noStrike" dirty="0">
                          <a:solidFill>
                            <a:srgbClr val="000000"/>
                          </a:solidFill>
                          <a:effectLst/>
                          <a:latin typeface="Calibri" panose="020F0502020204030204" pitchFamily="34" charset="0"/>
                        </a:rPr>
                        <a:t>Crude Oil Consumption</a:t>
                      </a:r>
                    </a:p>
                  </a:txBody>
                  <a:tcPr marR="0" marT="0" marB="0" anchor="ctr"/>
                </a:tc>
                <a:extLst>
                  <a:ext uri="{0D108BD9-81ED-4DB2-BD59-A6C34878D82A}">
                    <a16:rowId xmlns:a16="http://schemas.microsoft.com/office/drawing/2014/main" val="10008"/>
                  </a:ext>
                </a:extLst>
              </a:tr>
              <a:tr h="315152">
                <a:tc>
                  <a:txBody>
                    <a:bodyPr/>
                    <a:lstStyle/>
                    <a:p>
                      <a:pPr algn="l" fontAlgn="b"/>
                      <a:r>
                        <a:rPr lang="en-US" sz="1100" b="0" i="0" u="none" strike="noStrike" dirty="0">
                          <a:solidFill>
                            <a:srgbClr val="000000"/>
                          </a:solidFill>
                          <a:effectLst/>
                          <a:latin typeface="Calibri" panose="020F0502020204030204" pitchFamily="34" charset="0"/>
                        </a:rPr>
                        <a:t>Electricity Consumption</a:t>
                      </a:r>
                    </a:p>
                  </a:txBody>
                  <a:tcPr marR="0" marT="0" marB="0" anchor="ctr"/>
                </a:tc>
                <a:extLst>
                  <a:ext uri="{0D108BD9-81ED-4DB2-BD59-A6C34878D82A}">
                    <a16:rowId xmlns:a16="http://schemas.microsoft.com/office/drawing/2014/main" val="10009"/>
                  </a:ext>
                </a:extLst>
              </a:tr>
              <a:tr h="315152">
                <a:tc>
                  <a:txBody>
                    <a:bodyPr/>
                    <a:lstStyle/>
                    <a:p>
                      <a:pPr algn="l" fontAlgn="b"/>
                      <a:r>
                        <a:rPr lang="en-US" sz="1100" b="0" i="0" u="none" strike="noStrike" dirty="0">
                          <a:solidFill>
                            <a:srgbClr val="000000"/>
                          </a:solidFill>
                          <a:effectLst/>
                          <a:latin typeface="Calibri" panose="020F0502020204030204" pitchFamily="34" charset="0"/>
                        </a:rPr>
                        <a:t>Retail Sales</a:t>
                      </a:r>
                    </a:p>
                  </a:txBody>
                  <a:tcPr marR="0" marT="0" marB="0" anchor="ctr"/>
                </a:tc>
                <a:extLst>
                  <a:ext uri="{0D108BD9-81ED-4DB2-BD59-A6C34878D82A}">
                    <a16:rowId xmlns:a16="http://schemas.microsoft.com/office/drawing/2014/main" val="10010"/>
                  </a:ext>
                </a:extLst>
              </a:tr>
              <a:tr h="315152">
                <a:tc>
                  <a:txBody>
                    <a:bodyPr/>
                    <a:lstStyle/>
                    <a:p>
                      <a:pPr algn="l" fontAlgn="b"/>
                      <a:r>
                        <a:rPr lang="en-US" sz="1100" b="0" i="0" u="none" strike="noStrike" dirty="0">
                          <a:solidFill>
                            <a:srgbClr val="000000"/>
                          </a:solidFill>
                          <a:effectLst/>
                          <a:latin typeface="Calibri" panose="020F0502020204030204" pitchFamily="34" charset="0"/>
                        </a:rPr>
                        <a:t>Healthcare Spending</a:t>
                      </a:r>
                    </a:p>
                  </a:txBody>
                  <a:tcPr marR="0" marT="0" marB="0" anchor="ctr"/>
                </a:tc>
                <a:extLst>
                  <a:ext uri="{0D108BD9-81ED-4DB2-BD59-A6C34878D82A}">
                    <a16:rowId xmlns:a16="http://schemas.microsoft.com/office/drawing/2014/main" val="10011"/>
                  </a:ext>
                </a:extLst>
              </a:tr>
              <a:tr h="315152">
                <a:tc>
                  <a:txBody>
                    <a:bodyPr/>
                    <a:lstStyle/>
                    <a:p>
                      <a:pPr algn="l" fontAlgn="b"/>
                      <a:r>
                        <a:rPr lang="en-US" sz="1100" b="0" i="0" u="none" strike="noStrike" dirty="0">
                          <a:solidFill>
                            <a:srgbClr val="000000"/>
                          </a:solidFill>
                          <a:effectLst/>
                          <a:latin typeface="Calibri" panose="020F0502020204030204" pitchFamily="34" charset="0"/>
                        </a:rPr>
                        <a:t>Mobile Subscriptions</a:t>
                      </a:r>
                    </a:p>
                  </a:txBody>
                  <a:tcPr marR="0" marT="0" marB="0" anchor="ctr"/>
                </a:tc>
                <a:extLst>
                  <a:ext uri="{0D108BD9-81ED-4DB2-BD59-A6C34878D82A}">
                    <a16:rowId xmlns:a16="http://schemas.microsoft.com/office/drawing/2014/main" val="10012"/>
                  </a:ext>
                </a:extLst>
              </a:tr>
              <a:tr h="315152">
                <a:tc>
                  <a:txBody>
                    <a:bodyPr/>
                    <a:lstStyle/>
                    <a:p>
                      <a:pPr algn="l" fontAlgn="b"/>
                      <a:r>
                        <a:rPr lang="en-US" sz="1100" b="0" i="0" u="none" strike="noStrike" dirty="0">
                          <a:solidFill>
                            <a:srgbClr val="000000"/>
                          </a:solidFill>
                          <a:effectLst/>
                          <a:latin typeface="Calibri" panose="020F0502020204030204" pitchFamily="34" charset="0"/>
                        </a:rPr>
                        <a:t>Tourist Arrivals</a:t>
                      </a:r>
                    </a:p>
                  </a:txBody>
                  <a:tcPr marR="0" marT="0" marB="0" anchor="ctr"/>
                </a:tc>
                <a:extLst>
                  <a:ext uri="{0D108BD9-81ED-4DB2-BD59-A6C34878D82A}">
                    <a16:rowId xmlns:a16="http://schemas.microsoft.com/office/drawing/2014/main" val="10013"/>
                  </a:ext>
                </a:extLst>
              </a:tr>
            </a:tbl>
          </a:graphicData>
        </a:graphic>
      </p:graphicFrame>
      <p:sp>
        <p:nvSpPr>
          <p:cNvPr id="5" name="TextBox 4"/>
          <p:cNvSpPr txBox="1"/>
          <p:nvPr/>
        </p:nvSpPr>
        <p:spPr>
          <a:xfrm>
            <a:off x="964910" y="1210846"/>
            <a:ext cx="1298176" cy="307777"/>
          </a:xfrm>
          <a:prstGeom prst="rect">
            <a:avLst/>
          </a:prstGeom>
          <a:noFill/>
        </p:spPr>
        <p:txBody>
          <a:bodyPr wrap="none" rtlCol="0">
            <a:spAutoFit/>
          </a:bodyPr>
          <a:lstStyle/>
          <a:p>
            <a:r>
              <a:rPr lang="en-US" sz="1400" b="1" dirty="0"/>
              <a:t>Market Factors</a:t>
            </a:r>
          </a:p>
        </p:txBody>
      </p:sp>
      <p:grpSp>
        <p:nvGrpSpPr>
          <p:cNvPr id="112" name="Group 111"/>
          <p:cNvGrpSpPr/>
          <p:nvPr/>
        </p:nvGrpSpPr>
        <p:grpSpPr>
          <a:xfrm>
            <a:off x="3121258" y="1227398"/>
            <a:ext cx="1413186" cy="4855604"/>
            <a:chOff x="3121258" y="1157058"/>
            <a:chExt cx="1413186" cy="4855604"/>
          </a:xfrm>
        </p:grpSpPr>
        <p:sp>
          <p:nvSpPr>
            <p:cNvPr id="6" name="TextBox 5"/>
            <p:cNvSpPr txBox="1"/>
            <p:nvPr/>
          </p:nvSpPr>
          <p:spPr>
            <a:xfrm>
              <a:off x="3121258" y="1157058"/>
              <a:ext cx="1371600" cy="523220"/>
            </a:xfrm>
            <a:prstGeom prst="rect">
              <a:avLst/>
            </a:prstGeom>
            <a:noFill/>
          </p:spPr>
          <p:txBody>
            <a:bodyPr wrap="none" rtlCol="0">
              <a:spAutoFit/>
            </a:bodyPr>
            <a:lstStyle/>
            <a:p>
              <a:r>
                <a:rPr lang="en-US" sz="1400" b="1" dirty="0"/>
                <a:t>Correlation </a:t>
              </a:r>
            </a:p>
            <a:p>
              <a:pPr algn="ctr"/>
              <a:r>
                <a:rPr lang="en-US" sz="1400" b="1" dirty="0"/>
                <a:t>with GDP</a:t>
              </a:r>
            </a:p>
          </p:txBody>
        </p:sp>
        <p:grpSp>
          <p:nvGrpSpPr>
            <p:cNvPr id="8" name="Group 7"/>
            <p:cNvGrpSpPr/>
            <p:nvPr/>
          </p:nvGrpSpPr>
          <p:grpSpPr>
            <a:xfrm>
              <a:off x="3162844" y="1705752"/>
              <a:ext cx="1371600" cy="182880"/>
              <a:chOff x="5985167" y="1406778"/>
              <a:chExt cx="914400" cy="182880"/>
            </a:xfrm>
          </p:grpSpPr>
          <p:sp>
            <p:nvSpPr>
              <p:cNvPr id="9" name="Rectangle 8"/>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5985167" y="1406778"/>
                <a:ext cx="402336"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p:cNvGrpSpPr/>
            <p:nvPr/>
          </p:nvGrpSpPr>
          <p:grpSpPr>
            <a:xfrm>
              <a:off x="3162844" y="2022985"/>
              <a:ext cx="1371600" cy="182880"/>
              <a:chOff x="5985167" y="1406778"/>
              <a:chExt cx="914400" cy="182880"/>
            </a:xfrm>
          </p:grpSpPr>
          <p:sp>
            <p:nvSpPr>
              <p:cNvPr id="12" name="Rectangle 11"/>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p:nvPr/>
            </p:nvSpPr>
            <p:spPr>
              <a:xfrm>
                <a:off x="5985167" y="1406778"/>
                <a:ext cx="292608"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3"/>
            <p:cNvGrpSpPr/>
            <p:nvPr/>
          </p:nvGrpSpPr>
          <p:grpSpPr>
            <a:xfrm>
              <a:off x="3162844" y="2340218"/>
              <a:ext cx="1371600" cy="182880"/>
              <a:chOff x="5985167" y="1406778"/>
              <a:chExt cx="914400" cy="182880"/>
            </a:xfrm>
          </p:grpSpPr>
          <p:sp>
            <p:nvSpPr>
              <p:cNvPr id="15" name="Rectangle 14"/>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p:cNvSpPr/>
              <p:nvPr/>
            </p:nvSpPr>
            <p:spPr>
              <a:xfrm>
                <a:off x="5985167" y="1406778"/>
                <a:ext cx="347472"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p:cNvGrpSpPr/>
            <p:nvPr/>
          </p:nvGrpSpPr>
          <p:grpSpPr>
            <a:xfrm>
              <a:off x="3162844" y="2657451"/>
              <a:ext cx="1371600" cy="182880"/>
              <a:chOff x="5985167" y="1406778"/>
              <a:chExt cx="914400" cy="182880"/>
            </a:xfrm>
          </p:grpSpPr>
          <p:sp>
            <p:nvSpPr>
              <p:cNvPr id="18" name="Rectangle 17"/>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p:cNvSpPr/>
              <p:nvPr/>
            </p:nvSpPr>
            <p:spPr>
              <a:xfrm>
                <a:off x="5985167" y="1406778"/>
                <a:ext cx="22860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 name="Group 19"/>
            <p:cNvGrpSpPr/>
            <p:nvPr/>
          </p:nvGrpSpPr>
          <p:grpSpPr>
            <a:xfrm>
              <a:off x="3162844" y="2974684"/>
              <a:ext cx="1371600" cy="182880"/>
              <a:chOff x="5985167" y="1406778"/>
              <a:chExt cx="914400" cy="182880"/>
            </a:xfrm>
          </p:grpSpPr>
          <p:sp>
            <p:nvSpPr>
              <p:cNvPr id="21" name="Rectangle 20"/>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p:cNvSpPr/>
              <p:nvPr/>
            </p:nvSpPr>
            <p:spPr>
              <a:xfrm>
                <a:off x="5985167" y="1406778"/>
                <a:ext cx="18288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3" name="Group 22"/>
            <p:cNvGrpSpPr/>
            <p:nvPr/>
          </p:nvGrpSpPr>
          <p:grpSpPr>
            <a:xfrm>
              <a:off x="3162844" y="3291917"/>
              <a:ext cx="1371600" cy="182880"/>
              <a:chOff x="5985167" y="1406778"/>
              <a:chExt cx="914400" cy="182880"/>
            </a:xfrm>
          </p:grpSpPr>
          <p:sp>
            <p:nvSpPr>
              <p:cNvPr id="24" name="Rectangle 23"/>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p:cNvSpPr/>
              <p:nvPr/>
            </p:nvSpPr>
            <p:spPr>
              <a:xfrm>
                <a:off x="5985167" y="1406778"/>
                <a:ext cx="301752"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6" name="Group 25"/>
            <p:cNvGrpSpPr/>
            <p:nvPr/>
          </p:nvGrpSpPr>
          <p:grpSpPr>
            <a:xfrm>
              <a:off x="3162844" y="3609150"/>
              <a:ext cx="1371600" cy="182880"/>
              <a:chOff x="5985167" y="1406778"/>
              <a:chExt cx="914400" cy="182880"/>
            </a:xfrm>
          </p:grpSpPr>
          <p:sp>
            <p:nvSpPr>
              <p:cNvPr id="27" name="Rectangle 26"/>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27"/>
              <p:cNvSpPr/>
              <p:nvPr/>
            </p:nvSpPr>
            <p:spPr>
              <a:xfrm>
                <a:off x="5985167" y="1406778"/>
                <a:ext cx="59436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 name="Group 28"/>
            <p:cNvGrpSpPr/>
            <p:nvPr/>
          </p:nvGrpSpPr>
          <p:grpSpPr>
            <a:xfrm>
              <a:off x="3162844" y="3926383"/>
              <a:ext cx="1371600" cy="182880"/>
              <a:chOff x="5985167" y="1406778"/>
              <a:chExt cx="914400" cy="182880"/>
            </a:xfrm>
          </p:grpSpPr>
          <p:sp>
            <p:nvSpPr>
              <p:cNvPr id="30" name="Rectangle 29"/>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Rectangle 30"/>
              <p:cNvSpPr/>
              <p:nvPr/>
            </p:nvSpPr>
            <p:spPr>
              <a:xfrm>
                <a:off x="5985167" y="1406778"/>
                <a:ext cx="41148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2" name="Group 31"/>
            <p:cNvGrpSpPr/>
            <p:nvPr/>
          </p:nvGrpSpPr>
          <p:grpSpPr>
            <a:xfrm>
              <a:off x="3162844" y="4243616"/>
              <a:ext cx="1371600" cy="182880"/>
              <a:chOff x="5985167" y="1406778"/>
              <a:chExt cx="914400" cy="182880"/>
            </a:xfrm>
          </p:grpSpPr>
          <p:sp>
            <p:nvSpPr>
              <p:cNvPr id="33" name="Rectangle 32"/>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p:cNvSpPr/>
              <p:nvPr/>
            </p:nvSpPr>
            <p:spPr>
              <a:xfrm>
                <a:off x="5985167" y="1406778"/>
                <a:ext cx="347472"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5" name="Group 34"/>
            <p:cNvGrpSpPr/>
            <p:nvPr/>
          </p:nvGrpSpPr>
          <p:grpSpPr>
            <a:xfrm>
              <a:off x="3162844" y="4560849"/>
              <a:ext cx="1371600" cy="182880"/>
              <a:chOff x="5985167" y="1406778"/>
              <a:chExt cx="914400" cy="182880"/>
            </a:xfrm>
          </p:grpSpPr>
          <p:sp>
            <p:nvSpPr>
              <p:cNvPr id="36" name="Rectangle 35"/>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Rectangle 36"/>
              <p:cNvSpPr/>
              <p:nvPr/>
            </p:nvSpPr>
            <p:spPr>
              <a:xfrm>
                <a:off x="5985167" y="1406778"/>
                <a:ext cx="621792"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8" name="Group 37"/>
            <p:cNvGrpSpPr/>
            <p:nvPr/>
          </p:nvGrpSpPr>
          <p:grpSpPr>
            <a:xfrm>
              <a:off x="3162844" y="4878082"/>
              <a:ext cx="1371600" cy="182880"/>
              <a:chOff x="5985167" y="1406778"/>
              <a:chExt cx="914400" cy="182880"/>
            </a:xfrm>
          </p:grpSpPr>
          <p:sp>
            <p:nvSpPr>
              <p:cNvPr id="39" name="Rectangle 38"/>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39"/>
              <p:cNvSpPr/>
              <p:nvPr/>
            </p:nvSpPr>
            <p:spPr>
              <a:xfrm>
                <a:off x="5985167" y="1406778"/>
                <a:ext cx="27432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1" name="Group 40"/>
            <p:cNvGrpSpPr/>
            <p:nvPr/>
          </p:nvGrpSpPr>
          <p:grpSpPr>
            <a:xfrm>
              <a:off x="3162844" y="5195315"/>
              <a:ext cx="1371600" cy="182880"/>
              <a:chOff x="5985167" y="1406778"/>
              <a:chExt cx="914400" cy="182880"/>
            </a:xfrm>
          </p:grpSpPr>
          <p:sp>
            <p:nvSpPr>
              <p:cNvPr id="42" name="Rectangle 41"/>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p:cNvSpPr/>
              <p:nvPr/>
            </p:nvSpPr>
            <p:spPr>
              <a:xfrm>
                <a:off x="5985167" y="1406778"/>
                <a:ext cx="68580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4" name="Group 43"/>
            <p:cNvGrpSpPr/>
            <p:nvPr/>
          </p:nvGrpSpPr>
          <p:grpSpPr>
            <a:xfrm>
              <a:off x="3162844" y="5512548"/>
              <a:ext cx="1371600" cy="182880"/>
              <a:chOff x="5985167" y="1406778"/>
              <a:chExt cx="914400" cy="182880"/>
            </a:xfrm>
          </p:grpSpPr>
          <p:sp>
            <p:nvSpPr>
              <p:cNvPr id="45" name="Rectangle 44"/>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Rectangle 45"/>
              <p:cNvSpPr/>
              <p:nvPr/>
            </p:nvSpPr>
            <p:spPr>
              <a:xfrm>
                <a:off x="5985167" y="1406778"/>
                <a:ext cx="50292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7" name="Group 46"/>
            <p:cNvGrpSpPr/>
            <p:nvPr/>
          </p:nvGrpSpPr>
          <p:grpSpPr>
            <a:xfrm>
              <a:off x="3162844" y="5829782"/>
              <a:ext cx="1371600" cy="182880"/>
              <a:chOff x="5985167" y="1406778"/>
              <a:chExt cx="914400" cy="182880"/>
            </a:xfrm>
          </p:grpSpPr>
          <p:sp>
            <p:nvSpPr>
              <p:cNvPr id="48" name="Rectangle 47"/>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p:cNvSpPr/>
              <p:nvPr/>
            </p:nvSpPr>
            <p:spPr>
              <a:xfrm>
                <a:off x="5985167" y="1406778"/>
                <a:ext cx="22860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08" name="Group 107"/>
          <p:cNvGrpSpPr/>
          <p:nvPr/>
        </p:nvGrpSpPr>
        <p:grpSpPr>
          <a:xfrm>
            <a:off x="4780299" y="1176886"/>
            <a:ext cx="1376187" cy="4850989"/>
            <a:chOff x="4780299" y="1106546"/>
            <a:chExt cx="1376187" cy="4850989"/>
          </a:xfrm>
        </p:grpSpPr>
        <p:sp>
          <p:nvSpPr>
            <p:cNvPr id="7" name="TextBox 6"/>
            <p:cNvSpPr txBox="1"/>
            <p:nvPr/>
          </p:nvSpPr>
          <p:spPr>
            <a:xfrm>
              <a:off x="4784886" y="1106546"/>
              <a:ext cx="1371600" cy="523220"/>
            </a:xfrm>
            <a:prstGeom prst="rect">
              <a:avLst/>
            </a:prstGeom>
            <a:noFill/>
          </p:spPr>
          <p:txBody>
            <a:bodyPr wrap="none" rtlCol="0">
              <a:spAutoFit/>
            </a:bodyPr>
            <a:lstStyle/>
            <a:p>
              <a:r>
                <a:rPr lang="en-US" sz="1400" b="1" dirty="0"/>
                <a:t>Impact on</a:t>
              </a:r>
            </a:p>
            <a:p>
              <a:pPr algn="ctr"/>
              <a:r>
                <a:rPr lang="en-US" sz="1400" b="1" dirty="0"/>
                <a:t>GDP</a:t>
              </a:r>
            </a:p>
          </p:txBody>
        </p:sp>
        <p:grpSp>
          <p:nvGrpSpPr>
            <p:cNvPr id="50" name="Group 49"/>
            <p:cNvGrpSpPr/>
            <p:nvPr/>
          </p:nvGrpSpPr>
          <p:grpSpPr>
            <a:xfrm>
              <a:off x="4780299" y="1650625"/>
              <a:ext cx="1371600" cy="182880"/>
              <a:chOff x="5985167" y="1406778"/>
              <a:chExt cx="914400" cy="182880"/>
            </a:xfrm>
          </p:grpSpPr>
          <p:sp>
            <p:nvSpPr>
              <p:cNvPr id="51" name="Rectangle 50"/>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Rectangle 51"/>
              <p:cNvSpPr/>
              <p:nvPr/>
            </p:nvSpPr>
            <p:spPr>
              <a:xfrm>
                <a:off x="5985167" y="1406778"/>
                <a:ext cx="82296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3" name="Group 52"/>
            <p:cNvGrpSpPr/>
            <p:nvPr/>
          </p:nvGrpSpPr>
          <p:grpSpPr>
            <a:xfrm>
              <a:off x="4780299" y="1967858"/>
              <a:ext cx="1371600" cy="182880"/>
              <a:chOff x="5985167" y="1406778"/>
              <a:chExt cx="914400" cy="182880"/>
            </a:xfrm>
          </p:grpSpPr>
          <p:sp>
            <p:nvSpPr>
              <p:cNvPr id="54" name="Rectangle 53"/>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Rectangle 54"/>
              <p:cNvSpPr/>
              <p:nvPr/>
            </p:nvSpPr>
            <p:spPr>
              <a:xfrm>
                <a:off x="5985167" y="1406778"/>
                <a:ext cx="73152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6" name="Group 55"/>
            <p:cNvGrpSpPr/>
            <p:nvPr/>
          </p:nvGrpSpPr>
          <p:grpSpPr>
            <a:xfrm>
              <a:off x="4780299" y="2285091"/>
              <a:ext cx="1371600" cy="182880"/>
              <a:chOff x="5985167" y="1406778"/>
              <a:chExt cx="914400" cy="182880"/>
            </a:xfrm>
          </p:grpSpPr>
          <p:sp>
            <p:nvSpPr>
              <p:cNvPr id="57" name="Rectangle 56"/>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Rectangle 57"/>
              <p:cNvSpPr/>
              <p:nvPr/>
            </p:nvSpPr>
            <p:spPr>
              <a:xfrm>
                <a:off x="5985167" y="1406778"/>
                <a:ext cx="82296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9" name="Group 58"/>
            <p:cNvGrpSpPr/>
            <p:nvPr/>
          </p:nvGrpSpPr>
          <p:grpSpPr>
            <a:xfrm>
              <a:off x="4780299" y="2602324"/>
              <a:ext cx="1371600" cy="182880"/>
              <a:chOff x="5985167" y="1406778"/>
              <a:chExt cx="914400" cy="182880"/>
            </a:xfrm>
          </p:grpSpPr>
          <p:sp>
            <p:nvSpPr>
              <p:cNvPr id="60" name="Rectangle 59"/>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Rectangle 60"/>
              <p:cNvSpPr/>
              <p:nvPr/>
            </p:nvSpPr>
            <p:spPr>
              <a:xfrm>
                <a:off x="5985167" y="1406778"/>
                <a:ext cx="27432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2" name="Group 61"/>
            <p:cNvGrpSpPr/>
            <p:nvPr/>
          </p:nvGrpSpPr>
          <p:grpSpPr>
            <a:xfrm>
              <a:off x="4780299" y="2919557"/>
              <a:ext cx="1371600" cy="182880"/>
              <a:chOff x="5985167" y="1406778"/>
              <a:chExt cx="914400" cy="182880"/>
            </a:xfrm>
          </p:grpSpPr>
          <p:sp>
            <p:nvSpPr>
              <p:cNvPr id="63" name="Rectangle 62"/>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Rectangle 63"/>
              <p:cNvSpPr/>
              <p:nvPr/>
            </p:nvSpPr>
            <p:spPr>
              <a:xfrm>
                <a:off x="5985167" y="1406778"/>
                <a:ext cx="27432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p:cNvGrpSpPr/>
            <p:nvPr/>
          </p:nvGrpSpPr>
          <p:grpSpPr>
            <a:xfrm>
              <a:off x="4780299" y="3236790"/>
              <a:ext cx="1371600" cy="182880"/>
              <a:chOff x="5985167" y="1406778"/>
              <a:chExt cx="914400" cy="182880"/>
            </a:xfrm>
          </p:grpSpPr>
          <p:sp>
            <p:nvSpPr>
              <p:cNvPr id="66" name="Rectangle 65"/>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Rectangle 66"/>
              <p:cNvSpPr/>
              <p:nvPr/>
            </p:nvSpPr>
            <p:spPr>
              <a:xfrm>
                <a:off x="5985167" y="1406778"/>
                <a:ext cx="73152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8" name="Group 67"/>
            <p:cNvGrpSpPr/>
            <p:nvPr/>
          </p:nvGrpSpPr>
          <p:grpSpPr>
            <a:xfrm>
              <a:off x="4780299" y="3554023"/>
              <a:ext cx="1371600" cy="182880"/>
              <a:chOff x="5985167" y="1406778"/>
              <a:chExt cx="914400" cy="182880"/>
            </a:xfrm>
          </p:grpSpPr>
          <p:sp>
            <p:nvSpPr>
              <p:cNvPr id="69" name="Rectangle 68"/>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 name="Rectangle 69"/>
              <p:cNvSpPr/>
              <p:nvPr/>
            </p:nvSpPr>
            <p:spPr>
              <a:xfrm>
                <a:off x="5985167" y="1406778"/>
                <a:ext cx="36576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1" name="Group 70"/>
            <p:cNvGrpSpPr/>
            <p:nvPr/>
          </p:nvGrpSpPr>
          <p:grpSpPr>
            <a:xfrm>
              <a:off x="4780299" y="3871256"/>
              <a:ext cx="1371600" cy="182880"/>
              <a:chOff x="5985167" y="1406778"/>
              <a:chExt cx="914400" cy="182880"/>
            </a:xfrm>
          </p:grpSpPr>
          <p:sp>
            <p:nvSpPr>
              <p:cNvPr id="72" name="Rectangle 71"/>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Rectangle 72"/>
              <p:cNvSpPr/>
              <p:nvPr/>
            </p:nvSpPr>
            <p:spPr>
              <a:xfrm>
                <a:off x="5985167" y="1406778"/>
                <a:ext cx="73152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4" name="Group 73"/>
            <p:cNvGrpSpPr/>
            <p:nvPr/>
          </p:nvGrpSpPr>
          <p:grpSpPr>
            <a:xfrm>
              <a:off x="4780299" y="4188489"/>
              <a:ext cx="1371600" cy="182880"/>
              <a:chOff x="5985167" y="1406778"/>
              <a:chExt cx="914400" cy="182880"/>
            </a:xfrm>
          </p:grpSpPr>
          <p:sp>
            <p:nvSpPr>
              <p:cNvPr id="75" name="Rectangle 74"/>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Rectangle 75"/>
              <p:cNvSpPr/>
              <p:nvPr/>
            </p:nvSpPr>
            <p:spPr>
              <a:xfrm>
                <a:off x="5985167" y="1406778"/>
                <a:ext cx="73152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7" name="Group 76"/>
            <p:cNvGrpSpPr/>
            <p:nvPr/>
          </p:nvGrpSpPr>
          <p:grpSpPr>
            <a:xfrm>
              <a:off x="4780299" y="4505722"/>
              <a:ext cx="1371600" cy="182880"/>
              <a:chOff x="5985167" y="1406778"/>
              <a:chExt cx="914400" cy="182880"/>
            </a:xfrm>
          </p:grpSpPr>
          <p:sp>
            <p:nvSpPr>
              <p:cNvPr id="78" name="Rectangle 77"/>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Rectangle 78"/>
              <p:cNvSpPr/>
              <p:nvPr/>
            </p:nvSpPr>
            <p:spPr>
              <a:xfrm>
                <a:off x="5985167" y="1406778"/>
                <a:ext cx="64008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0" name="Group 79"/>
            <p:cNvGrpSpPr/>
            <p:nvPr/>
          </p:nvGrpSpPr>
          <p:grpSpPr>
            <a:xfrm>
              <a:off x="4780299" y="4822955"/>
              <a:ext cx="1371600" cy="182880"/>
              <a:chOff x="5985167" y="1406778"/>
              <a:chExt cx="914400" cy="182880"/>
            </a:xfrm>
          </p:grpSpPr>
          <p:sp>
            <p:nvSpPr>
              <p:cNvPr id="81" name="Rectangle 80"/>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Rectangle 81"/>
              <p:cNvSpPr/>
              <p:nvPr/>
            </p:nvSpPr>
            <p:spPr>
              <a:xfrm>
                <a:off x="5985167" y="1406778"/>
                <a:ext cx="54864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3" name="Group 82"/>
            <p:cNvGrpSpPr/>
            <p:nvPr/>
          </p:nvGrpSpPr>
          <p:grpSpPr>
            <a:xfrm>
              <a:off x="4780299" y="5140188"/>
              <a:ext cx="1371600" cy="182880"/>
              <a:chOff x="5985167" y="1406778"/>
              <a:chExt cx="914400" cy="182880"/>
            </a:xfrm>
          </p:grpSpPr>
          <p:sp>
            <p:nvSpPr>
              <p:cNvPr id="84" name="Rectangle 83"/>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Rectangle 84"/>
              <p:cNvSpPr/>
              <p:nvPr/>
            </p:nvSpPr>
            <p:spPr>
              <a:xfrm>
                <a:off x="5985167" y="1406778"/>
                <a:ext cx="82296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6" name="Group 85"/>
            <p:cNvGrpSpPr/>
            <p:nvPr/>
          </p:nvGrpSpPr>
          <p:grpSpPr>
            <a:xfrm>
              <a:off x="4780299" y="5457421"/>
              <a:ext cx="1371600" cy="182880"/>
              <a:chOff x="5985167" y="1406778"/>
              <a:chExt cx="914400" cy="182880"/>
            </a:xfrm>
          </p:grpSpPr>
          <p:sp>
            <p:nvSpPr>
              <p:cNvPr id="87" name="Rectangle 86"/>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Rectangle 87"/>
              <p:cNvSpPr/>
              <p:nvPr/>
            </p:nvSpPr>
            <p:spPr>
              <a:xfrm>
                <a:off x="5985167" y="1406778"/>
                <a:ext cx="54864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9" name="Group 88"/>
            <p:cNvGrpSpPr/>
            <p:nvPr/>
          </p:nvGrpSpPr>
          <p:grpSpPr>
            <a:xfrm>
              <a:off x="4780299" y="5774655"/>
              <a:ext cx="1371600" cy="182880"/>
              <a:chOff x="5985167" y="1406778"/>
              <a:chExt cx="914400" cy="182880"/>
            </a:xfrm>
          </p:grpSpPr>
          <p:sp>
            <p:nvSpPr>
              <p:cNvPr id="90" name="Rectangle 89"/>
              <p:cNvSpPr/>
              <p:nvPr/>
            </p:nvSpPr>
            <p:spPr>
              <a:xfrm>
                <a:off x="5985167" y="1406778"/>
                <a:ext cx="914400" cy="18288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Rectangle 90"/>
              <p:cNvSpPr/>
              <p:nvPr/>
            </p:nvSpPr>
            <p:spPr>
              <a:xfrm>
                <a:off x="5985167" y="1406778"/>
                <a:ext cx="640080" cy="182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95" name="TextBox 94"/>
          <p:cNvSpPr txBox="1"/>
          <p:nvPr/>
        </p:nvSpPr>
        <p:spPr>
          <a:xfrm>
            <a:off x="10078730" y="1168365"/>
            <a:ext cx="1649822" cy="523220"/>
          </a:xfrm>
          <a:prstGeom prst="rect">
            <a:avLst/>
          </a:prstGeom>
          <a:noFill/>
        </p:spPr>
        <p:txBody>
          <a:bodyPr wrap="square" rtlCol="0">
            <a:spAutoFit/>
          </a:bodyPr>
          <a:lstStyle/>
          <a:p>
            <a:pPr algn="ctr"/>
            <a:r>
              <a:rPr lang="en-US" sz="1400" b="1" dirty="0"/>
              <a:t>BPS Change on</a:t>
            </a:r>
          </a:p>
          <a:p>
            <a:pPr algn="ctr"/>
            <a:r>
              <a:rPr lang="en-US" sz="1400" b="1" dirty="0"/>
              <a:t>Projections</a:t>
            </a:r>
          </a:p>
        </p:txBody>
      </p:sp>
      <p:grpSp>
        <p:nvGrpSpPr>
          <p:cNvPr id="104" name="Group 103"/>
          <p:cNvGrpSpPr/>
          <p:nvPr/>
        </p:nvGrpSpPr>
        <p:grpSpPr>
          <a:xfrm>
            <a:off x="6252998" y="1152401"/>
            <a:ext cx="1046184" cy="4850989"/>
            <a:chOff x="6252998" y="1079753"/>
            <a:chExt cx="1046184" cy="4850989"/>
          </a:xfrm>
        </p:grpSpPr>
        <p:sp>
          <p:nvSpPr>
            <p:cNvPr id="92" name="TextBox 91"/>
            <p:cNvSpPr txBox="1"/>
            <p:nvPr/>
          </p:nvSpPr>
          <p:spPr>
            <a:xfrm>
              <a:off x="6252998" y="1079753"/>
              <a:ext cx="1046184" cy="523220"/>
            </a:xfrm>
            <a:prstGeom prst="rect">
              <a:avLst/>
            </a:prstGeom>
            <a:noFill/>
          </p:spPr>
          <p:txBody>
            <a:bodyPr wrap="none" rtlCol="0">
              <a:spAutoFit/>
            </a:bodyPr>
            <a:lstStyle/>
            <a:p>
              <a:pPr algn="ctr"/>
              <a:r>
                <a:rPr lang="en-US" sz="1400" b="1" dirty="0"/>
                <a:t>Short Term</a:t>
              </a:r>
            </a:p>
            <a:p>
              <a:pPr algn="ctr"/>
              <a:r>
                <a:rPr lang="en-US" sz="1400" b="1" dirty="0"/>
                <a:t>Mkt Impact</a:t>
              </a:r>
            </a:p>
          </p:txBody>
        </p:sp>
        <p:sp>
          <p:nvSpPr>
            <p:cNvPr id="96" name="Oval 95"/>
            <p:cNvSpPr/>
            <p:nvPr/>
          </p:nvSpPr>
          <p:spPr>
            <a:xfrm>
              <a:off x="6403113" y="1614526"/>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Oval 96"/>
            <p:cNvSpPr/>
            <p:nvPr/>
          </p:nvSpPr>
          <p:spPr>
            <a:xfrm>
              <a:off x="6666347" y="1614526"/>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Oval 97"/>
            <p:cNvSpPr/>
            <p:nvPr/>
          </p:nvSpPr>
          <p:spPr>
            <a:xfrm>
              <a:off x="6929580" y="1614526"/>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1" name="Oval 100"/>
            <p:cNvSpPr/>
            <p:nvPr/>
          </p:nvSpPr>
          <p:spPr>
            <a:xfrm>
              <a:off x="6403113" y="2568373"/>
              <a:ext cx="182880" cy="182880"/>
            </a:xfrm>
            <a:prstGeom prst="ellipse">
              <a:avLst/>
            </a:prstGeom>
            <a:solidFill>
              <a:schemeClr val="accent2">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Oval 101"/>
            <p:cNvSpPr/>
            <p:nvPr/>
          </p:nvSpPr>
          <p:spPr>
            <a:xfrm>
              <a:off x="6666347" y="2568373"/>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Oval 102"/>
            <p:cNvSpPr/>
            <p:nvPr/>
          </p:nvSpPr>
          <p:spPr>
            <a:xfrm>
              <a:off x="6929580" y="2568373"/>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Oval 104"/>
            <p:cNvSpPr/>
            <p:nvPr/>
          </p:nvSpPr>
          <p:spPr>
            <a:xfrm>
              <a:off x="6403113" y="1932475"/>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Oval 105"/>
            <p:cNvSpPr/>
            <p:nvPr/>
          </p:nvSpPr>
          <p:spPr>
            <a:xfrm>
              <a:off x="6666347" y="1932475"/>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7" name="Oval 106"/>
            <p:cNvSpPr/>
            <p:nvPr/>
          </p:nvSpPr>
          <p:spPr>
            <a:xfrm>
              <a:off x="6929580" y="1932475"/>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Oval 108"/>
            <p:cNvSpPr/>
            <p:nvPr/>
          </p:nvSpPr>
          <p:spPr>
            <a:xfrm>
              <a:off x="6403113" y="2250424"/>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Oval 109"/>
            <p:cNvSpPr/>
            <p:nvPr/>
          </p:nvSpPr>
          <p:spPr>
            <a:xfrm>
              <a:off x="6666347" y="2250424"/>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Oval 110"/>
            <p:cNvSpPr/>
            <p:nvPr/>
          </p:nvSpPr>
          <p:spPr>
            <a:xfrm>
              <a:off x="6929580" y="2250424"/>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3" name="Oval 112"/>
            <p:cNvSpPr/>
            <p:nvPr/>
          </p:nvSpPr>
          <p:spPr>
            <a:xfrm>
              <a:off x="6403113" y="2886322"/>
              <a:ext cx="182880" cy="182880"/>
            </a:xfrm>
            <a:prstGeom prst="ellipse">
              <a:avLst/>
            </a:prstGeom>
            <a:solidFill>
              <a:schemeClr val="accent2">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4" name="Oval 113"/>
            <p:cNvSpPr/>
            <p:nvPr/>
          </p:nvSpPr>
          <p:spPr>
            <a:xfrm>
              <a:off x="6666347" y="2886322"/>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Oval 114"/>
            <p:cNvSpPr/>
            <p:nvPr/>
          </p:nvSpPr>
          <p:spPr>
            <a:xfrm>
              <a:off x="6929580" y="2886322"/>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Oval 116"/>
            <p:cNvSpPr/>
            <p:nvPr/>
          </p:nvSpPr>
          <p:spPr>
            <a:xfrm>
              <a:off x="6403113" y="3204271"/>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Oval 117"/>
            <p:cNvSpPr/>
            <p:nvPr/>
          </p:nvSpPr>
          <p:spPr>
            <a:xfrm>
              <a:off x="6666347" y="3204271"/>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p:cNvSpPr/>
            <p:nvPr/>
          </p:nvSpPr>
          <p:spPr>
            <a:xfrm>
              <a:off x="6929580" y="3204271"/>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Oval 120"/>
            <p:cNvSpPr/>
            <p:nvPr/>
          </p:nvSpPr>
          <p:spPr>
            <a:xfrm>
              <a:off x="6403113" y="3522220"/>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p:cNvSpPr/>
            <p:nvPr/>
          </p:nvSpPr>
          <p:spPr>
            <a:xfrm>
              <a:off x="6666347" y="3522220"/>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Oval 122"/>
            <p:cNvSpPr/>
            <p:nvPr/>
          </p:nvSpPr>
          <p:spPr>
            <a:xfrm>
              <a:off x="6929580" y="3522220"/>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p:cNvSpPr/>
            <p:nvPr/>
          </p:nvSpPr>
          <p:spPr>
            <a:xfrm>
              <a:off x="6403113" y="3840169"/>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Oval 125"/>
            <p:cNvSpPr/>
            <p:nvPr/>
          </p:nvSpPr>
          <p:spPr>
            <a:xfrm>
              <a:off x="6666347" y="3840169"/>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Oval 126"/>
            <p:cNvSpPr/>
            <p:nvPr/>
          </p:nvSpPr>
          <p:spPr>
            <a:xfrm>
              <a:off x="6929580" y="3840169"/>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Oval 128"/>
            <p:cNvSpPr/>
            <p:nvPr/>
          </p:nvSpPr>
          <p:spPr>
            <a:xfrm>
              <a:off x="6403113" y="4158118"/>
              <a:ext cx="182880" cy="182880"/>
            </a:xfrm>
            <a:prstGeom prst="ellipse">
              <a:avLst/>
            </a:prstGeom>
            <a:solidFill>
              <a:schemeClr val="accent2">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Oval 129"/>
            <p:cNvSpPr/>
            <p:nvPr/>
          </p:nvSpPr>
          <p:spPr>
            <a:xfrm>
              <a:off x="6666347" y="4158118"/>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Oval 130"/>
            <p:cNvSpPr/>
            <p:nvPr/>
          </p:nvSpPr>
          <p:spPr>
            <a:xfrm>
              <a:off x="6929580" y="4158118"/>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Oval 132"/>
            <p:cNvSpPr/>
            <p:nvPr/>
          </p:nvSpPr>
          <p:spPr>
            <a:xfrm>
              <a:off x="6403113" y="4476067"/>
              <a:ext cx="182880" cy="182880"/>
            </a:xfrm>
            <a:prstGeom prst="ellipse">
              <a:avLst/>
            </a:prstGeom>
            <a:solidFill>
              <a:schemeClr val="accent2">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4" name="Oval 133"/>
            <p:cNvSpPr/>
            <p:nvPr/>
          </p:nvSpPr>
          <p:spPr>
            <a:xfrm>
              <a:off x="6666347" y="4476067"/>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5" name="Oval 134"/>
            <p:cNvSpPr/>
            <p:nvPr/>
          </p:nvSpPr>
          <p:spPr>
            <a:xfrm>
              <a:off x="6929580" y="4476067"/>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 name="Oval 136"/>
            <p:cNvSpPr/>
            <p:nvPr/>
          </p:nvSpPr>
          <p:spPr>
            <a:xfrm>
              <a:off x="6403113" y="4794016"/>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8" name="Oval 137"/>
            <p:cNvSpPr/>
            <p:nvPr/>
          </p:nvSpPr>
          <p:spPr>
            <a:xfrm>
              <a:off x="6666347" y="4794016"/>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9" name="Oval 138"/>
            <p:cNvSpPr/>
            <p:nvPr/>
          </p:nvSpPr>
          <p:spPr>
            <a:xfrm>
              <a:off x="6929580" y="4794016"/>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1" name="Oval 140"/>
            <p:cNvSpPr/>
            <p:nvPr/>
          </p:nvSpPr>
          <p:spPr>
            <a:xfrm>
              <a:off x="6403113" y="5111965"/>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2" name="Oval 141"/>
            <p:cNvSpPr/>
            <p:nvPr/>
          </p:nvSpPr>
          <p:spPr>
            <a:xfrm>
              <a:off x="6666347" y="5111965"/>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3" name="Oval 142"/>
            <p:cNvSpPr/>
            <p:nvPr/>
          </p:nvSpPr>
          <p:spPr>
            <a:xfrm>
              <a:off x="6929580" y="5111965"/>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5" name="Oval 144"/>
            <p:cNvSpPr/>
            <p:nvPr/>
          </p:nvSpPr>
          <p:spPr>
            <a:xfrm>
              <a:off x="6403113" y="5429914"/>
              <a:ext cx="182880" cy="182880"/>
            </a:xfrm>
            <a:prstGeom prst="ellipse">
              <a:avLst/>
            </a:prstGeom>
            <a:solidFill>
              <a:schemeClr val="accent2">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6" name="Oval 145"/>
            <p:cNvSpPr/>
            <p:nvPr/>
          </p:nvSpPr>
          <p:spPr>
            <a:xfrm>
              <a:off x="6666347" y="5429914"/>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7" name="Oval 146"/>
            <p:cNvSpPr/>
            <p:nvPr/>
          </p:nvSpPr>
          <p:spPr>
            <a:xfrm>
              <a:off x="6929580" y="5429914"/>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 name="Oval 148"/>
            <p:cNvSpPr/>
            <p:nvPr/>
          </p:nvSpPr>
          <p:spPr>
            <a:xfrm>
              <a:off x="6403113" y="5747862"/>
              <a:ext cx="182880" cy="182880"/>
            </a:xfrm>
            <a:prstGeom prst="ellipse">
              <a:avLst/>
            </a:prstGeom>
            <a:solidFill>
              <a:schemeClr val="accent2">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0" name="Oval 149"/>
            <p:cNvSpPr/>
            <p:nvPr/>
          </p:nvSpPr>
          <p:spPr>
            <a:xfrm>
              <a:off x="6666347" y="5747862"/>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1" name="Oval 150"/>
            <p:cNvSpPr/>
            <p:nvPr/>
          </p:nvSpPr>
          <p:spPr>
            <a:xfrm>
              <a:off x="6929580" y="5747862"/>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0" name="Group 99"/>
          <p:cNvGrpSpPr/>
          <p:nvPr/>
        </p:nvGrpSpPr>
        <p:grpSpPr>
          <a:xfrm>
            <a:off x="7441098" y="1150090"/>
            <a:ext cx="1046184" cy="4855610"/>
            <a:chOff x="7244364" y="1079753"/>
            <a:chExt cx="1046184" cy="4855610"/>
          </a:xfrm>
        </p:grpSpPr>
        <p:sp>
          <p:nvSpPr>
            <p:cNvPr id="93" name="TextBox 92"/>
            <p:cNvSpPr txBox="1"/>
            <p:nvPr/>
          </p:nvSpPr>
          <p:spPr>
            <a:xfrm>
              <a:off x="7244364" y="1079753"/>
              <a:ext cx="1046184" cy="523220"/>
            </a:xfrm>
            <a:prstGeom prst="rect">
              <a:avLst/>
            </a:prstGeom>
            <a:noFill/>
          </p:spPr>
          <p:txBody>
            <a:bodyPr wrap="none" rtlCol="0">
              <a:spAutoFit/>
            </a:bodyPr>
            <a:lstStyle/>
            <a:p>
              <a:pPr algn="ctr"/>
              <a:r>
                <a:rPr lang="en-US" sz="1400" b="1" dirty="0"/>
                <a:t>Mid Term</a:t>
              </a:r>
            </a:p>
            <a:p>
              <a:pPr algn="ctr"/>
              <a:r>
                <a:rPr lang="en-US" sz="1400" b="1" dirty="0"/>
                <a:t>Mkt Impact</a:t>
              </a:r>
            </a:p>
          </p:txBody>
        </p:sp>
        <p:sp>
          <p:nvSpPr>
            <p:cNvPr id="153" name="Oval 152"/>
            <p:cNvSpPr/>
            <p:nvPr/>
          </p:nvSpPr>
          <p:spPr>
            <a:xfrm>
              <a:off x="7396027" y="1619147"/>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4" name="Oval 153"/>
            <p:cNvSpPr/>
            <p:nvPr/>
          </p:nvSpPr>
          <p:spPr>
            <a:xfrm>
              <a:off x="7659261" y="1619147"/>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5" name="Oval 154"/>
            <p:cNvSpPr/>
            <p:nvPr/>
          </p:nvSpPr>
          <p:spPr>
            <a:xfrm>
              <a:off x="7922494" y="1619147"/>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7" name="Oval 156"/>
            <p:cNvSpPr/>
            <p:nvPr/>
          </p:nvSpPr>
          <p:spPr>
            <a:xfrm>
              <a:off x="7396027" y="2572994"/>
              <a:ext cx="182880" cy="182880"/>
            </a:xfrm>
            <a:prstGeom prst="ellipse">
              <a:avLst/>
            </a:prstGeom>
            <a:solidFill>
              <a:schemeClr val="accent2">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8" name="Oval 157"/>
            <p:cNvSpPr/>
            <p:nvPr/>
          </p:nvSpPr>
          <p:spPr>
            <a:xfrm>
              <a:off x="7659261" y="2572994"/>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9" name="Oval 158"/>
            <p:cNvSpPr/>
            <p:nvPr/>
          </p:nvSpPr>
          <p:spPr>
            <a:xfrm>
              <a:off x="7922494" y="2572994"/>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Oval 160"/>
            <p:cNvSpPr/>
            <p:nvPr/>
          </p:nvSpPr>
          <p:spPr>
            <a:xfrm>
              <a:off x="7396027" y="1937096"/>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2" name="Oval 161"/>
            <p:cNvSpPr/>
            <p:nvPr/>
          </p:nvSpPr>
          <p:spPr>
            <a:xfrm>
              <a:off x="7659261" y="1937096"/>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3" name="Oval 162"/>
            <p:cNvSpPr/>
            <p:nvPr/>
          </p:nvSpPr>
          <p:spPr>
            <a:xfrm>
              <a:off x="7922494" y="1937096"/>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5" name="Oval 164"/>
            <p:cNvSpPr/>
            <p:nvPr/>
          </p:nvSpPr>
          <p:spPr>
            <a:xfrm>
              <a:off x="7396027" y="2255045"/>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6" name="Oval 165"/>
            <p:cNvSpPr/>
            <p:nvPr/>
          </p:nvSpPr>
          <p:spPr>
            <a:xfrm>
              <a:off x="7659261" y="2255045"/>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7" name="Oval 166"/>
            <p:cNvSpPr/>
            <p:nvPr/>
          </p:nvSpPr>
          <p:spPr>
            <a:xfrm>
              <a:off x="7922494" y="2255045"/>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9" name="Oval 168"/>
            <p:cNvSpPr/>
            <p:nvPr/>
          </p:nvSpPr>
          <p:spPr>
            <a:xfrm>
              <a:off x="7396027" y="2890943"/>
              <a:ext cx="182880" cy="182880"/>
            </a:xfrm>
            <a:prstGeom prst="ellipse">
              <a:avLst/>
            </a:prstGeom>
            <a:solidFill>
              <a:schemeClr val="accent2">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Oval 169"/>
            <p:cNvSpPr/>
            <p:nvPr/>
          </p:nvSpPr>
          <p:spPr>
            <a:xfrm>
              <a:off x="7659261" y="2890943"/>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Oval 170"/>
            <p:cNvSpPr/>
            <p:nvPr/>
          </p:nvSpPr>
          <p:spPr>
            <a:xfrm>
              <a:off x="7922494" y="2890943"/>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3" name="Oval 172"/>
            <p:cNvSpPr/>
            <p:nvPr/>
          </p:nvSpPr>
          <p:spPr>
            <a:xfrm>
              <a:off x="7396027" y="3208892"/>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4" name="Oval 173"/>
            <p:cNvSpPr/>
            <p:nvPr/>
          </p:nvSpPr>
          <p:spPr>
            <a:xfrm>
              <a:off x="7659261" y="3208892"/>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5" name="Oval 174"/>
            <p:cNvSpPr/>
            <p:nvPr/>
          </p:nvSpPr>
          <p:spPr>
            <a:xfrm>
              <a:off x="7922494" y="3208892"/>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Oval 176"/>
            <p:cNvSpPr/>
            <p:nvPr/>
          </p:nvSpPr>
          <p:spPr>
            <a:xfrm>
              <a:off x="7396027" y="3526841"/>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8" name="Oval 177"/>
            <p:cNvSpPr/>
            <p:nvPr/>
          </p:nvSpPr>
          <p:spPr>
            <a:xfrm>
              <a:off x="7659261" y="3526841"/>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Oval 178"/>
            <p:cNvSpPr/>
            <p:nvPr/>
          </p:nvSpPr>
          <p:spPr>
            <a:xfrm>
              <a:off x="7922494" y="3526841"/>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1" name="Oval 180"/>
            <p:cNvSpPr/>
            <p:nvPr/>
          </p:nvSpPr>
          <p:spPr>
            <a:xfrm>
              <a:off x="7396027" y="3844790"/>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2" name="Oval 181"/>
            <p:cNvSpPr/>
            <p:nvPr/>
          </p:nvSpPr>
          <p:spPr>
            <a:xfrm>
              <a:off x="7659261" y="3844790"/>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3" name="Oval 182"/>
            <p:cNvSpPr/>
            <p:nvPr/>
          </p:nvSpPr>
          <p:spPr>
            <a:xfrm>
              <a:off x="7922494" y="3844790"/>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5" name="Oval 184"/>
            <p:cNvSpPr/>
            <p:nvPr/>
          </p:nvSpPr>
          <p:spPr>
            <a:xfrm>
              <a:off x="7396027" y="4162739"/>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6" name="Oval 185"/>
            <p:cNvSpPr/>
            <p:nvPr/>
          </p:nvSpPr>
          <p:spPr>
            <a:xfrm>
              <a:off x="7659261" y="4162739"/>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7" name="Oval 186"/>
            <p:cNvSpPr/>
            <p:nvPr/>
          </p:nvSpPr>
          <p:spPr>
            <a:xfrm>
              <a:off x="7922494" y="4162739"/>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9" name="Oval 188"/>
            <p:cNvSpPr/>
            <p:nvPr/>
          </p:nvSpPr>
          <p:spPr>
            <a:xfrm>
              <a:off x="7396027" y="4480688"/>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0" name="Oval 189"/>
            <p:cNvSpPr/>
            <p:nvPr/>
          </p:nvSpPr>
          <p:spPr>
            <a:xfrm>
              <a:off x="7659261" y="4480688"/>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1" name="Oval 190"/>
            <p:cNvSpPr/>
            <p:nvPr/>
          </p:nvSpPr>
          <p:spPr>
            <a:xfrm>
              <a:off x="7922494" y="4480688"/>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3" name="Oval 192"/>
            <p:cNvSpPr/>
            <p:nvPr/>
          </p:nvSpPr>
          <p:spPr>
            <a:xfrm>
              <a:off x="7396027" y="4798637"/>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4" name="Oval 193"/>
            <p:cNvSpPr/>
            <p:nvPr/>
          </p:nvSpPr>
          <p:spPr>
            <a:xfrm>
              <a:off x="7659261" y="4798637"/>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5" name="Oval 194"/>
            <p:cNvSpPr/>
            <p:nvPr/>
          </p:nvSpPr>
          <p:spPr>
            <a:xfrm>
              <a:off x="7922494" y="4798637"/>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7" name="Oval 196"/>
            <p:cNvSpPr/>
            <p:nvPr/>
          </p:nvSpPr>
          <p:spPr>
            <a:xfrm>
              <a:off x="7396027" y="5116586"/>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8" name="Oval 197"/>
            <p:cNvSpPr/>
            <p:nvPr/>
          </p:nvSpPr>
          <p:spPr>
            <a:xfrm>
              <a:off x="7659261" y="5116586"/>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9" name="Oval 198"/>
            <p:cNvSpPr/>
            <p:nvPr/>
          </p:nvSpPr>
          <p:spPr>
            <a:xfrm>
              <a:off x="7922494" y="5116586"/>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1" name="Oval 200"/>
            <p:cNvSpPr/>
            <p:nvPr/>
          </p:nvSpPr>
          <p:spPr>
            <a:xfrm>
              <a:off x="7396027" y="5434535"/>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2" name="Oval 201"/>
            <p:cNvSpPr/>
            <p:nvPr/>
          </p:nvSpPr>
          <p:spPr>
            <a:xfrm>
              <a:off x="7659261" y="5434535"/>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3" name="Oval 202"/>
            <p:cNvSpPr/>
            <p:nvPr/>
          </p:nvSpPr>
          <p:spPr>
            <a:xfrm>
              <a:off x="7922494" y="5434535"/>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5" name="Oval 204"/>
            <p:cNvSpPr/>
            <p:nvPr/>
          </p:nvSpPr>
          <p:spPr>
            <a:xfrm>
              <a:off x="7396027" y="5752483"/>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6" name="Oval 205"/>
            <p:cNvSpPr/>
            <p:nvPr/>
          </p:nvSpPr>
          <p:spPr>
            <a:xfrm>
              <a:off x="7659261" y="5752483"/>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Oval 206"/>
            <p:cNvSpPr/>
            <p:nvPr/>
          </p:nvSpPr>
          <p:spPr>
            <a:xfrm>
              <a:off x="7922494" y="5752483"/>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9" name="Group 98"/>
          <p:cNvGrpSpPr/>
          <p:nvPr/>
        </p:nvGrpSpPr>
        <p:grpSpPr>
          <a:xfrm>
            <a:off x="8629197" y="1152398"/>
            <a:ext cx="1046184" cy="4850995"/>
            <a:chOff x="8629197" y="1079747"/>
            <a:chExt cx="1046184" cy="4850995"/>
          </a:xfrm>
        </p:grpSpPr>
        <p:sp>
          <p:nvSpPr>
            <p:cNvPr id="94" name="TextBox 93"/>
            <p:cNvSpPr txBox="1"/>
            <p:nvPr/>
          </p:nvSpPr>
          <p:spPr>
            <a:xfrm>
              <a:off x="8629197" y="1079747"/>
              <a:ext cx="1046184" cy="523220"/>
            </a:xfrm>
            <a:prstGeom prst="rect">
              <a:avLst/>
            </a:prstGeom>
            <a:noFill/>
          </p:spPr>
          <p:txBody>
            <a:bodyPr wrap="none" rtlCol="0">
              <a:spAutoFit/>
            </a:bodyPr>
            <a:lstStyle/>
            <a:p>
              <a:pPr algn="ctr"/>
              <a:r>
                <a:rPr lang="en-US" sz="1400" b="1" dirty="0"/>
                <a:t>Long Term</a:t>
              </a:r>
            </a:p>
            <a:p>
              <a:pPr algn="ctr"/>
              <a:r>
                <a:rPr lang="en-US" sz="1400" b="1" dirty="0"/>
                <a:t>Mkt Impact</a:t>
              </a:r>
            </a:p>
          </p:txBody>
        </p:sp>
        <p:sp>
          <p:nvSpPr>
            <p:cNvPr id="265" name="Oval 264"/>
            <p:cNvSpPr/>
            <p:nvPr/>
          </p:nvSpPr>
          <p:spPr>
            <a:xfrm>
              <a:off x="8800868" y="1614526"/>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6" name="Oval 265"/>
            <p:cNvSpPr/>
            <p:nvPr/>
          </p:nvSpPr>
          <p:spPr>
            <a:xfrm>
              <a:off x="9064102" y="1614526"/>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7" name="Oval 266"/>
            <p:cNvSpPr/>
            <p:nvPr/>
          </p:nvSpPr>
          <p:spPr>
            <a:xfrm>
              <a:off x="9327335" y="1614526"/>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9" name="Oval 268"/>
            <p:cNvSpPr/>
            <p:nvPr/>
          </p:nvSpPr>
          <p:spPr>
            <a:xfrm>
              <a:off x="8800868" y="2568373"/>
              <a:ext cx="182880" cy="182880"/>
            </a:xfrm>
            <a:prstGeom prst="ellipse">
              <a:avLst/>
            </a:prstGeom>
            <a:solidFill>
              <a:schemeClr val="accent2">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0" name="Oval 269"/>
            <p:cNvSpPr/>
            <p:nvPr/>
          </p:nvSpPr>
          <p:spPr>
            <a:xfrm>
              <a:off x="9064102" y="2568373"/>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1" name="Oval 270"/>
            <p:cNvSpPr/>
            <p:nvPr/>
          </p:nvSpPr>
          <p:spPr>
            <a:xfrm>
              <a:off x="9327335" y="2568373"/>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3" name="Oval 272"/>
            <p:cNvSpPr/>
            <p:nvPr/>
          </p:nvSpPr>
          <p:spPr>
            <a:xfrm>
              <a:off x="8800868" y="1932475"/>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4" name="Oval 273"/>
            <p:cNvSpPr/>
            <p:nvPr/>
          </p:nvSpPr>
          <p:spPr>
            <a:xfrm>
              <a:off x="9064102" y="1932475"/>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5" name="Oval 274"/>
            <p:cNvSpPr/>
            <p:nvPr/>
          </p:nvSpPr>
          <p:spPr>
            <a:xfrm>
              <a:off x="9327335" y="1932475"/>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7" name="Oval 276"/>
            <p:cNvSpPr/>
            <p:nvPr/>
          </p:nvSpPr>
          <p:spPr>
            <a:xfrm>
              <a:off x="8800868" y="2250424"/>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8" name="Oval 277"/>
            <p:cNvSpPr/>
            <p:nvPr/>
          </p:nvSpPr>
          <p:spPr>
            <a:xfrm>
              <a:off x="9064102" y="2250424"/>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9" name="Oval 278"/>
            <p:cNvSpPr/>
            <p:nvPr/>
          </p:nvSpPr>
          <p:spPr>
            <a:xfrm>
              <a:off x="9327335" y="2250424"/>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1" name="Oval 280"/>
            <p:cNvSpPr/>
            <p:nvPr/>
          </p:nvSpPr>
          <p:spPr>
            <a:xfrm>
              <a:off x="8800868" y="2886322"/>
              <a:ext cx="182880" cy="182880"/>
            </a:xfrm>
            <a:prstGeom prst="ellipse">
              <a:avLst/>
            </a:prstGeom>
            <a:solidFill>
              <a:schemeClr val="accent2">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2" name="Oval 281"/>
            <p:cNvSpPr/>
            <p:nvPr/>
          </p:nvSpPr>
          <p:spPr>
            <a:xfrm>
              <a:off x="9064102" y="2886322"/>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3" name="Oval 282"/>
            <p:cNvSpPr/>
            <p:nvPr/>
          </p:nvSpPr>
          <p:spPr>
            <a:xfrm>
              <a:off x="9327335" y="2886322"/>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5" name="Oval 284"/>
            <p:cNvSpPr/>
            <p:nvPr/>
          </p:nvSpPr>
          <p:spPr>
            <a:xfrm>
              <a:off x="8800868" y="3204271"/>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6" name="Oval 285"/>
            <p:cNvSpPr/>
            <p:nvPr/>
          </p:nvSpPr>
          <p:spPr>
            <a:xfrm>
              <a:off x="9064102" y="3204271"/>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7" name="Oval 286"/>
            <p:cNvSpPr/>
            <p:nvPr/>
          </p:nvSpPr>
          <p:spPr>
            <a:xfrm>
              <a:off x="9327335" y="3204271"/>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9" name="Oval 288"/>
            <p:cNvSpPr/>
            <p:nvPr/>
          </p:nvSpPr>
          <p:spPr>
            <a:xfrm>
              <a:off x="8800868" y="3522220"/>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0" name="Oval 289"/>
            <p:cNvSpPr/>
            <p:nvPr/>
          </p:nvSpPr>
          <p:spPr>
            <a:xfrm>
              <a:off x="9064102" y="3522220"/>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1" name="Oval 290"/>
            <p:cNvSpPr/>
            <p:nvPr/>
          </p:nvSpPr>
          <p:spPr>
            <a:xfrm>
              <a:off x="9327335" y="3522220"/>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3" name="Oval 292"/>
            <p:cNvSpPr/>
            <p:nvPr/>
          </p:nvSpPr>
          <p:spPr>
            <a:xfrm>
              <a:off x="8800868" y="3840169"/>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4" name="Oval 293"/>
            <p:cNvSpPr/>
            <p:nvPr/>
          </p:nvSpPr>
          <p:spPr>
            <a:xfrm>
              <a:off x="9064102" y="3840169"/>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5" name="Oval 294"/>
            <p:cNvSpPr/>
            <p:nvPr/>
          </p:nvSpPr>
          <p:spPr>
            <a:xfrm>
              <a:off x="9327335" y="3840169"/>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7" name="Oval 296"/>
            <p:cNvSpPr/>
            <p:nvPr/>
          </p:nvSpPr>
          <p:spPr>
            <a:xfrm>
              <a:off x="8800868" y="4158118"/>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Oval 297"/>
            <p:cNvSpPr/>
            <p:nvPr/>
          </p:nvSpPr>
          <p:spPr>
            <a:xfrm>
              <a:off x="9064102" y="4158118"/>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9" name="Oval 298"/>
            <p:cNvSpPr/>
            <p:nvPr/>
          </p:nvSpPr>
          <p:spPr>
            <a:xfrm>
              <a:off x="9327335" y="4158118"/>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1" name="Oval 300"/>
            <p:cNvSpPr/>
            <p:nvPr/>
          </p:nvSpPr>
          <p:spPr>
            <a:xfrm>
              <a:off x="8800868" y="4476067"/>
              <a:ext cx="182880" cy="182880"/>
            </a:xfrm>
            <a:prstGeom prst="ellipse">
              <a:avLst/>
            </a:prstGeom>
            <a:solidFill>
              <a:schemeClr val="accent2">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2" name="Oval 301"/>
            <p:cNvSpPr/>
            <p:nvPr/>
          </p:nvSpPr>
          <p:spPr>
            <a:xfrm>
              <a:off x="9064102" y="4476067"/>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3" name="Oval 302"/>
            <p:cNvSpPr/>
            <p:nvPr/>
          </p:nvSpPr>
          <p:spPr>
            <a:xfrm>
              <a:off x="9327335" y="4476067"/>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5" name="Oval 304"/>
            <p:cNvSpPr/>
            <p:nvPr/>
          </p:nvSpPr>
          <p:spPr>
            <a:xfrm>
              <a:off x="8800868" y="4794016"/>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6" name="Oval 305"/>
            <p:cNvSpPr/>
            <p:nvPr/>
          </p:nvSpPr>
          <p:spPr>
            <a:xfrm>
              <a:off x="9064102" y="4794016"/>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7" name="Oval 306"/>
            <p:cNvSpPr/>
            <p:nvPr/>
          </p:nvSpPr>
          <p:spPr>
            <a:xfrm>
              <a:off x="9327335" y="4794016"/>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9" name="Oval 308"/>
            <p:cNvSpPr/>
            <p:nvPr/>
          </p:nvSpPr>
          <p:spPr>
            <a:xfrm>
              <a:off x="8800868" y="5111965"/>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0" name="Oval 309"/>
            <p:cNvSpPr/>
            <p:nvPr/>
          </p:nvSpPr>
          <p:spPr>
            <a:xfrm>
              <a:off x="9064102" y="5111965"/>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1" name="Oval 310"/>
            <p:cNvSpPr/>
            <p:nvPr/>
          </p:nvSpPr>
          <p:spPr>
            <a:xfrm>
              <a:off x="9327335" y="5111965"/>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3" name="Oval 312"/>
            <p:cNvSpPr/>
            <p:nvPr/>
          </p:nvSpPr>
          <p:spPr>
            <a:xfrm>
              <a:off x="8800868" y="5429914"/>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4" name="Oval 313"/>
            <p:cNvSpPr/>
            <p:nvPr/>
          </p:nvSpPr>
          <p:spPr>
            <a:xfrm>
              <a:off x="9064102" y="5429914"/>
              <a:ext cx="182880" cy="182880"/>
            </a:xfrm>
            <a:prstGeom prst="ellipse">
              <a:avLst/>
            </a:prstGeom>
            <a:solidFill>
              <a:schemeClr val="accent3">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5" name="Oval 314"/>
            <p:cNvSpPr/>
            <p:nvPr/>
          </p:nvSpPr>
          <p:spPr>
            <a:xfrm>
              <a:off x="9327335" y="5429914"/>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7" name="Oval 316"/>
            <p:cNvSpPr/>
            <p:nvPr/>
          </p:nvSpPr>
          <p:spPr>
            <a:xfrm>
              <a:off x="8800868" y="5747862"/>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8" name="Oval 317"/>
            <p:cNvSpPr/>
            <p:nvPr/>
          </p:nvSpPr>
          <p:spPr>
            <a:xfrm>
              <a:off x="9064102" y="5747862"/>
              <a:ext cx="182880" cy="1828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9" name="Oval 318"/>
            <p:cNvSpPr/>
            <p:nvPr/>
          </p:nvSpPr>
          <p:spPr>
            <a:xfrm>
              <a:off x="9327335" y="5747862"/>
              <a:ext cx="182880" cy="182880"/>
            </a:xfrm>
            <a:prstGeom prst="ellipse">
              <a:avLst/>
            </a:prstGeom>
            <a:solidFill>
              <a:srgbClr val="92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aphicFrame>
        <p:nvGraphicFramePr>
          <p:cNvPr id="322" name="Table 321"/>
          <p:cNvGraphicFramePr>
            <a:graphicFrameLocks noGrp="1"/>
          </p:cNvGraphicFramePr>
          <p:nvPr>
            <p:extLst>
              <p:ext uri="{D42A27DB-BD31-4B8C-83A1-F6EECF244321}">
                <p14:modId xmlns:p14="http://schemas.microsoft.com/office/powerpoint/2010/main" val="392147400"/>
              </p:ext>
            </p:extLst>
          </p:nvPr>
        </p:nvGraphicFramePr>
        <p:xfrm>
          <a:off x="9885222" y="1670874"/>
          <a:ext cx="1987827" cy="4412128"/>
        </p:xfrm>
        <a:graphic>
          <a:graphicData uri="http://schemas.openxmlformats.org/drawingml/2006/table">
            <a:tbl>
              <a:tblPr bandRow="1">
                <a:tableStyleId>{5C22544A-7EE6-4342-B048-85BDC9FD1C3A}</a:tableStyleId>
              </a:tblPr>
              <a:tblGrid>
                <a:gridCol w="1987827">
                  <a:extLst>
                    <a:ext uri="{9D8B030D-6E8A-4147-A177-3AD203B41FA5}">
                      <a16:colId xmlns:a16="http://schemas.microsoft.com/office/drawing/2014/main" val="20000"/>
                    </a:ext>
                  </a:extLst>
                </a:gridCol>
              </a:tblGrid>
              <a:tr h="315152">
                <a:tc>
                  <a:txBody>
                    <a:bodyPr/>
                    <a:lstStyle/>
                    <a:p>
                      <a:pPr algn="ctr" fontAlgn="b"/>
                      <a:r>
                        <a:rPr lang="en-US" sz="1100" b="0" i="0" u="none" strike="noStrike" dirty="0">
                          <a:solidFill>
                            <a:srgbClr val="000000"/>
                          </a:solidFill>
                          <a:effectLst/>
                          <a:latin typeface="Calibri" panose="020F0502020204030204" pitchFamily="34" charset="0"/>
                        </a:rPr>
                        <a:t>-170</a:t>
                      </a:r>
                    </a:p>
                  </a:txBody>
                  <a:tcPr marR="0" marT="0" marB="0" anchor="ctr"/>
                </a:tc>
                <a:extLst>
                  <a:ext uri="{0D108BD9-81ED-4DB2-BD59-A6C34878D82A}">
                    <a16:rowId xmlns:a16="http://schemas.microsoft.com/office/drawing/2014/main" val="10000"/>
                  </a:ext>
                </a:extLst>
              </a:tr>
              <a:tr h="315152">
                <a:tc>
                  <a:txBody>
                    <a:bodyPr/>
                    <a:lstStyle/>
                    <a:p>
                      <a:pPr algn="ctr" fontAlgn="b"/>
                      <a:r>
                        <a:rPr lang="en-US" sz="1100" b="0" i="0" u="none" strike="noStrike" dirty="0">
                          <a:solidFill>
                            <a:srgbClr val="000000"/>
                          </a:solidFill>
                          <a:effectLst/>
                          <a:latin typeface="Calibri" panose="020F0502020204030204" pitchFamily="34" charset="0"/>
                        </a:rPr>
                        <a:t>-100</a:t>
                      </a:r>
                    </a:p>
                  </a:txBody>
                  <a:tcPr marR="0" marT="0" marB="0" anchor="ctr"/>
                </a:tc>
                <a:extLst>
                  <a:ext uri="{0D108BD9-81ED-4DB2-BD59-A6C34878D82A}">
                    <a16:rowId xmlns:a16="http://schemas.microsoft.com/office/drawing/2014/main" val="10001"/>
                  </a:ext>
                </a:extLst>
              </a:tr>
              <a:tr h="315152">
                <a:tc>
                  <a:txBody>
                    <a:bodyPr/>
                    <a:lstStyle/>
                    <a:p>
                      <a:pPr algn="ctr" fontAlgn="b"/>
                      <a:r>
                        <a:rPr lang="en-US" sz="1100" b="0" i="0" u="none" strike="noStrike" dirty="0">
                          <a:solidFill>
                            <a:srgbClr val="000000"/>
                          </a:solidFill>
                          <a:effectLst/>
                          <a:latin typeface="Calibri" panose="020F0502020204030204" pitchFamily="34" charset="0"/>
                        </a:rPr>
                        <a:t>-200</a:t>
                      </a:r>
                    </a:p>
                  </a:txBody>
                  <a:tcPr marR="0" marT="0" marB="0" anchor="ctr"/>
                </a:tc>
                <a:extLst>
                  <a:ext uri="{0D108BD9-81ED-4DB2-BD59-A6C34878D82A}">
                    <a16:rowId xmlns:a16="http://schemas.microsoft.com/office/drawing/2014/main" val="10002"/>
                  </a:ext>
                </a:extLst>
              </a:tr>
              <a:tr h="315152">
                <a:tc>
                  <a:txBody>
                    <a:bodyPr/>
                    <a:lstStyle/>
                    <a:p>
                      <a:pPr algn="ctr" fontAlgn="b"/>
                      <a:r>
                        <a:rPr lang="en-US" sz="1100" b="0" i="0" u="none" strike="noStrike" dirty="0">
                          <a:solidFill>
                            <a:srgbClr val="000000"/>
                          </a:solidFill>
                          <a:effectLst/>
                          <a:latin typeface="Calibri" panose="020F0502020204030204" pitchFamily="34" charset="0"/>
                        </a:rPr>
                        <a:t>-70</a:t>
                      </a:r>
                    </a:p>
                  </a:txBody>
                  <a:tcPr marR="0" marT="0" marB="0" anchor="ctr"/>
                </a:tc>
                <a:extLst>
                  <a:ext uri="{0D108BD9-81ED-4DB2-BD59-A6C34878D82A}">
                    <a16:rowId xmlns:a16="http://schemas.microsoft.com/office/drawing/2014/main" val="10003"/>
                  </a:ext>
                </a:extLst>
              </a:tr>
              <a:tr h="315152">
                <a:tc>
                  <a:txBody>
                    <a:bodyPr/>
                    <a:lstStyle/>
                    <a:p>
                      <a:pPr algn="ctr" fontAlgn="b"/>
                      <a:r>
                        <a:rPr lang="en-US" sz="1100" b="0" i="0" u="none" strike="noStrike" dirty="0">
                          <a:solidFill>
                            <a:srgbClr val="000000"/>
                          </a:solidFill>
                          <a:effectLst/>
                          <a:latin typeface="Calibri" panose="020F0502020204030204" pitchFamily="34" charset="0"/>
                        </a:rPr>
                        <a:t>-40</a:t>
                      </a:r>
                    </a:p>
                  </a:txBody>
                  <a:tcPr marR="0" marT="0" marB="0" anchor="ctr"/>
                </a:tc>
                <a:extLst>
                  <a:ext uri="{0D108BD9-81ED-4DB2-BD59-A6C34878D82A}">
                    <a16:rowId xmlns:a16="http://schemas.microsoft.com/office/drawing/2014/main" val="10004"/>
                  </a:ext>
                </a:extLst>
              </a:tr>
              <a:tr h="315152">
                <a:tc>
                  <a:txBody>
                    <a:bodyPr/>
                    <a:lstStyle/>
                    <a:p>
                      <a:pPr algn="ctr" fontAlgn="b"/>
                      <a:r>
                        <a:rPr lang="en-US" sz="1100" b="0" i="0" u="none" strike="noStrike" dirty="0">
                          <a:solidFill>
                            <a:srgbClr val="000000"/>
                          </a:solidFill>
                          <a:effectLst/>
                          <a:latin typeface="Calibri" panose="020F0502020204030204" pitchFamily="34" charset="0"/>
                        </a:rPr>
                        <a:t>-260</a:t>
                      </a:r>
                    </a:p>
                  </a:txBody>
                  <a:tcPr marR="0" marT="0" marB="0" anchor="ctr"/>
                </a:tc>
                <a:extLst>
                  <a:ext uri="{0D108BD9-81ED-4DB2-BD59-A6C34878D82A}">
                    <a16:rowId xmlns:a16="http://schemas.microsoft.com/office/drawing/2014/main" val="10005"/>
                  </a:ext>
                </a:extLst>
              </a:tr>
              <a:tr h="315152">
                <a:tc>
                  <a:txBody>
                    <a:bodyPr/>
                    <a:lstStyle/>
                    <a:p>
                      <a:pPr algn="ctr" fontAlgn="b"/>
                      <a:r>
                        <a:rPr lang="en-US" sz="1100" b="0" i="0" u="none" strike="noStrike" dirty="0">
                          <a:solidFill>
                            <a:srgbClr val="000000"/>
                          </a:solidFill>
                          <a:effectLst/>
                          <a:latin typeface="Calibri" panose="020F0502020204030204" pitchFamily="34" charset="0"/>
                        </a:rPr>
                        <a:t>-580</a:t>
                      </a:r>
                    </a:p>
                  </a:txBody>
                  <a:tcPr marR="0" marT="0" marB="0" anchor="ctr"/>
                </a:tc>
                <a:extLst>
                  <a:ext uri="{0D108BD9-81ED-4DB2-BD59-A6C34878D82A}">
                    <a16:rowId xmlns:a16="http://schemas.microsoft.com/office/drawing/2014/main" val="10006"/>
                  </a:ext>
                </a:extLst>
              </a:tr>
              <a:tr h="315152">
                <a:tc>
                  <a:txBody>
                    <a:bodyPr/>
                    <a:lstStyle/>
                    <a:p>
                      <a:pPr algn="ctr" fontAlgn="b"/>
                      <a:r>
                        <a:rPr lang="en-US" sz="1100" b="0" i="0" u="none" strike="noStrike" dirty="0">
                          <a:solidFill>
                            <a:srgbClr val="000000"/>
                          </a:solidFill>
                          <a:effectLst/>
                          <a:latin typeface="Calibri" panose="020F0502020204030204" pitchFamily="34" charset="0"/>
                        </a:rPr>
                        <a:t>-540</a:t>
                      </a:r>
                    </a:p>
                  </a:txBody>
                  <a:tcPr marR="0" marT="0" marB="0" anchor="ctr"/>
                </a:tc>
                <a:extLst>
                  <a:ext uri="{0D108BD9-81ED-4DB2-BD59-A6C34878D82A}">
                    <a16:rowId xmlns:a16="http://schemas.microsoft.com/office/drawing/2014/main" val="10007"/>
                  </a:ext>
                </a:extLst>
              </a:tr>
              <a:tr h="315152">
                <a:tc>
                  <a:txBody>
                    <a:bodyPr/>
                    <a:lstStyle/>
                    <a:p>
                      <a:pPr algn="ctr" fontAlgn="b"/>
                      <a:r>
                        <a:rPr lang="en-US" sz="1100" b="0" i="0" u="none" strike="noStrike" dirty="0">
                          <a:solidFill>
                            <a:srgbClr val="000000"/>
                          </a:solidFill>
                          <a:effectLst/>
                          <a:latin typeface="Calibri" panose="020F0502020204030204" pitchFamily="34" charset="0"/>
                        </a:rPr>
                        <a:t>-80</a:t>
                      </a:r>
                    </a:p>
                  </a:txBody>
                  <a:tcPr marR="0" marT="0" marB="0" anchor="ctr"/>
                </a:tc>
                <a:extLst>
                  <a:ext uri="{0D108BD9-81ED-4DB2-BD59-A6C34878D82A}">
                    <a16:rowId xmlns:a16="http://schemas.microsoft.com/office/drawing/2014/main" val="10008"/>
                  </a:ext>
                </a:extLst>
              </a:tr>
              <a:tr h="315152">
                <a:tc>
                  <a:txBody>
                    <a:bodyPr/>
                    <a:lstStyle/>
                    <a:p>
                      <a:pPr algn="ctr" fontAlgn="b"/>
                      <a:r>
                        <a:rPr lang="en-US" sz="1100" b="0" i="0" u="none" strike="noStrike" dirty="0">
                          <a:solidFill>
                            <a:srgbClr val="000000"/>
                          </a:solidFill>
                          <a:effectLst/>
                          <a:latin typeface="Calibri" panose="020F0502020204030204" pitchFamily="34" charset="0"/>
                        </a:rPr>
                        <a:t>-190</a:t>
                      </a:r>
                    </a:p>
                  </a:txBody>
                  <a:tcPr marR="0" marT="0" marB="0" anchor="ctr"/>
                </a:tc>
                <a:extLst>
                  <a:ext uri="{0D108BD9-81ED-4DB2-BD59-A6C34878D82A}">
                    <a16:rowId xmlns:a16="http://schemas.microsoft.com/office/drawing/2014/main" val="10009"/>
                  </a:ext>
                </a:extLst>
              </a:tr>
              <a:tr h="315152">
                <a:tc>
                  <a:txBody>
                    <a:bodyPr/>
                    <a:lstStyle/>
                    <a:p>
                      <a:pPr algn="ctr" fontAlgn="b"/>
                      <a:r>
                        <a:rPr lang="en-US" sz="1100" b="0" i="0" u="none" strike="noStrike" dirty="0">
                          <a:solidFill>
                            <a:srgbClr val="000000"/>
                          </a:solidFill>
                          <a:effectLst/>
                          <a:latin typeface="Calibri" panose="020F0502020204030204" pitchFamily="34" charset="0"/>
                        </a:rPr>
                        <a:t>+160</a:t>
                      </a:r>
                    </a:p>
                  </a:txBody>
                  <a:tcPr marR="0" marT="0" marB="0" anchor="ctr"/>
                </a:tc>
                <a:extLst>
                  <a:ext uri="{0D108BD9-81ED-4DB2-BD59-A6C34878D82A}">
                    <a16:rowId xmlns:a16="http://schemas.microsoft.com/office/drawing/2014/main" val="10010"/>
                  </a:ext>
                </a:extLst>
              </a:tr>
              <a:tr h="315152">
                <a:tc>
                  <a:txBody>
                    <a:bodyPr/>
                    <a:lstStyle/>
                    <a:p>
                      <a:pPr algn="ctr" fontAlgn="b"/>
                      <a:r>
                        <a:rPr lang="en-US" sz="1100" b="0" i="0" u="none" strike="noStrike" dirty="0">
                          <a:solidFill>
                            <a:srgbClr val="000000"/>
                          </a:solidFill>
                          <a:effectLst/>
                          <a:latin typeface="Calibri" panose="020F0502020204030204" pitchFamily="34" charset="0"/>
                        </a:rPr>
                        <a:t>+640</a:t>
                      </a:r>
                    </a:p>
                  </a:txBody>
                  <a:tcPr marR="0" marT="0" marB="0" anchor="ctr"/>
                </a:tc>
                <a:extLst>
                  <a:ext uri="{0D108BD9-81ED-4DB2-BD59-A6C34878D82A}">
                    <a16:rowId xmlns:a16="http://schemas.microsoft.com/office/drawing/2014/main" val="10011"/>
                  </a:ext>
                </a:extLst>
              </a:tr>
              <a:tr h="315152">
                <a:tc>
                  <a:txBody>
                    <a:bodyPr/>
                    <a:lstStyle/>
                    <a:p>
                      <a:pPr algn="ctr" fontAlgn="b"/>
                      <a:r>
                        <a:rPr lang="en-US" sz="1100" b="0" i="0" u="none" strike="noStrike" dirty="0">
                          <a:solidFill>
                            <a:srgbClr val="000000"/>
                          </a:solidFill>
                          <a:effectLst/>
                          <a:latin typeface="Calibri" panose="020F0502020204030204" pitchFamily="34" charset="0"/>
                        </a:rPr>
                        <a:t>-200</a:t>
                      </a:r>
                    </a:p>
                  </a:txBody>
                  <a:tcPr marR="0" marT="0" marB="0" anchor="ctr"/>
                </a:tc>
                <a:extLst>
                  <a:ext uri="{0D108BD9-81ED-4DB2-BD59-A6C34878D82A}">
                    <a16:rowId xmlns:a16="http://schemas.microsoft.com/office/drawing/2014/main" val="10012"/>
                  </a:ext>
                </a:extLst>
              </a:tr>
              <a:tr h="315152">
                <a:tc>
                  <a:txBody>
                    <a:bodyPr/>
                    <a:lstStyle/>
                    <a:p>
                      <a:pPr algn="ctr" fontAlgn="b"/>
                      <a:r>
                        <a:rPr lang="en-US" sz="1100" b="0" i="0" u="none" strike="noStrike" dirty="0">
                          <a:solidFill>
                            <a:srgbClr val="000000"/>
                          </a:solidFill>
                          <a:effectLst/>
                          <a:latin typeface="Calibri" panose="020F0502020204030204" pitchFamily="34" charset="0"/>
                        </a:rPr>
                        <a:t>-350</a:t>
                      </a:r>
                    </a:p>
                  </a:txBody>
                  <a:tcPr marR="0" marT="0" marB="0" anchor="ctr"/>
                </a:tc>
                <a:extLst>
                  <a:ext uri="{0D108BD9-81ED-4DB2-BD59-A6C34878D82A}">
                    <a16:rowId xmlns:a16="http://schemas.microsoft.com/office/drawing/2014/main" val="10013"/>
                  </a:ext>
                </a:extLst>
              </a:tr>
            </a:tbl>
          </a:graphicData>
        </a:graphic>
      </p:graphicFrame>
      <p:sp>
        <p:nvSpPr>
          <p:cNvPr id="229" name="TextBox 228"/>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16" name="Slide Number Placeholder 115"/>
          <p:cNvSpPr>
            <a:spLocks noGrp="1"/>
          </p:cNvSpPr>
          <p:nvPr>
            <p:ph type="sldNum" sz="quarter" idx="4"/>
          </p:nvPr>
        </p:nvSpPr>
        <p:spPr/>
        <p:txBody>
          <a:bodyPr/>
          <a:lstStyle/>
          <a:p>
            <a:fld id="{4B17068C-EB94-40A3-A5F2-664CDD77FDAC}" type="slidenum">
              <a:rPr lang="en-GB" smtClean="0"/>
              <a:pPr/>
              <a:t>65</a:t>
            </a:fld>
            <a:endParaRPr lang="en-GB" dirty="0"/>
          </a:p>
        </p:txBody>
      </p:sp>
    </p:spTree>
    <p:extLst>
      <p:ext uri="{BB962C8B-B14F-4D97-AF65-F5344CB8AC3E}">
        <p14:creationId xmlns:p14="http://schemas.microsoft.com/office/powerpoint/2010/main" val="3243329310"/>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Market Dynamics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66</a:t>
            </a:r>
          </a:p>
        </p:txBody>
      </p:sp>
    </p:spTree>
    <p:extLst>
      <p:ext uri="{BB962C8B-B14F-4D97-AF65-F5344CB8AC3E}">
        <p14:creationId xmlns:p14="http://schemas.microsoft.com/office/powerpoint/2010/main" val="426303019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Box 29"/>
          <p:cNvSpPr txBox="1"/>
          <p:nvPr/>
        </p:nvSpPr>
        <p:spPr>
          <a:xfrm>
            <a:off x="1599541" y="4693699"/>
            <a:ext cx="3655084" cy="386367"/>
          </a:xfrm>
          <a:prstGeom prst="rect">
            <a:avLst/>
          </a:prstGeom>
          <a:noFill/>
        </p:spPr>
        <p:txBody>
          <a:bodyPr wrap="square" rtlCol="0">
            <a:spAutoFit/>
          </a:bodyPr>
          <a:lstStyle/>
          <a:p>
            <a:r>
              <a:rPr lang="en-IN" b="1" dirty="0">
                <a:latin typeface="Candara Light" panose="020E0502030303020204" pitchFamily="34" charset="0"/>
              </a:rPr>
              <a:t>Supply Side Drivers</a:t>
            </a:r>
            <a:endParaRPr lang="en-US" b="1" dirty="0">
              <a:latin typeface="Candara Light" panose="020E0502030303020204" pitchFamily="34" charset="0"/>
            </a:endParaRPr>
          </a:p>
        </p:txBody>
      </p:sp>
      <p:sp>
        <p:nvSpPr>
          <p:cNvPr id="36" name="Rectangle 35"/>
          <p:cNvSpPr/>
          <p:nvPr/>
        </p:nvSpPr>
        <p:spPr>
          <a:xfrm rot="16200000">
            <a:off x="40549" y="4960102"/>
            <a:ext cx="1516762" cy="584775"/>
          </a:xfrm>
          <a:prstGeom prst="rect">
            <a:avLst/>
          </a:prstGeom>
          <a:noFill/>
        </p:spPr>
        <p:txBody>
          <a:bodyPr wrap="none" lIns="91440" tIns="45720" rIns="91440" bIns="45720">
            <a:spAutoFit/>
          </a:bodyPr>
          <a:lstStyle/>
          <a:p>
            <a:pPr algn="ctr"/>
            <a:r>
              <a:rPr lang="en-IN" sz="3200" b="1" dirty="0">
                <a:ln/>
                <a:pattFill prst="dkUpDiag">
                  <a:fgClr>
                    <a:schemeClr val="bg1">
                      <a:lumMod val="50000"/>
                    </a:schemeClr>
                  </a:fgClr>
                  <a:bgClr>
                    <a:schemeClr val="tx1">
                      <a:lumMod val="75000"/>
                      <a:lumOff val="25000"/>
                    </a:schemeClr>
                  </a:bgClr>
                </a:pattFill>
                <a:effectLst>
                  <a:outerShdw blurRad="38100" dist="19050" dir="2700000" algn="tl" rotWithShape="0">
                    <a:schemeClr val="dk1">
                      <a:lumMod val="50000"/>
                      <a:alpha val="40000"/>
                    </a:schemeClr>
                  </a:outerShdw>
                </a:effectLst>
                <a:latin typeface="Bookman Old Style" panose="02050604050505020204" pitchFamily="18" charset="0"/>
              </a:rPr>
              <a:t>Driver</a:t>
            </a:r>
            <a:endParaRPr lang="en-US" sz="3200" b="1" dirty="0">
              <a:ln/>
              <a:pattFill prst="dkUpDiag">
                <a:fgClr>
                  <a:schemeClr val="bg1">
                    <a:lumMod val="50000"/>
                  </a:schemeClr>
                </a:fgClr>
                <a:bgClr>
                  <a:schemeClr val="tx1">
                    <a:lumMod val="75000"/>
                    <a:lumOff val="25000"/>
                  </a:schemeClr>
                </a:bgClr>
              </a:pattFill>
              <a:effectLst>
                <a:outerShdw blurRad="38100" dist="19050" dir="2700000" algn="tl" rotWithShape="0">
                  <a:schemeClr val="dk1">
                    <a:lumMod val="50000"/>
                    <a:alpha val="40000"/>
                  </a:schemeClr>
                </a:outerShdw>
              </a:effectLst>
              <a:latin typeface="Bookman Old Style" panose="02050604050505020204" pitchFamily="18" charset="0"/>
            </a:endParaRPr>
          </a:p>
        </p:txBody>
      </p:sp>
      <p:sp>
        <p:nvSpPr>
          <p:cNvPr id="2" name="Title 1"/>
          <p:cNvSpPr>
            <a:spLocks noGrp="1"/>
          </p:cNvSpPr>
          <p:nvPr>
            <p:ph type="title"/>
          </p:nvPr>
        </p:nvSpPr>
        <p:spPr/>
        <p:txBody>
          <a:bodyPr/>
          <a:lstStyle/>
          <a:p>
            <a:r>
              <a:rPr lang="en-IN" dirty="0"/>
              <a:t>Market Dynamics – Driver, Restraint Analysis</a:t>
            </a:r>
            <a:endParaRPr lang="en-US" dirty="0"/>
          </a:p>
        </p:txBody>
      </p:sp>
      <p:sp>
        <p:nvSpPr>
          <p:cNvPr id="9" name="Slide Number Placeholder 8"/>
          <p:cNvSpPr>
            <a:spLocks noGrp="1"/>
          </p:cNvSpPr>
          <p:nvPr>
            <p:ph type="sldNum" sz="quarter" idx="4"/>
          </p:nvPr>
        </p:nvSpPr>
        <p:spPr/>
        <p:txBody>
          <a:bodyPr/>
          <a:lstStyle/>
          <a:p>
            <a:fld id="{4B17068C-EB94-40A3-A5F2-664CDD77FDAC}" type="slidenum">
              <a:rPr lang="en-GB" smtClean="0"/>
              <a:pPr/>
              <a:t>67</a:t>
            </a:fld>
            <a:endParaRPr lang="en-GB" dirty="0"/>
          </a:p>
        </p:txBody>
      </p:sp>
      <p:sp>
        <p:nvSpPr>
          <p:cNvPr id="4" name="Oval 3"/>
          <p:cNvSpPr/>
          <p:nvPr/>
        </p:nvSpPr>
        <p:spPr>
          <a:xfrm>
            <a:off x="5233541" y="2575776"/>
            <a:ext cx="1738647" cy="1738647"/>
          </a:xfrm>
          <a:prstGeom prst="ellipse">
            <a:avLst/>
          </a:prstGeom>
          <a:gradFill flip="none" rotWithShape="1">
            <a:gsLst>
              <a:gs pos="0">
                <a:schemeClr val="bg1">
                  <a:lumMod val="75000"/>
                  <a:tint val="66000"/>
                  <a:satMod val="160000"/>
                </a:schemeClr>
              </a:gs>
              <a:gs pos="50000">
                <a:schemeClr val="bg1">
                  <a:lumMod val="75000"/>
                  <a:tint val="44500"/>
                  <a:satMod val="160000"/>
                </a:schemeClr>
              </a:gs>
              <a:gs pos="100000">
                <a:schemeClr val="bg1">
                  <a:lumMod val="75000"/>
                  <a:tint val="23500"/>
                  <a:satMod val="1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p:cNvSpPr/>
          <p:nvPr/>
        </p:nvSpPr>
        <p:spPr>
          <a:xfrm rot="18900000">
            <a:off x="5404184" y="2746419"/>
            <a:ext cx="1397358" cy="1397358"/>
          </a:xfrm>
          <a:prstGeom prst="ellipse">
            <a:avLst/>
          </a:prstGeom>
          <a:gradFill flip="none" rotWithShape="1">
            <a:gsLst>
              <a:gs pos="0">
                <a:srgbClr val="00B050"/>
              </a:gs>
              <a:gs pos="50000">
                <a:schemeClr val="bg1">
                  <a:lumMod val="75000"/>
                  <a:tint val="44500"/>
                  <a:satMod val="160000"/>
                </a:schemeClr>
              </a:gs>
              <a:gs pos="100000">
                <a:schemeClr val="accent6">
                  <a:lumMod val="60000"/>
                  <a:lumOff val="40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0" name="Straight Connector 9"/>
          <p:cNvCxnSpPr>
            <a:stCxn id="5" idx="2"/>
          </p:cNvCxnSpPr>
          <p:nvPr/>
        </p:nvCxnSpPr>
        <p:spPr>
          <a:xfrm flipH="1">
            <a:off x="5233540" y="3939140"/>
            <a:ext cx="375282" cy="1109939"/>
          </a:xfrm>
          <a:prstGeom prst="line">
            <a:avLst/>
          </a:prstGeom>
          <a:ln w="19050">
            <a:solidFill>
              <a:srgbClr val="00B050"/>
            </a:solidFill>
            <a:prstDash val="dash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a:stCxn id="5" idx="1"/>
          </p:cNvCxnSpPr>
          <p:nvPr/>
        </p:nvCxnSpPr>
        <p:spPr>
          <a:xfrm flipH="1">
            <a:off x="1563272" y="3445099"/>
            <a:ext cx="3840912" cy="7091"/>
          </a:xfrm>
          <a:prstGeom prst="line">
            <a:avLst/>
          </a:prstGeom>
          <a:ln w="19050">
            <a:solidFill>
              <a:srgbClr val="00B050"/>
            </a:solidFill>
            <a:prstDash val="dashDot"/>
          </a:ln>
        </p:spPr>
        <p:style>
          <a:lnRef idx="1">
            <a:schemeClr val="accent1"/>
          </a:lnRef>
          <a:fillRef idx="0">
            <a:schemeClr val="accent1"/>
          </a:fillRef>
          <a:effectRef idx="0">
            <a:schemeClr val="accent1"/>
          </a:effectRef>
          <a:fontRef idx="minor">
            <a:schemeClr val="tx1"/>
          </a:fontRef>
        </p:style>
      </p:cxnSp>
      <p:grpSp>
        <p:nvGrpSpPr>
          <p:cNvPr id="40" name="Group 39"/>
          <p:cNvGrpSpPr/>
          <p:nvPr/>
        </p:nvGrpSpPr>
        <p:grpSpPr>
          <a:xfrm>
            <a:off x="1563272" y="1607001"/>
            <a:ext cx="4045550" cy="1344056"/>
            <a:chOff x="496472" y="1607001"/>
            <a:chExt cx="4045550" cy="1344056"/>
          </a:xfrm>
        </p:grpSpPr>
        <p:cxnSp>
          <p:nvCxnSpPr>
            <p:cNvPr id="7" name="Straight Connector 6"/>
            <p:cNvCxnSpPr>
              <a:stCxn id="5" idx="0"/>
            </p:cNvCxnSpPr>
            <p:nvPr/>
          </p:nvCxnSpPr>
          <p:spPr>
            <a:xfrm flipH="1" flipV="1">
              <a:off x="4166740" y="1607001"/>
              <a:ext cx="375282" cy="1344056"/>
            </a:xfrm>
            <a:prstGeom prst="line">
              <a:avLst/>
            </a:prstGeom>
            <a:ln w="19050">
              <a:solidFill>
                <a:srgbClr val="00B050"/>
              </a:solidFill>
              <a:prstDash val="dashDot"/>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flipV="1">
              <a:off x="496472" y="1607001"/>
              <a:ext cx="3670270" cy="7198"/>
            </a:xfrm>
            <a:prstGeom prst="line">
              <a:avLst/>
            </a:prstGeom>
            <a:ln w="19050">
              <a:solidFill>
                <a:srgbClr val="00B050"/>
              </a:solidFill>
              <a:prstDash val="dashDot"/>
            </a:ln>
          </p:spPr>
          <p:style>
            <a:lnRef idx="1">
              <a:schemeClr val="accent1"/>
            </a:lnRef>
            <a:fillRef idx="0">
              <a:schemeClr val="accent1"/>
            </a:fillRef>
            <a:effectRef idx="0">
              <a:schemeClr val="accent1"/>
            </a:effectRef>
            <a:fontRef idx="minor">
              <a:schemeClr val="tx1"/>
            </a:fontRef>
          </p:style>
        </p:cxnSp>
      </p:grpSp>
      <p:cxnSp>
        <p:nvCxnSpPr>
          <p:cNvPr id="25" name="Straight Connector 24"/>
          <p:cNvCxnSpPr/>
          <p:nvPr/>
        </p:nvCxnSpPr>
        <p:spPr>
          <a:xfrm flipH="1">
            <a:off x="1726932" y="5035359"/>
            <a:ext cx="3506608" cy="0"/>
          </a:xfrm>
          <a:prstGeom prst="line">
            <a:avLst/>
          </a:prstGeom>
          <a:ln w="19050">
            <a:solidFill>
              <a:srgbClr val="00B050"/>
            </a:solidFill>
            <a:prstDash val="dashDot"/>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1599542" y="1201096"/>
            <a:ext cx="3655084" cy="386367"/>
          </a:xfrm>
          <a:prstGeom prst="rect">
            <a:avLst/>
          </a:prstGeom>
          <a:noFill/>
        </p:spPr>
        <p:txBody>
          <a:bodyPr wrap="square" rtlCol="0">
            <a:spAutoFit/>
          </a:bodyPr>
          <a:lstStyle/>
          <a:p>
            <a:r>
              <a:rPr lang="en-IN" b="1" dirty="0">
                <a:latin typeface="Candara Light" panose="020E0502030303020204" pitchFamily="34" charset="0"/>
              </a:rPr>
              <a:t>Economic Side Drivers</a:t>
            </a:r>
            <a:endParaRPr lang="en-US" b="1" dirty="0">
              <a:latin typeface="Candara Light" panose="020E0502030303020204" pitchFamily="34" charset="0"/>
            </a:endParaRPr>
          </a:p>
        </p:txBody>
      </p:sp>
      <p:sp>
        <p:nvSpPr>
          <p:cNvPr id="29" name="TextBox 28"/>
          <p:cNvSpPr txBox="1"/>
          <p:nvPr/>
        </p:nvSpPr>
        <p:spPr>
          <a:xfrm>
            <a:off x="1563272" y="3065823"/>
            <a:ext cx="3655084" cy="386367"/>
          </a:xfrm>
          <a:prstGeom prst="rect">
            <a:avLst/>
          </a:prstGeom>
          <a:noFill/>
        </p:spPr>
        <p:txBody>
          <a:bodyPr wrap="square" rtlCol="0">
            <a:spAutoFit/>
          </a:bodyPr>
          <a:lstStyle/>
          <a:p>
            <a:r>
              <a:rPr lang="en-IN" b="1" dirty="0">
                <a:latin typeface="Candara Light" panose="020E0502030303020204" pitchFamily="34" charset="0"/>
              </a:rPr>
              <a:t>Demand Side Drivers</a:t>
            </a:r>
            <a:endParaRPr lang="en-US" b="1" dirty="0">
              <a:latin typeface="Candara Light" panose="020E0502030303020204" pitchFamily="34" charset="0"/>
            </a:endParaRPr>
          </a:p>
        </p:txBody>
      </p:sp>
      <p:sp>
        <p:nvSpPr>
          <p:cNvPr id="37" name="Rectangle 36"/>
          <p:cNvSpPr/>
          <p:nvPr/>
        </p:nvSpPr>
        <p:spPr>
          <a:xfrm rot="5400000">
            <a:off x="10315584" y="2057699"/>
            <a:ext cx="2190023" cy="584775"/>
          </a:xfrm>
          <a:prstGeom prst="rect">
            <a:avLst/>
          </a:prstGeom>
          <a:noFill/>
        </p:spPr>
        <p:txBody>
          <a:bodyPr wrap="none" lIns="91440" tIns="45720" rIns="91440" bIns="45720">
            <a:spAutoFit/>
          </a:bodyPr>
          <a:lstStyle/>
          <a:p>
            <a:pPr algn="ctr"/>
            <a:r>
              <a:rPr lang="en-IN" sz="3200" b="1" dirty="0">
                <a:ln/>
                <a:pattFill prst="dkUpDiag">
                  <a:fgClr>
                    <a:schemeClr val="bg1">
                      <a:lumMod val="50000"/>
                    </a:schemeClr>
                  </a:fgClr>
                  <a:bgClr>
                    <a:schemeClr val="tx1">
                      <a:lumMod val="75000"/>
                      <a:lumOff val="25000"/>
                    </a:schemeClr>
                  </a:bgClr>
                </a:pattFill>
                <a:effectLst>
                  <a:outerShdw blurRad="38100" dist="19050" dir="2700000" algn="tl" rotWithShape="0">
                    <a:schemeClr val="dk1">
                      <a:lumMod val="50000"/>
                      <a:alpha val="40000"/>
                    </a:schemeClr>
                  </a:outerShdw>
                </a:effectLst>
                <a:latin typeface="Bookman Old Style" panose="02050604050505020204" pitchFamily="18" charset="0"/>
              </a:rPr>
              <a:t>Restraint</a:t>
            </a:r>
            <a:endParaRPr lang="en-US" sz="3200" b="1" dirty="0">
              <a:ln/>
              <a:pattFill prst="dkUpDiag">
                <a:fgClr>
                  <a:schemeClr val="bg1">
                    <a:lumMod val="50000"/>
                  </a:schemeClr>
                </a:fgClr>
                <a:bgClr>
                  <a:schemeClr val="tx1">
                    <a:lumMod val="75000"/>
                    <a:lumOff val="25000"/>
                  </a:schemeClr>
                </a:bgClr>
              </a:pattFill>
              <a:effectLst>
                <a:outerShdw blurRad="38100" dist="19050" dir="2700000" algn="tl" rotWithShape="0">
                  <a:schemeClr val="dk1">
                    <a:lumMod val="50000"/>
                    <a:alpha val="40000"/>
                  </a:schemeClr>
                </a:outerShdw>
              </a:effectLst>
              <a:latin typeface="Bookman Old Style" panose="02050604050505020204" pitchFamily="18" charset="0"/>
            </a:endParaRPr>
          </a:p>
        </p:txBody>
      </p:sp>
      <p:cxnSp>
        <p:nvCxnSpPr>
          <p:cNvPr id="44" name="Straight Connector 43"/>
          <p:cNvCxnSpPr/>
          <p:nvPr/>
        </p:nvCxnSpPr>
        <p:spPr>
          <a:xfrm flipH="1">
            <a:off x="6752626" y="3445098"/>
            <a:ext cx="3509650" cy="0"/>
          </a:xfrm>
          <a:prstGeom prst="line">
            <a:avLst/>
          </a:prstGeom>
          <a:ln w="19050">
            <a:solidFill>
              <a:schemeClr val="accent6">
                <a:lumMod val="60000"/>
                <a:lumOff val="40000"/>
              </a:schemeClr>
            </a:solidFill>
            <a:prstDash val="dashDot"/>
          </a:ln>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5847984" y="3236479"/>
            <a:ext cx="496033" cy="385042"/>
          </a:xfrm>
          <a:prstGeom prst="rect">
            <a:avLst/>
          </a:prstGeom>
        </p:spPr>
        <p:txBody>
          <a:bodyPr wrap="none">
            <a:spAutoFit/>
          </a:bodyPr>
          <a:lstStyle/>
          <a:p>
            <a:pPr algn="ctr"/>
            <a:r>
              <a:rPr lang="en-IN" dirty="0"/>
              <a:t>V/s</a:t>
            </a:r>
            <a:endParaRPr lang="en-US" dirty="0"/>
          </a:p>
        </p:txBody>
      </p:sp>
      <p:pic>
        <p:nvPicPr>
          <p:cNvPr id="8" name="Picture 7"/>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147590" y="1681747"/>
            <a:ext cx="9822252" cy="4212616"/>
          </a:xfrm>
          <a:prstGeom prst="rect">
            <a:avLst/>
          </a:prstGeom>
        </p:spPr>
      </p:pic>
      <p:sp>
        <p:nvSpPr>
          <p:cNvPr id="21" name="TextBox 20"/>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Tree>
    <p:extLst>
      <p:ext uri="{BB962C8B-B14F-4D97-AF65-F5344CB8AC3E}">
        <p14:creationId xmlns:p14="http://schemas.microsoft.com/office/powerpoint/2010/main" val="76045299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nb-NO"/>
              <a:t>Market Dynamics : Driver (1/3)</a:t>
            </a:r>
            <a:endParaRPr lang="en-US" dirty="0"/>
          </a:p>
        </p:txBody>
      </p:sp>
      <p:sp>
        <p:nvSpPr>
          <p:cNvPr id="2" name="Slide Number Placeholder 1"/>
          <p:cNvSpPr>
            <a:spLocks noGrp="1"/>
          </p:cNvSpPr>
          <p:nvPr>
            <p:ph type="sldNum" sz="quarter" idx="4"/>
          </p:nvPr>
        </p:nvSpPr>
        <p:spPr/>
        <p:txBody>
          <a:bodyPr/>
          <a:lstStyle/>
          <a:p>
            <a:fld id="{4B17068C-EB94-40A3-A5F2-664CDD77FDAC}" type="slidenum">
              <a:rPr lang="en-GB" smtClean="0"/>
              <a:pPr/>
              <a:t>68</a:t>
            </a:fld>
            <a:endParaRPr lang="en-GB" dirty="0"/>
          </a:p>
        </p:txBody>
      </p:sp>
      <p:sp>
        <p:nvSpPr>
          <p:cNvPr id="6" name="Freeform 5"/>
          <p:cNvSpPr/>
          <p:nvPr/>
        </p:nvSpPr>
        <p:spPr>
          <a:xfrm>
            <a:off x="1089660" y="1745283"/>
            <a:ext cx="9952995" cy="734251"/>
          </a:xfrm>
          <a:custGeom>
            <a:avLst/>
            <a:gdLst>
              <a:gd name="connsiteX0" fmla="*/ 0 w 5638800"/>
              <a:gd name="connsiteY0" fmla="*/ 482600 h 482600"/>
              <a:gd name="connsiteX1" fmla="*/ 5638800 w 5638800"/>
              <a:gd name="connsiteY1" fmla="*/ 482600 h 482600"/>
              <a:gd name="connsiteX2" fmla="*/ 5638800 w 5638800"/>
              <a:gd name="connsiteY2" fmla="*/ 0 h 482600"/>
            </a:gdLst>
            <a:ahLst/>
            <a:cxnLst>
              <a:cxn ang="0">
                <a:pos x="connsiteX0" y="connsiteY0"/>
              </a:cxn>
              <a:cxn ang="0">
                <a:pos x="connsiteX1" y="connsiteY1"/>
              </a:cxn>
              <a:cxn ang="0">
                <a:pos x="connsiteX2" y="connsiteY2"/>
              </a:cxn>
            </a:cxnLst>
            <a:rect l="l" t="t" r="r" b="b"/>
            <a:pathLst>
              <a:path w="5638800" h="482600">
                <a:moveTo>
                  <a:pt x="0" y="482600"/>
                </a:moveTo>
                <a:lnTo>
                  <a:pt x="5638800" y="482600"/>
                </a:lnTo>
                <a:lnTo>
                  <a:pt x="5638800" y="0"/>
                </a:lnTo>
              </a:path>
            </a:pathLst>
          </a:custGeom>
          <a:noFill/>
          <a:ln w="76200">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IN" dirty="0"/>
              <a:t>0</a:t>
            </a:r>
          </a:p>
        </p:txBody>
      </p:sp>
      <p:grpSp>
        <p:nvGrpSpPr>
          <p:cNvPr id="8" name="Group 7"/>
          <p:cNvGrpSpPr/>
          <p:nvPr/>
        </p:nvGrpSpPr>
        <p:grpSpPr>
          <a:xfrm>
            <a:off x="207010" y="1084550"/>
            <a:ext cx="1248410" cy="1494946"/>
            <a:chOff x="5696849" y="1389033"/>
            <a:chExt cx="1137445" cy="1494946"/>
          </a:xfrm>
        </p:grpSpPr>
        <p:sp>
          <p:nvSpPr>
            <p:cNvPr id="9" name="Freeform 8"/>
            <p:cNvSpPr/>
            <p:nvPr/>
          </p:nvSpPr>
          <p:spPr>
            <a:xfrm>
              <a:off x="5696849" y="1389033"/>
              <a:ext cx="774267" cy="731042"/>
            </a:xfrm>
            <a:custGeom>
              <a:avLst/>
              <a:gdLst>
                <a:gd name="connsiteX0" fmla="*/ 0 w 793750"/>
                <a:gd name="connsiteY0" fmla="*/ 787400 h 803275"/>
                <a:gd name="connsiteX1" fmla="*/ 476250 w 793750"/>
                <a:gd name="connsiteY1" fmla="*/ 0 h 803275"/>
                <a:gd name="connsiteX2" fmla="*/ 793750 w 793750"/>
                <a:gd name="connsiteY2" fmla="*/ 6350 h 803275"/>
                <a:gd name="connsiteX3" fmla="*/ 317500 w 793750"/>
                <a:gd name="connsiteY3" fmla="*/ 803275 h 803275"/>
                <a:gd name="connsiteX4" fmla="*/ 0 w 793750"/>
                <a:gd name="connsiteY4" fmla="*/ 787400 h 803275"/>
                <a:gd name="connsiteX0" fmla="*/ 0 w 796131"/>
                <a:gd name="connsiteY0" fmla="*/ 808831 h 808831"/>
                <a:gd name="connsiteX1" fmla="*/ 478631 w 796131"/>
                <a:gd name="connsiteY1" fmla="*/ 0 h 808831"/>
                <a:gd name="connsiteX2" fmla="*/ 796131 w 796131"/>
                <a:gd name="connsiteY2" fmla="*/ 6350 h 808831"/>
                <a:gd name="connsiteX3" fmla="*/ 319881 w 796131"/>
                <a:gd name="connsiteY3" fmla="*/ 803275 h 808831"/>
                <a:gd name="connsiteX4" fmla="*/ 0 w 796131"/>
                <a:gd name="connsiteY4" fmla="*/ 808831 h 808831"/>
                <a:gd name="connsiteX0" fmla="*/ 0 w 796131"/>
                <a:gd name="connsiteY0" fmla="*/ 808831 h 808831"/>
                <a:gd name="connsiteX1" fmla="*/ 478631 w 796131"/>
                <a:gd name="connsiteY1" fmla="*/ 0 h 808831"/>
                <a:gd name="connsiteX2" fmla="*/ 796131 w 796131"/>
                <a:gd name="connsiteY2" fmla="*/ 6350 h 808831"/>
                <a:gd name="connsiteX3" fmla="*/ 338931 w 796131"/>
                <a:gd name="connsiteY3" fmla="*/ 808037 h 808831"/>
                <a:gd name="connsiteX4" fmla="*/ 0 w 796131"/>
                <a:gd name="connsiteY4" fmla="*/ 808831 h 808831"/>
                <a:gd name="connsiteX0" fmla="*/ 0 w 788988"/>
                <a:gd name="connsiteY0" fmla="*/ 808831 h 808831"/>
                <a:gd name="connsiteX1" fmla="*/ 478631 w 788988"/>
                <a:gd name="connsiteY1" fmla="*/ 0 h 808831"/>
                <a:gd name="connsiteX2" fmla="*/ 788988 w 788988"/>
                <a:gd name="connsiteY2" fmla="*/ 1587 h 808831"/>
                <a:gd name="connsiteX3" fmla="*/ 338931 w 788988"/>
                <a:gd name="connsiteY3" fmla="*/ 808037 h 808831"/>
                <a:gd name="connsiteX4" fmla="*/ 0 w 788988"/>
                <a:gd name="connsiteY4" fmla="*/ 808831 h 808831"/>
                <a:gd name="connsiteX0" fmla="*/ 0 w 798694"/>
                <a:gd name="connsiteY0" fmla="*/ 808831 h 808831"/>
                <a:gd name="connsiteX1" fmla="*/ 478631 w 798694"/>
                <a:gd name="connsiteY1" fmla="*/ 0 h 808831"/>
                <a:gd name="connsiteX2" fmla="*/ 798694 w 798694"/>
                <a:gd name="connsiteY2" fmla="*/ 6489 h 808831"/>
                <a:gd name="connsiteX3" fmla="*/ 338931 w 798694"/>
                <a:gd name="connsiteY3" fmla="*/ 808037 h 808831"/>
                <a:gd name="connsiteX4" fmla="*/ 0 w 798694"/>
                <a:gd name="connsiteY4" fmla="*/ 808831 h 808831"/>
                <a:gd name="connsiteX0" fmla="*/ 0 w 788988"/>
                <a:gd name="connsiteY0" fmla="*/ 808831 h 808831"/>
                <a:gd name="connsiteX1" fmla="*/ 478631 w 788988"/>
                <a:gd name="connsiteY1" fmla="*/ 0 h 808831"/>
                <a:gd name="connsiteX2" fmla="*/ 788988 w 788988"/>
                <a:gd name="connsiteY2" fmla="*/ 70215 h 808831"/>
                <a:gd name="connsiteX3" fmla="*/ 338931 w 788988"/>
                <a:gd name="connsiteY3" fmla="*/ 808037 h 808831"/>
                <a:gd name="connsiteX4" fmla="*/ 0 w 788988"/>
                <a:gd name="connsiteY4" fmla="*/ 808831 h 808831"/>
                <a:gd name="connsiteX0" fmla="*/ 0 w 788988"/>
                <a:gd name="connsiteY0" fmla="*/ 762262 h 762262"/>
                <a:gd name="connsiteX1" fmla="*/ 483484 w 788988"/>
                <a:gd name="connsiteY1" fmla="*/ 0 h 762262"/>
                <a:gd name="connsiteX2" fmla="*/ 788988 w 788988"/>
                <a:gd name="connsiteY2" fmla="*/ 23646 h 762262"/>
                <a:gd name="connsiteX3" fmla="*/ 338931 w 788988"/>
                <a:gd name="connsiteY3" fmla="*/ 761468 h 762262"/>
                <a:gd name="connsiteX4" fmla="*/ 0 w 788988"/>
                <a:gd name="connsiteY4" fmla="*/ 762262 h 762262"/>
                <a:gd name="connsiteX0" fmla="*/ 0 w 788988"/>
                <a:gd name="connsiteY0" fmla="*/ 752458 h 752458"/>
                <a:gd name="connsiteX1" fmla="*/ 483484 w 788988"/>
                <a:gd name="connsiteY1" fmla="*/ 0 h 752458"/>
                <a:gd name="connsiteX2" fmla="*/ 788988 w 788988"/>
                <a:gd name="connsiteY2" fmla="*/ 13842 h 752458"/>
                <a:gd name="connsiteX3" fmla="*/ 338931 w 788988"/>
                <a:gd name="connsiteY3" fmla="*/ 751664 h 752458"/>
                <a:gd name="connsiteX4" fmla="*/ 0 w 788988"/>
                <a:gd name="connsiteY4" fmla="*/ 752458 h 752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988" h="752458">
                  <a:moveTo>
                    <a:pt x="0" y="752458"/>
                  </a:moveTo>
                  <a:lnTo>
                    <a:pt x="483484" y="0"/>
                  </a:lnTo>
                  <a:lnTo>
                    <a:pt x="788988" y="13842"/>
                  </a:lnTo>
                  <a:lnTo>
                    <a:pt x="338931" y="751664"/>
                  </a:lnTo>
                  <a:lnTo>
                    <a:pt x="0" y="752458"/>
                  </a:lnTo>
                  <a:close/>
                </a:path>
              </a:pathLst>
            </a:custGeom>
            <a:solidFill>
              <a:schemeClr val="bg1">
                <a:lumMod val="65000"/>
              </a:schemeClr>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dirty="0"/>
            </a:p>
          </p:txBody>
        </p:sp>
        <p:sp>
          <p:nvSpPr>
            <p:cNvPr id="10" name="Freeform 9"/>
            <p:cNvSpPr/>
            <p:nvPr/>
          </p:nvSpPr>
          <p:spPr>
            <a:xfrm>
              <a:off x="5697426" y="2114835"/>
              <a:ext cx="773113" cy="769144"/>
            </a:xfrm>
            <a:custGeom>
              <a:avLst/>
              <a:gdLst>
                <a:gd name="connsiteX0" fmla="*/ 768350 w 768350"/>
                <a:gd name="connsiteY0" fmla="*/ 762000 h 762000"/>
                <a:gd name="connsiteX1" fmla="*/ 469900 w 768350"/>
                <a:gd name="connsiteY1" fmla="*/ 755650 h 762000"/>
                <a:gd name="connsiteX2" fmla="*/ 0 w 768350"/>
                <a:gd name="connsiteY2" fmla="*/ 3175 h 762000"/>
                <a:gd name="connsiteX3" fmla="*/ 336550 w 768350"/>
                <a:gd name="connsiteY3" fmla="*/ 0 h 762000"/>
                <a:gd name="connsiteX4" fmla="*/ 768350 w 768350"/>
                <a:gd name="connsiteY4" fmla="*/ 762000 h 762000"/>
                <a:gd name="connsiteX0" fmla="*/ 773113 w 773113"/>
                <a:gd name="connsiteY0" fmla="*/ 768350 h 768350"/>
                <a:gd name="connsiteX1" fmla="*/ 474663 w 773113"/>
                <a:gd name="connsiteY1" fmla="*/ 762000 h 768350"/>
                <a:gd name="connsiteX2" fmla="*/ 0 w 773113"/>
                <a:gd name="connsiteY2" fmla="*/ 0 h 768350"/>
                <a:gd name="connsiteX3" fmla="*/ 341313 w 773113"/>
                <a:gd name="connsiteY3" fmla="*/ 6350 h 768350"/>
                <a:gd name="connsiteX4" fmla="*/ 773113 w 773113"/>
                <a:gd name="connsiteY4" fmla="*/ 768350 h 768350"/>
                <a:gd name="connsiteX0" fmla="*/ 773113 w 773113"/>
                <a:gd name="connsiteY0" fmla="*/ 769144 h 769144"/>
                <a:gd name="connsiteX1" fmla="*/ 474663 w 773113"/>
                <a:gd name="connsiteY1" fmla="*/ 762794 h 769144"/>
                <a:gd name="connsiteX2" fmla="*/ 0 w 773113"/>
                <a:gd name="connsiteY2" fmla="*/ 794 h 769144"/>
                <a:gd name="connsiteX3" fmla="*/ 341313 w 773113"/>
                <a:gd name="connsiteY3" fmla="*/ 0 h 769144"/>
                <a:gd name="connsiteX4" fmla="*/ 773113 w 773113"/>
                <a:gd name="connsiteY4" fmla="*/ 769144 h 769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113" h="769144">
                  <a:moveTo>
                    <a:pt x="773113" y="769144"/>
                  </a:moveTo>
                  <a:lnTo>
                    <a:pt x="474663" y="762794"/>
                  </a:lnTo>
                  <a:lnTo>
                    <a:pt x="0" y="794"/>
                  </a:lnTo>
                  <a:lnTo>
                    <a:pt x="341313" y="0"/>
                  </a:lnTo>
                  <a:lnTo>
                    <a:pt x="773113" y="769144"/>
                  </a:lnTo>
                  <a:close/>
                </a:path>
              </a:pathLst>
            </a:custGeom>
            <a:solidFill>
              <a:schemeClr val="bg1">
                <a:lumMod val="65000"/>
              </a:schemeClr>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dirty="0"/>
            </a:p>
          </p:txBody>
        </p:sp>
        <p:sp>
          <p:nvSpPr>
            <p:cNvPr id="11" name="Freeform 10"/>
            <p:cNvSpPr/>
            <p:nvPr/>
          </p:nvSpPr>
          <p:spPr>
            <a:xfrm>
              <a:off x="6129444" y="1548574"/>
              <a:ext cx="704850" cy="1190625"/>
            </a:xfrm>
            <a:custGeom>
              <a:avLst/>
              <a:gdLst>
                <a:gd name="connsiteX0" fmla="*/ 366712 w 704850"/>
                <a:gd name="connsiteY0" fmla="*/ 0 h 1190625"/>
                <a:gd name="connsiteX1" fmla="*/ 0 w 704850"/>
                <a:gd name="connsiteY1" fmla="*/ 585788 h 1190625"/>
                <a:gd name="connsiteX2" fmla="*/ 371475 w 704850"/>
                <a:gd name="connsiteY2" fmla="*/ 1190625 h 1190625"/>
                <a:gd name="connsiteX3" fmla="*/ 704850 w 704850"/>
                <a:gd name="connsiteY3" fmla="*/ 566738 h 1190625"/>
                <a:gd name="connsiteX4" fmla="*/ 366712 w 704850"/>
                <a:gd name="connsiteY4" fmla="*/ 0 h 119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850" h="1190625">
                  <a:moveTo>
                    <a:pt x="366712" y="0"/>
                  </a:moveTo>
                  <a:lnTo>
                    <a:pt x="0" y="585788"/>
                  </a:lnTo>
                  <a:lnTo>
                    <a:pt x="371475" y="1190625"/>
                  </a:lnTo>
                  <a:lnTo>
                    <a:pt x="704850" y="566738"/>
                  </a:lnTo>
                  <a:lnTo>
                    <a:pt x="366712" y="0"/>
                  </a:lnTo>
                  <a:close/>
                </a:path>
              </a:pathLst>
            </a:custGeom>
            <a:noFill/>
            <a:ln w="76200">
              <a:solidFill>
                <a:srgbClr val="0081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2400" b="1" dirty="0">
                  <a:solidFill>
                    <a:schemeClr val="tx1"/>
                  </a:solidFill>
                  <a:latin typeface="Franklin Gothic Book" panose="020B0503020102020204" pitchFamily="34" charset="0"/>
                </a:rPr>
                <a:t>D</a:t>
              </a:r>
              <a:endParaRPr lang="en-IN" sz="2400" b="1" dirty="0">
                <a:solidFill>
                  <a:schemeClr val="tx1"/>
                </a:solidFill>
                <a:latin typeface="Franklin Gothic Book" panose="020B0503020102020204" pitchFamily="34" charset="0"/>
              </a:endParaRPr>
            </a:p>
          </p:txBody>
        </p:sp>
      </p:grpSp>
      <p:sp>
        <p:nvSpPr>
          <p:cNvPr id="12" name="TextBox 29"/>
          <p:cNvSpPr txBox="1"/>
          <p:nvPr/>
        </p:nvSpPr>
        <p:spPr>
          <a:xfrm>
            <a:off x="1530342" y="1797459"/>
            <a:ext cx="8629431" cy="369332"/>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b="1" i="1" dirty="0">
                <a:solidFill>
                  <a:srgbClr val="28959C"/>
                </a:solidFill>
              </a:rPr>
              <a:t>Driver 1</a:t>
            </a:r>
          </a:p>
        </p:txBody>
      </p:sp>
      <p:grpSp>
        <p:nvGrpSpPr>
          <p:cNvPr id="13" name="Group 12"/>
          <p:cNvGrpSpPr/>
          <p:nvPr/>
        </p:nvGrpSpPr>
        <p:grpSpPr>
          <a:xfrm>
            <a:off x="10682231" y="2955004"/>
            <a:ext cx="1120820" cy="2442337"/>
            <a:chOff x="4093668" y="1642733"/>
            <a:chExt cx="790318" cy="2007420"/>
          </a:xfrm>
        </p:grpSpPr>
        <p:grpSp>
          <p:nvGrpSpPr>
            <p:cNvPr id="14" name="Group 13"/>
            <p:cNvGrpSpPr/>
            <p:nvPr/>
          </p:nvGrpSpPr>
          <p:grpSpPr>
            <a:xfrm>
              <a:off x="4207359" y="1642733"/>
              <a:ext cx="584807" cy="1754220"/>
              <a:chOff x="8133659" y="1916796"/>
              <a:chExt cx="708667" cy="3286667"/>
            </a:xfrm>
          </p:grpSpPr>
          <p:cxnSp>
            <p:nvCxnSpPr>
              <p:cNvPr id="16" name="Straight Connector 15"/>
              <p:cNvCxnSpPr/>
              <p:nvPr/>
            </p:nvCxnSpPr>
            <p:spPr>
              <a:xfrm>
                <a:off x="8338458" y="2345938"/>
                <a:ext cx="0" cy="2459127"/>
              </a:xfrm>
              <a:prstGeom prst="line">
                <a:avLst/>
              </a:prstGeom>
              <a:noFill/>
              <a:ln w="28575" cap="flat" cmpd="sng" algn="ctr">
                <a:solidFill>
                  <a:sysClr val="window" lastClr="FFFFFF">
                    <a:lumMod val="75000"/>
                  </a:sysClr>
                </a:solidFill>
                <a:prstDash val="solid"/>
                <a:miter lim="800000"/>
              </a:ln>
              <a:effectLst/>
            </p:spPr>
          </p:cxnSp>
          <p:sp>
            <p:nvSpPr>
              <p:cNvPr id="17" name="Rectangle 16"/>
              <p:cNvSpPr/>
              <p:nvPr/>
            </p:nvSpPr>
            <p:spPr>
              <a:xfrm rot="16200000">
                <a:off x="7298372" y="3447313"/>
                <a:ext cx="2459127" cy="234605"/>
              </a:xfrm>
              <a:prstGeom prst="rect">
                <a:avLst/>
              </a:prstGeom>
              <a:gradFill>
                <a:gsLst>
                  <a:gs pos="65000">
                    <a:srgbClr val="FFC000"/>
                  </a:gs>
                  <a:gs pos="25000">
                    <a:srgbClr val="51652D">
                      <a:lumMod val="60000"/>
                      <a:lumOff val="40000"/>
                    </a:srgbClr>
                  </a:gs>
                </a:gsLst>
                <a:lin ang="10800000" scaled="0"/>
              </a:gradFill>
              <a:ln w="12700" cap="flat" cmpd="sng" algn="ctr">
                <a:solidFill>
                  <a:sysClr val="window" lastClr="FFFFFF"/>
                </a:solid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endParaRPr lang="en-GB" sz="2400" kern="0" dirty="0">
                  <a:solidFill>
                    <a:prstClr val="white"/>
                  </a:solidFill>
                </a:endParaRPr>
              </a:p>
            </p:txBody>
          </p:sp>
          <p:sp>
            <p:nvSpPr>
              <p:cNvPr id="18" name="TextBox 27"/>
              <p:cNvSpPr txBox="1"/>
              <p:nvPr/>
            </p:nvSpPr>
            <p:spPr>
              <a:xfrm>
                <a:off x="8303862" y="1916796"/>
                <a:ext cx="538464" cy="402864"/>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GB" sz="1100" kern="0" dirty="0">
                    <a:solidFill>
                      <a:prstClr val="black"/>
                    </a:solidFill>
                  </a:rPr>
                  <a:t>High</a:t>
                </a:r>
              </a:p>
            </p:txBody>
          </p:sp>
          <p:sp>
            <p:nvSpPr>
              <p:cNvPr id="19" name="TextBox 28"/>
              <p:cNvSpPr txBox="1"/>
              <p:nvPr/>
            </p:nvSpPr>
            <p:spPr>
              <a:xfrm>
                <a:off x="8316686" y="4800599"/>
                <a:ext cx="507384" cy="402864"/>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GB" sz="1100" kern="0" dirty="0">
                    <a:solidFill>
                      <a:prstClr val="black"/>
                    </a:solidFill>
                  </a:rPr>
                  <a:t>Low</a:t>
                </a:r>
              </a:p>
            </p:txBody>
          </p:sp>
          <p:sp>
            <p:nvSpPr>
              <p:cNvPr id="20" name="Flowchart: Merge 19"/>
              <p:cNvSpPr/>
              <p:nvPr/>
            </p:nvSpPr>
            <p:spPr>
              <a:xfrm rot="16200000">
                <a:off x="8105877" y="3128634"/>
                <a:ext cx="292611" cy="237047"/>
              </a:xfrm>
              <a:prstGeom prst="flowChartMerge">
                <a:avLst/>
              </a:prstGeom>
              <a:solidFill>
                <a:sysClr val="window" lastClr="FFFFFF">
                  <a:lumMod val="50000"/>
                </a:sysClr>
              </a:solidFill>
              <a:ln w="12700" cap="flat" cmpd="sng" algn="ctr">
                <a:solidFill>
                  <a:sysClr val="window" lastClr="FFFFFF"/>
                </a:solid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endParaRPr lang="en-US" kern="0" dirty="0">
                  <a:solidFill>
                    <a:prstClr val="white"/>
                  </a:solidFill>
                </a:endParaRPr>
              </a:p>
            </p:txBody>
          </p:sp>
        </p:grpSp>
        <p:sp>
          <p:nvSpPr>
            <p:cNvPr id="15" name="TextBox 24"/>
            <p:cNvSpPr txBox="1"/>
            <p:nvPr/>
          </p:nvSpPr>
          <p:spPr>
            <a:xfrm>
              <a:off x="4093668" y="3435129"/>
              <a:ext cx="790318" cy="215024"/>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GB" sz="1100" kern="0" dirty="0">
                  <a:solidFill>
                    <a:prstClr val="black"/>
                  </a:solidFill>
                </a:rPr>
                <a:t>  Level of Impact</a:t>
              </a:r>
            </a:p>
          </p:txBody>
        </p:sp>
      </p:grpSp>
      <p:sp>
        <p:nvSpPr>
          <p:cNvPr id="22" name="Rounded Rectangle 21"/>
          <p:cNvSpPr/>
          <p:nvPr/>
        </p:nvSpPr>
        <p:spPr>
          <a:xfrm>
            <a:off x="681807" y="2701752"/>
            <a:ext cx="9593336" cy="3435182"/>
          </a:xfrm>
          <a:prstGeom prst="roundRect">
            <a:avLst>
              <a:gd name="adj" fmla="val 7500"/>
            </a:avLst>
          </a:prstGeom>
          <a:solidFill>
            <a:schemeClr val="bg1"/>
          </a:solidFill>
          <a:ln w="9525" cmpd="dbl">
            <a:solidFill>
              <a:schemeClr val="bg1"/>
            </a:solidFill>
          </a:ln>
          <a:effectLst>
            <a:outerShdw blurRad="63500" sx="102000" sy="102000" algn="ctr"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lIns="274320" rIns="274320" rtlCol="0" anchor="ctr" anchorCtr="0"/>
          <a:lstStyle>
            <a:defPPr>
              <a:defRPr lang="de-DE"/>
            </a:defPPr>
            <a:lvl1pPr algn="l" defTabSz="957263" rtl="0" fontAlgn="base">
              <a:spcBef>
                <a:spcPct val="0"/>
              </a:spcBef>
              <a:spcAft>
                <a:spcPct val="0"/>
              </a:spcAft>
              <a:defRPr sz="1900" kern="1200">
                <a:solidFill>
                  <a:schemeClr val="lt1"/>
                </a:solidFill>
                <a:latin typeface="+mn-lt"/>
                <a:ea typeface="+mn-ea"/>
                <a:cs typeface="+mn-cs"/>
              </a:defRPr>
            </a:lvl1pPr>
            <a:lvl2pPr marL="477838" indent="-20638" algn="l" defTabSz="957263" rtl="0" fontAlgn="base">
              <a:spcBef>
                <a:spcPct val="0"/>
              </a:spcBef>
              <a:spcAft>
                <a:spcPct val="0"/>
              </a:spcAft>
              <a:defRPr sz="1900" kern="1200">
                <a:solidFill>
                  <a:schemeClr val="lt1"/>
                </a:solidFill>
                <a:latin typeface="+mn-lt"/>
                <a:ea typeface="+mn-ea"/>
                <a:cs typeface="+mn-cs"/>
              </a:defRPr>
            </a:lvl2pPr>
            <a:lvl3pPr marL="957263" indent="-42863" algn="l" defTabSz="957263" rtl="0" fontAlgn="base">
              <a:spcBef>
                <a:spcPct val="0"/>
              </a:spcBef>
              <a:spcAft>
                <a:spcPct val="0"/>
              </a:spcAft>
              <a:defRPr sz="1900" kern="1200">
                <a:solidFill>
                  <a:schemeClr val="lt1"/>
                </a:solidFill>
                <a:latin typeface="+mn-lt"/>
                <a:ea typeface="+mn-ea"/>
                <a:cs typeface="+mn-cs"/>
              </a:defRPr>
            </a:lvl3pPr>
            <a:lvl4pPr marL="1435100" indent="-63500" algn="l" defTabSz="957263" rtl="0" fontAlgn="base">
              <a:spcBef>
                <a:spcPct val="0"/>
              </a:spcBef>
              <a:spcAft>
                <a:spcPct val="0"/>
              </a:spcAft>
              <a:defRPr sz="1900" kern="1200">
                <a:solidFill>
                  <a:schemeClr val="lt1"/>
                </a:solidFill>
                <a:latin typeface="+mn-lt"/>
                <a:ea typeface="+mn-ea"/>
                <a:cs typeface="+mn-cs"/>
              </a:defRPr>
            </a:lvl4pPr>
            <a:lvl5pPr marL="1914525" indent="-85725" algn="l" defTabSz="957263" rtl="0" fontAlgn="base">
              <a:spcBef>
                <a:spcPct val="0"/>
              </a:spcBef>
              <a:spcAft>
                <a:spcPct val="0"/>
              </a:spcAft>
              <a:defRPr sz="1900" kern="1200">
                <a:solidFill>
                  <a:schemeClr val="lt1"/>
                </a:solidFill>
                <a:latin typeface="+mn-lt"/>
                <a:ea typeface="+mn-ea"/>
                <a:cs typeface="+mn-cs"/>
              </a:defRPr>
            </a:lvl5pPr>
            <a:lvl6pPr marL="2286000" algn="l" defTabSz="914400" rtl="0" eaLnBrk="1" latinLnBrk="0" hangingPunct="1">
              <a:defRPr sz="1900" kern="1200">
                <a:solidFill>
                  <a:schemeClr val="lt1"/>
                </a:solidFill>
                <a:latin typeface="+mn-lt"/>
                <a:ea typeface="+mn-ea"/>
                <a:cs typeface="+mn-cs"/>
              </a:defRPr>
            </a:lvl6pPr>
            <a:lvl7pPr marL="2743200" algn="l" defTabSz="914400" rtl="0" eaLnBrk="1" latinLnBrk="0" hangingPunct="1">
              <a:defRPr sz="1900" kern="1200">
                <a:solidFill>
                  <a:schemeClr val="lt1"/>
                </a:solidFill>
                <a:latin typeface="+mn-lt"/>
                <a:ea typeface="+mn-ea"/>
                <a:cs typeface="+mn-cs"/>
              </a:defRPr>
            </a:lvl7pPr>
            <a:lvl8pPr marL="3200400" algn="l" defTabSz="914400" rtl="0" eaLnBrk="1" latinLnBrk="0" hangingPunct="1">
              <a:defRPr sz="1900" kern="1200">
                <a:solidFill>
                  <a:schemeClr val="lt1"/>
                </a:solidFill>
                <a:latin typeface="+mn-lt"/>
                <a:ea typeface="+mn-ea"/>
                <a:cs typeface="+mn-cs"/>
              </a:defRPr>
            </a:lvl8pPr>
            <a:lvl9pPr marL="3657600" algn="l" defTabSz="914400" rtl="0" eaLnBrk="1" latinLnBrk="0" hangingPunct="1">
              <a:defRPr sz="1900" kern="1200">
                <a:solidFill>
                  <a:schemeClr val="lt1"/>
                </a:solidFill>
                <a:latin typeface="+mn-lt"/>
                <a:ea typeface="+mn-ea"/>
                <a:cs typeface="+mn-cs"/>
              </a:defRPr>
            </a:lvl9pPr>
          </a:lstStyle>
          <a:p>
            <a:pPr marL="285750" lvl="0" indent="-285750" algn="just">
              <a:buFont typeface="Wingdings" panose="05000000000000000000" pitchFamily="2" charset="2"/>
              <a:buChar char="q"/>
            </a:pPr>
            <a:r>
              <a:rPr lang="en-US" sz="1600" i="1" dirty="0">
                <a:solidFill>
                  <a:schemeClr val="tx1"/>
                </a:solidFill>
              </a:rPr>
              <a:t>Content</a:t>
            </a:r>
          </a:p>
        </p:txBody>
      </p:sp>
      <p:sp>
        <p:nvSpPr>
          <p:cNvPr id="25" name="TextBox 24"/>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Tree>
    <p:extLst>
      <p:ext uri="{BB962C8B-B14F-4D97-AF65-F5344CB8AC3E}">
        <p14:creationId xmlns:p14="http://schemas.microsoft.com/office/powerpoint/2010/main" val="1199164336"/>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nb-NO"/>
              <a:t>Market Dynamics : Restraint (1/2)</a:t>
            </a:r>
            <a:endParaRPr lang="en-US" dirty="0"/>
          </a:p>
        </p:txBody>
      </p:sp>
      <p:sp>
        <p:nvSpPr>
          <p:cNvPr id="2" name="Slide Number Placeholder 1"/>
          <p:cNvSpPr>
            <a:spLocks noGrp="1"/>
          </p:cNvSpPr>
          <p:nvPr>
            <p:ph type="sldNum" sz="quarter" idx="4"/>
          </p:nvPr>
        </p:nvSpPr>
        <p:spPr/>
        <p:txBody>
          <a:bodyPr/>
          <a:lstStyle/>
          <a:p>
            <a:fld id="{4B17068C-EB94-40A3-A5F2-664CDD77FDAC}" type="slidenum">
              <a:rPr lang="en-GB" smtClean="0"/>
              <a:pPr/>
              <a:t>69</a:t>
            </a:fld>
            <a:endParaRPr lang="en-GB" dirty="0"/>
          </a:p>
        </p:txBody>
      </p:sp>
      <p:sp>
        <p:nvSpPr>
          <p:cNvPr id="6" name="Freeform 5"/>
          <p:cNvSpPr/>
          <p:nvPr/>
        </p:nvSpPr>
        <p:spPr>
          <a:xfrm>
            <a:off x="1089660" y="1745283"/>
            <a:ext cx="9952995" cy="734251"/>
          </a:xfrm>
          <a:custGeom>
            <a:avLst/>
            <a:gdLst>
              <a:gd name="connsiteX0" fmla="*/ 0 w 5638800"/>
              <a:gd name="connsiteY0" fmla="*/ 482600 h 482600"/>
              <a:gd name="connsiteX1" fmla="*/ 5638800 w 5638800"/>
              <a:gd name="connsiteY1" fmla="*/ 482600 h 482600"/>
              <a:gd name="connsiteX2" fmla="*/ 5638800 w 5638800"/>
              <a:gd name="connsiteY2" fmla="*/ 0 h 482600"/>
            </a:gdLst>
            <a:ahLst/>
            <a:cxnLst>
              <a:cxn ang="0">
                <a:pos x="connsiteX0" y="connsiteY0"/>
              </a:cxn>
              <a:cxn ang="0">
                <a:pos x="connsiteX1" y="connsiteY1"/>
              </a:cxn>
              <a:cxn ang="0">
                <a:pos x="connsiteX2" y="connsiteY2"/>
              </a:cxn>
            </a:cxnLst>
            <a:rect l="l" t="t" r="r" b="b"/>
            <a:pathLst>
              <a:path w="5638800" h="482600">
                <a:moveTo>
                  <a:pt x="0" y="482600"/>
                </a:moveTo>
                <a:lnTo>
                  <a:pt x="5638800" y="482600"/>
                </a:lnTo>
                <a:lnTo>
                  <a:pt x="5638800" y="0"/>
                </a:lnTo>
              </a:path>
            </a:pathLst>
          </a:cu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IN" dirty="0"/>
              <a:t>0</a:t>
            </a:r>
          </a:p>
        </p:txBody>
      </p:sp>
      <p:sp>
        <p:nvSpPr>
          <p:cNvPr id="7" name="Rounded Rectangle 6"/>
          <p:cNvSpPr/>
          <p:nvPr/>
        </p:nvSpPr>
        <p:spPr>
          <a:xfrm>
            <a:off x="681807" y="2701752"/>
            <a:ext cx="9593336" cy="3435182"/>
          </a:xfrm>
          <a:prstGeom prst="roundRect">
            <a:avLst>
              <a:gd name="adj" fmla="val 7500"/>
            </a:avLst>
          </a:prstGeom>
          <a:solidFill>
            <a:schemeClr val="bg1"/>
          </a:solidFill>
          <a:ln w="9525" cmpd="dbl">
            <a:solidFill>
              <a:schemeClr val="bg1"/>
            </a:solidFill>
          </a:ln>
          <a:effectLst>
            <a:outerShdw blurRad="63500" sx="102000" sy="102000" algn="ctr"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lIns="274320" rIns="274320" rtlCol="0" anchor="ctr" anchorCtr="0"/>
          <a:lstStyle>
            <a:defPPr>
              <a:defRPr lang="de-DE"/>
            </a:defPPr>
            <a:lvl1pPr algn="l" defTabSz="957263" rtl="0" fontAlgn="base">
              <a:spcBef>
                <a:spcPct val="0"/>
              </a:spcBef>
              <a:spcAft>
                <a:spcPct val="0"/>
              </a:spcAft>
              <a:defRPr sz="1900" kern="1200">
                <a:solidFill>
                  <a:schemeClr val="lt1"/>
                </a:solidFill>
                <a:latin typeface="+mn-lt"/>
                <a:ea typeface="+mn-ea"/>
                <a:cs typeface="+mn-cs"/>
              </a:defRPr>
            </a:lvl1pPr>
            <a:lvl2pPr marL="477838" indent="-20638" algn="l" defTabSz="957263" rtl="0" fontAlgn="base">
              <a:spcBef>
                <a:spcPct val="0"/>
              </a:spcBef>
              <a:spcAft>
                <a:spcPct val="0"/>
              </a:spcAft>
              <a:defRPr sz="1900" kern="1200">
                <a:solidFill>
                  <a:schemeClr val="lt1"/>
                </a:solidFill>
                <a:latin typeface="+mn-lt"/>
                <a:ea typeface="+mn-ea"/>
                <a:cs typeface="+mn-cs"/>
              </a:defRPr>
            </a:lvl2pPr>
            <a:lvl3pPr marL="957263" indent="-42863" algn="l" defTabSz="957263" rtl="0" fontAlgn="base">
              <a:spcBef>
                <a:spcPct val="0"/>
              </a:spcBef>
              <a:spcAft>
                <a:spcPct val="0"/>
              </a:spcAft>
              <a:defRPr sz="1900" kern="1200">
                <a:solidFill>
                  <a:schemeClr val="lt1"/>
                </a:solidFill>
                <a:latin typeface="+mn-lt"/>
                <a:ea typeface="+mn-ea"/>
                <a:cs typeface="+mn-cs"/>
              </a:defRPr>
            </a:lvl3pPr>
            <a:lvl4pPr marL="1435100" indent="-63500" algn="l" defTabSz="957263" rtl="0" fontAlgn="base">
              <a:spcBef>
                <a:spcPct val="0"/>
              </a:spcBef>
              <a:spcAft>
                <a:spcPct val="0"/>
              </a:spcAft>
              <a:defRPr sz="1900" kern="1200">
                <a:solidFill>
                  <a:schemeClr val="lt1"/>
                </a:solidFill>
                <a:latin typeface="+mn-lt"/>
                <a:ea typeface="+mn-ea"/>
                <a:cs typeface="+mn-cs"/>
              </a:defRPr>
            </a:lvl4pPr>
            <a:lvl5pPr marL="1914525" indent="-85725" algn="l" defTabSz="957263" rtl="0" fontAlgn="base">
              <a:spcBef>
                <a:spcPct val="0"/>
              </a:spcBef>
              <a:spcAft>
                <a:spcPct val="0"/>
              </a:spcAft>
              <a:defRPr sz="1900" kern="1200">
                <a:solidFill>
                  <a:schemeClr val="lt1"/>
                </a:solidFill>
                <a:latin typeface="+mn-lt"/>
                <a:ea typeface="+mn-ea"/>
                <a:cs typeface="+mn-cs"/>
              </a:defRPr>
            </a:lvl5pPr>
            <a:lvl6pPr marL="2286000" algn="l" defTabSz="914400" rtl="0" eaLnBrk="1" latinLnBrk="0" hangingPunct="1">
              <a:defRPr sz="1900" kern="1200">
                <a:solidFill>
                  <a:schemeClr val="lt1"/>
                </a:solidFill>
                <a:latin typeface="+mn-lt"/>
                <a:ea typeface="+mn-ea"/>
                <a:cs typeface="+mn-cs"/>
              </a:defRPr>
            </a:lvl6pPr>
            <a:lvl7pPr marL="2743200" algn="l" defTabSz="914400" rtl="0" eaLnBrk="1" latinLnBrk="0" hangingPunct="1">
              <a:defRPr sz="1900" kern="1200">
                <a:solidFill>
                  <a:schemeClr val="lt1"/>
                </a:solidFill>
                <a:latin typeface="+mn-lt"/>
                <a:ea typeface="+mn-ea"/>
                <a:cs typeface="+mn-cs"/>
              </a:defRPr>
            </a:lvl7pPr>
            <a:lvl8pPr marL="3200400" algn="l" defTabSz="914400" rtl="0" eaLnBrk="1" latinLnBrk="0" hangingPunct="1">
              <a:defRPr sz="1900" kern="1200">
                <a:solidFill>
                  <a:schemeClr val="lt1"/>
                </a:solidFill>
                <a:latin typeface="+mn-lt"/>
                <a:ea typeface="+mn-ea"/>
                <a:cs typeface="+mn-cs"/>
              </a:defRPr>
            </a:lvl8pPr>
            <a:lvl9pPr marL="3657600" algn="l" defTabSz="914400" rtl="0" eaLnBrk="1" latinLnBrk="0" hangingPunct="1">
              <a:defRPr sz="1900" kern="1200">
                <a:solidFill>
                  <a:schemeClr val="lt1"/>
                </a:solidFill>
                <a:latin typeface="+mn-lt"/>
                <a:ea typeface="+mn-ea"/>
                <a:cs typeface="+mn-cs"/>
              </a:defRPr>
            </a:lvl9pPr>
          </a:lstStyle>
          <a:p>
            <a:pPr marL="285750" lvl="0" indent="-285750" algn="just">
              <a:buFont typeface="Wingdings" panose="05000000000000000000" pitchFamily="2" charset="2"/>
              <a:buChar char="q"/>
            </a:pPr>
            <a:r>
              <a:rPr lang="en-US" sz="1600" i="1" dirty="0">
                <a:solidFill>
                  <a:schemeClr val="tx1"/>
                </a:solidFill>
              </a:rPr>
              <a:t>Content</a:t>
            </a:r>
          </a:p>
        </p:txBody>
      </p:sp>
      <p:grpSp>
        <p:nvGrpSpPr>
          <p:cNvPr id="8" name="Group 7"/>
          <p:cNvGrpSpPr/>
          <p:nvPr/>
        </p:nvGrpSpPr>
        <p:grpSpPr>
          <a:xfrm>
            <a:off x="207010" y="1084550"/>
            <a:ext cx="1248410" cy="1494946"/>
            <a:chOff x="5696849" y="1389033"/>
            <a:chExt cx="1137445" cy="1494946"/>
          </a:xfrm>
        </p:grpSpPr>
        <p:sp>
          <p:nvSpPr>
            <p:cNvPr id="9" name="Freeform 8"/>
            <p:cNvSpPr/>
            <p:nvPr/>
          </p:nvSpPr>
          <p:spPr>
            <a:xfrm>
              <a:off x="5696849" y="1389033"/>
              <a:ext cx="774267" cy="731042"/>
            </a:xfrm>
            <a:custGeom>
              <a:avLst/>
              <a:gdLst>
                <a:gd name="connsiteX0" fmla="*/ 0 w 793750"/>
                <a:gd name="connsiteY0" fmla="*/ 787400 h 803275"/>
                <a:gd name="connsiteX1" fmla="*/ 476250 w 793750"/>
                <a:gd name="connsiteY1" fmla="*/ 0 h 803275"/>
                <a:gd name="connsiteX2" fmla="*/ 793750 w 793750"/>
                <a:gd name="connsiteY2" fmla="*/ 6350 h 803275"/>
                <a:gd name="connsiteX3" fmla="*/ 317500 w 793750"/>
                <a:gd name="connsiteY3" fmla="*/ 803275 h 803275"/>
                <a:gd name="connsiteX4" fmla="*/ 0 w 793750"/>
                <a:gd name="connsiteY4" fmla="*/ 787400 h 803275"/>
                <a:gd name="connsiteX0" fmla="*/ 0 w 796131"/>
                <a:gd name="connsiteY0" fmla="*/ 808831 h 808831"/>
                <a:gd name="connsiteX1" fmla="*/ 478631 w 796131"/>
                <a:gd name="connsiteY1" fmla="*/ 0 h 808831"/>
                <a:gd name="connsiteX2" fmla="*/ 796131 w 796131"/>
                <a:gd name="connsiteY2" fmla="*/ 6350 h 808831"/>
                <a:gd name="connsiteX3" fmla="*/ 319881 w 796131"/>
                <a:gd name="connsiteY3" fmla="*/ 803275 h 808831"/>
                <a:gd name="connsiteX4" fmla="*/ 0 w 796131"/>
                <a:gd name="connsiteY4" fmla="*/ 808831 h 808831"/>
                <a:gd name="connsiteX0" fmla="*/ 0 w 796131"/>
                <a:gd name="connsiteY0" fmla="*/ 808831 h 808831"/>
                <a:gd name="connsiteX1" fmla="*/ 478631 w 796131"/>
                <a:gd name="connsiteY1" fmla="*/ 0 h 808831"/>
                <a:gd name="connsiteX2" fmla="*/ 796131 w 796131"/>
                <a:gd name="connsiteY2" fmla="*/ 6350 h 808831"/>
                <a:gd name="connsiteX3" fmla="*/ 338931 w 796131"/>
                <a:gd name="connsiteY3" fmla="*/ 808037 h 808831"/>
                <a:gd name="connsiteX4" fmla="*/ 0 w 796131"/>
                <a:gd name="connsiteY4" fmla="*/ 808831 h 808831"/>
                <a:gd name="connsiteX0" fmla="*/ 0 w 788988"/>
                <a:gd name="connsiteY0" fmla="*/ 808831 h 808831"/>
                <a:gd name="connsiteX1" fmla="*/ 478631 w 788988"/>
                <a:gd name="connsiteY1" fmla="*/ 0 h 808831"/>
                <a:gd name="connsiteX2" fmla="*/ 788988 w 788988"/>
                <a:gd name="connsiteY2" fmla="*/ 1587 h 808831"/>
                <a:gd name="connsiteX3" fmla="*/ 338931 w 788988"/>
                <a:gd name="connsiteY3" fmla="*/ 808037 h 808831"/>
                <a:gd name="connsiteX4" fmla="*/ 0 w 788988"/>
                <a:gd name="connsiteY4" fmla="*/ 808831 h 808831"/>
                <a:gd name="connsiteX0" fmla="*/ 0 w 798694"/>
                <a:gd name="connsiteY0" fmla="*/ 808831 h 808831"/>
                <a:gd name="connsiteX1" fmla="*/ 478631 w 798694"/>
                <a:gd name="connsiteY1" fmla="*/ 0 h 808831"/>
                <a:gd name="connsiteX2" fmla="*/ 798694 w 798694"/>
                <a:gd name="connsiteY2" fmla="*/ 6489 h 808831"/>
                <a:gd name="connsiteX3" fmla="*/ 338931 w 798694"/>
                <a:gd name="connsiteY3" fmla="*/ 808037 h 808831"/>
                <a:gd name="connsiteX4" fmla="*/ 0 w 798694"/>
                <a:gd name="connsiteY4" fmla="*/ 808831 h 808831"/>
                <a:gd name="connsiteX0" fmla="*/ 0 w 788988"/>
                <a:gd name="connsiteY0" fmla="*/ 808831 h 808831"/>
                <a:gd name="connsiteX1" fmla="*/ 478631 w 788988"/>
                <a:gd name="connsiteY1" fmla="*/ 0 h 808831"/>
                <a:gd name="connsiteX2" fmla="*/ 788988 w 788988"/>
                <a:gd name="connsiteY2" fmla="*/ 70215 h 808831"/>
                <a:gd name="connsiteX3" fmla="*/ 338931 w 788988"/>
                <a:gd name="connsiteY3" fmla="*/ 808037 h 808831"/>
                <a:gd name="connsiteX4" fmla="*/ 0 w 788988"/>
                <a:gd name="connsiteY4" fmla="*/ 808831 h 808831"/>
                <a:gd name="connsiteX0" fmla="*/ 0 w 788988"/>
                <a:gd name="connsiteY0" fmla="*/ 762262 h 762262"/>
                <a:gd name="connsiteX1" fmla="*/ 483484 w 788988"/>
                <a:gd name="connsiteY1" fmla="*/ 0 h 762262"/>
                <a:gd name="connsiteX2" fmla="*/ 788988 w 788988"/>
                <a:gd name="connsiteY2" fmla="*/ 23646 h 762262"/>
                <a:gd name="connsiteX3" fmla="*/ 338931 w 788988"/>
                <a:gd name="connsiteY3" fmla="*/ 761468 h 762262"/>
                <a:gd name="connsiteX4" fmla="*/ 0 w 788988"/>
                <a:gd name="connsiteY4" fmla="*/ 762262 h 762262"/>
                <a:gd name="connsiteX0" fmla="*/ 0 w 788988"/>
                <a:gd name="connsiteY0" fmla="*/ 752458 h 752458"/>
                <a:gd name="connsiteX1" fmla="*/ 483484 w 788988"/>
                <a:gd name="connsiteY1" fmla="*/ 0 h 752458"/>
                <a:gd name="connsiteX2" fmla="*/ 788988 w 788988"/>
                <a:gd name="connsiteY2" fmla="*/ 13842 h 752458"/>
                <a:gd name="connsiteX3" fmla="*/ 338931 w 788988"/>
                <a:gd name="connsiteY3" fmla="*/ 751664 h 752458"/>
                <a:gd name="connsiteX4" fmla="*/ 0 w 788988"/>
                <a:gd name="connsiteY4" fmla="*/ 752458 h 752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988" h="752458">
                  <a:moveTo>
                    <a:pt x="0" y="752458"/>
                  </a:moveTo>
                  <a:lnTo>
                    <a:pt x="483484" y="0"/>
                  </a:lnTo>
                  <a:lnTo>
                    <a:pt x="788988" y="13842"/>
                  </a:lnTo>
                  <a:lnTo>
                    <a:pt x="338931" y="751664"/>
                  </a:lnTo>
                  <a:lnTo>
                    <a:pt x="0" y="752458"/>
                  </a:lnTo>
                  <a:close/>
                </a:path>
              </a:pathLst>
            </a:custGeom>
            <a:solidFill>
              <a:schemeClr val="bg1">
                <a:lumMod val="65000"/>
              </a:schemeClr>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dirty="0"/>
            </a:p>
          </p:txBody>
        </p:sp>
        <p:sp>
          <p:nvSpPr>
            <p:cNvPr id="10" name="Freeform 9"/>
            <p:cNvSpPr/>
            <p:nvPr/>
          </p:nvSpPr>
          <p:spPr>
            <a:xfrm>
              <a:off x="5697426" y="2114835"/>
              <a:ext cx="773113" cy="769144"/>
            </a:xfrm>
            <a:custGeom>
              <a:avLst/>
              <a:gdLst>
                <a:gd name="connsiteX0" fmla="*/ 768350 w 768350"/>
                <a:gd name="connsiteY0" fmla="*/ 762000 h 762000"/>
                <a:gd name="connsiteX1" fmla="*/ 469900 w 768350"/>
                <a:gd name="connsiteY1" fmla="*/ 755650 h 762000"/>
                <a:gd name="connsiteX2" fmla="*/ 0 w 768350"/>
                <a:gd name="connsiteY2" fmla="*/ 3175 h 762000"/>
                <a:gd name="connsiteX3" fmla="*/ 336550 w 768350"/>
                <a:gd name="connsiteY3" fmla="*/ 0 h 762000"/>
                <a:gd name="connsiteX4" fmla="*/ 768350 w 768350"/>
                <a:gd name="connsiteY4" fmla="*/ 762000 h 762000"/>
                <a:gd name="connsiteX0" fmla="*/ 773113 w 773113"/>
                <a:gd name="connsiteY0" fmla="*/ 768350 h 768350"/>
                <a:gd name="connsiteX1" fmla="*/ 474663 w 773113"/>
                <a:gd name="connsiteY1" fmla="*/ 762000 h 768350"/>
                <a:gd name="connsiteX2" fmla="*/ 0 w 773113"/>
                <a:gd name="connsiteY2" fmla="*/ 0 h 768350"/>
                <a:gd name="connsiteX3" fmla="*/ 341313 w 773113"/>
                <a:gd name="connsiteY3" fmla="*/ 6350 h 768350"/>
                <a:gd name="connsiteX4" fmla="*/ 773113 w 773113"/>
                <a:gd name="connsiteY4" fmla="*/ 768350 h 768350"/>
                <a:gd name="connsiteX0" fmla="*/ 773113 w 773113"/>
                <a:gd name="connsiteY0" fmla="*/ 769144 h 769144"/>
                <a:gd name="connsiteX1" fmla="*/ 474663 w 773113"/>
                <a:gd name="connsiteY1" fmla="*/ 762794 h 769144"/>
                <a:gd name="connsiteX2" fmla="*/ 0 w 773113"/>
                <a:gd name="connsiteY2" fmla="*/ 794 h 769144"/>
                <a:gd name="connsiteX3" fmla="*/ 341313 w 773113"/>
                <a:gd name="connsiteY3" fmla="*/ 0 h 769144"/>
                <a:gd name="connsiteX4" fmla="*/ 773113 w 773113"/>
                <a:gd name="connsiteY4" fmla="*/ 769144 h 769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113" h="769144">
                  <a:moveTo>
                    <a:pt x="773113" y="769144"/>
                  </a:moveTo>
                  <a:lnTo>
                    <a:pt x="474663" y="762794"/>
                  </a:lnTo>
                  <a:lnTo>
                    <a:pt x="0" y="794"/>
                  </a:lnTo>
                  <a:lnTo>
                    <a:pt x="341313" y="0"/>
                  </a:lnTo>
                  <a:lnTo>
                    <a:pt x="773113" y="769144"/>
                  </a:lnTo>
                  <a:close/>
                </a:path>
              </a:pathLst>
            </a:custGeom>
            <a:solidFill>
              <a:schemeClr val="bg1">
                <a:lumMod val="65000"/>
              </a:schemeClr>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dirty="0"/>
            </a:p>
          </p:txBody>
        </p:sp>
        <p:sp>
          <p:nvSpPr>
            <p:cNvPr id="11" name="Freeform 10"/>
            <p:cNvSpPr/>
            <p:nvPr/>
          </p:nvSpPr>
          <p:spPr>
            <a:xfrm>
              <a:off x="6129444" y="1548574"/>
              <a:ext cx="704850" cy="1190625"/>
            </a:xfrm>
            <a:custGeom>
              <a:avLst/>
              <a:gdLst>
                <a:gd name="connsiteX0" fmla="*/ 366712 w 704850"/>
                <a:gd name="connsiteY0" fmla="*/ 0 h 1190625"/>
                <a:gd name="connsiteX1" fmla="*/ 0 w 704850"/>
                <a:gd name="connsiteY1" fmla="*/ 585788 h 1190625"/>
                <a:gd name="connsiteX2" fmla="*/ 371475 w 704850"/>
                <a:gd name="connsiteY2" fmla="*/ 1190625 h 1190625"/>
                <a:gd name="connsiteX3" fmla="*/ 704850 w 704850"/>
                <a:gd name="connsiteY3" fmla="*/ 566738 h 1190625"/>
                <a:gd name="connsiteX4" fmla="*/ 366712 w 704850"/>
                <a:gd name="connsiteY4" fmla="*/ 0 h 119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850" h="1190625">
                  <a:moveTo>
                    <a:pt x="366712" y="0"/>
                  </a:moveTo>
                  <a:lnTo>
                    <a:pt x="0" y="585788"/>
                  </a:lnTo>
                  <a:lnTo>
                    <a:pt x="371475" y="1190625"/>
                  </a:lnTo>
                  <a:lnTo>
                    <a:pt x="704850" y="566738"/>
                  </a:lnTo>
                  <a:lnTo>
                    <a:pt x="366712" y="0"/>
                  </a:lnTo>
                  <a:close/>
                </a:path>
              </a:pathLst>
            </a:cu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2400" b="1" dirty="0">
                  <a:solidFill>
                    <a:schemeClr val="tx1"/>
                  </a:solidFill>
                  <a:latin typeface="Franklin Gothic Book" panose="020B0503020102020204" pitchFamily="34" charset="0"/>
                </a:rPr>
                <a:t>R</a:t>
              </a:r>
              <a:endParaRPr lang="en-IN" sz="2400" b="1" dirty="0">
                <a:solidFill>
                  <a:schemeClr val="tx1"/>
                </a:solidFill>
                <a:latin typeface="Franklin Gothic Book" panose="020B0503020102020204" pitchFamily="34" charset="0"/>
              </a:endParaRPr>
            </a:p>
          </p:txBody>
        </p:sp>
      </p:grpSp>
      <p:sp>
        <p:nvSpPr>
          <p:cNvPr id="12" name="TextBox 29"/>
          <p:cNvSpPr txBox="1"/>
          <p:nvPr/>
        </p:nvSpPr>
        <p:spPr>
          <a:xfrm>
            <a:off x="1530342" y="1793832"/>
            <a:ext cx="8629431" cy="369332"/>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b="1" i="1" dirty="0">
                <a:solidFill>
                  <a:srgbClr val="E5494D"/>
                </a:solidFill>
              </a:rPr>
              <a:t>Restraint 1</a:t>
            </a:r>
          </a:p>
        </p:txBody>
      </p:sp>
      <p:grpSp>
        <p:nvGrpSpPr>
          <p:cNvPr id="13" name="Group 12"/>
          <p:cNvGrpSpPr/>
          <p:nvPr/>
        </p:nvGrpSpPr>
        <p:grpSpPr>
          <a:xfrm>
            <a:off x="10682231" y="2955004"/>
            <a:ext cx="1120820" cy="2442337"/>
            <a:chOff x="4093668" y="1642733"/>
            <a:chExt cx="790318" cy="2007420"/>
          </a:xfrm>
        </p:grpSpPr>
        <p:grpSp>
          <p:nvGrpSpPr>
            <p:cNvPr id="14" name="Group 13"/>
            <p:cNvGrpSpPr/>
            <p:nvPr/>
          </p:nvGrpSpPr>
          <p:grpSpPr>
            <a:xfrm>
              <a:off x="4207359" y="1642733"/>
              <a:ext cx="584807" cy="1754220"/>
              <a:chOff x="8133659" y="1916796"/>
              <a:chExt cx="708667" cy="3286667"/>
            </a:xfrm>
          </p:grpSpPr>
          <p:cxnSp>
            <p:nvCxnSpPr>
              <p:cNvPr id="16" name="Straight Connector 15"/>
              <p:cNvCxnSpPr/>
              <p:nvPr/>
            </p:nvCxnSpPr>
            <p:spPr>
              <a:xfrm>
                <a:off x="8338458" y="2345938"/>
                <a:ext cx="0" cy="2459127"/>
              </a:xfrm>
              <a:prstGeom prst="line">
                <a:avLst/>
              </a:prstGeom>
              <a:noFill/>
              <a:ln w="28575" cap="flat" cmpd="sng" algn="ctr">
                <a:solidFill>
                  <a:sysClr val="window" lastClr="FFFFFF">
                    <a:lumMod val="75000"/>
                  </a:sysClr>
                </a:solidFill>
                <a:prstDash val="solid"/>
                <a:miter lim="800000"/>
              </a:ln>
              <a:effectLst/>
            </p:spPr>
          </p:cxnSp>
          <p:sp>
            <p:nvSpPr>
              <p:cNvPr id="17" name="Rectangle 16"/>
              <p:cNvSpPr/>
              <p:nvPr/>
            </p:nvSpPr>
            <p:spPr>
              <a:xfrm rot="16200000">
                <a:off x="7298372" y="3447313"/>
                <a:ext cx="2459127" cy="234605"/>
              </a:xfrm>
              <a:prstGeom prst="rect">
                <a:avLst/>
              </a:prstGeom>
              <a:gradFill>
                <a:gsLst>
                  <a:gs pos="65000">
                    <a:srgbClr val="FFC000"/>
                  </a:gs>
                  <a:gs pos="25000">
                    <a:srgbClr val="51652D">
                      <a:lumMod val="60000"/>
                      <a:lumOff val="40000"/>
                    </a:srgbClr>
                  </a:gs>
                </a:gsLst>
                <a:lin ang="10800000" scaled="0"/>
              </a:gradFill>
              <a:ln w="12700" cap="flat" cmpd="sng" algn="ctr">
                <a:solidFill>
                  <a:sysClr val="window" lastClr="FFFFFF"/>
                </a:solid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endParaRPr lang="en-GB" sz="2400" kern="0" dirty="0">
                  <a:solidFill>
                    <a:prstClr val="white"/>
                  </a:solidFill>
                </a:endParaRPr>
              </a:p>
            </p:txBody>
          </p:sp>
          <p:sp>
            <p:nvSpPr>
              <p:cNvPr id="18" name="TextBox 27"/>
              <p:cNvSpPr txBox="1"/>
              <p:nvPr/>
            </p:nvSpPr>
            <p:spPr>
              <a:xfrm>
                <a:off x="8303862" y="1916796"/>
                <a:ext cx="538464" cy="402864"/>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GB" sz="1100" kern="0" dirty="0">
                    <a:solidFill>
                      <a:prstClr val="black"/>
                    </a:solidFill>
                  </a:rPr>
                  <a:t>High</a:t>
                </a:r>
              </a:p>
            </p:txBody>
          </p:sp>
          <p:sp>
            <p:nvSpPr>
              <p:cNvPr id="19" name="TextBox 28"/>
              <p:cNvSpPr txBox="1"/>
              <p:nvPr/>
            </p:nvSpPr>
            <p:spPr>
              <a:xfrm>
                <a:off x="8316686" y="4800599"/>
                <a:ext cx="507384" cy="402864"/>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GB" sz="1100" kern="0" dirty="0">
                    <a:solidFill>
                      <a:prstClr val="black"/>
                    </a:solidFill>
                  </a:rPr>
                  <a:t>Low</a:t>
                </a:r>
              </a:p>
            </p:txBody>
          </p:sp>
          <p:sp>
            <p:nvSpPr>
              <p:cNvPr id="20" name="Flowchart: Merge 19"/>
              <p:cNvSpPr/>
              <p:nvPr/>
            </p:nvSpPr>
            <p:spPr>
              <a:xfrm rot="16200000">
                <a:off x="8105877" y="3607210"/>
                <a:ext cx="292611" cy="237047"/>
              </a:xfrm>
              <a:prstGeom prst="flowChartMerge">
                <a:avLst/>
              </a:prstGeom>
              <a:solidFill>
                <a:sysClr val="window" lastClr="FFFFFF">
                  <a:lumMod val="50000"/>
                </a:sysClr>
              </a:solidFill>
              <a:ln w="12700" cap="flat" cmpd="sng" algn="ctr">
                <a:solidFill>
                  <a:sysClr val="window" lastClr="FFFFFF"/>
                </a:solid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endParaRPr lang="en-US" kern="0" dirty="0">
                  <a:solidFill>
                    <a:prstClr val="white"/>
                  </a:solidFill>
                </a:endParaRPr>
              </a:p>
            </p:txBody>
          </p:sp>
        </p:grpSp>
        <p:sp>
          <p:nvSpPr>
            <p:cNvPr id="15" name="TextBox 24"/>
            <p:cNvSpPr txBox="1"/>
            <p:nvPr/>
          </p:nvSpPr>
          <p:spPr>
            <a:xfrm>
              <a:off x="4093668" y="3435129"/>
              <a:ext cx="790318" cy="215024"/>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GB" sz="1100" kern="0" dirty="0">
                  <a:solidFill>
                    <a:prstClr val="black"/>
                  </a:solidFill>
                </a:rPr>
                <a:t>  Level of Impact</a:t>
              </a:r>
            </a:p>
          </p:txBody>
        </p:sp>
      </p:grpSp>
      <p:sp>
        <p:nvSpPr>
          <p:cNvPr id="23" name="TextBox 2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Tree>
    <p:extLst>
      <p:ext uri="{BB962C8B-B14F-4D97-AF65-F5344CB8AC3E}">
        <p14:creationId xmlns:p14="http://schemas.microsoft.com/office/powerpoint/2010/main" val="137356474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nb-NO"/>
              <a:t>Market Dynamics : Opportunity (1/2)</a:t>
            </a:r>
            <a:endParaRPr lang="en-US" dirty="0"/>
          </a:p>
        </p:txBody>
      </p:sp>
      <p:sp>
        <p:nvSpPr>
          <p:cNvPr id="2" name="Slide Number Placeholder 1"/>
          <p:cNvSpPr>
            <a:spLocks noGrp="1"/>
          </p:cNvSpPr>
          <p:nvPr>
            <p:ph type="sldNum" sz="quarter" idx="4"/>
          </p:nvPr>
        </p:nvSpPr>
        <p:spPr/>
        <p:txBody>
          <a:bodyPr/>
          <a:lstStyle/>
          <a:p>
            <a:fld id="{4B17068C-EB94-40A3-A5F2-664CDD77FDAC}" type="slidenum">
              <a:rPr lang="en-GB" smtClean="0"/>
              <a:pPr/>
              <a:t>70</a:t>
            </a:fld>
            <a:endParaRPr lang="en-GB" dirty="0"/>
          </a:p>
        </p:txBody>
      </p:sp>
      <p:sp>
        <p:nvSpPr>
          <p:cNvPr id="6" name="Freeform 5"/>
          <p:cNvSpPr/>
          <p:nvPr/>
        </p:nvSpPr>
        <p:spPr>
          <a:xfrm>
            <a:off x="1089660" y="1745283"/>
            <a:ext cx="9952995" cy="734251"/>
          </a:xfrm>
          <a:custGeom>
            <a:avLst/>
            <a:gdLst>
              <a:gd name="connsiteX0" fmla="*/ 0 w 5638800"/>
              <a:gd name="connsiteY0" fmla="*/ 482600 h 482600"/>
              <a:gd name="connsiteX1" fmla="*/ 5638800 w 5638800"/>
              <a:gd name="connsiteY1" fmla="*/ 482600 h 482600"/>
              <a:gd name="connsiteX2" fmla="*/ 5638800 w 5638800"/>
              <a:gd name="connsiteY2" fmla="*/ 0 h 482600"/>
            </a:gdLst>
            <a:ahLst/>
            <a:cxnLst>
              <a:cxn ang="0">
                <a:pos x="connsiteX0" y="connsiteY0"/>
              </a:cxn>
              <a:cxn ang="0">
                <a:pos x="connsiteX1" y="connsiteY1"/>
              </a:cxn>
              <a:cxn ang="0">
                <a:pos x="connsiteX2" y="connsiteY2"/>
              </a:cxn>
            </a:cxnLst>
            <a:rect l="l" t="t" r="r" b="b"/>
            <a:pathLst>
              <a:path w="5638800" h="482600">
                <a:moveTo>
                  <a:pt x="0" y="482600"/>
                </a:moveTo>
                <a:lnTo>
                  <a:pt x="5638800" y="482600"/>
                </a:lnTo>
                <a:lnTo>
                  <a:pt x="5638800" y="0"/>
                </a:lnTo>
              </a:path>
            </a:pathLst>
          </a:custGeom>
          <a:noFill/>
          <a:ln w="7620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IN" dirty="0"/>
              <a:t>0</a:t>
            </a:r>
          </a:p>
        </p:txBody>
      </p:sp>
      <p:sp>
        <p:nvSpPr>
          <p:cNvPr id="7" name="Rounded Rectangle 6"/>
          <p:cNvSpPr/>
          <p:nvPr/>
        </p:nvSpPr>
        <p:spPr>
          <a:xfrm>
            <a:off x="681807" y="2701752"/>
            <a:ext cx="9593336" cy="3435182"/>
          </a:xfrm>
          <a:prstGeom prst="roundRect">
            <a:avLst>
              <a:gd name="adj" fmla="val 7500"/>
            </a:avLst>
          </a:prstGeom>
          <a:solidFill>
            <a:schemeClr val="bg1"/>
          </a:solidFill>
          <a:ln w="9525" cmpd="dbl">
            <a:solidFill>
              <a:schemeClr val="bg1"/>
            </a:solidFill>
          </a:ln>
          <a:effectLst>
            <a:outerShdw blurRad="63500" sx="102000" sy="102000" algn="ctr"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lIns="274320" rIns="274320" rtlCol="0" anchor="ctr" anchorCtr="0"/>
          <a:lstStyle>
            <a:defPPr>
              <a:defRPr lang="de-DE"/>
            </a:defPPr>
            <a:lvl1pPr algn="l" defTabSz="957263" rtl="0" fontAlgn="base">
              <a:spcBef>
                <a:spcPct val="0"/>
              </a:spcBef>
              <a:spcAft>
                <a:spcPct val="0"/>
              </a:spcAft>
              <a:defRPr sz="1900" kern="1200">
                <a:solidFill>
                  <a:schemeClr val="lt1"/>
                </a:solidFill>
                <a:latin typeface="+mn-lt"/>
                <a:ea typeface="+mn-ea"/>
                <a:cs typeface="+mn-cs"/>
              </a:defRPr>
            </a:lvl1pPr>
            <a:lvl2pPr marL="477838" indent="-20638" algn="l" defTabSz="957263" rtl="0" fontAlgn="base">
              <a:spcBef>
                <a:spcPct val="0"/>
              </a:spcBef>
              <a:spcAft>
                <a:spcPct val="0"/>
              </a:spcAft>
              <a:defRPr sz="1900" kern="1200">
                <a:solidFill>
                  <a:schemeClr val="lt1"/>
                </a:solidFill>
                <a:latin typeface="+mn-lt"/>
                <a:ea typeface="+mn-ea"/>
                <a:cs typeface="+mn-cs"/>
              </a:defRPr>
            </a:lvl2pPr>
            <a:lvl3pPr marL="957263" indent="-42863" algn="l" defTabSz="957263" rtl="0" fontAlgn="base">
              <a:spcBef>
                <a:spcPct val="0"/>
              </a:spcBef>
              <a:spcAft>
                <a:spcPct val="0"/>
              </a:spcAft>
              <a:defRPr sz="1900" kern="1200">
                <a:solidFill>
                  <a:schemeClr val="lt1"/>
                </a:solidFill>
                <a:latin typeface="+mn-lt"/>
                <a:ea typeface="+mn-ea"/>
                <a:cs typeface="+mn-cs"/>
              </a:defRPr>
            </a:lvl3pPr>
            <a:lvl4pPr marL="1435100" indent="-63500" algn="l" defTabSz="957263" rtl="0" fontAlgn="base">
              <a:spcBef>
                <a:spcPct val="0"/>
              </a:spcBef>
              <a:spcAft>
                <a:spcPct val="0"/>
              </a:spcAft>
              <a:defRPr sz="1900" kern="1200">
                <a:solidFill>
                  <a:schemeClr val="lt1"/>
                </a:solidFill>
                <a:latin typeface="+mn-lt"/>
                <a:ea typeface="+mn-ea"/>
                <a:cs typeface="+mn-cs"/>
              </a:defRPr>
            </a:lvl4pPr>
            <a:lvl5pPr marL="1914525" indent="-85725" algn="l" defTabSz="957263" rtl="0" fontAlgn="base">
              <a:spcBef>
                <a:spcPct val="0"/>
              </a:spcBef>
              <a:spcAft>
                <a:spcPct val="0"/>
              </a:spcAft>
              <a:defRPr sz="1900" kern="1200">
                <a:solidFill>
                  <a:schemeClr val="lt1"/>
                </a:solidFill>
                <a:latin typeface="+mn-lt"/>
                <a:ea typeface="+mn-ea"/>
                <a:cs typeface="+mn-cs"/>
              </a:defRPr>
            </a:lvl5pPr>
            <a:lvl6pPr marL="2286000" algn="l" defTabSz="914400" rtl="0" eaLnBrk="1" latinLnBrk="0" hangingPunct="1">
              <a:defRPr sz="1900" kern="1200">
                <a:solidFill>
                  <a:schemeClr val="lt1"/>
                </a:solidFill>
                <a:latin typeface="+mn-lt"/>
                <a:ea typeface="+mn-ea"/>
                <a:cs typeface="+mn-cs"/>
              </a:defRPr>
            </a:lvl6pPr>
            <a:lvl7pPr marL="2743200" algn="l" defTabSz="914400" rtl="0" eaLnBrk="1" latinLnBrk="0" hangingPunct="1">
              <a:defRPr sz="1900" kern="1200">
                <a:solidFill>
                  <a:schemeClr val="lt1"/>
                </a:solidFill>
                <a:latin typeface="+mn-lt"/>
                <a:ea typeface="+mn-ea"/>
                <a:cs typeface="+mn-cs"/>
              </a:defRPr>
            </a:lvl7pPr>
            <a:lvl8pPr marL="3200400" algn="l" defTabSz="914400" rtl="0" eaLnBrk="1" latinLnBrk="0" hangingPunct="1">
              <a:defRPr sz="1900" kern="1200">
                <a:solidFill>
                  <a:schemeClr val="lt1"/>
                </a:solidFill>
                <a:latin typeface="+mn-lt"/>
                <a:ea typeface="+mn-ea"/>
                <a:cs typeface="+mn-cs"/>
              </a:defRPr>
            </a:lvl8pPr>
            <a:lvl9pPr marL="3657600" algn="l" defTabSz="914400" rtl="0" eaLnBrk="1" latinLnBrk="0" hangingPunct="1">
              <a:defRPr sz="1900" kern="1200">
                <a:solidFill>
                  <a:schemeClr val="lt1"/>
                </a:solidFill>
                <a:latin typeface="+mn-lt"/>
                <a:ea typeface="+mn-ea"/>
                <a:cs typeface="+mn-cs"/>
              </a:defRPr>
            </a:lvl9pPr>
          </a:lstStyle>
          <a:p>
            <a:pPr marL="285750" lvl="0" indent="-285750" algn="just">
              <a:buFont typeface="Wingdings" panose="05000000000000000000" pitchFamily="2" charset="2"/>
              <a:buChar char="q"/>
            </a:pPr>
            <a:r>
              <a:rPr lang="en-US" sz="1600" i="1" dirty="0">
                <a:solidFill>
                  <a:schemeClr val="tx2">
                    <a:lumMod val="85000"/>
                    <a:lumOff val="15000"/>
                  </a:schemeClr>
                </a:solidFill>
              </a:rPr>
              <a:t>Content</a:t>
            </a:r>
          </a:p>
        </p:txBody>
      </p:sp>
      <p:grpSp>
        <p:nvGrpSpPr>
          <p:cNvPr id="8" name="Group 7"/>
          <p:cNvGrpSpPr/>
          <p:nvPr/>
        </p:nvGrpSpPr>
        <p:grpSpPr>
          <a:xfrm>
            <a:off x="207010" y="1084550"/>
            <a:ext cx="1248410" cy="1494946"/>
            <a:chOff x="5696849" y="1389033"/>
            <a:chExt cx="1137445" cy="1494946"/>
          </a:xfrm>
        </p:grpSpPr>
        <p:sp>
          <p:nvSpPr>
            <p:cNvPr id="9" name="Freeform 8"/>
            <p:cNvSpPr/>
            <p:nvPr/>
          </p:nvSpPr>
          <p:spPr>
            <a:xfrm>
              <a:off x="5696849" y="1389033"/>
              <a:ext cx="774267" cy="731042"/>
            </a:xfrm>
            <a:custGeom>
              <a:avLst/>
              <a:gdLst>
                <a:gd name="connsiteX0" fmla="*/ 0 w 793750"/>
                <a:gd name="connsiteY0" fmla="*/ 787400 h 803275"/>
                <a:gd name="connsiteX1" fmla="*/ 476250 w 793750"/>
                <a:gd name="connsiteY1" fmla="*/ 0 h 803275"/>
                <a:gd name="connsiteX2" fmla="*/ 793750 w 793750"/>
                <a:gd name="connsiteY2" fmla="*/ 6350 h 803275"/>
                <a:gd name="connsiteX3" fmla="*/ 317500 w 793750"/>
                <a:gd name="connsiteY3" fmla="*/ 803275 h 803275"/>
                <a:gd name="connsiteX4" fmla="*/ 0 w 793750"/>
                <a:gd name="connsiteY4" fmla="*/ 787400 h 803275"/>
                <a:gd name="connsiteX0" fmla="*/ 0 w 796131"/>
                <a:gd name="connsiteY0" fmla="*/ 808831 h 808831"/>
                <a:gd name="connsiteX1" fmla="*/ 478631 w 796131"/>
                <a:gd name="connsiteY1" fmla="*/ 0 h 808831"/>
                <a:gd name="connsiteX2" fmla="*/ 796131 w 796131"/>
                <a:gd name="connsiteY2" fmla="*/ 6350 h 808831"/>
                <a:gd name="connsiteX3" fmla="*/ 319881 w 796131"/>
                <a:gd name="connsiteY3" fmla="*/ 803275 h 808831"/>
                <a:gd name="connsiteX4" fmla="*/ 0 w 796131"/>
                <a:gd name="connsiteY4" fmla="*/ 808831 h 808831"/>
                <a:gd name="connsiteX0" fmla="*/ 0 w 796131"/>
                <a:gd name="connsiteY0" fmla="*/ 808831 h 808831"/>
                <a:gd name="connsiteX1" fmla="*/ 478631 w 796131"/>
                <a:gd name="connsiteY1" fmla="*/ 0 h 808831"/>
                <a:gd name="connsiteX2" fmla="*/ 796131 w 796131"/>
                <a:gd name="connsiteY2" fmla="*/ 6350 h 808831"/>
                <a:gd name="connsiteX3" fmla="*/ 338931 w 796131"/>
                <a:gd name="connsiteY3" fmla="*/ 808037 h 808831"/>
                <a:gd name="connsiteX4" fmla="*/ 0 w 796131"/>
                <a:gd name="connsiteY4" fmla="*/ 808831 h 808831"/>
                <a:gd name="connsiteX0" fmla="*/ 0 w 788988"/>
                <a:gd name="connsiteY0" fmla="*/ 808831 h 808831"/>
                <a:gd name="connsiteX1" fmla="*/ 478631 w 788988"/>
                <a:gd name="connsiteY1" fmla="*/ 0 h 808831"/>
                <a:gd name="connsiteX2" fmla="*/ 788988 w 788988"/>
                <a:gd name="connsiteY2" fmla="*/ 1587 h 808831"/>
                <a:gd name="connsiteX3" fmla="*/ 338931 w 788988"/>
                <a:gd name="connsiteY3" fmla="*/ 808037 h 808831"/>
                <a:gd name="connsiteX4" fmla="*/ 0 w 788988"/>
                <a:gd name="connsiteY4" fmla="*/ 808831 h 808831"/>
                <a:gd name="connsiteX0" fmla="*/ 0 w 798694"/>
                <a:gd name="connsiteY0" fmla="*/ 808831 h 808831"/>
                <a:gd name="connsiteX1" fmla="*/ 478631 w 798694"/>
                <a:gd name="connsiteY1" fmla="*/ 0 h 808831"/>
                <a:gd name="connsiteX2" fmla="*/ 798694 w 798694"/>
                <a:gd name="connsiteY2" fmla="*/ 6489 h 808831"/>
                <a:gd name="connsiteX3" fmla="*/ 338931 w 798694"/>
                <a:gd name="connsiteY3" fmla="*/ 808037 h 808831"/>
                <a:gd name="connsiteX4" fmla="*/ 0 w 798694"/>
                <a:gd name="connsiteY4" fmla="*/ 808831 h 808831"/>
                <a:gd name="connsiteX0" fmla="*/ 0 w 788988"/>
                <a:gd name="connsiteY0" fmla="*/ 808831 h 808831"/>
                <a:gd name="connsiteX1" fmla="*/ 478631 w 788988"/>
                <a:gd name="connsiteY1" fmla="*/ 0 h 808831"/>
                <a:gd name="connsiteX2" fmla="*/ 788988 w 788988"/>
                <a:gd name="connsiteY2" fmla="*/ 70215 h 808831"/>
                <a:gd name="connsiteX3" fmla="*/ 338931 w 788988"/>
                <a:gd name="connsiteY3" fmla="*/ 808037 h 808831"/>
                <a:gd name="connsiteX4" fmla="*/ 0 w 788988"/>
                <a:gd name="connsiteY4" fmla="*/ 808831 h 808831"/>
                <a:gd name="connsiteX0" fmla="*/ 0 w 788988"/>
                <a:gd name="connsiteY0" fmla="*/ 762262 h 762262"/>
                <a:gd name="connsiteX1" fmla="*/ 483484 w 788988"/>
                <a:gd name="connsiteY1" fmla="*/ 0 h 762262"/>
                <a:gd name="connsiteX2" fmla="*/ 788988 w 788988"/>
                <a:gd name="connsiteY2" fmla="*/ 23646 h 762262"/>
                <a:gd name="connsiteX3" fmla="*/ 338931 w 788988"/>
                <a:gd name="connsiteY3" fmla="*/ 761468 h 762262"/>
                <a:gd name="connsiteX4" fmla="*/ 0 w 788988"/>
                <a:gd name="connsiteY4" fmla="*/ 762262 h 762262"/>
                <a:gd name="connsiteX0" fmla="*/ 0 w 788988"/>
                <a:gd name="connsiteY0" fmla="*/ 752458 h 752458"/>
                <a:gd name="connsiteX1" fmla="*/ 483484 w 788988"/>
                <a:gd name="connsiteY1" fmla="*/ 0 h 752458"/>
                <a:gd name="connsiteX2" fmla="*/ 788988 w 788988"/>
                <a:gd name="connsiteY2" fmla="*/ 13842 h 752458"/>
                <a:gd name="connsiteX3" fmla="*/ 338931 w 788988"/>
                <a:gd name="connsiteY3" fmla="*/ 751664 h 752458"/>
                <a:gd name="connsiteX4" fmla="*/ 0 w 788988"/>
                <a:gd name="connsiteY4" fmla="*/ 752458 h 752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988" h="752458">
                  <a:moveTo>
                    <a:pt x="0" y="752458"/>
                  </a:moveTo>
                  <a:lnTo>
                    <a:pt x="483484" y="0"/>
                  </a:lnTo>
                  <a:lnTo>
                    <a:pt x="788988" y="13842"/>
                  </a:lnTo>
                  <a:lnTo>
                    <a:pt x="338931" y="751664"/>
                  </a:lnTo>
                  <a:lnTo>
                    <a:pt x="0" y="752458"/>
                  </a:lnTo>
                  <a:close/>
                </a:path>
              </a:pathLst>
            </a:custGeom>
            <a:solidFill>
              <a:schemeClr val="bg1">
                <a:lumMod val="65000"/>
              </a:schemeClr>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dirty="0"/>
            </a:p>
          </p:txBody>
        </p:sp>
        <p:sp>
          <p:nvSpPr>
            <p:cNvPr id="10" name="Freeform 9"/>
            <p:cNvSpPr/>
            <p:nvPr/>
          </p:nvSpPr>
          <p:spPr>
            <a:xfrm>
              <a:off x="5697426" y="2114835"/>
              <a:ext cx="773113" cy="769144"/>
            </a:xfrm>
            <a:custGeom>
              <a:avLst/>
              <a:gdLst>
                <a:gd name="connsiteX0" fmla="*/ 768350 w 768350"/>
                <a:gd name="connsiteY0" fmla="*/ 762000 h 762000"/>
                <a:gd name="connsiteX1" fmla="*/ 469900 w 768350"/>
                <a:gd name="connsiteY1" fmla="*/ 755650 h 762000"/>
                <a:gd name="connsiteX2" fmla="*/ 0 w 768350"/>
                <a:gd name="connsiteY2" fmla="*/ 3175 h 762000"/>
                <a:gd name="connsiteX3" fmla="*/ 336550 w 768350"/>
                <a:gd name="connsiteY3" fmla="*/ 0 h 762000"/>
                <a:gd name="connsiteX4" fmla="*/ 768350 w 768350"/>
                <a:gd name="connsiteY4" fmla="*/ 762000 h 762000"/>
                <a:gd name="connsiteX0" fmla="*/ 773113 w 773113"/>
                <a:gd name="connsiteY0" fmla="*/ 768350 h 768350"/>
                <a:gd name="connsiteX1" fmla="*/ 474663 w 773113"/>
                <a:gd name="connsiteY1" fmla="*/ 762000 h 768350"/>
                <a:gd name="connsiteX2" fmla="*/ 0 w 773113"/>
                <a:gd name="connsiteY2" fmla="*/ 0 h 768350"/>
                <a:gd name="connsiteX3" fmla="*/ 341313 w 773113"/>
                <a:gd name="connsiteY3" fmla="*/ 6350 h 768350"/>
                <a:gd name="connsiteX4" fmla="*/ 773113 w 773113"/>
                <a:gd name="connsiteY4" fmla="*/ 768350 h 768350"/>
                <a:gd name="connsiteX0" fmla="*/ 773113 w 773113"/>
                <a:gd name="connsiteY0" fmla="*/ 769144 h 769144"/>
                <a:gd name="connsiteX1" fmla="*/ 474663 w 773113"/>
                <a:gd name="connsiteY1" fmla="*/ 762794 h 769144"/>
                <a:gd name="connsiteX2" fmla="*/ 0 w 773113"/>
                <a:gd name="connsiteY2" fmla="*/ 794 h 769144"/>
                <a:gd name="connsiteX3" fmla="*/ 341313 w 773113"/>
                <a:gd name="connsiteY3" fmla="*/ 0 h 769144"/>
                <a:gd name="connsiteX4" fmla="*/ 773113 w 773113"/>
                <a:gd name="connsiteY4" fmla="*/ 769144 h 769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113" h="769144">
                  <a:moveTo>
                    <a:pt x="773113" y="769144"/>
                  </a:moveTo>
                  <a:lnTo>
                    <a:pt x="474663" y="762794"/>
                  </a:lnTo>
                  <a:lnTo>
                    <a:pt x="0" y="794"/>
                  </a:lnTo>
                  <a:lnTo>
                    <a:pt x="341313" y="0"/>
                  </a:lnTo>
                  <a:lnTo>
                    <a:pt x="773113" y="769144"/>
                  </a:lnTo>
                  <a:close/>
                </a:path>
              </a:pathLst>
            </a:custGeom>
            <a:solidFill>
              <a:schemeClr val="bg1">
                <a:lumMod val="65000"/>
              </a:schemeClr>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IN" dirty="0"/>
            </a:p>
          </p:txBody>
        </p:sp>
        <p:sp>
          <p:nvSpPr>
            <p:cNvPr id="11" name="Freeform 10"/>
            <p:cNvSpPr/>
            <p:nvPr/>
          </p:nvSpPr>
          <p:spPr>
            <a:xfrm>
              <a:off x="6129444" y="1548574"/>
              <a:ext cx="704850" cy="1190625"/>
            </a:xfrm>
            <a:custGeom>
              <a:avLst/>
              <a:gdLst>
                <a:gd name="connsiteX0" fmla="*/ 366712 w 704850"/>
                <a:gd name="connsiteY0" fmla="*/ 0 h 1190625"/>
                <a:gd name="connsiteX1" fmla="*/ 0 w 704850"/>
                <a:gd name="connsiteY1" fmla="*/ 585788 h 1190625"/>
                <a:gd name="connsiteX2" fmla="*/ 371475 w 704850"/>
                <a:gd name="connsiteY2" fmla="*/ 1190625 h 1190625"/>
                <a:gd name="connsiteX3" fmla="*/ 704850 w 704850"/>
                <a:gd name="connsiteY3" fmla="*/ 566738 h 1190625"/>
                <a:gd name="connsiteX4" fmla="*/ 366712 w 704850"/>
                <a:gd name="connsiteY4" fmla="*/ 0 h 119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850" h="1190625">
                  <a:moveTo>
                    <a:pt x="366712" y="0"/>
                  </a:moveTo>
                  <a:lnTo>
                    <a:pt x="0" y="585788"/>
                  </a:lnTo>
                  <a:lnTo>
                    <a:pt x="371475" y="1190625"/>
                  </a:lnTo>
                  <a:lnTo>
                    <a:pt x="704850" y="566738"/>
                  </a:lnTo>
                  <a:lnTo>
                    <a:pt x="366712" y="0"/>
                  </a:lnTo>
                  <a:close/>
                </a:path>
              </a:pathLst>
            </a:custGeom>
            <a:noFill/>
            <a:ln w="7620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IN" sz="2400" b="1" dirty="0">
                  <a:solidFill>
                    <a:schemeClr val="tx1"/>
                  </a:solidFill>
                  <a:latin typeface="Franklin Gothic Book" panose="020B0503020102020204" pitchFamily="34" charset="0"/>
                </a:rPr>
                <a:t>O</a:t>
              </a:r>
            </a:p>
          </p:txBody>
        </p:sp>
      </p:grpSp>
      <p:sp>
        <p:nvSpPr>
          <p:cNvPr id="12" name="TextBox 29"/>
          <p:cNvSpPr txBox="1"/>
          <p:nvPr/>
        </p:nvSpPr>
        <p:spPr>
          <a:xfrm>
            <a:off x="1530342" y="2061916"/>
            <a:ext cx="8629431" cy="369332"/>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b="1" i="1" dirty="0">
                <a:solidFill>
                  <a:srgbClr val="F2C72A"/>
                </a:solidFill>
              </a:rPr>
              <a:t>Opportunity 1</a:t>
            </a:r>
          </a:p>
        </p:txBody>
      </p:sp>
      <p:grpSp>
        <p:nvGrpSpPr>
          <p:cNvPr id="13" name="Group 12"/>
          <p:cNvGrpSpPr/>
          <p:nvPr/>
        </p:nvGrpSpPr>
        <p:grpSpPr>
          <a:xfrm>
            <a:off x="10682231" y="2955004"/>
            <a:ext cx="1120820" cy="2442337"/>
            <a:chOff x="4093668" y="1642733"/>
            <a:chExt cx="790318" cy="2007420"/>
          </a:xfrm>
        </p:grpSpPr>
        <p:grpSp>
          <p:nvGrpSpPr>
            <p:cNvPr id="14" name="Group 13"/>
            <p:cNvGrpSpPr/>
            <p:nvPr/>
          </p:nvGrpSpPr>
          <p:grpSpPr>
            <a:xfrm>
              <a:off x="4207359" y="1642733"/>
              <a:ext cx="584807" cy="1754220"/>
              <a:chOff x="8133659" y="1916796"/>
              <a:chExt cx="708667" cy="3286667"/>
            </a:xfrm>
          </p:grpSpPr>
          <p:cxnSp>
            <p:nvCxnSpPr>
              <p:cNvPr id="16" name="Straight Connector 15"/>
              <p:cNvCxnSpPr/>
              <p:nvPr/>
            </p:nvCxnSpPr>
            <p:spPr>
              <a:xfrm>
                <a:off x="8338458" y="2345938"/>
                <a:ext cx="0" cy="2459127"/>
              </a:xfrm>
              <a:prstGeom prst="line">
                <a:avLst/>
              </a:prstGeom>
              <a:noFill/>
              <a:ln w="28575" cap="flat" cmpd="sng" algn="ctr">
                <a:solidFill>
                  <a:sysClr val="window" lastClr="FFFFFF">
                    <a:lumMod val="75000"/>
                  </a:sysClr>
                </a:solidFill>
                <a:prstDash val="solid"/>
                <a:miter lim="800000"/>
              </a:ln>
              <a:effectLst/>
            </p:spPr>
          </p:cxnSp>
          <p:sp>
            <p:nvSpPr>
              <p:cNvPr id="17" name="Rectangle 16"/>
              <p:cNvSpPr/>
              <p:nvPr/>
            </p:nvSpPr>
            <p:spPr>
              <a:xfrm rot="16200000">
                <a:off x="7298372" y="3447313"/>
                <a:ext cx="2459127" cy="234605"/>
              </a:xfrm>
              <a:prstGeom prst="rect">
                <a:avLst/>
              </a:prstGeom>
              <a:gradFill>
                <a:gsLst>
                  <a:gs pos="65000">
                    <a:srgbClr val="FFC000"/>
                  </a:gs>
                  <a:gs pos="25000">
                    <a:srgbClr val="51652D">
                      <a:lumMod val="60000"/>
                      <a:lumOff val="40000"/>
                    </a:srgbClr>
                  </a:gs>
                </a:gsLst>
                <a:lin ang="10800000" scaled="0"/>
              </a:gradFill>
              <a:ln w="12700" cap="flat" cmpd="sng" algn="ctr">
                <a:solidFill>
                  <a:sysClr val="window" lastClr="FFFFFF"/>
                </a:solid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endParaRPr lang="en-GB" sz="2400" kern="0" dirty="0">
                  <a:solidFill>
                    <a:prstClr val="white"/>
                  </a:solidFill>
                </a:endParaRPr>
              </a:p>
            </p:txBody>
          </p:sp>
          <p:sp>
            <p:nvSpPr>
              <p:cNvPr id="18" name="TextBox 27"/>
              <p:cNvSpPr txBox="1"/>
              <p:nvPr/>
            </p:nvSpPr>
            <p:spPr>
              <a:xfrm>
                <a:off x="8303862" y="1916796"/>
                <a:ext cx="538464" cy="402864"/>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GB" sz="1100" kern="0" dirty="0">
                    <a:solidFill>
                      <a:prstClr val="black"/>
                    </a:solidFill>
                  </a:rPr>
                  <a:t>High</a:t>
                </a:r>
              </a:p>
            </p:txBody>
          </p:sp>
          <p:sp>
            <p:nvSpPr>
              <p:cNvPr id="19" name="TextBox 28"/>
              <p:cNvSpPr txBox="1"/>
              <p:nvPr/>
            </p:nvSpPr>
            <p:spPr>
              <a:xfrm>
                <a:off x="8316686" y="4800599"/>
                <a:ext cx="507384" cy="402864"/>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GB" sz="1100" kern="0" dirty="0">
                    <a:solidFill>
                      <a:prstClr val="black"/>
                    </a:solidFill>
                  </a:rPr>
                  <a:t>Low</a:t>
                </a:r>
              </a:p>
            </p:txBody>
          </p:sp>
          <p:sp>
            <p:nvSpPr>
              <p:cNvPr id="20" name="Flowchart: Merge 19"/>
              <p:cNvSpPr/>
              <p:nvPr/>
            </p:nvSpPr>
            <p:spPr>
              <a:xfrm rot="16200000">
                <a:off x="8105877" y="3193059"/>
                <a:ext cx="292611" cy="237047"/>
              </a:xfrm>
              <a:prstGeom prst="flowChartMerge">
                <a:avLst/>
              </a:prstGeom>
              <a:solidFill>
                <a:sysClr val="window" lastClr="FFFFFF">
                  <a:lumMod val="50000"/>
                </a:sysClr>
              </a:solidFill>
              <a:ln w="12700" cap="flat" cmpd="sng" algn="ctr">
                <a:solidFill>
                  <a:sysClr val="window" lastClr="FFFFFF"/>
                </a:solid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endParaRPr lang="en-US" kern="0" dirty="0">
                  <a:solidFill>
                    <a:prstClr val="white"/>
                  </a:solidFill>
                </a:endParaRPr>
              </a:p>
            </p:txBody>
          </p:sp>
        </p:grpSp>
        <p:sp>
          <p:nvSpPr>
            <p:cNvPr id="15" name="TextBox 24"/>
            <p:cNvSpPr txBox="1"/>
            <p:nvPr/>
          </p:nvSpPr>
          <p:spPr>
            <a:xfrm>
              <a:off x="4093668" y="3435129"/>
              <a:ext cx="790318" cy="215024"/>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GB" sz="1100" kern="0" dirty="0">
                  <a:solidFill>
                    <a:prstClr val="black"/>
                  </a:solidFill>
                </a:rPr>
                <a:t>  Level of Impact</a:t>
              </a:r>
            </a:p>
          </p:txBody>
        </p:sp>
      </p:grpSp>
      <p:sp>
        <p:nvSpPr>
          <p:cNvPr id="22" name="TextBox 2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Tree>
    <p:extLst>
      <p:ext uri="{BB962C8B-B14F-4D97-AF65-F5344CB8AC3E}">
        <p14:creationId xmlns:p14="http://schemas.microsoft.com/office/powerpoint/2010/main" val="513429654"/>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Global Supply Demand Scenario</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71</a:t>
            </a:r>
          </a:p>
        </p:txBody>
      </p:sp>
    </p:spTree>
    <p:extLst>
      <p:ext uri="{BB962C8B-B14F-4D97-AF65-F5344CB8AC3E}">
        <p14:creationId xmlns:p14="http://schemas.microsoft.com/office/powerpoint/2010/main" val="1500368319"/>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Global Supply Demand Overview</a:t>
            </a:r>
          </a:p>
        </p:txBody>
      </p:sp>
      <p:graphicFrame>
        <p:nvGraphicFramePr>
          <p:cNvPr id="4" name="Content Placeholder 19"/>
          <p:cNvGraphicFramePr>
            <a:graphicFrameLocks/>
          </p:cNvGraphicFramePr>
          <p:nvPr>
            <p:extLst>
              <p:ext uri="{D42A27DB-BD31-4B8C-83A1-F6EECF244321}">
                <p14:modId xmlns:p14="http://schemas.microsoft.com/office/powerpoint/2010/main" val="2846408362"/>
              </p:ext>
            </p:extLst>
          </p:nvPr>
        </p:nvGraphicFramePr>
        <p:xfrm>
          <a:off x="152400" y="1575254"/>
          <a:ext cx="11887200" cy="3344476"/>
        </p:xfrm>
        <a:graphic>
          <a:graphicData uri="http://schemas.openxmlformats.org/drawingml/2006/chart">
            <c:chart xmlns:c="http://schemas.openxmlformats.org/drawingml/2006/chart" xmlns:r="http://schemas.openxmlformats.org/officeDocument/2006/relationships" r:id="rId2"/>
          </a:graphicData>
        </a:graphic>
      </p:graphicFrame>
      <p:sp>
        <p:nvSpPr>
          <p:cNvPr id="5" name="Rounded Rectangle 4"/>
          <p:cNvSpPr/>
          <p:nvPr/>
        </p:nvSpPr>
        <p:spPr>
          <a:xfrm>
            <a:off x="2639858" y="1157011"/>
            <a:ext cx="6782272" cy="44450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WXYZ 2023 (A)</a:t>
            </a:r>
          </a:p>
        </p:txBody>
      </p:sp>
      <p:sp>
        <p:nvSpPr>
          <p:cNvPr id="8" name="Rounded Rectangle 7"/>
          <p:cNvSpPr/>
          <p:nvPr/>
        </p:nvSpPr>
        <p:spPr>
          <a:xfrm>
            <a:off x="152400" y="5056733"/>
            <a:ext cx="11887199" cy="1094273"/>
          </a:xfrm>
          <a:prstGeom prst="round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US" sz="1150" b="1" dirty="0">
                <a:solidFill>
                  <a:schemeClr val="tx1"/>
                </a:solidFill>
              </a:rPr>
              <a:t>Here is an attempt to understand the production vs. consumption scenario in the Global market for WXYZ.</a:t>
            </a:r>
          </a:p>
          <a:p>
            <a:pPr marL="571500" indent="-342900">
              <a:spcBef>
                <a:spcPts val="500"/>
              </a:spcBef>
              <a:spcAft>
                <a:spcPts val="500"/>
              </a:spcAft>
              <a:buFont typeface="Arial" panose="020B0604020202020204" pitchFamily="34" charset="0"/>
              <a:buChar char="•"/>
            </a:pPr>
            <a:r>
              <a:rPr lang="en-US" sz="1150" b="1" dirty="0">
                <a:solidFill>
                  <a:schemeClr val="tx1"/>
                </a:solidFill>
              </a:rPr>
              <a:t>Global  WXYZ Market is a consolidated market. Key manufacturers are focusing on the expansion of their production capacities along with the new product launches.</a:t>
            </a:r>
          </a:p>
          <a:p>
            <a:pPr marL="571500" indent="-342900">
              <a:spcBef>
                <a:spcPts val="500"/>
              </a:spcBef>
              <a:spcAft>
                <a:spcPts val="500"/>
              </a:spcAft>
              <a:buFont typeface="Arial" panose="020B0604020202020204" pitchFamily="34" charset="0"/>
              <a:buChar char="•"/>
            </a:pPr>
            <a:r>
              <a:rPr lang="en-US" sz="1150" b="1" dirty="0">
                <a:solidFill>
                  <a:schemeClr val="tx1"/>
                </a:solidFill>
              </a:rPr>
              <a:t>North America is the dominant markets for the WXYZ and is expected to continue its dominance in the coming assessment period</a:t>
            </a:r>
          </a:p>
        </p:txBody>
      </p:sp>
      <p:sp>
        <p:nvSpPr>
          <p:cNvPr id="9" name="TextBox 8"/>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6" name="Slide Number Placeholder 5"/>
          <p:cNvSpPr>
            <a:spLocks noGrp="1"/>
          </p:cNvSpPr>
          <p:nvPr>
            <p:ph type="sldNum" sz="quarter" idx="4"/>
          </p:nvPr>
        </p:nvSpPr>
        <p:spPr/>
        <p:txBody>
          <a:bodyPr/>
          <a:lstStyle/>
          <a:p>
            <a:fld id="{4B17068C-EB94-40A3-A5F2-664CDD77FDAC}" type="slidenum">
              <a:rPr lang="en-GB" smtClean="0"/>
              <a:pPr/>
              <a:t>72</a:t>
            </a:fld>
            <a:endParaRPr lang="en-GB" dirty="0"/>
          </a:p>
        </p:txBody>
      </p:sp>
    </p:spTree>
    <p:extLst>
      <p:ext uri="{BB962C8B-B14F-4D97-AF65-F5344CB8AC3E}">
        <p14:creationId xmlns:p14="http://schemas.microsoft.com/office/powerpoint/2010/main" val="164360126"/>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Key Regulations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73</a:t>
            </a:r>
          </a:p>
        </p:txBody>
      </p:sp>
    </p:spTree>
    <p:extLst>
      <p:ext uri="{BB962C8B-B14F-4D97-AF65-F5344CB8AC3E}">
        <p14:creationId xmlns:p14="http://schemas.microsoft.com/office/powerpoint/2010/main" val="365464103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a:t>Regulatory Impact: WXYZ (1/4)</a:t>
            </a:r>
          </a:p>
        </p:txBody>
      </p:sp>
      <p:sp>
        <p:nvSpPr>
          <p:cNvPr id="12" name="Rectangle 11"/>
          <p:cNvSpPr/>
          <p:nvPr/>
        </p:nvSpPr>
        <p:spPr>
          <a:xfrm>
            <a:off x="281353" y="1194810"/>
            <a:ext cx="11648841" cy="536873"/>
          </a:xfrm>
          <a:prstGeom prst="rect">
            <a:avLst/>
          </a:prstGeom>
          <a:gradFill>
            <a:gsLst>
              <a:gs pos="0">
                <a:srgbClr val="427FB5"/>
              </a:gs>
              <a:gs pos="100000">
                <a:srgbClr val="3DADE1"/>
              </a:gs>
            </a:gsLst>
            <a:lin ang="0" scaled="1"/>
          </a:gra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i="1" dirty="0"/>
              <a:t>The WXYZ market is subject to various regulations and standards that aim to ensure product safety, environmental protection, and quality control. The following are some of the key regulations that apply to the WXYZ market:</a:t>
            </a:r>
          </a:p>
        </p:txBody>
      </p:sp>
      <p:pic>
        <p:nvPicPr>
          <p:cNvPr id="4" name="Picture 3"/>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281354" y="1837830"/>
            <a:ext cx="11648840" cy="4203912"/>
          </a:xfrm>
          <a:prstGeom prst="rect">
            <a:avLst/>
          </a:prstGeom>
        </p:spPr>
      </p:pic>
      <p:sp>
        <p:nvSpPr>
          <p:cNvPr id="7" name="TextBox 6"/>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5" name="Slide Number Placeholder 4"/>
          <p:cNvSpPr>
            <a:spLocks noGrp="1"/>
          </p:cNvSpPr>
          <p:nvPr>
            <p:ph type="sldNum" sz="quarter" idx="4"/>
          </p:nvPr>
        </p:nvSpPr>
        <p:spPr/>
        <p:txBody>
          <a:bodyPr/>
          <a:lstStyle/>
          <a:p>
            <a:fld id="{4B17068C-EB94-40A3-A5F2-664CDD77FDAC}" type="slidenum">
              <a:rPr lang="en-GB" smtClean="0"/>
              <a:pPr/>
              <a:t>74</a:t>
            </a:fld>
            <a:endParaRPr lang="en-GB" dirty="0"/>
          </a:p>
        </p:txBody>
      </p:sp>
    </p:spTree>
    <p:extLst>
      <p:ext uri="{BB962C8B-B14F-4D97-AF65-F5344CB8AC3E}">
        <p14:creationId xmlns:p14="http://schemas.microsoft.com/office/powerpoint/2010/main" val="285114319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Parent Market Overview</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75</a:t>
            </a:r>
          </a:p>
        </p:txBody>
      </p:sp>
    </p:spTree>
    <p:extLst>
      <p:ext uri="{BB962C8B-B14F-4D97-AF65-F5344CB8AC3E}">
        <p14:creationId xmlns:p14="http://schemas.microsoft.com/office/powerpoint/2010/main" val="2929528676"/>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p:cNvCxnSpPr/>
          <p:nvPr/>
        </p:nvCxnSpPr>
        <p:spPr>
          <a:xfrm>
            <a:off x="4376671" y="2150772"/>
            <a:ext cx="7409779" cy="0"/>
          </a:xfrm>
          <a:prstGeom prst="line">
            <a:avLst/>
          </a:prstGeom>
          <a:ln w="28575">
            <a:solidFill>
              <a:srgbClr val="993233"/>
            </a:solidFill>
            <a:prstDash val="dash"/>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p>
            <a:r>
              <a:rPr lang="en-IN" dirty="0"/>
              <a:t>Parent Market Overview</a:t>
            </a:r>
            <a:endParaRPr lang="en-US" dirty="0"/>
          </a:p>
        </p:txBody>
      </p:sp>
      <p:graphicFrame>
        <p:nvGraphicFramePr>
          <p:cNvPr id="4" name="Diagram 3"/>
          <p:cNvGraphicFramePr/>
          <p:nvPr>
            <p:extLst>
              <p:ext uri="{D42A27DB-BD31-4B8C-83A1-F6EECF244321}">
                <p14:modId xmlns:p14="http://schemas.microsoft.com/office/powerpoint/2010/main" val="2795541715"/>
              </p:ext>
            </p:extLst>
          </p:nvPr>
        </p:nvGraphicFramePr>
        <p:xfrm>
          <a:off x="152400" y="1143001"/>
          <a:ext cx="7326725" cy="503635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7" name="Straight Connector 6"/>
          <p:cNvCxnSpPr/>
          <p:nvPr/>
        </p:nvCxnSpPr>
        <p:spPr>
          <a:xfrm>
            <a:off x="4376671" y="3515932"/>
            <a:ext cx="7409779" cy="0"/>
          </a:xfrm>
          <a:prstGeom prst="line">
            <a:avLst/>
          </a:prstGeom>
          <a:ln w="28575">
            <a:solidFill>
              <a:srgbClr val="A88928"/>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4376671" y="5306096"/>
            <a:ext cx="7409779" cy="0"/>
          </a:xfrm>
          <a:prstGeom prst="line">
            <a:avLst/>
          </a:prstGeom>
          <a:ln w="28575">
            <a:solidFill>
              <a:srgbClr val="4E426A"/>
            </a:solidFill>
            <a:prstDash val="dash"/>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6487910" y="1677004"/>
            <a:ext cx="4915195" cy="385042"/>
          </a:xfrm>
          <a:prstGeom prst="rect">
            <a:avLst/>
          </a:prstGeom>
          <a:noFill/>
        </p:spPr>
        <p:txBody>
          <a:bodyPr wrap="square" rtlCol="0">
            <a:spAutoFit/>
          </a:bodyPr>
          <a:lstStyle/>
          <a:p>
            <a:pPr algn="ctr"/>
            <a:r>
              <a:rPr lang="en-US" b="1" dirty="0">
                <a:solidFill>
                  <a:srgbClr val="993334"/>
                </a:solidFill>
              </a:rPr>
              <a:t>Global Parent Market</a:t>
            </a:r>
            <a:endParaRPr lang="en-IN" b="1" dirty="0">
              <a:solidFill>
                <a:srgbClr val="993334"/>
              </a:solidFill>
              <a:latin typeface="Calibri" panose="020F0502020204030204"/>
            </a:endParaRPr>
          </a:p>
        </p:txBody>
      </p:sp>
      <p:sp>
        <p:nvSpPr>
          <p:cNvPr id="10" name="TextBox 9"/>
          <p:cNvSpPr txBox="1"/>
          <p:nvPr/>
        </p:nvSpPr>
        <p:spPr>
          <a:xfrm>
            <a:off x="6487910" y="2215166"/>
            <a:ext cx="4915195" cy="385042"/>
          </a:xfrm>
          <a:prstGeom prst="rect">
            <a:avLst/>
          </a:prstGeom>
          <a:noFill/>
        </p:spPr>
        <p:txBody>
          <a:bodyPr wrap="square" rtlCol="0">
            <a:spAutoFit/>
          </a:bodyPr>
          <a:lstStyle/>
          <a:p>
            <a:pPr algn="ctr"/>
            <a:r>
              <a:rPr lang="en-IN" dirty="0">
                <a:solidFill>
                  <a:prstClr val="black"/>
                </a:solidFill>
                <a:latin typeface="Calibri" panose="020F0502020204030204"/>
              </a:rPr>
              <a:t>~US$ </a:t>
            </a:r>
            <a:r>
              <a:rPr lang="en-IN" dirty="0">
                <a:solidFill>
                  <a:prstClr val="black"/>
                </a:solidFill>
              </a:rPr>
              <a:t>xx </a:t>
            </a:r>
            <a:r>
              <a:rPr lang="en-IN" dirty="0" err="1">
                <a:solidFill>
                  <a:prstClr val="black"/>
                </a:solidFill>
                <a:latin typeface="Calibri" panose="020F0502020204030204"/>
              </a:rPr>
              <a:t>Mn</a:t>
            </a:r>
            <a:endParaRPr lang="en-US" dirty="0">
              <a:solidFill>
                <a:prstClr val="black"/>
              </a:solidFill>
              <a:latin typeface="Calibri" panose="020F0502020204030204"/>
            </a:endParaRPr>
          </a:p>
        </p:txBody>
      </p:sp>
      <p:sp>
        <p:nvSpPr>
          <p:cNvPr id="11" name="TextBox 10"/>
          <p:cNvSpPr txBox="1"/>
          <p:nvPr/>
        </p:nvSpPr>
        <p:spPr>
          <a:xfrm>
            <a:off x="6729957" y="3566878"/>
            <a:ext cx="4915195" cy="385042"/>
          </a:xfrm>
          <a:prstGeom prst="rect">
            <a:avLst/>
          </a:prstGeom>
          <a:noFill/>
        </p:spPr>
        <p:txBody>
          <a:bodyPr wrap="square" rtlCol="0">
            <a:spAutoFit/>
          </a:bodyPr>
          <a:lstStyle/>
          <a:p>
            <a:pPr algn="ctr"/>
            <a:r>
              <a:rPr lang="en-IN" dirty="0">
                <a:solidFill>
                  <a:prstClr val="black"/>
                </a:solidFill>
                <a:latin typeface="Calibri" panose="020F0502020204030204"/>
              </a:rPr>
              <a:t>~US$ </a:t>
            </a:r>
            <a:r>
              <a:rPr lang="en-IN" dirty="0">
                <a:solidFill>
                  <a:prstClr val="black"/>
                </a:solidFill>
              </a:rPr>
              <a:t>xx </a:t>
            </a:r>
            <a:r>
              <a:rPr lang="en-IN" dirty="0" err="1">
                <a:solidFill>
                  <a:prstClr val="black"/>
                </a:solidFill>
              </a:rPr>
              <a:t>Mn</a:t>
            </a:r>
            <a:endParaRPr lang="en-US" dirty="0">
              <a:solidFill>
                <a:prstClr val="black"/>
              </a:solidFill>
              <a:latin typeface="Calibri" panose="020F0502020204030204"/>
            </a:endParaRPr>
          </a:p>
        </p:txBody>
      </p:sp>
      <p:sp>
        <p:nvSpPr>
          <p:cNvPr id="12" name="TextBox 11"/>
          <p:cNvSpPr txBox="1"/>
          <p:nvPr/>
        </p:nvSpPr>
        <p:spPr>
          <a:xfrm>
            <a:off x="6487910" y="5357683"/>
            <a:ext cx="4915195" cy="385042"/>
          </a:xfrm>
          <a:prstGeom prst="rect">
            <a:avLst/>
          </a:prstGeom>
          <a:noFill/>
        </p:spPr>
        <p:txBody>
          <a:bodyPr wrap="square" rtlCol="0">
            <a:spAutoFit/>
          </a:bodyPr>
          <a:lstStyle/>
          <a:p>
            <a:pPr algn="ctr"/>
            <a:r>
              <a:rPr lang="en-IN" dirty="0">
                <a:solidFill>
                  <a:prstClr val="black"/>
                </a:solidFill>
                <a:latin typeface="Calibri" panose="020F0502020204030204"/>
              </a:rPr>
              <a:t>~US$</a:t>
            </a:r>
            <a:r>
              <a:rPr lang="en-IN" dirty="0">
                <a:solidFill>
                  <a:prstClr val="black"/>
                </a:solidFill>
              </a:rPr>
              <a:t> B!Y!</a:t>
            </a:r>
            <a:r>
              <a:rPr lang="en-IN" dirty="0">
                <a:solidFill>
                  <a:prstClr val="black"/>
                </a:solidFill>
                <a:latin typeface="Calibri" panose="020F0502020204030204"/>
              </a:rPr>
              <a:t> </a:t>
            </a:r>
            <a:r>
              <a:rPr lang="en-IN" dirty="0" err="1">
                <a:solidFill>
                  <a:prstClr val="black"/>
                </a:solidFill>
                <a:latin typeface="Calibri" panose="020F0502020204030204"/>
              </a:rPr>
              <a:t>Mn</a:t>
            </a:r>
            <a:endParaRPr lang="en-US" dirty="0">
              <a:solidFill>
                <a:prstClr val="black"/>
              </a:solidFill>
              <a:latin typeface="Calibri" panose="020F0502020204030204"/>
            </a:endParaRPr>
          </a:p>
        </p:txBody>
      </p:sp>
      <p:sp>
        <p:nvSpPr>
          <p:cNvPr id="13" name="TextBox 12"/>
          <p:cNvSpPr txBox="1"/>
          <p:nvPr/>
        </p:nvSpPr>
        <p:spPr>
          <a:xfrm>
            <a:off x="6564110" y="3006332"/>
            <a:ext cx="5265226" cy="369332"/>
          </a:xfrm>
          <a:prstGeom prst="rect">
            <a:avLst/>
          </a:prstGeom>
          <a:noFill/>
        </p:spPr>
        <p:txBody>
          <a:bodyPr wrap="square" rtlCol="0">
            <a:spAutoFit/>
          </a:bodyPr>
          <a:lstStyle/>
          <a:p>
            <a:pPr algn="ctr"/>
            <a:r>
              <a:rPr lang="en-IN" sz="1800" b="1" dirty="0">
                <a:solidFill>
                  <a:srgbClr val="A98A2D"/>
                </a:solidFill>
              </a:rPr>
              <a:t>Global Immediate Parent Market</a:t>
            </a:r>
          </a:p>
        </p:txBody>
      </p:sp>
      <p:sp>
        <p:nvSpPr>
          <p:cNvPr id="14" name="TextBox 13"/>
          <p:cNvSpPr txBox="1"/>
          <p:nvPr/>
        </p:nvSpPr>
        <p:spPr>
          <a:xfrm>
            <a:off x="6426588" y="4789898"/>
            <a:ext cx="5093423" cy="385042"/>
          </a:xfrm>
          <a:prstGeom prst="rect">
            <a:avLst/>
          </a:prstGeom>
          <a:noFill/>
        </p:spPr>
        <p:txBody>
          <a:bodyPr wrap="square" rtlCol="0">
            <a:spAutoFit/>
          </a:bodyPr>
          <a:lstStyle/>
          <a:p>
            <a:pPr algn="ctr"/>
            <a:r>
              <a:rPr lang="en-IN" b="1" dirty="0">
                <a:solidFill>
                  <a:srgbClr val="A98A2D"/>
                </a:solidFill>
              </a:rPr>
              <a:t>Global WXYZ</a:t>
            </a:r>
            <a:r>
              <a:rPr lang="en-IN" b="1" dirty="0">
                <a:solidFill>
                  <a:srgbClr val="A98A2D"/>
                </a:solidFill>
                <a:latin typeface="Calibri" panose="020F0502020204030204"/>
              </a:rPr>
              <a:t> Market</a:t>
            </a:r>
            <a:endParaRPr lang="en-US" b="1" dirty="0">
              <a:solidFill>
                <a:srgbClr val="A98A2D"/>
              </a:solidFill>
              <a:latin typeface="Calibri" panose="020F0502020204030204"/>
            </a:endParaRPr>
          </a:p>
        </p:txBody>
      </p:sp>
      <p:sp>
        <p:nvSpPr>
          <p:cNvPr id="16" name="TextBox 1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5" name="Slide Number Placeholder 4"/>
          <p:cNvSpPr>
            <a:spLocks noGrp="1"/>
          </p:cNvSpPr>
          <p:nvPr>
            <p:ph type="sldNum" sz="quarter" idx="4"/>
          </p:nvPr>
        </p:nvSpPr>
        <p:spPr/>
        <p:txBody>
          <a:bodyPr/>
          <a:lstStyle/>
          <a:p>
            <a:fld id="{4B17068C-EB94-40A3-A5F2-664CDD77FDAC}" type="slidenum">
              <a:rPr lang="en-GB" smtClean="0"/>
              <a:pPr/>
              <a:t>76</a:t>
            </a:fld>
            <a:endParaRPr lang="en-GB" dirty="0"/>
          </a:p>
        </p:txBody>
      </p:sp>
    </p:spTree>
    <p:extLst>
      <p:ext uri="{BB962C8B-B14F-4D97-AF65-F5344CB8AC3E}">
        <p14:creationId xmlns:p14="http://schemas.microsoft.com/office/powerpoint/2010/main" val="2794127037"/>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Key Developments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77</a:t>
            </a:r>
          </a:p>
        </p:txBody>
      </p:sp>
    </p:spTree>
    <p:extLst>
      <p:ext uri="{BB962C8B-B14F-4D97-AF65-F5344CB8AC3E}">
        <p14:creationId xmlns:p14="http://schemas.microsoft.com/office/powerpoint/2010/main" val="2285083629"/>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p:cNvSpPr>
            <a:spLocks noGrp="1"/>
          </p:cNvSpPr>
          <p:nvPr>
            <p:ph type="title"/>
          </p:nvPr>
        </p:nvSpPr>
        <p:spPr/>
        <p:txBody>
          <a:bodyPr/>
          <a:lstStyle/>
          <a:p>
            <a:r>
              <a:rPr lang="en-US" dirty="0"/>
              <a:t>Key Developments (1/2)</a:t>
            </a:r>
          </a:p>
        </p:txBody>
      </p:sp>
      <p:sp>
        <p:nvSpPr>
          <p:cNvPr id="9" name="TextBox 8"/>
          <p:cNvSpPr txBox="1"/>
          <p:nvPr/>
        </p:nvSpPr>
        <p:spPr>
          <a:xfrm>
            <a:off x="229798" y="6205752"/>
            <a:ext cx="2442976" cy="153888"/>
          </a:xfrm>
          <a:prstGeom prst="rect">
            <a:avLst/>
          </a:prstGeom>
          <a:noFill/>
        </p:spPr>
        <p:txBody>
          <a:bodyPr wrap="none" lIns="0" tIns="0" rIns="0" bIns="0" rtlCol="0">
            <a:spAutoFit/>
          </a:bodyPr>
          <a:lstStyle/>
          <a:p>
            <a:pPr defTabSz="966537"/>
            <a:r>
              <a:rPr lang="en-US" sz="1000" dirty="0"/>
              <a:t>Source: TMR Analysis, 2024, </a:t>
            </a:r>
            <a:r>
              <a:rPr lang="en-IN" sz="1000" dirty="0"/>
              <a:t>Company Website</a:t>
            </a:r>
            <a:endParaRPr lang="en-US" sz="1000" dirty="0"/>
          </a:p>
        </p:txBody>
      </p:sp>
      <p:pic>
        <p:nvPicPr>
          <p:cNvPr id="10" name="Picture 9"/>
          <p:cNvPicPr>
            <a:picLocks noChangeAspect="1"/>
          </p:cNvPicPr>
          <p:nvPr/>
        </p:nvPicPr>
        <p:blipFill rotWithShape="1">
          <a:blip r:embed="rId2"/>
          <a:srcRect t="23939"/>
          <a:stretch/>
        </p:blipFill>
        <p:spPr>
          <a:xfrm>
            <a:off x="138332" y="2326159"/>
            <a:ext cx="11863844" cy="3858061"/>
          </a:xfrm>
          <a:prstGeom prst="rect">
            <a:avLst/>
          </a:prstGeom>
        </p:spPr>
      </p:pic>
      <p:graphicFrame>
        <p:nvGraphicFramePr>
          <p:cNvPr id="11" name="Table 10"/>
          <p:cNvGraphicFramePr>
            <a:graphicFrameLocks noGrp="1"/>
          </p:cNvGraphicFramePr>
          <p:nvPr>
            <p:extLst>
              <p:ext uri="{D42A27DB-BD31-4B8C-83A1-F6EECF244321}">
                <p14:modId xmlns:p14="http://schemas.microsoft.com/office/powerpoint/2010/main" val="3431598241"/>
              </p:ext>
            </p:extLst>
          </p:nvPr>
        </p:nvGraphicFramePr>
        <p:xfrm>
          <a:off x="152400" y="1139395"/>
          <a:ext cx="11819997" cy="1193800"/>
        </p:xfrm>
        <a:graphic>
          <a:graphicData uri="http://schemas.openxmlformats.org/drawingml/2006/table">
            <a:tbl>
              <a:tblPr firstRow="1" bandRow="1">
                <a:tableStyleId>{5C22544A-7EE6-4342-B048-85BDC9FD1C3A}</a:tableStyleId>
              </a:tblPr>
              <a:tblGrid>
                <a:gridCol w="1887414">
                  <a:extLst>
                    <a:ext uri="{9D8B030D-6E8A-4147-A177-3AD203B41FA5}">
                      <a16:colId xmlns:a16="http://schemas.microsoft.com/office/drawing/2014/main" val="2844629135"/>
                    </a:ext>
                  </a:extLst>
                </a:gridCol>
                <a:gridCol w="1505243">
                  <a:extLst>
                    <a:ext uri="{9D8B030D-6E8A-4147-A177-3AD203B41FA5}">
                      <a16:colId xmlns:a16="http://schemas.microsoft.com/office/drawing/2014/main" val="1566529361"/>
                    </a:ext>
                  </a:extLst>
                </a:gridCol>
                <a:gridCol w="8427340">
                  <a:extLst>
                    <a:ext uri="{9D8B030D-6E8A-4147-A177-3AD203B41FA5}">
                      <a16:colId xmlns:a16="http://schemas.microsoft.com/office/drawing/2014/main" val="1371319728"/>
                    </a:ext>
                  </a:extLst>
                </a:gridCol>
              </a:tblGrid>
              <a:tr h="370840">
                <a:tc>
                  <a:txBody>
                    <a:bodyPr/>
                    <a:lstStyle/>
                    <a:p>
                      <a:r>
                        <a:rPr lang="en-US" dirty="0"/>
                        <a:t>Key</a:t>
                      </a:r>
                      <a:r>
                        <a:rPr lang="en-US" baseline="0" dirty="0"/>
                        <a:t> Development</a:t>
                      </a:r>
                      <a:endParaRPr lang="en-US" dirty="0"/>
                    </a:p>
                  </a:txBody>
                  <a:tcPr/>
                </a:tc>
                <a:tc>
                  <a:txBody>
                    <a:bodyPr/>
                    <a:lstStyle/>
                    <a:p>
                      <a:r>
                        <a:rPr lang="en-US" dirty="0"/>
                        <a:t>Company</a:t>
                      </a:r>
                    </a:p>
                  </a:txBody>
                  <a:tcPr/>
                </a:tc>
                <a:tc>
                  <a:txBody>
                    <a:bodyPr/>
                    <a:lstStyle/>
                    <a:p>
                      <a:r>
                        <a:rPr lang="en-US" dirty="0"/>
                        <a:t>Description</a:t>
                      </a:r>
                    </a:p>
                  </a:txBody>
                  <a:tcPr/>
                </a:tc>
                <a:extLst>
                  <a:ext uri="{0D108BD9-81ED-4DB2-BD59-A6C34878D82A}">
                    <a16:rowId xmlns:a16="http://schemas.microsoft.com/office/drawing/2014/main" val="1762404339"/>
                  </a:ext>
                </a:extLst>
              </a:tr>
              <a:tr h="370840">
                <a:tc>
                  <a:txBody>
                    <a:bodyPr/>
                    <a:lstStyle/>
                    <a:p>
                      <a:r>
                        <a:rPr lang="en-US" sz="1600" dirty="0"/>
                        <a:t>xx</a:t>
                      </a:r>
                    </a:p>
                  </a:txBody>
                  <a:tcPr/>
                </a:tc>
                <a:tc>
                  <a:txBody>
                    <a:bodyPr/>
                    <a:lstStyle/>
                    <a:p>
                      <a:r>
                        <a:rPr lang="en-US" sz="1600" dirty="0"/>
                        <a:t>xx</a:t>
                      </a:r>
                    </a:p>
                  </a:txBody>
                  <a:tcPr/>
                </a:tc>
                <a:tc>
                  <a:txBody>
                    <a:bodyPr/>
                    <a:lstStyle/>
                    <a:p>
                      <a:pPr algn="just"/>
                      <a:r>
                        <a:rPr lang="en-US" sz="1600" dirty="0"/>
                        <a:t>xxxxxxxxxxxxxxxxxxxxxxxxxxxxxxxxxxxxxxxxxxxxxxxxxxxxxxxxxxxxxxxxxxxxxxxxxxxxxxxxxxxxxxxxxxxxxxxxxxxxxxxxxxxxxxxxxxxxxxxxxxxxxxxxxxxxxxxxxxxxxxxxxxxxxxxxxxxxxxxxxxxxxxxxxxxxxxxxxxxxxxxxxxxxxxxxxxxxxxxxxxxxxxxxxxxxxxxxxxxxxxxxxxxxxxxxxxxxxxxxxxxxxx</a:t>
                      </a:r>
                    </a:p>
                  </a:txBody>
                  <a:tcPr/>
                </a:tc>
                <a:extLst>
                  <a:ext uri="{0D108BD9-81ED-4DB2-BD59-A6C34878D82A}">
                    <a16:rowId xmlns:a16="http://schemas.microsoft.com/office/drawing/2014/main" val="926015273"/>
                  </a:ext>
                </a:extLst>
              </a:tr>
            </a:tbl>
          </a:graphicData>
        </a:graphic>
      </p:graphicFrame>
      <p:sp>
        <p:nvSpPr>
          <p:cNvPr id="3" name="Slide Number Placeholder 2"/>
          <p:cNvSpPr>
            <a:spLocks noGrp="1"/>
          </p:cNvSpPr>
          <p:nvPr>
            <p:ph type="sldNum" sz="quarter" idx="4"/>
          </p:nvPr>
        </p:nvSpPr>
        <p:spPr/>
        <p:txBody>
          <a:bodyPr/>
          <a:lstStyle/>
          <a:p>
            <a:fld id="{4B17068C-EB94-40A3-A5F2-664CDD77FDAC}" type="slidenum">
              <a:rPr lang="en-GB" smtClean="0"/>
              <a:pPr/>
              <a:t>78</a:t>
            </a:fld>
            <a:endParaRPr lang="en-GB" dirty="0"/>
          </a:p>
        </p:txBody>
      </p:sp>
    </p:spTree>
    <p:extLst>
      <p:ext uri="{BB962C8B-B14F-4D97-AF65-F5344CB8AC3E}">
        <p14:creationId xmlns:p14="http://schemas.microsoft.com/office/powerpoint/2010/main" val="2312925854"/>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Patent Analysis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79</a:t>
            </a:r>
          </a:p>
        </p:txBody>
      </p:sp>
    </p:spTree>
    <p:extLst>
      <p:ext uri="{BB962C8B-B14F-4D97-AF65-F5344CB8AC3E}">
        <p14:creationId xmlns:p14="http://schemas.microsoft.com/office/powerpoint/2010/main" val="1117838542"/>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p:cNvSpPr>
            <a:spLocks noGrp="1"/>
          </p:cNvSpPr>
          <p:nvPr>
            <p:ph type="title"/>
          </p:nvPr>
        </p:nvSpPr>
        <p:spPr/>
        <p:txBody>
          <a:bodyPr/>
          <a:lstStyle/>
          <a:p>
            <a:r>
              <a:rPr lang="en-US" dirty="0"/>
              <a:t>Patent Overview (1/4)</a:t>
            </a:r>
          </a:p>
        </p:txBody>
      </p:sp>
      <p:sp>
        <p:nvSpPr>
          <p:cNvPr id="11" name="TextBox 10"/>
          <p:cNvSpPr txBox="1"/>
          <p:nvPr/>
        </p:nvSpPr>
        <p:spPr>
          <a:xfrm>
            <a:off x="229798" y="6205752"/>
            <a:ext cx="2282676" cy="153888"/>
          </a:xfrm>
          <a:prstGeom prst="rect">
            <a:avLst/>
          </a:prstGeom>
          <a:noFill/>
        </p:spPr>
        <p:txBody>
          <a:bodyPr wrap="none" lIns="0" tIns="0" rIns="0" bIns="0" rtlCol="0">
            <a:spAutoFit/>
          </a:bodyPr>
          <a:lstStyle/>
          <a:p>
            <a:pPr defTabSz="966537"/>
            <a:r>
              <a:rPr lang="en-US" sz="1000" dirty="0"/>
              <a:t>Source: TMR Analysis, 2024, Google Patents</a:t>
            </a:r>
          </a:p>
        </p:txBody>
      </p:sp>
      <p:pic>
        <p:nvPicPr>
          <p:cNvPr id="3" name="Picture 2"/>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152400" y="1111348"/>
            <a:ext cx="11863844" cy="5094404"/>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80</a:t>
            </a:fld>
            <a:endParaRPr lang="en-GB" dirty="0"/>
          </a:p>
        </p:txBody>
      </p:sp>
    </p:spTree>
    <p:extLst>
      <p:ext uri="{BB962C8B-B14F-4D97-AF65-F5344CB8AC3E}">
        <p14:creationId xmlns:p14="http://schemas.microsoft.com/office/powerpoint/2010/main" val="238046174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Porter’s and PEST Analysis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81</a:t>
            </a:r>
          </a:p>
        </p:txBody>
      </p:sp>
    </p:spTree>
    <p:extLst>
      <p:ext uri="{BB962C8B-B14F-4D97-AF65-F5344CB8AC3E}">
        <p14:creationId xmlns:p14="http://schemas.microsoft.com/office/powerpoint/2010/main" val="2115770765"/>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Porter’s Five Forces Analysis</a:t>
            </a:r>
          </a:p>
        </p:txBody>
      </p:sp>
      <p:sp>
        <p:nvSpPr>
          <p:cNvPr id="4" name="TextBox 3"/>
          <p:cNvSpPr txBox="1"/>
          <p:nvPr/>
        </p:nvSpPr>
        <p:spPr>
          <a:xfrm>
            <a:off x="50801" y="2732517"/>
            <a:ext cx="2387414" cy="292388"/>
          </a:xfrm>
          <a:prstGeom prst="rect">
            <a:avLst/>
          </a:prstGeom>
          <a:noFill/>
        </p:spPr>
        <p:txBody>
          <a:bodyPr wrap="square" rtlCol="0" anchor="ctr">
            <a:spAutoFit/>
          </a:bodyPr>
          <a:lstStyle/>
          <a:p>
            <a:pPr algn="ctr"/>
            <a:r>
              <a:rPr lang="en-US" sz="1300" b="1" dirty="0">
                <a:solidFill>
                  <a:prstClr val="black"/>
                </a:solidFill>
                <a:latin typeface="Calibri" panose="020F0502020204030204"/>
              </a:rPr>
              <a:t>Bargaining Power of Suppliers</a:t>
            </a:r>
          </a:p>
        </p:txBody>
      </p:sp>
      <p:sp>
        <p:nvSpPr>
          <p:cNvPr id="5" name="TextBox 4"/>
          <p:cNvSpPr txBox="1"/>
          <p:nvPr/>
        </p:nvSpPr>
        <p:spPr>
          <a:xfrm>
            <a:off x="4834063" y="2732517"/>
            <a:ext cx="2525572" cy="292388"/>
          </a:xfrm>
          <a:prstGeom prst="rect">
            <a:avLst/>
          </a:prstGeom>
          <a:noFill/>
        </p:spPr>
        <p:txBody>
          <a:bodyPr wrap="square" rtlCol="0" anchor="ctr">
            <a:spAutoFit/>
          </a:bodyPr>
          <a:lstStyle/>
          <a:p>
            <a:pPr algn="ctr"/>
            <a:r>
              <a:rPr lang="en-US" sz="1300" b="1" dirty="0">
                <a:solidFill>
                  <a:prstClr val="black"/>
                </a:solidFill>
                <a:latin typeface="Calibri" panose="020F0502020204030204"/>
              </a:rPr>
              <a:t>Intensity of Competition</a:t>
            </a:r>
          </a:p>
        </p:txBody>
      </p:sp>
      <p:sp>
        <p:nvSpPr>
          <p:cNvPr id="6" name="TextBox 5"/>
          <p:cNvSpPr txBox="1"/>
          <p:nvPr/>
        </p:nvSpPr>
        <p:spPr>
          <a:xfrm>
            <a:off x="7440652" y="2732517"/>
            <a:ext cx="2255477" cy="292388"/>
          </a:xfrm>
          <a:prstGeom prst="rect">
            <a:avLst/>
          </a:prstGeom>
          <a:noFill/>
        </p:spPr>
        <p:txBody>
          <a:bodyPr wrap="square" rtlCol="0" anchor="ctr">
            <a:spAutoFit/>
          </a:bodyPr>
          <a:lstStyle/>
          <a:p>
            <a:pPr algn="ctr"/>
            <a:r>
              <a:rPr lang="en-US" sz="1300" b="1" dirty="0">
                <a:solidFill>
                  <a:prstClr val="black"/>
                </a:solidFill>
                <a:latin typeface="Calibri" panose="020F0502020204030204"/>
              </a:rPr>
              <a:t>Threat of Substitutes</a:t>
            </a:r>
          </a:p>
        </p:txBody>
      </p:sp>
      <p:sp>
        <p:nvSpPr>
          <p:cNvPr id="7" name="TextBox 6"/>
          <p:cNvSpPr txBox="1"/>
          <p:nvPr/>
        </p:nvSpPr>
        <p:spPr>
          <a:xfrm>
            <a:off x="2519232" y="2732517"/>
            <a:ext cx="2233814" cy="292388"/>
          </a:xfrm>
          <a:prstGeom prst="rect">
            <a:avLst/>
          </a:prstGeom>
          <a:noFill/>
        </p:spPr>
        <p:txBody>
          <a:bodyPr wrap="square" rtlCol="0" anchor="ctr">
            <a:spAutoFit/>
          </a:bodyPr>
          <a:lstStyle/>
          <a:p>
            <a:pPr algn="ctr"/>
            <a:r>
              <a:rPr lang="en-US" sz="1300" b="1" dirty="0">
                <a:solidFill>
                  <a:prstClr val="black"/>
                </a:solidFill>
                <a:latin typeface="Calibri" panose="020F0502020204030204"/>
              </a:rPr>
              <a:t>Bargaining Power of Buyers</a:t>
            </a:r>
          </a:p>
        </p:txBody>
      </p:sp>
      <p:sp>
        <p:nvSpPr>
          <p:cNvPr id="8" name="TextBox 7"/>
          <p:cNvSpPr txBox="1"/>
          <p:nvPr/>
        </p:nvSpPr>
        <p:spPr>
          <a:xfrm>
            <a:off x="9777147" y="2732517"/>
            <a:ext cx="2215381" cy="292388"/>
          </a:xfrm>
          <a:prstGeom prst="rect">
            <a:avLst/>
          </a:prstGeom>
          <a:noFill/>
        </p:spPr>
        <p:txBody>
          <a:bodyPr wrap="square" rtlCol="0" anchor="ctr">
            <a:spAutoFit/>
          </a:bodyPr>
          <a:lstStyle/>
          <a:p>
            <a:pPr algn="ctr"/>
            <a:r>
              <a:rPr lang="en-US" sz="1300" b="1" dirty="0">
                <a:solidFill>
                  <a:prstClr val="black"/>
                </a:solidFill>
                <a:latin typeface="Calibri" panose="020F0502020204030204"/>
              </a:rPr>
              <a:t>Threat of  New Entrants</a:t>
            </a:r>
          </a:p>
        </p:txBody>
      </p:sp>
      <p:grpSp>
        <p:nvGrpSpPr>
          <p:cNvPr id="33" name="Group 32"/>
          <p:cNvGrpSpPr/>
          <p:nvPr/>
        </p:nvGrpSpPr>
        <p:grpSpPr>
          <a:xfrm>
            <a:off x="152399" y="1143001"/>
            <a:ext cx="11518885" cy="1506070"/>
            <a:chOff x="1031873" y="1290919"/>
            <a:chExt cx="9963973" cy="1506070"/>
          </a:xfrm>
        </p:grpSpPr>
        <p:sp>
          <p:nvSpPr>
            <p:cNvPr id="10" name="Oval 9"/>
            <p:cNvSpPr/>
            <p:nvPr/>
          </p:nvSpPr>
          <p:spPr>
            <a:xfrm>
              <a:off x="1031873" y="1290919"/>
              <a:ext cx="1562225" cy="1506070"/>
            </a:xfrm>
            <a:prstGeom prst="ellipse">
              <a:avLst/>
            </a:prstGeom>
            <a:solidFill>
              <a:schemeClr val="accent3">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 name="Oval 10"/>
            <p:cNvSpPr/>
            <p:nvPr/>
          </p:nvSpPr>
          <p:spPr>
            <a:xfrm>
              <a:off x="5419565" y="1290919"/>
              <a:ext cx="1562225" cy="1506070"/>
            </a:xfrm>
            <a:prstGeom prst="ellipse">
              <a:avLst/>
            </a:prstGeom>
            <a:solidFill>
              <a:schemeClr val="accent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2" name="Group 11"/>
            <p:cNvGrpSpPr/>
            <p:nvPr/>
          </p:nvGrpSpPr>
          <p:grpSpPr>
            <a:xfrm>
              <a:off x="5749240" y="1607642"/>
              <a:ext cx="902874" cy="872626"/>
              <a:chOff x="1665157" y="4168261"/>
              <a:chExt cx="449040" cy="445169"/>
            </a:xfrm>
            <a:solidFill>
              <a:schemeClr val="accent2"/>
            </a:solidFill>
          </p:grpSpPr>
          <p:sp>
            <p:nvSpPr>
              <p:cNvPr id="21" name="Freeform 21"/>
              <p:cNvSpPr>
                <a:spLocks/>
              </p:cNvSpPr>
              <p:nvPr/>
            </p:nvSpPr>
            <p:spPr bwMode="auto">
              <a:xfrm>
                <a:off x="1812256" y="4400523"/>
                <a:ext cx="65807" cy="67098"/>
              </a:xfrm>
              <a:custGeom>
                <a:avLst/>
                <a:gdLst>
                  <a:gd name="T0" fmla="*/ 414 w 415"/>
                  <a:gd name="T1" fmla="*/ 217 h 414"/>
                  <a:gd name="T2" fmla="*/ 412 w 415"/>
                  <a:gd name="T3" fmla="*/ 238 h 414"/>
                  <a:gd name="T4" fmla="*/ 405 w 415"/>
                  <a:gd name="T5" fmla="*/ 268 h 414"/>
                  <a:gd name="T6" fmla="*/ 389 w 415"/>
                  <a:gd name="T7" fmla="*/ 305 h 414"/>
                  <a:gd name="T8" fmla="*/ 367 w 415"/>
                  <a:gd name="T9" fmla="*/ 339 h 414"/>
                  <a:gd name="T10" fmla="*/ 339 w 415"/>
                  <a:gd name="T11" fmla="*/ 367 h 414"/>
                  <a:gd name="T12" fmla="*/ 306 w 415"/>
                  <a:gd name="T13" fmla="*/ 389 h 414"/>
                  <a:gd name="T14" fmla="*/ 269 w 415"/>
                  <a:gd name="T15" fmla="*/ 405 h 414"/>
                  <a:gd name="T16" fmla="*/ 239 w 415"/>
                  <a:gd name="T17" fmla="*/ 411 h 414"/>
                  <a:gd name="T18" fmla="*/ 218 w 415"/>
                  <a:gd name="T19" fmla="*/ 413 h 414"/>
                  <a:gd name="T20" fmla="*/ 197 w 415"/>
                  <a:gd name="T21" fmla="*/ 413 h 414"/>
                  <a:gd name="T22" fmla="*/ 176 w 415"/>
                  <a:gd name="T23" fmla="*/ 411 h 414"/>
                  <a:gd name="T24" fmla="*/ 145 w 415"/>
                  <a:gd name="T25" fmla="*/ 405 h 414"/>
                  <a:gd name="T26" fmla="*/ 109 w 415"/>
                  <a:gd name="T27" fmla="*/ 389 h 414"/>
                  <a:gd name="T28" fmla="*/ 76 w 415"/>
                  <a:gd name="T29" fmla="*/ 367 h 414"/>
                  <a:gd name="T30" fmla="*/ 48 w 415"/>
                  <a:gd name="T31" fmla="*/ 339 h 414"/>
                  <a:gd name="T32" fmla="*/ 25 w 415"/>
                  <a:gd name="T33" fmla="*/ 305 h 414"/>
                  <a:gd name="T34" fmla="*/ 10 w 415"/>
                  <a:gd name="T35" fmla="*/ 268 h 414"/>
                  <a:gd name="T36" fmla="*/ 3 w 415"/>
                  <a:gd name="T37" fmla="*/ 238 h 414"/>
                  <a:gd name="T38" fmla="*/ 0 w 415"/>
                  <a:gd name="T39" fmla="*/ 217 h 414"/>
                  <a:gd name="T40" fmla="*/ 0 w 415"/>
                  <a:gd name="T41" fmla="*/ 197 h 414"/>
                  <a:gd name="T42" fmla="*/ 3 w 415"/>
                  <a:gd name="T43" fmla="*/ 176 h 414"/>
                  <a:gd name="T44" fmla="*/ 10 w 415"/>
                  <a:gd name="T45" fmla="*/ 146 h 414"/>
                  <a:gd name="T46" fmla="*/ 25 w 415"/>
                  <a:gd name="T47" fmla="*/ 109 h 414"/>
                  <a:gd name="T48" fmla="*/ 48 w 415"/>
                  <a:gd name="T49" fmla="*/ 75 h 414"/>
                  <a:gd name="T50" fmla="*/ 76 w 415"/>
                  <a:gd name="T51" fmla="*/ 47 h 414"/>
                  <a:gd name="T52" fmla="*/ 109 w 415"/>
                  <a:gd name="T53" fmla="*/ 25 h 414"/>
                  <a:gd name="T54" fmla="*/ 145 w 415"/>
                  <a:gd name="T55" fmla="*/ 9 h 414"/>
                  <a:gd name="T56" fmla="*/ 176 w 415"/>
                  <a:gd name="T57" fmla="*/ 2 h 414"/>
                  <a:gd name="T58" fmla="*/ 197 w 415"/>
                  <a:gd name="T59" fmla="*/ 0 h 414"/>
                  <a:gd name="T60" fmla="*/ 218 w 415"/>
                  <a:gd name="T61" fmla="*/ 0 h 414"/>
                  <a:gd name="T62" fmla="*/ 239 w 415"/>
                  <a:gd name="T63" fmla="*/ 2 h 414"/>
                  <a:gd name="T64" fmla="*/ 269 w 415"/>
                  <a:gd name="T65" fmla="*/ 9 h 414"/>
                  <a:gd name="T66" fmla="*/ 306 w 415"/>
                  <a:gd name="T67" fmla="*/ 25 h 414"/>
                  <a:gd name="T68" fmla="*/ 339 w 415"/>
                  <a:gd name="T69" fmla="*/ 47 h 414"/>
                  <a:gd name="T70" fmla="*/ 367 w 415"/>
                  <a:gd name="T71" fmla="*/ 75 h 414"/>
                  <a:gd name="T72" fmla="*/ 389 w 415"/>
                  <a:gd name="T73" fmla="*/ 109 h 414"/>
                  <a:gd name="T74" fmla="*/ 405 w 415"/>
                  <a:gd name="T75" fmla="*/ 146 h 414"/>
                  <a:gd name="T76" fmla="*/ 412 w 415"/>
                  <a:gd name="T77" fmla="*/ 176 h 414"/>
                  <a:gd name="T78" fmla="*/ 414 w 415"/>
                  <a:gd name="T79" fmla="*/ 197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5" h="414">
                    <a:moveTo>
                      <a:pt x="415" y="207"/>
                    </a:moveTo>
                    <a:lnTo>
                      <a:pt x="414" y="217"/>
                    </a:lnTo>
                    <a:lnTo>
                      <a:pt x="414" y="228"/>
                    </a:lnTo>
                    <a:lnTo>
                      <a:pt x="412" y="238"/>
                    </a:lnTo>
                    <a:lnTo>
                      <a:pt x="411" y="248"/>
                    </a:lnTo>
                    <a:lnTo>
                      <a:pt x="405" y="268"/>
                    </a:lnTo>
                    <a:lnTo>
                      <a:pt x="398" y="288"/>
                    </a:lnTo>
                    <a:lnTo>
                      <a:pt x="389" y="305"/>
                    </a:lnTo>
                    <a:lnTo>
                      <a:pt x="379" y="323"/>
                    </a:lnTo>
                    <a:lnTo>
                      <a:pt x="367" y="339"/>
                    </a:lnTo>
                    <a:lnTo>
                      <a:pt x="354" y="353"/>
                    </a:lnTo>
                    <a:lnTo>
                      <a:pt x="339" y="367"/>
                    </a:lnTo>
                    <a:lnTo>
                      <a:pt x="323" y="379"/>
                    </a:lnTo>
                    <a:lnTo>
                      <a:pt x="306" y="389"/>
                    </a:lnTo>
                    <a:lnTo>
                      <a:pt x="288" y="398"/>
                    </a:lnTo>
                    <a:lnTo>
                      <a:pt x="269" y="405"/>
                    </a:lnTo>
                    <a:lnTo>
                      <a:pt x="249" y="410"/>
                    </a:lnTo>
                    <a:lnTo>
                      <a:pt x="239" y="411"/>
                    </a:lnTo>
                    <a:lnTo>
                      <a:pt x="228" y="413"/>
                    </a:lnTo>
                    <a:lnTo>
                      <a:pt x="218" y="413"/>
                    </a:lnTo>
                    <a:lnTo>
                      <a:pt x="208" y="414"/>
                    </a:lnTo>
                    <a:lnTo>
                      <a:pt x="197" y="413"/>
                    </a:lnTo>
                    <a:lnTo>
                      <a:pt x="186" y="413"/>
                    </a:lnTo>
                    <a:lnTo>
                      <a:pt x="176" y="411"/>
                    </a:lnTo>
                    <a:lnTo>
                      <a:pt x="166" y="410"/>
                    </a:lnTo>
                    <a:lnTo>
                      <a:pt x="145" y="405"/>
                    </a:lnTo>
                    <a:lnTo>
                      <a:pt x="127" y="398"/>
                    </a:lnTo>
                    <a:lnTo>
                      <a:pt x="109" y="389"/>
                    </a:lnTo>
                    <a:lnTo>
                      <a:pt x="92" y="379"/>
                    </a:lnTo>
                    <a:lnTo>
                      <a:pt x="76" y="367"/>
                    </a:lnTo>
                    <a:lnTo>
                      <a:pt x="62" y="353"/>
                    </a:lnTo>
                    <a:lnTo>
                      <a:pt x="48" y="339"/>
                    </a:lnTo>
                    <a:lnTo>
                      <a:pt x="36" y="323"/>
                    </a:lnTo>
                    <a:lnTo>
                      <a:pt x="25" y="305"/>
                    </a:lnTo>
                    <a:lnTo>
                      <a:pt x="17" y="288"/>
                    </a:lnTo>
                    <a:lnTo>
                      <a:pt x="10" y="268"/>
                    </a:lnTo>
                    <a:lnTo>
                      <a:pt x="5" y="248"/>
                    </a:lnTo>
                    <a:lnTo>
                      <a:pt x="3" y="238"/>
                    </a:lnTo>
                    <a:lnTo>
                      <a:pt x="1" y="228"/>
                    </a:lnTo>
                    <a:lnTo>
                      <a:pt x="0" y="217"/>
                    </a:lnTo>
                    <a:lnTo>
                      <a:pt x="0" y="207"/>
                    </a:lnTo>
                    <a:lnTo>
                      <a:pt x="0" y="197"/>
                    </a:lnTo>
                    <a:lnTo>
                      <a:pt x="1" y="186"/>
                    </a:lnTo>
                    <a:lnTo>
                      <a:pt x="3" y="176"/>
                    </a:lnTo>
                    <a:lnTo>
                      <a:pt x="5" y="166"/>
                    </a:lnTo>
                    <a:lnTo>
                      <a:pt x="10" y="146"/>
                    </a:lnTo>
                    <a:lnTo>
                      <a:pt x="17" y="126"/>
                    </a:lnTo>
                    <a:lnTo>
                      <a:pt x="25" y="109"/>
                    </a:lnTo>
                    <a:lnTo>
                      <a:pt x="36" y="91"/>
                    </a:lnTo>
                    <a:lnTo>
                      <a:pt x="48" y="75"/>
                    </a:lnTo>
                    <a:lnTo>
                      <a:pt x="62" y="61"/>
                    </a:lnTo>
                    <a:lnTo>
                      <a:pt x="76" y="47"/>
                    </a:lnTo>
                    <a:lnTo>
                      <a:pt x="92" y="35"/>
                    </a:lnTo>
                    <a:lnTo>
                      <a:pt x="109" y="25"/>
                    </a:lnTo>
                    <a:lnTo>
                      <a:pt x="127" y="16"/>
                    </a:lnTo>
                    <a:lnTo>
                      <a:pt x="145" y="9"/>
                    </a:lnTo>
                    <a:lnTo>
                      <a:pt x="166" y="4"/>
                    </a:lnTo>
                    <a:lnTo>
                      <a:pt x="176" y="2"/>
                    </a:lnTo>
                    <a:lnTo>
                      <a:pt x="186" y="1"/>
                    </a:lnTo>
                    <a:lnTo>
                      <a:pt x="197" y="0"/>
                    </a:lnTo>
                    <a:lnTo>
                      <a:pt x="208" y="0"/>
                    </a:lnTo>
                    <a:lnTo>
                      <a:pt x="218" y="0"/>
                    </a:lnTo>
                    <a:lnTo>
                      <a:pt x="228" y="1"/>
                    </a:lnTo>
                    <a:lnTo>
                      <a:pt x="239" y="2"/>
                    </a:lnTo>
                    <a:lnTo>
                      <a:pt x="249" y="4"/>
                    </a:lnTo>
                    <a:lnTo>
                      <a:pt x="269" y="9"/>
                    </a:lnTo>
                    <a:lnTo>
                      <a:pt x="288" y="16"/>
                    </a:lnTo>
                    <a:lnTo>
                      <a:pt x="306" y="25"/>
                    </a:lnTo>
                    <a:lnTo>
                      <a:pt x="323" y="35"/>
                    </a:lnTo>
                    <a:lnTo>
                      <a:pt x="339" y="47"/>
                    </a:lnTo>
                    <a:lnTo>
                      <a:pt x="354" y="61"/>
                    </a:lnTo>
                    <a:lnTo>
                      <a:pt x="367" y="75"/>
                    </a:lnTo>
                    <a:lnTo>
                      <a:pt x="379" y="91"/>
                    </a:lnTo>
                    <a:lnTo>
                      <a:pt x="389" y="109"/>
                    </a:lnTo>
                    <a:lnTo>
                      <a:pt x="398" y="126"/>
                    </a:lnTo>
                    <a:lnTo>
                      <a:pt x="405" y="146"/>
                    </a:lnTo>
                    <a:lnTo>
                      <a:pt x="411" y="166"/>
                    </a:lnTo>
                    <a:lnTo>
                      <a:pt x="412" y="176"/>
                    </a:lnTo>
                    <a:lnTo>
                      <a:pt x="414" y="186"/>
                    </a:lnTo>
                    <a:lnTo>
                      <a:pt x="414" y="197"/>
                    </a:lnTo>
                    <a:lnTo>
                      <a:pt x="415" y="2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2" name="Freeform 22"/>
              <p:cNvSpPr>
                <a:spLocks noEditPoints="1"/>
              </p:cNvSpPr>
              <p:nvPr/>
            </p:nvSpPr>
            <p:spPr bwMode="auto">
              <a:xfrm>
                <a:off x="1728384" y="4316650"/>
                <a:ext cx="233552" cy="233553"/>
              </a:xfrm>
              <a:custGeom>
                <a:avLst/>
                <a:gdLst>
                  <a:gd name="T0" fmla="*/ 1413 w 1451"/>
                  <a:gd name="T1" fmla="*/ 495 h 1451"/>
                  <a:gd name="T2" fmla="*/ 1184 w 1451"/>
                  <a:gd name="T3" fmla="*/ 624 h 1451"/>
                  <a:gd name="T4" fmla="*/ 1384 w 1451"/>
                  <a:gd name="T5" fmla="*/ 422 h 1451"/>
                  <a:gd name="T6" fmla="*/ 1447 w 1451"/>
                  <a:gd name="T7" fmla="*/ 647 h 1451"/>
                  <a:gd name="T8" fmla="*/ 1196 w 1451"/>
                  <a:gd name="T9" fmla="*/ 726 h 1451"/>
                  <a:gd name="T10" fmla="*/ 1434 w 1451"/>
                  <a:gd name="T11" fmla="*/ 571 h 1451"/>
                  <a:gd name="T12" fmla="*/ 1436 w 1451"/>
                  <a:gd name="T13" fmla="*/ 872 h 1451"/>
                  <a:gd name="T14" fmla="*/ 1379 w 1451"/>
                  <a:gd name="T15" fmla="*/ 1041 h 1451"/>
                  <a:gd name="T16" fmla="*/ 1285 w 1451"/>
                  <a:gd name="T17" fmla="*/ 1187 h 1451"/>
                  <a:gd name="T18" fmla="*/ 1088 w 1451"/>
                  <a:gd name="T19" fmla="*/ 1025 h 1451"/>
                  <a:gd name="T20" fmla="*/ 1149 w 1451"/>
                  <a:gd name="T21" fmla="*/ 930 h 1451"/>
                  <a:gd name="T22" fmla="*/ 1186 w 1451"/>
                  <a:gd name="T23" fmla="*/ 820 h 1451"/>
                  <a:gd name="T24" fmla="*/ 1451 w 1451"/>
                  <a:gd name="T25" fmla="*/ 726 h 1451"/>
                  <a:gd name="T26" fmla="*/ 1131 w 1451"/>
                  <a:gd name="T27" fmla="*/ 1328 h 1451"/>
                  <a:gd name="T28" fmla="*/ 975 w 1451"/>
                  <a:gd name="T29" fmla="*/ 1408 h 1451"/>
                  <a:gd name="T30" fmla="*/ 799 w 1451"/>
                  <a:gd name="T31" fmla="*/ 1448 h 1451"/>
                  <a:gd name="T32" fmla="*/ 773 w 1451"/>
                  <a:gd name="T33" fmla="*/ 1193 h 1451"/>
                  <a:gd name="T34" fmla="*/ 887 w 1451"/>
                  <a:gd name="T35" fmla="*/ 1167 h 1451"/>
                  <a:gd name="T36" fmla="*/ 989 w 1451"/>
                  <a:gd name="T37" fmla="*/ 1116 h 1451"/>
                  <a:gd name="T38" fmla="*/ 1238 w 1451"/>
                  <a:gd name="T39" fmla="*/ 1239 h 1451"/>
                  <a:gd name="T40" fmla="*/ 580 w 1451"/>
                  <a:gd name="T41" fmla="*/ 1437 h 1451"/>
                  <a:gd name="T42" fmla="*/ 411 w 1451"/>
                  <a:gd name="T43" fmla="*/ 1380 h 1451"/>
                  <a:gd name="T44" fmla="*/ 264 w 1451"/>
                  <a:gd name="T45" fmla="*/ 1285 h 1451"/>
                  <a:gd name="T46" fmla="*/ 426 w 1451"/>
                  <a:gd name="T47" fmla="*/ 1089 h 1451"/>
                  <a:gd name="T48" fmla="*/ 522 w 1451"/>
                  <a:gd name="T49" fmla="*/ 1150 h 1451"/>
                  <a:gd name="T50" fmla="*/ 630 w 1451"/>
                  <a:gd name="T51" fmla="*/ 1187 h 1451"/>
                  <a:gd name="T52" fmla="*/ 726 w 1451"/>
                  <a:gd name="T53" fmla="*/ 1451 h 1451"/>
                  <a:gd name="T54" fmla="*/ 124 w 1451"/>
                  <a:gd name="T55" fmla="*/ 1132 h 1451"/>
                  <a:gd name="T56" fmla="*/ 44 w 1451"/>
                  <a:gd name="T57" fmla="*/ 976 h 1451"/>
                  <a:gd name="T58" fmla="*/ 4 w 1451"/>
                  <a:gd name="T59" fmla="*/ 801 h 1451"/>
                  <a:gd name="T60" fmla="*/ 257 w 1451"/>
                  <a:gd name="T61" fmla="*/ 774 h 1451"/>
                  <a:gd name="T62" fmla="*/ 283 w 1451"/>
                  <a:gd name="T63" fmla="*/ 888 h 1451"/>
                  <a:gd name="T64" fmla="*/ 335 w 1451"/>
                  <a:gd name="T65" fmla="*/ 989 h 1451"/>
                  <a:gd name="T66" fmla="*/ 213 w 1451"/>
                  <a:gd name="T67" fmla="*/ 1239 h 1451"/>
                  <a:gd name="T68" fmla="*/ 15 w 1451"/>
                  <a:gd name="T69" fmla="*/ 580 h 1451"/>
                  <a:gd name="T70" fmla="*/ 71 w 1451"/>
                  <a:gd name="T71" fmla="*/ 411 h 1451"/>
                  <a:gd name="T72" fmla="*/ 165 w 1451"/>
                  <a:gd name="T73" fmla="*/ 264 h 1451"/>
                  <a:gd name="T74" fmla="*/ 363 w 1451"/>
                  <a:gd name="T75" fmla="*/ 427 h 1451"/>
                  <a:gd name="T76" fmla="*/ 302 w 1451"/>
                  <a:gd name="T77" fmla="*/ 522 h 1451"/>
                  <a:gd name="T78" fmla="*/ 265 w 1451"/>
                  <a:gd name="T79" fmla="*/ 631 h 1451"/>
                  <a:gd name="T80" fmla="*/ 0 w 1451"/>
                  <a:gd name="T81" fmla="*/ 726 h 1451"/>
                  <a:gd name="T82" fmla="*/ 320 w 1451"/>
                  <a:gd name="T83" fmla="*/ 124 h 1451"/>
                  <a:gd name="T84" fmla="*/ 476 w 1451"/>
                  <a:gd name="T85" fmla="*/ 44 h 1451"/>
                  <a:gd name="T86" fmla="*/ 651 w 1451"/>
                  <a:gd name="T87" fmla="*/ 4 h 1451"/>
                  <a:gd name="T88" fmla="*/ 677 w 1451"/>
                  <a:gd name="T89" fmla="*/ 258 h 1451"/>
                  <a:gd name="T90" fmla="*/ 564 w 1451"/>
                  <a:gd name="T91" fmla="*/ 285 h 1451"/>
                  <a:gd name="T92" fmla="*/ 463 w 1451"/>
                  <a:gd name="T93" fmla="*/ 336 h 1451"/>
                  <a:gd name="T94" fmla="*/ 213 w 1451"/>
                  <a:gd name="T95" fmla="*/ 213 h 1451"/>
                  <a:gd name="T96" fmla="*/ 804 w 1451"/>
                  <a:gd name="T97" fmla="*/ 5 h 1451"/>
                  <a:gd name="T98" fmla="*/ 827 w 1451"/>
                  <a:gd name="T99" fmla="*/ 267 h 1451"/>
                  <a:gd name="T100" fmla="*/ 726 w 1451"/>
                  <a:gd name="T101" fmla="*/ 0 h 1451"/>
                  <a:gd name="T102" fmla="*/ 957 w 1451"/>
                  <a:gd name="T103" fmla="*/ 38 h 1451"/>
                  <a:gd name="T104" fmla="*/ 922 w 1451"/>
                  <a:gd name="T105" fmla="*/ 299 h 1451"/>
                  <a:gd name="T106" fmla="*/ 881 w 1451"/>
                  <a:gd name="T107" fmla="*/ 17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51" h="1451">
                    <a:moveTo>
                      <a:pt x="1384" y="422"/>
                    </a:moveTo>
                    <a:lnTo>
                      <a:pt x="1392" y="440"/>
                    </a:lnTo>
                    <a:lnTo>
                      <a:pt x="1400" y="458"/>
                    </a:lnTo>
                    <a:lnTo>
                      <a:pt x="1406" y="476"/>
                    </a:lnTo>
                    <a:lnTo>
                      <a:pt x="1413" y="495"/>
                    </a:lnTo>
                    <a:lnTo>
                      <a:pt x="1420" y="514"/>
                    </a:lnTo>
                    <a:lnTo>
                      <a:pt x="1425" y="532"/>
                    </a:lnTo>
                    <a:lnTo>
                      <a:pt x="1430" y="551"/>
                    </a:lnTo>
                    <a:lnTo>
                      <a:pt x="1434" y="571"/>
                    </a:lnTo>
                    <a:lnTo>
                      <a:pt x="1184" y="624"/>
                    </a:lnTo>
                    <a:lnTo>
                      <a:pt x="1178" y="600"/>
                    </a:lnTo>
                    <a:lnTo>
                      <a:pt x="1171" y="576"/>
                    </a:lnTo>
                    <a:lnTo>
                      <a:pt x="1163" y="552"/>
                    </a:lnTo>
                    <a:lnTo>
                      <a:pt x="1152" y="529"/>
                    </a:lnTo>
                    <a:lnTo>
                      <a:pt x="1384" y="422"/>
                    </a:lnTo>
                    <a:close/>
                    <a:moveTo>
                      <a:pt x="1434" y="571"/>
                    </a:moveTo>
                    <a:lnTo>
                      <a:pt x="1438" y="589"/>
                    </a:lnTo>
                    <a:lnTo>
                      <a:pt x="1441" y="609"/>
                    </a:lnTo>
                    <a:lnTo>
                      <a:pt x="1444" y="628"/>
                    </a:lnTo>
                    <a:lnTo>
                      <a:pt x="1447" y="647"/>
                    </a:lnTo>
                    <a:lnTo>
                      <a:pt x="1449" y="667"/>
                    </a:lnTo>
                    <a:lnTo>
                      <a:pt x="1450" y="687"/>
                    </a:lnTo>
                    <a:lnTo>
                      <a:pt x="1451" y="706"/>
                    </a:lnTo>
                    <a:lnTo>
                      <a:pt x="1451" y="726"/>
                    </a:lnTo>
                    <a:lnTo>
                      <a:pt x="1196" y="726"/>
                    </a:lnTo>
                    <a:lnTo>
                      <a:pt x="1195" y="700"/>
                    </a:lnTo>
                    <a:lnTo>
                      <a:pt x="1193" y="674"/>
                    </a:lnTo>
                    <a:lnTo>
                      <a:pt x="1190" y="649"/>
                    </a:lnTo>
                    <a:lnTo>
                      <a:pt x="1184" y="624"/>
                    </a:lnTo>
                    <a:lnTo>
                      <a:pt x="1434" y="571"/>
                    </a:lnTo>
                    <a:close/>
                    <a:moveTo>
                      <a:pt x="1451" y="726"/>
                    </a:moveTo>
                    <a:lnTo>
                      <a:pt x="1450" y="763"/>
                    </a:lnTo>
                    <a:lnTo>
                      <a:pt x="1448" y="801"/>
                    </a:lnTo>
                    <a:lnTo>
                      <a:pt x="1442" y="837"/>
                    </a:lnTo>
                    <a:lnTo>
                      <a:pt x="1436" y="872"/>
                    </a:lnTo>
                    <a:lnTo>
                      <a:pt x="1428" y="907"/>
                    </a:lnTo>
                    <a:lnTo>
                      <a:pt x="1419" y="942"/>
                    </a:lnTo>
                    <a:lnTo>
                      <a:pt x="1407" y="976"/>
                    </a:lnTo>
                    <a:lnTo>
                      <a:pt x="1394" y="1009"/>
                    </a:lnTo>
                    <a:lnTo>
                      <a:pt x="1379" y="1041"/>
                    </a:lnTo>
                    <a:lnTo>
                      <a:pt x="1364" y="1072"/>
                    </a:lnTo>
                    <a:lnTo>
                      <a:pt x="1346" y="1102"/>
                    </a:lnTo>
                    <a:lnTo>
                      <a:pt x="1327" y="1132"/>
                    </a:lnTo>
                    <a:lnTo>
                      <a:pt x="1307" y="1160"/>
                    </a:lnTo>
                    <a:lnTo>
                      <a:pt x="1285" y="1187"/>
                    </a:lnTo>
                    <a:lnTo>
                      <a:pt x="1262" y="1214"/>
                    </a:lnTo>
                    <a:lnTo>
                      <a:pt x="1238" y="1239"/>
                    </a:lnTo>
                    <a:lnTo>
                      <a:pt x="1058" y="1059"/>
                    </a:lnTo>
                    <a:lnTo>
                      <a:pt x="1074" y="1042"/>
                    </a:lnTo>
                    <a:lnTo>
                      <a:pt x="1088" y="1025"/>
                    </a:lnTo>
                    <a:lnTo>
                      <a:pt x="1102" y="1008"/>
                    </a:lnTo>
                    <a:lnTo>
                      <a:pt x="1115" y="989"/>
                    </a:lnTo>
                    <a:lnTo>
                      <a:pt x="1128" y="969"/>
                    </a:lnTo>
                    <a:lnTo>
                      <a:pt x="1139" y="950"/>
                    </a:lnTo>
                    <a:lnTo>
                      <a:pt x="1149" y="930"/>
                    </a:lnTo>
                    <a:lnTo>
                      <a:pt x="1159" y="909"/>
                    </a:lnTo>
                    <a:lnTo>
                      <a:pt x="1167" y="888"/>
                    </a:lnTo>
                    <a:lnTo>
                      <a:pt x="1174" y="866"/>
                    </a:lnTo>
                    <a:lnTo>
                      <a:pt x="1180" y="843"/>
                    </a:lnTo>
                    <a:lnTo>
                      <a:pt x="1186" y="820"/>
                    </a:lnTo>
                    <a:lnTo>
                      <a:pt x="1190" y="798"/>
                    </a:lnTo>
                    <a:lnTo>
                      <a:pt x="1193" y="774"/>
                    </a:lnTo>
                    <a:lnTo>
                      <a:pt x="1195" y="750"/>
                    </a:lnTo>
                    <a:lnTo>
                      <a:pt x="1196" y="726"/>
                    </a:lnTo>
                    <a:lnTo>
                      <a:pt x="1451" y="726"/>
                    </a:lnTo>
                    <a:close/>
                    <a:moveTo>
                      <a:pt x="1238" y="1239"/>
                    </a:moveTo>
                    <a:lnTo>
                      <a:pt x="1213" y="1263"/>
                    </a:lnTo>
                    <a:lnTo>
                      <a:pt x="1187" y="1285"/>
                    </a:lnTo>
                    <a:lnTo>
                      <a:pt x="1160" y="1307"/>
                    </a:lnTo>
                    <a:lnTo>
                      <a:pt x="1131" y="1328"/>
                    </a:lnTo>
                    <a:lnTo>
                      <a:pt x="1102" y="1347"/>
                    </a:lnTo>
                    <a:lnTo>
                      <a:pt x="1072" y="1364"/>
                    </a:lnTo>
                    <a:lnTo>
                      <a:pt x="1039" y="1380"/>
                    </a:lnTo>
                    <a:lnTo>
                      <a:pt x="1007" y="1394"/>
                    </a:lnTo>
                    <a:lnTo>
                      <a:pt x="975" y="1408"/>
                    </a:lnTo>
                    <a:lnTo>
                      <a:pt x="941" y="1419"/>
                    </a:lnTo>
                    <a:lnTo>
                      <a:pt x="907" y="1428"/>
                    </a:lnTo>
                    <a:lnTo>
                      <a:pt x="872" y="1437"/>
                    </a:lnTo>
                    <a:lnTo>
                      <a:pt x="835" y="1443"/>
                    </a:lnTo>
                    <a:lnTo>
                      <a:pt x="799" y="1448"/>
                    </a:lnTo>
                    <a:lnTo>
                      <a:pt x="763" y="1450"/>
                    </a:lnTo>
                    <a:lnTo>
                      <a:pt x="726" y="1451"/>
                    </a:lnTo>
                    <a:lnTo>
                      <a:pt x="726" y="1196"/>
                    </a:lnTo>
                    <a:lnTo>
                      <a:pt x="749" y="1195"/>
                    </a:lnTo>
                    <a:lnTo>
                      <a:pt x="773" y="1193"/>
                    </a:lnTo>
                    <a:lnTo>
                      <a:pt x="797" y="1191"/>
                    </a:lnTo>
                    <a:lnTo>
                      <a:pt x="820" y="1187"/>
                    </a:lnTo>
                    <a:lnTo>
                      <a:pt x="843" y="1182"/>
                    </a:lnTo>
                    <a:lnTo>
                      <a:pt x="865" y="1175"/>
                    </a:lnTo>
                    <a:lnTo>
                      <a:pt x="887" y="1167"/>
                    </a:lnTo>
                    <a:lnTo>
                      <a:pt x="908" y="1159"/>
                    </a:lnTo>
                    <a:lnTo>
                      <a:pt x="930" y="1150"/>
                    </a:lnTo>
                    <a:lnTo>
                      <a:pt x="949" y="1139"/>
                    </a:lnTo>
                    <a:lnTo>
                      <a:pt x="969" y="1128"/>
                    </a:lnTo>
                    <a:lnTo>
                      <a:pt x="989" y="1116"/>
                    </a:lnTo>
                    <a:lnTo>
                      <a:pt x="1006" y="1103"/>
                    </a:lnTo>
                    <a:lnTo>
                      <a:pt x="1024" y="1089"/>
                    </a:lnTo>
                    <a:lnTo>
                      <a:pt x="1042" y="1074"/>
                    </a:lnTo>
                    <a:lnTo>
                      <a:pt x="1058" y="1059"/>
                    </a:lnTo>
                    <a:lnTo>
                      <a:pt x="1238" y="1239"/>
                    </a:lnTo>
                    <a:close/>
                    <a:moveTo>
                      <a:pt x="726" y="1451"/>
                    </a:moveTo>
                    <a:lnTo>
                      <a:pt x="688" y="1450"/>
                    </a:lnTo>
                    <a:lnTo>
                      <a:pt x="651" y="1448"/>
                    </a:lnTo>
                    <a:lnTo>
                      <a:pt x="615" y="1443"/>
                    </a:lnTo>
                    <a:lnTo>
                      <a:pt x="580" y="1437"/>
                    </a:lnTo>
                    <a:lnTo>
                      <a:pt x="544" y="1428"/>
                    </a:lnTo>
                    <a:lnTo>
                      <a:pt x="510" y="1419"/>
                    </a:lnTo>
                    <a:lnTo>
                      <a:pt x="476" y="1408"/>
                    </a:lnTo>
                    <a:lnTo>
                      <a:pt x="443" y="1394"/>
                    </a:lnTo>
                    <a:lnTo>
                      <a:pt x="411" y="1380"/>
                    </a:lnTo>
                    <a:lnTo>
                      <a:pt x="380" y="1364"/>
                    </a:lnTo>
                    <a:lnTo>
                      <a:pt x="350" y="1347"/>
                    </a:lnTo>
                    <a:lnTo>
                      <a:pt x="320" y="1328"/>
                    </a:lnTo>
                    <a:lnTo>
                      <a:pt x="292" y="1307"/>
                    </a:lnTo>
                    <a:lnTo>
                      <a:pt x="264" y="1285"/>
                    </a:lnTo>
                    <a:lnTo>
                      <a:pt x="238" y="1263"/>
                    </a:lnTo>
                    <a:lnTo>
                      <a:pt x="213" y="1239"/>
                    </a:lnTo>
                    <a:lnTo>
                      <a:pt x="393" y="1059"/>
                    </a:lnTo>
                    <a:lnTo>
                      <a:pt x="410" y="1074"/>
                    </a:lnTo>
                    <a:lnTo>
                      <a:pt x="426" y="1089"/>
                    </a:lnTo>
                    <a:lnTo>
                      <a:pt x="444" y="1103"/>
                    </a:lnTo>
                    <a:lnTo>
                      <a:pt x="463" y="1116"/>
                    </a:lnTo>
                    <a:lnTo>
                      <a:pt x="481" y="1128"/>
                    </a:lnTo>
                    <a:lnTo>
                      <a:pt x="501" y="1139"/>
                    </a:lnTo>
                    <a:lnTo>
                      <a:pt x="522" y="1150"/>
                    </a:lnTo>
                    <a:lnTo>
                      <a:pt x="542" y="1159"/>
                    </a:lnTo>
                    <a:lnTo>
                      <a:pt x="564" y="1167"/>
                    </a:lnTo>
                    <a:lnTo>
                      <a:pt x="586" y="1175"/>
                    </a:lnTo>
                    <a:lnTo>
                      <a:pt x="608" y="1182"/>
                    </a:lnTo>
                    <a:lnTo>
                      <a:pt x="630" y="1187"/>
                    </a:lnTo>
                    <a:lnTo>
                      <a:pt x="654" y="1191"/>
                    </a:lnTo>
                    <a:lnTo>
                      <a:pt x="677" y="1193"/>
                    </a:lnTo>
                    <a:lnTo>
                      <a:pt x="701" y="1195"/>
                    </a:lnTo>
                    <a:lnTo>
                      <a:pt x="726" y="1196"/>
                    </a:lnTo>
                    <a:lnTo>
                      <a:pt x="726" y="1451"/>
                    </a:lnTo>
                    <a:close/>
                    <a:moveTo>
                      <a:pt x="213" y="1239"/>
                    </a:moveTo>
                    <a:lnTo>
                      <a:pt x="188" y="1214"/>
                    </a:lnTo>
                    <a:lnTo>
                      <a:pt x="165" y="1187"/>
                    </a:lnTo>
                    <a:lnTo>
                      <a:pt x="145" y="1160"/>
                    </a:lnTo>
                    <a:lnTo>
                      <a:pt x="124" y="1132"/>
                    </a:lnTo>
                    <a:lnTo>
                      <a:pt x="105" y="1102"/>
                    </a:lnTo>
                    <a:lnTo>
                      <a:pt x="88" y="1072"/>
                    </a:lnTo>
                    <a:lnTo>
                      <a:pt x="71" y="1041"/>
                    </a:lnTo>
                    <a:lnTo>
                      <a:pt x="56" y="1009"/>
                    </a:lnTo>
                    <a:lnTo>
                      <a:pt x="44" y="976"/>
                    </a:lnTo>
                    <a:lnTo>
                      <a:pt x="33" y="942"/>
                    </a:lnTo>
                    <a:lnTo>
                      <a:pt x="22" y="907"/>
                    </a:lnTo>
                    <a:lnTo>
                      <a:pt x="15" y="872"/>
                    </a:lnTo>
                    <a:lnTo>
                      <a:pt x="8" y="837"/>
                    </a:lnTo>
                    <a:lnTo>
                      <a:pt x="4" y="801"/>
                    </a:lnTo>
                    <a:lnTo>
                      <a:pt x="1" y="763"/>
                    </a:lnTo>
                    <a:lnTo>
                      <a:pt x="0" y="726"/>
                    </a:lnTo>
                    <a:lnTo>
                      <a:pt x="255" y="726"/>
                    </a:lnTo>
                    <a:lnTo>
                      <a:pt x="256" y="750"/>
                    </a:lnTo>
                    <a:lnTo>
                      <a:pt x="257" y="774"/>
                    </a:lnTo>
                    <a:lnTo>
                      <a:pt x="261" y="798"/>
                    </a:lnTo>
                    <a:lnTo>
                      <a:pt x="265" y="820"/>
                    </a:lnTo>
                    <a:lnTo>
                      <a:pt x="270" y="843"/>
                    </a:lnTo>
                    <a:lnTo>
                      <a:pt x="276" y="866"/>
                    </a:lnTo>
                    <a:lnTo>
                      <a:pt x="283" y="888"/>
                    </a:lnTo>
                    <a:lnTo>
                      <a:pt x="293" y="909"/>
                    </a:lnTo>
                    <a:lnTo>
                      <a:pt x="302" y="930"/>
                    </a:lnTo>
                    <a:lnTo>
                      <a:pt x="312" y="950"/>
                    </a:lnTo>
                    <a:lnTo>
                      <a:pt x="324" y="969"/>
                    </a:lnTo>
                    <a:lnTo>
                      <a:pt x="335" y="989"/>
                    </a:lnTo>
                    <a:lnTo>
                      <a:pt x="349" y="1008"/>
                    </a:lnTo>
                    <a:lnTo>
                      <a:pt x="363" y="1025"/>
                    </a:lnTo>
                    <a:lnTo>
                      <a:pt x="378" y="1042"/>
                    </a:lnTo>
                    <a:lnTo>
                      <a:pt x="393" y="1059"/>
                    </a:lnTo>
                    <a:lnTo>
                      <a:pt x="213" y="1239"/>
                    </a:lnTo>
                    <a:close/>
                    <a:moveTo>
                      <a:pt x="0" y="726"/>
                    </a:moveTo>
                    <a:lnTo>
                      <a:pt x="1" y="689"/>
                    </a:lnTo>
                    <a:lnTo>
                      <a:pt x="4" y="651"/>
                    </a:lnTo>
                    <a:lnTo>
                      <a:pt x="8" y="615"/>
                    </a:lnTo>
                    <a:lnTo>
                      <a:pt x="15" y="580"/>
                    </a:lnTo>
                    <a:lnTo>
                      <a:pt x="22" y="545"/>
                    </a:lnTo>
                    <a:lnTo>
                      <a:pt x="33" y="511"/>
                    </a:lnTo>
                    <a:lnTo>
                      <a:pt x="44" y="476"/>
                    </a:lnTo>
                    <a:lnTo>
                      <a:pt x="56" y="443"/>
                    </a:lnTo>
                    <a:lnTo>
                      <a:pt x="71" y="411"/>
                    </a:lnTo>
                    <a:lnTo>
                      <a:pt x="88" y="380"/>
                    </a:lnTo>
                    <a:lnTo>
                      <a:pt x="105" y="350"/>
                    </a:lnTo>
                    <a:lnTo>
                      <a:pt x="124" y="320"/>
                    </a:lnTo>
                    <a:lnTo>
                      <a:pt x="145" y="292"/>
                    </a:lnTo>
                    <a:lnTo>
                      <a:pt x="165" y="264"/>
                    </a:lnTo>
                    <a:lnTo>
                      <a:pt x="188" y="238"/>
                    </a:lnTo>
                    <a:lnTo>
                      <a:pt x="213" y="213"/>
                    </a:lnTo>
                    <a:lnTo>
                      <a:pt x="393" y="393"/>
                    </a:lnTo>
                    <a:lnTo>
                      <a:pt x="378" y="410"/>
                    </a:lnTo>
                    <a:lnTo>
                      <a:pt x="363" y="427"/>
                    </a:lnTo>
                    <a:lnTo>
                      <a:pt x="349" y="444"/>
                    </a:lnTo>
                    <a:lnTo>
                      <a:pt x="335" y="463"/>
                    </a:lnTo>
                    <a:lnTo>
                      <a:pt x="324" y="483"/>
                    </a:lnTo>
                    <a:lnTo>
                      <a:pt x="312" y="502"/>
                    </a:lnTo>
                    <a:lnTo>
                      <a:pt x="302" y="522"/>
                    </a:lnTo>
                    <a:lnTo>
                      <a:pt x="293" y="543"/>
                    </a:lnTo>
                    <a:lnTo>
                      <a:pt x="283" y="564"/>
                    </a:lnTo>
                    <a:lnTo>
                      <a:pt x="276" y="586"/>
                    </a:lnTo>
                    <a:lnTo>
                      <a:pt x="270" y="609"/>
                    </a:lnTo>
                    <a:lnTo>
                      <a:pt x="265" y="631"/>
                    </a:lnTo>
                    <a:lnTo>
                      <a:pt x="261" y="655"/>
                    </a:lnTo>
                    <a:lnTo>
                      <a:pt x="257" y="678"/>
                    </a:lnTo>
                    <a:lnTo>
                      <a:pt x="256" y="702"/>
                    </a:lnTo>
                    <a:lnTo>
                      <a:pt x="255" y="726"/>
                    </a:lnTo>
                    <a:lnTo>
                      <a:pt x="0" y="726"/>
                    </a:lnTo>
                    <a:close/>
                    <a:moveTo>
                      <a:pt x="213" y="213"/>
                    </a:moveTo>
                    <a:lnTo>
                      <a:pt x="238" y="188"/>
                    </a:lnTo>
                    <a:lnTo>
                      <a:pt x="264" y="166"/>
                    </a:lnTo>
                    <a:lnTo>
                      <a:pt x="292" y="145"/>
                    </a:lnTo>
                    <a:lnTo>
                      <a:pt x="320" y="124"/>
                    </a:lnTo>
                    <a:lnTo>
                      <a:pt x="350" y="105"/>
                    </a:lnTo>
                    <a:lnTo>
                      <a:pt x="380" y="88"/>
                    </a:lnTo>
                    <a:lnTo>
                      <a:pt x="411" y="72"/>
                    </a:lnTo>
                    <a:lnTo>
                      <a:pt x="443" y="58"/>
                    </a:lnTo>
                    <a:lnTo>
                      <a:pt x="476" y="44"/>
                    </a:lnTo>
                    <a:lnTo>
                      <a:pt x="510" y="33"/>
                    </a:lnTo>
                    <a:lnTo>
                      <a:pt x="544" y="24"/>
                    </a:lnTo>
                    <a:lnTo>
                      <a:pt x="580" y="15"/>
                    </a:lnTo>
                    <a:lnTo>
                      <a:pt x="615" y="9"/>
                    </a:lnTo>
                    <a:lnTo>
                      <a:pt x="651" y="4"/>
                    </a:lnTo>
                    <a:lnTo>
                      <a:pt x="688" y="1"/>
                    </a:lnTo>
                    <a:lnTo>
                      <a:pt x="726" y="0"/>
                    </a:lnTo>
                    <a:lnTo>
                      <a:pt x="726" y="256"/>
                    </a:lnTo>
                    <a:lnTo>
                      <a:pt x="701" y="257"/>
                    </a:lnTo>
                    <a:lnTo>
                      <a:pt x="677" y="258"/>
                    </a:lnTo>
                    <a:lnTo>
                      <a:pt x="654" y="261"/>
                    </a:lnTo>
                    <a:lnTo>
                      <a:pt x="630" y="265"/>
                    </a:lnTo>
                    <a:lnTo>
                      <a:pt x="608" y="270"/>
                    </a:lnTo>
                    <a:lnTo>
                      <a:pt x="586" y="276"/>
                    </a:lnTo>
                    <a:lnTo>
                      <a:pt x="564" y="285"/>
                    </a:lnTo>
                    <a:lnTo>
                      <a:pt x="542" y="293"/>
                    </a:lnTo>
                    <a:lnTo>
                      <a:pt x="522" y="302"/>
                    </a:lnTo>
                    <a:lnTo>
                      <a:pt x="501" y="313"/>
                    </a:lnTo>
                    <a:lnTo>
                      <a:pt x="481" y="324"/>
                    </a:lnTo>
                    <a:lnTo>
                      <a:pt x="463" y="336"/>
                    </a:lnTo>
                    <a:lnTo>
                      <a:pt x="444" y="349"/>
                    </a:lnTo>
                    <a:lnTo>
                      <a:pt x="426" y="363"/>
                    </a:lnTo>
                    <a:lnTo>
                      <a:pt x="410" y="378"/>
                    </a:lnTo>
                    <a:lnTo>
                      <a:pt x="393" y="393"/>
                    </a:lnTo>
                    <a:lnTo>
                      <a:pt x="213" y="213"/>
                    </a:lnTo>
                    <a:close/>
                    <a:moveTo>
                      <a:pt x="726" y="0"/>
                    </a:moveTo>
                    <a:lnTo>
                      <a:pt x="745" y="1"/>
                    </a:lnTo>
                    <a:lnTo>
                      <a:pt x="765" y="2"/>
                    </a:lnTo>
                    <a:lnTo>
                      <a:pt x="785" y="3"/>
                    </a:lnTo>
                    <a:lnTo>
                      <a:pt x="804" y="5"/>
                    </a:lnTo>
                    <a:lnTo>
                      <a:pt x="824" y="7"/>
                    </a:lnTo>
                    <a:lnTo>
                      <a:pt x="843" y="10"/>
                    </a:lnTo>
                    <a:lnTo>
                      <a:pt x="862" y="13"/>
                    </a:lnTo>
                    <a:lnTo>
                      <a:pt x="881" y="17"/>
                    </a:lnTo>
                    <a:lnTo>
                      <a:pt x="827" y="267"/>
                    </a:lnTo>
                    <a:lnTo>
                      <a:pt x="802" y="262"/>
                    </a:lnTo>
                    <a:lnTo>
                      <a:pt x="777" y="259"/>
                    </a:lnTo>
                    <a:lnTo>
                      <a:pt x="752" y="257"/>
                    </a:lnTo>
                    <a:lnTo>
                      <a:pt x="726" y="256"/>
                    </a:lnTo>
                    <a:lnTo>
                      <a:pt x="726" y="0"/>
                    </a:lnTo>
                    <a:close/>
                    <a:moveTo>
                      <a:pt x="881" y="17"/>
                    </a:moveTo>
                    <a:lnTo>
                      <a:pt x="900" y="22"/>
                    </a:lnTo>
                    <a:lnTo>
                      <a:pt x="919" y="27"/>
                    </a:lnTo>
                    <a:lnTo>
                      <a:pt x="938" y="32"/>
                    </a:lnTo>
                    <a:lnTo>
                      <a:pt x="957" y="38"/>
                    </a:lnTo>
                    <a:lnTo>
                      <a:pt x="975" y="44"/>
                    </a:lnTo>
                    <a:lnTo>
                      <a:pt x="994" y="52"/>
                    </a:lnTo>
                    <a:lnTo>
                      <a:pt x="1011" y="59"/>
                    </a:lnTo>
                    <a:lnTo>
                      <a:pt x="1029" y="67"/>
                    </a:lnTo>
                    <a:lnTo>
                      <a:pt x="922" y="299"/>
                    </a:lnTo>
                    <a:lnTo>
                      <a:pt x="900" y="289"/>
                    </a:lnTo>
                    <a:lnTo>
                      <a:pt x="876" y="281"/>
                    </a:lnTo>
                    <a:lnTo>
                      <a:pt x="852" y="273"/>
                    </a:lnTo>
                    <a:lnTo>
                      <a:pt x="827" y="267"/>
                    </a:lnTo>
                    <a:lnTo>
                      <a:pt x="881"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3" name="Freeform 23"/>
              <p:cNvSpPr>
                <a:spLocks noEditPoints="1"/>
              </p:cNvSpPr>
              <p:nvPr/>
            </p:nvSpPr>
            <p:spPr bwMode="auto">
              <a:xfrm>
                <a:off x="1665157" y="4253424"/>
                <a:ext cx="360006" cy="360006"/>
              </a:xfrm>
              <a:custGeom>
                <a:avLst/>
                <a:gdLst>
                  <a:gd name="T0" fmla="*/ 2175 w 2233"/>
                  <a:gd name="T1" fmla="*/ 763 h 2234"/>
                  <a:gd name="T2" fmla="*/ 1914 w 2233"/>
                  <a:gd name="T3" fmla="*/ 791 h 2234"/>
                  <a:gd name="T4" fmla="*/ 2204 w 2233"/>
                  <a:gd name="T5" fmla="*/ 866 h 2234"/>
                  <a:gd name="T6" fmla="*/ 2233 w 2233"/>
                  <a:gd name="T7" fmla="*/ 1117 h 2234"/>
                  <a:gd name="T8" fmla="*/ 1962 w 2233"/>
                  <a:gd name="T9" fmla="*/ 949 h 2234"/>
                  <a:gd name="T10" fmla="*/ 2229 w 2233"/>
                  <a:gd name="T11" fmla="*/ 1203 h 2234"/>
                  <a:gd name="T12" fmla="*/ 2198 w 2233"/>
                  <a:gd name="T13" fmla="*/ 1396 h 2234"/>
                  <a:gd name="T14" fmla="*/ 2134 w 2233"/>
                  <a:gd name="T15" fmla="*/ 1576 h 2234"/>
                  <a:gd name="T16" fmla="*/ 2042 w 2233"/>
                  <a:gd name="T17" fmla="*/ 1742 h 2234"/>
                  <a:gd name="T18" fmla="*/ 1925 w 2233"/>
                  <a:gd name="T19" fmla="*/ 1888 h 2234"/>
                  <a:gd name="T20" fmla="*/ 1853 w 2233"/>
                  <a:gd name="T21" fmla="*/ 1564 h 2234"/>
                  <a:gd name="T22" fmla="*/ 1939 w 2233"/>
                  <a:gd name="T23" fmla="*/ 1373 h 2234"/>
                  <a:gd name="T24" fmla="*/ 1970 w 2233"/>
                  <a:gd name="T25" fmla="*/ 1227 h 2234"/>
                  <a:gd name="T26" fmla="*/ 1906 w 2233"/>
                  <a:gd name="T27" fmla="*/ 1906 h 2234"/>
                  <a:gd name="T28" fmla="*/ 1763 w 2233"/>
                  <a:gd name="T29" fmla="*/ 2028 h 2234"/>
                  <a:gd name="T30" fmla="*/ 1600 w 2233"/>
                  <a:gd name="T31" fmla="*/ 2123 h 2234"/>
                  <a:gd name="T32" fmla="*/ 1422 w 2233"/>
                  <a:gd name="T33" fmla="*/ 2191 h 2234"/>
                  <a:gd name="T34" fmla="*/ 1231 w 2233"/>
                  <a:gd name="T35" fmla="*/ 2228 h 2234"/>
                  <a:gd name="T36" fmla="*/ 1161 w 2233"/>
                  <a:gd name="T37" fmla="*/ 1977 h 2234"/>
                  <a:gd name="T38" fmla="*/ 1311 w 2233"/>
                  <a:gd name="T39" fmla="*/ 1956 h 2234"/>
                  <a:gd name="T40" fmla="*/ 1451 w 2233"/>
                  <a:gd name="T41" fmla="*/ 1911 h 2234"/>
                  <a:gd name="T42" fmla="*/ 1696 w 2233"/>
                  <a:gd name="T43" fmla="*/ 1754 h 2234"/>
                  <a:gd name="T44" fmla="*/ 1003 w 2233"/>
                  <a:gd name="T45" fmla="*/ 2228 h 2234"/>
                  <a:gd name="T46" fmla="*/ 811 w 2233"/>
                  <a:gd name="T47" fmla="*/ 2191 h 2234"/>
                  <a:gd name="T48" fmla="*/ 633 w 2233"/>
                  <a:gd name="T49" fmla="*/ 2123 h 2234"/>
                  <a:gd name="T50" fmla="*/ 470 w 2233"/>
                  <a:gd name="T51" fmla="*/ 2028 h 2234"/>
                  <a:gd name="T52" fmla="*/ 327 w 2233"/>
                  <a:gd name="T53" fmla="*/ 1906 h 2234"/>
                  <a:gd name="T54" fmla="*/ 706 w 2233"/>
                  <a:gd name="T55" fmla="*/ 1874 h 2234"/>
                  <a:gd name="T56" fmla="*/ 880 w 2233"/>
                  <a:gd name="T57" fmla="*/ 1946 h 2234"/>
                  <a:gd name="T58" fmla="*/ 1029 w 2233"/>
                  <a:gd name="T59" fmla="*/ 1974 h 2234"/>
                  <a:gd name="T60" fmla="*/ 309 w 2233"/>
                  <a:gd name="T61" fmla="*/ 1888 h 2234"/>
                  <a:gd name="T62" fmla="*/ 191 w 2233"/>
                  <a:gd name="T63" fmla="*/ 1742 h 2234"/>
                  <a:gd name="T64" fmla="*/ 98 w 2233"/>
                  <a:gd name="T65" fmla="*/ 1576 h 2234"/>
                  <a:gd name="T66" fmla="*/ 35 w 2233"/>
                  <a:gd name="T67" fmla="*/ 1396 h 2234"/>
                  <a:gd name="T68" fmla="*/ 3 w 2233"/>
                  <a:gd name="T69" fmla="*/ 1203 h 2234"/>
                  <a:gd name="T70" fmla="*/ 258 w 2233"/>
                  <a:gd name="T71" fmla="*/ 1183 h 2234"/>
                  <a:gd name="T72" fmla="*/ 283 w 2233"/>
                  <a:gd name="T73" fmla="*/ 1333 h 2234"/>
                  <a:gd name="T74" fmla="*/ 341 w 2233"/>
                  <a:gd name="T75" fmla="*/ 1490 h 2234"/>
                  <a:gd name="T76" fmla="*/ 508 w 2233"/>
                  <a:gd name="T77" fmla="*/ 1726 h 2234"/>
                  <a:gd name="T78" fmla="*/ 9 w 2233"/>
                  <a:gd name="T79" fmla="*/ 975 h 2234"/>
                  <a:gd name="T80" fmla="*/ 50 w 2233"/>
                  <a:gd name="T81" fmla="*/ 784 h 2234"/>
                  <a:gd name="T82" fmla="*/ 122 w 2233"/>
                  <a:gd name="T83" fmla="*/ 608 h 2234"/>
                  <a:gd name="T84" fmla="*/ 222 w 2233"/>
                  <a:gd name="T85" fmla="*/ 449 h 2234"/>
                  <a:gd name="T86" fmla="*/ 508 w 2233"/>
                  <a:gd name="T87" fmla="*/ 508 h 2234"/>
                  <a:gd name="T88" fmla="*/ 341 w 2233"/>
                  <a:gd name="T89" fmla="*/ 744 h 2234"/>
                  <a:gd name="T90" fmla="*/ 283 w 2233"/>
                  <a:gd name="T91" fmla="*/ 902 h 2234"/>
                  <a:gd name="T92" fmla="*/ 258 w 2233"/>
                  <a:gd name="T93" fmla="*/ 1051 h 2234"/>
                  <a:gd name="T94" fmla="*/ 366 w 2233"/>
                  <a:gd name="T95" fmla="*/ 290 h 2234"/>
                  <a:gd name="T96" fmla="*/ 515 w 2233"/>
                  <a:gd name="T97" fmla="*/ 176 h 2234"/>
                  <a:gd name="T98" fmla="*/ 682 w 2233"/>
                  <a:gd name="T99" fmla="*/ 88 h 2234"/>
                  <a:gd name="T100" fmla="*/ 864 w 2233"/>
                  <a:gd name="T101" fmla="*/ 29 h 2234"/>
                  <a:gd name="T102" fmla="*/ 1059 w 2233"/>
                  <a:gd name="T103" fmla="*/ 2 h 2234"/>
                  <a:gd name="T104" fmla="*/ 1029 w 2233"/>
                  <a:gd name="T105" fmla="*/ 260 h 2234"/>
                  <a:gd name="T106" fmla="*/ 880 w 2233"/>
                  <a:gd name="T107" fmla="*/ 288 h 2234"/>
                  <a:gd name="T108" fmla="*/ 706 w 2233"/>
                  <a:gd name="T109" fmla="*/ 360 h 2234"/>
                  <a:gd name="T110" fmla="*/ 327 w 2233"/>
                  <a:gd name="T111" fmla="*/ 328 h 2234"/>
                  <a:gd name="T112" fmla="*/ 1332 w 2233"/>
                  <a:gd name="T113" fmla="*/ 21 h 2234"/>
                  <a:gd name="T114" fmla="*/ 1230 w 2233"/>
                  <a:gd name="T115" fmla="*/ 263 h 2234"/>
                  <a:gd name="T116" fmla="*/ 1437 w 2233"/>
                  <a:gd name="T117" fmla="*/ 47 h 2234"/>
                  <a:gd name="T118" fmla="*/ 1668 w 2233"/>
                  <a:gd name="T119" fmla="*/ 146 h 2234"/>
                  <a:gd name="T120" fmla="*/ 1390 w 2233"/>
                  <a:gd name="T121" fmla="*/ 300 h 2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33" h="2234">
                    <a:moveTo>
                      <a:pt x="2087" y="566"/>
                    </a:moveTo>
                    <a:lnTo>
                      <a:pt x="2105" y="598"/>
                    </a:lnTo>
                    <a:lnTo>
                      <a:pt x="2120" y="629"/>
                    </a:lnTo>
                    <a:lnTo>
                      <a:pt x="2136" y="662"/>
                    </a:lnTo>
                    <a:lnTo>
                      <a:pt x="2150" y="695"/>
                    </a:lnTo>
                    <a:lnTo>
                      <a:pt x="2163" y="729"/>
                    </a:lnTo>
                    <a:lnTo>
                      <a:pt x="2175" y="763"/>
                    </a:lnTo>
                    <a:lnTo>
                      <a:pt x="2186" y="797"/>
                    </a:lnTo>
                    <a:lnTo>
                      <a:pt x="2196" y="832"/>
                    </a:lnTo>
                    <a:lnTo>
                      <a:pt x="1949" y="896"/>
                    </a:lnTo>
                    <a:lnTo>
                      <a:pt x="1942" y="869"/>
                    </a:lnTo>
                    <a:lnTo>
                      <a:pt x="1933" y="844"/>
                    </a:lnTo>
                    <a:lnTo>
                      <a:pt x="1924" y="817"/>
                    </a:lnTo>
                    <a:lnTo>
                      <a:pt x="1914" y="791"/>
                    </a:lnTo>
                    <a:lnTo>
                      <a:pt x="1903" y="766"/>
                    </a:lnTo>
                    <a:lnTo>
                      <a:pt x="1891" y="741"/>
                    </a:lnTo>
                    <a:lnTo>
                      <a:pt x="1879" y="716"/>
                    </a:lnTo>
                    <a:lnTo>
                      <a:pt x="1866" y="692"/>
                    </a:lnTo>
                    <a:lnTo>
                      <a:pt x="2087" y="566"/>
                    </a:lnTo>
                    <a:close/>
                    <a:moveTo>
                      <a:pt x="2196" y="832"/>
                    </a:moveTo>
                    <a:lnTo>
                      <a:pt x="2204" y="866"/>
                    </a:lnTo>
                    <a:lnTo>
                      <a:pt x="2211" y="902"/>
                    </a:lnTo>
                    <a:lnTo>
                      <a:pt x="2218" y="937"/>
                    </a:lnTo>
                    <a:lnTo>
                      <a:pt x="2223" y="972"/>
                    </a:lnTo>
                    <a:lnTo>
                      <a:pt x="2227" y="1008"/>
                    </a:lnTo>
                    <a:lnTo>
                      <a:pt x="2230" y="1044"/>
                    </a:lnTo>
                    <a:lnTo>
                      <a:pt x="2232" y="1081"/>
                    </a:lnTo>
                    <a:lnTo>
                      <a:pt x="2233" y="1117"/>
                    </a:lnTo>
                    <a:lnTo>
                      <a:pt x="1977" y="1117"/>
                    </a:lnTo>
                    <a:lnTo>
                      <a:pt x="1977" y="1088"/>
                    </a:lnTo>
                    <a:lnTo>
                      <a:pt x="1975" y="1060"/>
                    </a:lnTo>
                    <a:lnTo>
                      <a:pt x="1973" y="1032"/>
                    </a:lnTo>
                    <a:lnTo>
                      <a:pt x="1970" y="1004"/>
                    </a:lnTo>
                    <a:lnTo>
                      <a:pt x="1966" y="977"/>
                    </a:lnTo>
                    <a:lnTo>
                      <a:pt x="1962" y="949"/>
                    </a:lnTo>
                    <a:lnTo>
                      <a:pt x="1956" y="923"/>
                    </a:lnTo>
                    <a:lnTo>
                      <a:pt x="1949" y="896"/>
                    </a:lnTo>
                    <a:lnTo>
                      <a:pt x="2196" y="832"/>
                    </a:lnTo>
                    <a:close/>
                    <a:moveTo>
                      <a:pt x="2233" y="1117"/>
                    </a:moveTo>
                    <a:lnTo>
                      <a:pt x="2232" y="1146"/>
                    </a:lnTo>
                    <a:lnTo>
                      <a:pt x="2231" y="1174"/>
                    </a:lnTo>
                    <a:lnTo>
                      <a:pt x="2229" y="1203"/>
                    </a:lnTo>
                    <a:lnTo>
                      <a:pt x="2227" y="1231"/>
                    </a:lnTo>
                    <a:lnTo>
                      <a:pt x="2224" y="1259"/>
                    </a:lnTo>
                    <a:lnTo>
                      <a:pt x="2220" y="1287"/>
                    </a:lnTo>
                    <a:lnTo>
                      <a:pt x="2216" y="1315"/>
                    </a:lnTo>
                    <a:lnTo>
                      <a:pt x="2210" y="1342"/>
                    </a:lnTo>
                    <a:lnTo>
                      <a:pt x="2204" y="1369"/>
                    </a:lnTo>
                    <a:lnTo>
                      <a:pt x="2198" y="1396"/>
                    </a:lnTo>
                    <a:lnTo>
                      <a:pt x="2191" y="1423"/>
                    </a:lnTo>
                    <a:lnTo>
                      <a:pt x="2182" y="1449"/>
                    </a:lnTo>
                    <a:lnTo>
                      <a:pt x="2174" y="1475"/>
                    </a:lnTo>
                    <a:lnTo>
                      <a:pt x="2165" y="1501"/>
                    </a:lnTo>
                    <a:lnTo>
                      <a:pt x="2156" y="1526"/>
                    </a:lnTo>
                    <a:lnTo>
                      <a:pt x="2145" y="1551"/>
                    </a:lnTo>
                    <a:lnTo>
                      <a:pt x="2134" y="1576"/>
                    </a:lnTo>
                    <a:lnTo>
                      <a:pt x="2122" y="1601"/>
                    </a:lnTo>
                    <a:lnTo>
                      <a:pt x="2111" y="1626"/>
                    </a:lnTo>
                    <a:lnTo>
                      <a:pt x="2098" y="1650"/>
                    </a:lnTo>
                    <a:lnTo>
                      <a:pt x="2085" y="1672"/>
                    </a:lnTo>
                    <a:lnTo>
                      <a:pt x="2072" y="1696"/>
                    </a:lnTo>
                    <a:lnTo>
                      <a:pt x="2057" y="1719"/>
                    </a:lnTo>
                    <a:lnTo>
                      <a:pt x="2042" y="1742"/>
                    </a:lnTo>
                    <a:lnTo>
                      <a:pt x="2027" y="1763"/>
                    </a:lnTo>
                    <a:lnTo>
                      <a:pt x="2011" y="1785"/>
                    </a:lnTo>
                    <a:lnTo>
                      <a:pt x="1995" y="1806"/>
                    </a:lnTo>
                    <a:lnTo>
                      <a:pt x="1977" y="1828"/>
                    </a:lnTo>
                    <a:lnTo>
                      <a:pt x="1961" y="1847"/>
                    </a:lnTo>
                    <a:lnTo>
                      <a:pt x="1943" y="1868"/>
                    </a:lnTo>
                    <a:lnTo>
                      <a:pt x="1925" y="1888"/>
                    </a:lnTo>
                    <a:lnTo>
                      <a:pt x="1906" y="1906"/>
                    </a:lnTo>
                    <a:lnTo>
                      <a:pt x="1726" y="1726"/>
                    </a:lnTo>
                    <a:lnTo>
                      <a:pt x="1754" y="1696"/>
                    </a:lnTo>
                    <a:lnTo>
                      <a:pt x="1781" y="1665"/>
                    </a:lnTo>
                    <a:lnTo>
                      <a:pt x="1806" y="1632"/>
                    </a:lnTo>
                    <a:lnTo>
                      <a:pt x="1830" y="1599"/>
                    </a:lnTo>
                    <a:lnTo>
                      <a:pt x="1853" y="1564"/>
                    </a:lnTo>
                    <a:lnTo>
                      <a:pt x="1874" y="1527"/>
                    </a:lnTo>
                    <a:lnTo>
                      <a:pt x="1892" y="1490"/>
                    </a:lnTo>
                    <a:lnTo>
                      <a:pt x="1910" y="1453"/>
                    </a:lnTo>
                    <a:lnTo>
                      <a:pt x="1917" y="1433"/>
                    </a:lnTo>
                    <a:lnTo>
                      <a:pt x="1926" y="1413"/>
                    </a:lnTo>
                    <a:lnTo>
                      <a:pt x="1932" y="1394"/>
                    </a:lnTo>
                    <a:lnTo>
                      <a:pt x="1939" y="1373"/>
                    </a:lnTo>
                    <a:lnTo>
                      <a:pt x="1944" y="1353"/>
                    </a:lnTo>
                    <a:lnTo>
                      <a:pt x="1950" y="1333"/>
                    </a:lnTo>
                    <a:lnTo>
                      <a:pt x="1956" y="1312"/>
                    </a:lnTo>
                    <a:lnTo>
                      <a:pt x="1960" y="1290"/>
                    </a:lnTo>
                    <a:lnTo>
                      <a:pt x="1964" y="1269"/>
                    </a:lnTo>
                    <a:lnTo>
                      <a:pt x="1967" y="1249"/>
                    </a:lnTo>
                    <a:lnTo>
                      <a:pt x="1970" y="1227"/>
                    </a:lnTo>
                    <a:lnTo>
                      <a:pt x="1973" y="1205"/>
                    </a:lnTo>
                    <a:lnTo>
                      <a:pt x="1975" y="1183"/>
                    </a:lnTo>
                    <a:lnTo>
                      <a:pt x="1976" y="1162"/>
                    </a:lnTo>
                    <a:lnTo>
                      <a:pt x="1977" y="1139"/>
                    </a:lnTo>
                    <a:lnTo>
                      <a:pt x="1977" y="1117"/>
                    </a:lnTo>
                    <a:lnTo>
                      <a:pt x="2233" y="1117"/>
                    </a:lnTo>
                    <a:close/>
                    <a:moveTo>
                      <a:pt x="1906" y="1906"/>
                    </a:moveTo>
                    <a:lnTo>
                      <a:pt x="1886" y="1925"/>
                    </a:lnTo>
                    <a:lnTo>
                      <a:pt x="1867" y="1944"/>
                    </a:lnTo>
                    <a:lnTo>
                      <a:pt x="1847" y="1961"/>
                    </a:lnTo>
                    <a:lnTo>
                      <a:pt x="1826" y="1979"/>
                    </a:lnTo>
                    <a:lnTo>
                      <a:pt x="1805" y="1996"/>
                    </a:lnTo>
                    <a:lnTo>
                      <a:pt x="1785" y="2012"/>
                    </a:lnTo>
                    <a:lnTo>
                      <a:pt x="1763" y="2028"/>
                    </a:lnTo>
                    <a:lnTo>
                      <a:pt x="1740" y="2043"/>
                    </a:lnTo>
                    <a:lnTo>
                      <a:pt x="1718" y="2058"/>
                    </a:lnTo>
                    <a:lnTo>
                      <a:pt x="1696" y="2072"/>
                    </a:lnTo>
                    <a:lnTo>
                      <a:pt x="1672" y="2086"/>
                    </a:lnTo>
                    <a:lnTo>
                      <a:pt x="1649" y="2099"/>
                    </a:lnTo>
                    <a:lnTo>
                      <a:pt x="1624" y="2112"/>
                    </a:lnTo>
                    <a:lnTo>
                      <a:pt x="1600" y="2123"/>
                    </a:lnTo>
                    <a:lnTo>
                      <a:pt x="1575" y="2135"/>
                    </a:lnTo>
                    <a:lnTo>
                      <a:pt x="1551" y="2146"/>
                    </a:lnTo>
                    <a:lnTo>
                      <a:pt x="1526" y="2156"/>
                    </a:lnTo>
                    <a:lnTo>
                      <a:pt x="1500" y="2165"/>
                    </a:lnTo>
                    <a:lnTo>
                      <a:pt x="1474" y="2175"/>
                    </a:lnTo>
                    <a:lnTo>
                      <a:pt x="1448" y="2183"/>
                    </a:lnTo>
                    <a:lnTo>
                      <a:pt x="1422" y="2191"/>
                    </a:lnTo>
                    <a:lnTo>
                      <a:pt x="1395" y="2199"/>
                    </a:lnTo>
                    <a:lnTo>
                      <a:pt x="1368" y="2205"/>
                    </a:lnTo>
                    <a:lnTo>
                      <a:pt x="1341" y="2211"/>
                    </a:lnTo>
                    <a:lnTo>
                      <a:pt x="1314" y="2216"/>
                    </a:lnTo>
                    <a:lnTo>
                      <a:pt x="1286" y="2220"/>
                    </a:lnTo>
                    <a:lnTo>
                      <a:pt x="1259" y="2225"/>
                    </a:lnTo>
                    <a:lnTo>
                      <a:pt x="1231" y="2228"/>
                    </a:lnTo>
                    <a:lnTo>
                      <a:pt x="1203" y="2231"/>
                    </a:lnTo>
                    <a:lnTo>
                      <a:pt x="1174" y="2232"/>
                    </a:lnTo>
                    <a:lnTo>
                      <a:pt x="1146" y="2233"/>
                    </a:lnTo>
                    <a:lnTo>
                      <a:pt x="1117" y="2234"/>
                    </a:lnTo>
                    <a:lnTo>
                      <a:pt x="1117" y="1978"/>
                    </a:lnTo>
                    <a:lnTo>
                      <a:pt x="1138" y="1978"/>
                    </a:lnTo>
                    <a:lnTo>
                      <a:pt x="1161" y="1977"/>
                    </a:lnTo>
                    <a:lnTo>
                      <a:pt x="1183" y="1976"/>
                    </a:lnTo>
                    <a:lnTo>
                      <a:pt x="1205" y="1974"/>
                    </a:lnTo>
                    <a:lnTo>
                      <a:pt x="1226" y="1972"/>
                    </a:lnTo>
                    <a:lnTo>
                      <a:pt x="1247" y="1969"/>
                    </a:lnTo>
                    <a:lnTo>
                      <a:pt x="1269" y="1964"/>
                    </a:lnTo>
                    <a:lnTo>
                      <a:pt x="1290" y="1960"/>
                    </a:lnTo>
                    <a:lnTo>
                      <a:pt x="1311" y="1956"/>
                    </a:lnTo>
                    <a:lnTo>
                      <a:pt x="1332" y="1951"/>
                    </a:lnTo>
                    <a:lnTo>
                      <a:pt x="1352" y="1946"/>
                    </a:lnTo>
                    <a:lnTo>
                      <a:pt x="1372" y="1940"/>
                    </a:lnTo>
                    <a:lnTo>
                      <a:pt x="1392" y="1932"/>
                    </a:lnTo>
                    <a:lnTo>
                      <a:pt x="1413" y="1926"/>
                    </a:lnTo>
                    <a:lnTo>
                      <a:pt x="1433" y="1919"/>
                    </a:lnTo>
                    <a:lnTo>
                      <a:pt x="1451" y="1911"/>
                    </a:lnTo>
                    <a:lnTo>
                      <a:pt x="1490" y="1893"/>
                    </a:lnTo>
                    <a:lnTo>
                      <a:pt x="1527" y="1874"/>
                    </a:lnTo>
                    <a:lnTo>
                      <a:pt x="1563" y="1854"/>
                    </a:lnTo>
                    <a:lnTo>
                      <a:pt x="1598" y="1831"/>
                    </a:lnTo>
                    <a:lnTo>
                      <a:pt x="1631" y="1807"/>
                    </a:lnTo>
                    <a:lnTo>
                      <a:pt x="1665" y="1781"/>
                    </a:lnTo>
                    <a:lnTo>
                      <a:pt x="1696" y="1754"/>
                    </a:lnTo>
                    <a:lnTo>
                      <a:pt x="1726" y="1726"/>
                    </a:lnTo>
                    <a:lnTo>
                      <a:pt x="1906" y="1906"/>
                    </a:lnTo>
                    <a:close/>
                    <a:moveTo>
                      <a:pt x="1117" y="2234"/>
                    </a:moveTo>
                    <a:lnTo>
                      <a:pt x="1088" y="2233"/>
                    </a:lnTo>
                    <a:lnTo>
                      <a:pt x="1059" y="2232"/>
                    </a:lnTo>
                    <a:lnTo>
                      <a:pt x="1031" y="2231"/>
                    </a:lnTo>
                    <a:lnTo>
                      <a:pt x="1003" y="2228"/>
                    </a:lnTo>
                    <a:lnTo>
                      <a:pt x="975" y="2225"/>
                    </a:lnTo>
                    <a:lnTo>
                      <a:pt x="947" y="2220"/>
                    </a:lnTo>
                    <a:lnTo>
                      <a:pt x="919" y="2216"/>
                    </a:lnTo>
                    <a:lnTo>
                      <a:pt x="892" y="2211"/>
                    </a:lnTo>
                    <a:lnTo>
                      <a:pt x="864" y="2205"/>
                    </a:lnTo>
                    <a:lnTo>
                      <a:pt x="837" y="2199"/>
                    </a:lnTo>
                    <a:lnTo>
                      <a:pt x="811" y="2191"/>
                    </a:lnTo>
                    <a:lnTo>
                      <a:pt x="784" y="2183"/>
                    </a:lnTo>
                    <a:lnTo>
                      <a:pt x="758" y="2175"/>
                    </a:lnTo>
                    <a:lnTo>
                      <a:pt x="732" y="2165"/>
                    </a:lnTo>
                    <a:lnTo>
                      <a:pt x="707" y="2156"/>
                    </a:lnTo>
                    <a:lnTo>
                      <a:pt x="682" y="2146"/>
                    </a:lnTo>
                    <a:lnTo>
                      <a:pt x="657" y="2135"/>
                    </a:lnTo>
                    <a:lnTo>
                      <a:pt x="633" y="2123"/>
                    </a:lnTo>
                    <a:lnTo>
                      <a:pt x="608" y="2112"/>
                    </a:lnTo>
                    <a:lnTo>
                      <a:pt x="584" y="2099"/>
                    </a:lnTo>
                    <a:lnTo>
                      <a:pt x="560" y="2086"/>
                    </a:lnTo>
                    <a:lnTo>
                      <a:pt x="538" y="2072"/>
                    </a:lnTo>
                    <a:lnTo>
                      <a:pt x="515" y="2058"/>
                    </a:lnTo>
                    <a:lnTo>
                      <a:pt x="492" y="2043"/>
                    </a:lnTo>
                    <a:lnTo>
                      <a:pt x="470" y="2028"/>
                    </a:lnTo>
                    <a:lnTo>
                      <a:pt x="449" y="2012"/>
                    </a:lnTo>
                    <a:lnTo>
                      <a:pt x="427" y="1996"/>
                    </a:lnTo>
                    <a:lnTo>
                      <a:pt x="406" y="1979"/>
                    </a:lnTo>
                    <a:lnTo>
                      <a:pt x="385" y="1961"/>
                    </a:lnTo>
                    <a:lnTo>
                      <a:pt x="366" y="1944"/>
                    </a:lnTo>
                    <a:lnTo>
                      <a:pt x="346" y="1925"/>
                    </a:lnTo>
                    <a:lnTo>
                      <a:pt x="327" y="1906"/>
                    </a:lnTo>
                    <a:lnTo>
                      <a:pt x="508" y="1726"/>
                    </a:lnTo>
                    <a:lnTo>
                      <a:pt x="538" y="1754"/>
                    </a:lnTo>
                    <a:lnTo>
                      <a:pt x="569" y="1781"/>
                    </a:lnTo>
                    <a:lnTo>
                      <a:pt x="601" y="1807"/>
                    </a:lnTo>
                    <a:lnTo>
                      <a:pt x="635" y="1831"/>
                    </a:lnTo>
                    <a:lnTo>
                      <a:pt x="670" y="1854"/>
                    </a:lnTo>
                    <a:lnTo>
                      <a:pt x="706" y="1874"/>
                    </a:lnTo>
                    <a:lnTo>
                      <a:pt x="743" y="1893"/>
                    </a:lnTo>
                    <a:lnTo>
                      <a:pt x="781" y="1911"/>
                    </a:lnTo>
                    <a:lnTo>
                      <a:pt x="801" y="1919"/>
                    </a:lnTo>
                    <a:lnTo>
                      <a:pt x="820" y="1926"/>
                    </a:lnTo>
                    <a:lnTo>
                      <a:pt x="840" y="1932"/>
                    </a:lnTo>
                    <a:lnTo>
                      <a:pt x="861" y="1940"/>
                    </a:lnTo>
                    <a:lnTo>
                      <a:pt x="880" y="1946"/>
                    </a:lnTo>
                    <a:lnTo>
                      <a:pt x="901" y="1951"/>
                    </a:lnTo>
                    <a:lnTo>
                      <a:pt x="922" y="1956"/>
                    </a:lnTo>
                    <a:lnTo>
                      <a:pt x="943" y="1960"/>
                    </a:lnTo>
                    <a:lnTo>
                      <a:pt x="964" y="1964"/>
                    </a:lnTo>
                    <a:lnTo>
                      <a:pt x="985" y="1969"/>
                    </a:lnTo>
                    <a:lnTo>
                      <a:pt x="1007" y="1972"/>
                    </a:lnTo>
                    <a:lnTo>
                      <a:pt x="1029" y="1974"/>
                    </a:lnTo>
                    <a:lnTo>
                      <a:pt x="1050" y="1976"/>
                    </a:lnTo>
                    <a:lnTo>
                      <a:pt x="1072" y="1977"/>
                    </a:lnTo>
                    <a:lnTo>
                      <a:pt x="1094" y="1978"/>
                    </a:lnTo>
                    <a:lnTo>
                      <a:pt x="1117" y="1978"/>
                    </a:lnTo>
                    <a:lnTo>
                      <a:pt x="1117" y="2234"/>
                    </a:lnTo>
                    <a:close/>
                    <a:moveTo>
                      <a:pt x="327" y="1906"/>
                    </a:moveTo>
                    <a:lnTo>
                      <a:pt x="309" y="1888"/>
                    </a:lnTo>
                    <a:lnTo>
                      <a:pt x="290" y="1868"/>
                    </a:lnTo>
                    <a:lnTo>
                      <a:pt x="272" y="1847"/>
                    </a:lnTo>
                    <a:lnTo>
                      <a:pt x="255" y="1828"/>
                    </a:lnTo>
                    <a:lnTo>
                      <a:pt x="238" y="1806"/>
                    </a:lnTo>
                    <a:lnTo>
                      <a:pt x="222" y="1785"/>
                    </a:lnTo>
                    <a:lnTo>
                      <a:pt x="206" y="1763"/>
                    </a:lnTo>
                    <a:lnTo>
                      <a:pt x="191" y="1742"/>
                    </a:lnTo>
                    <a:lnTo>
                      <a:pt x="176" y="1719"/>
                    </a:lnTo>
                    <a:lnTo>
                      <a:pt x="162" y="1696"/>
                    </a:lnTo>
                    <a:lnTo>
                      <a:pt x="148" y="1672"/>
                    </a:lnTo>
                    <a:lnTo>
                      <a:pt x="135" y="1650"/>
                    </a:lnTo>
                    <a:lnTo>
                      <a:pt x="122" y="1626"/>
                    </a:lnTo>
                    <a:lnTo>
                      <a:pt x="110" y="1601"/>
                    </a:lnTo>
                    <a:lnTo>
                      <a:pt x="98" y="1576"/>
                    </a:lnTo>
                    <a:lnTo>
                      <a:pt x="88" y="1551"/>
                    </a:lnTo>
                    <a:lnTo>
                      <a:pt x="78" y="1526"/>
                    </a:lnTo>
                    <a:lnTo>
                      <a:pt x="67" y="1501"/>
                    </a:lnTo>
                    <a:lnTo>
                      <a:pt x="59" y="1475"/>
                    </a:lnTo>
                    <a:lnTo>
                      <a:pt x="50" y="1449"/>
                    </a:lnTo>
                    <a:lnTo>
                      <a:pt x="42" y="1423"/>
                    </a:lnTo>
                    <a:lnTo>
                      <a:pt x="35" y="1396"/>
                    </a:lnTo>
                    <a:lnTo>
                      <a:pt x="29" y="1369"/>
                    </a:lnTo>
                    <a:lnTo>
                      <a:pt x="23" y="1342"/>
                    </a:lnTo>
                    <a:lnTo>
                      <a:pt x="18" y="1315"/>
                    </a:lnTo>
                    <a:lnTo>
                      <a:pt x="12" y="1287"/>
                    </a:lnTo>
                    <a:lnTo>
                      <a:pt x="9" y="1259"/>
                    </a:lnTo>
                    <a:lnTo>
                      <a:pt x="6" y="1231"/>
                    </a:lnTo>
                    <a:lnTo>
                      <a:pt x="3" y="1203"/>
                    </a:lnTo>
                    <a:lnTo>
                      <a:pt x="1" y="1174"/>
                    </a:lnTo>
                    <a:lnTo>
                      <a:pt x="0" y="1146"/>
                    </a:lnTo>
                    <a:lnTo>
                      <a:pt x="0" y="1117"/>
                    </a:lnTo>
                    <a:lnTo>
                      <a:pt x="256" y="1117"/>
                    </a:lnTo>
                    <a:lnTo>
                      <a:pt x="256" y="1139"/>
                    </a:lnTo>
                    <a:lnTo>
                      <a:pt x="257" y="1162"/>
                    </a:lnTo>
                    <a:lnTo>
                      <a:pt x="258" y="1183"/>
                    </a:lnTo>
                    <a:lnTo>
                      <a:pt x="260" y="1205"/>
                    </a:lnTo>
                    <a:lnTo>
                      <a:pt x="262" y="1227"/>
                    </a:lnTo>
                    <a:lnTo>
                      <a:pt x="265" y="1249"/>
                    </a:lnTo>
                    <a:lnTo>
                      <a:pt x="269" y="1269"/>
                    </a:lnTo>
                    <a:lnTo>
                      <a:pt x="272" y="1290"/>
                    </a:lnTo>
                    <a:lnTo>
                      <a:pt x="278" y="1312"/>
                    </a:lnTo>
                    <a:lnTo>
                      <a:pt x="283" y="1333"/>
                    </a:lnTo>
                    <a:lnTo>
                      <a:pt x="288" y="1353"/>
                    </a:lnTo>
                    <a:lnTo>
                      <a:pt x="294" y="1373"/>
                    </a:lnTo>
                    <a:lnTo>
                      <a:pt x="300" y="1394"/>
                    </a:lnTo>
                    <a:lnTo>
                      <a:pt x="308" y="1413"/>
                    </a:lnTo>
                    <a:lnTo>
                      <a:pt x="315" y="1433"/>
                    </a:lnTo>
                    <a:lnTo>
                      <a:pt x="323" y="1453"/>
                    </a:lnTo>
                    <a:lnTo>
                      <a:pt x="341" y="1490"/>
                    </a:lnTo>
                    <a:lnTo>
                      <a:pt x="359" y="1527"/>
                    </a:lnTo>
                    <a:lnTo>
                      <a:pt x="380" y="1564"/>
                    </a:lnTo>
                    <a:lnTo>
                      <a:pt x="403" y="1599"/>
                    </a:lnTo>
                    <a:lnTo>
                      <a:pt x="427" y="1632"/>
                    </a:lnTo>
                    <a:lnTo>
                      <a:pt x="452" y="1665"/>
                    </a:lnTo>
                    <a:lnTo>
                      <a:pt x="480" y="1696"/>
                    </a:lnTo>
                    <a:lnTo>
                      <a:pt x="508" y="1726"/>
                    </a:lnTo>
                    <a:lnTo>
                      <a:pt x="327" y="1906"/>
                    </a:lnTo>
                    <a:close/>
                    <a:moveTo>
                      <a:pt x="0" y="1117"/>
                    </a:moveTo>
                    <a:lnTo>
                      <a:pt x="0" y="1088"/>
                    </a:lnTo>
                    <a:lnTo>
                      <a:pt x="1" y="1059"/>
                    </a:lnTo>
                    <a:lnTo>
                      <a:pt x="3" y="1031"/>
                    </a:lnTo>
                    <a:lnTo>
                      <a:pt x="6" y="1003"/>
                    </a:lnTo>
                    <a:lnTo>
                      <a:pt x="9" y="975"/>
                    </a:lnTo>
                    <a:lnTo>
                      <a:pt x="12" y="947"/>
                    </a:lnTo>
                    <a:lnTo>
                      <a:pt x="18" y="919"/>
                    </a:lnTo>
                    <a:lnTo>
                      <a:pt x="23" y="892"/>
                    </a:lnTo>
                    <a:lnTo>
                      <a:pt x="29" y="865"/>
                    </a:lnTo>
                    <a:lnTo>
                      <a:pt x="35" y="838"/>
                    </a:lnTo>
                    <a:lnTo>
                      <a:pt x="42" y="811"/>
                    </a:lnTo>
                    <a:lnTo>
                      <a:pt x="50" y="784"/>
                    </a:lnTo>
                    <a:lnTo>
                      <a:pt x="59" y="759"/>
                    </a:lnTo>
                    <a:lnTo>
                      <a:pt x="67" y="733"/>
                    </a:lnTo>
                    <a:lnTo>
                      <a:pt x="78" y="708"/>
                    </a:lnTo>
                    <a:lnTo>
                      <a:pt x="88" y="682"/>
                    </a:lnTo>
                    <a:lnTo>
                      <a:pt x="98" y="657"/>
                    </a:lnTo>
                    <a:lnTo>
                      <a:pt x="110" y="633"/>
                    </a:lnTo>
                    <a:lnTo>
                      <a:pt x="122" y="608"/>
                    </a:lnTo>
                    <a:lnTo>
                      <a:pt x="135" y="585"/>
                    </a:lnTo>
                    <a:lnTo>
                      <a:pt x="148" y="561"/>
                    </a:lnTo>
                    <a:lnTo>
                      <a:pt x="162" y="538"/>
                    </a:lnTo>
                    <a:lnTo>
                      <a:pt x="176" y="515"/>
                    </a:lnTo>
                    <a:lnTo>
                      <a:pt x="191" y="492"/>
                    </a:lnTo>
                    <a:lnTo>
                      <a:pt x="206" y="471"/>
                    </a:lnTo>
                    <a:lnTo>
                      <a:pt x="222" y="449"/>
                    </a:lnTo>
                    <a:lnTo>
                      <a:pt x="238" y="428"/>
                    </a:lnTo>
                    <a:lnTo>
                      <a:pt x="255" y="406"/>
                    </a:lnTo>
                    <a:lnTo>
                      <a:pt x="272" y="387"/>
                    </a:lnTo>
                    <a:lnTo>
                      <a:pt x="290" y="366"/>
                    </a:lnTo>
                    <a:lnTo>
                      <a:pt x="309" y="346"/>
                    </a:lnTo>
                    <a:lnTo>
                      <a:pt x="327" y="328"/>
                    </a:lnTo>
                    <a:lnTo>
                      <a:pt x="508" y="508"/>
                    </a:lnTo>
                    <a:lnTo>
                      <a:pt x="480" y="538"/>
                    </a:lnTo>
                    <a:lnTo>
                      <a:pt x="452" y="569"/>
                    </a:lnTo>
                    <a:lnTo>
                      <a:pt x="427" y="602"/>
                    </a:lnTo>
                    <a:lnTo>
                      <a:pt x="403" y="635"/>
                    </a:lnTo>
                    <a:lnTo>
                      <a:pt x="380" y="671"/>
                    </a:lnTo>
                    <a:lnTo>
                      <a:pt x="359" y="707"/>
                    </a:lnTo>
                    <a:lnTo>
                      <a:pt x="341" y="744"/>
                    </a:lnTo>
                    <a:lnTo>
                      <a:pt x="323" y="781"/>
                    </a:lnTo>
                    <a:lnTo>
                      <a:pt x="315" y="801"/>
                    </a:lnTo>
                    <a:lnTo>
                      <a:pt x="308" y="821"/>
                    </a:lnTo>
                    <a:lnTo>
                      <a:pt x="300" y="840"/>
                    </a:lnTo>
                    <a:lnTo>
                      <a:pt x="294" y="861"/>
                    </a:lnTo>
                    <a:lnTo>
                      <a:pt x="288" y="881"/>
                    </a:lnTo>
                    <a:lnTo>
                      <a:pt x="283" y="902"/>
                    </a:lnTo>
                    <a:lnTo>
                      <a:pt x="278" y="922"/>
                    </a:lnTo>
                    <a:lnTo>
                      <a:pt x="272" y="943"/>
                    </a:lnTo>
                    <a:lnTo>
                      <a:pt x="269" y="965"/>
                    </a:lnTo>
                    <a:lnTo>
                      <a:pt x="265" y="985"/>
                    </a:lnTo>
                    <a:lnTo>
                      <a:pt x="262" y="1007"/>
                    </a:lnTo>
                    <a:lnTo>
                      <a:pt x="260" y="1029"/>
                    </a:lnTo>
                    <a:lnTo>
                      <a:pt x="258" y="1051"/>
                    </a:lnTo>
                    <a:lnTo>
                      <a:pt x="257" y="1072"/>
                    </a:lnTo>
                    <a:lnTo>
                      <a:pt x="256" y="1094"/>
                    </a:lnTo>
                    <a:lnTo>
                      <a:pt x="256" y="1117"/>
                    </a:lnTo>
                    <a:lnTo>
                      <a:pt x="0" y="1117"/>
                    </a:lnTo>
                    <a:close/>
                    <a:moveTo>
                      <a:pt x="327" y="328"/>
                    </a:moveTo>
                    <a:lnTo>
                      <a:pt x="346" y="309"/>
                    </a:lnTo>
                    <a:lnTo>
                      <a:pt x="366" y="290"/>
                    </a:lnTo>
                    <a:lnTo>
                      <a:pt x="385" y="273"/>
                    </a:lnTo>
                    <a:lnTo>
                      <a:pt x="406" y="255"/>
                    </a:lnTo>
                    <a:lnTo>
                      <a:pt x="427" y="238"/>
                    </a:lnTo>
                    <a:lnTo>
                      <a:pt x="449" y="222"/>
                    </a:lnTo>
                    <a:lnTo>
                      <a:pt x="470" y="206"/>
                    </a:lnTo>
                    <a:lnTo>
                      <a:pt x="492" y="191"/>
                    </a:lnTo>
                    <a:lnTo>
                      <a:pt x="515" y="176"/>
                    </a:lnTo>
                    <a:lnTo>
                      <a:pt x="538" y="162"/>
                    </a:lnTo>
                    <a:lnTo>
                      <a:pt x="560" y="148"/>
                    </a:lnTo>
                    <a:lnTo>
                      <a:pt x="584" y="135"/>
                    </a:lnTo>
                    <a:lnTo>
                      <a:pt x="608" y="122"/>
                    </a:lnTo>
                    <a:lnTo>
                      <a:pt x="633" y="110"/>
                    </a:lnTo>
                    <a:lnTo>
                      <a:pt x="657" y="99"/>
                    </a:lnTo>
                    <a:lnTo>
                      <a:pt x="682" y="88"/>
                    </a:lnTo>
                    <a:lnTo>
                      <a:pt x="707" y="78"/>
                    </a:lnTo>
                    <a:lnTo>
                      <a:pt x="732" y="69"/>
                    </a:lnTo>
                    <a:lnTo>
                      <a:pt x="758" y="59"/>
                    </a:lnTo>
                    <a:lnTo>
                      <a:pt x="784" y="51"/>
                    </a:lnTo>
                    <a:lnTo>
                      <a:pt x="811" y="43"/>
                    </a:lnTo>
                    <a:lnTo>
                      <a:pt x="837" y="35"/>
                    </a:lnTo>
                    <a:lnTo>
                      <a:pt x="864" y="29"/>
                    </a:lnTo>
                    <a:lnTo>
                      <a:pt x="892" y="23"/>
                    </a:lnTo>
                    <a:lnTo>
                      <a:pt x="919" y="18"/>
                    </a:lnTo>
                    <a:lnTo>
                      <a:pt x="947" y="14"/>
                    </a:lnTo>
                    <a:lnTo>
                      <a:pt x="975" y="10"/>
                    </a:lnTo>
                    <a:lnTo>
                      <a:pt x="1003" y="6"/>
                    </a:lnTo>
                    <a:lnTo>
                      <a:pt x="1031" y="3"/>
                    </a:lnTo>
                    <a:lnTo>
                      <a:pt x="1059" y="2"/>
                    </a:lnTo>
                    <a:lnTo>
                      <a:pt x="1088" y="0"/>
                    </a:lnTo>
                    <a:lnTo>
                      <a:pt x="1117" y="0"/>
                    </a:lnTo>
                    <a:lnTo>
                      <a:pt x="1117" y="256"/>
                    </a:lnTo>
                    <a:lnTo>
                      <a:pt x="1094" y="256"/>
                    </a:lnTo>
                    <a:lnTo>
                      <a:pt x="1072" y="257"/>
                    </a:lnTo>
                    <a:lnTo>
                      <a:pt x="1050" y="258"/>
                    </a:lnTo>
                    <a:lnTo>
                      <a:pt x="1029" y="260"/>
                    </a:lnTo>
                    <a:lnTo>
                      <a:pt x="1007" y="262"/>
                    </a:lnTo>
                    <a:lnTo>
                      <a:pt x="985" y="265"/>
                    </a:lnTo>
                    <a:lnTo>
                      <a:pt x="964" y="270"/>
                    </a:lnTo>
                    <a:lnTo>
                      <a:pt x="943" y="274"/>
                    </a:lnTo>
                    <a:lnTo>
                      <a:pt x="922" y="278"/>
                    </a:lnTo>
                    <a:lnTo>
                      <a:pt x="901" y="283"/>
                    </a:lnTo>
                    <a:lnTo>
                      <a:pt x="880" y="288"/>
                    </a:lnTo>
                    <a:lnTo>
                      <a:pt x="861" y="294"/>
                    </a:lnTo>
                    <a:lnTo>
                      <a:pt x="840" y="301"/>
                    </a:lnTo>
                    <a:lnTo>
                      <a:pt x="820" y="308"/>
                    </a:lnTo>
                    <a:lnTo>
                      <a:pt x="801" y="315"/>
                    </a:lnTo>
                    <a:lnTo>
                      <a:pt x="781" y="323"/>
                    </a:lnTo>
                    <a:lnTo>
                      <a:pt x="743" y="341"/>
                    </a:lnTo>
                    <a:lnTo>
                      <a:pt x="706" y="360"/>
                    </a:lnTo>
                    <a:lnTo>
                      <a:pt x="670" y="380"/>
                    </a:lnTo>
                    <a:lnTo>
                      <a:pt x="635" y="403"/>
                    </a:lnTo>
                    <a:lnTo>
                      <a:pt x="601" y="427"/>
                    </a:lnTo>
                    <a:lnTo>
                      <a:pt x="569" y="453"/>
                    </a:lnTo>
                    <a:lnTo>
                      <a:pt x="538" y="480"/>
                    </a:lnTo>
                    <a:lnTo>
                      <a:pt x="508" y="508"/>
                    </a:lnTo>
                    <a:lnTo>
                      <a:pt x="327" y="328"/>
                    </a:lnTo>
                    <a:close/>
                    <a:moveTo>
                      <a:pt x="1117" y="0"/>
                    </a:moveTo>
                    <a:lnTo>
                      <a:pt x="1153" y="1"/>
                    </a:lnTo>
                    <a:lnTo>
                      <a:pt x="1189" y="2"/>
                    </a:lnTo>
                    <a:lnTo>
                      <a:pt x="1225" y="5"/>
                    </a:lnTo>
                    <a:lnTo>
                      <a:pt x="1262" y="10"/>
                    </a:lnTo>
                    <a:lnTo>
                      <a:pt x="1297" y="15"/>
                    </a:lnTo>
                    <a:lnTo>
                      <a:pt x="1332" y="21"/>
                    </a:lnTo>
                    <a:lnTo>
                      <a:pt x="1367" y="29"/>
                    </a:lnTo>
                    <a:lnTo>
                      <a:pt x="1401" y="38"/>
                    </a:lnTo>
                    <a:lnTo>
                      <a:pt x="1336" y="284"/>
                    </a:lnTo>
                    <a:lnTo>
                      <a:pt x="1310" y="278"/>
                    </a:lnTo>
                    <a:lnTo>
                      <a:pt x="1283" y="272"/>
                    </a:lnTo>
                    <a:lnTo>
                      <a:pt x="1256" y="266"/>
                    </a:lnTo>
                    <a:lnTo>
                      <a:pt x="1230" y="263"/>
                    </a:lnTo>
                    <a:lnTo>
                      <a:pt x="1202" y="260"/>
                    </a:lnTo>
                    <a:lnTo>
                      <a:pt x="1174" y="257"/>
                    </a:lnTo>
                    <a:lnTo>
                      <a:pt x="1145" y="256"/>
                    </a:lnTo>
                    <a:lnTo>
                      <a:pt x="1117" y="256"/>
                    </a:lnTo>
                    <a:lnTo>
                      <a:pt x="1117" y="0"/>
                    </a:lnTo>
                    <a:close/>
                    <a:moveTo>
                      <a:pt x="1401" y="38"/>
                    </a:moveTo>
                    <a:lnTo>
                      <a:pt x="1437" y="47"/>
                    </a:lnTo>
                    <a:lnTo>
                      <a:pt x="1471" y="58"/>
                    </a:lnTo>
                    <a:lnTo>
                      <a:pt x="1505" y="71"/>
                    </a:lnTo>
                    <a:lnTo>
                      <a:pt x="1538" y="83"/>
                    </a:lnTo>
                    <a:lnTo>
                      <a:pt x="1571" y="98"/>
                    </a:lnTo>
                    <a:lnTo>
                      <a:pt x="1604" y="112"/>
                    </a:lnTo>
                    <a:lnTo>
                      <a:pt x="1636" y="129"/>
                    </a:lnTo>
                    <a:lnTo>
                      <a:pt x="1668" y="146"/>
                    </a:lnTo>
                    <a:lnTo>
                      <a:pt x="1541" y="367"/>
                    </a:lnTo>
                    <a:lnTo>
                      <a:pt x="1517" y="355"/>
                    </a:lnTo>
                    <a:lnTo>
                      <a:pt x="1493" y="342"/>
                    </a:lnTo>
                    <a:lnTo>
                      <a:pt x="1468" y="331"/>
                    </a:lnTo>
                    <a:lnTo>
                      <a:pt x="1443" y="319"/>
                    </a:lnTo>
                    <a:lnTo>
                      <a:pt x="1417" y="309"/>
                    </a:lnTo>
                    <a:lnTo>
                      <a:pt x="1390" y="300"/>
                    </a:lnTo>
                    <a:lnTo>
                      <a:pt x="1364" y="291"/>
                    </a:lnTo>
                    <a:lnTo>
                      <a:pt x="1336" y="284"/>
                    </a:lnTo>
                    <a:lnTo>
                      <a:pt x="1401"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4" name="Freeform 24"/>
              <p:cNvSpPr>
                <a:spLocks/>
              </p:cNvSpPr>
              <p:nvPr/>
            </p:nvSpPr>
            <p:spPr bwMode="auto">
              <a:xfrm>
                <a:off x="1978711" y="4210842"/>
                <a:ext cx="94195" cy="89034"/>
              </a:xfrm>
              <a:custGeom>
                <a:avLst/>
                <a:gdLst>
                  <a:gd name="T0" fmla="*/ 30 w 578"/>
                  <a:gd name="T1" fmla="*/ 152 h 548"/>
                  <a:gd name="T2" fmla="*/ 0 w 578"/>
                  <a:gd name="T3" fmla="*/ 548 h 548"/>
                  <a:gd name="T4" fmla="*/ 395 w 578"/>
                  <a:gd name="T5" fmla="*/ 518 h 548"/>
                  <a:gd name="T6" fmla="*/ 578 w 578"/>
                  <a:gd name="T7" fmla="*/ 336 h 548"/>
                  <a:gd name="T8" fmla="*/ 183 w 578"/>
                  <a:gd name="T9" fmla="*/ 366 h 548"/>
                  <a:gd name="T10" fmla="*/ 213 w 578"/>
                  <a:gd name="T11" fmla="*/ 0 h 548"/>
                  <a:gd name="T12" fmla="*/ 30 w 578"/>
                  <a:gd name="T13" fmla="*/ 152 h 548"/>
                </a:gdLst>
                <a:ahLst/>
                <a:cxnLst>
                  <a:cxn ang="0">
                    <a:pos x="T0" y="T1"/>
                  </a:cxn>
                  <a:cxn ang="0">
                    <a:pos x="T2" y="T3"/>
                  </a:cxn>
                  <a:cxn ang="0">
                    <a:pos x="T4" y="T5"/>
                  </a:cxn>
                  <a:cxn ang="0">
                    <a:pos x="T6" y="T7"/>
                  </a:cxn>
                  <a:cxn ang="0">
                    <a:pos x="T8" y="T9"/>
                  </a:cxn>
                  <a:cxn ang="0">
                    <a:pos x="T10" y="T11"/>
                  </a:cxn>
                  <a:cxn ang="0">
                    <a:pos x="T12" y="T13"/>
                  </a:cxn>
                </a:cxnLst>
                <a:rect l="0" t="0" r="r" b="b"/>
                <a:pathLst>
                  <a:path w="578" h="548">
                    <a:moveTo>
                      <a:pt x="30" y="152"/>
                    </a:moveTo>
                    <a:lnTo>
                      <a:pt x="0" y="548"/>
                    </a:lnTo>
                    <a:lnTo>
                      <a:pt x="395" y="518"/>
                    </a:lnTo>
                    <a:lnTo>
                      <a:pt x="578" y="336"/>
                    </a:lnTo>
                    <a:lnTo>
                      <a:pt x="183" y="366"/>
                    </a:lnTo>
                    <a:lnTo>
                      <a:pt x="213" y="0"/>
                    </a:lnTo>
                    <a:lnTo>
                      <a:pt x="30"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5" name="Freeform 25"/>
              <p:cNvSpPr>
                <a:spLocks/>
              </p:cNvSpPr>
              <p:nvPr/>
            </p:nvSpPr>
            <p:spPr bwMode="auto">
              <a:xfrm>
                <a:off x="2021292" y="4168261"/>
                <a:ext cx="92905" cy="89034"/>
              </a:xfrm>
              <a:custGeom>
                <a:avLst/>
                <a:gdLst>
                  <a:gd name="T0" fmla="*/ 30 w 578"/>
                  <a:gd name="T1" fmla="*/ 152 h 548"/>
                  <a:gd name="T2" fmla="*/ 0 w 578"/>
                  <a:gd name="T3" fmla="*/ 548 h 548"/>
                  <a:gd name="T4" fmla="*/ 396 w 578"/>
                  <a:gd name="T5" fmla="*/ 517 h 548"/>
                  <a:gd name="T6" fmla="*/ 578 w 578"/>
                  <a:gd name="T7" fmla="*/ 335 h 548"/>
                  <a:gd name="T8" fmla="*/ 183 w 578"/>
                  <a:gd name="T9" fmla="*/ 365 h 548"/>
                  <a:gd name="T10" fmla="*/ 214 w 578"/>
                  <a:gd name="T11" fmla="*/ 0 h 548"/>
                  <a:gd name="T12" fmla="*/ 30 w 578"/>
                  <a:gd name="T13" fmla="*/ 152 h 548"/>
                </a:gdLst>
                <a:ahLst/>
                <a:cxnLst>
                  <a:cxn ang="0">
                    <a:pos x="T0" y="T1"/>
                  </a:cxn>
                  <a:cxn ang="0">
                    <a:pos x="T2" y="T3"/>
                  </a:cxn>
                  <a:cxn ang="0">
                    <a:pos x="T4" y="T5"/>
                  </a:cxn>
                  <a:cxn ang="0">
                    <a:pos x="T6" y="T7"/>
                  </a:cxn>
                  <a:cxn ang="0">
                    <a:pos x="T8" y="T9"/>
                  </a:cxn>
                  <a:cxn ang="0">
                    <a:pos x="T10" y="T11"/>
                  </a:cxn>
                  <a:cxn ang="0">
                    <a:pos x="T12" y="T13"/>
                  </a:cxn>
                </a:cxnLst>
                <a:rect l="0" t="0" r="r" b="b"/>
                <a:pathLst>
                  <a:path w="578" h="548">
                    <a:moveTo>
                      <a:pt x="30" y="152"/>
                    </a:moveTo>
                    <a:lnTo>
                      <a:pt x="0" y="548"/>
                    </a:lnTo>
                    <a:lnTo>
                      <a:pt x="396" y="517"/>
                    </a:lnTo>
                    <a:lnTo>
                      <a:pt x="578" y="335"/>
                    </a:lnTo>
                    <a:lnTo>
                      <a:pt x="183" y="365"/>
                    </a:lnTo>
                    <a:lnTo>
                      <a:pt x="214" y="0"/>
                    </a:lnTo>
                    <a:lnTo>
                      <a:pt x="30"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6" name="Freeform 26"/>
              <p:cNvSpPr>
                <a:spLocks/>
              </p:cNvSpPr>
              <p:nvPr/>
            </p:nvSpPr>
            <p:spPr bwMode="auto">
              <a:xfrm>
                <a:off x="1836773" y="4286973"/>
                <a:ext cx="153551" cy="154841"/>
              </a:xfrm>
              <a:custGeom>
                <a:avLst/>
                <a:gdLst>
                  <a:gd name="T0" fmla="*/ 0 w 948"/>
                  <a:gd name="T1" fmla="*/ 856 h 956"/>
                  <a:gd name="T2" fmla="*/ 848 w 948"/>
                  <a:gd name="T3" fmla="*/ 0 h 956"/>
                  <a:gd name="T4" fmla="*/ 948 w 948"/>
                  <a:gd name="T5" fmla="*/ 99 h 956"/>
                  <a:gd name="T6" fmla="*/ 99 w 948"/>
                  <a:gd name="T7" fmla="*/ 956 h 956"/>
                  <a:gd name="T8" fmla="*/ 0 w 948"/>
                  <a:gd name="T9" fmla="*/ 856 h 956"/>
                </a:gdLst>
                <a:ahLst/>
                <a:cxnLst>
                  <a:cxn ang="0">
                    <a:pos x="T0" y="T1"/>
                  </a:cxn>
                  <a:cxn ang="0">
                    <a:pos x="T2" y="T3"/>
                  </a:cxn>
                  <a:cxn ang="0">
                    <a:pos x="T4" y="T5"/>
                  </a:cxn>
                  <a:cxn ang="0">
                    <a:pos x="T6" y="T7"/>
                  </a:cxn>
                  <a:cxn ang="0">
                    <a:pos x="T8" y="T9"/>
                  </a:cxn>
                </a:cxnLst>
                <a:rect l="0" t="0" r="r" b="b"/>
                <a:pathLst>
                  <a:path w="948" h="956">
                    <a:moveTo>
                      <a:pt x="0" y="856"/>
                    </a:moveTo>
                    <a:lnTo>
                      <a:pt x="848" y="0"/>
                    </a:lnTo>
                    <a:lnTo>
                      <a:pt x="948" y="99"/>
                    </a:lnTo>
                    <a:lnTo>
                      <a:pt x="99" y="956"/>
                    </a:lnTo>
                    <a:lnTo>
                      <a:pt x="0" y="8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sp>
          <p:nvSpPr>
            <p:cNvPr id="13" name="Oval 12"/>
            <p:cNvSpPr/>
            <p:nvPr/>
          </p:nvSpPr>
          <p:spPr>
            <a:xfrm>
              <a:off x="3345821" y="1290919"/>
              <a:ext cx="1562225" cy="1506070"/>
            </a:xfrm>
            <a:prstGeom prst="ellipse">
              <a:avLst/>
            </a:prstGeom>
            <a:solidFill>
              <a:schemeClr val="bg2">
                <a:lumMod val="9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4" name="Oval 13"/>
            <p:cNvSpPr/>
            <p:nvPr/>
          </p:nvSpPr>
          <p:spPr>
            <a:xfrm>
              <a:off x="7504140" y="1290919"/>
              <a:ext cx="1562225" cy="1506070"/>
            </a:xfrm>
            <a:prstGeom prst="ellipse">
              <a:avLst/>
            </a:prstGeom>
            <a:solidFill>
              <a:schemeClr val="accent4">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5" name="Oval 14"/>
            <p:cNvSpPr/>
            <p:nvPr/>
          </p:nvSpPr>
          <p:spPr>
            <a:xfrm>
              <a:off x="9433621" y="1290919"/>
              <a:ext cx="1562225" cy="1506070"/>
            </a:xfrm>
            <a:prstGeom prst="ellipse">
              <a:avLst/>
            </a:prstGeom>
            <a:solidFill>
              <a:schemeClr val="accent5">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6" name="Freeform 10"/>
            <p:cNvSpPr>
              <a:spLocks noEditPoints="1"/>
            </p:cNvSpPr>
            <p:nvPr/>
          </p:nvSpPr>
          <p:spPr bwMode="auto">
            <a:xfrm>
              <a:off x="7861565" y="1590202"/>
              <a:ext cx="847374" cy="907504"/>
            </a:xfrm>
            <a:custGeom>
              <a:avLst/>
              <a:gdLst>
                <a:gd name="T0" fmla="*/ 977 w 1866"/>
                <a:gd name="T1" fmla="*/ 1015 h 1742"/>
                <a:gd name="T2" fmla="*/ 552 w 1866"/>
                <a:gd name="T3" fmla="*/ 1136 h 1742"/>
                <a:gd name="T4" fmla="*/ 466 w 1866"/>
                <a:gd name="T5" fmla="*/ 1650 h 1742"/>
                <a:gd name="T6" fmla="*/ 1652 w 1866"/>
                <a:gd name="T7" fmla="*/ 922 h 1742"/>
                <a:gd name="T8" fmla="*/ 1631 w 1866"/>
                <a:gd name="T9" fmla="*/ 971 h 1742"/>
                <a:gd name="T10" fmla="*/ 1494 w 1866"/>
                <a:gd name="T11" fmla="*/ 1039 h 1742"/>
                <a:gd name="T12" fmla="*/ 1388 w 1866"/>
                <a:gd name="T13" fmla="*/ 1062 h 1742"/>
                <a:gd name="T14" fmla="*/ 1284 w 1866"/>
                <a:gd name="T15" fmla="*/ 1052 h 1742"/>
                <a:gd name="T16" fmla="*/ 1177 w 1866"/>
                <a:gd name="T17" fmla="*/ 1008 h 1742"/>
                <a:gd name="T18" fmla="*/ 1110 w 1866"/>
                <a:gd name="T19" fmla="*/ 920 h 1742"/>
                <a:gd name="T20" fmla="*/ 1231 w 1866"/>
                <a:gd name="T21" fmla="*/ 846 h 1742"/>
                <a:gd name="T22" fmla="*/ 1357 w 1866"/>
                <a:gd name="T23" fmla="*/ 815 h 1742"/>
                <a:gd name="T24" fmla="*/ 1484 w 1866"/>
                <a:gd name="T25" fmla="*/ 837 h 1742"/>
                <a:gd name="T26" fmla="*/ 221 w 1866"/>
                <a:gd name="T27" fmla="*/ 928 h 1742"/>
                <a:gd name="T28" fmla="*/ 332 w 1866"/>
                <a:gd name="T29" fmla="*/ 857 h 1742"/>
                <a:gd name="T30" fmla="*/ 444 w 1866"/>
                <a:gd name="T31" fmla="*/ 821 h 1742"/>
                <a:gd name="T32" fmla="*/ 559 w 1866"/>
                <a:gd name="T33" fmla="*/ 822 h 1742"/>
                <a:gd name="T34" fmla="*/ 674 w 1866"/>
                <a:gd name="T35" fmla="*/ 860 h 1742"/>
                <a:gd name="T36" fmla="*/ 791 w 1866"/>
                <a:gd name="T37" fmla="*/ 933 h 1742"/>
                <a:gd name="T38" fmla="*/ 633 w 1866"/>
                <a:gd name="T39" fmla="*/ 1030 h 1742"/>
                <a:gd name="T40" fmla="*/ 529 w 1866"/>
                <a:gd name="T41" fmla="*/ 1054 h 1742"/>
                <a:gd name="T42" fmla="*/ 425 w 1866"/>
                <a:gd name="T43" fmla="*/ 1049 h 1742"/>
                <a:gd name="T44" fmla="*/ 311 w 1866"/>
                <a:gd name="T45" fmla="*/ 1008 h 1742"/>
                <a:gd name="T46" fmla="*/ 1329 w 1866"/>
                <a:gd name="T47" fmla="*/ 265 h 1742"/>
                <a:gd name="T48" fmla="*/ 1329 w 1866"/>
                <a:gd name="T49" fmla="*/ 265 h 1742"/>
                <a:gd name="T50" fmla="*/ 688 w 1866"/>
                <a:gd name="T51" fmla="*/ 303 h 1742"/>
                <a:gd name="T52" fmla="*/ 844 w 1866"/>
                <a:gd name="T53" fmla="*/ 374 h 1742"/>
                <a:gd name="T54" fmla="*/ 876 w 1866"/>
                <a:gd name="T55" fmla="*/ 405 h 1742"/>
                <a:gd name="T56" fmla="*/ 561 w 1866"/>
                <a:gd name="T57" fmla="*/ 262 h 1742"/>
                <a:gd name="T58" fmla="*/ 695 w 1866"/>
                <a:gd name="T59" fmla="*/ 161 h 1742"/>
                <a:gd name="T60" fmla="*/ 799 w 1866"/>
                <a:gd name="T61" fmla="*/ 102 h 1742"/>
                <a:gd name="T62" fmla="*/ 895 w 1866"/>
                <a:gd name="T63" fmla="*/ 75 h 1742"/>
                <a:gd name="T64" fmla="*/ 985 w 1866"/>
                <a:gd name="T65" fmla="*/ 78 h 1742"/>
                <a:gd name="T66" fmla="*/ 1130 w 1866"/>
                <a:gd name="T67" fmla="*/ 130 h 1742"/>
                <a:gd name="T68" fmla="*/ 1078 w 1866"/>
                <a:gd name="T69" fmla="*/ 273 h 1742"/>
                <a:gd name="T70" fmla="*/ 969 w 1866"/>
                <a:gd name="T71" fmla="*/ 314 h 1742"/>
                <a:gd name="T72" fmla="*/ 902 w 1866"/>
                <a:gd name="T73" fmla="*/ 309 h 1742"/>
                <a:gd name="T74" fmla="*/ 700 w 1866"/>
                <a:gd name="T75" fmla="*/ 234 h 1742"/>
                <a:gd name="T76" fmla="*/ 46 w 1866"/>
                <a:gd name="T77" fmla="*/ 1575 h 1742"/>
                <a:gd name="T78" fmla="*/ 393 w 1866"/>
                <a:gd name="T79" fmla="*/ 1719 h 1742"/>
                <a:gd name="T80" fmla="*/ 509 w 1866"/>
                <a:gd name="T81" fmla="*/ 1742 h 1742"/>
                <a:gd name="T82" fmla="*/ 616 w 1866"/>
                <a:gd name="T83" fmla="*/ 1719 h 1742"/>
                <a:gd name="T84" fmla="*/ 787 w 1866"/>
                <a:gd name="T85" fmla="*/ 1640 h 1742"/>
                <a:gd name="T86" fmla="*/ 889 w 1866"/>
                <a:gd name="T87" fmla="*/ 1606 h 1742"/>
                <a:gd name="T88" fmla="*/ 981 w 1866"/>
                <a:gd name="T89" fmla="*/ 1605 h 1742"/>
                <a:gd name="T90" fmla="*/ 1083 w 1866"/>
                <a:gd name="T91" fmla="*/ 1637 h 1742"/>
                <a:gd name="T92" fmla="*/ 1252 w 1866"/>
                <a:gd name="T93" fmla="*/ 1716 h 1742"/>
                <a:gd name="T94" fmla="*/ 1357 w 1866"/>
                <a:gd name="T95" fmla="*/ 1741 h 1742"/>
                <a:gd name="T96" fmla="*/ 1471 w 1866"/>
                <a:gd name="T97" fmla="*/ 1721 h 1742"/>
                <a:gd name="T98" fmla="*/ 1819 w 1866"/>
                <a:gd name="T99" fmla="*/ 1580 h 1742"/>
                <a:gd name="T100" fmla="*/ 1763 w 1866"/>
                <a:gd name="T101" fmla="*/ 876 h 1742"/>
                <a:gd name="T102" fmla="*/ 1589 w 1866"/>
                <a:gd name="T103" fmla="*/ 800 h 1742"/>
                <a:gd name="T104" fmla="*/ 1368 w 1866"/>
                <a:gd name="T105" fmla="*/ 167 h 1742"/>
                <a:gd name="T106" fmla="*/ 1189 w 1866"/>
                <a:gd name="T107" fmla="*/ 61 h 1742"/>
                <a:gd name="T108" fmla="*/ 1020 w 1866"/>
                <a:gd name="T109" fmla="*/ 7 h 1742"/>
                <a:gd name="T110" fmla="*/ 855 w 1866"/>
                <a:gd name="T111" fmla="*/ 6 h 1742"/>
                <a:gd name="T112" fmla="*/ 685 w 1866"/>
                <a:gd name="T113" fmla="*/ 60 h 1742"/>
                <a:gd name="T114" fmla="*/ 502 w 1866"/>
                <a:gd name="T115" fmla="*/ 171 h 1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66" h="1742">
                  <a:moveTo>
                    <a:pt x="1402" y="1662"/>
                  </a:moveTo>
                  <a:lnTo>
                    <a:pt x="1399" y="1136"/>
                  </a:lnTo>
                  <a:lnTo>
                    <a:pt x="1786" y="1006"/>
                  </a:lnTo>
                  <a:lnTo>
                    <a:pt x="1787" y="1517"/>
                  </a:lnTo>
                  <a:lnTo>
                    <a:pt x="1402" y="1662"/>
                  </a:lnTo>
                  <a:close/>
                  <a:moveTo>
                    <a:pt x="977" y="1015"/>
                  </a:moveTo>
                  <a:lnTo>
                    <a:pt x="1331" y="1150"/>
                  </a:lnTo>
                  <a:lnTo>
                    <a:pt x="1330" y="1637"/>
                  </a:lnTo>
                  <a:lnTo>
                    <a:pt x="977" y="1509"/>
                  </a:lnTo>
                  <a:lnTo>
                    <a:pt x="977" y="1015"/>
                  </a:lnTo>
                  <a:close/>
                  <a:moveTo>
                    <a:pt x="556" y="1654"/>
                  </a:moveTo>
                  <a:lnTo>
                    <a:pt x="552" y="1136"/>
                  </a:lnTo>
                  <a:lnTo>
                    <a:pt x="893" y="1003"/>
                  </a:lnTo>
                  <a:lnTo>
                    <a:pt x="894" y="1519"/>
                  </a:lnTo>
                  <a:lnTo>
                    <a:pt x="556" y="1654"/>
                  </a:lnTo>
                  <a:close/>
                  <a:moveTo>
                    <a:pt x="84" y="1010"/>
                  </a:moveTo>
                  <a:lnTo>
                    <a:pt x="466" y="1144"/>
                  </a:lnTo>
                  <a:lnTo>
                    <a:pt x="466" y="1650"/>
                  </a:lnTo>
                  <a:lnTo>
                    <a:pt x="85" y="1507"/>
                  </a:lnTo>
                  <a:lnTo>
                    <a:pt x="84" y="1010"/>
                  </a:lnTo>
                  <a:close/>
                  <a:moveTo>
                    <a:pt x="1649" y="923"/>
                  </a:moveTo>
                  <a:lnTo>
                    <a:pt x="1650" y="922"/>
                  </a:lnTo>
                  <a:lnTo>
                    <a:pt x="1651" y="922"/>
                  </a:lnTo>
                  <a:lnTo>
                    <a:pt x="1652" y="922"/>
                  </a:lnTo>
                  <a:lnTo>
                    <a:pt x="1653" y="922"/>
                  </a:lnTo>
                  <a:lnTo>
                    <a:pt x="1656" y="924"/>
                  </a:lnTo>
                  <a:lnTo>
                    <a:pt x="1660" y="928"/>
                  </a:lnTo>
                  <a:lnTo>
                    <a:pt x="1667" y="936"/>
                  </a:lnTo>
                  <a:lnTo>
                    <a:pt x="1674" y="943"/>
                  </a:lnTo>
                  <a:lnTo>
                    <a:pt x="1631" y="971"/>
                  </a:lnTo>
                  <a:lnTo>
                    <a:pt x="1589" y="994"/>
                  </a:lnTo>
                  <a:lnTo>
                    <a:pt x="1570" y="1005"/>
                  </a:lnTo>
                  <a:lnTo>
                    <a:pt x="1551" y="1015"/>
                  </a:lnTo>
                  <a:lnTo>
                    <a:pt x="1531" y="1024"/>
                  </a:lnTo>
                  <a:lnTo>
                    <a:pt x="1513" y="1032"/>
                  </a:lnTo>
                  <a:lnTo>
                    <a:pt x="1494" y="1039"/>
                  </a:lnTo>
                  <a:lnTo>
                    <a:pt x="1476" y="1045"/>
                  </a:lnTo>
                  <a:lnTo>
                    <a:pt x="1458" y="1050"/>
                  </a:lnTo>
                  <a:lnTo>
                    <a:pt x="1440" y="1055"/>
                  </a:lnTo>
                  <a:lnTo>
                    <a:pt x="1423" y="1058"/>
                  </a:lnTo>
                  <a:lnTo>
                    <a:pt x="1405" y="1061"/>
                  </a:lnTo>
                  <a:lnTo>
                    <a:pt x="1388" y="1062"/>
                  </a:lnTo>
                  <a:lnTo>
                    <a:pt x="1371" y="1063"/>
                  </a:lnTo>
                  <a:lnTo>
                    <a:pt x="1353" y="1063"/>
                  </a:lnTo>
                  <a:lnTo>
                    <a:pt x="1336" y="1061"/>
                  </a:lnTo>
                  <a:lnTo>
                    <a:pt x="1319" y="1059"/>
                  </a:lnTo>
                  <a:lnTo>
                    <a:pt x="1302" y="1056"/>
                  </a:lnTo>
                  <a:lnTo>
                    <a:pt x="1284" y="1052"/>
                  </a:lnTo>
                  <a:lnTo>
                    <a:pt x="1267" y="1047"/>
                  </a:lnTo>
                  <a:lnTo>
                    <a:pt x="1250" y="1042"/>
                  </a:lnTo>
                  <a:lnTo>
                    <a:pt x="1231" y="1035"/>
                  </a:lnTo>
                  <a:lnTo>
                    <a:pt x="1214" y="1027"/>
                  </a:lnTo>
                  <a:lnTo>
                    <a:pt x="1196" y="1018"/>
                  </a:lnTo>
                  <a:lnTo>
                    <a:pt x="1177" y="1008"/>
                  </a:lnTo>
                  <a:lnTo>
                    <a:pt x="1159" y="997"/>
                  </a:lnTo>
                  <a:lnTo>
                    <a:pt x="1140" y="985"/>
                  </a:lnTo>
                  <a:lnTo>
                    <a:pt x="1122" y="973"/>
                  </a:lnTo>
                  <a:lnTo>
                    <a:pt x="1101" y="959"/>
                  </a:lnTo>
                  <a:lnTo>
                    <a:pt x="1082" y="943"/>
                  </a:lnTo>
                  <a:lnTo>
                    <a:pt x="1110" y="920"/>
                  </a:lnTo>
                  <a:lnTo>
                    <a:pt x="1142" y="897"/>
                  </a:lnTo>
                  <a:lnTo>
                    <a:pt x="1159" y="885"/>
                  </a:lnTo>
                  <a:lnTo>
                    <a:pt x="1176" y="874"/>
                  </a:lnTo>
                  <a:lnTo>
                    <a:pt x="1194" y="864"/>
                  </a:lnTo>
                  <a:lnTo>
                    <a:pt x="1212" y="855"/>
                  </a:lnTo>
                  <a:lnTo>
                    <a:pt x="1231" y="846"/>
                  </a:lnTo>
                  <a:lnTo>
                    <a:pt x="1251" y="838"/>
                  </a:lnTo>
                  <a:lnTo>
                    <a:pt x="1271" y="830"/>
                  </a:lnTo>
                  <a:lnTo>
                    <a:pt x="1292" y="825"/>
                  </a:lnTo>
                  <a:lnTo>
                    <a:pt x="1313" y="820"/>
                  </a:lnTo>
                  <a:lnTo>
                    <a:pt x="1335" y="817"/>
                  </a:lnTo>
                  <a:lnTo>
                    <a:pt x="1357" y="815"/>
                  </a:lnTo>
                  <a:lnTo>
                    <a:pt x="1380" y="815"/>
                  </a:lnTo>
                  <a:lnTo>
                    <a:pt x="1400" y="816"/>
                  </a:lnTo>
                  <a:lnTo>
                    <a:pt x="1422" y="819"/>
                  </a:lnTo>
                  <a:lnTo>
                    <a:pt x="1442" y="824"/>
                  </a:lnTo>
                  <a:lnTo>
                    <a:pt x="1463" y="829"/>
                  </a:lnTo>
                  <a:lnTo>
                    <a:pt x="1484" y="837"/>
                  </a:lnTo>
                  <a:lnTo>
                    <a:pt x="1505" y="844"/>
                  </a:lnTo>
                  <a:lnTo>
                    <a:pt x="1524" y="852"/>
                  </a:lnTo>
                  <a:lnTo>
                    <a:pt x="1544" y="860"/>
                  </a:lnTo>
                  <a:lnTo>
                    <a:pt x="1649" y="923"/>
                  </a:lnTo>
                  <a:close/>
                  <a:moveTo>
                    <a:pt x="203" y="943"/>
                  </a:moveTo>
                  <a:lnTo>
                    <a:pt x="221" y="928"/>
                  </a:lnTo>
                  <a:lnTo>
                    <a:pt x="240" y="914"/>
                  </a:lnTo>
                  <a:lnTo>
                    <a:pt x="258" y="901"/>
                  </a:lnTo>
                  <a:lnTo>
                    <a:pt x="276" y="888"/>
                  </a:lnTo>
                  <a:lnTo>
                    <a:pt x="295" y="876"/>
                  </a:lnTo>
                  <a:lnTo>
                    <a:pt x="313" y="866"/>
                  </a:lnTo>
                  <a:lnTo>
                    <a:pt x="332" y="857"/>
                  </a:lnTo>
                  <a:lnTo>
                    <a:pt x="351" y="849"/>
                  </a:lnTo>
                  <a:lnTo>
                    <a:pt x="369" y="841"/>
                  </a:lnTo>
                  <a:lnTo>
                    <a:pt x="388" y="835"/>
                  </a:lnTo>
                  <a:lnTo>
                    <a:pt x="407" y="829"/>
                  </a:lnTo>
                  <a:lnTo>
                    <a:pt x="426" y="825"/>
                  </a:lnTo>
                  <a:lnTo>
                    <a:pt x="444" y="821"/>
                  </a:lnTo>
                  <a:lnTo>
                    <a:pt x="464" y="819"/>
                  </a:lnTo>
                  <a:lnTo>
                    <a:pt x="483" y="818"/>
                  </a:lnTo>
                  <a:lnTo>
                    <a:pt x="501" y="817"/>
                  </a:lnTo>
                  <a:lnTo>
                    <a:pt x="520" y="818"/>
                  </a:lnTo>
                  <a:lnTo>
                    <a:pt x="540" y="820"/>
                  </a:lnTo>
                  <a:lnTo>
                    <a:pt x="559" y="822"/>
                  </a:lnTo>
                  <a:lnTo>
                    <a:pt x="577" y="826"/>
                  </a:lnTo>
                  <a:lnTo>
                    <a:pt x="597" y="831"/>
                  </a:lnTo>
                  <a:lnTo>
                    <a:pt x="616" y="837"/>
                  </a:lnTo>
                  <a:lnTo>
                    <a:pt x="635" y="844"/>
                  </a:lnTo>
                  <a:lnTo>
                    <a:pt x="655" y="852"/>
                  </a:lnTo>
                  <a:lnTo>
                    <a:pt x="674" y="860"/>
                  </a:lnTo>
                  <a:lnTo>
                    <a:pt x="693" y="870"/>
                  </a:lnTo>
                  <a:lnTo>
                    <a:pt x="713" y="880"/>
                  </a:lnTo>
                  <a:lnTo>
                    <a:pt x="732" y="892"/>
                  </a:lnTo>
                  <a:lnTo>
                    <a:pt x="752" y="905"/>
                  </a:lnTo>
                  <a:lnTo>
                    <a:pt x="772" y="919"/>
                  </a:lnTo>
                  <a:lnTo>
                    <a:pt x="791" y="933"/>
                  </a:lnTo>
                  <a:lnTo>
                    <a:pt x="810" y="949"/>
                  </a:lnTo>
                  <a:lnTo>
                    <a:pt x="768" y="971"/>
                  </a:lnTo>
                  <a:lnTo>
                    <a:pt x="727" y="990"/>
                  </a:lnTo>
                  <a:lnTo>
                    <a:pt x="688" y="1008"/>
                  </a:lnTo>
                  <a:lnTo>
                    <a:pt x="651" y="1024"/>
                  </a:lnTo>
                  <a:lnTo>
                    <a:pt x="633" y="1030"/>
                  </a:lnTo>
                  <a:lnTo>
                    <a:pt x="615" y="1036"/>
                  </a:lnTo>
                  <a:lnTo>
                    <a:pt x="598" y="1041"/>
                  </a:lnTo>
                  <a:lnTo>
                    <a:pt x="580" y="1046"/>
                  </a:lnTo>
                  <a:lnTo>
                    <a:pt x="563" y="1049"/>
                  </a:lnTo>
                  <a:lnTo>
                    <a:pt x="546" y="1052"/>
                  </a:lnTo>
                  <a:lnTo>
                    <a:pt x="529" y="1054"/>
                  </a:lnTo>
                  <a:lnTo>
                    <a:pt x="511" y="1056"/>
                  </a:lnTo>
                  <a:lnTo>
                    <a:pt x="495" y="1056"/>
                  </a:lnTo>
                  <a:lnTo>
                    <a:pt x="478" y="1056"/>
                  </a:lnTo>
                  <a:lnTo>
                    <a:pt x="460" y="1054"/>
                  </a:lnTo>
                  <a:lnTo>
                    <a:pt x="442" y="1052"/>
                  </a:lnTo>
                  <a:lnTo>
                    <a:pt x="425" y="1049"/>
                  </a:lnTo>
                  <a:lnTo>
                    <a:pt x="407" y="1045"/>
                  </a:lnTo>
                  <a:lnTo>
                    <a:pt x="388" y="1040"/>
                  </a:lnTo>
                  <a:lnTo>
                    <a:pt x="370" y="1034"/>
                  </a:lnTo>
                  <a:lnTo>
                    <a:pt x="351" y="1027"/>
                  </a:lnTo>
                  <a:lnTo>
                    <a:pt x="331" y="1019"/>
                  </a:lnTo>
                  <a:lnTo>
                    <a:pt x="311" y="1008"/>
                  </a:lnTo>
                  <a:lnTo>
                    <a:pt x="291" y="998"/>
                  </a:lnTo>
                  <a:lnTo>
                    <a:pt x="270" y="986"/>
                  </a:lnTo>
                  <a:lnTo>
                    <a:pt x="248" y="973"/>
                  </a:lnTo>
                  <a:lnTo>
                    <a:pt x="226" y="960"/>
                  </a:lnTo>
                  <a:lnTo>
                    <a:pt x="203" y="943"/>
                  </a:lnTo>
                  <a:close/>
                  <a:moveTo>
                    <a:pt x="1329" y="265"/>
                  </a:moveTo>
                  <a:lnTo>
                    <a:pt x="1329" y="456"/>
                  </a:lnTo>
                  <a:lnTo>
                    <a:pt x="1330" y="538"/>
                  </a:lnTo>
                  <a:lnTo>
                    <a:pt x="1325" y="729"/>
                  </a:lnTo>
                  <a:lnTo>
                    <a:pt x="976" y="864"/>
                  </a:lnTo>
                  <a:lnTo>
                    <a:pt x="983" y="386"/>
                  </a:lnTo>
                  <a:lnTo>
                    <a:pt x="1329" y="265"/>
                  </a:lnTo>
                  <a:close/>
                  <a:moveTo>
                    <a:pt x="561" y="262"/>
                  </a:moveTo>
                  <a:lnTo>
                    <a:pt x="589" y="270"/>
                  </a:lnTo>
                  <a:lnTo>
                    <a:pt x="614" y="277"/>
                  </a:lnTo>
                  <a:lnTo>
                    <a:pt x="638" y="285"/>
                  </a:lnTo>
                  <a:lnTo>
                    <a:pt x="664" y="294"/>
                  </a:lnTo>
                  <a:lnTo>
                    <a:pt x="688" y="303"/>
                  </a:lnTo>
                  <a:lnTo>
                    <a:pt x="713" y="313"/>
                  </a:lnTo>
                  <a:lnTo>
                    <a:pt x="739" y="324"/>
                  </a:lnTo>
                  <a:lnTo>
                    <a:pt x="767" y="338"/>
                  </a:lnTo>
                  <a:lnTo>
                    <a:pt x="799" y="354"/>
                  </a:lnTo>
                  <a:lnTo>
                    <a:pt x="825" y="366"/>
                  </a:lnTo>
                  <a:lnTo>
                    <a:pt x="844" y="374"/>
                  </a:lnTo>
                  <a:lnTo>
                    <a:pt x="858" y="379"/>
                  </a:lnTo>
                  <a:lnTo>
                    <a:pt x="875" y="384"/>
                  </a:lnTo>
                  <a:lnTo>
                    <a:pt x="879" y="385"/>
                  </a:lnTo>
                  <a:lnTo>
                    <a:pt x="877" y="387"/>
                  </a:lnTo>
                  <a:lnTo>
                    <a:pt x="875" y="396"/>
                  </a:lnTo>
                  <a:lnTo>
                    <a:pt x="876" y="405"/>
                  </a:lnTo>
                  <a:lnTo>
                    <a:pt x="878" y="418"/>
                  </a:lnTo>
                  <a:lnTo>
                    <a:pt x="885" y="435"/>
                  </a:lnTo>
                  <a:lnTo>
                    <a:pt x="894" y="456"/>
                  </a:lnTo>
                  <a:lnTo>
                    <a:pt x="893" y="872"/>
                  </a:lnTo>
                  <a:lnTo>
                    <a:pt x="553" y="744"/>
                  </a:lnTo>
                  <a:lnTo>
                    <a:pt x="561" y="262"/>
                  </a:lnTo>
                  <a:close/>
                  <a:moveTo>
                    <a:pt x="637" y="213"/>
                  </a:moveTo>
                  <a:lnTo>
                    <a:pt x="654" y="197"/>
                  </a:lnTo>
                  <a:lnTo>
                    <a:pt x="668" y="184"/>
                  </a:lnTo>
                  <a:lnTo>
                    <a:pt x="675" y="177"/>
                  </a:lnTo>
                  <a:lnTo>
                    <a:pt x="684" y="170"/>
                  </a:lnTo>
                  <a:lnTo>
                    <a:pt x="695" y="161"/>
                  </a:lnTo>
                  <a:lnTo>
                    <a:pt x="710" y="152"/>
                  </a:lnTo>
                  <a:lnTo>
                    <a:pt x="728" y="140"/>
                  </a:lnTo>
                  <a:lnTo>
                    <a:pt x="746" y="129"/>
                  </a:lnTo>
                  <a:lnTo>
                    <a:pt x="765" y="119"/>
                  </a:lnTo>
                  <a:lnTo>
                    <a:pt x="782" y="110"/>
                  </a:lnTo>
                  <a:lnTo>
                    <a:pt x="799" y="102"/>
                  </a:lnTo>
                  <a:lnTo>
                    <a:pt x="815" y="95"/>
                  </a:lnTo>
                  <a:lnTo>
                    <a:pt x="832" y="89"/>
                  </a:lnTo>
                  <a:lnTo>
                    <a:pt x="848" y="84"/>
                  </a:lnTo>
                  <a:lnTo>
                    <a:pt x="864" y="80"/>
                  </a:lnTo>
                  <a:lnTo>
                    <a:pt x="879" y="77"/>
                  </a:lnTo>
                  <a:lnTo>
                    <a:pt x="895" y="75"/>
                  </a:lnTo>
                  <a:lnTo>
                    <a:pt x="910" y="73"/>
                  </a:lnTo>
                  <a:lnTo>
                    <a:pt x="925" y="73"/>
                  </a:lnTo>
                  <a:lnTo>
                    <a:pt x="940" y="73"/>
                  </a:lnTo>
                  <a:lnTo>
                    <a:pt x="955" y="74"/>
                  </a:lnTo>
                  <a:lnTo>
                    <a:pt x="970" y="75"/>
                  </a:lnTo>
                  <a:lnTo>
                    <a:pt x="985" y="78"/>
                  </a:lnTo>
                  <a:lnTo>
                    <a:pt x="1000" y="81"/>
                  </a:lnTo>
                  <a:lnTo>
                    <a:pt x="1016" y="85"/>
                  </a:lnTo>
                  <a:lnTo>
                    <a:pt x="1031" y="89"/>
                  </a:lnTo>
                  <a:lnTo>
                    <a:pt x="1063" y="100"/>
                  </a:lnTo>
                  <a:lnTo>
                    <a:pt x="1095" y="114"/>
                  </a:lnTo>
                  <a:lnTo>
                    <a:pt x="1130" y="130"/>
                  </a:lnTo>
                  <a:lnTo>
                    <a:pt x="1165" y="147"/>
                  </a:lnTo>
                  <a:lnTo>
                    <a:pt x="1204" y="168"/>
                  </a:lnTo>
                  <a:lnTo>
                    <a:pt x="1245" y="189"/>
                  </a:lnTo>
                  <a:lnTo>
                    <a:pt x="1178" y="222"/>
                  </a:lnTo>
                  <a:lnTo>
                    <a:pt x="1124" y="251"/>
                  </a:lnTo>
                  <a:lnTo>
                    <a:pt x="1078" y="273"/>
                  </a:lnTo>
                  <a:lnTo>
                    <a:pt x="1040" y="291"/>
                  </a:lnTo>
                  <a:lnTo>
                    <a:pt x="1024" y="298"/>
                  </a:lnTo>
                  <a:lnTo>
                    <a:pt x="1009" y="304"/>
                  </a:lnTo>
                  <a:lnTo>
                    <a:pt x="994" y="308"/>
                  </a:lnTo>
                  <a:lnTo>
                    <a:pt x="981" y="312"/>
                  </a:lnTo>
                  <a:lnTo>
                    <a:pt x="969" y="314"/>
                  </a:lnTo>
                  <a:lnTo>
                    <a:pt x="957" y="316"/>
                  </a:lnTo>
                  <a:lnTo>
                    <a:pt x="946" y="316"/>
                  </a:lnTo>
                  <a:lnTo>
                    <a:pt x="935" y="316"/>
                  </a:lnTo>
                  <a:lnTo>
                    <a:pt x="924" y="314"/>
                  </a:lnTo>
                  <a:lnTo>
                    <a:pt x="913" y="312"/>
                  </a:lnTo>
                  <a:lnTo>
                    <a:pt x="902" y="309"/>
                  </a:lnTo>
                  <a:lnTo>
                    <a:pt x="890" y="306"/>
                  </a:lnTo>
                  <a:lnTo>
                    <a:pt x="863" y="296"/>
                  </a:lnTo>
                  <a:lnTo>
                    <a:pt x="833" y="283"/>
                  </a:lnTo>
                  <a:lnTo>
                    <a:pt x="796" y="268"/>
                  </a:lnTo>
                  <a:lnTo>
                    <a:pt x="752" y="252"/>
                  </a:lnTo>
                  <a:lnTo>
                    <a:pt x="700" y="234"/>
                  </a:lnTo>
                  <a:lnTo>
                    <a:pt x="637" y="213"/>
                  </a:lnTo>
                  <a:close/>
                  <a:moveTo>
                    <a:pt x="470" y="194"/>
                  </a:moveTo>
                  <a:lnTo>
                    <a:pt x="466" y="700"/>
                  </a:lnTo>
                  <a:lnTo>
                    <a:pt x="0" y="929"/>
                  </a:lnTo>
                  <a:lnTo>
                    <a:pt x="1" y="1557"/>
                  </a:lnTo>
                  <a:lnTo>
                    <a:pt x="46" y="1575"/>
                  </a:lnTo>
                  <a:lnTo>
                    <a:pt x="101" y="1598"/>
                  </a:lnTo>
                  <a:lnTo>
                    <a:pt x="167" y="1626"/>
                  </a:lnTo>
                  <a:lnTo>
                    <a:pt x="235" y="1655"/>
                  </a:lnTo>
                  <a:lnTo>
                    <a:pt x="302" y="1684"/>
                  </a:lnTo>
                  <a:lnTo>
                    <a:pt x="365" y="1709"/>
                  </a:lnTo>
                  <a:lnTo>
                    <a:pt x="393" y="1719"/>
                  </a:lnTo>
                  <a:lnTo>
                    <a:pt x="420" y="1728"/>
                  </a:lnTo>
                  <a:lnTo>
                    <a:pt x="442" y="1734"/>
                  </a:lnTo>
                  <a:lnTo>
                    <a:pt x="460" y="1738"/>
                  </a:lnTo>
                  <a:lnTo>
                    <a:pt x="477" y="1741"/>
                  </a:lnTo>
                  <a:lnTo>
                    <a:pt x="493" y="1742"/>
                  </a:lnTo>
                  <a:lnTo>
                    <a:pt x="509" y="1742"/>
                  </a:lnTo>
                  <a:lnTo>
                    <a:pt x="526" y="1741"/>
                  </a:lnTo>
                  <a:lnTo>
                    <a:pt x="541" y="1738"/>
                  </a:lnTo>
                  <a:lnTo>
                    <a:pt x="556" y="1736"/>
                  </a:lnTo>
                  <a:lnTo>
                    <a:pt x="571" y="1733"/>
                  </a:lnTo>
                  <a:lnTo>
                    <a:pt x="587" y="1729"/>
                  </a:lnTo>
                  <a:lnTo>
                    <a:pt x="616" y="1719"/>
                  </a:lnTo>
                  <a:lnTo>
                    <a:pt x="646" y="1708"/>
                  </a:lnTo>
                  <a:lnTo>
                    <a:pt x="674" y="1696"/>
                  </a:lnTo>
                  <a:lnTo>
                    <a:pt x="703" y="1682"/>
                  </a:lnTo>
                  <a:lnTo>
                    <a:pt x="731" y="1667"/>
                  </a:lnTo>
                  <a:lnTo>
                    <a:pt x="758" y="1653"/>
                  </a:lnTo>
                  <a:lnTo>
                    <a:pt x="787" y="1640"/>
                  </a:lnTo>
                  <a:lnTo>
                    <a:pt x="815" y="1628"/>
                  </a:lnTo>
                  <a:lnTo>
                    <a:pt x="830" y="1623"/>
                  </a:lnTo>
                  <a:lnTo>
                    <a:pt x="844" y="1617"/>
                  </a:lnTo>
                  <a:lnTo>
                    <a:pt x="859" y="1613"/>
                  </a:lnTo>
                  <a:lnTo>
                    <a:pt x="873" y="1609"/>
                  </a:lnTo>
                  <a:lnTo>
                    <a:pt x="889" y="1606"/>
                  </a:lnTo>
                  <a:lnTo>
                    <a:pt x="904" y="1604"/>
                  </a:lnTo>
                  <a:lnTo>
                    <a:pt x="919" y="1602"/>
                  </a:lnTo>
                  <a:lnTo>
                    <a:pt x="934" y="1602"/>
                  </a:lnTo>
                  <a:lnTo>
                    <a:pt x="950" y="1602"/>
                  </a:lnTo>
                  <a:lnTo>
                    <a:pt x="966" y="1603"/>
                  </a:lnTo>
                  <a:lnTo>
                    <a:pt x="981" y="1605"/>
                  </a:lnTo>
                  <a:lnTo>
                    <a:pt x="995" y="1608"/>
                  </a:lnTo>
                  <a:lnTo>
                    <a:pt x="1011" y="1611"/>
                  </a:lnTo>
                  <a:lnTo>
                    <a:pt x="1026" y="1615"/>
                  </a:lnTo>
                  <a:lnTo>
                    <a:pt x="1040" y="1621"/>
                  </a:lnTo>
                  <a:lnTo>
                    <a:pt x="1054" y="1626"/>
                  </a:lnTo>
                  <a:lnTo>
                    <a:pt x="1083" y="1637"/>
                  </a:lnTo>
                  <a:lnTo>
                    <a:pt x="1111" y="1650"/>
                  </a:lnTo>
                  <a:lnTo>
                    <a:pt x="1139" y="1664"/>
                  </a:lnTo>
                  <a:lnTo>
                    <a:pt x="1167" y="1677"/>
                  </a:lnTo>
                  <a:lnTo>
                    <a:pt x="1195" y="1692"/>
                  </a:lnTo>
                  <a:lnTo>
                    <a:pt x="1223" y="1705"/>
                  </a:lnTo>
                  <a:lnTo>
                    <a:pt x="1252" y="1716"/>
                  </a:lnTo>
                  <a:lnTo>
                    <a:pt x="1281" y="1726"/>
                  </a:lnTo>
                  <a:lnTo>
                    <a:pt x="1295" y="1730"/>
                  </a:lnTo>
                  <a:lnTo>
                    <a:pt x="1311" y="1734"/>
                  </a:lnTo>
                  <a:lnTo>
                    <a:pt x="1326" y="1737"/>
                  </a:lnTo>
                  <a:lnTo>
                    <a:pt x="1341" y="1739"/>
                  </a:lnTo>
                  <a:lnTo>
                    <a:pt x="1357" y="1741"/>
                  </a:lnTo>
                  <a:lnTo>
                    <a:pt x="1373" y="1741"/>
                  </a:lnTo>
                  <a:lnTo>
                    <a:pt x="1389" y="1741"/>
                  </a:lnTo>
                  <a:lnTo>
                    <a:pt x="1405" y="1738"/>
                  </a:lnTo>
                  <a:lnTo>
                    <a:pt x="1425" y="1735"/>
                  </a:lnTo>
                  <a:lnTo>
                    <a:pt x="1446" y="1729"/>
                  </a:lnTo>
                  <a:lnTo>
                    <a:pt x="1471" y="1721"/>
                  </a:lnTo>
                  <a:lnTo>
                    <a:pt x="1500" y="1712"/>
                  </a:lnTo>
                  <a:lnTo>
                    <a:pt x="1562" y="1688"/>
                  </a:lnTo>
                  <a:lnTo>
                    <a:pt x="1629" y="1660"/>
                  </a:lnTo>
                  <a:lnTo>
                    <a:pt x="1697" y="1631"/>
                  </a:lnTo>
                  <a:lnTo>
                    <a:pt x="1762" y="1604"/>
                  </a:lnTo>
                  <a:lnTo>
                    <a:pt x="1819" y="1580"/>
                  </a:lnTo>
                  <a:lnTo>
                    <a:pt x="1866" y="1563"/>
                  </a:lnTo>
                  <a:lnTo>
                    <a:pt x="1864" y="943"/>
                  </a:lnTo>
                  <a:lnTo>
                    <a:pt x="1841" y="925"/>
                  </a:lnTo>
                  <a:lnTo>
                    <a:pt x="1816" y="908"/>
                  </a:lnTo>
                  <a:lnTo>
                    <a:pt x="1790" y="891"/>
                  </a:lnTo>
                  <a:lnTo>
                    <a:pt x="1763" y="876"/>
                  </a:lnTo>
                  <a:lnTo>
                    <a:pt x="1736" y="862"/>
                  </a:lnTo>
                  <a:lnTo>
                    <a:pt x="1707" y="848"/>
                  </a:lnTo>
                  <a:lnTo>
                    <a:pt x="1679" y="836"/>
                  </a:lnTo>
                  <a:lnTo>
                    <a:pt x="1649" y="823"/>
                  </a:lnTo>
                  <a:lnTo>
                    <a:pt x="1620" y="811"/>
                  </a:lnTo>
                  <a:lnTo>
                    <a:pt x="1589" y="800"/>
                  </a:lnTo>
                  <a:lnTo>
                    <a:pt x="1559" y="790"/>
                  </a:lnTo>
                  <a:lnTo>
                    <a:pt x="1528" y="780"/>
                  </a:lnTo>
                  <a:lnTo>
                    <a:pt x="1466" y="760"/>
                  </a:lnTo>
                  <a:lnTo>
                    <a:pt x="1404" y="742"/>
                  </a:lnTo>
                  <a:lnTo>
                    <a:pt x="1399" y="189"/>
                  </a:lnTo>
                  <a:lnTo>
                    <a:pt x="1368" y="167"/>
                  </a:lnTo>
                  <a:lnTo>
                    <a:pt x="1337" y="145"/>
                  </a:lnTo>
                  <a:lnTo>
                    <a:pt x="1307" y="126"/>
                  </a:lnTo>
                  <a:lnTo>
                    <a:pt x="1276" y="108"/>
                  </a:lnTo>
                  <a:lnTo>
                    <a:pt x="1247" y="90"/>
                  </a:lnTo>
                  <a:lnTo>
                    <a:pt x="1217" y="75"/>
                  </a:lnTo>
                  <a:lnTo>
                    <a:pt x="1189" y="61"/>
                  </a:lnTo>
                  <a:lnTo>
                    <a:pt x="1160" y="49"/>
                  </a:lnTo>
                  <a:lnTo>
                    <a:pt x="1132" y="37"/>
                  </a:lnTo>
                  <a:lnTo>
                    <a:pt x="1103" y="27"/>
                  </a:lnTo>
                  <a:lnTo>
                    <a:pt x="1076" y="19"/>
                  </a:lnTo>
                  <a:lnTo>
                    <a:pt x="1047" y="12"/>
                  </a:lnTo>
                  <a:lnTo>
                    <a:pt x="1020" y="7"/>
                  </a:lnTo>
                  <a:lnTo>
                    <a:pt x="992" y="3"/>
                  </a:lnTo>
                  <a:lnTo>
                    <a:pt x="965" y="1"/>
                  </a:lnTo>
                  <a:lnTo>
                    <a:pt x="937" y="0"/>
                  </a:lnTo>
                  <a:lnTo>
                    <a:pt x="910" y="0"/>
                  </a:lnTo>
                  <a:lnTo>
                    <a:pt x="883" y="2"/>
                  </a:lnTo>
                  <a:lnTo>
                    <a:pt x="855" y="6"/>
                  </a:lnTo>
                  <a:lnTo>
                    <a:pt x="828" y="11"/>
                  </a:lnTo>
                  <a:lnTo>
                    <a:pt x="799" y="17"/>
                  </a:lnTo>
                  <a:lnTo>
                    <a:pt x="771" y="26"/>
                  </a:lnTo>
                  <a:lnTo>
                    <a:pt x="742" y="35"/>
                  </a:lnTo>
                  <a:lnTo>
                    <a:pt x="714" y="47"/>
                  </a:lnTo>
                  <a:lnTo>
                    <a:pt x="685" y="60"/>
                  </a:lnTo>
                  <a:lnTo>
                    <a:pt x="656" y="74"/>
                  </a:lnTo>
                  <a:lnTo>
                    <a:pt x="626" y="90"/>
                  </a:lnTo>
                  <a:lnTo>
                    <a:pt x="596" y="108"/>
                  </a:lnTo>
                  <a:lnTo>
                    <a:pt x="565" y="127"/>
                  </a:lnTo>
                  <a:lnTo>
                    <a:pt x="534" y="148"/>
                  </a:lnTo>
                  <a:lnTo>
                    <a:pt x="502" y="171"/>
                  </a:lnTo>
                  <a:lnTo>
                    <a:pt x="470" y="194"/>
                  </a:lnTo>
                  <a:close/>
                </a:path>
              </a:pathLst>
            </a:custGeom>
            <a:solidFill>
              <a:schemeClr val="accent4"/>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pic>
          <p:nvPicPr>
            <p:cNvPr id="17" name="Picture 16"/>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3684617" y="1628471"/>
              <a:ext cx="884633" cy="830967"/>
            </a:xfrm>
            <a:prstGeom prst="rect">
              <a:avLst/>
            </a:prstGeom>
          </p:spPr>
        </p:pic>
        <p:sp>
          <p:nvSpPr>
            <p:cNvPr id="18" name="Freeform 11"/>
            <p:cNvSpPr>
              <a:spLocks noEditPoints="1"/>
            </p:cNvSpPr>
            <p:nvPr/>
          </p:nvSpPr>
          <p:spPr bwMode="auto">
            <a:xfrm>
              <a:off x="9670867" y="1757107"/>
              <a:ext cx="1087733" cy="573693"/>
            </a:xfrm>
            <a:custGeom>
              <a:avLst/>
              <a:gdLst>
                <a:gd name="T0" fmla="*/ 1453 w 2414"/>
                <a:gd name="T1" fmla="*/ 1265 h 1273"/>
                <a:gd name="T2" fmla="*/ 976 w 2414"/>
                <a:gd name="T3" fmla="*/ 1261 h 1273"/>
                <a:gd name="T4" fmla="*/ 693 w 2414"/>
                <a:gd name="T5" fmla="*/ 1180 h 1273"/>
                <a:gd name="T6" fmla="*/ 643 w 2414"/>
                <a:gd name="T7" fmla="*/ 1066 h 1273"/>
                <a:gd name="T8" fmla="*/ 786 w 2414"/>
                <a:gd name="T9" fmla="*/ 921 h 1273"/>
                <a:gd name="T10" fmla="*/ 1032 w 2414"/>
                <a:gd name="T11" fmla="*/ 804 h 1273"/>
                <a:gd name="T12" fmla="*/ 1088 w 2414"/>
                <a:gd name="T13" fmla="*/ 722 h 1273"/>
                <a:gd name="T14" fmla="*/ 1005 w 2414"/>
                <a:gd name="T15" fmla="*/ 595 h 1273"/>
                <a:gd name="T16" fmla="*/ 921 w 2414"/>
                <a:gd name="T17" fmla="*/ 383 h 1273"/>
                <a:gd name="T18" fmla="*/ 946 w 2414"/>
                <a:gd name="T19" fmla="*/ 156 h 1273"/>
                <a:gd name="T20" fmla="*/ 1101 w 2414"/>
                <a:gd name="T21" fmla="*/ 27 h 1273"/>
                <a:gd name="T22" fmla="*/ 1305 w 2414"/>
                <a:gd name="T23" fmla="*/ 6 h 1273"/>
                <a:gd name="T24" fmla="*/ 1495 w 2414"/>
                <a:gd name="T25" fmla="*/ 101 h 1273"/>
                <a:gd name="T26" fmla="*/ 1561 w 2414"/>
                <a:gd name="T27" fmla="*/ 305 h 1273"/>
                <a:gd name="T28" fmla="*/ 1513 w 2414"/>
                <a:gd name="T29" fmla="*/ 530 h 1273"/>
                <a:gd name="T30" fmla="*/ 1398 w 2414"/>
                <a:gd name="T31" fmla="*/ 689 h 1273"/>
                <a:gd name="T32" fmla="*/ 1415 w 2414"/>
                <a:gd name="T33" fmla="*/ 782 h 1273"/>
                <a:gd name="T34" fmla="*/ 1603 w 2414"/>
                <a:gd name="T35" fmla="*/ 872 h 1273"/>
                <a:gd name="T36" fmla="*/ 1812 w 2414"/>
                <a:gd name="T37" fmla="*/ 1023 h 1273"/>
                <a:gd name="T38" fmla="*/ 1816 w 2414"/>
                <a:gd name="T39" fmla="*/ 1140 h 1273"/>
                <a:gd name="T40" fmla="*/ 1751 w 2414"/>
                <a:gd name="T41" fmla="*/ 1199 h 1273"/>
                <a:gd name="T42" fmla="*/ 2235 w 2414"/>
                <a:gd name="T43" fmla="*/ 983 h 1273"/>
                <a:gd name="T44" fmla="*/ 2120 w 2414"/>
                <a:gd name="T45" fmla="*/ 926 h 1273"/>
                <a:gd name="T46" fmla="*/ 2118 w 2414"/>
                <a:gd name="T47" fmla="*/ 860 h 1273"/>
                <a:gd name="T48" fmla="*/ 2201 w 2414"/>
                <a:gd name="T49" fmla="*/ 740 h 1273"/>
                <a:gd name="T50" fmla="*/ 2227 w 2414"/>
                <a:gd name="T51" fmla="*/ 581 h 1273"/>
                <a:gd name="T52" fmla="*/ 2170 w 2414"/>
                <a:gd name="T53" fmla="*/ 447 h 1273"/>
                <a:gd name="T54" fmla="*/ 2033 w 2414"/>
                <a:gd name="T55" fmla="*/ 390 h 1273"/>
                <a:gd name="T56" fmla="*/ 1891 w 2414"/>
                <a:gd name="T57" fmla="*/ 413 h 1273"/>
                <a:gd name="T58" fmla="*/ 1793 w 2414"/>
                <a:gd name="T59" fmla="*/ 512 h 1273"/>
                <a:gd name="T60" fmla="*/ 1785 w 2414"/>
                <a:gd name="T61" fmla="*/ 671 h 1273"/>
                <a:gd name="T62" fmla="*/ 1851 w 2414"/>
                <a:gd name="T63" fmla="*/ 818 h 1273"/>
                <a:gd name="T64" fmla="*/ 1897 w 2414"/>
                <a:gd name="T65" fmla="*/ 897 h 1273"/>
                <a:gd name="T66" fmla="*/ 1851 w 2414"/>
                <a:gd name="T67" fmla="*/ 951 h 1273"/>
                <a:gd name="T68" fmla="*/ 1897 w 2414"/>
                <a:gd name="T69" fmla="*/ 1020 h 1273"/>
                <a:gd name="T70" fmla="*/ 1896 w 2414"/>
                <a:gd name="T71" fmla="*/ 1153 h 1273"/>
                <a:gd name="T72" fmla="*/ 1837 w 2414"/>
                <a:gd name="T73" fmla="*/ 1221 h 1273"/>
                <a:gd name="T74" fmla="*/ 1819 w 2414"/>
                <a:gd name="T75" fmla="*/ 1264 h 1273"/>
                <a:gd name="T76" fmla="*/ 2117 w 2414"/>
                <a:gd name="T77" fmla="*/ 1270 h 1273"/>
                <a:gd name="T78" fmla="*/ 2359 w 2414"/>
                <a:gd name="T79" fmla="*/ 1223 h 1273"/>
                <a:gd name="T80" fmla="*/ 2414 w 2414"/>
                <a:gd name="T81" fmla="*/ 1143 h 1273"/>
                <a:gd name="T82" fmla="*/ 560 w 2414"/>
                <a:gd name="T83" fmla="*/ 1104 h 1273"/>
                <a:gd name="T84" fmla="*/ 585 w 2414"/>
                <a:gd name="T85" fmla="*/ 1007 h 1273"/>
                <a:gd name="T86" fmla="*/ 621 w 2414"/>
                <a:gd name="T87" fmla="*/ 913 h 1273"/>
                <a:gd name="T88" fmla="*/ 578 w 2414"/>
                <a:gd name="T89" fmla="*/ 849 h 1273"/>
                <a:gd name="T90" fmla="*/ 642 w 2414"/>
                <a:gd name="T91" fmla="*/ 752 h 1273"/>
                <a:gd name="T92" fmla="*/ 706 w 2414"/>
                <a:gd name="T93" fmla="*/ 588 h 1273"/>
                <a:gd name="T94" fmla="*/ 687 w 2414"/>
                <a:gd name="T95" fmla="*/ 413 h 1273"/>
                <a:gd name="T96" fmla="*/ 568 w 2414"/>
                <a:gd name="T97" fmla="*/ 314 h 1273"/>
                <a:gd name="T98" fmla="*/ 410 w 2414"/>
                <a:gd name="T99" fmla="*/ 298 h 1273"/>
                <a:gd name="T100" fmla="*/ 264 w 2414"/>
                <a:gd name="T101" fmla="*/ 371 h 1273"/>
                <a:gd name="T102" fmla="*/ 214 w 2414"/>
                <a:gd name="T103" fmla="*/ 527 h 1273"/>
                <a:gd name="T104" fmla="*/ 251 w 2414"/>
                <a:gd name="T105" fmla="*/ 699 h 1273"/>
                <a:gd name="T106" fmla="*/ 338 w 2414"/>
                <a:gd name="T107" fmla="*/ 823 h 1273"/>
                <a:gd name="T108" fmla="*/ 326 w 2414"/>
                <a:gd name="T109" fmla="*/ 895 h 1273"/>
                <a:gd name="T110" fmla="*/ 182 w 2414"/>
                <a:gd name="T111" fmla="*/ 964 h 1273"/>
                <a:gd name="T112" fmla="*/ 16 w 2414"/>
                <a:gd name="T113" fmla="*/ 1085 h 1273"/>
                <a:gd name="T114" fmla="*/ 13 w 2414"/>
                <a:gd name="T115" fmla="*/ 1174 h 1273"/>
                <a:gd name="T116" fmla="*/ 152 w 2414"/>
                <a:gd name="T117" fmla="*/ 1246 h 1273"/>
                <a:gd name="T118" fmla="*/ 496 w 2414"/>
                <a:gd name="T119" fmla="*/ 1273 h 1273"/>
                <a:gd name="T120" fmla="*/ 692 w 2414"/>
                <a:gd name="T121" fmla="*/ 1247 h 1273"/>
                <a:gd name="T122" fmla="*/ 603 w 2414"/>
                <a:gd name="T123" fmla="*/ 1192 h 1273"/>
                <a:gd name="T124" fmla="*/ 561 w 2414"/>
                <a:gd name="T125" fmla="*/ 111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14" h="1273">
                  <a:moveTo>
                    <a:pt x="1751" y="1199"/>
                  </a:moveTo>
                  <a:lnTo>
                    <a:pt x="1724" y="1211"/>
                  </a:lnTo>
                  <a:lnTo>
                    <a:pt x="1697" y="1221"/>
                  </a:lnTo>
                  <a:lnTo>
                    <a:pt x="1669" y="1229"/>
                  </a:lnTo>
                  <a:lnTo>
                    <a:pt x="1641" y="1237"/>
                  </a:lnTo>
                  <a:lnTo>
                    <a:pt x="1595" y="1247"/>
                  </a:lnTo>
                  <a:lnTo>
                    <a:pt x="1549" y="1255"/>
                  </a:lnTo>
                  <a:lnTo>
                    <a:pt x="1501" y="1261"/>
                  </a:lnTo>
                  <a:lnTo>
                    <a:pt x="1453" y="1265"/>
                  </a:lnTo>
                  <a:lnTo>
                    <a:pt x="1402" y="1269"/>
                  </a:lnTo>
                  <a:lnTo>
                    <a:pt x="1351" y="1271"/>
                  </a:lnTo>
                  <a:lnTo>
                    <a:pt x="1296" y="1272"/>
                  </a:lnTo>
                  <a:lnTo>
                    <a:pt x="1239" y="1273"/>
                  </a:lnTo>
                  <a:lnTo>
                    <a:pt x="1182" y="1272"/>
                  </a:lnTo>
                  <a:lnTo>
                    <a:pt x="1128" y="1271"/>
                  </a:lnTo>
                  <a:lnTo>
                    <a:pt x="1075" y="1269"/>
                  </a:lnTo>
                  <a:lnTo>
                    <a:pt x="1026" y="1265"/>
                  </a:lnTo>
                  <a:lnTo>
                    <a:pt x="976" y="1261"/>
                  </a:lnTo>
                  <a:lnTo>
                    <a:pt x="929" y="1255"/>
                  </a:lnTo>
                  <a:lnTo>
                    <a:pt x="883" y="1247"/>
                  </a:lnTo>
                  <a:lnTo>
                    <a:pt x="837" y="1237"/>
                  </a:lnTo>
                  <a:lnTo>
                    <a:pt x="809" y="1229"/>
                  </a:lnTo>
                  <a:lnTo>
                    <a:pt x="780" y="1221"/>
                  </a:lnTo>
                  <a:lnTo>
                    <a:pt x="753" y="1211"/>
                  </a:lnTo>
                  <a:lnTo>
                    <a:pt x="726" y="1199"/>
                  </a:lnTo>
                  <a:lnTo>
                    <a:pt x="708" y="1190"/>
                  </a:lnTo>
                  <a:lnTo>
                    <a:pt x="693" y="1180"/>
                  </a:lnTo>
                  <a:lnTo>
                    <a:pt x="678" y="1169"/>
                  </a:lnTo>
                  <a:lnTo>
                    <a:pt x="667" y="1156"/>
                  </a:lnTo>
                  <a:lnTo>
                    <a:pt x="658" y="1145"/>
                  </a:lnTo>
                  <a:lnTo>
                    <a:pt x="650" y="1133"/>
                  </a:lnTo>
                  <a:lnTo>
                    <a:pt x="645" y="1119"/>
                  </a:lnTo>
                  <a:lnTo>
                    <a:pt x="642" y="1107"/>
                  </a:lnTo>
                  <a:lnTo>
                    <a:pt x="641" y="1093"/>
                  </a:lnTo>
                  <a:lnTo>
                    <a:pt x="641" y="1080"/>
                  </a:lnTo>
                  <a:lnTo>
                    <a:pt x="643" y="1066"/>
                  </a:lnTo>
                  <a:lnTo>
                    <a:pt x="648" y="1054"/>
                  </a:lnTo>
                  <a:lnTo>
                    <a:pt x="653" y="1041"/>
                  </a:lnTo>
                  <a:lnTo>
                    <a:pt x="660" y="1029"/>
                  </a:lnTo>
                  <a:lnTo>
                    <a:pt x="669" y="1017"/>
                  </a:lnTo>
                  <a:lnTo>
                    <a:pt x="680" y="1005"/>
                  </a:lnTo>
                  <a:lnTo>
                    <a:pt x="705" y="982"/>
                  </a:lnTo>
                  <a:lnTo>
                    <a:pt x="731" y="959"/>
                  </a:lnTo>
                  <a:lnTo>
                    <a:pt x="758" y="939"/>
                  </a:lnTo>
                  <a:lnTo>
                    <a:pt x="786" y="921"/>
                  </a:lnTo>
                  <a:lnTo>
                    <a:pt x="815" y="903"/>
                  </a:lnTo>
                  <a:lnTo>
                    <a:pt x="846" y="886"/>
                  </a:lnTo>
                  <a:lnTo>
                    <a:pt x="876" y="872"/>
                  </a:lnTo>
                  <a:lnTo>
                    <a:pt x="906" y="856"/>
                  </a:lnTo>
                  <a:lnTo>
                    <a:pt x="935" y="843"/>
                  </a:lnTo>
                  <a:lnTo>
                    <a:pt x="963" y="832"/>
                  </a:lnTo>
                  <a:lnTo>
                    <a:pt x="992" y="821"/>
                  </a:lnTo>
                  <a:lnTo>
                    <a:pt x="1020" y="810"/>
                  </a:lnTo>
                  <a:lnTo>
                    <a:pt x="1032" y="804"/>
                  </a:lnTo>
                  <a:lnTo>
                    <a:pt x="1044" y="797"/>
                  </a:lnTo>
                  <a:lnTo>
                    <a:pt x="1054" y="791"/>
                  </a:lnTo>
                  <a:lnTo>
                    <a:pt x="1063" y="782"/>
                  </a:lnTo>
                  <a:lnTo>
                    <a:pt x="1071" y="774"/>
                  </a:lnTo>
                  <a:lnTo>
                    <a:pt x="1076" y="764"/>
                  </a:lnTo>
                  <a:lnTo>
                    <a:pt x="1082" y="753"/>
                  </a:lnTo>
                  <a:lnTo>
                    <a:pt x="1085" y="743"/>
                  </a:lnTo>
                  <a:lnTo>
                    <a:pt x="1086" y="733"/>
                  </a:lnTo>
                  <a:lnTo>
                    <a:pt x="1088" y="722"/>
                  </a:lnTo>
                  <a:lnTo>
                    <a:pt x="1086" y="711"/>
                  </a:lnTo>
                  <a:lnTo>
                    <a:pt x="1084" y="699"/>
                  </a:lnTo>
                  <a:lnTo>
                    <a:pt x="1080" y="689"/>
                  </a:lnTo>
                  <a:lnTo>
                    <a:pt x="1074" y="678"/>
                  </a:lnTo>
                  <a:lnTo>
                    <a:pt x="1067" y="668"/>
                  </a:lnTo>
                  <a:lnTo>
                    <a:pt x="1058" y="658"/>
                  </a:lnTo>
                  <a:lnTo>
                    <a:pt x="1039" y="638"/>
                  </a:lnTo>
                  <a:lnTo>
                    <a:pt x="1021" y="616"/>
                  </a:lnTo>
                  <a:lnTo>
                    <a:pt x="1005" y="595"/>
                  </a:lnTo>
                  <a:lnTo>
                    <a:pt x="990" y="573"/>
                  </a:lnTo>
                  <a:lnTo>
                    <a:pt x="977" y="551"/>
                  </a:lnTo>
                  <a:lnTo>
                    <a:pt x="965" y="528"/>
                  </a:lnTo>
                  <a:lnTo>
                    <a:pt x="955" y="505"/>
                  </a:lnTo>
                  <a:lnTo>
                    <a:pt x="946" y="481"/>
                  </a:lnTo>
                  <a:lnTo>
                    <a:pt x="938" y="458"/>
                  </a:lnTo>
                  <a:lnTo>
                    <a:pt x="931" y="433"/>
                  </a:lnTo>
                  <a:lnTo>
                    <a:pt x="926" y="408"/>
                  </a:lnTo>
                  <a:lnTo>
                    <a:pt x="921" y="383"/>
                  </a:lnTo>
                  <a:lnTo>
                    <a:pt x="919" y="357"/>
                  </a:lnTo>
                  <a:lnTo>
                    <a:pt x="917" y="332"/>
                  </a:lnTo>
                  <a:lnTo>
                    <a:pt x="917" y="305"/>
                  </a:lnTo>
                  <a:lnTo>
                    <a:pt x="917" y="279"/>
                  </a:lnTo>
                  <a:lnTo>
                    <a:pt x="919" y="251"/>
                  </a:lnTo>
                  <a:lnTo>
                    <a:pt x="923" y="225"/>
                  </a:lnTo>
                  <a:lnTo>
                    <a:pt x="929" y="200"/>
                  </a:lnTo>
                  <a:lnTo>
                    <a:pt x="937" y="177"/>
                  </a:lnTo>
                  <a:lnTo>
                    <a:pt x="946" y="156"/>
                  </a:lnTo>
                  <a:lnTo>
                    <a:pt x="957" y="136"/>
                  </a:lnTo>
                  <a:lnTo>
                    <a:pt x="969" y="118"/>
                  </a:lnTo>
                  <a:lnTo>
                    <a:pt x="984" y="101"/>
                  </a:lnTo>
                  <a:lnTo>
                    <a:pt x="1000" y="85"/>
                  </a:lnTo>
                  <a:lnTo>
                    <a:pt x="1018" y="71"/>
                  </a:lnTo>
                  <a:lnTo>
                    <a:pt x="1036" y="58"/>
                  </a:lnTo>
                  <a:lnTo>
                    <a:pt x="1057" y="46"/>
                  </a:lnTo>
                  <a:lnTo>
                    <a:pt x="1079" y="36"/>
                  </a:lnTo>
                  <a:lnTo>
                    <a:pt x="1101" y="27"/>
                  </a:lnTo>
                  <a:lnTo>
                    <a:pt x="1126" y="18"/>
                  </a:lnTo>
                  <a:lnTo>
                    <a:pt x="1152" y="11"/>
                  </a:lnTo>
                  <a:lnTo>
                    <a:pt x="1173" y="6"/>
                  </a:lnTo>
                  <a:lnTo>
                    <a:pt x="1195" y="3"/>
                  </a:lnTo>
                  <a:lnTo>
                    <a:pt x="1218" y="1"/>
                  </a:lnTo>
                  <a:lnTo>
                    <a:pt x="1239" y="0"/>
                  </a:lnTo>
                  <a:lnTo>
                    <a:pt x="1261" y="1"/>
                  </a:lnTo>
                  <a:lnTo>
                    <a:pt x="1282" y="3"/>
                  </a:lnTo>
                  <a:lnTo>
                    <a:pt x="1305" y="6"/>
                  </a:lnTo>
                  <a:lnTo>
                    <a:pt x="1327" y="11"/>
                  </a:lnTo>
                  <a:lnTo>
                    <a:pt x="1353" y="18"/>
                  </a:lnTo>
                  <a:lnTo>
                    <a:pt x="1377" y="27"/>
                  </a:lnTo>
                  <a:lnTo>
                    <a:pt x="1400" y="36"/>
                  </a:lnTo>
                  <a:lnTo>
                    <a:pt x="1422" y="46"/>
                  </a:lnTo>
                  <a:lnTo>
                    <a:pt x="1442" y="58"/>
                  </a:lnTo>
                  <a:lnTo>
                    <a:pt x="1461" y="71"/>
                  </a:lnTo>
                  <a:lnTo>
                    <a:pt x="1479" y="85"/>
                  </a:lnTo>
                  <a:lnTo>
                    <a:pt x="1495" y="101"/>
                  </a:lnTo>
                  <a:lnTo>
                    <a:pt x="1509" y="118"/>
                  </a:lnTo>
                  <a:lnTo>
                    <a:pt x="1522" y="136"/>
                  </a:lnTo>
                  <a:lnTo>
                    <a:pt x="1533" y="156"/>
                  </a:lnTo>
                  <a:lnTo>
                    <a:pt x="1542" y="177"/>
                  </a:lnTo>
                  <a:lnTo>
                    <a:pt x="1550" y="200"/>
                  </a:lnTo>
                  <a:lnTo>
                    <a:pt x="1555" y="225"/>
                  </a:lnTo>
                  <a:lnTo>
                    <a:pt x="1559" y="251"/>
                  </a:lnTo>
                  <a:lnTo>
                    <a:pt x="1561" y="279"/>
                  </a:lnTo>
                  <a:lnTo>
                    <a:pt x="1561" y="305"/>
                  </a:lnTo>
                  <a:lnTo>
                    <a:pt x="1561" y="332"/>
                  </a:lnTo>
                  <a:lnTo>
                    <a:pt x="1559" y="357"/>
                  </a:lnTo>
                  <a:lnTo>
                    <a:pt x="1557" y="383"/>
                  </a:lnTo>
                  <a:lnTo>
                    <a:pt x="1552" y="409"/>
                  </a:lnTo>
                  <a:lnTo>
                    <a:pt x="1548" y="434"/>
                  </a:lnTo>
                  <a:lnTo>
                    <a:pt x="1541" y="459"/>
                  </a:lnTo>
                  <a:lnTo>
                    <a:pt x="1533" y="482"/>
                  </a:lnTo>
                  <a:lnTo>
                    <a:pt x="1524" y="506"/>
                  </a:lnTo>
                  <a:lnTo>
                    <a:pt x="1513" y="530"/>
                  </a:lnTo>
                  <a:lnTo>
                    <a:pt x="1501" y="552"/>
                  </a:lnTo>
                  <a:lnTo>
                    <a:pt x="1488" y="575"/>
                  </a:lnTo>
                  <a:lnTo>
                    <a:pt x="1473" y="596"/>
                  </a:lnTo>
                  <a:lnTo>
                    <a:pt x="1456" y="617"/>
                  </a:lnTo>
                  <a:lnTo>
                    <a:pt x="1440" y="638"/>
                  </a:lnTo>
                  <a:lnTo>
                    <a:pt x="1419" y="658"/>
                  </a:lnTo>
                  <a:lnTo>
                    <a:pt x="1410" y="668"/>
                  </a:lnTo>
                  <a:lnTo>
                    <a:pt x="1404" y="678"/>
                  </a:lnTo>
                  <a:lnTo>
                    <a:pt x="1398" y="689"/>
                  </a:lnTo>
                  <a:lnTo>
                    <a:pt x="1393" y="699"/>
                  </a:lnTo>
                  <a:lnTo>
                    <a:pt x="1391" y="711"/>
                  </a:lnTo>
                  <a:lnTo>
                    <a:pt x="1390" y="722"/>
                  </a:lnTo>
                  <a:lnTo>
                    <a:pt x="1391" y="732"/>
                  </a:lnTo>
                  <a:lnTo>
                    <a:pt x="1392" y="743"/>
                  </a:lnTo>
                  <a:lnTo>
                    <a:pt x="1397" y="753"/>
                  </a:lnTo>
                  <a:lnTo>
                    <a:pt x="1401" y="764"/>
                  </a:lnTo>
                  <a:lnTo>
                    <a:pt x="1407" y="773"/>
                  </a:lnTo>
                  <a:lnTo>
                    <a:pt x="1415" y="782"/>
                  </a:lnTo>
                  <a:lnTo>
                    <a:pt x="1424" y="791"/>
                  </a:lnTo>
                  <a:lnTo>
                    <a:pt x="1434" y="797"/>
                  </a:lnTo>
                  <a:lnTo>
                    <a:pt x="1445" y="804"/>
                  </a:lnTo>
                  <a:lnTo>
                    <a:pt x="1459" y="810"/>
                  </a:lnTo>
                  <a:lnTo>
                    <a:pt x="1487" y="821"/>
                  </a:lnTo>
                  <a:lnTo>
                    <a:pt x="1515" y="832"/>
                  </a:lnTo>
                  <a:lnTo>
                    <a:pt x="1543" y="843"/>
                  </a:lnTo>
                  <a:lnTo>
                    <a:pt x="1571" y="856"/>
                  </a:lnTo>
                  <a:lnTo>
                    <a:pt x="1603" y="872"/>
                  </a:lnTo>
                  <a:lnTo>
                    <a:pt x="1633" y="886"/>
                  </a:lnTo>
                  <a:lnTo>
                    <a:pt x="1662" y="903"/>
                  </a:lnTo>
                  <a:lnTo>
                    <a:pt x="1692" y="921"/>
                  </a:lnTo>
                  <a:lnTo>
                    <a:pt x="1720" y="939"/>
                  </a:lnTo>
                  <a:lnTo>
                    <a:pt x="1748" y="959"/>
                  </a:lnTo>
                  <a:lnTo>
                    <a:pt x="1774" y="982"/>
                  </a:lnTo>
                  <a:lnTo>
                    <a:pt x="1798" y="1005"/>
                  </a:lnTo>
                  <a:lnTo>
                    <a:pt x="1806" y="1013"/>
                  </a:lnTo>
                  <a:lnTo>
                    <a:pt x="1812" y="1023"/>
                  </a:lnTo>
                  <a:lnTo>
                    <a:pt x="1818" y="1034"/>
                  </a:lnTo>
                  <a:lnTo>
                    <a:pt x="1823" y="1046"/>
                  </a:lnTo>
                  <a:lnTo>
                    <a:pt x="1827" y="1058"/>
                  </a:lnTo>
                  <a:lnTo>
                    <a:pt x="1829" y="1072"/>
                  </a:lnTo>
                  <a:lnTo>
                    <a:pt x="1830" y="1085"/>
                  </a:lnTo>
                  <a:lnTo>
                    <a:pt x="1829" y="1099"/>
                  </a:lnTo>
                  <a:lnTo>
                    <a:pt x="1827" y="1113"/>
                  </a:lnTo>
                  <a:lnTo>
                    <a:pt x="1823" y="1127"/>
                  </a:lnTo>
                  <a:lnTo>
                    <a:pt x="1816" y="1140"/>
                  </a:lnTo>
                  <a:lnTo>
                    <a:pt x="1809" y="1154"/>
                  </a:lnTo>
                  <a:lnTo>
                    <a:pt x="1803" y="1161"/>
                  </a:lnTo>
                  <a:lnTo>
                    <a:pt x="1798" y="1166"/>
                  </a:lnTo>
                  <a:lnTo>
                    <a:pt x="1792" y="1173"/>
                  </a:lnTo>
                  <a:lnTo>
                    <a:pt x="1785" y="1179"/>
                  </a:lnTo>
                  <a:lnTo>
                    <a:pt x="1777" y="1184"/>
                  </a:lnTo>
                  <a:lnTo>
                    <a:pt x="1769" y="1190"/>
                  </a:lnTo>
                  <a:lnTo>
                    <a:pt x="1760" y="1194"/>
                  </a:lnTo>
                  <a:lnTo>
                    <a:pt x="1751" y="1199"/>
                  </a:lnTo>
                  <a:close/>
                  <a:moveTo>
                    <a:pt x="2391" y="1086"/>
                  </a:moveTo>
                  <a:lnTo>
                    <a:pt x="2374" y="1071"/>
                  </a:lnTo>
                  <a:lnTo>
                    <a:pt x="2356" y="1056"/>
                  </a:lnTo>
                  <a:lnTo>
                    <a:pt x="2337" y="1041"/>
                  </a:lnTo>
                  <a:lnTo>
                    <a:pt x="2318" y="1028"/>
                  </a:lnTo>
                  <a:lnTo>
                    <a:pt x="2298" y="1016"/>
                  </a:lnTo>
                  <a:lnTo>
                    <a:pt x="2276" y="1004"/>
                  </a:lnTo>
                  <a:lnTo>
                    <a:pt x="2256" y="993"/>
                  </a:lnTo>
                  <a:lnTo>
                    <a:pt x="2235" y="983"/>
                  </a:lnTo>
                  <a:lnTo>
                    <a:pt x="2215" y="975"/>
                  </a:lnTo>
                  <a:lnTo>
                    <a:pt x="2194" y="966"/>
                  </a:lnTo>
                  <a:lnTo>
                    <a:pt x="2175" y="959"/>
                  </a:lnTo>
                  <a:lnTo>
                    <a:pt x="2155" y="951"/>
                  </a:lnTo>
                  <a:lnTo>
                    <a:pt x="2146" y="947"/>
                  </a:lnTo>
                  <a:lnTo>
                    <a:pt x="2138" y="942"/>
                  </a:lnTo>
                  <a:lnTo>
                    <a:pt x="2131" y="938"/>
                  </a:lnTo>
                  <a:lnTo>
                    <a:pt x="2126" y="931"/>
                  </a:lnTo>
                  <a:lnTo>
                    <a:pt x="2120" y="926"/>
                  </a:lnTo>
                  <a:lnTo>
                    <a:pt x="2116" y="919"/>
                  </a:lnTo>
                  <a:lnTo>
                    <a:pt x="2112" y="912"/>
                  </a:lnTo>
                  <a:lnTo>
                    <a:pt x="2110" y="905"/>
                  </a:lnTo>
                  <a:lnTo>
                    <a:pt x="2109" y="897"/>
                  </a:lnTo>
                  <a:lnTo>
                    <a:pt x="2108" y="890"/>
                  </a:lnTo>
                  <a:lnTo>
                    <a:pt x="2109" y="883"/>
                  </a:lnTo>
                  <a:lnTo>
                    <a:pt x="2111" y="875"/>
                  </a:lnTo>
                  <a:lnTo>
                    <a:pt x="2113" y="867"/>
                  </a:lnTo>
                  <a:lnTo>
                    <a:pt x="2118" y="860"/>
                  </a:lnTo>
                  <a:lnTo>
                    <a:pt x="2122" y="852"/>
                  </a:lnTo>
                  <a:lnTo>
                    <a:pt x="2129" y="846"/>
                  </a:lnTo>
                  <a:lnTo>
                    <a:pt x="2143" y="832"/>
                  </a:lnTo>
                  <a:lnTo>
                    <a:pt x="2155" y="818"/>
                  </a:lnTo>
                  <a:lnTo>
                    <a:pt x="2166" y="803"/>
                  </a:lnTo>
                  <a:lnTo>
                    <a:pt x="2176" y="787"/>
                  </a:lnTo>
                  <a:lnTo>
                    <a:pt x="2185" y="773"/>
                  </a:lnTo>
                  <a:lnTo>
                    <a:pt x="2193" y="757"/>
                  </a:lnTo>
                  <a:lnTo>
                    <a:pt x="2201" y="740"/>
                  </a:lnTo>
                  <a:lnTo>
                    <a:pt x="2208" y="724"/>
                  </a:lnTo>
                  <a:lnTo>
                    <a:pt x="2212" y="707"/>
                  </a:lnTo>
                  <a:lnTo>
                    <a:pt x="2217" y="689"/>
                  </a:lnTo>
                  <a:lnTo>
                    <a:pt x="2221" y="672"/>
                  </a:lnTo>
                  <a:lnTo>
                    <a:pt x="2224" y="654"/>
                  </a:lnTo>
                  <a:lnTo>
                    <a:pt x="2226" y="636"/>
                  </a:lnTo>
                  <a:lnTo>
                    <a:pt x="2227" y="618"/>
                  </a:lnTo>
                  <a:lnTo>
                    <a:pt x="2227" y="600"/>
                  </a:lnTo>
                  <a:lnTo>
                    <a:pt x="2227" y="581"/>
                  </a:lnTo>
                  <a:lnTo>
                    <a:pt x="2226" y="562"/>
                  </a:lnTo>
                  <a:lnTo>
                    <a:pt x="2222" y="544"/>
                  </a:lnTo>
                  <a:lnTo>
                    <a:pt x="2219" y="527"/>
                  </a:lnTo>
                  <a:lnTo>
                    <a:pt x="2213" y="512"/>
                  </a:lnTo>
                  <a:lnTo>
                    <a:pt x="2207" y="496"/>
                  </a:lnTo>
                  <a:lnTo>
                    <a:pt x="2200" y="482"/>
                  </a:lnTo>
                  <a:lnTo>
                    <a:pt x="2191" y="470"/>
                  </a:lnTo>
                  <a:lnTo>
                    <a:pt x="2181" y="458"/>
                  </a:lnTo>
                  <a:lnTo>
                    <a:pt x="2170" y="447"/>
                  </a:lnTo>
                  <a:lnTo>
                    <a:pt x="2157" y="437"/>
                  </a:lnTo>
                  <a:lnTo>
                    <a:pt x="2144" y="428"/>
                  </a:lnTo>
                  <a:lnTo>
                    <a:pt x="2130" y="420"/>
                  </a:lnTo>
                  <a:lnTo>
                    <a:pt x="2116" y="413"/>
                  </a:lnTo>
                  <a:lnTo>
                    <a:pt x="2099" y="406"/>
                  </a:lnTo>
                  <a:lnTo>
                    <a:pt x="2082" y="400"/>
                  </a:lnTo>
                  <a:lnTo>
                    <a:pt x="2065" y="396"/>
                  </a:lnTo>
                  <a:lnTo>
                    <a:pt x="2048" y="392"/>
                  </a:lnTo>
                  <a:lnTo>
                    <a:pt x="2033" y="390"/>
                  </a:lnTo>
                  <a:lnTo>
                    <a:pt x="2018" y="389"/>
                  </a:lnTo>
                  <a:lnTo>
                    <a:pt x="2003" y="388"/>
                  </a:lnTo>
                  <a:lnTo>
                    <a:pt x="1987" y="389"/>
                  </a:lnTo>
                  <a:lnTo>
                    <a:pt x="1973" y="390"/>
                  </a:lnTo>
                  <a:lnTo>
                    <a:pt x="1957" y="392"/>
                  </a:lnTo>
                  <a:lnTo>
                    <a:pt x="1941" y="396"/>
                  </a:lnTo>
                  <a:lnTo>
                    <a:pt x="1924" y="400"/>
                  </a:lnTo>
                  <a:lnTo>
                    <a:pt x="1906" y="406"/>
                  </a:lnTo>
                  <a:lnTo>
                    <a:pt x="1891" y="413"/>
                  </a:lnTo>
                  <a:lnTo>
                    <a:pt x="1876" y="420"/>
                  </a:lnTo>
                  <a:lnTo>
                    <a:pt x="1861" y="428"/>
                  </a:lnTo>
                  <a:lnTo>
                    <a:pt x="1849" y="437"/>
                  </a:lnTo>
                  <a:lnTo>
                    <a:pt x="1837" y="447"/>
                  </a:lnTo>
                  <a:lnTo>
                    <a:pt x="1825" y="458"/>
                  </a:lnTo>
                  <a:lnTo>
                    <a:pt x="1815" y="470"/>
                  </a:lnTo>
                  <a:lnTo>
                    <a:pt x="1806" y="482"/>
                  </a:lnTo>
                  <a:lnTo>
                    <a:pt x="1798" y="496"/>
                  </a:lnTo>
                  <a:lnTo>
                    <a:pt x="1793" y="512"/>
                  </a:lnTo>
                  <a:lnTo>
                    <a:pt x="1787" y="527"/>
                  </a:lnTo>
                  <a:lnTo>
                    <a:pt x="1783" y="544"/>
                  </a:lnTo>
                  <a:lnTo>
                    <a:pt x="1780" y="562"/>
                  </a:lnTo>
                  <a:lnTo>
                    <a:pt x="1779" y="581"/>
                  </a:lnTo>
                  <a:lnTo>
                    <a:pt x="1778" y="600"/>
                  </a:lnTo>
                  <a:lnTo>
                    <a:pt x="1779" y="618"/>
                  </a:lnTo>
                  <a:lnTo>
                    <a:pt x="1780" y="636"/>
                  </a:lnTo>
                  <a:lnTo>
                    <a:pt x="1783" y="654"/>
                  </a:lnTo>
                  <a:lnTo>
                    <a:pt x="1785" y="671"/>
                  </a:lnTo>
                  <a:lnTo>
                    <a:pt x="1789" y="689"/>
                  </a:lnTo>
                  <a:lnTo>
                    <a:pt x="1794" y="706"/>
                  </a:lnTo>
                  <a:lnTo>
                    <a:pt x="1798" y="723"/>
                  </a:lnTo>
                  <a:lnTo>
                    <a:pt x="1805" y="739"/>
                  </a:lnTo>
                  <a:lnTo>
                    <a:pt x="1813" y="756"/>
                  </a:lnTo>
                  <a:lnTo>
                    <a:pt x="1821" y="771"/>
                  </a:lnTo>
                  <a:lnTo>
                    <a:pt x="1830" y="787"/>
                  </a:lnTo>
                  <a:lnTo>
                    <a:pt x="1840" y="802"/>
                  </a:lnTo>
                  <a:lnTo>
                    <a:pt x="1851" y="818"/>
                  </a:lnTo>
                  <a:lnTo>
                    <a:pt x="1864" y="831"/>
                  </a:lnTo>
                  <a:lnTo>
                    <a:pt x="1877" y="846"/>
                  </a:lnTo>
                  <a:lnTo>
                    <a:pt x="1883" y="852"/>
                  </a:lnTo>
                  <a:lnTo>
                    <a:pt x="1888" y="860"/>
                  </a:lnTo>
                  <a:lnTo>
                    <a:pt x="1893" y="867"/>
                  </a:lnTo>
                  <a:lnTo>
                    <a:pt x="1895" y="875"/>
                  </a:lnTo>
                  <a:lnTo>
                    <a:pt x="1897" y="883"/>
                  </a:lnTo>
                  <a:lnTo>
                    <a:pt x="1897" y="891"/>
                  </a:lnTo>
                  <a:lnTo>
                    <a:pt x="1897" y="897"/>
                  </a:lnTo>
                  <a:lnTo>
                    <a:pt x="1896" y="905"/>
                  </a:lnTo>
                  <a:lnTo>
                    <a:pt x="1893" y="912"/>
                  </a:lnTo>
                  <a:lnTo>
                    <a:pt x="1890" y="919"/>
                  </a:lnTo>
                  <a:lnTo>
                    <a:pt x="1886" y="926"/>
                  </a:lnTo>
                  <a:lnTo>
                    <a:pt x="1881" y="932"/>
                  </a:lnTo>
                  <a:lnTo>
                    <a:pt x="1875" y="938"/>
                  </a:lnTo>
                  <a:lnTo>
                    <a:pt x="1867" y="942"/>
                  </a:lnTo>
                  <a:lnTo>
                    <a:pt x="1859" y="947"/>
                  </a:lnTo>
                  <a:lnTo>
                    <a:pt x="1851" y="951"/>
                  </a:lnTo>
                  <a:lnTo>
                    <a:pt x="1848" y="953"/>
                  </a:lnTo>
                  <a:lnTo>
                    <a:pt x="1845" y="954"/>
                  </a:lnTo>
                  <a:lnTo>
                    <a:pt x="1856" y="964"/>
                  </a:lnTo>
                  <a:lnTo>
                    <a:pt x="1867" y="975"/>
                  </a:lnTo>
                  <a:lnTo>
                    <a:pt x="1873" y="981"/>
                  </a:lnTo>
                  <a:lnTo>
                    <a:pt x="1878" y="989"/>
                  </a:lnTo>
                  <a:lnTo>
                    <a:pt x="1884" y="995"/>
                  </a:lnTo>
                  <a:lnTo>
                    <a:pt x="1888" y="1003"/>
                  </a:lnTo>
                  <a:lnTo>
                    <a:pt x="1897" y="1020"/>
                  </a:lnTo>
                  <a:lnTo>
                    <a:pt x="1903" y="1038"/>
                  </a:lnTo>
                  <a:lnTo>
                    <a:pt x="1907" y="1057"/>
                  </a:lnTo>
                  <a:lnTo>
                    <a:pt x="1910" y="1076"/>
                  </a:lnTo>
                  <a:lnTo>
                    <a:pt x="1911" y="1095"/>
                  </a:lnTo>
                  <a:lnTo>
                    <a:pt x="1909" y="1115"/>
                  </a:lnTo>
                  <a:lnTo>
                    <a:pt x="1906" y="1125"/>
                  </a:lnTo>
                  <a:lnTo>
                    <a:pt x="1904" y="1135"/>
                  </a:lnTo>
                  <a:lnTo>
                    <a:pt x="1901" y="1144"/>
                  </a:lnTo>
                  <a:lnTo>
                    <a:pt x="1896" y="1153"/>
                  </a:lnTo>
                  <a:lnTo>
                    <a:pt x="1892" y="1162"/>
                  </a:lnTo>
                  <a:lnTo>
                    <a:pt x="1887" y="1171"/>
                  </a:lnTo>
                  <a:lnTo>
                    <a:pt x="1882" y="1179"/>
                  </a:lnTo>
                  <a:lnTo>
                    <a:pt x="1876" y="1187"/>
                  </a:lnTo>
                  <a:lnTo>
                    <a:pt x="1869" y="1194"/>
                  </a:lnTo>
                  <a:lnTo>
                    <a:pt x="1861" y="1202"/>
                  </a:lnTo>
                  <a:lnTo>
                    <a:pt x="1854" y="1209"/>
                  </a:lnTo>
                  <a:lnTo>
                    <a:pt x="1846" y="1216"/>
                  </a:lnTo>
                  <a:lnTo>
                    <a:pt x="1837" y="1221"/>
                  </a:lnTo>
                  <a:lnTo>
                    <a:pt x="1828" y="1228"/>
                  </a:lnTo>
                  <a:lnTo>
                    <a:pt x="1818" y="1234"/>
                  </a:lnTo>
                  <a:lnTo>
                    <a:pt x="1807" y="1238"/>
                  </a:lnTo>
                  <a:lnTo>
                    <a:pt x="1797" y="1243"/>
                  </a:lnTo>
                  <a:lnTo>
                    <a:pt x="1786" y="1247"/>
                  </a:lnTo>
                  <a:lnTo>
                    <a:pt x="1775" y="1252"/>
                  </a:lnTo>
                  <a:lnTo>
                    <a:pt x="1764" y="1256"/>
                  </a:lnTo>
                  <a:lnTo>
                    <a:pt x="1792" y="1261"/>
                  </a:lnTo>
                  <a:lnTo>
                    <a:pt x="1819" y="1264"/>
                  </a:lnTo>
                  <a:lnTo>
                    <a:pt x="1847" y="1268"/>
                  </a:lnTo>
                  <a:lnTo>
                    <a:pt x="1876" y="1270"/>
                  </a:lnTo>
                  <a:lnTo>
                    <a:pt x="1906" y="1271"/>
                  </a:lnTo>
                  <a:lnTo>
                    <a:pt x="1937" y="1272"/>
                  </a:lnTo>
                  <a:lnTo>
                    <a:pt x="1969" y="1273"/>
                  </a:lnTo>
                  <a:lnTo>
                    <a:pt x="2003" y="1273"/>
                  </a:lnTo>
                  <a:lnTo>
                    <a:pt x="2042" y="1273"/>
                  </a:lnTo>
                  <a:lnTo>
                    <a:pt x="2081" y="1272"/>
                  </a:lnTo>
                  <a:lnTo>
                    <a:pt x="2117" y="1270"/>
                  </a:lnTo>
                  <a:lnTo>
                    <a:pt x="2152" y="1268"/>
                  </a:lnTo>
                  <a:lnTo>
                    <a:pt x="2185" y="1264"/>
                  </a:lnTo>
                  <a:lnTo>
                    <a:pt x="2218" y="1261"/>
                  </a:lnTo>
                  <a:lnTo>
                    <a:pt x="2251" y="1255"/>
                  </a:lnTo>
                  <a:lnTo>
                    <a:pt x="2282" y="1248"/>
                  </a:lnTo>
                  <a:lnTo>
                    <a:pt x="2302" y="1243"/>
                  </a:lnTo>
                  <a:lnTo>
                    <a:pt x="2321" y="1237"/>
                  </a:lnTo>
                  <a:lnTo>
                    <a:pt x="2341" y="1230"/>
                  </a:lnTo>
                  <a:lnTo>
                    <a:pt x="2359" y="1223"/>
                  </a:lnTo>
                  <a:lnTo>
                    <a:pt x="2372" y="1215"/>
                  </a:lnTo>
                  <a:lnTo>
                    <a:pt x="2382" y="1208"/>
                  </a:lnTo>
                  <a:lnTo>
                    <a:pt x="2391" y="1199"/>
                  </a:lnTo>
                  <a:lnTo>
                    <a:pt x="2399" y="1190"/>
                  </a:lnTo>
                  <a:lnTo>
                    <a:pt x="2405" y="1181"/>
                  </a:lnTo>
                  <a:lnTo>
                    <a:pt x="2409" y="1172"/>
                  </a:lnTo>
                  <a:lnTo>
                    <a:pt x="2411" y="1162"/>
                  </a:lnTo>
                  <a:lnTo>
                    <a:pt x="2414" y="1152"/>
                  </a:lnTo>
                  <a:lnTo>
                    <a:pt x="2414" y="1143"/>
                  </a:lnTo>
                  <a:lnTo>
                    <a:pt x="2413" y="1133"/>
                  </a:lnTo>
                  <a:lnTo>
                    <a:pt x="2411" y="1124"/>
                  </a:lnTo>
                  <a:lnTo>
                    <a:pt x="2409" y="1115"/>
                  </a:lnTo>
                  <a:lnTo>
                    <a:pt x="2406" y="1107"/>
                  </a:lnTo>
                  <a:lnTo>
                    <a:pt x="2401" y="1099"/>
                  </a:lnTo>
                  <a:lnTo>
                    <a:pt x="2397" y="1093"/>
                  </a:lnTo>
                  <a:lnTo>
                    <a:pt x="2391" y="1086"/>
                  </a:lnTo>
                  <a:close/>
                  <a:moveTo>
                    <a:pt x="561" y="1113"/>
                  </a:moveTo>
                  <a:lnTo>
                    <a:pt x="560" y="1104"/>
                  </a:lnTo>
                  <a:lnTo>
                    <a:pt x="559" y="1095"/>
                  </a:lnTo>
                  <a:lnTo>
                    <a:pt x="559" y="1086"/>
                  </a:lnTo>
                  <a:lnTo>
                    <a:pt x="560" y="1077"/>
                  </a:lnTo>
                  <a:lnTo>
                    <a:pt x="561" y="1068"/>
                  </a:lnTo>
                  <a:lnTo>
                    <a:pt x="562" y="1059"/>
                  </a:lnTo>
                  <a:lnTo>
                    <a:pt x="564" y="1050"/>
                  </a:lnTo>
                  <a:lnTo>
                    <a:pt x="568" y="1041"/>
                  </a:lnTo>
                  <a:lnTo>
                    <a:pt x="575" y="1023"/>
                  </a:lnTo>
                  <a:lnTo>
                    <a:pt x="585" y="1007"/>
                  </a:lnTo>
                  <a:lnTo>
                    <a:pt x="597" y="990"/>
                  </a:lnTo>
                  <a:lnTo>
                    <a:pt x="611" y="975"/>
                  </a:lnTo>
                  <a:lnTo>
                    <a:pt x="623" y="963"/>
                  </a:lnTo>
                  <a:lnTo>
                    <a:pt x="635" y="951"/>
                  </a:lnTo>
                  <a:lnTo>
                    <a:pt x="649" y="940"/>
                  </a:lnTo>
                  <a:lnTo>
                    <a:pt x="662" y="929"/>
                  </a:lnTo>
                  <a:lnTo>
                    <a:pt x="645" y="923"/>
                  </a:lnTo>
                  <a:lnTo>
                    <a:pt x="630" y="917"/>
                  </a:lnTo>
                  <a:lnTo>
                    <a:pt x="621" y="913"/>
                  </a:lnTo>
                  <a:lnTo>
                    <a:pt x="612" y="908"/>
                  </a:lnTo>
                  <a:lnTo>
                    <a:pt x="604" y="902"/>
                  </a:lnTo>
                  <a:lnTo>
                    <a:pt x="597" y="895"/>
                  </a:lnTo>
                  <a:lnTo>
                    <a:pt x="591" y="888"/>
                  </a:lnTo>
                  <a:lnTo>
                    <a:pt x="586" y="881"/>
                  </a:lnTo>
                  <a:lnTo>
                    <a:pt x="582" y="874"/>
                  </a:lnTo>
                  <a:lnTo>
                    <a:pt x="580" y="866"/>
                  </a:lnTo>
                  <a:lnTo>
                    <a:pt x="578" y="857"/>
                  </a:lnTo>
                  <a:lnTo>
                    <a:pt x="578" y="849"/>
                  </a:lnTo>
                  <a:lnTo>
                    <a:pt x="578" y="840"/>
                  </a:lnTo>
                  <a:lnTo>
                    <a:pt x="580" y="832"/>
                  </a:lnTo>
                  <a:lnTo>
                    <a:pt x="584" y="823"/>
                  </a:lnTo>
                  <a:lnTo>
                    <a:pt x="588" y="815"/>
                  </a:lnTo>
                  <a:lnTo>
                    <a:pt x="594" y="807"/>
                  </a:lnTo>
                  <a:lnTo>
                    <a:pt x="600" y="800"/>
                  </a:lnTo>
                  <a:lnTo>
                    <a:pt x="615" y="784"/>
                  </a:lnTo>
                  <a:lnTo>
                    <a:pt x="630" y="768"/>
                  </a:lnTo>
                  <a:lnTo>
                    <a:pt x="642" y="752"/>
                  </a:lnTo>
                  <a:lnTo>
                    <a:pt x="653" y="735"/>
                  </a:lnTo>
                  <a:lnTo>
                    <a:pt x="663" y="719"/>
                  </a:lnTo>
                  <a:lnTo>
                    <a:pt x="672" y="701"/>
                  </a:lnTo>
                  <a:lnTo>
                    <a:pt x="680" y="683"/>
                  </a:lnTo>
                  <a:lnTo>
                    <a:pt x="687" y="665"/>
                  </a:lnTo>
                  <a:lnTo>
                    <a:pt x="694" y="645"/>
                  </a:lnTo>
                  <a:lnTo>
                    <a:pt x="698" y="627"/>
                  </a:lnTo>
                  <a:lnTo>
                    <a:pt x="703" y="607"/>
                  </a:lnTo>
                  <a:lnTo>
                    <a:pt x="706" y="588"/>
                  </a:lnTo>
                  <a:lnTo>
                    <a:pt x="708" y="568"/>
                  </a:lnTo>
                  <a:lnTo>
                    <a:pt x="710" y="548"/>
                  </a:lnTo>
                  <a:lnTo>
                    <a:pt x="710" y="527"/>
                  </a:lnTo>
                  <a:lnTo>
                    <a:pt x="710" y="507"/>
                  </a:lnTo>
                  <a:lnTo>
                    <a:pt x="707" y="486"/>
                  </a:lnTo>
                  <a:lnTo>
                    <a:pt x="705" y="465"/>
                  </a:lnTo>
                  <a:lnTo>
                    <a:pt x="701" y="446"/>
                  </a:lnTo>
                  <a:lnTo>
                    <a:pt x="695" y="429"/>
                  </a:lnTo>
                  <a:lnTo>
                    <a:pt x="687" y="413"/>
                  </a:lnTo>
                  <a:lnTo>
                    <a:pt x="679" y="398"/>
                  </a:lnTo>
                  <a:lnTo>
                    <a:pt x="669" y="383"/>
                  </a:lnTo>
                  <a:lnTo>
                    <a:pt x="658" y="371"/>
                  </a:lnTo>
                  <a:lnTo>
                    <a:pt x="645" y="359"/>
                  </a:lnTo>
                  <a:lnTo>
                    <a:pt x="632" y="347"/>
                  </a:lnTo>
                  <a:lnTo>
                    <a:pt x="617" y="337"/>
                  </a:lnTo>
                  <a:lnTo>
                    <a:pt x="602" y="328"/>
                  </a:lnTo>
                  <a:lnTo>
                    <a:pt x="585" y="320"/>
                  </a:lnTo>
                  <a:lnTo>
                    <a:pt x="568" y="314"/>
                  </a:lnTo>
                  <a:lnTo>
                    <a:pt x="549" y="307"/>
                  </a:lnTo>
                  <a:lnTo>
                    <a:pt x="528" y="301"/>
                  </a:lnTo>
                  <a:lnTo>
                    <a:pt x="512" y="298"/>
                  </a:lnTo>
                  <a:lnTo>
                    <a:pt x="495" y="296"/>
                  </a:lnTo>
                  <a:lnTo>
                    <a:pt x="478" y="293"/>
                  </a:lnTo>
                  <a:lnTo>
                    <a:pt x="461" y="293"/>
                  </a:lnTo>
                  <a:lnTo>
                    <a:pt x="444" y="293"/>
                  </a:lnTo>
                  <a:lnTo>
                    <a:pt x="428" y="296"/>
                  </a:lnTo>
                  <a:lnTo>
                    <a:pt x="410" y="298"/>
                  </a:lnTo>
                  <a:lnTo>
                    <a:pt x="394" y="301"/>
                  </a:lnTo>
                  <a:lnTo>
                    <a:pt x="374" y="307"/>
                  </a:lnTo>
                  <a:lnTo>
                    <a:pt x="355" y="314"/>
                  </a:lnTo>
                  <a:lnTo>
                    <a:pt x="337" y="320"/>
                  </a:lnTo>
                  <a:lnTo>
                    <a:pt x="320" y="328"/>
                  </a:lnTo>
                  <a:lnTo>
                    <a:pt x="305" y="337"/>
                  </a:lnTo>
                  <a:lnTo>
                    <a:pt x="290" y="347"/>
                  </a:lnTo>
                  <a:lnTo>
                    <a:pt x="277" y="359"/>
                  </a:lnTo>
                  <a:lnTo>
                    <a:pt x="264" y="371"/>
                  </a:lnTo>
                  <a:lnTo>
                    <a:pt x="254" y="383"/>
                  </a:lnTo>
                  <a:lnTo>
                    <a:pt x="244" y="398"/>
                  </a:lnTo>
                  <a:lnTo>
                    <a:pt x="235" y="413"/>
                  </a:lnTo>
                  <a:lnTo>
                    <a:pt x="228" y="429"/>
                  </a:lnTo>
                  <a:lnTo>
                    <a:pt x="223" y="446"/>
                  </a:lnTo>
                  <a:lnTo>
                    <a:pt x="218" y="465"/>
                  </a:lnTo>
                  <a:lnTo>
                    <a:pt x="215" y="486"/>
                  </a:lnTo>
                  <a:lnTo>
                    <a:pt x="214" y="507"/>
                  </a:lnTo>
                  <a:lnTo>
                    <a:pt x="214" y="527"/>
                  </a:lnTo>
                  <a:lnTo>
                    <a:pt x="214" y="548"/>
                  </a:lnTo>
                  <a:lnTo>
                    <a:pt x="215" y="568"/>
                  </a:lnTo>
                  <a:lnTo>
                    <a:pt x="217" y="588"/>
                  </a:lnTo>
                  <a:lnTo>
                    <a:pt x="220" y="607"/>
                  </a:lnTo>
                  <a:lnTo>
                    <a:pt x="224" y="626"/>
                  </a:lnTo>
                  <a:lnTo>
                    <a:pt x="229" y="645"/>
                  </a:lnTo>
                  <a:lnTo>
                    <a:pt x="235" y="663"/>
                  </a:lnTo>
                  <a:lnTo>
                    <a:pt x="242" y="681"/>
                  </a:lnTo>
                  <a:lnTo>
                    <a:pt x="251" y="699"/>
                  </a:lnTo>
                  <a:lnTo>
                    <a:pt x="260" y="717"/>
                  </a:lnTo>
                  <a:lnTo>
                    <a:pt x="270" y="734"/>
                  </a:lnTo>
                  <a:lnTo>
                    <a:pt x="281" y="751"/>
                  </a:lnTo>
                  <a:lnTo>
                    <a:pt x="293" y="768"/>
                  </a:lnTo>
                  <a:lnTo>
                    <a:pt x="307" y="784"/>
                  </a:lnTo>
                  <a:lnTo>
                    <a:pt x="322" y="800"/>
                  </a:lnTo>
                  <a:lnTo>
                    <a:pt x="329" y="807"/>
                  </a:lnTo>
                  <a:lnTo>
                    <a:pt x="335" y="815"/>
                  </a:lnTo>
                  <a:lnTo>
                    <a:pt x="338" y="823"/>
                  </a:lnTo>
                  <a:lnTo>
                    <a:pt x="342" y="832"/>
                  </a:lnTo>
                  <a:lnTo>
                    <a:pt x="344" y="840"/>
                  </a:lnTo>
                  <a:lnTo>
                    <a:pt x="345" y="849"/>
                  </a:lnTo>
                  <a:lnTo>
                    <a:pt x="344" y="857"/>
                  </a:lnTo>
                  <a:lnTo>
                    <a:pt x="343" y="866"/>
                  </a:lnTo>
                  <a:lnTo>
                    <a:pt x="340" y="874"/>
                  </a:lnTo>
                  <a:lnTo>
                    <a:pt x="336" y="881"/>
                  </a:lnTo>
                  <a:lnTo>
                    <a:pt x="332" y="888"/>
                  </a:lnTo>
                  <a:lnTo>
                    <a:pt x="326" y="895"/>
                  </a:lnTo>
                  <a:lnTo>
                    <a:pt x="319" y="902"/>
                  </a:lnTo>
                  <a:lnTo>
                    <a:pt x="311" y="908"/>
                  </a:lnTo>
                  <a:lnTo>
                    <a:pt x="302" y="913"/>
                  </a:lnTo>
                  <a:lnTo>
                    <a:pt x="292" y="917"/>
                  </a:lnTo>
                  <a:lnTo>
                    <a:pt x="271" y="926"/>
                  </a:lnTo>
                  <a:lnTo>
                    <a:pt x="248" y="933"/>
                  </a:lnTo>
                  <a:lnTo>
                    <a:pt x="227" y="942"/>
                  </a:lnTo>
                  <a:lnTo>
                    <a:pt x="206" y="953"/>
                  </a:lnTo>
                  <a:lnTo>
                    <a:pt x="182" y="964"/>
                  </a:lnTo>
                  <a:lnTo>
                    <a:pt x="158" y="976"/>
                  </a:lnTo>
                  <a:lnTo>
                    <a:pt x="135" y="989"/>
                  </a:lnTo>
                  <a:lnTo>
                    <a:pt x="112" y="1002"/>
                  </a:lnTo>
                  <a:lnTo>
                    <a:pt x="91" y="1017"/>
                  </a:lnTo>
                  <a:lnTo>
                    <a:pt x="70" y="1032"/>
                  </a:lnTo>
                  <a:lnTo>
                    <a:pt x="50" y="1049"/>
                  </a:lnTo>
                  <a:lnTo>
                    <a:pt x="30" y="1067"/>
                  </a:lnTo>
                  <a:lnTo>
                    <a:pt x="22" y="1076"/>
                  </a:lnTo>
                  <a:lnTo>
                    <a:pt x="16" y="1085"/>
                  </a:lnTo>
                  <a:lnTo>
                    <a:pt x="10" y="1094"/>
                  </a:lnTo>
                  <a:lnTo>
                    <a:pt x="5" y="1104"/>
                  </a:lnTo>
                  <a:lnTo>
                    <a:pt x="2" y="1115"/>
                  </a:lnTo>
                  <a:lnTo>
                    <a:pt x="1" y="1125"/>
                  </a:lnTo>
                  <a:lnTo>
                    <a:pt x="0" y="1135"/>
                  </a:lnTo>
                  <a:lnTo>
                    <a:pt x="1" y="1145"/>
                  </a:lnTo>
                  <a:lnTo>
                    <a:pt x="4" y="1155"/>
                  </a:lnTo>
                  <a:lnTo>
                    <a:pt x="8" y="1164"/>
                  </a:lnTo>
                  <a:lnTo>
                    <a:pt x="13" y="1174"/>
                  </a:lnTo>
                  <a:lnTo>
                    <a:pt x="20" y="1183"/>
                  </a:lnTo>
                  <a:lnTo>
                    <a:pt x="29" y="1192"/>
                  </a:lnTo>
                  <a:lnTo>
                    <a:pt x="40" y="1201"/>
                  </a:lnTo>
                  <a:lnTo>
                    <a:pt x="53" y="1209"/>
                  </a:lnTo>
                  <a:lnTo>
                    <a:pt x="66" y="1216"/>
                  </a:lnTo>
                  <a:lnTo>
                    <a:pt x="88" y="1225"/>
                  </a:lnTo>
                  <a:lnTo>
                    <a:pt x="108" y="1233"/>
                  </a:lnTo>
                  <a:lnTo>
                    <a:pt x="130" y="1239"/>
                  </a:lnTo>
                  <a:lnTo>
                    <a:pt x="152" y="1246"/>
                  </a:lnTo>
                  <a:lnTo>
                    <a:pt x="187" y="1253"/>
                  </a:lnTo>
                  <a:lnTo>
                    <a:pt x="223" y="1260"/>
                  </a:lnTo>
                  <a:lnTo>
                    <a:pt x="260" y="1264"/>
                  </a:lnTo>
                  <a:lnTo>
                    <a:pt x="297" y="1268"/>
                  </a:lnTo>
                  <a:lnTo>
                    <a:pt x="335" y="1270"/>
                  </a:lnTo>
                  <a:lnTo>
                    <a:pt x="376" y="1272"/>
                  </a:lnTo>
                  <a:lnTo>
                    <a:pt x="417" y="1273"/>
                  </a:lnTo>
                  <a:lnTo>
                    <a:pt x="461" y="1273"/>
                  </a:lnTo>
                  <a:lnTo>
                    <a:pt x="496" y="1273"/>
                  </a:lnTo>
                  <a:lnTo>
                    <a:pt x="531" y="1272"/>
                  </a:lnTo>
                  <a:lnTo>
                    <a:pt x="563" y="1271"/>
                  </a:lnTo>
                  <a:lnTo>
                    <a:pt x="595" y="1270"/>
                  </a:lnTo>
                  <a:lnTo>
                    <a:pt x="625" y="1268"/>
                  </a:lnTo>
                  <a:lnTo>
                    <a:pt x="656" y="1264"/>
                  </a:lnTo>
                  <a:lnTo>
                    <a:pt x="685" y="1261"/>
                  </a:lnTo>
                  <a:lnTo>
                    <a:pt x="714" y="1256"/>
                  </a:lnTo>
                  <a:lnTo>
                    <a:pt x="703" y="1252"/>
                  </a:lnTo>
                  <a:lnTo>
                    <a:pt x="692" y="1247"/>
                  </a:lnTo>
                  <a:lnTo>
                    <a:pt x="680" y="1243"/>
                  </a:lnTo>
                  <a:lnTo>
                    <a:pt x="670" y="1238"/>
                  </a:lnTo>
                  <a:lnTo>
                    <a:pt x="659" y="1233"/>
                  </a:lnTo>
                  <a:lnTo>
                    <a:pt x="648" y="1227"/>
                  </a:lnTo>
                  <a:lnTo>
                    <a:pt x="638" y="1220"/>
                  </a:lnTo>
                  <a:lnTo>
                    <a:pt x="629" y="1214"/>
                  </a:lnTo>
                  <a:lnTo>
                    <a:pt x="620" y="1207"/>
                  </a:lnTo>
                  <a:lnTo>
                    <a:pt x="611" y="1200"/>
                  </a:lnTo>
                  <a:lnTo>
                    <a:pt x="603" y="1192"/>
                  </a:lnTo>
                  <a:lnTo>
                    <a:pt x="596" y="1184"/>
                  </a:lnTo>
                  <a:lnTo>
                    <a:pt x="589" y="1176"/>
                  </a:lnTo>
                  <a:lnTo>
                    <a:pt x="582" y="1169"/>
                  </a:lnTo>
                  <a:lnTo>
                    <a:pt x="578" y="1160"/>
                  </a:lnTo>
                  <a:lnTo>
                    <a:pt x="573" y="1151"/>
                  </a:lnTo>
                  <a:lnTo>
                    <a:pt x="569" y="1142"/>
                  </a:lnTo>
                  <a:lnTo>
                    <a:pt x="566" y="1133"/>
                  </a:lnTo>
                  <a:lnTo>
                    <a:pt x="563" y="1124"/>
                  </a:lnTo>
                  <a:lnTo>
                    <a:pt x="561" y="111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9" name="TextBox 18"/>
            <p:cNvSpPr txBox="1"/>
            <p:nvPr/>
          </p:nvSpPr>
          <p:spPr>
            <a:xfrm>
              <a:off x="10321429" y="1716402"/>
              <a:ext cx="472194" cy="945321"/>
            </a:xfrm>
            <a:prstGeom prst="rect">
              <a:avLst/>
            </a:prstGeom>
            <a:noFill/>
          </p:spPr>
          <p:txBody>
            <a:bodyPr wrap="square" rtlCol="0">
              <a:spAutoFit/>
            </a:bodyPr>
            <a:lstStyle/>
            <a:p>
              <a:r>
                <a:rPr lang="en-US" sz="3600" b="1" dirty="0">
                  <a:solidFill>
                    <a:srgbClr val="008189"/>
                  </a:solidFill>
                  <a:latin typeface="Calibri" panose="020F0502020204030204"/>
                </a:rPr>
                <a:t>+</a:t>
              </a:r>
            </a:p>
          </p:txBody>
        </p:sp>
        <p:sp>
          <p:nvSpPr>
            <p:cNvPr id="20" name="Freeform 22"/>
            <p:cNvSpPr>
              <a:spLocks noChangeAspect="1"/>
            </p:cNvSpPr>
            <p:nvPr/>
          </p:nvSpPr>
          <p:spPr bwMode="auto">
            <a:xfrm>
              <a:off x="1491430" y="1615955"/>
              <a:ext cx="624747" cy="855998"/>
            </a:xfrm>
            <a:custGeom>
              <a:avLst/>
              <a:gdLst>
                <a:gd name="T0" fmla="*/ 1052 w 1061"/>
                <a:gd name="T1" fmla="*/ 957 h 1549"/>
                <a:gd name="T2" fmla="*/ 1017 w 1061"/>
                <a:gd name="T3" fmla="*/ 877 h 1549"/>
                <a:gd name="T4" fmla="*/ 956 w 1061"/>
                <a:gd name="T5" fmla="*/ 808 h 1549"/>
                <a:gd name="T6" fmla="*/ 870 w 1061"/>
                <a:gd name="T7" fmla="*/ 747 h 1549"/>
                <a:gd name="T8" fmla="*/ 757 w 1061"/>
                <a:gd name="T9" fmla="*/ 700 h 1549"/>
                <a:gd name="T10" fmla="*/ 625 w 1061"/>
                <a:gd name="T11" fmla="*/ 665 h 1549"/>
                <a:gd name="T12" fmla="*/ 433 w 1061"/>
                <a:gd name="T13" fmla="*/ 616 h 1549"/>
                <a:gd name="T14" fmla="*/ 292 w 1061"/>
                <a:gd name="T15" fmla="*/ 562 h 1549"/>
                <a:gd name="T16" fmla="*/ 254 w 1061"/>
                <a:gd name="T17" fmla="*/ 513 h 1549"/>
                <a:gd name="T18" fmla="*/ 276 w 1061"/>
                <a:gd name="T19" fmla="*/ 453 h 1549"/>
                <a:gd name="T20" fmla="*/ 370 w 1061"/>
                <a:gd name="T21" fmla="*/ 403 h 1549"/>
                <a:gd name="T22" fmla="*/ 542 w 1061"/>
                <a:gd name="T23" fmla="*/ 388 h 1549"/>
                <a:gd name="T24" fmla="*/ 686 w 1061"/>
                <a:gd name="T25" fmla="*/ 429 h 1549"/>
                <a:gd name="T26" fmla="*/ 802 w 1061"/>
                <a:gd name="T27" fmla="*/ 496 h 1549"/>
                <a:gd name="T28" fmla="*/ 854 w 1061"/>
                <a:gd name="T29" fmla="*/ 516 h 1549"/>
                <a:gd name="T30" fmla="*/ 899 w 1061"/>
                <a:gd name="T31" fmla="*/ 501 h 1549"/>
                <a:gd name="T32" fmla="*/ 964 w 1061"/>
                <a:gd name="T33" fmla="*/ 436 h 1549"/>
                <a:gd name="T34" fmla="*/ 981 w 1061"/>
                <a:gd name="T35" fmla="*/ 379 h 1549"/>
                <a:gd name="T36" fmla="*/ 960 w 1061"/>
                <a:gd name="T37" fmla="*/ 335 h 1549"/>
                <a:gd name="T38" fmla="*/ 853 w 1061"/>
                <a:gd name="T39" fmla="*/ 255 h 1549"/>
                <a:gd name="T40" fmla="*/ 674 w 1061"/>
                <a:gd name="T41" fmla="*/ 186 h 1549"/>
                <a:gd name="T42" fmla="*/ 636 w 1061"/>
                <a:gd name="T43" fmla="*/ 34 h 1549"/>
                <a:gd name="T44" fmla="*/ 598 w 1061"/>
                <a:gd name="T45" fmla="*/ 4 h 1549"/>
                <a:gd name="T46" fmla="*/ 451 w 1061"/>
                <a:gd name="T47" fmla="*/ 9 h 1549"/>
                <a:gd name="T48" fmla="*/ 424 w 1061"/>
                <a:gd name="T49" fmla="*/ 39 h 1549"/>
                <a:gd name="T50" fmla="*/ 370 w 1061"/>
                <a:gd name="T51" fmla="*/ 178 h 1549"/>
                <a:gd name="T52" fmla="*/ 239 w 1061"/>
                <a:gd name="T53" fmla="*/ 212 h 1549"/>
                <a:gd name="T54" fmla="*/ 135 w 1061"/>
                <a:gd name="T55" fmla="*/ 266 h 1549"/>
                <a:gd name="T56" fmla="*/ 60 w 1061"/>
                <a:gd name="T57" fmla="*/ 335 h 1549"/>
                <a:gd name="T58" fmla="*/ 16 w 1061"/>
                <a:gd name="T59" fmla="*/ 418 h 1549"/>
                <a:gd name="T60" fmla="*/ 0 w 1061"/>
                <a:gd name="T61" fmla="*/ 510 h 1549"/>
                <a:gd name="T62" fmla="*/ 19 w 1061"/>
                <a:gd name="T63" fmla="*/ 610 h 1549"/>
                <a:gd name="T64" fmla="*/ 70 w 1061"/>
                <a:gd name="T65" fmla="*/ 689 h 1549"/>
                <a:gd name="T66" fmla="*/ 149 w 1061"/>
                <a:gd name="T67" fmla="*/ 751 h 1549"/>
                <a:gd name="T68" fmla="*/ 322 w 1061"/>
                <a:gd name="T69" fmla="*/ 822 h 1549"/>
                <a:gd name="T70" fmla="*/ 509 w 1061"/>
                <a:gd name="T71" fmla="*/ 871 h 1549"/>
                <a:gd name="T72" fmla="*/ 671 w 1061"/>
                <a:gd name="T73" fmla="*/ 912 h 1549"/>
                <a:gd name="T74" fmla="*/ 772 w 1061"/>
                <a:gd name="T75" fmla="*/ 965 h 1549"/>
                <a:gd name="T76" fmla="*/ 806 w 1061"/>
                <a:gd name="T77" fmla="*/ 1017 h 1549"/>
                <a:gd name="T78" fmla="*/ 793 w 1061"/>
                <a:gd name="T79" fmla="*/ 1080 h 1549"/>
                <a:gd name="T80" fmla="*/ 712 w 1061"/>
                <a:gd name="T81" fmla="*/ 1137 h 1549"/>
                <a:gd name="T82" fmla="*/ 542 w 1061"/>
                <a:gd name="T83" fmla="*/ 1160 h 1549"/>
                <a:gd name="T84" fmla="*/ 379 w 1061"/>
                <a:gd name="T85" fmla="*/ 1123 h 1549"/>
                <a:gd name="T86" fmla="*/ 218 w 1061"/>
                <a:gd name="T87" fmla="*/ 1045 h 1549"/>
                <a:gd name="T88" fmla="*/ 162 w 1061"/>
                <a:gd name="T89" fmla="*/ 1025 h 1549"/>
                <a:gd name="T90" fmla="*/ 108 w 1061"/>
                <a:gd name="T91" fmla="*/ 1041 h 1549"/>
                <a:gd name="T92" fmla="*/ 57 w 1061"/>
                <a:gd name="T93" fmla="*/ 1098 h 1549"/>
                <a:gd name="T94" fmla="*/ 40 w 1061"/>
                <a:gd name="T95" fmla="*/ 1162 h 1549"/>
                <a:gd name="T96" fmla="*/ 59 w 1061"/>
                <a:gd name="T97" fmla="*/ 1204 h 1549"/>
                <a:gd name="T98" fmla="*/ 161 w 1061"/>
                <a:gd name="T99" fmla="*/ 1279 h 1549"/>
                <a:gd name="T100" fmla="*/ 351 w 1061"/>
                <a:gd name="T101" fmla="*/ 1353 h 1549"/>
                <a:gd name="T102" fmla="*/ 424 w 1061"/>
                <a:gd name="T103" fmla="*/ 1509 h 1549"/>
                <a:gd name="T104" fmla="*/ 451 w 1061"/>
                <a:gd name="T105" fmla="*/ 1539 h 1549"/>
                <a:gd name="T106" fmla="*/ 571 w 1061"/>
                <a:gd name="T107" fmla="*/ 1549 h 1549"/>
                <a:gd name="T108" fmla="*/ 620 w 1061"/>
                <a:gd name="T109" fmla="*/ 1532 h 1549"/>
                <a:gd name="T110" fmla="*/ 639 w 1061"/>
                <a:gd name="T111" fmla="*/ 1503 h 1549"/>
                <a:gd name="T112" fmla="*/ 718 w 1061"/>
                <a:gd name="T113" fmla="*/ 1364 h 1549"/>
                <a:gd name="T114" fmla="*/ 848 w 1061"/>
                <a:gd name="T115" fmla="*/ 1324 h 1549"/>
                <a:gd name="T116" fmla="*/ 946 w 1061"/>
                <a:gd name="T117" fmla="*/ 1264 h 1549"/>
                <a:gd name="T118" fmla="*/ 1013 w 1061"/>
                <a:gd name="T119" fmla="*/ 1190 h 1549"/>
                <a:gd name="T120" fmla="*/ 1051 w 1061"/>
                <a:gd name="T121" fmla="*/ 1104 h 1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61" h="1549">
                  <a:moveTo>
                    <a:pt x="1061" y="1029"/>
                  </a:moveTo>
                  <a:lnTo>
                    <a:pt x="1060" y="1014"/>
                  </a:lnTo>
                  <a:lnTo>
                    <a:pt x="1059" y="999"/>
                  </a:lnTo>
                  <a:lnTo>
                    <a:pt x="1058" y="984"/>
                  </a:lnTo>
                  <a:lnTo>
                    <a:pt x="1055" y="971"/>
                  </a:lnTo>
                  <a:lnTo>
                    <a:pt x="1052" y="957"/>
                  </a:lnTo>
                  <a:lnTo>
                    <a:pt x="1047" y="943"/>
                  </a:lnTo>
                  <a:lnTo>
                    <a:pt x="1043" y="930"/>
                  </a:lnTo>
                  <a:lnTo>
                    <a:pt x="1037" y="916"/>
                  </a:lnTo>
                  <a:lnTo>
                    <a:pt x="1031" y="903"/>
                  </a:lnTo>
                  <a:lnTo>
                    <a:pt x="1025" y="890"/>
                  </a:lnTo>
                  <a:lnTo>
                    <a:pt x="1017" y="877"/>
                  </a:lnTo>
                  <a:lnTo>
                    <a:pt x="1009" y="865"/>
                  </a:lnTo>
                  <a:lnTo>
                    <a:pt x="1000" y="853"/>
                  </a:lnTo>
                  <a:lnTo>
                    <a:pt x="990" y="841"/>
                  </a:lnTo>
                  <a:lnTo>
                    <a:pt x="979" y="829"/>
                  </a:lnTo>
                  <a:lnTo>
                    <a:pt x="969" y="818"/>
                  </a:lnTo>
                  <a:lnTo>
                    <a:pt x="956" y="808"/>
                  </a:lnTo>
                  <a:lnTo>
                    <a:pt x="944" y="796"/>
                  </a:lnTo>
                  <a:lnTo>
                    <a:pt x="930" y="786"/>
                  </a:lnTo>
                  <a:lnTo>
                    <a:pt x="916" y="776"/>
                  </a:lnTo>
                  <a:lnTo>
                    <a:pt x="902" y="767"/>
                  </a:lnTo>
                  <a:lnTo>
                    <a:pt x="886" y="756"/>
                  </a:lnTo>
                  <a:lnTo>
                    <a:pt x="870" y="747"/>
                  </a:lnTo>
                  <a:lnTo>
                    <a:pt x="853" y="739"/>
                  </a:lnTo>
                  <a:lnTo>
                    <a:pt x="835" y="730"/>
                  </a:lnTo>
                  <a:lnTo>
                    <a:pt x="817" y="722"/>
                  </a:lnTo>
                  <a:lnTo>
                    <a:pt x="798" y="714"/>
                  </a:lnTo>
                  <a:lnTo>
                    <a:pt x="777" y="707"/>
                  </a:lnTo>
                  <a:lnTo>
                    <a:pt x="757" y="700"/>
                  </a:lnTo>
                  <a:lnTo>
                    <a:pt x="736" y="694"/>
                  </a:lnTo>
                  <a:lnTo>
                    <a:pt x="713" y="687"/>
                  </a:lnTo>
                  <a:lnTo>
                    <a:pt x="691" y="681"/>
                  </a:lnTo>
                  <a:lnTo>
                    <a:pt x="676" y="678"/>
                  </a:lnTo>
                  <a:lnTo>
                    <a:pt x="653" y="672"/>
                  </a:lnTo>
                  <a:lnTo>
                    <a:pt x="625" y="665"/>
                  </a:lnTo>
                  <a:lnTo>
                    <a:pt x="595" y="658"/>
                  </a:lnTo>
                  <a:lnTo>
                    <a:pt x="564" y="650"/>
                  </a:lnTo>
                  <a:lnTo>
                    <a:pt x="537" y="643"/>
                  </a:lnTo>
                  <a:lnTo>
                    <a:pt x="514" y="637"/>
                  </a:lnTo>
                  <a:lnTo>
                    <a:pt x="499" y="633"/>
                  </a:lnTo>
                  <a:lnTo>
                    <a:pt x="433" y="616"/>
                  </a:lnTo>
                  <a:lnTo>
                    <a:pt x="379" y="600"/>
                  </a:lnTo>
                  <a:lnTo>
                    <a:pt x="357" y="592"/>
                  </a:lnTo>
                  <a:lnTo>
                    <a:pt x="337" y="584"/>
                  </a:lnTo>
                  <a:lnTo>
                    <a:pt x="319" y="577"/>
                  </a:lnTo>
                  <a:lnTo>
                    <a:pt x="304" y="569"/>
                  </a:lnTo>
                  <a:lnTo>
                    <a:pt x="292" y="562"/>
                  </a:lnTo>
                  <a:lnTo>
                    <a:pt x="280" y="554"/>
                  </a:lnTo>
                  <a:lnTo>
                    <a:pt x="271" y="546"/>
                  </a:lnTo>
                  <a:lnTo>
                    <a:pt x="264" y="538"/>
                  </a:lnTo>
                  <a:lnTo>
                    <a:pt x="260" y="530"/>
                  </a:lnTo>
                  <a:lnTo>
                    <a:pt x="256" y="523"/>
                  </a:lnTo>
                  <a:lnTo>
                    <a:pt x="254" y="513"/>
                  </a:lnTo>
                  <a:lnTo>
                    <a:pt x="253" y="504"/>
                  </a:lnTo>
                  <a:lnTo>
                    <a:pt x="254" y="494"/>
                  </a:lnTo>
                  <a:lnTo>
                    <a:pt x="256" y="484"/>
                  </a:lnTo>
                  <a:lnTo>
                    <a:pt x="261" y="472"/>
                  </a:lnTo>
                  <a:lnTo>
                    <a:pt x="268" y="462"/>
                  </a:lnTo>
                  <a:lnTo>
                    <a:pt x="276" y="453"/>
                  </a:lnTo>
                  <a:lnTo>
                    <a:pt x="286" y="443"/>
                  </a:lnTo>
                  <a:lnTo>
                    <a:pt x="298" y="434"/>
                  </a:lnTo>
                  <a:lnTo>
                    <a:pt x="312" y="424"/>
                  </a:lnTo>
                  <a:lnTo>
                    <a:pt x="329" y="416"/>
                  </a:lnTo>
                  <a:lnTo>
                    <a:pt x="349" y="410"/>
                  </a:lnTo>
                  <a:lnTo>
                    <a:pt x="370" y="403"/>
                  </a:lnTo>
                  <a:lnTo>
                    <a:pt x="394" y="397"/>
                  </a:lnTo>
                  <a:lnTo>
                    <a:pt x="420" y="393"/>
                  </a:lnTo>
                  <a:lnTo>
                    <a:pt x="450" y="389"/>
                  </a:lnTo>
                  <a:lnTo>
                    <a:pt x="482" y="388"/>
                  </a:lnTo>
                  <a:lnTo>
                    <a:pt x="516" y="387"/>
                  </a:lnTo>
                  <a:lnTo>
                    <a:pt x="542" y="388"/>
                  </a:lnTo>
                  <a:lnTo>
                    <a:pt x="568" y="391"/>
                  </a:lnTo>
                  <a:lnTo>
                    <a:pt x="593" y="396"/>
                  </a:lnTo>
                  <a:lnTo>
                    <a:pt x="618" y="403"/>
                  </a:lnTo>
                  <a:lnTo>
                    <a:pt x="642" y="411"/>
                  </a:lnTo>
                  <a:lnTo>
                    <a:pt x="664" y="420"/>
                  </a:lnTo>
                  <a:lnTo>
                    <a:pt x="686" y="429"/>
                  </a:lnTo>
                  <a:lnTo>
                    <a:pt x="705" y="438"/>
                  </a:lnTo>
                  <a:lnTo>
                    <a:pt x="741" y="458"/>
                  </a:lnTo>
                  <a:lnTo>
                    <a:pt x="768" y="475"/>
                  </a:lnTo>
                  <a:lnTo>
                    <a:pt x="786" y="486"/>
                  </a:lnTo>
                  <a:lnTo>
                    <a:pt x="792" y="491"/>
                  </a:lnTo>
                  <a:lnTo>
                    <a:pt x="802" y="496"/>
                  </a:lnTo>
                  <a:lnTo>
                    <a:pt x="811" y="502"/>
                  </a:lnTo>
                  <a:lnTo>
                    <a:pt x="821" y="507"/>
                  </a:lnTo>
                  <a:lnTo>
                    <a:pt x="829" y="510"/>
                  </a:lnTo>
                  <a:lnTo>
                    <a:pt x="838" y="512"/>
                  </a:lnTo>
                  <a:lnTo>
                    <a:pt x="846" y="515"/>
                  </a:lnTo>
                  <a:lnTo>
                    <a:pt x="854" y="516"/>
                  </a:lnTo>
                  <a:lnTo>
                    <a:pt x="862" y="516"/>
                  </a:lnTo>
                  <a:lnTo>
                    <a:pt x="868" y="515"/>
                  </a:lnTo>
                  <a:lnTo>
                    <a:pt x="876" y="512"/>
                  </a:lnTo>
                  <a:lnTo>
                    <a:pt x="884" y="509"/>
                  </a:lnTo>
                  <a:lnTo>
                    <a:pt x="891" y="505"/>
                  </a:lnTo>
                  <a:lnTo>
                    <a:pt x="899" y="501"/>
                  </a:lnTo>
                  <a:lnTo>
                    <a:pt x="907" y="495"/>
                  </a:lnTo>
                  <a:lnTo>
                    <a:pt x="915" y="488"/>
                  </a:lnTo>
                  <a:lnTo>
                    <a:pt x="923" y="480"/>
                  </a:lnTo>
                  <a:lnTo>
                    <a:pt x="932" y="472"/>
                  </a:lnTo>
                  <a:lnTo>
                    <a:pt x="953" y="451"/>
                  </a:lnTo>
                  <a:lnTo>
                    <a:pt x="964" y="436"/>
                  </a:lnTo>
                  <a:lnTo>
                    <a:pt x="973" y="420"/>
                  </a:lnTo>
                  <a:lnTo>
                    <a:pt x="977" y="411"/>
                  </a:lnTo>
                  <a:lnTo>
                    <a:pt x="980" y="403"/>
                  </a:lnTo>
                  <a:lnTo>
                    <a:pt x="981" y="394"/>
                  </a:lnTo>
                  <a:lnTo>
                    <a:pt x="982" y="386"/>
                  </a:lnTo>
                  <a:lnTo>
                    <a:pt x="981" y="379"/>
                  </a:lnTo>
                  <a:lnTo>
                    <a:pt x="980" y="372"/>
                  </a:lnTo>
                  <a:lnTo>
                    <a:pt x="978" y="365"/>
                  </a:lnTo>
                  <a:lnTo>
                    <a:pt x="974" y="357"/>
                  </a:lnTo>
                  <a:lnTo>
                    <a:pt x="971" y="350"/>
                  </a:lnTo>
                  <a:lnTo>
                    <a:pt x="965" y="343"/>
                  </a:lnTo>
                  <a:lnTo>
                    <a:pt x="960" y="335"/>
                  </a:lnTo>
                  <a:lnTo>
                    <a:pt x="954" y="329"/>
                  </a:lnTo>
                  <a:lnTo>
                    <a:pt x="938" y="314"/>
                  </a:lnTo>
                  <a:lnTo>
                    <a:pt x="921" y="298"/>
                  </a:lnTo>
                  <a:lnTo>
                    <a:pt x="900" y="283"/>
                  </a:lnTo>
                  <a:lnTo>
                    <a:pt x="878" y="269"/>
                  </a:lnTo>
                  <a:lnTo>
                    <a:pt x="853" y="255"/>
                  </a:lnTo>
                  <a:lnTo>
                    <a:pt x="826" y="241"/>
                  </a:lnTo>
                  <a:lnTo>
                    <a:pt x="798" y="228"/>
                  </a:lnTo>
                  <a:lnTo>
                    <a:pt x="768" y="217"/>
                  </a:lnTo>
                  <a:lnTo>
                    <a:pt x="737" y="206"/>
                  </a:lnTo>
                  <a:lnTo>
                    <a:pt x="705" y="195"/>
                  </a:lnTo>
                  <a:lnTo>
                    <a:pt x="674" y="186"/>
                  </a:lnTo>
                  <a:lnTo>
                    <a:pt x="640" y="179"/>
                  </a:lnTo>
                  <a:lnTo>
                    <a:pt x="640" y="56"/>
                  </a:lnTo>
                  <a:lnTo>
                    <a:pt x="640" y="50"/>
                  </a:lnTo>
                  <a:lnTo>
                    <a:pt x="639" y="45"/>
                  </a:lnTo>
                  <a:lnTo>
                    <a:pt x="638" y="39"/>
                  </a:lnTo>
                  <a:lnTo>
                    <a:pt x="636" y="34"/>
                  </a:lnTo>
                  <a:lnTo>
                    <a:pt x="632" y="29"/>
                  </a:lnTo>
                  <a:lnTo>
                    <a:pt x="629" y="24"/>
                  </a:lnTo>
                  <a:lnTo>
                    <a:pt x="625" y="21"/>
                  </a:lnTo>
                  <a:lnTo>
                    <a:pt x="620" y="16"/>
                  </a:lnTo>
                  <a:lnTo>
                    <a:pt x="610" y="9"/>
                  </a:lnTo>
                  <a:lnTo>
                    <a:pt x="598" y="4"/>
                  </a:lnTo>
                  <a:lnTo>
                    <a:pt x="585" y="1"/>
                  </a:lnTo>
                  <a:lnTo>
                    <a:pt x="571" y="0"/>
                  </a:lnTo>
                  <a:lnTo>
                    <a:pt x="490" y="0"/>
                  </a:lnTo>
                  <a:lnTo>
                    <a:pt x="476" y="1"/>
                  </a:lnTo>
                  <a:lnTo>
                    <a:pt x="463" y="4"/>
                  </a:lnTo>
                  <a:lnTo>
                    <a:pt x="451" y="9"/>
                  </a:lnTo>
                  <a:lnTo>
                    <a:pt x="441" y="16"/>
                  </a:lnTo>
                  <a:lnTo>
                    <a:pt x="436" y="21"/>
                  </a:lnTo>
                  <a:lnTo>
                    <a:pt x="433" y="24"/>
                  </a:lnTo>
                  <a:lnTo>
                    <a:pt x="430" y="29"/>
                  </a:lnTo>
                  <a:lnTo>
                    <a:pt x="426" y="34"/>
                  </a:lnTo>
                  <a:lnTo>
                    <a:pt x="424" y="39"/>
                  </a:lnTo>
                  <a:lnTo>
                    <a:pt x="423" y="45"/>
                  </a:lnTo>
                  <a:lnTo>
                    <a:pt x="422" y="50"/>
                  </a:lnTo>
                  <a:lnTo>
                    <a:pt x="420" y="56"/>
                  </a:lnTo>
                  <a:lnTo>
                    <a:pt x="420" y="171"/>
                  </a:lnTo>
                  <a:lnTo>
                    <a:pt x="395" y="175"/>
                  </a:lnTo>
                  <a:lnTo>
                    <a:pt x="370" y="178"/>
                  </a:lnTo>
                  <a:lnTo>
                    <a:pt x="346" y="182"/>
                  </a:lnTo>
                  <a:lnTo>
                    <a:pt x="324" y="187"/>
                  </a:lnTo>
                  <a:lnTo>
                    <a:pt x="301" y="192"/>
                  </a:lnTo>
                  <a:lnTo>
                    <a:pt x="279" y="199"/>
                  </a:lnTo>
                  <a:lnTo>
                    <a:pt x="259" y="204"/>
                  </a:lnTo>
                  <a:lnTo>
                    <a:pt x="239" y="212"/>
                  </a:lnTo>
                  <a:lnTo>
                    <a:pt x="220" y="219"/>
                  </a:lnTo>
                  <a:lnTo>
                    <a:pt x="202" y="228"/>
                  </a:lnTo>
                  <a:lnTo>
                    <a:pt x="183" y="236"/>
                  </a:lnTo>
                  <a:lnTo>
                    <a:pt x="166" y="245"/>
                  </a:lnTo>
                  <a:lnTo>
                    <a:pt x="150" y="256"/>
                  </a:lnTo>
                  <a:lnTo>
                    <a:pt x="135" y="266"/>
                  </a:lnTo>
                  <a:lnTo>
                    <a:pt x="121" y="276"/>
                  </a:lnTo>
                  <a:lnTo>
                    <a:pt x="107" y="288"/>
                  </a:lnTo>
                  <a:lnTo>
                    <a:pt x="94" y="299"/>
                  </a:lnTo>
                  <a:lnTo>
                    <a:pt x="82" y="310"/>
                  </a:lnTo>
                  <a:lnTo>
                    <a:pt x="70" y="323"/>
                  </a:lnTo>
                  <a:lnTo>
                    <a:pt x="60" y="335"/>
                  </a:lnTo>
                  <a:lnTo>
                    <a:pt x="51" y="348"/>
                  </a:lnTo>
                  <a:lnTo>
                    <a:pt x="42" y="362"/>
                  </a:lnTo>
                  <a:lnTo>
                    <a:pt x="34" y="375"/>
                  </a:lnTo>
                  <a:lnTo>
                    <a:pt x="27" y="389"/>
                  </a:lnTo>
                  <a:lnTo>
                    <a:pt x="20" y="404"/>
                  </a:lnTo>
                  <a:lnTo>
                    <a:pt x="16" y="418"/>
                  </a:lnTo>
                  <a:lnTo>
                    <a:pt x="11" y="432"/>
                  </a:lnTo>
                  <a:lnTo>
                    <a:pt x="7" y="448"/>
                  </a:lnTo>
                  <a:lnTo>
                    <a:pt x="4" y="463"/>
                  </a:lnTo>
                  <a:lnTo>
                    <a:pt x="2" y="478"/>
                  </a:lnTo>
                  <a:lnTo>
                    <a:pt x="1" y="494"/>
                  </a:lnTo>
                  <a:lnTo>
                    <a:pt x="0" y="510"/>
                  </a:lnTo>
                  <a:lnTo>
                    <a:pt x="1" y="528"/>
                  </a:lnTo>
                  <a:lnTo>
                    <a:pt x="2" y="546"/>
                  </a:lnTo>
                  <a:lnTo>
                    <a:pt x="5" y="564"/>
                  </a:lnTo>
                  <a:lnTo>
                    <a:pt x="9" y="580"/>
                  </a:lnTo>
                  <a:lnTo>
                    <a:pt x="13" y="595"/>
                  </a:lnTo>
                  <a:lnTo>
                    <a:pt x="19" y="610"/>
                  </a:lnTo>
                  <a:lnTo>
                    <a:pt x="26" y="625"/>
                  </a:lnTo>
                  <a:lnTo>
                    <a:pt x="33" y="639"/>
                  </a:lnTo>
                  <a:lnTo>
                    <a:pt x="41" y="652"/>
                  </a:lnTo>
                  <a:lnTo>
                    <a:pt x="50" y="665"/>
                  </a:lnTo>
                  <a:lnTo>
                    <a:pt x="60" y="678"/>
                  </a:lnTo>
                  <a:lnTo>
                    <a:pt x="70" y="689"/>
                  </a:lnTo>
                  <a:lnTo>
                    <a:pt x="82" y="700"/>
                  </a:lnTo>
                  <a:lnTo>
                    <a:pt x="94" y="712"/>
                  </a:lnTo>
                  <a:lnTo>
                    <a:pt x="107" y="722"/>
                  </a:lnTo>
                  <a:lnTo>
                    <a:pt x="121" y="731"/>
                  </a:lnTo>
                  <a:lnTo>
                    <a:pt x="135" y="741"/>
                  </a:lnTo>
                  <a:lnTo>
                    <a:pt x="149" y="751"/>
                  </a:lnTo>
                  <a:lnTo>
                    <a:pt x="165" y="759"/>
                  </a:lnTo>
                  <a:lnTo>
                    <a:pt x="181" y="768"/>
                  </a:lnTo>
                  <a:lnTo>
                    <a:pt x="214" y="782"/>
                  </a:lnTo>
                  <a:lnTo>
                    <a:pt x="248" y="797"/>
                  </a:lnTo>
                  <a:lnTo>
                    <a:pt x="285" y="810"/>
                  </a:lnTo>
                  <a:lnTo>
                    <a:pt x="322" y="822"/>
                  </a:lnTo>
                  <a:lnTo>
                    <a:pt x="360" y="833"/>
                  </a:lnTo>
                  <a:lnTo>
                    <a:pt x="400" y="844"/>
                  </a:lnTo>
                  <a:lnTo>
                    <a:pt x="416" y="847"/>
                  </a:lnTo>
                  <a:lnTo>
                    <a:pt x="442" y="854"/>
                  </a:lnTo>
                  <a:lnTo>
                    <a:pt x="474" y="862"/>
                  </a:lnTo>
                  <a:lnTo>
                    <a:pt x="509" y="871"/>
                  </a:lnTo>
                  <a:lnTo>
                    <a:pt x="546" y="881"/>
                  </a:lnTo>
                  <a:lnTo>
                    <a:pt x="578" y="889"/>
                  </a:lnTo>
                  <a:lnTo>
                    <a:pt x="603" y="894"/>
                  </a:lnTo>
                  <a:lnTo>
                    <a:pt x="619" y="898"/>
                  </a:lnTo>
                  <a:lnTo>
                    <a:pt x="646" y="906"/>
                  </a:lnTo>
                  <a:lnTo>
                    <a:pt x="671" y="912"/>
                  </a:lnTo>
                  <a:lnTo>
                    <a:pt x="694" y="922"/>
                  </a:lnTo>
                  <a:lnTo>
                    <a:pt x="713" y="930"/>
                  </a:lnTo>
                  <a:lnTo>
                    <a:pt x="732" y="939"/>
                  </a:lnTo>
                  <a:lnTo>
                    <a:pt x="746" y="947"/>
                  </a:lnTo>
                  <a:lnTo>
                    <a:pt x="760" y="956"/>
                  </a:lnTo>
                  <a:lnTo>
                    <a:pt x="772" y="965"/>
                  </a:lnTo>
                  <a:lnTo>
                    <a:pt x="781" y="974"/>
                  </a:lnTo>
                  <a:lnTo>
                    <a:pt x="789" y="983"/>
                  </a:lnTo>
                  <a:lnTo>
                    <a:pt x="796" y="992"/>
                  </a:lnTo>
                  <a:lnTo>
                    <a:pt x="800" y="1001"/>
                  </a:lnTo>
                  <a:lnTo>
                    <a:pt x="803" y="1009"/>
                  </a:lnTo>
                  <a:lnTo>
                    <a:pt x="806" y="1017"/>
                  </a:lnTo>
                  <a:lnTo>
                    <a:pt x="807" y="1025"/>
                  </a:lnTo>
                  <a:lnTo>
                    <a:pt x="808" y="1032"/>
                  </a:lnTo>
                  <a:lnTo>
                    <a:pt x="807" y="1045"/>
                  </a:lnTo>
                  <a:lnTo>
                    <a:pt x="805" y="1057"/>
                  </a:lnTo>
                  <a:lnTo>
                    <a:pt x="800" y="1069"/>
                  </a:lnTo>
                  <a:lnTo>
                    <a:pt x="793" y="1080"/>
                  </a:lnTo>
                  <a:lnTo>
                    <a:pt x="785" y="1092"/>
                  </a:lnTo>
                  <a:lnTo>
                    <a:pt x="775" y="1102"/>
                  </a:lnTo>
                  <a:lnTo>
                    <a:pt x="762" y="1112"/>
                  </a:lnTo>
                  <a:lnTo>
                    <a:pt x="749" y="1121"/>
                  </a:lnTo>
                  <a:lnTo>
                    <a:pt x="732" y="1129"/>
                  </a:lnTo>
                  <a:lnTo>
                    <a:pt x="712" y="1137"/>
                  </a:lnTo>
                  <a:lnTo>
                    <a:pt x="691" y="1144"/>
                  </a:lnTo>
                  <a:lnTo>
                    <a:pt x="667" y="1150"/>
                  </a:lnTo>
                  <a:lnTo>
                    <a:pt x="639" y="1154"/>
                  </a:lnTo>
                  <a:lnTo>
                    <a:pt x="611" y="1158"/>
                  </a:lnTo>
                  <a:lnTo>
                    <a:pt x="578" y="1160"/>
                  </a:lnTo>
                  <a:lnTo>
                    <a:pt x="542" y="1160"/>
                  </a:lnTo>
                  <a:lnTo>
                    <a:pt x="516" y="1159"/>
                  </a:lnTo>
                  <a:lnTo>
                    <a:pt x="490" y="1155"/>
                  </a:lnTo>
                  <a:lnTo>
                    <a:pt x="461" y="1150"/>
                  </a:lnTo>
                  <a:lnTo>
                    <a:pt x="434" y="1142"/>
                  </a:lnTo>
                  <a:lnTo>
                    <a:pt x="407" y="1134"/>
                  </a:lnTo>
                  <a:lnTo>
                    <a:pt x="379" y="1123"/>
                  </a:lnTo>
                  <a:lnTo>
                    <a:pt x="354" y="1113"/>
                  </a:lnTo>
                  <a:lnTo>
                    <a:pt x="329" y="1103"/>
                  </a:lnTo>
                  <a:lnTo>
                    <a:pt x="285" y="1081"/>
                  </a:lnTo>
                  <a:lnTo>
                    <a:pt x="249" y="1063"/>
                  </a:lnTo>
                  <a:lnTo>
                    <a:pt x="227" y="1049"/>
                  </a:lnTo>
                  <a:lnTo>
                    <a:pt x="218" y="1045"/>
                  </a:lnTo>
                  <a:lnTo>
                    <a:pt x="208" y="1039"/>
                  </a:lnTo>
                  <a:lnTo>
                    <a:pt x="199" y="1034"/>
                  </a:lnTo>
                  <a:lnTo>
                    <a:pt x="189" y="1031"/>
                  </a:lnTo>
                  <a:lnTo>
                    <a:pt x="180" y="1028"/>
                  </a:lnTo>
                  <a:lnTo>
                    <a:pt x="171" y="1027"/>
                  </a:lnTo>
                  <a:lnTo>
                    <a:pt x="162" y="1025"/>
                  </a:lnTo>
                  <a:lnTo>
                    <a:pt x="153" y="1025"/>
                  </a:lnTo>
                  <a:lnTo>
                    <a:pt x="143" y="1027"/>
                  </a:lnTo>
                  <a:lnTo>
                    <a:pt x="134" y="1029"/>
                  </a:lnTo>
                  <a:lnTo>
                    <a:pt x="125" y="1032"/>
                  </a:lnTo>
                  <a:lnTo>
                    <a:pt x="116" y="1036"/>
                  </a:lnTo>
                  <a:lnTo>
                    <a:pt x="108" y="1041"/>
                  </a:lnTo>
                  <a:lnTo>
                    <a:pt x="99" y="1047"/>
                  </a:lnTo>
                  <a:lnTo>
                    <a:pt x="91" y="1054"/>
                  </a:lnTo>
                  <a:lnTo>
                    <a:pt x="83" y="1062"/>
                  </a:lnTo>
                  <a:lnTo>
                    <a:pt x="75" y="1071"/>
                  </a:lnTo>
                  <a:lnTo>
                    <a:pt x="69" y="1078"/>
                  </a:lnTo>
                  <a:lnTo>
                    <a:pt x="57" y="1098"/>
                  </a:lnTo>
                  <a:lnTo>
                    <a:pt x="51" y="1112"/>
                  </a:lnTo>
                  <a:lnTo>
                    <a:pt x="45" y="1127"/>
                  </a:lnTo>
                  <a:lnTo>
                    <a:pt x="43" y="1135"/>
                  </a:lnTo>
                  <a:lnTo>
                    <a:pt x="42" y="1144"/>
                  </a:lnTo>
                  <a:lnTo>
                    <a:pt x="41" y="1153"/>
                  </a:lnTo>
                  <a:lnTo>
                    <a:pt x="40" y="1162"/>
                  </a:lnTo>
                  <a:lnTo>
                    <a:pt x="41" y="1169"/>
                  </a:lnTo>
                  <a:lnTo>
                    <a:pt x="42" y="1176"/>
                  </a:lnTo>
                  <a:lnTo>
                    <a:pt x="45" y="1183"/>
                  </a:lnTo>
                  <a:lnTo>
                    <a:pt x="49" y="1190"/>
                  </a:lnTo>
                  <a:lnTo>
                    <a:pt x="53" y="1198"/>
                  </a:lnTo>
                  <a:lnTo>
                    <a:pt x="59" y="1204"/>
                  </a:lnTo>
                  <a:lnTo>
                    <a:pt x="66" y="1212"/>
                  </a:lnTo>
                  <a:lnTo>
                    <a:pt x="74" y="1219"/>
                  </a:lnTo>
                  <a:lnTo>
                    <a:pt x="91" y="1235"/>
                  </a:lnTo>
                  <a:lnTo>
                    <a:pt x="112" y="1250"/>
                  </a:lnTo>
                  <a:lnTo>
                    <a:pt x="135" y="1265"/>
                  </a:lnTo>
                  <a:lnTo>
                    <a:pt x="161" y="1279"/>
                  </a:lnTo>
                  <a:lnTo>
                    <a:pt x="189" y="1293"/>
                  </a:lnTo>
                  <a:lnTo>
                    <a:pt x="219" y="1307"/>
                  </a:lnTo>
                  <a:lnTo>
                    <a:pt x="251" y="1320"/>
                  </a:lnTo>
                  <a:lnTo>
                    <a:pt x="283" y="1332"/>
                  </a:lnTo>
                  <a:lnTo>
                    <a:pt x="317" y="1342"/>
                  </a:lnTo>
                  <a:lnTo>
                    <a:pt x="351" y="1353"/>
                  </a:lnTo>
                  <a:lnTo>
                    <a:pt x="386" y="1362"/>
                  </a:lnTo>
                  <a:lnTo>
                    <a:pt x="420" y="1370"/>
                  </a:lnTo>
                  <a:lnTo>
                    <a:pt x="420" y="1492"/>
                  </a:lnTo>
                  <a:lnTo>
                    <a:pt x="422" y="1497"/>
                  </a:lnTo>
                  <a:lnTo>
                    <a:pt x="423" y="1503"/>
                  </a:lnTo>
                  <a:lnTo>
                    <a:pt x="424" y="1509"/>
                  </a:lnTo>
                  <a:lnTo>
                    <a:pt x="426" y="1513"/>
                  </a:lnTo>
                  <a:lnTo>
                    <a:pt x="430" y="1519"/>
                  </a:lnTo>
                  <a:lnTo>
                    <a:pt x="433" y="1524"/>
                  </a:lnTo>
                  <a:lnTo>
                    <a:pt x="436" y="1528"/>
                  </a:lnTo>
                  <a:lnTo>
                    <a:pt x="441" y="1532"/>
                  </a:lnTo>
                  <a:lnTo>
                    <a:pt x="451" y="1539"/>
                  </a:lnTo>
                  <a:lnTo>
                    <a:pt x="463" y="1544"/>
                  </a:lnTo>
                  <a:lnTo>
                    <a:pt x="469" y="1546"/>
                  </a:lnTo>
                  <a:lnTo>
                    <a:pt x="476" y="1548"/>
                  </a:lnTo>
                  <a:lnTo>
                    <a:pt x="483" y="1549"/>
                  </a:lnTo>
                  <a:lnTo>
                    <a:pt x="490" y="1549"/>
                  </a:lnTo>
                  <a:lnTo>
                    <a:pt x="571" y="1549"/>
                  </a:lnTo>
                  <a:lnTo>
                    <a:pt x="578" y="1549"/>
                  </a:lnTo>
                  <a:lnTo>
                    <a:pt x="585" y="1548"/>
                  </a:lnTo>
                  <a:lnTo>
                    <a:pt x="591" y="1546"/>
                  </a:lnTo>
                  <a:lnTo>
                    <a:pt x="598" y="1544"/>
                  </a:lnTo>
                  <a:lnTo>
                    <a:pt x="610" y="1539"/>
                  </a:lnTo>
                  <a:lnTo>
                    <a:pt x="620" y="1532"/>
                  </a:lnTo>
                  <a:lnTo>
                    <a:pt x="625" y="1528"/>
                  </a:lnTo>
                  <a:lnTo>
                    <a:pt x="629" y="1524"/>
                  </a:lnTo>
                  <a:lnTo>
                    <a:pt x="632" y="1519"/>
                  </a:lnTo>
                  <a:lnTo>
                    <a:pt x="636" y="1513"/>
                  </a:lnTo>
                  <a:lnTo>
                    <a:pt x="638" y="1509"/>
                  </a:lnTo>
                  <a:lnTo>
                    <a:pt x="639" y="1503"/>
                  </a:lnTo>
                  <a:lnTo>
                    <a:pt x="640" y="1497"/>
                  </a:lnTo>
                  <a:lnTo>
                    <a:pt x="640" y="1492"/>
                  </a:lnTo>
                  <a:lnTo>
                    <a:pt x="640" y="1375"/>
                  </a:lnTo>
                  <a:lnTo>
                    <a:pt x="668" y="1372"/>
                  </a:lnTo>
                  <a:lnTo>
                    <a:pt x="693" y="1369"/>
                  </a:lnTo>
                  <a:lnTo>
                    <a:pt x="718" y="1364"/>
                  </a:lnTo>
                  <a:lnTo>
                    <a:pt x="742" y="1358"/>
                  </a:lnTo>
                  <a:lnTo>
                    <a:pt x="766" y="1353"/>
                  </a:lnTo>
                  <a:lnTo>
                    <a:pt x="788" y="1347"/>
                  </a:lnTo>
                  <a:lnTo>
                    <a:pt x="809" y="1339"/>
                  </a:lnTo>
                  <a:lnTo>
                    <a:pt x="829" y="1332"/>
                  </a:lnTo>
                  <a:lnTo>
                    <a:pt x="848" y="1324"/>
                  </a:lnTo>
                  <a:lnTo>
                    <a:pt x="867" y="1315"/>
                  </a:lnTo>
                  <a:lnTo>
                    <a:pt x="884" y="1306"/>
                  </a:lnTo>
                  <a:lnTo>
                    <a:pt x="902" y="1296"/>
                  </a:lnTo>
                  <a:lnTo>
                    <a:pt x="917" y="1285"/>
                  </a:lnTo>
                  <a:lnTo>
                    <a:pt x="932" y="1275"/>
                  </a:lnTo>
                  <a:lnTo>
                    <a:pt x="946" y="1264"/>
                  </a:lnTo>
                  <a:lnTo>
                    <a:pt x="960" y="1252"/>
                  </a:lnTo>
                  <a:lnTo>
                    <a:pt x="972" y="1241"/>
                  </a:lnTo>
                  <a:lnTo>
                    <a:pt x="984" y="1228"/>
                  </a:lnTo>
                  <a:lnTo>
                    <a:pt x="995" y="1216"/>
                  </a:lnTo>
                  <a:lnTo>
                    <a:pt x="1004" y="1202"/>
                  </a:lnTo>
                  <a:lnTo>
                    <a:pt x="1013" y="1190"/>
                  </a:lnTo>
                  <a:lnTo>
                    <a:pt x="1022" y="1176"/>
                  </a:lnTo>
                  <a:lnTo>
                    <a:pt x="1029" y="1162"/>
                  </a:lnTo>
                  <a:lnTo>
                    <a:pt x="1036" y="1147"/>
                  </a:lnTo>
                  <a:lnTo>
                    <a:pt x="1042" y="1134"/>
                  </a:lnTo>
                  <a:lnTo>
                    <a:pt x="1046" y="1119"/>
                  </a:lnTo>
                  <a:lnTo>
                    <a:pt x="1051" y="1104"/>
                  </a:lnTo>
                  <a:lnTo>
                    <a:pt x="1054" y="1089"/>
                  </a:lnTo>
                  <a:lnTo>
                    <a:pt x="1058" y="1074"/>
                  </a:lnTo>
                  <a:lnTo>
                    <a:pt x="1059" y="1060"/>
                  </a:lnTo>
                  <a:lnTo>
                    <a:pt x="1060" y="1044"/>
                  </a:lnTo>
                  <a:lnTo>
                    <a:pt x="1061" y="1029"/>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sp>
        <p:nvSpPr>
          <p:cNvPr id="34" name="TextBox 33"/>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artisticBlur/>
                    </a14:imgEffect>
                  </a14:imgLayer>
                </a14:imgProps>
              </a:ext>
            </a:extLst>
          </a:blip>
          <a:stretch>
            <a:fillRect/>
          </a:stretch>
        </p:blipFill>
        <p:spPr>
          <a:xfrm>
            <a:off x="195540" y="3115259"/>
            <a:ext cx="11723624" cy="3054361"/>
          </a:xfrm>
          <a:prstGeom prst="rect">
            <a:avLst/>
          </a:prstGeom>
        </p:spPr>
      </p:pic>
      <p:sp>
        <p:nvSpPr>
          <p:cNvPr id="27" name="Slide Number Placeholder 26"/>
          <p:cNvSpPr>
            <a:spLocks noGrp="1"/>
          </p:cNvSpPr>
          <p:nvPr>
            <p:ph type="sldNum" sz="quarter" idx="4"/>
          </p:nvPr>
        </p:nvSpPr>
        <p:spPr/>
        <p:txBody>
          <a:bodyPr/>
          <a:lstStyle/>
          <a:p>
            <a:fld id="{4B17068C-EB94-40A3-A5F2-664CDD77FDAC}" type="slidenum">
              <a:rPr lang="en-GB" smtClean="0"/>
              <a:pPr/>
              <a:t>82</a:t>
            </a:fld>
            <a:endParaRPr lang="en-GB" dirty="0"/>
          </a:p>
        </p:txBody>
      </p:sp>
    </p:spTree>
    <p:extLst>
      <p:ext uri="{BB962C8B-B14F-4D97-AF65-F5344CB8AC3E}">
        <p14:creationId xmlns:p14="http://schemas.microsoft.com/office/powerpoint/2010/main" val="1690155207"/>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PEST Analysis – Political (1/4)</a:t>
            </a:r>
          </a:p>
        </p:txBody>
      </p:sp>
      <p:grpSp>
        <p:nvGrpSpPr>
          <p:cNvPr id="44" name="Group 43"/>
          <p:cNvGrpSpPr/>
          <p:nvPr/>
        </p:nvGrpSpPr>
        <p:grpSpPr>
          <a:xfrm>
            <a:off x="6563400" y="1247442"/>
            <a:ext cx="5408998" cy="4900108"/>
            <a:chOff x="5496599" y="1247442"/>
            <a:chExt cx="3914887" cy="4900108"/>
          </a:xfrm>
        </p:grpSpPr>
        <p:sp>
          <p:nvSpPr>
            <p:cNvPr id="5" name="Rectangle 4"/>
            <p:cNvSpPr/>
            <p:nvPr/>
          </p:nvSpPr>
          <p:spPr>
            <a:xfrm>
              <a:off x="5804304" y="1247442"/>
              <a:ext cx="3607182" cy="4900108"/>
            </a:xfrm>
            <a:prstGeom prst="rect">
              <a:avLst/>
            </a:prstGeom>
            <a:solidFill>
              <a:srgbClr val="CCD2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GB" sz="1800">
                <a:solidFill>
                  <a:prstClr val="white"/>
                </a:solidFill>
                <a:latin typeface="Calibri" panose="020F0502020204030204"/>
              </a:endParaRPr>
            </a:p>
          </p:txBody>
        </p:sp>
        <p:sp>
          <p:nvSpPr>
            <p:cNvPr id="18" name="Oval 17"/>
            <p:cNvSpPr/>
            <p:nvPr/>
          </p:nvSpPr>
          <p:spPr>
            <a:xfrm>
              <a:off x="5496599" y="1298977"/>
              <a:ext cx="628793" cy="628793"/>
            </a:xfrm>
            <a:prstGeom prst="ellipse">
              <a:avLst/>
            </a:prstGeom>
            <a:solidFill>
              <a:srgbClr val="28314F"/>
            </a:solidFill>
            <a:ln>
              <a:noFill/>
            </a:ln>
            <a:effectLst>
              <a:outerShdw blurRad="76200" dist="63500" dir="30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GB" sz="1800">
                <a:solidFill>
                  <a:prstClr val="white"/>
                </a:solidFill>
                <a:latin typeface="Calibri" panose="020F0502020204030204"/>
              </a:endParaRPr>
            </a:p>
          </p:txBody>
        </p:sp>
        <p:pic>
          <p:nvPicPr>
            <p:cNvPr id="19" name="Picture 18"/>
            <p:cNvPicPr>
              <a:picLocks noChangeAspect="1"/>
            </p:cNvPicPr>
            <p:nvPr/>
          </p:nvPicPr>
          <p:blipFill>
            <a:blip r:embed="rId2">
              <a:lum bright="70000" contrast="-70000"/>
            </a:blip>
            <a:stretch>
              <a:fillRect/>
            </a:stretch>
          </p:blipFill>
          <p:spPr>
            <a:xfrm>
              <a:off x="5640983" y="1339128"/>
              <a:ext cx="366919" cy="486578"/>
            </a:xfrm>
            <a:prstGeom prst="rect">
              <a:avLst/>
            </a:prstGeom>
          </p:spPr>
        </p:pic>
        <p:sp>
          <p:nvSpPr>
            <p:cNvPr id="20" name="TextBox 19"/>
            <p:cNvSpPr txBox="1"/>
            <p:nvPr/>
          </p:nvSpPr>
          <p:spPr>
            <a:xfrm>
              <a:off x="6171223" y="1382541"/>
              <a:ext cx="1481496" cy="461665"/>
            </a:xfrm>
            <a:prstGeom prst="rect">
              <a:avLst/>
            </a:prstGeom>
            <a:noFill/>
          </p:spPr>
          <p:txBody>
            <a:bodyPr wrap="none" rtlCol="0">
              <a:spAutoFit/>
            </a:bodyPr>
            <a:lstStyle/>
            <a:p>
              <a:pPr defTabSz="914400"/>
              <a:r>
                <a:rPr lang="en-US" sz="2400" b="1" dirty="0">
                  <a:solidFill>
                    <a:prstClr val="black"/>
                  </a:solidFill>
                  <a:latin typeface="Calibri" panose="020F0502020204030204"/>
                </a:rPr>
                <a:t>POLITICAL</a:t>
              </a:r>
              <a:endParaRPr lang="en-GB" sz="2400" b="1" dirty="0">
                <a:solidFill>
                  <a:prstClr val="black"/>
                </a:solidFill>
                <a:latin typeface="Calibri" panose="020F0502020204030204"/>
              </a:endParaRPr>
            </a:p>
          </p:txBody>
        </p:sp>
      </p:grpSp>
      <p:grpSp>
        <p:nvGrpSpPr>
          <p:cNvPr id="23" name="Group 22"/>
          <p:cNvGrpSpPr/>
          <p:nvPr/>
        </p:nvGrpSpPr>
        <p:grpSpPr>
          <a:xfrm>
            <a:off x="609600" y="1536574"/>
            <a:ext cx="5050732" cy="4321844"/>
            <a:chOff x="3178867" y="1849523"/>
            <a:chExt cx="3727560" cy="3770794"/>
          </a:xfrm>
        </p:grpSpPr>
        <p:grpSp>
          <p:nvGrpSpPr>
            <p:cNvPr id="24" name="Group 23"/>
            <p:cNvGrpSpPr/>
            <p:nvPr/>
          </p:nvGrpSpPr>
          <p:grpSpPr>
            <a:xfrm>
              <a:off x="3178867" y="1849523"/>
              <a:ext cx="3727560" cy="3727560"/>
              <a:chOff x="3178867" y="1849523"/>
              <a:chExt cx="3727560" cy="3727560"/>
            </a:xfrm>
          </p:grpSpPr>
          <p:grpSp>
            <p:nvGrpSpPr>
              <p:cNvPr id="30" name="Group 4"/>
              <p:cNvGrpSpPr>
                <a:grpSpLocks noChangeAspect="1"/>
              </p:cNvGrpSpPr>
              <p:nvPr/>
            </p:nvGrpSpPr>
            <p:grpSpPr bwMode="auto">
              <a:xfrm>
                <a:off x="3178867" y="1849523"/>
                <a:ext cx="3727560" cy="3727560"/>
                <a:chOff x="2327" y="647"/>
                <a:chExt cx="3026" cy="3026"/>
              </a:xfrm>
            </p:grpSpPr>
            <p:sp>
              <p:nvSpPr>
                <p:cNvPr id="35" name="AutoShape 3"/>
                <p:cNvSpPr>
                  <a:spLocks noChangeAspect="1" noChangeArrowheads="1" noTextEdit="1"/>
                </p:cNvSpPr>
                <p:nvPr/>
              </p:nvSpPr>
              <p:spPr bwMode="auto">
                <a:xfrm>
                  <a:off x="2327" y="647"/>
                  <a:ext cx="3026" cy="3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defTabSz="914400"/>
                  <a:endParaRPr lang="en-US" sz="1800">
                    <a:solidFill>
                      <a:prstClr val="black"/>
                    </a:solidFill>
                    <a:latin typeface="Calibri" panose="020F0502020204030204"/>
                  </a:endParaRPr>
                </a:p>
              </p:txBody>
            </p:sp>
            <p:sp>
              <p:nvSpPr>
                <p:cNvPr id="36" name="Freeform 5"/>
                <p:cNvSpPr>
                  <a:spLocks/>
                </p:cNvSpPr>
                <p:nvPr/>
              </p:nvSpPr>
              <p:spPr bwMode="auto">
                <a:xfrm>
                  <a:off x="2327" y="1686"/>
                  <a:ext cx="1289" cy="1944"/>
                </a:xfrm>
                <a:custGeom>
                  <a:avLst/>
                  <a:gdLst>
                    <a:gd name="T0" fmla="*/ 5776 w 7736"/>
                    <a:gd name="T1" fmla="*/ 8570 h 11660"/>
                    <a:gd name="T2" fmla="*/ 5923 w 7736"/>
                    <a:gd name="T3" fmla="*/ 7968 h 11660"/>
                    <a:gd name="T4" fmla="*/ 6171 w 7736"/>
                    <a:gd name="T5" fmla="*/ 7412 h 11660"/>
                    <a:gd name="T6" fmla="*/ 6509 w 7736"/>
                    <a:gd name="T7" fmla="*/ 6913 h 11660"/>
                    <a:gd name="T8" fmla="*/ 6928 w 7736"/>
                    <a:gd name="T9" fmla="*/ 6482 h 11660"/>
                    <a:gd name="T10" fmla="*/ 7414 w 7736"/>
                    <a:gd name="T11" fmla="*/ 6128 h 11660"/>
                    <a:gd name="T12" fmla="*/ 7593 w 7736"/>
                    <a:gd name="T13" fmla="*/ 5892 h 11660"/>
                    <a:gd name="T14" fmla="*/ 7249 w 7736"/>
                    <a:gd name="T15" fmla="*/ 5699 h 11660"/>
                    <a:gd name="T16" fmla="*/ 6931 w 7736"/>
                    <a:gd name="T17" fmla="*/ 5469 h 11660"/>
                    <a:gd name="T18" fmla="*/ 6644 w 7736"/>
                    <a:gd name="T19" fmla="*/ 5204 h 11660"/>
                    <a:gd name="T20" fmla="*/ 6388 w 7736"/>
                    <a:gd name="T21" fmla="*/ 4909 h 11660"/>
                    <a:gd name="T22" fmla="*/ 6166 w 7736"/>
                    <a:gd name="T23" fmla="*/ 4585 h 11660"/>
                    <a:gd name="T24" fmla="*/ 5984 w 7736"/>
                    <a:gd name="T25" fmla="*/ 4235 h 11660"/>
                    <a:gd name="T26" fmla="*/ 5871 w 7736"/>
                    <a:gd name="T27" fmla="*/ 3951 h 11660"/>
                    <a:gd name="T28" fmla="*/ 5805 w 7736"/>
                    <a:gd name="T29" fmla="*/ 3739 h 11660"/>
                    <a:gd name="T30" fmla="*/ 5754 w 7736"/>
                    <a:gd name="T31" fmla="*/ 3523 h 11660"/>
                    <a:gd name="T32" fmla="*/ 5717 w 7736"/>
                    <a:gd name="T33" fmla="*/ 3300 h 11660"/>
                    <a:gd name="T34" fmla="*/ 5694 w 7736"/>
                    <a:gd name="T35" fmla="*/ 3073 h 11660"/>
                    <a:gd name="T36" fmla="*/ 5686 w 7736"/>
                    <a:gd name="T37" fmla="*/ 2843 h 11660"/>
                    <a:gd name="T38" fmla="*/ 5597 w 7736"/>
                    <a:gd name="T39" fmla="*/ 2133 h 11660"/>
                    <a:gd name="T40" fmla="*/ 5342 w 7736"/>
                    <a:gd name="T41" fmla="*/ 1488 h 11660"/>
                    <a:gd name="T42" fmla="*/ 4948 w 7736"/>
                    <a:gd name="T43" fmla="*/ 931 h 11660"/>
                    <a:gd name="T44" fmla="*/ 4432 w 7736"/>
                    <a:gd name="T45" fmla="*/ 485 h 11660"/>
                    <a:gd name="T46" fmla="*/ 3821 w 7736"/>
                    <a:gd name="T47" fmla="*/ 173 h 11660"/>
                    <a:gd name="T48" fmla="*/ 3134 w 7736"/>
                    <a:gd name="T49" fmla="*/ 15 h 11660"/>
                    <a:gd name="T50" fmla="*/ 2410 w 7736"/>
                    <a:gd name="T51" fmla="*/ 32 h 11660"/>
                    <a:gd name="T52" fmla="*/ 1736 w 7736"/>
                    <a:gd name="T53" fmla="*/ 223 h 11660"/>
                    <a:gd name="T54" fmla="*/ 1142 w 7736"/>
                    <a:gd name="T55" fmla="*/ 564 h 11660"/>
                    <a:gd name="T56" fmla="*/ 649 w 7736"/>
                    <a:gd name="T57" fmla="*/ 1034 h 11660"/>
                    <a:gd name="T58" fmla="*/ 280 w 7736"/>
                    <a:gd name="T59" fmla="*/ 1611 h 11660"/>
                    <a:gd name="T60" fmla="*/ 58 w 7736"/>
                    <a:gd name="T61" fmla="*/ 2270 h 11660"/>
                    <a:gd name="T62" fmla="*/ 0 w 7736"/>
                    <a:gd name="T63" fmla="*/ 2918 h 11660"/>
                    <a:gd name="T64" fmla="*/ 11 w 7736"/>
                    <a:gd name="T65" fmla="*/ 3289 h 11660"/>
                    <a:gd name="T66" fmla="*/ 36 w 7736"/>
                    <a:gd name="T67" fmla="*/ 3655 h 11660"/>
                    <a:gd name="T68" fmla="*/ 76 w 7736"/>
                    <a:gd name="T69" fmla="*/ 4019 h 11660"/>
                    <a:gd name="T70" fmla="*/ 129 w 7736"/>
                    <a:gd name="T71" fmla="*/ 4376 h 11660"/>
                    <a:gd name="T72" fmla="*/ 228 w 7736"/>
                    <a:gd name="T73" fmla="*/ 4870 h 11660"/>
                    <a:gd name="T74" fmla="*/ 503 w 7736"/>
                    <a:gd name="T75" fmla="*/ 5829 h 11660"/>
                    <a:gd name="T76" fmla="*/ 959 w 7736"/>
                    <a:gd name="T77" fmla="*/ 6910 h 11660"/>
                    <a:gd name="T78" fmla="*/ 1546 w 7736"/>
                    <a:gd name="T79" fmla="*/ 7914 h 11660"/>
                    <a:gd name="T80" fmla="*/ 2252 w 7736"/>
                    <a:gd name="T81" fmla="*/ 8831 h 11660"/>
                    <a:gd name="T82" fmla="*/ 3068 w 7736"/>
                    <a:gd name="T83" fmla="*/ 9649 h 11660"/>
                    <a:gd name="T84" fmla="*/ 3982 w 7736"/>
                    <a:gd name="T85" fmla="*/ 10358 h 11660"/>
                    <a:gd name="T86" fmla="*/ 4902 w 7736"/>
                    <a:gd name="T87" fmla="*/ 10908 h 11660"/>
                    <a:gd name="T88" fmla="*/ 5547 w 7736"/>
                    <a:gd name="T89" fmla="*/ 11210 h 11660"/>
                    <a:gd name="T90" fmla="*/ 6013 w 7736"/>
                    <a:gd name="T91" fmla="*/ 11391 h 11660"/>
                    <a:gd name="T92" fmla="*/ 6355 w 7736"/>
                    <a:gd name="T93" fmla="*/ 11505 h 11660"/>
                    <a:gd name="T94" fmla="*/ 6701 w 7736"/>
                    <a:gd name="T95" fmla="*/ 11606 h 11660"/>
                    <a:gd name="T96" fmla="*/ 6780 w 7736"/>
                    <a:gd name="T97" fmla="*/ 11539 h 11660"/>
                    <a:gd name="T98" fmla="*/ 6481 w 7736"/>
                    <a:gd name="T99" fmla="*/ 11206 h 11660"/>
                    <a:gd name="T100" fmla="*/ 6225 w 7736"/>
                    <a:gd name="T101" fmla="*/ 10837 h 11660"/>
                    <a:gd name="T102" fmla="*/ 6019 w 7736"/>
                    <a:gd name="T103" fmla="*/ 10436 h 11660"/>
                    <a:gd name="T104" fmla="*/ 5867 w 7736"/>
                    <a:gd name="T105" fmla="*/ 10006 h 11660"/>
                    <a:gd name="T106" fmla="*/ 5771 w 7736"/>
                    <a:gd name="T107" fmla="*/ 9552 h 11660"/>
                    <a:gd name="T108" fmla="*/ 5738 w 7736"/>
                    <a:gd name="T109" fmla="*/ 9078 h 1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736" h="11660">
                      <a:moveTo>
                        <a:pt x="5738" y="9078"/>
                      </a:moveTo>
                      <a:lnTo>
                        <a:pt x="5741" y="8949"/>
                      </a:lnTo>
                      <a:lnTo>
                        <a:pt x="5749" y="8821"/>
                      </a:lnTo>
                      <a:lnTo>
                        <a:pt x="5760" y="8695"/>
                      </a:lnTo>
                      <a:lnTo>
                        <a:pt x="5776" y="8570"/>
                      </a:lnTo>
                      <a:lnTo>
                        <a:pt x="5797" y="8446"/>
                      </a:lnTo>
                      <a:lnTo>
                        <a:pt x="5822" y="8324"/>
                      </a:lnTo>
                      <a:lnTo>
                        <a:pt x="5852" y="8204"/>
                      </a:lnTo>
                      <a:lnTo>
                        <a:pt x="5885" y="8084"/>
                      </a:lnTo>
                      <a:lnTo>
                        <a:pt x="5923" y="7968"/>
                      </a:lnTo>
                      <a:lnTo>
                        <a:pt x="5965" y="7852"/>
                      </a:lnTo>
                      <a:lnTo>
                        <a:pt x="6011" y="7739"/>
                      </a:lnTo>
                      <a:lnTo>
                        <a:pt x="6061" y="7628"/>
                      </a:lnTo>
                      <a:lnTo>
                        <a:pt x="6114" y="7518"/>
                      </a:lnTo>
                      <a:lnTo>
                        <a:pt x="6171" y="7412"/>
                      </a:lnTo>
                      <a:lnTo>
                        <a:pt x="6232" y="7307"/>
                      </a:lnTo>
                      <a:lnTo>
                        <a:pt x="6296" y="7205"/>
                      </a:lnTo>
                      <a:lnTo>
                        <a:pt x="6364" y="7105"/>
                      </a:lnTo>
                      <a:lnTo>
                        <a:pt x="6435" y="7008"/>
                      </a:lnTo>
                      <a:lnTo>
                        <a:pt x="6509" y="6913"/>
                      </a:lnTo>
                      <a:lnTo>
                        <a:pt x="6586" y="6821"/>
                      </a:lnTo>
                      <a:lnTo>
                        <a:pt x="6668" y="6732"/>
                      </a:lnTo>
                      <a:lnTo>
                        <a:pt x="6751" y="6646"/>
                      </a:lnTo>
                      <a:lnTo>
                        <a:pt x="6838" y="6563"/>
                      </a:lnTo>
                      <a:lnTo>
                        <a:pt x="6928" y="6482"/>
                      </a:lnTo>
                      <a:lnTo>
                        <a:pt x="7020" y="6405"/>
                      </a:lnTo>
                      <a:lnTo>
                        <a:pt x="7115" y="6330"/>
                      </a:lnTo>
                      <a:lnTo>
                        <a:pt x="7212" y="6260"/>
                      </a:lnTo>
                      <a:lnTo>
                        <a:pt x="7312" y="6193"/>
                      </a:lnTo>
                      <a:lnTo>
                        <a:pt x="7414" y="6128"/>
                      </a:lnTo>
                      <a:lnTo>
                        <a:pt x="7520" y="6068"/>
                      </a:lnTo>
                      <a:lnTo>
                        <a:pt x="7627" y="6011"/>
                      </a:lnTo>
                      <a:lnTo>
                        <a:pt x="7736" y="5958"/>
                      </a:lnTo>
                      <a:lnTo>
                        <a:pt x="7664" y="5926"/>
                      </a:lnTo>
                      <a:lnTo>
                        <a:pt x="7593" y="5892"/>
                      </a:lnTo>
                      <a:lnTo>
                        <a:pt x="7521" y="5857"/>
                      </a:lnTo>
                      <a:lnTo>
                        <a:pt x="7452" y="5819"/>
                      </a:lnTo>
                      <a:lnTo>
                        <a:pt x="7383" y="5781"/>
                      </a:lnTo>
                      <a:lnTo>
                        <a:pt x="7316" y="5741"/>
                      </a:lnTo>
                      <a:lnTo>
                        <a:pt x="7249" y="5699"/>
                      </a:lnTo>
                      <a:lnTo>
                        <a:pt x="7183" y="5656"/>
                      </a:lnTo>
                      <a:lnTo>
                        <a:pt x="7118" y="5612"/>
                      </a:lnTo>
                      <a:lnTo>
                        <a:pt x="7055" y="5565"/>
                      </a:lnTo>
                      <a:lnTo>
                        <a:pt x="6992" y="5518"/>
                      </a:lnTo>
                      <a:lnTo>
                        <a:pt x="6931" y="5469"/>
                      </a:lnTo>
                      <a:lnTo>
                        <a:pt x="6871" y="5419"/>
                      </a:lnTo>
                      <a:lnTo>
                        <a:pt x="6813" y="5368"/>
                      </a:lnTo>
                      <a:lnTo>
                        <a:pt x="6755" y="5314"/>
                      </a:lnTo>
                      <a:lnTo>
                        <a:pt x="6698" y="5260"/>
                      </a:lnTo>
                      <a:lnTo>
                        <a:pt x="6644" y="5204"/>
                      </a:lnTo>
                      <a:lnTo>
                        <a:pt x="6589" y="5148"/>
                      </a:lnTo>
                      <a:lnTo>
                        <a:pt x="6537" y="5090"/>
                      </a:lnTo>
                      <a:lnTo>
                        <a:pt x="6486" y="5031"/>
                      </a:lnTo>
                      <a:lnTo>
                        <a:pt x="6436" y="4971"/>
                      </a:lnTo>
                      <a:lnTo>
                        <a:pt x="6388" y="4909"/>
                      </a:lnTo>
                      <a:lnTo>
                        <a:pt x="6341" y="4847"/>
                      </a:lnTo>
                      <a:lnTo>
                        <a:pt x="6294" y="4782"/>
                      </a:lnTo>
                      <a:lnTo>
                        <a:pt x="6250" y="4718"/>
                      </a:lnTo>
                      <a:lnTo>
                        <a:pt x="6208" y="4652"/>
                      </a:lnTo>
                      <a:lnTo>
                        <a:pt x="6166" y="4585"/>
                      </a:lnTo>
                      <a:lnTo>
                        <a:pt x="6127" y="4517"/>
                      </a:lnTo>
                      <a:lnTo>
                        <a:pt x="6089" y="4449"/>
                      </a:lnTo>
                      <a:lnTo>
                        <a:pt x="6053" y="4378"/>
                      </a:lnTo>
                      <a:lnTo>
                        <a:pt x="6018" y="4307"/>
                      </a:lnTo>
                      <a:lnTo>
                        <a:pt x="5984" y="4235"/>
                      </a:lnTo>
                      <a:lnTo>
                        <a:pt x="5949" y="4155"/>
                      </a:lnTo>
                      <a:lnTo>
                        <a:pt x="5917" y="4074"/>
                      </a:lnTo>
                      <a:lnTo>
                        <a:pt x="5901" y="4033"/>
                      </a:lnTo>
                      <a:lnTo>
                        <a:pt x="5885" y="3991"/>
                      </a:lnTo>
                      <a:lnTo>
                        <a:pt x="5871" y="3951"/>
                      </a:lnTo>
                      <a:lnTo>
                        <a:pt x="5856" y="3909"/>
                      </a:lnTo>
                      <a:lnTo>
                        <a:pt x="5843" y="3867"/>
                      </a:lnTo>
                      <a:lnTo>
                        <a:pt x="5830" y="3825"/>
                      </a:lnTo>
                      <a:lnTo>
                        <a:pt x="5818" y="3781"/>
                      </a:lnTo>
                      <a:lnTo>
                        <a:pt x="5805" y="3739"/>
                      </a:lnTo>
                      <a:lnTo>
                        <a:pt x="5794" y="3696"/>
                      </a:lnTo>
                      <a:lnTo>
                        <a:pt x="5784" y="3653"/>
                      </a:lnTo>
                      <a:lnTo>
                        <a:pt x="5772" y="3610"/>
                      </a:lnTo>
                      <a:lnTo>
                        <a:pt x="5763" y="3566"/>
                      </a:lnTo>
                      <a:lnTo>
                        <a:pt x="5754" y="3523"/>
                      </a:lnTo>
                      <a:lnTo>
                        <a:pt x="5745" y="3478"/>
                      </a:lnTo>
                      <a:lnTo>
                        <a:pt x="5737" y="3434"/>
                      </a:lnTo>
                      <a:lnTo>
                        <a:pt x="5729" y="3390"/>
                      </a:lnTo>
                      <a:lnTo>
                        <a:pt x="5723" y="3346"/>
                      </a:lnTo>
                      <a:lnTo>
                        <a:pt x="5717" y="3300"/>
                      </a:lnTo>
                      <a:lnTo>
                        <a:pt x="5711" y="3256"/>
                      </a:lnTo>
                      <a:lnTo>
                        <a:pt x="5706" y="3211"/>
                      </a:lnTo>
                      <a:lnTo>
                        <a:pt x="5701" y="3165"/>
                      </a:lnTo>
                      <a:lnTo>
                        <a:pt x="5698" y="3120"/>
                      </a:lnTo>
                      <a:lnTo>
                        <a:pt x="5694" y="3073"/>
                      </a:lnTo>
                      <a:lnTo>
                        <a:pt x="5691" y="3028"/>
                      </a:lnTo>
                      <a:lnTo>
                        <a:pt x="5689" y="2981"/>
                      </a:lnTo>
                      <a:lnTo>
                        <a:pt x="5687" y="2936"/>
                      </a:lnTo>
                      <a:lnTo>
                        <a:pt x="5686" y="2890"/>
                      </a:lnTo>
                      <a:lnTo>
                        <a:pt x="5686" y="2843"/>
                      </a:lnTo>
                      <a:lnTo>
                        <a:pt x="5683" y="2697"/>
                      </a:lnTo>
                      <a:lnTo>
                        <a:pt x="5671" y="2553"/>
                      </a:lnTo>
                      <a:lnTo>
                        <a:pt x="5653" y="2410"/>
                      </a:lnTo>
                      <a:lnTo>
                        <a:pt x="5628" y="2270"/>
                      </a:lnTo>
                      <a:lnTo>
                        <a:pt x="5597" y="2133"/>
                      </a:lnTo>
                      <a:lnTo>
                        <a:pt x="5558" y="1998"/>
                      </a:lnTo>
                      <a:lnTo>
                        <a:pt x="5514" y="1866"/>
                      </a:lnTo>
                      <a:lnTo>
                        <a:pt x="5463" y="1737"/>
                      </a:lnTo>
                      <a:lnTo>
                        <a:pt x="5406" y="1611"/>
                      </a:lnTo>
                      <a:lnTo>
                        <a:pt x="5342" y="1488"/>
                      </a:lnTo>
                      <a:lnTo>
                        <a:pt x="5274" y="1369"/>
                      </a:lnTo>
                      <a:lnTo>
                        <a:pt x="5201" y="1253"/>
                      </a:lnTo>
                      <a:lnTo>
                        <a:pt x="5121" y="1142"/>
                      </a:lnTo>
                      <a:lnTo>
                        <a:pt x="5037" y="1034"/>
                      </a:lnTo>
                      <a:lnTo>
                        <a:pt x="4948" y="931"/>
                      </a:lnTo>
                      <a:lnTo>
                        <a:pt x="4853" y="832"/>
                      </a:lnTo>
                      <a:lnTo>
                        <a:pt x="4755" y="738"/>
                      </a:lnTo>
                      <a:lnTo>
                        <a:pt x="4651" y="650"/>
                      </a:lnTo>
                      <a:lnTo>
                        <a:pt x="4544" y="564"/>
                      </a:lnTo>
                      <a:lnTo>
                        <a:pt x="4432" y="485"/>
                      </a:lnTo>
                      <a:lnTo>
                        <a:pt x="4318" y="411"/>
                      </a:lnTo>
                      <a:lnTo>
                        <a:pt x="4199" y="343"/>
                      </a:lnTo>
                      <a:lnTo>
                        <a:pt x="4076" y="281"/>
                      </a:lnTo>
                      <a:lnTo>
                        <a:pt x="3950" y="223"/>
                      </a:lnTo>
                      <a:lnTo>
                        <a:pt x="3821" y="173"/>
                      </a:lnTo>
                      <a:lnTo>
                        <a:pt x="3688" y="128"/>
                      </a:lnTo>
                      <a:lnTo>
                        <a:pt x="3554" y="89"/>
                      </a:lnTo>
                      <a:lnTo>
                        <a:pt x="3416" y="58"/>
                      </a:lnTo>
                      <a:lnTo>
                        <a:pt x="3276" y="32"/>
                      </a:lnTo>
                      <a:lnTo>
                        <a:pt x="3134" y="15"/>
                      </a:lnTo>
                      <a:lnTo>
                        <a:pt x="2989" y="4"/>
                      </a:lnTo>
                      <a:lnTo>
                        <a:pt x="2843" y="0"/>
                      </a:lnTo>
                      <a:lnTo>
                        <a:pt x="2696" y="4"/>
                      </a:lnTo>
                      <a:lnTo>
                        <a:pt x="2552" y="15"/>
                      </a:lnTo>
                      <a:lnTo>
                        <a:pt x="2410" y="32"/>
                      </a:lnTo>
                      <a:lnTo>
                        <a:pt x="2270" y="58"/>
                      </a:lnTo>
                      <a:lnTo>
                        <a:pt x="2132" y="89"/>
                      </a:lnTo>
                      <a:lnTo>
                        <a:pt x="1997" y="128"/>
                      </a:lnTo>
                      <a:lnTo>
                        <a:pt x="1866" y="173"/>
                      </a:lnTo>
                      <a:lnTo>
                        <a:pt x="1736" y="223"/>
                      </a:lnTo>
                      <a:lnTo>
                        <a:pt x="1610" y="281"/>
                      </a:lnTo>
                      <a:lnTo>
                        <a:pt x="1488" y="343"/>
                      </a:lnTo>
                      <a:lnTo>
                        <a:pt x="1369" y="411"/>
                      </a:lnTo>
                      <a:lnTo>
                        <a:pt x="1254" y="485"/>
                      </a:lnTo>
                      <a:lnTo>
                        <a:pt x="1142" y="564"/>
                      </a:lnTo>
                      <a:lnTo>
                        <a:pt x="1035" y="650"/>
                      </a:lnTo>
                      <a:lnTo>
                        <a:pt x="932" y="738"/>
                      </a:lnTo>
                      <a:lnTo>
                        <a:pt x="833" y="832"/>
                      </a:lnTo>
                      <a:lnTo>
                        <a:pt x="739" y="931"/>
                      </a:lnTo>
                      <a:lnTo>
                        <a:pt x="649" y="1034"/>
                      </a:lnTo>
                      <a:lnTo>
                        <a:pt x="565" y="1142"/>
                      </a:lnTo>
                      <a:lnTo>
                        <a:pt x="486" y="1253"/>
                      </a:lnTo>
                      <a:lnTo>
                        <a:pt x="412" y="1369"/>
                      </a:lnTo>
                      <a:lnTo>
                        <a:pt x="343" y="1488"/>
                      </a:lnTo>
                      <a:lnTo>
                        <a:pt x="280" y="1611"/>
                      </a:lnTo>
                      <a:lnTo>
                        <a:pt x="224" y="1737"/>
                      </a:lnTo>
                      <a:lnTo>
                        <a:pt x="172" y="1866"/>
                      </a:lnTo>
                      <a:lnTo>
                        <a:pt x="128" y="1998"/>
                      </a:lnTo>
                      <a:lnTo>
                        <a:pt x="90" y="2133"/>
                      </a:lnTo>
                      <a:lnTo>
                        <a:pt x="58" y="2270"/>
                      </a:lnTo>
                      <a:lnTo>
                        <a:pt x="33" y="2410"/>
                      </a:lnTo>
                      <a:lnTo>
                        <a:pt x="15" y="2553"/>
                      </a:lnTo>
                      <a:lnTo>
                        <a:pt x="3" y="2697"/>
                      </a:lnTo>
                      <a:lnTo>
                        <a:pt x="0" y="2843"/>
                      </a:lnTo>
                      <a:lnTo>
                        <a:pt x="0" y="2918"/>
                      </a:lnTo>
                      <a:lnTo>
                        <a:pt x="1" y="2992"/>
                      </a:lnTo>
                      <a:lnTo>
                        <a:pt x="2" y="3067"/>
                      </a:lnTo>
                      <a:lnTo>
                        <a:pt x="5" y="3140"/>
                      </a:lnTo>
                      <a:lnTo>
                        <a:pt x="8" y="3214"/>
                      </a:lnTo>
                      <a:lnTo>
                        <a:pt x="11" y="3289"/>
                      </a:lnTo>
                      <a:lnTo>
                        <a:pt x="15" y="3363"/>
                      </a:lnTo>
                      <a:lnTo>
                        <a:pt x="19" y="3435"/>
                      </a:lnTo>
                      <a:lnTo>
                        <a:pt x="24" y="3509"/>
                      </a:lnTo>
                      <a:lnTo>
                        <a:pt x="30" y="3583"/>
                      </a:lnTo>
                      <a:lnTo>
                        <a:pt x="36" y="3655"/>
                      </a:lnTo>
                      <a:lnTo>
                        <a:pt x="43" y="3728"/>
                      </a:lnTo>
                      <a:lnTo>
                        <a:pt x="50" y="3801"/>
                      </a:lnTo>
                      <a:lnTo>
                        <a:pt x="58" y="3873"/>
                      </a:lnTo>
                      <a:lnTo>
                        <a:pt x="67" y="3946"/>
                      </a:lnTo>
                      <a:lnTo>
                        <a:pt x="76" y="4019"/>
                      </a:lnTo>
                      <a:lnTo>
                        <a:pt x="85" y="4090"/>
                      </a:lnTo>
                      <a:lnTo>
                        <a:pt x="95" y="4162"/>
                      </a:lnTo>
                      <a:lnTo>
                        <a:pt x="107" y="4233"/>
                      </a:lnTo>
                      <a:lnTo>
                        <a:pt x="118" y="4305"/>
                      </a:lnTo>
                      <a:lnTo>
                        <a:pt x="129" y="4376"/>
                      </a:lnTo>
                      <a:lnTo>
                        <a:pt x="142" y="4448"/>
                      </a:lnTo>
                      <a:lnTo>
                        <a:pt x="155" y="4518"/>
                      </a:lnTo>
                      <a:lnTo>
                        <a:pt x="168" y="4589"/>
                      </a:lnTo>
                      <a:lnTo>
                        <a:pt x="197" y="4730"/>
                      </a:lnTo>
                      <a:lnTo>
                        <a:pt x="228" y="4870"/>
                      </a:lnTo>
                      <a:lnTo>
                        <a:pt x="261" y="5009"/>
                      </a:lnTo>
                      <a:lnTo>
                        <a:pt x="296" y="5148"/>
                      </a:lnTo>
                      <a:lnTo>
                        <a:pt x="359" y="5377"/>
                      </a:lnTo>
                      <a:lnTo>
                        <a:pt x="428" y="5604"/>
                      </a:lnTo>
                      <a:lnTo>
                        <a:pt x="503" y="5829"/>
                      </a:lnTo>
                      <a:lnTo>
                        <a:pt x="583" y="6051"/>
                      </a:lnTo>
                      <a:lnTo>
                        <a:pt x="670" y="6270"/>
                      </a:lnTo>
                      <a:lnTo>
                        <a:pt x="760" y="6486"/>
                      </a:lnTo>
                      <a:lnTo>
                        <a:pt x="857" y="6699"/>
                      </a:lnTo>
                      <a:lnTo>
                        <a:pt x="959" y="6910"/>
                      </a:lnTo>
                      <a:lnTo>
                        <a:pt x="1067" y="7118"/>
                      </a:lnTo>
                      <a:lnTo>
                        <a:pt x="1179" y="7321"/>
                      </a:lnTo>
                      <a:lnTo>
                        <a:pt x="1296" y="7523"/>
                      </a:lnTo>
                      <a:lnTo>
                        <a:pt x="1418" y="7720"/>
                      </a:lnTo>
                      <a:lnTo>
                        <a:pt x="1546" y="7914"/>
                      </a:lnTo>
                      <a:lnTo>
                        <a:pt x="1678" y="8105"/>
                      </a:lnTo>
                      <a:lnTo>
                        <a:pt x="1814" y="8292"/>
                      </a:lnTo>
                      <a:lnTo>
                        <a:pt x="1956" y="8475"/>
                      </a:lnTo>
                      <a:lnTo>
                        <a:pt x="2103" y="8655"/>
                      </a:lnTo>
                      <a:lnTo>
                        <a:pt x="2252" y="8831"/>
                      </a:lnTo>
                      <a:lnTo>
                        <a:pt x="2407" y="9002"/>
                      </a:lnTo>
                      <a:lnTo>
                        <a:pt x="2566" y="9170"/>
                      </a:lnTo>
                      <a:lnTo>
                        <a:pt x="2729" y="9334"/>
                      </a:lnTo>
                      <a:lnTo>
                        <a:pt x="2897" y="9494"/>
                      </a:lnTo>
                      <a:lnTo>
                        <a:pt x="3068" y="9649"/>
                      </a:lnTo>
                      <a:lnTo>
                        <a:pt x="3243" y="9800"/>
                      </a:lnTo>
                      <a:lnTo>
                        <a:pt x="3422" y="9947"/>
                      </a:lnTo>
                      <a:lnTo>
                        <a:pt x="3605" y="10088"/>
                      </a:lnTo>
                      <a:lnTo>
                        <a:pt x="3792" y="10226"/>
                      </a:lnTo>
                      <a:lnTo>
                        <a:pt x="3982" y="10358"/>
                      </a:lnTo>
                      <a:lnTo>
                        <a:pt x="4176" y="10487"/>
                      </a:lnTo>
                      <a:lnTo>
                        <a:pt x="4373" y="10609"/>
                      </a:lnTo>
                      <a:lnTo>
                        <a:pt x="4573" y="10728"/>
                      </a:lnTo>
                      <a:lnTo>
                        <a:pt x="4777" y="10841"/>
                      </a:lnTo>
                      <a:lnTo>
                        <a:pt x="4902" y="10908"/>
                      </a:lnTo>
                      <a:lnTo>
                        <a:pt x="5029" y="10971"/>
                      </a:lnTo>
                      <a:lnTo>
                        <a:pt x="5156" y="11034"/>
                      </a:lnTo>
                      <a:lnTo>
                        <a:pt x="5286" y="11094"/>
                      </a:lnTo>
                      <a:lnTo>
                        <a:pt x="5415" y="11153"/>
                      </a:lnTo>
                      <a:lnTo>
                        <a:pt x="5547" y="11210"/>
                      </a:lnTo>
                      <a:lnTo>
                        <a:pt x="5678" y="11264"/>
                      </a:lnTo>
                      <a:lnTo>
                        <a:pt x="5812" y="11316"/>
                      </a:lnTo>
                      <a:lnTo>
                        <a:pt x="5879" y="11341"/>
                      </a:lnTo>
                      <a:lnTo>
                        <a:pt x="5946" y="11366"/>
                      </a:lnTo>
                      <a:lnTo>
                        <a:pt x="6013" y="11391"/>
                      </a:lnTo>
                      <a:lnTo>
                        <a:pt x="6081" y="11415"/>
                      </a:lnTo>
                      <a:lnTo>
                        <a:pt x="6149" y="11438"/>
                      </a:lnTo>
                      <a:lnTo>
                        <a:pt x="6217" y="11461"/>
                      </a:lnTo>
                      <a:lnTo>
                        <a:pt x="6285" y="11483"/>
                      </a:lnTo>
                      <a:lnTo>
                        <a:pt x="6355" y="11505"/>
                      </a:lnTo>
                      <a:lnTo>
                        <a:pt x="6423" y="11526"/>
                      </a:lnTo>
                      <a:lnTo>
                        <a:pt x="6492" y="11547"/>
                      </a:lnTo>
                      <a:lnTo>
                        <a:pt x="6561" y="11567"/>
                      </a:lnTo>
                      <a:lnTo>
                        <a:pt x="6631" y="11587"/>
                      </a:lnTo>
                      <a:lnTo>
                        <a:pt x="6701" y="11606"/>
                      </a:lnTo>
                      <a:lnTo>
                        <a:pt x="6771" y="11625"/>
                      </a:lnTo>
                      <a:lnTo>
                        <a:pt x="6841" y="11643"/>
                      </a:lnTo>
                      <a:lnTo>
                        <a:pt x="6912" y="11660"/>
                      </a:lnTo>
                      <a:lnTo>
                        <a:pt x="6845" y="11600"/>
                      </a:lnTo>
                      <a:lnTo>
                        <a:pt x="6780" y="11539"/>
                      </a:lnTo>
                      <a:lnTo>
                        <a:pt x="6717" y="11475"/>
                      </a:lnTo>
                      <a:lnTo>
                        <a:pt x="6655" y="11410"/>
                      </a:lnTo>
                      <a:lnTo>
                        <a:pt x="6595" y="11345"/>
                      </a:lnTo>
                      <a:lnTo>
                        <a:pt x="6536" y="11276"/>
                      </a:lnTo>
                      <a:lnTo>
                        <a:pt x="6481" y="11206"/>
                      </a:lnTo>
                      <a:lnTo>
                        <a:pt x="6425" y="11136"/>
                      </a:lnTo>
                      <a:lnTo>
                        <a:pt x="6373" y="11063"/>
                      </a:lnTo>
                      <a:lnTo>
                        <a:pt x="6322" y="10989"/>
                      </a:lnTo>
                      <a:lnTo>
                        <a:pt x="6272" y="10914"/>
                      </a:lnTo>
                      <a:lnTo>
                        <a:pt x="6225" y="10837"/>
                      </a:lnTo>
                      <a:lnTo>
                        <a:pt x="6180" y="10759"/>
                      </a:lnTo>
                      <a:lnTo>
                        <a:pt x="6137" y="10681"/>
                      </a:lnTo>
                      <a:lnTo>
                        <a:pt x="6095" y="10600"/>
                      </a:lnTo>
                      <a:lnTo>
                        <a:pt x="6056" y="10518"/>
                      </a:lnTo>
                      <a:lnTo>
                        <a:pt x="6019" y="10436"/>
                      </a:lnTo>
                      <a:lnTo>
                        <a:pt x="5984" y="10352"/>
                      </a:lnTo>
                      <a:lnTo>
                        <a:pt x="5951" y="10267"/>
                      </a:lnTo>
                      <a:lnTo>
                        <a:pt x="5920" y="10180"/>
                      </a:lnTo>
                      <a:lnTo>
                        <a:pt x="5893" y="10094"/>
                      </a:lnTo>
                      <a:lnTo>
                        <a:pt x="5867" y="10006"/>
                      </a:lnTo>
                      <a:lnTo>
                        <a:pt x="5843" y="9917"/>
                      </a:lnTo>
                      <a:lnTo>
                        <a:pt x="5821" y="9826"/>
                      </a:lnTo>
                      <a:lnTo>
                        <a:pt x="5802" y="9735"/>
                      </a:lnTo>
                      <a:lnTo>
                        <a:pt x="5786" y="9645"/>
                      </a:lnTo>
                      <a:lnTo>
                        <a:pt x="5771" y="9552"/>
                      </a:lnTo>
                      <a:lnTo>
                        <a:pt x="5760" y="9459"/>
                      </a:lnTo>
                      <a:lnTo>
                        <a:pt x="5751" y="9364"/>
                      </a:lnTo>
                      <a:lnTo>
                        <a:pt x="5744" y="9269"/>
                      </a:lnTo>
                      <a:lnTo>
                        <a:pt x="5741" y="9174"/>
                      </a:lnTo>
                      <a:lnTo>
                        <a:pt x="5738" y="907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a:endParaRPr lang="en-US" sz="1800">
                    <a:solidFill>
                      <a:prstClr val="black"/>
                    </a:solidFill>
                    <a:latin typeface="Calibri" panose="020F0502020204030204"/>
                  </a:endParaRPr>
                </a:p>
              </p:txBody>
            </p:sp>
            <p:sp>
              <p:nvSpPr>
                <p:cNvPr id="37" name="Freeform 6"/>
                <p:cNvSpPr>
                  <a:spLocks/>
                </p:cNvSpPr>
                <p:nvPr/>
              </p:nvSpPr>
              <p:spPr bwMode="auto">
                <a:xfrm>
                  <a:off x="4075" y="699"/>
                  <a:ext cx="1278" cy="1912"/>
                </a:xfrm>
                <a:custGeom>
                  <a:avLst/>
                  <a:gdLst>
                    <a:gd name="T0" fmla="*/ 7627 w 7668"/>
                    <a:gd name="T1" fmla="*/ 7900 h 11474"/>
                    <a:gd name="T2" fmla="*/ 7534 w 7668"/>
                    <a:gd name="T3" fmla="*/ 7209 h 11474"/>
                    <a:gd name="T4" fmla="*/ 7391 w 7668"/>
                    <a:gd name="T5" fmla="*/ 6536 h 11474"/>
                    <a:gd name="T6" fmla="*/ 7117 w 7668"/>
                    <a:gd name="T7" fmla="*/ 5647 h 11474"/>
                    <a:gd name="T8" fmla="*/ 6684 w 7668"/>
                    <a:gd name="T9" fmla="*/ 4652 h 11474"/>
                    <a:gd name="T10" fmla="*/ 6139 w 7668"/>
                    <a:gd name="T11" fmla="*/ 3724 h 11474"/>
                    <a:gd name="T12" fmla="*/ 5493 w 7668"/>
                    <a:gd name="T13" fmla="*/ 2871 h 11474"/>
                    <a:gd name="T14" fmla="*/ 4752 w 7668"/>
                    <a:gd name="T15" fmla="*/ 2100 h 11474"/>
                    <a:gd name="T16" fmla="*/ 3926 w 7668"/>
                    <a:gd name="T17" fmla="*/ 1420 h 11474"/>
                    <a:gd name="T18" fmla="*/ 3141 w 7668"/>
                    <a:gd name="T19" fmla="*/ 911 h 11474"/>
                    <a:gd name="T20" fmla="*/ 2808 w 7668"/>
                    <a:gd name="T21" fmla="*/ 727 h 11474"/>
                    <a:gd name="T22" fmla="*/ 2466 w 7668"/>
                    <a:gd name="T23" fmla="*/ 557 h 11474"/>
                    <a:gd name="T24" fmla="*/ 2117 w 7668"/>
                    <a:gd name="T25" fmla="*/ 400 h 11474"/>
                    <a:gd name="T26" fmla="*/ 1759 w 7668"/>
                    <a:gd name="T27" fmla="*/ 259 h 11474"/>
                    <a:gd name="T28" fmla="*/ 1395 w 7668"/>
                    <a:gd name="T29" fmla="*/ 133 h 11474"/>
                    <a:gd name="T30" fmla="*/ 1023 w 7668"/>
                    <a:gd name="T31" fmla="*/ 20 h 11474"/>
                    <a:gd name="T32" fmla="*/ 1193 w 7668"/>
                    <a:gd name="T33" fmla="*/ 248 h 11474"/>
                    <a:gd name="T34" fmla="*/ 1462 w 7668"/>
                    <a:gd name="T35" fmla="*/ 592 h 11474"/>
                    <a:gd name="T36" fmla="*/ 1688 w 7668"/>
                    <a:gd name="T37" fmla="*/ 968 h 11474"/>
                    <a:gd name="T38" fmla="*/ 1864 w 7668"/>
                    <a:gd name="T39" fmla="*/ 1373 h 11474"/>
                    <a:gd name="T40" fmla="*/ 1987 w 7668"/>
                    <a:gd name="T41" fmla="*/ 1803 h 11474"/>
                    <a:gd name="T42" fmla="*/ 2053 w 7668"/>
                    <a:gd name="T43" fmla="*/ 2255 h 11474"/>
                    <a:gd name="T44" fmla="*/ 2056 w 7668"/>
                    <a:gd name="T45" fmla="*/ 2795 h 11474"/>
                    <a:gd name="T46" fmla="*/ 1948 w 7668"/>
                    <a:gd name="T47" fmla="*/ 3423 h 11474"/>
                    <a:gd name="T48" fmla="*/ 1732 w 7668"/>
                    <a:gd name="T49" fmla="*/ 4008 h 11474"/>
                    <a:gd name="T50" fmla="*/ 1418 w 7668"/>
                    <a:gd name="T51" fmla="*/ 4538 h 11474"/>
                    <a:gd name="T52" fmla="*/ 1017 w 7668"/>
                    <a:gd name="T53" fmla="*/ 5001 h 11474"/>
                    <a:gd name="T54" fmla="*/ 541 w 7668"/>
                    <a:gd name="T55" fmla="*/ 5386 h 11474"/>
                    <a:gd name="T56" fmla="*/ 0 w 7668"/>
                    <a:gd name="T57" fmla="*/ 5683 h 11474"/>
                    <a:gd name="T58" fmla="*/ 221 w 7668"/>
                    <a:gd name="T59" fmla="*/ 5794 h 11474"/>
                    <a:gd name="T60" fmla="*/ 512 w 7668"/>
                    <a:gd name="T61" fmla="*/ 5973 h 11474"/>
                    <a:gd name="T62" fmla="*/ 783 w 7668"/>
                    <a:gd name="T63" fmla="*/ 6181 h 11474"/>
                    <a:gd name="T64" fmla="*/ 1032 w 7668"/>
                    <a:gd name="T65" fmla="*/ 6413 h 11474"/>
                    <a:gd name="T66" fmla="*/ 1256 w 7668"/>
                    <a:gd name="T67" fmla="*/ 6671 h 11474"/>
                    <a:gd name="T68" fmla="*/ 1454 w 7668"/>
                    <a:gd name="T69" fmla="*/ 6949 h 11474"/>
                    <a:gd name="T70" fmla="*/ 1623 w 7668"/>
                    <a:gd name="T71" fmla="*/ 7247 h 11474"/>
                    <a:gd name="T72" fmla="*/ 1782 w 7668"/>
                    <a:gd name="T73" fmla="*/ 7620 h 11474"/>
                    <a:gd name="T74" fmla="*/ 1900 w 7668"/>
                    <a:gd name="T75" fmla="*/ 8028 h 11474"/>
                    <a:gd name="T76" fmla="*/ 1967 w 7668"/>
                    <a:gd name="T77" fmla="*/ 8456 h 11474"/>
                    <a:gd name="T78" fmla="*/ 1997 w 7668"/>
                    <a:gd name="T79" fmla="*/ 8922 h 11474"/>
                    <a:gd name="T80" fmla="*/ 2154 w 7668"/>
                    <a:gd name="T81" fmla="*/ 9609 h 11474"/>
                    <a:gd name="T82" fmla="*/ 2467 w 7668"/>
                    <a:gd name="T83" fmla="*/ 10222 h 11474"/>
                    <a:gd name="T84" fmla="*/ 2913 w 7668"/>
                    <a:gd name="T85" fmla="*/ 10736 h 11474"/>
                    <a:gd name="T86" fmla="*/ 3469 w 7668"/>
                    <a:gd name="T87" fmla="*/ 11132 h 11474"/>
                    <a:gd name="T88" fmla="*/ 4114 w 7668"/>
                    <a:gd name="T89" fmla="*/ 11385 h 11474"/>
                    <a:gd name="T90" fmla="*/ 4825 w 7668"/>
                    <a:gd name="T91" fmla="*/ 11474 h 11474"/>
                    <a:gd name="T92" fmla="*/ 5528 w 7668"/>
                    <a:gd name="T93" fmla="*/ 11387 h 11474"/>
                    <a:gd name="T94" fmla="*/ 6166 w 7668"/>
                    <a:gd name="T95" fmla="*/ 11140 h 11474"/>
                    <a:gd name="T96" fmla="*/ 6718 w 7668"/>
                    <a:gd name="T97" fmla="*/ 10753 h 11474"/>
                    <a:gd name="T98" fmla="*/ 7163 w 7668"/>
                    <a:gd name="T99" fmla="*/ 10248 h 11474"/>
                    <a:gd name="T100" fmla="*/ 7480 w 7668"/>
                    <a:gd name="T101" fmla="*/ 9647 h 11474"/>
                    <a:gd name="T102" fmla="*/ 7646 w 7668"/>
                    <a:gd name="T103" fmla="*/ 8973 h 11474"/>
                    <a:gd name="T104" fmla="*/ 7668 w 7668"/>
                    <a:gd name="T105" fmla="*/ 8645 h 11474"/>
                    <a:gd name="T106" fmla="*/ 7662 w 7668"/>
                    <a:gd name="T107" fmla="*/ 8464 h 11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68" h="11474">
                      <a:moveTo>
                        <a:pt x="7662" y="8464"/>
                      </a:moveTo>
                      <a:lnTo>
                        <a:pt x="7657" y="8322"/>
                      </a:lnTo>
                      <a:lnTo>
                        <a:pt x="7649" y="8180"/>
                      </a:lnTo>
                      <a:lnTo>
                        <a:pt x="7638" y="8041"/>
                      </a:lnTo>
                      <a:lnTo>
                        <a:pt x="7627" y="7900"/>
                      </a:lnTo>
                      <a:lnTo>
                        <a:pt x="7612" y="7760"/>
                      </a:lnTo>
                      <a:lnTo>
                        <a:pt x="7595" y="7622"/>
                      </a:lnTo>
                      <a:lnTo>
                        <a:pt x="7577" y="7483"/>
                      </a:lnTo>
                      <a:lnTo>
                        <a:pt x="7557" y="7346"/>
                      </a:lnTo>
                      <a:lnTo>
                        <a:pt x="7534" y="7209"/>
                      </a:lnTo>
                      <a:lnTo>
                        <a:pt x="7509" y="7073"/>
                      </a:lnTo>
                      <a:lnTo>
                        <a:pt x="7483" y="6938"/>
                      </a:lnTo>
                      <a:lnTo>
                        <a:pt x="7455" y="6803"/>
                      </a:lnTo>
                      <a:lnTo>
                        <a:pt x="7424" y="6669"/>
                      </a:lnTo>
                      <a:lnTo>
                        <a:pt x="7391" y="6536"/>
                      </a:lnTo>
                      <a:lnTo>
                        <a:pt x="7356" y="6403"/>
                      </a:lnTo>
                      <a:lnTo>
                        <a:pt x="7320" y="6272"/>
                      </a:lnTo>
                      <a:lnTo>
                        <a:pt x="7257" y="6062"/>
                      </a:lnTo>
                      <a:lnTo>
                        <a:pt x="7189" y="5853"/>
                      </a:lnTo>
                      <a:lnTo>
                        <a:pt x="7117" y="5647"/>
                      </a:lnTo>
                      <a:lnTo>
                        <a:pt x="7039" y="5443"/>
                      </a:lnTo>
                      <a:lnTo>
                        <a:pt x="6958" y="5241"/>
                      </a:lnTo>
                      <a:lnTo>
                        <a:pt x="6871" y="5043"/>
                      </a:lnTo>
                      <a:lnTo>
                        <a:pt x="6779" y="4846"/>
                      </a:lnTo>
                      <a:lnTo>
                        <a:pt x="6684" y="4652"/>
                      </a:lnTo>
                      <a:lnTo>
                        <a:pt x="6584" y="4462"/>
                      </a:lnTo>
                      <a:lnTo>
                        <a:pt x="6479" y="4272"/>
                      </a:lnTo>
                      <a:lnTo>
                        <a:pt x="6370" y="4087"/>
                      </a:lnTo>
                      <a:lnTo>
                        <a:pt x="6258" y="3904"/>
                      </a:lnTo>
                      <a:lnTo>
                        <a:pt x="6139" y="3724"/>
                      </a:lnTo>
                      <a:lnTo>
                        <a:pt x="6018" y="3547"/>
                      </a:lnTo>
                      <a:lnTo>
                        <a:pt x="5893" y="3373"/>
                      </a:lnTo>
                      <a:lnTo>
                        <a:pt x="5764" y="3202"/>
                      </a:lnTo>
                      <a:lnTo>
                        <a:pt x="5630" y="3035"/>
                      </a:lnTo>
                      <a:lnTo>
                        <a:pt x="5493" y="2871"/>
                      </a:lnTo>
                      <a:lnTo>
                        <a:pt x="5352" y="2710"/>
                      </a:lnTo>
                      <a:lnTo>
                        <a:pt x="5208" y="2552"/>
                      </a:lnTo>
                      <a:lnTo>
                        <a:pt x="5059" y="2398"/>
                      </a:lnTo>
                      <a:lnTo>
                        <a:pt x="4907" y="2247"/>
                      </a:lnTo>
                      <a:lnTo>
                        <a:pt x="4752" y="2100"/>
                      </a:lnTo>
                      <a:lnTo>
                        <a:pt x="4593" y="1956"/>
                      </a:lnTo>
                      <a:lnTo>
                        <a:pt x="4432" y="1817"/>
                      </a:lnTo>
                      <a:lnTo>
                        <a:pt x="4266" y="1680"/>
                      </a:lnTo>
                      <a:lnTo>
                        <a:pt x="4097" y="1549"/>
                      </a:lnTo>
                      <a:lnTo>
                        <a:pt x="3926" y="1420"/>
                      </a:lnTo>
                      <a:lnTo>
                        <a:pt x="3750" y="1297"/>
                      </a:lnTo>
                      <a:lnTo>
                        <a:pt x="3572" y="1177"/>
                      </a:lnTo>
                      <a:lnTo>
                        <a:pt x="3391" y="1061"/>
                      </a:lnTo>
                      <a:lnTo>
                        <a:pt x="3207" y="950"/>
                      </a:lnTo>
                      <a:lnTo>
                        <a:pt x="3141" y="911"/>
                      </a:lnTo>
                      <a:lnTo>
                        <a:pt x="3076" y="872"/>
                      </a:lnTo>
                      <a:lnTo>
                        <a:pt x="3010" y="835"/>
                      </a:lnTo>
                      <a:lnTo>
                        <a:pt x="2943" y="799"/>
                      </a:lnTo>
                      <a:lnTo>
                        <a:pt x="2876" y="762"/>
                      </a:lnTo>
                      <a:lnTo>
                        <a:pt x="2808" y="727"/>
                      </a:lnTo>
                      <a:lnTo>
                        <a:pt x="2741" y="692"/>
                      </a:lnTo>
                      <a:lnTo>
                        <a:pt x="2673" y="657"/>
                      </a:lnTo>
                      <a:lnTo>
                        <a:pt x="2605" y="623"/>
                      </a:lnTo>
                      <a:lnTo>
                        <a:pt x="2536" y="590"/>
                      </a:lnTo>
                      <a:lnTo>
                        <a:pt x="2466" y="557"/>
                      </a:lnTo>
                      <a:lnTo>
                        <a:pt x="2397" y="524"/>
                      </a:lnTo>
                      <a:lnTo>
                        <a:pt x="2328" y="492"/>
                      </a:lnTo>
                      <a:lnTo>
                        <a:pt x="2258" y="460"/>
                      </a:lnTo>
                      <a:lnTo>
                        <a:pt x="2187" y="430"/>
                      </a:lnTo>
                      <a:lnTo>
                        <a:pt x="2117" y="400"/>
                      </a:lnTo>
                      <a:lnTo>
                        <a:pt x="2046" y="371"/>
                      </a:lnTo>
                      <a:lnTo>
                        <a:pt x="1975" y="342"/>
                      </a:lnTo>
                      <a:lnTo>
                        <a:pt x="1903" y="314"/>
                      </a:lnTo>
                      <a:lnTo>
                        <a:pt x="1832" y="286"/>
                      </a:lnTo>
                      <a:lnTo>
                        <a:pt x="1759" y="259"/>
                      </a:lnTo>
                      <a:lnTo>
                        <a:pt x="1687" y="232"/>
                      </a:lnTo>
                      <a:lnTo>
                        <a:pt x="1614" y="206"/>
                      </a:lnTo>
                      <a:lnTo>
                        <a:pt x="1541" y="181"/>
                      </a:lnTo>
                      <a:lnTo>
                        <a:pt x="1468" y="156"/>
                      </a:lnTo>
                      <a:lnTo>
                        <a:pt x="1395" y="133"/>
                      </a:lnTo>
                      <a:lnTo>
                        <a:pt x="1321" y="109"/>
                      </a:lnTo>
                      <a:lnTo>
                        <a:pt x="1246" y="86"/>
                      </a:lnTo>
                      <a:lnTo>
                        <a:pt x="1173" y="63"/>
                      </a:lnTo>
                      <a:lnTo>
                        <a:pt x="1098" y="42"/>
                      </a:lnTo>
                      <a:lnTo>
                        <a:pt x="1023" y="20"/>
                      </a:lnTo>
                      <a:lnTo>
                        <a:pt x="948" y="0"/>
                      </a:lnTo>
                      <a:lnTo>
                        <a:pt x="1012" y="60"/>
                      </a:lnTo>
                      <a:lnTo>
                        <a:pt x="1074" y="121"/>
                      </a:lnTo>
                      <a:lnTo>
                        <a:pt x="1134" y="184"/>
                      </a:lnTo>
                      <a:lnTo>
                        <a:pt x="1193" y="248"/>
                      </a:lnTo>
                      <a:lnTo>
                        <a:pt x="1250" y="314"/>
                      </a:lnTo>
                      <a:lnTo>
                        <a:pt x="1305" y="381"/>
                      </a:lnTo>
                      <a:lnTo>
                        <a:pt x="1360" y="450"/>
                      </a:lnTo>
                      <a:lnTo>
                        <a:pt x="1412" y="521"/>
                      </a:lnTo>
                      <a:lnTo>
                        <a:pt x="1462" y="592"/>
                      </a:lnTo>
                      <a:lnTo>
                        <a:pt x="1511" y="665"/>
                      </a:lnTo>
                      <a:lnTo>
                        <a:pt x="1559" y="739"/>
                      </a:lnTo>
                      <a:lnTo>
                        <a:pt x="1603" y="813"/>
                      </a:lnTo>
                      <a:lnTo>
                        <a:pt x="1646" y="891"/>
                      </a:lnTo>
                      <a:lnTo>
                        <a:pt x="1688" y="968"/>
                      </a:lnTo>
                      <a:lnTo>
                        <a:pt x="1726" y="1047"/>
                      </a:lnTo>
                      <a:lnTo>
                        <a:pt x="1764" y="1127"/>
                      </a:lnTo>
                      <a:lnTo>
                        <a:pt x="1799" y="1208"/>
                      </a:lnTo>
                      <a:lnTo>
                        <a:pt x="1832" y="1290"/>
                      </a:lnTo>
                      <a:lnTo>
                        <a:pt x="1864" y="1373"/>
                      </a:lnTo>
                      <a:lnTo>
                        <a:pt x="1892" y="1457"/>
                      </a:lnTo>
                      <a:lnTo>
                        <a:pt x="1919" y="1542"/>
                      </a:lnTo>
                      <a:lnTo>
                        <a:pt x="1944" y="1628"/>
                      </a:lnTo>
                      <a:lnTo>
                        <a:pt x="1967" y="1716"/>
                      </a:lnTo>
                      <a:lnTo>
                        <a:pt x="1987" y="1803"/>
                      </a:lnTo>
                      <a:lnTo>
                        <a:pt x="2004" y="1891"/>
                      </a:lnTo>
                      <a:lnTo>
                        <a:pt x="2020" y="1981"/>
                      </a:lnTo>
                      <a:lnTo>
                        <a:pt x="2034" y="2072"/>
                      </a:lnTo>
                      <a:lnTo>
                        <a:pt x="2045" y="2163"/>
                      </a:lnTo>
                      <a:lnTo>
                        <a:pt x="2053" y="2255"/>
                      </a:lnTo>
                      <a:lnTo>
                        <a:pt x="2060" y="2346"/>
                      </a:lnTo>
                      <a:lnTo>
                        <a:pt x="2063" y="2439"/>
                      </a:lnTo>
                      <a:lnTo>
                        <a:pt x="2065" y="2533"/>
                      </a:lnTo>
                      <a:lnTo>
                        <a:pt x="2062" y="2664"/>
                      </a:lnTo>
                      <a:lnTo>
                        <a:pt x="2056" y="2795"/>
                      </a:lnTo>
                      <a:lnTo>
                        <a:pt x="2043" y="2923"/>
                      </a:lnTo>
                      <a:lnTo>
                        <a:pt x="2026" y="3051"/>
                      </a:lnTo>
                      <a:lnTo>
                        <a:pt x="2004" y="3177"/>
                      </a:lnTo>
                      <a:lnTo>
                        <a:pt x="1978" y="3301"/>
                      </a:lnTo>
                      <a:lnTo>
                        <a:pt x="1948" y="3423"/>
                      </a:lnTo>
                      <a:lnTo>
                        <a:pt x="1914" y="3545"/>
                      </a:lnTo>
                      <a:lnTo>
                        <a:pt x="1874" y="3663"/>
                      </a:lnTo>
                      <a:lnTo>
                        <a:pt x="1831" y="3781"/>
                      </a:lnTo>
                      <a:lnTo>
                        <a:pt x="1783" y="3895"/>
                      </a:lnTo>
                      <a:lnTo>
                        <a:pt x="1732" y="4008"/>
                      </a:lnTo>
                      <a:lnTo>
                        <a:pt x="1677" y="4119"/>
                      </a:lnTo>
                      <a:lnTo>
                        <a:pt x="1618" y="4228"/>
                      </a:lnTo>
                      <a:lnTo>
                        <a:pt x="1554" y="4333"/>
                      </a:lnTo>
                      <a:lnTo>
                        <a:pt x="1488" y="4437"/>
                      </a:lnTo>
                      <a:lnTo>
                        <a:pt x="1418" y="4538"/>
                      </a:lnTo>
                      <a:lnTo>
                        <a:pt x="1344" y="4636"/>
                      </a:lnTo>
                      <a:lnTo>
                        <a:pt x="1267" y="4732"/>
                      </a:lnTo>
                      <a:lnTo>
                        <a:pt x="1187" y="4825"/>
                      </a:lnTo>
                      <a:lnTo>
                        <a:pt x="1103" y="4914"/>
                      </a:lnTo>
                      <a:lnTo>
                        <a:pt x="1017" y="5001"/>
                      </a:lnTo>
                      <a:lnTo>
                        <a:pt x="928" y="5085"/>
                      </a:lnTo>
                      <a:lnTo>
                        <a:pt x="835" y="5165"/>
                      </a:lnTo>
                      <a:lnTo>
                        <a:pt x="739" y="5242"/>
                      </a:lnTo>
                      <a:lnTo>
                        <a:pt x="642" y="5316"/>
                      </a:lnTo>
                      <a:lnTo>
                        <a:pt x="541" y="5386"/>
                      </a:lnTo>
                      <a:lnTo>
                        <a:pt x="437" y="5453"/>
                      </a:lnTo>
                      <a:lnTo>
                        <a:pt x="332" y="5516"/>
                      </a:lnTo>
                      <a:lnTo>
                        <a:pt x="224" y="5576"/>
                      </a:lnTo>
                      <a:lnTo>
                        <a:pt x="113" y="5632"/>
                      </a:lnTo>
                      <a:lnTo>
                        <a:pt x="0" y="5683"/>
                      </a:lnTo>
                      <a:lnTo>
                        <a:pt x="40" y="5702"/>
                      </a:lnTo>
                      <a:lnTo>
                        <a:pt x="81" y="5721"/>
                      </a:lnTo>
                      <a:lnTo>
                        <a:pt x="121" y="5740"/>
                      </a:lnTo>
                      <a:lnTo>
                        <a:pt x="160" y="5761"/>
                      </a:lnTo>
                      <a:lnTo>
                        <a:pt x="221" y="5794"/>
                      </a:lnTo>
                      <a:lnTo>
                        <a:pt x="281" y="5827"/>
                      </a:lnTo>
                      <a:lnTo>
                        <a:pt x="340" y="5862"/>
                      </a:lnTo>
                      <a:lnTo>
                        <a:pt x="398" y="5898"/>
                      </a:lnTo>
                      <a:lnTo>
                        <a:pt x="456" y="5935"/>
                      </a:lnTo>
                      <a:lnTo>
                        <a:pt x="512" y="5973"/>
                      </a:lnTo>
                      <a:lnTo>
                        <a:pt x="568" y="6013"/>
                      </a:lnTo>
                      <a:lnTo>
                        <a:pt x="623" y="6053"/>
                      </a:lnTo>
                      <a:lnTo>
                        <a:pt x="678" y="6095"/>
                      </a:lnTo>
                      <a:lnTo>
                        <a:pt x="731" y="6137"/>
                      </a:lnTo>
                      <a:lnTo>
                        <a:pt x="783" y="6181"/>
                      </a:lnTo>
                      <a:lnTo>
                        <a:pt x="835" y="6225"/>
                      </a:lnTo>
                      <a:lnTo>
                        <a:pt x="886" y="6270"/>
                      </a:lnTo>
                      <a:lnTo>
                        <a:pt x="936" y="6317"/>
                      </a:lnTo>
                      <a:lnTo>
                        <a:pt x="984" y="6365"/>
                      </a:lnTo>
                      <a:lnTo>
                        <a:pt x="1032" y="6413"/>
                      </a:lnTo>
                      <a:lnTo>
                        <a:pt x="1079" y="6463"/>
                      </a:lnTo>
                      <a:lnTo>
                        <a:pt x="1125" y="6513"/>
                      </a:lnTo>
                      <a:lnTo>
                        <a:pt x="1169" y="6565"/>
                      </a:lnTo>
                      <a:lnTo>
                        <a:pt x="1214" y="6618"/>
                      </a:lnTo>
                      <a:lnTo>
                        <a:pt x="1256" y="6671"/>
                      </a:lnTo>
                      <a:lnTo>
                        <a:pt x="1298" y="6724"/>
                      </a:lnTo>
                      <a:lnTo>
                        <a:pt x="1338" y="6780"/>
                      </a:lnTo>
                      <a:lnTo>
                        <a:pt x="1378" y="6836"/>
                      </a:lnTo>
                      <a:lnTo>
                        <a:pt x="1417" y="6892"/>
                      </a:lnTo>
                      <a:lnTo>
                        <a:pt x="1454" y="6949"/>
                      </a:lnTo>
                      <a:lnTo>
                        <a:pt x="1489" y="7007"/>
                      </a:lnTo>
                      <a:lnTo>
                        <a:pt x="1524" y="7066"/>
                      </a:lnTo>
                      <a:lnTo>
                        <a:pt x="1559" y="7126"/>
                      </a:lnTo>
                      <a:lnTo>
                        <a:pt x="1591" y="7186"/>
                      </a:lnTo>
                      <a:lnTo>
                        <a:pt x="1623" y="7247"/>
                      </a:lnTo>
                      <a:lnTo>
                        <a:pt x="1653" y="7310"/>
                      </a:lnTo>
                      <a:lnTo>
                        <a:pt x="1688" y="7386"/>
                      </a:lnTo>
                      <a:lnTo>
                        <a:pt x="1722" y="7463"/>
                      </a:lnTo>
                      <a:lnTo>
                        <a:pt x="1753" y="7540"/>
                      </a:lnTo>
                      <a:lnTo>
                        <a:pt x="1782" y="7620"/>
                      </a:lnTo>
                      <a:lnTo>
                        <a:pt x="1810" y="7699"/>
                      </a:lnTo>
                      <a:lnTo>
                        <a:pt x="1835" y="7781"/>
                      </a:lnTo>
                      <a:lnTo>
                        <a:pt x="1859" y="7862"/>
                      </a:lnTo>
                      <a:lnTo>
                        <a:pt x="1881" y="7944"/>
                      </a:lnTo>
                      <a:lnTo>
                        <a:pt x="1900" y="8028"/>
                      </a:lnTo>
                      <a:lnTo>
                        <a:pt x="1918" y="8112"/>
                      </a:lnTo>
                      <a:lnTo>
                        <a:pt x="1933" y="8197"/>
                      </a:lnTo>
                      <a:lnTo>
                        <a:pt x="1947" y="8282"/>
                      </a:lnTo>
                      <a:lnTo>
                        <a:pt x="1958" y="8369"/>
                      </a:lnTo>
                      <a:lnTo>
                        <a:pt x="1967" y="8456"/>
                      </a:lnTo>
                      <a:lnTo>
                        <a:pt x="1974" y="8543"/>
                      </a:lnTo>
                      <a:lnTo>
                        <a:pt x="1978" y="8632"/>
                      </a:lnTo>
                      <a:lnTo>
                        <a:pt x="1982" y="8632"/>
                      </a:lnTo>
                      <a:lnTo>
                        <a:pt x="1985" y="8778"/>
                      </a:lnTo>
                      <a:lnTo>
                        <a:pt x="1997" y="8922"/>
                      </a:lnTo>
                      <a:lnTo>
                        <a:pt x="2015" y="9065"/>
                      </a:lnTo>
                      <a:lnTo>
                        <a:pt x="2040" y="9205"/>
                      </a:lnTo>
                      <a:lnTo>
                        <a:pt x="2071" y="9342"/>
                      </a:lnTo>
                      <a:lnTo>
                        <a:pt x="2110" y="9477"/>
                      </a:lnTo>
                      <a:lnTo>
                        <a:pt x="2154" y="9609"/>
                      </a:lnTo>
                      <a:lnTo>
                        <a:pt x="2205" y="9738"/>
                      </a:lnTo>
                      <a:lnTo>
                        <a:pt x="2262" y="9864"/>
                      </a:lnTo>
                      <a:lnTo>
                        <a:pt x="2326" y="9987"/>
                      </a:lnTo>
                      <a:lnTo>
                        <a:pt x="2394" y="10106"/>
                      </a:lnTo>
                      <a:lnTo>
                        <a:pt x="2467" y="10222"/>
                      </a:lnTo>
                      <a:lnTo>
                        <a:pt x="2547" y="10333"/>
                      </a:lnTo>
                      <a:lnTo>
                        <a:pt x="2631" y="10441"/>
                      </a:lnTo>
                      <a:lnTo>
                        <a:pt x="2720" y="10544"/>
                      </a:lnTo>
                      <a:lnTo>
                        <a:pt x="2815" y="10643"/>
                      </a:lnTo>
                      <a:lnTo>
                        <a:pt x="2913" y="10736"/>
                      </a:lnTo>
                      <a:lnTo>
                        <a:pt x="3017" y="10825"/>
                      </a:lnTo>
                      <a:lnTo>
                        <a:pt x="3124" y="10910"/>
                      </a:lnTo>
                      <a:lnTo>
                        <a:pt x="3236" y="10989"/>
                      </a:lnTo>
                      <a:lnTo>
                        <a:pt x="3350" y="11064"/>
                      </a:lnTo>
                      <a:lnTo>
                        <a:pt x="3469" y="11132"/>
                      </a:lnTo>
                      <a:lnTo>
                        <a:pt x="3592" y="11194"/>
                      </a:lnTo>
                      <a:lnTo>
                        <a:pt x="3718" y="11251"/>
                      </a:lnTo>
                      <a:lnTo>
                        <a:pt x="3847" y="11302"/>
                      </a:lnTo>
                      <a:lnTo>
                        <a:pt x="3980" y="11347"/>
                      </a:lnTo>
                      <a:lnTo>
                        <a:pt x="4114" y="11385"/>
                      </a:lnTo>
                      <a:lnTo>
                        <a:pt x="4252" y="11417"/>
                      </a:lnTo>
                      <a:lnTo>
                        <a:pt x="4392" y="11441"/>
                      </a:lnTo>
                      <a:lnTo>
                        <a:pt x="4534" y="11460"/>
                      </a:lnTo>
                      <a:lnTo>
                        <a:pt x="4679" y="11471"/>
                      </a:lnTo>
                      <a:lnTo>
                        <a:pt x="4825" y="11474"/>
                      </a:lnTo>
                      <a:lnTo>
                        <a:pt x="4970" y="11471"/>
                      </a:lnTo>
                      <a:lnTo>
                        <a:pt x="5113" y="11461"/>
                      </a:lnTo>
                      <a:lnTo>
                        <a:pt x="5253" y="11443"/>
                      </a:lnTo>
                      <a:lnTo>
                        <a:pt x="5392" y="11419"/>
                      </a:lnTo>
                      <a:lnTo>
                        <a:pt x="5528" y="11387"/>
                      </a:lnTo>
                      <a:lnTo>
                        <a:pt x="5661" y="11350"/>
                      </a:lnTo>
                      <a:lnTo>
                        <a:pt x="5791" y="11306"/>
                      </a:lnTo>
                      <a:lnTo>
                        <a:pt x="5919" y="11257"/>
                      </a:lnTo>
                      <a:lnTo>
                        <a:pt x="6044" y="11201"/>
                      </a:lnTo>
                      <a:lnTo>
                        <a:pt x="6166" y="11140"/>
                      </a:lnTo>
                      <a:lnTo>
                        <a:pt x="6284" y="11073"/>
                      </a:lnTo>
                      <a:lnTo>
                        <a:pt x="6398" y="11000"/>
                      </a:lnTo>
                      <a:lnTo>
                        <a:pt x="6508" y="10923"/>
                      </a:lnTo>
                      <a:lnTo>
                        <a:pt x="6615" y="10840"/>
                      </a:lnTo>
                      <a:lnTo>
                        <a:pt x="6718" y="10753"/>
                      </a:lnTo>
                      <a:lnTo>
                        <a:pt x="6817" y="10661"/>
                      </a:lnTo>
                      <a:lnTo>
                        <a:pt x="6910" y="10563"/>
                      </a:lnTo>
                      <a:lnTo>
                        <a:pt x="7000" y="10462"/>
                      </a:lnTo>
                      <a:lnTo>
                        <a:pt x="7084" y="10358"/>
                      </a:lnTo>
                      <a:lnTo>
                        <a:pt x="7163" y="10248"/>
                      </a:lnTo>
                      <a:lnTo>
                        <a:pt x="7238" y="10135"/>
                      </a:lnTo>
                      <a:lnTo>
                        <a:pt x="7307" y="10018"/>
                      </a:lnTo>
                      <a:lnTo>
                        <a:pt x="7371" y="9898"/>
                      </a:lnTo>
                      <a:lnTo>
                        <a:pt x="7429" y="9775"/>
                      </a:lnTo>
                      <a:lnTo>
                        <a:pt x="7480" y="9647"/>
                      </a:lnTo>
                      <a:lnTo>
                        <a:pt x="7526" y="9518"/>
                      </a:lnTo>
                      <a:lnTo>
                        <a:pt x="7566" y="9385"/>
                      </a:lnTo>
                      <a:lnTo>
                        <a:pt x="7600" y="9250"/>
                      </a:lnTo>
                      <a:lnTo>
                        <a:pt x="7626" y="9113"/>
                      </a:lnTo>
                      <a:lnTo>
                        <a:pt x="7646" y="8973"/>
                      </a:lnTo>
                      <a:lnTo>
                        <a:pt x="7660" y="8832"/>
                      </a:lnTo>
                      <a:lnTo>
                        <a:pt x="7667" y="8687"/>
                      </a:lnTo>
                      <a:lnTo>
                        <a:pt x="7667" y="8674"/>
                      </a:lnTo>
                      <a:lnTo>
                        <a:pt x="7667" y="8660"/>
                      </a:lnTo>
                      <a:lnTo>
                        <a:pt x="7668" y="8645"/>
                      </a:lnTo>
                      <a:lnTo>
                        <a:pt x="7668" y="8632"/>
                      </a:lnTo>
                      <a:lnTo>
                        <a:pt x="7668" y="8590"/>
                      </a:lnTo>
                      <a:lnTo>
                        <a:pt x="7667" y="8548"/>
                      </a:lnTo>
                      <a:lnTo>
                        <a:pt x="7665" y="8506"/>
                      </a:lnTo>
                      <a:lnTo>
                        <a:pt x="7662" y="846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a:endParaRPr lang="en-US" sz="1800">
                    <a:solidFill>
                      <a:prstClr val="black"/>
                    </a:solidFill>
                    <a:latin typeface="Calibri" panose="020F0502020204030204"/>
                  </a:endParaRPr>
                </a:p>
              </p:txBody>
            </p:sp>
            <p:sp>
              <p:nvSpPr>
                <p:cNvPr id="38" name="Freeform 7"/>
                <p:cNvSpPr>
                  <a:spLocks/>
                </p:cNvSpPr>
                <p:nvPr/>
              </p:nvSpPr>
              <p:spPr bwMode="auto">
                <a:xfrm>
                  <a:off x="2376" y="647"/>
                  <a:ext cx="1944" cy="1281"/>
                </a:xfrm>
                <a:custGeom>
                  <a:avLst/>
                  <a:gdLst>
                    <a:gd name="T0" fmla="*/ 8851 w 11664"/>
                    <a:gd name="T1" fmla="*/ 1 h 7687"/>
                    <a:gd name="T2" fmla="*/ 8794 w 11664"/>
                    <a:gd name="T3" fmla="*/ 0 h 7687"/>
                    <a:gd name="T4" fmla="*/ 8493 w 11664"/>
                    <a:gd name="T5" fmla="*/ 5 h 7687"/>
                    <a:gd name="T6" fmla="*/ 7778 w 11664"/>
                    <a:gd name="T7" fmla="*/ 56 h 7687"/>
                    <a:gd name="T8" fmla="*/ 7079 w 11664"/>
                    <a:gd name="T9" fmla="*/ 160 h 7687"/>
                    <a:gd name="T10" fmla="*/ 6281 w 11664"/>
                    <a:gd name="T11" fmla="*/ 350 h 7687"/>
                    <a:gd name="T12" fmla="*/ 5067 w 11664"/>
                    <a:gd name="T13" fmla="*/ 793 h 7687"/>
                    <a:gd name="T14" fmla="*/ 3940 w 11664"/>
                    <a:gd name="T15" fmla="*/ 1397 h 7687"/>
                    <a:gd name="T16" fmla="*/ 2916 w 11664"/>
                    <a:gd name="T17" fmla="*/ 2148 h 7687"/>
                    <a:gd name="T18" fmla="*/ 2009 w 11664"/>
                    <a:gd name="T19" fmla="*/ 3032 h 7687"/>
                    <a:gd name="T20" fmla="*/ 1231 w 11664"/>
                    <a:gd name="T21" fmla="*/ 4035 h 7687"/>
                    <a:gd name="T22" fmla="*/ 598 w 11664"/>
                    <a:gd name="T23" fmla="*/ 5144 h 7687"/>
                    <a:gd name="T24" fmla="*/ 347 w 11664"/>
                    <a:gd name="T25" fmla="*/ 5716 h 7687"/>
                    <a:gd name="T26" fmla="*/ 187 w 11664"/>
                    <a:gd name="T27" fmla="*/ 6149 h 7687"/>
                    <a:gd name="T28" fmla="*/ 50 w 11664"/>
                    <a:gd name="T29" fmla="*/ 6594 h 7687"/>
                    <a:gd name="T30" fmla="*/ 185 w 11664"/>
                    <a:gd name="T31" fmla="*/ 6585 h 7687"/>
                    <a:gd name="T32" fmla="*/ 522 w 11664"/>
                    <a:gd name="T33" fmla="*/ 6304 h 7687"/>
                    <a:gd name="T34" fmla="*/ 894 w 11664"/>
                    <a:gd name="T35" fmla="*/ 6066 h 7687"/>
                    <a:gd name="T36" fmla="*/ 1296 w 11664"/>
                    <a:gd name="T37" fmla="*/ 5877 h 7687"/>
                    <a:gd name="T38" fmla="*/ 1724 w 11664"/>
                    <a:gd name="T39" fmla="*/ 5741 h 7687"/>
                    <a:gd name="T40" fmla="*/ 2174 w 11664"/>
                    <a:gd name="T41" fmla="*/ 5661 h 7687"/>
                    <a:gd name="T42" fmla="*/ 2679 w 11664"/>
                    <a:gd name="T43" fmla="*/ 5644 h 7687"/>
                    <a:gd name="T44" fmla="*/ 3312 w 11664"/>
                    <a:gd name="T45" fmla="*/ 5727 h 7687"/>
                    <a:gd name="T46" fmla="*/ 3904 w 11664"/>
                    <a:gd name="T47" fmla="*/ 5920 h 7687"/>
                    <a:gd name="T48" fmla="*/ 4443 w 11664"/>
                    <a:gd name="T49" fmla="*/ 6213 h 7687"/>
                    <a:gd name="T50" fmla="*/ 4919 w 11664"/>
                    <a:gd name="T51" fmla="*/ 6593 h 7687"/>
                    <a:gd name="T52" fmla="*/ 5321 w 11664"/>
                    <a:gd name="T53" fmla="*/ 7051 h 7687"/>
                    <a:gd name="T54" fmla="*/ 5637 w 11664"/>
                    <a:gd name="T55" fmla="*/ 7574 h 7687"/>
                    <a:gd name="T56" fmla="*/ 5830 w 11664"/>
                    <a:gd name="T57" fmla="*/ 7409 h 7687"/>
                    <a:gd name="T58" fmla="*/ 6040 w 11664"/>
                    <a:gd name="T59" fmla="*/ 7082 h 7687"/>
                    <a:gd name="T60" fmla="*/ 6285 w 11664"/>
                    <a:gd name="T61" fmla="*/ 6784 h 7687"/>
                    <a:gd name="T62" fmla="*/ 6561 w 11664"/>
                    <a:gd name="T63" fmla="*/ 6515 h 7687"/>
                    <a:gd name="T64" fmla="*/ 6868 w 11664"/>
                    <a:gd name="T65" fmla="*/ 6279 h 7687"/>
                    <a:gd name="T66" fmla="*/ 7200 w 11664"/>
                    <a:gd name="T67" fmla="*/ 6078 h 7687"/>
                    <a:gd name="T68" fmla="*/ 7570 w 11664"/>
                    <a:gd name="T69" fmla="*/ 5910 h 7687"/>
                    <a:gd name="T70" fmla="*/ 7942 w 11664"/>
                    <a:gd name="T71" fmla="*/ 5791 h 7687"/>
                    <a:gd name="T72" fmla="*/ 8157 w 11664"/>
                    <a:gd name="T73" fmla="*/ 5744 h 7687"/>
                    <a:gd name="T74" fmla="*/ 8377 w 11664"/>
                    <a:gd name="T75" fmla="*/ 5710 h 7687"/>
                    <a:gd name="T76" fmla="*/ 8600 w 11664"/>
                    <a:gd name="T77" fmla="*/ 5691 h 7687"/>
                    <a:gd name="T78" fmla="*/ 8808 w 11664"/>
                    <a:gd name="T79" fmla="*/ 5686 h 7687"/>
                    <a:gd name="T80" fmla="*/ 9025 w 11664"/>
                    <a:gd name="T81" fmla="*/ 5678 h 7687"/>
                    <a:gd name="T82" fmla="*/ 9710 w 11664"/>
                    <a:gd name="T83" fmla="*/ 5543 h 7687"/>
                    <a:gd name="T84" fmla="*/ 10326 w 11664"/>
                    <a:gd name="T85" fmla="*/ 5255 h 7687"/>
                    <a:gd name="T86" fmla="*/ 10851 w 11664"/>
                    <a:gd name="T87" fmla="*/ 4833 h 7687"/>
                    <a:gd name="T88" fmla="*/ 11262 w 11664"/>
                    <a:gd name="T89" fmla="*/ 4301 h 7687"/>
                    <a:gd name="T90" fmla="*/ 11539 w 11664"/>
                    <a:gd name="T91" fmla="*/ 3678 h 7687"/>
                    <a:gd name="T92" fmla="*/ 11661 w 11664"/>
                    <a:gd name="T93" fmla="*/ 2988 h 7687"/>
                    <a:gd name="T94" fmla="*/ 11609 w 11664"/>
                    <a:gd name="T95" fmla="*/ 2279 h 7687"/>
                    <a:gd name="T96" fmla="*/ 11392 w 11664"/>
                    <a:gd name="T97" fmla="*/ 1628 h 7687"/>
                    <a:gd name="T98" fmla="*/ 11033 w 11664"/>
                    <a:gd name="T99" fmla="*/ 1058 h 7687"/>
                    <a:gd name="T100" fmla="*/ 10554 w 11664"/>
                    <a:gd name="T101" fmla="*/ 590 h 7687"/>
                    <a:gd name="T102" fmla="*/ 9974 w 11664"/>
                    <a:gd name="T103" fmla="*/ 245 h 7687"/>
                    <a:gd name="T104" fmla="*/ 9317 w 11664"/>
                    <a:gd name="T105" fmla="*/ 44 h 7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64" h="7687">
                      <a:moveTo>
                        <a:pt x="8894" y="2"/>
                      </a:moveTo>
                      <a:lnTo>
                        <a:pt x="8887" y="1"/>
                      </a:lnTo>
                      <a:lnTo>
                        <a:pt x="8881" y="1"/>
                      </a:lnTo>
                      <a:lnTo>
                        <a:pt x="8866" y="1"/>
                      </a:lnTo>
                      <a:lnTo>
                        <a:pt x="8851" y="1"/>
                      </a:lnTo>
                      <a:lnTo>
                        <a:pt x="8836" y="0"/>
                      </a:lnTo>
                      <a:lnTo>
                        <a:pt x="8822" y="0"/>
                      </a:lnTo>
                      <a:lnTo>
                        <a:pt x="8814" y="0"/>
                      </a:lnTo>
                      <a:lnTo>
                        <a:pt x="8806" y="0"/>
                      </a:lnTo>
                      <a:lnTo>
                        <a:pt x="8794" y="0"/>
                      </a:lnTo>
                      <a:lnTo>
                        <a:pt x="8783" y="0"/>
                      </a:lnTo>
                      <a:lnTo>
                        <a:pt x="8710" y="0"/>
                      </a:lnTo>
                      <a:lnTo>
                        <a:pt x="8638" y="1"/>
                      </a:lnTo>
                      <a:lnTo>
                        <a:pt x="8565" y="2"/>
                      </a:lnTo>
                      <a:lnTo>
                        <a:pt x="8493" y="5"/>
                      </a:lnTo>
                      <a:lnTo>
                        <a:pt x="8348" y="10"/>
                      </a:lnTo>
                      <a:lnTo>
                        <a:pt x="8204" y="18"/>
                      </a:lnTo>
                      <a:lnTo>
                        <a:pt x="8061" y="28"/>
                      </a:lnTo>
                      <a:lnTo>
                        <a:pt x="7919" y="41"/>
                      </a:lnTo>
                      <a:lnTo>
                        <a:pt x="7778" y="56"/>
                      </a:lnTo>
                      <a:lnTo>
                        <a:pt x="7637" y="73"/>
                      </a:lnTo>
                      <a:lnTo>
                        <a:pt x="7496" y="91"/>
                      </a:lnTo>
                      <a:lnTo>
                        <a:pt x="7357" y="112"/>
                      </a:lnTo>
                      <a:lnTo>
                        <a:pt x="7217" y="135"/>
                      </a:lnTo>
                      <a:lnTo>
                        <a:pt x="7079" y="160"/>
                      </a:lnTo>
                      <a:lnTo>
                        <a:pt x="6941" y="187"/>
                      </a:lnTo>
                      <a:lnTo>
                        <a:pt x="6804" y="217"/>
                      </a:lnTo>
                      <a:lnTo>
                        <a:pt x="6668" y="249"/>
                      </a:lnTo>
                      <a:lnTo>
                        <a:pt x="6533" y="281"/>
                      </a:lnTo>
                      <a:lnTo>
                        <a:pt x="6281" y="350"/>
                      </a:lnTo>
                      <a:lnTo>
                        <a:pt x="6031" y="426"/>
                      </a:lnTo>
                      <a:lnTo>
                        <a:pt x="5785" y="507"/>
                      </a:lnTo>
                      <a:lnTo>
                        <a:pt x="5542" y="596"/>
                      </a:lnTo>
                      <a:lnTo>
                        <a:pt x="5303" y="691"/>
                      </a:lnTo>
                      <a:lnTo>
                        <a:pt x="5067" y="793"/>
                      </a:lnTo>
                      <a:lnTo>
                        <a:pt x="4834" y="902"/>
                      </a:lnTo>
                      <a:lnTo>
                        <a:pt x="4605" y="1017"/>
                      </a:lnTo>
                      <a:lnTo>
                        <a:pt x="4379" y="1137"/>
                      </a:lnTo>
                      <a:lnTo>
                        <a:pt x="4158" y="1264"/>
                      </a:lnTo>
                      <a:lnTo>
                        <a:pt x="3940" y="1397"/>
                      </a:lnTo>
                      <a:lnTo>
                        <a:pt x="3727" y="1536"/>
                      </a:lnTo>
                      <a:lnTo>
                        <a:pt x="3518" y="1681"/>
                      </a:lnTo>
                      <a:lnTo>
                        <a:pt x="3312" y="1831"/>
                      </a:lnTo>
                      <a:lnTo>
                        <a:pt x="3113" y="1987"/>
                      </a:lnTo>
                      <a:lnTo>
                        <a:pt x="2916" y="2148"/>
                      </a:lnTo>
                      <a:lnTo>
                        <a:pt x="2725" y="2315"/>
                      </a:lnTo>
                      <a:lnTo>
                        <a:pt x="2538" y="2487"/>
                      </a:lnTo>
                      <a:lnTo>
                        <a:pt x="2357" y="2664"/>
                      </a:lnTo>
                      <a:lnTo>
                        <a:pt x="2180" y="2846"/>
                      </a:lnTo>
                      <a:lnTo>
                        <a:pt x="2009" y="3032"/>
                      </a:lnTo>
                      <a:lnTo>
                        <a:pt x="1843" y="3224"/>
                      </a:lnTo>
                      <a:lnTo>
                        <a:pt x="1682" y="3420"/>
                      </a:lnTo>
                      <a:lnTo>
                        <a:pt x="1526" y="3621"/>
                      </a:lnTo>
                      <a:lnTo>
                        <a:pt x="1375" y="3826"/>
                      </a:lnTo>
                      <a:lnTo>
                        <a:pt x="1231" y="4035"/>
                      </a:lnTo>
                      <a:lnTo>
                        <a:pt x="1093" y="4250"/>
                      </a:lnTo>
                      <a:lnTo>
                        <a:pt x="960" y="4466"/>
                      </a:lnTo>
                      <a:lnTo>
                        <a:pt x="833" y="4689"/>
                      </a:lnTo>
                      <a:lnTo>
                        <a:pt x="713" y="4915"/>
                      </a:lnTo>
                      <a:lnTo>
                        <a:pt x="598" y="5144"/>
                      </a:lnTo>
                      <a:lnTo>
                        <a:pt x="490" y="5376"/>
                      </a:lnTo>
                      <a:lnTo>
                        <a:pt x="454" y="5460"/>
                      </a:lnTo>
                      <a:lnTo>
                        <a:pt x="418" y="5546"/>
                      </a:lnTo>
                      <a:lnTo>
                        <a:pt x="381" y="5631"/>
                      </a:lnTo>
                      <a:lnTo>
                        <a:pt x="347" y="5716"/>
                      </a:lnTo>
                      <a:lnTo>
                        <a:pt x="313" y="5802"/>
                      </a:lnTo>
                      <a:lnTo>
                        <a:pt x="280" y="5888"/>
                      </a:lnTo>
                      <a:lnTo>
                        <a:pt x="249" y="5974"/>
                      </a:lnTo>
                      <a:lnTo>
                        <a:pt x="218" y="6062"/>
                      </a:lnTo>
                      <a:lnTo>
                        <a:pt x="187" y="6149"/>
                      </a:lnTo>
                      <a:lnTo>
                        <a:pt x="158" y="6238"/>
                      </a:lnTo>
                      <a:lnTo>
                        <a:pt x="129" y="6326"/>
                      </a:lnTo>
                      <a:lnTo>
                        <a:pt x="102" y="6415"/>
                      </a:lnTo>
                      <a:lnTo>
                        <a:pt x="75" y="6504"/>
                      </a:lnTo>
                      <a:lnTo>
                        <a:pt x="50" y="6594"/>
                      </a:lnTo>
                      <a:lnTo>
                        <a:pt x="25" y="6684"/>
                      </a:lnTo>
                      <a:lnTo>
                        <a:pt x="0" y="6773"/>
                      </a:lnTo>
                      <a:lnTo>
                        <a:pt x="60" y="6710"/>
                      </a:lnTo>
                      <a:lnTo>
                        <a:pt x="121" y="6646"/>
                      </a:lnTo>
                      <a:lnTo>
                        <a:pt x="185" y="6585"/>
                      </a:lnTo>
                      <a:lnTo>
                        <a:pt x="249" y="6526"/>
                      </a:lnTo>
                      <a:lnTo>
                        <a:pt x="315" y="6468"/>
                      </a:lnTo>
                      <a:lnTo>
                        <a:pt x="382" y="6411"/>
                      </a:lnTo>
                      <a:lnTo>
                        <a:pt x="452" y="6357"/>
                      </a:lnTo>
                      <a:lnTo>
                        <a:pt x="522" y="6304"/>
                      </a:lnTo>
                      <a:lnTo>
                        <a:pt x="594" y="6252"/>
                      </a:lnTo>
                      <a:lnTo>
                        <a:pt x="667" y="6204"/>
                      </a:lnTo>
                      <a:lnTo>
                        <a:pt x="741" y="6156"/>
                      </a:lnTo>
                      <a:lnTo>
                        <a:pt x="817" y="6109"/>
                      </a:lnTo>
                      <a:lnTo>
                        <a:pt x="894" y="6066"/>
                      </a:lnTo>
                      <a:lnTo>
                        <a:pt x="971" y="6024"/>
                      </a:lnTo>
                      <a:lnTo>
                        <a:pt x="1051" y="5985"/>
                      </a:lnTo>
                      <a:lnTo>
                        <a:pt x="1131" y="5947"/>
                      </a:lnTo>
                      <a:lnTo>
                        <a:pt x="1213" y="5911"/>
                      </a:lnTo>
                      <a:lnTo>
                        <a:pt x="1296" y="5877"/>
                      </a:lnTo>
                      <a:lnTo>
                        <a:pt x="1380" y="5846"/>
                      </a:lnTo>
                      <a:lnTo>
                        <a:pt x="1464" y="5817"/>
                      </a:lnTo>
                      <a:lnTo>
                        <a:pt x="1550" y="5789"/>
                      </a:lnTo>
                      <a:lnTo>
                        <a:pt x="1636" y="5763"/>
                      </a:lnTo>
                      <a:lnTo>
                        <a:pt x="1724" y="5741"/>
                      </a:lnTo>
                      <a:lnTo>
                        <a:pt x="1812" y="5720"/>
                      </a:lnTo>
                      <a:lnTo>
                        <a:pt x="1902" y="5702"/>
                      </a:lnTo>
                      <a:lnTo>
                        <a:pt x="1992" y="5686"/>
                      </a:lnTo>
                      <a:lnTo>
                        <a:pt x="2083" y="5673"/>
                      </a:lnTo>
                      <a:lnTo>
                        <a:pt x="2174" y="5661"/>
                      </a:lnTo>
                      <a:lnTo>
                        <a:pt x="2267" y="5652"/>
                      </a:lnTo>
                      <a:lnTo>
                        <a:pt x="2360" y="5647"/>
                      </a:lnTo>
                      <a:lnTo>
                        <a:pt x="2453" y="5642"/>
                      </a:lnTo>
                      <a:lnTo>
                        <a:pt x="2548" y="5641"/>
                      </a:lnTo>
                      <a:lnTo>
                        <a:pt x="2679" y="5644"/>
                      </a:lnTo>
                      <a:lnTo>
                        <a:pt x="2809" y="5651"/>
                      </a:lnTo>
                      <a:lnTo>
                        <a:pt x="2937" y="5664"/>
                      </a:lnTo>
                      <a:lnTo>
                        <a:pt x="3063" y="5679"/>
                      </a:lnTo>
                      <a:lnTo>
                        <a:pt x="3189" y="5701"/>
                      </a:lnTo>
                      <a:lnTo>
                        <a:pt x="3312" y="5727"/>
                      </a:lnTo>
                      <a:lnTo>
                        <a:pt x="3434" y="5757"/>
                      </a:lnTo>
                      <a:lnTo>
                        <a:pt x="3554" y="5792"/>
                      </a:lnTo>
                      <a:lnTo>
                        <a:pt x="3672" y="5830"/>
                      </a:lnTo>
                      <a:lnTo>
                        <a:pt x="3789" y="5873"/>
                      </a:lnTo>
                      <a:lnTo>
                        <a:pt x="3904" y="5920"/>
                      </a:lnTo>
                      <a:lnTo>
                        <a:pt x="4016" y="5971"/>
                      </a:lnTo>
                      <a:lnTo>
                        <a:pt x="4126" y="6026"/>
                      </a:lnTo>
                      <a:lnTo>
                        <a:pt x="4234" y="6085"/>
                      </a:lnTo>
                      <a:lnTo>
                        <a:pt x="4339" y="6147"/>
                      </a:lnTo>
                      <a:lnTo>
                        <a:pt x="4443" y="6213"/>
                      </a:lnTo>
                      <a:lnTo>
                        <a:pt x="4544" y="6282"/>
                      </a:lnTo>
                      <a:lnTo>
                        <a:pt x="4641" y="6355"/>
                      </a:lnTo>
                      <a:lnTo>
                        <a:pt x="4736" y="6431"/>
                      </a:lnTo>
                      <a:lnTo>
                        <a:pt x="4830" y="6510"/>
                      </a:lnTo>
                      <a:lnTo>
                        <a:pt x="4919" y="6593"/>
                      </a:lnTo>
                      <a:lnTo>
                        <a:pt x="5005" y="6679"/>
                      </a:lnTo>
                      <a:lnTo>
                        <a:pt x="5089" y="6768"/>
                      </a:lnTo>
                      <a:lnTo>
                        <a:pt x="5170" y="6860"/>
                      </a:lnTo>
                      <a:lnTo>
                        <a:pt x="5247" y="6954"/>
                      </a:lnTo>
                      <a:lnTo>
                        <a:pt x="5321" y="7051"/>
                      </a:lnTo>
                      <a:lnTo>
                        <a:pt x="5391" y="7151"/>
                      </a:lnTo>
                      <a:lnTo>
                        <a:pt x="5458" y="7253"/>
                      </a:lnTo>
                      <a:lnTo>
                        <a:pt x="5522" y="7358"/>
                      </a:lnTo>
                      <a:lnTo>
                        <a:pt x="5581" y="7466"/>
                      </a:lnTo>
                      <a:lnTo>
                        <a:pt x="5637" y="7574"/>
                      </a:lnTo>
                      <a:lnTo>
                        <a:pt x="5690" y="7687"/>
                      </a:lnTo>
                      <a:lnTo>
                        <a:pt x="5723" y="7615"/>
                      </a:lnTo>
                      <a:lnTo>
                        <a:pt x="5757" y="7545"/>
                      </a:lnTo>
                      <a:lnTo>
                        <a:pt x="5793" y="7477"/>
                      </a:lnTo>
                      <a:lnTo>
                        <a:pt x="5830" y="7409"/>
                      </a:lnTo>
                      <a:lnTo>
                        <a:pt x="5869" y="7341"/>
                      </a:lnTo>
                      <a:lnTo>
                        <a:pt x="5910" y="7275"/>
                      </a:lnTo>
                      <a:lnTo>
                        <a:pt x="5952" y="7210"/>
                      </a:lnTo>
                      <a:lnTo>
                        <a:pt x="5995" y="7146"/>
                      </a:lnTo>
                      <a:lnTo>
                        <a:pt x="6040" y="7082"/>
                      </a:lnTo>
                      <a:lnTo>
                        <a:pt x="6087" y="7021"/>
                      </a:lnTo>
                      <a:lnTo>
                        <a:pt x="6134" y="6959"/>
                      </a:lnTo>
                      <a:lnTo>
                        <a:pt x="6183" y="6899"/>
                      </a:lnTo>
                      <a:lnTo>
                        <a:pt x="6233" y="6841"/>
                      </a:lnTo>
                      <a:lnTo>
                        <a:pt x="6285" y="6784"/>
                      </a:lnTo>
                      <a:lnTo>
                        <a:pt x="6338" y="6728"/>
                      </a:lnTo>
                      <a:lnTo>
                        <a:pt x="6392" y="6672"/>
                      </a:lnTo>
                      <a:lnTo>
                        <a:pt x="6448" y="6619"/>
                      </a:lnTo>
                      <a:lnTo>
                        <a:pt x="6504" y="6566"/>
                      </a:lnTo>
                      <a:lnTo>
                        <a:pt x="6561" y="6515"/>
                      </a:lnTo>
                      <a:lnTo>
                        <a:pt x="6620" y="6465"/>
                      </a:lnTo>
                      <a:lnTo>
                        <a:pt x="6680" y="6416"/>
                      </a:lnTo>
                      <a:lnTo>
                        <a:pt x="6742" y="6369"/>
                      </a:lnTo>
                      <a:lnTo>
                        <a:pt x="6804" y="6323"/>
                      </a:lnTo>
                      <a:lnTo>
                        <a:pt x="6868" y="6279"/>
                      </a:lnTo>
                      <a:lnTo>
                        <a:pt x="6932" y="6235"/>
                      </a:lnTo>
                      <a:lnTo>
                        <a:pt x="6997" y="6193"/>
                      </a:lnTo>
                      <a:lnTo>
                        <a:pt x="7064" y="6154"/>
                      </a:lnTo>
                      <a:lnTo>
                        <a:pt x="7131" y="6115"/>
                      </a:lnTo>
                      <a:lnTo>
                        <a:pt x="7200" y="6078"/>
                      </a:lnTo>
                      <a:lnTo>
                        <a:pt x="7269" y="6043"/>
                      </a:lnTo>
                      <a:lnTo>
                        <a:pt x="7340" y="6009"/>
                      </a:lnTo>
                      <a:lnTo>
                        <a:pt x="7410" y="5976"/>
                      </a:lnTo>
                      <a:lnTo>
                        <a:pt x="7489" y="5942"/>
                      </a:lnTo>
                      <a:lnTo>
                        <a:pt x="7570" y="5910"/>
                      </a:lnTo>
                      <a:lnTo>
                        <a:pt x="7651" y="5880"/>
                      </a:lnTo>
                      <a:lnTo>
                        <a:pt x="7733" y="5852"/>
                      </a:lnTo>
                      <a:lnTo>
                        <a:pt x="7816" y="5826"/>
                      </a:lnTo>
                      <a:lnTo>
                        <a:pt x="7900" y="5802"/>
                      </a:lnTo>
                      <a:lnTo>
                        <a:pt x="7942" y="5791"/>
                      </a:lnTo>
                      <a:lnTo>
                        <a:pt x="7985" y="5780"/>
                      </a:lnTo>
                      <a:lnTo>
                        <a:pt x="8027" y="5770"/>
                      </a:lnTo>
                      <a:lnTo>
                        <a:pt x="8070" y="5761"/>
                      </a:lnTo>
                      <a:lnTo>
                        <a:pt x="8113" y="5752"/>
                      </a:lnTo>
                      <a:lnTo>
                        <a:pt x="8157" y="5744"/>
                      </a:lnTo>
                      <a:lnTo>
                        <a:pt x="8201" y="5736"/>
                      </a:lnTo>
                      <a:lnTo>
                        <a:pt x="8244" y="5728"/>
                      </a:lnTo>
                      <a:lnTo>
                        <a:pt x="8288" y="5721"/>
                      </a:lnTo>
                      <a:lnTo>
                        <a:pt x="8333" y="5716"/>
                      </a:lnTo>
                      <a:lnTo>
                        <a:pt x="8377" y="5710"/>
                      </a:lnTo>
                      <a:lnTo>
                        <a:pt x="8421" y="5706"/>
                      </a:lnTo>
                      <a:lnTo>
                        <a:pt x="8466" y="5701"/>
                      </a:lnTo>
                      <a:lnTo>
                        <a:pt x="8511" y="5696"/>
                      </a:lnTo>
                      <a:lnTo>
                        <a:pt x="8556" y="5693"/>
                      </a:lnTo>
                      <a:lnTo>
                        <a:pt x="8600" y="5691"/>
                      </a:lnTo>
                      <a:lnTo>
                        <a:pt x="8646" y="5689"/>
                      </a:lnTo>
                      <a:lnTo>
                        <a:pt x="8691" y="5687"/>
                      </a:lnTo>
                      <a:lnTo>
                        <a:pt x="8738" y="5686"/>
                      </a:lnTo>
                      <a:lnTo>
                        <a:pt x="8783" y="5686"/>
                      </a:lnTo>
                      <a:lnTo>
                        <a:pt x="8808" y="5686"/>
                      </a:lnTo>
                      <a:lnTo>
                        <a:pt x="8832" y="5687"/>
                      </a:lnTo>
                      <a:lnTo>
                        <a:pt x="8857" y="5687"/>
                      </a:lnTo>
                      <a:lnTo>
                        <a:pt x="8881" y="5689"/>
                      </a:lnTo>
                      <a:lnTo>
                        <a:pt x="8881" y="5684"/>
                      </a:lnTo>
                      <a:lnTo>
                        <a:pt x="9025" y="5678"/>
                      </a:lnTo>
                      <a:lnTo>
                        <a:pt x="9167" y="5665"/>
                      </a:lnTo>
                      <a:lnTo>
                        <a:pt x="9306" y="5644"/>
                      </a:lnTo>
                      <a:lnTo>
                        <a:pt x="9443" y="5617"/>
                      </a:lnTo>
                      <a:lnTo>
                        <a:pt x="9578" y="5583"/>
                      </a:lnTo>
                      <a:lnTo>
                        <a:pt x="9710" y="5543"/>
                      </a:lnTo>
                      <a:lnTo>
                        <a:pt x="9839" y="5497"/>
                      </a:lnTo>
                      <a:lnTo>
                        <a:pt x="9967" y="5446"/>
                      </a:lnTo>
                      <a:lnTo>
                        <a:pt x="10090" y="5387"/>
                      </a:lnTo>
                      <a:lnTo>
                        <a:pt x="10209" y="5323"/>
                      </a:lnTo>
                      <a:lnTo>
                        <a:pt x="10326" y="5255"/>
                      </a:lnTo>
                      <a:lnTo>
                        <a:pt x="10440" y="5180"/>
                      </a:lnTo>
                      <a:lnTo>
                        <a:pt x="10549" y="5101"/>
                      </a:lnTo>
                      <a:lnTo>
                        <a:pt x="10653" y="5017"/>
                      </a:lnTo>
                      <a:lnTo>
                        <a:pt x="10754" y="4927"/>
                      </a:lnTo>
                      <a:lnTo>
                        <a:pt x="10851" y="4833"/>
                      </a:lnTo>
                      <a:lnTo>
                        <a:pt x="10942" y="4735"/>
                      </a:lnTo>
                      <a:lnTo>
                        <a:pt x="11030" y="4632"/>
                      </a:lnTo>
                      <a:lnTo>
                        <a:pt x="11113" y="4525"/>
                      </a:lnTo>
                      <a:lnTo>
                        <a:pt x="11190" y="4415"/>
                      </a:lnTo>
                      <a:lnTo>
                        <a:pt x="11262" y="4301"/>
                      </a:lnTo>
                      <a:lnTo>
                        <a:pt x="11329" y="4183"/>
                      </a:lnTo>
                      <a:lnTo>
                        <a:pt x="11391" y="4061"/>
                      </a:lnTo>
                      <a:lnTo>
                        <a:pt x="11446" y="3936"/>
                      </a:lnTo>
                      <a:lnTo>
                        <a:pt x="11496" y="3809"/>
                      </a:lnTo>
                      <a:lnTo>
                        <a:pt x="11539" y="3678"/>
                      </a:lnTo>
                      <a:lnTo>
                        <a:pt x="11577" y="3545"/>
                      </a:lnTo>
                      <a:lnTo>
                        <a:pt x="11607" y="3409"/>
                      </a:lnTo>
                      <a:lnTo>
                        <a:pt x="11632" y="3270"/>
                      </a:lnTo>
                      <a:lnTo>
                        <a:pt x="11649" y="3130"/>
                      </a:lnTo>
                      <a:lnTo>
                        <a:pt x="11661" y="2988"/>
                      </a:lnTo>
                      <a:lnTo>
                        <a:pt x="11664" y="2843"/>
                      </a:lnTo>
                      <a:lnTo>
                        <a:pt x="11661" y="2698"/>
                      </a:lnTo>
                      <a:lnTo>
                        <a:pt x="11651" y="2557"/>
                      </a:lnTo>
                      <a:lnTo>
                        <a:pt x="11632" y="2417"/>
                      </a:lnTo>
                      <a:lnTo>
                        <a:pt x="11609" y="2279"/>
                      </a:lnTo>
                      <a:lnTo>
                        <a:pt x="11578" y="2144"/>
                      </a:lnTo>
                      <a:lnTo>
                        <a:pt x="11540" y="2010"/>
                      </a:lnTo>
                      <a:lnTo>
                        <a:pt x="11497" y="1880"/>
                      </a:lnTo>
                      <a:lnTo>
                        <a:pt x="11447" y="1752"/>
                      </a:lnTo>
                      <a:lnTo>
                        <a:pt x="11392" y="1628"/>
                      </a:lnTo>
                      <a:lnTo>
                        <a:pt x="11332" y="1507"/>
                      </a:lnTo>
                      <a:lnTo>
                        <a:pt x="11265" y="1389"/>
                      </a:lnTo>
                      <a:lnTo>
                        <a:pt x="11193" y="1275"/>
                      </a:lnTo>
                      <a:lnTo>
                        <a:pt x="11116" y="1164"/>
                      </a:lnTo>
                      <a:lnTo>
                        <a:pt x="11033" y="1058"/>
                      </a:lnTo>
                      <a:lnTo>
                        <a:pt x="10947" y="955"/>
                      </a:lnTo>
                      <a:lnTo>
                        <a:pt x="10855" y="857"/>
                      </a:lnTo>
                      <a:lnTo>
                        <a:pt x="10760" y="764"/>
                      </a:lnTo>
                      <a:lnTo>
                        <a:pt x="10659" y="674"/>
                      </a:lnTo>
                      <a:lnTo>
                        <a:pt x="10554" y="590"/>
                      </a:lnTo>
                      <a:lnTo>
                        <a:pt x="10445" y="511"/>
                      </a:lnTo>
                      <a:lnTo>
                        <a:pt x="10333" y="436"/>
                      </a:lnTo>
                      <a:lnTo>
                        <a:pt x="10217" y="367"/>
                      </a:lnTo>
                      <a:lnTo>
                        <a:pt x="10098" y="303"/>
                      </a:lnTo>
                      <a:lnTo>
                        <a:pt x="9974" y="245"/>
                      </a:lnTo>
                      <a:lnTo>
                        <a:pt x="9849" y="193"/>
                      </a:lnTo>
                      <a:lnTo>
                        <a:pt x="9720" y="146"/>
                      </a:lnTo>
                      <a:lnTo>
                        <a:pt x="9589" y="106"/>
                      </a:lnTo>
                      <a:lnTo>
                        <a:pt x="9454" y="71"/>
                      </a:lnTo>
                      <a:lnTo>
                        <a:pt x="9317" y="44"/>
                      </a:lnTo>
                      <a:lnTo>
                        <a:pt x="9178" y="23"/>
                      </a:lnTo>
                      <a:lnTo>
                        <a:pt x="9037" y="9"/>
                      </a:lnTo>
                      <a:lnTo>
                        <a:pt x="8894" y="2"/>
                      </a:lnTo>
                      <a:close/>
                    </a:path>
                  </a:pathLst>
                </a:custGeom>
                <a:solidFill>
                  <a:srgbClr val="2831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a:endParaRPr lang="en-US" sz="1800">
                    <a:solidFill>
                      <a:prstClr val="black"/>
                    </a:solidFill>
                    <a:latin typeface="Calibri" panose="020F0502020204030204"/>
                  </a:endParaRPr>
                </a:p>
              </p:txBody>
            </p:sp>
            <p:sp>
              <p:nvSpPr>
                <p:cNvPr id="39" name="Freeform 8"/>
                <p:cNvSpPr>
                  <a:spLocks/>
                </p:cNvSpPr>
                <p:nvPr/>
              </p:nvSpPr>
              <p:spPr bwMode="auto">
                <a:xfrm>
                  <a:off x="3383" y="2380"/>
                  <a:ext cx="1929" cy="1293"/>
                </a:xfrm>
                <a:custGeom>
                  <a:avLst/>
                  <a:gdLst>
                    <a:gd name="T0" fmla="*/ 8599 w 11576"/>
                    <a:gd name="T1" fmla="*/ 1957 h 7756"/>
                    <a:gd name="T2" fmla="*/ 8110 w 11576"/>
                    <a:gd name="T3" fmla="*/ 1867 h 7756"/>
                    <a:gd name="T4" fmla="*/ 7647 w 11576"/>
                    <a:gd name="T5" fmla="*/ 1710 h 7756"/>
                    <a:gd name="T6" fmla="*/ 7217 w 11576"/>
                    <a:gd name="T7" fmla="*/ 1491 h 7756"/>
                    <a:gd name="T8" fmla="*/ 6824 w 11576"/>
                    <a:gd name="T9" fmla="*/ 1216 h 7756"/>
                    <a:gd name="T10" fmla="*/ 6474 w 11576"/>
                    <a:gd name="T11" fmla="*/ 891 h 7756"/>
                    <a:gd name="T12" fmla="*/ 6171 w 11576"/>
                    <a:gd name="T13" fmla="*/ 520 h 7756"/>
                    <a:gd name="T14" fmla="*/ 5922 w 11576"/>
                    <a:gd name="T15" fmla="*/ 108 h 7756"/>
                    <a:gd name="T16" fmla="*/ 5770 w 11576"/>
                    <a:gd name="T17" fmla="*/ 212 h 7756"/>
                    <a:gd name="T18" fmla="*/ 5616 w 11576"/>
                    <a:gd name="T19" fmla="*/ 483 h 7756"/>
                    <a:gd name="T20" fmla="*/ 5440 w 11576"/>
                    <a:gd name="T21" fmla="*/ 738 h 7756"/>
                    <a:gd name="T22" fmla="*/ 5240 w 11576"/>
                    <a:gd name="T23" fmla="*/ 975 h 7756"/>
                    <a:gd name="T24" fmla="*/ 5021 w 11576"/>
                    <a:gd name="T25" fmla="*/ 1191 h 7756"/>
                    <a:gd name="T26" fmla="*/ 4783 w 11576"/>
                    <a:gd name="T27" fmla="*/ 1389 h 7756"/>
                    <a:gd name="T28" fmla="*/ 4528 w 11576"/>
                    <a:gd name="T29" fmla="*/ 1564 h 7756"/>
                    <a:gd name="T30" fmla="*/ 4255 w 11576"/>
                    <a:gd name="T31" fmla="*/ 1716 h 7756"/>
                    <a:gd name="T32" fmla="*/ 3950 w 11576"/>
                    <a:gd name="T33" fmla="*/ 1850 h 7756"/>
                    <a:gd name="T34" fmla="*/ 3624 w 11576"/>
                    <a:gd name="T35" fmla="*/ 1954 h 7756"/>
                    <a:gd name="T36" fmla="*/ 3284 w 11576"/>
                    <a:gd name="T37" fmla="*/ 2027 h 7756"/>
                    <a:gd name="T38" fmla="*/ 3065 w 11576"/>
                    <a:gd name="T39" fmla="*/ 2054 h 7756"/>
                    <a:gd name="T40" fmla="*/ 2888 w 11576"/>
                    <a:gd name="T41" fmla="*/ 2065 h 7756"/>
                    <a:gd name="T42" fmla="*/ 2552 w 11576"/>
                    <a:gd name="T43" fmla="*/ 2085 h 7756"/>
                    <a:gd name="T44" fmla="*/ 1997 w 11576"/>
                    <a:gd name="T45" fmla="*/ 2198 h 7756"/>
                    <a:gd name="T46" fmla="*/ 1488 w 11576"/>
                    <a:gd name="T47" fmla="*/ 2414 h 7756"/>
                    <a:gd name="T48" fmla="*/ 1034 w 11576"/>
                    <a:gd name="T49" fmla="*/ 2719 h 7756"/>
                    <a:gd name="T50" fmla="*/ 649 w 11576"/>
                    <a:gd name="T51" fmla="*/ 3105 h 7756"/>
                    <a:gd name="T52" fmla="*/ 343 w 11576"/>
                    <a:gd name="T53" fmla="*/ 3557 h 7756"/>
                    <a:gd name="T54" fmla="*/ 127 w 11576"/>
                    <a:gd name="T55" fmla="*/ 4068 h 7756"/>
                    <a:gd name="T56" fmla="*/ 15 w 11576"/>
                    <a:gd name="T57" fmla="*/ 4622 h 7756"/>
                    <a:gd name="T58" fmla="*/ 14 w 11576"/>
                    <a:gd name="T59" fmla="*/ 5202 h 7756"/>
                    <a:gd name="T60" fmla="*/ 125 w 11576"/>
                    <a:gd name="T61" fmla="*/ 5752 h 7756"/>
                    <a:gd name="T62" fmla="*/ 337 w 11576"/>
                    <a:gd name="T63" fmla="*/ 6258 h 7756"/>
                    <a:gd name="T64" fmla="*/ 639 w 11576"/>
                    <a:gd name="T65" fmla="*/ 6709 h 7756"/>
                    <a:gd name="T66" fmla="*/ 1018 w 11576"/>
                    <a:gd name="T67" fmla="*/ 7093 h 7756"/>
                    <a:gd name="T68" fmla="*/ 1465 w 11576"/>
                    <a:gd name="T69" fmla="*/ 7400 h 7756"/>
                    <a:gd name="T70" fmla="*/ 1968 w 11576"/>
                    <a:gd name="T71" fmla="*/ 7619 h 7756"/>
                    <a:gd name="T72" fmla="*/ 2516 w 11576"/>
                    <a:gd name="T73" fmla="*/ 7737 h 7756"/>
                    <a:gd name="T74" fmla="*/ 2823 w 11576"/>
                    <a:gd name="T75" fmla="*/ 7756 h 7756"/>
                    <a:gd name="T76" fmla="*/ 2920 w 11576"/>
                    <a:gd name="T77" fmla="*/ 7755 h 7756"/>
                    <a:gd name="T78" fmla="*/ 3279 w 11576"/>
                    <a:gd name="T79" fmla="*/ 7740 h 7756"/>
                    <a:gd name="T80" fmla="*/ 3838 w 11576"/>
                    <a:gd name="T81" fmla="*/ 7690 h 7756"/>
                    <a:gd name="T82" fmla="*/ 4386 w 11576"/>
                    <a:gd name="T83" fmla="*/ 7607 h 7756"/>
                    <a:gd name="T84" fmla="*/ 4923 w 11576"/>
                    <a:gd name="T85" fmla="*/ 7493 h 7756"/>
                    <a:gd name="T86" fmla="*/ 5681 w 11576"/>
                    <a:gd name="T87" fmla="*/ 7270 h 7756"/>
                    <a:gd name="T88" fmla="*/ 6630 w 11576"/>
                    <a:gd name="T89" fmla="*/ 6886 h 7756"/>
                    <a:gd name="T90" fmla="*/ 7522 w 11576"/>
                    <a:gd name="T91" fmla="*/ 6400 h 7756"/>
                    <a:gd name="T92" fmla="*/ 8351 w 11576"/>
                    <a:gd name="T93" fmla="*/ 5820 h 7756"/>
                    <a:gd name="T94" fmla="*/ 9109 w 11576"/>
                    <a:gd name="T95" fmla="*/ 5155 h 7756"/>
                    <a:gd name="T96" fmla="*/ 9787 w 11576"/>
                    <a:gd name="T97" fmla="*/ 4410 h 7756"/>
                    <a:gd name="T98" fmla="*/ 10381 w 11576"/>
                    <a:gd name="T99" fmla="*/ 3591 h 7756"/>
                    <a:gd name="T100" fmla="*/ 10882 w 11576"/>
                    <a:gd name="T101" fmla="*/ 2709 h 7756"/>
                    <a:gd name="T102" fmla="*/ 11169 w 11576"/>
                    <a:gd name="T103" fmla="*/ 2070 h 7756"/>
                    <a:gd name="T104" fmla="*/ 11304 w 11576"/>
                    <a:gd name="T105" fmla="*/ 1712 h 7756"/>
                    <a:gd name="T106" fmla="*/ 11424 w 11576"/>
                    <a:gd name="T107" fmla="*/ 1349 h 7756"/>
                    <a:gd name="T108" fmla="*/ 11529 w 11576"/>
                    <a:gd name="T109" fmla="*/ 978 h 7756"/>
                    <a:gd name="T110" fmla="*/ 11454 w 11576"/>
                    <a:gd name="T111" fmla="*/ 924 h 7756"/>
                    <a:gd name="T112" fmla="*/ 11191 w 11576"/>
                    <a:gd name="T113" fmla="*/ 1170 h 7756"/>
                    <a:gd name="T114" fmla="*/ 10903 w 11576"/>
                    <a:gd name="T115" fmla="*/ 1388 h 7756"/>
                    <a:gd name="T116" fmla="*/ 10593 w 11576"/>
                    <a:gd name="T117" fmla="*/ 1575 h 7756"/>
                    <a:gd name="T118" fmla="*/ 10263 w 11576"/>
                    <a:gd name="T119" fmla="*/ 1730 h 7756"/>
                    <a:gd name="T120" fmla="*/ 9914 w 11576"/>
                    <a:gd name="T121" fmla="*/ 1850 h 7756"/>
                    <a:gd name="T122" fmla="*/ 9550 w 11576"/>
                    <a:gd name="T123" fmla="*/ 1931 h 7756"/>
                    <a:gd name="T124" fmla="*/ 9173 w 11576"/>
                    <a:gd name="T125" fmla="*/ 1973 h 7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576" h="7756">
                      <a:moveTo>
                        <a:pt x="8980" y="1979"/>
                      </a:moveTo>
                      <a:lnTo>
                        <a:pt x="8852" y="1977"/>
                      </a:lnTo>
                      <a:lnTo>
                        <a:pt x="8725" y="1969"/>
                      </a:lnTo>
                      <a:lnTo>
                        <a:pt x="8599" y="1957"/>
                      </a:lnTo>
                      <a:lnTo>
                        <a:pt x="8474" y="1942"/>
                      </a:lnTo>
                      <a:lnTo>
                        <a:pt x="8352" y="1921"/>
                      </a:lnTo>
                      <a:lnTo>
                        <a:pt x="8229" y="1896"/>
                      </a:lnTo>
                      <a:lnTo>
                        <a:pt x="8110" y="1867"/>
                      </a:lnTo>
                      <a:lnTo>
                        <a:pt x="7991" y="1834"/>
                      </a:lnTo>
                      <a:lnTo>
                        <a:pt x="7875" y="1796"/>
                      </a:lnTo>
                      <a:lnTo>
                        <a:pt x="7761" y="1754"/>
                      </a:lnTo>
                      <a:lnTo>
                        <a:pt x="7647" y="1710"/>
                      </a:lnTo>
                      <a:lnTo>
                        <a:pt x="7537" y="1660"/>
                      </a:lnTo>
                      <a:lnTo>
                        <a:pt x="7428" y="1608"/>
                      </a:lnTo>
                      <a:lnTo>
                        <a:pt x="7321" y="1551"/>
                      </a:lnTo>
                      <a:lnTo>
                        <a:pt x="7217" y="1491"/>
                      </a:lnTo>
                      <a:lnTo>
                        <a:pt x="7115" y="1427"/>
                      </a:lnTo>
                      <a:lnTo>
                        <a:pt x="7015" y="1361"/>
                      </a:lnTo>
                      <a:lnTo>
                        <a:pt x="6919" y="1289"/>
                      </a:lnTo>
                      <a:lnTo>
                        <a:pt x="6824" y="1216"/>
                      </a:lnTo>
                      <a:lnTo>
                        <a:pt x="6733" y="1139"/>
                      </a:lnTo>
                      <a:lnTo>
                        <a:pt x="6643" y="1059"/>
                      </a:lnTo>
                      <a:lnTo>
                        <a:pt x="6557" y="976"/>
                      </a:lnTo>
                      <a:lnTo>
                        <a:pt x="6474" y="891"/>
                      </a:lnTo>
                      <a:lnTo>
                        <a:pt x="6393" y="801"/>
                      </a:lnTo>
                      <a:lnTo>
                        <a:pt x="6316" y="710"/>
                      </a:lnTo>
                      <a:lnTo>
                        <a:pt x="6242" y="616"/>
                      </a:lnTo>
                      <a:lnTo>
                        <a:pt x="6171" y="520"/>
                      </a:lnTo>
                      <a:lnTo>
                        <a:pt x="6104" y="420"/>
                      </a:lnTo>
                      <a:lnTo>
                        <a:pt x="6039" y="319"/>
                      </a:lnTo>
                      <a:lnTo>
                        <a:pt x="5979" y="214"/>
                      </a:lnTo>
                      <a:lnTo>
                        <a:pt x="5922" y="108"/>
                      </a:lnTo>
                      <a:lnTo>
                        <a:pt x="5869" y="0"/>
                      </a:lnTo>
                      <a:lnTo>
                        <a:pt x="5837" y="71"/>
                      </a:lnTo>
                      <a:lnTo>
                        <a:pt x="5804" y="142"/>
                      </a:lnTo>
                      <a:lnTo>
                        <a:pt x="5770" y="212"/>
                      </a:lnTo>
                      <a:lnTo>
                        <a:pt x="5734" y="281"/>
                      </a:lnTo>
                      <a:lnTo>
                        <a:pt x="5696" y="349"/>
                      </a:lnTo>
                      <a:lnTo>
                        <a:pt x="5657" y="416"/>
                      </a:lnTo>
                      <a:lnTo>
                        <a:pt x="5616" y="483"/>
                      </a:lnTo>
                      <a:lnTo>
                        <a:pt x="5574" y="548"/>
                      </a:lnTo>
                      <a:lnTo>
                        <a:pt x="5531" y="613"/>
                      </a:lnTo>
                      <a:lnTo>
                        <a:pt x="5485" y="675"/>
                      </a:lnTo>
                      <a:lnTo>
                        <a:pt x="5440" y="738"/>
                      </a:lnTo>
                      <a:lnTo>
                        <a:pt x="5392" y="799"/>
                      </a:lnTo>
                      <a:lnTo>
                        <a:pt x="5342" y="858"/>
                      </a:lnTo>
                      <a:lnTo>
                        <a:pt x="5293" y="917"/>
                      </a:lnTo>
                      <a:lnTo>
                        <a:pt x="5240" y="975"/>
                      </a:lnTo>
                      <a:lnTo>
                        <a:pt x="5188" y="1030"/>
                      </a:lnTo>
                      <a:lnTo>
                        <a:pt x="5134" y="1086"/>
                      </a:lnTo>
                      <a:lnTo>
                        <a:pt x="5078" y="1139"/>
                      </a:lnTo>
                      <a:lnTo>
                        <a:pt x="5021" y="1191"/>
                      </a:lnTo>
                      <a:lnTo>
                        <a:pt x="4963" y="1244"/>
                      </a:lnTo>
                      <a:lnTo>
                        <a:pt x="4904" y="1294"/>
                      </a:lnTo>
                      <a:lnTo>
                        <a:pt x="4844" y="1341"/>
                      </a:lnTo>
                      <a:lnTo>
                        <a:pt x="4783" y="1389"/>
                      </a:lnTo>
                      <a:lnTo>
                        <a:pt x="4721" y="1435"/>
                      </a:lnTo>
                      <a:lnTo>
                        <a:pt x="4657" y="1480"/>
                      </a:lnTo>
                      <a:lnTo>
                        <a:pt x="4594" y="1523"/>
                      </a:lnTo>
                      <a:lnTo>
                        <a:pt x="4528" y="1564"/>
                      </a:lnTo>
                      <a:lnTo>
                        <a:pt x="4461" y="1605"/>
                      </a:lnTo>
                      <a:lnTo>
                        <a:pt x="4394" y="1643"/>
                      </a:lnTo>
                      <a:lnTo>
                        <a:pt x="4325" y="1679"/>
                      </a:lnTo>
                      <a:lnTo>
                        <a:pt x="4255" y="1716"/>
                      </a:lnTo>
                      <a:lnTo>
                        <a:pt x="4185" y="1750"/>
                      </a:lnTo>
                      <a:lnTo>
                        <a:pt x="4108" y="1785"/>
                      </a:lnTo>
                      <a:lnTo>
                        <a:pt x="4030" y="1818"/>
                      </a:lnTo>
                      <a:lnTo>
                        <a:pt x="3950" y="1850"/>
                      </a:lnTo>
                      <a:lnTo>
                        <a:pt x="3871" y="1878"/>
                      </a:lnTo>
                      <a:lnTo>
                        <a:pt x="3789" y="1905"/>
                      </a:lnTo>
                      <a:lnTo>
                        <a:pt x="3707" y="1931"/>
                      </a:lnTo>
                      <a:lnTo>
                        <a:pt x="3624" y="1954"/>
                      </a:lnTo>
                      <a:lnTo>
                        <a:pt x="3540" y="1976"/>
                      </a:lnTo>
                      <a:lnTo>
                        <a:pt x="3455" y="1995"/>
                      </a:lnTo>
                      <a:lnTo>
                        <a:pt x="3370" y="2012"/>
                      </a:lnTo>
                      <a:lnTo>
                        <a:pt x="3284" y="2027"/>
                      </a:lnTo>
                      <a:lnTo>
                        <a:pt x="3197" y="2039"/>
                      </a:lnTo>
                      <a:lnTo>
                        <a:pt x="3154" y="2045"/>
                      </a:lnTo>
                      <a:lnTo>
                        <a:pt x="3109" y="2049"/>
                      </a:lnTo>
                      <a:lnTo>
                        <a:pt x="3065" y="2054"/>
                      </a:lnTo>
                      <a:lnTo>
                        <a:pt x="3021" y="2057"/>
                      </a:lnTo>
                      <a:lnTo>
                        <a:pt x="2976" y="2061"/>
                      </a:lnTo>
                      <a:lnTo>
                        <a:pt x="2932" y="2064"/>
                      </a:lnTo>
                      <a:lnTo>
                        <a:pt x="2888" y="2065"/>
                      </a:lnTo>
                      <a:lnTo>
                        <a:pt x="2843" y="2067"/>
                      </a:lnTo>
                      <a:lnTo>
                        <a:pt x="2843" y="2070"/>
                      </a:lnTo>
                      <a:lnTo>
                        <a:pt x="2696" y="2073"/>
                      </a:lnTo>
                      <a:lnTo>
                        <a:pt x="2552" y="2085"/>
                      </a:lnTo>
                      <a:lnTo>
                        <a:pt x="2409" y="2103"/>
                      </a:lnTo>
                      <a:lnTo>
                        <a:pt x="2270" y="2128"/>
                      </a:lnTo>
                      <a:lnTo>
                        <a:pt x="2132" y="2159"/>
                      </a:lnTo>
                      <a:lnTo>
                        <a:pt x="1997" y="2198"/>
                      </a:lnTo>
                      <a:lnTo>
                        <a:pt x="1866" y="2242"/>
                      </a:lnTo>
                      <a:lnTo>
                        <a:pt x="1736" y="2293"/>
                      </a:lnTo>
                      <a:lnTo>
                        <a:pt x="1610" y="2350"/>
                      </a:lnTo>
                      <a:lnTo>
                        <a:pt x="1488" y="2414"/>
                      </a:lnTo>
                      <a:lnTo>
                        <a:pt x="1369" y="2482"/>
                      </a:lnTo>
                      <a:lnTo>
                        <a:pt x="1253" y="2555"/>
                      </a:lnTo>
                      <a:lnTo>
                        <a:pt x="1142" y="2635"/>
                      </a:lnTo>
                      <a:lnTo>
                        <a:pt x="1034" y="2719"/>
                      </a:lnTo>
                      <a:lnTo>
                        <a:pt x="931" y="2808"/>
                      </a:lnTo>
                      <a:lnTo>
                        <a:pt x="832" y="2903"/>
                      </a:lnTo>
                      <a:lnTo>
                        <a:pt x="739" y="3001"/>
                      </a:lnTo>
                      <a:lnTo>
                        <a:pt x="649" y="3105"/>
                      </a:lnTo>
                      <a:lnTo>
                        <a:pt x="564" y="3212"/>
                      </a:lnTo>
                      <a:lnTo>
                        <a:pt x="486" y="3324"/>
                      </a:lnTo>
                      <a:lnTo>
                        <a:pt x="411" y="3438"/>
                      </a:lnTo>
                      <a:lnTo>
                        <a:pt x="343" y="3557"/>
                      </a:lnTo>
                      <a:lnTo>
                        <a:pt x="280" y="3680"/>
                      </a:lnTo>
                      <a:lnTo>
                        <a:pt x="224" y="3806"/>
                      </a:lnTo>
                      <a:lnTo>
                        <a:pt x="173" y="3935"/>
                      </a:lnTo>
                      <a:lnTo>
                        <a:pt x="127" y="4068"/>
                      </a:lnTo>
                      <a:lnTo>
                        <a:pt x="90" y="4202"/>
                      </a:lnTo>
                      <a:lnTo>
                        <a:pt x="58" y="4340"/>
                      </a:lnTo>
                      <a:lnTo>
                        <a:pt x="33" y="4480"/>
                      </a:lnTo>
                      <a:lnTo>
                        <a:pt x="15" y="4622"/>
                      </a:lnTo>
                      <a:lnTo>
                        <a:pt x="3" y="4767"/>
                      </a:lnTo>
                      <a:lnTo>
                        <a:pt x="0" y="4913"/>
                      </a:lnTo>
                      <a:lnTo>
                        <a:pt x="3" y="5058"/>
                      </a:lnTo>
                      <a:lnTo>
                        <a:pt x="14" y="5202"/>
                      </a:lnTo>
                      <a:lnTo>
                        <a:pt x="32" y="5342"/>
                      </a:lnTo>
                      <a:lnTo>
                        <a:pt x="57" y="5481"/>
                      </a:lnTo>
                      <a:lnTo>
                        <a:pt x="87" y="5618"/>
                      </a:lnTo>
                      <a:lnTo>
                        <a:pt x="125" y="5752"/>
                      </a:lnTo>
                      <a:lnTo>
                        <a:pt x="169" y="5883"/>
                      </a:lnTo>
                      <a:lnTo>
                        <a:pt x="219" y="6011"/>
                      </a:lnTo>
                      <a:lnTo>
                        <a:pt x="276" y="6136"/>
                      </a:lnTo>
                      <a:lnTo>
                        <a:pt x="337" y="6258"/>
                      </a:lnTo>
                      <a:lnTo>
                        <a:pt x="405" y="6376"/>
                      </a:lnTo>
                      <a:lnTo>
                        <a:pt x="478" y="6491"/>
                      </a:lnTo>
                      <a:lnTo>
                        <a:pt x="556" y="6602"/>
                      </a:lnTo>
                      <a:lnTo>
                        <a:pt x="639" y="6709"/>
                      </a:lnTo>
                      <a:lnTo>
                        <a:pt x="726" y="6812"/>
                      </a:lnTo>
                      <a:lnTo>
                        <a:pt x="819" y="6909"/>
                      </a:lnTo>
                      <a:lnTo>
                        <a:pt x="917" y="7004"/>
                      </a:lnTo>
                      <a:lnTo>
                        <a:pt x="1018" y="7093"/>
                      </a:lnTo>
                      <a:lnTo>
                        <a:pt x="1125" y="7177"/>
                      </a:lnTo>
                      <a:lnTo>
                        <a:pt x="1235" y="7257"/>
                      </a:lnTo>
                      <a:lnTo>
                        <a:pt x="1348" y="7332"/>
                      </a:lnTo>
                      <a:lnTo>
                        <a:pt x="1465" y="7400"/>
                      </a:lnTo>
                      <a:lnTo>
                        <a:pt x="1586" y="7463"/>
                      </a:lnTo>
                      <a:lnTo>
                        <a:pt x="1710" y="7521"/>
                      </a:lnTo>
                      <a:lnTo>
                        <a:pt x="1838" y="7572"/>
                      </a:lnTo>
                      <a:lnTo>
                        <a:pt x="1968" y="7619"/>
                      </a:lnTo>
                      <a:lnTo>
                        <a:pt x="2102" y="7657"/>
                      </a:lnTo>
                      <a:lnTo>
                        <a:pt x="2237" y="7690"/>
                      </a:lnTo>
                      <a:lnTo>
                        <a:pt x="2375" y="7717"/>
                      </a:lnTo>
                      <a:lnTo>
                        <a:pt x="2516" y="7737"/>
                      </a:lnTo>
                      <a:lnTo>
                        <a:pt x="2659" y="7749"/>
                      </a:lnTo>
                      <a:lnTo>
                        <a:pt x="2803" y="7755"/>
                      </a:lnTo>
                      <a:lnTo>
                        <a:pt x="2813" y="7755"/>
                      </a:lnTo>
                      <a:lnTo>
                        <a:pt x="2823" y="7756"/>
                      </a:lnTo>
                      <a:lnTo>
                        <a:pt x="2832" y="7756"/>
                      </a:lnTo>
                      <a:lnTo>
                        <a:pt x="2843" y="7756"/>
                      </a:lnTo>
                      <a:lnTo>
                        <a:pt x="2881" y="7756"/>
                      </a:lnTo>
                      <a:lnTo>
                        <a:pt x="2920" y="7755"/>
                      </a:lnTo>
                      <a:lnTo>
                        <a:pt x="2958" y="7754"/>
                      </a:lnTo>
                      <a:lnTo>
                        <a:pt x="2997" y="7751"/>
                      </a:lnTo>
                      <a:lnTo>
                        <a:pt x="3139" y="7747"/>
                      </a:lnTo>
                      <a:lnTo>
                        <a:pt x="3279" y="7740"/>
                      </a:lnTo>
                      <a:lnTo>
                        <a:pt x="3420" y="7730"/>
                      </a:lnTo>
                      <a:lnTo>
                        <a:pt x="3560" y="7719"/>
                      </a:lnTo>
                      <a:lnTo>
                        <a:pt x="3699" y="7706"/>
                      </a:lnTo>
                      <a:lnTo>
                        <a:pt x="3838" y="7690"/>
                      </a:lnTo>
                      <a:lnTo>
                        <a:pt x="3976" y="7672"/>
                      </a:lnTo>
                      <a:lnTo>
                        <a:pt x="4114" y="7653"/>
                      </a:lnTo>
                      <a:lnTo>
                        <a:pt x="4250" y="7631"/>
                      </a:lnTo>
                      <a:lnTo>
                        <a:pt x="4386" y="7607"/>
                      </a:lnTo>
                      <a:lnTo>
                        <a:pt x="4521" y="7581"/>
                      </a:lnTo>
                      <a:lnTo>
                        <a:pt x="4656" y="7554"/>
                      </a:lnTo>
                      <a:lnTo>
                        <a:pt x="4790" y="7525"/>
                      </a:lnTo>
                      <a:lnTo>
                        <a:pt x="4923" y="7493"/>
                      </a:lnTo>
                      <a:lnTo>
                        <a:pt x="5054" y="7459"/>
                      </a:lnTo>
                      <a:lnTo>
                        <a:pt x="5186" y="7424"/>
                      </a:lnTo>
                      <a:lnTo>
                        <a:pt x="5434" y="7351"/>
                      </a:lnTo>
                      <a:lnTo>
                        <a:pt x="5681" y="7270"/>
                      </a:lnTo>
                      <a:lnTo>
                        <a:pt x="5922" y="7184"/>
                      </a:lnTo>
                      <a:lnTo>
                        <a:pt x="6162" y="7091"/>
                      </a:lnTo>
                      <a:lnTo>
                        <a:pt x="6398" y="6991"/>
                      </a:lnTo>
                      <a:lnTo>
                        <a:pt x="6630" y="6886"/>
                      </a:lnTo>
                      <a:lnTo>
                        <a:pt x="6858" y="6773"/>
                      </a:lnTo>
                      <a:lnTo>
                        <a:pt x="7084" y="6654"/>
                      </a:lnTo>
                      <a:lnTo>
                        <a:pt x="7306" y="6530"/>
                      </a:lnTo>
                      <a:lnTo>
                        <a:pt x="7522" y="6400"/>
                      </a:lnTo>
                      <a:lnTo>
                        <a:pt x="7736" y="6264"/>
                      </a:lnTo>
                      <a:lnTo>
                        <a:pt x="7946" y="6121"/>
                      </a:lnTo>
                      <a:lnTo>
                        <a:pt x="8150" y="5973"/>
                      </a:lnTo>
                      <a:lnTo>
                        <a:pt x="8351" y="5820"/>
                      </a:lnTo>
                      <a:lnTo>
                        <a:pt x="8547" y="5661"/>
                      </a:lnTo>
                      <a:lnTo>
                        <a:pt x="8739" y="5498"/>
                      </a:lnTo>
                      <a:lnTo>
                        <a:pt x="8926" y="5329"/>
                      </a:lnTo>
                      <a:lnTo>
                        <a:pt x="9109" y="5155"/>
                      </a:lnTo>
                      <a:lnTo>
                        <a:pt x="9286" y="4976"/>
                      </a:lnTo>
                      <a:lnTo>
                        <a:pt x="9458" y="4792"/>
                      </a:lnTo>
                      <a:lnTo>
                        <a:pt x="9625" y="4603"/>
                      </a:lnTo>
                      <a:lnTo>
                        <a:pt x="9787" y="4410"/>
                      </a:lnTo>
                      <a:lnTo>
                        <a:pt x="9944" y="4212"/>
                      </a:lnTo>
                      <a:lnTo>
                        <a:pt x="10095" y="4009"/>
                      </a:lnTo>
                      <a:lnTo>
                        <a:pt x="10241" y="3803"/>
                      </a:lnTo>
                      <a:lnTo>
                        <a:pt x="10381" y="3591"/>
                      </a:lnTo>
                      <a:lnTo>
                        <a:pt x="10516" y="3377"/>
                      </a:lnTo>
                      <a:lnTo>
                        <a:pt x="10644" y="3158"/>
                      </a:lnTo>
                      <a:lnTo>
                        <a:pt x="10767" y="2936"/>
                      </a:lnTo>
                      <a:lnTo>
                        <a:pt x="10882" y="2709"/>
                      </a:lnTo>
                      <a:lnTo>
                        <a:pt x="10992" y="2479"/>
                      </a:lnTo>
                      <a:lnTo>
                        <a:pt x="11096" y="2246"/>
                      </a:lnTo>
                      <a:lnTo>
                        <a:pt x="11133" y="2158"/>
                      </a:lnTo>
                      <a:lnTo>
                        <a:pt x="11169" y="2070"/>
                      </a:lnTo>
                      <a:lnTo>
                        <a:pt x="11205" y="1981"/>
                      </a:lnTo>
                      <a:lnTo>
                        <a:pt x="11239" y="1892"/>
                      </a:lnTo>
                      <a:lnTo>
                        <a:pt x="11272" y="1803"/>
                      </a:lnTo>
                      <a:lnTo>
                        <a:pt x="11304" y="1712"/>
                      </a:lnTo>
                      <a:lnTo>
                        <a:pt x="11335" y="1623"/>
                      </a:lnTo>
                      <a:lnTo>
                        <a:pt x="11366" y="1532"/>
                      </a:lnTo>
                      <a:lnTo>
                        <a:pt x="11395" y="1440"/>
                      </a:lnTo>
                      <a:lnTo>
                        <a:pt x="11424" y="1349"/>
                      </a:lnTo>
                      <a:lnTo>
                        <a:pt x="11452" y="1256"/>
                      </a:lnTo>
                      <a:lnTo>
                        <a:pt x="11478" y="1164"/>
                      </a:lnTo>
                      <a:lnTo>
                        <a:pt x="11504" y="1071"/>
                      </a:lnTo>
                      <a:lnTo>
                        <a:pt x="11529" y="978"/>
                      </a:lnTo>
                      <a:lnTo>
                        <a:pt x="11553" y="884"/>
                      </a:lnTo>
                      <a:lnTo>
                        <a:pt x="11576" y="790"/>
                      </a:lnTo>
                      <a:lnTo>
                        <a:pt x="11515" y="858"/>
                      </a:lnTo>
                      <a:lnTo>
                        <a:pt x="11454" y="924"/>
                      </a:lnTo>
                      <a:lnTo>
                        <a:pt x="11391" y="987"/>
                      </a:lnTo>
                      <a:lnTo>
                        <a:pt x="11326" y="1050"/>
                      </a:lnTo>
                      <a:lnTo>
                        <a:pt x="11259" y="1111"/>
                      </a:lnTo>
                      <a:lnTo>
                        <a:pt x="11191" y="1170"/>
                      </a:lnTo>
                      <a:lnTo>
                        <a:pt x="11121" y="1228"/>
                      </a:lnTo>
                      <a:lnTo>
                        <a:pt x="11050" y="1282"/>
                      </a:lnTo>
                      <a:lnTo>
                        <a:pt x="10978" y="1337"/>
                      </a:lnTo>
                      <a:lnTo>
                        <a:pt x="10903" y="1388"/>
                      </a:lnTo>
                      <a:lnTo>
                        <a:pt x="10828" y="1438"/>
                      </a:lnTo>
                      <a:lnTo>
                        <a:pt x="10751" y="1485"/>
                      </a:lnTo>
                      <a:lnTo>
                        <a:pt x="10672" y="1532"/>
                      </a:lnTo>
                      <a:lnTo>
                        <a:pt x="10593" y="1575"/>
                      </a:lnTo>
                      <a:lnTo>
                        <a:pt x="10512" y="1617"/>
                      </a:lnTo>
                      <a:lnTo>
                        <a:pt x="10430" y="1657"/>
                      </a:lnTo>
                      <a:lnTo>
                        <a:pt x="10347" y="1694"/>
                      </a:lnTo>
                      <a:lnTo>
                        <a:pt x="10263" y="1730"/>
                      </a:lnTo>
                      <a:lnTo>
                        <a:pt x="10176" y="1763"/>
                      </a:lnTo>
                      <a:lnTo>
                        <a:pt x="10090" y="1794"/>
                      </a:lnTo>
                      <a:lnTo>
                        <a:pt x="10003" y="1824"/>
                      </a:lnTo>
                      <a:lnTo>
                        <a:pt x="9914" y="1850"/>
                      </a:lnTo>
                      <a:lnTo>
                        <a:pt x="9825" y="1873"/>
                      </a:lnTo>
                      <a:lnTo>
                        <a:pt x="9734" y="1895"/>
                      </a:lnTo>
                      <a:lnTo>
                        <a:pt x="9642" y="1914"/>
                      </a:lnTo>
                      <a:lnTo>
                        <a:pt x="9550" y="1931"/>
                      </a:lnTo>
                      <a:lnTo>
                        <a:pt x="9457" y="1946"/>
                      </a:lnTo>
                      <a:lnTo>
                        <a:pt x="9363" y="1957"/>
                      </a:lnTo>
                      <a:lnTo>
                        <a:pt x="9269" y="1967"/>
                      </a:lnTo>
                      <a:lnTo>
                        <a:pt x="9173" y="1973"/>
                      </a:lnTo>
                      <a:lnTo>
                        <a:pt x="9077" y="1977"/>
                      </a:lnTo>
                      <a:lnTo>
                        <a:pt x="8980" y="1979"/>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a:endParaRPr lang="en-US" sz="1800">
                    <a:solidFill>
                      <a:prstClr val="black"/>
                    </a:solidFill>
                    <a:latin typeface="Calibri" panose="020F0502020204030204"/>
                  </a:endParaRPr>
                </a:p>
              </p:txBody>
            </p:sp>
            <p:sp>
              <p:nvSpPr>
                <p:cNvPr id="40" name="Freeform 9"/>
                <p:cNvSpPr>
                  <a:spLocks/>
                </p:cNvSpPr>
                <p:nvPr/>
              </p:nvSpPr>
              <p:spPr bwMode="auto">
                <a:xfrm>
                  <a:off x="3520" y="764"/>
                  <a:ext cx="698" cy="698"/>
                </a:xfrm>
                <a:custGeom>
                  <a:avLst/>
                  <a:gdLst>
                    <a:gd name="T0" fmla="*/ 4174 w 4185"/>
                    <a:gd name="T1" fmla="*/ 2305 h 4184"/>
                    <a:gd name="T2" fmla="*/ 4119 w 4185"/>
                    <a:gd name="T3" fmla="*/ 2614 h 4184"/>
                    <a:gd name="T4" fmla="*/ 4021 w 4185"/>
                    <a:gd name="T5" fmla="*/ 2906 h 4184"/>
                    <a:gd name="T6" fmla="*/ 3882 w 4185"/>
                    <a:gd name="T7" fmla="*/ 3177 h 4184"/>
                    <a:gd name="T8" fmla="*/ 3708 w 4185"/>
                    <a:gd name="T9" fmla="*/ 3422 h 4184"/>
                    <a:gd name="T10" fmla="*/ 3500 w 4185"/>
                    <a:gd name="T11" fmla="*/ 3640 h 4184"/>
                    <a:gd name="T12" fmla="*/ 3263 w 4185"/>
                    <a:gd name="T13" fmla="*/ 3826 h 4184"/>
                    <a:gd name="T14" fmla="*/ 2999 w 4185"/>
                    <a:gd name="T15" fmla="*/ 3978 h 4184"/>
                    <a:gd name="T16" fmla="*/ 2715 w 4185"/>
                    <a:gd name="T17" fmla="*/ 4089 h 4184"/>
                    <a:gd name="T18" fmla="*/ 2412 w 4185"/>
                    <a:gd name="T19" fmla="*/ 4160 h 4184"/>
                    <a:gd name="T20" fmla="*/ 2093 w 4185"/>
                    <a:gd name="T21" fmla="*/ 4184 h 4184"/>
                    <a:gd name="T22" fmla="*/ 1774 w 4185"/>
                    <a:gd name="T23" fmla="*/ 4160 h 4184"/>
                    <a:gd name="T24" fmla="*/ 1470 w 4185"/>
                    <a:gd name="T25" fmla="*/ 4089 h 4184"/>
                    <a:gd name="T26" fmla="*/ 1185 w 4185"/>
                    <a:gd name="T27" fmla="*/ 3978 h 4184"/>
                    <a:gd name="T28" fmla="*/ 923 w 4185"/>
                    <a:gd name="T29" fmla="*/ 3826 h 4184"/>
                    <a:gd name="T30" fmla="*/ 686 w 4185"/>
                    <a:gd name="T31" fmla="*/ 3640 h 4184"/>
                    <a:gd name="T32" fmla="*/ 478 w 4185"/>
                    <a:gd name="T33" fmla="*/ 3422 h 4184"/>
                    <a:gd name="T34" fmla="*/ 303 w 4185"/>
                    <a:gd name="T35" fmla="*/ 3177 h 4184"/>
                    <a:gd name="T36" fmla="*/ 165 w 4185"/>
                    <a:gd name="T37" fmla="*/ 2906 h 4184"/>
                    <a:gd name="T38" fmla="*/ 66 w 4185"/>
                    <a:gd name="T39" fmla="*/ 2614 h 4184"/>
                    <a:gd name="T40" fmla="*/ 10 w 4185"/>
                    <a:gd name="T41" fmla="*/ 2305 h 4184"/>
                    <a:gd name="T42" fmla="*/ 3 w 4185"/>
                    <a:gd name="T43" fmla="*/ 1984 h 4184"/>
                    <a:gd name="T44" fmla="*/ 42 w 4185"/>
                    <a:gd name="T45" fmla="*/ 1670 h 4184"/>
                    <a:gd name="T46" fmla="*/ 127 w 4185"/>
                    <a:gd name="T47" fmla="*/ 1373 h 4184"/>
                    <a:gd name="T48" fmla="*/ 252 w 4185"/>
                    <a:gd name="T49" fmla="*/ 1095 h 4184"/>
                    <a:gd name="T50" fmla="*/ 416 w 4185"/>
                    <a:gd name="T51" fmla="*/ 839 h 4184"/>
                    <a:gd name="T52" fmla="*/ 613 w 4185"/>
                    <a:gd name="T53" fmla="*/ 612 h 4184"/>
                    <a:gd name="T54" fmla="*/ 841 w 4185"/>
                    <a:gd name="T55" fmla="*/ 415 h 4184"/>
                    <a:gd name="T56" fmla="*/ 1095 w 4185"/>
                    <a:gd name="T57" fmla="*/ 252 h 4184"/>
                    <a:gd name="T58" fmla="*/ 1373 w 4185"/>
                    <a:gd name="T59" fmla="*/ 127 h 4184"/>
                    <a:gd name="T60" fmla="*/ 1671 w 4185"/>
                    <a:gd name="T61" fmla="*/ 42 h 4184"/>
                    <a:gd name="T62" fmla="*/ 1985 w 4185"/>
                    <a:gd name="T63" fmla="*/ 2 h 4184"/>
                    <a:gd name="T64" fmla="*/ 2306 w 4185"/>
                    <a:gd name="T65" fmla="*/ 10 h 4184"/>
                    <a:gd name="T66" fmla="*/ 2616 w 4185"/>
                    <a:gd name="T67" fmla="*/ 65 h 4184"/>
                    <a:gd name="T68" fmla="*/ 2906 w 4185"/>
                    <a:gd name="T69" fmla="*/ 164 h 4184"/>
                    <a:gd name="T70" fmla="*/ 3178 w 4185"/>
                    <a:gd name="T71" fmla="*/ 303 h 4184"/>
                    <a:gd name="T72" fmla="*/ 3424 w 4185"/>
                    <a:gd name="T73" fmla="*/ 477 h 4184"/>
                    <a:gd name="T74" fmla="*/ 3642 w 4185"/>
                    <a:gd name="T75" fmla="*/ 685 h 4184"/>
                    <a:gd name="T76" fmla="*/ 3828 w 4185"/>
                    <a:gd name="T77" fmla="*/ 922 h 4184"/>
                    <a:gd name="T78" fmla="*/ 3979 w 4185"/>
                    <a:gd name="T79" fmla="*/ 1184 h 4184"/>
                    <a:gd name="T80" fmla="*/ 4091 w 4185"/>
                    <a:gd name="T81" fmla="*/ 1469 h 4184"/>
                    <a:gd name="T82" fmla="*/ 4160 w 4185"/>
                    <a:gd name="T83" fmla="*/ 1773 h 4184"/>
                    <a:gd name="T84" fmla="*/ 4185 w 4185"/>
                    <a:gd name="T85" fmla="*/ 2092 h 4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85" h="4184">
                      <a:moveTo>
                        <a:pt x="4185" y="2092"/>
                      </a:moveTo>
                      <a:lnTo>
                        <a:pt x="4182" y="2199"/>
                      </a:lnTo>
                      <a:lnTo>
                        <a:pt x="4174" y="2305"/>
                      </a:lnTo>
                      <a:lnTo>
                        <a:pt x="4160" y="2410"/>
                      </a:lnTo>
                      <a:lnTo>
                        <a:pt x="4142" y="2513"/>
                      </a:lnTo>
                      <a:lnTo>
                        <a:pt x="4119" y="2614"/>
                      </a:lnTo>
                      <a:lnTo>
                        <a:pt x="4091" y="2714"/>
                      </a:lnTo>
                      <a:lnTo>
                        <a:pt x="4058" y="2810"/>
                      </a:lnTo>
                      <a:lnTo>
                        <a:pt x="4021" y="2906"/>
                      </a:lnTo>
                      <a:lnTo>
                        <a:pt x="3979" y="2999"/>
                      </a:lnTo>
                      <a:lnTo>
                        <a:pt x="3932" y="3088"/>
                      </a:lnTo>
                      <a:lnTo>
                        <a:pt x="3882" y="3177"/>
                      </a:lnTo>
                      <a:lnTo>
                        <a:pt x="3828" y="3261"/>
                      </a:lnTo>
                      <a:lnTo>
                        <a:pt x="3769" y="3344"/>
                      </a:lnTo>
                      <a:lnTo>
                        <a:pt x="3708" y="3422"/>
                      </a:lnTo>
                      <a:lnTo>
                        <a:pt x="3642" y="3498"/>
                      </a:lnTo>
                      <a:lnTo>
                        <a:pt x="3572" y="3571"/>
                      </a:lnTo>
                      <a:lnTo>
                        <a:pt x="3500" y="3640"/>
                      </a:lnTo>
                      <a:lnTo>
                        <a:pt x="3424" y="3706"/>
                      </a:lnTo>
                      <a:lnTo>
                        <a:pt x="3344" y="3768"/>
                      </a:lnTo>
                      <a:lnTo>
                        <a:pt x="3263" y="3826"/>
                      </a:lnTo>
                      <a:lnTo>
                        <a:pt x="3178" y="3881"/>
                      </a:lnTo>
                      <a:lnTo>
                        <a:pt x="3090" y="3932"/>
                      </a:lnTo>
                      <a:lnTo>
                        <a:pt x="2999" y="3978"/>
                      </a:lnTo>
                      <a:lnTo>
                        <a:pt x="2906" y="4019"/>
                      </a:lnTo>
                      <a:lnTo>
                        <a:pt x="2812" y="4056"/>
                      </a:lnTo>
                      <a:lnTo>
                        <a:pt x="2715" y="4089"/>
                      </a:lnTo>
                      <a:lnTo>
                        <a:pt x="2616" y="4118"/>
                      </a:lnTo>
                      <a:lnTo>
                        <a:pt x="2514" y="4142"/>
                      </a:lnTo>
                      <a:lnTo>
                        <a:pt x="2412" y="4160"/>
                      </a:lnTo>
                      <a:lnTo>
                        <a:pt x="2306" y="4173"/>
                      </a:lnTo>
                      <a:lnTo>
                        <a:pt x="2201" y="4181"/>
                      </a:lnTo>
                      <a:lnTo>
                        <a:pt x="2093" y="4184"/>
                      </a:lnTo>
                      <a:lnTo>
                        <a:pt x="1985" y="4181"/>
                      </a:lnTo>
                      <a:lnTo>
                        <a:pt x="1878" y="4173"/>
                      </a:lnTo>
                      <a:lnTo>
                        <a:pt x="1774" y="4160"/>
                      </a:lnTo>
                      <a:lnTo>
                        <a:pt x="1671" y="4142"/>
                      </a:lnTo>
                      <a:lnTo>
                        <a:pt x="1570" y="4118"/>
                      </a:lnTo>
                      <a:lnTo>
                        <a:pt x="1470" y="4089"/>
                      </a:lnTo>
                      <a:lnTo>
                        <a:pt x="1373" y="4056"/>
                      </a:lnTo>
                      <a:lnTo>
                        <a:pt x="1278" y="4019"/>
                      </a:lnTo>
                      <a:lnTo>
                        <a:pt x="1185" y="3978"/>
                      </a:lnTo>
                      <a:lnTo>
                        <a:pt x="1095" y="3932"/>
                      </a:lnTo>
                      <a:lnTo>
                        <a:pt x="1008" y="3881"/>
                      </a:lnTo>
                      <a:lnTo>
                        <a:pt x="923" y="3826"/>
                      </a:lnTo>
                      <a:lnTo>
                        <a:pt x="841" y="3768"/>
                      </a:lnTo>
                      <a:lnTo>
                        <a:pt x="762" y="3706"/>
                      </a:lnTo>
                      <a:lnTo>
                        <a:pt x="686" y="3640"/>
                      </a:lnTo>
                      <a:lnTo>
                        <a:pt x="613" y="3571"/>
                      </a:lnTo>
                      <a:lnTo>
                        <a:pt x="544" y="3498"/>
                      </a:lnTo>
                      <a:lnTo>
                        <a:pt x="478" y="3422"/>
                      </a:lnTo>
                      <a:lnTo>
                        <a:pt x="416" y="3344"/>
                      </a:lnTo>
                      <a:lnTo>
                        <a:pt x="358" y="3261"/>
                      </a:lnTo>
                      <a:lnTo>
                        <a:pt x="303" y="3177"/>
                      </a:lnTo>
                      <a:lnTo>
                        <a:pt x="252" y="3088"/>
                      </a:lnTo>
                      <a:lnTo>
                        <a:pt x="207" y="2999"/>
                      </a:lnTo>
                      <a:lnTo>
                        <a:pt x="165" y="2906"/>
                      </a:lnTo>
                      <a:lnTo>
                        <a:pt x="127" y="2810"/>
                      </a:lnTo>
                      <a:lnTo>
                        <a:pt x="94" y="2714"/>
                      </a:lnTo>
                      <a:lnTo>
                        <a:pt x="66" y="2614"/>
                      </a:lnTo>
                      <a:lnTo>
                        <a:pt x="42" y="2513"/>
                      </a:lnTo>
                      <a:lnTo>
                        <a:pt x="24" y="2410"/>
                      </a:lnTo>
                      <a:lnTo>
                        <a:pt x="10" y="2305"/>
                      </a:lnTo>
                      <a:lnTo>
                        <a:pt x="3" y="2199"/>
                      </a:lnTo>
                      <a:lnTo>
                        <a:pt x="0" y="2092"/>
                      </a:lnTo>
                      <a:lnTo>
                        <a:pt x="3" y="1984"/>
                      </a:lnTo>
                      <a:lnTo>
                        <a:pt x="10" y="1878"/>
                      </a:lnTo>
                      <a:lnTo>
                        <a:pt x="24" y="1773"/>
                      </a:lnTo>
                      <a:lnTo>
                        <a:pt x="42" y="1670"/>
                      </a:lnTo>
                      <a:lnTo>
                        <a:pt x="66" y="1569"/>
                      </a:lnTo>
                      <a:lnTo>
                        <a:pt x="94" y="1469"/>
                      </a:lnTo>
                      <a:lnTo>
                        <a:pt x="127" y="1373"/>
                      </a:lnTo>
                      <a:lnTo>
                        <a:pt x="165" y="1277"/>
                      </a:lnTo>
                      <a:lnTo>
                        <a:pt x="207" y="1184"/>
                      </a:lnTo>
                      <a:lnTo>
                        <a:pt x="252" y="1095"/>
                      </a:lnTo>
                      <a:lnTo>
                        <a:pt x="303" y="1006"/>
                      </a:lnTo>
                      <a:lnTo>
                        <a:pt x="358" y="922"/>
                      </a:lnTo>
                      <a:lnTo>
                        <a:pt x="416" y="839"/>
                      </a:lnTo>
                      <a:lnTo>
                        <a:pt x="478" y="761"/>
                      </a:lnTo>
                      <a:lnTo>
                        <a:pt x="544" y="685"/>
                      </a:lnTo>
                      <a:lnTo>
                        <a:pt x="613" y="612"/>
                      </a:lnTo>
                      <a:lnTo>
                        <a:pt x="686" y="543"/>
                      </a:lnTo>
                      <a:lnTo>
                        <a:pt x="762" y="477"/>
                      </a:lnTo>
                      <a:lnTo>
                        <a:pt x="841" y="415"/>
                      </a:lnTo>
                      <a:lnTo>
                        <a:pt x="923" y="357"/>
                      </a:lnTo>
                      <a:lnTo>
                        <a:pt x="1008" y="303"/>
                      </a:lnTo>
                      <a:lnTo>
                        <a:pt x="1095" y="252"/>
                      </a:lnTo>
                      <a:lnTo>
                        <a:pt x="1185" y="206"/>
                      </a:lnTo>
                      <a:lnTo>
                        <a:pt x="1278" y="164"/>
                      </a:lnTo>
                      <a:lnTo>
                        <a:pt x="1373" y="127"/>
                      </a:lnTo>
                      <a:lnTo>
                        <a:pt x="1470" y="94"/>
                      </a:lnTo>
                      <a:lnTo>
                        <a:pt x="1570" y="65"/>
                      </a:lnTo>
                      <a:lnTo>
                        <a:pt x="1671" y="42"/>
                      </a:lnTo>
                      <a:lnTo>
                        <a:pt x="1774" y="24"/>
                      </a:lnTo>
                      <a:lnTo>
                        <a:pt x="1878" y="10"/>
                      </a:lnTo>
                      <a:lnTo>
                        <a:pt x="1985" y="2"/>
                      </a:lnTo>
                      <a:lnTo>
                        <a:pt x="2093" y="0"/>
                      </a:lnTo>
                      <a:lnTo>
                        <a:pt x="2201" y="2"/>
                      </a:lnTo>
                      <a:lnTo>
                        <a:pt x="2306" y="10"/>
                      </a:lnTo>
                      <a:lnTo>
                        <a:pt x="2412" y="24"/>
                      </a:lnTo>
                      <a:lnTo>
                        <a:pt x="2514" y="42"/>
                      </a:lnTo>
                      <a:lnTo>
                        <a:pt x="2616" y="65"/>
                      </a:lnTo>
                      <a:lnTo>
                        <a:pt x="2715" y="94"/>
                      </a:lnTo>
                      <a:lnTo>
                        <a:pt x="2812" y="127"/>
                      </a:lnTo>
                      <a:lnTo>
                        <a:pt x="2906" y="164"/>
                      </a:lnTo>
                      <a:lnTo>
                        <a:pt x="2999" y="206"/>
                      </a:lnTo>
                      <a:lnTo>
                        <a:pt x="3090" y="252"/>
                      </a:lnTo>
                      <a:lnTo>
                        <a:pt x="3178" y="303"/>
                      </a:lnTo>
                      <a:lnTo>
                        <a:pt x="3263" y="357"/>
                      </a:lnTo>
                      <a:lnTo>
                        <a:pt x="3344" y="415"/>
                      </a:lnTo>
                      <a:lnTo>
                        <a:pt x="3424" y="477"/>
                      </a:lnTo>
                      <a:lnTo>
                        <a:pt x="3500" y="543"/>
                      </a:lnTo>
                      <a:lnTo>
                        <a:pt x="3572" y="612"/>
                      </a:lnTo>
                      <a:lnTo>
                        <a:pt x="3642" y="685"/>
                      </a:lnTo>
                      <a:lnTo>
                        <a:pt x="3708" y="761"/>
                      </a:lnTo>
                      <a:lnTo>
                        <a:pt x="3769" y="839"/>
                      </a:lnTo>
                      <a:lnTo>
                        <a:pt x="3828" y="922"/>
                      </a:lnTo>
                      <a:lnTo>
                        <a:pt x="3882" y="1006"/>
                      </a:lnTo>
                      <a:lnTo>
                        <a:pt x="3932" y="1095"/>
                      </a:lnTo>
                      <a:lnTo>
                        <a:pt x="3979" y="1184"/>
                      </a:lnTo>
                      <a:lnTo>
                        <a:pt x="4021" y="1277"/>
                      </a:lnTo>
                      <a:lnTo>
                        <a:pt x="4058" y="1373"/>
                      </a:lnTo>
                      <a:lnTo>
                        <a:pt x="4091" y="1469"/>
                      </a:lnTo>
                      <a:lnTo>
                        <a:pt x="4119" y="1569"/>
                      </a:lnTo>
                      <a:lnTo>
                        <a:pt x="4142" y="1670"/>
                      </a:lnTo>
                      <a:lnTo>
                        <a:pt x="4160" y="1773"/>
                      </a:lnTo>
                      <a:lnTo>
                        <a:pt x="4174" y="1878"/>
                      </a:lnTo>
                      <a:lnTo>
                        <a:pt x="4182" y="1984"/>
                      </a:lnTo>
                      <a:lnTo>
                        <a:pt x="4185" y="2092"/>
                      </a:lnTo>
                      <a:close/>
                    </a:path>
                  </a:pathLst>
                </a:custGeom>
                <a:solidFill>
                  <a:srgbClr val="EFEFEF"/>
                </a:solidFill>
                <a:ln>
                  <a:noFill/>
                </a:ln>
                <a:effectLst>
                  <a:innerShdw blurRad="114300">
                    <a:prstClr val="black"/>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a:endParaRPr lang="en-US" sz="1800">
                    <a:solidFill>
                      <a:prstClr val="black"/>
                    </a:solidFill>
                    <a:latin typeface="Calibri" panose="020F0502020204030204"/>
                  </a:endParaRPr>
                </a:p>
              </p:txBody>
            </p:sp>
            <p:sp>
              <p:nvSpPr>
                <p:cNvPr id="41" name="Freeform 10"/>
                <p:cNvSpPr>
                  <a:spLocks/>
                </p:cNvSpPr>
                <p:nvPr/>
              </p:nvSpPr>
              <p:spPr bwMode="auto">
                <a:xfrm>
                  <a:off x="3488" y="2871"/>
                  <a:ext cx="697" cy="698"/>
                </a:xfrm>
                <a:custGeom>
                  <a:avLst/>
                  <a:gdLst>
                    <a:gd name="T0" fmla="*/ 4174 w 4184"/>
                    <a:gd name="T1" fmla="*/ 2306 h 4184"/>
                    <a:gd name="T2" fmla="*/ 4118 w 4184"/>
                    <a:gd name="T3" fmla="*/ 2614 h 4184"/>
                    <a:gd name="T4" fmla="*/ 4020 w 4184"/>
                    <a:gd name="T5" fmla="*/ 2906 h 4184"/>
                    <a:gd name="T6" fmla="*/ 3881 w 4184"/>
                    <a:gd name="T7" fmla="*/ 3177 h 4184"/>
                    <a:gd name="T8" fmla="*/ 3706 w 4184"/>
                    <a:gd name="T9" fmla="*/ 3422 h 4184"/>
                    <a:gd name="T10" fmla="*/ 3499 w 4184"/>
                    <a:gd name="T11" fmla="*/ 3640 h 4184"/>
                    <a:gd name="T12" fmla="*/ 3262 w 4184"/>
                    <a:gd name="T13" fmla="*/ 3826 h 4184"/>
                    <a:gd name="T14" fmla="*/ 2999 w 4184"/>
                    <a:gd name="T15" fmla="*/ 3977 h 4184"/>
                    <a:gd name="T16" fmla="*/ 2715 w 4184"/>
                    <a:gd name="T17" fmla="*/ 4089 h 4184"/>
                    <a:gd name="T18" fmla="*/ 2410 w 4184"/>
                    <a:gd name="T19" fmla="*/ 4160 h 4184"/>
                    <a:gd name="T20" fmla="*/ 2092 w 4184"/>
                    <a:gd name="T21" fmla="*/ 4184 h 4184"/>
                    <a:gd name="T22" fmla="*/ 1774 w 4184"/>
                    <a:gd name="T23" fmla="*/ 4160 h 4184"/>
                    <a:gd name="T24" fmla="*/ 1470 w 4184"/>
                    <a:gd name="T25" fmla="*/ 4089 h 4184"/>
                    <a:gd name="T26" fmla="*/ 1185 w 4184"/>
                    <a:gd name="T27" fmla="*/ 3977 h 4184"/>
                    <a:gd name="T28" fmla="*/ 922 w 4184"/>
                    <a:gd name="T29" fmla="*/ 3826 h 4184"/>
                    <a:gd name="T30" fmla="*/ 686 w 4184"/>
                    <a:gd name="T31" fmla="*/ 3640 h 4184"/>
                    <a:gd name="T32" fmla="*/ 478 w 4184"/>
                    <a:gd name="T33" fmla="*/ 3422 h 4184"/>
                    <a:gd name="T34" fmla="*/ 302 w 4184"/>
                    <a:gd name="T35" fmla="*/ 3177 h 4184"/>
                    <a:gd name="T36" fmla="*/ 164 w 4184"/>
                    <a:gd name="T37" fmla="*/ 2906 h 4184"/>
                    <a:gd name="T38" fmla="*/ 66 w 4184"/>
                    <a:gd name="T39" fmla="*/ 2614 h 4184"/>
                    <a:gd name="T40" fmla="*/ 10 w 4184"/>
                    <a:gd name="T41" fmla="*/ 2306 h 4184"/>
                    <a:gd name="T42" fmla="*/ 2 w 4184"/>
                    <a:gd name="T43" fmla="*/ 1984 h 4184"/>
                    <a:gd name="T44" fmla="*/ 42 w 4184"/>
                    <a:gd name="T45" fmla="*/ 1670 h 4184"/>
                    <a:gd name="T46" fmla="*/ 126 w 4184"/>
                    <a:gd name="T47" fmla="*/ 1372 h 4184"/>
                    <a:gd name="T48" fmla="*/ 252 w 4184"/>
                    <a:gd name="T49" fmla="*/ 1095 h 4184"/>
                    <a:gd name="T50" fmla="*/ 416 w 4184"/>
                    <a:gd name="T51" fmla="*/ 840 h 4184"/>
                    <a:gd name="T52" fmla="*/ 613 w 4184"/>
                    <a:gd name="T53" fmla="*/ 613 h 4184"/>
                    <a:gd name="T54" fmla="*/ 840 w 4184"/>
                    <a:gd name="T55" fmla="*/ 415 h 4184"/>
                    <a:gd name="T56" fmla="*/ 1094 w 4184"/>
                    <a:gd name="T57" fmla="*/ 252 h 4184"/>
                    <a:gd name="T58" fmla="*/ 1372 w 4184"/>
                    <a:gd name="T59" fmla="*/ 126 h 4184"/>
                    <a:gd name="T60" fmla="*/ 1671 w 4184"/>
                    <a:gd name="T61" fmla="*/ 42 h 4184"/>
                    <a:gd name="T62" fmla="*/ 1985 w 4184"/>
                    <a:gd name="T63" fmla="*/ 2 h 4184"/>
                    <a:gd name="T64" fmla="*/ 2306 w 4184"/>
                    <a:gd name="T65" fmla="*/ 10 h 4184"/>
                    <a:gd name="T66" fmla="*/ 2615 w 4184"/>
                    <a:gd name="T67" fmla="*/ 66 h 4184"/>
                    <a:gd name="T68" fmla="*/ 2906 w 4184"/>
                    <a:gd name="T69" fmla="*/ 163 h 4184"/>
                    <a:gd name="T70" fmla="*/ 3176 w 4184"/>
                    <a:gd name="T71" fmla="*/ 303 h 4184"/>
                    <a:gd name="T72" fmla="*/ 3423 w 4184"/>
                    <a:gd name="T73" fmla="*/ 478 h 4184"/>
                    <a:gd name="T74" fmla="*/ 3641 w 4184"/>
                    <a:gd name="T75" fmla="*/ 685 h 4184"/>
                    <a:gd name="T76" fmla="*/ 3827 w 4184"/>
                    <a:gd name="T77" fmla="*/ 922 h 4184"/>
                    <a:gd name="T78" fmla="*/ 3978 w 4184"/>
                    <a:gd name="T79" fmla="*/ 1184 h 4184"/>
                    <a:gd name="T80" fmla="*/ 4090 w 4184"/>
                    <a:gd name="T81" fmla="*/ 1469 h 4184"/>
                    <a:gd name="T82" fmla="*/ 4160 w 4184"/>
                    <a:gd name="T83" fmla="*/ 1773 h 4184"/>
                    <a:gd name="T84" fmla="*/ 4184 w 4184"/>
                    <a:gd name="T85" fmla="*/ 2091 h 4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84" h="4184">
                      <a:moveTo>
                        <a:pt x="4184" y="2091"/>
                      </a:moveTo>
                      <a:lnTo>
                        <a:pt x="4182" y="2199"/>
                      </a:lnTo>
                      <a:lnTo>
                        <a:pt x="4174" y="2306"/>
                      </a:lnTo>
                      <a:lnTo>
                        <a:pt x="4160" y="2410"/>
                      </a:lnTo>
                      <a:lnTo>
                        <a:pt x="4142" y="2513"/>
                      </a:lnTo>
                      <a:lnTo>
                        <a:pt x="4118" y="2614"/>
                      </a:lnTo>
                      <a:lnTo>
                        <a:pt x="4090" y="2714"/>
                      </a:lnTo>
                      <a:lnTo>
                        <a:pt x="4057" y="2811"/>
                      </a:lnTo>
                      <a:lnTo>
                        <a:pt x="4020" y="2906"/>
                      </a:lnTo>
                      <a:lnTo>
                        <a:pt x="3978" y="2999"/>
                      </a:lnTo>
                      <a:lnTo>
                        <a:pt x="3932" y="3089"/>
                      </a:lnTo>
                      <a:lnTo>
                        <a:pt x="3881" y="3177"/>
                      </a:lnTo>
                      <a:lnTo>
                        <a:pt x="3827" y="3261"/>
                      </a:lnTo>
                      <a:lnTo>
                        <a:pt x="3769" y="3344"/>
                      </a:lnTo>
                      <a:lnTo>
                        <a:pt x="3706" y="3422"/>
                      </a:lnTo>
                      <a:lnTo>
                        <a:pt x="3641" y="3498"/>
                      </a:lnTo>
                      <a:lnTo>
                        <a:pt x="3571" y="3571"/>
                      </a:lnTo>
                      <a:lnTo>
                        <a:pt x="3499" y="3640"/>
                      </a:lnTo>
                      <a:lnTo>
                        <a:pt x="3423" y="3706"/>
                      </a:lnTo>
                      <a:lnTo>
                        <a:pt x="3344" y="3768"/>
                      </a:lnTo>
                      <a:lnTo>
                        <a:pt x="3262" y="3826"/>
                      </a:lnTo>
                      <a:lnTo>
                        <a:pt x="3176" y="3881"/>
                      </a:lnTo>
                      <a:lnTo>
                        <a:pt x="3089" y="3932"/>
                      </a:lnTo>
                      <a:lnTo>
                        <a:pt x="2999" y="3977"/>
                      </a:lnTo>
                      <a:lnTo>
                        <a:pt x="2906" y="4019"/>
                      </a:lnTo>
                      <a:lnTo>
                        <a:pt x="2811" y="4057"/>
                      </a:lnTo>
                      <a:lnTo>
                        <a:pt x="2715" y="4089"/>
                      </a:lnTo>
                      <a:lnTo>
                        <a:pt x="2615" y="4118"/>
                      </a:lnTo>
                      <a:lnTo>
                        <a:pt x="2514" y="4142"/>
                      </a:lnTo>
                      <a:lnTo>
                        <a:pt x="2410" y="4160"/>
                      </a:lnTo>
                      <a:lnTo>
                        <a:pt x="2306" y="4173"/>
                      </a:lnTo>
                      <a:lnTo>
                        <a:pt x="2199" y="4181"/>
                      </a:lnTo>
                      <a:lnTo>
                        <a:pt x="2092" y="4184"/>
                      </a:lnTo>
                      <a:lnTo>
                        <a:pt x="1985" y="4181"/>
                      </a:lnTo>
                      <a:lnTo>
                        <a:pt x="1878" y="4173"/>
                      </a:lnTo>
                      <a:lnTo>
                        <a:pt x="1774" y="4160"/>
                      </a:lnTo>
                      <a:lnTo>
                        <a:pt x="1671" y="4142"/>
                      </a:lnTo>
                      <a:lnTo>
                        <a:pt x="1570" y="4118"/>
                      </a:lnTo>
                      <a:lnTo>
                        <a:pt x="1470" y="4089"/>
                      </a:lnTo>
                      <a:lnTo>
                        <a:pt x="1372" y="4057"/>
                      </a:lnTo>
                      <a:lnTo>
                        <a:pt x="1278" y="4019"/>
                      </a:lnTo>
                      <a:lnTo>
                        <a:pt x="1185" y="3977"/>
                      </a:lnTo>
                      <a:lnTo>
                        <a:pt x="1094" y="3932"/>
                      </a:lnTo>
                      <a:lnTo>
                        <a:pt x="1007" y="3881"/>
                      </a:lnTo>
                      <a:lnTo>
                        <a:pt x="922" y="3826"/>
                      </a:lnTo>
                      <a:lnTo>
                        <a:pt x="840" y="3768"/>
                      </a:lnTo>
                      <a:lnTo>
                        <a:pt x="762" y="3706"/>
                      </a:lnTo>
                      <a:lnTo>
                        <a:pt x="686" y="3640"/>
                      </a:lnTo>
                      <a:lnTo>
                        <a:pt x="613" y="3571"/>
                      </a:lnTo>
                      <a:lnTo>
                        <a:pt x="544" y="3498"/>
                      </a:lnTo>
                      <a:lnTo>
                        <a:pt x="478" y="3422"/>
                      </a:lnTo>
                      <a:lnTo>
                        <a:pt x="416" y="3344"/>
                      </a:lnTo>
                      <a:lnTo>
                        <a:pt x="357" y="3261"/>
                      </a:lnTo>
                      <a:lnTo>
                        <a:pt x="302" y="3177"/>
                      </a:lnTo>
                      <a:lnTo>
                        <a:pt x="252" y="3089"/>
                      </a:lnTo>
                      <a:lnTo>
                        <a:pt x="206" y="2999"/>
                      </a:lnTo>
                      <a:lnTo>
                        <a:pt x="164" y="2906"/>
                      </a:lnTo>
                      <a:lnTo>
                        <a:pt x="126" y="2811"/>
                      </a:lnTo>
                      <a:lnTo>
                        <a:pt x="93" y="2714"/>
                      </a:lnTo>
                      <a:lnTo>
                        <a:pt x="66" y="2614"/>
                      </a:lnTo>
                      <a:lnTo>
                        <a:pt x="42" y="2513"/>
                      </a:lnTo>
                      <a:lnTo>
                        <a:pt x="24" y="2410"/>
                      </a:lnTo>
                      <a:lnTo>
                        <a:pt x="10" y="2306"/>
                      </a:lnTo>
                      <a:lnTo>
                        <a:pt x="2" y="2199"/>
                      </a:lnTo>
                      <a:lnTo>
                        <a:pt x="0" y="2091"/>
                      </a:lnTo>
                      <a:lnTo>
                        <a:pt x="2" y="1984"/>
                      </a:lnTo>
                      <a:lnTo>
                        <a:pt x="10" y="1878"/>
                      </a:lnTo>
                      <a:lnTo>
                        <a:pt x="24" y="1773"/>
                      </a:lnTo>
                      <a:lnTo>
                        <a:pt x="42" y="1670"/>
                      </a:lnTo>
                      <a:lnTo>
                        <a:pt x="66" y="1569"/>
                      </a:lnTo>
                      <a:lnTo>
                        <a:pt x="93" y="1469"/>
                      </a:lnTo>
                      <a:lnTo>
                        <a:pt x="126" y="1372"/>
                      </a:lnTo>
                      <a:lnTo>
                        <a:pt x="164" y="1278"/>
                      </a:lnTo>
                      <a:lnTo>
                        <a:pt x="206" y="1184"/>
                      </a:lnTo>
                      <a:lnTo>
                        <a:pt x="252" y="1095"/>
                      </a:lnTo>
                      <a:lnTo>
                        <a:pt x="302" y="1006"/>
                      </a:lnTo>
                      <a:lnTo>
                        <a:pt x="357" y="922"/>
                      </a:lnTo>
                      <a:lnTo>
                        <a:pt x="416" y="840"/>
                      </a:lnTo>
                      <a:lnTo>
                        <a:pt x="478" y="761"/>
                      </a:lnTo>
                      <a:lnTo>
                        <a:pt x="544" y="685"/>
                      </a:lnTo>
                      <a:lnTo>
                        <a:pt x="613" y="613"/>
                      </a:lnTo>
                      <a:lnTo>
                        <a:pt x="686" y="543"/>
                      </a:lnTo>
                      <a:lnTo>
                        <a:pt x="762" y="478"/>
                      </a:lnTo>
                      <a:lnTo>
                        <a:pt x="840" y="415"/>
                      </a:lnTo>
                      <a:lnTo>
                        <a:pt x="922" y="356"/>
                      </a:lnTo>
                      <a:lnTo>
                        <a:pt x="1007" y="303"/>
                      </a:lnTo>
                      <a:lnTo>
                        <a:pt x="1094" y="252"/>
                      </a:lnTo>
                      <a:lnTo>
                        <a:pt x="1185" y="205"/>
                      </a:lnTo>
                      <a:lnTo>
                        <a:pt x="1278" y="163"/>
                      </a:lnTo>
                      <a:lnTo>
                        <a:pt x="1372" y="126"/>
                      </a:lnTo>
                      <a:lnTo>
                        <a:pt x="1470" y="93"/>
                      </a:lnTo>
                      <a:lnTo>
                        <a:pt x="1570" y="66"/>
                      </a:lnTo>
                      <a:lnTo>
                        <a:pt x="1671" y="42"/>
                      </a:lnTo>
                      <a:lnTo>
                        <a:pt x="1774" y="24"/>
                      </a:lnTo>
                      <a:lnTo>
                        <a:pt x="1878" y="10"/>
                      </a:lnTo>
                      <a:lnTo>
                        <a:pt x="1985" y="2"/>
                      </a:lnTo>
                      <a:lnTo>
                        <a:pt x="2092" y="0"/>
                      </a:lnTo>
                      <a:lnTo>
                        <a:pt x="2199" y="2"/>
                      </a:lnTo>
                      <a:lnTo>
                        <a:pt x="2306" y="10"/>
                      </a:lnTo>
                      <a:lnTo>
                        <a:pt x="2410" y="24"/>
                      </a:lnTo>
                      <a:lnTo>
                        <a:pt x="2514" y="42"/>
                      </a:lnTo>
                      <a:lnTo>
                        <a:pt x="2615" y="66"/>
                      </a:lnTo>
                      <a:lnTo>
                        <a:pt x="2715" y="93"/>
                      </a:lnTo>
                      <a:lnTo>
                        <a:pt x="2811" y="126"/>
                      </a:lnTo>
                      <a:lnTo>
                        <a:pt x="2906" y="163"/>
                      </a:lnTo>
                      <a:lnTo>
                        <a:pt x="2999" y="205"/>
                      </a:lnTo>
                      <a:lnTo>
                        <a:pt x="3089" y="252"/>
                      </a:lnTo>
                      <a:lnTo>
                        <a:pt x="3176" y="303"/>
                      </a:lnTo>
                      <a:lnTo>
                        <a:pt x="3262" y="356"/>
                      </a:lnTo>
                      <a:lnTo>
                        <a:pt x="3344" y="415"/>
                      </a:lnTo>
                      <a:lnTo>
                        <a:pt x="3423" y="478"/>
                      </a:lnTo>
                      <a:lnTo>
                        <a:pt x="3499" y="543"/>
                      </a:lnTo>
                      <a:lnTo>
                        <a:pt x="3571" y="613"/>
                      </a:lnTo>
                      <a:lnTo>
                        <a:pt x="3641" y="685"/>
                      </a:lnTo>
                      <a:lnTo>
                        <a:pt x="3706" y="761"/>
                      </a:lnTo>
                      <a:lnTo>
                        <a:pt x="3769" y="840"/>
                      </a:lnTo>
                      <a:lnTo>
                        <a:pt x="3827" y="922"/>
                      </a:lnTo>
                      <a:lnTo>
                        <a:pt x="3881" y="1006"/>
                      </a:lnTo>
                      <a:lnTo>
                        <a:pt x="3932" y="1095"/>
                      </a:lnTo>
                      <a:lnTo>
                        <a:pt x="3978" y="1184"/>
                      </a:lnTo>
                      <a:lnTo>
                        <a:pt x="4020" y="1278"/>
                      </a:lnTo>
                      <a:lnTo>
                        <a:pt x="4057" y="1372"/>
                      </a:lnTo>
                      <a:lnTo>
                        <a:pt x="4090" y="1469"/>
                      </a:lnTo>
                      <a:lnTo>
                        <a:pt x="4118" y="1569"/>
                      </a:lnTo>
                      <a:lnTo>
                        <a:pt x="4142" y="1670"/>
                      </a:lnTo>
                      <a:lnTo>
                        <a:pt x="4160" y="1773"/>
                      </a:lnTo>
                      <a:lnTo>
                        <a:pt x="4174" y="1878"/>
                      </a:lnTo>
                      <a:lnTo>
                        <a:pt x="4182" y="1984"/>
                      </a:lnTo>
                      <a:lnTo>
                        <a:pt x="4184" y="2091"/>
                      </a:lnTo>
                      <a:close/>
                    </a:path>
                  </a:pathLst>
                </a:custGeom>
                <a:solidFill>
                  <a:srgbClr val="EFEFEF"/>
                </a:solidFill>
                <a:ln>
                  <a:noFill/>
                </a:ln>
                <a:effectLst>
                  <a:innerShdw blurRad="114300">
                    <a:prstClr val="black"/>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a:endParaRPr lang="en-US" sz="1800">
                    <a:solidFill>
                      <a:prstClr val="black"/>
                    </a:solidFill>
                    <a:latin typeface="Calibri" panose="020F0502020204030204"/>
                  </a:endParaRPr>
                </a:p>
              </p:txBody>
            </p:sp>
            <p:sp>
              <p:nvSpPr>
                <p:cNvPr id="42" name="Freeform 11"/>
                <p:cNvSpPr>
                  <a:spLocks/>
                </p:cNvSpPr>
                <p:nvPr/>
              </p:nvSpPr>
              <p:spPr bwMode="auto">
                <a:xfrm>
                  <a:off x="2448" y="1789"/>
                  <a:ext cx="698" cy="697"/>
                </a:xfrm>
                <a:custGeom>
                  <a:avLst/>
                  <a:gdLst>
                    <a:gd name="T0" fmla="*/ 4173 w 4184"/>
                    <a:gd name="T1" fmla="*/ 2306 h 4185"/>
                    <a:gd name="T2" fmla="*/ 4119 w 4184"/>
                    <a:gd name="T3" fmla="*/ 2616 h 4185"/>
                    <a:gd name="T4" fmla="*/ 4020 w 4184"/>
                    <a:gd name="T5" fmla="*/ 2908 h 4185"/>
                    <a:gd name="T6" fmla="*/ 3881 w 4184"/>
                    <a:gd name="T7" fmla="*/ 3178 h 4185"/>
                    <a:gd name="T8" fmla="*/ 3707 w 4184"/>
                    <a:gd name="T9" fmla="*/ 3424 h 4185"/>
                    <a:gd name="T10" fmla="*/ 3499 w 4184"/>
                    <a:gd name="T11" fmla="*/ 3642 h 4185"/>
                    <a:gd name="T12" fmla="*/ 3262 w 4184"/>
                    <a:gd name="T13" fmla="*/ 3828 h 4185"/>
                    <a:gd name="T14" fmla="*/ 2999 w 4184"/>
                    <a:gd name="T15" fmla="*/ 3979 h 4185"/>
                    <a:gd name="T16" fmla="*/ 2714 w 4184"/>
                    <a:gd name="T17" fmla="*/ 4091 h 4185"/>
                    <a:gd name="T18" fmla="*/ 2411 w 4184"/>
                    <a:gd name="T19" fmla="*/ 4161 h 4185"/>
                    <a:gd name="T20" fmla="*/ 2092 w 4184"/>
                    <a:gd name="T21" fmla="*/ 4185 h 4185"/>
                    <a:gd name="T22" fmla="*/ 1773 w 4184"/>
                    <a:gd name="T23" fmla="*/ 4161 h 4185"/>
                    <a:gd name="T24" fmla="*/ 1470 w 4184"/>
                    <a:gd name="T25" fmla="*/ 4091 h 4185"/>
                    <a:gd name="T26" fmla="*/ 1185 w 4184"/>
                    <a:gd name="T27" fmla="*/ 3979 h 4185"/>
                    <a:gd name="T28" fmla="*/ 922 w 4184"/>
                    <a:gd name="T29" fmla="*/ 3828 h 4185"/>
                    <a:gd name="T30" fmla="*/ 685 w 4184"/>
                    <a:gd name="T31" fmla="*/ 3642 h 4185"/>
                    <a:gd name="T32" fmla="*/ 477 w 4184"/>
                    <a:gd name="T33" fmla="*/ 3424 h 4185"/>
                    <a:gd name="T34" fmla="*/ 302 w 4184"/>
                    <a:gd name="T35" fmla="*/ 3178 h 4185"/>
                    <a:gd name="T36" fmla="*/ 164 w 4184"/>
                    <a:gd name="T37" fmla="*/ 2908 h 4185"/>
                    <a:gd name="T38" fmla="*/ 65 w 4184"/>
                    <a:gd name="T39" fmla="*/ 2616 h 4185"/>
                    <a:gd name="T40" fmla="*/ 11 w 4184"/>
                    <a:gd name="T41" fmla="*/ 2306 h 4185"/>
                    <a:gd name="T42" fmla="*/ 2 w 4184"/>
                    <a:gd name="T43" fmla="*/ 1985 h 4185"/>
                    <a:gd name="T44" fmla="*/ 43 w 4184"/>
                    <a:gd name="T45" fmla="*/ 1671 h 4185"/>
                    <a:gd name="T46" fmla="*/ 127 w 4184"/>
                    <a:gd name="T47" fmla="*/ 1373 h 4185"/>
                    <a:gd name="T48" fmla="*/ 253 w 4184"/>
                    <a:gd name="T49" fmla="*/ 1095 h 4185"/>
                    <a:gd name="T50" fmla="*/ 415 w 4184"/>
                    <a:gd name="T51" fmla="*/ 841 h 4185"/>
                    <a:gd name="T52" fmla="*/ 612 w 4184"/>
                    <a:gd name="T53" fmla="*/ 613 h 4185"/>
                    <a:gd name="T54" fmla="*/ 840 w 4184"/>
                    <a:gd name="T55" fmla="*/ 416 h 4185"/>
                    <a:gd name="T56" fmla="*/ 1095 w 4184"/>
                    <a:gd name="T57" fmla="*/ 253 h 4185"/>
                    <a:gd name="T58" fmla="*/ 1373 w 4184"/>
                    <a:gd name="T59" fmla="*/ 127 h 4185"/>
                    <a:gd name="T60" fmla="*/ 1670 w 4184"/>
                    <a:gd name="T61" fmla="*/ 43 h 4185"/>
                    <a:gd name="T62" fmla="*/ 1984 w 4184"/>
                    <a:gd name="T63" fmla="*/ 4 h 4185"/>
                    <a:gd name="T64" fmla="*/ 2305 w 4184"/>
                    <a:gd name="T65" fmla="*/ 12 h 4185"/>
                    <a:gd name="T66" fmla="*/ 2615 w 4184"/>
                    <a:gd name="T67" fmla="*/ 66 h 4185"/>
                    <a:gd name="T68" fmla="*/ 2907 w 4184"/>
                    <a:gd name="T69" fmla="*/ 165 h 4185"/>
                    <a:gd name="T70" fmla="*/ 3177 w 4184"/>
                    <a:gd name="T71" fmla="*/ 303 h 4185"/>
                    <a:gd name="T72" fmla="*/ 3423 w 4184"/>
                    <a:gd name="T73" fmla="*/ 478 h 4185"/>
                    <a:gd name="T74" fmla="*/ 3641 w 4184"/>
                    <a:gd name="T75" fmla="*/ 686 h 4185"/>
                    <a:gd name="T76" fmla="*/ 3827 w 4184"/>
                    <a:gd name="T77" fmla="*/ 923 h 4185"/>
                    <a:gd name="T78" fmla="*/ 3978 w 4184"/>
                    <a:gd name="T79" fmla="*/ 1186 h 4185"/>
                    <a:gd name="T80" fmla="*/ 4090 w 4184"/>
                    <a:gd name="T81" fmla="*/ 1471 h 4185"/>
                    <a:gd name="T82" fmla="*/ 4161 w 4184"/>
                    <a:gd name="T83" fmla="*/ 1774 h 4185"/>
                    <a:gd name="T84" fmla="*/ 4184 w 4184"/>
                    <a:gd name="T85" fmla="*/ 2093 h 4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84" h="4185">
                      <a:moveTo>
                        <a:pt x="4184" y="2093"/>
                      </a:moveTo>
                      <a:lnTo>
                        <a:pt x="4181" y="2201"/>
                      </a:lnTo>
                      <a:lnTo>
                        <a:pt x="4173" y="2306"/>
                      </a:lnTo>
                      <a:lnTo>
                        <a:pt x="4161" y="2412"/>
                      </a:lnTo>
                      <a:lnTo>
                        <a:pt x="4141" y="2515"/>
                      </a:lnTo>
                      <a:lnTo>
                        <a:pt x="4119" y="2616"/>
                      </a:lnTo>
                      <a:lnTo>
                        <a:pt x="4090" y="2715"/>
                      </a:lnTo>
                      <a:lnTo>
                        <a:pt x="4057" y="2812"/>
                      </a:lnTo>
                      <a:lnTo>
                        <a:pt x="4020" y="2908"/>
                      </a:lnTo>
                      <a:lnTo>
                        <a:pt x="3978" y="2999"/>
                      </a:lnTo>
                      <a:lnTo>
                        <a:pt x="3931" y="3090"/>
                      </a:lnTo>
                      <a:lnTo>
                        <a:pt x="3881" y="3178"/>
                      </a:lnTo>
                      <a:lnTo>
                        <a:pt x="3827" y="3263"/>
                      </a:lnTo>
                      <a:lnTo>
                        <a:pt x="3768" y="3344"/>
                      </a:lnTo>
                      <a:lnTo>
                        <a:pt x="3707" y="3424"/>
                      </a:lnTo>
                      <a:lnTo>
                        <a:pt x="3641" y="3500"/>
                      </a:lnTo>
                      <a:lnTo>
                        <a:pt x="3572" y="3573"/>
                      </a:lnTo>
                      <a:lnTo>
                        <a:pt x="3499" y="3642"/>
                      </a:lnTo>
                      <a:lnTo>
                        <a:pt x="3423" y="3708"/>
                      </a:lnTo>
                      <a:lnTo>
                        <a:pt x="3344" y="3769"/>
                      </a:lnTo>
                      <a:lnTo>
                        <a:pt x="3262" y="3828"/>
                      </a:lnTo>
                      <a:lnTo>
                        <a:pt x="3177" y="3882"/>
                      </a:lnTo>
                      <a:lnTo>
                        <a:pt x="3089" y="3932"/>
                      </a:lnTo>
                      <a:lnTo>
                        <a:pt x="2999" y="3979"/>
                      </a:lnTo>
                      <a:lnTo>
                        <a:pt x="2907" y="4021"/>
                      </a:lnTo>
                      <a:lnTo>
                        <a:pt x="2811" y="4058"/>
                      </a:lnTo>
                      <a:lnTo>
                        <a:pt x="2714" y="4091"/>
                      </a:lnTo>
                      <a:lnTo>
                        <a:pt x="2615" y="4119"/>
                      </a:lnTo>
                      <a:lnTo>
                        <a:pt x="2514" y="4142"/>
                      </a:lnTo>
                      <a:lnTo>
                        <a:pt x="2411" y="4161"/>
                      </a:lnTo>
                      <a:lnTo>
                        <a:pt x="2305" y="4174"/>
                      </a:lnTo>
                      <a:lnTo>
                        <a:pt x="2200" y="4182"/>
                      </a:lnTo>
                      <a:lnTo>
                        <a:pt x="2092" y="4185"/>
                      </a:lnTo>
                      <a:lnTo>
                        <a:pt x="1984" y="4182"/>
                      </a:lnTo>
                      <a:lnTo>
                        <a:pt x="1878" y="4174"/>
                      </a:lnTo>
                      <a:lnTo>
                        <a:pt x="1773" y="4161"/>
                      </a:lnTo>
                      <a:lnTo>
                        <a:pt x="1670" y="4142"/>
                      </a:lnTo>
                      <a:lnTo>
                        <a:pt x="1569" y="4119"/>
                      </a:lnTo>
                      <a:lnTo>
                        <a:pt x="1470" y="4091"/>
                      </a:lnTo>
                      <a:lnTo>
                        <a:pt x="1373" y="4058"/>
                      </a:lnTo>
                      <a:lnTo>
                        <a:pt x="1277" y="4021"/>
                      </a:lnTo>
                      <a:lnTo>
                        <a:pt x="1185" y="3979"/>
                      </a:lnTo>
                      <a:lnTo>
                        <a:pt x="1095" y="3932"/>
                      </a:lnTo>
                      <a:lnTo>
                        <a:pt x="1007" y="3882"/>
                      </a:lnTo>
                      <a:lnTo>
                        <a:pt x="922" y="3828"/>
                      </a:lnTo>
                      <a:lnTo>
                        <a:pt x="840" y="3769"/>
                      </a:lnTo>
                      <a:lnTo>
                        <a:pt x="761" y="3708"/>
                      </a:lnTo>
                      <a:lnTo>
                        <a:pt x="685" y="3642"/>
                      </a:lnTo>
                      <a:lnTo>
                        <a:pt x="612" y="3573"/>
                      </a:lnTo>
                      <a:lnTo>
                        <a:pt x="543" y="3500"/>
                      </a:lnTo>
                      <a:lnTo>
                        <a:pt x="477" y="3424"/>
                      </a:lnTo>
                      <a:lnTo>
                        <a:pt x="415" y="3344"/>
                      </a:lnTo>
                      <a:lnTo>
                        <a:pt x="357" y="3263"/>
                      </a:lnTo>
                      <a:lnTo>
                        <a:pt x="302" y="3178"/>
                      </a:lnTo>
                      <a:lnTo>
                        <a:pt x="253" y="3090"/>
                      </a:lnTo>
                      <a:lnTo>
                        <a:pt x="206" y="2999"/>
                      </a:lnTo>
                      <a:lnTo>
                        <a:pt x="164" y="2908"/>
                      </a:lnTo>
                      <a:lnTo>
                        <a:pt x="127" y="2812"/>
                      </a:lnTo>
                      <a:lnTo>
                        <a:pt x="94" y="2715"/>
                      </a:lnTo>
                      <a:lnTo>
                        <a:pt x="65" y="2616"/>
                      </a:lnTo>
                      <a:lnTo>
                        <a:pt x="43" y="2515"/>
                      </a:lnTo>
                      <a:lnTo>
                        <a:pt x="23" y="2412"/>
                      </a:lnTo>
                      <a:lnTo>
                        <a:pt x="11" y="2306"/>
                      </a:lnTo>
                      <a:lnTo>
                        <a:pt x="2" y="2201"/>
                      </a:lnTo>
                      <a:lnTo>
                        <a:pt x="0" y="2093"/>
                      </a:lnTo>
                      <a:lnTo>
                        <a:pt x="2" y="1985"/>
                      </a:lnTo>
                      <a:lnTo>
                        <a:pt x="11" y="1878"/>
                      </a:lnTo>
                      <a:lnTo>
                        <a:pt x="23" y="1774"/>
                      </a:lnTo>
                      <a:lnTo>
                        <a:pt x="43" y="1671"/>
                      </a:lnTo>
                      <a:lnTo>
                        <a:pt x="65" y="1570"/>
                      </a:lnTo>
                      <a:lnTo>
                        <a:pt x="94" y="1471"/>
                      </a:lnTo>
                      <a:lnTo>
                        <a:pt x="127" y="1373"/>
                      </a:lnTo>
                      <a:lnTo>
                        <a:pt x="164" y="1278"/>
                      </a:lnTo>
                      <a:lnTo>
                        <a:pt x="206" y="1186"/>
                      </a:lnTo>
                      <a:lnTo>
                        <a:pt x="253" y="1095"/>
                      </a:lnTo>
                      <a:lnTo>
                        <a:pt x="302" y="1008"/>
                      </a:lnTo>
                      <a:lnTo>
                        <a:pt x="357" y="923"/>
                      </a:lnTo>
                      <a:lnTo>
                        <a:pt x="415" y="841"/>
                      </a:lnTo>
                      <a:lnTo>
                        <a:pt x="477" y="762"/>
                      </a:lnTo>
                      <a:lnTo>
                        <a:pt x="543" y="686"/>
                      </a:lnTo>
                      <a:lnTo>
                        <a:pt x="612" y="613"/>
                      </a:lnTo>
                      <a:lnTo>
                        <a:pt x="685" y="544"/>
                      </a:lnTo>
                      <a:lnTo>
                        <a:pt x="761" y="478"/>
                      </a:lnTo>
                      <a:lnTo>
                        <a:pt x="840" y="416"/>
                      </a:lnTo>
                      <a:lnTo>
                        <a:pt x="922" y="358"/>
                      </a:lnTo>
                      <a:lnTo>
                        <a:pt x="1007" y="303"/>
                      </a:lnTo>
                      <a:lnTo>
                        <a:pt x="1095" y="253"/>
                      </a:lnTo>
                      <a:lnTo>
                        <a:pt x="1185" y="207"/>
                      </a:lnTo>
                      <a:lnTo>
                        <a:pt x="1277" y="165"/>
                      </a:lnTo>
                      <a:lnTo>
                        <a:pt x="1373" y="127"/>
                      </a:lnTo>
                      <a:lnTo>
                        <a:pt x="1470" y="95"/>
                      </a:lnTo>
                      <a:lnTo>
                        <a:pt x="1569" y="66"/>
                      </a:lnTo>
                      <a:lnTo>
                        <a:pt x="1670" y="43"/>
                      </a:lnTo>
                      <a:lnTo>
                        <a:pt x="1773" y="24"/>
                      </a:lnTo>
                      <a:lnTo>
                        <a:pt x="1878" y="12"/>
                      </a:lnTo>
                      <a:lnTo>
                        <a:pt x="1984" y="4"/>
                      </a:lnTo>
                      <a:lnTo>
                        <a:pt x="2092" y="0"/>
                      </a:lnTo>
                      <a:lnTo>
                        <a:pt x="2200" y="4"/>
                      </a:lnTo>
                      <a:lnTo>
                        <a:pt x="2305" y="12"/>
                      </a:lnTo>
                      <a:lnTo>
                        <a:pt x="2411" y="24"/>
                      </a:lnTo>
                      <a:lnTo>
                        <a:pt x="2514" y="43"/>
                      </a:lnTo>
                      <a:lnTo>
                        <a:pt x="2615" y="66"/>
                      </a:lnTo>
                      <a:lnTo>
                        <a:pt x="2714" y="95"/>
                      </a:lnTo>
                      <a:lnTo>
                        <a:pt x="2811" y="127"/>
                      </a:lnTo>
                      <a:lnTo>
                        <a:pt x="2907" y="165"/>
                      </a:lnTo>
                      <a:lnTo>
                        <a:pt x="2999" y="207"/>
                      </a:lnTo>
                      <a:lnTo>
                        <a:pt x="3089" y="253"/>
                      </a:lnTo>
                      <a:lnTo>
                        <a:pt x="3177" y="303"/>
                      </a:lnTo>
                      <a:lnTo>
                        <a:pt x="3262" y="358"/>
                      </a:lnTo>
                      <a:lnTo>
                        <a:pt x="3344" y="416"/>
                      </a:lnTo>
                      <a:lnTo>
                        <a:pt x="3423" y="478"/>
                      </a:lnTo>
                      <a:lnTo>
                        <a:pt x="3499" y="544"/>
                      </a:lnTo>
                      <a:lnTo>
                        <a:pt x="3572" y="613"/>
                      </a:lnTo>
                      <a:lnTo>
                        <a:pt x="3641" y="686"/>
                      </a:lnTo>
                      <a:lnTo>
                        <a:pt x="3707" y="762"/>
                      </a:lnTo>
                      <a:lnTo>
                        <a:pt x="3768" y="841"/>
                      </a:lnTo>
                      <a:lnTo>
                        <a:pt x="3827" y="923"/>
                      </a:lnTo>
                      <a:lnTo>
                        <a:pt x="3881" y="1008"/>
                      </a:lnTo>
                      <a:lnTo>
                        <a:pt x="3931" y="1095"/>
                      </a:lnTo>
                      <a:lnTo>
                        <a:pt x="3978" y="1186"/>
                      </a:lnTo>
                      <a:lnTo>
                        <a:pt x="4020" y="1278"/>
                      </a:lnTo>
                      <a:lnTo>
                        <a:pt x="4057" y="1373"/>
                      </a:lnTo>
                      <a:lnTo>
                        <a:pt x="4090" y="1471"/>
                      </a:lnTo>
                      <a:lnTo>
                        <a:pt x="4119" y="1570"/>
                      </a:lnTo>
                      <a:lnTo>
                        <a:pt x="4141" y="1671"/>
                      </a:lnTo>
                      <a:lnTo>
                        <a:pt x="4161" y="1774"/>
                      </a:lnTo>
                      <a:lnTo>
                        <a:pt x="4173" y="1878"/>
                      </a:lnTo>
                      <a:lnTo>
                        <a:pt x="4181" y="1985"/>
                      </a:lnTo>
                      <a:lnTo>
                        <a:pt x="4184" y="2093"/>
                      </a:lnTo>
                      <a:close/>
                    </a:path>
                  </a:pathLst>
                </a:custGeom>
                <a:solidFill>
                  <a:srgbClr val="EFEFEF"/>
                </a:solidFill>
                <a:ln>
                  <a:noFill/>
                </a:ln>
                <a:effectLst>
                  <a:innerShdw blurRad="114300">
                    <a:prstClr val="black"/>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a:endParaRPr lang="en-US" sz="1800">
                    <a:solidFill>
                      <a:prstClr val="black"/>
                    </a:solidFill>
                    <a:latin typeface="Calibri" panose="020F0502020204030204"/>
                  </a:endParaRPr>
                </a:p>
              </p:txBody>
            </p:sp>
            <p:sp>
              <p:nvSpPr>
                <p:cNvPr id="43" name="Freeform 12"/>
                <p:cNvSpPr>
                  <a:spLocks/>
                </p:cNvSpPr>
                <p:nvPr/>
              </p:nvSpPr>
              <p:spPr bwMode="auto">
                <a:xfrm>
                  <a:off x="4538" y="1811"/>
                  <a:ext cx="697" cy="698"/>
                </a:xfrm>
                <a:custGeom>
                  <a:avLst/>
                  <a:gdLst>
                    <a:gd name="T0" fmla="*/ 4174 w 4185"/>
                    <a:gd name="T1" fmla="*/ 2306 h 4184"/>
                    <a:gd name="T2" fmla="*/ 4119 w 4185"/>
                    <a:gd name="T3" fmla="*/ 2615 h 4184"/>
                    <a:gd name="T4" fmla="*/ 4021 w 4185"/>
                    <a:gd name="T5" fmla="*/ 2907 h 4184"/>
                    <a:gd name="T6" fmla="*/ 3882 w 4185"/>
                    <a:gd name="T7" fmla="*/ 3177 h 4184"/>
                    <a:gd name="T8" fmla="*/ 3707 w 4185"/>
                    <a:gd name="T9" fmla="*/ 3423 h 4184"/>
                    <a:gd name="T10" fmla="*/ 3500 w 4185"/>
                    <a:gd name="T11" fmla="*/ 3641 h 4184"/>
                    <a:gd name="T12" fmla="*/ 3262 w 4185"/>
                    <a:gd name="T13" fmla="*/ 3827 h 4184"/>
                    <a:gd name="T14" fmla="*/ 2999 w 4185"/>
                    <a:gd name="T15" fmla="*/ 3978 h 4184"/>
                    <a:gd name="T16" fmla="*/ 2714 w 4185"/>
                    <a:gd name="T17" fmla="*/ 4090 h 4184"/>
                    <a:gd name="T18" fmla="*/ 2411 w 4185"/>
                    <a:gd name="T19" fmla="*/ 4161 h 4184"/>
                    <a:gd name="T20" fmla="*/ 2093 w 4185"/>
                    <a:gd name="T21" fmla="*/ 4184 h 4184"/>
                    <a:gd name="T22" fmla="*/ 1774 w 4185"/>
                    <a:gd name="T23" fmla="*/ 4161 h 4184"/>
                    <a:gd name="T24" fmla="*/ 1471 w 4185"/>
                    <a:gd name="T25" fmla="*/ 4090 h 4184"/>
                    <a:gd name="T26" fmla="*/ 1186 w 4185"/>
                    <a:gd name="T27" fmla="*/ 3978 h 4184"/>
                    <a:gd name="T28" fmla="*/ 923 w 4185"/>
                    <a:gd name="T29" fmla="*/ 3827 h 4184"/>
                    <a:gd name="T30" fmla="*/ 685 w 4185"/>
                    <a:gd name="T31" fmla="*/ 3641 h 4184"/>
                    <a:gd name="T32" fmla="*/ 478 w 4185"/>
                    <a:gd name="T33" fmla="*/ 3423 h 4184"/>
                    <a:gd name="T34" fmla="*/ 303 w 4185"/>
                    <a:gd name="T35" fmla="*/ 3177 h 4184"/>
                    <a:gd name="T36" fmla="*/ 165 w 4185"/>
                    <a:gd name="T37" fmla="*/ 2907 h 4184"/>
                    <a:gd name="T38" fmla="*/ 66 w 4185"/>
                    <a:gd name="T39" fmla="*/ 2615 h 4184"/>
                    <a:gd name="T40" fmla="*/ 11 w 4185"/>
                    <a:gd name="T41" fmla="*/ 2306 h 4184"/>
                    <a:gd name="T42" fmla="*/ 3 w 4185"/>
                    <a:gd name="T43" fmla="*/ 1984 h 4184"/>
                    <a:gd name="T44" fmla="*/ 43 w 4185"/>
                    <a:gd name="T45" fmla="*/ 1670 h 4184"/>
                    <a:gd name="T46" fmla="*/ 127 w 4185"/>
                    <a:gd name="T47" fmla="*/ 1373 h 4184"/>
                    <a:gd name="T48" fmla="*/ 253 w 4185"/>
                    <a:gd name="T49" fmla="*/ 1095 h 4184"/>
                    <a:gd name="T50" fmla="*/ 415 w 4185"/>
                    <a:gd name="T51" fmla="*/ 840 h 4184"/>
                    <a:gd name="T52" fmla="*/ 613 w 4185"/>
                    <a:gd name="T53" fmla="*/ 612 h 4184"/>
                    <a:gd name="T54" fmla="*/ 841 w 4185"/>
                    <a:gd name="T55" fmla="*/ 415 h 4184"/>
                    <a:gd name="T56" fmla="*/ 1095 w 4185"/>
                    <a:gd name="T57" fmla="*/ 253 h 4184"/>
                    <a:gd name="T58" fmla="*/ 1373 w 4185"/>
                    <a:gd name="T59" fmla="*/ 127 h 4184"/>
                    <a:gd name="T60" fmla="*/ 1670 w 4185"/>
                    <a:gd name="T61" fmla="*/ 43 h 4184"/>
                    <a:gd name="T62" fmla="*/ 1985 w 4185"/>
                    <a:gd name="T63" fmla="*/ 3 h 4184"/>
                    <a:gd name="T64" fmla="*/ 2307 w 4185"/>
                    <a:gd name="T65" fmla="*/ 11 h 4184"/>
                    <a:gd name="T66" fmla="*/ 2616 w 4185"/>
                    <a:gd name="T67" fmla="*/ 65 h 4184"/>
                    <a:gd name="T68" fmla="*/ 2907 w 4185"/>
                    <a:gd name="T69" fmla="*/ 164 h 4184"/>
                    <a:gd name="T70" fmla="*/ 3177 w 4185"/>
                    <a:gd name="T71" fmla="*/ 302 h 4184"/>
                    <a:gd name="T72" fmla="*/ 3424 w 4185"/>
                    <a:gd name="T73" fmla="*/ 477 h 4184"/>
                    <a:gd name="T74" fmla="*/ 3642 w 4185"/>
                    <a:gd name="T75" fmla="*/ 685 h 4184"/>
                    <a:gd name="T76" fmla="*/ 3828 w 4185"/>
                    <a:gd name="T77" fmla="*/ 922 h 4184"/>
                    <a:gd name="T78" fmla="*/ 3979 w 4185"/>
                    <a:gd name="T79" fmla="*/ 1185 h 4184"/>
                    <a:gd name="T80" fmla="*/ 4091 w 4185"/>
                    <a:gd name="T81" fmla="*/ 1470 h 4184"/>
                    <a:gd name="T82" fmla="*/ 4161 w 4185"/>
                    <a:gd name="T83" fmla="*/ 1773 h 4184"/>
                    <a:gd name="T84" fmla="*/ 4185 w 4185"/>
                    <a:gd name="T85" fmla="*/ 2092 h 4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85" h="4184">
                      <a:moveTo>
                        <a:pt x="4185" y="2092"/>
                      </a:moveTo>
                      <a:lnTo>
                        <a:pt x="4182" y="2200"/>
                      </a:lnTo>
                      <a:lnTo>
                        <a:pt x="4174" y="2306"/>
                      </a:lnTo>
                      <a:lnTo>
                        <a:pt x="4161" y="2411"/>
                      </a:lnTo>
                      <a:lnTo>
                        <a:pt x="4142" y="2514"/>
                      </a:lnTo>
                      <a:lnTo>
                        <a:pt x="4119" y="2615"/>
                      </a:lnTo>
                      <a:lnTo>
                        <a:pt x="4091" y="2714"/>
                      </a:lnTo>
                      <a:lnTo>
                        <a:pt x="4058" y="2811"/>
                      </a:lnTo>
                      <a:lnTo>
                        <a:pt x="4021" y="2907"/>
                      </a:lnTo>
                      <a:lnTo>
                        <a:pt x="3979" y="2999"/>
                      </a:lnTo>
                      <a:lnTo>
                        <a:pt x="3932" y="3089"/>
                      </a:lnTo>
                      <a:lnTo>
                        <a:pt x="3882" y="3177"/>
                      </a:lnTo>
                      <a:lnTo>
                        <a:pt x="3828" y="3262"/>
                      </a:lnTo>
                      <a:lnTo>
                        <a:pt x="3770" y="3344"/>
                      </a:lnTo>
                      <a:lnTo>
                        <a:pt x="3707" y="3423"/>
                      </a:lnTo>
                      <a:lnTo>
                        <a:pt x="3642" y="3499"/>
                      </a:lnTo>
                      <a:lnTo>
                        <a:pt x="3572" y="3572"/>
                      </a:lnTo>
                      <a:lnTo>
                        <a:pt x="3500" y="3641"/>
                      </a:lnTo>
                      <a:lnTo>
                        <a:pt x="3424" y="3707"/>
                      </a:lnTo>
                      <a:lnTo>
                        <a:pt x="3344" y="3769"/>
                      </a:lnTo>
                      <a:lnTo>
                        <a:pt x="3262" y="3827"/>
                      </a:lnTo>
                      <a:lnTo>
                        <a:pt x="3177" y="3882"/>
                      </a:lnTo>
                      <a:lnTo>
                        <a:pt x="3090" y="3931"/>
                      </a:lnTo>
                      <a:lnTo>
                        <a:pt x="2999" y="3978"/>
                      </a:lnTo>
                      <a:lnTo>
                        <a:pt x="2907" y="4020"/>
                      </a:lnTo>
                      <a:lnTo>
                        <a:pt x="2812" y="4057"/>
                      </a:lnTo>
                      <a:lnTo>
                        <a:pt x="2714" y="4090"/>
                      </a:lnTo>
                      <a:lnTo>
                        <a:pt x="2616" y="4119"/>
                      </a:lnTo>
                      <a:lnTo>
                        <a:pt x="2515" y="4141"/>
                      </a:lnTo>
                      <a:lnTo>
                        <a:pt x="2411" y="4161"/>
                      </a:lnTo>
                      <a:lnTo>
                        <a:pt x="2307" y="4173"/>
                      </a:lnTo>
                      <a:lnTo>
                        <a:pt x="2200" y="4181"/>
                      </a:lnTo>
                      <a:lnTo>
                        <a:pt x="2093" y="4184"/>
                      </a:lnTo>
                      <a:lnTo>
                        <a:pt x="1985" y="4181"/>
                      </a:lnTo>
                      <a:lnTo>
                        <a:pt x="1879" y="4173"/>
                      </a:lnTo>
                      <a:lnTo>
                        <a:pt x="1774" y="4161"/>
                      </a:lnTo>
                      <a:lnTo>
                        <a:pt x="1670" y="4141"/>
                      </a:lnTo>
                      <a:lnTo>
                        <a:pt x="1569" y="4119"/>
                      </a:lnTo>
                      <a:lnTo>
                        <a:pt x="1471" y="4090"/>
                      </a:lnTo>
                      <a:lnTo>
                        <a:pt x="1373" y="4057"/>
                      </a:lnTo>
                      <a:lnTo>
                        <a:pt x="1278" y="4020"/>
                      </a:lnTo>
                      <a:lnTo>
                        <a:pt x="1186" y="3978"/>
                      </a:lnTo>
                      <a:lnTo>
                        <a:pt x="1095" y="3931"/>
                      </a:lnTo>
                      <a:lnTo>
                        <a:pt x="1008" y="3882"/>
                      </a:lnTo>
                      <a:lnTo>
                        <a:pt x="923" y="3827"/>
                      </a:lnTo>
                      <a:lnTo>
                        <a:pt x="841" y="3769"/>
                      </a:lnTo>
                      <a:lnTo>
                        <a:pt x="762" y="3707"/>
                      </a:lnTo>
                      <a:lnTo>
                        <a:pt x="685" y="3641"/>
                      </a:lnTo>
                      <a:lnTo>
                        <a:pt x="613" y="3572"/>
                      </a:lnTo>
                      <a:lnTo>
                        <a:pt x="544" y="3499"/>
                      </a:lnTo>
                      <a:lnTo>
                        <a:pt x="478" y="3423"/>
                      </a:lnTo>
                      <a:lnTo>
                        <a:pt x="415" y="3344"/>
                      </a:lnTo>
                      <a:lnTo>
                        <a:pt x="358" y="3262"/>
                      </a:lnTo>
                      <a:lnTo>
                        <a:pt x="303" y="3177"/>
                      </a:lnTo>
                      <a:lnTo>
                        <a:pt x="253" y="3089"/>
                      </a:lnTo>
                      <a:lnTo>
                        <a:pt x="207" y="2999"/>
                      </a:lnTo>
                      <a:lnTo>
                        <a:pt x="165" y="2907"/>
                      </a:lnTo>
                      <a:lnTo>
                        <a:pt x="127" y="2811"/>
                      </a:lnTo>
                      <a:lnTo>
                        <a:pt x="94" y="2714"/>
                      </a:lnTo>
                      <a:lnTo>
                        <a:pt x="66" y="2615"/>
                      </a:lnTo>
                      <a:lnTo>
                        <a:pt x="43" y="2514"/>
                      </a:lnTo>
                      <a:lnTo>
                        <a:pt x="24" y="2411"/>
                      </a:lnTo>
                      <a:lnTo>
                        <a:pt x="11" y="2306"/>
                      </a:lnTo>
                      <a:lnTo>
                        <a:pt x="3" y="2200"/>
                      </a:lnTo>
                      <a:lnTo>
                        <a:pt x="0" y="2092"/>
                      </a:lnTo>
                      <a:lnTo>
                        <a:pt x="3" y="1984"/>
                      </a:lnTo>
                      <a:lnTo>
                        <a:pt x="11" y="1878"/>
                      </a:lnTo>
                      <a:lnTo>
                        <a:pt x="24" y="1773"/>
                      </a:lnTo>
                      <a:lnTo>
                        <a:pt x="43" y="1670"/>
                      </a:lnTo>
                      <a:lnTo>
                        <a:pt x="66" y="1569"/>
                      </a:lnTo>
                      <a:lnTo>
                        <a:pt x="94" y="1470"/>
                      </a:lnTo>
                      <a:lnTo>
                        <a:pt x="127" y="1373"/>
                      </a:lnTo>
                      <a:lnTo>
                        <a:pt x="165" y="1277"/>
                      </a:lnTo>
                      <a:lnTo>
                        <a:pt x="207" y="1185"/>
                      </a:lnTo>
                      <a:lnTo>
                        <a:pt x="253" y="1095"/>
                      </a:lnTo>
                      <a:lnTo>
                        <a:pt x="303" y="1007"/>
                      </a:lnTo>
                      <a:lnTo>
                        <a:pt x="358" y="922"/>
                      </a:lnTo>
                      <a:lnTo>
                        <a:pt x="415" y="840"/>
                      </a:lnTo>
                      <a:lnTo>
                        <a:pt x="478" y="761"/>
                      </a:lnTo>
                      <a:lnTo>
                        <a:pt x="544" y="685"/>
                      </a:lnTo>
                      <a:lnTo>
                        <a:pt x="613" y="612"/>
                      </a:lnTo>
                      <a:lnTo>
                        <a:pt x="685" y="543"/>
                      </a:lnTo>
                      <a:lnTo>
                        <a:pt x="762" y="477"/>
                      </a:lnTo>
                      <a:lnTo>
                        <a:pt x="841" y="415"/>
                      </a:lnTo>
                      <a:lnTo>
                        <a:pt x="923" y="357"/>
                      </a:lnTo>
                      <a:lnTo>
                        <a:pt x="1008" y="302"/>
                      </a:lnTo>
                      <a:lnTo>
                        <a:pt x="1095" y="253"/>
                      </a:lnTo>
                      <a:lnTo>
                        <a:pt x="1186" y="206"/>
                      </a:lnTo>
                      <a:lnTo>
                        <a:pt x="1278" y="164"/>
                      </a:lnTo>
                      <a:lnTo>
                        <a:pt x="1373" y="127"/>
                      </a:lnTo>
                      <a:lnTo>
                        <a:pt x="1471" y="94"/>
                      </a:lnTo>
                      <a:lnTo>
                        <a:pt x="1569" y="65"/>
                      </a:lnTo>
                      <a:lnTo>
                        <a:pt x="1670" y="43"/>
                      </a:lnTo>
                      <a:lnTo>
                        <a:pt x="1774" y="23"/>
                      </a:lnTo>
                      <a:lnTo>
                        <a:pt x="1879" y="11"/>
                      </a:lnTo>
                      <a:lnTo>
                        <a:pt x="1985" y="3"/>
                      </a:lnTo>
                      <a:lnTo>
                        <a:pt x="2093" y="0"/>
                      </a:lnTo>
                      <a:lnTo>
                        <a:pt x="2200" y="3"/>
                      </a:lnTo>
                      <a:lnTo>
                        <a:pt x="2307" y="11"/>
                      </a:lnTo>
                      <a:lnTo>
                        <a:pt x="2411" y="23"/>
                      </a:lnTo>
                      <a:lnTo>
                        <a:pt x="2515" y="43"/>
                      </a:lnTo>
                      <a:lnTo>
                        <a:pt x="2616" y="65"/>
                      </a:lnTo>
                      <a:lnTo>
                        <a:pt x="2714" y="94"/>
                      </a:lnTo>
                      <a:lnTo>
                        <a:pt x="2812" y="127"/>
                      </a:lnTo>
                      <a:lnTo>
                        <a:pt x="2907" y="164"/>
                      </a:lnTo>
                      <a:lnTo>
                        <a:pt x="2999" y="206"/>
                      </a:lnTo>
                      <a:lnTo>
                        <a:pt x="3090" y="253"/>
                      </a:lnTo>
                      <a:lnTo>
                        <a:pt x="3177" y="302"/>
                      </a:lnTo>
                      <a:lnTo>
                        <a:pt x="3262" y="357"/>
                      </a:lnTo>
                      <a:lnTo>
                        <a:pt x="3344" y="415"/>
                      </a:lnTo>
                      <a:lnTo>
                        <a:pt x="3424" y="477"/>
                      </a:lnTo>
                      <a:lnTo>
                        <a:pt x="3500" y="543"/>
                      </a:lnTo>
                      <a:lnTo>
                        <a:pt x="3572" y="612"/>
                      </a:lnTo>
                      <a:lnTo>
                        <a:pt x="3642" y="685"/>
                      </a:lnTo>
                      <a:lnTo>
                        <a:pt x="3707" y="761"/>
                      </a:lnTo>
                      <a:lnTo>
                        <a:pt x="3770" y="840"/>
                      </a:lnTo>
                      <a:lnTo>
                        <a:pt x="3828" y="922"/>
                      </a:lnTo>
                      <a:lnTo>
                        <a:pt x="3882" y="1007"/>
                      </a:lnTo>
                      <a:lnTo>
                        <a:pt x="3932" y="1095"/>
                      </a:lnTo>
                      <a:lnTo>
                        <a:pt x="3979" y="1185"/>
                      </a:lnTo>
                      <a:lnTo>
                        <a:pt x="4021" y="1277"/>
                      </a:lnTo>
                      <a:lnTo>
                        <a:pt x="4058" y="1373"/>
                      </a:lnTo>
                      <a:lnTo>
                        <a:pt x="4091" y="1470"/>
                      </a:lnTo>
                      <a:lnTo>
                        <a:pt x="4119" y="1569"/>
                      </a:lnTo>
                      <a:lnTo>
                        <a:pt x="4142" y="1670"/>
                      </a:lnTo>
                      <a:lnTo>
                        <a:pt x="4161" y="1773"/>
                      </a:lnTo>
                      <a:lnTo>
                        <a:pt x="4174" y="1878"/>
                      </a:lnTo>
                      <a:lnTo>
                        <a:pt x="4182" y="1984"/>
                      </a:lnTo>
                      <a:lnTo>
                        <a:pt x="4185" y="2092"/>
                      </a:lnTo>
                      <a:close/>
                    </a:path>
                  </a:pathLst>
                </a:custGeom>
                <a:solidFill>
                  <a:srgbClr val="EFEFEF"/>
                </a:solidFill>
                <a:ln>
                  <a:noFill/>
                </a:ln>
                <a:effectLst>
                  <a:innerShdw blurRad="114300">
                    <a:prstClr val="black"/>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a:endParaRPr lang="en-US" sz="1800">
                    <a:solidFill>
                      <a:prstClr val="black"/>
                    </a:solidFill>
                    <a:latin typeface="Calibri" panose="020F0502020204030204"/>
                  </a:endParaRPr>
                </a:p>
              </p:txBody>
            </p:sp>
          </p:grpSp>
          <p:pic>
            <p:nvPicPr>
              <p:cNvPr id="31" name="Picture 30"/>
              <p:cNvPicPr>
                <a:picLocks noChangeAspect="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6115946" y="3498345"/>
                <a:ext cx="415134" cy="415134"/>
              </a:xfrm>
              <a:prstGeom prst="rect">
                <a:avLst/>
              </a:prstGeom>
            </p:spPr>
          </p:pic>
          <p:pic>
            <p:nvPicPr>
              <p:cNvPr id="32" name="Picture 31"/>
              <p:cNvPicPr>
                <a:picLocks noChangeAspect="1"/>
              </p:cNvPicPr>
              <p:nvPr/>
            </p:nvPicPr>
            <p:blipFill>
              <a:blip r:embed="rId4">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4806940" y="4778463"/>
                <a:ext cx="479522" cy="479520"/>
              </a:xfrm>
              <a:prstGeom prst="rect">
                <a:avLst/>
              </a:prstGeom>
            </p:spPr>
          </p:pic>
          <p:pic>
            <p:nvPicPr>
              <p:cNvPr id="33" name="Picture 32"/>
              <p:cNvPicPr>
                <a:picLocks noChangeAspect="1"/>
              </p:cNvPicPr>
              <p:nvPr/>
            </p:nvPicPr>
            <p:blipFill>
              <a:blip r:embed="rId5" cstate="print">
                <a:duotone>
                  <a:schemeClr val="accent5">
                    <a:shade val="45000"/>
                    <a:satMod val="135000"/>
                  </a:schemeClr>
                  <a:prstClr val="white"/>
                </a:duotone>
                <a:extLst>
                  <a:ext uri="{28A0092B-C50C-407E-A947-70E740481C1C}">
                    <a14:useLocalDpi xmlns:a14="http://schemas.microsoft.com/office/drawing/2010/main" val="0"/>
                  </a:ext>
                </a:extLst>
              </a:blip>
              <a:stretch>
                <a:fillRect/>
              </a:stretch>
            </p:blipFill>
            <p:spPr>
              <a:xfrm>
                <a:off x="3509917" y="3459346"/>
                <a:ext cx="462008" cy="462006"/>
              </a:xfrm>
              <a:prstGeom prst="rect">
                <a:avLst/>
              </a:prstGeom>
            </p:spPr>
          </p:pic>
          <p:pic>
            <p:nvPicPr>
              <p:cNvPr id="34" name="Picture 33"/>
              <p:cNvPicPr>
                <a:picLocks noChangeAspect="1"/>
              </p:cNvPicPr>
              <p:nvPr/>
            </p:nvPicPr>
            <p:blipFill>
              <a:blip r:embed="rId2">
                <a:duotone>
                  <a:schemeClr val="accent1">
                    <a:shade val="45000"/>
                    <a:satMod val="135000"/>
                  </a:schemeClr>
                  <a:prstClr val="white"/>
                </a:duotone>
              </a:blip>
              <a:stretch>
                <a:fillRect/>
              </a:stretch>
            </p:blipFill>
            <p:spPr>
              <a:xfrm>
                <a:off x="4857379" y="2091198"/>
                <a:ext cx="441982" cy="586118"/>
              </a:xfrm>
              <a:prstGeom prst="rect">
                <a:avLst/>
              </a:prstGeom>
            </p:spPr>
          </p:pic>
        </p:grpSp>
        <p:sp>
          <p:nvSpPr>
            <p:cNvPr id="25" name="TextBox 24"/>
            <p:cNvSpPr txBox="1"/>
            <p:nvPr/>
          </p:nvSpPr>
          <p:spPr>
            <a:xfrm rot="19520421">
              <a:off x="3435136" y="2029584"/>
              <a:ext cx="1195840" cy="461665"/>
            </a:xfrm>
            <a:prstGeom prst="rect">
              <a:avLst/>
            </a:prstGeom>
            <a:noFill/>
          </p:spPr>
          <p:txBody>
            <a:bodyPr wrap="none" rtlCol="0">
              <a:prstTxWarp prst="textArchUp">
                <a:avLst/>
              </a:prstTxWarp>
              <a:spAutoFit/>
            </a:bodyPr>
            <a:lstStyle/>
            <a:p>
              <a:pPr algn="ctr" defTabSz="914400"/>
              <a:r>
                <a:rPr lang="en-US" sz="2400" b="1" dirty="0">
                  <a:solidFill>
                    <a:prstClr val="black"/>
                  </a:solidFill>
                  <a:latin typeface="Calibri" panose="020F0502020204030204"/>
                </a:rPr>
                <a:t>Political</a:t>
              </a:r>
              <a:endParaRPr lang="en-GB" sz="2400" b="1" dirty="0">
                <a:solidFill>
                  <a:prstClr val="black"/>
                </a:solidFill>
                <a:latin typeface="Calibri" panose="020F0502020204030204"/>
              </a:endParaRPr>
            </a:p>
          </p:txBody>
        </p:sp>
        <p:sp>
          <p:nvSpPr>
            <p:cNvPr id="26" name="TextBox 25"/>
            <p:cNvSpPr txBox="1"/>
            <p:nvPr/>
          </p:nvSpPr>
          <p:spPr>
            <a:xfrm rot="3501090">
              <a:off x="5826629" y="2516613"/>
              <a:ext cx="1407308" cy="461665"/>
            </a:xfrm>
            <a:prstGeom prst="rect">
              <a:avLst/>
            </a:prstGeom>
            <a:noFill/>
          </p:spPr>
          <p:txBody>
            <a:bodyPr wrap="none" rtlCol="0">
              <a:prstTxWarp prst="textArchUp">
                <a:avLst/>
              </a:prstTxWarp>
              <a:spAutoFit/>
            </a:bodyPr>
            <a:lstStyle/>
            <a:p>
              <a:pPr algn="ctr" defTabSz="914400"/>
              <a:r>
                <a:rPr lang="en-US" sz="2400" b="1" dirty="0">
                  <a:solidFill>
                    <a:prstClr val="white">
                      <a:lumMod val="85000"/>
                    </a:prstClr>
                  </a:solidFill>
                  <a:latin typeface="Calibri" panose="020F0502020204030204"/>
                </a:rPr>
                <a:t>Economic</a:t>
              </a:r>
              <a:endParaRPr lang="en-GB" sz="2400" b="1" dirty="0">
                <a:solidFill>
                  <a:prstClr val="white">
                    <a:lumMod val="85000"/>
                  </a:prstClr>
                </a:solidFill>
                <a:latin typeface="Calibri" panose="020F0502020204030204"/>
              </a:endParaRPr>
            </a:p>
          </p:txBody>
        </p:sp>
        <p:sp>
          <p:nvSpPr>
            <p:cNvPr id="27" name="TextBox 26"/>
            <p:cNvSpPr txBox="1"/>
            <p:nvPr/>
          </p:nvSpPr>
          <p:spPr>
            <a:xfrm rot="19621837">
              <a:off x="5650327" y="4993911"/>
              <a:ext cx="1007438" cy="461665"/>
            </a:xfrm>
            <a:prstGeom prst="rect">
              <a:avLst/>
            </a:prstGeom>
            <a:noFill/>
          </p:spPr>
          <p:txBody>
            <a:bodyPr wrap="none" rtlCol="0">
              <a:prstTxWarp prst="textArchDown">
                <a:avLst>
                  <a:gd name="adj" fmla="val 525790"/>
                </a:avLst>
              </a:prstTxWarp>
              <a:spAutoFit/>
            </a:bodyPr>
            <a:lstStyle/>
            <a:p>
              <a:pPr algn="ctr" defTabSz="914400"/>
              <a:r>
                <a:rPr lang="en-US" sz="2400" b="1" dirty="0">
                  <a:solidFill>
                    <a:prstClr val="white">
                      <a:lumMod val="85000"/>
                    </a:prstClr>
                  </a:solidFill>
                  <a:latin typeface="Calibri" panose="020F0502020204030204"/>
                </a:rPr>
                <a:t>Social</a:t>
              </a:r>
              <a:endParaRPr lang="en-GB" sz="2400" b="1" dirty="0">
                <a:solidFill>
                  <a:prstClr val="white">
                    <a:lumMod val="85000"/>
                  </a:prstClr>
                </a:solidFill>
                <a:latin typeface="Calibri" panose="020F0502020204030204"/>
              </a:endParaRPr>
            </a:p>
          </p:txBody>
        </p:sp>
        <p:sp>
          <p:nvSpPr>
            <p:cNvPr id="28" name="TextBox 27"/>
            <p:cNvSpPr txBox="1"/>
            <p:nvPr/>
          </p:nvSpPr>
          <p:spPr>
            <a:xfrm rot="3326923">
              <a:off x="2628766" y="4512467"/>
              <a:ext cx="1754034" cy="461665"/>
            </a:xfrm>
            <a:prstGeom prst="rect">
              <a:avLst/>
            </a:prstGeom>
            <a:noFill/>
          </p:spPr>
          <p:txBody>
            <a:bodyPr wrap="none" rtlCol="0">
              <a:prstTxWarp prst="textArchDown">
                <a:avLst/>
              </a:prstTxWarp>
              <a:spAutoFit/>
            </a:bodyPr>
            <a:lstStyle/>
            <a:p>
              <a:pPr algn="ctr" defTabSz="914400"/>
              <a:r>
                <a:rPr lang="en-US" sz="2400" b="1" dirty="0">
                  <a:solidFill>
                    <a:prstClr val="white">
                      <a:lumMod val="85000"/>
                    </a:prstClr>
                  </a:solidFill>
                  <a:latin typeface="Calibri" panose="020F0502020204030204"/>
                </a:rPr>
                <a:t>Technology</a:t>
              </a:r>
              <a:endParaRPr lang="en-GB" sz="2400" b="1" dirty="0">
                <a:solidFill>
                  <a:prstClr val="white">
                    <a:lumMod val="85000"/>
                  </a:prstClr>
                </a:solidFill>
                <a:latin typeface="Calibri" panose="020F0502020204030204"/>
              </a:endParaRPr>
            </a:p>
          </p:txBody>
        </p:sp>
        <p:sp>
          <p:nvSpPr>
            <p:cNvPr id="29" name="TextBox 28"/>
            <p:cNvSpPr txBox="1"/>
            <p:nvPr/>
          </p:nvSpPr>
          <p:spPr>
            <a:xfrm>
              <a:off x="4516702" y="3359360"/>
              <a:ext cx="1051891" cy="707886"/>
            </a:xfrm>
            <a:prstGeom prst="rect">
              <a:avLst/>
            </a:prstGeom>
            <a:noFill/>
          </p:spPr>
          <p:txBody>
            <a:bodyPr wrap="none" rtlCol="0">
              <a:spAutoFit/>
            </a:bodyPr>
            <a:lstStyle/>
            <a:p>
              <a:pPr algn="ctr" defTabSz="914400"/>
              <a:r>
                <a:rPr lang="en-US" sz="4000" b="1" dirty="0">
                  <a:solidFill>
                    <a:prstClr val="black"/>
                  </a:solidFill>
                  <a:latin typeface="Agency FB" panose="020B0503020202020204" pitchFamily="34" charset="0"/>
                </a:rPr>
                <a:t>PEST</a:t>
              </a:r>
              <a:endParaRPr lang="en-GB" sz="4000" b="1" dirty="0">
                <a:solidFill>
                  <a:prstClr val="black"/>
                </a:solidFill>
                <a:latin typeface="Agency FB" panose="020B0503020202020204" pitchFamily="34" charset="0"/>
              </a:endParaRPr>
            </a:p>
          </p:txBody>
        </p:sp>
      </p:grpSp>
      <p:pic>
        <p:nvPicPr>
          <p:cNvPr id="4" name="Picture 3"/>
          <p:cNvPicPr>
            <a:picLocks noChangeAspect="1"/>
          </p:cNvPicPr>
          <p:nvPr/>
        </p:nvPicPr>
        <p:blipFill>
          <a:blip r:embed="rId6">
            <a:extLst>
              <a:ext uri="{BEBA8EAE-BF5A-486C-A8C5-ECC9F3942E4B}">
                <a14:imgProps xmlns:a14="http://schemas.microsoft.com/office/drawing/2010/main">
                  <a14:imgLayer r:embed="rId7">
                    <a14:imgEffect>
                      <a14:artisticBlur/>
                    </a14:imgEffect>
                  </a14:imgLayer>
                </a14:imgProps>
              </a:ext>
            </a:extLst>
          </a:blip>
          <a:stretch>
            <a:fillRect/>
          </a:stretch>
        </p:blipFill>
        <p:spPr>
          <a:xfrm>
            <a:off x="7089456" y="1865857"/>
            <a:ext cx="4737003" cy="4273666"/>
          </a:xfrm>
          <a:prstGeom prst="rect">
            <a:avLst/>
          </a:prstGeom>
        </p:spPr>
      </p:pic>
      <p:sp>
        <p:nvSpPr>
          <p:cNvPr id="45" name="TextBox 44"/>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6" name="Slide Number Placeholder 5"/>
          <p:cNvSpPr>
            <a:spLocks noGrp="1"/>
          </p:cNvSpPr>
          <p:nvPr>
            <p:ph type="sldNum" sz="quarter" idx="4"/>
          </p:nvPr>
        </p:nvSpPr>
        <p:spPr/>
        <p:txBody>
          <a:bodyPr/>
          <a:lstStyle/>
          <a:p>
            <a:fld id="{4B17068C-EB94-40A3-A5F2-664CDD77FDAC}" type="slidenum">
              <a:rPr lang="en-GB" smtClean="0"/>
              <a:pPr/>
              <a:t>83</a:t>
            </a:fld>
            <a:endParaRPr lang="en-GB" dirty="0"/>
          </a:p>
        </p:txBody>
      </p:sp>
    </p:spTree>
    <p:extLst>
      <p:ext uri="{BB962C8B-B14F-4D97-AF65-F5344CB8AC3E}">
        <p14:creationId xmlns:p14="http://schemas.microsoft.com/office/powerpoint/2010/main" val="2876473322"/>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EXIM Analysis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84</a:t>
            </a:r>
          </a:p>
        </p:txBody>
      </p:sp>
    </p:spTree>
    <p:extLst>
      <p:ext uri="{BB962C8B-B14F-4D97-AF65-F5344CB8AC3E}">
        <p14:creationId xmlns:p14="http://schemas.microsoft.com/office/powerpoint/2010/main" val="3921165460"/>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 name="Chart 52"/>
          <p:cNvGraphicFramePr/>
          <p:nvPr/>
        </p:nvGraphicFramePr>
        <p:xfrm>
          <a:off x="6298457" y="3428208"/>
          <a:ext cx="2103456" cy="28772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5" name="Chart 54"/>
          <p:cNvGraphicFramePr/>
          <p:nvPr/>
        </p:nvGraphicFramePr>
        <p:xfrm>
          <a:off x="10156670" y="3399012"/>
          <a:ext cx="2103456" cy="2877243"/>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p:txBody>
          <a:bodyPr/>
          <a:lstStyle/>
          <a:p>
            <a:r>
              <a:rPr lang="en-IN"/>
              <a:t>WXYZ – Global import volume by key countries </a:t>
            </a:r>
            <a:endParaRPr lang="en-IN" dirty="0"/>
          </a:p>
        </p:txBody>
      </p:sp>
      <p:sp>
        <p:nvSpPr>
          <p:cNvPr id="9" name="Slide Number Placeholder 8"/>
          <p:cNvSpPr>
            <a:spLocks noGrp="1"/>
          </p:cNvSpPr>
          <p:nvPr>
            <p:ph type="sldNum" sz="quarter" idx="4"/>
          </p:nvPr>
        </p:nvSpPr>
        <p:spPr/>
        <p:txBody>
          <a:bodyPr/>
          <a:lstStyle/>
          <a:p>
            <a:fld id="{4B17068C-EB94-40A3-A5F2-664CDD77FDAC}" type="slidenum">
              <a:rPr lang="en-GB" smtClean="0"/>
              <a:pPr/>
              <a:t>85</a:t>
            </a:fld>
            <a:endParaRPr lang="en-GB" dirty="0"/>
          </a:p>
        </p:txBody>
      </p:sp>
      <p:sp>
        <p:nvSpPr>
          <p:cNvPr id="4" name="TextBox 3"/>
          <p:cNvSpPr txBox="1"/>
          <p:nvPr/>
        </p:nvSpPr>
        <p:spPr>
          <a:xfrm>
            <a:off x="2856395" y="1449117"/>
            <a:ext cx="1617044" cy="348878"/>
          </a:xfrm>
          <a:prstGeom prst="rect">
            <a:avLst/>
          </a:prstGeom>
          <a:noFill/>
        </p:spPr>
        <p:txBody>
          <a:bodyPr wrap="square" rtlCol="0">
            <a:spAutoFit/>
          </a:bodyPr>
          <a:lstStyle/>
          <a:p>
            <a:pPr algn="ctr">
              <a:defRPr/>
            </a:pPr>
            <a:r>
              <a:rPr lang="en-IN" sz="1667" b="1" dirty="0">
                <a:solidFill>
                  <a:prstClr val="black"/>
                </a:solidFill>
              </a:rPr>
              <a:t>  XX</a:t>
            </a:r>
            <a:endParaRPr lang="en-IN" sz="1667" b="1" dirty="0">
              <a:solidFill>
                <a:prstClr val="black"/>
              </a:solidFill>
              <a:latin typeface="Calibri" panose="020F0502020204030204"/>
            </a:endParaRPr>
          </a:p>
        </p:txBody>
      </p:sp>
      <p:graphicFrame>
        <p:nvGraphicFramePr>
          <p:cNvPr id="11" name="Chart 10"/>
          <p:cNvGraphicFramePr/>
          <p:nvPr/>
        </p:nvGraphicFramePr>
        <p:xfrm>
          <a:off x="2799046" y="1584889"/>
          <a:ext cx="1752848" cy="189659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 name="Chart 18"/>
          <p:cNvGraphicFramePr/>
          <p:nvPr/>
        </p:nvGraphicFramePr>
        <p:xfrm>
          <a:off x="2764850" y="3399012"/>
          <a:ext cx="2103456" cy="2877243"/>
        </p:xfrm>
        <a:graphic>
          <a:graphicData uri="http://schemas.openxmlformats.org/drawingml/2006/chart">
            <c:chart xmlns:c="http://schemas.openxmlformats.org/drawingml/2006/chart" xmlns:r="http://schemas.openxmlformats.org/officeDocument/2006/relationships" r:id="rId6"/>
          </a:graphicData>
        </a:graphic>
      </p:graphicFrame>
      <p:sp>
        <p:nvSpPr>
          <p:cNvPr id="5" name="TextBox 4"/>
          <p:cNvSpPr txBox="1"/>
          <p:nvPr/>
        </p:nvSpPr>
        <p:spPr>
          <a:xfrm>
            <a:off x="4528682" y="1449117"/>
            <a:ext cx="1617044" cy="348878"/>
          </a:xfrm>
          <a:prstGeom prst="rect">
            <a:avLst/>
          </a:prstGeom>
          <a:noFill/>
        </p:spPr>
        <p:txBody>
          <a:bodyPr wrap="square" rtlCol="0">
            <a:spAutoFit/>
          </a:bodyPr>
          <a:lstStyle/>
          <a:p>
            <a:pPr algn="ctr">
              <a:defRPr/>
            </a:pPr>
            <a:r>
              <a:rPr lang="en-IN" sz="1667" b="1" dirty="0">
                <a:solidFill>
                  <a:prstClr val="black"/>
                </a:solidFill>
              </a:rPr>
              <a:t> XX</a:t>
            </a:r>
            <a:endParaRPr lang="en-IN" sz="1667" b="1" dirty="0">
              <a:solidFill>
                <a:prstClr val="black"/>
              </a:solidFill>
              <a:latin typeface="Calibri" panose="020F0502020204030204"/>
            </a:endParaRPr>
          </a:p>
        </p:txBody>
      </p:sp>
      <p:sp>
        <p:nvSpPr>
          <p:cNvPr id="6" name="TextBox 5"/>
          <p:cNvSpPr txBox="1"/>
          <p:nvPr/>
        </p:nvSpPr>
        <p:spPr>
          <a:xfrm>
            <a:off x="6398520" y="1449117"/>
            <a:ext cx="1617044" cy="348878"/>
          </a:xfrm>
          <a:prstGeom prst="rect">
            <a:avLst/>
          </a:prstGeom>
          <a:noFill/>
        </p:spPr>
        <p:txBody>
          <a:bodyPr wrap="square" rtlCol="0">
            <a:spAutoFit/>
          </a:bodyPr>
          <a:lstStyle/>
          <a:p>
            <a:pPr algn="ctr">
              <a:defRPr/>
            </a:pPr>
            <a:r>
              <a:rPr lang="en-IN" sz="1667" b="1" dirty="0">
                <a:solidFill>
                  <a:prstClr val="black"/>
                </a:solidFill>
              </a:rPr>
              <a:t> XX</a:t>
            </a:r>
            <a:endParaRPr lang="en-IN" sz="1667" b="1" dirty="0">
              <a:solidFill>
                <a:prstClr val="black"/>
              </a:solidFill>
              <a:latin typeface="Calibri" panose="020F0502020204030204"/>
            </a:endParaRPr>
          </a:p>
        </p:txBody>
      </p:sp>
      <p:sp>
        <p:nvSpPr>
          <p:cNvPr id="7" name="TextBox 6"/>
          <p:cNvSpPr txBox="1"/>
          <p:nvPr/>
        </p:nvSpPr>
        <p:spPr>
          <a:xfrm>
            <a:off x="8367134" y="1449117"/>
            <a:ext cx="1617044" cy="348878"/>
          </a:xfrm>
          <a:prstGeom prst="rect">
            <a:avLst/>
          </a:prstGeom>
          <a:noFill/>
        </p:spPr>
        <p:txBody>
          <a:bodyPr wrap="square" rtlCol="0">
            <a:spAutoFit/>
          </a:bodyPr>
          <a:lstStyle/>
          <a:p>
            <a:pPr algn="ctr">
              <a:defRPr/>
            </a:pPr>
            <a:r>
              <a:rPr lang="en-IN" sz="1667" b="1" dirty="0">
                <a:solidFill>
                  <a:prstClr val="black"/>
                </a:solidFill>
              </a:rPr>
              <a:t> XX</a:t>
            </a:r>
          </a:p>
        </p:txBody>
      </p:sp>
      <p:sp>
        <p:nvSpPr>
          <p:cNvPr id="8" name="TextBox 7"/>
          <p:cNvSpPr txBox="1"/>
          <p:nvPr/>
        </p:nvSpPr>
        <p:spPr>
          <a:xfrm>
            <a:off x="10335749" y="1449117"/>
            <a:ext cx="1617044" cy="348878"/>
          </a:xfrm>
          <a:prstGeom prst="rect">
            <a:avLst/>
          </a:prstGeom>
          <a:noFill/>
        </p:spPr>
        <p:txBody>
          <a:bodyPr wrap="square" rtlCol="0">
            <a:spAutoFit/>
          </a:bodyPr>
          <a:lstStyle/>
          <a:p>
            <a:pPr algn="ctr">
              <a:defRPr/>
            </a:pPr>
            <a:r>
              <a:rPr lang="en-IN" sz="1667" b="1" dirty="0">
                <a:solidFill>
                  <a:prstClr val="black"/>
                </a:solidFill>
              </a:rPr>
              <a:t> XX</a:t>
            </a:r>
            <a:endParaRPr lang="en-IN" sz="1667" b="1" dirty="0">
              <a:solidFill>
                <a:prstClr val="black"/>
              </a:solidFill>
              <a:latin typeface="Calibri" panose="020F0502020204030204"/>
            </a:endParaRPr>
          </a:p>
        </p:txBody>
      </p:sp>
      <p:graphicFrame>
        <p:nvGraphicFramePr>
          <p:cNvPr id="26" name="Chart 25"/>
          <p:cNvGraphicFramePr/>
          <p:nvPr/>
        </p:nvGraphicFramePr>
        <p:xfrm>
          <a:off x="149263" y="1302973"/>
          <a:ext cx="2602383" cy="2246791"/>
        </p:xfrm>
        <a:graphic>
          <a:graphicData uri="http://schemas.openxmlformats.org/drawingml/2006/chart">
            <c:chart xmlns:c="http://schemas.openxmlformats.org/drawingml/2006/chart" xmlns:r="http://schemas.openxmlformats.org/officeDocument/2006/relationships" r:id="rId7"/>
          </a:graphicData>
        </a:graphic>
      </p:graphicFrame>
      <p:sp>
        <p:nvSpPr>
          <p:cNvPr id="27" name="TextBox 26"/>
          <p:cNvSpPr txBox="1"/>
          <p:nvPr/>
        </p:nvSpPr>
        <p:spPr>
          <a:xfrm>
            <a:off x="727987" y="1070668"/>
            <a:ext cx="1617044" cy="348878"/>
          </a:xfrm>
          <a:prstGeom prst="rect">
            <a:avLst/>
          </a:prstGeom>
          <a:noFill/>
        </p:spPr>
        <p:txBody>
          <a:bodyPr wrap="square" rtlCol="0">
            <a:spAutoFit/>
          </a:bodyPr>
          <a:lstStyle/>
          <a:p>
            <a:pPr algn="ctr">
              <a:defRPr/>
            </a:pPr>
            <a:r>
              <a:rPr lang="en-IN" sz="1667" b="1" dirty="0">
                <a:solidFill>
                  <a:prstClr val="black"/>
                </a:solidFill>
                <a:latin typeface="Calibri" panose="020F0502020204030204"/>
              </a:rPr>
              <a:t>Import Volume</a:t>
            </a:r>
          </a:p>
        </p:txBody>
      </p:sp>
      <p:sp>
        <p:nvSpPr>
          <p:cNvPr id="29" name="TextBox 28"/>
          <p:cNvSpPr txBox="1"/>
          <p:nvPr/>
        </p:nvSpPr>
        <p:spPr>
          <a:xfrm>
            <a:off x="194732" y="3689600"/>
            <a:ext cx="2506481" cy="1708929"/>
          </a:xfrm>
          <a:prstGeom prst="rect">
            <a:avLst/>
          </a:prstGeom>
          <a:noFill/>
        </p:spPr>
        <p:txBody>
          <a:bodyPr wrap="square" rtlCol="0">
            <a:spAutoFit/>
          </a:bodyPr>
          <a:lstStyle/>
          <a:p>
            <a:pPr>
              <a:lnSpc>
                <a:spcPct val="150000"/>
              </a:lnSpc>
              <a:defRPr/>
            </a:pPr>
            <a:r>
              <a:rPr lang="en-US" sz="1167" dirty="0">
                <a:solidFill>
                  <a:prstClr val="black"/>
                </a:solidFill>
              </a:rPr>
              <a:t>Import Possibilities, Top 5 Countries:</a:t>
            </a:r>
            <a:endParaRPr lang="en-US" sz="417" dirty="0">
              <a:solidFill>
                <a:prstClr val="black"/>
              </a:solidFill>
            </a:endParaRPr>
          </a:p>
          <a:p>
            <a:pPr marL="285739" indent="-285739">
              <a:lnSpc>
                <a:spcPct val="150000"/>
              </a:lnSpc>
              <a:buAutoNum type="arabicPeriod"/>
              <a:defRPr/>
            </a:pPr>
            <a:r>
              <a:rPr lang="en-US" sz="1167" b="1" dirty="0">
                <a:solidFill>
                  <a:prstClr val="black"/>
                </a:solidFill>
              </a:rPr>
              <a:t>Italy</a:t>
            </a:r>
            <a:r>
              <a:rPr lang="en-US" sz="1167" dirty="0">
                <a:solidFill>
                  <a:prstClr val="black"/>
                </a:solidFill>
              </a:rPr>
              <a:t> </a:t>
            </a:r>
          </a:p>
          <a:p>
            <a:pPr marL="285739" indent="-285739">
              <a:lnSpc>
                <a:spcPct val="150000"/>
              </a:lnSpc>
              <a:buAutoNum type="arabicPeriod"/>
              <a:defRPr/>
            </a:pPr>
            <a:r>
              <a:rPr lang="en-US" sz="1167" b="1" dirty="0">
                <a:solidFill>
                  <a:prstClr val="black"/>
                </a:solidFill>
              </a:rPr>
              <a:t>Germany</a:t>
            </a:r>
          </a:p>
          <a:p>
            <a:pPr marL="285739" indent="-285739">
              <a:lnSpc>
                <a:spcPct val="150000"/>
              </a:lnSpc>
              <a:buAutoNum type="arabicPeriod"/>
              <a:defRPr/>
            </a:pPr>
            <a:r>
              <a:rPr lang="en-US" sz="1167" b="1" dirty="0">
                <a:solidFill>
                  <a:prstClr val="black"/>
                </a:solidFill>
              </a:rPr>
              <a:t>Netherlands</a:t>
            </a:r>
          </a:p>
          <a:p>
            <a:pPr marL="285739" indent="-285739">
              <a:lnSpc>
                <a:spcPct val="150000"/>
              </a:lnSpc>
              <a:buAutoNum type="arabicPeriod"/>
              <a:defRPr/>
            </a:pPr>
            <a:r>
              <a:rPr lang="en-US" sz="1167" b="1" dirty="0">
                <a:solidFill>
                  <a:prstClr val="black"/>
                </a:solidFill>
              </a:rPr>
              <a:t>Spain</a:t>
            </a:r>
          </a:p>
          <a:p>
            <a:pPr marL="285739" indent="-285739">
              <a:lnSpc>
                <a:spcPct val="150000"/>
              </a:lnSpc>
              <a:buAutoNum type="arabicPeriod"/>
              <a:defRPr/>
            </a:pPr>
            <a:r>
              <a:rPr lang="en-US" sz="1167" b="1" dirty="0">
                <a:solidFill>
                  <a:prstClr val="black"/>
                </a:solidFill>
              </a:rPr>
              <a:t>Turkey</a:t>
            </a:r>
            <a:endParaRPr lang="en-IN" sz="1167" b="1" dirty="0">
              <a:solidFill>
                <a:prstClr val="black"/>
              </a:solidFill>
            </a:endParaRPr>
          </a:p>
        </p:txBody>
      </p:sp>
      <p:cxnSp>
        <p:nvCxnSpPr>
          <p:cNvPr id="36" name="Straight Connector 35"/>
          <p:cNvCxnSpPr/>
          <p:nvPr/>
        </p:nvCxnSpPr>
        <p:spPr>
          <a:xfrm>
            <a:off x="2789198" y="1270531"/>
            <a:ext cx="0" cy="4456098"/>
          </a:xfrm>
          <a:prstGeom prst="line">
            <a:avLst/>
          </a:prstGeom>
          <a:ln w="9525"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37" name="TextBox 36"/>
          <p:cNvSpPr txBox="1"/>
          <p:nvPr/>
        </p:nvSpPr>
        <p:spPr>
          <a:xfrm>
            <a:off x="3388472" y="1041067"/>
            <a:ext cx="552893" cy="307777"/>
          </a:xfrm>
          <a:prstGeom prst="rect">
            <a:avLst/>
          </a:prstGeom>
          <a:noFill/>
        </p:spPr>
        <p:txBody>
          <a:bodyPr wrap="square" rtlCol="0">
            <a:spAutoFit/>
          </a:bodyPr>
          <a:lstStyle/>
          <a:p>
            <a:pPr>
              <a:defRPr/>
            </a:pPr>
            <a:r>
              <a:rPr lang="en-IN" sz="1400" b="1" i="1" dirty="0">
                <a:solidFill>
                  <a:prstClr val="black"/>
                </a:solidFill>
                <a:latin typeface="Calibri" panose="020F0502020204030204"/>
              </a:rPr>
              <a:t>2019</a:t>
            </a:r>
          </a:p>
        </p:txBody>
      </p:sp>
      <p:sp>
        <p:nvSpPr>
          <p:cNvPr id="38" name="TextBox 37"/>
          <p:cNvSpPr txBox="1"/>
          <p:nvPr/>
        </p:nvSpPr>
        <p:spPr>
          <a:xfrm>
            <a:off x="5060758" y="1044607"/>
            <a:ext cx="552893" cy="307777"/>
          </a:xfrm>
          <a:prstGeom prst="rect">
            <a:avLst/>
          </a:prstGeom>
          <a:noFill/>
        </p:spPr>
        <p:txBody>
          <a:bodyPr wrap="square" rtlCol="0">
            <a:spAutoFit/>
          </a:bodyPr>
          <a:lstStyle/>
          <a:p>
            <a:pPr>
              <a:defRPr/>
            </a:pPr>
            <a:r>
              <a:rPr lang="en-IN" sz="1400" b="1" i="1" dirty="0">
                <a:solidFill>
                  <a:prstClr val="black"/>
                </a:solidFill>
                <a:latin typeface="Calibri" panose="020F0502020204030204"/>
              </a:rPr>
              <a:t>2020</a:t>
            </a:r>
          </a:p>
        </p:txBody>
      </p:sp>
      <p:sp>
        <p:nvSpPr>
          <p:cNvPr id="39" name="TextBox 38"/>
          <p:cNvSpPr txBox="1"/>
          <p:nvPr/>
        </p:nvSpPr>
        <p:spPr>
          <a:xfrm>
            <a:off x="6930597" y="1041067"/>
            <a:ext cx="552893" cy="307777"/>
          </a:xfrm>
          <a:prstGeom prst="rect">
            <a:avLst/>
          </a:prstGeom>
          <a:noFill/>
        </p:spPr>
        <p:txBody>
          <a:bodyPr wrap="square" rtlCol="0">
            <a:spAutoFit/>
          </a:bodyPr>
          <a:lstStyle/>
          <a:p>
            <a:pPr>
              <a:defRPr/>
            </a:pPr>
            <a:r>
              <a:rPr lang="en-IN" sz="1400" b="1" i="1" dirty="0">
                <a:solidFill>
                  <a:prstClr val="black"/>
                </a:solidFill>
                <a:latin typeface="Calibri" panose="020F0502020204030204"/>
              </a:rPr>
              <a:t>2021</a:t>
            </a:r>
          </a:p>
        </p:txBody>
      </p:sp>
      <p:sp>
        <p:nvSpPr>
          <p:cNvPr id="40" name="TextBox 39"/>
          <p:cNvSpPr txBox="1"/>
          <p:nvPr/>
        </p:nvSpPr>
        <p:spPr>
          <a:xfrm>
            <a:off x="8899210" y="1042225"/>
            <a:ext cx="552893" cy="307777"/>
          </a:xfrm>
          <a:prstGeom prst="rect">
            <a:avLst/>
          </a:prstGeom>
          <a:noFill/>
        </p:spPr>
        <p:txBody>
          <a:bodyPr wrap="square" rtlCol="0">
            <a:spAutoFit/>
          </a:bodyPr>
          <a:lstStyle/>
          <a:p>
            <a:pPr>
              <a:defRPr/>
            </a:pPr>
            <a:r>
              <a:rPr lang="en-IN" sz="1400" b="1" i="1" dirty="0">
                <a:solidFill>
                  <a:prstClr val="black"/>
                </a:solidFill>
                <a:latin typeface="Calibri" panose="020F0502020204030204"/>
              </a:rPr>
              <a:t>2022</a:t>
            </a:r>
          </a:p>
        </p:txBody>
      </p:sp>
      <p:sp>
        <p:nvSpPr>
          <p:cNvPr id="41" name="TextBox 40"/>
          <p:cNvSpPr txBox="1"/>
          <p:nvPr/>
        </p:nvSpPr>
        <p:spPr>
          <a:xfrm>
            <a:off x="10867824" y="1041067"/>
            <a:ext cx="552893" cy="307777"/>
          </a:xfrm>
          <a:prstGeom prst="rect">
            <a:avLst/>
          </a:prstGeom>
          <a:noFill/>
        </p:spPr>
        <p:txBody>
          <a:bodyPr wrap="square" rtlCol="0">
            <a:spAutoFit/>
          </a:bodyPr>
          <a:lstStyle/>
          <a:p>
            <a:pPr>
              <a:defRPr/>
            </a:pPr>
            <a:r>
              <a:rPr lang="en-IN" sz="1400" b="1" i="1" dirty="0">
                <a:solidFill>
                  <a:prstClr val="black"/>
                </a:solidFill>
                <a:latin typeface="Calibri" panose="020F0502020204030204"/>
              </a:rPr>
              <a:t>2023</a:t>
            </a:r>
          </a:p>
        </p:txBody>
      </p:sp>
      <p:sp>
        <p:nvSpPr>
          <p:cNvPr id="42" name="Isosceles Triangle 41"/>
          <p:cNvSpPr/>
          <p:nvPr/>
        </p:nvSpPr>
        <p:spPr>
          <a:xfrm flipV="1">
            <a:off x="3568905" y="1321976"/>
            <a:ext cx="192024" cy="91440"/>
          </a:xfrm>
          <a:prstGeom prst="triangl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sz="2000" dirty="0">
              <a:solidFill>
                <a:prstClr val="white"/>
              </a:solidFill>
              <a:latin typeface="Calibri" panose="020F0502020204030204"/>
            </a:endParaRPr>
          </a:p>
        </p:txBody>
      </p:sp>
      <p:sp>
        <p:nvSpPr>
          <p:cNvPr id="43" name="Isosceles Triangle 42"/>
          <p:cNvSpPr/>
          <p:nvPr/>
        </p:nvSpPr>
        <p:spPr>
          <a:xfrm flipV="1">
            <a:off x="5236947" y="1321978"/>
            <a:ext cx="192024" cy="91440"/>
          </a:xfrm>
          <a:prstGeom prst="triangl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sz="2000" dirty="0">
              <a:solidFill>
                <a:prstClr val="white"/>
              </a:solidFill>
              <a:latin typeface="Calibri" panose="020F0502020204030204"/>
            </a:endParaRPr>
          </a:p>
        </p:txBody>
      </p:sp>
      <p:sp>
        <p:nvSpPr>
          <p:cNvPr id="44" name="Isosceles Triangle 43"/>
          <p:cNvSpPr/>
          <p:nvPr/>
        </p:nvSpPr>
        <p:spPr>
          <a:xfrm flipV="1">
            <a:off x="7102540" y="1293754"/>
            <a:ext cx="192024" cy="91440"/>
          </a:xfrm>
          <a:prstGeom prst="triangl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sz="2000" dirty="0">
              <a:solidFill>
                <a:prstClr val="white"/>
              </a:solidFill>
              <a:latin typeface="Calibri" panose="020F0502020204030204"/>
            </a:endParaRPr>
          </a:p>
        </p:txBody>
      </p:sp>
      <p:sp>
        <p:nvSpPr>
          <p:cNvPr id="45" name="Isosceles Triangle 44"/>
          <p:cNvSpPr/>
          <p:nvPr/>
        </p:nvSpPr>
        <p:spPr>
          <a:xfrm flipV="1">
            <a:off x="9066909" y="1336088"/>
            <a:ext cx="192024" cy="91440"/>
          </a:xfrm>
          <a:prstGeom prst="triangl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sz="2000" dirty="0">
              <a:solidFill>
                <a:prstClr val="white"/>
              </a:solidFill>
              <a:latin typeface="Calibri" panose="020F0502020204030204"/>
            </a:endParaRPr>
          </a:p>
        </p:txBody>
      </p:sp>
      <p:sp>
        <p:nvSpPr>
          <p:cNvPr id="46" name="Isosceles Triangle 45"/>
          <p:cNvSpPr/>
          <p:nvPr/>
        </p:nvSpPr>
        <p:spPr>
          <a:xfrm flipV="1">
            <a:off x="11031279" y="1293754"/>
            <a:ext cx="192024" cy="91440"/>
          </a:xfrm>
          <a:prstGeom prst="triangl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sz="2000" dirty="0">
              <a:solidFill>
                <a:prstClr val="white"/>
              </a:solidFill>
              <a:latin typeface="Calibri" panose="020F0502020204030204"/>
            </a:endParaRPr>
          </a:p>
        </p:txBody>
      </p:sp>
      <p:graphicFrame>
        <p:nvGraphicFramePr>
          <p:cNvPr id="35" name="Chart 34"/>
          <p:cNvGraphicFramePr/>
          <p:nvPr/>
        </p:nvGraphicFramePr>
        <p:xfrm>
          <a:off x="4460979" y="1584889"/>
          <a:ext cx="1752848" cy="189659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8" name="Chart 47"/>
          <p:cNvGraphicFramePr/>
          <p:nvPr/>
        </p:nvGraphicFramePr>
        <p:xfrm>
          <a:off x="6193307" y="1584889"/>
          <a:ext cx="1752848" cy="189659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49" name="Chart 48"/>
          <p:cNvGraphicFramePr/>
          <p:nvPr/>
        </p:nvGraphicFramePr>
        <p:xfrm>
          <a:off x="8309784" y="1584889"/>
          <a:ext cx="1752848" cy="189659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50" name="Chart 49"/>
          <p:cNvGraphicFramePr/>
          <p:nvPr/>
        </p:nvGraphicFramePr>
        <p:xfrm>
          <a:off x="10261419" y="1584889"/>
          <a:ext cx="1752848" cy="189659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52" name="Chart 51"/>
          <p:cNvGraphicFramePr/>
          <p:nvPr/>
        </p:nvGraphicFramePr>
        <p:xfrm>
          <a:off x="4363005" y="3398401"/>
          <a:ext cx="2103456" cy="2877243"/>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54" name="Chart 53"/>
          <p:cNvGraphicFramePr/>
          <p:nvPr/>
        </p:nvGraphicFramePr>
        <p:xfrm>
          <a:off x="8267071" y="3399012"/>
          <a:ext cx="2103456" cy="2877243"/>
        </p:xfrm>
        <a:graphic>
          <a:graphicData uri="http://schemas.openxmlformats.org/drawingml/2006/chart">
            <c:chart xmlns:c="http://schemas.openxmlformats.org/drawingml/2006/chart" xmlns:r="http://schemas.openxmlformats.org/officeDocument/2006/relationships" r:id="rId13"/>
          </a:graphicData>
        </a:graphic>
      </p:graphicFrame>
      <p:sp>
        <p:nvSpPr>
          <p:cNvPr id="32" name="TextBox 31"/>
          <p:cNvSpPr txBox="1"/>
          <p:nvPr/>
        </p:nvSpPr>
        <p:spPr>
          <a:xfrm>
            <a:off x="10564910" y="540340"/>
            <a:ext cx="1617044" cy="271934"/>
          </a:xfrm>
          <a:prstGeom prst="rect">
            <a:avLst/>
          </a:prstGeom>
          <a:noFill/>
        </p:spPr>
        <p:txBody>
          <a:bodyPr wrap="square" rtlCol="0">
            <a:spAutoFit/>
          </a:bodyPr>
          <a:lstStyle/>
          <a:p>
            <a:pPr algn="ctr">
              <a:defRPr/>
            </a:pPr>
            <a:r>
              <a:rPr lang="en-IN" sz="1167" b="1" dirty="0">
                <a:solidFill>
                  <a:prstClr val="black"/>
                </a:solidFill>
                <a:latin typeface="Calibri" panose="020F0502020204030204"/>
              </a:rPr>
              <a:t>All numbers are in KT</a:t>
            </a:r>
          </a:p>
        </p:txBody>
      </p:sp>
      <p:sp>
        <p:nvSpPr>
          <p:cNvPr id="34" name="TextBox 33"/>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47" name="TextBox 46"/>
          <p:cNvSpPr txBox="1"/>
          <p:nvPr/>
        </p:nvSpPr>
        <p:spPr>
          <a:xfrm>
            <a:off x="8565031" y="6228808"/>
            <a:ext cx="3077766" cy="123111"/>
          </a:xfrm>
          <a:prstGeom prst="rect">
            <a:avLst/>
          </a:prstGeom>
          <a:noFill/>
        </p:spPr>
        <p:txBody>
          <a:bodyPr wrap="none" lIns="0" tIns="0" rIns="0" bIns="0" rtlCol="0">
            <a:spAutoFit/>
          </a:bodyPr>
          <a:lstStyle/>
          <a:p>
            <a:pPr defTabSz="966537"/>
            <a:r>
              <a:rPr lang="en-US" sz="800" dirty="0"/>
              <a:t>NOTE: This information will be provided as per our paid database (VOLZA)</a:t>
            </a:r>
          </a:p>
        </p:txBody>
      </p:sp>
    </p:spTree>
    <p:extLst>
      <p:ext uri="{BB962C8B-B14F-4D97-AF65-F5344CB8AC3E}">
        <p14:creationId xmlns:p14="http://schemas.microsoft.com/office/powerpoint/2010/main" val="3811744681"/>
      </p:ext>
    </p:extLst>
  </p:cSld>
  <p:clrMapOvr>
    <a:masterClrMapping/>
  </p:clrMapOvr>
  <p:extLst>
    <p:ext uri="{6950BFC3-D8DA-4A85-94F7-54DA5524770B}">
      <p188:commentRel xmlns:p188="http://schemas.microsoft.com/office/powerpoint/2018/8/main" r:id="rId2"/>
    </p:ext>
  </p:extLs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a:t>WXYZ – Global export volume by key countries </a:t>
            </a:r>
            <a:endParaRPr lang="en-IN" dirty="0"/>
          </a:p>
        </p:txBody>
      </p:sp>
      <p:sp>
        <p:nvSpPr>
          <p:cNvPr id="8" name="Slide Number Placeholder 7"/>
          <p:cNvSpPr>
            <a:spLocks noGrp="1"/>
          </p:cNvSpPr>
          <p:nvPr>
            <p:ph type="sldNum" sz="quarter" idx="4"/>
          </p:nvPr>
        </p:nvSpPr>
        <p:spPr/>
        <p:txBody>
          <a:bodyPr/>
          <a:lstStyle/>
          <a:p>
            <a:fld id="{4B17068C-EB94-40A3-A5F2-664CDD77FDAC}" type="slidenum">
              <a:rPr lang="en-GB" smtClean="0"/>
              <a:pPr/>
              <a:t>86</a:t>
            </a:fld>
            <a:endParaRPr lang="en-GB" dirty="0"/>
          </a:p>
        </p:txBody>
      </p:sp>
      <p:graphicFrame>
        <p:nvGraphicFramePr>
          <p:cNvPr id="26" name="Chart 25"/>
          <p:cNvGraphicFramePr/>
          <p:nvPr/>
        </p:nvGraphicFramePr>
        <p:xfrm>
          <a:off x="149263" y="1302973"/>
          <a:ext cx="2602383" cy="2246791"/>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Box 26"/>
          <p:cNvSpPr txBox="1"/>
          <p:nvPr/>
        </p:nvSpPr>
        <p:spPr>
          <a:xfrm>
            <a:off x="708962" y="1128534"/>
            <a:ext cx="1617044" cy="348878"/>
          </a:xfrm>
          <a:prstGeom prst="rect">
            <a:avLst/>
          </a:prstGeom>
          <a:noFill/>
        </p:spPr>
        <p:txBody>
          <a:bodyPr wrap="square" rtlCol="0">
            <a:spAutoFit/>
          </a:bodyPr>
          <a:lstStyle/>
          <a:p>
            <a:pPr algn="ctr">
              <a:defRPr/>
            </a:pPr>
            <a:r>
              <a:rPr lang="en-IN" sz="1667" b="1" dirty="0">
                <a:solidFill>
                  <a:prstClr val="black"/>
                </a:solidFill>
                <a:latin typeface="Calibri" panose="020F0502020204030204"/>
              </a:rPr>
              <a:t>Export Volume</a:t>
            </a:r>
          </a:p>
        </p:txBody>
      </p:sp>
      <p:cxnSp>
        <p:nvCxnSpPr>
          <p:cNvPr id="36" name="Straight Connector 35"/>
          <p:cNvCxnSpPr/>
          <p:nvPr/>
        </p:nvCxnSpPr>
        <p:spPr>
          <a:xfrm>
            <a:off x="2789198" y="1270531"/>
            <a:ext cx="0" cy="5130000"/>
          </a:xfrm>
          <a:prstGeom prst="line">
            <a:avLst/>
          </a:prstGeom>
          <a:ln w="9525"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nvGrpSpPr>
          <p:cNvPr id="3" name="Group 2"/>
          <p:cNvGrpSpPr/>
          <p:nvPr/>
        </p:nvGrpSpPr>
        <p:grpSpPr>
          <a:xfrm>
            <a:off x="2897897" y="1026810"/>
            <a:ext cx="2103456" cy="5406683"/>
            <a:chOff x="3317820" y="1043486"/>
            <a:chExt cx="2524147" cy="6488020"/>
          </a:xfrm>
        </p:grpSpPr>
        <p:graphicFrame>
          <p:nvGraphicFramePr>
            <p:cNvPr id="11" name="Chart 10"/>
            <p:cNvGraphicFramePr/>
            <p:nvPr/>
          </p:nvGraphicFramePr>
          <p:xfrm>
            <a:off x="3528184" y="1901866"/>
            <a:ext cx="2103418" cy="227591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9" name="Chart 18"/>
            <p:cNvGraphicFramePr/>
            <p:nvPr/>
          </p:nvGraphicFramePr>
          <p:xfrm>
            <a:off x="3317820" y="4078814"/>
            <a:ext cx="2524147" cy="3452692"/>
          </p:xfrm>
          <a:graphic>
            <a:graphicData uri="http://schemas.openxmlformats.org/drawingml/2006/chart">
              <c:chart xmlns:c="http://schemas.openxmlformats.org/drawingml/2006/chart" xmlns:r="http://schemas.openxmlformats.org/officeDocument/2006/relationships" r:id="rId5"/>
            </a:graphicData>
          </a:graphic>
        </p:graphicFrame>
        <p:sp>
          <p:nvSpPr>
            <p:cNvPr id="37" name="TextBox 36"/>
            <p:cNvSpPr txBox="1"/>
            <p:nvPr/>
          </p:nvSpPr>
          <p:spPr>
            <a:xfrm>
              <a:off x="4248157" y="1043486"/>
              <a:ext cx="663472" cy="369332"/>
            </a:xfrm>
            <a:prstGeom prst="rect">
              <a:avLst/>
            </a:prstGeom>
            <a:noFill/>
          </p:spPr>
          <p:txBody>
            <a:bodyPr wrap="square" rtlCol="0">
              <a:spAutoFit/>
            </a:bodyPr>
            <a:lstStyle/>
            <a:p>
              <a:pPr>
                <a:defRPr/>
              </a:pPr>
              <a:r>
                <a:rPr lang="en-IN" sz="1400" b="1" i="1" dirty="0">
                  <a:solidFill>
                    <a:prstClr val="black"/>
                  </a:solidFill>
                  <a:latin typeface="Calibri" panose="020F0502020204030204"/>
                </a:rPr>
                <a:t>2019</a:t>
              </a:r>
            </a:p>
          </p:txBody>
        </p:sp>
        <p:sp>
          <p:nvSpPr>
            <p:cNvPr id="42" name="Isosceles Triangle 41"/>
            <p:cNvSpPr/>
            <p:nvPr/>
          </p:nvSpPr>
          <p:spPr>
            <a:xfrm flipV="1">
              <a:off x="4464679" y="1380577"/>
              <a:ext cx="230429" cy="109728"/>
            </a:xfrm>
            <a:prstGeom prst="triangl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sz="2000" dirty="0">
                <a:solidFill>
                  <a:prstClr val="white"/>
                </a:solidFill>
                <a:latin typeface="Calibri" panose="020F0502020204030204"/>
              </a:endParaRPr>
            </a:p>
          </p:txBody>
        </p:sp>
        <p:sp>
          <p:nvSpPr>
            <p:cNvPr id="61" name="TextBox 60"/>
            <p:cNvSpPr txBox="1"/>
            <p:nvPr/>
          </p:nvSpPr>
          <p:spPr>
            <a:xfrm>
              <a:off x="3609667" y="1533146"/>
              <a:ext cx="1940453" cy="418654"/>
            </a:xfrm>
            <a:prstGeom prst="rect">
              <a:avLst/>
            </a:prstGeom>
            <a:noFill/>
          </p:spPr>
          <p:txBody>
            <a:bodyPr wrap="square" rtlCol="0">
              <a:spAutoFit/>
            </a:bodyPr>
            <a:lstStyle/>
            <a:p>
              <a:pPr algn="ctr">
                <a:defRPr/>
              </a:pPr>
              <a:r>
                <a:rPr lang="en-IN" sz="1667" b="1" dirty="0">
                  <a:solidFill>
                    <a:prstClr val="black"/>
                  </a:solidFill>
                </a:rPr>
                <a:t>  XX</a:t>
              </a:r>
              <a:endParaRPr lang="en-IN" sz="1667" b="1" dirty="0">
                <a:solidFill>
                  <a:prstClr val="black"/>
                </a:solidFill>
                <a:latin typeface="Calibri" panose="020F0502020204030204"/>
              </a:endParaRPr>
            </a:p>
          </p:txBody>
        </p:sp>
      </p:grpSp>
      <p:grpSp>
        <p:nvGrpSpPr>
          <p:cNvPr id="4" name="Group 3"/>
          <p:cNvGrpSpPr/>
          <p:nvPr/>
        </p:nvGrpSpPr>
        <p:grpSpPr>
          <a:xfrm>
            <a:off x="5205600" y="1030350"/>
            <a:ext cx="2103456" cy="5403143"/>
            <a:chOff x="5440392" y="1047734"/>
            <a:chExt cx="2524147" cy="6483772"/>
          </a:xfrm>
        </p:grpSpPr>
        <p:sp>
          <p:nvSpPr>
            <p:cNvPr id="38" name="TextBox 37"/>
            <p:cNvSpPr txBox="1"/>
            <p:nvPr/>
          </p:nvSpPr>
          <p:spPr>
            <a:xfrm>
              <a:off x="6370729" y="1047734"/>
              <a:ext cx="663472" cy="369332"/>
            </a:xfrm>
            <a:prstGeom prst="rect">
              <a:avLst/>
            </a:prstGeom>
            <a:noFill/>
          </p:spPr>
          <p:txBody>
            <a:bodyPr wrap="square" rtlCol="0">
              <a:spAutoFit/>
            </a:bodyPr>
            <a:lstStyle/>
            <a:p>
              <a:pPr>
                <a:defRPr/>
              </a:pPr>
              <a:r>
                <a:rPr lang="en-IN" sz="1400" b="1" i="1" dirty="0">
                  <a:solidFill>
                    <a:prstClr val="black"/>
                  </a:solidFill>
                  <a:latin typeface="Calibri" panose="020F0502020204030204"/>
                </a:rPr>
                <a:t>2020</a:t>
              </a:r>
            </a:p>
          </p:txBody>
        </p:sp>
        <p:sp>
          <p:nvSpPr>
            <p:cNvPr id="43" name="Isosceles Triangle 42"/>
            <p:cNvSpPr/>
            <p:nvPr/>
          </p:nvSpPr>
          <p:spPr>
            <a:xfrm flipV="1">
              <a:off x="6587251" y="1380579"/>
              <a:ext cx="230429" cy="109728"/>
            </a:xfrm>
            <a:prstGeom prst="triangl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sz="2000" dirty="0">
                <a:solidFill>
                  <a:prstClr val="white"/>
                </a:solidFill>
                <a:latin typeface="Calibri" panose="020F0502020204030204"/>
              </a:endParaRPr>
            </a:p>
          </p:txBody>
        </p:sp>
        <p:graphicFrame>
          <p:nvGraphicFramePr>
            <p:cNvPr id="35" name="Chart 34"/>
            <p:cNvGraphicFramePr/>
            <p:nvPr/>
          </p:nvGraphicFramePr>
          <p:xfrm>
            <a:off x="5650756" y="1901866"/>
            <a:ext cx="2103418" cy="227591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1" name="Chart 50"/>
            <p:cNvGraphicFramePr/>
            <p:nvPr/>
          </p:nvGraphicFramePr>
          <p:xfrm>
            <a:off x="5440392" y="4078814"/>
            <a:ext cx="2524147" cy="3452692"/>
          </p:xfrm>
          <a:graphic>
            <a:graphicData uri="http://schemas.openxmlformats.org/drawingml/2006/chart">
              <c:chart xmlns:c="http://schemas.openxmlformats.org/drawingml/2006/chart" xmlns:r="http://schemas.openxmlformats.org/officeDocument/2006/relationships" r:id="rId7"/>
            </a:graphicData>
          </a:graphic>
        </p:graphicFrame>
        <p:sp>
          <p:nvSpPr>
            <p:cNvPr id="62" name="TextBox 61"/>
            <p:cNvSpPr txBox="1"/>
            <p:nvPr/>
          </p:nvSpPr>
          <p:spPr>
            <a:xfrm>
              <a:off x="5732239" y="1533146"/>
              <a:ext cx="1940453" cy="418654"/>
            </a:xfrm>
            <a:prstGeom prst="rect">
              <a:avLst/>
            </a:prstGeom>
            <a:noFill/>
          </p:spPr>
          <p:txBody>
            <a:bodyPr wrap="square" rtlCol="0">
              <a:spAutoFit/>
            </a:bodyPr>
            <a:lstStyle/>
            <a:p>
              <a:pPr algn="ctr">
                <a:defRPr/>
              </a:pPr>
              <a:r>
                <a:rPr lang="en-IN" sz="1667" b="1" dirty="0">
                  <a:solidFill>
                    <a:prstClr val="black"/>
                  </a:solidFill>
                </a:rPr>
                <a:t>  XX</a:t>
              </a:r>
              <a:endParaRPr lang="en-IN" sz="1667" b="1" dirty="0">
                <a:solidFill>
                  <a:prstClr val="black"/>
                </a:solidFill>
                <a:latin typeface="Calibri" panose="020F0502020204030204"/>
              </a:endParaRPr>
            </a:p>
          </p:txBody>
        </p:sp>
      </p:grpSp>
      <p:grpSp>
        <p:nvGrpSpPr>
          <p:cNvPr id="5" name="Group 4"/>
          <p:cNvGrpSpPr/>
          <p:nvPr/>
        </p:nvGrpSpPr>
        <p:grpSpPr>
          <a:xfrm>
            <a:off x="7513304" y="1026810"/>
            <a:ext cx="2103456" cy="5406683"/>
            <a:chOff x="7608244" y="1043486"/>
            <a:chExt cx="2524147" cy="6488020"/>
          </a:xfrm>
        </p:grpSpPr>
        <p:sp>
          <p:nvSpPr>
            <p:cNvPr id="39" name="TextBox 38"/>
            <p:cNvSpPr txBox="1"/>
            <p:nvPr/>
          </p:nvSpPr>
          <p:spPr>
            <a:xfrm>
              <a:off x="8538581" y="1043486"/>
              <a:ext cx="663472" cy="369332"/>
            </a:xfrm>
            <a:prstGeom prst="rect">
              <a:avLst/>
            </a:prstGeom>
            <a:noFill/>
          </p:spPr>
          <p:txBody>
            <a:bodyPr wrap="square" rtlCol="0">
              <a:spAutoFit/>
            </a:bodyPr>
            <a:lstStyle/>
            <a:p>
              <a:pPr>
                <a:defRPr/>
              </a:pPr>
              <a:r>
                <a:rPr lang="en-IN" sz="1400" b="1" i="1" dirty="0">
                  <a:solidFill>
                    <a:prstClr val="black"/>
                  </a:solidFill>
                  <a:latin typeface="Calibri" panose="020F0502020204030204"/>
                </a:rPr>
                <a:t>2021</a:t>
              </a:r>
            </a:p>
          </p:txBody>
        </p:sp>
        <p:sp>
          <p:nvSpPr>
            <p:cNvPr id="44" name="Isosceles Triangle 43"/>
            <p:cNvSpPr/>
            <p:nvPr/>
          </p:nvSpPr>
          <p:spPr>
            <a:xfrm flipV="1">
              <a:off x="8755103" y="1346711"/>
              <a:ext cx="230429" cy="109728"/>
            </a:xfrm>
            <a:prstGeom prst="triangl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sz="2000" dirty="0">
                <a:solidFill>
                  <a:prstClr val="white"/>
                </a:solidFill>
                <a:latin typeface="Calibri" panose="020F0502020204030204"/>
              </a:endParaRPr>
            </a:p>
          </p:txBody>
        </p:sp>
        <p:graphicFrame>
          <p:nvGraphicFramePr>
            <p:cNvPr id="48" name="Chart 47"/>
            <p:cNvGraphicFramePr/>
            <p:nvPr/>
          </p:nvGraphicFramePr>
          <p:xfrm>
            <a:off x="7818608" y="1901866"/>
            <a:ext cx="2103418" cy="227591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58" name="Chart 57"/>
            <p:cNvGraphicFramePr/>
            <p:nvPr/>
          </p:nvGraphicFramePr>
          <p:xfrm>
            <a:off x="7608244" y="4078814"/>
            <a:ext cx="2524147" cy="3452692"/>
          </p:xfrm>
          <a:graphic>
            <a:graphicData uri="http://schemas.openxmlformats.org/drawingml/2006/chart">
              <c:chart xmlns:c="http://schemas.openxmlformats.org/drawingml/2006/chart" xmlns:r="http://schemas.openxmlformats.org/officeDocument/2006/relationships" r:id="rId9"/>
            </a:graphicData>
          </a:graphic>
        </p:graphicFrame>
        <p:sp>
          <p:nvSpPr>
            <p:cNvPr id="63" name="TextBox 62"/>
            <p:cNvSpPr txBox="1"/>
            <p:nvPr/>
          </p:nvSpPr>
          <p:spPr>
            <a:xfrm>
              <a:off x="7900091" y="1533146"/>
              <a:ext cx="1940453" cy="418654"/>
            </a:xfrm>
            <a:prstGeom prst="rect">
              <a:avLst/>
            </a:prstGeom>
            <a:noFill/>
          </p:spPr>
          <p:txBody>
            <a:bodyPr wrap="square" rtlCol="0">
              <a:spAutoFit/>
            </a:bodyPr>
            <a:lstStyle/>
            <a:p>
              <a:pPr algn="ctr">
                <a:defRPr/>
              </a:pPr>
              <a:r>
                <a:rPr lang="en-IN" sz="1667" b="1" dirty="0">
                  <a:solidFill>
                    <a:prstClr val="black"/>
                  </a:solidFill>
                </a:rPr>
                <a:t>  XX</a:t>
              </a:r>
              <a:endParaRPr lang="en-IN" sz="1667" b="1" dirty="0">
                <a:solidFill>
                  <a:prstClr val="black"/>
                </a:solidFill>
                <a:latin typeface="Calibri" panose="020F0502020204030204"/>
              </a:endParaRPr>
            </a:p>
          </p:txBody>
        </p:sp>
      </p:grpSp>
      <p:grpSp>
        <p:nvGrpSpPr>
          <p:cNvPr id="6" name="Group 5"/>
          <p:cNvGrpSpPr/>
          <p:nvPr/>
        </p:nvGrpSpPr>
        <p:grpSpPr>
          <a:xfrm>
            <a:off x="9821006" y="1027968"/>
            <a:ext cx="2103456" cy="5405525"/>
            <a:chOff x="9844376" y="1044876"/>
            <a:chExt cx="2524147" cy="6486630"/>
          </a:xfrm>
        </p:grpSpPr>
        <p:sp>
          <p:nvSpPr>
            <p:cNvPr id="40" name="TextBox 39"/>
            <p:cNvSpPr txBox="1"/>
            <p:nvPr/>
          </p:nvSpPr>
          <p:spPr>
            <a:xfrm>
              <a:off x="10774713" y="1044876"/>
              <a:ext cx="663472" cy="369332"/>
            </a:xfrm>
            <a:prstGeom prst="rect">
              <a:avLst/>
            </a:prstGeom>
            <a:noFill/>
          </p:spPr>
          <p:txBody>
            <a:bodyPr wrap="square" rtlCol="0">
              <a:spAutoFit/>
            </a:bodyPr>
            <a:lstStyle/>
            <a:p>
              <a:pPr>
                <a:defRPr/>
              </a:pPr>
              <a:r>
                <a:rPr lang="en-IN" sz="1400" b="1" i="1" dirty="0">
                  <a:solidFill>
                    <a:prstClr val="black"/>
                  </a:solidFill>
                  <a:latin typeface="Calibri" panose="020F0502020204030204"/>
                </a:rPr>
                <a:t>2022</a:t>
              </a:r>
            </a:p>
          </p:txBody>
        </p:sp>
        <p:sp>
          <p:nvSpPr>
            <p:cNvPr id="45" name="Isosceles Triangle 44"/>
            <p:cNvSpPr/>
            <p:nvPr/>
          </p:nvSpPr>
          <p:spPr>
            <a:xfrm flipV="1">
              <a:off x="10991235" y="1397512"/>
              <a:ext cx="230429" cy="109728"/>
            </a:xfrm>
            <a:prstGeom prst="triangl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sz="2000" dirty="0">
                <a:solidFill>
                  <a:prstClr val="white"/>
                </a:solidFill>
                <a:latin typeface="Calibri" panose="020F0502020204030204"/>
              </a:endParaRPr>
            </a:p>
          </p:txBody>
        </p:sp>
        <p:graphicFrame>
          <p:nvGraphicFramePr>
            <p:cNvPr id="49" name="Chart 48"/>
            <p:cNvGraphicFramePr/>
            <p:nvPr/>
          </p:nvGraphicFramePr>
          <p:xfrm>
            <a:off x="10054740" y="1901866"/>
            <a:ext cx="2103418" cy="227591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59" name="Chart 58"/>
            <p:cNvGraphicFramePr/>
            <p:nvPr/>
          </p:nvGraphicFramePr>
          <p:xfrm>
            <a:off x="9844376" y="4078814"/>
            <a:ext cx="2524147" cy="3452692"/>
          </p:xfrm>
          <a:graphic>
            <a:graphicData uri="http://schemas.openxmlformats.org/drawingml/2006/chart">
              <c:chart xmlns:c="http://schemas.openxmlformats.org/drawingml/2006/chart" xmlns:r="http://schemas.openxmlformats.org/officeDocument/2006/relationships" r:id="rId11"/>
            </a:graphicData>
          </a:graphic>
        </p:graphicFrame>
        <p:sp>
          <p:nvSpPr>
            <p:cNvPr id="64" name="TextBox 63"/>
            <p:cNvSpPr txBox="1"/>
            <p:nvPr/>
          </p:nvSpPr>
          <p:spPr>
            <a:xfrm>
              <a:off x="10136223" y="1533146"/>
              <a:ext cx="1940453" cy="418654"/>
            </a:xfrm>
            <a:prstGeom prst="rect">
              <a:avLst/>
            </a:prstGeom>
            <a:noFill/>
          </p:spPr>
          <p:txBody>
            <a:bodyPr wrap="square" rtlCol="0">
              <a:spAutoFit/>
            </a:bodyPr>
            <a:lstStyle/>
            <a:p>
              <a:pPr algn="ctr">
                <a:defRPr/>
              </a:pPr>
              <a:r>
                <a:rPr lang="en-IN" sz="1667" b="1" dirty="0">
                  <a:solidFill>
                    <a:prstClr val="black"/>
                  </a:solidFill>
                </a:rPr>
                <a:t>  XX</a:t>
              </a:r>
            </a:p>
          </p:txBody>
        </p:sp>
      </p:grpSp>
      <p:sp>
        <p:nvSpPr>
          <p:cNvPr id="66" name="TextBox 65"/>
          <p:cNvSpPr txBox="1"/>
          <p:nvPr/>
        </p:nvSpPr>
        <p:spPr>
          <a:xfrm>
            <a:off x="10564910" y="540340"/>
            <a:ext cx="1617044" cy="271934"/>
          </a:xfrm>
          <a:prstGeom prst="rect">
            <a:avLst/>
          </a:prstGeom>
          <a:noFill/>
        </p:spPr>
        <p:txBody>
          <a:bodyPr wrap="square" rtlCol="0">
            <a:spAutoFit/>
          </a:bodyPr>
          <a:lstStyle/>
          <a:p>
            <a:pPr algn="ctr">
              <a:defRPr/>
            </a:pPr>
            <a:r>
              <a:rPr lang="en-IN" sz="1167" b="1" dirty="0">
                <a:solidFill>
                  <a:prstClr val="black"/>
                </a:solidFill>
                <a:latin typeface="Calibri" panose="020F0502020204030204"/>
              </a:rPr>
              <a:t>All numbers are in KT</a:t>
            </a:r>
          </a:p>
        </p:txBody>
      </p:sp>
      <p:sp>
        <p:nvSpPr>
          <p:cNvPr id="32" name="TextBox 31"/>
          <p:cNvSpPr txBox="1"/>
          <p:nvPr/>
        </p:nvSpPr>
        <p:spPr>
          <a:xfrm>
            <a:off x="194732" y="3689600"/>
            <a:ext cx="2506481" cy="1978362"/>
          </a:xfrm>
          <a:prstGeom prst="rect">
            <a:avLst/>
          </a:prstGeom>
          <a:noFill/>
        </p:spPr>
        <p:txBody>
          <a:bodyPr wrap="square" rtlCol="0">
            <a:spAutoFit/>
          </a:bodyPr>
          <a:lstStyle/>
          <a:p>
            <a:pPr>
              <a:lnSpc>
                <a:spcPct val="150000"/>
              </a:lnSpc>
              <a:defRPr/>
            </a:pPr>
            <a:r>
              <a:rPr lang="en-US" sz="1167" dirty="0">
                <a:solidFill>
                  <a:prstClr val="black"/>
                </a:solidFill>
              </a:rPr>
              <a:t>Export Possibilities, Top 5 Countries:</a:t>
            </a:r>
            <a:endParaRPr lang="en-US" sz="417" dirty="0">
              <a:solidFill>
                <a:prstClr val="black"/>
              </a:solidFill>
            </a:endParaRPr>
          </a:p>
          <a:p>
            <a:pPr marL="285739" indent="-285739">
              <a:lnSpc>
                <a:spcPct val="150000"/>
              </a:lnSpc>
              <a:buAutoNum type="arabicPeriod"/>
              <a:defRPr/>
            </a:pPr>
            <a:r>
              <a:rPr lang="en-US" sz="1167" b="1" dirty="0">
                <a:solidFill>
                  <a:prstClr val="black"/>
                </a:solidFill>
              </a:rPr>
              <a:t>China</a:t>
            </a:r>
            <a:r>
              <a:rPr lang="en-US" sz="1167" dirty="0">
                <a:solidFill>
                  <a:prstClr val="black"/>
                </a:solidFill>
              </a:rPr>
              <a:t> </a:t>
            </a:r>
          </a:p>
          <a:p>
            <a:pPr marL="285739" indent="-285739">
              <a:lnSpc>
                <a:spcPct val="150000"/>
              </a:lnSpc>
              <a:buAutoNum type="arabicPeriod"/>
              <a:defRPr/>
            </a:pPr>
            <a:r>
              <a:rPr lang="en-US" sz="1167" b="1" dirty="0">
                <a:solidFill>
                  <a:prstClr val="black"/>
                </a:solidFill>
              </a:rPr>
              <a:t>Italy</a:t>
            </a:r>
          </a:p>
          <a:p>
            <a:pPr marL="285739" indent="-285739">
              <a:lnSpc>
                <a:spcPct val="150000"/>
              </a:lnSpc>
              <a:buAutoNum type="arabicPeriod"/>
              <a:defRPr/>
            </a:pPr>
            <a:r>
              <a:rPr lang="en-US" sz="1167" b="1" dirty="0">
                <a:solidFill>
                  <a:prstClr val="black"/>
                </a:solidFill>
              </a:rPr>
              <a:t>Netherlands</a:t>
            </a:r>
          </a:p>
          <a:p>
            <a:pPr marL="285739" indent="-285739">
              <a:lnSpc>
                <a:spcPct val="150000"/>
              </a:lnSpc>
              <a:buAutoNum type="arabicPeriod"/>
              <a:defRPr/>
            </a:pPr>
            <a:r>
              <a:rPr lang="en-US" sz="1167" b="1" dirty="0">
                <a:solidFill>
                  <a:prstClr val="black"/>
                </a:solidFill>
              </a:rPr>
              <a:t>Germany</a:t>
            </a:r>
          </a:p>
          <a:p>
            <a:pPr marL="285739" indent="-285739">
              <a:lnSpc>
                <a:spcPct val="150000"/>
              </a:lnSpc>
              <a:buAutoNum type="arabicPeriod"/>
              <a:defRPr/>
            </a:pPr>
            <a:r>
              <a:rPr lang="en-US" sz="1167" b="1" dirty="0">
                <a:solidFill>
                  <a:prstClr val="black"/>
                </a:solidFill>
              </a:rPr>
              <a:t>Brazil</a:t>
            </a:r>
          </a:p>
          <a:p>
            <a:pPr marL="285739" indent="-285739">
              <a:lnSpc>
                <a:spcPct val="150000"/>
              </a:lnSpc>
              <a:buAutoNum type="arabicPeriod"/>
              <a:defRPr/>
            </a:pPr>
            <a:endParaRPr lang="en-IN" sz="1167" b="1" dirty="0">
              <a:solidFill>
                <a:prstClr val="black"/>
              </a:solidFill>
            </a:endParaRPr>
          </a:p>
        </p:txBody>
      </p:sp>
      <p:sp>
        <p:nvSpPr>
          <p:cNvPr id="33" name="TextBox 3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34" name="TextBox 33"/>
          <p:cNvSpPr txBox="1"/>
          <p:nvPr/>
        </p:nvSpPr>
        <p:spPr>
          <a:xfrm>
            <a:off x="8565031" y="6228808"/>
            <a:ext cx="3077766" cy="123111"/>
          </a:xfrm>
          <a:prstGeom prst="rect">
            <a:avLst/>
          </a:prstGeom>
          <a:noFill/>
        </p:spPr>
        <p:txBody>
          <a:bodyPr wrap="none" lIns="0" tIns="0" rIns="0" bIns="0" rtlCol="0">
            <a:spAutoFit/>
          </a:bodyPr>
          <a:lstStyle/>
          <a:p>
            <a:pPr defTabSz="966537"/>
            <a:r>
              <a:rPr lang="en-US" sz="800" dirty="0"/>
              <a:t>NOTE: This information will be provided as per our paid database (VOLZA)</a:t>
            </a:r>
          </a:p>
        </p:txBody>
      </p:sp>
    </p:spTree>
    <p:extLst>
      <p:ext uri="{BB962C8B-B14F-4D97-AF65-F5344CB8AC3E}">
        <p14:creationId xmlns:p14="http://schemas.microsoft.com/office/powerpoint/2010/main" val="3121592406"/>
      </p:ext>
    </p:extLst>
  </p:cSld>
  <p:clrMapOvr>
    <a:masterClrMapping/>
  </p:clrMapOvr>
  <p:extLst>
    <p:ext uri="{6950BFC3-D8DA-4A85-94F7-54DA5524770B}">
      <p188:commentRel xmlns:p188="http://schemas.microsoft.com/office/powerpoint/2018/8/main" r:id="rId2"/>
    </p:ext>
  </p:extLs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IN" dirty="0"/>
              <a:t>Trade Scenario: Export Analysis (1/4)</a:t>
            </a:r>
          </a:p>
        </p:txBody>
      </p:sp>
      <p:sp>
        <p:nvSpPr>
          <p:cNvPr id="6" name="Text Placeholder 5"/>
          <p:cNvSpPr>
            <a:spLocks noGrp="1"/>
          </p:cNvSpPr>
          <p:nvPr>
            <p:ph type="body" idx="12"/>
          </p:nvPr>
        </p:nvSpPr>
        <p:spPr/>
        <p:txBody>
          <a:bodyPr/>
          <a:lstStyle/>
          <a:p>
            <a:r>
              <a:rPr lang="en-US" dirty="0"/>
              <a:t>Product: HS Code </a:t>
            </a:r>
            <a:r>
              <a:rPr lang="en-US" dirty="0" err="1"/>
              <a:t>xxxx</a:t>
            </a:r>
            <a:r>
              <a:rPr lang="en-US" dirty="0"/>
              <a:t> Exported Value (US$ Thousand)</a:t>
            </a:r>
          </a:p>
        </p:txBody>
      </p:sp>
      <p:sp>
        <p:nvSpPr>
          <p:cNvPr id="8" name="TextBox 7"/>
          <p:cNvSpPr txBox="1"/>
          <p:nvPr/>
        </p:nvSpPr>
        <p:spPr>
          <a:xfrm>
            <a:off x="292197" y="6225373"/>
            <a:ext cx="2021387" cy="138499"/>
          </a:xfrm>
          <a:prstGeom prst="rect">
            <a:avLst/>
          </a:prstGeom>
          <a:noFill/>
        </p:spPr>
        <p:txBody>
          <a:bodyPr wrap="none" lIns="0" tIns="0" rIns="0" bIns="0" rtlCol="0">
            <a:spAutoFit/>
          </a:bodyPr>
          <a:lstStyle/>
          <a:p>
            <a:r>
              <a:rPr lang="en-US" sz="900" dirty="0"/>
              <a:t>Source: ITC Trade Map, TMR Analysis, 2022</a:t>
            </a:r>
            <a:endParaRPr lang="en-GB" sz="900" dirty="0"/>
          </a:p>
        </p:txBody>
      </p:sp>
      <p:pic>
        <p:nvPicPr>
          <p:cNvPr id="2" name="Picture 1"/>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152399" y="1693588"/>
            <a:ext cx="11887201" cy="4562138"/>
          </a:xfrm>
          <a:prstGeom prst="rect">
            <a:avLst/>
          </a:prstGeom>
        </p:spPr>
      </p:pic>
      <p:sp>
        <p:nvSpPr>
          <p:cNvPr id="3" name="Slide Number Placeholder 2"/>
          <p:cNvSpPr>
            <a:spLocks noGrp="1"/>
          </p:cNvSpPr>
          <p:nvPr>
            <p:ph type="sldNum" sz="quarter" idx="4"/>
          </p:nvPr>
        </p:nvSpPr>
        <p:spPr/>
        <p:txBody>
          <a:bodyPr/>
          <a:lstStyle/>
          <a:p>
            <a:fld id="{4B17068C-EB94-40A3-A5F2-664CDD77FDAC}" type="slidenum">
              <a:rPr lang="en-GB" smtClean="0"/>
              <a:pPr/>
              <a:t>87</a:t>
            </a:fld>
            <a:endParaRPr lang="en-GB" dirty="0"/>
          </a:p>
        </p:txBody>
      </p:sp>
    </p:spTree>
    <p:extLst>
      <p:ext uri="{BB962C8B-B14F-4D97-AF65-F5344CB8AC3E}">
        <p14:creationId xmlns:p14="http://schemas.microsoft.com/office/powerpoint/2010/main" val="2374411155"/>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Production Process Overview</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88</a:t>
            </a:r>
          </a:p>
        </p:txBody>
      </p:sp>
    </p:spTree>
    <p:extLst>
      <p:ext uri="{BB962C8B-B14F-4D97-AF65-F5344CB8AC3E}">
        <p14:creationId xmlns:p14="http://schemas.microsoft.com/office/powerpoint/2010/main" val="2222548486"/>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IN" dirty="0"/>
              <a:t>Production Process of WXYZ</a:t>
            </a:r>
          </a:p>
        </p:txBody>
      </p:sp>
      <p:pic>
        <p:nvPicPr>
          <p:cNvPr id="5" name="Picture 4"/>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152398" y="1031302"/>
            <a:ext cx="11894327" cy="5041829"/>
          </a:xfrm>
          <a:prstGeom prst="rect">
            <a:avLst/>
          </a:prstGeom>
        </p:spPr>
      </p:pic>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89</a:t>
            </a:fld>
            <a:endParaRPr lang="en-GB" dirty="0"/>
          </a:p>
        </p:txBody>
      </p:sp>
    </p:spTree>
    <p:extLst>
      <p:ext uri="{BB962C8B-B14F-4D97-AF65-F5344CB8AC3E}">
        <p14:creationId xmlns:p14="http://schemas.microsoft.com/office/powerpoint/2010/main" val="139397166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09</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09</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Global WXYZ Market Analysis 2019 – 2023 and Forecast 2024 – 2034, By Category-A</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90</a:t>
            </a:r>
          </a:p>
        </p:txBody>
      </p:sp>
    </p:spTree>
    <p:extLst>
      <p:ext uri="{BB962C8B-B14F-4D97-AF65-F5344CB8AC3E}">
        <p14:creationId xmlns:p14="http://schemas.microsoft.com/office/powerpoint/2010/main" val="1581657314"/>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Category-A</a:t>
            </a:r>
            <a:endParaRPr lang="en-GB" dirty="0"/>
          </a:p>
        </p:txBody>
      </p:sp>
      <p:sp>
        <p:nvSpPr>
          <p:cNvPr id="46"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47"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sp>
        <p:nvSpPr>
          <p:cNvPr id="54" name="TextBox 53"/>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cxnSp>
        <p:nvCxnSpPr>
          <p:cNvPr id="55" name="Elbow Connector 54"/>
          <p:cNvCxnSpPr>
            <a:stCxn id="57" idx="2"/>
            <a:endCxn id="74" idx="0"/>
          </p:cNvCxnSpPr>
          <p:nvPr/>
        </p:nvCxnSpPr>
        <p:spPr>
          <a:xfrm rot="5400000">
            <a:off x="3606422" y="74304"/>
            <a:ext cx="285750" cy="300372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6" name="Elbow Connector 55"/>
          <p:cNvCxnSpPr>
            <a:stCxn id="57" idx="2"/>
            <a:endCxn id="81" idx="0"/>
          </p:cNvCxnSpPr>
          <p:nvPr/>
        </p:nvCxnSpPr>
        <p:spPr>
          <a:xfrm rot="16200000" flipH="1">
            <a:off x="6565974" y="118479"/>
            <a:ext cx="285750" cy="2915377"/>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7" name="Rounded Rectangle 56"/>
          <p:cNvSpPr/>
          <p:nvPr/>
        </p:nvSpPr>
        <p:spPr>
          <a:xfrm>
            <a:off x="3484252" y="1090076"/>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Category-A</a:t>
            </a:r>
          </a:p>
        </p:txBody>
      </p:sp>
      <p:sp>
        <p:nvSpPr>
          <p:cNvPr id="58" name="Rounded Rectangle 5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9" name="Rounded Rectangle 5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60" name="Straight Connector 59"/>
          <p:cNvCxnSpPr/>
          <p:nvPr/>
        </p:nvCxnSpPr>
        <p:spPr>
          <a:xfrm>
            <a:off x="896325" y="2507208"/>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896325" y="3696853"/>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896325" y="4532507"/>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896325" y="5722154"/>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74" name="Rounded Rectangle 73"/>
          <p:cNvSpPr/>
          <p:nvPr/>
        </p:nvSpPr>
        <p:spPr>
          <a:xfrm>
            <a:off x="750415" y="1719043"/>
            <a:ext cx="2994033"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Categorya1</a:t>
            </a:r>
          </a:p>
        </p:txBody>
      </p:sp>
      <p:sp>
        <p:nvSpPr>
          <p:cNvPr id="75" name="Rounded Rectangle 74"/>
          <p:cNvSpPr/>
          <p:nvPr/>
        </p:nvSpPr>
        <p:spPr>
          <a:xfrm>
            <a:off x="857782" y="2272179"/>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76" name="Rounded Rectangle 75"/>
          <p:cNvSpPr/>
          <p:nvPr/>
        </p:nvSpPr>
        <p:spPr>
          <a:xfrm>
            <a:off x="857782" y="3461824"/>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77" name="Rounded Rectangle 76"/>
          <p:cNvSpPr/>
          <p:nvPr/>
        </p:nvSpPr>
        <p:spPr>
          <a:xfrm>
            <a:off x="857782" y="4297478"/>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78" name="Rounded Rectangle 77"/>
          <p:cNvSpPr/>
          <p:nvPr/>
        </p:nvSpPr>
        <p:spPr>
          <a:xfrm>
            <a:off x="857782" y="5487125"/>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79" name="Oval 78"/>
          <p:cNvSpPr/>
          <p:nvPr/>
        </p:nvSpPr>
        <p:spPr>
          <a:xfrm>
            <a:off x="1121175" y="28495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0" name="Oval 79"/>
          <p:cNvSpPr/>
          <p:nvPr/>
        </p:nvSpPr>
        <p:spPr>
          <a:xfrm>
            <a:off x="1121175" y="48748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1" name="Rounded Rectangle 80"/>
          <p:cNvSpPr/>
          <p:nvPr/>
        </p:nvSpPr>
        <p:spPr>
          <a:xfrm>
            <a:off x="6671255" y="1719043"/>
            <a:ext cx="2990565"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Categorya2</a:t>
            </a:r>
          </a:p>
        </p:txBody>
      </p:sp>
      <p:sp>
        <p:nvSpPr>
          <p:cNvPr id="82" name="Rounded Rectangle 81"/>
          <p:cNvSpPr/>
          <p:nvPr/>
        </p:nvSpPr>
        <p:spPr>
          <a:xfrm>
            <a:off x="6776888" y="2272179"/>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3" name="Rounded Rectangle 82"/>
          <p:cNvSpPr/>
          <p:nvPr/>
        </p:nvSpPr>
        <p:spPr>
          <a:xfrm>
            <a:off x="6776888" y="3461824"/>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4" name="Rounded Rectangle 83"/>
          <p:cNvSpPr/>
          <p:nvPr/>
        </p:nvSpPr>
        <p:spPr>
          <a:xfrm>
            <a:off x="6776888" y="4297478"/>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85" name="Rounded Rectangle 84"/>
          <p:cNvSpPr/>
          <p:nvPr/>
        </p:nvSpPr>
        <p:spPr>
          <a:xfrm>
            <a:off x="6776888" y="5487125"/>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86" name="Oval 85"/>
          <p:cNvSpPr/>
          <p:nvPr/>
        </p:nvSpPr>
        <p:spPr>
          <a:xfrm>
            <a:off x="7040281" y="28495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7" name="Oval 86"/>
          <p:cNvSpPr/>
          <p:nvPr/>
        </p:nvSpPr>
        <p:spPr>
          <a:xfrm>
            <a:off x="7040281" y="48748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 name="Slide Number Placeholder 1"/>
          <p:cNvSpPr>
            <a:spLocks noGrp="1"/>
          </p:cNvSpPr>
          <p:nvPr>
            <p:ph type="sldNum" sz="quarter" idx="4"/>
          </p:nvPr>
        </p:nvSpPr>
        <p:spPr/>
        <p:txBody>
          <a:bodyPr/>
          <a:lstStyle/>
          <a:p>
            <a:fld id="{4B17068C-EB94-40A3-A5F2-664CDD77FDAC}" type="slidenum">
              <a:rPr lang="en-GB" smtClean="0"/>
              <a:pPr/>
              <a:t>91</a:t>
            </a:fld>
            <a:endParaRPr lang="en-GB" dirty="0"/>
          </a:p>
        </p:txBody>
      </p:sp>
    </p:spTree>
    <p:extLst>
      <p:ext uri="{BB962C8B-B14F-4D97-AF65-F5344CB8AC3E}">
        <p14:creationId xmlns:p14="http://schemas.microsoft.com/office/powerpoint/2010/main" val="2960094621"/>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Category-A</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118" name="TextBox 119"/>
          <p:cNvSpPr txBox="1"/>
          <p:nvPr/>
        </p:nvSpPr>
        <p:spPr>
          <a:xfrm>
            <a:off x="159103" y="2449125"/>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119" name="TextBox 120"/>
          <p:cNvSpPr txBox="1"/>
          <p:nvPr/>
        </p:nvSpPr>
        <p:spPr>
          <a:xfrm>
            <a:off x="159103" y="4394541"/>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120" name="Elbow Connector 119"/>
          <p:cNvCxnSpPr>
            <a:stCxn id="122" idx="2"/>
            <a:endCxn id="129" idx="0"/>
          </p:cNvCxnSpPr>
          <p:nvPr/>
        </p:nvCxnSpPr>
        <p:spPr>
          <a:xfrm rot="5400000">
            <a:off x="3380227" y="-137823"/>
            <a:ext cx="285750" cy="34561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21" name="Elbow Connector 120"/>
          <p:cNvCxnSpPr>
            <a:stCxn id="122" idx="2"/>
            <a:endCxn id="136" idx="0"/>
          </p:cNvCxnSpPr>
          <p:nvPr/>
        </p:nvCxnSpPr>
        <p:spPr>
          <a:xfrm rot="16200000" flipH="1">
            <a:off x="6854733" y="-156211"/>
            <a:ext cx="285750" cy="34928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22" name="Rounded Rectangle 121"/>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Category-A</a:t>
            </a:r>
          </a:p>
        </p:txBody>
      </p:sp>
      <p:sp>
        <p:nvSpPr>
          <p:cNvPr id="123" name="Rounded Rectangle 122"/>
          <p:cNvSpPr/>
          <p:nvPr/>
        </p:nvSpPr>
        <p:spPr>
          <a:xfrm>
            <a:off x="526998" y="4201281"/>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124" name="Rounded Rectangle 123"/>
          <p:cNvSpPr/>
          <p:nvPr/>
        </p:nvSpPr>
        <p:spPr>
          <a:xfrm>
            <a:off x="526997" y="2175982"/>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125" name="Straight Connector 124"/>
          <p:cNvCxnSpPr>
            <a:stCxn id="130" idx="3"/>
            <a:endCxn id="137" idx="1"/>
          </p:cNvCxnSpPr>
          <p:nvPr/>
        </p:nvCxnSpPr>
        <p:spPr>
          <a:xfrm>
            <a:off x="2792681" y="2521276"/>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stCxn id="131" idx="3"/>
            <a:endCxn id="138" idx="1"/>
          </p:cNvCxnSpPr>
          <p:nvPr/>
        </p:nvCxnSpPr>
        <p:spPr>
          <a:xfrm>
            <a:off x="2792681" y="3710921"/>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stCxn id="132" idx="3"/>
            <a:endCxn id="139" idx="1"/>
          </p:cNvCxnSpPr>
          <p:nvPr/>
        </p:nvCxnSpPr>
        <p:spPr>
          <a:xfrm>
            <a:off x="2792681" y="4546575"/>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stCxn id="133" idx="3"/>
            <a:endCxn id="140" idx="1"/>
          </p:cNvCxnSpPr>
          <p:nvPr/>
        </p:nvCxnSpPr>
        <p:spPr>
          <a:xfrm>
            <a:off x="2792681" y="5736222"/>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9" name="Rounded Rectangle 128"/>
          <p:cNvSpPr/>
          <p:nvPr/>
        </p:nvSpPr>
        <p:spPr>
          <a:xfrm>
            <a:off x="650717" y="1733111"/>
            <a:ext cx="228865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Categorya1</a:t>
            </a:r>
          </a:p>
        </p:txBody>
      </p:sp>
      <p:sp>
        <p:nvSpPr>
          <p:cNvPr id="130" name="Rounded Rectangle 129"/>
          <p:cNvSpPr/>
          <p:nvPr/>
        </p:nvSpPr>
        <p:spPr>
          <a:xfrm>
            <a:off x="732789"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1" name="Rounded Rectangle 130"/>
          <p:cNvSpPr/>
          <p:nvPr/>
        </p:nvSpPr>
        <p:spPr>
          <a:xfrm>
            <a:off x="732789"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2" name="Rounded Rectangle 131"/>
          <p:cNvSpPr/>
          <p:nvPr/>
        </p:nvSpPr>
        <p:spPr>
          <a:xfrm>
            <a:off x="732789"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3" name="Rounded Rectangle 132"/>
          <p:cNvSpPr/>
          <p:nvPr/>
        </p:nvSpPr>
        <p:spPr>
          <a:xfrm>
            <a:off x="732789"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4" name="Oval 133"/>
          <p:cNvSpPr/>
          <p:nvPr/>
        </p:nvSpPr>
        <p:spPr>
          <a:xfrm>
            <a:off x="934128"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5" name="Oval 134"/>
          <p:cNvSpPr/>
          <p:nvPr/>
        </p:nvSpPr>
        <p:spPr>
          <a:xfrm>
            <a:off x="934128"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Rounded Rectangle 135"/>
          <p:cNvSpPr/>
          <p:nvPr/>
        </p:nvSpPr>
        <p:spPr>
          <a:xfrm>
            <a:off x="7601055"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Categorya3</a:t>
            </a:r>
          </a:p>
        </p:txBody>
      </p:sp>
      <p:sp>
        <p:nvSpPr>
          <p:cNvPr id="137" name="Rounded Rectangle 136"/>
          <p:cNvSpPr/>
          <p:nvPr/>
        </p:nvSpPr>
        <p:spPr>
          <a:xfrm>
            <a:off x="7681802"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8" name="Rounded Rectangle 137"/>
          <p:cNvSpPr/>
          <p:nvPr/>
        </p:nvSpPr>
        <p:spPr>
          <a:xfrm>
            <a:off x="7681802"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9" name="Rounded Rectangle 138"/>
          <p:cNvSpPr/>
          <p:nvPr/>
        </p:nvSpPr>
        <p:spPr>
          <a:xfrm>
            <a:off x="7681802"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40" name="Rounded Rectangle 139"/>
          <p:cNvSpPr/>
          <p:nvPr/>
        </p:nvSpPr>
        <p:spPr>
          <a:xfrm>
            <a:off x="7681802"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41" name="Oval 140"/>
          <p:cNvSpPr/>
          <p:nvPr/>
        </p:nvSpPr>
        <p:spPr>
          <a:xfrm>
            <a:off x="7883141"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2" name="Oval 141"/>
          <p:cNvSpPr/>
          <p:nvPr/>
        </p:nvSpPr>
        <p:spPr>
          <a:xfrm>
            <a:off x="7883141"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3" name="Rounded Rectangle 142"/>
          <p:cNvSpPr/>
          <p:nvPr/>
        </p:nvSpPr>
        <p:spPr>
          <a:xfrm>
            <a:off x="4127211"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Categorya2</a:t>
            </a:r>
          </a:p>
        </p:txBody>
      </p:sp>
      <p:sp>
        <p:nvSpPr>
          <p:cNvPr id="144" name="Rounded Rectangle 143"/>
          <p:cNvSpPr/>
          <p:nvPr/>
        </p:nvSpPr>
        <p:spPr>
          <a:xfrm>
            <a:off x="4207958"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5" name="Rounded Rectangle 144"/>
          <p:cNvSpPr/>
          <p:nvPr/>
        </p:nvSpPr>
        <p:spPr>
          <a:xfrm>
            <a:off x="4207958"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6" name="Rounded Rectangle 145"/>
          <p:cNvSpPr/>
          <p:nvPr/>
        </p:nvSpPr>
        <p:spPr>
          <a:xfrm>
            <a:off x="4207958"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47" name="Rounded Rectangle 146"/>
          <p:cNvSpPr/>
          <p:nvPr/>
        </p:nvSpPr>
        <p:spPr>
          <a:xfrm>
            <a:off x="4207958"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48" name="Oval 147"/>
          <p:cNvSpPr/>
          <p:nvPr/>
        </p:nvSpPr>
        <p:spPr>
          <a:xfrm>
            <a:off x="4409297"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9" name="Oval 148"/>
          <p:cNvSpPr/>
          <p:nvPr/>
        </p:nvSpPr>
        <p:spPr>
          <a:xfrm>
            <a:off x="4409297"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50" name="Straight Arrow Connector 149"/>
          <p:cNvCxnSpPr>
            <a:stCxn id="122" idx="2"/>
            <a:endCxn id="143" idx="0"/>
          </p:cNvCxnSpPr>
          <p:nvPr/>
        </p:nvCxnSpPr>
        <p:spPr>
          <a:xfrm>
            <a:off x="5251161" y="1447361"/>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2" name="Slide Number Placeholder 1"/>
          <p:cNvSpPr>
            <a:spLocks noGrp="1"/>
          </p:cNvSpPr>
          <p:nvPr>
            <p:ph type="sldNum" sz="quarter" idx="4"/>
          </p:nvPr>
        </p:nvSpPr>
        <p:spPr/>
        <p:txBody>
          <a:bodyPr/>
          <a:lstStyle/>
          <a:p>
            <a:fld id="{4B17068C-EB94-40A3-A5F2-664CDD77FDAC}" type="slidenum">
              <a:rPr lang="en-GB" smtClean="0"/>
              <a:pPr/>
              <a:t>92</a:t>
            </a:fld>
            <a:endParaRPr lang="en-GB" dirty="0"/>
          </a:p>
        </p:txBody>
      </p:sp>
    </p:spTree>
    <p:extLst>
      <p:ext uri="{BB962C8B-B14F-4D97-AF65-F5344CB8AC3E}">
        <p14:creationId xmlns:p14="http://schemas.microsoft.com/office/powerpoint/2010/main" val="169661312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Category-A</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4" name="TextBox 119"/>
          <p:cNvSpPr txBox="1"/>
          <p:nvPr/>
        </p:nvSpPr>
        <p:spPr>
          <a:xfrm>
            <a:off x="159103" y="2449125"/>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55" name="TextBox 120"/>
          <p:cNvSpPr txBox="1"/>
          <p:nvPr/>
        </p:nvSpPr>
        <p:spPr>
          <a:xfrm>
            <a:off x="159103" y="4394541"/>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56" name="Elbow Connector 55"/>
          <p:cNvCxnSpPr>
            <a:stCxn id="58" idx="2"/>
            <a:endCxn id="74" idx="0"/>
          </p:cNvCxnSpPr>
          <p:nvPr/>
        </p:nvCxnSpPr>
        <p:spPr>
          <a:xfrm rot="5400000">
            <a:off x="3380227" y="-137823"/>
            <a:ext cx="285750" cy="34561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58" idx="2"/>
            <a:endCxn id="81" idx="0"/>
          </p:cNvCxnSpPr>
          <p:nvPr/>
        </p:nvCxnSpPr>
        <p:spPr>
          <a:xfrm rot="16200000" flipH="1">
            <a:off x="6854733" y="-156211"/>
            <a:ext cx="285750" cy="34928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Category-A</a:t>
            </a:r>
          </a:p>
        </p:txBody>
      </p:sp>
      <p:sp>
        <p:nvSpPr>
          <p:cNvPr id="59" name="Rounded Rectangle 58"/>
          <p:cNvSpPr/>
          <p:nvPr/>
        </p:nvSpPr>
        <p:spPr>
          <a:xfrm>
            <a:off x="526998" y="4201281"/>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60" name="Rounded Rectangle 59"/>
          <p:cNvSpPr/>
          <p:nvPr/>
        </p:nvSpPr>
        <p:spPr>
          <a:xfrm>
            <a:off x="526997" y="2175982"/>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61" name="Straight Connector 60"/>
          <p:cNvCxnSpPr>
            <a:stCxn id="75" idx="3"/>
            <a:endCxn id="82" idx="1"/>
          </p:cNvCxnSpPr>
          <p:nvPr/>
        </p:nvCxnSpPr>
        <p:spPr>
          <a:xfrm>
            <a:off x="2792681" y="2521276"/>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a:stCxn id="76" idx="3"/>
            <a:endCxn id="83" idx="1"/>
          </p:cNvCxnSpPr>
          <p:nvPr/>
        </p:nvCxnSpPr>
        <p:spPr>
          <a:xfrm>
            <a:off x="2792681" y="3710921"/>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a:stCxn id="77" idx="3"/>
            <a:endCxn id="84" idx="1"/>
          </p:cNvCxnSpPr>
          <p:nvPr/>
        </p:nvCxnSpPr>
        <p:spPr>
          <a:xfrm>
            <a:off x="2792681" y="4546575"/>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stCxn id="78" idx="3"/>
            <a:endCxn id="85" idx="1"/>
          </p:cNvCxnSpPr>
          <p:nvPr/>
        </p:nvCxnSpPr>
        <p:spPr>
          <a:xfrm>
            <a:off x="2792681" y="5736222"/>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Rounded Rectangle 73"/>
          <p:cNvSpPr/>
          <p:nvPr/>
        </p:nvSpPr>
        <p:spPr>
          <a:xfrm>
            <a:off x="650717" y="1733111"/>
            <a:ext cx="228865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Categorya1</a:t>
            </a:r>
          </a:p>
        </p:txBody>
      </p:sp>
      <p:sp>
        <p:nvSpPr>
          <p:cNvPr id="75" name="Rounded Rectangle 74"/>
          <p:cNvSpPr/>
          <p:nvPr/>
        </p:nvSpPr>
        <p:spPr>
          <a:xfrm>
            <a:off x="732789"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76" name="Rounded Rectangle 75"/>
          <p:cNvSpPr/>
          <p:nvPr/>
        </p:nvSpPr>
        <p:spPr>
          <a:xfrm>
            <a:off x="732789"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77" name="Rounded Rectangle 76"/>
          <p:cNvSpPr/>
          <p:nvPr/>
        </p:nvSpPr>
        <p:spPr>
          <a:xfrm>
            <a:off x="732789"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78" name="Rounded Rectangle 77"/>
          <p:cNvSpPr/>
          <p:nvPr/>
        </p:nvSpPr>
        <p:spPr>
          <a:xfrm>
            <a:off x="732789"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79" name="Oval 78"/>
          <p:cNvSpPr/>
          <p:nvPr/>
        </p:nvSpPr>
        <p:spPr>
          <a:xfrm>
            <a:off x="934128"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0" name="Oval 79"/>
          <p:cNvSpPr/>
          <p:nvPr/>
        </p:nvSpPr>
        <p:spPr>
          <a:xfrm>
            <a:off x="934128"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1" name="Rounded Rectangle 80"/>
          <p:cNvSpPr/>
          <p:nvPr/>
        </p:nvSpPr>
        <p:spPr>
          <a:xfrm>
            <a:off x="7601055"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Categorya4</a:t>
            </a:r>
          </a:p>
        </p:txBody>
      </p:sp>
      <p:sp>
        <p:nvSpPr>
          <p:cNvPr id="82" name="Rounded Rectangle 81"/>
          <p:cNvSpPr/>
          <p:nvPr/>
        </p:nvSpPr>
        <p:spPr>
          <a:xfrm>
            <a:off x="7681802"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3" name="Rounded Rectangle 82"/>
          <p:cNvSpPr/>
          <p:nvPr/>
        </p:nvSpPr>
        <p:spPr>
          <a:xfrm>
            <a:off x="7681802"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4" name="Rounded Rectangle 83"/>
          <p:cNvSpPr/>
          <p:nvPr/>
        </p:nvSpPr>
        <p:spPr>
          <a:xfrm>
            <a:off x="7681802"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85" name="Rounded Rectangle 84"/>
          <p:cNvSpPr/>
          <p:nvPr/>
        </p:nvSpPr>
        <p:spPr>
          <a:xfrm>
            <a:off x="7681802"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86" name="Oval 85"/>
          <p:cNvSpPr/>
          <p:nvPr/>
        </p:nvSpPr>
        <p:spPr>
          <a:xfrm>
            <a:off x="7883141"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7" name="Oval 86"/>
          <p:cNvSpPr/>
          <p:nvPr/>
        </p:nvSpPr>
        <p:spPr>
          <a:xfrm>
            <a:off x="7883141"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8" name="Rounded Rectangle 87"/>
          <p:cNvSpPr/>
          <p:nvPr/>
        </p:nvSpPr>
        <p:spPr>
          <a:xfrm>
            <a:off x="5285159"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Categorya3</a:t>
            </a:r>
          </a:p>
        </p:txBody>
      </p:sp>
      <p:sp>
        <p:nvSpPr>
          <p:cNvPr id="89" name="Rounded Rectangle 88"/>
          <p:cNvSpPr/>
          <p:nvPr/>
        </p:nvSpPr>
        <p:spPr>
          <a:xfrm>
            <a:off x="5365906"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0" name="Rounded Rectangle 89"/>
          <p:cNvSpPr/>
          <p:nvPr/>
        </p:nvSpPr>
        <p:spPr>
          <a:xfrm>
            <a:off x="5365906"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1" name="Rounded Rectangle 90"/>
          <p:cNvSpPr/>
          <p:nvPr/>
        </p:nvSpPr>
        <p:spPr>
          <a:xfrm>
            <a:off x="5365906"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2" name="Rounded Rectangle 91"/>
          <p:cNvSpPr/>
          <p:nvPr/>
        </p:nvSpPr>
        <p:spPr>
          <a:xfrm>
            <a:off x="5365906"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3" name="Oval 92"/>
          <p:cNvSpPr/>
          <p:nvPr/>
        </p:nvSpPr>
        <p:spPr>
          <a:xfrm>
            <a:off x="5567245"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4" name="Oval 93"/>
          <p:cNvSpPr/>
          <p:nvPr/>
        </p:nvSpPr>
        <p:spPr>
          <a:xfrm>
            <a:off x="5567245"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5" name="Rounded Rectangle 94"/>
          <p:cNvSpPr/>
          <p:nvPr/>
        </p:nvSpPr>
        <p:spPr>
          <a:xfrm>
            <a:off x="2969263"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Categorya2</a:t>
            </a:r>
          </a:p>
        </p:txBody>
      </p:sp>
      <p:sp>
        <p:nvSpPr>
          <p:cNvPr id="96" name="Rounded Rectangle 95"/>
          <p:cNvSpPr/>
          <p:nvPr/>
        </p:nvSpPr>
        <p:spPr>
          <a:xfrm>
            <a:off x="3050010"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7" name="Rounded Rectangle 96"/>
          <p:cNvSpPr/>
          <p:nvPr/>
        </p:nvSpPr>
        <p:spPr>
          <a:xfrm>
            <a:off x="3050010"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8" name="Rounded Rectangle 97"/>
          <p:cNvSpPr/>
          <p:nvPr/>
        </p:nvSpPr>
        <p:spPr>
          <a:xfrm>
            <a:off x="3050010"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9" name="Rounded Rectangle 98"/>
          <p:cNvSpPr/>
          <p:nvPr/>
        </p:nvSpPr>
        <p:spPr>
          <a:xfrm>
            <a:off x="3050010"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00" name="Oval 99"/>
          <p:cNvSpPr/>
          <p:nvPr/>
        </p:nvSpPr>
        <p:spPr>
          <a:xfrm>
            <a:off x="3251349"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1" name="Oval 100"/>
          <p:cNvSpPr/>
          <p:nvPr/>
        </p:nvSpPr>
        <p:spPr>
          <a:xfrm>
            <a:off x="3251349"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02" name="Elbow Connector 101"/>
          <p:cNvCxnSpPr>
            <a:stCxn id="58" idx="2"/>
            <a:endCxn id="95" idx="0"/>
          </p:cNvCxnSpPr>
          <p:nvPr/>
        </p:nvCxnSpPr>
        <p:spPr>
          <a:xfrm rot="5400000">
            <a:off x="4538837" y="1020787"/>
            <a:ext cx="285750" cy="113889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stCxn id="58" idx="2"/>
            <a:endCxn id="88" idx="0"/>
          </p:cNvCxnSpPr>
          <p:nvPr/>
        </p:nvCxnSpPr>
        <p:spPr>
          <a:xfrm rot="16200000" flipH="1">
            <a:off x="5696785" y="1001737"/>
            <a:ext cx="285750" cy="117699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93</a:t>
            </a:fld>
            <a:endParaRPr lang="en-GB" dirty="0"/>
          </a:p>
        </p:txBody>
      </p:sp>
    </p:spTree>
    <p:extLst>
      <p:ext uri="{BB962C8B-B14F-4D97-AF65-F5344CB8AC3E}">
        <p14:creationId xmlns:p14="http://schemas.microsoft.com/office/powerpoint/2010/main" val="3720394976"/>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Category-A</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Category-A</a:t>
            </a:r>
          </a:p>
        </p:txBody>
      </p:sp>
      <p:sp>
        <p:nvSpPr>
          <p:cNvPr id="152"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153"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154" name="Elbow Connector 153"/>
          <p:cNvCxnSpPr>
            <a:endCxn id="162" idx="0"/>
          </p:cNvCxnSpPr>
          <p:nvPr/>
        </p:nvCxnSpPr>
        <p:spPr>
          <a:xfrm rot="5400000">
            <a:off x="3242404" y="-289714"/>
            <a:ext cx="285750" cy="373176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55" name="Elbow Connector 154"/>
          <p:cNvCxnSpPr>
            <a:endCxn id="169" idx="0"/>
          </p:cNvCxnSpPr>
          <p:nvPr/>
        </p:nvCxnSpPr>
        <p:spPr>
          <a:xfrm rot="16200000" flipH="1">
            <a:off x="6988983" y="-304529"/>
            <a:ext cx="285750" cy="37613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56" name="Rounded Rectangle 155"/>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157" name="Rounded Rectangle 156"/>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158" name="Straight Connector 157"/>
          <p:cNvCxnSpPr>
            <a:stCxn id="163" idx="3"/>
            <a:endCxn id="170"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a:stCxn id="164" idx="3"/>
            <a:endCxn id="171"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a:stCxn id="165" idx="3"/>
            <a:endCxn id="172"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a:stCxn id="166" idx="3"/>
            <a:endCxn id="173"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2" name="Rounded Rectangle 161"/>
          <p:cNvSpPr/>
          <p:nvPr/>
        </p:nvSpPr>
        <p:spPr>
          <a:xfrm>
            <a:off x="65071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Categorya1</a:t>
            </a:r>
          </a:p>
        </p:txBody>
      </p:sp>
      <p:sp>
        <p:nvSpPr>
          <p:cNvPr id="163" name="Rounded Rectangle 162"/>
          <p:cNvSpPr/>
          <p:nvPr/>
        </p:nvSpPr>
        <p:spPr>
          <a:xfrm>
            <a:off x="71301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64" name="Rounded Rectangle 163"/>
          <p:cNvSpPr/>
          <p:nvPr/>
        </p:nvSpPr>
        <p:spPr>
          <a:xfrm>
            <a:off x="71301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65" name="Rounded Rectangle 164"/>
          <p:cNvSpPr/>
          <p:nvPr/>
        </p:nvSpPr>
        <p:spPr>
          <a:xfrm>
            <a:off x="71301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66" name="Rounded Rectangle 165"/>
          <p:cNvSpPr/>
          <p:nvPr/>
        </p:nvSpPr>
        <p:spPr>
          <a:xfrm>
            <a:off x="71301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67" name="Oval 166"/>
          <p:cNvSpPr/>
          <p:nvPr/>
        </p:nvSpPr>
        <p:spPr>
          <a:xfrm>
            <a:off x="86586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68" name="Oval 167"/>
          <p:cNvSpPr/>
          <p:nvPr/>
        </p:nvSpPr>
        <p:spPr>
          <a:xfrm>
            <a:off x="86586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69" name="Rounded Rectangle 168"/>
          <p:cNvSpPr/>
          <p:nvPr/>
        </p:nvSpPr>
        <p:spPr>
          <a:xfrm>
            <a:off x="8143875"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Categorya5</a:t>
            </a:r>
          </a:p>
        </p:txBody>
      </p:sp>
      <p:sp>
        <p:nvSpPr>
          <p:cNvPr id="170" name="Rounded Rectangle 169"/>
          <p:cNvSpPr/>
          <p:nvPr/>
        </p:nvSpPr>
        <p:spPr>
          <a:xfrm>
            <a:off x="8205243" y="2272179"/>
            <a:ext cx="161462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71" name="Rounded Rectangle 170"/>
          <p:cNvSpPr/>
          <p:nvPr/>
        </p:nvSpPr>
        <p:spPr>
          <a:xfrm>
            <a:off x="8205243" y="3461824"/>
            <a:ext cx="161462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72" name="Rounded Rectangle 171"/>
          <p:cNvSpPr/>
          <p:nvPr/>
        </p:nvSpPr>
        <p:spPr>
          <a:xfrm>
            <a:off x="8205243" y="4297478"/>
            <a:ext cx="161462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73" name="Rounded Rectangle 172"/>
          <p:cNvSpPr/>
          <p:nvPr/>
        </p:nvSpPr>
        <p:spPr>
          <a:xfrm>
            <a:off x="8205243" y="5487125"/>
            <a:ext cx="161462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74" name="Oval 173"/>
          <p:cNvSpPr/>
          <p:nvPr/>
        </p:nvSpPr>
        <p:spPr>
          <a:xfrm>
            <a:off x="8358260" y="2849594"/>
            <a:ext cx="1308590"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75" name="Oval 174"/>
          <p:cNvSpPr/>
          <p:nvPr/>
        </p:nvSpPr>
        <p:spPr>
          <a:xfrm>
            <a:off x="8358260" y="4874894"/>
            <a:ext cx="1308590"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76" name="Rounded Rectangle 175"/>
          <p:cNvSpPr/>
          <p:nvPr/>
        </p:nvSpPr>
        <p:spPr>
          <a:xfrm>
            <a:off x="252400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Categorya2</a:t>
            </a:r>
          </a:p>
        </p:txBody>
      </p:sp>
      <p:sp>
        <p:nvSpPr>
          <p:cNvPr id="177" name="Rounded Rectangle 176"/>
          <p:cNvSpPr/>
          <p:nvPr/>
        </p:nvSpPr>
        <p:spPr>
          <a:xfrm>
            <a:off x="258630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78" name="Rounded Rectangle 177"/>
          <p:cNvSpPr/>
          <p:nvPr/>
        </p:nvSpPr>
        <p:spPr>
          <a:xfrm>
            <a:off x="258630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79" name="Rounded Rectangle 178"/>
          <p:cNvSpPr/>
          <p:nvPr/>
        </p:nvSpPr>
        <p:spPr>
          <a:xfrm>
            <a:off x="258630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80" name="Rounded Rectangle 179"/>
          <p:cNvSpPr/>
          <p:nvPr/>
        </p:nvSpPr>
        <p:spPr>
          <a:xfrm>
            <a:off x="258630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81" name="Oval 180"/>
          <p:cNvSpPr/>
          <p:nvPr/>
        </p:nvSpPr>
        <p:spPr>
          <a:xfrm>
            <a:off x="273915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2" name="Oval 181"/>
          <p:cNvSpPr/>
          <p:nvPr/>
        </p:nvSpPr>
        <p:spPr>
          <a:xfrm>
            <a:off x="273915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3" name="Rounded Rectangle 182"/>
          <p:cNvSpPr/>
          <p:nvPr/>
        </p:nvSpPr>
        <p:spPr>
          <a:xfrm>
            <a:off x="439729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Categorya3</a:t>
            </a:r>
          </a:p>
        </p:txBody>
      </p:sp>
      <p:sp>
        <p:nvSpPr>
          <p:cNvPr id="184" name="Rounded Rectangle 183"/>
          <p:cNvSpPr/>
          <p:nvPr/>
        </p:nvSpPr>
        <p:spPr>
          <a:xfrm>
            <a:off x="445959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85" name="Rounded Rectangle 184"/>
          <p:cNvSpPr/>
          <p:nvPr/>
        </p:nvSpPr>
        <p:spPr>
          <a:xfrm>
            <a:off x="445959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86" name="Rounded Rectangle 185"/>
          <p:cNvSpPr/>
          <p:nvPr/>
        </p:nvSpPr>
        <p:spPr>
          <a:xfrm>
            <a:off x="445959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87" name="Rounded Rectangle 186"/>
          <p:cNvSpPr/>
          <p:nvPr/>
        </p:nvSpPr>
        <p:spPr>
          <a:xfrm>
            <a:off x="445959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88" name="Oval 187"/>
          <p:cNvSpPr/>
          <p:nvPr/>
        </p:nvSpPr>
        <p:spPr>
          <a:xfrm>
            <a:off x="461244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9" name="Oval 188"/>
          <p:cNvSpPr/>
          <p:nvPr/>
        </p:nvSpPr>
        <p:spPr>
          <a:xfrm>
            <a:off x="461244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90" name="Rounded Rectangle 189"/>
          <p:cNvSpPr/>
          <p:nvPr/>
        </p:nvSpPr>
        <p:spPr>
          <a:xfrm>
            <a:off x="627058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Categorya4</a:t>
            </a:r>
          </a:p>
        </p:txBody>
      </p:sp>
      <p:sp>
        <p:nvSpPr>
          <p:cNvPr id="191" name="Rounded Rectangle 190"/>
          <p:cNvSpPr/>
          <p:nvPr/>
        </p:nvSpPr>
        <p:spPr>
          <a:xfrm>
            <a:off x="633288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92" name="Rounded Rectangle 191"/>
          <p:cNvSpPr/>
          <p:nvPr/>
        </p:nvSpPr>
        <p:spPr>
          <a:xfrm>
            <a:off x="633288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93" name="Rounded Rectangle 192"/>
          <p:cNvSpPr/>
          <p:nvPr/>
        </p:nvSpPr>
        <p:spPr>
          <a:xfrm>
            <a:off x="633288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94" name="Rounded Rectangle 193"/>
          <p:cNvSpPr/>
          <p:nvPr/>
        </p:nvSpPr>
        <p:spPr>
          <a:xfrm>
            <a:off x="633288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95" name="Oval 194"/>
          <p:cNvSpPr/>
          <p:nvPr/>
        </p:nvSpPr>
        <p:spPr>
          <a:xfrm>
            <a:off x="648573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96" name="Oval 195"/>
          <p:cNvSpPr/>
          <p:nvPr/>
        </p:nvSpPr>
        <p:spPr>
          <a:xfrm>
            <a:off x="648573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97" name="Elbow Connector 196"/>
          <p:cNvCxnSpPr>
            <a:endCxn id="176" idx="0"/>
          </p:cNvCxnSpPr>
          <p:nvPr/>
        </p:nvCxnSpPr>
        <p:spPr>
          <a:xfrm rot="5400000">
            <a:off x="4179049" y="646931"/>
            <a:ext cx="285750" cy="185847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98" name="Elbow Connector 197"/>
          <p:cNvCxnSpPr>
            <a:endCxn id="190" idx="0"/>
          </p:cNvCxnSpPr>
          <p:nvPr/>
        </p:nvCxnSpPr>
        <p:spPr>
          <a:xfrm rot="16200000" flipH="1">
            <a:off x="6052339" y="632115"/>
            <a:ext cx="285750" cy="188810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99" name="Straight Arrow Connector 198"/>
          <p:cNvCxnSpPr>
            <a:endCxn id="183" idx="0"/>
          </p:cNvCxnSpPr>
          <p:nvPr/>
        </p:nvCxnSpPr>
        <p:spPr>
          <a:xfrm>
            <a:off x="5251161" y="1433293"/>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94</a:t>
            </a:fld>
            <a:endParaRPr lang="en-GB" dirty="0"/>
          </a:p>
        </p:txBody>
      </p:sp>
    </p:spTree>
    <p:extLst>
      <p:ext uri="{BB962C8B-B14F-4D97-AF65-F5344CB8AC3E}">
        <p14:creationId xmlns:p14="http://schemas.microsoft.com/office/powerpoint/2010/main" val="3340348484"/>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Category-A</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Category-A</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73824" y="-358294"/>
            <a:ext cx="285750" cy="386892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053752" y="-369299"/>
            <a:ext cx="285750" cy="3890933"/>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Categorya1</a:t>
            </a:r>
          </a:p>
        </p:txBody>
      </p:sp>
      <p:sp>
        <p:nvSpPr>
          <p:cNvPr id="85" name="Rounded Rectangle 84"/>
          <p:cNvSpPr/>
          <p:nvPr/>
        </p:nvSpPr>
        <p:spPr>
          <a:xfrm>
            <a:off x="703182"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703182"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703182"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703182"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831890"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831890"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410574"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Categorya6</a:t>
            </a:r>
          </a:p>
        </p:txBody>
      </p:sp>
      <p:sp>
        <p:nvSpPr>
          <p:cNvPr id="92" name="Rounded Rectangle 91"/>
          <p:cNvSpPr/>
          <p:nvPr/>
        </p:nvSpPr>
        <p:spPr>
          <a:xfrm>
            <a:off x="8462252" y="2272179"/>
            <a:ext cx="135968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462252" y="3461824"/>
            <a:ext cx="135968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462252" y="4297478"/>
            <a:ext cx="135968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462252" y="5487125"/>
            <a:ext cx="135968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591109" y="2849594"/>
            <a:ext cx="110197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591109" y="4874894"/>
            <a:ext cx="110197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0" idx="0"/>
          </p:cNvCxnSpPr>
          <p:nvPr/>
        </p:nvCxnSpPr>
        <p:spPr>
          <a:xfrm rot="5400000">
            <a:off x="3949810" y="417692"/>
            <a:ext cx="285750" cy="2316953"/>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21" idx="0"/>
          </p:cNvCxnSpPr>
          <p:nvPr/>
        </p:nvCxnSpPr>
        <p:spPr>
          <a:xfrm rot="16200000" flipH="1">
            <a:off x="6277766" y="406688"/>
            <a:ext cx="285750" cy="233896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0" name="Rounded Rectangle 99"/>
          <p:cNvSpPr/>
          <p:nvPr/>
        </p:nvSpPr>
        <p:spPr>
          <a:xfrm>
            <a:off x="2202688"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Categorya2</a:t>
            </a:r>
          </a:p>
        </p:txBody>
      </p:sp>
      <p:sp>
        <p:nvSpPr>
          <p:cNvPr id="101" name="Rounded Rectangle 100"/>
          <p:cNvSpPr/>
          <p:nvPr/>
        </p:nvSpPr>
        <p:spPr>
          <a:xfrm>
            <a:off x="2255153"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2" name="Rounded Rectangle 101"/>
          <p:cNvSpPr/>
          <p:nvPr/>
        </p:nvSpPr>
        <p:spPr>
          <a:xfrm>
            <a:off x="2255153"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3" name="Rounded Rectangle 102"/>
          <p:cNvSpPr/>
          <p:nvPr/>
        </p:nvSpPr>
        <p:spPr>
          <a:xfrm>
            <a:off x="2255153"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4" name="Rounded Rectangle 103"/>
          <p:cNvSpPr/>
          <p:nvPr/>
        </p:nvSpPr>
        <p:spPr>
          <a:xfrm>
            <a:off x="2255153"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5" name="Oval 104"/>
          <p:cNvSpPr/>
          <p:nvPr/>
        </p:nvSpPr>
        <p:spPr>
          <a:xfrm>
            <a:off x="2383861"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6" name="Oval 105"/>
          <p:cNvSpPr/>
          <p:nvPr/>
        </p:nvSpPr>
        <p:spPr>
          <a:xfrm>
            <a:off x="2383861"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7" name="Rounded Rectangle 106"/>
          <p:cNvSpPr/>
          <p:nvPr/>
        </p:nvSpPr>
        <p:spPr>
          <a:xfrm>
            <a:off x="3754659"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Categorya3</a:t>
            </a:r>
          </a:p>
        </p:txBody>
      </p:sp>
      <p:sp>
        <p:nvSpPr>
          <p:cNvPr id="108" name="Rounded Rectangle 107"/>
          <p:cNvSpPr/>
          <p:nvPr/>
        </p:nvSpPr>
        <p:spPr>
          <a:xfrm>
            <a:off x="3807124"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9" name="Rounded Rectangle 108"/>
          <p:cNvSpPr/>
          <p:nvPr/>
        </p:nvSpPr>
        <p:spPr>
          <a:xfrm>
            <a:off x="3807124"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0" name="Rounded Rectangle 109"/>
          <p:cNvSpPr/>
          <p:nvPr/>
        </p:nvSpPr>
        <p:spPr>
          <a:xfrm>
            <a:off x="3807124"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1" name="Rounded Rectangle 110"/>
          <p:cNvSpPr/>
          <p:nvPr/>
        </p:nvSpPr>
        <p:spPr>
          <a:xfrm>
            <a:off x="3807124"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2" name="Oval 111"/>
          <p:cNvSpPr/>
          <p:nvPr/>
        </p:nvSpPr>
        <p:spPr>
          <a:xfrm>
            <a:off x="3935832"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3" name="Oval 112"/>
          <p:cNvSpPr/>
          <p:nvPr/>
        </p:nvSpPr>
        <p:spPr>
          <a:xfrm>
            <a:off x="3935832"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4" name="Rounded Rectangle 113"/>
          <p:cNvSpPr/>
          <p:nvPr/>
        </p:nvSpPr>
        <p:spPr>
          <a:xfrm>
            <a:off x="5306630"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Categorya4</a:t>
            </a:r>
          </a:p>
        </p:txBody>
      </p:sp>
      <p:sp>
        <p:nvSpPr>
          <p:cNvPr id="115" name="Rounded Rectangle 114"/>
          <p:cNvSpPr/>
          <p:nvPr/>
        </p:nvSpPr>
        <p:spPr>
          <a:xfrm>
            <a:off x="5359095"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6" name="Rounded Rectangle 115"/>
          <p:cNvSpPr/>
          <p:nvPr/>
        </p:nvSpPr>
        <p:spPr>
          <a:xfrm>
            <a:off x="5359095"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7" name="Rounded Rectangle 116"/>
          <p:cNvSpPr/>
          <p:nvPr/>
        </p:nvSpPr>
        <p:spPr>
          <a:xfrm>
            <a:off x="5359095"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8" name="Rounded Rectangle 117"/>
          <p:cNvSpPr/>
          <p:nvPr/>
        </p:nvSpPr>
        <p:spPr>
          <a:xfrm>
            <a:off x="5359095"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9" name="Oval 118"/>
          <p:cNvSpPr/>
          <p:nvPr/>
        </p:nvSpPr>
        <p:spPr>
          <a:xfrm>
            <a:off x="5487803"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0" name="Oval 119"/>
          <p:cNvSpPr/>
          <p:nvPr/>
        </p:nvSpPr>
        <p:spPr>
          <a:xfrm>
            <a:off x="5487803"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1" name="Rounded Rectangle 120"/>
          <p:cNvSpPr/>
          <p:nvPr/>
        </p:nvSpPr>
        <p:spPr>
          <a:xfrm>
            <a:off x="6858601"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Categorya5</a:t>
            </a:r>
          </a:p>
        </p:txBody>
      </p:sp>
      <p:sp>
        <p:nvSpPr>
          <p:cNvPr id="122" name="Rounded Rectangle 121"/>
          <p:cNvSpPr/>
          <p:nvPr/>
        </p:nvSpPr>
        <p:spPr>
          <a:xfrm>
            <a:off x="6911066"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3" name="Rounded Rectangle 122"/>
          <p:cNvSpPr/>
          <p:nvPr/>
        </p:nvSpPr>
        <p:spPr>
          <a:xfrm>
            <a:off x="6911066"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4" name="Rounded Rectangle 123"/>
          <p:cNvSpPr/>
          <p:nvPr/>
        </p:nvSpPr>
        <p:spPr>
          <a:xfrm>
            <a:off x="6911066"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5" name="Rounded Rectangle 124"/>
          <p:cNvSpPr/>
          <p:nvPr/>
        </p:nvSpPr>
        <p:spPr>
          <a:xfrm>
            <a:off x="6911066"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6" name="Oval 125"/>
          <p:cNvSpPr/>
          <p:nvPr/>
        </p:nvSpPr>
        <p:spPr>
          <a:xfrm>
            <a:off x="7039774"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7" name="Oval 126"/>
          <p:cNvSpPr/>
          <p:nvPr/>
        </p:nvSpPr>
        <p:spPr>
          <a:xfrm>
            <a:off x="7039774"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28" name="Elbow Connector 127"/>
          <p:cNvCxnSpPr>
            <a:endCxn id="107" idx="0"/>
          </p:cNvCxnSpPr>
          <p:nvPr/>
        </p:nvCxnSpPr>
        <p:spPr>
          <a:xfrm rot="5400000">
            <a:off x="4725795" y="1193677"/>
            <a:ext cx="285750" cy="76498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29" name="Elbow Connector 128"/>
          <p:cNvCxnSpPr>
            <a:endCxn id="114" idx="0"/>
          </p:cNvCxnSpPr>
          <p:nvPr/>
        </p:nvCxnSpPr>
        <p:spPr>
          <a:xfrm rot="16200000" flipH="1">
            <a:off x="5501780" y="1182673"/>
            <a:ext cx="285750" cy="786989"/>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95</a:t>
            </a:fld>
            <a:endParaRPr lang="en-GB" dirty="0"/>
          </a:p>
        </p:txBody>
      </p:sp>
    </p:spTree>
    <p:extLst>
      <p:ext uri="{BB962C8B-B14F-4D97-AF65-F5344CB8AC3E}">
        <p14:creationId xmlns:p14="http://schemas.microsoft.com/office/powerpoint/2010/main" val="90461618"/>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Category-A</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Category-A</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05244" y="-426874"/>
            <a:ext cx="285750" cy="400608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22809" y="-438355"/>
            <a:ext cx="285750" cy="402904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Categorya1</a:t>
            </a:r>
          </a:p>
        </p:txBody>
      </p:sp>
      <p:sp>
        <p:nvSpPr>
          <p:cNvPr id="85" name="Rounded Rectangle 84"/>
          <p:cNvSpPr/>
          <p:nvPr/>
        </p:nvSpPr>
        <p:spPr>
          <a:xfrm>
            <a:off x="693345"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93345"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93345"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93345"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97920"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97920"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686800" y="1719043"/>
            <a:ext cx="1186814"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Categorya7</a:t>
            </a:r>
          </a:p>
        </p:txBody>
      </p:sp>
      <p:sp>
        <p:nvSpPr>
          <p:cNvPr id="92" name="Rounded Rectangle 91"/>
          <p:cNvSpPr/>
          <p:nvPr/>
        </p:nvSpPr>
        <p:spPr>
          <a:xfrm>
            <a:off x="8728721" y="2272179"/>
            <a:ext cx="110297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728721" y="3461824"/>
            <a:ext cx="110297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728721" y="4297478"/>
            <a:ext cx="110297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728721" y="5487125"/>
            <a:ext cx="110297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833250" y="2849594"/>
            <a:ext cx="89391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833250" y="4874894"/>
            <a:ext cx="89391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2" idx="0"/>
          </p:cNvCxnSpPr>
          <p:nvPr/>
        </p:nvCxnSpPr>
        <p:spPr>
          <a:xfrm rot="5400000">
            <a:off x="3774918" y="242800"/>
            <a:ext cx="285750" cy="2666737"/>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30" idx="0"/>
          </p:cNvCxnSpPr>
          <p:nvPr/>
        </p:nvCxnSpPr>
        <p:spPr>
          <a:xfrm rot="16200000" flipH="1">
            <a:off x="6453611" y="230842"/>
            <a:ext cx="285750" cy="2690651"/>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09" idx="0"/>
          </p:cNvCxnSpPr>
          <p:nvPr/>
        </p:nvCxnSpPr>
        <p:spPr>
          <a:xfrm rot="5400000">
            <a:off x="4444591" y="912473"/>
            <a:ext cx="285750" cy="132739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23" idx="0"/>
          </p:cNvCxnSpPr>
          <p:nvPr/>
        </p:nvCxnSpPr>
        <p:spPr>
          <a:xfrm rot="16200000" flipH="1">
            <a:off x="5783938" y="900516"/>
            <a:ext cx="285750" cy="135130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2" name="Rounded Rectangle 101"/>
          <p:cNvSpPr/>
          <p:nvPr/>
        </p:nvSpPr>
        <p:spPr>
          <a:xfrm>
            <a:off x="1990064"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Categorya2</a:t>
            </a:r>
          </a:p>
        </p:txBody>
      </p:sp>
      <p:sp>
        <p:nvSpPr>
          <p:cNvPr id="103" name="Rounded Rectangle 102"/>
          <p:cNvSpPr/>
          <p:nvPr/>
        </p:nvSpPr>
        <p:spPr>
          <a:xfrm>
            <a:off x="2032692"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4" name="Rounded Rectangle 103"/>
          <p:cNvSpPr/>
          <p:nvPr/>
        </p:nvSpPr>
        <p:spPr>
          <a:xfrm>
            <a:off x="2032692"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5" name="Rounded Rectangle 104"/>
          <p:cNvSpPr/>
          <p:nvPr/>
        </p:nvSpPr>
        <p:spPr>
          <a:xfrm>
            <a:off x="2032692"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6" name="Rounded Rectangle 105"/>
          <p:cNvSpPr/>
          <p:nvPr/>
        </p:nvSpPr>
        <p:spPr>
          <a:xfrm>
            <a:off x="2032692"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7" name="Oval 106"/>
          <p:cNvSpPr/>
          <p:nvPr/>
        </p:nvSpPr>
        <p:spPr>
          <a:xfrm>
            <a:off x="2137267"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8" name="Oval 107"/>
          <p:cNvSpPr/>
          <p:nvPr/>
        </p:nvSpPr>
        <p:spPr>
          <a:xfrm>
            <a:off x="2137267"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9" name="Rounded Rectangle 108"/>
          <p:cNvSpPr/>
          <p:nvPr/>
        </p:nvSpPr>
        <p:spPr>
          <a:xfrm>
            <a:off x="3329411"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Categorya3</a:t>
            </a:r>
          </a:p>
        </p:txBody>
      </p:sp>
      <p:sp>
        <p:nvSpPr>
          <p:cNvPr id="110" name="Rounded Rectangle 109"/>
          <p:cNvSpPr/>
          <p:nvPr/>
        </p:nvSpPr>
        <p:spPr>
          <a:xfrm>
            <a:off x="3372039"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1" name="Rounded Rectangle 110"/>
          <p:cNvSpPr/>
          <p:nvPr/>
        </p:nvSpPr>
        <p:spPr>
          <a:xfrm>
            <a:off x="3372039"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2" name="Rounded Rectangle 111"/>
          <p:cNvSpPr/>
          <p:nvPr/>
        </p:nvSpPr>
        <p:spPr>
          <a:xfrm>
            <a:off x="3372039"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3" name="Rounded Rectangle 112"/>
          <p:cNvSpPr/>
          <p:nvPr/>
        </p:nvSpPr>
        <p:spPr>
          <a:xfrm>
            <a:off x="3372039"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4" name="Oval 113"/>
          <p:cNvSpPr/>
          <p:nvPr/>
        </p:nvSpPr>
        <p:spPr>
          <a:xfrm>
            <a:off x="3476614"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5" name="Oval 114"/>
          <p:cNvSpPr/>
          <p:nvPr/>
        </p:nvSpPr>
        <p:spPr>
          <a:xfrm>
            <a:off x="3476614"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6" name="Rounded Rectangle 115"/>
          <p:cNvSpPr/>
          <p:nvPr/>
        </p:nvSpPr>
        <p:spPr>
          <a:xfrm>
            <a:off x="4668758"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Categorya4</a:t>
            </a:r>
          </a:p>
        </p:txBody>
      </p:sp>
      <p:sp>
        <p:nvSpPr>
          <p:cNvPr id="117" name="Rounded Rectangle 116"/>
          <p:cNvSpPr/>
          <p:nvPr/>
        </p:nvSpPr>
        <p:spPr>
          <a:xfrm>
            <a:off x="4711386"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8" name="Rounded Rectangle 117"/>
          <p:cNvSpPr/>
          <p:nvPr/>
        </p:nvSpPr>
        <p:spPr>
          <a:xfrm>
            <a:off x="4711386"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9" name="Rounded Rectangle 118"/>
          <p:cNvSpPr/>
          <p:nvPr/>
        </p:nvSpPr>
        <p:spPr>
          <a:xfrm>
            <a:off x="4711386"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0" name="Rounded Rectangle 119"/>
          <p:cNvSpPr/>
          <p:nvPr/>
        </p:nvSpPr>
        <p:spPr>
          <a:xfrm>
            <a:off x="4711386"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1" name="Oval 120"/>
          <p:cNvSpPr/>
          <p:nvPr/>
        </p:nvSpPr>
        <p:spPr>
          <a:xfrm>
            <a:off x="4815961"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2" name="Oval 121"/>
          <p:cNvSpPr/>
          <p:nvPr/>
        </p:nvSpPr>
        <p:spPr>
          <a:xfrm>
            <a:off x="4815961"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3" name="Rounded Rectangle 122"/>
          <p:cNvSpPr/>
          <p:nvPr/>
        </p:nvSpPr>
        <p:spPr>
          <a:xfrm>
            <a:off x="6008105"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Categorya5</a:t>
            </a:r>
          </a:p>
        </p:txBody>
      </p:sp>
      <p:sp>
        <p:nvSpPr>
          <p:cNvPr id="124" name="Rounded Rectangle 123"/>
          <p:cNvSpPr/>
          <p:nvPr/>
        </p:nvSpPr>
        <p:spPr>
          <a:xfrm>
            <a:off x="6050733"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5" name="Rounded Rectangle 124"/>
          <p:cNvSpPr/>
          <p:nvPr/>
        </p:nvSpPr>
        <p:spPr>
          <a:xfrm>
            <a:off x="6050733"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6" name="Rounded Rectangle 125"/>
          <p:cNvSpPr/>
          <p:nvPr/>
        </p:nvSpPr>
        <p:spPr>
          <a:xfrm>
            <a:off x="6050733"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7" name="Rounded Rectangle 126"/>
          <p:cNvSpPr/>
          <p:nvPr/>
        </p:nvSpPr>
        <p:spPr>
          <a:xfrm>
            <a:off x="6050733"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8" name="Oval 127"/>
          <p:cNvSpPr/>
          <p:nvPr/>
        </p:nvSpPr>
        <p:spPr>
          <a:xfrm>
            <a:off x="6155308"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9" name="Oval 128"/>
          <p:cNvSpPr/>
          <p:nvPr/>
        </p:nvSpPr>
        <p:spPr>
          <a:xfrm>
            <a:off x="6155308"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0" name="Rounded Rectangle 129"/>
          <p:cNvSpPr/>
          <p:nvPr/>
        </p:nvSpPr>
        <p:spPr>
          <a:xfrm>
            <a:off x="7347452"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Categorya6</a:t>
            </a:r>
          </a:p>
        </p:txBody>
      </p:sp>
      <p:sp>
        <p:nvSpPr>
          <p:cNvPr id="131" name="Rounded Rectangle 130"/>
          <p:cNvSpPr/>
          <p:nvPr/>
        </p:nvSpPr>
        <p:spPr>
          <a:xfrm>
            <a:off x="7390080"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2" name="Rounded Rectangle 131"/>
          <p:cNvSpPr/>
          <p:nvPr/>
        </p:nvSpPr>
        <p:spPr>
          <a:xfrm>
            <a:off x="7390080"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3" name="Rounded Rectangle 132"/>
          <p:cNvSpPr/>
          <p:nvPr/>
        </p:nvSpPr>
        <p:spPr>
          <a:xfrm>
            <a:off x="7390080"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4" name="Rounded Rectangle 133"/>
          <p:cNvSpPr/>
          <p:nvPr/>
        </p:nvSpPr>
        <p:spPr>
          <a:xfrm>
            <a:off x="7390080"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5" name="Oval 134"/>
          <p:cNvSpPr/>
          <p:nvPr/>
        </p:nvSpPr>
        <p:spPr>
          <a:xfrm>
            <a:off x="7494655"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Oval 135"/>
          <p:cNvSpPr/>
          <p:nvPr/>
        </p:nvSpPr>
        <p:spPr>
          <a:xfrm>
            <a:off x="7494655"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37" name="Straight Arrow Connector 136"/>
          <p:cNvCxnSpPr>
            <a:endCxn id="116" idx="0"/>
          </p:cNvCxnSpPr>
          <p:nvPr/>
        </p:nvCxnSpPr>
        <p:spPr>
          <a:xfrm>
            <a:off x="5251161" y="1433293"/>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96</a:t>
            </a:fld>
            <a:endParaRPr lang="en-GB" dirty="0"/>
          </a:p>
        </p:txBody>
      </p:sp>
    </p:spTree>
    <p:extLst>
      <p:ext uri="{BB962C8B-B14F-4D97-AF65-F5344CB8AC3E}">
        <p14:creationId xmlns:p14="http://schemas.microsoft.com/office/powerpoint/2010/main" val="2801392087"/>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Category-A</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Category-A</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05244" y="-426874"/>
            <a:ext cx="285750" cy="400608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22809" y="-438355"/>
            <a:ext cx="285750" cy="402904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Categorya1</a:t>
            </a:r>
          </a:p>
        </p:txBody>
      </p:sp>
      <p:sp>
        <p:nvSpPr>
          <p:cNvPr id="85" name="Rounded Rectangle 84"/>
          <p:cNvSpPr/>
          <p:nvPr/>
        </p:nvSpPr>
        <p:spPr>
          <a:xfrm>
            <a:off x="690066"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90066"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90066"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90066"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86597"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86597"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772524" y="1719043"/>
            <a:ext cx="1101089"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Categorya8</a:t>
            </a:r>
          </a:p>
        </p:txBody>
      </p:sp>
      <p:sp>
        <p:nvSpPr>
          <p:cNvPr id="92" name="Rounded Rectangle 91"/>
          <p:cNvSpPr/>
          <p:nvPr/>
        </p:nvSpPr>
        <p:spPr>
          <a:xfrm>
            <a:off x="8811417" y="2272179"/>
            <a:ext cx="102330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811417" y="3461824"/>
            <a:ext cx="102330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811417" y="4297478"/>
            <a:ext cx="102330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811417" y="5487125"/>
            <a:ext cx="102330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908395" y="2849594"/>
            <a:ext cx="829347"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908395" y="4874894"/>
            <a:ext cx="829347"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2" idx="0"/>
          </p:cNvCxnSpPr>
          <p:nvPr/>
        </p:nvCxnSpPr>
        <p:spPr>
          <a:xfrm rot="5400000">
            <a:off x="3662513" y="130395"/>
            <a:ext cx="285750" cy="289154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37" idx="0"/>
          </p:cNvCxnSpPr>
          <p:nvPr/>
        </p:nvCxnSpPr>
        <p:spPr>
          <a:xfrm rot="16200000" flipH="1">
            <a:off x="6563158" y="121296"/>
            <a:ext cx="285750" cy="290974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09" idx="0"/>
          </p:cNvCxnSpPr>
          <p:nvPr/>
        </p:nvCxnSpPr>
        <p:spPr>
          <a:xfrm rot="5400000">
            <a:off x="4242642" y="710524"/>
            <a:ext cx="285750" cy="173128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30" idx="0"/>
          </p:cNvCxnSpPr>
          <p:nvPr/>
        </p:nvCxnSpPr>
        <p:spPr>
          <a:xfrm rot="16200000" flipH="1">
            <a:off x="5983029" y="701425"/>
            <a:ext cx="285750" cy="174948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2" name="Rounded Rectangle 101"/>
          <p:cNvSpPr/>
          <p:nvPr/>
        </p:nvSpPr>
        <p:spPr>
          <a:xfrm>
            <a:off x="1810975"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Categorya2</a:t>
            </a:r>
          </a:p>
        </p:txBody>
      </p:sp>
      <p:sp>
        <p:nvSpPr>
          <p:cNvPr id="103" name="Rounded Rectangle 102"/>
          <p:cNvSpPr/>
          <p:nvPr/>
        </p:nvSpPr>
        <p:spPr>
          <a:xfrm>
            <a:off x="1850324"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4" name="Rounded Rectangle 103"/>
          <p:cNvSpPr/>
          <p:nvPr/>
        </p:nvSpPr>
        <p:spPr>
          <a:xfrm>
            <a:off x="1850324"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5" name="Rounded Rectangle 104"/>
          <p:cNvSpPr/>
          <p:nvPr/>
        </p:nvSpPr>
        <p:spPr>
          <a:xfrm>
            <a:off x="1850324"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6" name="Rounded Rectangle 105"/>
          <p:cNvSpPr/>
          <p:nvPr/>
        </p:nvSpPr>
        <p:spPr>
          <a:xfrm>
            <a:off x="1850324"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7" name="Oval 106"/>
          <p:cNvSpPr/>
          <p:nvPr/>
        </p:nvSpPr>
        <p:spPr>
          <a:xfrm>
            <a:off x="1946855"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8" name="Oval 107"/>
          <p:cNvSpPr/>
          <p:nvPr/>
        </p:nvSpPr>
        <p:spPr>
          <a:xfrm>
            <a:off x="1946855"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9" name="Rounded Rectangle 108"/>
          <p:cNvSpPr/>
          <p:nvPr/>
        </p:nvSpPr>
        <p:spPr>
          <a:xfrm>
            <a:off x="2971233"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Categorya3</a:t>
            </a:r>
          </a:p>
        </p:txBody>
      </p:sp>
      <p:sp>
        <p:nvSpPr>
          <p:cNvPr id="110" name="Rounded Rectangle 109"/>
          <p:cNvSpPr/>
          <p:nvPr/>
        </p:nvSpPr>
        <p:spPr>
          <a:xfrm>
            <a:off x="3010582"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1" name="Rounded Rectangle 110"/>
          <p:cNvSpPr/>
          <p:nvPr/>
        </p:nvSpPr>
        <p:spPr>
          <a:xfrm>
            <a:off x="3010582"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2" name="Rounded Rectangle 111"/>
          <p:cNvSpPr/>
          <p:nvPr/>
        </p:nvSpPr>
        <p:spPr>
          <a:xfrm>
            <a:off x="3010582"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3" name="Rounded Rectangle 112"/>
          <p:cNvSpPr/>
          <p:nvPr/>
        </p:nvSpPr>
        <p:spPr>
          <a:xfrm>
            <a:off x="3010582"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4" name="Oval 113"/>
          <p:cNvSpPr/>
          <p:nvPr/>
        </p:nvSpPr>
        <p:spPr>
          <a:xfrm>
            <a:off x="3107113"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5" name="Oval 114"/>
          <p:cNvSpPr/>
          <p:nvPr/>
        </p:nvSpPr>
        <p:spPr>
          <a:xfrm>
            <a:off x="3107113"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6" name="Rounded Rectangle 115"/>
          <p:cNvSpPr/>
          <p:nvPr/>
        </p:nvSpPr>
        <p:spPr>
          <a:xfrm>
            <a:off x="4131491"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Categorya4</a:t>
            </a:r>
          </a:p>
        </p:txBody>
      </p:sp>
      <p:sp>
        <p:nvSpPr>
          <p:cNvPr id="117" name="Rounded Rectangle 116"/>
          <p:cNvSpPr/>
          <p:nvPr/>
        </p:nvSpPr>
        <p:spPr>
          <a:xfrm>
            <a:off x="4170840"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8" name="Rounded Rectangle 117"/>
          <p:cNvSpPr/>
          <p:nvPr/>
        </p:nvSpPr>
        <p:spPr>
          <a:xfrm>
            <a:off x="4170840"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9" name="Rounded Rectangle 118"/>
          <p:cNvSpPr/>
          <p:nvPr/>
        </p:nvSpPr>
        <p:spPr>
          <a:xfrm>
            <a:off x="4170840"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0" name="Rounded Rectangle 119"/>
          <p:cNvSpPr/>
          <p:nvPr/>
        </p:nvSpPr>
        <p:spPr>
          <a:xfrm>
            <a:off x="4170840"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1" name="Oval 120"/>
          <p:cNvSpPr/>
          <p:nvPr/>
        </p:nvSpPr>
        <p:spPr>
          <a:xfrm>
            <a:off x="4267371"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2" name="Oval 121"/>
          <p:cNvSpPr/>
          <p:nvPr/>
        </p:nvSpPr>
        <p:spPr>
          <a:xfrm>
            <a:off x="4267371"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3" name="Rounded Rectangle 122"/>
          <p:cNvSpPr/>
          <p:nvPr/>
        </p:nvSpPr>
        <p:spPr>
          <a:xfrm>
            <a:off x="5291749"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Categorya5</a:t>
            </a:r>
          </a:p>
        </p:txBody>
      </p:sp>
      <p:sp>
        <p:nvSpPr>
          <p:cNvPr id="124" name="Rounded Rectangle 123"/>
          <p:cNvSpPr/>
          <p:nvPr/>
        </p:nvSpPr>
        <p:spPr>
          <a:xfrm>
            <a:off x="5331098"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5" name="Rounded Rectangle 124"/>
          <p:cNvSpPr/>
          <p:nvPr/>
        </p:nvSpPr>
        <p:spPr>
          <a:xfrm>
            <a:off x="5331098"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6" name="Rounded Rectangle 125"/>
          <p:cNvSpPr/>
          <p:nvPr/>
        </p:nvSpPr>
        <p:spPr>
          <a:xfrm>
            <a:off x="5331098"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7" name="Rounded Rectangle 126"/>
          <p:cNvSpPr/>
          <p:nvPr/>
        </p:nvSpPr>
        <p:spPr>
          <a:xfrm>
            <a:off x="5331098"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8" name="Oval 127"/>
          <p:cNvSpPr/>
          <p:nvPr/>
        </p:nvSpPr>
        <p:spPr>
          <a:xfrm>
            <a:off x="5427629"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9" name="Oval 128"/>
          <p:cNvSpPr/>
          <p:nvPr/>
        </p:nvSpPr>
        <p:spPr>
          <a:xfrm>
            <a:off x="5427629"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0" name="Rounded Rectangle 129"/>
          <p:cNvSpPr/>
          <p:nvPr/>
        </p:nvSpPr>
        <p:spPr>
          <a:xfrm>
            <a:off x="6452007"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Categorya6</a:t>
            </a:r>
          </a:p>
        </p:txBody>
      </p:sp>
      <p:sp>
        <p:nvSpPr>
          <p:cNvPr id="131" name="Rounded Rectangle 130"/>
          <p:cNvSpPr/>
          <p:nvPr/>
        </p:nvSpPr>
        <p:spPr>
          <a:xfrm>
            <a:off x="6491356"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2" name="Rounded Rectangle 131"/>
          <p:cNvSpPr/>
          <p:nvPr/>
        </p:nvSpPr>
        <p:spPr>
          <a:xfrm>
            <a:off x="6491356"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3" name="Rounded Rectangle 132"/>
          <p:cNvSpPr/>
          <p:nvPr/>
        </p:nvSpPr>
        <p:spPr>
          <a:xfrm>
            <a:off x="6491356"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4" name="Rounded Rectangle 133"/>
          <p:cNvSpPr/>
          <p:nvPr/>
        </p:nvSpPr>
        <p:spPr>
          <a:xfrm>
            <a:off x="6491356"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5" name="Oval 134"/>
          <p:cNvSpPr/>
          <p:nvPr/>
        </p:nvSpPr>
        <p:spPr>
          <a:xfrm>
            <a:off x="6587887"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Oval 135"/>
          <p:cNvSpPr/>
          <p:nvPr/>
        </p:nvSpPr>
        <p:spPr>
          <a:xfrm>
            <a:off x="6587887"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7" name="Rounded Rectangle 136"/>
          <p:cNvSpPr/>
          <p:nvPr/>
        </p:nvSpPr>
        <p:spPr>
          <a:xfrm>
            <a:off x="7612265"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Categorya7</a:t>
            </a:r>
          </a:p>
        </p:txBody>
      </p:sp>
      <p:sp>
        <p:nvSpPr>
          <p:cNvPr id="138" name="Rounded Rectangle 137"/>
          <p:cNvSpPr/>
          <p:nvPr/>
        </p:nvSpPr>
        <p:spPr>
          <a:xfrm>
            <a:off x="7651614"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9" name="Rounded Rectangle 138"/>
          <p:cNvSpPr/>
          <p:nvPr/>
        </p:nvSpPr>
        <p:spPr>
          <a:xfrm>
            <a:off x="7651614"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0" name="Rounded Rectangle 139"/>
          <p:cNvSpPr/>
          <p:nvPr/>
        </p:nvSpPr>
        <p:spPr>
          <a:xfrm>
            <a:off x="7651614"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1" name="Rounded Rectangle 140"/>
          <p:cNvSpPr/>
          <p:nvPr/>
        </p:nvSpPr>
        <p:spPr>
          <a:xfrm>
            <a:off x="7651614"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2" name="Oval 141"/>
          <p:cNvSpPr/>
          <p:nvPr/>
        </p:nvSpPr>
        <p:spPr>
          <a:xfrm>
            <a:off x="7748145"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3" name="Oval 142"/>
          <p:cNvSpPr/>
          <p:nvPr/>
        </p:nvSpPr>
        <p:spPr>
          <a:xfrm>
            <a:off x="7748145"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44" name="Elbow Connector 143"/>
          <p:cNvCxnSpPr>
            <a:endCxn id="116" idx="0"/>
          </p:cNvCxnSpPr>
          <p:nvPr/>
        </p:nvCxnSpPr>
        <p:spPr>
          <a:xfrm rot="5400000">
            <a:off x="4822771" y="1290653"/>
            <a:ext cx="285750" cy="57103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45" name="Elbow Connector 144"/>
          <p:cNvCxnSpPr>
            <a:endCxn id="123" idx="0"/>
          </p:cNvCxnSpPr>
          <p:nvPr/>
        </p:nvCxnSpPr>
        <p:spPr>
          <a:xfrm rot="16200000" flipH="1">
            <a:off x="5402900" y="1281554"/>
            <a:ext cx="285750" cy="58922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97</a:t>
            </a:fld>
            <a:endParaRPr lang="en-GB" dirty="0"/>
          </a:p>
        </p:txBody>
      </p:sp>
    </p:spTree>
    <p:extLst>
      <p:ext uri="{BB962C8B-B14F-4D97-AF65-F5344CB8AC3E}">
        <p14:creationId xmlns:p14="http://schemas.microsoft.com/office/powerpoint/2010/main" val="420750399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Category-A</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Category-A</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059524" y="-472594"/>
            <a:ext cx="285750" cy="409752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68052" y="-483599"/>
            <a:ext cx="285750" cy="4119533"/>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Categorya1</a:t>
            </a:r>
          </a:p>
        </p:txBody>
      </p:sp>
      <p:sp>
        <p:nvSpPr>
          <p:cNvPr id="85" name="Rounded Rectangle 84"/>
          <p:cNvSpPr/>
          <p:nvPr/>
        </p:nvSpPr>
        <p:spPr>
          <a:xfrm>
            <a:off x="686787"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86787"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86787"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86787"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75273"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75273"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867774"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Categorya9</a:t>
            </a:r>
          </a:p>
        </p:txBody>
      </p:sp>
      <p:sp>
        <p:nvSpPr>
          <p:cNvPr id="92" name="Rounded Rectangle 91"/>
          <p:cNvSpPr/>
          <p:nvPr/>
        </p:nvSpPr>
        <p:spPr>
          <a:xfrm>
            <a:off x="8903303" y="2272179"/>
            <a:ext cx="93478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903303" y="3461824"/>
            <a:ext cx="93478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903303" y="4297478"/>
            <a:ext cx="93478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903303" y="5487125"/>
            <a:ext cx="93478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991892" y="2849594"/>
            <a:ext cx="75760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991892" y="4874894"/>
            <a:ext cx="75760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4" idx="0"/>
          </p:cNvCxnSpPr>
          <p:nvPr/>
        </p:nvCxnSpPr>
        <p:spPr>
          <a:xfrm rot="5400000">
            <a:off x="3573090" y="40972"/>
            <a:ext cx="285750" cy="307039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46" idx="0"/>
          </p:cNvCxnSpPr>
          <p:nvPr/>
        </p:nvCxnSpPr>
        <p:spPr>
          <a:xfrm rot="16200000" flipH="1">
            <a:off x="6654486" y="29968"/>
            <a:ext cx="285750" cy="309240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11" idx="0"/>
          </p:cNvCxnSpPr>
          <p:nvPr/>
        </p:nvCxnSpPr>
        <p:spPr>
          <a:xfrm rot="5400000">
            <a:off x="4086656" y="554538"/>
            <a:ext cx="285750" cy="204326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39" idx="0"/>
          </p:cNvCxnSpPr>
          <p:nvPr/>
        </p:nvCxnSpPr>
        <p:spPr>
          <a:xfrm rot="16200000" flipH="1">
            <a:off x="6140920" y="543534"/>
            <a:ext cx="285750" cy="206526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Elbow Connector 101"/>
          <p:cNvCxnSpPr>
            <a:endCxn id="118" idx="0"/>
          </p:cNvCxnSpPr>
          <p:nvPr/>
        </p:nvCxnSpPr>
        <p:spPr>
          <a:xfrm rot="5400000">
            <a:off x="4600222" y="1068104"/>
            <a:ext cx="285750" cy="1016128"/>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endCxn id="132" idx="0"/>
          </p:cNvCxnSpPr>
          <p:nvPr/>
        </p:nvCxnSpPr>
        <p:spPr>
          <a:xfrm rot="16200000" flipH="1">
            <a:off x="5627354" y="1057100"/>
            <a:ext cx="285750" cy="103813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4" name="Rounded Rectangle 103"/>
          <p:cNvSpPr/>
          <p:nvPr/>
        </p:nvSpPr>
        <p:spPr>
          <a:xfrm>
            <a:off x="1677849"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Categorya2</a:t>
            </a:r>
          </a:p>
        </p:txBody>
      </p:sp>
      <p:sp>
        <p:nvSpPr>
          <p:cNvPr id="105" name="Rounded Rectangle 104"/>
          <p:cNvSpPr/>
          <p:nvPr/>
        </p:nvSpPr>
        <p:spPr>
          <a:xfrm>
            <a:off x="1713919"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6" name="Rounded Rectangle 105"/>
          <p:cNvSpPr/>
          <p:nvPr/>
        </p:nvSpPr>
        <p:spPr>
          <a:xfrm>
            <a:off x="1713919"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7" name="Rounded Rectangle 106"/>
          <p:cNvSpPr/>
          <p:nvPr/>
        </p:nvSpPr>
        <p:spPr>
          <a:xfrm>
            <a:off x="1713919"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8" name="Rounded Rectangle 107"/>
          <p:cNvSpPr/>
          <p:nvPr/>
        </p:nvSpPr>
        <p:spPr>
          <a:xfrm>
            <a:off x="1713919"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9" name="Oval 108"/>
          <p:cNvSpPr/>
          <p:nvPr/>
        </p:nvSpPr>
        <p:spPr>
          <a:xfrm>
            <a:off x="1802405"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0" name="Oval 109"/>
          <p:cNvSpPr/>
          <p:nvPr/>
        </p:nvSpPr>
        <p:spPr>
          <a:xfrm>
            <a:off x="1802405"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1" name="Rounded Rectangle 110"/>
          <p:cNvSpPr/>
          <p:nvPr/>
        </p:nvSpPr>
        <p:spPr>
          <a:xfrm>
            <a:off x="2704981"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Categorya3</a:t>
            </a:r>
          </a:p>
        </p:txBody>
      </p:sp>
      <p:sp>
        <p:nvSpPr>
          <p:cNvPr id="112" name="Rounded Rectangle 111"/>
          <p:cNvSpPr/>
          <p:nvPr/>
        </p:nvSpPr>
        <p:spPr>
          <a:xfrm>
            <a:off x="2741051"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3" name="Rounded Rectangle 112"/>
          <p:cNvSpPr/>
          <p:nvPr/>
        </p:nvSpPr>
        <p:spPr>
          <a:xfrm>
            <a:off x="2741051"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4" name="Rounded Rectangle 113"/>
          <p:cNvSpPr/>
          <p:nvPr/>
        </p:nvSpPr>
        <p:spPr>
          <a:xfrm>
            <a:off x="2741051"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5" name="Rounded Rectangle 114"/>
          <p:cNvSpPr/>
          <p:nvPr/>
        </p:nvSpPr>
        <p:spPr>
          <a:xfrm>
            <a:off x="2741051"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6" name="Oval 115"/>
          <p:cNvSpPr/>
          <p:nvPr/>
        </p:nvSpPr>
        <p:spPr>
          <a:xfrm>
            <a:off x="2829537"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7" name="Oval 116"/>
          <p:cNvSpPr/>
          <p:nvPr/>
        </p:nvSpPr>
        <p:spPr>
          <a:xfrm>
            <a:off x="2829537"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8" name="Rounded Rectangle 117"/>
          <p:cNvSpPr/>
          <p:nvPr/>
        </p:nvSpPr>
        <p:spPr>
          <a:xfrm>
            <a:off x="3732113"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Categorya4</a:t>
            </a:r>
          </a:p>
        </p:txBody>
      </p:sp>
      <p:sp>
        <p:nvSpPr>
          <p:cNvPr id="119" name="Rounded Rectangle 118"/>
          <p:cNvSpPr/>
          <p:nvPr/>
        </p:nvSpPr>
        <p:spPr>
          <a:xfrm>
            <a:off x="3768183"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0" name="Rounded Rectangle 119"/>
          <p:cNvSpPr/>
          <p:nvPr/>
        </p:nvSpPr>
        <p:spPr>
          <a:xfrm>
            <a:off x="3768183"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1" name="Rounded Rectangle 120"/>
          <p:cNvSpPr/>
          <p:nvPr/>
        </p:nvSpPr>
        <p:spPr>
          <a:xfrm>
            <a:off x="3768183"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2" name="Rounded Rectangle 121"/>
          <p:cNvSpPr/>
          <p:nvPr/>
        </p:nvSpPr>
        <p:spPr>
          <a:xfrm>
            <a:off x="3768183"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3" name="Oval 122"/>
          <p:cNvSpPr/>
          <p:nvPr/>
        </p:nvSpPr>
        <p:spPr>
          <a:xfrm>
            <a:off x="3856669"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4" name="Oval 123"/>
          <p:cNvSpPr/>
          <p:nvPr/>
        </p:nvSpPr>
        <p:spPr>
          <a:xfrm>
            <a:off x="3856669"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5" name="Rounded Rectangle 124"/>
          <p:cNvSpPr/>
          <p:nvPr/>
        </p:nvSpPr>
        <p:spPr>
          <a:xfrm>
            <a:off x="4759245"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Categorya5</a:t>
            </a:r>
          </a:p>
        </p:txBody>
      </p:sp>
      <p:sp>
        <p:nvSpPr>
          <p:cNvPr id="126" name="Rounded Rectangle 125"/>
          <p:cNvSpPr/>
          <p:nvPr/>
        </p:nvSpPr>
        <p:spPr>
          <a:xfrm>
            <a:off x="4795315"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7" name="Rounded Rectangle 126"/>
          <p:cNvSpPr/>
          <p:nvPr/>
        </p:nvSpPr>
        <p:spPr>
          <a:xfrm>
            <a:off x="4795315"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8" name="Rounded Rectangle 127"/>
          <p:cNvSpPr/>
          <p:nvPr/>
        </p:nvSpPr>
        <p:spPr>
          <a:xfrm>
            <a:off x="4795315"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9" name="Rounded Rectangle 128"/>
          <p:cNvSpPr/>
          <p:nvPr/>
        </p:nvSpPr>
        <p:spPr>
          <a:xfrm>
            <a:off x="4795315"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0" name="Oval 129"/>
          <p:cNvSpPr/>
          <p:nvPr/>
        </p:nvSpPr>
        <p:spPr>
          <a:xfrm>
            <a:off x="4883801"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1" name="Oval 130"/>
          <p:cNvSpPr/>
          <p:nvPr/>
        </p:nvSpPr>
        <p:spPr>
          <a:xfrm>
            <a:off x="4883801"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2" name="Rounded Rectangle 131"/>
          <p:cNvSpPr/>
          <p:nvPr/>
        </p:nvSpPr>
        <p:spPr>
          <a:xfrm>
            <a:off x="5786377"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Categorya6</a:t>
            </a:r>
          </a:p>
        </p:txBody>
      </p:sp>
      <p:sp>
        <p:nvSpPr>
          <p:cNvPr id="133" name="Rounded Rectangle 132"/>
          <p:cNvSpPr/>
          <p:nvPr/>
        </p:nvSpPr>
        <p:spPr>
          <a:xfrm>
            <a:off x="5822447"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4" name="Rounded Rectangle 133"/>
          <p:cNvSpPr/>
          <p:nvPr/>
        </p:nvSpPr>
        <p:spPr>
          <a:xfrm>
            <a:off x="5822447"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5" name="Rounded Rectangle 134"/>
          <p:cNvSpPr/>
          <p:nvPr/>
        </p:nvSpPr>
        <p:spPr>
          <a:xfrm>
            <a:off x="5822447"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6" name="Rounded Rectangle 135"/>
          <p:cNvSpPr/>
          <p:nvPr/>
        </p:nvSpPr>
        <p:spPr>
          <a:xfrm>
            <a:off x="5822447"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7" name="Oval 136"/>
          <p:cNvSpPr/>
          <p:nvPr/>
        </p:nvSpPr>
        <p:spPr>
          <a:xfrm>
            <a:off x="5910933"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8" name="Oval 137"/>
          <p:cNvSpPr/>
          <p:nvPr/>
        </p:nvSpPr>
        <p:spPr>
          <a:xfrm>
            <a:off x="5910933"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9" name="Rounded Rectangle 138"/>
          <p:cNvSpPr/>
          <p:nvPr/>
        </p:nvSpPr>
        <p:spPr>
          <a:xfrm>
            <a:off x="6813509"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Categorya7</a:t>
            </a:r>
          </a:p>
        </p:txBody>
      </p:sp>
      <p:sp>
        <p:nvSpPr>
          <p:cNvPr id="140" name="Rounded Rectangle 139"/>
          <p:cNvSpPr/>
          <p:nvPr/>
        </p:nvSpPr>
        <p:spPr>
          <a:xfrm>
            <a:off x="6849579"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1" name="Rounded Rectangle 140"/>
          <p:cNvSpPr/>
          <p:nvPr/>
        </p:nvSpPr>
        <p:spPr>
          <a:xfrm>
            <a:off x="6849579"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2" name="Rounded Rectangle 141"/>
          <p:cNvSpPr/>
          <p:nvPr/>
        </p:nvSpPr>
        <p:spPr>
          <a:xfrm>
            <a:off x="6849579"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3" name="Rounded Rectangle 142"/>
          <p:cNvSpPr/>
          <p:nvPr/>
        </p:nvSpPr>
        <p:spPr>
          <a:xfrm>
            <a:off x="6849579"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4" name="Oval 143"/>
          <p:cNvSpPr/>
          <p:nvPr/>
        </p:nvSpPr>
        <p:spPr>
          <a:xfrm>
            <a:off x="6938065"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5" name="Oval 144"/>
          <p:cNvSpPr/>
          <p:nvPr/>
        </p:nvSpPr>
        <p:spPr>
          <a:xfrm>
            <a:off x="6938065"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6" name="Rounded Rectangle 145"/>
          <p:cNvSpPr/>
          <p:nvPr/>
        </p:nvSpPr>
        <p:spPr>
          <a:xfrm>
            <a:off x="7840641"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Categorya8</a:t>
            </a:r>
          </a:p>
        </p:txBody>
      </p:sp>
      <p:sp>
        <p:nvSpPr>
          <p:cNvPr id="147" name="Rounded Rectangle 146"/>
          <p:cNvSpPr/>
          <p:nvPr/>
        </p:nvSpPr>
        <p:spPr>
          <a:xfrm>
            <a:off x="7876711"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8" name="Rounded Rectangle 147"/>
          <p:cNvSpPr/>
          <p:nvPr/>
        </p:nvSpPr>
        <p:spPr>
          <a:xfrm>
            <a:off x="7876711"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9" name="Rounded Rectangle 148"/>
          <p:cNvSpPr/>
          <p:nvPr/>
        </p:nvSpPr>
        <p:spPr>
          <a:xfrm>
            <a:off x="7876711"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50" name="Rounded Rectangle 149"/>
          <p:cNvSpPr/>
          <p:nvPr/>
        </p:nvSpPr>
        <p:spPr>
          <a:xfrm>
            <a:off x="7876711"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51" name="Oval 150"/>
          <p:cNvSpPr/>
          <p:nvPr/>
        </p:nvSpPr>
        <p:spPr>
          <a:xfrm>
            <a:off x="7965197"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0" name="Oval 199"/>
          <p:cNvSpPr/>
          <p:nvPr/>
        </p:nvSpPr>
        <p:spPr>
          <a:xfrm>
            <a:off x="7965197"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201" name="Elbow Connector 200"/>
          <p:cNvCxnSpPr>
            <a:endCxn id="125" idx="0"/>
          </p:cNvCxnSpPr>
          <p:nvPr/>
        </p:nvCxnSpPr>
        <p:spPr>
          <a:xfrm rot="16200000" flipH="1">
            <a:off x="5113788" y="1570666"/>
            <a:ext cx="285750" cy="1100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98</a:t>
            </a:fld>
            <a:endParaRPr lang="en-GB" dirty="0"/>
          </a:p>
        </p:txBody>
      </p:sp>
    </p:spTree>
    <p:extLst>
      <p:ext uri="{BB962C8B-B14F-4D97-AF65-F5344CB8AC3E}">
        <p14:creationId xmlns:p14="http://schemas.microsoft.com/office/powerpoint/2010/main" val="264168994"/>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Category-A</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Category-A</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002977" y="-529141"/>
            <a:ext cx="285750" cy="42106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216880" y="-532427"/>
            <a:ext cx="285750" cy="421718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464951" y="2507208"/>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464951" y="3696853"/>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464951" y="4532507"/>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464951" y="5722154"/>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583342"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Categorya1</a:t>
            </a:r>
          </a:p>
        </p:txBody>
      </p:sp>
      <p:sp>
        <p:nvSpPr>
          <p:cNvPr id="85" name="Rounded Rectangle 84"/>
          <p:cNvSpPr/>
          <p:nvPr/>
        </p:nvSpPr>
        <p:spPr>
          <a:xfrm>
            <a:off x="616133"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16133"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16133"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16133"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696575"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69657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9011150"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Categorya10</a:t>
            </a:r>
          </a:p>
        </p:txBody>
      </p:sp>
      <p:sp>
        <p:nvSpPr>
          <p:cNvPr id="92" name="Rounded Rectangle 91"/>
          <p:cNvSpPr/>
          <p:nvPr/>
        </p:nvSpPr>
        <p:spPr>
          <a:xfrm>
            <a:off x="9043449" y="2272179"/>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9043449" y="3461824"/>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9043449" y="4297478"/>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9043449" y="5487125"/>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9123984" y="28495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9123984" y="48748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5" idx="0"/>
          </p:cNvCxnSpPr>
          <p:nvPr/>
        </p:nvCxnSpPr>
        <p:spPr>
          <a:xfrm rot="5400000">
            <a:off x="3471188" y="-60930"/>
            <a:ext cx="285750" cy="327419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202" idx="0"/>
          </p:cNvCxnSpPr>
          <p:nvPr/>
        </p:nvCxnSpPr>
        <p:spPr>
          <a:xfrm rot="16200000" flipH="1">
            <a:off x="6748668" y="-64215"/>
            <a:ext cx="285750" cy="3280765"/>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12" idx="0"/>
          </p:cNvCxnSpPr>
          <p:nvPr/>
        </p:nvCxnSpPr>
        <p:spPr>
          <a:xfrm rot="5400000">
            <a:off x="3939400" y="407282"/>
            <a:ext cx="285750" cy="2337773"/>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47" idx="0"/>
          </p:cNvCxnSpPr>
          <p:nvPr/>
        </p:nvCxnSpPr>
        <p:spPr>
          <a:xfrm rot="16200000" flipH="1">
            <a:off x="6280457" y="403997"/>
            <a:ext cx="285750" cy="234434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Elbow Connector 101"/>
          <p:cNvCxnSpPr>
            <a:endCxn id="119" idx="0"/>
          </p:cNvCxnSpPr>
          <p:nvPr/>
        </p:nvCxnSpPr>
        <p:spPr>
          <a:xfrm rot="5400000">
            <a:off x="4407611" y="875493"/>
            <a:ext cx="285750" cy="140135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endCxn id="140" idx="0"/>
          </p:cNvCxnSpPr>
          <p:nvPr/>
        </p:nvCxnSpPr>
        <p:spPr>
          <a:xfrm rot="16200000" flipH="1">
            <a:off x="5812245" y="872208"/>
            <a:ext cx="285750" cy="1407919"/>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4" name="Elbow Connector 103"/>
          <p:cNvCxnSpPr>
            <a:endCxn id="133" idx="0"/>
          </p:cNvCxnSpPr>
          <p:nvPr/>
        </p:nvCxnSpPr>
        <p:spPr>
          <a:xfrm rot="16200000" flipH="1">
            <a:off x="5344034" y="1340420"/>
            <a:ext cx="285750" cy="47149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5" name="Rounded Rectangle 104"/>
          <p:cNvSpPr/>
          <p:nvPr/>
        </p:nvSpPr>
        <p:spPr>
          <a:xfrm>
            <a:off x="1519765"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Categorya2</a:t>
            </a:r>
          </a:p>
        </p:txBody>
      </p:sp>
      <p:sp>
        <p:nvSpPr>
          <p:cNvPr id="106" name="Rounded Rectangle 105"/>
          <p:cNvSpPr/>
          <p:nvPr/>
        </p:nvSpPr>
        <p:spPr>
          <a:xfrm>
            <a:off x="1552392"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7" name="Rounded Rectangle 106"/>
          <p:cNvSpPr/>
          <p:nvPr/>
        </p:nvSpPr>
        <p:spPr>
          <a:xfrm>
            <a:off x="1552392"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8" name="Rounded Rectangle 107"/>
          <p:cNvSpPr/>
          <p:nvPr/>
        </p:nvSpPr>
        <p:spPr>
          <a:xfrm>
            <a:off x="1552392"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9" name="Rounded Rectangle 108"/>
          <p:cNvSpPr/>
          <p:nvPr/>
        </p:nvSpPr>
        <p:spPr>
          <a:xfrm>
            <a:off x="1552392"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0" name="Oval 109"/>
          <p:cNvSpPr/>
          <p:nvPr/>
        </p:nvSpPr>
        <p:spPr>
          <a:xfrm>
            <a:off x="168754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1" name="Oval 110"/>
          <p:cNvSpPr/>
          <p:nvPr/>
        </p:nvSpPr>
        <p:spPr>
          <a:xfrm>
            <a:off x="163286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2" name="Rounded Rectangle 111"/>
          <p:cNvSpPr/>
          <p:nvPr/>
        </p:nvSpPr>
        <p:spPr>
          <a:xfrm>
            <a:off x="2456188"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Categorya3</a:t>
            </a:r>
          </a:p>
        </p:txBody>
      </p:sp>
      <p:sp>
        <p:nvSpPr>
          <p:cNvPr id="113" name="Rounded Rectangle 112"/>
          <p:cNvSpPr/>
          <p:nvPr/>
        </p:nvSpPr>
        <p:spPr>
          <a:xfrm>
            <a:off x="2488651"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4" name="Rounded Rectangle 113"/>
          <p:cNvSpPr/>
          <p:nvPr/>
        </p:nvSpPr>
        <p:spPr>
          <a:xfrm>
            <a:off x="2488651"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5" name="Rounded Rectangle 114"/>
          <p:cNvSpPr/>
          <p:nvPr/>
        </p:nvSpPr>
        <p:spPr>
          <a:xfrm>
            <a:off x="2488651"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6" name="Rounded Rectangle 115"/>
          <p:cNvSpPr/>
          <p:nvPr/>
        </p:nvSpPr>
        <p:spPr>
          <a:xfrm>
            <a:off x="2488651"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7" name="Oval 116"/>
          <p:cNvSpPr/>
          <p:nvPr/>
        </p:nvSpPr>
        <p:spPr>
          <a:xfrm>
            <a:off x="261113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8" name="Oval 117"/>
          <p:cNvSpPr/>
          <p:nvPr/>
        </p:nvSpPr>
        <p:spPr>
          <a:xfrm>
            <a:off x="256915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9" name="Rounded Rectangle 118"/>
          <p:cNvSpPr/>
          <p:nvPr/>
        </p:nvSpPr>
        <p:spPr>
          <a:xfrm>
            <a:off x="3392611"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Categorya4</a:t>
            </a:r>
          </a:p>
        </p:txBody>
      </p:sp>
      <p:sp>
        <p:nvSpPr>
          <p:cNvPr id="120" name="Rounded Rectangle 119"/>
          <p:cNvSpPr/>
          <p:nvPr/>
        </p:nvSpPr>
        <p:spPr>
          <a:xfrm>
            <a:off x="3424910"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1" name="Rounded Rectangle 120"/>
          <p:cNvSpPr/>
          <p:nvPr/>
        </p:nvSpPr>
        <p:spPr>
          <a:xfrm>
            <a:off x="3424910"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2" name="Rounded Rectangle 121"/>
          <p:cNvSpPr/>
          <p:nvPr/>
        </p:nvSpPr>
        <p:spPr>
          <a:xfrm>
            <a:off x="3424910"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3" name="Rounded Rectangle 122"/>
          <p:cNvSpPr/>
          <p:nvPr/>
        </p:nvSpPr>
        <p:spPr>
          <a:xfrm>
            <a:off x="3424910"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4" name="Oval 123"/>
          <p:cNvSpPr/>
          <p:nvPr/>
        </p:nvSpPr>
        <p:spPr>
          <a:xfrm>
            <a:off x="353472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5" name="Oval 124"/>
          <p:cNvSpPr/>
          <p:nvPr/>
        </p:nvSpPr>
        <p:spPr>
          <a:xfrm>
            <a:off x="350544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6" name="Rounded Rectangle 125"/>
          <p:cNvSpPr/>
          <p:nvPr/>
        </p:nvSpPr>
        <p:spPr>
          <a:xfrm>
            <a:off x="4329034"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Categorya5</a:t>
            </a:r>
          </a:p>
        </p:txBody>
      </p:sp>
      <p:sp>
        <p:nvSpPr>
          <p:cNvPr id="127" name="Rounded Rectangle 126"/>
          <p:cNvSpPr/>
          <p:nvPr/>
        </p:nvSpPr>
        <p:spPr>
          <a:xfrm>
            <a:off x="4361169"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8" name="Rounded Rectangle 127"/>
          <p:cNvSpPr/>
          <p:nvPr/>
        </p:nvSpPr>
        <p:spPr>
          <a:xfrm>
            <a:off x="4361169"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9" name="Rounded Rectangle 128"/>
          <p:cNvSpPr/>
          <p:nvPr/>
        </p:nvSpPr>
        <p:spPr>
          <a:xfrm>
            <a:off x="4361169"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0" name="Rounded Rectangle 129"/>
          <p:cNvSpPr/>
          <p:nvPr/>
        </p:nvSpPr>
        <p:spPr>
          <a:xfrm>
            <a:off x="4361169"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1" name="Oval 130"/>
          <p:cNvSpPr/>
          <p:nvPr/>
        </p:nvSpPr>
        <p:spPr>
          <a:xfrm>
            <a:off x="445831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2" name="Oval 131"/>
          <p:cNvSpPr/>
          <p:nvPr/>
        </p:nvSpPr>
        <p:spPr>
          <a:xfrm>
            <a:off x="444173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3" name="Rounded Rectangle 132"/>
          <p:cNvSpPr/>
          <p:nvPr/>
        </p:nvSpPr>
        <p:spPr>
          <a:xfrm>
            <a:off x="5265457"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Categorya6</a:t>
            </a:r>
          </a:p>
        </p:txBody>
      </p:sp>
      <p:sp>
        <p:nvSpPr>
          <p:cNvPr id="134" name="Rounded Rectangle 133"/>
          <p:cNvSpPr/>
          <p:nvPr/>
        </p:nvSpPr>
        <p:spPr>
          <a:xfrm>
            <a:off x="5297428"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5" name="Rounded Rectangle 134"/>
          <p:cNvSpPr/>
          <p:nvPr/>
        </p:nvSpPr>
        <p:spPr>
          <a:xfrm>
            <a:off x="5297428"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6" name="Rounded Rectangle 135"/>
          <p:cNvSpPr/>
          <p:nvPr/>
        </p:nvSpPr>
        <p:spPr>
          <a:xfrm>
            <a:off x="5297428"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7" name="Rounded Rectangle 136"/>
          <p:cNvSpPr/>
          <p:nvPr/>
        </p:nvSpPr>
        <p:spPr>
          <a:xfrm>
            <a:off x="5297428"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8" name="Oval 137"/>
          <p:cNvSpPr/>
          <p:nvPr/>
        </p:nvSpPr>
        <p:spPr>
          <a:xfrm>
            <a:off x="538190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9" name="Oval 138"/>
          <p:cNvSpPr/>
          <p:nvPr/>
        </p:nvSpPr>
        <p:spPr>
          <a:xfrm>
            <a:off x="537802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0" name="Rounded Rectangle 139"/>
          <p:cNvSpPr/>
          <p:nvPr/>
        </p:nvSpPr>
        <p:spPr>
          <a:xfrm>
            <a:off x="6201880"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Categorya7</a:t>
            </a:r>
          </a:p>
        </p:txBody>
      </p:sp>
      <p:sp>
        <p:nvSpPr>
          <p:cNvPr id="141" name="Rounded Rectangle 140"/>
          <p:cNvSpPr/>
          <p:nvPr/>
        </p:nvSpPr>
        <p:spPr>
          <a:xfrm>
            <a:off x="6233687"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2" name="Rounded Rectangle 141"/>
          <p:cNvSpPr/>
          <p:nvPr/>
        </p:nvSpPr>
        <p:spPr>
          <a:xfrm>
            <a:off x="6233687"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3" name="Rounded Rectangle 142"/>
          <p:cNvSpPr/>
          <p:nvPr/>
        </p:nvSpPr>
        <p:spPr>
          <a:xfrm>
            <a:off x="6233687"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4" name="Rounded Rectangle 143"/>
          <p:cNvSpPr/>
          <p:nvPr/>
        </p:nvSpPr>
        <p:spPr>
          <a:xfrm>
            <a:off x="6233687"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5" name="Oval 144"/>
          <p:cNvSpPr/>
          <p:nvPr/>
        </p:nvSpPr>
        <p:spPr>
          <a:xfrm>
            <a:off x="630549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6" name="Oval 145"/>
          <p:cNvSpPr/>
          <p:nvPr/>
        </p:nvSpPr>
        <p:spPr>
          <a:xfrm>
            <a:off x="631431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7" name="Rounded Rectangle 146"/>
          <p:cNvSpPr/>
          <p:nvPr/>
        </p:nvSpPr>
        <p:spPr>
          <a:xfrm>
            <a:off x="7138303"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Categorya8</a:t>
            </a:r>
          </a:p>
        </p:txBody>
      </p:sp>
      <p:sp>
        <p:nvSpPr>
          <p:cNvPr id="148" name="Rounded Rectangle 147"/>
          <p:cNvSpPr/>
          <p:nvPr/>
        </p:nvSpPr>
        <p:spPr>
          <a:xfrm>
            <a:off x="7169946"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9" name="Rounded Rectangle 148"/>
          <p:cNvSpPr/>
          <p:nvPr/>
        </p:nvSpPr>
        <p:spPr>
          <a:xfrm>
            <a:off x="7169946"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50" name="Rounded Rectangle 149"/>
          <p:cNvSpPr/>
          <p:nvPr/>
        </p:nvSpPr>
        <p:spPr>
          <a:xfrm>
            <a:off x="7169946"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51" name="Rounded Rectangle 150"/>
          <p:cNvSpPr/>
          <p:nvPr/>
        </p:nvSpPr>
        <p:spPr>
          <a:xfrm>
            <a:off x="7169946"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200" name="Oval 199"/>
          <p:cNvSpPr/>
          <p:nvPr/>
        </p:nvSpPr>
        <p:spPr>
          <a:xfrm>
            <a:off x="722908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1" name="Oval 200"/>
          <p:cNvSpPr/>
          <p:nvPr/>
        </p:nvSpPr>
        <p:spPr>
          <a:xfrm>
            <a:off x="725060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2" name="Rounded Rectangle 201"/>
          <p:cNvSpPr/>
          <p:nvPr/>
        </p:nvSpPr>
        <p:spPr>
          <a:xfrm>
            <a:off x="8074726"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Categorya9</a:t>
            </a:r>
          </a:p>
        </p:txBody>
      </p:sp>
      <p:sp>
        <p:nvSpPr>
          <p:cNvPr id="203" name="Rounded Rectangle 202"/>
          <p:cNvSpPr/>
          <p:nvPr/>
        </p:nvSpPr>
        <p:spPr>
          <a:xfrm>
            <a:off x="8106205" y="2272179"/>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204" name="Rounded Rectangle 203"/>
          <p:cNvSpPr/>
          <p:nvPr/>
        </p:nvSpPr>
        <p:spPr>
          <a:xfrm>
            <a:off x="8106205" y="3461824"/>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205" name="Rounded Rectangle 204"/>
          <p:cNvSpPr/>
          <p:nvPr/>
        </p:nvSpPr>
        <p:spPr>
          <a:xfrm>
            <a:off x="8106205" y="4297478"/>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206" name="Rounded Rectangle 205"/>
          <p:cNvSpPr/>
          <p:nvPr/>
        </p:nvSpPr>
        <p:spPr>
          <a:xfrm>
            <a:off x="8106205" y="5487125"/>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207" name="Oval 206"/>
          <p:cNvSpPr/>
          <p:nvPr/>
        </p:nvSpPr>
        <p:spPr>
          <a:xfrm>
            <a:off x="8152271" y="28495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8" name="Oval 207"/>
          <p:cNvSpPr/>
          <p:nvPr/>
        </p:nvSpPr>
        <p:spPr>
          <a:xfrm>
            <a:off x="8186895" y="48748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209" name="Elbow Connector 208"/>
          <p:cNvCxnSpPr>
            <a:endCxn id="126" idx="0"/>
          </p:cNvCxnSpPr>
          <p:nvPr/>
        </p:nvCxnSpPr>
        <p:spPr>
          <a:xfrm rot="5400000">
            <a:off x="4875823" y="1343705"/>
            <a:ext cx="285750" cy="464927"/>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99</a:t>
            </a:fld>
            <a:endParaRPr lang="en-GB" dirty="0"/>
          </a:p>
        </p:txBody>
      </p:sp>
    </p:spTree>
    <p:extLst>
      <p:ext uri="{BB962C8B-B14F-4D97-AF65-F5344CB8AC3E}">
        <p14:creationId xmlns:p14="http://schemas.microsoft.com/office/powerpoint/2010/main" val="2331903224"/>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a:t>Global WXYZ Market Analysis By Category-A</a:t>
            </a:r>
          </a:p>
        </p:txBody>
      </p:sp>
      <p:sp>
        <p:nvSpPr>
          <p:cNvPr id="10" name="Text Placeholder 9"/>
          <p:cNvSpPr>
            <a:spLocks noGrp="1"/>
          </p:cNvSpPr>
          <p:nvPr>
            <p:ph type="body" idx="12"/>
          </p:nvPr>
        </p:nvSpPr>
        <p:spPr/>
        <p:txBody>
          <a:bodyPr/>
          <a:lstStyle/>
          <a:p>
            <a:r>
              <a:rPr lang="en-US" sz="1100" dirty="0"/>
              <a:t>Figure xx: Global WXYZ Market Share and BPS Analysis By Category-A, 2024 &amp; 2034</a:t>
            </a:r>
          </a:p>
        </p:txBody>
      </p:sp>
      <p:sp>
        <p:nvSpPr>
          <p:cNvPr id="12" name="Text Placeholder 11"/>
          <p:cNvSpPr>
            <a:spLocks noGrp="1"/>
          </p:cNvSpPr>
          <p:nvPr>
            <p:ph type="body" idx="14"/>
          </p:nvPr>
        </p:nvSpPr>
        <p:spPr/>
        <p:txBody>
          <a:bodyPr/>
          <a:lstStyle/>
          <a:p>
            <a:r>
              <a:rPr lang="en-US" sz="1100" dirty="0"/>
              <a:t>Figure xx: Global WXYZ Market Y-o-Y Growth Projections By Category-A, 2024 – 2034</a:t>
            </a:r>
          </a:p>
        </p:txBody>
      </p:sp>
      <p:sp>
        <p:nvSpPr>
          <p:cNvPr id="14" name="Text Placeholder 13"/>
          <p:cNvSpPr>
            <a:spLocks noGrp="1"/>
          </p:cNvSpPr>
          <p:nvPr>
            <p:ph type="body" idx="16"/>
          </p:nvPr>
        </p:nvSpPr>
        <p:spPr/>
        <p:txBody>
          <a:bodyPr/>
          <a:lstStyle/>
          <a:p>
            <a:r>
              <a:rPr lang="en-US" dirty="0"/>
              <a:t>Figure xx: Global WXYZ Market Attractiveness Analysis By Category-A, 2024 – 2034</a:t>
            </a:r>
          </a:p>
        </p:txBody>
      </p:sp>
      <p:sp>
        <p:nvSpPr>
          <p:cNvPr id="16" name="TextBox 1"/>
          <p:cNvSpPr txBox="1"/>
          <p:nvPr/>
        </p:nvSpPr>
        <p:spPr>
          <a:xfrm>
            <a:off x="719360" y="1682316"/>
            <a:ext cx="80631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B!Y! </a:t>
            </a:r>
            <a:r>
              <a:rPr lang="en-US" sz="1200" b="1" dirty="0" err="1"/>
              <a:t>Mn</a:t>
            </a:r>
            <a:endParaRPr lang="en-US" sz="1200" b="1" dirty="0"/>
          </a:p>
        </p:txBody>
      </p:sp>
      <p:sp>
        <p:nvSpPr>
          <p:cNvPr id="17" name="TextBox 9"/>
          <p:cNvSpPr txBox="1"/>
          <p:nvPr/>
        </p:nvSpPr>
        <p:spPr>
          <a:xfrm>
            <a:off x="2479917" y="1670259"/>
            <a:ext cx="79028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F!Y! </a:t>
            </a:r>
            <a:r>
              <a:rPr lang="en-US" sz="1200" b="1" dirty="0" err="1"/>
              <a:t>Mn</a:t>
            </a:r>
            <a:endParaRPr lang="en-US" sz="1200" b="1" dirty="0"/>
          </a:p>
        </p:txBody>
      </p:sp>
      <p:sp>
        <p:nvSpPr>
          <p:cNvPr id="13" name="TextBox 1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21" name="Content Placeholder 14"/>
          <p:cNvGraphicFramePr>
            <a:graphicFrameLocks noGrp="1"/>
          </p:cNvGraphicFramePr>
          <p:nvPr>
            <p:ph idx="1"/>
            <p:extLst>
              <p:ext uri="{D42A27DB-BD31-4B8C-83A1-F6EECF244321}">
                <p14:modId xmlns:p14="http://schemas.microsoft.com/office/powerpoint/2010/main" val="2018927087"/>
              </p:ext>
            </p:extLst>
          </p:nvPr>
        </p:nvGraphicFramePr>
        <p:xfrm>
          <a:off x="152400" y="1612900"/>
          <a:ext cx="3768725" cy="459422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2" name="Content Placeholder 19"/>
          <p:cNvGraphicFramePr>
            <a:graphicFrameLocks noGrp="1"/>
          </p:cNvGraphicFramePr>
          <p:nvPr>
            <p:ph idx="15"/>
            <p:extLst>
              <p:ext uri="{D42A27DB-BD31-4B8C-83A1-F6EECF244321}">
                <p14:modId xmlns:p14="http://schemas.microsoft.com/office/powerpoint/2010/main" val="1634498326"/>
              </p:ext>
            </p:extLst>
          </p:nvPr>
        </p:nvGraphicFramePr>
        <p:xfrm>
          <a:off x="8274050" y="1612900"/>
          <a:ext cx="3768725" cy="459422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3" name="Content Placeholder 17"/>
          <p:cNvGraphicFramePr>
            <a:graphicFrameLocks noGrp="1"/>
          </p:cNvGraphicFramePr>
          <p:nvPr>
            <p:ph idx="13"/>
            <p:extLst>
              <p:ext uri="{D42A27DB-BD31-4B8C-83A1-F6EECF244321}">
                <p14:modId xmlns:p14="http://schemas.microsoft.com/office/powerpoint/2010/main" val="1726564232"/>
              </p:ext>
            </p:extLst>
          </p:nvPr>
        </p:nvGraphicFramePr>
        <p:xfrm>
          <a:off x="4213225" y="1612900"/>
          <a:ext cx="3768725" cy="4594225"/>
        </p:xfrm>
        <a:graphic>
          <a:graphicData uri="http://schemas.openxmlformats.org/drawingml/2006/chart">
            <c:chart xmlns:c="http://schemas.openxmlformats.org/drawingml/2006/chart" xmlns:r="http://schemas.openxmlformats.org/officeDocument/2006/relationships" r:id="rId4"/>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100</a:t>
            </a:fld>
            <a:endParaRPr lang="en-GB" dirty="0"/>
          </a:p>
        </p:txBody>
      </p:sp>
    </p:spTree>
    <p:extLst>
      <p:ext uri="{BB962C8B-B14F-4D97-AF65-F5344CB8AC3E}">
        <p14:creationId xmlns:p14="http://schemas.microsoft.com/office/powerpoint/2010/main" val="2950895573"/>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Placeholder 10"/>
          <p:cNvSpPr>
            <a:spLocks noGrp="1"/>
          </p:cNvSpPr>
          <p:nvPr>
            <p:ph type="body" idx="12"/>
          </p:nvPr>
        </p:nvSpPr>
        <p:spPr/>
        <p:txBody>
          <a:bodyPr/>
          <a:lstStyle/>
          <a:p>
            <a:r>
              <a:rPr lang="en-US" sz="1400" dirty="0"/>
              <a:t>Table xx: Global WXYZ Market Size (US$ </a:t>
            </a:r>
            <a:r>
              <a:rPr lang="en-US" sz="1400" dirty="0" err="1"/>
              <a:t>Mn</a:t>
            </a:r>
            <a:r>
              <a:rPr lang="en-US" sz="1400" dirty="0"/>
              <a:t>) and Volume (Tons) Analysis and Forecast By Category-A, 2019 – 2034</a:t>
            </a:r>
          </a:p>
        </p:txBody>
      </p:sp>
      <p:graphicFrame>
        <p:nvGraphicFramePr>
          <p:cNvPr id="12" name="Content Placeholder 9"/>
          <p:cNvGraphicFramePr>
            <a:graphicFrameLocks/>
          </p:cNvGraphicFramePr>
          <p:nvPr>
            <p:extLst>
              <p:ext uri="{D42A27DB-BD31-4B8C-83A1-F6EECF244321}">
                <p14:modId xmlns:p14="http://schemas.microsoft.com/office/powerpoint/2010/main" val="3190965082"/>
              </p:ext>
            </p:extLst>
          </p:nvPr>
        </p:nvGraphicFramePr>
        <p:xfrm>
          <a:off x="152399" y="1674052"/>
          <a:ext cx="11887207" cy="4469976"/>
        </p:xfrm>
        <a:graphic>
          <a:graphicData uri="http://schemas.openxmlformats.org/drawingml/2006/table">
            <a:tbl>
              <a:tblPr firstRow="1" bandRow="1">
                <a:tableStyleId>{5C22544A-7EE6-4342-B048-85BDC9FD1C3A}</a:tableStyleId>
              </a:tblPr>
              <a:tblGrid>
                <a:gridCol w="897220">
                  <a:extLst>
                    <a:ext uri="{9D8B030D-6E8A-4147-A177-3AD203B41FA5}">
                      <a16:colId xmlns:a16="http://schemas.microsoft.com/office/drawing/2014/main" val="20000"/>
                    </a:ext>
                  </a:extLst>
                </a:gridCol>
                <a:gridCol w="360618">
                  <a:extLst>
                    <a:ext uri="{9D8B030D-6E8A-4147-A177-3AD203B41FA5}">
                      <a16:colId xmlns:a16="http://schemas.microsoft.com/office/drawing/2014/main" val="20018"/>
                    </a:ext>
                  </a:extLst>
                </a:gridCol>
                <a:gridCol w="625257">
                  <a:extLst>
                    <a:ext uri="{9D8B030D-6E8A-4147-A177-3AD203B41FA5}">
                      <a16:colId xmlns:a16="http://schemas.microsoft.com/office/drawing/2014/main" val="20001"/>
                    </a:ext>
                  </a:extLst>
                </a:gridCol>
                <a:gridCol w="625257">
                  <a:extLst>
                    <a:ext uri="{9D8B030D-6E8A-4147-A177-3AD203B41FA5}">
                      <a16:colId xmlns:a16="http://schemas.microsoft.com/office/drawing/2014/main" val="20002"/>
                    </a:ext>
                  </a:extLst>
                </a:gridCol>
                <a:gridCol w="625257">
                  <a:extLst>
                    <a:ext uri="{9D8B030D-6E8A-4147-A177-3AD203B41FA5}">
                      <a16:colId xmlns:a16="http://schemas.microsoft.com/office/drawing/2014/main" val="20003"/>
                    </a:ext>
                  </a:extLst>
                </a:gridCol>
                <a:gridCol w="625257">
                  <a:extLst>
                    <a:ext uri="{9D8B030D-6E8A-4147-A177-3AD203B41FA5}">
                      <a16:colId xmlns:a16="http://schemas.microsoft.com/office/drawing/2014/main" val="20004"/>
                    </a:ext>
                  </a:extLst>
                </a:gridCol>
                <a:gridCol w="625257">
                  <a:extLst>
                    <a:ext uri="{9D8B030D-6E8A-4147-A177-3AD203B41FA5}">
                      <a16:colId xmlns:a16="http://schemas.microsoft.com/office/drawing/2014/main" val="20005"/>
                    </a:ext>
                  </a:extLst>
                </a:gridCol>
                <a:gridCol w="625257">
                  <a:extLst>
                    <a:ext uri="{9D8B030D-6E8A-4147-A177-3AD203B41FA5}">
                      <a16:colId xmlns:a16="http://schemas.microsoft.com/office/drawing/2014/main" val="20006"/>
                    </a:ext>
                  </a:extLst>
                </a:gridCol>
                <a:gridCol w="625257">
                  <a:extLst>
                    <a:ext uri="{9D8B030D-6E8A-4147-A177-3AD203B41FA5}">
                      <a16:colId xmlns:a16="http://schemas.microsoft.com/office/drawing/2014/main" val="20007"/>
                    </a:ext>
                  </a:extLst>
                </a:gridCol>
                <a:gridCol w="625257">
                  <a:extLst>
                    <a:ext uri="{9D8B030D-6E8A-4147-A177-3AD203B41FA5}">
                      <a16:colId xmlns:a16="http://schemas.microsoft.com/office/drawing/2014/main" val="20008"/>
                    </a:ext>
                  </a:extLst>
                </a:gridCol>
                <a:gridCol w="625257">
                  <a:extLst>
                    <a:ext uri="{9D8B030D-6E8A-4147-A177-3AD203B41FA5}">
                      <a16:colId xmlns:a16="http://schemas.microsoft.com/office/drawing/2014/main" val="20009"/>
                    </a:ext>
                  </a:extLst>
                </a:gridCol>
                <a:gridCol w="625257">
                  <a:extLst>
                    <a:ext uri="{9D8B030D-6E8A-4147-A177-3AD203B41FA5}">
                      <a16:colId xmlns:a16="http://schemas.microsoft.com/office/drawing/2014/main" val="20010"/>
                    </a:ext>
                  </a:extLst>
                </a:gridCol>
                <a:gridCol w="625257">
                  <a:extLst>
                    <a:ext uri="{9D8B030D-6E8A-4147-A177-3AD203B41FA5}">
                      <a16:colId xmlns:a16="http://schemas.microsoft.com/office/drawing/2014/main" val="20011"/>
                    </a:ext>
                  </a:extLst>
                </a:gridCol>
                <a:gridCol w="625257">
                  <a:extLst>
                    <a:ext uri="{9D8B030D-6E8A-4147-A177-3AD203B41FA5}">
                      <a16:colId xmlns:a16="http://schemas.microsoft.com/office/drawing/2014/main" val="20012"/>
                    </a:ext>
                  </a:extLst>
                </a:gridCol>
                <a:gridCol w="625257">
                  <a:extLst>
                    <a:ext uri="{9D8B030D-6E8A-4147-A177-3AD203B41FA5}">
                      <a16:colId xmlns:a16="http://schemas.microsoft.com/office/drawing/2014/main" val="20013"/>
                    </a:ext>
                  </a:extLst>
                </a:gridCol>
                <a:gridCol w="625257">
                  <a:extLst>
                    <a:ext uri="{9D8B030D-6E8A-4147-A177-3AD203B41FA5}">
                      <a16:colId xmlns:a16="http://schemas.microsoft.com/office/drawing/2014/main" val="20014"/>
                    </a:ext>
                  </a:extLst>
                </a:gridCol>
                <a:gridCol w="625257">
                  <a:extLst>
                    <a:ext uri="{9D8B030D-6E8A-4147-A177-3AD203B41FA5}">
                      <a16:colId xmlns:a16="http://schemas.microsoft.com/office/drawing/2014/main" val="20015"/>
                    </a:ext>
                  </a:extLst>
                </a:gridCol>
                <a:gridCol w="625257">
                  <a:extLst>
                    <a:ext uri="{9D8B030D-6E8A-4147-A177-3AD203B41FA5}">
                      <a16:colId xmlns:a16="http://schemas.microsoft.com/office/drawing/2014/main" val="20016"/>
                    </a:ext>
                  </a:extLst>
                </a:gridCol>
                <a:gridCol w="625257">
                  <a:extLst>
                    <a:ext uri="{9D8B030D-6E8A-4147-A177-3AD203B41FA5}">
                      <a16:colId xmlns:a16="http://schemas.microsoft.com/office/drawing/2014/main" val="20017"/>
                    </a:ext>
                  </a:extLst>
                </a:gridCol>
              </a:tblGrid>
              <a:tr h="642096">
                <a:tc gridSpan="2">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dirty="0"/>
                        <a:t>Category-A</a:t>
                      </a:r>
                      <a:endParaRPr lang="en-US" sz="1100" b="1" i="0" baseline="0" dirty="0">
                        <a:solidFill>
                          <a:schemeClr val="tx1"/>
                        </a:solidFill>
                        <a:latin typeface="+mn-lt"/>
                      </a:endParaRPr>
                    </a:p>
                  </a:txBody>
                  <a:tcPr marR="0" marT="0" marB="0" anchor="ctr"/>
                </a:tc>
                <a:tc hMerge="1">
                  <a:txBody>
                    <a:bodyPr/>
                    <a:lstStyle/>
                    <a:p>
                      <a:pPr algn="ctr"/>
                      <a:endParaRPr lang="en-US" sz="10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139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algn="l" defTabSz="914400" rtl="0" eaLnBrk="1" latinLnBrk="0" hangingPunct="1"/>
                      <a:r>
                        <a:rPr lang="en-US" sz="1100" b="1" i="0" kern="1200" baseline="0" dirty="0">
                          <a:solidFill>
                            <a:prstClr val="black"/>
                          </a:solidFill>
                          <a:latin typeface="Calibri" panose="020F0502020204030204"/>
                          <a:ea typeface="Malgun Gothic" panose="020B0503020000020004" pitchFamily="34" charset="-127"/>
                          <a:cs typeface=""/>
                        </a:rPr>
                        <a:t>Categorya1</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1394">
                <a:tc vMerge="1">
                  <a:txBody>
                    <a:bodyPr/>
                    <a:lstStyle/>
                    <a:p>
                      <a:endParaRPr lang="en-US" dirty="0"/>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1394">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100" b="1" i="0" kern="1200" baseline="0" dirty="0">
                          <a:solidFill>
                            <a:prstClr val="black"/>
                          </a:solidFill>
                          <a:latin typeface="+mn-lt"/>
                          <a:ea typeface="Malgun Gothic" panose="020B0503020000020004" pitchFamily="34" charset="-127"/>
                          <a:cs typeface=""/>
                        </a:rPr>
                        <a:t>Categorya2</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1394">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139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algn="l"/>
                      <a:r>
                        <a:rPr lang="en-US" sz="1100" b="1" i="0" baseline="0" dirty="0">
                          <a:latin typeface="+mn-lt"/>
                        </a:rPr>
                        <a:t>Categorya3</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1394">
                <a:tc vMerge="1">
                  <a:txBody>
                    <a:bodyPr/>
                    <a:lstStyle/>
                    <a:p>
                      <a:endParaRPr lang="en-US"/>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1394">
                <a:tc rowSpan="2">
                  <a:txBody>
                    <a:bodyPr/>
                    <a:lstStyle/>
                    <a:p>
                      <a:pPr algn="l"/>
                      <a:r>
                        <a:rPr lang="en-IN" sz="1100" b="1" i="0" baseline="0" dirty="0">
                          <a:latin typeface="+mn-lt"/>
                        </a:rPr>
                        <a:t>Categorya4</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1394">
                <a:tc rowSpan="2">
                  <a:txBody>
                    <a:bodyPr/>
                    <a:lstStyle/>
                    <a:p>
                      <a:pPr algn="l"/>
                      <a:r>
                        <a:rPr lang="en-IN" sz="1100" b="1" i="0" baseline="0" dirty="0">
                          <a:latin typeface="+mn-lt"/>
                        </a:rPr>
                        <a:t>Categorya5</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1394">
                <a:tc rowSpan="2">
                  <a:txBody>
                    <a:bodyPr/>
                    <a:lstStyle/>
                    <a:p>
                      <a:pPr algn="l"/>
                      <a:r>
                        <a:rPr lang="en-IN" sz="1100" b="1" i="0" baseline="0" dirty="0">
                          <a:latin typeface="+mn-lt"/>
                        </a:rPr>
                        <a:t>Categorya6</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1394">
                <a:tc rowSpan="2">
                  <a:txBody>
                    <a:bodyPr/>
                    <a:lstStyle/>
                    <a:p>
                      <a:pPr algn="l"/>
                      <a:r>
                        <a:rPr lang="en-IN" sz="1100" b="1" i="0" baseline="0" dirty="0">
                          <a:latin typeface="+mn-lt"/>
                        </a:rPr>
                        <a:t>Categorya7</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1394">
                <a:tc rowSpan="2">
                  <a:txBody>
                    <a:bodyPr/>
                    <a:lstStyle/>
                    <a:p>
                      <a:pPr algn="l"/>
                      <a:r>
                        <a:rPr lang="en-IN" sz="1100" b="1" i="0" baseline="0" dirty="0">
                          <a:latin typeface="+mn-lt"/>
                        </a:rPr>
                        <a:t>Categorya8</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1394">
                <a:tc rowSpan="2">
                  <a:txBody>
                    <a:bodyPr/>
                    <a:lstStyle/>
                    <a:p>
                      <a:pPr algn="l"/>
                      <a:r>
                        <a:rPr lang="en-IN" sz="1100" b="1" i="0" baseline="0" dirty="0">
                          <a:latin typeface="+mn-lt"/>
                        </a:rPr>
                        <a:t>Categorya9</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1394">
                <a:tc rowSpan="2">
                  <a:txBody>
                    <a:bodyPr/>
                    <a:lstStyle/>
                    <a:p>
                      <a:pPr algn="l"/>
                      <a:r>
                        <a:rPr lang="en-IN" sz="1100" b="1" i="0" baseline="0" dirty="0">
                          <a:latin typeface="+mn-lt"/>
                        </a:rPr>
                        <a:t>Total</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 H!Y!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1" i="0" u="none" strike="noStrike" dirty="0">
                          <a:solidFill>
                            <a:schemeClr val="tx1"/>
                          </a:solidFill>
                          <a:effectLst/>
                          <a:latin typeface="Calibri" panose="020F0502020204030204" pitchFamily="34" charset="0"/>
                        </a:rPr>
                        <a:t>B!Y!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F!Y!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err="1">
                          <a:solidFill>
                            <a:schemeClr val="tx1"/>
                          </a:solidFill>
                          <a:effectLst/>
                          <a:latin typeface="Calibri" panose="020F0502020204030204" pitchFamily="34" charset="0"/>
                        </a:rPr>
                        <a:t>VaC</a:t>
                      </a:r>
                      <a:r>
                        <a:rPr lang="en-IN" sz="1100" b="1" i="0" u="none" strike="noStrike" dirty="0">
                          <a:solidFill>
                            <a:schemeClr val="tx1"/>
                          </a:solidFill>
                          <a:effectLst/>
                          <a:latin typeface="Calibri" panose="020F0502020204030204" pitchFamily="34" charset="0"/>
                        </a:rPr>
                        <a:t>!%</a:t>
                      </a:r>
                      <a:endParaRPr lang="en-US" sz="1100" b="1" i="0" u="none" strike="noStrike" dirty="0">
                        <a:solidFill>
                          <a:schemeClr val="tx1"/>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4" name="Title 7"/>
          <p:cNvSpPr>
            <a:spLocks noGrp="1"/>
          </p:cNvSpPr>
          <p:nvPr>
            <p:ph type="title"/>
          </p:nvPr>
        </p:nvSpPr>
        <p:spPr/>
        <p:txBody>
          <a:bodyPr/>
          <a:lstStyle/>
          <a:p>
            <a:r>
              <a:rPr lang="en-US" dirty="0"/>
              <a:t>Global WXYZ Market Analysis By Category-A</a:t>
            </a:r>
          </a:p>
        </p:txBody>
      </p:sp>
      <p:sp>
        <p:nvSpPr>
          <p:cNvPr id="2" name="Slide Number Placeholder 1"/>
          <p:cNvSpPr>
            <a:spLocks noGrp="1"/>
          </p:cNvSpPr>
          <p:nvPr>
            <p:ph type="sldNum" sz="quarter" idx="4"/>
          </p:nvPr>
        </p:nvSpPr>
        <p:spPr/>
        <p:txBody>
          <a:bodyPr/>
          <a:lstStyle/>
          <a:p>
            <a:fld id="{4B17068C-EB94-40A3-A5F2-664CDD77FDAC}" type="slidenum">
              <a:rPr lang="en-GB" smtClean="0"/>
              <a:pPr/>
              <a:t>101</a:t>
            </a:fld>
            <a:endParaRPr lang="en-GB" dirty="0"/>
          </a:p>
        </p:txBody>
      </p:sp>
    </p:spTree>
    <p:extLst>
      <p:ext uri="{BB962C8B-B14F-4D97-AF65-F5344CB8AC3E}">
        <p14:creationId xmlns:p14="http://schemas.microsoft.com/office/powerpoint/2010/main" val="556246225"/>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 Placeholder 26"/>
          <p:cNvSpPr>
            <a:spLocks noGrp="1"/>
          </p:cNvSpPr>
          <p:nvPr>
            <p:ph type="body" idx="12"/>
          </p:nvPr>
        </p:nvSpPr>
        <p:spPr/>
        <p:txBody>
          <a:bodyPr/>
          <a:lstStyle/>
          <a:p>
            <a:r>
              <a:rPr lang="en-US" sz="1400" dirty="0"/>
              <a:t>Table xx: Global WXYZ Market Volume (Tons) Analysis and Forecast By Category-A, 2019 – 2034</a:t>
            </a:r>
          </a:p>
        </p:txBody>
      </p:sp>
      <p:graphicFrame>
        <p:nvGraphicFramePr>
          <p:cNvPr id="28" name="Content Placeholder 9"/>
          <p:cNvGraphicFramePr>
            <a:graphicFrameLocks/>
          </p:cNvGraphicFramePr>
          <p:nvPr>
            <p:extLst>
              <p:ext uri="{D42A27DB-BD31-4B8C-83A1-F6EECF244321}">
                <p14:modId xmlns:p14="http://schemas.microsoft.com/office/powerpoint/2010/main" val="3443565412"/>
              </p:ext>
            </p:extLst>
          </p:nvPr>
        </p:nvGraphicFramePr>
        <p:xfrm>
          <a:off x="152390" y="1674051"/>
          <a:ext cx="11887209" cy="4540321"/>
        </p:xfrm>
        <a:graphic>
          <a:graphicData uri="http://schemas.openxmlformats.org/drawingml/2006/table">
            <a:tbl>
              <a:tblPr firstRow="1" bandRow="1">
                <a:tableStyleId>{5C22544A-7EE6-4342-B048-85BDC9FD1C3A}</a:tableStyleId>
              </a:tblPr>
              <a:tblGrid>
                <a:gridCol w="928584">
                  <a:extLst>
                    <a:ext uri="{9D8B030D-6E8A-4147-A177-3AD203B41FA5}">
                      <a16:colId xmlns:a16="http://schemas.microsoft.com/office/drawing/2014/main" val="20000"/>
                    </a:ext>
                  </a:extLst>
                </a:gridCol>
                <a:gridCol w="644625">
                  <a:extLst>
                    <a:ext uri="{9D8B030D-6E8A-4147-A177-3AD203B41FA5}">
                      <a16:colId xmlns:a16="http://schemas.microsoft.com/office/drawing/2014/main" val="20001"/>
                    </a:ext>
                  </a:extLst>
                </a:gridCol>
                <a:gridCol w="644625">
                  <a:extLst>
                    <a:ext uri="{9D8B030D-6E8A-4147-A177-3AD203B41FA5}">
                      <a16:colId xmlns:a16="http://schemas.microsoft.com/office/drawing/2014/main" val="20002"/>
                    </a:ext>
                  </a:extLst>
                </a:gridCol>
                <a:gridCol w="644625">
                  <a:extLst>
                    <a:ext uri="{9D8B030D-6E8A-4147-A177-3AD203B41FA5}">
                      <a16:colId xmlns:a16="http://schemas.microsoft.com/office/drawing/2014/main" val="20003"/>
                    </a:ext>
                  </a:extLst>
                </a:gridCol>
                <a:gridCol w="644625">
                  <a:extLst>
                    <a:ext uri="{9D8B030D-6E8A-4147-A177-3AD203B41FA5}">
                      <a16:colId xmlns:a16="http://schemas.microsoft.com/office/drawing/2014/main" val="20004"/>
                    </a:ext>
                  </a:extLst>
                </a:gridCol>
                <a:gridCol w="644625">
                  <a:extLst>
                    <a:ext uri="{9D8B030D-6E8A-4147-A177-3AD203B41FA5}">
                      <a16:colId xmlns:a16="http://schemas.microsoft.com/office/drawing/2014/main" val="20005"/>
                    </a:ext>
                  </a:extLst>
                </a:gridCol>
                <a:gridCol w="644625">
                  <a:extLst>
                    <a:ext uri="{9D8B030D-6E8A-4147-A177-3AD203B41FA5}">
                      <a16:colId xmlns:a16="http://schemas.microsoft.com/office/drawing/2014/main" val="20006"/>
                    </a:ext>
                  </a:extLst>
                </a:gridCol>
                <a:gridCol w="644625">
                  <a:extLst>
                    <a:ext uri="{9D8B030D-6E8A-4147-A177-3AD203B41FA5}">
                      <a16:colId xmlns:a16="http://schemas.microsoft.com/office/drawing/2014/main" val="20007"/>
                    </a:ext>
                  </a:extLst>
                </a:gridCol>
                <a:gridCol w="644625">
                  <a:extLst>
                    <a:ext uri="{9D8B030D-6E8A-4147-A177-3AD203B41FA5}">
                      <a16:colId xmlns:a16="http://schemas.microsoft.com/office/drawing/2014/main" val="20008"/>
                    </a:ext>
                  </a:extLst>
                </a:gridCol>
                <a:gridCol w="644625">
                  <a:extLst>
                    <a:ext uri="{9D8B030D-6E8A-4147-A177-3AD203B41FA5}">
                      <a16:colId xmlns:a16="http://schemas.microsoft.com/office/drawing/2014/main" val="20009"/>
                    </a:ext>
                  </a:extLst>
                </a:gridCol>
                <a:gridCol w="644625">
                  <a:extLst>
                    <a:ext uri="{9D8B030D-6E8A-4147-A177-3AD203B41FA5}">
                      <a16:colId xmlns:a16="http://schemas.microsoft.com/office/drawing/2014/main" val="20010"/>
                    </a:ext>
                  </a:extLst>
                </a:gridCol>
                <a:gridCol w="644625">
                  <a:extLst>
                    <a:ext uri="{9D8B030D-6E8A-4147-A177-3AD203B41FA5}">
                      <a16:colId xmlns:a16="http://schemas.microsoft.com/office/drawing/2014/main" val="20011"/>
                    </a:ext>
                  </a:extLst>
                </a:gridCol>
                <a:gridCol w="644625">
                  <a:extLst>
                    <a:ext uri="{9D8B030D-6E8A-4147-A177-3AD203B41FA5}">
                      <a16:colId xmlns:a16="http://schemas.microsoft.com/office/drawing/2014/main" val="20012"/>
                    </a:ext>
                  </a:extLst>
                </a:gridCol>
                <a:gridCol w="644625">
                  <a:extLst>
                    <a:ext uri="{9D8B030D-6E8A-4147-A177-3AD203B41FA5}">
                      <a16:colId xmlns:a16="http://schemas.microsoft.com/office/drawing/2014/main" val="20013"/>
                    </a:ext>
                  </a:extLst>
                </a:gridCol>
                <a:gridCol w="644625">
                  <a:extLst>
                    <a:ext uri="{9D8B030D-6E8A-4147-A177-3AD203B41FA5}">
                      <a16:colId xmlns:a16="http://schemas.microsoft.com/office/drawing/2014/main" val="20014"/>
                    </a:ext>
                  </a:extLst>
                </a:gridCol>
                <a:gridCol w="644625">
                  <a:extLst>
                    <a:ext uri="{9D8B030D-6E8A-4147-A177-3AD203B41FA5}">
                      <a16:colId xmlns:a16="http://schemas.microsoft.com/office/drawing/2014/main" val="20015"/>
                    </a:ext>
                  </a:extLst>
                </a:gridCol>
                <a:gridCol w="644625">
                  <a:extLst>
                    <a:ext uri="{9D8B030D-6E8A-4147-A177-3AD203B41FA5}">
                      <a16:colId xmlns:a16="http://schemas.microsoft.com/office/drawing/2014/main" val="20016"/>
                    </a:ext>
                  </a:extLst>
                </a:gridCol>
                <a:gridCol w="644625">
                  <a:extLst>
                    <a:ext uri="{9D8B030D-6E8A-4147-A177-3AD203B41FA5}">
                      <a16:colId xmlns:a16="http://schemas.microsoft.com/office/drawing/2014/main" val="20017"/>
                    </a:ext>
                  </a:extLst>
                </a:gridCol>
              </a:tblGrid>
              <a:tr h="652201">
                <a:tc>
                  <a:txBody>
                    <a:bodyPr/>
                    <a:lstStyle/>
                    <a:p>
                      <a:pPr algn="ctr"/>
                      <a:r>
                        <a:rPr lang="en-IN" sz="1100" i="0" baseline="0" dirty="0">
                          <a:solidFill>
                            <a:schemeClr val="bg1"/>
                          </a:solidFill>
                          <a:latin typeface="+mn-lt"/>
                        </a:rPr>
                        <a:t>Category-A</a:t>
                      </a:r>
                      <a:endParaRPr lang="en-US" sz="1100" i="0" baseline="0" dirty="0">
                        <a:solidFill>
                          <a:schemeClr val="bg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Categorya10</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Categorya11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Categorya12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Categorya13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Categorya14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Categorya15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Categorya16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Categorya17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Categorya18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Categorya19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4406">
                <a:tc>
                  <a:txBody>
                    <a:bodyPr/>
                    <a:lstStyle/>
                    <a:p>
                      <a:pPr algn="ctr" fontAlgn="ctr"/>
                      <a:r>
                        <a:rPr lang="en-IN" sz="1100" b="1" i="0" u="none" strike="noStrike" dirty="0">
                          <a:solidFill>
                            <a:srgbClr val="000000"/>
                          </a:solidFill>
                          <a:effectLst/>
                          <a:latin typeface="Calibri" panose="020F0502020204030204" pitchFamily="34" charset="0"/>
                        </a:rPr>
                        <a:t>Total</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8" name="Title 7"/>
          <p:cNvSpPr>
            <a:spLocks noGrp="1"/>
          </p:cNvSpPr>
          <p:nvPr>
            <p:ph type="title"/>
          </p:nvPr>
        </p:nvSpPr>
        <p:spPr/>
        <p:txBody>
          <a:bodyPr/>
          <a:lstStyle/>
          <a:p>
            <a:r>
              <a:rPr lang="en-US" dirty="0"/>
              <a:t>Global WXYZ Market Analysis By Category-A</a:t>
            </a:r>
          </a:p>
        </p:txBody>
      </p:sp>
      <p:sp>
        <p:nvSpPr>
          <p:cNvPr id="2" name="Slide Number Placeholder 1"/>
          <p:cNvSpPr>
            <a:spLocks noGrp="1"/>
          </p:cNvSpPr>
          <p:nvPr>
            <p:ph type="sldNum" sz="quarter" idx="4"/>
          </p:nvPr>
        </p:nvSpPr>
        <p:spPr/>
        <p:txBody>
          <a:bodyPr/>
          <a:lstStyle/>
          <a:p>
            <a:fld id="{4B17068C-EB94-40A3-A5F2-664CDD77FDAC}" type="slidenum">
              <a:rPr lang="en-GB" smtClean="0"/>
              <a:pPr/>
              <a:t>102</a:t>
            </a:fld>
            <a:endParaRPr lang="en-GB" dirty="0"/>
          </a:p>
        </p:txBody>
      </p:sp>
    </p:spTree>
    <p:extLst>
      <p:ext uri="{BB962C8B-B14F-4D97-AF65-F5344CB8AC3E}">
        <p14:creationId xmlns:p14="http://schemas.microsoft.com/office/powerpoint/2010/main" val="3900847936"/>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idx="12"/>
          </p:nvPr>
        </p:nvSpPr>
        <p:spPr/>
        <p:txBody>
          <a:bodyPr/>
          <a:lstStyle/>
          <a:p>
            <a:r>
              <a:rPr lang="en-US" sz="1400" dirty="0"/>
              <a:t>Table xx: Global WXYZ Market Size(US$ </a:t>
            </a:r>
            <a:r>
              <a:rPr lang="en-US" sz="1400" dirty="0" err="1"/>
              <a:t>Mn</a:t>
            </a:r>
            <a:r>
              <a:rPr lang="en-US" sz="1400" dirty="0"/>
              <a:t>) Analysis and Forecast By Category-A, 2019 – 2034</a:t>
            </a:r>
          </a:p>
        </p:txBody>
      </p:sp>
      <p:graphicFrame>
        <p:nvGraphicFramePr>
          <p:cNvPr id="5" name="Content Placeholder 9"/>
          <p:cNvGraphicFramePr>
            <a:graphicFrameLocks/>
          </p:cNvGraphicFramePr>
          <p:nvPr>
            <p:extLst>
              <p:ext uri="{D42A27DB-BD31-4B8C-83A1-F6EECF244321}">
                <p14:modId xmlns:p14="http://schemas.microsoft.com/office/powerpoint/2010/main" val="2500686059"/>
              </p:ext>
            </p:extLst>
          </p:nvPr>
        </p:nvGraphicFramePr>
        <p:xfrm>
          <a:off x="154831" y="1667646"/>
          <a:ext cx="11887209" cy="4484037"/>
        </p:xfrm>
        <a:graphic>
          <a:graphicData uri="http://schemas.openxmlformats.org/drawingml/2006/table">
            <a:tbl>
              <a:tblPr firstRow="1" bandRow="1">
                <a:tableStyleId>{5C22544A-7EE6-4342-B048-85BDC9FD1C3A}</a:tableStyleId>
              </a:tblPr>
              <a:tblGrid>
                <a:gridCol w="928584">
                  <a:extLst>
                    <a:ext uri="{9D8B030D-6E8A-4147-A177-3AD203B41FA5}">
                      <a16:colId xmlns:a16="http://schemas.microsoft.com/office/drawing/2014/main" val="20000"/>
                    </a:ext>
                  </a:extLst>
                </a:gridCol>
                <a:gridCol w="644625">
                  <a:extLst>
                    <a:ext uri="{9D8B030D-6E8A-4147-A177-3AD203B41FA5}">
                      <a16:colId xmlns:a16="http://schemas.microsoft.com/office/drawing/2014/main" val="20001"/>
                    </a:ext>
                  </a:extLst>
                </a:gridCol>
                <a:gridCol w="644625">
                  <a:extLst>
                    <a:ext uri="{9D8B030D-6E8A-4147-A177-3AD203B41FA5}">
                      <a16:colId xmlns:a16="http://schemas.microsoft.com/office/drawing/2014/main" val="20002"/>
                    </a:ext>
                  </a:extLst>
                </a:gridCol>
                <a:gridCol w="644625">
                  <a:extLst>
                    <a:ext uri="{9D8B030D-6E8A-4147-A177-3AD203B41FA5}">
                      <a16:colId xmlns:a16="http://schemas.microsoft.com/office/drawing/2014/main" val="20003"/>
                    </a:ext>
                  </a:extLst>
                </a:gridCol>
                <a:gridCol w="644625">
                  <a:extLst>
                    <a:ext uri="{9D8B030D-6E8A-4147-A177-3AD203B41FA5}">
                      <a16:colId xmlns:a16="http://schemas.microsoft.com/office/drawing/2014/main" val="20004"/>
                    </a:ext>
                  </a:extLst>
                </a:gridCol>
                <a:gridCol w="644625">
                  <a:extLst>
                    <a:ext uri="{9D8B030D-6E8A-4147-A177-3AD203B41FA5}">
                      <a16:colId xmlns:a16="http://schemas.microsoft.com/office/drawing/2014/main" val="20005"/>
                    </a:ext>
                  </a:extLst>
                </a:gridCol>
                <a:gridCol w="644625">
                  <a:extLst>
                    <a:ext uri="{9D8B030D-6E8A-4147-A177-3AD203B41FA5}">
                      <a16:colId xmlns:a16="http://schemas.microsoft.com/office/drawing/2014/main" val="20006"/>
                    </a:ext>
                  </a:extLst>
                </a:gridCol>
                <a:gridCol w="644625">
                  <a:extLst>
                    <a:ext uri="{9D8B030D-6E8A-4147-A177-3AD203B41FA5}">
                      <a16:colId xmlns:a16="http://schemas.microsoft.com/office/drawing/2014/main" val="20007"/>
                    </a:ext>
                  </a:extLst>
                </a:gridCol>
                <a:gridCol w="644625">
                  <a:extLst>
                    <a:ext uri="{9D8B030D-6E8A-4147-A177-3AD203B41FA5}">
                      <a16:colId xmlns:a16="http://schemas.microsoft.com/office/drawing/2014/main" val="20008"/>
                    </a:ext>
                  </a:extLst>
                </a:gridCol>
                <a:gridCol w="644625">
                  <a:extLst>
                    <a:ext uri="{9D8B030D-6E8A-4147-A177-3AD203B41FA5}">
                      <a16:colId xmlns:a16="http://schemas.microsoft.com/office/drawing/2014/main" val="20009"/>
                    </a:ext>
                  </a:extLst>
                </a:gridCol>
                <a:gridCol w="644625">
                  <a:extLst>
                    <a:ext uri="{9D8B030D-6E8A-4147-A177-3AD203B41FA5}">
                      <a16:colId xmlns:a16="http://schemas.microsoft.com/office/drawing/2014/main" val="20010"/>
                    </a:ext>
                  </a:extLst>
                </a:gridCol>
                <a:gridCol w="644625">
                  <a:extLst>
                    <a:ext uri="{9D8B030D-6E8A-4147-A177-3AD203B41FA5}">
                      <a16:colId xmlns:a16="http://schemas.microsoft.com/office/drawing/2014/main" val="20011"/>
                    </a:ext>
                  </a:extLst>
                </a:gridCol>
                <a:gridCol w="644625">
                  <a:extLst>
                    <a:ext uri="{9D8B030D-6E8A-4147-A177-3AD203B41FA5}">
                      <a16:colId xmlns:a16="http://schemas.microsoft.com/office/drawing/2014/main" val="20012"/>
                    </a:ext>
                  </a:extLst>
                </a:gridCol>
                <a:gridCol w="644625">
                  <a:extLst>
                    <a:ext uri="{9D8B030D-6E8A-4147-A177-3AD203B41FA5}">
                      <a16:colId xmlns:a16="http://schemas.microsoft.com/office/drawing/2014/main" val="20013"/>
                    </a:ext>
                  </a:extLst>
                </a:gridCol>
                <a:gridCol w="644625">
                  <a:extLst>
                    <a:ext uri="{9D8B030D-6E8A-4147-A177-3AD203B41FA5}">
                      <a16:colId xmlns:a16="http://schemas.microsoft.com/office/drawing/2014/main" val="20014"/>
                    </a:ext>
                  </a:extLst>
                </a:gridCol>
                <a:gridCol w="644625">
                  <a:extLst>
                    <a:ext uri="{9D8B030D-6E8A-4147-A177-3AD203B41FA5}">
                      <a16:colId xmlns:a16="http://schemas.microsoft.com/office/drawing/2014/main" val="20015"/>
                    </a:ext>
                  </a:extLst>
                </a:gridCol>
                <a:gridCol w="644625">
                  <a:extLst>
                    <a:ext uri="{9D8B030D-6E8A-4147-A177-3AD203B41FA5}">
                      <a16:colId xmlns:a16="http://schemas.microsoft.com/office/drawing/2014/main" val="20016"/>
                    </a:ext>
                  </a:extLst>
                </a:gridCol>
                <a:gridCol w="644625">
                  <a:extLst>
                    <a:ext uri="{9D8B030D-6E8A-4147-A177-3AD203B41FA5}">
                      <a16:colId xmlns:a16="http://schemas.microsoft.com/office/drawing/2014/main" val="20017"/>
                    </a:ext>
                  </a:extLst>
                </a:gridCol>
              </a:tblGrid>
              <a:tr h="644117">
                <a:tc>
                  <a:txBody>
                    <a:bodyPr/>
                    <a:lstStyle/>
                    <a:p>
                      <a:pPr algn="ctr"/>
                      <a:r>
                        <a:rPr lang="en-IN" sz="1100" i="0" baseline="0" dirty="0">
                          <a:solidFill>
                            <a:schemeClr val="bg1"/>
                          </a:solidFill>
                          <a:latin typeface="+mn-lt"/>
                        </a:rPr>
                        <a:t>Category-A</a:t>
                      </a:r>
                      <a:endParaRPr lang="en-US" sz="1100" i="0" baseline="0" dirty="0">
                        <a:solidFill>
                          <a:schemeClr val="bg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Categorya10</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Categorya11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Categorya12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Categorya13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Categorya14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Categorya15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Categorya16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Categorya17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Categorya18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Categorya19</a:t>
                      </a:r>
                    </a:p>
                  </a:txBody>
                  <a:tcPr marL="9525" marR="9525" marT="9525" marB="0" anchor="b"/>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1996">
                <a:tc>
                  <a:txBody>
                    <a:bodyPr/>
                    <a:lstStyle/>
                    <a:p>
                      <a:pPr algn="ctr" fontAlgn="ctr"/>
                      <a:r>
                        <a:rPr lang="en-IN" sz="1100" b="1" i="0" u="none" strike="noStrike" dirty="0">
                          <a:solidFill>
                            <a:srgbClr val="000000"/>
                          </a:solidFill>
                          <a:effectLst/>
                          <a:latin typeface="Calibri" panose="020F0502020204030204" pitchFamily="34" charset="0"/>
                        </a:rPr>
                        <a:t>Total</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 H!Y!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1" i="0" u="none" strike="noStrike" dirty="0">
                          <a:solidFill>
                            <a:schemeClr val="tx1"/>
                          </a:solidFill>
                          <a:effectLst/>
                          <a:latin typeface="Calibri" panose="020F0502020204030204" pitchFamily="34" charset="0"/>
                        </a:rPr>
                        <a:t>B!Y!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F!Y!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err="1">
                          <a:solidFill>
                            <a:schemeClr val="tx1"/>
                          </a:solidFill>
                          <a:effectLst/>
                          <a:latin typeface="Calibri" panose="020F0502020204030204" pitchFamily="34" charset="0"/>
                        </a:rPr>
                        <a:t>VaC</a:t>
                      </a:r>
                      <a:r>
                        <a:rPr lang="en-IN" sz="1100" b="1" i="0" u="none" strike="noStrike" dirty="0">
                          <a:solidFill>
                            <a:schemeClr val="tx1"/>
                          </a:solidFill>
                          <a:effectLst/>
                          <a:latin typeface="Calibri" panose="020F0502020204030204" pitchFamily="34" charset="0"/>
                        </a:rPr>
                        <a:t>!%</a:t>
                      </a:r>
                      <a:endParaRPr lang="en-US" sz="1100" b="1" i="0" u="none" strike="noStrike" dirty="0">
                        <a:solidFill>
                          <a:schemeClr val="tx1"/>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8" name="Title 7"/>
          <p:cNvSpPr>
            <a:spLocks noGrp="1"/>
          </p:cNvSpPr>
          <p:nvPr>
            <p:ph type="title"/>
          </p:nvPr>
        </p:nvSpPr>
        <p:spPr/>
        <p:txBody>
          <a:bodyPr/>
          <a:lstStyle/>
          <a:p>
            <a:r>
              <a:rPr lang="en-US" dirty="0"/>
              <a:t>Global WXYZ Market Analysis By Category-A</a:t>
            </a:r>
          </a:p>
        </p:txBody>
      </p:sp>
      <p:sp>
        <p:nvSpPr>
          <p:cNvPr id="2" name="Slide Number Placeholder 1"/>
          <p:cNvSpPr>
            <a:spLocks noGrp="1"/>
          </p:cNvSpPr>
          <p:nvPr>
            <p:ph type="sldNum" sz="quarter" idx="4"/>
          </p:nvPr>
        </p:nvSpPr>
        <p:spPr/>
        <p:txBody>
          <a:bodyPr/>
          <a:lstStyle/>
          <a:p>
            <a:fld id="{4B17068C-EB94-40A3-A5F2-664CDD77FDAC}" type="slidenum">
              <a:rPr lang="en-GB" smtClean="0"/>
              <a:pPr/>
              <a:t>103</a:t>
            </a:fld>
            <a:endParaRPr lang="en-GB" dirty="0"/>
          </a:p>
        </p:txBody>
      </p:sp>
    </p:spTree>
    <p:extLst>
      <p:ext uri="{BB962C8B-B14F-4D97-AF65-F5344CB8AC3E}">
        <p14:creationId xmlns:p14="http://schemas.microsoft.com/office/powerpoint/2010/main" val="3939180403"/>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Categorya1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Categorya2 Segment, 2019 – 2034</a:t>
            </a:r>
          </a:p>
        </p:txBody>
      </p:sp>
      <p:sp>
        <p:nvSpPr>
          <p:cNvPr id="10" name="Content Placeholder 9"/>
          <p:cNvSpPr>
            <a:spLocks noGrp="1"/>
          </p:cNvSpPr>
          <p:nvPr>
            <p:ph idx="17"/>
          </p:nvPr>
        </p:nvSpPr>
        <p:spPr/>
        <p:txBody>
          <a:bodyPr/>
          <a:lstStyle/>
          <a:p>
            <a:pPr>
              <a:lnSpc>
                <a:spcPct val="100000"/>
              </a:lnSpc>
            </a:pPr>
            <a:r>
              <a:rPr lang="en-US" dirty="0"/>
              <a:t>Categorya1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Categorya2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Categorya1</a:t>
            </a:r>
          </a:p>
        </p:txBody>
      </p:sp>
      <p:sp>
        <p:nvSpPr>
          <p:cNvPr id="15" name="Text Placeholder 14"/>
          <p:cNvSpPr>
            <a:spLocks noGrp="1"/>
          </p:cNvSpPr>
          <p:nvPr>
            <p:ph type="body" sz="quarter" idx="22"/>
          </p:nvPr>
        </p:nvSpPr>
        <p:spPr/>
        <p:txBody>
          <a:bodyPr/>
          <a:lstStyle/>
          <a:p>
            <a:r>
              <a:rPr lang="en-US" dirty="0"/>
              <a:t>Categorya2</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Category-A</a:t>
            </a:r>
          </a:p>
        </p:txBody>
      </p:sp>
      <p:graphicFrame>
        <p:nvGraphicFramePr>
          <p:cNvPr id="20" name="Content Placeholder 13"/>
          <p:cNvGraphicFramePr>
            <a:graphicFrameLocks noGrp="1"/>
          </p:cNvGraphicFramePr>
          <p:nvPr>
            <p:ph idx="15"/>
            <p:extLst>
              <p:ext uri="{D42A27DB-BD31-4B8C-83A1-F6EECF244321}">
                <p14:modId xmlns:p14="http://schemas.microsoft.com/office/powerpoint/2010/main" val="2252892651"/>
              </p:ext>
            </p:extLst>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extLst>
              <p:ext uri="{D42A27DB-BD31-4B8C-83A1-F6EECF244321}">
                <p14:modId xmlns:p14="http://schemas.microsoft.com/office/powerpoint/2010/main" val="1311497091"/>
              </p:ext>
            </p:extLst>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104</a:t>
            </a:fld>
            <a:endParaRPr lang="en-GB" dirty="0"/>
          </a:p>
        </p:txBody>
      </p:sp>
    </p:spTree>
    <p:extLst>
      <p:ext uri="{BB962C8B-B14F-4D97-AF65-F5344CB8AC3E}">
        <p14:creationId xmlns:p14="http://schemas.microsoft.com/office/powerpoint/2010/main" val="2569730207"/>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Categorya3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Categorya4 Segment, 2019 – 2034</a:t>
            </a:r>
          </a:p>
        </p:txBody>
      </p:sp>
      <p:sp>
        <p:nvSpPr>
          <p:cNvPr id="10" name="Content Placeholder 9"/>
          <p:cNvSpPr>
            <a:spLocks noGrp="1"/>
          </p:cNvSpPr>
          <p:nvPr>
            <p:ph idx="17"/>
          </p:nvPr>
        </p:nvSpPr>
        <p:spPr/>
        <p:txBody>
          <a:bodyPr/>
          <a:lstStyle/>
          <a:p>
            <a:pPr>
              <a:lnSpc>
                <a:spcPct val="100000"/>
              </a:lnSpc>
            </a:pPr>
            <a:r>
              <a:rPr lang="en-US" dirty="0"/>
              <a:t>Categorya3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Categorya4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Categorya3</a:t>
            </a:r>
          </a:p>
        </p:txBody>
      </p:sp>
      <p:sp>
        <p:nvSpPr>
          <p:cNvPr id="15" name="Text Placeholder 14"/>
          <p:cNvSpPr>
            <a:spLocks noGrp="1"/>
          </p:cNvSpPr>
          <p:nvPr>
            <p:ph type="body" sz="quarter" idx="22"/>
          </p:nvPr>
        </p:nvSpPr>
        <p:spPr/>
        <p:txBody>
          <a:bodyPr/>
          <a:lstStyle/>
          <a:p>
            <a:r>
              <a:rPr lang="en-US" dirty="0"/>
              <a:t>Categorya4</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Category-A</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105</a:t>
            </a:fld>
            <a:endParaRPr lang="en-GB" dirty="0"/>
          </a:p>
        </p:txBody>
      </p:sp>
    </p:spTree>
    <p:extLst>
      <p:ext uri="{BB962C8B-B14F-4D97-AF65-F5344CB8AC3E}">
        <p14:creationId xmlns:p14="http://schemas.microsoft.com/office/powerpoint/2010/main" val="3440858962"/>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Categorya5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Categorya6 Segment, 2019 – 2034</a:t>
            </a:r>
          </a:p>
        </p:txBody>
      </p:sp>
      <p:sp>
        <p:nvSpPr>
          <p:cNvPr id="10" name="Content Placeholder 9"/>
          <p:cNvSpPr>
            <a:spLocks noGrp="1"/>
          </p:cNvSpPr>
          <p:nvPr>
            <p:ph idx="17"/>
          </p:nvPr>
        </p:nvSpPr>
        <p:spPr/>
        <p:txBody>
          <a:bodyPr/>
          <a:lstStyle/>
          <a:p>
            <a:pPr>
              <a:lnSpc>
                <a:spcPct val="100000"/>
              </a:lnSpc>
            </a:pPr>
            <a:r>
              <a:rPr lang="en-US" dirty="0"/>
              <a:t>Categorya5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Categorya6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Categorya5</a:t>
            </a:r>
          </a:p>
        </p:txBody>
      </p:sp>
      <p:sp>
        <p:nvSpPr>
          <p:cNvPr id="15" name="Text Placeholder 14"/>
          <p:cNvSpPr>
            <a:spLocks noGrp="1"/>
          </p:cNvSpPr>
          <p:nvPr>
            <p:ph type="body" sz="quarter" idx="22"/>
          </p:nvPr>
        </p:nvSpPr>
        <p:spPr/>
        <p:txBody>
          <a:bodyPr/>
          <a:lstStyle/>
          <a:p>
            <a:r>
              <a:rPr lang="en-US" dirty="0"/>
              <a:t>Categorya6</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Category-A</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106</a:t>
            </a:fld>
            <a:endParaRPr lang="en-GB" dirty="0"/>
          </a:p>
        </p:txBody>
      </p:sp>
    </p:spTree>
    <p:extLst>
      <p:ext uri="{BB962C8B-B14F-4D97-AF65-F5344CB8AC3E}">
        <p14:creationId xmlns:p14="http://schemas.microsoft.com/office/powerpoint/2010/main" val="3695267605"/>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Categorya7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Categorya8 Segment, 2019 – 2034</a:t>
            </a:r>
          </a:p>
        </p:txBody>
      </p:sp>
      <p:sp>
        <p:nvSpPr>
          <p:cNvPr id="10" name="Content Placeholder 9"/>
          <p:cNvSpPr>
            <a:spLocks noGrp="1"/>
          </p:cNvSpPr>
          <p:nvPr>
            <p:ph idx="17"/>
          </p:nvPr>
        </p:nvSpPr>
        <p:spPr/>
        <p:txBody>
          <a:bodyPr/>
          <a:lstStyle/>
          <a:p>
            <a:pPr>
              <a:lnSpc>
                <a:spcPct val="100000"/>
              </a:lnSpc>
            </a:pPr>
            <a:r>
              <a:rPr lang="en-US" dirty="0"/>
              <a:t>Categorya7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Categorya8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Categorya7</a:t>
            </a:r>
          </a:p>
        </p:txBody>
      </p:sp>
      <p:sp>
        <p:nvSpPr>
          <p:cNvPr id="15" name="Text Placeholder 14"/>
          <p:cNvSpPr>
            <a:spLocks noGrp="1"/>
          </p:cNvSpPr>
          <p:nvPr>
            <p:ph type="body" sz="quarter" idx="22"/>
          </p:nvPr>
        </p:nvSpPr>
        <p:spPr/>
        <p:txBody>
          <a:bodyPr/>
          <a:lstStyle/>
          <a:p>
            <a:r>
              <a:rPr lang="en-US" dirty="0"/>
              <a:t>Categorya8</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Category-A</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107</a:t>
            </a:fld>
            <a:endParaRPr lang="en-GB" dirty="0"/>
          </a:p>
        </p:txBody>
      </p:sp>
    </p:spTree>
    <p:extLst>
      <p:ext uri="{BB962C8B-B14F-4D97-AF65-F5344CB8AC3E}">
        <p14:creationId xmlns:p14="http://schemas.microsoft.com/office/powerpoint/2010/main" val="276890298"/>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10</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10</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Global WXYZ Market Analysis 2019 – 2023 and Forecast 2024 – 2034, By Category-B</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108</a:t>
            </a:r>
          </a:p>
        </p:txBody>
      </p:sp>
    </p:spTree>
    <p:extLst>
      <p:ext uri="{BB962C8B-B14F-4D97-AF65-F5344CB8AC3E}">
        <p14:creationId xmlns:p14="http://schemas.microsoft.com/office/powerpoint/2010/main" val="1012687070"/>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Category-B</a:t>
            </a:r>
            <a:endParaRPr lang="en-GB" dirty="0"/>
          </a:p>
        </p:txBody>
      </p:sp>
      <p:sp>
        <p:nvSpPr>
          <p:cNvPr id="46"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47"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sp>
        <p:nvSpPr>
          <p:cNvPr id="54" name="TextBox 53"/>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cxnSp>
        <p:nvCxnSpPr>
          <p:cNvPr id="55" name="Elbow Connector 54"/>
          <p:cNvCxnSpPr>
            <a:stCxn id="57" idx="2"/>
            <a:endCxn id="74" idx="0"/>
          </p:cNvCxnSpPr>
          <p:nvPr/>
        </p:nvCxnSpPr>
        <p:spPr>
          <a:xfrm rot="5400000">
            <a:off x="3606422" y="74304"/>
            <a:ext cx="285750" cy="300372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6" name="Elbow Connector 55"/>
          <p:cNvCxnSpPr>
            <a:stCxn id="57" idx="2"/>
            <a:endCxn id="81" idx="0"/>
          </p:cNvCxnSpPr>
          <p:nvPr/>
        </p:nvCxnSpPr>
        <p:spPr>
          <a:xfrm rot="16200000" flipH="1">
            <a:off x="6565974" y="118479"/>
            <a:ext cx="285750" cy="2915377"/>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7" name="Rounded Rectangle 56"/>
          <p:cNvSpPr/>
          <p:nvPr/>
        </p:nvSpPr>
        <p:spPr>
          <a:xfrm>
            <a:off x="3484252" y="1090076"/>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Category-B</a:t>
            </a:r>
          </a:p>
        </p:txBody>
      </p:sp>
      <p:sp>
        <p:nvSpPr>
          <p:cNvPr id="58" name="Rounded Rectangle 5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9" name="Rounded Rectangle 5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60" name="Straight Connector 59"/>
          <p:cNvCxnSpPr/>
          <p:nvPr/>
        </p:nvCxnSpPr>
        <p:spPr>
          <a:xfrm>
            <a:off x="896325" y="2507208"/>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896325" y="3696853"/>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896325" y="4532507"/>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896325" y="5722154"/>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74" name="Rounded Rectangle 73"/>
          <p:cNvSpPr/>
          <p:nvPr/>
        </p:nvSpPr>
        <p:spPr>
          <a:xfrm>
            <a:off x="750415" y="1719043"/>
            <a:ext cx="2994033"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Categoryb1</a:t>
            </a:r>
          </a:p>
        </p:txBody>
      </p:sp>
      <p:sp>
        <p:nvSpPr>
          <p:cNvPr id="75" name="Rounded Rectangle 74"/>
          <p:cNvSpPr/>
          <p:nvPr/>
        </p:nvSpPr>
        <p:spPr>
          <a:xfrm>
            <a:off x="857782" y="2272179"/>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76" name="Rounded Rectangle 75"/>
          <p:cNvSpPr/>
          <p:nvPr/>
        </p:nvSpPr>
        <p:spPr>
          <a:xfrm>
            <a:off x="857782" y="3461824"/>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77" name="Rounded Rectangle 76"/>
          <p:cNvSpPr/>
          <p:nvPr/>
        </p:nvSpPr>
        <p:spPr>
          <a:xfrm>
            <a:off x="857782" y="4297478"/>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78" name="Rounded Rectangle 77"/>
          <p:cNvSpPr/>
          <p:nvPr/>
        </p:nvSpPr>
        <p:spPr>
          <a:xfrm>
            <a:off x="857782" y="5487125"/>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79" name="Oval 78"/>
          <p:cNvSpPr/>
          <p:nvPr/>
        </p:nvSpPr>
        <p:spPr>
          <a:xfrm>
            <a:off x="1121175" y="28495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0" name="Oval 79"/>
          <p:cNvSpPr/>
          <p:nvPr/>
        </p:nvSpPr>
        <p:spPr>
          <a:xfrm>
            <a:off x="1121175" y="48748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1" name="Rounded Rectangle 80"/>
          <p:cNvSpPr/>
          <p:nvPr/>
        </p:nvSpPr>
        <p:spPr>
          <a:xfrm>
            <a:off x="6671255" y="1719043"/>
            <a:ext cx="2990565"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Categoryb2</a:t>
            </a:r>
          </a:p>
        </p:txBody>
      </p:sp>
      <p:sp>
        <p:nvSpPr>
          <p:cNvPr id="82" name="Rounded Rectangle 81"/>
          <p:cNvSpPr/>
          <p:nvPr/>
        </p:nvSpPr>
        <p:spPr>
          <a:xfrm>
            <a:off x="6776888" y="2272179"/>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3" name="Rounded Rectangle 82"/>
          <p:cNvSpPr/>
          <p:nvPr/>
        </p:nvSpPr>
        <p:spPr>
          <a:xfrm>
            <a:off x="6776888" y="3461824"/>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4" name="Rounded Rectangle 83"/>
          <p:cNvSpPr/>
          <p:nvPr/>
        </p:nvSpPr>
        <p:spPr>
          <a:xfrm>
            <a:off x="6776888" y="4297478"/>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85" name="Rounded Rectangle 84"/>
          <p:cNvSpPr/>
          <p:nvPr/>
        </p:nvSpPr>
        <p:spPr>
          <a:xfrm>
            <a:off x="6776888" y="5487125"/>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86" name="Oval 85"/>
          <p:cNvSpPr/>
          <p:nvPr/>
        </p:nvSpPr>
        <p:spPr>
          <a:xfrm>
            <a:off x="7040281" y="28495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7" name="Oval 86"/>
          <p:cNvSpPr/>
          <p:nvPr/>
        </p:nvSpPr>
        <p:spPr>
          <a:xfrm>
            <a:off x="7040281" y="48748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 name="Slide Number Placeholder 1"/>
          <p:cNvSpPr>
            <a:spLocks noGrp="1"/>
          </p:cNvSpPr>
          <p:nvPr>
            <p:ph type="sldNum" sz="quarter" idx="4"/>
          </p:nvPr>
        </p:nvSpPr>
        <p:spPr/>
        <p:txBody>
          <a:bodyPr/>
          <a:lstStyle/>
          <a:p>
            <a:fld id="{4B17068C-EB94-40A3-A5F2-664CDD77FDAC}" type="slidenum">
              <a:rPr lang="en-GB" smtClean="0"/>
              <a:pPr/>
              <a:t>109</a:t>
            </a:fld>
            <a:endParaRPr lang="en-GB" dirty="0"/>
          </a:p>
        </p:txBody>
      </p:sp>
    </p:spTree>
    <p:extLst>
      <p:ext uri="{BB962C8B-B14F-4D97-AF65-F5344CB8AC3E}">
        <p14:creationId xmlns:p14="http://schemas.microsoft.com/office/powerpoint/2010/main" val="1070914273"/>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Category-B</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118" name="TextBox 119"/>
          <p:cNvSpPr txBox="1"/>
          <p:nvPr/>
        </p:nvSpPr>
        <p:spPr>
          <a:xfrm>
            <a:off x="159103" y="2449125"/>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119" name="TextBox 120"/>
          <p:cNvSpPr txBox="1"/>
          <p:nvPr/>
        </p:nvSpPr>
        <p:spPr>
          <a:xfrm>
            <a:off x="159103" y="4394541"/>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120" name="Elbow Connector 119"/>
          <p:cNvCxnSpPr>
            <a:stCxn id="122" idx="2"/>
            <a:endCxn id="129" idx="0"/>
          </p:cNvCxnSpPr>
          <p:nvPr/>
        </p:nvCxnSpPr>
        <p:spPr>
          <a:xfrm rot="5400000">
            <a:off x="3380227" y="-137823"/>
            <a:ext cx="285750" cy="34561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21" name="Elbow Connector 120"/>
          <p:cNvCxnSpPr>
            <a:stCxn id="122" idx="2"/>
            <a:endCxn id="136" idx="0"/>
          </p:cNvCxnSpPr>
          <p:nvPr/>
        </p:nvCxnSpPr>
        <p:spPr>
          <a:xfrm rot="16200000" flipH="1">
            <a:off x="6854733" y="-156211"/>
            <a:ext cx="285750" cy="34928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22" name="Rounded Rectangle 121"/>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Category-B</a:t>
            </a:r>
          </a:p>
        </p:txBody>
      </p:sp>
      <p:sp>
        <p:nvSpPr>
          <p:cNvPr id="123" name="Rounded Rectangle 122"/>
          <p:cNvSpPr/>
          <p:nvPr/>
        </p:nvSpPr>
        <p:spPr>
          <a:xfrm>
            <a:off x="526998" y="4201281"/>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124" name="Rounded Rectangle 123"/>
          <p:cNvSpPr/>
          <p:nvPr/>
        </p:nvSpPr>
        <p:spPr>
          <a:xfrm>
            <a:off x="526997" y="2175982"/>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125" name="Straight Connector 124"/>
          <p:cNvCxnSpPr>
            <a:stCxn id="130" idx="3"/>
            <a:endCxn id="137" idx="1"/>
          </p:cNvCxnSpPr>
          <p:nvPr/>
        </p:nvCxnSpPr>
        <p:spPr>
          <a:xfrm>
            <a:off x="2792681" y="2521276"/>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stCxn id="131" idx="3"/>
            <a:endCxn id="138" idx="1"/>
          </p:cNvCxnSpPr>
          <p:nvPr/>
        </p:nvCxnSpPr>
        <p:spPr>
          <a:xfrm>
            <a:off x="2792681" y="3710921"/>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stCxn id="132" idx="3"/>
            <a:endCxn id="139" idx="1"/>
          </p:cNvCxnSpPr>
          <p:nvPr/>
        </p:nvCxnSpPr>
        <p:spPr>
          <a:xfrm>
            <a:off x="2792681" y="4546575"/>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stCxn id="133" idx="3"/>
            <a:endCxn id="140" idx="1"/>
          </p:cNvCxnSpPr>
          <p:nvPr/>
        </p:nvCxnSpPr>
        <p:spPr>
          <a:xfrm>
            <a:off x="2792681" y="5736222"/>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9" name="Rounded Rectangle 128"/>
          <p:cNvSpPr/>
          <p:nvPr/>
        </p:nvSpPr>
        <p:spPr>
          <a:xfrm>
            <a:off x="650717" y="1733111"/>
            <a:ext cx="228865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Categoryb1</a:t>
            </a:r>
          </a:p>
        </p:txBody>
      </p:sp>
      <p:sp>
        <p:nvSpPr>
          <p:cNvPr id="130" name="Rounded Rectangle 129"/>
          <p:cNvSpPr/>
          <p:nvPr/>
        </p:nvSpPr>
        <p:spPr>
          <a:xfrm>
            <a:off x="732789"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1" name="Rounded Rectangle 130"/>
          <p:cNvSpPr/>
          <p:nvPr/>
        </p:nvSpPr>
        <p:spPr>
          <a:xfrm>
            <a:off x="732789"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2" name="Rounded Rectangle 131"/>
          <p:cNvSpPr/>
          <p:nvPr/>
        </p:nvSpPr>
        <p:spPr>
          <a:xfrm>
            <a:off x="732789"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3" name="Rounded Rectangle 132"/>
          <p:cNvSpPr/>
          <p:nvPr/>
        </p:nvSpPr>
        <p:spPr>
          <a:xfrm>
            <a:off x="732789"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4" name="Oval 133"/>
          <p:cNvSpPr/>
          <p:nvPr/>
        </p:nvSpPr>
        <p:spPr>
          <a:xfrm>
            <a:off x="934128"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5" name="Oval 134"/>
          <p:cNvSpPr/>
          <p:nvPr/>
        </p:nvSpPr>
        <p:spPr>
          <a:xfrm>
            <a:off x="934128"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Rounded Rectangle 135"/>
          <p:cNvSpPr/>
          <p:nvPr/>
        </p:nvSpPr>
        <p:spPr>
          <a:xfrm>
            <a:off x="7601055"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Categoryb3</a:t>
            </a:r>
          </a:p>
        </p:txBody>
      </p:sp>
      <p:sp>
        <p:nvSpPr>
          <p:cNvPr id="137" name="Rounded Rectangle 136"/>
          <p:cNvSpPr/>
          <p:nvPr/>
        </p:nvSpPr>
        <p:spPr>
          <a:xfrm>
            <a:off x="7681802"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8" name="Rounded Rectangle 137"/>
          <p:cNvSpPr/>
          <p:nvPr/>
        </p:nvSpPr>
        <p:spPr>
          <a:xfrm>
            <a:off x="7681802"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9" name="Rounded Rectangle 138"/>
          <p:cNvSpPr/>
          <p:nvPr/>
        </p:nvSpPr>
        <p:spPr>
          <a:xfrm>
            <a:off x="7681802"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40" name="Rounded Rectangle 139"/>
          <p:cNvSpPr/>
          <p:nvPr/>
        </p:nvSpPr>
        <p:spPr>
          <a:xfrm>
            <a:off x="7681802"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41" name="Oval 140"/>
          <p:cNvSpPr/>
          <p:nvPr/>
        </p:nvSpPr>
        <p:spPr>
          <a:xfrm>
            <a:off x="7883141"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2" name="Oval 141"/>
          <p:cNvSpPr/>
          <p:nvPr/>
        </p:nvSpPr>
        <p:spPr>
          <a:xfrm>
            <a:off x="7883141"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3" name="Rounded Rectangle 142"/>
          <p:cNvSpPr/>
          <p:nvPr/>
        </p:nvSpPr>
        <p:spPr>
          <a:xfrm>
            <a:off x="4127211"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Categoryb2</a:t>
            </a:r>
          </a:p>
        </p:txBody>
      </p:sp>
      <p:sp>
        <p:nvSpPr>
          <p:cNvPr id="144" name="Rounded Rectangle 143"/>
          <p:cNvSpPr/>
          <p:nvPr/>
        </p:nvSpPr>
        <p:spPr>
          <a:xfrm>
            <a:off x="4207958"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5" name="Rounded Rectangle 144"/>
          <p:cNvSpPr/>
          <p:nvPr/>
        </p:nvSpPr>
        <p:spPr>
          <a:xfrm>
            <a:off x="4207958"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6" name="Rounded Rectangle 145"/>
          <p:cNvSpPr/>
          <p:nvPr/>
        </p:nvSpPr>
        <p:spPr>
          <a:xfrm>
            <a:off x="4207958"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47" name="Rounded Rectangle 146"/>
          <p:cNvSpPr/>
          <p:nvPr/>
        </p:nvSpPr>
        <p:spPr>
          <a:xfrm>
            <a:off x="4207958"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48" name="Oval 147"/>
          <p:cNvSpPr/>
          <p:nvPr/>
        </p:nvSpPr>
        <p:spPr>
          <a:xfrm>
            <a:off x="4409297"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9" name="Oval 148"/>
          <p:cNvSpPr/>
          <p:nvPr/>
        </p:nvSpPr>
        <p:spPr>
          <a:xfrm>
            <a:off x="4409297"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50" name="Straight Arrow Connector 149"/>
          <p:cNvCxnSpPr>
            <a:stCxn id="122" idx="2"/>
            <a:endCxn id="143" idx="0"/>
          </p:cNvCxnSpPr>
          <p:nvPr/>
        </p:nvCxnSpPr>
        <p:spPr>
          <a:xfrm>
            <a:off x="5251161" y="1447361"/>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2" name="Slide Number Placeholder 1"/>
          <p:cNvSpPr>
            <a:spLocks noGrp="1"/>
          </p:cNvSpPr>
          <p:nvPr>
            <p:ph type="sldNum" sz="quarter" idx="4"/>
          </p:nvPr>
        </p:nvSpPr>
        <p:spPr/>
        <p:txBody>
          <a:bodyPr/>
          <a:lstStyle/>
          <a:p>
            <a:fld id="{4B17068C-EB94-40A3-A5F2-664CDD77FDAC}" type="slidenum">
              <a:rPr lang="en-GB" smtClean="0"/>
              <a:pPr/>
              <a:t>110</a:t>
            </a:fld>
            <a:endParaRPr lang="en-GB" dirty="0"/>
          </a:p>
        </p:txBody>
      </p:sp>
    </p:spTree>
    <p:extLst>
      <p:ext uri="{BB962C8B-B14F-4D97-AF65-F5344CB8AC3E}">
        <p14:creationId xmlns:p14="http://schemas.microsoft.com/office/powerpoint/2010/main" val="76496014"/>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Category-B</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4" name="TextBox 119"/>
          <p:cNvSpPr txBox="1"/>
          <p:nvPr/>
        </p:nvSpPr>
        <p:spPr>
          <a:xfrm>
            <a:off x="159103" y="2449125"/>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55" name="TextBox 120"/>
          <p:cNvSpPr txBox="1"/>
          <p:nvPr/>
        </p:nvSpPr>
        <p:spPr>
          <a:xfrm>
            <a:off x="159103" y="4394541"/>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56" name="Elbow Connector 55"/>
          <p:cNvCxnSpPr>
            <a:stCxn id="58" idx="2"/>
            <a:endCxn id="74" idx="0"/>
          </p:cNvCxnSpPr>
          <p:nvPr/>
        </p:nvCxnSpPr>
        <p:spPr>
          <a:xfrm rot="5400000">
            <a:off x="3380227" y="-137823"/>
            <a:ext cx="285750" cy="34561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58" idx="2"/>
            <a:endCxn id="81" idx="0"/>
          </p:cNvCxnSpPr>
          <p:nvPr/>
        </p:nvCxnSpPr>
        <p:spPr>
          <a:xfrm rot="16200000" flipH="1">
            <a:off x="6854733" y="-156211"/>
            <a:ext cx="285750" cy="34928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Category-B</a:t>
            </a:r>
          </a:p>
        </p:txBody>
      </p:sp>
      <p:sp>
        <p:nvSpPr>
          <p:cNvPr id="59" name="Rounded Rectangle 58"/>
          <p:cNvSpPr/>
          <p:nvPr/>
        </p:nvSpPr>
        <p:spPr>
          <a:xfrm>
            <a:off x="526998" y="4201281"/>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60" name="Rounded Rectangle 59"/>
          <p:cNvSpPr/>
          <p:nvPr/>
        </p:nvSpPr>
        <p:spPr>
          <a:xfrm>
            <a:off x="526997" y="2175982"/>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61" name="Straight Connector 60"/>
          <p:cNvCxnSpPr>
            <a:stCxn id="75" idx="3"/>
            <a:endCxn id="82" idx="1"/>
          </p:cNvCxnSpPr>
          <p:nvPr/>
        </p:nvCxnSpPr>
        <p:spPr>
          <a:xfrm>
            <a:off x="2792681" y="2521276"/>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a:stCxn id="76" idx="3"/>
            <a:endCxn id="83" idx="1"/>
          </p:cNvCxnSpPr>
          <p:nvPr/>
        </p:nvCxnSpPr>
        <p:spPr>
          <a:xfrm>
            <a:off x="2792681" y="3710921"/>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a:stCxn id="77" idx="3"/>
            <a:endCxn id="84" idx="1"/>
          </p:cNvCxnSpPr>
          <p:nvPr/>
        </p:nvCxnSpPr>
        <p:spPr>
          <a:xfrm>
            <a:off x="2792681" y="4546575"/>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stCxn id="78" idx="3"/>
            <a:endCxn id="85" idx="1"/>
          </p:cNvCxnSpPr>
          <p:nvPr/>
        </p:nvCxnSpPr>
        <p:spPr>
          <a:xfrm>
            <a:off x="2792681" y="5736222"/>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Rounded Rectangle 73"/>
          <p:cNvSpPr/>
          <p:nvPr/>
        </p:nvSpPr>
        <p:spPr>
          <a:xfrm>
            <a:off x="650717" y="1733111"/>
            <a:ext cx="228865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Categoryb1</a:t>
            </a:r>
          </a:p>
        </p:txBody>
      </p:sp>
      <p:sp>
        <p:nvSpPr>
          <p:cNvPr id="75" name="Rounded Rectangle 74"/>
          <p:cNvSpPr/>
          <p:nvPr/>
        </p:nvSpPr>
        <p:spPr>
          <a:xfrm>
            <a:off x="732789"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76" name="Rounded Rectangle 75"/>
          <p:cNvSpPr/>
          <p:nvPr/>
        </p:nvSpPr>
        <p:spPr>
          <a:xfrm>
            <a:off x="732789"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77" name="Rounded Rectangle 76"/>
          <p:cNvSpPr/>
          <p:nvPr/>
        </p:nvSpPr>
        <p:spPr>
          <a:xfrm>
            <a:off x="732789"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78" name="Rounded Rectangle 77"/>
          <p:cNvSpPr/>
          <p:nvPr/>
        </p:nvSpPr>
        <p:spPr>
          <a:xfrm>
            <a:off x="732789"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79" name="Oval 78"/>
          <p:cNvSpPr/>
          <p:nvPr/>
        </p:nvSpPr>
        <p:spPr>
          <a:xfrm>
            <a:off x="934128"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0" name="Oval 79"/>
          <p:cNvSpPr/>
          <p:nvPr/>
        </p:nvSpPr>
        <p:spPr>
          <a:xfrm>
            <a:off x="934128"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1" name="Rounded Rectangle 80"/>
          <p:cNvSpPr/>
          <p:nvPr/>
        </p:nvSpPr>
        <p:spPr>
          <a:xfrm>
            <a:off x="7601055"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Categoryb4</a:t>
            </a:r>
          </a:p>
        </p:txBody>
      </p:sp>
      <p:sp>
        <p:nvSpPr>
          <p:cNvPr id="82" name="Rounded Rectangle 81"/>
          <p:cNvSpPr/>
          <p:nvPr/>
        </p:nvSpPr>
        <p:spPr>
          <a:xfrm>
            <a:off x="7681802"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3" name="Rounded Rectangle 82"/>
          <p:cNvSpPr/>
          <p:nvPr/>
        </p:nvSpPr>
        <p:spPr>
          <a:xfrm>
            <a:off x="7681802"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4" name="Rounded Rectangle 83"/>
          <p:cNvSpPr/>
          <p:nvPr/>
        </p:nvSpPr>
        <p:spPr>
          <a:xfrm>
            <a:off x="7681802"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85" name="Rounded Rectangle 84"/>
          <p:cNvSpPr/>
          <p:nvPr/>
        </p:nvSpPr>
        <p:spPr>
          <a:xfrm>
            <a:off x="7681802"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86" name="Oval 85"/>
          <p:cNvSpPr/>
          <p:nvPr/>
        </p:nvSpPr>
        <p:spPr>
          <a:xfrm>
            <a:off x="7883141"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7" name="Oval 86"/>
          <p:cNvSpPr/>
          <p:nvPr/>
        </p:nvSpPr>
        <p:spPr>
          <a:xfrm>
            <a:off x="7883141"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8" name="Rounded Rectangle 87"/>
          <p:cNvSpPr/>
          <p:nvPr/>
        </p:nvSpPr>
        <p:spPr>
          <a:xfrm>
            <a:off x="5285159"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Categoryb3</a:t>
            </a:r>
          </a:p>
        </p:txBody>
      </p:sp>
      <p:sp>
        <p:nvSpPr>
          <p:cNvPr id="89" name="Rounded Rectangle 88"/>
          <p:cNvSpPr/>
          <p:nvPr/>
        </p:nvSpPr>
        <p:spPr>
          <a:xfrm>
            <a:off x="5365906"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0" name="Rounded Rectangle 89"/>
          <p:cNvSpPr/>
          <p:nvPr/>
        </p:nvSpPr>
        <p:spPr>
          <a:xfrm>
            <a:off x="5365906"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1" name="Rounded Rectangle 90"/>
          <p:cNvSpPr/>
          <p:nvPr/>
        </p:nvSpPr>
        <p:spPr>
          <a:xfrm>
            <a:off x="5365906"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2" name="Rounded Rectangle 91"/>
          <p:cNvSpPr/>
          <p:nvPr/>
        </p:nvSpPr>
        <p:spPr>
          <a:xfrm>
            <a:off x="5365906"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3" name="Oval 92"/>
          <p:cNvSpPr/>
          <p:nvPr/>
        </p:nvSpPr>
        <p:spPr>
          <a:xfrm>
            <a:off x="5567245"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4" name="Oval 93"/>
          <p:cNvSpPr/>
          <p:nvPr/>
        </p:nvSpPr>
        <p:spPr>
          <a:xfrm>
            <a:off x="5567245"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5" name="Rounded Rectangle 94"/>
          <p:cNvSpPr/>
          <p:nvPr/>
        </p:nvSpPr>
        <p:spPr>
          <a:xfrm>
            <a:off x="2969263"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Categoryb2</a:t>
            </a:r>
          </a:p>
        </p:txBody>
      </p:sp>
      <p:sp>
        <p:nvSpPr>
          <p:cNvPr id="96" name="Rounded Rectangle 95"/>
          <p:cNvSpPr/>
          <p:nvPr/>
        </p:nvSpPr>
        <p:spPr>
          <a:xfrm>
            <a:off x="3050010"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7" name="Rounded Rectangle 96"/>
          <p:cNvSpPr/>
          <p:nvPr/>
        </p:nvSpPr>
        <p:spPr>
          <a:xfrm>
            <a:off x="3050010"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8" name="Rounded Rectangle 97"/>
          <p:cNvSpPr/>
          <p:nvPr/>
        </p:nvSpPr>
        <p:spPr>
          <a:xfrm>
            <a:off x="3050010"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9" name="Rounded Rectangle 98"/>
          <p:cNvSpPr/>
          <p:nvPr/>
        </p:nvSpPr>
        <p:spPr>
          <a:xfrm>
            <a:off x="3050010"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00" name="Oval 99"/>
          <p:cNvSpPr/>
          <p:nvPr/>
        </p:nvSpPr>
        <p:spPr>
          <a:xfrm>
            <a:off x="3251349"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1" name="Oval 100"/>
          <p:cNvSpPr/>
          <p:nvPr/>
        </p:nvSpPr>
        <p:spPr>
          <a:xfrm>
            <a:off x="3251349"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02" name="Elbow Connector 101"/>
          <p:cNvCxnSpPr>
            <a:stCxn id="58" idx="2"/>
            <a:endCxn id="95" idx="0"/>
          </p:cNvCxnSpPr>
          <p:nvPr/>
        </p:nvCxnSpPr>
        <p:spPr>
          <a:xfrm rot="5400000">
            <a:off x="4538837" y="1020787"/>
            <a:ext cx="285750" cy="113889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stCxn id="58" idx="2"/>
            <a:endCxn id="88" idx="0"/>
          </p:cNvCxnSpPr>
          <p:nvPr/>
        </p:nvCxnSpPr>
        <p:spPr>
          <a:xfrm rot="16200000" flipH="1">
            <a:off x="5696785" y="1001737"/>
            <a:ext cx="285750" cy="117699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111</a:t>
            </a:fld>
            <a:endParaRPr lang="en-GB" dirty="0"/>
          </a:p>
        </p:txBody>
      </p:sp>
    </p:spTree>
    <p:extLst>
      <p:ext uri="{BB962C8B-B14F-4D97-AF65-F5344CB8AC3E}">
        <p14:creationId xmlns:p14="http://schemas.microsoft.com/office/powerpoint/2010/main" val="3172936238"/>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Category-B</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Category-B</a:t>
            </a:r>
          </a:p>
        </p:txBody>
      </p:sp>
      <p:sp>
        <p:nvSpPr>
          <p:cNvPr id="152"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153"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154" name="Elbow Connector 153"/>
          <p:cNvCxnSpPr>
            <a:endCxn id="162" idx="0"/>
          </p:cNvCxnSpPr>
          <p:nvPr/>
        </p:nvCxnSpPr>
        <p:spPr>
          <a:xfrm rot="5400000">
            <a:off x="3242404" y="-289714"/>
            <a:ext cx="285750" cy="373176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55" name="Elbow Connector 154"/>
          <p:cNvCxnSpPr>
            <a:endCxn id="169" idx="0"/>
          </p:cNvCxnSpPr>
          <p:nvPr/>
        </p:nvCxnSpPr>
        <p:spPr>
          <a:xfrm rot="16200000" flipH="1">
            <a:off x="6988983" y="-304529"/>
            <a:ext cx="285750" cy="37613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56" name="Rounded Rectangle 155"/>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157" name="Rounded Rectangle 156"/>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158" name="Straight Connector 157"/>
          <p:cNvCxnSpPr>
            <a:stCxn id="163" idx="3"/>
            <a:endCxn id="170"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a:stCxn id="164" idx="3"/>
            <a:endCxn id="171"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a:stCxn id="165" idx="3"/>
            <a:endCxn id="172"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a:stCxn id="166" idx="3"/>
            <a:endCxn id="173"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2" name="Rounded Rectangle 161"/>
          <p:cNvSpPr/>
          <p:nvPr/>
        </p:nvSpPr>
        <p:spPr>
          <a:xfrm>
            <a:off x="65071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Categoryb1</a:t>
            </a:r>
          </a:p>
        </p:txBody>
      </p:sp>
      <p:sp>
        <p:nvSpPr>
          <p:cNvPr id="163" name="Rounded Rectangle 162"/>
          <p:cNvSpPr/>
          <p:nvPr/>
        </p:nvSpPr>
        <p:spPr>
          <a:xfrm>
            <a:off x="71301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64" name="Rounded Rectangle 163"/>
          <p:cNvSpPr/>
          <p:nvPr/>
        </p:nvSpPr>
        <p:spPr>
          <a:xfrm>
            <a:off x="71301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65" name="Rounded Rectangle 164"/>
          <p:cNvSpPr/>
          <p:nvPr/>
        </p:nvSpPr>
        <p:spPr>
          <a:xfrm>
            <a:off x="71301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66" name="Rounded Rectangle 165"/>
          <p:cNvSpPr/>
          <p:nvPr/>
        </p:nvSpPr>
        <p:spPr>
          <a:xfrm>
            <a:off x="71301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67" name="Oval 166"/>
          <p:cNvSpPr/>
          <p:nvPr/>
        </p:nvSpPr>
        <p:spPr>
          <a:xfrm>
            <a:off x="86586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68" name="Oval 167"/>
          <p:cNvSpPr/>
          <p:nvPr/>
        </p:nvSpPr>
        <p:spPr>
          <a:xfrm>
            <a:off x="86586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69" name="Rounded Rectangle 168"/>
          <p:cNvSpPr/>
          <p:nvPr/>
        </p:nvSpPr>
        <p:spPr>
          <a:xfrm>
            <a:off x="8143875"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Categoryb5</a:t>
            </a:r>
          </a:p>
        </p:txBody>
      </p:sp>
      <p:sp>
        <p:nvSpPr>
          <p:cNvPr id="170" name="Rounded Rectangle 169"/>
          <p:cNvSpPr/>
          <p:nvPr/>
        </p:nvSpPr>
        <p:spPr>
          <a:xfrm>
            <a:off x="8205243" y="2272179"/>
            <a:ext cx="161462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71" name="Rounded Rectangle 170"/>
          <p:cNvSpPr/>
          <p:nvPr/>
        </p:nvSpPr>
        <p:spPr>
          <a:xfrm>
            <a:off x="8205243" y="3461824"/>
            <a:ext cx="161462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72" name="Rounded Rectangle 171"/>
          <p:cNvSpPr/>
          <p:nvPr/>
        </p:nvSpPr>
        <p:spPr>
          <a:xfrm>
            <a:off x="8205243" y="4297478"/>
            <a:ext cx="161462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73" name="Rounded Rectangle 172"/>
          <p:cNvSpPr/>
          <p:nvPr/>
        </p:nvSpPr>
        <p:spPr>
          <a:xfrm>
            <a:off x="8205243" y="5487125"/>
            <a:ext cx="161462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74" name="Oval 173"/>
          <p:cNvSpPr/>
          <p:nvPr/>
        </p:nvSpPr>
        <p:spPr>
          <a:xfrm>
            <a:off x="8358260" y="2849594"/>
            <a:ext cx="1308590"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75" name="Oval 174"/>
          <p:cNvSpPr/>
          <p:nvPr/>
        </p:nvSpPr>
        <p:spPr>
          <a:xfrm>
            <a:off x="8358260" y="4874894"/>
            <a:ext cx="1308590"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76" name="Rounded Rectangle 175"/>
          <p:cNvSpPr/>
          <p:nvPr/>
        </p:nvSpPr>
        <p:spPr>
          <a:xfrm>
            <a:off x="252400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Categoryb2</a:t>
            </a:r>
          </a:p>
        </p:txBody>
      </p:sp>
      <p:sp>
        <p:nvSpPr>
          <p:cNvPr id="177" name="Rounded Rectangle 176"/>
          <p:cNvSpPr/>
          <p:nvPr/>
        </p:nvSpPr>
        <p:spPr>
          <a:xfrm>
            <a:off x="258630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78" name="Rounded Rectangle 177"/>
          <p:cNvSpPr/>
          <p:nvPr/>
        </p:nvSpPr>
        <p:spPr>
          <a:xfrm>
            <a:off x="258630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79" name="Rounded Rectangle 178"/>
          <p:cNvSpPr/>
          <p:nvPr/>
        </p:nvSpPr>
        <p:spPr>
          <a:xfrm>
            <a:off x="258630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80" name="Rounded Rectangle 179"/>
          <p:cNvSpPr/>
          <p:nvPr/>
        </p:nvSpPr>
        <p:spPr>
          <a:xfrm>
            <a:off x="258630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81" name="Oval 180"/>
          <p:cNvSpPr/>
          <p:nvPr/>
        </p:nvSpPr>
        <p:spPr>
          <a:xfrm>
            <a:off x="273915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2" name="Oval 181"/>
          <p:cNvSpPr/>
          <p:nvPr/>
        </p:nvSpPr>
        <p:spPr>
          <a:xfrm>
            <a:off x="273915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3" name="Rounded Rectangle 182"/>
          <p:cNvSpPr/>
          <p:nvPr/>
        </p:nvSpPr>
        <p:spPr>
          <a:xfrm>
            <a:off x="439729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Categoryb3</a:t>
            </a:r>
          </a:p>
        </p:txBody>
      </p:sp>
      <p:sp>
        <p:nvSpPr>
          <p:cNvPr id="184" name="Rounded Rectangle 183"/>
          <p:cNvSpPr/>
          <p:nvPr/>
        </p:nvSpPr>
        <p:spPr>
          <a:xfrm>
            <a:off x="445959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85" name="Rounded Rectangle 184"/>
          <p:cNvSpPr/>
          <p:nvPr/>
        </p:nvSpPr>
        <p:spPr>
          <a:xfrm>
            <a:off x="445959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86" name="Rounded Rectangle 185"/>
          <p:cNvSpPr/>
          <p:nvPr/>
        </p:nvSpPr>
        <p:spPr>
          <a:xfrm>
            <a:off x="445959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87" name="Rounded Rectangle 186"/>
          <p:cNvSpPr/>
          <p:nvPr/>
        </p:nvSpPr>
        <p:spPr>
          <a:xfrm>
            <a:off x="445959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88" name="Oval 187"/>
          <p:cNvSpPr/>
          <p:nvPr/>
        </p:nvSpPr>
        <p:spPr>
          <a:xfrm>
            <a:off x="461244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9" name="Oval 188"/>
          <p:cNvSpPr/>
          <p:nvPr/>
        </p:nvSpPr>
        <p:spPr>
          <a:xfrm>
            <a:off x="461244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90" name="Rounded Rectangle 189"/>
          <p:cNvSpPr/>
          <p:nvPr/>
        </p:nvSpPr>
        <p:spPr>
          <a:xfrm>
            <a:off x="627058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Categoryb4</a:t>
            </a:r>
          </a:p>
        </p:txBody>
      </p:sp>
      <p:sp>
        <p:nvSpPr>
          <p:cNvPr id="191" name="Rounded Rectangle 190"/>
          <p:cNvSpPr/>
          <p:nvPr/>
        </p:nvSpPr>
        <p:spPr>
          <a:xfrm>
            <a:off x="633288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92" name="Rounded Rectangle 191"/>
          <p:cNvSpPr/>
          <p:nvPr/>
        </p:nvSpPr>
        <p:spPr>
          <a:xfrm>
            <a:off x="633288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93" name="Rounded Rectangle 192"/>
          <p:cNvSpPr/>
          <p:nvPr/>
        </p:nvSpPr>
        <p:spPr>
          <a:xfrm>
            <a:off x="633288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94" name="Rounded Rectangle 193"/>
          <p:cNvSpPr/>
          <p:nvPr/>
        </p:nvSpPr>
        <p:spPr>
          <a:xfrm>
            <a:off x="633288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95" name="Oval 194"/>
          <p:cNvSpPr/>
          <p:nvPr/>
        </p:nvSpPr>
        <p:spPr>
          <a:xfrm>
            <a:off x="648573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96" name="Oval 195"/>
          <p:cNvSpPr/>
          <p:nvPr/>
        </p:nvSpPr>
        <p:spPr>
          <a:xfrm>
            <a:off x="648573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97" name="Elbow Connector 196"/>
          <p:cNvCxnSpPr>
            <a:endCxn id="176" idx="0"/>
          </p:cNvCxnSpPr>
          <p:nvPr/>
        </p:nvCxnSpPr>
        <p:spPr>
          <a:xfrm rot="5400000">
            <a:off x="4179049" y="646931"/>
            <a:ext cx="285750" cy="185847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98" name="Elbow Connector 197"/>
          <p:cNvCxnSpPr>
            <a:endCxn id="190" idx="0"/>
          </p:cNvCxnSpPr>
          <p:nvPr/>
        </p:nvCxnSpPr>
        <p:spPr>
          <a:xfrm rot="16200000" flipH="1">
            <a:off x="6052339" y="632115"/>
            <a:ext cx="285750" cy="188810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99" name="Straight Arrow Connector 198"/>
          <p:cNvCxnSpPr>
            <a:endCxn id="183" idx="0"/>
          </p:cNvCxnSpPr>
          <p:nvPr/>
        </p:nvCxnSpPr>
        <p:spPr>
          <a:xfrm>
            <a:off x="5251161" y="1433293"/>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112</a:t>
            </a:fld>
            <a:endParaRPr lang="en-GB" dirty="0"/>
          </a:p>
        </p:txBody>
      </p:sp>
    </p:spTree>
    <p:extLst>
      <p:ext uri="{BB962C8B-B14F-4D97-AF65-F5344CB8AC3E}">
        <p14:creationId xmlns:p14="http://schemas.microsoft.com/office/powerpoint/2010/main" val="330682572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Category-B</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Category-B</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73824" y="-358294"/>
            <a:ext cx="285750" cy="386892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053752" y="-369299"/>
            <a:ext cx="285750" cy="3890933"/>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Categoryb1</a:t>
            </a:r>
          </a:p>
        </p:txBody>
      </p:sp>
      <p:sp>
        <p:nvSpPr>
          <p:cNvPr id="85" name="Rounded Rectangle 84"/>
          <p:cNvSpPr/>
          <p:nvPr/>
        </p:nvSpPr>
        <p:spPr>
          <a:xfrm>
            <a:off x="703182"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703182"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703182"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703182"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831890"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831890"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410574"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Categoryb6</a:t>
            </a:r>
          </a:p>
        </p:txBody>
      </p:sp>
      <p:sp>
        <p:nvSpPr>
          <p:cNvPr id="92" name="Rounded Rectangle 91"/>
          <p:cNvSpPr/>
          <p:nvPr/>
        </p:nvSpPr>
        <p:spPr>
          <a:xfrm>
            <a:off x="8462252" y="2272179"/>
            <a:ext cx="135968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462252" y="3461824"/>
            <a:ext cx="135968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462252" y="4297478"/>
            <a:ext cx="135968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462252" y="5487125"/>
            <a:ext cx="135968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591109" y="2849594"/>
            <a:ext cx="110197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591109" y="4874894"/>
            <a:ext cx="110197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0" idx="0"/>
          </p:cNvCxnSpPr>
          <p:nvPr/>
        </p:nvCxnSpPr>
        <p:spPr>
          <a:xfrm rot="5400000">
            <a:off x="3949810" y="417692"/>
            <a:ext cx="285750" cy="2316953"/>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21" idx="0"/>
          </p:cNvCxnSpPr>
          <p:nvPr/>
        </p:nvCxnSpPr>
        <p:spPr>
          <a:xfrm rot="16200000" flipH="1">
            <a:off x="6277766" y="406688"/>
            <a:ext cx="285750" cy="233896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0" name="Rounded Rectangle 99"/>
          <p:cNvSpPr/>
          <p:nvPr/>
        </p:nvSpPr>
        <p:spPr>
          <a:xfrm>
            <a:off x="2202688"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Categoryb2</a:t>
            </a:r>
          </a:p>
        </p:txBody>
      </p:sp>
      <p:sp>
        <p:nvSpPr>
          <p:cNvPr id="101" name="Rounded Rectangle 100"/>
          <p:cNvSpPr/>
          <p:nvPr/>
        </p:nvSpPr>
        <p:spPr>
          <a:xfrm>
            <a:off x="2255153"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2" name="Rounded Rectangle 101"/>
          <p:cNvSpPr/>
          <p:nvPr/>
        </p:nvSpPr>
        <p:spPr>
          <a:xfrm>
            <a:off x="2255153"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3" name="Rounded Rectangle 102"/>
          <p:cNvSpPr/>
          <p:nvPr/>
        </p:nvSpPr>
        <p:spPr>
          <a:xfrm>
            <a:off x="2255153"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4" name="Rounded Rectangle 103"/>
          <p:cNvSpPr/>
          <p:nvPr/>
        </p:nvSpPr>
        <p:spPr>
          <a:xfrm>
            <a:off x="2255153"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5" name="Oval 104"/>
          <p:cNvSpPr/>
          <p:nvPr/>
        </p:nvSpPr>
        <p:spPr>
          <a:xfrm>
            <a:off x="2383861"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6" name="Oval 105"/>
          <p:cNvSpPr/>
          <p:nvPr/>
        </p:nvSpPr>
        <p:spPr>
          <a:xfrm>
            <a:off x="2383861"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7" name="Rounded Rectangle 106"/>
          <p:cNvSpPr/>
          <p:nvPr/>
        </p:nvSpPr>
        <p:spPr>
          <a:xfrm>
            <a:off x="3754659"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Categoryb3</a:t>
            </a:r>
          </a:p>
        </p:txBody>
      </p:sp>
      <p:sp>
        <p:nvSpPr>
          <p:cNvPr id="108" name="Rounded Rectangle 107"/>
          <p:cNvSpPr/>
          <p:nvPr/>
        </p:nvSpPr>
        <p:spPr>
          <a:xfrm>
            <a:off x="3807124"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9" name="Rounded Rectangle 108"/>
          <p:cNvSpPr/>
          <p:nvPr/>
        </p:nvSpPr>
        <p:spPr>
          <a:xfrm>
            <a:off x="3807124"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0" name="Rounded Rectangle 109"/>
          <p:cNvSpPr/>
          <p:nvPr/>
        </p:nvSpPr>
        <p:spPr>
          <a:xfrm>
            <a:off x="3807124"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1" name="Rounded Rectangle 110"/>
          <p:cNvSpPr/>
          <p:nvPr/>
        </p:nvSpPr>
        <p:spPr>
          <a:xfrm>
            <a:off x="3807124"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2" name="Oval 111"/>
          <p:cNvSpPr/>
          <p:nvPr/>
        </p:nvSpPr>
        <p:spPr>
          <a:xfrm>
            <a:off x="3935832"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3" name="Oval 112"/>
          <p:cNvSpPr/>
          <p:nvPr/>
        </p:nvSpPr>
        <p:spPr>
          <a:xfrm>
            <a:off x="3935832"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4" name="Rounded Rectangle 113"/>
          <p:cNvSpPr/>
          <p:nvPr/>
        </p:nvSpPr>
        <p:spPr>
          <a:xfrm>
            <a:off x="5306630"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Categoryb4</a:t>
            </a:r>
          </a:p>
        </p:txBody>
      </p:sp>
      <p:sp>
        <p:nvSpPr>
          <p:cNvPr id="115" name="Rounded Rectangle 114"/>
          <p:cNvSpPr/>
          <p:nvPr/>
        </p:nvSpPr>
        <p:spPr>
          <a:xfrm>
            <a:off x="5359095"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6" name="Rounded Rectangle 115"/>
          <p:cNvSpPr/>
          <p:nvPr/>
        </p:nvSpPr>
        <p:spPr>
          <a:xfrm>
            <a:off x="5359095"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7" name="Rounded Rectangle 116"/>
          <p:cNvSpPr/>
          <p:nvPr/>
        </p:nvSpPr>
        <p:spPr>
          <a:xfrm>
            <a:off x="5359095"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8" name="Rounded Rectangle 117"/>
          <p:cNvSpPr/>
          <p:nvPr/>
        </p:nvSpPr>
        <p:spPr>
          <a:xfrm>
            <a:off x="5359095"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9" name="Oval 118"/>
          <p:cNvSpPr/>
          <p:nvPr/>
        </p:nvSpPr>
        <p:spPr>
          <a:xfrm>
            <a:off x="5487803"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0" name="Oval 119"/>
          <p:cNvSpPr/>
          <p:nvPr/>
        </p:nvSpPr>
        <p:spPr>
          <a:xfrm>
            <a:off x="5487803"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1" name="Rounded Rectangle 120"/>
          <p:cNvSpPr/>
          <p:nvPr/>
        </p:nvSpPr>
        <p:spPr>
          <a:xfrm>
            <a:off x="6858601"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Categoryb5</a:t>
            </a:r>
          </a:p>
        </p:txBody>
      </p:sp>
      <p:sp>
        <p:nvSpPr>
          <p:cNvPr id="122" name="Rounded Rectangle 121"/>
          <p:cNvSpPr/>
          <p:nvPr/>
        </p:nvSpPr>
        <p:spPr>
          <a:xfrm>
            <a:off x="6911066"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3" name="Rounded Rectangle 122"/>
          <p:cNvSpPr/>
          <p:nvPr/>
        </p:nvSpPr>
        <p:spPr>
          <a:xfrm>
            <a:off x="6911066"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4" name="Rounded Rectangle 123"/>
          <p:cNvSpPr/>
          <p:nvPr/>
        </p:nvSpPr>
        <p:spPr>
          <a:xfrm>
            <a:off x="6911066"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5" name="Rounded Rectangle 124"/>
          <p:cNvSpPr/>
          <p:nvPr/>
        </p:nvSpPr>
        <p:spPr>
          <a:xfrm>
            <a:off x="6911066"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6" name="Oval 125"/>
          <p:cNvSpPr/>
          <p:nvPr/>
        </p:nvSpPr>
        <p:spPr>
          <a:xfrm>
            <a:off x="7039774"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7" name="Oval 126"/>
          <p:cNvSpPr/>
          <p:nvPr/>
        </p:nvSpPr>
        <p:spPr>
          <a:xfrm>
            <a:off x="7039774"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28" name="Elbow Connector 127"/>
          <p:cNvCxnSpPr>
            <a:endCxn id="107" idx="0"/>
          </p:cNvCxnSpPr>
          <p:nvPr/>
        </p:nvCxnSpPr>
        <p:spPr>
          <a:xfrm rot="5400000">
            <a:off x="4725795" y="1193677"/>
            <a:ext cx="285750" cy="76498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29" name="Elbow Connector 128"/>
          <p:cNvCxnSpPr>
            <a:endCxn id="114" idx="0"/>
          </p:cNvCxnSpPr>
          <p:nvPr/>
        </p:nvCxnSpPr>
        <p:spPr>
          <a:xfrm rot="16200000" flipH="1">
            <a:off x="5501780" y="1182673"/>
            <a:ext cx="285750" cy="786989"/>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113</a:t>
            </a:fld>
            <a:endParaRPr lang="en-GB" dirty="0"/>
          </a:p>
        </p:txBody>
      </p:sp>
    </p:spTree>
    <p:extLst>
      <p:ext uri="{BB962C8B-B14F-4D97-AF65-F5344CB8AC3E}">
        <p14:creationId xmlns:p14="http://schemas.microsoft.com/office/powerpoint/2010/main" val="424320195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Category-B</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Category-B</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05244" y="-426874"/>
            <a:ext cx="285750" cy="400608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22809" y="-438355"/>
            <a:ext cx="285750" cy="402904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Categoryb1</a:t>
            </a:r>
          </a:p>
        </p:txBody>
      </p:sp>
      <p:sp>
        <p:nvSpPr>
          <p:cNvPr id="85" name="Rounded Rectangle 84"/>
          <p:cNvSpPr/>
          <p:nvPr/>
        </p:nvSpPr>
        <p:spPr>
          <a:xfrm>
            <a:off x="693345"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93345"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93345"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93345"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97920"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97920"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686800" y="1719043"/>
            <a:ext cx="1186814"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Categoryb7</a:t>
            </a:r>
          </a:p>
        </p:txBody>
      </p:sp>
      <p:sp>
        <p:nvSpPr>
          <p:cNvPr id="92" name="Rounded Rectangle 91"/>
          <p:cNvSpPr/>
          <p:nvPr/>
        </p:nvSpPr>
        <p:spPr>
          <a:xfrm>
            <a:off x="8728721" y="2272179"/>
            <a:ext cx="110297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728721" y="3461824"/>
            <a:ext cx="110297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728721" y="4297478"/>
            <a:ext cx="110297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728721" y="5487125"/>
            <a:ext cx="110297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833250" y="2849594"/>
            <a:ext cx="89391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833250" y="4874894"/>
            <a:ext cx="89391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2" idx="0"/>
          </p:cNvCxnSpPr>
          <p:nvPr/>
        </p:nvCxnSpPr>
        <p:spPr>
          <a:xfrm rot="5400000">
            <a:off x="3774918" y="242800"/>
            <a:ext cx="285750" cy="2666737"/>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30" idx="0"/>
          </p:cNvCxnSpPr>
          <p:nvPr/>
        </p:nvCxnSpPr>
        <p:spPr>
          <a:xfrm rot="16200000" flipH="1">
            <a:off x="6453611" y="230842"/>
            <a:ext cx="285750" cy="2690651"/>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09" idx="0"/>
          </p:cNvCxnSpPr>
          <p:nvPr/>
        </p:nvCxnSpPr>
        <p:spPr>
          <a:xfrm rot="5400000">
            <a:off x="4444591" y="912473"/>
            <a:ext cx="285750" cy="132739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23" idx="0"/>
          </p:cNvCxnSpPr>
          <p:nvPr/>
        </p:nvCxnSpPr>
        <p:spPr>
          <a:xfrm rot="16200000" flipH="1">
            <a:off x="5783938" y="900516"/>
            <a:ext cx="285750" cy="135130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2" name="Rounded Rectangle 101"/>
          <p:cNvSpPr/>
          <p:nvPr/>
        </p:nvSpPr>
        <p:spPr>
          <a:xfrm>
            <a:off x="1990064"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Categoryb2</a:t>
            </a:r>
          </a:p>
        </p:txBody>
      </p:sp>
      <p:sp>
        <p:nvSpPr>
          <p:cNvPr id="103" name="Rounded Rectangle 102"/>
          <p:cNvSpPr/>
          <p:nvPr/>
        </p:nvSpPr>
        <p:spPr>
          <a:xfrm>
            <a:off x="2032692"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4" name="Rounded Rectangle 103"/>
          <p:cNvSpPr/>
          <p:nvPr/>
        </p:nvSpPr>
        <p:spPr>
          <a:xfrm>
            <a:off x="2032692"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5" name="Rounded Rectangle 104"/>
          <p:cNvSpPr/>
          <p:nvPr/>
        </p:nvSpPr>
        <p:spPr>
          <a:xfrm>
            <a:off x="2032692"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6" name="Rounded Rectangle 105"/>
          <p:cNvSpPr/>
          <p:nvPr/>
        </p:nvSpPr>
        <p:spPr>
          <a:xfrm>
            <a:off x="2032692"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7" name="Oval 106"/>
          <p:cNvSpPr/>
          <p:nvPr/>
        </p:nvSpPr>
        <p:spPr>
          <a:xfrm>
            <a:off x="2137267"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8" name="Oval 107"/>
          <p:cNvSpPr/>
          <p:nvPr/>
        </p:nvSpPr>
        <p:spPr>
          <a:xfrm>
            <a:off x="2137267"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9" name="Rounded Rectangle 108"/>
          <p:cNvSpPr/>
          <p:nvPr/>
        </p:nvSpPr>
        <p:spPr>
          <a:xfrm>
            <a:off x="3329411"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Categoryb3</a:t>
            </a:r>
          </a:p>
        </p:txBody>
      </p:sp>
      <p:sp>
        <p:nvSpPr>
          <p:cNvPr id="110" name="Rounded Rectangle 109"/>
          <p:cNvSpPr/>
          <p:nvPr/>
        </p:nvSpPr>
        <p:spPr>
          <a:xfrm>
            <a:off x="3372039"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1" name="Rounded Rectangle 110"/>
          <p:cNvSpPr/>
          <p:nvPr/>
        </p:nvSpPr>
        <p:spPr>
          <a:xfrm>
            <a:off x="3372039"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2" name="Rounded Rectangle 111"/>
          <p:cNvSpPr/>
          <p:nvPr/>
        </p:nvSpPr>
        <p:spPr>
          <a:xfrm>
            <a:off x="3372039"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3" name="Rounded Rectangle 112"/>
          <p:cNvSpPr/>
          <p:nvPr/>
        </p:nvSpPr>
        <p:spPr>
          <a:xfrm>
            <a:off x="3372039"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4" name="Oval 113"/>
          <p:cNvSpPr/>
          <p:nvPr/>
        </p:nvSpPr>
        <p:spPr>
          <a:xfrm>
            <a:off x="3476614"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5" name="Oval 114"/>
          <p:cNvSpPr/>
          <p:nvPr/>
        </p:nvSpPr>
        <p:spPr>
          <a:xfrm>
            <a:off x="3476614"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6" name="Rounded Rectangle 115"/>
          <p:cNvSpPr/>
          <p:nvPr/>
        </p:nvSpPr>
        <p:spPr>
          <a:xfrm>
            <a:off x="4668758"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Categoryb4</a:t>
            </a:r>
          </a:p>
        </p:txBody>
      </p:sp>
      <p:sp>
        <p:nvSpPr>
          <p:cNvPr id="117" name="Rounded Rectangle 116"/>
          <p:cNvSpPr/>
          <p:nvPr/>
        </p:nvSpPr>
        <p:spPr>
          <a:xfrm>
            <a:off x="4711386"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8" name="Rounded Rectangle 117"/>
          <p:cNvSpPr/>
          <p:nvPr/>
        </p:nvSpPr>
        <p:spPr>
          <a:xfrm>
            <a:off x="4711386"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9" name="Rounded Rectangle 118"/>
          <p:cNvSpPr/>
          <p:nvPr/>
        </p:nvSpPr>
        <p:spPr>
          <a:xfrm>
            <a:off x="4711386"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0" name="Rounded Rectangle 119"/>
          <p:cNvSpPr/>
          <p:nvPr/>
        </p:nvSpPr>
        <p:spPr>
          <a:xfrm>
            <a:off x="4711386"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1" name="Oval 120"/>
          <p:cNvSpPr/>
          <p:nvPr/>
        </p:nvSpPr>
        <p:spPr>
          <a:xfrm>
            <a:off x="4815961"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2" name="Oval 121"/>
          <p:cNvSpPr/>
          <p:nvPr/>
        </p:nvSpPr>
        <p:spPr>
          <a:xfrm>
            <a:off x="4815961"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3" name="Rounded Rectangle 122"/>
          <p:cNvSpPr/>
          <p:nvPr/>
        </p:nvSpPr>
        <p:spPr>
          <a:xfrm>
            <a:off x="6008105"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Categoryb5</a:t>
            </a:r>
          </a:p>
        </p:txBody>
      </p:sp>
      <p:sp>
        <p:nvSpPr>
          <p:cNvPr id="124" name="Rounded Rectangle 123"/>
          <p:cNvSpPr/>
          <p:nvPr/>
        </p:nvSpPr>
        <p:spPr>
          <a:xfrm>
            <a:off x="6050733"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5" name="Rounded Rectangle 124"/>
          <p:cNvSpPr/>
          <p:nvPr/>
        </p:nvSpPr>
        <p:spPr>
          <a:xfrm>
            <a:off x="6050733"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6" name="Rounded Rectangle 125"/>
          <p:cNvSpPr/>
          <p:nvPr/>
        </p:nvSpPr>
        <p:spPr>
          <a:xfrm>
            <a:off x="6050733"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7" name="Rounded Rectangle 126"/>
          <p:cNvSpPr/>
          <p:nvPr/>
        </p:nvSpPr>
        <p:spPr>
          <a:xfrm>
            <a:off x="6050733"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8" name="Oval 127"/>
          <p:cNvSpPr/>
          <p:nvPr/>
        </p:nvSpPr>
        <p:spPr>
          <a:xfrm>
            <a:off x="6155308"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9" name="Oval 128"/>
          <p:cNvSpPr/>
          <p:nvPr/>
        </p:nvSpPr>
        <p:spPr>
          <a:xfrm>
            <a:off x="6155308"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0" name="Rounded Rectangle 129"/>
          <p:cNvSpPr/>
          <p:nvPr/>
        </p:nvSpPr>
        <p:spPr>
          <a:xfrm>
            <a:off x="7347452"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Categoryb6</a:t>
            </a:r>
          </a:p>
        </p:txBody>
      </p:sp>
      <p:sp>
        <p:nvSpPr>
          <p:cNvPr id="131" name="Rounded Rectangle 130"/>
          <p:cNvSpPr/>
          <p:nvPr/>
        </p:nvSpPr>
        <p:spPr>
          <a:xfrm>
            <a:off x="7390080"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2" name="Rounded Rectangle 131"/>
          <p:cNvSpPr/>
          <p:nvPr/>
        </p:nvSpPr>
        <p:spPr>
          <a:xfrm>
            <a:off x="7390080"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3" name="Rounded Rectangle 132"/>
          <p:cNvSpPr/>
          <p:nvPr/>
        </p:nvSpPr>
        <p:spPr>
          <a:xfrm>
            <a:off x="7390080"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4" name="Rounded Rectangle 133"/>
          <p:cNvSpPr/>
          <p:nvPr/>
        </p:nvSpPr>
        <p:spPr>
          <a:xfrm>
            <a:off x="7390080"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5" name="Oval 134"/>
          <p:cNvSpPr/>
          <p:nvPr/>
        </p:nvSpPr>
        <p:spPr>
          <a:xfrm>
            <a:off x="7494655"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Oval 135"/>
          <p:cNvSpPr/>
          <p:nvPr/>
        </p:nvSpPr>
        <p:spPr>
          <a:xfrm>
            <a:off x="7494655"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37" name="Straight Arrow Connector 136"/>
          <p:cNvCxnSpPr>
            <a:endCxn id="116" idx="0"/>
          </p:cNvCxnSpPr>
          <p:nvPr/>
        </p:nvCxnSpPr>
        <p:spPr>
          <a:xfrm>
            <a:off x="5251161" y="1433293"/>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114</a:t>
            </a:fld>
            <a:endParaRPr lang="en-GB" dirty="0"/>
          </a:p>
        </p:txBody>
      </p:sp>
    </p:spTree>
    <p:extLst>
      <p:ext uri="{BB962C8B-B14F-4D97-AF65-F5344CB8AC3E}">
        <p14:creationId xmlns:p14="http://schemas.microsoft.com/office/powerpoint/2010/main" val="2541089744"/>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Category-B</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Category-B</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05244" y="-426874"/>
            <a:ext cx="285750" cy="400608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22809" y="-438355"/>
            <a:ext cx="285750" cy="402904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Categoryb1</a:t>
            </a:r>
          </a:p>
        </p:txBody>
      </p:sp>
      <p:sp>
        <p:nvSpPr>
          <p:cNvPr id="85" name="Rounded Rectangle 84"/>
          <p:cNvSpPr/>
          <p:nvPr/>
        </p:nvSpPr>
        <p:spPr>
          <a:xfrm>
            <a:off x="690066"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90066"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90066"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90066"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86597"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86597"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772524" y="1719043"/>
            <a:ext cx="1101089"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Categoryb8</a:t>
            </a:r>
          </a:p>
        </p:txBody>
      </p:sp>
      <p:sp>
        <p:nvSpPr>
          <p:cNvPr id="92" name="Rounded Rectangle 91"/>
          <p:cNvSpPr/>
          <p:nvPr/>
        </p:nvSpPr>
        <p:spPr>
          <a:xfrm>
            <a:off x="8811417" y="2272179"/>
            <a:ext cx="102330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811417" y="3461824"/>
            <a:ext cx="102330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811417" y="4297478"/>
            <a:ext cx="102330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811417" y="5487125"/>
            <a:ext cx="102330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908395" y="2849594"/>
            <a:ext cx="829347"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908395" y="4874894"/>
            <a:ext cx="829347"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2" idx="0"/>
          </p:cNvCxnSpPr>
          <p:nvPr/>
        </p:nvCxnSpPr>
        <p:spPr>
          <a:xfrm rot="5400000">
            <a:off x="3662513" y="130395"/>
            <a:ext cx="285750" cy="289154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37" idx="0"/>
          </p:cNvCxnSpPr>
          <p:nvPr/>
        </p:nvCxnSpPr>
        <p:spPr>
          <a:xfrm rot="16200000" flipH="1">
            <a:off x="6563158" y="121296"/>
            <a:ext cx="285750" cy="290974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09" idx="0"/>
          </p:cNvCxnSpPr>
          <p:nvPr/>
        </p:nvCxnSpPr>
        <p:spPr>
          <a:xfrm rot="5400000">
            <a:off x="4242642" y="710524"/>
            <a:ext cx="285750" cy="173128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30" idx="0"/>
          </p:cNvCxnSpPr>
          <p:nvPr/>
        </p:nvCxnSpPr>
        <p:spPr>
          <a:xfrm rot="16200000" flipH="1">
            <a:off x="5983029" y="701425"/>
            <a:ext cx="285750" cy="174948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2" name="Rounded Rectangle 101"/>
          <p:cNvSpPr/>
          <p:nvPr/>
        </p:nvSpPr>
        <p:spPr>
          <a:xfrm>
            <a:off x="1810975"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Categoryb2</a:t>
            </a:r>
          </a:p>
        </p:txBody>
      </p:sp>
      <p:sp>
        <p:nvSpPr>
          <p:cNvPr id="103" name="Rounded Rectangle 102"/>
          <p:cNvSpPr/>
          <p:nvPr/>
        </p:nvSpPr>
        <p:spPr>
          <a:xfrm>
            <a:off x="1850324"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4" name="Rounded Rectangle 103"/>
          <p:cNvSpPr/>
          <p:nvPr/>
        </p:nvSpPr>
        <p:spPr>
          <a:xfrm>
            <a:off x="1850324"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5" name="Rounded Rectangle 104"/>
          <p:cNvSpPr/>
          <p:nvPr/>
        </p:nvSpPr>
        <p:spPr>
          <a:xfrm>
            <a:off x="1850324"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6" name="Rounded Rectangle 105"/>
          <p:cNvSpPr/>
          <p:nvPr/>
        </p:nvSpPr>
        <p:spPr>
          <a:xfrm>
            <a:off x="1850324"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7" name="Oval 106"/>
          <p:cNvSpPr/>
          <p:nvPr/>
        </p:nvSpPr>
        <p:spPr>
          <a:xfrm>
            <a:off x="1946855"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8" name="Oval 107"/>
          <p:cNvSpPr/>
          <p:nvPr/>
        </p:nvSpPr>
        <p:spPr>
          <a:xfrm>
            <a:off x="1946855"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9" name="Rounded Rectangle 108"/>
          <p:cNvSpPr/>
          <p:nvPr/>
        </p:nvSpPr>
        <p:spPr>
          <a:xfrm>
            <a:off x="2971233"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Categoryb3</a:t>
            </a:r>
          </a:p>
        </p:txBody>
      </p:sp>
      <p:sp>
        <p:nvSpPr>
          <p:cNvPr id="110" name="Rounded Rectangle 109"/>
          <p:cNvSpPr/>
          <p:nvPr/>
        </p:nvSpPr>
        <p:spPr>
          <a:xfrm>
            <a:off x="3010582"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1" name="Rounded Rectangle 110"/>
          <p:cNvSpPr/>
          <p:nvPr/>
        </p:nvSpPr>
        <p:spPr>
          <a:xfrm>
            <a:off x="3010582"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2" name="Rounded Rectangle 111"/>
          <p:cNvSpPr/>
          <p:nvPr/>
        </p:nvSpPr>
        <p:spPr>
          <a:xfrm>
            <a:off x="3010582"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3" name="Rounded Rectangle 112"/>
          <p:cNvSpPr/>
          <p:nvPr/>
        </p:nvSpPr>
        <p:spPr>
          <a:xfrm>
            <a:off x="3010582"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4" name="Oval 113"/>
          <p:cNvSpPr/>
          <p:nvPr/>
        </p:nvSpPr>
        <p:spPr>
          <a:xfrm>
            <a:off x="3107113"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5" name="Oval 114"/>
          <p:cNvSpPr/>
          <p:nvPr/>
        </p:nvSpPr>
        <p:spPr>
          <a:xfrm>
            <a:off x="3107113"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6" name="Rounded Rectangle 115"/>
          <p:cNvSpPr/>
          <p:nvPr/>
        </p:nvSpPr>
        <p:spPr>
          <a:xfrm>
            <a:off x="4131491"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Categoryb4</a:t>
            </a:r>
          </a:p>
        </p:txBody>
      </p:sp>
      <p:sp>
        <p:nvSpPr>
          <p:cNvPr id="117" name="Rounded Rectangle 116"/>
          <p:cNvSpPr/>
          <p:nvPr/>
        </p:nvSpPr>
        <p:spPr>
          <a:xfrm>
            <a:off x="4170840"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8" name="Rounded Rectangle 117"/>
          <p:cNvSpPr/>
          <p:nvPr/>
        </p:nvSpPr>
        <p:spPr>
          <a:xfrm>
            <a:off x="4170840"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9" name="Rounded Rectangle 118"/>
          <p:cNvSpPr/>
          <p:nvPr/>
        </p:nvSpPr>
        <p:spPr>
          <a:xfrm>
            <a:off x="4170840"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0" name="Rounded Rectangle 119"/>
          <p:cNvSpPr/>
          <p:nvPr/>
        </p:nvSpPr>
        <p:spPr>
          <a:xfrm>
            <a:off x="4170840"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1" name="Oval 120"/>
          <p:cNvSpPr/>
          <p:nvPr/>
        </p:nvSpPr>
        <p:spPr>
          <a:xfrm>
            <a:off x="4267371"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2" name="Oval 121"/>
          <p:cNvSpPr/>
          <p:nvPr/>
        </p:nvSpPr>
        <p:spPr>
          <a:xfrm>
            <a:off x="4267371"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3" name="Rounded Rectangle 122"/>
          <p:cNvSpPr/>
          <p:nvPr/>
        </p:nvSpPr>
        <p:spPr>
          <a:xfrm>
            <a:off x="5291749"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Categoryb5</a:t>
            </a:r>
          </a:p>
        </p:txBody>
      </p:sp>
      <p:sp>
        <p:nvSpPr>
          <p:cNvPr id="124" name="Rounded Rectangle 123"/>
          <p:cNvSpPr/>
          <p:nvPr/>
        </p:nvSpPr>
        <p:spPr>
          <a:xfrm>
            <a:off x="5331098"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5" name="Rounded Rectangle 124"/>
          <p:cNvSpPr/>
          <p:nvPr/>
        </p:nvSpPr>
        <p:spPr>
          <a:xfrm>
            <a:off x="5331098"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6" name="Rounded Rectangle 125"/>
          <p:cNvSpPr/>
          <p:nvPr/>
        </p:nvSpPr>
        <p:spPr>
          <a:xfrm>
            <a:off x="5331098"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7" name="Rounded Rectangle 126"/>
          <p:cNvSpPr/>
          <p:nvPr/>
        </p:nvSpPr>
        <p:spPr>
          <a:xfrm>
            <a:off x="5331098"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8" name="Oval 127"/>
          <p:cNvSpPr/>
          <p:nvPr/>
        </p:nvSpPr>
        <p:spPr>
          <a:xfrm>
            <a:off x="5427629"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9" name="Oval 128"/>
          <p:cNvSpPr/>
          <p:nvPr/>
        </p:nvSpPr>
        <p:spPr>
          <a:xfrm>
            <a:off x="5427629"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0" name="Rounded Rectangle 129"/>
          <p:cNvSpPr/>
          <p:nvPr/>
        </p:nvSpPr>
        <p:spPr>
          <a:xfrm>
            <a:off x="6452007"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Categoryb6</a:t>
            </a:r>
          </a:p>
        </p:txBody>
      </p:sp>
      <p:sp>
        <p:nvSpPr>
          <p:cNvPr id="131" name="Rounded Rectangle 130"/>
          <p:cNvSpPr/>
          <p:nvPr/>
        </p:nvSpPr>
        <p:spPr>
          <a:xfrm>
            <a:off x="6491356"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2" name="Rounded Rectangle 131"/>
          <p:cNvSpPr/>
          <p:nvPr/>
        </p:nvSpPr>
        <p:spPr>
          <a:xfrm>
            <a:off x="6491356"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3" name="Rounded Rectangle 132"/>
          <p:cNvSpPr/>
          <p:nvPr/>
        </p:nvSpPr>
        <p:spPr>
          <a:xfrm>
            <a:off x="6491356"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4" name="Rounded Rectangle 133"/>
          <p:cNvSpPr/>
          <p:nvPr/>
        </p:nvSpPr>
        <p:spPr>
          <a:xfrm>
            <a:off x="6491356"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5" name="Oval 134"/>
          <p:cNvSpPr/>
          <p:nvPr/>
        </p:nvSpPr>
        <p:spPr>
          <a:xfrm>
            <a:off x="6587887"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Oval 135"/>
          <p:cNvSpPr/>
          <p:nvPr/>
        </p:nvSpPr>
        <p:spPr>
          <a:xfrm>
            <a:off x="6587887"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7" name="Rounded Rectangle 136"/>
          <p:cNvSpPr/>
          <p:nvPr/>
        </p:nvSpPr>
        <p:spPr>
          <a:xfrm>
            <a:off x="7612265"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Categoryb7</a:t>
            </a:r>
          </a:p>
        </p:txBody>
      </p:sp>
      <p:sp>
        <p:nvSpPr>
          <p:cNvPr id="138" name="Rounded Rectangle 137"/>
          <p:cNvSpPr/>
          <p:nvPr/>
        </p:nvSpPr>
        <p:spPr>
          <a:xfrm>
            <a:off x="7651614"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9" name="Rounded Rectangle 138"/>
          <p:cNvSpPr/>
          <p:nvPr/>
        </p:nvSpPr>
        <p:spPr>
          <a:xfrm>
            <a:off x="7651614"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0" name="Rounded Rectangle 139"/>
          <p:cNvSpPr/>
          <p:nvPr/>
        </p:nvSpPr>
        <p:spPr>
          <a:xfrm>
            <a:off x="7651614"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1" name="Rounded Rectangle 140"/>
          <p:cNvSpPr/>
          <p:nvPr/>
        </p:nvSpPr>
        <p:spPr>
          <a:xfrm>
            <a:off x="7651614"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2" name="Oval 141"/>
          <p:cNvSpPr/>
          <p:nvPr/>
        </p:nvSpPr>
        <p:spPr>
          <a:xfrm>
            <a:off x="7748145"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3" name="Oval 142"/>
          <p:cNvSpPr/>
          <p:nvPr/>
        </p:nvSpPr>
        <p:spPr>
          <a:xfrm>
            <a:off x="7748145"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44" name="Elbow Connector 143"/>
          <p:cNvCxnSpPr>
            <a:endCxn id="116" idx="0"/>
          </p:cNvCxnSpPr>
          <p:nvPr/>
        </p:nvCxnSpPr>
        <p:spPr>
          <a:xfrm rot="5400000">
            <a:off x="4822771" y="1290653"/>
            <a:ext cx="285750" cy="57103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45" name="Elbow Connector 144"/>
          <p:cNvCxnSpPr>
            <a:endCxn id="123" idx="0"/>
          </p:cNvCxnSpPr>
          <p:nvPr/>
        </p:nvCxnSpPr>
        <p:spPr>
          <a:xfrm rot="16200000" flipH="1">
            <a:off x="5402900" y="1281554"/>
            <a:ext cx="285750" cy="58922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115</a:t>
            </a:fld>
            <a:endParaRPr lang="en-GB" dirty="0"/>
          </a:p>
        </p:txBody>
      </p:sp>
    </p:spTree>
    <p:extLst>
      <p:ext uri="{BB962C8B-B14F-4D97-AF65-F5344CB8AC3E}">
        <p14:creationId xmlns:p14="http://schemas.microsoft.com/office/powerpoint/2010/main" val="3372573908"/>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Category-B</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Category-B</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059524" y="-472594"/>
            <a:ext cx="285750" cy="409752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68052" y="-483599"/>
            <a:ext cx="285750" cy="4119533"/>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Categoryb1</a:t>
            </a:r>
          </a:p>
        </p:txBody>
      </p:sp>
      <p:sp>
        <p:nvSpPr>
          <p:cNvPr id="85" name="Rounded Rectangle 84"/>
          <p:cNvSpPr/>
          <p:nvPr/>
        </p:nvSpPr>
        <p:spPr>
          <a:xfrm>
            <a:off x="686787"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86787"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86787"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86787"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75273"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75273"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867774"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Categoryb9</a:t>
            </a:r>
          </a:p>
        </p:txBody>
      </p:sp>
      <p:sp>
        <p:nvSpPr>
          <p:cNvPr id="92" name="Rounded Rectangle 91"/>
          <p:cNvSpPr/>
          <p:nvPr/>
        </p:nvSpPr>
        <p:spPr>
          <a:xfrm>
            <a:off x="8903303" y="2272179"/>
            <a:ext cx="93478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903303" y="3461824"/>
            <a:ext cx="93478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903303" y="4297478"/>
            <a:ext cx="93478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903303" y="5487125"/>
            <a:ext cx="93478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991892" y="2849594"/>
            <a:ext cx="75760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991892" y="4874894"/>
            <a:ext cx="75760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4" idx="0"/>
          </p:cNvCxnSpPr>
          <p:nvPr/>
        </p:nvCxnSpPr>
        <p:spPr>
          <a:xfrm rot="5400000">
            <a:off x="3573090" y="40972"/>
            <a:ext cx="285750" cy="307039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46" idx="0"/>
          </p:cNvCxnSpPr>
          <p:nvPr/>
        </p:nvCxnSpPr>
        <p:spPr>
          <a:xfrm rot="16200000" flipH="1">
            <a:off x="6654486" y="29968"/>
            <a:ext cx="285750" cy="309240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11" idx="0"/>
          </p:cNvCxnSpPr>
          <p:nvPr/>
        </p:nvCxnSpPr>
        <p:spPr>
          <a:xfrm rot="5400000">
            <a:off x="4086656" y="554538"/>
            <a:ext cx="285750" cy="204326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39" idx="0"/>
          </p:cNvCxnSpPr>
          <p:nvPr/>
        </p:nvCxnSpPr>
        <p:spPr>
          <a:xfrm rot="16200000" flipH="1">
            <a:off x="6140920" y="543534"/>
            <a:ext cx="285750" cy="206526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Elbow Connector 101"/>
          <p:cNvCxnSpPr>
            <a:endCxn id="118" idx="0"/>
          </p:cNvCxnSpPr>
          <p:nvPr/>
        </p:nvCxnSpPr>
        <p:spPr>
          <a:xfrm rot="5400000">
            <a:off x="4600222" y="1068104"/>
            <a:ext cx="285750" cy="1016128"/>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endCxn id="132" idx="0"/>
          </p:cNvCxnSpPr>
          <p:nvPr/>
        </p:nvCxnSpPr>
        <p:spPr>
          <a:xfrm rot="16200000" flipH="1">
            <a:off x="5627354" y="1057100"/>
            <a:ext cx="285750" cy="103813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4" name="Rounded Rectangle 103"/>
          <p:cNvSpPr/>
          <p:nvPr/>
        </p:nvSpPr>
        <p:spPr>
          <a:xfrm>
            <a:off x="1677849"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Categoryb2</a:t>
            </a:r>
          </a:p>
        </p:txBody>
      </p:sp>
      <p:sp>
        <p:nvSpPr>
          <p:cNvPr id="105" name="Rounded Rectangle 104"/>
          <p:cNvSpPr/>
          <p:nvPr/>
        </p:nvSpPr>
        <p:spPr>
          <a:xfrm>
            <a:off x="1713919"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6" name="Rounded Rectangle 105"/>
          <p:cNvSpPr/>
          <p:nvPr/>
        </p:nvSpPr>
        <p:spPr>
          <a:xfrm>
            <a:off x="1713919"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7" name="Rounded Rectangle 106"/>
          <p:cNvSpPr/>
          <p:nvPr/>
        </p:nvSpPr>
        <p:spPr>
          <a:xfrm>
            <a:off x="1713919"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8" name="Rounded Rectangle 107"/>
          <p:cNvSpPr/>
          <p:nvPr/>
        </p:nvSpPr>
        <p:spPr>
          <a:xfrm>
            <a:off x="1713919"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9" name="Oval 108"/>
          <p:cNvSpPr/>
          <p:nvPr/>
        </p:nvSpPr>
        <p:spPr>
          <a:xfrm>
            <a:off x="1802405"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0" name="Oval 109"/>
          <p:cNvSpPr/>
          <p:nvPr/>
        </p:nvSpPr>
        <p:spPr>
          <a:xfrm>
            <a:off x="1802405"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1" name="Rounded Rectangle 110"/>
          <p:cNvSpPr/>
          <p:nvPr/>
        </p:nvSpPr>
        <p:spPr>
          <a:xfrm>
            <a:off x="2704981"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Categoryb3</a:t>
            </a:r>
          </a:p>
        </p:txBody>
      </p:sp>
      <p:sp>
        <p:nvSpPr>
          <p:cNvPr id="112" name="Rounded Rectangle 111"/>
          <p:cNvSpPr/>
          <p:nvPr/>
        </p:nvSpPr>
        <p:spPr>
          <a:xfrm>
            <a:off x="2741051"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3" name="Rounded Rectangle 112"/>
          <p:cNvSpPr/>
          <p:nvPr/>
        </p:nvSpPr>
        <p:spPr>
          <a:xfrm>
            <a:off x="2741051"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4" name="Rounded Rectangle 113"/>
          <p:cNvSpPr/>
          <p:nvPr/>
        </p:nvSpPr>
        <p:spPr>
          <a:xfrm>
            <a:off x="2741051"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5" name="Rounded Rectangle 114"/>
          <p:cNvSpPr/>
          <p:nvPr/>
        </p:nvSpPr>
        <p:spPr>
          <a:xfrm>
            <a:off x="2741051"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6" name="Oval 115"/>
          <p:cNvSpPr/>
          <p:nvPr/>
        </p:nvSpPr>
        <p:spPr>
          <a:xfrm>
            <a:off x="2829537"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7" name="Oval 116"/>
          <p:cNvSpPr/>
          <p:nvPr/>
        </p:nvSpPr>
        <p:spPr>
          <a:xfrm>
            <a:off x="2829537"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8" name="Rounded Rectangle 117"/>
          <p:cNvSpPr/>
          <p:nvPr/>
        </p:nvSpPr>
        <p:spPr>
          <a:xfrm>
            <a:off x="3732113"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Categoryb4</a:t>
            </a:r>
          </a:p>
        </p:txBody>
      </p:sp>
      <p:sp>
        <p:nvSpPr>
          <p:cNvPr id="119" name="Rounded Rectangle 118"/>
          <p:cNvSpPr/>
          <p:nvPr/>
        </p:nvSpPr>
        <p:spPr>
          <a:xfrm>
            <a:off x="3768183"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0" name="Rounded Rectangle 119"/>
          <p:cNvSpPr/>
          <p:nvPr/>
        </p:nvSpPr>
        <p:spPr>
          <a:xfrm>
            <a:off x="3768183"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1" name="Rounded Rectangle 120"/>
          <p:cNvSpPr/>
          <p:nvPr/>
        </p:nvSpPr>
        <p:spPr>
          <a:xfrm>
            <a:off x="3768183"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2" name="Rounded Rectangle 121"/>
          <p:cNvSpPr/>
          <p:nvPr/>
        </p:nvSpPr>
        <p:spPr>
          <a:xfrm>
            <a:off x="3768183"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3" name="Oval 122"/>
          <p:cNvSpPr/>
          <p:nvPr/>
        </p:nvSpPr>
        <p:spPr>
          <a:xfrm>
            <a:off x="3856669"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4" name="Oval 123"/>
          <p:cNvSpPr/>
          <p:nvPr/>
        </p:nvSpPr>
        <p:spPr>
          <a:xfrm>
            <a:off x="3856669"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5" name="Rounded Rectangle 124"/>
          <p:cNvSpPr/>
          <p:nvPr/>
        </p:nvSpPr>
        <p:spPr>
          <a:xfrm>
            <a:off x="4759245"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Categoryb5</a:t>
            </a:r>
          </a:p>
        </p:txBody>
      </p:sp>
      <p:sp>
        <p:nvSpPr>
          <p:cNvPr id="126" name="Rounded Rectangle 125"/>
          <p:cNvSpPr/>
          <p:nvPr/>
        </p:nvSpPr>
        <p:spPr>
          <a:xfrm>
            <a:off x="4795315"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7" name="Rounded Rectangle 126"/>
          <p:cNvSpPr/>
          <p:nvPr/>
        </p:nvSpPr>
        <p:spPr>
          <a:xfrm>
            <a:off x="4795315"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8" name="Rounded Rectangle 127"/>
          <p:cNvSpPr/>
          <p:nvPr/>
        </p:nvSpPr>
        <p:spPr>
          <a:xfrm>
            <a:off x="4795315"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9" name="Rounded Rectangle 128"/>
          <p:cNvSpPr/>
          <p:nvPr/>
        </p:nvSpPr>
        <p:spPr>
          <a:xfrm>
            <a:off x="4795315"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0" name="Oval 129"/>
          <p:cNvSpPr/>
          <p:nvPr/>
        </p:nvSpPr>
        <p:spPr>
          <a:xfrm>
            <a:off x="4883801"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1" name="Oval 130"/>
          <p:cNvSpPr/>
          <p:nvPr/>
        </p:nvSpPr>
        <p:spPr>
          <a:xfrm>
            <a:off x="4883801"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2" name="Rounded Rectangle 131"/>
          <p:cNvSpPr/>
          <p:nvPr/>
        </p:nvSpPr>
        <p:spPr>
          <a:xfrm>
            <a:off x="5786377"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Categoryb6</a:t>
            </a:r>
          </a:p>
        </p:txBody>
      </p:sp>
      <p:sp>
        <p:nvSpPr>
          <p:cNvPr id="133" name="Rounded Rectangle 132"/>
          <p:cNvSpPr/>
          <p:nvPr/>
        </p:nvSpPr>
        <p:spPr>
          <a:xfrm>
            <a:off x="5822447"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4" name="Rounded Rectangle 133"/>
          <p:cNvSpPr/>
          <p:nvPr/>
        </p:nvSpPr>
        <p:spPr>
          <a:xfrm>
            <a:off x="5822447"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5" name="Rounded Rectangle 134"/>
          <p:cNvSpPr/>
          <p:nvPr/>
        </p:nvSpPr>
        <p:spPr>
          <a:xfrm>
            <a:off x="5822447"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6" name="Rounded Rectangle 135"/>
          <p:cNvSpPr/>
          <p:nvPr/>
        </p:nvSpPr>
        <p:spPr>
          <a:xfrm>
            <a:off x="5822447"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7" name="Oval 136"/>
          <p:cNvSpPr/>
          <p:nvPr/>
        </p:nvSpPr>
        <p:spPr>
          <a:xfrm>
            <a:off x="5910933"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8" name="Oval 137"/>
          <p:cNvSpPr/>
          <p:nvPr/>
        </p:nvSpPr>
        <p:spPr>
          <a:xfrm>
            <a:off x="5910933"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9" name="Rounded Rectangle 138"/>
          <p:cNvSpPr/>
          <p:nvPr/>
        </p:nvSpPr>
        <p:spPr>
          <a:xfrm>
            <a:off x="6813509"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Categoryb7</a:t>
            </a:r>
          </a:p>
        </p:txBody>
      </p:sp>
      <p:sp>
        <p:nvSpPr>
          <p:cNvPr id="140" name="Rounded Rectangle 139"/>
          <p:cNvSpPr/>
          <p:nvPr/>
        </p:nvSpPr>
        <p:spPr>
          <a:xfrm>
            <a:off x="6849579"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1" name="Rounded Rectangle 140"/>
          <p:cNvSpPr/>
          <p:nvPr/>
        </p:nvSpPr>
        <p:spPr>
          <a:xfrm>
            <a:off x="6849579"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2" name="Rounded Rectangle 141"/>
          <p:cNvSpPr/>
          <p:nvPr/>
        </p:nvSpPr>
        <p:spPr>
          <a:xfrm>
            <a:off x="6849579"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3" name="Rounded Rectangle 142"/>
          <p:cNvSpPr/>
          <p:nvPr/>
        </p:nvSpPr>
        <p:spPr>
          <a:xfrm>
            <a:off x="6849579"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4" name="Oval 143"/>
          <p:cNvSpPr/>
          <p:nvPr/>
        </p:nvSpPr>
        <p:spPr>
          <a:xfrm>
            <a:off x="6938065"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5" name="Oval 144"/>
          <p:cNvSpPr/>
          <p:nvPr/>
        </p:nvSpPr>
        <p:spPr>
          <a:xfrm>
            <a:off x="6938065"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6" name="Rounded Rectangle 145"/>
          <p:cNvSpPr/>
          <p:nvPr/>
        </p:nvSpPr>
        <p:spPr>
          <a:xfrm>
            <a:off x="7840641"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Categoryb8</a:t>
            </a:r>
          </a:p>
        </p:txBody>
      </p:sp>
      <p:sp>
        <p:nvSpPr>
          <p:cNvPr id="147" name="Rounded Rectangle 146"/>
          <p:cNvSpPr/>
          <p:nvPr/>
        </p:nvSpPr>
        <p:spPr>
          <a:xfrm>
            <a:off x="7876711"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8" name="Rounded Rectangle 147"/>
          <p:cNvSpPr/>
          <p:nvPr/>
        </p:nvSpPr>
        <p:spPr>
          <a:xfrm>
            <a:off x="7876711"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9" name="Rounded Rectangle 148"/>
          <p:cNvSpPr/>
          <p:nvPr/>
        </p:nvSpPr>
        <p:spPr>
          <a:xfrm>
            <a:off x="7876711"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50" name="Rounded Rectangle 149"/>
          <p:cNvSpPr/>
          <p:nvPr/>
        </p:nvSpPr>
        <p:spPr>
          <a:xfrm>
            <a:off x="7876711"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51" name="Oval 150"/>
          <p:cNvSpPr/>
          <p:nvPr/>
        </p:nvSpPr>
        <p:spPr>
          <a:xfrm>
            <a:off x="7965197"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0" name="Oval 199"/>
          <p:cNvSpPr/>
          <p:nvPr/>
        </p:nvSpPr>
        <p:spPr>
          <a:xfrm>
            <a:off x="7965197"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201" name="Elbow Connector 200"/>
          <p:cNvCxnSpPr>
            <a:endCxn id="125" idx="0"/>
          </p:cNvCxnSpPr>
          <p:nvPr/>
        </p:nvCxnSpPr>
        <p:spPr>
          <a:xfrm rot="16200000" flipH="1">
            <a:off x="5113788" y="1570666"/>
            <a:ext cx="285750" cy="1100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116</a:t>
            </a:fld>
            <a:endParaRPr lang="en-GB" dirty="0"/>
          </a:p>
        </p:txBody>
      </p:sp>
    </p:spTree>
    <p:extLst>
      <p:ext uri="{BB962C8B-B14F-4D97-AF65-F5344CB8AC3E}">
        <p14:creationId xmlns:p14="http://schemas.microsoft.com/office/powerpoint/2010/main" val="289967517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Category-B</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Category-B</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002977" y="-529141"/>
            <a:ext cx="285750" cy="42106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216880" y="-532427"/>
            <a:ext cx="285750" cy="421718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464951" y="2507208"/>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464951" y="3696853"/>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464951" y="4532507"/>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464951" y="5722154"/>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583342"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Categoryb1</a:t>
            </a:r>
          </a:p>
        </p:txBody>
      </p:sp>
      <p:sp>
        <p:nvSpPr>
          <p:cNvPr id="85" name="Rounded Rectangle 84"/>
          <p:cNvSpPr/>
          <p:nvPr/>
        </p:nvSpPr>
        <p:spPr>
          <a:xfrm>
            <a:off x="616133"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16133"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16133"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16133"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696575"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69657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9011150"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Categoryb10</a:t>
            </a:r>
          </a:p>
        </p:txBody>
      </p:sp>
      <p:sp>
        <p:nvSpPr>
          <p:cNvPr id="92" name="Rounded Rectangle 91"/>
          <p:cNvSpPr/>
          <p:nvPr/>
        </p:nvSpPr>
        <p:spPr>
          <a:xfrm>
            <a:off x="9043449" y="2272179"/>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9043449" y="3461824"/>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9043449" y="4297478"/>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9043449" y="5487125"/>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9123984" y="28495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9123984" y="48748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5" idx="0"/>
          </p:cNvCxnSpPr>
          <p:nvPr/>
        </p:nvCxnSpPr>
        <p:spPr>
          <a:xfrm rot="5400000">
            <a:off x="3471188" y="-60930"/>
            <a:ext cx="285750" cy="327419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202" idx="0"/>
          </p:cNvCxnSpPr>
          <p:nvPr/>
        </p:nvCxnSpPr>
        <p:spPr>
          <a:xfrm rot="16200000" flipH="1">
            <a:off x="6748668" y="-64215"/>
            <a:ext cx="285750" cy="3280765"/>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12" idx="0"/>
          </p:cNvCxnSpPr>
          <p:nvPr/>
        </p:nvCxnSpPr>
        <p:spPr>
          <a:xfrm rot="5400000">
            <a:off x="3939400" y="407282"/>
            <a:ext cx="285750" cy="2337773"/>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47" idx="0"/>
          </p:cNvCxnSpPr>
          <p:nvPr/>
        </p:nvCxnSpPr>
        <p:spPr>
          <a:xfrm rot="16200000" flipH="1">
            <a:off x="6280457" y="403997"/>
            <a:ext cx="285750" cy="234434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Elbow Connector 101"/>
          <p:cNvCxnSpPr>
            <a:endCxn id="119" idx="0"/>
          </p:cNvCxnSpPr>
          <p:nvPr/>
        </p:nvCxnSpPr>
        <p:spPr>
          <a:xfrm rot="5400000">
            <a:off x="4407611" y="875493"/>
            <a:ext cx="285750" cy="140135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endCxn id="140" idx="0"/>
          </p:cNvCxnSpPr>
          <p:nvPr/>
        </p:nvCxnSpPr>
        <p:spPr>
          <a:xfrm rot="16200000" flipH="1">
            <a:off x="5812245" y="872208"/>
            <a:ext cx="285750" cy="1407919"/>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4" name="Elbow Connector 103"/>
          <p:cNvCxnSpPr>
            <a:endCxn id="133" idx="0"/>
          </p:cNvCxnSpPr>
          <p:nvPr/>
        </p:nvCxnSpPr>
        <p:spPr>
          <a:xfrm rot="16200000" flipH="1">
            <a:off x="5344034" y="1340420"/>
            <a:ext cx="285750" cy="47149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5" name="Rounded Rectangle 104"/>
          <p:cNvSpPr/>
          <p:nvPr/>
        </p:nvSpPr>
        <p:spPr>
          <a:xfrm>
            <a:off x="1519765"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Categoryb2</a:t>
            </a:r>
          </a:p>
        </p:txBody>
      </p:sp>
      <p:sp>
        <p:nvSpPr>
          <p:cNvPr id="106" name="Rounded Rectangle 105"/>
          <p:cNvSpPr/>
          <p:nvPr/>
        </p:nvSpPr>
        <p:spPr>
          <a:xfrm>
            <a:off x="1552392"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7" name="Rounded Rectangle 106"/>
          <p:cNvSpPr/>
          <p:nvPr/>
        </p:nvSpPr>
        <p:spPr>
          <a:xfrm>
            <a:off x="1552392"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8" name="Rounded Rectangle 107"/>
          <p:cNvSpPr/>
          <p:nvPr/>
        </p:nvSpPr>
        <p:spPr>
          <a:xfrm>
            <a:off x="1552392"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9" name="Rounded Rectangle 108"/>
          <p:cNvSpPr/>
          <p:nvPr/>
        </p:nvSpPr>
        <p:spPr>
          <a:xfrm>
            <a:off x="1552392"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0" name="Oval 109"/>
          <p:cNvSpPr/>
          <p:nvPr/>
        </p:nvSpPr>
        <p:spPr>
          <a:xfrm>
            <a:off x="168754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1" name="Oval 110"/>
          <p:cNvSpPr/>
          <p:nvPr/>
        </p:nvSpPr>
        <p:spPr>
          <a:xfrm>
            <a:off x="163286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2" name="Rounded Rectangle 111"/>
          <p:cNvSpPr/>
          <p:nvPr/>
        </p:nvSpPr>
        <p:spPr>
          <a:xfrm>
            <a:off x="2456188"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Categoryb3</a:t>
            </a:r>
          </a:p>
        </p:txBody>
      </p:sp>
      <p:sp>
        <p:nvSpPr>
          <p:cNvPr id="113" name="Rounded Rectangle 112"/>
          <p:cNvSpPr/>
          <p:nvPr/>
        </p:nvSpPr>
        <p:spPr>
          <a:xfrm>
            <a:off x="2488651"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4" name="Rounded Rectangle 113"/>
          <p:cNvSpPr/>
          <p:nvPr/>
        </p:nvSpPr>
        <p:spPr>
          <a:xfrm>
            <a:off x="2488651"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5" name="Rounded Rectangle 114"/>
          <p:cNvSpPr/>
          <p:nvPr/>
        </p:nvSpPr>
        <p:spPr>
          <a:xfrm>
            <a:off x="2488651"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6" name="Rounded Rectangle 115"/>
          <p:cNvSpPr/>
          <p:nvPr/>
        </p:nvSpPr>
        <p:spPr>
          <a:xfrm>
            <a:off x="2488651"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7" name="Oval 116"/>
          <p:cNvSpPr/>
          <p:nvPr/>
        </p:nvSpPr>
        <p:spPr>
          <a:xfrm>
            <a:off x="261113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8" name="Oval 117"/>
          <p:cNvSpPr/>
          <p:nvPr/>
        </p:nvSpPr>
        <p:spPr>
          <a:xfrm>
            <a:off x="256915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9" name="Rounded Rectangle 118"/>
          <p:cNvSpPr/>
          <p:nvPr/>
        </p:nvSpPr>
        <p:spPr>
          <a:xfrm>
            <a:off x="3392611"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Categoryb4</a:t>
            </a:r>
          </a:p>
        </p:txBody>
      </p:sp>
      <p:sp>
        <p:nvSpPr>
          <p:cNvPr id="120" name="Rounded Rectangle 119"/>
          <p:cNvSpPr/>
          <p:nvPr/>
        </p:nvSpPr>
        <p:spPr>
          <a:xfrm>
            <a:off x="3424910"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1" name="Rounded Rectangle 120"/>
          <p:cNvSpPr/>
          <p:nvPr/>
        </p:nvSpPr>
        <p:spPr>
          <a:xfrm>
            <a:off x="3424910"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2" name="Rounded Rectangle 121"/>
          <p:cNvSpPr/>
          <p:nvPr/>
        </p:nvSpPr>
        <p:spPr>
          <a:xfrm>
            <a:off x="3424910"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3" name="Rounded Rectangle 122"/>
          <p:cNvSpPr/>
          <p:nvPr/>
        </p:nvSpPr>
        <p:spPr>
          <a:xfrm>
            <a:off x="3424910"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4" name="Oval 123"/>
          <p:cNvSpPr/>
          <p:nvPr/>
        </p:nvSpPr>
        <p:spPr>
          <a:xfrm>
            <a:off x="353472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5" name="Oval 124"/>
          <p:cNvSpPr/>
          <p:nvPr/>
        </p:nvSpPr>
        <p:spPr>
          <a:xfrm>
            <a:off x="350544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6" name="Rounded Rectangle 125"/>
          <p:cNvSpPr/>
          <p:nvPr/>
        </p:nvSpPr>
        <p:spPr>
          <a:xfrm>
            <a:off x="4329034"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Categoryb5</a:t>
            </a:r>
          </a:p>
        </p:txBody>
      </p:sp>
      <p:sp>
        <p:nvSpPr>
          <p:cNvPr id="127" name="Rounded Rectangle 126"/>
          <p:cNvSpPr/>
          <p:nvPr/>
        </p:nvSpPr>
        <p:spPr>
          <a:xfrm>
            <a:off x="4361169"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8" name="Rounded Rectangle 127"/>
          <p:cNvSpPr/>
          <p:nvPr/>
        </p:nvSpPr>
        <p:spPr>
          <a:xfrm>
            <a:off x="4361169"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9" name="Rounded Rectangle 128"/>
          <p:cNvSpPr/>
          <p:nvPr/>
        </p:nvSpPr>
        <p:spPr>
          <a:xfrm>
            <a:off x="4361169"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0" name="Rounded Rectangle 129"/>
          <p:cNvSpPr/>
          <p:nvPr/>
        </p:nvSpPr>
        <p:spPr>
          <a:xfrm>
            <a:off x="4361169"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1" name="Oval 130"/>
          <p:cNvSpPr/>
          <p:nvPr/>
        </p:nvSpPr>
        <p:spPr>
          <a:xfrm>
            <a:off x="445831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2" name="Oval 131"/>
          <p:cNvSpPr/>
          <p:nvPr/>
        </p:nvSpPr>
        <p:spPr>
          <a:xfrm>
            <a:off x="444173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3" name="Rounded Rectangle 132"/>
          <p:cNvSpPr/>
          <p:nvPr/>
        </p:nvSpPr>
        <p:spPr>
          <a:xfrm>
            <a:off x="5265457"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Categoryb6</a:t>
            </a:r>
          </a:p>
        </p:txBody>
      </p:sp>
      <p:sp>
        <p:nvSpPr>
          <p:cNvPr id="134" name="Rounded Rectangle 133"/>
          <p:cNvSpPr/>
          <p:nvPr/>
        </p:nvSpPr>
        <p:spPr>
          <a:xfrm>
            <a:off x="5297428"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5" name="Rounded Rectangle 134"/>
          <p:cNvSpPr/>
          <p:nvPr/>
        </p:nvSpPr>
        <p:spPr>
          <a:xfrm>
            <a:off x="5297428"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6" name="Rounded Rectangle 135"/>
          <p:cNvSpPr/>
          <p:nvPr/>
        </p:nvSpPr>
        <p:spPr>
          <a:xfrm>
            <a:off x="5297428"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7" name="Rounded Rectangle 136"/>
          <p:cNvSpPr/>
          <p:nvPr/>
        </p:nvSpPr>
        <p:spPr>
          <a:xfrm>
            <a:off x="5297428"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8" name="Oval 137"/>
          <p:cNvSpPr/>
          <p:nvPr/>
        </p:nvSpPr>
        <p:spPr>
          <a:xfrm>
            <a:off x="538190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9" name="Oval 138"/>
          <p:cNvSpPr/>
          <p:nvPr/>
        </p:nvSpPr>
        <p:spPr>
          <a:xfrm>
            <a:off x="537802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0" name="Rounded Rectangle 139"/>
          <p:cNvSpPr/>
          <p:nvPr/>
        </p:nvSpPr>
        <p:spPr>
          <a:xfrm>
            <a:off x="6201880"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Categoryb7</a:t>
            </a:r>
          </a:p>
        </p:txBody>
      </p:sp>
      <p:sp>
        <p:nvSpPr>
          <p:cNvPr id="141" name="Rounded Rectangle 140"/>
          <p:cNvSpPr/>
          <p:nvPr/>
        </p:nvSpPr>
        <p:spPr>
          <a:xfrm>
            <a:off x="6233687"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2" name="Rounded Rectangle 141"/>
          <p:cNvSpPr/>
          <p:nvPr/>
        </p:nvSpPr>
        <p:spPr>
          <a:xfrm>
            <a:off x="6233687"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3" name="Rounded Rectangle 142"/>
          <p:cNvSpPr/>
          <p:nvPr/>
        </p:nvSpPr>
        <p:spPr>
          <a:xfrm>
            <a:off x="6233687"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4" name="Rounded Rectangle 143"/>
          <p:cNvSpPr/>
          <p:nvPr/>
        </p:nvSpPr>
        <p:spPr>
          <a:xfrm>
            <a:off x="6233687"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5" name="Oval 144"/>
          <p:cNvSpPr/>
          <p:nvPr/>
        </p:nvSpPr>
        <p:spPr>
          <a:xfrm>
            <a:off x="630549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6" name="Oval 145"/>
          <p:cNvSpPr/>
          <p:nvPr/>
        </p:nvSpPr>
        <p:spPr>
          <a:xfrm>
            <a:off x="631431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7" name="Rounded Rectangle 146"/>
          <p:cNvSpPr/>
          <p:nvPr/>
        </p:nvSpPr>
        <p:spPr>
          <a:xfrm>
            <a:off x="7138303"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Categoryb8</a:t>
            </a:r>
          </a:p>
        </p:txBody>
      </p:sp>
      <p:sp>
        <p:nvSpPr>
          <p:cNvPr id="148" name="Rounded Rectangle 147"/>
          <p:cNvSpPr/>
          <p:nvPr/>
        </p:nvSpPr>
        <p:spPr>
          <a:xfrm>
            <a:off x="7169946"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9" name="Rounded Rectangle 148"/>
          <p:cNvSpPr/>
          <p:nvPr/>
        </p:nvSpPr>
        <p:spPr>
          <a:xfrm>
            <a:off x="7169946"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50" name="Rounded Rectangle 149"/>
          <p:cNvSpPr/>
          <p:nvPr/>
        </p:nvSpPr>
        <p:spPr>
          <a:xfrm>
            <a:off x="7169946"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51" name="Rounded Rectangle 150"/>
          <p:cNvSpPr/>
          <p:nvPr/>
        </p:nvSpPr>
        <p:spPr>
          <a:xfrm>
            <a:off x="7169946"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200" name="Oval 199"/>
          <p:cNvSpPr/>
          <p:nvPr/>
        </p:nvSpPr>
        <p:spPr>
          <a:xfrm>
            <a:off x="722908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1" name="Oval 200"/>
          <p:cNvSpPr/>
          <p:nvPr/>
        </p:nvSpPr>
        <p:spPr>
          <a:xfrm>
            <a:off x="725060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2" name="Rounded Rectangle 201"/>
          <p:cNvSpPr/>
          <p:nvPr/>
        </p:nvSpPr>
        <p:spPr>
          <a:xfrm>
            <a:off x="8074726"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Categoryb9</a:t>
            </a:r>
          </a:p>
        </p:txBody>
      </p:sp>
      <p:sp>
        <p:nvSpPr>
          <p:cNvPr id="203" name="Rounded Rectangle 202"/>
          <p:cNvSpPr/>
          <p:nvPr/>
        </p:nvSpPr>
        <p:spPr>
          <a:xfrm>
            <a:off x="8106205" y="2272179"/>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204" name="Rounded Rectangle 203"/>
          <p:cNvSpPr/>
          <p:nvPr/>
        </p:nvSpPr>
        <p:spPr>
          <a:xfrm>
            <a:off x="8106205" y="3461824"/>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205" name="Rounded Rectangle 204"/>
          <p:cNvSpPr/>
          <p:nvPr/>
        </p:nvSpPr>
        <p:spPr>
          <a:xfrm>
            <a:off x="8106205" y="4297478"/>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206" name="Rounded Rectangle 205"/>
          <p:cNvSpPr/>
          <p:nvPr/>
        </p:nvSpPr>
        <p:spPr>
          <a:xfrm>
            <a:off x="8106205" y="5487125"/>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207" name="Oval 206"/>
          <p:cNvSpPr/>
          <p:nvPr/>
        </p:nvSpPr>
        <p:spPr>
          <a:xfrm>
            <a:off x="8152271" y="28495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8" name="Oval 207"/>
          <p:cNvSpPr/>
          <p:nvPr/>
        </p:nvSpPr>
        <p:spPr>
          <a:xfrm>
            <a:off x="8186895" y="48748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209" name="Elbow Connector 208"/>
          <p:cNvCxnSpPr>
            <a:endCxn id="126" idx="0"/>
          </p:cNvCxnSpPr>
          <p:nvPr/>
        </p:nvCxnSpPr>
        <p:spPr>
          <a:xfrm rot="5400000">
            <a:off x="4875823" y="1343705"/>
            <a:ext cx="285750" cy="464927"/>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117</a:t>
            </a:fld>
            <a:endParaRPr lang="en-GB" dirty="0"/>
          </a:p>
        </p:txBody>
      </p:sp>
    </p:spTree>
    <p:extLst>
      <p:ext uri="{BB962C8B-B14F-4D97-AF65-F5344CB8AC3E}">
        <p14:creationId xmlns:p14="http://schemas.microsoft.com/office/powerpoint/2010/main" val="2374357717"/>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a:t>Global WXYZ Market Analysis By Category-B</a:t>
            </a:r>
          </a:p>
        </p:txBody>
      </p:sp>
      <p:sp>
        <p:nvSpPr>
          <p:cNvPr id="10" name="Text Placeholder 9"/>
          <p:cNvSpPr>
            <a:spLocks noGrp="1"/>
          </p:cNvSpPr>
          <p:nvPr>
            <p:ph type="body" idx="12"/>
          </p:nvPr>
        </p:nvSpPr>
        <p:spPr/>
        <p:txBody>
          <a:bodyPr/>
          <a:lstStyle/>
          <a:p>
            <a:r>
              <a:rPr lang="en-US" sz="1100" dirty="0"/>
              <a:t>Figure xx: Global WXYZ Market Share and BPS Analysis By Category-B, 2024 &amp; 2034</a:t>
            </a:r>
          </a:p>
        </p:txBody>
      </p:sp>
      <p:sp>
        <p:nvSpPr>
          <p:cNvPr id="12" name="Text Placeholder 11"/>
          <p:cNvSpPr>
            <a:spLocks noGrp="1"/>
          </p:cNvSpPr>
          <p:nvPr>
            <p:ph type="body" idx="14"/>
          </p:nvPr>
        </p:nvSpPr>
        <p:spPr/>
        <p:txBody>
          <a:bodyPr/>
          <a:lstStyle/>
          <a:p>
            <a:r>
              <a:rPr lang="en-US" sz="1100" dirty="0"/>
              <a:t>Figure xx: Global WXYZ Market Y-o-Y Growth Projections By Category-B, 2024 – 2034</a:t>
            </a:r>
          </a:p>
        </p:txBody>
      </p:sp>
      <p:sp>
        <p:nvSpPr>
          <p:cNvPr id="14" name="Text Placeholder 13"/>
          <p:cNvSpPr>
            <a:spLocks noGrp="1"/>
          </p:cNvSpPr>
          <p:nvPr>
            <p:ph type="body" idx="16"/>
          </p:nvPr>
        </p:nvSpPr>
        <p:spPr/>
        <p:txBody>
          <a:bodyPr/>
          <a:lstStyle/>
          <a:p>
            <a:r>
              <a:rPr lang="en-US" dirty="0"/>
              <a:t>Figure xx: Global WXYZ Market Attractiveness Analysis By Category-B, 2024 – 2034</a:t>
            </a:r>
          </a:p>
        </p:txBody>
      </p:sp>
      <p:sp>
        <p:nvSpPr>
          <p:cNvPr id="16" name="TextBox 1"/>
          <p:cNvSpPr txBox="1"/>
          <p:nvPr/>
        </p:nvSpPr>
        <p:spPr>
          <a:xfrm>
            <a:off x="719359" y="1695973"/>
            <a:ext cx="80631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B!Y! </a:t>
            </a:r>
            <a:r>
              <a:rPr lang="en-US" sz="1200" b="1" dirty="0" err="1"/>
              <a:t>Mn</a:t>
            </a:r>
            <a:endParaRPr lang="en-US" sz="1200" b="1" dirty="0"/>
          </a:p>
        </p:txBody>
      </p:sp>
      <p:sp>
        <p:nvSpPr>
          <p:cNvPr id="17" name="TextBox 9"/>
          <p:cNvSpPr txBox="1"/>
          <p:nvPr/>
        </p:nvSpPr>
        <p:spPr>
          <a:xfrm>
            <a:off x="2479917" y="1656252"/>
            <a:ext cx="79028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F!Y! </a:t>
            </a:r>
            <a:r>
              <a:rPr lang="en-US" sz="1200" b="1" dirty="0" err="1"/>
              <a:t>Mn</a:t>
            </a:r>
            <a:endParaRPr lang="en-US" sz="1200" b="1" dirty="0"/>
          </a:p>
        </p:txBody>
      </p:sp>
      <p:sp>
        <p:nvSpPr>
          <p:cNvPr id="13" name="TextBox 1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21" name="Content Placeholder 14"/>
          <p:cNvGraphicFramePr>
            <a:graphicFrameLocks noGrp="1"/>
          </p:cNvGraphicFramePr>
          <p:nvPr>
            <p:ph idx="1"/>
          </p:nvPr>
        </p:nvGraphicFramePr>
        <p:xfrm>
          <a:off x="152400" y="1612900"/>
          <a:ext cx="3768725" cy="459422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2" name="Content Placeholder 19"/>
          <p:cNvGraphicFramePr>
            <a:graphicFrameLocks noGrp="1"/>
          </p:cNvGraphicFramePr>
          <p:nvPr>
            <p:ph idx="15"/>
          </p:nvPr>
        </p:nvGraphicFramePr>
        <p:xfrm>
          <a:off x="8274050" y="1612900"/>
          <a:ext cx="3768725" cy="459422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3" name="Content Placeholder 17"/>
          <p:cNvGraphicFramePr>
            <a:graphicFrameLocks noGrp="1"/>
          </p:cNvGraphicFramePr>
          <p:nvPr>
            <p:ph idx="13"/>
          </p:nvPr>
        </p:nvGraphicFramePr>
        <p:xfrm>
          <a:off x="4213225" y="1612900"/>
          <a:ext cx="3768725" cy="4594225"/>
        </p:xfrm>
        <a:graphic>
          <a:graphicData uri="http://schemas.openxmlformats.org/drawingml/2006/chart">
            <c:chart xmlns:c="http://schemas.openxmlformats.org/drawingml/2006/chart" xmlns:r="http://schemas.openxmlformats.org/officeDocument/2006/relationships" r:id="rId4"/>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118</a:t>
            </a:fld>
            <a:endParaRPr lang="en-GB" dirty="0"/>
          </a:p>
        </p:txBody>
      </p:sp>
    </p:spTree>
    <p:extLst>
      <p:ext uri="{BB962C8B-B14F-4D97-AF65-F5344CB8AC3E}">
        <p14:creationId xmlns:p14="http://schemas.microsoft.com/office/powerpoint/2010/main" val="3716429101"/>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Placeholder 10"/>
          <p:cNvSpPr>
            <a:spLocks noGrp="1"/>
          </p:cNvSpPr>
          <p:nvPr>
            <p:ph type="body" idx="12"/>
          </p:nvPr>
        </p:nvSpPr>
        <p:spPr/>
        <p:txBody>
          <a:bodyPr/>
          <a:lstStyle/>
          <a:p>
            <a:r>
              <a:rPr lang="en-US" sz="1400" dirty="0"/>
              <a:t>Table xx: Global WXYZ Market Size (US$ </a:t>
            </a:r>
            <a:r>
              <a:rPr lang="en-US" sz="1400" dirty="0" err="1"/>
              <a:t>Mn</a:t>
            </a:r>
            <a:r>
              <a:rPr lang="en-US" sz="1400" dirty="0"/>
              <a:t>) and Volume (Tons) Analysis and Forecast By Category-B, 2019 – 2034</a:t>
            </a:r>
          </a:p>
        </p:txBody>
      </p:sp>
      <p:graphicFrame>
        <p:nvGraphicFramePr>
          <p:cNvPr id="12" name="Content Placeholder 9"/>
          <p:cNvGraphicFramePr>
            <a:graphicFrameLocks/>
          </p:cNvGraphicFramePr>
          <p:nvPr/>
        </p:nvGraphicFramePr>
        <p:xfrm>
          <a:off x="152399" y="1674052"/>
          <a:ext cx="11887207" cy="4469976"/>
        </p:xfrm>
        <a:graphic>
          <a:graphicData uri="http://schemas.openxmlformats.org/drawingml/2006/table">
            <a:tbl>
              <a:tblPr firstRow="1" bandRow="1">
                <a:tableStyleId>{5C22544A-7EE6-4342-B048-85BDC9FD1C3A}</a:tableStyleId>
              </a:tblPr>
              <a:tblGrid>
                <a:gridCol w="897220">
                  <a:extLst>
                    <a:ext uri="{9D8B030D-6E8A-4147-A177-3AD203B41FA5}">
                      <a16:colId xmlns:a16="http://schemas.microsoft.com/office/drawing/2014/main" val="20000"/>
                    </a:ext>
                  </a:extLst>
                </a:gridCol>
                <a:gridCol w="360618">
                  <a:extLst>
                    <a:ext uri="{9D8B030D-6E8A-4147-A177-3AD203B41FA5}">
                      <a16:colId xmlns:a16="http://schemas.microsoft.com/office/drawing/2014/main" val="20018"/>
                    </a:ext>
                  </a:extLst>
                </a:gridCol>
                <a:gridCol w="625257">
                  <a:extLst>
                    <a:ext uri="{9D8B030D-6E8A-4147-A177-3AD203B41FA5}">
                      <a16:colId xmlns:a16="http://schemas.microsoft.com/office/drawing/2014/main" val="20001"/>
                    </a:ext>
                  </a:extLst>
                </a:gridCol>
                <a:gridCol w="625257">
                  <a:extLst>
                    <a:ext uri="{9D8B030D-6E8A-4147-A177-3AD203B41FA5}">
                      <a16:colId xmlns:a16="http://schemas.microsoft.com/office/drawing/2014/main" val="20002"/>
                    </a:ext>
                  </a:extLst>
                </a:gridCol>
                <a:gridCol w="625257">
                  <a:extLst>
                    <a:ext uri="{9D8B030D-6E8A-4147-A177-3AD203B41FA5}">
                      <a16:colId xmlns:a16="http://schemas.microsoft.com/office/drawing/2014/main" val="20003"/>
                    </a:ext>
                  </a:extLst>
                </a:gridCol>
                <a:gridCol w="625257">
                  <a:extLst>
                    <a:ext uri="{9D8B030D-6E8A-4147-A177-3AD203B41FA5}">
                      <a16:colId xmlns:a16="http://schemas.microsoft.com/office/drawing/2014/main" val="20004"/>
                    </a:ext>
                  </a:extLst>
                </a:gridCol>
                <a:gridCol w="625257">
                  <a:extLst>
                    <a:ext uri="{9D8B030D-6E8A-4147-A177-3AD203B41FA5}">
                      <a16:colId xmlns:a16="http://schemas.microsoft.com/office/drawing/2014/main" val="20005"/>
                    </a:ext>
                  </a:extLst>
                </a:gridCol>
                <a:gridCol w="625257">
                  <a:extLst>
                    <a:ext uri="{9D8B030D-6E8A-4147-A177-3AD203B41FA5}">
                      <a16:colId xmlns:a16="http://schemas.microsoft.com/office/drawing/2014/main" val="20006"/>
                    </a:ext>
                  </a:extLst>
                </a:gridCol>
                <a:gridCol w="625257">
                  <a:extLst>
                    <a:ext uri="{9D8B030D-6E8A-4147-A177-3AD203B41FA5}">
                      <a16:colId xmlns:a16="http://schemas.microsoft.com/office/drawing/2014/main" val="20007"/>
                    </a:ext>
                  </a:extLst>
                </a:gridCol>
                <a:gridCol w="625257">
                  <a:extLst>
                    <a:ext uri="{9D8B030D-6E8A-4147-A177-3AD203B41FA5}">
                      <a16:colId xmlns:a16="http://schemas.microsoft.com/office/drawing/2014/main" val="20008"/>
                    </a:ext>
                  </a:extLst>
                </a:gridCol>
                <a:gridCol w="625257">
                  <a:extLst>
                    <a:ext uri="{9D8B030D-6E8A-4147-A177-3AD203B41FA5}">
                      <a16:colId xmlns:a16="http://schemas.microsoft.com/office/drawing/2014/main" val="20009"/>
                    </a:ext>
                  </a:extLst>
                </a:gridCol>
                <a:gridCol w="625257">
                  <a:extLst>
                    <a:ext uri="{9D8B030D-6E8A-4147-A177-3AD203B41FA5}">
                      <a16:colId xmlns:a16="http://schemas.microsoft.com/office/drawing/2014/main" val="20010"/>
                    </a:ext>
                  </a:extLst>
                </a:gridCol>
                <a:gridCol w="625257">
                  <a:extLst>
                    <a:ext uri="{9D8B030D-6E8A-4147-A177-3AD203B41FA5}">
                      <a16:colId xmlns:a16="http://schemas.microsoft.com/office/drawing/2014/main" val="20011"/>
                    </a:ext>
                  </a:extLst>
                </a:gridCol>
                <a:gridCol w="625257">
                  <a:extLst>
                    <a:ext uri="{9D8B030D-6E8A-4147-A177-3AD203B41FA5}">
                      <a16:colId xmlns:a16="http://schemas.microsoft.com/office/drawing/2014/main" val="20012"/>
                    </a:ext>
                  </a:extLst>
                </a:gridCol>
                <a:gridCol w="625257">
                  <a:extLst>
                    <a:ext uri="{9D8B030D-6E8A-4147-A177-3AD203B41FA5}">
                      <a16:colId xmlns:a16="http://schemas.microsoft.com/office/drawing/2014/main" val="20013"/>
                    </a:ext>
                  </a:extLst>
                </a:gridCol>
                <a:gridCol w="625257">
                  <a:extLst>
                    <a:ext uri="{9D8B030D-6E8A-4147-A177-3AD203B41FA5}">
                      <a16:colId xmlns:a16="http://schemas.microsoft.com/office/drawing/2014/main" val="20014"/>
                    </a:ext>
                  </a:extLst>
                </a:gridCol>
                <a:gridCol w="625257">
                  <a:extLst>
                    <a:ext uri="{9D8B030D-6E8A-4147-A177-3AD203B41FA5}">
                      <a16:colId xmlns:a16="http://schemas.microsoft.com/office/drawing/2014/main" val="20015"/>
                    </a:ext>
                  </a:extLst>
                </a:gridCol>
                <a:gridCol w="625257">
                  <a:extLst>
                    <a:ext uri="{9D8B030D-6E8A-4147-A177-3AD203B41FA5}">
                      <a16:colId xmlns:a16="http://schemas.microsoft.com/office/drawing/2014/main" val="20016"/>
                    </a:ext>
                  </a:extLst>
                </a:gridCol>
                <a:gridCol w="625257">
                  <a:extLst>
                    <a:ext uri="{9D8B030D-6E8A-4147-A177-3AD203B41FA5}">
                      <a16:colId xmlns:a16="http://schemas.microsoft.com/office/drawing/2014/main" val="20017"/>
                    </a:ext>
                  </a:extLst>
                </a:gridCol>
              </a:tblGrid>
              <a:tr h="642096">
                <a:tc gridSpan="2">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dirty="0"/>
                        <a:t>Category-B</a:t>
                      </a:r>
                      <a:endParaRPr lang="en-US" sz="1100" b="1" i="0" baseline="0" dirty="0">
                        <a:solidFill>
                          <a:schemeClr val="tx1"/>
                        </a:solidFill>
                        <a:latin typeface="+mn-lt"/>
                      </a:endParaRPr>
                    </a:p>
                  </a:txBody>
                  <a:tcPr marR="0" marT="0" marB="0" anchor="ctr"/>
                </a:tc>
                <a:tc hMerge="1">
                  <a:txBody>
                    <a:bodyPr/>
                    <a:lstStyle/>
                    <a:p>
                      <a:pPr algn="ctr"/>
                      <a:endParaRPr lang="en-US" sz="10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139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algn="l" defTabSz="914400" rtl="0" eaLnBrk="1" latinLnBrk="0" hangingPunct="1"/>
                      <a:r>
                        <a:rPr lang="en-US" sz="1100" b="1" i="0" kern="1200" baseline="0" dirty="0">
                          <a:solidFill>
                            <a:prstClr val="black"/>
                          </a:solidFill>
                          <a:latin typeface="Calibri" panose="020F0502020204030204"/>
                          <a:ea typeface="Malgun Gothic" panose="020B0503020000020004" pitchFamily="34" charset="-127"/>
                          <a:cs typeface=""/>
                        </a:rPr>
                        <a:t>Categoryb1</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1394">
                <a:tc vMerge="1">
                  <a:txBody>
                    <a:bodyPr/>
                    <a:lstStyle/>
                    <a:p>
                      <a:endParaRPr lang="en-US" dirty="0"/>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1394">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100" b="1" i="0" kern="1200" baseline="0" dirty="0">
                          <a:solidFill>
                            <a:prstClr val="black"/>
                          </a:solidFill>
                          <a:latin typeface="+mn-lt"/>
                          <a:ea typeface="Malgun Gothic" panose="020B0503020000020004" pitchFamily="34" charset="-127"/>
                          <a:cs typeface=""/>
                        </a:rPr>
                        <a:t>Categoryb2</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1394">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139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algn="l"/>
                      <a:r>
                        <a:rPr lang="en-US" sz="1100" b="1" i="0" baseline="0" dirty="0">
                          <a:latin typeface="+mn-lt"/>
                        </a:rPr>
                        <a:t>Categoryb3</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1394">
                <a:tc vMerge="1">
                  <a:txBody>
                    <a:bodyPr/>
                    <a:lstStyle/>
                    <a:p>
                      <a:endParaRPr lang="en-US"/>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1394">
                <a:tc rowSpan="2">
                  <a:txBody>
                    <a:bodyPr/>
                    <a:lstStyle/>
                    <a:p>
                      <a:pPr algn="l"/>
                      <a:r>
                        <a:rPr lang="en-IN" sz="1100" b="1" i="0" baseline="0" dirty="0">
                          <a:latin typeface="+mn-lt"/>
                        </a:rPr>
                        <a:t>Categoryb4</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1394">
                <a:tc rowSpan="2">
                  <a:txBody>
                    <a:bodyPr/>
                    <a:lstStyle/>
                    <a:p>
                      <a:pPr algn="l"/>
                      <a:r>
                        <a:rPr lang="en-IN" sz="1100" b="1" i="0" baseline="0" dirty="0">
                          <a:latin typeface="+mn-lt"/>
                        </a:rPr>
                        <a:t>Categoryb5</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1394">
                <a:tc rowSpan="2">
                  <a:txBody>
                    <a:bodyPr/>
                    <a:lstStyle/>
                    <a:p>
                      <a:pPr algn="l"/>
                      <a:r>
                        <a:rPr lang="en-IN" sz="1100" b="1" i="0" baseline="0" dirty="0">
                          <a:latin typeface="+mn-lt"/>
                        </a:rPr>
                        <a:t>Categoryb6</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1394">
                <a:tc rowSpan="2">
                  <a:txBody>
                    <a:bodyPr/>
                    <a:lstStyle/>
                    <a:p>
                      <a:pPr algn="l"/>
                      <a:r>
                        <a:rPr lang="en-IN" sz="1100" b="1" i="0" baseline="0" dirty="0">
                          <a:latin typeface="+mn-lt"/>
                        </a:rPr>
                        <a:t>Categoryb7</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1394">
                <a:tc rowSpan="2">
                  <a:txBody>
                    <a:bodyPr/>
                    <a:lstStyle/>
                    <a:p>
                      <a:pPr algn="l"/>
                      <a:r>
                        <a:rPr lang="en-IN" sz="1100" b="1" i="0" baseline="0" dirty="0">
                          <a:latin typeface="+mn-lt"/>
                        </a:rPr>
                        <a:t>Categoryb8</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1394">
                <a:tc rowSpan="2">
                  <a:txBody>
                    <a:bodyPr/>
                    <a:lstStyle/>
                    <a:p>
                      <a:pPr algn="l"/>
                      <a:r>
                        <a:rPr lang="en-IN" sz="1100" b="1" i="0" baseline="0" dirty="0">
                          <a:latin typeface="+mn-lt"/>
                        </a:rPr>
                        <a:t>Categoryb9</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1394">
                <a:tc rowSpan="2">
                  <a:txBody>
                    <a:bodyPr/>
                    <a:lstStyle/>
                    <a:p>
                      <a:pPr algn="l"/>
                      <a:r>
                        <a:rPr lang="en-IN" sz="1100" b="1" i="0" baseline="0" dirty="0">
                          <a:latin typeface="+mn-lt"/>
                        </a:rPr>
                        <a:t>Total</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 H!Y!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1" i="0" u="none" strike="noStrike" dirty="0">
                          <a:solidFill>
                            <a:schemeClr val="tx1"/>
                          </a:solidFill>
                          <a:effectLst/>
                          <a:latin typeface="Calibri" panose="020F0502020204030204" pitchFamily="34" charset="0"/>
                        </a:rPr>
                        <a:t>B!Y!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F!Y!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err="1">
                          <a:solidFill>
                            <a:schemeClr val="tx1"/>
                          </a:solidFill>
                          <a:effectLst/>
                          <a:latin typeface="Calibri" panose="020F0502020204030204" pitchFamily="34" charset="0"/>
                        </a:rPr>
                        <a:t>VaC</a:t>
                      </a:r>
                      <a:r>
                        <a:rPr lang="en-IN" sz="1100" b="1" i="0" u="none" strike="noStrike" dirty="0">
                          <a:solidFill>
                            <a:schemeClr val="tx1"/>
                          </a:solidFill>
                          <a:effectLst/>
                          <a:latin typeface="Calibri" panose="020F0502020204030204" pitchFamily="34" charset="0"/>
                        </a:rPr>
                        <a:t>!%</a:t>
                      </a:r>
                      <a:endParaRPr lang="en-US" sz="1100" b="1" i="0" u="none" strike="noStrike" dirty="0">
                        <a:solidFill>
                          <a:schemeClr val="tx1"/>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4" name="Title 7"/>
          <p:cNvSpPr>
            <a:spLocks noGrp="1"/>
          </p:cNvSpPr>
          <p:nvPr>
            <p:ph type="title"/>
          </p:nvPr>
        </p:nvSpPr>
        <p:spPr/>
        <p:txBody>
          <a:bodyPr/>
          <a:lstStyle/>
          <a:p>
            <a:r>
              <a:rPr lang="en-US" dirty="0"/>
              <a:t>Global WXYZ Market Analysis By Category-B</a:t>
            </a:r>
          </a:p>
        </p:txBody>
      </p:sp>
      <p:sp>
        <p:nvSpPr>
          <p:cNvPr id="2" name="Slide Number Placeholder 1"/>
          <p:cNvSpPr>
            <a:spLocks noGrp="1"/>
          </p:cNvSpPr>
          <p:nvPr>
            <p:ph type="sldNum" sz="quarter" idx="4"/>
          </p:nvPr>
        </p:nvSpPr>
        <p:spPr/>
        <p:txBody>
          <a:bodyPr/>
          <a:lstStyle/>
          <a:p>
            <a:fld id="{4B17068C-EB94-40A3-A5F2-664CDD77FDAC}" type="slidenum">
              <a:rPr lang="en-GB" smtClean="0"/>
              <a:pPr/>
              <a:t>119</a:t>
            </a:fld>
            <a:endParaRPr lang="en-GB" dirty="0"/>
          </a:p>
        </p:txBody>
      </p:sp>
    </p:spTree>
    <p:extLst>
      <p:ext uri="{BB962C8B-B14F-4D97-AF65-F5344CB8AC3E}">
        <p14:creationId xmlns:p14="http://schemas.microsoft.com/office/powerpoint/2010/main" val="353520122"/>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 Placeholder 26"/>
          <p:cNvSpPr>
            <a:spLocks noGrp="1"/>
          </p:cNvSpPr>
          <p:nvPr>
            <p:ph type="body" idx="12"/>
          </p:nvPr>
        </p:nvSpPr>
        <p:spPr/>
        <p:txBody>
          <a:bodyPr/>
          <a:lstStyle/>
          <a:p>
            <a:r>
              <a:rPr lang="en-US" sz="1400" dirty="0"/>
              <a:t>Table xx: Global WXYZ Market Volume (Tons) Analysis and Forecast By Category-B, 2019 – 2034</a:t>
            </a:r>
          </a:p>
        </p:txBody>
      </p:sp>
      <p:graphicFrame>
        <p:nvGraphicFramePr>
          <p:cNvPr id="28" name="Content Placeholder 9"/>
          <p:cNvGraphicFramePr>
            <a:graphicFrameLocks/>
          </p:cNvGraphicFramePr>
          <p:nvPr/>
        </p:nvGraphicFramePr>
        <p:xfrm>
          <a:off x="152390" y="1674051"/>
          <a:ext cx="11887209" cy="4540321"/>
        </p:xfrm>
        <a:graphic>
          <a:graphicData uri="http://schemas.openxmlformats.org/drawingml/2006/table">
            <a:tbl>
              <a:tblPr firstRow="1" bandRow="1">
                <a:tableStyleId>{5C22544A-7EE6-4342-B048-85BDC9FD1C3A}</a:tableStyleId>
              </a:tblPr>
              <a:tblGrid>
                <a:gridCol w="928584">
                  <a:extLst>
                    <a:ext uri="{9D8B030D-6E8A-4147-A177-3AD203B41FA5}">
                      <a16:colId xmlns:a16="http://schemas.microsoft.com/office/drawing/2014/main" val="20000"/>
                    </a:ext>
                  </a:extLst>
                </a:gridCol>
                <a:gridCol w="644625">
                  <a:extLst>
                    <a:ext uri="{9D8B030D-6E8A-4147-A177-3AD203B41FA5}">
                      <a16:colId xmlns:a16="http://schemas.microsoft.com/office/drawing/2014/main" val="20001"/>
                    </a:ext>
                  </a:extLst>
                </a:gridCol>
                <a:gridCol w="644625">
                  <a:extLst>
                    <a:ext uri="{9D8B030D-6E8A-4147-A177-3AD203B41FA5}">
                      <a16:colId xmlns:a16="http://schemas.microsoft.com/office/drawing/2014/main" val="20002"/>
                    </a:ext>
                  </a:extLst>
                </a:gridCol>
                <a:gridCol w="644625">
                  <a:extLst>
                    <a:ext uri="{9D8B030D-6E8A-4147-A177-3AD203B41FA5}">
                      <a16:colId xmlns:a16="http://schemas.microsoft.com/office/drawing/2014/main" val="20003"/>
                    </a:ext>
                  </a:extLst>
                </a:gridCol>
                <a:gridCol w="644625">
                  <a:extLst>
                    <a:ext uri="{9D8B030D-6E8A-4147-A177-3AD203B41FA5}">
                      <a16:colId xmlns:a16="http://schemas.microsoft.com/office/drawing/2014/main" val="20004"/>
                    </a:ext>
                  </a:extLst>
                </a:gridCol>
                <a:gridCol w="644625">
                  <a:extLst>
                    <a:ext uri="{9D8B030D-6E8A-4147-A177-3AD203B41FA5}">
                      <a16:colId xmlns:a16="http://schemas.microsoft.com/office/drawing/2014/main" val="20005"/>
                    </a:ext>
                  </a:extLst>
                </a:gridCol>
                <a:gridCol w="644625">
                  <a:extLst>
                    <a:ext uri="{9D8B030D-6E8A-4147-A177-3AD203B41FA5}">
                      <a16:colId xmlns:a16="http://schemas.microsoft.com/office/drawing/2014/main" val="20006"/>
                    </a:ext>
                  </a:extLst>
                </a:gridCol>
                <a:gridCol w="644625">
                  <a:extLst>
                    <a:ext uri="{9D8B030D-6E8A-4147-A177-3AD203B41FA5}">
                      <a16:colId xmlns:a16="http://schemas.microsoft.com/office/drawing/2014/main" val="20007"/>
                    </a:ext>
                  </a:extLst>
                </a:gridCol>
                <a:gridCol w="644625">
                  <a:extLst>
                    <a:ext uri="{9D8B030D-6E8A-4147-A177-3AD203B41FA5}">
                      <a16:colId xmlns:a16="http://schemas.microsoft.com/office/drawing/2014/main" val="20008"/>
                    </a:ext>
                  </a:extLst>
                </a:gridCol>
                <a:gridCol w="644625">
                  <a:extLst>
                    <a:ext uri="{9D8B030D-6E8A-4147-A177-3AD203B41FA5}">
                      <a16:colId xmlns:a16="http://schemas.microsoft.com/office/drawing/2014/main" val="20009"/>
                    </a:ext>
                  </a:extLst>
                </a:gridCol>
                <a:gridCol w="644625">
                  <a:extLst>
                    <a:ext uri="{9D8B030D-6E8A-4147-A177-3AD203B41FA5}">
                      <a16:colId xmlns:a16="http://schemas.microsoft.com/office/drawing/2014/main" val="20010"/>
                    </a:ext>
                  </a:extLst>
                </a:gridCol>
                <a:gridCol w="644625">
                  <a:extLst>
                    <a:ext uri="{9D8B030D-6E8A-4147-A177-3AD203B41FA5}">
                      <a16:colId xmlns:a16="http://schemas.microsoft.com/office/drawing/2014/main" val="20011"/>
                    </a:ext>
                  </a:extLst>
                </a:gridCol>
                <a:gridCol w="644625">
                  <a:extLst>
                    <a:ext uri="{9D8B030D-6E8A-4147-A177-3AD203B41FA5}">
                      <a16:colId xmlns:a16="http://schemas.microsoft.com/office/drawing/2014/main" val="20012"/>
                    </a:ext>
                  </a:extLst>
                </a:gridCol>
                <a:gridCol w="644625">
                  <a:extLst>
                    <a:ext uri="{9D8B030D-6E8A-4147-A177-3AD203B41FA5}">
                      <a16:colId xmlns:a16="http://schemas.microsoft.com/office/drawing/2014/main" val="20013"/>
                    </a:ext>
                  </a:extLst>
                </a:gridCol>
                <a:gridCol w="644625">
                  <a:extLst>
                    <a:ext uri="{9D8B030D-6E8A-4147-A177-3AD203B41FA5}">
                      <a16:colId xmlns:a16="http://schemas.microsoft.com/office/drawing/2014/main" val="20014"/>
                    </a:ext>
                  </a:extLst>
                </a:gridCol>
                <a:gridCol w="644625">
                  <a:extLst>
                    <a:ext uri="{9D8B030D-6E8A-4147-A177-3AD203B41FA5}">
                      <a16:colId xmlns:a16="http://schemas.microsoft.com/office/drawing/2014/main" val="20015"/>
                    </a:ext>
                  </a:extLst>
                </a:gridCol>
                <a:gridCol w="644625">
                  <a:extLst>
                    <a:ext uri="{9D8B030D-6E8A-4147-A177-3AD203B41FA5}">
                      <a16:colId xmlns:a16="http://schemas.microsoft.com/office/drawing/2014/main" val="20016"/>
                    </a:ext>
                  </a:extLst>
                </a:gridCol>
                <a:gridCol w="644625">
                  <a:extLst>
                    <a:ext uri="{9D8B030D-6E8A-4147-A177-3AD203B41FA5}">
                      <a16:colId xmlns:a16="http://schemas.microsoft.com/office/drawing/2014/main" val="20017"/>
                    </a:ext>
                  </a:extLst>
                </a:gridCol>
              </a:tblGrid>
              <a:tr h="652201">
                <a:tc>
                  <a:txBody>
                    <a:bodyPr/>
                    <a:lstStyle/>
                    <a:p>
                      <a:pPr algn="ctr"/>
                      <a:r>
                        <a:rPr lang="en-IN" sz="1100" i="0" baseline="0" dirty="0">
                          <a:solidFill>
                            <a:schemeClr val="bg1"/>
                          </a:solidFill>
                          <a:latin typeface="+mn-lt"/>
                        </a:rPr>
                        <a:t>Category-B</a:t>
                      </a:r>
                      <a:endParaRPr lang="en-US" sz="1100" i="0" baseline="0" dirty="0">
                        <a:solidFill>
                          <a:schemeClr val="bg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Categoryb10</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Categoryb11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Categoryb12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Categoryb13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Categoryb14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Categoryb15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Categoryb16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Categoryb17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Categoryb18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Categoryb19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4406">
                <a:tc>
                  <a:txBody>
                    <a:bodyPr/>
                    <a:lstStyle/>
                    <a:p>
                      <a:pPr algn="ctr" fontAlgn="ctr"/>
                      <a:r>
                        <a:rPr lang="en-IN" sz="1100" b="1" i="0" u="none" strike="noStrike" dirty="0">
                          <a:solidFill>
                            <a:srgbClr val="000000"/>
                          </a:solidFill>
                          <a:effectLst/>
                          <a:latin typeface="Calibri" panose="020F0502020204030204" pitchFamily="34" charset="0"/>
                        </a:rPr>
                        <a:t>Total</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8" name="Title 7"/>
          <p:cNvSpPr>
            <a:spLocks noGrp="1"/>
          </p:cNvSpPr>
          <p:nvPr>
            <p:ph type="title"/>
          </p:nvPr>
        </p:nvSpPr>
        <p:spPr/>
        <p:txBody>
          <a:bodyPr/>
          <a:lstStyle/>
          <a:p>
            <a:r>
              <a:rPr lang="en-US" dirty="0"/>
              <a:t>Global WXYZ Market Analysis By Category-B</a:t>
            </a:r>
          </a:p>
        </p:txBody>
      </p:sp>
      <p:sp>
        <p:nvSpPr>
          <p:cNvPr id="2" name="Slide Number Placeholder 1"/>
          <p:cNvSpPr>
            <a:spLocks noGrp="1"/>
          </p:cNvSpPr>
          <p:nvPr>
            <p:ph type="sldNum" sz="quarter" idx="4"/>
          </p:nvPr>
        </p:nvSpPr>
        <p:spPr/>
        <p:txBody>
          <a:bodyPr/>
          <a:lstStyle/>
          <a:p>
            <a:fld id="{4B17068C-EB94-40A3-A5F2-664CDD77FDAC}" type="slidenum">
              <a:rPr lang="en-GB" smtClean="0"/>
              <a:pPr/>
              <a:t>120</a:t>
            </a:fld>
            <a:endParaRPr lang="en-GB" dirty="0"/>
          </a:p>
        </p:txBody>
      </p:sp>
    </p:spTree>
    <p:extLst>
      <p:ext uri="{BB962C8B-B14F-4D97-AF65-F5344CB8AC3E}">
        <p14:creationId xmlns:p14="http://schemas.microsoft.com/office/powerpoint/2010/main" val="1382202798"/>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idx="12"/>
          </p:nvPr>
        </p:nvSpPr>
        <p:spPr/>
        <p:txBody>
          <a:bodyPr/>
          <a:lstStyle/>
          <a:p>
            <a:r>
              <a:rPr lang="en-US" sz="1400" dirty="0"/>
              <a:t>Table xx: Global WXYZ Market Size(US$ </a:t>
            </a:r>
            <a:r>
              <a:rPr lang="en-US" sz="1400" dirty="0" err="1"/>
              <a:t>Mn</a:t>
            </a:r>
            <a:r>
              <a:rPr lang="en-US" sz="1400" dirty="0"/>
              <a:t>) Analysis and Forecast By Category-B, 2019 – 2034</a:t>
            </a:r>
          </a:p>
        </p:txBody>
      </p:sp>
      <p:graphicFrame>
        <p:nvGraphicFramePr>
          <p:cNvPr id="5" name="Content Placeholder 9"/>
          <p:cNvGraphicFramePr>
            <a:graphicFrameLocks/>
          </p:cNvGraphicFramePr>
          <p:nvPr/>
        </p:nvGraphicFramePr>
        <p:xfrm>
          <a:off x="154831" y="1667646"/>
          <a:ext cx="11887209" cy="4484037"/>
        </p:xfrm>
        <a:graphic>
          <a:graphicData uri="http://schemas.openxmlformats.org/drawingml/2006/table">
            <a:tbl>
              <a:tblPr firstRow="1" bandRow="1">
                <a:tableStyleId>{5C22544A-7EE6-4342-B048-85BDC9FD1C3A}</a:tableStyleId>
              </a:tblPr>
              <a:tblGrid>
                <a:gridCol w="928584">
                  <a:extLst>
                    <a:ext uri="{9D8B030D-6E8A-4147-A177-3AD203B41FA5}">
                      <a16:colId xmlns:a16="http://schemas.microsoft.com/office/drawing/2014/main" val="20000"/>
                    </a:ext>
                  </a:extLst>
                </a:gridCol>
                <a:gridCol w="644625">
                  <a:extLst>
                    <a:ext uri="{9D8B030D-6E8A-4147-A177-3AD203B41FA5}">
                      <a16:colId xmlns:a16="http://schemas.microsoft.com/office/drawing/2014/main" val="20001"/>
                    </a:ext>
                  </a:extLst>
                </a:gridCol>
                <a:gridCol w="644625">
                  <a:extLst>
                    <a:ext uri="{9D8B030D-6E8A-4147-A177-3AD203B41FA5}">
                      <a16:colId xmlns:a16="http://schemas.microsoft.com/office/drawing/2014/main" val="20002"/>
                    </a:ext>
                  </a:extLst>
                </a:gridCol>
                <a:gridCol w="644625">
                  <a:extLst>
                    <a:ext uri="{9D8B030D-6E8A-4147-A177-3AD203B41FA5}">
                      <a16:colId xmlns:a16="http://schemas.microsoft.com/office/drawing/2014/main" val="20003"/>
                    </a:ext>
                  </a:extLst>
                </a:gridCol>
                <a:gridCol w="644625">
                  <a:extLst>
                    <a:ext uri="{9D8B030D-6E8A-4147-A177-3AD203B41FA5}">
                      <a16:colId xmlns:a16="http://schemas.microsoft.com/office/drawing/2014/main" val="20004"/>
                    </a:ext>
                  </a:extLst>
                </a:gridCol>
                <a:gridCol w="644625">
                  <a:extLst>
                    <a:ext uri="{9D8B030D-6E8A-4147-A177-3AD203B41FA5}">
                      <a16:colId xmlns:a16="http://schemas.microsoft.com/office/drawing/2014/main" val="20005"/>
                    </a:ext>
                  </a:extLst>
                </a:gridCol>
                <a:gridCol w="644625">
                  <a:extLst>
                    <a:ext uri="{9D8B030D-6E8A-4147-A177-3AD203B41FA5}">
                      <a16:colId xmlns:a16="http://schemas.microsoft.com/office/drawing/2014/main" val="20006"/>
                    </a:ext>
                  </a:extLst>
                </a:gridCol>
                <a:gridCol w="644625">
                  <a:extLst>
                    <a:ext uri="{9D8B030D-6E8A-4147-A177-3AD203B41FA5}">
                      <a16:colId xmlns:a16="http://schemas.microsoft.com/office/drawing/2014/main" val="20007"/>
                    </a:ext>
                  </a:extLst>
                </a:gridCol>
                <a:gridCol w="644625">
                  <a:extLst>
                    <a:ext uri="{9D8B030D-6E8A-4147-A177-3AD203B41FA5}">
                      <a16:colId xmlns:a16="http://schemas.microsoft.com/office/drawing/2014/main" val="20008"/>
                    </a:ext>
                  </a:extLst>
                </a:gridCol>
                <a:gridCol w="644625">
                  <a:extLst>
                    <a:ext uri="{9D8B030D-6E8A-4147-A177-3AD203B41FA5}">
                      <a16:colId xmlns:a16="http://schemas.microsoft.com/office/drawing/2014/main" val="20009"/>
                    </a:ext>
                  </a:extLst>
                </a:gridCol>
                <a:gridCol w="644625">
                  <a:extLst>
                    <a:ext uri="{9D8B030D-6E8A-4147-A177-3AD203B41FA5}">
                      <a16:colId xmlns:a16="http://schemas.microsoft.com/office/drawing/2014/main" val="20010"/>
                    </a:ext>
                  </a:extLst>
                </a:gridCol>
                <a:gridCol w="644625">
                  <a:extLst>
                    <a:ext uri="{9D8B030D-6E8A-4147-A177-3AD203B41FA5}">
                      <a16:colId xmlns:a16="http://schemas.microsoft.com/office/drawing/2014/main" val="20011"/>
                    </a:ext>
                  </a:extLst>
                </a:gridCol>
                <a:gridCol w="644625">
                  <a:extLst>
                    <a:ext uri="{9D8B030D-6E8A-4147-A177-3AD203B41FA5}">
                      <a16:colId xmlns:a16="http://schemas.microsoft.com/office/drawing/2014/main" val="20012"/>
                    </a:ext>
                  </a:extLst>
                </a:gridCol>
                <a:gridCol w="644625">
                  <a:extLst>
                    <a:ext uri="{9D8B030D-6E8A-4147-A177-3AD203B41FA5}">
                      <a16:colId xmlns:a16="http://schemas.microsoft.com/office/drawing/2014/main" val="20013"/>
                    </a:ext>
                  </a:extLst>
                </a:gridCol>
                <a:gridCol w="644625">
                  <a:extLst>
                    <a:ext uri="{9D8B030D-6E8A-4147-A177-3AD203B41FA5}">
                      <a16:colId xmlns:a16="http://schemas.microsoft.com/office/drawing/2014/main" val="20014"/>
                    </a:ext>
                  </a:extLst>
                </a:gridCol>
                <a:gridCol w="644625">
                  <a:extLst>
                    <a:ext uri="{9D8B030D-6E8A-4147-A177-3AD203B41FA5}">
                      <a16:colId xmlns:a16="http://schemas.microsoft.com/office/drawing/2014/main" val="20015"/>
                    </a:ext>
                  </a:extLst>
                </a:gridCol>
                <a:gridCol w="644625">
                  <a:extLst>
                    <a:ext uri="{9D8B030D-6E8A-4147-A177-3AD203B41FA5}">
                      <a16:colId xmlns:a16="http://schemas.microsoft.com/office/drawing/2014/main" val="20016"/>
                    </a:ext>
                  </a:extLst>
                </a:gridCol>
                <a:gridCol w="644625">
                  <a:extLst>
                    <a:ext uri="{9D8B030D-6E8A-4147-A177-3AD203B41FA5}">
                      <a16:colId xmlns:a16="http://schemas.microsoft.com/office/drawing/2014/main" val="20017"/>
                    </a:ext>
                  </a:extLst>
                </a:gridCol>
              </a:tblGrid>
              <a:tr h="644117">
                <a:tc>
                  <a:txBody>
                    <a:bodyPr/>
                    <a:lstStyle/>
                    <a:p>
                      <a:pPr algn="ctr"/>
                      <a:r>
                        <a:rPr lang="en-IN" sz="1100" i="0" baseline="0" dirty="0">
                          <a:solidFill>
                            <a:schemeClr val="bg1"/>
                          </a:solidFill>
                          <a:latin typeface="+mn-lt"/>
                        </a:rPr>
                        <a:t>Category-B</a:t>
                      </a:r>
                      <a:endParaRPr lang="en-US" sz="1100" i="0" baseline="0" dirty="0">
                        <a:solidFill>
                          <a:schemeClr val="bg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Categoryb10</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Categoryb11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Categoryb12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Categoryb13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Categoryb14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Categoryb15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Categoryb16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Categoryb17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Categoryb18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Categoryb19</a:t>
                      </a:r>
                    </a:p>
                  </a:txBody>
                  <a:tcPr marL="9525" marR="9525" marT="9525" marB="0" anchor="b"/>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1996">
                <a:tc>
                  <a:txBody>
                    <a:bodyPr/>
                    <a:lstStyle/>
                    <a:p>
                      <a:pPr algn="ctr" fontAlgn="ctr"/>
                      <a:r>
                        <a:rPr lang="en-IN" sz="1100" b="1" i="0" u="none" strike="noStrike" dirty="0">
                          <a:solidFill>
                            <a:srgbClr val="000000"/>
                          </a:solidFill>
                          <a:effectLst/>
                          <a:latin typeface="Calibri" panose="020F0502020204030204" pitchFamily="34" charset="0"/>
                        </a:rPr>
                        <a:t>Total</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 H!Y!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1" i="0" u="none" strike="noStrike" dirty="0">
                          <a:solidFill>
                            <a:schemeClr val="tx1"/>
                          </a:solidFill>
                          <a:effectLst/>
                          <a:latin typeface="Calibri" panose="020F0502020204030204" pitchFamily="34" charset="0"/>
                        </a:rPr>
                        <a:t>B!Y!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F!Y!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err="1">
                          <a:solidFill>
                            <a:schemeClr val="tx1"/>
                          </a:solidFill>
                          <a:effectLst/>
                          <a:latin typeface="Calibri" panose="020F0502020204030204" pitchFamily="34" charset="0"/>
                        </a:rPr>
                        <a:t>VaC</a:t>
                      </a:r>
                      <a:r>
                        <a:rPr lang="en-IN" sz="1100" b="1" i="0" u="none" strike="noStrike" dirty="0">
                          <a:solidFill>
                            <a:schemeClr val="tx1"/>
                          </a:solidFill>
                          <a:effectLst/>
                          <a:latin typeface="Calibri" panose="020F0502020204030204" pitchFamily="34" charset="0"/>
                        </a:rPr>
                        <a:t>!%</a:t>
                      </a:r>
                      <a:endParaRPr lang="en-US" sz="1100" b="1" i="0" u="none" strike="noStrike" dirty="0">
                        <a:solidFill>
                          <a:schemeClr val="tx1"/>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8" name="Title 7"/>
          <p:cNvSpPr>
            <a:spLocks noGrp="1"/>
          </p:cNvSpPr>
          <p:nvPr>
            <p:ph type="title"/>
          </p:nvPr>
        </p:nvSpPr>
        <p:spPr/>
        <p:txBody>
          <a:bodyPr/>
          <a:lstStyle/>
          <a:p>
            <a:r>
              <a:rPr lang="en-US" dirty="0"/>
              <a:t>Global WXYZ Market Analysis By Category-B</a:t>
            </a:r>
          </a:p>
        </p:txBody>
      </p:sp>
      <p:sp>
        <p:nvSpPr>
          <p:cNvPr id="2" name="Slide Number Placeholder 1"/>
          <p:cNvSpPr>
            <a:spLocks noGrp="1"/>
          </p:cNvSpPr>
          <p:nvPr>
            <p:ph type="sldNum" sz="quarter" idx="4"/>
          </p:nvPr>
        </p:nvSpPr>
        <p:spPr/>
        <p:txBody>
          <a:bodyPr/>
          <a:lstStyle/>
          <a:p>
            <a:fld id="{4B17068C-EB94-40A3-A5F2-664CDD77FDAC}" type="slidenum">
              <a:rPr lang="en-GB" smtClean="0"/>
              <a:pPr/>
              <a:t>121</a:t>
            </a:fld>
            <a:endParaRPr lang="en-GB" dirty="0"/>
          </a:p>
        </p:txBody>
      </p:sp>
    </p:spTree>
    <p:extLst>
      <p:ext uri="{BB962C8B-B14F-4D97-AF65-F5344CB8AC3E}">
        <p14:creationId xmlns:p14="http://schemas.microsoft.com/office/powerpoint/2010/main" val="3135999685"/>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Categoryb1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Categoryb2 Segment, 2019 – 2034</a:t>
            </a:r>
          </a:p>
        </p:txBody>
      </p:sp>
      <p:sp>
        <p:nvSpPr>
          <p:cNvPr id="10" name="Content Placeholder 9"/>
          <p:cNvSpPr>
            <a:spLocks noGrp="1"/>
          </p:cNvSpPr>
          <p:nvPr>
            <p:ph idx="17"/>
          </p:nvPr>
        </p:nvSpPr>
        <p:spPr/>
        <p:txBody>
          <a:bodyPr/>
          <a:lstStyle/>
          <a:p>
            <a:pPr>
              <a:lnSpc>
                <a:spcPct val="100000"/>
              </a:lnSpc>
            </a:pPr>
            <a:r>
              <a:rPr lang="en-US" dirty="0"/>
              <a:t>Categoryb1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Categoryb2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Categoryb1</a:t>
            </a:r>
          </a:p>
        </p:txBody>
      </p:sp>
      <p:sp>
        <p:nvSpPr>
          <p:cNvPr id="15" name="Text Placeholder 14"/>
          <p:cNvSpPr>
            <a:spLocks noGrp="1"/>
          </p:cNvSpPr>
          <p:nvPr>
            <p:ph type="body" sz="quarter" idx="22"/>
          </p:nvPr>
        </p:nvSpPr>
        <p:spPr/>
        <p:txBody>
          <a:bodyPr/>
          <a:lstStyle/>
          <a:p>
            <a:r>
              <a:rPr lang="en-US" dirty="0"/>
              <a:t>Categoryb2</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Category-B</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122</a:t>
            </a:fld>
            <a:endParaRPr lang="en-GB" dirty="0"/>
          </a:p>
        </p:txBody>
      </p:sp>
    </p:spTree>
    <p:extLst>
      <p:ext uri="{BB962C8B-B14F-4D97-AF65-F5344CB8AC3E}">
        <p14:creationId xmlns:p14="http://schemas.microsoft.com/office/powerpoint/2010/main" val="1134878054"/>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Categoryb3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Categoryb4 Segment, 2019 – 2034</a:t>
            </a:r>
          </a:p>
        </p:txBody>
      </p:sp>
      <p:sp>
        <p:nvSpPr>
          <p:cNvPr id="10" name="Content Placeholder 9"/>
          <p:cNvSpPr>
            <a:spLocks noGrp="1"/>
          </p:cNvSpPr>
          <p:nvPr>
            <p:ph idx="17"/>
          </p:nvPr>
        </p:nvSpPr>
        <p:spPr/>
        <p:txBody>
          <a:bodyPr/>
          <a:lstStyle/>
          <a:p>
            <a:pPr>
              <a:lnSpc>
                <a:spcPct val="100000"/>
              </a:lnSpc>
            </a:pPr>
            <a:r>
              <a:rPr lang="en-US" dirty="0"/>
              <a:t>Categoryb3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Categoryb4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Categoryb3</a:t>
            </a:r>
          </a:p>
        </p:txBody>
      </p:sp>
      <p:sp>
        <p:nvSpPr>
          <p:cNvPr id="15" name="Text Placeholder 14"/>
          <p:cNvSpPr>
            <a:spLocks noGrp="1"/>
          </p:cNvSpPr>
          <p:nvPr>
            <p:ph type="body" sz="quarter" idx="22"/>
          </p:nvPr>
        </p:nvSpPr>
        <p:spPr/>
        <p:txBody>
          <a:bodyPr/>
          <a:lstStyle/>
          <a:p>
            <a:r>
              <a:rPr lang="en-US" dirty="0"/>
              <a:t>Categoryb4</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Category-B</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123</a:t>
            </a:fld>
            <a:endParaRPr lang="en-GB" dirty="0"/>
          </a:p>
        </p:txBody>
      </p:sp>
    </p:spTree>
    <p:extLst>
      <p:ext uri="{BB962C8B-B14F-4D97-AF65-F5344CB8AC3E}">
        <p14:creationId xmlns:p14="http://schemas.microsoft.com/office/powerpoint/2010/main" val="2279326575"/>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Categoryb5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Categoryb6 Segment, 2019 – 2034</a:t>
            </a:r>
          </a:p>
        </p:txBody>
      </p:sp>
      <p:sp>
        <p:nvSpPr>
          <p:cNvPr id="10" name="Content Placeholder 9"/>
          <p:cNvSpPr>
            <a:spLocks noGrp="1"/>
          </p:cNvSpPr>
          <p:nvPr>
            <p:ph idx="17"/>
          </p:nvPr>
        </p:nvSpPr>
        <p:spPr/>
        <p:txBody>
          <a:bodyPr/>
          <a:lstStyle/>
          <a:p>
            <a:pPr>
              <a:lnSpc>
                <a:spcPct val="100000"/>
              </a:lnSpc>
            </a:pPr>
            <a:r>
              <a:rPr lang="en-US" dirty="0"/>
              <a:t>Categoryb5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Categoryb6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Categoryb5</a:t>
            </a:r>
          </a:p>
        </p:txBody>
      </p:sp>
      <p:sp>
        <p:nvSpPr>
          <p:cNvPr id="15" name="Text Placeholder 14"/>
          <p:cNvSpPr>
            <a:spLocks noGrp="1"/>
          </p:cNvSpPr>
          <p:nvPr>
            <p:ph type="body" sz="quarter" idx="22"/>
          </p:nvPr>
        </p:nvSpPr>
        <p:spPr/>
        <p:txBody>
          <a:bodyPr/>
          <a:lstStyle/>
          <a:p>
            <a:r>
              <a:rPr lang="en-US" dirty="0"/>
              <a:t>Categoryb6</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Category-B</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124</a:t>
            </a:fld>
            <a:endParaRPr lang="en-GB" dirty="0"/>
          </a:p>
        </p:txBody>
      </p:sp>
    </p:spTree>
    <p:extLst>
      <p:ext uri="{BB962C8B-B14F-4D97-AF65-F5344CB8AC3E}">
        <p14:creationId xmlns:p14="http://schemas.microsoft.com/office/powerpoint/2010/main" val="739327535"/>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Categoryb7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Categoryb8 Segment, 2019 – 2034</a:t>
            </a:r>
          </a:p>
        </p:txBody>
      </p:sp>
      <p:sp>
        <p:nvSpPr>
          <p:cNvPr id="10" name="Content Placeholder 9"/>
          <p:cNvSpPr>
            <a:spLocks noGrp="1"/>
          </p:cNvSpPr>
          <p:nvPr>
            <p:ph idx="17"/>
          </p:nvPr>
        </p:nvSpPr>
        <p:spPr/>
        <p:txBody>
          <a:bodyPr/>
          <a:lstStyle/>
          <a:p>
            <a:pPr>
              <a:lnSpc>
                <a:spcPct val="100000"/>
              </a:lnSpc>
            </a:pPr>
            <a:r>
              <a:rPr lang="en-US" dirty="0"/>
              <a:t>Categoryb7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Categoryb8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Categoryb7</a:t>
            </a:r>
          </a:p>
        </p:txBody>
      </p:sp>
      <p:sp>
        <p:nvSpPr>
          <p:cNvPr id="15" name="Text Placeholder 14"/>
          <p:cNvSpPr>
            <a:spLocks noGrp="1"/>
          </p:cNvSpPr>
          <p:nvPr>
            <p:ph type="body" sz="quarter" idx="22"/>
          </p:nvPr>
        </p:nvSpPr>
        <p:spPr/>
        <p:txBody>
          <a:bodyPr/>
          <a:lstStyle/>
          <a:p>
            <a:r>
              <a:rPr lang="en-US" dirty="0"/>
              <a:t>Categoryb8</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Category-B</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125</a:t>
            </a:fld>
            <a:endParaRPr lang="en-GB" dirty="0"/>
          </a:p>
        </p:txBody>
      </p:sp>
    </p:spTree>
    <p:extLst>
      <p:ext uri="{BB962C8B-B14F-4D97-AF65-F5344CB8AC3E}">
        <p14:creationId xmlns:p14="http://schemas.microsoft.com/office/powerpoint/2010/main" val="1413308986"/>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126</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126</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Global WXYZ Market Analysis 2019 – 2023 and Forecast 2024 – 2034, By Category-C</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126</a:t>
            </a:r>
          </a:p>
        </p:txBody>
      </p:sp>
    </p:spTree>
    <p:extLst>
      <p:ext uri="{BB962C8B-B14F-4D97-AF65-F5344CB8AC3E}">
        <p14:creationId xmlns:p14="http://schemas.microsoft.com/office/powerpoint/2010/main" val="3142064850"/>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Category-C</a:t>
            </a:r>
            <a:endParaRPr lang="en-GB" dirty="0"/>
          </a:p>
        </p:txBody>
      </p:sp>
      <p:sp>
        <p:nvSpPr>
          <p:cNvPr id="46"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47"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sp>
        <p:nvSpPr>
          <p:cNvPr id="54" name="TextBox 53"/>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cxnSp>
        <p:nvCxnSpPr>
          <p:cNvPr id="55" name="Elbow Connector 54"/>
          <p:cNvCxnSpPr>
            <a:stCxn id="57" idx="2"/>
            <a:endCxn id="74" idx="0"/>
          </p:cNvCxnSpPr>
          <p:nvPr/>
        </p:nvCxnSpPr>
        <p:spPr>
          <a:xfrm rot="5400000">
            <a:off x="3606422" y="74304"/>
            <a:ext cx="285750" cy="300372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6" name="Elbow Connector 55"/>
          <p:cNvCxnSpPr>
            <a:stCxn id="57" idx="2"/>
            <a:endCxn id="81" idx="0"/>
          </p:cNvCxnSpPr>
          <p:nvPr/>
        </p:nvCxnSpPr>
        <p:spPr>
          <a:xfrm rot="16200000" flipH="1">
            <a:off x="6565974" y="118479"/>
            <a:ext cx="285750" cy="2915377"/>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7" name="Rounded Rectangle 56"/>
          <p:cNvSpPr/>
          <p:nvPr/>
        </p:nvSpPr>
        <p:spPr>
          <a:xfrm>
            <a:off x="3484252" y="1090076"/>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Category-C</a:t>
            </a:r>
          </a:p>
        </p:txBody>
      </p:sp>
      <p:sp>
        <p:nvSpPr>
          <p:cNvPr id="58" name="Rounded Rectangle 5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9" name="Rounded Rectangle 5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60" name="Straight Connector 59"/>
          <p:cNvCxnSpPr/>
          <p:nvPr/>
        </p:nvCxnSpPr>
        <p:spPr>
          <a:xfrm>
            <a:off x="896325" y="2507208"/>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896325" y="3696853"/>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896325" y="4532507"/>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896325" y="5722154"/>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74" name="Rounded Rectangle 73"/>
          <p:cNvSpPr/>
          <p:nvPr/>
        </p:nvSpPr>
        <p:spPr>
          <a:xfrm>
            <a:off x="750415" y="1719043"/>
            <a:ext cx="2994033"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Categoryc1</a:t>
            </a:r>
          </a:p>
        </p:txBody>
      </p:sp>
      <p:sp>
        <p:nvSpPr>
          <p:cNvPr id="75" name="Rounded Rectangle 74"/>
          <p:cNvSpPr/>
          <p:nvPr/>
        </p:nvSpPr>
        <p:spPr>
          <a:xfrm>
            <a:off x="857782" y="2272179"/>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76" name="Rounded Rectangle 75"/>
          <p:cNvSpPr/>
          <p:nvPr/>
        </p:nvSpPr>
        <p:spPr>
          <a:xfrm>
            <a:off x="857782" y="3461824"/>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77" name="Rounded Rectangle 76"/>
          <p:cNvSpPr/>
          <p:nvPr/>
        </p:nvSpPr>
        <p:spPr>
          <a:xfrm>
            <a:off x="857782" y="4297478"/>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78" name="Rounded Rectangle 77"/>
          <p:cNvSpPr/>
          <p:nvPr/>
        </p:nvSpPr>
        <p:spPr>
          <a:xfrm>
            <a:off x="857782" y="5487125"/>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79" name="Oval 78"/>
          <p:cNvSpPr/>
          <p:nvPr/>
        </p:nvSpPr>
        <p:spPr>
          <a:xfrm>
            <a:off x="1121175" y="28495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0" name="Oval 79"/>
          <p:cNvSpPr/>
          <p:nvPr/>
        </p:nvSpPr>
        <p:spPr>
          <a:xfrm>
            <a:off x="1121175" y="48748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1" name="Rounded Rectangle 80"/>
          <p:cNvSpPr/>
          <p:nvPr/>
        </p:nvSpPr>
        <p:spPr>
          <a:xfrm>
            <a:off x="6671255" y="1719043"/>
            <a:ext cx="2990565"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Categoryc2</a:t>
            </a:r>
          </a:p>
        </p:txBody>
      </p:sp>
      <p:sp>
        <p:nvSpPr>
          <p:cNvPr id="82" name="Rounded Rectangle 81"/>
          <p:cNvSpPr/>
          <p:nvPr/>
        </p:nvSpPr>
        <p:spPr>
          <a:xfrm>
            <a:off x="6776888" y="2272179"/>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3" name="Rounded Rectangle 82"/>
          <p:cNvSpPr/>
          <p:nvPr/>
        </p:nvSpPr>
        <p:spPr>
          <a:xfrm>
            <a:off x="6776888" y="3461824"/>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4" name="Rounded Rectangle 83"/>
          <p:cNvSpPr/>
          <p:nvPr/>
        </p:nvSpPr>
        <p:spPr>
          <a:xfrm>
            <a:off x="6776888" y="4297478"/>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85" name="Rounded Rectangle 84"/>
          <p:cNvSpPr/>
          <p:nvPr/>
        </p:nvSpPr>
        <p:spPr>
          <a:xfrm>
            <a:off x="6776888" y="5487125"/>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86" name="Oval 85"/>
          <p:cNvSpPr/>
          <p:nvPr/>
        </p:nvSpPr>
        <p:spPr>
          <a:xfrm>
            <a:off x="7040281" y="28495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7" name="Oval 86"/>
          <p:cNvSpPr/>
          <p:nvPr/>
        </p:nvSpPr>
        <p:spPr>
          <a:xfrm>
            <a:off x="7040281" y="48748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 name="Slide Number Placeholder 1"/>
          <p:cNvSpPr>
            <a:spLocks noGrp="1"/>
          </p:cNvSpPr>
          <p:nvPr>
            <p:ph type="sldNum" sz="quarter" idx="4"/>
          </p:nvPr>
        </p:nvSpPr>
        <p:spPr/>
        <p:txBody>
          <a:bodyPr/>
          <a:lstStyle/>
          <a:p>
            <a:fld id="{4B17068C-EB94-40A3-A5F2-664CDD77FDAC}" type="slidenum">
              <a:rPr lang="en-GB" smtClean="0"/>
              <a:pPr/>
              <a:t>127</a:t>
            </a:fld>
            <a:endParaRPr lang="en-GB" dirty="0"/>
          </a:p>
        </p:txBody>
      </p:sp>
    </p:spTree>
    <p:extLst>
      <p:ext uri="{BB962C8B-B14F-4D97-AF65-F5344CB8AC3E}">
        <p14:creationId xmlns:p14="http://schemas.microsoft.com/office/powerpoint/2010/main" val="2002865188"/>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Category-C</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118" name="TextBox 119"/>
          <p:cNvSpPr txBox="1"/>
          <p:nvPr/>
        </p:nvSpPr>
        <p:spPr>
          <a:xfrm>
            <a:off x="159103" y="2449125"/>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119" name="TextBox 120"/>
          <p:cNvSpPr txBox="1"/>
          <p:nvPr/>
        </p:nvSpPr>
        <p:spPr>
          <a:xfrm>
            <a:off x="159103" y="4394541"/>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120" name="Elbow Connector 119"/>
          <p:cNvCxnSpPr>
            <a:stCxn id="122" idx="2"/>
            <a:endCxn id="129" idx="0"/>
          </p:cNvCxnSpPr>
          <p:nvPr/>
        </p:nvCxnSpPr>
        <p:spPr>
          <a:xfrm rot="5400000">
            <a:off x="3380227" y="-137823"/>
            <a:ext cx="285750" cy="34561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21" name="Elbow Connector 120"/>
          <p:cNvCxnSpPr>
            <a:stCxn id="122" idx="2"/>
            <a:endCxn id="136" idx="0"/>
          </p:cNvCxnSpPr>
          <p:nvPr/>
        </p:nvCxnSpPr>
        <p:spPr>
          <a:xfrm rot="16200000" flipH="1">
            <a:off x="6854733" y="-156211"/>
            <a:ext cx="285750" cy="34928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22" name="Rounded Rectangle 121"/>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Category-C</a:t>
            </a:r>
          </a:p>
        </p:txBody>
      </p:sp>
      <p:sp>
        <p:nvSpPr>
          <p:cNvPr id="123" name="Rounded Rectangle 122"/>
          <p:cNvSpPr/>
          <p:nvPr/>
        </p:nvSpPr>
        <p:spPr>
          <a:xfrm>
            <a:off x="526998" y="4201281"/>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124" name="Rounded Rectangle 123"/>
          <p:cNvSpPr/>
          <p:nvPr/>
        </p:nvSpPr>
        <p:spPr>
          <a:xfrm>
            <a:off x="526997" y="2175982"/>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125" name="Straight Connector 124"/>
          <p:cNvCxnSpPr>
            <a:stCxn id="130" idx="3"/>
            <a:endCxn id="137" idx="1"/>
          </p:cNvCxnSpPr>
          <p:nvPr/>
        </p:nvCxnSpPr>
        <p:spPr>
          <a:xfrm>
            <a:off x="2792681" y="2521276"/>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stCxn id="131" idx="3"/>
            <a:endCxn id="138" idx="1"/>
          </p:cNvCxnSpPr>
          <p:nvPr/>
        </p:nvCxnSpPr>
        <p:spPr>
          <a:xfrm>
            <a:off x="2792681" y="3710921"/>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stCxn id="132" idx="3"/>
            <a:endCxn id="139" idx="1"/>
          </p:cNvCxnSpPr>
          <p:nvPr/>
        </p:nvCxnSpPr>
        <p:spPr>
          <a:xfrm>
            <a:off x="2792681" y="4546575"/>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stCxn id="133" idx="3"/>
            <a:endCxn id="140" idx="1"/>
          </p:cNvCxnSpPr>
          <p:nvPr/>
        </p:nvCxnSpPr>
        <p:spPr>
          <a:xfrm>
            <a:off x="2792681" y="5736222"/>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9" name="Rounded Rectangle 128"/>
          <p:cNvSpPr/>
          <p:nvPr/>
        </p:nvSpPr>
        <p:spPr>
          <a:xfrm>
            <a:off x="650717" y="1733111"/>
            <a:ext cx="228865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Categoryc1</a:t>
            </a:r>
          </a:p>
        </p:txBody>
      </p:sp>
      <p:sp>
        <p:nvSpPr>
          <p:cNvPr id="130" name="Rounded Rectangle 129"/>
          <p:cNvSpPr/>
          <p:nvPr/>
        </p:nvSpPr>
        <p:spPr>
          <a:xfrm>
            <a:off x="732789"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1" name="Rounded Rectangle 130"/>
          <p:cNvSpPr/>
          <p:nvPr/>
        </p:nvSpPr>
        <p:spPr>
          <a:xfrm>
            <a:off x="732789"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2" name="Rounded Rectangle 131"/>
          <p:cNvSpPr/>
          <p:nvPr/>
        </p:nvSpPr>
        <p:spPr>
          <a:xfrm>
            <a:off x="732789"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3" name="Rounded Rectangle 132"/>
          <p:cNvSpPr/>
          <p:nvPr/>
        </p:nvSpPr>
        <p:spPr>
          <a:xfrm>
            <a:off x="732789"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4" name="Oval 133"/>
          <p:cNvSpPr/>
          <p:nvPr/>
        </p:nvSpPr>
        <p:spPr>
          <a:xfrm>
            <a:off x="934128"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5" name="Oval 134"/>
          <p:cNvSpPr/>
          <p:nvPr/>
        </p:nvSpPr>
        <p:spPr>
          <a:xfrm>
            <a:off x="934128"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Rounded Rectangle 135"/>
          <p:cNvSpPr/>
          <p:nvPr/>
        </p:nvSpPr>
        <p:spPr>
          <a:xfrm>
            <a:off x="7601055"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Categoryc3</a:t>
            </a:r>
          </a:p>
        </p:txBody>
      </p:sp>
      <p:sp>
        <p:nvSpPr>
          <p:cNvPr id="137" name="Rounded Rectangle 136"/>
          <p:cNvSpPr/>
          <p:nvPr/>
        </p:nvSpPr>
        <p:spPr>
          <a:xfrm>
            <a:off x="7681802"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8" name="Rounded Rectangle 137"/>
          <p:cNvSpPr/>
          <p:nvPr/>
        </p:nvSpPr>
        <p:spPr>
          <a:xfrm>
            <a:off x="7681802"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9" name="Rounded Rectangle 138"/>
          <p:cNvSpPr/>
          <p:nvPr/>
        </p:nvSpPr>
        <p:spPr>
          <a:xfrm>
            <a:off x="7681802"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40" name="Rounded Rectangle 139"/>
          <p:cNvSpPr/>
          <p:nvPr/>
        </p:nvSpPr>
        <p:spPr>
          <a:xfrm>
            <a:off x="7681802"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41" name="Oval 140"/>
          <p:cNvSpPr/>
          <p:nvPr/>
        </p:nvSpPr>
        <p:spPr>
          <a:xfrm>
            <a:off x="7883141"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2" name="Oval 141"/>
          <p:cNvSpPr/>
          <p:nvPr/>
        </p:nvSpPr>
        <p:spPr>
          <a:xfrm>
            <a:off x="7883141"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3" name="Rounded Rectangle 142"/>
          <p:cNvSpPr/>
          <p:nvPr/>
        </p:nvSpPr>
        <p:spPr>
          <a:xfrm>
            <a:off x="4127211"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Categoryc2</a:t>
            </a:r>
          </a:p>
        </p:txBody>
      </p:sp>
      <p:sp>
        <p:nvSpPr>
          <p:cNvPr id="144" name="Rounded Rectangle 143"/>
          <p:cNvSpPr/>
          <p:nvPr/>
        </p:nvSpPr>
        <p:spPr>
          <a:xfrm>
            <a:off x="4207958"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5" name="Rounded Rectangle 144"/>
          <p:cNvSpPr/>
          <p:nvPr/>
        </p:nvSpPr>
        <p:spPr>
          <a:xfrm>
            <a:off x="4207958"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6" name="Rounded Rectangle 145"/>
          <p:cNvSpPr/>
          <p:nvPr/>
        </p:nvSpPr>
        <p:spPr>
          <a:xfrm>
            <a:off x="4207958"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47" name="Rounded Rectangle 146"/>
          <p:cNvSpPr/>
          <p:nvPr/>
        </p:nvSpPr>
        <p:spPr>
          <a:xfrm>
            <a:off x="4207958"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48" name="Oval 147"/>
          <p:cNvSpPr/>
          <p:nvPr/>
        </p:nvSpPr>
        <p:spPr>
          <a:xfrm>
            <a:off x="4409297"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9" name="Oval 148"/>
          <p:cNvSpPr/>
          <p:nvPr/>
        </p:nvSpPr>
        <p:spPr>
          <a:xfrm>
            <a:off x="4409297"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50" name="Straight Arrow Connector 149"/>
          <p:cNvCxnSpPr>
            <a:stCxn id="122" idx="2"/>
            <a:endCxn id="143" idx="0"/>
          </p:cNvCxnSpPr>
          <p:nvPr/>
        </p:nvCxnSpPr>
        <p:spPr>
          <a:xfrm>
            <a:off x="5251161" y="1447361"/>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2" name="Slide Number Placeholder 1"/>
          <p:cNvSpPr>
            <a:spLocks noGrp="1"/>
          </p:cNvSpPr>
          <p:nvPr>
            <p:ph type="sldNum" sz="quarter" idx="4"/>
          </p:nvPr>
        </p:nvSpPr>
        <p:spPr/>
        <p:txBody>
          <a:bodyPr/>
          <a:lstStyle/>
          <a:p>
            <a:fld id="{4B17068C-EB94-40A3-A5F2-664CDD77FDAC}" type="slidenum">
              <a:rPr lang="en-GB" smtClean="0"/>
              <a:pPr/>
              <a:t>128</a:t>
            </a:fld>
            <a:endParaRPr lang="en-GB" dirty="0"/>
          </a:p>
        </p:txBody>
      </p:sp>
    </p:spTree>
    <p:extLst>
      <p:ext uri="{BB962C8B-B14F-4D97-AF65-F5344CB8AC3E}">
        <p14:creationId xmlns:p14="http://schemas.microsoft.com/office/powerpoint/2010/main" val="3116607493"/>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Category-C</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4" name="TextBox 119"/>
          <p:cNvSpPr txBox="1"/>
          <p:nvPr/>
        </p:nvSpPr>
        <p:spPr>
          <a:xfrm>
            <a:off x="159103" y="2449125"/>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55" name="TextBox 120"/>
          <p:cNvSpPr txBox="1"/>
          <p:nvPr/>
        </p:nvSpPr>
        <p:spPr>
          <a:xfrm>
            <a:off x="159103" y="4394541"/>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56" name="Elbow Connector 55"/>
          <p:cNvCxnSpPr>
            <a:stCxn id="58" idx="2"/>
            <a:endCxn id="74" idx="0"/>
          </p:cNvCxnSpPr>
          <p:nvPr/>
        </p:nvCxnSpPr>
        <p:spPr>
          <a:xfrm rot="5400000">
            <a:off x="3380227" y="-137823"/>
            <a:ext cx="285750" cy="34561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58" idx="2"/>
            <a:endCxn id="81" idx="0"/>
          </p:cNvCxnSpPr>
          <p:nvPr/>
        </p:nvCxnSpPr>
        <p:spPr>
          <a:xfrm rot="16200000" flipH="1">
            <a:off x="6854733" y="-156211"/>
            <a:ext cx="285750" cy="34928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Category-C</a:t>
            </a:r>
          </a:p>
        </p:txBody>
      </p:sp>
      <p:sp>
        <p:nvSpPr>
          <p:cNvPr id="59" name="Rounded Rectangle 58"/>
          <p:cNvSpPr/>
          <p:nvPr/>
        </p:nvSpPr>
        <p:spPr>
          <a:xfrm>
            <a:off x="526998" y="4201281"/>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60" name="Rounded Rectangle 59"/>
          <p:cNvSpPr/>
          <p:nvPr/>
        </p:nvSpPr>
        <p:spPr>
          <a:xfrm>
            <a:off x="526997" y="2175982"/>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61" name="Straight Connector 60"/>
          <p:cNvCxnSpPr>
            <a:stCxn id="75" idx="3"/>
            <a:endCxn id="82" idx="1"/>
          </p:cNvCxnSpPr>
          <p:nvPr/>
        </p:nvCxnSpPr>
        <p:spPr>
          <a:xfrm>
            <a:off x="2792681" y="2521276"/>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a:stCxn id="76" idx="3"/>
            <a:endCxn id="83" idx="1"/>
          </p:cNvCxnSpPr>
          <p:nvPr/>
        </p:nvCxnSpPr>
        <p:spPr>
          <a:xfrm>
            <a:off x="2792681" y="3710921"/>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a:stCxn id="77" idx="3"/>
            <a:endCxn id="84" idx="1"/>
          </p:cNvCxnSpPr>
          <p:nvPr/>
        </p:nvCxnSpPr>
        <p:spPr>
          <a:xfrm>
            <a:off x="2792681" y="4546575"/>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stCxn id="78" idx="3"/>
            <a:endCxn id="85" idx="1"/>
          </p:cNvCxnSpPr>
          <p:nvPr/>
        </p:nvCxnSpPr>
        <p:spPr>
          <a:xfrm>
            <a:off x="2792681" y="5736222"/>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Rounded Rectangle 73"/>
          <p:cNvSpPr/>
          <p:nvPr/>
        </p:nvSpPr>
        <p:spPr>
          <a:xfrm>
            <a:off x="650717" y="1733111"/>
            <a:ext cx="228865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Categoryc1</a:t>
            </a:r>
          </a:p>
        </p:txBody>
      </p:sp>
      <p:sp>
        <p:nvSpPr>
          <p:cNvPr id="75" name="Rounded Rectangle 74"/>
          <p:cNvSpPr/>
          <p:nvPr/>
        </p:nvSpPr>
        <p:spPr>
          <a:xfrm>
            <a:off x="732789"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76" name="Rounded Rectangle 75"/>
          <p:cNvSpPr/>
          <p:nvPr/>
        </p:nvSpPr>
        <p:spPr>
          <a:xfrm>
            <a:off x="732789"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77" name="Rounded Rectangle 76"/>
          <p:cNvSpPr/>
          <p:nvPr/>
        </p:nvSpPr>
        <p:spPr>
          <a:xfrm>
            <a:off x="732789"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78" name="Rounded Rectangle 77"/>
          <p:cNvSpPr/>
          <p:nvPr/>
        </p:nvSpPr>
        <p:spPr>
          <a:xfrm>
            <a:off x="732789"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79" name="Oval 78"/>
          <p:cNvSpPr/>
          <p:nvPr/>
        </p:nvSpPr>
        <p:spPr>
          <a:xfrm>
            <a:off x="934128"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0" name="Oval 79"/>
          <p:cNvSpPr/>
          <p:nvPr/>
        </p:nvSpPr>
        <p:spPr>
          <a:xfrm>
            <a:off x="934128"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1" name="Rounded Rectangle 80"/>
          <p:cNvSpPr/>
          <p:nvPr/>
        </p:nvSpPr>
        <p:spPr>
          <a:xfrm>
            <a:off x="7601055"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Categoryc4</a:t>
            </a:r>
          </a:p>
        </p:txBody>
      </p:sp>
      <p:sp>
        <p:nvSpPr>
          <p:cNvPr id="82" name="Rounded Rectangle 81"/>
          <p:cNvSpPr/>
          <p:nvPr/>
        </p:nvSpPr>
        <p:spPr>
          <a:xfrm>
            <a:off x="7681802"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3" name="Rounded Rectangle 82"/>
          <p:cNvSpPr/>
          <p:nvPr/>
        </p:nvSpPr>
        <p:spPr>
          <a:xfrm>
            <a:off x="7681802"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4" name="Rounded Rectangle 83"/>
          <p:cNvSpPr/>
          <p:nvPr/>
        </p:nvSpPr>
        <p:spPr>
          <a:xfrm>
            <a:off x="7681802"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85" name="Rounded Rectangle 84"/>
          <p:cNvSpPr/>
          <p:nvPr/>
        </p:nvSpPr>
        <p:spPr>
          <a:xfrm>
            <a:off x="7681802"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86" name="Oval 85"/>
          <p:cNvSpPr/>
          <p:nvPr/>
        </p:nvSpPr>
        <p:spPr>
          <a:xfrm>
            <a:off x="7883141"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7" name="Oval 86"/>
          <p:cNvSpPr/>
          <p:nvPr/>
        </p:nvSpPr>
        <p:spPr>
          <a:xfrm>
            <a:off x="7883141"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8" name="Rounded Rectangle 87"/>
          <p:cNvSpPr/>
          <p:nvPr/>
        </p:nvSpPr>
        <p:spPr>
          <a:xfrm>
            <a:off x="5285159"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Categoryc3</a:t>
            </a:r>
          </a:p>
        </p:txBody>
      </p:sp>
      <p:sp>
        <p:nvSpPr>
          <p:cNvPr id="89" name="Rounded Rectangle 88"/>
          <p:cNvSpPr/>
          <p:nvPr/>
        </p:nvSpPr>
        <p:spPr>
          <a:xfrm>
            <a:off x="5365906"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0" name="Rounded Rectangle 89"/>
          <p:cNvSpPr/>
          <p:nvPr/>
        </p:nvSpPr>
        <p:spPr>
          <a:xfrm>
            <a:off x="5365906"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1" name="Rounded Rectangle 90"/>
          <p:cNvSpPr/>
          <p:nvPr/>
        </p:nvSpPr>
        <p:spPr>
          <a:xfrm>
            <a:off x="5365906"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2" name="Rounded Rectangle 91"/>
          <p:cNvSpPr/>
          <p:nvPr/>
        </p:nvSpPr>
        <p:spPr>
          <a:xfrm>
            <a:off x="5365906"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3" name="Oval 92"/>
          <p:cNvSpPr/>
          <p:nvPr/>
        </p:nvSpPr>
        <p:spPr>
          <a:xfrm>
            <a:off x="5567245"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4" name="Oval 93"/>
          <p:cNvSpPr/>
          <p:nvPr/>
        </p:nvSpPr>
        <p:spPr>
          <a:xfrm>
            <a:off x="5567245"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5" name="Rounded Rectangle 94"/>
          <p:cNvSpPr/>
          <p:nvPr/>
        </p:nvSpPr>
        <p:spPr>
          <a:xfrm>
            <a:off x="2969263"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Categoryc2</a:t>
            </a:r>
          </a:p>
        </p:txBody>
      </p:sp>
      <p:sp>
        <p:nvSpPr>
          <p:cNvPr id="96" name="Rounded Rectangle 95"/>
          <p:cNvSpPr/>
          <p:nvPr/>
        </p:nvSpPr>
        <p:spPr>
          <a:xfrm>
            <a:off x="3050010"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7" name="Rounded Rectangle 96"/>
          <p:cNvSpPr/>
          <p:nvPr/>
        </p:nvSpPr>
        <p:spPr>
          <a:xfrm>
            <a:off x="3050010"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8" name="Rounded Rectangle 97"/>
          <p:cNvSpPr/>
          <p:nvPr/>
        </p:nvSpPr>
        <p:spPr>
          <a:xfrm>
            <a:off x="3050010"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9" name="Rounded Rectangle 98"/>
          <p:cNvSpPr/>
          <p:nvPr/>
        </p:nvSpPr>
        <p:spPr>
          <a:xfrm>
            <a:off x="3050010"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00" name="Oval 99"/>
          <p:cNvSpPr/>
          <p:nvPr/>
        </p:nvSpPr>
        <p:spPr>
          <a:xfrm>
            <a:off x="3251349"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1" name="Oval 100"/>
          <p:cNvSpPr/>
          <p:nvPr/>
        </p:nvSpPr>
        <p:spPr>
          <a:xfrm>
            <a:off x="3251349"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02" name="Elbow Connector 101"/>
          <p:cNvCxnSpPr>
            <a:stCxn id="58" idx="2"/>
            <a:endCxn id="95" idx="0"/>
          </p:cNvCxnSpPr>
          <p:nvPr/>
        </p:nvCxnSpPr>
        <p:spPr>
          <a:xfrm rot="5400000">
            <a:off x="4538837" y="1020787"/>
            <a:ext cx="285750" cy="113889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stCxn id="58" idx="2"/>
            <a:endCxn id="88" idx="0"/>
          </p:cNvCxnSpPr>
          <p:nvPr/>
        </p:nvCxnSpPr>
        <p:spPr>
          <a:xfrm rot="16200000" flipH="1">
            <a:off x="5696785" y="1001737"/>
            <a:ext cx="285750" cy="117699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129</a:t>
            </a:fld>
            <a:endParaRPr lang="en-GB" dirty="0"/>
          </a:p>
        </p:txBody>
      </p:sp>
    </p:spTree>
    <p:extLst>
      <p:ext uri="{BB962C8B-B14F-4D97-AF65-F5344CB8AC3E}">
        <p14:creationId xmlns:p14="http://schemas.microsoft.com/office/powerpoint/2010/main" val="2990191385"/>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Category-C</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Category-C</a:t>
            </a:r>
          </a:p>
        </p:txBody>
      </p:sp>
      <p:sp>
        <p:nvSpPr>
          <p:cNvPr id="152"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153"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154" name="Elbow Connector 153"/>
          <p:cNvCxnSpPr>
            <a:endCxn id="162" idx="0"/>
          </p:cNvCxnSpPr>
          <p:nvPr/>
        </p:nvCxnSpPr>
        <p:spPr>
          <a:xfrm rot="5400000">
            <a:off x="3242404" y="-289714"/>
            <a:ext cx="285750" cy="373176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55" name="Elbow Connector 154"/>
          <p:cNvCxnSpPr>
            <a:endCxn id="169" idx="0"/>
          </p:cNvCxnSpPr>
          <p:nvPr/>
        </p:nvCxnSpPr>
        <p:spPr>
          <a:xfrm rot="16200000" flipH="1">
            <a:off x="6988983" y="-304529"/>
            <a:ext cx="285750" cy="37613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56" name="Rounded Rectangle 155"/>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157" name="Rounded Rectangle 156"/>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158" name="Straight Connector 157"/>
          <p:cNvCxnSpPr>
            <a:stCxn id="163" idx="3"/>
            <a:endCxn id="170"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a:stCxn id="164" idx="3"/>
            <a:endCxn id="171"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a:stCxn id="165" idx="3"/>
            <a:endCxn id="172"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a:stCxn id="166" idx="3"/>
            <a:endCxn id="173"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2" name="Rounded Rectangle 161"/>
          <p:cNvSpPr/>
          <p:nvPr/>
        </p:nvSpPr>
        <p:spPr>
          <a:xfrm>
            <a:off x="65071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Categoryc1</a:t>
            </a:r>
          </a:p>
        </p:txBody>
      </p:sp>
      <p:sp>
        <p:nvSpPr>
          <p:cNvPr id="163" name="Rounded Rectangle 162"/>
          <p:cNvSpPr/>
          <p:nvPr/>
        </p:nvSpPr>
        <p:spPr>
          <a:xfrm>
            <a:off x="71301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64" name="Rounded Rectangle 163"/>
          <p:cNvSpPr/>
          <p:nvPr/>
        </p:nvSpPr>
        <p:spPr>
          <a:xfrm>
            <a:off x="71301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65" name="Rounded Rectangle 164"/>
          <p:cNvSpPr/>
          <p:nvPr/>
        </p:nvSpPr>
        <p:spPr>
          <a:xfrm>
            <a:off x="71301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66" name="Rounded Rectangle 165"/>
          <p:cNvSpPr/>
          <p:nvPr/>
        </p:nvSpPr>
        <p:spPr>
          <a:xfrm>
            <a:off x="71301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67" name="Oval 166"/>
          <p:cNvSpPr/>
          <p:nvPr/>
        </p:nvSpPr>
        <p:spPr>
          <a:xfrm>
            <a:off x="86586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68" name="Oval 167"/>
          <p:cNvSpPr/>
          <p:nvPr/>
        </p:nvSpPr>
        <p:spPr>
          <a:xfrm>
            <a:off x="86586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69" name="Rounded Rectangle 168"/>
          <p:cNvSpPr/>
          <p:nvPr/>
        </p:nvSpPr>
        <p:spPr>
          <a:xfrm>
            <a:off x="8143875"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Categoryc5</a:t>
            </a:r>
          </a:p>
        </p:txBody>
      </p:sp>
      <p:sp>
        <p:nvSpPr>
          <p:cNvPr id="170" name="Rounded Rectangle 169"/>
          <p:cNvSpPr/>
          <p:nvPr/>
        </p:nvSpPr>
        <p:spPr>
          <a:xfrm>
            <a:off x="8205243" y="2272179"/>
            <a:ext cx="161462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71" name="Rounded Rectangle 170"/>
          <p:cNvSpPr/>
          <p:nvPr/>
        </p:nvSpPr>
        <p:spPr>
          <a:xfrm>
            <a:off x="8205243" y="3461824"/>
            <a:ext cx="161462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72" name="Rounded Rectangle 171"/>
          <p:cNvSpPr/>
          <p:nvPr/>
        </p:nvSpPr>
        <p:spPr>
          <a:xfrm>
            <a:off x="8205243" y="4297478"/>
            <a:ext cx="161462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73" name="Rounded Rectangle 172"/>
          <p:cNvSpPr/>
          <p:nvPr/>
        </p:nvSpPr>
        <p:spPr>
          <a:xfrm>
            <a:off x="8205243" y="5487125"/>
            <a:ext cx="161462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74" name="Oval 173"/>
          <p:cNvSpPr/>
          <p:nvPr/>
        </p:nvSpPr>
        <p:spPr>
          <a:xfrm>
            <a:off x="8358260" y="2849594"/>
            <a:ext cx="1308590"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75" name="Oval 174"/>
          <p:cNvSpPr/>
          <p:nvPr/>
        </p:nvSpPr>
        <p:spPr>
          <a:xfrm>
            <a:off x="8358260" y="4874894"/>
            <a:ext cx="1308590"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76" name="Rounded Rectangle 175"/>
          <p:cNvSpPr/>
          <p:nvPr/>
        </p:nvSpPr>
        <p:spPr>
          <a:xfrm>
            <a:off x="252400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Categoryc2</a:t>
            </a:r>
          </a:p>
        </p:txBody>
      </p:sp>
      <p:sp>
        <p:nvSpPr>
          <p:cNvPr id="177" name="Rounded Rectangle 176"/>
          <p:cNvSpPr/>
          <p:nvPr/>
        </p:nvSpPr>
        <p:spPr>
          <a:xfrm>
            <a:off x="258630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78" name="Rounded Rectangle 177"/>
          <p:cNvSpPr/>
          <p:nvPr/>
        </p:nvSpPr>
        <p:spPr>
          <a:xfrm>
            <a:off x="258630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79" name="Rounded Rectangle 178"/>
          <p:cNvSpPr/>
          <p:nvPr/>
        </p:nvSpPr>
        <p:spPr>
          <a:xfrm>
            <a:off x="258630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80" name="Rounded Rectangle 179"/>
          <p:cNvSpPr/>
          <p:nvPr/>
        </p:nvSpPr>
        <p:spPr>
          <a:xfrm>
            <a:off x="258630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81" name="Oval 180"/>
          <p:cNvSpPr/>
          <p:nvPr/>
        </p:nvSpPr>
        <p:spPr>
          <a:xfrm>
            <a:off x="273915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2" name="Oval 181"/>
          <p:cNvSpPr/>
          <p:nvPr/>
        </p:nvSpPr>
        <p:spPr>
          <a:xfrm>
            <a:off x="273915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3" name="Rounded Rectangle 182"/>
          <p:cNvSpPr/>
          <p:nvPr/>
        </p:nvSpPr>
        <p:spPr>
          <a:xfrm>
            <a:off x="439729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Categoryc3</a:t>
            </a:r>
          </a:p>
        </p:txBody>
      </p:sp>
      <p:sp>
        <p:nvSpPr>
          <p:cNvPr id="184" name="Rounded Rectangle 183"/>
          <p:cNvSpPr/>
          <p:nvPr/>
        </p:nvSpPr>
        <p:spPr>
          <a:xfrm>
            <a:off x="445959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85" name="Rounded Rectangle 184"/>
          <p:cNvSpPr/>
          <p:nvPr/>
        </p:nvSpPr>
        <p:spPr>
          <a:xfrm>
            <a:off x="445959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86" name="Rounded Rectangle 185"/>
          <p:cNvSpPr/>
          <p:nvPr/>
        </p:nvSpPr>
        <p:spPr>
          <a:xfrm>
            <a:off x="445959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87" name="Rounded Rectangle 186"/>
          <p:cNvSpPr/>
          <p:nvPr/>
        </p:nvSpPr>
        <p:spPr>
          <a:xfrm>
            <a:off x="445959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88" name="Oval 187"/>
          <p:cNvSpPr/>
          <p:nvPr/>
        </p:nvSpPr>
        <p:spPr>
          <a:xfrm>
            <a:off x="461244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9" name="Oval 188"/>
          <p:cNvSpPr/>
          <p:nvPr/>
        </p:nvSpPr>
        <p:spPr>
          <a:xfrm>
            <a:off x="461244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90" name="Rounded Rectangle 189"/>
          <p:cNvSpPr/>
          <p:nvPr/>
        </p:nvSpPr>
        <p:spPr>
          <a:xfrm>
            <a:off x="627058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Categoryc4</a:t>
            </a:r>
          </a:p>
        </p:txBody>
      </p:sp>
      <p:sp>
        <p:nvSpPr>
          <p:cNvPr id="191" name="Rounded Rectangle 190"/>
          <p:cNvSpPr/>
          <p:nvPr/>
        </p:nvSpPr>
        <p:spPr>
          <a:xfrm>
            <a:off x="633288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92" name="Rounded Rectangle 191"/>
          <p:cNvSpPr/>
          <p:nvPr/>
        </p:nvSpPr>
        <p:spPr>
          <a:xfrm>
            <a:off x="633288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93" name="Rounded Rectangle 192"/>
          <p:cNvSpPr/>
          <p:nvPr/>
        </p:nvSpPr>
        <p:spPr>
          <a:xfrm>
            <a:off x="633288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94" name="Rounded Rectangle 193"/>
          <p:cNvSpPr/>
          <p:nvPr/>
        </p:nvSpPr>
        <p:spPr>
          <a:xfrm>
            <a:off x="633288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95" name="Oval 194"/>
          <p:cNvSpPr/>
          <p:nvPr/>
        </p:nvSpPr>
        <p:spPr>
          <a:xfrm>
            <a:off x="648573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96" name="Oval 195"/>
          <p:cNvSpPr/>
          <p:nvPr/>
        </p:nvSpPr>
        <p:spPr>
          <a:xfrm>
            <a:off x="648573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97" name="Elbow Connector 196"/>
          <p:cNvCxnSpPr>
            <a:endCxn id="176" idx="0"/>
          </p:cNvCxnSpPr>
          <p:nvPr/>
        </p:nvCxnSpPr>
        <p:spPr>
          <a:xfrm rot="5400000">
            <a:off x="4179049" y="646931"/>
            <a:ext cx="285750" cy="185847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98" name="Elbow Connector 197"/>
          <p:cNvCxnSpPr>
            <a:endCxn id="190" idx="0"/>
          </p:cNvCxnSpPr>
          <p:nvPr/>
        </p:nvCxnSpPr>
        <p:spPr>
          <a:xfrm rot="16200000" flipH="1">
            <a:off x="6052339" y="632115"/>
            <a:ext cx="285750" cy="188810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99" name="Straight Arrow Connector 198"/>
          <p:cNvCxnSpPr>
            <a:endCxn id="183" idx="0"/>
          </p:cNvCxnSpPr>
          <p:nvPr/>
        </p:nvCxnSpPr>
        <p:spPr>
          <a:xfrm>
            <a:off x="5251161" y="1433293"/>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130</a:t>
            </a:fld>
            <a:endParaRPr lang="en-GB" dirty="0"/>
          </a:p>
        </p:txBody>
      </p:sp>
    </p:spTree>
    <p:extLst>
      <p:ext uri="{BB962C8B-B14F-4D97-AF65-F5344CB8AC3E}">
        <p14:creationId xmlns:p14="http://schemas.microsoft.com/office/powerpoint/2010/main" val="1541628663"/>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Category-C</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Category-C</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73824" y="-358294"/>
            <a:ext cx="285750" cy="386892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053752" y="-369299"/>
            <a:ext cx="285750" cy="3890933"/>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Categoryc1</a:t>
            </a:r>
          </a:p>
        </p:txBody>
      </p:sp>
      <p:sp>
        <p:nvSpPr>
          <p:cNvPr id="85" name="Rounded Rectangle 84"/>
          <p:cNvSpPr/>
          <p:nvPr/>
        </p:nvSpPr>
        <p:spPr>
          <a:xfrm>
            <a:off x="703182"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703182"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703182"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703182"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831890"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831890"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410574"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Categoryc6</a:t>
            </a:r>
          </a:p>
        </p:txBody>
      </p:sp>
      <p:sp>
        <p:nvSpPr>
          <p:cNvPr id="92" name="Rounded Rectangle 91"/>
          <p:cNvSpPr/>
          <p:nvPr/>
        </p:nvSpPr>
        <p:spPr>
          <a:xfrm>
            <a:off x="8462252" y="2272179"/>
            <a:ext cx="135968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462252" y="3461824"/>
            <a:ext cx="135968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462252" y="4297478"/>
            <a:ext cx="135968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462252" y="5487125"/>
            <a:ext cx="135968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591109" y="2849594"/>
            <a:ext cx="110197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591109" y="4874894"/>
            <a:ext cx="110197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0" idx="0"/>
          </p:cNvCxnSpPr>
          <p:nvPr/>
        </p:nvCxnSpPr>
        <p:spPr>
          <a:xfrm rot="5400000">
            <a:off x="3949810" y="417692"/>
            <a:ext cx="285750" cy="2316953"/>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21" idx="0"/>
          </p:cNvCxnSpPr>
          <p:nvPr/>
        </p:nvCxnSpPr>
        <p:spPr>
          <a:xfrm rot="16200000" flipH="1">
            <a:off x="6277766" y="406688"/>
            <a:ext cx="285750" cy="233896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0" name="Rounded Rectangle 99"/>
          <p:cNvSpPr/>
          <p:nvPr/>
        </p:nvSpPr>
        <p:spPr>
          <a:xfrm>
            <a:off x="2202688"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Categoryc2</a:t>
            </a:r>
          </a:p>
        </p:txBody>
      </p:sp>
      <p:sp>
        <p:nvSpPr>
          <p:cNvPr id="101" name="Rounded Rectangle 100"/>
          <p:cNvSpPr/>
          <p:nvPr/>
        </p:nvSpPr>
        <p:spPr>
          <a:xfrm>
            <a:off x="2255153"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2" name="Rounded Rectangle 101"/>
          <p:cNvSpPr/>
          <p:nvPr/>
        </p:nvSpPr>
        <p:spPr>
          <a:xfrm>
            <a:off x="2255153"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3" name="Rounded Rectangle 102"/>
          <p:cNvSpPr/>
          <p:nvPr/>
        </p:nvSpPr>
        <p:spPr>
          <a:xfrm>
            <a:off x="2255153"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4" name="Rounded Rectangle 103"/>
          <p:cNvSpPr/>
          <p:nvPr/>
        </p:nvSpPr>
        <p:spPr>
          <a:xfrm>
            <a:off x="2255153"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5" name="Oval 104"/>
          <p:cNvSpPr/>
          <p:nvPr/>
        </p:nvSpPr>
        <p:spPr>
          <a:xfrm>
            <a:off x="2383861"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6" name="Oval 105"/>
          <p:cNvSpPr/>
          <p:nvPr/>
        </p:nvSpPr>
        <p:spPr>
          <a:xfrm>
            <a:off x="2383861"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7" name="Rounded Rectangle 106"/>
          <p:cNvSpPr/>
          <p:nvPr/>
        </p:nvSpPr>
        <p:spPr>
          <a:xfrm>
            <a:off x="3754659"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Categoryc3</a:t>
            </a:r>
          </a:p>
        </p:txBody>
      </p:sp>
      <p:sp>
        <p:nvSpPr>
          <p:cNvPr id="108" name="Rounded Rectangle 107"/>
          <p:cNvSpPr/>
          <p:nvPr/>
        </p:nvSpPr>
        <p:spPr>
          <a:xfrm>
            <a:off x="3807124"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9" name="Rounded Rectangle 108"/>
          <p:cNvSpPr/>
          <p:nvPr/>
        </p:nvSpPr>
        <p:spPr>
          <a:xfrm>
            <a:off x="3807124"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0" name="Rounded Rectangle 109"/>
          <p:cNvSpPr/>
          <p:nvPr/>
        </p:nvSpPr>
        <p:spPr>
          <a:xfrm>
            <a:off x="3807124"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1" name="Rounded Rectangle 110"/>
          <p:cNvSpPr/>
          <p:nvPr/>
        </p:nvSpPr>
        <p:spPr>
          <a:xfrm>
            <a:off x="3807124"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2" name="Oval 111"/>
          <p:cNvSpPr/>
          <p:nvPr/>
        </p:nvSpPr>
        <p:spPr>
          <a:xfrm>
            <a:off x="3935832"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3" name="Oval 112"/>
          <p:cNvSpPr/>
          <p:nvPr/>
        </p:nvSpPr>
        <p:spPr>
          <a:xfrm>
            <a:off x="3935832"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4" name="Rounded Rectangle 113"/>
          <p:cNvSpPr/>
          <p:nvPr/>
        </p:nvSpPr>
        <p:spPr>
          <a:xfrm>
            <a:off x="5306630"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Categoryc4</a:t>
            </a:r>
          </a:p>
        </p:txBody>
      </p:sp>
      <p:sp>
        <p:nvSpPr>
          <p:cNvPr id="115" name="Rounded Rectangle 114"/>
          <p:cNvSpPr/>
          <p:nvPr/>
        </p:nvSpPr>
        <p:spPr>
          <a:xfrm>
            <a:off x="5359095"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6" name="Rounded Rectangle 115"/>
          <p:cNvSpPr/>
          <p:nvPr/>
        </p:nvSpPr>
        <p:spPr>
          <a:xfrm>
            <a:off x="5359095"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7" name="Rounded Rectangle 116"/>
          <p:cNvSpPr/>
          <p:nvPr/>
        </p:nvSpPr>
        <p:spPr>
          <a:xfrm>
            <a:off x="5359095"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8" name="Rounded Rectangle 117"/>
          <p:cNvSpPr/>
          <p:nvPr/>
        </p:nvSpPr>
        <p:spPr>
          <a:xfrm>
            <a:off x="5359095"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9" name="Oval 118"/>
          <p:cNvSpPr/>
          <p:nvPr/>
        </p:nvSpPr>
        <p:spPr>
          <a:xfrm>
            <a:off x="5487803"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0" name="Oval 119"/>
          <p:cNvSpPr/>
          <p:nvPr/>
        </p:nvSpPr>
        <p:spPr>
          <a:xfrm>
            <a:off x="5487803"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1" name="Rounded Rectangle 120"/>
          <p:cNvSpPr/>
          <p:nvPr/>
        </p:nvSpPr>
        <p:spPr>
          <a:xfrm>
            <a:off x="6858601"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Categoryc5</a:t>
            </a:r>
          </a:p>
        </p:txBody>
      </p:sp>
      <p:sp>
        <p:nvSpPr>
          <p:cNvPr id="122" name="Rounded Rectangle 121"/>
          <p:cNvSpPr/>
          <p:nvPr/>
        </p:nvSpPr>
        <p:spPr>
          <a:xfrm>
            <a:off x="6911066"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3" name="Rounded Rectangle 122"/>
          <p:cNvSpPr/>
          <p:nvPr/>
        </p:nvSpPr>
        <p:spPr>
          <a:xfrm>
            <a:off x="6911066"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4" name="Rounded Rectangle 123"/>
          <p:cNvSpPr/>
          <p:nvPr/>
        </p:nvSpPr>
        <p:spPr>
          <a:xfrm>
            <a:off x="6911066"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5" name="Rounded Rectangle 124"/>
          <p:cNvSpPr/>
          <p:nvPr/>
        </p:nvSpPr>
        <p:spPr>
          <a:xfrm>
            <a:off x="6911066"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6" name="Oval 125"/>
          <p:cNvSpPr/>
          <p:nvPr/>
        </p:nvSpPr>
        <p:spPr>
          <a:xfrm>
            <a:off x="7039774"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7" name="Oval 126"/>
          <p:cNvSpPr/>
          <p:nvPr/>
        </p:nvSpPr>
        <p:spPr>
          <a:xfrm>
            <a:off x="7039774"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28" name="Elbow Connector 127"/>
          <p:cNvCxnSpPr>
            <a:endCxn id="107" idx="0"/>
          </p:cNvCxnSpPr>
          <p:nvPr/>
        </p:nvCxnSpPr>
        <p:spPr>
          <a:xfrm rot="5400000">
            <a:off x="4725795" y="1193677"/>
            <a:ext cx="285750" cy="76498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29" name="Elbow Connector 128"/>
          <p:cNvCxnSpPr>
            <a:endCxn id="114" idx="0"/>
          </p:cNvCxnSpPr>
          <p:nvPr/>
        </p:nvCxnSpPr>
        <p:spPr>
          <a:xfrm rot="16200000" flipH="1">
            <a:off x="5501780" y="1182673"/>
            <a:ext cx="285750" cy="786989"/>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131</a:t>
            </a:fld>
            <a:endParaRPr lang="en-GB" dirty="0"/>
          </a:p>
        </p:txBody>
      </p:sp>
    </p:spTree>
    <p:extLst>
      <p:ext uri="{BB962C8B-B14F-4D97-AF65-F5344CB8AC3E}">
        <p14:creationId xmlns:p14="http://schemas.microsoft.com/office/powerpoint/2010/main" val="2197099008"/>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Category-C</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Category-C</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05244" y="-426874"/>
            <a:ext cx="285750" cy="400608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22809" y="-438355"/>
            <a:ext cx="285750" cy="402904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Categoryc1</a:t>
            </a:r>
          </a:p>
        </p:txBody>
      </p:sp>
      <p:sp>
        <p:nvSpPr>
          <p:cNvPr id="85" name="Rounded Rectangle 84"/>
          <p:cNvSpPr/>
          <p:nvPr/>
        </p:nvSpPr>
        <p:spPr>
          <a:xfrm>
            <a:off x="693345"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93345"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93345"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93345"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97920"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97920"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686800" y="1719043"/>
            <a:ext cx="1186814"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Categoryc7</a:t>
            </a:r>
          </a:p>
        </p:txBody>
      </p:sp>
      <p:sp>
        <p:nvSpPr>
          <p:cNvPr id="92" name="Rounded Rectangle 91"/>
          <p:cNvSpPr/>
          <p:nvPr/>
        </p:nvSpPr>
        <p:spPr>
          <a:xfrm>
            <a:off x="8728721" y="2272179"/>
            <a:ext cx="110297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728721" y="3461824"/>
            <a:ext cx="110297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728721" y="4297478"/>
            <a:ext cx="110297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728721" y="5487125"/>
            <a:ext cx="110297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833250" y="2849594"/>
            <a:ext cx="89391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833250" y="4874894"/>
            <a:ext cx="89391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2" idx="0"/>
          </p:cNvCxnSpPr>
          <p:nvPr/>
        </p:nvCxnSpPr>
        <p:spPr>
          <a:xfrm rot="5400000">
            <a:off x="3774918" y="242800"/>
            <a:ext cx="285750" cy="2666737"/>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30" idx="0"/>
          </p:cNvCxnSpPr>
          <p:nvPr/>
        </p:nvCxnSpPr>
        <p:spPr>
          <a:xfrm rot="16200000" flipH="1">
            <a:off x="6453611" y="230842"/>
            <a:ext cx="285750" cy="2690651"/>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09" idx="0"/>
          </p:cNvCxnSpPr>
          <p:nvPr/>
        </p:nvCxnSpPr>
        <p:spPr>
          <a:xfrm rot="5400000">
            <a:off x="4444591" y="912473"/>
            <a:ext cx="285750" cy="132739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23" idx="0"/>
          </p:cNvCxnSpPr>
          <p:nvPr/>
        </p:nvCxnSpPr>
        <p:spPr>
          <a:xfrm rot="16200000" flipH="1">
            <a:off x="5783938" y="900516"/>
            <a:ext cx="285750" cy="135130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2" name="Rounded Rectangle 101"/>
          <p:cNvSpPr/>
          <p:nvPr/>
        </p:nvSpPr>
        <p:spPr>
          <a:xfrm>
            <a:off x="1990064"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Categoryc2</a:t>
            </a:r>
          </a:p>
        </p:txBody>
      </p:sp>
      <p:sp>
        <p:nvSpPr>
          <p:cNvPr id="103" name="Rounded Rectangle 102"/>
          <p:cNvSpPr/>
          <p:nvPr/>
        </p:nvSpPr>
        <p:spPr>
          <a:xfrm>
            <a:off x="2032692"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4" name="Rounded Rectangle 103"/>
          <p:cNvSpPr/>
          <p:nvPr/>
        </p:nvSpPr>
        <p:spPr>
          <a:xfrm>
            <a:off x="2032692"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5" name="Rounded Rectangle 104"/>
          <p:cNvSpPr/>
          <p:nvPr/>
        </p:nvSpPr>
        <p:spPr>
          <a:xfrm>
            <a:off x="2032692"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6" name="Rounded Rectangle 105"/>
          <p:cNvSpPr/>
          <p:nvPr/>
        </p:nvSpPr>
        <p:spPr>
          <a:xfrm>
            <a:off x="2032692"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7" name="Oval 106"/>
          <p:cNvSpPr/>
          <p:nvPr/>
        </p:nvSpPr>
        <p:spPr>
          <a:xfrm>
            <a:off x="2137267"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8" name="Oval 107"/>
          <p:cNvSpPr/>
          <p:nvPr/>
        </p:nvSpPr>
        <p:spPr>
          <a:xfrm>
            <a:off x="2137267"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9" name="Rounded Rectangle 108"/>
          <p:cNvSpPr/>
          <p:nvPr/>
        </p:nvSpPr>
        <p:spPr>
          <a:xfrm>
            <a:off x="3329411"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Categoryc3</a:t>
            </a:r>
          </a:p>
        </p:txBody>
      </p:sp>
      <p:sp>
        <p:nvSpPr>
          <p:cNvPr id="110" name="Rounded Rectangle 109"/>
          <p:cNvSpPr/>
          <p:nvPr/>
        </p:nvSpPr>
        <p:spPr>
          <a:xfrm>
            <a:off x="3372039"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1" name="Rounded Rectangle 110"/>
          <p:cNvSpPr/>
          <p:nvPr/>
        </p:nvSpPr>
        <p:spPr>
          <a:xfrm>
            <a:off x="3372039"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2" name="Rounded Rectangle 111"/>
          <p:cNvSpPr/>
          <p:nvPr/>
        </p:nvSpPr>
        <p:spPr>
          <a:xfrm>
            <a:off x="3372039"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3" name="Rounded Rectangle 112"/>
          <p:cNvSpPr/>
          <p:nvPr/>
        </p:nvSpPr>
        <p:spPr>
          <a:xfrm>
            <a:off x="3372039"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4" name="Oval 113"/>
          <p:cNvSpPr/>
          <p:nvPr/>
        </p:nvSpPr>
        <p:spPr>
          <a:xfrm>
            <a:off x="3476614"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5" name="Oval 114"/>
          <p:cNvSpPr/>
          <p:nvPr/>
        </p:nvSpPr>
        <p:spPr>
          <a:xfrm>
            <a:off x="3476614"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6" name="Rounded Rectangle 115"/>
          <p:cNvSpPr/>
          <p:nvPr/>
        </p:nvSpPr>
        <p:spPr>
          <a:xfrm>
            <a:off x="4668758"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Categoryc4</a:t>
            </a:r>
          </a:p>
        </p:txBody>
      </p:sp>
      <p:sp>
        <p:nvSpPr>
          <p:cNvPr id="117" name="Rounded Rectangle 116"/>
          <p:cNvSpPr/>
          <p:nvPr/>
        </p:nvSpPr>
        <p:spPr>
          <a:xfrm>
            <a:off x="4711386"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8" name="Rounded Rectangle 117"/>
          <p:cNvSpPr/>
          <p:nvPr/>
        </p:nvSpPr>
        <p:spPr>
          <a:xfrm>
            <a:off x="4711386"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9" name="Rounded Rectangle 118"/>
          <p:cNvSpPr/>
          <p:nvPr/>
        </p:nvSpPr>
        <p:spPr>
          <a:xfrm>
            <a:off x="4711386"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0" name="Rounded Rectangle 119"/>
          <p:cNvSpPr/>
          <p:nvPr/>
        </p:nvSpPr>
        <p:spPr>
          <a:xfrm>
            <a:off x="4711386"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1" name="Oval 120"/>
          <p:cNvSpPr/>
          <p:nvPr/>
        </p:nvSpPr>
        <p:spPr>
          <a:xfrm>
            <a:off x="4815961"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2" name="Oval 121"/>
          <p:cNvSpPr/>
          <p:nvPr/>
        </p:nvSpPr>
        <p:spPr>
          <a:xfrm>
            <a:off x="4815961"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3" name="Rounded Rectangle 122"/>
          <p:cNvSpPr/>
          <p:nvPr/>
        </p:nvSpPr>
        <p:spPr>
          <a:xfrm>
            <a:off x="6008105"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Categoryc5</a:t>
            </a:r>
          </a:p>
        </p:txBody>
      </p:sp>
      <p:sp>
        <p:nvSpPr>
          <p:cNvPr id="124" name="Rounded Rectangle 123"/>
          <p:cNvSpPr/>
          <p:nvPr/>
        </p:nvSpPr>
        <p:spPr>
          <a:xfrm>
            <a:off x="6050733"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5" name="Rounded Rectangle 124"/>
          <p:cNvSpPr/>
          <p:nvPr/>
        </p:nvSpPr>
        <p:spPr>
          <a:xfrm>
            <a:off x="6050733"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6" name="Rounded Rectangle 125"/>
          <p:cNvSpPr/>
          <p:nvPr/>
        </p:nvSpPr>
        <p:spPr>
          <a:xfrm>
            <a:off x="6050733"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7" name="Rounded Rectangle 126"/>
          <p:cNvSpPr/>
          <p:nvPr/>
        </p:nvSpPr>
        <p:spPr>
          <a:xfrm>
            <a:off x="6050733"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8" name="Oval 127"/>
          <p:cNvSpPr/>
          <p:nvPr/>
        </p:nvSpPr>
        <p:spPr>
          <a:xfrm>
            <a:off x="6155308"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9" name="Oval 128"/>
          <p:cNvSpPr/>
          <p:nvPr/>
        </p:nvSpPr>
        <p:spPr>
          <a:xfrm>
            <a:off x="6155308"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0" name="Rounded Rectangle 129"/>
          <p:cNvSpPr/>
          <p:nvPr/>
        </p:nvSpPr>
        <p:spPr>
          <a:xfrm>
            <a:off x="7347452"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Categoryc6</a:t>
            </a:r>
          </a:p>
        </p:txBody>
      </p:sp>
      <p:sp>
        <p:nvSpPr>
          <p:cNvPr id="131" name="Rounded Rectangle 130"/>
          <p:cNvSpPr/>
          <p:nvPr/>
        </p:nvSpPr>
        <p:spPr>
          <a:xfrm>
            <a:off x="7390080"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2" name="Rounded Rectangle 131"/>
          <p:cNvSpPr/>
          <p:nvPr/>
        </p:nvSpPr>
        <p:spPr>
          <a:xfrm>
            <a:off x="7390080"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3" name="Rounded Rectangle 132"/>
          <p:cNvSpPr/>
          <p:nvPr/>
        </p:nvSpPr>
        <p:spPr>
          <a:xfrm>
            <a:off x="7390080"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4" name="Rounded Rectangle 133"/>
          <p:cNvSpPr/>
          <p:nvPr/>
        </p:nvSpPr>
        <p:spPr>
          <a:xfrm>
            <a:off x="7390080"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5" name="Oval 134"/>
          <p:cNvSpPr/>
          <p:nvPr/>
        </p:nvSpPr>
        <p:spPr>
          <a:xfrm>
            <a:off x="7494655"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Oval 135"/>
          <p:cNvSpPr/>
          <p:nvPr/>
        </p:nvSpPr>
        <p:spPr>
          <a:xfrm>
            <a:off x="7494655"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37" name="Straight Arrow Connector 136"/>
          <p:cNvCxnSpPr>
            <a:endCxn id="116" idx="0"/>
          </p:cNvCxnSpPr>
          <p:nvPr/>
        </p:nvCxnSpPr>
        <p:spPr>
          <a:xfrm>
            <a:off x="5251161" y="1433293"/>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132</a:t>
            </a:fld>
            <a:endParaRPr lang="en-GB" dirty="0"/>
          </a:p>
        </p:txBody>
      </p:sp>
    </p:spTree>
    <p:extLst>
      <p:ext uri="{BB962C8B-B14F-4D97-AF65-F5344CB8AC3E}">
        <p14:creationId xmlns:p14="http://schemas.microsoft.com/office/powerpoint/2010/main" val="3094290553"/>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Category-C</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Category-C</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05244" y="-426874"/>
            <a:ext cx="285750" cy="400608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22809" y="-438355"/>
            <a:ext cx="285750" cy="402904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Categoryc1</a:t>
            </a:r>
          </a:p>
        </p:txBody>
      </p:sp>
      <p:sp>
        <p:nvSpPr>
          <p:cNvPr id="85" name="Rounded Rectangle 84"/>
          <p:cNvSpPr/>
          <p:nvPr/>
        </p:nvSpPr>
        <p:spPr>
          <a:xfrm>
            <a:off x="690066"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90066"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90066"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90066"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86597"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86597"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772524" y="1719043"/>
            <a:ext cx="1101089"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Categoryc8</a:t>
            </a:r>
          </a:p>
        </p:txBody>
      </p:sp>
      <p:sp>
        <p:nvSpPr>
          <p:cNvPr id="92" name="Rounded Rectangle 91"/>
          <p:cNvSpPr/>
          <p:nvPr/>
        </p:nvSpPr>
        <p:spPr>
          <a:xfrm>
            <a:off x="8811417" y="2272179"/>
            <a:ext cx="102330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811417" y="3461824"/>
            <a:ext cx="102330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811417" y="4297478"/>
            <a:ext cx="102330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811417" y="5487125"/>
            <a:ext cx="102330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908395" y="2849594"/>
            <a:ext cx="829347"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908395" y="4874894"/>
            <a:ext cx="829347"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2" idx="0"/>
          </p:cNvCxnSpPr>
          <p:nvPr/>
        </p:nvCxnSpPr>
        <p:spPr>
          <a:xfrm rot="5400000">
            <a:off x="3662513" y="130395"/>
            <a:ext cx="285750" cy="289154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37" idx="0"/>
          </p:cNvCxnSpPr>
          <p:nvPr/>
        </p:nvCxnSpPr>
        <p:spPr>
          <a:xfrm rot="16200000" flipH="1">
            <a:off x="6563158" y="121296"/>
            <a:ext cx="285750" cy="290974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09" idx="0"/>
          </p:cNvCxnSpPr>
          <p:nvPr/>
        </p:nvCxnSpPr>
        <p:spPr>
          <a:xfrm rot="5400000">
            <a:off x="4242642" y="710524"/>
            <a:ext cx="285750" cy="173128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30" idx="0"/>
          </p:cNvCxnSpPr>
          <p:nvPr/>
        </p:nvCxnSpPr>
        <p:spPr>
          <a:xfrm rot="16200000" flipH="1">
            <a:off x="5983029" y="701425"/>
            <a:ext cx="285750" cy="174948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2" name="Rounded Rectangle 101"/>
          <p:cNvSpPr/>
          <p:nvPr/>
        </p:nvSpPr>
        <p:spPr>
          <a:xfrm>
            <a:off x="1810975"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Categoryc2</a:t>
            </a:r>
          </a:p>
        </p:txBody>
      </p:sp>
      <p:sp>
        <p:nvSpPr>
          <p:cNvPr id="103" name="Rounded Rectangle 102"/>
          <p:cNvSpPr/>
          <p:nvPr/>
        </p:nvSpPr>
        <p:spPr>
          <a:xfrm>
            <a:off x="1850324"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4" name="Rounded Rectangle 103"/>
          <p:cNvSpPr/>
          <p:nvPr/>
        </p:nvSpPr>
        <p:spPr>
          <a:xfrm>
            <a:off x="1850324"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5" name="Rounded Rectangle 104"/>
          <p:cNvSpPr/>
          <p:nvPr/>
        </p:nvSpPr>
        <p:spPr>
          <a:xfrm>
            <a:off x="1850324"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6" name="Rounded Rectangle 105"/>
          <p:cNvSpPr/>
          <p:nvPr/>
        </p:nvSpPr>
        <p:spPr>
          <a:xfrm>
            <a:off x="1850324"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7" name="Oval 106"/>
          <p:cNvSpPr/>
          <p:nvPr/>
        </p:nvSpPr>
        <p:spPr>
          <a:xfrm>
            <a:off x="1946855"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8" name="Oval 107"/>
          <p:cNvSpPr/>
          <p:nvPr/>
        </p:nvSpPr>
        <p:spPr>
          <a:xfrm>
            <a:off x="1946855"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9" name="Rounded Rectangle 108"/>
          <p:cNvSpPr/>
          <p:nvPr/>
        </p:nvSpPr>
        <p:spPr>
          <a:xfrm>
            <a:off x="2971233"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Categoryc3</a:t>
            </a:r>
          </a:p>
        </p:txBody>
      </p:sp>
      <p:sp>
        <p:nvSpPr>
          <p:cNvPr id="110" name="Rounded Rectangle 109"/>
          <p:cNvSpPr/>
          <p:nvPr/>
        </p:nvSpPr>
        <p:spPr>
          <a:xfrm>
            <a:off x="3010582"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1" name="Rounded Rectangle 110"/>
          <p:cNvSpPr/>
          <p:nvPr/>
        </p:nvSpPr>
        <p:spPr>
          <a:xfrm>
            <a:off x="3010582"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2" name="Rounded Rectangle 111"/>
          <p:cNvSpPr/>
          <p:nvPr/>
        </p:nvSpPr>
        <p:spPr>
          <a:xfrm>
            <a:off x="3010582"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3" name="Rounded Rectangle 112"/>
          <p:cNvSpPr/>
          <p:nvPr/>
        </p:nvSpPr>
        <p:spPr>
          <a:xfrm>
            <a:off x="3010582"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4" name="Oval 113"/>
          <p:cNvSpPr/>
          <p:nvPr/>
        </p:nvSpPr>
        <p:spPr>
          <a:xfrm>
            <a:off x="3107113"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5" name="Oval 114"/>
          <p:cNvSpPr/>
          <p:nvPr/>
        </p:nvSpPr>
        <p:spPr>
          <a:xfrm>
            <a:off x="3107113"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6" name="Rounded Rectangle 115"/>
          <p:cNvSpPr/>
          <p:nvPr/>
        </p:nvSpPr>
        <p:spPr>
          <a:xfrm>
            <a:off x="4131491"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Categoryc4</a:t>
            </a:r>
          </a:p>
        </p:txBody>
      </p:sp>
      <p:sp>
        <p:nvSpPr>
          <p:cNvPr id="117" name="Rounded Rectangle 116"/>
          <p:cNvSpPr/>
          <p:nvPr/>
        </p:nvSpPr>
        <p:spPr>
          <a:xfrm>
            <a:off x="4170840"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8" name="Rounded Rectangle 117"/>
          <p:cNvSpPr/>
          <p:nvPr/>
        </p:nvSpPr>
        <p:spPr>
          <a:xfrm>
            <a:off x="4170840"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9" name="Rounded Rectangle 118"/>
          <p:cNvSpPr/>
          <p:nvPr/>
        </p:nvSpPr>
        <p:spPr>
          <a:xfrm>
            <a:off x="4170840"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0" name="Rounded Rectangle 119"/>
          <p:cNvSpPr/>
          <p:nvPr/>
        </p:nvSpPr>
        <p:spPr>
          <a:xfrm>
            <a:off x="4170840"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1" name="Oval 120"/>
          <p:cNvSpPr/>
          <p:nvPr/>
        </p:nvSpPr>
        <p:spPr>
          <a:xfrm>
            <a:off x="4267371"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2" name="Oval 121"/>
          <p:cNvSpPr/>
          <p:nvPr/>
        </p:nvSpPr>
        <p:spPr>
          <a:xfrm>
            <a:off x="4267371"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3" name="Rounded Rectangle 122"/>
          <p:cNvSpPr/>
          <p:nvPr/>
        </p:nvSpPr>
        <p:spPr>
          <a:xfrm>
            <a:off x="5291749"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Categoryc5</a:t>
            </a:r>
          </a:p>
        </p:txBody>
      </p:sp>
      <p:sp>
        <p:nvSpPr>
          <p:cNvPr id="124" name="Rounded Rectangle 123"/>
          <p:cNvSpPr/>
          <p:nvPr/>
        </p:nvSpPr>
        <p:spPr>
          <a:xfrm>
            <a:off x="5331098"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5" name="Rounded Rectangle 124"/>
          <p:cNvSpPr/>
          <p:nvPr/>
        </p:nvSpPr>
        <p:spPr>
          <a:xfrm>
            <a:off x="5331098"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6" name="Rounded Rectangle 125"/>
          <p:cNvSpPr/>
          <p:nvPr/>
        </p:nvSpPr>
        <p:spPr>
          <a:xfrm>
            <a:off x="5331098"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7" name="Rounded Rectangle 126"/>
          <p:cNvSpPr/>
          <p:nvPr/>
        </p:nvSpPr>
        <p:spPr>
          <a:xfrm>
            <a:off x="5331098"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8" name="Oval 127"/>
          <p:cNvSpPr/>
          <p:nvPr/>
        </p:nvSpPr>
        <p:spPr>
          <a:xfrm>
            <a:off x="5427629"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9" name="Oval 128"/>
          <p:cNvSpPr/>
          <p:nvPr/>
        </p:nvSpPr>
        <p:spPr>
          <a:xfrm>
            <a:off x="5427629"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0" name="Rounded Rectangle 129"/>
          <p:cNvSpPr/>
          <p:nvPr/>
        </p:nvSpPr>
        <p:spPr>
          <a:xfrm>
            <a:off x="6452007"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Categoryc6</a:t>
            </a:r>
          </a:p>
        </p:txBody>
      </p:sp>
      <p:sp>
        <p:nvSpPr>
          <p:cNvPr id="131" name="Rounded Rectangle 130"/>
          <p:cNvSpPr/>
          <p:nvPr/>
        </p:nvSpPr>
        <p:spPr>
          <a:xfrm>
            <a:off x="6491356"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2" name="Rounded Rectangle 131"/>
          <p:cNvSpPr/>
          <p:nvPr/>
        </p:nvSpPr>
        <p:spPr>
          <a:xfrm>
            <a:off x="6491356"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3" name="Rounded Rectangle 132"/>
          <p:cNvSpPr/>
          <p:nvPr/>
        </p:nvSpPr>
        <p:spPr>
          <a:xfrm>
            <a:off x="6491356"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4" name="Rounded Rectangle 133"/>
          <p:cNvSpPr/>
          <p:nvPr/>
        </p:nvSpPr>
        <p:spPr>
          <a:xfrm>
            <a:off x="6491356"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5" name="Oval 134"/>
          <p:cNvSpPr/>
          <p:nvPr/>
        </p:nvSpPr>
        <p:spPr>
          <a:xfrm>
            <a:off x="6587887"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Oval 135"/>
          <p:cNvSpPr/>
          <p:nvPr/>
        </p:nvSpPr>
        <p:spPr>
          <a:xfrm>
            <a:off x="6587887"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7" name="Rounded Rectangle 136"/>
          <p:cNvSpPr/>
          <p:nvPr/>
        </p:nvSpPr>
        <p:spPr>
          <a:xfrm>
            <a:off x="7612265"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Categoryc7</a:t>
            </a:r>
          </a:p>
        </p:txBody>
      </p:sp>
      <p:sp>
        <p:nvSpPr>
          <p:cNvPr id="138" name="Rounded Rectangle 137"/>
          <p:cNvSpPr/>
          <p:nvPr/>
        </p:nvSpPr>
        <p:spPr>
          <a:xfrm>
            <a:off x="7651614"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9" name="Rounded Rectangle 138"/>
          <p:cNvSpPr/>
          <p:nvPr/>
        </p:nvSpPr>
        <p:spPr>
          <a:xfrm>
            <a:off x="7651614"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0" name="Rounded Rectangle 139"/>
          <p:cNvSpPr/>
          <p:nvPr/>
        </p:nvSpPr>
        <p:spPr>
          <a:xfrm>
            <a:off x="7651614"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1" name="Rounded Rectangle 140"/>
          <p:cNvSpPr/>
          <p:nvPr/>
        </p:nvSpPr>
        <p:spPr>
          <a:xfrm>
            <a:off x="7651614"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2" name="Oval 141"/>
          <p:cNvSpPr/>
          <p:nvPr/>
        </p:nvSpPr>
        <p:spPr>
          <a:xfrm>
            <a:off x="7748145"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3" name="Oval 142"/>
          <p:cNvSpPr/>
          <p:nvPr/>
        </p:nvSpPr>
        <p:spPr>
          <a:xfrm>
            <a:off x="7748145"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44" name="Elbow Connector 143"/>
          <p:cNvCxnSpPr>
            <a:endCxn id="116" idx="0"/>
          </p:cNvCxnSpPr>
          <p:nvPr/>
        </p:nvCxnSpPr>
        <p:spPr>
          <a:xfrm rot="5400000">
            <a:off x="4822771" y="1290653"/>
            <a:ext cx="285750" cy="57103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45" name="Elbow Connector 144"/>
          <p:cNvCxnSpPr>
            <a:endCxn id="123" idx="0"/>
          </p:cNvCxnSpPr>
          <p:nvPr/>
        </p:nvCxnSpPr>
        <p:spPr>
          <a:xfrm rot="16200000" flipH="1">
            <a:off x="5402900" y="1281554"/>
            <a:ext cx="285750" cy="58922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133</a:t>
            </a:fld>
            <a:endParaRPr lang="en-GB" dirty="0"/>
          </a:p>
        </p:txBody>
      </p:sp>
    </p:spTree>
    <p:extLst>
      <p:ext uri="{BB962C8B-B14F-4D97-AF65-F5344CB8AC3E}">
        <p14:creationId xmlns:p14="http://schemas.microsoft.com/office/powerpoint/2010/main" val="2459269187"/>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Category-C</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Category-C</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059524" y="-472594"/>
            <a:ext cx="285750" cy="409752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68052" y="-483599"/>
            <a:ext cx="285750" cy="4119533"/>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Categoryc1</a:t>
            </a:r>
          </a:p>
        </p:txBody>
      </p:sp>
      <p:sp>
        <p:nvSpPr>
          <p:cNvPr id="85" name="Rounded Rectangle 84"/>
          <p:cNvSpPr/>
          <p:nvPr/>
        </p:nvSpPr>
        <p:spPr>
          <a:xfrm>
            <a:off x="686787"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86787"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86787"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86787"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75273"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75273"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867774"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Categoryc9</a:t>
            </a:r>
          </a:p>
        </p:txBody>
      </p:sp>
      <p:sp>
        <p:nvSpPr>
          <p:cNvPr id="92" name="Rounded Rectangle 91"/>
          <p:cNvSpPr/>
          <p:nvPr/>
        </p:nvSpPr>
        <p:spPr>
          <a:xfrm>
            <a:off x="8903303" y="2272179"/>
            <a:ext cx="93478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903303" y="3461824"/>
            <a:ext cx="93478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903303" y="4297478"/>
            <a:ext cx="93478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903303" y="5487125"/>
            <a:ext cx="93478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991892" y="2849594"/>
            <a:ext cx="75760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991892" y="4874894"/>
            <a:ext cx="75760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4" idx="0"/>
          </p:cNvCxnSpPr>
          <p:nvPr/>
        </p:nvCxnSpPr>
        <p:spPr>
          <a:xfrm rot="5400000">
            <a:off x="3573090" y="40972"/>
            <a:ext cx="285750" cy="307039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46" idx="0"/>
          </p:cNvCxnSpPr>
          <p:nvPr/>
        </p:nvCxnSpPr>
        <p:spPr>
          <a:xfrm rot="16200000" flipH="1">
            <a:off x="6654486" y="29968"/>
            <a:ext cx="285750" cy="309240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11" idx="0"/>
          </p:cNvCxnSpPr>
          <p:nvPr/>
        </p:nvCxnSpPr>
        <p:spPr>
          <a:xfrm rot="5400000">
            <a:off x="4086656" y="554538"/>
            <a:ext cx="285750" cy="204326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39" idx="0"/>
          </p:cNvCxnSpPr>
          <p:nvPr/>
        </p:nvCxnSpPr>
        <p:spPr>
          <a:xfrm rot="16200000" flipH="1">
            <a:off x="6140920" y="543534"/>
            <a:ext cx="285750" cy="206526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Elbow Connector 101"/>
          <p:cNvCxnSpPr>
            <a:endCxn id="118" idx="0"/>
          </p:cNvCxnSpPr>
          <p:nvPr/>
        </p:nvCxnSpPr>
        <p:spPr>
          <a:xfrm rot="5400000">
            <a:off x="4600222" y="1068104"/>
            <a:ext cx="285750" cy="1016128"/>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endCxn id="132" idx="0"/>
          </p:cNvCxnSpPr>
          <p:nvPr/>
        </p:nvCxnSpPr>
        <p:spPr>
          <a:xfrm rot="16200000" flipH="1">
            <a:off x="5627354" y="1057100"/>
            <a:ext cx="285750" cy="103813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4" name="Rounded Rectangle 103"/>
          <p:cNvSpPr/>
          <p:nvPr/>
        </p:nvSpPr>
        <p:spPr>
          <a:xfrm>
            <a:off x="1677849"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Categoryc2</a:t>
            </a:r>
          </a:p>
        </p:txBody>
      </p:sp>
      <p:sp>
        <p:nvSpPr>
          <p:cNvPr id="105" name="Rounded Rectangle 104"/>
          <p:cNvSpPr/>
          <p:nvPr/>
        </p:nvSpPr>
        <p:spPr>
          <a:xfrm>
            <a:off x="1713919"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6" name="Rounded Rectangle 105"/>
          <p:cNvSpPr/>
          <p:nvPr/>
        </p:nvSpPr>
        <p:spPr>
          <a:xfrm>
            <a:off x="1713919"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7" name="Rounded Rectangle 106"/>
          <p:cNvSpPr/>
          <p:nvPr/>
        </p:nvSpPr>
        <p:spPr>
          <a:xfrm>
            <a:off x="1713919"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8" name="Rounded Rectangle 107"/>
          <p:cNvSpPr/>
          <p:nvPr/>
        </p:nvSpPr>
        <p:spPr>
          <a:xfrm>
            <a:off x="1713919"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9" name="Oval 108"/>
          <p:cNvSpPr/>
          <p:nvPr/>
        </p:nvSpPr>
        <p:spPr>
          <a:xfrm>
            <a:off x="1802405"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0" name="Oval 109"/>
          <p:cNvSpPr/>
          <p:nvPr/>
        </p:nvSpPr>
        <p:spPr>
          <a:xfrm>
            <a:off x="1802405"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1" name="Rounded Rectangle 110"/>
          <p:cNvSpPr/>
          <p:nvPr/>
        </p:nvSpPr>
        <p:spPr>
          <a:xfrm>
            <a:off x="2704981"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Categoryc3</a:t>
            </a:r>
          </a:p>
        </p:txBody>
      </p:sp>
      <p:sp>
        <p:nvSpPr>
          <p:cNvPr id="112" name="Rounded Rectangle 111"/>
          <p:cNvSpPr/>
          <p:nvPr/>
        </p:nvSpPr>
        <p:spPr>
          <a:xfrm>
            <a:off x="2741051"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3" name="Rounded Rectangle 112"/>
          <p:cNvSpPr/>
          <p:nvPr/>
        </p:nvSpPr>
        <p:spPr>
          <a:xfrm>
            <a:off x="2741051"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4" name="Rounded Rectangle 113"/>
          <p:cNvSpPr/>
          <p:nvPr/>
        </p:nvSpPr>
        <p:spPr>
          <a:xfrm>
            <a:off x="2741051"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5" name="Rounded Rectangle 114"/>
          <p:cNvSpPr/>
          <p:nvPr/>
        </p:nvSpPr>
        <p:spPr>
          <a:xfrm>
            <a:off x="2741051"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6" name="Oval 115"/>
          <p:cNvSpPr/>
          <p:nvPr/>
        </p:nvSpPr>
        <p:spPr>
          <a:xfrm>
            <a:off x="2829537"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7" name="Oval 116"/>
          <p:cNvSpPr/>
          <p:nvPr/>
        </p:nvSpPr>
        <p:spPr>
          <a:xfrm>
            <a:off x="2829537"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8" name="Rounded Rectangle 117"/>
          <p:cNvSpPr/>
          <p:nvPr/>
        </p:nvSpPr>
        <p:spPr>
          <a:xfrm>
            <a:off x="3732113"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Categoryc4</a:t>
            </a:r>
          </a:p>
        </p:txBody>
      </p:sp>
      <p:sp>
        <p:nvSpPr>
          <p:cNvPr id="119" name="Rounded Rectangle 118"/>
          <p:cNvSpPr/>
          <p:nvPr/>
        </p:nvSpPr>
        <p:spPr>
          <a:xfrm>
            <a:off x="3768183"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0" name="Rounded Rectangle 119"/>
          <p:cNvSpPr/>
          <p:nvPr/>
        </p:nvSpPr>
        <p:spPr>
          <a:xfrm>
            <a:off x="3768183"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1" name="Rounded Rectangle 120"/>
          <p:cNvSpPr/>
          <p:nvPr/>
        </p:nvSpPr>
        <p:spPr>
          <a:xfrm>
            <a:off x="3768183"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2" name="Rounded Rectangle 121"/>
          <p:cNvSpPr/>
          <p:nvPr/>
        </p:nvSpPr>
        <p:spPr>
          <a:xfrm>
            <a:off x="3768183"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3" name="Oval 122"/>
          <p:cNvSpPr/>
          <p:nvPr/>
        </p:nvSpPr>
        <p:spPr>
          <a:xfrm>
            <a:off x="3856669"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4" name="Oval 123"/>
          <p:cNvSpPr/>
          <p:nvPr/>
        </p:nvSpPr>
        <p:spPr>
          <a:xfrm>
            <a:off x="3856669"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5" name="Rounded Rectangle 124"/>
          <p:cNvSpPr/>
          <p:nvPr/>
        </p:nvSpPr>
        <p:spPr>
          <a:xfrm>
            <a:off x="4759245"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Categoryc5</a:t>
            </a:r>
          </a:p>
        </p:txBody>
      </p:sp>
      <p:sp>
        <p:nvSpPr>
          <p:cNvPr id="126" name="Rounded Rectangle 125"/>
          <p:cNvSpPr/>
          <p:nvPr/>
        </p:nvSpPr>
        <p:spPr>
          <a:xfrm>
            <a:off x="4795315"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7" name="Rounded Rectangle 126"/>
          <p:cNvSpPr/>
          <p:nvPr/>
        </p:nvSpPr>
        <p:spPr>
          <a:xfrm>
            <a:off x="4795315"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8" name="Rounded Rectangle 127"/>
          <p:cNvSpPr/>
          <p:nvPr/>
        </p:nvSpPr>
        <p:spPr>
          <a:xfrm>
            <a:off x="4795315"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9" name="Rounded Rectangle 128"/>
          <p:cNvSpPr/>
          <p:nvPr/>
        </p:nvSpPr>
        <p:spPr>
          <a:xfrm>
            <a:off x="4795315"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0" name="Oval 129"/>
          <p:cNvSpPr/>
          <p:nvPr/>
        </p:nvSpPr>
        <p:spPr>
          <a:xfrm>
            <a:off x="4883801"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1" name="Oval 130"/>
          <p:cNvSpPr/>
          <p:nvPr/>
        </p:nvSpPr>
        <p:spPr>
          <a:xfrm>
            <a:off x="4883801"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2" name="Rounded Rectangle 131"/>
          <p:cNvSpPr/>
          <p:nvPr/>
        </p:nvSpPr>
        <p:spPr>
          <a:xfrm>
            <a:off x="5786377"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Categoryc6</a:t>
            </a:r>
          </a:p>
        </p:txBody>
      </p:sp>
      <p:sp>
        <p:nvSpPr>
          <p:cNvPr id="133" name="Rounded Rectangle 132"/>
          <p:cNvSpPr/>
          <p:nvPr/>
        </p:nvSpPr>
        <p:spPr>
          <a:xfrm>
            <a:off x="5822447"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4" name="Rounded Rectangle 133"/>
          <p:cNvSpPr/>
          <p:nvPr/>
        </p:nvSpPr>
        <p:spPr>
          <a:xfrm>
            <a:off x="5822447"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5" name="Rounded Rectangle 134"/>
          <p:cNvSpPr/>
          <p:nvPr/>
        </p:nvSpPr>
        <p:spPr>
          <a:xfrm>
            <a:off x="5822447"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6" name="Rounded Rectangle 135"/>
          <p:cNvSpPr/>
          <p:nvPr/>
        </p:nvSpPr>
        <p:spPr>
          <a:xfrm>
            <a:off x="5822447"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7" name="Oval 136"/>
          <p:cNvSpPr/>
          <p:nvPr/>
        </p:nvSpPr>
        <p:spPr>
          <a:xfrm>
            <a:off x="5910933"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8" name="Oval 137"/>
          <p:cNvSpPr/>
          <p:nvPr/>
        </p:nvSpPr>
        <p:spPr>
          <a:xfrm>
            <a:off x="5910933"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9" name="Rounded Rectangle 138"/>
          <p:cNvSpPr/>
          <p:nvPr/>
        </p:nvSpPr>
        <p:spPr>
          <a:xfrm>
            <a:off x="6813509"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Categoryc7</a:t>
            </a:r>
          </a:p>
        </p:txBody>
      </p:sp>
      <p:sp>
        <p:nvSpPr>
          <p:cNvPr id="140" name="Rounded Rectangle 139"/>
          <p:cNvSpPr/>
          <p:nvPr/>
        </p:nvSpPr>
        <p:spPr>
          <a:xfrm>
            <a:off x="6849579"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1" name="Rounded Rectangle 140"/>
          <p:cNvSpPr/>
          <p:nvPr/>
        </p:nvSpPr>
        <p:spPr>
          <a:xfrm>
            <a:off x="6849579"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2" name="Rounded Rectangle 141"/>
          <p:cNvSpPr/>
          <p:nvPr/>
        </p:nvSpPr>
        <p:spPr>
          <a:xfrm>
            <a:off x="6849579"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3" name="Rounded Rectangle 142"/>
          <p:cNvSpPr/>
          <p:nvPr/>
        </p:nvSpPr>
        <p:spPr>
          <a:xfrm>
            <a:off x="6849579"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4" name="Oval 143"/>
          <p:cNvSpPr/>
          <p:nvPr/>
        </p:nvSpPr>
        <p:spPr>
          <a:xfrm>
            <a:off x="6938065"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5" name="Oval 144"/>
          <p:cNvSpPr/>
          <p:nvPr/>
        </p:nvSpPr>
        <p:spPr>
          <a:xfrm>
            <a:off x="6938065"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6" name="Rounded Rectangle 145"/>
          <p:cNvSpPr/>
          <p:nvPr/>
        </p:nvSpPr>
        <p:spPr>
          <a:xfrm>
            <a:off x="7840641"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Categoryc8</a:t>
            </a:r>
          </a:p>
        </p:txBody>
      </p:sp>
      <p:sp>
        <p:nvSpPr>
          <p:cNvPr id="147" name="Rounded Rectangle 146"/>
          <p:cNvSpPr/>
          <p:nvPr/>
        </p:nvSpPr>
        <p:spPr>
          <a:xfrm>
            <a:off x="7876711"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8" name="Rounded Rectangle 147"/>
          <p:cNvSpPr/>
          <p:nvPr/>
        </p:nvSpPr>
        <p:spPr>
          <a:xfrm>
            <a:off x="7876711"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9" name="Rounded Rectangle 148"/>
          <p:cNvSpPr/>
          <p:nvPr/>
        </p:nvSpPr>
        <p:spPr>
          <a:xfrm>
            <a:off x="7876711"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50" name="Rounded Rectangle 149"/>
          <p:cNvSpPr/>
          <p:nvPr/>
        </p:nvSpPr>
        <p:spPr>
          <a:xfrm>
            <a:off x="7876711"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51" name="Oval 150"/>
          <p:cNvSpPr/>
          <p:nvPr/>
        </p:nvSpPr>
        <p:spPr>
          <a:xfrm>
            <a:off x="7965197"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0" name="Oval 199"/>
          <p:cNvSpPr/>
          <p:nvPr/>
        </p:nvSpPr>
        <p:spPr>
          <a:xfrm>
            <a:off x="7965197"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201" name="Elbow Connector 200"/>
          <p:cNvCxnSpPr>
            <a:endCxn id="125" idx="0"/>
          </p:cNvCxnSpPr>
          <p:nvPr/>
        </p:nvCxnSpPr>
        <p:spPr>
          <a:xfrm rot="16200000" flipH="1">
            <a:off x="5113788" y="1570666"/>
            <a:ext cx="285750" cy="1100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134</a:t>
            </a:fld>
            <a:endParaRPr lang="en-GB" dirty="0"/>
          </a:p>
        </p:txBody>
      </p:sp>
    </p:spTree>
    <p:extLst>
      <p:ext uri="{BB962C8B-B14F-4D97-AF65-F5344CB8AC3E}">
        <p14:creationId xmlns:p14="http://schemas.microsoft.com/office/powerpoint/2010/main" val="3949171463"/>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Category-C</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Category-C</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002977" y="-529141"/>
            <a:ext cx="285750" cy="42106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216880" y="-532427"/>
            <a:ext cx="285750" cy="421718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464951" y="2507208"/>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464951" y="3696853"/>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464951" y="4532507"/>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464951" y="5722154"/>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583342"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Categoryc1</a:t>
            </a:r>
          </a:p>
        </p:txBody>
      </p:sp>
      <p:sp>
        <p:nvSpPr>
          <p:cNvPr id="85" name="Rounded Rectangle 84"/>
          <p:cNvSpPr/>
          <p:nvPr/>
        </p:nvSpPr>
        <p:spPr>
          <a:xfrm>
            <a:off x="616133"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16133"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16133"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16133"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696575"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69657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9011150"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Categoryc10</a:t>
            </a:r>
          </a:p>
        </p:txBody>
      </p:sp>
      <p:sp>
        <p:nvSpPr>
          <p:cNvPr id="92" name="Rounded Rectangle 91"/>
          <p:cNvSpPr/>
          <p:nvPr/>
        </p:nvSpPr>
        <p:spPr>
          <a:xfrm>
            <a:off x="9043449" y="2272179"/>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9043449" y="3461824"/>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9043449" y="4297478"/>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9043449" y="5487125"/>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9123984" y="28495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9123984" y="48748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5" idx="0"/>
          </p:cNvCxnSpPr>
          <p:nvPr/>
        </p:nvCxnSpPr>
        <p:spPr>
          <a:xfrm rot="5400000">
            <a:off x="3471188" y="-60930"/>
            <a:ext cx="285750" cy="327419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202" idx="0"/>
          </p:cNvCxnSpPr>
          <p:nvPr/>
        </p:nvCxnSpPr>
        <p:spPr>
          <a:xfrm rot="16200000" flipH="1">
            <a:off x="6748668" y="-64215"/>
            <a:ext cx="285750" cy="3280765"/>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12" idx="0"/>
          </p:cNvCxnSpPr>
          <p:nvPr/>
        </p:nvCxnSpPr>
        <p:spPr>
          <a:xfrm rot="5400000">
            <a:off x="3939400" y="407282"/>
            <a:ext cx="285750" cy="2337773"/>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47" idx="0"/>
          </p:cNvCxnSpPr>
          <p:nvPr/>
        </p:nvCxnSpPr>
        <p:spPr>
          <a:xfrm rot="16200000" flipH="1">
            <a:off x="6280457" y="403997"/>
            <a:ext cx="285750" cy="234434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Elbow Connector 101"/>
          <p:cNvCxnSpPr>
            <a:endCxn id="119" idx="0"/>
          </p:cNvCxnSpPr>
          <p:nvPr/>
        </p:nvCxnSpPr>
        <p:spPr>
          <a:xfrm rot="5400000">
            <a:off x="4407611" y="875493"/>
            <a:ext cx="285750" cy="140135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endCxn id="140" idx="0"/>
          </p:cNvCxnSpPr>
          <p:nvPr/>
        </p:nvCxnSpPr>
        <p:spPr>
          <a:xfrm rot="16200000" flipH="1">
            <a:off x="5812245" y="872208"/>
            <a:ext cx="285750" cy="1407919"/>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4" name="Elbow Connector 103"/>
          <p:cNvCxnSpPr>
            <a:endCxn id="133" idx="0"/>
          </p:cNvCxnSpPr>
          <p:nvPr/>
        </p:nvCxnSpPr>
        <p:spPr>
          <a:xfrm rot="16200000" flipH="1">
            <a:off x="5344034" y="1340420"/>
            <a:ext cx="285750" cy="47149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5" name="Rounded Rectangle 104"/>
          <p:cNvSpPr/>
          <p:nvPr/>
        </p:nvSpPr>
        <p:spPr>
          <a:xfrm>
            <a:off x="1519765"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Categoryc2</a:t>
            </a:r>
          </a:p>
        </p:txBody>
      </p:sp>
      <p:sp>
        <p:nvSpPr>
          <p:cNvPr id="106" name="Rounded Rectangle 105"/>
          <p:cNvSpPr/>
          <p:nvPr/>
        </p:nvSpPr>
        <p:spPr>
          <a:xfrm>
            <a:off x="1552392"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7" name="Rounded Rectangle 106"/>
          <p:cNvSpPr/>
          <p:nvPr/>
        </p:nvSpPr>
        <p:spPr>
          <a:xfrm>
            <a:off x="1552392"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8" name="Rounded Rectangle 107"/>
          <p:cNvSpPr/>
          <p:nvPr/>
        </p:nvSpPr>
        <p:spPr>
          <a:xfrm>
            <a:off x="1552392"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9" name="Rounded Rectangle 108"/>
          <p:cNvSpPr/>
          <p:nvPr/>
        </p:nvSpPr>
        <p:spPr>
          <a:xfrm>
            <a:off x="1552392"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0" name="Oval 109"/>
          <p:cNvSpPr/>
          <p:nvPr/>
        </p:nvSpPr>
        <p:spPr>
          <a:xfrm>
            <a:off x="168754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1" name="Oval 110"/>
          <p:cNvSpPr/>
          <p:nvPr/>
        </p:nvSpPr>
        <p:spPr>
          <a:xfrm>
            <a:off x="163286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2" name="Rounded Rectangle 111"/>
          <p:cNvSpPr/>
          <p:nvPr/>
        </p:nvSpPr>
        <p:spPr>
          <a:xfrm>
            <a:off x="2456188"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Categoryc3</a:t>
            </a:r>
          </a:p>
        </p:txBody>
      </p:sp>
      <p:sp>
        <p:nvSpPr>
          <p:cNvPr id="113" name="Rounded Rectangle 112"/>
          <p:cNvSpPr/>
          <p:nvPr/>
        </p:nvSpPr>
        <p:spPr>
          <a:xfrm>
            <a:off x="2488651"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4" name="Rounded Rectangle 113"/>
          <p:cNvSpPr/>
          <p:nvPr/>
        </p:nvSpPr>
        <p:spPr>
          <a:xfrm>
            <a:off x="2488651"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5" name="Rounded Rectangle 114"/>
          <p:cNvSpPr/>
          <p:nvPr/>
        </p:nvSpPr>
        <p:spPr>
          <a:xfrm>
            <a:off x="2488651"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6" name="Rounded Rectangle 115"/>
          <p:cNvSpPr/>
          <p:nvPr/>
        </p:nvSpPr>
        <p:spPr>
          <a:xfrm>
            <a:off x="2488651"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7" name="Oval 116"/>
          <p:cNvSpPr/>
          <p:nvPr/>
        </p:nvSpPr>
        <p:spPr>
          <a:xfrm>
            <a:off x="261113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8" name="Oval 117"/>
          <p:cNvSpPr/>
          <p:nvPr/>
        </p:nvSpPr>
        <p:spPr>
          <a:xfrm>
            <a:off x="256915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9" name="Rounded Rectangle 118"/>
          <p:cNvSpPr/>
          <p:nvPr/>
        </p:nvSpPr>
        <p:spPr>
          <a:xfrm>
            <a:off x="3392611"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Categoryc4</a:t>
            </a:r>
          </a:p>
        </p:txBody>
      </p:sp>
      <p:sp>
        <p:nvSpPr>
          <p:cNvPr id="120" name="Rounded Rectangle 119"/>
          <p:cNvSpPr/>
          <p:nvPr/>
        </p:nvSpPr>
        <p:spPr>
          <a:xfrm>
            <a:off x="3424910"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1" name="Rounded Rectangle 120"/>
          <p:cNvSpPr/>
          <p:nvPr/>
        </p:nvSpPr>
        <p:spPr>
          <a:xfrm>
            <a:off x="3424910"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2" name="Rounded Rectangle 121"/>
          <p:cNvSpPr/>
          <p:nvPr/>
        </p:nvSpPr>
        <p:spPr>
          <a:xfrm>
            <a:off x="3424910"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3" name="Rounded Rectangle 122"/>
          <p:cNvSpPr/>
          <p:nvPr/>
        </p:nvSpPr>
        <p:spPr>
          <a:xfrm>
            <a:off x="3424910"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4" name="Oval 123"/>
          <p:cNvSpPr/>
          <p:nvPr/>
        </p:nvSpPr>
        <p:spPr>
          <a:xfrm>
            <a:off x="353472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5" name="Oval 124"/>
          <p:cNvSpPr/>
          <p:nvPr/>
        </p:nvSpPr>
        <p:spPr>
          <a:xfrm>
            <a:off x="350544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6" name="Rounded Rectangle 125"/>
          <p:cNvSpPr/>
          <p:nvPr/>
        </p:nvSpPr>
        <p:spPr>
          <a:xfrm>
            <a:off x="4329034"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Categoryc5</a:t>
            </a:r>
          </a:p>
        </p:txBody>
      </p:sp>
      <p:sp>
        <p:nvSpPr>
          <p:cNvPr id="127" name="Rounded Rectangle 126"/>
          <p:cNvSpPr/>
          <p:nvPr/>
        </p:nvSpPr>
        <p:spPr>
          <a:xfrm>
            <a:off x="4361169"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8" name="Rounded Rectangle 127"/>
          <p:cNvSpPr/>
          <p:nvPr/>
        </p:nvSpPr>
        <p:spPr>
          <a:xfrm>
            <a:off x="4361169"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9" name="Rounded Rectangle 128"/>
          <p:cNvSpPr/>
          <p:nvPr/>
        </p:nvSpPr>
        <p:spPr>
          <a:xfrm>
            <a:off x="4361169"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0" name="Rounded Rectangle 129"/>
          <p:cNvSpPr/>
          <p:nvPr/>
        </p:nvSpPr>
        <p:spPr>
          <a:xfrm>
            <a:off x="4361169"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1" name="Oval 130"/>
          <p:cNvSpPr/>
          <p:nvPr/>
        </p:nvSpPr>
        <p:spPr>
          <a:xfrm>
            <a:off x="445831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2" name="Oval 131"/>
          <p:cNvSpPr/>
          <p:nvPr/>
        </p:nvSpPr>
        <p:spPr>
          <a:xfrm>
            <a:off x="444173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3" name="Rounded Rectangle 132"/>
          <p:cNvSpPr/>
          <p:nvPr/>
        </p:nvSpPr>
        <p:spPr>
          <a:xfrm>
            <a:off x="5265457"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Categoryc6</a:t>
            </a:r>
          </a:p>
        </p:txBody>
      </p:sp>
      <p:sp>
        <p:nvSpPr>
          <p:cNvPr id="134" name="Rounded Rectangle 133"/>
          <p:cNvSpPr/>
          <p:nvPr/>
        </p:nvSpPr>
        <p:spPr>
          <a:xfrm>
            <a:off x="5297428"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5" name="Rounded Rectangle 134"/>
          <p:cNvSpPr/>
          <p:nvPr/>
        </p:nvSpPr>
        <p:spPr>
          <a:xfrm>
            <a:off x="5297428"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6" name="Rounded Rectangle 135"/>
          <p:cNvSpPr/>
          <p:nvPr/>
        </p:nvSpPr>
        <p:spPr>
          <a:xfrm>
            <a:off x="5297428"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7" name="Rounded Rectangle 136"/>
          <p:cNvSpPr/>
          <p:nvPr/>
        </p:nvSpPr>
        <p:spPr>
          <a:xfrm>
            <a:off x="5297428"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8" name="Oval 137"/>
          <p:cNvSpPr/>
          <p:nvPr/>
        </p:nvSpPr>
        <p:spPr>
          <a:xfrm>
            <a:off x="538190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9" name="Oval 138"/>
          <p:cNvSpPr/>
          <p:nvPr/>
        </p:nvSpPr>
        <p:spPr>
          <a:xfrm>
            <a:off x="537802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0" name="Rounded Rectangle 139"/>
          <p:cNvSpPr/>
          <p:nvPr/>
        </p:nvSpPr>
        <p:spPr>
          <a:xfrm>
            <a:off x="6201880"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Categoryc7</a:t>
            </a:r>
          </a:p>
        </p:txBody>
      </p:sp>
      <p:sp>
        <p:nvSpPr>
          <p:cNvPr id="141" name="Rounded Rectangle 140"/>
          <p:cNvSpPr/>
          <p:nvPr/>
        </p:nvSpPr>
        <p:spPr>
          <a:xfrm>
            <a:off x="6233687"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2" name="Rounded Rectangle 141"/>
          <p:cNvSpPr/>
          <p:nvPr/>
        </p:nvSpPr>
        <p:spPr>
          <a:xfrm>
            <a:off x="6233687"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3" name="Rounded Rectangle 142"/>
          <p:cNvSpPr/>
          <p:nvPr/>
        </p:nvSpPr>
        <p:spPr>
          <a:xfrm>
            <a:off x="6233687"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4" name="Rounded Rectangle 143"/>
          <p:cNvSpPr/>
          <p:nvPr/>
        </p:nvSpPr>
        <p:spPr>
          <a:xfrm>
            <a:off x="6233687"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5" name="Oval 144"/>
          <p:cNvSpPr/>
          <p:nvPr/>
        </p:nvSpPr>
        <p:spPr>
          <a:xfrm>
            <a:off x="630549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6" name="Oval 145"/>
          <p:cNvSpPr/>
          <p:nvPr/>
        </p:nvSpPr>
        <p:spPr>
          <a:xfrm>
            <a:off x="631431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7" name="Rounded Rectangle 146"/>
          <p:cNvSpPr/>
          <p:nvPr/>
        </p:nvSpPr>
        <p:spPr>
          <a:xfrm>
            <a:off x="7138303"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Categoryc8</a:t>
            </a:r>
          </a:p>
        </p:txBody>
      </p:sp>
      <p:sp>
        <p:nvSpPr>
          <p:cNvPr id="148" name="Rounded Rectangle 147"/>
          <p:cNvSpPr/>
          <p:nvPr/>
        </p:nvSpPr>
        <p:spPr>
          <a:xfrm>
            <a:off x="7169946"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9" name="Rounded Rectangle 148"/>
          <p:cNvSpPr/>
          <p:nvPr/>
        </p:nvSpPr>
        <p:spPr>
          <a:xfrm>
            <a:off x="7169946"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50" name="Rounded Rectangle 149"/>
          <p:cNvSpPr/>
          <p:nvPr/>
        </p:nvSpPr>
        <p:spPr>
          <a:xfrm>
            <a:off x="7169946"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51" name="Rounded Rectangle 150"/>
          <p:cNvSpPr/>
          <p:nvPr/>
        </p:nvSpPr>
        <p:spPr>
          <a:xfrm>
            <a:off x="7169946"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200" name="Oval 199"/>
          <p:cNvSpPr/>
          <p:nvPr/>
        </p:nvSpPr>
        <p:spPr>
          <a:xfrm>
            <a:off x="722908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1" name="Oval 200"/>
          <p:cNvSpPr/>
          <p:nvPr/>
        </p:nvSpPr>
        <p:spPr>
          <a:xfrm>
            <a:off x="725060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2" name="Rounded Rectangle 201"/>
          <p:cNvSpPr/>
          <p:nvPr/>
        </p:nvSpPr>
        <p:spPr>
          <a:xfrm>
            <a:off x="8074726"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Categoryc9</a:t>
            </a:r>
          </a:p>
        </p:txBody>
      </p:sp>
      <p:sp>
        <p:nvSpPr>
          <p:cNvPr id="203" name="Rounded Rectangle 202"/>
          <p:cNvSpPr/>
          <p:nvPr/>
        </p:nvSpPr>
        <p:spPr>
          <a:xfrm>
            <a:off x="8106205" y="2272179"/>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204" name="Rounded Rectangle 203"/>
          <p:cNvSpPr/>
          <p:nvPr/>
        </p:nvSpPr>
        <p:spPr>
          <a:xfrm>
            <a:off x="8106205" y="3461824"/>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205" name="Rounded Rectangle 204"/>
          <p:cNvSpPr/>
          <p:nvPr/>
        </p:nvSpPr>
        <p:spPr>
          <a:xfrm>
            <a:off x="8106205" y="4297478"/>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206" name="Rounded Rectangle 205"/>
          <p:cNvSpPr/>
          <p:nvPr/>
        </p:nvSpPr>
        <p:spPr>
          <a:xfrm>
            <a:off x="8106205" y="5487125"/>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207" name="Oval 206"/>
          <p:cNvSpPr/>
          <p:nvPr/>
        </p:nvSpPr>
        <p:spPr>
          <a:xfrm>
            <a:off x="8152271" y="28495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8" name="Oval 207"/>
          <p:cNvSpPr/>
          <p:nvPr/>
        </p:nvSpPr>
        <p:spPr>
          <a:xfrm>
            <a:off x="8186895" y="48748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209" name="Elbow Connector 208"/>
          <p:cNvCxnSpPr>
            <a:endCxn id="126" idx="0"/>
          </p:cNvCxnSpPr>
          <p:nvPr/>
        </p:nvCxnSpPr>
        <p:spPr>
          <a:xfrm rot="5400000">
            <a:off x="4875823" y="1343705"/>
            <a:ext cx="285750" cy="464927"/>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135</a:t>
            </a:fld>
            <a:endParaRPr lang="en-GB" dirty="0"/>
          </a:p>
        </p:txBody>
      </p:sp>
    </p:spTree>
    <p:extLst>
      <p:ext uri="{BB962C8B-B14F-4D97-AF65-F5344CB8AC3E}">
        <p14:creationId xmlns:p14="http://schemas.microsoft.com/office/powerpoint/2010/main" val="2679278706"/>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a:t>Global WXYZ Market Analysis </a:t>
            </a:r>
            <a:r>
              <a:rPr lang="en-US"/>
              <a:t>By Category-C</a:t>
            </a:r>
            <a:endParaRPr lang="en-US" dirty="0"/>
          </a:p>
        </p:txBody>
      </p:sp>
      <p:sp>
        <p:nvSpPr>
          <p:cNvPr id="10" name="Text Placeholder 9"/>
          <p:cNvSpPr>
            <a:spLocks noGrp="1"/>
          </p:cNvSpPr>
          <p:nvPr>
            <p:ph type="body" idx="12"/>
          </p:nvPr>
        </p:nvSpPr>
        <p:spPr/>
        <p:txBody>
          <a:bodyPr/>
          <a:lstStyle/>
          <a:p>
            <a:r>
              <a:rPr lang="en-US" sz="1100" dirty="0"/>
              <a:t>Figure xx: Global WXYZ Market Share and BPS Analysis </a:t>
            </a:r>
            <a:r>
              <a:rPr lang="en-US" sz="1100"/>
              <a:t>By Category-C, </a:t>
            </a:r>
            <a:r>
              <a:rPr lang="en-US" sz="1100" dirty="0"/>
              <a:t>2024 &amp; 2034</a:t>
            </a:r>
          </a:p>
        </p:txBody>
      </p:sp>
      <p:sp>
        <p:nvSpPr>
          <p:cNvPr id="12" name="Text Placeholder 11"/>
          <p:cNvSpPr>
            <a:spLocks noGrp="1"/>
          </p:cNvSpPr>
          <p:nvPr>
            <p:ph type="body" idx="14"/>
          </p:nvPr>
        </p:nvSpPr>
        <p:spPr/>
        <p:txBody>
          <a:bodyPr/>
          <a:lstStyle/>
          <a:p>
            <a:r>
              <a:rPr lang="en-US" sz="1100" dirty="0"/>
              <a:t>Figure xx: Global WXYZ Market Y-o-Y Growth Projections </a:t>
            </a:r>
            <a:r>
              <a:rPr lang="en-US" sz="1100"/>
              <a:t>By Category-C, </a:t>
            </a:r>
            <a:r>
              <a:rPr lang="en-US" sz="1100" dirty="0"/>
              <a:t>2024 – 2034</a:t>
            </a:r>
          </a:p>
        </p:txBody>
      </p:sp>
      <p:sp>
        <p:nvSpPr>
          <p:cNvPr id="14" name="Text Placeholder 13"/>
          <p:cNvSpPr>
            <a:spLocks noGrp="1"/>
          </p:cNvSpPr>
          <p:nvPr>
            <p:ph type="body" idx="16"/>
          </p:nvPr>
        </p:nvSpPr>
        <p:spPr/>
        <p:txBody>
          <a:bodyPr/>
          <a:lstStyle/>
          <a:p>
            <a:r>
              <a:rPr lang="en-US" dirty="0"/>
              <a:t>Figure xx: Global WXYZ Market Attractiveness Analysis </a:t>
            </a:r>
            <a:r>
              <a:rPr lang="en-US"/>
              <a:t>By Category-C, </a:t>
            </a:r>
            <a:r>
              <a:rPr lang="en-US" dirty="0"/>
              <a:t>2024 – 2034</a:t>
            </a:r>
          </a:p>
        </p:txBody>
      </p:sp>
      <p:sp>
        <p:nvSpPr>
          <p:cNvPr id="16" name="TextBox 1"/>
          <p:cNvSpPr txBox="1"/>
          <p:nvPr/>
        </p:nvSpPr>
        <p:spPr>
          <a:xfrm>
            <a:off x="719359" y="1695973"/>
            <a:ext cx="80631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B!Y! </a:t>
            </a:r>
            <a:r>
              <a:rPr lang="en-US" sz="1200" b="1" dirty="0" err="1"/>
              <a:t>Mn</a:t>
            </a:r>
            <a:endParaRPr lang="en-US" sz="1200" b="1" dirty="0"/>
          </a:p>
        </p:txBody>
      </p:sp>
      <p:sp>
        <p:nvSpPr>
          <p:cNvPr id="17" name="TextBox 9"/>
          <p:cNvSpPr txBox="1"/>
          <p:nvPr/>
        </p:nvSpPr>
        <p:spPr>
          <a:xfrm>
            <a:off x="2479917" y="1656252"/>
            <a:ext cx="79028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F!Y! </a:t>
            </a:r>
            <a:r>
              <a:rPr lang="en-US" sz="1200" b="1" dirty="0" err="1"/>
              <a:t>Mn</a:t>
            </a:r>
            <a:endParaRPr lang="en-US" sz="1200" b="1" dirty="0"/>
          </a:p>
        </p:txBody>
      </p:sp>
      <p:sp>
        <p:nvSpPr>
          <p:cNvPr id="13" name="TextBox 1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21" name="Content Placeholder 14"/>
          <p:cNvGraphicFramePr>
            <a:graphicFrameLocks noGrp="1"/>
          </p:cNvGraphicFramePr>
          <p:nvPr>
            <p:ph idx="1"/>
          </p:nvPr>
        </p:nvGraphicFramePr>
        <p:xfrm>
          <a:off x="152400" y="1612900"/>
          <a:ext cx="3768725" cy="459422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2" name="Content Placeholder 19"/>
          <p:cNvGraphicFramePr>
            <a:graphicFrameLocks noGrp="1"/>
          </p:cNvGraphicFramePr>
          <p:nvPr>
            <p:ph idx="15"/>
          </p:nvPr>
        </p:nvGraphicFramePr>
        <p:xfrm>
          <a:off x="8274050" y="1612900"/>
          <a:ext cx="3768725" cy="459422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3" name="Content Placeholder 17"/>
          <p:cNvGraphicFramePr>
            <a:graphicFrameLocks noGrp="1"/>
          </p:cNvGraphicFramePr>
          <p:nvPr>
            <p:ph idx="13"/>
          </p:nvPr>
        </p:nvGraphicFramePr>
        <p:xfrm>
          <a:off x="4213225" y="1612900"/>
          <a:ext cx="3768725" cy="4594225"/>
        </p:xfrm>
        <a:graphic>
          <a:graphicData uri="http://schemas.openxmlformats.org/drawingml/2006/chart">
            <c:chart xmlns:c="http://schemas.openxmlformats.org/drawingml/2006/chart" xmlns:r="http://schemas.openxmlformats.org/officeDocument/2006/relationships" r:id="rId4"/>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136</a:t>
            </a:fld>
            <a:endParaRPr lang="en-GB" dirty="0"/>
          </a:p>
        </p:txBody>
      </p:sp>
    </p:spTree>
    <p:extLst>
      <p:ext uri="{BB962C8B-B14F-4D97-AF65-F5344CB8AC3E}">
        <p14:creationId xmlns:p14="http://schemas.microsoft.com/office/powerpoint/2010/main" val="688328096"/>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Placeholder 10"/>
          <p:cNvSpPr>
            <a:spLocks noGrp="1"/>
          </p:cNvSpPr>
          <p:nvPr>
            <p:ph type="body" idx="12"/>
          </p:nvPr>
        </p:nvSpPr>
        <p:spPr/>
        <p:txBody>
          <a:bodyPr/>
          <a:lstStyle/>
          <a:p>
            <a:r>
              <a:rPr lang="en-US" sz="1400" dirty="0"/>
              <a:t>Table xx: Global WXYZ Market Size (US$ </a:t>
            </a:r>
            <a:r>
              <a:rPr lang="en-US" sz="1400" dirty="0" err="1"/>
              <a:t>Mn</a:t>
            </a:r>
            <a:r>
              <a:rPr lang="en-US" sz="1400" dirty="0"/>
              <a:t>) and Volume (Tons) Analysis and Forecast By Category-C, 2019 – 2034</a:t>
            </a:r>
          </a:p>
        </p:txBody>
      </p:sp>
      <p:graphicFrame>
        <p:nvGraphicFramePr>
          <p:cNvPr id="12" name="Content Placeholder 9"/>
          <p:cNvGraphicFramePr>
            <a:graphicFrameLocks/>
          </p:cNvGraphicFramePr>
          <p:nvPr/>
        </p:nvGraphicFramePr>
        <p:xfrm>
          <a:off x="152399" y="1674052"/>
          <a:ext cx="11887207" cy="4469976"/>
        </p:xfrm>
        <a:graphic>
          <a:graphicData uri="http://schemas.openxmlformats.org/drawingml/2006/table">
            <a:tbl>
              <a:tblPr firstRow="1" bandRow="1">
                <a:tableStyleId>{5C22544A-7EE6-4342-B048-85BDC9FD1C3A}</a:tableStyleId>
              </a:tblPr>
              <a:tblGrid>
                <a:gridCol w="897220">
                  <a:extLst>
                    <a:ext uri="{9D8B030D-6E8A-4147-A177-3AD203B41FA5}">
                      <a16:colId xmlns:a16="http://schemas.microsoft.com/office/drawing/2014/main" val="20000"/>
                    </a:ext>
                  </a:extLst>
                </a:gridCol>
                <a:gridCol w="360618">
                  <a:extLst>
                    <a:ext uri="{9D8B030D-6E8A-4147-A177-3AD203B41FA5}">
                      <a16:colId xmlns:a16="http://schemas.microsoft.com/office/drawing/2014/main" val="20018"/>
                    </a:ext>
                  </a:extLst>
                </a:gridCol>
                <a:gridCol w="625257">
                  <a:extLst>
                    <a:ext uri="{9D8B030D-6E8A-4147-A177-3AD203B41FA5}">
                      <a16:colId xmlns:a16="http://schemas.microsoft.com/office/drawing/2014/main" val="20001"/>
                    </a:ext>
                  </a:extLst>
                </a:gridCol>
                <a:gridCol w="625257">
                  <a:extLst>
                    <a:ext uri="{9D8B030D-6E8A-4147-A177-3AD203B41FA5}">
                      <a16:colId xmlns:a16="http://schemas.microsoft.com/office/drawing/2014/main" val="20002"/>
                    </a:ext>
                  </a:extLst>
                </a:gridCol>
                <a:gridCol w="625257">
                  <a:extLst>
                    <a:ext uri="{9D8B030D-6E8A-4147-A177-3AD203B41FA5}">
                      <a16:colId xmlns:a16="http://schemas.microsoft.com/office/drawing/2014/main" val="20003"/>
                    </a:ext>
                  </a:extLst>
                </a:gridCol>
                <a:gridCol w="625257">
                  <a:extLst>
                    <a:ext uri="{9D8B030D-6E8A-4147-A177-3AD203B41FA5}">
                      <a16:colId xmlns:a16="http://schemas.microsoft.com/office/drawing/2014/main" val="20004"/>
                    </a:ext>
                  </a:extLst>
                </a:gridCol>
                <a:gridCol w="625257">
                  <a:extLst>
                    <a:ext uri="{9D8B030D-6E8A-4147-A177-3AD203B41FA5}">
                      <a16:colId xmlns:a16="http://schemas.microsoft.com/office/drawing/2014/main" val="20005"/>
                    </a:ext>
                  </a:extLst>
                </a:gridCol>
                <a:gridCol w="625257">
                  <a:extLst>
                    <a:ext uri="{9D8B030D-6E8A-4147-A177-3AD203B41FA5}">
                      <a16:colId xmlns:a16="http://schemas.microsoft.com/office/drawing/2014/main" val="20006"/>
                    </a:ext>
                  </a:extLst>
                </a:gridCol>
                <a:gridCol w="625257">
                  <a:extLst>
                    <a:ext uri="{9D8B030D-6E8A-4147-A177-3AD203B41FA5}">
                      <a16:colId xmlns:a16="http://schemas.microsoft.com/office/drawing/2014/main" val="20007"/>
                    </a:ext>
                  </a:extLst>
                </a:gridCol>
                <a:gridCol w="625257">
                  <a:extLst>
                    <a:ext uri="{9D8B030D-6E8A-4147-A177-3AD203B41FA5}">
                      <a16:colId xmlns:a16="http://schemas.microsoft.com/office/drawing/2014/main" val="20008"/>
                    </a:ext>
                  </a:extLst>
                </a:gridCol>
                <a:gridCol w="625257">
                  <a:extLst>
                    <a:ext uri="{9D8B030D-6E8A-4147-A177-3AD203B41FA5}">
                      <a16:colId xmlns:a16="http://schemas.microsoft.com/office/drawing/2014/main" val="20009"/>
                    </a:ext>
                  </a:extLst>
                </a:gridCol>
                <a:gridCol w="625257">
                  <a:extLst>
                    <a:ext uri="{9D8B030D-6E8A-4147-A177-3AD203B41FA5}">
                      <a16:colId xmlns:a16="http://schemas.microsoft.com/office/drawing/2014/main" val="20010"/>
                    </a:ext>
                  </a:extLst>
                </a:gridCol>
                <a:gridCol w="625257">
                  <a:extLst>
                    <a:ext uri="{9D8B030D-6E8A-4147-A177-3AD203B41FA5}">
                      <a16:colId xmlns:a16="http://schemas.microsoft.com/office/drawing/2014/main" val="20011"/>
                    </a:ext>
                  </a:extLst>
                </a:gridCol>
                <a:gridCol w="625257">
                  <a:extLst>
                    <a:ext uri="{9D8B030D-6E8A-4147-A177-3AD203B41FA5}">
                      <a16:colId xmlns:a16="http://schemas.microsoft.com/office/drawing/2014/main" val="20012"/>
                    </a:ext>
                  </a:extLst>
                </a:gridCol>
                <a:gridCol w="625257">
                  <a:extLst>
                    <a:ext uri="{9D8B030D-6E8A-4147-A177-3AD203B41FA5}">
                      <a16:colId xmlns:a16="http://schemas.microsoft.com/office/drawing/2014/main" val="20013"/>
                    </a:ext>
                  </a:extLst>
                </a:gridCol>
                <a:gridCol w="625257">
                  <a:extLst>
                    <a:ext uri="{9D8B030D-6E8A-4147-A177-3AD203B41FA5}">
                      <a16:colId xmlns:a16="http://schemas.microsoft.com/office/drawing/2014/main" val="20014"/>
                    </a:ext>
                  </a:extLst>
                </a:gridCol>
                <a:gridCol w="625257">
                  <a:extLst>
                    <a:ext uri="{9D8B030D-6E8A-4147-A177-3AD203B41FA5}">
                      <a16:colId xmlns:a16="http://schemas.microsoft.com/office/drawing/2014/main" val="20015"/>
                    </a:ext>
                  </a:extLst>
                </a:gridCol>
                <a:gridCol w="625257">
                  <a:extLst>
                    <a:ext uri="{9D8B030D-6E8A-4147-A177-3AD203B41FA5}">
                      <a16:colId xmlns:a16="http://schemas.microsoft.com/office/drawing/2014/main" val="20016"/>
                    </a:ext>
                  </a:extLst>
                </a:gridCol>
                <a:gridCol w="625257">
                  <a:extLst>
                    <a:ext uri="{9D8B030D-6E8A-4147-A177-3AD203B41FA5}">
                      <a16:colId xmlns:a16="http://schemas.microsoft.com/office/drawing/2014/main" val="20017"/>
                    </a:ext>
                  </a:extLst>
                </a:gridCol>
              </a:tblGrid>
              <a:tr h="642096">
                <a:tc gridSpan="2">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dirty="0"/>
                        <a:t>Category-C</a:t>
                      </a:r>
                      <a:endParaRPr lang="en-US" sz="1100" b="1" i="0" baseline="0" dirty="0">
                        <a:solidFill>
                          <a:schemeClr val="tx1"/>
                        </a:solidFill>
                        <a:latin typeface="+mn-lt"/>
                      </a:endParaRPr>
                    </a:p>
                  </a:txBody>
                  <a:tcPr marR="0" marT="0" marB="0" anchor="ctr"/>
                </a:tc>
                <a:tc hMerge="1">
                  <a:txBody>
                    <a:bodyPr/>
                    <a:lstStyle/>
                    <a:p>
                      <a:pPr algn="ctr"/>
                      <a:endParaRPr lang="en-US" sz="10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139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algn="l" defTabSz="914400" rtl="0" eaLnBrk="1" latinLnBrk="0" hangingPunct="1"/>
                      <a:r>
                        <a:rPr lang="en-US" sz="1100" b="1" i="0" kern="1200" baseline="0" dirty="0">
                          <a:solidFill>
                            <a:prstClr val="black"/>
                          </a:solidFill>
                          <a:latin typeface="Calibri" panose="020F0502020204030204"/>
                          <a:ea typeface="Malgun Gothic" panose="020B0503020000020004" pitchFamily="34" charset="-127"/>
                          <a:cs typeface=""/>
                        </a:rPr>
                        <a:t>Categoryc1</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1394">
                <a:tc vMerge="1">
                  <a:txBody>
                    <a:bodyPr/>
                    <a:lstStyle/>
                    <a:p>
                      <a:endParaRPr lang="en-US" dirty="0"/>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1394">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100" b="1" i="0" kern="1200" baseline="0" dirty="0">
                          <a:solidFill>
                            <a:prstClr val="black"/>
                          </a:solidFill>
                          <a:latin typeface="+mn-lt"/>
                          <a:ea typeface="Malgun Gothic" panose="020B0503020000020004" pitchFamily="34" charset="-127"/>
                          <a:cs typeface=""/>
                        </a:rPr>
                        <a:t>Categoryc2</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1394">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139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algn="l"/>
                      <a:r>
                        <a:rPr lang="en-US" sz="1100" b="1" i="0" baseline="0" dirty="0">
                          <a:latin typeface="+mn-lt"/>
                        </a:rPr>
                        <a:t>Categoryc3</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1394">
                <a:tc vMerge="1">
                  <a:txBody>
                    <a:bodyPr/>
                    <a:lstStyle/>
                    <a:p>
                      <a:endParaRPr lang="en-US"/>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1394">
                <a:tc rowSpan="2">
                  <a:txBody>
                    <a:bodyPr/>
                    <a:lstStyle/>
                    <a:p>
                      <a:pPr algn="l"/>
                      <a:r>
                        <a:rPr lang="en-IN" sz="1100" b="1" i="0" baseline="0" dirty="0">
                          <a:latin typeface="+mn-lt"/>
                        </a:rPr>
                        <a:t>Categoryc4</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1394">
                <a:tc rowSpan="2">
                  <a:txBody>
                    <a:bodyPr/>
                    <a:lstStyle/>
                    <a:p>
                      <a:pPr algn="l"/>
                      <a:r>
                        <a:rPr lang="en-IN" sz="1100" b="1" i="0" baseline="0" dirty="0">
                          <a:latin typeface="+mn-lt"/>
                        </a:rPr>
                        <a:t>Categoryc5</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1394">
                <a:tc rowSpan="2">
                  <a:txBody>
                    <a:bodyPr/>
                    <a:lstStyle/>
                    <a:p>
                      <a:pPr algn="l"/>
                      <a:r>
                        <a:rPr lang="en-IN" sz="1100" b="1" i="0" baseline="0" dirty="0">
                          <a:latin typeface="+mn-lt"/>
                        </a:rPr>
                        <a:t>Categoryc6</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1394">
                <a:tc rowSpan="2">
                  <a:txBody>
                    <a:bodyPr/>
                    <a:lstStyle/>
                    <a:p>
                      <a:pPr algn="l"/>
                      <a:r>
                        <a:rPr lang="en-IN" sz="1100" b="1" i="0" baseline="0" dirty="0">
                          <a:latin typeface="+mn-lt"/>
                        </a:rPr>
                        <a:t>Categoryc7</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1394">
                <a:tc rowSpan="2">
                  <a:txBody>
                    <a:bodyPr/>
                    <a:lstStyle/>
                    <a:p>
                      <a:pPr algn="l"/>
                      <a:r>
                        <a:rPr lang="en-IN" sz="1100" b="1" i="0" baseline="0" dirty="0">
                          <a:latin typeface="+mn-lt"/>
                        </a:rPr>
                        <a:t>Categoryc8</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1394">
                <a:tc rowSpan="2">
                  <a:txBody>
                    <a:bodyPr/>
                    <a:lstStyle/>
                    <a:p>
                      <a:pPr algn="l"/>
                      <a:r>
                        <a:rPr lang="en-IN" sz="1100" b="1" i="0" baseline="0" dirty="0">
                          <a:latin typeface="+mn-lt"/>
                        </a:rPr>
                        <a:t>Categoryc9</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1394">
                <a:tc rowSpan="2">
                  <a:txBody>
                    <a:bodyPr/>
                    <a:lstStyle/>
                    <a:p>
                      <a:pPr algn="l"/>
                      <a:r>
                        <a:rPr lang="en-IN" sz="1100" b="1" i="0" baseline="0" dirty="0">
                          <a:latin typeface="+mn-lt"/>
                        </a:rPr>
                        <a:t>Total</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 H!Y!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1" i="0" u="none" strike="noStrike" dirty="0">
                          <a:solidFill>
                            <a:schemeClr val="tx1"/>
                          </a:solidFill>
                          <a:effectLst/>
                          <a:latin typeface="Calibri" panose="020F0502020204030204" pitchFamily="34" charset="0"/>
                        </a:rPr>
                        <a:t>B!Y!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F!Y!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err="1">
                          <a:solidFill>
                            <a:schemeClr val="tx1"/>
                          </a:solidFill>
                          <a:effectLst/>
                          <a:latin typeface="Calibri" panose="020F0502020204030204" pitchFamily="34" charset="0"/>
                        </a:rPr>
                        <a:t>VaC</a:t>
                      </a:r>
                      <a:r>
                        <a:rPr lang="en-IN" sz="1100" b="1" i="0" u="none" strike="noStrike" dirty="0">
                          <a:solidFill>
                            <a:schemeClr val="tx1"/>
                          </a:solidFill>
                          <a:effectLst/>
                          <a:latin typeface="Calibri" panose="020F0502020204030204" pitchFamily="34" charset="0"/>
                        </a:rPr>
                        <a:t>!%</a:t>
                      </a:r>
                      <a:endParaRPr lang="en-US" sz="1100" b="1" i="0" u="none" strike="noStrike" dirty="0">
                        <a:solidFill>
                          <a:schemeClr val="tx1"/>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4" name="Title 7"/>
          <p:cNvSpPr>
            <a:spLocks noGrp="1"/>
          </p:cNvSpPr>
          <p:nvPr>
            <p:ph type="title"/>
          </p:nvPr>
        </p:nvSpPr>
        <p:spPr/>
        <p:txBody>
          <a:bodyPr/>
          <a:lstStyle/>
          <a:p>
            <a:r>
              <a:rPr lang="en-US" dirty="0"/>
              <a:t>Global WXYZ Market Analysis </a:t>
            </a:r>
            <a:r>
              <a:rPr lang="en-US"/>
              <a:t>By Category-C</a:t>
            </a:r>
            <a:endParaRPr lang="en-US" dirty="0"/>
          </a:p>
        </p:txBody>
      </p:sp>
      <p:sp>
        <p:nvSpPr>
          <p:cNvPr id="2" name="Slide Number Placeholder 1"/>
          <p:cNvSpPr>
            <a:spLocks noGrp="1"/>
          </p:cNvSpPr>
          <p:nvPr>
            <p:ph type="sldNum" sz="quarter" idx="4"/>
          </p:nvPr>
        </p:nvSpPr>
        <p:spPr/>
        <p:txBody>
          <a:bodyPr/>
          <a:lstStyle/>
          <a:p>
            <a:fld id="{4B17068C-EB94-40A3-A5F2-664CDD77FDAC}" type="slidenum">
              <a:rPr lang="en-GB" smtClean="0"/>
              <a:pPr/>
              <a:t>137</a:t>
            </a:fld>
            <a:endParaRPr lang="en-GB" dirty="0"/>
          </a:p>
        </p:txBody>
      </p:sp>
    </p:spTree>
    <p:extLst>
      <p:ext uri="{BB962C8B-B14F-4D97-AF65-F5344CB8AC3E}">
        <p14:creationId xmlns:p14="http://schemas.microsoft.com/office/powerpoint/2010/main" val="399347551"/>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 Placeholder 26"/>
          <p:cNvSpPr>
            <a:spLocks noGrp="1"/>
          </p:cNvSpPr>
          <p:nvPr>
            <p:ph type="body" idx="12"/>
          </p:nvPr>
        </p:nvSpPr>
        <p:spPr/>
        <p:txBody>
          <a:bodyPr/>
          <a:lstStyle/>
          <a:p>
            <a:r>
              <a:rPr lang="en-US" sz="1400" dirty="0"/>
              <a:t>Table xx: Global WXYZ Market Volume (Tons) Analysis and Forecast By Category-C, 2019 – 2034</a:t>
            </a:r>
          </a:p>
        </p:txBody>
      </p:sp>
      <p:graphicFrame>
        <p:nvGraphicFramePr>
          <p:cNvPr id="28" name="Content Placeholder 9"/>
          <p:cNvGraphicFramePr>
            <a:graphicFrameLocks/>
          </p:cNvGraphicFramePr>
          <p:nvPr/>
        </p:nvGraphicFramePr>
        <p:xfrm>
          <a:off x="152390" y="1674051"/>
          <a:ext cx="11887209" cy="4540321"/>
        </p:xfrm>
        <a:graphic>
          <a:graphicData uri="http://schemas.openxmlformats.org/drawingml/2006/table">
            <a:tbl>
              <a:tblPr firstRow="1" bandRow="1">
                <a:tableStyleId>{5C22544A-7EE6-4342-B048-85BDC9FD1C3A}</a:tableStyleId>
              </a:tblPr>
              <a:tblGrid>
                <a:gridCol w="928584">
                  <a:extLst>
                    <a:ext uri="{9D8B030D-6E8A-4147-A177-3AD203B41FA5}">
                      <a16:colId xmlns:a16="http://schemas.microsoft.com/office/drawing/2014/main" val="20000"/>
                    </a:ext>
                  </a:extLst>
                </a:gridCol>
                <a:gridCol w="644625">
                  <a:extLst>
                    <a:ext uri="{9D8B030D-6E8A-4147-A177-3AD203B41FA5}">
                      <a16:colId xmlns:a16="http://schemas.microsoft.com/office/drawing/2014/main" val="20001"/>
                    </a:ext>
                  </a:extLst>
                </a:gridCol>
                <a:gridCol w="644625">
                  <a:extLst>
                    <a:ext uri="{9D8B030D-6E8A-4147-A177-3AD203B41FA5}">
                      <a16:colId xmlns:a16="http://schemas.microsoft.com/office/drawing/2014/main" val="20002"/>
                    </a:ext>
                  </a:extLst>
                </a:gridCol>
                <a:gridCol w="644625">
                  <a:extLst>
                    <a:ext uri="{9D8B030D-6E8A-4147-A177-3AD203B41FA5}">
                      <a16:colId xmlns:a16="http://schemas.microsoft.com/office/drawing/2014/main" val="20003"/>
                    </a:ext>
                  </a:extLst>
                </a:gridCol>
                <a:gridCol w="644625">
                  <a:extLst>
                    <a:ext uri="{9D8B030D-6E8A-4147-A177-3AD203B41FA5}">
                      <a16:colId xmlns:a16="http://schemas.microsoft.com/office/drawing/2014/main" val="20004"/>
                    </a:ext>
                  </a:extLst>
                </a:gridCol>
                <a:gridCol w="644625">
                  <a:extLst>
                    <a:ext uri="{9D8B030D-6E8A-4147-A177-3AD203B41FA5}">
                      <a16:colId xmlns:a16="http://schemas.microsoft.com/office/drawing/2014/main" val="20005"/>
                    </a:ext>
                  </a:extLst>
                </a:gridCol>
                <a:gridCol w="644625">
                  <a:extLst>
                    <a:ext uri="{9D8B030D-6E8A-4147-A177-3AD203B41FA5}">
                      <a16:colId xmlns:a16="http://schemas.microsoft.com/office/drawing/2014/main" val="20006"/>
                    </a:ext>
                  </a:extLst>
                </a:gridCol>
                <a:gridCol w="644625">
                  <a:extLst>
                    <a:ext uri="{9D8B030D-6E8A-4147-A177-3AD203B41FA5}">
                      <a16:colId xmlns:a16="http://schemas.microsoft.com/office/drawing/2014/main" val="20007"/>
                    </a:ext>
                  </a:extLst>
                </a:gridCol>
                <a:gridCol w="644625">
                  <a:extLst>
                    <a:ext uri="{9D8B030D-6E8A-4147-A177-3AD203B41FA5}">
                      <a16:colId xmlns:a16="http://schemas.microsoft.com/office/drawing/2014/main" val="20008"/>
                    </a:ext>
                  </a:extLst>
                </a:gridCol>
                <a:gridCol w="644625">
                  <a:extLst>
                    <a:ext uri="{9D8B030D-6E8A-4147-A177-3AD203B41FA5}">
                      <a16:colId xmlns:a16="http://schemas.microsoft.com/office/drawing/2014/main" val="20009"/>
                    </a:ext>
                  </a:extLst>
                </a:gridCol>
                <a:gridCol w="644625">
                  <a:extLst>
                    <a:ext uri="{9D8B030D-6E8A-4147-A177-3AD203B41FA5}">
                      <a16:colId xmlns:a16="http://schemas.microsoft.com/office/drawing/2014/main" val="20010"/>
                    </a:ext>
                  </a:extLst>
                </a:gridCol>
                <a:gridCol w="644625">
                  <a:extLst>
                    <a:ext uri="{9D8B030D-6E8A-4147-A177-3AD203B41FA5}">
                      <a16:colId xmlns:a16="http://schemas.microsoft.com/office/drawing/2014/main" val="20011"/>
                    </a:ext>
                  </a:extLst>
                </a:gridCol>
                <a:gridCol w="644625">
                  <a:extLst>
                    <a:ext uri="{9D8B030D-6E8A-4147-A177-3AD203B41FA5}">
                      <a16:colId xmlns:a16="http://schemas.microsoft.com/office/drawing/2014/main" val="20012"/>
                    </a:ext>
                  </a:extLst>
                </a:gridCol>
                <a:gridCol w="644625">
                  <a:extLst>
                    <a:ext uri="{9D8B030D-6E8A-4147-A177-3AD203B41FA5}">
                      <a16:colId xmlns:a16="http://schemas.microsoft.com/office/drawing/2014/main" val="20013"/>
                    </a:ext>
                  </a:extLst>
                </a:gridCol>
                <a:gridCol w="644625">
                  <a:extLst>
                    <a:ext uri="{9D8B030D-6E8A-4147-A177-3AD203B41FA5}">
                      <a16:colId xmlns:a16="http://schemas.microsoft.com/office/drawing/2014/main" val="20014"/>
                    </a:ext>
                  </a:extLst>
                </a:gridCol>
                <a:gridCol w="644625">
                  <a:extLst>
                    <a:ext uri="{9D8B030D-6E8A-4147-A177-3AD203B41FA5}">
                      <a16:colId xmlns:a16="http://schemas.microsoft.com/office/drawing/2014/main" val="20015"/>
                    </a:ext>
                  </a:extLst>
                </a:gridCol>
                <a:gridCol w="644625">
                  <a:extLst>
                    <a:ext uri="{9D8B030D-6E8A-4147-A177-3AD203B41FA5}">
                      <a16:colId xmlns:a16="http://schemas.microsoft.com/office/drawing/2014/main" val="20016"/>
                    </a:ext>
                  </a:extLst>
                </a:gridCol>
                <a:gridCol w="644625">
                  <a:extLst>
                    <a:ext uri="{9D8B030D-6E8A-4147-A177-3AD203B41FA5}">
                      <a16:colId xmlns:a16="http://schemas.microsoft.com/office/drawing/2014/main" val="20017"/>
                    </a:ext>
                  </a:extLst>
                </a:gridCol>
              </a:tblGrid>
              <a:tr h="652201">
                <a:tc>
                  <a:txBody>
                    <a:bodyPr/>
                    <a:lstStyle/>
                    <a:p>
                      <a:pPr algn="ctr"/>
                      <a:r>
                        <a:rPr lang="en-IN" sz="1100" i="0" baseline="0">
                          <a:solidFill>
                            <a:schemeClr val="bg1"/>
                          </a:solidFill>
                          <a:latin typeface="+mn-lt"/>
                        </a:rPr>
                        <a:t>Category-C</a:t>
                      </a:r>
                      <a:endParaRPr lang="en-US" sz="1100" i="0" baseline="0" dirty="0">
                        <a:solidFill>
                          <a:schemeClr val="bg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Categoryc10</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Categoryc11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Categoryc12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Categoryc13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Categoryc14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Categoryc15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Categoryc16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Categoryc17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Categoryc18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Categoryc19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4406">
                <a:tc>
                  <a:txBody>
                    <a:bodyPr/>
                    <a:lstStyle/>
                    <a:p>
                      <a:pPr algn="ctr" fontAlgn="ctr"/>
                      <a:r>
                        <a:rPr lang="en-IN" sz="1100" b="1" i="0" u="none" strike="noStrike" dirty="0">
                          <a:solidFill>
                            <a:srgbClr val="000000"/>
                          </a:solidFill>
                          <a:effectLst/>
                          <a:latin typeface="Calibri" panose="020F0502020204030204" pitchFamily="34" charset="0"/>
                        </a:rPr>
                        <a:t>Total</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8" name="Title 7"/>
          <p:cNvSpPr>
            <a:spLocks noGrp="1"/>
          </p:cNvSpPr>
          <p:nvPr>
            <p:ph type="title"/>
          </p:nvPr>
        </p:nvSpPr>
        <p:spPr/>
        <p:txBody>
          <a:bodyPr/>
          <a:lstStyle/>
          <a:p>
            <a:r>
              <a:rPr lang="en-US" dirty="0"/>
              <a:t>Global WXYZ Market Analysis </a:t>
            </a:r>
            <a:r>
              <a:rPr lang="en-US"/>
              <a:t>By Category-C</a:t>
            </a:r>
            <a:endParaRPr lang="en-US" dirty="0"/>
          </a:p>
        </p:txBody>
      </p:sp>
      <p:sp>
        <p:nvSpPr>
          <p:cNvPr id="2" name="Slide Number Placeholder 1"/>
          <p:cNvSpPr>
            <a:spLocks noGrp="1"/>
          </p:cNvSpPr>
          <p:nvPr>
            <p:ph type="sldNum" sz="quarter" idx="4"/>
          </p:nvPr>
        </p:nvSpPr>
        <p:spPr/>
        <p:txBody>
          <a:bodyPr/>
          <a:lstStyle/>
          <a:p>
            <a:fld id="{4B17068C-EB94-40A3-A5F2-664CDD77FDAC}" type="slidenum">
              <a:rPr lang="en-GB" smtClean="0"/>
              <a:pPr/>
              <a:t>138</a:t>
            </a:fld>
            <a:endParaRPr lang="en-GB" dirty="0"/>
          </a:p>
        </p:txBody>
      </p:sp>
    </p:spTree>
    <p:extLst>
      <p:ext uri="{BB962C8B-B14F-4D97-AF65-F5344CB8AC3E}">
        <p14:creationId xmlns:p14="http://schemas.microsoft.com/office/powerpoint/2010/main" val="2983665665"/>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idx="12"/>
          </p:nvPr>
        </p:nvSpPr>
        <p:spPr/>
        <p:txBody>
          <a:bodyPr/>
          <a:lstStyle/>
          <a:p>
            <a:r>
              <a:rPr lang="en-US" sz="1400" dirty="0"/>
              <a:t>Table xx: Global WXYZ Market Size(US$ </a:t>
            </a:r>
            <a:r>
              <a:rPr lang="en-US" sz="1400" dirty="0" err="1"/>
              <a:t>Mn</a:t>
            </a:r>
            <a:r>
              <a:rPr lang="en-US" sz="1400" dirty="0"/>
              <a:t>) Analysis and Forecast By Category-C, 2019 – 2034</a:t>
            </a:r>
          </a:p>
        </p:txBody>
      </p:sp>
      <p:graphicFrame>
        <p:nvGraphicFramePr>
          <p:cNvPr id="5" name="Content Placeholder 9"/>
          <p:cNvGraphicFramePr>
            <a:graphicFrameLocks/>
          </p:cNvGraphicFramePr>
          <p:nvPr/>
        </p:nvGraphicFramePr>
        <p:xfrm>
          <a:off x="154831" y="1667646"/>
          <a:ext cx="11887209" cy="4484037"/>
        </p:xfrm>
        <a:graphic>
          <a:graphicData uri="http://schemas.openxmlformats.org/drawingml/2006/table">
            <a:tbl>
              <a:tblPr firstRow="1" bandRow="1">
                <a:tableStyleId>{5C22544A-7EE6-4342-B048-85BDC9FD1C3A}</a:tableStyleId>
              </a:tblPr>
              <a:tblGrid>
                <a:gridCol w="928584">
                  <a:extLst>
                    <a:ext uri="{9D8B030D-6E8A-4147-A177-3AD203B41FA5}">
                      <a16:colId xmlns:a16="http://schemas.microsoft.com/office/drawing/2014/main" val="20000"/>
                    </a:ext>
                  </a:extLst>
                </a:gridCol>
                <a:gridCol w="644625">
                  <a:extLst>
                    <a:ext uri="{9D8B030D-6E8A-4147-A177-3AD203B41FA5}">
                      <a16:colId xmlns:a16="http://schemas.microsoft.com/office/drawing/2014/main" val="20001"/>
                    </a:ext>
                  </a:extLst>
                </a:gridCol>
                <a:gridCol w="644625">
                  <a:extLst>
                    <a:ext uri="{9D8B030D-6E8A-4147-A177-3AD203B41FA5}">
                      <a16:colId xmlns:a16="http://schemas.microsoft.com/office/drawing/2014/main" val="20002"/>
                    </a:ext>
                  </a:extLst>
                </a:gridCol>
                <a:gridCol w="644625">
                  <a:extLst>
                    <a:ext uri="{9D8B030D-6E8A-4147-A177-3AD203B41FA5}">
                      <a16:colId xmlns:a16="http://schemas.microsoft.com/office/drawing/2014/main" val="20003"/>
                    </a:ext>
                  </a:extLst>
                </a:gridCol>
                <a:gridCol w="644625">
                  <a:extLst>
                    <a:ext uri="{9D8B030D-6E8A-4147-A177-3AD203B41FA5}">
                      <a16:colId xmlns:a16="http://schemas.microsoft.com/office/drawing/2014/main" val="20004"/>
                    </a:ext>
                  </a:extLst>
                </a:gridCol>
                <a:gridCol w="644625">
                  <a:extLst>
                    <a:ext uri="{9D8B030D-6E8A-4147-A177-3AD203B41FA5}">
                      <a16:colId xmlns:a16="http://schemas.microsoft.com/office/drawing/2014/main" val="20005"/>
                    </a:ext>
                  </a:extLst>
                </a:gridCol>
                <a:gridCol w="644625">
                  <a:extLst>
                    <a:ext uri="{9D8B030D-6E8A-4147-A177-3AD203B41FA5}">
                      <a16:colId xmlns:a16="http://schemas.microsoft.com/office/drawing/2014/main" val="20006"/>
                    </a:ext>
                  </a:extLst>
                </a:gridCol>
                <a:gridCol w="644625">
                  <a:extLst>
                    <a:ext uri="{9D8B030D-6E8A-4147-A177-3AD203B41FA5}">
                      <a16:colId xmlns:a16="http://schemas.microsoft.com/office/drawing/2014/main" val="20007"/>
                    </a:ext>
                  </a:extLst>
                </a:gridCol>
                <a:gridCol w="644625">
                  <a:extLst>
                    <a:ext uri="{9D8B030D-6E8A-4147-A177-3AD203B41FA5}">
                      <a16:colId xmlns:a16="http://schemas.microsoft.com/office/drawing/2014/main" val="20008"/>
                    </a:ext>
                  </a:extLst>
                </a:gridCol>
                <a:gridCol w="644625">
                  <a:extLst>
                    <a:ext uri="{9D8B030D-6E8A-4147-A177-3AD203B41FA5}">
                      <a16:colId xmlns:a16="http://schemas.microsoft.com/office/drawing/2014/main" val="20009"/>
                    </a:ext>
                  </a:extLst>
                </a:gridCol>
                <a:gridCol w="644625">
                  <a:extLst>
                    <a:ext uri="{9D8B030D-6E8A-4147-A177-3AD203B41FA5}">
                      <a16:colId xmlns:a16="http://schemas.microsoft.com/office/drawing/2014/main" val="20010"/>
                    </a:ext>
                  </a:extLst>
                </a:gridCol>
                <a:gridCol w="644625">
                  <a:extLst>
                    <a:ext uri="{9D8B030D-6E8A-4147-A177-3AD203B41FA5}">
                      <a16:colId xmlns:a16="http://schemas.microsoft.com/office/drawing/2014/main" val="20011"/>
                    </a:ext>
                  </a:extLst>
                </a:gridCol>
                <a:gridCol w="644625">
                  <a:extLst>
                    <a:ext uri="{9D8B030D-6E8A-4147-A177-3AD203B41FA5}">
                      <a16:colId xmlns:a16="http://schemas.microsoft.com/office/drawing/2014/main" val="20012"/>
                    </a:ext>
                  </a:extLst>
                </a:gridCol>
                <a:gridCol w="644625">
                  <a:extLst>
                    <a:ext uri="{9D8B030D-6E8A-4147-A177-3AD203B41FA5}">
                      <a16:colId xmlns:a16="http://schemas.microsoft.com/office/drawing/2014/main" val="20013"/>
                    </a:ext>
                  </a:extLst>
                </a:gridCol>
                <a:gridCol w="644625">
                  <a:extLst>
                    <a:ext uri="{9D8B030D-6E8A-4147-A177-3AD203B41FA5}">
                      <a16:colId xmlns:a16="http://schemas.microsoft.com/office/drawing/2014/main" val="20014"/>
                    </a:ext>
                  </a:extLst>
                </a:gridCol>
                <a:gridCol w="644625">
                  <a:extLst>
                    <a:ext uri="{9D8B030D-6E8A-4147-A177-3AD203B41FA5}">
                      <a16:colId xmlns:a16="http://schemas.microsoft.com/office/drawing/2014/main" val="20015"/>
                    </a:ext>
                  </a:extLst>
                </a:gridCol>
                <a:gridCol w="644625">
                  <a:extLst>
                    <a:ext uri="{9D8B030D-6E8A-4147-A177-3AD203B41FA5}">
                      <a16:colId xmlns:a16="http://schemas.microsoft.com/office/drawing/2014/main" val="20016"/>
                    </a:ext>
                  </a:extLst>
                </a:gridCol>
                <a:gridCol w="644625">
                  <a:extLst>
                    <a:ext uri="{9D8B030D-6E8A-4147-A177-3AD203B41FA5}">
                      <a16:colId xmlns:a16="http://schemas.microsoft.com/office/drawing/2014/main" val="20017"/>
                    </a:ext>
                  </a:extLst>
                </a:gridCol>
              </a:tblGrid>
              <a:tr h="644117">
                <a:tc>
                  <a:txBody>
                    <a:bodyPr/>
                    <a:lstStyle/>
                    <a:p>
                      <a:pPr algn="ctr"/>
                      <a:r>
                        <a:rPr lang="en-IN" sz="1100" i="0" baseline="0" dirty="0">
                          <a:solidFill>
                            <a:schemeClr val="bg1"/>
                          </a:solidFill>
                          <a:latin typeface="+mn-lt"/>
                        </a:rPr>
                        <a:t>Category-C</a:t>
                      </a:r>
                      <a:endParaRPr lang="en-US" sz="1100" i="0" baseline="0" dirty="0">
                        <a:solidFill>
                          <a:schemeClr val="bg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Categoryc10</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Categoryc11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Categoryc12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Categoryc13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Categoryc14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Categoryc15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Categoryc16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Categoryc17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Categoryc18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Categoryc19</a:t>
                      </a:r>
                    </a:p>
                  </a:txBody>
                  <a:tcPr marL="9525" marR="9525" marT="9525" marB="0" anchor="b"/>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1996">
                <a:tc>
                  <a:txBody>
                    <a:bodyPr/>
                    <a:lstStyle/>
                    <a:p>
                      <a:pPr algn="ctr" fontAlgn="ctr"/>
                      <a:r>
                        <a:rPr lang="en-IN" sz="1100" b="1" i="0" u="none" strike="noStrike" dirty="0">
                          <a:solidFill>
                            <a:srgbClr val="000000"/>
                          </a:solidFill>
                          <a:effectLst/>
                          <a:latin typeface="Calibri" panose="020F0502020204030204" pitchFamily="34" charset="0"/>
                        </a:rPr>
                        <a:t>Total</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 H!Y!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1" i="0" u="none" strike="noStrike" dirty="0">
                          <a:solidFill>
                            <a:schemeClr val="tx1"/>
                          </a:solidFill>
                          <a:effectLst/>
                          <a:latin typeface="Calibri" panose="020F0502020204030204" pitchFamily="34" charset="0"/>
                        </a:rPr>
                        <a:t>B!Y!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F!Y!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err="1">
                          <a:solidFill>
                            <a:schemeClr val="tx1"/>
                          </a:solidFill>
                          <a:effectLst/>
                          <a:latin typeface="Calibri" panose="020F0502020204030204" pitchFamily="34" charset="0"/>
                        </a:rPr>
                        <a:t>VaC</a:t>
                      </a:r>
                      <a:r>
                        <a:rPr lang="en-IN" sz="1100" b="1" i="0" u="none" strike="noStrike" dirty="0">
                          <a:solidFill>
                            <a:schemeClr val="tx1"/>
                          </a:solidFill>
                          <a:effectLst/>
                          <a:latin typeface="Calibri" panose="020F0502020204030204" pitchFamily="34" charset="0"/>
                        </a:rPr>
                        <a:t>!%</a:t>
                      </a:r>
                      <a:endParaRPr lang="en-US" sz="1100" b="1" i="0" u="none" strike="noStrike" dirty="0">
                        <a:solidFill>
                          <a:schemeClr val="tx1"/>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8" name="Title 7"/>
          <p:cNvSpPr>
            <a:spLocks noGrp="1"/>
          </p:cNvSpPr>
          <p:nvPr>
            <p:ph type="title"/>
          </p:nvPr>
        </p:nvSpPr>
        <p:spPr/>
        <p:txBody>
          <a:bodyPr/>
          <a:lstStyle/>
          <a:p>
            <a:r>
              <a:rPr lang="en-US" dirty="0"/>
              <a:t>Global WXYZ Market Analysis </a:t>
            </a:r>
            <a:r>
              <a:rPr lang="en-US"/>
              <a:t>By Category-C</a:t>
            </a:r>
            <a:endParaRPr lang="en-US" dirty="0"/>
          </a:p>
        </p:txBody>
      </p:sp>
      <p:sp>
        <p:nvSpPr>
          <p:cNvPr id="2" name="Slide Number Placeholder 1"/>
          <p:cNvSpPr>
            <a:spLocks noGrp="1"/>
          </p:cNvSpPr>
          <p:nvPr>
            <p:ph type="sldNum" sz="quarter" idx="4"/>
          </p:nvPr>
        </p:nvSpPr>
        <p:spPr/>
        <p:txBody>
          <a:bodyPr/>
          <a:lstStyle/>
          <a:p>
            <a:fld id="{4B17068C-EB94-40A3-A5F2-664CDD77FDAC}" type="slidenum">
              <a:rPr lang="en-GB" smtClean="0"/>
              <a:pPr/>
              <a:t>139</a:t>
            </a:fld>
            <a:endParaRPr lang="en-GB" dirty="0"/>
          </a:p>
        </p:txBody>
      </p:sp>
    </p:spTree>
    <p:extLst>
      <p:ext uri="{BB962C8B-B14F-4D97-AF65-F5344CB8AC3E}">
        <p14:creationId xmlns:p14="http://schemas.microsoft.com/office/powerpoint/2010/main" val="1756455443"/>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Categoryc1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Categoryc2 Segment, 2019 – 2034</a:t>
            </a:r>
          </a:p>
        </p:txBody>
      </p:sp>
      <p:sp>
        <p:nvSpPr>
          <p:cNvPr id="10" name="Content Placeholder 9"/>
          <p:cNvSpPr>
            <a:spLocks noGrp="1"/>
          </p:cNvSpPr>
          <p:nvPr>
            <p:ph idx="17"/>
          </p:nvPr>
        </p:nvSpPr>
        <p:spPr/>
        <p:txBody>
          <a:bodyPr/>
          <a:lstStyle/>
          <a:p>
            <a:pPr>
              <a:lnSpc>
                <a:spcPct val="100000"/>
              </a:lnSpc>
            </a:pPr>
            <a:r>
              <a:rPr lang="en-US" dirty="0"/>
              <a:t>Categoryc1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Categoryc2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Categoryc1</a:t>
            </a:r>
          </a:p>
        </p:txBody>
      </p:sp>
      <p:sp>
        <p:nvSpPr>
          <p:cNvPr id="15" name="Text Placeholder 14"/>
          <p:cNvSpPr>
            <a:spLocks noGrp="1"/>
          </p:cNvSpPr>
          <p:nvPr>
            <p:ph type="body" sz="quarter" idx="22"/>
          </p:nvPr>
        </p:nvSpPr>
        <p:spPr/>
        <p:txBody>
          <a:bodyPr/>
          <a:lstStyle/>
          <a:p>
            <a:r>
              <a:rPr lang="en-US" dirty="0"/>
              <a:t>Categoryc2</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a:t>
            </a:r>
            <a:r>
              <a:rPr lang="en-US"/>
              <a:t>By Category-C</a:t>
            </a:r>
            <a:endParaRPr lang="en-US" dirty="0"/>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140</a:t>
            </a:fld>
            <a:endParaRPr lang="en-GB" dirty="0"/>
          </a:p>
        </p:txBody>
      </p:sp>
    </p:spTree>
    <p:extLst>
      <p:ext uri="{BB962C8B-B14F-4D97-AF65-F5344CB8AC3E}">
        <p14:creationId xmlns:p14="http://schemas.microsoft.com/office/powerpoint/2010/main" val="574965055"/>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Categoryc3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Categoryc4 Segment, 2019 – 2034</a:t>
            </a:r>
          </a:p>
        </p:txBody>
      </p:sp>
      <p:sp>
        <p:nvSpPr>
          <p:cNvPr id="10" name="Content Placeholder 9"/>
          <p:cNvSpPr>
            <a:spLocks noGrp="1"/>
          </p:cNvSpPr>
          <p:nvPr>
            <p:ph idx="17"/>
          </p:nvPr>
        </p:nvSpPr>
        <p:spPr/>
        <p:txBody>
          <a:bodyPr/>
          <a:lstStyle/>
          <a:p>
            <a:pPr>
              <a:lnSpc>
                <a:spcPct val="100000"/>
              </a:lnSpc>
            </a:pPr>
            <a:r>
              <a:rPr lang="en-US" dirty="0"/>
              <a:t>Categoryc3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Categoryc4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Categoryc3</a:t>
            </a:r>
          </a:p>
        </p:txBody>
      </p:sp>
      <p:sp>
        <p:nvSpPr>
          <p:cNvPr id="15" name="Text Placeholder 14"/>
          <p:cNvSpPr>
            <a:spLocks noGrp="1"/>
          </p:cNvSpPr>
          <p:nvPr>
            <p:ph type="body" sz="quarter" idx="22"/>
          </p:nvPr>
        </p:nvSpPr>
        <p:spPr/>
        <p:txBody>
          <a:bodyPr/>
          <a:lstStyle/>
          <a:p>
            <a:r>
              <a:rPr lang="en-US" dirty="0"/>
              <a:t>Categoryc4</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a:t>
            </a:r>
            <a:r>
              <a:rPr lang="en-US"/>
              <a:t>By Category-C</a:t>
            </a:r>
            <a:endParaRPr lang="en-US" dirty="0"/>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141</a:t>
            </a:fld>
            <a:endParaRPr lang="en-GB" dirty="0"/>
          </a:p>
        </p:txBody>
      </p:sp>
    </p:spTree>
    <p:extLst>
      <p:ext uri="{BB962C8B-B14F-4D97-AF65-F5344CB8AC3E}">
        <p14:creationId xmlns:p14="http://schemas.microsoft.com/office/powerpoint/2010/main" val="4078615879"/>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Categoryc5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Categoryc6 Segment, 2019 – 2034</a:t>
            </a:r>
          </a:p>
        </p:txBody>
      </p:sp>
      <p:sp>
        <p:nvSpPr>
          <p:cNvPr id="10" name="Content Placeholder 9"/>
          <p:cNvSpPr>
            <a:spLocks noGrp="1"/>
          </p:cNvSpPr>
          <p:nvPr>
            <p:ph idx="17"/>
          </p:nvPr>
        </p:nvSpPr>
        <p:spPr/>
        <p:txBody>
          <a:bodyPr/>
          <a:lstStyle/>
          <a:p>
            <a:pPr>
              <a:lnSpc>
                <a:spcPct val="100000"/>
              </a:lnSpc>
            </a:pPr>
            <a:r>
              <a:rPr lang="en-US" dirty="0"/>
              <a:t>Categoryc5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Categoryc6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Categoryc5</a:t>
            </a:r>
          </a:p>
        </p:txBody>
      </p:sp>
      <p:sp>
        <p:nvSpPr>
          <p:cNvPr id="15" name="Text Placeholder 14"/>
          <p:cNvSpPr>
            <a:spLocks noGrp="1"/>
          </p:cNvSpPr>
          <p:nvPr>
            <p:ph type="body" sz="quarter" idx="22"/>
          </p:nvPr>
        </p:nvSpPr>
        <p:spPr/>
        <p:txBody>
          <a:bodyPr/>
          <a:lstStyle/>
          <a:p>
            <a:r>
              <a:rPr lang="en-US" dirty="0"/>
              <a:t>Categoryc6</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a:t>
            </a:r>
            <a:r>
              <a:rPr lang="en-US"/>
              <a:t>By Category-C</a:t>
            </a:r>
            <a:endParaRPr lang="en-US" dirty="0"/>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142</a:t>
            </a:fld>
            <a:endParaRPr lang="en-GB" dirty="0"/>
          </a:p>
        </p:txBody>
      </p:sp>
    </p:spTree>
    <p:extLst>
      <p:ext uri="{BB962C8B-B14F-4D97-AF65-F5344CB8AC3E}">
        <p14:creationId xmlns:p14="http://schemas.microsoft.com/office/powerpoint/2010/main" val="1411232640"/>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Categoryc7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Categoryc8 Segment, 2019 – 2034</a:t>
            </a:r>
          </a:p>
        </p:txBody>
      </p:sp>
      <p:sp>
        <p:nvSpPr>
          <p:cNvPr id="10" name="Content Placeholder 9"/>
          <p:cNvSpPr>
            <a:spLocks noGrp="1"/>
          </p:cNvSpPr>
          <p:nvPr>
            <p:ph idx="17"/>
          </p:nvPr>
        </p:nvSpPr>
        <p:spPr/>
        <p:txBody>
          <a:bodyPr/>
          <a:lstStyle/>
          <a:p>
            <a:pPr>
              <a:lnSpc>
                <a:spcPct val="100000"/>
              </a:lnSpc>
            </a:pPr>
            <a:r>
              <a:rPr lang="en-US" dirty="0"/>
              <a:t>Categoryc7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Categoryc8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Categoryc7</a:t>
            </a:r>
          </a:p>
        </p:txBody>
      </p:sp>
      <p:sp>
        <p:nvSpPr>
          <p:cNvPr id="15" name="Text Placeholder 14"/>
          <p:cNvSpPr>
            <a:spLocks noGrp="1"/>
          </p:cNvSpPr>
          <p:nvPr>
            <p:ph type="body" sz="quarter" idx="22"/>
          </p:nvPr>
        </p:nvSpPr>
        <p:spPr/>
        <p:txBody>
          <a:bodyPr/>
          <a:lstStyle/>
          <a:p>
            <a:r>
              <a:rPr lang="en-US" dirty="0"/>
              <a:t>Categoryc8</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a:t>
            </a:r>
            <a:r>
              <a:rPr lang="en-US"/>
              <a:t>By Category-C</a:t>
            </a:r>
            <a:endParaRPr lang="en-US" dirty="0"/>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143</a:t>
            </a:fld>
            <a:endParaRPr lang="en-GB" dirty="0"/>
          </a:p>
        </p:txBody>
      </p:sp>
    </p:spTree>
    <p:extLst>
      <p:ext uri="{BB962C8B-B14F-4D97-AF65-F5344CB8AC3E}">
        <p14:creationId xmlns:p14="http://schemas.microsoft.com/office/powerpoint/2010/main" val="1543964119"/>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144</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144</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Global WXYZ Market Analysis 2019 – 2023 and Forecast 2024 – 2034, By Category-D</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144</a:t>
            </a:r>
          </a:p>
        </p:txBody>
      </p:sp>
    </p:spTree>
    <p:extLst>
      <p:ext uri="{BB962C8B-B14F-4D97-AF65-F5344CB8AC3E}">
        <p14:creationId xmlns:p14="http://schemas.microsoft.com/office/powerpoint/2010/main" val="1347282742"/>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Category-D</a:t>
            </a:r>
            <a:endParaRPr lang="en-GB" dirty="0"/>
          </a:p>
        </p:txBody>
      </p:sp>
      <p:sp>
        <p:nvSpPr>
          <p:cNvPr id="46"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47"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sp>
        <p:nvSpPr>
          <p:cNvPr id="54" name="TextBox 53"/>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cxnSp>
        <p:nvCxnSpPr>
          <p:cNvPr id="55" name="Elbow Connector 54"/>
          <p:cNvCxnSpPr>
            <a:stCxn id="57" idx="2"/>
            <a:endCxn id="74" idx="0"/>
          </p:cNvCxnSpPr>
          <p:nvPr/>
        </p:nvCxnSpPr>
        <p:spPr>
          <a:xfrm rot="5400000">
            <a:off x="3606422" y="74304"/>
            <a:ext cx="285750" cy="300372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6" name="Elbow Connector 55"/>
          <p:cNvCxnSpPr>
            <a:stCxn id="57" idx="2"/>
            <a:endCxn id="81" idx="0"/>
          </p:cNvCxnSpPr>
          <p:nvPr/>
        </p:nvCxnSpPr>
        <p:spPr>
          <a:xfrm rot="16200000" flipH="1">
            <a:off x="6565974" y="118479"/>
            <a:ext cx="285750" cy="2915377"/>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7" name="Rounded Rectangle 56"/>
          <p:cNvSpPr/>
          <p:nvPr/>
        </p:nvSpPr>
        <p:spPr>
          <a:xfrm>
            <a:off x="3484252" y="1090076"/>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Category-D</a:t>
            </a:r>
          </a:p>
        </p:txBody>
      </p:sp>
      <p:sp>
        <p:nvSpPr>
          <p:cNvPr id="58" name="Rounded Rectangle 5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9" name="Rounded Rectangle 5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60" name="Straight Connector 59"/>
          <p:cNvCxnSpPr/>
          <p:nvPr/>
        </p:nvCxnSpPr>
        <p:spPr>
          <a:xfrm>
            <a:off x="896325" y="2507208"/>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896325" y="3696853"/>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896325" y="4532507"/>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896325" y="5722154"/>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74" name="Rounded Rectangle 73"/>
          <p:cNvSpPr/>
          <p:nvPr/>
        </p:nvSpPr>
        <p:spPr>
          <a:xfrm>
            <a:off x="750415" y="1719043"/>
            <a:ext cx="2994033"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Categoryd1</a:t>
            </a:r>
          </a:p>
        </p:txBody>
      </p:sp>
      <p:sp>
        <p:nvSpPr>
          <p:cNvPr id="75" name="Rounded Rectangle 74"/>
          <p:cNvSpPr/>
          <p:nvPr/>
        </p:nvSpPr>
        <p:spPr>
          <a:xfrm>
            <a:off x="857782" y="2272179"/>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76" name="Rounded Rectangle 75"/>
          <p:cNvSpPr/>
          <p:nvPr/>
        </p:nvSpPr>
        <p:spPr>
          <a:xfrm>
            <a:off x="857782" y="3461824"/>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77" name="Rounded Rectangle 76"/>
          <p:cNvSpPr/>
          <p:nvPr/>
        </p:nvSpPr>
        <p:spPr>
          <a:xfrm>
            <a:off x="857782" y="4297478"/>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78" name="Rounded Rectangle 77"/>
          <p:cNvSpPr/>
          <p:nvPr/>
        </p:nvSpPr>
        <p:spPr>
          <a:xfrm>
            <a:off x="857782" y="5487125"/>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79" name="Oval 78"/>
          <p:cNvSpPr/>
          <p:nvPr/>
        </p:nvSpPr>
        <p:spPr>
          <a:xfrm>
            <a:off x="1121175" y="28495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0" name="Oval 79"/>
          <p:cNvSpPr/>
          <p:nvPr/>
        </p:nvSpPr>
        <p:spPr>
          <a:xfrm>
            <a:off x="1121175" y="48748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1" name="Rounded Rectangle 80"/>
          <p:cNvSpPr/>
          <p:nvPr/>
        </p:nvSpPr>
        <p:spPr>
          <a:xfrm>
            <a:off x="6671255" y="1719043"/>
            <a:ext cx="2990565"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Categoryd2</a:t>
            </a:r>
          </a:p>
        </p:txBody>
      </p:sp>
      <p:sp>
        <p:nvSpPr>
          <p:cNvPr id="82" name="Rounded Rectangle 81"/>
          <p:cNvSpPr/>
          <p:nvPr/>
        </p:nvSpPr>
        <p:spPr>
          <a:xfrm>
            <a:off x="6776888" y="2272179"/>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3" name="Rounded Rectangle 82"/>
          <p:cNvSpPr/>
          <p:nvPr/>
        </p:nvSpPr>
        <p:spPr>
          <a:xfrm>
            <a:off x="6776888" y="3461824"/>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4" name="Rounded Rectangle 83"/>
          <p:cNvSpPr/>
          <p:nvPr/>
        </p:nvSpPr>
        <p:spPr>
          <a:xfrm>
            <a:off x="6776888" y="4297478"/>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85" name="Rounded Rectangle 84"/>
          <p:cNvSpPr/>
          <p:nvPr/>
        </p:nvSpPr>
        <p:spPr>
          <a:xfrm>
            <a:off x="6776888" y="5487125"/>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86" name="Oval 85"/>
          <p:cNvSpPr/>
          <p:nvPr/>
        </p:nvSpPr>
        <p:spPr>
          <a:xfrm>
            <a:off x="7040281" y="28495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7" name="Oval 86"/>
          <p:cNvSpPr/>
          <p:nvPr/>
        </p:nvSpPr>
        <p:spPr>
          <a:xfrm>
            <a:off x="7040281" y="48748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 name="Slide Number Placeholder 1"/>
          <p:cNvSpPr>
            <a:spLocks noGrp="1"/>
          </p:cNvSpPr>
          <p:nvPr>
            <p:ph type="sldNum" sz="quarter" idx="4"/>
          </p:nvPr>
        </p:nvSpPr>
        <p:spPr/>
        <p:txBody>
          <a:bodyPr/>
          <a:lstStyle/>
          <a:p>
            <a:fld id="{4B17068C-EB94-40A3-A5F2-664CDD77FDAC}" type="slidenum">
              <a:rPr lang="en-GB" smtClean="0"/>
              <a:pPr/>
              <a:t>145</a:t>
            </a:fld>
            <a:endParaRPr lang="en-GB" dirty="0"/>
          </a:p>
        </p:txBody>
      </p:sp>
    </p:spTree>
    <p:extLst>
      <p:ext uri="{BB962C8B-B14F-4D97-AF65-F5344CB8AC3E}">
        <p14:creationId xmlns:p14="http://schemas.microsoft.com/office/powerpoint/2010/main" val="4293633797"/>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Category-D</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118" name="TextBox 119"/>
          <p:cNvSpPr txBox="1"/>
          <p:nvPr/>
        </p:nvSpPr>
        <p:spPr>
          <a:xfrm>
            <a:off x="159103" y="2449125"/>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119" name="TextBox 120"/>
          <p:cNvSpPr txBox="1"/>
          <p:nvPr/>
        </p:nvSpPr>
        <p:spPr>
          <a:xfrm>
            <a:off x="159103" y="4394541"/>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120" name="Elbow Connector 119"/>
          <p:cNvCxnSpPr>
            <a:stCxn id="122" idx="2"/>
            <a:endCxn id="129" idx="0"/>
          </p:cNvCxnSpPr>
          <p:nvPr/>
        </p:nvCxnSpPr>
        <p:spPr>
          <a:xfrm rot="5400000">
            <a:off x="3380227" y="-137823"/>
            <a:ext cx="285750" cy="34561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21" name="Elbow Connector 120"/>
          <p:cNvCxnSpPr>
            <a:stCxn id="122" idx="2"/>
            <a:endCxn id="136" idx="0"/>
          </p:cNvCxnSpPr>
          <p:nvPr/>
        </p:nvCxnSpPr>
        <p:spPr>
          <a:xfrm rot="16200000" flipH="1">
            <a:off x="6854733" y="-156211"/>
            <a:ext cx="285750" cy="34928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22" name="Rounded Rectangle 121"/>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Category-D</a:t>
            </a:r>
          </a:p>
        </p:txBody>
      </p:sp>
      <p:sp>
        <p:nvSpPr>
          <p:cNvPr id="123" name="Rounded Rectangle 122"/>
          <p:cNvSpPr/>
          <p:nvPr/>
        </p:nvSpPr>
        <p:spPr>
          <a:xfrm>
            <a:off x="526998" y="4201281"/>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124" name="Rounded Rectangle 123"/>
          <p:cNvSpPr/>
          <p:nvPr/>
        </p:nvSpPr>
        <p:spPr>
          <a:xfrm>
            <a:off x="526997" y="2175982"/>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125" name="Straight Connector 124"/>
          <p:cNvCxnSpPr>
            <a:stCxn id="130" idx="3"/>
            <a:endCxn id="137" idx="1"/>
          </p:cNvCxnSpPr>
          <p:nvPr/>
        </p:nvCxnSpPr>
        <p:spPr>
          <a:xfrm>
            <a:off x="2792681" y="2521276"/>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stCxn id="131" idx="3"/>
            <a:endCxn id="138" idx="1"/>
          </p:cNvCxnSpPr>
          <p:nvPr/>
        </p:nvCxnSpPr>
        <p:spPr>
          <a:xfrm>
            <a:off x="2792681" y="3710921"/>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stCxn id="132" idx="3"/>
            <a:endCxn id="139" idx="1"/>
          </p:cNvCxnSpPr>
          <p:nvPr/>
        </p:nvCxnSpPr>
        <p:spPr>
          <a:xfrm>
            <a:off x="2792681" y="4546575"/>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stCxn id="133" idx="3"/>
            <a:endCxn id="140" idx="1"/>
          </p:cNvCxnSpPr>
          <p:nvPr/>
        </p:nvCxnSpPr>
        <p:spPr>
          <a:xfrm>
            <a:off x="2792681" y="5736222"/>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9" name="Rounded Rectangle 128"/>
          <p:cNvSpPr/>
          <p:nvPr/>
        </p:nvSpPr>
        <p:spPr>
          <a:xfrm>
            <a:off x="650717" y="1733111"/>
            <a:ext cx="228865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Categoryd1</a:t>
            </a:r>
          </a:p>
        </p:txBody>
      </p:sp>
      <p:sp>
        <p:nvSpPr>
          <p:cNvPr id="130" name="Rounded Rectangle 129"/>
          <p:cNvSpPr/>
          <p:nvPr/>
        </p:nvSpPr>
        <p:spPr>
          <a:xfrm>
            <a:off x="732789"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1" name="Rounded Rectangle 130"/>
          <p:cNvSpPr/>
          <p:nvPr/>
        </p:nvSpPr>
        <p:spPr>
          <a:xfrm>
            <a:off x="732789"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2" name="Rounded Rectangle 131"/>
          <p:cNvSpPr/>
          <p:nvPr/>
        </p:nvSpPr>
        <p:spPr>
          <a:xfrm>
            <a:off x="732789"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3" name="Rounded Rectangle 132"/>
          <p:cNvSpPr/>
          <p:nvPr/>
        </p:nvSpPr>
        <p:spPr>
          <a:xfrm>
            <a:off x="732789"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4" name="Oval 133"/>
          <p:cNvSpPr/>
          <p:nvPr/>
        </p:nvSpPr>
        <p:spPr>
          <a:xfrm>
            <a:off x="934128"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5" name="Oval 134"/>
          <p:cNvSpPr/>
          <p:nvPr/>
        </p:nvSpPr>
        <p:spPr>
          <a:xfrm>
            <a:off x="934128"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Rounded Rectangle 135"/>
          <p:cNvSpPr/>
          <p:nvPr/>
        </p:nvSpPr>
        <p:spPr>
          <a:xfrm>
            <a:off x="7601055"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Categoryd3</a:t>
            </a:r>
          </a:p>
        </p:txBody>
      </p:sp>
      <p:sp>
        <p:nvSpPr>
          <p:cNvPr id="137" name="Rounded Rectangle 136"/>
          <p:cNvSpPr/>
          <p:nvPr/>
        </p:nvSpPr>
        <p:spPr>
          <a:xfrm>
            <a:off x="7681802"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8" name="Rounded Rectangle 137"/>
          <p:cNvSpPr/>
          <p:nvPr/>
        </p:nvSpPr>
        <p:spPr>
          <a:xfrm>
            <a:off x="7681802"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9" name="Rounded Rectangle 138"/>
          <p:cNvSpPr/>
          <p:nvPr/>
        </p:nvSpPr>
        <p:spPr>
          <a:xfrm>
            <a:off x="7681802"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40" name="Rounded Rectangle 139"/>
          <p:cNvSpPr/>
          <p:nvPr/>
        </p:nvSpPr>
        <p:spPr>
          <a:xfrm>
            <a:off x="7681802"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41" name="Oval 140"/>
          <p:cNvSpPr/>
          <p:nvPr/>
        </p:nvSpPr>
        <p:spPr>
          <a:xfrm>
            <a:off x="7883141"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2" name="Oval 141"/>
          <p:cNvSpPr/>
          <p:nvPr/>
        </p:nvSpPr>
        <p:spPr>
          <a:xfrm>
            <a:off x="7883141"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3" name="Rounded Rectangle 142"/>
          <p:cNvSpPr/>
          <p:nvPr/>
        </p:nvSpPr>
        <p:spPr>
          <a:xfrm>
            <a:off x="4127211"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Categoryd2</a:t>
            </a:r>
          </a:p>
        </p:txBody>
      </p:sp>
      <p:sp>
        <p:nvSpPr>
          <p:cNvPr id="144" name="Rounded Rectangle 143"/>
          <p:cNvSpPr/>
          <p:nvPr/>
        </p:nvSpPr>
        <p:spPr>
          <a:xfrm>
            <a:off x="4207958"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5" name="Rounded Rectangle 144"/>
          <p:cNvSpPr/>
          <p:nvPr/>
        </p:nvSpPr>
        <p:spPr>
          <a:xfrm>
            <a:off x="4207958"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6" name="Rounded Rectangle 145"/>
          <p:cNvSpPr/>
          <p:nvPr/>
        </p:nvSpPr>
        <p:spPr>
          <a:xfrm>
            <a:off x="4207958"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47" name="Rounded Rectangle 146"/>
          <p:cNvSpPr/>
          <p:nvPr/>
        </p:nvSpPr>
        <p:spPr>
          <a:xfrm>
            <a:off x="4207958"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48" name="Oval 147"/>
          <p:cNvSpPr/>
          <p:nvPr/>
        </p:nvSpPr>
        <p:spPr>
          <a:xfrm>
            <a:off x="4409297"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9" name="Oval 148"/>
          <p:cNvSpPr/>
          <p:nvPr/>
        </p:nvSpPr>
        <p:spPr>
          <a:xfrm>
            <a:off x="4409297"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50" name="Straight Arrow Connector 149"/>
          <p:cNvCxnSpPr>
            <a:stCxn id="122" idx="2"/>
            <a:endCxn id="143" idx="0"/>
          </p:cNvCxnSpPr>
          <p:nvPr/>
        </p:nvCxnSpPr>
        <p:spPr>
          <a:xfrm>
            <a:off x="5251161" y="1447361"/>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2" name="Slide Number Placeholder 1"/>
          <p:cNvSpPr>
            <a:spLocks noGrp="1"/>
          </p:cNvSpPr>
          <p:nvPr>
            <p:ph type="sldNum" sz="quarter" idx="4"/>
          </p:nvPr>
        </p:nvSpPr>
        <p:spPr/>
        <p:txBody>
          <a:bodyPr/>
          <a:lstStyle/>
          <a:p>
            <a:fld id="{4B17068C-EB94-40A3-A5F2-664CDD77FDAC}" type="slidenum">
              <a:rPr lang="en-GB" smtClean="0"/>
              <a:pPr/>
              <a:t>146</a:t>
            </a:fld>
            <a:endParaRPr lang="en-GB" dirty="0"/>
          </a:p>
        </p:txBody>
      </p:sp>
    </p:spTree>
    <p:extLst>
      <p:ext uri="{BB962C8B-B14F-4D97-AF65-F5344CB8AC3E}">
        <p14:creationId xmlns:p14="http://schemas.microsoft.com/office/powerpoint/2010/main" val="3847554287"/>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Category-D</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4" name="TextBox 119"/>
          <p:cNvSpPr txBox="1"/>
          <p:nvPr/>
        </p:nvSpPr>
        <p:spPr>
          <a:xfrm>
            <a:off x="159103" y="2449125"/>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55" name="TextBox 120"/>
          <p:cNvSpPr txBox="1"/>
          <p:nvPr/>
        </p:nvSpPr>
        <p:spPr>
          <a:xfrm>
            <a:off x="159103" y="4394541"/>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56" name="Elbow Connector 55"/>
          <p:cNvCxnSpPr>
            <a:stCxn id="58" idx="2"/>
            <a:endCxn id="74" idx="0"/>
          </p:cNvCxnSpPr>
          <p:nvPr/>
        </p:nvCxnSpPr>
        <p:spPr>
          <a:xfrm rot="5400000">
            <a:off x="3380227" y="-137823"/>
            <a:ext cx="285750" cy="34561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58" idx="2"/>
            <a:endCxn id="81" idx="0"/>
          </p:cNvCxnSpPr>
          <p:nvPr/>
        </p:nvCxnSpPr>
        <p:spPr>
          <a:xfrm rot="16200000" flipH="1">
            <a:off x="6854733" y="-156211"/>
            <a:ext cx="285750" cy="34928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Category-D</a:t>
            </a:r>
          </a:p>
        </p:txBody>
      </p:sp>
      <p:sp>
        <p:nvSpPr>
          <p:cNvPr id="59" name="Rounded Rectangle 58"/>
          <p:cNvSpPr/>
          <p:nvPr/>
        </p:nvSpPr>
        <p:spPr>
          <a:xfrm>
            <a:off x="526998" y="4201281"/>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60" name="Rounded Rectangle 59"/>
          <p:cNvSpPr/>
          <p:nvPr/>
        </p:nvSpPr>
        <p:spPr>
          <a:xfrm>
            <a:off x="526997" y="2175982"/>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61" name="Straight Connector 60"/>
          <p:cNvCxnSpPr>
            <a:stCxn id="75" idx="3"/>
            <a:endCxn id="82" idx="1"/>
          </p:cNvCxnSpPr>
          <p:nvPr/>
        </p:nvCxnSpPr>
        <p:spPr>
          <a:xfrm>
            <a:off x="2792681" y="2521276"/>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a:stCxn id="76" idx="3"/>
            <a:endCxn id="83" idx="1"/>
          </p:cNvCxnSpPr>
          <p:nvPr/>
        </p:nvCxnSpPr>
        <p:spPr>
          <a:xfrm>
            <a:off x="2792681" y="3710921"/>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a:stCxn id="77" idx="3"/>
            <a:endCxn id="84" idx="1"/>
          </p:cNvCxnSpPr>
          <p:nvPr/>
        </p:nvCxnSpPr>
        <p:spPr>
          <a:xfrm>
            <a:off x="2792681" y="4546575"/>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stCxn id="78" idx="3"/>
            <a:endCxn id="85" idx="1"/>
          </p:cNvCxnSpPr>
          <p:nvPr/>
        </p:nvCxnSpPr>
        <p:spPr>
          <a:xfrm>
            <a:off x="2792681" y="5736222"/>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Rounded Rectangle 73"/>
          <p:cNvSpPr/>
          <p:nvPr/>
        </p:nvSpPr>
        <p:spPr>
          <a:xfrm>
            <a:off x="650717" y="1733111"/>
            <a:ext cx="228865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Categoryd1</a:t>
            </a:r>
          </a:p>
        </p:txBody>
      </p:sp>
      <p:sp>
        <p:nvSpPr>
          <p:cNvPr id="75" name="Rounded Rectangle 74"/>
          <p:cNvSpPr/>
          <p:nvPr/>
        </p:nvSpPr>
        <p:spPr>
          <a:xfrm>
            <a:off x="732789"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76" name="Rounded Rectangle 75"/>
          <p:cNvSpPr/>
          <p:nvPr/>
        </p:nvSpPr>
        <p:spPr>
          <a:xfrm>
            <a:off x="732789"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77" name="Rounded Rectangle 76"/>
          <p:cNvSpPr/>
          <p:nvPr/>
        </p:nvSpPr>
        <p:spPr>
          <a:xfrm>
            <a:off x="732789"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78" name="Rounded Rectangle 77"/>
          <p:cNvSpPr/>
          <p:nvPr/>
        </p:nvSpPr>
        <p:spPr>
          <a:xfrm>
            <a:off x="732789"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79" name="Oval 78"/>
          <p:cNvSpPr/>
          <p:nvPr/>
        </p:nvSpPr>
        <p:spPr>
          <a:xfrm>
            <a:off x="934128"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0" name="Oval 79"/>
          <p:cNvSpPr/>
          <p:nvPr/>
        </p:nvSpPr>
        <p:spPr>
          <a:xfrm>
            <a:off x="934128"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1" name="Rounded Rectangle 80"/>
          <p:cNvSpPr/>
          <p:nvPr/>
        </p:nvSpPr>
        <p:spPr>
          <a:xfrm>
            <a:off x="7601055"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Categoryd4</a:t>
            </a:r>
          </a:p>
        </p:txBody>
      </p:sp>
      <p:sp>
        <p:nvSpPr>
          <p:cNvPr id="82" name="Rounded Rectangle 81"/>
          <p:cNvSpPr/>
          <p:nvPr/>
        </p:nvSpPr>
        <p:spPr>
          <a:xfrm>
            <a:off x="7681802"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3" name="Rounded Rectangle 82"/>
          <p:cNvSpPr/>
          <p:nvPr/>
        </p:nvSpPr>
        <p:spPr>
          <a:xfrm>
            <a:off x="7681802"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4" name="Rounded Rectangle 83"/>
          <p:cNvSpPr/>
          <p:nvPr/>
        </p:nvSpPr>
        <p:spPr>
          <a:xfrm>
            <a:off x="7681802"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85" name="Rounded Rectangle 84"/>
          <p:cNvSpPr/>
          <p:nvPr/>
        </p:nvSpPr>
        <p:spPr>
          <a:xfrm>
            <a:off x="7681802"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86" name="Oval 85"/>
          <p:cNvSpPr/>
          <p:nvPr/>
        </p:nvSpPr>
        <p:spPr>
          <a:xfrm>
            <a:off x="7883141"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7" name="Oval 86"/>
          <p:cNvSpPr/>
          <p:nvPr/>
        </p:nvSpPr>
        <p:spPr>
          <a:xfrm>
            <a:off x="7883141"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8" name="Rounded Rectangle 87"/>
          <p:cNvSpPr/>
          <p:nvPr/>
        </p:nvSpPr>
        <p:spPr>
          <a:xfrm>
            <a:off x="5285159"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Categoryd3</a:t>
            </a:r>
          </a:p>
        </p:txBody>
      </p:sp>
      <p:sp>
        <p:nvSpPr>
          <p:cNvPr id="89" name="Rounded Rectangle 88"/>
          <p:cNvSpPr/>
          <p:nvPr/>
        </p:nvSpPr>
        <p:spPr>
          <a:xfrm>
            <a:off x="5365906"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0" name="Rounded Rectangle 89"/>
          <p:cNvSpPr/>
          <p:nvPr/>
        </p:nvSpPr>
        <p:spPr>
          <a:xfrm>
            <a:off x="5365906"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1" name="Rounded Rectangle 90"/>
          <p:cNvSpPr/>
          <p:nvPr/>
        </p:nvSpPr>
        <p:spPr>
          <a:xfrm>
            <a:off x="5365906"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2" name="Rounded Rectangle 91"/>
          <p:cNvSpPr/>
          <p:nvPr/>
        </p:nvSpPr>
        <p:spPr>
          <a:xfrm>
            <a:off x="5365906"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3" name="Oval 92"/>
          <p:cNvSpPr/>
          <p:nvPr/>
        </p:nvSpPr>
        <p:spPr>
          <a:xfrm>
            <a:off x="5567245"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4" name="Oval 93"/>
          <p:cNvSpPr/>
          <p:nvPr/>
        </p:nvSpPr>
        <p:spPr>
          <a:xfrm>
            <a:off x="5567245"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5" name="Rounded Rectangle 94"/>
          <p:cNvSpPr/>
          <p:nvPr/>
        </p:nvSpPr>
        <p:spPr>
          <a:xfrm>
            <a:off x="2969263"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Categoryd2</a:t>
            </a:r>
          </a:p>
        </p:txBody>
      </p:sp>
      <p:sp>
        <p:nvSpPr>
          <p:cNvPr id="96" name="Rounded Rectangle 95"/>
          <p:cNvSpPr/>
          <p:nvPr/>
        </p:nvSpPr>
        <p:spPr>
          <a:xfrm>
            <a:off x="3050010"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7" name="Rounded Rectangle 96"/>
          <p:cNvSpPr/>
          <p:nvPr/>
        </p:nvSpPr>
        <p:spPr>
          <a:xfrm>
            <a:off x="3050010"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8" name="Rounded Rectangle 97"/>
          <p:cNvSpPr/>
          <p:nvPr/>
        </p:nvSpPr>
        <p:spPr>
          <a:xfrm>
            <a:off x="3050010"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9" name="Rounded Rectangle 98"/>
          <p:cNvSpPr/>
          <p:nvPr/>
        </p:nvSpPr>
        <p:spPr>
          <a:xfrm>
            <a:off x="3050010"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00" name="Oval 99"/>
          <p:cNvSpPr/>
          <p:nvPr/>
        </p:nvSpPr>
        <p:spPr>
          <a:xfrm>
            <a:off x="3251349"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1" name="Oval 100"/>
          <p:cNvSpPr/>
          <p:nvPr/>
        </p:nvSpPr>
        <p:spPr>
          <a:xfrm>
            <a:off x="3251349"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02" name="Elbow Connector 101"/>
          <p:cNvCxnSpPr>
            <a:stCxn id="58" idx="2"/>
            <a:endCxn id="95" idx="0"/>
          </p:cNvCxnSpPr>
          <p:nvPr/>
        </p:nvCxnSpPr>
        <p:spPr>
          <a:xfrm rot="5400000">
            <a:off x="4538837" y="1020787"/>
            <a:ext cx="285750" cy="113889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stCxn id="58" idx="2"/>
            <a:endCxn id="88" idx="0"/>
          </p:cNvCxnSpPr>
          <p:nvPr/>
        </p:nvCxnSpPr>
        <p:spPr>
          <a:xfrm rot="16200000" flipH="1">
            <a:off x="5696785" y="1001737"/>
            <a:ext cx="285750" cy="117699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147</a:t>
            </a:fld>
            <a:endParaRPr lang="en-GB" dirty="0"/>
          </a:p>
        </p:txBody>
      </p:sp>
    </p:spTree>
    <p:extLst>
      <p:ext uri="{BB962C8B-B14F-4D97-AF65-F5344CB8AC3E}">
        <p14:creationId xmlns:p14="http://schemas.microsoft.com/office/powerpoint/2010/main" val="425513528"/>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Category-D</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Category-D</a:t>
            </a:r>
          </a:p>
        </p:txBody>
      </p:sp>
      <p:sp>
        <p:nvSpPr>
          <p:cNvPr id="152"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153"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154" name="Elbow Connector 153"/>
          <p:cNvCxnSpPr>
            <a:endCxn id="162" idx="0"/>
          </p:cNvCxnSpPr>
          <p:nvPr/>
        </p:nvCxnSpPr>
        <p:spPr>
          <a:xfrm rot="5400000">
            <a:off x="3242404" y="-289714"/>
            <a:ext cx="285750" cy="373176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55" name="Elbow Connector 154"/>
          <p:cNvCxnSpPr>
            <a:endCxn id="169" idx="0"/>
          </p:cNvCxnSpPr>
          <p:nvPr/>
        </p:nvCxnSpPr>
        <p:spPr>
          <a:xfrm rot="16200000" flipH="1">
            <a:off x="6988983" y="-304529"/>
            <a:ext cx="285750" cy="37613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56" name="Rounded Rectangle 155"/>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157" name="Rounded Rectangle 156"/>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158" name="Straight Connector 157"/>
          <p:cNvCxnSpPr>
            <a:stCxn id="163" idx="3"/>
            <a:endCxn id="170"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a:stCxn id="164" idx="3"/>
            <a:endCxn id="171"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a:stCxn id="165" idx="3"/>
            <a:endCxn id="172"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a:stCxn id="166" idx="3"/>
            <a:endCxn id="173"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2" name="Rounded Rectangle 161"/>
          <p:cNvSpPr/>
          <p:nvPr/>
        </p:nvSpPr>
        <p:spPr>
          <a:xfrm>
            <a:off x="65071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Categoryd1</a:t>
            </a:r>
          </a:p>
        </p:txBody>
      </p:sp>
      <p:sp>
        <p:nvSpPr>
          <p:cNvPr id="163" name="Rounded Rectangle 162"/>
          <p:cNvSpPr/>
          <p:nvPr/>
        </p:nvSpPr>
        <p:spPr>
          <a:xfrm>
            <a:off x="71301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64" name="Rounded Rectangle 163"/>
          <p:cNvSpPr/>
          <p:nvPr/>
        </p:nvSpPr>
        <p:spPr>
          <a:xfrm>
            <a:off x="71301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65" name="Rounded Rectangle 164"/>
          <p:cNvSpPr/>
          <p:nvPr/>
        </p:nvSpPr>
        <p:spPr>
          <a:xfrm>
            <a:off x="71301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66" name="Rounded Rectangle 165"/>
          <p:cNvSpPr/>
          <p:nvPr/>
        </p:nvSpPr>
        <p:spPr>
          <a:xfrm>
            <a:off x="71301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67" name="Oval 166"/>
          <p:cNvSpPr/>
          <p:nvPr/>
        </p:nvSpPr>
        <p:spPr>
          <a:xfrm>
            <a:off x="86586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68" name="Oval 167"/>
          <p:cNvSpPr/>
          <p:nvPr/>
        </p:nvSpPr>
        <p:spPr>
          <a:xfrm>
            <a:off x="86586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69" name="Rounded Rectangle 168"/>
          <p:cNvSpPr/>
          <p:nvPr/>
        </p:nvSpPr>
        <p:spPr>
          <a:xfrm>
            <a:off x="8143875"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Categoryd5</a:t>
            </a:r>
          </a:p>
        </p:txBody>
      </p:sp>
      <p:sp>
        <p:nvSpPr>
          <p:cNvPr id="170" name="Rounded Rectangle 169"/>
          <p:cNvSpPr/>
          <p:nvPr/>
        </p:nvSpPr>
        <p:spPr>
          <a:xfrm>
            <a:off x="8205243" y="2272179"/>
            <a:ext cx="161462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71" name="Rounded Rectangle 170"/>
          <p:cNvSpPr/>
          <p:nvPr/>
        </p:nvSpPr>
        <p:spPr>
          <a:xfrm>
            <a:off x="8205243" y="3461824"/>
            <a:ext cx="161462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72" name="Rounded Rectangle 171"/>
          <p:cNvSpPr/>
          <p:nvPr/>
        </p:nvSpPr>
        <p:spPr>
          <a:xfrm>
            <a:off x="8205243" y="4297478"/>
            <a:ext cx="161462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73" name="Rounded Rectangle 172"/>
          <p:cNvSpPr/>
          <p:nvPr/>
        </p:nvSpPr>
        <p:spPr>
          <a:xfrm>
            <a:off x="8205243" y="5487125"/>
            <a:ext cx="161462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74" name="Oval 173"/>
          <p:cNvSpPr/>
          <p:nvPr/>
        </p:nvSpPr>
        <p:spPr>
          <a:xfrm>
            <a:off x="8358260" y="2849594"/>
            <a:ext cx="1308590"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75" name="Oval 174"/>
          <p:cNvSpPr/>
          <p:nvPr/>
        </p:nvSpPr>
        <p:spPr>
          <a:xfrm>
            <a:off x="8358260" y="4874894"/>
            <a:ext cx="1308590"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76" name="Rounded Rectangle 175"/>
          <p:cNvSpPr/>
          <p:nvPr/>
        </p:nvSpPr>
        <p:spPr>
          <a:xfrm>
            <a:off x="252400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Categoryd2</a:t>
            </a:r>
          </a:p>
        </p:txBody>
      </p:sp>
      <p:sp>
        <p:nvSpPr>
          <p:cNvPr id="177" name="Rounded Rectangle 176"/>
          <p:cNvSpPr/>
          <p:nvPr/>
        </p:nvSpPr>
        <p:spPr>
          <a:xfrm>
            <a:off x="258630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78" name="Rounded Rectangle 177"/>
          <p:cNvSpPr/>
          <p:nvPr/>
        </p:nvSpPr>
        <p:spPr>
          <a:xfrm>
            <a:off x="258630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79" name="Rounded Rectangle 178"/>
          <p:cNvSpPr/>
          <p:nvPr/>
        </p:nvSpPr>
        <p:spPr>
          <a:xfrm>
            <a:off x="258630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80" name="Rounded Rectangle 179"/>
          <p:cNvSpPr/>
          <p:nvPr/>
        </p:nvSpPr>
        <p:spPr>
          <a:xfrm>
            <a:off x="258630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81" name="Oval 180"/>
          <p:cNvSpPr/>
          <p:nvPr/>
        </p:nvSpPr>
        <p:spPr>
          <a:xfrm>
            <a:off x="273915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2" name="Oval 181"/>
          <p:cNvSpPr/>
          <p:nvPr/>
        </p:nvSpPr>
        <p:spPr>
          <a:xfrm>
            <a:off x="273915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3" name="Rounded Rectangle 182"/>
          <p:cNvSpPr/>
          <p:nvPr/>
        </p:nvSpPr>
        <p:spPr>
          <a:xfrm>
            <a:off x="439729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Categoryd3</a:t>
            </a:r>
          </a:p>
        </p:txBody>
      </p:sp>
      <p:sp>
        <p:nvSpPr>
          <p:cNvPr id="184" name="Rounded Rectangle 183"/>
          <p:cNvSpPr/>
          <p:nvPr/>
        </p:nvSpPr>
        <p:spPr>
          <a:xfrm>
            <a:off x="445959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85" name="Rounded Rectangle 184"/>
          <p:cNvSpPr/>
          <p:nvPr/>
        </p:nvSpPr>
        <p:spPr>
          <a:xfrm>
            <a:off x="445959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86" name="Rounded Rectangle 185"/>
          <p:cNvSpPr/>
          <p:nvPr/>
        </p:nvSpPr>
        <p:spPr>
          <a:xfrm>
            <a:off x="445959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87" name="Rounded Rectangle 186"/>
          <p:cNvSpPr/>
          <p:nvPr/>
        </p:nvSpPr>
        <p:spPr>
          <a:xfrm>
            <a:off x="445959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88" name="Oval 187"/>
          <p:cNvSpPr/>
          <p:nvPr/>
        </p:nvSpPr>
        <p:spPr>
          <a:xfrm>
            <a:off x="461244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9" name="Oval 188"/>
          <p:cNvSpPr/>
          <p:nvPr/>
        </p:nvSpPr>
        <p:spPr>
          <a:xfrm>
            <a:off x="461244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90" name="Rounded Rectangle 189"/>
          <p:cNvSpPr/>
          <p:nvPr/>
        </p:nvSpPr>
        <p:spPr>
          <a:xfrm>
            <a:off x="627058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Categoryd4</a:t>
            </a:r>
          </a:p>
        </p:txBody>
      </p:sp>
      <p:sp>
        <p:nvSpPr>
          <p:cNvPr id="191" name="Rounded Rectangle 190"/>
          <p:cNvSpPr/>
          <p:nvPr/>
        </p:nvSpPr>
        <p:spPr>
          <a:xfrm>
            <a:off x="633288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92" name="Rounded Rectangle 191"/>
          <p:cNvSpPr/>
          <p:nvPr/>
        </p:nvSpPr>
        <p:spPr>
          <a:xfrm>
            <a:off x="633288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93" name="Rounded Rectangle 192"/>
          <p:cNvSpPr/>
          <p:nvPr/>
        </p:nvSpPr>
        <p:spPr>
          <a:xfrm>
            <a:off x="633288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94" name="Rounded Rectangle 193"/>
          <p:cNvSpPr/>
          <p:nvPr/>
        </p:nvSpPr>
        <p:spPr>
          <a:xfrm>
            <a:off x="633288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95" name="Oval 194"/>
          <p:cNvSpPr/>
          <p:nvPr/>
        </p:nvSpPr>
        <p:spPr>
          <a:xfrm>
            <a:off x="648573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96" name="Oval 195"/>
          <p:cNvSpPr/>
          <p:nvPr/>
        </p:nvSpPr>
        <p:spPr>
          <a:xfrm>
            <a:off x="648573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97" name="Elbow Connector 196"/>
          <p:cNvCxnSpPr>
            <a:endCxn id="176" idx="0"/>
          </p:cNvCxnSpPr>
          <p:nvPr/>
        </p:nvCxnSpPr>
        <p:spPr>
          <a:xfrm rot="5400000">
            <a:off x="4179049" y="646931"/>
            <a:ext cx="285750" cy="185847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98" name="Elbow Connector 197"/>
          <p:cNvCxnSpPr>
            <a:endCxn id="190" idx="0"/>
          </p:cNvCxnSpPr>
          <p:nvPr/>
        </p:nvCxnSpPr>
        <p:spPr>
          <a:xfrm rot="16200000" flipH="1">
            <a:off x="6052339" y="632115"/>
            <a:ext cx="285750" cy="188810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99" name="Straight Arrow Connector 198"/>
          <p:cNvCxnSpPr>
            <a:endCxn id="183" idx="0"/>
          </p:cNvCxnSpPr>
          <p:nvPr/>
        </p:nvCxnSpPr>
        <p:spPr>
          <a:xfrm>
            <a:off x="5251161" y="1433293"/>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148</a:t>
            </a:fld>
            <a:endParaRPr lang="en-GB" dirty="0"/>
          </a:p>
        </p:txBody>
      </p:sp>
    </p:spTree>
    <p:extLst>
      <p:ext uri="{BB962C8B-B14F-4D97-AF65-F5344CB8AC3E}">
        <p14:creationId xmlns:p14="http://schemas.microsoft.com/office/powerpoint/2010/main" val="4143280406"/>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Category-D</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Category-D</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73824" y="-358294"/>
            <a:ext cx="285750" cy="386892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053752" y="-369299"/>
            <a:ext cx="285750" cy="3890933"/>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Categoryd1</a:t>
            </a:r>
          </a:p>
        </p:txBody>
      </p:sp>
      <p:sp>
        <p:nvSpPr>
          <p:cNvPr id="85" name="Rounded Rectangle 84"/>
          <p:cNvSpPr/>
          <p:nvPr/>
        </p:nvSpPr>
        <p:spPr>
          <a:xfrm>
            <a:off x="703182"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703182"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703182"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703182"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831890"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831890"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410574"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Categoryd6</a:t>
            </a:r>
          </a:p>
        </p:txBody>
      </p:sp>
      <p:sp>
        <p:nvSpPr>
          <p:cNvPr id="92" name="Rounded Rectangle 91"/>
          <p:cNvSpPr/>
          <p:nvPr/>
        </p:nvSpPr>
        <p:spPr>
          <a:xfrm>
            <a:off x="8462252" y="2272179"/>
            <a:ext cx="135968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462252" y="3461824"/>
            <a:ext cx="135968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462252" y="4297478"/>
            <a:ext cx="135968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462252" y="5487125"/>
            <a:ext cx="135968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591109" y="2849594"/>
            <a:ext cx="110197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591109" y="4874894"/>
            <a:ext cx="110197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0" idx="0"/>
          </p:cNvCxnSpPr>
          <p:nvPr/>
        </p:nvCxnSpPr>
        <p:spPr>
          <a:xfrm rot="5400000">
            <a:off x="3949810" y="417692"/>
            <a:ext cx="285750" cy="2316953"/>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21" idx="0"/>
          </p:cNvCxnSpPr>
          <p:nvPr/>
        </p:nvCxnSpPr>
        <p:spPr>
          <a:xfrm rot="16200000" flipH="1">
            <a:off x="6277766" y="406688"/>
            <a:ext cx="285750" cy="233896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0" name="Rounded Rectangle 99"/>
          <p:cNvSpPr/>
          <p:nvPr/>
        </p:nvSpPr>
        <p:spPr>
          <a:xfrm>
            <a:off x="2202688"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Categoryd2</a:t>
            </a:r>
          </a:p>
        </p:txBody>
      </p:sp>
      <p:sp>
        <p:nvSpPr>
          <p:cNvPr id="101" name="Rounded Rectangle 100"/>
          <p:cNvSpPr/>
          <p:nvPr/>
        </p:nvSpPr>
        <p:spPr>
          <a:xfrm>
            <a:off x="2255153"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2" name="Rounded Rectangle 101"/>
          <p:cNvSpPr/>
          <p:nvPr/>
        </p:nvSpPr>
        <p:spPr>
          <a:xfrm>
            <a:off x="2255153"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3" name="Rounded Rectangle 102"/>
          <p:cNvSpPr/>
          <p:nvPr/>
        </p:nvSpPr>
        <p:spPr>
          <a:xfrm>
            <a:off x="2255153"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4" name="Rounded Rectangle 103"/>
          <p:cNvSpPr/>
          <p:nvPr/>
        </p:nvSpPr>
        <p:spPr>
          <a:xfrm>
            <a:off x="2255153"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5" name="Oval 104"/>
          <p:cNvSpPr/>
          <p:nvPr/>
        </p:nvSpPr>
        <p:spPr>
          <a:xfrm>
            <a:off x="2383861"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6" name="Oval 105"/>
          <p:cNvSpPr/>
          <p:nvPr/>
        </p:nvSpPr>
        <p:spPr>
          <a:xfrm>
            <a:off x="2383861"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7" name="Rounded Rectangle 106"/>
          <p:cNvSpPr/>
          <p:nvPr/>
        </p:nvSpPr>
        <p:spPr>
          <a:xfrm>
            <a:off x="3754659"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Categoryd3</a:t>
            </a:r>
          </a:p>
        </p:txBody>
      </p:sp>
      <p:sp>
        <p:nvSpPr>
          <p:cNvPr id="108" name="Rounded Rectangle 107"/>
          <p:cNvSpPr/>
          <p:nvPr/>
        </p:nvSpPr>
        <p:spPr>
          <a:xfrm>
            <a:off x="3807124"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9" name="Rounded Rectangle 108"/>
          <p:cNvSpPr/>
          <p:nvPr/>
        </p:nvSpPr>
        <p:spPr>
          <a:xfrm>
            <a:off x="3807124"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0" name="Rounded Rectangle 109"/>
          <p:cNvSpPr/>
          <p:nvPr/>
        </p:nvSpPr>
        <p:spPr>
          <a:xfrm>
            <a:off x="3807124"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1" name="Rounded Rectangle 110"/>
          <p:cNvSpPr/>
          <p:nvPr/>
        </p:nvSpPr>
        <p:spPr>
          <a:xfrm>
            <a:off x="3807124"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2" name="Oval 111"/>
          <p:cNvSpPr/>
          <p:nvPr/>
        </p:nvSpPr>
        <p:spPr>
          <a:xfrm>
            <a:off x="3935832"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3" name="Oval 112"/>
          <p:cNvSpPr/>
          <p:nvPr/>
        </p:nvSpPr>
        <p:spPr>
          <a:xfrm>
            <a:off x="3935832"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4" name="Rounded Rectangle 113"/>
          <p:cNvSpPr/>
          <p:nvPr/>
        </p:nvSpPr>
        <p:spPr>
          <a:xfrm>
            <a:off x="5306630"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Categoryd4</a:t>
            </a:r>
          </a:p>
        </p:txBody>
      </p:sp>
      <p:sp>
        <p:nvSpPr>
          <p:cNvPr id="115" name="Rounded Rectangle 114"/>
          <p:cNvSpPr/>
          <p:nvPr/>
        </p:nvSpPr>
        <p:spPr>
          <a:xfrm>
            <a:off x="5359095"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6" name="Rounded Rectangle 115"/>
          <p:cNvSpPr/>
          <p:nvPr/>
        </p:nvSpPr>
        <p:spPr>
          <a:xfrm>
            <a:off x="5359095"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7" name="Rounded Rectangle 116"/>
          <p:cNvSpPr/>
          <p:nvPr/>
        </p:nvSpPr>
        <p:spPr>
          <a:xfrm>
            <a:off x="5359095"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8" name="Rounded Rectangle 117"/>
          <p:cNvSpPr/>
          <p:nvPr/>
        </p:nvSpPr>
        <p:spPr>
          <a:xfrm>
            <a:off x="5359095"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9" name="Oval 118"/>
          <p:cNvSpPr/>
          <p:nvPr/>
        </p:nvSpPr>
        <p:spPr>
          <a:xfrm>
            <a:off x="5487803"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0" name="Oval 119"/>
          <p:cNvSpPr/>
          <p:nvPr/>
        </p:nvSpPr>
        <p:spPr>
          <a:xfrm>
            <a:off x="5487803"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1" name="Rounded Rectangle 120"/>
          <p:cNvSpPr/>
          <p:nvPr/>
        </p:nvSpPr>
        <p:spPr>
          <a:xfrm>
            <a:off x="6858601"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Categoryd5</a:t>
            </a:r>
          </a:p>
        </p:txBody>
      </p:sp>
      <p:sp>
        <p:nvSpPr>
          <p:cNvPr id="122" name="Rounded Rectangle 121"/>
          <p:cNvSpPr/>
          <p:nvPr/>
        </p:nvSpPr>
        <p:spPr>
          <a:xfrm>
            <a:off x="6911066"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3" name="Rounded Rectangle 122"/>
          <p:cNvSpPr/>
          <p:nvPr/>
        </p:nvSpPr>
        <p:spPr>
          <a:xfrm>
            <a:off x="6911066"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4" name="Rounded Rectangle 123"/>
          <p:cNvSpPr/>
          <p:nvPr/>
        </p:nvSpPr>
        <p:spPr>
          <a:xfrm>
            <a:off x="6911066"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5" name="Rounded Rectangle 124"/>
          <p:cNvSpPr/>
          <p:nvPr/>
        </p:nvSpPr>
        <p:spPr>
          <a:xfrm>
            <a:off x="6911066"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6" name="Oval 125"/>
          <p:cNvSpPr/>
          <p:nvPr/>
        </p:nvSpPr>
        <p:spPr>
          <a:xfrm>
            <a:off x="7039774"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7" name="Oval 126"/>
          <p:cNvSpPr/>
          <p:nvPr/>
        </p:nvSpPr>
        <p:spPr>
          <a:xfrm>
            <a:off x="7039774"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28" name="Elbow Connector 127"/>
          <p:cNvCxnSpPr>
            <a:endCxn id="107" idx="0"/>
          </p:cNvCxnSpPr>
          <p:nvPr/>
        </p:nvCxnSpPr>
        <p:spPr>
          <a:xfrm rot="5400000">
            <a:off x="4725795" y="1193677"/>
            <a:ext cx="285750" cy="76498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29" name="Elbow Connector 128"/>
          <p:cNvCxnSpPr>
            <a:endCxn id="114" idx="0"/>
          </p:cNvCxnSpPr>
          <p:nvPr/>
        </p:nvCxnSpPr>
        <p:spPr>
          <a:xfrm rot="16200000" flipH="1">
            <a:off x="5501780" y="1182673"/>
            <a:ext cx="285750" cy="786989"/>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149</a:t>
            </a:fld>
            <a:endParaRPr lang="en-GB" dirty="0"/>
          </a:p>
        </p:txBody>
      </p:sp>
    </p:spTree>
    <p:extLst>
      <p:ext uri="{BB962C8B-B14F-4D97-AF65-F5344CB8AC3E}">
        <p14:creationId xmlns:p14="http://schemas.microsoft.com/office/powerpoint/2010/main" val="1258068264"/>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Category-D</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Category-D</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05244" y="-426874"/>
            <a:ext cx="285750" cy="400608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22809" y="-438355"/>
            <a:ext cx="285750" cy="402904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Categoryd1</a:t>
            </a:r>
          </a:p>
        </p:txBody>
      </p:sp>
      <p:sp>
        <p:nvSpPr>
          <p:cNvPr id="85" name="Rounded Rectangle 84"/>
          <p:cNvSpPr/>
          <p:nvPr/>
        </p:nvSpPr>
        <p:spPr>
          <a:xfrm>
            <a:off x="693345"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93345"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93345"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93345"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97920"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97920"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686800" y="1719043"/>
            <a:ext cx="1186814"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Categoryd7</a:t>
            </a:r>
          </a:p>
        </p:txBody>
      </p:sp>
      <p:sp>
        <p:nvSpPr>
          <p:cNvPr id="92" name="Rounded Rectangle 91"/>
          <p:cNvSpPr/>
          <p:nvPr/>
        </p:nvSpPr>
        <p:spPr>
          <a:xfrm>
            <a:off x="8728721" y="2272179"/>
            <a:ext cx="110297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728721" y="3461824"/>
            <a:ext cx="110297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728721" y="4297478"/>
            <a:ext cx="110297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728721" y="5487125"/>
            <a:ext cx="110297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833250" y="2849594"/>
            <a:ext cx="89391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833250" y="4874894"/>
            <a:ext cx="89391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2" idx="0"/>
          </p:cNvCxnSpPr>
          <p:nvPr/>
        </p:nvCxnSpPr>
        <p:spPr>
          <a:xfrm rot="5400000">
            <a:off x="3774918" y="242800"/>
            <a:ext cx="285750" cy="2666737"/>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30" idx="0"/>
          </p:cNvCxnSpPr>
          <p:nvPr/>
        </p:nvCxnSpPr>
        <p:spPr>
          <a:xfrm rot="16200000" flipH="1">
            <a:off x="6453611" y="230842"/>
            <a:ext cx="285750" cy="2690651"/>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09" idx="0"/>
          </p:cNvCxnSpPr>
          <p:nvPr/>
        </p:nvCxnSpPr>
        <p:spPr>
          <a:xfrm rot="5400000">
            <a:off x="4444591" y="912473"/>
            <a:ext cx="285750" cy="132739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23" idx="0"/>
          </p:cNvCxnSpPr>
          <p:nvPr/>
        </p:nvCxnSpPr>
        <p:spPr>
          <a:xfrm rot="16200000" flipH="1">
            <a:off x="5783938" y="900516"/>
            <a:ext cx="285750" cy="135130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2" name="Rounded Rectangle 101"/>
          <p:cNvSpPr/>
          <p:nvPr/>
        </p:nvSpPr>
        <p:spPr>
          <a:xfrm>
            <a:off x="1990064"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Categoryd2</a:t>
            </a:r>
          </a:p>
        </p:txBody>
      </p:sp>
      <p:sp>
        <p:nvSpPr>
          <p:cNvPr id="103" name="Rounded Rectangle 102"/>
          <p:cNvSpPr/>
          <p:nvPr/>
        </p:nvSpPr>
        <p:spPr>
          <a:xfrm>
            <a:off x="2032692"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4" name="Rounded Rectangle 103"/>
          <p:cNvSpPr/>
          <p:nvPr/>
        </p:nvSpPr>
        <p:spPr>
          <a:xfrm>
            <a:off x="2032692"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5" name="Rounded Rectangle 104"/>
          <p:cNvSpPr/>
          <p:nvPr/>
        </p:nvSpPr>
        <p:spPr>
          <a:xfrm>
            <a:off x="2032692"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6" name="Rounded Rectangle 105"/>
          <p:cNvSpPr/>
          <p:nvPr/>
        </p:nvSpPr>
        <p:spPr>
          <a:xfrm>
            <a:off x="2032692"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7" name="Oval 106"/>
          <p:cNvSpPr/>
          <p:nvPr/>
        </p:nvSpPr>
        <p:spPr>
          <a:xfrm>
            <a:off x="2137267"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8" name="Oval 107"/>
          <p:cNvSpPr/>
          <p:nvPr/>
        </p:nvSpPr>
        <p:spPr>
          <a:xfrm>
            <a:off x="2137267"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9" name="Rounded Rectangle 108"/>
          <p:cNvSpPr/>
          <p:nvPr/>
        </p:nvSpPr>
        <p:spPr>
          <a:xfrm>
            <a:off x="3329411"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Categoryd3</a:t>
            </a:r>
          </a:p>
        </p:txBody>
      </p:sp>
      <p:sp>
        <p:nvSpPr>
          <p:cNvPr id="110" name="Rounded Rectangle 109"/>
          <p:cNvSpPr/>
          <p:nvPr/>
        </p:nvSpPr>
        <p:spPr>
          <a:xfrm>
            <a:off x="3372039"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1" name="Rounded Rectangle 110"/>
          <p:cNvSpPr/>
          <p:nvPr/>
        </p:nvSpPr>
        <p:spPr>
          <a:xfrm>
            <a:off x="3372039"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2" name="Rounded Rectangle 111"/>
          <p:cNvSpPr/>
          <p:nvPr/>
        </p:nvSpPr>
        <p:spPr>
          <a:xfrm>
            <a:off x="3372039"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3" name="Rounded Rectangle 112"/>
          <p:cNvSpPr/>
          <p:nvPr/>
        </p:nvSpPr>
        <p:spPr>
          <a:xfrm>
            <a:off x="3372039"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4" name="Oval 113"/>
          <p:cNvSpPr/>
          <p:nvPr/>
        </p:nvSpPr>
        <p:spPr>
          <a:xfrm>
            <a:off x="3476614"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5" name="Oval 114"/>
          <p:cNvSpPr/>
          <p:nvPr/>
        </p:nvSpPr>
        <p:spPr>
          <a:xfrm>
            <a:off x="3476614"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6" name="Rounded Rectangle 115"/>
          <p:cNvSpPr/>
          <p:nvPr/>
        </p:nvSpPr>
        <p:spPr>
          <a:xfrm>
            <a:off x="4668758"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Categoryd4</a:t>
            </a:r>
          </a:p>
        </p:txBody>
      </p:sp>
      <p:sp>
        <p:nvSpPr>
          <p:cNvPr id="117" name="Rounded Rectangle 116"/>
          <p:cNvSpPr/>
          <p:nvPr/>
        </p:nvSpPr>
        <p:spPr>
          <a:xfrm>
            <a:off x="4711386"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8" name="Rounded Rectangle 117"/>
          <p:cNvSpPr/>
          <p:nvPr/>
        </p:nvSpPr>
        <p:spPr>
          <a:xfrm>
            <a:off x="4711386"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9" name="Rounded Rectangle 118"/>
          <p:cNvSpPr/>
          <p:nvPr/>
        </p:nvSpPr>
        <p:spPr>
          <a:xfrm>
            <a:off x="4711386"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0" name="Rounded Rectangle 119"/>
          <p:cNvSpPr/>
          <p:nvPr/>
        </p:nvSpPr>
        <p:spPr>
          <a:xfrm>
            <a:off x="4711386"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1" name="Oval 120"/>
          <p:cNvSpPr/>
          <p:nvPr/>
        </p:nvSpPr>
        <p:spPr>
          <a:xfrm>
            <a:off x="4815961"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2" name="Oval 121"/>
          <p:cNvSpPr/>
          <p:nvPr/>
        </p:nvSpPr>
        <p:spPr>
          <a:xfrm>
            <a:off x="4815961"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3" name="Rounded Rectangle 122"/>
          <p:cNvSpPr/>
          <p:nvPr/>
        </p:nvSpPr>
        <p:spPr>
          <a:xfrm>
            <a:off x="6008105"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Categoryd5</a:t>
            </a:r>
          </a:p>
        </p:txBody>
      </p:sp>
      <p:sp>
        <p:nvSpPr>
          <p:cNvPr id="124" name="Rounded Rectangle 123"/>
          <p:cNvSpPr/>
          <p:nvPr/>
        </p:nvSpPr>
        <p:spPr>
          <a:xfrm>
            <a:off x="6050733"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5" name="Rounded Rectangle 124"/>
          <p:cNvSpPr/>
          <p:nvPr/>
        </p:nvSpPr>
        <p:spPr>
          <a:xfrm>
            <a:off x="6050733"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6" name="Rounded Rectangle 125"/>
          <p:cNvSpPr/>
          <p:nvPr/>
        </p:nvSpPr>
        <p:spPr>
          <a:xfrm>
            <a:off x="6050733"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7" name="Rounded Rectangle 126"/>
          <p:cNvSpPr/>
          <p:nvPr/>
        </p:nvSpPr>
        <p:spPr>
          <a:xfrm>
            <a:off x="6050733"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8" name="Oval 127"/>
          <p:cNvSpPr/>
          <p:nvPr/>
        </p:nvSpPr>
        <p:spPr>
          <a:xfrm>
            <a:off x="6155308"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9" name="Oval 128"/>
          <p:cNvSpPr/>
          <p:nvPr/>
        </p:nvSpPr>
        <p:spPr>
          <a:xfrm>
            <a:off x="6155308"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0" name="Rounded Rectangle 129"/>
          <p:cNvSpPr/>
          <p:nvPr/>
        </p:nvSpPr>
        <p:spPr>
          <a:xfrm>
            <a:off x="7347452"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Categoryd6</a:t>
            </a:r>
          </a:p>
        </p:txBody>
      </p:sp>
      <p:sp>
        <p:nvSpPr>
          <p:cNvPr id="131" name="Rounded Rectangle 130"/>
          <p:cNvSpPr/>
          <p:nvPr/>
        </p:nvSpPr>
        <p:spPr>
          <a:xfrm>
            <a:off x="7390080"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2" name="Rounded Rectangle 131"/>
          <p:cNvSpPr/>
          <p:nvPr/>
        </p:nvSpPr>
        <p:spPr>
          <a:xfrm>
            <a:off x="7390080"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3" name="Rounded Rectangle 132"/>
          <p:cNvSpPr/>
          <p:nvPr/>
        </p:nvSpPr>
        <p:spPr>
          <a:xfrm>
            <a:off x="7390080"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4" name="Rounded Rectangle 133"/>
          <p:cNvSpPr/>
          <p:nvPr/>
        </p:nvSpPr>
        <p:spPr>
          <a:xfrm>
            <a:off x="7390080"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5" name="Oval 134"/>
          <p:cNvSpPr/>
          <p:nvPr/>
        </p:nvSpPr>
        <p:spPr>
          <a:xfrm>
            <a:off x="7494655"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Oval 135"/>
          <p:cNvSpPr/>
          <p:nvPr/>
        </p:nvSpPr>
        <p:spPr>
          <a:xfrm>
            <a:off x="7494655"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37" name="Straight Arrow Connector 136"/>
          <p:cNvCxnSpPr>
            <a:endCxn id="116" idx="0"/>
          </p:cNvCxnSpPr>
          <p:nvPr/>
        </p:nvCxnSpPr>
        <p:spPr>
          <a:xfrm>
            <a:off x="5251161" y="1433293"/>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150</a:t>
            </a:fld>
            <a:endParaRPr lang="en-GB" dirty="0"/>
          </a:p>
        </p:txBody>
      </p:sp>
    </p:spTree>
    <p:extLst>
      <p:ext uri="{BB962C8B-B14F-4D97-AF65-F5344CB8AC3E}">
        <p14:creationId xmlns:p14="http://schemas.microsoft.com/office/powerpoint/2010/main" val="107486648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Category-D</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Category-D</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05244" y="-426874"/>
            <a:ext cx="285750" cy="400608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22809" y="-438355"/>
            <a:ext cx="285750" cy="402904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Categoryd1</a:t>
            </a:r>
          </a:p>
        </p:txBody>
      </p:sp>
      <p:sp>
        <p:nvSpPr>
          <p:cNvPr id="85" name="Rounded Rectangle 84"/>
          <p:cNvSpPr/>
          <p:nvPr/>
        </p:nvSpPr>
        <p:spPr>
          <a:xfrm>
            <a:off x="690066"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90066"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90066"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90066"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86597"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86597"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772524" y="1719043"/>
            <a:ext cx="1101089"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Categoryd8</a:t>
            </a:r>
          </a:p>
        </p:txBody>
      </p:sp>
      <p:sp>
        <p:nvSpPr>
          <p:cNvPr id="92" name="Rounded Rectangle 91"/>
          <p:cNvSpPr/>
          <p:nvPr/>
        </p:nvSpPr>
        <p:spPr>
          <a:xfrm>
            <a:off x="8811417" y="2272179"/>
            <a:ext cx="102330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811417" y="3461824"/>
            <a:ext cx="102330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811417" y="4297478"/>
            <a:ext cx="102330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811417" y="5487125"/>
            <a:ext cx="102330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908395" y="2849594"/>
            <a:ext cx="829347"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908395" y="4874894"/>
            <a:ext cx="829347"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2" idx="0"/>
          </p:cNvCxnSpPr>
          <p:nvPr/>
        </p:nvCxnSpPr>
        <p:spPr>
          <a:xfrm rot="5400000">
            <a:off x="3662513" y="130395"/>
            <a:ext cx="285750" cy="289154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37" idx="0"/>
          </p:cNvCxnSpPr>
          <p:nvPr/>
        </p:nvCxnSpPr>
        <p:spPr>
          <a:xfrm rot="16200000" flipH="1">
            <a:off x="6563158" y="121296"/>
            <a:ext cx="285750" cy="290974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09" idx="0"/>
          </p:cNvCxnSpPr>
          <p:nvPr/>
        </p:nvCxnSpPr>
        <p:spPr>
          <a:xfrm rot="5400000">
            <a:off x="4242642" y="710524"/>
            <a:ext cx="285750" cy="173128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30" idx="0"/>
          </p:cNvCxnSpPr>
          <p:nvPr/>
        </p:nvCxnSpPr>
        <p:spPr>
          <a:xfrm rot="16200000" flipH="1">
            <a:off x="5983029" y="701425"/>
            <a:ext cx="285750" cy="174948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2" name="Rounded Rectangle 101"/>
          <p:cNvSpPr/>
          <p:nvPr/>
        </p:nvSpPr>
        <p:spPr>
          <a:xfrm>
            <a:off x="1810975"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Categoryd2</a:t>
            </a:r>
          </a:p>
        </p:txBody>
      </p:sp>
      <p:sp>
        <p:nvSpPr>
          <p:cNvPr id="103" name="Rounded Rectangle 102"/>
          <p:cNvSpPr/>
          <p:nvPr/>
        </p:nvSpPr>
        <p:spPr>
          <a:xfrm>
            <a:off x="1850324"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4" name="Rounded Rectangle 103"/>
          <p:cNvSpPr/>
          <p:nvPr/>
        </p:nvSpPr>
        <p:spPr>
          <a:xfrm>
            <a:off x="1850324"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5" name="Rounded Rectangle 104"/>
          <p:cNvSpPr/>
          <p:nvPr/>
        </p:nvSpPr>
        <p:spPr>
          <a:xfrm>
            <a:off x="1850324"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6" name="Rounded Rectangle 105"/>
          <p:cNvSpPr/>
          <p:nvPr/>
        </p:nvSpPr>
        <p:spPr>
          <a:xfrm>
            <a:off x="1850324"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7" name="Oval 106"/>
          <p:cNvSpPr/>
          <p:nvPr/>
        </p:nvSpPr>
        <p:spPr>
          <a:xfrm>
            <a:off x="1946855"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8" name="Oval 107"/>
          <p:cNvSpPr/>
          <p:nvPr/>
        </p:nvSpPr>
        <p:spPr>
          <a:xfrm>
            <a:off x="1946855"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9" name="Rounded Rectangle 108"/>
          <p:cNvSpPr/>
          <p:nvPr/>
        </p:nvSpPr>
        <p:spPr>
          <a:xfrm>
            <a:off x="2971233"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Categoryd3</a:t>
            </a:r>
          </a:p>
        </p:txBody>
      </p:sp>
      <p:sp>
        <p:nvSpPr>
          <p:cNvPr id="110" name="Rounded Rectangle 109"/>
          <p:cNvSpPr/>
          <p:nvPr/>
        </p:nvSpPr>
        <p:spPr>
          <a:xfrm>
            <a:off x="3010582"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1" name="Rounded Rectangle 110"/>
          <p:cNvSpPr/>
          <p:nvPr/>
        </p:nvSpPr>
        <p:spPr>
          <a:xfrm>
            <a:off x="3010582"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2" name="Rounded Rectangle 111"/>
          <p:cNvSpPr/>
          <p:nvPr/>
        </p:nvSpPr>
        <p:spPr>
          <a:xfrm>
            <a:off x="3010582"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3" name="Rounded Rectangle 112"/>
          <p:cNvSpPr/>
          <p:nvPr/>
        </p:nvSpPr>
        <p:spPr>
          <a:xfrm>
            <a:off x="3010582"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4" name="Oval 113"/>
          <p:cNvSpPr/>
          <p:nvPr/>
        </p:nvSpPr>
        <p:spPr>
          <a:xfrm>
            <a:off x="3107113"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5" name="Oval 114"/>
          <p:cNvSpPr/>
          <p:nvPr/>
        </p:nvSpPr>
        <p:spPr>
          <a:xfrm>
            <a:off x="3107113"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6" name="Rounded Rectangle 115"/>
          <p:cNvSpPr/>
          <p:nvPr/>
        </p:nvSpPr>
        <p:spPr>
          <a:xfrm>
            <a:off x="4131491"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Categoryd4</a:t>
            </a:r>
          </a:p>
        </p:txBody>
      </p:sp>
      <p:sp>
        <p:nvSpPr>
          <p:cNvPr id="117" name="Rounded Rectangle 116"/>
          <p:cNvSpPr/>
          <p:nvPr/>
        </p:nvSpPr>
        <p:spPr>
          <a:xfrm>
            <a:off x="4170840"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8" name="Rounded Rectangle 117"/>
          <p:cNvSpPr/>
          <p:nvPr/>
        </p:nvSpPr>
        <p:spPr>
          <a:xfrm>
            <a:off x="4170840"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9" name="Rounded Rectangle 118"/>
          <p:cNvSpPr/>
          <p:nvPr/>
        </p:nvSpPr>
        <p:spPr>
          <a:xfrm>
            <a:off x="4170840"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0" name="Rounded Rectangle 119"/>
          <p:cNvSpPr/>
          <p:nvPr/>
        </p:nvSpPr>
        <p:spPr>
          <a:xfrm>
            <a:off x="4170840"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1" name="Oval 120"/>
          <p:cNvSpPr/>
          <p:nvPr/>
        </p:nvSpPr>
        <p:spPr>
          <a:xfrm>
            <a:off x="4267371"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2" name="Oval 121"/>
          <p:cNvSpPr/>
          <p:nvPr/>
        </p:nvSpPr>
        <p:spPr>
          <a:xfrm>
            <a:off x="4267371"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3" name="Rounded Rectangle 122"/>
          <p:cNvSpPr/>
          <p:nvPr/>
        </p:nvSpPr>
        <p:spPr>
          <a:xfrm>
            <a:off x="5291749"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Categoryd5</a:t>
            </a:r>
          </a:p>
        </p:txBody>
      </p:sp>
      <p:sp>
        <p:nvSpPr>
          <p:cNvPr id="124" name="Rounded Rectangle 123"/>
          <p:cNvSpPr/>
          <p:nvPr/>
        </p:nvSpPr>
        <p:spPr>
          <a:xfrm>
            <a:off x="5331098"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5" name="Rounded Rectangle 124"/>
          <p:cNvSpPr/>
          <p:nvPr/>
        </p:nvSpPr>
        <p:spPr>
          <a:xfrm>
            <a:off x="5331098"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6" name="Rounded Rectangle 125"/>
          <p:cNvSpPr/>
          <p:nvPr/>
        </p:nvSpPr>
        <p:spPr>
          <a:xfrm>
            <a:off x="5331098"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7" name="Rounded Rectangle 126"/>
          <p:cNvSpPr/>
          <p:nvPr/>
        </p:nvSpPr>
        <p:spPr>
          <a:xfrm>
            <a:off x="5331098"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8" name="Oval 127"/>
          <p:cNvSpPr/>
          <p:nvPr/>
        </p:nvSpPr>
        <p:spPr>
          <a:xfrm>
            <a:off x="5427629"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9" name="Oval 128"/>
          <p:cNvSpPr/>
          <p:nvPr/>
        </p:nvSpPr>
        <p:spPr>
          <a:xfrm>
            <a:off x="5427629"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0" name="Rounded Rectangle 129"/>
          <p:cNvSpPr/>
          <p:nvPr/>
        </p:nvSpPr>
        <p:spPr>
          <a:xfrm>
            <a:off x="6452007"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Categoryd6</a:t>
            </a:r>
          </a:p>
        </p:txBody>
      </p:sp>
      <p:sp>
        <p:nvSpPr>
          <p:cNvPr id="131" name="Rounded Rectangle 130"/>
          <p:cNvSpPr/>
          <p:nvPr/>
        </p:nvSpPr>
        <p:spPr>
          <a:xfrm>
            <a:off x="6491356"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2" name="Rounded Rectangle 131"/>
          <p:cNvSpPr/>
          <p:nvPr/>
        </p:nvSpPr>
        <p:spPr>
          <a:xfrm>
            <a:off x="6491356"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3" name="Rounded Rectangle 132"/>
          <p:cNvSpPr/>
          <p:nvPr/>
        </p:nvSpPr>
        <p:spPr>
          <a:xfrm>
            <a:off x="6491356"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4" name="Rounded Rectangle 133"/>
          <p:cNvSpPr/>
          <p:nvPr/>
        </p:nvSpPr>
        <p:spPr>
          <a:xfrm>
            <a:off x="6491356"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5" name="Oval 134"/>
          <p:cNvSpPr/>
          <p:nvPr/>
        </p:nvSpPr>
        <p:spPr>
          <a:xfrm>
            <a:off x="6587887"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Oval 135"/>
          <p:cNvSpPr/>
          <p:nvPr/>
        </p:nvSpPr>
        <p:spPr>
          <a:xfrm>
            <a:off x="6587887"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7" name="Rounded Rectangle 136"/>
          <p:cNvSpPr/>
          <p:nvPr/>
        </p:nvSpPr>
        <p:spPr>
          <a:xfrm>
            <a:off x="7612265"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Categoryd7</a:t>
            </a:r>
          </a:p>
        </p:txBody>
      </p:sp>
      <p:sp>
        <p:nvSpPr>
          <p:cNvPr id="138" name="Rounded Rectangle 137"/>
          <p:cNvSpPr/>
          <p:nvPr/>
        </p:nvSpPr>
        <p:spPr>
          <a:xfrm>
            <a:off x="7651614"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9" name="Rounded Rectangle 138"/>
          <p:cNvSpPr/>
          <p:nvPr/>
        </p:nvSpPr>
        <p:spPr>
          <a:xfrm>
            <a:off x="7651614"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0" name="Rounded Rectangle 139"/>
          <p:cNvSpPr/>
          <p:nvPr/>
        </p:nvSpPr>
        <p:spPr>
          <a:xfrm>
            <a:off x="7651614"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1" name="Rounded Rectangle 140"/>
          <p:cNvSpPr/>
          <p:nvPr/>
        </p:nvSpPr>
        <p:spPr>
          <a:xfrm>
            <a:off x="7651614"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2" name="Oval 141"/>
          <p:cNvSpPr/>
          <p:nvPr/>
        </p:nvSpPr>
        <p:spPr>
          <a:xfrm>
            <a:off x="7748145"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3" name="Oval 142"/>
          <p:cNvSpPr/>
          <p:nvPr/>
        </p:nvSpPr>
        <p:spPr>
          <a:xfrm>
            <a:off x="7748145"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44" name="Elbow Connector 143"/>
          <p:cNvCxnSpPr>
            <a:endCxn id="116" idx="0"/>
          </p:cNvCxnSpPr>
          <p:nvPr/>
        </p:nvCxnSpPr>
        <p:spPr>
          <a:xfrm rot="5400000">
            <a:off x="4822771" y="1290653"/>
            <a:ext cx="285750" cy="57103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45" name="Elbow Connector 144"/>
          <p:cNvCxnSpPr>
            <a:endCxn id="123" idx="0"/>
          </p:cNvCxnSpPr>
          <p:nvPr/>
        </p:nvCxnSpPr>
        <p:spPr>
          <a:xfrm rot="16200000" flipH="1">
            <a:off x="5402900" y="1281554"/>
            <a:ext cx="285750" cy="58922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151</a:t>
            </a:fld>
            <a:endParaRPr lang="en-GB" dirty="0"/>
          </a:p>
        </p:txBody>
      </p:sp>
    </p:spTree>
    <p:extLst>
      <p:ext uri="{BB962C8B-B14F-4D97-AF65-F5344CB8AC3E}">
        <p14:creationId xmlns:p14="http://schemas.microsoft.com/office/powerpoint/2010/main" val="3227101357"/>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Category-D</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Category-D</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059524" y="-472594"/>
            <a:ext cx="285750" cy="409752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68052" y="-483599"/>
            <a:ext cx="285750" cy="4119533"/>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Categoryd1</a:t>
            </a:r>
          </a:p>
        </p:txBody>
      </p:sp>
      <p:sp>
        <p:nvSpPr>
          <p:cNvPr id="85" name="Rounded Rectangle 84"/>
          <p:cNvSpPr/>
          <p:nvPr/>
        </p:nvSpPr>
        <p:spPr>
          <a:xfrm>
            <a:off x="686787"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86787"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86787"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86787"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75273"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75273"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867774"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Categoryd9</a:t>
            </a:r>
          </a:p>
        </p:txBody>
      </p:sp>
      <p:sp>
        <p:nvSpPr>
          <p:cNvPr id="92" name="Rounded Rectangle 91"/>
          <p:cNvSpPr/>
          <p:nvPr/>
        </p:nvSpPr>
        <p:spPr>
          <a:xfrm>
            <a:off x="8903303" y="2272179"/>
            <a:ext cx="93478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903303" y="3461824"/>
            <a:ext cx="93478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903303" y="4297478"/>
            <a:ext cx="93478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903303" y="5487125"/>
            <a:ext cx="93478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991892" y="2849594"/>
            <a:ext cx="75760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991892" y="4874894"/>
            <a:ext cx="75760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4" idx="0"/>
          </p:cNvCxnSpPr>
          <p:nvPr/>
        </p:nvCxnSpPr>
        <p:spPr>
          <a:xfrm rot="5400000">
            <a:off x="3573090" y="40972"/>
            <a:ext cx="285750" cy="307039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46" idx="0"/>
          </p:cNvCxnSpPr>
          <p:nvPr/>
        </p:nvCxnSpPr>
        <p:spPr>
          <a:xfrm rot="16200000" flipH="1">
            <a:off x="6654486" y="29968"/>
            <a:ext cx="285750" cy="309240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11" idx="0"/>
          </p:cNvCxnSpPr>
          <p:nvPr/>
        </p:nvCxnSpPr>
        <p:spPr>
          <a:xfrm rot="5400000">
            <a:off x="4086656" y="554538"/>
            <a:ext cx="285750" cy="204326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39" idx="0"/>
          </p:cNvCxnSpPr>
          <p:nvPr/>
        </p:nvCxnSpPr>
        <p:spPr>
          <a:xfrm rot="16200000" flipH="1">
            <a:off x="6140920" y="543534"/>
            <a:ext cx="285750" cy="206526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Elbow Connector 101"/>
          <p:cNvCxnSpPr>
            <a:endCxn id="118" idx="0"/>
          </p:cNvCxnSpPr>
          <p:nvPr/>
        </p:nvCxnSpPr>
        <p:spPr>
          <a:xfrm rot="5400000">
            <a:off x="4600222" y="1068104"/>
            <a:ext cx="285750" cy="1016128"/>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endCxn id="132" idx="0"/>
          </p:cNvCxnSpPr>
          <p:nvPr/>
        </p:nvCxnSpPr>
        <p:spPr>
          <a:xfrm rot="16200000" flipH="1">
            <a:off x="5627354" y="1057100"/>
            <a:ext cx="285750" cy="103813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4" name="Rounded Rectangle 103"/>
          <p:cNvSpPr/>
          <p:nvPr/>
        </p:nvSpPr>
        <p:spPr>
          <a:xfrm>
            <a:off x="1677849"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Categoryd2</a:t>
            </a:r>
          </a:p>
        </p:txBody>
      </p:sp>
      <p:sp>
        <p:nvSpPr>
          <p:cNvPr id="105" name="Rounded Rectangle 104"/>
          <p:cNvSpPr/>
          <p:nvPr/>
        </p:nvSpPr>
        <p:spPr>
          <a:xfrm>
            <a:off x="1713919"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6" name="Rounded Rectangle 105"/>
          <p:cNvSpPr/>
          <p:nvPr/>
        </p:nvSpPr>
        <p:spPr>
          <a:xfrm>
            <a:off x="1713919"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7" name="Rounded Rectangle 106"/>
          <p:cNvSpPr/>
          <p:nvPr/>
        </p:nvSpPr>
        <p:spPr>
          <a:xfrm>
            <a:off x="1713919"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8" name="Rounded Rectangle 107"/>
          <p:cNvSpPr/>
          <p:nvPr/>
        </p:nvSpPr>
        <p:spPr>
          <a:xfrm>
            <a:off x="1713919"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9" name="Oval 108"/>
          <p:cNvSpPr/>
          <p:nvPr/>
        </p:nvSpPr>
        <p:spPr>
          <a:xfrm>
            <a:off x="1802405"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0" name="Oval 109"/>
          <p:cNvSpPr/>
          <p:nvPr/>
        </p:nvSpPr>
        <p:spPr>
          <a:xfrm>
            <a:off x="1802405"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1" name="Rounded Rectangle 110"/>
          <p:cNvSpPr/>
          <p:nvPr/>
        </p:nvSpPr>
        <p:spPr>
          <a:xfrm>
            <a:off x="2704981"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Categoryd3</a:t>
            </a:r>
          </a:p>
        </p:txBody>
      </p:sp>
      <p:sp>
        <p:nvSpPr>
          <p:cNvPr id="112" name="Rounded Rectangle 111"/>
          <p:cNvSpPr/>
          <p:nvPr/>
        </p:nvSpPr>
        <p:spPr>
          <a:xfrm>
            <a:off x="2741051"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3" name="Rounded Rectangle 112"/>
          <p:cNvSpPr/>
          <p:nvPr/>
        </p:nvSpPr>
        <p:spPr>
          <a:xfrm>
            <a:off x="2741051"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4" name="Rounded Rectangle 113"/>
          <p:cNvSpPr/>
          <p:nvPr/>
        </p:nvSpPr>
        <p:spPr>
          <a:xfrm>
            <a:off x="2741051"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5" name="Rounded Rectangle 114"/>
          <p:cNvSpPr/>
          <p:nvPr/>
        </p:nvSpPr>
        <p:spPr>
          <a:xfrm>
            <a:off x="2741051"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6" name="Oval 115"/>
          <p:cNvSpPr/>
          <p:nvPr/>
        </p:nvSpPr>
        <p:spPr>
          <a:xfrm>
            <a:off x="2829537"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7" name="Oval 116"/>
          <p:cNvSpPr/>
          <p:nvPr/>
        </p:nvSpPr>
        <p:spPr>
          <a:xfrm>
            <a:off x="2829537"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8" name="Rounded Rectangle 117"/>
          <p:cNvSpPr/>
          <p:nvPr/>
        </p:nvSpPr>
        <p:spPr>
          <a:xfrm>
            <a:off x="3732113"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Categoryd4</a:t>
            </a:r>
          </a:p>
        </p:txBody>
      </p:sp>
      <p:sp>
        <p:nvSpPr>
          <p:cNvPr id="119" name="Rounded Rectangle 118"/>
          <p:cNvSpPr/>
          <p:nvPr/>
        </p:nvSpPr>
        <p:spPr>
          <a:xfrm>
            <a:off x="3768183"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0" name="Rounded Rectangle 119"/>
          <p:cNvSpPr/>
          <p:nvPr/>
        </p:nvSpPr>
        <p:spPr>
          <a:xfrm>
            <a:off x="3768183"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1" name="Rounded Rectangle 120"/>
          <p:cNvSpPr/>
          <p:nvPr/>
        </p:nvSpPr>
        <p:spPr>
          <a:xfrm>
            <a:off x="3768183"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2" name="Rounded Rectangle 121"/>
          <p:cNvSpPr/>
          <p:nvPr/>
        </p:nvSpPr>
        <p:spPr>
          <a:xfrm>
            <a:off x="3768183"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3" name="Oval 122"/>
          <p:cNvSpPr/>
          <p:nvPr/>
        </p:nvSpPr>
        <p:spPr>
          <a:xfrm>
            <a:off x="3856669"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4" name="Oval 123"/>
          <p:cNvSpPr/>
          <p:nvPr/>
        </p:nvSpPr>
        <p:spPr>
          <a:xfrm>
            <a:off x="3856669"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5" name="Rounded Rectangle 124"/>
          <p:cNvSpPr/>
          <p:nvPr/>
        </p:nvSpPr>
        <p:spPr>
          <a:xfrm>
            <a:off x="4759245"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Categoryd5</a:t>
            </a:r>
          </a:p>
        </p:txBody>
      </p:sp>
      <p:sp>
        <p:nvSpPr>
          <p:cNvPr id="126" name="Rounded Rectangle 125"/>
          <p:cNvSpPr/>
          <p:nvPr/>
        </p:nvSpPr>
        <p:spPr>
          <a:xfrm>
            <a:off x="4795315"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7" name="Rounded Rectangle 126"/>
          <p:cNvSpPr/>
          <p:nvPr/>
        </p:nvSpPr>
        <p:spPr>
          <a:xfrm>
            <a:off x="4795315"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8" name="Rounded Rectangle 127"/>
          <p:cNvSpPr/>
          <p:nvPr/>
        </p:nvSpPr>
        <p:spPr>
          <a:xfrm>
            <a:off x="4795315"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9" name="Rounded Rectangle 128"/>
          <p:cNvSpPr/>
          <p:nvPr/>
        </p:nvSpPr>
        <p:spPr>
          <a:xfrm>
            <a:off x="4795315"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0" name="Oval 129"/>
          <p:cNvSpPr/>
          <p:nvPr/>
        </p:nvSpPr>
        <p:spPr>
          <a:xfrm>
            <a:off x="4883801"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1" name="Oval 130"/>
          <p:cNvSpPr/>
          <p:nvPr/>
        </p:nvSpPr>
        <p:spPr>
          <a:xfrm>
            <a:off x="4883801"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2" name="Rounded Rectangle 131"/>
          <p:cNvSpPr/>
          <p:nvPr/>
        </p:nvSpPr>
        <p:spPr>
          <a:xfrm>
            <a:off x="5786377"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Categoryd6</a:t>
            </a:r>
          </a:p>
        </p:txBody>
      </p:sp>
      <p:sp>
        <p:nvSpPr>
          <p:cNvPr id="133" name="Rounded Rectangle 132"/>
          <p:cNvSpPr/>
          <p:nvPr/>
        </p:nvSpPr>
        <p:spPr>
          <a:xfrm>
            <a:off x="5822447"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4" name="Rounded Rectangle 133"/>
          <p:cNvSpPr/>
          <p:nvPr/>
        </p:nvSpPr>
        <p:spPr>
          <a:xfrm>
            <a:off x="5822447"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5" name="Rounded Rectangle 134"/>
          <p:cNvSpPr/>
          <p:nvPr/>
        </p:nvSpPr>
        <p:spPr>
          <a:xfrm>
            <a:off x="5822447"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6" name="Rounded Rectangle 135"/>
          <p:cNvSpPr/>
          <p:nvPr/>
        </p:nvSpPr>
        <p:spPr>
          <a:xfrm>
            <a:off x="5822447"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7" name="Oval 136"/>
          <p:cNvSpPr/>
          <p:nvPr/>
        </p:nvSpPr>
        <p:spPr>
          <a:xfrm>
            <a:off x="5910933"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8" name="Oval 137"/>
          <p:cNvSpPr/>
          <p:nvPr/>
        </p:nvSpPr>
        <p:spPr>
          <a:xfrm>
            <a:off x="5910933"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9" name="Rounded Rectangle 138"/>
          <p:cNvSpPr/>
          <p:nvPr/>
        </p:nvSpPr>
        <p:spPr>
          <a:xfrm>
            <a:off x="6813509"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Categoryd7</a:t>
            </a:r>
          </a:p>
        </p:txBody>
      </p:sp>
      <p:sp>
        <p:nvSpPr>
          <p:cNvPr id="140" name="Rounded Rectangle 139"/>
          <p:cNvSpPr/>
          <p:nvPr/>
        </p:nvSpPr>
        <p:spPr>
          <a:xfrm>
            <a:off x="6849579"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1" name="Rounded Rectangle 140"/>
          <p:cNvSpPr/>
          <p:nvPr/>
        </p:nvSpPr>
        <p:spPr>
          <a:xfrm>
            <a:off x="6849579"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2" name="Rounded Rectangle 141"/>
          <p:cNvSpPr/>
          <p:nvPr/>
        </p:nvSpPr>
        <p:spPr>
          <a:xfrm>
            <a:off x="6849579"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3" name="Rounded Rectangle 142"/>
          <p:cNvSpPr/>
          <p:nvPr/>
        </p:nvSpPr>
        <p:spPr>
          <a:xfrm>
            <a:off x="6849579"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4" name="Oval 143"/>
          <p:cNvSpPr/>
          <p:nvPr/>
        </p:nvSpPr>
        <p:spPr>
          <a:xfrm>
            <a:off x="6938065"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5" name="Oval 144"/>
          <p:cNvSpPr/>
          <p:nvPr/>
        </p:nvSpPr>
        <p:spPr>
          <a:xfrm>
            <a:off x="6938065"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6" name="Rounded Rectangle 145"/>
          <p:cNvSpPr/>
          <p:nvPr/>
        </p:nvSpPr>
        <p:spPr>
          <a:xfrm>
            <a:off x="7840641"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Categoryd8</a:t>
            </a:r>
          </a:p>
        </p:txBody>
      </p:sp>
      <p:sp>
        <p:nvSpPr>
          <p:cNvPr id="147" name="Rounded Rectangle 146"/>
          <p:cNvSpPr/>
          <p:nvPr/>
        </p:nvSpPr>
        <p:spPr>
          <a:xfrm>
            <a:off x="7876711"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8" name="Rounded Rectangle 147"/>
          <p:cNvSpPr/>
          <p:nvPr/>
        </p:nvSpPr>
        <p:spPr>
          <a:xfrm>
            <a:off x="7876711"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9" name="Rounded Rectangle 148"/>
          <p:cNvSpPr/>
          <p:nvPr/>
        </p:nvSpPr>
        <p:spPr>
          <a:xfrm>
            <a:off x="7876711"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50" name="Rounded Rectangle 149"/>
          <p:cNvSpPr/>
          <p:nvPr/>
        </p:nvSpPr>
        <p:spPr>
          <a:xfrm>
            <a:off x="7876711"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51" name="Oval 150"/>
          <p:cNvSpPr/>
          <p:nvPr/>
        </p:nvSpPr>
        <p:spPr>
          <a:xfrm>
            <a:off x="7965197"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0" name="Oval 199"/>
          <p:cNvSpPr/>
          <p:nvPr/>
        </p:nvSpPr>
        <p:spPr>
          <a:xfrm>
            <a:off x="7965197"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201" name="Elbow Connector 200"/>
          <p:cNvCxnSpPr>
            <a:endCxn id="125" idx="0"/>
          </p:cNvCxnSpPr>
          <p:nvPr/>
        </p:nvCxnSpPr>
        <p:spPr>
          <a:xfrm rot="16200000" flipH="1">
            <a:off x="5113788" y="1570666"/>
            <a:ext cx="285750" cy="1100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152</a:t>
            </a:fld>
            <a:endParaRPr lang="en-GB" dirty="0"/>
          </a:p>
        </p:txBody>
      </p:sp>
    </p:spTree>
    <p:extLst>
      <p:ext uri="{BB962C8B-B14F-4D97-AF65-F5344CB8AC3E}">
        <p14:creationId xmlns:p14="http://schemas.microsoft.com/office/powerpoint/2010/main" val="293157954"/>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Category-D</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Category-D</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002977" y="-529141"/>
            <a:ext cx="285750" cy="42106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216880" y="-532427"/>
            <a:ext cx="285750" cy="421718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464951" y="2507208"/>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464951" y="3696853"/>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464951" y="4532507"/>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464951" y="5722154"/>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583342"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Categoryd1</a:t>
            </a:r>
          </a:p>
        </p:txBody>
      </p:sp>
      <p:sp>
        <p:nvSpPr>
          <p:cNvPr id="85" name="Rounded Rectangle 84"/>
          <p:cNvSpPr/>
          <p:nvPr/>
        </p:nvSpPr>
        <p:spPr>
          <a:xfrm>
            <a:off x="616133"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16133"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16133"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16133"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696575"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69657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9011150"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Categoryd10</a:t>
            </a:r>
          </a:p>
        </p:txBody>
      </p:sp>
      <p:sp>
        <p:nvSpPr>
          <p:cNvPr id="92" name="Rounded Rectangle 91"/>
          <p:cNvSpPr/>
          <p:nvPr/>
        </p:nvSpPr>
        <p:spPr>
          <a:xfrm>
            <a:off x="9043449" y="2272179"/>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9043449" y="3461824"/>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9043449" y="4297478"/>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9043449" y="5487125"/>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9123984" y="28495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9123984" y="48748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5" idx="0"/>
          </p:cNvCxnSpPr>
          <p:nvPr/>
        </p:nvCxnSpPr>
        <p:spPr>
          <a:xfrm rot="5400000">
            <a:off x="3471188" y="-60930"/>
            <a:ext cx="285750" cy="327419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202" idx="0"/>
          </p:cNvCxnSpPr>
          <p:nvPr/>
        </p:nvCxnSpPr>
        <p:spPr>
          <a:xfrm rot="16200000" flipH="1">
            <a:off x="6748668" y="-64215"/>
            <a:ext cx="285750" cy="3280765"/>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12" idx="0"/>
          </p:cNvCxnSpPr>
          <p:nvPr/>
        </p:nvCxnSpPr>
        <p:spPr>
          <a:xfrm rot="5400000">
            <a:off x="3939400" y="407282"/>
            <a:ext cx="285750" cy="2337773"/>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47" idx="0"/>
          </p:cNvCxnSpPr>
          <p:nvPr/>
        </p:nvCxnSpPr>
        <p:spPr>
          <a:xfrm rot="16200000" flipH="1">
            <a:off x="6280457" y="403997"/>
            <a:ext cx="285750" cy="234434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Elbow Connector 101"/>
          <p:cNvCxnSpPr>
            <a:endCxn id="119" idx="0"/>
          </p:cNvCxnSpPr>
          <p:nvPr/>
        </p:nvCxnSpPr>
        <p:spPr>
          <a:xfrm rot="5400000">
            <a:off x="4407611" y="875493"/>
            <a:ext cx="285750" cy="140135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endCxn id="140" idx="0"/>
          </p:cNvCxnSpPr>
          <p:nvPr/>
        </p:nvCxnSpPr>
        <p:spPr>
          <a:xfrm rot="16200000" flipH="1">
            <a:off x="5812245" y="872208"/>
            <a:ext cx="285750" cy="1407919"/>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4" name="Elbow Connector 103"/>
          <p:cNvCxnSpPr>
            <a:endCxn id="133" idx="0"/>
          </p:cNvCxnSpPr>
          <p:nvPr/>
        </p:nvCxnSpPr>
        <p:spPr>
          <a:xfrm rot="16200000" flipH="1">
            <a:off x="5344034" y="1340420"/>
            <a:ext cx="285750" cy="47149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5" name="Rounded Rectangle 104"/>
          <p:cNvSpPr/>
          <p:nvPr/>
        </p:nvSpPr>
        <p:spPr>
          <a:xfrm>
            <a:off x="1519765"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Categoryd2</a:t>
            </a:r>
          </a:p>
        </p:txBody>
      </p:sp>
      <p:sp>
        <p:nvSpPr>
          <p:cNvPr id="106" name="Rounded Rectangle 105"/>
          <p:cNvSpPr/>
          <p:nvPr/>
        </p:nvSpPr>
        <p:spPr>
          <a:xfrm>
            <a:off x="1552392"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7" name="Rounded Rectangle 106"/>
          <p:cNvSpPr/>
          <p:nvPr/>
        </p:nvSpPr>
        <p:spPr>
          <a:xfrm>
            <a:off x="1552392"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8" name="Rounded Rectangle 107"/>
          <p:cNvSpPr/>
          <p:nvPr/>
        </p:nvSpPr>
        <p:spPr>
          <a:xfrm>
            <a:off x="1552392"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9" name="Rounded Rectangle 108"/>
          <p:cNvSpPr/>
          <p:nvPr/>
        </p:nvSpPr>
        <p:spPr>
          <a:xfrm>
            <a:off x="1552392"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0" name="Oval 109"/>
          <p:cNvSpPr/>
          <p:nvPr/>
        </p:nvSpPr>
        <p:spPr>
          <a:xfrm>
            <a:off x="168754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1" name="Oval 110"/>
          <p:cNvSpPr/>
          <p:nvPr/>
        </p:nvSpPr>
        <p:spPr>
          <a:xfrm>
            <a:off x="163286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2" name="Rounded Rectangle 111"/>
          <p:cNvSpPr/>
          <p:nvPr/>
        </p:nvSpPr>
        <p:spPr>
          <a:xfrm>
            <a:off x="2456188"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Categoryd3</a:t>
            </a:r>
          </a:p>
        </p:txBody>
      </p:sp>
      <p:sp>
        <p:nvSpPr>
          <p:cNvPr id="113" name="Rounded Rectangle 112"/>
          <p:cNvSpPr/>
          <p:nvPr/>
        </p:nvSpPr>
        <p:spPr>
          <a:xfrm>
            <a:off x="2488651"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4" name="Rounded Rectangle 113"/>
          <p:cNvSpPr/>
          <p:nvPr/>
        </p:nvSpPr>
        <p:spPr>
          <a:xfrm>
            <a:off x="2488651"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5" name="Rounded Rectangle 114"/>
          <p:cNvSpPr/>
          <p:nvPr/>
        </p:nvSpPr>
        <p:spPr>
          <a:xfrm>
            <a:off x="2488651"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6" name="Rounded Rectangle 115"/>
          <p:cNvSpPr/>
          <p:nvPr/>
        </p:nvSpPr>
        <p:spPr>
          <a:xfrm>
            <a:off x="2488651"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7" name="Oval 116"/>
          <p:cNvSpPr/>
          <p:nvPr/>
        </p:nvSpPr>
        <p:spPr>
          <a:xfrm>
            <a:off x="261113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8" name="Oval 117"/>
          <p:cNvSpPr/>
          <p:nvPr/>
        </p:nvSpPr>
        <p:spPr>
          <a:xfrm>
            <a:off x="256915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9" name="Rounded Rectangle 118"/>
          <p:cNvSpPr/>
          <p:nvPr/>
        </p:nvSpPr>
        <p:spPr>
          <a:xfrm>
            <a:off x="3392611"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Categoryd4</a:t>
            </a:r>
          </a:p>
        </p:txBody>
      </p:sp>
      <p:sp>
        <p:nvSpPr>
          <p:cNvPr id="120" name="Rounded Rectangle 119"/>
          <p:cNvSpPr/>
          <p:nvPr/>
        </p:nvSpPr>
        <p:spPr>
          <a:xfrm>
            <a:off x="3424910"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1" name="Rounded Rectangle 120"/>
          <p:cNvSpPr/>
          <p:nvPr/>
        </p:nvSpPr>
        <p:spPr>
          <a:xfrm>
            <a:off x="3424910"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2" name="Rounded Rectangle 121"/>
          <p:cNvSpPr/>
          <p:nvPr/>
        </p:nvSpPr>
        <p:spPr>
          <a:xfrm>
            <a:off x="3424910"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3" name="Rounded Rectangle 122"/>
          <p:cNvSpPr/>
          <p:nvPr/>
        </p:nvSpPr>
        <p:spPr>
          <a:xfrm>
            <a:off x="3424910"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4" name="Oval 123"/>
          <p:cNvSpPr/>
          <p:nvPr/>
        </p:nvSpPr>
        <p:spPr>
          <a:xfrm>
            <a:off x="353472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5" name="Oval 124"/>
          <p:cNvSpPr/>
          <p:nvPr/>
        </p:nvSpPr>
        <p:spPr>
          <a:xfrm>
            <a:off x="350544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6" name="Rounded Rectangle 125"/>
          <p:cNvSpPr/>
          <p:nvPr/>
        </p:nvSpPr>
        <p:spPr>
          <a:xfrm>
            <a:off x="4329034"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Categoryd5</a:t>
            </a:r>
          </a:p>
        </p:txBody>
      </p:sp>
      <p:sp>
        <p:nvSpPr>
          <p:cNvPr id="127" name="Rounded Rectangle 126"/>
          <p:cNvSpPr/>
          <p:nvPr/>
        </p:nvSpPr>
        <p:spPr>
          <a:xfrm>
            <a:off x="4361169"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8" name="Rounded Rectangle 127"/>
          <p:cNvSpPr/>
          <p:nvPr/>
        </p:nvSpPr>
        <p:spPr>
          <a:xfrm>
            <a:off x="4361169"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9" name="Rounded Rectangle 128"/>
          <p:cNvSpPr/>
          <p:nvPr/>
        </p:nvSpPr>
        <p:spPr>
          <a:xfrm>
            <a:off x="4361169"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0" name="Rounded Rectangle 129"/>
          <p:cNvSpPr/>
          <p:nvPr/>
        </p:nvSpPr>
        <p:spPr>
          <a:xfrm>
            <a:off x="4361169"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1" name="Oval 130"/>
          <p:cNvSpPr/>
          <p:nvPr/>
        </p:nvSpPr>
        <p:spPr>
          <a:xfrm>
            <a:off x="445831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2" name="Oval 131"/>
          <p:cNvSpPr/>
          <p:nvPr/>
        </p:nvSpPr>
        <p:spPr>
          <a:xfrm>
            <a:off x="444173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3" name="Rounded Rectangle 132"/>
          <p:cNvSpPr/>
          <p:nvPr/>
        </p:nvSpPr>
        <p:spPr>
          <a:xfrm>
            <a:off x="5265457"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Categoryd6</a:t>
            </a:r>
          </a:p>
        </p:txBody>
      </p:sp>
      <p:sp>
        <p:nvSpPr>
          <p:cNvPr id="134" name="Rounded Rectangle 133"/>
          <p:cNvSpPr/>
          <p:nvPr/>
        </p:nvSpPr>
        <p:spPr>
          <a:xfrm>
            <a:off x="5297428"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5" name="Rounded Rectangle 134"/>
          <p:cNvSpPr/>
          <p:nvPr/>
        </p:nvSpPr>
        <p:spPr>
          <a:xfrm>
            <a:off x="5297428"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6" name="Rounded Rectangle 135"/>
          <p:cNvSpPr/>
          <p:nvPr/>
        </p:nvSpPr>
        <p:spPr>
          <a:xfrm>
            <a:off x="5297428"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7" name="Rounded Rectangle 136"/>
          <p:cNvSpPr/>
          <p:nvPr/>
        </p:nvSpPr>
        <p:spPr>
          <a:xfrm>
            <a:off x="5297428"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8" name="Oval 137"/>
          <p:cNvSpPr/>
          <p:nvPr/>
        </p:nvSpPr>
        <p:spPr>
          <a:xfrm>
            <a:off x="538190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9" name="Oval 138"/>
          <p:cNvSpPr/>
          <p:nvPr/>
        </p:nvSpPr>
        <p:spPr>
          <a:xfrm>
            <a:off x="537802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0" name="Rounded Rectangle 139"/>
          <p:cNvSpPr/>
          <p:nvPr/>
        </p:nvSpPr>
        <p:spPr>
          <a:xfrm>
            <a:off x="6201880"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Categoryd7</a:t>
            </a:r>
          </a:p>
        </p:txBody>
      </p:sp>
      <p:sp>
        <p:nvSpPr>
          <p:cNvPr id="141" name="Rounded Rectangle 140"/>
          <p:cNvSpPr/>
          <p:nvPr/>
        </p:nvSpPr>
        <p:spPr>
          <a:xfrm>
            <a:off x="6233687"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2" name="Rounded Rectangle 141"/>
          <p:cNvSpPr/>
          <p:nvPr/>
        </p:nvSpPr>
        <p:spPr>
          <a:xfrm>
            <a:off x="6233687"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3" name="Rounded Rectangle 142"/>
          <p:cNvSpPr/>
          <p:nvPr/>
        </p:nvSpPr>
        <p:spPr>
          <a:xfrm>
            <a:off x="6233687"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4" name="Rounded Rectangle 143"/>
          <p:cNvSpPr/>
          <p:nvPr/>
        </p:nvSpPr>
        <p:spPr>
          <a:xfrm>
            <a:off x="6233687"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5" name="Oval 144"/>
          <p:cNvSpPr/>
          <p:nvPr/>
        </p:nvSpPr>
        <p:spPr>
          <a:xfrm>
            <a:off x="630549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6" name="Oval 145"/>
          <p:cNvSpPr/>
          <p:nvPr/>
        </p:nvSpPr>
        <p:spPr>
          <a:xfrm>
            <a:off x="631431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7" name="Rounded Rectangle 146"/>
          <p:cNvSpPr/>
          <p:nvPr/>
        </p:nvSpPr>
        <p:spPr>
          <a:xfrm>
            <a:off x="7138303"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Categoryd8</a:t>
            </a:r>
          </a:p>
        </p:txBody>
      </p:sp>
      <p:sp>
        <p:nvSpPr>
          <p:cNvPr id="148" name="Rounded Rectangle 147"/>
          <p:cNvSpPr/>
          <p:nvPr/>
        </p:nvSpPr>
        <p:spPr>
          <a:xfrm>
            <a:off x="7169946"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9" name="Rounded Rectangle 148"/>
          <p:cNvSpPr/>
          <p:nvPr/>
        </p:nvSpPr>
        <p:spPr>
          <a:xfrm>
            <a:off x="7169946"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50" name="Rounded Rectangle 149"/>
          <p:cNvSpPr/>
          <p:nvPr/>
        </p:nvSpPr>
        <p:spPr>
          <a:xfrm>
            <a:off x="7169946"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51" name="Rounded Rectangle 150"/>
          <p:cNvSpPr/>
          <p:nvPr/>
        </p:nvSpPr>
        <p:spPr>
          <a:xfrm>
            <a:off x="7169946"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200" name="Oval 199"/>
          <p:cNvSpPr/>
          <p:nvPr/>
        </p:nvSpPr>
        <p:spPr>
          <a:xfrm>
            <a:off x="722908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1" name="Oval 200"/>
          <p:cNvSpPr/>
          <p:nvPr/>
        </p:nvSpPr>
        <p:spPr>
          <a:xfrm>
            <a:off x="725060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2" name="Rounded Rectangle 201"/>
          <p:cNvSpPr/>
          <p:nvPr/>
        </p:nvSpPr>
        <p:spPr>
          <a:xfrm>
            <a:off x="8074726"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Categoryd9</a:t>
            </a:r>
          </a:p>
        </p:txBody>
      </p:sp>
      <p:sp>
        <p:nvSpPr>
          <p:cNvPr id="203" name="Rounded Rectangle 202"/>
          <p:cNvSpPr/>
          <p:nvPr/>
        </p:nvSpPr>
        <p:spPr>
          <a:xfrm>
            <a:off x="8106205" y="2272179"/>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204" name="Rounded Rectangle 203"/>
          <p:cNvSpPr/>
          <p:nvPr/>
        </p:nvSpPr>
        <p:spPr>
          <a:xfrm>
            <a:off x="8106205" y="3461824"/>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205" name="Rounded Rectangle 204"/>
          <p:cNvSpPr/>
          <p:nvPr/>
        </p:nvSpPr>
        <p:spPr>
          <a:xfrm>
            <a:off x="8106205" y="4297478"/>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206" name="Rounded Rectangle 205"/>
          <p:cNvSpPr/>
          <p:nvPr/>
        </p:nvSpPr>
        <p:spPr>
          <a:xfrm>
            <a:off x="8106205" y="5487125"/>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207" name="Oval 206"/>
          <p:cNvSpPr/>
          <p:nvPr/>
        </p:nvSpPr>
        <p:spPr>
          <a:xfrm>
            <a:off x="8152271" y="28495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8" name="Oval 207"/>
          <p:cNvSpPr/>
          <p:nvPr/>
        </p:nvSpPr>
        <p:spPr>
          <a:xfrm>
            <a:off x="8186895" y="48748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209" name="Elbow Connector 208"/>
          <p:cNvCxnSpPr>
            <a:endCxn id="126" idx="0"/>
          </p:cNvCxnSpPr>
          <p:nvPr/>
        </p:nvCxnSpPr>
        <p:spPr>
          <a:xfrm rot="5400000">
            <a:off x="4875823" y="1343705"/>
            <a:ext cx="285750" cy="464927"/>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153</a:t>
            </a:fld>
            <a:endParaRPr lang="en-GB" dirty="0"/>
          </a:p>
        </p:txBody>
      </p:sp>
    </p:spTree>
    <p:extLst>
      <p:ext uri="{BB962C8B-B14F-4D97-AF65-F5344CB8AC3E}">
        <p14:creationId xmlns:p14="http://schemas.microsoft.com/office/powerpoint/2010/main" val="206525879"/>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a:t>Global WXYZ Market Analysis By Category-D</a:t>
            </a:r>
          </a:p>
        </p:txBody>
      </p:sp>
      <p:sp>
        <p:nvSpPr>
          <p:cNvPr id="10" name="Text Placeholder 9"/>
          <p:cNvSpPr>
            <a:spLocks noGrp="1"/>
          </p:cNvSpPr>
          <p:nvPr>
            <p:ph type="body" idx="12"/>
          </p:nvPr>
        </p:nvSpPr>
        <p:spPr/>
        <p:txBody>
          <a:bodyPr/>
          <a:lstStyle/>
          <a:p>
            <a:r>
              <a:rPr lang="en-US" sz="1100" dirty="0"/>
              <a:t>Figure xx: Global WXYZ Market Share and BPS Analysis By Category-D, 2024 &amp; 2034</a:t>
            </a:r>
          </a:p>
        </p:txBody>
      </p:sp>
      <p:sp>
        <p:nvSpPr>
          <p:cNvPr id="12" name="Text Placeholder 11"/>
          <p:cNvSpPr>
            <a:spLocks noGrp="1"/>
          </p:cNvSpPr>
          <p:nvPr>
            <p:ph type="body" idx="14"/>
          </p:nvPr>
        </p:nvSpPr>
        <p:spPr/>
        <p:txBody>
          <a:bodyPr/>
          <a:lstStyle/>
          <a:p>
            <a:r>
              <a:rPr lang="en-US" sz="1100" dirty="0"/>
              <a:t>Figure xx: Global WXYZ Market Y-o-Y Growth Projections By Category-D, 2024 – 2034</a:t>
            </a:r>
          </a:p>
        </p:txBody>
      </p:sp>
      <p:sp>
        <p:nvSpPr>
          <p:cNvPr id="14" name="Text Placeholder 13"/>
          <p:cNvSpPr>
            <a:spLocks noGrp="1"/>
          </p:cNvSpPr>
          <p:nvPr>
            <p:ph type="body" idx="16"/>
          </p:nvPr>
        </p:nvSpPr>
        <p:spPr/>
        <p:txBody>
          <a:bodyPr/>
          <a:lstStyle/>
          <a:p>
            <a:r>
              <a:rPr lang="en-US" dirty="0"/>
              <a:t>Figure xx: Global WXYZ Market Attractiveness Analysis By Category-D, 2024 – 2034</a:t>
            </a:r>
          </a:p>
        </p:txBody>
      </p:sp>
      <p:sp>
        <p:nvSpPr>
          <p:cNvPr id="16" name="TextBox 1"/>
          <p:cNvSpPr txBox="1"/>
          <p:nvPr/>
        </p:nvSpPr>
        <p:spPr>
          <a:xfrm>
            <a:off x="719359" y="1695973"/>
            <a:ext cx="80631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B!Y! </a:t>
            </a:r>
            <a:r>
              <a:rPr lang="en-US" sz="1200" b="1" dirty="0" err="1"/>
              <a:t>Mn</a:t>
            </a:r>
            <a:endParaRPr lang="en-US" sz="1200" b="1" dirty="0"/>
          </a:p>
        </p:txBody>
      </p:sp>
      <p:sp>
        <p:nvSpPr>
          <p:cNvPr id="17" name="TextBox 9"/>
          <p:cNvSpPr txBox="1"/>
          <p:nvPr/>
        </p:nvSpPr>
        <p:spPr>
          <a:xfrm>
            <a:off x="2479917" y="1656252"/>
            <a:ext cx="79028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F!Y! </a:t>
            </a:r>
            <a:r>
              <a:rPr lang="en-US" sz="1200" b="1" dirty="0" err="1"/>
              <a:t>Mn</a:t>
            </a:r>
            <a:endParaRPr lang="en-US" sz="1200" b="1" dirty="0"/>
          </a:p>
        </p:txBody>
      </p:sp>
      <p:sp>
        <p:nvSpPr>
          <p:cNvPr id="13" name="TextBox 1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21" name="Content Placeholder 14"/>
          <p:cNvGraphicFramePr>
            <a:graphicFrameLocks noGrp="1"/>
          </p:cNvGraphicFramePr>
          <p:nvPr>
            <p:ph idx="1"/>
          </p:nvPr>
        </p:nvGraphicFramePr>
        <p:xfrm>
          <a:off x="152400" y="1612900"/>
          <a:ext cx="3768725" cy="459422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2" name="Content Placeholder 19"/>
          <p:cNvGraphicFramePr>
            <a:graphicFrameLocks noGrp="1"/>
          </p:cNvGraphicFramePr>
          <p:nvPr>
            <p:ph idx="15"/>
          </p:nvPr>
        </p:nvGraphicFramePr>
        <p:xfrm>
          <a:off x="8274050" y="1612900"/>
          <a:ext cx="3768725" cy="459422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3" name="Content Placeholder 17"/>
          <p:cNvGraphicFramePr>
            <a:graphicFrameLocks noGrp="1"/>
          </p:cNvGraphicFramePr>
          <p:nvPr>
            <p:ph idx="13"/>
          </p:nvPr>
        </p:nvGraphicFramePr>
        <p:xfrm>
          <a:off x="4213225" y="1612900"/>
          <a:ext cx="3768725" cy="4594225"/>
        </p:xfrm>
        <a:graphic>
          <a:graphicData uri="http://schemas.openxmlformats.org/drawingml/2006/chart">
            <c:chart xmlns:c="http://schemas.openxmlformats.org/drawingml/2006/chart" xmlns:r="http://schemas.openxmlformats.org/officeDocument/2006/relationships" r:id="rId4"/>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154</a:t>
            </a:fld>
            <a:endParaRPr lang="en-GB" dirty="0"/>
          </a:p>
        </p:txBody>
      </p:sp>
    </p:spTree>
    <p:extLst>
      <p:ext uri="{BB962C8B-B14F-4D97-AF65-F5344CB8AC3E}">
        <p14:creationId xmlns:p14="http://schemas.microsoft.com/office/powerpoint/2010/main" val="4030508317"/>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Placeholder 10"/>
          <p:cNvSpPr>
            <a:spLocks noGrp="1"/>
          </p:cNvSpPr>
          <p:nvPr>
            <p:ph type="body" idx="12"/>
          </p:nvPr>
        </p:nvSpPr>
        <p:spPr/>
        <p:txBody>
          <a:bodyPr/>
          <a:lstStyle/>
          <a:p>
            <a:r>
              <a:rPr lang="en-US" sz="1400" dirty="0"/>
              <a:t>Table xx: Global WXYZ Market Size (US$ </a:t>
            </a:r>
            <a:r>
              <a:rPr lang="en-US" sz="1400" dirty="0" err="1"/>
              <a:t>Mn</a:t>
            </a:r>
            <a:r>
              <a:rPr lang="en-US" sz="1400" dirty="0"/>
              <a:t>) and Volume (Tons) Analysis and Forecast By Category-D, 2019 – 2034</a:t>
            </a:r>
          </a:p>
        </p:txBody>
      </p:sp>
      <p:graphicFrame>
        <p:nvGraphicFramePr>
          <p:cNvPr id="12" name="Content Placeholder 9"/>
          <p:cNvGraphicFramePr>
            <a:graphicFrameLocks/>
          </p:cNvGraphicFramePr>
          <p:nvPr/>
        </p:nvGraphicFramePr>
        <p:xfrm>
          <a:off x="152399" y="1674052"/>
          <a:ext cx="11887207" cy="4469976"/>
        </p:xfrm>
        <a:graphic>
          <a:graphicData uri="http://schemas.openxmlformats.org/drawingml/2006/table">
            <a:tbl>
              <a:tblPr firstRow="1" bandRow="1">
                <a:tableStyleId>{5C22544A-7EE6-4342-B048-85BDC9FD1C3A}</a:tableStyleId>
              </a:tblPr>
              <a:tblGrid>
                <a:gridCol w="897220">
                  <a:extLst>
                    <a:ext uri="{9D8B030D-6E8A-4147-A177-3AD203B41FA5}">
                      <a16:colId xmlns:a16="http://schemas.microsoft.com/office/drawing/2014/main" val="20000"/>
                    </a:ext>
                  </a:extLst>
                </a:gridCol>
                <a:gridCol w="360618">
                  <a:extLst>
                    <a:ext uri="{9D8B030D-6E8A-4147-A177-3AD203B41FA5}">
                      <a16:colId xmlns:a16="http://schemas.microsoft.com/office/drawing/2014/main" val="20018"/>
                    </a:ext>
                  </a:extLst>
                </a:gridCol>
                <a:gridCol w="625257">
                  <a:extLst>
                    <a:ext uri="{9D8B030D-6E8A-4147-A177-3AD203B41FA5}">
                      <a16:colId xmlns:a16="http://schemas.microsoft.com/office/drawing/2014/main" val="20001"/>
                    </a:ext>
                  </a:extLst>
                </a:gridCol>
                <a:gridCol w="625257">
                  <a:extLst>
                    <a:ext uri="{9D8B030D-6E8A-4147-A177-3AD203B41FA5}">
                      <a16:colId xmlns:a16="http://schemas.microsoft.com/office/drawing/2014/main" val="20002"/>
                    </a:ext>
                  </a:extLst>
                </a:gridCol>
                <a:gridCol w="625257">
                  <a:extLst>
                    <a:ext uri="{9D8B030D-6E8A-4147-A177-3AD203B41FA5}">
                      <a16:colId xmlns:a16="http://schemas.microsoft.com/office/drawing/2014/main" val="20003"/>
                    </a:ext>
                  </a:extLst>
                </a:gridCol>
                <a:gridCol w="625257">
                  <a:extLst>
                    <a:ext uri="{9D8B030D-6E8A-4147-A177-3AD203B41FA5}">
                      <a16:colId xmlns:a16="http://schemas.microsoft.com/office/drawing/2014/main" val="20004"/>
                    </a:ext>
                  </a:extLst>
                </a:gridCol>
                <a:gridCol w="625257">
                  <a:extLst>
                    <a:ext uri="{9D8B030D-6E8A-4147-A177-3AD203B41FA5}">
                      <a16:colId xmlns:a16="http://schemas.microsoft.com/office/drawing/2014/main" val="20005"/>
                    </a:ext>
                  </a:extLst>
                </a:gridCol>
                <a:gridCol w="625257">
                  <a:extLst>
                    <a:ext uri="{9D8B030D-6E8A-4147-A177-3AD203B41FA5}">
                      <a16:colId xmlns:a16="http://schemas.microsoft.com/office/drawing/2014/main" val="20006"/>
                    </a:ext>
                  </a:extLst>
                </a:gridCol>
                <a:gridCol w="625257">
                  <a:extLst>
                    <a:ext uri="{9D8B030D-6E8A-4147-A177-3AD203B41FA5}">
                      <a16:colId xmlns:a16="http://schemas.microsoft.com/office/drawing/2014/main" val="20007"/>
                    </a:ext>
                  </a:extLst>
                </a:gridCol>
                <a:gridCol w="625257">
                  <a:extLst>
                    <a:ext uri="{9D8B030D-6E8A-4147-A177-3AD203B41FA5}">
                      <a16:colId xmlns:a16="http://schemas.microsoft.com/office/drawing/2014/main" val="20008"/>
                    </a:ext>
                  </a:extLst>
                </a:gridCol>
                <a:gridCol w="625257">
                  <a:extLst>
                    <a:ext uri="{9D8B030D-6E8A-4147-A177-3AD203B41FA5}">
                      <a16:colId xmlns:a16="http://schemas.microsoft.com/office/drawing/2014/main" val="20009"/>
                    </a:ext>
                  </a:extLst>
                </a:gridCol>
                <a:gridCol w="625257">
                  <a:extLst>
                    <a:ext uri="{9D8B030D-6E8A-4147-A177-3AD203B41FA5}">
                      <a16:colId xmlns:a16="http://schemas.microsoft.com/office/drawing/2014/main" val="20010"/>
                    </a:ext>
                  </a:extLst>
                </a:gridCol>
                <a:gridCol w="625257">
                  <a:extLst>
                    <a:ext uri="{9D8B030D-6E8A-4147-A177-3AD203B41FA5}">
                      <a16:colId xmlns:a16="http://schemas.microsoft.com/office/drawing/2014/main" val="20011"/>
                    </a:ext>
                  </a:extLst>
                </a:gridCol>
                <a:gridCol w="625257">
                  <a:extLst>
                    <a:ext uri="{9D8B030D-6E8A-4147-A177-3AD203B41FA5}">
                      <a16:colId xmlns:a16="http://schemas.microsoft.com/office/drawing/2014/main" val="20012"/>
                    </a:ext>
                  </a:extLst>
                </a:gridCol>
                <a:gridCol w="625257">
                  <a:extLst>
                    <a:ext uri="{9D8B030D-6E8A-4147-A177-3AD203B41FA5}">
                      <a16:colId xmlns:a16="http://schemas.microsoft.com/office/drawing/2014/main" val="20013"/>
                    </a:ext>
                  </a:extLst>
                </a:gridCol>
                <a:gridCol w="625257">
                  <a:extLst>
                    <a:ext uri="{9D8B030D-6E8A-4147-A177-3AD203B41FA5}">
                      <a16:colId xmlns:a16="http://schemas.microsoft.com/office/drawing/2014/main" val="20014"/>
                    </a:ext>
                  </a:extLst>
                </a:gridCol>
                <a:gridCol w="625257">
                  <a:extLst>
                    <a:ext uri="{9D8B030D-6E8A-4147-A177-3AD203B41FA5}">
                      <a16:colId xmlns:a16="http://schemas.microsoft.com/office/drawing/2014/main" val="20015"/>
                    </a:ext>
                  </a:extLst>
                </a:gridCol>
                <a:gridCol w="625257">
                  <a:extLst>
                    <a:ext uri="{9D8B030D-6E8A-4147-A177-3AD203B41FA5}">
                      <a16:colId xmlns:a16="http://schemas.microsoft.com/office/drawing/2014/main" val="20016"/>
                    </a:ext>
                  </a:extLst>
                </a:gridCol>
                <a:gridCol w="625257">
                  <a:extLst>
                    <a:ext uri="{9D8B030D-6E8A-4147-A177-3AD203B41FA5}">
                      <a16:colId xmlns:a16="http://schemas.microsoft.com/office/drawing/2014/main" val="20017"/>
                    </a:ext>
                  </a:extLst>
                </a:gridCol>
              </a:tblGrid>
              <a:tr h="642096">
                <a:tc gridSpan="2">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dirty="0"/>
                        <a:t>Category-D</a:t>
                      </a:r>
                      <a:endParaRPr lang="en-US" sz="1100" b="1" i="0" baseline="0" dirty="0">
                        <a:solidFill>
                          <a:schemeClr val="tx1"/>
                        </a:solidFill>
                        <a:latin typeface="+mn-lt"/>
                      </a:endParaRPr>
                    </a:p>
                  </a:txBody>
                  <a:tcPr marR="0" marT="0" marB="0" anchor="ctr"/>
                </a:tc>
                <a:tc hMerge="1">
                  <a:txBody>
                    <a:bodyPr/>
                    <a:lstStyle/>
                    <a:p>
                      <a:pPr algn="ctr"/>
                      <a:endParaRPr lang="en-US" sz="10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139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algn="l" defTabSz="914400" rtl="0" eaLnBrk="1" latinLnBrk="0" hangingPunct="1"/>
                      <a:r>
                        <a:rPr lang="en-US" sz="1100" b="1" i="0" kern="1200" baseline="0" dirty="0">
                          <a:solidFill>
                            <a:prstClr val="black"/>
                          </a:solidFill>
                          <a:latin typeface="Calibri" panose="020F0502020204030204"/>
                          <a:ea typeface="Malgun Gothic" panose="020B0503020000020004" pitchFamily="34" charset="-127"/>
                          <a:cs typeface=""/>
                        </a:rPr>
                        <a:t>Categoryd1</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1394">
                <a:tc vMerge="1">
                  <a:txBody>
                    <a:bodyPr/>
                    <a:lstStyle/>
                    <a:p>
                      <a:endParaRPr lang="en-US" dirty="0"/>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1394">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100" b="1" i="0" kern="1200" baseline="0" dirty="0">
                          <a:solidFill>
                            <a:prstClr val="black"/>
                          </a:solidFill>
                          <a:latin typeface="+mn-lt"/>
                          <a:ea typeface="Malgun Gothic" panose="020B0503020000020004" pitchFamily="34" charset="-127"/>
                          <a:cs typeface=""/>
                        </a:rPr>
                        <a:t>Categoryd2</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1394">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139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algn="l"/>
                      <a:r>
                        <a:rPr lang="en-US" sz="1100" b="1" i="0" baseline="0" dirty="0">
                          <a:latin typeface="+mn-lt"/>
                        </a:rPr>
                        <a:t>Categoryd3</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1394">
                <a:tc vMerge="1">
                  <a:txBody>
                    <a:bodyPr/>
                    <a:lstStyle/>
                    <a:p>
                      <a:endParaRPr lang="en-US"/>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1394">
                <a:tc rowSpan="2">
                  <a:txBody>
                    <a:bodyPr/>
                    <a:lstStyle/>
                    <a:p>
                      <a:pPr algn="l"/>
                      <a:r>
                        <a:rPr lang="en-IN" sz="1100" b="1" i="0" baseline="0" dirty="0">
                          <a:latin typeface="+mn-lt"/>
                        </a:rPr>
                        <a:t>Categoryd4</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1394">
                <a:tc rowSpan="2">
                  <a:txBody>
                    <a:bodyPr/>
                    <a:lstStyle/>
                    <a:p>
                      <a:pPr algn="l"/>
                      <a:r>
                        <a:rPr lang="en-IN" sz="1100" b="1" i="0" baseline="0" dirty="0">
                          <a:latin typeface="+mn-lt"/>
                        </a:rPr>
                        <a:t>Categoryd5</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1394">
                <a:tc rowSpan="2">
                  <a:txBody>
                    <a:bodyPr/>
                    <a:lstStyle/>
                    <a:p>
                      <a:pPr algn="l"/>
                      <a:r>
                        <a:rPr lang="en-IN" sz="1100" b="1" i="0" baseline="0" dirty="0">
                          <a:latin typeface="+mn-lt"/>
                        </a:rPr>
                        <a:t>Categoryd6</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1394">
                <a:tc rowSpan="2">
                  <a:txBody>
                    <a:bodyPr/>
                    <a:lstStyle/>
                    <a:p>
                      <a:pPr algn="l"/>
                      <a:r>
                        <a:rPr lang="en-IN" sz="1100" b="1" i="0" baseline="0" dirty="0">
                          <a:latin typeface="+mn-lt"/>
                        </a:rPr>
                        <a:t>Categoryd7</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1394">
                <a:tc rowSpan="2">
                  <a:txBody>
                    <a:bodyPr/>
                    <a:lstStyle/>
                    <a:p>
                      <a:pPr algn="l"/>
                      <a:r>
                        <a:rPr lang="en-IN" sz="1100" b="1" i="0" baseline="0" dirty="0">
                          <a:latin typeface="+mn-lt"/>
                        </a:rPr>
                        <a:t>Categoryd8</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1394">
                <a:tc rowSpan="2">
                  <a:txBody>
                    <a:bodyPr/>
                    <a:lstStyle/>
                    <a:p>
                      <a:pPr algn="l"/>
                      <a:r>
                        <a:rPr lang="en-IN" sz="1100" b="1" i="0" baseline="0" dirty="0">
                          <a:latin typeface="+mn-lt"/>
                        </a:rPr>
                        <a:t>Categoryd9</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1394">
                <a:tc rowSpan="2">
                  <a:txBody>
                    <a:bodyPr/>
                    <a:lstStyle/>
                    <a:p>
                      <a:pPr algn="l"/>
                      <a:r>
                        <a:rPr lang="en-IN" sz="1100" b="1" i="0" baseline="0" dirty="0">
                          <a:latin typeface="+mn-lt"/>
                        </a:rPr>
                        <a:t>Total</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 H!Y!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1" i="0" u="none" strike="noStrike" dirty="0">
                          <a:solidFill>
                            <a:schemeClr val="tx1"/>
                          </a:solidFill>
                          <a:effectLst/>
                          <a:latin typeface="Calibri" panose="020F0502020204030204" pitchFamily="34" charset="0"/>
                        </a:rPr>
                        <a:t>B!Y!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F!Y!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err="1">
                          <a:solidFill>
                            <a:schemeClr val="tx1"/>
                          </a:solidFill>
                          <a:effectLst/>
                          <a:latin typeface="Calibri" panose="020F0502020204030204" pitchFamily="34" charset="0"/>
                        </a:rPr>
                        <a:t>VaC</a:t>
                      </a:r>
                      <a:r>
                        <a:rPr lang="en-IN" sz="1100" b="1" i="0" u="none" strike="noStrike" dirty="0">
                          <a:solidFill>
                            <a:schemeClr val="tx1"/>
                          </a:solidFill>
                          <a:effectLst/>
                          <a:latin typeface="Calibri" panose="020F0502020204030204" pitchFamily="34" charset="0"/>
                        </a:rPr>
                        <a:t>!%</a:t>
                      </a:r>
                      <a:endParaRPr lang="en-US" sz="1100" b="1" i="0" u="none" strike="noStrike" dirty="0">
                        <a:solidFill>
                          <a:schemeClr val="tx1"/>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4" name="Title 7"/>
          <p:cNvSpPr>
            <a:spLocks noGrp="1"/>
          </p:cNvSpPr>
          <p:nvPr>
            <p:ph type="title"/>
          </p:nvPr>
        </p:nvSpPr>
        <p:spPr/>
        <p:txBody>
          <a:bodyPr/>
          <a:lstStyle/>
          <a:p>
            <a:r>
              <a:rPr lang="en-US" dirty="0"/>
              <a:t>Global WXYZ Market Analysis By Category-D</a:t>
            </a:r>
          </a:p>
        </p:txBody>
      </p:sp>
      <p:sp>
        <p:nvSpPr>
          <p:cNvPr id="2" name="Slide Number Placeholder 1"/>
          <p:cNvSpPr>
            <a:spLocks noGrp="1"/>
          </p:cNvSpPr>
          <p:nvPr>
            <p:ph type="sldNum" sz="quarter" idx="4"/>
          </p:nvPr>
        </p:nvSpPr>
        <p:spPr/>
        <p:txBody>
          <a:bodyPr/>
          <a:lstStyle/>
          <a:p>
            <a:fld id="{4B17068C-EB94-40A3-A5F2-664CDD77FDAC}" type="slidenum">
              <a:rPr lang="en-GB" smtClean="0"/>
              <a:pPr/>
              <a:t>155</a:t>
            </a:fld>
            <a:endParaRPr lang="en-GB" dirty="0"/>
          </a:p>
        </p:txBody>
      </p:sp>
    </p:spTree>
    <p:extLst>
      <p:ext uri="{BB962C8B-B14F-4D97-AF65-F5344CB8AC3E}">
        <p14:creationId xmlns:p14="http://schemas.microsoft.com/office/powerpoint/2010/main" val="34173887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 Placeholder 26"/>
          <p:cNvSpPr>
            <a:spLocks noGrp="1"/>
          </p:cNvSpPr>
          <p:nvPr>
            <p:ph type="body" idx="12"/>
          </p:nvPr>
        </p:nvSpPr>
        <p:spPr/>
        <p:txBody>
          <a:bodyPr/>
          <a:lstStyle/>
          <a:p>
            <a:r>
              <a:rPr lang="en-US" sz="1400" dirty="0"/>
              <a:t>Table xx: Global WXYZ Market Volume (Tons) Analysis and Forecast By Category-D, 2019 – 2034</a:t>
            </a:r>
          </a:p>
        </p:txBody>
      </p:sp>
      <p:graphicFrame>
        <p:nvGraphicFramePr>
          <p:cNvPr id="28" name="Content Placeholder 9"/>
          <p:cNvGraphicFramePr>
            <a:graphicFrameLocks/>
          </p:cNvGraphicFramePr>
          <p:nvPr/>
        </p:nvGraphicFramePr>
        <p:xfrm>
          <a:off x="152390" y="1674051"/>
          <a:ext cx="11887209" cy="4540321"/>
        </p:xfrm>
        <a:graphic>
          <a:graphicData uri="http://schemas.openxmlformats.org/drawingml/2006/table">
            <a:tbl>
              <a:tblPr firstRow="1" bandRow="1">
                <a:tableStyleId>{5C22544A-7EE6-4342-B048-85BDC9FD1C3A}</a:tableStyleId>
              </a:tblPr>
              <a:tblGrid>
                <a:gridCol w="928584">
                  <a:extLst>
                    <a:ext uri="{9D8B030D-6E8A-4147-A177-3AD203B41FA5}">
                      <a16:colId xmlns:a16="http://schemas.microsoft.com/office/drawing/2014/main" val="20000"/>
                    </a:ext>
                  </a:extLst>
                </a:gridCol>
                <a:gridCol w="644625">
                  <a:extLst>
                    <a:ext uri="{9D8B030D-6E8A-4147-A177-3AD203B41FA5}">
                      <a16:colId xmlns:a16="http://schemas.microsoft.com/office/drawing/2014/main" val="20001"/>
                    </a:ext>
                  </a:extLst>
                </a:gridCol>
                <a:gridCol w="644625">
                  <a:extLst>
                    <a:ext uri="{9D8B030D-6E8A-4147-A177-3AD203B41FA5}">
                      <a16:colId xmlns:a16="http://schemas.microsoft.com/office/drawing/2014/main" val="20002"/>
                    </a:ext>
                  </a:extLst>
                </a:gridCol>
                <a:gridCol w="644625">
                  <a:extLst>
                    <a:ext uri="{9D8B030D-6E8A-4147-A177-3AD203B41FA5}">
                      <a16:colId xmlns:a16="http://schemas.microsoft.com/office/drawing/2014/main" val="20003"/>
                    </a:ext>
                  </a:extLst>
                </a:gridCol>
                <a:gridCol w="644625">
                  <a:extLst>
                    <a:ext uri="{9D8B030D-6E8A-4147-A177-3AD203B41FA5}">
                      <a16:colId xmlns:a16="http://schemas.microsoft.com/office/drawing/2014/main" val="20004"/>
                    </a:ext>
                  </a:extLst>
                </a:gridCol>
                <a:gridCol w="644625">
                  <a:extLst>
                    <a:ext uri="{9D8B030D-6E8A-4147-A177-3AD203B41FA5}">
                      <a16:colId xmlns:a16="http://schemas.microsoft.com/office/drawing/2014/main" val="20005"/>
                    </a:ext>
                  </a:extLst>
                </a:gridCol>
                <a:gridCol w="644625">
                  <a:extLst>
                    <a:ext uri="{9D8B030D-6E8A-4147-A177-3AD203B41FA5}">
                      <a16:colId xmlns:a16="http://schemas.microsoft.com/office/drawing/2014/main" val="20006"/>
                    </a:ext>
                  </a:extLst>
                </a:gridCol>
                <a:gridCol w="644625">
                  <a:extLst>
                    <a:ext uri="{9D8B030D-6E8A-4147-A177-3AD203B41FA5}">
                      <a16:colId xmlns:a16="http://schemas.microsoft.com/office/drawing/2014/main" val="20007"/>
                    </a:ext>
                  </a:extLst>
                </a:gridCol>
                <a:gridCol w="644625">
                  <a:extLst>
                    <a:ext uri="{9D8B030D-6E8A-4147-A177-3AD203B41FA5}">
                      <a16:colId xmlns:a16="http://schemas.microsoft.com/office/drawing/2014/main" val="20008"/>
                    </a:ext>
                  </a:extLst>
                </a:gridCol>
                <a:gridCol w="644625">
                  <a:extLst>
                    <a:ext uri="{9D8B030D-6E8A-4147-A177-3AD203B41FA5}">
                      <a16:colId xmlns:a16="http://schemas.microsoft.com/office/drawing/2014/main" val="20009"/>
                    </a:ext>
                  </a:extLst>
                </a:gridCol>
                <a:gridCol w="644625">
                  <a:extLst>
                    <a:ext uri="{9D8B030D-6E8A-4147-A177-3AD203B41FA5}">
                      <a16:colId xmlns:a16="http://schemas.microsoft.com/office/drawing/2014/main" val="20010"/>
                    </a:ext>
                  </a:extLst>
                </a:gridCol>
                <a:gridCol w="644625">
                  <a:extLst>
                    <a:ext uri="{9D8B030D-6E8A-4147-A177-3AD203B41FA5}">
                      <a16:colId xmlns:a16="http://schemas.microsoft.com/office/drawing/2014/main" val="20011"/>
                    </a:ext>
                  </a:extLst>
                </a:gridCol>
                <a:gridCol w="644625">
                  <a:extLst>
                    <a:ext uri="{9D8B030D-6E8A-4147-A177-3AD203B41FA5}">
                      <a16:colId xmlns:a16="http://schemas.microsoft.com/office/drawing/2014/main" val="20012"/>
                    </a:ext>
                  </a:extLst>
                </a:gridCol>
                <a:gridCol w="644625">
                  <a:extLst>
                    <a:ext uri="{9D8B030D-6E8A-4147-A177-3AD203B41FA5}">
                      <a16:colId xmlns:a16="http://schemas.microsoft.com/office/drawing/2014/main" val="20013"/>
                    </a:ext>
                  </a:extLst>
                </a:gridCol>
                <a:gridCol w="644625">
                  <a:extLst>
                    <a:ext uri="{9D8B030D-6E8A-4147-A177-3AD203B41FA5}">
                      <a16:colId xmlns:a16="http://schemas.microsoft.com/office/drawing/2014/main" val="20014"/>
                    </a:ext>
                  </a:extLst>
                </a:gridCol>
                <a:gridCol w="644625">
                  <a:extLst>
                    <a:ext uri="{9D8B030D-6E8A-4147-A177-3AD203B41FA5}">
                      <a16:colId xmlns:a16="http://schemas.microsoft.com/office/drawing/2014/main" val="20015"/>
                    </a:ext>
                  </a:extLst>
                </a:gridCol>
                <a:gridCol w="644625">
                  <a:extLst>
                    <a:ext uri="{9D8B030D-6E8A-4147-A177-3AD203B41FA5}">
                      <a16:colId xmlns:a16="http://schemas.microsoft.com/office/drawing/2014/main" val="20016"/>
                    </a:ext>
                  </a:extLst>
                </a:gridCol>
                <a:gridCol w="644625">
                  <a:extLst>
                    <a:ext uri="{9D8B030D-6E8A-4147-A177-3AD203B41FA5}">
                      <a16:colId xmlns:a16="http://schemas.microsoft.com/office/drawing/2014/main" val="20017"/>
                    </a:ext>
                  </a:extLst>
                </a:gridCol>
              </a:tblGrid>
              <a:tr h="652201">
                <a:tc>
                  <a:txBody>
                    <a:bodyPr/>
                    <a:lstStyle/>
                    <a:p>
                      <a:pPr algn="ctr"/>
                      <a:r>
                        <a:rPr lang="en-IN" sz="1100" i="0" baseline="0" dirty="0">
                          <a:solidFill>
                            <a:schemeClr val="bg1"/>
                          </a:solidFill>
                          <a:latin typeface="+mn-lt"/>
                        </a:rPr>
                        <a:t>Category-D</a:t>
                      </a:r>
                      <a:endParaRPr lang="en-US" sz="1100" i="0" baseline="0" dirty="0">
                        <a:solidFill>
                          <a:schemeClr val="bg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Categoryd10</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Categoryd11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Categoryd12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Categoryd13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Categoryd14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Categoryd15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Categoryd16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Categoryd17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Categoryd18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Categoryd19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4406">
                <a:tc>
                  <a:txBody>
                    <a:bodyPr/>
                    <a:lstStyle/>
                    <a:p>
                      <a:pPr algn="ctr" fontAlgn="ctr"/>
                      <a:r>
                        <a:rPr lang="en-IN" sz="1100" b="1" i="0" u="none" strike="noStrike" dirty="0">
                          <a:solidFill>
                            <a:srgbClr val="000000"/>
                          </a:solidFill>
                          <a:effectLst/>
                          <a:latin typeface="Calibri" panose="020F0502020204030204" pitchFamily="34" charset="0"/>
                        </a:rPr>
                        <a:t>Total</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8" name="Title 7"/>
          <p:cNvSpPr>
            <a:spLocks noGrp="1"/>
          </p:cNvSpPr>
          <p:nvPr>
            <p:ph type="title"/>
          </p:nvPr>
        </p:nvSpPr>
        <p:spPr/>
        <p:txBody>
          <a:bodyPr/>
          <a:lstStyle/>
          <a:p>
            <a:r>
              <a:rPr lang="en-US" dirty="0"/>
              <a:t>Global WXYZ Market Analysis By Category-D</a:t>
            </a:r>
          </a:p>
        </p:txBody>
      </p:sp>
      <p:sp>
        <p:nvSpPr>
          <p:cNvPr id="2" name="Slide Number Placeholder 1"/>
          <p:cNvSpPr>
            <a:spLocks noGrp="1"/>
          </p:cNvSpPr>
          <p:nvPr>
            <p:ph type="sldNum" sz="quarter" idx="4"/>
          </p:nvPr>
        </p:nvSpPr>
        <p:spPr/>
        <p:txBody>
          <a:bodyPr/>
          <a:lstStyle/>
          <a:p>
            <a:fld id="{4B17068C-EB94-40A3-A5F2-664CDD77FDAC}" type="slidenum">
              <a:rPr lang="en-GB" smtClean="0"/>
              <a:pPr/>
              <a:t>156</a:t>
            </a:fld>
            <a:endParaRPr lang="en-GB" dirty="0"/>
          </a:p>
        </p:txBody>
      </p:sp>
    </p:spTree>
    <p:extLst>
      <p:ext uri="{BB962C8B-B14F-4D97-AF65-F5344CB8AC3E}">
        <p14:creationId xmlns:p14="http://schemas.microsoft.com/office/powerpoint/2010/main" val="1835296008"/>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idx="12"/>
          </p:nvPr>
        </p:nvSpPr>
        <p:spPr/>
        <p:txBody>
          <a:bodyPr/>
          <a:lstStyle/>
          <a:p>
            <a:r>
              <a:rPr lang="en-US" sz="1400" dirty="0"/>
              <a:t>Table xx: Global WXYZ Market Size(US$ </a:t>
            </a:r>
            <a:r>
              <a:rPr lang="en-US" sz="1400" dirty="0" err="1"/>
              <a:t>Mn</a:t>
            </a:r>
            <a:r>
              <a:rPr lang="en-US" sz="1400" dirty="0"/>
              <a:t>) Analysis and Forecast By Category-D, 2019 – 2034</a:t>
            </a:r>
          </a:p>
        </p:txBody>
      </p:sp>
      <p:graphicFrame>
        <p:nvGraphicFramePr>
          <p:cNvPr id="5" name="Content Placeholder 9"/>
          <p:cNvGraphicFramePr>
            <a:graphicFrameLocks/>
          </p:cNvGraphicFramePr>
          <p:nvPr/>
        </p:nvGraphicFramePr>
        <p:xfrm>
          <a:off x="154831" y="1667646"/>
          <a:ext cx="11887209" cy="4484037"/>
        </p:xfrm>
        <a:graphic>
          <a:graphicData uri="http://schemas.openxmlformats.org/drawingml/2006/table">
            <a:tbl>
              <a:tblPr firstRow="1" bandRow="1">
                <a:tableStyleId>{5C22544A-7EE6-4342-B048-85BDC9FD1C3A}</a:tableStyleId>
              </a:tblPr>
              <a:tblGrid>
                <a:gridCol w="928584">
                  <a:extLst>
                    <a:ext uri="{9D8B030D-6E8A-4147-A177-3AD203B41FA5}">
                      <a16:colId xmlns:a16="http://schemas.microsoft.com/office/drawing/2014/main" val="20000"/>
                    </a:ext>
                  </a:extLst>
                </a:gridCol>
                <a:gridCol w="644625">
                  <a:extLst>
                    <a:ext uri="{9D8B030D-6E8A-4147-A177-3AD203B41FA5}">
                      <a16:colId xmlns:a16="http://schemas.microsoft.com/office/drawing/2014/main" val="20001"/>
                    </a:ext>
                  </a:extLst>
                </a:gridCol>
                <a:gridCol w="644625">
                  <a:extLst>
                    <a:ext uri="{9D8B030D-6E8A-4147-A177-3AD203B41FA5}">
                      <a16:colId xmlns:a16="http://schemas.microsoft.com/office/drawing/2014/main" val="20002"/>
                    </a:ext>
                  </a:extLst>
                </a:gridCol>
                <a:gridCol w="644625">
                  <a:extLst>
                    <a:ext uri="{9D8B030D-6E8A-4147-A177-3AD203B41FA5}">
                      <a16:colId xmlns:a16="http://schemas.microsoft.com/office/drawing/2014/main" val="20003"/>
                    </a:ext>
                  </a:extLst>
                </a:gridCol>
                <a:gridCol w="644625">
                  <a:extLst>
                    <a:ext uri="{9D8B030D-6E8A-4147-A177-3AD203B41FA5}">
                      <a16:colId xmlns:a16="http://schemas.microsoft.com/office/drawing/2014/main" val="20004"/>
                    </a:ext>
                  </a:extLst>
                </a:gridCol>
                <a:gridCol w="644625">
                  <a:extLst>
                    <a:ext uri="{9D8B030D-6E8A-4147-A177-3AD203B41FA5}">
                      <a16:colId xmlns:a16="http://schemas.microsoft.com/office/drawing/2014/main" val="20005"/>
                    </a:ext>
                  </a:extLst>
                </a:gridCol>
                <a:gridCol w="644625">
                  <a:extLst>
                    <a:ext uri="{9D8B030D-6E8A-4147-A177-3AD203B41FA5}">
                      <a16:colId xmlns:a16="http://schemas.microsoft.com/office/drawing/2014/main" val="20006"/>
                    </a:ext>
                  </a:extLst>
                </a:gridCol>
                <a:gridCol w="644625">
                  <a:extLst>
                    <a:ext uri="{9D8B030D-6E8A-4147-A177-3AD203B41FA5}">
                      <a16:colId xmlns:a16="http://schemas.microsoft.com/office/drawing/2014/main" val="20007"/>
                    </a:ext>
                  </a:extLst>
                </a:gridCol>
                <a:gridCol w="644625">
                  <a:extLst>
                    <a:ext uri="{9D8B030D-6E8A-4147-A177-3AD203B41FA5}">
                      <a16:colId xmlns:a16="http://schemas.microsoft.com/office/drawing/2014/main" val="20008"/>
                    </a:ext>
                  </a:extLst>
                </a:gridCol>
                <a:gridCol w="644625">
                  <a:extLst>
                    <a:ext uri="{9D8B030D-6E8A-4147-A177-3AD203B41FA5}">
                      <a16:colId xmlns:a16="http://schemas.microsoft.com/office/drawing/2014/main" val="20009"/>
                    </a:ext>
                  </a:extLst>
                </a:gridCol>
                <a:gridCol w="644625">
                  <a:extLst>
                    <a:ext uri="{9D8B030D-6E8A-4147-A177-3AD203B41FA5}">
                      <a16:colId xmlns:a16="http://schemas.microsoft.com/office/drawing/2014/main" val="20010"/>
                    </a:ext>
                  </a:extLst>
                </a:gridCol>
                <a:gridCol w="644625">
                  <a:extLst>
                    <a:ext uri="{9D8B030D-6E8A-4147-A177-3AD203B41FA5}">
                      <a16:colId xmlns:a16="http://schemas.microsoft.com/office/drawing/2014/main" val="20011"/>
                    </a:ext>
                  </a:extLst>
                </a:gridCol>
                <a:gridCol w="644625">
                  <a:extLst>
                    <a:ext uri="{9D8B030D-6E8A-4147-A177-3AD203B41FA5}">
                      <a16:colId xmlns:a16="http://schemas.microsoft.com/office/drawing/2014/main" val="20012"/>
                    </a:ext>
                  </a:extLst>
                </a:gridCol>
                <a:gridCol w="644625">
                  <a:extLst>
                    <a:ext uri="{9D8B030D-6E8A-4147-A177-3AD203B41FA5}">
                      <a16:colId xmlns:a16="http://schemas.microsoft.com/office/drawing/2014/main" val="20013"/>
                    </a:ext>
                  </a:extLst>
                </a:gridCol>
                <a:gridCol w="644625">
                  <a:extLst>
                    <a:ext uri="{9D8B030D-6E8A-4147-A177-3AD203B41FA5}">
                      <a16:colId xmlns:a16="http://schemas.microsoft.com/office/drawing/2014/main" val="20014"/>
                    </a:ext>
                  </a:extLst>
                </a:gridCol>
                <a:gridCol w="644625">
                  <a:extLst>
                    <a:ext uri="{9D8B030D-6E8A-4147-A177-3AD203B41FA5}">
                      <a16:colId xmlns:a16="http://schemas.microsoft.com/office/drawing/2014/main" val="20015"/>
                    </a:ext>
                  </a:extLst>
                </a:gridCol>
                <a:gridCol w="644625">
                  <a:extLst>
                    <a:ext uri="{9D8B030D-6E8A-4147-A177-3AD203B41FA5}">
                      <a16:colId xmlns:a16="http://schemas.microsoft.com/office/drawing/2014/main" val="20016"/>
                    </a:ext>
                  </a:extLst>
                </a:gridCol>
                <a:gridCol w="644625">
                  <a:extLst>
                    <a:ext uri="{9D8B030D-6E8A-4147-A177-3AD203B41FA5}">
                      <a16:colId xmlns:a16="http://schemas.microsoft.com/office/drawing/2014/main" val="20017"/>
                    </a:ext>
                  </a:extLst>
                </a:gridCol>
              </a:tblGrid>
              <a:tr h="644117">
                <a:tc>
                  <a:txBody>
                    <a:bodyPr/>
                    <a:lstStyle/>
                    <a:p>
                      <a:pPr algn="ctr"/>
                      <a:r>
                        <a:rPr lang="en-IN" sz="1100" i="0" baseline="0" dirty="0">
                          <a:solidFill>
                            <a:schemeClr val="bg1"/>
                          </a:solidFill>
                          <a:latin typeface="+mn-lt"/>
                        </a:rPr>
                        <a:t>Category-D</a:t>
                      </a:r>
                      <a:endParaRPr lang="en-US" sz="1100" i="0" baseline="0" dirty="0">
                        <a:solidFill>
                          <a:schemeClr val="bg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Categoryd10</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Categoryd11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Categoryd12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Categoryd13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Categoryd14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Categoryd15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Categoryd16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Categoryd17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Categoryd18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Categoryd19</a:t>
                      </a:r>
                    </a:p>
                  </a:txBody>
                  <a:tcPr marL="9525" marR="9525" marT="9525" marB="0" anchor="b"/>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1996">
                <a:tc>
                  <a:txBody>
                    <a:bodyPr/>
                    <a:lstStyle/>
                    <a:p>
                      <a:pPr algn="ctr" fontAlgn="ctr"/>
                      <a:r>
                        <a:rPr lang="en-IN" sz="1100" b="1" i="0" u="none" strike="noStrike" dirty="0">
                          <a:solidFill>
                            <a:srgbClr val="000000"/>
                          </a:solidFill>
                          <a:effectLst/>
                          <a:latin typeface="Calibri" panose="020F0502020204030204" pitchFamily="34" charset="0"/>
                        </a:rPr>
                        <a:t>Total</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 H!Y!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1" i="0" u="none" strike="noStrike" dirty="0">
                          <a:solidFill>
                            <a:schemeClr val="tx1"/>
                          </a:solidFill>
                          <a:effectLst/>
                          <a:latin typeface="Calibri" panose="020F0502020204030204" pitchFamily="34" charset="0"/>
                        </a:rPr>
                        <a:t>B!Y!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F!Y!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err="1">
                          <a:solidFill>
                            <a:schemeClr val="tx1"/>
                          </a:solidFill>
                          <a:effectLst/>
                          <a:latin typeface="Calibri" panose="020F0502020204030204" pitchFamily="34" charset="0"/>
                        </a:rPr>
                        <a:t>VaC</a:t>
                      </a:r>
                      <a:r>
                        <a:rPr lang="en-IN" sz="1100" b="1" i="0" u="none" strike="noStrike" dirty="0">
                          <a:solidFill>
                            <a:schemeClr val="tx1"/>
                          </a:solidFill>
                          <a:effectLst/>
                          <a:latin typeface="Calibri" panose="020F0502020204030204" pitchFamily="34" charset="0"/>
                        </a:rPr>
                        <a:t>!%</a:t>
                      </a:r>
                      <a:endParaRPr lang="en-US" sz="1100" b="1" i="0" u="none" strike="noStrike" dirty="0">
                        <a:solidFill>
                          <a:schemeClr val="tx1"/>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8" name="Title 7"/>
          <p:cNvSpPr>
            <a:spLocks noGrp="1"/>
          </p:cNvSpPr>
          <p:nvPr>
            <p:ph type="title"/>
          </p:nvPr>
        </p:nvSpPr>
        <p:spPr/>
        <p:txBody>
          <a:bodyPr/>
          <a:lstStyle/>
          <a:p>
            <a:r>
              <a:rPr lang="en-US" dirty="0"/>
              <a:t>Global WXYZ Market Analysis By Category-D</a:t>
            </a:r>
          </a:p>
        </p:txBody>
      </p:sp>
      <p:sp>
        <p:nvSpPr>
          <p:cNvPr id="2" name="Slide Number Placeholder 1"/>
          <p:cNvSpPr>
            <a:spLocks noGrp="1"/>
          </p:cNvSpPr>
          <p:nvPr>
            <p:ph type="sldNum" sz="quarter" idx="4"/>
          </p:nvPr>
        </p:nvSpPr>
        <p:spPr/>
        <p:txBody>
          <a:bodyPr/>
          <a:lstStyle/>
          <a:p>
            <a:fld id="{4B17068C-EB94-40A3-A5F2-664CDD77FDAC}" type="slidenum">
              <a:rPr lang="en-GB" smtClean="0"/>
              <a:pPr/>
              <a:t>157</a:t>
            </a:fld>
            <a:endParaRPr lang="en-GB" dirty="0"/>
          </a:p>
        </p:txBody>
      </p:sp>
    </p:spTree>
    <p:extLst>
      <p:ext uri="{BB962C8B-B14F-4D97-AF65-F5344CB8AC3E}">
        <p14:creationId xmlns:p14="http://schemas.microsoft.com/office/powerpoint/2010/main" val="182455341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Categoryd1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Categoryd2 Segment, 2019 – 2034</a:t>
            </a:r>
          </a:p>
        </p:txBody>
      </p:sp>
      <p:sp>
        <p:nvSpPr>
          <p:cNvPr id="10" name="Content Placeholder 9"/>
          <p:cNvSpPr>
            <a:spLocks noGrp="1"/>
          </p:cNvSpPr>
          <p:nvPr>
            <p:ph idx="17"/>
          </p:nvPr>
        </p:nvSpPr>
        <p:spPr/>
        <p:txBody>
          <a:bodyPr/>
          <a:lstStyle/>
          <a:p>
            <a:pPr>
              <a:lnSpc>
                <a:spcPct val="100000"/>
              </a:lnSpc>
            </a:pPr>
            <a:r>
              <a:rPr lang="en-US" dirty="0"/>
              <a:t>Categoryd1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Categoryd2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Categoryd1</a:t>
            </a:r>
          </a:p>
        </p:txBody>
      </p:sp>
      <p:sp>
        <p:nvSpPr>
          <p:cNvPr id="15" name="Text Placeholder 14"/>
          <p:cNvSpPr>
            <a:spLocks noGrp="1"/>
          </p:cNvSpPr>
          <p:nvPr>
            <p:ph type="body" sz="quarter" idx="22"/>
          </p:nvPr>
        </p:nvSpPr>
        <p:spPr/>
        <p:txBody>
          <a:bodyPr/>
          <a:lstStyle/>
          <a:p>
            <a:r>
              <a:rPr lang="en-US" dirty="0"/>
              <a:t>Categoryd2</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Category-D</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158</a:t>
            </a:fld>
            <a:endParaRPr lang="en-GB" dirty="0"/>
          </a:p>
        </p:txBody>
      </p:sp>
    </p:spTree>
    <p:extLst>
      <p:ext uri="{BB962C8B-B14F-4D97-AF65-F5344CB8AC3E}">
        <p14:creationId xmlns:p14="http://schemas.microsoft.com/office/powerpoint/2010/main" val="366326872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Categoryd3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Categoryd4 Segment, 2019 – 2034</a:t>
            </a:r>
          </a:p>
        </p:txBody>
      </p:sp>
      <p:sp>
        <p:nvSpPr>
          <p:cNvPr id="10" name="Content Placeholder 9"/>
          <p:cNvSpPr>
            <a:spLocks noGrp="1"/>
          </p:cNvSpPr>
          <p:nvPr>
            <p:ph idx="17"/>
          </p:nvPr>
        </p:nvSpPr>
        <p:spPr/>
        <p:txBody>
          <a:bodyPr/>
          <a:lstStyle/>
          <a:p>
            <a:pPr>
              <a:lnSpc>
                <a:spcPct val="100000"/>
              </a:lnSpc>
            </a:pPr>
            <a:r>
              <a:rPr lang="en-US" dirty="0"/>
              <a:t>Categoryd3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Categoryd4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Categoryd3</a:t>
            </a:r>
          </a:p>
        </p:txBody>
      </p:sp>
      <p:sp>
        <p:nvSpPr>
          <p:cNvPr id="15" name="Text Placeholder 14"/>
          <p:cNvSpPr>
            <a:spLocks noGrp="1"/>
          </p:cNvSpPr>
          <p:nvPr>
            <p:ph type="body" sz="quarter" idx="22"/>
          </p:nvPr>
        </p:nvSpPr>
        <p:spPr/>
        <p:txBody>
          <a:bodyPr/>
          <a:lstStyle/>
          <a:p>
            <a:r>
              <a:rPr lang="en-US" dirty="0"/>
              <a:t>Categoryd4</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Category-D</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159</a:t>
            </a:fld>
            <a:endParaRPr lang="en-GB" dirty="0"/>
          </a:p>
        </p:txBody>
      </p:sp>
    </p:spTree>
    <p:extLst>
      <p:ext uri="{BB962C8B-B14F-4D97-AF65-F5344CB8AC3E}">
        <p14:creationId xmlns:p14="http://schemas.microsoft.com/office/powerpoint/2010/main" val="1170491825"/>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Categoryd5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Categoryd6 Segment, 2019 – 2034</a:t>
            </a:r>
          </a:p>
        </p:txBody>
      </p:sp>
      <p:sp>
        <p:nvSpPr>
          <p:cNvPr id="10" name="Content Placeholder 9"/>
          <p:cNvSpPr>
            <a:spLocks noGrp="1"/>
          </p:cNvSpPr>
          <p:nvPr>
            <p:ph idx="17"/>
          </p:nvPr>
        </p:nvSpPr>
        <p:spPr/>
        <p:txBody>
          <a:bodyPr/>
          <a:lstStyle/>
          <a:p>
            <a:pPr>
              <a:lnSpc>
                <a:spcPct val="100000"/>
              </a:lnSpc>
            </a:pPr>
            <a:r>
              <a:rPr lang="en-US" dirty="0"/>
              <a:t>Categoryd5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Categoryd6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Categoryd5</a:t>
            </a:r>
          </a:p>
        </p:txBody>
      </p:sp>
      <p:sp>
        <p:nvSpPr>
          <p:cNvPr id="15" name="Text Placeholder 14"/>
          <p:cNvSpPr>
            <a:spLocks noGrp="1"/>
          </p:cNvSpPr>
          <p:nvPr>
            <p:ph type="body" sz="quarter" idx="22"/>
          </p:nvPr>
        </p:nvSpPr>
        <p:spPr/>
        <p:txBody>
          <a:bodyPr/>
          <a:lstStyle/>
          <a:p>
            <a:r>
              <a:rPr lang="en-US" dirty="0"/>
              <a:t>Categoryd6</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Category-D</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160</a:t>
            </a:fld>
            <a:endParaRPr lang="en-GB" dirty="0"/>
          </a:p>
        </p:txBody>
      </p:sp>
    </p:spTree>
    <p:extLst>
      <p:ext uri="{BB962C8B-B14F-4D97-AF65-F5344CB8AC3E}">
        <p14:creationId xmlns:p14="http://schemas.microsoft.com/office/powerpoint/2010/main" val="1574094802"/>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Categoryd7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Categoryd8 Segment, 2019 – 2034</a:t>
            </a:r>
          </a:p>
        </p:txBody>
      </p:sp>
      <p:sp>
        <p:nvSpPr>
          <p:cNvPr id="10" name="Content Placeholder 9"/>
          <p:cNvSpPr>
            <a:spLocks noGrp="1"/>
          </p:cNvSpPr>
          <p:nvPr>
            <p:ph idx="17"/>
          </p:nvPr>
        </p:nvSpPr>
        <p:spPr/>
        <p:txBody>
          <a:bodyPr/>
          <a:lstStyle/>
          <a:p>
            <a:pPr>
              <a:lnSpc>
                <a:spcPct val="100000"/>
              </a:lnSpc>
            </a:pPr>
            <a:r>
              <a:rPr lang="en-US" dirty="0"/>
              <a:t>Categoryd7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Categoryd8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Categoryd7</a:t>
            </a:r>
          </a:p>
        </p:txBody>
      </p:sp>
      <p:sp>
        <p:nvSpPr>
          <p:cNvPr id="15" name="Text Placeholder 14"/>
          <p:cNvSpPr>
            <a:spLocks noGrp="1"/>
          </p:cNvSpPr>
          <p:nvPr>
            <p:ph type="body" sz="quarter" idx="22"/>
          </p:nvPr>
        </p:nvSpPr>
        <p:spPr/>
        <p:txBody>
          <a:bodyPr/>
          <a:lstStyle/>
          <a:p>
            <a:r>
              <a:rPr lang="en-US" dirty="0"/>
              <a:t>Categoryd8</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Category-D</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161</a:t>
            </a:fld>
            <a:endParaRPr lang="en-GB" dirty="0"/>
          </a:p>
        </p:txBody>
      </p:sp>
    </p:spTree>
    <p:extLst>
      <p:ext uri="{BB962C8B-B14F-4D97-AF65-F5344CB8AC3E}">
        <p14:creationId xmlns:p14="http://schemas.microsoft.com/office/powerpoint/2010/main" val="3686120196"/>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162</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162</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Global WXYZ Market Analysis 2019 – 2023 and Forecast 2024 – 2034, By Category-E</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162</a:t>
            </a:r>
          </a:p>
        </p:txBody>
      </p:sp>
    </p:spTree>
    <p:extLst>
      <p:ext uri="{BB962C8B-B14F-4D97-AF65-F5344CB8AC3E}">
        <p14:creationId xmlns:p14="http://schemas.microsoft.com/office/powerpoint/2010/main" val="3228586151"/>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Category-E</a:t>
            </a:r>
            <a:endParaRPr lang="en-GB" dirty="0"/>
          </a:p>
        </p:txBody>
      </p:sp>
      <p:sp>
        <p:nvSpPr>
          <p:cNvPr id="46"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47"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sp>
        <p:nvSpPr>
          <p:cNvPr id="54" name="TextBox 53"/>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cxnSp>
        <p:nvCxnSpPr>
          <p:cNvPr id="55" name="Elbow Connector 54"/>
          <p:cNvCxnSpPr>
            <a:stCxn id="57" idx="2"/>
            <a:endCxn id="74" idx="0"/>
          </p:cNvCxnSpPr>
          <p:nvPr/>
        </p:nvCxnSpPr>
        <p:spPr>
          <a:xfrm rot="5400000">
            <a:off x="3606422" y="74304"/>
            <a:ext cx="285750" cy="300372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6" name="Elbow Connector 55"/>
          <p:cNvCxnSpPr>
            <a:stCxn id="57" idx="2"/>
            <a:endCxn id="81" idx="0"/>
          </p:cNvCxnSpPr>
          <p:nvPr/>
        </p:nvCxnSpPr>
        <p:spPr>
          <a:xfrm rot="16200000" flipH="1">
            <a:off x="6565974" y="118479"/>
            <a:ext cx="285750" cy="2915377"/>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7" name="Rounded Rectangle 56"/>
          <p:cNvSpPr/>
          <p:nvPr/>
        </p:nvSpPr>
        <p:spPr>
          <a:xfrm>
            <a:off x="3484252" y="1090076"/>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Category-E</a:t>
            </a:r>
          </a:p>
        </p:txBody>
      </p:sp>
      <p:sp>
        <p:nvSpPr>
          <p:cNvPr id="58" name="Rounded Rectangle 5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9" name="Rounded Rectangle 5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60" name="Straight Connector 59"/>
          <p:cNvCxnSpPr/>
          <p:nvPr/>
        </p:nvCxnSpPr>
        <p:spPr>
          <a:xfrm>
            <a:off x="896325" y="2507208"/>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896325" y="3696853"/>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896325" y="4532507"/>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896325" y="5722154"/>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74" name="Rounded Rectangle 73"/>
          <p:cNvSpPr/>
          <p:nvPr/>
        </p:nvSpPr>
        <p:spPr>
          <a:xfrm>
            <a:off x="750415" y="1719043"/>
            <a:ext cx="2994033"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Categorye1</a:t>
            </a:r>
          </a:p>
        </p:txBody>
      </p:sp>
      <p:sp>
        <p:nvSpPr>
          <p:cNvPr id="75" name="Rounded Rectangle 74"/>
          <p:cNvSpPr/>
          <p:nvPr/>
        </p:nvSpPr>
        <p:spPr>
          <a:xfrm>
            <a:off x="857782" y="2272179"/>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76" name="Rounded Rectangle 75"/>
          <p:cNvSpPr/>
          <p:nvPr/>
        </p:nvSpPr>
        <p:spPr>
          <a:xfrm>
            <a:off x="857782" y="3461824"/>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77" name="Rounded Rectangle 76"/>
          <p:cNvSpPr/>
          <p:nvPr/>
        </p:nvSpPr>
        <p:spPr>
          <a:xfrm>
            <a:off x="857782" y="4297478"/>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78" name="Rounded Rectangle 77"/>
          <p:cNvSpPr/>
          <p:nvPr/>
        </p:nvSpPr>
        <p:spPr>
          <a:xfrm>
            <a:off x="857782" y="5487125"/>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79" name="Oval 78"/>
          <p:cNvSpPr/>
          <p:nvPr/>
        </p:nvSpPr>
        <p:spPr>
          <a:xfrm>
            <a:off x="1121175" y="28495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0" name="Oval 79"/>
          <p:cNvSpPr/>
          <p:nvPr/>
        </p:nvSpPr>
        <p:spPr>
          <a:xfrm>
            <a:off x="1121175" y="48748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1" name="Rounded Rectangle 80"/>
          <p:cNvSpPr/>
          <p:nvPr/>
        </p:nvSpPr>
        <p:spPr>
          <a:xfrm>
            <a:off x="6671255" y="1719043"/>
            <a:ext cx="2990565"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Categorye2</a:t>
            </a:r>
          </a:p>
        </p:txBody>
      </p:sp>
      <p:sp>
        <p:nvSpPr>
          <p:cNvPr id="82" name="Rounded Rectangle 81"/>
          <p:cNvSpPr/>
          <p:nvPr/>
        </p:nvSpPr>
        <p:spPr>
          <a:xfrm>
            <a:off x="6776888" y="2272179"/>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3" name="Rounded Rectangle 82"/>
          <p:cNvSpPr/>
          <p:nvPr/>
        </p:nvSpPr>
        <p:spPr>
          <a:xfrm>
            <a:off x="6776888" y="3461824"/>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4" name="Rounded Rectangle 83"/>
          <p:cNvSpPr/>
          <p:nvPr/>
        </p:nvSpPr>
        <p:spPr>
          <a:xfrm>
            <a:off x="6776888" y="4297478"/>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85" name="Rounded Rectangle 84"/>
          <p:cNvSpPr/>
          <p:nvPr/>
        </p:nvSpPr>
        <p:spPr>
          <a:xfrm>
            <a:off x="6776888" y="5487125"/>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86" name="Oval 85"/>
          <p:cNvSpPr/>
          <p:nvPr/>
        </p:nvSpPr>
        <p:spPr>
          <a:xfrm>
            <a:off x="7040281" y="28495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7" name="Oval 86"/>
          <p:cNvSpPr/>
          <p:nvPr/>
        </p:nvSpPr>
        <p:spPr>
          <a:xfrm>
            <a:off x="7040281" y="48748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 name="Slide Number Placeholder 1"/>
          <p:cNvSpPr>
            <a:spLocks noGrp="1"/>
          </p:cNvSpPr>
          <p:nvPr>
            <p:ph type="sldNum" sz="quarter" idx="4"/>
          </p:nvPr>
        </p:nvSpPr>
        <p:spPr/>
        <p:txBody>
          <a:bodyPr/>
          <a:lstStyle/>
          <a:p>
            <a:fld id="{4B17068C-EB94-40A3-A5F2-664CDD77FDAC}" type="slidenum">
              <a:rPr lang="en-GB" smtClean="0"/>
              <a:pPr/>
              <a:t>163</a:t>
            </a:fld>
            <a:endParaRPr lang="en-GB" dirty="0"/>
          </a:p>
        </p:txBody>
      </p:sp>
    </p:spTree>
    <p:extLst>
      <p:ext uri="{BB962C8B-B14F-4D97-AF65-F5344CB8AC3E}">
        <p14:creationId xmlns:p14="http://schemas.microsoft.com/office/powerpoint/2010/main" val="3876304217"/>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Category-E</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118" name="TextBox 119"/>
          <p:cNvSpPr txBox="1"/>
          <p:nvPr/>
        </p:nvSpPr>
        <p:spPr>
          <a:xfrm>
            <a:off x="159103" y="2449125"/>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119" name="TextBox 120"/>
          <p:cNvSpPr txBox="1"/>
          <p:nvPr/>
        </p:nvSpPr>
        <p:spPr>
          <a:xfrm>
            <a:off x="159103" y="4394541"/>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120" name="Elbow Connector 119"/>
          <p:cNvCxnSpPr>
            <a:stCxn id="122" idx="2"/>
            <a:endCxn id="129" idx="0"/>
          </p:cNvCxnSpPr>
          <p:nvPr/>
        </p:nvCxnSpPr>
        <p:spPr>
          <a:xfrm rot="5400000">
            <a:off x="3380227" y="-137823"/>
            <a:ext cx="285750" cy="34561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21" name="Elbow Connector 120"/>
          <p:cNvCxnSpPr>
            <a:stCxn id="122" idx="2"/>
            <a:endCxn id="136" idx="0"/>
          </p:cNvCxnSpPr>
          <p:nvPr/>
        </p:nvCxnSpPr>
        <p:spPr>
          <a:xfrm rot="16200000" flipH="1">
            <a:off x="6854733" y="-156211"/>
            <a:ext cx="285750" cy="34928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22" name="Rounded Rectangle 121"/>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Category-E</a:t>
            </a:r>
          </a:p>
        </p:txBody>
      </p:sp>
      <p:sp>
        <p:nvSpPr>
          <p:cNvPr id="123" name="Rounded Rectangle 122"/>
          <p:cNvSpPr/>
          <p:nvPr/>
        </p:nvSpPr>
        <p:spPr>
          <a:xfrm>
            <a:off x="526998" y="4201281"/>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124" name="Rounded Rectangle 123"/>
          <p:cNvSpPr/>
          <p:nvPr/>
        </p:nvSpPr>
        <p:spPr>
          <a:xfrm>
            <a:off x="526997" y="2175982"/>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125" name="Straight Connector 124"/>
          <p:cNvCxnSpPr>
            <a:stCxn id="130" idx="3"/>
            <a:endCxn id="137" idx="1"/>
          </p:cNvCxnSpPr>
          <p:nvPr/>
        </p:nvCxnSpPr>
        <p:spPr>
          <a:xfrm>
            <a:off x="2792681" y="2521276"/>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stCxn id="131" idx="3"/>
            <a:endCxn id="138" idx="1"/>
          </p:cNvCxnSpPr>
          <p:nvPr/>
        </p:nvCxnSpPr>
        <p:spPr>
          <a:xfrm>
            <a:off x="2792681" y="3710921"/>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stCxn id="132" idx="3"/>
            <a:endCxn id="139" idx="1"/>
          </p:cNvCxnSpPr>
          <p:nvPr/>
        </p:nvCxnSpPr>
        <p:spPr>
          <a:xfrm>
            <a:off x="2792681" y="4546575"/>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stCxn id="133" idx="3"/>
            <a:endCxn id="140" idx="1"/>
          </p:cNvCxnSpPr>
          <p:nvPr/>
        </p:nvCxnSpPr>
        <p:spPr>
          <a:xfrm>
            <a:off x="2792681" y="5736222"/>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9" name="Rounded Rectangle 128"/>
          <p:cNvSpPr/>
          <p:nvPr/>
        </p:nvSpPr>
        <p:spPr>
          <a:xfrm>
            <a:off x="650717" y="1733111"/>
            <a:ext cx="228865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Categorye1</a:t>
            </a:r>
          </a:p>
        </p:txBody>
      </p:sp>
      <p:sp>
        <p:nvSpPr>
          <p:cNvPr id="130" name="Rounded Rectangle 129"/>
          <p:cNvSpPr/>
          <p:nvPr/>
        </p:nvSpPr>
        <p:spPr>
          <a:xfrm>
            <a:off x="732789"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1" name="Rounded Rectangle 130"/>
          <p:cNvSpPr/>
          <p:nvPr/>
        </p:nvSpPr>
        <p:spPr>
          <a:xfrm>
            <a:off x="732789"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2" name="Rounded Rectangle 131"/>
          <p:cNvSpPr/>
          <p:nvPr/>
        </p:nvSpPr>
        <p:spPr>
          <a:xfrm>
            <a:off x="732789"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3" name="Rounded Rectangle 132"/>
          <p:cNvSpPr/>
          <p:nvPr/>
        </p:nvSpPr>
        <p:spPr>
          <a:xfrm>
            <a:off x="732789"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4" name="Oval 133"/>
          <p:cNvSpPr/>
          <p:nvPr/>
        </p:nvSpPr>
        <p:spPr>
          <a:xfrm>
            <a:off x="934128"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5" name="Oval 134"/>
          <p:cNvSpPr/>
          <p:nvPr/>
        </p:nvSpPr>
        <p:spPr>
          <a:xfrm>
            <a:off x="934128"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Rounded Rectangle 135"/>
          <p:cNvSpPr/>
          <p:nvPr/>
        </p:nvSpPr>
        <p:spPr>
          <a:xfrm>
            <a:off x="7601055"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Categorye3</a:t>
            </a:r>
          </a:p>
        </p:txBody>
      </p:sp>
      <p:sp>
        <p:nvSpPr>
          <p:cNvPr id="137" name="Rounded Rectangle 136"/>
          <p:cNvSpPr/>
          <p:nvPr/>
        </p:nvSpPr>
        <p:spPr>
          <a:xfrm>
            <a:off x="7681802"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8" name="Rounded Rectangle 137"/>
          <p:cNvSpPr/>
          <p:nvPr/>
        </p:nvSpPr>
        <p:spPr>
          <a:xfrm>
            <a:off x="7681802"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9" name="Rounded Rectangle 138"/>
          <p:cNvSpPr/>
          <p:nvPr/>
        </p:nvSpPr>
        <p:spPr>
          <a:xfrm>
            <a:off x="7681802"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40" name="Rounded Rectangle 139"/>
          <p:cNvSpPr/>
          <p:nvPr/>
        </p:nvSpPr>
        <p:spPr>
          <a:xfrm>
            <a:off x="7681802"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41" name="Oval 140"/>
          <p:cNvSpPr/>
          <p:nvPr/>
        </p:nvSpPr>
        <p:spPr>
          <a:xfrm>
            <a:off x="7883141"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2" name="Oval 141"/>
          <p:cNvSpPr/>
          <p:nvPr/>
        </p:nvSpPr>
        <p:spPr>
          <a:xfrm>
            <a:off x="7883141"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3" name="Rounded Rectangle 142"/>
          <p:cNvSpPr/>
          <p:nvPr/>
        </p:nvSpPr>
        <p:spPr>
          <a:xfrm>
            <a:off x="4127211"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Categorye2</a:t>
            </a:r>
          </a:p>
        </p:txBody>
      </p:sp>
      <p:sp>
        <p:nvSpPr>
          <p:cNvPr id="144" name="Rounded Rectangle 143"/>
          <p:cNvSpPr/>
          <p:nvPr/>
        </p:nvSpPr>
        <p:spPr>
          <a:xfrm>
            <a:off x="4207958"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5" name="Rounded Rectangle 144"/>
          <p:cNvSpPr/>
          <p:nvPr/>
        </p:nvSpPr>
        <p:spPr>
          <a:xfrm>
            <a:off x="4207958"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6" name="Rounded Rectangle 145"/>
          <p:cNvSpPr/>
          <p:nvPr/>
        </p:nvSpPr>
        <p:spPr>
          <a:xfrm>
            <a:off x="4207958"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47" name="Rounded Rectangle 146"/>
          <p:cNvSpPr/>
          <p:nvPr/>
        </p:nvSpPr>
        <p:spPr>
          <a:xfrm>
            <a:off x="4207958"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48" name="Oval 147"/>
          <p:cNvSpPr/>
          <p:nvPr/>
        </p:nvSpPr>
        <p:spPr>
          <a:xfrm>
            <a:off x="4409297"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9" name="Oval 148"/>
          <p:cNvSpPr/>
          <p:nvPr/>
        </p:nvSpPr>
        <p:spPr>
          <a:xfrm>
            <a:off x="4409297"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50" name="Straight Arrow Connector 149"/>
          <p:cNvCxnSpPr>
            <a:stCxn id="122" idx="2"/>
            <a:endCxn id="143" idx="0"/>
          </p:cNvCxnSpPr>
          <p:nvPr/>
        </p:nvCxnSpPr>
        <p:spPr>
          <a:xfrm>
            <a:off x="5251161" y="1447361"/>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2" name="Slide Number Placeholder 1"/>
          <p:cNvSpPr>
            <a:spLocks noGrp="1"/>
          </p:cNvSpPr>
          <p:nvPr>
            <p:ph type="sldNum" sz="quarter" idx="4"/>
          </p:nvPr>
        </p:nvSpPr>
        <p:spPr/>
        <p:txBody>
          <a:bodyPr/>
          <a:lstStyle/>
          <a:p>
            <a:fld id="{4B17068C-EB94-40A3-A5F2-664CDD77FDAC}" type="slidenum">
              <a:rPr lang="en-GB" smtClean="0"/>
              <a:pPr/>
              <a:t>164</a:t>
            </a:fld>
            <a:endParaRPr lang="en-GB" dirty="0"/>
          </a:p>
        </p:txBody>
      </p:sp>
    </p:spTree>
    <p:extLst>
      <p:ext uri="{BB962C8B-B14F-4D97-AF65-F5344CB8AC3E}">
        <p14:creationId xmlns:p14="http://schemas.microsoft.com/office/powerpoint/2010/main" val="3860322017"/>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Category-E</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4" name="TextBox 119"/>
          <p:cNvSpPr txBox="1"/>
          <p:nvPr/>
        </p:nvSpPr>
        <p:spPr>
          <a:xfrm>
            <a:off x="159103" y="2449125"/>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55" name="TextBox 120"/>
          <p:cNvSpPr txBox="1"/>
          <p:nvPr/>
        </p:nvSpPr>
        <p:spPr>
          <a:xfrm>
            <a:off x="159103" y="4394541"/>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56" name="Elbow Connector 55"/>
          <p:cNvCxnSpPr>
            <a:stCxn id="58" idx="2"/>
            <a:endCxn id="74" idx="0"/>
          </p:cNvCxnSpPr>
          <p:nvPr/>
        </p:nvCxnSpPr>
        <p:spPr>
          <a:xfrm rot="5400000">
            <a:off x="3380227" y="-137823"/>
            <a:ext cx="285750" cy="34561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58" idx="2"/>
            <a:endCxn id="81" idx="0"/>
          </p:cNvCxnSpPr>
          <p:nvPr/>
        </p:nvCxnSpPr>
        <p:spPr>
          <a:xfrm rot="16200000" flipH="1">
            <a:off x="6854733" y="-156211"/>
            <a:ext cx="285750" cy="34928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Category-E</a:t>
            </a:r>
          </a:p>
        </p:txBody>
      </p:sp>
      <p:sp>
        <p:nvSpPr>
          <p:cNvPr id="59" name="Rounded Rectangle 58"/>
          <p:cNvSpPr/>
          <p:nvPr/>
        </p:nvSpPr>
        <p:spPr>
          <a:xfrm>
            <a:off x="526998" y="4201281"/>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60" name="Rounded Rectangle 59"/>
          <p:cNvSpPr/>
          <p:nvPr/>
        </p:nvSpPr>
        <p:spPr>
          <a:xfrm>
            <a:off x="526997" y="2175982"/>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61" name="Straight Connector 60"/>
          <p:cNvCxnSpPr>
            <a:stCxn id="75" idx="3"/>
            <a:endCxn id="82" idx="1"/>
          </p:cNvCxnSpPr>
          <p:nvPr/>
        </p:nvCxnSpPr>
        <p:spPr>
          <a:xfrm>
            <a:off x="2792681" y="2521276"/>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a:stCxn id="76" idx="3"/>
            <a:endCxn id="83" idx="1"/>
          </p:cNvCxnSpPr>
          <p:nvPr/>
        </p:nvCxnSpPr>
        <p:spPr>
          <a:xfrm>
            <a:off x="2792681" y="3710921"/>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a:stCxn id="77" idx="3"/>
            <a:endCxn id="84" idx="1"/>
          </p:cNvCxnSpPr>
          <p:nvPr/>
        </p:nvCxnSpPr>
        <p:spPr>
          <a:xfrm>
            <a:off x="2792681" y="4546575"/>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stCxn id="78" idx="3"/>
            <a:endCxn id="85" idx="1"/>
          </p:cNvCxnSpPr>
          <p:nvPr/>
        </p:nvCxnSpPr>
        <p:spPr>
          <a:xfrm>
            <a:off x="2792681" y="5736222"/>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Rounded Rectangle 73"/>
          <p:cNvSpPr/>
          <p:nvPr/>
        </p:nvSpPr>
        <p:spPr>
          <a:xfrm>
            <a:off x="650717" y="1733111"/>
            <a:ext cx="228865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Categorye1</a:t>
            </a:r>
          </a:p>
        </p:txBody>
      </p:sp>
      <p:sp>
        <p:nvSpPr>
          <p:cNvPr id="75" name="Rounded Rectangle 74"/>
          <p:cNvSpPr/>
          <p:nvPr/>
        </p:nvSpPr>
        <p:spPr>
          <a:xfrm>
            <a:off x="732789"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76" name="Rounded Rectangle 75"/>
          <p:cNvSpPr/>
          <p:nvPr/>
        </p:nvSpPr>
        <p:spPr>
          <a:xfrm>
            <a:off x="732789"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77" name="Rounded Rectangle 76"/>
          <p:cNvSpPr/>
          <p:nvPr/>
        </p:nvSpPr>
        <p:spPr>
          <a:xfrm>
            <a:off x="732789"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78" name="Rounded Rectangle 77"/>
          <p:cNvSpPr/>
          <p:nvPr/>
        </p:nvSpPr>
        <p:spPr>
          <a:xfrm>
            <a:off x="732789"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79" name="Oval 78"/>
          <p:cNvSpPr/>
          <p:nvPr/>
        </p:nvSpPr>
        <p:spPr>
          <a:xfrm>
            <a:off x="934128"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0" name="Oval 79"/>
          <p:cNvSpPr/>
          <p:nvPr/>
        </p:nvSpPr>
        <p:spPr>
          <a:xfrm>
            <a:off x="934128"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1" name="Rounded Rectangle 80"/>
          <p:cNvSpPr/>
          <p:nvPr/>
        </p:nvSpPr>
        <p:spPr>
          <a:xfrm>
            <a:off x="7601055"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Categorye4</a:t>
            </a:r>
          </a:p>
        </p:txBody>
      </p:sp>
      <p:sp>
        <p:nvSpPr>
          <p:cNvPr id="82" name="Rounded Rectangle 81"/>
          <p:cNvSpPr/>
          <p:nvPr/>
        </p:nvSpPr>
        <p:spPr>
          <a:xfrm>
            <a:off x="7681802"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3" name="Rounded Rectangle 82"/>
          <p:cNvSpPr/>
          <p:nvPr/>
        </p:nvSpPr>
        <p:spPr>
          <a:xfrm>
            <a:off x="7681802"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4" name="Rounded Rectangle 83"/>
          <p:cNvSpPr/>
          <p:nvPr/>
        </p:nvSpPr>
        <p:spPr>
          <a:xfrm>
            <a:off x="7681802"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85" name="Rounded Rectangle 84"/>
          <p:cNvSpPr/>
          <p:nvPr/>
        </p:nvSpPr>
        <p:spPr>
          <a:xfrm>
            <a:off x="7681802"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86" name="Oval 85"/>
          <p:cNvSpPr/>
          <p:nvPr/>
        </p:nvSpPr>
        <p:spPr>
          <a:xfrm>
            <a:off x="7883141"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7" name="Oval 86"/>
          <p:cNvSpPr/>
          <p:nvPr/>
        </p:nvSpPr>
        <p:spPr>
          <a:xfrm>
            <a:off x="7883141"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8" name="Rounded Rectangle 87"/>
          <p:cNvSpPr/>
          <p:nvPr/>
        </p:nvSpPr>
        <p:spPr>
          <a:xfrm>
            <a:off x="5285159"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Categorye3</a:t>
            </a:r>
          </a:p>
        </p:txBody>
      </p:sp>
      <p:sp>
        <p:nvSpPr>
          <p:cNvPr id="89" name="Rounded Rectangle 88"/>
          <p:cNvSpPr/>
          <p:nvPr/>
        </p:nvSpPr>
        <p:spPr>
          <a:xfrm>
            <a:off x="5365906"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0" name="Rounded Rectangle 89"/>
          <p:cNvSpPr/>
          <p:nvPr/>
        </p:nvSpPr>
        <p:spPr>
          <a:xfrm>
            <a:off x="5365906"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1" name="Rounded Rectangle 90"/>
          <p:cNvSpPr/>
          <p:nvPr/>
        </p:nvSpPr>
        <p:spPr>
          <a:xfrm>
            <a:off x="5365906"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2" name="Rounded Rectangle 91"/>
          <p:cNvSpPr/>
          <p:nvPr/>
        </p:nvSpPr>
        <p:spPr>
          <a:xfrm>
            <a:off x="5365906"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3" name="Oval 92"/>
          <p:cNvSpPr/>
          <p:nvPr/>
        </p:nvSpPr>
        <p:spPr>
          <a:xfrm>
            <a:off x="5567245"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4" name="Oval 93"/>
          <p:cNvSpPr/>
          <p:nvPr/>
        </p:nvSpPr>
        <p:spPr>
          <a:xfrm>
            <a:off x="5567245"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5" name="Rounded Rectangle 94"/>
          <p:cNvSpPr/>
          <p:nvPr/>
        </p:nvSpPr>
        <p:spPr>
          <a:xfrm>
            <a:off x="2969263"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Categorye2</a:t>
            </a:r>
          </a:p>
        </p:txBody>
      </p:sp>
      <p:sp>
        <p:nvSpPr>
          <p:cNvPr id="96" name="Rounded Rectangle 95"/>
          <p:cNvSpPr/>
          <p:nvPr/>
        </p:nvSpPr>
        <p:spPr>
          <a:xfrm>
            <a:off x="3050010"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7" name="Rounded Rectangle 96"/>
          <p:cNvSpPr/>
          <p:nvPr/>
        </p:nvSpPr>
        <p:spPr>
          <a:xfrm>
            <a:off x="3050010"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8" name="Rounded Rectangle 97"/>
          <p:cNvSpPr/>
          <p:nvPr/>
        </p:nvSpPr>
        <p:spPr>
          <a:xfrm>
            <a:off x="3050010"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9" name="Rounded Rectangle 98"/>
          <p:cNvSpPr/>
          <p:nvPr/>
        </p:nvSpPr>
        <p:spPr>
          <a:xfrm>
            <a:off x="3050010"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00" name="Oval 99"/>
          <p:cNvSpPr/>
          <p:nvPr/>
        </p:nvSpPr>
        <p:spPr>
          <a:xfrm>
            <a:off x="3251349"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1" name="Oval 100"/>
          <p:cNvSpPr/>
          <p:nvPr/>
        </p:nvSpPr>
        <p:spPr>
          <a:xfrm>
            <a:off x="3251349"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02" name="Elbow Connector 101"/>
          <p:cNvCxnSpPr>
            <a:stCxn id="58" idx="2"/>
            <a:endCxn id="95" idx="0"/>
          </p:cNvCxnSpPr>
          <p:nvPr/>
        </p:nvCxnSpPr>
        <p:spPr>
          <a:xfrm rot="5400000">
            <a:off x="4538837" y="1020787"/>
            <a:ext cx="285750" cy="113889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stCxn id="58" idx="2"/>
            <a:endCxn id="88" idx="0"/>
          </p:cNvCxnSpPr>
          <p:nvPr/>
        </p:nvCxnSpPr>
        <p:spPr>
          <a:xfrm rot="16200000" flipH="1">
            <a:off x="5696785" y="1001737"/>
            <a:ext cx="285750" cy="117699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165</a:t>
            </a:fld>
            <a:endParaRPr lang="en-GB" dirty="0"/>
          </a:p>
        </p:txBody>
      </p:sp>
    </p:spTree>
    <p:extLst>
      <p:ext uri="{BB962C8B-B14F-4D97-AF65-F5344CB8AC3E}">
        <p14:creationId xmlns:p14="http://schemas.microsoft.com/office/powerpoint/2010/main" val="551637158"/>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Category-E</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Category-E</a:t>
            </a:r>
          </a:p>
        </p:txBody>
      </p:sp>
      <p:sp>
        <p:nvSpPr>
          <p:cNvPr id="152"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153"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154" name="Elbow Connector 153"/>
          <p:cNvCxnSpPr>
            <a:endCxn id="162" idx="0"/>
          </p:cNvCxnSpPr>
          <p:nvPr/>
        </p:nvCxnSpPr>
        <p:spPr>
          <a:xfrm rot="5400000">
            <a:off x="3242404" y="-289714"/>
            <a:ext cx="285750" cy="373176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55" name="Elbow Connector 154"/>
          <p:cNvCxnSpPr>
            <a:endCxn id="169" idx="0"/>
          </p:cNvCxnSpPr>
          <p:nvPr/>
        </p:nvCxnSpPr>
        <p:spPr>
          <a:xfrm rot="16200000" flipH="1">
            <a:off x="6988983" y="-304529"/>
            <a:ext cx="285750" cy="37613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56" name="Rounded Rectangle 155"/>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157" name="Rounded Rectangle 156"/>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158" name="Straight Connector 157"/>
          <p:cNvCxnSpPr>
            <a:stCxn id="163" idx="3"/>
            <a:endCxn id="170"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a:stCxn id="164" idx="3"/>
            <a:endCxn id="171"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a:stCxn id="165" idx="3"/>
            <a:endCxn id="172"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a:stCxn id="166" idx="3"/>
            <a:endCxn id="173"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2" name="Rounded Rectangle 161"/>
          <p:cNvSpPr/>
          <p:nvPr/>
        </p:nvSpPr>
        <p:spPr>
          <a:xfrm>
            <a:off x="65071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Categorye1</a:t>
            </a:r>
          </a:p>
        </p:txBody>
      </p:sp>
      <p:sp>
        <p:nvSpPr>
          <p:cNvPr id="163" name="Rounded Rectangle 162"/>
          <p:cNvSpPr/>
          <p:nvPr/>
        </p:nvSpPr>
        <p:spPr>
          <a:xfrm>
            <a:off x="71301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64" name="Rounded Rectangle 163"/>
          <p:cNvSpPr/>
          <p:nvPr/>
        </p:nvSpPr>
        <p:spPr>
          <a:xfrm>
            <a:off x="71301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65" name="Rounded Rectangle 164"/>
          <p:cNvSpPr/>
          <p:nvPr/>
        </p:nvSpPr>
        <p:spPr>
          <a:xfrm>
            <a:off x="71301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66" name="Rounded Rectangle 165"/>
          <p:cNvSpPr/>
          <p:nvPr/>
        </p:nvSpPr>
        <p:spPr>
          <a:xfrm>
            <a:off x="71301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67" name="Oval 166"/>
          <p:cNvSpPr/>
          <p:nvPr/>
        </p:nvSpPr>
        <p:spPr>
          <a:xfrm>
            <a:off x="86586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68" name="Oval 167"/>
          <p:cNvSpPr/>
          <p:nvPr/>
        </p:nvSpPr>
        <p:spPr>
          <a:xfrm>
            <a:off x="86586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69" name="Rounded Rectangle 168"/>
          <p:cNvSpPr/>
          <p:nvPr/>
        </p:nvSpPr>
        <p:spPr>
          <a:xfrm>
            <a:off x="8143875"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Categorye5</a:t>
            </a:r>
          </a:p>
        </p:txBody>
      </p:sp>
      <p:sp>
        <p:nvSpPr>
          <p:cNvPr id="170" name="Rounded Rectangle 169"/>
          <p:cNvSpPr/>
          <p:nvPr/>
        </p:nvSpPr>
        <p:spPr>
          <a:xfrm>
            <a:off x="8205243" y="2272179"/>
            <a:ext cx="161462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71" name="Rounded Rectangle 170"/>
          <p:cNvSpPr/>
          <p:nvPr/>
        </p:nvSpPr>
        <p:spPr>
          <a:xfrm>
            <a:off x="8205243" y="3461824"/>
            <a:ext cx="161462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72" name="Rounded Rectangle 171"/>
          <p:cNvSpPr/>
          <p:nvPr/>
        </p:nvSpPr>
        <p:spPr>
          <a:xfrm>
            <a:off x="8205243" y="4297478"/>
            <a:ext cx="161462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73" name="Rounded Rectangle 172"/>
          <p:cNvSpPr/>
          <p:nvPr/>
        </p:nvSpPr>
        <p:spPr>
          <a:xfrm>
            <a:off x="8205243" y="5487125"/>
            <a:ext cx="161462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74" name="Oval 173"/>
          <p:cNvSpPr/>
          <p:nvPr/>
        </p:nvSpPr>
        <p:spPr>
          <a:xfrm>
            <a:off x="8358260" y="2849594"/>
            <a:ext cx="1308590"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75" name="Oval 174"/>
          <p:cNvSpPr/>
          <p:nvPr/>
        </p:nvSpPr>
        <p:spPr>
          <a:xfrm>
            <a:off x="8358260" y="4874894"/>
            <a:ext cx="1308590"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76" name="Rounded Rectangle 175"/>
          <p:cNvSpPr/>
          <p:nvPr/>
        </p:nvSpPr>
        <p:spPr>
          <a:xfrm>
            <a:off x="252400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Categorye2</a:t>
            </a:r>
          </a:p>
        </p:txBody>
      </p:sp>
      <p:sp>
        <p:nvSpPr>
          <p:cNvPr id="177" name="Rounded Rectangle 176"/>
          <p:cNvSpPr/>
          <p:nvPr/>
        </p:nvSpPr>
        <p:spPr>
          <a:xfrm>
            <a:off x="258630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78" name="Rounded Rectangle 177"/>
          <p:cNvSpPr/>
          <p:nvPr/>
        </p:nvSpPr>
        <p:spPr>
          <a:xfrm>
            <a:off x="258630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79" name="Rounded Rectangle 178"/>
          <p:cNvSpPr/>
          <p:nvPr/>
        </p:nvSpPr>
        <p:spPr>
          <a:xfrm>
            <a:off x="258630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80" name="Rounded Rectangle 179"/>
          <p:cNvSpPr/>
          <p:nvPr/>
        </p:nvSpPr>
        <p:spPr>
          <a:xfrm>
            <a:off x="258630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81" name="Oval 180"/>
          <p:cNvSpPr/>
          <p:nvPr/>
        </p:nvSpPr>
        <p:spPr>
          <a:xfrm>
            <a:off x="273915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2" name="Oval 181"/>
          <p:cNvSpPr/>
          <p:nvPr/>
        </p:nvSpPr>
        <p:spPr>
          <a:xfrm>
            <a:off x="273915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3" name="Rounded Rectangle 182"/>
          <p:cNvSpPr/>
          <p:nvPr/>
        </p:nvSpPr>
        <p:spPr>
          <a:xfrm>
            <a:off x="439729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Categorye3</a:t>
            </a:r>
          </a:p>
        </p:txBody>
      </p:sp>
      <p:sp>
        <p:nvSpPr>
          <p:cNvPr id="184" name="Rounded Rectangle 183"/>
          <p:cNvSpPr/>
          <p:nvPr/>
        </p:nvSpPr>
        <p:spPr>
          <a:xfrm>
            <a:off x="445959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85" name="Rounded Rectangle 184"/>
          <p:cNvSpPr/>
          <p:nvPr/>
        </p:nvSpPr>
        <p:spPr>
          <a:xfrm>
            <a:off x="445959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86" name="Rounded Rectangle 185"/>
          <p:cNvSpPr/>
          <p:nvPr/>
        </p:nvSpPr>
        <p:spPr>
          <a:xfrm>
            <a:off x="445959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87" name="Rounded Rectangle 186"/>
          <p:cNvSpPr/>
          <p:nvPr/>
        </p:nvSpPr>
        <p:spPr>
          <a:xfrm>
            <a:off x="445959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88" name="Oval 187"/>
          <p:cNvSpPr/>
          <p:nvPr/>
        </p:nvSpPr>
        <p:spPr>
          <a:xfrm>
            <a:off x="461244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9" name="Oval 188"/>
          <p:cNvSpPr/>
          <p:nvPr/>
        </p:nvSpPr>
        <p:spPr>
          <a:xfrm>
            <a:off x="461244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90" name="Rounded Rectangle 189"/>
          <p:cNvSpPr/>
          <p:nvPr/>
        </p:nvSpPr>
        <p:spPr>
          <a:xfrm>
            <a:off x="627058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Categorye4</a:t>
            </a:r>
          </a:p>
        </p:txBody>
      </p:sp>
      <p:sp>
        <p:nvSpPr>
          <p:cNvPr id="191" name="Rounded Rectangle 190"/>
          <p:cNvSpPr/>
          <p:nvPr/>
        </p:nvSpPr>
        <p:spPr>
          <a:xfrm>
            <a:off x="633288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92" name="Rounded Rectangle 191"/>
          <p:cNvSpPr/>
          <p:nvPr/>
        </p:nvSpPr>
        <p:spPr>
          <a:xfrm>
            <a:off x="633288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93" name="Rounded Rectangle 192"/>
          <p:cNvSpPr/>
          <p:nvPr/>
        </p:nvSpPr>
        <p:spPr>
          <a:xfrm>
            <a:off x="633288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94" name="Rounded Rectangle 193"/>
          <p:cNvSpPr/>
          <p:nvPr/>
        </p:nvSpPr>
        <p:spPr>
          <a:xfrm>
            <a:off x="633288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95" name="Oval 194"/>
          <p:cNvSpPr/>
          <p:nvPr/>
        </p:nvSpPr>
        <p:spPr>
          <a:xfrm>
            <a:off x="648573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96" name="Oval 195"/>
          <p:cNvSpPr/>
          <p:nvPr/>
        </p:nvSpPr>
        <p:spPr>
          <a:xfrm>
            <a:off x="648573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97" name="Elbow Connector 196"/>
          <p:cNvCxnSpPr>
            <a:endCxn id="176" idx="0"/>
          </p:cNvCxnSpPr>
          <p:nvPr/>
        </p:nvCxnSpPr>
        <p:spPr>
          <a:xfrm rot="5400000">
            <a:off x="4179049" y="646931"/>
            <a:ext cx="285750" cy="185847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98" name="Elbow Connector 197"/>
          <p:cNvCxnSpPr>
            <a:endCxn id="190" idx="0"/>
          </p:cNvCxnSpPr>
          <p:nvPr/>
        </p:nvCxnSpPr>
        <p:spPr>
          <a:xfrm rot="16200000" flipH="1">
            <a:off x="6052339" y="632115"/>
            <a:ext cx="285750" cy="188810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99" name="Straight Arrow Connector 198"/>
          <p:cNvCxnSpPr>
            <a:endCxn id="183" idx="0"/>
          </p:cNvCxnSpPr>
          <p:nvPr/>
        </p:nvCxnSpPr>
        <p:spPr>
          <a:xfrm>
            <a:off x="5251161" y="1433293"/>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166</a:t>
            </a:fld>
            <a:endParaRPr lang="en-GB" dirty="0"/>
          </a:p>
        </p:txBody>
      </p:sp>
    </p:spTree>
    <p:extLst>
      <p:ext uri="{BB962C8B-B14F-4D97-AF65-F5344CB8AC3E}">
        <p14:creationId xmlns:p14="http://schemas.microsoft.com/office/powerpoint/2010/main" val="1287719775"/>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Category-E</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Category-E</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73824" y="-358294"/>
            <a:ext cx="285750" cy="386892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053752" y="-369299"/>
            <a:ext cx="285750" cy="3890933"/>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Categorye1</a:t>
            </a:r>
          </a:p>
        </p:txBody>
      </p:sp>
      <p:sp>
        <p:nvSpPr>
          <p:cNvPr id="85" name="Rounded Rectangle 84"/>
          <p:cNvSpPr/>
          <p:nvPr/>
        </p:nvSpPr>
        <p:spPr>
          <a:xfrm>
            <a:off x="703182"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703182"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703182"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703182"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831890"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831890"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410574"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Categorye6</a:t>
            </a:r>
          </a:p>
        </p:txBody>
      </p:sp>
      <p:sp>
        <p:nvSpPr>
          <p:cNvPr id="92" name="Rounded Rectangle 91"/>
          <p:cNvSpPr/>
          <p:nvPr/>
        </p:nvSpPr>
        <p:spPr>
          <a:xfrm>
            <a:off x="8462252" y="2272179"/>
            <a:ext cx="135968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462252" y="3461824"/>
            <a:ext cx="135968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462252" y="4297478"/>
            <a:ext cx="135968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462252" y="5487125"/>
            <a:ext cx="135968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591109" y="2849594"/>
            <a:ext cx="110197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591109" y="4874894"/>
            <a:ext cx="110197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0" idx="0"/>
          </p:cNvCxnSpPr>
          <p:nvPr/>
        </p:nvCxnSpPr>
        <p:spPr>
          <a:xfrm rot="5400000">
            <a:off x="3949810" y="417692"/>
            <a:ext cx="285750" cy="2316953"/>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21" idx="0"/>
          </p:cNvCxnSpPr>
          <p:nvPr/>
        </p:nvCxnSpPr>
        <p:spPr>
          <a:xfrm rot="16200000" flipH="1">
            <a:off x="6277766" y="406688"/>
            <a:ext cx="285750" cy="233896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0" name="Rounded Rectangle 99"/>
          <p:cNvSpPr/>
          <p:nvPr/>
        </p:nvSpPr>
        <p:spPr>
          <a:xfrm>
            <a:off x="2202688"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Categorye2</a:t>
            </a:r>
          </a:p>
        </p:txBody>
      </p:sp>
      <p:sp>
        <p:nvSpPr>
          <p:cNvPr id="101" name="Rounded Rectangle 100"/>
          <p:cNvSpPr/>
          <p:nvPr/>
        </p:nvSpPr>
        <p:spPr>
          <a:xfrm>
            <a:off x="2255153"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2" name="Rounded Rectangle 101"/>
          <p:cNvSpPr/>
          <p:nvPr/>
        </p:nvSpPr>
        <p:spPr>
          <a:xfrm>
            <a:off x="2255153"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3" name="Rounded Rectangle 102"/>
          <p:cNvSpPr/>
          <p:nvPr/>
        </p:nvSpPr>
        <p:spPr>
          <a:xfrm>
            <a:off x="2255153"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4" name="Rounded Rectangle 103"/>
          <p:cNvSpPr/>
          <p:nvPr/>
        </p:nvSpPr>
        <p:spPr>
          <a:xfrm>
            <a:off x="2255153"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5" name="Oval 104"/>
          <p:cNvSpPr/>
          <p:nvPr/>
        </p:nvSpPr>
        <p:spPr>
          <a:xfrm>
            <a:off x="2383861"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6" name="Oval 105"/>
          <p:cNvSpPr/>
          <p:nvPr/>
        </p:nvSpPr>
        <p:spPr>
          <a:xfrm>
            <a:off x="2383861"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7" name="Rounded Rectangle 106"/>
          <p:cNvSpPr/>
          <p:nvPr/>
        </p:nvSpPr>
        <p:spPr>
          <a:xfrm>
            <a:off x="3754659"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Categorye3</a:t>
            </a:r>
          </a:p>
        </p:txBody>
      </p:sp>
      <p:sp>
        <p:nvSpPr>
          <p:cNvPr id="108" name="Rounded Rectangle 107"/>
          <p:cNvSpPr/>
          <p:nvPr/>
        </p:nvSpPr>
        <p:spPr>
          <a:xfrm>
            <a:off x="3807124"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9" name="Rounded Rectangle 108"/>
          <p:cNvSpPr/>
          <p:nvPr/>
        </p:nvSpPr>
        <p:spPr>
          <a:xfrm>
            <a:off x="3807124"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0" name="Rounded Rectangle 109"/>
          <p:cNvSpPr/>
          <p:nvPr/>
        </p:nvSpPr>
        <p:spPr>
          <a:xfrm>
            <a:off x="3807124"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1" name="Rounded Rectangle 110"/>
          <p:cNvSpPr/>
          <p:nvPr/>
        </p:nvSpPr>
        <p:spPr>
          <a:xfrm>
            <a:off x="3807124"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2" name="Oval 111"/>
          <p:cNvSpPr/>
          <p:nvPr/>
        </p:nvSpPr>
        <p:spPr>
          <a:xfrm>
            <a:off x="3935832"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3" name="Oval 112"/>
          <p:cNvSpPr/>
          <p:nvPr/>
        </p:nvSpPr>
        <p:spPr>
          <a:xfrm>
            <a:off x="3935832"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4" name="Rounded Rectangle 113"/>
          <p:cNvSpPr/>
          <p:nvPr/>
        </p:nvSpPr>
        <p:spPr>
          <a:xfrm>
            <a:off x="5306630"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Categorye4</a:t>
            </a:r>
          </a:p>
        </p:txBody>
      </p:sp>
      <p:sp>
        <p:nvSpPr>
          <p:cNvPr id="115" name="Rounded Rectangle 114"/>
          <p:cNvSpPr/>
          <p:nvPr/>
        </p:nvSpPr>
        <p:spPr>
          <a:xfrm>
            <a:off x="5359095"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6" name="Rounded Rectangle 115"/>
          <p:cNvSpPr/>
          <p:nvPr/>
        </p:nvSpPr>
        <p:spPr>
          <a:xfrm>
            <a:off x="5359095"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7" name="Rounded Rectangle 116"/>
          <p:cNvSpPr/>
          <p:nvPr/>
        </p:nvSpPr>
        <p:spPr>
          <a:xfrm>
            <a:off x="5359095"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8" name="Rounded Rectangle 117"/>
          <p:cNvSpPr/>
          <p:nvPr/>
        </p:nvSpPr>
        <p:spPr>
          <a:xfrm>
            <a:off x="5359095"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9" name="Oval 118"/>
          <p:cNvSpPr/>
          <p:nvPr/>
        </p:nvSpPr>
        <p:spPr>
          <a:xfrm>
            <a:off x="5487803"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0" name="Oval 119"/>
          <p:cNvSpPr/>
          <p:nvPr/>
        </p:nvSpPr>
        <p:spPr>
          <a:xfrm>
            <a:off x="5487803"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1" name="Rounded Rectangle 120"/>
          <p:cNvSpPr/>
          <p:nvPr/>
        </p:nvSpPr>
        <p:spPr>
          <a:xfrm>
            <a:off x="6858601"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Categorye5</a:t>
            </a:r>
          </a:p>
        </p:txBody>
      </p:sp>
      <p:sp>
        <p:nvSpPr>
          <p:cNvPr id="122" name="Rounded Rectangle 121"/>
          <p:cNvSpPr/>
          <p:nvPr/>
        </p:nvSpPr>
        <p:spPr>
          <a:xfrm>
            <a:off x="6911066"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3" name="Rounded Rectangle 122"/>
          <p:cNvSpPr/>
          <p:nvPr/>
        </p:nvSpPr>
        <p:spPr>
          <a:xfrm>
            <a:off x="6911066"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4" name="Rounded Rectangle 123"/>
          <p:cNvSpPr/>
          <p:nvPr/>
        </p:nvSpPr>
        <p:spPr>
          <a:xfrm>
            <a:off x="6911066"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5" name="Rounded Rectangle 124"/>
          <p:cNvSpPr/>
          <p:nvPr/>
        </p:nvSpPr>
        <p:spPr>
          <a:xfrm>
            <a:off x="6911066"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6" name="Oval 125"/>
          <p:cNvSpPr/>
          <p:nvPr/>
        </p:nvSpPr>
        <p:spPr>
          <a:xfrm>
            <a:off x="7039774"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7" name="Oval 126"/>
          <p:cNvSpPr/>
          <p:nvPr/>
        </p:nvSpPr>
        <p:spPr>
          <a:xfrm>
            <a:off x="7039774"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28" name="Elbow Connector 127"/>
          <p:cNvCxnSpPr>
            <a:endCxn id="107" idx="0"/>
          </p:cNvCxnSpPr>
          <p:nvPr/>
        </p:nvCxnSpPr>
        <p:spPr>
          <a:xfrm rot="5400000">
            <a:off x="4725795" y="1193677"/>
            <a:ext cx="285750" cy="76498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29" name="Elbow Connector 128"/>
          <p:cNvCxnSpPr>
            <a:endCxn id="114" idx="0"/>
          </p:cNvCxnSpPr>
          <p:nvPr/>
        </p:nvCxnSpPr>
        <p:spPr>
          <a:xfrm rot="16200000" flipH="1">
            <a:off x="5501780" y="1182673"/>
            <a:ext cx="285750" cy="786989"/>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167</a:t>
            </a:fld>
            <a:endParaRPr lang="en-GB" dirty="0"/>
          </a:p>
        </p:txBody>
      </p:sp>
    </p:spTree>
    <p:extLst>
      <p:ext uri="{BB962C8B-B14F-4D97-AF65-F5344CB8AC3E}">
        <p14:creationId xmlns:p14="http://schemas.microsoft.com/office/powerpoint/2010/main" val="3417886412"/>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Category-E</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Category-E</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05244" y="-426874"/>
            <a:ext cx="285750" cy="400608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22809" y="-438355"/>
            <a:ext cx="285750" cy="402904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Categorye1</a:t>
            </a:r>
          </a:p>
        </p:txBody>
      </p:sp>
      <p:sp>
        <p:nvSpPr>
          <p:cNvPr id="85" name="Rounded Rectangle 84"/>
          <p:cNvSpPr/>
          <p:nvPr/>
        </p:nvSpPr>
        <p:spPr>
          <a:xfrm>
            <a:off x="693345"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93345"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93345"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93345"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97920"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97920"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686800" y="1719043"/>
            <a:ext cx="1186814"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Categorye7</a:t>
            </a:r>
          </a:p>
        </p:txBody>
      </p:sp>
      <p:sp>
        <p:nvSpPr>
          <p:cNvPr id="92" name="Rounded Rectangle 91"/>
          <p:cNvSpPr/>
          <p:nvPr/>
        </p:nvSpPr>
        <p:spPr>
          <a:xfrm>
            <a:off x="8728721" y="2272179"/>
            <a:ext cx="110297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728721" y="3461824"/>
            <a:ext cx="110297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728721" y="4297478"/>
            <a:ext cx="110297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728721" y="5487125"/>
            <a:ext cx="110297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833250" y="2849594"/>
            <a:ext cx="89391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833250" y="4874894"/>
            <a:ext cx="89391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2" idx="0"/>
          </p:cNvCxnSpPr>
          <p:nvPr/>
        </p:nvCxnSpPr>
        <p:spPr>
          <a:xfrm rot="5400000">
            <a:off x="3774918" y="242800"/>
            <a:ext cx="285750" cy="2666737"/>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30" idx="0"/>
          </p:cNvCxnSpPr>
          <p:nvPr/>
        </p:nvCxnSpPr>
        <p:spPr>
          <a:xfrm rot="16200000" flipH="1">
            <a:off x="6453611" y="230842"/>
            <a:ext cx="285750" cy="2690651"/>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09" idx="0"/>
          </p:cNvCxnSpPr>
          <p:nvPr/>
        </p:nvCxnSpPr>
        <p:spPr>
          <a:xfrm rot="5400000">
            <a:off x="4444591" y="912473"/>
            <a:ext cx="285750" cy="132739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23" idx="0"/>
          </p:cNvCxnSpPr>
          <p:nvPr/>
        </p:nvCxnSpPr>
        <p:spPr>
          <a:xfrm rot="16200000" flipH="1">
            <a:off x="5783938" y="900516"/>
            <a:ext cx="285750" cy="135130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2" name="Rounded Rectangle 101"/>
          <p:cNvSpPr/>
          <p:nvPr/>
        </p:nvSpPr>
        <p:spPr>
          <a:xfrm>
            <a:off x="1990064"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Categorye2</a:t>
            </a:r>
          </a:p>
        </p:txBody>
      </p:sp>
      <p:sp>
        <p:nvSpPr>
          <p:cNvPr id="103" name="Rounded Rectangle 102"/>
          <p:cNvSpPr/>
          <p:nvPr/>
        </p:nvSpPr>
        <p:spPr>
          <a:xfrm>
            <a:off x="2032692"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4" name="Rounded Rectangle 103"/>
          <p:cNvSpPr/>
          <p:nvPr/>
        </p:nvSpPr>
        <p:spPr>
          <a:xfrm>
            <a:off x="2032692"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5" name="Rounded Rectangle 104"/>
          <p:cNvSpPr/>
          <p:nvPr/>
        </p:nvSpPr>
        <p:spPr>
          <a:xfrm>
            <a:off x="2032692"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6" name="Rounded Rectangle 105"/>
          <p:cNvSpPr/>
          <p:nvPr/>
        </p:nvSpPr>
        <p:spPr>
          <a:xfrm>
            <a:off x="2032692"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7" name="Oval 106"/>
          <p:cNvSpPr/>
          <p:nvPr/>
        </p:nvSpPr>
        <p:spPr>
          <a:xfrm>
            <a:off x="2137267"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8" name="Oval 107"/>
          <p:cNvSpPr/>
          <p:nvPr/>
        </p:nvSpPr>
        <p:spPr>
          <a:xfrm>
            <a:off x="2137267"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9" name="Rounded Rectangle 108"/>
          <p:cNvSpPr/>
          <p:nvPr/>
        </p:nvSpPr>
        <p:spPr>
          <a:xfrm>
            <a:off x="3329411"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Categorye3</a:t>
            </a:r>
          </a:p>
        </p:txBody>
      </p:sp>
      <p:sp>
        <p:nvSpPr>
          <p:cNvPr id="110" name="Rounded Rectangle 109"/>
          <p:cNvSpPr/>
          <p:nvPr/>
        </p:nvSpPr>
        <p:spPr>
          <a:xfrm>
            <a:off x="3372039"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1" name="Rounded Rectangle 110"/>
          <p:cNvSpPr/>
          <p:nvPr/>
        </p:nvSpPr>
        <p:spPr>
          <a:xfrm>
            <a:off x="3372039"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2" name="Rounded Rectangle 111"/>
          <p:cNvSpPr/>
          <p:nvPr/>
        </p:nvSpPr>
        <p:spPr>
          <a:xfrm>
            <a:off x="3372039"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3" name="Rounded Rectangle 112"/>
          <p:cNvSpPr/>
          <p:nvPr/>
        </p:nvSpPr>
        <p:spPr>
          <a:xfrm>
            <a:off x="3372039"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4" name="Oval 113"/>
          <p:cNvSpPr/>
          <p:nvPr/>
        </p:nvSpPr>
        <p:spPr>
          <a:xfrm>
            <a:off x="3476614"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5" name="Oval 114"/>
          <p:cNvSpPr/>
          <p:nvPr/>
        </p:nvSpPr>
        <p:spPr>
          <a:xfrm>
            <a:off x="3476614"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6" name="Rounded Rectangle 115"/>
          <p:cNvSpPr/>
          <p:nvPr/>
        </p:nvSpPr>
        <p:spPr>
          <a:xfrm>
            <a:off x="4668758"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Categorye4</a:t>
            </a:r>
          </a:p>
        </p:txBody>
      </p:sp>
      <p:sp>
        <p:nvSpPr>
          <p:cNvPr id="117" name="Rounded Rectangle 116"/>
          <p:cNvSpPr/>
          <p:nvPr/>
        </p:nvSpPr>
        <p:spPr>
          <a:xfrm>
            <a:off x="4711386"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8" name="Rounded Rectangle 117"/>
          <p:cNvSpPr/>
          <p:nvPr/>
        </p:nvSpPr>
        <p:spPr>
          <a:xfrm>
            <a:off x="4711386"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9" name="Rounded Rectangle 118"/>
          <p:cNvSpPr/>
          <p:nvPr/>
        </p:nvSpPr>
        <p:spPr>
          <a:xfrm>
            <a:off x="4711386"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0" name="Rounded Rectangle 119"/>
          <p:cNvSpPr/>
          <p:nvPr/>
        </p:nvSpPr>
        <p:spPr>
          <a:xfrm>
            <a:off x="4711386"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1" name="Oval 120"/>
          <p:cNvSpPr/>
          <p:nvPr/>
        </p:nvSpPr>
        <p:spPr>
          <a:xfrm>
            <a:off x="4815961"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2" name="Oval 121"/>
          <p:cNvSpPr/>
          <p:nvPr/>
        </p:nvSpPr>
        <p:spPr>
          <a:xfrm>
            <a:off x="4815961"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3" name="Rounded Rectangle 122"/>
          <p:cNvSpPr/>
          <p:nvPr/>
        </p:nvSpPr>
        <p:spPr>
          <a:xfrm>
            <a:off x="6008105"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Categorye5</a:t>
            </a:r>
          </a:p>
        </p:txBody>
      </p:sp>
      <p:sp>
        <p:nvSpPr>
          <p:cNvPr id="124" name="Rounded Rectangle 123"/>
          <p:cNvSpPr/>
          <p:nvPr/>
        </p:nvSpPr>
        <p:spPr>
          <a:xfrm>
            <a:off x="6050733"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5" name="Rounded Rectangle 124"/>
          <p:cNvSpPr/>
          <p:nvPr/>
        </p:nvSpPr>
        <p:spPr>
          <a:xfrm>
            <a:off x="6050733"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6" name="Rounded Rectangle 125"/>
          <p:cNvSpPr/>
          <p:nvPr/>
        </p:nvSpPr>
        <p:spPr>
          <a:xfrm>
            <a:off x="6050733"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7" name="Rounded Rectangle 126"/>
          <p:cNvSpPr/>
          <p:nvPr/>
        </p:nvSpPr>
        <p:spPr>
          <a:xfrm>
            <a:off x="6050733"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8" name="Oval 127"/>
          <p:cNvSpPr/>
          <p:nvPr/>
        </p:nvSpPr>
        <p:spPr>
          <a:xfrm>
            <a:off x="6155308"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9" name="Oval 128"/>
          <p:cNvSpPr/>
          <p:nvPr/>
        </p:nvSpPr>
        <p:spPr>
          <a:xfrm>
            <a:off x="6155308"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0" name="Rounded Rectangle 129"/>
          <p:cNvSpPr/>
          <p:nvPr/>
        </p:nvSpPr>
        <p:spPr>
          <a:xfrm>
            <a:off x="7347452"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Categorye6</a:t>
            </a:r>
          </a:p>
        </p:txBody>
      </p:sp>
      <p:sp>
        <p:nvSpPr>
          <p:cNvPr id="131" name="Rounded Rectangle 130"/>
          <p:cNvSpPr/>
          <p:nvPr/>
        </p:nvSpPr>
        <p:spPr>
          <a:xfrm>
            <a:off x="7390080"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2" name="Rounded Rectangle 131"/>
          <p:cNvSpPr/>
          <p:nvPr/>
        </p:nvSpPr>
        <p:spPr>
          <a:xfrm>
            <a:off x="7390080"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3" name="Rounded Rectangle 132"/>
          <p:cNvSpPr/>
          <p:nvPr/>
        </p:nvSpPr>
        <p:spPr>
          <a:xfrm>
            <a:off x="7390080"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4" name="Rounded Rectangle 133"/>
          <p:cNvSpPr/>
          <p:nvPr/>
        </p:nvSpPr>
        <p:spPr>
          <a:xfrm>
            <a:off x="7390080"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5" name="Oval 134"/>
          <p:cNvSpPr/>
          <p:nvPr/>
        </p:nvSpPr>
        <p:spPr>
          <a:xfrm>
            <a:off x="7494655"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Oval 135"/>
          <p:cNvSpPr/>
          <p:nvPr/>
        </p:nvSpPr>
        <p:spPr>
          <a:xfrm>
            <a:off x="7494655"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37" name="Straight Arrow Connector 136"/>
          <p:cNvCxnSpPr>
            <a:endCxn id="116" idx="0"/>
          </p:cNvCxnSpPr>
          <p:nvPr/>
        </p:nvCxnSpPr>
        <p:spPr>
          <a:xfrm>
            <a:off x="5251161" y="1433293"/>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168</a:t>
            </a:fld>
            <a:endParaRPr lang="en-GB" dirty="0"/>
          </a:p>
        </p:txBody>
      </p:sp>
    </p:spTree>
    <p:extLst>
      <p:ext uri="{BB962C8B-B14F-4D97-AF65-F5344CB8AC3E}">
        <p14:creationId xmlns:p14="http://schemas.microsoft.com/office/powerpoint/2010/main" val="440972200"/>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Category-E</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Category-E</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05244" y="-426874"/>
            <a:ext cx="285750" cy="400608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22809" y="-438355"/>
            <a:ext cx="285750" cy="402904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Categorye1</a:t>
            </a:r>
          </a:p>
        </p:txBody>
      </p:sp>
      <p:sp>
        <p:nvSpPr>
          <p:cNvPr id="85" name="Rounded Rectangle 84"/>
          <p:cNvSpPr/>
          <p:nvPr/>
        </p:nvSpPr>
        <p:spPr>
          <a:xfrm>
            <a:off x="690066"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90066"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90066"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90066"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86597"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86597"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772524" y="1719043"/>
            <a:ext cx="1101089"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Categorye8</a:t>
            </a:r>
          </a:p>
        </p:txBody>
      </p:sp>
      <p:sp>
        <p:nvSpPr>
          <p:cNvPr id="92" name="Rounded Rectangle 91"/>
          <p:cNvSpPr/>
          <p:nvPr/>
        </p:nvSpPr>
        <p:spPr>
          <a:xfrm>
            <a:off x="8811417" y="2272179"/>
            <a:ext cx="102330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811417" y="3461824"/>
            <a:ext cx="102330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811417" y="4297478"/>
            <a:ext cx="102330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811417" y="5487125"/>
            <a:ext cx="102330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908395" y="2849594"/>
            <a:ext cx="829347"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908395" y="4874894"/>
            <a:ext cx="829347"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2" idx="0"/>
          </p:cNvCxnSpPr>
          <p:nvPr/>
        </p:nvCxnSpPr>
        <p:spPr>
          <a:xfrm rot="5400000">
            <a:off x="3662513" y="130395"/>
            <a:ext cx="285750" cy="289154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37" idx="0"/>
          </p:cNvCxnSpPr>
          <p:nvPr/>
        </p:nvCxnSpPr>
        <p:spPr>
          <a:xfrm rot="16200000" flipH="1">
            <a:off x="6563158" y="121296"/>
            <a:ext cx="285750" cy="290974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09" idx="0"/>
          </p:cNvCxnSpPr>
          <p:nvPr/>
        </p:nvCxnSpPr>
        <p:spPr>
          <a:xfrm rot="5400000">
            <a:off x="4242642" y="710524"/>
            <a:ext cx="285750" cy="173128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30" idx="0"/>
          </p:cNvCxnSpPr>
          <p:nvPr/>
        </p:nvCxnSpPr>
        <p:spPr>
          <a:xfrm rot="16200000" flipH="1">
            <a:off x="5983029" y="701425"/>
            <a:ext cx="285750" cy="174948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2" name="Rounded Rectangle 101"/>
          <p:cNvSpPr/>
          <p:nvPr/>
        </p:nvSpPr>
        <p:spPr>
          <a:xfrm>
            <a:off x="1810975"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Categorye2</a:t>
            </a:r>
          </a:p>
        </p:txBody>
      </p:sp>
      <p:sp>
        <p:nvSpPr>
          <p:cNvPr id="103" name="Rounded Rectangle 102"/>
          <p:cNvSpPr/>
          <p:nvPr/>
        </p:nvSpPr>
        <p:spPr>
          <a:xfrm>
            <a:off x="1850324"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4" name="Rounded Rectangle 103"/>
          <p:cNvSpPr/>
          <p:nvPr/>
        </p:nvSpPr>
        <p:spPr>
          <a:xfrm>
            <a:off x="1850324"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5" name="Rounded Rectangle 104"/>
          <p:cNvSpPr/>
          <p:nvPr/>
        </p:nvSpPr>
        <p:spPr>
          <a:xfrm>
            <a:off x="1850324"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6" name="Rounded Rectangle 105"/>
          <p:cNvSpPr/>
          <p:nvPr/>
        </p:nvSpPr>
        <p:spPr>
          <a:xfrm>
            <a:off x="1850324"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7" name="Oval 106"/>
          <p:cNvSpPr/>
          <p:nvPr/>
        </p:nvSpPr>
        <p:spPr>
          <a:xfrm>
            <a:off x="1946855"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8" name="Oval 107"/>
          <p:cNvSpPr/>
          <p:nvPr/>
        </p:nvSpPr>
        <p:spPr>
          <a:xfrm>
            <a:off x="1946855"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9" name="Rounded Rectangle 108"/>
          <p:cNvSpPr/>
          <p:nvPr/>
        </p:nvSpPr>
        <p:spPr>
          <a:xfrm>
            <a:off x="2971233"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Categorye3</a:t>
            </a:r>
          </a:p>
        </p:txBody>
      </p:sp>
      <p:sp>
        <p:nvSpPr>
          <p:cNvPr id="110" name="Rounded Rectangle 109"/>
          <p:cNvSpPr/>
          <p:nvPr/>
        </p:nvSpPr>
        <p:spPr>
          <a:xfrm>
            <a:off x="3010582"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1" name="Rounded Rectangle 110"/>
          <p:cNvSpPr/>
          <p:nvPr/>
        </p:nvSpPr>
        <p:spPr>
          <a:xfrm>
            <a:off x="3010582"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2" name="Rounded Rectangle 111"/>
          <p:cNvSpPr/>
          <p:nvPr/>
        </p:nvSpPr>
        <p:spPr>
          <a:xfrm>
            <a:off x="3010582"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3" name="Rounded Rectangle 112"/>
          <p:cNvSpPr/>
          <p:nvPr/>
        </p:nvSpPr>
        <p:spPr>
          <a:xfrm>
            <a:off x="3010582"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4" name="Oval 113"/>
          <p:cNvSpPr/>
          <p:nvPr/>
        </p:nvSpPr>
        <p:spPr>
          <a:xfrm>
            <a:off x="3107113"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5" name="Oval 114"/>
          <p:cNvSpPr/>
          <p:nvPr/>
        </p:nvSpPr>
        <p:spPr>
          <a:xfrm>
            <a:off x="3107113"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6" name="Rounded Rectangle 115"/>
          <p:cNvSpPr/>
          <p:nvPr/>
        </p:nvSpPr>
        <p:spPr>
          <a:xfrm>
            <a:off x="4131491"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Categorye4</a:t>
            </a:r>
          </a:p>
        </p:txBody>
      </p:sp>
      <p:sp>
        <p:nvSpPr>
          <p:cNvPr id="117" name="Rounded Rectangle 116"/>
          <p:cNvSpPr/>
          <p:nvPr/>
        </p:nvSpPr>
        <p:spPr>
          <a:xfrm>
            <a:off x="4170840"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8" name="Rounded Rectangle 117"/>
          <p:cNvSpPr/>
          <p:nvPr/>
        </p:nvSpPr>
        <p:spPr>
          <a:xfrm>
            <a:off x="4170840"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9" name="Rounded Rectangle 118"/>
          <p:cNvSpPr/>
          <p:nvPr/>
        </p:nvSpPr>
        <p:spPr>
          <a:xfrm>
            <a:off x="4170840"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0" name="Rounded Rectangle 119"/>
          <p:cNvSpPr/>
          <p:nvPr/>
        </p:nvSpPr>
        <p:spPr>
          <a:xfrm>
            <a:off x="4170840"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1" name="Oval 120"/>
          <p:cNvSpPr/>
          <p:nvPr/>
        </p:nvSpPr>
        <p:spPr>
          <a:xfrm>
            <a:off x="4267371"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2" name="Oval 121"/>
          <p:cNvSpPr/>
          <p:nvPr/>
        </p:nvSpPr>
        <p:spPr>
          <a:xfrm>
            <a:off x="4267371"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3" name="Rounded Rectangle 122"/>
          <p:cNvSpPr/>
          <p:nvPr/>
        </p:nvSpPr>
        <p:spPr>
          <a:xfrm>
            <a:off x="5291749"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Categorye5</a:t>
            </a:r>
          </a:p>
        </p:txBody>
      </p:sp>
      <p:sp>
        <p:nvSpPr>
          <p:cNvPr id="124" name="Rounded Rectangle 123"/>
          <p:cNvSpPr/>
          <p:nvPr/>
        </p:nvSpPr>
        <p:spPr>
          <a:xfrm>
            <a:off x="5331098"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5" name="Rounded Rectangle 124"/>
          <p:cNvSpPr/>
          <p:nvPr/>
        </p:nvSpPr>
        <p:spPr>
          <a:xfrm>
            <a:off x="5331098"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6" name="Rounded Rectangle 125"/>
          <p:cNvSpPr/>
          <p:nvPr/>
        </p:nvSpPr>
        <p:spPr>
          <a:xfrm>
            <a:off x="5331098"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7" name="Rounded Rectangle 126"/>
          <p:cNvSpPr/>
          <p:nvPr/>
        </p:nvSpPr>
        <p:spPr>
          <a:xfrm>
            <a:off x="5331098"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8" name="Oval 127"/>
          <p:cNvSpPr/>
          <p:nvPr/>
        </p:nvSpPr>
        <p:spPr>
          <a:xfrm>
            <a:off x="5427629"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9" name="Oval 128"/>
          <p:cNvSpPr/>
          <p:nvPr/>
        </p:nvSpPr>
        <p:spPr>
          <a:xfrm>
            <a:off x="5427629"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0" name="Rounded Rectangle 129"/>
          <p:cNvSpPr/>
          <p:nvPr/>
        </p:nvSpPr>
        <p:spPr>
          <a:xfrm>
            <a:off x="6452007"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Categorye6</a:t>
            </a:r>
          </a:p>
        </p:txBody>
      </p:sp>
      <p:sp>
        <p:nvSpPr>
          <p:cNvPr id="131" name="Rounded Rectangle 130"/>
          <p:cNvSpPr/>
          <p:nvPr/>
        </p:nvSpPr>
        <p:spPr>
          <a:xfrm>
            <a:off x="6491356"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2" name="Rounded Rectangle 131"/>
          <p:cNvSpPr/>
          <p:nvPr/>
        </p:nvSpPr>
        <p:spPr>
          <a:xfrm>
            <a:off x="6491356"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3" name="Rounded Rectangle 132"/>
          <p:cNvSpPr/>
          <p:nvPr/>
        </p:nvSpPr>
        <p:spPr>
          <a:xfrm>
            <a:off x="6491356"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4" name="Rounded Rectangle 133"/>
          <p:cNvSpPr/>
          <p:nvPr/>
        </p:nvSpPr>
        <p:spPr>
          <a:xfrm>
            <a:off x="6491356"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5" name="Oval 134"/>
          <p:cNvSpPr/>
          <p:nvPr/>
        </p:nvSpPr>
        <p:spPr>
          <a:xfrm>
            <a:off x="6587887"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Oval 135"/>
          <p:cNvSpPr/>
          <p:nvPr/>
        </p:nvSpPr>
        <p:spPr>
          <a:xfrm>
            <a:off x="6587887"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7" name="Rounded Rectangle 136"/>
          <p:cNvSpPr/>
          <p:nvPr/>
        </p:nvSpPr>
        <p:spPr>
          <a:xfrm>
            <a:off x="7612265"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Categorye7</a:t>
            </a:r>
          </a:p>
        </p:txBody>
      </p:sp>
      <p:sp>
        <p:nvSpPr>
          <p:cNvPr id="138" name="Rounded Rectangle 137"/>
          <p:cNvSpPr/>
          <p:nvPr/>
        </p:nvSpPr>
        <p:spPr>
          <a:xfrm>
            <a:off x="7651614"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9" name="Rounded Rectangle 138"/>
          <p:cNvSpPr/>
          <p:nvPr/>
        </p:nvSpPr>
        <p:spPr>
          <a:xfrm>
            <a:off x="7651614"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0" name="Rounded Rectangle 139"/>
          <p:cNvSpPr/>
          <p:nvPr/>
        </p:nvSpPr>
        <p:spPr>
          <a:xfrm>
            <a:off x="7651614"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1" name="Rounded Rectangle 140"/>
          <p:cNvSpPr/>
          <p:nvPr/>
        </p:nvSpPr>
        <p:spPr>
          <a:xfrm>
            <a:off x="7651614"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2" name="Oval 141"/>
          <p:cNvSpPr/>
          <p:nvPr/>
        </p:nvSpPr>
        <p:spPr>
          <a:xfrm>
            <a:off x="7748145"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3" name="Oval 142"/>
          <p:cNvSpPr/>
          <p:nvPr/>
        </p:nvSpPr>
        <p:spPr>
          <a:xfrm>
            <a:off x="7748145"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44" name="Elbow Connector 143"/>
          <p:cNvCxnSpPr>
            <a:endCxn id="116" idx="0"/>
          </p:cNvCxnSpPr>
          <p:nvPr/>
        </p:nvCxnSpPr>
        <p:spPr>
          <a:xfrm rot="5400000">
            <a:off x="4822771" y="1290653"/>
            <a:ext cx="285750" cy="57103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45" name="Elbow Connector 144"/>
          <p:cNvCxnSpPr>
            <a:endCxn id="123" idx="0"/>
          </p:cNvCxnSpPr>
          <p:nvPr/>
        </p:nvCxnSpPr>
        <p:spPr>
          <a:xfrm rot="16200000" flipH="1">
            <a:off x="5402900" y="1281554"/>
            <a:ext cx="285750" cy="58922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169</a:t>
            </a:fld>
            <a:endParaRPr lang="en-GB" dirty="0"/>
          </a:p>
        </p:txBody>
      </p:sp>
    </p:spTree>
    <p:extLst>
      <p:ext uri="{BB962C8B-B14F-4D97-AF65-F5344CB8AC3E}">
        <p14:creationId xmlns:p14="http://schemas.microsoft.com/office/powerpoint/2010/main" val="1018831877"/>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Category-E</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Category-E</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059524" y="-472594"/>
            <a:ext cx="285750" cy="409752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68052" y="-483599"/>
            <a:ext cx="285750" cy="4119533"/>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Categorye1</a:t>
            </a:r>
          </a:p>
        </p:txBody>
      </p:sp>
      <p:sp>
        <p:nvSpPr>
          <p:cNvPr id="85" name="Rounded Rectangle 84"/>
          <p:cNvSpPr/>
          <p:nvPr/>
        </p:nvSpPr>
        <p:spPr>
          <a:xfrm>
            <a:off x="686787"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86787"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86787"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86787"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75273"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75273"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867774"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Categorye9</a:t>
            </a:r>
          </a:p>
        </p:txBody>
      </p:sp>
      <p:sp>
        <p:nvSpPr>
          <p:cNvPr id="92" name="Rounded Rectangle 91"/>
          <p:cNvSpPr/>
          <p:nvPr/>
        </p:nvSpPr>
        <p:spPr>
          <a:xfrm>
            <a:off x="8903303" y="2272179"/>
            <a:ext cx="93478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903303" y="3461824"/>
            <a:ext cx="93478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903303" y="4297478"/>
            <a:ext cx="93478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903303" y="5487125"/>
            <a:ext cx="93478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991892" y="2849594"/>
            <a:ext cx="75760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991892" y="4874894"/>
            <a:ext cx="75760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4" idx="0"/>
          </p:cNvCxnSpPr>
          <p:nvPr/>
        </p:nvCxnSpPr>
        <p:spPr>
          <a:xfrm rot="5400000">
            <a:off x="3573090" y="40972"/>
            <a:ext cx="285750" cy="307039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46" idx="0"/>
          </p:cNvCxnSpPr>
          <p:nvPr/>
        </p:nvCxnSpPr>
        <p:spPr>
          <a:xfrm rot="16200000" flipH="1">
            <a:off x="6654486" y="29968"/>
            <a:ext cx="285750" cy="309240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11" idx="0"/>
          </p:cNvCxnSpPr>
          <p:nvPr/>
        </p:nvCxnSpPr>
        <p:spPr>
          <a:xfrm rot="5400000">
            <a:off x="4086656" y="554538"/>
            <a:ext cx="285750" cy="204326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39" idx="0"/>
          </p:cNvCxnSpPr>
          <p:nvPr/>
        </p:nvCxnSpPr>
        <p:spPr>
          <a:xfrm rot="16200000" flipH="1">
            <a:off x="6140920" y="543534"/>
            <a:ext cx="285750" cy="206526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Elbow Connector 101"/>
          <p:cNvCxnSpPr>
            <a:endCxn id="118" idx="0"/>
          </p:cNvCxnSpPr>
          <p:nvPr/>
        </p:nvCxnSpPr>
        <p:spPr>
          <a:xfrm rot="5400000">
            <a:off x="4600222" y="1068104"/>
            <a:ext cx="285750" cy="1016128"/>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endCxn id="132" idx="0"/>
          </p:cNvCxnSpPr>
          <p:nvPr/>
        </p:nvCxnSpPr>
        <p:spPr>
          <a:xfrm rot="16200000" flipH="1">
            <a:off x="5627354" y="1057100"/>
            <a:ext cx="285750" cy="103813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4" name="Rounded Rectangle 103"/>
          <p:cNvSpPr/>
          <p:nvPr/>
        </p:nvSpPr>
        <p:spPr>
          <a:xfrm>
            <a:off x="1677849"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Categorye2</a:t>
            </a:r>
          </a:p>
        </p:txBody>
      </p:sp>
      <p:sp>
        <p:nvSpPr>
          <p:cNvPr id="105" name="Rounded Rectangle 104"/>
          <p:cNvSpPr/>
          <p:nvPr/>
        </p:nvSpPr>
        <p:spPr>
          <a:xfrm>
            <a:off x="1713919"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6" name="Rounded Rectangle 105"/>
          <p:cNvSpPr/>
          <p:nvPr/>
        </p:nvSpPr>
        <p:spPr>
          <a:xfrm>
            <a:off x="1713919"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7" name="Rounded Rectangle 106"/>
          <p:cNvSpPr/>
          <p:nvPr/>
        </p:nvSpPr>
        <p:spPr>
          <a:xfrm>
            <a:off x="1713919"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8" name="Rounded Rectangle 107"/>
          <p:cNvSpPr/>
          <p:nvPr/>
        </p:nvSpPr>
        <p:spPr>
          <a:xfrm>
            <a:off x="1713919"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9" name="Oval 108"/>
          <p:cNvSpPr/>
          <p:nvPr/>
        </p:nvSpPr>
        <p:spPr>
          <a:xfrm>
            <a:off x="1802405"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0" name="Oval 109"/>
          <p:cNvSpPr/>
          <p:nvPr/>
        </p:nvSpPr>
        <p:spPr>
          <a:xfrm>
            <a:off x="1802405"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1" name="Rounded Rectangle 110"/>
          <p:cNvSpPr/>
          <p:nvPr/>
        </p:nvSpPr>
        <p:spPr>
          <a:xfrm>
            <a:off x="2704981"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Categorye3</a:t>
            </a:r>
          </a:p>
        </p:txBody>
      </p:sp>
      <p:sp>
        <p:nvSpPr>
          <p:cNvPr id="112" name="Rounded Rectangle 111"/>
          <p:cNvSpPr/>
          <p:nvPr/>
        </p:nvSpPr>
        <p:spPr>
          <a:xfrm>
            <a:off x="2741051"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3" name="Rounded Rectangle 112"/>
          <p:cNvSpPr/>
          <p:nvPr/>
        </p:nvSpPr>
        <p:spPr>
          <a:xfrm>
            <a:off x="2741051"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4" name="Rounded Rectangle 113"/>
          <p:cNvSpPr/>
          <p:nvPr/>
        </p:nvSpPr>
        <p:spPr>
          <a:xfrm>
            <a:off x="2741051"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5" name="Rounded Rectangle 114"/>
          <p:cNvSpPr/>
          <p:nvPr/>
        </p:nvSpPr>
        <p:spPr>
          <a:xfrm>
            <a:off x="2741051"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6" name="Oval 115"/>
          <p:cNvSpPr/>
          <p:nvPr/>
        </p:nvSpPr>
        <p:spPr>
          <a:xfrm>
            <a:off x="2829537"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7" name="Oval 116"/>
          <p:cNvSpPr/>
          <p:nvPr/>
        </p:nvSpPr>
        <p:spPr>
          <a:xfrm>
            <a:off x="2829537"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8" name="Rounded Rectangle 117"/>
          <p:cNvSpPr/>
          <p:nvPr/>
        </p:nvSpPr>
        <p:spPr>
          <a:xfrm>
            <a:off x="3732113"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Categorye4</a:t>
            </a:r>
          </a:p>
        </p:txBody>
      </p:sp>
      <p:sp>
        <p:nvSpPr>
          <p:cNvPr id="119" name="Rounded Rectangle 118"/>
          <p:cNvSpPr/>
          <p:nvPr/>
        </p:nvSpPr>
        <p:spPr>
          <a:xfrm>
            <a:off x="3768183"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0" name="Rounded Rectangle 119"/>
          <p:cNvSpPr/>
          <p:nvPr/>
        </p:nvSpPr>
        <p:spPr>
          <a:xfrm>
            <a:off x="3768183"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1" name="Rounded Rectangle 120"/>
          <p:cNvSpPr/>
          <p:nvPr/>
        </p:nvSpPr>
        <p:spPr>
          <a:xfrm>
            <a:off x="3768183"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2" name="Rounded Rectangle 121"/>
          <p:cNvSpPr/>
          <p:nvPr/>
        </p:nvSpPr>
        <p:spPr>
          <a:xfrm>
            <a:off x="3768183"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3" name="Oval 122"/>
          <p:cNvSpPr/>
          <p:nvPr/>
        </p:nvSpPr>
        <p:spPr>
          <a:xfrm>
            <a:off x="3856669"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4" name="Oval 123"/>
          <p:cNvSpPr/>
          <p:nvPr/>
        </p:nvSpPr>
        <p:spPr>
          <a:xfrm>
            <a:off x="3856669"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5" name="Rounded Rectangle 124"/>
          <p:cNvSpPr/>
          <p:nvPr/>
        </p:nvSpPr>
        <p:spPr>
          <a:xfrm>
            <a:off x="4759245"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Categorye5</a:t>
            </a:r>
          </a:p>
        </p:txBody>
      </p:sp>
      <p:sp>
        <p:nvSpPr>
          <p:cNvPr id="126" name="Rounded Rectangle 125"/>
          <p:cNvSpPr/>
          <p:nvPr/>
        </p:nvSpPr>
        <p:spPr>
          <a:xfrm>
            <a:off x="4795315"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7" name="Rounded Rectangle 126"/>
          <p:cNvSpPr/>
          <p:nvPr/>
        </p:nvSpPr>
        <p:spPr>
          <a:xfrm>
            <a:off x="4795315"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8" name="Rounded Rectangle 127"/>
          <p:cNvSpPr/>
          <p:nvPr/>
        </p:nvSpPr>
        <p:spPr>
          <a:xfrm>
            <a:off x="4795315"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9" name="Rounded Rectangle 128"/>
          <p:cNvSpPr/>
          <p:nvPr/>
        </p:nvSpPr>
        <p:spPr>
          <a:xfrm>
            <a:off x="4795315"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0" name="Oval 129"/>
          <p:cNvSpPr/>
          <p:nvPr/>
        </p:nvSpPr>
        <p:spPr>
          <a:xfrm>
            <a:off x="4883801"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1" name="Oval 130"/>
          <p:cNvSpPr/>
          <p:nvPr/>
        </p:nvSpPr>
        <p:spPr>
          <a:xfrm>
            <a:off x="4883801"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2" name="Rounded Rectangle 131"/>
          <p:cNvSpPr/>
          <p:nvPr/>
        </p:nvSpPr>
        <p:spPr>
          <a:xfrm>
            <a:off x="5786377"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Categorye6</a:t>
            </a:r>
          </a:p>
        </p:txBody>
      </p:sp>
      <p:sp>
        <p:nvSpPr>
          <p:cNvPr id="133" name="Rounded Rectangle 132"/>
          <p:cNvSpPr/>
          <p:nvPr/>
        </p:nvSpPr>
        <p:spPr>
          <a:xfrm>
            <a:off x="5822447"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4" name="Rounded Rectangle 133"/>
          <p:cNvSpPr/>
          <p:nvPr/>
        </p:nvSpPr>
        <p:spPr>
          <a:xfrm>
            <a:off x="5822447"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5" name="Rounded Rectangle 134"/>
          <p:cNvSpPr/>
          <p:nvPr/>
        </p:nvSpPr>
        <p:spPr>
          <a:xfrm>
            <a:off x="5822447"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6" name="Rounded Rectangle 135"/>
          <p:cNvSpPr/>
          <p:nvPr/>
        </p:nvSpPr>
        <p:spPr>
          <a:xfrm>
            <a:off x="5822447"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7" name="Oval 136"/>
          <p:cNvSpPr/>
          <p:nvPr/>
        </p:nvSpPr>
        <p:spPr>
          <a:xfrm>
            <a:off x="5910933"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8" name="Oval 137"/>
          <p:cNvSpPr/>
          <p:nvPr/>
        </p:nvSpPr>
        <p:spPr>
          <a:xfrm>
            <a:off x="5910933"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9" name="Rounded Rectangle 138"/>
          <p:cNvSpPr/>
          <p:nvPr/>
        </p:nvSpPr>
        <p:spPr>
          <a:xfrm>
            <a:off x="6813509"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Categorye7</a:t>
            </a:r>
          </a:p>
        </p:txBody>
      </p:sp>
      <p:sp>
        <p:nvSpPr>
          <p:cNvPr id="140" name="Rounded Rectangle 139"/>
          <p:cNvSpPr/>
          <p:nvPr/>
        </p:nvSpPr>
        <p:spPr>
          <a:xfrm>
            <a:off x="6849579"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1" name="Rounded Rectangle 140"/>
          <p:cNvSpPr/>
          <p:nvPr/>
        </p:nvSpPr>
        <p:spPr>
          <a:xfrm>
            <a:off x="6849579"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2" name="Rounded Rectangle 141"/>
          <p:cNvSpPr/>
          <p:nvPr/>
        </p:nvSpPr>
        <p:spPr>
          <a:xfrm>
            <a:off x="6849579"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3" name="Rounded Rectangle 142"/>
          <p:cNvSpPr/>
          <p:nvPr/>
        </p:nvSpPr>
        <p:spPr>
          <a:xfrm>
            <a:off x="6849579"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4" name="Oval 143"/>
          <p:cNvSpPr/>
          <p:nvPr/>
        </p:nvSpPr>
        <p:spPr>
          <a:xfrm>
            <a:off x="6938065"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5" name="Oval 144"/>
          <p:cNvSpPr/>
          <p:nvPr/>
        </p:nvSpPr>
        <p:spPr>
          <a:xfrm>
            <a:off x="6938065"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6" name="Rounded Rectangle 145"/>
          <p:cNvSpPr/>
          <p:nvPr/>
        </p:nvSpPr>
        <p:spPr>
          <a:xfrm>
            <a:off x="7840641"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Categorye8</a:t>
            </a:r>
          </a:p>
        </p:txBody>
      </p:sp>
      <p:sp>
        <p:nvSpPr>
          <p:cNvPr id="147" name="Rounded Rectangle 146"/>
          <p:cNvSpPr/>
          <p:nvPr/>
        </p:nvSpPr>
        <p:spPr>
          <a:xfrm>
            <a:off x="7876711"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8" name="Rounded Rectangle 147"/>
          <p:cNvSpPr/>
          <p:nvPr/>
        </p:nvSpPr>
        <p:spPr>
          <a:xfrm>
            <a:off x="7876711"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9" name="Rounded Rectangle 148"/>
          <p:cNvSpPr/>
          <p:nvPr/>
        </p:nvSpPr>
        <p:spPr>
          <a:xfrm>
            <a:off x="7876711"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50" name="Rounded Rectangle 149"/>
          <p:cNvSpPr/>
          <p:nvPr/>
        </p:nvSpPr>
        <p:spPr>
          <a:xfrm>
            <a:off x="7876711"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51" name="Oval 150"/>
          <p:cNvSpPr/>
          <p:nvPr/>
        </p:nvSpPr>
        <p:spPr>
          <a:xfrm>
            <a:off x="7965197"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0" name="Oval 199"/>
          <p:cNvSpPr/>
          <p:nvPr/>
        </p:nvSpPr>
        <p:spPr>
          <a:xfrm>
            <a:off x="7965197"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201" name="Elbow Connector 200"/>
          <p:cNvCxnSpPr>
            <a:endCxn id="125" idx="0"/>
          </p:cNvCxnSpPr>
          <p:nvPr/>
        </p:nvCxnSpPr>
        <p:spPr>
          <a:xfrm rot="16200000" flipH="1">
            <a:off x="5113788" y="1570666"/>
            <a:ext cx="285750" cy="1100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170</a:t>
            </a:fld>
            <a:endParaRPr lang="en-GB" dirty="0"/>
          </a:p>
        </p:txBody>
      </p:sp>
    </p:spTree>
    <p:extLst>
      <p:ext uri="{BB962C8B-B14F-4D97-AF65-F5344CB8AC3E}">
        <p14:creationId xmlns:p14="http://schemas.microsoft.com/office/powerpoint/2010/main" val="2290155879"/>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Category-E</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Category-E</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002977" y="-529141"/>
            <a:ext cx="285750" cy="42106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216880" y="-532427"/>
            <a:ext cx="285750" cy="421718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464951" y="2507208"/>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464951" y="3696853"/>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464951" y="4532507"/>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464951" y="5722154"/>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583342"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Categorye1</a:t>
            </a:r>
          </a:p>
        </p:txBody>
      </p:sp>
      <p:sp>
        <p:nvSpPr>
          <p:cNvPr id="85" name="Rounded Rectangle 84"/>
          <p:cNvSpPr/>
          <p:nvPr/>
        </p:nvSpPr>
        <p:spPr>
          <a:xfrm>
            <a:off x="616133"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16133"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16133"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16133"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696575"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69657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9011150"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Categorye10</a:t>
            </a:r>
          </a:p>
        </p:txBody>
      </p:sp>
      <p:sp>
        <p:nvSpPr>
          <p:cNvPr id="92" name="Rounded Rectangle 91"/>
          <p:cNvSpPr/>
          <p:nvPr/>
        </p:nvSpPr>
        <p:spPr>
          <a:xfrm>
            <a:off x="9043449" y="2272179"/>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9043449" y="3461824"/>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9043449" y="4297478"/>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9043449" y="5487125"/>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9123984" y="28495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9123984" y="48748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5" idx="0"/>
          </p:cNvCxnSpPr>
          <p:nvPr/>
        </p:nvCxnSpPr>
        <p:spPr>
          <a:xfrm rot="5400000">
            <a:off x="3471188" y="-60930"/>
            <a:ext cx="285750" cy="327419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202" idx="0"/>
          </p:cNvCxnSpPr>
          <p:nvPr/>
        </p:nvCxnSpPr>
        <p:spPr>
          <a:xfrm rot="16200000" flipH="1">
            <a:off x="6748668" y="-64215"/>
            <a:ext cx="285750" cy="3280765"/>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12" idx="0"/>
          </p:cNvCxnSpPr>
          <p:nvPr/>
        </p:nvCxnSpPr>
        <p:spPr>
          <a:xfrm rot="5400000">
            <a:off x="3939400" y="407282"/>
            <a:ext cx="285750" cy="2337773"/>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47" idx="0"/>
          </p:cNvCxnSpPr>
          <p:nvPr/>
        </p:nvCxnSpPr>
        <p:spPr>
          <a:xfrm rot="16200000" flipH="1">
            <a:off x="6280457" y="403997"/>
            <a:ext cx="285750" cy="234434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Elbow Connector 101"/>
          <p:cNvCxnSpPr>
            <a:endCxn id="119" idx="0"/>
          </p:cNvCxnSpPr>
          <p:nvPr/>
        </p:nvCxnSpPr>
        <p:spPr>
          <a:xfrm rot="5400000">
            <a:off x="4407611" y="875493"/>
            <a:ext cx="285750" cy="140135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endCxn id="140" idx="0"/>
          </p:cNvCxnSpPr>
          <p:nvPr/>
        </p:nvCxnSpPr>
        <p:spPr>
          <a:xfrm rot="16200000" flipH="1">
            <a:off x="5812245" y="872208"/>
            <a:ext cx="285750" cy="1407919"/>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4" name="Elbow Connector 103"/>
          <p:cNvCxnSpPr>
            <a:endCxn id="133" idx="0"/>
          </p:cNvCxnSpPr>
          <p:nvPr/>
        </p:nvCxnSpPr>
        <p:spPr>
          <a:xfrm rot="16200000" flipH="1">
            <a:off x="5344034" y="1340420"/>
            <a:ext cx="285750" cy="47149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5" name="Rounded Rectangle 104"/>
          <p:cNvSpPr/>
          <p:nvPr/>
        </p:nvSpPr>
        <p:spPr>
          <a:xfrm>
            <a:off x="1519765"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Categorye2</a:t>
            </a:r>
          </a:p>
        </p:txBody>
      </p:sp>
      <p:sp>
        <p:nvSpPr>
          <p:cNvPr id="106" name="Rounded Rectangle 105"/>
          <p:cNvSpPr/>
          <p:nvPr/>
        </p:nvSpPr>
        <p:spPr>
          <a:xfrm>
            <a:off x="1552392"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7" name="Rounded Rectangle 106"/>
          <p:cNvSpPr/>
          <p:nvPr/>
        </p:nvSpPr>
        <p:spPr>
          <a:xfrm>
            <a:off x="1552392"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8" name="Rounded Rectangle 107"/>
          <p:cNvSpPr/>
          <p:nvPr/>
        </p:nvSpPr>
        <p:spPr>
          <a:xfrm>
            <a:off x="1552392"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9" name="Rounded Rectangle 108"/>
          <p:cNvSpPr/>
          <p:nvPr/>
        </p:nvSpPr>
        <p:spPr>
          <a:xfrm>
            <a:off x="1552392"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0" name="Oval 109"/>
          <p:cNvSpPr/>
          <p:nvPr/>
        </p:nvSpPr>
        <p:spPr>
          <a:xfrm>
            <a:off x="168754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1" name="Oval 110"/>
          <p:cNvSpPr/>
          <p:nvPr/>
        </p:nvSpPr>
        <p:spPr>
          <a:xfrm>
            <a:off x="163286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2" name="Rounded Rectangle 111"/>
          <p:cNvSpPr/>
          <p:nvPr/>
        </p:nvSpPr>
        <p:spPr>
          <a:xfrm>
            <a:off x="2456188"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Categorye3</a:t>
            </a:r>
          </a:p>
        </p:txBody>
      </p:sp>
      <p:sp>
        <p:nvSpPr>
          <p:cNvPr id="113" name="Rounded Rectangle 112"/>
          <p:cNvSpPr/>
          <p:nvPr/>
        </p:nvSpPr>
        <p:spPr>
          <a:xfrm>
            <a:off x="2488651"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4" name="Rounded Rectangle 113"/>
          <p:cNvSpPr/>
          <p:nvPr/>
        </p:nvSpPr>
        <p:spPr>
          <a:xfrm>
            <a:off x="2488651"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5" name="Rounded Rectangle 114"/>
          <p:cNvSpPr/>
          <p:nvPr/>
        </p:nvSpPr>
        <p:spPr>
          <a:xfrm>
            <a:off x="2488651"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6" name="Rounded Rectangle 115"/>
          <p:cNvSpPr/>
          <p:nvPr/>
        </p:nvSpPr>
        <p:spPr>
          <a:xfrm>
            <a:off x="2488651"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7" name="Oval 116"/>
          <p:cNvSpPr/>
          <p:nvPr/>
        </p:nvSpPr>
        <p:spPr>
          <a:xfrm>
            <a:off x="261113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8" name="Oval 117"/>
          <p:cNvSpPr/>
          <p:nvPr/>
        </p:nvSpPr>
        <p:spPr>
          <a:xfrm>
            <a:off x="256915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9" name="Rounded Rectangle 118"/>
          <p:cNvSpPr/>
          <p:nvPr/>
        </p:nvSpPr>
        <p:spPr>
          <a:xfrm>
            <a:off x="3392611"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Categorye4</a:t>
            </a:r>
          </a:p>
        </p:txBody>
      </p:sp>
      <p:sp>
        <p:nvSpPr>
          <p:cNvPr id="120" name="Rounded Rectangle 119"/>
          <p:cNvSpPr/>
          <p:nvPr/>
        </p:nvSpPr>
        <p:spPr>
          <a:xfrm>
            <a:off x="3424910"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1" name="Rounded Rectangle 120"/>
          <p:cNvSpPr/>
          <p:nvPr/>
        </p:nvSpPr>
        <p:spPr>
          <a:xfrm>
            <a:off x="3424910"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2" name="Rounded Rectangle 121"/>
          <p:cNvSpPr/>
          <p:nvPr/>
        </p:nvSpPr>
        <p:spPr>
          <a:xfrm>
            <a:off x="3424910"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3" name="Rounded Rectangle 122"/>
          <p:cNvSpPr/>
          <p:nvPr/>
        </p:nvSpPr>
        <p:spPr>
          <a:xfrm>
            <a:off x="3424910"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4" name="Oval 123"/>
          <p:cNvSpPr/>
          <p:nvPr/>
        </p:nvSpPr>
        <p:spPr>
          <a:xfrm>
            <a:off x="353472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5" name="Oval 124"/>
          <p:cNvSpPr/>
          <p:nvPr/>
        </p:nvSpPr>
        <p:spPr>
          <a:xfrm>
            <a:off x="350544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6" name="Rounded Rectangle 125"/>
          <p:cNvSpPr/>
          <p:nvPr/>
        </p:nvSpPr>
        <p:spPr>
          <a:xfrm>
            <a:off x="4329034"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Categorye5</a:t>
            </a:r>
          </a:p>
        </p:txBody>
      </p:sp>
      <p:sp>
        <p:nvSpPr>
          <p:cNvPr id="127" name="Rounded Rectangle 126"/>
          <p:cNvSpPr/>
          <p:nvPr/>
        </p:nvSpPr>
        <p:spPr>
          <a:xfrm>
            <a:off x="4361169"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8" name="Rounded Rectangle 127"/>
          <p:cNvSpPr/>
          <p:nvPr/>
        </p:nvSpPr>
        <p:spPr>
          <a:xfrm>
            <a:off x="4361169"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9" name="Rounded Rectangle 128"/>
          <p:cNvSpPr/>
          <p:nvPr/>
        </p:nvSpPr>
        <p:spPr>
          <a:xfrm>
            <a:off x="4361169"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0" name="Rounded Rectangle 129"/>
          <p:cNvSpPr/>
          <p:nvPr/>
        </p:nvSpPr>
        <p:spPr>
          <a:xfrm>
            <a:off x="4361169"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1" name="Oval 130"/>
          <p:cNvSpPr/>
          <p:nvPr/>
        </p:nvSpPr>
        <p:spPr>
          <a:xfrm>
            <a:off x="445831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2" name="Oval 131"/>
          <p:cNvSpPr/>
          <p:nvPr/>
        </p:nvSpPr>
        <p:spPr>
          <a:xfrm>
            <a:off x="444173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3" name="Rounded Rectangle 132"/>
          <p:cNvSpPr/>
          <p:nvPr/>
        </p:nvSpPr>
        <p:spPr>
          <a:xfrm>
            <a:off x="5265457"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Categorye6</a:t>
            </a:r>
          </a:p>
        </p:txBody>
      </p:sp>
      <p:sp>
        <p:nvSpPr>
          <p:cNvPr id="134" name="Rounded Rectangle 133"/>
          <p:cNvSpPr/>
          <p:nvPr/>
        </p:nvSpPr>
        <p:spPr>
          <a:xfrm>
            <a:off x="5297428"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5" name="Rounded Rectangle 134"/>
          <p:cNvSpPr/>
          <p:nvPr/>
        </p:nvSpPr>
        <p:spPr>
          <a:xfrm>
            <a:off x="5297428"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6" name="Rounded Rectangle 135"/>
          <p:cNvSpPr/>
          <p:nvPr/>
        </p:nvSpPr>
        <p:spPr>
          <a:xfrm>
            <a:off x="5297428"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7" name="Rounded Rectangle 136"/>
          <p:cNvSpPr/>
          <p:nvPr/>
        </p:nvSpPr>
        <p:spPr>
          <a:xfrm>
            <a:off x="5297428"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8" name="Oval 137"/>
          <p:cNvSpPr/>
          <p:nvPr/>
        </p:nvSpPr>
        <p:spPr>
          <a:xfrm>
            <a:off x="538190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9" name="Oval 138"/>
          <p:cNvSpPr/>
          <p:nvPr/>
        </p:nvSpPr>
        <p:spPr>
          <a:xfrm>
            <a:off x="537802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0" name="Rounded Rectangle 139"/>
          <p:cNvSpPr/>
          <p:nvPr/>
        </p:nvSpPr>
        <p:spPr>
          <a:xfrm>
            <a:off x="6201880"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Categorye7</a:t>
            </a:r>
          </a:p>
        </p:txBody>
      </p:sp>
      <p:sp>
        <p:nvSpPr>
          <p:cNvPr id="141" name="Rounded Rectangle 140"/>
          <p:cNvSpPr/>
          <p:nvPr/>
        </p:nvSpPr>
        <p:spPr>
          <a:xfrm>
            <a:off x="6233687"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2" name="Rounded Rectangle 141"/>
          <p:cNvSpPr/>
          <p:nvPr/>
        </p:nvSpPr>
        <p:spPr>
          <a:xfrm>
            <a:off x="6233687"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3" name="Rounded Rectangle 142"/>
          <p:cNvSpPr/>
          <p:nvPr/>
        </p:nvSpPr>
        <p:spPr>
          <a:xfrm>
            <a:off x="6233687"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4" name="Rounded Rectangle 143"/>
          <p:cNvSpPr/>
          <p:nvPr/>
        </p:nvSpPr>
        <p:spPr>
          <a:xfrm>
            <a:off x="6233687"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5" name="Oval 144"/>
          <p:cNvSpPr/>
          <p:nvPr/>
        </p:nvSpPr>
        <p:spPr>
          <a:xfrm>
            <a:off x="630549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6" name="Oval 145"/>
          <p:cNvSpPr/>
          <p:nvPr/>
        </p:nvSpPr>
        <p:spPr>
          <a:xfrm>
            <a:off x="631431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7" name="Rounded Rectangle 146"/>
          <p:cNvSpPr/>
          <p:nvPr/>
        </p:nvSpPr>
        <p:spPr>
          <a:xfrm>
            <a:off x="7138303"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Categorye8</a:t>
            </a:r>
          </a:p>
        </p:txBody>
      </p:sp>
      <p:sp>
        <p:nvSpPr>
          <p:cNvPr id="148" name="Rounded Rectangle 147"/>
          <p:cNvSpPr/>
          <p:nvPr/>
        </p:nvSpPr>
        <p:spPr>
          <a:xfrm>
            <a:off x="7169946"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9" name="Rounded Rectangle 148"/>
          <p:cNvSpPr/>
          <p:nvPr/>
        </p:nvSpPr>
        <p:spPr>
          <a:xfrm>
            <a:off x="7169946"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50" name="Rounded Rectangle 149"/>
          <p:cNvSpPr/>
          <p:nvPr/>
        </p:nvSpPr>
        <p:spPr>
          <a:xfrm>
            <a:off x="7169946"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51" name="Rounded Rectangle 150"/>
          <p:cNvSpPr/>
          <p:nvPr/>
        </p:nvSpPr>
        <p:spPr>
          <a:xfrm>
            <a:off x="7169946"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200" name="Oval 199"/>
          <p:cNvSpPr/>
          <p:nvPr/>
        </p:nvSpPr>
        <p:spPr>
          <a:xfrm>
            <a:off x="722908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1" name="Oval 200"/>
          <p:cNvSpPr/>
          <p:nvPr/>
        </p:nvSpPr>
        <p:spPr>
          <a:xfrm>
            <a:off x="725060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2" name="Rounded Rectangle 201"/>
          <p:cNvSpPr/>
          <p:nvPr/>
        </p:nvSpPr>
        <p:spPr>
          <a:xfrm>
            <a:off x="8074726"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Categorye9</a:t>
            </a:r>
          </a:p>
        </p:txBody>
      </p:sp>
      <p:sp>
        <p:nvSpPr>
          <p:cNvPr id="203" name="Rounded Rectangle 202"/>
          <p:cNvSpPr/>
          <p:nvPr/>
        </p:nvSpPr>
        <p:spPr>
          <a:xfrm>
            <a:off x="8106205" y="2272179"/>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204" name="Rounded Rectangle 203"/>
          <p:cNvSpPr/>
          <p:nvPr/>
        </p:nvSpPr>
        <p:spPr>
          <a:xfrm>
            <a:off x="8106205" y="3461824"/>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205" name="Rounded Rectangle 204"/>
          <p:cNvSpPr/>
          <p:nvPr/>
        </p:nvSpPr>
        <p:spPr>
          <a:xfrm>
            <a:off x="8106205" y="4297478"/>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206" name="Rounded Rectangle 205"/>
          <p:cNvSpPr/>
          <p:nvPr/>
        </p:nvSpPr>
        <p:spPr>
          <a:xfrm>
            <a:off x="8106205" y="5487125"/>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207" name="Oval 206"/>
          <p:cNvSpPr/>
          <p:nvPr/>
        </p:nvSpPr>
        <p:spPr>
          <a:xfrm>
            <a:off x="8152271" y="28495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8" name="Oval 207"/>
          <p:cNvSpPr/>
          <p:nvPr/>
        </p:nvSpPr>
        <p:spPr>
          <a:xfrm>
            <a:off x="8186895" y="48748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209" name="Elbow Connector 208"/>
          <p:cNvCxnSpPr>
            <a:endCxn id="126" idx="0"/>
          </p:cNvCxnSpPr>
          <p:nvPr/>
        </p:nvCxnSpPr>
        <p:spPr>
          <a:xfrm rot="5400000">
            <a:off x="4875823" y="1343705"/>
            <a:ext cx="285750" cy="464927"/>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171</a:t>
            </a:fld>
            <a:endParaRPr lang="en-GB" dirty="0"/>
          </a:p>
        </p:txBody>
      </p:sp>
    </p:spTree>
    <p:extLst>
      <p:ext uri="{BB962C8B-B14F-4D97-AF65-F5344CB8AC3E}">
        <p14:creationId xmlns:p14="http://schemas.microsoft.com/office/powerpoint/2010/main" val="416402105"/>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a:t>Global WXYZ Market Analysis By Category-E</a:t>
            </a:r>
          </a:p>
        </p:txBody>
      </p:sp>
      <p:sp>
        <p:nvSpPr>
          <p:cNvPr id="10" name="Text Placeholder 9"/>
          <p:cNvSpPr>
            <a:spLocks noGrp="1"/>
          </p:cNvSpPr>
          <p:nvPr>
            <p:ph type="body" idx="12"/>
          </p:nvPr>
        </p:nvSpPr>
        <p:spPr/>
        <p:txBody>
          <a:bodyPr/>
          <a:lstStyle/>
          <a:p>
            <a:r>
              <a:rPr lang="en-US" sz="1100" dirty="0"/>
              <a:t>Figure xx: Global WXYZ Market Share and BPS Analysis By Category-E, 2024 &amp; 2034</a:t>
            </a:r>
          </a:p>
        </p:txBody>
      </p:sp>
      <p:sp>
        <p:nvSpPr>
          <p:cNvPr id="12" name="Text Placeholder 11"/>
          <p:cNvSpPr>
            <a:spLocks noGrp="1"/>
          </p:cNvSpPr>
          <p:nvPr>
            <p:ph type="body" idx="14"/>
          </p:nvPr>
        </p:nvSpPr>
        <p:spPr/>
        <p:txBody>
          <a:bodyPr/>
          <a:lstStyle/>
          <a:p>
            <a:r>
              <a:rPr lang="en-US" sz="1100" dirty="0"/>
              <a:t>Figure xx: Global WXYZ Market Y-o-Y Growth Projections By Category-E, 2024 – 2034</a:t>
            </a:r>
          </a:p>
        </p:txBody>
      </p:sp>
      <p:sp>
        <p:nvSpPr>
          <p:cNvPr id="14" name="Text Placeholder 13"/>
          <p:cNvSpPr>
            <a:spLocks noGrp="1"/>
          </p:cNvSpPr>
          <p:nvPr>
            <p:ph type="body" idx="16"/>
          </p:nvPr>
        </p:nvSpPr>
        <p:spPr/>
        <p:txBody>
          <a:bodyPr/>
          <a:lstStyle/>
          <a:p>
            <a:r>
              <a:rPr lang="en-US" dirty="0"/>
              <a:t>Figure xx: Global WXYZ Market Attractiveness Analysis By Category-E, 2024 – 2034</a:t>
            </a:r>
          </a:p>
        </p:txBody>
      </p:sp>
      <p:sp>
        <p:nvSpPr>
          <p:cNvPr id="16" name="TextBox 1"/>
          <p:cNvSpPr txBox="1"/>
          <p:nvPr/>
        </p:nvSpPr>
        <p:spPr>
          <a:xfrm>
            <a:off x="719359" y="1695973"/>
            <a:ext cx="80631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B!Y! </a:t>
            </a:r>
            <a:r>
              <a:rPr lang="en-US" sz="1200" b="1" dirty="0" err="1"/>
              <a:t>Mn</a:t>
            </a:r>
            <a:endParaRPr lang="en-US" sz="1200" b="1" dirty="0"/>
          </a:p>
        </p:txBody>
      </p:sp>
      <p:sp>
        <p:nvSpPr>
          <p:cNvPr id="17" name="TextBox 9"/>
          <p:cNvSpPr txBox="1"/>
          <p:nvPr/>
        </p:nvSpPr>
        <p:spPr>
          <a:xfrm>
            <a:off x="2479917" y="1656252"/>
            <a:ext cx="79028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F!Y! </a:t>
            </a:r>
            <a:r>
              <a:rPr lang="en-US" sz="1200" b="1" dirty="0" err="1"/>
              <a:t>Mn</a:t>
            </a:r>
            <a:endParaRPr lang="en-US" sz="1200" b="1" dirty="0"/>
          </a:p>
        </p:txBody>
      </p:sp>
      <p:sp>
        <p:nvSpPr>
          <p:cNvPr id="13" name="TextBox 1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21" name="Content Placeholder 14"/>
          <p:cNvGraphicFramePr>
            <a:graphicFrameLocks noGrp="1"/>
          </p:cNvGraphicFramePr>
          <p:nvPr>
            <p:ph idx="1"/>
          </p:nvPr>
        </p:nvGraphicFramePr>
        <p:xfrm>
          <a:off x="152400" y="1612900"/>
          <a:ext cx="3768725" cy="459422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2" name="Content Placeholder 19"/>
          <p:cNvGraphicFramePr>
            <a:graphicFrameLocks noGrp="1"/>
          </p:cNvGraphicFramePr>
          <p:nvPr>
            <p:ph idx="15"/>
          </p:nvPr>
        </p:nvGraphicFramePr>
        <p:xfrm>
          <a:off x="8274050" y="1612900"/>
          <a:ext cx="3768725" cy="459422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3" name="Content Placeholder 17"/>
          <p:cNvGraphicFramePr>
            <a:graphicFrameLocks noGrp="1"/>
          </p:cNvGraphicFramePr>
          <p:nvPr>
            <p:ph idx="13"/>
          </p:nvPr>
        </p:nvGraphicFramePr>
        <p:xfrm>
          <a:off x="4213225" y="1612900"/>
          <a:ext cx="3768725" cy="4594225"/>
        </p:xfrm>
        <a:graphic>
          <a:graphicData uri="http://schemas.openxmlformats.org/drawingml/2006/chart">
            <c:chart xmlns:c="http://schemas.openxmlformats.org/drawingml/2006/chart" xmlns:r="http://schemas.openxmlformats.org/officeDocument/2006/relationships" r:id="rId4"/>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172</a:t>
            </a:fld>
            <a:endParaRPr lang="en-GB" dirty="0"/>
          </a:p>
        </p:txBody>
      </p:sp>
    </p:spTree>
    <p:extLst>
      <p:ext uri="{BB962C8B-B14F-4D97-AF65-F5344CB8AC3E}">
        <p14:creationId xmlns:p14="http://schemas.microsoft.com/office/powerpoint/2010/main" val="2824673575"/>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Placeholder 10"/>
          <p:cNvSpPr>
            <a:spLocks noGrp="1"/>
          </p:cNvSpPr>
          <p:nvPr>
            <p:ph type="body" idx="12"/>
          </p:nvPr>
        </p:nvSpPr>
        <p:spPr/>
        <p:txBody>
          <a:bodyPr/>
          <a:lstStyle/>
          <a:p>
            <a:r>
              <a:rPr lang="en-US" sz="1400" dirty="0"/>
              <a:t>Table xx: Global WXYZ Market Size (US$ </a:t>
            </a:r>
            <a:r>
              <a:rPr lang="en-US" sz="1400" dirty="0" err="1"/>
              <a:t>Mn</a:t>
            </a:r>
            <a:r>
              <a:rPr lang="en-US" sz="1400" dirty="0"/>
              <a:t>) and Volume (Tons) Analysis and Forecast By Category-E, 2019 – 2034</a:t>
            </a:r>
          </a:p>
        </p:txBody>
      </p:sp>
      <p:graphicFrame>
        <p:nvGraphicFramePr>
          <p:cNvPr id="12" name="Content Placeholder 9"/>
          <p:cNvGraphicFramePr>
            <a:graphicFrameLocks/>
          </p:cNvGraphicFramePr>
          <p:nvPr/>
        </p:nvGraphicFramePr>
        <p:xfrm>
          <a:off x="152399" y="1674052"/>
          <a:ext cx="11887207" cy="4469976"/>
        </p:xfrm>
        <a:graphic>
          <a:graphicData uri="http://schemas.openxmlformats.org/drawingml/2006/table">
            <a:tbl>
              <a:tblPr firstRow="1" bandRow="1">
                <a:tableStyleId>{5C22544A-7EE6-4342-B048-85BDC9FD1C3A}</a:tableStyleId>
              </a:tblPr>
              <a:tblGrid>
                <a:gridCol w="897220">
                  <a:extLst>
                    <a:ext uri="{9D8B030D-6E8A-4147-A177-3AD203B41FA5}">
                      <a16:colId xmlns:a16="http://schemas.microsoft.com/office/drawing/2014/main" val="20000"/>
                    </a:ext>
                  </a:extLst>
                </a:gridCol>
                <a:gridCol w="360618">
                  <a:extLst>
                    <a:ext uri="{9D8B030D-6E8A-4147-A177-3AD203B41FA5}">
                      <a16:colId xmlns:a16="http://schemas.microsoft.com/office/drawing/2014/main" val="20018"/>
                    </a:ext>
                  </a:extLst>
                </a:gridCol>
                <a:gridCol w="625257">
                  <a:extLst>
                    <a:ext uri="{9D8B030D-6E8A-4147-A177-3AD203B41FA5}">
                      <a16:colId xmlns:a16="http://schemas.microsoft.com/office/drawing/2014/main" val="20001"/>
                    </a:ext>
                  </a:extLst>
                </a:gridCol>
                <a:gridCol w="625257">
                  <a:extLst>
                    <a:ext uri="{9D8B030D-6E8A-4147-A177-3AD203B41FA5}">
                      <a16:colId xmlns:a16="http://schemas.microsoft.com/office/drawing/2014/main" val="20002"/>
                    </a:ext>
                  </a:extLst>
                </a:gridCol>
                <a:gridCol w="625257">
                  <a:extLst>
                    <a:ext uri="{9D8B030D-6E8A-4147-A177-3AD203B41FA5}">
                      <a16:colId xmlns:a16="http://schemas.microsoft.com/office/drawing/2014/main" val="20003"/>
                    </a:ext>
                  </a:extLst>
                </a:gridCol>
                <a:gridCol w="625257">
                  <a:extLst>
                    <a:ext uri="{9D8B030D-6E8A-4147-A177-3AD203B41FA5}">
                      <a16:colId xmlns:a16="http://schemas.microsoft.com/office/drawing/2014/main" val="20004"/>
                    </a:ext>
                  </a:extLst>
                </a:gridCol>
                <a:gridCol w="625257">
                  <a:extLst>
                    <a:ext uri="{9D8B030D-6E8A-4147-A177-3AD203B41FA5}">
                      <a16:colId xmlns:a16="http://schemas.microsoft.com/office/drawing/2014/main" val="20005"/>
                    </a:ext>
                  </a:extLst>
                </a:gridCol>
                <a:gridCol w="625257">
                  <a:extLst>
                    <a:ext uri="{9D8B030D-6E8A-4147-A177-3AD203B41FA5}">
                      <a16:colId xmlns:a16="http://schemas.microsoft.com/office/drawing/2014/main" val="20006"/>
                    </a:ext>
                  </a:extLst>
                </a:gridCol>
                <a:gridCol w="625257">
                  <a:extLst>
                    <a:ext uri="{9D8B030D-6E8A-4147-A177-3AD203B41FA5}">
                      <a16:colId xmlns:a16="http://schemas.microsoft.com/office/drawing/2014/main" val="20007"/>
                    </a:ext>
                  </a:extLst>
                </a:gridCol>
                <a:gridCol w="625257">
                  <a:extLst>
                    <a:ext uri="{9D8B030D-6E8A-4147-A177-3AD203B41FA5}">
                      <a16:colId xmlns:a16="http://schemas.microsoft.com/office/drawing/2014/main" val="20008"/>
                    </a:ext>
                  </a:extLst>
                </a:gridCol>
                <a:gridCol w="625257">
                  <a:extLst>
                    <a:ext uri="{9D8B030D-6E8A-4147-A177-3AD203B41FA5}">
                      <a16:colId xmlns:a16="http://schemas.microsoft.com/office/drawing/2014/main" val="20009"/>
                    </a:ext>
                  </a:extLst>
                </a:gridCol>
                <a:gridCol w="625257">
                  <a:extLst>
                    <a:ext uri="{9D8B030D-6E8A-4147-A177-3AD203B41FA5}">
                      <a16:colId xmlns:a16="http://schemas.microsoft.com/office/drawing/2014/main" val="20010"/>
                    </a:ext>
                  </a:extLst>
                </a:gridCol>
                <a:gridCol w="625257">
                  <a:extLst>
                    <a:ext uri="{9D8B030D-6E8A-4147-A177-3AD203B41FA5}">
                      <a16:colId xmlns:a16="http://schemas.microsoft.com/office/drawing/2014/main" val="20011"/>
                    </a:ext>
                  </a:extLst>
                </a:gridCol>
                <a:gridCol w="625257">
                  <a:extLst>
                    <a:ext uri="{9D8B030D-6E8A-4147-A177-3AD203B41FA5}">
                      <a16:colId xmlns:a16="http://schemas.microsoft.com/office/drawing/2014/main" val="20012"/>
                    </a:ext>
                  </a:extLst>
                </a:gridCol>
                <a:gridCol w="625257">
                  <a:extLst>
                    <a:ext uri="{9D8B030D-6E8A-4147-A177-3AD203B41FA5}">
                      <a16:colId xmlns:a16="http://schemas.microsoft.com/office/drawing/2014/main" val="20013"/>
                    </a:ext>
                  </a:extLst>
                </a:gridCol>
                <a:gridCol w="625257">
                  <a:extLst>
                    <a:ext uri="{9D8B030D-6E8A-4147-A177-3AD203B41FA5}">
                      <a16:colId xmlns:a16="http://schemas.microsoft.com/office/drawing/2014/main" val="20014"/>
                    </a:ext>
                  </a:extLst>
                </a:gridCol>
                <a:gridCol w="625257">
                  <a:extLst>
                    <a:ext uri="{9D8B030D-6E8A-4147-A177-3AD203B41FA5}">
                      <a16:colId xmlns:a16="http://schemas.microsoft.com/office/drawing/2014/main" val="20015"/>
                    </a:ext>
                  </a:extLst>
                </a:gridCol>
                <a:gridCol w="625257">
                  <a:extLst>
                    <a:ext uri="{9D8B030D-6E8A-4147-A177-3AD203B41FA5}">
                      <a16:colId xmlns:a16="http://schemas.microsoft.com/office/drawing/2014/main" val="20016"/>
                    </a:ext>
                  </a:extLst>
                </a:gridCol>
                <a:gridCol w="625257">
                  <a:extLst>
                    <a:ext uri="{9D8B030D-6E8A-4147-A177-3AD203B41FA5}">
                      <a16:colId xmlns:a16="http://schemas.microsoft.com/office/drawing/2014/main" val="20017"/>
                    </a:ext>
                  </a:extLst>
                </a:gridCol>
              </a:tblGrid>
              <a:tr h="642096">
                <a:tc gridSpan="2">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dirty="0"/>
                        <a:t>Category-E</a:t>
                      </a:r>
                      <a:endParaRPr lang="en-US" sz="1100" b="1" i="0" baseline="0" dirty="0">
                        <a:solidFill>
                          <a:schemeClr val="tx1"/>
                        </a:solidFill>
                        <a:latin typeface="+mn-lt"/>
                      </a:endParaRPr>
                    </a:p>
                  </a:txBody>
                  <a:tcPr marR="0" marT="0" marB="0" anchor="ctr"/>
                </a:tc>
                <a:tc hMerge="1">
                  <a:txBody>
                    <a:bodyPr/>
                    <a:lstStyle/>
                    <a:p>
                      <a:pPr algn="ctr"/>
                      <a:endParaRPr lang="en-US" sz="10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139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algn="l" defTabSz="914400" rtl="0" eaLnBrk="1" latinLnBrk="0" hangingPunct="1"/>
                      <a:r>
                        <a:rPr lang="en-US" sz="1100" b="1" i="0" kern="1200" baseline="0" dirty="0">
                          <a:solidFill>
                            <a:prstClr val="black"/>
                          </a:solidFill>
                          <a:latin typeface="Calibri" panose="020F0502020204030204"/>
                          <a:ea typeface="Malgun Gothic" panose="020B0503020000020004" pitchFamily="34" charset="-127"/>
                          <a:cs typeface=""/>
                        </a:rPr>
                        <a:t>Categorye1</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1394">
                <a:tc vMerge="1">
                  <a:txBody>
                    <a:bodyPr/>
                    <a:lstStyle/>
                    <a:p>
                      <a:endParaRPr lang="en-US" dirty="0"/>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1394">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100" b="1" i="0" kern="1200" baseline="0" dirty="0">
                          <a:solidFill>
                            <a:prstClr val="black"/>
                          </a:solidFill>
                          <a:latin typeface="+mn-lt"/>
                          <a:ea typeface="Malgun Gothic" panose="020B0503020000020004" pitchFamily="34" charset="-127"/>
                          <a:cs typeface=""/>
                        </a:rPr>
                        <a:t>Categorye2</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1394">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139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algn="l"/>
                      <a:r>
                        <a:rPr lang="en-US" sz="1100" b="1" i="0" baseline="0" dirty="0">
                          <a:latin typeface="+mn-lt"/>
                        </a:rPr>
                        <a:t>Categorye3</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1394">
                <a:tc vMerge="1">
                  <a:txBody>
                    <a:bodyPr/>
                    <a:lstStyle/>
                    <a:p>
                      <a:endParaRPr lang="en-US"/>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1394">
                <a:tc rowSpan="2">
                  <a:txBody>
                    <a:bodyPr/>
                    <a:lstStyle/>
                    <a:p>
                      <a:pPr algn="l"/>
                      <a:r>
                        <a:rPr lang="en-IN" sz="1100" b="1" i="0" baseline="0" dirty="0">
                          <a:latin typeface="+mn-lt"/>
                        </a:rPr>
                        <a:t>Categorye4</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1394">
                <a:tc rowSpan="2">
                  <a:txBody>
                    <a:bodyPr/>
                    <a:lstStyle/>
                    <a:p>
                      <a:pPr algn="l"/>
                      <a:r>
                        <a:rPr lang="en-IN" sz="1100" b="1" i="0" baseline="0" dirty="0">
                          <a:latin typeface="+mn-lt"/>
                        </a:rPr>
                        <a:t>Categorye5</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1394">
                <a:tc rowSpan="2">
                  <a:txBody>
                    <a:bodyPr/>
                    <a:lstStyle/>
                    <a:p>
                      <a:pPr algn="l"/>
                      <a:r>
                        <a:rPr lang="en-IN" sz="1100" b="1" i="0" baseline="0" dirty="0">
                          <a:latin typeface="+mn-lt"/>
                        </a:rPr>
                        <a:t>Categorye6</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1394">
                <a:tc rowSpan="2">
                  <a:txBody>
                    <a:bodyPr/>
                    <a:lstStyle/>
                    <a:p>
                      <a:pPr algn="l"/>
                      <a:r>
                        <a:rPr lang="en-IN" sz="1100" b="1" i="0" baseline="0" dirty="0">
                          <a:latin typeface="+mn-lt"/>
                        </a:rPr>
                        <a:t>Categorye7</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1394">
                <a:tc rowSpan="2">
                  <a:txBody>
                    <a:bodyPr/>
                    <a:lstStyle/>
                    <a:p>
                      <a:pPr algn="l"/>
                      <a:r>
                        <a:rPr lang="en-IN" sz="1100" b="1" i="0" baseline="0" dirty="0">
                          <a:latin typeface="+mn-lt"/>
                        </a:rPr>
                        <a:t>Categorye8</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1394">
                <a:tc rowSpan="2">
                  <a:txBody>
                    <a:bodyPr/>
                    <a:lstStyle/>
                    <a:p>
                      <a:pPr algn="l"/>
                      <a:r>
                        <a:rPr lang="en-IN" sz="1100" b="1" i="0" baseline="0" dirty="0">
                          <a:latin typeface="+mn-lt"/>
                        </a:rPr>
                        <a:t>Categorye9</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1394">
                <a:tc rowSpan="2">
                  <a:txBody>
                    <a:bodyPr/>
                    <a:lstStyle/>
                    <a:p>
                      <a:pPr algn="l"/>
                      <a:r>
                        <a:rPr lang="en-IN" sz="1100" b="1" i="0" baseline="0" dirty="0">
                          <a:latin typeface="+mn-lt"/>
                        </a:rPr>
                        <a:t>Total</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 H!Y!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1" i="0" u="none" strike="noStrike" dirty="0">
                          <a:solidFill>
                            <a:schemeClr val="tx1"/>
                          </a:solidFill>
                          <a:effectLst/>
                          <a:latin typeface="Calibri" panose="020F0502020204030204" pitchFamily="34" charset="0"/>
                        </a:rPr>
                        <a:t>B!Y!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F!Y!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err="1">
                          <a:solidFill>
                            <a:schemeClr val="tx1"/>
                          </a:solidFill>
                          <a:effectLst/>
                          <a:latin typeface="Calibri" panose="020F0502020204030204" pitchFamily="34" charset="0"/>
                        </a:rPr>
                        <a:t>VaC</a:t>
                      </a:r>
                      <a:r>
                        <a:rPr lang="en-IN" sz="1100" b="1" i="0" u="none" strike="noStrike" dirty="0">
                          <a:solidFill>
                            <a:schemeClr val="tx1"/>
                          </a:solidFill>
                          <a:effectLst/>
                          <a:latin typeface="Calibri" panose="020F0502020204030204" pitchFamily="34" charset="0"/>
                        </a:rPr>
                        <a:t>!%</a:t>
                      </a:r>
                      <a:endParaRPr lang="en-US" sz="1100" b="1" i="0" u="none" strike="noStrike" dirty="0">
                        <a:solidFill>
                          <a:schemeClr val="tx1"/>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4" name="Title 7"/>
          <p:cNvSpPr>
            <a:spLocks noGrp="1"/>
          </p:cNvSpPr>
          <p:nvPr>
            <p:ph type="title"/>
          </p:nvPr>
        </p:nvSpPr>
        <p:spPr/>
        <p:txBody>
          <a:bodyPr/>
          <a:lstStyle/>
          <a:p>
            <a:r>
              <a:rPr lang="en-US" dirty="0"/>
              <a:t>Global WXYZ Market Analysis By Category-E</a:t>
            </a:r>
          </a:p>
        </p:txBody>
      </p:sp>
      <p:sp>
        <p:nvSpPr>
          <p:cNvPr id="2" name="Slide Number Placeholder 1"/>
          <p:cNvSpPr>
            <a:spLocks noGrp="1"/>
          </p:cNvSpPr>
          <p:nvPr>
            <p:ph type="sldNum" sz="quarter" idx="4"/>
          </p:nvPr>
        </p:nvSpPr>
        <p:spPr/>
        <p:txBody>
          <a:bodyPr/>
          <a:lstStyle/>
          <a:p>
            <a:fld id="{4B17068C-EB94-40A3-A5F2-664CDD77FDAC}" type="slidenum">
              <a:rPr lang="en-GB" smtClean="0"/>
              <a:pPr/>
              <a:t>173</a:t>
            </a:fld>
            <a:endParaRPr lang="en-GB" dirty="0"/>
          </a:p>
        </p:txBody>
      </p:sp>
    </p:spTree>
    <p:extLst>
      <p:ext uri="{BB962C8B-B14F-4D97-AF65-F5344CB8AC3E}">
        <p14:creationId xmlns:p14="http://schemas.microsoft.com/office/powerpoint/2010/main" val="49635637"/>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 Placeholder 26"/>
          <p:cNvSpPr>
            <a:spLocks noGrp="1"/>
          </p:cNvSpPr>
          <p:nvPr>
            <p:ph type="body" idx="12"/>
          </p:nvPr>
        </p:nvSpPr>
        <p:spPr/>
        <p:txBody>
          <a:bodyPr/>
          <a:lstStyle/>
          <a:p>
            <a:r>
              <a:rPr lang="en-US" sz="1400" dirty="0"/>
              <a:t>Table xx: Global WXYZ Market Volume (Tons) Analysis and Forecast By Category-E, 2019 – 2034</a:t>
            </a:r>
          </a:p>
        </p:txBody>
      </p:sp>
      <p:graphicFrame>
        <p:nvGraphicFramePr>
          <p:cNvPr id="28" name="Content Placeholder 9"/>
          <p:cNvGraphicFramePr>
            <a:graphicFrameLocks/>
          </p:cNvGraphicFramePr>
          <p:nvPr/>
        </p:nvGraphicFramePr>
        <p:xfrm>
          <a:off x="152390" y="1674051"/>
          <a:ext cx="11887209" cy="4540321"/>
        </p:xfrm>
        <a:graphic>
          <a:graphicData uri="http://schemas.openxmlformats.org/drawingml/2006/table">
            <a:tbl>
              <a:tblPr firstRow="1" bandRow="1">
                <a:tableStyleId>{5C22544A-7EE6-4342-B048-85BDC9FD1C3A}</a:tableStyleId>
              </a:tblPr>
              <a:tblGrid>
                <a:gridCol w="928584">
                  <a:extLst>
                    <a:ext uri="{9D8B030D-6E8A-4147-A177-3AD203B41FA5}">
                      <a16:colId xmlns:a16="http://schemas.microsoft.com/office/drawing/2014/main" val="20000"/>
                    </a:ext>
                  </a:extLst>
                </a:gridCol>
                <a:gridCol w="644625">
                  <a:extLst>
                    <a:ext uri="{9D8B030D-6E8A-4147-A177-3AD203B41FA5}">
                      <a16:colId xmlns:a16="http://schemas.microsoft.com/office/drawing/2014/main" val="20001"/>
                    </a:ext>
                  </a:extLst>
                </a:gridCol>
                <a:gridCol w="644625">
                  <a:extLst>
                    <a:ext uri="{9D8B030D-6E8A-4147-A177-3AD203B41FA5}">
                      <a16:colId xmlns:a16="http://schemas.microsoft.com/office/drawing/2014/main" val="20002"/>
                    </a:ext>
                  </a:extLst>
                </a:gridCol>
                <a:gridCol w="644625">
                  <a:extLst>
                    <a:ext uri="{9D8B030D-6E8A-4147-A177-3AD203B41FA5}">
                      <a16:colId xmlns:a16="http://schemas.microsoft.com/office/drawing/2014/main" val="20003"/>
                    </a:ext>
                  </a:extLst>
                </a:gridCol>
                <a:gridCol w="644625">
                  <a:extLst>
                    <a:ext uri="{9D8B030D-6E8A-4147-A177-3AD203B41FA5}">
                      <a16:colId xmlns:a16="http://schemas.microsoft.com/office/drawing/2014/main" val="20004"/>
                    </a:ext>
                  </a:extLst>
                </a:gridCol>
                <a:gridCol w="644625">
                  <a:extLst>
                    <a:ext uri="{9D8B030D-6E8A-4147-A177-3AD203B41FA5}">
                      <a16:colId xmlns:a16="http://schemas.microsoft.com/office/drawing/2014/main" val="20005"/>
                    </a:ext>
                  </a:extLst>
                </a:gridCol>
                <a:gridCol w="644625">
                  <a:extLst>
                    <a:ext uri="{9D8B030D-6E8A-4147-A177-3AD203B41FA5}">
                      <a16:colId xmlns:a16="http://schemas.microsoft.com/office/drawing/2014/main" val="20006"/>
                    </a:ext>
                  </a:extLst>
                </a:gridCol>
                <a:gridCol w="644625">
                  <a:extLst>
                    <a:ext uri="{9D8B030D-6E8A-4147-A177-3AD203B41FA5}">
                      <a16:colId xmlns:a16="http://schemas.microsoft.com/office/drawing/2014/main" val="20007"/>
                    </a:ext>
                  </a:extLst>
                </a:gridCol>
                <a:gridCol w="644625">
                  <a:extLst>
                    <a:ext uri="{9D8B030D-6E8A-4147-A177-3AD203B41FA5}">
                      <a16:colId xmlns:a16="http://schemas.microsoft.com/office/drawing/2014/main" val="20008"/>
                    </a:ext>
                  </a:extLst>
                </a:gridCol>
                <a:gridCol w="644625">
                  <a:extLst>
                    <a:ext uri="{9D8B030D-6E8A-4147-A177-3AD203B41FA5}">
                      <a16:colId xmlns:a16="http://schemas.microsoft.com/office/drawing/2014/main" val="20009"/>
                    </a:ext>
                  </a:extLst>
                </a:gridCol>
                <a:gridCol w="644625">
                  <a:extLst>
                    <a:ext uri="{9D8B030D-6E8A-4147-A177-3AD203B41FA5}">
                      <a16:colId xmlns:a16="http://schemas.microsoft.com/office/drawing/2014/main" val="20010"/>
                    </a:ext>
                  </a:extLst>
                </a:gridCol>
                <a:gridCol w="644625">
                  <a:extLst>
                    <a:ext uri="{9D8B030D-6E8A-4147-A177-3AD203B41FA5}">
                      <a16:colId xmlns:a16="http://schemas.microsoft.com/office/drawing/2014/main" val="20011"/>
                    </a:ext>
                  </a:extLst>
                </a:gridCol>
                <a:gridCol w="644625">
                  <a:extLst>
                    <a:ext uri="{9D8B030D-6E8A-4147-A177-3AD203B41FA5}">
                      <a16:colId xmlns:a16="http://schemas.microsoft.com/office/drawing/2014/main" val="20012"/>
                    </a:ext>
                  </a:extLst>
                </a:gridCol>
                <a:gridCol w="644625">
                  <a:extLst>
                    <a:ext uri="{9D8B030D-6E8A-4147-A177-3AD203B41FA5}">
                      <a16:colId xmlns:a16="http://schemas.microsoft.com/office/drawing/2014/main" val="20013"/>
                    </a:ext>
                  </a:extLst>
                </a:gridCol>
                <a:gridCol w="644625">
                  <a:extLst>
                    <a:ext uri="{9D8B030D-6E8A-4147-A177-3AD203B41FA5}">
                      <a16:colId xmlns:a16="http://schemas.microsoft.com/office/drawing/2014/main" val="20014"/>
                    </a:ext>
                  </a:extLst>
                </a:gridCol>
                <a:gridCol w="644625">
                  <a:extLst>
                    <a:ext uri="{9D8B030D-6E8A-4147-A177-3AD203B41FA5}">
                      <a16:colId xmlns:a16="http://schemas.microsoft.com/office/drawing/2014/main" val="20015"/>
                    </a:ext>
                  </a:extLst>
                </a:gridCol>
                <a:gridCol w="644625">
                  <a:extLst>
                    <a:ext uri="{9D8B030D-6E8A-4147-A177-3AD203B41FA5}">
                      <a16:colId xmlns:a16="http://schemas.microsoft.com/office/drawing/2014/main" val="20016"/>
                    </a:ext>
                  </a:extLst>
                </a:gridCol>
                <a:gridCol w="644625">
                  <a:extLst>
                    <a:ext uri="{9D8B030D-6E8A-4147-A177-3AD203B41FA5}">
                      <a16:colId xmlns:a16="http://schemas.microsoft.com/office/drawing/2014/main" val="20017"/>
                    </a:ext>
                  </a:extLst>
                </a:gridCol>
              </a:tblGrid>
              <a:tr h="652201">
                <a:tc>
                  <a:txBody>
                    <a:bodyPr/>
                    <a:lstStyle/>
                    <a:p>
                      <a:pPr algn="ctr"/>
                      <a:r>
                        <a:rPr lang="en-IN" sz="1100" i="0" baseline="0" dirty="0">
                          <a:solidFill>
                            <a:schemeClr val="bg1"/>
                          </a:solidFill>
                          <a:latin typeface="+mn-lt"/>
                        </a:rPr>
                        <a:t>Category-E</a:t>
                      </a:r>
                      <a:endParaRPr lang="en-US" sz="1100" i="0" baseline="0" dirty="0">
                        <a:solidFill>
                          <a:schemeClr val="bg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Categorye10</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Categorye11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Categorye12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Categorye13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Categorye14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Categorye15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Categorye16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Categorye17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Categorye18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Categorye19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4406">
                <a:tc>
                  <a:txBody>
                    <a:bodyPr/>
                    <a:lstStyle/>
                    <a:p>
                      <a:pPr algn="ctr" fontAlgn="ctr"/>
                      <a:r>
                        <a:rPr lang="en-IN" sz="1100" b="1" i="0" u="none" strike="noStrike" dirty="0">
                          <a:solidFill>
                            <a:srgbClr val="000000"/>
                          </a:solidFill>
                          <a:effectLst/>
                          <a:latin typeface="Calibri" panose="020F0502020204030204" pitchFamily="34" charset="0"/>
                        </a:rPr>
                        <a:t>Total</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8" name="Title 7"/>
          <p:cNvSpPr>
            <a:spLocks noGrp="1"/>
          </p:cNvSpPr>
          <p:nvPr>
            <p:ph type="title"/>
          </p:nvPr>
        </p:nvSpPr>
        <p:spPr/>
        <p:txBody>
          <a:bodyPr/>
          <a:lstStyle/>
          <a:p>
            <a:r>
              <a:rPr lang="en-US" dirty="0"/>
              <a:t>Global WXYZ Market Analysis By Category-E</a:t>
            </a:r>
          </a:p>
        </p:txBody>
      </p:sp>
      <p:sp>
        <p:nvSpPr>
          <p:cNvPr id="2" name="Slide Number Placeholder 1"/>
          <p:cNvSpPr>
            <a:spLocks noGrp="1"/>
          </p:cNvSpPr>
          <p:nvPr>
            <p:ph type="sldNum" sz="quarter" idx="4"/>
          </p:nvPr>
        </p:nvSpPr>
        <p:spPr/>
        <p:txBody>
          <a:bodyPr/>
          <a:lstStyle/>
          <a:p>
            <a:fld id="{4B17068C-EB94-40A3-A5F2-664CDD77FDAC}" type="slidenum">
              <a:rPr lang="en-GB" smtClean="0"/>
              <a:pPr/>
              <a:t>174</a:t>
            </a:fld>
            <a:endParaRPr lang="en-GB" dirty="0"/>
          </a:p>
        </p:txBody>
      </p:sp>
    </p:spTree>
    <p:extLst>
      <p:ext uri="{BB962C8B-B14F-4D97-AF65-F5344CB8AC3E}">
        <p14:creationId xmlns:p14="http://schemas.microsoft.com/office/powerpoint/2010/main" val="3562584588"/>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idx="12"/>
          </p:nvPr>
        </p:nvSpPr>
        <p:spPr/>
        <p:txBody>
          <a:bodyPr/>
          <a:lstStyle/>
          <a:p>
            <a:r>
              <a:rPr lang="en-US" sz="1400" dirty="0"/>
              <a:t>Table xx: Global WXYZ Market Size(US$ </a:t>
            </a:r>
            <a:r>
              <a:rPr lang="en-US" sz="1400" dirty="0" err="1"/>
              <a:t>Mn</a:t>
            </a:r>
            <a:r>
              <a:rPr lang="en-US" sz="1400" dirty="0"/>
              <a:t>) Analysis and Forecast By Category-E, 2019 – 2034</a:t>
            </a:r>
          </a:p>
        </p:txBody>
      </p:sp>
      <p:graphicFrame>
        <p:nvGraphicFramePr>
          <p:cNvPr id="5" name="Content Placeholder 9"/>
          <p:cNvGraphicFramePr>
            <a:graphicFrameLocks/>
          </p:cNvGraphicFramePr>
          <p:nvPr/>
        </p:nvGraphicFramePr>
        <p:xfrm>
          <a:off x="154831" y="1667646"/>
          <a:ext cx="11887209" cy="4484037"/>
        </p:xfrm>
        <a:graphic>
          <a:graphicData uri="http://schemas.openxmlformats.org/drawingml/2006/table">
            <a:tbl>
              <a:tblPr firstRow="1" bandRow="1">
                <a:tableStyleId>{5C22544A-7EE6-4342-B048-85BDC9FD1C3A}</a:tableStyleId>
              </a:tblPr>
              <a:tblGrid>
                <a:gridCol w="928584">
                  <a:extLst>
                    <a:ext uri="{9D8B030D-6E8A-4147-A177-3AD203B41FA5}">
                      <a16:colId xmlns:a16="http://schemas.microsoft.com/office/drawing/2014/main" val="20000"/>
                    </a:ext>
                  </a:extLst>
                </a:gridCol>
                <a:gridCol w="644625">
                  <a:extLst>
                    <a:ext uri="{9D8B030D-6E8A-4147-A177-3AD203B41FA5}">
                      <a16:colId xmlns:a16="http://schemas.microsoft.com/office/drawing/2014/main" val="20001"/>
                    </a:ext>
                  </a:extLst>
                </a:gridCol>
                <a:gridCol w="644625">
                  <a:extLst>
                    <a:ext uri="{9D8B030D-6E8A-4147-A177-3AD203B41FA5}">
                      <a16:colId xmlns:a16="http://schemas.microsoft.com/office/drawing/2014/main" val="20002"/>
                    </a:ext>
                  </a:extLst>
                </a:gridCol>
                <a:gridCol w="644625">
                  <a:extLst>
                    <a:ext uri="{9D8B030D-6E8A-4147-A177-3AD203B41FA5}">
                      <a16:colId xmlns:a16="http://schemas.microsoft.com/office/drawing/2014/main" val="20003"/>
                    </a:ext>
                  </a:extLst>
                </a:gridCol>
                <a:gridCol w="644625">
                  <a:extLst>
                    <a:ext uri="{9D8B030D-6E8A-4147-A177-3AD203B41FA5}">
                      <a16:colId xmlns:a16="http://schemas.microsoft.com/office/drawing/2014/main" val="20004"/>
                    </a:ext>
                  </a:extLst>
                </a:gridCol>
                <a:gridCol w="644625">
                  <a:extLst>
                    <a:ext uri="{9D8B030D-6E8A-4147-A177-3AD203B41FA5}">
                      <a16:colId xmlns:a16="http://schemas.microsoft.com/office/drawing/2014/main" val="20005"/>
                    </a:ext>
                  </a:extLst>
                </a:gridCol>
                <a:gridCol w="644625">
                  <a:extLst>
                    <a:ext uri="{9D8B030D-6E8A-4147-A177-3AD203B41FA5}">
                      <a16:colId xmlns:a16="http://schemas.microsoft.com/office/drawing/2014/main" val="20006"/>
                    </a:ext>
                  </a:extLst>
                </a:gridCol>
                <a:gridCol w="644625">
                  <a:extLst>
                    <a:ext uri="{9D8B030D-6E8A-4147-A177-3AD203B41FA5}">
                      <a16:colId xmlns:a16="http://schemas.microsoft.com/office/drawing/2014/main" val="20007"/>
                    </a:ext>
                  </a:extLst>
                </a:gridCol>
                <a:gridCol w="644625">
                  <a:extLst>
                    <a:ext uri="{9D8B030D-6E8A-4147-A177-3AD203B41FA5}">
                      <a16:colId xmlns:a16="http://schemas.microsoft.com/office/drawing/2014/main" val="20008"/>
                    </a:ext>
                  </a:extLst>
                </a:gridCol>
                <a:gridCol w="644625">
                  <a:extLst>
                    <a:ext uri="{9D8B030D-6E8A-4147-A177-3AD203B41FA5}">
                      <a16:colId xmlns:a16="http://schemas.microsoft.com/office/drawing/2014/main" val="20009"/>
                    </a:ext>
                  </a:extLst>
                </a:gridCol>
                <a:gridCol w="644625">
                  <a:extLst>
                    <a:ext uri="{9D8B030D-6E8A-4147-A177-3AD203B41FA5}">
                      <a16:colId xmlns:a16="http://schemas.microsoft.com/office/drawing/2014/main" val="20010"/>
                    </a:ext>
                  </a:extLst>
                </a:gridCol>
                <a:gridCol w="644625">
                  <a:extLst>
                    <a:ext uri="{9D8B030D-6E8A-4147-A177-3AD203B41FA5}">
                      <a16:colId xmlns:a16="http://schemas.microsoft.com/office/drawing/2014/main" val="20011"/>
                    </a:ext>
                  </a:extLst>
                </a:gridCol>
                <a:gridCol w="644625">
                  <a:extLst>
                    <a:ext uri="{9D8B030D-6E8A-4147-A177-3AD203B41FA5}">
                      <a16:colId xmlns:a16="http://schemas.microsoft.com/office/drawing/2014/main" val="20012"/>
                    </a:ext>
                  </a:extLst>
                </a:gridCol>
                <a:gridCol w="644625">
                  <a:extLst>
                    <a:ext uri="{9D8B030D-6E8A-4147-A177-3AD203B41FA5}">
                      <a16:colId xmlns:a16="http://schemas.microsoft.com/office/drawing/2014/main" val="20013"/>
                    </a:ext>
                  </a:extLst>
                </a:gridCol>
                <a:gridCol w="644625">
                  <a:extLst>
                    <a:ext uri="{9D8B030D-6E8A-4147-A177-3AD203B41FA5}">
                      <a16:colId xmlns:a16="http://schemas.microsoft.com/office/drawing/2014/main" val="20014"/>
                    </a:ext>
                  </a:extLst>
                </a:gridCol>
                <a:gridCol w="644625">
                  <a:extLst>
                    <a:ext uri="{9D8B030D-6E8A-4147-A177-3AD203B41FA5}">
                      <a16:colId xmlns:a16="http://schemas.microsoft.com/office/drawing/2014/main" val="20015"/>
                    </a:ext>
                  </a:extLst>
                </a:gridCol>
                <a:gridCol w="644625">
                  <a:extLst>
                    <a:ext uri="{9D8B030D-6E8A-4147-A177-3AD203B41FA5}">
                      <a16:colId xmlns:a16="http://schemas.microsoft.com/office/drawing/2014/main" val="20016"/>
                    </a:ext>
                  </a:extLst>
                </a:gridCol>
                <a:gridCol w="644625">
                  <a:extLst>
                    <a:ext uri="{9D8B030D-6E8A-4147-A177-3AD203B41FA5}">
                      <a16:colId xmlns:a16="http://schemas.microsoft.com/office/drawing/2014/main" val="20017"/>
                    </a:ext>
                  </a:extLst>
                </a:gridCol>
              </a:tblGrid>
              <a:tr h="644117">
                <a:tc>
                  <a:txBody>
                    <a:bodyPr/>
                    <a:lstStyle/>
                    <a:p>
                      <a:pPr algn="ctr"/>
                      <a:r>
                        <a:rPr lang="en-IN" sz="1100" i="0" baseline="0" dirty="0">
                          <a:solidFill>
                            <a:schemeClr val="bg1"/>
                          </a:solidFill>
                          <a:latin typeface="+mn-lt"/>
                        </a:rPr>
                        <a:t>Category-E</a:t>
                      </a:r>
                      <a:endParaRPr lang="en-US" sz="1100" i="0" baseline="0" dirty="0">
                        <a:solidFill>
                          <a:schemeClr val="bg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Categorye10</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Categorye11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Categorye12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Categorye13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Categorye14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Categorye15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Categorye16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Categorye17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Categorye18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Categorye19</a:t>
                      </a:r>
                    </a:p>
                  </a:txBody>
                  <a:tcPr marL="9525" marR="9525" marT="9525" marB="0" anchor="b"/>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1996">
                <a:tc>
                  <a:txBody>
                    <a:bodyPr/>
                    <a:lstStyle/>
                    <a:p>
                      <a:pPr algn="ctr" fontAlgn="ctr"/>
                      <a:r>
                        <a:rPr lang="en-IN" sz="1100" b="1" i="0" u="none" strike="noStrike" dirty="0">
                          <a:solidFill>
                            <a:srgbClr val="000000"/>
                          </a:solidFill>
                          <a:effectLst/>
                          <a:latin typeface="Calibri" panose="020F0502020204030204" pitchFamily="34" charset="0"/>
                        </a:rPr>
                        <a:t>Total</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 H!Y!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1" i="0" u="none" strike="noStrike" dirty="0">
                          <a:solidFill>
                            <a:schemeClr val="tx1"/>
                          </a:solidFill>
                          <a:effectLst/>
                          <a:latin typeface="Calibri" panose="020F0502020204030204" pitchFamily="34" charset="0"/>
                        </a:rPr>
                        <a:t>B!Y!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F!Y!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err="1">
                          <a:solidFill>
                            <a:schemeClr val="tx1"/>
                          </a:solidFill>
                          <a:effectLst/>
                          <a:latin typeface="Calibri" panose="020F0502020204030204" pitchFamily="34" charset="0"/>
                        </a:rPr>
                        <a:t>VaC</a:t>
                      </a:r>
                      <a:r>
                        <a:rPr lang="en-IN" sz="1100" b="1" i="0" u="none" strike="noStrike" dirty="0">
                          <a:solidFill>
                            <a:schemeClr val="tx1"/>
                          </a:solidFill>
                          <a:effectLst/>
                          <a:latin typeface="Calibri" panose="020F0502020204030204" pitchFamily="34" charset="0"/>
                        </a:rPr>
                        <a:t>!%</a:t>
                      </a:r>
                      <a:endParaRPr lang="en-US" sz="1100" b="1" i="0" u="none" strike="noStrike" dirty="0">
                        <a:solidFill>
                          <a:schemeClr val="tx1"/>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8" name="Title 7"/>
          <p:cNvSpPr>
            <a:spLocks noGrp="1"/>
          </p:cNvSpPr>
          <p:nvPr>
            <p:ph type="title"/>
          </p:nvPr>
        </p:nvSpPr>
        <p:spPr/>
        <p:txBody>
          <a:bodyPr/>
          <a:lstStyle/>
          <a:p>
            <a:r>
              <a:rPr lang="en-US" dirty="0"/>
              <a:t>Global WXYZ Market Analysis By Category-E</a:t>
            </a:r>
          </a:p>
        </p:txBody>
      </p:sp>
      <p:sp>
        <p:nvSpPr>
          <p:cNvPr id="2" name="Slide Number Placeholder 1"/>
          <p:cNvSpPr>
            <a:spLocks noGrp="1"/>
          </p:cNvSpPr>
          <p:nvPr>
            <p:ph type="sldNum" sz="quarter" idx="4"/>
          </p:nvPr>
        </p:nvSpPr>
        <p:spPr/>
        <p:txBody>
          <a:bodyPr/>
          <a:lstStyle/>
          <a:p>
            <a:fld id="{4B17068C-EB94-40A3-A5F2-664CDD77FDAC}" type="slidenum">
              <a:rPr lang="en-GB" smtClean="0"/>
              <a:pPr/>
              <a:t>175</a:t>
            </a:fld>
            <a:endParaRPr lang="en-GB" dirty="0"/>
          </a:p>
        </p:txBody>
      </p:sp>
    </p:spTree>
    <p:extLst>
      <p:ext uri="{BB962C8B-B14F-4D97-AF65-F5344CB8AC3E}">
        <p14:creationId xmlns:p14="http://schemas.microsoft.com/office/powerpoint/2010/main" val="1248573743"/>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Categorye1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Categorye2 Segment, 2019 – 2034</a:t>
            </a:r>
          </a:p>
        </p:txBody>
      </p:sp>
      <p:sp>
        <p:nvSpPr>
          <p:cNvPr id="10" name="Content Placeholder 9"/>
          <p:cNvSpPr>
            <a:spLocks noGrp="1"/>
          </p:cNvSpPr>
          <p:nvPr>
            <p:ph idx="17"/>
          </p:nvPr>
        </p:nvSpPr>
        <p:spPr/>
        <p:txBody>
          <a:bodyPr/>
          <a:lstStyle/>
          <a:p>
            <a:pPr>
              <a:lnSpc>
                <a:spcPct val="100000"/>
              </a:lnSpc>
            </a:pPr>
            <a:r>
              <a:rPr lang="en-US" dirty="0"/>
              <a:t>Categorye1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Categorye2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Categorye1</a:t>
            </a:r>
          </a:p>
        </p:txBody>
      </p:sp>
      <p:sp>
        <p:nvSpPr>
          <p:cNvPr id="15" name="Text Placeholder 14"/>
          <p:cNvSpPr>
            <a:spLocks noGrp="1"/>
          </p:cNvSpPr>
          <p:nvPr>
            <p:ph type="body" sz="quarter" idx="22"/>
          </p:nvPr>
        </p:nvSpPr>
        <p:spPr/>
        <p:txBody>
          <a:bodyPr/>
          <a:lstStyle/>
          <a:p>
            <a:r>
              <a:rPr lang="en-US" dirty="0"/>
              <a:t>Categorye2</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Category-E</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176</a:t>
            </a:fld>
            <a:endParaRPr lang="en-GB" dirty="0"/>
          </a:p>
        </p:txBody>
      </p:sp>
    </p:spTree>
    <p:extLst>
      <p:ext uri="{BB962C8B-B14F-4D97-AF65-F5344CB8AC3E}">
        <p14:creationId xmlns:p14="http://schemas.microsoft.com/office/powerpoint/2010/main" val="3736172976"/>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Categorye3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Categorye4 Segment, 2019 – 2034</a:t>
            </a:r>
          </a:p>
        </p:txBody>
      </p:sp>
      <p:sp>
        <p:nvSpPr>
          <p:cNvPr id="10" name="Content Placeholder 9"/>
          <p:cNvSpPr>
            <a:spLocks noGrp="1"/>
          </p:cNvSpPr>
          <p:nvPr>
            <p:ph idx="17"/>
          </p:nvPr>
        </p:nvSpPr>
        <p:spPr/>
        <p:txBody>
          <a:bodyPr/>
          <a:lstStyle/>
          <a:p>
            <a:pPr>
              <a:lnSpc>
                <a:spcPct val="100000"/>
              </a:lnSpc>
            </a:pPr>
            <a:r>
              <a:rPr lang="en-US" dirty="0"/>
              <a:t>Categorye3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Categorye4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Categorye3</a:t>
            </a:r>
          </a:p>
        </p:txBody>
      </p:sp>
      <p:sp>
        <p:nvSpPr>
          <p:cNvPr id="15" name="Text Placeholder 14"/>
          <p:cNvSpPr>
            <a:spLocks noGrp="1"/>
          </p:cNvSpPr>
          <p:nvPr>
            <p:ph type="body" sz="quarter" idx="22"/>
          </p:nvPr>
        </p:nvSpPr>
        <p:spPr/>
        <p:txBody>
          <a:bodyPr/>
          <a:lstStyle/>
          <a:p>
            <a:r>
              <a:rPr lang="en-US" dirty="0"/>
              <a:t>Categorye4</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Category-E</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177</a:t>
            </a:fld>
            <a:endParaRPr lang="en-GB" dirty="0"/>
          </a:p>
        </p:txBody>
      </p:sp>
    </p:spTree>
    <p:extLst>
      <p:ext uri="{BB962C8B-B14F-4D97-AF65-F5344CB8AC3E}">
        <p14:creationId xmlns:p14="http://schemas.microsoft.com/office/powerpoint/2010/main" val="218738346"/>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Categorye5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Categorye6 Segment, 2019 – 2034</a:t>
            </a:r>
          </a:p>
        </p:txBody>
      </p:sp>
      <p:sp>
        <p:nvSpPr>
          <p:cNvPr id="10" name="Content Placeholder 9"/>
          <p:cNvSpPr>
            <a:spLocks noGrp="1"/>
          </p:cNvSpPr>
          <p:nvPr>
            <p:ph idx="17"/>
          </p:nvPr>
        </p:nvSpPr>
        <p:spPr/>
        <p:txBody>
          <a:bodyPr/>
          <a:lstStyle/>
          <a:p>
            <a:pPr>
              <a:lnSpc>
                <a:spcPct val="100000"/>
              </a:lnSpc>
            </a:pPr>
            <a:r>
              <a:rPr lang="en-US" dirty="0"/>
              <a:t>Categorye5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Categorye6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Categorye5</a:t>
            </a:r>
          </a:p>
        </p:txBody>
      </p:sp>
      <p:sp>
        <p:nvSpPr>
          <p:cNvPr id="15" name="Text Placeholder 14"/>
          <p:cNvSpPr>
            <a:spLocks noGrp="1"/>
          </p:cNvSpPr>
          <p:nvPr>
            <p:ph type="body" sz="quarter" idx="22"/>
          </p:nvPr>
        </p:nvSpPr>
        <p:spPr/>
        <p:txBody>
          <a:bodyPr/>
          <a:lstStyle/>
          <a:p>
            <a:r>
              <a:rPr lang="en-US" dirty="0"/>
              <a:t>Categorye6</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Category-E</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178</a:t>
            </a:fld>
            <a:endParaRPr lang="en-GB" dirty="0"/>
          </a:p>
        </p:txBody>
      </p:sp>
    </p:spTree>
    <p:extLst>
      <p:ext uri="{BB962C8B-B14F-4D97-AF65-F5344CB8AC3E}">
        <p14:creationId xmlns:p14="http://schemas.microsoft.com/office/powerpoint/2010/main" val="3787893107"/>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Categorye7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Categorye8 Segment, 2019 – 2034</a:t>
            </a:r>
          </a:p>
        </p:txBody>
      </p:sp>
      <p:sp>
        <p:nvSpPr>
          <p:cNvPr id="10" name="Content Placeholder 9"/>
          <p:cNvSpPr>
            <a:spLocks noGrp="1"/>
          </p:cNvSpPr>
          <p:nvPr>
            <p:ph idx="17"/>
          </p:nvPr>
        </p:nvSpPr>
        <p:spPr/>
        <p:txBody>
          <a:bodyPr/>
          <a:lstStyle/>
          <a:p>
            <a:pPr>
              <a:lnSpc>
                <a:spcPct val="100000"/>
              </a:lnSpc>
            </a:pPr>
            <a:r>
              <a:rPr lang="en-US" dirty="0"/>
              <a:t>Categorye7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Categorye8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Categorye7</a:t>
            </a:r>
          </a:p>
        </p:txBody>
      </p:sp>
      <p:sp>
        <p:nvSpPr>
          <p:cNvPr id="15" name="Text Placeholder 14"/>
          <p:cNvSpPr>
            <a:spLocks noGrp="1"/>
          </p:cNvSpPr>
          <p:nvPr>
            <p:ph type="body" sz="quarter" idx="22"/>
          </p:nvPr>
        </p:nvSpPr>
        <p:spPr/>
        <p:txBody>
          <a:bodyPr/>
          <a:lstStyle/>
          <a:p>
            <a:r>
              <a:rPr lang="en-US" dirty="0"/>
              <a:t>Categorye8</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Category-E</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179</a:t>
            </a:fld>
            <a:endParaRPr lang="en-GB" dirty="0"/>
          </a:p>
        </p:txBody>
      </p:sp>
    </p:spTree>
    <p:extLst>
      <p:ext uri="{BB962C8B-B14F-4D97-AF65-F5344CB8AC3E}">
        <p14:creationId xmlns:p14="http://schemas.microsoft.com/office/powerpoint/2010/main" val="3984342284"/>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180</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180</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Global WXYZ Market Analysis 2019 – 2023 and Forecast 2024 – 2034, By Category-F</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180</a:t>
            </a:r>
          </a:p>
        </p:txBody>
      </p:sp>
    </p:spTree>
    <p:extLst>
      <p:ext uri="{BB962C8B-B14F-4D97-AF65-F5344CB8AC3E}">
        <p14:creationId xmlns:p14="http://schemas.microsoft.com/office/powerpoint/2010/main" val="3042500838"/>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Category-F</a:t>
            </a:r>
            <a:endParaRPr lang="en-GB" dirty="0"/>
          </a:p>
        </p:txBody>
      </p:sp>
      <p:sp>
        <p:nvSpPr>
          <p:cNvPr id="46"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47"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sp>
        <p:nvSpPr>
          <p:cNvPr id="54" name="TextBox 53"/>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cxnSp>
        <p:nvCxnSpPr>
          <p:cNvPr id="55" name="Elbow Connector 54"/>
          <p:cNvCxnSpPr>
            <a:stCxn id="57" idx="2"/>
            <a:endCxn id="74" idx="0"/>
          </p:cNvCxnSpPr>
          <p:nvPr/>
        </p:nvCxnSpPr>
        <p:spPr>
          <a:xfrm rot="5400000">
            <a:off x="3606422" y="74304"/>
            <a:ext cx="285750" cy="300372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6" name="Elbow Connector 55"/>
          <p:cNvCxnSpPr>
            <a:stCxn id="57" idx="2"/>
            <a:endCxn id="81" idx="0"/>
          </p:cNvCxnSpPr>
          <p:nvPr/>
        </p:nvCxnSpPr>
        <p:spPr>
          <a:xfrm rot="16200000" flipH="1">
            <a:off x="6565974" y="118479"/>
            <a:ext cx="285750" cy="2915377"/>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7" name="Rounded Rectangle 56"/>
          <p:cNvSpPr/>
          <p:nvPr/>
        </p:nvSpPr>
        <p:spPr>
          <a:xfrm>
            <a:off x="3484252" y="1090076"/>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Category-F</a:t>
            </a:r>
          </a:p>
        </p:txBody>
      </p:sp>
      <p:sp>
        <p:nvSpPr>
          <p:cNvPr id="58" name="Rounded Rectangle 5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9" name="Rounded Rectangle 5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60" name="Straight Connector 59"/>
          <p:cNvCxnSpPr/>
          <p:nvPr/>
        </p:nvCxnSpPr>
        <p:spPr>
          <a:xfrm>
            <a:off x="896325" y="2507208"/>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896325" y="3696853"/>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896325" y="4532507"/>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896325" y="5722154"/>
            <a:ext cx="87083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74" name="Rounded Rectangle 73"/>
          <p:cNvSpPr/>
          <p:nvPr/>
        </p:nvSpPr>
        <p:spPr>
          <a:xfrm>
            <a:off x="750415" y="1719043"/>
            <a:ext cx="2994033"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Categoryf1</a:t>
            </a:r>
          </a:p>
        </p:txBody>
      </p:sp>
      <p:sp>
        <p:nvSpPr>
          <p:cNvPr id="75" name="Rounded Rectangle 74"/>
          <p:cNvSpPr/>
          <p:nvPr/>
        </p:nvSpPr>
        <p:spPr>
          <a:xfrm>
            <a:off x="857782" y="2272179"/>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76" name="Rounded Rectangle 75"/>
          <p:cNvSpPr/>
          <p:nvPr/>
        </p:nvSpPr>
        <p:spPr>
          <a:xfrm>
            <a:off x="857782" y="3461824"/>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77" name="Rounded Rectangle 76"/>
          <p:cNvSpPr/>
          <p:nvPr/>
        </p:nvSpPr>
        <p:spPr>
          <a:xfrm>
            <a:off x="857782" y="4297478"/>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78" name="Rounded Rectangle 77"/>
          <p:cNvSpPr/>
          <p:nvPr/>
        </p:nvSpPr>
        <p:spPr>
          <a:xfrm>
            <a:off x="857782" y="5487125"/>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79" name="Oval 78"/>
          <p:cNvSpPr/>
          <p:nvPr/>
        </p:nvSpPr>
        <p:spPr>
          <a:xfrm>
            <a:off x="1121175" y="28495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0" name="Oval 79"/>
          <p:cNvSpPr/>
          <p:nvPr/>
        </p:nvSpPr>
        <p:spPr>
          <a:xfrm>
            <a:off x="1121175" y="48748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1" name="Rounded Rectangle 80"/>
          <p:cNvSpPr/>
          <p:nvPr/>
        </p:nvSpPr>
        <p:spPr>
          <a:xfrm>
            <a:off x="6671255" y="1719043"/>
            <a:ext cx="2990565"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Categoryf2</a:t>
            </a:r>
          </a:p>
        </p:txBody>
      </p:sp>
      <p:sp>
        <p:nvSpPr>
          <p:cNvPr id="82" name="Rounded Rectangle 81"/>
          <p:cNvSpPr/>
          <p:nvPr/>
        </p:nvSpPr>
        <p:spPr>
          <a:xfrm>
            <a:off x="6776888" y="2272179"/>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3" name="Rounded Rectangle 82"/>
          <p:cNvSpPr/>
          <p:nvPr/>
        </p:nvSpPr>
        <p:spPr>
          <a:xfrm>
            <a:off x="6776888" y="3461824"/>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4" name="Rounded Rectangle 83"/>
          <p:cNvSpPr/>
          <p:nvPr/>
        </p:nvSpPr>
        <p:spPr>
          <a:xfrm>
            <a:off x="6776888" y="4297478"/>
            <a:ext cx="277929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85" name="Rounded Rectangle 84"/>
          <p:cNvSpPr/>
          <p:nvPr/>
        </p:nvSpPr>
        <p:spPr>
          <a:xfrm>
            <a:off x="6776888" y="5487125"/>
            <a:ext cx="277929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86" name="Oval 85"/>
          <p:cNvSpPr/>
          <p:nvPr/>
        </p:nvSpPr>
        <p:spPr>
          <a:xfrm>
            <a:off x="7040281" y="28495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7" name="Oval 86"/>
          <p:cNvSpPr/>
          <p:nvPr/>
        </p:nvSpPr>
        <p:spPr>
          <a:xfrm>
            <a:off x="7040281" y="4874894"/>
            <a:ext cx="2252513"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 name="Slide Number Placeholder 1"/>
          <p:cNvSpPr>
            <a:spLocks noGrp="1"/>
          </p:cNvSpPr>
          <p:nvPr>
            <p:ph type="sldNum" sz="quarter" idx="4"/>
          </p:nvPr>
        </p:nvSpPr>
        <p:spPr/>
        <p:txBody>
          <a:bodyPr/>
          <a:lstStyle/>
          <a:p>
            <a:fld id="{4B17068C-EB94-40A3-A5F2-664CDD77FDAC}" type="slidenum">
              <a:rPr lang="en-GB" smtClean="0"/>
              <a:pPr/>
              <a:t>181</a:t>
            </a:fld>
            <a:endParaRPr lang="en-GB" dirty="0"/>
          </a:p>
        </p:txBody>
      </p:sp>
    </p:spTree>
    <p:extLst>
      <p:ext uri="{BB962C8B-B14F-4D97-AF65-F5344CB8AC3E}">
        <p14:creationId xmlns:p14="http://schemas.microsoft.com/office/powerpoint/2010/main" val="1109809215"/>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Category-F</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118" name="TextBox 119"/>
          <p:cNvSpPr txBox="1"/>
          <p:nvPr/>
        </p:nvSpPr>
        <p:spPr>
          <a:xfrm>
            <a:off x="159103" y="2449125"/>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119" name="TextBox 120"/>
          <p:cNvSpPr txBox="1"/>
          <p:nvPr/>
        </p:nvSpPr>
        <p:spPr>
          <a:xfrm>
            <a:off x="159103" y="4394541"/>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120" name="Elbow Connector 119"/>
          <p:cNvCxnSpPr>
            <a:stCxn id="122" idx="2"/>
            <a:endCxn id="129" idx="0"/>
          </p:cNvCxnSpPr>
          <p:nvPr/>
        </p:nvCxnSpPr>
        <p:spPr>
          <a:xfrm rot="5400000">
            <a:off x="3380227" y="-137823"/>
            <a:ext cx="285750" cy="34561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21" name="Elbow Connector 120"/>
          <p:cNvCxnSpPr>
            <a:stCxn id="122" idx="2"/>
            <a:endCxn id="136" idx="0"/>
          </p:cNvCxnSpPr>
          <p:nvPr/>
        </p:nvCxnSpPr>
        <p:spPr>
          <a:xfrm rot="16200000" flipH="1">
            <a:off x="6854733" y="-156211"/>
            <a:ext cx="285750" cy="34928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22" name="Rounded Rectangle 121"/>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Category-F</a:t>
            </a:r>
          </a:p>
        </p:txBody>
      </p:sp>
      <p:sp>
        <p:nvSpPr>
          <p:cNvPr id="123" name="Rounded Rectangle 122"/>
          <p:cNvSpPr/>
          <p:nvPr/>
        </p:nvSpPr>
        <p:spPr>
          <a:xfrm>
            <a:off x="526998" y="4201281"/>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124" name="Rounded Rectangle 123"/>
          <p:cNvSpPr/>
          <p:nvPr/>
        </p:nvSpPr>
        <p:spPr>
          <a:xfrm>
            <a:off x="526997" y="2175982"/>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125" name="Straight Connector 124"/>
          <p:cNvCxnSpPr>
            <a:stCxn id="130" idx="3"/>
            <a:endCxn id="137" idx="1"/>
          </p:cNvCxnSpPr>
          <p:nvPr/>
        </p:nvCxnSpPr>
        <p:spPr>
          <a:xfrm>
            <a:off x="2792681" y="2521276"/>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stCxn id="131" idx="3"/>
            <a:endCxn id="138" idx="1"/>
          </p:cNvCxnSpPr>
          <p:nvPr/>
        </p:nvCxnSpPr>
        <p:spPr>
          <a:xfrm>
            <a:off x="2792681" y="3710921"/>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stCxn id="132" idx="3"/>
            <a:endCxn id="139" idx="1"/>
          </p:cNvCxnSpPr>
          <p:nvPr/>
        </p:nvCxnSpPr>
        <p:spPr>
          <a:xfrm>
            <a:off x="2792681" y="4546575"/>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stCxn id="133" idx="3"/>
            <a:endCxn id="140" idx="1"/>
          </p:cNvCxnSpPr>
          <p:nvPr/>
        </p:nvCxnSpPr>
        <p:spPr>
          <a:xfrm>
            <a:off x="2792681" y="5736222"/>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9" name="Rounded Rectangle 128"/>
          <p:cNvSpPr/>
          <p:nvPr/>
        </p:nvSpPr>
        <p:spPr>
          <a:xfrm>
            <a:off x="650717" y="1733111"/>
            <a:ext cx="228865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Categoryf1</a:t>
            </a:r>
          </a:p>
        </p:txBody>
      </p:sp>
      <p:sp>
        <p:nvSpPr>
          <p:cNvPr id="130" name="Rounded Rectangle 129"/>
          <p:cNvSpPr/>
          <p:nvPr/>
        </p:nvSpPr>
        <p:spPr>
          <a:xfrm>
            <a:off x="732789"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1" name="Rounded Rectangle 130"/>
          <p:cNvSpPr/>
          <p:nvPr/>
        </p:nvSpPr>
        <p:spPr>
          <a:xfrm>
            <a:off x="732789"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2" name="Rounded Rectangle 131"/>
          <p:cNvSpPr/>
          <p:nvPr/>
        </p:nvSpPr>
        <p:spPr>
          <a:xfrm>
            <a:off x="732789"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3" name="Rounded Rectangle 132"/>
          <p:cNvSpPr/>
          <p:nvPr/>
        </p:nvSpPr>
        <p:spPr>
          <a:xfrm>
            <a:off x="732789"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4" name="Oval 133"/>
          <p:cNvSpPr/>
          <p:nvPr/>
        </p:nvSpPr>
        <p:spPr>
          <a:xfrm>
            <a:off x="934128"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5" name="Oval 134"/>
          <p:cNvSpPr/>
          <p:nvPr/>
        </p:nvSpPr>
        <p:spPr>
          <a:xfrm>
            <a:off x="934128"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Rounded Rectangle 135"/>
          <p:cNvSpPr/>
          <p:nvPr/>
        </p:nvSpPr>
        <p:spPr>
          <a:xfrm>
            <a:off x="7601055"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Categoryf3</a:t>
            </a:r>
          </a:p>
        </p:txBody>
      </p:sp>
      <p:sp>
        <p:nvSpPr>
          <p:cNvPr id="137" name="Rounded Rectangle 136"/>
          <p:cNvSpPr/>
          <p:nvPr/>
        </p:nvSpPr>
        <p:spPr>
          <a:xfrm>
            <a:off x="7681802"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8" name="Rounded Rectangle 137"/>
          <p:cNvSpPr/>
          <p:nvPr/>
        </p:nvSpPr>
        <p:spPr>
          <a:xfrm>
            <a:off x="7681802"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9" name="Rounded Rectangle 138"/>
          <p:cNvSpPr/>
          <p:nvPr/>
        </p:nvSpPr>
        <p:spPr>
          <a:xfrm>
            <a:off x="7681802"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40" name="Rounded Rectangle 139"/>
          <p:cNvSpPr/>
          <p:nvPr/>
        </p:nvSpPr>
        <p:spPr>
          <a:xfrm>
            <a:off x="7681802"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41" name="Oval 140"/>
          <p:cNvSpPr/>
          <p:nvPr/>
        </p:nvSpPr>
        <p:spPr>
          <a:xfrm>
            <a:off x="7883141"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2" name="Oval 141"/>
          <p:cNvSpPr/>
          <p:nvPr/>
        </p:nvSpPr>
        <p:spPr>
          <a:xfrm>
            <a:off x="7883141"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3" name="Rounded Rectangle 142"/>
          <p:cNvSpPr/>
          <p:nvPr/>
        </p:nvSpPr>
        <p:spPr>
          <a:xfrm>
            <a:off x="4127211"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Categoryf2</a:t>
            </a:r>
          </a:p>
        </p:txBody>
      </p:sp>
      <p:sp>
        <p:nvSpPr>
          <p:cNvPr id="144" name="Rounded Rectangle 143"/>
          <p:cNvSpPr/>
          <p:nvPr/>
        </p:nvSpPr>
        <p:spPr>
          <a:xfrm>
            <a:off x="4207958"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5" name="Rounded Rectangle 144"/>
          <p:cNvSpPr/>
          <p:nvPr/>
        </p:nvSpPr>
        <p:spPr>
          <a:xfrm>
            <a:off x="4207958"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6" name="Rounded Rectangle 145"/>
          <p:cNvSpPr/>
          <p:nvPr/>
        </p:nvSpPr>
        <p:spPr>
          <a:xfrm>
            <a:off x="4207958"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47" name="Rounded Rectangle 146"/>
          <p:cNvSpPr/>
          <p:nvPr/>
        </p:nvSpPr>
        <p:spPr>
          <a:xfrm>
            <a:off x="4207958"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48" name="Oval 147"/>
          <p:cNvSpPr/>
          <p:nvPr/>
        </p:nvSpPr>
        <p:spPr>
          <a:xfrm>
            <a:off x="4409297"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9" name="Oval 148"/>
          <p:cNvSpPr/>
          <p:nvPr/>
        </p:nvSpPr>
        <p:spPr>
          <a:xfrm>
            <a:off x="4409297"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50" name="Straight Arrow Connector 149"/>
          <p:cNvCxnSpPr>
            <a:stCxn id="122" idx="2"/>
            <a:endCxn id="143" idx="0"/>
          </p:cNvCxnSpPr>
          <p:nvPr/>
        </p:nvCxnSpPr>
        <p:spPr>
          <a:xfrm>
            <a:off x="5251161" y="1447361"/>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2" name="Slide Number Placeholder 1"/>
          <p:cNvSpPr>
            <a:spLocks noGrp="1"/>
          </p:cNvSpPr>
          <p:nvPr>
            <p:ph type="sldNum" sz="quarter" idx="4"/>
          </p:nvPr>
        </p:nvSpPr>
        <p:spPr/>
        <p:txBody>
          <a:bodyPr/>
          <a:lstStyle/>
          <a:p>
            <a:fld id="{4B17068C-EB94-40A3-A5F2-664CDD77FDAC}" type="slidenum">
              <a:rPr lang="en-GB" smtClean="0"/>
              <a:pPr/>
              <a:t>182</a:t>
            </a:fld>
            <a:endParaRPr lang="en-GB" dirty="0"/>
          </a:p>
        </p:txBody>
      </p:sp>
    </p:spTree>
    <p:extLst>
      <p:ext uri="{BB962C8B-B14F-4D97-AF65-F5344CB8AC3E}">
        <p14:creationId xmlns:p14="http://schemas.microsoft.com/office/powerpoint/2010/main" val="1202028705"/>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Category-F</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4" name="TextBox 119"/>
          <p:cNvSpPr txBox="1"/>
          <p:nvPr/>
        </p:nvSpPr>
        <p:spPr>
          <a:xfrm>
            <a:off x="159103" y="2449125"/>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55" name="TextBox 120"/>
          <p:cNvSpPr txBox="1"/>
          <p:nvPr/>
        </p:nvSpPr>
        <p:spPr>
          <a:xfrm>
            <a:off x="159103" y="4394541"/>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56" name="Elbow Connector 55"/>
          <p:cNvCxnSpPr>
            <a:stCxn id="58" idx="2"/>
            <a:endCxn id="74" idx="0"/>
          </p:cNvCxnSpPr>
          <p:nvPr/>
        </p:nvCxnSpPr>
        <p:spPr>
          <a:xfrm rot="5400000">
            <a:off x="3380227" y="-137823"/>
            <a:ext cx="285750" cy="34561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58" idx="2"/>
            <a:endCxn id="81" idx="0"/>
          </p:cNvCxnSpPr>
          <p:nvPr/>
        </p:nvCxnSpPr>
        <p:spPr>
          <a:xfrm rot="16200000" flipH="1">
            <a:off x="6854733" y="-156211"/>
            <a:ext cx="285750" cy="34928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Category-F</a:t>
            </a:r>
          </a:p>
        </p:txBody>
      </p:sp>
      <p:sp>
        <p:nvSpPr>
          <p:cNvPr id="59" name="Rounded Rectangle 58"/>
          <p:cNvSpPr/>
          <p:nvPr/>
        </p:nvSpPr>
        <p:spPr>
          <a:xfrm>
            <a:off x="526998" y="4201281"/>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60" name="Rounded Rectangle 59"/>
          <p:cNvSpPr/>
          <p:nvPr/>
        </p:nvSpPr>
        <p:spPr>
          <a:xfrm>
            <a:off x="526997" y="2175982"/>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61" name="Straight Connector 60"/>
          <p:cNvCxnSpPr>
            <a:stCxn id="75" idx="3"/>
            <a:endCxn id="82" idx="1"/>
          </p:cNvCxnSpPr>
          <p:nvPr/>
        </p:nvCxnSpPr>
        <p:spPr>
          <a:xfrm>
            <a:off x="2792681" y="2521276"/>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a:stCxn id="76" idx="3"/>
            <a:endCxn id="83" idx="1"/>
          </p:cNvCxnSpPr>
          <p:nvPr/>
        </p:nvCxnSpPr>
        <p:spPr>
          <a:xfrm>
            <a:off x="2792681" y="3710921"/>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a:stCxn id="77" idx="3"/>
            <a:endCxn id="84" idx="1"/>
          </p:cNvCxnSpPr>
          <p:nvPr/>
        </p:nvCxnSpPr>
        <p:spPr>
          <a:xfrm>
            <a:off x="2792681" y="4546575"/>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stCxn id="78" idx="3"/>
            <a:endCxn id="85" idx="1"/>
          </p:cNvCxnSpPr>
          <p:nvPr/>
        </p:nvCxnSpPr>
        <p:spPr>
          <a:xfrm>
            <a:off x="2792681" y="5736222"/>
            <a:ext cx="49156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Rounded Rectangle 73"/>
          <p:cNvSpPr/>
          <p:nvPr/>
        </p:nvSpPr>
        <p:spPr>
          <a:xfrm>
            <a:off x="650717" y="1733111"/>
            <a:ext cx="228865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Categoryf1</a:t>
            </a:r>
          </a:p>
        </p:txBody>
      </p:sp>
      <p:sp>
        <p:nvSpPr>
          <p:cNvPr id="75" name="Rounded Rectangle 74"/>
          <p:cNvSpPr/>
          <p:nvPr/>
        </p:nvSpPr>
        <p:spPr>
          <a:xfrm>
            <a:off x="732789"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76" name="Rounded Rectangle 75"/>
          <p:cNvSpPr/>
          <p:nvPr/>
        </p:nvSpPr>
        <p:spPr>
          <a:xfrm>
            <a:off x="732789"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77" name="Rounded Rectangle 76"/>
          <p:cNvSpPr/>
          <p:nvPr/>
        </p:nvSpPr>
        <p:spPr>
          <a:xfrm>
            <a:off x="732789"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78" name="Rounded Rectangle 77"/>
          <p:cNvSpPr/>
          <p:nvPr/>
        </p:nvSpPr>
        <p:spPr>
          <a:xfrm>
            <a:off x="732789"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79" name="Oval 78"/>
          <p:cNvSpPr/>
          <p:nvPr/>
        </p:nvSpPr>
        <p:spPr>
          <a:xfrm>
            <a:off x="934128"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0" name="Oval 79"/>
          <p:cNvSpPr/>
          <p:nvPr/>
        </p:nvSpPr>
        <p:spPr>
          <a:xfrm>
            <a:off x="934128"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1" name="Rounded Rectangle 80"/>
          <p:cNvSpPr/>
          <p:nvPr/>
        </p:nvSpPr>
        <p:spPr>
          <a:xfrm>
            <a:off x="7601055"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Categoryf4</a:t>
            </a:r>
          </a:p>
        </p:txBody>
      </p:sp>
      <p:sp>
        <p:nvSpPr>
          <p:cNvPr id="82" name="Rounded Rectangle 81"/>
          <p:cNvSpPr/>
          <p:nvPr/>
        </p:nvSpPr>
        <p:spPr>
          <a:xfrm>
            <a:off x="7681802"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3" name="Rounded Rectangle 82"/>
          <p:cNvSpPr/>
          <p:nvPr/>
        </p:nvSpPr>
        <p:spPr>
          <a:xfrm>
            <a:off x="7681802"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4" name="Rounded Rectangle 83"/>
          <p:cNvSpPr/>
          <p:nvPr/>
        </p:nvSpPr>
        <p:spPr>
          <a:xfrm>
            <a:off x="7681802"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85" name="Rounded Rectangle 84"/>
          <p:cNvSpPr/>
          <p:nvPr/>
        </p:nvSpPr>
        <p:spPr>
          <a:xfrm>
            <a:off x="7681802"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86" name="Oval 85"/>
          <p:cNvSpPr/>
          <p:nvPr/>
        </p:nvSpPr>
        <p:spPr>
          <a:xfrm>
            <a:off x="7883141"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7" name="Oval 86"/>
          <p:cNvSpPr/>
          <p:nvPr/>
        </p:nvSpPr>
        <p:spPr>
          <a:xfrm>
            <a:off x="7883141"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88" name="Rounded Rectangle 87"/>
          <p:cNvSpPr/>
          <p:nvPr/>
        </p:nvSpPr>
        <p:spPr>
          <a:xfrm>
            <a:off x="5285159"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Categoryf3</a:t>
            </a:r>
          </a:p>
        </p:txBody>
      </p:sp>
      <p:sp>
        <p:nvSpPr>
          <p:cNvPr id="89" name="Rounded Rectangle 88"/>
          <p:cNvSpPr/>
          <p:nvPr/>
        </p:nvSpPr>
        <p:spPr>
          <a:xfrm>
            <a:off x="5365906"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0" name="Rounded Rectangle 89"/>
          <p:cNvSpPr/>
          <p:nvPr/>
        </p:nvSpPr>
        <p:spPr>
          <a:xfrm>
            <a:off x="5365906"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1" name="Rounded Rectangle 90"/>
          <p:cNvSpPr/>
          <p:nvPr/>
        </p:nvSpPr>
        <p:spPr>
          <a:xfrm>
            <a:off x="5365906"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2" name="Rounded Rectangle 91"/>
          <p:cNvSpPr/>
          <p:nvPr/>
        </p:nvSpPr>
        <p:spPr>
          <a:xfrm>
            <a:off x="5365906"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3" name="Oval 92"/>
          <p:cNvSpPr/>
          <p:nvPr/>
        </p:nvSpPr>
        <p:spPr>
          <a:xfrm>
            <a:off x="5567245"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4" name="Oval 93"/>
          <p:cNvSpPr/>
          <p:nvPr/>
        </p:nvSpPr>
        <p:spPr>
          <a:xfrm>
            <a:off x="5567245"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5" name="Rounded Rectangle 94"/>
          <p:cNvSpPr/>
          <p:nvPr/>
        </p:nvSpPr>
        <p:spPr>
          <a:xfrm>
            <a:off x="2969263" y="1733111"/>
            <a:ext cx="22860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Categoryf2</a:t>
            </a:r>
          </a:p>
        </p:txBody>
      </p:sp>
      <p:sp>
        <p:nvSpPr>
          <p:cNvPr id="96" name="Rounded Rectangle 95"/>
          <p:cNvSpPr/>
          <p:nvPr/>
        </p:nvSpPr>
        <p:spPr>
          <a:xfrm>
            <a:off x="3050010" y="2286247"/>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7" name="Rounded Rectangle 96"/>
          <p:cNvSpPr/>
          <p:nvPr/>
        </p:nvSpPr>
        <p:spPr>
          <a:xfrm>
            <a:off x="3050010" y="3475892"/>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8" name="Rounded Rectangle 97"/>
          <p:cNvSpPr/>
          <p:nvPr/>
        </p:nvSpPr>
        <p:spPr>
          <a:xfrm>
            <a:off x="3050010" y="4311546"/>
            <a:ext cx="21245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9" name="Rounded Rectangle 98"/>
          <p:cNvSpPr/>
          <p:nvPr/>
        </p:nvSpPr>
        <p:spPr>
          <a:xfrm>
            <a:off x="3050010" y="5501193"/>
            <a:ext cx="21245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00" name="Oval 99"/>
          <p:cNvSpPr/>
          <p:nvPr/>
        </p:nvSpPr>
        <p:spPr>
          <a:xfrm>
            <a:off x="3251349" y="28636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1" name="Oval 100"/>
          <p:cNvSpPr/>
          <p:nvPr/>
        </p:nvSpPr>
        <p:spPr>
          <a:xfrm>
            <a:off x="3251349" y="4888962"/>
            <a:ext cx="1721829"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02" name="Elbow Connector 101"/>
          <p:cNvCxnSpPr>
            <a:stCxn id="58" idx="2"/>
            <a:endCxn id="95" idx="0"/>
          </p:cNvCxnSpPr>
          <p:nvPr/>
        </p:nvCxnSpPr>
        <p:spPr>
          <a:xfrm rot="5400000">
            <a:off x="4538837" y="1020787"/>
            <a:ext cx="285750" cy="113889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stCxn id="58" idx="2"/>
            <a:endCxn id="88" idx="0"/>
          </p:cNvCxnSpPr>
          <p:nvPr/>
        </p:nvCxnSpPr>
        <p:spPr>
          <a:xfrm rot="16200000" flipH="1">
            <a:off x="5696785" y="1001737"/>
            <a:ext cx="285750" cy="117699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183</a:t>
            </a:fld>
            <a:endParaRPr lang="en-GB" dirty="0"/>
          </a:p>
        </p:txBody>
      </p:sp>
    </p:spTree>
    <p:extLst>
      <p:ext uri="{BB962C8B-B14F-4D97-AF65-F5344CB8AC3E}">
        <p14:creationId xmlns:p14="http://schemas.microsoft.com/office/powerpoint/2010/main" val="1295612495"/>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Category-F</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Category-F</a:t>
            </a:r>
          </a:p>
        </p:txBody>
      </p:sp>
      <p:sp>
        <p:nvSpPr>
          <p:cNvPr id="152"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153"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154" name="Elbow Connector 153"/>
          <p:cNvCxnSpPr>
            <a:endCxn id="162" idx="0"/>
          </p:cNvCxnSpPr>
          <p:nvPr/>
        </p:nvCxnSpPr>
        <p:spPr>
          <a:xfrm rot="5400000">
            <a:off x="3242404" y="-289714"/>
            <a:ext cx="285750" cy="373176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55" name="Elbow Connector 154"/>
          <p:cNvCxnSpPr>
            <a:endCxn id="169" idx="0"/>
          </p:cNvCxnSpPr>
          <p:nvPr/>
        </p:nvCxnSpPr>
        <p:spPr>
          <a:xfrm rot="16200000" flipH="1">
            <a:off x="6988983" y="-304529"/>
            <a:ext cx="285750" cy="376139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56" name="Rounded Rectangle 155"/>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157" name="Rounded Rectangle 156"/>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158" name="Straight Connector 157"/>
          <p:cNvCxnSpPr>
            <a:stCxn id="163" idx="3"/>
            <a:endCxn id="170"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a:stCxn id="164" idx="3"/>
            <a:endCxn id="171"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a:stCxn id="165" idx="3"/>
            <a:endCxn id="172"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a:stCxn id="166" idx="3"/>
            <a:endCxn id="173"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2" name="Rounded Rectangle 161"/>
          <p:cNvSpPr/>
          <p:nvPr/>
        </p:nvSpPr>
        <p:spPr>
          <a:xfrm>
            <a:off x="65071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Categoryf1</a:t>
            </a:r>
          </a:p>
        </p:txBody>
      </p:sp>
      <p:sp>
        <p:nvSpPr>
          <p:cNvPr id="163" name="Rounded Rectangle 162"/>
          <p:cNvSpPr/>
          <p:nvPr/>
        </p:nvSpPr>
        <p:spPr>
          <a:xfrm>
            <a:off x="71301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64" name="Rounded Rectangle 163"/>
          <p:cNvSpPr/>
          <p:nvPr/>
        </p:nvSpPr>
        <p:spPr>
          <a:xfrm>
            <a:off x="71301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65" name="Rounded Rectangle 164"/>
          <p:cNvSpPr/>
          <p:nvPr/>
        </p:nvSpPr>
        <p:spPr>
          <a:xfrm>
            <a:off x="71301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66" name="Rounded Rectangle 165"/>
          <p:cNvSpPr/>
          <p:nvPr/>
        </p:nvSpPr>
        <p:spPr>
          <a:xfrm>
            <a:off x="71301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67" name="Oval 166"/>
          <p:cNvSpPr/>
          <p:nvPr/>
        </p:nvSpPr>
        <p:spPr>
          <a:xfrm>
            <a:off x="86586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68" name="Oval 167"/>
          <p:cNvSpPr/>
          <p:nvPr/>
        </p:nvSpPr>
        <p:spPr>
          <a:xfrm>
            <a:off x="86586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69" name="Rounded Rectangle 168"/>
          <p:cNvSpPr/>
          <p:nvPr/>
        </p:nvSpPr>
        <p:spPr>
          <a:xfrm>
            <a:off x="8143875"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Categoryf5</a:t>
            </a:r>
          </a:p>
        </p:txBody>
      </p:sp>
      <p:sp>
        <p:nvSpPr>
          <p:cNvPr id="170" name="Rounded Rectangle 169"/>
          <p:cNvSpPr/>
          <p:nvPr/>
        </p:nvSpPr>
        <p:spPr>
          <a:xfrm>
            <a:off x="8205243" y="2272179"/>
            <a:ext cx="161462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71" name="Rounded Rectangle 170"/>
          <p:cNvSpPr/>
          <p:nvPr/>
        </p:nvSpPr>
        <p:spPr>
          <a:xfrm>
            <a:off x="8205243" y="3461824"/>
            <a:ext cx="161462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72" name="Rounded Rectangle 171"/>
          <p:cNvSpPr/>
          <p:nvPr/>
        </p:nvSpPr>
        <p:spPr>
          <a:xfrm>
            <a:off x="8205243" y="4297478"/>
            <a:ext cx="161462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73" name="Rounded Rectangle 172"/>
          <p:cNvSpPr/>
          <p:nvPr/>
        </p:nvSpPr>
        <p:spPr>
          <a:xfrm>
            <a:off x="8205243" y="5487125"/>
            <a:ext cx="161462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74" name="Oval 173"/>
          <p:cNvSpPr/>
          <p:nvPr/>
        </p:nvSpPr>
        <p:spPr>
          <a:xfrm>
            <a:off x="8358260" y="2849594"/>
            <a:ext cx="1308590"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75" name="Oval 174"/>
          <p:cNvSpPr/>
          <p:nvPr/>
        </p:nvSpPr>
        <p:spPr>
          <a:xfrm>
            <a:off x="8358260" y="4874894"/>
            <a:ext cx="1308590"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76" name="Rounded Rectangle 175"/>
          <p:cNvSpPr/>
          <p:nvPr/>
        </p:nvSpPr>
        <p:spPr>
          <a:xfrm>
            <a:off x="252400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Categoryf2</a:t>
            </a:r>
          </a:p>
        </p:txBody>
      </p:sp>
      <p:sp>
        <p:nvSpPr>
          <p:cNvPr id="177" name="Rounded Rectangle 176"/>
          <p:cNvSpPr/>
          <p:nvPr/>
        </p:nvSpPr>
        <p:spPr>
          <a:xfrm>
            <a:off x="258630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78" name="Rounded Rectangle 177"/>
          <p:cNvSpPr/>
          <p:nvPr/>
        </p:nvSpPr>
        <p:spPr>
          <a:xfrm>
            <a:off x="258630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79" name="Rounded Rectangle 178"/>
          <p:cNvSpPr/>
          <p:nvPr/>
        </p:nvSpPr>
        <p:spPr>
          <a:xfrm>
            <a:off x="258630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80" name="Rounded Rectangle 179"/>
          <p:cNvSpPr/>
          <p:nvPr/>
        </p:nvSpPr>
        <p:spPr>
          <a:xfrm>
            <a:off x="258630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81" name="Oval 180"/>
          <p:cNvSpPr/>
          <p:nvPr/>
        </p:nvSpPr>
        <p:spPr>
          <a:xfrm>
            <a:off x="273915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2" name="Oval 181"/>
          <p:cNvSpPr/>
          <p:nvPr/>
        </p:nvSpPr>
        <p:spPr>
          <a:xfrm>
            <a:off x="273915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3" name="Rounded Rectangle 182"/>
          <p:cNvSpPr/>
          <p:nvPr/>
        </p:nvSpPr>
        <p:spPr>
          <a:xfrm>
            <a:off x="439729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Categoryf3</a:t>
            </a:r>
          </a:p>
        </p:txBody>
      </p:sp>
      <p:sp>
        <p:nvSpPr>
          <p:cNvPr id="184" name="Rounded Rectangle 183"/>
          <p:cNvSpPr/>
          <p:nvPr/>
        </p:nvSpPr>
        <p:spPr>
          <a:xfrm>
            <a:off x="445959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85" name="Rounded Rectangle 184"/>
          <p:cNvSpPr/>
          <p:nvPr/>
        </p:nvSpPr>
        <p:spPr>
          <a:xfrm>
            <a:off x="445959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86" name="Rounded Rectangle 185"/>
          <p:cNvSpPr/>
          <p:nvPr/>
        </p:nvSpPr>
        <p:spPr>
          <a:xfrm>
            <a:off x="445959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87" name="Rounded Rectangle 186"/>
          <p:cNvSpPr/>
          <p:nvPr/>
        </p:nvSpPr>
        <p:spPr>
          <a:xfrm>
            <a:off x="445959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88" name="Oval 187"/>
          <p:cNvSpPr/>
          <p:nvPr/>
        </p:nvSpPr>
        <p:spPr>
          <a:xfrm>
            <a:off x="461244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89" name="Oval 188"/>
          <p:cNvSpPr/>
          <p:nvPr/>
        </p:nvSpPr>
        <p:spPr>
          <a:xfrm>
            <a:off x="461244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90" name="Rounded Rectangle 189"/>
          <p:cNvSpPr/>
          <p:nvPr/>
        </p:nvSpPr>
        <p:spPr>
          <a:xfrm>
            <a:off x="6270587" y="1719043"/>
            <a:ext cx="173736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Categoryf4</a:t>
            </a:r>
          </a:p>
        </p:txBody>
      </p:sp>
      <p:sp>
        <p:nvSpPr>
          <p:cNvPr id="191" name="Rounded Rectangle 190"/>
          <p:cNvSpPr/>
          <p:nvPr/>
        </p:nvSpPr>
        <p:spPr>
          <a:xfrm>
            <a:off x="6332889" y="2272179"/>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92" name="Rounded Rectangle 191"/>
          <p:cNvSpPr/>
          <p:nvPr/>
        </p:nvSpPr>
        <p:spPr>
          <a:xfrm>
            <a:off x="6332889" y="3461824"/>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93" name="Rounded Rectangle 192"/>
          <p:cNvSpPr/>
          <p:nvPr/>
        </p:nvSpPr>
        <p:spPr>
          <a:xfrm>
            <a:off x="6332889" y="4297478"/>
            <a:ext cx="1612755"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94" name="Rounded Rectangle 193"/>
          <p:cNvSpPr/>
          <p:nvPr/>
        </p:nvSpPr>
        <p:spPr>
          <a:xfrm>
            <a:off x="6332889" y="5487125"/>
            <a:ext cx="1612755"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95" name="Oval 194"/>
          <p:cNvSpPr/>
          <p:nvPr/>
        </p:nvSpPr>
        <p:spPr>
          <a:xfrm>
            <a:off x="6485730" y="28495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96" name="Oval 195"/>
          <p:cNvSpPr/>
          <p:nvPr/>
        </p:nvSpPr>
        <p:spPr>
          <a:xfrm>
            <a:off x="6485730" y="4874894"/>
            <a:ext cx="130707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97" name="Elbow Connector 196"/>
          <p:cNvCxnSpPr>
            <a:endCxn id="176" idx="0"/>
          </p:cNvCxnSpPr>
          <p:nvPr/>
        </p:nvCxnSpPr>
        <p:spPr>
          <a:xfrm rot="5400000">
            <a:off x="4179049" y="646931"/>
            <a:ext cx="285750" cy="185847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98" name="Elbow Connector 197"/>
          <p:cNvCxnSpPr>
            <a:endCxn id="190" idx="0"/>
          </p:cNvCxnSpPr>
          <p:nvPr/>
        </p:nvCxnSpPr>
        <p:spPr>
          <a:xfrm rot="16200000" flipH="1">
            <a:off x="6052339" y="632115"/>
            <a:ext cx="285750" cy="188810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99" name="Straight Arrow Connector 198"/>
          <p:cNvCxnSpPr>
            <a:endCxn id="183" idx="0"/>
          </p:cNvCxnSpPr>
          <p:nvPr/>
        </p:nvCxnSpPr>
        <p:spPr>
          <a:xfrm>
            <a:off x="5251161" y="1433293"/>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184</a:t>
            </a:fld>
            <a:endParaRPr lang="en-GB" dirty="0"/>
          </a:p>
        </p:txBody>
      </p:sp>
    </p:spTree>
    <p:extLst>
      <p:ext uri="{BB962C8B-B14F-4D97-AF65-F5344CB8AC3E}">
        <p14:creationId xmlns:p14="http://schemas.microsoft.com/office/powerpoint/2010/main" val="511165382"/>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Category-F</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Category-F</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73824" y="-358294"/>
            <a:ext cx="285750" cy="386892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053752" y="-369299"/>
            <a:ext cx="285750" cy="3890933"/>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Categoryf1</a:t>
            </a:r>
          </a:p>
        </p:txBody>
      </p:sp>
      <p:sp>
        <p:nvSpPr>
          <p:cNvPr id="85" name="Rounded Rectangle 84"/>
          <p:cNvSpPr/>
          <p:nvPr/>
        </p:nvSpPr>
        <p:spPr>
          <a:xfrm>
            <a:off x="703182"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703182"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703182"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703182"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831890"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831890"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410574"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Categoryf6</a:t>
            </a:r>
          </a:p>
        </p:txBody>
      </p:sp>
      <p:sp>
        <p:nvSpPr>
          <p:cNvPr id="92" name="Rounded Rectangle 91"/>
          <p:cNvSpPr/>
          <p:nvPr/>
        </p:nvSpPr>
        <p:spPr>
          <a:xfrm>
            <a:off x="8462252" y="2272179"/>
            <a:ext cx="135968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462252" y="3461824"/>
            <a:ext cx="135968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462252" y="4297478"/>
            <a:ext cx="135968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462252" y="5487125"/>
            <a:ext cx="135968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591109" y="2849594"/>
            <a:ext cx="110197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591109" y="4874894"/>
            <a:ext cx="110197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0" idx="0"/>
          </p:cNvCxnSpPr>
          <p:nvPr/>
        </p:nvCxnSpPr>
        <p:spPr>
          <a:xfrm rot="5400000">
            <a:off x="3949810" y="417692"/>
            <a:ext cx="285750" cy="2316953"/>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21" idx="0"/>
          </p:cNvCxnSpPr>
          <p:nvPr/>
        </p:nvCxnSpPr>
        <p:spPr>
          <a:xfrm rot="16200000" flipH="1">
            <a:off x="6277766" y="406688"/>
            <a:ext cx="285750" cy="233896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0" name="Rounded Rectangle 99"/>
          <p:cNvSpPr/>
          <p:nvPr/>
        </p:nvSpPr>
        <p:spPr>
          <a:xfrm>
            <a:off x="2202688"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Categoryf2</a:t>
            </a:r>
          </a:p>
        </p:txBody>
      </p:sp>
      <p:sp>
        <p:nvSpPr>
          <p:cNvPr id="101" name="Rounded Rectangle 100"/>
          <p:cNvSpPr/>
          <p:nvPr/>
        </p:nvSpPr>
        <p:spPr>
          <a:xfrm>
            <a:off x="2255153"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2" name="Rounded Rectangle 101"/>
          <p:cNvSpPr/>
          <p:nvPr/>
        </p:nvSpPr>
        <p:spPr>
          <a:xfrm>
            <a:off x="2255153"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3" name="Rounded Rectangle 102"/>
          <p:cNvSpPr/>
          <p:nvPr/>
        </p:nvSpPr>
        <p:spPr>
          <a:xfrm>
            <a:off x="2255153"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4" name="Rounded Rectangle 103"/>
          <p:cNvSpPr/>
          <p:nvPr/>
        </p:nvSpPr>
        <p:spPr>
          <a:xfrm>
            <a:off x="2255153"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5" name="Oval 104"/>
          <p:cNvSpPr/>
          <p:nvPr/>
        </p:nvSpPr>
        <p:spPr>
          <a:xfrm>
            <a:off x="2383861"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6" name="Oval 105"/>
          <p:cNvSpPr/>
          <p:nvPr/>
        </p:nvSpPr>
        <p:spPr>
          <a:xfrm>
            <a:off x="2383861"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7" name="Rounded Rectangle 106"/>
          <p:cNvSpPr/>
          <p:nvPr/>
        </p:nvSpPr>
        <p:spPr>
          <a:xfrm>
            <a:off x="3754659"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Categoryf3</a:t>
            </a:r>
          </a:p>
        </p:txBody>
      </p:sp>
      <p:sp>
        <p:nvSpPr>
          <p:cNvPr id="108" name="Rounded Rectangle 107"/>
          <p:cNvSpPr/>
          <p:nvPr/>
        </p:nvSpPr>
        <p:spPr>
          <a:xfrm>
            <a:off x="3807124"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9" name="Rounded Rectangle 108"/>
          <p:cNvSpPr/>
          <p:nvPr/>
        </p:nvSpPr>
        <p:spPr>
          <a:xfrm>
            <a:off x="3807124"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0" name="Rounded Rectangle 109"/>
          <p:cNvSpPr/>
          <p:nvPr/>
        </p:nvSpPr>
        <p:spPr>
          <a:xfrm>
            <a:off x="3807124"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1" name="Rounded Rectangle 110"/>
          <p:cNvSpPr/>
          <p:nvPr/>
        </p:nvSpPr>
        <p:spPr>
          <a:xfrm>
            <a:off x="3807124"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2" name="Oval 111"/>
          <p:cNvSpPr/>
          <p:nvPr/>
        </p:nvSpPr>
        <p:spPr>
          <a:xfrm>
            <a:off x="3935832"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3" name="Oval 112"/>
          <p:cNvSpPr/>
          <p:nvPr/>
        </p:nvSpPr>
        <p:spPr>
          <a:xfrm>
            <a:off x="3935832"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4" name="Rounded Rectangle 113"/>
          <p:cNvSpPr/>
          <p:nvPr/>
        </p:nvSpPr>
        <p:spPr>
          <a:xfrm>
            <a:off x="5306630"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Categoryf4</a:t>
            </a:r>
          </a:p>
        </p:txBody>
      </p:sp>
      <p:sp>
        <p:nvSpPr>
          <p:cNvPr id="115" name="Rounded Rectangle 114"/>
          <p:cNvSpPr/>
          <p:nvPr/>
        </p:nvSpPr>
        <p:spPr>
          <a:xfrm>
            <a:off x="5359095"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6" name="Rounded Rectangle 115"/>
          <p:cNvSpPr/>
          <p:nvPr/>
        </p:nvSpPr>
        <p:spPr>
          <a:xfrm>
            <a:off x="5359095"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7" name="Rounded Rectangle 116"/>
          <p:cNvSpPr/>
          <p:nvPr/>
        </p:nvSpPr>
        <p:spPr>
          <a:xfrm>
            <a:off x="5359095"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8" name="Rounded Rectangle 117"/>
          <p:cNvSpPr/>
          <p:nvPr/>
        </p:nvSpPr>
        <p:spPr>
          <a:xfrm>
            <a:off x="5359095"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9" name="Oval 118"/>
          <p:cNvSpPr/>
          <p:nvPr/>
        </p:nvSpPr>
        <p:spPr>
          <a:xfrm>
            <a:off x="5487803"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0" name="Oval 119"/>
          <p:cNvSpPr/>
          <p:nvPr/>
        </p:nvSpPr>
        <p:spPr>
          <a:xfrm>
            <a:off x="5487803"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1" name="Rounded Rectangle 120"/>
          <p:cNvSpPr/>
          <p:nvPr/>
        </p:nvSpPr>
        <p:spPr>
          <a:xfrm>
            <a:off x="6858601" y="1719043"/>
            <a:ext cx="14630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Categoryf5</a:t>
            </a:r>
          </a:p>
        </p:txBody>
      </p:sp>
      <p:sp>
        <p:nvSpPr>
          <p:cNvPr id="122" name="Rounded Rectangle 121"/>
          <p:cNvSpPr/>
          <p:nvPr/>
        </p:nvSpPr>
        <p:spPr>
          <a:xfrm>
            <a:off x="6911066" y="2272179"/>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3" name="Rounded Rectangle 122"/>
          <p:cNvSpPr/>
          <p:nvPr/>
        </p:nvSpPr>
        <p:spPr>
          <a:xfrm>
            <a:off x="6911066" y="3461824"/>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4" name="Rounded Rectangle 123"/>
          <p:cNvSpPr/>
          <p:nvPr/>
        </p:nvSpPr>
        <p:spPr>
          <a:xfrm>
            <a:off x="6911066" y="4297478"/>
            <a:ext cx="1358109"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5" name="Rounded Rectangle 124"/>
          <p:cNvSpPr/>
          <p:nvPr/>
        </p:nvSpPr>
        <p:spPr>
          <a:xfrm>
            <a:off x="6911066" y="5487125"/>
            <a:ext cx="1358109"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6" name="Oval 125"/>
          <p:cNvSpPr/>
          <p:nvPr/>
        </p:nvSpPr>
        <p:spPr>
          <a:xfrm>
            <a:off x="7039774" y="28495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7" name="Oval 126"/>
          <p:cNvSpPr/>
          <p:nvPr/>
        </p:nvSpPr>
        <p:spPr>
          <a:xfrm>
            <a:off x="7039774" y="4874894"/>
            <a:ext cx="110069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28" name="Elbow Connector 127"/>
          <p:cNvCxnSpPr>
            <a:endCxn id="107" idx="0"/>
          </p:cNvCxnSpPr>
          <p:nvPr/>
        </p:nvCxnSpPr>
        <p:spPr>
          <a:xfrm rot="5400000">
            <a:off x="4725795" y="1193677"/>
            <a:ext cx="285750" cy="76498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29" name="Elbow Connector 128"/>
          <p:cNvCxnSpPr>
            <a:endCxn id="114" idx="0"/>
          </p:cNvCxnSpPr>
          <p:nvPr/>
        </p:nvCxnSpPr>
        <p:spPr>
          <a:xfrm rot="16200000" flipH="1">
            <a:off x="5501780" y="1182673"/>
            <a:ext cx="285750" cy="786989"/>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185</a:t>
            </a:fld>
            <a:endParaRPr lang="en-GB" dirty="0"/>
          </a:p>
        </p:txBody>
      </p:sp>
    </p:spTree>
    <p:extLst>
      <p:ext uri="{BB962C8B-B14F-4D97-AF65-F5344CB8AC3E}">
        <p14:creationId xmlns:p14="http://schemas.microsoft.com/office/powerpoint/2010/main" val="3083288404"/>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Category-F</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Category-F</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05244" y="-426874"/>
            <a:ext cx="285750" cy="400608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22809" y="-438355"/>
            <a:ext cx="285750" cy="402904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Categoryf1</a:t>
            </a:r>
          </a:p>
        </p:txBody>
      </p:sp>
      <p:sp>
        <p:nvSpPr>
          <p:cNvPr id="85" name="Rounded Rectangle 84"/>
          <p:cNvSpPr/>
          <p:nvPr/>
        </p:nvSpPr>
        <p:spPr>
          <a:xfrm>
            <a:off x="693345"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93345"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93345"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93345"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97920"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97920"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686800" y="1719043"/>
            <a:ext cx="1186814"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Categoryf7</a:t>
            </a:r>
          </a:p>
        </p:txBody>
      </p:sp>
      <p:sp>
        <p:nvSpPr>
          <p:cNvPr id="92" name="Rounded Rectangle 91"/>
          <p:cNvSpPr/>
          <p:nvPr/>
        </p:nvSpPr>
        <p:spPr>
          <a:xfrm>
            <a:off x="8728721" y="2272179"/>
            <a:ext cx="110297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728721" y="3461824"/>
            <a:ext cx="110297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728721" y="4297478"/>
            <a:ext cx="110297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728721" y="5487125"/>
            <a:ext cx="110297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833250" y="2849594"/>
            <a:ext cx="89391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833250" y="4874894"/>
            <a:ext cx="89391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2" idx="0"/>
          </p:cNvCxnSpPr>
          <p:nvPr/>
        </p:nvCxnSpPr>
        <p:spPr>
          <a:xfrm rot="5400000">
            <a:off x="3774918" y="242800"/>
            <a:ext cx="285750" cy="2666737"/>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30" idx="0"/>
          </p:cNvCxnSpPr>
          <p:nvPr/>
        </p:nvCxnSpPr>
        <p:spPr>
          <a:xfrm rot="16200000" flipH="1">
            <a:off x="6453611" y="230842"/>
            <a:ext cx="285750" cy="2690651"/>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09" idx="0"/>
          </p:cNvCxnSpPr>
          <p:nvPr/>
        </p:nvCxnSpPr>
        <p:spPr>
          <a:xfrm rot="5400000">
            <a:off x="4444591" y="912473"/>
            <a:ext cx="285750" cy="132739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23" idx="0"/>
          </p:cNvCxnSpPr>
          <p:nvPr/>
        </p:nvCxnSpPr>
        <p:spPr>
          <a:xfrm rot="16200000" flipH="1">
            <a:off x="5783938" y="900516"/>
            <a:ext cx="285750" cy="135130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2" name="Rounded Rectangle 101"/>
          <p:cNvSpPr/>
          <p:nvPr/>
        </p:nvSpPr>
        <p:spPr>
          <a:xfrm>
            <a:off x="1990064"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Categoryf2</a:t>
            </a:r>
          </a:p>
        </p:txBody>
      </p:sp>
      <p:sp>
        <p:nvSpPr>
          <p:cNvPr id="103" name="Rounded Rectangle 102"/>
          <p:cNvSpPr/>
          <p:nvPr/>
        </p:nvSpPr>
        <p:spPr>
          <a:xfrm>
            <a:off x="2032692"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4" name="Rounded Rectangle 103"/>
          <p:cNvSpPr/>
          <p:nvPr/>
        </p:nvSpPr>
        <p:spPr>
          <a:xfrm>
            <a:off x="2032692"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5" name="Rounded Rectangle 104"/>
          <p:cNvSpPr/>
          <p:nvPr/>
        </p:nvSpPr>
        <p:spPr>
          <a:xfrm>
            <a:off x="2032692"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6" name="Rounded Rectangle 105"/>
          <p:cNvSpPr/>
          <p:nvPr/>
        </p:nvSpPr>
        <p:spPr>
          <a:xfrm>
            <a:off x="2032692"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7" name="Oval 106"/>
          <p:cNvSpPr/>
          <p:nvPr/>
        </p:nvSpPr>
        <p:spPr>
          <a:xfrm>
            <a:off x="2137267"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8" name="Oval 107"/>
          <p:cNvSpPr/>
          <p:nvPr/>
        </p:nvSpPr>
        <p:spPr>
          <a:xfrm>
            <a:off x="2137267"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9" name="Rounded Rectangle 108"/>
          <p:cNvSpPr/>
          <p:nvPr/>
        </p:nvSpPr>
        <p:spPr>
          <a:xfrm>
            <a:off x="3329411"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Categoryf3</a:t>
            </a:r>
          </a:p>
        </p:txBody>
      </p:sp>
      <p:sp>
        <p:nvSpPr>
          <p:cNvPr id="110" name="Rounded Rectangle 109"/>
          <p:cNvSpPr/>
          <p:nvPr/>
        </p:nvSpPr>
        <p:spPr>
          <a:xfrm>
            <a:off x="3372039"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1" name="Rounded Rectangle 110"/>
          <p:cNvSpPr/>
          <p:nvPr/>
        </p:nvSpPr>
        <p:spPr>
          <a:xfrm>
            <a:off x="3372039"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2" name="Rounded Rectangle 111"/>
          <p:cNvSpPr/>
          <p:nvPr/>
        </p:nvSpPr>
        <p:spPr>
          <a:xfrm>
            <a:off x="3372039"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3" name="Rounded Rectangle 112"/>
          <p:cNvSpPr/>
          <p:nvPr/>
        </p:nvSpPr>
        <p:spPr>
          <a:xfrm>
            <a:off x="3372039"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4" name="Oval 113"/>
          <p:cNvSpPr/>
          <p:nvPr/>
        </p:nvSpPr>
        <p:spPr>
          <a:xfrm>
            <a:off x="3476614"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5" name="Oval 114"/>
          <p:cNvSpPr/>
          <p:nvPr/>
        </p:nvSpPr>
        <p:spPr>
          <a:xfrm>
            <a:off x="3476614"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6" name="Rounded Rectangle 115"/>
          <p:cNvSpPr/>
          <p:nvPr/>
        </p:nvSpPr>
        <p:spPr>
          <a:xfrm>
            <a:off x="4668758"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Categoryf4</a:t>
            </a:r>
          </a:p>
        </p:txBody>
      </p:sp>
      <p:sp>
        <p:nvSpPr>
          <p:cNvPr id="117" name="Rounded Rectangle 116"/>
          <p:cNvSpPr/>
          <p:nvPr/>
        </p:nvSpPr>
        <p:spPr>
          <a:xfrm>
            <a:off x="4711386"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8" name="Rounded Rectangle 117"/>
          <p:cNvSpPr/>
          <p:nvPr/>
        </p:nvSpPr>
        <p:spPr>
          <a:xfrm>
            <a:off x="4711386"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9" name="Rounded Rectangle 118"/>
          <p:cNvSpPr/>
          <p:nvPr/>
        </p:nvSpPr>
        <p:spPr>
          <a:xfrm>
            <a:off x="4711386"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0" name="Rounded Rectangle 119"/>
          <p:cNvSpPr/>
          <p:nvPr/>
        </p:nvSpPr>
        <p:spPr>
          <a:xfrm>
            <a:off x="4711386"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1" name="Oval 120"/>
          <p:cNvSpPr/>
          <p:nvPr/>
        </p:nvSpPr>
        <p:spPr>
          <a:xfrm>
            <a:off x="4815961"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2" name="Oval 121"/>
          <p:cNvSpPr/>
          <p:nvPr/>
        </p:nvSpPr>
        <p:spPr>
          <a:xfrm>
            <a:off x="4815961"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3" name="Rounded Rectangle 122"/>
          <p:cNvSpPr/>
          <p:nvPr/>
        </p:nvSpPr>
        <p:spPr>
          <a:xfrm>
            <a:off x="6008105"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Categoryf5</a:t>
            </a:r>
          </a:p>
        </p:txBody>
      </p:sp>
      <p:sp>
        <p:nvSpPr>
          <p:cNvPr id="124" name="Rounded Rectangle 123"/>
          <p:cNvSpPr/>
          <p:nvPr/>
        </p:nvSpPr>
        <p:spPr>
          <a:xfrm>
            <a:off x="6050733"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5" name="Rounded Rectangle 124"/>
          <p:cNvSpPr/>
          <p:nvPr/>
        </p:nvSpPr>
        <p:spPr>
          <a:xfrm>
            <a:off x="6050733"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6" name="Rounded Rectangle 125"/>
          <p:cNvSpPr/>
          <p:nvPr/>
        </p:nvSpPr>
        <p:spPr>
          <a:xfrm>
            <a:off x="6050733"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7" name="Rounded Rectangle 126"/>
          <p:cNvSpPr/>
          <p:nvPr/>
        </p:nvSpPr>
        <p:spPr>
          <a:xfrm>
            <a:off x="6050733"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8" name="Oval 127"/>
          <p:cNvSpPr/>
          <p:nvPr/>
        </p:nvSpPr>
        <p:spPr>
          <a:xfrm>
            <a:off x="6155308"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9" name="Oval 128"/>
          <p:cNvSpPr/>
          <p:nvPr/>
        </p:nvSpPr>
        <p:spPr>
          <a:xfrm>
            <a:off x="6155308"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0" name="Rounded Rectangle 129"/>
          <p:cNvSpPr/>
          <p:nvPr/>
        </p:nvSpPr>
        <p:spPr>
          <a:xfrm>
            <a:off x="7347452" y="1719043"/>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Categoryf6</a:t>
            </a:r>
          </a:p>
        </p:txBody>
      </p:sp>
      <p:sp>
        <p:nvSpPr>
          <p:cNvPr id="131" name="Rounded Rectangle 130"/>
          <p:cNvSpPr/>
          <p:nvPr/>
        </p:nvSpPr>
        <p:spPr>
          <a:xfrm>
            <a:off x="7390080" y="2272179"/>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2" name="Rounded Rectangle 131"/>
          <p:cNvSpPr/>
          <p:nvPr/>
        </p:nvSpPr>
        <p:spPr>
          <a:xfrm>
            <a:off x="7390080" y="3461824"/>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3" name="Rounded Rectangle 132"/>
          <p:cNvSpPr/>
          <p:nvPr/>
        </p:nvSpPr>
        <p:spPr>
          <a:xfrm>
            <a:off x="7390080" y="4297478"/>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4" name="Rounded Rectangle 133"/>
          <p:cNvSpPr/>
          <p:nvPr/>
        </p:nvSpPr>
        <p:spPr>
          <a:xfrm>
            <a:off x="7390080" y="5487125"/>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5" name="Oval 134"/>
          <p:cNvSpPr/>
          <p:nvPr/>
        </p:nvSpPr>
        <p:spPr>
          <a:xfrm>
            <a:off x="7494655" y="28495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Oval 135"/>
          <p:cNvSpPr/>
          <p:nvPr/>
        </p:nvSpPr>
        <p:spPr>
          <a:xfrm>
            <a:off x="7494655" y="4874894"/>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37" name="Straight Arrow Connector 136"/>
          <p:cNvCxnSpPr>
            <a:endCxn id="116" idx="0"/>
          </p:cNvCxnSpPr>
          <p:nvPr/>
        </p:nvCxnSpPr>
        <p:spPr>
          <a:xfrm>
            <a:off x="5251161" y="1433293"/>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186</a:t>
            </a:fld>
            <a:endParaRPr lang="en-GB" dirty="0"/>
          </a:p>
        </p:txBody>
      </p:sp>
    </p:spTree>
    <p:extLst>
      <p:ext uri="{BB962C8B-B14F-4D97-AF65-F5344CB8AC3E}">
        <p14:creationId xmlns:p14="http://schemas.microsoft.com/office/powerpoint/2010/main" val="3040746016"/>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Category-F</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Category-F</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105244" y="-426874"/>
            <a:ext cx="285750" cy="400608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22809" y="-438355"/>
            <a:ext cx="285750" cy="402904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Categoryf1</a:t>
            </a:r>
          </a:p>
        </p:txBody>
      </p:sp>
      <p:sp>
        <p:nvSpPr>
          <p:cNvPr id="85" name="Rounded Rectangle 84"/>
          <p:cNvSpPr/>
          <p:nvPr/>
        </p:nvSpPr>
        <p:spPr>
          <a:xfrm>
            <a:off x="690066"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90066"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90066"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90066"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86597"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86597"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772524" y="1719043"/>
            <a:ext cx="1101089"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Categoryf8</a:t>
            </a:r>
          </a:p>
        </p:txBody>
      </p:sp>
      <p:sp>
        <p:nvSpPr>
          <p:cNvPr id="92" name="Rounded Rectangle 91"/>
          <p:cNvSpPr/>
          <p:nvPr/>
        </p:nvSpPr>
        <p:spPr>
          <a:xfrm>
            <a:off x="8811417" y="2272179"/>
            <a:ext cx="102330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811417" y="3461824"/>
            <a:ext cx="102330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811417" y="4297478"/>
            <a:ext cx="102330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811417" y="5487125"/>
            <a:ext cx="102330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908395" y="2849594"/>
            <a:ext cx="829347"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908395" y="4874894"/>
            <a:ext cx="829347"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2" idx="0"/>
          </p:cNvCxnSpPr>
          <p:nvPr/>
        </p:nvCxnSpPr>
        <p:spPr>
          <a:xfrm rot="5400000">
            <a:off x="3662513" y="130395"/>
            <a:ext cx="285750" cy="289154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37" idx="0"/>
          </p:cNvCxnSpPr>
          <p:nvPr/>
        </p:nvCxnSpPr>
        <p:spPr>
          <a:xfrm rot="16200000" flipH="1">
            <a:off x="6563158" y="121296"/>
            <a:ext cx="285750" cy="290974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09" idx="0"/>
          </p:cNvCxnSpPr>
          <p:nvPr/>
        </p:nvCxnSpPr>
        <p:spPr>
          <a:xfrm rot="5400000">
            <a:off x="4242642" y="710524"/>
            <a:ext cx="285750" cy="173128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30" idx="0"/>
          </p:cNvCxnSpPr>
          <p:nvPr/>
        </p:nvCxnSpPr>
        <p:spPr>
          <a:xfrm rot="16200000" flipH="1">
            <a:off x="5983029" y="701425"/>
            <a:ext cx="285750" cy="174948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2" name="Rounded Rectangle 101"/>
          <p:cNvSpPr/>
          <p:nvPr/>
        </p:nvSpPr>
        <p:spPr>
          <a:xfrm>
            <a:off x="1810975"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Categoryf2</a:t>
            </a:r>
          </a:p>
        </p:txBody>
      </p:sp>
      <p:sp>
        <p:nvSpPr>
          <p:cNvPr id="103" name="Rounded Rectangle 102"/>
          <p:cNvSpPr/>
          <p:nvPr/>
        </p:nvSpPr>
        <p:spPr>
          <a:xfrm>
            <a:off x="1850324"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4" name="Rounded Rectangle 103"/>
          <p:cNvSpPr/>
          <p:nvPr/>
        </p:nvSpPr>
        <p:spPr>
          <a:xfrm>
            <a:off x="1850324"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5" name="Rounded Rectangle 104"/>
          <p:cNvSpPr/>
          <p:nvPr/>
        </p:nvSpPr>
        <p:spPr>
          <a:xfrm>
            <a:off x="1850324"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6" name="Rounded Rectangle 105"/>
          <p:cNvSpPr/>
          <p:nvPr/>
        </p:nvSpPr>
        <p:spPr>
          <a:xfrm>
            <a:off x="1850324"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7" name="Oval 106"/>
          <p:cNvSpPr/>
          <p:nvPr/>
        </p:nvSpPr>
        <p:spPr>
          <a:xfrm>
            <a:off x="1946855"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8" name="Oval 107"/>
          <p:cNvSpPr/>
          <p:nvPr/>
        </p:nvSpPr>
        <p:spPr>
          <a:xfrm>
            <a:off x="1946855"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9" name="Rounded Rectangle 108"/>
          <p:cNvSpPr/>
          <p:nvPr/>
        </p:nvSpPr>
        <p:spPr>
          <a:xfrm>
            <a:off x="2971233"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Categoryf3</a:t>
            </a:r>
          </a:p>
        </p:txBody>
      </p:sp>
      <p:sp>
        <p:nvSpPr>
          <p:cNvPr id="110" name="Rounded Rectangle 109"/>
          <p:cNvSpPr/>
          <p:nvPr/>
        </p:nvSpPr>
        <p:spPr>
          <a:xfrm>
            <a:off x="3010582"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1" name="Rounded Rectangle 110"/>
          <p:cNvSpPr/>
          <p:nvPr/>
        </p:nvSpPr>
        <p:spPr>
          <a:xfrm>
            <a:off x="3010582"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2" name="Rounded Rectangle 111"/>
          <p:cNvSpPr/>
          <p:nvPr/>
        </p:nvSpPr>
        <p:spPr>
          <a:xfrm>
            <a:off x="3010582"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3" name="Rounded Rectangle 112"/>
          <p:cNvSpPr/>
          <p:nvPr/>
        </p:nvSpPr>
        <p:spPr>
          <a:xfrm>
            <a:off x="3010582"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4" name="Oval 113"/>
          <p:cNvSpPr/>
          <p:nvPr/>
        </p:nvSpPr>
        <p:spPr>
          <a:xfrm>
            <a:off x="3107113"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5" name="Oval 114"/>
          <p:cNvSpPr/>
          <p:nvPr/>
        </p:nvSpPr>
        <p:spPr>
          <a:xfrm>
            <a:off x="3107113"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6" name="Rounded Rectangle 115"/>
          <p:cNvSpPr/>
          <p:nvPr/>
        </p:nvSpPr>
        <p:spPr>
          <a:xfrm>
            <a:off x="4131491"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Categoryf4</a:t>
            </a:r>
          </a:p>
        </p:txBody>
      </p:sp>
      <p:sp>
        <p:nvSpPr>
          <p:cNvPr id="117" name="Rounded Rectangle 116"/>
          <p:cNvSpPr/>
          <p:nvPr/>
        </p:nvSpPr>
        <p:spPr>
          <a:xfrm>
            <a:off x="4170840"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8" name="Rounded Rectangle 117"/>
          <p:cNvSpPr/>
          <p:nvPr/>
        </p:nvSpPr>
        <p:spPr>
          <a:xfrm>
            <a:off x="4170840"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9" name="Rounded Rectangle 118"/>
          <p:cNvSpPr/>
          <p:nvPr/>
        </p:nvSpPr>
        <p:spPr>
          <a:xfrm>
            <a:off x="4170840"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0" name="Rounded Rectangle 119"/>
          <p:cNvSpPr/>
          <p:nvPr/>
        </p:nvSpPr>
        <p:spPr>
          <a:xfrm>
            <a:off x="4170840"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1" name="Oval 120"/>
          <p:cNvSpPr/>
          <p:nvPr/>
        </p:nvSpPr>
        <p:spPr>
          <a:xfrm>
            <a:off x="4267371"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2" name="Oval 121"/>
          <p:cNvSpPr/>
          <p:nvPr/>
        </p:nvSpPr>
        <p:spPr>
          <a:xfrm>
            <a:off x="4267371"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3" name="Rounded Rectangle 122"/>
          <p:cNvSpPr/>
          <p:nvPr/>
        </p:nvSpPr>
        <p:spPr>
          <a:xfrm>
            <a:off x="5291749"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Categoryf5</a:t>
            </a:r>
          </a:p>
        </p:txBody>
      </p:sp>
      <p:sp>
        <p:nvSpPr>
          <p:cNvPr id="124" name="Rounded Rectangle 123"/>
          <p:cNvSpPr/>
          <p:nvPr/>
        </p:nvSpPr>
        <p:spPr>
          <a:xfrm>
            <a:off x="5331098"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5" name="Rounded Rectangle 124"/>
          <p:cNvSpPr/>
          <p:nvPr/>
        </p:nvSpPr>
        <p:spPr>
          <a:xfrm>
            <a:off x="5331098"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6" name="Rounded Rectangle 125"/>
          <p:cNvSpPr/>
          <p:nvPr/>
        </p:nvSpPr>
        <p:spPr>
          <a:xfrm>
            <a:off x="5331098"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7" name="Rounded Rectangle 126"/>
          <p:cNvSpPr/>
          <p:nvPr/>
        </p:nvSpPr>
        <p:spPr>
          <a:xfrm>
            <a:off x="5331098"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8" name="Oval 127"/>
          <p:cNvSpPr/>
          <p:nvPr/>
        </p:nvSpPr>
        <p:spPr>
          <a:xfrm>
            <a:off x="5427629"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9" name="Oval 128"/>
          <p:cNvSpPr/>
          <p:nvPr/>
        </p:nvSpPr>
        <p:spPr>
          <a:xfrm>
            <a:off x="5427629"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0" name="Rounded Rectangle 129"/>
          <p:cNvSpPr/>
          <p:nvPr/>
        </p:nvSpPr>
        <p:spPr>
          <a:xfrm>
            <a:off x="6452007"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Categoryf6</a:t>
            </a:r>
          </a:p>
        </p:txBody>
      </p:sp>
      <p:sp>
        <p:nvSpPr>
          <p:cNvPr id="131" name="Rounded Rectangle 130"/>
          <p:cNvSpPr/>
          <p:nvPr/>
        </p:nvSpPr>
        <p:spPr>
          <a:xfrm>
            <a:off x="6491356"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2" name="Rounded Rectangle 131"/>
          <p:cNvSpPr/>
          <p:nvPr/>
        </p:nvSpPr>
        <p:spPr>
          <a:xfrm>
            <a:off x="6491356"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3" name="Rounded Rectangle 132"/>
          <p:cNvSpPr/>
          <p:nvPr/>
        </p:nvSpPr>
        <p:spPr>
          <a:xfrm>
            <a:off x="6491356"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4" name="Rounded Rectangle 133"/>
          <p:cNvSpPr/>
          <p:nvPr/>
        </p:nvSpPr>
        <p:spPr>
          <a:xfrm>
            <a:off x="6491356"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5" name="Oval 134"/>
          <p:cNvSpPr/>
          <p:nvPr/>
        </p:nvSpPr>
        <p:spPr>
          <a:xfrm>
            <a:off x="6587887"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6" name="Oval 135"/>
          <p:cNvSpPr/>
          <p:nvPr/>
        </p:nvSpPr>
        <p:spPr>
          <a:xfrm>
            <a:off x="6587887"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7" name="Rounded Rectangle 136"/>
          <p:cNvSpPr/>
          <p:nvPr/>
        </p:nvSpPr>
        <p:spPr>
          <a:xfrm>
            <a:off x="7612265" y="1719043"/>
            <a:ext cx="109728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Categoryf7</a:t>
            </a:r>
          </a:p>
        </p:txBody>
      </p:sp>
      <p:sp>
        <p:nvSpPr>
          <p:cNvPr id="138" name="Rounded Rectangle 137"/>
          <p:cNvSpPr/>
          <p:nvPr/>
        </p:nvSpPr>
        <p:spPr>
          <a:xfrm>
            <a:off x="7651614" y="2272179"/>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9" name="Rounded Rectangle 138"/>
          <p:cNvSpPr/>
          <p:nvPr/>
        </p:nvSpPr>
        <p:spPr>
          <a:xfrm>
            <a:off x="7651614" y="3461824"/>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0" name="Rounded Rectangle 139"/>
          <p:cNvSpPr/>
          <p:nvPr/>
        </p:nvSpPr>
        <p:spPr>
          <a:xfrm>
            <a:off x="7651614" y="4297478"/>
            <a:ext cx="101858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1" name="Rounded Rectangle 140"/>
          <p:cNvSpPr/>
          <p:nvPr/>
        </p:nvSpPr>
        <p:spPr>
          <a:xfrm>
            <a:off x="7651614" y="5487125"/>
            <a:ext cx="101858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2" name="Oval 141"/>
          <p:cNvSpPr/>
          <p:nvPr/>
        </p:nvSpPr>
        <p:spPr>
          <a:xfrm>
            <a:off x="7748145" y="28495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3" name="Oval 142"/>
          <p:cNvSpPr/>
          <p:nvPr/>
        </p:nvSpPr>
        <p:spPr>
          <a:xfrm>
            <a:off x="7748145" y="4874894"/>
            <a:ext cx="825521"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144" name="Elbow Connector 143"/>
          <p:cNvCxnSpPr>
            <a:endCxn id="116" idx="0"/>
          </p:cNvCxnSpPr>
          <p:nvPr/>
        </p:nvCxnSpPr>
        <p:spPr>
          <a:xfrm rot="5400000">
            <a:off x="4822771" y="1290653"/>
            <a:ext cx="285750" cy="57103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45" name="Elbow Connector 144"/>
          <p:cNvCxnSpPr>
            <a:endCxn id="123" idx="0"/>
          </p:cNvCxnSpPr>
          <p:nvPr/>
        </p:nvCxnSpPr>
        <p:spPr>
          <a:xfrm rot="16200000" flipH="1">
            <a:off x="5402900" y="1281554"/>
            <a:ext cx="285750" cy="58922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187</a:t>
            </a:fld>
            <a:endParaRPr lang="en-GB" dirty="0"/>
          </a:p>
        </p:txBody>
      </p:sp>
    </p:spTree>
    <p:extLst>
      <p:ext uri="{BB962C8B-B14F-4D97-AF65-F5344CB8AC3E}">
        <p14:creationId xmlns:p14="http://schemas.microsoft.com/office/powerpoint/2010/main" val="1759691592"/>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Category-F</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Category-A</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059524" y="-472594"/>
            <a:ext cx="285750" cy="409752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168052" y="-483599"/>
            <a:ext cx="285750" cy="4119533"/>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292159" y="2507208"/>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292159" y="3696853"/>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292159" y="4532507"/>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292159" y="5722154"/>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650717"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Categoryf1</a:t>
            </a:r>
          </a:p>
        </p:txBody>
      </p:sp>
      <p:sp>
        <p:nvSpPr>
          <p:cNvPr id="85" name="Rounded Rectangle 84"/>
          <p:cNvSpPr/>
          <p:nvPr/>
        </p:nvSpPr>
        <p:spPr>
          <a:xfrm>
            <a:off x="686787"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86787"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86787"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86787"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775273"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775273"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8867774"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Categoryf9</a:t>
            </a:r>
          </a:p>
        </p:txBody>
      </p:sp>
      <p:sp>
        <p:nvSpPr>
          <p:cNvPr id="92" name="Rounded Rectangle 91"/>
          <p:cNvSpPr/>
          <p:nvPr/>
        </p:nvSpPr>
        <p:spPr>
          <a:xfrm>
            <a:off x="8903303" y="2272179"/>
            <a:ext cx="93478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8903303" y="3461824"/>
            <a:ext cx="93478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8903303" y="4297478"/>
            <a:ext cx="934783"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8903303" y="5487125"/>
            <a:ext cx="934783"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8991892" y="2849594"/>
            <a:ext cx="75760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8991892" y="4874894"/>
            <a:ext cx="75760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4" idx="0"/>
          </p:cNvCxnSpPr>
          <p:nvPr/>
        </p:nvCxnSpPr>
        <p:spPr>
          <a:xfrm rot="5400000">
            <a:off x="3573090" y="40972"/>
            <a:ext cx="285750" cy="307039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146" idx="0"/>
          </p:cNvCxnSpPr>
          <p:nvPr/>
        </p:nvCxnSpPr>
        <p:spPr>
          <a:xfrm rot="16200000" flipH="1">
            <a:off x="6654486" y="29968"/>
            <a:ext cx="285750" cy="309240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11" idx="0"/>
          </p:cNvCxnSpPr>
          <p:nvPr/>
        </p:nvCxnSpPr>
        <p:spPr>
          <a:xfrm rot="5400000">
            <a:off x="4086656" y="554538"/>
            <a:ext cx="285750" cy="204326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39" idx="0"/>
          </p:cNvCxnSpPr>
          <p:nvPr/>
        </p:nvCxnSpPr>
        <p:spPr>
          <a:xfrm rot="16200000" flipH="1">
            <a:off x="6140920" y="543534"/>
            <a:ext cx="285750" cy="2065268"/>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Elbow Connector 101"/>
          <p:cNvCxnSpPr>
            <a:endCxn id="118" idx="0"/>
          </p:cNvCxnSpPr>
          <p:nvPr/>
        </p:nvCxnSpPr>
        <p:spPr>
          <a:xfrm rot="5400000">
            <a:off x="4600222" y="1068104"/>
            <a:ext cx="285750" cy="1016128"/>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endCxn id="132" idx="0"/>
          </p:cNvCxnSpPr>
          <p:nvPr/>
        </p:nvCxnSpPr>
        <p:spPr>
          <a:xfrm rot="16200000" flipH="1">
            <a:off x="5627354" y="1057100"/>
            <a:ext cx="285750" cy="103813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4" name="Rounded Rectangle 103"/>
          <p:cNvSpPr/>
          <p:nvPr/>
        </p:nvSpPr>
        <p:spPr>
          <a:xfrm>
            <a:off x="1677849"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Categoryf2</a:t>
            </a:r>
          </a:p>
        </p:txBody>
      </p:sp>
      <p:sp>
        <p:nvSpPr>
          <p:cNvPr id="105" name="Rounded Rectangle 104"/>
          <p:cNvSpPr/>
          <p:nvPr/>
        </p:nvSpPr>
        <p:spPr>
          <a:xfrm>
            <a:off x="1713919"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6" name="Rounded Rectangle 105"/>
          <p:cNvSpPr/>
          <p:nvPr/>
        </p:nvSpPr>
        <p:spPr>
          <a:xfrm>
            <a:off x="1713919"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7" name="Rounded Rectangle 106"/>
          <p:cNvSpPr/>
          <p:nvPr/>
        </p:nvSpPr>
        <p:spPr>
          <a:xfrm>
            <a:off x="1713919"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8" name="Rounded Rectangle 107"/>
          <p:cNvSpPr/>
          <p:nvPr/>
        </p:nvSpPr>
        <p:spPr>
          <a:xfrm>
            <a:off x="1713919"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9" name="Oval 108"/>
          <p:cNvSpPr/>
          <p:nvPr/>
        </p:nvSpPr>
        <p:spPr>
          <a:xfrm>
            <a:off x="1802405"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0" name="Oval 109"/>
          <p:cNvSpPr/>
          <p:nvPr/>
        </p:nvSpPr>
        <p:spPr>
          <a:xfrm>
            <a:off x="1802405"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1" name="Rounded Rectangle 110"/>
          <p:cNvSpPr/>
          <p:nvPr/>
        </p:nvSpPr>
        <p:spPr>
          <a:xfrm>
            <a:off x="2704981"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Categoryf3</a:t>
            </a:r>
          </a:p>
        </p:txBody>
      </p:sp>
      <p:sp>
        <p:nvSpPr>
          <p:cNvPr id="112" name="Rounded Rectangle 111"/>
          <p:cNvSpPr/>
          <p:nvPr/>
        </p:nvSpPr>
        <p:spPr>
          <a:xfrm>
            <a:off x="2741051"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3" name="Rounded Rectangle 112"/>
          <p:cNvSpPr/>
          <p:nvPr/>
        </p:nvSpPr>
        <p:spPr>
          <a:xfrm>
            <a:off x="2741051"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4" name="Rounded Rectangle 113"/>
          <p:cNvSpPr/>
          <p:nvPr/>
        </p:nvSpPr>
        <p:spPr>
          <a:xfrm>
            <a:off x="2741051"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5" name="Rounded Rectangle 114"/>
          <p:cNvSpPr/>
          <p:nvPr/>
        </p:nvSpPr>
        <p:spPr>
          <a:xfrm>
            <a:off x="2741051"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6" name="Oval 115"/>
          <p:cNvSpPr/>
          <p:nvPr/>
        </p:nvSpPr>
        <p:spPr>
          <a:xfrm>
            <a:off x="2829537"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7" name="Oval 116"/>
          <p:cNvSpPr/>
          <p:nvPr/>
        </p:nvSpPr>
        <p:spPr>
          <a:xfrm>
            <a:off x="2829537"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8" name="Rounded Rectangle 117"/>
          <p:cNvSpPr/>
          <p:nvPr/>
        </p:nvSpPr>
        <p:spPr>
          <a:xfrm>
            <a:off x="3732113"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Categoryf4</a:t>
            </a:r>
          </a:p>
        </p:txBody>
      </p:sp>
      <p:sp>
        <p:nvSpPr>
          <p:cNvPr id="119" name="Rounded Rectangle 118"/>
          <p:cNvSpPr/>
          <p:nvPr/>
        </p:nvSpPr>
        <p:spPr>
          <a:xfrm>
            <a:off x="3768183"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0" name="Rounded Rectangle 119"/>
          <p:cNvSpPr/>
          <p:nvPr/>
        </p:nvSpPr>
        <p:spPr>
          <a:xfrm>
            <a:off x="3768183"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1" name="Rounded Rectangle 120"/>
          <p:cNvSpPr/>
          <p:nvPr/>
        </p:nvSpPr>
        <p:spPr>
          <a:xfrm>
            <a:off x="3768183"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2" name="Rounded Rectangle 121"/>
          <p:cNvSpPr/>
          <p:nvPr/>
        </p:nvSpPr>
        <p:spPr>
          <a:xfrm>
            <a:off x="3768183"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3" name="Oval 122"/>
          <p:cNvSpPr/>
          <p:nvPr/>
        </p:nvSpPr>
        <p:spPr>
          <a:xfrm>
            <a:off x="3856669"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4" name="Oval 123"/>
          <p:cNvSpPr/>
          <p:nvPr/>
        </p:nvSpPr>
        <p:spPr>
          <a:xfrm>
            <a:off x="3856669"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5" name="Rounded Rectangle 124"/>
          <p:cNvSpPr/>
          <p:nvPr/>
        </p:nvSpPr>
        <p:spPr>
          <a:xfrm>
            <a:off x="4759245"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Categoryf5</a:t>
            </a:r>
          </a:p>
        </p:txBody>
      </p:sp>
      <p:sp>
        <p:nvSpPr>
          <p:cNvPr id="126" name="Rounded Rectangle 125"/>
          <p:cNvSpPr/>
          <p:nvPr/>
        </p:nvSpPr>
        <p:spPr>
          <a:xfrm>
            <a:off x="4795315"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7" name="Rounded Rectangle 126"/>
          <p:cNvSpPr/>
          <p:nvPr/>
        </p:nvSpPr>
        <p:spPr>
          <a:xfrm>
            <a:off x="4795315"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8" name="Rounded Rectangle 127"/>
          <p:cNvSpPr/>
          <p:nvPr/>
        </p:nvSpPr>
        <p:spPr>
          <a:xfrm>
            <a:off x="4795315"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9" name="Rounded Rectangle 128"/>
          <p:cNvSpPr/>
          <p:nvPr/>
        </p:nvSpPr>
        <p:spPr>
          <a:xfrm>
            <a:off x="4795315"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0" name="Oval 129"/>
          <p:cNvSpPr/>
          <p:nvPr/>
        </p:nvSpPr>
        <p:spPr>
          <a:xfrm>
            <a:off x="4883801"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1" name="Oval 130"/>
          <p:cNvSpPr/>
          <p:nvPr/>
        </p:nvSpPr>
        <p:spPr>
          <a:xfrm>
            <a:off x="4883801"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2" name="Rounded Rectangle 131"/>
          <p:cNvSpPr/>
          <p:nvPr/>
        </p:nvSpPr>
        <p:spPr>
          <a:xfrm>
            <a:off x="5786377"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Categoryf6</a:t>
            </a:r>
          </a:p>
        </p:txBody>
      </p:sp>
      <p:sp>
        <p:nvSpPr>
          <p:cNvPr id="133" name="Rounded Rectangle 132"/>
          <p:cNvSpPr/>
          <p:nvPr/>
        </p:nvSpPr>
        <p:spPr>
          <a:xfrm>
            <a:off x="5822447"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4" name="Rounded Rectangle 133"/>
          <p:cNvSpPr/>
          <p:nvPr/>
        </p:nvSpPr>
        <p:spPr>
          <a:xfrm>
            <a:off x="5822447"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5" name="Rounded Rectangle 134"/>
          <p:cNvSpPr/>
          <p:nvPr/>
        </p:nvSpPr>
        <p:spPr>
          <a:xfrm>
            <a:off x="5822447"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6" name="Rounded Rectangle 135"/>
          <p:cNvSpPr/>
          <p:nvPr/>
        </p:nvSpPr>
        <p:spPr>
          <a:xfrm>
            <a:off x="5822447"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7" name="Oval 136"/>
          <p:cNvSpPr/>
          <p:nvPr/>
        </p:nvSpPr>
        <p:spPr>
          <a:xfrm>
            <a:off x="5910933"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8" name="Oval 137"/>
          <p:cNvSpPr/>
          <p:nvPr/>
        </p:nvSpPr>
        <p:spPr>
          <a:xfrm>
            <a:off x="5910933"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9" name="Rounded Rectangle 138"/>
          <p:cNvSpPr/>
          <p:nvPr/>
        </p:nvSpPr>
        <p:spPr>
          <a:xfrm>
            <a:off x="6813509"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Categoryf7</a:t>
            </a:r>
          </a:p>
        </p:txBody>
      </p:sp>
      <p:sp>
        <p:nvSpPr>
          <p:cNvPr id="140" name="Rounded Rectangle 139"/>
          <p:cNvSpPr/>
          <p:nvPr/>
        </p:nvSpPr>
        <p:spPr>
          <a:xfrm>
            <a:off x="6849579"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1" name="Rounded Rectangle 140"/>
          <p:cNvSpPr/>
          <p:nvPr/>
        </p:nvSpPr>
        <p:spPr>
          <a:xfrm>
            <a:off x="6849579"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2" name="Rounded Rectangle 141"/>
          <p:cNvSpPr/>
          <p:nvPr/>
        </p:nvSpPr>
        <p:spPr>
          <a:xfrm>
            <a:off x="6849579"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3" name="Rounded Rectangle 142"/>
          <p:cNvSpPr/>
          <p:nvPr/>
        </p:nvSpPr>
        <p:spPr>
          <a:xfrm>
            <a:off x="6849579"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4" name="Oval 143"/>
          <p:cNvSpPr/>
          <p:nvPr/>
        </p:nvSpPr>
        <p:spPr>
          <a:xfrm>
            <a:off x="6938065"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5" name="Oval 144"/>
          <p:cNvSpPr/>
          <p:nvPr/>
        </p:nvSpPr>
        <p:spPr>
          <a:xfrm>
            <a:off x="6938065"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6" name="Rounded Rectangle 145"/>
          <p:cNvSpPr/>
          <p:nvPr/>
        </p:nvSpPr>
        <p:spPr>
          <a:xfrm>
            <a:off x="7840641" y="1719043"/>
            <a:ext cx="100584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Categoryf8</a:t>
            </a:r>
          </a:p>
        </p:txBody>
      </p:sp>
      <p:sp>
        <p:nvSpPr>
          <p:cNvPr id="147" name="Rounded Rectangle 146"/>
          <p:cNvSpPr/>
          <p:nvPr/>
        </p:nvSpPr>
        <p:spPr>
          <a:xfrm>
            <a:off x="7876711" y="2272179"/>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8" name="Rounded Rectangle 147"/>
          <p:cNvSpPr/>
          <p:nvPr/>
        </p:nvSpPr>
        <p:spPr>
          <a:xfrm>
            <a:off x="7876711" y="3461824"/>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9" name="Rounded Rectangle 148"/>
          <p:cNvSpPr/>
          <p:nvPr/>
        </p:nvSpPr>
        <p:spPr>
          <a:xfrm>
            <a:off x="7876711" y="4297478"/>
            <a:ext cx="933700"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50" name="Rounded Rectangle 149"/>
          <p:cNvSpPr/>
          <p:nvPr/>
        </p:nvSpPr>
        <p:spPr>
          <a:xfrm>
            <a:off x="7876711" y="5487125"/>
            <a:ext cx="933700"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51" name="Oval 150"/>
          <p:cNvSpPr/>
          <p:nvPr/>
        </p:nvSpPr>
        <p:spPr>
          <a:xfrm>
            <a:off x="7965197" y="28495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0" name="Oval 199"/>
          <p:cNvSpPr/>
          <p:nvPr/>
        </p:nvSpPr>
        <p:spPr>
          <a:xfrm>
            <a:off x="7965197" y="4874894"/>
            <a:ext cx="75672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201" name="Elbow Connector 200"/>
          <p:cNvCxnSpPr>
            <a:endCxn id="125" idx="0"/>
          </p:cNvCxnSpPr>
          <p:nvPr/>
        </p:nvCxnSpPr>
        <p:spPr>
          <a:xfrm rot="16200000" flipH="1">
            <a:off x="5113788" y="1570666"/>
            <a:ext cx="285750" cy="1100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188</a:t>
            </a:fld>
            <a:endParaRPr lang="en-GB" dirty="0"/>
          </a:p>
        </p:txBody>
      </p:sp>
    </p:spTree>
    <p:extLst>
      <p:ext uri="{BB962C8B-B14F-4D97-AF65-F5344CB8AC3E}">
        <p14:creationId xmlns:p14="http://schemas.microsoft.com/office/powerpoint/2010/main" val="2673845034"/>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1"/>
          <p:cNvSpPr>
            <a:spLocks noGrp="1"/>
          </p:cNvSpPr>
          <p:nvPr>
            <p:ph type="title"/>
          </p:nvPr>
        </p:nvSpPr>
        <p:spPr/>
        <p:txBody>
          <a:bodyPr/>
          <a:lstStyle/>
          <a:p>
            <a:r>
              <a:rPr lang="en-US" dirty="0"/>
              <a:t>Global WXYZ Market: Introduction By Category-F</a:t>
            </a:r>
            <a:endParaRPr lang="en-GB" dirty="0"/>
          </a:p>
        </p:txBody>
      </p:sp>
      <p:grpSp>
        <p:nvGrpSpPr>
          <p:cNvPr id="48" name="Group 47"/>
          <p:cNvGrpSpPr/>
          <p:nvPr/>
        </p:nvGrpSpPr>
        <p:grpSpPr>
          <a:xfrm>
            <a:off x="10487447" y="6105853"/>
            <a:ext cx="1500637" cy="253916"/>
            <a:chOff x="10477922" y="6086803"/>
            <a:chExt cx="1500637" cy="253916"/>
          </a:xfrm>
        </p:grpSpPr>
        <p:sp>
          <p:nvSpPr>
            <p:cNvPr id="49" name="Oval 48"/>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0"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52" name="Oval 51"/>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53"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65" name="Group 64"/>
          <p:cNvGrpSpPr/>
          <p:nvPr/>
        </p:nvGrpSpPr>
        <p:grpSpPr>
          <a:xfrm>
            <a:off x="10067926" y="1704975"/>
            <a:ext cx="1927224" cy="4371974"/>
            <a:chOff x="10067926" y="1704975"/>
            <a:chExt cx="1927224" cy="4371974"/>
          </a:xfrm>
        </p:grpSpPr>
        <p:sp>
          <p:nvSpPr>
            <p:cNvPr id="66" name="Rounded Rectangle 65"/>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67" name="Rounded Rectangle 66"/>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68" name="Rounded Rectangle 67"/>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69" name="Rounded Rectangle 68"/>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70" name="Rounded Rectangle 69"/>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71" name="Oval 70"/>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72" name="Oval 71"/>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73" name="Rounded Rectangle 72"/>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51" name="TextBox 50"/>
          <p:cNvSpPr txBox="1"/>
          <p:nvPr/>
        </p:nvSpPr>
        <p:spPr>
          <a:xfrm>
            <a:off x="168860"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sp>
        <p:nvSpPr>
          <p:cNvPr id="58" name="Rounded Rectangle 57"/>
          <p:cNvSpPr/>
          <p:nvPr/>
        </p:nvSpPr>
        <p:spPr>
          <a:xfrm>
            <a:off x="3484252" y="1104144"/>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Category-F</a:t>
            </a:r>
          </a:p>
        </p:txBody>
      </p:sp>
      <p:sp>
        <p:nvSpPr>
          <p:cNvPr id="74" name="TextBox 119"/>
          <p:cNvSpPr txBox="1"/>
          <p:nvPr/>
        </p:nvSpPr>
        <p:spPr>
          <a:xfrm>
            <a:off x="159103" y="2435057"/>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75" name="TextBox 120"/>
          <p:cNvSpPr txBox="1"/>
          <p:nvPr/>
        </p:nvSpPr>
        <p:spPr>
          <a:xfrm>
            <a:off x="159103" y="4380473"/>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cxnSp>
        <p:nvCxnSpPr>
          <p:cNvPr id="76" name="Elbow Connector 75"/>
          <p:cNvCxnSpPr>
            <a:endCxn id="84" idx="0"/>
          </p:cNvCxnSpPr>
          <p:nvPr/>
        </p:nvCxnSpPr>
        <p:spPr>
          <a:xfrm rot="5400000">
            <a:off x="3002977" y="-529141"/>
            <a:ext cx="285750" cy="421061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7" name="Elbow Connector 76"/>
          <p:cNvCxnSpPr>
            <a:endCxn id="91" idx="0"/>
          </p:cNvCxnSpPr>
          <p:nvPr/>
        </p:nvCxnSpPr>
        <p:spPr>
          <a:xfrm rot="16200000" flipH="1">
            <a:off x="7216880" y="-532427"/>
            <a:ext cx="285750" cy="4217189"/>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8" name="Rounded Rectangle 77"/>
          <p:cNvSpPr/>
          <p:nvPr/>
        </p:nvSpPr>
        <p:spPr>
          <a:xfrm>
            <a:off x="526998" y="4187213"/>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79" name="Rounded Rectangle 78"/>
          <p:cNvSpPr/>
          <p:nvPr/>
        </p:nvSpPr>
        <p:spPr>
          <a:xfrm>
            <a:off x="526997" y="2161914"/>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80" name="Straight Connector 79"/>
          <p:cNvCxnSpPr>
            <a:stCxn id="85" idx="3"/>
            <a:endCxn id="92" idx="1"/>
          </p:cNvCxnSpPr>
          <p:nvPr/>
        </p:nvCxnSpPr>
        <p:spPr>
          <a:xfrm>
            <a:off x="1464951" y="2507208"/>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86" idx="3"/>
            <a:endCxn id="93" idx="1"/>
          </p:cNvCxnSpPr>
          <p:nvPr/>
        </p:nvCxnSpPr>
        <p:spPr>
          <a:xfrm>
            <a:off x="1464951" y="3696853"/>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87" idx="3"/>
            <a:endCxn id="94" idx="1"/>
          </p:cNvCxnSpPr>
          <p:nvPr/>
        </p:nvCxnSpPr>
        <p:spPr>
          <a:xfrm>
            <a:off x="1464951" y="4532507"/>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88" idx="3"/>
            <a:endCxn id="95" idx="1"/>
          </p:cNvCxnSpPr>
          <p:nvPr/>
        </p:nvCxnSpPr>
        <p:spPr>
          <a:xfrm>
            <a:off x="1464951" y="5722154"/>
            <a:ext cx="75784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ounded Rectangle 83"/>
          <p:cNvSpPr/>
          <p:nvPr/>
        </p:nvSpPr>
        <p:spPr>
          <a:xfrm>
            <a:off x="583342"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Categoryf1</a:t>
            </a:r>
          </a:p>
        </p:txBody>
      </p:sp>
      <p:sp>
        <p:nvSpPr>
          <p:cNvPr id="85" name="Rounded Rectangle 84"/>
          <p:cNvSpPr/>
          <p:nvPr/>
        </p:nvSpPr>
        <p:spPr>
          <a:xfrm>
            <a:off x="616133"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86" name="Rounded Rectangle 85"/>
          <p:cNvSpPr/>
          <p:nvPr/>
        </p:nvSpPr>
        <p:spPr>
          <a:xfrm>
            <a:off x="616133"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87" name="Rounded Rectangle 86"/>
          <p:cNvSpPr/>
          <p:nvPr/>
        </p:nvSpPr>
        <p:spPr>
          <a:xfrm>
            <a:off x="616133"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88" name="Rounded Rectangle 87"/>
          <p:cNvSpPr/>
          <p:nvPr/>
        </p:nvSpPr>
        <p:spPr>
          <a:xfrm>
            <a:off x="616133"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89" name="Oval 88"/>
          <p:cNvSpPr/>
          <p:nvPr/>
        </p:nvSpPr>
        <p:spPr>
          <a:xfrm>
            <a:off x="696575"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0" name="Oval 89"/>
          <p:cNvSpPr/>
          <p:nvPr/>
        </p:nvSpPr>
        <p:spPr>
          <a:xfrm>
            <a:off x="69657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1" name="Rounded Rectangle 90"/>
          <p:cNvSpPr/>
          <p:nvPr/>
        </p:nvSpPr>
        <p:spPr>
          <a:xfrm>
            <a:off x="9011150"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Categoryf10</a:t>
            </a:r>
          </a:p>
        </p:txBody>
      </p:sp>
      <p:sp>
        <p:nvSpPr>
          <p:cNvPr id="92" name="Rounded Rectangle 91"/>
          <p:cNvSpPr/>
          <p:nvPr/>
        </p:nvSpPr>
        <p:spPr>
          <a:xfrm>
            <a:off x="9043449" y="2272179"/>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9043449" y="3461824"/>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4" name="Rounded Rectangle 93"/>
          <p:cNvSpPr/>
          <p:nvPr/>
        </p:nvSpPr>
        <p:spPr>
          <a:xfrm>
            <a:off x="9043449" y="4297478"/>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95" name="Rounded Rectangle 94"/>
          <p:cNvSpPr/>
          <p:nvPr/>
        </p:nvSpPr>
        <p:spPr>
          <a:xfrm>
            <a:off x="9043449" y="5487125"/>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96" name="Oval 95"/>
          <p:cNvSpPr/>
          <p:nvPr/>
        </p:nvSpPr>
        <p:spPr>
          <a:xfrm>
            <a:off x="9123984" y="28495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97" name="Oval 96"/>
          <p:cNvSpPr/>
          <p:nvPr/>
        </p:nvSpPr>
        <p:spPr>
          <a:xfrm>
            <a:off x="9123984" y="48748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98" name="Elbow Connector 97"/>
          <p:cNvCxnSpPr>
            <a:endCxn id="105" idx="0"/>
          </p:cNvCxnSpPr>
          <p:nvPr/>
        </p:nvCxnSpPr>
        <p:spPr>
          <a:xfrm rot="5400000">
            <a:off x="3471188" y="-60930"/>
            <a:ext cx="285750" cy="327419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endCxn id="202" idx="0"/>
          </p:cNvCxnSpPr>
          <p:nvPr/>
        </p:nvCxnSpPr>
        <p:spPr>
          <a:xfrm rot="16200000" flipH="1">
            <a:off x="6748668" y="-64215"/>
            <a:ext cx="285750" cy="3280765"/>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0" name="Elbow Connector 99"/>
          <p:cNvCxnSpPr>
            <a:endCxn id="112" idx="0"/>
          </p:cNvCxnSpPr>
          <p:nvPr/>
        </p:nvCxnSpPr>
        <p:spPr>
          <a:xfrm rot="5400000">
            <a:off x="3939400" y="407282"/>
            <a:ext cx="285750" cy="2337773"/>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1" name="Elbow Connector 100"/>
          <p:cNvCxnSpPr>
            <a:endCxn id="147" idx="0"/>
          </p:cNvCxnSpPr>
          <p:nvPr/>
        </p:nvCxnSpPr>
        <p:spPr>
          <a:xfrm rot="16200000" flipH="1">
            <a:off x="6280457" y="403997"/>
            <a:ext cx="285750" cy="2344342"/>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Elbow Connector 101"/>
          <p:cNvCxnSpPr>
            <a:endCxn id="119" idx="0"/>
          </p:cNvCxnSpPr>
          <p:nvPr/>
        </p:nvCxnSpPr>
        <p:spPr>
          <a:xfrm rot="5400000">
            <a:off x="4407611" y="875493"/>
            <a:ext cx="285750" cy="1401350"/>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Elbow Connector 102"/>
          <p:cNvCxnSpPr>
            <a:endCxn id="140" idx="0"/>
          </p:cNvCxnSpPr>
          <p:nvPr/>
        </p:nvCxnSpPr>
        <p:spPr>
          <a:xfrm rot="16200000" flipH="1">
            <a:off x="5812245" y="872208"/>
            <a:ext cx="285750" cy="1407919"/>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4" name="Elbow Connector 103"/>
          <p:cNvCxnSpPr>
            <a:endCxn id="133" idx="0"/>
          </p:cNvCxnSpPr>
          <p:nvPr/>
        </p:nvCxnSpPr>
        <p:spPr>
          <a:xfrm rot="16200000" flipH="1">
            <a:off x="5344034" y="1340420"/>
            <a:ext cx="285750" cy="471496"/>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5" name="Rounded Rectangle 104"/>
          <p:cNvSpPr/>
          <p:nvPr/>
        </p:nvSpPr>
        <p:spPr>
          <a:xfrm>
            <a:off x="1519765"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Categoryf2</a:t>
            </a:r>
          </a:p>
        </p:txBody>
      </p:sp>
      <p:sp>
        <p:nvSpPr>
          <p:cNvPr id="106" name="Rounded Rectangle 105"/>
          <p:cNvSpPr/>
          <p:nvPr/>
        </p:nvSpPr>
        <p:spPr>
          <a:xfrm>
            <a:off x="1552392"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7" name="Rounded Rectangle 106"/>
          <p:cNvSpPr/>
          <p:nvPr/>
        </p:nvSpPr>
        <p:spPr>
          <a:xfrm>
            <a:off x="1552392"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8" name="Rounded Rectangle 107"/>
          <p:cNvSpPr/>
          <p:nvPr/>
        </p:nvSpPr>
        <p:spPr>
          <a:xfrm>
            <a:off x="1552392"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9" name="Rounded Rectangle 108"/>
          <p:cNvSpPr/>
          <p:nvPr/>
        </p:nvSpPr>
        <p:spPr>
          <a:xfrm>
            <a:off x="1552392"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0" name="Oval 109"/>
          <p:cNvSpPr/>
          <p:nvPr/>
        </p:nvSpPr>
        <p:spPr>
          <a:xfrm>
            <a:off x="168754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1" name="Oval 110"/>
          <p:cNvSpPr/>
          <p:nvPr/>
        </p:nvSpPr>
        <p:spPr>
          <a:xfrm>
            <a:off x="163286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2" name="Rounded Rectangle 111"/>
          <p:cNvSpPr/>
          <p:nvPr/>
        </p:nvSpPr>
        <p:spPr>
          <a:xfrm>
            <a:off x="2456188"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Categoryf3</a:t>
            </a:r>
          </a:p>
        </p:txBody>
      </p:sp>
      <p:sp>
        <p:nvSpPr>
          <p:cNvPr id="113" name="Rounded Rectangle 112"/>
          <p:cNvSpPr/>
          <p:nvPr/>
        </p:nvSpPr>
        <p:spPr>
          <a:xfrm>
            <a:off x="2488651"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4" name="Rounded Rectangle 113"/>
          <p:cNvSpPr/>
          <p:nvPr/>
        </p:nvSpPr>
        <p:spPr>
          <a:xfrm>
            <a:off x="2488651"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5" name="Rounded Rectangle 114"/>
          <p:cNvSpPr/>
          <p:nvPr/>
        </p:nvSpPr>
        <p:spPr>
          <a:xfrm>
            <a:off x="2488651"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6" name="Rounded Rectangle 115"/>
          <p:cNvSpPr/>
          <p:nvPr/>
        </p:nvSpPr>
        <p:spPr>
          <a:xfrm>
            <a:off x="2488651"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7" name="Oval 116"/>
          <p:cNvSpPr/>
          <p:nvPr/>
        </p:nvSpPr>
        <p:spPr>
          <a:xfrm>
            <a:off x="261113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8" name="Oval 117"/>
          <p:cNvSpPr/>
          <p:nvPr/>
        </p:nvSpPr>
        <p:spPr>
          <a:xfrm>
            <a:off x="256915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9" name="Rounded Rectangle 118"/>
          <p:cNvSpPr/>
          <p:nvPr/>
        </p:nvSpPr>
        <p:spPr>
          <a:xfrm>
            <a:off x="3392611"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Categoryf4</a:t>
            </a:r>
          </a:p>
        </p:txBody>
      </p:sp>
      <p:sp>
        <p:nvSpPr>
          <p:cNvPr id="120" name="Rounded Rectangle 119"/>
          <p:cNvSpPr/>
          <p:nvPr/>
        </p:nvSpPr>
        <p:spPr>
          <a:xfrm>
            <a:off x="3424910"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1" name="Rounded Rectangle 120"/>
          <p:cNvSpPr/>
          <p:nvPr/>
        </p:nvSpPr>
        <p:spPr>
          <a:xfrm>
            <a:off x="3424910"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2" name="Rounded Rectangle 121"/>
          <p:cNvSpPr/>
          <p:nvPr/>
        </p:nvSpPr>
        <p:spPr>
          <a:xfrm>
            <a:off x="3424910"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23" name="Rounded Rectangle 122"/>
          <p:cNvSpPr/>
          <p:nvPr/>
        </p:nvSpPr>
        <p:spPr>
          <a:xfrm>
            <a:off x="3424910"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24" name="Oval 123"/>
          <p:cNvSpPr/>
          <p:nvPr/>
        </p:nvSpPr>
        <p:spPr>
          <a:xfrm>
            <a:off x="353472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5" name="Oval 124"/>
          <p:cNvSpPr/>
          <p:nvPr/>
        </p:nvSpPr>
        <p:spPr>
          <a:xfrm>
            <a:off x="350544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26" name="Rounded Rectangle 125"/>
          <p:cNvSpPr/>
          <p:nvPr/>
        </p:nvSpPr>
        <p:spPr>
          <a:xfrm>
            <a:off x="4329034"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Categoryf5</a:t>
            </a:r>
          </a:p>
        </p:txBody>
      </p:sp>
      <p:sp>
        <p:nvSpPr>
          <p:cNvPr id="127" name="Rounded Rectangle 126"/>
          <p:cNvSpPr/>
          <p:nvPr/>
        </p:nvSpPr>
        <p:spPr>
          <a:xfrm>
            <a:off x="4361169"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28" name="Rounded Rectangle 127"/>
          <p:cNvSpPr/>
          <p:nvPr/>
        </p:nvSpPr>
        <p:spPr>
          <a:xfrm>
            <a:off x="4361169"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29" name="Rounded Rectangle 128"/>
          <p:cNvSpPr/>
          <p:nvPr/>
        </p:nvSpPr>
        <p:spPr>
          <a:xfrm>
            <a:off x="4361169"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0" name="Rounded Rectangle 129"/>
          <p:cNvSpPr/>
          <p:nvPr/>
        </p:nvSpPr>
        <p:spPr>
          <a:xfrm>
            <a:off x="4361169"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1" name="Oval 130"/>
          <p:cNvSpPr/>
          <p:nvPr/>
        </p:nvSpPr>
        <p:spPr>
          <a:xfrm>
            <a:off x="445831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2" name="Oval 131"/>
          <p:cNvSpPr/>
          <p:nvPr/>
        </p:nvSpPr>
        <p:spPr>
          <a:xfrm>
            <a:off x="444173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3" name="Rounded Rectangle 132"/>
          <p:cNvSpPr/>
          <p:nvPr/>
        </p:nvSpPr>
        <p:spPr>
          <a:xfrm>
            <a:off x="5265457"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Categoryf6</a:t>
            </a:r>
          </a:p>
        </p:txBody>
      </p:sp>
      <p:sp>
        <p:nvSpPr>
          <p:cNvPr id="134" name="Rounded Rectangle 133"/>
          <p:cNvSpPr/>
          <p:nvPr/>
        </p:nvSpPr>
        <p:spPr>
          <a:xfrm>
            <a:off x="5297428"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5" name="Rounded Rectangle 134"/>
          <p:cNvSpPr/>
          <p:nvPr/>
        </p:nvSpPr>
        <p:spPr>
          <a:xfrm>
            <a:off x="5297428"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6" name="Rounded Rectangle 135"/>
          <p:cNvSpPr/>
          <p:nvPr/>
        </p:nvSpPr>
        <p:spPr>
          <a:xfrm>
            <a:off x="5297428"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7" name="Rounded Rectangle 136"/>
          <p:cNvSpPr/>
          <p:nvPr/>
        </p:nvSpPr>
        <p:spPr>
          <a:xfrm>
            <a:off x="5297428"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38" name="Oval 137"/>
          <p:cNvSpPr/>
          <p:nvPr/>
        </p:nvSpPr>
        <p:spPr>
          <a:xfrm>
            <a:off x="538190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9" name="Oval 138"/>
          <p:cNvSpPr/>
          <p:nvPr/>
        </p:nvSpPr>
        <p:spPr>
          <a:xfrm>
            <a:off x="537802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0" name="Rounded Rectangle 139"/>
          <p:cNvSpPr/>
          <p:nvPr/>
        </p:nvSpPr>
        <p:spPr>
          <a:xfrm>
            <a:off x="6201880"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Categoryf7</a:t>
            </a:r>
          </a:p>
        </p:txBody>
      </p:sp>
      <p:sp>
        <p:nvSpPr>
          <p:cNvPr id="141" name="Rounded Rectangle 140"/>
          <p:cNvSpPr/>
          <p:nvPr/>
        </p:nvSpPr>
        <p:spPr>
          <a:xfrm>
            <a:off x="6233687"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2" name="Rounded Rectangle 141"/>
          <p:cNvSpPr/>
          <p:nvPr/>
        </p:nvSpPr>
        <p:spPr>
          <a:xfrm>
            <a:off x="6233687"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3" name="Rounded Rectangle 142"/>
          <p:cNvSpPr/>
          <p:nvPr/>
        </p:nvSpPr>
        <p:spPr>
          <a:xfrm>
            <a:off x="6233687"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4" name="Rounded Rectangle 143"/>
          <p:cNvSpPr/>
          <p:nvPr/>
        </p:nvSpPr>
        <p:spPr>
          <a:xfrm>
            <a:off x="6233687"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5" name="Oval 144"/>
          <p:cNvSpPr/>
          <p:nvPr/>
        </p:nvSpPr>
        <p:spPr>
          <a:xfrm>
            <a:off x="630549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6" name="Oval 145"/>
          <p:cNvSpPr/>
          <p:nvPr/>
        </p:nvSpPr>
        <p:spPr>
          <a:xfrm>
            <a:off x="631431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7" name="Rounded Rectangle 146"/>
          <p:cNvSpPr/>
          <p:nvPr/>
        </p:nvSpPr>
        <p:spPr>
          <a:xfrm>
            <a:off x="7138303"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Categoryf8</a:t>
            </a:r>
          </a:p>
        </p:txBody>
      </p:sp>
      <p:sp>
        <p:nvSpPr>
          <p:cNvPr id="148" name="Rounded Rectangle 147"/>
          <p:cNvSpPr/>
          <p:nvPr/>
        </p:nvSpPr>
        <p:spPr>
          <a:xfrm>
            <a:off x="7169946" y="2272179"/>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9" name="Rounded Rectangle 148"/>
          <p:cNvSpPr/>
          <p:nvPr/>
        </p:nvSpPr>
        <p:spPr>
          <a:xfrm>
            <a:off x="7169946" y="3461824"/>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50" name="Rounded Rectangle 149"/>
          <p:cNvSpPr/>
          <p:nvPr/>
        </p:nvSpPr>
        <p:spPr>
          <a:xfrm>
            <a:off x="7169946" y="4297478"/>
            <a:ext cx="848818"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51" name="Rounded Rectangle 150"/>
          <p:cNvSpPr/>
          <p:nvPr/>
        </p:nvSpPr>
        <p:spPr>
          <a:xfrm>
            <a:off x="7169946" y="5487125"/>
            <a:ext cx="848818"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200" name="Oval 199"/>
          <p:cNvSpPr/>
          <p:nvPr/>
        </p:nvSpPr>
        <p:spPr>
          <a:xfrm>
            <a:off x="7229080" y="28495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1" name="Oval 200"/>
          <p:cNvSpPr/>
          <p:nvPr/>
        </p:nvSpPr>
        <p:spPr>
          <a:xfrm>
            <a:off x="7250605" y="4874894"/>
            <a:ext cx="68793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2" name="Rounded Rectangle 201"/>
          <p:cNvSpPr/>
          <p:nvPr/>
        </p:nvSpPr>
        <p:spPr>
          <a:xfrm>
            <a:off x="8074726" y="1719043"/>
            <a:ext cx="91440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Categoryf9</a:t>
            </a:r>
          </a:p>
        </p:txBody>
      </p:sp>
      <p:sp>
        <p:nvSpPr>
          <p:cNvPr id="203" name="Rounded Rectangle 202"/>
          <p:cNvSpPr/>
          <p:nvPr/>
        </p:nvSpPr>
        <p:spPr>
          <a:xfrm>
            <a:off x="8106205" y="2272179"/>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204" name="Rounded Rectangle 203"/>
          <p:cNvSpPr/>
          <p:nvPr/>
        </p:nvSpPr>
        <p:spPr>
          <a:xfrm>
            <a:off x="8106205" y="3461824"/>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205" name="Rounded Rectangle 204"/>
          <p:cNvSpPr/>
          <p:nvPr/>
        </p:nvSpPr>
        <p:spPr>
          <a:xfrm>
            <a:off x="8106205" y="4297478"/>
            <a:ext cx="84980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206" name="Rounded Rectangle 205"/>
          <p:cNvSpPr/>
          <p:nvPr/>
        </p:nvSpPr>
        <p:spPr>
          <a:xfrm>
            <a:off x="8106205" y="5487125"/>
            <a:ext cx="84980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207" name="Oval 206"/>
          <p:cNvSpPr/>
          <p:nvPr/>
        </p:nvSpPr>
        <p:spPr>
          <a:xfrm>
            <a:off x="8152271" y="28495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8" name="Oval 207"/>
          <p:cNvSpPr/>
          <p:nvPr/>
        </p:nvSpPr>
        <p:spPr>
          <a:xfrm>
            <a:off x="8186895" y="4874894"/>
            <a:ext cx="688732"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209" name="Elbow Connector 208"/>
          <p:cNvCxnSpPr>
            <a:endCxn id="126" idx="0"/>
          </p:cNvCxnSpPr>
          <p:nvPr/>
        </p:nvCxnSpPr>
        <p:spPr>
          <a:xfrm rot="5400000">
            <a:off x="4875823" y="1343705"/>
            <a:ext cx="285750" cy="464927"/>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4"/>
          </p:nvPr>
        </p:nvSpPr>
        <p:spPr/>
        <p:txBody>
          <a:bodyPr/>
          <a:lstStyle/>
          <a:p>
            <a:fld id="{4B17068C-EB94-40A3-A5F2-664CDD77FDAC}" type="slidenum">
              <a:rPr lang="en-GB" smtClean="0"/>
              <a:pPr/>
              <a:t>189</a:t>
            </a:fld>
            <a:endParaRPr lang="en-GB" dirty="0"/>
          </a:p>
        </p:txBody>
      </p:sp>
    </p:spTree>
    <p:extLst>
      <p:ext uri="{BB962C8B-B14F-4D97-AF65-F5344CB8AC3E}">
        <p14:creationId xmlns:p14="http://schemas.microsoft.com/office/powerpoint/2010/main" val="3114829403"/>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a:t>Global WXYZ Market Analysis By Category-F</a:t>
            </a:r>
          </a:p>
        </p:txBody>
      </p:sp>
      <p:sp>
        <p:nvSpPr>
          <p:cNvPr id="10" name="Text Placeholder 9"/>
          <p:cNvSpPr>
            <a:spLocks noGrp="1"/>
          </p:cNvSpPr>
          <p:nvPr>
            <p:ph type="body" idx="12"/>
          </p:nvPr>
        </p:nvSpPr>
        <p:spPr/>
        <p:txBody>
          <a:bodyPr/>
          <a:lstStyle/>
          <a:p>
            <a:r>
              <a:rPr lang="en-US" sz="1100" dirty="0"/>
              <a:t>Figure xx: Global WXYZ Market Share and BPS Analysis By Category-F, 2024 &amp; 2034</a:t>
            </a:r>
          </a:p>
        </p:txBody>
      </p:sp>
      <p:sp>
        <p:nvSpPr>
          <p:cNvPr id="12" name="Text Placeholder 11"/>
          <p:cNvSpPr>
            <a:spLocks noGrp="1"/>
          </p:cNvSpPr>
          <p:nvPr>
            <p:ph type="body" idx="14"/>
          </p:nvPr>
        </p:nvSpPr>
        <p:spPr/>
        <p:txBody>
          <a:bodyPr/>
          <a:lstStyle/>
          <a:p>
            <a:r>
              <a:rPr lang="en-US" sz="1100" dirty="0"/>
              <a:t>Figure xx: Global WXYZ Market Y-o-Y Growth Projections By Category-F, 2024 – 2034</a:t>
            </a:r>
          </a:p>
        </p:txBody>
      </p:sp>
      <p:sp>
        <p:nvSpPr>
          <p:cNvPr id="14" name="Text Placeholder 13"/>
          <p:cNvSpPr>
            <a:spLocks noGrp="1"/>
          </p:cNvSpPr>
          <p:nvPr>
            <p:ph type="body" idx="16"/>
          </p:nvPr>
        </p:nvSpPr>
        <p:spPr/>
        <p:txBody>
          <a:bodyPr/>
          <a:lstStyle/>
          <a:p>
            <a:r>
              <a:rPr lang="en-US" dirty="0"/>
              <a:t>Figure xx: Global WXYZ Market Attractiveness Analysis By Category-F, 2024 – 2034</a:t>
            </a:r>
          </a:p>
        </p:txBody>
      </p:sp>
      <p:sp>
        <p:nvSpPr>
          <p:cNvPr id="16" name="TextBox 1"/>
          <p:cNvSpPr txBox="1"/>
          <p:nvPr/>
        </p:nvSpPr>
        <p:spPr>
          <a:xfrm>
            <a:off x="719359" y="1695973"/>
            <a:ext cx="80631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B!Y! </a:t>
            </a:r>
            <a:r>
              <a:rPr lang="en-US" sz="1200" b="1" dirty="0" err="1"/>
              <a:t>Mn</a:t>
            </a:r>
            <a:endParaRPr lang="en-US" sz="1200" b="1" dirty="0"/>
          </a:p>
        </p:txBody>
      </p:sp>
      <p:sp>
        <p:nvSpPr>
          <p:cNvPr id="17" name="TextBox 9"/>
          <p:cNvSpPr txBox="1"/>
          <p:nvPr/>
        </p:nvSpPr>
        <p:spPr>
          <a:xfrm>
            <a:off x="2479917" y="1656252"/>
            <a:ext cx="79028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F!Y! </a:t>
            </a:r>
            <a:r>
              <a:rPr lang="en-US" sz="1200" b="1" dirty="0" err="1"/>
              <a:t>Mn</a:t>
            </a:r>
            <a:endParaRPr lang="en-US" sz="1200" b="1" dirty="0"/>
          </a:p>
        </p:txBody>
      </p:sp>
      <p:sp>
        <p:nvSpPr>
          <p:cNvPr id="13" name="TextBox 1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21" name="Content Placeholder 14"/>
          <p:cNvGraphicFramePr>
            <a:graphicFrameLocks noGrp="1"/>
          </p:cNvGraphicFramePr>
          <p:nvPr>
            <p:ph idx="1"/>
          </p:nvPr>
        </p:nvGraphicFramePr>
        <p:xfrm>
          <a:off x="152400" y="1612900"/>
          <a:ext cx="3768725" cy="459422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2" name="Content Placeholder 19"/>
          <p:cNvGraphicFramePr>
            <a:graphicFrameLocks noGrp="1"/>
          </p:cNvGraphicFramePr>
          <p:nvPr>
            <p:ph idx="15"/>
          </p:nvPr>
        </p:nvGraphicFramePr>
        <p:xfrm>
          <a:off x="8274050" y="1612900"/>
          <a:ext cx="3768725" cy="459422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3" name="Content Placeholder 17"/>
          <p:cNvGraphicFramePr>
            <a:graphicFrameLocks noGrp="1"/>
          </p:cNvGraphicFramePr>
          <p:nvPr>
            <p:ph idx="13"/>
          </p:nvPr>
        </p:nvGraphicFramePr>
        <p:xfrm>
          <a:off x="4213225" y="1612900"/>
          <a:ext cx="3768725" cy="4594225"/>
        </p:xfrm>
        <a:graphic>
          <a:graphicData uri="http://schemas.openxmlformats.org/drawingml/2006/chart">
            <c:chart xmlns:c="http://schemas.openxmlformats.org/drawingml/2006/chart" xmlns:r="http://schemas.openxmlformats.org/officeDocument/2006/relationships" r:id="rId4"/>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190</a:t>
            </a:fld>
            <a:endParaRPr lang="en-GB" dirty="0"/>
          </a:p>
        </p:txBody>
      </p:sp>
    </p:spTree>
    <p:extLst>
      <p:ext uri="{BB962C8B-B14F-4D97-AF65-F5344CB8AC3E}">
        <p14:creationId xmlns:p14="http://schemas.microsoft.com/office/powerpoint/2010/main" val="624820366"/>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Placeholder 10"/>
          <p:cNvSpPr>
            <a:spLocks noGrp="1"/>
          </p:cNvSpPr>
          <p:nvPr>
            <p:ph type="body" idx="12"/>
          </p:nvPr>
        </p:nvSpPr>
        <p:spPr/>
        <p:txBody>
          <a:bodyPr/>
          <a:lstStyle/>
          <a:p>
            <a:r>
              <a:rPr lang="en-US" sz="1400" dirty="0"/>
              <a:t>Table xx: Global WXYZ Market Size (US$ </a:t>
            </a:r>
            <a:r>
              <a:rPr lang="en-US" sz="1400" dirty="0" err="1"/>
              <a:t>Mn</a:t>
            </a:r>
            <a:r>
              <a:rPr lang="en-US" sz="1400" dirty="0"/>
              <a:t>) and Volume (Tons) Analysis and Forecast By Category-F, 2019 – 2034</a:t>
            </a:r>
          </a:p>
        </p:txBody>
      </p:sp>
      <p:graphicFrame>
        <p:nvGraphicFramePr>
          <p:cNvPr id="12" name="Content Placeholder 9"/>
          <p:cNvGraphicFramePr>
            <a:graphicFrameLocks/>
          </p:cNvGraphicFramePr>
          <p:nvPr/>
        </p:nvGraphicFramePr>
        <p:xfrm>
          <a:off x="152399" y="1674052"/>
          <a:ext cx="11887207" cy="4469976"/>
        </p:xfrm>
        <a:graphic>
          <a:graphicData uri="http://schemas.openxmlformats.org/drawingml/2006/table">
            <a:tbl>
              <a:tblPr firstRow="1" bandRow="1">
                <a:tableStyleId>{5C22544A-7EE6-4342-B048-85BDC9FD1C3A}</a:tableStyleId>
              </a:tblPr>
              <a:tblGrid>
                <a:gridCol w="897220">
                  <a:extLst>
                    <a:ext uri="{9D8B030D-6E8A-4147-A177-3AD203B41FA5}">
                      <a16:colId xmlns:a16="http://schemas.microsoft.com/office/drawing/2014/main" val="20000"/>
                    </a:ext>
                  </a:extLst>
                </a:gridCol>
                <a:gridCol w="360618">
                  <a:extLst>
                    <a:ext uri="{9D8B030D-6E8A-4147-A177-3AD203B41FA5}">
                      <a16:colId xmlns:a16="http://schemas.microsoft.com/office/drawing/2014/main" val="20018"/>
                    </a:ext>
                  </a:extLst>
                </a:gridCol>
                <a:gridCol w="625257">
                  <a:extLst>
                    <a:ext uri="{9D8B030D-6E8A-4147-A177-3AD203B41FA5}">
                      <a16:colId xmlns:a16="http://schemas.microsoft.com/office/drawing/2014/main" val="20001"/>
                    </a:ext>
                  </a:extLst>
                </a:gridCol>
                <a:gridCol w="625257">
                  <a:extLst>
                    <a:ext uri="{9D8B030D-6E8A-4147-A177-3AD203B41FA5}">
                      <a16:colId xmlns:a16="http://schemas.microsoft.com/office/drawing/2014/main" val="20002"/>
                    </a:ext>
                  </a:extLst>
                </a:gridCol>
                <a:gridCol w="625257">
                  <a:extLst>
                    <a:ext uri="{9D8B030D-6E8A-4147-A177-3AD203B41FA5}">
                      <a16:colId xmlns:a16="http://schemas.microsoft.com/office/drawing/2014/main" val="20003"/>
                    </a:ext>
                  </a:extLst>
                </a:gridCol>
                <a:gridCol w="625257">
                  <a:extLst>
                    <a:ext uri="{9D8B030D-6E8A-4147-A177-3AD203B41FA5}">
                      <a16:colId xmlns:a16="http://schemas.microsoft.com/office/drawing/2014/main" val="20004"/>
                    </a:ext>
                  </a:extLst>
                </a:gridCol>
                <a:gridCol w="625257">
                  <a:extLst>
                    <a:ext uri="{9D8B030D-6E8A-4147-A177-3AD203B41FA5}">
                      <a16:colId xmlns:a16="http://schemas.microsoft.com/office/drawing/2014/main" val="20005"/>
                    </a:ext>
                  </a:extLst>
                </a:gridCol>
                <a:gridCol w="625257">
                  <a:extLst>
                    <a:ext uri="{9D8B030D-6E8A-4147-A177-3AD203B41FA5}">
                      <a16:colId xmlns:a16="http://schemas.microsoft.com/office/drawing/2014/main" val="20006"/>
                    </a:ext>
                  </a:extLst>
                </a:gridCol>
                <a:gridCol w="625257">
                  <a:extLst>
                    <a:ext uri="{9D8B030D-6E8A-4147-A177-3AD203B41FA5}">
                      <a16:colId xmlns:a16="http://schemas.microsoft.com/office/drawing/2014/main" val="20007"/>
                    </a:ext>
                  </a:extLst>
                </a:gridCol>
                <a:gridCol w="625257">
                  <a:extLst>
                    <a:ext uri="{9D8B030D-6E8A-4147-A177-3AD203B41FA5}">
                      <a16:colId xmlns:a16="http://schemas.microsoft.com/office/drawing/2014/main" val="20008"/>
                    </a:ext>
                  </a:extLst>
                </a:gridCol>
                <a:gridCol w="625257">
                  <a:extLst>
                    <a:ext uri="{9D8B030D-6E8A-4147-A177-3AD203B41FA5}">
                      <a16:colId xmlns:a16="http://schemas.microsoft.com/office/drawing/2014/main" val="20009"/>
                    </a:ext>
                  </a:extLst>
                </a:gridCol>
                <a:gridCol w="625257">
                  <a:extLst>
                    <a:ext uri="{9D8B030D-6E8A-4147-A177-3AD203B41FA5}">
                      <a16:colId xmlns:a16="http://schemas.microsoft.com/office/drawing/2014/main" val="20010"/>
                    </a:ext>
                  </a:extLst>
                </a:gridCol>
                <a:gridCol w="625257">
                  <a:extLst>
                    <a:ext uri="{9D8B030D-6E8A-4147-A177-3AD203B41FA5}">
                      <a16:colId xmlns:a16="http://schemas.microsoft.com/office/drawing/2014/main" val="20011"/>
                    </a:ext>
                  </a:extLst>
                </a:gridCol>
                <a:gridCol w="625257">
                  <a:extLst>
                    <a:ext uri="{9D8B030D-6E8A-4147-A177-3AD203B41FA5}">
                      <a16:colId xmlns:a16="http://schemas.microsoft.com/office/drawing/2014/main" val="20012"/>
                    </a:ext>
                  </a:extLst>
                </a:gridCol>
                <a:gridCol w="625257">
                  <a:extLst>
                    <a:ext uri="{9D8B030D-6E8A-4147-A177-3AD203B41FA5}">
                      <a16:colId xmlns:a16="http://schemas.microsoft.com/office/drawing/2014/main" val="20013"/>
                    </a:ext>
                  </a:extLst>
                </a:gridCol>
                <a:gridCol w="625257">
                  <a:extLst>
                    <a:ext uri="{9D8B030D-6E8A-4147-A177-3AD203B41FA5}">
                      <a16:colId xmlns:a16="http://schemas.microsoft.com/office/drawing/2014/main" val="20014"/>
                    </a:ext>
                  </a:extLst>
                </a:gridCol>
                <a:gridCol w="625257">
                  <a:extLst>
                    <a:ext uri="{9D8B030D-6E8A-4147-A177-3AD203B41FA5}">
                      <a16:colId xmlns:a16="http://schemas.microsoft.com/office/drawing/2014/main" val="20015"/>
                    </a:ext>
                  </a:extLst>
                </a:gridCol>
                <a:gridCol w="625257">
                  <a:extLst>
                    <a:ext uri="{9D8B030D-6E8A-4147-A177-3AD203B41FA5}">
                      <a16:colId xmlns:a16="http://schemas.microsoft.com/office/drawing/2014/main" val="20016"/>
                    </a:ext>
                  </a:extLst>
                </a:gridCol>
                <a:gridCol w="625257">
                  <a:extLst>
                    <a:ext uri="{9D8B030D-6E8A-4147-A177-3AD203B41FA5}">
                      <a16:colId xmlns:a16="http://schemas.microsoft.com/office/drawing/2014/main" val="20017"/>
                    </a:ext>
                  </a:extLst>
                </a:gridCol>
              </a:tblGrid>
              <a:tr h="642096">
                <a:tc gridSpan="2">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dirty="0"/>
                        <a:t>Category-F</a:t>
                      </a:r>
                      <a:endParaRPr lang="en-US" sz="1100" b="1" i="0" baseline="0" dirty="0">
                        <a:solidFill>
                          <a:schemeClr val="tx1"/>
                        </a:solidFill>
                        <a:latin typeface="+mn-lt"/>
                      </a:endParaRPr>
                    </a:p>
                  </a:txBody>
                  <a:tcPr marR="0" marT="0" marB="0" anchor="ctr"/>
                </a:tc>
                <a:tc hMerge="1">
                  <a:txBody>
                    <a:bodyPr/>
                    <a:lstStyle/>
                    <a:p>
                      <a:pPr algn="ctr"/>
                      <a:endParaRPr lang="en-US" sz="10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139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algn="l" defTabSz="914400" rtl="0" eaLnBrk="1" latinLnBrk="0" hangingPunct="1"/>
                      <a:r>
                        <a:rPr lang="en-US" sz="1100" b="1" i="0" kern="1200" baseline="0" dirty="0">
                          <a:solidFill>
                            <a:prstClr val="black"/>
                          </a:solidFill>
                          <a:latin typeface="Calibri" panose="020F0502020204030204"/>
                          <a:ea typeface="Malgun Gothic" panose="020B0503020000020004" pitchFamily="34" charset="-127"/>
                          <a:cs typeface=""/>
                        </a:rPr>
                        <a:t>Categoryf1</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1394">
                <a:tc vMerge="1">
                  <a:txBody>
                    <a:bodyPr/>
                    <a:lstStyle/>
                    <a:p>
                      <a:endParaRPr lang="en-US" dirty="0"/>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1394">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100" b="1" i="0" kern="1200" baseline="0" dirty="0">
                          <a:solidFill>
                            <a:prstClr val="black"/>
                          </a:solidFill>
                          <a:latin typeface="+mn-lt"/>
                          <a:ea typeface="Malgun Gothic" panose="020B0503020000020004" pitchFamily="34" charset="-127"/>
                          <a:cs typeface=""/>
                        </a:rPr>
                        <a:t>Categoryf2</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1394">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139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algn="l"/>
                      <a:r>
                        <a:rPr lang="en-US" sz="1100" b="1" i="0" baseline="0" dirty="0">
                          <a:latin typeface="+mn-lt"/>
                        </a:rPr>
                        <a:t>Categoryf3</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1394">
                <a:tc vMerge="1">
                  <a:txBody>
                    <a:bodyPr/>
                    <a:lstStyle/>
                    <a:p>
                      <a:endParaRPr lang="en-US"/>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1394">
                <a:tc rowSpan="2">
                  <a:txBody>
                    <a:bodyPr/>
                    <a:lstStyle/>
                    <a:p>
                      <a:pPr algn="l"/>
                      <a:r>
                        <a:rPr lang="en-IN" sz="1100" b="1" i="0" baseline="0" dirty="0">
                          <a:latin typeface="+mn-lt"/>
                        </a:rPr>
                        <a:t>Categoryf4</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1394">
                <a:tc rowSpan="2">
                  <a:txBody>
                    <a:bodyPr/>
                    <a:lstStyle/>
                    <a:p>
                      <a:pPr algn="l"/>
                      <a:r>
                        <a:rPr lang="en-IN" sz="1100" b="1" i="0" baseline="0" dirty="0">
                          <a:latin typeface="+mn-lt"/>
                        </a:rPr>
                        <a:t>Categoryf5</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1394">
                <a:tc rowSpan="2">
                  <a:txBody>
                    <a:bodyPr/>
                    <a:lstStyle/>
                    <a:p>
                      <a:pPr algn="l"/>
                      <a:r>
                        <a:rPr lang="en-IN" sz="1100" b="1" i="0" baseline="0" dirty="0">
                          <a:latin typeface="+mn-lt"/>
                        </a:rPr>
                        <a:t>Categoryf6</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1394">
                <a:tc rowSpan="2">
                  <a:txBody>
                    <a:bodyPr/>
                    <a:lstStyle/>
                    <a:p>
                      <a:pPr algn="l"/>
                      <a:r>
                        <a:rPr lang="en-IN" sz="1100" b="1" i="0" baseline="0" dirty="0">
                          <a:latin typeface="+mn-lt"/>
                        </a:rPr>
                        <a:t>Categoryf7</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1394">
                <a:tc rowSpan="2">
                  <a:txBody>
                    <a:bodyPr/>
                    <a:lstStyle/>
                    <a:p>
                      <a:pPr algn="l"/>
                      <a:r>
                        <a:rPr lang="en-IN" sz="1100" b="1" i="0" baseline="0" dirty="0">
                          <a:latin typeface="+mn-lt"/>
                        </a:rPr>
                        <a:t>Categoryf8</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1394">
                <a:tc rowSpan="2">
                  <a:txBody>
                    <a:bodyPr/>
                    <a:lstStyle/>
                    <a:p>
                      <a:pPr algn="l"/>
                      <a:r>
                        <a:rPr lang="en-IN" sz="1100" b="1" i="0" baseline="0" dirty="0">
                          <a:latin typeface="+mn-lt"/>
                        </a:rPr>
                        <a:t>Categoryf9</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1394">
                <a:tc rowSpan="2">
                  <a:txBody>
                    <a:bodyPr/>
                    <a:lstStyle/>
                    <a:p>
                      <a:pPr algn="l"/>
                      <a:r>
                        <a:rPr lang="en-IN" sz="1100" b="1" i="0" baseline="0" dirty="0">
                          <a:latin typeface="+mn-lt"/>
                        </a:rPr>
                        <a:t>Total</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139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 H!Y!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1" i="0" u="none" strike="noStrike" dirty="0">
                          <a:solidFill>
                            <a:schemeClr val="tx1"/>
                          </a:solidFill>
                          <a:effectLst/>
                          <a:latin typeface="Calibri" panose="020F0502020204030204" pitchFamily="34" charset="0"/>
                        </a:rPr>
                        <a:t>B!Y!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F!Y!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err="1">
                          <a:solidFill>
                            <a:schemeClr val="tx1"/>
                          </a:solidFill>
                          <a:effectLst/>
                          <a:latin typeface="Calibri" panose="020F0502020204030204" pitchFamily="34" charset="0"/>
                        </a:rPr>
                        <a:t>VaC</a:t>
                      </a:r>
                      <a:r>
                        <a:rPr lang="en-IN" sz="1100" b="1" i="0" u="none" strike="noStrike" dirty="0">
                          <a:solidFill>
                            <a:schemeClr val="tx1"/>
                          </a:solidFill>
                          <a:effectLst/>
                          <a:latin typeface="Calibri" panose="020F0502020204030204" pitchFamily="34" charset="0"/>
                        </a:rPr>
                        <a:t>!%</a:t>
                      </a:r>
                      <a:endParaRPr lang="en-US" sz="1100" b="1" i="0" u="none" strike="noStrike" dirty="0">
                        <a:solidFill>
                          <a:schemeClr val="tx1"/>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4" name="Title 7"/>
          <p:cNvSpPr>
            <a:spLocks noGrp="1"/>
          </p:cNvSpPr>
          <p:nvPr>
            <p:ph type="title"/>
          </p:nvPr>
        </p:nvSpPr>
        <p:spPr/>
        <p:txBody>
          <a:bodyPr/>
          <a:lstStyle/>
          <a:p>
            <a:r>
              <a:rPr lang="en-US" dirty="0"/>
              <a:t>Global WXYZ Market Analysis By Category-F</a:t>
            </a:r>
          </a:p>
        </p:txBody>
      </p:sp>
      <p:sp>
        <p:nvSpPr>
          <p:cNvPr id="2" name="Slide Number Placeholder 1"/>
          <p:cNvSpPr>
            <a:spLocks noGrp="1"/>
          </p:cNvSpPr>
          <p:nvPr>
            <p:ph type="sldNum" sz="quarter" idx="4"/>
          </p:nvPr>
        </p:nvSpPr>
        <p:spPr/>
        <p:txBody>
          <a:bodyPr/>
          <a:lstStyle/>
          <a:p>
            <a:fld id="{4B17068C-EB94-40A3-A5F2-664CDD77FDAC}" type="slidenum">
              <a:rPr lang="en-GB" smtClean="0"/>
              <a:pPr/>
              <a:t>191</a:t>
            </a:fld>
            <a:endParaRPr lang="en-GB" dirty="0"/>
          </a:p>
        </p:txBody>
      </p:sp>
    </p:spTree>
    <p:extLst>
      <p:ext uri="{BB962C8B-B14F-4D97-AF65-F5344CB8AC3E}">
        <p14:creationId xmlns:p14="http://schemas.microsoft.com/office/powerpoint/2010/main" val="3082670818"/>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 Placeholder 26"/>
          <p:cNvSpPr>
            <a:spLocks noGrp="1"/>
          </p:cNvSpPr>
          <p:nvPr>
            <p:ph type="body" idx="12"/>
          </p:nvPr>
        </p:nvSpPr>
        <p:spPr/>
        <p:txBody>
          <a:bodyPr/>
          <a:lstStyle/>
          <a:p>
            <a:r>
              <a:rPr lang="en-US" sz="1400" dirty="0"/>
              <a:t>Table xx: Global WXYZ Market Volume (Tons) Analysis and Forecast By Category-F, 2019 – 2034</a:t>
            </a:r>
          </a:p>
        </p:txBody>
      </p:sp>
      <p:graphicFrame>
        <p:nvGraphicFramePr>
          <p:cNvPr id="28" name="Content Placeholder 9"/>
          <p:cNvGraphicFramePr>
            <a:graphicFrameLocks/>
          </p:cNvGraphicFramePr>
          <p:nvPr/>
        </p:nvGraphicFramePr>
        <p:xfrm>
          <a:off x="152390" y="1674051"/>
          <a:ext cx="11887209" cy="4540321"/>
        </p:xfrm>
        <a:graphic>
          <a:graphicData uri="http://schemas.openxmlformats.org/drawingml/2006/table">
            <a:tbl>
              <a:tblPr firstRow="1" bandRow="1">
                <a:tableStyleId>{5C22544A-7EE6-4342-B048-85BDC9FD1C3A}</a:tableStyleId>
              </a:tblPr>
              <a:tblGrid>
                <a:gridCol w="928584">
                  <a:extLst>
                    <a:ext uri="{9D8B030D-6E8A-4147-A177-3AD203B41FA5}">
                      <a16:colId xmlns:a16="http://schemas.microsoft.com/office/drawing/2014/main" val="20000"/>
                    </a:ext>
                  </a:extLst>
                </a:gridCol>
                <a:gridCol w="644625">
                  <a:extLst>
                    <a:ext uri="{9D8B030D-6E8A-4147-A177-3AD203B41FA5}">
                      <a16:colId xmlns:a16="http://schemas.microsoft.com/office/drawing/2014/main" val="20001"/>
                    </a:ext>
                  </a:extLst>
                </a:gridCol>
                <a:gridCol w="644625">
                  <a:extLst>
                    <a:ext uri="{9D8B030D-6E8A-4147-A177-3AD203B41FA5}">
                      <a16:colId xmlns:a16="http://schemas.microsoft.com/office/drawing/2014/main" val="20002"/>
                    </a:ext>
                  </a:extLst>
                </a:gridCol>
                <a:gridCol w="644625">
                  <a:extLst>
                    <a:ext uri="{9D8B030D-6E8A-4147-A177-3AD203B41FA5}">
                      <a16:colId xmlns:a16="http://schemas.microsoft.com/office/drawing/2014/main" val="20003"/>
                    </a:ext>
                  </a:extLst>
                </a:gridCol>
                <a:gridCol w="644625">
                  <a:extLst>
                    <a:ext uri="{9D8B030D-6E8A-4147-A177-3AD203B41FA5}">
                      <a16:colId xmlns:a16="http://schemas.microsoft.com/office/drawing/2014/main" val="20004"/>
                    </a:ext>
                  </a:extLst>
                </a:gridCol>
                <a:gridCol w="644625">
                  <a:extLst>
                    <a:ext uri="{9D8B030D-6E8A-4147-A177-3AD203B41FA5}">
                      <a16:colId xmlns:a16="http://schemas.microsoft.com/office/drawing/2014/main" val="20005"/>
                    </a:ext>
                  </a:extLst>
                </a:gridCol>
                <a:gridCol w="644625">
                  <a:extLst>
                    <a:ext uri="{9D8B030D-6E8A-4147-A177-3AD203B41FA5}">
                      <a16:colId xmlns:a16="http://schemas.microsoft.com/office/drawing/2014/main" val="20006"/>
                    </a:ext>
                  </a:extLst>
                </a:gridCol>
                <a:gridCol w="644625">
                  <a:extLst>
                    <a:ext uri="{9D8B030D-6E8A-4147-A177-3AD203B41FA5}">
                      <a16:colId xmlns:a16="http://schemas.microsoft.com/office/drawing/2014/main" val="20007"/>
                    </a:ext>
                  </a:extLst>
                </a:gridCol>
                <a:gridCol w="644625">
                  <a:extLst>
                    <a:ext uri="{9D8B030D-6E8A-4147-A177-3AD203B41FA5}">
                      <a16:colId xmlns:a16="http://schemas.microsoft.com/office/drawing/2014/main" val="20008"/>
                    </a:ext>
                  </a:extLst>
                </a:gridCol>
                <a:gridCol w="644625">
                  <a:extLst>
                    <a:ext uri="{9D8B030D-6E8A-4147-A177-3AD203B41FA5}">
                      <a16:colId xmlns:a16="http://schemas.microsoft.com/office/drawing/2014/main" val="20009"/>
                    </a:ext>
                  </a:extLst>
                </a:gridCol>
                <a:gridCol w="644625">
                  <a:extLst>
                    <a:ext uri="{9D8B030D-6E8A-4147-A177-3AD203B41FA5}">
                      <a16:colId xmlns:a16="http://schemas.microsoft.com/office/drawing/2014/main" val="20010"/>
                    </a:ext>
                  </a:extLst>
                </a:gridCol>
                <a:gridCol w="644625">
                  <a:extLst>
                    <a:ext uri="{9D8B030D-6E8A-4147-A177-3AD203B41FA5}">
                      <a16:colId xmlns:a16="http://schemas.microsoft.com/office/drawing/2014/main" val="20011"/>
                    </a:ext>
                  </a:extLst>
                </a:gridCol>
                <a:gridCol w="644625">
                  <a:extLst>
                    <a:ext uri="{9D8B030D-6E8A-4147-A177-3AD203B41FA5}">
                      <a16:colId xmlns:a16="http://schemas.microsoft.com/office/drawing/2014/main" val="20012"/>
                    </a:ext>
                  </a:extLst>
                </a:gridCol>
                <a:gridCol w="644625">
                  <a:extLst>
                    <a:ext uri="{9D8B030D-6E8A-4147-A177-3AD203B41FA5}">
                      <a16:colId xmlns:a16="http://schemas.microsoft.com/office/drawing/2014/main" val="20013"/>
                    </a:ext>
                  </a:extLst>
                </a:gridCol>
                <a:gridCol w="644625">
                  <a:extLst>
                    <a:ext uri="{9D8B030D-6E8A-4147-A177-3AD203B41FA5}">
                      <a16:colId xmlns:a16="http://schemas.microsoft.com/office/drawing/2014/main" val="20014"/>
                    </a:ext>
                  </a:extLst>
                </a:gridCol>
                <a:gridCol w="644625">
                  <a:extLst>
                    <a:ext uri="{9D8B030D-6E8A-4147-A177-3AD203B41FA5}">
                      <a16:colId xmlns:a16="http://schemas.microsoft.com/office/drawing/2014/main" val="20015"/>
                    </a:ext>
                  </a:extLst>
                </a:gridCol>
                <a:gridCol w="644625">
                  <a:extLst>
                    <a:ext uri="{9D8B030D-6E8A-4147-A177-3AD203B41FA5}">
                      <a16:colId xmlns:a16="http://schemas.microsoft.com/office/drawing/2014/main" val="20016"/>
                    </a:ext>
                  </a:extLst>
                </a:gridCol>
                <a:gridCol w="644625">
                  <a:extLst>
                    <a:ext uri="{9D8B030D-6E8A-4147-A177-3AD203B41FA5}">
                      <a16:colId xmlns:a16="http://schemas.microsoft.com/office/drawing/2014/main" val="20017"/>
                    </a:ext>
                  </a:extLst>
                </a:gridCol>
              </a:tblGrid>
              <a:tr h="652201">
                <a:tc>
                  <a:txBody>
                    <a:bodyPr/>
                    <a:lstStyle/>
                    <a:p>
                      <a:pPr algn="ctr"/>
                      <a:r>
                        <a:rPr lang="en-IN" sz="1100" i="0" baseline="0" dirty="0">
                          <a:solidFill>
                            <a:schemeClr val="bg1"/>
                          </a:solidFill>
                          <a:latin typeface="+mn-lt"/>
                        </a:rPr>
                        <a:t>Category-F</a:t>
                      </a:r>
                      <a:endParaRPr lang="en-US" sz="1100" i="0" baseline="0" dirty="0">
                        <a:solidFill>
                          <a:schemeClr val="bg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Categoryf10</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Categoryf11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Categoryf12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Categoryf13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Categoryf14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Categoryf15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Categoryf16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Categoryf17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Categoryf18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4406">
                <a:tc>
                  <a:txBody>
                    <a:bodyPr/>
                    <a:lstStyle/>
                    <a:p>
                      <a:pPr algn="l" fontAlgn="b"/>
                      <a:r>
                        <a:rPr lang="en-US" sz="1100" b="1" i="0" u="none" strike="noStrike" dirty="0">
                          <a:solidFill>
                            <a:srgbClr val="000000"/>
                          </a:solidFill>
                          <a:effectLst/>
                          <a:latin typeface="Calibri" panose="020F0502020204030204" pitchFamily="34" charset="0"/>
                        </a:rPr>
                        <a:t>Categoryf19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4406">
                <a:tc>
                  <a:txBody>
                    <a:bodyPr/>
                    <a:lstStyle/>
                    <a:p>
                      <a:pPr algn="ctr" fontAlgn="ctr"/>
                      <a:r>
                        <a:rPr lang="en-IN" sz="1100" b="1" i="0" u="none" strike="noStrike" dirty="0">
                          <a:solidFill>
                            <a:srgbClr val="000000"/>
                          </a:solidFill>
                          <a:effectLst/>
                          <a:latin typeface="Calibri" panose="020F0502020204030204" pitchFamily="34" charset="0"/>
                        </a:rPr>
                        <a:t>Total</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8" name="Title 7"/>
          <p:cNvSpPr>
            <a:spLocks noGrp="1"/>
          </p:cNvSpPr>
          <p:nvPr>
            <p:ph type="title"/>
          </p:nvPr>
        </p:nvSpPr>
        <p:spPr/>
        <p:txBody>
          <a:bodyPr/>
          <a:lstStyle/>
          <a:p>
            <a:r>
              <a:rPr lang="en-US" dirty="0"/>
              <a:t>Global WXYZ Market Analysis By Category-F</a:t>
            </a:r>
          </a:p>
        </p:txBody>
      </p:sp>
      <p:sp>
        <p:nvSpPr>
          <p:cNvPr id="2" name="Slide Number Placeholder 1"/>
          <p:cNvSpPr>
            <a:spLocks noGrp="1"/>
          </p:cNvSpPr>
          <p:nvPr>
            <p:ph type="sldNum" sz="quarter" idx="4"/>
          </p:nvPr>
        </p:nvSpPr>
        <p:spPr/>
        <p:txBody>
          <a:bodyPr/>
          <a:lstStyle/>
          <a:p>
            <a:fld id="{4B17068C-EB94-40A3-A5F2-664CDD77FDAC}" type="slidenum">
              <a:rPr lang="en-GB" smtClean="0"/>
              <a:pPr/>
              <a:t>192</a:t>
            </a:fld>
            <a:endParaRPr lang="en-GB" dirty="0"/>
          </a:p>
        </p:txBody>
      </p:sp>
    </p:spTree>
    <p:extLst>
      <p:ext uri="{BB962C8B-B14F-4D97-AF65-F5344CB8AC3E}">
        <p14:creationId xmlns:p14="http://schemas.microsoft.com/office/powerpoint/2010/main" val="2958004547"/>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idx="12"/>
          </p:nvPr>
        </p:nvSpPr>
        <p:spPr/>
        <p:txBody>
          <a:bodyPr/>
          <a:lstStyle/>
          <a:p>
            <a:r>
              <a:rPr lang="en-US" sz="1400" dirty="0"/>
              <a:t>Table xx: Global WXYZ Market Size(US$ </a:t>
            </a:r>
            <a:r>
              <a:rPr lang="en-US" sz="1400" dirty="0" err="1"/>
              <a:t>Mn</a:t>
            </a:r>
            <a:r>
              <a:rPr lang="en-US" sz="1400" dirty="0"/>
              <a:t>) Analysis and Forecast By Category-F, 2019 – 2034</a:t>
            </a:r>
          </a:p>
        </p:txBody>
      </p:sp>
      <p:graphicFrame>
        <p:nvGraphicFramePr>
          <p:cNvPr id="5" name="Content Placeholder 9"/>
          <p:cNvGraphicFramePr>
            <a:graphicFrameLocks/>
          </p:cNvGraphicFramePr>
          <p:nvPr/>
        </p:nvGraphicFramePr>
        <p:xfrm>
          <a:off x="154831" y="1667646"/>
          <a:ext cx="11887209" cy="4484037"/>
        </p:xfrm>
        <a:graphic>
          <a:graphicData uri="http://schemas.openxmlformats.org/drawingml/2006/table">
            <a:tbl>
              <a:tblPr firstRow="1" bandRow="1">
                <a:tableStyleId>{5C22544A-7EE6-4342-B048-85BDC9FD1C3A}</a:tableStyleId>
              </a:tblPr>
              <a:tblGrid>
                <a:gridCol w="928584">
                  <a:extLst>
                    <a:ext uri="{9D8B030D-6E8A-4147-A177-3AD203B41FA5}">
                      <a16:colId xmlns:a16="http://schemas.microsoft.com/office/drawing/2014/main" val="20000"/>
                    </a:ext>
                  </a:extLst>
                </a:gridCol>
                <a:gridCol w="644625">
                  <a:extLst>
                    <a:ext uri="{9D8B030D-6E8A-4147-A177-3AD203B41FA5}">
                      <a16:colId xmlns:a16="http://schemas.microsoft.com/office/drawing/2014/main" val="20001"/>
                    </a:ext>
                  </a:extLst>
                </a:gridCol>
                <a:gridCol w="644625">
                  <a:extLst>
                    <a:ext uri="{9D8B030D-6E8A-4147-A177-3AD203B41FA5}">
                      <a16:colId xmlns:a16="http://schemas.microsoft.com/office/drawing/2014/main" val="20002"/>
                    </a:ext>
                  </a:extLst>
                </a:gridCol>
                <a:gridCol w="644625">
                  <a:extLst>
                    <a:ext uri="{9D8B030D-6E8A-4147-A177-3AD203B41FA5}">
                      <a16:colId xmlns:a16="http://schemas.microsoft.com/office/drawing/2014/main" val="20003"/>
                    </a:ext>
                  </a:extLst>
                </a:gridCol>
                <a:gridCol w="644625">
                  <a:extLst>
                    <a:ext uri="{9D8B030D-6E8A-4147-A177-3AD203B41FA5}">
                      <a16:colId xmlns:a16="http://schemas.microsoft.com/office/drawing/2014/main" val="20004"/>
                    </a:ext>
                  </a:extLst>
                </a:gridCol>
                <a:gridCol w="644625">
                  <a:extLst>
                    <a:ext uri="{9D8B030D-6E8A-4147-A177-3AD203B41FA5}">
                      <a16:colId xmlns:a16="http://schemas.microsoft.com/office/drawing/2014/main" val="20005"/>
                    </a:ext>
                  </a:extLst>
                </a:gridCol>
                <a:gridCol w="644625">
                  <a:extLst>
                    <a:ext uri="{9D8B030D-6E8A-4147-A177-3AD203B41FA5}">
                      <a16:colId xmlns:a16="http://schemas.microsoft.com/office/drawing/2014/main" val="20006"/>
                    </a:ext>
                  </a:extLst>
                </a:gridCol>
                <a:gridCol w="644625">
                  <a:extLst>
                    <a:ext uri="{9D8B030D-6E8A-4147-A177-3AD203B41FA5}">
                      <a16:colId xmlns:a16="http://schemas.microsoft.com/office/drawing/2014/main" val="20007"/>
                    </a:ext>
                  </a:extLst>
                </a:gridCol>
                <a:gridCol w="644625">
                  <a:extLst>
                    <a:ext uri="{9D8B030D-6E8A-4147-A177-3AD203B41FA5}">
                      <a16:colId xmlns:a16="http://schemas.microsoft.com/office/drawing/2014/main" val="20008"/>
                    </a:ext>
                  </a:extLst>
                </a:gridCol>
                <a:gridCol w="644625">
                  <a:extLst>
                    <a:ext uri="{9D8B030D-6E8A-4147-A177-3AD203B41FA5}">
                      <a16:colId xmlns:a16="http://schemas.microsoft.com/office/drawing/2014/main" val="20009"/>
                    </a:ext>
                  </a:extLst>
                </a:gridCol>
                <a:gridCol w="644625">
                  <a:extLst>
                    <a:ext uri="{9D8B030D-6E8A-4147-A177-3AD203B41FA5}">
                      <a16:colId xmlns:a16="http://schemas.microsoft.com/office/drawing/2014/main" val="20010"/>
                    </a:ext>
                  </a:extLst>
                </a:gridCol>
                <a:gridCol w="644625">
                  <a:extLst>
                    <a:ext uri="{9D8B030D-6E8A-4147-A177-3AD203B41FA5}">
                      <a16:colId xmlns:a16="http://schemas.microsoft.com/office/drawing/2014/main" val="20011"/>
                    </a:ext>
                  </a:extLst>
                </a:gridCol>
                <a:gridCol w="644625">
                  <a:extLst>
                    <a:ext uri="{9D8B030D-6E8A-4147-A177-3AD203B41FA5}">
                      <a16:colId xmlns:a16="http://schemas.microsoft.com/office/drawing/2014/main" val="20012"/>
                    </a:ext>
                  </a:extLst>
                </a:gridCol>
                <a:gridCol w="644625">
                  <a:extLst>
                    <a:ext uri="{9D8B030D-6E8A-4147-A177-3AD203B41FA5}">
                      <a16:colId xmlns:a16="http://schemas.microsoft.com/office/drawing/2014/main" val="20013"/>
                    </a:ext>
                  </a:extLst>
                </a:gridCol>
                <a:gridCol w="644625">
                  <a:extLst>
                    <a:ext uri="{9D8B030D-6E8A-4147-A177-3AD203B41FA5}">
                      <a16:colId xmlns:a16="http://schemas.microsoft.com/office/drawing/2014/main" val="20014"/>
                    </a:ext>
                  </a:extLst>
                </a:gridCol>
                <a:gridCol w="644625">
                  <a:extLst>
                    <a:ext uri="{9D8B030D-6E8A-4147-A177-3AD203B41FA5}">
                      <a16:colId xmlns:a16="http://schemas.microsoft.com/office/drawing/2014/main" val="20015"/>
                    </a:ext>
                  </a:extLst>
                </a:gridCol>
                <a:gridCol w="644625">
                  <a:extLst>
                    <a:ext uri="{9D8B030D-6E8A-4147-A177-3AD203B41FA5}">
                      <a16:colId xmlns:a16="http://schemas.microsoft.com/office/drawing/2014/main" val="20016"/>
                    </a:ext>
                  </a:extLst>
                </a:gridCol>
                <a:gridCol w="644625">
                  <a:extLst>
                    <a:ext uri="{9D8B030D-6E8A-4147-A177-3AD203B41FA5}">
                      <a16:colId xmlns:a16="http://schemas.microsoft.com/office/drawing/2014/main" val="20017"/>
                    </a:ext>
                  </a:extLst>
                </a:gridCol>
              </a:tblGrid>
              <a:tr h="644117">
                <a:tc>
                  <a:txBody>
                    <a:bodyPr/>
                    <a:lstStyle/>
                    <a:p>
                      <a:pPr algn="ctr"/>
                      <a:r>
                        <a:rPr lang="en-IN" sz="1100" i="0" baseline="0" dirty="0">
                          <a:solidFill>
                            <a:schemeClr val="bg1"/>
                          </a:solidFill>
                          <a:latin typeface="+mn-lt"/>
                        </a:rPr>
                        <a:t>Category-F</a:t>
                      </a:r>
                      <a:endParaRPr lang="en-US" sz="1100" i="0" baseline="0" dirty="0">
                        <a:solidFill>
                          <a:schemeClr val="bg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Categoryf9</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Categoryf10</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Categoryf11</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Categoryf12</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Categoryf13</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Categoryf14</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Categoryf15</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Categoryf16</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Categoryf17</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Categoryf18</a:t>
                      </a:r>
                    </a:p>
                  </a:txBody>
                  <a:tcPr marL="9525" marR="9525" marT="9525" marB="0" anchor="b"/>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191996">
                <a:tc>
                  <a:txBody>
                    <a:bodyPr/>
                    <a:lstStyle/>
                    <a:p>
                      <a:pPr algn="l" fontAlgn="b"/>
                      <a:r>
                        <a:rPr lang="en-US" sz="1100" b="1" i="0" u="none" strike="noStrike" dirty="0">
                          <a:solidFill>
                            <a:srgbClr val="000000"/>
                          </a:solidFill>
                          <a:effectLst/>
                          <a:latin typeface="Calibri" panose="020F0502020204030204" pitchFamily="34" charset="0"/>
                        </a:rPr>
                        <a:t>Categoryf19</a:t>
                      </a:r>
                    </a:p>
                  </a:txBody>
                  <a:tcPr marL="9525" marR="9525" marT="9525" marB="0" anchor="b"/>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191996">
                <a:tc>
                  <a:txBody>
                    <a:bodyPr/>
                    <a:lstStyle/>
                    <a:p>
                      <a:pPr algn="ctr" fontAlgn="ctr"/>
                      <a:r>
                        <a:rPr lang="en-IN" sz="1100" b="1" i="0" u="none" strike="noStrike" dirty="0">
                          <a:solidFill>
                            <a:srgbClr val="000000"/>
                          </a:solidFill>
                          <a:effectLst/>
                          <a:latin typeface="Calibri" panose="020F0502020204030204" pitchFamily="34" charset="0"/>
                        </a:rPr>
                        <a:t>Total</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 H!Y!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IN" sz="1100" b="1" i="0" u="none" strike="noStrike" dirty="0">
                          <a:solidFill>
                            <a:schemeClr val="tx1"/>
                          </a:solidFill>
                          <a:effectLst/>
                          <a:latin typeface="Calibri" panose="020F0502020204030204" pitchFamily="34" charset="0"/>
                        </a:rPr>
                        <a:t>B!Y!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F!Y!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err="1">
                          <a:solidFill>
                            <a:schemeClr val="tx1"/>
                          </a:solidFill>
                          <a:effectLst/>
                          <a:latin typeface="Calibri" panose="020F0502020204030204" pitchFamily="34" charset="0"/>
                        </a:rPr>
                        <a:t>VaC</a:t>
                      </a:r>
                      <a:r>
                        <a:rPr lang="en-IN" sz="1100" b="1" i="0" u="none" strike="noStrike" dirty="0">
                          <a:solidFill>
                            <a:schemeClr val="tx1"/>
                          </a:solidFill>
                          <a:effectLst/>
                          <a:latin typeface="Calibri" panose="020F0502020204030204" pitchFamily="34" charset="0"/>
                        </a:rPr>
                        <a:t>!%</a:t>
                      </a:r>
                      <a:endParaRPr lang="en-US" sz="1100" b="1" i="0" u="none" strike="noStrike" dirty="0">
                        <a:solidFill>
                          <a:schemeClr val="tx1"/>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8" name="Title 7"/>
          <p:cNvSpPr>
            <a:spLocks noGrp="1"/>
          </p:cNvSpPr>
          <p:nvPr>
            <p:ph type="title"/>
          </p:nvPr>
        </p:nvSpPr>
        <p:spPr/>
        <p:txBody>
          <a:bodyPr/>
          <a:lstStyle/>
          <a:p>
            <a:r>
              <a:rPr lang="en-US" dirty="0"/>
              <a:t>Global WXYZ Market Analysis By Category-F</a:t>
            </a:r>
          </a:p>
        </p:txBody>
      </p:sp>
      <p:sp>
        <p:nvSpPr>
          <p:cNvPr id="2" name="Slide Number Placeholder 1"/>
          <p:cNvSpPr>
            <a:spLocks noGrp="1"/>
          </p:cNvSpPr>
          <p:nvPr>
            <p:ph type="sldNum" sz="quarter" idx="4"/>
          </p:nvPr>
        </p:nvSpPr>
        <p:spPr/>
        <p:txBody>
          <a:bodyPr/>
          <a:lstStyle/>
          <a:p>
            <a:fld id="{4B17068C-EB94-40A3-A5F2-664CDD77FDAC}" type="slidenum">
              <a:rPr lang="en-GB" smtClean="0"/>
              <a:pPr/>
              <a:t>193</a:t>
            </a:fld>
            <a:endParaRPr lang="en-GB" dirty="0"/>
          </a:p>
        </p:txBody>
      </p:sp>
    </p:spTree>
    <p:extLst>
      <p:ext uri="{BB962C8B-B14F-4D97-AF65-F5344CB8AC3E}">
        <p14:creationId xmlns:p14="http://schemas.microsoft.com/office/powerpoint/2010/main" val="1242968577"/>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Categoryf1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Categoryf2 Segment, 2019 – 2034</a:t>
            </a:r>
          </a:p>
        </p:txBody>
      </p:sp>
      <p:sp>
        <p:nvSpPr>
          <p:cNvPr id="10" name="Content Placeholder 9"/>
          <p:cNvSpPr>
            <a:spLocks noGrp="1"/>
          </p:cNvSpPr>
          <p:nvPr>
            <p:ph idx="17"/>
          </p:nvPr>
        </p:nvSpPr>
        <p:spPr/>
        <p:txBody>
          <a:bodyPr/>
          <a:lstStyle/>
          <a:p>
            <a:pPr>
              <a:lnSpc>
                <a:spcPct val="100000"/>
              </a:lnSpc>
            </a:pPr>
            <a:r>
              <a:rPr lang="en-US" dirty="0"/>
              <a:t>Categoryf1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Categoryf2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Categoryf1</a:t>
            </a:r>
          </a:p>
        </p:txBody>
      </p:sp>
      <p:sp>
        <p:nvSpPr>
          <p:cNvPr id="15" name="Text Placeholder 14"/>
          <p:cNvSpPr>
            <a:spLocks noGrp="1"/>
          </p:cNvSpPr>
          <p:nvPr>
            <p:ph type="body" sz="quarter" idx="22"/>
          </p:nvPr>
        </p:nvSpPr>
        <p:spPr/>
        <p:txBody>
          <a:bodyPr/>
          <a:lstStyle/>
          <a:p>
            <a:r>
              <a:rPr lang="en-US" dirty="0"/>
              <a:t>Categoryf2</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Category-F</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194</a:t>
            </a:fld>
            <a:endParaRPr lang="en-GB" dirty="0"/>
          </a:p>
        </p:txBody>
      </p:sp>
    </p:spTree>
    <p:extLst>
      <p:ext uri="{BB962C8B-B14F-4D97-AF65-F5344CB8AC3E}">
        <p14:creationId xmlns:p14="http://schemas.microsoft.com/office/powerpoint/2010/main" val="3469713698"/>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Categoryf3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Categoryf4 Segment, 2019 – 2034</a:t>
            </a:r>
          </a:p>
        </p:txBody>
      </p:sp>
      <p:sp>
        <p:nvSpPr>
          <p:cNvPr id="10" name="Content Placeholder 9"/>
          <p:cNvSpPr>
            <a:spLocks noGrp="1"/>
          </p:cNvSpPr>
          <p:nvPr>
            <p:ph idx="17"/>
          </p:nvPr>
        </p:nvSpPr>
        <p:spPr/>
        <p:txBody>
          <a:bodyPr/>
          <a:lstStyle/>
          <a:p>
            <a:pPr>
              <a:lnSpc>
                <a:spcPct val="100000"/>
              </a:lnSpc>
            </a:pPr>
            <a:r>
              <a:rPr lang="en-US" dirty="0"/>
              <a:t>Categoryf3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Categoryf4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Categoryf3</a:t>
            </a:r>
          </a:p>
        </p:txBody>
      </p:sp>
      <p:sp>
        <p:nvSpPr>
          <p:cNvPr id="15" name="Text Placeholder 14"/>
          <p:cNvSpPr>
            <a:spLocks noGrp="1"/>
          </p:cNvSpPr>
          <p:nvPr>
            <p:ph type="body" sz="quarter" idx="22"/>
          </p:nvPr>
        </p:nvSpPr>
        <p:spPr/>
        <p:txBody>
          <a:bodyPr/>
          <a:lstStyle/>
          <a:p>
            <a:r>
              <a:rPr lang="en-US" dirty="0"/>
              <a:t>Categoryf4</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Category-F</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195</a:t>
            </a:fld>
            <a:endParaRPr lang="en-GB" dirty="0"/>
          </a:p>
        </p:txBody>
      </p:sp>
    </p:spTree>
    <p:extLst>
      <p:ext uri="{BB962C8B-B14F-4D97-AF65-F5344CB8AC3E}">
        <p14:creationId xmlns:p14="http://schemas.microsoft.com/office/powerpoint/2010/main" val="3010553655"/>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Categoryf5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Categoryf6 Segment, 2019 – 2034</a:t>
            </a:r>
          </a:p>
        </p:txBody>
      </p:sp>
      <p:sp>
        <p:nvSpPr>
          <p:cNvPr id="10" name="Content Placeholder 9"/>
          <p:cNvSpPr>
            <a:spLocks noGrp="1"/>
          </p:cNvSpPr>
          <p:nvPr>
            <p:ph idx="17"/>
          </p:nvPr>
        </p:nvSpPr>
        <p:spPr/>
        <p:txBody>
          <a:bodyPr/>
          <a:lstStyle/>
          <a:p>
            <a:pPr>
              <a:lnSpc>
                <a:spcPct val="100000"/>
              </a:lnSpc>
            </a:pPr>
            <a:r>
              <a:rPr lang="en-US" dirty="0"/>
              <a:t>Categoryf5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Categoryf6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Categoryf5</a:t>
            </a:r>
          </a:p>
        </p:txBody>
      </p:sp>
      <p:sp>
        <p:nvSpPr>
          <p:cNvPr id="15" name="Text Placeholder 14"/>
          <p:cNvSpPr>
            <a:spLocks noGrp="1"/>
          </p:cNvSpPr>
          <p:nvPr>
            <p:ph type="body" sz="quarter" idx="22"/>
          </p:nvPr>
        </p:nvSpPr>
        <p:spPr/>
        <p:txBody>
          <a:bodyPr/>
          <a:lstStyle/>
          <a:p>
            <a:r>
              <a:rPr lang="en-US" dirty="0"/>
              <a:t>Categoryf6</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Category-F</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196</a:t>
            </a:fld>
            <a:endParaRPr lang="en-GB" dirty="0"/>
          </a:p>
        </p:txBody>
      </p:sp>
    </p:spTree>
    <p:extLst>
      <p:ext uri="{BB962C8B-B14F-4D97-AF65-F5344CB8AC3E}">
        <p14:creationId xmlns:p14="http://schemas.microsoft.com/office/powerpoint/2010/main" val="2891364535"/>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Categoryf7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Categoryf8 Segment, 2019 – 2034</a:t>
            </a:r>
          </a:p>
        </p:txBody>
      </p:sp>
      <p:sp>
        <p:nvSpPr>
          <p:cNvPr id="10" name="Content Placeholder 9"/>
          <p:cNvSpPr>
            <a:spLocks noGrp="1"/>
          </p:cNvSpPr>
          <p:nvPr>
            <p:ph idx="17"/>
          </p:nvPr>
        </p:nvSpPr>
        <p:spPr/>
        <p:txBody>
          <a:bodyPr/>
          <a:lstStyle/>
          <a:p>
            <a:pPr>
              <a:lnSpc>
                <a:spcPct val="100000"/>
              </a:lnSpc>
            </a:pPr>
            <a:r>
              <a:rPr lang="en-US" dirty="0"/>
              <a:t>Categoryf7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pPr>
              <a:lnSpc>
                <a:spcPct val="100000"/>
              </a:lnSpc>
            </a:pPr>
            <a:r>
              <a:rPr lang="en-US" dirty="0"/>
              <a:t>Categoryf8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Categoryf7</a:t>
            </a:r>
          </a:p>
        </p:txBody>
      </p:sp>
      <p:sp>
        <p:nvSpPr>
          <p:cNvPr id="15" name="Text Placeholder 14"/>
          <p:cNvSpPr>
            <a:spLocks noGrp="1"/>
          </p:cNvSpPr>
          <p:nvPr>
            <p:ph type="body" sz="quarter" idx="22"/>
          </p:nvPr>
        </p:nvSpPr>
        <p:spPr/>
        <p:txBody>
          <a:bodyPr/>
          <a:lstStyle/>
          <a:p>
            <a:r>
              <a:rPr lang="en-US" dirty="0"/>
              <a:t>Categoryf8</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Category-F</a:t>
            </a:r>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197</a:t>
            </a:fld>
            <a:endParaRPr lang="en-GB" dirty="0"/>
          </a:p>
        </p:txBody>
      </p:sp>
    </p:spTree>
    <p:extLst>
      <p:ext uri="{BB962C8B-B14F-4D97-AF65-F5344CB8AC3E}">
        <p14:creationId xmlns:p14="http://schemas.microsoft.com/office/powerpoint/2010/main" val="2193880433"/>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198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198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Global WXYZ Market Analysis 2019 – 2023 and Forecast 2024 – 2034, By Region</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198</a:t>
            </a:r>
          </a:p>
        </p:txBody>
      </p:sp>
    </p:spTree>
    <p:extLst>
      <p:ext uri="{BB962C8B-B14F-4D97-AF65-F5344CB8AC3E}">
        <p14:creationId xmlns:p14="http://schemas.microsoft.com/office/powerpoint/2010/main" val="2277991566"/>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Global WXYZ Market: Introduction By Region</a:t>
            </a:r>
            <a:endParaRPr lang="en-IN" dirty="0"/>
          </a:p>
        </p:txBody>
      </p:sp>
      <p:sp>
        <p:nvSpPr>
          <p:cNvPr id="11" name="TextBox 119"/>
          <p:cNvSpPr txBox="1"/>
          <p:nvPr/>
        </p:nvSpPr>
        <p:spPr>
          <a:xfrm>
            <a:off x="160691" y="2420989"/>
            <a:ext cx="369332" cy="1357518"/>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SIZE</a:t>
            </a:r>
          </a:p>
        </p:txBody>
      </p:sp>
      <p:sp>
        <p:nvSpPr>
          <p:cNvPr id="12" name="TextBox 120"/>
          <p:cNvSpPr txBox="1"/>
          <p:nvPr/>
        </p:nvSpPr>
        <p:spPr>
          <a:xfrm>
            <a:off x="160691" y="4366405"/>
            <a:ext cx="369332" cy="1517284"/>
          </a:xfrm>
          <a:prstGeom prst="rect">
            <a:avLst/>
          </a:prstGeom>
          <a:noFill/>
        </p:spPr>
        <p:txBody>
          <a:bodyPr vert="vert270"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200" b="1" dirty="0">
                <a:ea typeface="Malgun Gothic" panose="020B0503020000020004" pitchFamily="34" charset="-127"/>
              </a:rPr>
              <a:t>MARKET VOLUME</a:t>
            </a:r>
          </a:p>
        </p:txBody>
      </p:sp>
      <p:sp>
        <p:nvSpPr>
          <p:cNvPr id="34" name="TextBox 33"/>
          <p:cNvSpPr txBox="1"/>
          <p:nvPr/>
        </p:nvSpPr>
        <p:spPr>
          <a:xfrm>
            <a:off x="170448" y="6242739"/>
            <a:ext cx="1429879" cy="153888"/>
          </a:xfrm>
          <a:prstGeom prst="rect">
            <a:avLst/>
          </a:prstGeom>
          <a:noFill/>
        </p:spPr>
        <p:txBody>
          <a:bodyPr wrap="none" lIns="0" tIns="0" rIns="0" bIns="0" rtlCol="0">
            <a:spAutoFit/>
          </a:bodyPr>
          <a:lstStyle/>
          <a:p>
            <a:r>
              <a:rPr lang="en-US" sz="1000" dirty="0">
                <a:ea typeface="Malgun Gothic" panose="020B0503020000020004" pitchFamily="34" charset="-127"/>
              </a:rPr>
              <a:t>Source: TMR Analysis, 2024</a:t>
            </a:r>
            <a:endParaRPr lang="en-GB" sz="1000" dirty="0">
              <a:ea typeface="Malgun Gothic" panose="020B0503020000020004" pitchFamily="34" charset="-127"/>
            </a:endParaRPr>
          </a:p>
        </p:txBody>
      </p:sp>
      <p:cxnSp>
        <p:nvCxnSpPr>
          <p:cNvPr id="32" name="Elbow Connector 31"/>
          <p:cNvCxnSpPr>
            <a:stCxn id="35" idx="2"/>
            <a:endCxn id="13" idx="0"/>
          </p:cNvCxnSpPr>
          <p:nvPr/>
        </p:nvCxnSpPr>
        <p:spPr>
          <a:xfrm rot="5400000">
            <a:off x="3106832" y="-440942"/>
            <a:ext cx="285750" cy="4006084"/>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33" name="Elbow Connector 32"/>
          <p:cNvCxnSpPr>
            <a:stCxn id="35" idx="2"/>
            <a:endCxn id="20" idx="0"/>
          </p:cNvCxnSpPr>
          <p:nvPr/>
        </p:nvCxnSpPr>
        <p:spPr>
          <a:xfrm rot="16200000" flipH="1">
            <a:off x="7124397" y="-452423"/>
            <a:ext cx="285750" cy="4029046"/>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35" name="Rounded Rectangle 34"/>
          <p:cNvSpPr/>
          <p:nvPr/>
        </p:nvSpPr>
        <p:spPr>
          <a:xfrm>
            <a:off x="3485841" y="1076009"/>
            <a:ext cx="3533817" cy="343217"/>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400" b="1" dirty="0">
                <a:solidFill>
                  <a:schemeClr val="bg1"/>
                </a:solidFill>
                <a:ea typeface="Malgun Gothic" panose="020B0503020000020004" pitchFamily="34" charset="-127"/>
              </a:rPr>
              <a:t>Market Analysis by Region</a:t>
            </a:r>
          </a:p>
        </p:txBody>
      </p:sp>
      <p:sp>
        <p:nvSpPr>
          <p:cNvPr id="5" name="Rounded Rectangle 4"/>
          <p:cNvSpPr/>
          <p:nvPr/>
        </p:nvSpPr>
        <p:spPr>
          <a:xfrm>
            <a:off x="528586" y="4173145"/>
            <a:ext cx="9445678" cy="1903804"/>
          </a:xfrm>
          <a:prstGeom prst="roundRect">
            <a:avLst>
              <a:gd name="adj" fmla="val 5016"/>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6" name="Rounded Rectangle 5"/>
          <p:cNvSpPr/>
          <p:nvPr/>
        </p:nvSpPr>
        <p:spPr>
          <a:xfrm>
            <a:off x="528586" y="2147846"/>
            <a:ext cx="9445679" cy="1903804"/>
          </a:xfrm>
          <a:prstGeom prst="roundRect">
            <a:avLst>
              <a:gd name="adj" fmla="val 5794"/>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cxnSp>
        <p:nvCxnSpPr>
          <p:cNvPr id="7" name="Straight Connector 6"/>
          <p:cNvCxnSpPr>
            <a:stCxn id="14" idx="3"/>
            <a:endCxn id="21" idx="1"/>
          </p:cNvCxnSpPr>
          <p:nvPr/>
        </p:nvCxnSpPr>
        <p:spPr>
          <a:xfrm>
            <a:off x="1293747" y="2493140"/>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a:stCxn id="15" idx="3"/>
            <a:endCxn id="22" idx="1"/>
          </p:cNvCxnSpPr>
          <p:nvPr/>
        </p:nvCxnSpPr>
        <p:spPr>
          <a:xfrm>
            <a:off x="1293747" y="3682785"/>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a:stCxn id="16" idx="3"/>
            <a:endCxn id="23" idx="1"/>
          </p:cNvCxnSpPr>
          <p:nvPr/>
        </p:nvCxnSpPr>
        <p:spPr>
          <a:xfrm>
            <a:off x="1293747" y="4518439"/>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stCxn id="17" idx="3"/>
            <a:endCxn id="24" idx="1"/>
          </p:cNvCxnSpPr>
          <p:nvPr/>
        </p:nvCxnSpPr>
        <p:spPr>
          <a:xfrm>
            <a:off x="1293747" y="5708086"/>
            <a:ext cx="79166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ounded Rectangle 12"/>
          <p:cNvSpPr/>
          <p:nvPr/>
        </p:nvSpPr>
        <p:spPr>
          <a:xfrm>
            <a:off x="652305" y="1704976"/>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latin typeface="Malgun Gothic" panose="020B0503020000020004" pitchFamily="34" charset="-127"/>
                <a:ea typeface="Malgun Gothic" panose="020B0503020000020004" pitchFamily="34" charset="-127"/>
              </a:rPr>
              <a:t>North America</a:t>
            </a:r>
          </a:p>
        </p:txBody>
      </p:sp>
      <p:sp>
        <p:nvSpPr>
          <p:cNvPr id="14" name="Rounded Rectangle 13"/>
          <p:cNvSpPr/>
          <p:nvPr/>
        </p:nvSpPr>
        <p:spPr>
          <a:xfrm>
            <a:off x="694933" y="2258112"/>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5" name="Rounded Rectangle 14"/>
          <p:cNvSpPr/>
          <p:nvPr/>
        </p:nvSpPr>
        <p:spPr>
          <a:xfrm>
            <a:off x="694933" y="3447757"/>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6" name="Rounded Rectangle 15"/>
          <p:cNvSpPr/>
          <p:nvPr/>
        </p:nvSpPr>
        <p:spPr>
          <a:xfrm>
            <a:off x="694933" y="4283411"/>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7" name="Rounded Rectangle 16"/>
          <p:cNvSpPr/>
          <p:nvPr/>
        </p:nvSpPr>
        <p:spPr>
          <a:xfrm>
            <a:off x="694933" y="5473058"/>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8" name="Oval 17"/>
          <p:cNvSpPr/>
          <p:nvPr/>
        </p:nvSpPr>
        <p:spPr>
          <a:xfrm>
            <a:off x="799508" y="2835527"/>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9" name="Oval 18"/>
          <p:cNvSpPr/>
          <p:nvPr/>
        </p:nvSpPr>
        <p:spPr>
          <a:xfrm>
            <a:off x="799508" y="4860827"/>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0" name="Rounded Rectangle 19"/>
          <p:cNvSpPr/>
          <p:nvPr/>
        </p:nvSpPr>
        <p:spPr>
          <a:xfrm>
            <a:off x="8688388" y="1704976"/>
            <a:ext cx="1186814"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Middle East and Africa</a:t>
            </a:r>
          </a:p>
        </p:txBody>
      </p:sp>
      <p:sp>
        <p:nvSpPr>
          <p:cNvPr id="21" name="Rounded Rectangle 20"/>
          <p:cNvSpPr/>
          <p:nvPr/>
        </p:nvSpPr>
        <p:spPr>
          <a:xfrm>
            <a:off x="8730309" y="2258112"/>
            <a:ext cx="110297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22" name="Rounded Rectangle 21"/>
          <p:cNvSpPr/>
          <p:nvPr/>
        </p:nvSpPr>
        <p:spPr>
          <a:xfrm>
            <a:off x="8730309" y="3447757"/>
            <a:ext cx="110297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23" name="Rounded Rectangle 22"/>
          <p:cNvSpPr/>
          <p:nvPr/>
        </p:nvSpPr>
        <p:spPr>
          <a:xfrm>
            <a:off x="8730309" y="4283411"/>
            <a:ext cx="1102972"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24" name="Rounded Rectangle 23"/>
          <p:cNvSpPr/>
          <p:nvPr/>
        </p:nvSpPr>
        <p:spPr>
          <a:xfrm>
            <a:off x="8730309" y="5473058"/>
            <a:ext cx="1102972"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25" name="Oval 24"/>
          <p:cNvSpPr/>
          <p:nvPr/>
        </p:nvSpPr>
        <p:spPr>
          <a:xfrm>
            <a:off x="8834839" y="2835527"/>
            <a:ext cx="89391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26" name="Oval 25"/>
          <p:cNvSpPr/>
          <p:nvPr/>
        </p:nvSpPr>
        <p:spPr>
          <a:xfrm>
            <a:off x="8834839" y="4860827"/>
            <a:ext cx="893915"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44" name="Elbow Connector 43"/>
          <p:cNvCxnSpPr>
            <a:stCxn id="35" idx="2"/>
            <a:endCxn id="94" idx="0"/>
          </p:cNvCxnSpPr>
          <p:nvPr/>
        </p:nvCxnSpPr>
        <p:spPr>
          <a:xfrm rot="5400000">
            <a:off x="3776506" y="228733"/>
            <a:ext cx="285750" cy="2666737"/>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4" name="Elbow Connector 63"/>
          <p:cNvCxnSpPr>
            <a:stCxn id="35" idx="2"/>
            <a:endCxn id="143" idx="0"/>
          </p:cNvCxnSpPr>
          <p:nvPr/>
        </p:nvCxnSpPr>
        <p:spPr>
          <a:xfrm rot="16200000" flipH="1">
            <a:off x="6455199" y="216775"/>
            <a:ext cx="285750" cy="2690651"/>
          </a:xfrm>
          <a:prstGeom prst="bentConnector3">
            <a:avLst>
              <a:gd name="adj1" fmla="val 50000"/>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9" name="Elbow Connector 48"/>
          <p:cNvCxnSpPr>
            <a:stCxn id="35" idx="2"/>
            <a:endCxn id="102" idx="0"/>
          </p:cNvCxnSpPr>
          <p:nvPr/>
        </p:nvCxnSpPr>
        <p:spPr>
          <a:xfrm rot="5400000">
            <a:off x="4446179" y="898405"/>
            <a:ext cx="285750" cy="1327390"/>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35" idx="2"/>
            <a:endCxn id="135" idx="0"/>
          </p:cNvCxnSpPr>
          <p:nvPr/>
        </p:nvCxnSpPr>
        <p:spPr>
          <a:xfrm rot="16200000" flipH="1">
            <a:off x="5785526" y="886448"/>
            <a:ext cx="285750" cy="1351304"/>
          </a:xfrm>
          <a:prstGeom prst="bentConnector3">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94" name="Rounded Rectangle 93"/>
          <p:cNvSpPr/>
          <p:nvPr/>
        </p:nvSpPr>
        <p:spPr>
          <a:xfrm>
            <a:off x="1991652" y="1704976"/>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Latin America</a:t>
            </a:r>
          </a:p>
        </p:txBody>
      </p:sp>
      <p:sp>
        <p:nvSpPr>
          <p:cNvPr id="95" name="Rounded Rectangle 94"/>
          <p:cNvSpPr/>
          <p:nvPr/>
        </p:nvSpPr>
        <p:spPr>
          <a:xfrm>
            <a:off x="2034280" y="2258112"/>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6" name="Rounded Rectangle 95"/>
          <p:cNvSpPr/>
          <p:nvPr/>
        </p:nvSpPr>
        <p:spPr>
          <a:xfrm>
            <a:off x="2034280" y="3447757"/>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97" name="Rounded Rectangle 96"/>
          <p:cNvSpPr/>
          <p:nvPr/>
        </p:nvSpPr>
        <p:spPr>
          <a:xfrm>
            <a:off x="2034280" y="4283411"/>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98" name="Rounded Rectangle 97"/>
          <p:cNvSpPr/>
          <p:nvPr/>
        </p:nvSpPr>
        <p:spPr>
          <a:xfrm>
            <a:off x="2034280" y="5473058"/>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99" name="Oval 98"/>
          <p:cNvSpPr/>
          <p:nvPr/>
        </p:nvSpPr>
        <p:spPr>
          <a:xfrm>
            <a:off x="2138855" y="2835527"/>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0" name="Oval 99"/>
          <p:cNvSpPr/>
          <p:nvPr/>
        </p:nvSpPr>
        <p:spPr>
          <a:xfrm>
            <a:off x="2138855" y="4860827"/>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2" name="Rounded Rectangle 101"/>
          <p:cNvSpPr/>
          <p:nvPr/>
        </p:nvSpPr>
        <p:spPr>
          <a:xfrm>
            <a:off x="3330999" y="1704976"/>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Western Europe</a:t>
            </a:r>
          </a:p>
        </p:txBody>
      </p:sp>
      <p:sp>
        <p:nvSpPr>
          <p:cNvPr id="103" name="Rounded Rectangle 102"/>
          <p:cNvSpPr/>
          <p:nvPr/>
        </p:nvSpPr>
        <p:spPr>
          <a:xfrm>
            <a:off x="3373627" y="2258112"/>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04" name="Rounded Rectangle 103"/>
          <p:cNvSpPr/>
          <p:nvPr/>
        </p:nvSpPr>
        <p:spPr>
          <a:xfrm>
            <a:off x="3373627" y="3447757"/>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5" name="Rounded Rectangle 104"/>
          <p:cNvSpPr/>
          <p:nvPr/>
        </p:nvSpPr>
        <p:spPr>
          <a:xfrm>
            <a:off x="3373627" y="4283411"/>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06" name="Rounded Rectangle 105"/>
          <p:cNvSpPr/>
          <p:nvPr/>
        </p:nvSpPr>
        <p:spPr>
          <a:xfrm>
            <a:off x="3373627" y="5473058"/>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07" name="Oval 106"/>
          <p:cNvSpPr/>
          <p:nvPr/>
        </p:nvSpPr>
        <p:spPr>
          <a:xfrm>
            <a:off x="3478202" y="2835527"/>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08" name="Oval 107"/>
          <p:cNvSpPr/>
          <p:nvPr/>
        </p:nvSpPr>
        <p:spPr>
          <a:xfrm>
            <a:off x="3478202" y="4860827"/>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0" name="Rounded Rectangle 109"/>
          <p:cNvSpPr/>
          <p:nvPr/>
        </p:nvSpPr>
        <p:spPr>
          <a:xfrm>
            <a:off x="4670346" y="1704976"/>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Eastern Europe</a:t>
            </a:r>
          </a:p>
        </p:txBody>
      </p:sp>
      <p:sp>
        <p:nvSpPr>
          <p:cNvPr id="111" name="Rounded Rectangle 110"/>
          <p:cNvSpPr/>
          <p:nvPr/>
        </p:nvSpPr>
        <p:spPr>
          <a:xfrm>
            <a:off x="4712974" y="2258112"/>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12" name="Rounded Rectangle 111"/>
          <p:cNvSpPr/>
          <p:nvPr/>
        </p:nvSpPr>
        <p:spPr>
          <a:xfrm>
            <a:off x="4712974" y="3447757"/>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13" name="Rounded Rectangle 112"/>
          <p:cNvSpPr/>
          <p:nvPr/>
        </p:nvSpPr>
        <p:spPr>
          <a:xfrm>
            <a:off x="4712974" y="4283411"/>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14" name="Rounded Rectangle 113"/>
          <p:cNvSpPr/>
          <p:nvPr/>
        </p:nvSpPr>
        <p:spPr>
          <a:xfrm>
            <a:off x="4712974" y="5473058"/>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15" name="Oval 114"/>
          <p:cNvSpPr/>
          <p:nvPr/>
        </p:nvSpPr>
        <p:spPr>
          <a:xfrm>
            <a:off x="4817549" y="2835527"/>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6" name="Oval 115"/>
          <p:cNvSpPr/>
          <p:nvPr/>
        </p:nvSpPr>
        <p:spPr>
          <a:xfrm>
            <a:off x="4817549" y="4860827"/>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35" name="Rounded Rectangle 134"/>
          <p:cNvSpPr/>
          <p:nvPr/>
        </p:nvSpPr>
        <p:spPr>
          <a:xfrm>
            <a:off x="6009693" y="1704976"/>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East Asia</a:t>
            </a:r>
          </a:p>
        </p:txBody>
      </p:sp>
      <p:sp>
        <p:nvSpPr>
          <p:cNvPr id="136" name="Rounded Rectangle 135"/>
          <p:cNvSpPr/>
          <p:nvPr/>
        </p:nvSpPr>
        <p:spPr>
          <a:xfrm>
            <a:off x="6052321" y="2258112"/>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37" name="Rounded Rectangle 136"/>
          <p:cNvSpPr/>
          <p:nvPr/>
        </p:nvSpPr>
        <p:spPr>
          <a:xfrm>
            <a:off x="6052321" y="3447757"/>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38" name="Rounded Rectangle 137"/>
          <p:cNvSpPr/>
          <p:nvPr/>
        </p:nvSpPr>
        <p:spPr>
          <a:xfrm>
            <a:off x="6052321" y="4283411"/>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39" name="Rounded Rectangle 138"/>
          <p:cNvSpPr/>
          <p:nvPr/>
        </p:nvSpPr>
        <p:spPr>
          <a:xfrm>
            <a:off x="6052321" y="5473058"/>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0" name="Oval 139"/>
          <p:cNvSpPr/>
          <p:nvPr/>
        </p:nvSpPr>
        <p:spPr>
          <a:xfrm>
            <a:off x="6156896" y="2835527"/>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1" name="Oval 140"/>
          <p:cNvSpPr/>
          <p:nvPr/>
        </p:nvSpPr>
        <p:spPr>
          <a:xfrm>
            <a:off x="6156896" y="4860827"/>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3" name="Rounded Rectangle 142"/>
          <p:cNvSpPr/>
          <p:nvPr/>
        </p:nvSpPr>
        <p:spPr>
          <a:xfrm>
            <a:off x="7349040" y="1704976"/>
            <a:ext cx="1188720"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South Asia Pacific</a:t>
            </a:r>
          </a:p>
        </p:txBody>
      </p:sp>
      <p:sp>
        <p:nvSpPr>
          <p:cNvPr id="144" name="Rounded Rectangle 143"/>
          <p:cNvSpPr/>
          <p:nvPr/>
        </p:nvSpPr>
        <p:spPr>
          <a:xfrm>
            <a:off x="7391668" y="2258112"/>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XX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145" name="Rounded Rectangle 144"/>
          <p:cNvSpPr/>
          <p:nvPr/>
        </p:nvSpPr>
        <p:spPr>
          <a:xfrm>
            <a:off x="7391668" y="3447757"/>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XX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46" name="Rounded Rectangle 145"/>
          <p:cNvSpPr/>
          <p:nvPr/>
        </p:nvSpPr>
        <p:spPr>
          <a:xfrm>
            <a:off x="7391668" y="4283411"/>
            <a:ext cx="1103464"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p>
        </p:txBody>
      </p:sp>
      <p:sp>
        <p:nvSpPr>
          <p:cNvPr id="147" name="Rounded Rectangle 146"/>
          <p:cNvSpPr/>
          <p:nvPr/>
        </p:nvSpPr>
        <p:spPr>
          <a:xfrm>
            <a:off x="7391668" y="5473058"/>
            <a:ext cx="1103464"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p>
        </p:txBody>
      </p:sp>
      <p:sp>
        <p:nvSpPr>
          <p:cNvPr id="148" name="Oval 147"/>
          <p:cNvSpPr/>
          <p:nvPr/>
        </p:nvSpPr>
        <p:spPr>
          <a:xfrm>
            <a:off x="7496243" y="2835527"/>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49" name="Oval 148"/>
          <p:cNvSpPr/>
          <p:nvPr/>
        </p:nvSpPr>
        <p:spPr>
          <a:xfrm>
            <a:off x="7496243" y="4860827"/>
            <a:ext cx="894314"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cxnSp>
        <p:nvCxnSpPr>
          <p:cNvPr id="53" name="Straight Arrow Connector 52"/>
          <p:cNvCxnSpPr>
            <a:stCxn id="35" idx="2"/>
            <a:endCxn id="110" idx="0"/>
          </p:cNvCxnSpPr>
          <p:nvPr/>
        </p:nvCxnSpPr>
        <p:spPr>
          <a:xfrm>
            <a:off x="5252749" y="1419225"/>
            <a:ext cx="0" cy="285750"/>
          </a:xfrm>
          <a:prstGeom prst="straightConnector1">
            <a:avLst/>
          </a:prstGeom>
          <a:ln w="127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85" name="Group 84"/>
          <p:cNvGrpSpPr/>
          <p:nvPr/>
        </p:nvGrpSpPr>
        <p:grpSpPr>
          <a:xfrm>
            <a:off x="10487447" y="6105853"/>
            <a:ext cx="1500637" cy="253916"/>
            <a:chOff x="10477922" y="6086803"/>
            <a:chExt cx="1500637" cy="253916"/>
          </a:xfrm>
        </p:grpSpPr>
        <p:sp>
          <p:nvSpPr>
            <p:cNvPr id="86" name="Oval 85"/>
            <p:cNvSpPr/>
            <p:nvPr/>
          </p:nvSpPr>
          <p:spPr>
            <a:xfrm>
              <a:off x="10477922" y="6132197"/>
              <a:ext cx="173736" cy="170823"/>
            </a:xfrm>
            <a:prstGeom prst="ellipse">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87" name="TextBox 137"/>
            <p:cNvSpPr txBox="1"/>
            <p:nvPr/>
          </p:nvSpPr>
          <p:spPr>
            <a:xfrm>
              <a:off x="10665105" y="6086803"/>
              <a:ext cx="570990"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2024E</a:t>
              </a:r>
              <a:endParaRPr lang="en-GB" sz="1600" b="1" dirty="0">
                <a:latin typeface="Malgun Gothic" panose="020B0503020000020004" pitchFamily="34" charset="-127"/>
                <a:ea typeface="Malgun Gothic" panose="020B0503020000020004" pitchFamily="34" charset="-127"/>
              </a:endParaRPr>
            </a:p>
          </p:txBody>
        </p:sp>
        <p:sp>
          <p:nvSpPr>
            <p:cNvPr id="88" name="Oval 87"/>
            <p:cNvSpPr/>
            <p:nvPr/>
          </p:nvSpPr>
          <p:spPr>
            <a:xfrm>
              <a:off x="11221989" y="6132197"/>
              <a:ext cx="173736" cy="170823"/>
            </a:xfrm>
            <a:prstGeom prst="ellipse">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latin typeface="Malgun Gothic" panose="020B0503020000020004" pitchFamily="34" charset="-127"/>
                <a:ea typeface="Malgun Gothic" panose="020B0503020000020004" pitchFamily="34" charset="-127"/>
              </a:endParaRPr>
            </a:p>
          </p:txBody>
        </p:sp>
        <p:sp>
          <p:nvSpPr>
            <p:cNvPr id="89" name="TextBox 139"/>
            <p:cNvSpPr txBox="1"/>
            <p:nvPr/>
          </p:nvSpPr>
          <p:spPr>
            <a:xfrm>
              <a:off x="11409172" y="6086803"/>
              <a:ext cx="569387" cy="253916"/>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050" b="1" dirty="0">
                  <a:latin typeface="Malgun Gothic" panose="020B0503020000020004" pitchFamily="34" charset="-127"/>
                  <a:ea typeface="Malgun Gothic" panose="020B0503020000020004" pitchFamily="34" charset="-127"/>
                </a:rPr>
                <a:t>2034F</a:t>
              </a:r>
              <a:endParaRPr lang="en-GB" sz="1600" b="1" dirty="0">
                <a:latin typeface="Malgun Gothic" panose="020B0503020000020004" pitchFamily="34" charset="-127"/>
                <a:ea typeface="Malgun Gothic" panose="020B0503020000020004" pitchFamily="34" charset="-127"/>
              </a:endParaRPr>
            </a:p>
          </p:txBody>
        </p:sp>
      </p:grpSp>
      <p:grpSp>
        <p:nvGrpSpPr>
          <p:cNvPr id="90" name="Group 89"/>
          <p:cNvGrpSpPr/>
          <p:nvPr/>
        </p:nvGrpSpPr>
        <p:grpSpPr>
          <a:xfrm>
            <a:off x="10067926" y="1704975"/>
            <a:ext cx="1927224" cy="4371974"/>
            <a:chOff x="10067926" y="1704975"/>
            <a:chExt cx="1927224" cy="4371974"/>
          </a:xfrm>
        </p:grpSpPr>
        <p:sp>
          <p:nvSpPr>
            <p:cNvPr id="91" name="Rounded Rectangle 90"/>
            <p:cNvSpPr/>
            <p:nvPr/>
          </p:nvSpPr>
          <p:spPr>
            <a:xfrm>
              <a:off x="10067926" y="2147846"/>
              <a:ext cx="1918197" cy="3929103"/>
            </a:xfrm>
            <a:prstGeom prst="roundRect">
              <a:avLst>
                <a:gd name="adj" fmla="val 4195"/>
              </a:avLst>
            </a:prstGeom>
            <a:solidFill>
              <a:schemeClr val="bg1">
                <a:lumMod val="95000"/>
              </a:schemeClr>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600" dirty="0">
                <a:ea typeface="Malgun Gothic" panose="020B0503020000020004" pitchFamily="34" charset="-127"/>
              </a:endParaRPr>
            </a:p>
          </p:txBody>
        </p:sp>
        <p:sp>
          <p:nvSpPr>
            <p:cNvPr id="92" name="Rounded Rectangle 91"/>
            <p:cNvSpPr/>
            <p:nvPr/>
          </p:nvSpPr>
          <p:spPr>
            <a:xfrm>
              <a:off x="10218121" y="2258112"/>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US$ </a:t>
              </a:r>
              <a:r>
                <a:rPr lang="en-GB" sz="1100" b="1" dirty="0">
                  <a:solidFill>
                    <a:schemeClr val="bg1"/>
                  </a:solidFill>
                  <a:latin typeface="Malgun Gothic" panose="020B0503020000020004" pitchFamily="34" charset="-127"/>
                  <a:ea typeface="Malgun Gothic" panose="020B0503020000020004" pitchFamily="34" charset="-127"/>
                </a:rPr>
                <a:t>B!Y!</a:t>
              </a:r>
              <a:r>
                <a:rPr lang="en-GB" sz="1100" b="1" dirty="0">
                  <a:solidFill>
                    <a:schemeClr val="bg1"/>
                  </a:solidFill>
                  <a:ea typeface="Malgun Gothic" panose="020B0503020000020004" pitchFamily="34" charset="-127"/>
                </a:rPr>
                <a:t> </a:t>
              </a:r>
              <a:r>
                <a:rPr lang="en-GB" sz="1100" b="1" dirty="0" err="1">
                  <a:solidFill>
                    <a:schemeClr val="bg1"/>
                  </a:solidFill>
                  <a:ea typeface="Malgun Gothic" panose="020B0503020000020004" pitchFamily="34" charset="-127"/>
                </a:rPr>
                <a:t>Mn</a:t>
              </a:r>
              <a:endParaRPr lang="en-GB" sz="1100" b="1" dirty="0">
                <a:solidFill>
                  <a:schemeClr val="bg1"/>
                </a:solidFill>
                <a:ea typeface="Malgun Gothic" panose="020B0503020000020004" pitchFamily="34" charset="-127"/>
              </a:endParaRPr>
            </a:p>
          </p:txBody>
        </p:sp>
        <p:sp>
          <p:nvSpPr>
            <p:cNvPr id="93" name="Rounded Rectangle 92"/>
            <p:cNvSpPr/>
            <p:nvPr/>
          </p:nvSpPr>
          <p:spPr>
            <a:xfrm>
              <a:off x="10218121" y="34477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US$ </a:t>
              </a:r>
              <a:r>
                <a:rPr lang="en-GB" sz="1100" b="1" dirty="0">
                  <a:solidFill>
                    <a:schemeClr val="tx1"/>
                  </a:solidFill>
                  <a:latin typeface="Malgun Gothic" panose="020B0503020000020004" pitchFamily="34" charset="-127"/>
                  <a:ea typeface="Malgun Gothic" panose="020B0503020000020004" pitchFamily="34" charset="-127"/>
                </a:rPr>
                <a:t>F!Y!</a:t>
              </a:r>
              <a:r>
                <a:rPr lang="en-GB" sz="1100" b="1" dirty="0">
                  <a:solidFill>
                    <a:schemeClr val="tx1"/>
                  </a:solidFill>
                  <a:ea typeface="Malgun Gothic" panose="020B0503020000020004" pitchFamily="34" charset="-127"/>
                </a:rPr>
                <a:t> </a:t>
              </a:r>
              <a:r>
                <a:rPr lang="en-GB" sz="1100" b="1" dirty="0" err="1">
                  <a:solidFill>
                    <a:schemeClr val="tx1"/>
                  </a:solidFill>
                  <a:ea typeface="Malgun Gothic" panose="020B0503020000020004" pitchFamily="34" charset="-127"/>
                </a:rPr>
                <a:t>Mn</a:t>
              </a:r>
              <a:endParaRPr lang="en-GB" sz="1100" b="1" dirty="0">
                <a:solidFill>
                  <a:schemeClr val="tx1"/>
                </a:solidFill>
                <a:ea typeface="Malgun Gothic" panose="020B0503020000020004" pitchFamily="34" charset="-127"/>
              </a:endParaRPr>
            </a:p>
          </p:txBody>
        </p:sp>
        <p:sp>
          <p:nvSpPr>
            <p:cNvPr id="101" name="Rounded Rectangle 100"/>
            <p:cNvSpPr/>
            <p:nvPr/>
          </p:nvSpPr>
          <p:spPr>
            <a:xfrm>
              <a:off x="10218121" y="4283411"/>
              <a:ext cx="1617806" cy="470057"/>
            </a:xfrm>
            <a:prstGeom prst="roundRect">
              <a:avLst/>
            </a:prstGeom>
            <a:solidFill>
              <a:srgbClr val="0081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bg1"/>
                  </a:solidFill>
                  <a:ea typeface="Malgun Gothic" panose="020B0503020000020004" pitchFamily="34" charset="-127"/>
                </a:rPr>
                <a:t>XX Units</a:t>
              </a:r>
              <a:endParaRPr lang="en-GB" sz="1100" dirty="0">
                <a:solidFill>
                  <a:schemeClr val="bg1"/>
                </a:solidFill>
                <a:ea typeface="Malgun Gothic" panose="020B0503020000020004" pitchFamily="34" charset="-127"/>
              </a:endParaRPr>
            </a:p>
          </p:txBody>
        </p:sp>
        <p:sp>
          <p:nvSpPr>
            <p:cNvPr id="109" name="Rounded Rectangle 108"/>
            <p:cNvSpPr/>
            <p:nvPr/>
          </p:nvSpPr>
          <p:spPr>
            <a:xfrm>
              <a:off x="10218121" y="5473057"/>
              <a:ext cx="1617806" cy="470057"/>
            </a:xfrm>
            <a:prstGeom prst="roundRect">
              <a:avLst/>
            </a:prstGeom>
            <a:solidFill>
              <a:srgbClr val="79C3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100" b="1" dirty="0">
                  <a:solidFill>
                    <a:schemeClr val="tx1"/>
                  </a:solidFill>
                  <a:ea typeface="Malgun Gothic" panose="020B0503020000020004" pitchFamily="34" charset="-127"/>
                </a:rPr>
                <a:t>XX Units</a:t>
              </a:r>
              <a:endParaRPr lang="en-GB" sz="1100" dirty="0">
                <a:ea typeface="Malgun Gothic" panose="020B0503020000020004" pitchFamily="34" charset="-127"/>
              </a:endParaRPr>
            </a:p>
          </p:txBody>
        </p:sp>
        <p:sp>
          <p:nvSpPr>
            <p:cNvPr id="117" name="Oval 116"/>
            <p:cNvSpPr/>
            <p:nvPr/>
          </p:nvSpPr>
          <p:spPr>
            <a:xfrm>
              <a:off x="10371440" y="2835527"/>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err="1">
                  <a:solidFill>
                    <a:schemeClr val="tx1"/>
                  </a:solidFill>
                  <a:latin typeface="Malgun Gothic" panose="020B0503020000020004" pitchFamily="34" charset="-127"/>
                  <a:ea typeface="Malgun Gothic" panose="020B0503020000020004" pitchFamily="34" charset="-127"/>
                </a:rPr>
                <a:t>VaC</a:t>
              </a:r>
              <a:r>
                <a:rPr lang="en-GB" sz="1050" b="1" dirty="0">
                  <a:solidFill>
                    <a:schemeClr val="tx1"/>
                  </a:solidFill>
                  <a:latin typeface="Malgun Gothic" panose="020B0503020000020004" pitchFamily="34" charset="-127"/>
                  <a:ea typeface="Malgun Gothic" panose="020B0503020000020004" pitchFamily="34" charset="-127"/>
                </a:rPr>
                <a:t>!% CAGR</a:t>
              </a:r>
            </a:p>
          </p:txBody>
        </p:sp>
        <p:sp>
          <p:nvSpPr>
            <p:cNvPr id="118" name="Oval 117"/>
            <p:cNvSpPr/>
            <p:nvPr/>
          </p:nvSpPr>
          <p:spPr>
            <a:xfrm>
              <a:off x="10371440" y="4860826"/>
              <a:ext cx="1311168" cy="504873"/>
            </a:xfrm>
            <a:prstGeom prst="ellipse">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050" b="1" dirty="0">
                  <a:solidFill>
                    <a:schemeClr val="tx1"/>
                  </a:solidFill>
                  <a:ea typeface="Malgun Gothic" panose="020B0503020000020004" pitchFamily="34" charset="-127"/>
                </a:rPr>
                <a:t>XX% CAGR</a:t>
              </a:r>
            </a:p>
          </p:txBody>
        </p:sp>
        <p:sp>
          <p:nvSpPr>
            <p:cNvPr id="119" name="Rounded Rectangle 118"/>
            <p:cNvSpPr/>
            <p:nvPr/>
          </p:nvSpPr>
          <p:spPr>
            <a:xfrm>
              <a:off x="10077893" y="1704975"/>
              <a:ext cx="1917257" cy="398051"/>
            </a:xfrm>
            <a:prstGeom prst="roundRect">
              <a:avLst/>
            </a:prstGeom>
            <a:solidFill>
              <a:srgbClr val="BCBE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GB" sz="1200" b="1" dirty="0">
                  <a:solidFill>
                    <a:schemeClr val="tx1"/>
                  </a:solidFill>
                  <a:ea typeface="Malgun Gothic" panose="020B0503020000020004" pitchFamily="34" charset="-127"/>
                </a:rPr>
                <a:t>Total Market</a:t>
              </a:r>
            </a:p>
          </p:txBody>
        </p:sp>
      </p:grpSp>
      <p:sp>
        <p:nvSpPr>
          <p:cNvPr id="3" name="Slide Number Placeholder 2"/>
          <p:cNvSpPr>
            <a:spLocks noGrp="1"/>
          </p:cNvSpPr>
          <p:nvPr>
            <p:ph type="sldNum" sz="quarter" idx="4"/>
          </p:nvPr>
        </p:nvSpPr>
        <p:spPr/>
        <p:txBody>
          <a:bodyPr/>
          <a:lstStyle/>
          <a:p>
            <a:fld id="{4B17068C-EB94-40A3-A5F2-664CDD77FDAC}" type="slidenum">
              <a:rPr lang="en-GB" smtClean="0"/>
              <a:pPr/>
              <a:t>199</a:t>
            </a:fld>
            <a:endParaRPr lang="en-GB" dirty="0"/>
          </a:p>
        </p:txBody>
      </p:sp>
    </p:spTree>
    <p:extLst>
      <p:ext uri="{BB962C8B-B14F-4D97-AF65-F5344CB8AC3E}">
        <p14:creationId xmlns:p14="http://schemas.microsoft.com/office/powerpoint/2010/main" val="3872216838"/>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a:t>Global WXYZ Market Analysis By Region</a:t>
            </a:r>
          </a:p>
        </p:txBody>
      </p:sp>
      <p:sp>
        <p:nvSpPr>
          <p:cNvPr id="10" name="Text Placeholder 9"/>
          <p:cNvSpPr>
            <a:spLocks noGrp="1"/>
          </p:cNvSpPr>
          <p:nvPr>
            <p:ph type="body" idx="12"/>
          </p:nvPr>
        </p:nvSpPr>
        <p:spPr/>
        <p:txBody>
          <a:bodyPr/>
          <a:lstStyle/>
          <a:p>
            <a:r>
              <a:rPr lang="en-US" sz="1100" dirty="0"/>
              <a:t>Figure xx: Global WXYZ Market Share and BPS Analysis By Region, 2024 &amp; 2034</a:t>
            </a:r>
          </a:p>
        </p:txBody>
      </p:sp>
      <p:sp>
        <p:nvSpPr>
          <p:cNvPr id="12" name="Text Placeholder 11"/>
          <p:cNvSpPr>
            <a:spLocks noGrp="1"/>
          </p:cNvSpPr>
          <p:nvPr>
            <p:ph type="body" idx="14"/>
          </p:nvPr>
        </p:nvSpPr>
        <p:spPr/>
        <p:txBody>
          <a:bodyPr/>
          <a:lstStyle/>
          <a:p>
            <a:r>
              <a:rPr lang="en-US" sz="1100" dirty="0"/>
              <a:t>Figure xx: Global WXYZ Market Y-o-Y Growth Projections By Region, 2024 – 2034</a:t>
            </a:r>
          </a:p>
        </p:txBody>
      </p:sp>
      <p:sp>
        <p:nvSpPr>
          <p:cNvPr id="14" name="Text Placeholder 13"/>
          <p:cNvSpPr>
            <a:spLocks noGrp="1"/>
          </p:cNvSpPr>
          <p:nvPr>
            <p:ph type="body" idx="16"/>
          </p:nvPr>
        </p:nvSpPr>
        <p:spPr/>
        <p:txBody>
          <a:bodyPr/>
          <a:lstStyle/>
          <a:p>
            <a:r>
              <a:rPr lang="en-US" dirty="0"/>
              <a:t>Figure xx: Global WXYZ Market Attractiveness Analysis By Region, 2024 – 2034</a:t>
            </a:r>
          </a:p>
        </p:txBody>
      </p:sp>
      <p:sp>
        <p:nvSpPr>
          <p:cNvPr id="13" name="TextBox 1"/>
          <p:cNvSpPr txBox="1"/>
          <p:nvPr/>
        </p:nvSpPr>
        <p:spPr>
          <a:xfrm>
            <a:off x="663089" y="1692822"/>
            <a:ext cx="80631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B!Y! </a:t>
            </a:r>
            <a:r>
              <a:rPr lang="en-US" sz="1200" b="1" dirty="0" err="1"/>
              <a:t>Mn</a:t>
            </a:r>
            <a:endParaRPr lang="en-US" sz="1200" b="1" dirty="0"/>
          </a:p>
        </p:txBody>
      </p:sp>
      <p:sp>
        <p:nvSpPr>
          <p:cNvPr id="20" name="TextBox 9"/>
          <p:cNvSpPr txBox="1"/>
          <p:nvPr/>
        </p:nvSpPr>
        <p:spPr>
          <a:xfrm>
            <a:off x="2481647" y="1675579"/>
            <a:ext cx="79028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F!Y! </a:t>
            </a:r>
            <a:r>
              <a:rPr lang="en-US" sz="1200" b="1" dirty="0" err="1"/>
              <a:t>Mn</a:t>
            </a:r>
            <a:endParaRPr lang="en-US" sz="1200" b="1" dirty="0"/>
          </a:p>
        </p:txBody>
      </p:sp>
      <p:sp>
        <p:nvSpPr>
          <p:cNvPr id="16" name="TextBox 1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7" name="Content Placeholder 14"/>
          <p:cNvGraphicFramePr>
            <a:graphicFrameLocks noGrp="1"/>
          </p:cNvGraphicFramePr>
          <p:nvPr>
            <p:ph idx="1"/>
            <p:extLst>
              <p:ext uri="{D42A27DB-BD31-4B8C-83A1-F6EECF244321}">
                <p14:modId xmlns:p14="http://schemas.microsoft.com/office/powerpoint/2010/main" val="4105208605"/>
              </p:ext>
            </p:extLst>
          </p:nvPr>
        </p:nvGraphicFramePr>
        <p:xfrm>
          <a:off x="152400" y="1612901"/>
          <a:ext cx="3768725" cy="459422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9"/>
          <p:cNvGraphicFramePr>
            <a:graphicFrameLocks noGrp="1"/>
          </p:cNvGraphicFramePr>
          <p:nvPr>
            <p:ph idx="15"/>
            <p:extLst>
              <p:ext uri="{D42A27DB-BD31-4B8C-83A1-F6EECF244321}">
                <p14:modId xmlns:p14="http://schemas.microsoft.com/office/powerpoint/2010/main" val="3639335003"/>
              </p:ext>
            </p:extLst>
          </p:nvPr>
        </p:nvGraphicFramePr>
        <p:xfrm>
          <a:off x="8274050" y="1612900"/>
          <a:ext cx="3768725" cy="459422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2" name="Content Placeholder 17"/>
          <p:cNvGraphicFramePr>
            <a:graphicFrameLocks noGrp="1"/>
          </p:cNvGraphicFramePr>
          <p:nvPr>
            <p:ph idx="13"/>
            <p:extLst>
              <p:ext uri="{D42A27DB-BD31-4B8C-83A1-F6EECF244321}">
                <p14:modId xmlns:p14="http://schemas.microsoft.com/office/powerpoint/2010/main" val="674254509"/>
              </p:ext>
            </p:extLst>
          </p:nvPr>
        </p:nvGraphicFramePr>
        <p:xfrm>
          <a:off x="4213225" y="1612900"/>
          <a:ext cx="3768725" cy="4594225"/>
        </p:xfrm>
        <a:graphic>
          <a:graphicData uri="http://schemas.openxmlformats.org/drawingml/2006/chart">
            <c:chart xmlns:c="http://schemas.openxmlformats.org/drawingml/2006/chart" xmlns:r="http://schemas.openxmlformats.org/officeDocument/2006/relationships" r:id="rId4"/>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200</a:t>
            </a:fld>
            <a:endParaRPr lang="en-GB" dirty="0"/>
          </a:p>
        </p:txBody>
      </p:sp>
    </p:spTree>
    <p:extLst>
      <p:ext uri="{BB962C8B-B14F-4D97-AF65-F5344CB8AC3E}">
        <p14:creationId xmlns:p14="http://schemas.microsoft.com/office/powerpoint/2010/main" val="2207102341"/>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itle 25"/>
          <p:cNvSpPr>
            <a:spLocks noGrp="1"/>
          </p:cNvSpPr>
          <p:nvPr>
            <p:ph type="title"/>
          </p:nvPr>
        </p:nvSpPr>
        <p:spPr/>
        <p:txBody>
          <a:bodyPr/>
          <a:lstStyle/>
          <a:p>
            <a:r>
              <a:rPr lang="en-US" dirty="0"/>
              <a:t>Global WXYZ Market Analysis By Region</a:t>
            </a:r>
          </a:p>
        </p:txBody>
      </p:sp>
      <p:sp>
        <p:nvSpPr>
          <p:cNvPr id="27" name="Text Placeholder 26"/>
          <p:cNvSpPr>
            <a:spLocks noGrp="1"/>
          </p:cNvSpPr>
          <p:nvPr>
            <p:ph type="body" idx="12"/>
          </p:nvPr>
        </p:nvSpPr>
        <p:spPr/>
        <p:txBody>
          <a:bodyPr/>
          <a:lstStyle/>
          <a:p>
            <a:r>
              <a:rPr lang="en-US" sz="1400" dirty="0"/>
              <a:t>Table xx: Global WXYZ Market Volume (Tons) Analysis and Forecast By Region, 2019 – 2034</a:t>
            </a:r>
          </a:p>
        </p:txBody>
      </p:sp>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7" name="Content Placeholder 9"/>
          <p:cNvGraphicFramePr>
            <a:graphicFrameLocks/>
          </p:cNvGraphicFramePr>
          <p:nvPr>
            <p:extLst>
              <p:ext uri="{D42A27DB-BD31-4B8C-83A1-F6EECF244321}">
                <p14:modId xmlns:p14="http://schemas.microsoft.com/office/powerpoint/2010/main" val="2206241652"/>
              </p:ext>
            </p:extLst>
          </p:nvPr>
        </p:nvGraphicFramePr>
        <p:xfrm>
          <a:off x="152390" y="1674051"/>
          <a:ext cx="11887209" cy="4431327"/>
        </p:xfrm>
        <a:graphic>
          <a:graphicData uri="http://schemas.openxmlformats.org/drawingml/2006/table">
            <a:tbl>
              <a:tblPr firstRow="1" bandRow="1">
                <a:tableStyleId>{5C22544A-7EE6-4342-B048-85BDC9FD1C3A}</a:tableStyleId>
              </a:tblPr>
              <a:tblGrid>
                <a:gridCol w="928584">
                  <a:extLst>
                    <a:ext uri="{9D8B030D-6E8A-4147-A177-3AD203B41FA5}">
                      <a16:colId xmlns:a16="http://schemas.microsoft.com/office/drawing/2014/main" val="20000"/>
                    </a:ext>
                  </a:extLst>
                </a:gridCol>
                <a:gridCol w="644625">
                  <a:extLst>
                    <a:ext uri="{9D8B030D-6E8A-4147-A177-3AD203B41FA5}">
                      <a16:colId xmlns:a16="http://schemas.microsoft.com/office/drawing/2014/main" val="20001"/>
                    </a:ext>
                  </a:extLst>
                </a:gridCol>
                <a:gridCol w="644625">
                  <a:extLst>
                    <a:ext uri="{9D8B030D-6E8A-4147-A177-3AD203B41FA5}">
                      <a16:colId xmlns:a16="http://schemas.microsoft.com/office/drawing/2014/main" val="20002"/>
                    </a:ext>
                  </a:extLst>
                </a:gridCol>
                <a:gridCol w="644625">
                  <a:extLst>
                    <a:ext uri="{9D8B030D-6E8A-4147-A177-3AD203B41FA5}">
                      <a16:colId xmlns:a16="http://schemas.microsoft.com/office/drawing/2014/main" val="20003"/>
                    </a:ext>
                  </a:extLst>
                </a:gridCol>
                <a:gridCol w="644625">
                  <a:extLst>
                    <a:ext uri="{9D8B030D-6E8A-4147-A177-3AD203B41FA5}">
                      <a16:colId xmlns:a16="http://schemas.microsoft.com/office/drawing/2014/main" val="20004"/>
                    </a:ext>
                  </a:extLst>
                </a:gridCol>
                <a:gridCol w="644625">
                  <a:extLst>
                    <a:ext uri="{9D8B030D-6E8A-4147-A177-3AD203B41FA5}">
                      <a16:colId xmlns:a16="http://schemas.microsoft.com/office/drawing/2014/main" val="20005"/>
                    </a:ext>
                  </a:extLst>
                </a:gridCol>
                <a:gridCol w="644625">
                  <a:extLst>
                    <a:ext uri="{9D8B030D-6E8A-4147-A177-3AD203B41FA5}">
                      <a16:colId xmlns:a16="http://schemas.microsoft.com/office/drawing/2014/main" val="20006"/>
                    </a:ext>
                  </a:extLst>
                </a:gridCol>
                <a:gridCol w="644625">
                  <a:extLst>
                    <a:ext uri="{9D8B030D-6E8A-4147-A177-3AD203B41FA5}">
                      <a16:colId xmlns:a16="http://schemas.microsoft.com/office/drawing/2014/main" val="20007"/>
                    </a:ext>
                  </a:extLst>
                </a:gridCol>
                <a:gridCol w="644625">
                  <a:extLst>
                    <a:ext uri="{9D8B030D-6E8A-4147-A177-3AD203B41FA5}">
                      <a16:colId xmlns:a16="http://schemas.microsoft.com/office/drawing/2014/main" val="20008"/>
                    </a:ext>
                  </a:extLst>
                </a:gridCol>
                <a:gridCol w="644625">
                  <a:extLst>
                    <a:ext uri="{9D8B030D-6E8A-4147-A177-3AD203B41FA5}">
                      <a16:colId xmlns:a16="http://schemas.microsoft.com/office/drawing/2014/main" val="20009"/>
                    </a:ext>
                  </a:extLst>
                </a:gridCol>
                <a:gridCol w="644625">
                  <a:extLst>
                    <a:ext uri="{9D8B030D-6E8A-4147-A177-3AD203B41FA5}">
                      <a16:colId xmlns:a16="http://schemas.microsoft.com/office/drawing/2014/main" val="20010"/>
                    </a:ext>
                  </a:extLst>
                </a:gridCol>
                <a:gridCol w="644625">
                  <a:extLst>
                    <a:ext uri="{9D8B030D-6E8A-4147-A177-3AD203B41FA5}">
                      <a16:colId xmlns:a16="http://schemas.microsoft.com/office/drawing/2014/main" val="20011"/>
                    </a:ext>
                  </a:extLst>
                </a:gridCol>
                <a:gridCol w="644625">
                  <a:extLst>
                    <a:ext uri="{9D8B030D-6E8A-4147-A177-3AD203B41FA5}">
                      <a16:colId xmlns:a16="http://schemas.microsoft.com/office/drawing/2014/main" val="20012"/>
                    </a:ext>
                  </a:extLst>
                </a:gridCol>
                <a:gridCol w="644625">
                  <a:extLst>
                    <a:ext uri="{9D8B030D-6E8A-4147-A177-3AD203B41FA5}">
                      <a16:colId xmlns:a16="http://schemas.microsoft.com/office/drawing/2014/main" val="20013"/>
                    </a:ext>
                  </a:extLst>
                </a:gridCol>
                <a:gridCol w="644625">
                  <a:extLst>
                    <a:ext uri="{9D8B030D-6E8A-4147-A177-3AD203B41FA5}">
                      <a16:colId xmlns:a16="http://schemas.microsoft.com/office/drawing/2014/main" val="20014"/>
                    </a:ext>
                  </a:extLst>
                </a:gridCol>
                <a:gridCol w="644625">
                  <a:extLst>
                    <a:ext uri="{9D8B030D-6E8A-4147-A177-3AD203B41FA5}">
                      <a16:colId xmlns:a16="http://schemas.microsoft.com/office/drawing/2014/main" val="20015"/>
                    </a:ext>
                  </a:extLst>
                </a:gridCol>
                <a:gridCol w="644625">
                  <a:extLst>
                    <a:ext uri="{9D8B030D-6E8A-4147-A177-3AD203B41FA5}">
                      <a16:colId xmlns:a16="http://schemas.microsoft.com/office/drawing/2014/main" val="20016"/>
                    </a:ext>
                  </a:extLst>
                </a:gridCol>
                <a:gridCol w="644625">
                  <a:extLst>
                    <a:ext uri="{9D8B030D-6E8A-4147-A177-3AD203B41FA5}">
                      <a16:colId xmlns:a16="http://schemas.microsoft.com/office/drawing/2014/main" val="20017"/>
                    </a:ext>
                  </a:extLst>
                </a:gridCol>
              </a:tblGrid>
              <a:tr h="1180947">
                <a:tc>
                  <a:txBody>
                    <a:bodyPr/>
                    <a:lstStyle/>
                    <a:p>
                      <a:pPr algn="ctr"/>
                      <a:r>
                        <a:rPr lang="en-IN" sz="1100" i="0" baseline="0" dirty="0">
                          <a:solidFill>
                            <a:schemeClr val="bg1"/>
                          </a:solidFill>
                          <a:latin typeface="+mn-lt"/>
                        </a:rPr>
                        <a:t>Region</a:t>
                      </a:r>
                      <a:endParaRPr lang="en-US" sz="1100" i="0" baseline="0" dirty="0">
                        <a:solidFill>
                          <a:schemeClr val="bg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352013">
                <a:tc>
                  <a:txBody>
                    <a:bodyPr/>
                    <a:lstStyle/>
                    <a:p>
                      <a:pPr algn="l" fontAlgn="b"/>
                      <a:r>
                        <a:rPr lang="en-US" sz="1000" b="1" i="0" u="none" strike="noStrike" dirty="0">
                          <a:solidFill>
                            <a:srgbClr val="000000"/>
                          </a:solidFill>
                          <a:effectLst/>
                          <a:latin typeface="Calibri" panose="020F0502020204030204" pitchFamily="34" charset="0"/>
                        </a:rPr>
                        <a:t>North America</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352013">
                <a:tc>
                  <a:txBody>
                    <a:bodyPr/>
                    <a:lstStyle/>
                    <a:p>
                      <a:pPr algn="l" fontAlgn="b"/>
                      <a:r>
                        <a:rPr lang="en-US" sz="1000" b="1" i="0" u="none" strike="noStrike" dirty="0">
                          <a:solidFill>
                            <a:srgbClr val="000000"/>
                          </a:solidFill>
                          <a:effectLst/>
                          <a:latin typeface="Calibri" panose="020F0502020204030204" pitchFamily="34" charset="0"/>
                        </a:rPr>
                        <a:t>Latin America</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352013">
                <a:tc>
                  <a:txBody>
                    <a:bodyPr/>
                    <a:lstStyle/>
                    <a:p>
                      <a:pPr algn="l" fontAlgn="b"/>
                      <a:r>
                        <a:rPr lang="en-US" sz="1000" b="1" i="0" u="none" strike="noStrike" dirty="0">
                          <a:solidFill>
                            <a:srgbClr val="000000"/>
                          </a:solidFill>
                          <a:effectLst/>
                          <a:latin typeface="Calibri" panose="020F0502020204030204" pitchFamily="34" charset="0"/>
                        </a:rPr>
                        <a:t>East Asia</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569151">
                <a:tc>
                  <a:txBody>
                    <a:bodyPr/>
                    <a:lstStyle/>
                    <a:p>
                      <a:pPr algn="l" fontAlgn="b"/>
                      <a:r>
                        <a:rPr lang="en-US" sz="1000" b="1" i="0" u="none" strike="noStrike" dirty="0">
                          <a:solidFill>
                            <a:srgbClr val="000000"/>
                          </a:solidFill>
                          <a:effectLst/>
                          <a:latin typeface="Calibri" panose="020F0502020204030204" pitchFamily="34" charset="0"/>
                        </a:rPr>
                        <a:t>South Asia Pacific</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352013">
                <a:tc>
                  <a:txBody>
                    <a:bodyPr/>
                    <a:lstStyle/>
                    <a:p>
                      <a:pPr algn="l" fontAlgn="b"/>
                      <a:r>
                        <a:rPr lang="en-US" sz="1000" b="1" i="0" u="none" strike="noStrike" dirty="0">
                          <a:solidFill>
                            <a:srgbClr val="000000"/>
                          </a:solidFill>
                          <a:effectLst/>
                          <a:latin typeface="Calibri" panose="020F0502020204030204" pitchFamily="34" charset="0"/>
                        </a:rPr>
                        <a:t>Western Europe</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352013">
                <a:tc>
                  <a:txBody>
                    <a:bodyPr/>
                    <a:lstStyle/>
                    <a:p>
                      <a:pPr algn="l" fontAlgn="b"/>
                      <a:r>
                        <a:rPr lang="en-US" sz="1000" b="1" i="0" u="none" strike="noStrike" dirty="0">
                          <a:solidFill>
                            <a:srgbClr val="000000"/>
                          </a:solidFill>
                          <a:effectLst/>
                          <a:latin typeface="Calibri" panose="020F0502020204030204" pitchFamily="34" charset="0"/>
                        </a:rPr>
                        <a:t>Eastern Europe</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569151">
                <a:tc>
                  <a:txBody>
                    <a:bodyPr/>
                    <a:lstStyle/>
                    <a:p>
                      <a:pPr algn="l" fontAlgn="b"/>
                      <a:r>
                        <a:rPr lang="en-US" sz="1000" b="1" i="0" u="none" strike="noStrike" dirty="0">
                          <a:solidFill>
                            <a:srgbClr val="000000"/>
                          </a:solidFill>
                          <a:effectLst/>
                          <a:latin typeface="Calibri" panose="020F0502020204030204" pitchFamily="34" charset="0"/>
                        </a:rPr>
                        <a:t>Middle East &amp; Africa</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352013">
                <a:tc>
                  <a:txBody>
                    <a:bodyPr/>
                    <a:lstStyle/>
                    <a:p>
                      <a:pPr algn="ctr" fontAlgn="ctr"/>
                      <a:r>
                        <a:rPr lang="en-IN" sz="1100" b="1" i="0" u="none" strike="noStrike" dirty="0">
                          <a:solidFill>
                            <a:srgbClr val="000000"/>
                          </a:solidFill>
                          <a:effectLst/>
                          <a:latin typeface="Calibri" panose="020F0502020204030204" pitchFamily="34" charset="0"/>
                        </a:rPr>
                        <a:t>Total</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201</a:t>
            </a:fld>
            <a:endParaRPr lang="en-GB" dirty="0"/>
          </a:p>
        </p:txBody>
      </p:sp>
    </p:spTree>
    <p:extLst>
      <p:ext uri="{BB962C8B-B14F-4D97-AF65-F5344CB8AC3E}">
        <p14:creationId xmlns:p14="http://schemas.microsoft.com/office/powerpoint/2010/main" val="3185490610"/>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Global WXYZ Market Analysis By Region</a:t>
            </a:r>
          </a:p>
        </p:txBody>
      </p:sp>
      <p:sp>
        <p:nvSpPr>
          <p:cNvPr id="3" name="Text Placeholder 2"/>
          <p:cNvSpPr>
            <a:spLocks noGrp="1"/>
          </p:cNvSpPr>
          <p:nvPr>
            <p:ph type="body" idx="12"/>
          </p:nvPr>
        </p:nvSpPr>
        <p:spPr/>
        <p:txBody>
          <a:bodyPr/>
          <a:lstStyle/>
          <a:p>
            <a:r>
              <a:rPr lang="en-US" sz="1400" dirty="0"/>
              <a:t>Table xx: Global WXYZ Market Size (US$ </a:t>
            </a:r>
            <a:r>
              <a:rPr lang="en-US" sz="1400" dirty="0" err="1"/>
              <a:t>Mn</a:t>
            </a:r>
            <a:r>
              <a:rPr lang="en-US" sz="1400" dirty="0"/>
              <a:t>) Analysis and Forecast By Region, 2019 – 2034</a:t>
            </a:r>
          </a:p>
        </p:txBody>
      </p:sp>
      <p:sp>
        <p:nvSpPr>
          <p:cNvPr id="7" name="TextBox 6"/>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8" name="Content Placeholder 9"/>
          <p:cNvGraphicFramePr>
            <a:graphicFrameLocks/>
          </p:cNvGraphicFramePr>
          <p:nvPr>
            <p:extLst>
              <p:ext uri="{D42A27DB-BD31-4B8C-83A1-F6EECF244321}">
                <p14:modId xmlns:p14="http://schemas.microsoft.com/office/powerpoint/2010/main" val="2102659735"/>
              </p:ext>
            </p:extLst>
          </p:nvPr>
        </p:nvGraphicFramePr>
        <p:xfrm>
          <a:off x="152390" y="1674051"/>
          <a:ext cx="11887209" cy="4431327"/>
        </p:xfrm>
        <a:graphic>
          <a:graphicData uri="http://schemas.openxmlformats.org/drawingml/2006/table">
            <a:tbl>
              <a:tblPr firstRow="1" bandRow="1">
                <a:tableStyleId>{5C22544A-7EE6-4342-B048-85BDC9FD1C3A}</a:tableStyleId>
              </a:tblPr>
              <a:tblGrid>
                <a:gridCol w="928584">
                  <a:extLst>
                    <a:ext uri="{9D8B030D-6E8A-4147-A177-3AD203B41FA5}">
                      <a16:colId xmlns:a16="http://schemas.microsoft.com/office/drawing/2014/main" val="20000"/>
                    </a:ext>
                  </a:extLst>
                </a:gridCol>
                <a:gridCol w="644625">
                  <a:extLst>
                    <a:ext uri="{9D8B030D-6E8A-4147-A177-3AD203B41FA5}">
                      <a16:colId xmlns:a16="http://schemas.microsoft.com/office/drawing/2014/main" val="20001"/>
                    </a:ext>
                  </a:extLst>
                </a:gridCol>
                <a:gridCol w="644625">
                  <a:extLst>
                    <a:ext uri="{9D8B030D-6E8A-4147-A177-3AD203B41FA5}">
                      <a16:colId xmlns:a16="http://schemas.microsoft.com/office/drawing/2014/main" val="20002"/>
                    </a:ext>
                  </a:extLst>
                </a:gridCol>
                <a:gridCol w="644625">
                  <a:extLst>
                    <a:ext uri="{9D8B030D-6E8A-4147-A177-3AD203B41FA5}">
                      <a16:colId xmlns:a16="http://schemas.microsoft.com/office/drawing/2014/main" val="20003"/>
                    </a:ext>
                  </a:extLst>
                </a:gridCol>
                <a:gridCol w="644625">
                  <a:extLst>
                    <a:ext uri="{9D8B030D-6E8A-4147-A177-3AD203B41FA5}">
                      <a16:colId xmlns:a16="http://schemas.microsoft.com/office/drawing/2014/main" val="20004"/>
                    </a:ext>
                  </a:extLst>
                </a:gridCol>
                <a:gridCol w="644625">
                  <a:extLst>
                    <a:ext uri="{9D8B030D-6E8A-4147-A177-3AD203B41FA5}">
                      <a16:colId xmlns:a16="http://schemas.microsoft.com/office/drawing/2014/main" val="20005"/>
                    </a:ext>
                  </a:extLst>
                </a:gridCol>
                <a:gridCol w="644625">
                  <a:extLst>
                    <a:ext uri="{9D8B030D-6E8A-4147-A177-3AD203B41FA5}">
                      <a16:colId xmlns:a16="http://schemas.microsoft.com/office/drawing/2014/main" val="20006"/>
                    </a:ext>
                  </a:extLst>
                </a:gridCol>
                <a:gridCol w="644625">
                  <a:extLst>
                    <a:ext uri="{9D8B030D-6E8A-4147-A177-3AD203B41FA5}">
                      <a16:colId xmlns:a16="http://schemas.microsoft.com/office/drawing/2014/main" val="20007"/>
                    </a:ext>
                  </a:extLst>
                </a:gridCol>
                <a:gridCol w="644625">
                  <a:extLst>
                    <a:ext uri="{9D8B030D-6E8A-4147-A177-3AD203B41FA5}">
                      <a16:colId xmlns:a16="http://schemas.microsoft.com/office/drawing/2014/main" val="20008"/>
                    </a:ext>
                  </a:extLst>
                </a:gridCol>
                <a:gridCol w="644625">
                  <a:extLst>
                    <a:ext uri="{9D8B030D-6E8A-4147-A177-3AD203B41FA5}">
                      <a16:colId xmlns:a16="http://schemas.microsoft.com/office/drawing/2014/main" val="20009"/>
                    </a:ext>
                  </a:extLst>
                </a:gridCol>
                <a:gridCol w="644625">
                  <a:extLst>
                    <a:ext uri="{9D8B030D-6E8A-4147-A177-3AD203B41FA5}">
                      <a16:colId xmlns:a16="http://schemas.microsoft.com/office/drawing/2014/main" val="20010"/>
                    </a:ext>
                  </a:extLst>
                </a:gridCol>
                <a:gridCol w="644625">
                  <a:extLst>
                    <a:ext uri="{9D8B030D-6E8A-4147-A177-3AD203B41FA5}">
                      <a16:colId xmlns:a16="http://schemas.microsoft.com/office/drawing/2014/main" val="20011"/>
                    </a:ext>
                  </a:extLst>
                </a:gridCol>
                <a:gridCol w="644625">
                  <a:extLst>
                    <a:ext uri="{9D8B030D-6E8A-4147-A177-3AD203B41FA5}">
                      <a16:colId xmlns:a16="http://schemas.microsoft.com/office/drawing/2014/main" val="20012"/>
                    </a:ext>
                  </a:extLst>
                </a:gridCol>
                <a:gridCol w="644625">
                  <a:extLst>
                    <a:ext uri="{9D8B030D-6E8A-4147-A177-3AD203B41FA5}">
                      <a16:colId xmlns:a16="http://schemas.microsoft.com/office/drawing/2014/main" val="20013"/>
                    </a:ext>
                  </a:extLst>
                </a:gridCol>
                <a:gridCol w="644625">
                  <a:extLst>
                    <a:ext uri="{9D8B030D-6E8A-4147-A177-3AD203B41FA5}">
                      <a16:colId xmlns:a16="http://schemas.microsoft.com/office/drawing/2014/main" val="20014"/>
                    </a:ext>
                  </a:extLst>
                </a:gridCol>
                <a:gridCol w="644625">
                  <a:extLst>
                    <a:ext uri="{9D8B030D-6E8A-4147-A177-3AD203B41FA5}">
                      <a16:colId xmlns:a16="http://schemas.microsoft.com/office/drawing/2014/main" val="20015"/>
                    </a:ext>
                  </a:extLst>
                </a:gridCol>
                <a:gridCol w="644625">
                  <a:extLst>
                    <a:ext uri="{9D8B030D-6E8A-4147-A177-3AD203B41FA5}">
                      <a16:colId xmlns:a16="http://schemas.microsoft.com/office/drawing/2014/main" val="20016"/>
                    </a:ext>
                  </a:extLst>
                </a:gridCol>
                <a:gridCol w="644625">
                  <a:extLst>
                    <a:ext uri="{9D8B030D-6E8A-4147-A177-3AD203B41FA5}">
                      <a16:colId xmlns:a16="http://schemas.microsoft.com/office/drawing/2014/main" val="20017"/>
                    </a:ext>
                  </a:extLst>
                </a:gridCol>
              </a:tblGrid>
              <a:tr h="1180947">
                <a:tc>
                  <a:txBody>
                    <a:bodyPr/>
                    <a:lstStyle/>
                    <a:p>
                      <a:pPr algn="ctr"/>
                      <a:r>
                        <a:rPr lang="en-IN" sz="1100" i="0" baseline="0" dirty="0">
                          <a:solidFill>
                            <a:schemeClr val="bg1"/>
                          </a:solidFill>
                          <a:latin typeface="+mn-lt"/>
                        </a:rPr>
                        <a:t>Region</a:t>
                      </a:r>
                      <a:endParaRPr lang="en-US" sz="1100" i="0" baseline="0" dirty="0">
                        <a:solidFill>
                          <a:schemeClr val="bg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352013">
                <a:tc>
                  <a:txBody>
                    <a:bodyPr/>
                    <a:lstStyle/>
                    <a:p>
                      <a:pPr algn="l" fontAlgn="b"/>
                      <a:r>
                        <a:rPr lang="en-US" sz="1000" b="1" i="0" u="none" strike="noStrike" dirty="0">
                          <a:solidFill>
                            <a:srgbClr val="000000"/>
                          </a:solidFill>
                          <a:effectLst/>
                          <a:latin typeface="Calibri" panose="020F0502020204030204" pitchFamily="34" charset="0"/>
                        </a:rPr>
                        <a:t>North America</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352013">
                <a:tc>
                  <a:txBody>
                    <a:bodyPr/>
                    <a:lstStyle/>
                    <a:p>
                      <a:pPr algn="l" fontAlgn="b"/>
                      <a:r>
                        <a:rPr lang="en-US" sz="1000" b="1" i="0" u="none" strike="noStrike" dirty="0">
                          <a:solidFill>
                            <a:srgbClr val="000000"/>
                          </a:solidFill>
                          <a:effectLst/>
                          <a:latin typeface="Calibri" panose="020F0502020204030204" pitchFamily="34" charset="0"/>
                        </a:rPr>
                        <a:t>Latin America</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352013">
                <a:tc>
                  <a:txBody>
                    <a:bodyPr/>
                    <a:lstStyle/>
                    <a:p>
                      <a:pPr algn="l" fontAlgn="b"/>
                      <a:r>
                        <a:rPr lang="en-US" sz="1000" b="1" i="0" u="none" strike="noStrike" dirty="0">
                          <a:solidFill>
                            <a:srgbClr val="000000"/>
                          </a:solidFill>
                          <a:effectLst/>
                          <a:latin typeface="Calibri" panose="020F0502020204030204" pitchFamily="34" charset="0"/>
                        </a:rPr>
                        <a:t>East Asia</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569151">
                <a:tc>
                  <a:txBody>
                    <a:bodyPr/>
                    <a:lstStyle/>
                    <a:p>
                      <a:pPr algn="l" fontAlgn="b"/>
                      <a:r>
                        <a:rPr lang="en-US" sz="1000" b="1" i="0" u="none" strike="noStrike" dirty="0">
                          <a:solidFill>
                            <a:srgbClr val="000000"/>
                          </a:solidFill>
                          <a:effectLst/>
                          <a:latin typeface="Calibri" panose="020F0502020204030204" pitchFamily="34" charset="0"/>
                        </a:rPr>
                        <a:t>South Asia Pacific</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352013">
                <a:tc>
                  <a:txBody>
                    <a:bodyPr/>
                    <a:lstStyle/>
                    <a:p>
                      <a:pPr algn="l" fontAlgn="b"/>
                      <a:r>
                        <a:rPr lang="en-US" sz="1000" b="1" i="0" u="none" strike="noStrike" dirty="0">
                          <a:solidFill>
                            <a:srgbClr val="000000"/>
                          </a:solidFill>
                          <a:effectLst/>
                          <a:latin typeface="Calibri" panose="020F0502020204030204" pitchFamily="34" charset="0"/>
                        </a:rPr>
                        <a:t>Western Europe</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352013">
                <a:tc>
                  <a:txBody>
                    <a:bodyPr/>
                    <a:lstStyle/>
                    <a:p>
                      <a:pPr algn="l" fontAlgn="b"/>
                      <a:r>
                        <a:rPr lang="en-US" sz="1000" b="1" i="0" u="none" strike="noStrike" dirty="0">
                          <a:solidFill>
                            <a:srgbClr val="000000"/>
                          </a:solidFill>
                          <a:effectLst/>
                          <a:latin typeface="Calibri" panose="020F0502020204030204" pitchFamily="34" charset="0"/>
                        </a:rPr>
                        <a:t>Eastern Europe</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569151">
                <a:tc>
                  <a:txBody>
                    <a:bodyPr/>
                    <a:lstStyle/>
                    <a:p>
                      <a:pPr algn="l" fontAlgn="b"/>
                      <a:r>
                        <a:rPr lang="en-US" sz="1000" b="1" i="0" u="none" strike="noStrike" dirty="0">
                          <a:solidFill>
                            <a:srgbClr val="000000"/>
                          </a:solidFill>
                          <a:effectLst/>
                          <a:latin typeface="Calibri" panose="020F0502020204030204" pitchFamily="34" charset="0"/>
                        </a:rPr>
                        <a:t>Middle East &amp; Africa</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352013">
                <a:tc>
                  <a:txBody>
                    <a:bodyPr/>
                    <a:lstStyle/>
                    <a:p>
                      <a:pPr algn="ctr" fontAlgn="ctr"/>
                      <a:r>
                        <a:rPr lang="en-IN" sz="1100" b="1" i="0" u="none" strike="noStrike" dirty="0">
                          <a:solidFill>
                            <a:srgbClr val="000000"/>
                          </a:solidFill>
                          <a:effectLst/>
                          <a:latin typeface="Calibri" panose="020F0502020204030204" pitchFamily="34" charset="0"/>
                        </a:rPr>
                        <a:t>Total</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 H!Y!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B!Y!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chemeClr val="bg1">
                            <a:lumMod val="50000"/>
                          </a:schemeClr>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a:solidFill>
                            <a:schemeClr val="tx1"/>
                          </a:solidFill>
                          <a:effectLst/>
                          <a:latin typeface="Calibri" panose="020F0502020204030204" pitchFamily="34" charset="0"/>
                        </a:rPr>
                        <a:t>F!Y!</a:t>
                      </a:r>
                      <a:endParaRPr lang="en-US" sz="1100" b="1" i="0" u="none" strike="noStrike" dirty="0">
                        <a:solidFill>
                          <a:schemeClr val="tx1"/>
                        </a:solidFill>
                        <a:effectLst/>
                        <a:latin typeface="Calibri" panose="020F0502020204030204" pitchFamily="34" charset="0"/>
                      </a:endParaRPr>
                    </a:p>
                  </a:txBody>
                  <a:tcPr marL="9525" marR="9525" marT="9525" marB="0" anchor="ctr"/>
                </a:tc>
                <a:tc>
                  <a:txBody>
                    <a:bodyPr/>
                    <a:lstStyle/>
                    <a:p>
                      <a:pPr algn="ctr" fontAlgn="ctr"/>
                      <a:r>
                        <a:rPr lang="en-IN" sz="1100" b="1" i="0" u="none" strike="noStrike" dirty="0" err="1">
                          <a:solidFill>
                            <a:schemeClr val="tx1"/>
                          </a:solidFill>
                          <a:effectLst/>
                          <a:latin typeface="Calibri" panose="020F0502020204030204" pitchFamily="34" charset="0"/>
                        </a:rPr>
                        <a:t>VaC</a:t>
                      </a:r>
                      <a:r>
                        <a:rPr lang="en-IN" sz="1100" b="1" i="0" u="none" strike="noStrike" dirty="0">
                          <a:solidFill>
                            <a:schemeClr val="tx1"/>
                          </a:solidFill>
                          <a:effectLst/>
                          <a:latin typeface="Calibri" panose="020F0502020204030204" pitchFamily="34" charset="0"/>
                        </a:rPr>
                        <a:t>!%</a:t>
                      </a:r>
                      <a:endParaRPr lang="en-US" sz="1100" b="1" i="0" u="none" strike="noStrike" dirty="0">
                        <a:solidFill>
                          <a:schemeClr val="tx1"/>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5" name="Slide Number Placeholder 4"/>
          <p:cNvSpPr>
            <a:spLocks noGrp="1"/>
          </p:cNvSpPr>
          <p:nvPr>
            <p:ph type="sldNum" sz="quarter" idx="4"/>
          </p:nvPr>
        </p:nvSpPr>
        <p:spPr/>
        <p:txBody>
          <a:bodyPr/>
          <a:lstStyle/>
          <a:p>
            <a:fld id="{4B17068C-EB94-40A3-A5F2-664CDD77FDAC}" type="slidenum">
              <a:rPr lang="en-GB" smtClean="0"/>
              <a:pPr/>
              <a:t>202</a:t>
            </a:fld>
            <a:endParaRPr lang="en-GB" dirty="0"/>
          </a:p>
        </p:txBody>
      </p:sp>
    </p:spTree>
    <p:extLst>
      <p:ext uri="{BB962C8B-B14F-4D97-AF65-F5344CB8AC3E}">
        <p14:creationId xmlns:p14="http://schemas.microsoft.com/office/powerpoint/2010/main" val="2594384970"/>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North America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Latin America Segment, 2019 – 2034</a:t>
            </a:r>
          </a:p>
        </p:txBody>
      </p:sp>
      <p:sp>
        <p:nvSpPr>
          <p:cNvPr id="10" name="Content Placeholder 9"/>
          <p:cNvSpPr>
            <a:spLocks noGrp="1"/>
          </p:cNvSpPr>
          <p:nvPr>
            <p:ph idx="17"/>
          </p:nvPr>
        </p:nvSpPr>
        <p:spPr/>
        <p:txBody>
          <a:bodyPr/>
          <a:lstStyle/>
          <a:p>
            <a:r>
              <a:rPr lang="en-US" dirty="0"/>
              <a:t>North America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r>
              <a:rPr lang="en-US" dirty="0"/>
              <a:t>Latin America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North America</a:t>
            </a:r>
          </a:p>
        </p:txBody>
      </p:sp>
      <p:sp>
        <p:nvSpPr>
          <p:cNvPr id="15" name="Text Placeholder 14"/>
          <p:cNvSpPr>
            <a:spLocks noGrp="1"/>
          </p:cNvSpPr>
          <p:nvPr>
            <p:ph type="body" sz="quarter" idx="22"/>
          </p:nvPr>
        </p:nvSpPr>
        <p:spPr/>
        <p:txBody>
          <a:bodyPr/>
          <a:lstStyle/>
          <a:p>
            <a:r>
              <a:rPr lang="en-US" dirty="0"/>
              <a:t>Latin America</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a:t>
            </a:r>
            <a:r>
              <a:rPr lang="en-US" dirty="0">
                <a:effectLst>
                  <a:glow>
                    <a:srgbClr val="000000"/>
                  </a:glow>
                  <a:outerShdw sx="0" sy="0">
                    <a:srgbClr val="000000"/>
                  </a:outerShdw>
                  <a:reflection stA="0" endPos="0" fadeDir="0" sx="0" sy="0"/>
                </a:effectLst>
              </a:rPr>
              <a:t>Region</a:t>
            </a:r>
            <a:endParaRPr lang="en-US" dirty="0"/>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203</a:t>
            </a:fld>
            <a:endParaRPr lang="en-GB" dirty="0"/>
          </a:p>
        </p:txBody>
      </p:sp>
    </p:spTree>
    <p:extLst>
      <p:ext uri="{BB962C8B-B14F-4D97-AF65-F5344CB8AC3E}">
        <p14:creationId xmlns:p14="http://schemas.microsoft.com/office/powerpoint/2010/main" val="3496844935"/>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East Asia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South Asia Pacific Segment, 2019 – 2034</a:t>
            </a:r>
          </a:p>
        </p:txBody>
      </p:sp>
      <p:sp>
        <p:nvSpPr>
          <p:cNvPr id="10" name="Content Placeholder 9"/>
          <p:cNvSpPr>
            <a:spLocks noGrp="1"/>
          </p:cNvSpPr>
          <p:nvPr>
            <p:ph idx="17"/>
          </p:nvPr>
        </p:nvSpPr>
        <p:spPr/>
        <p:txBody>
          <a:bodyPr/>
          <a:lstStyle/>
          <a:p>
            <a:r>
              <a:rPr lang="en-US" dirty="0"/>
              <a:t>East Asia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r>
              <a:rPr lang="en-US" dirty="0"/>
              <a:t>South Asia Pacific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East Asia</a:t>
            </a:r>
          </a:p>
        </p:txBody>
      </p:sp>
      <p:sp>
        <p:nvSpPr>
          <p:cNvPr id="15" name="Text Placeholder 14"/>
          <p:cNvSpPr>
            <a:spLocks noGrp="1"/>
          </p:cNvSpPr>
          <p:nvPr>
            <p:ph type="body" sz="quarter" idx="22"/>
          </p:nvPr>
        </p:nvSpPr>
        <p:spPr/>
        <p:txBody>
          <a:bodyPr/>
          <a:lstStyle/>
          <a:p>
            <a:r>
              <a:rPr lang="en-US" dirty="0"/>
              <a:t>South Asia Pacific</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a:t>
            </a:r>
            <a:r>
              <a:rPr lang="en-US" dirty="0">
                <a:effectLst>
                  <a:glow>
                    <a:srgbClr val="000000"/>
                  </a:glow>
                  <a:outerShdw sx="0" sy="0">
                    <a:srgbClr val="000000"/>
                  </a:outerShdw>
                  <a:reflection stA="0" endPos="0" fadeDir="0" sx="0" sy="0"/>
                </a:effectLst>
              </a:rPr>
              <a:t>Region</a:t>
            </a:r>
            <a:endParaRPr lang="en-US" dirty="0"/>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204</a:t>
            </a:fld>
            <a:endParaRPr lang="en-GB" dirty="0"/>
          </a:p>
        </p:txBody>
      </p:sp>
    </p:spTree>
    <p:extLst>
      <p:ext uri="{BB962C8B-B14F-4D97-AF65-F5344CB8AC3E}">
        <p14:creationId xmlns:p14="http://schemas.microsoft.com/office/powerpoint/2010/main" val="2681177024"/>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idx="12"/>
          </p:nvPr>
        </p:nvSpPr>
        <p:spPr/>
        <p:txBody>
          <a:bodyPr/>
          <a:lstStyle/>
          <a:p>
            <a:r>
              <a:rPr lang="en-US" sz="1100" dirty="0"/>
              <a:t>Figure xx: Global WXYZ Market Absolute $ Opportunity by Western Europe Segment, 2019 – 2034</a:t>
            </a:r>
          </a:p>
        </p:txBody>
      </p:sp>
      <p:sp>
        <p:nvSpPr>
          <p:cNvPr id="9" name="Text Placeholder 8"/>
          <p:cNvSpPr>
            <a:spLocks noGrp="1"/>
          </p:cNvSpPr>
          <p:nvPr>
            <p:ph type="body" idx="16"/>
          </p:nvPr>
        </p:nvSpPr>
        <p:spPr/>
        <p:txBody>
          <a:bodyPr/>
          <a:lstStyle/>
          <a:p>
            <a:r>
              <a:rPr lang="en-US" sz="1100" dirty="0"/>
              <a:t>Figure xx: Global WXYZ Market Absolute $ Opportunity by Eastern Europe Segment, 2019 – 2034</a:t>
            </a:r>
          </a:p>
        </p:txBody>
      </p:sp>
      <p:sp>
        <p:nvSpPr>
          <p:cNvPr id="10" name="Content Placeholder 9"/>
          <p:cNvSpPr>
            <a:spLocks noGrp="1"/>
          </p:cNvSpPr>
          <p:nvPr>
            <p:ph idx="17"/>
          </p:nvPr>
        </p:nvSpPr>
        <p:spPr/>
        <p:txBody>
          <a:bodyPr/>
          <a:lstStyle/>
          <a:p>
            <a:r>
              <a:rPr lang="en-US" dirty="0"/>
              <a:t>Western Europe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2" name="Content Placeholder 11"/>
          <p:cNvSpPr>
            <a:spLocks noGrp="1"/>
          </p:cNvSpPr>
          <p:nvPr>
            <p:ph idx="19"/>
          </p:nvPr>
        </p:nvSpPr>
        <p:spPr/>
        <p:txBody>
          <a:bodyPr/>
          <a:lstStyle/>
          <a:p>
            <a:r>
              <a:rPr lang="en-US" dirty="0"/>
              <a:t>Eastern Europe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3" name="Text Placeholder 12"/>
          <p:cNvSpPr>
            <a:spLocks noGrp="1"/>
          </p:cNvSpPr>
          <p:nvPr>
            <p:ph type="body" idx="20"/>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Western Europe</a:t>
            </a:r>
          </a:p>
        </p:txBody>
      </p:sp>
      <p:sp>
        <p:nvSpPr>
          <p:cNvPr id="15" name="Text Placeholder 14"/>
          <p:cNvSpPr>
            <a:spLocks noGrp="1"/>
          </p:cNvSpPr>
          <p:nvPr>
            <p:ph type="body" sz="quarter" idx="22"/>
          </p:nvPr>
        </p:nvSpPr>
        <p:spPr/>
        <p:txBody>
          <a:bodyPr/>
          <a:lstStyle/>
          <a:p>
            <a:r>
              <a:rPr lang="en-US" dirty="0"/>
              <a:t>Eastern Europe</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19" name="Title 7"/>
          <p:cNvSpPr>
            <a:spLocks noGrp="1"/>
          </p:cNvSpPr>
          <p:nvPr>
            <p:ph type="title"/>
          </p:nvPr>
        </p:nvSpPr>
        <p:spPr/>
        <p:txBody>
          <a:bodyPr/>
          <a:lstStyle/>
          <a:p>
            <a:r>
              <a:rPr lang="en-US" dirty="0"/>
              <a:t>Global WXYZ Market Absolute $ Opportunity By </a:t>
            </a:r>
            <a:r>
              <a:rPr lang="en-US" dirty="0">
                <a:effectLst>
                  <a:glow>
                    <a:srgbClr val="000000"/>
                  </a:glow>
                  <a:outerShdw sx="0" sy="0">
                    <a:srgbClr val="000000"/>
                  </a:outerShdw>
                  <a:reflection stA="0" endPos="0" fadeDir="0" sx="0" sy="0"/>
                </a:effectLst>
              </a:rPr>
              <a:t>Region</a:t>
            </a:r>
            <a:endParaRPr lang="en-US" dirty="0"/>
          </a:p>
        </p:txBody>
      </p:sp>
      <p:graphicFrame>
        <p:nvGraphicFramePr>
          <p:cNvPr id="20" name="Content Placeholder 13"/>
          <p:cNvGraphicFramePr>
            <a:graphicFrameLocks noGrp="1"/>
          </p:cNvGraphicFramePr>
          <p:nvPr>
            <p:ph idx="15"/>
          </p:nvPr>
        </p:nvGraphicFramePr>
        <p:xfrm>
          <a:off x="3143250" y="4286250"/>
          <a:ext cx="5265738" cy="19208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205</a:t>
            </a:fld>
            <a:endParaRPr lang="en-GB" dirty="0"/>
          </a:p>
        </p:txBody>
      </p:sp>
    </p:spTree>
    <p:extLst>
      <p:ext uri="{BB962C8B-B14F-4D97-AF65-F5344CB8AC3E}">
        <p14:creationId xmlns:p14="http://schemas.microsoft.com/office/powerpoint/2010/main" val="209314611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Content Placeholder 13"/>
          <p:cNvGraphicFramePr>
            <a:graphicFrameLocks noGrp="1"/>
          </p:cNvGraphicFramePr>
          <p:nvPr>
            <p:ph idx="1"/>
          </p:nvPr>
        </p:nvGraphicFramePr>
        <p:xfrm>
          <a:off x="3143250" y="1612900"/>
          <a:ext cx="5265738" cy="1920875"/>
        </p:xfrm>
        <a:graphic>
          <a:graphicData uri="http://schemas.openxmlformats.org/drawingml/2006/chart">
            <c:chart xmlns:c="http://schemas.openxmlformats.org/drawingml/2006/chart" xmlns:r="http://schemas.openxmlformats.org/officeDocument/2006/relationships" r:id="rId2"/>
          </a:graphicData>
        </a:graphic>
      </p:graphicFrame>
      <p:sp>
        <p:nvSpPr>
          <p:cNvPr id="19" name="Title 7"/>
          <p:cNvSpPr>
            <a:spLocks noGrp="1"/>
          </p:cNvSpPr>
          <p:nvPr>
            <p:ph type="title"/>
          </p:nvPr>
        </p:nvSpPr>
        <p:spPr/>
        <p:txBody>
          <a:bodyPr/>
          <a:lstStyle/>
          <a:p>
            <a:r>
              <a:rPr lang="en-US" dirty="0"/>
              <a:t>Global WXYZ Market Absolute $ Opportunity By </a:t>
            </a:r>
            <a:r>
              <a:rPr lang="en-US" dirty="0">
                <a:effectLst>
                  <a:glow>
                    <a:srgbClr val="000000"/>
                  </a:glow>
                  <a:outerShdw sx="0" sy="0">
                    <a:srgbClr val="000000"/>
                  </a:outerShdw>
                  <a:reflection stA="0" endPos="0" fadeDir="0" sx="0" sy="0"/>
                </a:effectLst>
              </a:rPr>
              <a:t>Region</a:t>
            </a:r>
            <a:endParaRPr lang="en-US" dirty="0"/>
          </a:p>
        </p:txBody>
      </p:sp>
      <p:sp>
        <p:nvSpPr>
          <p:cNvPr id="7" name="Text Placeholder 6"/>
          <p:cNvSpPr>
            <a:spLocks noGrp="1"/>
          </p:cNvSpPr>
          <p:nvPr>
            <p:ph type="body" idx="12"/>
          </p:nvPr>
        </p:nvSpPr>
        <p:spPr/>
        <p:txBody>
          <a:bodyPr/>
          <a:lstStyle/>
          <a:p>
            <a:r>
              <a:rPr lang="en-US" sz="1100" dirty="0"/>
              <a:t>Figure xx: Global WXYZ Market Absolute $ Opportunity by Middle East and Africa Segment, 2019 – 2034</a:t>
            </a:r>
          </a:p>
        </p:txBody>
      </p:sp>
      <p:sp>
        <p:nvSpPr>
          <p:cNvPr id="10" name="Content Placeholder 9"/>
          <p:cNvSpPr>
            <a:spLocks noGrp="1"/>
          </p:cNvSpPr>
          <p:nvPr>
            <p:ph idx="17"/>
          </p:nvPr>
        </p:nvSpPr>
        <p:spPr/>
        <p:txBody>
          <a:bodyPr/>
          <a:lstStyle/>
          <a:p>
            <a:r>
              <a:rPr lang="en-US" dirty="0"/>
              <a:t>Middle East and Africa segment is expected to represent a total incremental $ opportunity of </a:t>
            </a:r>
            <a:r>
              <a:rPr lang="en-US" b="1" dirty="0"/>
              <a:t>US$ xx </a:t>
            </a:r>
            <a:r>
              <a:rPr lang="en-US" b="1" dirty="0" err="1"/>
              <a:t>Mn</a:t>
            </a:r>
            <a:r>
              <a:rPr lang="en-US" b="1" dirty="0"/>
              <a:t> </a:t>
            </a:r>
            <a:r>
              <a:rPr lang="en-US" dirty="0"/>
              <a:t>between 2024 and 2034. </a:t>
            </a:r>
          </a:p>
          <a:p>
            <a:pPr>
              <a:lnSpc>
                <a:spcPct val="100000"/>
              </a:lnSpc>
            </a:pPr>
            <a:r>
              <a:rPr lang="en-US" dirty="0"/>
              <a:t>The segment is anticipated to reach a value of </a:t>
            </a:r>
            <a:r>
              <a:rPr lang="en-US" b="1" dirty="0"/>
              <a:t>US$ xx </a:t>
            </a:r>
            <a:r>
              <a:rPr lang="en-US" b="1" dirty="0" err="1"/>
              <a:t>Mn</a:t>
            </a:r>
            <a:r>
              <a:rPr lang="en-US" b="1" dirty="0"/>
              <a:t> </a:t>
            </a:r>
            <a:r>
              <a:rPr lang="en-US" dirty="0"/>
              <a:t>by the end of 2034.</a:t>
            </a:r>
          </a:p>
          <a:p>
            <a:endParaRPr lang="en-US" dirty="0"/>
          </a:p>
        </p:txBody>
      </p:sp>
      <p:sp>
        <p:nvSpPr>
          <p:cNvPr id="11" name="Text Placeholder 10"/>
          <p:cNvSpPr>
            <a:spLocks noGrp="1"/>
          </p:cNvSpPr>
          <p:nvPr>
            <p:ph type="body" idx="18"/>
          </p:nvPr>
        </p:nvSpPr>
        <p:spPr/>
        <p:txBody>
          <a:bodyPr/>
          <a:lstStyle/>
          <a:p>
            <a:r>
              <a:rPr lang="en-US" dirty="0"/>
              <a:t>Key Takeaways </a:t>
            </a:r>
          </a:p>
        </p:txBody>
      </p:sp>
      <p:sp>
        <p:nvSpPr>
          <p:cNvPr id="14" name="Text Placeholder 13"/>
          <p:cNvSpPr>
            <a:spLocks noGrp="1"/>
          </p:cNvSpPr>
          <p:nvPr>
            <p:ph type="body" sz="quarter" idx="21"/>
          </p:nvPr>
        </p:nvSpPr>
        <p:spPr/>
        <p:txBody>
          <a:bodyPr/>
          <a:lstStyle/>
          <a:p>
            <a:r>
              <a:rPr lang="en-US" dirty="0"/>
              <a:t>Middle East and Africa</a:t>
            </a:r>
          </a:p>
        </p:txBody>
      </p:sp>
      <p:sp>
        <p:nvSpPr>
          <p:cNvPr id="18" name="TextBox 1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206</a:t>
            </a:fld>
            <a:endParaRPr lang="en-GB" dirty="0"/>
          </a:p>
        </p:txBody>
      </p:sp>
    </p:spTree>
    <p:extLst>
      <p:ext uri="{BB962C8B-B14F-4D97-AF65-F5344CB8AC3E}">
        <p14:creationId xmlns:p14="http://schemas.microsoft.com/office/powerpoint/2010/main" val="2383955420"/>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207</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207</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North America WXYZ Market Analysis 2019 – 2023 and Forecast, 2024 – 2034</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207</a:t>
            </a:r>
          </a:p>
        </p:txBody>
      </p:sp>
    </p:spTree>
    <p:extLst>
      <p:ext uri="{BB962C8B-B14F-4D97-AF65-F5344CB8AC3E}">
        <p14:creationId xmlns:p14="http://schemas.microsoft.com/office/powerpoint/2010/main" val="2269711483"/>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Introduction</a:t>
            </a:r>
          </a:p>
        </p:txBody>
      </p:sp>
      <p:grpSp>
        <p:nvGrpSpPr>
          <p:cNvPr id="6" name="Group 5"/>
          <p:cNvGrpSpPr>
            <a:grpSpLocks/>
          </p:cNvGrpSpPr>
          <p:nvPr/>
        </p:nvGrpSpPr>
        <p:grpSpPr bwMode="auto">
          <a:xfrm>
            <a:off x="4199256" y="3530036"/>
            <a:ext cx="7519132" cy="2513907"/>
            <a:chOff x="96" y="1152"/>
            <a:chExt cx="5568" cy="2642"/>
          </a:xfrm>
          <a:solidFill>
            <a:srgbClr val="EBF2F9"/>
          </a:solidFill>
        </p:grpSpPr>
        <p:sp>
          <p:nvSpPr>
            <p:cNvPr id="7" name="Freeform 6"/>
            <p:cNvSpPr>
              <a:spLocks/>
            </p:cNvSpPr>
            <p:nvPr/>
          </p:nvSpPr>
          <p:spPr bwMode="auto">
            <a:xfrm>
              <a:off x="4358" y="2676"/>
              <a:ext cx="6" cy="5"/>
            </a:xfrm>
            <a:custGeom>
              <a:avLst/>
              <a:gdLst/>
              <a:ahLst/>
              <a:cxnLst>
                <a:cxn ang="0">
                  <a:pos x="6" y="1"/>
                </a:cxn>
                <a:cxn ang="0">
                  <a:pos x="0" y="2"/>
                </a:cxn>
                <a:cxn ang="0">
                  <a:pos x="0" y="0"/>
                </a:cxn>
                <a:cxn ang="0">
                  <a:pos x="6" y="1"/>
                </a:cxn>
              </a:cxnLst>
              <a:rect l="0" t="0" r="r" b="b"/>
              <a:pathLst>
                <a:path w="6" h="2">
                  <a:moveTo>
                    <a:pt x="6" y="1"/>
                  </a:moveTo>
                  <a:lnTo>
                    <a:pt x="0" y="2"/>
                  </a:lnTo>
                  <a:lnTo>
                    <a:pt x="0" y="0"/>
                  </a:lnTo>
                  <a:lnTo>
                    <a:pt x="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 name="Freeform 7"/>
            <p:cNvSpPr>
              <a:spLocks/>
            </p:cNvSpPr>
            <p:nvPr/>
          </p:nvSpPr>
          <p:spPr bwMode="auto">
            <a:xfrm>
              <a:off x="4451" y="2619"/>
              <a:ext cx="175" cy="166"/>
            </a:xfrm>
            <a:custGeom>
              <a:avLst/>
              <a:gdLst/>
              <a:ahLst/>
              <a:cxnLst>
                <a:cxn ang="0">
                  <a:pos x="158" y="62"/>
                </a:cxn>
                <a:cxn ang="0">
                  <a:pos x="144" y="61"/>
                </a:cxn>
                <a:cxn ang="0">
                  <a:pos x="143" y="60"/>
                </a:cxn>
                <a:cxn ang="0">
                  <a:pos x="136" y="84"/>
                </a:cxn>
                <a:cxn ang="0">
                  <a:pos x="138" y="85"/>
                </a:cxn>
                <a:cxn ang="0">
                  <a:pos x="134" y="94"/>
                </a:cxn>
                <a:cxn ang="0">
                  <a:pos x="125" y="98"/>
                </a:cxn>
                <a:cxn ang="0">
                  <a:pos x="118" y="110"/>
                </a:cxn>
                <a:cxn ang="0">
                  <a:pos x="118" y="118"/>
                </a:cxn>
                <a:cxn ang="0">
                  <a:pos x="121" y="118"/>
                </a:cxn>
                <a:cxn ang="0">
                  <a:pos x="116" y="124"/>
                </a:cxn>
                <a:cxn ang="0">
                  <a:pos x="114" y="130"/>
                </a:cxn>
                <a:cxn ang="0">
                  <a:pos x="110" y="143"/>
                </a:cxn>
                <a:cxn ang="0">
                  <a:pos x="89" y="150"/>
                </a:cxn>
                <a:cxn ang="0">
                  <a:pos x="86" y="140"/>
                </a:cxn>
                <a:cxn ang="0">
                  <a:pos x="84" y="138"/>
                </a:cxn>
                <a:cxn ang="0">
                  <a:pos x="73" y="138"/>
                </a:cxn>
                <a:cxn ang="0">
                  <a:pos x="64" y="133"/>
                </a:cxn>
                <a:cxn ang="0">
                  <a:pos x="54" y="138"/>
                </a:cxn>
                <a:cxn ang="0">
                  <a:pos x="46" y="139"/>
                </a:cxn>
                <a:cxn ang="0">
                  <a:pos x="42" y="130"/>
                </a:cxn>
                <a:cxn ang="0">
                  <a:pos x="29" y="132"/>
                </a:cxn>
                <a:cxn ang="0">
                  <a:pos x="30" y="131"/>
                </a:cxn>
                <a:cxn ang="0">
                  <a:pos x="26" y="132"/>
                </a:cxn>
                <a:cxn ang="0">
                  <a:pos x="19" y="130"/>
                </a:cxn>
                <a:cxn ang="0">
                  <a:pos x="16" y="112"/>
                </a:cxn>
                <a:cxn ang="0">
                  <a:pos x="16" y="98"/>
                </a:cxn>
                <a:cxn ang="0">
                  <a:pos x="6" y="90"/>
                </a:cxn>
                <a:cxn ang="0">
                  <a:pos x="7" y="90"/>
                </a:cxn>
                <a:cxn ang="0">
                  <a:pos x="4" y="82"/>
                </a:cxn>
                <a:cxn ang="0">
                  <a:pos x="4" y="77"/>
                </a:cxn>
                <a:cxn ang="0">
                  <a:pos x="0" y="62"/>
                </a:cxn>
                <a:cxn ang="0">
                  <a:pos x="5" y="53"/>
                </a:cxn>
                <a:cxn ang="0">
                  <a:pos x="2" y="54"/>
                </a:cxn>
                <a:cxn ang="0">
                  <a:pos x="11" y="41"/>
                </a:cxn>
                <a:cxn ang="0">
                  <a:pos x="14" y="53"/>
                </a:cxn>
                <a:cxn ang="0">
                  <a:pos x="30" y="62"/>
                </a:cxn>
                <a:cxn ang="0">
                  <a:pos x="50" y="58"/>
                </a:cxn>
                <a:cxn ang="0">
                  <a:pos x="56" y="50"/>
                </a:cxn>
                <a:cxn ang="0">
                  <a:pos x="77" y="55"/>
                </a:cxn>
                <a:cxn ang="0">
                  <a:pos x="90" y="49"/>
                </a:cxn>
                <a:cxn ang="0">
                  <a:pos x="97" y="34"/>
                </a:cxn>
                <a:cxn ang="0">
                  <a:pos x="101" y="25"/>
                </a:cxn>
                <a:cxn ang="0">
                  <a:pos x="104" y="12"/>
                </a:cxn>
                <a:cxn ang="0">
                  <a:pos x="108" y="0"/>
                </a:cxn>
                <a:cxn ang="0">
                  <a:pos x="122" y="1"/>
                </a:cxn>
                <a:cxn ang="0">
                  <a:pos x="136" y="4"/>
                </a:cxn>
                <a:cxn ang="0">
                  <a:pos x="134" y="6"/>
                </a:cxn>
                <a:cxn ang="0">
                  <a:pos x="134" y="7"/>
                </a:cxn>
                <a:cxn ang="0">
                  <a:pos x="138" y="13"/>
                </a:cxn>
                <a:cxn ang="0">
                  <a:pos x="134" y="12"/>
                </a:cxn>
                <a:cxn ang="0">
                  <a:pos x="130" y="13"/>
                </a:cxn>
                <a:cxn ang="0">
                  <a:pos x="132" y="20"/>
                </a:cxn>
                <a:cxn ang="0">
                  <a:pos x="144" y="38"/>
                </a:cxn>
                <a:cxn ang="0">
                  <a:pos x="142" y="44"/>
                </a:cxn>
                <a:cxn ang="0">
                  <a:pos x="150" y="53"/>
                </a:cxn>
                <a:cxn ang="0">
                  <a:pos x="158" y="62"/>
                </a:cxn>
              </a:cxnLst>
              <a:rect l="0" t="0" r="r" b="b"/>
              <a:pathLst>
                <a:path w="158" h="150">
                  <a:moveTo>
                    <a:pt x="158" y="62"/>
                  </a:moveTo>
                  <a:lnTo>
                    <a:pt x="144" y="61"/>
                  </a:lnTo>
                  <a:lnTo>
                    <a:pt x="143" y="60"/>
                  </a:lnTo>
                  <a:lnTo>
                    <a:pt x="136" y="84"/>
                  </a:lnTo>
                  <a:lnTo>
                    <a:pt x="138" y="85"/>
                  </a:lnTo>
                  <a:lnTo>
                    <a:pt x="134" y="94"/>
                  </a:lnTo>
                  <a:lnTo>
                    <a:pt x="125" y="98"/>
                  </a:lnTo>
                  <a:lnTo>
                    <a:pt x="118" y="110"/>
                  </a:lnTo>
                  <a:lnTo>
                    <a:pt x="118" y="118"/>
                  </a:lnTo>
                  <a:lnTo>
                    <a:pt x="121" y="118"/>
                  </a:lnTo>
                  <a:lnTo>
                    <a:pt x="116" y="124"/>
                  </a:lnTo>
                  <a:lnTo>
                    <a:pt x="114" y="130"/>
                  </a:lnTo>
                  <a:lnTo>
                    <a:pt x="110" y="143"/>
                  </a:lnTo>
                  <a:lnTo>
                    <a:pt x="89" y="150"/>
                  </a:lnTo>
                  <a:lnTo>
                    <a:pt x="86" y="140"/>
                  </a:lnTo>
                  <a:lnTo>
                    <a:pt x="84" y="138"/>
                  </a:lnTo>
                  <a:lnTo>
                    <a:pt x="73" y="138"/>
                  </a:lnTo>
                  <a:lnTo>
                    <a:pt x="64" y="133"/>
                  </a:lnTo>
                  <a:lnTo>
                    <a:pt x="54" y="138"/>
                  </a:lnTo>
                  <a:lnTo>
                    <a:pt x="46" y="139"/>
                  </a:lnTo>
                  <a:lnTo>
                    <a:pt x="42" y="130"/>
                  </a:lnTo>
                  <a:lnTo>
                    <a:pt x="29" y="132"/>
                  </a:lnTo>
                  <a:lnTo>
                    <a:pt x="30" y="131"/>
                  </a:lnTo>
                  <a:lnTo>
                    <a:pt x="26" y="132"/>
                  </a:lnTo>
                  <a:lnTo>
                    <a:pt x="19" y="130"/>
                  </a:lnTo>
                  <a:lnTo>
                    <a:pt x="16" y="112"/>
                  </a:lnTo>
                  <a:lnTo>
                    <a:pt x="16" y="98"/>
                  </a:lnTo>
                  <a:lnTo>
                    <a:pt x="6" y="90"/>
                  </a:lnTo>
                  <a:lnTo>
                    <a:pt x="7" y="90"/>
                  </a:lnTo>
                  <a:lnTo>
                    <a:pt x="4" y="82"/>
                  </a:lnTo>
                  <a:lnTo>
                    <a:pt x="4" y="77"/>
                  </a:lnTo>
                  <a:lnTo>
                    <a:pt x="0" y="62"/>
                  </a:lnTo>
                  <a:lnTo>
                    <a:pt x="5" y="53"/>
                  </a:lnTo>
                  <a:lnTo>
                    <a:pt x="2" y="54"/>
                  </a:lnTo>
                  <a:lnTo>
                    <a:pt x="11" y="41"/>
                  </a:lnTo>
                  <a:lnTo>
                    <a:pt x="14" y="53"/>
                  </a:lnTo>
                  <a:lnTo>
                    <a:pt x="30" y="62"/>
                  </a:lnTo>
                  <a:lnTo>
                    <a:pt x="50" y="58"/>
                  </a:lnTo>
                  <a:lnTo>
                    <a:pt x="56" y="50"/>
                  </a:lnTo>
                  <a:lnTo>
                    <a:pt x="77" y="55"/>
                  </a:lnTo>
                  <a:lnTo>
                    <a:pt x="90" y="49"/>
                  </a:lnTo>
                  <a:lnTo>
                    <a:pt x="97" y="34"/>
                  </a:lnTo>
                  <a:lnTo>
                    <a:pt x="101" y="25"/>
                  </a:lnTo>
                  <a:lnTo>
                    <a:pt x="104" y="12"/>
                  </a:lnTo>
                  <a:lnTo>
                    <a:pt x="108" y="0"/>
                  </a:lnTo>
                  <a:lnTo>
                    <a:pt x="122" y="1"/>
                  </a:lnTo>
                  <a:lnTo>
                    <a:pt x="136" y="4"/>
                  </a:lnTo>
                  <a:lnTo>
                    <a:pt x="134" y="6"/>
                  </a:lnTo>
                  <a:lnTo>
                    <a:pt x="134" y="7"/>
                  </a:lnTo>
                  <a:lnTo>
                    <a:pt x="138" y="13"/>
                  </a:lnTo>
                  <a:lnTo>
                    <a:pt x="134" y="12"/>
                  </a:lnTo>
                  <a:lnTo>
                    <a:pt x="130" y="13"/>
                  </a:lnTo>
                  <a:lnTo>
                    <a:pt x="132" y="20"/>
                  </a:lnTo>
                  <a:lnTo>
                    <a:pt x="144" y="38"/>
                  </a:lnTo>
                  <a:lnTo>
                    <a:pt x="142" y="44"/>
                  </a:lnTo>
                  <a:lnTo>
                    <a:pt x="150" y="53"/>
                  </a:lnTo>
                  <a:lnTo>
                    <a:pt x="158" y="6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 name="Freeform 8"/>
            <p:cNvSpPr>
              <a:spLocks/>
            </p:cNvSpPr>
            <p:nvPr/>
          </p:nvSpPr>
          <p:spPr bwMode="auto">
            <a:xfrm>
              <a:off x="4206" y="2594"/>
              <a:ext cx="194" cy="227"/>
            </a:xfrm>
            <a:custGeom>
              <a:avLst/>
              <a:gdLst/>
              <a:ahLst/>
              <a:cxnLst>
                <a:cxn ang="0">
                  <a:pos x="173" y="158"/>
                </a:cxn>
                <a:cxn ang="0">
                  <a:pos x="172" y="160"/>
                </a:cxn>
                <a:cxn ang="0">
                  <a:pos x="170" y="182"/>
                </a:cxn>
                <a:cxn ang="0">
                  <a:pos x="167" y="204"/>
                </a:cxn>
                <a:cxn ang="0">
                  <a:pos x="160" y="198"/>
                </a:cxn>
                <a:cxn ang="0">
                  <a:pos x="159" y="202"/>
                </a:cxn>
                <a:cxn ang="0">
                  <a:pos x="150" y="200"/>
                </a:cxn>
                <a:cxn ang="0">
                  <a:pos x="150" y="204"/>
                </a:cxn>
                <a:cxn ang="0">
                  <a:pos x="135" y="189"/>
                </a:cxn>
                <a:cxn ang="0">
                  <a:pos x="126" y="180"/>
                </a:cxn>
                <a:cxn ang="0">
                  <a:pos x="118" y="172"/>
                </a:cxn>
                <a:cxn ang="0">
                  <a:pos x="110" y="164"/>
                </a:cxn>
                <a:cxn ang="0">
                  <a:pos x="101" y="154"/>
                </a:cxn>
                <a:cxn ang="0">
                  <a:pos x="94" y="140"/>
                </a:cxn>
                <a:cxn ang="0">
                  <a:pos x="87" y="125"/>
                </a:cxn>
                <a:cxn ang="0">
                  <a:pos x="84" y="123"/>
                </a:cxn>
                <a:cxn ang="0">
                  <a:pos x="76" y="110"/>
                </a:cxn>
                <a:cxn ang="0">
                  <a:pos x="68" y="96"/>
                </a:cxn>
                <a:cxn ang="0">
                  <a:pos x="63" y="84"/>
                </a:cxn>
                <a:cxn ang="0">
                  <a:pos x="58" y="72"/>
                </a:cxn>
                <a:cxn ang="0">
                  <a:pos x="45" y="59"/>
                </a:cxn>
                <a:cxn ang="0">
                  <a:pos x="35" y="45"/>
                </a:cxn>
                <a:cxn ang="0">
                  <a:pos x="23" y="33"/>
                </a:cxn>
                <a:cxn ang="0">
                  <a:pos x="11" y="21"/>
                </a:cxn>
                <a:cxn ang="0">
                  <a:pos x="0" y="0"/>
                </a:cxn>
                <a:cxn ang="0">
                  <a:pos x="11" y="2"/>
                </a:cxn>
                <a:cxn ang="0">
                  <a:pos x="23" y="4"/>
                </a:cxn>
                <a:cxn ang="0">
                  <a:pos x="35" y="6"/>
                </a:cxn>
                <a:cxn ang="0">
                  <a:pos x="50" y="23"/>
                </a:cxn>
                <a:cxn ang="0">
                  <a:pos x="51" y="27"/>
                </a:cxn>
                <a:cxn ang="0">
                  <a:pos x="65" y="40"/>
                </a:cxn>
                <a:cxn ang="0">
                  <a:pos x="80" y="52"/>
                </a:cxn>
                <a:cxn ang="0">
                  <a:pos x="92" y="65"/>
                </a:cxn>
                <a:cxn ang="0">
                  <a:pos x="90" y="59"/>
                </a:cxn>
                <a:cxn ang="0">
                  <a:pos x="105" y="70"/>
                </a:cxn>
                <a:cxn ang="0">
                  <a:pos x="113" y="81"/>
                </a:cxn>
                <a:cxn ang="0">
                  <a:pos x="128" y="90"/>
                </a:cxn>
                <a:cxn ang="0">
                  <a:pos x="130" y="92"/>
                </a:cxn>
                <a:cxn ang="0">
                  <a:pos x="140" y="100"/>
                </a:cxn>
                <a:cxn ang="0">
                  <a:pos x="132" y="104"/>
                </a:cxn>
                <a:cxn ang="0">
                  <a:pos x="134" y="107"/>
                </a:cxn>
                <a:cxn ang="0">
                  <a:pos x="132" y="110"/>
                </a:cxn>
                <a:cxn ang="0">
                  <a:pos x="135" y="116"/>
                </a:cxn>
                <a:cxn ang="0">
                  <a:pos x="147" y="118"/>
                </a:cxn>
                <a:cxn ang="0">
                  <a:pos x="150" y="131"/>
                </a:cxn>
                <a:cxn ang="0">
                  <a:pos x="153" y="136"/>
                </a:cxn>
                <a:cxn ang="0">
                  <a:pos x="153" y="143"/>
                </a:cxn>
                <a:cxn ang="0">
                  <a:pos x="166" y="143"/>
                </a:cxn>
                <a:cxn ang="0">
                  <a:pos x="173" y="158"/>
                </a:cxn>
              </a:cxnLst>
              <a:rect l="0" t="0" r="r" b="b"/>
              <a:pathLst>
                <a:path w="173" h="204">
                  <a:moveTo>
                    <a:pt x="173" y="158"/>
                  </a:moveTo>
                  <a:lnTo>
                    <a:pt x="172" y="160"/>
                  </a:lnTo>
                  <a:lnTo>
                    <a:pt x="170" y="182"/>
                  </a:lnTo>
                  <a:lnTo>
                    <a:pt x="167" y="204"/>
                  </a:lnTo>
                  <a:lnTo>
                    <a:pt x="160" y="198"/>
                  </a:lnTo>
                  <a:lnTo>
                    <a:pt x="159" y="202"/>
                  </a:lnTo>
                  <a:lnTo>
                    <a:pt x="150" y="200"/>
                  </a:lnTo>
                  <a:lnTo>
                    <a:pt x="150" y="204"/>
                  </a:lnTo>
                  <a:lnTo>
                    <a:pt x="135" y="189"/>
                  </a:lnTo>
                  <a:lnTo>
                    <a:pt x="126" y="180"/>
                  </a:lnTo>
                  <a:lnTo>
                    <a:pt x="118" y="172"/>
                  </a:lnTo>
                  <a:lnTo>
                    <a:pt x="110" y="164"/>
                  </a:lnTo>
                  <a:lnTo>
                    <a:pt x="101" y="154"/>
                  </a:lnTo>
                  <a:lnTo>
                    <a:pt x="94" y="140"/>
                  </a:lnTo>
                  <a:lnTo>
                    <a:pt x="87" y="125"/>
                  </a:lnTo>
                  <a:lnTo>
                    <a:pt x="84" y="123"/>
                  </a:lnTo>
                  <a:lnTo>
                    <a:pt x="76" y="110"/>
                  </a:lnTo>
                  <a:lnTo>
                    <a:pt x="68" y="96"/>
                  </a:lnTo>
                  <a:lnTo>
                    <a:pt x="63" y="84"/>
                  </a:lnTo>
                  <a:lnTo>
                    <a:pt x="58" y="72"/>
                  </a:lnTo>
                  <a:lnTo>
                    <a:pt x="45" y="59"/>
                  </a:lnTo>
                  <a:lnTo>
                    <a:pt x="35" y="45"/>
                  </a:lnTo>
                  <a:lnTo>
                    <a:pt x="23" y="33"/>
                  </a:lnTo>
                  <a:lnTo>
                    <a:pt x="11" y="21"/>
                  </a:lnTo>
                  <a:lnTo>
                    <a:pt x="0" y="0"/>
                  </a:lnTo>
                  <a:lnTo>
                    <a:pt x="11" y="2"/>
                  </a:lnTo>
                  <a:lnTo>
                    <a:pt x="23" y="4"/>
                  </a:lnTo>
                  <a:lnTo>
                    <a:pt x="35" y="6"/>
                  </a:lnTo>
                  <a:lnTo>
                    <a:pt x="50" y="23"/>
                  </a:lnTo>
                  <a:lnTo>
                    <a:pt x="51" y="27"/>
                  </a:lnTo>
                  <a:lnTo>
                    <a:pt x="65" y="40"/>
                  </a:lnTo>
                  <a:lnTo>
                    <a:pt x="80" y="52"/>
                  </a:lnTo>
                  <a:lnTo>
                    <a:pt x="92" y="65"/>
                  </a:lnTo>
                  <a:lnTo>
                    <a:pt x="90" y="59"/>
                  </a:lnTo>
                  <a:lnTo>
                    <a:pt x="105" y="70"/>
                  </a:lnTo>
                  <a:lnTo>
                    <a:pt x="113" y="81"/>
                  </a:lnTo>
                  <a:lnTo>
                    <a:pt x="128" y="90"/>
                  </a:lnTo>
                  <a:lnTo>
                    <a:pt x="130" y="92"/>
                  </a:lnTo>
                  <a:lnTo>
                    <a:pt x="140" y="100"/>
                  </a:lnTo>
                  <a:lnTo>
                    <a:pt x="132" y="104"/>
                  </a:lnTo>
                  <a:lnTo>
                    <a:pt x="134" y="107"/>
                  </a:lnTo>
                  <a:lnTo>
                    <a:pt x="132" y="110"/>
                  </a:lnTo>
                  <a:lnTo>
                    <a:pt x="135" y="116"/>
                  </a:lnTo>
                  <a:lnTo>
                    <a:pt x="147" y="118"/>
                  </a:lnTo>
                  <a:lnTo>
                    <a:pt x="150" y="131"/>
                  </a:lnTo>
                  <a:lnTo>
                    <a:pt x="153" y="136"/>
                  </a:lnTo>
                  <a:lnTo>
                    <a:pt x="153" y="143"/>
                  </a:lnTo>
                  <a:lnTo>
                    <a:pt x="166" y="143"/>
                  </a:lnTo>
                  <a:lnTo>
                    <a:pt x="173" y="15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 name="Freeform 9"/>
            <p:cNvSpPr>
              <a:spLocks/>
            </p:cNvSpPr>
            <p:nvPr/>
          </p:nvSpPr>
          <p:spPr bwMode="auto">
            <a:xfrm>
              <a:off x="4842" y="2714"/>
              <a:ext cx="173" cy="173"/>
            </a:xfrm>
            <a:custGeom>
              <a:avLst/>
              <a:gdLst/>
              <a:ahLst/>
              <a:cxnLst>
                <a:cxn ang="0">
                  <a:pos x="118" y="132"/>
                </a:cxn>
                <a:cxn ang="0">
                  <a:pos x="122" y="138"/>
                </a:cxn>
                <a:cxn ang="0">
                  <a:pos x="139" y="147"/>
                </a:cxn>
                <a:cxn ang="0">
                  <a:pos x="150" y="142"/>
                </a:cxn>
                <a:cxn ang="0">
                  <a:pos x="152" y="113"/>
                </a:cxn>
                <a:cxn ang="0">
                  <a:pos x="154" y="84"/>
                </a:cxn>
                <a:cxn ang="0">
                  <a:pos x="156" y="54"/>
                </a:cxn>
                <a:cxn ang="0">
                  <a:pos x="145" y="37"/>
                </a:cxn>
                <a:cxn ang="0">
                  <a:pos x="106" y="19"/>
                </a:cxn>
                <a:cxn ang="0">
                  <a:pos x="81" y="36"/>
                </a:cxn>
                <a:cxn ang="0">
                  <a:pos x="58" y="47"/>
                </a:cxn>
                <a:cxn ang="0">
                  <a:pos x="51" y="42"/>
                </a:cxn>
                <a:cxn ang="0">
                  <a:pos x="48" y="13"/>
                </a:cxn>
                <a:cxn ang="0">
                  <a:pos x="31" y="4"/>
                </a:cxn>
                <a:cxn ang="0">
                  <a:pos x="2" y="10"/>
                </a:cxn>
                <a:cxn ang="0">
                  <a:pos x="12" y="23"/>
                </a:cxn>
                <a:cxn ang="0">
                  <a:pos x="31" y="34"/>
                </a:cxn>
                <a:cxn ang="0">
                  <a:pos x="42" y="36"/>
                </a:cxn>
                <a:cxn ang="0">
                  <a:pos x="39" y="39"/>
                </a:cxn>
                <a:cxn ang="0">
                  <a:pos x="20" y="42"/>
                </a:cxn>
                <a:cxn ang="0">
                  <a:pos x="27" y="57"/>
                </a:cxn>
                <a:cxn ang="0">
                  <a:pos x="33" y="65"/>
                </a:cxn>
                <a:cxn ang="0">
                  <a:pos x="40" y="59"/>
                </a:cxn>
                <a:cxn ang="0">
                  <a:pos x="57" y="64"/>
                </a:cxn>
                <a:cxn ang="0">
                  <a:pos x="68" y="73"/>
                </a:cxn>
                <a:cxn ang="0">
                  <a:pos x="92" y="83"/>
                </a:cxn>
                <a:cxn ang="0">
                  <a:pos x="109" y="95"/>
                </a:cxn>
                <a:cxn ang="0">
                  <a:pos x="122" y="119"/>
                </a:cxn>
                <a:cxn ang="0">
                  <a:pos x="122" y="123"/>
                </a:cxn>
                <a:cxn ang="0">
                  <a:pos x="117" y="129"/>
                </a:cxn>
                <a:cxn ang="0">
                  <a:pos x="97" y="144"/>
                </a:cxn>
                <a:cxn ang="0">
                  <a:pos x="118" y="131"/>
                </a:cxn>
              </a:cxnLst>
              <a:rect l="0" t="0" r="r" b="b"/>
              <a:pathLst>
                <a:path w="156" h="157">
                  <a:moveTo>
                    <a:pt x="118" y="131"/>
                  </a:moveTo>
                  <a:lnTo>
                    <a:pt x="118" y="132"/>
                  </a:lnTo>
                  <a:lnTo>
                    <a:pt x="117" y="141"/>
                  </a:lnTo>
                  <a:lnTo>
                    <a:pt x="122" y="138"/>
                  </a:lnTo>
                  <a:lnTo>
                    <a:pt x="135" y="136"/>
                  </a:lnTo>
                  <a:lnTo>
                    <a:pt x="139" y="147"/>
                  </a:lnTo>
                  <a:lnTo>
                    <a:pt x="148" y="157"/>
                  </a:lnTo>
                  <a:lnTo>
                    <a:pt x="150" y="142"/>
                  </a:lnTo>
                  <a:lnTo>
                    <a:pt x="151" y="127"/>
                  </a:lnTo>
                  <a:lnTo>
                    <a:pt x="152" y="113"/>
                  </a:lnTo>
                  <a:lnTo>
                    <a:pt x="153" y="99"/>
                  </a:lnTo>
                  <a:lnTo>
                    <a:pt x="154" y="84"/>
                  </a:lnTo>
                  <a:lnTo>
                    <a:pt x="154" y="69"/>
                  </a:lnTo>
                  <a:lnTo>
                    <a:pt x="156" y="54"/>
                  </a:lnTo>
                  <a:lnTo>
                    <a:pt x="156" y="40"/>
                  </a:lnTo>
                  <a:lnTo>
                    <a:pt x="145" y="37"/>
                  </a:lnTo>
                  <a:lnTo>
                    <a:pt x="126" y="28"/>
                  </a:lnTo>
                  <a:lnTo>
                    <a:pt x="106" y="19"/>
                  </a:lnTo>
                  <a:lnTo>
                    <a:pt x="96" y="28"/>
                  </a:lnTo>
                  <a:lnTo>
                    <a:pt x="81" y="36"/>
                  </a:lnTo>
                  <a:lnTo>
                    <a:pt x="64" y="53"/>
                  </a:lnTo>
                  <a:lnTo>
                    <a:pt x="58" y="47"/>
                  </a:lnTo>
                  <a:lnTo>
                    <a:pt x="52" y="39"/>
                  </a:lnTo>
                  <a:lnTo>
                    <a:pt x="51" y="42"/>
                  </a:lnTo>
                  <a:lnTo>
                    <a:pt x="48" y="23"/>
                  </a:lnTo>
                  <a:lnTo>
                    <a:pt x="48" y="13"/>
                  </a:lnTo>
                  <a:lnTo>
                    <a:pt x="46" y="6"/>
                  </a:lnTo>
                  <a:lnTo>
                    <a:pt x="31" y="4"/>
                  </a:lnTo>
                  <a:lnTo>
                    <a:pt x="16" y="0"/>
                  </a:lnTo>
                  <a:lnTo>
                    <a:pt x="2" y="10"/>
                  </a:lnTo>
                  <a:lnTo>
                    <a:pt x="0" y="19"/>
                  </a:lnTo>
                  <a:lnTo>
                    <a:pt x="12" y="23"/>
                  </a:lnTo>
                  <a:lnTo>
                    <a:pt x="20" y="34"/>
                  </a:lnTo>
                  <a:lnTo>
                    <a:pt x="31" y="34"/>
                  </a:lnTo>
                  <a:lnTo>
                    <a:pt x="43" y="33"/>
                  </a:lnTo>
                  <a:lnTo>
                    <a:pt x="42" y="36"/>
                  </a:lnTo>
                  <a:lnTo>
                    <a:pt x="40" y="39"/>
                  </a:lnTo>
                  <a:lnTo>
                    <a:pt x="39" y="39"/>
                  </a:lnTo>
                  <a:lnTo>
                    <a:pt x="34" y="39"/>
                  </a:lnTo>
                  <a:lnTo>
                    <a:pt x="20" y="42"/>
                  </a:lnTo>
                  <a:lnTo>
                    <a:pt x="14" y="46"/>
                  </a:lnTo>
                  <a:lnTo>
                    <a:pt x="27" y="57"/>
                  </a:lnTo>
                  <a:lnTo>
                    <a:pt x="25" y="64"/>
                  </a:lnTo>
                  <a:lnTo>
                    <a:pt x="33" y="65"/>
                  </a:lnTo>
                  <a:lnTo>
                    <a:pt x="43" y="48"/>
                  </a:lnTo>
                  <a:lnTo>
                    <a:pt x="40" y="59"/>
                  </a:lnTo>
                  <a:lnTo>
                    <a:pt x="54" y="64"/>
                  </a:lnTo>
                  <a:lnTo>
                    <a:pt x="57" y="64"/>
                  </a:lnTo>
                  <a:lnTo>
                    <a:pt x="56" y="70"/>
                  </a:lnTo>
                  <a:lnTo>
                    <a:pt x="68" y="73"/>
                  </a:lnTo>
                  <a:lnTo>
                    <a:pt x="80" y="78"/>
                  </a:lnTo>
                  <a:lnTo>
                    <a:pt x="92" y="83"/>
                  </a:lnTo>
                  <a:lnTo>
                    <a:pt x="103" y="88"/>
                  </a:lnTo>
                  <a:lnTo>
                    <a:pt x="109" y="95"/>
                  </a:lnTo>
                  <a:lnTo>
                    <a:pt x="117" y="115"/>
                  </a:lnTo>
                  <a:lnTo>
                    <a:pt x="122" y="119"/>
                  </a:lnTo>
                  <a:lnTo>
                    <a:pt x="114" y="119"/>
                  </a:lnTo>
                  <a:lnTo>
                    <a:pt x="122" y="123"/>
                  </a:lnTo>
                  <a:lnTo>
                    <a:pt x="115" y="124"/>
                  </a:lnTo>
                  <a:lnTo>
                    <a:pt x="117" y="129"/>
                  </a:lnTo>
                  <a:lnTo>
                    <a:pt x="106" y="127"/>
                  </a:lnTo>
                  <a:lnTo>
                    <a:pt x="97" y="144"/>
                  </a:lnTo>
                  <a:lnTo>
                    <a:pt x="111" y="141"/>
                  </a:lnTo>
                  <a:lnTo>
                    <a:pt x="118" y="1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 name="Freeform 10"/>
            <p:cNvSpPr>
              <a:spLocks/>
            </p:cNvSpPr>
            <p:nvPr/>
          </p:nvSpPr>
          <p:spPr bwMode="auto">
            <a:xfrm>
              <a:off x="4626" y="2672"/>
              <a:ext cx="111" cy="147"/>
            </a:xfrm>
            <a:custGeom>
              <a:avLst/>
              <a:gdLst/>
              <a:ahLst/>
              <a:cxnLst>
                <a:cxn ang="0">
                  <a:pos x="101" y="4"/>
                </a:cxn>
                <a:cxn ang="0">
                  <a:pos x="96" y="0"/>
                </a:cxn>
                <a:cxn ang="0">
                  <a:pos x="82" y="16"/>
                </a:cxn>
                <a:cxn ang="0">
                  <a:pos x="61" y="12"/>
                </a:cxn>
                <a:cxn ang="0">
                  <a:pos x="41" y="8"/>
                </a:cxn>
                <a:cxn ang="0">
                  <a:pos x="31" y="8"/>
                </a:cxn>
                <a:cxn ang="0">
                  <a:pos x="25" y="16"/>
                </a:cxn>
                <a:cxn ang="0">
                  <a:pos x="22" y="16"/>
                </a:cxn>
                <a:cxn ang="0">
                  <a:pos x="15" y="30"/>
                </a:cxn>
                <a:cxn ang="0">
                  <a:pos x="16" y="46"/>
                </a:cxn>
                <a:cxn ang="0">
                  <a:pos x="13" y="43"/>
                </a:cxn>
                <a:cxn ang="0">
                  <a:pos x="7" y="60"/>
                </a:cxn>
                <a:cxn ang="0">
                  <a:pos x="0" y="78"/>
                </a:cxn>
                <a:cxn ang="0">
                  <a:pos x="1" y="94"/>
                </a:cxn>
                <a:cxn ang="0">
                  <a:pos x="9" y="95"/>
                </a:cxn>
                <a:cxn ang="0">
                  <a:pos x="9" y="108"/>
                </a:cxn>
                <a:cxn ang="0">
                  <a:pos x="7" y="121"/>
                </a:cxn>
                <a:cxn ang="0">
                  <a:pos x="9" y="132"/>
                </a:cxn>
                <a:cxn ang="0">
                  <a:pos x="23" y="128"/>
                </a:cxn>
                <a:cxn ang="0">
                  <a:pos x="22" y="107"/>
                </a:cxn>
                <a:cxn ang="0">
                  <a:pos x="22" y="85"/>
                </a:cxn>
                <a:cxn ang="0">
                  <a:pos x="31" y="78"/>
                </a:cxn>
                <a:cxn ang="0">
                  <a:pos x="33" y="89"/>
                </a:cxn>
                <a:cxn ang="0">
                  <a:pos x="34" y="96"/>
                </a:cxn>
                <a:cxn ang="0">
                  <a:pos x="41" y="106"/>
                </a:cxn>
                <a:cxn ang="0">
                  <a:pos x="43" y="116"/>
                </a:cxn>
                <a:cxn ang="0">
                  <a:pos x="48" y="114"/>
                </a:cxn>
                <a:cxn ang="0">
                  <a:pos x="59" y="108"/>
                </a:cxn>
                <a:cxn ang="0">
                  <a:pos x="63" y="106"/>
                </a:cxn>
                <a:cxn ang="0">
                  <a:pos x="53" y="91"/>
                </a:cxn>
                <a:cxn ang="0">
                  <a:pos x="55" y="86"/>
                </a:cxn>
                <a:cxn ang="0">
                  <a:pos x="47" y="74"/>
                </a:cxn>
                <a:cxn ang="0">
                  <a:pos x="40" y="62"/>
                </a:cxn>
                <a:cxn ang="0">
                  <a:pos x="46" y="64"/>
                </a:cxn>
                <a:cxn ang="0">
                  <a:pos x="57" y="54"/>
                </a:cxn>
                <a:cxn ang="0">
                  <a:pos x="69" y="46"/>
                </a:cxn>
                <a:cxn ang="0">
                  <a:pos x="72" y="46"/>
                </a:cxn>
                <a:cxn ang="0">
                  <a:pos x="70" y="40"/>
                </a:cxn>
                <a:cxn ang="0">
                  <a:pos x="64" y="42"/>
                </a:cxn>
                <a:cxn ang="0">
                  <a:pos x="45" y="46"/>
                </a:cxn>
                <a:cxn ang="0">
                  <a:pos x="31" y="54"/>
                </a:cxn>
                <a:cxn ang="0">
                  <a:pos x="19" y="37"/>
                </a:cxn>
                <a:cxn ang="0">
                  <a:pos x="25" y="22"/>
                </a:cxn>
                <a:cxn ang="0">
                  <a:pos x="47" y="23"/>
                </a:cxn>
                <a:cxn ang="0">
                  <a:pos x="70" y="24"/>
                </a:cxn>
                <a:cxn ang="0">
                  <a:pos x="91" y="19"/>
                </a:cxn>
                <a:cxn ang="0">
                  <a:pos x="101" y="4"/>
                </a:cxn>
              </a:cxnLst>
              <a:rect l="0" t="0" r="r" b="b"/>
              <a:pathLst>
                <a:path w="101" h="132">
                  <a:moveTo>
                    <a:pt x="101" y="4"/>
                  </a:moveTo>
                  <a:lnTo>
                    <a:pt x="96" y="0"/>
                  </a:lnTo>
                  <a:lnTo>
                    <a:pt x="82" y="16"/>
                  </a:lnTo>
                  <a:lnTo>
                    <a:pt x="61" y="12"/>
                  </a:lnTo>
                  <a:lnTo>
                    <a:pt x="41" y="8"/>
                  </a:lnTo>
                  <a:lnTo>
                    <a:pt x="31" y="8"/>
                  </a:lnTo>
                  <a:lnTo>
                    <a:pt x="25" y="16"/>
                  </a:lnTo>
                  <a:lnTo>
                    <a:pt x="22" y="16"/>
                  </a:lnTo>
                  <a:lnTo>
                    <a:pt x="15" y="30"/>
                  </a:lnTo>
                  <a:lnTo>
                    <a:pt x="16" y="46"/>
                  </a:lnTo>
                  <a:lnTo>
                    <a:pt x="13" y="43"/>
                  </a:lnTo>
                  <a:lnTo>
                    <a:pt x="7" y="60"/>
                  </a:lnTo>
                  <a:lnTo>
                    <a:pt x="0" y="78"/>
                  </a:lnTo>
                  <a:lnTo>
                    <a:pt x="1" y="94"/>
                  </a:lnTo>
                  <a:lnTo>
                    <a:pt x="9" y="95"/>
                  </a:lnTo>
                  <a:lnTo>
                    <a:pt x="9" y="108"/>
                  </a:lnTo>
                  <a:lnTo>
                    <a:pt x="7" y="121"/>
                  </a:lnTo>
                  <a:lnTo>
                    <a:pt x="9" y="132"/>
                  </a:lnTo>
                  <a:lnTo>
                    <a:pt x="23" y="128"/>
                  </a:lnTo>
                  <a:lnTo>
                    <a:pt x="22" y="107"/>
                  </a:lnTo>
                  <a:lnTo>
                    <a:pt x="22" y="85"/>
                  </a:lnTo>
                  <a:lnTo>
                    <a:pt x="31" y="78"/>
                  </a:lnTo>
                  <a:lnTo>
                    <a:pt x="33" y="89"/>
                  </a:lnTo>
                  <a:lnTo>
                    <a:pt x="34" y="96"/>
                  </a:lnTo>
                  <a:lnTo>
                    <a:pt x="41" y="106"/>
                  </a:lnTo>
                  <a:lnTo>
                    <a:pt x="43" y="116"/>
                  </a:lnTo>
                  <a:lnTo>
                    <a:pt x="48" y="114"/>
                  </a:lnTo>
                  <a:lnTo>
                    <a:pt x="59" y="108"/>
                  </a:lnTo>
                  <a:lnTo>
                    <a:pt x="63" y="106"/>
                  </a:lnTo>
                  <a:lnTo>
                    <a:pt x="53" y="91"/>
                  </a:lnTo>
                  <a:lnTo>
                    <a:pt x="55" y="86"/>
                  </a:lnTo>
                  <a:lnTo>
                    <a:pt x="47" y="74"/>
                  </a:lnTo>
                  <a:lnTo>
                    <a:pt x="40" y="62"/>
                  </a:lnTo>
                  <a:lnTo>
                    <a:pt x="46" y="64"/>
                  </a:lnTo>
                  <a:lnTo>
                    <a:pt x="57" y="54"/>
                  </a:lnTo>
                  <a:lnTo>
                    <a:pt x="69" y="46"/>
                  </a:lnTo>
                  <a:lnTo>
                    <a:pt x="72" y="46"/>
                  </a:lnTo>
                  <a:lnTo>
                    <a:pt x="70" y="40"/>
                  </a:lnTo>
                  <a:lnTo>
                    <a:pt x="64" y="42"/>
                  </a:lnTo>
                  <a:lnTo>
                    <a:pt x="45" y="46"/>
                  </a:lnTo>
                  <a:lnTo>
                    <a:pt x="31" y="54"/>
                  </a:lnTo>
                  <a:lnTo>
                    <a:pt x="19" y="37"/>
                  </a:lnTo>
                  <a:lnTo>
                    <a:pt x="25" y="22"/>
                  </a:lnTo>
                  <a:lnTo>
                    <a:pt x="47" y="23"/>
                  </a:lnTo>
                  <a:lnTo>
                    <a:pt x="70" y="24"/>
                  </a:lnTo>
                  <a:lnTo>
                    <a:pt x="91" y="19"/>
                  </a:lnTo>
                  <a:lnTo>
                    <a:pt x="10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 name="Freeform 11"/>
            <p:cNvSpPr>
              <a:spLocks/>
            </p:cNvSpPr>
            <p:nvPr/>
          </p:nvSpPr>
          <p:spPr bwMode="auto">
            <a:xfrm>
              <a:off x="4382" y="2825"/>
              <a:ext cx="162" cy="56"/>
            </a:xfrm>
            <a:custGeom>
              <a:avLst/>
              <a:gdLst/>
              <a:ahLst/>
              <a:cxnLst>
                <a:cxn ang="0">
                  <a:pos x="145" y="49"/>
                </a:cxn>
                <a:cxn ang="0">
                  <a:pos x="143" y="47"/>
                </a:cxn>
                <a:cxn ang="0">
                  <a:pos x="144" y="32"/>
                </a:cxn>
                <a:cxn ang="0">
                  <a:pos x="132" y="31"/>
                </a:cxn>
                <a:cxn ang="0">
                  <a:pos x="120" y="29"/>
                </a:cxn>
                <a:cxn ang="0">
                  <a:pos x="116" y="19"/>
                </a:cxn>
                <a:cxn ang="0">
                  <a:pos x="97" y="12"/>
                </a:cxn>
                <a:cxn ang="0">
                  <a:pos x="90" y="7"/>
                </a:cxn>
                <a:cxn ang="0">
                  <a:pos x="83" y="16"/>
                </a:cxn>
                <a:cxn ang="0">
                  <a:pos x="71" y="16"/>
                </a:cxn>
                <a:cxn ang="0">
                  <a:pos x="57" y="16"/>
                </a:cxn>
                <a:cxn ang="0">
                  <a:pos x="51" y="8"/>
                </a:cxn>
                <a:cxn ang="0">
                  <a:pos x="33" y="0"/>
                </a:cxn>
                <a:cxn ang="0">
                  <a:pos x="13" y="0"/>
                </a:cxn>
                <a:cxn ang="0">
                  <a:pos x="5" y="11"/>
                </a:cxn>
                <a:cxn ang="0">
                  <a:pos x="0" y="13"/>
                </a:cxn>
                <a:cxn ang="0">
                  <a:pos x="17" y="18"/>
                </a:cxn>
                <a:cxn ang="0">
                  <a:pos x="17" y="22"/>
                </a:cxn>
                <a:cxn ang="0">
                  <a:pos x="32" y="26"/>
                </a:cxn>
                <a:cxn ang="0">
                  <a:pos x="49" y="30"/>
                </a:cxn>
                <a:cxn ang="0">
                  <a:pos x="63" y="34"/>
                </a:cxn>
                <a:cxn ang="0">
                  <a:pos x="79" y="37"/>
                </a:cxn>
                <a:cxn ang="0">
                  <a:pos x="99" y="40"/>
                </a:cxn>
                <a:cxn ang="0">
                  <a:pos x="119" y="42"/>
                </a:cxn>
                <a:cxn ang="0">
                  <a:pos x="132" y="46"/>
                </a:cxn>
                <a:cxn ang="0">
                  <a:pos x="145" y="49"/>
                </a:cxn>
              </a:cxnLst>
              <a:rect l="0" t="0" r="r" b="b"/>
              <a:pathLst>
                <a:path w="145" h="49">
                  <a:moveTo>
                    <a:pt x="145" y="49"/>
                  </a:moveTo>
                  <a:lnTo>
                    <a:pt x="143" y="47"/>
                  </a:lnTo>
                  <a:lnTo>
                    <a:pt x="144" y="32"/>
                  </a:lnTo>
                  <a:lnTo>
                    <a:pt x="132" y="31"/>
                  </a:lnTo>
                  <a:lnTo>
                    <a:pt x="120" y="29"/>
                  </a:lnTo>
                  <a:lnTo>
                    <a:pt x="116" y="19"/>
                  </a:lnTo>
                  <a:lnTo>
                    <a:pt x="97" y="12"/>
                  </a:lnTo>
                  <a:lnTo>
                    <a:pt x="90" y="7"/>
                  </a:lnTo>
                  <a:lnTo>
                    <a:pt x="83" y="16"/>
                  </a:lnTo>
                  <a:lnTo>
                    <a:pt x="71" y="16"/>
                  </a:lnTo>
                  <a:lnTo>
                    <a:pt x="57" y="16"/>
                  </a:lnTo>
                  <a:lnTo>
                    <a:pt x="51" y="8"/>
                  </a:lnTo>
                  <a:lnTo>
                    <a:pt x="33" y="0"/>
                  </a:lnTo>
                  <a:lnTo>
                    <a:pt x="13" y="0"/>
                  </a:lnTo>
                  <a:lnTo>
                    <a:pt x="5" y="11"/>
                  </a:lnTo>
                  <a:lnTo>
                    <a:pt x="0" y="13"/>
                  </a:lnTo>
                  <a:lnTo>
                    <a:pt x="17" y="18"/>
                  </a:lnTo>
                  <a:lnTo>
                    <a:pt x="17" y="22"/>
                  </a:lnTo>
                  <a:lnTo>
                    <a:pt x="32" y="26"/>
                  </a:lnTo>
                  <a:lnTo>
                    <a:pt x="49" y="30"/>
                  </a:lnTo>
                  <a:lnTo>
                    <a:pt x="63" y="34"/>
                  </a:lnTo>
                  <a:lnTo>
                    <a:pt x="79" y="37"/>
                  </a:lnTo>
                  <a:lnTo>
                    <a:pt x="99" y="40"/>
                  </a:lnTo>
                  <a:lnTo>
                    <a:pt x="119" y="42"/>
                  </a:lnTo>
                  <a:lnTo>
                    <a:pt x="132" y="46"/>
                  </a:lnTo>
                  <a:lnTo>
                    <a:pt x="145"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 name="Freeform 12"/>
            <p:cNvSpPr>
              <a:spLocks/>
            </p:cNvSpPr>
            <p:nvPr/>
          </p:nvSpPr>
          <p:spPr bwMode="auto">
            <a:xfrm>
              <a:off x="4700" y="2874"/>
              <a:ext cx="66" cy="38"/>
            </a:xfrm>
            <a:custGeom>
              <a:avLst/>
              <a:gdLst/>
              <a:ahLst/>
              <a:cxnLst>
                <a:cxn ang="0">
                  <a:pos x="61" y="0"/>
                </a:cxn>
                <a:cxn ang="0">
                  <a:pos x="39" y="1"/>
                </a:cxn>
                <a:cxn ang="0">
                  <a:pos x="23" y="9"/>
                </a:cxn>
                <a:cxn ang="0">
                  <a:pos x="9" y="17"/>
                </a:cxn>
                <a:cxn ang="0">
                  <a:pos x="1" y="30"/>
                </a:cxn>
                <a:cxn ang="0">
                  <a:pos x="0" y="31"/>
                </a:cxn>
                <a:cxn ang="0">
                  <a:pos x="1" y="35"/>
                </a:cxn>
                <a:cxn ang="0">
                  <a:pos x="22" y="24"/>
                </a:cxn>
                <a:cxn ang="0">
                  <a:pos x="41" y="12"/>
                </a:cxn>
                <a:cxn ang="0">
                  <a:pos x="61" y="0"/>
                </a:cxn>
              </a:cxnLst>
              <a:rect l="0" t="0" r="r" b="b"/>
              <a:pathLst>
                <a:path w="61" h="35">
                  <a:moveTo>
                    <a:pt x="61" y="0"/>
                  </a:moveTo>
                  <a:lnTo>
                    <a:pt x="39" y="1"/>
                  </a:lnTo>
                  <a:lnTo>
                    <a:pt x="23" y="9"/>
                  </a:lnTo>
                  <a:lnTo>
                    <a:pt x="9" y="17"/>
                  </a:lnTo>
                  <a:lnTo>
                    <a:pt x="1" y="30"/>
                  </a:lnTo>
                  <a:lnTo>
                    <a:pt x="0" y="31"/>
                  </a:lnTo>
                  <a:lnTo>
                    <a:pt x="1" y="35"/>
                  </a:lnTo>
                  <a:lnTo>
                    <a:pt x="22" y="24"/>
                  </a:lnTo>
                  <a:lnTo>
                    <a:pt x="41" y="12"/>
                  </a:lnTo>
                  <a:lnTo>
                    <a:pt x="6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 name="Freeform 13"/>
            <p:cNvSpPr>
              <a:spLocks/>
            </p:cNvSpPr>
            <p:nvPr/>
          </p:nvSpPr>
          <p:spPr bwMode="auto">
            <a:xfrm>
              <a:off x="4777" y="2663"/>
              <a:ext cx="25" cy="60"/>
            </a:xfrm>
            <a:custGeom>
              <a:avLst/>
              <a:gdLst/>
              <a:ahLst/>
              <a:cxnLst>
                <a:cxn ang="0">
                  <a:pos x="23" y="34"/>
                </a:cxn>
                <a:cxn ang="0">
                  <a:pos x="13" y="22"/>
                </a:cxn>
                <a:cxn ang="0">
                  <a:pos x="20" y="14"/>
                </a:cxn>
                <a:cxn ang="0">
                  <a:pos x="16" y="10"/>
                </a:cxn>
                <a:cxn ang="0">
                  <a:pos x="11" y="15"/>
                </a:cxn>
                <a:cxn ang="0">
                  <a:pos x="5" y="24"/>
                </a:cxn>
                <a:cxn ang="0">
                  <a:pos x="5" y="19"/>
                </a:cxn>
                <a:cxn ang="0">
                  <a:pos x="8" y="7"/>
                </a:cxn>
                <a:cxn ang="0">
                  <a:pos x="8" y="0"/>
                </a:cxn>
                <a:cxn ang="0">
                  <a:pos x="0" y="13"/>
                </a:cxn>
                <a:cxn ang="0">
                  <a:pos x="2" y="25"/>
                </a:cxn>
                <a:cxn ang="0">
                  <a:pos x="4" y="38"/>
                </a:cxn>
                <a:cxn ang="0">
                  <a:pos x="13" y="54"/>
                </a:cxn>
                <a:cxn ang="0">
                  <a:pos x="7" y="32"/>
                </a:cxn>
                <a:cxn ang="0">
                  <a:pos x="23" y="34"/>
                </a:cxn>
              </a:cxnLst>
              <a:rect l="0" t="0" r="r" b="b"/>
              <a:pathLst>
                <a:path w="23" h="54">
                  <a:moveTo>
                    <a:pt x="23" y="34"/>
                  </a:moveTo>
                  <a:lnTo>
                    <a:pt x="13" y="22"/>
                  </a:lnTo>
                  <a:lnTo>
                    <a:pt x="20" y="14"/>
                  </a:lnTo>
                  <a:lnTo>
                    <a:pt x="16" y="10"/>
                  </a:lnTo>
                  <a:lnTo>
                    <a:pt x="11" y="15"/>
                  </a:lnTo>
                  <a:lnTo>
                    <a:pt x="5" y="24"/>
                  </a:lnTo>
                  <a:lnTo>
                    <a:pt x="5" y="19"/>
                  </a:lnTo>
                  <a:lnTo>
                    <a:pt x="8" y="7"/>
                  </a:lnTo>
                  <a:lnTo>
                    <a:pt x="8" y="0"/>
                  </a:lnTo>
                  <a:lnTo>
                    <a:pt x="0" y="13"/>
                  </a:lnTo>
                  <a:lnTo>
                    <a:pt x="2" y="25"/>
                  </a:lnTo>
                  <a:lnTo>
                    <a:pt x="4" y="38"/>
                  </a:lnTo>
                  <a:lnTo>
                    <a:pt x="13" y="54"/>
                  </a:lnTo>
                  <a:lnTo>
                    <a:pt x="7" y="32"/>
                  </a:lnTo>
                  <a:lnTo>
                    <a:pt x="23"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 name="Freeform 14"/>
            <p:cNvSpPr>
              <a:spLocks/>
            </p:cNvSpPr>
            <p:nvPr/>
          </p:nvSpPr>
          <p:spPr bwMode="auto">
            <a:xfrm>
              <a:off x="4784" y="2763"/>
              <a:ext cx="51" cy="18"/>
            </a:xfrm>
            <a:custGeom>
              <a:avLst/>
              <a:gdLst/>
              <a:ahLst/>
              <a:cxnLst>
                <a:cxn ang="0">
                  <a:pos x="47" y="13"/>
                </a:cxn>
                <a:cxn ang="0">
                  <a:pos x="44" y="16"/>
                </a:cxn>
                <a:cxn ang="0">
                  <a:pos x="25" y="8"/>
                </a:cxn>
                <a:cxn ang="0">
                  <a:pos x="12" y="9"/>
                </a:cxn>
                <a:cxn ang="0">
                  <a:pos x="2" y="6"/>
                </a:cxn>
                <a:cxn ang="0">
                  <a:pos x="0" y="9"/>
                </a:cxn>
                <a:cxn ang="0">
                  <a:pos x="1" y="3"/>
                </a:cxn>
                <a:cxn ang="0">
                  <a:pos x="11" y="0"/>
                </a:cxn>
                <a:cxn ang="0">
                  <a:pos x="25" y="1"/>
                </a:cxn>
                <a:cxn ang="0">
                  <a:pos x="38" y="2"/>
                </a:cxn>
                <a:cxn ang="0">
                  <a:pos x="47" y="13"/>
                </a:cxn>
              </a:cxnLst>
              <a:rect l="0" t="0" r="r" b="b"/>
              <a:pathLst>
                <a:path w="47" h="16">
                  <a:moveTo>
                    <a:pt x="47" y="13"/>
                  </a:moveTo>
                  <a:lnTo>
                    <a:pt x="44" y="16"/>
                  </a:lnTo>
                  <a:lnTo>
                    <a:pt x="25" y="8"/>
                  </a:lnTo>
                  <a:lnTo>
                    <a:pt x="12" y="9"/>
                  </a:lnTo>
                  <a:lnTo>
                    <a:pt x="2" y="6"/>
                  </a:lnTo>
                  <a:lnTo>
                    <a:pt x="0" y="9"/>
                  </a:lnTo>
                  <a:lnTo>
                    <a:pt x="1" y="3"/>
                  </a:lnTo>
                  <a:lnTo>
                    <a:pt x="11" y="0"/>
                  </a:lnTo>
                  <a:lnTo>
                    <a:pt x="25" y="1"/>
                  </a:lnTo>
                  <a:lnTo>
                    <a:pt x="38" y="2"/>
                  </a:lnTo>
                  <a:lnTo>
                    <a:pt x="4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 name="Freeform 15"/>
            <p:cNvSpPr>
              <a:spLocks/>
            </p:cNvSpPr>
            <p:nvPr/>
          </p:nvSpPr>
          <p:spPr bwMode="auto">
            <a:xfrm>
              <a:off x="4635" y="2870"/>
              <a:ext cx="58" cy="11"/>
            </a:xfrm>
            <a:custGeom>
              <a:avLst/>
              <a:gdLst/>
              <a:ahLst/>
              <a:cxnLst>
                <a:cxn ang="0">
                  <a:pos x="51" y="1"/>
                </a:cxn>
                <a:cxn ang="0">
                  <a:pos x="51" y="0"/>
                </a:cxn>
                <a:cxn ang="0">
                  <a:pos x="48" y="0"/>
                </a:cxn>
                <a:cxn ang="0">
                  <a:pos x="43" y="4"/>
                </a:cxn>
                <a:cxn ang="0">
                  <a:pos x="33" y="4"/>
                </a:cxn>
                <a:cxn ang="0">
                  <a:pos x="21" y="2"/>
                </a:cxn>
                <a:cxn ang="0">
                  <a:pos x="8" y="1"/>
                </a:cxn>
                <a:cxn ang="0">
                  <a:pos x="0" y="8"/>
                </a:cxn>
                <a:cxn ang="0">
                  <a:pos x="7" y="10"/>
                </a:cxn>
                <a:cxn ang="0">
                  <a:pos x="22" y="10"/>
                </a:cxn>
                <a:cxn ang="0">
                  <a:pos x="38" y="9"/>
                </a:cxn>
                <a:cxn ang="0">
                  <a:pos x="51" y="1"/>
                </a:cxn>
              </a:cxnLst>
              <a:rect l="0" t="0" r="r" b="b"/>
              <a:pathLst>
                <a:path w="51" h="10">
                  <a:moveTo>
                    <a:pt x="51" y="1"/>
                  </a:moveTo>
                  <a:lnTo>
                    <a:pt x="51" y="0"/>
                  </a:lnTo>
                  <a:lnTo>
                    <a:pt x="48" y="0"/>
                  </a:lnTo>
                  <a:lnTo>
                    <a:pt x="43" y="4"/>
                  </a:lnTo>
                  <a:lnTo>
                    <a:pt x="33" y="4"/>
                  </a:lnTo>
                  <a:lnTo>
                    <a:pt x="21" y="2"/>
                  </a:lnTo>
                  <a:lnTo>
                    <a:pt x="8" y="1"/>
                  </a:lnTo>
                  <a:lnTo>
                    <a:pt x="0" y="8"/>
                  </a:lnTo>
                  <a:lnTo>
                    <a:pt x="7" y="10"/>
                  </a:lnTo>
                  <a:lnTo>
                    <a:pt x="22" y="10"/>
                  </a:lnTo>
                  <a:lnTo>
                    <a:pt x="38" y="9"/>
                  </a:lnTo>
                  <a:lnTo>
                    <a:pt x="5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 name="Freeform 16"/>
            <p:cNvSpPr>
              <a:spLocks/>
            </p:cNvSpPr>
            <p:nvPr/>
          </p:nvSpPr>
          <p:spPr bwMode="auto">
            <a:xfrm>
              <a:off x="4384" y="2736"/>
              <a:ext cx="29" cy="31"/>
            </a:xfrm>
            <a:custGeom>
              <a:avLst/>
              <a:gdLst/>
              <a:ahLst/>
              <a:cxnLst>
                <a:cxn ang="0">
                  <a:pos x="26" y="19"/>
                </a:cxn>
                <a:cxn ang="0">
                  <a:pos x="24" y="27"/>
                </a:cxn>
                <a:cxn ang="0">
                  <a:pos x="11" y="19"/>
                </a:cxn>
                <a:cxn ang="0">
                  <a:pos x="6" y="9"/>
                </a:cxn>
                <a:cxn ang="0">
                  <a:pos x="0" y="7"/>
                </a:cxn>
                <a:cxn ang="0">
                  <a:pos x="7" y="1"/>
                </a:cxn>
                <a:cxn ang="0">
                  <a:pos x="11" y="0"/>
                </a:cxn>
                <a:cxn ang="0">
                  <a:pos x="17" y="14"/>
                </a:cxn>
                <a:cxn ang="0">
                  <a:pos x="26" y="19"/>
                </a:cxn>
              </a:cxnLst>
              <a:rect l="0" t="0" r="r" b="b"/>
              <a:pathLst>
                <a:path w="26" h="27">
                  <a:moveTo>
                    <a:pt x="26" y="19"/>
                  </a:moveTo>
                  <a:lnTo>
                    <a:pt x="24" y="27"/>
                  </a:lnTo>
                  <a:lnTo>
                    <a:pt x="11" y="19"/>
                  </a:lnTo>
                  <a:lnTo>
                    <a:pt x="6" y="9"/>
                  </a:lnTo>
                  <a:lnTo>
                    <a:pt x="0" y="7"/>
                  </a:lnTo>
                  <a:lnTo>
                    <a:pt x="7" y="1"/>
                  </a:lnTo>
                  <a:lnTo>
                    <a:pt x="11" y="0"/>
                  </a:lnTo>
                  <a:lnTo>
                    <a:pt x="17" y="14"/>
                  </a:lnTo>
                  <a:lnTo>
                    <a:pt x="26"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 name="Freeform 17"/>
            <p:cNvSpPr>
              <a:spLocks/>
            </p:cNvSpPr>
            <p:nvPr/>
          </p:nvSpPr>
          <p:spPr bwMode="auto">
            <a:xfrm>
              <a:off x="4582" y="2867"/>
              <a:ext cx="42" cy="18"/>
            </a:xfrm>
            <a:custGeom>
              <a:avLst/>
              <a:gdLst/>
              <a:ahLst/>
              <a:cxnLst>
                <a:cxn ang="0">
                  <a:pos x="38" y="10"/>
                </a:cxn>
                <a:cxn ang="0">
                  <a:pos x="36" y="5"/>
                </a:cxn>
                <a:cxn ang="0">
                  <a:pos x="31" y="6"/>
                </a:cxn>
                <a:cxn ang="0">
                  <a:pos x="16" y="0"/>
                </a:cxn>
                <a:cxn ang="0">
                  <a:pos x="24" y="10"/>
                </a:cxn>
                <a:cxn ang="0">
                  <a:pos x="15" y="9"/>
                </a:cxn>
                <a:cxn ang="0">
                  <a:pos x="3" y="7"/>
                </a:cxn>
                <a:cxn ang="0">
                  <a:pos x="0" y="17"/>
                </a:cxn>
                <a:cxn ang="0">
                  <a:pos x="13" y="15"/>
                </a:cxn>
                <a:cxn ang="0">
                  <a:pos x="26" y="12"/>
                </a:cxn>
                <a:cxn ang="0">
                  <a:pos x="32" y="13"/>
                </a:cxn>
                <a:cxn ang="0">
                  <a:pos x="31" y="12"/>
                </a:cxn>
                <a:cxn ang="0">
                  <a:pos x="38" y="10"/>
                </a:cxn>
              </a:cxnLst>
              <a:rect l="0" t="0" r="r" b="b"/>
              <a:pathLst>
                <a:path w="38" h="17">
                  <a:moveTo>
                    <a:pt x="38" y="10"/>
                  </a:moveTo>
                  <a:lnTo>
                    <a:pt x="36" y="5"/>
                  </a:lnTo>
                  <a:lnTo>
                    <a:pt x="31" y="6"/>
                  </a:lnTo>
                  <a:lnTo>
                    <a:pt x="16" y="0"/>
                  </a:lnTo>
                  <a:lnTo>
                    <a:pt x="24" y="10"/>
                  </a:lnTo>
                  <a:lnTo>
                    <a:pt x="15" y="9"/>
                  </a:lnTo>
                  <a:lnTo>
                    <a:pt x="3" y="7"/>
                  </a:lnTo>
                  <a:lnTo>
                    <a:pt x="0" y="17"/>
                  </a:lnTo>
                  <a:lnTo>
                    <a:pt x="13" y="15"/>
                  </a:lnTo>
                  <a:lnTo>
                    <a:pt x="26" y="12"/>
                  </a:lnTo>
                  <a:lnTo>
                    <a:pt x="32" y="13"/>
                  </a:lnTo>
                  <a:lnTo>
                    <a:pt x="31" y="12"/>
                  </a:lnTo>
                  <a:lnTo>
                    <a:pt x="38"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 name="Freeform 18"/>
            <p:cNvSpPr>
              <a:spLocks/>
            </p:cNvSpPr>
            <p:nvPr/>
          </p:nvSpPr>
          <p:spPr bwMode="auto">
            <a:xfrm>
              <a:off x="4620" y="2894"/>
              <a:ext cx="31" cy="16"/>
            </a:xfrm>
            <a:custGeom>
              <a:avLst/>
              <a:gdLst/>
              <a:ahLst/>
              <a:cxnLst>
                <a:cxn ang="0">
                  <a:pos x="28" y="12"/>
                </a:cxn>
                <a:cxn ang="0">
                  <a:pos x="17" y="15"/>
                </a:cxn>
                <a:cxn ang="0">
                  <a:pos x="4" y="6"/>
                </a:cxn>
                <a:cxn ang="0">
                  <a:pos x="0" y="0"/>
                </a:cxn>
                <a:cxn ang="0">
                  <a:pos x="17" y="0"/>
                </a:cxn>
                <a:cxn ang="0">
                  <a:pos x="28" y="12"/>
                </a:cxn>
              </a:cxnLst>
              <a:rect l="0" t="0" r="r" b="b"/>
              <a:pathLst>
                <a:path w="28" h="15">
                  <a:moveTo>
                    <a:pt x="28" y="12"/>
                  </a:moveTo>
                  <a:lnTo>
                    <a:pt x="17" y="15"/>
                  </a:lnTo>
                  <a:lnTo>
                    <a:pt x="4" y="6"/>
                  </a:lnTo>
                  <a:lnTo>
                    <a:pt x="0" y="0"/>
                  </a:lnTo>
                  <a:lnTo>
                    <a:pt x="17" y="0"/>
                  </a:lnTo>
                  <a:lnTo>
                    <a:pt x="2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 name="Freeform 19"/>
            <p:cNvSpPr>
              <a:spLocks/>
            </p:cNvSpPr>
            <p:nvPr/>
          </p:nvSpPr>
          <p:spPr bwMode="auto">
            <a:xfrm>
              <a:off x="4751" y="2767"/>
              <a:ext cx="22" cy="14"/>
            </a:xfrm>
            <a:custGeom>
              <a:avLst/>
              <a:gdLst/>
              <a:ahLst/>
              <a:cxnLst>
                <a:cxn ang="0">
                  <a:pos x="19" y="6"/>
                </a:cxn>
                <a:cxn ang="0">
                  <a:pos x="12" y="13"/>
                </a:cxn>
                <a:cxn ang="0">
                  <a:pos x="0" y="5"/>
                </a:cxn>
                <a:cxn ang="0">
                  <a:pos x="6" y="0"/>
                </a:cxn>
                <a:cxn ang="0">
                  <a:pos x="19" y="6"/>
                </a:cxn>
              </a:cxnLst>
              <a:rect l="0" t="0" r="r" b="b"/>
              <a:pathLst>
                <a:path w="19" h="13">
                  <a:moveTo>
                    <a:pt x="19" y="6"/>
                  </a:moveTo>
                  <a:lnTo>
                    <a:pt x="12" y="13"/>
                  </a:lnTo>
                  <a:lnTo>
                    <a:pt x="0" y="5"/>
                  </a:lnTo>
                  <a:lnTo>
                    <a:pt x="6" y="0"/>
                  </a:lnTo>
                  <a:lnTo>
                    <a:pt x="1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 name="Freeform 20"/>
            <p:cNvSpPr>
              <a:spLocks/>
            </p:cNvSpPr>
            <p:nvPr/>
          </p:nvSpPr>
          <p:spPr bwMode="auto">
            <a:xfrm>
              <a:off x="4544" y="2867"/>
              <a:ext cx="20" cy="12"/>
            </a:xfrm>
            <a:custGeom>
              <a:avLst/>
              <a:gdLst/>
              <a:ahLst/>
              <a:cxnLst>
                <a:cxn ang="0">
                  <a:pos x="18" y="5"/>
                </a:cxn>
                <a:cxn ang="0">
                  <a:pos x="16" y="2"/>
                </a:cxn>
                <a:cxn ang="0">
                  <a:pos x="0" y="0"/>
                </a:cxn>
                <a:cxn ang="0">
                  <a:pos x="8" y="10"/>
                </a:cxn>
                <a:cxn ang="0">
                  <a:pos x="18" y="5"/>
                </a:cxn>
              </a:cxnLst>
              <a:rect l="0" t="0" r="r" b="b"/>
              <a:pathLst>
                <a:path w="18" h="10">
                  <a:moveTo>
                    <a:pt x="18" y="5"/>
                  </a:moveTo>
                  <a:lnTo>
                    <a:pt x="16" y="2"/>
                  </a:lnTo>
                  <a:lnTo>
                    <a:pt x="0" y="0"/>
                  </a:lnTo>
                  <a:lnTo>
                    <a:pt x="8" y="10"/>
                  </a:lnTo>
                  <a:lnTo>
                    <a:pt x="18"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 name="Freeform 21"/>
            <p:cNvSpPr>
              <a:spLocks/>
            </p:cNvSpPr>
            <p:nvPr/>
          </p:nvSpPr>
          <p:spPr bwMode="auto">
            <a:xfrm>
              <a:off x="4242" y="2676"/>
              <a:ext cx="16" cy="18"/>
            </a:xfrm>
            <a:custGeom>
              <a:avLst/>
              <a:gdLst/>
              <a:ahLst/>
              <a:cxnLst>
                <a:cxn ang="0">
                  <a:pos x="14" y="9"/>
                </a:cxn>
                <a:cxn ang="0">
                  <a:pos x="12" y="16"/>
                </a:cxn>
                <a:cxn ang="0">
                  <a:pos x="0" y="1"/>
                </a:cxn>
                <a:cxn ang="0">
                  <a:pos x="4" y="0"/>
                </a:cxn>
                <a:cxn ang="0">
                  <a:pos x="14" y="9"/>
                </a:cxn>
              </a:cxnLst>
              <a:rect l="0" t="0" r="r" b="b"/>
              <a:pathLst>
                <a:path w="14" h="16">
                  <a:moveTo>
                    <a:pt x="14" y="9"/>
                  </a:moveTo>
                  <a:lnTo>
                    <a:pt x="12" y="16"/>
                  </a:lnTo>
                  <a:lnTo>
                    <a:pt x="0" y="1"/>
                  </a:lnTo>
                  <a:lnTo>
                    <a:pt x="4" y="0"/>
                  </a:lnTo>
                  <a:lnTo>
                    <a:pt x="14"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 name="Freeform 22"/>
            <p:cNvSpPr>
              <a:spLocks/>
            </p:cNvSpPr>
            <p:nvPr/>
          </p:nvSpPr>
          <p:spPr bwMode="auto">
            <a:xfrm>
              <a:off x="4569" y="2870"/>
              <a:ext cx="13" cy="13"/>
            </a:xfrm>
            <a:custGeom>
              <a:avLst/>
              <a:gdLst/>
              <a:ahLst/>
              <a:cxnLst>
                <a:cxn ang="0">
                  <a:pos x="12" y="3"/>
                </a:cxn>
                <a:cxn ang="0">
                  <a:pos x="8" y="0"/>
                </a:cxn>
                <a:cxn ang="0">
                  <a:pos x="0" y="9"/>
                </a:cxn>
                <a:cxn ang="0">
                  <a:pos x="6" y="12"/>
                </a:cxn>
                <a:cxn ang="0">
                  <a:pos x="12" y="3"/>
                </a:cxn>
              </a:cxnLst>
              <a:rect l="0" t="0" r="r" b="b"/>
              <a:pathLst>
                <a:path w="12" h="12">
                  <a:moveTo>
                    <a:pt x="12" y="3"/>
                  </a:moveTo>
                  <a:lnTo>
                    <a:pt x="8" y="0"/>
                  </a:lnTo>
                  <a:lnTo>
                    <a:pt x="0" y="9"/>
                  </a:lnTo>
                  <a:lnTo>
                    <a:pt x="6" y="12"/>
                  </a:lnTo>
                  <a:lnTo>
                    <a:pt x="12"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 name="Freeform 23"/>
            <p:cNvSpPr>
              <a:spLocks/>
            </p:cNvSpPr>
            <p:nvPr/>
          </p:nvSpPr>
          <p:spPr bwMode="auto">
            <a:xfrm>
              <a:off x="4426" y="2756"/>
              <a:ext cx="14" cy="14"/>
            </a:xfrm>
            <a:custGeom>
              <a:avLst/>
              <a:gdLst/>
              <a:ahLst/>
              <a:cxnLst>
                <a:cxn ang="0">
                  <a:pos x="11" y="5"/>
                </a:cxn>
                <a:cxn ang="0">
                  <a:pos x="5" y="9"/>
                </a:cxn>
                <a:cxn ang="0">
                  <a:pos x="0" y="11"/>
                </a:cxn>
                <a:cxn ang="0">
                  <a:pos x="0" y="0"/>
                </a:cxn>
                <a:cxn ang="0">
                  <a:pos x="11" y="5"/>
                </a:cxn>
              </a:cxnLst>
              <a:rect l="0" t="0" r="r" b="b"/>
              <a:pathLst>
                <a:path w="11" h="11">
                  <a:moveTo>
                    <a:pt x="11" y="5"/>
                  </a:moveTo>
                  <a:lnTo>
                    <a:pt x="5" y="9"/>
                  </a:lnTo>
                  <a:lnTo>
                    <a:pt x="0" y="11"/>
                  </a:lnTo>
                  <a:lnTo>
                    <a:pt x="0" y="0"/>
                  </a:lnTo>
                  <a:lnTo>
                    <a:pt x="11"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 name="Freeform 24"/>
            <p:cNvSpPr>
              <a:spLocks/>
            </p:cNvSpPr>
            <p:nvPr/>
          </p:nvSpPr>
          <p:spPr bwMode="auto">
            <a:xfrm>
              <a:off x="4689" y="2794"/>
              <a:ext cx="11" cy="25"/>
            </a:xfrm>
            <a:custGeom>
              <a:avLst/>
              <a:gdLst/>
              <a:ahLst/>
              <a:cxnLst>
                <a:cxn ang="0">
                  <a:pos x="9" y="15"/>
                </a:cxn>
                <a:cxn ang="0">
                  <a:pos x="7" y="14"/>
                </a:cxn>
                <a:cxn ang="0">
                  <a:pos x="7" y="5"/>
                </a:cxn>
                <a:cxn ang="0">
                  <a:pos x="7" y="0"/>
                </a:cxn>
                <a:cxn ang="0">
                  <a:pos x="0" y="22"/>
                </a:cxn>
                <a:cxn ang="0">
                  <a:pos x="9" y="15"/>
                </a:cxn>
              </a:cxnLst>
              <a:rect l="0" t="0" r="r" b="b"/>
              <a:pathLst>
                <a:path w="9" h="22">
                  <a:moveTo>
                    <a:pt x="9" y="15"/>
                  </a:moveTo>
                  <a:lnTo>
                    <a:pt x="7" y="14"/>
                  </a:lnTo>
                  <a:lnTo>
                    <a:pt x="7" y="5"/>
                  </a:lnTo>
                  <a:lnTo>
                    <a:pt x="7" y="0"/>
                  </a:lnTo>
                  <a:lnTo>
                    <a:pt x="0" y="22"/>
                  </a:lnTo>
                  <a:lnTo>
                    <a:pt x="9"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 name="Freeform 25"/>
            <p:cNvSpPr>
              <a:spLocks/>
            </p:cNvSpPr>
            <p:nvPr/>
          </p:nvSpPr>
          <p:spPr bwMode="auto">
            <a:xfrm>
              <a:off x="4895" y="2816"/>
              <a:ext cx="7" cy="14"/>
            </a:xfrm>
            <a:custGeom>
              <a:avLst/>
              <a:gdLst/>
              <a:ahLst/>
              <a:cxnLst>
                <a:cxn ang="0">
                  <a:pos x="6" y="10"/>
                </a:cxn>
                <a:cxn ang="0">
                  <a:pos x="6" y="0"/>
                </a:cxn>
                <a:cxn ang="0">
                  <a:pos x="0" y="2"/>
                </a:cxn>
                <a:cxn ang="0">
                  <a:pos x="0" y="13"/>
                </a:cxn>
                <a:cxn ang="0">
                  <a:pos x="6" y="10"/>
                </a:cxn>
              </a:cxnLst>
              <a:rect l="0" t="0" r="r" b="b"/>
              <a:pathLst>
                <a:path w="6" h="13">
                  <a:moveTo>
                    <a:pt x="6" y="10"/>
                  </a:moveTo>
                  <a:lnTo>
                    <a:pt x="6" y="0"/>
                  </a:lnTo>
                  <a:lnTo>
                    <a:pt x="0" y="2"/>
                  </a:lnTo>
                  <a:lnTo>
                    <a:pt x="0" y="13"/>
                  </a:lnTo>
                  <a:lnTo>
                    <a:pt x="6"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 name="Freeform 26"/>
            <p:cNvSpPr>
              <a:spLocks/>
            </p:cNvSpPr>
            <p:nvPr/>
          </p:nvSpPr>
          <p:spPr bwMode="auto">
            <a:xfrm>
              <a:off x="4271" y="2723"/>
              <a:ext cx="9" cy="16"/>
            </a:xfrm>
            <a:custGeom>
              <a:avLst/>
              <a:gdLst/>
              <a:ahLst/>
              <a:cxnLst>
                <a:cxn ang="0">
                  <a:pos x="8" y="13"/>
                </a:cxn>
                <a:cxn ang="0">
                  <a:pos x="2" y="13"/>
                </a:cxn>
                <a:cxn ang="0">
                  <a:pos x="0" y="0"/>
                </a:cxn>
                <a:cxn ang="0">
                  <a:pos x="8" y="13"/>
                </a:cxn>
              </a:cxnLst>
              <a:rect l="0" t="0" r="r" b="b"/>
              <a:pathLst>
                <a:path w="8" h="13">
                  <a:moveTo>
                    <a:pt x="8" y="13"/>
                  </a:moveTo>
                  <a:lnTo>
                    <a:pt x="2" y="13"/>
                  </a:lnTo>
                  <a:lnTo>
                    <a:pt x="0" y="0"/>
                  </a:lnTo>
                  <a:lnTo>
                    <a:pt x="8"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 name="Freeform 27"/>
            <p:cNvSpPr>
              <a:spLocks/>
            </p:cNvSpPr>
            <p:nvPr/>
          </p:nvSpPr>
          <p:spPr bwMode="auto">
            <a:xfrm>
              <a:off x="4686" y="2799"/>
              <a:ext cx="7" cy="13"/>
            </a:xfrm>
            <a:custGeom>
              <a:avLst/>
              <a:gdLst/>
              <a:ahLst/>
              <a:cxnLst>
                <a:cxn ang="0">
                  <a:pos x="6" y="5"/>
                </a:cxn>
                <a:cxn ang="0">
                  <a:pos x="6" y="0"/>
                </a:cxn>
                <a:cxn ang="0">
                  <a:pos x="3" y="1"/>
                </a:cxn>
                <a:cxn ang="0">
                  <a:pos x="0" y="12"/>
                </a:cxn>
                <a:cxn ang="0">
                  <a:pos x="6" y="5"/>
                </a:cxn>
              </a:cxnLst>
              <a:rect l="0" t="0" r="r" b="b"/>
              <a:pathLst>
                <a:path w="6" h="12">
                  <a:moveTo>
                    <a:pt x="6" y="5"/>
                  </a:moveTo>
                  <a:lnTo>
                    <a:pt x="6" y="0"/>
                  </a:lnTo>
                  <a:lnTo>
                    <a:pt x="3" y="1"/>
                  </a:lnTo>
                  <a:lnTo>
                    <a:pt x="0" y="12"/>
                  </a:lnTo>
                  <a:lnTo>
                    <a:pt x="6"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 name="Freeform 28"/>
            <p:cNvSpPr>
              <a:spLocks/>
            </p:cNvSpPr>
            <p:nvPr/>
          </p:nvSpPr>
          <p:spPr bwMode="auto">
            <a:xfrm>
              <a:off x="4722" y="2739"/>
              <a:ext cx="18" cy="4"/>
            </a:xfrm>
            <a:custGeom>
              <a:avLst/>
              <a:gdLst/>
              <a:ahLst/>
              <a:cxnLst>
                <a:cxn ang="0">
                  <a:pos x="15" y="4"/>
                </a:cxn>
                <a:cxn ang="0">
                  <a:pos x="7" y="0"/>
                </a:cxn>
                <a:cxn ang="0">
                  <a:pos x="0" y="4"/>
                </a:cxn>
                <a:cxn ang="0">
                  <a:pos x="15" y="4"/>
                </a:cxn>
              </a:cxnLst>
              <a:rect l="0" t="0" r="r" b="b"/>
              <a:pathLst>
                <a:path w="15" h="4">
                  <a:moveTo>
                    <a:pt x="15" y="4"/>
                  </a:moveTo>
                  <a:lnTo>
                    <a:pt x="7" y="0"/>
                  </a:lnTo>
                  <a:lnTo>
                    <a:pt x="0" y="4"/>
                  </a:lnTo>
                  <a:lnTo>
                    <a:pt x="1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 name="Freeform 29"/>
            <p:cNvSpPr>
              <a:spLocks/>
            </p:cNvSpPr>
            <p:nvPr/>
          </p:nvSpPr>
          <p:spPr bwMode="auto">
            <a:xfrm>
              <a:off x="4889" y="2830"/>
              <a:ext cx="6" cy="13"/>
            </a:xfrm>
            <a:custGeom>
              <a:avLst/>
              <a:gdLst/>
              <a:ahLst/>
              <a:cxnLst>
                <a:cxn ang="0">
                  <a:pos x="6" y="6"/>
                </a:cxn>
                <a:cxn ang="0">
                  <a:pos x="1" y="11"/>
                </a:cxn>
                <a:cxn ang="0">
                  <a:pos x="0" y="0"/>
                </a:cxn>
                <a:cxn ang="0">
                  <a:pos x="6" y="6"/>
                </a:cxn>
              </a:cxnLst>
              <a:rect l="0" t="0" r="r" b="b"/>
              <a:pathLst>
                <a:path w="6" h="11">
                  <a:moveTo>
                    <a:pt x="6" y="6"/>
                  </a:moveTo>
                  <a:lnTo>
                    <a:pt x="1" y="11"/>
                  </a:lnTo>
                  <a:lnTo>
                    <a:pt x="0" y="0"/>
                  </a:lnTo>
                  <a:lnTo>
                    <a:pt x="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 name="Freeform 30"/>
            <p:cNvSpPr>
              <a:spLocks/>
            </p:cNvSpPr>
            <p:nvPr/>
          </p:nvSpPr>
          <p:spPr bwMode="auto">
            <a:xfrm>
              <a:off x="4513" y="2845"/>
              <a:ext cx="25" cy="2"/>
            </a:xfrm>
            <a:custGeom>
              <a:avLst/>
              <a:gdLst/>
              <a:ahLst/>
              <a:cxnLst>
                <a:cxn ang="0">
                  <a:pos x="22" y="0"/>
                </a:cxn>
                <a:cxn ang="0">
                  <a:pos x="6" y="2"/>
                </a:cxn>
                <a:cxn ang="0">
                  <a:pos x="0" y="0"/>
                </a:cxn>
                <a:cxn ang="0">
                  <a:pos x="22" y="0"/>
                </a:cxn>
              </a:cxnLst>
              <a:rect l="0" t="0" r="r" b="b"/>
              <a:pathLst>
                <a:path w="22" h="2">
                  <a:moveTo>
                    <a:pt x="22" y="0"/>
                  </a:moveTo>
                  <a:lnTo>
                    <a:pt x="6" y="2"/>
                  </a:lnTo>
                  <a:lnTo>
                    <a:pt x="0" y="0"/>
                  </a:lnTo>
                  <a:lnTo>
                    <a:pt x="2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 name="Freeform 31"/>
            <p:cNvSpPr>
              <a:spLocks/>
            </p:cNvSpPr>
            <p:nvPr/>
          </p:nvSpPr>
          <p:spPr bwMode="auto">
            <a:xfrm>
              <a:off x="4540" y="2607"/>
              <a:ext cx="15" cy="16"/>
            </a:xfrm>
            <a:custGeom>
              <a:avLst/>
              <a:gdLst/>
              <a:ahLst/>
              <a:cxnLst>
                <a:cxn ang="0">
                  <a:pos x="9" y="16"/>
                </a:cxn>
                <a:cxn ang="0">
                  <a:pos x="0" y="6"/>
                </a:cxn>
                <a:cxn ang="0">
                  <a:pos x="15" y="0"/>
                </a:cxn>
                <a:cxn ang="0">
                  <a:pos x="15" y="1"/>
                </a:cxn>
                <a:cxn ang="0">
                  <a:pos x="12" y="10"/>
                </a:cxn>
                <a:cxn ang="0">
                  <a:pos x="9" y="16"/>
                </a:cxn>
              </a:cxnLst>
              <a:rect l="0" t="0" r="r" b="b"/>
              <a:pathLst>
                <a:path w="15" h="16">
                  <a:moveTo>
                    <a:pt x="9" y="16"/>
                  </a:moveTo>
                  <a:lnTo>
                    <a:pt x="0" y="6"/>
                  </a:lnTo>
                  <a:lnTo>
                    <a:pt x="15" y="0"/>
                  </a:lnTo>
                  <a:lnTo>
                    <a:pt x="15" y="1"/>
                  </a:lnTo>
                  <a:lnTo>
                    <a:pt x="12" y="10"/>
                  </a:lnTo>
                  <a:lnTo>
                    <a:pt x="9"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 name="Freeform 32"/>
            <p:cNvSpPr>
              <a:spLocks/>
            </p:cNvSpPr>
            <p:nvPr/>
          </p:nvSpPr>
          <p:spPr bwMode="auto">
            <a:xfrm>
              <a:off x="4462" y="2567"/>
              <a:ext cx="169" cy="120"/>
            </a:xfrm>
            <a:custGeom>
              <a:avLst/>
              <a:gdLst/>
              <a:ahLst/>
              <a:cxnLst>
                <a:cxn ang="0">
                  <a:pos x="113" y="0"/>
                </a:cxn>
                <a:cxn ang="0">
                  <a:pos x="122" y="7"/>
                </a:cxn>
                <a:cxn ang="0">
                  <a:pos x="122" y="19"/>
                </a:cxn>
                <a:cxn ang="0">
                  <a:pos x="129" y="16"/>
                </a:cxn>
                <a:cxn ang="0">
                  <a:pos x="129" y="21"/>
                </a:cxn>
                <a:cxn ang="0">
                  <a:pos x="132" y="22"/>
                </a:cxn>
                <a:cxn ang="0">
                  <a:pos x="151" y="30"/>
                </a:cxn>
                <a:cxn ang="0">
                  <a:pos x="134" y="35"/>
                </a:cxn>
                <a:cxn ang="0">
                  <a:pos x="139" y="45"/>
                </a:cxn>
                <a:cxn ang="0">
                  <a:pos x="128" y="47"/>
                </a:cxn>
                <a:cxn ang="0">
                  <a:pos x="125" y="51"/>
                </a:cxn>
                <a:cxn ang="0">
                  <a:pos x="111" y="48"/>
                </a:cxn>
                <a:cxn ang="0">
                  <a:pos x="97" y="47"/>
                </a:cxn>
                <a:cxn ang="0">
                  <a:pos x="93" y="59"/>
                </a:cxn>
                <a:cxn ang="0">
                  <a:pos x="90" y="72"/>
                </a:cxn>
                <a:cxn ang="0">
                  <a:pos x="86" y="81"/>
                </a:cxn>
                <a:cxn ang="0">
                  <a:pos x="79" y="96"/>
                </a:cxn>
                <a:cxn ang="0">
                  <a:pos x="66" y="102"/>
                </a:cxn>
                <a:cxn ang="0">
                  <a:pos x="45" y="97"/>
                </a:cxn>
                <a:cxn ang="0">
                  <a:pos x="39" y="105"/>
                </a:cxn>
                <a:cxn ang="0">
                  <a:pos x="19" y="109"/>
                </a:cxn>
                <a:cxn ang="0">
                  <a:pos x="3" y="100"/>
                </a:cxn>
                <a:cxn ang="0">
                  <a:pos x="0" y="88"/>
                </a:cxn>
                <a:cxn ang="0">
                  <a:pos x="1" y="89"/>
                </a:cxn>
                <a:cxn ang="0">
                  <a:pos x="13" y="96"/>
                </a:cxn>
                <a:cxn ang="0">
                  <a:pos x="25" y="100"/>
                </a:cxn>
                <a:cxn ang="0">
                  <a:pos x="23" y="99"/>
                </a:cxn>
                <a:cxn ang="0">
                  <a:pos x="25" y="95"/>
                </a:cxn>
                <a:cxn ang="0">
                  <a:pos x="26" y="87"/>
                </a:cxn>
                <a:cxn ang="0">
                  <a:pos x="26" y="83"/>
                </a:cxn>
                <a:cxn ang="0">
                  <a:pos x="29" y="77"/>
                </a:cxn>
                <a:cxn ang="0">
                  <a:pos x="39" y="73"/>
                </a:cxn>
                <a:cxn ang="0">
                  <a:pos x="50" y="70"/>
                </a:cxn>
                <a:cxn ang="0">
                  <a:pos x="60" y="57"/>
                </a:cxn>
                <a:cxn ang="0">
                  <a:pos x="69" y="42"/>
                </a:cxn>
                <a:cxn ang="0">
                  <a:pos x="78" y="52"/>
                </a:cxn>
                <a:cxn ang="0">
                  <a:pos x="81" y="46"/>
                </a:cxn>
                <a:cxn ang="0">
                  <a:pos x="84" y="37"/>
                </a:cxn>
                <a:cxn ang="0">
                  <a:pos x="87" y="47"/>
                </a:cxn>
                <a:cxn ang="0">
                  <a:pos x="87" y="40"/>
                </a:cxn>
                <a:cxn ang="0">
                  <a:pos x="91" y="35"/>
                </a:cxn>
                <a:cxn ang="0">
                  <a:pos x="90" y="30"/>
                </a:cxn>
                <a:cxn ang="0">
                  <a:pos x="93" y="25"/>
                </a:cxn>
                <a:cxn ang="0">
                  <a:pos x="101" y="13"/>
                </a:cxn>
                <a:cxn ang="0">
                  <a:pos x="108" y="0"/>
                </a:cxn>
                <a:cxn ang="0">
                  <a:pos x="109" y="5"/>
                </a:cxn>
                <a:cxn ang="0">
                  <a:pos x="113" y="0"/>
                </a:cxn>
              </a:cxnLst>
              <a:rect l="0" t="0" r="r" b="b"/>
              <a:pathLst>
                <a:path w="151" h="109">
                  <a:moveTo>
                    <a:pt x="113" y="0"/>
                  </a:moveTo>
                  <a:lnTo>
                    <a:pt x="122" y="7"/>
                  </a:lnTo>
                  <a:lnTo>
                    <a:pt x="122" y="19"/>
                  </a:lnTo>
                  <a:lnTo>
                    <a:pt x="129" y="16"/>
                  </a:lnTo>
                  <a:lnTo>
                    <a:pt x="129" y="21"/>
                  </a:lnTo>
                  <a:lnTo>
                    <a:pt x="132" y="22"/>
                  </a:lnTo>
                  <a:lnTo>
                    <a:pt x="151" y="30"/>
                  </a:lnTo>
                  <a:lnTo>
                    <a:pt x="134" y="35"/>
                  </a:lnTo>
                  <a:lnTo>
                    <a:pt x="139" y="45"/>
                  </a:lnTo>
                  <a:lnTo>
                    <a:pt x="128" y="47"/>
                  </a:lnTo>
                  <a:lnTo>
                    <a:pt x="125" y="51"/>
                  </a:lnTo>
                  <a:lnTo>
                    <a:pt x="111" y="48"/>
                  </a:lnTo>
                  <a:lnTo>
                    <a:pt x="97" y="47"/>
                  </a:lnTo>
                  <a:lnTo>
                    <a:pt x="93" y="59"/>
                  </a:lnTo>
                  <a:lnTo>
                    <a:pt x="90" y="72"/>
                  </a:lnTo>
                  <a:lnTo>
                    <a:pt x="86" y="81"/>
                  </a:lnTo>
                  <a:lnTo>
                    <a:pt x="79" y="96"/>
                  </a:lnTo>
                  <a:lnTo>
                    <a:pt x="66" y="102"/>
                  </a:lnTo>
                  <a:lnTo>
                    <a:pt x="45" y="97"/>
                  </a:lnTo>
                  <a:lnTo>
                    <a:pt x="39" y="105"/>
                  </a:lnTo>
                  <a:lnTo>
                    <a:pt x="19" y="109"/>
                  </a:lnTo>
                  <a:lnTo>
                    <a:pt x="3" y="100"/>
                  </a:lnTo>
                  <a:lnTo>
                    <a:pt x="0" y="88"/>
                  </a:lnTo>
                  <a:lnTo>
                    <a:pt x="1" y="89"/>
                  </a:lnTo>
                  <a:lnTo>
                    <a:pt x="13" y="96"/>
                  </a:lnTo>
                  <a:lnTo>
                    <a:pt x="25" y="100"/>
                  </a:lnTo>
                  <a:lnTo>
                    <a:pt x="23" y="99"/>
                  </a:lnTo>
                  <a:lnTo>
                    <a:pt x="25" y="95"/>
                  </a:lnTo>
                  <a:lnTo>
                    <a:pt x="26" y="87"/>
                  </a:lnTo>
                  <a:lnTo>
                    <a:pt x="26" y="83"/>
                  </a:lnTo>
                  <a:lnTo>
                    <a:pt x="29" y="77"/>
                  </a:lnTo>
                  <a:lnTo>
                    <a:pt x="39" y="73"/>
                  </a:lnTo>
                  <a:lnTo>
                    <a:pt x="50" y="70"/>
                  </a:lnTo>
                  <a:lnTo>
                    <a:pt x="60" y="57"/>
                  </a:lnTo>
                  <a:lnTo>
                    <a:pt x="69" y="42"/>
                  </a:lnTo>
                  <a:lnTo>
                    <a:pt x="78" y="52"/>
                  </a:lnTo>
                  <a:lnTo>
                    <a:pt x="81" y="46"/>
                  </a:lnTo>
                  <a:lnTo>
                    <a:pt x="84" y="37"/>
                  </a:lnTo>
                  <a:lnTo>
                    <a:pt x="87" y="47"/>
                  </a:lnTo>
                  <a:lnTo>
                    <a:pt x="87" y="40"/>
                  </a:lnTo>
                  <a:lnTo>
                    <a:pt x="91" y="35"/>
                  </a:lnTo>
                  <a:lnTo>
                    <a:pt x="90" y="30"/>
                  </a:lnTo>
                  <a:lnTo>
                    <a:pt x="93" y="25"/>
                  </a:lnTo>
                  <a:lnTo>
                    <a:pt x="101" y="13"/>
                  </a:lnTo>
                  <a:lnTo>
                    <a:pt x="108" y="0"/>
                  </a:lnTo>
                  <a:lnTo>
                    <a:pt x="109" y="5"/>
                  </a:lnTo>
                  <a:lnTo>
                    <a:pt x="11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 name="Freeform 33"/>
            <p:cNvSpPr>
              <a:spLocks/>
            </p:cNvSpPr>
            <p:nvPr/>
          </p:nvSpPr>
          <p:spPr bwMode="auto">
            <a:xfrm>
              <a:off x="4293" y="2574"/>
              <a:ext cx="76" cy="102"/>
            </a:xfrm>
            <a:custGeom>
              <a:avLst/>
              <a:gdLst/>
              <a:ahLst/>
              <a:cxnLst>
                <a:cxn ang="0">
                  <a:pos x="59" y="93"/>
                </a:cxn>
                <a:cxn ang="0">
                  <a:pos x="40" y="80"/>
                </a:cxn>
                <a:cxn ang="0">
                  <a:pos x="21" y="66"/>
                </a:cxn>
                <a:cxn ang="0">
                  <a:pos x="12" y="46"/>
                </a:cxn>
                <a:cxn ang="0">
                  <a:pos x="6" y="24"/>
                </a:cxn>
                <a:cxn ang="0">
                  <a:pos x="0" y="3"/>
                </a:cxn>
                <a:cxn ang="0">
                  <a:pos x="1" y="0"/>
                </a:cxn>
                <a:cxn ang="0">
                  <a:pos x="13" y="6"/>
                </a:cxn>
                <a:cxn ang="0">
                  <a:pos x="15" y="14"/>
                </a:cxn>
                <a:cxn ang="0">
                  <a:pos x="25" y="14"/>
                </a:cxn>
                <a:cxn ang="0">
                  <a:pos x="31" y="6"/>
                </a:cxn>
                <a:cxn ang="0">
                  <a:pos x="41" y="16"/>
                </a:cxn>
                <a:cxn ang="0">
                  <a:pos x="52" y="27"/>
                </a:cxn>
                <a:cxn ang="0">
                  <a:pos x="53" y="44"/>
                </a:cxn>
                <a:cxn ang="0">
                  <a:pos x="55" y="60"/>
                </a:cxn>
                <a:cxn ang="0">
                  <a:pos x="63" y="76"/>
                </a:cxn>
                <a:cxn ang="0">
                  <a:pos x="70" y="92"/>
                </a:cxn>
                <a:cxn ang="0">
                  <a:pos x="64" y="89"/>
                </a:cxn>
                <a:cxn ang="0">
                  <a:pos x="59" y="93"/>
                </a:cxn>
              </a:cxnLst>
              <a:rect l="0" t="0" r="r" b="b"/>
              <a:pathLst>
                <a:path w="70" h="93">
                  <a:moveTo>
                    <a:pt x="59" y="93"/>
                  </a:moveTo>
                  <a:lnTo>
                    <a:pt x="40" y="80"/>
                  </a:lnTo>
                  <a:lnTo>
                    <a:pt x="21" y="66"/>
                  </a:lnTo>
                  <a:lnTo>
                    <a:pt x="12" y="46"/>
                  </a:lnTo>
                  <a:lnTo>
                    <a:pt x="6" y="24"/>
                  </a:lnTo>
                  <a:lnTo>
                    <a:pt x="0" y="3"/>
                  </a:lnTo>
                  <a:lnTo>
                    <a:pt x="1" y="0"/>
                  </a:lnTo>
                  <a:lnTo>
                    <a:pt x="13" y="6"/>
                  </a:lnTo>
                  <a:lnTo>
                    <a:pt x="15" y="14"/>
                  </a:lnTo>
                  <a:lnTo>
                    <a:pt x="25" y="14"/>
                  </a:lnTo>
                  <a:lnTo>
                    <a:pt x="31" y="6"/>
                  </a:lnTo>
                  <a:lnTo>
                    <a:pt x="41" y="16"/>
                  </a:lnTo>
                  <a:lnTo>
                    <a:pt x="52" y="27"/>
                  </a:lnTo>
                  <a:lnTo>
                    <a:pt x="53" y="44"/>
                  </a:lnTo>
                  <a:lnTo>
                    <a:pt x="55" y="60"/>
                  </a:lnTo>
                  <a:lnTo>
                    <a:pt x="63" y="76"/>
                  </a:lnTo>
                  <a:lnTo>
                    <a:pt x="70" y="92"/>
                  </a:lnTo>
                  <a:lnTo>
                    <a:pt x="64" y="89"/>
                  </a:lnTo>
                  <a:lnTo>
                    <a:pt x="59" y="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 name="Freeform 34"/>
            <p:cNvSpPr>
              <a:spLocks/>
            </p:cNvSpPr>
            <p:nvPr/>
          </p:nvSpPr>
          <p:spPr bwMode="auto">
            <a:xfrm>
              <a:off x="5473" y="2714"/>
              <a:ext cx="2" cy="2"/>
            </a:xfrm>
            <a:custGeom>
              <a:avLst/>
              <a:gdLst/>
              <a:ahLst/>
              <a:cxnLst>
                <a:cxn ang="0">
                  <a:pos x="0" y="2"/>
                </a:cxn>
                <a:cxn ang="0">
                  <a:pos x="0" y="0"/>
                </a:cxn>
                <a:cxn ang="0">
                  <a:pos x="0" y="2"/>
                </a:cxn>
              </a:cxnLst>
              <a:rect l="0" t="0" r="r" b="b"/>
              <a:pathLst>
                <a:path h="2">
                  <a:moveTo>
                    <a:pt x="0" y="2"/>
                  </a:moveTo>
                  <a:lnTo>
                    <a:pt x="0" y="0"/>
                  </a:lnTo>
                  <a:lnTo>
                    <a:pt x="0"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 name="Freeform 35"/>
            <p:cNvSpPr>
              <a:spLocks/>
            </p:cNvSpPr>
            <p:nvPr/>
          </p:nvSpPr>
          <p:spPr bwMode="auto">
            <a:xfrm>
              <a:off x="5006" y="2756"/>
              <a:ext cx="171" cy="160"/>
            </a:xfrm>
            <a:custGeom>
              <a:avLst/>
              <a:gdLst/>
              <a:ahLst/>
              <a:cxnLst>
                <a:cxn ang="0">
                  <a:pos x="154" y="137"/>
                </a:cxn>
                <a:cxn ang="0">
                  <a:pos x="148" y="140"/>
                </a:cxn>
                <a:cxn ang="0">
                  <a:pos x="148" y="144"/>
                </a:cxn>
                <a:cxn ang="0">
                  <a:pos x="140" y="141"/>
                </a:cxn>
                <a:cxn ang="0">
                  <a:pos x="124" y="139"/>
                </a:cxn>
                <a:cxn ang="0">
                  <a:pos x="110" y="135"/>
                </a:cxn>
                <a:cxn ang="0">
                  <a:pos x="101" y="126"/>
                </a:cxn>
                <a:cxn ang="0">
                  <a:pos x="93" y="117"/>
                </a:cxn>
                <a:cxn ang="0">
                  <a:pos x="84" y="107"/>
                </a:cxn>
                <a:cxn ang="0">
                  <a:pos x="77" y="96"/>
                </a:cxn>
                <a:cxn ang="0">
                  <a:pos x="57" y="89"/>
                </a:cxn>
                <a:cxn ang="0">
                  <a:pos x="56" y="92"/>
                </a:cxn>
                <a:cxn ang="0">
                  <a:pos x="46" y="89"/>
                </a:cxn>
                <a:cxn ang="0">
                  <a:pos x="47" y="97"/>
                </a:cxn>
                <a:cxn ang="0">
                  <a:pos x="41" y="97"/>
                </a:cxn>
                <a:cxn ang="0">
                  <a:pos x="42" y="101"/>
                </a:cxn>
                <a:cxn ang="0">
                  <a:pos x="21" y="101"/>
                </a:cxn>
                <a:cxn ang="0">
                  <a:pos x="39" y="110"/>
                </a:cxn>
                <a:cxn ang="0">
                  <a:pos x="30" y="117"/>
                </a:cxn>
                <a:cxn ang="0">
                  <a:pos x="16" y="117"/>
                </a:cxn>
                <a:cxn ang="0">
                  <a:pos x="0" y="117"/>
                </a:cxn>
                <a:cxn ang="0">
                  <a:pos x="2" y="102"/>
                </a:cxn>
                <a:cxn ang="0">
                  <a:pos x="3" y="87"/>
                </a:cxn>
                <a:cxn ang="0">
                  <a:pos x="4" y="73"/>
                </a:cxn>
                <a:cxn ang="0">
                  <a:pos x="5" y="59"/>
                </a:cxn>
                <a:cxn ang="0">
                  <a:pos x="6" y="44"/>
                </a:cxn>
                <a:cxn ang="0">
                  <a:pos x="6" y="29"/>
                </a:cxn>
                <a:cxn ang="0">
                  <a:pos x="8" y="14"/>
                </a:cxn>
                <a:cxn ang="0">
                  <a:pos x="8" y="0"/>
                </a:cxn>
                <a:cxn ang="0">
                  <a:pos x="23" y="7"/>
                </a:cxn>
                <a:cxn ang="0">
                  <a:pos x="38" y="13"/>
                </a:cxn>
                <a:cxn ang="0">
                  <a:pos x="53" y="20"/>
                </a:cxn>
                <a:cxn ang="0">
                  <a:pos x="69" y="27"/>
                </a:cxn>
                <a:cxn ang="0">
                  <a:pos x="82" y="44"/>
                </a:cxn>
                <a:cxn ang="0">
                  <a:pos x="83" y="53"/>
                </a:cxn>
                <a:cxn ang="0">
                  <a:pos x="96" y="59"/>
                </a:cxn>
                <a:cxn ang="0">
                  <a:pos x="111" y="65"/>
                </a:cxn>
                <a:cxn ang="0">
                  <a:pos x="112" y="74"/>
                </a:cxn>
                <a:cxn ang="0">
                  <a:pos x="98" y="75"/>
                </a:cxn>
                <a:cxn ang="0">
                  <a:pos x="105" y="91"/>
                </a:cxn>
                <a:cxn ang="0">
                  <a:pos x="116" y="101"/>
                </a:cxn>
                <a:cxn ang="0">
                  <a:pos x="123" y="116"/>
                </a:cxn>
                <a:cxn ang="0">
                  <a:pos x="132" y="117"/>
                </a:cxn>
                <a:cxn ang="0">
                  <a:pos x="131" y="123"/>
                </a:cxn>
                <a:cxn ang="0">
                  <a:pos x="140" y="128"/>
                </a:cxn>
                <a:cxn ang="0">
                  <a:pos x="138" y="132"/>
                </a:cxn>
                <a:cxn ang="0">
                  <a:pos x="154" y="137"/>
                </a:cxn>
              </a:cxnLst>
              <a:rect l="0" t="0" r="r" b="b"/>
              <a:pathLst>
                <a:path w="154" h="144">
                  <a:moveTo>
                    <a:pt x="154" y="137"/>
                  </a:moveTo>
                  <a:lnTo>
                    <a:pt x="148" y="140"/>
                  </a:lnTo>
                  <a:lnTo>
                    <a:pt x="148" y="144"/>
                  </a:lnTo>
                  <a:lnTo>
                    <a:pt x="140" y="141"/>
                  </a:lnTo>
                  <a:lnTo>
                    <a:pt x="124" y="139"/>
                  </a:lnTo>
                  <a:lnTo>
                    <a:pt x="110" y="135"/>
                  </a:lnTo>
                  <a:lnTo>
                    <a:pt x="101" y="126"/>
                  </a:lnTo>
                  <a:lnTo>
                    <a:pt x="93" y="117"/>
                  </a:lnTo>
                  <a:lnTo>
                    <a:pt x="84" y="107"/>
                  </a:lnTo>
                  <a:lnTo>
                    <a:pt x="77" y="96"/>
                  </a:lnTo>
                  <a:lnTo>
                    <a:pt x="57" y="89"/>
                  </a:lnTo>
                  <a:lnTo>
                    <a:pt x="56" y="92"/>
                  </a:lnTo>
                  <a:lnTo>
                    <a:pt x="46" y="89"/>
                  </a:lnTo>
                  <a:lnTo>
                    <a:pt x="47" y="97"/>
                  </a:lnTo>
                  <a:lnTo>
                    <a:pt x="41" y="97"/>
                  </a:lnTo>
                  <a:lnTo>
                    <a:pt x="42" y="101"/>
                  </a:lnTo>
                  <a:lnTo>
                    <a:pt x="21" y="101"/>
                  </a:lnTo>
                  <a:lnTo>
                    <a:pt x="39" y="110"/>
                  </a:lnTo>
                  <a:lnTo>
                    <a:pt x="30" y="117"/>
                  </a:lnTo>
                  <a:lnTo>
                    <a:pt x="16" y="117"/>
                  </a:lnTo>
                  <a:lnTo>
                    <a:pt x="0" y="117"/>
                  </a:lnTo>
                  <a:lnTo>
                    <a:pt x="2" y="102"/>
                  </a:lnTo>
                  <a:lnTo>
                    <a:pt x="3" y="87"/>
                  </a:lnTo>
                  <a:lnTo>
                    <a:pt x="4" y="73"/>
                  </a:lnTo>
                  <a:lnTo>
                    <a:pt x="5" y="59"/>
                  </a:lnTo>
                  <a:lnTo>
                    <a:pt x="6" y="44"/>
                  </a:lnTo>
                  <a:lnTo>
                    <a:pt x="6" y="29"/>
                  </a:lnTo>
                  <a:lnTo>
                    <a:pt x="8" y="14"/>
                  </a:lnTo>
                  <a:lnTo>
                    <a:pt x="8" y="0"/>
                  </a:lnTo>
                  <a:lnTo>
                    <a:pt x="23" y="7"/>
                  </a:lnTo>
                  <a:lnTo>
                    <a:pt x="38" y="13"/>
                  </a:lnTo>
                  <a:lnTo>
                    <a:pt x="53" y="20"/>
                  </a:lnTo>
                  <a:lnTo>
                    <a:pt x="69" y="27"/>
                  </a:lnTo>
                  <a:lnTo>
                    <a:pt x="82" y="44"/>
                  </a:lnTo>
                  <a:lnTo>
                    <a:pt x="83" y="53"/>
                  </a:lnTo>
                  <a:lnTo>
                    <a:pt x="96" y="59"/>
                  </a:lnTo>
                  <a:lnTo>
                    <a:pt x="111" y="65"/>
                  </a:lnTo>
                  <a:lnTo>
                    <a:pt x="112" y="74"/>
                  </a:lnTo>
                  <a:lnTo>
                    <a:pt x="98" y="75"/>
                  </a:lnTo>
                  <a:lnTo>
                    <a:pt x="105" y="91"/>
                  </a:lnTo>
                  <a:lnTo>
                    <a:pt x="116" y="101"/>
                  </a:lnTo>
                  <a:lnTo>
                    <a:pt x="123" y="116"/>
                  </a:lnTo>
                  <a:lnTo>
                    <a:pt x="132" y="117"/>
                  </a:lnTo>
                  <a:lnTo>
                    <a:pt x="131" y="123"/>
                  </a:lnTo>
                  <a:lnTo>
                    <a:pt x="140" y="128"/>
                  </a:lnTo>
                  <a:lnTo>
                    <a:pt x="138" y="132"/>
                  </a:lnTo>
                  <a:lnTo>
                    <a:pt x="154"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 name="Freeform 36"/>
            <p:cNvSpPr>
              <a:spLocks/>
            </p:cNvSpPr>
            <p:nvPr/>
          </p:nvSpPr>
          <p:spPr bwMode="auto">
            <a:xfrm>
              <a:off x="5142" y="2790"/>
              <a:ext cx="73" cy="40"/>
            </a:xfrm>
            <a:custGeom>
              <a:avLst/>
              <a:gdLst/>
              <a:ahLst/>
              <a:cxnLst>
                <a:cxn ang="0">
                  <a:pos x="66" y="1"/>
                </a:cxn>
                <a:cxn ang="0">
                  <a:pos x="61" y="13"/>
                </a:cxn>
                <a:cxn ang="0">
                  <a:pos x="57" y="15"/>
                </a:cxn>
                <a:cxn ang="0">
                  <a:pos x="58" y="21"/>
                </a:cxn>
                <a:cxn ang="0">
                  <a:pos x="48" y="26"/>
                </a:cxn>
                <a:cxn ang="0">
                  <a:pos x="26" y="36"/>
                </a:cxn>
                <a:cxn ang="0">
                  <a:pos x="13" y="32"/>
                </a:cxn>
                <a:cxn ang="0">
                  <a:pos x="3" y="27"/>
                </a:cxn>
                <a:cxn ang="0">
                  <a:pos x="0" y="21"/>
                </a:cxn>
                <a:cxn ang="0">
                  <a:pos x="21" y="23"/>
                </a:cxn>
                <a:cxn ang="0">
                  <a:pos x="27" y="13"/>
                </a:cxn>
                <a:cxn ang="0">
                  <a:pos x="27" y="19"/>
                </a:cxn>
                <a:cxn ang="0">
                  <a:pos x="36" y="23"/>
                </a:cxn>
                <a:cxn ang="0">
                  <a:pos x="51" y="12"/>
                </a:cxn>
                <a:cxn ang="0">
                  <a:pos x="51" y="1"/>
                </a:cxn>
                <a:cxn ang="0">
                  <a:pos x="60" y="0"/>
                </a:cxn>
                <a:cxn ang="0">
                  <a:pos x="66" y="1"/>
                </a:cxn>
              </a:cxnLst>
              <a:rect l="0" t="0" r="r" b="b"/>
              <a:pathLst>
                <a:path w="66" h="36">
                  <a:moveTo>
                    <a:pt x="66" y="1"/>
                  </a:moveTo>
                  <a:lnTo>
                    <a:pt x="61" y="13"/>
                  </a:lnTo>
                  <a:lnTo>
                    <a:pt x="57" y="15"/>
                  </a:lnTo>
                  <a:lnTo>
                    <a:pt x="58" y="21"/>
                  </a:lnTo>
                  <a:lnTo>
                    <a:pt x="48" y="26"/>
                  </a:lnTo>
                  <a:lnTo>
                    <a:pt x="26" y="36"/>
                  </a:lnTo>
                  <a:lnTo>
                    <a:pt x="13" y="32"/>
                  </a:lnTo>
                  <a:lnTo>
                    <a:pt x="3" y="27"/>
                  </a:lnTo>
                  <a:lnTo>
                    <a:pt x="0" y="21"/>
                  </a:lnTo>
                  <a:lnTo>
                    <a:pt x="21" y="23"/>
                  </a:lnTo>
                  <a:lnTo>
                    <a:pt x="27" y="13"/>
                  </a:lnTo>
                  <a:lnTo>
                    <a:pt x="27" y="19"/>
                  </a:lnTo>
                  <a:lnTo>
                    <a:pt x="36" y="23"/>
                  </a:lnTo>
                  <a:lnTo>
                    <a:pt x="51" y="12"/>
                  </a:lnTo>
                  <a:lnTo>
                    <a:pt x="51" y="1"/>
                  </a:lnTo>
                  <a:lnTo>
                    <a:pt x="60" y="0"/>
                  </a:lnTo>
                  <a:lnTo>
                    <a:pt x="6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 name="Freeform 37"/>
            <p:cNvSpPr>
              <a:spLocks/>
            </p:cNvSpPr>
            <p:nvPr/>
          </p:nvSpPr>
          <p:spPr bwMode="auto">
            <a:xfrm>
              <a:off x="5253" y="2814"/>
              <a:ext cx="20" cy="29"/>
            </a:xfrm>
            <a:custGeom>
              <a:avLst/>
              <a:gdLst/>
              <a:ahLst/>
              <a:cxnLst>
                <a:cxn ang="0">
                  <a:pos x="18" y="24"/>
                </a:cxn>
                <a:cxn ang="0">
                  <a:pos x="14" y="27"/>
                </a:cxn>
                <a:cxn ang="0">
                  <a:pos x="4" y="15"/>
                </a:cxn>
                <a:cxn ang="0">
                  <a:pos x="0" y="0"/>
                </a:cxn>
                <a:cxn ang="0">
                  <a:pos x="10" y="12"/>
                </a:cxn>
                <a:cxn ang="0">
                  <a:pos x="18" y="24"/>
                </a:cxn>
              </a:cxnLst>
              <a:rect l="0" t="0" r="r" b="b"/>
              <a:pathLst>
                <a:path w="18" h="27">
                  <a:moveTo>
                    <a:pt x="18" y="24"/>
                  </a:moveTo>
                  <a:lnTo>
                    <a:pt x="14" y="27"/>
                  </a:lnTo>
                  <a:lnTo>
                    <a:pt x="4" y="15"/>
                  </a:lnTo>
                  <a:lnTo>
                    <a:pt x="0" y="0"/>
                  </a:lnTo>
                  <a:lnTo>
                    <a:pt x="10" y="12"/>
                  </a:lnTo>
                  <a:lnTo>
                    <a:pt x="18"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 name="Freeform 38"/>
            <p:cNvSpPr>
              <a:spLocks/>
            </p:cNvSpPr>
            <p:nvPr/>
          </p:nvSpPr>
          <p:spPr bwMode="auto">
            <a:xfrm>
              <a:off x="5189" y="2759"/>
              <a:ext cx="37" cy="42"/>
            </a:xfrm>
            <a:custGeom>
              <a:avLst/>
              <a:gdLst/>
              <a:ahLst/>
              <a:cxnLst>
                <a:cxn ang="0">
                  <a:pos x="33" y="31"/>
                </a:cxn>
                <a:cxn ang="0">
                  <a:pos x="29" y="37"/>
                </a:cxn>
                <a:cxn ang="0">
                  <a:pos x="18" y="16"/>
                </a:cxn>
                <a:cxn ang="0">
                  <a:pos x="9" y="8"/>
                </a:cxn>
                <a:cxn ang="0">
                  <a:pos x="0" y="1"/>
                </a:cxn>
                <a:cxn ang="0">
                  <a:pos x="0" y="0"/>
                </a:cxn>
                <a:cxn ang="0">
                  <a:pos x="12" y="10"/>
                </a:cxn>
                <a:cxn ang="0">
                  <a:pos x="25" y="19"/>
                </a:cxn>
                <a:cxn ang="0">
                  <a:pos x="33" y="31"/>
                </a:cxn>
              </a:cxnLst>
              <a:rect l="0" t="0" r="r" b="b"/>
              <a:pathLst>
                <a:path w="33" h="37">
                  <a:moveTo>
                    <a:pt x="33" y="31"/>
                  </a:moveTo>
                  <a:lnTo>
                    <a:pt x="29" y="37"/>
                  </a:lnTo>
                  <a:lnTo>
                    <a:pt x="18" y="16"/>
                  </a:lnTo>
                  <a:lnTo>
                    <a:pt x="9" y="8"/>
                  </a:lnTo>
                  <a:lnTo>
                    <a:pt x="0" y="1"/>
                  </a:lnTo>
                  <a:lnTo>
                    <a:pt x="0" y="0"/>
                  </a:lnTo>
                  <a:lnTo>
                    <a:pt x="12" y="10"/>
                  </a:lnTo>
                  <a:lnTo>
                    <a:pt x="25" y="19"/>
                  </a:lnTo>
                  <a:lnTo>
                    <a:pt x="33" y="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 name="Freeform 39"/>
            <p:cNvSpPr>
              <a:spLocks/>
            </p:cNvSpPr>
            <p:nvPr/>
          </p:nvSpPr>
          <p:spPr bwMode="auto">
            <a:xfrm>
              <a:off x="5180" y="2901"/>
              <a:ext cx="6" cy="6"/>
            </a:xfrm>
            <a:custGeom>
              <a:avLst/>
              <a:gdLst/>
              <a:ahLst/>
              <a:cxnLst>
                <a:cxn ang="0">
                  <a:pos x="6" y="3"/>
                </a:cxn>
                <a:cxn ang="0">
                  <a:pos x="3" y="5"/>
                </a:cxn>
                <a:cxn ang="0">
                  <a:pos x="0" y="0"/>
                </a:cxn>
                <a:cxn ang="0">
                  <a:pos x="6" y="3"/>
                </a:cxn>
              </a:cxnLst>
              <a:rect l="0" t="0" r="r" b="b"/>
              <a:pathLst>
                <a:path w="6" h="5">
                  <a:moveTo>
                    <a:pt x="6" y="3"/>
                  </a:moveTo>
                  <a:lnTo>
                    <a:pt x="3" y="5"/>
                  </a:lnTo>
                  <a:lnTo>
                    <a:pt x="0" y="0"/>
                  </a:lnTo>
                  <a:lnTo>
                    <a:pt x="6"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 name="Freeform 40"/>
            <p:cNvSpPr>
              <a:spLocks/>
            </p:cNvSpPr>
            <p:nvPr/>
          </p:nvSpPr>
          <p:spPr bwMode="auto">
            <a:xfrm>
              <a:off x="4042" y="2176"/>
              <a:ext cx="87" cy="111"/>
            </a:xfrm>
            <a:custGeom>
              <a:avLst/>
              <a:gdLst/>
              <a:ahLst/>
              <a:cxnLst>
                <a:cxn ang="0">
                  <a:pos x="28" y="84"/>
                </a:cxn>
                <a:cxn ang="0">
                  <a:pos x="27" y="85"/>
                </a:cxn>
                <a:cxn ang="0">
                  <a:pos x="24" y="80"/>
                </a:cxn>
                <a:cxn ang="0">
                  <a:pos x="24" y="82"/>
                </a:cxn>
                <a:cxn ang="0">
                  <a:pos x="19" y="68"/>
                </a:cxn>
                <a:cxn ang="0">
                  <a:pos x="14" y="55"/>
                </a:cxn>
                <a:cxn ang="0">
                  <a:pos x="13" y="44"/>
                </a:cxn>
                <a:cxn ang="0">
                  <a:pos x="1" y="34"/>
                </a:cxn>
                <a:cxn ang="0">
                  <a:pos x="6" y="27"/>
                </a:cxn>
                <a:cxn ang="0">
                  <a:pos x="12" y="24"/>
                </a:cxn>
                <a:cxn ang="0">
                  <a:pos x="0" y="13"/>
                </a:cxn>
                <a:cxn ang="0">
                  <a:pos x="0" y="0"/>
                </a:cxn>
                <a:cxn ang="0">
                  <a:pos x="10" y="3"/>
                </a:cxn>
                <a:cxn ang="0">
                  <a:pos x="15" y="9"/>
                </a:cxn>
                <a:cxn ang="0">
                  <a:pos x="19" y="6"/>
                </a:cxn>
                <a:cxn ang="0">
                  <a:pos x="25" y="20"/>
                </a:cxn>
                <a:cxn ang="0">
                  <a:pos x="42" y="22"/>
                </a:cxn>
                <a:cxn ang="0">
                  <a:pos x="58" y="24"/>
                </a:cxn>
                <a:cxn ang="0">
                  <a:pos x="67" y="30"/>
                </a:cxn>
                <a:cxn ang="0">
                  <a:pos x="64" y="37"/>
                </a:cxn>
                <a:cxn ang="0">
                  <a:pos x="52" y="45"/>
                </a:cxn>
                <a:cxn ang="0">
                  <a:pos x="56" y="60"/>
                </a:cxn>
                <a:cxn ang="0">
                  <a:pos x="58" y="63"/>
                </a:cxn>
                <a:cxn ang="0">
                  <a:pos x="66" y="50"/>
                </a:cxn>
                <a:cxn ang="0">
                  <a:pos x="72" y="66"/>
                </a:cxn>
                <a:cxn ang="0">
                  <a:pos x="78" y="81"/>
                </a:cxn>
                <a:cxn ang="0">
                  <a:pos x="79" y="92"/>
                </a:cxn>
                <a:cxn ang="0">
                  <a:pos x="74" y="96"/>
                </a:cxn>
                <a:cxn ang="0">
                  <a:pos x="76" y="100"/>
                </a:cxn>
                <a:cxn ang="0">
                  <a:pos x="67" y="84"/>
                </a:cxn>
                <a:cxn ang="0">
                  <a:pos x="58" y="67"/>
                </a:cxn>
                <a:cxn ang="0">
                  <a:pos x="48" y="66"/>
                </a:cxn>
                <a:cxn ang="0">
                  <a:pos x="43" y="55"/>
                </a:cxn>
                <a:cxn ang="0">
                  <a:pos x="27" y="45"/>
                </a:cxn>
                <a:cxn ang="0">
                  <a:pos x="22" y="46"/>
                </a:cxn>
                <a:cxn ang="0">
                  <a:pos x="39" y="56"/>
                </a:cxn>
                <a:cxn ang="0">
                  <a:pos x="44" y="67"/>
                </a:cxn>
                <a:cxn ang="0">
                  <a:pos x="45" y="70"/>
                </a:cxn>
                <a:cxn ang="0">
                  <a:pos x="42" y="85"/>
                </a:cxn>
                <a:cxn ang="0">
                  <a:pos x="38" y="80"/>
                </a:cxn>
                <a:cxn ang="0">
                  <a:pos x="36" y="80"/>
                </a:cxn>
                <a:cxn ang="0">
                  <a:pos x="32" y="84"/>
                </a:cxn>
                <a:cxn ang="0">
                  <a:pos x="28" y="84"/>
                </a:cxn>
              </a:cxnLst>
              <a:rect l="0" t="0" r="r" b="b"/>
              <a:pathLst>
                <a:path w="79" h="100">
                  <a:moveTo>
                    <a:pt x="28" y="84"/>
                  </a:moveTo>
                  <a:lnTo>
                    <a:pt x="27" y="85"/>
                  </a:lnTo>
                  <a:lnTo>
                    <a:pt x="24" y="80"/>
                  </a:lnTo>
                  <a:lnTo>
                    <a:pt x="24" y="82"/>
                  </a:lnTo>
                  <a:lnTo>
                    <a:pt x="19" y="68"/>
                  </a:lnTo>
                  <a:lnTo>
                    <a:pt x="14" y="55"/>
                  </a:lnTo>
                  <a:lnTo>
                    <a:pt x="13" y="44"/>
                  </a:lnTo>
                  <a:lnTo>
                    <a:pt x="1" y="34"/>
                  </a:lnTo>
                  <a:lnTo>
                    <a:pt x="6" y="27"/>
                  </a:lnTo>
                  <a:lnTo>
                    <a:pt x="12" y="24"/>
                  </a:lnTo>
                  <a:lnTo>
                    <a:pt x="0" y="13"/>
                  </a:lnTo>
                  <a:lnTo>
                    <a:pt x="0" y="0"/>
                  </a:lnTo>
                  <a:lnTo>
                    <a:pt x="10" y="3"/>
                  </a:lnTo>
                  <a:lnTo>
                    <a:pt x="15" y="9"/>
                  </a:lnTo>
                  <a:lnTo>
                    <a:pt x="19" y="6"/>
                  </a:lnTo>
                  <a:lnTo>
                    <a:pt x="25" y="20"/>
                  </a:lnTo>
                  <a:lnTo>
                    <a:pt x="42" y="22"/>
                  </a:lnTo>
                  <a:lnTo>
                    <a:pt x="58" y="24"/>
                  </a:lnTo>
                  <a:lnTo>
                    <a:pt x="67" y="30"/>
                  </a:lnTo>
                  <a:lnTo>
                    <a:pt x="64" y="37"/>
                  </a:lnTo>
                  <a:lnTo>
                    <a:pt x="52" y="45"/>
                  </a:lnTo>
                  <a:lnTo>
                    <a:pt x="56" y="60"/>
                  </a:lnTo>
                  <a:lnTo>
                    <a:pt x="58" y="63"/>
                  </a:lnTo>
                  <a:lnTo>
                    <a:pt x="66" y="50"/>
                  </a:lnTo>
                  <a:lnTo>
                    <a:pt x="72" y="66"/>
                  </a:lnTo>
                  <a:lnTo>
                    <a:pt x="78" y="81"/>
                  </a:lnTo>
                  <a:lnTo>
                    <a:pt x="79" y="92"/>
                  </a:lnTo>
                  <a:lnTo>
                    <a:pt x="74" y="96"/>
                  </a:lnTo>
                  <a:lnTo>
                    <a:pt x="76" y="100"/>
                  </a:lnTo>
                  <a:lnTo>
                    <a:pt x="67" y="84"/>
                  </a:lnTo>
                  <a:lnTo>
                    <a:pt x="58" y="67"/>
                  </a:lnTo>
                  <a:lnTo>
                    <a:pt x="48" y="66"/>
                  </a:lnTo>
                  <a:lnTo>
                    <a:pt x="43" y="55"/>
                  </a:lnTo>
                  <a:lnTo>
                    <a:pt x="27" y="45"/>
                  </a:lnTo>
                  <a:lnTo>
                    <a:pt x="22" y="46"/>
                  </a:lnTo>
                  <a:lnTo>
                    <a:pt x="39" y="56"/>
                  </a:lnTo>
                  <a:lnTo>
                    <a:pt x="44" y="67"/>
                  </a:lnTo>
                  <a:lnTo>
                    <a:pt x="45" y="70"/>
                  </a:lnTo>
                  <a:lnTo>
                    <a:pt x="42" y="85"/>
                  </a:lnTo>
                  <a:lnTo>
                    <a:pt x="38" y="80"/>
                  </a:lnTo>
                  <a:lnTo>
                    <a:pt x="36" y="80"/>
                  </a:lnTo>
                  <a:lnTo>
                    <a:pt x="32" y="84"/>
                  </a:lnTo>
                  <a:lnTo>
                    <a:pt x="28" y="8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 name="Freeform 41"/>
            <p:cNvSpPr>
              <a:spLocks/>
            </p:cNvSpPr>
            <p:nvPr/>
          </p:nvSpPr>
          <p:spPr bwMode="auto">
            <a:xfrm>
              <a:off x="4046" y="2143"/>
              <a:ext cx="56" cy="27"/>
            </a:xfrm>
            <a:custGeom>
              <a:avLst/>
              <a:gdLst/>
              <a:ahLst/>
              <a:cxnLst>
                <a:cxn ang="0">
                  <a:pos x="33" y="2"/>
                </a:cxn>
                <a:cxn ang="0">
                  <a:pos x="11" y="0"/>
                </a:cxn>
                <a:cxn ang="0">
                  <a:pos x="0" y="15"/>
                </a:cxn>
                <a:cxn ang="0">
                  <a:pos x="3" y="22"/>
                </a:cxn>
                <a:cxn ang="0">
                  <a:pos x="22" y="25"/>
                </a:cxn>
                <a:cxn ang="0">
                  <a:pos x="36" y="24"/>
                </a:cxn>
                <a:cxn ang="0">
                  <a:pos x="51" y="22"/>
                </a:cxn>
                <a:cxn ang="0">
                  <a:pos x="45" y="13"/>
                </a:cxn>
                <a:cxn ang="0">
                  <a:pos x="40" y="7"/>
                </a:cxn>
                <a:cxn ang="0">
                  <a:pos x="33" y="2"/>
                </a:cxn>
              </a:cxnLst>
              <a:rect l="0" t="0" r="r" b="b"/>
              <a:pathLst>
                <a:path w="51" h="25">
                  <a:moveTo>
                    <a:pt x="33" y="2"/>
                  </a:moveTo>
                  <a:lnTo>
                    <a:pt x="11" y="0"/>
                  </a:lnTo>
                  <a:lnTo>
                    <a:pt x="0" y="15"/>
                  </a:lnTo>
                  <a:lnTo>
                    <a:pt x="3" y="22"/>
                  </a:lnTo>
                  <a:lnTo>
                    <a:pt x="22" y="25"/>
                  </a:lnTo>
                  <a:lnTo>
                    <a:pt x="36" y="24"/>
                  </a:lnTo>
                  <a:lnTo>
                    <a:pt x="51" y="22"/>
                  </a:lnTo>
                  <a:lnTo>
                    <a:pt x="45" y="13"/>
                  </a:lnTo>
                  <a:lnTo>
                    <a:pt x="40" y="7"/>
                  </a:lnTo>
                  <a:lnTo>
                    <a:pt x="3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 name="Freeform 42"/>
            <p:cNvSpPr>
              <a:spLocks/>
            </p:cNvSpPr>
            <p:nvPr/>
          </p:nvSpPr>
          <p:spPr bwMode="auto">
            <a:xfrm>
              <a:off x="4320" y="2412"/>
              <a:ext cx="93" cy="84"/>
            </a:xfrm>
            <a:custGeom>
              <a:avLst/>
              <a:gdLst/>
              <a:ahLst/>
              <a:cxnLst>
                <a:cxn ang="0">
                  <a:pos x="59" y="56"/>
                </a:cxn>
                <a:cxn ang="0">
                  <a:pos x="64" y="70"/>
                </a:cxn>
                <a:cxn ang="0">
                  <a:pos x="52" y="68"/>
                </a:cxn>
                <a:cxn ang="0">
                  <a:pos x="48" y="71"/>
                </a:cxn>
                <a:cxn ang="0">
                  <a:pos x="39" y="77"/>
                </a:cxn>
                <a:cxn ang="0">
                  <a:pos x="29" y="74"/>
                </a:cxn>
                <a:cxn ang="0">
                  <a:pos x="24" y="72"/>
                </a:cxn>
                <a:cxn ang="0">
                  <a:pos x="22" y="64"/>
                </a:cxn>
                <a:cxn ang="0">
                  <a:pos x="17" y="68"/>
                </a:cxn>
                <a:cxn ang="0">
                  <a:pos x="14" y="56"/>
                </a:cxn>
                <a:cxn ang="0">
                  <a:pos x="12" y="55"/>
                </a:cxn>
                <a:cxn ang="0">
                  <a:pos x="6" y="41"/>
                </a:cxn>
                <a:cxn ang="0">
                  <a:pos x="0" y="25"/>
                </a:cxn>
                <a:cxn ang="0">
                  <a:pos x="11" y="7"/>
                </a:cxn>
                <a:cxn ang="0">
                  <a:pos x="27" y="7"/>
                </a:cxn>
                <a:cxn ang="0">
                  <a:pos x="44" y="6"/>
                </a:cxn>
                <a:cxn ang="0">
                  <a:pos x="57" y="13"/>
                </a:cxn>
                <a:cxn ang="0">
                  <a:pos x="57" y="8"/>
                </a:cxn>
                <a:cxn ang="0">
                  <a:pos x="63" y="4"/>
                </a:cxn>
                <a:cxn ang="0">
                  <a:pos x="69" y="6"/>
                </a:cxn>
                <a:cxn ang="0">
                  <a:pos x="80" y="0"/>
                </a:cxn>
                <a:cxn ang="0">
                  <a:pos x="81" y="16"/>
                </a:cxn>
                <a:cxn ang="0">
                  <a:pos x="82" y="30"/>
                </a:cxn>
                <a:cxn ang="0">
                  <a:pos x="83" y="44"/>
                </a:cxn>
                <a:cxn ang="0">
                  <a:pos x="68" y="52"/>
                </a:cxn>
                <a:cxn ang="0">
                  <a:pos x="59" y="56"/>
                </a:cxn>
              </a:cxnLst>
              <a:rect l="0" t="0" r="r" b="b"/>
              <a:pathLst>
                <a:path w="83" h="77">
                  <a:moveTo>
                    <a:pt x="59" y="56"/>
                  </a:moveTo>
                  <a:lnTo>
                    <a:pt x="64" y="70"/>
                  </a:lnTo>
                  <a:lnTo>
                    <a:pt x="52" y="68"/>
                  </a:lnTo>
                  <a:lnTo>
                    <a:pt x="48" y="71"/>
                  </a:lnTo>
                  <a:lnTo>
                    <a:pt x="39" y="77"/>
                  </a:lnTo>
                  <a:lnTo>
                    <a:pt x="29" y="74"/>
                  </a:lnTo>
                  <a:lnTo>
                    <a:pt x="24" y="72"/>
                  </a:lnTo>
                  <a:lnTo>
                    <a:pt x="22" y="64"/>
                  </a:lnTo>
                  <a:lnTo>
                    <a:pt x="17" y="68"/>
                  </a:lnTo>
                  <a:lnTo>
                    <a:pt x="14" y="56"/>
                  </a:lnTo>
                  <a:lnTo>
                    <a:pt x="12" y="55"/>
                  </a:lnTo>
                  <a:lnTo>
                    <a:pt x="6" y="41"/>
                  </a:lnTo>
                  <a:lnTo>
                    <a:pt x="0" y="25"/>
                  </a:lnTo>
                  <a:lnTo>
                    <a:pt x="11" y="7"/>
                  </a:lnTo>
                  <a:lnTo>
                    <a:pt x="27" y="7"/>
                  </a:lnTo>
                  <a:lnTo>
                    <a:pt x="44" y="6"/>
                  </a:lnTo>
                  <a:lnTo>
                    <a:pt x="57" y="13"/>
                  </a:lnTo>
                  <a:lnTo>
                    <a:pt x="57" y="8"/>
                  </a:lnTo>
                  <a:lnTo>
                    <a:pt x="63" y="4"/>
                  </a:lnTo>
                  <a:lnTo>
                    <a:pt x="69" y="6"/>
                  </a:lnTo>
                  <a:lnTo>
                    <a:pt x="80" y="0"/>
                  </a:lnTo>
                  <a:lnTo>
                    <a:pt x="81" y="16"/>
                  </a:lnTo>
                  <a:lnTo>
                    <a:pt x="82" y="30"/>
                  </a:lnTo>
                  <a:lnTo>
                    <a:pt x="83" y="44"/>
                  </a:lnTo>
                  <a:lnTo>
                    <a:pt x="68" y="52"/>
                  </a:lnTo>
                  <a:lnTo>
                    <a:pt x="59"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 name="Freeform 43"/>
            <p:cNvSpPr>
              <a:spLocks/>
            </p:cNvSpPr>
            <p:nvPr/>
          </p:nvSpPr>
          <p:spPr bwMode="auto">
            <a:xfrm>
              <a:off x="4493" y="2261"/>
              <a:ext cx="5" cy="2"/>
            </a:xfrm>
            <a:custGeom>
              <a:avLst/>
              <a:gdLst/>
              <a:ahLst/>
              <a:cxnLst>
                <a:cxn ang="0">
                  <a:pos x="4" y="0"/>
                </a:cxn>
                <a:cxn ang="0">
                  <a:pos x="3" y="1"/>
                </a:cxn>
                <a:cxn ang="0">
                  <a:pos x="0" y="1"/>
                </a:cxn>
                <a:cxn ang="0">
                  <a:pos x="4" y="0"/>
                </a:cxn>
              </a:cxnLst>
              <a:rect l="0" t="0" r="r" b="b"/>
              <a:pathLst>
                <a:path w="4" h="1">
                  <a:moveTo>
                    <a:pt x="4" y="0"/>
                  </a:moveTo>
                  <a:lnTo>
                    <a:pt x="3" y="1"/>
                  </a:lnTo>
                  <a:lnTo>
                    <a:pt x="0" y="1"/>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5" name="Freeform 44"/>
            <p:cNvSpPr>
              <a:spLocks/>
            </p:cNvSpPr>
            <p:nvPr/>
          </p:nvSpPr>
          <p:spPr bwMode="auto">
            <a:xfrm>
              <a:off x="4262" y="2259"/>
              <a:ext cx="147" cy="168"/>
            </a:xfrm>
            <a:custGeom>
              <a:avLst/>
              <a:gdLst/>
              <a:ahLst/>
              <a:cxnLst>
                <a:cxn ang="0">
                  <a:pos x="74" y="38"/>
                </a:cxn>
                <a:cxn ang="0">
                  <a:pos x="69" y="34"/>
                </a:cxn>
                <a:cxn ang="0">
                  <a:pos x="60" y="25"/>
                </a:cxn>
                <a:cxn ang="0">
                  <a:pos x="53" y="29"/>
                </a:cxn>
                <a:cxn ang="0">
                  <a:pos x="41" y="19"/>
                </a:cxn>
                <a:cxn ang="0">
                  <a:pos x="38" y="12"/>
                </a:cxn>
                <a:cxn ang="0">
                  <a:pos x="26" y="0"/>
                </a:cxn>
                <a:cxn ang="0">
                  <a:pos x="18" y="0"/>
                </a:cxn>
                <a:cxn ang="0">
                  <a:pos x="21" y="22"/>
                </a:cxn>
                <a:cxn ang="0">
                  <a:pos x="15" y="18"/>
                </a:cxn>
                <a:cxn ang="0">
                  <a:pos x="13" y="14"/>
                </a:cxn>
                <a:cxn ang="0">
                  <a:pos x="6" y="28"/>
                </a:cxn>
                <a:cxn ang="0">
                  <a:pos x="0" y="36"/>
                </a:cxn>
                <a:cxn ang="0">
                  <a:pos x="6" y="38"/>
                </a:cxn>
                <a:cxn ang="0">
                  <a:pos x="7" y="49"/>
                </a:cxn>
                <a:cxn ang="0">
                  <a:pos x="19" y="50"/>
                </a:cxn>
                <a:cxn ang="0">
                  <a:pos x="20" y="68"/>
                </a:cxn>
                <a:cxn ang="0">
                  <a:pos x="21" y="86"/>
                </a:cxn>
                <a:cxn ang="0">
                  <a:pos x="36" y="76"/>
                </a:cxn>
                <a:cxn ang="0">
                  <a:pos x="45" y="79"/>
                </a:cxn>
                <a:cxn ang="0">
                  <a:pos x="53" y="77"/>
                </a:cxn>
                <a:cxn ang="0">
                  <a:pos x="60" y="72"/>
                </a:cxn>
                <a:cxn ang="0">
                  <a:pos x="79" y="88"/>
                </a:cxn>
                <a:cxn ang="0">
                  <a:pos x="81" y="101"/>
                </a:cxn>
                <a:cxn ang="0">
                  <a:pos x="96" y="119"/>
                </a:cxn>
                <a:cxn ang="0">
                  <a:pos x="99" y="134"/>
                </a:cxn>
                <a:cxn ang="0">
                  <a:pos x="95" y="144"/>
                </a:cxn>
                <a:cxn ang="0">
                  <a:pos x="108" y="151"/>
                </a:cxn>
                <a:cxn ang="0">
                  <a:pos x="108" y="146"/>
                </a:cxn>
                <a:cxn ang="0">
                  <a:pos x="114" y="142"/>
                </a:cxn>
                <a:cxn ang="0">
                  <a:pos x="120" y="144"/>
                </a:cxn>
                <a:cxn ang="0">
                  <a:pos x="131" y="138"/>
                </a:cxn>
                <a:cxn ang="0">
                  <a:pos x="128" y="124"/>
                </a:cxn>
                <a:cxn ang="0">
                  <a:pos x="123" y="118"/>
                </a:cxn>
                <a:cxn ang="0">
                  <a:pos x="125" y="114"/>
                </a:cxn>
                <a:cxn ang="0">
                  <a:pos x="110" y="102"/>
                </a:cxn>
                <a:cxn ang="0">
                  <a:pos x="103" y="92"/>
                </a:cxn>
                <a:cxn ang="0">
                  <a:pos x="93" y="80"/>
                </a:cxn>
                <a:cxn ang="0">
                  <a:pos x="84" y="68"/>
                </a:cxn>
                <a:cxn ang="0">
                  <a:pos x="63" y="53"/>
                </a:cxn>
                <a:cxn ang="0">
                  <a:pos x="67" y="48"/>
                </a:cxn>
                <a:cxn ang="0">
                  <a:pos x="75" y="46"/>
                </a:cxn>
                <a:cxn ang="0">
                  <a:pos x="74" y="38"/>
                </a:cxn>
              </a:cxnLst>
              <a:rect l="0" t="0" r="r" b="b"/>
              <a:pathLst>
                <a:path w="131" h="151">
                  <a:moveTo>
                    <a:pt x="74" y="38"/>
                  </a:moveTo>
                  <a:lnTo>
                    <a:pt x="69" y="34"/>
                  </a:lnTo>
                  <a:lnTo>
                    <a:pt x="60" y="25"/>
                  </a:lnTo>
                  <a:lnTo>
                    <a:pt x="53" y="29"/>
                  </a:lnTo>
                  <a:lnTo>
                    <a:pt x="41" y="19"/>
                  </a:lnTo>
                  <a:lnTo>
                    <a:pt x="38" y="12"/>
                  </a:lnTo>
                  <a:lnTo>
                    <a:pt x="26" y="0"/>
                  </a:lnTo>
                  <a:lnTo>
                    <a:pt x="18" y="0"/>
                  </a:lnTo>
                  <a:lnTo>
                    <a:pt x="21" y="22"/>
                  </a:lnTo>
                  <a:lnTo>
                    <a:pt x="15" y="18"/>
                  </a:lnTo>
                  <a:lnTo>
                    <a:pt x="13" y="14"/>
                  </a:lnTo>
                  <a:lnTo>
                    <a:pt x="6" y="28"/>
                  </a:lnTo>
                  <a:lnTo>
                    <a:pt x="0" y="36"/>
                  </a:lnTo>
                  <a:lnTo>
                    <a:pt x="6" y="38"/>
                  </a:lnTo>
                  <a:lnTo>
                    <a:pt x="7" y="49"/>
                  </a:lnTo>
                  <a:lnTo>
                    <a:pt x="19" y="50"/>
                  </a:lnTo>
                  <a:lnTo>
                    <a:pt x="20" y="68"/>
                  </a:lnTo>
                  <a:lnTo>
                    <a:pt x="21" y="86"/>
                  </a:lnTo>
                  <a:lnTo>
                    <a:pt x="36" y="76"/>
                  </a:lnTo>
                  <a:lnTo>
                    <a:pt x="45" y="79"/>
                  </a:lnTo>
                  <a:lnTo>
                    <a:pt x="53" y="77"/>
                  </a:lnTo>
                  <a:lnTo>
                    <a:pt x="60" y="72"/>
                  </a:lnTo>
                  <a:lnTo>
                    <a:pt x="79" y="88"/>
                  </a:lnTo>
                  <a:lnTo>
                    <a:pt x="81" y="101"/>
                  </a:lnTo>
                  <a:lnTo>
                    <a:pt x="96" y="119"/>
                  </a:lnTo>
                  <a:lnTo>
                    <a:pt x="99" y="134"/>
                  </a:lnTo>
                  <a:lnTo>
                    <a:pt x="95" y="144"/>
                  </a:lnTo>
                  <a:lnTo>
                    <a:pt x="108" y="151"/>
                  </a:lnTo>
                  <a:lnTo>
                    <a:pt x="108" y="146"/>
                  </a:lnTo>
                  <a:lnTo>
                    <a:pt x="114" y="142"/>
                  </a:lnTo>
                  <a:lnTo>
                    <a:pt x="120" y="144"/>
                  </a:lnTo>
                  <a:lnTo>
                    <a:pt x="131" y="138"/>
                  </a:lnTo>
                  <a:lnTo>
                    <a:pt x="128" y="124"/>
                  </a:lnTo>
                  <a:lnTo>
                    <a:pt x="123" y="118"/>
                  </a:lnTo>
                  <a:lnTo>
                    <a:pt x="125" y="114"/>
                  </a:lnTo>
                  <a:lnTo>
                    <a:pt x="110" y="102"/>
                  </a:lnTo>
                  <a:lnTo>
                    <a:pt x="103" y="92"/>
                  </a:lnTo>
                  <a:lnTo>
                    <a:pt x="93" y="80"/>
                  </a:lnTo>
                  <a:lnTo>
                    <a:pt x="84" y="68"/>
                  </a:lnTo>
                  <a:lnTo>
                    <a:pt x="63" y="53"/>
                  </a:lnTo>
                  <a:lnTo>
                    <a:pt x="67" y="48"/>
                  </a:lnTo>
                  <a:lnTo>
                    <a:pt x="75" y="46"/>
                  </a:lnTo>
                  <a:lnTo>
                    <a:pt x="74"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6" name="Freeform 45"/>
            <p:cNvSpPr>
              <a:spLocks/>
            </p:cNvSpPr>
            <p:nvPr/>
          </p:nvSpPr>
          <p:spPr bwMode="auto">
            <a:xfrm>
              <a:off x="4124" y="2136"/>
              <a:ext cx="154" cy="367"/>
            </a:xfrm>
            <a:custGeom>
              <a:avLst/>
              <a:gdLst/>
              <a:ahLst/>
              <a:cxnLst>
                <a:cxn ang="0">
                  <a:pos x="76" y="81"/>
                </a:cxn>
                <a:cxn ang="0">
                  <a:pos x="74" y="66"/>
                </a:cxn>
                <a:cxn ang="0">
                  <a:pos x="84" y="45"/>
                </a:cxn>
                <a:cxn ang="0">
                  <a:pos x="78" y="16"/>
                </a:cxn>
                <a:cxn ang="0">
                  <a:pos x="58" y="0"/>
                </a:cxn>
                <a:cxn ang="0">
                  <a:pos x="54" y="14"/>
                </a:cxn>
                <a:cxn ang="0">
                  <a:pos x="55" y="25"/>
                </a:cxn>
                <a:cxn ang="0">
                  <a:pos x="29" y="38"/>
                </a:cxn>
                <a:cxn ang="0">
                  <a:pos x="28" y="61"/>
                </a:cxn>
                <a:cxn ang="0">
                  <a:pos x="11" y="82"/>
                </a:cxn>
                <a:cxn ang="0">
                  <a:pos x="10" y="117"/>
                </a:cxn>
                <a:cxn ang="0">
                  <a:pos x="4" y="117"/>
                </a:cxn>
                <a:cxn ang="0">
                  <a:pos x="0" y="132"/>
                </a:cxn>
                <a:cxn ang="0">
                  <a:pos x="11" y="148"/>
                </a:cxn>
                <a:cxn ang="0">
                  <a:pos x="18" y="156"/>
                </a:cxn>
                <a:cxn ang="0">
                  <a:pos x="26" y="156"/>
                </a:cxn>
                <a:cxn ang="0">
                  <a:pos x="26" y="165"/>
                </a:cxn>
                <a:cxn ang="0">
                  <a:pos x="34" y="165"/>
                </a:cxn>
                <a:cxn ang="0">
                  <a:pos x="44" y="194"/>
                </a:cxn>
                <a:cxn ang="0">
                  <a:pos x="43" y="224"/>
                </a:cxn>
                <a:cxn ang="0">
                  <a:pos x="52" y="225"/>
                </a:cxn>
                <a:cxn ang="0">
                  <a:pos x="58" y="226"/>
                </a:cxn>
                <a:cxn ang="0">
                  <a:pos x="61" y="228"/>
                </a:cxn>
                <a:cxn ang="0">
                  <a:pos x="74" y="213"/>
                </a:cxn>
                <a:cxn ang="0">
                  <a:pos x="83" y="201"/>
                </a:cxn>
                <a:cxn ang="0">
                  <a:pos x="96" y="216"/>
                </a:cxn>
                <a:cxn ang="0">
                  <a:pos x="109" y="266"/>
                </a:cxn>
                <a:cxn ang="0">
                  <a:pos x="115" y="274"/>
                </a:cxn>
                <a:cxn ang="0">
                  <a:pos x="122" y="301"/>
                </a:cxn>
                <a:cxn ang="0">
                  <a:pos x="121" y="330"/>
                </a:cxn>
                <a:cxn ang="0">
                  <a:pos x="131" y="314"/>
                </a:cxn>
                <a:cxn ang="0">
                  <a:pos x="131" y="285"/>
                </a:cxn>
                <a:cxn ang="0">
                  <a:pos x="119" y="259"/>
                </a:cxn>
                <a:cxn ang="0">
                  <a:pos x="110" y="237"/>
                </a:cxn>
                <a:cxn ang="0">
                  <a:pos x="116" y="219"/>
                </a:cxn>
                <a:cxn ang="0">
                  <a:pos x="100" y="199"/>
                </a:cxn>
                <a:cxn ang="0">
                  <a:pos x="91" y="180"/>
                </a:cxn>
                <a:cxn ang="0">
                  <a:pos x="109" y="157"/>
                </a:cxn>
                <a:cxn ang="0">
                  <a:pos x="125" y="146"/>
                </a:cxn>
                <a:cxn ang="0">
                  <a:pos x="138" y="124"/>
                </a:cxn>
                <a:cxn ang="0">
                  <a:pos x="122" y="126"/>
                </a:cxn>
                <a:cxn ang="0">
                  <a:pos x="106" y="112"/>
                </a:cxn>
                <a:cxn ang="0">
                  <a:pos x="97" y="93"/>
                </a:cxn>
                <a:cxn ang="0">
                  <a:pos x="92" y="79"/>
                </a:cxn>
              </a:cxnLst>
              <a:rect l="0" t="0" r="r" b="b"/>
              <a:pathLst>
                <a:path w="138" h="330">
                  <a:moveTo>
                    <a:pt x="92" y="79"/>
                  </a:moveTo>
                  <a:lnTo>
                    <a:pt x="76" y="81"/>
                  </a:lnTo>
                  <a:lnTo>
                    <a:pt x="76" y="73"/>
                  </a:lnTo>
                  <a:lnTo>
                    <a:pt x="74" y="66"/>
                  </a:lnTo>
                  <a:lnTo>
                    <a:pt x="82" y="54"/>
                  </a:lnTo>
                  <a:lnTo>
                    <a:pt x="84" y="45"/>
                  </a:lnTo>
                  <a:lnTo>
                    <a:pt x="80" y="31"/>
                  </a:lnTo>
                  <a:lnTo>
                    <a:pt x="78" y="16"/>
                  </a:lnTo>
                  <a:lnTo>
                    <a:pt x="71" y="13"/>
                  </a:lnTo>
                  <a:lnTo>
                    <a:pt x="58" y="0"/>
                  </a:lnTo>
                  <a:lnTo>
                    <a:pt x="56" y="6"/>
                  </a:lnTo>
                  <a:lnTo>
                    <a:pt x="54" y="14"/>
                  </a:lnTo>
                  <a:lnTo>
                    <a:pt x="53" y="19"/>
                  </a:lnTo>
                  <a:lnTo>
                    <a:pt x="55" y="25"/>
                  </a:lnTo>
                  <a:lnTo>
                    <a:pt x="43" y="22"/>
                  </a:lnTo>
                  <a:lnTo>
                    <a:pt x="29" y="38"/>
                  </a:lnTo>
                  <a:lnTo>
                    <a:pt x="29" y="52"/>
                  </a:lnTo>
                  <a:lnTo>
                    <a:pt x="28" y="61"/>
                  </a:lnTo>
                  <a:lnTo>
                    <a:pt x="20" y="82"/>
                  </a:lnTo>
                  <a:lnTo>
                    <a:pt x="11" y="82"/>
                  </a:lnTo>
                  <a:lnTo>
                    <a:pt x="11" y="98"/>
                  </a:lnTo>
                  <a:lnTo>
                    <a:pt x="10" y="117"/>
                  </a:lnTo>
                  <a:lnTo>
                    <a:pt x="5" y="116"/>
                  </a:lnTo>
                  <a:lnTo>
                    <a:pt x="4" y="117"/>
                  </a:lnTo>
                  <a:lnTo>
                    <a:pt x="5" y="128"/>
                  </a:lnTo>
                  <a:lnTo>
                    <a:pt x="0" y="132"/>
                  </a:lnTo>
                  <a:lnTo>
                    <a:pt x="11" y="147"/>
                  </a:lnTo>
                  <a:lnTo>
                    <a:pt x="11" y="148"/>
                  </a:lnTo>
                  <a:lnTo>
                    <a:pt x="14" y="145"/>
                  </a:lnTo>
                  <a:lnTo>
                    <a:pt x="18" y="156"/>
                  </a:lnTo>
                  <a:lnTo>
                    <a:pt x="19" y="156"/>
                  </a:lnTo>
                  <a:lnTo>
                    <a:pt x="26" y="156"/>
                  </a:lnTo>
                  <a:lnTo>
                    <a:pt x="31" y="163"/>
                  </a:lnTo>
                  <a:lnTo>
                    <a:pt x="26" y="165"/>
                  </a:lnTo>
                  <a:lnTo>
                    <a:pt x="31" y="172"/>
                  </a:lnTo>
                  <a:lnTo>
                    <a:pt x="34" y="165"/>
                  </a:lnTo>
                  <a:lnTo>
                    <a:pt x="40" y="180"/>
                  </a:lnTo>
                  <a:lnTo>
                    <a:pt x="44" y="194"/>
                  </a:lnTo>
                  <a:lnTo>
                    <a:pt x="44" y="208"/>
                  </a:lnTo>
                  <a:lnTo>
                    <a:pt x="43" y="224"/>
                  </a:lnTo>
                  <a:lnTo>
                    <a:pt x="49" y="216"/>
                  </a:lnTo>
                  <a:lnTo>
                    <a:pt x="52" y="225"/>
                  </a:lnTo>
                  <a:lnTo>
                    <a:pt x="54" y="228"/>
                  </a:lnTo>
                  <a:lnTo>
                    <a:pt x="58" y="226"/>
                  </a:lnTo>
                  <a:lnTo>
                    <a:pt x="61" y="225"/>
                  </a:lnTo>
                  <a:lnTo>
                    <a:pt x="61" y="228"/>
                  </a:lnTo>
                  <a:lnTo>
                    <a:pt x="72" y="218"/>
                  </a:lnTo>
                  <a:lnTo>
                    <a:pt x="74" y="213"/>
                  </a:lnTo>
                  <a:lnTo>
                    <a:pt x="78" y="216"/>
                  </a:lnTo>
                  <a:lnTo>
                    <a:pt x="83" y="201"/>
                  </a:lnTo>
                  <a:lnTo>
                    <a:pt x="89" y="210"/>
                  </a:lnTo>
                  <a:lnTo>
                    <a:pt x="96" y="216"/>
                  </a:lnTo>
                  <a:lnTo>
                    <a:pt x="103" y="241"/>
                  </a:lnTo>
                  <a:lnTo>
                    <a:pt x="109" y="266"/>
                  </a:lnTo>
                  <a:lnTo>
                    <a:pt x="110" y="261"/>
                  </a:lnTo>
                  <a:lnTo>
                    <a:pt x="115" y="274"/>
                  </a:lnTo>
                  <a:lnTo>
                    <a:pt x="120" y="288"/>
                  </a:lnTo>
                  <a:lnTo>
                    <a:pt x="122" y="301"/>
                  </a:lnTo>
                  <a:lnTo>
                    <a:pt x="122" y="316"/>
                  </a:lnTo>
                  <a:lnTo>
                    <a:pt x="121" y="330"/>
                  </a:lnTo>
                  <a:lnTo>
                    <a:pt x="125" y="326"/>
                  </a:lnTo>
                  <a:lnTo>
                    <a:pt x="131" y="314"/>
                  </a:lnTo>
                  <a:lnTo>
                    <a:pt x="136" y="303"/>
                  </a:lnTo>
                  <a:lnTo>
                    <a:pt x="131" y="285"/>
                  </a:lnTo>
                  <a:lnTo>
                    <a:pt x="127" y="270"/>
                  </a:lnTo>
                  <a:lnTo>
                    <a:pt x="119" y="259"/>
                  </a:lnTo>
                  <a:lnTo>
                    <a:pt x="110" y="248"/>
                  </a:lnTo>
                  <a:lnTo>
                    <a:pt x="110" y="237"/>
                  </a:lnTo>
                  <a:lnTo>
                    <a:pt x="113" y="230"/>
                  </a:lnTo>
                  <a:lnTo>
                    <a:pt x="116" y="219"/>
                  </a:lnTo>
                  <a:lnTo>
                    <a:pt x="113" y="218"/>
                  </a:lnTo>
                  <a:lnTo>
                    <a:pt x="100" y="199"/>
                  </a:lnTo>
                  <a:lnTo>
                    <a:pt x="86" y="178"/>
                  </a:lnTo>
                  <a:lnTo>
                    <a:pt x="91" y="180"/>
                  </a:lnTo>
                  <a:lnTo>
                    <a:pt x="95" y="159"/>
                  </a:lnTo>
                  <a:lnTo>
                    <a:pt x="109" y="157"/>
                  </a:lnTo>
                  <a:lnTo>
                    <a:pt x="116" y="148"/>
                  </a:lnTo>
                  <a:lnTo>
                    <a:pt x="125" y="146"/>
                  </a:lnTo>
                  <a:lnTo>
                    <a:pt x="131" y="138"/>
                  </a:lnTo>
                  <a:lnTo>
                    <a:pt x="138" y="124"/>
                  </a:lnTo>
                  <a:lnTo>
                    <a:pt x="133" y="122"/>
                  </a:lnTo>
                  <a:lnTo>
                    <a:pt x="122" y="126"/>
                  </a:lnTo>
                  <a:lnTo>
                    <a:pt x="114" y="116"/>
                  </a:lnTo>
                  <a:lnTo>
                    <a:pt x="106" y="112"/>
                  </a:lnTo>
                  <a:lnTo>
                    <a:pt x="108" y="98"/>
                  </a:lnTo>
                  <a:lnTo>
                    <a:pt x="97" y="93"/>
                  </a:lnTo>
                  <a:lnTo>
                    <a:pt x="94" y="81"/>
                  </a:lnTo>
                  <a:lnTo>
                    <a:pt x="92" y="7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7" name="Freeform 46"/>
            <p:cNvSpPr>
              <a:spLocks/>
            </p:cNvSpPr>
            <p:nvPr/>
          </p:nvSpPr>
          <p:spPr bwMode="auto">
            <a:xfrm>
              <a:off x="4620" y="2334"/>
              <a:ext cx="82" cy="120"/>
            </a:xfrm>
            <a:custGeom>
              <a:avLst/>
              <a:gdLst/>
              <a:ahLst/>
              <a:cxnLst>
                <a:cxn ang="0">
                  <a:pos x="15" y="69"/>
                </a:cxn>
                <a:cxn ang="0">
                  <a:pos x="15" y="76"/>
                </a:cxn>
                <a:cxn ang="0">
                  <a:pos x="4" y="58"/>
                </a:cxn>
                <a:cxn ang="0">
                  <a:pos x="0" y="43"/>
                </a:cxn>
                <a:cxn ang="0">
                  <a:pos x="9" y="45"/>
                </a:cxn>
                <a:cxn ang="0">
                  <a:pos x="6" y="27"/>
                </a:cxn>
                <a:cxn ang="0">
                  <a:pos x="5" y="7"/>
                </a:cxn>
                <a:cxn ang="0">
                  <a:pos x="9" y="0"/>
                </a:cxn>
                <a:cxn ang="0">
                  <a:pos x="29" y="5"/>
                </a:cxn>
                <a:cxn ang="0">
                  <a:pos x="31" y="9"/>
                </a:cxn>
                <a:cxn ang="0">
                  <a:pos x="36" y="23"/>
                </a:cxn>
                <a:cxn ang="0">
                  <a:pos x="39" y="34"/>
                </a:cxn>
                <a:cxn ang="0">
                  <a:pos x="35" y="45"/>
                </a:cxn>
                <a:cxn ang="0">
                  <a:pos x="29" y="52"/>
                </a:cxn>
                <a:cxn ang="0">
                  <a:pos x="29" y="65"/>
                </a:cxn>
                <a:cxn ang="0">
                  <a:pos x="39" y="84"/>
                </a:cxn>
                <a:cxn ang="0">
                  <a:pos x="43" y="83"/>
                </a:cxn>
                <a:cxn ang="0">
                  <a:pos x="45" y="81"/>
                </a:cxn>
                <a:cxn ang="0">
                  <a:pos x="53" y="78"/>
                </a:cxn>
                <a:cxn ang="0">
                  <a:pos x="60" y="88"/>
                </a:cxn>
                <a:cxn ang="0">
                  <a:pos x="61" y="84"/>
                </a:cxn>
                <a:cxn ang="0">
                  <a:pos x="69" y="89"/>
                </a:cxn>
                <a:cxn ang="0">
                  <a:pos x="65" y="91"/>
                </a:cxn>
                <a:cxn ang="0">
                  <a:pos x="72" y="100"/>
                </a:cxn>
                <a:cxn ang="0">
                  <a:pos x="76" y="101"/>
                </a:cxn>
                <a:cxn ang="0">
                  <a:pos x="72" y="108"/>
                </a:cxn>
                <a:cxn ang="0">
                  <a:pos x="72" y="103"/>
                </a:cxn>
                <a:cxn ang="0">
                  <a:pos x="61" y="97"/>
                </a:cxn>
                <a:cxn ang="0">
                  <a:pos x="54" y="89"/>
                </a:cxn>
                <a:cxn ang="0">
                  <a:pos x="48" y="87"/>
                </a:cxn>
                <a:cxn ang="0">
                  <a:pos x="51" y="99"/>
                </a:cxn>
                <a:cxn ang="0">
                  <a:pos x="35" y="85"/>
                </a:cxn>
                <a:cxn ang="0">
                  <a:pos x="25" y="90"/>
                </a:cxn>
                <a:cxn ang="0">
                  <a:pos x="18" y="87"/>
                </a:cxn>
                <a:cxn ang="0">
                  <a:pos x="18" y="78"/>
                </a:cxn>
                <a:cxn ang="0">
                  <a:pos x="21" y="71"/>
                </a:cxn>
                <a:cxn ang="0">
                  <a:pos x="15" y="69"/>
                </a:cxn>
              </a:cxnLst>
              <a:rect l="0" t="0" r="r" b="b"/>
              <a:pathLst>
                <a:path w="76" h="108">
                  <a:moveTo>
                    <a:pt x="15" y="69"/>
                  </a:moveTo>
                  <a:lnTo>
                    <a:pt x="15" y="76"/>
                  </a:lnTo>
                  <a:lnTo>
                    <a:pt x="4" y="58"/>
                  </a:lnTo>
                  <a:lnTo>
                    <a:pt x="0" y="43"/>
                  </a:lnTo>
                  <a:lnTo>
                    <a:pt x="9" y="45"/>
                  </a:lnTo>
                  <a:lnTo>
                    <a:pt x="6" y="27"/>
                  </a:lnTo>
                  <a:lnTo>
                    <a:pt x="5" y="7"/>
                  </a:lnTo>
                  <a:lnTo>
                    <a:pt x="9" y="0"/>
                  </a:lnTo>
                  <a:lnTo>
                    <a:pt x="29" y="5"/>
                  </a:lnTo>
                  <a:lnTo>
                    <a:pt x="31" y="9"/>
                  </a:lnTo>
                  <a:lnTo>
                    <a:pt x="36" y="23"/>
                  </a:lnTo>
                  <a:lnTo>
                    <a:pt x="39" y="34"/>
                  </a:lnTo>
                  <a:lnTo>
                    <a:pt x="35" y="45"/>
                  </a:lnTo>
                  <a:lnTo>
                    <a:pt x="29" y="52"/>
                  </a:lnTo>
                  <a:lnTo>
                    <a:pt x="29" y="65"/>
                  </a:lnTo>
                  <a:lnTo>
                    <a:pt x="39" y="84"/>
                  </a:lnTo>
                  <a:lnTo>
                    <a:pt x="43" y="83"/>
                  </a:lnTo>
                  <a:lnTo>
                    <a:pt x="45" y="81"/>
                  </a:lnTo>
                  <a:lnTo>
                    <a:pt x="53" y="78"/>
                  </a:lnTo>
                  <a:lnTo>
                    <a:pt x="60" y="88"/>
                  </a:lnTo>
                  <a:lnTo>
                    <a:pt x="61" y="84"/>
                  </a:lnTo>
                  <a:lnTo>
                    <a:pt x="69" y="89"/>
                  </a:lnTo>
                  <a:lnTo>
                    <a:pt x="65" y="91"/>
                  </a:lnTo>
                  <a:lnTo>
                    <a:pt x="72" y="100"/>
                  </a:lnTo>
                  <a:lnTo>
                    <a:pt x="76" y="101"/>
                  </a:lnTo>
                  <a:lnTo>
                    <a:pt x="72" y="108"/>
                  </a:lnTo>
                  <a:lnTo>
                    <a:pt x="72" y="103"/>
                  </a:lnTo>
                  <a:lnTo>
                    <a:pt x="61" y="97"/>
                  </a:lnTo>
                  <a:lnTo>
                    <a:pt x="54" y="89"/>
                  </a:lnTo>
                  <a:lnTo>
                    <a:pt x="48" y="87"/>
                  </a:lnTo>
                  <a:lnTo>
                    <a:pt x="51" y="99"/>
                  </a:lnTo>
                  <a:lnTo>
                    <a:pt x="35" y="85"/>
                  </a:lnTo>
                  <a:lnTo>
                    <a:pt x="25" y="90"/>
                  </a:lnTo>
                  <a:lnTo>
                    <a:pt x="18" y="87"/>
                  </a:lnTo>
                  <a:lnTo>
                    <a:pt x="18" y="78"/>
                  </a:lnTo>
                  <a:lnTo>
                    <a:pt x="21" y="71"/>
                  </a:lnTo>
                  <a:lnTo>
                    <a:pt x="15"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8" name="Freeform 47"/>
            <p:cNvSpPr>
              <a:spLocks/>
            </p:cNvSpPr>
            <p:nvPr/>
          </p:nvSpPr>
          <p:spPr bwMode="auto">
            <a:xfrm>
              <a:off x="4675" y="2512"/>
              <a:ext cx="80" cy="82"/>
            </a:xfrm>
            <a:custGeom>
              <a:avLst/>
              <a:gdLst/>
              <a:ahLst/>
              <a:cxnLst>
                <a:cxn ang="0">
                  <a:pos x="56" y="73"/>
                </a:cxn>
                <a:cxn ang="0">
                  <a:pos x="54" y="66"/>
                </a:cxn>
                <a:cxn ang="0">
                  <a:pos x="51" y="68"/>
                </a:cxn>
                <a:cxn ang="0">
                  <a:pos x="33" y="58"/>
                </a:cxn>
                <a:cxn ang="0">
                  <a:pos x="36" y="43"/>
                </a:cxn>
                <a:cxn ang="0">
                  <a:pos x="26" y="34"/>
                </a:cxn>
                <a:cxn ang="0">
                  <a:pos x="22" y="38"/>
                </a:cxn>
                <a:cxn ang="0">
                  <a:pos x="19" y="37"/>
                </a:cxn>
                <a:cxn ang="0">
                  <a:pos x="16" y="40"/>
                </a:cxn>
                <a:cxn ang="0">
                  <a:pos x="12" y="35"/>
                </a:cxn>
                <a:cxn ang="0">
                  <a:pos x="4" y="44"/>
                </a:cxn>
                <a:cxn ang="0">
                  <a:pos x="0" y="49"/>
                </a:cxn>
                <a:cxn ang="0">
                  <a:pos x="2" y="36"/>
                </a:cxn>
                <a:cxn ang="0">
                  <a:pos x="14" y="25"/>
                </a:cxn>
                <a:cxn ang="0">
                  <a:pos x="24" y="19"/>
                </a:cxn>
                <a:cxn ang="0">
                  <a:pos x="27" y="29"/>
                </a:cxn>
                <a:cxn ang="0">
                  <a:pos x="34" y="25"/>
                </a:cxn>
                <a:cxn ang="0">
                  <a:pos x="39" y="22"/>
                </a:cxn>
                <a:cxn ang="0">
                  <a:pos x="42" y="13"/>
                </a:cxn>
                <a:cxn ang="0">
                  <a:pos x="49" y="13"/>
                </a:cxn>
                <a:cxn ang="0">
                  <a:pos x="52" y="13"/>
                </a:cxn>
                <a:cxn ang="0">
                  <a:pos x="51" y="0"/>
                </a:cxn>
                <a:cxn ang="0">
                  <a:pos x="63" y="8"/>
                </a:cxn>
                <a:cxn ang="0">
                  <a:pos x="66" y="22"/>
                </a:cxn>
                <a:cxn ang="0">
                  <a:pos x="73" y="43"/>
                </a:cxn>
                <a:cxn ang="0">
                  <a:pos x="69" y="52"/>
                </a:cxn>
                <a:cxn ang="0">
                  <a:pos x="68" y="59"/>
                </a:cxn>
                <a:cxn ang="0">
                  <a:pos x="61" y="44"/>
                </a:cxn>
                <a:cxn ang="0">
                  <a:pos x="56" y="48"/>
                </a:cxn>
                <a:cxn ang="0">
                  <a:pos x="58" y="60"/>
                </a:cxn>
                <a:cxn ang="0">
                  <a:pos x="56" y="73"/>
                </a:cxn>
              </a:cxnLst>
              <a:rect l="0" t="0" r="r" b="b"/>
              <a:pathLst>
                <a:path w="73" h="73">
                  <a:moveTo>
                    <a:pt x="56" y="73"/>
                  </a:moveTo>
                  <a:lnTo>
                    <a:pt x="54" y="66"/>
                  </a:lnTo>
                  <a:lnTo>
                    <a:pt x="51" y="68"/>
                  </a:lnTo>
                  <a:lnTo>
                    <a:pt x="33" y="58"/>
                  </a:lnTo>
                  <a:lnTo>
                    <a:pt x="36" y="43"/>
                  </a:lnTo>
                  <a:lnTo>
                    <a:pt x="26" y="34"/>
                  </a:lnTo>
                  <a:lnTo>
                    <a:pt x="22" y="38"/>
                  </a:lnTo>
                  <a:lnTo>
                    <a:pt x="19" y="37"/>
                  </a:lnTo>
                  <a:lnTo>
                    <a:pt x="16" y="40"/>
                  </a:lnTo>
                  <a:lnTo>
                    <a:pt x="12" y="35"/>
                  </a:lnTo>
                  <a:lnTo>
                    <a:pt x="4" y="44"/>
                  </a:lnTo>
                  <a:lnTo>
                    <a:pt x="0" y="49"/>
                  </a:lnTo>
                  <a:lnTo>
                    <a:pt x="2" y="36"/>
                  </a:lnTo>
                  <a:lnTo>
                    <a:pt x="14" y="25"/>
                  </a:lnTo>
                  <a:lnTo>
                    <a:pt x="24" y="19"/>
                  </a:lnTo>
                  <a:lnTo>
                    <a:pt x="27" y="29"/>
                  </a:lnTo>
                  <a:lnTo>
                    <a:pt x="34" y="25"/>
                  </a:lnTo>
                  <a:lnTo>
                    <a:pt x="39" y="22"/>
                  </a:lnTo>
                  <a:lnTo>
                    <a:pt x="42" y="13"/>
                  </a:lnTo>
                  <a:lnTo>
                    <a:pt x="49" y="13"/>
                  </a:lnTo>
                  <a:lnTo>
                    <a:pt x="52" y="13"/>
                  </a:lnTo>
                  <a:lnTo>
                    <a:pt x="51" y="0"/>
                  </a:lnTo>
                  <a:lnTo>
                    <a:pt x="63" y="8"/>
                  </a:lnTo>
                  <a:lnTo>
                    <a:pt x="66" y="22"/>
                  </a:lnTo>
                  <a:lnTo>
                    <a:pt x="73" y="43"/>
                  </a:lnTo>
                  <a:lnTo>
                    <a:pt x="69" y="52"/>
                  </a:lnTo>
                  <a:lnTo>
                    <a:pt x="68" y="59"/>
                  </a:lnTo>
                  <a:lnTo>
                    <a:pt x="61" y="44"/>
                  </a:lnTo>
                  <a:lnTo>
                    <a:pt x="56" y="48"/>
                  </a:lnTo>
                  <a:lnTo>
                    <a:pt x="58" y="60"/>
                  </a:lnTo>
                  <a:lnTo>
                    <a:pt x="56"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9" name="Freeform 48"/>
            <p:cNvSpPr>
              <a:spLocks/>
            </p:cNvSpPr>
            <p:nvPr/>
          </p:nvSpPr>
          <p:spPr bwMode="auto">
            <a:xfrm>
              <a:off x="4680" y="2490"/>
              <a:ext cx="17" cy="33"/>
            </a:xfrm>
            <a:custGeom>
              <a:avLst/>
              <a:gdLst/>
              <a:ahLst/>
              <a:cxnLst>
                <a:cxn ang="0">
                  <a:pos x="16" y="0"/>
                </a:cxn>
                <a:cxn ang="0">
                  <a:pos x="12" y="22"/>
                </a:cxn>
                <a:cxn ang="0">
                  <a:pos x="12" y="31"/>
                </a:cxn>
                <a:cxn ang="0">
                  <a:pos x="0" y="20"/>
                </a:cxn>
                <a:cxn ang="0">
                  <a:pos x="4" y="15"/>
                </a:cxn>
                <a:cxn ang="0">
                  <a:pos x="6" y="0"/>
                </a:cxn>
                <a:cxn ang="0">
                  <a:pos x="16" y="0"/>
                </a:cxn>
              </a:cxnLst>
              <a:rect l="0" t="0" r="r" b="b"/>
              <a:pathLst>
                <a:path w="16" h="31">
                  <a:moveTo>
                    <a:pt x="16" y="0"/>
                  </a:moveTo>
                  <a:lnTo>
                    <a:pt x="12" y="22"/>
                  </a:lnTo>
                  <a:lnTo>
                    <a:pt x="12" y="31"/>
                  </a:lnTo>
                  <a:lnTo>
                    <a:pt x="0" y="20"/>
                  </a:lnTo>
                  <a:lnTo>
                    <a:pt x="4" y="15"/>
                  </a:lnTo>
                  <a:lnTo>
                    <a:pt x="6" y="0"/>
                  </a:lnTo>
                  <a:lnTo>
                    <a:pt x="1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0" name="Freeform 49"/>
            <p:cNvSpPr>
              <a:spLocks/>
            </p:cNvSpPr>
            <p:nvPr/>
          </p:nvSpPr>
          <p:spPr bwMode="auto">
            <a:xfrm>
              <a:off x="4706" y="2454"/>
              <a:ext cx="29" cy="31"/>
            </a:xfrm>
            <a:custGeom>
              <a:avLst/>
              <a:gdLst/>
              <a:ahLst/>
              <a:cxnLst>
                <a:cxn ang="0">
                  <a:pos x="20" y="27"/>
                </a:cxn>
                <a:cxn ang="0">
                  <a:pos x="12" y="18"/>
                </a:cxn>
                <a:cxn ang="0">
                  <a:pos x="0" y="3"/>
                </a:cxn>
                <a:cxn ang="0">
                  <a:pos x="14" y="0"/>
                </a:cxn>
                <a:cxn ang="0">
                  <a:pos x="20" y="11"/>
                </a:cxn>
                <a:cxn ang="0">
                  <a:pos x="27" y="28"/>
                </a:cxn>
                <a:cxn ang="0">
                  <a:pos x="20" y="27"/>
                </a:cxn>
              </a:cxnLst>
              <a:rect l="0" t="0" r="r" b="b"/>
              <a:pathLst>
                <a:path w="27" h="28">
                  <a:moveTo>
                    <a:pt x="20" y="27"/>
                  </a:moveTo>
                  <a:lnTo>
                    <a:pt x="12" y="18"/>
                  </a:lnTo>
                  <a:lnTo>
                    <a:pt x="0" y="3"/>
                  </a:lnTo>
                  <a:lnTo>
                    <a:pt x="14" y="0"/>
                  </a:lnTo>
                  <a:lnTo>
                    <a:pt x="20" y="11"/>
                  </a:lnTo>
                  <a:lnTo>
                    <a:pt x="27" y="28"/>
                  </a:lnTo>
                  <a:lnTo>
                    <a:pt x="2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1" name="Freeform 50"/>
            <p:cNvSpPr>
              <a:spLocks/>
            </p:cNvSpPr>
            <p:nvPr/>
          </p:nvSpPr>
          <p:spPr bwMode="auto">
            <a:xfrm>
              <a:off x="4666" y="2470"/>
              <a:ext cx="23" cy="26"/>
            </a:xfrm>
            <a:custGeom>
              <a:avLst/>
              <a:gdLst/>
              <a:ahLst/>
              <a:cxnLst>
                <a:cxn ang="0">
                  <a:pos x="20" y="4"/>
                </a:cxn>
                <a:cxn ang="0">
                  <a:pos x="3" y="0"/>
                </a:cxn>
                <a:cxn ang="0">
                  <a:pos x="0" y="1"/>
                </a:cxn>
                <a:cxn ang="0">
                  <a:pos x="5" y="24"/>
                </a:cxn>
                <a:cxn ang="0">
                  <a:pos x="20" y="9"/>
                </a:cxn>
                <a:cxn ang="0">
                  <a:pos x="21" y="8"/>
                </a:cxn>
                <a:cxn ang="0">
                  <a:pos x="20" y="4"/>
                </a:cxn>
              </a:cxnLst>
              <a:rect l="0" t="0" r="r" b="b"/>
              <a:pathLst>
                <a:path w="21" h="24">
                  <a:moveTo>
                    <a:pt x="20" y="4"/>
                  </a:moveTo>
                  <a:lnTo>
                    <a:pt x="3" y="0"/>
                  </a:lnTo>
                  <a:lnTo>
                    <a:pt x="0" y="1"/>
                  </a:lnTo>
                  <a:lnTo>
                    <a:pt x="5" y="24"/>
                  </a:lnTo>
                  <a:lnTo>
                    <a:pt x="20" y="9"/>
                  </a:lnTo>
                  <a:lnTo>
                    <a:pt x="21" y="8"/>
                  </a:lnTo>
                  <a:lnTo>
                    <a:pt x="2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2" name="Freeform 51"/>
            <p:cNvSpPr>
              <a:spLocks/>
            </p:cNvSpPr>
            <p:nvPr/>
          </p:nvSpPr>
          <p:spPr bwMode="auto">
            <a:xfrm>
              <a:off x="4589" y="2481"/>
              <a:ext cx="42" cy="55"/>
            </a:xfrm>
            <a:custGeom>
              <a:avLst/>
              <a:gdLst/>
              <a:ahLst/>
              <a:cxnLst>
                <a:cxn ang="0">
                  <a:pos x="37" y="15"/>
                </a:cxn>
                <a:cxn ang="0">
                  <a:pos x="23" y="29"/>
                </a:cxn>
                <a:cxn ang="0">
                  <a:pos x="12" y="40"/>
                </a:cxn>
                <a:cxn ang="0">
                  <a:pos x="0" y="52"/>
                </a:cxn>
                <a:cxn ang="0">
                  <a:pos x="1" y="48"/>
                </a:cxn>
                <a:cxn ang="0">
                  <a:pos x="13" y="34"/>
                </a:cxn>
                <a:cxn ang="0">
                  <a:pos x="24" y="21"/>
                </a:cxn>
                <a:cxn ang="0">
                  <a:pos x="29" y="9"/>
                </a:cxn>
                <a:cxn ang="0">
                  <a:pos x="30" y="9"/>
                </a:cxn>
                <a:cxn ang="0">
                  <a:pos x="31" y="0"/>
                </a:cxn>
                <a:cxn ang="0">
                  <a:pos x="37" y="15"/>
                </a:cxn>
              </a:cxnLst>
              <a:rect l="0" t="0" r="r" b="b"/>
              <a:pathLst>
                <a:path w="37" h="52">
                  <a:moveTo>
                    <a:pt x="37" y="15"/>
                  </a:moveTo>
                  <a:lnTo>
                    <a:pt x="23" y="29"/>
                  </a:lnTo>
                  <a:lnTo>
                    <a:pt x="12" y="40"/>
                  </a:lnTo>
                  <a:lnTo>
                    <a:pt x="0" y="52"/>
                  </a:lnTo>
                  <a:lnTo>
                    <a:pt x="1" y="48"/>
                  </a:lnTo>
                  <a:lnTo>
                    <a:pt x="13" y="34"/>
                  </a:lnTo>
                  <a:lnTo>
                    <a:pt x="24" y="21"/>
                  </a:lnTo>
                  <a:lnTo>
                    <a:pt x="29" y="9"/>
                  </a:lnTo>
                  <a:lnTo>
                    <a:pt x="30" y="9"/>
                  </a:lnTo>
                  <a:lnTo>
                    <a:pt x="31" y="0"/>
                  </a:lnTo>
                  <a:lnTo>
                    <a:pt x="37"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3" name="Freeform 52"/>
            <p:cNvSpPr>
              <a:spLocks/>
            </p:cNvSpPr>
            <p:nvPr/>
          </p:nvSpPr>
          <p:spPr bwMode="auto">
            <a:xfrm>
              <a:off x="4633" y="2436"/>
              <a:ext cx="24" cy="25"/>
            </a:xfrm>
            <a:custGeom>
              <a:avLst/>
              <a:gdLst/>
              <a:ahLst/>
              <a:cxnLst>
                <a:cxn ang="0">
                  <a:pos x="22" y="14"/>
                </a:cxn>
                <a:cxn ang="0">
                  <a:pos x="18" y="20"/>
                </a:cxn>
                <a:cxn ang="0">
                  <a:pos x="10" y="11"/>
                </a:cxn>
                <a:cxn ang="0">
                  <a:pos x="0" y="0"/>
                </a:cxn>
                <a:cxn ang="0">
                  <a:pos x="17" y="2"/>
                </a:cxn>
                <a:cxn ang="0">
                  <a:pos x="22" y="14"/>
                </a:cxn>
              </a:cxnLst>
              <a:rect l="0" t="0" r="r" b="b"/>
              <a:pathLst>
                <a:path w="22" h="20">
                  <a:moveTo>
                    <a:pt x="22" y="14"/>
                  </a:moveTo>
                  <a:lnTo>
                    <a:pt x="18" y="20"/>
                  </a:lnTo>
                  <a:lnTo>
                    <a:pt x="10" y="11"/>
                  </a:lnTo>
                  <a:lnTo>
                    <a:pt x="0" y="0"/>
                  </a:lnTo>
                  <a:lnTo>
                    <a:pt x="17" y="2"/>
                  </a:lnTo>
                  <a:lnTo>
                    <a:pt x="22" y="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4" name="Freeform 53"/>
            <p:cNvSpPr>
              <a:spLocks/>
            </p:cNvSpPr>
            <p:nvPr/>
          </p:nvSpPr>
          <p:spPr bwMode="auto">
            <a:xfrm>
              <a:off x="4711" y="2476"/>
              <a:ext cx="18" cy="27"/>
            </a:xfrm>
            <a:custGeom>
              <a:avLst/>
              <a:gdLst/>
              <a:ahLst/>
              <a:cxnLst>
                <a:cxn ang="0">
                  <a:pos x="10" y="4"/>
                </a:cxn>
                <a:cxn ang="0">
                  <a:pos x="16" y="21"/>
                </a:cxn>
                <a:cxn ang="0">
                  <a:pos x="12" y="22"/>
                </a:cxn>
                <a:cxn ang="0">
                  <a:pos x="11" y="25"/>
                </a:cxn>
                <a:cxn ang="0">
                  <a:pos x="4" y="10"/>
                </a:cxn>
                <a:cxn ang="0">
                  <a:pos x="0" y="0"/>
                </a:cxn>
                <a:cxn ang="0">
                  <a:pos x="10" y="4"/>
                </a:cxn>
              </a:cxnLst>
              <a:rect l="0" t="0" r="r" b="b"/>
              <a:pathLst>
                <a:path w="16" h="25">
                  <a:moveTo>
                    <a:pt x="10" y="4"/>
                  </a:moveTo>
                  <a:lnTo>
                    <a:pt x="16" y="21"/>
                  </a:lnTo>
                  <a:lnTo>
                    <a:pt x="12" y="22"/>
                  </a:lnTo>
                  <a:lnTo>
                    <a:pt x="11" y="25"/>
                  </a:lnTo>
                  <a:lnTo>
                    <a:pt x="4" y="10"/>
                  </a:lnTo>
                  <a:lnTo>
                    <a:pt x="0" y="0"/>
                  </a:lnTo>
                  <a:lnTo>
                    <a:pt x="1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5" name="Freeform 54"/>
            <p:cNvSpPr>
              <a:spLocks/>
            </p:cNvSpPr>
            <p:nvPr/>
          </p:nvSpPr>
          <p:spPr bwMode="auto">
            <a:xfrm>
              <a:off x="4689" y="2456"/>
              <a:ext cx="15" cy="16"/>
            </a:xfrm>
            <a:custGeom>
              <a:avLst/>
              <a:gdLst/>
              <a:ahLst/>
              <a:cxnLst>
                <a:cxn ang="0">
                  <a:pos x="14" y="13"/>
                </a:cxn>
                <a:cxn ang="0">
                  <a:pos x="2" y="6"/>
                </a:cxn>
                <a:cxn ang="0">
                  <a:pos x="0" y="7"/>
                </a:cxn>
                <a:cxn ang="0">
                  <a:pos x="1" y="0"/>
                </a:cxn>
                <a:cxn ang="0">
                  <a:pos x="14" y="11"/>
                </a:cxn>
                <a:cxn ang="0">
                  <a:pos x="14" y="13"/>
                </a:cxn>
              </a:cxnLst>
              <a:rect l="0" t="0" r="r" b="b"/>
              <a:pathLst>
                <a:path w="14" h="13">
                  <a:moveTo>
                    <a:pt x="14" y="13"/>
                  </a:moveTo>
                  <a:lnTo>
                    <a:pt x="2" y="6"/>
                  </a:lnTo>
                  <a:lnTo>
                    <a:pt x="0" y="7"/>
                  </a:lnTo>
                  <a:lnTo>
                    <a:pt x="1" y="0"/>
                  </a:lnTo>
                  <a:lnTo>
                    <a:pt x="14" y="11"/>
                  </a:lnTo>
                  <a:lnTo>
                    <a:pt x="14"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6" name="Freeform 55"/>
            <p:cNvSpPr>
              <a:spLocks/>
            </p:cNvSpPr>
            <p:nvPr/>
          </p:nvSpPr>
          <p:spPr bwMode="auto">
            <a:xfrm>
              <a:off x="4704" y="2503"/>
              <a:ext cx="13" cy="7"/>
            </a:xfrm>
            <a:custGeom>
              <a:avLst/>
              <a:gdLst/>
              <a:ahLst/>
              <a:cxnLst>
                <a:cxn ang="0">
                  <a:pos x="12" y="6"/>
                </a:cxn>
                <a:cxn ang="0">
                  <a:pos x="10" y="0"/>
                </a:cxn>
                <a:cxn ang="0">
                  <a:pos x="0" y="6"/>
                </a:cxn>
                <a:cxn ang="0">
                  <a:pos x="12" y="6"/>
                </a:cxn>
              </a:cxnLst>
              <a:rect l="0" t="0" r="r" b="b"/>
              <a:pathLst>
                <a:path w="12" h="6">
                  <a:moveTo>
                    <a:pt x="12" y="6"/>
                  </a:moveTo>
                  <a:lnTo>
                    <a:pt x="10" y="0"/>
                  </a:lnTo>
                  <a:lnTo>
                    <a:pt x="0" y="6"/>
                  </a:lnTo>
                  <a:lnTo>
                    <a:pt x="12"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7" name="Freeform 56"/>
            <p:cNvSpPr>
              <a:spLocks/>
            </p:cNvSpPr>
            <p:nvPr/>
          </p:nvSpPr>
          <p:spPr bwMode="auto">
            <a:xfrm>
              <a:off x="4695" y="2481"/>
              <a:ext cx="11" cy="35"/>
            </a:xfrm>
            <a:custGeom>
              <a:avLst/>
              <a:gdLst/>
              <a:ahLst/>
              <a:cxnLst>
                <a:cxn ang="0">
                  <a:pos x="8" y="0"/>
                </a:cxn>
                <a:cxn ang="0">
                  <a:pos x="8" y="9"/>
                </a:cxn>
                <a:cxn ang="0">
                  <a:pos x="5" y="21"/>
                </a:cxn>
                <a:cxn ang="0">
                  <a:pos x="0" y="33"/>
                </a:cxn>
                <a:cxn ang="0">
                  <a:pos x="5" y="16"/>
                </a:cxn>
                <a:cxn ang="0">
                  <a:pos x="8" y="0"/>
                </a:cxn>
              </a:cxnLst>
              <a:rect l="0" t="0" r="r" b="b"/>
              <a:pathLst>
                <a:path w="8" h="33">
                  <a:moveTo>
                    <a:pt x="8" y="0"/>
                  </a:moveTo>
                  <a:lnTo>
                    <a:pt x="8" y="9"/>
                  </a:lnTo>
                  <a:lnTo>
                    <a:pt x="5" y="21"/>
                  </a:lnTo>
                  <a:lnTo>
                    <a:pt x="0" y="33"/>
                  </a:lnTo>
                  <a:lnTo>
                    <a:pt x="5" y="16"/>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8" name="Freeform 57"/>
            <p:cNvSpPr>
              <a:spLocks/>
            </p:cNvSpPr>
            <p:nvPr/>
          </p:nvSpPr>
          <p:spPr bwMode="auto">
            <a:xfrm>
              <a:off x="4220" y="2299"/>
              <a:ext cx="153" cy="291"/>
            </a:xfrm>
            <a:custGeom>
              <a:avLst/>
              <a:gdLst/>
              <a:ahLst/>
              <a:cxnLst>
                <a:cxn ang="0">
                  <a:pos x="46" y="187"/>
                </a:cxn>
                <a:cxn ang="0">
                  <a:pos x="53" y="155"/>
                </a:cxn>
                <a:cxn ang="0">
                  <a:pos x="54" y="126"/>
                </a:cxn>
                <a:cxn ang="0">
                  <a:pos x="69" y="137"/>
                </a:cxn>
                <a:cxn ang="0">
                  <a:pos x="96" y="150"/>
                </a:cxn>
                <a:cxn ang="0">
                  <a:pos x="96" y="143"/>
                </a:cxn>
                <a:cxn ang="0">
                  <a:pos x="101" y="109"/>
                </a:cxn>
                <a:cxn ang="0">
                  <a:pos x="134" y="108"/>
                </a:cxn>
                <a:cxn ang="0">
                  <a:pos x="135" y="83"/>
                </a:cxn>
                <a:cxn ang="0">
                  <a:pos x="118" y="52"/>
                </a:cxn>
                <a:cxn ang="0">
                  <a:pos x="92" y="41"/>
                </a:cxn>
                <a:cxn ang="0">
                  <a:pos x="75" y="40"/>
                </a:cxn>
                <a:cxn ang="0">
                  <a:pos x="59" y="32"/>
                </a:cxn>
                <a:cxn ang="0">
                  <a:pos x="46" y="13"/>
                </a:cxn>
                <a:cxn ang="0">
                  <a:pos x="39" y="0"/>
                </a:cxn>
                <a:cxn ang="0">
                  <a:pos x="23" y="11"/>
                </a:cxn>
                <a:cxn ang="0">
                  <a:pos x="5" y="34"/>
                </a:cxn>
                <a:cxn ang="0">
                  <a:pos x="14" y="53"/>
                </a:cxn>
                <a:cxn ang="0">
                  <a:pos x="30" y="73"/>
                </a:cxn>
                <a:cxn ang="0">
                  <a:pos x="24" y="91"/>
                </a:cxn>
                <a:cxn ang="0">
                  <a:pos x="33" y="113"/>
                </a:cxn>
                <a:cxn ang="0">
                  <a:pos x="45" y="139"/>
                </a:cxn>
                <a:cxn ang="0">
                  <a:pos x="45" y="168"/>
                </a:cxn>
                <a:cxn ang="0">
                  <a:pos x="39" y="184"/>
                </a:cxn>
                <a:cxn ang="0">
                  <a:pos x="34" y="218"/>
                </a:cxn>
                <a:cxn ang="0">
                  <a:pos x="45" y="226"/>
                </a:cxn>
                <a:cxn ang="0">
                  <a:pos x="58" y="240"/>
                </a:cxn>
                <a:cxn ang="0">
                  <a:pos x="66" y="248"/>
                </a:cxn>
                <a:cxn ang="0">
                  <a:pos x="80" y="262"/>
                </a:cxn>
                <a:cxn ang="0">
                  <a:pos x="96" y="254"/>
                </a:cxn>
                <a:cxn ang="0">
                  <a:pos x="76" y="241"/>
                </a:cxn>
                <a:cxn ang="0">
                  <a:pos x="64" y="218"/>
                </a:cxn>
                <a:cxn ang="0">
                  <a:pos x="51" y="200"/>
                </a:cxn>
              </a:cxnLst>
              <a:rect l="0" t="0" r="r" b="b"/>
              <a:pathLst>
                <a:path w="138" h="262">
                  <a:moveTo>
                    <a:pt x="51" y="200"/>
                  </a:moveTo>
                  <a:lnTo>
                    <a:pt x="46" y="187"/>
                  </a:lnTo>
                  <a:lnTo>
                    <a:pt x="50" y="170"/>
                  </a:lnTo>
                  <a:lnTo>
                    <a:pt x="53" y="155"/>
                  </a:lnTo>
                  <a:lnTo>
                    <a:pt x="53" y="140"/>
                  </a:lnTo>
                  <a:lnTo>
                    <a:pt x="54" y="126"/>
                  </a:lnTo>
                  <a:lnTo>
                    <a:pt x="68" y="124"/>
                  </a:lnTo>
                  <a:lnTo>
                    <a:pt x="69" y="137"/>
                  </a:lnTo>
                  <a:lnTo>
                    <a:pt x="81" y="139"/>
                  </a:lnTo>
                  <a:lnTo>
                    <a:pt x="96" y="150"/>
                  </a:lnTo>
                  <a:lnTo>
                    <a:pt x="102" y="157"/>
                  </a:lnTo>
                  <a:lnTo>
                    <a:pt x="96" y="143"/>
                  </a:lnTo>
                  <a:lnTo>
                    <a:pt x="90" y="127"/>
                  </a:lnTo>
                  <a:lnTo>
                    <a:pt x="101" y="109"/>
                  </a:lnTo>
                  <a:lnTo>
                    <a:pt x="117" y="109"/>
                  </a:lnTo>
                  <a:lnTo>
                    <a:pt x="134" y="108"/>
                  </a:lnTo>
                  <a:lnTo>
                    <a:pt x="138" y="98"/>
                  </a:lnTo>
                  <a:lnTo>
                    <a:pt x="135" y="83"/>
                  </a:lnTo>
                  <a:lnTo>
                    <a:pt x="120" y="65"/>
                  </a:lnTo>
                  <a:lnTo>
                    <a:pt x="118" y="52"/>
                  </a:lnTo>
                  <a:lnTo>
                    <a:pt x="99" y="36"/>
                  </a:lnTo>
                  <a:lnTo>
                    <a:pt x="92" y="41"/>
                  </a:lnTo>
                  <a:lnTo>
                    <a:pt x="84" y="43"/>
                  </a:lnTo>
                  <a:lnTo>
                    <a:pt x="75" y="40"/>
                  </a:lnTo>
                  <a:lnTo>
                    <a:pt x="60" y="50"/>
                  </a:lnTo>
                  <a:lnTo>
                    <a:pt x="59" y="32"/>
                  </a:lnTo>
                  <a:lnTo>
                    <a:pt x="58" y="14"/>
                  </a:lnTo>
                  <a:lnTo>
                    <a:pt x="46" y="13"/>
                  </a:lnTo>
                  <a:lnTo>
                    <a:pt x="45" y="2"/>
                  </a:lnTo>
                  <a:lnTo>
                    <a:pt x="39" y="0"/>
                  </a:lnTo>
                  <a:lnTo>
                    <a:pt x="30" y="2"/>
                  </a:lnTo>
                  <a:lnTo>
                    <a:pt x="23" y="11"/>
                  </a:lnTo>
                  <a:lnTo>
                    <a:pt x="9" y="13"/>
                  </a:lnTo>
                  <a:lnTo>
                    <a:pt x="5" y="34"/>
                  </a:lnTo>
                  <a:lnTo>
                    <a:pt x="0" y="32"/>
                  </a:lnTo>
                  <a:lnTo>
                    <a:pt x="14" y="53"/>
                  </a:lnTo>
                  <a:lnTo>
                    <a:pt x="27" y="72"/>
                  </a:lnTo>
                  <a:lnTo>
                    <a:pt x="30" y="73"/>
                  </a:lnTo>
                  <a:lnTo>
                    <a:pt x="27" y="84"/>
                  </a:lnTo>
                  <a:lnTo>
                    <a:pt x="24" y="91"/>
                  </a:lnTo>
                  <a:lnTo>
                    <a:pt x="24" y="102"/>
                  </a:lnTo>
                  <a:lnTo>
                    <a:pt x="33" y="113"/>
                  </a:lnTo>
                  <a:lnTo>
                    <a:pt x="41" y="124"/>
                  </a:lnTo>
                  <a:lnTo>
                    <a:pt x="45" y="139"/>
                  </a:lnTo>
                  <a:lnTo>
                    <a:pt x="50" y="157"/>
                  </a:lnTo>
                  <a:lnTo>
                    <a:pt x="45" y="168"/>
                  </a:lnTo>
                  <a:lnTo>
                    <a:pt x="39" y="180"/>
                  </a:lnTo>
                  <a:lnTo>
                    <a:pt x="39" y="184"/>
                  </a:lnTo>
                  <a:lnTo>
                    <a:pt x="36" y="200"/>
                  </a:lnTo>
                  <a:lnTo>
                    <a:pt x="34" y="218"/>
                  </a:lnTo>
                  <a:lnTo>
                    <a:pt x="36" y="216"/>
                  </a:lnTo>
                  <a:lnTo>
                    <a:pt x="45" y="226"/>
                  </a:lnTo>
                  <a:lnTo>
                    <a:pt x="53" y="235"/>
                  </a:lnTo>
                  <a:lnTo>
                    <a:pt x="58" y="240"/>
                  </a:lnTo>
                  <a:lnTo>
                    <a:pt x="65" y="251"/>
                  </a:lnTo>
                  <a:lnTo>
                    <a:pt x="66" y="248"/>
                  </a:lnTo>
                  <a:lnTo>
                    <a:pt x="78" y="254"/>
                  </a:lnTo>
                  <a:lnTo>
                    <a:pt x="80" y="262"/>
                  </a:lnTo>
                  <a:lnTo>
                    <a:pt x="90" y="262"/>
                  </a:lnTo>
                  <a:lnTo>
                    <a:pt x="96" y="254"/>
                  </a:lnTo>
                  <a:lnTo>
                    <a:pt x="88" y="244"/>
                  </a:lnTo>
                  <a:lnTo>
                    <a:pt x="76" y="241"/>
                  </a:lnTo>
                  <a:lnTo>
                    <a:pt x="68" y="232"/>
                  </a:lnTo>
                  <a:lnTo>
                    <a:pt x="64" y="218"/>
                  </a:lnTo>
                  <a:lnTo>
                    <a:pt x="58" y="202"/>
                  </a:lnTo>
                  <a:lnTo>
                    <a:pt x="51" y="20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9" name="Freeform 58"/>
            <p:cNvSpPr>
              <a:spLocks/>
            </p:cNvSpPr>
            <p:nvPr/>
          </p:nvSpPr>
          <p:spPr bwMode="auto">
            <a:xfrm>
              <a:off x="4293" y="2241"/>
              <a:ext cx="153" cy="291"/>
            </a:xfrm>
            <a:custGeom>
              <a:avLst/>
              <a:gdLst/>
              <a:ahLst/>
              <a:cxnLst>
                <a:cxn ang="0">
                  <a:pos x="43" y="50"/>
                </a:cxn>
                <a:cxn ang="0">
                  <a:pos x="27" y="45"/>
                </a:cxn>
                <a:cxn ang="0">
                  <a:pos x="12" y="28"/>
                </a:cxn>
                <a:cxn ang="0">
                  <a:pos x="4" y="11"/>
                </a:cxn>
                <a:cxn ang="0">
                  <a:pos x="15" y="11"/>
                </a:cxn>
                <a:cxn ang="0">
                  <a:pos x="25" y="12"/>
                </a:cxn>
                <a:cxn ang="0">
                  <a:pos x="34" y="11"/>
                </a:cxn>
                <a:cxn ang="0">
                  <a:pos x="49" y="2"/>
                </a:cxn>
                <a:cxn ang="0">
                  <a:pos x="71" y="20"/>
                </a:cxn>
                <a:cxn ang="0">
                  <a:pos x="93" y="30"/>
                </a:cxn>
                <a:cxn ang="0">
                  <a:pos x="76" y="42"/>
                </a:cxn>
                <a:cxn ang="0">
                  <a:pos x="70" y="59"/>
                </a:cxn>
                <a:cxn ang="0">
                  <a:pos x="76" y="90"/>
                </a:cxn>
                <a:cxn ang="0">
                  <a:pos x="89" y="110"/>
                </a:cxn>
                <a:cxn ang="0">
                  <a:pos x="113" y="130"/>
                </a:cxn>
                <a:cxn ang="0">
                  <a:pos x="131" y="166"/>
                </a:cxn>
                <a:cxn ang="0">
                  <a:pos x="137" y="196"/>
                </a:cxn>
                <a:cxn ang="0">
                  <a:pos x="135" y="210"/>
                </a:cxn>
                <a:cxn ang="0">
                  <a:pos x="112" y="230"/>
                </a:cxn>
                <a:cxn ang="0">
                  <a:pos x="101" y="232"/>
                </a:cxn>
                <a:cxn ang="0">
                  <a:pos x="99" y="239"/>
                </a:cxn>
                <a:cxn ang="0">
                  <a:pos x="93" y="246"/>
                </a:cxn>
                <a:cxn ang="0">
                  <a:pos x="72" y="262"/>
                </a:cxn>
                <a:cxn ang="0">
                  <a:pos x="64" y="231"/>
                </a:cxn>
                <a:cxn ang="0">
                  <a:pos x="77" y="222"/>
                </a:cxn>
                <a:cxn ang="0">
                  <a:pos x="84" y="210"/>
                </a:cxn>
                <a:cxn ang="0">
                  <a:pos x="108" y="198"/>
                </a:cxn>
                <a:cxn ang="0">
                  <a:pos x="106" y="170"/>
                </a:cxn>
                <a:cxn ang="0">
                  <a:pos x="102" y="140"/>
                </a:cxn>
                <a:cxn ang="0">
                  <a:pos x="99" y="130"/>
                </a:cxn>
                <a:cxn ang="0">
                  <a:pos x="77" y="108"/>
                </a:cxn>
                <a:cxn ang="0">
                  <a:pos x="58" y="84"/>
                </a:cxn>
                <a:cxn ang="0">
                  <a:pos x="41" y="64"/>
                </a:cxn>
                <a:cxn ang="0">
                  <a:pos x="48" y="54"/>
                </a:cxn>
              </a:cxnLst>
              <a:rect l="0" t="0" r="r" b="b"/>
              <a:pathLst>
                <a:path w="138" h="262">
                  <a:moveTo>
                    <a:pt x="48" y="54"/>
                  </a:moveTo>
                  <a:lnTo>
                    <a:pt x="43" y="50"/>
                  </a:lnTo>
                  <a:lnTo>
                    <a:pt x="34" y="41"/>
                  </a:lnTo>
                  <a:lnTo>
                    <a:pt x="27" y="45"/>
                  </a:lnTo>
                  <a:lnTo>
                    <a:pt x="15" y="35"/>
                  </a:lnTo>
                  <a:lnTo>
                    <a:pt x="12" y="28"/>
                  </a:lnTo>
                  <a:lnTo>
                    <a:pt x="0" y="16"/>
                  </a:lnTo>
                  <a:lnTo>
                    <a:pt x="4" y="11"/>
                  </a:lnTo>
                  <a:lnTo>
                    <a:pt x="12" y="14"/>
                  </a:lnTo>
                  <a:lnTo>
                    <a:pt x="15" y="11"/>
                  </a:lnTo>
                  <a:lnTo>
                    <a:pt x="22" y="11"/>
                  </a:lnTo>
                  <a:lnTo>
                    <a:pt x="25" y="12"/>
                  </a:lnTo>
                  <a:lnTo>
                    <a:pt x="28" y="11"/>
                  </a:lnTo>
                  <a:lnTo>
                    <a:pt x="34" y="11"/>
                  </a:lnTo>
                  <a:lnTo>
                    <a:pt x="42" y="0"/>
                  </a:lnTo>
                  <a:lnTo>
                    <a:pt x="49" y="2"/>
                  </a:lnTo>
                  <a:lnTo>
                    <a:pt x="69" y="8"/>
                  </a:lnTo>
                  <a:lnTo>
                    <a:pt x="71" y="20"/>
                  </a:lnTo>
                  <a:lnTo>
                    <a:pt x="77" y="24"/>
                  </a:lnTo>
                  <a:lnTo>
                    <a:pt x="93" y="30"/>
                  </a:lnTo>
                  <a:lnTo>
                    <a:pt x="84" y="38"/>
                  </a:lnTo>
                  <a:lnTo>
                    <a:pt x="76" y="42"/>
                  </a:lnTo>
                  <a:lnTo>
                    <a:pt x="76" y="44"/>
                  </a:lnTo>
                  <a:lnTo>
                    <a:pt x="70" y="59"/>
                  </a:lnTo>
                  <a:lnTo>
                    <a:pt x="64" y="75"/>
                  </a:lnTo>
                  <a:lnTo>
                    <a:pt x="76" y="90"/>
                  </a:lnTo>
                  <a:lnTo>
                    <a:pt x="79" y="100"/>
                  </a:lnTo>
                  <a:lnTo>
                    <a:pt x="89" y="110"/>
                  </a:lnTo>
                  <a:lnTo>
                    <a:pt x="100" y="119"/>
                  </a:lnTo>
                  <a:lnTo>
                    <a:pt x="113" y="130"/>
                  </a:lnTo>
                  <a:lnTo>
                    <a:pt x="124" y="142"/>
                  </a:lnTo>
                  <a:lnTo>
                    <a:pt x="131" y="166"/>
                  </a:lnTo>
                  <a:lnTo>
                    <a:pt x="138" y="190"/>
                  </a:lnTo>
                  <a:lnTo>
                    <a:pt x="137" y="196"/>
                  </a:lnTo>
                  <a:lnTo>
                    <a:pt x="137" y="203"/>
                  </a:lnTo>
                  <a:lnTo>
                    <a:pt x="135" y="210"/>
                  </a:lnTo>
                  <a:lnTo>
                    <a:pt x="124" y="220"/>
                  </a:lnTo>
                  <a:lnTo>
                    <a:pt x="112" y="230"/>
                  </a:lnTo>
                  <a:lnTo>
                    <a:pt x="101" y="227"/>
                  </a:lnTo>
                  <a:lnTo>
                    <a:pt x="101" y="232"/>
                  </a:lnTo>
                  <a:lnTo>
                    <a:pt x="101" y="237"/>
                  </a:lnTo>
                  <a:lnTo>
                    <a:pt x="99" y="239"/>
                  </a:lnTo>
                  <a:lnTo>
                    <a:pt x="99" y="246"/>
                  </a:lnTo>
                  <a:lnTo>
                    <a:pt x="93" y="246"/>
                  </a:lnTo>
                  <a:lnTo>
                    <a:pt x="81" y="260"/>
                  </a:lnTo>
                  <a:lnTo>
                    <a:pt x="72" y="262"/>
                  </a:lnTo>
                  <a:lnTo>
                    <a:pt x="75" y="240"/>
                  </a:lnTo>
                  <a:lnTo>
                    <a:pt x="64" y="231"/>
                  </a:lnTo>
                  <a:lnTo>
                    <a:pt x="73" y="225"/>
                  </a:lnTo>
                  <a:lnTo>
                    <a:pt x="77" y="222"/>
                  </a:lnTo>
                  <a:lnTo>
                    <a:pt x="89" y="224"/>
                  </a:lnTo>
                  <a:lnTo>
                    <a:pt x="84" y="210"/>
                  </a:lnTo>
                  <a:lnTo>
                    <a:pt x="93" y="206"/>
                  </a:lnTo>
                  <a:lnTo>
                    <a:pt x="108" y="198"/>
                  </a:lnTo>
                  <a:lnTo>
                    <a:pt x="107" y="184"/>
                  </a:lnTo>
                  <a:lnTo>
                    <a:pt x="106" y="170"/>
                  </a:lnTo>
                  <a:lnTo>
                    <a:pt x="105" y="154"/>
                  </a:lnTo>
                  <a:lnTo>
                    <a:pt x="102" y="140"/>
                  </a:lnTo>
                  <a:lnTo>
                    <a:pt x="97" y="134"/>
                  </a:lnTo>
                  <a:lnTo>
                    <a:pt x="99" y="130"/>
                  </a:lnTo>
                  <a:lnTo>
                    <a:pt x="84" y="118"/>
                  </a:lnTo>
                  <a:lnTo>
                    <a:pt x="77" y="108"/>
                  </a:lnTo>
                  <a:lnTo>
                    <a:pt x="67" y="96"/>
                  </a:lnTo>
                  <a:lnTo>
                    <a:pt x="58" y="84"/>
                  </a:lnTo>
                  <a:lnTo>
                    <a:pt x="37" y="69"/>
                  </a:lnTo>
                  <a:lnTo>
                    <a:pt x="41" y="64"/>
                  </a:lnTo>
                  <a:lnTo>
                    <a:pt x="49" y="62"/>
                  </a:lnTo>
                  <a:lnTo>
                    <a:pt x="48" y="5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0" name="Freeform 59"/>
            <p:cNvSpPr>
              <a:spLocks/>
            </p:cNvSpPr>
            <p:nvPr/>
          </p:nvSpPr>
          <p:spPr bwMode="auto">
            <a:xfrm>
              <a:off x="3402" y="2183"/>
              <a:ext cx="13" cy="33"/>
            </a:xfrm>
            <a:custGeom>
              <a:avLst/>
              <a:gdLst/>
              <a:ahLst/>
              <a:cxnLst>
                <a:cxn ang="0">
                  <a:pos x="7" y="27"/>
                </a:cxn>
                <a:cxn ang="0">
                  <a:pos x="5" y="29"/>
                </a:cxn>
                <a:cxn ang="0">
                  <a:pos x="0" y="25"/>
                </a:cxn>
                <a:cxn ang="0">
                  <a:pos x="0" y="8"/>
                </a:cxn>
                <a:cxn ang="0">
                  <a:pos x="6" y="0"/>
                </a:cxn>
                <a:cxn ang="0">
                  <a:pos x="11" y="15"/>
                </a:cxn>
                <a:cxn ang="0">
                  <a:pos x="7" y="27"/>
                </a:cxn>
              </a:cxnLst>
              <a:rect l="0" t="0" r="r" b="b"/>
              <a:pathLst>
                <a:path w="11" h="29">
                  <a:moveTo>
                    <a:pt x="7" y="27"/>
                  </a:moveTo>
                  <a:lnTo>
                    <a:pt x="5" y="29"/>
                  </a:lnTo>
                  <a:lnTo>
                    <a:pt x="0" y="25"/>
                  </a:lnTo>
                  <a:lnTo>
                    <a:pt x="0" y="8"/>
                  </a:lnTo>
                  <a:lnTo>
                    <a:pt x="6" y="0"/>
                  </a:lnTo>
                  <a:lnTo>
                    <a:pt x="11" y="15"/>
                  </a:lnTo>
                  <a:lnTo>
                    <a:pt x="7"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1" name="Freeform 60"/>
            <p:cNvSpPr>
              <a:spLocks/>
            </p:cNvSpPr>
            <p:nvPr/>
          </p:nvSpPr>
          <p:spPr bwMode="auto">
            <a:xfrm>
              <a:off x="3253" y="1914"/>
              <a:ext cx="356" cy="289"/>
            </a:xfrm>
            <a:custGeom>
              <a:avLst/>
              <a:gdLst/>
              <a:ahLst/>
              <a:cxnLst>
                <a:cxn ang="0">
                  <a:pos x="36" y="106"/>
                </a:cxn>
                <a:cxn ang="0">
                  <a:pos x="40" y="79"/>
                </a:cxn>
                <a:cxn ang="0">
                  <a:pos x="29" y="66"/>
                </a:cxn>
                <a:cxn ang="0">
                  <a:pos x="5" y="33"/>
                </a:cxn>
                <a:cxn ang="0">
                  <a:pos x="0" y="5"/>
                </a:cxn>
                <a:cxn ang="0">
                  <a:pos x="7" y="1"/>
                </a:cxn>
                <a:cxn ang="0">
                  <a:pos x="28" y="15"/>
                </a:cxn>
                <a:cxn ang="0">
                  <a:pos x="54" y="0"/>
                </a:cxn>
                <a:cxn ang="0">
                  <a:pos x="58" y="13"/>
                </a:cxn>
                <a:cxn ang="0">
                  <a:pos x="79" y="39"/>
                </a:cxn>
                <a:cxn ang="0">
                  <a:pos x="111" y="51"/>
                </a:cxn>
                <a:cxn ang="0">
                  <a:pos x="138" y="53"/>
                </a:cxn>
                <a:cxn ang="0">
                  <a:pos x="151" y="48"/>
                </a:cxn>
                <a:cxn ang="0">
                  <a:pos x="154" y="42"/>
                </a:cxn>
                <a:cxn ang="0">
                  <a:pos x="181" y="29"/>
                </a:cxn>
                <a:cxn ang="0">
                  <a:pos x="220" y="36"/>
                </a:cxn>
                <a:cxn ang="0">
                  <a:pos x="246" y="53"/>
                </a:cxn>
                <a:cxn ang="0">
                  <a:pos x="265" y="73"/>
                </a:cxn>
                <a:cxn ang="0">
                  <a:pos x="261" y="96"/>
                </a:cxn>
                <a:cxn ang="0">
                  <a:pos x="267" y="111"/>
                </a:cxn>
                <a:cxn ang="0">
                  <a:pos x="269" y="129"/>
                </a:cxn>
                <a:cxn ang="0">
                  <a:pos x="287" y="149"/>
                </a:cxn>
                <a:cxn ang="0">
                  <a:pos x="279" y="177"/>
                </a:cxn>
                <a:cxn ang="0">
                  <a:pos x="300" y="201"/>
                </a:cxn>
                <a:cxn ang="0">
                  <a:pos x="317" y="225"/>
                </a:cxn>
                <a:cxn ang="0">
                  <a:pos x="322" y="234"/>
                </a:cxn>
                <a:cxn ang="0">
                  <a:pos x="303" y="246"/>
                </a:cxn>
                <a:cxn ang="0">
                  <a:pos x="285" y="258"/>
                </a:cxn>
                <a:cxn ang="0">
                  <a:pos x="251" y="252"/>
                </a:cxn>
                <a:cxn ang="0">
                  <a:pos x="228" y="238"/>
                </a:cxn>
                <a:cxn ang="0">
                  <a:pos x="209" y="231"/>
                </a:cxn>
                <a:cxn ang="0">
                  <a:pos x="172" y="231"/>
                </a:cxn>
                <a:cxn ang="0">
                  <a:pos x="144" y="213"/>
                </a:cxn>
                <a:cxn ang="0">
                  <a:pos x="125" y="190"/>
                </a:cxn>
                <a:cxn ang="0">
                  <a:pos x="105" y="172"/>
                </a:cxn>
                <a:cxn ang="0">
                  <a:pos x="97" y="166"/>
                </a:cxn>
                <a:cxn ang="0">
                  <a:pos x="90" y="174"/>
                </a:cxn>
                <a:cxn ang="0">
                  <a:pos x="81" y="156"/>
                </a:cxn>
                <a:cxn ang="0">
                  <a:pos x="76" y="142"/>
                </a:cxn>
                <a:cxn ang="0">
                  <a:pos x="57" y="126"/>
                </a:cxn>
              </a:cxnLst>
              <a:rect l="0" t="0" r="r" b="b"/>
              <a:pathLst>
                <a:path w="322" h="261">
                  <a:moveTo>
                    <a:pt x="45" y="118"/>
                  </a:moveTo>
                  <a:lnTo>
                    <a:pt x="36" y="106"/>
                  </a:lnTo>
                  <a:lnTo>
                    <a:pt x="35" y="96"/>
                  </a:lnTo>
                  <a:lnTo>
                    <a:pt x="40" y="79"/>
                  </a:lnTo>
                  <a:lnTo>
                    <a:pt x="40" y="71"/>
                  </a:lnTo>
                  <a:lnTo>
                    <a:pt x="29" y="66"/>
                  </a:lnTo>
                  <a:lnTo>
                    <a:pt x="15" y="46"/>
                  </a:lnTo>
                  <a:lnTo>
                    <a:pt x="5" y="33"/>
                  </a:lnTo>
                  <a:lnTo>
                    <a:pt x="1" y="15"/>
                  </a:lnTo>
                  <a:lnTo>
                    <a:pt x="0" y="5"/>
                  </a:lnTo>
                  <a:lnTo>
                    <a:pt x="6" y="0"/>
                  </a:lnTo>
                  <a:lnTo>
                    <a:pt x="7" y="1"/>
                  </a:lnTo>
                  <a:lnTo>
                    <a:pt x="10" y="5"/>
                  </a:lnTo>
                  <a:lnTo>
                    <a:pt x="28" y="15"/>
                  </a:lnTo>
                  <a:lnTo>
                    <a:pt x="40" y="10"/>
                  </a:lnTo>
                  <a:lnTo>
                    <a:pt x="54" y="0"/>
                  </a:lnTo>
                  <a:lnTo>
                    <a:pt x="59" y="10"/>
                  </a:lnTo>
                  <a:lnTo>
                    <a:pt x="58" y="13"/>
                  </a:lnTo>
                  <a:lnTo>
                    <a:pt x="71" y="23"/>
                  </a:lnTo>
                  <a:lnTo>
                    <a:pt x="79" y="39"/>
                  </a:lnTo>
                  <a:lnTo>
                    <a:pt x="96" y="46"/>
                  </a:lnTo>
                  <a:lnTo>
                    <a:pt x="111" y="51"/>
                  </a:lnTo>
                  <a:lnTo>
                    <a:pt x="125" y="55"/>
                  </a:lnTo>
                  <a:lnTo>
                    <a:pt x="138" y="53"/>
                  </a:lnTo>
                  <a:lnTo>
                    <a:pt x="149" y="51"/>
                  </a:lnTo>
                  <a:lnTo>
                    <a:pt x="151" y="48"/>
                  </a:lnTo>
                  <a:lnTo>
                    <a:pt x="149" y="42"/>
                  </a:lnTo>
                  <a:lnTo>
                    <a:pt x="154" y="42"/>
                  </a:lnTo>
                  <a:lnTo>
                    <a:pt x="165" y="31"/>
                  </a:lnTo>
                  <a:lnTo>
                    <a:pt x="181" y="29"/>
                  </a:lnTo>
                  <a:lnTo>
                    <a:pt x="196" y="28"/>
                  </a:lnTo>
                  <a:lnTo>
                    <a:pt x="220" y="36"/>
                  </a:lnTo>
                  <a:lnTo>
                    <a:pt x="233" y="45"/>
                  </a:lnTo>
                  <a:lnTo>
                    <a:pt x="246" y="53"/>
                  </a:lnTo>
                  <a:lnTo>
                    <a:pt x="259" y="55"/>
                  </a:lnTo>
                  <a:lnTo>
                    <a:pt x="265" y="73"/>
                  </a:lnTo>
                  <a:lnTo>
                    <a:pt x="262" y="94"/>
                  </a:lnTo>
                  <a:lnTo>
                    <a:pt x="261" y="96"/>
                  </a:lnTo>
                  <a:lnTo>
                    <a:pt x="261" y="106"/>
                  </a:lnTo>
                  <a:lnTo>
                    <a:pt x="267" y="111"/>
                  </a:lnTo>
                  <a:lnTo>
                    <a:pt x="265" y="114"/>
                  </a:lnTo>
                  <a:lnTo>
                    <a:pt x="269" y="129"/>
                  </a:lnTo>
                  <a:lnTo>
                    <a:pt x="271" y="144"/>
                  </a:lnTo>
                  <a:lnTo>
                    <a:pt x="287" y="149"/>
                  </a:lnTo>
                  <a:lnTo>
                    <a:pt x="289" y="156"/>
                  </a:lnTo>
                  <a:lnTo>
                    <a:pt x="279" y="177"/>
                  </a:lnTo>
                  <a:lnTo>
                    <a:pt x="289" y="189"/>
                  </a:lnTo>
                  <a:lnTo>
                    <a:pt x="300" y="201"/>
                  </a:lnTo>
                  <a:lnTo>
                    <a:pt x="312" y="207"/>
                  </a:lnTo>
                  <a:lnTo>
                    <a:pt x="317" y="225"/>
                  </a:lnTo>
                  <a:lnTo>
                    <a:pt x="322" y="227"/>
                  </a:lnTo>
                  <a:lnTo>
                    <a:pt x="322" y="234"/>
                  </a:lnTo>
                  <a:lnTo>
                    <a:pt x="309" y="240"/>
                  </a:lnTo>
                  <a:lnTo>
                    <a:pt x="303" y="246"/>
                  </a:lnTo>
                  <a:lnTo>
                    <a:pt x="301" y="261"/>
                  </a:lnTo>
                  <a:lnTo>
                    <a:pt x="285" y="258"/>
                  </a:lnTo>
                  <a:lnTo>
                    <a:pt x="268" y="255"/>
                  </a:lnTo>
                  <a:lnTo>
                    <a:pt x="251" y="252"/>
                  </a:lnTo>
                  <a:lnTo>
                    <a:pt x="234" y="250"/>
                  </a:lnTo>
                  <a:lnTo>
                    <a:pt x="228" y="238"/>
                  </a:lnTo>
                  <a:lnTo>
                    <a:pt x="221" y="226"/>
                  </a:lnTo>
                  <a:lnTo>
                    <a:pt x="209" y="231"/>
                  </a:lnTo>
                  <a:lnTo>
                    <a:pt x="196" y="235"/>
                  </a:lnTo>
                  <a:lnTo>
                    <a:pt x="172" y="231"/>
                  </a:lnTo>
                  <a:lnTo>
                    <a:pt x="159" y="221"/>
                  </a:lnTo>
                  <a:lnTo>
                    <a:pt x="144" y="213"/>
                  </a:lnTo>
                  <a:lnTo>
                    <a:pt x="132" y="201"/>
                  </a:lnTo>
                  <a:lnTo>
                    <a:pt x="125" y="190"/>
                  </a:lnTo>
                  <a:lnTo>
                    <a:pt x="111" y="171"/>
                  </a:lnTo>
                  <a:lnTo>
                    <a:pt x="105" y="172"/>
                  </a:lnTo>
                  <a:lnTo>
                    <a:pt x="97" y="167"/>
                  </a:lnTo>
                  <a:lnTo>
                    <a:pt x="97" y="166"/>
                  </a:lnTo>
                  <a:lnTo>
                    <a:pt x="93" y="174"/>
                  </a:lnTo>
                  <a:lnTo>
                    <a:pt x="90" y="174"/>
                  </a:lnTo>
                  <a:lnTo>
                    <a:pt x="85" y="168"/>
                  </a:lnTo>
                  <a:lnTo>
                    <a:pt x="81" y="156"/>
                  </a:lnTo>
                  <a:lnTo>
                    <a:pt x="75" y="156"/>
                  </a:lnTo>
                  <a:lnTo>
                    <a:pt x="76" y="142"/>
                  </a:lnTo>
                  <a:lnTo>
                    <a:pt x="70" y="135"/>
                  </a:lnTo>
                  <a:lnTo>
                    <a:pt x="57" y="126"/>
                  </a:lnTo>
                  <a:lnTo>
                    <a:pt x="45" y="1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2" name="Freeform 61"/>
            <p:cNvSpPr>
              <a:spLocks/>
            </p:cNvSpPr>
            <p:nvPr/>
          </p:nvSpPr>
          <p:spPr bwMode="auto">
            <a:xfrm>
              <a:off x="3180" y="1961"/>
              <a:ext cx="173" cy="162"/>
            </a:xfrm>
            <a:custGeom>
              <a:avLst/>
              <a:gdLst/>
              <a:ahLst/>
              <a:cxnLst>
                <a:cxn ang="0">
                  <a:pos x="101" y="63"/>
                </a:cxn>
                <a:cxn ang="0">
                  <a:pos x="100" y="53"/>
                </a:cxn>
                <a:cxn ang="0">
                  <a:pos x="105" y="36"/>
                </a:cxn>
                <a:cxn ang="0">
                  <a:pos x="105" y="28"/>
                </a:cxn>
                <a:cxn ang="0">
                  <a:pos x="94" y="23"/>
                </a:cxn>
                <a:cxn ang="0">
                  <a:pos x="80" y="3"/>
                </a:cxn>
                <a:cxn ang="0">
                  <a:pos x="71" y="4"/>
                </a:cxn>
                <a:cxn ang="0">
                  <a:pos x="68" y="0"/>
                </a:cxn>
                <a:cxn ang="0">
                  <a:pos x="47" y="0"/>
                </a:cxn>
                <a:cxn ang="0">
                  <a:pos x="44" y="4"/>
                </a:cxn>
                <a:cxn ang="0">
                  <a:pos x="30" y="17"/>
                </a:cxn>
                <a:cxn ang="0">
                  <a:pos x="30" y="34"/>
                </a:cxn>
                <a:cxn ang="0">
                  <a:pos x="30" y="52"/>
                </a:cxn>
                <a:cxn ang="0">
                  <a:pos x="15" y="62"/>
                </a:cxn>
                <a:cxn ang="0">
                  <a:pos x="0" y="70"/>
                </a:cxn>
                <a:cxn ang="0">
                  <a:pos x="10" y="92"/>
                </a:cxn>
                <a:cxn ang="0">
                  <a:pos x="24" y="98"/>
                </a:cxn>
                <a:cxn ang="0">
                  <a:pos x="40" y="105"/>
                </a:cxn>
                <a:cxn ang="0">
                  <a:pos x="54" y="111"/>
                </a:cxn>
                <a:cxn ang="0">
                  <a:pos x="69" y="118"/>
                </a:cxn>
                <a:cxn ang="0">
                  <a:pos x="83" y="131"/>
                </a:cxn>
                <a:cxn ang="0">
                  <a:pos x="99" y="146"/>
                </a:cxn>
                <a:cxn ang="0">
                  <a:pos x="126" y="147"/>
                </a:cxn>
                <a:cxn ang="0">
                  <a:pos x="134" y="132"/>
                </a:cxn>
                <a:cxn ang="0">
                  <a:pos x="147" y="131"/>
                </a:cxn>
                <a:cxn ang="0">
                  <a:pos x="155" y="131"/>
                </a:cxn>
                <a:cxn ang="0">
                  <a:pos x="150" y="125"/>
                </a:cxn>
                <a:cxn ang="0">
                  <a:pos x="146" y="113"/>
                </a:cxn>
                <a:cxn ang="0">
                  <a:pos x="140" y="113"/>
                </a:cxn>
                <a:cxn ang="0">
                  <a:pos x="141" y="99"/>
                </a:cxn>
                <a:cxn ang="0">
                  <a:pos x="135" y="92"/>
                </a:cxn>
                <a:cxn ang="0">
                  <a:pos x="122" y="83"/>
                </a:cxn>
                <a:cxn ang="0">
                  <a:pos x="110" y="75"/>
                </a:cxn>
                <a:cxn ang="0">
                  <a:pos x="101" y="63"/>
                </a:cxn>
              </a:cxnLst>
              <a:rect l="0" t="0" r="r" b="b"/>
              <a:pathLst>
                <a:path w="155" h="147">
                  <a:moveTo>
                    <a:pt x="101" y="63"/>
                  </a:moveTo>
                  <a:lnTo>
                    <a:pt x="100" y="53"/>
                  </a:lnTo>
                  <a:lnTo>
                    <a:pt x="105" y="36"/>
                  </a:lnTo>
                  <a:lnTo>
                    <a:pt x="105" y="28"/>
                  </a:lnTo>
                  <a:lnTo>
                    <a:pt x="94" y="23"/>
                  </a:lnTo>
                  <a:lnTo>
                    <a:pt x="80" y="3"/>
                  </a:lnTo>
                  <a:lnTo>
                    <a:pt x="71" y="4"/>
                  </a:lnTo>
                  <a:lnTo>
                    <a:pt x="68" y="0"/>
                  </a:lnTo>
                  <a:lnTo>
                    <a:pt x="47" y="0"/>
                  </a:lnTo>
                  <a:lnTo>
                    <a:pt x="44" y="4"/>
                  </a:lnTo>
                  <a:lnTo>
                    <a:pt x="30" y="17"/>
                  </a:lnTo>
                  <a:lnTo>
                    <a:pt x="30" y="34"/>
                  </a:lnTo>
                  <a:lnTo>
                    <a:pt x="30" y="52"/>
                  </a:lnTo>
                  <a:lnTo>
                    <a:pt x="15" y="62"/>
                  </a:lnTo>
                  <a:lnTo>
                    <a:pt x="0" y="70"/>
                  </a:lnTo>
                  <a:lnTo>
                    <a:pt x="10" y="92"/>
                  </a:lnTo>
                  <a:lnTo>
                    <a:pt x="24" y="98"/>
                  </a:lnTo>
                  <a:lnTo>
                    <a:pt x="40" y="105"/>
                  </a:lnTo>
                  <a:lnTo>
                    <a:pt x="54" y="111"/>
                  </a:lnTo>
                  <a:lnTo>
                    <a:pt x="69" y="118"/>
                  </a:lnTo>
                  <a:lnTo>
                    <a:pt x="83" y="131"/>
                  </a:lnTo>
                  <a:lnTo>
                    <a:pt x="99" y="146"/>
                  </a:lnTo>
                  <a:lnTo>
                    <a:pt x="126" y="147"/>
                  </a:lnTo>
                  <a:lnTo>
                    <a:pt x="134" y="132"/>
                  </a:lnTo>
                  <a:lnTo>
                    <a:pt x="147" y="131"/>
                  </a:lnTo>
                  <a:lnTo>
                    <a:pt x="155" y="131"/>
                  </a:lnTo>
                  <a:lnTo>
                    <a:pt x="150" y="125"/>
                  </a:lnTo>
                  <a:lnTo>
                    <a:pt x="146" y="113"/>
                  </a:lnTo>
                  <a:lnTo>
                    <a:pt x="140" y="113"/>
                  </a:lnTo>
                  <a:lnTo>
                    <a:pt x="141" y="99"/>
                  </a:lnTo>
                  <a:lnTo>
                    <a:pt x="135" y="92"/>
                  </a:lnTo>
                  <a:lnTo>
                    <a:pt x="122" y="83"/>
                  </a:lnTo>
                  <a:lnTo>
                    <a:pt x="110" y="75"/>
                  </a:lnTo>
                  <a:lnTo>
                    <a:pt x="101" y="6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3" name="Freeform 62"/>
            <p:cNvSpPr>
              <a:spLocks/>
            </p:cNvSpPr>
            <p:nvPr/>
          </p:nvSpPr>
          <p:spPr bwMode="auto">
            <a:xfrm>
              <a:off x="3320" y="2107"/>
              <a:ext cx="33" cy="29"/>
            </a:xfrm>
            <a:custGeom>
              <a:avLst/>
              <a:gdLst/>
              <a:ahLst/>
              <a:cxnLst>
                <a:cxn ang="0">
                  <a:pos x="24" y="7"/>
                </a:cxn>
                <a:cxn ang="0">
                  <a:pos x="20" y="9"/>
                </a:cxn>
                <a:cxn ang="0">
                  <a:pos x="21" y="12"/>
                </a:cxn>
                <a:cxn ang="0">
                  <a:pos x="30" y="27"/>
                </a:cxn>
                <a:cxn ang="0">
                  <a:pos x="17" y="23"/>
                </a:cxn>
                <a:cxn ang="0">
                  <a:pos x="15" y="18"/>
                </a:cxn>
                <a:cxn ang="0">
                  <a:pos x="0" y="16"/>
                </a:cxn>
                <a:cxn ang="0">
                  <a:pos x="8" y="1"/>
                </a:cxn>
                <a:cxn ang="0">
                  <a:pos x="21" y="0"/>
                </a:cxn>
                <a:cxn ang="0">
                  <a:pos x="24" y="7"/>
                </a:cxn>
              </a:cxnLst>
              <a:rect l="0" t="0" r="r" b="b"/>
              <a:pathLst>
                <a:path w="30" h="27">
                  <a:moveTo>
                    <a:pt x="24" y="7"/>
                  </a:moveTo>
                  <a:lnTo>
                    <a:pt x="20" y="9"/>
                  </a:lnTo>
                  <a:lnTo>
                    <a:pt x="21" y="12"/>
                  </a:lnTo>
                  <a:lnTo>
                    <a:pt x="30" y="27"/>
                  </a:lnTo>
                  <a:lnTo>
                    <a:pt x="17" y="23"/>
                  </a:lnTo>
                  <a:lnTo>
                    <a:pt x="15" y="18"/>
                  </a:lnTo>
                  <a:lnTo>
                    <a:pt x="0" y="16"/>
                  </a:lnTo>
                  <a:lnTo>
                    <a:pt x="8" y="1"/>
                  </a:lnTo>
                  <a:lnTo>
                    <a:pt x="21" y="0"/>
                  </a:lnTo>
                  <a:lnTo>
                    <a:pt x="24"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4" name="Freeform 63"/>
            <p:cNvSpPr>
              <a:spLocks/>
            </p:cNvSpPr>
            <p:nvPr/>
          </p:nvSpPr>
          <p:spPr bwMode="auto">
            <a:xfrm>
              <a:off x="3893" y="2096"/>
              <a:ext cx="142" cy="80"/>
            </a:xfrm>
            <a:custGeom>
              <a:avLst/>
              <a:gdLst/>
              <a:ahLst/>
              <a:cxnLst>
                <a:cxn ang="0">
                  <a:pos x="73" y="56"/>
                </a:cxn>
                <a:cxn ang="0">
                  <a:pos x="54" y="54"/>
                </a:cxn>
                <a:cxn ang="0">
                  <a:pos x="39" y="50"/>
                </a:cxn>
                <a:cxn ang="0">
                  <a:pos x="19" y="41"/>
                </a:cxn>
                <a:cxn ang="0">
                  <a:pos x="0" y="30"/>
                </a:cxn>
                <a:cxn ang="0">
                  <a:pos x="0" y="19"/>
                </a:cxn>
                <a:cxn ang="0">
                  <a:pos x="9" y="5"/>
                </a:cxn>
                <a:cxn ang="0">
                  <a:pos x="10" y="6"/>
                </a:cxn>
                <a:cxn ang="0">
                  <a:pos x="16" y="0"/>
                </a:cxn>
                <a:cxn ang="0">
                  <a:pos x="29" y="8"/>
                </a:cxn>
                <a:cxn ang="0">
                  <a:pos x="49" y="23"/>
                </a:cxn>
                <a:cxn ang="0">
                  <a:pos x="55" y="20"/>
                </a:cxn>
                <a:cxn ang="0">
                  <a:pos x="60" y="26"/>
                </a:cxn>
                <a:cxn ang="0">
                  <a:pos x="75" y="32"/>
                </a:cxn>
                <a:cxn ang="0">
                  <a:pos x="77" y="36"/>
                </a:cxn>
                <a:cxn ang="0">
                  <a:pos x="93" y="43"/>
                </a:cxn>
                <a:cxn ang="0">
                  <a:pos x="107" y="44"/>
                </a:cxn>
                <a:cxn ang="0">
                  <a:pos x="125" y="47"/>
                </a:cxn>
                <a:cxn ang="0">
                  <a:pos x="130" y="72"/>
                </a:cxn>
                <a:cxn ang="0">
                  <a:pos x="113" y="71"/>
                </a:cxn>
                <a:cxn ang="0">
                  <a:pos x="93" y="68"/>
                </a:cxn>
                <a:cxn ang="0">
                  <a:pos x="82" y="65"/>
                </a:cxn>
                <a:cxn ang="0">
                  <a:pos x="73" y="56"/>
                </a:cxn>
              </a:cxnLst>
              <a:rect l="0" t="0" r="r" b="b"/>
              <a:pathLst>
                <a:path w="130" h="72">
                  <a:moveTo>
                    <a:pt x="73" y="56"/>
                  </a:moveTo>
                  <a:lnTo>
                    <a:pt x="54" y="54"/>
                  </a:lnTo>
                  <a:lnTo>
                    <a:pt x="39" y="50"/>
                  </a:lnTo>
                  <a:lnTo>
                    <a:pt x="19" y="41"/>
                  </a:lnTo>
                  <a:lnTo>
                    <a:pt x="0" y="30"/>
                  </a:lnTo>
                  <a:lnTo>
                    <a:pt x="0" y="19"/>
                  </a:lnTo>
                  <a:lnTo>
                    <a:pt x="9" y="5"/>
                  </a:lnTo>
                  <a:lnTo>
                    <a:pt x="10" y="6"/>
                  </a:lnTo>
                  <a:lnTo>
                    <a:pt x="16" y="0"/>
                  </a:lnTo>
                  <a:lnTo>
                    <a:pt x="29" y="8"/>
                  </a:lnTo>
                  <a:lnTo>
                    <a:pt x="49" y="23"/>
                  </a:lnTo>
                  <a:lnTo>
                    <a:pt x="55" y="20"/>
                  </a:lnTo>
                  <a:lnTo>
                    <a:pt x="60" y="26"/>
                  </a:lnTo>
                  <a:lnTo>
                    <a:pt x="75" y="32"/>
                  </a:lnTo>
                  <a:lnTo>
                    <a:pt x="77" y="36"/>
                  </a:lnTo>
                  <a:lnTo>
                    <a:pt x="93" y="43"/>
                  </a:lnTo>
                  <a:lnTo>
                    <a:pt x="107" y="44"/>
                  </a:lnTo>
                  <a:lnTo>
                    <a:pt x="125" y="47"/>
                  </a:lnTo>
                  <a:lnTo>
                    <a:pt x="130" y="72"/>
                  </a:lnTo>
                  <a:lnTo>
                    <a:pt x="113" y="71"/>
                  </a:lnTo>
                  <a:lnTo>
                    <a:pt x="93" y="68"/>
                  </a:lnTo>
                  <a:lnTo>
                    <a:pt x="82" y="65"/>
                  </a:lnTo>
                  <a:lnTo>
                    <a:pt x="73"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5" name="Freeform 64"/>
            <p:cNvSpPr>
              <a:spLocks/>
            </p:cNvSpPr>
            <p:nvPr/>
          </p:nvSpPr>
          <p:spPr bwMode="auto">
            <a:xfrm>
              <a:off x="3562" y="1967"/>
              <a:ext cx="260" cy="263"/>
            </a:xfrm>
            <a:custGeom>
              <a:avLst/>
              <a:gdLst/>
              <a:ahLst/>
              <a:cxnLst>
                <a:cxn ang="0">
                  <a:pos x="102" y="217"/>
                </a:cxn>
                <a:cxn ang="0">
                  <a:pos x="116" y="233"/>
                </a:cxn>
                <a:cxn ang="0">
                  <a:pos x="135" y="234"/>
                </a:cxn>
                <a:cxn ang="0">
                  <a:pos x="148" y="229"/>
                </a:cxn>
                <a:cxn ang="0">
                  <a:pos x="169" y="227"/>
                </a:cxn>
                <a:cxn ang="0">
                  <a:pos x="156" y="203"/>
                </a:cxn>
                <a:cxn ang="0">
                  <a:pos x="140" y="185"/>
                </a:cxn>
                <a:cxn ang="0">
                  <a:pos x="154" y="165"/>
                </a:cxn>
                <a:cxn ang="0">
                  <a:pos x="180" y="149"/>
                </a:cxn>
                <a:cxn ang="0">
                  <a:pos x="196" y="120"/>
                </a:cxn>
                <a:cxn ang="0">
                  <a:pos x="200" y="95"/>
                </a:cxn>
                <a:cxn ang="0">
                  <a:pos x="204" y="82"/>
                </a:cxn>
                <a:cxn ang="0">
                  <a:pos x="190" y="71"/>
                </a:cxn>
                <a:cxn ang="0">
                  <a:pos x="187" y="57"/>
                </a:cxn>
                <a:cxn ang="0">
                  <a:pos x="180" y="42"/>
                </a:cxn>
                <a:cxn ang="0">
                  <a:pos x="219" y="40"/>
                </a:cxn>
                <a:cxn ang="0">
                  <a:pos x="213" y="22"/>
                </a:cxn>
                <a:cxn ang="0">
                  <a:pos x="195" y="5"/>
                </a:cxn>
                <a:cxn ang="0">
                  <a:pos x="159" y="4"/>
                </a:cxn>
                <a:cxn ang="0">
                  <a:pos x="134" y="19"/>
                </a:cxn>
                <a:cxn ang="0">
                  <a:pos x="138" y="47"/>
                </a:cxn>
                <a:cxn ang="0">
                  <a:pos x="122" y="57"/>
                </a:cxn>
                <a:cxn ang="0">
                  <a:pos x="118" y="77"/>
                </a:cxn>
                <a:cxn ang="0">
                  <a:pos x="103" y="96"/>
                </a:cxn>
                <a:cxn ang="0">
                  <a:pos x="84" y="107"/>
                </a:cxn>
                <a:cxn ang="0">
                  <a:pos x="81" y="129"/>
                </a:cxn>
                <a:cxn ang="0">
                  <a:pos x="49" y="136"/>
                </a:cxn>
                <a:cxn ang="0">
                  <a:pos x="13" y="132"/>
                </a:cxn>
                <a:cxn ang="0">
                  <a:pos x="10" y="141"/>
                </a:cxn>
                <a:cxn ang="0">
                  <a:pos x="33" y="159"/>
                </a:cxn>
                <a:cxn ang="0">
                  <a:pos x="43" y="179"/>
                </a:cxn>
                <a:cxn ang="0">
                  <a:pos x="30" y="192"/>
                </a:cxn>
                <a:cxn ang="0">
                  <a:pos x="22" y="213"/>
                </a:cxn>
                <a:cxn ang="0">
                  <a:pos x="51" y="211"/>
                </a:cxn>
                <a:cxn ang="0">
                  <a:pos x="80" y="209"/>
                </a:cxn>
              </a:cxnLst>
              <a:rect l="0" t="0" r="r" b="b"/>
              <a:pathLst>
                <a:path w="234" h="238">
                  <a:moveTo>
                    <a:pt x="96" y="208"/>
                  </a:moveTo>
                  <a:lnTo>
                    <a:pt x="102" y="217"/>
                  </a:lnTo>
                  <a:lnTo>
                    <a:pt x="108" y="220"/>
                  </a:lnTo>
                  <a:lnTo>
                    <a:pt x="116" y="233"/>
                  </a:lnTo>
                  <a:lnTo>
                    <a:pt x="128" y="238"/>
                  </a:lnTo>
                  <a:lnTo>
                    <a:pt x="135" y="234"/>
                  </a:lnTo>
                  <a:lnTo>
                    <a:pt x="135" y="228"/>
                  </a:lnTo>
                  <a:lnTo>
                    <a:pt x="148" y="229"/>
                  </a:lnTo>
                  <a:lnTo>
                    <a:pt x="163" y="227"/>
                  </a:lnTo>
                  <a:lnTo>
                    <a:pt x="169" y="227"/>
                  </a:lnTo>
                  <a:lnTo>
                    <a:pt x="162" y="204"/>
                  </a:lnTo>
                  <a:lnTo>
                    <a:pt x="156" y="203"/>
                  </a:lnTo>
                  <a:lnTo>
                    <a:pt x="152" y="191"/>
                  </a:lnTo>
                  <a:lnTo>
                    <a:pt x="140" y="185"/>
                  </a:lnTo>
                  <a:lnTo>
                    <a:pt x="148" y="163"/>
                  </a:lnTo>
                  <a:lnTo>
                    <a:pt x="154" y="165"/>
                  </a:lnTo>
                  <a:lnTo>
                    <a:pt x="170" y="165"/>
                  </a:lnTo>
                  <a:lnTo>
                    <a:pt x="180" y="149"/>
                  </a:lnTo>
                  <a:lnTo>
                    <a:pt x="189" y="133"/>
                  </a:lnTo>
                  <a:lnTo>
                    <a:pt x="196" y="120"/>
                  </a:lnTo>
                  <a:lnTo>
                    <a:pt x="204" y="108"/>
                  </a:lnTo>
                  <a:lnTo>
                    <a:pt x="200" y="95"/>
                  </a:lnTo>
                  <a:lnTo>
                    <a:pt x="211" y="88"/>
                  </a:lnTo>
                  <a:lnTo>
                    <a:pt x="204" y="82"/>
                  </a:lnTo>
                  <a:lnTo>
                    <a:pt x="198" y="76"/>
                  </a:lnTo>
                  <a:lnTo>
                    <a:pt x="190" y="71"/>
                  </a:lnTo>
                  <a:lnTo>
                    <a:pt x="187" y="61"/>
                  </a:lnTo>
                  <a:lnTo>
                    <a:pt x="187" y="57"/>
                  </a:lnTo>
                  <a:lnTo>
                    <a:pt x="180" y="48"/>
                  </a:lnTo>
                  <a:lnTo>
                    <a:pt x="180" y="42"/>
                  </a:lnTo>
                  <a:lnTo>
                    <a:pt x="202" y="46"/>
                  </a:lnTo>
                  <a:lnTo>
                    <a:pt x="219" y="40"/>
                  </a:lnTo>
                  <a:lnTo>
                    <a:pt x="234" y="28"/>
                  </a:lnTo>
                  <a:lnTo>
                    <a:pt x="213" y="22"/>
                  </a:lnTo>
                  <a:lnTo>
                    <a:pt x="202" y="17"/>
                  </a:lnTo>
                  <a:lnTo>
                    <a:pt x="195" y="5"/>
                  </a:lnTo>
                  <a:lnTo>
                    <a:pt x="177" y="0"/>
                  </a:lnTo>
                  <a:lnTo>
                    <a:pt x="159" y="4"/>
                  </a:lnTo>
                  <a:lnTo>
                    <a:pt x="141" y="9"/>
                  </a:lnTo>
                  <a:lnTo>
                    <a:pt x="134" y="19"/>
                  </a:lnTo>
                  <a:lnTo>
                    <a:pt x="142" y="34"/>
                  </a:lnTo>
                  <a:lnTo>
                    <a:pt x="138" y="47"/>
                  </a:lnTo>
                  <a:lnTo>
                    <a:pt x="135" y="55"/>
                  </a:lnTo>
                  <a:lnTo>
                    <a:pt x="122" y="57"/>
                  </a:lnTo>
                  <a:lnTo>
                    <a:pt x="130" y="66"/>
                  </a:lnTo>
                  <a:lnTo>
                    <a:pt x="118" y="77"/>
                  </a:lnTo>
                  <a:lnTo>
                    <a:pt x="117" y="96"/>
                  </a:lnTo>
                  <a:lnTo>
                    <a:pt x="103" y="96"/>
                  </a:lnTo>
                  <a:lnTo>
                    <a:pt x="98" y="101"/>
                  </a:lnTo>
                  <a:lnTo>
                    <a:pt x="84" y="107"/>
                  </a:lnTo>
                  <a:lnTo>
                    <a:pt x="81" y="121"/>
                  </a:lnTo>
                  <a:lnTo>
                    <a:pt x="81" y="129"/>
                  </a:lnTo>
                  <a:lnTo>
                    <a:pt x="66" y="132"/>
                  </a:lnTo>
                  <a:lnTo>
                    <a:pt x="49" y="136"/>
                  </a:lnTo>
                  <a:lnTo>
                    <a:pt x="25" y="137"/>
                  </a:lnTo>
                  <a:lnTo>
                    <a:pt x="13" y="132"/>
                  </a:lnTo>
                  <a:lnTo>
                    <a:pt x="0" y="129"/>
                  </a:lnTo>
                  <a:lnTo>
                    <a:pt x="10" y="141"/>
                  </a:lnTo>
                  <a:lnTo>
                    <a:pt x="21" y="153"/>
                  </a:lnTo>
                  <a:lnTo>
                    <a:pt x="33" y="159"/>
                  </a:lnTo>
                  <a:lnTo>
                    <a:pt x="38" y="177"/>
                  </a:lnTo>
                  <a:lnTo>
                    <a:pt x="43" y="179"/>
                  </a:lnTo>
                  <a:lnTo>
                    <a:pt x="43" y="186"/>
                  </a:lnTo>
                  <a:lnTo>
                    <a:pt x="30" y="192"/>
                  </a:lnTo>
                  <a:lnTo>
                    <a:pt x="24" y="198"/>
                  </a:lnTo>
                  <a:lnTo>
                    <a:pt x="22" y="213"/>
                  </a:lnTo>
                  <a:lnTo>
                    <a:pt x="37" y="211"/>
                  </a:lnTo>
                  <a:lnTo>
                    <a:pt x="51" y="211"/>
                  </a:lnTo>
                  <a:lnTo>
                    <a:pt x="63" y="210"/>
                  </a:lnTo>
                  <a:lnTo>
                    <a:pt x="80" y="209"/>
                  </a:lnTo>
                  <a:lnTo>
                    <a:pt x="96" y="2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6" name="Freeform 65"/>
            <p:cNvSpPr>
              <a:spLocks/>
            </p:cNvSpPr>
            <p:nvPr/>
          </p:nvSpPr>
          <p:spPr bwMode="auto">
            <a:xfrm>
              <a:off x="2951" y="2074"/>
              <a:ext cx="196" cy="196"/>
            </a:xfrm>
            <a:custGeom>
              <a:avLst/>
              <a:gdLst/>
              <a:ahLst/>
              <a:cxnLst>
                <a:cxn ang="0">
                  <a:pos x="139" y="66"/>
                </a:cxn>
                <a:cxn ang="0">
                  <a:pos x="130" y="49"/>
                </a:cxn>
                <a:cxn ang="0">
                  <a:pos x="119" y="33"/>
                </a:cxn>
                <a:cxn ang="0">
                  <a:pos x="116" y="34"/>
                </a:cxn>
                <a:cxn ang="0">
                  <a:pos x="122" y="48"/>
                </a:cxn>
                <a:cxn ang="0">
                  <a:pos x="130" y="61"/>
                </a:cxn>
                <a:cxn ang="0">
                  <a:pos x="137" y="75"/>
                </a:cxn>
                <a:cxn ang="0">
                  <a:pos x="143" y="88"/>
                </a:cxn>
                <a:cxn ang="0">
                  <a:pos x="150" y="100"/>
                </a:cxn>
                <a:cxn ang="0">
                  <a:pos x="157" y="113"/>
                </a:cxn>
                <a:cxn ang="0">
                  <a:pos x="166" y="125"/>
                </a:cxn>
                <a:cxn ang="0">
                  <a:pos x="175" y="138"/>
                </a:cxn>
                <a:cxn ang="0">
                  <a:pos x="173" y="139"/>
                </a:cxn>
                <a:cxn ang="0">
                  <a:pos x="174" y="154"/>
                </a:cxn>
                <a:cxn ang="0">
                  <a:pos x="168" y="160"/>
                </a:cxn>
                <a:cxn ang="0">
                  <a:pos x="164" y="159"/>
                </a:cxn>
                <a:cxn ang="0">
                  <a:pos x="161" y="168"/>
                </a:cxn>
                <a:cxn ang="0">
                  <a:pos x="152" y="171"/>
                </a:cxn>
                <a:cxn ang="0">
                  <a:pos x="149" y="178"/>
                </a:cxn>
                <a:cxn ang="0">
                  <a:pos x="130" y="177"/>
                </a:cxn>
                <a:cxn ang="0">
                  <a:pos x="110" y="174"/>
                </a:cxn>
                <a:cxn ang="0">
                  <a:pos x="109" y="169"/>
                </a:cxn>
                <a:cxn ang="0">
                  <a:pos x="108" y="174"/>
                </a:cxn>
                <a:cxn ang="0">
                  <a:pos x="96" y="174"/>
                </a:cxn>
                <a:cxn ang="0">
                  <a:pos x="83" y="174"/>
                </a:cxn>
                <a:cxn ang="0">
                  <a:pos x="71" y="174"/>
                </a:cxn>
                <a:cxn ang="0">
                  <a:pos x="59" y="174"/>
                </a:cxn>
                <a:cxn ang="0">
                  <a:pos x="47" y="174"/>
                </a:cxn>
                <a:cxn ang="0">
                  <a:pos x="35" y="174"/>
                </a:cxn>
                <a:cxn ang="0">
                  <a:pos x="23" y="174"/>
                </a:cxn>
                <a:cxn ang="0">
                  <a:pos x="11" y="174"/>
                </a:cxn>
                <a:cxn ang="0">
                  <a:pos x="10" y="157"/>
                </a:cxn>
                <a:cxn ang="0">
                  <a:pos x="8" y="141"/>
                </a:cxn>
                <a:cxn ang="0">
                  <a:pos x="7" y="124"/>
                </a:cxn>
                <a:cxn ang="0">
                  <a:pos x="6" y="107"/>
                </a:cxn>
                <a:cxn ang="0">
                  <a:pos x="5" y="90"/>
                </a:cxn>
                <a:cxn ang="0">
                  <a:pos x="4" y="73"/>
                </a:cxn>
                <a:cxn ang="0">
                  <a:pos x="2" y="57"/>
                </a:cxn>
                <a:cxn ang="0">
                  <a:pos x="1" y="39"/>
                </a:cxn>
                <a:cxn ang="0">
                  <a:pos x="1" y="25"/>
                </a:cxn>
                <a:cxn ang="0">
                  <a:pos x="0" y="12"/>
                </a:cxn>
                <a:cxn ang="0">
                  <a:pos x="2" y="0"/>
                </a:cxn>
                <a:cxn ang="0">
                  <a:pos x="13" y="1"/>
                </a:cxn>
                <a:cxn ang="0">
                  <a:pos x="36" y="7"/>
                </a:cxn>
                <a:cxn ang="0">
                  <a:pos x="60" y="15"/>
                </a:cxn>
                <a:cxn ang="0">
                  <a:pos x="80" y="7"/>
                </a:cxn>
                <a:cxn ang="0">
                  <a:pos x="91" y="1"/>
                </a:cxn>
                <a:cxn ang="0">
                  <a:pos x="86" y="5"/>
                </a:cxn>
                <a:cxn ang="0">
                  <a:pos x="94" y="3"/>
                </a:cxn>
                <a:cxn ang="0">
                  <a:pos x="107" y="6"/>
                </a:cxn>
                <a:cxn ang="0">
                  <a:pos x="112" y="10"/>
                </a:cxn>
                <a:cxn ang="0">
                  <a:pos x="119" y="11"/>
                </a:cxn>
                <a:cxn ang="0">
                  <a:pos x="140" y="6"/>
                </a:cxn>
                <a:cxn ang="0">
                  <a:pos x="148" y="23"/>
                </a:cxn>
                <a:cxn ang="0">
                  <a:pos x="155" y="40"/>
                </a:cxn>
                <a:cxn ang="0">
                  <a:pos x="151" y="54"/>
                </a:cxn>
                <a:cxn ang="0">
                  <a:pos x="148" y="69"/>
                </a:cxn>
                <a:cxn ang="0">
                  <a:pos x="139" y="66"/>
                </a:cxn>
              </a:cxnLst>
              <a:rect l="0" t="0" r="r" b="b"/>
              <a:pathLst>
                <a:path w="175" h="178">
                  <a:moveTo>
                    <a:pt x="139" y="66"/>
                  </a:moveTo>
                  <a:lnTo>
                    <a:pt x="130" y="49"/>
                  </a:lnTo>
                  <a:lnTo>
                    <a:pt x="119" y="33"/>
                  </a:lnTo>
                  <a:lnTo>
                    <a:pt x="116" y="34"/>
                  </a:lnTo>
                  <a:lnTo>
                    <a:pt x="122" y="48"/>
                  </a:lnTo>
                  <a:lnTo>
                    <a:pt x="130" y="61"/>
                  </a:lnTo>
                  <a:lnTo>
                    <a:pt x="137" y="75"/>
                  </a:lnTo>
                  <a:lnTo>
                    <a:pt x="143" y="88"/>
                  </a:lnTo>
                  <a:lnTo>
                    <a:pt x="150" y="100"/>
                  </a:lnTo>
                  <a:lnTo>
                    <a:pt x="157" y="113"/>
                  </a:lnTo>
                  <a:lnTo>
                    <a:pt x="166" y="125"/>
                  </a:lnTo>
                  <a:lnTo>
                    <a:pt x="175" y="138"/>
                  </a:lnTo>
                  <a:lnTo>
                    <a:pt x="173" y="139"/>
                  </a:lnTo>
                  <a:lnTo>
                    <a:pt x="174" y="154"/>
                  </a:lnTo>
                  <a:lnTo>
                    <a:pt x="168" y="160"/>
                  </a:lnTo>
                  <a:lnTo>
                    <a:pt x="164" y="159"/>
                  </a:lnTo>
                  <a:lnTo>
                    <a:pt x="161" y="168"/>
                  </a:lnTo>
                  <a:lnTo>
                    <a:pt x="152" y="171"/>
                  </a:lnTo>
                  <a:lnTo>
                    <a:pt x="149" y="178"/>
                  </a:lnTo>
                  <a:lnTo>
                    <a:pt x="130" y="177"/>
                  </a:lnTo>
                  <a:lnTo>
                    <a:pt x="110" y="174"/>
                  </a:lnTo>
                  <a:lnTo>
                    <a:pt x="109" y="169"/>
                  </a:lnTo>
                  <a:lnTo>
                    <a:pt x="108" y="174"/>
                  </a:lnTo>
                  <a:lnTo>
                    <a:pt x="96" y="174"/>
                  </a:lnTo>
                  <a:lnTo>
                    <a:pt x="83" y="174"/>
                  </a:lnTo>
                  <a:lnTo>
                    <a:pt x="71" y="174"/>
                  </a:lnTo>
                  <a:lnTo>
                    <a:pt x="59" y="174"/>
                  </a:lnTo>
                  <a:lnTo>
                    <a:pt x="47" y="174"/>
                  </a:lnTo>
                  <a:lnTo>
                    <a:pt x="35" y="174"/>
                  </a:lnTo>
                  <a:lnTo>
                    <a:pt x="23" y="174"/>
                  </a:lnTo>
                  <a:lnTo>
                    <a:pt x="11" y="174"/>
                  </a:lnTo>
                  <a:lnTo>
                    <a:pt x="10" y="157"/>
                  </a:lnTo>
                  <a:lnTo>
                    <a:pt x="8" y="141"/>
                  </a:lnTo>
                  <a:lnTo>
                    <a:pt x="7" y="124"/>
                  </a:lnTo>
                  <a:lnTo>
                    <a:pt x="6" y="107"/>
                  </a:lnTo>
                  <a:lnTo>
                    <a:pt x="5" y="90"/>
                  </a:lnTo>
                  <a:lnTo>
                    <a:pt x="4" y="73"/>
                  </a:lnTo>
                  <a:lnTo>
                    <a:pt x="2" y="57"/>
                  </a:lnTo>
                  <a:lnTo>
                    <a:pt x="1" y="39"/>
                  </a:lnTo>
                  <a:lnTo>
                    <a:pt x="1" y="25"/>
                  </a:lnTo>
                  <a:lnTo>
                    <a:pt x="0" y="12"/>
                  </a:lnTo>
                  <a:lnTo>
                    <a:pt x="2" y="0"/>
                  </a:lnTo>
                  <a:lnTo>
                    <a:pt x="13" y="1"/>
                  </a:lnTo>
                  <a:lnTo>
                    <a:pt x="36" y="7"/>
                  </a:lnTo>
                  <a:lnTo>
                    <a:pt x="60" y="15"/>
                  </a:lnTo>
                  <a:lnTo>
                    <a:pt x="80" y="7"/>
                  </a:lnTo>
                  <a:lnTo>
                    <a:pt x="91" y="1"/>
                  </a:lnTo>
                  <a:lnTo>
                    <a:pt x="86" y="5"/>
                  </a:lnTo>
                  <a:lnTo>
                    <a:pt x="94" y="3"/>
                  </a:lnTo>
                  <a:lnTo>
                    <a:pt x="107" y="6"/>
                  </a:lnTo>
                  <a:lnTo>
                    <a:pt x="112" y="10"/>
                  </a:lnTo>
                  <a:lnTo>
                    <a:pt x="119" y="11"/>
                  </a:lnTo>
                  <a:lnTo>
                    <a:pt x="140" y="6"/>
                  </a:lnTo>
                  <a:lnTo>
                    <a:pt x="148" y="23"/>
                  </a:lnTo>
                  <a:lnTo>
                    <a:pt x="155" y="40"/>
                  </a:lnTo>
                  <a:lnTo>
                    <a:pt x="151" y="54"/>
                  </a:lnTo>
                  <a:lnTo>
                    <a:pt x="148" y="69"/>
                  </a:lnTo>
                  <a:lnTo>
                    <a:pt x="139" y="6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7" name="Freeform 66"/>
            <p:cNvSpPr>
              <a:spLocks/>
            </p:cNvSpPr>
            <p:nvPr/>
          </p:nvSpPr>
          <p:spPr bwMode="auto">
            <a:xfrm>
              <a:off x="3704" y="1996"/>
              <a:ext cx="482" cy="547"/>
            </a:xfrm>
            <a:custGeom>
              <a:avLst/>
              <a:gdLst/>
              <a:ahLst/>
              <a:cxnLst>
                <a:cxn ang="0">
                  <a:pos x="74" y="18"/>
                </a:cxn>
                <a:cxn ang="0">
                  <a:pos x="59" y="29"/>
                </a:cxn>
                <a:cxn ang="0">
                  <a:pos x="70" y="48"/>
                </a:cxn>
                <a:cxn ang="0">
                  <a:pos x="72" y="67"/>
                </a:cxn>
                <a:cxn ang="0">
                  <a:pos x="61" y="105"/>
                </a:cxn>
                <a:cxn ang="0">
                  <a:pos x="26" y="137"/>
                </a:cxn>
                <a:cxn ang="0">
                  <a:pos x="24" y="163"/>
                </a:cxn>
                <a:cxn ang="0">
                  <a:pos x="41" y="199"/>
                </a:cxn>
                <a:cxn ang="0">
                  <a:pos x="7" y="200"/>
                </a:cxn>
                <a:cxn ang="0">
                  <a:pos x="0" y="211"/>
                </a:cxn>
                <a:cxn ang="0">
                  <a:pos x="17" y="227"/>
                </a:cxn>
                <a:cxn ang="0">
                  <a:pos x="23" y="235"/>
                </a:cxn>
                <a:cxn ang="0">
                  <a:pos x="42" y="264"/>
                </a:cxn>
                <a:cxn ang="0">
                  <a:pos x="66" y="237"/>
                </a:cxn>
                <a:cxn ang="0">
                  <a:pos x="71" y="246"/>
                </a:cxn>
                <a:cxn ang="0">
                  <a:pos x="77" y="260"/>
                </a:cxn>
                <a:cxn ang="0">
                  <a:pos x="83" y="295"/>
                </a:cxn>
                <a:cxn ang="0">
                  <a:pos x="95" y="339"/>
                </a:cxn>
                <a:cxn ang="0">
                  <a:pos x="113" y="381"/>
                </a:cxn>
                <a:cxn ang="0">
                  <a:pos x="136" y="432"/>
                </a:cxn>
                <a:cxn ang="0">
                  <a:pos x="155" y="473"/>
                </a:cxn>
                <a:cxn ang="0">
                  <a:pos x="179" y="482"/>
                </a:cxn>
                <a:cxn ang="0">
                  <a:pos x="192" y="464"/>
                </a:cxn>
                <a:cxn ang="0">
                  <a:pos x="204" y="438"/>
                </a:cxn>
                <a:cxn ang="0">
                  <a:pos x="208" y="396"/>
                </a:cxn>
                <a:cxn ang="0">
                  <a:pos x="211" y="353"/>
                </a:cxn>
                <a:cxn ang="0">
                  <a:pos x="221" y="343"/>
                </a:cxn>
                <a:cxn ang="0">
                  <a:pos x="251" y="312"/>
                </a:cxn>
                <a:cxn ang="0">
                  <a:pos x="288" y="277"/>
                </a:cxn>
                <a:cxn ang="0">
                  <a:pos x="312" y="241"/>
                </a:cxn>
                <a:cxn ang="0">
                  <a:pos x="324" y="247"/>
                </a:cxn>
                <a:cxn ang="0">
                  <a:pos x="323" y="229"/>
                </a:cxn>
                <a:cxn ang="0">
                  <a:pos x="305" y="195"/>
                </a:cxn>
                <a:cxn ang="0">
                  <a:pos x="304" y="174"/>
                </a:cxn>
                <a:cxn ang="0">
                  <a:pos x="319" y="170"/>
                </a:cxn>
                <a:cxn ang="0">
                  <a:pos x="346" y="183"/>
                </a:cxn>
                <a:cxn ang="0">
                  <a:pos x="368" y="198"/>
                </a:cxn>
                <a:cxn ang="0">
                  <a:pos x="362" y="224"/>
                </a:cxn>
                <a:cxn ang="0">
                  <a:pos x="382" y="242"/>
                </a:cxn>
                <a:cxn ang="0">
                  <a:pos x="389" y="223"/>
                </a:cxn>
                <a:cxn ang="0">
                  <a:pos x="406" y="186"/>
                </a:cxn>
                <a:cxn ang="0">
                  <a:pos x="421" y="147"/>
                </a:cxn>
                <a:cxn ang="0">
                  <a:pos x="432" y="139"/>
                </a:cxn>
                <a:cxn ang="0">
                  <a:pos x="418" y="116"/>
                </a:cxn>
                <a:cxn ang="0">
                  <a:pos x="407" y="109"/>
                </a:cxn>
                <a:cxn ang="0">
                  <a:pos x="374" y="122"/>
                </a:cxn>
                <a:cxn ang="0">
                  <a:pos x="348" y="138"/>
                </a:cxn>
                <a:cxn ang="0">
                  <a:pos x="344" y="155"/>
                </a:cxn>
                <a:cxn ang="0">
                  <a:pos x="308" y="146"/>
                </a:cxn>
                <a:cxn ang="0">
                  <a:pos x="299" y="162"/>
                </a:cxn>
                <a:cxn ang="0">
                  <a:pos x="251" y="155"/>
                </a:cxn>
                <a:cxn ang="0">
                  <a:pos x="208" y="140"/>
                </a:cxn>
                <a:cxn ang="0">
                  <a:pos x="169" y="109"/>
                </a:cxn>
                <a:cxn ang="0">
                  <a:pos x="144" y="74"/>
                </a:cxn>
                <a:cxn ang="0">
                  <a:pos x="139" y="54"/>
                </a:cxn>
                <a:cxn ang="0">
                  <a:pos x="132" y="26"/>
                </a:cxn>
                <a:cxn ang="0">
                  <a:pos x="127" y="19"/>
                </a:cxn>
                <a:cxn ang="0">
                  <a:pos x="122" y="6"/>
                </a:cxn>
                <a:cxn ang="0">
                  <a:pos x="106" y="0"/>
                </a:cxn>
              </a:cxnLst>
              <a:rect l="0" t="0" r="r" b="b"/>
              <a:pathLst>
                <a:path w="434" h="491">
                  <a:moveTo>
                    <a:pt x="106" y="0"/>
                  </a:moveTo>
                  <a:lnTo>
                    <a:pt x="91" y="12"/>
                  </a:lnTo>
                  <a:lnTo>
                    <a:pt x="74" y="18"/>
                  </a:lnTo>
                  <a:lnTo>
                    <a:pt x="52" y="14"/>
                  </a:lnTo>
                  <a:lnTo>
                    <a:pt x="52" y="20"/>
                  </a:lnTo>
                  <a:lnTo>
                    <a:pt x="59" y="29"/>
                  </a:lnTo>
                  <a:lnTo>
                    <a:pt x="59" y="33"/>
                  </a:lnTo>
                  <a:lnTo>
                    <a:pt x="62" y="43"/>
                  </a:lnTo>
                  <a:lnTo>
                    <a:pt x="70" y="48"/>
                  </a:lnTo>
                  <a:lnTo>
                    <a:pt x="76" y="54"/>
                  </a:lnTo>
                  <a:lnTo>
                    <a:pt x="83" y="60"/>
                  </a:lnTo>
                  <a:lnTo>
                    <a:pt x="72" y="67"/>
                  </a:lnTo>
                  <a:lnTo>
                    <a:pt x="76" y="80"/>
                  </a:lnTo>
                  <a:lnTo>
                    <a:pt x="68" y="92"/>
                  </a:lnTo>
                  <a:lnTo>
                    <a:pt x="61" y="105"/>
                  </a:lnTo>
                  <a:lnTo>
                    <a:pt x="52" y="121"/>
                  </a:lnTo>
                  <a:lnTo>
                    <a:pt x="42" y="137"/>
                  </a:lnTo>
                  <a:lnTo>
                    <a:pt x="26" y="137"/>
                  </a:lnTo>
                  <a:lnTo>
                    <a:pt x="20" y="135"/>
                  </a:lnTo>
                  <a:lnTo>
                    <a:pt x="12" y="157"/>
                  </a:lnTo>
                  <a:lnTo>
                    <a:pt x="24" y="163"/>
                  </a:lnTo>
                  <a:lnTo>
                    <a:pt x="28" y="175"/>
                  </a:lnTo>
                  <a:lnTo>
                    <a:pt x="34" y="176"/>
                  </a:lnTo>
                  <a:lnTo>
                    <a:pt x="41" y="199"/>
                  </a:lnTo>
                  <a:lnTo>
                    <a:pt x="35" y="199"/>
                  </a:lnTo>
                  <a:lnTo>
                    <a:pt x="20" y="201"/>
                  </a:lnTo>
                  <a:lnTo>
                    <a:pt x="7" y="200"/>
                  </a:lnTo>
                  <a:lnTo>
                    <a:pt x="7" y="206"/>
                  </a:lnTo>
                  <a:lnTo>
                    <a:pt x="0" y="210"/>
                  </a:lnTo>
                  <a:lnTo>
                    <a:pt x="0" y="211"/>
                  </a:lnTo>
                  <a:lnTo>
                    <a:pt x="6" y="209"/>
                  </a:lnTo>
                  <a:lnTo>
                    <a:pt x="4" y="213"/>
                  </a:lnTo>
                  <a:lnTo>
                    <a:pt x="17" y="227"/>
                  </a:lnTo>
                  <a:lnTo>
                    <a:pt x="35" y="224"/>
                  </a:lnTo>
                  <a:lnTo>
                    <a:pt x="34" y="228"/>
                  </a:lnTo>
                  <a:lnTo>
                    <a:pt x="23" y="235"/>
                  </a:lnTo>
                  <a:lnTo>
                    <a:pt x="14" y="234"/>
                  </a:lnTo>
                  <a:lnTo>
                    <a:pt x="29" y="248"/>
                  </a:lnTo>
                  <a:lnTo>
                    <a:pt x="42" y="264"/>
                  </a:lnTo>
                  <a:lnTo>
                    <a:pt x="64" y="258"/>
                  </a:lnTo>
                  <a:lnTo>
                    <a:pt x="65" y="246"/>
                  </a:lnTo>
                  <a:lnTo>
                    <a:pt x="66" y="237"/>
                  </a:lnTo>
                  <a:lnTo>
                    <a:pt x="74" y="237"/>
                  </a:lnTo>
                  <a:lnTo>
                    <a:pt x="72" y="242"/>
                  </a:lnTo>
                  <a:lnTo>
                    <a:pt x="71" y="246"/>
                  </a:lnTo>
                  <a:lnTo>
                    <a:pt x="79" y="246"/>
                  </a:lnTo>
                  <a:lnTo>
                    <a:pt x="74" y="252"/>
                  </a:lnTo>
                  <a:lnTo>
                    <a:pt x="77" y="260"/>
                  </a:lnTo>
                  <a:lnTo>
                    <a:pt x="77" y="272"/>
                  </a:lnTo>
                  <a:lnTo>
                    <a:pt x="82" y="290"/>
                  </a:lnTo>
                  <a:lnTo>
                    <a:pt x="83" y="295"/>
                  </a:lnTo>
                  <a:lnTo>
                    <a:pt x="84" y="300"/>
                  </a:lnTo>
                  <a:lnTo>
                    <a:pt x="89" y="321"/>
                  </a:lnTo>
                  <a:lnTo>
                    <a:pt x="95" y="339"/>
                  </a:lnTo>
                  <a:lnTo>
                    <a:pt x="101" y="356"/>
                  </a:lnTo>
                  <a:lnTo>
                    <a:pt x="104" y="361"/>
                  </a:lnTo>
                  <a:lnTo>
                    <a:pt x="113" y="381"/>
                  </a:lnTo>
                  <a:lnTo>
                    <a:pt x="121" y="402"/>
                  </a:lnTo>
                  <a:lnTo>
                    <a:pt x="128" y="416"/>
                  </a:lnTo>
                  <a:lnTo>
                    <a:pt x="136" y="432"/>
                  </a:lnTo>
                  <a:lnTo>
                    <a:pt x="143" y="446"/>
                  </a:lnTo>
                  <a:lnTo>
                    <a:pt x="148" y="458"/>
                  </a:lnTo>
                  <a:lnTo>
                    <a:pt x="155" y="473"/>
                  </a:lnTo>
                  <a:lnTo>
                    <a:pt x="161" y="486"/>
                  </a:lnTo>
                  <a:lnTo>
                    <a:pt x="170" y="491"/>
                  </a:lnTo>
                  <a:lnTo>
                    <a:pt x="179" y="482"/>
                  </a:lnTo>
                  <a:lnTo>
                    <a:pt x="188" y="473"/>
                  </a:lnTo>
                  <a:lnTo>
                    <a:pt x="198" y="471"/>
                  </a:lnTo>
                  <a:lnTo>
                    <a:pt x="192" y="464"/>
                  </a:lnTo>
                  <a:lnTo>
                    <a:pt x="200" y="451"/>
                  </a:lnTo>
                  <a:lnTo>
                    <a:pt x="205" y="451"/>
                  </a:lnTo>
                  <a:lnTo>
                    <a:pt x="204" y="438"/>
                  </a:lnTo>
                  <a:lnTo>
                    <a:pt x="202" y="425"/>
                  </a:lnTo>
                  <a:lnTo>
                    <a:pt x="205" y="410"/>
                  </a:lnTo>
                  <a:lnTo>
                    <a:pt x="208" y="396"/>
                  </a:lnTo>
                  <a:lnTo>
                    <a:pt x="204" y="379"/>
                  </a:lnTo>
                  <a:lnTo>
                    <a:pt x="203" y="359"/>
                  </a:lnTo>
                  <a:lnTo>
                    <a:pt x="211" y="353"/>
                  </a:lnTo>
                  <a:lnTo>
                    <a:pt x="214" y="351"/>
                  </a:lnTo>
                  <a:lnTo>
                    <a:pt x="217" y="350"/>
                  </a:lnTo>
                  <a:lnTo>
                    <a:pt x="221" y="343"/>
                  </a:lnTo>
                  <a:lnTo>
                    <a:pt x="234" y="338"/>
                  </a:lnTo>
                  <a:lnTo>
                    <a:pt x="236" y="327"/>
                  </a:lnTo>
                  <a:lnTo>
                    <a:pt x="251" y="312"/>
                  </a:lnTo>
                  <a:lnTo>
                    <a:pt x="266" y="296"/>
                  </a:lnTo>
                  <a:lnTo>
                    <a:pt x="278" y="283"/>
                  </a:lnTo>
                  <a:lnTo>
                    <a:pt x="288" y="277"/>
                  </a:lnTo>
                  <a:lnTo>
                    <a:pt x="296" y="264"/>
                  </a:lnTo>
                  <a:lnTo>
                    <a:pt x="298" y="251"/>
                  </a:lnTo>
                  <a:lnTo>
                    <a:pt x="312" y="241"/>
                  </a:lnTo>
                  <a:lnTo>
                    <a:pt x="316" y="248"/>
                  </a:lnTo>
                  <a:lnTo>
                    <a:pt x="320" y="248"/>
                  </a:lnTo>
                  <a:lnTo>
                    <a:pt x="324" y="247"/>
                  </a:lnTo>
                  <a:lnTo>
                    <a:pt x="328" y="248"/>
                  </a:lnTo>
                  <a:lnTo>
                    <a:pt x="328" y="243"/>
                  </a:lnTo>
                  <a:lnTo>
                    <a:pt x="323" y="229"/>
                  </a:lnTo>
                  <a:lnTo>
                    <a:pt x="318" y="216"/>
                  </a:lnTo>
                  <a:lnTo>
                    <a:pt x="317" y="205"/>
                  </a:lnTo>
                  <a:lnTo>
                    <a:pt x="305" y="195"/>
                  </a:lnTo>
                  <a:lnTo>
                    <a:pt x="310" y="188"/>
                  </a:lnTo>
                  <a:lnTo>
                    <a:pt x="316" y="185"/>
                  </a:lnTo>
                  <a:lnTo>
                    <a:pt x="304" y="174"/>
                  </a:lnTo>
                  <a:lnTo>
                    <a:pt x="304" y="161"/>
                  </a:lnTo>
                  <a:lnTo>
                    <a:pt x="314" y="164"/>
                  </a:lnTo>
                  <a:lnTo>
                    <a:pt x="319" y="170"/>
                  </a:lnTo>
                  <a:lnTo>
                    <a:pt x="323" y="167"/>
                  </a:lnTo>
                  <a:lnTo>
                    <a:pt x="329" y="181"/>
                  </a:lnTo>
                  <a:lnTo>
                    <a:pt x="346" y="183"/>
                  </a:lnTo>
                  <a:lnTo>
                    <a:pt x="362" y="185"/>
                  </a:lnTo>
                  <a:lnTo>
                    <a:pt x="371" y="191"/>
                  </a:lnTo>
                  <a:lnTo>
                    <a:pt x="368" y="198"/>
                  </a:lnTo>
                  <a:lnTo>
                    <a:pt x="356" y="206"/>
                  </a:lnTo>
                  <a:lnTo>
                    <a:pt x="360" y="221"/>
                  </a:lnTo>
                  <a:lnTo>
                    <a:pt x="362" y="224"/>
                  </a:lnTo>
                  <a:lnTo>
                    <a:pt x="370" y="211"/>
                  </a:lnTo>
                  <a:lnTo>
                    <a:pt x="376" y="227"/>
                  </a:lnTo>
                  <a:lnTo>
                    <a:pt x="382" y="242"/>
                  </a:lnTo>
                  <a:lnTo>
                    <a:pt x="383" y="241"/>
                  </a:lnTo>
                  <a:lnTo>
                    <a:pt x="388" y="242"/>
                  </a:lnTo>
                  <a:lnTo>
                    <a:pt x="389" y="223"/>
                  </a:lnTo>
                  <a:lnTo>
                    <a:pt x="389" y="207"/>
                  </a:lnTo>
                  <a:lnTo>
                    <a:pt x="398" y="207"/>
                  </a:lnTo>
                  <a:lnTo>
                    <a:pt x="406" y="186"/>
                  </a:lnTo>
                  <a:lnTo>
                    <a:pt x="407" y="177"/>
                  </a:lnTo>
                  <a:lnTo>
                    <a:pt x="407" y="163"/>
                  </a:lnTo>
                  <a:lnTo>
                    <a:pt x="421" y="147"/>
                  </a:lnTo>
                  <a:lnTo>
                    <a:pt x="433" y="150"/>
                  </a:lnTo>
                  <a:lnTo>
                    <a:pt x="431" y="144"/>
                  </a:lnTo>
                  <a:lnTo>
                    <a:pt x="432" y="139"/>
                  </a:lnTo>
                  <a:lnTo>
                    <a:pt x="434" y="131"/>
                  </a:lnTo>
                  <a:lnTo>
                    <a:pt x="418" y="125"/>
                  </a:lnTo>
                  <a:lnTo>
                    <a:pt x="418" y="116"/>
                  </a:lnTo>
                  <a:lnTo>
                    <a:pt x="412" y="115"/>
                  </a:lnTo>
                  <a:lnTo>
                    <a:pt x="413" y="111"/>
                  </a:lnTo>
                  <a:lnTo>
                    <a:pt x="407" y="109"/>
                  </a:lnTo>
                  <a:lnTo>
                    <a:pt x="398" y="114"/>
                  </a:lnTo>
                  <a:lnTo>
                    <a:pt x="385" y="113"/>
                  </a:lnTo>
                  <a:lnTo>
                    <a:pt x="374" y="122"/>
                  </a:lnTo>
                  <a:lnTo>
                    <a:pt x="362" y="133"/>
                  </a:lnTo>
                  <a:lnTo>
                    <a:pt x="349" y="138"/>
                  </a:lnTo>
                  <a:lnTo>
                    <a:pt x="348" y="138"/>
                  </a:lnTo>
                  <a:lnTo>
                    <a:pt x="353" y="144"/>
                  </a:lnTo>
                  <a:lnTo>
                    <a:pt x="359" y="153"/>
                  </a:lnTo>
                  <a:lnTo>
                    <a:pt x="344" y="155"/>
                  </a:lnTo>
                  <a:lnTo>
                    <a:pt x="330" y="156"/>
                  </a:lnTo>
                  <a:lnTo>
                    <a:pt x="311" y="153"/>
                  </a:lnTo>
                  <a:lnTo>
                    <a:pt x="308" y="146"/>
                  </a:lnTo>
                  <a:lnTo>
                    <a:pt x="301" y="132"/>
                  </a:lnTo>
                  <a:lnTo>
                    <a:pt x="294" y="137"/>
                  </a:lnTo>
                  <a:lnTo>
                    <a:pt x="299" y="162"/>
                  </a:lnTo>
                  <a:lnTo>
                    <a:pt x="282" y="161"/>
                  </a:lnTo>
                  <a:lnTo>
                    <a:pt x="262" y="158"/>
                  </a:lnTo>
                  <a:lnTo>
                    <a:pt x="251" y="155"/>
                  </a:lnTo>
                  <a:lnTo>
                    <a:pt x="242" y="146"/>
                  </a:lnTo>
                  <a:lnTo>
                    <a:pt x="223" y="144"/>
                  </a:lnTo>
                  <a:lnTo>
                    <a:pt x="208" y="140"/>
                  </a:lnTo>
                  <a:lnTo>
                    <a:pt x="188" y="131"/>
                  </a:lnTo>
                  <a:lnTo>
                    <a:pt x="169" y="120"/>
                  </a:lnTo>
                  <a:lnTo>
                    <a:pt x="169" y="109"/>
                  </a:lnTo>
                  <a:lnTo>
                    <a:pt x="178" y="95"/>
                  </a:lnTo>
                  <a:lnTo>
                    <a:pt x="163" y="85"/>
                  </a:lnTo>
                  <a:lnTo>
                    <a:pt x="144" y="74"/>
                  </a:lnTo>
                  <a:lnTo>
                    <a:pt x="137" y="72"/>
                  </a:lnTo>
                  <a:lnTo>
                    <a:pt x="130" y="53"/>
                  </a:lnTo>
                  <a:lnTo>
                    <a:pt x="139" y="54"/>
                  </a:lnTo>
                  <a:lnTo>
                    <a:pt x="142" y="47"/>
                  </a:lnTo>
                  <a:lnTo>
                    <a:pt x="132" y="33"/>
                  </a:lnTo>
                  <a:lnTo>
                    <a:pt x="132" y="26"/>
                  </a:lnTo>
                  <a:lnTo>
                    <a:pt x="131" y="25"/>
                  </a:lnTo>
                  <a:lnTo>
                    <a:pt x="131" y="21"/>
                  </a:lnTo>
                  <a:lnTo>
                    <a:pt x="127" y="19"/>
                  </a:lnTo>
                  <a:lnTo>
                    <a:pt x="125" y="15"/>
                  </a:lnTo>
                  <a:lnTo>
                    <a:pt x="124" y="11"/>
                  </a:lnTo>
                  <a:lnTo>
                    <a:pt x="122" y="6"/>
                  </a:lnTo>
                  <a:lnTo>
                    <a:pt x="118" y="5"/>
                  </a:lnTo>
                  <a:lnTo>
                    <a:pt x="110" y="1"/>
                  </a:lnTo>
                  <a:lnTo>
                    <a:pt x="10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8" name="Freeform 67"/>
            <p:cNvSpPr>
              <a:spLocks/>
            </p:cNvSpPr>
            <p:nvPr/>
          </p:nvSpPr>
          <p:spPr bwMode="auto">
            <a:xfrm>
              <a:off x="3107" y="2041"/>
              <a:ext cx="22" cy="75"/>
            </a:xfrm>
            <a:custGeom>
              <a:avLst/>
              <a:gdLst/>
              <a:ahLst/>
              <a:cxnLst>
                <a:cxn ang="0">
                  <a:pos x="15" y="69"/>
                </a:cxn>
                <a:cxn ang="0">
                  <a:pos x="8" y="52"/>
                </a:cxn>
                <a:cxn ang="0">
                  <a:pos x="0" y="35"/>
                </a:cxn>
                <a:cxn ang="0">
                  <a:pos x="6" y="20"/>
                </a:cxn>
                <a:cxn ang="0">
                  <a:pos x="11" y="4"/>
                </a:cxn>
                <a:cxn ang="0">
                  <a:pos x="18" y="0"/>
                </a:cxn>
                <a:cxn ang="0">
                  <a:pos x="20" y="10"/>
                </a:cxn>
                <a:cxn ang="0">
                  <a:pos x="18" y="24"/>
                </a:cxn>
                <a:cxn ang="0">
                  <a:pos x="17" y="39"/>
                </a:cxn>
                <a:cxn ang="0">
                  <a:pos x="17" y="53"/>
                </a:cxn>
                <a:cxn ang="0">
                  <a:pos x="15" y="68"/>
                </a:cxn>
                <a:cxn ang="0">
                  <a:pos x="15" y="69"/>
                </a:cxn>
              </a:cxnLst>
              <a:rect l="0" t="0" r="r" b="b"/>
              <a:pathLst>
                <a:path w="20" h="69">
                  <a:moveTo>
                    <a:pt x="15" y="69"/>
                  </a:moveTo>
                  <a:lnTo>
                    <a:pt x="8" y="52"/>
                  </a:lnTo>
                  <a:lnTo>
                    <a:pt x="0" y="35"/>
                  </a:lnTo>
                  <a:lnTo>
                    <a:pt x="6" y="20"/>
                  </a:lnTo>
                  <a:lnTo>
                    <a:pt x="11" y="4"/>
                  </a:lnTo>
                  <a:lnTo>
                    <a:pt x="18" y="0"/>
                  </a:lnTo>
                  <a:lnTo>
                    <a:pt x="20" y="10"/>
                  </a:lnTo>
                  <a:lnTo>
                    <a:pt x="18" y="24"/>
                  </a:lnTo>
                  <a:lnTo>
                    <a:pt x="17" y="39"/>
                  </a:lnTo>
                  <a:lnTo>
                    <a:pt x="17" y="53"/>
                  </a:lnTo>
                  <a:lnTo>
                    <a:pt x="15" y="68"/>
                  </a:lnTo>
                  <a:lnTo>
                    <a:pt x="15"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9" name="Freeform 68"/>
            <p:cNvSpPr>
              <a:spLocks/>
            </p:cNvSpPr>
            <p:nvPr/>
          </p:nvSpPr>
          <p:spPr bwMode="auto">
            <a:xfrm>
              <a:off x="3122" y="2039"/>
              <a:ext cx="69" cy="84"/>
            </a:xfrm>
            <a:custGeom>
              <a:avLst/>
              <a:gdLst/>
              <a:ahLst/>
              <a:cxnLst>
                <a:cxn ang="0">
                  <a:pos x="24" y="19"/>
                </a:cxn>
                <a:cxn ang="0">
                  <a:pos x="5" y="12"/>
                </a:cxn>
                <a:cxn ang="0">
                  <a:pos x="3" y="26"/>
                </a:cxn>
                <a:cxn ang="0">
                  <a:pos x="2" y="41"/>
                </a:cxn>
                <a:cxn ang="0">
                  <a:pos x="2" y="55"/>
                </a:cxn>
                <a:cxn ang="0">
                  <a:pos x="0" y="70"/>
                </a:cxn>
                <a:cxn ang="0">
                  <a:pos x="1" y="72"/>
                </a:cxn>
                <a:cxn ang="0">
                  <a:pos x="18" y="76"/>
                </a:cxn>
                <a:cxn ang="0">
                  <a:pos x="27" y="64"/>
                </a:cxn>
                <a:cxn ang="0">
                  <a:pos x="38" y="61"/>
                </a:cxn>
                <a:cxn ang="0">
                  <a:pos x="45" y="53"/>
                </a:cxn>
                <a:cxn ang="0">
                  <a:pos x="27" y="35"/>
                </a:cxn>
                <a:cxn ang="0">
                  <a:pos x="44" y="28"/>
                </a:cxn>
                <a:cxn ang="0">
                  <a:pos x="61" y="22"/>
                </a:cxn>
                <a:cxn ang="0">
                  <a:pos x="51" y="0"/>
                </a:cxn>
                <a:cxn ang="0">
                  <a:pos x="37" y="10"/>
                </a:cxn>
                <a:cxn ang="0">
                  <a:pos x="24" y="19"/>
                </a:cxn>
              </a:cxnLst>
              <a:rect l="0" t="0" r="r" b="b"/>
              <a:pathLst>
                <a:path w="61" h="76">
                  <a:moveTo>
                    <a:pt x="24" y="19"/>
                  </a:moveTo>
                  <a:lnTo>
                    <a:pt x="5" y="12"/>
                  </a:lnTo>
                  <a:lnTo>
                    <a:pt x="3" y="26"/>
                  </a:lnTo>
                  <a:lnTo>
                    <a:pt x="2" y="41"/>
                  </a:lnTo>
                  <a:lnTo>
                    <a:pt x="2" y="55"/>
                  </a:lnTo>
                  <a:lnTo>
                    <a:pt x="0" y="70"/>
                  </a:lnTo>
                  <a:lnTo>
                    <a:pt x="1" y="72"/>
                  </a:lnTo>
                  <a:lnTo>
                    <a:pt x="18" y="76"/>
                  </a:lnTo>
                  <a:lnTo>
                    <a:pt x="27" y="64"/>
                  </a:lnTo>
                  <a:lnTo>
                    <a:pt x="38" y="61"/>
                  </a:lnTo>
                  <a:lnTo>
                    <a:pt x="45" y="53"/>
                  </a:lnTo>
                  <a:lnTo>
                    <a:pt x="27" y="35"/>
                  </a:lnTo>
                  <a:lnTo>
                    <a:pt x="44" y="28"/>
                  </a:lnTo>
                  <a:lnTo>
                    <a:pt x="61" y="22"/>
                  </a:lnTo>
                  <a:lnTo>
                    <a:pt x="51" y="0"/>
                  </a:lnTo>
                  <a:lnTo>
                    <a:pt x="37" y="10"/>
                  </a:lnTo>
                  <a:lnTo>
                    <a:pt x="24"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0" name="Freeform 69"/>
            <p:cNvSpPr>
              <a:spLocks/>
            </p:cNvSpPr>
            <p:nvPr/>
          </p:nvSpPr>
          <p:spPr bwMode="auto">
            <a:xfrm>
              <a:off x="3431" y="2207"/>
              <a:ext cx="131" cy="167"/>
            </a:xfrm>
            <a:custGeom>
              <a:avLst/>
              <a:gdLst/>
              <a:ahLst/>
              <a:cxnLst>
                <a:cxn ang="0">
                  <a:pos x="119" y="46"/>
                </a:cxn>
                <a:cxn ang="0">
                  <a:pos x="107" y="35"/>
                </a:cxn>
                <a:cxn ang="0">
                  <a:pos x="95" y="25"/>
                </a:cxn>
                <a:cxn ang="0">
                  <a:pos x="82" y="19"/>
                </a:cxn>
                <a:cxn ang="0">
                  <a:pos x="68" y="13"/>
                </a:cxn>
                <a:cxn ang="0">
                  <a:pos x="61" y="0"/>
                </a:cxn>
                <a:cxn ang="0">
                  <a:pos x="56" y="4"/>
                </a:cxn>
                <a:cxn ang="0">
                  <a:pos x="54" y="0"/>
                </a:cxn>
                <a:cxn ang="0">
                  <a:pos x="56" y="17"/>
                </a:cxn>
                <a:cxn ang="0">
                  <a:pos x="49" y="19"/>
                </a:cxn>
                <a:cxn ang="0">
                  <a:pos x="46" y="41"/>
                </a:cxn>
                <a:cxn ang="0">
                  <a:pos x="54" y="54"/>
                </a:cxn>
                <a:cxn ang="0">
                  <a:pos x="50" y="72"/>
                </a:cxn>
                <a:cxn ang="0">
                  <a:pos x="47" y="90"/>
                </a:cxn>
                <a:cxn ang="0">
                  <a:pos x="36" y="94"/>
                </a:cxn>
                <a:cxn ang="0">
                  <a:pos x="24" y="99"/>
                </a:cxn>
                <a:cxn ang="0">
                  <a:pos x="13" y="103"/>
                </a:cxn>
                <a:cxn ang="0">
                  <a:pos x="2" y="108"/>
                </a:cxn>
                <a:cxn ang="0">
                  <a:pos x="0" y="115"/>
                </a:cxn>
                <a:cxn ang="0">
                  <a:pos x="11" y="133"/>
                </a:cxn>
                <a:cxn ang="0">
                  <a:pos x="22" y="150"/>
                </a:cxn>
                <a:cxn ang="0">
                  <a:pos x="35" y="148"/>
                </a:cxn>
                <a:cxn ang="0">
                  <a:pos x="47" y="144"/>
                </a:cxn>
                <a:cxn ang="0">
                  <a:pos x="55" y="137"/>
                </a:cxn>
                <a:cxn ang="0">
                  <a:pos x="60" y="127"/>
                </a:cxn>
                <a:cxn ang="0">
                  <a:pos x="74" y="124"/>
                </a:cxn>
                <a:cxn ang="0">
                  <a:pos x="80" y="111"/>
                </a:cxn>
                <a:cxn ang="0">
                  <a:pos x="92" y="105"/>
                </a:cxn>
                <a:cxn ang="0">
                  <a:pos x="91" y="85"/>
                </a:cxn>
                <a:cxn ang="0">
                  <a:pos x="97" y="81"/>
                </a:cxn>
                <a:cxn ang="0">
                  <a:pos x="101" y="81"/>
                </a:cxn>
                <a:cxn ang="0">
                  <a:pos x="110" y="64"/>
                </a:cxn>
                <a:cxn ang="0">
                  <a:pos x="119" y="46"/>
                </a:cxn>
              </a:cxnLst>
              <a:rect l="0" t="0" r="r" b="b"/>
              <a:pathLst>
                <a:path w="119" h="150">
                  <a:moveTo>
                    <a:pt x="119" y="46"/>
                  </a:moveTo>
                  <a:lnTo>
                    <a:pt x="107" y="35"/>
                  </a:lnTo>
                  <a:lnTo>
                    <a:pt x="95" y="25"/>
                  </a:lnTo>
                  <a:lnTo>
                    <a:pt x="82" y="19"/>
                  </a:lnTo>
                  <a:lnTo>
                    <a:pt x="68" y="13"/>
                  </a:lnTo>
                  <a:lnTo>
                    <a:pt x="61" y="0"/>
                  </a:lnTo>
                  <a:lnTo>
                    <a:pt x="56" y="4"/>
                  </a:lnTo>
                  <a:lnTo>
                    <a:pt x="54" y="0"/>
                  </a:lnTo>
                  <a:lnTo>
                    <a:pt x="56" y="17"/>
                  </a:lnTo>
                  <a:lnTo>
                    <a:pt x="49" y="19"/>
                  </a:lnTo>
                  <a:lnTo>
                    <a:pt x="46" y="41"/>
                  </a:lnTo>
                  <a:lnTo>
                    <a:pt x="54" y="54"/>
                  </a:lnTo>
                  <a:lnTo>
                    <a:pt x="50" y="72"/>
                  </a:lnTo>
                  <a:lnTo>
                    <a:pt x="47" y="90"/>
                  </a:lnTo>
                  <a:lnTo>
                    <a:pt x="36" y="94"/>
                  </a:lnTo>
                  <a:lnTo>
                    <a:pt x="24" y="99"/>
                  </a:lnTo>
                  <a:lnTo>
                    <a:pt x="13" y="103"/>
                  </a:lnTo>
                  <a:lnTo>
                    <a:pt x="2" y="108"/>
                  </a:lnTo>
                  <a:lnTo>
                    <a:pt x="0" y="115"/>
                  </a:lnTo>
                  <a:lnTo>
                    <a:pt x="11" y="133"/>
                  </a:lnTo>
                  <a:lnTo>
                    <a:pt x="22" y="150"/>
                  </a:lnTo>
                  <a:lnTo>
                    <a:pt x="35" y="148"/>
                  </a:lnTo>
                  <a:lnTo>
                    <a:pt x="47" y="144"/>
                  </a:lnTo>
                  <a:lnTo>
                    <a:pt x="55" y="137"/>
                  </a:lnTo>
                  <a:lnTo>
                    <a:pt x="60" y="127"/>
                  </a:lnTo>
                  <a:lnTo>
                    <a:pt x="74" y="124"/>
                  </a:lnTo>
                  <a:lnTo>
                    <a:pt x="80" y="111"/>
                  </a:lnTo>
                  <a:lnTo>
                    <a:pt x="92" y="105"/>
                  </a:lnTo>
                  <a:lnTo>
                    <a:pt x="91" y="85"/>
                  </a:lnTo>
                  <a:lnTo>
                    <a:pt x="97" y="81"/>
                  </a:lnTo>
                  <a:lnTo>
                    <a:pt x="101" y="81"/>
                  </a:lnTo>
                  <a:lnTo>
                    <a:pt x="110" y="64"/>
                  </a:lnTo>
                  <a:lnTo>
                    <a:pt x="119"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1" name="Freeform 70"/>
            <p:cNvSpPr>
              <a:spLocks/>
            </p:cNvSpPr>
            <p:nvPr/>
          </p:nvSpPr>
          <p:spPr bwMode="auto">
            <a:xfrm>
              <a:off x="3489" y="2181"/>
              <a:ext cx="6" cy="11"/>
            </a:xfrm>
            <a:custGeom>
              <a:avLst/>
              <a:gdLst/>
              <a:ahLst/>
              <a:cxnLst>
                <a:cxn ang="0">
                  <a:pos x="5" y="0"/>
                </a:cxn>
                <a:cxn ang="0">
                  <a:pos x="0" y="8"/>
                </a:cxn>
                <a:cxn ang="0">
                  <a:pos x="5" y="10"/>
                </a:cxn>
                <a:cxn ang="0">
                  <a:pos x="5" y="0"/>
                </a:cxn>
              </a:cxnLst>
              <a:rect l="0" t="0" r="r" b="b"/>
              <a:pathLst>
                <a:path w="5" h="10">
                  <a:moveTo>
                    <a:pt x="5" y="0"/>
                  </a:moveTo>
                  <a:lnTo>
                    <a:pt x="0" y="8"/>
                  </a:lnTo>
                  <a:lnTo>
                    <a:pt x="5" y="10"/>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2" name="Freeform 71"/>
            <p:cNvSpPr>
              <a:spLocks/>
            </p:cNvSpPr>
            <p:nvPr/>
          </p:nvSpPr>
          <p:spPr bwMode="auto">
            <a:xfrm>
              <a:off x="3120" y="2063"/>
              <a:ext cx="371" cy="331"/>
            </a:xfrm>
            <a:custGeom>
              <a:avLst/>
              <a:gdLst/>
              <a:ahLst/>
              <a:cxnLst>
                <a:cxn ang="0">
                  <a:pos x="76" y="178"/>
                </a:cxn>
                <a:cxn ang="0">
                  <a:pos x="65" y="151"/>
                </a:cxn>
                <a:cxn ang="0">
                  <a:pos x="45" y="134"/>
                </a:cxn>
                <a:cxn ang="0">
                  <a:pos x="21" y="94"/>
                </a:cxn>
                <a:cxn ang="0">
                  <a:pos x="0" y="72"/>
                </a:cxn>
                <a:cxn ang="0">
                  <a:pos x="21" y="54"/>
                </a:cxn>
                <a:cxn ang="0">
                  <a:pos x="41" y="39"/>
                </a:cxn>
                <a:cxn ang="0">
                  <a:pos x="30" y="13"/>
                </a:cxn>
                <a:cxn ang="0">
                  <a:pos x="64" y="0"/>
                </a:cxn>
                <a:cxn ang="0">
                  <a:pos x="94" y="13"/>
                </a:cxn>
                <a:cxn ang="0">
                  <a:pos x="123" y="26"/>
                </a:cxn>
                <a:cxn ang="0">
                  <a:pos x="153" y="54"/>
                </a:cxn>
                <a:cxn ang="0">
                  <a:pos x="195" y="57"/>
                </a:cxn>
                <a:cxn ang="0">
                  <a:pos x="210" y="66"/>
                </a:cxn>
                <a:cxn ang="0">
                  <a:pos x="226" y="85"/>
                </a:cxn>
                <a:cxn ang="0">
                  <a:pos x="242" y="109"/>
                </a:cxn>
                <a:cxn ang="0">
                  <a:pos x="255" y="134"/>
                </a:cxn>
                <a:cxn ang="0">
                  <a:pos x="262" y="136"/>
                </a:cxn>
                <a:cxn ang="0">
                  <a:pos x="264" y="141"/>
                </a:cxn>
                <a:cxn ang="0">
                  <a:pos x="266" y="146"/>
                </a:cxn>
                <a:cxn ang="0">
                  <a:pos x="276" y="165"/>
                </a:cxn>
                <a:cxn ang="0">
                  <a:pos x="323" y="174"/>
                </a:cxn>
                <a:cxn ang="0">
                  <a:pos x="334" y="183"/>
                </a:cxn>
                <a:cxn ang="0">
                  <a:pos x="327" y="219"/>
                </a:cxn>
                <a:cxn ang="0">
                  <a:pos x="304" y="228"/>
                </a:cxn>
                <a:cxn ang="0">
                  <a:pos x="282" y="237"/>
                </a:cxn>
                <a:cxn ang="0">
                  <a:pos x="257" y="243"/>
                </a:cxn>
                <a:cxn ang="0">
                  <a:pos x="232" y="250"/>
                </a:cxn>
                <a:cxn ang="0">
                  <a:pos x="215" y="273"/>
                </a:cxn>
                <a:cxn ang="0">
                  <a:pos x="197" y="297"/>
                </a:cxn>
                <a:cxn ang="0">
                  <a:pos x="182" y="272"/>
                </a:cxn>
                <a:cxn ang="0">
                  <a:pos x="149" y="264"/>
                </a:cxn>
                <a:cxn ang="0">
                  <a:pos x="141" y="284"/>
                </a:cxn>
                <a:cxn ang="0">
                  <a:pos x="125" y="258"/>
                </a:cxn>
                <a:cxn ang="0">
                  <a:pos x="100" y="218"/>
                </a:cxn>
              </a:cxnLst>
              <a:rect l="0" t="0" r="r" b="b"/>
              <a:pathLst>
                <a:path w="334" h="297">
                  <a:moveTo>
                    <a:pt x="82" y="202"/>
                  </a:moveTo>
                  <a:lnTo>
                    <a:pt x="76" y="178"/>
                  </a:lnTo>
                  <a:lnTo>
                    <a:pt x="70" y="165"/>
                  </a:lnTo>
                  <a:lnTo>
                    <a:pt x="65" y="151"/>
                  </a:lnTo>
                  <a:lnTo>
                    <a:pt x="54" y="142"/>
                  </a:lnTo>
                  <a:lnTo>
                    <a:pt x="45" y="134"/>
                  </a:lnTo>
                  <a:lnTo>
                    <a:pt x="36" y="115"/>
                  </a:lnTo>
                  <a:lnTo>
                    <a:pt x="21" y="94"/>
                  </a:lnTo>
                  <a:lnTo>
                    <a:pt x="5" y="73"/>
                  </a:lnTo>
                  <a:lnTo>
                    <a:pt x="0" y="72"/>
                  </a:lnTo>
                  <a:lnTo>
                    <a:pt x="4" y="50"/>
                  </a:lnTo>
                  <a:lnTo>
                    <a:pt x="21" y="54"/>
                  </a:lnTo>
                  <a:lnTo>
                    <a:pt x="30" y="42"/>
                  </a:lnTo>
                  <a:lnTo>
                    <a:pt x="41" y="39"/>
                  </a:lnTo>
                  <a:lnTo>
                    <a:pt x="48" y="31"/>
                  </a:lnTo>
                  <a:lnTo>
                    <a:pt x="30" y="13"/>
                  </a:lnTo>
                  <a:lnTo>
                    <a:pt x="47" y="6"/>
                  </a:lnTo>
                  <a:lnTo>
                    <a:pt x="64" y="0"/>
                  </a:lnTo>
                  <a:lnTo>
                    <a:pt x="78" y="6"/>
                  </a:lnTo>
                  <a:lnTo>
                    <a:pt x="94" y="13"/>
                  </a:lnTo>
                  <a:lnTo>
                    <a:pt x="108" y="19"/>
                  </a:lnTo>
                  <a:lnTo>
                    <a:pt x="123" y="26"/>
                  </a:lnTo>
                  <a:lnTo>
                    <a:pt x="137" y="39"/>
                  </a:lnTo>
                  <a:lnTo>
                    <a:pt x="153" y="54"/>
                  </a:lnTo>
                  <a:lnTo>
                    <a:pt x="180" y="55"/>
                  </a:lnTo>
                  <a:lnTo>
                    <a:pt x="195" y="57"/>
                  </a:lnTo>
                  <a:lnTo>
                    <a:pt x="197" y="62"/>
                  </a:lnTo>
                  <a:lnTo>
                    <a:pt x="210" y="66"/>
                  </a:lnTo>
                  <a:lnTo>
                    <a:pt x="219" y="79"/>
                  </a:lnTo>
                  <a:lnTo>
                    <a:pt x="226" y="85"/>
                  </a:lnTo>
                  <a:lnTo>
                    <a:pt x="240" y="99"/>
                  </a:lnTo>
                  <a:lnTo>
                    <a:pt x="242" y="109"/>
                  </a:lnTo>
                  <a:lnTo>
                    <a:pt x="249" y="121"/>
                  </a:lnTo>
                  <a:lnTo>
                    <a:pt x="255" y="134"/>
                  </a:lnTo>
                  <a:lnTo>
                    <a:pt x="260" y="138"/>
                  </a:lnTo>
                  <a:lnTo>
                    <a:pt x="262" y="136"/>
                  </a:lnTo>
                  <a:lnTo>
                    <a:pt x="264" y="136"/>
                  </a:lnTo>
                  <a:lnTo>
                    <a:pt x="264" y="141"/>
                  </a:lnTo>
                  <a:lnTo>
                    <a:pt x="266" y="142"/>
                  </a:lnTo>
                  <a:lnTo>
                    <a:pt x="266" y="146"/>
                  </a:lnTo>
                  <a:lnTo>
                    <a:pt x="270" y="150"/>
                  </a:lnTo>
                  <a:lnTo>
                    <a:pt x="276" y="165"/>
                  </a:lnTo>
                  <a:lnTo>
                    <a:pt x="299" y="170"/>
                  </a:lnTo>
                  <a:lnTo>
                    <a:pt x="323" y="174"/>
                  </a:lnTo>
                  <a:lnTo>
                    <a:pt x="326" y="170"/>
                  </a:lnTo>
                  <a:lnTo>
                    <a:pt x="334" y="183"/>
                  </a:lnTo>
                  <a:lnTo>
                    <a:pt x="330" y="201"/>
                  </a:lnTo>
                  <a:lnTo>
                    <a:pt x="327" y="219"/>
                  </a:lnTo>
                  <a:lnTo>
                    <a:pt x="316" y="223"/>
                  </a:lnTo>
                  <a:lnTo>
                    <a:pt x="304" y="228"/>
                  </a:lnTo>
                  <a:lnTo>
                    <a:pt x="293" y="232"/>
                  </a:lnTo>
                  <a:lnTo>
                    <a:pt x="282" y="237"/>
                  </a:lnTo>
                  <a:lnTo>
                    <a:pt x="269" y="240"/>
                  </a:lnTo>
                  <a:lnTo>
                    <a:pt x="257" y="243"/>
                  </a:lnTo>
                  <a:lnTo>
                    <a:pt x="244" y="247"/>
                  </a:lnTo>
                  <a:lnTo>
                    <a:pt x="232" y="250"/>
                  </a:lnTo>
                  <a:lnTo>
                    <a:pt x="224" y="262"/>
                  </a:lnTo>
                  <a:lnTo>
                    <a:pt x="215" y="273"/>
                  </a:lnTo>
                  <a:lnTo>
                    <a:pt x="206" y="285"/>
                  </a:lnTo>
                  <a:lnTo>
                    <a:pt x="197" y="297"/>
                  </a:lnTo>
                  <a:lnTo>
                    <a:pt x="196" y="279"/>
                  </a:lnTo>
                  <a:lnTo>
                    <a:pt x="182" y="272"/>
                  </a:lnTo>
                  <a:lnTo>
                    <a:pt x="166" y="266"/>
                  </a:lnTo>
                  <a:lnTo>
                    <a:pt x="149" y="264"/>
                  </a:lnTo>
                  <a:lnTo>
                    <a:pt x="146" y="278"/>
                  </a:lnTo>
                  <a:lnTo>
                    <a:pt x="141" y="284"/>
                  </a:lnTo>
                  <a:lnTo>
                    <a:pt x="132" y="271"/>
                  </a:lnTo>
                  <a:lnTo>
                    <a:pt x="125" y="258"/>
                  </a:lnTo>
                  <a:lnTo>
                    <a:pt x="112" y="238"/>
                  </a:lnTo>
                  <a:lnTo>
                    <a:pt x="100" y="218"/>
                  </a:lnTo>
                  <a:lnTo>
                    <a:pt x="82" y="20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3" name="Freeform 72"/>
            <p:cNvSpPr>
              <a:spLocks/>
            </p:cNvSpPr>
            <p:nvPr/>
          </p:nvSpPr>
          <p:spPr bwMode="auto">
            <a:xfrm>
              <a:off x="3415" y="2190"/>
              <a:ext cx="85" cy="66"/>
            </a:xfrm>
            <a:custGeom>
              <a:avLst/>
              <a:gdLst/>
              <a:ahLst/>
              <a:cxnLst>
                <a:cxn ang="0">
                  <a:pos x="0" y="32"/>
                </a:cxn>
                <a:cxn ang="0">
                  <a:pos x="4" y="36"/>
                </a:cxn>
                <a:cxn ang="0">
                  <a:pos x="10" y="51"/>
                </a:cxn>
                <a:cxn ang="0">
                  <a:pos x="33" y="56"/>
                </a:cxn>
                <a:cxn ang="0">
                  <a:pos x="57" y="60"/>
                </a:cxn>
                <a:cxn ang="0">
                  <a:pos x="60" y="56"/>
                </a:cxn>
                <a:cxn ang="0">
                  <a:pos x="63" y="34"/>
                </a:cxn>
                <a:cxn ang="0">
                  <a:pos x="70" y="32"/>
                </a:cxn>
                <a:cxn ang="0">
                  <a:pos x="68" y="15"/>
                </a:cxn>
                <a:cxn ang="0">
                  <a:pos x="70" y="19"/>
                </a:cxn>
                <a:cxn ang="0">
                  <a:pos x="75" y="15"/>
                </a:cxn>
                <a:cxn ang="0">
                  <a:pos x="72" y="2"/>
                </a:cxn>
                <a:cxn ang="0">
                  <a:pos x="67" y="0"/>
                </a:cxn>
                <a:cxn ang="0">
                  <a:pos x="54" y="15"/>
                </a:cxn>
                <a:cxn ang="0">
                  <a:pos x="38" y="31"/>
                </a:cxn>
                <a:cxn ang="0">
                  <a:pos x="14" y="32"/>
                </a:cxn>
                <a:cxn ang="0">
                  <a:pos x="4" y="31"/>
                </a:cxn>
                <a:cxn ang="0">
                  <a:pos x="0" y="28"/>
                </a:cxn>
                <a:cxn ang="0">
                  <a:pos x="0" y="32"/>
                </a:cxn>
              </a:cxnLst>
              <a:rect l="0" t="0" r="r" b="b"/>
              <a:pathLst>
                <a:path w="75" h="60">
                  <a:moveTo>
                    <a:pt x="0" y="32"/>
                  </a:moveTo>
                  <a:lnTo>
                    <a:pt x="4" y="36"/>
                  </a:lnTo>
                  <a:lnTo>
                    <a:pt x="10" y="51"/>
                  </a:lnTo>
                  <a:lnTo>
                    <a:pt x="33" y="56"/>
                  </a:lnTo>
                  <a:lnTo>
                    <a:pt x="57" y="60"/>
                  </a:lnTo>
                  <a:lnTo>
                    <a:pt x="60" y="56"/>
                  </a:lnTo>
                  <a:lnTo>
                    <a:pt x="63" y="34"/>
                  </a:lnTo>
                  <a:lnTo>
                    <a:pt x="70" y="32"/>
                  </a:lnTo>
                  <a:lnTo>
                    <a:pt x="68" y="15"/>
                  </a:lnTo>
                  <a:lnTo>
                    <a:pt x="70" y="19"/>
                  </a:lnTo>
                  <a:lnTo>
                    <a:pt x="75" y="15"/>
                  </a:lnTo>
                  <a:lnTo>
                    <a:pt x="72" y="2"/>
                  </a:lnTo>
                  <a:lnTo>
                    <a:pt x="67" y="0"/>
                  </a:lnTo>
                  <a:lnTo>
                    <a:pt x="54" y="15"/>
                  </a:lnTo>
                  <a:lnTo>
                    <a:pt x="38" y="31"/>
                  </a:lnTo>
                  <a:lnTo>
                    <a:pt x="14" y="32"/>
                  </a:lnTo>
                  <a:lnTo>
                    <a:pt x="4" y="31"/>
                  </a:lnTo>
                  <a:lnTo>
                    <a:pt x="0" y="28"/>
                  </a:lnTo>
                  <a:lnTo>
                    <a:pt x="0" y="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4" name="Freeform 73"/>
            <p:cNvSpPr>
              <a:spLocks/>
            </p:cNvSpPr>
            <p:nvPr/>
          </p:nvSpPr>
          <p:spPr bwMode="auto">
            <a:xfrm>
              <a:off x="3275" y="2327"/>
              <a:ext cx="180" cy="125"/>
            </a:xfrm>
            <a:custGeom>
              <a:avLst/>
              <a:gdLst/>
              <a:ahLst/>
              <a:cxnLst>
                <a:cxn ang="0">
                  <a:pos x="5" y="41"/>
                </a:cxn>
                <a:cxn ang="0">
                  <a:pos x="0" y="47"/>
                </a:cxn>
                <a:cxn ang="0">
                  <a:pos x="0" y="69"/>
                </a:cxn>
                <a:cxn ang="0">
                  <a:pos x="7" y="90"/>
                </a:cxn>
                <a:cxn ang="0">
                  <a:pos x="14" y="113"/>
                </a:cxn>
                <a:cxn ang="0">
                  <a:pos x="33" y="112"/>
                </a:cxn>
                <a:cxn ang="0">
                  <a:pos x="54" y="100"/>
                </a:cxn>
                <a:cxn ang="0">
                  <a:pos x="69" y="95"/>
                </a:cxn>
                <a:cxn ang="0">
                  <a:pos x="86" y="89"/>
                </a:cxn>
                <a:cxn ang="0">
                  <a:pos x="98" y="84"/>
                </a:cxn>
                <a:cxn ang="0">
                  <a:pos x="110" y="78"/>
                </a:cxn>
                <a:cxn ang="0">
                  <a:pos x="122" y="72"/>
                </a:cxn>
                <a:cxn ang="0">
                  <a:pos x="134" y="67"/>
                </a:cxn>
                <a:cxn ang="0">
                  <a:pos x="146" y="61"/>
                </a:cxn>
                <a:cxn ang="0">
                  <a:pos x="147" y="54"/>
                </a:cxn>
                <a:cxn ang="0">
                  <a:pos x="161" y="42"/>
                </a:cxn>
                <a:cxn ang="0">
                  <a:pos x="150" y="25"/>
                </a:cxn>
                <a:cxn ang="0">
                  <a:pos x="139" y="7"/>
                </a:cxn>
                <a:cxn ang="0">
                  <a:pos x="141" y="0"/>
                </a:cxn>
                <a:cxn ang="0">
                  <a:pos x="128" y="3"/>
                </a:cxn>
                <a:cxn ang="0">
                  <a:pos x="116" y="6"/>
                </a:cxn>
                <a:cxn ang="0">
                  <a:pos x="103" y="10"/>
                </a:cxn>
                <a:cxn ang="0">
                  <a:pos x="91" y="13"/>
                </a:cxn>
                <a:cxn ang="0">
                  <a:pos x="83" y="25"/>
                </a:cxn>
                <a:cxn ang="0">
                  <a:pos x="74" y="36"/>
                </a:cxn>
                <a:cxn ang="0">
                  <a:pos x="65" y="48"/>
                </a:cxn>
                <a:cxn ang="0">
                  <a:pos x="56" y="60"/>
                </a:cxn>
                <a:cxn ang="0">
                  <a:pos x="55" y="42"/>
                </a:cxn>
                <a:cxn ang="0">
                  <a:pos x="41" y="35"/>
                </a:cxn>
                <a:cxn ang="0">
                  <a:pos x="25" y="29"/>
                </a:cxn>
                <a:cxn ang="0">
                  <a:pos x="8" y="27"/>
                </a:cxn>
                <a:cxn ang="0">
                  <a:pos x="5" y="41"/>
                </a:cxn>
              </a:cxnLst>
              <a:rect l="0" t="0" r="r" b="b"/>
              <a:pathLst>
                <a:path w="161" h="113">
                  <a:moveTo>
                    <a:pt x="5" y="41"/>
                  </a:moveTo>
                  <a:lnTo>
                    <a:pt x="0" y="47"/>
                  </a:lnTo>
                  <a:lnTo>
                    <a:pt x="0" y="69"/>
                  </a:lnTo>
                  <a:lnTo>
                    <a:pt x="7" y="90"/>
                  </a:lnTo>
                  <a:lnTo>
                    <a:pt x="14" y="113"/>
                  </a:lnTo>
                  <a:lnTo>
                    <a:pt x="33" y="112"/>
                  </a:lnTo>
                  <a:lnTo>
                    <a:pt x="54" y="100"/>
                  </a:lnTo>
                  <a:lnTo>
                    <a:pt x="69" y="95"/>
                  </a:lnTo>
                  <a:lnTo>
                    <a:pt x="86" y="89"/>
                  </a:lnTo>
                  <a:lnTo>
                    <a:pt x="98" y="84"/>
                  </a:lnTo>
                  <a:lnTo>
                    <a:pt x="110" y="78"/>
                  </a:lnTo>
                  <a:lnTo>
                    <a:pt x="122" y="72"/>
                  </a:lnTo>
                  <a:lnTo>
                    <a:pt x="134" y="67"/>
                  </a:lnTo>
                  <a:lnTo>
                    <a:pt x="146" y="61"/>
                  </a:lnTo>
                  <a:lnTo>
                    <a:pt x="147" y="54"/>
                  </a:lnTo>
                  <a:lnTo>
                    <a:pt x="161" y="42"/>
                  </a:lnTo>
                  <a:lnTo>
                    <a:pt x="150" y="25"/>
                  </a:lnTo>
                  <a:lnTo>
                    <a:pt x="139" y="7"/>
                  </a:lnTo>
                  <a:lnTo>
                    <a:pt x="141" y="0"/>
                  </a:lnTo>
                  <a:lnTo>
                    <a:pt x="128" y="3"/>
                  </a:lnTo>
                  <a:lnTo>
                    <a:pt x="116" y="6"/>
                  </a:lnTo>
                  <a:lnTo>
                    <a:pt x="103" y="10"/>
                  </a:lnTo>
                  <a:lnTo>
                    <a:pt x="91" y="13"/>
                  </a:lnTo>
                  <a:lnTo>
                    <a:pt x="83" y="25"/>
                  </a:lnTo>
                  <a:lnTo>
                    <a:pt x="74" y="36"/>
                  </a:lnTo>
                  <a:lnTo>
                    <a:pt x="65" y="48"/>
                  </a:lnTo>
                  <a:lnTo>
                    <a:pt x="56" y="60"/>
                  </a:lnTo>
                  <a:lnTo>
                    <a:pt x="55" y="42"/>
                  </a:lnTo>
                  <a:lnTo>
                    <a:pt x="41" y="35"/>
                  </a:lnTo>
                  <a:lnTo>
                    <a:pt x="25" y="29"/>
                  </a:lnTo>
                  <a:lnTo>
                    <a:pt x="8" y="27"/>
                  </a:lnTo>
                  <a:lnTo>
                    <a:pt x="5" y="4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5" name="Freeform 74"/>
            <p:cNvSpPr>
              <a:spLocks/>
            </p:cNvSpPr>
            <p:nvPr/>
          </p:nvSpPr>
          <p:spPr bwMode="auto">
            <a:xfrm>
              <a:off x="3933" y="2510"/>
              <a:ext cx="38" cy="77"/>
            </a:xfrm>
            <a:custGeom>
              <a:avLst/>
              <a:gdLst/>
              <a:ahLst/>
              <a:cxnLst>
                <a:cxn ang="0">
                  <a:pos x="9" y="2"/>
                </a:cxn>
                <a:cxn ang="0">
                  <a:pos x="15" y="12"/>
                </a:cxn>
                <a:cxn ang="0">
                  <a:pos x="22" y="22"/>
                </a:cxn>
                <a:cxn ang="0">
                  <a:pos x="29" y="37"/>
                </a:cxn>
                <a:cxn ang="0">
                  <a:pos x="35" y="50"/>
                </a:cxn>
                <a:cxn ang="0">
                  <a:pos x="27" y="64"/>
                </a:cxn>
                <a:cxn ang="0">
                  <a:pos x="11" y="69"/>
                </a:cxn>
                <a:cxn ang="0">
                  <a:pos x="3" y="45"/>
                </a:cxn>
                <a:cxn ang="0">
                  <a:pos x="0" y="28"/>
                </a:cxn>
                <a:cxn ang="0">
                  <a:pos x="1" y="30"/>
                </a:cxn>
                <a:cxn ang="0">
                  <a:pos x="4" y="18"/>
                </a:cxn>
                <a:cxn ang="0">
                  <a:pos x="6" y="4"/>
                </a:cxn>
                <a:cxn ang="0">
                  <a:pos x="6" y="3"/>
                </a:cxn>
                <a:cxn ang="0">
                  <a:pos x="3" y="0"/>
                </a:cxn>
                <a:cxn ang="0">
                  <a:pos x="9" y="2"/>
                </a:cxn>
              </a:cxnLst>
              <a:rect l="0" t="0" r="r" b="b"/>
              <a:pathLst>
                <a:path w="35" h="69">
                  <a:moveTo>
                    <a:pt x="9" y="2"/>
                  </a:moveTo>
                  <a:lnTo>
                    <a:pt x="15" y="12"/>
                  </a:lnTo>
                  <a:lnTo>
                    <a:pt x="22" y="22"/>
                  </a:lnTo>
                  <a:lnTo>
                    <a:pt x="29" y="37"/>
                  </a:lnTo>
                  <a:lnTo>
                    <a:pt x="35" y="50"/>
                  </a:lnTo>
                  <a:lnTo>
                    <a:pt x="27" y="64"/>
                  </a:lnTo>
                  <a:lnTo>
                    <a:pt x="11" y="69"/>
                  </a:lnTo>
                  <a:lnTo>
                    <a:pt x="3" y="45"/>
                  </a:lnTo>
                  <a:lnTo>
                    <a:pt x="0" y="28"/>
                  </a:lnTo>
                  <a:lnTo>
                    <a:pt x="1" y="30"/>
                  </a:lnTo>
                  <a:lnTo>
                    <a:pt x="4" y="18"/>
                  </a:lnTo>
                  <a:lnTo>
                    <a:pt x="6" y="4"/>
                  </a:lnTo>
                  <a:lnTo>
                    <a:pt x="6" y="3"/>
                  </a:lnTo>
                  <a:lnTo>
                    <a:pt x="3" y="0"/>
                  </a:lnTo>
                  <a:lnTo>
                    <a:pt x="9"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6" name="Freeform 75"/>
            <p:cNvSpPr>
              <a:spLocks/>
            </p:cNvSpPr>
            <p:nvPr/>
          </p:nvSpPr>
          <p:spPr bwMode="auto">
            <a:xfrm>
              <a:off x="3040" y="2727"/>
              <a:ext cx="36" cy="32"/>
            </a:xfrm>
            <a:custGeom>
              <a:avLst/>
              <a:gdLst/>
              <a:ahLst/>
              <a:cxnLst>
                <a:cxn ang="0">
                  <a:pos x="11" y="6"/>
                </a:cxn>
                <a:cxn ang="0">
                  <a:pos x="5" y="18"/>
                </a:cxn>
                <a:cxn ang="0">
                  <a:pos x="0" y="29"/>
                </a:cxn>
                <a:cxn ang="0">
                  <a:pos x="2" y="29"/>
                </a:cxn>
                <a:cxn ang="0">
                  <a:pos x="3" y="29"/>
                </a:cxn>
                <a:cxn ang="0">
                  <a:pos x="16" y="29"/>
                </a:cxn>
                <a:cxn ang="0">
                  <a:pos x="18" y="23"/>
                </a:cxn>
                <a:cxn ang="0">
                  <a:pos x="27" y="24"/>
                </a:cxn>
                <a:cxn ang="0">
                  <a:pos x="32" y="22"/>
                </a:cxn>
                <a:cxn ang="0">
                  <a:pos x="26" y="0"/>
                </a:cxn>
                <a:cxn ang="0">
                  <a:pos x="16" y="6"/>
                </a:cxn>
                <a:cxn ang="0">
                  <a:pos x="11" y="6"/>
                </a:cxn>
              </a:cxnLst>
              <a:rect l="0" t="0" r="r" b="b"/>
              <a:pathLst>
                <a:path w="32" h="29">
                  <a:moveTo>
                    <a:pt x="11" y="6"/>
                  </a:moveTo>
                  <a:lnTo>
                    <a:pt x="5" y="18"/>
                  </a:lnTo>
                  <a:lnTo>
                    <a:pt x="0" y="29"/>
                  </a:lnTo>
                  <a:lnTo>
                    <a:pt x="2" y="29"/>
                  </a:lnTo>
                  <a:lnTo>
                    <a:pt x="3" y="29"/>
                  </a:lnTo>
                  <a:lnTo>
                    <a:pt x="16" y="29"/>
                  </a:lnTo>
                  <a:lnTo>
                    <a:pt x="18" y="23"/>
                  </a:lnTo>
                  <a:lnTo>
                    <a:pt x="27" y="24"/>
                  </a:lnTo>
                  <a:lnTo>
                    <a:pt x="32" y="22"/>
                  </a:lnTo>
                  <a:lnTo>
                    <a:pt x="26" y="0"/>
                  </a:lnTo>
                  <a:lnTo>
                    <a:pt x="16" y="6"/>
                  </a:lnTo>
                  <a:lnTo>
                    <a:pt x="1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7" name="Freeform 76"/>
            <p:cNvSpPr>
              <a:spLocks/>
            </p:cNvSpPr>
            <p:nvPr/>
          </p:nvSpPr>
          <p:spPr bwMode="auto">
            <a:xfrm>
              <a:off x="3827" y="2667"/>
              <a:ext cx="2" cy="3"/>
            </a:xfrm>
            <a:custGeom>
              <a:avLst/>
              <a:gdLst/>
              <a:ahLst/>
              <a:cxnLst>
                <a:cxn ang="0">
                  <a:pos x="2" y="1"/>
                </a:cxn>
                <a:cxn ang="0">
                  <a:pos x="0" y="1"/>
                </a:cxn>
                <a:cxn ang="0">
                  <a:pos x="2" y="0"/>
                </a:cxn>
                <a:cxn ang="0">
                  <a:pos x="2" y="1"/>
                </a:cxn>
              </a:cxnLst>
              <a:rect l="0" t="0" r="r" b="b"/>
              <a:pathLst>
                <a:path w="2" h="1">
                  <a:moveTo>
                    <a:pt x="2" y="1"/>
                  </a:moveTo>
                  <a:lnTo>
                    <a:pt x="0" y="1"/>
                  </a:lnTo>
                  <a:lnTo>
                    <a:pt x="2" y="0"/>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8" name="Freeform 77"/>
            <p:cNvSpPr>
              <a:spLocks/>
            </p:cNvSpPr>
            <p:nvPr/>
          </p:nvSpPr>
          <p:spPr bwMode="auto">
            <a:xfrm>
              <a:off x="3833" y="2712"/>
              <a:ext cx="2" cy="2"/>
            </a:xfrm>
            <a:custGeom>
              <a:avLst/>
              <a:gdLst/>
              <a:ahLst/>
              <a:cxnLst>
                <a:cxn ang="0">
                  <a:pos x="0" y="0"/>
                </a:cxn>
                <a:cxn ang="0">
                  <a:pos x="1" y="1"/>
                </a:cxn>
                <a:cxn ang="0">
                  <a:pos x="0" y="2"/>
                </a:cxn>
                <a:cxn ang="0">
                  <a:pos x="0" y="0"/>
                </a:cxn>
              </a:cxnLst>
              <a:rect l="0" t="0" r="r" b="b"/>
              <a:pathLst>
                <a:path w="1" h="2">
                  <a:moveTo>
                    <a:pt x="0" y="0"/>
                  </a:moveTo>
                  <a:lnTo>
                    <a:pt x="1" y="1"/>
                  </a:lnTo>
                  <a:lnTo>
                    <a:pt x="0" y="2"/>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9" name="Freeform 78"/>
            <p:cNvSpPr>
              <a:spLocks/>
            </p:cNvSpPr>
            <p:nvPr/>
          </p:nvSpPr>
          <p:spPr bwMode="auto">
            <a:xfrm>
              <a:off x="3829" y="2703"/>
              <a:ext cx="2" cy="2"/>
            </a:xfrm>
            <a:custGeom>
              <a:avLst/>
              <a:gdLst/>
              <a:ahLst/>
              <a:cxnLst>
                <a:cxn ang="0">
                  <a:pos x="1" y="0"/>
                </a:cxn>
                <a:cxn ang="0">
                  <a:pos x="1" y="1"/>
                </a:cxn>
                <a:cxn ang="0">
                  <a:pos x="0" y="0"/>
                </a:cxn>
                <a:cxn ang="0">
                  <a:pos x="1" y="0"/>
                </a:cxn>
              </a:cxnLst>
              <a:rect l="0" t="0" r="r" b="b"/>
              <a:pathLst>
                <a:path w="1" h="1">
                  <a:moveTo>
                    <a:pt x="1" y="0"/>
                  </a:moveTo>
                  <a:lnTo>
                    <a:pt x="1"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0" name="Freeform 79"/>
            <p:cNvSpPr>
              <a:spLocks/>
            </p:cNvSpPr>
            <p:nvPr/>
          </p:nvSpPr>
          <p:spPr bwMode="auto">
            <a:xfrm>
              <a:off x="3822" y="2719"/>
              <a:ext cx="2" cy="2"/>
            </a:xfrm>
            <a:custGeom>
              <a:avLst/>
              <a:gdLst/>
              <a:ahLst/>
              <a:cxnLst>
                <a:cxn ang="0">
                  <a:pos x="1" y="0"/>
                </a:cxn>
                <a:cxn ang="0">
                  <a:pos x="0" y="1"/>
                </a:cxn>
                <a:cxn ang="0">
                  <a:pos x="0" y="0"/>
                </a:cxn>
                <a:cxn ang="0">
                  <a:pos x="1" y="0"/>
                </a:cxn>
              </a:cxnLst>
              <a:rect l="0" t="0" r="r" b="b"/>
              <a:pathLst>
                <a:path w="1" h="1">
                  <a:moveTo>
                    <a:pt x="1" y="0"/>
                  </a:moveTo>
                  <a:lnTo>
                    <a:pt x="0"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1" name="Freeform 80"/>
            <p:cNvSpPr>
              <a:spLocks/>
            </p:cNvSpPr>
            <p:nvPr/>
          </p:nvSpPr>
          <p:spPr bwMode="auto">
            <a:xfrm>
              <a:off x="3822" y="2721"/>
              <a:ext cx="2" cy="2"/>
            </a:xfrm>
            <a:custGeom>
              <a:avLst/>
              <a:gdLst/>
              <a:ahLst/>
              <a:cxnLst>
                <a:cxn ang="0">
                  <a:pos x="1" y="2"/>
                </a:cxn>
                <a:cxn ang="0">
                  <a:pos x="1" y="0"/>
                </a:cxn>
                <a:cxn ang="0">
                  <a:pos x="0" y="2"/>
                </a:cxn>
                <a:cxn ang="0">
                  <a:pos x="1" y="2"/>
                </a:cxn>
              </a:cxnLst>
              <a:rect l="0" t="0" r="r" b="b"/>
              <a:pathLst>
                <a:path w="1" h="2">
                  <a:moveTo>
                    <a:pt x="1" y="2"/>
                  </a:moveTo>
                  <a:lnTo>
                    <a:pt x="1" y="0"/>
                  </a:lnTo>
                  <a:lnTo>
                    <a:pt x="0" y="2"/>
                  </a:lnTo>
                  <a:lnTo>
                    <a:pt x="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2" name="Freeform 81"/>
            <p:cNvSpPr>
              <a:spLocks/>
            </p:cNvSpPr>
            <p:nvPr/>
          </p:nvSpPr>
          <p:spPr bwMode="auto">
            <a:xfrm>
              <a:off x="3822" y="2592"/>
              <a:ext cx="2" cy="2"/>
            </a:xfrm>
            <a:custGeom>
              <a:avLst/>
              <a:gdLst/>
              <a:ahLst/>
              <a:cxnLst>
                <a:cxn ang="0">
                  <a:pos x="1" y="1"/>
                </a:cxn>
                <a:cxn ang="0">
                  <a:pos x="0" y="0"/>
                </a:cxn>
                <a:cxn ang="0">
                  <a:pos x="0" y="1"/>
                </a:cxn>
                <a:cxn ang="0">
                  <a:pos x="1" y="1"/>
                </a:cxn>
              </a:cxnLst>
              <a:rect l="0" t="0" r="r" b="b"/>
              <a:pathLst>
                <a:path w="1" h="1">
                  <a:moveTo>
                    <a:pt x="1" y="1"/>
                  </a:moveTo>
                  <a:lnTo>
                    <a:pt x="0" y="0"/>
                  </a:lnTo>
                  <a:lnTo>
                    <a:pt x="0" y="1"/>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3" name="Freeform 82"/>
            <p:cNvSpPr>
              <a:spLocks/>
            </p:cNvSpPr>
            <p:nvPr/>
          </p:nvSpPr>
          <p:spPr bwMode="auto">
            <a:xfrm>
              <a:off x="3827" y="2719"/>
              <a:ext cx="2" cy="2"/>
            </a:xfrm>
            <a:custGeom>
              <a:avLst/>
              <a:gdLst/>
              <a:ahLst/>
              <a:cxnLst>
                <a:cxn ang="0">
                  <a:pos x="0" y="1"/>
                </a:cxn>
                <a:cxn ang="0">
                  <a:pos x="0" y="0"/>
                </a:cxn>
                <a:cxn ang="0">
                  <a:pos x="0" y="1"/>
                </a:cxn>
              </a:cxnLst>
              <a:rect l="0" t="0" r="r" b="b"/>
              <a:pathLst>
                <a:path h="1">
                  <a:moveTo>
                    <a:pt x="0" y="1"/>
                  </a:moveTo>
                  <a:lnTo>
                    <a:pt x="0" y="0"/>
                  </a:lnTo>
                  <a:lnTo>
                    <a:pt x="0"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4" name="Freeform 83"/>
            <p:cNvSpPr>
              <a:spLocks/>
            </p:cNvSpPr>
            <p:nvPr/>
          </p:nvSpPr>
          <p:spPr bwMode="auto">
            <a:xfrm>
              <a:off x="3833" y="2663"/>
              <a:ext cx="2" cy="2"/>
            </a:xfrm>
            <a:custGeom>
              <a:avLst/>
              <a:gdLst/>
              <a:ahLst/>
              <a:cxnLst>
                <a:cxn ang="0">
                  <a:pos x="1" y="0"/>
                </a:cxn>
                <a:cxn ang="0">
                  <a:pos x="0" y="0"/>
                </a:cxn>
                <a:cxn ang="0">
                  <a:pos x="0" y="1"/>
                </a:cxn>
                <a:cxn ang="0">
                  <a:pos x="1" y="0"/>
                </a:cxn>
              </a:cxnLst>
              <a:rect l="0" t="0" r="r" b="b"/>
              <a:pathLst>
                <a:path w="1" h="1">
                  <a:moveTo>
                    <a:pt x="1" y="0"/>
                  </a:moveTo>
                  <a:lnTo>
                    <a:pt x="0" y="0"/>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5" name="Freeform 84"/>
            <p:cNvSpPr>
              <a:spLocks/>
            </p:cNvSpPr>
            <p:nvPr/>
          </p:nvSpPr>
          <p:spPr bwMode="auto">
            <a:xfrm>
              <a:off x="3820" y="2565"/>
              <a:ext cx="2" cy="2"/>
            </a:xfrm>
            <a:custGeom>
              <a:avLst/>
              <a:gdLst/>
              <a:ahLst/>
              <a:cxnLst>
                <a:cxn ang="0">
                  <a:pos x="1" y="0"/>
                </a:cxn>
                <a:cxn ang="0">
                  <a:pos x="0" y="0"/>
                </a:cxn>
                <a:cxn ang="0">
                  <a:pos x="0" y="2"/>
                </a:cxn>
                <a:cxn ang="0">
                  <a:pos x="1" y="0"/>
                </a:cxn>
              </a:cxnLst>
              <a:rect l="0" t="0" r="r" b="b"/>
              <a:pathLst>
                <a:path w="1" h="2">
                  <a:moveTo>
                    <a:pt x="1" y="0"/>
                  </a:moveTo>
                  <a:lnTo>
                    <a:pt x="0" y="0"/>
                  </a:lnTo>
                  <a:lnTo>
                    <a:pt x="0" y="2"/>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6" name="Freeform 85"/>
            <p:cNvSpPr>
              <a:spLocks/>
            </p:cNvSpPr>
            <p:nvPr/>
          </p:nvSpPr>
          <p:spPr bwMode="auto">
            <a:xfrm>
              <a:off x="3827" y="2670"/>
              <a:ext cx="2" cy="2"/>
            </a:xfrm>
            <a:custGeom>
              <a:avLst/>
              <a:gdLst/>
              <a:ahLst/>
              <a:cxnLst>
                <a:cxn ang="0">
                  <a:pos x="1" y="1"/>
                </a:cxn>
                <a:cxn ang="0">
                  <a:pos x="0" y="0"/>
                </a:cxn>
                <a:cxn ang="0">
                  <a:pos x="0" y="2"/>
                </a:cxn>
                <a:cxn ang="0">
                  <a:pos x="1" y="1"/>
                </a:cxn>
              </a:cxnLst>
              <a:rect l="0" t="0" r="r" b="b"/>
              <a:pathLst>
                <a:path w="1" h="2">
                  <a:moveTo>
                    <a:pt x="1" y="1"/>
                  </a:moveTo>
                  <a:lnTo>
                    <a:pt x="0" y="0"/>
                  </a:lnTo>
                  <a:lnTo>
                    <a:pt x="0" y="2"/>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7" name="Freeform 86"/>
            <p:cNvSpPr>
              <a:spLocks/>
            </p:cNvSpPr>
            <p:nvPr/>
          </p:nvSpPr>
          <p:spPr bwMode="auto">
            <a:xfrm>
              <a:off x="3829" y="2659"/>
              <a:ext cx="2" cy="2"/>
            </a:xfrm>
            <a:custGeom>
              <a:avLst/>
              <a:gdLst/>
              <a:ahLst/>
              <a:cxnLst>
                <a:cxn ang="0">
                  <a:pos x="1" y="0"/>
                </a:cxn>
                <a:cxn ang="0">
                  <a:pos x="0" y="0"/>
                </a:cxn>
                <a:cxn ang="0">
                  <a:pos x="0" y="1"/>
                </a:cxn>
                <a:cxn ang="0">
                  <a:pos x="1" y="0"/>
                </a:cxn>
              </a:cxnLst>
              <a:rect l="0" t="0" r="r" b="b"/>
              <a:pathLst>
                <a:path w="1" h="1">
                  <a:moveTo>
                    <a:pt x="1" y="0"/>
                  </a:moveTo>
                  <a:lnTo>
                    <a:pt x="0" y="0"/>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8" name="Freeform 87"/>
            <p:cNvSpPr>
              <a:spLocks/>
            </p:cNvSpPr>
            <p:nvPr/>
          </p:nvSpPr>
          <p:spPr bwMode="auto">
            <a:xfrm>
              <a:off x="3827" y="2592"/>
              <a:ext cx="2" cy="2"/>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9" name="Freeform 88"/>
            <p:cNvSpPr>
              <a:spLocks/>
            </p:cNvSpPr>
            <p:nvPr/>
          </p:nvSpPr>
          <p:spPr bwMode="auto">
            <a:xfrm>
              <a:off x="3818" y="2572"/>
              <a:ext cx="2" cy="2"/>
            </a:xfrm>
            <a:custGeom>
              <a:avLst/>
              <a:gdLst/>
              <a:ahLst/>
              <a:cxnLst>
                <a:cxn ang="0">
                  <a:pos x="2" y="0"/>
                </a:cxn>
                <a:cxn ang="0">
                  <a:pos x="1" y="0"/>
                </a:cxn>
                <a:cxn ang="0">
                  <a:pos x="0" y="0"/>
                </a:cxn>
                <a:cxn ang="0">
                  <a:pos x="2" y="0"/>
                </a:cxn>
              </a:cxnLst>
              <a:rect l="0" t="0" r="r" b="b"/>
              <a:pathLst>
                <a:path w="2">
                  <a:moveTo>
                    <a:pt x="2" y="0"/>
                  </a:moveTo>
                  <a:lnTo>
                    <a:pt x="1" y="0"/>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0" name="Freeform 89"/>
            <p:cNvSpPr>
              <a:spLocks/>
            </p:cNvSpPr>
            <p:nvPr/>
          </p:nvSpPr>
          <p:spPr bwMode="auto">
            <a:xfrm>
              <a:off x="3813" y="2650"/>
              <a:ext cx="2" cy="2"/>
            </a:xfrm>
            <a:custGeom>
              <a:avLst/>
              <a:gdLst/>
              <a:ahLst/>
              <a:cxnLst>
                <a:cxn ang="0">
                  <a:pos x="2" y="1"/>
                </a:cxn>
                <a:cxn ang="0">
                  <a:pos x="2" y="0"/>
                </a:cxn>
                <a:cxn ang="0">
                  <a:pos x="0" y="0"/>
                </a:cxn>
                <a:cxn ang="0">
                  <a:pos x="2" y="1"/>
                </a:cxn>
              </a:cxnLst>
              <a:rect l="0" t="0" r="r" b="b"/>
              <a:pathLst>
                <a:path w="2" h="1">
                  <a:moveTo>
                    <a:pt x="2" y="1"/>
                  </a:moveTo>
                  <a:lnTo>
                    <a:pt x="2" y="0"/>
                  </a:lnTo>
                  <a:lnTo>
                    <a:pt x="0" y="0"/>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1" name="Freeform 90"/>
            <p:cNvSpPr>
              <a:spLocks/>
            </p:cNvSpPr>
            <p:nvPr/>
          </p:nvSpPr>
          <p:spPr bwMode="auto">
            <a:xfrm>
              <a:off x="3815" y="2563"/>
              <a:ext cx="3" cy="2"/>
            </a:xfrm>
            <a:custGeom>
              <a:avLst/>
              <a:gdLst/>
              <a:ahLst/>
              <a:cxnLst>
                <a:cxn ang="0">
                  <a:pos x="1" y="1"/>
                </a:cxn>
                <a:cxn ang="0">
                  <a:pos x="1" y="0"/>
                </a:cxn>
                <a:cxn ang="0">
                  <a:pos x="0" y="0"/>
                </a:cxn>
                <a:cxn ang="0">
                  <a:pos x="1" y="1"/>
                </a:cxn>
              </a:cxnLst>
              <a:rect l="0" t="0" r="r" b="b"/>
              <a:pathLst>
                <a:path w="1" h="1">
                  <a:moveTo>
                    <a:pt x="1" y="1"/>
                  </a:moveTo>
                  <a:lnTo>
                    <a:pt x="1" y="0"/>
                  </a:ln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2" name="Freeform 91"/>
            <p:cNvSpPr>
              <a:spLocks/>
            </p:cNvSpPr>
            <p:nvPr/>
          </p:nvSpPr>
          <p:spPr bwMode="auto">
            <a:xfrm>
              <a:off x="3827" y="2645"/>
              <a:ext cx="2" cy="2"/>
            </a:xfrm>
            <a:custGeom>
              <a:avLst/>
              <a:gdLst/>
              <a:ahLst/>
              <a:cxnLst>
                <a:cxn ang="0">
                  <a:pos x="1" y="1"/>
                </a:cxn>
                <a:cxn ang="0">
                  <a:pos x="1" y="0"/>
                </a:cxn>
                <a:cxn ang="0">
                  <a:pos x="0" y="0"/>
                </a:cxn>
                <a:cxn ang="0">
                  <a:pos x="1" y="1"/>
                </a:cxn>
              </a:cxnLst>
              <a:rect l="0" t="0" r="r" b="b"/>
              <a:pathLst>
                <a:path w="1" h="1">
                  <a:moveTo>
                    <a:pt x="1" y="1"/>
                  </a:moveTo>
                  <a:lnTo>
                    <a:pt x="1" y="0"/>
                  </a:ln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3" name="Freeform 92"/>
            <p:cNvSpPr>
              <a:spLocks/>
            </p:cNvSpPr>
            <p:nvPr/>
          </p:nvSpPr>
          <p:spPr bwMode="auto">
            <a:xfrm>
              <a:off x="3829" y="2694"/>
              <a:ext cx="2" cy="2"/>
            </a:xfrm>
            <a:custGeom>
              <a:avLst/>
              <a:gdLst/>
              <a:ahLst/>
              <a:cxnLst>
                <a:cxn ang="0">
                  <a:pos x="1" y="0"/>
                </a:cxn>
                <a:cxn ang="0">
                  <a:pos x="1" y="1"/>
                </a:cxn>
                <a:cxn ang="0">
                  <a:pos x="0" y="1"/>
                </a:cxn>
                <a:cxn ang="0">
                  <a:pos x="1" y="0"/>
                </a:cxn>
              </a:cxnLst>
              <a:rect l="0" t="0" r="r" b="b"/>
              <a:pathLst>
                <a:path w="1" h="1">
                  <a:moveTo>
                    <a:pt x="1" y="0"/>
                  </a:moveTo>
                  <a:lnTo>
                    <a:pt x="1" y="1"/>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4" name="Freeform 93"/>
            <p:cNvSpPr>
              <a:spLocks/>
            </p:cNvSpPr>
            <p:nvPr/>
          </p:nvSpPr>
          <p:spPr bwMode="auto">
            <a:xfrm>
              <a:off x="3815" y="2567"/>
              <a:ext cx="3" cy="3"/>
            </a:xfrm>
            <a:custGeom>
              <a:avLst/>
              <a:gdLst/>
              <a:ahLst/>
              <a:cxnLst>
                <a:cxn ang="0">
                  <a:pos x="1" y="0"/>
                </a:cxn>
                <a:cxn ang="0">
                  <a:pos x="1" y="1"/>
                </a:cxn>
                <a:cxn ang="0">
                  <a:pos x="0" y="3"/>
                </a:cxn>
                <a:cxn ang="0">
                  <a:pos x="1" y="0"/>
                </a:cxn>
              </a:cxnLst>
              <a:rect l="0" t="0" r="r" b="b"/>
              <a:pathLst>
                <a:path w="1" h="3">
                  <a:moveTo>
                    <a:pt x="1" y="0"/>
                  </a:moveTo>
                  <a:lnTo>
                    <a:pt x="1" y="1"/>
                  </a:lnTo>
                  <a:lnTo>
                    <a:pt x="0" y="3"/>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5" name="Freeform 94"/>
            <p:cNvSpPr>
              <a:spLocks/>
            </p:cNvSpPr>
            <p:nvPr/>
          </p:nvSpPr>
          <p:spPr bwMode="auto">
            <a:xfrm>
              <a:off x="3827" y="2654"/>
              <a:ext cx="2" cy="2"/>
            </a:xfrm>
            <a:custGeom>
              <a:avLst/>
              <a:gdLst/>
              <a:ahLst/>
              <a:cxnLst>
                <a:cxn ang="0">
                  <a:pos x="2" y="0"/>
                </a:cxn>
                <a:cxn ang="0">
                  <a:pos x="2" y="2"/>
                </a:cxn>
                <a:cxn ang="0">
                  <a:pos x="0" y="0"/>
                </a:cxn>
                <a:cxn ang="0">
                  <a:pos x="2" y="0"/>
                </a:cxn>
              </a:cxnLst>
              <a:rect l="0" t="0" r="r" b="b"/>
              <a:pathLst>
                <a:path w="2" h="2">
                  <a:moveTo>
                    <a:pt x="2" y="0"/>
                  </a:moveTo>
                  <a:lnTo>
                    <a:pt x="2" y="2"/>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6" name="Freeform 95"/>
            <p:cNvSpPr>
              <a:spLocks/>
            </p:cNvSpPr>
            <p:nvPr/>
          </p:nvSpPr>
          <p:spPr bwMode="auto">
            <a:xfrm>
              <a:off x="3827" y="2614"/>
              <a:ext cx="2" cy="2"/>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7" name="Freeform 96"/>
            <p:cNvSpPr>
              <a:spLocks/>
            </p:cNvSpPr>
            <p:nvPr/>
          </p:nvSpPr>
          <p:spPr bwMode="auto">
            <a:xfrm>
              <a:off x="3342" y="2892"/>
              <a:ext cx="7" cy="2"/>
            </a:xfrm>
            <a:custGeom>
              <a:avLst/>
              <a:gdLst/>
              <a:ahLst/>
              <a:cxnLst>
                <a:cxn ang="0">
                  <a:pos x="6" y="0"/>
                </a:cxn>
                <a:cxn ang="0">
                  <a:pos x="4" y="0"/>
                </a:cxn>
                <a:cxn ang="0">
                  <a:pos x="0" y="1"/>
                </a:cxn>
                <a:cxn ang="0">
                  <a:pos x="6" y="0"/>
                </a:cxn>
              </a:cxnLst>
              <a:rect l="0" t="0" r="r" b="b"/>
              <a:pathLst>
                <a:path w="6" h="1">
                  <a:moveTo>
                    <a:pt x="6" y="0"/>
                  </a:moveTo>
                  <a:lnTo>
                    <a:pt x="4" y="0"/>
                  </a:lnTo>
                  <a:lnTo>
                    <a:pt x="0" y="1"/>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8" name="Freeform 97"/>
            <p:cNvSpPr>
              <a:spLocks/>
            </p:cNvSpPr>
            <p:nvPr/>
          </p:nvSpPr>
          <p:spPr bwMode="auto">
            <a:xfrm>
              <a:off x="3395" y="2183"/>
              <a:ext cx="3" cy="4"/>
            </a:xfrm>
            <a:custGeom>
              <a:avLst/>
              <a:gdLst/>
              <a:ahLst/>
              <a:cxnLst>
                <a:cxn ang="0">
                  <a:pos x="0" y="0"/>
                </a:cxn>
                <a:cxn ang="0">
                  <a:pos x="0" y="3"/>
                </a:cxn>
                <a:cxn ang="0">
                  <a:pos x="1" y="1"/>
                </a:cxn>
                <a:cxn ang="0">
                  <a:pos x="0" y="0"/>
                </a:cxn>
              </a:cxnLst>
              <a:rect l="0" t="0" r="r" b="b"/>
              <a:pathLst>
                <a:path w="1" h="3">
                  <a:moveTo>
                    <a:pt x="0" y="0"/>
                  </a:moveTo>
                  <a:lnTo>
                    <a:pt x="0" y="3"/>
                  </a:lnTo>
                  <a:lnTo>
                    <a:pt x="1"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9" name="Freeform 98"/>
            <p:cNvSpPr>
              <a:spLocks/>
            </p:cNvSpPr>
            <p:nvPr/>
          </p:nvSpPr>
          <p:spPr bwMode="auto">
            <a:xfrm>
              <a:off x="2769" y="2236"/>
              <a:ext cx="180" cy="318"/>
            </a:xfrm>
            <a:custGeom>
              <a:avLst/>
              <a:gdLst/>
              <a:ahLst/>
              <a:cxnLst>
                <a:cxn ang="0">
                  <a:pos x="160" y="72"/>
                </a:cxn>
                <a:cxn ang="0">
                  <a:pos x="145" y="63"/>
                </a:cxn>
                <a:cxn ang="0">
                  <a:pos x="129" y="54"/>
                </a:cxn>
                <a:cxn ang="0">
                  <a:pos x="112" y="45"/>
                </a:cxn>
                <a:cxn ang="0">
                  <a:pos x="97" y="36"/>
                </a:cxn>
                <a:cxn ang="0">
                  <a:pos x="81" y="27"/>
                </a:cxn>
                <a:cxn ang="0">
                  <a:pos x="66" y="18"/>
                </a:cxn>
                <a:cxn ang="0">
                  <a:pos x="50" y="9"/>
                </a:cxn>
                <a:cxn ang="0">
                  <a:pos x="34" y="0"/>
                </a:cxn>
                <a:cxn ang="0">
                  <a:pos x="19" y="9"/>
                </a:cxn>
                <a:cxn ang="0">
                  <a:pos x="20" y="22"/>
                </a:cxn>
                <a:cxn ang="0">
                  <a:pos x="22" y="36"/>
                </a:cxn>
                <a:cxn ang="0">
                  <a:pos x="36" y="56"/>
                </a:cxn>
                <a:cxn ang="0">
                  <a:pos x="32" y="64"/>
                </a:cxn>
                <a:cxn ang="0">
                  <a:pos x="31" y="78"/>
                </a:cxn>
                <a:cxn ang="0">
                  <a:pos x="30" y="91"/>
                </a:cxn>
                <a:cxn ang="0">
                  <a:pos x="30" y="105"/>
                </a:cxn>
                <a:cxn ang="0">
                  <a:pos x="28" y="118"/>
                </a:cxn>
                <a:cxn ang="0">
                  <a:pos x="21" y="129"/>
                </a:cxn>
                <a:cxn ang="0">
                  <a:pos x="14" y="140"/>
                </a:cxn>
                <a:cxn ang="0">
                  <a:pos x="7" y="151"/>
                </a:cxn>
                <a:cxn ang="0">
                  <a:pos x="0" y="162"/>
                </a:cxn>
                <a:cxn ang="0">
                  <a:pos x="1" y="176"/>
                </a:cxn>
                <a:cxn ang="0">
                  <a:pos x="8" y="187"/>
                </a:cxn>
                <a:cxn ang="0">
                  <a:pos x="14" y="187"/>
                </a:cxn>
                <a:cxn ang="0">
                  <a:pos x="21" y="205"/>
                </a:cxn>
                <a:cxn ang="0">
                  <a:pos x="24" y="225"/>
                </a:cxn>
                <a:cxn ang="0">
                  <a:pos x="34" y="243"/>
                </a:cxn>
                <a:cxn ang="0">
                  <a:pos x="15" y="243"/>
                </a:cxn>
                <a:cxn ang="0">
                  <a:pos x="8" y="247"/>
                </a:cxn>
                <a:cxn ang="0">
                  <a:pos x="21" y="264"/>
                </a:cxn>
                <a:cxn ang="0">
                  <a:pos x="31" y="286"/>
                </a:cxn>
                <a:cxn ang="0">
                  <a:pos x="46" y="282"/>
                </a:cxn>
                <a:cxn ang="0">
                  <a:pos x="49" y="284"/>
                </a:cxn>
                <a:cxn ang="0">
                  <a:pos x="58" y="283"/>
                </a:cxn>
                <a:cxn ang="0">
                  <a:pos x="80" y="278"/>
                </a:cxn>
                <a:cxn ang="0">
                  <a:pos x="87" y="268"/>
                </a:cxn>
                <a:cxn ang="0">
                  <a:pos x="85" y="264"/>
                </a:cxn>
                <a:cxn ang="0">
                  <a:pos x="108" y="259"/>
                </a:cxn>
                <a:cxn ang="0">
                  <a:pos x="120" y="244"/>
                </a:cxn>
                <a:cxn ang="0">
                  <a:pos x="132" y="230"/>
                </a:cxn>
                <a:cxn ang="0">
                  <a:pos x="147" y="226"/>
                </a:cxn>
                <a:cxn ang="0">
                  <a:pos x="146" y="216"/>
                </a:cxn>
                <a:cxn ang="0">
                  <a:pos x="142" y="206"/>
                </a:cxn>
                <a:cxn ang="0">
                  <a:pos x="136" y="193"/>
                </a:cxn>
                <a:cxn ang="0">
                  <a:pos x="130" y="192"/>
                </a:cxn>
                <a:cxn ang="0">
                  <a:pos x="135" y="178"/>
                </a:cxn>
                <a:cxn ang="0">
                  <a:pos x="138" y="170"/>
                </a:cxn>
                <a:cxn ang="0">
                  <a:pos x="139" y="165"/>
                </a:cxn>
                <a:cxn ang="0">
                  <a:pos x="139" y="159"/>
                </a:cxn>
                <a:cxn ang="0">
                  <a:pos x="147" y="145"/>
                </a:cxn>
                <a:cxn ang="0">
                  <a:pos x="152" y="140"/>
                </a:cxn>
                <a:cxn ang="0">
                  <a:pos x="163" y="140"/>
                </a:cxn>
                <a:cxn ang="0">
                  <a:pos x="162" y="123"/>
                </a:cxn>
                <a:cxn ang="0">
                  <a:pos x="162" y="106"/>
                </a:cxn>
                <a:cxn ang="0">
                  <a:pos x="160" y="88"/>
                </a:cxn>
                <a:cxn ang="0">
                  <a:pos x="160" y="72"/>
                </a:cxn>
              </a:cxnLst>
              <a:rect l="0" t="0" r="r" b="b"/>
              <a:pathLst>
                <a:path w="163" h="286">
                  <a:moveTo>
                    <a:pt x="160" y="72"/>
                  </a:moveTo>
                  <a:lnTo>
                    <a:pt x="145" y="63"/>
                  </a:lnTo>
                  <a:lnTo>
                    <a:pt x="129" y="54"/>
                  </a:lnTo>
                  <a:lnTo>
                    <a:pt x="112" y="45"/>
                  </a:lnTo>
                  <a:lnTo>
                    <a:pt x="97" y="36"/>
                  </a:lnTo>
                  <a:lnTo>
                    <a:pt x="81" y="27"/>
                  </a:lnTo>
                  <a:lnTo>
                    <a:pt x="66" y="18"/>
                  </a:lnTo>
                  <a:lnTo>
                    <a:pt x="50" y="9"/>
                  </a:lnTo>
                  <a:lnTo>
                    <a:pt x="34" y="0"/>
                  </a:lnTo>
                  <a:lnTo>
                    <a:pt x="19" y="9"/>
                  </a:lnTo>
                  <a:lnTo>
                    <a:pt x="20" y="22"/>
                  </a:lnTo>
                  <a:lnTo>
                    <a:pt x="22" y="36"/>
                  </a:lnTo>
                  <a:lnTo>
                    <a:pt x="36" y="56"/>
                  </a:lnTo>
                  <a:lnTo>
                    <a:pt x="32" y="64"/>
                  </a:lnTo>
                  <a:lnTo>
                    <a:pt x="31" y="78"/>
                  </a:lnTo>
                  <a:lnTo>
                    <a:pt x="30" y="91"/>
                  </a:lnTo>
                  <a:lnTo>
                    <a:pt x="30" y="105"/>
                  </a:lnTo>
                  <a:lnTo>
                    <a:pt x="28" y="118"/>
                  </a:lnTo>
                  <a:lnTo>
                    <a:pt x="21" y="129"/>
                  </a:lnTo>
                  <a:lnTo>
                    <a:pt x="14" y="140"/>
                  </a:lnTo>
                  <a:lnTo>
                    <a:pt x="7" y="151"/>
                  </a:lnTo>
                  <a:lnTo>
                    <a:pt x="0" y="162"/>
                  </a:lnTo>
                  <a:lnTo>
                    <a:pt x="1" y="176"/>
                  </a:lnTo>
                  <a:lnTo>
                    <a:pt x="8" y="187"/>
                  </a:lnTo>
                  <a:lnTo>
                    <a:pt x="14" y="187"/>
                  </a:lnTo>
                  <a:lnTo>
                    <a:pt x="21" y="205"/>
                  </a:lnTo>
                  <a:lnTo>
                    <a:pt x="24" y="225"/>
                  </a:lnTo>
                  <a:lnTo>
                    <a:pt x="34" y="243"/>
                  </a:lnTo>
                  <a:lnTo>
                    <a:pt x="15" y="243"/>
                  </a:lnTo>
                  <a:lnTo>
                    <a:pt x="8" y="247"/>
                  </a:lnTo>
                  <a:lnTo>
                    <a:pt x="21" y="264"/>
                  </a:lnTo>
                  <a:lnTo>
                    <a:pt x="31" y="286"/>
                  </a:lnTo>
                  <a:lnTo>
                    <a:pt x="46" y="282"/>
                  </a:lnTo>
                  <a:lnTo>
                    <a:pt x="49" y="284"/>
                  </a:lnTo>
                  <a:lnTo>
                    <a:pt x="58" y="283"/>
                  </a:lnTo>
                  <a:lnTo>
                    <a:pt x="80" y="278"/>
                  </a:lnTo>
                  <a:lnTo>
                    <a:pt x="87" y="268"/>
                  </a:lnTo>
                  <a:lnTo>
                    <a:pt x="85" y="264"/>
                  </a:lnTo>
                  <a:lnTo>
                    <a:pt x="108" y="259"/>
                  </a:lnTo>
                  <a:lnTo>
                    <a:pt x="120" y="244"/>
                  </a:lnTo>
                  <a:lnTo>
                    <a:pt x="132" y="230"/>
                  </a:lnTo>
                  <a:lnTo>
                    <a:pt x="147" y="226"/>
                  </a:lnTo>
                  <a:lnTo>
                    <a:pt x="146" y="216"/>
                  </a:lnTo>
                  <a:lnTo>
                    <a:pt x="142" y="206"/>
                  </a:lnTo>
                  <a:lnTo>
                    <a:pt x="136" y="193"/>
                  </a:lnTo>
                  <a:lnTo>
                    <a:pt x="130" y="192"/>
                  </a:lnTo>
                  <a:lnTo>
                    <a:pt x="135" y="178"/>
                  </a:lnTo>
                  <a:lnTo>
                    <a:pt x="138" y="170"/>
                  </a:lnTo>
                  <a:lnTo>
                    <a:pt x="139" y="165"/>
                  </a:lnTo>
                  <a:lnTo>
                    <a:pt x="139" y="159"/>
                  </a:lnTo>
                  <a:lnTo>
                    <a:pt x="147" y="145"/>
                  </a:lnTo>
                  <a:lnTo>
                    <a:pt x="152" y="140"/>
                  </a:lnTo>
                  <a:lnTo>
                    <a:pt x="163" y="140"/>
                  </a:lnTo>
                  <a:lnTo>
                    <a:pt x="162" y="123"/>
                  </a:lnTo>
                  <a:lnTo>
                    <a:pt x="162" y="106"/>
                  </a:lnTo>
                  <a:lnTo>
                    <a:pt x="160" y="88"/>
                  </a:lnTo>
                  <a:lnTo>
                    <a:pt x="160" y="7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0" name="Freeform 99"/>
            <p:cNvSpPr>
              <a:spLocks/>
            </p:cNvSpPr>
            <p:nvPr/>
          </p:nvSpPr>
          <p:spPr bwMode="auto">
            <a:xfrm>
              <a:off x="3264" y="2454"/>
              <a:ext cx="25" cy="31"/>
            </a:xfrm>
            <a:custGeom>
              <a:avLst/>
              <a:gdLst/>
              <a:ahLst/>
              <a:cxnLst>
                <a:cxn ang="0">
                  <a:pos x="0" y="28"/>
                </a:cxn>
                <a:cxn ang="0">
                  <a:pos x="18" y="28"/>
                </a:cxn>
                <a:cxn ang="0">
                  <a:pos x="22" y="20"/>
                </a:cxn>
                <a:cxn ang="0">
                  <a:pos x="16" y="0"/>
                </a:cxn>
                <a:cxn ang="0">
                  <a:pos x="10" y="2"/>
                </a:cxn>
                <a:cxn ang="0">
                  <a:pos x="0" y="28"/>
                </a:cxn>
              </a:cxnLst>
              <a:rect l="0" t="0" r="r" b="b"/>
              <a:pathLst>
                <a:path w="22" h="28">
                  <a:moveTo>
                    <a:pt x="0" y="28"/>
                  </a:moveTo>
                  <a:lnTo>
                    <a:pt x="18" y="28"/>
                  </a:lnTo>
                  <a:lnTo>
                    <a:pt x="22" y="20"/>
                  </a:lnTo>
                  <a:lnTo>
                    <a:pt x="16" y="0"/>
                  </a:lnTo>
                  <a:lnTo>
                    <a:pt x="10" y="2"/>
                  </a:lnTo>
                  <a:lnTo>
                    <a:pt x="0"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1" name="Freeform 100"/>
            <p:cNvSpPr>
              <a:spLocks/>
            </p:cNvSpPr>
            <p:nvPr/>
          </p:nvSpPr>
          <p:spPr bwMode="auto">
            <a:xfrm>
              <a:off x="3167" y="2347"/>
              <a:ext cx="115" cy="114"/>
            </a:xfrm>
            <a:custGeom>
              <a:avLst/>
              <a:gdLst/>
              <a:ahLst/>
              <a:cxnLst>
                <a:cxn ang="0">
                  <a:pos x="0" y="78"/>
                </a:cxn>
                <a:cxn ang="0">
                  <a:pos x="2" y="65"/>
                </a:cxn>
                <a:cxn ang="0">
                  <a:pos x="4" y="40"/>
                </a:cxn>
                <a:cxn ang="0">
                  <a:pos x="10" y="17"/>
                </a:cxn>
                <a:cxn ang="0">
                  <a:pos x="20" y="10"/>
                </a:cxn>
                <a:cxn ang="0">
                  <a:pos x="29" y="3"/>
                </a:cxn>
                <a:cxn ang="0">
                  <a:pos x="32" y="0"/>
                </a:cxn>
                <a:cxn ang="0">
                  <a:pos x="36" y="12"/>
                </a:cxn>
                <a:cxn ang="0">
                  <a:pos x="41" y="25"/>
                </a:cxn>
                <a:cxn ang="0">
                  <a:pos x="46" y="39"/>
                </a:cxn>
                <a:cxn ang="0">
                  <a:pos x="52" y="52"/>
                </a:cxn>
                <a:cxn ang="0">
                  <a:pos x="52" y="47"/>
                </a:cxn>
                <a:cxn ang="0">
                  <a:pos x="57" y="49"/>
                </a:cxn>
                <a:cxn ang="0">
                  <a:pos x="70" y="59"/>
                </a:cxn>
                <a:cxn ang="0">
                  <a:pos x="87" y="76"/>
                </a:cxn>
                <a:cxn ang="0">
                  <a:pos x="104" y="93"/>
                </a:cxn>
                <a:cxn ang="0">
                  <a:pos x="105" y="96"/>
                </a:cxn>
                <a:cxn ang="0">
                  <a:pos x="104" y="97"/>
                </a:cxn>
                <a:cxn ang="0">
                  <a:pos x="98" y="99"/>
                </a:cxn>
                <a:cxn ang="0">
                  <a:pos x="90" y="102"/>
                </a:cxn>
                <a:cxn ang="0">
                  <a:pos x="89" y="99"/>
                </a:cxn>
                <a:cxn ang="0">
                  <a:pos x="75" y="94"/>
                </a:cxn>
                <a:cxn ang="0">
                  <a:pos x="65" y="83"/>
                </a:cxn>
                <a:cxn ang="0">
                  <a:pos x="60" y="77"/>
                </a:cxn>
                <a:cxn ang="0">
                  <a:pos x="51" y="72"/>
                </a:cxn>
                <a:cxn ang="0">
                  <a:pos x="42" y="70"/>
                </a:cxn>
                <a:cxn ang="0">
                  <a:pos x="33" y="71"/>
                </a:cxn>
                <a:cxn ang="0">
                  <a:pos x="24" y="63"/>
                </a:cxn>
                <a:cxn ang="0">
                  <a:pos x="22" y="77"/>
                </a:cxn>
                <a:cxn ang="0">
                  <a:pos x="15" y="71"/>
                </a:cxn>
                <a:cxn ang="0">
                  <a:pos x="8" y="79"/>
                </a:cxn>
                <a:cxn ang="0">
                  <a:pos x="0" y="78"/>
                </a:cxn>
              </a:cxnLst>
              <a:rect l="0" t="0" r="r" b="b"/>
              <a:pathLst>
                <a:path w="105" h="102">
                  <a:moveTo>
                    <a:pt x="0" y="78"/>
                  </a:moveTo>
                  <a:lnTo>
                    <a:pt x="2" y="65"/>
                  </a:lnTo>
                  <a:lnTo>
                    <a:pt x="4" y="40"/>
                  </a:lnTo>
                  <a:lnTo>
                    <a:pt x="10" y="17"/>
                  </a:lnTo>
                  <a:lnTo>
                    <a:pt x="20" y="10"/>
                  </a:lnTo>
                  <a:lnTo>
                    <a:pt x="29" y="3"/>
                  </a:lnTo>
                  <a:lnTo>
                    <a:pt x="32" y="0"/>
                  </a:lnTo>
                  <a:lnTo>
                    <a:pt x="36" y="12"/>
                  </a:lnTo>
                  <a:lnTo>
                    <a:pt x="41" y="25"/>
                  </a:lnTo>
                  <a:lnTo>
                    <a:pt x="46" y="39"/>
                  </a:lnTo>
                  <a:lnTo>
                    <a:pt x="52" y="52"/>
                  </a:lnTo>
                  <a:lnTo>
                    <a:pt x="52" y="47"/>
                  </a:lnTo>
                  <a:lnTo>
                    <a:pt x="57" y="49"/>
                  </a:lnTo>
                  <a:lnTo>
                    <a:pt x="70" y="59"/>
                  </a:lnTo>
                  <a:lnTo>
                    <a:pt x="87" y="76"/>
                  </a:lnTo>
                  <a:lnTo>
                    <a:pt x="104" y="93"/>
                  </a:lnTo>
                  <a:lnTo>
                    <a:pt x="105" y="96"/>
                  </a:lnTo>
                  <a:lnTo>
                    <a:pt x="104" y="97"/>
                  </a:lnTo>
                  <a:lnTo>
                    <a:pt x="98" y="99"/>
                  </a:lnTo>
                  <a:lnTo>
                    <a:pt x="90" y="102"/>
                  </a:lnTo>
                  <a:lnTo>
                    <a:pt x="89" y="99"/>
                  </a:lnTo>
                  <a:lnTo>
                    <a:pt x="75" y="94"/>
                  </a:lnTo>
                  <a:lnTo>
                    <a:pt x="65" y="83"/>
                  </a:lnTo>
                  <a:lnTo>
                    <a:pt x="60" y="77"/>
                  </a:lnTo>
                  <a:lnTo>
                    <a:pt x="51" y="72"/>
                  </a:lnTo>
                  <a:lnTo>
                    <a:pt x="42" y="70"/>
                  </a:lnTo>
                  <a:lnTo>
                    <a:pt x="33" y="71"/>
                  </a:lnTo>
                  <a:lnTo>
                    <a:pt x="24" y="63"/>
                  </a:lnTo>
                  <a:lnTo>
                    <a:pt x="22" y="77"/>
                  </a:lnTo>
                  <a:lnTo>
                    <a:pt x="15" y="71"/>
                  </a:lnTo>
                  <a:lnTo>
                    <a:pt x="8" y="79"/>
                  </a:lnTo>
                  <a:lnTo>
                    <a:pt x="0" y="7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2" name="Freeform 101"/>
            <p:cNvSpPr>
              <a:spLocks/>
            </p:cNvSpPr>
            <p:nvPr/>
          </p:nvSpPr>
          <p:spPr bwMode="auto">
            <a:xfrm>
              <a:off x="3111" y="2416"/>
              <a:ext cx="262" cy="220"/>
            </a:xfrm>
            <a:custGeom>
              <a:avLst/>
              <a:gdLst/>
              <a:ahLst/>
              <a:cxnLst>
                <a:cxn ang="0">
                  <a:pos x="80" y="193"/>
                </a:cxn>
                <a:cxn ang="0">
                  <a:pos x="61" y="180"/>
                </a:cxn>
                <a:cxn ang="0">
                  <a:pos x="48" y="177"/>
                </a:cxn>
                <a:cxn ang="0">
                  <a:pos x="43" y="163"/>
                </a:cxn>
                <a:cxn ang="0">
                  <a:pos x="34" y="159"/>
                </a:cxn>
                <a:cxn ang="0">
                  <a:pos x="28" y="147"/>
                </a:cxn>
                <a:cxn ang="0">
                  <a:pos x="22" y="135"/>
                </a:cxn>
                <a:cxn ang="0">
                  <a:pos x="6" y="121"/>
                </a:cxn>
                <a:cxn ang="0">
                  <a:pos x="0" y="116"/>
                </a:cxn>
                <a:cxn ang="0">
                  <a:pos x="6" y="109"/>
                </a:cxn>
                <a:cxn ang="0">
                  <a:pos x="18" y="106"/>
                </a:cxn>
                <a:cxn ang="0">
                  <a:pos x="19" y="86"/>
                </a:cxn>
                <a:cxn ang="0">
                  <a:pos x="22" y="67"/>
                </a:cxn>
                <a:cxn ang="0">
                  <a:pos x="30" y="64"/>
                </a:cxn>
                <a:cxn ang="0">
                  <a:pos x="34" y="45"/>
                </a:cxn>
                <a:cxn ang="0">
                  <a:pos x="50" y="15"/>
                </a:cxn>
                <a:cxn ang="0">
                  <a:pos x="58" y="16"/>
                </a:cxn>
                <a:cxn ang="0">
                  <a:pos x="65" y="8"/>
                </a:cxn>
                <a:cxn ang="0">
                  <a:pos x="72" y="14"/>
                </a:cxn>
                <a:cxn ang="0">
                  <a:pos x="74" y="0"/>
                </a:cxn>
                <a:cxn ang="0">
                  <a:pos x="83" y="8"/>
                </a:cxn>
                <a:cxn ang="0">
                  <a:pos x="92" y="7"/>
                </a:cxn>
                <a:cxn ang="0">
                  <a:pos x="101" y="9"/>
                </a:cxn>
                <a:cxn ang="0">
                  <a:pos x="110" y="14"/>
                </a:cxn>
                <a:cxn ang="0">
                  <a:pos x="115" y="20"/>
                </a:cxn>
                <a:cxn ang="0">
                  <a:pos x="125" y="31"/>
                </a:cxn>
                <a:cxn ang="0">
                  <a:pos x="139" y="36"/>
                </a:cxn>
                <a:cxn ang="0">
                  <a:pos x="140" y="39"/>
                </a:cxn>
                <a:cxn ang="0">
                  <a:pos x="148" y="36"/>
                </a:cxn>
                <a:cxn ang="0">
                  <a:pos x="138" y="62"/>
                </a:cxn>
                <a:cxn ang="0">
                  <a:pos x="156" y="62"/>
                </a:cxn>
                <a:cxn ang="0">
                  <a:pos x="154" y="73"/>
                </a:cxn>
                <a:cxn ang="0">
                  <a:pos x="163" y="85"/>
                </a:cxn>
                <a:cxn ang="0">
                  <a:pos x="174" y="98"/>
                </a:cxn>
                <a:cxn ang="0">
                  <a:pos x="186" y="103"/>
                </a:cxn>
                <a:cxn ang="0">
                  <a:pos x="198" y="108"/>
                </a:cxn>
                <a:cxn ang="0">
                  <a:pos x="210" y="112"/>
                </a:cxn>
                <a:cxn ang="0">
                  <a:pos x="221" y="116"/>
                </a:cxn>
                <a:cxn ang="0">
                  <a:pos x="236" y="116"/>
                </a:cxn>
                <a:cxn ang="0">
                  <a:pos x="226" y="130"/>
                </a:cxn>
                <a:cxn ang="0">
                  <a:pos x="214" y="144"/>
                </a:cxn>
                <a:cxn ang="0">
                  <a:pos x="202" y="158"/>
                </a:cxn>
                <a:cxn ang="0">
                  <a:pos x="191" y="172"/>
                </a:cxn>
                <a:cxn ang="0">
                  <a:pos x="178" y="174"/>
                </a:cxn>
                <a:cxn ang="0">
                  <a:pos x="166" y="175"/>
                </a:cxn>
                <a:cxn ang="0">
                  <a:pos x="150" y="184"/>
                </a:cxn>
                <a:cxn ang="0">
                  <a:pos x="143" y="189"/>
                </a:cxn>
                <a:cxn ang="0">
                  <a:pos x="126" y="186"/>
                </a:cxn>
                <a:cxn ang="0">
                  <a:pos x="110" y="190"/>
                </a:cxn>
                <a:cxn ang="0">
                  <a:pos x="102" y="198"/>
                </a:cxn>
                <a:cxn ang="0">
                  <a:pos x="80" y="193"/>
                </a:cxn>
              </a:cxnLst>
              <a:rect l="0" t="0" r="r" b="b"/>
              <a:pathLst>
                <a:path w="236" h="198">
                  <a:moveTo>
                    <a:pt x="80" y="193"/>
                  </a:moveTo>
                  <a:lnTo>
                    <a:pt x="61" y="180"/>
                  </a:lnTo>
                  <a:lnTo>
                    <a:pt x="48" y="177"/>
                  </a:lnTo>
                  <a:lnTo>
                    <a:pt x="43" y="163"/>
                  </a:lnTo>
                  <a:lnTo>
                    <a:pt x="34" y="159"/>
                  </a:lnTo>
                  <a:lnTo>
                    <a:pt x="28" y="147"/>
                  </a:lnTo>
                  <a:lnTo>
                    <a:pt x="22" y="135"/>
                  </a:lnTo>
                  <a:lnTo>
                    <a:pt x="6" y="121"/>
                  </a:lnTo>
                  <a:lnTo>
                    <a:pt x="0" y="116"/>
                  </a:lnTo>
                  <a:lnTo>
                    <a:pt x="6" y="109"/>
                  </a:lnTo>
                  <a:lnTo>
                    <a:pt x="18" y="106"/>
                  </a:lnTo>
                  <a:lnTo>
                    <a:pt x="19" y="86"/>
                  </a:lnTo>
                  <a:lnTo>
                    <a:pt x="22" y="67"/>
                  </a:lnTo>
                  <a:lnTo>
                    <a:pt x="30" y="64"/>
                  </a:lnTo>
                  <a:lnTo>
                    <a:pt x="34" y="45"/>
                  </a:lnTo>
                  <a:lnTo>
                    <a:pt x="50" y="15"/>
                  </a:lnTo>
                  <a:lnTo>
                    <a:pt x="58" y="16"/>
                  </a:lnTo>
                  <a:lnTo>
                    <a:pt x="65" y="8"/>
                  </a:lnTo>
                  <a:lnTo>
                    <a:pt x="72" y="14"/>
                  </a:lnTo>
                  <a:lnTo>
                    <a:pt x="74" y="0"/>
                  </a:lnTo>
                  <a:lnTo>
                    <a:pt x="83" y="8"/>
                  </a:lnTo>
                  <a:lnTo>
                    <a:pt x="92" y="7"/>
                  </a:lnTo>
                  <a:lnTo>
                    <a:pt x="101" y="9"/>
                  </a:lnTo>
                  <a:lnTo>
                    <a:pt x="110" y="14"/>
                  </a:lnTo>
                  <a:lnTo>
                    <a:pt x="115" y="20"/>
                  </a:lnTo>
                  <a:lnTo>
                    <a:pt x="125" y="31"/>
                  </a:lnTo>
                  <a:lnTo>
                    <a:pt x="139" y="36"/>
                  </a:lnTo>
                  <a:lnTo>
                    <a:pt x="140" y="39"/>
                  </a:lnTo>
                  <a:lnTo>
                    <a:pt x="148" y="36"/>
                  </a:lnTo>
                  <a:lnTo>
                    <a:pt x="138" y="62"/>
                  </a:lnTo>
                  <a:lnTo>
                    <a:pt x="156" y="62"/>
                  </a:lnTo>
                  <a:lnTo>
                    <a:pt x="154" y="73"/>
                  </a:lnTo>
                  <a:lnTo>
                    <a:pt x="163" y="85"/>
                  </a:lnTo>
                  <a:lnTo>
                    <a:pt x="174" y="98"/>
                  </a:lnTo>
                  <a:lnTo>
                    <a:pt x="186" y="103"/>
                  </a:lnTo>
                  <a:lnTo>
                    <a:pt x="198" y="108"/>
                  </a:lnTo>
                  <a:lnTo>
                    <a:pt x="210" y="112"/>
                  </a:lnTo>
                  <a:lnTo>
                    <a:pt x="221" y="116"/>
                  </a:lnTo>
                  <a:lnTo>
                    <a:pt x="236" y="116"/>
                  </a:lnTo>
                  <a:lnTo>
                    <a:pt x="226" y="130"/>
                  </a:lnTo>
                  <a:lnTo>
                    <a:pt x="214" y="144"/>
                  </a:lnTo>
                  <a:lnTo>
                    <a:pt x="202" y="158"/>
                  </a:lnTo>
                  <a:lnTo>
                    <a:pt x="191" y="172"/>
                  </a:lnTo>
                  <a:lnTo>
                    <a:pt x="178" y="174"/>
                  </a:lnTo>
                  <a:lnTo>
                    <a:pt x="166" y="175"/>
                  </a:lnTo>
                  <a:lnTo>
                    <a:pt x="150" y="184"/>
                  </a:lnTo>
                  <a:lnTo>
                    <a:pt x="143" y="189"/>
                  </a:lnTo>
                  <a:lnTo>
                    <a:pt x="126" y="186"/>
                  </a:lnTo>
                  <a:lnTo>
                    <a:pt x="110" y="190"/>
                  </a:lnTo>
                  <a:lnTo>
                    <a:pt x="102" y="198"/>
                  </a:lnTo>
                  <a:lnTo>
                    <a:pt x="80" y="1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3" name="Freeform 102"/>
            <p:cNvSpPr>
              <a:spLocks/>
            </p:cNvSpPr>
            <p:nvPr/>
          </p:nvSpPr>
          <p:spPr bwMode="auto">
            <a:xfrm>
              <a:off x="3253" y="2467"/>
              <a:ext cx="176" cy="272"/>
            </a:xfrm>
            <a:custGeom>
              <a:avLst/>
              <a:gdLst/>
              <a:ahLst/>
              <a:cxnLst>
                <a:cxn ang="0">
                  <a:pos x="154" y="34"/>
                </a:cxn>
                <a:cxn ang="0">
                  <a:pos x="149" y="54"/>
                </a:cxn>
                <a:cxn ang="0">
                  <a:pos x="138" y="76"/>
                </a:cxn>
                <a:cxn ang="0">
                  <a:pos x="128" y="96"/>
                </a:cxn>
                <a:cxn ang="0">
                  <a:pos x="117" y="118"/>
                </a:cxn>
                <a:cxn ang="0">
                  <a:pos x="106" y="139"/>
                </a:cxn>
                <a:cxn ang="0">
                  <a:pos x="96" y="150"/>
                </a:cxn>
                <a:cxn ang="0">
                  <a:pos x="87" y="160"/>
                </a:cxn>
                <a:cxn ang="0">
                  <a:pos x="77" y="169"/>
                </a:cxn>
                <a:cxn ang="0">
                  <a:pos x="69" y="179"/>
                </a:cxn>
                <a:cxn ang="0">
                  <a:pos x="57" y="190"/>
                </a:cxn>
                <a:cxn ang="0">
                  <a:pos x="46" y="201"/>
                </a:cxn>
                <a:cxn ang="0">
                  <a:pos x="35" y="211"/>
                </a:cxn>
                <a:cxn ang="0">
                  <a:pos x="24" y="222"/>
                </a:cxn>
                <a:cxn ang="0">
                  <a:pos x="16" y="234"/>
                </a:cxn>
                <a:cxn ang="0">
                  <a:pos x="9" y="245"/>
                </a:cxn>
                <a:cxn ang="0">
                  <a:pos x="0" y="231"/>
                </a:cxn>
                <a:cxn ang="0">
                  <a:pos x="0" y="214"/>
                </a:cxn>
                <a:cxn ang="0">
                  <a:pos x="0" y="197"/>
                </a:cxn>
                <a:cxn ang="0">
                  <a:pos x="0" y="180"/>
                </a:cxn>
                <a:cxn ang="0">
                  <a:pos x="0" y="165"/>
                </a:cxn>
                <a:cxn ang="0">
                  <a:pos x="8" y="154"/>
                </a:cxn>
                <a:cxn ang="0">
                  <a:pos x="15" y="144"/>
                </a:cxn>
                <a:cxn ang="0">
                  <a:pos x="22" y="139"/>
                </a:cxn>
                <a:cxn ang="0">
                  <a:pos x="38" y="130"/>
                </a:cxn>
                <a:cxn ang="0">
                  <a:pos x="50" y="129"/>
                </a:cxn>
                <a:cxn ang="0">
                  <a:pos x="63" y="127"/>
                </a:cxn>
                <a:cxn ang="0">
                  <a:pos x="74" y="113"/>
                </a:cxn>
                <a:cxn ang="0">
                  <a:pos x="86" y="99"/>
                </a:cxn>
                <a:cxn ang="0">
                  <a:pos x="98" y="85"/>
                </a:cxn>
                <a:cxn ang="0">
                  <a:pos x="108" y="71"/>
                </a:cxn>
                <a:cxn ang="0">
                  <a:pos x="93" y="71"/>
                </a:cxn>
                <a:cxn ang="0">
                  <a:pos x="82" y="67"/>
                </a:cxn>
                <a:cxn ang="0">
                  <a:pos x="70" y="63"/>
                </a:cxn>
                <a:cxn ang="0">
                  <a:pos x="58" y="58"/>
                </a:cxn>
                <a:cxn ang="0">
                  <a:pos x="46" y="53"/>
                </a:cxn>
                <a:cxn ang="0">
                  <a:pos x="35" y="40"/>
                </a:cxn>
                <a:cxn ang="0">
                  <a:pos x="26" y="28"/>
                </a:cxn>
                <a:cxn ang="0">
                  <a:pos x="28" y="17"/>
                </a:cxn>
                <a:cxn ang="0">
                  <a:pos x="32" y="9"/>
                </a:cxn>
                <a:cxn ang="0">
                  <a:pos x="42" y="18"/>
                </a:cxn>
                <a:cxn ang="0">
                  <a:pos x="52" y="28"/>
                </a:cxn>
                <a:cxn ang="0">
                  <a:pos x="71" y="21"/>
                </a:cxn>
                <a:cxn ang="0">
                  <a:pos x="87" y="22"/>
                </a:cxn>
                <a:cxn ang="0">
                  <a:pos x="101" y="15"/>
                </a:cxn>
                <a:cxn ang="0">
                  <a:pos x="123" y="10"/>
                </a:cxn>
                <a:cxn ang="0">
                  <a:pos x="146" y="5"/>
                </a:cxn>
                <a:cxn ang="0">
                  <a:pos x="153" y="0"/>
                </a:cxn>
                <a:cxn ang="0">
                  <a:pos x="158" y="5"/>
                </a:cxn>
                <a:cxn ang="0">
                  <a:pos x="156" y="28"/>
                </a:cxn>
                <a:cxn ang="0">
                  <a:pos x="159" y="28"/>
                </a:cxn>
                <a:cxn ang="0">
                  <a:pos x="154" y="34"/>
                </a:cxn>
              </a:cxnLst>
              <a:rect l="0" t="0" r="r" b="b"/>
              <a:pathLst>
                <a:path w="159" h="245">
                  <a:moveTo>
                    <a:pt x="154" y="34"/>
                  </a:moveTo>
                  <a:lnTo>
                    <a:pt x="149" y="54"/>
                  </a:lnTo>
                  <a:lnTo>
                    <a:pt x="138" y="76"/>
                  </a:lnTo>
                  <a:lnTo>
                    <a:pt x="128" y="96"/>
                  </a:lnTo>
                  <a:lnTo>
                    <a:pt x="117" y="118"/>
                  </a:lnTo>
                  <a:lnTo>
                    <a:pt x="106" y="139"/>
                  </a:lnTo>
                  <a:lnTo>
                    <a:pt x="96" y="150"/>
                  </a:lnTo>
                  <a:lnTo>
                    <a:pt x="87" y="160"/>
                  </a:lnTo>
                  <a:lnTo>
                    <a:pt x="77" y="169"/>
                  </a:lnTo>
                  <a:lnTo>
                    <a:pt x="69" y="179"/>
                  </a:lnTo>
                  <a:lnTo>
                    <a:pt x="57" y="190"/>
                  </a:lnTo>
                  <a:lnTo>
                    <a:pt x="46" y="201"/>
                  </a:lnTo>
                  <a:lnTo>
                    <a:pt x="35" y="211"/>
                  </a:lnTo>
                  <a:lnTo>
                    <a:pt x="24" y="222"/>
                  </a:lnTo>
                  <a:lnTo>
                    <a:pt x="16" y="234"/>
                  </a:lnTo>
                  <a:lnTo>
                    <a:pt x="9" y="245"/>
                  </a:lnTo>
                  <a:lnTo>
                    <a:pt x="0" y="231"/>
                  </a:lnTo>
                  <a:lnTo>
                    <a:pt x="0" y="214"/>
                  </a:lnTo>
                  <a:lnTo>
                    <a:pt x="0" y="197"/>
                  </a:lnTo>
                  <a:lnTo>
                    <a:pt x="0" y="180"/>
                  </a:lnTo>
                  <a:lnTo>
                    <a:pt x="0" y="165"/>
                  </a:lnTo>
                  <a:lnTo>
                    <a:pt x="8" y="154"/>
                  </a:lnTo>
                  <a:lnTo>
                    <a:pt x="15" y="144"/>
                  </a:lnTo>
                  <a:lnTo>
                    <a:pt x="22" y="139"/>
                  </a:lnTo>
                  <a:lnTo>
                    <a:pt x="38" y="130"/>
                  </a:lnTo>
                  <a:lnTo>
                    <a:pt x="50" y="129"/>
                  </a:lnTo>
                  <a:lnTo>
                    <a:pt x="63" y="127"/>
                  </a:lnTo>
                  <a:lnTo>
                    <a:pt x="74" y="113"/>
                  </a:lnTo>
                  <a:lnTo>
                    <a:pt x="86" y="99"/>
                  </a:lnTo>
                  <a:lnTo>
                    <a:pt x="98" y="85"/>
                  </a:lnTo>
                  <a:lnTo>
                    <a:pt x="108" y="71"/>
                  </a:lnTo>
                  <a:lnTo>
                    <a:pt x="93" y="71"/>
                  </a:lnTo>
                  <a:lnTo>
                    <a:pt x="82" y="67"/>
                  </a:lnTo>
                  <a:lnTo>
                    <a:pt x="70" y="63"/>
                  </a:lnTo>
                  <a:lnTo>
                    <a:pt x="58" y="58"/>
                  </a:lnTo>
                  <a:lnTo>
                    <a:pt x="46" y="53"/>
                  </a:lnTo>
                  <a:lnTo>
                    <a:pt x="35" y="40"/>
                  </a:lnTo>
                  <a:lnTo>
                    <a:pt x="26" y="28"/>
                  </a:lnTo>
                  <a:lnTo>
                    <a:pt x="28" y="17"/>
                  </a:lnTo>
                  <a:lnTo>
                    <a:pt x="32" y="9"/>
                  </a:lnTo>
                  <a:lnTo>
                    <a:pt x="42" y="18"/>
                  </a:lnTo>
                  <a:lnTo>
                    <a:pt x="52" y="28"/>
                  </a:lnTo>
                  <a:lnTo>
                    <a:pt x="71" y="21"/>
                  </a:lnTo>
                  <a:lnTo>
                    <a:pt x="87" y="22"/>
                  </a:lnTo>
                  <a:lnTo>
                    <a:pt x="101" y="15"/>
                  </a:lnTo>
                  <a:lnTo>
                    <a:pt x="123" y="10"/>
                  </a:lnTo>
                  <a:lnTo>
                    <a:pt x="146" y="5"/>
                  </a:lnTo>
                  <a:lnTo>
                    <a:pt x="153" y="0"/>
                  </a:lnTo>
                  <a:lnTo>
                    <a:pt x="158" y="5"/>
                  </a:lnTo>
                  <a:lnTo>
                    <a:pt x="156" y="28"/>
                  </a:lnTo>
                  <a:lnTo>
                    <a:pt x="159" y="28"/>
                  </a:lnTo>
                  <a:lnTo>
                    <a:pt x="154"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4" name="Freeform 103"/>
            <p:cNvSpPr>
              <a:spLocks/>
            </p:cNvSpPr>
            <p:nvPr/>
          </p:nvSpPr>
          <p:spPr bwMode="auto">
            <a:xfrm>
              <a:off x="2913" y="2243"/>
              <a:ext cx="287" cy="393"/>
            </a:xfrm>
            <a:custGeom>
              <a:avLst/>
              <a:gdLst/>
              <a:ahLst/>
              <a:cxnLst>
                <a:cxn ang="0">
                  <a:pos x="30" y="56"/>
                </a:cxn>
                <a:cxn ang="0">
                  <a:pos x="45" y="38"/>
                </a:cxn>
                <a:cxn ang="0">
                  <a:pos x="57" y="20"/>
                </a:cxn>
                <a:cxn ang="0">
                  <a:pos x="81" y="20"/>
                </a:cxn>
                <a:cxn ang="0">
                  <a:pos x="105" y="20"/>
                </a:cxn>
                <a:cxn ang="0">
                  <a:pos x="130" y="20"/>
                </a:cxn>
                <a:cxn ang="0">
                  <a:pos x="143" y="15"/>
                </a:cxn>
                <a:cxn ang="0">
                  <a:pos x="164" y="23"/>
                </a:cxn>
                <a:cxn ang="0">
                  <a:pos x="186" y="17"/>
                </a:cxn>
                <a:cxn ang="0">
                  <a:pos x="198" y="5"/>
                </a:cxn>
                <a:cxn ang="0">
                  <a:pos x="208" y="0"/>
                </a:cxn>
                <a:cxn ang="0">
                  <a:pos x="228" y="23"/>
                </a:cxn>
                <a:cxn ang="0">
                  <a:pos x="238" y="57"/>
                </a:cxn>
                <a:cxn ang="0">
                  <a:pos x="257" y="95"/>
                </a:cxn>
                <a:cxn ang="0">
                  <a:pos x="238" y="109"/>
                </a:cxn>
                <a:cxn ang="0">
                  <a:pos x="230" y="157"/>
                </a:cxn>
                <a:cxn ang="0">
                  <a:pos x="212" y="200"/>
                </a:cxn>
                <a:cxn ang="0">
                  <a:pos x="200" y="222"/>
                </a:cxn>
                <a:cxn ang="0">
                  <a:pos x="196" y="261"/>
                </a:cxn>
                <a:cxn ang="0">
                  <a:pos x="178" y="271"/>
                </a:cxn>
                <a:cxn ang="0">
                  <a:pos x="200" y="290"/>
                </a:cxn>
                <a:cxn ang="0">
                  <a:pos x="212" y="314"/>
                </a:cxn>
                <a:cxn ang="0">
                  <a:pos x="226" y="332"/>
                </a:cxn>
                <a:cxn ang="0">
                  <a:pos x="201" y="332"/>
                </a:cxn>
                <a:cxn ang="0">
                  <a:pos x="188" y="348"/>
                </a:cxn>
                <a:cxn ang="0">
                  <a:pos x="162" y="350"/>
                </a:cxn>
                <a:cxn ang="0">
                  <a:pos x="147" y="349"/>
                </a:cxn>
                <a:cxn ang="0">
                  <a:pos x="134" y="342"/>
                </a:cxn>
                <a:cxn ang="0">
                  <a:pos x="117" y="336"/>
                </a:cxn>
                <a:cxn ang="0">
                  <a:pos x="95" y="329"/>
                </a:cxn>
                <a:cxn ang="0">
                  <a:pos x="89" y="319"/>
                </a:cxn>
                <a:cxn ang="0">
                  <a:pos x="74" y="297"/>
                </a:cxn>
                <a:cxn ang="0">
                  <a:pos x="57" y="277"/>
                </a:cxn>
                <a:cxn ang="0">
                  <a:pos x="39" y="261"/>
                </a:cxn>
                <a:cxn ang="0">
                  <a:pos x="30" y="241"/>
                </a:cxn>
                <a:cxn ang="0">
                  <a:pos x="17" y="219"/>
                </a:cxn>
                <a:cxn ang="0">
                  <a:pos x="12" y="199"/>
                </a:cxn>
                <a:cxn ang="0">
                  <a:pos x="0" y="185"/>
                </a:cxn>
                <a:cxn ang="0">
                  <a:pos x="8" y="163"/>
                </a:cxn>
                <a:cxn ang="0">
                  <a:pos x="9" y="152"/>
                </a:cxn>
                <a:cxn ang="0">
                  <a:pos x="22" y="133"/>
                </a:cxn>
                <a:cxn ang="0">
                  <a:pos x="32" y="116"/>
                </a:cxn>
                <a:cxn ang="0">
                  <a:pos x="30" y="81"/>
                </a:cxn>
              </a:cxnLst>
              <a:rect l="0" t="0" r="r" b="b"/>
              <a:pathLst>
                <a:path w="257" h="353">
                  <a:moveTo>
                    <a:pt x="30" y="65"/>
                  </a:moveTo>
                  <a:lnTo>
                    <a:pt x="30" y="56"/>
                  </a:lnTo>
                  <a:lnTo>
                    <a:pt x="46" y="56"/>
                  </a:lnTo>
                  <a:lnTo>
                    <a:pt x="45" y="38"/>
                  </a:lnTo>
                  <a:lnTo>
                    <a:pt x="45" y="20"/>
                  </a:lnTo>
                  <a:lnTo>
                    <a:pt x="57" y="20"/>
                  </a:lnTo>
                  <a:lnTo>
                    <a:pt x="69" y="20"/>
                  </a:lnTo>
                  <a:lnTo>
                    <a:pt x="81" y="20"/>
                  </a:lnTo>
                  <a:lnTo>
                    <a:pt x="93" y="20"/>
                  </a:lnTo>
                  <a:lnTo>
                    <a:pt x="105" y="20"/>
                  </a:lnTo>
                  <a:lnTo>
                    <a:pt x="117" y="20"/>
                  </a:lnTo>
                  <a:lnTo>
                    <a:pt x="130" y="20"/>
                  </a:lnTo>
                  <a:lnTo>
                    <a:pt x="142" y="20"/>
                  </a:lnTo>
                  <a:lnTo>
                    <a:pt x="143" y="15"/>
                  </a:lnTo>
                  <a:lnTo>
                    <a:pt x="144" y="20"/>
                  </a:lnTo>
                  <a:lnTo>
                    <a:pt x="164" y="23"/>
                  </a:lnTo>
                  <a:lnTo>
                    <a:pt x="183" y="24"/>
                  </a:lnTo>
                  <a:lnTo>
                    <a:pt x="186" y="17"/>
                  </a:lnTo>
                  <a:lnTo>
                    <a:pt x="195" y="14"/>
                  </a:lnTo>
                  <a:lnTo>
                    <a:pt x="198" y="5"/>
                  </a:lnTo>
                  <a:lnTo>
                    <a:pt x="202" y="6"/>
                  </a:lnTo>
                  <a:lnTo>
                    <a:pt x="208" y="0"/>
                  </a:lnTo>
                  <a:lnTo>
                    <a:pt x="219" y="11"/>
                  </a:lnTo>
                  <a:lnTo>
                    <a:pt x="228" y="23"/>
                  </a:lnTo>
                  <a:lnTo>
                    <a:pt x="234" y="36"/>
                  </a:lnTo>
                  <a:lnTo>
                    <a:pt x="238" y="57"/>
                  </a:lnTo>
                  <a:lnTo>
                    <a:pt x="243" y="78"/>
                  </a:lnTo>
                  <a:lnTo>
                    <a:pt x="257" y="95"/>
                  </a:lnTo>
                  <a:lnTo>
                    <a:pt x="248" y="102"/>
                  </a:lnTo>
                  <a:lnTo>
                    <a:pt x="238" y="109"/>
                  </a:lnTo>
                  <a:lnTo>
                    <a:pt x="232" y="132"/>
                  </a:lnTo>
                  <a:lnTo>
                    <a:pt x="230" y="157"/>
                  </a:lnTo>
                  <a:lnTo>
                    <a:pt x="228" y="170"/>
                  </a:lnTo>
                  <a:lnTo>
                    <a:pt x="212" y="200"/>
                  </a:lnTo>
                  <a:lnTo>
                    <a:pt x="208" y="219"/>
                  </a:lnTo>
                  <a:lnTo>
                    <a:pt x="200" y="222"/>
                  </a:lnTo>
                  <a:lnTo>
                    <a:pt x="197" y="241"/>
                  </a:lnTo>
                  <a:lnTo>
                    <a:pt x="196" y="261"/>
                  </a:lnTo>
                  <a:lnTo>
                    <a:pt x="184" y="264"/>
                  </a:lnTo>
                  <a:lnTo>
                    <a:pt x="178" y="271"/>
                  </a:lnTo>
                  <a:lnTo>
                    <a:pt x="184" y="276"/>
                  </a:lnTo>
                  <a:lnTo>
                    <a:pt x="200" y="290"/>
                  </a:lnTo>
                  <a:lnTo>
                    <a:pt x="206" y="302"/>
                  </a:lnTo>
                  <a:lnTo>
                    <a:pt x="212" y="314"/>
                  </a:lnTo>
                  <a:lnTo>
                    <a:pt x="221" y="318"/>
                  </a:lnTo>
                  <a:lnTo>
                    <a:pt x="226" y="332"/>
                  </a:lnTo>
                  <a:lnTo>
                    <a:pt x="213" y="332"/>
                  </a:lnTo>
                  <a:lnTo>
                    <a:pt x="201" y="332"/>
                  </a:lnTo>
                  <a:lnTo>
                    <a:pt x="195" y="339"/>
                  </a:lnTo>
                  <a:lnTo>
                    <a:pt x="188" y="348"/>
                  </a:lnTo>
                  <a:lnTo>
                    <a:pt x="170" y="348"/>
                  </a:lnTo>
                  <a:lnTo>
                    <a:pt x="162" y="350"/>
                  </a:lnTo>
                  <a:lnTo>
                    <a:pt x="159" y="348"/>
                  </a:lnTo>
                  <a:lnTo>
                    <a:pt x="147" y="349"/>
                  </a:lnTo>
                  <a:lnTo>
                    <a:pt x="146" y="353"/>
                  </a:lnTo>
                  <a:lnTo>
                    <a:pt x="134" y="342"/>
                  </a:lnTo>
                  <a:lnTo>
                    <a:pt x="123" y="331"/>
                  </a:lnTo>
                  <a:lnTo>
                    <a:pt x="117" y="336"/>
                  </a:lnTo>
                  <a:lnTo>
                    <a:pt x="107" y="337"/>
                  </a:lnTo>
                  <a:lnTo>
                    <a:pt x="95" y="329"/>
                  </a:lnTo>
                  <a:lnTo>
                    <a:pt x="92" y="325"/>
                  </a:lnTo>
                  <a:lnTo>
                    <a:pt x="89" y="319"/>
                  </a:lnTo>
                  <a:lnTo>
                    <a:pt x="80" y="307"/>
                  </a:lnTo>
                  <a:lnTo>
                    <a:pt x="74" y="297"/>
                  </a:lnTo>
                  <a:lnTo>
                    <a:pt x="59" y="284"/>
                  </a:lnTo>
                  <a:lnTo>
                    <a:pt x="57" y="277"/>
                  </a:lnTo>
                  <a:lnTo>
                    <a:pt x="42" y="266"/>
                  </a:lnTo>
                  <a:lnTo>
                    <a:pt x="39" y="261"/>
                  </a:lnTo>
                  <a:lnTo>
                    <a:pt x="28" y="259"/>
                  </a:lnTo>
                  <a:lnTo>
                    <a:pt x="30" y="241"/>
                  </a:lnTo>
                  <a:lnTo>
                    <a:pt x="23" y="230"/>
                  </a:lnTo>
                  <a:lnTo>
                    <a:pt x="17" y="219"/>
                  </a:lnTo>
                  <a:lnTo>
                    <a:pt x="16" y="209"/>
                  </a:lnTo>
                  <a:lnTo>
                    <a:pt x="12" y="199"/>
                  </a:lnTo>
                  <a:lnTo>
                    <a:pt x="6" y="186"/>
                  </a:lnTo>
                  <a:lnTo>
                    <a:pt x="0" y="185"/>
                  </a:lnTo>
                  <a:lnTo>
                    <a:pt x="5" y="171"/>
                  </a:lnTo>
                  <a:lnTo>
                    <a:pt x="8" y="163"/>
                  </a:lnTo>
                  <a:lnTo>
                    <a:pt x="9" y="158"/>
                  </a:lnTo>
                  <a:lnTo>
                    <a:pt x="9" y="152"/>
                  </a:lnTo>
                  <a:lnTo>
                    <a:pt x="17" y="138"/>
                  </a:lnTo>
                  <a:lnTo>
                    <a:pt x="22" y="133"/>
                  </a:lnTo>
                  <a:lnTo>
                    <a:pt x="33" y="133"/>
                  </a:lnTo>
                  <a:lnTo>
                    <a:pt x="32" y="116"/>
                  </a:lnTo>
                  <a:lnTo>
                    <a:pt x="32" y="99"/>
                  </a:lnTo>
                  <a:lnTo>
                    <a:pt x="30" y="81"/>
                  </a:lnTo>
                  <a:lnTo>
                    <a:pt x="30" y="6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5" name="Freeform 104"/>
            <p:cNvSpPr>
              <a:spLocks/>
            </p:cNvSpPr>
            <p:nvPr/>
          </p:nvSpPr>
          <p:spPr bwMode="auto">
            <a:xfrm>
              <a:off x="3042" y="2752"/>
              <a:ext cx="31" cy="42"/>
            </a:xfrm>
            <a:custGeom>
              <a:avLst/>
              <a:gdLst/>
              <a:ahLst/>
              <a:cxnLst>
                <a:cxn ang="0">
                  <a:pos x="25" y="10"/>
                </a:cxn>
                <a:cxn ang="0">
                  <a:pos x="25" y="1"/>
                </a:cxn>
                <a:cxn ang="0">
                  <a:pos x="16" y="0"/>
                </a:cxn>
                <a:cxn ang="0">
                  <a:pos x="14" y="6"/>
                </a:cxn>
                <a:cxn ang="0">
                  <a:pos x="1" y="6"/>
                </a:cxn>
                <a:cxn ang="0">
                  <a:pos x="0" y="7"/>
                </a:cxn>
                <a:cxn ang="0">
                  <a:pos x="1" y="8"/>
                </a:cxn>
                <a:cxn ang="0">
                  <a:pos x="3" y="23"/>
                </a:cxn>
                <a:cxn ang="0">
                  <a:pos x="7" y="38"/>
                </a:cxn>
                <a:cxn ang="0">
                  <a:pos x="10" y="38"/>
                </a:cxn>
                <a:cxn ang="0">
                  <a:pos x="19" y="26"/>
                </a:cxn>
                <a:cxn ang="0">
                  <a:pos x="28" y="16"/>
                </a:cxn>
                <a:cxn ang="0">
                  <a:pos x="25" y="10"/>
                </a:cxn>
              </a:cxnLst>
              <a:rect l="0" t="0" r="r" b="b"/>
              <a:pathLst>
                <a:path w="28" h="38">
                  <a:moveTo>
                    <a:pt x="25" y="10"/>
                  </a:moveTo>
                  <a:lnTo>
                    <a:pt x="25" y="1"/>
                  </a:lnTo>
                  <a:lnTo>
                    <a:pt x="16" y="0"/>
                  </a:lnTo>
                  <a:lnTo>
                    <a:pt x="14" y="6"/>
                  </a:lnTo>
                  <a:lnTo>
                    <a:pt x="1" y="6"/>
                  </a:lnTo>
                  <a:lnTo>
                    <a:pt x="0" y="7"/>
                  </a:lnTo>
                  <a:lnTo>
                    <a:pt x="1" y="8"/>
                  </a:lnTo>
                  <a:lnTo>
                    <a:pt x="3" y="23"/>
                  </a:lnTo>
                  <a:lnTo>
                    <a:pt x="7" y="38"/>
                  </a:lnTo>
                  <a:lnTo>
                    <a:pt x="10" y="38"/>
                  </a:lnTo>
                  <a:lnTo>
                    <a:pt x="19" y="26"/>
                  </a:lnTo>
                  <a:lnTo>
                    <a:pt x="28" y="16"/>
                  </a:lnTo>
                  <a:lnTo>
                    <a:pt x="25"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6" name="Freeform 105"/>
            <p:cNvSpPr>
              <a:spLocks/>
            </p:cNvSpPr>
            <p:nvPr/>
          </p:nvSpPr>
          <p:spPr bwMode="auto">
            <a:xfrm>
              <a:off x="2729" y="2634"/>
              <a:ext cx="131" cy="171"/>
            </a:xfrm>
            <a:custGeom>
              <a:avLst/>
              <a:gdLst/>
              <a:ahLst/>
              <a:cxnLst>
                <a:cxn ang="0">
                  <a:pos x="20" y="108"/>
                </a:cxn>
                <a:cxn ang="0">
                  <a:pos x="6" y="109"/>
                </a:cxn>
                <a:cxn ang="0">
                  <a:pos x="7" y="115"/>
                </a:cxn>
                <a:cxn ang="0">
                  <a:pos x="8" y="120"/>
                </a:cxn>
                <a:cxn ang="0">
                  <a:pos x="12" y="127"/>
                </a:cxn>
                <a:cxn ang="0">
                  <a:pos x="8" y="131"/>
                </a:cxn>
                <a:cxn ang="0">
                  <a:pos x="4" y="129"/>
                </a:cxn>
                <a:cxn ang="0">
                  <a:pos x="0" y="136"/>
                </a:cxn>
                <a:cxn ang="0">
                  <a:pos x="13" y="155"/>
                </a:cxn>
                <a:cxn ang="0">
                  <a:pos x="24" y="145"/>
                </a:cxn>
                <a:cxn ang="0">
                  <a:pos x="30" y="148"/>
                </a:cxn>
                <a:cxn ang="0">
                  <a:pos x="38" y="151"/>
                </a:cxn>
                <a:cxn ang="0">
                  <a:pos x="42" y="145"/>
                </a:cxn>
                <a:cxn ang="0">
                  <a:pos x="51" y="144"/>
                </a:cxn>
                <a:cxn ang="0">
                  <a:pos x="54" y="153"/>
                </a:cxn>
                <a:cxn ang="0">
                  <a:pos x="66" y="141"/>
                </a:cxn>
                <a:cxn ang="0">
                  <a:pos x="78" y="129"/>
                </a:cxn>
                <a:cxn ang="0">
                  <a:pos x="80" y="115"/>
                </a:cxn>
                <a:cxn ang="0">
                  <a:pos x="81" y="101"/>
                </a:cxn>
                <a:cxn ang="0">
                  <a:pos x="93" y="87"/>
                </a:cxn>
                <a:cxn ang="0">
                  <a:pos x="104" y="72"/>
                </a:cxn>
                <a:cxn ang="0">
                  <a:pos x="106" y="59"/>
                </a:cxn>
                <a:cxn ang="0">
                  <a:pos x="109" y="45"/>
                </a:cxn>
                <a:cxn ang="0">
                  <a:pos x="111" y="31"/>
                </a:cxn>
                <a:cxn ang="0">
                  <a:pos x="114" y="18"/>
                </a:cxn>
                <a:cxn ang="0">
                  <a:pos x="117" y="3"/>
                </a:cxn>
                <a:cxn ang="0">
                  <a:pos x="105" y="1"/>
                </a:cxn>
                <a:cxn ang="0">
                  <a:pos x="93" y="0"/>
                </a:cxn>
                <a:cxn ang="0">
                  <a:pos x="85" y="6"/>
                </a:cxn>
                <a:cxn ang="0">
                  <a:pos x="79" y="25"/>
                </a:cxn>
                <a:cxn ang="0">
                  <a:pos x="76" y="34"/>
                </a:cxn>
                <a:cxn ang="0">
                  <a:pos x="62" y="30"/>
                </a:cxn>
                <a:cxn ang="0">
                  <a:pos x="49" y="27"/>
                </a:cxn>
                <a:cxn ang="0">
                  <a:pos x="33" y="27"/>
                </a:cxn>
                <a:cxn ang="0">
                  <a:pos x="32" y="43"/>
                </a:cxn>
                <a:cxn ang="0">
                  <a:pos x="49" y="42"/>
                </a:cxn>
                <a:cxn ang="0">
                  <a:pos x="50" y="54"/>
                </a:cxn>
                <a:cxn ang="0">
                  <a:pos x="43" y="64"/>
                </a:cxn>
                <a:cxn ang="0">
                  <a:pos x="52" y="79"/>
                </a:cxn>
                <a:cxn ang="0">
                  <a:pos x="48" y="105"/>
                </a:cxn>
                <a:cxn ang="0">
                  <a:pos x="43" y="109"/>
                </a:cxn>
                <a:cxn ang="0">
                  <a:pos x="40" y="105"/>
                </a:cxn>
                <a:cxn ang="0">
                  <a:pos x="31" y="108"/>
                </a:cxn>
                <a:cxn ang="0">
                  <a:pos x="21" y="97"/>
                </a:cxn>
                <a:cxn ang="0">
                  <a:pos x="20" y="108"/>
                </a:cxn>
              </a:cxnLst>
              <a:rect l="0" t="0" r="r" b="b"/>
              <a:pathLst>
                <a:path w="117" h="155">
                  <a:moveTo>
                    <a:pt x="20" y="108"/>
                  </a:moveTo>
                  <a:lnTo>
                    <a:pt x="6" y="109"/>
                  </a:lnTo>
                  <a:lnTo>
                    <a:pt x="7" y="115"/>
                  </a:lnTo>
                  <a:lnTo>
                    <a:pt x="8" y="120"/>
                  </a:lnTo>
                  <a:lnTo>
                    <a:pt x="12" y="127"/>
                  </a:lnTo>
                  <a:lnTo>
                    <a:pt x="8" y="131"/>
                  </a:lnTo>
                  <a:lnTo>
                    <a:pt x="4" y="129"/>
                  </a:lnTo>
                  <a:lnTo>
                    <a:pt x="0" y="136"/>
                  </a:lnTo>
                  <a:lnTo>
                    <a:pt x="13" y="155"/>
                  </a:lnTo>
                  <a:lnTo>
                    <a:pt x="24" y="145"/>
                  </a:lnTo>
                  <a:lnTo>
                    <a:pt x="30" y="148"/>
                  </a:lnTo>
                  <a:lnTo>
                    <a:pt x="38" y="151"/>
                  </a:lnTo>
                  <a:lnTo>
                    <a:pt x="42" y="145"/>
                  </a:lnTo>
                  <a:lnTo>
                    <a:pt x="51" y="144"/>
                  </a:lnTo>
                  <a:lnTo>
                    <a:pt x="54" y="153"/>
                  </a:lnTo>
                  <a:lnTo>
                    <a:pt x="66" y="141"/>
                  </a:lnTo>
                  <a:lnTo>
                    <a:pt x="78" y="129"/>
                  </a:lnTo>
                  <a:lnTo>
                    <a:pt x="80" y="115"/>
                  </a:lnTo>
                  <a:lnTo>
                    <a:pt x="81" y="101"/>
                  </a:lnTo>
                  <a:lnTo>
                    <a:pt x="93" y="87"/>
                  </a:lnTo>
                  <a:lnTo>
                    <a:pt x="104" y="72"/>
                  </a:lnTo>
                  <a:lnTo>
                    <a:pt x="106" y="59"/>
                  </a:lnTo>
                  <a:lnTo>
                    <a:pt x="109" y="45"/>
                  </a:lnTo>
                  <a:lnTo>
                    <a:pt x="111" y="31"/>
                  </a:lnTo>
                  <a:lnTo>
                    <a:pt x="114" y="18"/>
                  </a:lnTo>
                  <a:lnTo>
                    <a:pt x="117" y="3"/>
                  </a:lnTo>
                  <a:lnTo>
                    <a:pt x="105" y="1"/>
                  </a:lnTo>
                  <a:lnTo>
                    <a:pt x="93" y="0"/>
                  </a:lnTo>
                  <a:lnTo>
                    <a:pt x="85" y="6"/>
                  </a:lnTo>
                  <a:lnTo>
                    <a:pt x="79" y="25"/>
                  </a:lnTo>
                  <a:lnTo>
                    <a:pt x="76" y="34"/>
                  </a:lnTo>
                  <a:lnTo>
                    <a:pt x="62" y="30"/>
                  </a:lnTo>
                  <a:lnTo>
                    <a:pt x="49" y="27"/>
                  </a:lnTo>
                  <a:lnTo>
                    <a:pt x="33" y="27"/>
                  </a:lnTo>
                  <a:lnTo>
                    <a:pt x="32" y="43"/>
                  </a:lnTo>
                  <a:lnTo>
                    <a:pt x="49" y="42"/>
                  </a:lnTo>
                  <a:lnTo>
                    <a:pt x="50" y="54"/>
                  </a:lnTo>
                  <a:lnTo>
                    <a:pt x="43" y="64"/>
                  </a:lnTo>
                  <a:lnTo>
                    <a:pt x="52" y="79"/>
                  </a:lnTo>
                  <a:lnTo>
                    <a:pt x="48" y="105"/>
                  </a:lnTo>
                  <a:lnTo>
                    <a:pt x="43" y="109"/>
                  </a:lnTo>
                  <a:lnTo>
                    <a:pt x="40" y="105"/>
                  </a:lnTo>
                  <a:lnTo>
                    <a:pt x="31" y="108"/>
                  </a:lnTo>
                  <a:lnTo>
                    <a:pt x="21" y="97"/>
                  </a:lnTo>
                  <a:lnTo>
                    <a:pt x="20" y="1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7" name="Freeform 106"/>
            <p:cNvSpPr>
              <a:spLocks/>
            </p:cNvSpPr>
            <p:nvPr/>
          </p:nvSpPr>
          <p:spPr bwMode="auto">
            <a:xfrm>
              <a:off x="3129" y="2614"/>
              <a:ext cx="140" cy="185"/>
            </a:xfrm>
            <a:custGeom>
              <a:avLst/>
              <a:gdLst/>
              <a:ahLst/>
              <a:cxnLst>
                <a:cxn ang="0">
                  <a:pos x="58" y="137"/>
                </a:cxn>
                <a:cxn ang="0">
                  <a:pos x="44" y="127"/>
                </a:cxn>
                <a:cxn ang="0">
                  <a:pos x="30" y="119"/>
                </a:cxn>
                <a:cxn ang="0">
                  <a:pos x="15" y="109"/>
                </a:cxn>
                <a:cxn ang="0">
                  <a:pos x="0" y="101"/>
                </a:cxn>
                <a:cxn ang="0">
                  <a:pos x="0" y="82"/>
                </a:cxn>
                <a:cxn ang="0">
                  <a:pos x="10" y="64"/>
                </a:cxn>
                <a:cxn ang="0">
                  <a:pos x="18" y="49"/>
                </a:cxn>
                <a:cxn ang="0">
                  <a:pos x="13" y="35"/>
                </a:cxn>
                <a:cxn ang="0">
                  <a:pos x="8" y="22"/>
                </a:cxn>
                <a:cxn ang="0">
                  <a:pos x="1" y="7"/>
                </a:cxn>
                <a:cxn ang="0">
                  <a:pos x="7" y="0"/>
                </a:cxn>
                <a:cxn ang="0">
                  <a:pos x="19" y="0"/>
                </a:cxn>
                <a:cxn ang="0">
                  <a:pos x="32" y="0"/>
                </a:cxn>
                <a:cxn ang="0">
                  <a:pos x="45" y="3"/>
                </a:cxn>
                <a:cxn ang="0">
                  <a:pos x="64" y="16"/>
                </a:cxn>
                <a:cxn ang="0">
                  <a:pos x="86" y="21"/>
                </a:cxn>
                <a:cxn ang="0">
                  <a:pos x="94" y="13"/>
                </a:cxn>
                <a:cxn ang="0">
                  <a:pos x="110" y="9"/>
                </a:cxn>
                <a:cxn ang="0">
                  <a:pos x="127" y="12"/>
                </a:cxn>
                <a:cxn ang="0">
                  <a:pos x="120" y="22"/>
                </a:cxn>
                <a:cxn ang="0">
                  <a:pos x="112" y="33"/>
                </a:cxn>
                <a:cxn ang="0">
                  <a:pos x="112" y="48"/>
                </a:cxn>
                <a:cxn ang="0">
                  <a:pos x="112" y="65"/>
                </a:cxn>
                <a:cxn ang="0">
                  <a:pos x="112" y="82"/>
                </a:cxn>
                <a:cxn ang="0">
                  <a:pos x="112" y="99"/>
                </a:cxn>
                <a:cxn ang="0">
                  <a:pos x="121" y="113"/>
                </a:cxn>
                <a:cxn ang="0">
                  <a:pos x="112" y="118"/>
                </a:cxn>
                <a:cxn ang="0">
                  <a:pos x="106" y="129"/>
                </a:cxn>
                <a:cxn ang="0">
                  <a:pos x="99" y="136"/>
                </a:cxn>
                <a:cxn ang="0">
                  <a:pos x="92" y="150"/>
                </a:cxn>
                <a:cxn ang="0">
                  <a:pos x="85" y="166"/>
                </a:cxn>
                <a:cxn ang="0">
                  <a:pos x="84" y="167"/>
                </a:cxn>
                <a:cxn ang="0">
                  <a:pos x="72" y="155"/>
                </a:cxn>
                <a:cxn ang="0">
                  <a:pos x="60" y="143"/>
                </a:cxn>
                <a:cxn ang="0">
                  <a:pos x="58" y="137"/>
                </a:cxn>
              </a:cxnLst>
              <a:rect l="0" t="0" r="r" b="b"/>
              <a:pathLst>
                <a:path w="127" h="167">
                  <a:moveTo>
                    <a:pt x="58" y="137"/>
                  </a:moveTo>
                  <a:lnTo>
                    <a:pt x="44" y="127"/>
                  </a:lnTo>
                  <a:lnTo>
                    <a:pt x="30" y="119"/>
                  </a:lnTo>
                  <a:lnTo>
                    <a:pt x="15" y="109"/>
                  </a:lnTo>
                  <a:lnTo>
                    <a:pt x="0" y="101"/>
                  </a:lnTo>
                  <a:lnTo>
                    <a:pt x="0" y="82"/>
                  </a:lnTo>
                  <a:lnTo>
                    <a:pt x="10" y="64"/>
                  </a:lnTo>
                  <a:lnTo>
                    <a:pt x="18" y="49"/>
                  </a:lnTo>
                  <a:lnTo>
                    <a:pt x="13" y="35"/>
                  </a:lnTo>
                  <a:lnTo>
                    <a:pt x="8" y="22"/>
                  </a:lnTo>
                  <a:lnTo>
                    <a:pt x="1" y="7"/>
                  </a:lnTo>
                  <a:lnTo>
                    <a:pt x="7" y="0"/>
                  </a:lnTo>
                  <a:lnTo>
                    <a:pt x="19" y="0"/>
                  </a:lnTo>
                  <a:lnTo>
                    <a:pt x="32" y="0"/>
                  </a:lnTo>
                  <a:lnTo>
                    <a:pt x="45" y="3"/>
                  </a:lnTo>
                  <a:lnTo>
                    <a:pt x="64" y="16"/>
                  </a:lnTo>
                  <a:lnTo>
                    <a:pt x="86" y="21"/>
                  </a:lnTo>
                  <a:lnTo>
                    <a:pt x="94" y="13"/>
                  </a:lnTo>
                  <a:lnTo>
                    <a:pt x="110" y="9"/>
                  </a:lnTo>
                  <a:lnTo>
                    <a:pt x="127" y="12"/>
                  </a:lnTo>
                  <a:lnTo>
                    <a:pt x="120" y="22"/>
                  </a:lnTo>
                  <a:lnTo>
                    <a:pt x="112" y="33"/>
                  </a:lnTo>
                  <a:lnTo>
                    <a:pt x="112" y="48"/>
                  </a:lnTo>
                  <a:lnTo>
                    <a:pt x="112" y="65"/>
                  </a:lnTo>
                  <a:lnTo>
                    <a:pt x="112" y="82"/>
                  </a:lnTo>
                  <a:lnTo>
                    <a:pt x="112" y="99"/>
                  </a:lnTo>
                  <a:lnTo>
                    <a:pt x="121" y="113"/>
                  </a:lnTo>
                  <a:lnTo>
                    <a:pt x="112" y="118"/>
                  </a:lnTo>
                  <a:lnTo>
                    <a:pt x="106" y="129"/>
                  </a:lnTo>
                  <a:lnTo>
                    <a:pt x="99" y="136"/>
                  </a:lnTo>
                  <a:lnTo>
                    <a:pt x="92" y="150"/>
                  </a:lnTo>
                  <a:lnTo>
                    <a:pt x="85" y="166"/>
                  </a:lnTo>
                  <a:lnTo>
                    <a:pt x="84" y="167"/>
                  </a:lnTo>
                  <a:lnTo>
                    <a:pt x="72" y="155"/>
                  </a:lnTo>
                  <a:lnTo>
                    <a:pt x="60" y="143"/>
                  </a:lnTo>
                  <a:lnTo>
                    <a:pt x="58"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8" name="Freeform 107"/>
            <p:cNvSpPr>
              <a:spLocks/>
            </p:cNvSpPr>
            <p:nvPr/>
          </p:nvSpPr>
          <p:spPr bwMode="auto">
            <a:xfrm>
              <a:off x="5573" y="2643"/>
              <a:ext cx="2" cy="2"/>
            </a:xfrm>
            <a:custGeom>
              <a:avLst/>
              <a:gdLst/>
              <a:ahLst/>
              <a:cxnLst>
                <a:cxn ang="0">
                  <a:pos x="3" y="0"/>
                </a:cxn>
                <a:cxn ang="0">
                  <a:pos x="2" y="1"/>
                </a:cxn>
                <a:cxn ang="0">
                  <a:pos x="0" y="1"/>
                </a:cxn>
                <a:cxn ang="0">
                  <a:pos x="2" y="0"/>
                </a:cxn>
                <a:cxn ang="0">
                  <a:pos x="3" y="0"/>
                </a:cxn>
              </a:cxnLst>
              <a:rect l="0" t="0" r="r" b="b"/>
              <a:pathLst>
                <a:path w="3" h="1">
                  <a:moveTo>
                    <a:pt x="3" y="0"/>
                  </a:moveTo>
                  <a:lnTo>
                    <a:pt x="2" y="1"/>
                  </a:lnTo>
                  <a:lnTo>
                    <a:pt x="0" y="1"/>
                  </a:lnTo>
                  <a:lnTo>
                    <a:pt x="2" y="0"/>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9" name="Freeform 108"/>
            <p:cNvSpPr>
              <a:spLocks/>
            </p:cNvSpPr>
            <p:nvPr/>
          </p:nvSpPr>
          <p:spPr bwMode="auto">
            <a:xfrm>
              <a:off x="5577" y="2667"/>
              <a:ext cx="3" cy="3"/>
            </a:xfrm>
            <a:custGeom>
              <a:avLst/>
              <a:gdLst/>
              <a:ahLst/>
              <a:cxnLst>
                <a:cxn ang="0">
                  <a:pos x="2" y="4"/>
                </a:cxn>
                <a:cxn ang="0">
                  <a:pos x="1" y="4"/>
                </a:cxn>
                <a:cxn ang="0">
                  <a:pos x="2" y="4"/>
                </a:cxn>
                <a:cxn ang="0">
                  <a:pos x="2" y="3"/>
                </a:cxn>
                <a:cxn ang="0">
                  <a:pos x="0" y="0"/>
                </a:cxn>
                <a:cxn ang="0">
                  <a:pos x="1" y="0"/>
                </a:cxn>
                <a:cxn ang="0">
                  <a:pos x="2" y="3"/>
                </a:cxn>
                <a:cxn ang="0">
                  <a:pos x="2" y="4"/>
                </a:cxn>
              </a:cxnLst>
              <a:rect l="0" t="0" r="r" b="b"/>
              <a:pathLst>
                <a:path w="2" h="4">
                  <a:moveTo>
                    <a:pt x="2" y="4"/>
                  </a:moveTo>
                  <a:lnTo>
                    <a:pt x="1" y="4"/>
                  </a:lnTo>
                  <a:lnTo>
                    <a:pt x="2" y="4"/>
                  </a:lnTo>
                  <a:lnTo>
                    <a:pt x="2" y="3"/>
                  </a:lnTo>
                  <a:lnTo>
                    <a:pt x="0" y="0"/>
                  </a:lnTo>
                  <a:lnTo>
                    <a:pt x="1" y="0"/>
                  </a:lnTo>
                  <a:lnTo>
                    <a:pt x="2" y="3"/>
                  </a:lnTo>
                  <a:lnTo>
                    <a:pt x="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0" name="Freeform 109"/>
            <p:cNvSpPr>
              <a:spLocks/>
            </p:cNvSpPr>
            <p:nvPr/>
          </p:nvSpPr>
          <p:spPr bwMode="auto">
            <a:xfrm>
              <a:off x="5584" y="2667"/>
              <a:ext cx="2" cy="3"/>
            </a:xfrm>
            <a:custGeom>
              <a:avLst/>
              <a:gdLst/>
              <a:ahLst/>
              <a:cxnLst>
                <a:cxn ang="0">
                  <a:pos x="1" y="0"/>
                </a:cxn>
                <a:cxn ang="0">
                  <a:pos x="0" y="0"/>
                </a:cxn>
                <a:cxn ang="0">
                  <a:pos x="1" y="0"/>
                </a:cxn>
              </a:cxnLst>
              <a:rect l="0" t="0" r="r" b="b"/>
              <a:pathLst>
                <a:path w="1">
                  <a:moveTo>
                    <a:pt x="1" y="0"/>
                  </a:move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1" name="Freeform 110"/>
            <p:cNvSpPr>
              <a:spLocks/>
            </p:cNvSpPr>
            <p:nvPr/>
          </p:nvSpPr>
          <p:spPr bwMode="auto">
            <a:xfrm>
              <a:off x="5580" y="2674"/>
              <a:ext cx="2" cy="2"/>
            </a:xfrm>
            <a:custGeom>
              <a:avLst/>
              <a:gdLst/>
              <a:ahLst/>
              <a:cxnLst>
                <a:cxn ang="0">
                  <a:pos x="0" y="1"/>
                </a:cxn>
                <a:cxn ang="0">
                  <a:pos x="0" y="0"/>
                </a:cxn>
                <a:cxn ang="0">
                  <a:pos x="0" y="1"/>
                </a:cxn>
              </a:cxnLst>
              <a:rect l="0" t="0" r="r" b="b"/>
              <a:pathLst>
                <a:path h="1">
                  <a:moveTo>
                    <a:pt x="0" y="1"/>
                  </a:moveTo>
                  <a:lnTo>
                    <a:pt x="0" y="0"/>
                  </a:lnTo>
                  <a:lnTo>
                    <a:pt x="0"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2" name="Freeform 111"/>
            <p:cNvSpPr>
              <a:spLocks/>
            </p:cNvSpPr>
            <p:nvPr/>
          </p:nvSpPr>
          <p:spPr bwMode="auto">
            <a:xfrm>
              <a:off x="2580" y="2430"/>
              <a:ext cx="209" cy="189"/>
            </a:xfrm>
            <a:custGeom>
              <a:avLst/>
              <a:gdLst/>
              <a:ahLst/>
              <a:cxnLst>
                <a:cxn ang="0">
                  <a:pos x="124" y="121"/>
                </a:cxn>
                <a:cxn ang="0">
                  <a:pos x="112" y="125"/>
                </a:cxn>
                <a:cxn ang="0">
                  <a:pos x="105" y="135"/>
                </a:cxn>
                <a:cxn ang="0">
                  <a:pos x="99" y="146"/>
                </a:cxn>
                <a:cxn ang="0">
                  <a:pos x="94" y="161"/>
                </a:cxn>
                <a:cxn ang="0">
                  <a:pos x="88" y="159"/>
                </a:cxn>
                <a:cxn ang="0">
                  <a:pos x="89" y="165"/>
                </a:cxn>
                <a:cxn ang="0">
                  <a:pos x="73" y="165"/>
                </a:cxn>
                <a:cxn ang="0">
                  <a:pos x="71" y="164"/>
                </a:cxn>
                <a:cxn ang="0">
                  <a:pos x="69" y="164"/>
                </a:cxn>
                <a:cxn ang="0">
                  <a:pos x="66" y="167"/>
                </a:cxn>
                <a:cxn ang="0">
                  <a:pos x="64" y="162"/>
                </a:cxn>
                <a:cxn ang="0">
                  <a:pos x="64" y="169"/>
                </a:cxn>
                <a:cxn ang="0">
                  <a:pos x="64" y="165"/>
                </a:cxn>
                <a:cxn ang="0">
                  <a:pos x="61" y="167"/>
                </a:cxn>
                <a:cxn ang="0">
                  <a:pos x="57" y="167"/>
                </a:cxn>
                <a:cxn ang="0">
                  <a:pos x="49" y="168"/>
                </a:cxn>
                <a:cxn ang="0">
                  <a:pos x="43" y="151"/>
                </a:cxn>
                <a:cxn ang="0">
                  <a:pos x="45" y="150"/>
                </a:cxn>
                <a:cxn ang="0">
                  <a:pos x="41" y="146"/>
                </a:cxn>
                <a:cxn ang="0">
                  <a:pos x="42" y="146"/>
                </a:cxn>
                <a:cxn ang="0">
                  <a:pos x="39" y="143"/>
                </a:cxn>
                <a:cxn ang="0">
                  <a:pos x="22" y="132"/>
                </a:cxn>
                <a:cxn ang="0">
                  <a:pos x="13" y="131"/>
                </a:cxn>
                <a:cxn ang="0">
                  <a:pos x="16" y="128"/>
                </a:cxn>
                <a:cxn ang="0">
                  <a:pos x="0" y="133"/>
                </a:cxn>
                <a:cxn ang="0">
                  <a:pos x="1" y="108"/>
                </a:cxn>
                <a:cxn ang="0">
                  <a:pos x="3" y="84"/>
                </a:cxn>
                <a:cxn ang="0">
                  <a:pos x="15" y="63"/>
                </a:cxn>
                <a:cxn ang="0">
                  <a:pos x="16" y="48"/>
                </a:cxn>
                <a:cxn ang="0">
                  <a:pos x="13" y="38"/>
                </a:cxn>
                <a:cxn ang="0">
                  <a:pos x="13" y="37"/>
                </a:cxn>
                <a:cxn ang="0">
                  <a:pos x="15" y="30"/>
                </a:cxn>
                <a:cxn ang="0">
                  <a:pos x="19" y="18"/>
                </a:cxn>
                <a:cxn ang="0">
                  <a:pos x="23" y="5"/>
                </a:cxn>
                <a:cxn ang="0">
                  <a:pos x="37" y="0"/>
                </a:cxn>
                <a:cxn ang="0">
                  <a:pos x="53" y="1"/>
                </a:cxn>
                <a:cxn ang="0">
                  <a:pos x="64" y="12"/>
                </a:cxn>
                <a:cxn ang="0">
                  <a:pos x="81" y="7"/>
                </a:cxn>
                <a:cxn ang="0">
                  <a:pos x="93" y="12"/>
                </a:cxn>
                <a:cxn ang="0">
                  <a:pos x="103" y="17"/>
                </a:cxn>
                <a:cxn ang="0">
                  <a:pos x="121" y="8"/>
                </a:cxn>
                <a:cxn ang="0">
                  <a:pos x="138" y="9"/>
                </a:cxn>
                <a:cxn ang="0">
                  <a:pos x="154" y="11"/>
                </a:cxn>
                <a:cxn ang="0">
                  <a:pos x="172" y="1"/>
                </a:cxn>
                <a:cxn ang="0">
                  <a:pos x="179" y="12"/>
                </a:cxn>
                <a:cxn ang="0">
                  <a:pos x="181" y="25"/>
                </a:cxn>
                <a:cxn ang="0">
                  <a:pos x="189" y="32"/>
                </a:cxn>
                <a:cxn ang="0">
                  <a:pos x="184" y="42"/>
                </a:cxn>
                <a:cxn ang="0">
                  <a:pos x="173" y="53"/>
                </a:cxn>
                <a:cxn ang="0">
                  <a:pos x="167" y="65"/>
                </a:cxn>
                <a:cxn ang="0">
                  <a:pos x="162" y="78"/>
                </a:cxn>
                <a:cxn ang="0">
                  <a:pos x="156" y="92"/>
                </a:cxn>
                <a:cxn ang="0">
                  <a:pos x="150" y="102"/>
                </a:cxn>
                <a:cxn ang="0">
                  <a:pos x="144" y="117"/>
                </a:cxn>
                <a:cxn ang="0">
                  <a:pos x="135" y="132"/>
                </a:cxn>
                <a:cxn ang="0">
                  <a:pos x="124" y="121"/>
                </a:cxn>
              </a:cxnLst>
              <a:rect l="0" t="0" r="r" b="b"/>
              <a:pathLst>
                <a:path w="189" h="169">
                  <a:moveTo>
                    <a:pt x="124" y="121"/>
                  </a:moveTo>
                  <a:lnTo>
                    <a:pt x="112" y="125"/>
                  </a:lnTo>
                  <a:lnTo>
                    <a:pt x="105" y="135"/>
                  </a:lnTo>
                  <a:lnTo>
                    <a:pt x="99" y="146"/>
                  </a:lnTo>
                  <a:lnTo>
                    <a:pt x="94" y="161"/>
                  </a:lnTo>
                  <a:lnTo>
                    <a:pt x="88" y="159"/>
                  </a:lnTo>
                  <a:lnTo>
                    <a:pt x="89" y="165"/>
                  </a:lnTo>
                  <a:lnTo>
                    <a:pt x="73" y="165"/>
                  </a:lnTo>
                  <a:lnTo>
                    <a:pt x="71" y="164"/>
                  </a:lnTo>
                  <a:lnTo>
                    <a:pt x="69" y="164"/>
                  </a:lnTo>
                  <a:lnTo>
                    <a:pt x="66" y="167"/>
                  </a:lnTo>
                  <a:lnTo>
                    <a:pt x="64" y="162"/>
                  </a:lnTo>
                  <a:lnTo>
                    <a:pt x="64" y="169"/>
                  </a:lnTo>
                  <a:lnTo>
                    <a:pt x="64" y="165"/>
                  </a:lnTo>
                  <a:lnTo>
                    <a:pt x="61" y="167"/>
                  </a:lnTo>
                  <a:lnTo>
                    <a:pt x="57" y="167"/>
                  </a:lnTo>
                  <a:lnTo>
                    <a:pt x="49" y="168"/>
                  </a:lnTo>
                  <a:lnTo>
                    <a:pt x="43" y="151"/>
                  </a:lnTo>
                  <a:lnTo>
                    <a:pt x="45" y="150"/>
                  </a:lnTo>
                  <a:lnTo>
                    <a:pt x="41" y="146"/>
                  </a:lnTo>
                  <a:lnTo>
                    <a:pt x="42" y="146"/>
                  </a:lnTo>
                  <a:lnTo>
                    <a:pt x="39" y="143"/>
                  </a:lnTo>
                  <a:lnTo>
                    <a:pt x="22" y="132"/>
                  </a:lnTo>
                  <a:lnTo>
                    <a:pt x="13" y="131"/>
                  </a:lnTo>
                  <a:lnTo>
                    <a:pt x="16" y="128"/>
                  </a:lnTo>
                  <a:lnTo>
                    <a:pt x="0" y="133"/>
                  </a:lnTo>
                  <a:lnTo>
                    <a:pt x="1" y="108"/>
                  </a:lnTo>
                  <a:lnTo>
                    <a:pt x="3" y="84"/>
                  </a:lnTo>
                  <a:lnTo>
                    <a:pt x="15" y="63"/>
                  </a:lnTo>
                  <a:lnTo>
                    <a:pt x="16" y="48"/>
                  </a:lnTo>
                  <a:lnTo>
                    <a:pt x="13" y="38"/>
                  </a:lnTo>
                  <a:lnTo>
                    <a:pt x="13" y="37"/>
                  </a:lnTo>
                  <a:lnTo>
                    <a:pt x="15" y="30"/>
                  </a:lnTo>
                  <a:lnTo>
                    <a:pt x="19" y="18"/>
                  </a:lnTo>
                  <a:lnTo>
                    <a:pt x="23" y="5"/>
                  </a:lnTo>
                  <a:lnTo>
                    <a:pt x="37" y="0"/>
                  </a:lnTo>
                  <a:lnTo>
                    <a:pt x="53" y="1"/>
                  </a:lnTo>
                  <a:lnTo>
                    <a:pt x="64" y="12"/>
                  </a:lnTo>
                  <a:lnTo>
                    <a:pt x="81" y="7"/>
                  </a:lnTo>
                  <a:lnTo>
                    <a:pt x="93" y="12"/>
                  </a:lnTo>
                  <a:lnTo>
                    <a:pt x="103" y="17"/>
                  </a:lnTo>
                  <a:lnTo>
                    <a:pt x="121" y="8"/>
                  </a:lnTo>
                  <a:lnTo>
                    <a:pt x="138" y="9"/>
                  </a:lnTo>
                  <a:lnTo>
                    <a:pt x="154" y="11"/>
                  </a:lnTo>
                  <a:lnTo>
                    <a:pt x="172" y="1"/>
                  </a:lnTo>
                  <a:lnTo>
                    <a:pt x="179" y="12"/>
                  </a:lnTo>
                  <a:lnTo>
                    <a:pt x="181" y="25"/>
                  </a:lnTo>
                  <a:lnTo>
                    <a:pt x="189" y="32"/>
                  </a:lnTo>
                  <a:lnTo>
                    <a:pt x="184" y="42"/>
                  </a:lnTo>
                  <a:lnTo>
                    <a:pt x="173" y="53"/>
                  </a:lnTo>
                  <a:lnTo>
                    <a:pt x="167" y="65"/>
                  </a:lnTo>
                  <a:lnTo>
                    <a:pt x="162" y="78"/>
                  </a:lnTo>
                  <a:lnTo>
                    <a:pt x="156" y="92"/>
                  </a:lnTo>
                  <a:lnTo>
                    <a:pt x="150" y="102"/>
                  </a:lnTo>
                  <a:lnTo>
                    <a:pt x="144" y="117"/>
                  </a:lnTo>
                  <a:lnTo>
                    <a:pt x="135" y="132"/>
                  </a:lnTo>
                  <a:lnTo>
                    <a:pt x="124" y="1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3" name="Freeform 112"/>
            <p:cNvSpPr>
              <a:spLocks/>
            </p:cNvSpPr>
            <p:nvPr/>
          </p:nvSpPr>
          <p:spPr bwMode="auto">
            <a:xfrm>
              <a:off x="2547" y="2459"/>
              <a:ext cx="49" cy="122"/>
            </a:xfrm>
            <a:custGeom>
              <a:avLst/>
              <a:gdLst/>
              <a:ahLst/>
              <a:cxnLst>
                <a:cxn ang="0">
                  <a:pos x="3" y="24"/>
                </a:cxn>
                <a:cxn ang="0">
                  <a:pos x="1" y="24"/>
                </a:cxn>
                <a:cxn ang="0">
                  <a:pos x="0" y="32"/>
                </a:cxn>
                <a:cxn ang="0">
                  <a:pos x="9" y="42"/>
                </a:cxn>
                <a:cxn ang="0">
                  <a:pos x="11" y="56"/>
                </a:cxn>
                <a:cxn ang="0">
                  <a:pos x="11" y="70"/>
                </a:cxn>
                <a:cxn ang="0">
                  <a:pos x="12" y="84"/>
                </a:cxn>
                <a:cxn ang="0">
                  <a:pos x="12" y="97"/>
                </a:cxn>
                <a:cxn ang="0">
                  <a:pos x="13" y="110"/>
                </a:cxn>
                <a:cxn ang="0">
                  <a:pos x="30" y="108"/>
                </a:cxn>
                <a:cxn ang="0">
                  <a:pos x="31" y="83"/>
                </a:cxn>
                <a:cxn ang="0">
                  <a:pos x="33" y="59"/>
                </a:cxn>
                <a:cxn ang="0">
                  <a:pos x="45" y="38"/>
                </a:cxn>
                <a:cxn ang="0">
                  <a:pos x="46" y="23"/>
                </a:cxn>
                <a:cxn ang="0">
                  <a:pos x="43" y="13"/>
                </a:cxn>
                <a:cxn ang="0">
                  <a:pos x="43" y="12"/>
                </a:cxn>
                <a:cxn ang="0">
                  <a:pos x="30" y="0"/>
                </a:cxn>
                <a:cxn ang="0">
                  <a:pos x="25" y="6"/>
                </a:cxn>
                <a:cxn ang="0">
                  <a:pos x="25" y="8"/>
                </a:cxn>
                <a:cxn ang="0">
                  <a:pos x="24" y="11"/>
                </a:cxn>
                <a:cxn ang="0">
                  <a:pos x="12" y="18"/>
                </a:cxn>
                <a:cxn ang="0">
                  <a:pos x="3" y="24"/>
                </a:cxn>
              </a:cxnLst>
              <a:rect l="0" t="0" r="r" b="b"/>
              <a:pathLst>
                <a:path w="46" h="110">
                  <a:moveTo>
                    <a:pt x="3" y="24"/>
                  </a:moveTo>
                  <a:lnTo>
                    <a:pt x="1" y="24"/>
                  </a:lnTo>
                  <a:lnTo>
                    <a:pt x="0" y="32"/>
                  </a:lnTo>
                  <a:lnTo>
                    <a:pt x="9" y="42"/>
                  </a:lnTo>
                  <a:lnTo>
                    <a:pt x="11" y="56"/>
                  </a:lnTo>
                  <a:lnTo>
                    <a:pt x="11" y="70"/>
                  </a:lnTo>
                  <a:lnTo>
                    <a:pt x="12" y="84"/>
                  </a:lnTo>
                  <a:lnTo>
                    <a:pt x="12" y="97"/>
                  </a:lnTo>
                  <a:lnTo>
                    <a:pt x="13" y="110"/>
                  </a:lnTo>
                  <a:lnTo>
                    <a:pt x="30" y="108"/>
                  </a:lnTo>
                  <a:lnTo>
                    <a:pt x="31" y="83"/>
                  </a:lnTo>
                  <a:lnTo>
                    <a:pt x="33" y="59"/>
                  </a:lnTo>
                  <a:lnTo>
                    <a:pt x="45" y="38"/>
                  </a:lnTo>
                  <a:lnTo>
                    <a:pt x="46" y="23"/>
                  </a:lnTo>
                  <a:lnTo>
                    <a:pt x="43" y="13"/>
                  </a:lnTo>
                  <a:lnTo>
                    <a:pt x="43" y="12"/>
                  </a:lnTo>
                  <a:lnTo>
                    <a:pt x="30" y="0"/>
                  </a:lnTo>
                  <a:lnTo>
                    <a:pt x="25" y="6"/>
                  </a:lnTo>
                  <a:lnTo>
                    <a:pt x="25" y="8"/>
                  </a:lnTo>
                  <a:lnTo>
                    <a:pt x="24" y="11"/>
                  </a:lnTo>
                  <a:lnTo>
                    <a:pt x="12" y="18"/>
                  </a:lnTo>
                  <a:lnTo>
                    <a:pt x="3"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4" name="Freeform 113"/>
            <p:cNvSpPr>
              <a:spLocks/>
            </p:cNvSpPr>
            <p:nvPr/>
          </p:nvSpPr>
          <p:spPr bwMode="auto">
            <a:xfrm>
              <a:off x="2436" y="2403"/>
              <a:ext cx="137" cy="113"/>
            </a:xfrm>
            <a:custGeom>
              <a:avLst/>
              <a:gdLst/>
              <a:ahLst/>
              <a:cxnLst>
                <a:cxn ang="0">
                  <a:pos x="102" y="73"/>
                </a:cxn>
                <a:cxn ang="0">
                  <a:pos x="97" y="73"/>
                </a:cxn>
                <a:cxn ang="0">
                  <a:pos x="84" y="71"/>
                </a:cxn>
                <a:cxn ang="0">
                  <a:pos x="79" y="72"/>
                </a:cxn>
                <a:cxn ang="0">
                  <a:pos x="61" y="73"/>
                </a:cxn>
                <a:cxn ang="0">
                  <a:pos x="42" y="73"/>
                </a:cxn>
                <a:cxn ang="0">
                  <a:pos x="43" y="87"/>
                </a:cxn>
                <a:cxn ang="0">
                  <a:pos x="44" y="101"/>
                </a:cxn>
                <a:cxn ang="0">
                  <a:pos x="30" y="92"/>
                </a:cxn>
                <a:cxn ang="0">
                  <a:pos x="15" y="97"/>
                </a:cxn>
                <a:cxn ang="0">
                  <a:pos x="6" y="86"/>
                </a:cxn>
                <a:cxn ang="0">
                  <a:pos x="0" y="84"/>
                </a:cxn>
                <a:cxn ang="0">
                  <a:pos x="3" y="60"/>
                </a:cxn>
                <a:cxn ang="0">
                  <a:pos x="8" y="56"/>
                </a:cxn>
                <a:cxn ang="0">
                  <a:pos x="16" y="48"/>
                </a:cxn>
                <a:cxn ang="0">
                  <a:pos x="20" y="41"/>
                </a:cxn>
                <a:cxn ang="0">
                  <a:pos x="22" y="30"/>
                </a:cxn>
                <a:cxn ang="0">
                  <a:pos x="32" y="35"/>
                </a:cxn>
                <a:cxn ang="0">
                  <a:pos x="34" y="27"/>
                </a:cxn>
                <a:cxn ang="0">
                  <a:pos x="38" y="26"/>
                </a:cxn>
                <a:cxn ang="0">
                  <a:pos x="44" y="17"/>
                </a:cxn>
                <a:cxn ang="0">
                  <a:pos x="54" y="17"/>
                </a:cxn>
                <a:cxn ang="0">
                  <a:pos x="55" y="9"/>
                </a:cxn>
                <a:cxn ang="0">
                  <a:pos x="75" y="0"/>
                </a:cxn>
                <a:cxn ang="0">
                  <a:pos x="90" y="2"/>
                </a:cxn>
                <a:cxn ang="0">
                  <a:pos x="92" y="17"/>
                </a:cxn>
                <a:cxn ang="0">
                  <a:pos x="104" y="30"/>
                </a:cxn>
                <a:cxn ang="0">
                  <a:pos x="102" y="31"/>
                </a:cxn>
                <a:cxn ang="0">
                  <a:pos x="102" y="37"/>
                </a:cxn>
                <a:cxn ang="0">
                  <a:pos x="111" y="44"/>
                </a:cxn>
                <a:cxn ang="0">
                  <a:pos x="117" y="43"/>
                </a:cxn>
                <a:cxn ang="0">
                  <a:pos x="121" y="48"/>
                </a:cxn>
                <a:cxn ang="0">
                  <a:pos x="124" y="57"/>
                </a:cxn>
                <a:cxn ang="0">
                  <a:pos x="123" y="60"/>
                </a:cxn>
                <a:cxn ang="0">
                  <a:pos x="111" y="67"/>
                </a:cxn>
                <a:cxn ang="0">
                  <a:pos x="102" y="73"/>
                </a:cxn>
              </a:cxnLst>
              <a:rect l="0" t="0" r="r" b="b"/>
              <a:pathLst>
                <a:path w="124" h="101">
                  <a:moveTo>
                    <a:pt x="102" y="73"/>
                  </a:moveTo>
                  <a:lnTo>
                    <a:pt x="97" y="73"/>
                  </a:lnTo>
                  <a:lnTo>
                    <a:pt x="84" y="71"/>
                  </a:lnTo>
                  <a:lnTo>
                    <a:pt x="79" y="72"/>
                  </a:lnTo>
                  <a:lnTo>
                    <a:pt x="61" y="73"/>
                  </a:lnTo>
                  <a:lnTo>
                    <a:pt x="42" y="73"/>
                  </a:lnTo>
                  <a:lnTo>
                    <a:pt x="43" y="87"/>
                  </a:lnTo>
                  <a:lnTo>
                    <a:pt x="44" y="101"/>
                  </a:lnTo>
                  <a:lnTo>
                    <a:pt x="30" y="92"/>
                  </a:lnTo>
                  <a:lnTo>
                    <a:pt x="15" y="97"/>
                  </a:lnTo>
                  <a:lnTo>
                    <a:pt x="6" y="86"/>
                  </a:lnTo>
                  <a:lnTo>
                    <a:pt x="0" y="84"/>
                  </a:lnTo>
                  <a:lnTo>
                    <a:pt x="3" y="60"/>
                  </a:lnTo>
                  <a:lnTo>
                    <a:pt x="8" y="56"/>
                  </a:lnTo>
                  <a:lnTo>
                    <a:pt x="16" y="48"/>
                  </a:lnTo>
                  <a:lnTo>
                    <a:pt x="20" y="41"/>
                  </a:lnTo>
                  <a:lnTo>
                    <a:pt x="22" y="30"/>
                  </a:lnTo>
                  <a:lnTo>
                    <a:pt x="32" y="35"/>
                  </a:lnTo>
                  <a:lnTo>
                    <a:pt x="34" y="27"/>
                  </a:lnTo>
                  <a:lnTo>
                    <a:pt x="38" y="26"/>
                  </a:lnTo>
                  <a:lnTo>
                    <a:pt x="44" y="17"/>
                  </a:lnTo>
                  <a:lnTo>
                    <a:pt x="54" y="17"/>
                  </a:lnTo>
                  <a:lnTo>
                    <a:pt x="55" y="9"/>
                  </a:lnTo>
                  <a:lnTo>
                    <a:pt x="75" y="0"/>
                  </a:lnTo>
                  <a:lnTo>
                    <a:pt x="90" y="2"/>
                  </a:lnTo>
                  <a:lnTo>
                    <a:pt x="92" y="17"/>
                  </a:lnTo>
                  <a:lnTo>
                    <a:pt x="104" y="30"/>
                  </a:lnTo>
                  <a:lnTo>
                    <a:pt x="102" y="31"/>
                  </a:lnTo>
                  <a:lnTo>
                    <a:pt x="102" y="37"/>
                  </a:lnTo>
                  <a:lnTo>
                    <a:pt x="111" y="44"/>
                  </a:lnTo>
                  <a:lnTo>
                    <a:pt x="117" y="43"/>
                  </a:lnTo>
                  <a:lnTo>
                    <a:pt x="121" y="48"/>
                  </a:lnTo>
                  <a:lnTo>
                    <a:pt x="124" y="57"/>
                  </a:lnTo>
                  <a:lnTo>
                    <a:pt x="123" y="60"/>
                  </a:lnTo>
                  <a:lnTo>
                    <a:pt x="111" y="67"/>
                  </a:lnTo>
                  <a:lnTo>
                    <a:pt x="102"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5" name="Freeform 114"/>
            <p:cNvSpPr>
              <a:spLocks/>
            </p:cNvSpPr>
            <p:nvPr/>
          </p:nvSpPr>
          <p:spPr bwMode="auto">
            <a:xfrm>
              <a:off x="2682" y="2443"/>
              <a:ext cx="134" cy="227"/>
            </a:xfrm>
            <a:custGeom>
              <a:avLst/>
              <a:gdLst/>
              <a:ahLst/>
              <a:cxnLst>
                <a:cxn ang="0">
                  <a:pos x="112" y="56"/>
                </a:cxn>
                <a:cxn ang="0">
                  <a:pos x="93" y="56"/>
                </a:cxn>
                <a:cxn ang="0">
                  <a:pos x="86" y="60"/>
                </a:cxn>
                <a:cxn ang="0">
                  <a:pos x="99" y="77"/>
                </a:cxn>
                <a:cxn ang="0">
                  <a:pos x="109" y="99"/>
                </a:cxn>
                <a:cxn ang="0">
                  <a:pos x="102" y="114"/>
                </a:cxn>
                <a:cxn ang="0">
                  <a:pos x="93" y="128"/>
                </a:cxn>
                <a:cxn ang="0">
                  <a:pos x="99" y="153"/>
                </a:cxn>
                <a:cxn ang="0">
                  <a:pos x="108" y="167"/>
                </a:cxn>
                <a:cxn ang="0">
                  <a:pos x="116" y="179"/>
                </a:cxn>
                <a:cxn ang="0">
                  <a:pos x="121" y="195"/>
                </a:cxn>
                <a:cxn ang="0">
                  <a:pos x="118" y="204"/>
                </a:cxn>
                <a:cxn ang="0">
                  <a:pos x="104" y="200"/>
                </a:cxn>
                <a:cxn ang="0">
                  <a:pos x="91" y="197"/>
                </a:cxn>
                <a:cxn ang="0">
                  <a:pos x="75" y="197"/>
                </a:cxn>
                <a:cxn ang="0">
                  <a:pos x="60" y="197"/>
                </a:cxn>
                <a:cxn ang="0">
                  <a:pos x="44" y="197"/>
                </a:cxn>
                <a:cxn ang="0">
                  <a:pos x="32" y="194"/>
                </a:cxn>
                <a:cxn ang="0">
                  <a:pos x="20" y="193"/>
                </a:cxn>
                <a:cxn ang="0">
                  <a:pos x="20" y="174"/>
                </a:cxn>
                <a:cxn ang="0">
                  <a:pos x="18" y="165"/>
                </a:cxn>
                <a:cxn ang="0">
                  <a:pos x="16" y="163"/>
                </a:cxn>
                <a:cxn ang="0">
                  <a:pos x="7" y="162"/>
                </a:cxn>
                <a:cxn ang="0">
                  <a:pos x="2" y="151"/>
                </a:cxn>
                <a:cxn ang="0">
                  <a:pos x="0" y="152"/>
                </a:cxn>
                <a:cxn ang="0">
                  <a:pos x="1" y="149"/>
                </a:cxn>
                <a:cxn ang="0">
                  <a:pos x="6" y="134"/>
                </a:cxn>
                <a:cxn ang="0">
                  <a:pos x="12" y="123"/>
                </a:cxn>
                <a:cxn ang="0">
                  <a:pos x="19" y="113"/>
                </a:cxn>
                <a:cxn ang="0">
                  <a:pos x="31" y="109"/>
                </a:cxn>
                <a:cxn ang="0">
                  <a:pos x="42" y="120"/>
                </a:cxn>
                <a:cxn ang="0">
                  <a:pos x="51" y="105"/>
                </a:cxn>
                <a:cxn ang="0">
                  <a:pos x="57" y="90"/>
                </a:cxn>
                <a:cxn ang="0">
                  <a:pos x="63" y="80"/>
                </a:cxn>
                <a:cxn ang="0">
                  <a:pos x="69" y="66"/>
                </a:cxn>
                <a:cxn ang="0">
                  <a:pos x="74" y="53"/>
                </a:cxn>
                <a:cxn ang="0">
                  <a:pos x="80" y="41"/>
                </a:cxn>
                <a:cxn ang="0">
                  <a:pos x="91" y="30"/>
                </a:cxn>
                <a:cxn ang="0">
                  <a:pos x="96" y="20"/>
                </a:cxn>
                <a:cxn ang="0">
                  <a:pos x="88" y="13"/>
                </a:cxn>
                <a:cxn ang="0">
                  <a:pos x="86" y="0"/>
                </a:cxn>
                <a:cxn ang="0">
                  <a:pos x="92" y="0"/>
                </a:cxn>
                <a:cxn ang="0">
                  <a:pos x="99" y="18"/>
                </a:cxn>
                <a:cxn ang="0">
                  <a:pos x="102" y="38"/>
                </a:cxn>
                <a:cxn ang="0">
                  <a:pos x="112" y="56"/>
                </a:cxn>
              </a:cxnLst>
              <a:rect l="0" t="0" r="r" b="b"/>
              <a:pathLst>
                <a:path w="121" h="204">
                  <a:moveTo>
                    <a:pt x="112" y="56"/>
                  </a:moveTo>
                  <a:lnTo>
                    <a:pt x="93" y="56"/>
                  </a:lnTo>
                  <a:lnTo>
                    <a:pt x="86" y="60"/>
                  </a:lnTo>
                  <a:lnTo>
                    <a:pt x="99" y="77"/>
                  </a:lnTo>
                  <a:lnTo>
                    <a:pt x="109" y="99"/>
                  </a:lnTo>
                  <a:lnTo>
                    <a:pt x="102" y="114"/>
                  </a:lnTo>
                  <a:lnTo>
                    <a:pt x="93" y="128"/>
                  </a:lnTo>
                  <a:lnTo>
                    <a:pt x="99" y="153"/>
                  </a:lnTo>
                  <a:lnTo>
                    <a:pt x="108" y="167"/>
                  </a:lnTo>
                  <a:lnTo>
                    <a:pt x="116" y="179"/>
                  </a:lnTo>
                  <a:lnTo>
                    <a:pt x="121" y="195"/>
                  </a:lnTo>
                  <a:lnTo>
                    <a:pt x="118" y="204"/>
                  </a:lnTo>
                  <a:lnTo>
                    <a:pt x="104" y="200"/>
                  </a:lnTo>
                  <a:lnTo>
                    <a:pt x="91" y="197"/>
                  </a:lnTo>
                  <a:lnTo>
                    <a:pt x="75" y="197"/>
                  </a:lnTo>
                  <a:lnTo>
                    <a:pt x="60" y="197"/>
                  </a:lnTo>
                  <a:lnTo>
                    <a:pt x="44" y="197"/>
                  </a:lnTo>
                  <a:lnTo>
                    <a:pt x="32" y="194"/>
                  </a:lnTo>
                  <a:lnTo>
                    <a:pt x="20" y="193"/>
                  </a:lnTo>
                  <a:lnTo>
                    <a:pt x="20" y="174"/>
                  </a:lnTo>
                  <a:lnTo>
                    <a:pt x="18" y="165"/>
                  </a:lnTo>
                  <a:lnTo>
                    <a:pt x="16" y="163"/>
                  </a:lnTo>
                  <a:lnTo>
                    <a:pt x="7" y="162"/>
                  </a:lnTo>
                  <a:lnTo>
                    <a:pt x="2" y="151"/>
                  </a:lnTo>
                  <a:lnTo>
                    <a:pt x="0" y="152"/>
                  </a:lnTo>
                  <a:lnTo>
                    <a:pt x="1" y="149"/>
                  </a:lnTo>
                  <a:lnTo>
                    <a:pt x="6" y="134"/>
                  </a:lnTo>
                  <a:lnTo>
                    <a:pt x="12" y="123"/>
                  </a:lnTo>
                  <a:lnTo>
                    <a:pt x="19" y="113"/>
                  </a:lnTo>
                  <a:lnTo>
                    <a:pt x="31" y="109"/>
                  </a:lnTo>
                  <a:lnTo>
                    <a:pt x="42" y="120"/>
                  </a:lnTo>
                  <a:lnTo>
                    <a:pt x="51" y="105"/>
                  </a:lnTo>
                  <a:lnTo>
                    <a:pt x="57" y="90"/>
                  </a:lnTo>
                  <a:lnTo>
                    <a:pt x="63" y="80"/>
                  </a:lnTo>
                  <a:lnTo>
                    <a:pt x="69" y="66"/>
                  </a:lnTo>
                  <a:lnTo>
                    <a:pt x="74" y="53"/>
                  </a:lnTo>
                  <a:lnTo>
                    <a:pt x="80" y="41"/>
                  </a:lnTo>
                  <a:lnTo>
                    <a:pt x="91" y="30"/>
                  </a:lnTo>
                  <a:lnTo>
                    <a:pt x="96" y="20"/>
                  </a:lnTo>
                  <a:lnTo>
                    <a:pt x="88" y="13"/>
                  </a:lnTo>
                  <a:lnTo>
                    <a:pt x="86" y="0"/>
                  </a:lnTo>
                  <a:lnTo>
                    <a:pt x="92" y="0"/>
                  </a:lnTo>
                  <a:lnTo>
                    <a:pt x="99" y="18"/>
                  </a:lnTo>
                  <a:lnTo>
                    <a:pt x="102" y="38"/>
                  </a:lnTo>
                  <a:lnTo>
                    <a:pt x="112"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6" name="Freeform 115"/>
            <p:cNvSpPr>
              <a:spLocks/>
            </p:cNvSpPr>
            <p:nvPr/>
          </p:nvSpPr>
          <p:spPr bwMode="auto">
            <a:xfrm>
              <a:off x="2787" y="2487"/>
              <a:ext cx="229" cy="174"/>
            </a:xfrm>
            <a:custGeom>
              <a:avLst/>
              <a:gdLst/>
              <a:ahLst/>
              <a:cxnLst>
                <a:cxn ang="0">
                  <a:pos x="72" y="42"/>
                </a:cxn>
                <a:cxn ang="0">
                  <a:pos x="70" y="38"/>
                </a:cxn>
                <a:cxn ang="0">
                  <a:pos x="93" y="33"/>
                </a:cxn>
                <a:cxn ang="0">
                  <a:pos x="105" y="18"/>
                </a:cxn>
                <a:cxn ang="0">
                  <a:pos x="117" y="4"/>
                </a:cxn>
                <a:cxn ang="0">
                  <a:pos x="132" y="0"/>
                </a:cxn>
                <a:cxn ang="0">
                  <a:pos x="138" y="11"/>
                </a:cxn>
                <a:cxn ang="0">
                  <a:pos x="145" y="22"/>
                </a:cxn>
                <a:cxn ang="0">
                  <a:pos x="143" y="40"/>
                </a:cxn>
                <a:cxn ang="0">
                  <a:pos x="154" y="42"/>
                </a:cxn>
                <a:cxn ang="0">
                  <a:pos x="157" y="47"/>
                </a:cxn>
                <a:cxn ang="0">
                  <a:pos x="172" y="58"/>
                </a:cxn>
                <a:cxn ang="0">
                  <a:pos x="174" y="65"/>
                </a:cxn>
                <a:cxn ang="0">
                  <a:pos x="189" y="78"/>
                </a:cxn>
                <a:cxn ang="0">
                  <a:pos x="195" y="88"/>
                </a:cxn>
                <a:cxn ang="0">
                  <a:pos x="204" y="100"/>
                </a:cxn>
                <a:cxn ang="0">
                  <a:pos x="207" y="106"/>
                </a:cxn>
                <a:cxn ang="0">
                  <a:pos x="198" y="104"/>
                </a:cxn>
                <a:cxn ang="0">
                  <a:pos x="185" y="102"/>
                </a:cxn>
                <a:cxn ang="0">
                  <a:pos x="173" y="101"/>
                </a:cxn>
                <a:cxn ang="0">
                  <a:pos x="167" y="106"/>
                </a:cxn>
                <a:cxn ang="0">
                  <a:pos x="155" y="106"/>
                </a:cxn>
                <a:cxn ang="0">
                  <a:pos x="139" y="112"/>
                </a:cxn>
                <a:cxn ang="0">
                  <a:pos x="132" y="111"/>
                </a:cxn>
                <a:cxn ang="0">
                  <a:pos x="125" y="122"/>
                </a:cxn>
                <a:cxn ang="0">
                  <a:pos x="111" y="118"/>
                </a:cxn>
                <a:cxn ang="0">
                  <a:pos x="95" y="113"/>
                </a:cxn>
                <a:cxn ang="0">
                  <a:pos x="78" y="104"/>
                </a:cxn>
                <a:cxn ang="0">
                  <a:pos x="66" y="120"/>
                </a:cxn>
                <a:cxn ang="0">
                  <a:pos x="66" y="134"/>
                </a:cxn>
                <a:cxn ang="0">
                  <a:pos x="54" y="132"/>
                </a:cxn>
                <a:cxn ang="0">
                  <a:pos x="42" y="131"/>
                </a:cxn>
                <a:cxn ang="0">
                  <a:pos x="34" y="137"/>
                </a:cxn>
                <a:cxn ang="0">
                  <a:pos x="28" y="156"/>
                </a:cxn>
                <a:cxn ang="0">
                  <a:pos x="23" y="140"/>
                </a:cxn>
                <a:cxn ang="0">
                  <a:pos x="15" y="128"/>
                </a:cxn>
                <a:cxn ang="0">
                  <a:pos x="6" y="114"/>
                </a:cxn>
                <a:cxn ang="0">
                  <a:pos x="0" y="89"/>
                </a:cxn>
                <a:cxn ang="0">
                  <a:pos x="9" y="75"/>
                </a:cxn>
                <a:cxn ang="0">
                  <a:pos x="16" y="60"/>
                </a:cxn>
                <a:cxn ang="0">
                  <a:pos x="31" y="56"/>
                </a:cxn>
                <a:cxn ang="0">
                  <a:pos x="34" y="58"/>
                </a:cxn>
                <a:cxn ang="0">
                  <a:pos x="43" y="57"/>
                </a:cxn>
                <a:cxn ang="0">
                  <a:pos x="65" y="52"/>
                </a:cxn>
                <a:cxn ang="0">
                  <a:pos x="72" y="42"/>
                </a:cxn>
              </a:cxnLst>
              <a:rect l="0" t="0" r="r" b="b"/>
              <a:pathLst>
                <a:path w="207" h="156">
                  <a:moveTo>
                    <a:pt x="72" y="42"/>
                  </a:moveTo>
                  <a:lnTo>
                    <a:pt x="70" y="38"/>
                  </a:lnTo>
                  <a:lnTo>
                    <a:pt x="93" y="33"/>
                  </a:lnTo>
                  <a:lnTo>
                    <a:pt x="105" y="18"/>
                  </a:lnTo>
                  <a:lnTo>
                    <a:pt x="117" y="4"/>
                  </a:lnTo>
                  <a:lnTo>
                    <a:pt x="132" y="0"/>
                  </a:lnTo>
                  <a:lnTo>
                    <a:pt x="138" y="11"/>
                  </a:lnTo>
                  <a:lnTo>
                    <a:pt x="145" y="22"/>
                  </a:lnTo>
                  <a:lnTo>
                    <a:pt x="143" y="40"/>
                  </a:lnTo>
                  <a:lnTo>
                    <a:pt x="154" y="42"/>
                  </a:lnTo>
                  <a:lnTo>
                    <a:pt x="157" y="47"/>
                  </a:lnTo>
                  <a:lnTo>
                    <a:pt x="172" y="58"/>
                  </a:lnTo>
                  <a:lnTo>
                    <a:pt x="174" y="65"/>
                  </a:lnTo>
                  <a:lnTo>
                    <a:pt x="189" y="78"/>
                  </a:lnTo>
                  <a:lnTo>
                    <a:pt x="195" y="88"/>
                  </a:lnTo>
                  <a:lnTo>
                    <a:pt x="204" y="100"/>
                  </a:lnTo>
                  <a:lnTo>
                    <a:pt x="207" y="106"/>
                  </a:lnTo>
                  <a:lnTo>
                    <a:pt x="198" y="104"/>
                  </a:lnTo>
                  <a:lnTo>
                    <a:pt x="185" y="102"/>
                  </a:lnTo>
                  <a:lnTo>
                    <a:pt x="173" y="101"/>
                  </a:lnTo>
                  <a:lnTo>
                    <a:pt x="167" y="106"/>
                  </a:lnTo>
                  <a:lnTo>
                    <a:pt x="155" y="106"/>
                  </a:lnTo>
                  <a:lnTo>
                    <a:pt x="139" y="112"/>
                  </a:lnTo>
                  <a:lnTo>
                    <a:pt x="132" y="111"/>
                  </a:lnTo>
                  <a:lnTo>
                    <a:pt x="125" y="122"/>
                  </a:lnTo>
                  <a:lnTo>
                    <a:pt x="111" y="118"/>
                  </a:lnTo>
                  <a:lnTo>
                    <a:pt x="95" y="113"/>
                  </a:lnTo>
                  <a:lnTo>
                    <a:pt x="78" y="104"/>
                  </a:lnTo>
                  <a:lnTo>
                    <a:pt x="66" y="120"/>
                  </a:lnTo>
                  <a:lnTo>
                    <a:pt x="66" y="134"/>
                  </a:lnTo>
                  <a:lnTo>
                    <a:pt x="54" y="132"/>
                  </a:lnTo>
                  <a:lnTo>
                    <a:pt x="42" y="131"/>
                  </a:lnTo>
                  <a:lnTo>
                    <a:pt x="34" y="137"/>
                  </a:lnTo>
                  <a:lnTo>
                    <a:pt x="28" y="156"/>
                  </a:lnTo>
                  <a:lnTo>
                    <a:pt x="23" y="140"/>
                  </a:lnTo>
                  <a:lnTo>
                    <a:pt x="15" y="128"/>
                  </a:lnTo>
                  <a:lnTo>
                    <a:pt x="6" y="114"/>
                  </a:lnTo>
                  <a:lnTo>
                    <a:pt x="0" y="89"/>
                  </a:lnTo>
                  <a:lnTo>
                    <a:pt x="9" y="75"/>
                  </a:lnTo>
                  <a:lnTo>
                    <a:pt x="16" y="60"/>
                  </a:lnTo>
                  <a:lnTo>
                    <a:pt x="31" y="56"/>
                  </a:lnTo>
                  <a:lnTo>
                    <a:pt x="34" y="58"/>
                  </a:lnTo>
                  <a:lnTo>
                    <a:pt x="43" y="57"/>
                  </a:lnTo>
                  <a:lnTo>
                    <a:pt x="65" y="52"/>
                  </a:lnTo>
                  <a:lnTo>
                    <a:pt x="72"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7" name="Freeform 116"/>
            <p:cNvSpPr>
              <a:spLocks/>
            </p:cNvSpPr>
            <p:nvPr/>
          </p:nvSpPr>
          <p:spPr bwMode="auto">
            <a:xfrm>
              <a:off x="2238" y="2430"/>
              <a:ext cx="51" cy="13"/>
            </a:xfrm>
            <a:custGeom>
              <a:avLst/>
              <a:gdLst/>
              <a:ahLst/>
              <a:cxnLst>
                <a:cxn ang="0">
                  <a:pos x="2" y="5"/>
                </a:cxn>
                <a:cxn ang="0">
                  <a:pos x="0" y="12"/>
                </a:cxn>
                <a:cxn ang="0">
                  <a:pos x="13" y="8"/>
                </a:cxn>
                <a:cxn ang="0">
                  <a:pos x="25" y="3"/>
                </a:cxn>
                <a:cxn ang="0">
                  <a:pos x="46" y="8"/>
                </a:cxn>
                <a:cxn ang="0">
                  <a:pos x="42" y="3"/>
                </a:cxn>
                <a:cxn ang="0">
                  <a:pos x="23" y="0"/>
                </a:cxn>
                <a:cxn ang="0">
                  <a:pos x="20" y="3"/>
                </a:cxn>
                <a:cxn ang="0">
                  <a:pos x="4" y="3"/>
                </a:cxn>
                <a:cxn ang="0">
                  <a:pos x="4" y="5"/>
                </a:cxn>
                <a:cxn ang="0">
                  <a:pos x="18" y="5"/>
                </a:cxn>
                <a:cxn ang="0">
                  <a:pos x="10" y="8"/>
                </a:cxn>
                <a:cxn ang="0">
                  <a:pos x="2" y="5"/>
                </a:cxn>
              </a:cxnLst>
              <a:rect l="0" t="0" r="r" b="b"/>
              <a:pathLst>
                <a:path w="46" h="12">
                  <a:moveTo>
                    <a:pt x="2" y="5"/>
                  </a:moveTo>
                  <a:lnTo>
                    <a:pt x="0" y="12"/>
                  </a:lnTo>
                  <a:lnTo>
                    <a:pt x="13" y="8"/>
                  </a:lnTo>
                  <a:lnTo>
                    <a:pt x="25" y="3"/>
                  </a:lnTo>
                  <a:lnTo>
                    <a:pt x="46" y="8"/>
                  </a:lnTo>
                  <a:lnTo>
                    <a:pt x="42" y="3"/>
                  </a:lnTo>
                  <a:lnTo>
                    <a:pt x="23" y="0"/>
                  </a:lnTo>
                  <a:lnTo>
                    <a:pt x="20" y="3"/>
                  </a:lnTo>
                  <a:lnTo>
                    <a:pt x="4" y="3"/>
                  </a:lnTo>
                  <a:lnTo>
                    <a:pt x="4" y="5"/>
                  </a:lnTo>
                  <a:lnTo>
                    <a:pt x="18" y="5"/>
                  </a:lnTo>
                  <a:lnTo>
                    <a:pt x="10" y="8"/>
                  </a:lnTo>
                  <a:lnTo>
                    <a:pt x="2"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8" name="Freeform 117"/>
            <p:cNvSpPr>
              <a:spLocks/>
            </p:cNvSpPr>
            <p:nvPr/>
          </p:nvSpPr>
          <p:spPr bwMode="auto">
            <a:xfrm>
              <a:off x="2476" y="2483"/>
              <a:ext cx="77" cy="127"/>
            </a:xfrm>
            <a:custGeom>
              <a:avLst/>
              <a:gdLst/>
              <a:ahLst/>
              <a:cxnLst>
                <a:cxn ang="0">
                  <a:pos x="61" y="97"/>
                </a:cxn>
                <a:cxn ang="0">
                  <a:pos x="50" y="100"/>
                </a:cxn>
                <a:cxn ang="0">
                  <a:pos x="38" y="105"/>
                </a:cxn>
                <a:cxn ang="0">
                  <a:pos x="27" y="110"/>
                </a:cxn>
                <a:cxn ang="0">
                  <a:pos x="16" y="114"/>
                </a:cxn>
                <a:cxn ang="0">
                  <a:pos x="1" y="109"/>
                </a:cxn>
                <a:cxn ang="0">
                  <a:pos x="6" y="105"/>
                </a:cxn>
                <a:cxn ang="0">
                  <a:pos x="3" y="91"/>
                </a:cxn>
                <a:cxn ang="0">
                  <a:pos x="0" y="78"/>
                </a:cxn>
                <a:cxn ang="0">
                  <a:pos x="6" y="66"/>
                </a:cxn>
                <a:cxn ang="0">
                  <a:pos x="10" y="52"/>
                </a:cxn>
                <a:cxn ang="0">
                  <a:pos x="8" y="30"/>
                </a:cxn>
                <a:cxn ang="0">
                  <a:pos x="7" y="16"/>
                </a:cxn>
                <a:cxn ang="0">
                  <a:pos x="6" y="2"/>
                </a:cxn>
                <a:cxn ang="0">
                  <a:pos x="25" y="2"/>
                </a:cxn>
                <a:cxn ang="0">
                  <a:pos x="43" y="1"/>
                </a:cxn>
                <a:cxn ang="0">
                  <a:pos x="48" y="0"/>
                </a:cxn>
                <a:cxn ang="0">
                  <a:pos x="50" y="6"/>
                </a:cxn>
                <a:cxn ang="0">
                  <a:pos x="56" y="21"/>
                </a:cxn>
                <a:cxn ang="0">
                  <a:pos x="56" y="30"/>
                </a:cxn>
                <a:cxn ang="0">
                  <a:pos x="57" y="42"/>
                </a:cxn>
                <a:cxn ang="0">
                  <a:pos x="60" y="54"/>
                </a:cxn>
                <a:cxn ang="0">
                  <a:pos x="61" y="68"/>
                </a:cxn>
                <a:cxn ang="0">
                  <a:pos x="61" y="81"/>
                </a:cxn>
                <a:cxn ang="0">
                  <a:pos x="69" y="91"/>
                </a:cxn>
                <a:cxn ang="0">
                  <a:pos x="61" y="97"/>
                </a:cxn>
                <a:cxn ang="0">
                  <a:pos x="55" y="92"/>
                </a:cxn>
                <a:cxn ang="0">
                  <a:pos x="61" y="97"/>
                </a:cxn>
              </a:cxnLst>
              <a:rect l="0" t="0" r="r" b="b"/>
              <a:pathLst>
                <a:path w="69" h="114">
                  <a:moveTo>
                    <a:pt x="61" y="97"/>
                  </a:moveTo>
                  <a:lnTo>
                    <a:pt x="50" y="100"/>
                  </a:lnTo>
                  <a:lnTo>
                    <a:pt x="38" y="105"/>
                  </a:lnTo>
                  <a:lnTo>
                    <a:pt x="27" y="110"/>
                  </a:lnTo>
                  <a:lnTo>
                    <a:pt x="16" y="114"/>
                  </a:lnTo>
                  <a:lnTo>
                    <a:pt x="1" y="109"/>
                  </a:lnTo>
                  <a:lnTo>
                    <a:pt x="6" y="105"/>
                  </a:lnTo>
                  <a:lnTo>
                    <a:pt x="3" y="91"/>
                  </a:lnTo>
                  <a:lnTo>
                    <a:pt x="0" y="78"/>
                  </a:lnTo>
                  <a:lnTo>
                    <a:pt x="6" y="66"/>
                  </a:lnTo>
                  <a:lnTo>
                    <a:pt x="10" y="52"/>
                  </a:lnTo>
                  <a:lnTo>
                    <a:pt x="8" y="30"/>
                  </a:lnTo>
                  <a:lnTo>
                    <a:pt x="7" y="16"/>
                  </a:lnTo>
                  <a:lnTo>
                    <a:pt x="6" y="2"/>
                  </a:lnTo>
                  <a:lnTo>
                    <a:pt x="25" y="2"/>
                  </a:lnTo>
                  <a:lnTo>
                    <a:pt x="43" y="1"/>
                  </a:lnTo>
                  <a:lnTo>
                    <a:pt x="48" y="0"/>
                  </a:lnTo>
                  <a:lnTo>
                    <a:pt x="50" y="6"/>
                  </a:lnTo>
                  <a:lnTo>
                    <a:pt x="56" y="21"/>
                  </a:lnTo>
                  <a:lnTo>
                    <a:pt x="56" y="30"/>
                  </a:lnTo>
                  <a:lnTo>
                    <a:pt x="57" y="42"/>
                  </a:lnTo>
                  <a:lnTo>
                    <a:pt x="60" y="54"/>
                  </a:lnTo>
                  <a:lnTo>
                    <a:pt x="61" y="68"/>
                  </a:lnTo>
                  <a:lnTo>
                    <a:pt x="61" y="81"/>
                  </a:lnTo>
                  <a:lnTo>
                    <a:pt x="69" y="91"/>
                  </a:lnTo>
                  <a:lnTo>
                    <a:pt x="61" y="97"/>
                  </a:lnTo>
                  <a:lnTo>
                    <a:pt x="55" y="92"/>
                  </a:lnTo>
                  <a:lnTo>
                    <a:pt x="61" y="9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9" name="Freeform 118"/>
            <p:cNvSpPr>
              <a:spLocks/>
            </p:cNvSpPr>
            <p:nvPr/>
          </p:nvSpPr>
          <p:spPr bwMode="auto">
            <a:xfrm>
              <a:off x="2267" y="2452"/>
              <a:ext cx="129" cy="109"/>
            </a:xfrm>
            <a:custGeom>
              <a:avLst/>
              <a:gdLst/>
              <a:ahLst/>
              <a:cxnLst>
                <a:cxn ang="0">
                  <a:pos x="105" y="23"/>
                </a:cxn>
                <a:cxn ang="0">
                  <a:pos x="102" y="29"/>
                </a:cxn>
                <a:cxn ang="0">
                  <a:pos x="105" y="29"/>
                </a:cxn>
                <a:cxn ang="0">
                  <a:pos x="112" y="46"/>
                </a:cxn>
                <a:cxn ang="0">
                  <a:pos x="111" y="59"/>
                </a:cxn>
                <a:cxn ang="0">
                  <a:pos x="113" y="62"/>
                </a:cxn>
                <a:cxn ang="0">
                  <a:pos x="114" y="66"/>
                </a:cxn>
                <a:cxn ang="0">
                  <a:pos x="116" y="72"/>
                </a:cxn>
                <a:cxn ang="0">
                  <a:pos x="116" y="77"/>
                </a:cxn>
                <a:cxn ang="0">
                  <a:pos x="108" y="78"/>
                </a:cxn>
                <a:cxn ang="0">
                  <a:pos x="111" y="85"/>
                </a:cxn>
                <a:cxn ang="0">
                  <a:pos x="106" y="91"/>
                </a:cxn>
                <a:cxn ang="0">
                  <a:pos x="105" y="92"/>
                </a:cxn>
                <a:cxn ang="0">
                  <a:pos x="100" y="92"/>
                </a:cxn>
                <a:cxn ang="0">
                  <a:pos x="93" y="97"/>
                </a:cxn>
                <a:cxn ang="0">
                  <a:pos x="89" y="94"/>
                </a:cxn>
                <a:cxn ang="0">
                  <a:pos x="84" y="76"/>
                </a:cxn>
                <a:cxn ang="0">
                  <a:pos x="76" y="76"/>
                </a:cxn>
                <a:cxn ang="0">
                  <a:pos x="70" y="77"/>
                </a:cxn>
                <a:cxn ang="0">
                  <a:pos x="71" y="65"/>
                </a:cxn>
                <a:cxn ang="0">
                  <a:pos x="62" y="48"/>
                </a:cxn>
                <a:cxn ang="0">
                  <a:pos x="40" y="54"/>
                </a:cxn>
                <a:cxn ang="0">
                  <a:pos x="28" y="66"/>
                </a:cxn>
                <a:cxn ang="0">
                  <a:pos x="27" y="60"/>
                </a:cxn>
                <a:cxn ang="0">
                  <a:pos x="23" y="55"/>
                </a:cxn>
                <a:cxn ang="0">
                  <a:pos x="21" y="52"/>
                </a:cxn>
                <a:cxn ang="0">
                  <a:pos x="16" y="47"/>
                </a:cxn>
                <a:cxn ang="0">
                  <a:pos x="8" y="37"/>
                </a:cxn>
                <a:cxn ang="0">
                  <a:pos x="8" y="34"/>
                </a:cxn>
                <a:cxn ang="0">
                  <a:pos x="6" y="35"/>
                </a:cxn>
                <a:cxn ang="0">
                  <a:pos x="5" y="30"/>
                </a:cxn>
                <a:cxn ang="0">
                  <a:pos x="0" y="32"/>
                </a:cxn>
                <a:cxn ang="0">
                  <a:pos x="2" y="31"/>
                </a:cxn>
                <a:cxn ang="0">
                  <a:pos x="5" y="24"/>
                </a:cxn>
                <a:cxn ang="0">
                  <a:pos x="20" y="18"/>
                </a:cxn>
                <a:cxn ang="0">
                  <a:pos x="20" y="8"/>
                </a:cxn>
                <a:cxn ang="0">
                  <a:pos x="22" y="0"/>
                </a:cxn>
                <a:cxn ang="0">
                  <a:pos x="36" y="4"/>
                </a:cxn>
                <a:cxn ang="0">
                  <a:pos x="59" y="5"/>
                </a:cxn>
                <a:cxn ang="0">
                  <a:pos x="57" y="10"/>
                </a:cxn>
                <a:cxn ang="0">
                  <a:pos x="66" y="10"/>
                </a:cxn>
                <a:cxn ang="0">
                  <a:pos x="71" y="12"/>
                </a:cxn>
                <a:cxn ang="0">
                  <a:pos x="81" y="11"/>
                </a:cxn>
                <a:cxn ang="0">
                  <a:pos x="92" y="7"/>
                </a:cxn>
                <a:cxn ang="0">
                  <a:pos x="94" y="4"/>
                </a:cxn>
                <a:cxn ang="0">
                  <a:pos x="99" y="18"/>
                </a:cxn>
                <a:cxn ang="0">
                  <a:pos x="105" y="23"/>
                </a:cxn>
              </a:cxnLst>
              <a:rect l="0" t="0" r="r" b="b"/>
              <a:pathLst>
                <a:path w="116" h="97">
                  <a:moveTo>
                    <a:pt x="105" y="23"/>
                  </a:moveTo>
                  <a:lnTo>
                    <a:pt x="102" y="29"/>
                  </a:lnTo>
                  <a:lnTo>
                    <a:pt x="105" y="29"/>
                  </a:lnTo>
                  <a:lnTo>
                    <a:pt x="112" y="46"/>
                  </a:lnTo>
                  <a:lnTo>
                    <a:pt x="111" y="59"/>
                  </a:lnTo>
                  <a:lnTo>
                    <a:pt x="113" y="62"/>
                  </a:lnTo>
                  <a:lnTo>
                    <a:pt x="114" y="66"/>
                  </a:lnTo>
                  <a:lnTo>
                    <a:pt x="116" y="72"/>
                  </a:lnTo>
                  <a:lnTo>
                    <a:pt x="116" y="77"/>
                  </a:lnTo>
                  <a:lnTo>
                    <a:pt x="108" y="78"/>
                  </a:lnTo>
                  <a:lnTo>
                    <a:pt x="111" y="85"/>
                  </a:lnTo>
                  <a:lnTo>
                    <a:pt x="106" y="91"/>
                  </a:lnTo>
                  <a:lnTo>
                    <a:pt x="105" y="92"/>
                  </a:lnTo>
                  <a:lnTo>
                    <a:pt x="100" y="92"/>
                  </a:lnTo>
                  <a:lnTo>
                    <a:pt x="93" y="97"/>
                  </a:lnTo>
                  <a:lnTo>
                    <a:pt x="89" y="94"/>
                  </a:lnTo>
                  <a:lnTo>
                    <a:pt x="84" y="76"/>
                  </a:lnTo>
                  <a:lnTo>
                    <a:pt x="76" y="76"/>
                  </a:lnTo>
                  <a:lnTo>
                    <a:pt x="70" y="77"/>
                  </a:lnTo>
                  <a:lnTo>
                    <a:pt x="71" y="65"/>
                  </a:lnTo>
                  <a:lnTo>
                    <a:pt x="62" y="48"/>
                  </a:lnTo>
                  <a:lnTo>
                    <a:pt x="40" y="54"/>
                  </a:lnTo>
                  <a:lnTo>
                    <a:pt x="28" y="66"/>
                  </a:lnTo>
                  <a:lnTo>
                    <a:pt x="27" y="60"/>
                  </a:lnTo>
                  <a:lnTo>
                    <a:pt x="23" y="55"/>
                  </a:lnTo>
                  <a:lnTo>
                    <a:pt x="21" y="52"/>
                  </a:lnTo>
                  <a:lnTo>
                    <a:pt x="16" y="47"/>
                  </a:lnTo>
                  <a:lnTo>
                    <a:pt x="8" y="37"/>
                  </a:lnTo>
                  <a:lnTo>
                    <a:pt x="8" y="34"/>
                  </a:lnTo>
                  <a:lnTo>
                    <a:pt x="6" y="35"/>
                  </a:lnTo>
                  <a:lnTo>
                    <a:pt x="5" y="30"/>
                  </a:lnTo>
                  <a:lnTo>
                    <a:pt x="0" y="32"/>
                  </a:lnTo>
                  <a:lnTo>
                    <a:pt x="2" y="31"/>
                  </a:lnTo>
                  <a:lnTo>
                    <a:pt x="5" y="24"/>
                  </a:lnTo>
                  <a:lnTo>
                    <a:pt x="20" y="18"/>
                  </a:lnTo>
                  <a:lnTo>
                    <a:pt x="20" y="8"/>
                  </a:lnTo>
                  <a:lnTo>
                    <a:pt x="22" y="0"/>
                  </a:lnTo>
                  <a:lnTo>
                    <a:pt x="36" y="4"/>
                  </a:lnTo>
                  <a:lnTo>
                    <a:pt x="59" y="5"/>
                  </a:lnTo>
                  <a:lnTo>
                    <a:pt x="57" y="10"/>
                  </a:lnTo>
                  <a:lnTo>
                    <a:pt x="66" y="10"/>
                  </a:lnTo>
                  <a:lnTo>
                    <a:pt x="71" y="12"/>
                  </a:lnTo>
                  <a:lnTo>
                    <a:pt x="81" y="11"/>
                  </a:lnTo>
                  <a:lnTo>
                    <a:pt x="92" y="7"/>
                  </a:lnTo>
                  <a:lnTo>
                    <a:pt x="94" y="4"/>
                  </a:lnTo>
                  <a:lnTo>
                    <a:pt x="99" y="18"/>
                  </a:lnTo>
                  <a:lnTo>
                    <a:pt x="105" y="2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0" name="Freeform 119"/>
            <p:cNvSpPr>
              <a:spLocks/>
            </p:cNvSpPr>
            <p:nvPr/>
          </p:nvSpPr>
          <p:spPr bwMode="auto">
            <a:xfrm>
              <a:off x="2240" y="2452"/>
              <a:ext cx="51" cy="35"/>
            </a:xfrm>
            <a:custGeom>
              <a:avLst/>
              <a:gdLst/>
              <a:ahLst/>
              <a:cxnLst>
                <a:cxn ang="0">
                  <a:pos x="24" y="19"/>
                </a:cxn>
                <a:cxn ang="0">
                  <a:pos x="22" y="24"/>
                </a:cxn>
                <a:cxn ang="0">
                  <a:pos x="24" y="29"/>
                </a:cxn>
                <a:cxn ang="0">
                  <a:pos x="27" y="31"/>
                </a:cxn>
                <a:cxn ang="0">
                  <a:pos x="30" y="24"/>
                </a:cxn>
                <a:cxn ang="0">
                  <a:pos x="45" y="18"/>
                </a:cxn>
                <a:cxn ang="0">
                  <a:pos x="45" y="8"/>
                </a:cxn>
                <a:cxn ang="0">
                  <a:pos x="47" y="0"/>
                </a:cxn>
                <a:cxn ang="0">
                  <a:pos x="34" y="1"/>
                </a:cxn>
                <a:cxn ang="0">
                  <a:pos x="21" y="2"/>
                </a:cxn>
                <a:cxn ang="0">
                  <a:pos x="0" y="7"/>
                </a:cxn>
                <a:cxn ang="0">
                  <a:pos x="7" y="7"/>
                </a:cxn>
                <a:cxn ang="0">
                  <a:pos x="5" y="11"/>
                </a:cxn>
                <a:cxn ang="0">
                  <a:pos x="13" y="12"/>
                </a:cxn>
                <a:cxn ang="0">
                  <a:pos x="12" y="14"/>
                </a:cxn>
                <a:cxn ang="0">
                  <a:pos x="23" y="14"/>
                </a:cxn>
                <a:cxn ang="0">
                  <a:pos x="27" y="17"/>
                </a:cxn>
                <a:cxn ang="0">
                  <a:pos x="18" y="18"/>
                </a:cxn>
                <a:cxn ang="0">
                  <a:pos x="24" y="19"/>
                </a:cxn>
              </a:cxnLst>
              <a:rect l="0" t="0" r="r" b="b"/>
              <a:pathLst>
                <a:path w="47" h="31">
                  <a:moveTo>
                    <a:pt x="24" y="19"/>
                  </a:moveTo>
                  <a:lnTo>
                    <a:pt x="22" y="24"/>
                  </a:lnTo>
                  <a:lnTo>
                    <a:pt x="24" y="29"/>
                  </a:lnTo>
                  <a:lnTo>
                    <a:pt x="27" y="31"/>
                  </a:lnTo>
                  <a:lnTo>
                    <a:pt x="30" y="24"/>
                  </a:lnTo>
                  <a:lnTo>
                    <a:pt x="45" y="18"/>
                  </a:lnTo>
                  <a:lnTo>
                    <a:pt x="45" y="8"/>
                  </a:lnTo>
                  <a:lnTo>
                    <a:pt x="47" y="0"/>
                  </a:lnTo>
                  <a:lnTo>
                    <a:pt x="34" y="1"/>
                  </a:lnTo>
                  <a:lnTo>
                    <a:pt x="21" y="2"/>
                  </a:lnTo>
                  <a:lnTo>
                    <a:pt x="0" y="7"/>
                  </a:lnTo>
                  <a:lnTo>
                    <a:pt x="7" y="7"/>
                  </a:lnTo>
                  <a:lnTo>
                    <a:pt x="5" y="11"/>
                  </a:lnTo>
                  <a:lnTo>
                    <a:pt x="13" y="12"/>
                  </a:lnTo>
                  <a:lnTo>
                    <a:pt x="12" y="14"/>
                  </a:lnTo>
                  <a:lnTo>
                    <a:pt x="23" y="14"/>
                  </a:lnTo>
                  <a:lnTo>
                    <a:pt x="27" y="17"/>
                  </a:lnTo>
                  <a:lnTo>
                    <a:pt x="18" y="18"/>
                  </a:lnTo>
                  <a:lnTo>
                    <a:pt x="24"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1" name="Freeform 120"/>
            <p:cNvSpPr>
              <a:spLocks/>
            </p:cNvSpPr>
            <p:nvPr/>
          </p:nvSpPr>
          <p:spPr bwMode="auto">
            <a:xfrm>
              <a:off x="2382" y="2492"/>
              <a:ext cx="105" cy="127"/>
            </a:xfrm>
            <a:custGeom>
              <a:avLst/>
              <a:gdLst/>
              <a:ahLst/>
              <a:cxnLst>
                <a:cxn ang="0">
                  <a:pos x="53" y="7"/>
                </a:cxn>
                <a:cxn ang="0">
                  <a:pos x="47" y="5"/>
                </a:cxn>
                <a:cxn ang="0">
                  <a:pos x="36" y="7"/>
                </a:cxn>
                <a:cxn ang="0">
                  <a:pos x="33" y="0"/>
                </a:cxn>
                <a:cxn ang="0">
                  <a:pos x="27" y="4"/>
                </a:cxn>
                <a:cxn ang="0">
                  <a:pos x="20" y="8"/>
                </a:cxn>
                <a:cxn ang="0">
                  <a:pos x="11" y="6"/>
                </a:cxn>
                <a:cxn ang="0">
                  <a:pos x="7" y="10"/>
                </a:cxn>
                <a:cxn ang="0">
                  <a:pos x="6" y="23"/>
                </a:cxn>
                <a:cxn ang="0">
                  <a:pos x="8" y="26"/>
                </a:cxn>
                <a:cxn ang="0">
                  <a:pos x="9" y="30"/>
                </a:cxn>
                <a:cxn ang="0">
                  <a:pos x="11" y="36"/>
                </a:cxn>
                <a:cxn ang="0">
                  <a:pos x="11" y="41"/>
                </a:cxn>
                <a:cxn ang="0">
                  <a:pos x="3" y="42"/>
                </a:cxn>
                <a:cxn ang="0">
                  <a:pos x="6" y="49"/>
                </a:cxn>
                <a:cxn ang="0">
                  <a:pos x="1" y="55"/>
                </a:cxn>
                <a:cxn ang="0">
                  <a:pos x="0" y="56"/>
                </a:cxn>
                <a:cxn ang="0">
                  <a:pos x="0" y="72"/>
                </a:cxn>
                <a:cxn ang="0">
                  <a:pos x="0" y="76"/>
                </a:cxn>
                <a:cxn ang="0">
                  <a:pos x="9" y="84"/>
                </a:cxn>
                <a:cxn ang="0">
                  <a:pos x="17" y="92"/>
                </a:cxn>
                <a:cxn ang="0">
                  <a:pos x="14" y="114"/>
                </a:cxn>
                <a:cxn ang="0">
                  <a:pos x="35" y="107"/>
                </a:cxn>
                <a:cxn ang="0">
                  <a:pos x="54" y="100"/>
                </a:cxn>
                <a:cxn ang="0">
                  <a:pos x="49" y="100"/>
                </a:cxn>
                <a:cxn ang="0">
                  <a:pos x="69" y="98"/>
                </a:cxn>
                <a:cxn ang="0">
                  <a:pos x="60" y="98"/>
                </a:cxn>
                <a:cxn ang="0">
                  <a:pos x="72" y="97"/>
                </a:cxn>
                <a:cxn ang="0">
                  <a:pos x="81" y="98"/>
                </a:cxn>
                <a:cxn ang="0">
                  <a:pos x="84" y="101"/>
                </a:cxn>
                <a:cxn ang="0">
                  <a:pos x="89" y="97"/>
                </a:cxn>
                <a:cxn ang="0">
                  <a:pos x="86" y="83"/>
                </a:cxn>
                <a:cxn ang="0">
                  <a:pos x="83" y="70"/>
                </a:cxn>
                <a:cxn ang="0">
                  <a:pos x="89" y="58"/>
                </a:cxn>
                <a:cxn ang="0">
                  <a:pos x="93" y="44"/>
                </a:cxn>
                <a:cxn ang="0">
                  <a:pos x="91" y="22"/>
                </a:cxn>
                <a:cxn ang="0">
                  <a:pos x="77" y="13"/>
                </a:cxn>
                <a:cxn ang="0">
                  <a:pos x="62" y="18"/>
                </a:cxn>
                <a:cxn ang="0">
                  <a:pos x="53" y="7"/>
                </a:cxn>
              </a:cxnLst>
              <a:rect l="0" t="0" r="r" b="b"/>
              <a:pathLst>
                <a:path w="93" h="114">
                  <a:moveTo>
                    <a:pt x="53" y="7"/>
                  </a:moveTo>
                  <a:lnTo>
                    <a:pt x="47" y="5"/>
                  </a:lnTo>
                  <a:lnTo>
                    <a:pt x="36" y="7"/>
                  </a:lnTo>
                  <a:lnTo>
                    <a:pt x="33" y="0"/>
                  </a:lnTo>
                  <a:lnTo>
                    <a:pt x="27" y="4"/>
                  </a:lnTo>
                  <a:lnTo>
                    <a:pt x="20" y="8"/>
                  </a:lnTo>
                  <a:lnTo>
                    <a:pt x="11" y="6"/>
                  </a:lnTo>
                  <a:lnTo>
                    <a:pt x="7" y="10"/>
                  </a:lnTo>
                  <a:lnTo>
                    <a:pt x="6" y="23"/>
                  </a:lnTo>
                  <a:lnTo>
                    <a:pt x="8" y="26"/>
                  </a:lnTo>
                  <a:lnTo>
                    <a:pt x="9" y="30"/>
                  </a:lnTo>
                  <a:lnTo>
                    <a:pt x="11" y="36"/>
                  </a:lnTo>
                  <a:lnTo>
                    <a:pt x="11" y="41"/>
                  </a:lnTo>
                  <a:lnTo>
                    <a:pt x="3" y="42"/>
                  </a:lnTo>
                  <a:lnTo>
                    <a:pt x="6" y="49"/>
                  </a:lnTo>
                  <a:lnTo>
                    <a:pt x="1" y="55"/>
                  </a:lnTo>
                  <a:lnTo>
                    <a:pt x="0" y="56"/>
                  </a:lnTo>
                  <a:lnTo>
                    <a:pt x="0" y="72"/>
                  </a:lnTo>
                  <a:lnTo>
                    <a:pt x="0" y="76"/>
                  </a:lnTo>
                  <a:lnTo>
                    <a:pt x="9" y="84"/>
                  </a:lnTo>
                  <a:lnTo>
                    <a:pt x="17" y="92"/>
                  </a:lnTo>
                  <a:lnTo>
                    <a:pt x="14" y="114"/>
                  </a:lnTo>
                  <a:lnTo>
                    <a:pt x="35" y="107"/>
                  </a:lnTo>
                  <a:lnTo>
                    <a:pt x="54" y="100"/>
                  </a:lnTo>
                  <a:lnTo>
                    <a:pt x="49" y="100"/>
                  </a:lnTo>
                  <a:lnTo>
                    <a:pt x="69" y="98"/>
                  </a:lnTo>
                  <a:lnTo>
                    <a:pt x="60" y="98"/>
                  </a:lnTo>
                  <a:lnTo>
                    <a:pt x="72" y="97"/>
                  </a:lnTo>
                  <a:lnTo>
                    <a:pt x="81" y="98"/>
                  </a:lnTo>
                  <a:lnTo>
                    <a:pt x="84" y="101"/>
                  </a:lnTo>
                  <a:lnTo>
                    <a:pt x="89" y="97"/>
                  </a:lnTo>
                  <a:lnTo>
                    <a:pt x="86" y="83"/>
                  </a:lnTo>
                  <a:lnTo>
                    <a:pt x="83" y="70"/>
                  </a:lnTo>
                  <a:lnTo>
                    <a:pt x="89" y="58"/>
                  </a:lnTo>
                  <a:lnTo>
                    <a:pt x="93" y="44"/>
                  </a:lnTo>
                  <a:lnTo>
                    <a:pt x="91" y="22"/>
                  </a:lnTo>
                  <a:lnTo>
                    <a:pt x="77" y="13"/>
                  </a:lnTo>
                  <a:lnTo>
                    <a:pt x="62" y="18"/>
                  </a:lnTo>
                  <a:lnTo>
                    <a:pt x="53"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2" name="Freeform 121"/>
            <p:cNvSpPr>
              <a:spLocks/>
            </p:cNvSpPr>
            <p:nvPr/>
          </p:nvSpPr>
          <p:spPr bwMode="auto">
            <a:xfrm>
              <a:off x="2298" y="2505"/>
              <a:ext cx="53" cy="62"/>
            </a:xfrm>
            <a:custGeom>
              <a:avLst/>
              <a:gdLst/>
              <a:ahLst/>
              <a:cxnLst>
                <a:cxn ang="0">
                  <a:pos x="48" y="28"/>
                </a:cxn>
                <a:cxn ang="0">
                  <a:pos x="41" y="38"/>
                </a:cxn>
                <a:cxn ang="0">
                  <a:pos x="34" y="49"/>
                </a:cxn>
                <a:cxn ang="0">
                  <a:pos x="29" y="55"/>
                </a:cxn>
                <a:cxn ang="0">
                  <a:pos x="12" y="47"/>
                </a:cxn>
                <a:cxn ang="0">
                  <a:pos x="16" y="44"/>
                </a:cxn>
                <a:cxn ang="0">
                  <a:pos x="12" y="42"/>
                </a:cxn>
                <a:cxn ang="0">
                  <a:pos x="1" y="30"/>
                </a:cxn>
                <a:cxn ang="0">
                  <a:pos x="6" y="26"/>
                </a:cxn>
                <a:cxn ang="0">
                  <a:pos x="1" y="24"/>
                </a:cxn>
                <a:cxn ang="0">
                  <a:pos x="5" y="22"/>
                </a:cxn>
                <a:cxn ang="0">
                  <a:pos x="0" y="18"/>
                </a:cxn>
                <a:cxn ang="0">
                  <a:pos x="12" y="6"/>
                </a:cxn>
                <a:cxn ang="0">
                  <a:pos x="34" y="0"/>
                </a:cxn>
                <a:cxn ang="0">
                  <a:pos x="43" y="17"/>
                </a:cxn>
                <a:cxn ang="0">
                  <a:pos x="42" y="29"/>
                </a:cxn>
                <a:cxn ang="0">
                  <a:pos x="48" y="28"/>
                </a:cxn>
              </a:cxnLst>
              <a:rect l="0" t="0" r="r" b="b"/>
              <a:pathLst>
                <a:path w="48" h="55">
                  <a:moveTo>
                    <a:pt x="48" y="28"/>
                  </a:moveTo>
                  <a:lnTo>
                    <a:pt x="41" y="38"/>
                  </a:lnTo>
                  <a:lnTo>
                    <a:pt x="34" y="49"/>
                  </a:lnTo>
                  <a:lnTo>
                    <a:pt x="29" y="55"/>
                  </a:lnTo>
                  <a:lnTo>
                    <a:pt x="12" y="47"/>
                  </a:lnTo>
                  <a:lnTo>
                    <a:pt x="16" y="44"/>
                  </a:lnTo>
                  <a:lnTo>
                    <a:pt x="12" y="42"/>
                  </a:lnTo>
                  <a:lnTo>
                    <a:pt x="1" y="30"/>
                  </a:lnTo>
                  <a:lnTo>
                    <a:pt x="6" y="26"/>
                  </a:lnTo>
                  <a:lnTo>
                    <a:pt x="1" y="24"/>
                  </a:lnTo>
                  <a:lnTo>
                    <a:pt x="5" y="22"/>
                  </a:lnTo>
                  <a:lnTo>
                    <a:pt x="0" y="18"/>
                  </a:lnTo>
                  <a:lnTo>
                    <a:pt x="12" y="6"/>
                  </a:lnTo>
                  <a:lnTo>
                    <a:pt x="34" y="0"/>
                  </a:lnTo>
                  <a:lnTo>
                    <a:pt x="43" y="17"/>
                  </a:lnTo>
                  <a:lnTo>
                    <a:pt x="42" y="29"/>
                  </a:lnTo>
                  <a:lnTo>
                    <a:pt x="48"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3" name="Freeform 122"/>
            <p:cNvSpPr>
              <a:spLocks/>
            </p:cNvSpPr>
            <p:nvPr/>
          </p:nvSpPr>
          <p:spPr bwMode="auto">
            <a:xfrm>
              <a:off x="2529" y="2483"/>
              <a:ext cx="31" cy="100"/>
            </a:xfrm>
            <a:custGeom>
              <a:avLst/>
              <a:gdLst/>
              <a:ahLst/>
              <a:cxnLst>
                <a:cxn ang="0">
                  <a:pos x="13" y="2"/>
                </a:cxn>
                <a:cxn ang="0">
                  <a:pos x="0" y="0"/>
                </a:cxn>
                <a:cxn ang="0">
                  <a:pos x="2" y="6"/>
                </a:cxn>
                <a:cxn ang="0">
                  <a:pos x="8" y="21"/>
                </a:cxn>
                <a:cxn ang="0">
                  <a:pos x="8" y="30"/>
                </a:cxn>
                <a:cxn ang="0">
                  <a:pos x="9" y="42"/>
                </a:cxn>
                <a:cxn ang="0">
                  <a:pos x="12" y="54"/>
                </a:cxn>
                <a:cxn ang="0">
                  <a:pos x="13" y="68"/>
                </a:cxn>
                <a:cxn ang="0">
                  <a:pos x="13" y="81"/>
                </a:cxn>
                <a:cxn ang="0">
                  <a:pos x="21" y="91"/>
                </a:cxn>
                <a:cxn ang="0">
                  <a:pos x="28" y="88"/>
                </a:cxn>
                <a:cxn ang="0">
                  <a:pos x="27" y="75"/>
                </a:cxn>
                <a:cxn ang="0">
                  <a:pos x="27" y="62"/>
                </a:cxn>
                <a:cxn ang="0">
                  <a:pos x="26" y="48"/>
                </a:cxn>
                <a:cxn ang="0">
                  <a:pos x="26" y="34"/>
                </a:cxn>
                <a:cxn ang="0">
                  <a:pos x="24" y="20"/>
                </a:cxn>
                <a:cxn ang="0">
                  <a:pos x="15" y="10"/>
                </a:cxn>
                <a:cxn ang="0">
                  <a:pos x="16" y="2"/>
                </a:cxn>
                <a:cxn ang="0">
                  <a:pos x="13" y="2"/>
                </a:cxn>
              </a:cxnLst>
              <a:rect l="0" t="0" r="r" b="b"/>
              <a:pathLst>
                <a:path w="28" h="91">
                  <a:moveTo>
                    <a:pt x="13" y="2"/>
                  </a:moveTo>
                  <a:lnTo>
                    <a:pt x="0" y="0"/>
                  </a:lnTo>
                  <a:lnTo>
                    <a:pt x="2" y="6"/>
                  </a:lnTo>
                  <a:lnTo>
                    <a:pt x="8" y="21"/>
                  </a:lnTo>
                  <a:lnTo>
                    <a:pt x="8" y="30"/>
                  </a:lnTo>
                  <a:lnTo>
                    <a:pt x="9" y="42"/>
                  </a:lnTo>
                  <a:lnTo>
                    <a:pt x="12" y="54"/>
                  </a:lnTo>
                  <a:lnTo>
                    <a:pt x="13" y="68"/>
                  </a:lnTo>
                  <a:lnTo>
                    <a:pt x="13" y="81"/>
                  </a:lnTo>
                  <a:lnTo>
                    <a:pt x="21" y="91"/>
                  </a:lnTo>
                  <a:lnTo>
                    <a:pt x="28" y="88"/>
                  </a:lnTo>
                  <a:lnTo>
                    <a:pt x="27" y="75"/>
                  </a:lnTo>
                  <a:lnTo>
                    <a:pt x="27" y="62"/>
                  </a:lnTo>
                  <a:lnTo>
                    <a:pt x="26" y="48"/>
                  </a:lnTo>
                  <a:lnTo>
                    <a:pt x="26" y="34"/>
                  </a:lnTo>
                  <a:lnTo>
                    <a:pt x="24" y="20"/>
                  </a:lnTo>
                  <a:lnTo>
                    <a:pt x="15" y="10"/>
                  </a:lnTo>
                  <a:lnTo>
                    <a:pt x="16" y="2"/>
                  </a:lnTo>
                  <a:lnTo>
                    <a:pt x="1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4" name="Freeform 123"/>
            <p:cNvSpPr>
              <a:spLocks/>
            </p:cNvSpPr>
            <p:nvPr/>
          </p:nvSpPr>
          <p:spPr bwMode="auto">
            <a:xfrm>
              <a:off x="2382" y="1970"/>
              <a:ext cx="356" cy="353"/>
            </a:xfrm>
            <a:custGeom>
              <a:avLst/>
              <a:gdLst/>
              <a:ahLst/>
              <a:cxnLst>
                <a:cxn ang="0">
                  <a:pos x="0" y="165"/>
                </a:cxn>
                <a:cxn ang="0">
                  <a:pos x="15" y="182"/>
                </a:cxn>
                <a:cxn ang="0">
                  <a:pos x="44" y="202"/>
                </a:cxn>
                <a:cxn ang="0">
                  <a:pos x="71" y="222"/>
                </a:cxn>
                <a:cxn ang="0">
                  <a:pos x="93" y="240"/>
                </a:cxn>
                <a:cxn ang="0">
                  <a:pos x="116" y="256"/>
                </a:cxn>
                <a:cxn ang="0">
                  <a:pos x="140" y="274"/>
                </a:cxn>
                <a:cxn ang="0">
                  <a:pos x="151" y="289"/>
                </a:cxn>
                <a:cxn ang="0">
                  <a:pos x="181" y="304"/>
                </a:cxn>
                <a:cxn ang="0">
                  <a:pos x="199" y="318"/>
                </a:cxn>
                <a:cxn ang="0">
                  <a:pos x="224" y="313"/>
                </a:cxn>
                <a:cxn ang="0">
                  <a:pos x="249" y="288"/>
                </a:cxn>
                <a:cxn ang="0">
                  <a:pos x="284" y="264"/>
                </a:cxn>
                <a:cxn ang="0">
                  <a:pos x="319" y="240"/>
                </a:cxn>
                <a:cxn ang="0">
                  <a:pos x="294" y="223"/>
                </a:cxn>
                <a:cxn ang="0">
                  <a:pos x="278" y="193"/>
                </a:cxn>
                <a:cxn ang="0">
                  <a:pos x="284" y="165"/>
                </a:cxn>
                <a:cxn ang="0">
                  <a:pos x="277" y="123"/>
                </a:cxn>
                <a:cxn ang="0">
                  <a:pos x="275" y="103"/>
                </a:cxn>
                <a:cxn ang="0">
                  <a:pos x="258" y="73"/>
                </a:cxn>
                <a:cxn ang="0">
                  <a:pos x="253" y="42"/>
                </a:cxn>
                <a:cxn ang="0">
                  <a:pos x="258" y="4"/>
                </a:cxn>
                <a:cxn ang="0">
                  <a:pos x="237" y="0"/>
                </a:cxn>
                <a:cxn ang="0">
                  <a:pos x="209" y="2"/>
                </a:cxn>
                <a:cxn ang="0">
                  <a:pos x="175" y="2"/>
                </a:cxn>
                <a:cxn ang="0">
                  <a:pos x="137" y="14"/>
                </a:cxn>
                <a:cxn ang="0">
                  <a:pos x="114" y="25"/>
                </a:cxn>
                <a:cxn ang="0">
                  <a:pos x="104" y="36"/>
                </a:cxn>
                <a:cxn ang="0">
                  <a:pos x="108" y="62"/>
                </a:cxn>
                <a:cxn ang="0">
                  <a:pos x="114" y="84"/>
                </a:cxn>
                <a:cxn ang="0">
                  <a:pos x="78" y="92"/>
                </a:cxn>
                <a:cxn ang="0">
                  <a:pos x="67" y="111"/>
                </a:cxn>
                <a:cxn ang="0">
                  <a:pos x="42" y="124"/>
                </a:cxn>
                <a:cxn ang="0">
                  <a:pos x="17" y="138"/>
                </a:cxn>
              </a:cxnLst>
              <a:rect l="0" t="0" r="r" b="b"/>
              <a:pathLst>
                <a:path w="319" h="318">
                  <a:moveTo>
                    <a:pt x="3" y="144"/>
                  </a:moveTo>
                  <a:lnTo>
                    <a:pt x="0" y="165"/>
                  </a:lnTo>
                  <a:lnTo>
                    <a:pt x="0" y="172"/>
                  </a:lnTo>
                  <a:lnTo>
                    <a:pt x="15" y="182"/>
                  </a:lnTo>
                  <a:lnTo>
                    <a:pt x="30" y="193"/>
                  </a:lnTo>
                  <a:lnTo>
                    <a:pt x="44" y="202"/>
                  </a:lnTo>
                  <a:lnTo>
                    <a:pt x="59" y="213"/>
                  </a:lnTo>
                  <a:lnTo>
                    <a:pt x="71" y="222"/>
                  </a:lnTo>
                  <a:lnTo>
                    <a:pt x="81" y="230"/>
                  </a:lnTo>
                  <a:lnTo>
                    <a:pt x="93" y="240"/>
                  </a:lnTo>
                  <a:lnTo>
                    <a:pt x="105" y="248"/>
                  </a:lnTo>
                  <a:lnTo>
                    <a:pt x="116" y="256"/>
                  </a:lnTo>
                  <a:lnTo>
                    <a:pt x="128" y="266"/>
                  </a:lnTo>
                  <a:lnTo>
                    <a:pt x="140" y="274"/>
                  </a:lnTo>
                  <a:lnTo>
                    <a:pt x="151" y="283"/>
                  </a:lnTo>
                  <a:lnTo>
                    <a:pt x="151" y="289"/>
                  </a:lnTo>
                  <a:lnTo>
                    <a:pt x="159" y="295"/>
                  </a:lnTo>
                  <a:lnTo>
                    <a:pt x="181" y="304"/>
                  </a:lnTo>
                  <a:lnTo>
                    <a:pt x="182" y="318"/>
                  </a:lnTo>
                  <a:lnTo>
                    <a:pt x="199" y="318"/>
                  </a:lnTo>
                  <a:lnTo>
                    <a:pt x="212" y="315"/>
                  </a:lnTo>
                  <a:lnTo>
                    <a:pt x="224" y="313"/>
                  </a:lnTo>
                  <a:lnTo>
                    <a:pt x="236" y="300"/>
                  </a:lnTo>
                  <a:lnTo>
                    <a:pt x="249" y="288"/>
                  </a:lnTo>
                  <a:lnTo>
                    <a:pt x="266" y="276"/>
                  </a:lnTo>
                  <a:lnTo>
                    <a:pt x="284" y="264"/>
                  </a:lnTo>
                  <a:lnTo>
                    <a:pt x="301" y="252"/>
                  </a:lnTo>
                  <a:lnTo>
                    <a:pt x="319" y="240"/>
                  </a:lnTo>
                  <a:lnTo>
                    <a:pt x="312" y="225"/>
                  </a:lnTo>
                  <a:lnTo>
                    <a:pt x="294" y="223"/>
                  </a:lnTo>
                  <a:lnTo>
                    <a:pt x="288" y="207"/>
                  </a:lnTo>
                  <a:lnTo>
                    <a:pt x="278" y="193"/>
                  </a:lnTo>
                  <a:lnTo>
                    <a:pt x="285" y="186"/>
                  </a:lnTo>
                  <a:lnTo>
                    <a:pt x="284" y="165"/>
                  </a:lnTo>
                  <a:lnTo>
                    <a:pt x="284" y="145"/>
                  </a:lnTo>
                  <a:lnTo>
                    <a:pt x="277" y="123"/>
                  </a:lnTo>
                  <a:lnTo>
                    <a:pt x="278" y="120"/>
                  </a:lnTo>
                  <a:lnTo>
                    <a:pt x="275" y="103"/>
                  </a:lnTo>
                  <a:lnTo>
                    <a:pt x="270" y="86"/>
                  </a:lnTo>
                  <a:lnTo>
                    <a:pt x="258" y="73"/>
                  </a:lnTo>
                  <a:lnTo>
                    <a:pt x="246" y="55"/>
                  </a:lnTo>
                  <a:lnTo>
                    <a:pt x="253" y="42"/>
                  </a:lnTo>
                  <a:lnTo>
                    <a:pt x="259" y="28"/>
                  </a:lnTo>
                  <a:lnTo>
                    <a:pt x="258" y="4"/>
                  </a:lnTo>
                  <a:lnTo>
                    <a:pt x="261" y="0"/>
                  </a:lnTo>
                  <a:lnTo>
                    <a:pt x="237" y="0"/>
                  </a:lnTo>
                  <a:lnTo>
                    <a:pt x="225" y="0"/>
                  </a:lnTo>
                  <a:lnTo>
                    <a:pt x="209" y="2"/>
                  </a:lnTo>
                  <a:lnTo>
                    <a:pt x="192" y="2"/>
                  </a:lnTo>
                  <a:lnTo>
                    <a:pt x="175" y="2"/>
                  </a:lnTo>
                  <a:lnTo>
                    <a:pt x="156" y="8"/>
                  </a:lnTo>
                  <a:lnTo>
                    <a:pt x="137" y="14"/>
                  </a:lnTo>
                  <a:lnTo>
                    <a:pt x="128" y="18"/>
                  </a:lnTo>
                  <a:lnTo>
                    <a:pt x="114" y="25"/>
                  </a:lnTo>
                  <a:lnTo>
                    <a:pt x="101" y="32"/>
                  </a:lnTo>
                  <a:lnTo>
                    <a:pt x="104" y="36"/>
                  </a:lnTo>
                  <a:lnTo>
                    <a:pt x="105" y="49"/>
                  </a:lnTo>
                  <a:lnTo>
                    <a:pt x="108" y="62"/>
                  </a:lnTo>
                  <a:lnTo>
                    <a:pt x="117" y="79"/>
                  </a:lnTo>
                  <a:lnTo>
                    <a:pt x="114" y="84"/>
                  </a:lnTo>
                  <a:lnTo>
                    <a:pt x="98" y="85"/>
                  </a:lnTo>
                  <a:lnTo>
                    <a:pt x="78" y="92"/>
                  </a:lnTo>
                  <a:lnTo>
                    <a:pt x="78" y="103"/>
                  </a:lnTo>
                  <a:lnTo>
                    <a:pt x="67" y="111"/>
                  </a:lnTo>
                  <a:lnTo>
                    <a:pt x="56" y="118"/>
                  </a:lnTo>
                  <a:lnTo>
                    <a:pt x="42" y="124"/>
                  </a:lnTo>
                  <a:lnTo>
                    <a:pt x="29" y="130"/>
                  </a:lnTo>
                  <a:lnTo>
                    <a:pt x="17" y="138"/>
                  </a:lnTo>
                  <a:lnTo>
                    <a:pt x="3" y="1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5" name="Freeform 124"/>
            <p:cNvSpPr>
              <a:spLocks/>
            </p:cNvSpPr>
            <p:nvPr/>
          </p:nvSpPr>
          <p:spPr bwMode="auto">
            <a:xfrm>
              <a:off x="2289" y="2130"/>
              <a:ext cx="11" cy="11"/>
            </a:xfrm>
            <a:custGeom>
              <a:avLst/>
              <a:gdLst/>
              <a:ahLst/>
              <a:cxnLst>
                <a:cxn ang="0">
                  <a:pos x="9" y="0"/>
                </a:cxn>
                <a:cxn ang="0">
                  <a:pos x="8" y="7"/>
                </a:cxn>
                <a:cxn ang="0">
                  <a:pos x="0" y="9"/>
                </a:cxn>
                <a:cxn ang="0">
                  <a:pos x="9" y="0"/>
                </a:cxn>
              </a:cxnLst>
              <a:rect l="0" t="0" r="r" b="b"/>
              <a:pathLst>
                <a:path w="9" h="9">
                  <a:moveTo>
                    <a:pt x="9" y="0"/>
                  </a:moveTo>
                  <a:lnTo>
                    <a:pt x="8" y="7"/>
                  </a:lnTo>
                  <a:lnTo>
                    <a:pt x="0" y="9"/>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6" name="Freeform 125"/>
            <p:cNvSpPr>
              <a:spLocks/>
            </p:cNvSpPr>
            <p:nvPr/>
          </p:nvSpPr>
          <p:spPr bwMode="auto">
            <a:xfrm>
              <a:off x="2247" y="2136"/>
              <a:ext cx="9" cy="9"/>
            </a:xfrm>
            <a:custGeom>
              <a:avLst/>
              <a:gdLst/>
              <a:ahLst/>
              <a:cxnLst>
                <a:cxn ang="0">
                  <a:pos x="8" y="0"/>
                </a:cxn>
                <a:cxn ang="0">
                  <a:pos x="0" y="7"/>
                </a:cxn>
                <a:cxn ang="0">
                  <a:pos x="0" y="1"/>
                </a:cxn>
                <a:cxn ang="0">
                  <a:pos x="8" y="0"/>
                </a:cxn>
              </a:cxnLst>
              <a:rect l="0" t="0" r="r" b="b"/>
              <a:pathLst>
                <a:path w="8" h="7">
                  <a:moveTo>
                    <a:pt x="8" y="0"/>
                  </a:moveTo>
                  <a:lnTo>
                    <a:pt x="0" y="7"/>
                  </a:lnTo>
                  <a:lnTo>
                    <a:pt x="0" y="1"/>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7" name="Freeform 126"/>
            <p:cNvSpPr>
              <a:spLocks/>
            </p:cNvSpPr>
            <p:nvPr/>
          </p:nvSpPr>
          <p:spPr bwMode="auto">
            <a:xfrm>
              <a:off x="2262" y="2147"/>
              <a:ext cx="7" cy="3"/>
            </a:xfrm>
            <a:custGeom>
              <a:avLst/>
              <a:gdLst/>
              <a:ahLst/>
              <a:cxnLst>
                <a:cxn ang="0">
                  <a:pos x="6" y="0"/>
                </a:cxn>
                <a:cxn ang="0">
                  <a:pos x="5" y="4"/>
                </a:cxn>
                <a:cxn ang="0">
                  <a:pos x="0" y="0"/>
                </a:cxn>
                <a:cxn ang="0">
                  <a:pos x="6" y="0"/>
                </a:cxn>
              </a:cxnLst>
              <a:rect l="0" t="0" r="r" b="b"/>
              <a:pathLst>
                <a:path w="6" h="4">
                  <a:moveTo>
                    <a:pt x="6" y="0"/>
                  </a:moveTo>
                  <a:lnTo>
                    <a:pt x="5" y="4"/>
                  </a:lnTo>
                  <a:lnTo>
                    <a:pt x="0" y="0"/>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8" name="Freeform 127"/>
            <p:cNvSpPr>
              <a:spLocks/>
            </p:cNvSpPr>
            <p:nvPr/>
          </p:nvSpPr>
          <p:spPr bwMode="auto">
            <a:xfrm>
              <a:off x="2300" y="2121"/>
              <a:ext cx="7" cy="2"/>
            </a:xfrm>
            <a:custGeom>
              <a:avLst/>
              <a:gdLst/>
              <a:ahLst/>
              <a:cxnLst>
                <a:cxn ang="0">
                  <a:pos x="4" y="3"/>
                </a:cxn>
                <a:cxn ang="0">
                  <a:pos x="6" y="0"/>
                </a:cxn>
                <a:cxn ang="0">
                  <a:pos x="0" y="3"/>
                </a:cxn>
                <a:cxn ang="0">
                  <a:pos x="4" y="3"/>
                </a:cxn>
              </a:cxnLst>
              <a:rect l="0" t="0" r="r" b="b"/>
              <a:pathLst>
                <a:path w="6" h="3">
                  <a:moveTo>
                    <a:pt x="4" y="3"/>
                  </a:moveTo>
                  <a:lnTo>
                    <a:pt x="6" y="0"/>
                  </a:lnTo>
                  <a:lnTo>
                    <a:pt x="0" y="3"/>
                  </a:lnTo>
                  <a:lnTo>
                    <a:pt x="4"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9" name="Freeform 128"/>
            <p:cNvSpPr>
              <a:spLocks/>
            </p:cNvSpPr>
            <p:nvPr/>
          </p:nvSpPr>
          <p:spPr bwMode="auto">
            <a:xfrm>
              <a:off x="2109" y="2374"/>
              <a:ext cx="4" cy="2"/>
            </a:xfrm>
            <a:custGeom>
              <a:avLst/>
              <a:gdLst/>
              <a:ahLst/>
              <a:cxnLst>
                <a:cxn ang="0">
                  <a:pos x="3" y="1"/>
                </a:cxn>
                <a:cxn ang="0">
                  <a:pos x="1" y="1"/>
                </a:cxn>
                <a:cxn ang="0">
                  <a:pos x="0" y="0"/>
                </a:cxn>
                <a:cxn ang="0">
                  <a:pos x="3" y="1"/>
                </a:cxn>
              </a:cxnLst>
              <a:rect l="0" t="0" r="r" b="b"/>
              <a:pathLst>
                <a:path w="3" h="1">
                  <a:moveTo>
                    <a:pt x="3" y="1"/>
                  </a:moveTo>
                  <a:lnTo>
                    <a:pt x="1" y="1"/>
                  </a:lnTo>
                  <a:lnTo>
                    <a:pt x="0" y="0"/>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0" name="Rectangle 129"/>
            <p:cNvSpPr>
              <a:spLocks noChangeArrowheads="1"/>
            </p:cNvSpPr>
            <p:nvPr/>
          </p:nvSpPr>
          <p:spPr bwMode="auto">
            <a:xfrm>
              <a:off x="2442" y="1983"/>
              <a:ext cx="0" cy="2"/>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131" name="Freeform 130"/>
            <p:cNvSpPr>
              <a:spLocks/>
            </p:cNvSpPr>
            <p:nvPr/>
          </p:nvSpPr>
          <p:spPr bwMode="auto">
            <a:xfrm>
              <a:off x="2691" y="2043"/>
              <a:ext cx="273" cy="273"/>
            </a:xfrm>
            <a:custGeom>
              <a:avLst/>
              <a:gdLst/>
              <a:ahLst/>
              <a:cxnLst>
                <a:cxn ang="0">
                  <a:pos x="230" y="245"/>
                </a:cxn>
                <a:cxn ang="0">
                  <a:pos x="230" y="236"/>
                </a:cxn>
                <a:cxn ang="0">
                  <a:pos x="246" y="236"/>
                </a:cxn>
                <a:cxn ang="0">
                  <a:pos x="245" y="218"/>
                </a:cxn>
                <a:cxn ang="0">
                  <a:pos x="245" y="200"/>
                </a:cxn>
                <a:cxn ang="0">
                  <a:pos x="244" y="183"/>
                </a:cxn>
                <a:cxn ang="0">
                  <a:pos x="242" y="167"/>
                </a:cxn>
                <a:cxn ang="0">
                  <a:pos x="241" y="150"/>
                </a:cxn>
                <a:cxn ang="0">
                  <a:pos x="240" y="133"/>
                </a:cxn>
                <a:cxn ang="0">
                  <a:pos x="239" y="116"/>
                </a:cxn>
                <a:cxn ang="0">
                  <a:pos x="238" y="99"/>
                </a:cxn>
                <a:cxn ang="0">
                  <a:pos x="236" y="83"/>
                </a:cxn>
                <a:cxn ang="0">
                  <a:pos x="235" y="65"/>
                </a:cxn>
                <a:cxn ang="0">
                  <a:pos x="235" y="51"/>
                </a:cxn>
                <a:cxn ang="0">
                  <a:pos x="234" y="38"/>
                </a:cxn>
                <a:cxn ang="0">
                  <a:pos x="236" y="26"/>
                </a:cxn>
                <a:cxn ang="0">
                  <a:pos x="228" y="20"/>
                </a:cxn>
                <a:cxn ang="0">
                  <a:pos x="205" y="14"/>
                </a:cxn>
                <a:cxn ang="0">
                  <a:pos x="202" y="8"/>
                </a:cxn>
                <a:cxn ang="0">
                  <a:pos x="182" y="3"/>
                </a:cxn>
                <a:cxn ang="0">
                  <a:pos x="170" y="11"/>
                </a:cxn>
                <a:cxn ang="0">
                  <a:pos x="160" y="18"/>
                </a:cxn>
                <a:cxn ang="0">
                  <a:pos x="161" y="42"/>
                </a:cxn>
                <a:cxn ang="0">
                  <a:pos x="145" y="51"/>
                </a:cxn>
                <a:cxn ang="0">
                  <a:pos x="127" y="43"/>
                </a:cxn>
                <a:cxn ang="0">
                  <a:pos x="110" y="35"/>
                </a:cxn>
                <a:cxn ang="0">
                  <a:pos x="92" y="30"/>
                </a:cxn>
                <a:cxn ang="0">
                  <a:pos x="85" y="13"/>
                </a:cxn>
                <a:cxn ang="0">
                  <a:pos x="68" y="9"/>
                </a:cxn>
                <a:cxn ang="0">
                  <a:pos x="52" y="5"/>
                </a:cxn>
                <a:cxn ang="0">
                  <a:pos x="30" y="0"/>
                </a:cxn>
                <a:cxn ang="0">
                  <a:pos x="29" y="14"/>
                </a:cxn>
                <a:cxn ang="0">
                  <a:pos x="19" y="23"/>
                </a:cxn>
                <a:cxn ang="0">
                  <a:pos x="10" y="31"/>
                </a:cxn>
                <a:cxn ang="0">
                  <a:pos x="10" y="45"/>
                </a:cxn>
                <a:cxn ang="0">
                  <a:pos x="1" y="53"/>
                </a:cxn>
                <a:cxn ang="0">
                  <a:pos x="0" y="56"/>
                </a:cxn>
                <a:cxn ang="0">
                  <a:pos x="7" y="78"/>
                </a:cxn>
                <a:cxn ang="0">
                  <a:pos x="7" y="98"/>
                </a:cxn>
                <a:cxn ang="0">
                  <a:pos x="8" y="119"/>
                </a:cxn>
                <a:cxn ang="0">
                  <a:pos x="1" y="126"/>
                </a:cxn>
                <a:cxn ang="0">
                  <a:pos x="11" y="140"/>
                </a:cxn>
                <a:cxn ang="0">
                  <a:pos x="17" y="156"/>
                </a:cxn>
                <a:cxn ang="0">
                  <a:pos x="35" y="158"/>
                </a:cxn>
                <a:cxn ang="0">
                  <a:pos x="42" y="173"/>
                </a:cxn>
                <a:cxn ang="0">
                  <a:pos x="64" y="179"/>
                </a:cxn>
                <a:cxn ang="0">
                  <a:pos x="77" y="189"/>
                </a:cxn>
                <a:cxn ang="0">
                  <a:pos x="88" y="182"/>
                </a:cxn>
                <a:cxn ang="0">
                  <a:pos x="104" y="173"/>
                </a:cxn>
                <a:cxn ang="0">
                  <a:pos x="120" y="182"/>
                </a:cxn>
                <a:cxn ang="0">
                  <a:pos x="136" y="191"/>
                </a:cxn>
                <a:cxn ang="0">
                  <a:pos x="151" y="200"/>
                </a:cxn>
                <a:cxn ang="0">
                  <a:pos x="167" y="209"/>
                </a:cxn>
                <a:cxn ang="0">
                  <a:pos x="182" y="218"/>
                </a:cxn>
                <a:cxn ang="0">
                  <a:pos x="199" y="227"/>
                </a:cxn>
                <a:cxn ang="0">
                  <a:pos x="215" y="236"/>
                </a:cxn>
                <a:cxn ang="0">
                  <a:pos x="230" y="245"/>
                </a:cxn>
              </a:cxnLst>
              <a:rect l="0" t="0" r="r" b="b"/>
              <a:pathLst>
                <a:path w="246" h="245">
                  <a:moveTo>
                    <a:pt x="230" y="245"/>
                  </a:moveTo>
                  <a:lnTo>
                    <a:pt x="230" y="236"/>
                  </a:lnTo>
                  <a:lnTo>
                    <a:pt x="246" y="236"/>
                  </a:lnTo>
                  <a:lnTo>
                    <a:pt x="245" y="218"/>
                  </a:lnTo>
                  <a:lnTo>
                    <a:pt x="245" y="200"/>
                  </a:lnTo>
                  <a:lnTo>
                    <a:pt x="244" y="183"/>
                  </a:lnTo>
                  <a:lnTo>
                    <a:pt x="242" y="167"/>
                  </a:lnTo>
                  <a:lnTo>
                    <a:pt x="241" y="150"/>
                  </a:lnTo>
                  <a:lnTo>
                    <a:pt x="240" y="133"/>
                  </a:lnTo>
                  <a:lnTo>
                    <a:pt x="239" y="116"/>
                  </a:lnTo>
                  <a:lnTo>
                    <a:pt x="238" y="99"/>
                  </a:lnTo>
                  <a:lnTo>
                    <a:pt x="236" y="83"/>
                  </a:lnTo>
                  <a:lnTo>
                    <a:pt x="235" y="65"/>
                  </a:lnTo>
                  <a:lnTo>
                    <a:pt x="235" y="51"/>
                  </a:lnTo>
                  <a:lnTo>
                    <a:pt x="234" y="38"/>
                  </a:lnTo>
                  <a:lnTo>
                    <a:pt x="236" y="26"/>
                  </a:lnTo>
                  <a:lnTo>
                    <a:pt x="228" y="20"/>
                  </a:lnTo>
                  <a:lnTo>
                    <a:pt x="205" y="14"/>
                  </a:lnTo>
                  <a:lnTo>
                    <a:pt x="202" y="8"/>
                  </a:lnTo>
                  <a:lnTo>
                    <a:pt x="182" y="3"/>
                  </a:lnTo>
                  <a:lnTo>
                    <a:pt x="170" y="11"/>
                  </a:lnTo>
                  <a:lnTo>
                    <a:pt x="160" y="18"/>
                  </a:lnTo>
                  <a:lnTo>
                    <a:pt x="161" y="42"/>
                  </a:lnTo>
                  <a:lnTo>
                    <a:pt x="145" y="51"/>
                  </a:lnTo>
                  <a:lnTo>
                    <a:pt x="127" y="43"/>
                  </a:lnTo>
                  <a:lnTo>
                    <a:pt x="110" y="35"/>
                  </a:lnTo>
                  <a:lnTo>
                    <a:pt x="92" y="30"/>
                  </a:lnTo>
                  <a:lnTo>
                    <a:pt x="85" y="13"/>
                  </a:lnTo>
                  <a:lnTo>
                    <a:pt x="68" y="9"/>
                  </a:lnTo>
                  <a:lnTo>
                    <a:pt x="52" y="5"/>
                  </a:lnTo>
                  <a:lnTo>
                    <a:pt x="30" y="0"/>
                  </a:lnTo>
                  <a:lnTo>
                    <a:pt x="29" y="14"/>
                  </a:lnTo>
                  <a:lnTo>
                    <a:pt x="19" y="23"/>
                  </a:lnTo>
                  <a:lnTo>
                    <a:pt x="10" y="31"/>
                  </a:lnTo>
                  <a:lnTo>
                    <a:pt x="10" y="45"/>
                  </a:lnTo>
                  <a:lnTo>
                    <a:pt x="1" y="53"/>
                  </a:lnTo>
                  <a:lnTo>
                    <a:pt x="0" y="56"/>
                  </a:lnTo>
                  <a:lnTo>
                    <a:pt x="7" y="78"/>
                  </a:lnTo>
                  <a:lnTo>
                    <a:pt x="7" y="98"/>
                  </a:lnTo>
                  <a:lnTo>
                    <a:pt x="8" y="119"/>
                  </a:lnTo>
                  <a:lnTo>
                    <a:pt x="1" y="126"/>
                  </a:lnTo>
                  <a:lnTo>
                    <a:pt x="11" y="140"/>
                  </a:lnTo>
                  <a:lnTo>
                    <a:pt x="17" y="156"/>
                  </a:lnTo>
                  <a:lnTo>
                    <a:pt x="35" y="158"/>
                  </a:lnTo>
                  <a:lnTo>
                    <a:pt x="42" y="173"/>
                  </a:lnTo>
                  <a:lnTo>
                    <a:pt x="64" y="179"/>
                  </a:lnTo>
                  <a:lnTo>
                    <a:pt x="77" y="189"/>
                  </a:lnTo>
                  <a:lnTo>
                    <a:pt x="88" y="182"/>
                  </a:lnTo>
                  <a:lnTo>
                    <a:pt x="104" y="173"/>
                  </a:lnTo>
                  <a:lnTo>
                    <a:pt x="120" y="182"/>
                  </a:lnTo>
                  <a:lnTo>
                    <a:pt x="136" y="191"/>
                  </a:lnTo>
                  <a:lnTo>
                    <a:pt x="151" y="200"/>
                  </a:lnTo>
                  <a:lnTo>
                    <a:pt x="167" y="209"/>
                  </a:lnTo>
                  <a:lnTo>
                    <a:pt x="182" y="218"/>
                  </a:lnTo>
                  <a:lnTo>
                    <a:pt x="199" y="227"/>
                  </a:lnTo>
                  <a:lnTo>
                    <a:pt x="215" y="236"/>
                  </a:lnTo>
                  <a:lnTo>
                    <a:pt x="230" y="2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2" name="Freeform 131"/>
            <p:cNvSpPr>
              <a:spLocks/>
            </p:cNvSpPr>
            <p:nvPr/>
          </p:nvSpPr>
          <p:spPr bwMode="auto">
            <a:xfrm>
              <a:off x="2318" y="2207"/>
              <a:ext cx="286" cy="296"/>
            </a:xfrm>
            <a:custGeom>
              <a:avLst/>
              <a:gdLst/>
              <a:ahLst/>
              <a:cxnLst>
                <a:cxn ang="0">
                  <a:pos x="56" y="250"/>
                </a:cxn>
                <a:cxn ang="0">
                  <a:pos x="66" y="267"/>
                </a:cxn>
                <a:cxn ang="0">
                  <a:pos x="79" y="265"/>
                </a:cxn>
                <a:cxn ang="0">
                  <a:pos x="92" y="257"/>
                </a:cxn>
                <a:cxn ang="0">
                  <a:pos x="106" y="262"/>
                </a:cxn>
                <a:cxn ang="0">
                  <a:pos x="114" y="234"/>
                </a:cxn>
                <a:cxn ang="0">
                  <a:pos x="126" y="219"/>
                </a:cxn>
                <a:cxn ang="0">
                  <a:pos x="138" y="213"/>
                </a:cxn>
                <a:cxn ang="0">
                  <a:pos x="144" y="204"/>
                </a:cxn>
                <a:cxn ang="0">
                  <a:pos x="160" y="195"/>
                </a:cxn>
                <a:cxn ang="0">
                  <a:pos x="181" y="178"/>
                </a:cxn>
                <a:cxn ang="0">
                  <a:pos x="198" y="180"/>
                </a:cxn>
                <a:cxn ang="0">
                  <a:pos x="230" y="174"/>
                </a:cxn>
                <a:cxn ang="0">
                  <a:pos x="256" y="157"/>
                </a:cxn>
                <a:cxn ang="0">
                  <a:pos x="257" y="131"/>
                </a:cxn>
                <a:cxn ang="0">
                  <a:pos x="258" y="105"/>
                </a:cxn>
                <a:cxn ang="0">
                  <a:pos x="240" y="91"/>
                </a:cxn>
                <a:cxn ang="0">
                  <a:pos x="210" y="76"/>
                </a:cxn>
                <a:cxn ang="0">
                  <a:pos x="199" y="61"/>
                </a:cxn>
                <a:cxn ang="0">
                  <a:pos x="175" y="43"/>
                </a:cxn>
                <a:cxn ang="0">
                  <a:pos x="152" y="27"/>
                </a:cxn>
                <a:cxn ang="0">
                  <a:pos x="130" y="9"/>
                </a:cxn>
                <a:cxn ang="0">
                  <a:pos x="104" y="0"/>
                </a:cxn>
                <a:cxn ang="0">
                  <a:pos x="92" y="19"/>
                </a:cxn>
                <a:cxn ang="0">
                  <a:pos x="96" y="58"/>
                </a:cxn>
                <a:cxn ang="0">
                  <a:pos x="100" y="95"/>
                </a:cxn>
                <a:cxn ang="0">
                  <a:pos x="102" y="133"/>
                </a:cxn>
                <a:cxn ang="0">
                  <a:pos x="108" y="156"/>
                </a:cxn>
                <a:cxn ang="0">
                  <a:pos x="91" y="171"/>
                </a:cxn>
                <a:cxn ang="0">
                  <a:pos x="61" y="171"/>
                </a:cxn>
                <a:cxn ang="0">
                  <a:pos x="44" y="169"/>
                </a:cxn>
                <a:cxn ang="0">
                  <a:pos x="19" y="175"/>
                </a:cxn>
                <a:cxn ang="0">
                  <a:pos x="2" y="185"/>
                </a:cxn>
                <a:cxn ang="0">
                  <a:pos x="4" y="202"/>
                </a:cxn>
                <a:cxn ang="0">
                  <a:pos x="13" y="226"/>
                </a:cxn>
                <a:cxn ang="0">
                  <a:pos x="20" y="231"/>
                </a:cxn>
                <a:cxn ang="0">
                  <a:pos x="35" y="232"/>
                </a:cxn>
                <a:cxn ang="0">
                  <a:pos x="48" y="225"/>
                </a:cxn>
                <a:cxn ang="0">
                  <a:pos x="59" y="244"/>
                </a:cxn>
              </a:cxnLst>
              <a:rect l="0" t="0" r="r" b="b"/>
              <a:pathLst>
                <a:path w="258" h="267">
                  <a:moveTo>
                    <a:pt x="59" y="244"/>
                  </a:moveTo>
                  <a:lnTo>
                    <a:pt x="56" y="250"/>
                  </a:lnTo>
                  <a:lnTo>
                    <a:pt x="59" y="250"/>
                  </a:lnTo>
                  <a:lnTo>
                    <a:pt x="66" y="267"/>
                  </a:lnTo>
                  <a:lnTo>
                    <a:pt x="70" y="263"/>
                  </a:lnTo>
                  <a:lnTo>
                    <a:pt x="79" y="265"/>
                  </a:lnTo>
                  <a:lnTo>
                    <a:pt x="86" y="261"/>
                  </a:lnTo>
                  <a:lnTo>
                    <a:pt x="92" y="257"/>
                  </a:lnTo>
                  <a:lnTo>
                    <a:pt x="95" y="264"/>
                  </a:lnTo>
                  <a:lnTo>
                    <a:pt x="106" y="262"/>
                  </a:lnTo>
                  <a:lnTo>
                    <a:pt x="109" y="238"/>
                  </a:lnTo>
                  <a:lnTo>
                    <a:pt x="114" y="234"/>
                  </a:lnTo>
                  <a:lnTo>
                    <a:pt x="122" y="226"/>
                  </a:lnTo>
                  <a:lnTo>
                    <a:pt x="126" y="219"/>
                  </a:lnTo>
                  <a:lnTo>
                    <a:pt x="128" y="208"/>
                  </a:lnTo>
                  <a:lnTo>
                    <a:pt x="138" y="213"/>
                  </a:lnTo>
                  <a:lnTo>
                    <a:pt x="140" y="205"/>
                  </a:lnTo>
                  <a:lnTo>
                    <a:pt x="144" y="204"/>
                  </a:lnTo>
                  <a:lnTo>
                    <a:pt x="150" y="195"/>
                  </a:lnTo>
                  <a:lnTo>
                    <a:pt x="160" y="195"/>
                  </a:lnTo>
                  <a:lnTo>
                    <a:pt x="161" y="187"/>
                  </a:lnTo>
                  <a:lnTo>
                    <a:pt x="181" y="178"/>
                  </a:lnTo>
                  <a:lnTo>
                    <a:pt x="196" y="180"/>
                  </a:lnTo>
                  <a:lnTo>
                    <a:pt x="198" y="180"/>
                  </a:lnTo>
                  <a:lnTo>
                    <a:pt x="212" y="174"/>
                  </a:lnTo>
                  <a:lnTo>
                    <a:pt x="230" y="174"/>
                  </a:lnTo>
                  <a:lnTo>
                    <a:pt x="247" y="173"/>
                  </a:lnTo>
                  <a:lnTo>
                    <a:pt x="256" y="157"/>
                  </a:lnTo>
                  <a:lnTo>
                    <a:pt x="257" y="144"/>
                  </a:lnTo>
                  <a:lnTo>
                    <a:pt x="257" y="131"/>
                  </a:lnTo>
                  <a:lnTo>
                    <a:pt x="258" y="118"/>
                  </a:lnTo>
                  <a:lnTo>
                    <a:pt x="258" y="105"/>
                  </a:lnTo>
                  <a:lnTo>
                    <a:pt x="241" y="105"/>
                  </a:lnTo>
                  <a:lnTo>
                    <a:pt x="240" y="91"/>
                  </a:lnTo>
                  <a:lnTo>
                    <a:pt x="218" y="82"/>
                  </a:lnTo>
                  <a:lnTo>
                    <a:pt x="210" y="76"/>
                  </a:lnTo>
                  <a:lnTo>
                    <a:pt x="210" y="70"/>
                  </a:lnTo>
                  <a:lnTo>
                    <a:pt x="199" y="61"/>
                  </a:lnTo>
                  <a:lnTo>
                    <a:pt x="187" y="53"/>
                  </a:lnTo>
                  <a:lnTo>
                    <a:pt x="175" y="43"/>
                  </a:lnTo>
                  <a:lnTo>
                    <a:pt x="164" y="35"/>
                  </a:lnTo>
                  <a:lnTo>
                    <a:pt x="152" y="27"/>
                  </a:lnTo>
                  <a:lnTo>
                    <a:pt x="140" y="17"/>
                  </a:lnTo>
                  <a:lnTo>
                    <a:pt x="130" y="9"/>
                  </a:lnTo>
                  <a:lnTo>
                    <a:pt x="118" y="0"/>
                  </a:lnTo>
                  <a:lnTo>
                    <a:pt x="104" y="0"/>
                  </a:lnTo>
                  <a:lnTo>
                    <a:pt x="90" y="0"/>
                  </a:lnTo>
                  <a:lnTo>
                    <a:pt x="92" y="19"/>
                  </a:lnTo>
                  <a:lnTo>
                    <a:pt x="94" y="39"/>
                  </a:lnTo>
                  <a:lnTo>
                    <a:pt x="96" y="58"/>
                  </a:lnTo>
                  <a:lnTo>
                    <a:pt x="97" y="76"/>
                  </a:lnTo>
                  <a:lnTo>
                    <a:pt x="100" y="95"/>
                  </a:lnTo>
                  <a:lnTo>
                    <a:pt x="101" y="114"/>
                  </a:lnTo>
                  <a:lnTo>
                    <a:pt x="102" y="133"/>
                  </a:lnTo>
                  <a:lnTo>
                    <a:pt x="104" y="153"/>
                  </a:lnTo>
                  <a:lnTo>
                    <a:pt x="108" y="156"/>
                  </a:lnTo>
                  <a:lnTo>
                    <a:pt x="106" y="171"/>
                  </a:lnTo>
                  <a:lnTo>
                    <a:pt x="91" y="171"/>
                  </a:lnTo>
                  <a:lnTo>
                    <a:pt x="76" y="171"/>
                  </a:lnTo>
                  <a:lnTo>
                    <a:pt x="61" y="171"/>
                  </a:lnTo>
                  <a:lnTo>
                    <a:pt x="46" y="171"/>
                  </a:lnTo>
                  <a:lnTo>
                    <a:pt x="44" y="169"/>
                  </a:lnTo>
                  <a:lnTo>
                    <a:pt x="22" y="174"/>
                  </a:lnTo>
                  <a:lnTo>
                    <a:pt x="19" y="175"/>
                  </a:lnTo>
                  <a:lnTo>
                    <a:pt x="10" y="169"/>
                  </a:lnTo>
                  <a:lnTo>
                    <a:pt x="2" y="185"/>
                  </a:lnTo>
                  <a:lnTo>
                    <a:pt x="0" y="184"/>
                  </a:lnTo>
                  <a:lnTo>
                    <a:pt x="4" y="202"/>
                  </a:lnTo>
                  <a:lnTo>
                    <a:pt x="8" y="209"/>
                  </a:lnTo>
                  <a:lnTo>
                    <a:pt x="13" y="226"/>
                  </a:lnTo>
                  <a:lnTo>
                    <a:pt x="11" y="231"/>
                  </a:lnTo>
                  <a:lnTo>
                    <a:pt x="20" y="231"/>
                  </a:lnTo>
                  <a:lnTo>
                    <a:pt x="25" y="233"/>
                  </a:lnTo>
                  <a:lnTo>
                    <a:pt x="35" y="232"/>
                  </a:lnTo>
                  <a:lnTo>
                    <a:pt x="46" y="228"/>
                  </a:lnTo>
                  <a:lnTo>
                    <a:pt x="48" y="225"/>
                  </a:lnTo>
                  <a:lnTo>
                    <a:pt x="53" y="239"/>
                  </a:lnTo>
                  <a:lnTo>
                    <a:pt x="59" y="2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3" name="Freeform 132"/>
            <p:cNvSpPr>
              <a:spLocks/>
            </p:cNvSpPr>
            <p:nvPr/>
          </p:nvSpPr>
          <p:spPr bwMode="auto">
            <a:xfrm>
              <a:off x="2769" y="1987"/>
              <a:ext cx="4" cy="3"/>
            </a:xfrm>
            <a:custGeom>
              <a:avLst/>
              <a:gdLst/>
              <a:ahLst/>
              <a:cxnLst>
                <a:cxn ang="0">
                  <a:pos x="3" y="2"/>
                </a:cxn>
                <a:cxn ang="0">
                  <a:pos x="2" y="3"/>
                </a:cxn>
                <a:cxn ang="0">
                  <a:pos x="0" y="0"/>
                </a:cxn>
                <a:cxn ang="0">
                  <a:pos x="3" y="2"/>
                </a:cxn>
              </a:cxnLst>
              <a:rect l="0" t="0" r="r" b="b"/>
              <a:pathLst>
                <a:path w="3" h="3">
                  <a:moveTo>
                    <a:pt x="3" y="2"/>
                  </a:moveTo>
                  <a:lnTo>
                    <a:pt x="2" y="3"/>
                  </a:lnTo>
                  <a:lnTo>
                    <a:pt x="0" y="0"/>
                  </a:lnTo>
                  <a:lnTo>
                    <a:pt x="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4" name="Freeform 133"/>
            <p:cNvSpPr>
              <a:spLocks/>
            </p:cNvSpPr>
            <p:nvPr/>
          </p:nvSpPr>
          <p:spPr bwMode="auto">
            <a:xfrm>
              <a:off x="2236" y="2161"/>
              <a:ext cx="213" cy="251"/>
            </a:xfrm>
            <a:custGeom>
              <a:avLst/>
              <a:gdLst/>
              <a:ahLst/>
              <a:cxnLst>
                <a:cxn ang="0">
                  <a:pos x="9" y="195"/>
                </a:cxn>
                <a:cxn ang="0">
                  <a:pos x="6" y="202"/>
                </a:cxn>
                <a:cxn ang="0">
                  <a:pos x="11" y="180"/>
                </a:cxn>
                <a:cxn ang="0">
                  <a:pos x="14" y="159"/>
                </a:cxn>
                <a:cxn ang="0">
                  <a:pos x="9" y="142"/>
                </a:cxn>
                <a:cxn ang="0">
                  <a:pos x="11" y="123"/>
                </a:cxn>
                <a:cxn ang="0">
                  <a:pos x="1" y="112"/>
                </a:cxn>
                <a:cxn ang="0">
                  <a:pos x="0" y="117"/>
                </a:cxn>
                <a:cxn ang="0">
                  <a:pos x="2" y="107"/>
                </a:cxn>
                <a:cxn ang="0">
                  <a:pos x="17" y="107"/>
                </a:cxn>
                <a:cxn ang="0">
                  <a:pos x="32" y="107"/>
                </a:cxn>
                <a:cxn ang="0">
                  <a:pos x="48" y="107"/>
                </a:cxn>
                <a:cxn ang="0">
                  <a:pos x="63" y="107"/>
                </a:cxn>
                <a:cxn ang="0">
                  <a:pos x="63" y="92"/>
                </a:cxn>
                <a:cxn ang="0">
                  <a:pos x="63" y="77"/>
                </a:cxn>
                <a:cxn ang="0">
                  <a:pos x="79" y="69"/>
                </a:cxn>
                <a:cxn ang="0">
                  <a:pos x="80" y="46"/>
                </a:cxn>
                <a:cxn ang="0">
                  <a:pos x="80" y="23"/>
                </a:cxn>
                <a:cxn ang="0">
                  <a:pos x="93" y="23"/>
                </a:cxn>
                <a:cxn ang="0">
                  <a:pos x="107" y="23"/>
                </a:cxn>
                <a:cxn ang="0">
                  <a:pos x="119" y="23"/>
                </a:cxn>
                <a:cxn ang="0">
                  <a:pos x="132" y="23"/>
                </a:cxn>
                <a:cxn ang="0">
                  <a:pos x="132" y="0"/>
                </a:cxn>
                <a:cxn ang="0">
                  <a:pos x="147" y="10"/>
                </a:cxn>
                <a:cxn ang="0">
                  <a:pos x="162" y="21"/>
                </a:cxn>
                <a:cxn ang="0">
                  <a:pos x="176" y="30"/>
                </a:cxn>
                <a:cxn ang="0">
                  <a:pos x="191" y="41"/>
                </a:cxn>
                <a:cxn ang="0">
                  <a:pos x="177" y="41"/>
                </a:cxn>
                <a:cxn ang="0">
                  <a:pos x="163" y="41"/>
                </a:cxn>
                <a:cxn ang="0">
                  <a:pos x="165" y="60"/>
                </a:cxn>
                <a:cxn ang="0">
                  <a:pos x="167" y="80"/>
                </a:cxn>
                <a:cxn ang="0">
                  <a:pos x="169" y="99"/>
                </a:cxn>
                <a:cxn ang="0">
                  <a:pos x="170" y="117"/>
                </a:cxn>
                <a:cxn ang="0">
                  <a:pos x="173" y="136"/>
                </a:cxn>
                <a:cxn ang="0">
                  <a:pos x="174" y="155"/>
                </a:cxn>
                <a:cxn ang="0">
                  <a:pos x="175" y="174"/>
                </a:cxn>
                <a:cxn ang="0">
                  <a:pos x="177" y="194"/>
                </a:cxn>
                <a:cxn ang="0">
                  <a:pos x="181" y="197"/>
                </a:cxn>
                <a:cxn ang="0">
                  <a:pos x="179" y="212"/>
                </a:cxn>
                <a:cxn ang="0">
                  <a:pos x="164" y="212"/>
                </a:cxn>
                <a:cxn ang="0">
                  <a:pos x="149" y="212"/>
                </a:cxn>
                <a:cxn ang="0">
                  <a:pos x="134" y="212"/>
                </a:cxn>
                <a:cxn ang="0">
                  <a:pos x="119" y="212"/>
                </a:cxn>
                <a:cxn ang="0">
                  <a:pos x="117" y="210"/>
                </a:cxn>
                <a:cxn ang="0">
                  <a:pos x="95" y="215"/>
                </a:cxn>
                <a:cxn ang="0">
                  <a:pos x="92" y="216"/>
                </a:cxn>
                <a:cxn ang="0">
                  <a:pos x="83" y="210"/>
                </a:cxn>
                <a:cxn ang="0">
                  <a:pos x="75" y="226"/>
                </a:cxn>
                <a:cxn ang="0">
                  <a:pos x="73" y="225"/>
                </a:cxn>
                <a:cxn ang="0">
                  <a:pos x="61" y="213"/>
                </a:cxn>
                <a:cxn ang="0">
                  <a:pos x="49" y="200"/>
                </a:cxn>
                <a:cxn ang="0">
                  <a:pos x="35" y="191"/>
                </a:cxn>
                <a:cxn ang="0">
                  <a:pos x="23" y="192"/>
                </a:cxn>
                <a:cxn ang="0">
                  <a:pos x="9" y="195"/>
                </a:cxn>
              </a:cxnLst>
              <a:rect l="0" t="0" r="r" b="b"/>
              <a:pathLst>
                <a:path w="191" h="226">
                  <a:moveTo>
                    <a:pt x="9" y="195"/>
                  </a:moveTo>
                  <a:lnTo>
                    <a:pt x="6" y="202"/>
                  </a:lnTo>
                  <a:lnTo>
                    <a:pt x="11" y="180"/>
                  </a:lnTo>
                  <a:lnTo>
                    <a:pt x="14" y="159"/>
                  </a:lnTo>
                  <a:lnTo>
                    <a:pt x="9" y="142"/>
                  </a:lnTo>
                  <a:lnTo>
                    <a:pt x="11" y="123"/>
                  </a:lnTo>
                  <a:lnTo>
                    <a:pt x="1" y="112"/>
                  </a:lnTo>
                  <a:lnTo>
                    <a:pt x="0" y="117"/>
                  </a:lnTo>
                  <a:lnTo>
                    <a:pt x="2" y="107"/>
                  </a:lnTo>
                  <a:lnTo>
                    <a:pt x="17" y="107"/>
                  </a:lnTo>
                  <a:lnTo>
                    <a:pt x="32" y="107"/>
                  </a:lnTo>
                  <a:lnTo>
                    <a:pt x="48" y="107"/>
                  </a:lnTo>
                  <a:lnTo>
                    <a:pt x="63" y="107"/>
                  </a:lnTo>
                  <a:lnTo>
                    <a:pt x="63" y="92"/>
                  </a:lnTo>
                  <a:lnTo>
                    <a:pt x="63" y="77"/>
                  </a:lnTo>
                  <a:lnTo>
                    <a:pt x="79" y="69"/>
                  </a:lnTo>
                  <a:lnTo>
                    <a:pt x="80" y="46"/>
                  </a:lnTo>
                  <a:lnTo>
                    <a:pt x="80" y="23"/>
                  </a:lnTo>
                  <a:lnTo>
                    <a:pt x="93" y="23"/>
                  </a:lnTo>
                  <a:lnTo>
                    <a:pt x="107" y="23"/>
                  </a:lnTo>
                  <a:lnTo>
                    <a:pt x="119" y="23"/>
                  </a:lnTo>
                  <a:lnTo>
                    <a:pt x="132" y="23"/>
                  </a:lnTo>
                  <a:lnTo>
                    <a:pt x="132" y="0"/>
                  </a:lnTo>
                  <a:lnTo>
                    <a:pt x="147" y="10"/>
                  </a:lnTo>
                  <a:lnTo>
                    <a:pt x="162" y="21"/>
                  </a:lnTo>
                  <a:lnTo>
                    <a:pt x="176" y="30"/>
                  </a:lnTo>
                  <a:lnTo>
                    <a:pt x="191" y="41"/>
                  </a:lnTo>
                  <a:lnTo>
                    <a:pt x="177" y="41"/>
                  </a:lnTo>
                  <a:lnTo>
                    <a:pt x="163" y="41"/>
                  </a:lnTo>
                  <a:lnTo>
                    <a:pt x="165" y="60"/>
                  </a:lnTo>
                  <a:lnTo>
                    <a:pt x="167" y="80"/>
                  </a:lnTo>
                  <a:lnTo>
                    <a:pt x="169" y="99"/>
                  </a:lnTo>
                  <a:lnTo>
                    <a:pt x="170" y="117"/>
                  </a:lnTo>
                  <a:lnTo>
                    <a:pt x="173" y="136"/>
                  </a:lnTo>
                  <a:lnTo>
                    <a:pt x="174" y="155"/>
                  </a:lnTo>
                  <a:lnTo>
                    <a:pt x="175" y="174"/>
                  </a:lnTo>
                  <a:lnTo>
                    <a:pt x="177" y="194"/>
                  </a:lnTo>
                  <a:lnTo>
                    <a:pt x="181" y="197"/>
                  </a:lnTo>
                  <a:lnTo>
                    <a:pt x="179" y="212"/>
                  </a:lnTo>
                  <a:lnTo>
                    <a:pt x="164" y="212"/>
                  </a:lnTo>
                  <a:lnTo>
                    <a:pt x="149" y="212"/>
                  </a:lnTo>
                  <a:lnTo>
                    <a:pt x="134" y="212"/>
                  </a:lnTo>
                  <a:lnTo>
                    <a:pt x="119" y="212"/>
                  </a:lnTo>
                  <a:lnTo>
                    <a:pt x="117" y="210"/>
                  </a:lnTo>
                  <a:lnTo>
                    <a:pt x="95" y="215"/>
                  </a:lnTo>
                  <a:lnTo>
                    <a:pt x="92" y="216"/>
                  </a:lnTo>
                  <a:lnTo>
                    <a:pt x="83" y="210"/>
                  </a:lnTo>
                  <a:lnTo>
                    <a:pt x="75" y="226"/>
                  </a:lnTo>
                  <a:lnTo>
                    <a:pt x="73" y="225"/>
                  </a:lnTo>
                  <a:lnTo>
                    <a:pt x="61" y="213"/>
                  </a:lnTo>
                  <a:lnTo>
                    <a:pt x="49" y="200"/>
                  </a:lnTo>
                  <a:lnTo>
                    <a:pt x="35" y="191"/>
                  </a:lnTo>
                  <a:lnTo>
                    <a:pt x="23" y="192"/>
                  </a:lnTo>
                  <a:lnTo>
                    <a:pt x="9" y="19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5" name="Freeform 134"/>
            <p:cNvSpPr>
              <a:spLocks/>
            </p:cNvSpPr>
            <p:nvPr/>
          </p:nvSpPr>
          <p:spPr bwMode="auto">
            <a:xfrm>
              <a:off x="2307" y="1990"/>
              <a:ext cx="206" cy="164"/>
            </a:xfrm>
            <a:custGeom>
              <a:avLst/>
              <a:gdLst/>
              <a:ahLst/>
              <a:cxnLst>
                <a:cxn ang="0">
                  <a:pos x="96" y="36"/>
                </a:cxn>
                <a:cxn ang="0">
                  <a:pos x="82" y="45"/>
                </a:cxn>
                <a:cxn ang="0">
                  <a:pos x="69" y="54"/>
                </a:cxn>
                <a:cxn ang="0">
                  <a:pos x="60" y="68"/>
                </a:cxn>
                <a:cxn ang="0">
                  <a:pos x="53" y="81"/>
                </a:cxn>
                <a:cxn ang="0">
                  <a:pos x="56" y="98"/>
                </a:cxn>
                <a:cxn ang="0">
                  <a:pos x="48" y="110"/>
                </a:cxn>
                <a:cxn ang="0">
                  <a:pos x="41" y="123"/>
                </a:cxn>
                <a:cxn ang="0">
                  <a:pos x="29" y="132"/>
                </a:cxn>
                <a:cxn ang="0">
                  <a:pos x="17" y="140"/>
                </a:cxn>
                <a:cxn ang="0">
                  <a:pos x="0" y="147"/>
                </a:cxn>
                <a:cxn ang="0">
                  <a:pos x="17" y="147"/>
                </a:cxn>
                <a:cxn ang="0">
                  <a:pos x="35" y="147"/>
                </a:cxn>
                <a:cxn ang="0">
                  <a:pos x="52" y="147"/>
                </a:cxn>
                <a:cxn ang="0">
                  <a:pos x="69" y="147"/>
                </a:cxn>
                <a:cxn ang="0">
                  <a:pos x="72" y="126"/>
                </a:cxn>
                <a:cxn ang="0">
                  <a:pos x="86" y="120"/>
                </a:cxn>
                <a:cxn ang="0">
                  <a:pos x="98" y="112"/>
                </a:cxn>
                <a:cxn ang="0">
                  <a:pos x="111" y="106"/>
                </a:cxn>
                <a:cxn ang="0">
                  <a:pos x="125" y="100"/>
                </a:cxn>
                <a:cxn ang="0">
                  <a:pos x="136" y="93"/>
                </a:cxn>
                <a:cxn ang="0">
                  <a:pos x="147" y="85"/>
                </a:cxn>
                <a:cxn ang="0">
                  <a:pos x="147" y="74"/>
                </a:cxn>
                <a:cxn ang="0">
                  <a:pos x="167" y="67"/>
                </a:cxn>
                <a:cxn ang="0">
                  <a:pos x="183" y="66"/>
                </a:cxn>
                <a:cxn ang="0">
                  <a:pos x="186" y="61"/>
                </a:cxn>
                <a:cxn ang="0">
                  <a:pos x="177" y="44"/>
                </a:cxn>
                <a:cxn ang="0">
                  <a:pos x="174" y="31"/>
                </a:cxn>
                <a:cxn ang="0">
                  <a:pos x="173" y="18"/>
                </a:cxn>
                <a:cxn ang="0">
                  <a:pos x="170" y="14"/>
                </a:cxn>
                <a:cxn ang="0">
                  <a:pos x="159" y="10"/>
                </a:cxn>
                <a:cxn ang="0">
                  <a:pos x="154" y="12"/>
                </a:cxn>
                <a:cxn ang="0">
                  <a:pos x="129" y="9"/>
                </a:cxn>
                <a:cxn ang="0">
                  <a:pos x="120" y="0"/>
                </a:cxn>
                <a:cxn ang="0">
                  <a:pos x="112" y="7"/>
                </a:cxn>
                <a:cxn ang="0">
                  <a:pos x="105" y="21"/>
                </a:cxn>
                <a:cxn ang="0">
                  <a:pos x="96" y="36"/>
                </a:cxn>
              </a:cxnLst>
              <a:rect l="0" t="0" r="r" b="b"/>
              <a:pathLst>
                <a:path w="186" h="147">
                  <a:moveTo>
                    <a:pt x="96" y="36"/>
                  </a:moveTo>
                  <a:lnTo>
                    <a:pt x="82" y="45"/>
                  </a:lnTo>
                  <a:lnTo>
                    <a:pt x="69" y="54"/>
                  </a:lnTo>
                  <a:lnTo>
                    <a:pt x="60" y="68"/>
                  </a:lnTo>
                  <a:lnTo>
                    <a:pt x="53" y="81"/>
                  </a:lnTo>
                  <a:lnTo>
                    <a:pt x="56" y="98"/>
                  </a:lnTo>
                  <a:lnTo>
                    <a:pt x="48" y="110"/>
                  </a:lnTo>
                  <a:lnTo>
                    <a:pt x="41" y="123"/>
                  </a:lnTo>
                  <a:lnTo>
                    <a:pt x="29" y="132"/>
                  </a:lnTo>
                  <a:lnTo>
                    <a:pt x="17" y="140"/>
                  </a:lnTo>
                  <a:lnTo>
                    <a:pt x="0" y="147"/>
                  </a:lnTo>
                  <a:lnTo>
                    <a:pt x="17" y="147"/>
                  </a:lnTo>
                  <a:lnTo>
                    <a:pt x="35" y="147"/>
                  </a:lnTo>
                  <a:lnTo>
                    <a:pt x="52" y="147"/>
                  </a:lnTo>
                  <a:lnTo>
                    <a:pt x="69" y="147"/>
                  </a:lnTo>
                  <a:lnTo>
                    <a:pt x="72" y="126"/>
                  </a:lnTo>
                  <a:lnTo>
                    <a:pt x="86" y="120"/>
                  </a:lnTo>
                  <a:lnTo>
                    <a:pt x="98" y="112"/>
                  </a:lnTo>
                  <a:lnTo>
                    <a:pt x="111" y="106"/>
                  </a:lnTo>
                  <a:lnTo>
                    <a:pt x="125" y="100"/>
                  </a:lnTo>
                  <a:lnTo>
                    <a:pt x="136" y="93"/>
                  </a:lnTo>
                  <a:lnTo>
                    <a:pt x="147" y="85"/>
                  </a:lnTo>
                  <a:lnTo>
                    <a:pt x="147" y="74"/>
                  </a:lnTo>
                  <a:lnTo>
                    <a:pt x="167" y="67"/>
                  </a:lnTo>
                  <a:lnTo>
                    <a:pt x="183" y="66"/>
                  </a:lnTo>
                  <a:lnTo>
                    <a:pt x="186" y="61"/>
                  </a:lnTo>
                  <a:lnTo>
                    <a:pt x="177" y="44"/>
                  </a:lnTo>
                  <a:lnTo>
                    <a:pt x="174" y="31"/>
                  </a:lnTo>
                  <a:lnTo>
                    <a:pt x="173" y="18"/>
                  </a:lnTo>
                  <a:lnTo>
                    <a:pt x="170" y="14"/>
                  </a:lnTo>
                  <a:lnTo>
                    <a:pt x="159" y="10"/>
                  </a:lnTo>
                  <a:lnTo>
                    <a:pt x="154" y="12"/>
                  </a:lnTo>
                  <a:lnTo>
                    <a:pt x="129" y="9"/>
                  </a:lnTo>
                  <a:lnTo>
                    <a:pt x="120" y="0"/>
                  </a:lnTo>
                  <a:lnTo>
                    <a:pt x="112" y="7"/>
                  </a:lnTo>
                  <a:lnTo>
                    <a:pt x="105" y="21"/>
                  </a:lnTo>
                  <a:lnTo>
                    <a:pt x="96"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6" name="Freeform 135"/>
            <p:cNvSpPr>
              <a:spLocks/>
            </p:cNvSpPr>
            <p:nvPr/>
          </p:nvSpPr>
          <p:spPr bwMode="auto">
            <a:xfrm>
              <a:off x="2536" y="2236"/>
              <a:ext cx="273" cy="236"/>
            </a:xfrm>
            <a:custGeom>
              <a:avLst/>
              <a:gdLst/>
              <a:ahLst/>
              <a:cxnLst>
                <a:cxn ang="0">
                  <a:pos x="27" y="194"/>
                </a:cxn>
                <a:cxn ang="0">
                  <a:pos x="21" y="195"/>
                </a:cxn>
                <a:cxn ang="0">
                  <a:pos x="12" y="188"/>
                </a:cxn>
                <a:cxn ang="0">
                  <a:pos x="12" y="182"/>
                </a:cxn>
                <a:cxn ang="0">
                  <a:pos x="14" y="181"/>
                </a:cxn>
                <a:cxn ang="0">
                  <a:pos x="2" y="168"/>
                </a:cxn>
                <a:cxn ang="0">
                  <a:pos x="0" y="153"/>
                </a:cxn>
                <a:cxn ang="0">
                  <a:pos x="2" y="153"/>
                </a:cxn>
                <a:cxn ang="0">
                  <a:pos x="16" y="147"/>
                </a:cxn>
                <a:cxn ang="0">
                  <a:pos x="34" y="147"/>
                </a:cxn>
                <a:cxn ang="0">
                  <a:pos x="51" y="146"/>
                </a:cxn>
                <a:cxn ang="0">
                  <a:pos x="60" y="130"/>
                </a:cxn>
                <a:cxn ang="0">
                  <a:pos x="61" y="117"/>
                </a:cxn>
                <a:cxn ang="0">
                  <a:pos x="61" y="104"/>
                </a:cxn>
                <a:cxn ang="0">
                  <a:pos x="62" y="91"/>
                </a:cxn>
                <a:cxn ang="0">
                  <a:pos x="62" y="78"/>
                </a:cxn>
                <a:cxn ang="0">
                  <a:pos x="75" y="75"/>
                </a:cxn>
                <a:cxn ang="0">
                  <a:pos x="87" y="73"/>
                </a:cxn>
                <a:cxn ang="0">
                  <a:pos x="99" y="60"/>
                </a:cxn>
                <a:cxn ang="0">
                  <a:pos x="112" y="48"/>
                </a:cxn>
                <a:cxn ang="0">
                  <a:pos x="129" y="36"/>
                </a:cxn>
                <a:cxn ang="0">
                  <a:pos x="147" y="24"/>
                </a:cxn>
                <a:cxn ang="0">
                  <a:pos x="164" y="12"/>
                </a:cxn>
                <a:cxn ang="0">
                  <a:pos x="182" y="0"/>
                </a:cxn>
                <a:cxn ang="0">
                  <a:pos x="204" y="6"/>
                </a:cxn>
                <a:cxn ang="0">
                  <a:pos x="217" y="16"/>
                </a:cxn>
                <a:cxn ang="0">
                  <a:pos x="228" y="9"/>
                </a:cxn>
                <a:cxn ang="0">
                  <a:pos x="229" y="9"/>
                </a:cxn>
                <a:cxn ang="0">
                  <a:pos x="230" y="22"/>
                </a:cxn>
                <a:cxn ang="0">
                  <a:pos x="232" y="36"/>
                </a:cxn>
                <a:cxn ang="0">
                  <a:pos x="246" y="56"/>
                </a:cxn>
                <a:cxn ang="0">
                  <a:pos x="242" y="64"/>
                </a:cxn>
                <a:cxn ang="0">
                  <a:pos x="241" y="78"/>
                </a:cxn>
                <a:cxn ang="0">
                  <a:pos x="240" y="91"/>
                </a:cxn>
                <a:cxn ang="0">
                  <a:pos x="240" y="105"/>
                </a:cxn>
                <a:cxn ang="0">
                  <a:pos x="238" y="118"/>
                </a:cxn>
                <a:cxn ang="0">
                  <a:pos x="231" y="129"/>
                </a:cxn>
                <a:cxn ang="0">
                  <a:pos x="224" y="140"/>
                </a:cxn>
                <a:cxn ang="0">
                  <a:pos x="217" y="151"/>
                </a:cxn>
                <a:cxn ang="0">
                  <a:pos x="210" y="162"/>
                </a:cxn>
                <a:cxn ang="0">
                  <a:pos x="211" y="176"/>
                </a:cxn>
                <a:cxn ang="0">
                  <a:pos x="193" y="186"/>
                </a:cxn>
                <a:cxn ang="0">
                  <a:pos x="177" y="184"/>
                </a:cxn>
                <a:cxn ang="0">
                  <a:pos x="160" y="183"/>
                </a:cxn>
                <a:cxn ang="0">
                  <a:pos x="142" y="192"/>
                </a:cxn>
                <a:cxn ang="0">
                  <a:pos x="132" y="187"/>
                </a:cxn>
                <a:cxn ang="0">
                  <a:pos x="120" y="182"/>
                </a:cxn>
                <a:cxn ang="0">
                  <a:pos x="103" y="187"/>
                </a:cxn>
                <a:cxn ang="0">
                  <a:pos x="92" y="176"/>
                </a:cxn>
                <a:cxn ang="0">
                  <a:pos x="76" y="175"/>
                </a:cxn>
                <a:cxn ang="0">
                  <a:pos x="62" y="180"/>
                </a:cxn>
                <a:cxn ang="0">
                  <a:pos x="58" y="193"/>
                </a:cxn>
                <a:cxn ang="0">
                  <a:pos x="54" y="205"/>
                </a:cxn>
                <a:cxn ang="0">
                  <a:pos x="52" y="212"/>
                </a:cxn>
                <a:cxn ang="0">
                  <a:pos x="39" y="200"/>
                </a:cxn>
                <a:cxn ang="0">
                  <a:pos x="34" y="206"/>
                </a:cxn>
                <a:cxn ang="0">
                  <a:pos x="34" y="208"/>
                </a:cxn>
                <a:cxn ang="0">
                  <a:pos x="31" y="199"/>
                </a:cxn>
                <a:cxn ang="0">
                  <a:pos x="27" y="194"/>
                </a:cxn>
              </a:cxnLst>
              <a:rect l="0" t="0" r="r" b="b"/>
              <a:pathLst>
                <a:path w="246" h="212">
                  <a:moveTo>
                    <a:pt x="27" y="194"/>
                  </a:moveTo>
                  <a:lnTo>
                    <a:pt x="21" y="195"/>
                  </a:lnTo>
                  <a:lnTo>
                    <a:pt x="12" y="188"/>
                  </a:lnTo>
                  <a:lnTo>
                    <a:pt x="12" y="182"/>
                  </a:lnTo>
                  <a:lnTo>
                    <a:pt x="14" y="181"/>
                  </a:lnTo>
                  <a:lnTo>
                    <a:pt x="2" y="168"/>
                  </a:lnTo>
                  <a:lnTo>
                    <a:pt x="0" y="153"/>
                  </a:lnTo>
                  <a:lnTo>
                    <a:pt x="2" y="153"/>
                  </a:lnTo>
                  <a:lnTo>
                    <a:pt x="16" y="147"/>
                  </a:lnTo>
                  <a:lnTo>
                    <a:pt x="34" y="147"/>
                  </a:lnTo>
                  <a:lnTo>
                    <a:pt x="51" y="146"/>
                  </a:lnTo>
                  <a:lnTo>
                    <a:pt x="60" y="130"/>
                  </a:lnTo>
                  <a:lnTo>
                    <a:pt x="61" y="117"/>
                  </a:lnTo>
                  <a:lnTo>
                    <a:pt x="61" y="104"/>
                  </a:lnTo>
                  <a:lnTo>
                    <a:pt x="62" y="91"/>
                  </a:lnTo>
                  <a:lnTo>
                    <a:pt x="62" y="78"/>
                  </a:lnTo>
                  <a:lnTo>
                    <a:pt x="75" y="75"/>
                  </a:lnTo>
                  <a:lnTo>
                    <a:pt x="87" y="73"/>
                  </a:lnTo>
                  <a:lnTo>
                    <a:pt x="99" y="60"/>
                  </a:lnTo>
                  <a:lnTo>
                    <a:pt x="112" y="48"/>
                  </a:lnTo>
                  <a:lnTo>
                    <a:pt x="129" y="36"/>
                  </a:lnTo>
                  <a:lnTo>
                    <a:pt x="147" y="24"/>
                  </a:lnTo>
                  <a:lnTo>
                    <a:pt x="164" y="12"/>
                  </a:lnTo>
                  <a:lnTo>
                    <a:pt x="182" y="0"/>
                  </a:lnTo>
                  <a:lnTo>
                    <a:pt x="204" y="6"/>
                  </a:lnTo>
                  <a:lnTo>
                    <a:pt x="217" y="16"/>
                  </a:lnTo>
                  <a:lnTo>
                    <a:pt x="228" y="9"/>
                  </a:lnTo>
                  <a:lnTo>
                    <a:pt x="229" y="9"/>
                  </a:lnTo>
                  <a:lnTo>
                    <a:pt x="230" y="22"/>
                  </a:lnTo>
                  <a:lnTo>
                    <a:pt x="232" y="36"/>
                  </a:lnTo>
                  <a:lnTo>
                    <a:pt x="246" y="56"/>
                  </a:lnTo>
                  <a:lnTo>
                    <a:pt x="242" y="64"/>
                  </a:lnTo>
                  <a:lnTo>
                    <a:pt x="241" y="78"/>
                  </a:lnTo>
                  <a:lnTo>
                    <a:pt x="240" y="91"/>
                  </a:lnTo>
                  <a:lnTo>
                    <a:pt x="240" y="105"/>
                  </a:lnTo>
                  <a:lnTo>
                    <a:pt x="238" y="118"/>
                  </a:lnTo>
                  <a:lnTo>
                    <a:pt x="231" y="129"/>
                  </a:lnTo>
                  <a:lnTo>
                    <a:pt x="224" y="140"/>
                  </a:lnTo>
                  <a:lnTo>
                    <a:pt x="217" y="151"/>
                  </a:lnTo>
                  <a:lnTo>
                    <a:pt x="210" y="162"/>
                  </a:lnTo>
                  <a:lnTo>
                    <a:pt x="211" y="176"/>
                  </a:lnTo>
                  <a:lnTo>
                    <a:pt x="193" y="186"/>
                  </a:lnTo>
                  <a:lnTo>
                    <a:pt x="177" y="184"/>
                  </a:lnTo>
                  <a:lnTo>
                    <a:pt x="160" y="183"/>
                  </a:lnTo>
                  <a:lnTo>
                    <a:pt x="142" y="192"/>
                  </a:lnTo>
                  <a:lnTo>
                    <a:pt x="132" y="187"/>
                  </a:lnTo>
                  <a:lnTo>
                    <a:pt x="120" y="182"/>
                  </a:lnTo>
                  <a:lnTo>
                    <a:pt x="103" y="187"/>
                  </a:lnTo>
                  <a:lnTo>
                    <a:pt x="92" y="176"/>
                  </a:lnTo>
                  <a:lnTo>
                    <a:pt x="76" y="175"/>
                  </a:lnTo>
                  <a:lnTo>
                    <a:pt x="62" y="180"/>
                  </a:lnTo>
                  <a:lnTo>
                    <a:pt x="58" y="193"/>
                  </a:lnTo>
                  <a:lnTo>
                    <a:pt x="54" y="205"/>
                  </a:lnTo>
                  <a:lnTo>
                    <a:pt x="52" y="212"/>
                  </a:lnTo>
                  <a:lnTo>
                    <a:pt x="39" y="200"/>
                  </a:lnTo>
                  <a:lnTo>
                    <a:pt x="34" y="206"/>
                  </a:lnTo>
                  <a:lnTo>
                    <a:pt x="34" y="208"/>
                  </a:lnTo>
                  <a:lnTo>
                    <a:pt x="31" y="199"/>
                  </a:lnTo>
                  <a:lnTo>
                    <a:pt x="27" y="19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7" name="Freeform 136"/>
            <p:cNvSpPr>
              <a:spLocks/>
            </p:cNvSpPr>
            <p:nvPr/>
          </p:nvSpPr>
          <p:spPr bwMode="auto">
            <a:xfrm>
              <a:off x="2227" y="2374"/>
              <a:ext cx="106" cy="87"/>
            </a:xfrm>
            <a:custGeom>
              <a:avLst/>
              <a:gdLst/>
              <a:ahLst/>
              <a:cxnLst>
                <a:cxn ang="0">
                  <a:pos x="18" y="4"/>
                </a:cxn>
                <a:cxn ang="0">
                  <a:pos x="15" y="11"/>
                </a:cxn>
                <a:cxn ang="0">
                  <a:pos x="8" y="23"/>
                </a:cxn>
                <a:cxn ang="0">
                  <a:pos x="0" y="35"/>
                </a:cxn>
                <a:cxn ang="0">
                  <a:pos x="10" y="48"/>
                </a:cxn>
                <a:cxn ang="0">
                  <a:pos x="15" y="45"/>
                </a:cxn>
                <a:cxn ang="0">
                  <a:pos x="11" y="48"/>
                </a:cxn>
                <a:cxn ang="0">
                  <a:pos x="14" y="49"/>
                </a:cxn>
                <a:cxn ang="0">
                  <a:pos x="14" y="55"/>
                </a:cxn>
                <a:cxn ang="0">
                  <a:pos x="30" y="55"/>
                </a:cxn>
                <a:cxn ang="0">
                  <a:pos x="33" y="52"/>
                </a:cxn>
                <a:cxn ang="0">
                  <a:pos x="52" y="55"/>
                </a:cxn>
                <a:cxn ang="0">
                  <a:pos x="56" y="60"/>
                </a:cxn>
                <a:cxn ang="0">
                  <a:pos x="35" y="55"/>
                </a:cxn>
                <a:cxn ang="0">
                  <a:pos x="23" y="60"/>
                </a:cxn>
                <a:cxn ang="0">
                  <a:pos x="10" y="64"/>
                </a:cxn>
                <a:cxn ang="0">
                  <a:pos x="12" y="72"/>
                </a:cxn>
                <a:cxn ang="0">
                  <a:pos x="23" y="71"/>
                </a:cxn>
                <a:cxn ang="0">
                  <a:pos x="29" y="69"/>
                </a:cxn>
                <a:cxn ang="0">
                  <a:pos x="29" y="71"/>
                </a:cxn>
                <a:cxn ang="0">
                  <a:pos x="15" y="72"/>
                </a:cxn>
                <a:cxn ang="0">
                  <a:pos x="11" y="78"/>
                </a:cxn>
                <a:cxn ang="0">
                  <a:pos x="32" y="73"/>
                </a:cxn>
                <a:cxn ang="0">
                  <a:pos x="45" y="72"/>
                </a:cxn>
                <a:cxn ang="0">
                  <a:pos x="58" y="71"/>
                </a:cxn>
                <a:cxn ang="0">
                  <a:pos x="72" y="75"/>
                </a:cxn>
                <a:cxn ang="0">
                  <a:pos x="95" y="76"/>
                </a:cxn>
                <a:cxn ang="0">
                  <a:pos x="90" y="59"/>
                </a:cxn>
                <a:cxn ang="0">
                  <a:pos x="86" y="52"/>
                </a:cxn>
                <a:cxn ang="0">
                  <a:pos x="82" y="34"/>
                </a:cxn>
                <a:cxn ang="0">
                  <a:pos x="70" y="22"/>
                </a:cxn>
                <a:cxn ang="0">
                  <a:pos x="58" y="9"/>
                </a:cxn>
                <a:cxn ang="0">
                  <a:pos x="44" y="0"/>
                </a:cxn>
                <a:cxn ang="0">
                  <a:pos x="32" y="1"/>
                </a:cxn>
                <a:cxn ang="0">
                  <a:pos x="18" y="4"/>
                </a:cxn>
              </a:cxnLst>
              <a:rect l="0" t="0" r="r" b="b"/>
              <a:pathLst>
                <a:path w="95" h="78">
                  <a:moveTo>
                    <a:pt x="18" y="4"/>
                  </a:moveTo>
                  <a:lnTo>
                    <a:pt x="15" y="11"/>
                  </a:lnTo>
                  <a:lnTo>
                    <a:pt x="8" y="23"/>
                  </a:lnTo>
                  <a:lnTo>
                    <a:pt x="0" y="35"/>
                  </a:lnTo>
                  <a:lnTo>
                    <a:pt x="10" y="48"/>
                  </a:lnTo>
                  <a:lnTo>
                    <a:pt x="15" y="45"/>
                  </a:lnTo>
                  <a:lnTo>
                    <a:pt x="11" y="48"/>
                  </a:lnTo>
                  <a:lnTo>
                    <a:pt x="14" y="49"/>
                  </a:lnTo>
                  <a:lnTo>
                    <a:pt x="14" y="55"/>
                  </a:lnTo>
                  <a:lnTo>
                    <a:pt x="30" y="55"/>
                  </a:lnTo>
                  <a:lnTo>
                    <a:pt x="33" y="52"/>
                  </a:lnTo>
                  <a:lnTo>
                    <a:pt x="52" y="55"/>
                  </a:lnTo>
                  <a:lnTo>
                    <a:pt x="56" y="60"/>
                  </a:lnTo>
                  <a:lnTo>
                    <a:pt x="35" y="55"/>
                  </a:lnTo>
                  <a:lnTo>
                    <a:pt x="23" y="60"/>
                  </a:lnTo>
                  <a:lnTo>
                    <a:pt x="10" y="64"/>
                  </a:lnTo>
                  <a:lnTo>
                    <a:pt x="12" y="72"/>
                  </a:lnTo>
                  <a:lnTo>
                    <a:pt x="23" y="71"/>
                  </a:lnTo>
                  <a:lnTo>
                    <a:pt x="29" y="69"/>
                  </a:lnTo>
                  <a:lnTo>
                    <a:pt x="29" y="71"/>
                  </a:lnTo>
                  <a:lnTo>
                    <a:pt x="15" y="72"/>
                  </a:lnTo>
                  <a:lnTo>
                    <a:pt x="11" y="78"/>
                  </a:lnTo>
                  <a:lnTo>
                    <a:pt x="32" y="73"/>
                  </a:lnTo>
                  <a:lnTo>
                    <a:pt x="45" y="72"/>
                  </a:lnTo>
                  <a:lnTo>
                    <a:pt x="58" y="71"/>
                  </a:lnTo>
                  <a:lnTo>
                    <a:pt x="72" y="75"/>
                  </a:lnTo>
                  <a:lnTo>
                    <a:pt x="95" y="76"/>
                  </a:lnTo>
                  <a:lnTo>
                    <a:pt x="90" y="59"/>
                  </a:lnTo>
                  <a:lnTo>
                    <a:pt x="86" y="52"/>
                  </a:lnTo>
                  <a:lnTo>
                    <a:pt x="82" y="34"/>
                  </a:lnTo>
                  <a:lnTo>
                    <a:pt x="70" y="22"/>
                  </a:lnTo>
                  <a:lnTo>
                    <a:pt x="58" y="9"/>
                  </a:lnTo>
                  <a:lnTo>
                    <a:pt x="44" y="0"/>
                  </a:lnTo>
                  <a:lnTo>
                    <a:pt x="32" y="1"/>
                  </a:lnTo>
                  <a:lnTo>
                    <a:pt x="18"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8" name="Freeform 137"/>
            <p:cNvSpPr>
              <a:spLocks/>
            </p:cNvSpPr>
            <p:nvPr/>
          </p:nvSpPr>
          <p:spPr bwMode="auto">
            <a:xfrm>
              <a:off x="2656" y="1963"/>
              <a:ext cx="68" cy="140"/>
            </a:xfrm>
            <a:custGeom>
              <a:avLst/>
              <a:gdLst/>
              <a:ahLst/>
              <a:cxnLst>
                <a:cxn ang="0">
                  <a:pos x="41" y="118"/>
                </a:cxn>
                <a:cxn ang="0">
                  <a:pos x="32" y="126"/>
                </a:cxn>
                <a:cxn ang="0">
                  <a:pos x="29" y="109"/>
                </a:cxn>
                <a:cxn ang="0">
                  <a:pos x="24" y="92"/>
                </a:cxn>
                <a:cxn ang="0">
                  <a:pos x="12" y="79"/>
                </a:cxn>
                <a:cxn ang="0">
                  <a:pos x="0" y="61"/>
                </a:cxn>
                <a:cxn ang="0">
                  <a:pos x="7" y="48"/>
                </a:cxn>
                <a:cxn ang="0">
                  <a:pos x="13" y="34"/>
                </a:cxn>
                <a:cxn ang="0">
                  <a:pos x="12" y="10"/>
                </a:cxn>
                <a:cxn ang="0">
                  <a:pos x="15" y="6"/>
                </a:cxn>
                <a:cxn ang="0">
                  <a:pos x="32" y="0"/>
                </a:cxn>
                <a:cxn ang="0">
                  <a:pos x="38" y="3"/>
                </a:cxn>
                <a:cxn ang="0">
                  <a:pos x="42" y="9"/>
                </a:cxn>
                <a:cxn ang="0">
                  <a:pos x="51" y="3"/>
                </a:cxn>
                <a:cxn ang="0">
                  <a:pos x="44" y="22"/>
                </a:cxn>
                <a:cxn ang="0">
                  <a:pos x="54" y="36"/>
                </a:cxn>
                <a:cxn ang="0">
                  <a:pos x="45" y="46"/>
                </a:cxn>
                <a:cxn ang="0">
                  <a:pos x="38" y="57"/>
                </a:cxn>
                <a:cxn ang="0">
                  <a:pos x="51" y="66"/>
                </a:cxn>
                <a:cxn ang="0">
                  <a:pos x="61" y="73"/>
                </a:cxn>
                <a:cxn ang="0">
                  <a:pos x="60" y="87"/>
                </a:cxn>
                <a:cxn ang="0">
                  <a:pos x="50" y="96"/>
                </a:cxn>
                <a:cxn ang="0">
                  <a:pos x="41" y="104"/>
                </a:cxn>
                <a:cxn ang="0">
                  <a:pos x="41" y="118"/>
                </a:cxn>
              </a:cxnLst>
              <a:rect l="0" t="0" r="r" b="b"/>
              <a:pathLst>
                <a:path w="61" h="126">
                  <a:moveTo>
                    <a:pt x="41" y="118"/>
                  </a:moveTo>
                  <a:lnTo>
                    <a:pt x="32" y="126"/>
                  </a:lnTo>
                  <a:lnTo>
                    <a:pt x="29" y="109"/>
                  </a:lnTo>
                  <a:lnTo>
                    <a:pt x="24" y="92"/>
                  </a:lnTo>
                  <a:lnTo>
                    <a:pt x="12" y="79"/>
                  </a:lnTo>
                  <a:lnTo>
                    <a:pt x="0" y="61"/>
                  </a:lnTo>
                  <a:lnTo>
                    <a:pt x="7" y="48"/>
                  </a:lnTo>
                  <a:lnTo>
                    <a:pt x="13" y="34"/>
                  </a:lnTo>
                  <a:lnTo>
                    <a:pt x="12" y="10"/>
                  </a:lnTo>
                  <a:lnTo>
                    <a:pt x="15" y="6"/>
                  </a:lnTo>
                  <a:lnTo>
                    <a:pt x="32" y="0"/>
                  </a:lnTo>
                  <a:lnTo>
                    <a:pt x="38" y="3"/>
                  </a:lnTo>
                  <a:lnTo>
                    <a:pt x="42" y="9"/>
                  </a:lnTo>
                  <a:lnTo>
                    <a:pt x="51" y="3"/>
                  </a:lnTo>
                  <a:lnTo>
                    <a:pt x="44" y="22"/>
                  </a:lnTo>
                  <a:lnTo>
                    <a:pt x="54" y="36"/>
                  </a:lnTo>
                  <a:lnTo>
                    <a:pt x="45" y="46"/>
                  </a:lnTo>
                  <a:lnTo>
                    <a:pt x="38" y="57"/>
                  </a:lnTo>
                  <a:lnTo>
                    <a:pt x="51" y="66"/>
                  </a:lnTo>
                  <a:lnTo>
                    <a:pt x="61" y="73"/>
                  </a:lnTo>
                  <a:lnTo>
                    <a:pt x="60" y="87"/>
                  </a:lnTo>
                  <a:lnTo>
                    <a:pt x="50" y="96"/>
                  </a:lnTo>
                  <a:lnTo>
                    <a:pt x="41" y="104"/>
                  </a:lnTo>
                  <a:lnTo>
                    <a:pt x="41" y="1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9" name="Freeform 138"/>
            <p:cNvSpPr>
              <a:spLocks/>
            </p:cNvSpPr>
            <p:nvPr/>
          </p:nvSpPr>
          <p:spPr bwMode="auto">
            <a:xfrm>
              <a:off x="2329" y="2536"/>
              <a:ext cx="73" cy="83"/>
            </a:xfrm>
            <a:custGeom>
              <a:avLst/>
              <a:gdLst/>
              <a:ahLst/>
              <a:cxnLst>
                <a:cxn ang="0">
                  <a:pos x="62" y="74"/>
                </a:cxn>
                <a:cxn ang="0">
                  <a:pos x="45" y="63"/>
                </a:cxn>
                <a:cxn ang="0">
                  <a:pos x="29" y="54"/>
                </a:cxn>
                <a:cxn ang="0">
                  <a:pos x="14" y="40"/>
                </a:cxn>
                <a:cxn ang="0">
                  <a:pos x="0" y="27"/>
                </a:cxn>
                <a:cxn ang="0">
                  <a:pos x="5" y="21"/>
                </a:cxn>
                <a:cxn ang="0">
                  <a:pos x="12" y="10"/>
                </a:cxn>
                <a:cxn ang="0">
                  <a:pos x="19" y="0"/>
                </a:cxn>
                <a:cxn ang="0">
                  <a:pos x="27" y="0"/>
                </a:cxn>
                <a:cxn ang="0">
                  <a:pos x="32" y="18"/>
                </a:cxn>
                <a:cxn ang="0">
                  <a:pos x="36" y="21"/>
                </a:cxn>
                <a:cxn ang="0">
                  <a:pos x="43" y="16"/>
                </a:cxn>
                <a:cxn ang="0">
                  <a:pos x="48" y="16"/>
                </a:cxn>
                <a:cxn ang="0">
                  <a:pos x="48" y="32"/>
                </a:cxn>
                <a:cxn ang="0">
                  <a:pos x="48" y="36"/>
                </a:cxn>
                <a:cxn ang="0">
                  <a:pos x="57" y="44"/>
                </a:cxn>
                <a:cxn ang="0">
                  <a:pos x="65" y="52"/>
                </a:cxn>
                <a:cxn ang="0">
                  <a:pos x="62" y="74"/>
                </a:cxn>
              </a:cxnLst>
              <a:rect l="0" t="0" r="r" b="b"/>
              <a:pathLst>
                <a:path w="65" h="74">
                  <a:moveTo>
                    <a:pt x="62" y="74"/>
                  </a:moveTo>
                  <a:lnTo>
                    <a:pt x="45" y="63"/>
                  </a:lnTo>
                  <a:lnTo>
                    <a:pt x="29" y="54"/>
                  </a:lnTo>
                  <a:lnTo>
                    <a:pt x="14" y="40"/>
                  </a:lnTo>
                  <a:lnTo>
                    <a:pt x="0" y="27"/>
                  </a:lnTo>
                  <a:lnTo>
                    <a:pt x="5" y="21"/>
                  </a:lnTo>
                  <a:lnTo>
                    <a:pt x="12" y="10"/>
                  </a:lnTo>
                  <a:lnTo>
                    <a:pt x="19" y="0"/>
                  </a:lnTo>
                  <a:lnTo>
                    <a:pt x="27" y="0"/>
                  </a:lnTo>
                  <a:lnTo>
                    <a:pt x="32" y="18"/>
                  </a:lnTo>
                  <a:lnTo>
                    <a:pt x="36" y="21"/>
                  </a:lnTo>
                  <a:lnTo>
                    <a:pt x="43" y="16"/>
                  </a:lnTo>
                  <a:lnTo>
                    <a:pt x="48" y="16"/>
                  </a:lnTo>
                  <a:lnTo>
                    <a:pt x="48" y="32"/>
                  </a:lnTo>
                  <a:lnTo>
                    <a:pt x="48" y="36"/>
                  </a:lnTo>
                  <a:lnTo>
                    <a:pt x="57" y="44"/>
                  </a:lnTo>
                  <a:lnTo>
                    <a:pt x="65" y="52"/>
                  </a:lnTo>
                  <a:lnTo>
                    <a:pt x="62" y="7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0" name="Freeform 139"/>
            <p:cNvSpPr>
              <a:spLocks/>
            </p:cNvSpPr>
            <p:nvPr/>
          </p:nvSpPr>
          <p:spPr bwMode="auto">
            <a:xfrm>
              <a:off x="1076" y="2514"/>
              <a:ext cx="55" cy="47"/>
            </a:xfrm>
            <a:custGeom>
              <a:avLst/>
              <a:gdLst/>
              <a:ahLst/>
              <a:cxnLst>
                <a:cxn ang="0">
                  <a:pos x="0" y="28"/>
                </a:cxn>
                <a:cxn ang="0">
                  <a:pos x="1" y="14"/>
                </a:cxn>
                <a:cxn ang="0">
                  <a:pos x="0" y="2"/>
                </a:cxn>
                <a:cxn ang="0">
                  <a:pos x="6" y="0"/>
                </a:cxn>
                <a:cxn ang="0">
                  <a:pos x="10" y="8"/>
                </a:cxn>
                <a:cxn ang="0">
                  <a:pos x="18" y="10"/>
                </a:cxn>
                <a:cxn ang="0">
                  <a:pos x="22" y="15"/>
                </a:cxn>
                <a:cxn ang="0">
                  <a:pos x="44" y="6"/>
                </a:cxn>
                <a:cxn ang="0">
                  <a:pos x="46" y="9"/>
                </a:cxn>
                <a:cxn ang="0">
                  <a:pos x="50" y="14"/>
                </a:cxn>
                <a:cxn ang="0">
                  <a:pos x="38" y="24"/>
                </a:cxn>
                <a:cxn ang="0">
                  <a:pos x="45" y="36"/>
                </a:cxn>
                <a:cxn ang="0">
                  <a:pos x="31" y="42"/>
                </a:cxn>
                <a:cxn ang="0">
                  <a:pos x="28" y="32"/>
                </a:cxn>
                <a:cxn ang="0">
                  <a:pos x="26" y="35"/>
                </a:cxn>
                <a:cxn ang="0">
                  <a:pos x="19" y="28"/>
                </a:cxn>
                <a:cxn ang="0">
                  <a:pos x="3" y="23"/>
                </a:cxn>
                <a:cxn ang="0">
                  <a:pos x="0" y="28"/>
                </a:cxn>
              </a:cxnLst>
              <a:rect l="0" t="0" r="r" b="b"/>
              <a:pathLst>
                <a:path w="50" h="42">
                  <a:moveTo>
                    <a:pt x="0" y="28"/>
                  </a:moveTo>
                  <a:lnTo>
                    <a:pt x="1" y="14"/>
                  </a:lnTo>
                  <a:lnTo>
                    <a:pt x="0" y="2"/>
                  </a:lnTo>
                  <a:lnTo>
                    <a:pt x="6" y="0"/>
                  </a:lnTo>
                  <a:lnTo>
                    <a:pt x="10" y="8"/>
                  </a:lnTo>
                  <a:lnTo>
                    <a:pt x="18" y="10"/>
                  </a:lnTo>
                  <a:lnTo>
                    <a:pt x="22" y="15"/>
                  </a:lnTo>
                  <a:lnTo>
                    <a:pt x="44" y="6"/>
                  </a:lnTo>
                  <a:lnTo>
                    <a:pt x="46" y="9"/>
                  </a:lnTo>
                  <a:lnTo>
                    <a:pt x="50" y="14"/>
                  </a:lnTo>
                  <a:lnTo>
                    <a:pt x="38" y="24"/>
                  </a:lnTo>
                  <a:lnTo>
                    <a:pt x="45" y="36"/>
                  </a:lnTo>
                  <a:lnTo>
                    <a:pt x="31" y="42"/>
                  </a:lnTo>
                  <a:lnTo>
                    <a:pt x="28" y="32"/>
                  </a:lnTo>
                  <a:lnTo>
                    <a:pt x="26" y="35"/>
                  </a:lnTo>
                  <a:lnTo>
                    <a:pt x="19" y="28"/>
                  </a:lnTo>
                  <a:lnTo>
                    <a:pt x="3" y="23"/>
                  </a:lnTo>
                  <a:lnTo>
                    <a:pt x="0"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1" name="Freeform 140"/>
            <p:cNvSpPr>
              <a:spLocks/>
            </p:cNvSpPr>
            <p:nvPr/>
          </p:nvSpPr>
          <p:spPr bwMode="auto">
            <a:xfrm>
              <a:off x="1067" y="2243"/>
              <a:ext cx="182" cy="64"/>
            </a:xfrm>
            <a:custGeom>
              <a:avLst/>
              <a:gdLst/>
              <a:ahLst/>
              <a:cxnLst>
                <a:cxn ang="0">
                  <a:pos x="116" y="23"/>
                </a:cxn>
                <a:cxn ang="0">
                  <a:pos x="116" y="24"/>
                </a:cxn>
                <a:cxn ang="0">
                  <a:pos x="100" y="17"/>
                </a:cxn>
                <a:cxn ang="0">
                  <a:pos x="83" y="8"/>
                </a:cxn>
                <a:cxn ang="0">
                  <a:pos x="71" y="3"/>
                </a:cxn>
                <a:cxn ang="0">
                  <a:pos x="60" y="0"/>
                </a:cxn>
                <a:cxn ang="0">
                  <a:pos x="54" y="0"/>
                </a:cxn>
                <a:cxn ang="0">
                  <a:pos x="35" y="3"/>
                </a:cxn>
                <a:cxn ang="0">
                  <a:pos x="17" y="7"/>
                </a:cxn>
                <a:cxn ang="0">
                  <a:pos x="9" y="18"/>
                </a:cxn>
                <a:cxn ang="0">
                  <a:pos x="0" y="23"/>
                </a:cxn>
                <a:cxn ang="0">
                  <a:pos x="6" y="21"/>
                </a:cxn>
                <a:cxn ang="0">
                  <a:pos x="20" y="15"/>
                </a:cxn>
                <a:cxn ang="0">
                  <a:pos x="32" y="9"/>
                </a:cxn>
                <a:cxn ang="0">
                  <a:pos x="52" y="9"/>
                </a:cxn>
                <a:cxn ang="0">
                  <a:pos x="45" y="12"/>
                </a:cxn>
                <a:cxn ang="0">
                  <a:pos x="58" y="17"/>
                </a:cxn>
                <a:cxn ang="0">
                  <a:pos x="66" y="19"/>
                </a:cxn>
                <a:cxn ang="0">
                  <a:pos x="71" y="21"/>
                </a:cxn>
                <a:cxn ang="0">
                  <a:pos x="93" y="26"/>
                </a:cxn>
                <a:cxn ang="0">
                  <a:pos x="98" y="37"/>
                </a:cxn>
                <a:cxn ang="0">
                  <a:pos x="117" y="47"/>
                </a:cxn>
                <a:cxn ang="0">
                  <a:pos x="107" y="57"/>
                </a:cxn>
                <a:cxn ang="0">
                  <a:pos x="123" y="57"/>
                </a:cxn>
                <a:cxn ang="0">
                  <a:pos x="138" y="56"/>
                </a:cxn>
                <a:cxn ang="0">
                  <a:pos x="150" y="55"/>
                </a:cxn>
                <a:cxn ang="0">
                  <a:pos x="164" y="53"/>
                </a:cxn>
                <a:cxn ang="0">
                  <a:pos x="152" y="47"/>
                </a:cxn>
                <a:cxn ang="0">
                  <a:pos x="141" y="41"/>
                </a:cxn>
                <a:cxn ang="0">
                  <a:pos x="140" y="36"/>
                </a:cxn>
                <a:cxn ang="0">
                  <a:pos x="129" y="31"/>
                </a:cxn>
                <a:cxn ang="0">
                  <a:pos x="117" y="27"/>
                </a:cxn>
                <a:cxn ang="0">
                  <a:pos x="116" y="23"/>
                </a:cxn>
              </a:cxnLst>
              <a:rect l="0" t="0" r="r" b="b"/>
              <a:pathLst>
                <a:path w="164" h="57">
                  <a:moveTo>
                    <a:pt x="116" y="23"/>
                  </a:moveTo>
                  <a:lnTo>
                    <a:pt x="116" y="24"/>
                  </a:lnTo>
                  <a:lnTo>
                    <a:pt x="100" y="17"/>
                  </a:lnTo>
                  <a:lnTo>
                    <a:pt x="83" y="8"/>
                  </a:lnTo>
                  <a:lnTo>
                    <a:pt x="71" y="3"/>
                  </a:lnTo>
                  <a:lnTo>
                    <a:pt x="60" y="0"/>
                  </a:lnTo>
                  <a:lnTo>
                    <a:pt x="54" y="0"/>
                  </a:lnTo>
                  <a:lnTo>
                    <a:pt x="35" y="3"/>
                  </a:lnTo>
                  <a:lnTo>
                    <a:pt x="17" y="7"/>
                  </a:lnTo>
                  <a:lnTo>
                    <a:pt x="9" y="18"/>
                  </a:lnTo>
                  <a:lnTo>
                    <a:pt x="0" y="23"/>
                  </a:lnTo>
                  <a:lnTo>
                    <a:pt x="6" y="21"/>
                  </a:lnTo>
                  <a:lnTo>
                    <a:pt x="20" y="15"/>
                  </a:lnTo>
                  <a:lnTo>
                    <a:pt x="32" y="9"/>
                  </a:lnTo>
                  <a:lnTo>
                    <a:pt x="52" y="9"/>
                  </a:lnTo>
                  <a:lnTo>
                    <a:pt x="45" y="12"/>
                  </a:lnTo>
                  <a:lnTo>
                    <a:pt x="58" y="17"/>
                  </a:lnTo>
                  <a:lnTo>
                    <a:pt x="66" y="19"/>
                  </a:lnTo>
                  <a:lnTo>
                    <a:pt x="71" y="21"/>
                  </a:lnTo>
                  <a:lnTo>
                    <a:pt x="93" y="26"/>
                  </a:lnTo>
                  <a:lnTo>
                    <a:pt x="98" y="37"/>
                  </a:lnTo>
                  <a:lnTo>
                    <a:pt x="117" y="47"/>
                  </a:lnTo>
                  <a:lnTo>
                    <a:pt x="107" y="57"/>
                  </a:lnTo>
                  <a:lnTo>
                    <a:pt x="123" y="57"/>
                  </a:lnTo>
                  <a:lnTo>
                    <a:pt x="138" y="56"/>
                  </a:lnTo>
                  <a:lnTo>
                    <a:pt x="150" y="55"/>
                  </a:lnTo>
                  <a:lnTo>
                    <a:pt x="164" y="53"/>
                  </a:lnTo>
                  <a:lnTo>
                    <a:pt x="152" y="47"/>
                  </a:lnTo>
                  <a:lnTo>
                    <a:pt x="141" y="41"/>
                  </a:lnTo>
                  <a:lnTo>
                    <a:pt x="140" y="36"/>
                  </a:lnTo>
                  <a:lnTo>
                    <a:pt x="129" y="31"/>
                  </a:lnTo>
                  <a:lnTo>
                    <a:pt x="117" y="27"/>
                  </a:lnTo>
                  <a:lnTo>
                    <a:pt x="116" y="2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2" name="Freeform 141"/>
            <p:cNvSpPr>
              <a:spLocks/>
            </p:cNvSpPr>
            <p:nvPr/>
          </p:nvSpPr>
          <p:spPr bwMode="auto">
            <a:xfrm>
              <a:off x="1096" y="2267"/>
              <a:ext cx="11" cy="9"/>
            </a:xfrm>
            <a:custGeom>
              <a:avLst/>
              <a:gdLst/>
              <a:ahLst/>
              <a:cxnLst>
                <a:cxn ang="0">
                  <a:pos x="0" y="9"/>
                </a:cxn>
                <a:cxn ang="0">
                  <a:pos x="8" y="7"/>
                </a:cxn>
                <a:cxn ang="0">
                  <a:pos x="2" y="0"/>
                </a:cxn>
                <a:cxn ang="0">
                  <a:pos x="0" y="9"/>
                </a:cxn>
              </a:cxnLst>
              <a:rect l="0" t="0" r="r" b="b"/>
              <a:pathLst>
                <a:path w="8" h="9">
                  <a:moveTo>
                    <a:pt x="0" y="9"/>
                  </a:moveTo>
                  <a:lnTo>
                    <a:pt x="8" y="7"/>
                  </a:lnTo>
                  <a:lnTo>
                    <a:pt x="2" y="0"/>
                  </a:lnTo>
                  <a:lnTo>
                    <a:pt x="0"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3" name="Freeform 142"/>
            <p:cNvSpPr>
              <a:spLocks/>
            </p:cNvSpPr>
            <p:nvPr/>
          </p:nvSpPr>
          <p:spPr bwMode="auto">
            <a:xfrm>
              <a:off x="1120" y="2319"/>
              <a:ext cx="7" cy="2"/>
            </a:xfrm>
            <a:custGeom>
              <a:avLst/>
              <a:gdLst/>
              <a:ahLst/>
              <a:cxnLst>
                <a:cxn ang="0">
                  <a:pos x="5" y="1"/>
                </a:cxn>
                <a:cxn ang="0">
                  <a:pos x="5" y="0"/>
                </a:cxn>
                <a:cxn ang="0">
                  <a:pos x="4" y="0"/>
                </a:cxn>
                <a:cxn ang="0">
                  <a:pos x="3" y="0"/>
                </a:cxn>
                <a:cxn ang="0">
                  <a:pos x="2" y="0"/>
                </a:cxn>
                <a:cxn ang="0">
                  <a:pos x="3" y="0"/>
                </a:cxn>
                <a:cxn ang="0">
                  <a:pos x="3" y="1"/>
                </a:cxn>
                <a:cxn ang="0">
                  <a:pos x="2" y="1"/>
                </a:cxn>
                <a:cxn ang="0">
                  <a:pos x="0" y="1"/>
                </a:cxn>
                <a:cxn ang="0">
                  <a:pos x="0" y="0"/>
                </a:cxn>
                <a:cxn ang="0">
                  <a:pos x="0" y="1"/>
                </a:cxn>
                <a:cxn ang="0">
                  <a:pos x="0" y="2"/>
                </a:cxn>
                <a:cxn ang="0">
                  <a:pos x="0" y="1"/>
                </a:cxn>
                <a:cxn ang="0">
                  <a:pos x="2" y="1"/>
                </a:cxn>
                <a:cxn ang="0">
                  <a:pos x="2" y="2"/>
                </a:cxn>
                <a:cxn ang="0">
                  <a:pos x="3" y="2"/>
                </a:cxn>
                <a:cxn ang="0">
                  <a:pos x="3" y="1"/>
                </a:cxn>
                <a:cxn ang="0">
                  <a:pos x="4" y="1"/>
                </a:cxn>
                <a:cxn ang="0">
                  <a:pos x="5" y="1"/>
                </a:cxn>
              </a:cxnLst>
              <a:rect l="0" t="0" r="r" b="b"/>
              <a:pathLst>
                <a:path w="5" h="2">
                  <a:moveTo>
                    <a:pt x="5" y="1"/>
                  </a:moveTo>
                  <a:lnTo>
                    <a:pt x="5" y="0"/>
                  </a:lnTo>
                  <a:lnTo>
                    <a:pt x="4" y="0"/>
                  </a:lnTo>
                  <a:lnTo>
                    <a:pt x="3" y="0"/>
                  </a:lnTo>
                  <a:lnTo>
                    <a:pt x="2" y="0"/>
                  </a:lnTo>
                  <a:lnTo>
                    <a:pt x="3" y="0"/>
                  </a:lnTo>
                  <a:lnTo>
                    <a:pt x="3" y="1"/>
                  </a:lnTo>
                  <a:lnTo>
                    <a:pt x="2" y="1"/>
                  </a:lnTo>
                  <a:lnTo>
                    <a:pt x="0" y="1"/>
                  </a:lnTo>
                  <a:lnTo>
                    <a:pt x="0" y="0"/>
                  </a:lnTo>
                  <a:lnTo>
                    <a:pt x="0" y="1"/>
                  </a:lnTo>
                  <a:lnTo>
                    <a:pt x="0" y="2"/>
                  </a:lnTo>
                  <a:lnTo>
                    <a:pt x="0" y="1"/>
                  </a:lnTo>
                  <a:lnTo>
                    <a:pt x="2" y="1"/>
                  </a:lnTo>
                  <a:lnTo>
                    <a:pt x="2" y="2"/>
                  </a:lnTo>
                  <a:lnTo>
                    <a:pt x="3" y="2"/>
                  </a:lnTo>
                  <a:lnTo>
                    <a:pt x="3" y="1"/>
                  </a:lnTo>
                  <a:lnTo>
                    <a:pt x="4" y="1"/>
                  </a:lnTo>
                  <a:lnTo>
                    <a:pt x="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4" name="Freeform 143"/>
            <p:cNvSpPr>
              <a:spLocks/>
            </p:cNvSpPr>
            <p:nvPr/>
          </p:nvSpPr>
          <p:spPr bwMode="auto">
            <a:xfrm>
              <a:off x="1147" y="2310"/>
              <a:ext cx="2" cy="2"/>
            </a:xfrm>
            <a:custGeom>
              <a:avLst/>
              <a:gdLst/>
              <a:ahLst/>
              <a:cxnLst>
                <a:cxn ang="0">
                  <a:pos x="3" y="0"/>
                </a:cxn>
                <a:cxn ang="0">
                  <a:pos x="2" y="1"/>
                </a:cxn>
                <a:cxn ang="0">
                  <a:pos x="0" y="1"/>
                </a:cxn>
                <a:cxn ang="0">
                  <a:pos x="2" y="1"/>
                </a:cxn>
                <a:cxn ang="0">
                  <a:pos x="3" y="1"/>
                </a:cxn>
                <a:cxn ang="0">
                  <a:pos x="3" y="0"/>
                </a:cxn>
              </a:cxnLst>
              <a:rect l="0" t="0" r="r" b="b"/>
              <a:pathLst>
                <a:path w="3" h="1">
                  <a:moveTo>
                    <a:pt x="3" y="0"/>
                  </a:moveTo>
                  <a:lnTo>
                    <a:pt x="2" y="1"/>
                  </a:lnTo>
                  <a:lnTo>
                    <a:pt x="0" y="1"/>
                  </a:lnTo>
                  <a:lnTo>
                    <a:pt x="2" y="1"/>
                  </a:lnTo>
                  <a:lnTo>
                    <a:pt x="3" y="1"/>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5" name="Freeform 144"/>
            <p:cNvSpPr>
              <a:spLocks/>
            </p:cNvSpPr>
            <p:nvPr/>
          </p:nvSpPr>
          <p:spPr bwMode="auto">
            <a:xfrm>
              <a:off x="1142" y="2312"/>
              <a:ext cx="5" cy="2"/>
            </a:xfrm>
            <a:custGeom>
              <a:avLst/>
              <a:gdLst/>
              <a:ahLst/>
              <a:cxnLst>
                <a:cxn ang="0">
                  <a:pos x="2" y="0"/>
                </a:cxn>
                <a:cxn ang="0">
                  <a:pos x="1" y="0"/>
                </a:cxn>
                <a:cxn ang="0">
                  <a:pos x="0" y="0"/>
                </a:cxn>
                <a:cxn ang="0">
                  <a:pos x="0" y="1"/>
                </a:cxn>
                <a:cxn ang="0">
                  <a:pos x="1" y="1"/>
                </a:cxn>
                <a:cxn ang="0">
                  <a:pos x="1" y="0"/>
                </a:cxn>
                <a:cxn ang="0">
                  <a:pos x="2" y="0"/>
                </a:cxn>
              </a:cxnLst>
              <a:rect l="0" t="0" r="r" b="b"/>
              <a:pathLst>
                <a:path w="2" h="1">
                  <a:moveTo>
                    <a:pt x="2" y="0"/>
                  </a:moveTo>
                  <a:lnTo>
                    <a:pt x="1" y="0"/>
                  </a:lnTo>
                  <a:lnTo>
                    <a:pt x="0" y="0"/>
                  </a:lnTo>
                  <a:lnTo>
                    <a:pt x="0" y="1"/>
                  </a:lnTo>
                  <a:lnTo>
                    <a:pt x="1" y="1"/>
                  </a:lnTo>
                  <a:lnTo>
                    <a:pt x="1"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6" name="Freeform 145"/>
            <p:cNvSpPr>
              <a:spLocks/>
            </p:cNvSpPr>
            <p:nvPr/>
          </p:nvSpPr>
          <p:spPr bwMode="auto">
            <a:xfrm>
              <a:off x="1409" y="2336"/>
              <a:ext cx="2" cy="3"/>
            </a:xfrm>
            <a:custGeom>
              <a:avLst/>
              <a:gdLst/>
              <a:ahLst/>
              <a:cxnLst>
                <a:cxn ang="0">
                  <a:pos x="2" y="0"/>
                </a:cxn>
                <a:cxn ang="0">
                  <a:pos x="1" y="0"/>
                </a:cxn>
                <a:cxn ang="0">
                  <a:pos x="0" y="0"/>
                </a:cxn>
                <a:cxn ang="0">
                  <a:pos x="0" y="1"/>
                </a:cxn>
                <a:cxn ang="0">
                  <a:pos x="1" y="1"/>
                </a:cxn>
                <a:cxn ang="0">
                  <a:pos x="1" y="0"/>
                </a:cxn>
                <a:cxn ang="0">
                  <a:pos x="2" y="0"/>
                </a:cxn>
              </a:cxnLst>
              <a:rect l="0" t="0" r="r" b="b"/>
              <a:pathLst>
                <a:path w="2" h="1">
                  <a:moveTo>
                    <a:pt x="2" y="0"/>
                  </a:moveTo>
                  <a:lnTo>
                    <a:pt x="1" y="0"/>
                  </a:lnTo>
                  <a:lnTo>
                    <a:pt x="0" y="0"/>
                  </a:lnTo>
                  <a:lnTo>
                    <a:pt x="0" y="1"/>
                  </a:lnTo>
                  <a:lnTo>
                    <a:pt x="1" y="1"/>
                  </a:lnTo>
                  <a:lnTo>
                    <a:pt x="1"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7" name="Freeform 146"/>
            <p:cNvSpPr>
              <a:spLocks/>
            </p:cNvSpPr>
            <p:nvPr/>
          </p:nvSpPr>
          <p:spPr bwMode="auto">
            <a:xfrm>
              <a:off x="1414" y="2330"/>
              <a:ext cx="2" cy="2"/>
            </a:xfrm>
            <a:custGeom>
              <a:avLst/>
              <a:gdLst/>
              <a:ahLst/>
              <a:cxnLst>
                <a:cxn ang="0">
                  <a:pos x="3" y="1"/>
                </a:cxn>
                <a:cxn ang="0">
                  <a:pos x="2" y="1"/>
                </a:cxn>
                <a:cxn ang="0">
                  <a:pos x="2" y="0"/>
                </a:cxn>
                <a:cxn ang="0">
                  <a:pos x="0" y="0"/>
                </a:cxn>
                <a:cxn ang="0">
                  <a:pos x="0" y="1"/>
                </a:cxn>
                <a:cxn ang="0">
                  <a:pos x="0" y="0"/>
                </a:cxn>
                <a:cxn ang="0">
                  <a:pos x="0" y="1"/>
                </a:cxn>
                <a:cxn ang="0">
                  <a:pos x="2" y="1"/>
                </a:cxn>
                <a:cxn ang="0">
                  <a:pos x="3" y="1"/>
                </a:cxn>
              </a:cxnLst>
              <a:rect l="0" t="0" r="r" b="b"/>
              <a:pathLst>
                <a:path w="3" h="1">
                  <a:moveTo>
                    <a:pt x="3" y="1"/>
                  </a:moveTo>
                  <a:lnTo>
                    <a:pt x="2" y="1"/>
                  </a:lnTo>
                  <a:lnTo>
                    <a:pt x="2" y="0"/>
                  </a:lnTo>
                  <a:lnTo>
                    <a:pt x="0" y="0"/>
                  </a:lnTo>
                  <a:lnTo>
                    <a:pt x="0" y="1"/>
                  </a:lnTo>
                  <a:lnTo>
                    <a:pt x="0" y="0"/>
                  </a:lnTo>
                  <a:lnTo>
                    <a:pt x="0" y="1"/>
                  </a:lnTo>
                  <a:lnTo>
                    <a:pt x="2" y="1"/>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8" name="Freeform 147"/>
            <p:cNvSpPr>
              <a:spLocks/>
            </p:cNvSpPr>
            <p:nvPr/>
          </p:nvSpPr>
          <p:spPr bwMode="auto">
            <a:xfrm>
              <a:off x="1414" y="2336"/>
              <a:ext cx="2" cy="3"/>
            </a:xfrm>
            <a:custGeom>
              <a:avLst/>
              <a:gdLst/>
              <a:ahLst/>
              <a:cxnLst>
                <a:cxn ang="0">
                  <a:pos x="3" y="0"/>
                </a:cxn>
                <a:cxn ang="0">
                  <a:pos x="1" y="0"/>
                </a:cxn>
                <a:cxn ang="0">
                  <a:pos x="1" y="1"/>
                </a:cxn>
                <a:cxn ang="0">
                  <a:pos x="0" y="1"/>
                </a:cxn>
                <a:cxn ang="0">
                  <a:pos x="1" y="1"/>
                </a:cxn>
                <a:cxn ang="0">
                  <a:pos x="1" y="0"/>
                </a:cxn>
                <a:cxn ang="0">
                  <a:pos x="3" y="0"/>
                </a:cxn>
              </a:cxnLst>
              <a:rect l="0" t="0" r="r" b="b"/>
              <a:pathLst>
                <a:path w="3" h="1">
                  <a:moveTo>
                    <a:pt x="3" y="0"/>
                  </a:moveTo>
                  <a:lnTo>
                    <a:pt x="1" y="0"/>
                  </a:lnTo>
                  <a:lnTo>
                    <a:pt x="1" y="1"/>
                  </a:lnTo>
                  <a:lnTo>
                    <a:pt x="0" y="1"/>
                  </a:lnTo>
                  <a:lnTo>
                    <a:pt x="1" y="1"/>
                  </a:lnTo>
                  <a:lnTo>
                    <a:pt x="1" y="0"/>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9" name="Freeform 148"/>
            <p:cNvSpPr>
              <a:spLocks/>
            </p:cNvSpPr>
            <p:nvPr/>
          </p:nvSpPr>
          <p:spPr bwMode="auto">
            <a:xfrm>
              <a:off x="1409" y="2339"/>
              <a:ext cx="2" cy="2"/>
            </a:xfrm>
            <a:custGeom>
              <a:avLst/>
              <a:gdLst/>
              <a:ahLst/>
              <a:cxnLst>
                <a:cxn ang="0">
                  <a:pos x="1" y="0"/>
                </a:cxn>
                <a:cxn ang="0">
                  <a:pos x="0" y="0"/>
                </a:cxn>
                <a:cxn ang="0">
                  <a:pos x="0" y="1"/>
                </a:cxn>
                <a:cxn ang="0">
                  <a:pos x="0" y="0"/>
                </a:cxn>
                <a:cxn ang="0">
                  <a:pos x="1" y="0"/>
                </a:cxn>
              </a:cxnLst>
              <a:rect l="0" t="0" r="r" b="b"/>
              <a:pathLst>
                <a:path w="1" h="1">
                  <a:moveTo>
                    <a:pt x="1" y="0"/>
                  </a:moveTo>
                  <a:lnTo>
                    <a:pt x="0" y="0"/>
                  </a:lnTo>
                  <a:lnTo>
                    <a:pt x="0"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0" name="Freeform 149"/>
            <p:cNvSpPr>
              <a:spLocks/>
            </p:cNvSpPr>
            <p:nvPr/>
          </p:nvSpPr>
          <p:spPr bwMode="auto">
            <a:xfrm>
              <a:off x="1282" y="2310"/>
              <a:ext cx="65" cy="44"/>
            </a:xfrm>
            <a:custGeom>
              <a:avLst/>
              <a:gdLst/>
              <a:ahLst/>
              <a:cxnLst>
                <a:cxn ang="0">
                  <a:pos x="5" y="2"/>
                </a:cxn>
                <a:cxn ang="0">
                  <a:pos x="2" y="15"/>
                </a:cxn>
                <a:cxn ang="0">
                  <a:pos x="0" y="21"/>
                </a:cxn>
                <a:cxn ang="0">
                  <a:pos x="1" y="32"/>
                </a:cxn>
                <a:cxn ang="0">
                  <a:pos x="6" y="40"/>
                </a:cxn>
                <a:cxn ang="0">
                  <a:pos x="13" y="30"/>
                </a:cxn>
                <a:cxn ang="0">
                  <a:pos x="20" y="26"/>
                </a:cxn>
                <a:cxn ang="0">
                  <a:pos x="29" y="27"/>
                </a:cxn>
                <a:cxn ang="0">
                  <a:pos x="49" y="28"/>
                </a:cxn>
                <a:cxn ang="0">
                  <a:pos x="56" y="21"/>
                </a:cxn>
                <a:cxn ang="0">
                  <a:pos x="38" y="13"/>
                </a:cxn>
                <a:cxn ang="0">
                  <a:pos x="42" y="9"/>
                </a:cxn>
                <a:cxn ang="0">
                  <a:pos x="33" y="6"/>
                </a:cxn>
                <a:cxn ang="0">
                  <a:pos x="12" y="0"/>
                </a:cxn>
                <a:cxn ang="0">
                  <a:pos x="5" y="2"/>
                </a:cxn>
              </a:cxnLst>
              <a:rect l="0" t="0" r="r" b="b"/>
              <a:pathLst>
                <a:path w="56" h="40">
                  <a:moveTo>
                    <a:pt x="5" y="2"/>
                  </a:moveTo>
                  <a:lnTo>
                    <a:pt x="2" y="15"/>
                  </a:lnTo>
                  <a:lnTo>
                    <a:pt x="0" y="21"/>
                  </a:lnTo>
                  <a:lnTo>
                    <a:pt x="1" y="32"/>
                  </a:lnTo>
                  <a:lnTo>
                    <a:pt x="6" y="40"/>
                  </a:lnTo>
                  <a:lnTo>
                    <a:pt x="13" y="30"/>
                  </a:lnTo>
                  <a:lnTo>
                    <a:pt x="20" y="26"/>
                  </a:lnTo>
                  <a:lnTo>
                    <a:pt x="29" y="27"/>
                  </a:lnTo>
                  <a:lnTo>
                    <a:pt x="49" y="28"/>
                  </a:lnTo>
                  <a:lnTo>
                    <a:pt x="56" y="21"/>
                  </a:lnTo>
                  <a:lnTo>
                    <a:pt x="38" y="13"/>
                  </a:lnTo>
                  <a:lnTo>
                    <a:pt x="42" y="9"/>
                  </a:lnTo>
                  <a:lnTo>
                    <a:pt x="33" y="6"/>
                  </a:lnTo>
                  <a:lnTo>
                    <a:pt x="12"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1" name="Freeform 150"/>
            <p:cNvSpPr>
              <a:spLocks/>
            </p:cNvSpPr>
            <p:nvPr/>
          </p:nvSpPr>
          <p:spPr bwMode="auto">
            <a:xfrm>
              <a:off x="1238" y="2310"/>
              <a:ext cx="51" cy="35"/>
            </a:xfrm>
            <a:custGeom>
              <a:avLst/>
              <a:gdLst/>
              <a:ahLst/>
              <a:cxnLst>
                <a:cxn ang="0">
                  <a:pos x="46" y="2"/>
                </a:cxn>
                <a:cxn ang="0">
                  <a:pos x="43" y="15"/>
                </a:cxn>
                <a:cxn ang="0">
                  <a:pos x="41" y="21"/>
                </a:cxn>
                <a:cxn ang="0">
                  <a:pos x="42" y="32"/>
                </a:cxn>
                <a:cxn ang="0">
                  <a:pos x="26" y="31"/>
                </a:cxn>
                <a:cxn ang="0">
                  <a:pos x="10" y="31"/>
                </a:cxn>
                <a:cxn ang="0">
                  <a:pos x="0" y="25"/>
                </a:cxn>
                <a:cxn ang="0">
                  <a:pos x="8" y="22"/>
                </a:cxn>
                <a:cxn ang="0">
                  <a:pos x="22" y="22"/>
                </a:cxn>
                <a:cxn ang="0">
                  <a:pos x="34" y="24"/>
                </a:cxn>
                <a:cxn ang="0">
                  <a:pos x="29" y="9"/>
                </a:cxn>
                <a:cxn ang="0">
                  <a:pos x="23" y="3"/>
                </a:cxn>
                <a:cxn ang="0">
                  <a:pos x="20" y="0"/>
                </a:cxn>
                <a:cxn ang="0">
                  <a:pos x="36" y="1"/>
                </a:cxn>
                <a:cxn ang="0">
                  <a:pos x="46" y="2"/>
                </a:cxn>
              </a:cxnLst>
              <a:rect l="0" t="0" r="r" b="b"/>
              <a:pathLst>
                <a:path w="46" h="32">
                  <a:moveTo>
                    <a:pt x="46" y="2"/>
                  </a:moveTo>
                  <a:lnTo>
                    <a:pt x="43" y="15"/>
                  </a:lnTo>
                  <a:lnTo>
                    <a:pt x="41" y="21"/>
                  </a:lnTo>
                  <a:lnTo>
                    <a:pt x="42" y="32"/>
                  </a:lnTo>
                  <a:lnTo>
                    <a:pt x="26" y="31"/>
                  </a:lnTo>
                  <a:lnTo>
                    <a:pt x="10" y="31"/>
                  </a:lnTo>
                  <a:lnTo>
                    <a:pt x="0" y="25"/>
                  </a:lnTo>
                  <a:lnTo>
                    <a:pt x="8" y="22"/>
                  </a:lnTo>
                  <a:lnTo>
                    <a:pt x="22" y="22"/>
                  </a:lnTo>
                  <a:lnTo>
                    <a:pt x="34" y="24"/>
                  </a:lnTo>
                  <a:lnTo>
                    <a:pt x="29" y="9"/>
                  </a:lnTo>
                  <a:lnTo>
                    <a:pt x="23" y="3"/>
                  </a:lnTo>
                  <a:lnTo>
                    <a:pt x="20" y="0"/>
                  </a:lnTo>
                  <a:lnTo>
                    <a:pt x="36" y="1"/>
                  </a:lnTo>
                  <a:lnTo>
                    <a:pt x="4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2" name="Freeform 151"/>
            <p:cNvSpPr>
              <a:spLocks/>
            </p:cNvSpPr>
            <p:nvPr/>
          </p:nvSpPr>
          <p:spPr bwMode="auto">
            <a:xfrm>
              <a:off x="1282" y="2270"/>
              <a:ext cx="5" cy="2"/>
            </a:xfrm>
            <a:custGeom>
              <a:avLst/>
              <a:gdLst/>
              <a:ahLst/>
              <a:cxnLst>
                <a:cxn ang="0">
                  <a:pos x="2" y="1"/>
                </a:cxn>
                <a:cxn ang="0">
                  <a:pos x="0" y="1"/>
                </a:cxn>
                <a:cxn ang="0">
                  <a:pos x="0" y="0"/>
                </a:cxn>
                <a:cxn ang="0">
                  <a:pos x="3" y="1"/>
                </a:cxn>
                <a:cxn ang="0">
                  <a:pos x="2" y="1"/>
                </a:cxn>
              </a:cxnLst>
              <a:rect l="0" t="0" r="r" b="b"/>
              <a:pathLst>
                <a:path w="3" h="1">
                  <a:moveTo>
                    <a:pt x="2" y="1"/>
                  </a:moveTo>
                  <a:lnTo>
                    <a:pt x="0" y="1"/>
                  </a:lnTo>
                  <a:lnTo>
                    <a:pt x="0" y="0"/>
                  </a:lnTo>
                  <a:lnTo>
                    <a:pt x="3" y="1"/>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3" name="Freeform 152"/>
            <p:cNvSpPr>
              <a:spLocks/>
            </p:cNvSpPr>
            <p:nvPr/>
          </p:nvSpPr>
          <p:spPr bwMode="auto">
            <a:xfrm>
              <a:off x="1291" y="2270"/>
              <a:ext cx="5" cy="2"/>
            </a:xfrm>
            <a:custGeom>
              <a:avLst/>
              <a:gdLst/>
              <a:ahLst/>
              <a:cxnLst>
                <a:cxn ang="0">
                  <a:pos x="4" y="1"/>
                </a:cxn>
                <a:cxn ang="0">
                  <a:pos x="0" y="0"/>
                </a:cxn>
                <a:cxn ang="0">
                  <a:pos x="4" y="1"/>
                </a:cxn>
              </a:cxnLst>
              <a:rect l="0" t="0" r="r" b="b"/>
              <a:pathLst>
                <a:path w="4" h="1">
                  <a:moveTo>
                    <a:pt x="4" y="1"/>
                  </a:moveTo>
                  <a:lnTo>
                    <a:pt x="0" y="0"/>
                  </a:lnTo>
                  <a:lnTo>
                    <a:pt x="4"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4" name="Freeform 153"/>
            <p:cNvSpPr>
              <a:spLocks/>
            </p:cNvSpPr>
            <p:nvPr/>
          </p:nvSpPr>
          <p:spPr bwMode="auto">
            <a:xfrm>
              <a:off x="1465" y="2425"/>
              <a:ext cx="2" cy="7"/>
            </a:xfrm>
            <a:custGeom>
              <a:avLst/>
              <a:gdLst/>
              <a:ahLst/>
              <a:cxnLst>
                <a:cxn ang="0">
                  <a:pos x="1" y="6"/>
                </a:cxn>
                <a:cxn ang="0">
                  <a:pos x="0" y="2"/>
                </a:cxn>
                <a:cxn ang="0">
                  <a:pos x="2" y="0"/>
                </a:cxn>
                <a:cxn ang="0">
                  <a:pos x="1" y="6"/>
                </a:cxn>
              </a:cxnLst>
              <a:rect l="0" t="0" r="r" b="b"/>
              <a:pathLst>
                <a:path w="2" h="6">
                  <a:moveTo>
                    <a:pt x="1" y="6"/>
                  </a:moveTo>
                  <a:lnTo>
                    <a:pt x="0" y="2"/>
                  </a:lnTo>
                  <a:lnTo>
                    <a:pt x="2" y="0"/>
                  </a:lnTo>
                  <a:lnTo>
                    <a:pt x="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5" name="Freeform 154"/>
            <p:cNvSpPr>
              <a:spLocks/>
            </p:cNvSpPr>
            <p:nvPr/>
          </p:nvSpPr>
          <p:spPr bwMode="auto">
            <a:xfrm>
              <a:off x="1025" y="2483"/>
              <a:ext cx="58" cy="62"/>
            </a:xfrm>
            <a:custGeom>
              <a:avLst/>
              <a:gdLst/>
              <a:ahLst/>
              <a:cxnLst>
                <a:cxn ang="0">
                  <a:pos x="12" y="27"/>
                </a:cxn>
                <a:cxn ang="0">
                  <a:pos x="0" y="13"/>
                </a:cxn>
                <a:cxn ang="0">
                  <a:pos x="2" y="5"/>
                </a:cxn>
                <a:cxn ang="0">
                  <a:pos x="2" y="2"/>
                </a:cxn>
                <a:cxn ang="0">
                  <a:pos x="5" y="0"/>
                </a:cxn>
                <a:cxn ang="0">
                  <a:pos x="26" y="5"/>
                </a:cxn>
                <a:cxn ang="0">
                  <a:pos x="36" y="3"/>
                </a:cxn>
                <a:cxn ang="0">
                  <a:pos x="44" y="15"/>
                </a:cxn>
                <a:cxn ang="0">
                  <a:pos x="52" y="27"/>
                </a:cxn>
                <a:cxn ang="0">
                  <a:pos x="46" y="29"/>
                </a:cxn>
                <a:cxn ang="0">
                  <a:pos x="47" y="41"/>
                </a:cxn>
                <a:cxn ang="0">
                  <a:pos x="46" y="55"/>
                </a:cxn>
                <a:cxn ang="0">
                  <a:pos x="37" y="43"/>
                </a:cxn>
                <a:cxn ang="0">
                  <a:pos x="37" y="48"/>
                </a:cxn>
                <a:cxn ang="0">
                  <a:pos x="35" y="42"/>
                </a:cxn>
                <a:cxn ang="0">
                  <a:pos x="30" y="32"/>
                </a:cxn>
                <a:cxn ang="0">
                  <a:pos x="19" y="24"/>
                </a:cxn>
                <a:cxn ang="0">
                  <a:pos x="10" y="15"/>
                </a:cxn>
                <a:cxn ang="0">
                  <a:pos x="13" y="24"/>
                </a:cxn>
                <a:cxn ang="0">
                  <a:pos x="12" y="27"/>
                </a:cxn>
              </a:cxnLst>
              <a:rect l="0" t="0" r="r" b="b"/>
              <a:pathLst>
                <a:path w="52" h="55">
                  <a:moveTo>
                    <a:pt x="12" y="27"/>
                  </a:moveTo>
                  <a:lnTo>
                    <a:pt x="0" y="13"/>
                  </a:lnTo>
                  <a:lnTo>
                    <a:pt x="2" y="5"/>
                  </a:lnTo>
                  <a:lnTo>
                    <a:pt x="2" y="2"/>
                  </a:lnTo>
                  <a:lnTo>
                    <a:pt x="5" y="0"/>
                  </a:lnTo>
                  <a:lnTo>
                    <a:pt x="26" y="5"/>
                  </a:lnTo>
                  <a:lnTo>
                    <a:pt x="36" y="3"/>
                  </a:lnTo>
                  <a:lnTo>
                    <a:pt x="44" y="15"/>
                  </a:lnTo>
                  <a:lnTo>
                    <a:pt x="52" y="27"/>
                  </a:lnTo>
                  <a:lnTo>
                    <a:pt x="46" y="29"/>
                  </a:lnTo>
                  <a:lnTo>
                    <a:pt x="47" y="41"/>
                  </a:lnTo>
                  <a:lnTo>
                    <a:pt x="46" y="55"/>
                  </a:lnTo>
                  <a:lnTo>
                    <a:pt x="37" y="43"/>
                  </a:lnTo>
                  <a:lnTo>
                    <a:pt x="37" y="48"/>
                  </a:lnTo>
                  <a:lnTo>
                    <a:pt x="35" y="42"/>
                  </a:lnTo>
                  <a:lnTo>
                    <a:pt x="30" y="32"/>
                  </a:lnTo>
                  <a:lnTo>
                    <a:pt x="19" y="24"/>
                  </a:lnTo>
                  <a:lnTo>
                    <a:pt x="10" y="15"/>
                  </a:lnTo>
                  <a:lnTo>
                    <a:pt x="13" y="24"/>
                  </a:lnTo>
                  <a:lnTo>
                    <a:pt x="12"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6" name="Freeform 155"/>
            <p:cNvSpPr>
              <a:spLocks/>
            </p:cNvSpPr>
            <p:nvPr/>
          </p:nvSpPr>
          <p:spPr bwMode="auto">
            <a:xfrm>
              <a:off x="1489" y="2441"/>
              <a:ext cx="5" cy="2"/>
            </a:xfrm>
            <a:custGeom>
              <a:avLst/>
              <a:gdLst/>
              <a:ahLst/>
              <a:cxnLst>
                <a:cxn ang="0">
                  <a:pos x="3" y="4"/>
                </a:cxn>
                <a:cxn ang="0">
                  <a:pos x="1" y="4"/>
                </a:cxn>
                <a:cxn ang="0">
                  <a:pos x="0" y="0"/>
                </a:cxn>
                <a:cxn ang="0">
                  <a:pos x="3" y="3"/>
                </a:cxn>
                <a:cxn ang="0">
                  <a:pos x="3" y="4"/>
                </a:cxn>
              </a:cxnLst>
              <a:rect l="0" t="0" r="r" b="b"/>
              <a:pathLst>
                <a:path w="3" h="4">
                  <a:moveTo>
                    <a:pt x="3" y="4"/>
                  </a:moveTo>
                  <a:lnTo>
                    <a:pt x="1" y="4"/>
                  </a:lnTo>
                  <a:lnTo>
                    <a:pt x="0" y="0"/>
                  </a:lnTo>
                  <a:lnTo>
                    <a:pt x="3" y="3"/>
                  </a:lnTo>
                  <a:lnTo>
                    <a:pt x="3"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7" name="Freeform 156"/>
            <p:cNvSpPr>
              <a:spLocks/>
            </p:cNvSpPr>
            <p:nvPr/>
          </p:nvSpPr>
          <p:spPr bwMode="auto">
            <a:xfrm>
              <a:off x="1460" y="2394"/>
              <a:ext cx="2" cy="9"/>
            </a:xfrm>
            <a:custGeom>
              <a:avLst/>
              <a:gdLst/>
              <a:ahLst/>
              <a:cxnLst>
                <a:cxn ang="0">
                  <a:pos x="4" y="5"/>
                </a:cxn>
                <a:cxn ang="0">
                  <a:pos x="1" y="8"/>
                </a:cxn>
                <a:cxn ang="0">
                  <a:pos x="0" y="0"/>
                </a:cxn>
                <a:cxn ang="0">
                  <a:pos x="3" y="0"/>
                </a:cxn>
                <a:cxn ang="0">
                  <a:pos x="4" y="5"/>
                </a:cxn>
              </a:cxnLst>
              <a:rect l="0" t="0" r="r" b="b"/>
              <a:pathLst>
                <a:path w="4" h="8">
                  <a:moveTo>
                    <a:pt x="4" y="5"/>
                  </a:moveTo>
                  <a:lnTo>
                    <a:pt x="1" y="8"/>
                  </a:lnTo>
                  <a:lnTo>
                    <a:pt x="0" y="0"/>
                  </a:lnTo>
                  <a:lnTo>
                    <a:pt x="3" y="0"/>
                  </a:lnTo>
                  <a:lnTo>
                    <a:pt x="4"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8" name="Freeform 157"/>
            <p:cNvSpPr>
              <a:spLocks/>
            </p:cNvSpPr>
            <p:nvPr/>
          </p:nvSpPr>
          <p:spPr bwMode="auto">
            <a:xfrm>
              <a:off x="956" y="2416"/>
              <a:ext cx="40" cy="27"/>
            </a:xfrm>
            <a:custGeom>
              <a:avLst/>
              <a:gdLst/>
              <a:ahLst/>
              <a:cxnLst>
                <a:cxn ang="0">
                  <a:pos x="35" y="18"/>
                </a:cxn>
                <a:cxn ang="0">
                  <a:pos x="31" y="23"/>
                </a:cxn>
                <a:cxn ang="0">
                  <a:pos x="23" y="20"/>
                </a:cxn>
                <a:cxn ang="0">
                  <a:pos x="12" y="17"/>
                </a:cxn>
                <a:cxn ang="0">
                  <a:pos x="0" y="12"/>
                </a:cxn>
                <a:cxn ang="0">
                  <a:pos x="13" y="0"/>
                </a:cxn>
                <a:cxn ang="0">
                  <a:pos x="23" y="7"/>
                </a:cxn>
                <a:cxn ang="0">
                  <a:pos x="36" y="9"/>
                </a:cxn>
                <a:cxn ang="0">
                  <a:pos x="35" y="18"/>
                </a:cxn>
              </a:cxnLst>
              <a:rect l="0" t="0" r="r" b="b"/>
              <a:pathLst>
                <a:path w="36" h="23">
                  <a:moveTo>
                    <a:pt x="35" y="18"/>
                  </a:moveTo>
                  <a:lnTo>
                    <a:pt x="31" y="23"/>
                  </a:lnTo>
                  <a:lnTo>
                    <a:pt x="23" y="20"/>
                  </a:lnTo>
                  <a:lnTo>
                    <a:pt x="12" y="17"/>
                  </a:lnTo>
                  <a:lnTo>
                    <a:pt x="0" y="12"/>
                  </a:lnTo>
                  <a:lnTo>
                    <a:pt x="13" y="0"/>
                  </a:lnTo>
                  <a:lnTo>
                    <a:pt x="23" y="7"/>
                  </a:lnTo>
                  <a:lnTo>
                    <a:pt x="36" y="9"/>
                  </a:lnTo>
                  <a:lnTo>
                    <a:pt x="35"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9" name="Freeform 158"/>
            <p:cNvSpPr>
              <a:spLocks/>
            </p:cNvSpPr>
            <p:nvPr/>
          </p:nvSpPr>
          <p:spPr bwMode="auto">
            <a:xfrm>
              <a:off x="971" y="2387"/>
              <a:ext cx="109" cy="60"/>
            </a:xfrm>
            <a:custGeom>
              <a:avLst/>
              <a:gdLst/>
              <a:ahLst/>
              <a:cxnLst>
                <a:cxn ang="0">
                  <a:pos x="53" y="36"/>
                </a:cxn>
                <a:cxn ang="0">
                  <a:pos x="47" y="38"/>
                </a:cxn>
                <a:cxn ang="0">
                  <a:pos x="40" y="42"/>
                </a:cxn>
                <a:cxn ang="0">
                  <a:pos x="34" y="53"/>
                </a:cxn>
                <a:cxn ang="0">
                  <a:pos x="30" y="53"/>
                </a:cxn>
                <a:cxn ang="0">
                  <a:pos x="28" y="46"/>
                </a:cxn>
                <a:cxn ang="0">
                  <a:pos x="22" y="45"/>
                </a:cxn>
                <a:cxn ang="0">
                  <a:pos x="23" y="36"/>
                </a:cxn>
                <a:cxn ang="0">
                  <a:pos x="10" y="34"/>
                </a:cxn>
                <a:cxn ang="0">
                  <a:pos x="0" y="27"/>
                </a:cxn>
                <a:cxn ang="0">
                  <a:pos x="10" y="12"/>
                </a:cxn>
                <a:cxn ang="0">
                  <a:pos x="20" y="4"/>
                </a:cxn>
                <a:cxn ang="0">
                  <a:pos x="22" y="4"/>
                </a:cxn>
                <a:cxn ang="0">
                  <a:pos x="37" y="2"/>
                </a:cxn>
                <a:cxn ang="0">
                  <a:pos x="53" y="0"/>
                </a:cxn>
                <a:cxn ang="0">
                  <a:pos x="65" y="2"/>
                </a:cxn>
                <a:cxn ang="0">
                  <a:pos x="78" y="2"/>
                </a:cxn>
                <a:cxn ang="0">
                  <a:pos x="88" y="9"/>
                </a:cxn>
                <a:cxn ang="0">
                  <a:pos x="85" y="8"/>
                </a:cxn>
                <a:cxn ang="0">
                  <a:pos x="86" y="11"/>
                </a:cxn>
                <a:cxn ang="0">
                  <a:pos x="92" y="11"/>
                </a:cxn>
                <a:cxn ang="0">
                  <a:pos x="98" y="17"/>
                </a:cxn>
                <a:cxn ang="0">
                  <a:pos x="85" y="18"/>
                </a:cxn>
                <a:cxn ang="0">
                  <a:pos x="72" y="21"/>
                </a:cxn>
                <a:cxn ang="0">
                  <a:pos x="53" y="36"/>
                </a:cxn>
              </a:cxnLst>
              <a:rect l="0" t="0" r="r" b="b"/>
              <a:pathLst>
                <a:path w="98" h="53">
                  <a:moveTo>
                    <a:pt x="53" y="36"/>
                  </a:moveTo>
                  <a:lnTo>
                    <a:pt x="47" y="38"/>
                  </a:lnTo>
                  <a:lnTo>
                    <a:pt x="40" y="42"/>
                  </a:lnTo>
                  <a:lnTo>
                    <a:pt x="34" y="53"/>
                  </a:lnTo>
                  <a:lnTo>
                    <a:pt x="30" y="53"/>
                  </a:lnTo>
                  <a:lnTo>
                    <a:pt x="28" y="46"/>
                  </a:lnTo>
                  <a:lnTo>
                    <a:pt x="22" y="45"/>
                  </a:lnTo>
                  <a:lnTo>
                    <a:pt x="23" y="36"/>
                  </a:lnTo>
                  <a:lnTo>
                    <a:pt x="10" y="34"/>
                  </a:lnTo>
                  <a:lnTo>
                    <a:pt x="0" y="27"/>
                  </a:lnTo>
                  <a:lnTo>
                    <a:pt x="10" y="12"/>
                  </a:lnTo>
                  <a:lnTo>
                    <a:pt x="20" y="4"/>
                  </a:lnTo>
                  <a:lnTo>
                    <a:pt x="22" y="4"/>
                  </a:lnTo>
                  <a:lnTo>
                    <a:pt x="37" y="2"/>
                  </a:lnTo>
                  <a:lnTo>
                    <a:pt x="53" y="0"/>
                  </a:lnTo>
                  <a:lnTo>
                    <a:pt x="65" y="2"/>
                  </a:lnTo>
                  <a:lnTo>
                    <a:pt x="78" y="2"/>
                  </a:lnTo>
                  <a:lnTo>
                    <a:pt x="88" y="9"/>
                  </a:lnTo>
                  <a:lnTo>
                    <a:pt x="85" y="8"/>
                  </a:lnTo>
                  <a:lnTo>
                    <a:pt x="86" y="11"/>
                  </a:lnTo>
                  <a:lnTo>
                    <a:pt x="92" y="11"/>
                  </a:lnTo>
                  <a:lnTo>
                    <a:pt x="98" y="17"/>
                  </a:lnTo>
                  <a:lnTo>
                    <a:pt x="85" y="18"/>
                  </a:lnTo>
                  <a:lnTo>
                    <a:pt x="72" y="21"/>
                  </a:lnTo>
                  <a:lnTo>
                    <a:pt x="53"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0" name="Freeform 159"/>
            <p:cNvSpPr>
              <a:spLocks/>
            </p:cNvSpPr>
            <p:nvPr/>
          </p:nvSpPr>
          <p:spPr bwMode="auto">
            <a:xfrm>
              <a:off x="1462" y="2410"/>
              <a:ext cx="7" cy="6"/>
            </a:xfrm>
            <a:custGeom>
              <a:avLst/>
              <a:gdLst/>
              <a:ahLst/>
              <a:cxnLst>
                <a:cxn ang="0">
                  <a:pos x="6" y="6"/>
                </a:cxn>
                <a:cxn ang="0">
                  <a:pos x="0" y="0"/>
                </a:cxn>
                <a:cxn ang="0">
                  <a:pos x="7" y="6"/>
                </a:cxn>
                <a:cxn ang="0">
                  <a:pos x="6" y="6"/>
                </a:cxn>
              </a:cxnLst>
              <a:rect l="0" t="0" r="r" b="b"/>
              <a:pathLst>
                <a:path w="7" h="6">
                  <a:moveTo>
                    <a:pt x="6" y="6"/>
                  </a:moveTo>
                  <a:lnTo>
                    <a:pt x="0" y="0"/>
                  </a:lnTo>
                  <a:lnTo>
                    <a:pt x="7" y="6"/>
                  </a:lnTo>
                  <a:lnTo>
                    <a:pt x="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1" name="Freeform 160"/>
            <p:cNvSpPr>
              <a:spLocks/>
            </p:cNvSpPr>
            <p:nvPr/>
          </p:nvSpPr>
          <p:spPr bwMode="auto">
            <a:xfrm>
              <a:off x="998" y="2407"/>
              <a:ext cx="82" cy="83"/>
            </a:xfrm>
            <a:custGeom>
              <a:avLst/>
              <a:gdLst/>
              <a:ahLst/>
              <a:cxnLst>
                <a:cxn ang="0">
                  <a:pos x="29" y="19"/>
                </a:cxn>
                <a:cxn ang="0">
                  <a:pos x="23" y="21"/>
                </a:cxn>
                <a:cxn ang="0">
                  <a:pos x="16" y="25"/>
                </a:cxn>
                <a:cxn ang="0">
                  <a:pos x="10" y="36"/>
                </a:cxn>
                <a:cxn ang="0">
                  <a:pos x="6" y="36"/>
                </a:cxn>
                <a:cxn ang="0">
                  <a:pos x="0" y="37"/>
                </a:cxn>
                <a:cxn ang="0">
                  <a:pos x="14" y="54"/>
                </a:cxn>
                <a:cxn ang="0">
                  <a:pos x="29" y="70"/>
                </a:cxn>
                <a:cxn ang="0">
                  <a:pos x="50" y="75"/>
                </a:cxn>
                <a:cxn ang="0">
                  <a:pos x="60" y="73"/>
                </a:cxn>
                <a:cxn ang="0">
                  <a:pos x="60" y="61"/>
                </a:cxn>
                <a:cxn ang="0">
                  <a:pos x="61" y="52"/>
                </a:cxn>
                <a:cxn ang="0">
                  <a:pos x="64" y="41"/>
                </a:cxn>
                <a:cxn ang="0">
                  <a:pos x="65" y="45"/>
                </a:cxn>
                <a:cxn ang="0">
                  <a:pos x="67" y="31"/>
                </a:cxn>
                <a:cxn ang="0">
                  <a:pos x="70" y="17"/>
                </a:cxn>
                <a:cxn ang="0">
                  <a:pos x="70" y="3"/>
                </a:cxn>
                <a:cxn ang="0">
                  <a:pos x="74" y="0"/>
                </a:cxn>
                <a:cxn ang="0">
                  <a:pos x="61" y="1"/>
                </a:cxn>
                <a:cxn ang="0">
                  <a:pos x="48" y="4"/>
                </a:cxn>
                <a:cxn ang="0">
                  <a:pos x="29" y="19"/>
                </a:cxn>
              </a:cxnLst>
              <a:rect l="0" t="0" r="r" b="b"/>
              <a:pathLst>
                <a:path w="74" h="75">
                  <a:moveTo>
                    <a:pt x="29" y="19"/>
                  </a:moveTo>
                  <a:lnTo>
                    <a:pt x="23" y="21"/>
                  </a:lnTo>
                  <a:lnTo>
                    <a:pt x="16" y="25"/>
                  </a:lnTo>
                  <a:lnTo>
                    <a:pt x="10" y="36"/>
                  </a:lnTo>
                  <a:lnTo>
                    <a:pt x="6" y="36"/>
                  </a:lnTo>
                  <a:lnTo>
                    <a:pt x="0" y="37"/>
                  </a:lnTo>
                  <a:lnTo>
                    <a:pt x="14" y="54"/>
                  </a:lnTo>
                  <a:lnTo>
                    <a:pt x="29" y="70"/>
                  </a:lnTo>
                  <a:lnTo>
                    <a:pt x="50" y="75"/>
                  </a:lnTo>
                  <a:lnTo>
                    <a:pt x="60" y="73"/>
                  </a:lnTo>
                  <a:lnTo>
                    <a:pt x="60" y="61"/>
                  </a:lnTo>
                  <a:lnTo>
                    <a:pt x="61" y="52"/>
                  </a:lnTo>
                  <a:lnTo>
                    <a:pt x="64" y="41"/>
                  </a:lnTo>
                  <a:lnTo>
                    <a:pt x="65" y="45"/>
                  </a:lnTo>
                  <a:lnTo>
                    <a:pt x="67" y="31"/>
                  </a:lnTo>
                  <a:lnTo>
                    <a:pt x="70" y="17"/>
                  </a:lnTo>
                  <a:lnTo>
                    <a:pt x="70" y="3"/>
                  </a:lnTo>
                  <a:lnTo>
                    <a:pt x="74" y="0"/>
                  </a:lnTo>
                  <a:lnTo>
                    <a:pt x="61" y="1"/>
                  </a:lnTo>
                  <a:lnTo>
                    <a:pt x="48" y="4"/>
                  </a:lnTo>
                  <a:lnTo>
                    <a:pt x="29"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2" name="Freeform 161"/>
            <p:cNvSpPr>
              <a:spLocks/>
            </p:cNvSpPr>
            <p:nvPr/>
          </p:nvSpPr>
          <p:spPr bwMode="auto">
            <a:xfrm>
              <a:off x="1460" y="2439"/>
              <a:ext cx="2" cy="4"/>
            </a:xfrm>
            <a:custGeom>
              <a:avLst/>
              <a:gdLst/>
              <a:ahLst/>
              <a:cxnLst>
                <a:cxn ang="0">
                  <a:pos x="2" y="4"/>
                </a:cxn>
                <a:cxn ang="0">
                  <a:pos x="2" y="0"/>
                </a:cxn>
                <a:cxn ang="0">
                  <a:pos x="0" y="2"/>
                </a:cxn>
                <a:cxn ang="0">
                  <a:pos x="2" y="4"/>
                </a:cxn>
              </a:cxnLst>
              <a:rect l="0" t="0" r="r" b="b"/>
              <a:pathLst>
                <a:path w="2" h="4">
                  <a:moveTo>
                    <a:pt x="2" y="4"/>
                  </a:moveTo>
                  <a:lnTo>
                    <a:pt x="2" y="0"/>
                  </a:lnTo>
                  <a:lnTo>
                    <a:pt x="0" y="2"/>
                  </a:lnTo>
                  <a:lnTo>
                    <a:pt x="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3" name="Freeform 162"/>
            <p:cNvSpPr>
              <a:spLocks/>
            </p:cNvSpPr>
            <p:nvPr/>
          </p:nvSpPr>
          <p:spPr bwMode="auto">
            <a:xfrm>
              <a:off x="1442" y="2363"/>
              <a:ext cx="3" cy="2"/>
            </a:xfrm>
            <a:custGeom>
              <a:avLst/>
              <a:gdLst/>
              <a:ahLst/>
              <a:cxnLst>
                <a:cxn ang="0">
                  <a:pos x="1" y="1"/>
                </a:cxn>
                <a:cxn ang="0">
                  <a:pos x="0" y="0"/>
                </a:cxn>
                <a:cxn ang="0">
                  <a:pos x="1" y="1"/>
                </a:cxn>
              </a:cxnLst>
              <a:rect l="0" t="0" r="r" b="b"/>
              <a:pathLst>
                <a:path w="1" h="1">
                  <a:moveTo>
                    <a:pt x="1" y="1"/>
                  </a:move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4" name="Freeform 163"/>
            <p:cNvSpPr>
              <a:spLocks/>
            </p:cNvSpPr>
            <p:nvPr/>
          </p:nvSpPr>
          <p:spPr bwMode="auto">
            <a:xfrm>
              <a:off x="1438" y="2359"/>
              <a:ext cx="4" cy="2"/>
            </a:xfrm>
            <a:custGeom>
              <a:avLst/>
              <a:gdLst/>
              <a:ahLst/>
              <a:cxnLst>
                <a:cxn ang="0">
                  <a:pos x="4" y="2"/>
                </a:cxn>
                <a:cxn ang="0">
                  <a:pos x="0" y="0"/>
                </a:cxn>
                <a:cxn ang="0">
                  <a:pos x="4" y="2"/>
                </a:cxn>
              </a:cxnLst>
              <a:rect l="0" t="0" r="r" b="b"/>
              <a:pathLst>
                <a:path w="4" h="2">
                  <a:moveTo>
                    <a:pt x="4" y="2"/>
                  </a:moveTo>
                  <a:lnTo>
                    <a:pt x="0" y="0"/>
                  </a:lnTo>
                  <a:lnTo>
                    <a:pt x="4"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5" name="Freeform 164"/>
            <p:cNvSpPr>
              <a:spLocks/>
            </p:cNvSpPr>
            <p:nvPr/>
          </p:nvSpPr>
          <p:spPr bwMode="auto">
            <a:xfrm>
              <a:off x="1456" y="2381"/>
              <a:ext cx="4" cy="4"/>
            </a:xfrm>
            <a:custGeom>
              <a:avLst/>
              <a:gdLst/>
              <a:ahLst/>
              <a:cxnLst>
                <a:cxn ang="0">
                  <a:pos x="2" y="0"/>
                </a:cxn>
                <a:cxn ang="0">
                  <a:pos x="3" y="1"/>
                </a:cxn>
                <a:cxn ang="0">
                  <a:pos x="0" y="5"/>
                </a:cxn>
                <a:cxn ang="0">
                  <a:pos x="2" y="0"/>
                </a:cxn>
              </a:cxnLst>
              <a:rect l="0" t="0" r="r" b="b"/>
              <a:pathLst>
                <a:path w="3" h="5">
                  <a:moveTo>
                    <a:pt x="2" y="0"/>
                  </a:moveTo>
                  <a:lnTo>
                    <a:pt x="3" y="1"/>
                  </a:lnTo>
                  <a:lnTo>
                    <a:pt x="0" y="5"/>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6" name="Freeform 165"/>
            <p:cNvSpPr>
              <a:spLocks/>
            </p:cNvSpPr>
            <p:nvPr/>
          </p:nvSpPr>
          <p:spPr bwMode="auto">
            <a:xfrm>
              <a:off x="1434" y="2341"/>
              <a:ext cx="4" cy="2"/>
            </a:xfrm>
            <a:custGeom>
              <a:avLst/>
              <a:gdLst/>
              <a:ahLst/>
              <a:cxnLst>
                <a:cxn ang="0">
                  <a:pos x="4" y="1"/>
                </a:cxn>
                <a:cxn ang="0">
                  <a:pos x="4" y="0"/>
                </a:cxn>
                <a:cxn ang="0">
                  <a:pos x="4" y="1"/>
                </a:cxn>
                <a:cxn ang="0">
                  <a:pos x="3" y="1"/>
                </a:cxn>
                <a:cxn ang="0">
                  <a:pos x="2" y="1"/>
                </a:cxn>
                <a:cxn ang="0">
                  <a:pos x="2" y="3"/>
                </a:cxn>
                <a:cxn ang="0">
                  <a:pos x="0" y="3"/>
                </a:cxn>
                <a:cxn ang="0">
                  <a:pos x="2" y="3"/>
                </a:cxn>
                <a:cxn ang="0">
                  <a:pos x="3" y="3"/>
                </a:cxn>
                <a:cxn ang="0">
                  <a:pos x="3" y="1"/>
                </a:cxn>
                <a:cxn ang="0">
                  <a:pos x="4" y="1"/>
                </a:cxn>
              </a:cxnLst>
              <a:rect l="0" t="0" r="r" b="b"/>
              <a:pathLst>
                <a:path w="4" h="3">
                  <a:moveTo>
                    <a:pt x="4" y="1"/>
                  </a:moveTo>
                  <a:lnTo>
                    <a:pt x="4" y="0"/>
                  </a:lnTo>
                  <a:lnTo>
                    <a:pt x="4" y="1"/>
                  </a:lnTo>
                  <a:lnTo>
                    <a:pt x="3" y="1"/>
                  </a:lnTo>
                  <a:lnTo>
                    <a:pt x="2" y="1"/>
                  </a:lnTo>
                  <a:lnTo>
                    <a:pt x="2" y="3"/>
                  </a:lnTo>
                  <a:lnTo>
                    <a:pt x="0" y="3"/>
                  </a:lnTo>
                  <a:lnTo>
                    <a:pt x="2" y="3"/>
                  </a:lnTo>
                  <a:lnTo>
                    <a:pt x="3" y="3"/>
                  </a:lnTo>
                  <a:lnTo>
                    <a:pt x="3" y="1"/>
                  </a:lnTo>
                  <a:lnTo>
                    <a:pt x="4"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7" name="Freeform 166"/>
            <p:cNvSpPr>
              <a:spLocks/>
            </p:cNvSpPr>
            <p:nvPr/>
          </p:nvSpPr>
          <p:spPr bwMode="auto">
            <a:xfrm>
              <a:off x="1456" y="2363"/>
              <a:ext cx="4" cy="2"/>
            </a:xfrm>
            <a:custGeom>
              <a:avLst/>
              <a:gdLst/>
              <a:ahLst/>
              <a:cxnLst>
                <a:cxn ang="0">
                  <a:pos x="1" y="0"/>
                </a:cxn>
                <a:cxn ang="0">
                  <a:pos x="0" y="1"/>
                </a:cxn>
                <a:cxn ang="0">
                  <a:pos x="0" y="2"/>
                </a:cxn>
                <a:cxn ang="0">
                  <a:pos x="3" y="2"/>
                </a:cxn>
                <a:cxn ang="0">
                  <a:pos x="1" y="0"/>
                </a:cxn>
              </a:cxnLst>
              <a:rect l="0" t="0" r="r" b="b"/>
              <a:pathLst>
                <a:path w="3" h="2">
                  <a:moveTo>
                    <a:pt x="1" y="0"/>
                  </a:moveTo>
                  <a:lnTo>
                    <a:pt x="0" y="1"/>
                  </a:lnTo>
                  <a:lnTo>
                    <a:pt x="0" y="2"/>
                  </a:lnTo>
                  <a:lnTo>
                    <a:pt x="3" y="2"/>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8" name="Freeform 167"/>
            <p:cNvSpPr>
              <a:spLocks/>
            </p:cNvSpPr>
            <p:nvPr/>
          </p:nvSpPr>
          <p:spPr bwMode="auto">
            <a:xfrm>
              <a:off x="1456" y="2352"/>
              <a:ext cx="2" cy="2"/>
            </a:xfrm>
            <a:custGeom>
              <a:avLst/>
              <a:gdLst/>
              <a:ahLst/>
              <a:cxnLst>
                <a:cxn ang="0">
                  <a:pos x="1" y="2"/>
                </a:cxn>
                <a:cxn ang="0">
                  <a:pos x="0" y="1"/>
                </a:cxn>
                <a:cxn ang="0">
                  <a:pos x="0" y="0"/>
                </a:cxn>
                <a:cxn ang="0">
                  <a:pos x="1" y="1"/>
                </a:cxn>
                <a:cxn ang="0">
                  <a:pos x="1" y="2"/>
                </a:cxn>
              </a:cxnLst>
              <a:rect l="0" t="0" r="r" b="b"/>
              <a:pathLst>
                <a:path w="1" h="2">
                  <a:moveTo>
                    <a:pt x="1" y="2"/>
                  </a:moveTo>
                  <a:lnTo>
                    <a:pt x="0" y="1"/>
                  </a:lnTo>
                  <a:lnTo>
                    <a:pt x="0" y="0"/>
                  </a:lnTo>
                  <a:lnTo>
                    <a:pt x="1" y="1"/>
                  </a:lnTo>
                  <a:lnTo>
                    <a:pt x="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9" name="Freeform 168"/>
            <p:cNvSpPr>
              <a:spLocks/>
            </p:cNvSpPr>
            <p:nvPr/>
          </p:nvSpPr>
          <p:spPr bwMode="auto">
            <a:xfrm>
              <a:off x="976" y="2336"/>
              <a:ext cx="24" cy="51"/>
            </a:xfrm>
            <a:custGeom>
              <a:avLst/>
              <a:gdLst/>
              <a:ahLst/>
              <a:cxnLst>
                <a:cxn ang="0">
                  <a:pos x="13" y="38"/>
                </a:cxn>
                <a:cxn ang="0">
                  <a:pos x="5" y="46"/>
                </a:cxn>
                <a:cxn ang="0">
                  <a:pos x="0" y="46"/>
                </a:cxn>
                <a:cxn ang="0">
                  <a:pos x="2" y="30"/>
                </a:cxn>
                <a:cxn ang="0">
                  <a:pos x="6" y="12"/>
                </a:cxn>
                <a:cxn ang="0">
                  <a:pos x="20" y="0"/>
                </a:cxn>
                <a:cxn ang="0">
                  <a:pos x="21" y="3"/>
                </a:cxn>
                <a:cxn ang="0">
                  <a:pos x="17" y="20"/>
                </a:cxn>
                <a:cxn ang="0">
                  <a:pos x="13" y="38"/>
                </a:cxn>
              </a:cxnLst>
              <a:rect l="0" t="0" r="r" b="b"/>
              <a:pathLst>
                <a:path w="21" h="46">
                  <a:moveTo>
                    <a:pt x="13" y="38"/>
                  </a:moveTo>
                  <a:lnTo>
                    <a:pt x="5" y="46"/>
                  </a:lnTo>
                  <a:lnTo>
                    <a:pt x="0" y="46"/>
                  </a:lnTo>
                  <a:lnTo>
                    <a:pt x="2" y="30"/>
                  </a:lnTo>
                  <a:lnTo>
                    <a:pt x="6" y="12"/>
                  </a:lnTo>
                  <a:lnTo>
                    <a:pt x="20" y="0"/>
                  </a:lnTo>
                  <a:lnTo>
                    <a:pt x="21" y="3"/>
                  </a:lnTo>
                  <a:lnTo>
                    <a:pt x="17" y="20"/>
                  </a:lnTo>
                  <a:lnTo>
                    <a:pt x="13"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0" name="Freeform 169"/>
            <p:cNvSpPr>
              <a:spLocks/>
            </p:cNvSpPr>
            <p:nvPr/>
          </p:nvSpPr>
          <p:spPr bwMode="auto">
            <a:xfrm>
              <a:off x="920" y="2350"/>
              <a:ext cx="74" cy="80"/>
            </a:xfrm>
            <a:custGeom>
              <a:avLst/>
              <a:gdLst/>
              <a:ahLst/>
              <a:cxnLst>
                <a:cxn ang="0">
                  <a:pos x="6" y="64"/>
                </a:cxn>
                <a:cxn ang="0">
                  <a:pos x="0" y="58"/>
                </a:cxn>
                <a:cxn ang="0">
                  <a:pos x="3" y="46"/>
                </a:cxn>
                <a:cxn ang="0">
                  <a:pos x="11" y="32"/>
                </a:cxn>
                <a:cxn ang="0">
                  <a:pos x="33" y="28"/>
                </a:cxn>
                <a:cxn ang="0">
                  <a:pos x="21" y="12"/>
                </a:cxn>
                <a:cxn ang="0">
                  <a:pos x="26" y="10"/>
                </a:cxn>
                <a:cxn ang="0">
                  <a:pos x="27" y="0"/>
                </a:cxn>
                <a:cxn ang="0">
                  <a:pos x="42" y="0"/>
                </a:cxn>
                <a:cxn ang="0">
                  <a:pos x="57" y="0"/>
                </a:cxn>
                <a:cxn ang="0">
                  <a:pos x="53" y="18"/>
                </a:cxn>
                <a:cxn ang="0">
                  <a:pos x="51" y="34"/>
                </a:cxn>
                <a:cxn ang="0">
                  <a:pos x="56" y="34"/>
                </a:cxn>
                <a:cxn ang="0">
                  <a:pos x="62" y="36"/>
                </a:cxn>
                <a:cxn ang="0">
                  <a:pos x="66" y="38"/>
                </a:cxn>
                <a:cxn ang="0">
                  <a:pos x="56" y="46"/>
                </a:cxn>
                <a:cxn ang="0">
                  <a:pos x="46" y="61"/>
                </a:cxn>
                <a:cxn ang="0">
                  <a:pos x="33" y="73"/>
                </a:cxn>
                <a:cxn ang="0">
                  <a:pos x="20" y="69"/>
                </a:cxn>
                <a:cxn ang="0">
                  <a:pos x="6" y="64"/>
                </a:cxn>
              </a:cxnLst>
              <a:rect l="0" t="0" r="r" b="b"/>
              <a:pathLst>
                <a:path w="66" h="73">
                  <a:moveTo>
                    <a:pt x="6" y="64"/>
                  </a:moveTo>
                  <a:lnTo>
                    <a:pt x="0" y="58"/>
                  </a:lnTo>
                  <a:lnTo>
                    <a:pt x="3" y="46"/>
                  </a:lnTo>
                  <a:lnTo>
                    <a:pt x="11" y="32"/>
                  </a:lnTo>
                  <a:lnTo>
                    <a:pt x="33" y="28"/>
                  </a:lnTo>
                  <a:lnTo>
                    <a:pt x="21" y="12"/>
                  </a:lnTo>
                  <a:lnTo>
                    <a:pt x="26" y="10"/>
                  </a:lnTo>
                  <a:lnTo>
                    <a:pt x="27" y="0"/>
                  </a:lnTo>
                  <a:lnTo>
                    <a:pt x="42" y="0"/>
                  </a:lnTo>
                  <a:lnTo>
                    <a:pt x="57" y="0"/>
                  </a:lnTo>
                  <a:lnTo>
                    <a:pt x="53" y="18"/>
                  </a:lnTo>
                  <a:lnTo>
                    <a:pt x="51" y="34"/>
                  </a:lnTo>
                  <a:lnTo>
                    <a:pt x="56" y="34"/>
                  </a:lnTo>
                  <a:lnTo>
                    <a:pt x="62" y="36"/>
                  </a:lnTo>
                  <a:lnTo>
                    <a:pt x="66" y="38"/>
                  </a:lnTo>
                  <a:lnTo>
                    <a:pt x="56" y="46"/>
                  </a:lnTo>
                  <a:lnTo>
                    <a:pt x="46" y="61"/>
                  </a:lnTo>
                  <a:lnTo>
                    <a:pt x="33" y="73"/>
                  </a:lnTo>
                  <a:lnTo>
                    <a:pt x="20" y="69"/>
                  </a:lnTo>
                  <a:lnTo>
                    <a:pt x="6" y="6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1" name="Freeform 170"/>
            <p:cNvSpPr>
              <a:spLocks/>
            </p:cNvSpPr>
            <p:nvPr/>
          </p:nvSpPr>
          <p:spPr bwMode="auto">
            <a:xfrm>
              <a:off x="1171" y="2336"/>
              <a:ext cx="36" cy="14"/>
            </a:xfrm>
            <a:custGeom>
              <a:avLst/>
              <a:gdLst/>
              <a:ahLst/>
              <a:cxnLst>
                <a:cxn ang="0">
                  <a:pos x="12" y="0"/>
                </a:cxn>
                <a:cxn ang="0">
                  <a:pos x="0" y="4"/>
                </a:cxn>
                <a:cxn ang="0">
                  <a:pos x="18" y="13"/>
                </a:cxn>
                <a:cxn ang="0">
                  <a:pos x="32" y="10"/>
                </a:cxn>
                <a:cxn ang="0">
                  <a:pos x="12" y="0"/>
                </a:cxn>
              </a:cxnLst>
              <a:rect l="0" t="0" r="r" b="b"/>
              <a:pathLst>
                <a:path w="32" h="13">
                  <a:moveTo>
                    <a:pt x="12" y="0"/>
                  </a:moveTo>
                  <a:lnTo>
                    <a:pt x="0" y="4"/>
                  </a:lnTo>
                  <a:lnTo>
                    <a:pt x="18" y="13"/>
                  </a:lnTo>
                  <a:lnTo>
                    <a:pt x="32" y="10"/>
                  </a:lnTo>
                  <a:lnTo>
                    <a:pt x="1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2" name="Freeform 171"/>
            <p:cNvSpPr>
              <a:spLocks/>
            </p:cNvSpPr>
            <p:nvPr/>
          </p:nvSpPr>
          <p:spPr bwMode="auto">
            <a:xfrm>
              <a:off x="1365" y="2336"/>
              <a:ext cx="29" cy="11"/>
            </a:xfrm>
            <a:custGeom>
              <a:avLst/>
              <a:gdLst/>
              <a:ahLst/>
              <a:cxnLst>
                <a:cxn ang="0">
                  <a:pos x="25" y="4"/>
                </a:cxn>
                <a:cxn ang="0">
                  <a:pos x="23" y="6"/>
                </a:cxn>
                <a:cxn ang="0">
                  <a:pos x="7" y="9"/>
                </a:cxn>
                <a:cxn ang="0">
                  <a:pos x="0" y="7"/>
                </a:cxn>
                <a:cxn ang="0">
                  <a:pos x="2" y="0"/>
                </a:cxn>
                <a:cxn ang="0">
                  <a:pos x="25" y="4"/>
                </a:cxn>
              </a:cxnLst>
              <a:rect l="0" t="0" r="r" b="b"/>
              <a:pathLst>
                <a:path w="25" h="9">
                  <a:moveTo>
                    <a:pt x="25" y="4"/>
                  </a:moveTo>
                  <a:lnTo>
                    <a:pt x="23" y="6"/>
                  </a:lnTo>
                  <a:lnTo>
                    <a:pt x="7" y="9"/>
                  </a:lnTo>
                  <a:lnTo>
                    <a:pt x="0" y="7"/>
                  </a:lnTo>
                  <a:lnTo>
                    <a:pt x="2" y="0"/>
                  </a:lnTo>
                  <a:lnTo>
                    <a:pt x="2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3" name="Freeform 172"/>
            <p:cNvSpPr>
              <a:spLocks/>
            </p:cNvSpPr>
            <p:nvPr/>
          </p:nvSpPr>
          <p:spPr bwMode="auto">
            <a:xfrm>
              <a:off x="1402" y="2350"/>
              <a:ext cx="7" cy="2"/>
            </a:xfrm>
            <a:custGeom>
              <a:avLst/>
              <a:gdLst/>
              <a:ahLst/>
              <a:cxnLst>
                <a:cxn ang="0">
                  <a:pos x="6" y="0"/>
                </a:cxn>
                <a:cxn ang="0">
                  <a:pos x="2" y="0"/>
                </a:cxn>
                <a:cxn ang="0">
                  <a:pos x="0" y="1"/>
                </a:cxn>
                <a:cxn ang="0">
                  <a:pos x="6" y="0"/>
                </a:cxn>
              </a:cxnLst>
              <a:rect l="0" t="0" r="r" b="b"/>
              <a:pathLst>
                <a:path w="6" h="1">
                  <a:moveTo>
                    <a:pt x="6" y="0"/>
                  </a:moveTo>
                  <a:lnTo>
                    <a:pt x="2" y="0"/>
                  </a:lnTo>
                  <a:lnTo>
                    <a:pt x="0" y="1"/>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4" name="Freeform 173"/>
            <p:cNvSpPr>
              <a:spLocks/>
            </p:cNvSpPr>
            <p:nvPr/>
          </p:nvSpPr>
          <p:spPr bwMode="auto">
            <a:xfrm>
              <a:off x="567" y="2054"/>
              <a:ext cx="467" cy="360"/>
            </a:xfrm>
            <a:custGeom>
              <a:avLst/>
              <a:gdLst/>
              <a:ahLst/>
              <a:cxnLst>
                <a:cxn ang="0">
                  <a:pos x="53" y="157"/>
                </a:cxn>
                <a:cxn ang="0">
                  <a:pos x="35" y="114"/>
                </a:cxn>
                <a:cxn ang="0">
                  <a:pos x="14" y="95"/>
                </a:cxn>
                <a:cxn ang="0">
                  <a:pos x="22" y="71"/>
                </a:cxn>
                <a:cxn ang="0">
                  <a:pos x="3" y="25"/>
                </a:cxn>
                <a:cxn ang="0">
                  <a:pos x="38" y="0"/>
                </a:cxn>
                <a:cxn ang="0">
                  <a:pos x="72" y="18"/>
                </a:cxn>
                <a:cxn ang="0">
                  <a:pos x="128" y="24"/>
                </a:cxn>
                <a:cxn ang="0">
                  <a:pos x="170" y="34"/>
                </a:cxn>
                <a:cxn ang="0">
                  <a:pos x="192" y="66"/>
                </a:cxn>
                <a:cxn ang="0">
                  <a:pos x="232" y="71"/>
                </a:cxn>
                <a:cxn ang="0">
                  <a:pos x="254" y="118"/>
                </a:cxn>
                <a:cxn ang="0">
                  <a:pos x="254" y="168"/>
                </a:cxn>
                <a:cxn ang="0">
                  <a:pos x="262" y="226"/>
                </a:cxn>
                <a:cxn ang="0">
                  <a:pos x="273" y="250"/>
                </a:cxn>
                <a:cxn ang="0">
                  <a:pos x="321" y="253"/>
                </a:cxn>
                <a:cxn ang="0">
                  <a:pos x="344" y="251"/>
                </a:cxn>
                <a:cxn ang="0">
                  <a:pos x="362" y="213"/>
                </a:cxn>
                <a:cxn ang="0">
                  <a:pos x="408" y="201"/>
                </a:cxn>
                <a:cxn ang="0">
                  <a:pos x="419" y="207"/>
                </a:cxn>
                <a:cxn ang="0">
                  <a:pos x="402" y="238"/>
                </a:cxn>
                <a:cxn ang="0">
                  <a:pos x="392" y="251"/>
                </a:cxn>
                <a:cxn ang="0">
                  <a:pos x="360" y="267"/>
                </a:cxn>
                <a:cxn ang="0">
                  <a:pos x="339" y="279"/>
                </a:cxn>
                <a:cxn ang="0">
                  <a:pos x="321" y="313"/>
                </a:cxn>
                <a:cxn ang="0">
                  <a:pos x="288" y="294"/>
                </a:cxn>
                <a:cxn ang="0">
                  <a:pos x="278" y="295"/>
                </a:cxn>
                <a:cxn ang="0">
                  <a:pos x="250" y="305"/>
                </a:cxn>
                <a:cxn ang="0">
                  <a:pos x="198" y="280"/>
                </a:cxn>
                <a:cxn ang="0">
                  <a:pos x="160" y="259"/>
                </a:cxn>
                <a:cxn ang="0">
                  <a:pos x="126" y="232"/>
                </a:cxn>
                <a:cxn ang="0">
                  <a:pos x="128" y="211"/>
                </a:cxn>
                <a:cxn ang="0">
                  <a:pos x="122" y="173"/>
                </a:cxn>
                <a:cxn ang="0">
                  <a:pos x="107" y="149"/>
                </a:cxn>
                <a:cxn ang="0">
                  <a:pos x="99" y="136"/>
                </a:cxn>
                <a:cxn ang="0">
                  <a:pos x="84" y="125"/>
                </a:cxn>
                <a:cxn ang="0">
                  <a:pos x="72" y="90"/>
                </a:cxn>
                <a:cxn ang="0">
                  <a:pos x="57" y="63"/>
                </a:cxn>
                <a:cxn ang="0">
                  <a:pos x="41" y="22"/>
                </a:cxn>
                <a:cxn ang="0">
                  <a:pos x="26" y="52"/>
                </a:cxn>
                <a:cxn ang="0">
                  <a:pos x="46" y="95"/>
                </a:cxn>
                <a:cxn ang="0">
                  <a:pos x="54" y="126"/>
                </a:cxn>
                <a:cxn ang="0">
                  <a:pos x="70" y="161"/>
                </a:cxn>
              </a:cxnLst>
              <a:rect l="0" t="0" r="r" b="b"/>
              <a:pathLst>
                <a:path w="419" h="325">
                  <a:moveTo>
                    <a:pt x="74" y="169"/>
                  </a:moveTo>
                  <a:lnTo>
                    <a:pt x="63" y="174"/>
                  </a:lnTo>
                  <a:lnTo>
                    <a:pt x="53" y="157"/>
                  </a:lnTo>
                  <a:lnTo>
                    <a:pt x="39" y="142"/>
                  </a:lnTo>
                  <a:lnTo>
                    <a:pt x="40" y="127"/>
                  </a:lnTo>
                  <a:lnTo>
                    <a:pt x="35" y="114"/>
                  </a:lnTo>
                  <a:lnTo>
                    <a:pt x="30" y="105"/>
                  </a:lnTo>
                  <a:lnTo>
                    <a:pt x="21" y="103"/>
                  </a:lnTo>
                  <a:lnTo>
                    <a:pt x="14" y="95"/>
                  </a:lnTo>
                  <a:lnTo>
                    <a:pt x="6" y="87"/>
                  </a:lnTo>
                  <a:lnTo>
                    <a:pt x="18" y="89"/>
                  </a:lnTo>
                  <a:lnTo>
                    <a:pt x="22" y="71"/>
                  </a:lnTo>
                  <a:lnTo>
                    <a:pt x="14" y="59"/>
                  </a:lnTo>
                  <a:lnTo>
                    <a:pt x="5" y="47"/>
                  </a:lnTo>
                  <a:lnTo>
                    <a:pt x="3" y="25"/>
                  </a:lnTo>
                  <a:lnTo>
                    <a:pt x="0" y="3"/>
                  </a:lnTo>
                  <a:lnTo>
                    <a:pt x="18" y="1"/>
                  </a:lnTo>
                  <a:lnTo>
                    <a:pt x="38" y="0"/>
                  </a:lnTo>
                  <a:lnTo>
                    <a:pt x="48" y="6"/>
                  </a:lnTo>
                  <a:lnTo>
                    <a:pt x="60" y="12"/>
                  </a:lnTo>
                  <a:lnTo>
                    <a:pt x="72" y="18"/>
                  </a:lnTo>
                  <a:lnTo>
                    <a:pt x="84" y="24"/>
                  </a:lnTo>
                  <a:lnTo>
                    <a:pt x="106" y="24"/>
                  </a:lnTo>
                  <a:lnTo>
                    <a:pt x="128" y="24"/>
                  </a:lnTo>
                  <a:lnTo>
                    <a:pt x="131" y="16"/>
                  </a:lnTo>
                  <a:lnTo>
                    <a:pt x="156" y="16"/>
                  </a:lnTo>
                  <a:lnTo>
                    <a:pt x="170" y="34"/>
                  </a:lnTo>
                  <a:lnTo>
                    <a:pt x="174" y="52"/>
                  </a:lnTo>
                  <a:lnTo>
                    <a:pt x="183" y="59"/>
                  </a:lnTo>
                  <a:lnTo>
                    <a:pt x="192" y="66"/>
                  </a:lnTo>
                  <a:lnTo>
                    <a:pt x="203" y="53"/>
                  </a:lnTo>
                  <a:lnTo>
                    <a:pt x="225" y="55"/>
                  </a:lnTo>
                  <a:lnTo>
                    <a:pt x="232" y="71"/>
                  </a:lnTo>
                  <a:lnTo>
                    <a:pt x="238" y="88"/>
                  </a:lnTo>
                  <a:lnTo>
                    <a:pt x="244" y="109"/>
                  </a:lnTo>
                  <a:lnTo>
                    <a:pt x="254" y="118"/>
                  </a:lnTo>
                  <a:lnTo>
                    <a:pt x="273" y="120"/>
                  </a:lnTo>
                  <a:lnTo>
                    <a:pt x="263" y="144"/>
                  </a:lnTo>
                  <a:lnTo>
                    <a:pt x="254" y="168"/>
                  </a:lnTo>
                  <a:lnTo>
                    <a:pt x="251" y="192"/>
                  </a:lnTo>
                  <a:lnTo>
                    <a:pt x="256" y="210"/>
                  </a:lnTo>
                  <a:lnTo>
                    <a:pt x="262" y="226"/>
                  </a:lnTo>
                  <a:lnTo>
                    <a:pt x="267" y="238"/>
                  </a:lnTo>
                  <a:lnTo>
                    <a:pt x="272" y="249"/>
                  </a:lnTo>
                  <a:lnTo>
                    <a:pt x="273" y="250"/>
                  </a:lnTo>
                  <a:lnTo>
                    <a:pt x="290" y="258"/>
                  </a:lnTo>
                  <a:lnTo>
                    <a:pt x="304" y="257"/>
                  </a:lnTo>
                  <a:lnTo>
                    <a:pt x="321" y="253"/>
                  </a:lnTo>
                  <a:lnTo>
                    <a:pt x="332" y="253"/>
                  </a:lnTo>
                  <a:lnTo>
                    <a:pt x="339" y="255"/>
                  </a:lnTo>
                  <a:lnTo>
                    <a:pt x="344" y="251"/>
                  </a:lnTo>
                  <a:lnTo>
                    <a:pt x="341" y="247"/>
                  </a:lnTo>
                  <a:lnTo>
                    <a:pt x="354" y="234"/>
                  </a:lnTo>
                  <a:lnTo>
                    <a:pt x="362" y="213"/>
                  </a:lnTo>
                  <a:lnTo>
                    <a:pt x="378" y="204"/>
                  </a:lnTo>
                  <a:lnTo>
                    <a:pt x="393" y="202"/>
                  </a:lnTo>
                  <a:lnTo>
                    <a:pt x="408" y="201"/>
                  </a:lnTo>
                  <a:lnTo>
                    <a:pt x="412" y="201"/>
                  </a:lnTo>
                  <a:lnTo>
                    <a:pt x="418" y="204"/>
                  </a:lnTo>
                  <a:lnTo>
                    <a:pt x="419" y="207"/>
                  </a:lnTo>
                  <a:lnTo>
                    <a:pt x="405" y="229"/>
                  </a:lnTo>
                  <a:lnTo>
                    <a:pt x="402" y="235"/>
                  </a:lnTo>
                  <a:lnTo>
                    <a:pt x="402" y="238"/>
                  </a:lnTo>
                  <a:lnTo>
                    <a:pt x="402" y="240"/>
                  </a:lnTo>
                  <a:lnTo>
                    <a:pt x="395" y="257"/>
                  </a:lnTo>
                  <a:lnTo>
                    <a:pt x="392" y="251"/>
                  </a:lnTo>
                  <a:lnTo>
                    <a:pt x="389" y="255"/>
                  </a:lnTo>
                  <a:lnTo>
                    <a:pt x="375" y="267"/>
                  </a:lnTo>
                  <a:lnTo>
                    <a:pt x="360" y="267"/>
                  </a:lnTo>
                  <a:lnTo>
                    <a:pt x="345" y="267"/>
                  </a:lnTo>
                  <a:lnTo>
                    <a:pt x="344" y="277"/>
                  </a:lnTo>
                  <a:lnTo>
                    <a:pt x="339" y="279"/>
                  </a:lnTo>
                  <a:lnTo>
                    <a:pt x="351" y="295"/>
                  </a:lnTo>
                  <a:lnTo>
                    <a:pt x="329" y="299"/>
                  </a:lnTo>
                  <a:lnTo>
                    <a:pt x="321" y="313"/>
                  </a:lnTo>
                  <a:lnTo>
                    <a:pt x="318" y="325"/>
                  </a:lnTo>
                  <a:lnTo>
                    <a:pt x="303" y="310"/>
                  </a:lnTo>
                  <a:lnTo>
                    <a:pt x="288" y="294"/>
                  </a:lnTo>
                  <a:lnTo>
                    <a:pt x="294" y="300"/>
                  </a:lnTo>
                  <a:lnTo>
                    <a:pt x="286" y="294"/>
                  </a:lnTo>
                  <a:lnTo>
                    <a:pt x="278" y="295"/>
                  </a:lnTo>
                  <a:lnTo>
                    <a:pt x="281" y="295"/>
                  </a:lnTo>
                  <a:lnTo>
                    <a:pt x="266" y="300"/>
                  </a:lnTo>
                  <a:lnTo>
                    <a:pt x="250" y="305"/>
                  </a:lnTo>
                  <a:lnTo>
                    <a:pt x="233" y="297"/>
                  </a:lnTo>
                  <a:lnTo>
                    <a:pt x="215" y="288"/>
                  </a:lnTo>
                  <a:lnTo>
                    <a:pt x="198" y="280"/>
                  </a:lnTo>
                  <a:lnTo>
                    <a:pt x="180" y="273"/>
                  </a:lnTo>
                  <a:lnTo>
                    <a:pt x="171" y="265"/>
                  </a:lnTo>
                  <a:lnTo>
                    <a:pt x="160" y="259"/>
                  </a:lnTo>
                  <a:lnTo>
                    <a:pt x="148" y="253"/>
                  </a:lnTo>
                  <a:lnTo>
                    <a:pt x="137" y="243"/>
                  </a:lnTo>
                  <a:lnTo>
                    <a:pt x="126" y="232"/>
                  </a:lnTo>
                  <a:lnTo>
                    <a:pt x="124" y="219"/>
                  </a:lnTo>
                  <a:lnTo>
                    <a:pt x="130" y="216"/>
                  </a:lnTo>
                  <a:lnTo>
                    <a:pt x="128" y="211"/>
                  </a:lnTo>
                  <a:lnTo>
                    <a:pt x="132" y="201"/>
                  </a:lnTo>
                  <a:lnTo>
                    <a:pt x="126" y="186"/>
                  </a:lnTo>
                  <a:lnTo>
                    <a:pt x="122" y="173"/>
                  </a:lnTo>
                  <a:lnTo>
                    <a:pt x="112" y="160"/>
                  </a:lnTo>
                  <a:lnTo>
                    <a:pt x="102" y="148"/>
                  </a:lnTo>
                  <a:lnTo>
                    <a:pt x="107" y="149"/>
                  </a:lnTo>
                  <a:lnTo>
                    <a:pt x="100" y="139"/>
                  </a:lnTo>
                  <a:lnTo>
                    <a:pt x="98" y="137"/>
                  </a:lnTo>
                  <a:lnTo>
                    <a:pt x="99" y="136"/>
                  </a:lnTo>
                  <a:lnTo>
                    <a:pt x="88" y="130"/>
                  </a:lnTo>
                  <a:lnTo>
                    <a:pt x="90" y="125"/>
                  </a:lnTo>
                  <a:lnTo>
                    <a:pt x="84" y="125"/>
                  </a:lnTo>
                  <a:lnTo>
                    <a:pt x="89" y="114"/>
                  </a:lnTo>
                  <a:lnTo>
                    <a:pt x="83" y="108"/>
                  </a:lnTo>
                  <a:lnTo>
                    <a:pt x="72" y="90"/>
                  </a:lnTo>
                  <a:lnTo>
                    <a:pt x="72" y="85"/>
                  </a:lnTo>
                  <a:lnTo>
                    <a:pt x="63" y="78"/>
                  </a:lnTo>
                  <a:lnTo>
                    <a:pt x="57" y="63"/>
                  </a:lnTo>
                  <a:lnTo>
                    <a:pt x="51" y="47"/>
                  </a:lnTo>
                  <a:lnTo>
                    <a:pt x="51" y="27"/>
                  </a:lnTo>
                  <a:lnTo>
                    <a:pt x="41" y="22"/>
                  </a:lnTo>
                  <a:lnTo>
                    <a:pt x="29" y="15"/>
                  </a:lnTo>
                  <a:lnTo>
                    <a:pt x="27" y="33"/>
                  </a:lnTo>
                  <a:lnTo>
                    <a:pt x="26" y="52"/>
                  </a:lnTo>
                  <a:lnTo>
                    <a:pt x="33" y="66"/>
                  </a:lnTo>
                  <a:lnTo>
                    <a:pt x="41" y="82"/>
                  </a:lnTo>
                  <a:lnTo>
                    <a:pt x="46" y="95"/>
                  </a:lnTo>
                  <a:lnTo>
                    <a:pt x="50" y="107"/>
                  </a:lnTo>
                  <a:lnTo>
                    <a:pt x="52" y="106"/>
                  </a:lnTo>
                  <a:lnTo>
                    <a:pt x="54" y="126"/>
                  </a:lnTo>
                  <a:lnTo>
                    <a:pt x="58" y="148"/>
                  </a:lnTo>
                  <a:lnTo>
                    <a:pt x="63" y="151"/>
                  </a:lnTo>
                  <a:lnTo>
                    <a:pt x="70" y="161"/>
                  </a:lnTo>
                  <a:lnTo>
                    <a:pt x="74" y="1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5" name="Freeform 174"/>
            <p:cNvSpPr>
              <a:spLocks/>
            </p:cNvSpPr>
            <p:nvPr/>
          </p:nvSpPr>
          <p:spPr bwMode="auto">
            <a:xfrm>
              <a:off x="1187" y="2203"/>
              <a:ext cx="9" cy="16"/>
            </a:xfrm>
            <a:custGeom>
              <a:avLst/>
              <a:gdLst/>
              <a:ahLst/>
              <a:cxnLst>
                <a:cxn ang="0">
                  <a:pos x="9" y="13"/>
                </a:cxn>
                <a:cxn ang="0">
                  <a:pos x="6" y="0"/>
                </a:cxn>
                <a:cxn ang="0">
                  <a:pos x="0" y="10"/>
                </a:cxn>
                <a:cxn ang="0">
                  <a:pos x="3" y="14"/>
                </a:cxn>
                <a:cxn ang="0">
                  <a:pos x="9" y="13"/>
                </a:cxn>
              </a:cxnLst>
              <a:rect l="0" t="0" r="r" b="b"/>
              <a:pathLst>
                <a:path w="9" h="14">
                  <a:moveTo>
                    <a:pt x="9" y="13"/>
                  </a:moveTo>
                  <a:lnTo>
                    <a:pt x="6" y="0"/>
                  </a:lnTo>
                  <a:lnTo>
                    <a:pt x="0" y="10"/>
                  </a:lnTo>
                  <a:lnTo>
                    <a:pt x="3" y="14"/>
                  </a:lnTo>
                  <a:lnTo>
                    <a:pt x="9"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6" name="Freeform 175"/>
            <p:cNvSpPr>
              <a:spLocks/>
            </p:cNvSpPr>
            <p:nvPr/>
          </p:nvSpPr>
          <p:spPr bwMode="auto">
            <a:xfrm>
              <a:off x="1202" y="2167"/>
              <a:ext cx="14" cy="20"/>
            </a:xfrm>
            <a:custGeom>
              <a:avLst/>
              <a:gdLst/>
              <a:ahLst/>
              <a:cxnLst>
                <a:cxn ang="0">
                  <a:pos x="5" y="17"/>
                </a:cxn>
                <a:cxn ang="0">
                  <a:pos x="7" y="10"/>
                </a:cxn>
                <a:cxn ang="0">
                  <a:pos x="0" y="0"/>
                </a:cxn>
                <a:cxn ang="0">
                  <a:pos x="11" y="11"/>
                </a:cxn>
                <a:cxn ang="0">
                  <a:pos x="5" y="17"/>
                </a:cxn>
              </a:cxnLst>
              <a:rect l="0" t="0" r="r" b="b"/>
              <a:pathLst>
                <a:path w="11" h="17">
                  <a:moveTo>
                    <a:pt x="5" y="17"/>
                  </a:moveTo>
                  <a:lnTo>
                    <a:pt x="7" y="10"/>
                  </a:lnTo>
                  <a:lnTo>
                    <a:pt x="0" y="0"/>
                  </a:lnTo>
                  <a:lnTo>
                    <a:pt x="11" y="11"/>
                  </a:lnTo>
                  <a:lnTo>
                    <a:pt x="5"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7" name="Freeform 176"/>
            <p:cNvSpPr>
              <a:spLocks/>
            </p:cNvSpPr>
            <p:nvPr/>
          </p:nvSpPr>
          <p:spPr bwMode="auto">
            <a:xfrm>
              <a:off x="1218" y="2196"/>
              <a:ext cx="9" cy="16"/>
            </a:xfrm>
            <a:custGeom>
              <a:avLst/>
              <a:gdLst/>
              <a:ahLst/>
              <a:cxnLst>
                <a:cxn ang="0">
                  <a:pos x="5" y="13"/>
                </a:cxn>
                <a:cxn ang="0">
                  <a:pos x="7" y="7"/>
                </a:cxn>
                <a:cxn ang="0">
                  <a:pos x="0" y="0"/>
                </a:cxn>
                <a:cxn ang="0">
                  <a:pos x="4" y="5"/>
                </a:cxn>
                <a:cxn ang="0">
                  <a:pos x="6" y="7"/>
                </a:cxn>
                <a:cxn ang="0">
                  <a:pos x="4" y="12"/>
                </a:cxn>
                <a:cxn ang="0">
                  <a:pos x="5" y="13"/>
                </a:cxn>
              </a:cxnLst>
              <a:rect l="0" t="0" r="r" b="b"/>
              <a:pathLst>
                <a:path w="7" h="13">
                  <a:moveTo>
                    <a:pt x="5" y="13"/>
                  </a:moveTo>
                  <a:lnTo>
                    <a:pt x="7" y="7"/>
                  </a:lnTo>
                  <a:lnTo>
                    <a:pt x="0" y="0"/>
                  </a:lnTo>
                  <a:lnTo>
                    <a:pt x="4" y="5"/>
                  </a:lnTo>
                  <a:lnTo>
                    <a:pt x="6" y="7"/>
                  </a:lnTo>
                  <a:lnTo>
                    <a:pt x="4" y="12"/>
                  </a:lnTo>
                  <a:lnTo>
                    <a:pt x="5"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8" name="Freeform 177"/>
            <p:cNvSpPr>
              <a:spLocks/>
            </p:cNvSpPr>
            <p:nvPr/>
          </p:nvSpPr>
          <p:spPr bwMode="auto">
            <a:xfrm>
              <a:off x="1260" y="2281"/>
              <a:ext cx="9" cy="6"/>
            </a:xfrm>
            <a:custGeom>
              <a:avLst/>
              <a:gdLst/>
              <a:ahLst/>
              <a:cxnLst>
                <a:cxn ang="0">
                  <a:pos x="10" y="0"/>
                </a:cxn>
                <a:cxn ang="0">
                  <a:pos x="10" y="3"/>
                </a:cxn>
                <a:cxn ang="0">
                  <a:pos x="0" y="6"/>
                </a:cxn>
                <a:cxn ang="0">
                  <a:pos x="10" y="0"/>
                </a:cxn>
              </a:cxnLst>
              <a:rect l="0" t="0" r="r" b="b"/>
              <a:pathLst>
                <a:path w="10" h="6">
                  <a:moveTo>
                    <a:pt x="10" y="0"/>
                  </a:moveTo>
                  <a:lnTo>
                    <a:pt x="10" y="3"/>
                  </a:lnTo>
                  <a:lnTo>
                    <a:pt x="0" y="6"/>
                  </a:lnTo>
                  <a:lnTo>
                    <a:pt x="1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9" name="Freeform 178"/>
            <p:cNvSpPr>
              <a:spLocks/>
            </p:cNvSpPr>
            <p:nvPr/>
          </p:nvSpPr>
          <p:spPr bwMode="auto">
            <a:xfrm>
              <a:off x="1254" y="2254"/>
              <a:ext cx="6" cy="7"/>
            </a:xfrm>
            <a:custGeom>
              <a:avLst/>
              <a:gdLst/>
              <a:ahLst/>
              <a:cxnLst>
                <a:cxn ang="0">
                  <a:pos x="6" y="2"/>
                </a:cxn>
                <a:cxn ang="0">
                  <a:pos x="4" y="0"/>
                </a:cxn>
                <a:cxn ang="0">
                  <a:pos x="0" y="5"/>
                </a:cxn>
                <a:cxn ang="0">
                  <a:pos x="6" y="2"/>
                </a:cxn>
              </a:cxnLst>
              <a:rect l="0" t="0" r="r" b="b"/>
              <a:pathLst>
                <a:path w="6" h="5">
                  <a:moveTo>
                    <a:pt x="6" y="2"/>
                  </a:moveTo>
                  <a:lnTo>
                    <a:pt x="4" y="0"/>
                  </a:lnTo>
                  <a:lnTo>
                    <a:pt x="0" y="5"/>
                  </a:lnTo>
                  <a:lnTo>
                    <a:pt x="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0" name="Freeform 179"/>
            <p:cNvSpPr>
              <a:spLocks/>
            </p:cNvSpPr>
            <p:nvPr/>
          </p:nvSpPr>
          <p:spPr bwMode="auto">
            <a:xfrm>
              <a:off x="1182" y="2174"/>
              <a:ext cx="18" cy="2"/>
            </a:xfrm>
            <a:custGeom>
              <a:avLst/>
              <a:gdLst/>
              <a:ahLst/>
              <a:cxnLst>
                <a:cxn ang="0">
                  <a:pos x="5" y="0"/>
                </a:cxn>
                <a:cxn ang="0">
                  <a:pos x="15" y="0"/>
                </a:cxn>
                <a:cxn ang="0">
                  <a:pos x="9" y="1"/>
                </a:cxn>
                <a:cxn ang="0">
                  <a:pos x="0" y="0"/>
                </a:cxn>
                <a:cxn ang="0">
                  <a:pos x="5" y="0"/>
                </a:cxn>
              </a:cxnLst>
              <a:rect l="0" t="0" r="r" b="b"/>
              <a:pathLst>
                <a:path w="15" h="1">
                  <a:moveTo>
                    <a:pt x="5" y="0"/>
                  </a:moveTo>
                  <a:lnTo>
                    <a:pt x="15" y="0"/>
                  </a:lnTo>
                  <a:lnTo>
                    <a:pt x="9" y="1"/>
                  </a:lnTo>
                  <a:lnTo>
                    <a:pt x="0" y="0"/>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1" name="Freeform 180"/>
            <p:cNvSpPr>
              <a:spLocks/>
            </p:cNvSpPr>
            <p:nvPr/>
          </p:nvSpPr>
          <p:spPr bwMode="auto">
            <a:xfrm>
              <a:off x="1194" y="2223"/>
              <a:ext cx="6" cy="7"/>
            </a:xfrm>
            <a:custGeom>
              <a:avLst/>
              <a:gdLst/>
              <a:ahLst/>
              <a:cxnLst>
                <a:cxn ang="0">
                  <a:pos x="5" y="4"/>
                </a:cxn>
                <a:cxn ang="0">
                  <a:pos x="3" y="1"/>
                </a:cxn>
                <a:cxn ang="0">
                  <a:pos x="0" y="0"/>
                </a:cxn>
                <a:cxn ang="0">
                  <a:pos x="3" y="6"/>
                </a:cxn>
                <a:cxn ang="0">
                  <a:pos x="5" y="4"/>
                </a:cxn>
              </a:cxnLst>
              <a:rect l="0" t="0" r="r" b="b"/>
              <a:pathLst>
                <a:path w="5" h="6">
                  <a:moveTo>
                    <a:pt x="5" y="4"/>
                  </a:moveTo>
                  <a:lnTo>
                    <a:pt x="3" y="1"/>
                  </a:lnTo>
                  <a:lnTo>
                    <a:pt x="0" y="0"/>
                  </a:lnTo>
                  <a:lnTo>
                    <a:pt x="3" y="6"/>
                  </a:lnTo>
                  <a:lnTo>
                    <a:pt x="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2" name="Freeform 181"/>
            <p:cNvSpPr>
              <a:spLocks/>
            </p:cNvSpPr>
            <p:nvPr/>
          </p:nvSpPr>
          <p:spPr bwMode="auto">
            <a:xfrm>
              <a:off x="4449" y="2921"/>
              <a:ext cx="700" cy="562"/>
            </a:xfrm>
            <a:custGeom>
              <a:avLst/>
              <a:gdLst/>
              <a:ahLst/>
              <a:cxnLst>
                <a:cxn ang="0">
                  <a:pos x="356" y="12"/>
                </a:cxn>
                <a:cxn ang="0">
                  <a:pos x="361" y="25"/>
                </a:cxn>
                <a:cxn ang="0">
                  <a:pos x="333" y="34"/>
                </a:cxn>
                <a:cxn ang="0">
                  <a:pos x="320" y="48"/>
                </a:cxn>
                <a:cxn ang="0">
                  <a:pos x="314" y="72"/>
                </a:cxn>
                <a:cxn ang="0">
                  <a:pos x="301" y="78"/>
                </a:cxn>
                <a:cxn ang="0">
                  <a:pos x="282" y="85"/>
                </a:cxn>
                <a:cxn ang="0">
                  <a:pos x="269" y="58"/>
                </a:cxn>
                <a:cxn ang="0">
                  <a:pos x="254" y="60"/>
                </a:cxn>
                <a:cxn ang="0">
                  <a:pos x="241" y="79"/>
                </a:cxn>
                <a:cxn ang="0">
                  <a:pos x="225" y="90"/>
                </a:cxn>
                <a:cxn ang="0">
                  <a:pos x="224" y="100"/>
                </a:cxn>
                <a:cxn ang="0">
                  <a:pos x="212" y="100"/>
                </a:cxn>
                <a:cxn ang="0">
                  <a:pos x="209" y="129"/>
                </a:cxn>
                <a:cxn ang="0">
                  <a:pos x="183" y="121"/>
                </a:cxn>
                <a:cxn ang="0">
                  <a:pos x="144" y="165"/>
                </a:cxn>
                <a:cxn ang="0">
                  <a:pos x="92" y="175"/>
                </a:cxn>
                <a:cxn ang="0">
                  <a:pos x="44" y="199"/>
                </a:cxn>
                <a:cxn ang="0">
                  <a:pos x="29" y="264"/>
                </a:cxn>
                <a:cxn ang="0">
                  <a:pos x="21" y="267"/>
                </a:cxn>
                <a:cxn ang="0">
                  <a:pos x="19" y="293"/>
                </a:cxn>
                <a:cxn ang="0">
                  <a:pos x="24" y="354"/>
                </a:cxn>
                <a:cxn ang="0">
                  <a:pos x="8" y="411"/>
                </a:cxn>
                <a:cxn ang="0">
                  <a:pos x="21" y="437"/>
                </a:cxn>
                <a:cxn ang="0">
                  <a:pos x="72" y="418"/>
                </a:cxn>
                <a:cxn ang="0">
                  <a:pos x="141" y="402"/>
                </a:cxn>
                <a:cxn ang="0">
                  <a:pos x="219" y="379"/>
                </a:cxn>
                <a:cxn ang="0">
                  <a:pos x="290" y="385"/>
                </a:cxn>
                <a:cxn ang="0">
                  <a:pos x="300" y="414"/>
                </a:cxn>
                <a:cxn ang="0">
                  <a:pos x="308" y="431"/>
                </a:cxn>
                <a:cxn ang="0">
                  <a:pos x="348" y="406"/>
                </a:cxn>
                <a:cxn ang="0">
                  <a:pos x="330" y="439"/>
                </a:cxn>
                <a:cxn ang="0">
                  <a:pos x="343" y="445"/>
                </a:cxn>
                <a:cxn ang="0">
                  <a:pos x="345" y="489"/>
                </a:cxn>
                <a:cxn ang="0">
                  <a:pos x="403" y="495"/>
                </a:cxn>
                <a:cxn ang="0">
                  <a:pos x="410" y="497"/>
                </a:cxn>
                <a:cxn ang="0">
                  <a:pos x="426" y="502"/>
                </a:cxn>
                <a:cxn ang="0">
                  <a:pos x="495" y="471"/>
                </a:cxn>
                <a:cxn ang="0">
                  <a:pos x="549" y="409"/>
                </a:cxn>
                <a:cxn ang="0">
                  <a:pos x="599" y="358"/>
                </a:cxn>
                <a:cxn ang="0">
                  <a:pos x="621" y="299"/>
                </a:cxn>
                <a:cxn ang="0">
                  <a:pos x="623" y="250"/>
                </a:cxn>
                <a:cxn ang="0">
                  <a:pos x="608" y="213"/>
                </a:cxn>
                <a:cxn ang="0">
                  <a:pos x="594" y="193"/>
                </a:cxn>
                <a:cxn ang="0">
                  <a:pos x="575" y="157"/>
                </a:cxn>
                <a:cxn ang="0">
                  <a:pos x="553" y="97"/>
                </a:cxn>
                <a:cxn ang="0">
                  <a:pos x="533" y="65"/>
                </a:cxn>
                <a:cxn ang="0">
                  <a:pos x="525" y="13"/>
                </a:cxn>
                <a:cxn ang="0">
                  <a:pos x="509" y="23"/>
                </a:cxn>
                <a:cxn ang="0">
                  <a:pos x="503" y="43"/>
                </a:cxn>
                <a:cxn ang="0">
                  <a:pos x="497" y="81"/>
                </a:cxn>
                <a:cxn ang="0">
                  <a:pos x="451" y="114"/>
                </a:cxn>
                <a:cxn ang="0">
                  <a:pos x="401" y="72"/>
                </a:cxn>
                <a:cxn ang="0">
                  <a:pos x="422" y="40"/>
                </a:cxn>
                <a:cxn ang="0">
                  <a:pos x="415" y="27"/>
                </a:cxn>
                <a:cxn ang="0">
                  <a:pos x="387" y="24"/>
                </a:cxn>
              </a:cxnLst>
              <a:rect l="0" t="0" r="r" b="b"/>
              <a:pathLst>
                <a:path w="630" h="508">
                  <a:moveTo>
                    <a:pt x="369" y="12"/>
                  </a:moveTo>
                  <a:lnTo>
                    <a:pt x="362" y="11"/>
                  </a:lnTo>
                  <a:lnTo>
                    <a:pt x="357" y="10"/>
                  </a:lnTo>
                  <a:lnTo>
                    <a:pt x="356" y="12"/>
                  </a:lnTo>
                  <a:lnTo>
                    <a:pt x="351" y="10"/>
                  </a:lnTo>
                  <a:lnTo>
                    <a:pt x="357" y="13"/>
                  </a:lnTo>
                  <a:lnTo>
                    <a:pt x="365" y="18"/>
                  </a:lnTo>
                  <a:lnTo>
                    <a:pt x="361" y="25"/>
                  </a:lnTo>
                  <a:lnTo>
                    <a:pt x="356" y="28"/>
                  </a:lnTo>
                  <a:lnTo>
                    <a:pt x="343" y="25"/>
                  </a:lnTo>
                  <a:lnTo>
                    <a:pt x="337" y="28"/>
                  </a:lnTo>
                  <a:lnTo>
                    <a:pt x="333" y="34"/>
                  </a:lnTo>
                  <a:lnTo>
                    <a:pt x="330" y="31"/>
                  </a:lnTo>
                  <a:lnTo>
                    <a:pt x="327" y="35"/>
                  </a:lnTo>
                  <a:lnTo>
                    <a:pt x="321" y="45"/>
                  </a:lnTo>
                  <a:lnTo>
                    <a:pt x="320" y="48"/>
                  </a:lnTo>
                  <a:lnTo>
                    <a:pt x="314" y="54"/>
                  </a:lnTo>
                  <a:lnTo>
                    <a:pt x="307" y="67"/>
                  </a:lnTo>
                  <a:lnTo>
                    <a:pt x="312" y="70"/>
                  </a:lnTo>
                  <a:lnTo>
                    <a:pt x="314" y="72"/>
                  </a:lnTo>
                  <a:lnTo>
                    <a:pt x="309" y="78"/>
                  </a:lnTo>
                  <a:lnTo>
                    <a:pt x="315" y="84"/>
                  </a:lnTo>
                  <a:lnTo>
                    <a:pt x="303" y="75"/>
                  </a:lnTo>
                  <a:lnTo>
                    <a:pt x="301" y="78"/>
                  </a:lnTo>
                  <a:lnTo>
                    <a:pt x="290" y="73"/>
                  </a:lnTo>
                  <a:lnTo>
                    <a:pt x="288" y="82"/>
                  </a:lnTo>
                  <a:lnTo>
                    <a:pt x="284" y="82"/>
                  </a:lnTo>
                  <a:lnTo>
                    <a:pt x="282" y="85"/>
                  </a:lnTo>
                  <a:lnTo>
                    <a:pt x="282" y="81"/>
                  </a:lnTo>
                  <a:lnTo>
                    <a:pt x="285" y="70"/>
                  </a:lnTo>
                  <a:lnTo>
                    <a:pt x="270" y="54"/>
                  </a:lnTo>
                  <a:lnTo>
                    <a:pt x="269" y="58"/>
                  </a:lnTo>
                  <a:lnTo>
                    <a:pt x="261" y="60"/>
                  </a:lnTo>
                  <a:lnTo>
                    <a:pt x="260" y="58"/>
                  </a:lnTo>
                  <a:lnTo>
                    <a:pt x="258" y="60"/>
                  </a:lnTo>
                  <a:lnTo>
                    <a:pt x="254" y="60"/>
                  </a:lnTo>
                  <a:lnTo>
                    <a:pt x="251" y="70"/>
                  </a:lnTo>
                  <a:lnTo>
                    <a:pt x="248" y="65"/>
                  </a:lnTo>
                  <a:lnTo>
                    <a:pt x="240" y="73"/>
                  </a:lnTo>
                  <a:lnTo>
                    <a:pt x="241" y="79"/>
                  </a:lnTo>
                  <a:lnTo>
                    <a:pt x="235" y="78"/>
                  </a:lnTo>
                  <a:lnTo>
                    <a:pt x="237" y="87"/>
                  </a:lnTo>
                  <a:lnTo>
                    <a:pt x="230" y="83"/>
                  </a:lnTo>
                  <a:lnTo>
                    <a:pt x="225" y="90"/>
                  </a:lnTo>
                  <a:lnTo>
                    <a:pt x="227" y="91"/>
                  </a:lnTo>
                  <a:lnTo>
                    <a:pt x="229" y="91"/>
                  </a:lnTo>
                  <a:lnTo>
                    <a:pt x="224" y="95"/>
                  </a:lnTo>
                  <a:lnTo>
                    <a:pt x="224" y="100"/>
                  </a:lnTo>
                  <a:lnTo>
                    <a:pt x="228" y="101"/>
                  </a:lnTo>
                  <a:lnTo>
                    <a:pt x="219" y="101"/>
                  </a:lnTo>
                  <a:lnTo>
                    <a:pt x="216" y="101"/>
                  </a:lnTo>
                  <a:lnTo>
                    <a:pt x="212" y="100"/>
                  </a:lnTo>
                  <a:lnTo>
                    <a:pt x="210" y="103"/>
                  </a:lnTo>
                  <a:lnTo>
                    <a:pt x="212" y="112"/>
                  </a:lnTo>
                  <a:lnTo>
                    <a:pt x="209" y="114"/>
                  </a:lnTo>
                  <a:lnTo>
                    <a:pt x="209" y="129"/>
                  </a:lnTo>
                  <a:lnTo>
                    <a:pt x="204" y="115"/>
                  </a:lnTo>
                  <a:lnTo>
                    <a:pt x="199" y="102"/>
                  </a:lnTo>
                  <a:lnTo>
                    <a:pt x="194" y="107"/>
                  </a:lnTo>
                  <a:lnTo>
                    <a:pt x="183" y="121"/>
                  </a:lnTo>
                  <a:lnTo>
                    <a:pt x="183" y="133"/>
                  </a:lnTo>
                  <a:lnTo>
                    <a:pt x="168" y="150"/>
                  </a:lnTo>
                  <a:lnTo>
                    <a:pt x="156" y="157"/>
                  </a:lnTo>
                  <a:lnTo>
                    <a:pt x="144" y="165"/>
                  </a:lnTo>
                  <a:lnTo>
                    <a:pt x="126" y="168"/>
                  </a:lnTo>
                  <a:lnTo>
                    <a:pt x="111" y="173"/>
                  </a:lnTo>
                  <a:lnTo>
                    <a:pt x="97" y="178"/>
                  </a:lnTo>
                  <a:lnTo>
                    <a:pt x="92" y="175"/>
                  </a:lnTo>
                  <a:lnTo>
                    <a:pt x="71" y="190"/>
                  </a:lnTo>
                  <a:lnTo>
                    <a:pt x="50" y="204"/>
                  </a:lnTo>
                  <a:lnTo>
                    <a:pt x="43" y="210"/>
                  </a:lnTo>
                  <a:lnTo>
                    <a:pt x="44" y="199"/>
                  </a:lnTo>
                  <a:lnTo>
                    <a:pt x="37" y="216"/>
                  </a:lnTo>
                  <a:lnTo>
                    <a:pt x="29" y="235"/>
                  </a:lnTo>
                  <a:lnTo>
                    <a:pt x="27" y="251"/>
                  </a:lnTo>
                  <a:lnTo>
                    <a:pt x="29" y="264"/>
                  </a:lnTo>
                  <a:lnTo>
                    <a:pt x="30" y="276"/>
                  </a:lnTo>
                  <a:lnTo>
                    <a:pt x="26" y="280"/>
                  </a:lnTo>
                  <a:lnTo>
                    <a:pt x="26" y="275"/>
                  </a:lnTo>
                  <a:lnTo>
                    <a:pt x="21" y="267"/>
                  </a:lnTo>
                  <a:lnTo>
                    <a:pt x="21" y="285"/>
                  </a:lnTo>
                  <a:lnTo>
                    <a:pt x="18" y="277"/>
                  </a:lnTo>
                  <a:lnTo>
                    <a:pt x="17" y="276"/>
                  </a:lnTo>
                  <a:lnTo>
                    <a:pt x="19" y="293"/>
                  </a:lnTo>
                  <a:lnTo>
                    <a:pt x="21" y="310"/>
                  </a:lnTo>
                  <a:lnTo>
                    <a:pt x="23" y="325"/>
                  </a:lnTo>
                  <a:lnTo>
                    <a:pt x="25" y="341"/>
                  </a:lnTo>
                  <a:lnTo>
                    <a:pt x="24" y="354"/>
                  </a:lnTo>
                  <a:lnTo>
                    <a:pt x="23" y="367"/>
                  </a:lnTo>
                  <a:lnTo>
                    <a:pt x="20" y="381"/>
                  </a:lnTo>
                  <a:lnTo>
                    <a:pt x="19" y="393"/>
                  </a:lnTo>
                  <a:lnTo>
                    <a:pt x="8" y="411"/>
                  </a:lnTo>
                  <a:lnTo>
                    <a:pt x="1" y="413"/>
                  </a:lnTo>
                  <a:lnTo>
                    <a:pt x="0" y="424"/>
                  </a:lnTo>
                  <a:lnTo>
                    <a:pt x="11" y="430"/>
                  </a:lnTo>
                  <a:lnTo>
                    <a:pt x="21" y="437"/>
                  </a:lnTo>
                  <a:lnTo>
                    <a:pt x="41" y="435"/>
                  </a:lnTo>
                  <a:lnTo>
                    <a:pt x="60" y="427"/>
                  </a:lnTo>
                  <a:lnTo>
                    <a:pt x="62" y="425"/>
                  </a:lnTo>
                  <a:lnTo>
                    <a:pt x="72" y="418"/>
                  </a:lnTo>
                  <a:lnTo>
                    <a:pt x="89" y="418"/>
                  </a:lnTo>
                  <a:lnTo>
                    <a:pt x="105" y="418"/>
                  </a:lnTo>
                  <a:lnTo>
                    <a:pt x="127" y="417"/>
                  </a:lnTo>
                  <a:lnTo>
                    <a:pt x="141" y="402"/>
                  </a:lnTo>
                  <a:lnTo>
                    <a:pt x="162" y="395"/>
                  </a:lnTo>
                  <a:lnTo>
                    <a:pt x="181" y="387"/>
                  </a:lnTo>
                  <a:lnTo>
                    <a:pt x="200" y="383"/>
                  </a:lnTo>
                  <a:lnTo>
                    <a:pt x="219" y="379"/>
                  </a:lnTo>
                  <a:lnTo>
                    <a:pt x="239" y="377"/>
                  </a:lnTo>
                  <a:lnTo>
                    <a:pt x="258" y="373"/>
                  </a:lnTo>
                  <a:lnTo>
                    <a:pt x="269" y="377"/>
                  </a:lnTo>
                  <a:lnTo>
                    <a:pt x="290" y="385"/>
                  </a:lnTo>
                  <a:lnTo>
                    <a:pt x="294" y="390"/>
                  </a:lnTo>
                  <a:lnTo>
                    <a:pt x="296" y="395"/>
                  </a:lnTo>
                  <a:lnTo>
                    <a:pt x="299" y="402"/>
                  </a:lnTo>
                  <a:lnTo>
                    <a:pt x="300" y="414"/>
                  </a:lnTo>
                  <a:lnTo>
                    <a:pt x="301" y="426"/>
                  </a:lnTo>
                  <a:lnTo>
                    <a:pt x="299" y="426"/>
                  </a:lnTo>
                  <a:lnTo>
                    <a:pt x="306" y="433"/>
                  </a:lnTo>
                  <a:lnTo>
                    <a:pt x="308" y="431"/>
                  </a:lnTo>
                  <a:lnTo>
                    <a:pt x="326" y="415"/>
                  </a:lnTo>
                  <a:lnTo>
                    <a:pt x="344" y="401"/>
                  </a:lnTo>
                  <a:lnTo>
                    <a:pt x="351" y="393"/>
                  </a:lnTo>
                  <a:lnTo>
                    <a:pt x="348" y="406"/>
                  </a:lnTo>
                  <a:lnTo>
                    <a:pt x="337" y="420"/>
                  </a:lnTo>
                  <a:lnTo>
                    <a:pt x="326" y="435"/>
                  </a:lnTo>
                  <a:lnTo>
                    <a:pt x="319" y="439"/>
                  </a:lnTo>
                  <a:lnTo>
                    <a:pt x="330" y="439"/>
                  </a:lnTo>
                  <a:lnTo>
                    <a:pt x="343" y="423"/>
                  </a:lnTo>
                  <a:lnTo>
                    <a:pt x="347" y="431"/>
                  </a:lnTo>
                  <a:lnTo>
                    <a:pt x="335" y="445"/>
                  </a:lnTo>
                  <a:lnTo>
                    <a:pt x="343" y="445"/>
                  </a:lnTo>
                  <a:lnTo>
                    <a:pt x="347" y="447"/>
                  </a:lnTo>
                  <a:lnTo>
                    <a:pt x="350" y="454"/>
                  </a:lnTo>
                  <a:lnTo>
                    <a:pt x="344" y="471"/>
                  </a:lnTo>
                  <a:lnTo>
                    <a:pt x="345" y="489"/>
                  </a:lnTo>
                  <a:lnTo>
                    <a:pt x="360" y="495"/>
                  </a:lnTo>
                  <a:lnTo>
                    <a:pt x="371" y="499"/>
                  </a:lnTo>
                  <a:lnTo>
                    <a:pt x="381" y="503"/>
                  </a:lnTo>
                  <a:lnTo>
                    <a:pt x="403" y="495"/>
                  </a:lnTo>
                  <a:lnTo>
                    <a:pt x="403" y="492"/>
                  </a:lnTo>
                  <a:lnTo>
                    <a:pt x="413" y="489"/>
                  </a:lnTo>
                  <a:lnTo>
                    <a:pt x="407" y="496"/>
                  </a:lnTo>
                  <a:lnTo>
                    <a:pt x="410" y="497"/>
                  </a:lnTo>
                  <a:lnTo>
                    <a:pt x="416" y="497"/>
                  </a:lnTo>
                  <a:lnTo>
                    <a:pt x="419" y="505"/>
                  </a:lnTo>
                  <a:lnTo>
                    <a:pt x="422" y="508"/>
                  </a:lnTo>
                  <a:lnTo>
                    <a:pt x="426" y="502"/>
                  </a:lnTo>
                  <a:lnTo>
                    <a:pt x="455" y="487"/>
                  </a:lnTo>
                  <a:lnTo>
                    <a:pt x="469" y="486"/>
                  </a:lnTo>
                  <a:lnTo>
                    <a:pt x="488" y="480"/>
                  </a:lnTo>
                  <a:lnTo>
                    <a:pt x="495" y="471"/>
                  </a:lnTo>
                  <a:lnTo>
                    <a:pt x="512" y="453"/>
                  </a:lnTo>
                  <a:lnTo>
                    <a:pt x="529" y="435"/>
                  </a:lnTo>
                  <a:lnTo>
                    <a:pt x="543" y="415"/>
                  </a:lnTo>
                  <a:lnTo>
                    <a:pt x="549" y="409"/>
                  </a:lnTo>
                  <a:lnTo>
                    <a:pt x="567" y="395"/>
                  </a:lnTo>
                  <a:lnTo>
                    <a:pt x="573" y="390"/>
                  </a:lnTo>
                  <a:lnTo>
                    <a:pt x="587" y="375"/>
                  </a:lnTo>
                  <a:lnTo>
                    <a:pt x="599" y="358"/>
                  </a:lnTo>
                  <a:lnTo>
                    <a:pt x="611" y="341"/>
                  </a:lnTo>
                  <a:lnTo>
                    <a:pt x="620" y="324"/>
                  </a:lnTo>
                  <a:lnTo>
                    <a:pt x="621" y="311"/>
                  </a:lnTo>
                  <a:lnTo>
                    <a:pt x="621" y="299"/>
                  </a:lnTo>
                  <a:lnTo>
                    <a:pt x="626" y="285"/>
                  </a:lnTo>
                  <a:lnTo>
                    <a:pt x="630" y="270"/>
                  </a:lnTo>
                  <a:lnTo>
                    <a:pt x="629" y="259"/>
                  </a:lnTo>
                  <a:lnTo>
                    <a:pt x="623" y="250"/>
                  </a:lnTo>
                  <a:lnTo>
                    <a:pt x="617" y="240"/>
                  </a:lnTo>
                  <a:lnTo>
                    <a:pt x="607" y="229"/>
                  </a:lnTo>
                  <a:lnTo>
                    <a:pt x="611" y="208"/>
                  </a:lnTo>
                  <a:lnTo>
                    <a:pt x="608" y="213"/>
                  </a:lnTo>
                  <a:lnTo>
                    <a:pt x="601" y="205"/>
                  </a:lnTo>
                  <a:lnTo>
                    <a:pt x="599" y="213"/>
                  </a:lnTo>
                  <a:lnTo>
                    <a:pt x="594" y="208"/>
                  </a:lnTo>
                  <a:lnTo>
                    <a:pt x="594" y="193"/>
                  </a:lnTo>
                  <a:lnTo>
                    <a:pt x="588" y="179"/>
                  </a:lnTo>
                  <a:lnTo>
                    <a:pt x="590" y="174"/>
                  </a:lnTo>
                  <a:lnTo>
                    <a:pt x="585" y="169"/>
                  </a:lnTo>
                  <a:lnTo>
                    <a:pt x="575" y="157"/>
                  </a:lnTo>
                  <a:lnTo>
                    <a:pt x="557" y="144"/>
                  </a:lnTo>
                  <a:lnTo>
                    <a:pt x="557" y="127"/>
                  </a:lnTo>
                  <a:lnTo>
                    <a:pt x="557" y="111"/>
                  </a:lnTo>
                  <a:lnTo>
                    <a:pt x="553" y="97"/>
                  </a:lnTo>
                  <a:lnTo>
                    <a:pt x="555" y="81"/>
                  </a:lnTo>
                  <a:lnTo>
                    <a:pt x="552" y="73"/>
                  </a:lnTo>
                  <a:lnTo>
                    <a:pt x="543" y="64"/>
                  </a:lnTo>
                  <a:lnTo>
                    <a:pt x="533" y="65"/>
                  </a:lnTo>
                  <a:lnTo>
                    <a:pt x="531" y="53"/>
                  </a:lnTo>
                  <a:lnTo>
                    <a:pt x="530" y="40"/>
                  </a:lnTo>
                  <a:lnTo>
                    <a:pt x="529" y="24"/>
                  </a:lnTo>
                  <a:lnTo>
                    <a:pt x="525" y="13"/>
                  </a:lnTo>
                  <a:lnTo>
                    <a:pt x="522" y="5"/>
                  </a:lnTo>
                  <a:lnTo>
                    <a:pt x="521" y="0"/>
                  </a:lnTo>
                  <a:lnTo>
                    <a:pt x="512" y="16"/>
                  </a:lnTo>
                  <a:lnTo>
                    <a:pt x="509" y="23"/>
                  </a:lnTo>
                  <a:lnTo>
                    <a:pt x="505" y="33"/>
                  </a:lnTo>
                  <a:lnTo>
                    <a:pt x="507" y="34"/>
                  </a:lnTo>
                  <a:lnTo>
                    <a:pt x="507" y="36"/>
                  </a:lnTo>
                  <a:lnTo>
                    <a:pt x="503" y="43"/>
                  </a:lnTo>
                  <a:lnTo>
                    <a:pt x="501" y="51"/>
                  </a:lnTo>
                  <a:lnTo>
                    <a:pt x="499" y="51"/>
                  </a:lnTo>
                  <a:lnTo>
                    <a:pt x="498" y="66"/>
                  </a:lnTo>
                  <a:lnTo>
                    <a:pt x="497" y="81"/>
                  </a:lnTo>
                  <a:lnTo>
                    <a:pt x="485" y="101"/>
                  </a:lnTo>
                  <a:lnTo>
                    <a:pt x="474" y="121"/>
                  </a:lnTo>
                  <a:lnTo>
                    <a:pt x="462" y="124"/>
                  </a:lnTo>
                  <a:lnTo>
                    <a:pt x="451" y="114"/>
                  </a:lnTo>
                  <a:lnTo>
                    <a:pt x="435" y="103"/>
                  </a:lnTo>
                  <a:lnTo>
                    <a:pt x="419" y="93"/>
                  </a:lnTo>
                  <a:lnTo>
                    <a:pt x="410" y="82"/>
                  </a:lnTo>
                  <a:lnTo>
                    <a:pt x="401" y="72"/>
                  </a:lnTo>
                  <a:lnTo>
                    <a:pt x="411" y="54"/>
                  </a:lnTo>
                  <a:lnTo>
                    <a:pt x="416" y="43"/>
                  </a:lnTo>
                  <a:lnTo>
                    <a:pt x="419" y="46"/>
                  </a:lnTo>
                  <a:lnTo>
                    <a:pt x="422" y="40"/>
                  </a:lnTo>
                  <a:lnTo>
                    <a:pt x="429" y="29"/>
                  </a:lnTo>
                  <a:lnTo>
                    <a:pt x="422" y="23"/>
                  </a:lnTo>
                  <a:lnTo>
                    <a:pt x="416" y="31"/>
                  </a:lnTo>
                  <a:lnTo>
                    <a:pt x="415" y="27"/>
                  </a:lnTo>
                  <a:lnTo>
                    <a:pt x="410" y="27"/>
                  </a:lnTo>
                  <a:lnTo>
                    <a:pt x="413" y="23"/>
                  </a:lnTo>
                  <a:lnTo>
                    <a:pt x="398" y="27"/>
                  </a:lnTo>
                  <a:lnTo>
                    <a:pt x="387" y="24"/>
                  </a:lnTo>
                  <a:lnTo>
                    <a:pt x="380" y="19"/>
                  </a:lnTo>
                  <a:lnTo>
                    <a:pt x="369"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3" name="Freeform 182"/>
            <p:cNvSpPr>
              <a:spLocks/>
            </p:cNvSpPr>
            <p:nvPr/>
          </p:nvSpPr>
          <p:spPr bwMode="auto">
            <a:xfrm>
              <a:off x="4860" y="3518"/>
              <a:ext cx="69" cy="56"/>
            </a:xfrm>
            <a:custGeom>
              <a:avLst/>
              <a:gdLst/>
              <a:ahLst/>
              <a:cxnLst>
                <a:cxn ang="0">
                  <a:pos x="25" y="38"/>
                </a:cxn>
                <a:cxn ang="0">
                  <a:pos x="7" y="50"/>
                </a:cxn>
                <a:cxn ang="0">
                  <a:pos x="0" y="46"/>
                </a:cxn>
                <a:cxn ang="0">
                  <a:pos x="1" y="44"/>
                </a:cxn>
                <a:cxn ang="0">
                  <a:pos x="1" y="29"/>
                </a:cxn>
                <a:cxn ang="0">
                  <a:pos x="4" y="26"/>
                </a:cxn>
                <a:cxn ang="0">
                  <a:pos x="5" y="28"/>
                </a:cxn>
                <a:cxn ang="0">
                  <a:pos x="7" y="16"/>
                </a:cxn>
                <a:cxn ang="0">
                  <a:pos x="9" y="2"/>
                </a:cxn>
                <a:cxn ang="0">
                  <a:pos x="13" y="0"/>
                </a:cxn>
                <a:cxn ang="0">
                  <a:pos x="27" y="5"/>
                </a:cxn>
                <a:cxn ang="0">
                  <a:pos x="40" y="11"/>
                </a:cxn>
                <a:cxn ang="0">
                  <a:pos x="43" y="4"/>
                </a:cxn>
                <a:cxn ang="0">
                  <a:pos x="63" y="2"/>
                </a:cxn>
                <a:cxn ang="0">
                  <a:pos x="48" y="25"/>
                </a:cxn>
                <a:cxn ang="0">
                  <a:pos x="46" y="24"/>
                </a:cxn>
                <a:cxn ang="0">
                  <a:pos x="28" y="43"/>
                </a:cxn>
                <a:cxn ang="0">
                  <a:pos x="30" y="40"/>
                </a:cxn>
                <a:cxn ang="0">
                  <a:pos x="27" y="40"/>
                </a:cxn>
                <a:cxn ang="0">
                  <a:pos x="25" y="38"/>
                </a:cxn>
              </a:cxnLst>
              <a:rect l="0" t="0" r="r" b="b"/>
              <a:pathLst>
                <a:path w="63" h="50">
                  <a:moveTo>
                    <a:pt x="25" y="38"/>
                  </a:moveTo>
                  <a:lnTo>
                    <a:pt x="7" y="50"/>
                  </a:lnTo>
                  <a:lnTo>
                    <a:pt x="0" y="46"/>
                  </a:lnTo>
                  <a:lnTo>
                    <a:pt x="1" y="44"/>
                  </a:lnTo>
                  <a:lnTo>
                    <a:pt x="1" y="29"/>
                  </a:lnTo>
                  <a:lnTo>
                    <a:pt x="4" y="26"/>
                  </a:lnTo>
                  <a:lnTo>
                    <a:pt x="5" y="28"/>
                  </a:lnTo>
                  <a:lnTo>
                    <a:pt x="7" y="16"/>
                  </a:lnTo>
                  <a:lnTo>
                    <a:pt x="9" y="2"/>
                  </a:lnTo>
                  <a:lnTo>
                    <a:pt x="13" y="0"/>
                  </a:lnTo>
                  <a:lnTo>
                    <a:pt x="27" y="5"/>
                  </a:lnTo>
                  <a:lnTo>
                    <a:pt x="40" y="11"/>
                  </a:lnTo>
                  <a:lnTo>
                    <a:pt x="43" y="4"/>
                  </a:lnTo>
                  <a:lnTo>
                    <a:pt x="63" y="2"/>
                  </a:lnTo>
                  <a:lnTo>
                    <a:pt x="48" y="25"/>
                  </a:lnTo>
                  <a:lnTo>
                    <a:pt x="46" y="24"/>
                  </a:lnTo>
                  <a:lnTo>
                    <a:pt x="28" y="43"/>
                  </a:lnTo>
                  <a:lnTo>
                    <a:pt x="30" y="40"/>
                  </a:lnTo>
                  <a:lnTo>
                    <a:pt x="27" y="40"/>
                  </a:lnTo>
                  <a:lnTo>
                    <a:pt x="25"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4" name="Freeform 183"/>
            <p:cNvSpPr>
              <a:spLocks/>
            </p:cNvSpPr>
            <p:nvPr/>
          </p:nvSpPr>
          <p:spPr bwMode="auto">
            <a:xfrm>
              <a:off x="5613" y="3052"/>
              <a:ext cx="22" cy="15"/>
            </a:xfrm>
            <a:custGeom>
              <a:avLst/>
              <a:gdLst/>
              <a:ahLst/>
              <a:cxnLst>
                <a:cxn ang="0">
                  <a:pos x="21" y="13"/>
                </a:cxn>
                <a:cxn ang="0">
                  <a:pos x="0" y="14"/>
                </a:cxn>
                <a:cxn ang="0">
                  <a:pos x="1" y="7"/>
                </a:cxn>
                <a:cxn ang="0">
                  <a:pos x="16" y="0"/>
                </a:cxn>
                <a:cxn ang="0">
                  <a:pos x="21" y="12"/>
                </a:cxn>
                <a:cxn ang="0">
                  <a:pos x="21" y="13"/>
                </a:cxn>
              </a:cxnLst>
              <a:rect l="0" t="0" r="r" b="b"/>
              <a:pathLst>
                <a:path w="21" h="14">
                  <a:moveTo>
                    <a:pt x="21" y="13"/>
                  </a:moveTo>
                  <a:lnTo>
                    <a:pt x="0" y="14"/>
                  </a:lnTo>
                  <a:lnTo>
                    <a:pt x="1" y="7"/>
                  </a:lnTo>
                  <a:lnTo>
                    <a:pt x="16" y="0"/>
                  </a:lnTo>
                  <a:lnTo>
                    <a:pt x="21" y="12"/>
                  </a:lnTo>
                  <a:lnTo>
                    <a:pt x="21"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5" name="Freeform 184"/>
            <p:cNvSpPr>
              <a:spLocks/>
            </p:cNvSpPr>
            <p:nvPr/>
          </p:nvSpPr>
          <p:spPr bwMode="auto">
            <a:xfrm>
              <a:off x="5640" y="3030"/>
              <a:ext cx="24" cy="13"/>
            </a:xfrm>
            <a:custGeom>
              <a:avLst/>
              <a:gdLst/>
              <a:ahLst/>
              <a:cxnLst>
                <a:cxn ang="0">
                  <a:pos x="16" y="8"/>
                </a:cxn>
                <a:cxn ang="0">
                  <a:pos x="22" y="0"/>
                </a:cxn>
                <a:cxn ang="0">
                  <a:pos x="0" y="7"/>
                </a:cxn>
                <a:cxn ang="0">
                  <a:pos x="0" y="12"/>
                </a:cxn>
                <a:cxn ang="0">
                  <a:pos x="16" y="8"/>
                </a:cxn>
              </a:cxnLst>
              <a:rect l="0" t="0" r="r" b="b"/>
              <a:pathLst>
                <a:path w="22" h="12">
                  <a:moveTo>
                    <a:pt x="16" y="8"/>
                  </a:moveTo>
                  <a:lnTo>
                    <a:pt x="22" y="0"/>
                  </a:lnTo>
                  <a:lnTo>
                    <a:pt x="0" y="7"/>
                  </a:lnTo>
                  <a:lnTo>
                    <a:pt x="0" y="12"/>
                  </a:lnTo>
                  <a:lnTo>
                    <a:pt x="16" y="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6" name="Freeform 185"/>
            <p:cNvSpPr>
              <a:spLocks/>
            </p:cNvSpPr>
            <p:nvPr/>
          </p:nvSpPr>
          <p:spPr bwMode="auto">
            <a:xfrm>
              <a:off x="5373" y="3107"/>
              <a:ext cx="38" cy="43"/>
            </a:xfrm>
            <a:custGeom>
              <a:avLst/>
              <a:gdLst/>
              <a:ahLst/>
              <a:cxnLst>
                <a:cxn ang="0">
                  <a:pos x="35" y="38"/>
                </a:cxn>
                <a:cxn ang="0">
                  <a:pos x="27" y="36"/>
                </a:cxn>
                <a:cxn ang="0">
                  <a:pos x="13" y="24"/>
                </a:cxn>
                <a:cxn ang="0">
                  <a:pos x="1" y="11"/>
                </a:cxn>
                <a:cxn ang="0">
                  <a:pos x="0" y="0"/>
                </a:cxn>
                <a:cxn ang="0">
                  <a:pos x="9" y="10"/>
                </a:cxn>
                <a:cxn ang="0">
                  <a:pos x="18" y="18"/>
                </a:cxn>
                <a:cxn ang="0">
                  <a:pos x="27" y="28"/>
                </a:cxn>
                <a:cxn ang="0">
                  <a:pos x="35" y="38"/>
                </a:cxn>
              </a:cxnLst>
              <a:rect l="0" t="0" r="r" b="b"/>
              <a:pathLst>
                <a:path w="35" h="38">
                  <a:moveTo>
                    <a:pt x="35" y="38"/>
                  </a:moveTo>
                  <a:lnTo>
                    <a:pt x="27" y="36"/>
                  </a:lnTo>
                  <a:lnTo>
                    <a:pt x="13" y="24"/>
                  </a:lnTo>
                  <a:lnTo>
                    <a:pt x="1" y="11"/>
                  </a:lnTo>
                  <a:lnTo>
                    <a:pt x="0" y="0"/>
                  </a:lnTo>
                  <a:lnTo>
                    <a:pt x="9" y="10"/>
                  </a:lnTo>
                  <a:lnTo>
                    <a:pt x="18" y="18"/>
                  </a:lnTo>
                  <a:lnTo>
                    <a:pt x="27" y="28"/>
                  </a:lnTo>
                  <a:lnTo>
                    <a:pt x="35"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7" name="Freeform 186"/>
            <p:cNvSpPr>
              <a:spLocks/>
            </p:cNvSpPr>
            <p:nvPr/>
          </p:nvSpPr>
          <p:spPr bwMode="auto">
            <a:xfrm>
              <a:off x="5146" y="3514"/>
              <a:ext cx="198" cy="120"/>
            </a:xfrm>
            <a:custGeom>
              <a:avLst/>
              <a:gdLst/>
              <a:ahLst/>
              <a:cxnLst>
                <a:cxn ang="0">
                  <a:pos x="117" y="59"/>
                </a:cxn>
                <a:cxn ang="0">
                  <a:pos x="111" y="48"/>
                </a:cxn>
                <a:cxn ang="0">
                  <a:pos x="109" y="48"/>
                </a:cxn>
                <a:cxn ang="0">
                  <a:pos x="105" y="51"/>
                </a:cxn>
                <a:cxn ang="0">
                  <a:pos x="111" y="60"/>
                </a:cxn>
                <a:cxn ang="0">
                  <a:pos x="99" y="64"/>
                </a:cxn>
                <a:cxn ang="0">
                  <a:pos x="90" y="65"/>
                </a:cxn>
                <a:cxn ang="0">
                  <a:pos x="88" y="72"/>
                </a:cxn>
                <a:cxn ang="0">
                  <a:pos x="82" y="78"/>
                </a:cxn>
                <a:cxn ang="0">
                  <a:pos x="82" y="79"/>
                </a:cxn>
                <a:cxn ang="0">
                  <a:pos x="61" y="95"/>
                </a:cxn>
                <a:cxn ang="0">
                  <a:pos x="27" y="109"/>
                </a:cxn>
                <a:cxn ang="0">
                  <a:pos x="19" y="106"/>
                </a:cxn>
                <a:cxn ang="0">
                  <a:pos x="6" y="102"/>
                </a:cxn>
                <a:cxn ang="0">
                  <a:pos x="1" y="100"/>
                </a:cxn>
                <a:cxn ang="0">
                  <a:pos x="3" y="99"/>
                </a:cxn>
                <a:cxn ang="0">
                  <a:pos x="0" y="97"/>
                </a:cxn>
                <a:cxn ang="0">
                  <a:pos x="9" y="91"/>
                </a:cxn>
                <a:cxn ang="0">
                  <a:pos x="12" y="89"/>
                </a:cxn>
                <a:cxn ang="0">
                  <a:pos x="17" y="85"/>
                </a:cxn>
                <a:cxn ang="0">
                  <a:pos x="18" y="87"/>
                </a:cxn>
                <a:cxn ang="0">
                  <a:pos x="24" y="79"/>
                </a:cxn>
                <a:cxn ang="0">
                  <a:pos x="30" y="77"/>
                </a:cxn>
                <a:cxn ang="0">
                  <a:pos x="40" y="73"/>
                </a:cxn>
                <a:cxn ang="0">
                  <a:pos x="59" y="63"/>
                </a:cxn>
                <a:cxn ang="0">
                  <a:pos x="67" y="60"/>
                </a:cxn>
                <a:cxn ang="0">
                  <a:pos x="95" y="47"/>
                </a:cxn>
                <a:cxn ang="0">
                  <a:pos x="108" y="41"/>
                </a:cxn>
                <a:cxn ang="0">
                  <a:pos x="125" y="31"/>
                </a:cxn>
                <a:cxn ang="0">
                  <a:pos x="120" y="31"/>
                </a:cxn>
                <a:cxn ang="0">
                  <a:pos x="132" y="23"/>
                </a:cxn>
                <a:cxn ang="0">
                  <a:pos x="162" y="3"/>
                </a:cxn>
                <a:cxn ang="0">
                  <a:pos x="169" y="0"/>
                </a:cxn>
                <a:cxn ang="0">
                  <a:pos x="162" y="4"/>
                </a:cxn>
                <a:cxn ang="0">
                  <a:pos x="161" y="12"/>
                </a:cxn>
                <a:cxn ang="0">
                  <a:pos x="175" y="7"/>
                </a:cxn>
                <a:cxn ang="0">
                  <a:pos x="173" y="11"/>
                </a:cxn>
                <a:cxn ang="0">
                  <a:pos x="175" y="12"/>
                </a:cxn>
                <a:cxn ang="0">
                  <a:pos x="174" y="13"/>
                </a:cxn>
                <a:cxn ang="0">
                  <a:pos x="179" y="12"/>
                </a:cxn>
                <a:cxn ang="0">
                  <a:pos x="171" y="21"/>
                </a:cxn>
                <a:cxn ang="0">
                  <a:pos x="151" y="34"/>
                </a:cxn>
                <a:cxn ang="0">
                  <a:pos x="132" y="46"/>
                </a:cxn>
                <a:cxn ang="0">
                  <a:pos x="124" y="49"/>
                </a:cxn>
                <a:cxn ang="0">
                  <a:pos x="123" y="52"/>
                </a:cxn>
                <a:cxn ang="0">
                  <a:pos x="117" y="52"/>
                </a:cxn>
                <a:cxn ang="0">
                  <a:pos x="123" y="55"/>
                </a:cxn>
                <a:cxn ang="0">
                  <a:pos x="124" y="60"/>
                </a:cxn>
                <a:cxn ang="0">
                  <a:pos x="117" y="59"/>
                </a:cxn>
              </a:cxnLst>
              <a:rect l="0" t="0" r="r" b="b"/>
              <a:pathLst>
                <a:path w="179" h="109">
                  <a:moveTo>
                    <a:pt x="117" y="59"/>
                  </a:moveTo>
                  <a:lnTo>
                    <a:pt x="111" y="48"/>
                  </a:lnTo>
                  <a:lnTo>
                    <a:pt x="109" y="48"/>
                  </a:lnTo>
                  <a:lnTo>
                    <a:pt x="105" y="51"/>
                  </a:lnTo>
                  <a:lnTo>
                    <a:pt x="111" y="60"/>
                  </a:lnTo>
                  <a:lnTo>
                    <a:pt x="99" y="64"/>
                  </a:lnTo>
                  <a:lnTo>
                    <a:pt x="90" y="65"/>
                  </a:lnTo>
                  <a:lnTo>
                    <a:pt x="88" y="72"/>
                  </a:lnTo>
                  <a:lnTo>
                    <a:pt x="82" y="78"/>
                  </a:lnTo>
                  <a:lnTo>
                    <a:pt x="82" y="79"/>
                  </a:lnTo>
                  <a:lnTo>
                    <a:pt x="61" y="95"/>
                  </a:lnTo>
                  <a:lnTo>
                    <a:pt x="27" y="109"/>
                  </a:lnTo>
                  <a:lnTo>
                    <a:pt x="19" y="106"/>
                  </a:lnTo>
                  <a:lnTo>
                    <a:pt x="6" y="102"/>
                  </a:lnTo>
                  <a:lnTo>
                    <a:pt x="1" y="100"/>
                  </a:lnTo>
                  <a:lnTo>
                    <a:pt x="3" y="99"/>
                  </a:lnTo>
                  <a:lnTo>
                    <a:pt x="0" y="97"/>
                  </a:lnTo>
                  <a:lnTo>
                    <a:pt x="9" y="91"/>
                  </a:lnTo>
                  <a:lnTo>
                    <a:pt x="12" y="89"/>
                  </a:lnTo>
                  <a:lnTo>
                    <a:pt x="17" y="85"/>
                  </a:lnTo>
                  <a:lnTo>
                    <a:pt x="18" y="87"/>
                  </a:lnTo>
                  <a:lnTo>
                    <a:pt x="24" y="79"/>
                  </a:lnTo>
                  <a:lnTo>
                    <a:pt x="30" y="77"/>
                  </a:lnTo>
                  <a:lnTo>
                    <a:pt x="40" y="73"/>
                  </a:lnTo>
                  <a:lnTo>
                    <a:pt x="59" y="63"/>
                  </a:lnTo>
                  <a:lnTo>
                    <a:pt x="67" y="60"/>
                  </a:lnTo>
                  <a:lnTo>
                    <a:pt x="95" y="47"/>
                  </a:lnTo>
                  <a:lnTo>
                    <a:pt x="108" y="41"/>
                  </a:lnTo>
                  <a:lnTo>
                    <a:pt x="125" y="31"/>
                  </a:lnTo>
                  <a:lnTo>
                    <a:pt x="120" y="31"/>
                  </a:lnTo>
                  <a:lnTo>
                    <a:pt x="132" y="23"/>
                  </a:lnTo>
                  <a:lnTo>
                    <a:pt x="162" y="3"/>
                  </a:lnTo>
                  <a:lnTo>
                    <a:pt x="169" y="0"/>
                  </a:lnTo>
                  <a:lnTo>
                    <a:pt x="162" y="4"/>
                  </a:lnTo>
                  <a:lnTo>
                    <a:pt x="161" y="12"/>
                  </a:lnTo>
                  <a:lnTo>
                    <a:pt x="175" y="7"/>
                  </a:lnTo>
                  <a:lnTo>
                    <a:pt x="173" y="11"/>
                  </a:lnTo>
                  <a:lnTo>
                    <a:pt x="175" y="12"/>
                  </a:lnTo>
                  <a:lnTo>
                    <a:pt x="174" y="13"/>
                  </a:lnTo>
                  <a:lnTo>
                    <a:pt x="179" y="12"/>
                  </a:lnTo>
                  <a:lnTo>
                    <a:pt x="171" y="21"/>
                  </a:lnTo>
                  <a:lnTo>
                    <a:pt x="151" y="34"/>
                  </a:lnTo>
                  <a:lnTo>
                    <a:pt x="132" y="46"/>
                  </a:lnTo>
                  <a:lnTo>
                    <a:pt x="124" y="49"/>
                  </a:lnTo>
                  <a:lnTo>
                    <a:pt x="123" y="52"/>
                  </a:lnTo>
                  <a:lnTo>
                    <a:pt x="117" y="52"/>
                  </a:lnTo>
                  <a:lnTo>
                    <a:pt x="123" y="55"/>
                  </a:lnTo>
                  <a:lnTo>
                    <a:pt x="124" y="60"/>
                  </a:lnTo>
                  <a:lnTo>
                    <a:pt x="117" y="5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8" name="Freeform 187"/>
            <p:cNvSpPr>
              <a:spLocks/>
            </p:cNvSpPr>
            <p:nvPr/>
          </p:nvSpPr>
          <p:spPr bwMode="auto">
            <a:xfrm>
              <a:off x="5348" y="3394"/>
              <a:ext cx="114" cy="140"/>
            </a:xfrm>
            <a:custGeom>
              <a:avLst/>
              <a:gdLst/>
              <a:ahLst/>
              <a:cxnLst>
                <a:cxn ang="0">
                  <a:pos x="12" y="85"/>
                </a:cxn>
                <a:cxn ang="0">
                  <a:pos x="18" y="94"/>
                </a:cxn>
                <a:cxn ang="0">
                  <a:pos x="23" y="102"/>
                </a:cxn>
                <a:cxn ang="0">
                  <a:pos x="0" y="123"/>
                </a:cxn>
                <a:cxn ang="0">
                  <a:pos x="3" y="127"/>
                </a:cxn>
                <a:cxn ang="0">
                  <a:pos x="25" y="114"/>
                </a:cxn>
                <a:cxn ang="0">
                  <a:pos x="48" y="101"/>
                </a:cxn>
                <a:cxn ang="0">
                  <a:pos x="59" y="88"/>
                </a:cxn>
                <a:cxn ang="0">
                  <a:pos x="74" y="83"/>
                </a:cxn>
                <a:cxn ang="0">
                  <a:pos x="81" y="76"/>
                </a:cxn>
                <a:cxn ang="0">
                  <a:pos x="102" y="58"/>
                </a:cxn>
                <a:cxn ang="0">
                  <a:pos x="99" y="57"/>
                </a:cxn>
                <a:cxn ang="0">
                  <a:pos x="83" y="63"/>
                </a:cxn>
                <a:cxn ang="0">
                  <a:pos x="66" y="54"/>
                </a:cxn>
                <a:cxn ang="0">
                  <a:pos x="71" y="36"/>
                </a:cxn>
                <a:cxn ang="0">
                  <a:pos x="65" y="47"/>
                </a:cxn>
                <a:cxn ang="0">
                  <a:pos x="56" y="42"/>
                </a:cxn>
                <a:cxn ang="0">
                  <a:pos x="59" y="36"/>
                </a:cxn>
                <a:cxn ang="0">
                  <a:pos x="63" y="23"/>
                </a:cxn>
                <a:cxn ang="0">
                  <a:pos x="67" y="16"/>
                </a:cxn>
                <a:cxn ang="0">
                  <a:pos x="65" y="16"/>
                </a:cxn>
                <a:cxn ang="0">
                  <a:pos x="57" y="7"/>
                </a:cxn>
                <a:cxn ang="0">
                  <a:pos x="54" y="1"/>
                </a:cxn>
                <a:cxn ang="0">
                  <a:pos x="54" y="0"/>
                </a:cxn>
                <a:cxn ang="0">
                  <a:pos x="51" y="12"/>
                </a:cxn>
                <a:cxn ang="0">
                  <a:pos x="54" y="17"/>
                </a:cxn>
                <a:cxn ang="0">
                  <a:pos x="50" y="34"/>
                </a:cxn>
                <a:cxn ang="0">
                  <a:pos x="53" y="27"/>
                </a:cxn>
                <a:cxn ang="0">
                  <a:pos x="55" y="30"/>
                </a:cxn>
                <a:cxn ang="0">
                  <a:pos x="55" y="33"/>
                </a:cxn>
                <a:cxn ang="0">
                  <a:pos x="53" y="37"/>
                </a:cxn>
                <a:cxn ang="0">
                  <a:pos x="49" y="46"/>
                </a:cxn>
                <a:cxn ang="0">
                  <a:pos x="55" y="45"/>
                </a:cxn>
                <a:cxn ang="0">
                  <a:pos x="51" y="48"/>
                </a:cxn>
                <a:cxn ang="0">
                  <a:pos x="47" y="57"/>
                </a:cxn>
                <a:cxn ang="0">
                  <a:pos x="32" y="76"/>
                </a:cxn>
                <a:cxn ang="0">
                  <a:pos x="12" y="85"/>
                </a:cxn>
              </a:cxnLst>
              <a:rect l="0" t="0" r="r" b="b"/>
              <a:pathLst>
                <a:path w="102" h="127">
                  <a:moveTo>
                    <a:pt x="12" y="85"/>
                  </a:moveTo>
                  <a:lnTo>
                    <a:pt x="18" y="94"/>
                  </a:lnTo>
                  <a:lnTo>
                    <a:pt x="23" y="102"/>
                  </a:lnTo>
                  <a:lnTo>
                    <a:pt x="0" y="123"/>
                  </a:lnTo>
                  <a:lnTo>
                    <a:pt x="3" y="127"/>
                  </a:lnTo>
                  <a:lnTo>
                    <a:pt x="25" y="114"/>
                  </a:lnTo>
                  <a:lnTo>
                    <a:pt x="48" y="101"/>
                  </a:lnTo>
                  <a:lnTo>
                    <a:pt x="59" y="88"/>
                  </a:lnTo>
                  <a:lnTo>
                    <a:pt x="74" y="83"/>
                  </a:lnTo>
                  <a:lnTo>
                    <a:pt x="81" y="76"/>
                  </a:lnTo>
                  <a:lnTo>
                    <a:pt x="102" y="58"/>
                  </a:lnTo>
                  <a:lnTo>
                    <a:pt x="99" y="57"/>
                  </a:lnTo>
                  <a:lnTo>
                    <a:pt x="83" y="63"/>
                  </a:lnTo>
                  <a:lnTo>
                    <a:pt x="66" y="54"/>
                  </a:lnTo>
                  <a:lnTo>
                    <a:pt x="71" y="36"/>
                  </a:lnTo>
                  <a:lnTo>
                    <a:pt x="65" y="47"/>
                  </a:lnTo>
                  <a:lnTo>
                    <a:pt x="56" y="42"/>
                  </a:lnTo>
                  <a:lnTo>
                    <a:pt x="59" y="36"/>
                  </a:lnTo>
                  <a:lnTo>
                    <a:pt x="63" y="23"/>
                  </a:lnTo>
                  <a:lnTo>
                    <a:pt x="67" y="16"/>
                  </a:lnTo>
                  <a:lnTo>
                    <a:pt x="65" y="16"/>
                  </a:lnTo>
                  <a:lnTo>
                    <a:pt x="57" y="7"/>
                  </a:lnTo>
                  <a:lnTo>
                    <a:pt x="54" y="1"/>
                  </a:lnTo>
                  <a:lnTo>
                    <a:pt x="54" y="0"/>
                  </a:lnTo>
                  <a:lnTo>
                    <a:pt x="51" y="12"/>
                  </a:lnTo>
                  <a:lnTo>
                    <a:pt x="54" y="17"/>
                  </a:lnTo>
                  <a:lnTo>
                    <a:pt x="50" y="34"/>
                  </a:lnTo>
                  <a:lnTo>
                    <a:pt x="53" y="27"/>
                  </a:lnTo>
                  <a:lnTo>
                    <a:pt x="55" y="30"/>
                  </a:lnTo>
                  <a:lnTo>
                    <a:pt x="55" y="33"/>
                  </a:lnTo>
                  <a:lnTo>
                    <a:pt x="53" y="37"/>
                  </a:lnTo>
                  <a:lnTo>
                    <a:pt x="49" y="46"/>
                  </a:lnTo>
                  <a:lnTo>
                    <a:pt x="55" y="45"/>
                  </a:lnTo>
                  <a:lnTo>
                    <a:pt x="51" y="48"/>
                  </a:lnTo>
                  <a:lnTo>
                    <a:pt x="47" y="57"/>
                  </a:lnTo>
                  <a:lnTo>
                    <a:pt x="32" y="76"/>
                  </a:lnTo>
                  <a:lnTo>
                    <a:pt x="12" y="8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9" name="Freeform 188"/>
            <p:cNvSpPr>
              <a:spLocks/>
            </p:cNvSpPr>
            <p:nvPr/>
          </p:nvSpPr>
          <p:spPr bwMode="auto">
            <a:xfrm>
              <a:off x="5144" y="3636"/>
              <a:ext cx="11" cy="7"/>
            </a:xfrm>
            <a:custGeom>
              <a:avLst/>
              <a:gdLst/>
              <a:ahLst/>
              <a:cxnLst>
                <a:cxn ang="0">
                  <a:pos x="11" y="3"/>
                </a:cxn>
                <a:cxn ang="0">
                  <a:pos x="11" y="1"/>
                </a:cxn>
                <a:cxn ang="0">
                  <a:pos x="6" y="0"/>
                </a:cxn>
                <a:cxn ang="0">
                  <a:pos x="0" y="6"/>
                </a:cxn>
                <a:cxn ang="0">
                  <a:pos x="11" y="3"/>
                </a:cxn>
              </a:cxnLst>
              <a:rect l="0" t="0" r="r" b="b"/>
              <a:pathLst>
                <a:path w="11" h="6">
                  <a:moveTo>
                    <a:pt x="11" y="3"/>
                  </a:moveTo>
                  <a:lnTo>
                    <a:pt x="11" y="1"/>
                  </a:lnTo>
                  <a:lnTo>
                    <a:pt x="6" y="0"/>
                  </a:lnTo>
                  <a:lnTo>
                    <a:pt x="0" y="6"/>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0" name="Freeform 189"/>
            <p:cNvSpPr>
              <a:spLocks/>
            </p:cNvSpPr>
            <p:nvPr/>
          </p:nvSpPr>
          <p:spPr bwMode="auto">
            <a:xfrm>
              <a:off x="5333" y="2890"/>
              <a:ext cx="20" cy="13"/>
            </a:xfrm>
            <a:custGeom>
              <a:avLst/>
              <a:gdLst/>
              <a:ahLst/>
              <a:cxnLst>
                <a:cxn ang="0">
                  <a:pos x="17" y="11"/>
                </a:cxn>
                <a:cxn ang="0">
                  <a:pos x="18" y="9"/>
                </a:cxn>
                <a:cxn ang="0">
                  <a:pos x="3" y="0"/>
                </a:cxn>
                <a:cxn ang="0">
                  <a:pos x="0" y="5"/>
                </a:cxn>
                <a:cxn ang="0">
                  <a:pos x="17" y="11"/>
                </a:cxn>
              </a:cxnLst>
              <a:rect l="0" t="0" r="r" b="b"/>
              <a:pathLst>
                <a:path w="18" h="11">
                  <a:moveTo>
                    <a:pt x="17" y="11"/>
                  </a:moveTo>
                  <a:lnTo>
                    <a:pt x="18" y="9"/>
                  </a:lnTo>
                  <a:lnTo>
                    <a:pt x="3" y="0"/>
                  </a:lnTo>
                  <a:lnTo>
                    <a:pt x="0" y="5"/>
                  </a:lnTo>
                  <a:lnTo>
                    <a:pt x="17"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1" name="Freeform 190"/>
            <p:cNvSpPr>
              <a:spLocks/>
            </p:cNvSpPr>
            <p:nvPr/>
          </p:nvSpPr>
          <p:spPr bwMode="auto">
            <a:xfrm>
              <a:off x="5284" y="2839"/>
              <a:ext cx="16" cy="15"/>
            </a:xfrm>
            <a:custGeom>
              <a:avLst/>
              <a:gdLst/>
              <a:ahLst/>
              <a:cxnLst>
                <a:cxn ang="0">
                  <a:pos x="0" y="0"/>
                </a:cxn>
                <a:cxn ang="0">
                  <a:pos x="14" y="13"/>
                </a:cxn>
                <a:cxn ang="0">
                  <a:pos x="5" y="10"/>
                </a:cxn>
                <a:cxn ang="0">
                  <a:pos x="0" y="0"/>
                </a:cxn>
              </a:cxnLst>
              <a:rect l="0" t="0" r="r" b="b"/>
              <a:pathLst>
                <a:path w="14" h="13">
                  <a:moveTo>
                    <a:pt x="0" y="0"/>
                  </a:moveTo>
                  <a:lnTo>
                    <a:pt x="14" y="13"/>
                  </a:lnTo>
                  <a:lnTo>
                    <a:pt x="5" y="10"/>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2" name="Freeform 191"/>
            <p:cNvSpPr>
              <a:spLocks/>
            </p:cNvSpPr>
            <p:nvPr/>
          </p:nvSpPr>
          <p:spPr bwMode="auto">
            <a:xfrm>
              <a:off x="5362" y="2910"/>
              <a:ext cx="13" cy="11"/>
            </a:xfrm>
            <a:custGeom>
              <a:avLst/>
              <a:gdLst/>
              <a:ahLst/>
              <a:cxnLst>
                <a:cxn ang="0">
                  <a:pos x="13" y="10"/>
                </a:cxn>
                <a:cxn ang="0">
                  <a:pos x="1" y="3"/>
                </a:cxn>
                <a:cxn ang="0">
                  <a:pos x="0" y="0"/>
                </a:cxn>
                <a:cxn ang="0">
                  <a:pos x="13" y="8"/>
                </a:cxn>
                <a:cxn ang="0">
                  <a:pos x="13" y="10"/>
                </a:cxn>
              </a:cxnLst>
              <a:rect l="0" t="0" r="r" b="b"/>
              <a:pathLst>
                <a:path w="13" h="10">
                  <a:moveTo>
                    <a:pt x="13" y="10"/>
                  </a:moveTo>
                  <a:lnTo>
                    <a:pt x="1" y="3"/>
                  </a:lnTo>
                  <a:lnTo>
                    <a:pt x="0" y="0"/>
                  </a:lnTo>
                  <a:lnTo>
                    <a:pt x="13" y="8"/>
                  </a:lnTo>
                  <a:lnTo>
                    <a:pt x="13"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3" name="Freeform 192"/>
            <p:cNvSpPr>
              <a:spLocks/>
            </p:cNvSpPr>
            <p:nvPr/>
          </p:nvSpPr>
          <p:spPr bwMode="auto">
            <a:xfrm>
              <a:off x="5295" y="2865"/>
              <a:ext cx="9" cy="11"/>
            </a:xfrm>
            <a:custGeom>
              <a:avLst/>
              <a:gdLst/>
              <a:ahLst/>
              <a:cxnLst>
                <a:cxn ang="0">
                  <a:pos x="8" y="10"/>
                </a:cxn>
                <a:cxn ang="0">
                  <a:pos x="4" y="0"/>
                </a:cxn>
                <a:cxn ang="0">
                  <a:pos x="0" y="4"/>
                </a:cxn>
                <a:cxn ang="0">
                  <a:pos x="3" y="4"/>
                </a:cxn>
                <a:cxn ang="0">
                  <a:pos x="8" y="10"/>
                </a:cxn>
              </a:cxnLst>
              <a:rect l="0" t="0" r="r" b="b"/>
              <a:pathLst>
                <a:path w="8" h="10">
                  <a:moveTo>
                    <a:pt x="8" y="10"/>
                  </a:moveTo>
                  <a:lnTo>
                    <a:pt x="4" y="0"/>
                  </a:lnTo>
                  <a:lnTo>
                    <a:pt x="0" y="4"/>
                  </a:lnTo>
                  <a:lnTo>
                    <a:pt x="3" y="4"/>
                  </a:lnTo>
                  <a:lnTo>
                    <a:pt x="8"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4" name="Freeform 193"/>
            <p:cNvSpPr>
              <a:spLocks/>
            </p:cNvSpPr>
            <p:nvPr/>
          </p:nvSpPr>
          <p:spPr bwMode="auto">
            <a:xfrm>
              <a:off x="5353" y="2870"/>
              <a:ext cx="9" cy="26"/>
            </a:xfrm>
            <a:custGeom>
              <a:avLst/>
              <a:gdLst/>
              <a:ahLst/>
              <a:cxnLst>
                <a:cxn ang="0">
                  <a:pos x="2" y="0"/>
                </a:cxn>
                <a:cxn ang="0">
                  <a:pos x="9" y="23"/>
                </a:cxn>
                <a:cxn ang="0">
                  <a:pos x="0" y="5"/>
                </a:cxn>
                <a:cxn ang="0">
                  <a:pos x="2" y="0"/>
                </a:cxn>
              </a:cxnLst>
              <a:rect l="0" t="0" r="r" b="b"/>
              <a:pathLst>
                <a:path w="9" h="23">
                  <a:moveTo>
                    <a:pt x="2" y="0"/>
                  </a:moveTo>
                  <a:lnTo>
                    <a:pt x="9" y="23"/>
                  </a:lnTo>
                  <a:lnTo>
                    <a:pt x="0" y="5"/>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5" name="Freeform 194"/>
            <p:cNvSpPr>
              <a:spLocks/>
            </p:cNvSpPr>
            <p:nvPr/>
          </p:nvSpPr>
          <p:spPr bwMode="auto">
            <a:xfrm>
              <a:off x="5320" y="2856"/>
              <a:ext cx="20" cy="20"/>
            </a:xfrm>
            <a:custGeom>
              <a:avLst/>
              <a:gdLst/>
              <a:ahLst/>
              <a:cxnLst>
                <a:cxn ang="0">
                  <a:pos x="17" y="18"/>
                </a:cxn>
                <a:cxn ang="0">
                  <a:pos x="19" y="18"/>
                </a:cxn>
                <a:cxn ang="0">
                  <a:pos x="10" y="9"/>
                </a:cxn>
                <a:cxn ang="0">
                  <a:pos x="0" y="0"/>
                </a:cxn>
                <a:cxn ang="0">
                  <a:pos x="9" y="9"/>
                </a:cxn>
                <a:cxn ang="0">
                  <a:pos x="17" y="18"/>
                </a:cxn>
              </a:cxnLst>
              <a:rect l="0" t="0" r="r" b="b"/>
              <a:pathLst>
                <a:path w="19" h="18">
                  <a:moveTo>
                    <a:pt x="17" y="18"/>
                  </a:moveTo>
                  <a:lnTo>
                    <a:pt x="19" y="18"/>
                  </a:lnTo>
                  <a:lnTo>
                    <a:pt x="10" y="9"/>
                  </a:lnTo>
                  <a:lnTo>
                    <a:pt x="0" y="0"/>
                  </a:lnTo>
                  <a:lnTo>
                    <a:pt x="9" y="9"/>
                  </a:lnTo>
                  <a:lnTo>
                    <a:pt x="17"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6" name="Freeform 195"/>
            <p:cNvSpPr>
              <a:spLocks/>
            </p:cNvSpPr>
            <p:nvPr/>
          </p:nvSpPr>
          <p:spPr bwMode="auto">
            <a:xfrm>
              <a:off x="5628" y="2954"/>
              <a:ext cx="3" cy="2"/>
            </a:xfrm>
            <a:custGeom>
              <a:avLst/>
              <a:gdLst/>
              <a:ahLst/>
              <a:cxnLst>
                <a:cxn ang="0">
                  <a:pos x="2" y="0"/>
                </a:cxn>
                <a:cxn ang="0">
                  <a:pos x="1" y="0"/>
                </a:cxn>
                <a:cxn ang="0">
                  <a:pos x="0" y="0"/>
                </a:cxn>
                <a:cxn ang="0">
                  <a:pos x="2" y="0"/>
                </a:cxn>
              </a:cxnLst>
              <a:rect l="0" t="0" r="r" b="b"/>
              <a:pathLst>
                <a:path w="2">
                  <a:moveTo>
                    <a:pt x="2" y="0"/>
                  </a:moveTo>
                  <a:lnTo>
                    <a:pt x="1" y="0"/>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7" name="Freeform 196"/>
            <p:cNvSpPr>
              <a:spLocks/>
            </p:cNvSpPr>
            <p:nvPr/>
          </p:nvSpPr>
          <p:spPr bwMode="auto">
            <a:xfrm>
              <a:off x="5437" y="3001"/>
              <a:ext cx="9" cy="13"/>
            </a:xfrm>
            <a:custGeom>
              <a:avLst/>
              <a:gdLst/>
              <a:ahLst/>
              <a:cxnLst>
                <a:cxn ang="0">
                  <a:pos x="7" y="13"/>
                </a:cxn>
                <a:cxn ang="0">
                  <a:pos x="8" y="5"/>
                </a:cxn>
                <a:cxn ang="0">
                  <a:pos x="6" y="6"/>
                </a:cxn>
                <a:cxn ang="0">
                  <a:pos x="2" y="0"/>
                </a:cxn>
                <a:cxn ang="0">
                  <a:pos x="0" y="13"/>
                </a:cxn>
                <a:cxn ang="0">
                  <a:pos x="7" y="13"/>
                </a:cxn>
              </a:cxnLst>
              <a:rect l="0" t="0" r="r" b="b"/>
              <a:pathLst>
                <a:path w="8" h="13">
                  <a:moveTo>
                    <a:pt x="7" y="13"/>
                  </a:moveTo>
                  <a:lnTo>
                    <a:pt x="8" y="5"/>
                  </a:lnTo>
                  <a:lnTo>
                    <a:pt x="6" y="6"/>
                  </a:lnTo>
                  <a:lnTo>
                    <a:pt x="2" y="0"/>
                  </a:lnTo>
                  <a:lnTo>
                    <a:pt x="0" y="13"/>
                  </a:lnTo>
                  <a:lnTo>
                    <a:pt x="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8" name="Freeform 197"/>
            <p:cNvSpPr>
              <a:spLocks/>
            </p:cNvSpPr>
            <p:nvPr/>
          </p:nvSpPr>
          <p:spPr bwMode="auto">
            <a:xfrm>
              <a:off x="5446" y="3021"/>
              <a:ext cx="7" cy="13"/>
            </a:xfrm>
            <a:custGeom>
              <a:avLst/>
              <a:gdLst/>
              <a:ahLst/>
              <a:cxnLst>
                <a:cxn ang="0">
                  <a:pos x="6" y="12"/>
                </a:cxn>
                <a:cxn ang="0">
                  <a:pos x="0" y="11"/>
                </a:cxn>
                <a:cxn ang="0">
                  <a:pos x="0" y="0"/>
                </a:cxn>
                <a:cxn ang="0">
                  <a:pos x="6" y="12"/>
                </a:cxn>
              </a:cxnLst>
              <a:rect l="0" t="0" r="r" b="b"/>
              <a:pathLst>
                <a:path w="6" h="12">
                  <a:moveTo>
                    <a:pt x="6" y="12"/>
                  </a:moveTo>
                  <a:lnTo>
                    <a:pt x="0" y="11"/>
                  </a:lnTo>
                  <a:lnTo>
                    <a:pt x="0" y="0"/>
                  </a:lnTo>
                  <a:lnTo>
                    <a:pt x="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9" name="Freeform 198"/>
            <p:cNvSpPr>
              <a:spLocks/>
            </p:cNvSpPr>
            <p:nvPr/>
          </p:nvSpPr>
          <p:spPr bwMode="auto">
            <a:xfrm>
              <a:off x="5457" y="3027"/>
              <a:ext cx="5" cy="5"/>
            </a:xfrm>
            <a:custGeom>
              <a:avLst/>
              <a:gdLst/>
              <a:ahLst/>
              <a:cxnLst>
                <a:cxn ang="0">
                  <a:pos x="4" y="0"/>
                </a:cxn>
                <a:cxn ang="0">
                  <a:pos x="1" y="5"/>
                </a:cxn>
                <a:cxn ang="0">
                  <a:pos x="0" y="4"/>
                </a:cxn>
                <a:cxn ang="0">
                  <a:pos x="4" y="0"/>
                </a:cxn>
              </a:cxnLst>
              <a:rect l="0" t="0" r="r" b="b"/>
              <a:pathLst>
                <a:path w="4" h="5">
                  <a:moveTo>
                    <a:pt x="4" y="0"/>
                  </a:moveTo>
                  <a:lnTo>
                    <a:pt x="1" y="5"/>
                  </a:lnTo>
                  <a:lnTo>
                    <a:pt x="0" y="4"/>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0" name="Freeform 199"/>
            <p:cNvSpPr>
              <a:spLocks/>
            </p:cNvSpPr>
            <p:nvPr/>
          </p:nvSpPr>
          <p:spPr bwMode="auto">
            <a:xfrm>
              <a:off x="5464" y="3079"/>
              <a:ext cx="2" cy="4"/>
            </a:xfrm>
            <a:custGeom>
              <a:avLst/>
              <a:gdLst/>
              <a:ahLst/>
              <a:cxnLst>
                <a:cxn ang="0">
                  <a:pos x="2" y="1"/>
                </a:cxn>
                <a:cxn ang="0">
                  <a:pos x="2" y="0"/>
                </a:cxn>
                <a:cxn ang="0">
                  <a:pos x="0" y="5"/>
                </a:cxn>
                <a:cxn ang="0">
                  <a:pos x="2" y="1"/>
                </a:cxn>
              </a:cxnLst>
              <a:rect l="0" t="0" r="r" b="b"/>
              <a:pathLst>
                <a:path w="2" h="5">
                  <a:moveTo>
                    <a:pt x="2" y="1"/>
                  </a:moveTo>
                  <a:lnTo>
                    <a:pt x="2" y="0"/>
                  </a:lnTo>
                  <a:lnTo>
                    <a:pt x="0" y="5"/>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1" name="Freeform 200"/>
            <p:cNvSpPr>
              <a:spLocks/>
            </p:cNvSpPr>
            <p:nvPr/>
          </p:nvSpPr>
          <p:spPr bwMode="auto">
            <a:xfrm>
              <a:off x="2736" y="3043"/>
              <a:ext cx="233" cy="238"/>
            </a:xfrm>
            <a:custGeom>
              <a:avLst/>
              <a:gdLst/>
              <a:ahLst/>
              <a:cxnLst>
                <a:cxn ang="0">
                  <a:pos x="124" y="140"/>
                </a:cxn>
                <a:cxn ang="0">
                  <a:pos x="126" y="115"/>
                </a:cxn>
                <a:cxn ang="0">
                  <a:pos x="127" y="90"/>
                </a:cxn>
                <a:cxn ang="0">
                  <a:pos x="142" y="90"/>
                </a:cxn>
                <a:cxn ang="0">
                  <a:pos x="142" y="73"/>
                </a:cxn>
                <a:cxn ang="0">
                  <a:pos x="144" y="57"/>
                </a:cxn>
                <a:cxn ang="0">
                  <a:pos x="144" y="41"/>
                </a:cxn>
                <a:cxn ang="0">
                  <a:pos x="145" y="24"/>
                </a:cxn>
                <a:cxn ang="0">
                  <a:pos x="163" y="21"/>
                </a:cxn>
                <a:cxn ang="0">
                  <a:pos x="181" y="20"/>
                </a:cxn>
                <a:cxn ang="0">
                  <a:pos x="187" y="26"/>
                </a:cxn>
                <a:cxn ang="0">
                  <a:pos x="199" y="19"/>
                </a:cxn>
                <a:cxn ang="0">
                  <a:pos x="211" y="14"/>
                </a:cxn>
                <a:cxn ang="0">
                  <a:pos x="194" y="9"/>
                </a:cxn>
                <a:cxn ang="0">
                  <a:pos x="183" y="12"/>
                </a:cxn>
                <a:cxn ang="0">
                  <a:pos x="159" y="14"/>
                </a:cxn>
                <a:cxn ang="0">
                  <a:pos x="136" y="18"/>
                </a:cxn>
                <a:cxn ang="0">
                  <a:pos x="121" y="14"/>
                </a:cxn>
                <a:cxn ang="0">
                  <a:pos x="106" y="11"/>
                </a:cxn>
                <a:cxn ang="0">
                  <a:pos x="104" y="7"/>
                </a:cxn>
                <a:cxn ang="0">
                  <a:pos x="86" y="7"/>
                </a:cxn>
                <a:cxn ang="0">
                  <a:pos x="68" y="6"/>
                </a:cxn>
                <a:cxn ang="0">
                  <a:pos x="50" y="6"/>
                </a:cxn>
                <a:cxn ang="0">
                  <a:pos x="31" y="5"/>
                </a:cxn>
                <a:cxn ang="0">
                  <a:pos x="20" y="0"/>
                </a:cxn>
                <a:cxn ang="0">
                  <a:pos x="1" y="5"/>
                </a:cxn>
                <a:cxn ang="0">
                  <a:pos x="0" y="15"/>
                </a:cxn>
                <a:cxn ang="0">
                  <a:pos x="10" y="37"/>
                </a:cxn>
                <a:cxn ang="0">
                  <a:pos x="21" y="59"/>
                </a:cxn>
                <a:cxn ang="0">
                  <a:pos x="31" y="80"/>
                </a:cxn>
                <a:cxn ang="0">
                  <a:pos x="42" y="102"/>
                </a:cxn>
                <a:cxn ang="0">
                  <a:pos x="43" y="111"/>
                </a:cxn>
                <a:cxn ang="0">
                  <a:pos x="40" y="110"/>
                </a:cxn>
                <a:cxn ang="0">
                  <a:pos x="43" y="129"/>
                </a:cxn>
                <a:cxn ang="0">
                  <a:pos x="45" y="147"/>
                </a:cxn>
                <a:cxn ang="0">
                  <a:pos x="48" y="165"/>
                </a:cxn>
                <a:cxn ang="0">
                  <a:pos x="50" y="183"/>
                </a:cxn>
                <a:cxn ang="0">
                  <a:pos x="60" y="197"/>
                </a:cxn>
                <a:cxn ang="0">
                  <a:pos x="68" y="209"/>
                </a:cxn>
                <a:cxn ang="0">
                  <a:pos x="76" y="199"/>
                </a:cxn>
                <a:cxn ang="0">
                  <a:pos x="82" y="210"/>
                </a:cxn>
                <a:cxn ang="0">
                  <a:pos x="105" y="213"/>
                </a:cxn>
                <a:cxn ang="0">
                  <a:pos x="118" y="207"/>
                </a:cxn>
                <a:cxn ang="0">
                  <a:pos x="121" y="191"/>
                </a:cxn>
                <a:cxn ang="0">
                  <a:pos x="122" y="174"/>
                </a:cxn>
                <a:cxn ang="0">
                  <a:pos x="123" y="157"/>
                </a:cxn>
                <a:cxn ang="0">
                  <a:pos x="124" y="140"/>
                </a:cxn>
              </a:cxnLst>
              <a:rect l="0" t="0" r="r" b="b"/>
              <a:pathLst>
                <a:path w="211" h="213">
                  <a:moveTo>
                    <a:pt x="124" y="140"/>
                  </a:moveTo>
                  <a:lnTo>
                    <a:pt x="126" y="115"/>
                  </a:lnTo>
                  <a:lnTo>
                    <a:pt x="127" y="90"/>
                  </a:lnTo>
                  <a:lnTo>
                    <a:pt x="142" y="90"/>
                  </a:lnTo>
                  <a:lnTo>
                    <a:pt x="142" y="73"/>
                  </a:lnTo>
                  <a:lnTo>
                    <a:pt x="144" y="57"/>
                  </a:lnTo>
                  <a:lnTo>
                    <a:pt x="144" y="41"/>
                  </a:lnTo>
                  <a:lnTo>
                    <a:pt x="145" y="24"/>
                  </a:lnTo>
                  <a:lnTo>
                    <a:pt x="163" y="21"/>
                  </a:lnTo>
                  <a:lnTo>
                    <a:pt x="181" y="20"/>
                  </a:lnTo>
                  <a:lnTo>
                    <a:pt x="187" y="26"/>
                  </a:lnTo>
                  <a:lnTo>
                    <a:pt x="199" y="19"/>
                  </a:lnTo>
                  <a:lnTo>
                    <a:pt x="211" y="14"/>
                  </a:lnTo>
                  <a:lnTo>
                    <a:pt x="194" y="9"/>
                  </a:lnTo>
                  <a:lnTo>
                    <a:pt x="183" y="12"/>
                  </a:lnTo>
                  <a:lnTo>
                    <a:pt x="159" y="14"/>
                  </a:lnTo>
                  <a:lnTo>
                    <a:pt x="136" y="18"/>
                  </a:lnTo>
                  <a:lnTo>
                    <a:pt x="121" y="14"/>
                  </a:lnTo>
                  <a:lnTo>
                    <a:pt x="106" y="11"/>
                  </a:lnTo>
                  <a:lnTo>
                    <a:pt x="104" y="7"/>
                  </a:lnTo>
                  <a:lnTo>
                    <a:pt x="86" y="7"/>
                  </a:lnTo>
                  <a:lnTo>
                    <a:pt x="68" y="6"/>
                  </a:lnTo>
                  <a:lnTo>
                    <a:pt x="50" y="6"/>
                  </a:lnTo>
                  <a:lnTo>
                    <a:pt x="31" y="5"/>
                  </a:lnTo>
                  <a:lnTo>
                    <a:pt x="20" y="0"/>
                  </a:lnTo>
                  <a:lnTo>
                    <a:pt x="1" y="5"/>
                  </a:lnTo>
                  <a:lnTo>
                    <a:pt x="0" y="15"/>
                  </a:lnTo>
                  <a:lnTo>
                    <a:pt x="10" y="37"/>
                  </a:lnTo>
                  <a:lnTo>
                    <a:pt x="21" y="59"/>
                  </a:lnTo>
                  <a:lnTo>
                    <a:pt x="31" y="80"/>
                  </a:lnTo>
                  <a:lnTo>
                    <a:pt x="42" y="102"/>
                  </a:lnTo>
                  <a:lnTo>
                    <a:pt x="43" y="111"/>
                  </a:lnTo>
                  <a:lnTo>
                    <a:pt x="40" y="110"/>
                  </a:lnTo>
                  <a:lnTo>
                    <a:pt x="43" y="129"/>
                  </a:lnTo>
                  <a:lnTo>
                    <a:pt x="45" y="147"/>
                  </a:lnTo>
                  <a:lnTo>
                    <a:pt x="48" y="165"/>
                  </a:lnTo>
                  <a:lnTo>
                    <a:pt x="50" y="183"/>
                  </a:lnTo>
                  <a:lnTo>
                    <a:pt x="60" y="197"/>
                  </a:lnTo>
                  <a:lnTo>
                    <a:pt x="68" y="209"/>
                  </a:lnTo>
                  <a:lnTo>
                    <a:pt x="76" y="199"/>
                  </a:lnTo>
                  <a:lnTo>
                    <a:pt x="82" y="210"/>
                  </a:lnTo>
                  <a:lnTo>
                    <a:pt x="105" y="213"/>
                  </a:lnTo>
                  <a:lnTo>
                    <a:pt x="118" y="207"/>
                  </a:lnTo>
                  <a:lnTo>
                    <a:pt x="121" y="191"/>
                  </a:lnTo>
                  <a:lnTo>
                    <a:pt x="122" y="174"/>
                  </a:lnTo>
                  <a:lnTo>
                    <a:pt x="123" y="157"/>
                  </a:lnTo>
                  <a:lnTo>
                    <a:pt x="124" y="14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2" name="Freeform 201"/>
            <p:cNvSpPr>
              <a:spLocks/>
            </p:cNvSpPr>
            <p:nvPr/>
          </p:nvSpPr>
          <p:spPr bwMode="auto">
            <a:xfrm>
              <a:off x="2873" y="3061"/>
              <a:ext cx="163" cy="180"/>
            </a:xfrm>
            <a:custGeom>
              <a:avLst/>
              <a:gdLst/>
              <a:ahLst/>
              <a:cxnLst>
                <a:cxn ang="0">
                  <a:pos x="0" y="126"/>
                </a:cxn>
                <a:cxn ang="0">
                  <a:pos x="2" y="101"/>
                </a:cxn>
                <a:cxn ang="0">
                  <a:pos x="3" y="76"/>
                </a:cxn>
                <a:cxn ang="0">
                  <a:pos x="18" y="76"/>
                </a:cxn>
                <a:cxn ang="0">
                  <a:pos x="18" y="59"/>
                </a:cxn>
                <a:cxn ang="0">
                  <a:pos x="20" y="43"/>
                </a:cxn>
                <a:cxn ang="0">
                  <a:pos x="20" y="27"/>
                </a:cxn>
                <a:cxn ang="0">
                  <a:pos x="21" y="10"/>
                </a:cxn>
                <a:cxn ang="0">
                  <a:pos x="39" y="7"/>
                </a:cxn>
                <a:cxn ang="0">
                  <a:pos x="57" y="6"/>
                </a:cxn>
                <a:cxn ang="0">
                  <a:pos x="63" y="12"/>
                </a:cxn>
                <a:cxn ang="0">
                  <a:pos x="75" y="5"/>
                </a:cxn>
                <a:cxn ang="0">
                  <a:pos x="87" y="0"/>
                </a:cxn>
                <a:cxn ang="0">
                  <a:pos x="96" y="18"/>
                </a:cxn>
                <a:cxn ang="0">
                  <a:pos x="106" y="36"/>
                </a:cxn>
                <a:cxn ang="0">
                  <a:pos x="117" y="45"/>
                </a:cxn>
                <a:cxn ang="0">
                  <a:pos x="120" y="48"/>
                </a:cxn>
                <a:cxn ang="0">
                  <a:pos x="124" y="54"/>
                </a:cxn>
                <a:cxn ang="0">
                  <a:pos x="129" y="69"/>
                </a:cxn>
                <a:cxn ang="0">
                  <a:pos x="143" y="75"/>
                </a:cxn>
                <a:cxn ang="0">
                  <a:pos x="147" y="78"/>
                </a:cxn>
                <a:cxn ang="0">
                  <a:pos x="146" y="79"/>
                </a:cxn>
                <a:cxn ang="0">
                  <a:pos x="125" y="93"/>
                </a:cxn>
                <a:cxn ang="0">
                  <a:pos x="110" y="107"/>
                </a:cxn>
                <a:cxn ang="0">
                  <a:pos x="101" y="123"/>
                </a:cxn>
                <a:cxn ang="0">
                  <a:pos x="92" y="129"/>
                </a:cxn>
                <a:cxn ang="0">
                  <a:pos x="83" y="143"/>
                </a:cxn>
                <a:cxn ang="0">
                  <a:pos x="59" y="141"/>
                </a:cxn>
                <a:cxn ang="0">
                  <a:pos x="47" y="136"/>
                </a:cxn>
                <a:cxn ang="0">
                  <a:pos x="39" y="148"/>
                </a:cxn>
                <a:cxn ang="0">
                  <a:pos x="32" y="160"/>
                </a:cxn>
                <a:cxn ang="0">
                  <a:pos x="15" y="162"/>
                </a:cxn>
                <a:cxn ang="0">
                  <a:pos x="9" y="160"/>
                </a:cxn>
                <a:cxn ang="0">
                  <a:pos x="11" y="143"/>
                </a:cxn>
                <a:cxn ang="0">
                  <a:pos x="0" y="126"/>
                </a:cxn>
              </a:cxnLst>
              <a:rect l="0" t="0" r="r" b="b"/>
              <a:pathLst>
                <a:path w="147" h="162">
                  <a:moveTo>
                    <a:pt x="0" y="126"/>
                  </a:moveTo>
                  <a:lnTo>
                    <a:pt x="2" y="101"/>
                  </a:lnTo>
                  <a:lnTo>
                    <a:pt x="3" y="76"/>
                  </a:lnTo>
                  <a:lnTo>
                    <a:pt x="18" y="76"/>
                  </a:lnTo>
                  <a:lnTo>
                    <a:pt x="18" y="59"/>
                  </a:lnTo>
                  <a:lnTo>
                    <a:pt x="20" y="43"/>
                  </a:lnTo>
                  <a:lnTo>
                    <a:pt x="20" y="27"/>
                  </a:lnTo>
                  <a:lnTo>
                    <a:pt x="21" y="10"/>
                  </a:lnTo>
                  <a:lnTo>
                    <a:pt x="39" y="7"/>
                  </a:lnTo>
                  <a:lnTo>
                    <a:pt x="57" y="6"/>
                  </a:lnTo>
                  <a:lnTo>
                    <a:pt x="63" y="12"/>
                  </a:lnTo>
                  <a:lnTo>
                    <a:pt x="75" y="5"/>
                  </a:lnTo>
                  <a:lnTo>
                    <a:pt x="87" y="0"/>
                  </a:lnTo>
                  <a:lnTo>
                    <a:pt x="96" y="18"/>
                  </a:lnTo>
                  <a:lnTo>
                    <a:pt x="106" y="36"/>
                  </a:lnTo>
                  <a:lnTo>
                    <a:pt x="117" y="45"/>
                  </a:lnTo>
                  <a:lnTo>
                    <a:pt x="120" y="48"/>
                  </a:lnTo>
                  <a:lnTo>
                    <a:pt x="124" y="54"/>
                  </a:lnTo>
                  <a:lnTo>
                    <a:pt x="129" y="69"/>
                  </a:lnTo>
                  <a:lnTo>
                    <a:pt x="143" y="75"/>
                  </a:lnTo>
                  <a:lnTo>
                    <a:pt x="147" y="78"/>
                  </a:lnTo>
                  <a:lnTo>
                    <a:pt x="146" y="79"/>
                  </a:lnTo>
                  <a:lnTo>
                    <a:pt x="125" y="93"/>
                  </a:lnTo>
                  <a:lnTo>
                    <a:pt x="110" y="107"/>
                  </a:lnTo>
                  <a:lnTo>
                    <a:pt x="101" y="123"/>
                  </a:lnTo>
                  <a:lnTo>
                    <a:pt x="92" y="129"/>
                  </a:lnTo>
                  <a:lnTo>
                    <a:pt x="83" y="143"/>
                  </a:lnTo>
                  <a:lnTo>
                    <a:pt x="59" y="141"/>
                  </a:lnTo>
                  <a:lnTo>
                    <a:pt x="47" y="136"/>
                  </a:lnTo>
                  <a:lnTo>
                    <a:pt x="39" y="148"/>
                  </a:lnTo>
                  <a:lnTo>
                    <a:pt x="32" y="160"/>
                  </a:lnTo>
                  <a:lnTo>
                    <a:pt x="15" y="162"/>
                  </a:lnTo>
                  <a:lnTo>
                    <a:pt x="9" y="160"/>
                  </a:lnTo>
                  <a:lnTo>
                    <a:pt x="11" y="143"/>
                  </a:lnTo>
                  <a:lnTo>
                    <a:pt x="0" y="1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3" name="Freeform 202"/>
            <p:cNvSpPr>
              <a:spLocks/>
            </p:cNvSpPr>
            <p:nvPr/>
          </p:nvSpPr>
          <p:spPr bwMode="auto">
            <a:xfrm>
              <a:off x="3289" y="2934"/>
              <a:ext cx="4" cy="9"/>
            </a:xfrm>
            <a:custGeom>
              <a:avLst/>
              <a:gdLst/>
              <a:ahLst/>
              <a:cxnLst>
                <a:cxn ang="0">
                  <a:pos x="3" y="9"/>
                </a:cxn>
                <a:cxn ang="0">
                  <a:pos x="3" y="7"/>
                </a:cxn>
                <a:cxn ang="0">
                  <a:pos x="0" y="0"/>
                </a:cxn>
                <a:cxn ang="0">
                  <a:pos x="3" y="9"/>
                </a:cxn>
              </a:cxnLst>
              <a:rect l="0" t="0" r="r" b="b"/>
              <a:pathLst>
                <a:path w="3" h="9">
                  <a:moveTo>
                    <a:pt x="3" y="9"/>
                  </a:moveTo>
                  <a:lnTo>
                    <a:pt x="3" y="7"/>
                  </a:lnTo>
                  <a:lnTo>
                    <a:pt x="0" y="0"/>
                  </a:lnTo>
                  <a:lnTo>
                    <a:pt x="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4" name="Freeform 203"/>
            <p:cNvSpPr>
              <a:spLocks/>
            </p:cNvSpPr>
            <p:nvPr/>
          </p:nvSpPr>
          <p:spPr bwMode="auto">
            <a:xfrm>
              <a:off x="2989" y="3276"/>
              <a:ext cx="40" cy="40"/>
            </a:xfrm>
            <a:custGeom>
              <a:avLst/>
              <a:gdLst/>
              <a:ahLst/>
              <a:cxnLst>
                <a:cxn ang="0">
                  <a:pos x="15" y="3"/>
                </a:cxn>
                <a:cxn ang="0">
                  <a:pos x="0" y="19"/>
                </a:cxn>
                <a:cxn ang="0">
                  <a:pos x="11" y="35"/>
                </a:cxn>
                <a:cxn ang="0">
                  <a:pos x="17" y="30"/>
                </a:cxn>
                <a:cxn ang="0">
                  <a:pos x="32" y="19"/>
                </a:cxn>
                <a:cxn ang="0">
                  <a:pos x="35" y="7"/>
                </a:cxn>
                <a:cxn ang="0">
                  <a:pos x="21" y="0"/>
                </a:cxn>
                <a:cxn ang="0">
                  <a:pos x="15" y="3"/>
                </a:cxn>
              </a:cxnLst>
              <a:rect l="0" t="0" r="r" b="b"/>
              <a:pathLst>
                <a:path w="35" h="35">
                  <a:moveTo>
                    <a:pt x="15" y="3"/>
                  </a:moveTo>
                  <a:lnTo>
                    <a:pt x="0" y="19"/>
                  </a:lnTo>
                  <a:lnTo>
                    <a:pt x="11" y="35"/>
                  </a:lnTo>
                  <a:lnTo>
                    <a:pt x="17" y="30"/>
                  </a:lnTo>
                  <a:lnTo>
                    <a:pt x="32" y="19"/>
                  </a:lnTo>
                  <a:lnTo>
                    <a:pt x="35" y="7"/>
                  </a:lnTo>
                  <a:lnTo>
                    <a:pt x="21" y="0"/>
                  </a:lnTo>
                  <a:lnTo>
                    <a:pt x="1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5" name="Freeform 204"/>
            <p:cNvSpPr>
              <a:spLocks/>
            </p:cNvSpPr>
            <p:nvPr/>
          </p:nvSpPr>
          <p:spPr bwMode="auto">
            <a:xfrm>
              <a:off x="3278" y="2947"/>
              <a:ext cx="135" cy="267"/>
            </a:xfrm>
            <a:custGeom>
              <a:avLst/>
              <a:gdLst/>
              <a:ahLst/>
              <a:cxnLst>
                <a:cxn ang="0">
                  <a:pos x="44" y="69"/>
                </a:cxn>
                <a:cxn ang="0">
                  <a:pos x="38" y="70"/>
                </a:cxn>
                <a:cxn ang="0">
                  <a:pos x="24" y="77"/>
                </a:cxn>
                <a:cxn ang="0">
                  <a:pos x="20" y="91"/>
                </a:cxn>
                <a:cxn ang="0">
                  <a:pos x="17" y="106"/>
                </a:cxn>
                <a:cxn ang="0">
                  <a:pos x="19" y="124"/>
                </a:cxn>
                <a:cxn ang="0">
                  <a:pos x="22" y="142"/>
                </a:cxn>
                <a:cxn ang="0">
                  <a:pos x="13" y="154"/>
                </a:cxn>
                <a:cxn ang="0">
                  <a:pos x="5" y="166"/>
                </a:cxn>
                <a:cxn ang="0">
                  <a:pos x="0" y="190"/>
                </a:cxn>
                <a:cxn ang="0">
                  <a:pos x="4" y="210"/>
                </a:cxn>
                <a:cxn ang="0">
                  <a:pos x="10" y="233"/>
                </a:cxn>
                <a:cxn ang="0">
                  <a:pos x="30" y="241"/>
                </a:cxn>
                <a:cxn ang="0">
                  <a:pos x="43" y="235"/>
                </a:cxn>
                <a:cxn ang="0">
                  <a:pos x="58" y="228"/>
                </a:cxn>
                <a:cxn ang="0">
                  <a:pos x="62" y="211"/>
                </a:cxn>
                <a:cxn ang="0">
                  <a:pos x="68" y="195"/>
                </a:cxn>
                <a:cxn ang="0">
                  <a:pos x="74" y="179"/>
                </a:cxn>
                <a:cxn ang="0">
                  <a:pos x="80" y="162"/>
                </a:cxn>
                <a:cxn ang="0">
                  <a:pos x="85" y="147"/>
                </a:cxn>
                <a:cxn ang="0">
                  <a:pos x="91" y="130"/>
                </a:cxn>
                <a:cxn ang="0">
                  <a:pos x="97" y="113"/>
                </a:cxn>
                <a:cxn ang="0">
                  <a:pos x="102" y="97"/>
                </a:cxn>
                <a:cxn ang="0">
                  <a:pos x="109" y="85"/>
                </a:cxn>
                <a:cxn ang="0">
                  <a:pos x="108" y="60"/>
                </a:cxn>
                <a:cxn ang="0">
                  <a:pos x="118" y="67"/>
                </a:cxn>
                <a:cxn ang="0">
                  <a:pos x="121" y="58"/>
                </a:cxn>
                <a:cxn ang="0">
                  <a:pos x="116" y="35"/>
                </a:cxn>
                <a:cxn ang="0">
                  <a:pos x="110" y="13"/>
                </a:cxn>
                <a:cxn ang="0">
                  <a:pos x="106" y="0"/>
                </a:cxn>
                <a:cxn ang="0">
                  <a:pos x="102" y="0"/>
                </a:cxn>
                <a:cxn ang="0">
                  <a:pos x="98" y="6"/>
                </a:cxn>
                <a:cxn ang="0">
                  <a:pos x="95" y="24"/>
                </a:cxn>
                <a:cxn ang="0">
                  <a:pos x="89" y="28"/>
                </a:cxn>
                <a:cxn ang="0">
                  <a:pos x="86" y="30"/>
                </a:cxn>
                <a:cxn ang="0">
                  <a:pos x="82" y="28"/>
                </a:cxn>
                <a:cxn ang="0">
                  <a:pos x="83" y="37"/>
                </a:cxn>
                <a:cxn ang="0">
                  <a:pos x="79" y="45"/>
                </a:cxn>
                <a:cxn ang="0">
                  <a:pos x="82" y="47"/>
                </a:cxn>
                <a:cxn ang="0">
                  <a:pos x="73" y="52"/>
                </a:cxn>
                <a:cxn ang="0">
                  <a:pos x="73" y="47"/>
                </a:cxn>
                <a:cxn ang="0">
                  <a:pos x="68" y="59"/>
                </a:cxn>
                <a:cxn ang="0">
                  <a:pos x="66" y="59"/>
                </a:cxn>
                <a:cxn ang="0">
                  <a:pos x="62" y="58"/>
                </a:cxn>
                <a:cxn ang="0">
                  <a:pos x="56" y="67"/>
                </a:cxn>
                <a:cxn ang="0">
                  <a:pos x="44" y="69"/>
                </a:cxn>
              </a:cxnLst>
              <a:rect l="0" t="0" r="r" b="b"/>
              <a:pathLst>
                <a:path w="121" h="241">
                  <a:moveTo>
                    <a:pt x="44" y="69"/>
                  </a:moveTo>
                  <a:lnTo>
                    <a:pt x="38" y="70"/>
                  </a:lnTo>
                  <a:lnTo>
                    <a:pt x="24" y="77"/>
                  </a:lnTo>
                  <a:lnTo>
                    <a:pt x="20" y="91"/>
                  </a:lnTo>
                  <a:lnTo>
                    <a:pt x="17" y="106"/>
                  </a:lnTo>
                  <a:lnTo>
                    <a:pt x="19" y="124"/>
                  </a:lnTo>
                  <a:lnTo>
                    <a:pt x="22" y="142"/>
                  </a:lnTo>
                  <a:lnTo>
                    <a:pt x="13" y="154"/>
                  </a:lnTo>
                  <a:lnTo>
                    <a:pt x="5" y="166"/>
                  </a:lnTo>
                  <a:lnTo>
                    <a:pt x="0" y="190"/>
                  </a:lnTo>
                  <a:lnTo>
                    <a:pt x="4" y="210"/>
                  </a:lnTo>
                  <a:lnTo>
                    <a:pt x="10" y="233"/>
                  </a:lnTo>
                  <a:lnTo>
                    <a:pt x="30" y="241"/>
                  </a:lnTo>
                  <a:lnTo>
                    <a:pt x="43" y="235"/>
                  </a:lnTo>
                  <a:lnTo>
                    <a:pt x="58" y="228"/>
                  </a:lnTo>
                  <a:lnTo>
                    <a:pt x="62" y="211"/>
                  </a:lnTo>
                  <a:lnTo>
                    <a:pt x="68" y="195"/>
                  </a:lnTo>
                  <a:lnTo>
                    <a:pt x="74" y="179"/>
                  </a:lnTo>
                  <a:lnTo>
                    <a:pt x="80" y="162"/>
                  </a:lnTo>
                  <a:lnTo>
                    <a:pt x="85" y="147"/>
                  </a:lnTo>
                  <a:lnTo>
                    <a:pt x="91" y="130"/>
                  </a:lnTo>
                  <a:lnTo>
                    <a:pt x="97" y="113"/>
                  </a:lnTo>
                  <a:lnTo>
                    <a:pt x="102" y="97"/>
                  </a:lnTo>
                  <a:lnTo>
                    <a:pt x="109" y="85"/>
                  </a:lnTo>
                  <a:lnTo>
                    <a:pt x="108" y="60"/>
                  </a:lnTo>
                  <a:lnTo>
                    <a:pt x="118" y="67"/>
                  </a:lnTo>
                  <a:lnTo>
                    <a:pt x="121" y="58"/>
                  </a:lnTo>
                  <a:lnTo>
                    <a:pt x="116" y="35"/>
                  </a:lnTo>
                  <a:lnTo>
                    <a:pt x="110" y="13"/>
                  </a:lnTo>
                  <a:lnTo>
                    <a:pt x="106" y="0"/>
                  </a:lnTo>
                  <a:lnTo>
                    <a:pt x="102" y="0"/>
                  </a:lnTo>
                  <a:lnTo>
                    <a:pt x="98" y="6"/>
                  </a:lnTo>
                  <a:lnTo>
                    <a:pt x="95" y="24"/>
                  </a:lnTo>
                  <a:lnTo>
                    <a:pt x="89" y="28"/>
                  </a:lnTo>
                  <a:lnTo>
                    <a:pt x="86" y="30"/>
                  </a:lnTo>
                  <a:lnTo>
                    <a:pt x="82" y="28"/>
                  </a:lnTo>
                  <a:lnTo>
                    <a:pt x="83" y="37"/>
                  </a:lnTo>
                  <a:lnTo>
                    <a:pt x="79" y="45"/>
                  </a:lnTo>
                  <a:lnTo>
                    <a:pt x="82" y="47"/>
                  </a:lnTo>
                  <a:lnTo>
                    <a:pt x="73" y="52"/>
                  </a:lnTo>
                  <a:lnTo>
                    <a:pt x="73" y="47"/>
                  </a:lnTo>
                  <a:lnTo>
                    <a:pt x="68" y="59"/>
                  </a:lnTo>
                  <a:lnTo>
                    <a:pt x="66" y="59"/>
                  </a:lnTo>
                  <a:lnTo>
                    <a:pt x="62" y="58"/>
                  </a:lnTo>
                  <a:lnTo>
                    <a:pt x="56" y="67"/>
                  </a:lnTo>
                  <a:lnTo>
                    <a:pt x="44"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6" name="Freeform 205"/>
            <p:cNvSpPr>
              <a:spLocks/>
            </p:cNvSpPr>
            <p:nvPr/>
          </p:nvSpPr>
          <p:spPr bwMode="auto">
            <a:xfrm>
              <a:off x="3102" y="2894"/>
              <a:ext cx="56" cy="153"/>
            </a:xfrm>
            <a:custGeom>
              <a:avLst/>
              <a:gdLst/>
              <a:ahLst/>
              <a:cxnLst>
                <a:cxn ang="0">
                  <a:pos x="29" y="97"/>
                </a:cxn>
                <a:cxn ang="0">
                  <a:pos x="23" y="115"/>
                </a:cxn>
                <a:cxn ang="0">
                  <a:pos x="30" y="127"/>
                </a:cxn>
                <a:cxn ang="0">
                  <a:pos x="37" y="138"/>
                </a:cxn>
                <a:cxn ang="0">
                  <a:pos x="36" y="129"/>
                </a:cxn>
                <a:cxn ang="0">
                  <a:pos x="44" y="120"/>
                </a:cxn>
                <a:cxn ang="0">
                  <a:pos x="47" y="107"/>
                </a:cxn>
                <a:cxn ang="0">
                  <a:pos x="49" y="94"/>
                </a:cxn>
                <a:cxn ang="0">
                  <a:pos x="39" y="84"/>
                </a:cxn>
                <a:cxn ang="0">
                  <a:pos x="30" y="73"/>
                </a:cxn>
                <a:cxn ang="0">
                  <a:pos x="27" y="55"/>
                </a:cxn>
                <a:cxn ang="0">
                  <a:pos x="31" y="42"/>
                </a:cxn>
                <a:cxn ang="0">
                  <a:pos x="36" y="39"/>
                </a:cxn>
                <a:cxn ang="0">
                  <a:pos x="37" y="39"/>
                </a:cxn>
                <a:cxn ang="0">
                  <a:pos x="32" y="24"/>
                </a:cxn>
                <a:cxn ang="0">
                  <a:pos x="27" y="6"/>
                </a:cxn>
                <a:cxn ang="0">
                  <a:pos x="21" y="3"/>
                </a:cxn>
                <a:cxn ang="0">
                  <a:pos x="6" y="0"/>
                </a:cxn>
                <a:cxn ang="0">
                  <a:pos x="7" y="4"/>
                </a:cxn>
                <a:cxn ang="0">
                  <a:pos x="17" y="18"/>
                </a:cxn>
                <a:cxn ang="0">
                  <a:pos x="13" y="25"/>
                </a:cxn>
                <a:cxn ang="0">
                  <a:pos x="12" y="39"/>
                </a:cxn>
                <a:cxn ang="0">
                  <a:pos x="11" y="53"/>
                </a:cxn>
                <a:cxn ang="0">
                  <a:pos x="8" y="58"/>
                </a:cxn>
                <a:cxn ang="0">
                  <a:pos x="0" y="75"/>
                </a:cxn>
                <a:cxn ang="0">
                  <a:pos x="7" y="83"/>
                </a:cxn>
                <a:cxn ang="0">
                  <a:pos x="13" y="90"/>
                </a:cxn>
                <a:cxn ang="0">
                  <a:pos x="23" y="90"/>
                </a:cxn>
                <a:cxn ang="0">
                  <a:pos x="29" y="97"/>
                </a:cxn>
              </a:cxnLst>
              <a:rect l="0" t="0" r="r" b="b"/>
              <a:pathLst>
                <a:path w="49" h="138">
                  <a:moveTo>
                    <a:pt x="29" y="97"/>
                  </a:moveTo>
                  <a:lnTo>
                    <a:pt x="23" y="115"/>
                  </a:lnTo>
                  <a:lnTo>
                    <a:pt x="30" y="127"/>
                  </a:lnTo>
                  <a:lnTo>
                    <a:pt x="37" y="138"/>
                  </a:lnTo>
                  <a:lnTo>
                    <a:pt x="36" y="129"/>
                  </a:lnTo>
                  <a:lnTo>
                    <a:pt x="44" y="120"/>
                  </a:lnTo>
                  <a:lnTo>
                    <a:pt x="47" y="107"/>
                  </a:lnTo>
                  <a:lnTo>
                    <a:pt x="49" y="94"/>
                  </a:lnTo>
                  <a:lnTo>
                    <a:pt x="39" y="84"/>
                  </a:lnTo>
                  <a:lnTo>
                    <a:pt x="30" y="73"/>
                  </a:lnTo>
                  <a:lnTo>
                    <a:pt x="27" y="55"/>
                  </a:lnTo>
                  <a:lnTo>
                    <a:pt x="31" y="42"/>
                  </a:lnTo>
                  <a:lnTo>
                    <a:pt x="36" y="39"/>
                  </a:lnTo>
                  <a:lnTo>
                    <a:pt x="37" y="39"/>
                  </a:lnTo>
                  <a:lnTo>
                    <a:pt x="32" y="24"/>
                  </a:lnTo>
                  <a:lnTo>
                    <a:pt x="27" y="6"/>
                  </a:lnTo>
                  <a:lnTo>
                    <a:pt x="21" y="3"/>
                  </a:lnTo>
                  <a:lnTo>
                    <a:pt x="6" y="0"/>
                  </a:lnTo>
                  <a:lnTo>
                    <a:pt x="7" y="4"/>
                  </a:lnTo>
                  <a:lnTo>
                    <a:pt x="17" y="18"/>
                  </a:lnTo>
                  <a:lnTo>
                    <a:pt x="13" y="25"/>
                  </a:lnTo>
                  <a:lnTo>
                    <a:pt x="12" y="39"/>
                  </a:lnTo>
                  <a:lnTo>
                    <a:pt x="11" y="53"/>
                  </a:lnTo>
                  <a:lnTo>
                    <a:pt x="8" y="58"/>
                  </a:lnTo>
                  <a:lnTo>
                    <a:pt x="0" y="75"/>
                  </a:lnTo>
                  <a:lnTo>
                    <a:pt x="7" y="83"/>
                  </a:lnTo>
                  <a:lnTo>
                    <a:pt x="13" y="90"/>
                  </a:lnTo>
                  <a:lnTo>
                    <a:pt x="23" y="90"/>
                  </a:lnTo>
                  <a:lnTo>
                    <a:pt x="29" y="9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7" name="Freeform 206"/>
            <p:cNvSpPr>
              <a:spLocks/>
            </p:cNvSpPr>
            <p:nvPr/>
          </p:nvSpPr>
          <p:spPr bwMode="auto">
            <a:xfrm>
              <a:off x="3060" y="2914"/>
              <a:ext cx="182" cy="327"/>
            </a:xfrm>
            <a:custGeom>
              <a:avLst/>
              <a:gdLst/>
              <a:ahLst/>
              <a:cxnLst>
                <a:cxn ang="0">
                  <a:pos x="66" y="172"/>
                </a:cxn>
                <a:cxn ang="0">
                  <a:pos x="72" y="166"/>
                </a:cxn>
                <a:cxn ang="0">
                  <a:pos x="102" y="136"/>
                </a:cxn>
                <a:cxn ang="0">
                  <a:pos x="130" y="119"/>
                </a:cxn>
                <a:cxn ang="0">
                  <a:pos x="162" y="84"/>
                </a:cxn>
                <a:cxn ang="0">
                  <a:pos x="165" y="71"/>
                </a:cxn>
                <a:cxn ang="0">
                  <a:pos x="165" y="38"/>
                </a:cxn>
                <a:cxn ang="0">
                  <a:pos x="165" y="0"/>
                </a:cxn>
                <a:cxn ang="0">
                  <a:pos x="147" y="9"/>
                </a:cxn>
                <a:cxn ang="0">
                  <a:pos x="123" y="17"/>
                </a:cxn>
                <a:cxn ang="0">
                  <a:pos x="93" y="18"/>
                </a:cxn>
                <a:cxn ang="0">
                  <a:pos x="76" y="20"/>
                </a:cxn>
                <a:cxn ang="0">
                  <a:pos x="67" y="36"/>
                </a:cxn>
                <a:cxn ang="0">
                  <a:pos x="79" y="65"/>
                </a:cxn>
                <a:cxn ang="0">
                  <a:pos x="87" y="88"/>
                </a:cxn>
                <a:cxn ang="0">
                  <a:pos x="76" y="110"/>
                </a:cxn>
                <a:cxn ang="0">
                  <a:pos x="70" y="108"/>
                </a:cxn>
                <a:cxn ang="0">
                  <a:pos x="69" y="78"/>
                </a:cxn>
                <a:cxn ang="0">
                  <a:pos x="53" y="71"/>
                </a:cxn>
                <a:cxn ang="0">
                  <a:pos x="35" y="69"/>
                </a:cxn>
                <a:cxn ang="0">
                  <a:pos x="12" y="78"/>
                </a:cxn>
                <a:cxn ang="0">
                  <a:pos x="3" y="93"/>
                </a:cxn>
                <a:cxn ang="0">
                  <a:pos x="10" y="99"/>
                </a:cxn>
                <a:cxn ang="0">
                  <a:pos x="41" y="112"/>
                </a:cxn>
                <a:cxn ang="0">
                  <a:pos x="37" y="149"/>
                </a:cxn>
                <a:cxn ang="0">
                  <a:pos x="34" y="182"/>
                </a:cxn>
                <a:cxn ang="0">
                  <a:pos x="21" y="206"/>
                </a:cxn>
                <a:cxn ang="0">
                  <a:pos x="13" y="227"/>
                </a:cxn>
                <a:cxn ang="0">
                  <a:pos x="17" y="260"/>
                </a:cxn>
                <a:cxn ang="0">
                  <a:pos x="19" y="294"/>
                </a:cxn>
                <a:cxn ang="0">
                  <a:pos x="31" y="282"/>
                </a:cxn>
                <a:cxn ang="0">
                  <a:pos x="46" y="263"/>
                </a:cxn>
                <a:cxn ang="0">
                  <a:pos x="72" y="248"/>
                </a:cxn>
                <a:cxn ang="0">
                  <a:pos x="75" y="225"/>
                </a:cxn>
                <a:cxn ang="0">
                  <a:pos x="73" y="214"/>
                </a:cxn>
                <a:cxn ang="0">
                  <a:pos x="69" y="184"/>
                </a:cxn>
              </a:cxnLst>
              <a:rect l="0" t="0" r="r" b="b"/>
              <a:pathLst>
                <a:path w="166" h="294">
                  <a:moveTo>
                    <a:pt x="69" y="184"/>
                  </a:moveTo>
                  <a:lnTo>
                    <a:pt x="66" y="172"/>
                  </a:lnTo>
                  <a:lnTo>
                    <a:pt x="66" y="166"/>
                  </a:lnTo>
                  <a:lnTo>
                    <a:pt x="72" y="166"/>
                  </a:lnTo>
                  <a:lnTo>
                    <a:pt x="90" y="152"/>
                  </a:lnTo>
                  <a:lnTo>
                    <a:pt x="102" y="136"/>
                  </a:lnTo>
                  <a:lnTo>
                    <a:pt x="115" y="128"/>
                  </a:lnTo>
                  <a:lnTo>
                    <a:pt x="130" y="119"/>
                  </a:lnTo>
                  <a:lnTo>
                    <a:pt x="149" y="107"/>
                  </a:lnTo>
                  <a:lnTo>
                    <a:pt x="162" y="84"/>
                  </a:lnTo>
                  <a:lnTo>
                    <a:pt x="166" y="71"/>
                  </a:lnTo>
                  <a:lnTo>
                    <a:pt x="165" y="71"/>
                  </a:lnTo>
                  <a:lnTo>
                    <a:pt x="162" y="46"/>
                  </a:lnTo>
                  <a:lnTo>
                    <a:pt x="165" y="38"/>
                  </a:lnTo>
                  <a:lnTo>
                    <a:pt x="163" y="12"/>
                  </a:lnTo>
                  <a:lnTo>
                    <a:pt x="165" y="0"/>
                  </a:lnTo>
                  <a:lnTo>
                    <a:pt x="163" y="0"/>
                  </a:lnTo>
                  <a:lnTo>
                    <a:pt x="147" y="9"/>
                  </a:lnTo>
                  <a:lnTo>
                    <a:pt x="131" y="16"/>
                  </a:lnTo>
                  <a:lnTo>
                    <a:pt x="123" y="17"/>
                  </a:lnTo>
                  <a:lnTo>
                    <a:pt x="111" y="22"/>
                  </a:lnTo>
                  <a:lnTo>
                    <a:pt x="93" y="18"/>
                  </a:lnTo>
                  <a:lnTo>
                    <a:pt x="83" y="20"/>
                  </a:lnTo>
                  <a:lnTo>
                    <a:pt x="76" y="20"/>
                  </a:lnTo>
                  <a:lnTo>
                    <a:pt x="71" y="23"/>
                  </a:lnTo>
                  <a:lnTo>
                    <a:pt x="67" y="36"/>
                  </a:lnTo>
                  <a:lnTo>
                    <a:pt x="70" y="54"/>
                  </a:lnTo>
                  <a:lnTo>
                    <a:pt x="79" y="65"/>
                  </a:lnTo>
                  <a:lnTo>
                    <a:pt x="89" y="75"/>
                  </a:lnTo>
                  <a:lnTo>
                    <a:pt x="87" y="88"/>
                  </a:lnTo>
                  <a:lnTo>
                    <a:pt x="84" y="101"/>
                  </a:lnTo>
                  <a:lnTo>
                    <a:pt x="76" y="110"/>
                  </a:lnTo>
                  <a:lnTo>
                    <a:pt x="77" y="119"/>
                  </a:lnTo>
                  <a:lnTo>
                    <a:pt x="70" y="108"/>
                  </a:lnTo>
                  <a:lnTo>
                    <a:pt x="63" y="96"/>
                  </a:lnTo>
                  <a:lnTo>
                    <a:pt x="69" y="78"/>
                  </a:lnTo>
                  <a:lnTo>
                    <a:pt x="63" y="71"/>
                  </a:lnTo>
                  <a:lnTo>
                    <a:pt x="53" y="71"/>
                  </a:lnTo>
                  <a:lnTo>
                    <a:pt x="47" y="64"/>
                  </a:lnTo>
                  <a:lnTo>
                    <a:pt x="35" y="69"/>
                  </a:lnTo>
                  <a:lnTo>
                    <a:pt x="23" y="74"/>
                  </a:lnTo>
                  <a:lnTo>
                    <a:pt x="12" y="78"/>
                  </a:lnTo>
                  <a:lnTo>
                    <a:pt x="0" y="83"/>
                  </a:lnTo>
                  <a:lnTo>
                    <a:pt x="3" y="93"/>
                  </a:lnTo>
                  <a:lnTo>
                    <a:pt x="3" y="100"/>
                  </a:lnTo>
                  <a:lnTo>
                    <a:pt x="10" y="99"/>
                  </a:lnTo>
                  <a:lnTo>
                    <a:pt x="25" y="106"/>
                  </a:lnTo>
                  <a:lnTo>
                    <a:pt x="41" y="112"/>
                  </a:lnTo>
                  <a:lnTo>
                    <a:pt x="41" y="134"/>
                  </a:lnTo>
                  <a:lnTo>
                    <a:pt x="37" y="149"/>
                  </a:lnTo>
                  <a:lnTo>
                    <a:pt x="40" y="166"/>
                  </a:lnTo>
                  <a:lnTo>
                    <a:pt x="34" y="182"/>
                  </a:lnTo>
                  <a:lnTo>
                    <a:pt x="30" y="196"/>
                  </a:lnTo>
                  <a:lnTo>
                    <a:pt x="21" y="206"/>
                  </a:lnTo>
                  <a:lnTo>
                    <a:pt x="11" y="215"/>
                  </a:lnTo>
                  <a:lnTo>
                    <a:pt x="13" y="227"/>
                  </a:lnTo>
                  <a:lnTo>
                    <a:pt x="17" y="240"/>
                  </a:lnTo>
                  <a:lnTo>
                    <a:pt x="17" y="260"/>
                  </a:lnTo>
                  <a:lnTo>
                    <a:pt x="17" y="278"/>
                  </a:lnTo>
                  <a:lnTo>
                    <a:pt x="19" y="294"/>
                  </a:lnTo>
                  <a:lnTo>
                    <a:pt x="30" y="294"/>
                  </a:lnTo>
                  <a:lnTo>
                    <a:pt x="31" y="282"/>
                  </a:lnTo>
                  <a:lnTo>
                    <a:pt x="27" y="279"/>
                  </a:lnTo>
                  <a:lnTo>
                    <a:pt x="46" y="263"/>
                  </a:lnTo>
                  <a:lnTo>
                    <a:pt x="59" y="256"/>
                  </a:lnTo>
                  <a:lnTo>
                    <a:pt x="72" y="248"/>
                  </a:lnTo>
                  <a:lnTo>
                    <a:pt x="72" y="240"/>
                  </a:lnTo>
                  <a:lnTo>
                    <a:pt x="75" y="225"/>
                  </a:lnTo>
                  <a:lnTo>
                    <a:pt x="76" y="209"/>
                  </a:lnTo>
                  <a:lnTo>
                    <a:pt x="73" y="214"/>
                  </a:lnTo>
                  <a:lnTo>
                    <a:pt x="70" y="200"/>
                  </a:lnTo>
                  <a:lnTo>
                    <a:pt x="69" y="18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8" name="Freeform 207"/>
            <p:cNvSpPr>
              <a:spLocks/>
            </p:cNvSpPr>
            <p:nvPr/>
          </p:nvSpPr>
          <p:spPr bwMode="auto">
            <a:xfrm>
              <a:off x="2811" y="3147"/>
              <a:ext cx="282" cy="251"/>
            </a:xfrm>
            <a:custGeom>
              <a:avLst/>
              <a:gdLst/>
              <a:ahLst/>
              <a:cxnLst>
                <a:cxn ang="0">
                  <a:pos x="55" y="64"/>
                </a:cxn>
                <a:cxn ang="0">
                  <a:pos x="53" y="98"/>
                </a:cxn>
                <a:cxn ang="0">
                  <a:pos x="37" y="120"/>
                </a:cxn>
                <a:cxn ang="0">
                  <a:pos x="8" y="106"/>
                </a:cxn>
                <a:cxn ang="0">
                  <a:pos x="7" y="132"/>
                </a:cxn>
                <a:cxn ang="0">
                  <a:pos x="19" y="165"/>
                </a:cxn>
                <a:cxn ang="0">
                  <a:pos x="19" y="190"/>
                </a:cxn>
                <a:cxn ang="0">
                  <a:pos x="25" y="216"/>
                </a:cxn>
                <a:cxn ang="0">
                  <a:pos x="38" y="221"/>
                </a:cxn>
                <a:cxn ang="0">
                  <a:pos x="64" y="221"/>
                </a:cxn>
                <a:cxn ang="0">
                  <a:pos x="96" y="215"/>
                </a:cxn>
                <a:cxn ang="0">
                  <a:pos x="133" y="212"/>
                </a:cxn>
                <a:cxn ang="0">
                  <a:pos x="160" y="198"/>
                </a:cxn>
                <a:cxn ang="0">
                  <a:pos x="186" y="179"/>
                </a:cxn>
                <a:cxn ang="0">
                  <a:pos x="205" y="158"/>
                </a:cxn>
                <a:cxn ang="0">
                  <a:pos x="227" y="134"/>
                </a:cxn>
                <a:cxn ang="0">
                  <a:pos x="246" y="101"/>
                </a:cxn>
                <a:cxn ang="0">
                  <a:pos x="242" y="84"/>
                </a:cxn>
                <a:cxn ang="0">
                  <a:pos x="223" y="87"/>
                </a:cxn>
                <a:cxn ang="0">
                  <a:pos x="232" y="64"/>
                </a:cxn>
                <a:cxn ang="0">
                  <a:pos x="240" y="50"/>
                </a:cxn>
                <a:cxn ang="0">
                  <a:pos x="236" y="17"/>
                </a:cxn>
                <a:cxn ang="0">
                  <a:pos x="218" y="3"/>
                </a:cxn>
                <a:cxn ang="0">
                  <a:pos x="202" y="0"/>
                </a:cxn>
                <a:cxn ang="0">
                  <a:pos x="166" y="28"/>
                </a:cxn>
                <a:cxn ang="0">
                  <a:pos x="148" y="50"/>
                </a:cxn>
                <a:cxn ang="0">
                  <a:pos x="115" y="62"/>
                </a:cxn>
                <a:cxn ang="0">
                  <a:pos x="95" y="69"/>
                </a:cxn>
                <a:cxn ang="0">
                  <a:pos x="71" y="83"/>
                </a:cxn>
                <a:cxn ang="0">
                  <a:pos x="67" y="64"/>
                </a:cxn>
                <a:cxn ang="0">
                  <a:pos x="176" y="120"/>
                </a:cxn>
                <a:cxn ang="0">
                  <a:pos x="172" y="152"/>
                </a:cxn>
                <a:cxn ang="0">
                  <a:pos x="193" y="136"/>
                </a:cxn>
                <a:cxn ang="0">
                  <a:pos x="182" y="117"/>
                </a:cxn>
                <a:cxn ang="0">
                  <a:pos x="56" y="47"/>
                </a:cxn>
              </a:cxnLst>
              <a:rect l="0" t="0" r="r" b="b"/>
              <a:pathLst>
                <a:path w="253" h="226">
                  <a:moveTo>
                    <a:pt x="56" y="47"/>
                  </a:moveTo>
                  <a:lnTo>
                    <a:pt x="55" y="64"/>
                  </a:lnTo>
                  <a:lnTo>
                    <a:pt x="54" y="81"/>
                  </a:lnTo>
                  <a:lnTo>
                    <a:pt x="53" y="98"/>
                  </a:lnTo>
                  <a:lnTo>
                    <a:pt x="50" y="114"/>
                  </a:lnTo>
                  <a:lnTo>
                    <a:pt x="37" y="120"/>
                  </a:lnTo>
                  <a:lnTo>
                    <a:pt x="14" y="117"/>
                  </a:lnTo>
                  <a:lnTo>
                    <a:pt x="8" y="106"/>
                  </a:lnTo>
                  <a:lnTo>
                    <a:pt x="0" y="116"/>
                  </a:lnTo>
                  <a:lnTo>
                    <a:pt x="7" y="132"/>
                  </a:lnTo>
                  <a:lnTo>
                    <a:pt x="13" y="148"/>
                  </a:lnTo>
                  <a:lnTo>
                    <a:pt x="19" y="165"/>
                  </a:lnTo>
                  <a:lnTo>
                    <a:pt x="25" y="182"/>
                  </a:lnTo>
                  <a:lnTo>
                    <a:pt x="19" y="190"/>
                  </a:lnTo>
                  <a:lnTo>
                    <a:pt x="20" y="198"/>
                  </a:lnTo>
                  <a:lnTo>
                    <a:pt x="25" y="216"/>
                  </a:lnTo>
                  <a:lnTo>
                    <a:pt x="30" y="216"/>
                  </a:lnTo>
                  <a:lnTo>
                    <a:pt x="38" y="221"/>
                  </a:lnTo>
                  <a:lnTo>
                    <a:pt x="48" y="226"/>
                  </a:lnTo>
                  <a:lnTo>
                    <a:pt x="64" y="221"/>
                  </a:lnTo>
                  <a:lnTo>
                    <a:pt x="80" y="215"/>
                  </a:lnTo>
                  <a:lnTo>
                    <a:pt x="96" y="215"/>
                  </a:lnTo>
                  <a:lnTo>
                    <a:pt x="113" y="214"/>
                  </a:lnTo>
                  <a:lnTo>
                    <a:pt x="133" y="212"/>
                  </a:lnTo>
                  <a:lnTo>
                    <a:pt x="143" y="208"/>
                  </a:lnTo>
                  <a:lnTo>
                    <a:pt x="160" y="198"/>
                  </a:lnTo>
                  <a:lnTo>
                    <a:pt x="176" y="189"/>
                  </a:lnTo>
                  <a:lnTo>
                    <a:pt x="186" y="179"/>
                  </a:lnTo>
                  <a:lnTo>
                    <a:pt x="196" y="168"/>
                  </a:lnTo>
                  <a:lnTo>
                    <a:pt x="205" y="158"/>
                  </a:lnTo>
                  <a:lnTo>
                    <a:pt x="216" y="147"/>
                  </a:lnTo>
                  <a:lnTo>
                    <a:pt x="227" y="134"/>
                  </a:lnTo>
                  <a:lnTo>
                    <a:pt x="239" y="119"/>
                  </a:lnTo>
                  <a:lnTo>
                    <a:pt x="246" y="101"/>
                  </a:lnTo>
                  <a:lnTo>
                    <a:pt x="253" y="84"/>
                  </a:lnTo>
                  <a:lnTo>
                    <a:pt x="242" y="84"/>
                  </a:lnTo>
                  <a:lnTo>
                    <a:pt x="239" y="92"/>
                  </a:lnTo>
                  <a:lnTo>
                    <a:pt x="223" y="87"/>
                  </a:lnTo>
                  <a:lnTo>
                    <a:pt x="224" y="74"/>
                  </a:lnTo>
                  <a:lnTo>
                    <a:pt x="232" y="64"/>
                  </a:lnTo>
                  <a:lnTo>
                    <a:pt x="240" y="68"/>
                  </a:lnTo>
                  <a:lnTo>
                    <a:pt x="240" y="50"/>
                  </a:lnTo>
                  <a:lnTo>
                    <a:pt x="240" y="30"/>
                  </a:lnTo>
                  <a:lnTo>
                    <a:pt x="236" y="17"/>
                  </a:lnTo>
                  <a:lnTo>
                    <a:pt x="234" y="5"/>
                  </a:lnTo>
                  <a:lnTo>
                    <a:pt x="218" y="3"/>
                  </a:lnTo>
                  <a:lnTo>
                    <a:pt x="204" y="0"/>
                  </a:lnTo>
                  <a:lnTo>
                    <a:pt x="202" y="0"/>
                  </a:lnTo>
                  <a:lnTo>
                    <a:pt x="181" y="14"/>
                  </a:lnTo>
                  <a:lnTo>
                    <a:pt x="166" y="28"/>
                  </a:lnTo>
                  <a:lnTo>
                    <a:pt x="157" y="44"/>
                  </a:lnTo>
                  <a:lnTo>
                    <a:pt x="148" y="50"/>
                  </a:lnTo>
                  <a:lnTo>
                    <a:pt x="139" y="64"/>
                  </a:lnTo>
                  <a:lnTo>
                    <a:pt x="115" y="62"/>
                  </a:lnTo>
                  <a:lnTo>
                    <a:pt x="103" y="57"/>
                  </a:lnTo>
                  <a:lnTo>
                    <a:pt x="95" y="69"/>
                  </a:lnTo>
                  <a:lnTo>
                    <a:pt x="88" y="81"/>
                  </a:lnTo>
                  <a:lnTo>
                    <a:pt x="71" y="83"/>
                  </a:lnTo>
                  <a:lnTo>
                    <a:pt x="65" y="81"/>
                  </a:lnTo>
                  <a:lnTo>
                    <a:pt x="67" y="64"/>
                  </a:lnTo>
                  <a:lnTo>
                    <a:pt x="56" y="47"/>
                  </a:lnTo>
                  <a:lnTo>
                    <a:pt x="176" y="120"/>
                  </a:lnTo>
                  <a:lnTo>
                    <a:pt x="161" y="136"/>
                  </a:lnTo>
                  <a:lnTo>
                    <a:pt x="172" y="152"/>
                  </a:lnTo>
                  <a:lnTo>
                    <a:pt x="178" y="147"/>
                  </a:lnTo>
                  <a:lnTo>
                    <a:pt x="193" y="136"/>
                  </a:lnTo>
                  <a:lnTo>
                    <a:pt x="196" y="124"/>
                  </a:lnTo>
                  <a:lnTo>
                    <a:pt x="182" y="117"/>
                  </a:lnTo>
                  <a:lnTo>
                    <a:pt x="176" y="120"/>
                  </a:lnTo>
                  <a:lnTo>
                    <a:pt x="56" y="47"/>
                  </a:lnTo>
                  <a:close/>
                </a:path>
              </a:pathLst>
            </a:custGeom>
            <a:grpFill/>
            <a:ln w="3175" cmpd="sng">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9" name="Freeform 208"/>
            <p:cNvSpPr>
              <a:spLocks/>
            </p:cNvSpPr>
            <p:nvPr/>
          </p:nvSpPr>
          <p:spPr bwMode="auto">
            <a:xfrm>
              <a:off x="2811" y="3147"/>
              <a:ext cx="282" cy="251"/>
            </a:xfrm>
            <a:custGeom>
              <a:avLst/>
              <a:gdLst/>
              <a:ahLst/>
              <a:cxnLst>
                <a:cxn ang="0">
                  <a:pos x="56" y="47"/>
                </a:cxn>
                <a:cxn ang="0">
                  <a:pos x="55" y="64"/>
                </a:cxn>
                <a:cxn ang="0">
                  <a:pos x="54" y="81"/>
                </a:cxn>
                <a:cxn ang="0">
                  <a:pos x="53" y="98"/>
                </a:cxn>
                <a:cxn ang="0">
                  <a:pos x="50" y="114"/>
                </a:cxn>
                <a:cxn ang="0">
                  <a:pos x="37" y="120"/>
                </a:cxn>
                <a:cxn ang="0">
                  <a:pos x="14" y="117"/>
                </a:cxn>
                <a:cxn ang="0">
                  <a:pos x="8" y="106"/>
                </a:cxn>
                <a:cxn ang="0">
                  <a:pos x="0" y="116"/>
                </a:cxn>
                <a:cxn ang="0">
                  <a:pos x="7" y="132"/>
                </a:cxn>
                <a:cxn ang="0">
                  <a:pos x="13" y="148"/>
                </a:cxn>
                <a:cxn ang="0">
                  <a:pos x="19" y="165"/>
                </a:cxn>
                <a:cxn ang="0">
                  <a:pos x="25" y="182"/>
                </a:cxn>
                <a:cxn ang="0">
                  <a:pos x="19" y="190"/>
                </a:cxn>
                <a:cxn ang="0">
                  <a:pos x="20" y="198"/>
                </a:cxn>
                <a:cxn ang="0">
                  <a:pos x="25" y="216"/>
                </a:cxn>
                <a:cxn ang="0">
                  <a:pos x="30" y="216"/>
                </a:cxn>
                <a:cxn ang="0">
                  <a:pos x="38" y="221"/>
                </a:cxn>
                <a:cxn ang="0">
                  <a:pos x="48" y="226"/>
                </a:cxn>
                <a:cxn ang="0">
                  <a:pos x="64" y="221"/>
                </a:cxn>
                <a:cxn ang="0">
                  <a:pos x="80" y="215"/>
                </a:cxn>
                <a:cxn ang="0">
                  <a:pos x="96" y="215"/>
                </a:cxn>
                <a:cxn ang="0">
                  <a:pos x="113" y="214"/>
                </a:cxn>
                <a:cxn ang="0">
                  <a:pos x="133" y="212"/>
                </a:cxn>
                <a:cxn ang="0">
                  <a:pos x="143" y="208"/>
                </a:cxn>
                <a:cxn ang="0">
                  <a:pos x="160" y="198"/>
                </a:cxn>
                <a:cxn ang="0">
                  <a:pos x="176" y="189"/>
                </a:cxn>
                <a:cxn ang="0">
                  <a:pos x="186" y="179"/>
                </a:cxn>
                <a:cxn ang="0">
                  <a:pos x="196" y="168"/>
                </a:cxn>
                <a:cxn ang="0">
                  <a:pos x="205" y="158"/>
                </a:cxn>
                <a:cxn ang="0">
                  <a:pos x="216" y="147"/>
                </a:cxn>
                <a:cxn ang="0">
                  <a:pos x="227" y="134"/>
                </a:cxn>
                <a:cxn ang="0">
                  <a:pos x="239" y="119"/>
                </a:cxn>
                <a:cxn ang="0">
                  <a:pos x="246" y="101"/>
                </a:cxn>
                <a:cxn ang="0">
                  <a:pos x="253" y="84"/>
                </a:cxn>
                <a:cxn ang="0">
                  <a:pos x="242" y="84"/>
                </a:cxn>
                <a:cxn ang="0">
                  <a:pos x="239" y="92"/>
                </a:cxn>
                <a:cxn ang="0">
                  <a:pos x="223" y="87"/>
                </a:cxn>
                <a:cxn ang="0">
                  <a:pos x="224" y="74"/>
                </a:cxn>
                <a:cxn ang="0">
                  <a:pos x="232" y="64"/>
                </a:cxn>
                <a:cxn ang="0">
                  <a:pos x="240" y="68"/>
                </a:cxn>
                <a:cxn ang="0">
                  <a:pos x="240" y="50"/>
                </a:cxn>
                <a:cxn ang="0">
                  <a:pos x="240" y="30"/>
                </a:cxn>
                <a:cxn ang="0">
                  <a:pos x="236" y="17"/>
                </a:cxn>
                <a:cxn ang="0">
                  <a:pos x="234" y="5"/>
                </a:cxn>
                <a:cxn ang="0">
                  <a:pos x="218" y="3"/>
                </a:cxn>
                <a:cxn ang="0">
                  <a:pos x="204" y="0"/>
                </a:cxn>
                <a:cxn ang="0">
                  <a:pos x="202" y="0"/>
                </a:cxn>
                <a:cxn ang="0">
                  <a:pos x="181" y="14"/>
                </a:cxn>
                <a:cxn ang="0">
                  <a:pos x="166" y="28"/>
                </a:cxn>
                <a:cxn ang="0">
                  <a:pos x="157" y="44"/>
                </a:cxn>
                <a:cxn ang="0">
                  <a:pos x="148" y="50"/>
                </a:cxn>
                <a:cxn ang="0">
                  <a:pos x="139" y="64"/>
                </a:cxn>
                <a:cxn ang="0">
                  <a:pos x="115" y="62"/>
                </a:cxn>
                <a:cxn ang="0">
                  <a:pos x="103" y="57"/>
                </a:cxn>
                <a:cxn ang="0">
                  <a:pos x="95" y="69"/>
                </a:cxn>
                <a:cxn ang="0">
                  <a:pos x="88" y="81"/>
                </a:cxn>
                <a:cxn ang="0">
                  <a:pos x="71" y="83"/>
                </a:cxn>
                <a:cxn ang="0">
                  <a:pos x="65" y="81"/>
                </a:cxn>
                <a:cxn ang="0">
                  <a:pos x="67" y="64"/>
                </a:cxn>
                <a:cxn ang="0">
                  <a:pos x="56" y="47"/>
                </a:cxn>
              </a:cxnLst>
              <a:rect l="0" t="0" r="r" b="b"/>
              <a:pathLst>
                <a:path w="253" h="226">
                  <a:moveTo>
                    <a:pt x="56" y="47"/>
                  </a:moveTo>
                  <a:lnTo>
                    <a:pt x="55" y="64"/>
                  </a:lnTo>
                  <a:lnTo>
                    <a:pt x="54" y="81"/>
                  </a:lnTo>
                  <a:lnTo>
                    <a:pt x="53" y="98"/>
                  </a:lnTo>
                  <a:lnTo>
                    <a:pt x="50" y="114"/>
                  </a:lnTo>
                  <a:lnTo>
                    <a:pt x="37" y="120"/>
                  </a:lnTo>
                  <a:lnTo>
                    <a:pt x="14" y="117"/>
                  </a:lnTo>
                  <a:lnTo>
                    <a:pt x="8" y="106"/>
                  </a:lnTo>
                  <a:lnTo>
                    <a:pt x="0" y="116"/>
                  </a:lnTo>
                  <a:lnTo>
                    <a:pt x="7" y="132"/>
                  </a:lnTo>
                  <a:lnTo>
                    <a:pt x="13" y="148"/>
                  </a:lnTo>
                  <a:lnTo>
                    <a:pt x="19" y="165"/>
                  </a:lnTo>
                  <a:lnTo>
                    <a:pt x="25" y="182"/>
                  </a:lnTo>
                  <a:lnTo>
                    <a:pt x="19" y="190"/>
                  </a:lnTo>
                  <a:lnTo>
                    <a:pt x="20" y="198"/>
                  </a:lnTo>
                  <a:lnTo>
                    <a:pt x="25" y="216"/>
                  </a:lnTo>
                  <a:lnTo>
                    <a:pt x="30" y="216"/>
                  </a:lnTo>
                  <a:lnTo>
                    <a:pt x="38" y="221"/>
                  </a:lnTo>
                  <a:lnTo>
                    <a:pt x="48" y="226"/>
                  </a:lnTo>
                  <a:lnTo>
                    <a:pt x="64" y="221"/>
                  </a:lnTo>
                  <a:lnTo>
                    <a:pt x="80" y="215"/>
                  </a:lnTo>
                  <a:lnTo>
                    <a:pt x="96" y="215"/>
                  </a:lnTo>
                  <a:lnTo>
                    <a:pt x="113" y="214"/>
                  </a:lnTo>
                  <a:lnTo>
                    <a:pt x="133" y="212"/>
                  </a:lnTo>
                  <a:lnTo>
                    <a:pt x="143" y="208"/>
                  </a:lnTo>
                  <a:lnTo>
                    <a:pt x="160" y="198"/>
                  </a:lnTo>
                  <a:lnTo>
                    <a:pt x="176" y="189"/>
                  </a:lnTo>
                  <a:lnTo>
                    <a:pt x="186" y="179"/>
                  </a:lnTo>
                  <a:lnTo>
                    <a:pt x="196" y="168"/>
                  </a:lnTo>
                  <a:lnTo>
                    <a:pt x="205" y="158"/>
                  </a:lnTo>
                  <a:lnTo>
                    <a:pt x="216" y="147"/>
                  </a:lnTo>
                  <a:lnTo>
                    <a:pt x="227" y="134"/>
                  </a:lnTo>
                  <a:lnTo>
                    <a:pt x="239" y="119"/>
                  </a:lnTo>
                  <a:lnTo>
                    <a:pt x="246" y="101"/>
                  </a:lnTo>
                  <a:lnTo>
                    <a:pt x="253" y="84"/>
                  </a:lnTo>
                  <a:lnTo>
                    <a:pt x="242" y="84"/>
                  </a:lnTo>
                  <a:lnTo>
                    <a:pt x="239" y="92"/>
                  </a:lnTo>
                  <a:lnTo>
                    <a:pt x="223" y="87"/>
                  </a:lnTo>
                  <a:lnTo>
                    <a:pt x="224" y="74"/>
                  </a:lnTo>
                  <a:lnTo>
                    <a:pt x="232" y="64"/>
                  </a:lnTo>
                  <a:lnTo>
                    <a:pt x="240" y="68"/>
                  </a:lnTo>
                  <a:lnTo>
                    <a:pt x="240" y="50"/>
                  </a:lnTo>
                  <a:lnTo>
                    <a:pt x="240" y="30"/>
                  </a:lnTo>
                  <a:lnTo>
                    <a:pt x="236" y="17"/>
                  </a:lnTo>
                  <a:lnTo>
                    <a:pt x="234" y="5"/>
                  </a:lnTo>
                  <a:lnTo>
                    <a:pt x="218" y="3"/>
                  </a:lnTo>
                  <a:lnTo>
                    <a:pt x="204" y="0"/>
                  </a:lnTo>
                  <a:lnTo>
                    <a:pt x="202" y="0"/>
                  </a:lnTo>
                  <a:lnTo>
                    <a:pt x="181" y="14"/>
                  </a:lnTo>
                  <a:lnTo>
                    <a:pt x="166" y="28"/>
                  </a:lnTo>
                  <a:lnTo>
                    <a:pt x="157" y="44"/>
                  </a:lnTo>
                  <a:lnTo>
                    <a:pt x="148" y="50"/>
                  </a:lnTo>
                  <a:lnTo>
                    <a:pt x="139" y="64"/>
                  </a:lnTo>
                  <a:lnTo>
                    <a:pt x="115" y="62"/>
                  </a:lnTo>
                  <a:lnTo>
                    <a:pt x="103" y="57"/>
                  </a:lnTo>
                  <a:lnTo>
                    <a:pt x="95" y="69"/>
                  </a:lnTo>
                  <a:lnTo>
                    <a:pt x="88" y="81"/>
                  </a:lnTo>
                  <a:lnTo>
                    <a:pt x="71" y="83"/>
                  </a:lnTo>
                  <a:lnTo>
                    <a:pt x="65" y="81"/>
                  </a:lnTo>
                  <a:lnTo>
                    <a:pt x="67" y="64"/>
                  </a:lnTo>
                  <a:lnTo>
                    <a:pt x="56" y="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0" name="Freeform 209"/>
            <p:cNvSpPr>
              <a:spLocks/>
            </p:cNvSpPr>
            <p:nvPr/>
          </p:nvSpPr>
          <p:spPr bwMode="auto">
            <a:xfrm>
              <a:off x="2989" y="3276"/>
              <a:ext cx="40" cy="40"/>
            </a:xfrm>
            <a:custGeom>
              <a:avLst/>
              <a:gdLst/>
              <a:ahLst/>
              <a:cxnLst>
                <a:cxn ang="0">
                  <a:pos x="15" y="3"/>
                </a:cxn>
                <a:cxn ang="0">
                  <a:pos x="0" y="19"/>
                </a:cxn>
                <a:cxn ang="0">
                  <a:pos x="11" y="35"/>
                </a:cxn>
                <a:cxn ang="0">
                  <a:pos x="17" y="30"/>
                </a:cxn>
                <a:cxn ang="0">
                  <a:pos x="32" y="19"/>
                </a:cxn>
                <a:cxn ang="0">
                  <a:pos x="35" y="7"/>
                </a:cxn>
                <a:cxn ang="0">
                  <a:pos x="21" y="0"/>
                </a:cxn>
                <a:cxn ang="0">
                  <a:pos x="15" y="3"/>
                </a:cxn>
              </a:cxnLst>
              <a:rect l="0" t="0" r="r" b="b"/>
              <a:pathLst>
                <a:path w="35" h="35">
                  <a:moveTo>
                    <a:pt x="15" y="3"/>
                  </a:moveTo>
                  <a:lnTo>
                    <a:pt x="0" y="19"/>
                  </a:lnTo>
                  <a:lnTo>
                    <a:pt x="11" y="35"/>
                  </a:lnTo>
                  <a:lnTo>
                    <a:pt x="17" y="30"/>
                  </a:lnTo>
                  <a:lnTo>
                    <a:pt x="32" y="19"/>
                  </a:lnTo>
                  <a:lnTo>
                    <a:pt x="35" y="7"/>
                  </a:lnTo>
                  <a:lnTo>
                    <a:pt x="21" y="0"/>
                  </a:lnTo>
                  <a:lnTo>
                    <a:pt x="1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1" name="Freeform 210"/>
            <p:cNvSpPr>
              <a:spLocks/>
            </p:cNvSpPr>
            <p:nvPr/>
          </p:nvSpPr>
          <p:spPr bwMode="auto">
            <a:xfrm>
              <a:off x="2780" y="3156"/>
              <a:ext cx="2" cy="11"/>
            </a:xfrm>
            <a:custGeom>
              <a:avLst/>
              <a:gdLst/>
              <a:ahLst/>
              <a:cxnLst>
                <a:cxn ang="0">
                  <a:pos x="3" y="9"/>
                </a:cxn>
                <a:cxn ang="0">
                  <a:pos x="0" y="8"/>
                </a:cxn>
                <a:cxn ang="0">
                  <a:pos x="2" y="0"/>
                </a:cxn>
                <a:cxn ang="0">
                  <a:pos x="3" y="9"/>
                </a:cxn>
              </a:cxnLst>
              <a:rect l="0" t="0" r="r" b="b"/>
              <a:pathLst>
                <a:path w="3" h="9">
                  <a:moveTo>
                    <a:pt x="3" y="9"/>
                  </a:moveTo>
                  <a:lnTo>
                    <a:pt x="0" y="8"/>
                  </a:lnTo>
                  <a:lnTo>
                    <a:pt x="2" y="0"/>
                  </a:lnTo>
                  <a:lnTo>
                    <a:pt x="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2" name="Freeform 211"/>
            <p:cNvSpPr>
              <a:spLocks/>
            </p:cNvSpPr>
            <p:nvPr/>
          </p:nvSpPr>
          <p:spPr bwMode="auto">
            <a:xfrm>
              <a:off x="3060" y="3218"/>
              <a:ext cx="20" cy="32"/>
            </a:xfrm>
            <a:custGeom>
              <a:avLst/>
              <a:gdLst/>
              <a:ahLst/>
              <a:cxnLst>
                <a:cxn ang="0">
                  <a:pos x="9" y="0"/>
                </a:cxn>
                <a:cxn ang="0">
                  <a:pos x="1" y="10"/>
                </a:cxn>
                <a:cxn ang="0">
                  <a:pos x="0" y="23"/>
                </a:cxn>
                <a:cxn ang="0">
                  <a:pos x="16" y="28"/>
                </a:cxn>
                <a:cxn ang="0">
                  <a:pos x="19" y="20"/>
                </a:cxn>
                <a:cxn ang="0">
                  <a:pos x="17" y="4"/>
                </a:cxn>
                <a:cxn ang="0">
                  <a:pos x="9" y="0"/>
                </a:cxn>
              </a:cxnLst>
              <a:rect l="0" t="0" r="r" b="b"/>
              <a:pathLst>
                <a:path w="19" h="28">
                  <a:moveTo>
                    <a:pt x="9" y="0"/>
                  </a:moveTo>
                  <a:lnTo>
                    <a:pt x="1" y="10"/>
                  </a:lnTo>
                  <a:lnTo>
                    <a:pt x="0" y="23"/>
                  </a:lnTo>
                  <a:lnTo>
                    <a:pt x="16" y="28"/>
                  </a:lnTo>
                  <a:lnTo>
                    <a:pt x="19" y="20"/>
                  </a:lnTo>
                  <a:lnTo>
                    <a:pt x="17" y="4"/>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3" name="Freeform 212"/>
            <p:cNvSpPr>
              <a:spLocks/>
            </p:cNvSpPr>
            <p:nvPr/>
          </p:nvSpPr>
          <p:spPr bwMode="auto">
            <a:xfrm>
              <a:off x="2736" y="2823"/>
              <a:ext cx="215" cy="240"/>
            </a:xfrm>
            <a:custGeom>
              <a:avLst/>
              <a:gdLst/>
              <a:ahLst/>
              <a:cxnLst>
                <a:cxn ang="0">
                  <a:pos x="193" y="127"/>
                </a:cxn>
                <a:cxn ang="0">
                  <a:pos x="177" y="127"/>
                </a:cxn>
                <a:cxn ang="0">
                  <a:pos x="162" y="128"/>
                </a:cxn>
                <a:cxn ang="0">
                  <a:pos x="161" y="141"/>
                </a:cxn>
                <a:cxn ang="0">
                  <a:pos x="161" y="156"/>
                </a:cxn>
                <a:cxn ang="0">
                  <a:pos x="161" y="170"/>
                </a:cxn>
                <a:cxn ang="0">
                  <a:pos x="161" y="184"/>
                </a:cxn>
                <a:cxn ang="0">
                  <a:pos x="171" y="198"/>
                </a:cxn>
                <a:cxn ang="0">
                  <a:pos x="182" y="211"/>
                </a:cxn>
                <a:cxn ang="0">
                  <a:pos x="158" y="213"/>
                </a:cxn>
                <a:cxn ang="0">
                  <a:pos x="135" y="217"/>
                </a:cxn>
                <a:cxn ang="0">
                  <a:pos x="120" y="213"/>
                </a:cxn>
                <a:cxn ang="0">
                  <a:pos x="105" y="210"/>
                </a:cxn>
                <a:cxn ang="0">
                  <a:pos x="103" y="206"/>
                </a:cxn>
                <a:cxn ang="0">
                  <a:pos x="85" y="206"/>
                </a:cxn>
                <a:cxn ang="0">
                  <a:pos x="67" y="205"/>
                </a:cxn>
                <a:cxn ang="0">
                  <a:pos x="49" y="205"/>
                </a:cxn>
                <a:cxn ang="0">
                  <a:pos x="30" y="204"/>
                </a:cxn>
                <a:cxn ang="0">
                  <a:pos x="19" y="199"/>
                </a:cxn>
                <a:cxn ang="0">
                  <a:pos x="0" y="204"/>
                </a:cxn>
                <a:cxn ang="0">
                  <a:pos x="1" y="189"/>
                </a:cxn>
                <a:cxn ang="0">
                  <a:pos x="2" y="175"/>
                </a:cxn>
                <a:cxn ang="0">
                  <a:pos x="9" y="153"/>
                </a:cxn>
                <a:cxn ang="0">
                  <a:pos x="17" y="130"/>
                </a:cxn>
                <a:cxn ang="0">
                  <a:pos x="25" y="118"/>
                </a:cxn>
                <a:cxn ang="0">
                  <a:pos x="32" y="106"/>
                </a:cxn>
                <a:cxn ang="0">
                  <a:pos x="30" y="82"/>
                </a:cxn>
                <a:cxn ang="0">
                  <a:pos x="25" y="68"/>
                </a:cxn>
                <a:cxn ang="0">
                  <a:pos x="21" y="55"/>
                </a:cxn>
                <a:cxn ang="0">
                  <a:pos x="26" y="46"/>
                </a:cxn>
                <a:cxn ang="0">
                  <a:pos x="19" y="25"/>
                </a:cxn>
                <a:cxn ang="0">
                  <a:pos x="11" y="3"/>
                </a:cxn>
                <a:cxn ang="0">
                  <a:pos x="24" y="0"/>
                </a:cxn>
                <a:cxn ang="0">
                  <a:pos x="37" y="0"/>
                </a:cxn>
                <a:cxn ang="0">
                  <a:pos x="51" y="1"/>
                </a:cxn>
                <a:cxn ang="0">
                  <a:pos x="65" y="1"/>
                </a:cxn>
                <a:cxn ang="0">
                  <a:pos x="78" y="2"/>
                </a:cxn>
                <a:cxn ang="0">
                  <a:pos x="84" y="19"/>
                </a:cxn>
                <a:cxn ang="0">
                  <a:pos x="91" y="36"/>
                </a:cxn>
                <a:cxn ang="0">
                  <a:pos x="102" y="39"/>
                </a:cxn>
                <a:cxn ang="0">
                  <a:pos x="121" y="36"/>
                </a:cxn>
                <a:cxn ang="0">
                  <a:pos x="125" y="20"/>
                </a:cxn>
                <a:cxn ang="0">
                  <a:pos x="140" y="21"/>
                </a:cxn>
                <a:cxn ang="0">
                  <a:pos x="140" y="25"/>
                </a:cxn>
                <a:cxn ang="0">
                  <a:pos x="161" y="28"/>
                </a:cxn>
                <a:cxn ang="0">
                  <a:pos x="162" y="49"/>
                </a:cxn>
                <a:cxn ang="0">
                  <a:pos x="162" y="69"/>
                </a:cxn>
                <a:cxn ang="0">
                  <a:pos x="167" y="87"/>
                </a:cxn>
                <a:cxn ang="0">
                  <a:pos x="168" y="94"/>
                </a:cxn>
                <a:cxn ang="0">
                  <a:pos x="181" y="92"/>
                </a:cxn>
                <a:cxn ang="0">
                  <a:pos x="193" y="90"/>
                </a:cxn>
                <a:cxn ang="0">
                  <a:pos x="193" y="108"/>
                </a:cxn>
                <a:cxn ang="0">
                  <a:pos x="193" y="127"/>
                </a:cxn>
              </a:cxnLst>
              <a:rect l="0" t="0" r="r" b="b"/>
              <a:pathLst>
                <a:path w="193" h="217">
                  <a:moveTo>
                    <a:pt x="193" y="127"/>
                  </a:moveTo>
                  <a:lnTo>
                    <a:pt x="177" y="127"/>
                  </a:lnTo>
                  <a:lnTo>
                    <a:pt x="162" y="128"/>
                  </a:lnTo>
                  <a:lnTo>
                    <a:pt x="161" y="141"/>
                  </a:lnTo>
                  <a:lnTo>
                    <a:pt x="161" y="156"/>
                  </a:lnTo>
                  <a:lnTo>
                    <a:pt x="161" y="170"/>
                  </a:lnTo>
                  <a:lnTo>
                    <a:pt x="161" y="184"/>
                  </a:lnTo>
                  <a:lnTo>
                    <a:pt x="171" y="198"/>
                  </a:lnTo>
                  <a:lnTo>
                    <a:pt x="182" y="211"/>
                  </a:lnTo>
                  <a:lnTo>
                    <a:pt x="158" y="213"/>
                  </a:lnTo>
                  <a:lnTo>
                    <a:pt x="135" y="217"/>
                  </a:lnTo>
                  <a:lnTo>
                    <a:pt x="120" y="213"/>
                  </a:lnTo>
                  <a:lnTo>
                    <a:pt x="105" y="210"/>
                  </a:lnTo>
                  <a:lnTo>
                    <a:pt x="103" y="206"/>
                  </a:lnTo>
                  <a:lnTo>
                    <a:pt x="85" y="206"/>
                  </a:lnTo>
                  <a:lnTo>
                    <a:pt x="67" y="205"/>
                  </a:lnTo>
                  <a:lnTo>
                    <a:pt x="49" y="205"/>
                  </a:lnTo>
                  <a:lnTo>
                    <a:pt x="30" y="204"/>
                  </a:lnTo>
                  <a:lnTo>
                    <a:pt x="19" y="199"/>
                  </a:lnTo>
                  <a:lnTo>
                    <a:pt x="0" y="204"/>
                  </a:lnTo>
                  <a:lnTo>
                    <a:pt x="1" y="189"/>
                  </a:lnTo>
                  <a:lnTo>
                    <a:pt x="2" y="175"/>
                  </a:lnTo>
                  <a:lnTo>
                    <a:pt x="9" y="153"/>
                  </a:lnTo>
                  <a:lnTo>
                    <a:pt x="17" y="130"/>
                  </a:lnTo>
                  <a:lnTo>
                    <a:pt x="25" y="118"/>
                  </a:lnTo>
                  <a:lnTo>
                    <a:pt x="32" y="106"/>
                  </a:lnTo>
                  <a:lnTo>
                    <a:pt x="30" y="82"/>
                  </a:lnTo>
                  <a:lnTo>
                    <a:pt x="25" y="68"/>
                  </a:lnTo>
                  <a:lnTo>
                    <a:pt x="21" y="55"/>
                  </a:lnTo>
                  <a:lnTo>
                    <a:pt x="26" y="46"/>
                  </a:lnTo>
                  <a:lnTo>
                    <a:pt x="19" y="25"/>
                  </a:lnTo>
                  <a:lnTo>
                    <a:pt x="11" y="3"/>
                  </a:lnTo>
                  <a:lnTo>
                    <a:pt x="24" y="0"/>
                  </a:lnTo>
                  <a:lnTo>
                    <a:pt x="37" y="0"/>
                  </a:lnTo>
                  <a:lnTo>
                    <a:pt x="51" y="1"/>
                  </a:lnTo>
                  <a:lnTo>
                    <a:pt x="65" y="1"/>
                  </a:lnTo>
                  <a:lnTo>
                    <a:pt x="78" y="2"/>
                  </a:lnTo>
                  <a:lnTo>
                    <a:pt x="84" y="19"/>
                  </a:lnTo>
                  <a:lnTo>
                    <a:pt x="91" y="36"/>
                  </a:lnTo>
                  <a:lnTo>
                    <a:pt x="102" y="39"/>
                  </a:lnTo>
                  <a:lnTo>
                    <a:pt x="121" y="36"/>
                  </a:lnTo>
                  <a:lnTo>
                    <a:pt x="125" y="20"/>
                  </a:lnTo>
                  <a:lnTo>
                    <a:pt x="140" y="21"/>
                  </a:lnTo>
                  <a:lnTo>
                    <a:pt x="140" y="25"/>
                  </a:lnTo>
                  <a:lnTo>
                    <a:pt x="161" y="28"/>
                  </a:lnTo>
                  <a:lnTo>
                    <a:pt x="162" y="49"/>
                  </a:lnTo>
                  <a:lnTo>
                    <a:pt x="162" y="69"/>
                  </a:lnTo>
                  <a:lnTo>
                    <a:pt x="167" y="87"/>
                  </a:lnTo>
                  <a:lnTo>
                    <a:pt x="168" y="94"/>
                  </a:lnTo>
                  <a:lnTo>
                    <a:pt x="181" y="92"/>
                  </a:lnTo>
                  <a:lnTo>
                    <a:pt x="193" y="90"/>
                  </a:lnTo>
                  <a:lnTo>
                    <a:pt x="193" y="108"/>
                  </a:lnTo>
                  <a:lnTo>
                    <a:pt x="193" y="1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4" name="Freeform 213"/>
            <p:cNvSpPr>
              <a:spLocks/>
            </p:cNvSpPr>
            <p:nvPr/>
          </p:nvSpPr>
          <p:spPr bwMode="auto">
            <a:xfrm>
              <a:off x="2742" y="2794"/>
              <a:ext cx="20" cy="27"/>
            </a:xfrm>
            <a:custGeom>
              <a:avLst/>
              <a:gdLst/>
              <a:ahLst/>
              <a:cxnLst>
                <a:cxn ang="0">
                  <a:pos x="2" y="24"/>
                </a:cxn>
                <a:cxn ang="0">
                  <a:pos x="0" y="10"/>
                </a:cxn>
                <a:cxn ang="0">
                  <a:pos x="11" y="0"/>
                </a:cxn>
                <a:cxn ang="0">
                  <a:pos x="17" y="3"/>
                </a:cxn>
                <a:cxn ang="0">
                  <a:pos x="9" y="9"/>
                </a:cxn>
                <a:cxn ang="0">
                  <a:pos x="8" y="23"/>
                </a:cxn>
                <a:cxn ang="0">
                  <a:pos x="2" y="24"/>
                </a:cxn>
              </a:cxnLst>
              <a:rect l="0" t="0" r="r" b="b"/>
              <a:pathLst>
                <a:path w="17" h="24">
                  <a:moveTo>
                    <a:pt x="2" y="24"/>
                  </a:moveTo>
                  <a:lnTo>
                    <a:pt x="0" y="10"/>
                  </a:lnTo>
                  <a:lnTo>
                    <a:pt x="11" y="0"/>
                  </a:lnTo>
                  <a:lnTo>
                    <a:pt x="17" y="3"/>
                  </a:lnTo>
                  <a:lnTo>
                    <a:pt x="9" y="9"/>
                  </a:lnTo>
                  <a:lnTo>
                    <a:pt x="8" y="23"/>
                  </a:lnTo>
                  <a:lnTo>
                    <a:pt x="2"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5" name="Freeform 214"/>
            <p:cNvSpPr>
              <a:spLocks/>
            </p:cNvSpPr>
            <p:nvPr/>
          </p:nvSpPr>
          <p:spPr bwMode="auto">
            <a:xfrm>
              <a:off x="2698" y="2659"/>
              <a:ext cx="33" cy="26"/>
            </a:xfrm>
            <a:custGeom>
              <a:avLst/>
              <a:gdLst/>
              <a:ahLst/>
              <a:cxnLst>
                <a:cxn ang="0">
                  <a:pos x="6" y="24"/>
                </a:cxn>
                <a:cxn ang="0">
                  <a:pos x="0" y="22"/>
                </a:cxn>
                <a:cxn ang="0">
                  <a:pos x="2" y="16"/>
                </a:cxn>
                <a:cxn ang="0">
                  <a:pos x="6" y="0"/>
                </a:cxn>
                <a:cxn ang="0">
                  <a:pos x="18" y="1"/>
                </a:cxn>
                <a:cxn ang="0">
                  <a:pos x="30" y="4"/>
                </a:cxn>
                <a:cxn ang="0">
                  <a:pos x="30" y="24"/>
                </a:cxn>
                <a:cxn ang="0">
                  <a:pos x="18" y="24"/>
                </a:cxn>
                <a:cxn ang="0">
                  <a:pos x="6" y="24"/>
                </a:cxn>
              </a:cxnLst>
              <a:rect l="0" t="0" r="r" b="b"/>
              <a:pathLst>
                <a:path w="30" h="24">
                  <a:moveTo>
                    <a:pt x="6" y="24"/>
                  </a:moveTo>
                  <a:lnTo>
                    <a:pt x="0" y="22"/>
                  </a:lnTo>
                  <a:lnTo>
                    <a:pt x="2" y="16"/>
                  </a:lnTo>
                  <a:lnTo>
                    <a:pt x="6" y="0"/>
                  </a:lnTo>
                  <a:lnTo>
                    <a:pt x="18" y="1"/>
                  </a:lnTo>
                  <a:lnTo>
                    <a:pt x="30" y="4"/>
                  </a:lnTo>
                  <a:lnTo>
                    <a:pt x="30" y="24"/>
                  </a:lnTo>
                  <a:lnTo>
                    <a:pt x="18" y="24"/>
                  </a:lnTo>
                  <a:lnTo>
                    <a:pt x="6"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6" name="Freeform 215"/>
            <p:cNvSpPr>
              <a:spLocks/>
            </p:cNvSpPr>
            <p:nvPr/>
          </p:nvSpPr>
          <p:spPr bwMode="auto">
            <a:xfrm>
              <a:off x="2680" y="2630"/>
              <a:ext cx="9" cy="11"/>
            </a:xfrm>
            <a:custGeom>
              <a:avLst/>
              <a:gdLst/>
              <a:ahLst/>
              <a:cxnLst>
                <a:cxn ang="0">
                  <a:pos x="9" y="1"/>
                </a:cxn>
                <a:cxn ang="0">
                  <a:pos x="6" y="0"/>
                </a:cxn>
                <a:cxn ang="0">
                  <a:pos x="0" y="8"/>
                </a:cxn>
                <a:cxn ang="0">
                  <a:pos x="9" y="1"/>
                </a:cxn>
              </a:cxnLst>
              <a:rect l="0" t="0" r="r" b="b"/>
              <a:pathLst>
                <a:path w="9" h="8">
                  <a:moveTo>
                    <a:pt x="9" y="1"/>
                  </a:moveTo>
                  <a:lnTo>
                    <a:pt x="6" y="0"/>
                  </a:lnTo>
                  <a:lnTo>
                    <a:pt x="0" y="8"/>
                  </a:lnTo>
                  <a:lnTo>
                    <a:pt x="9"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7" name="Freeform 216"/>
            <p:cNvSpPr>
              <a:spLocks/>
            </p:cNvSpPr>
            <p:nvPr/>
          </p:nvSpPr>
          <p:spPr bwMode="auto">
            <a:xfrm>
              <a:off x="2687" y="2663"/>
              <a:ext cx="100" cy="120"/>
            </a:xfrm>
            <a:custGeom>
              <a:avLst/>
              <a:gdLst/>
              <a:ahLst/>
              <a:cxnLst>
                <a:cxn ang="0">
                  <a:pos x="16" y="20"/>
                </a:cxn>
                <a:cxn ang="0">
                  <a:pos x="13" y="27"/>
                </a:cxn>
                <a:cxn ang="0">
                  <a:pos x="9" y="27"/>
                </a:cxn>
                <a:cxn ang="0">
                  <a:pos x="19" y="36"/>
                </a:cxn>
                <a:cxn ang="0">
                  <a:pos x="10" y="34"/>
                </a:cxn>
                <a:cxn ang="0">
                  <a:pos x="5" y="51"/>
                </a:cxn>
                <a:cxn ang="0">
                  <a:pos x="0" y="51"/>
                </a:cxn>
                <a:cxn ang="0">
                  <a:pos x="7" y="63"/>
                </a:cxn>
                <a:cxn ang="0">
                  <a:pos x="11" y="67"/>
                </a:cxn>
                <a:cxn ang="0">
                  <a:pos x="5" y="62"/>
                </a:cxn>
                <a:cxn ang="0">
                  <a:pos x="12" y="73"/>
                </a:cxn>
                <a:cxn ang="0">
                  <a:pos x="10" y="73"/>
                </a:cxn>
                <a:cxn ang="0">
                  <a:pos x="19" y="84"/>
                </a:cxn>
                <a:cxn ang="0">
                  <a:pos x="17" y="82"/>
                </a:cxn>
                <a:cxn ang="0">
                  <a:pos x="28" y="96"/>
                </a:cxn>
                <a:cxn ang="0">
                  <a:pos x="39" y="109"/>
                </a:cxn>
                <a:cxn ang="0">
                  <a:pos x="43" y="102"/>
                </a:cxn>
                <a:cxn ang="0">
                  <a:pos x="47" y="104"/>
                </a:cxn>
                <a:cxn ang="0">
                  <a:pos x="51" y="100"/>
                </a:cxn>
                <a:cxn ang="0">
                  <a:pos x="47" y="93"/>
                </a:cxn>
                <a:cxn ang="0">
                  <a:pos x="46" y="88"/>
                </a:cxn>
                <a:cxn ang="0">
                  <a:pos x="45" y="82"/>
                </a:cxn>
                <a:cxn ang="0">
                  <a:pos x="59" y="81"/>
                </a:cxn>
                <a:cxn ang="0">
                  <a:pos x="60" y="70"/>
                </a:cxn>
                <a:cxn ang="0">
                  <a:pos x="70" y="81"/>
                </a:cxn>
                <a:cxn ang="0">
                  <a:pos x="79" y="78"/>
                </a:cxn>
                <a:cxn ang="0">
                  <a:pos x="82" y="82"/>
                </a:cxn>
                <a:cxn ang="0">
                  <a:pos x="87" y="78"/>
                </a:cxn>
                <a:cxn ang="0">
                  <a:pos x="91" y="52"/>
                </a:cxn>
                <a:cxn ang="0">
                  <a:pos x="82" y="37"/>
                </a:cxn>
                <a:cxn ang="0">
                  <a:pos x="89" y="27"/>
                </a:cxn>
                <a:cxn ang="0">
                  <a:pos x="88" y="15"/>
                </a:cxn>
                <a:cxn ang="0">
                  <a:pos x="71" y="16"/>
                </a:cxn>
                <a:cxn ang="0">
                  <a:pos x="72" y="0"/>
                </a:cxn>
                <a:cxn ang="0">
                  <a:pos x="57" y="0"/>
                </a:cxn>
                <a:cxn ang="0">
                  <a:pos x="41" y="0"/>
                </a:cxn>
                <a:cxn ang="0">
                  <a:pos x="41" y="20"/>
                </a:cxn>
                <a:cxn ang="0">
                  <a:pos x="29" y="20"/>
                </a:cxn>
                <a:cxn ang="0">
                  <a:pos x="17" y="20"/>
                </a:cxn>
                <a:cxn ang="0">
                  <a:pos x="16" y="20"/>
                </a:cxn>
              </a:cxnLst>
              <a:rect l="0" t="0" r="r" b="b"/>
              <a:pathLst>
                <a:path w="91" h="109">
                  <a:moveTo>
                    <a:pt x="16" y="20"/>
                  </a:moveTo>
                  <a:lnTo>
                    <a:pt x="13" y="27"/>
                  </a:lnTo>
                  <a:lnTo>
                    <a:pt x="9" y="27"/>
                  </a:lnTo>
                  <a:lnTo>
                    <a:pt x="19" y="36"/>
                  </a:lnTo>
                  <a:lnTo>
                    <a:pt x="10" y="34"/>
                  </a:lnTo>
                  <a:lnTo>
                    <a:pt x="5" y="51"/>
                  </a:lnTo>
                  <a:lnTo>
                    <a:pt x="0" y="51"/>
                  </a:lnTo>
                  <a:lnTo>
                    <a:pt x="7" y="63"/>
                  </a:lnTo>
                  <a:lnTo>
                    <a:pt x="11" y="67"/>
                  </a:lnTo>
                  <a:lnTo>
                    <a:pt x="5" y="62"/>
                  </a:lnTo>
                  <a:lnTo>
                    <a:pt x="12" y="73"/>
                  </a:lnTo>
                  <a:lnTo>
                    <a:pt x="10" y="73"/>
                  </a:lnTo>
                  <a:lnTo>
                    <a:pt x="19" y="84"/>
                  </a:lnTo>
                  <a:lnTo>
                    <a:pt x="17" y="82"/>
                  </a:lnTo>
                  <a:lnTo>
                    <a:pt x="28" y="96"/>
                  </a:lnTo>
                  <a:lnTo>
                    <a:pt x="39" y="109"/>
                  </a:lnTo>
                  <a:lnTo>
                    <a:pt x="43" y="102"/>
                  </a:lnTo>
                  <a:lnTo>
                    <a:pt x="47" y="104"/>
                  </a:lnTo>
                  <a:lnTo>
                    <a:pt x="51" y="100"/>
                  </a:lnTo>
                  <a:lnTo>
                    <a:pt x="47" y="93"/>
                  </a:lnTo>
                  <a:lnTo>
                    <a:pt x="46" y="88"/>
                  </a:lnTo>
                  <a:lnTo>
                    <a:pt x="45" y="82"/>
                  </a:lnTo>
                  <a:lnTo>
                    <a:pt x="59" y="81"/>
                  </a:lnTo>
                  <a:lnTo>
                    <a:pt x="60" y="70"/>
                  </a:lnTo>
                  <a:lnTo>
                    <a:pt x="70" y="81"/>
                  </a:lnTo>
                  <a:lnTo>
                    <a:pt x="79" y="78"/>
                  </a:lnTo>
                  <a:lnTo>
                    <a:pt x="82" y="82"/>
                  </a:lnTo>
                  <a:lnTo>
                    <a:pt x="87" y="78"/>
                  </a:lnTo>
                  <a:lnTo>
                    <a:pt x="91" y="52"/>
                  </a:lnTo>
                  <a:lnTo>
                    <a:pt x="82" y="37"/>
                  </a:lnTo>
                  <a:lnTo>
                    <a:pt x="89" y="27"/>
                  </a:lnTo>
                  <a:lnTo>
                    <a:pt x="88" y="15"/>
                  </a:lnTo>
                  <a:lnTo>
                    <a:pt x="71" y="16"/>
                  </a:lnTo>
                  <a:lnTo>
                    <a:pt x="72" y="0"/>
                  </a:lnTo>
                  <a:lnTo>
                    <a:pt x="57" y="0"/>
                  </a:lnTo>
                  <a:lnTo>
                    <a:pt x="41" y="0"/>
                  </a:lnTo>
                  <a:lnTo>
                    <a:pt x="41" y="20"/>
                  </a:lnTo>
                  <a:lnTo>
                    <a:pt x="29" y="20"/>
                  </a:lnTo>
                  <a:lnTo>
                    <a:pt x="17" y="20"/>
                  </a:lnTo>
                  <a:lnTo>
                    <a:pt x="16" y="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8" name="Freeform 217"/>
            <p:cNvSpPr>
              <a:spLocks/>
            </p:cNvSpPr>
            <p:nvPr/>
          </p:nvSpPr>
          <p:spPr bwMode="auto">
            <a:xfrm>
              <a:off x="2647" y="2696"/>
              <a:ext cx="4" cy="9"/>
            </a:xfrm>
            <a:custGeom>
              <a:avLst/>
              <a:gdLst/>
              <a:ahLst/>
              <a:cxnLst>
                <a:cxn ang="0">
                  <a:pos x="5" y="2"/>
                </a:cxn>
                <a:cxn ang="0">
                  <a:pos x="1" y="7"/>
                </a:cxn>
                <a:cxn ang="0">
                  <a:pos x="0" y="3"/>
                </a:cxn>
                <a:cxn ang="0">
                  <a:pos x="3" y="0"/>
                </a:cxn>
                <a:cxn ang="0">
                  <a:pos x="5" y="2"/>
                </a:cxn>
              </a:cxnLst>
              <a:rect l="0" t="0" r="r" b="b"/>
              <a:pathLst>
                <a:path w="5" h="7">
                  <a:moveTo>
                    <a:pt x="5" y="2"/>
                  </a:moveTo>
                  <a:lnTo>
                    <a:pt x="1" y="7"/>
                  </a:lnTo>
                  <a:lnTo>
                    <a:pt x="0" y="3"/>
                  </a:lnTo>
                  <a:lnTo>
                    <a:pt x="3"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9" name="Freeform 218"/>
            <p:cNvSpPr>
              <a:spLocks/>
            </p:cNvSpPr>
            <p:nvPr/>
          </p:nvSpPr>
          <p:spPr bwMode="auto">
            <a:xfrm>
              <a:off x="2660" y="2672"/>
              <a:ext cx="2" cy="2"/>
            </a:xfrm>
            <a:custGeom>
              <a:avLst/>
              <a:gdLst/>
              <a:ahLst/>
              <a:cxnLst>
                <a:cxn ang="0">
                  <a:pos x="2" y="2"/>
                </a:cxn>
                <a:cxn ang="0">
                  <a:pos x="0" y="0"/>
                </a:cxn>
                <a:cxn ang="0">
                  <a:pos x="3" y="0"/>
                </a:cxn>
                <a:cxn ang="0">
                  <a:pos x="2" y="2"/>
                </a:cxn>
              </a:cxnLst>
              <a:rect l="0" t="0" r="r" b="b"/>
              <a:pathLst>
                <a:path w="3" h="2">
                  <a:moveTo>
                    <a:pt x="2" y="2"/>
                  </a:moveTo>
                  <a:lnTo>
                    <a:pt x="0" y="0"/>
                  </a:lnTo>
                  <a:lnTo>
                    <a:pt x="3" y="0"/>
                  </a:lnTo>
                  <a:lnTo>
                    <a:pt x="2"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0" name="Freeform 219"/>
            <p:cNvSpPr>
              <a:spLocks/>
            </p:cNvSpPr>
            <p:nvPr/>
          </p:nvSpPr>
          <p:spPr bwMode="auto">
            <a:xfrm>
              <a:off x="3049" y="2725"/>
              <a:ext cx="191" cy="214"/>
            </a:xfrm>
            <a:custGeom>
              <a:avLst/>
              <a:gdLst/>
              <a:ahLst/>
              <a:cxnLst>
                <a:cxn ang="0">
                  <a:pos x="131" y="42"/>
                </a:cxn>
                <a:cxn ang="0">
                  <a:pos x="129" y="36"/>
                </a:cxn>
                <a:cxn ang="0">
                  <a:pos x="115" y="26"/>
                </a:cxn>
                <a:cxn ang="0">
                  <a:pos x="101" y="18"/>
                </a:cxn>
                <a:cxn ang="0">
                  <a:pos x="86" y="8"/>
                </a:cxn>
                <a:cxn ang="0">
                  <a:pos x="71" y="0"/>
                </a:cxn>
                <a:cxn ang="0">
                  <a:pos x="57" y="0"/>
                </a:cxn>
                <a:cxn ang="0">
                  <a:pos x="44" y="0"/>
                </a:cxn>
                <a:cxn ang="0">
                  <a:pos x="30" y="1"/>
                </a:cxn>
                <a:cxn ang="0">
                  <a:pos x="17" y="1"/>
                </a:cxn>
                <a:cxn ang="0">
                  <a:pos x="23" y="23"/>
                </a:cxn>
                <a:cxn ang="0">
                  <a:pos x="18" y="25"/>
                </a:cxn>
                <a:cxn ang="0">
                  <a:pos x="18" y="34"/>
                </a:cxn>
                <a:cxn ang="0">
                  <a:pos x="21" y="40"/>
                </a:cxn>
                <a:cxn ang="0">
                  <a:pos x="12" y="50"/>
                </a:cxn>
                <a:cxn ang="0">
                  <a:pos x="3" y="62"/>
                </a:cxn>
                <a:cxn ang="0">
                  <a:pos x="0" y="62"/>
                </a:cxn>
                <a:cxn ang="0">
                  <a:pos x="0" y="76"/>
                </a:cxn>
                <a:cxn ang="0">
                  <a:pos x="1" y="89"/>
                </a:cxn>
                <a:cxn ang="0">
                  <a:pos x="6" y="103"/>
                </a:cxn>
                <a:cxn ang="0">
                  <a:pos x="13" y="116"/>
                </a:cxn>
                <a:cxn ang="0">
                  <a:pos x="20" y="128"/>
                </a:cxn>
                <a:cxn ang="0">
                  <a:pos x="20" y="132"/>
                </a:cxn>
                <a:cxn ang="0">
                  <a:pos x="37" y="142"/>
                </a:cxn>
                <a:cxn ang="0">
                  <a:pos x="54" y="151"/>
                </a:cxn>
                <a:cxn ang="0">
                  <a:pos x="69" y="154"/>
                </a:cxn>
                <a:cxn ang="0">
                  <a:pos x="75" y="157"/>
                </a:cxn>
                <a:cxn ang="0">
                  <a:pos x="80" y="175"/>
                </a:cxn>
                <a:cxn ang="0">
                  <a:pos x="85" y="190"/>
                </a:cxn>
                <a:cxn ang="0">
                  <a:pos x="91" y="190"/>
                </a:cxn>
                <a:cxn ang="0">
                  <a:pos x="101" y="188"/>
                </a:cxn>
                <a:cxn ang="0">
                  <a:pos x="119" y="192"/>
                </a:cxn>
                <a:cxn ang="0">
                  <a:pos x="131" y="187"/>
                </a:cxn>
                <a:cxn ang="0">
                  <a:pos x="139" y="186"/>
                </a:cxn>
                <a:cxn ang="0">
                  <a:pos x="155" y="179"/>
                </a:cxn>
                <a:cxn ang="0">
                  <a:pos x="171" y="170"/>
                </a:cxn>
                <a:cxn ang="0">
                  <a:pos x="161" y="160"/>
                </a:cxn>
                <a:cxn ang="0">
                  <a:pos x="158" y="142"/>
                </a:cxn>
                <a:cxn ang="0">
                  <a:pos x="156" y="128"/>
                </a:cxn>
                <a:cxn ang="0">
                  <a:pos x="155" y="122"/>
                </a:cxn>
                <a:cxn ang="0">
                  <a:pos x="158" y="106"/>
                </a:cxn>
                <a:cxn ang="0">
                  <a:pos x="147" y="90"/>
                </a:cxn>
                <a:cxn ang="0">
                  <a:pos x="155" y="66"/>
                </a:cxn>
                <a:cxn ang="0">
                  <a:pos x="143" y="54"/>
                </a:cxn>
                <a:cxn ang="0">
                  <a:pos x="131" y="42"/>
                </a:cxn>
              </a:cxnLst>
              <a:rect l="0" t="0" r="r" b="b"/>
              <a:pathLst>
                <a:path w="171" h="192">
                  <a:moveTo>
                    <a:pt x="131" y="42"/>
                  </a:moveTo>
                  <a:lnTo>
                    <a:pt x="129" y="36"/>
                  </a:lnTo>
                  <a:lnTo>
                    <a:pt x="115" y="26"/>
                  </a:lnTo>
                  <a:lnTo>
                    <a:pt x="101" y="18"/>
                  </a:lnTo>
                  <a:lnTo>
                    <a:pt x="86" y="8"/>
                  </a:lnTo>
                  <a:lnTo>
                    <a:pt x="71" y="0"/>
                  </a:lnTo>
                  <a:lnTo>
                    <a:pt x="57" y="0"/>
                  </a:lnTo>
                  <a:lnTo>
                    <a:pt x="44" y="0"/>
                  </a:lnTo>
                  <a:lnTo>
                    <a:pt x="30" y="1"/>
                  </a:lnTo>
                  <a:lnTo>
                    <a:pt x="17" y="1"/>
                  </a:lnTo>
                  <a:lnTo>
                    <a:pt x="23" y="23"/>
                  </a:lnTo>
                  <a:lnTo>
                    <a:pt x="18" y="25"/>
                  </a:lnTo>
                  <a:lnTo>
                    <a:pt x="18" y="34"/>
                  </a:lnTo>
                  <a:lnTo>
                    <a:pt x="21" y="40"/>
                  </a:lnTo>
                  <a:lnTo>
                    <a:pt x="12" y="50"/>
                  </a:lnTo>
                  <a:lnTo>
                    <a:pt x="3" y="62"/>
                  </a:lnTo>
                  <a:lnTo>
                    <a:pt x="0" y="62"/>
                  </a:lnTo>
                  <a:lnTo>
                    <a:pt x="0" y="76"/>
                  </a:lnTo>
                  <a:lnTo>
                    <a:pt x="1" y="89"/>
                  </a:lnTo>
                  <a:lnTo>
                    <a:pt x="6" y="103"/>
                  </a:lnTo>
                  <a:lnTo>
                    <a:pt x="13" y="116"/>
                  </a:lnTo>
                  <a:lnTo>
                    <a:pt x="20" y="128"/>
                  </a:lnTo>
                  <a:lnTo>
                    <a:pt x="20" y="132"/>
                  </a:lnTo>
                  <a:lnTo>
                    <a:pt x="37" y="142"/>
                  </a:lnTo>
                  <a:lnTo>
                    <a:pt x="54" y="151"/>
                  </a:lnTo>
                  <a:lnTo>
                    <a:pt x="69" y="154"/>
                  </a:lnTo>
                  <a:lnTo>
                    <a:pt x="75" y="157"/>
                  </a:lnTo>
                  <a:lnTo>
                    <a:pt x="80" y="175"/>
                  </a:lnTo>
                  <a:lnTo>
                    <a:pt x="85" y="190"/>
                  </a:lnTo>
                  <a:lnTo>
                    <a:pt x="91" y="190"/>
                  </a:lnTo>
                  <a:lnTo>
                    <a:pt x="101" y="188"/>
                  </a:lnTo>
                  <a:lnTo>
                    <a:pt x="119" y="192"/>
                  </a:lnTo>
                  <a:lnTo>
                    <a:pt x="131" y="187"/>
                  </a:lnTo>
                  <a:lnTo>
                    <a:pt x="139" y="186"/>
                  </a:lnTo>
                  <a:lnTo>
                    <a:pt x="155" y="179"/>
                  </a:lnTo>
                  <a:lnTo>
                    <a:pt x="171" y="170"/>
                  </a:lnTo>
                  <a:lnTo>
                    <a:pt x="161" y="160"/>
                  </a:lnTo>
                  <a:lnTo>
                    <a:pt x="158" y="142"/>
                  </a:lnTo>
                  <a:lnTo>
                    <a:pt x="156" y="128"/>
                  </a:lnTo>
                  <a:lnTo>
                    <a:pt x="155" y="122"/>
                  </a:lnTo>
                  <a:lnTo>
                    <a:pt x="158" y="106"/>
                  </a:lnTo>
                  <a:lnTo>
                    <a:pt x="147" y="90"/>
                  </a:lnTo>
                  <a:lnTo>
                    <a:pt x="155" y="66"/>
                  </a:lnTo>
                  <a:lnTo>
                    <a:pt x="143" y="54"/>
                  </a:lnTo>
                  <a:lnTo>
                    <a:pt x="131"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1" name="Freeform 220"/>
            <p:cNvSpPr>
              <a:spLocks/>
            </p:cNvSpPr>
            <p:nvPr/>
          </p:nvSpPr>
          <p:spPr bwMode="auto">
            <a:xfrm>
              <a:off x="3220" y="2821"/>
              <a:ext cx="7" cy="13"/>
            </a:xfrm>
            <a:custGeom>
              <a:avLst/>
              <a:gdLst/>
              <a:ahLst/>
              <a:cxnLst>
                <a:cxn ang="0">
                  <a:pos x="6" y="12"/>
                </a:cxn>
                <a:cxn ang="0">
                  <a:pos x="4" y="0"/>
                </a:cxn>
                <a:cxn ang="0">
                  <a:pos x="0" y="4"/>
                </a:cxn>
                <a:cxn ang="0">
                  <a:pos x="6" y="12"/>
                </a:cxn>
              </a:cxnLst>
              <a:rect l="0" t="0" r="r" b="b"/>
              <a:pathLst>
                <a:path w="6" h="12">
                  <a:moveTo>
                    <a:pt x="6" y="12"/>
                  </a:moveTo>
                  <a:lnTo>
                    <a:pt x="4" y="0"/>
                  </a:lnTo>
                  <a:lnTo>
                    <a:pt x="0" y="4"/>
                  </a:lnTo>
                  <a:lnTo>
                    <a:pt x="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2" name="Freeform 221"/>
            <p:cNvSpPr>
              <a:spLocks/>
            </p:cNvSpPr>
            <p:nvPr/>
          </p:nvSpPr>
          <p:spPr bwMode="auto">
            <a:xfrm>
              <a:off x="3053" y="2621"/>
              <a:ext cx="96" cy="113"/>
            </a:xfrm>
            <a:custGeom>
              <a:avLst/>
              <a:gdLst/>
              <a:ahLst/>
              <a:cxnLst>
                <a:cxn ang="0">
                  <a:pos x="77" y="15"/>
                </a:cxn>
                <a:cxn ang="0">
                  <a:pos x="70" y="0"/>
                </a:cxn>
                <a:cxn ang="0">
                  <a:pos x="63" y="9"/>
                </a:cxn>
                <a:cxn ang="0">
                  <a:pos x="45" y="9"/>
                </a:cxn>
                <a:cxn ang="0">
                  <a:pos x="37" y="11"/>
                </a:cxn>
                <a:cxn ang="0">
                  <a:pos x="34" y="9"/>
                </a:cxn>
                <a:cxn ang="0">
                  <a:pos x="22" y="10"/>
                </a:cxn>
                <a:cxn ang="0">
                  <a:pos x="21" y="14"/>
                </a:cxn>
                <a:cxn ang="0">
                  <a:pos x="19" y="29"/>
                </a:cxn>
                <a:cxn ang="0">
                  <a:pos x="28" y="38"/>
                </a:cxn>
                <a:cxn ang="0">
                  <a:pos x="17" y="48"/>
                </a:cxn>
                <a:cxn ang="0">
                  <a:pos x="7" y="60"/>
                </a:cxn>
                <a:cxn ang="0">
                  <a:pos x="4" y="81"/>
                </a:cxn>
                <a:cxn ang="0">
                  <a:pos x="0" y="101"/>
                </a:cxn>
                <a:cxn ang="0">
                  <a:pos x="5" y="101"/>
                </a:cxn>
                <a:cxn ang="0">
                  <a:pos x="15" y="95"/>
                </a:cxn>
                <a:cxn ang="0">
                  <a:pos x="28" y="95"/>
                </a:cxn>
                <a:cxn ang="0">
                  <a:pos x="42" y="94"/>
                </a:cxn>
                <a:cxn ang="0">
                  <a:pos x="55" y="94"/>
                </a:cxn>
                <a:cxn ang="0">
                  <a:pos x="69" y="94"/>
                </a:cxn>
                <a:cxn ang="0">
                  <a:pos x="69" y="75"/>
                </a:cxn>
                <a:cxn ang="0">
                  <a:pos x="79" y="57"/>
                </a:cxn>
                <a:cxn ang="0">
                  <a:pos x="87" y="42"/>
                </a:cxn>
                <a:cxn ang="0">
                  <a:pos x="82" y="28"/>
                </a:cxn>
                <a:cxn ang="0">
                  <a:pos x="77" y="15"/>
                </a:cxn>
              </a:cxnLst>
              <a:rect l="0" t="0" r="r" b="b"/>
              <a:pathLst>
                <a:path w="87" h="101">
                  <a:moveTo>
                    <a:pt x="77" y="15"/>
                  </a:moveTo>
                  <a:lnTo>
                    <a:pt x="70" y="0"/>
                  </a:lnTo>
                  <a:lnTo>
                    <a:pt x="63" y="9"/>
                  </a:lnTo>
                  <a:lnTo>
                    <a:pt x="45" y="9"/>
                  </a:lnTo>
                  <a:lnTo>
                    <a:pt x="37" y="11"/>
                  </a:lnTo>
                  <a:lnTo>
                    <a:pt x="34" y="9"/>
                  </a:lnTo>
                  <a:lnTo>
                    <a:pt x="22" y="10"/>
                  </a:lnTo>
                  <a:lnTo>
                    <a:pt x="21" y="14"/>
                  </a:lnTo>
                  <a:lnTo>
                    <a:pt x="19" y="29"/>
                  </a:lnTo>
                  <a:lnTo>
                    <a:pt x="28" y="38"/>
                  </a:lnTo>
                  <a:lnTo>
                    <a:pt x="17" y="48"/>
                  </a:lnTo>
                  <a:lnTo>
                    <a:pt x="7" y="60"/>
                  </a:lnTo>
                  <a:lnTo>
                    <a:pt x="4" y="81"/>
                  </a:lnTo>
                  <a:lnTo>
                    <a:pt x="0" y="101"/>
                  </a:lnTo>
                  <a:lnTo>
                    <a:pt x="5" y="101"/>
                  </a:lnTo>
                  <a:lnTo>
                    <a:pt x="15" y="95"/>
                  </a:lnTo>
                  <a:lnTo>
                    <a:pt x="28" y="95"/>
                  </a:lnTo>
                  <a:lnTo>
                    <a:pt x="42" y="94"/>
                  </a:lnTo>
                  <a:lnTo>
                    <a:pt x="55" y="94"/>
                  </a:lnTo>
                  <a:lnTo>
                    <a:pt x="69" y="94"/>
                  </a:lnTo>
                  <a:lnTo>
                    <a:pt x="69" y="75"/>
                  </a:lnTo>
                  <a:lnTo>
                    <a:pt x="79" y="57"/>
                  </a:lnTo>
                  <a:lnTo>
                    <a:pt x="87" y="42"/>
                  </a:lnTo>
                  <a:lnTo>
                    <a:pt x="82" y="28"/>
                  </a:lnTo>
                  <a:lnTo>
                    <a:pt x="77"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3" name="Freeform 222"/>
            <p:cNvSpPr>
              <a:spLocks/>
            </p:cNvSpPr>
            <p:nvPr/>
          </p:nvSpPr>
          <p:spPr bwMode="auto">
            <a:xfrm>
              <a:off x="2747" y="2601"/>
              <a:ext cx="335" cy="373"/>
            </a:xfrm>
            <a:custGeom>
              <a:avLst/>
              <a:gdLst/>
              <a:ahLst/>
              <a:cxnLst>
                <a:cxn ang="0">
                  <a:pos x="270" y="132"/>
                </a:cxn>
                <a:cxn ang="0">
                  <a:pos x="267" y="143"/>
                </a:cxn>
                <a:cxn ang="0">
                  <a:pos x="268" y="145"/>
                </a:cxn>
                <a:cxn ang="0">
                  <a:pos x="274" y="175"/>
                </a:cxn>
                <a:cxn ang="0">
                  <a:pos x="275" y="202"/>
                </a:cxn>
                <a:cxn ang="0">
                  <a:pos x="287" y="229"/>
                </a:cxn>
                <a:cxn ang="0">
                  <a:pos x="279" y="245"/>
                </a:cxn>
                <a:cxn ang="0">
                  <a:pos x="256" y="262"/>
                </a:cxn>
                <a:cxn ang="0">
                  <a:pos x="258" y="293"/>
                </a:cxn>
                <a:cxn ang="0">
                  <a:pos x="271" y="319"/>
                </a:cxn>
                <a:cxn ang="0">
                  <a:pos x="274" y="336"/>
                </a:cxn>
                <a:cxn ang="0">
                  <a:pos x="263" y="335"/>
                </a:cxn>
                <a:cxn ang="0">
                  <a:pos x="240" y="310"/>
                </a:cxn>
                <a:cxn ang="0">
                  <a:pos x="227" y="310"/>
                </a:cxn>
                <a:cxn ang="0">
                  <a:pos x="204" y="297"/>
                </a:cxn>
                <a:cxn ang="0">
                  <a:pos x="185" y="291"/>
                </a:cxn>
                <a:cxn ang="0">
                  <a:pos x="160" y="295"/>
                </a:cxn>
                <a:cxn ang="0">
                  <a:pos x="154" y="270"/>
                </a:cxn>
                <a:cxn ang="0">
                  <a:pos x="153" y="229"/>
                </a:cxn>
                <a:cxn ang="0">
                  <a:pos x="132" y="222"/>
                </a:cxn>
                <a:cxn ang="0">
                  <a:pos x="113" y="237"/>
                </a:cxn>
                <a:cxn ang="0">
                  <a:pos x="83" y="237"/>
                </a:cxn>
                <a:cxn ang="0">
                  <a:pos x="70" y="203"/>
                </a:cxn>
                <a:cxn ang="0">
                  <a:pos x="43" y="202"/>
                </a:cxn>
                <a:cxn ang="0">
                  <a:pos x="16" y="201"/>
                </a:cxn>
                <a:cxn ang="0">
                  <a:pos x="0" y="199"/>
                </a:cxn>
                <a:cxn ang="0">
                  <a:pos x="7" y="184"/>
                </a:cxn>
                <a:cxn ang="0">
                  <a:pos x="23" y="181"/>
                </a:cxn>
                <a:cxn ang="0">
                  <a:pos x="36" y="174"/>
                </a:cxn>
                <a:cxn ang="0">
                  <a:pos x="51" y="171"/>
                </a:cxn>
                <a:cxn ang="0">
                  <a:pos x="65" y="145"/>
                </a:cxn>
                <a:cxn ang="0">
                  <a:pos x="78" y="117"/>
                </a:cxn>
                <a:cxn ang="0">
                  <a:pos x="91" y="89"/>
                </a:cxn>
                <a:cxn ang="0">
                  <a:pos x="96" y="61"/>
                </a:cxn>
                <a:cxn ang="0">
                  <a:pos x="102" y="33"/>
                </a:cxn>
                <a:cxn ang="0">
                  <a:pos x="114" y="3"/>
                </a:cxn>
                <a:cxn ang="0">
                  <a:pos x="147" y="17"/>
                </a:cxn>
                <a:cxn ang="0">
                  <a:pos x="168" y="10"/>
                </a:cxn>
                <a:cxn ang="0">
                  <a:pos x="191" y="5"/>
                </a:cxn>
                <a:cxn ang="0">
                  <a:pos x="209" y="0"/>
                </a:cxn>
                <a:cxn ang="0">
                  <a:pos x="234" y="3"/>
                </a:cxn>
                <a:cxn ang="0">
                  <a:pos x="246" y="9"/>
                </a:cxn>
                <a:cxn ang="0">
                  <a:pos x="268" y="16"/>
                </a:cxn>
                <a:cxn ang="0">
                  <a:pos x="285" y="22"/>
                </a:cxn>
                <a:cxn ang="0">
                  <a:pos x="295" y="48"/>
                </a:cxn>
                <a:cxn ang="0">
                  <a:pos x="293" y="67"/>
                </a:cxn>
                <a:cxn ang="0">
                  <a:pos x="280" y="100"/>
                </a:cxn>
              </a:cxnLst>
              <a:rect l="0" t="0" r="r" b="b"/>
              <a:pathLst>
                <a:path w="304" h="336">
                  <a:moveTo>
                    <a:pt x="276" y="120"/>
                  </a:moveTo>
                  <a:lnTo>
                    <a:pt x="270" y="132"/>
                  </a:lnTo>
                  <a:lnTo>
                    <a:pt x="265" y="143"/>
                  </a:lnTo>
                  <a:lnTo>
                    <a:pt x="267" y="143"/>
                  </a:lnTo>
                  <a:lnTo>
                    <a:pt x="267" y="144"/>
                  </a:lnTo>
                  <a:lnTo>
                    <a:pt x="268" y="145"/>
                  </a:lnTo>
                  <a:lnTo>
                    <a:pt x="270" y="160"/>
                  </a:lnTo>
                  <a:lnTo>
                    <a:pt x="274" y="175"/>
                  </a:lnTo>
                  <a:lnTo>
                    <a:pt x="274" y="189"/>
                  </a:lnTo>
                  <a:lnTo>
                    <a:pt x="275" y="202"/>
                  </a:lnTo>
                  <a:lnTo>
                    <a:pt x="280" y="216"/>
                  </a:lnTo>
                  <a:lnTo>
                    <a:pt x="287" y="229"/>
                  </a:lnTo>
                  <a:lnTo>
                    <a:pt x="294" y="241"/>
                  </a:lnTo>
                  <a:lnTo>
                    <a:pt x="279" y="245"/>
                  </a:lnTo>
                  <a:lnTo>
                    <a:pt x="264" y="249"/>
                  </a:lnTo>
                  <a:lnTo>
                    <a:pt x="256" y="262"/>
                  </a:lnTo>
                  <a:lnTo>
                    <a:pt x="259" y="277"/>
                  </a:lnTo>
                  <a:lnTo>
                    <a:pt x="258" y="293"/>
                  </a:lnTo>
                  <a:lnTo>
                    <a:pt x="256" y="309"/>
                  </a:lnTo>
                  <a:lnTo>
                    <a:pt x="271" y="319"/>
                  </a:lnTo>
                  <a:lnTo>
                    <a:pt x="276" y="313"/>
                  </a:lnTo>
                  <a:lnTo>
                    <a:pt x="274" y="336"/>
                  </a:lnTo>
                  <a:lnTo>
                    <a:pt x="269" y="335"/>
                  </a:lnTo>
                  <a:lnTo>
                    <a:pt x="263" y="335"/>
                  </a:lnTo>
                  <a:lnTo>
                    <a:pt x="250" y="317"/>
                  </a:lnTo>
                  <a:lnTo>
                    <a:pt x="240" y="310"/>
                  </a:lnTo>
                  <a:lnTo>
                    <a:pt x="233" y="304"/>
                  </a:lnTo>
                  <a:lnTo>
                    <a:pt x="227" y="310"/>
                  </a:lnTo>
                  <a:lnTo>
                    <a:pt x="207" y="303"/>
                  </a:lnTo>
                  <a:lnTo>
                    <a:pt x="204" y="297"/>
                  </a:lnTo>
                  <a:lnTo>
                    <a:pt x="191" y="299"/>
                  </a:lnTo>
                  <a:lnTo>
                    <a:pt x="185" y="291"/>
                  </a:lnTo>
                  <a:lnTo>
                    <a:pt x="173" y="293"/>
                  </a:lnTo>
                  <a:lnTo>
                    <a:pt x="160" y="295"/>
                  </a:lnTo>
                  <a:lnTo>
                    <a:pt x="159" y="288"/>
                  </a:lnTo>
                  <a:lnTo>
                    <a:pt x="154" y="270"/>
                  </a:lnTo>
                  <a:lnTo>
                    <a:pt x="154" y="250"/>
                  </a:lnTo>
                  <a:lnTo>
                    <a:pt x="153" y="229"/>
                  </a:lnTo>
                  <a:lnTo>
                    <a:pt x="132" y="226"/>
                  </a:lnTo>
                  <a:lnTo>
                    <a:pt x="132" y="222"/>
                  </a:lnTo>
                  <a:lnTo>
                    <a:pt x="117" y="221"/>
                  </a:lnTo>
                  <a:lnTo>
                    <a:pt x="113" y="237"/>
                  </a:lnTo>
                  <a:lnTo>
                    <a:pt x="94" y="240"/>
                  </a:lnTo>
                  <a:lnTo>
                    <a:pt x="83" y="237"/>
                  </a:lnTo>
                  <a:lnTo>
                    <a:pt x="76" y="220"/>
                  </a:lnTo>
                  <a:lnTo>
                    <a:pt x="70" y="203"/>
                  </a:lnTo>
                  <a:lnTo>
                    <a:pt x="57" y="202"/>
                  </a:lnTo>
                  <a:lnTo>
                    <a:pt x="43" y="202"/>
                  </a:lnTo>
                  <a:lnTo>
                    <a:pt x="29" y="201"/>
                  </a:lnTo>
                  <a:lnTo>
                    <a:pt x="16" y="201"/>
                  </a:lnTo>
                  <a:lnTo>
                    <a:pt x="3" y="202"/>
                  </a:lnTo>
                  <a:lnTo>
                    <a:pt x="0" y="199"/>
                  </a:lnTo>
                  <a:lnTo>
                    <a:pt x="6" y="198"/>
                  </a:lnTo>
                  <a:lnTo>
                    <a:pt x="7" y="184"/>
                  </a:lnTo>
                  <a:lnTo>
                    <a:pt x="15" y="178"/>
                  </a:lnTo>
                  <a:lnTo>
                    <a:pt x="23" y="181"/>
                  </a:lnTo>
                  <a:lnTo>
                    <a:pt x="27" y="175"/>
                  </a:lnTo>
                  <a:lnTo>
                    <a:pt x="36" y="174"/>
                  </a:lnTo>
                  <a:lnTo>
                    <a:pt x="39" y="183"/>
                  </a:lnTo>
                  <a:lnTo>
                    <a:pt x="51" y="171"/>
                  </a:lnTo>
                  <a:lnTo>
                    <a:pt x="63" y="159"/>
                  </a:lnTo>
                  <a:lnTo>
                    <a:pt x="65" y="145"/>
                  </a:lnTo>
                  <a:lnTo>
                    <a:pt x="66" y="131"/>
                  </a:lnTo>
                  <a:lnTo>
                    <a:pt x="78" y="117"/>
                  </a:lnTo>
                  <a:lnTo>
                    <a:pt x="89" y="102"/>
                  </a:lnTo>
                  <a:lnTo>
                    <a:pt x="91" y="89"/>
                  </a:lnTo>
                  <a:lnTo>
                    <a:pt x="94" y="75"/>
                  </a:lnTo>
                  <a:lnTo>
                    <a:pt x="96" y="61"/>
                  </a:lnTo>
                  <a:lnTo>
                    <a:pt x="99" y="48"/>
                  </a:lnTo>
                  <a:lnTo>
                    <a:pt x="102" y="33"/>
                  </a:lnTo>
                  <a:lnTo>
                    <a:pt x="102" y="19"/>
                  </a:lnTo>
                  <a:lnTo>
                    <a:pt x="114" y="3"/>
                  </a:lnTo>
                  <a:lnTo>
                    <a:pt x="131" y="12"/>
                  </a:lnTo>
                  <a:lnTo>
                    <a:pt x="147" y="17"/>
                  </a:lnTo>
                  <a:lnTo>
                    <a:pt x="161" y="21"/>
                  </a:lnTo>
                  <a:lnTo>
                    <a:pt x="168" y="10"/>
                  </a:lnTo>
                  <a:lnTo>
                    <a:pt x="175" y="11"/>
                  </a:lnTo>
                  <a:lnTo>
                    <a:pt x="191" y="5"/>
                  </a:lnTo>
                  <a:lnTo>
                    <a:pt x="203" y="5"/>
                  </a:lnTo>
                  <a:lnTo>
                    <a:pt x="209" y="0"/>
                  </a:lnTo>
                  <a:lnTo>
                    <a:pt x="221" y="1"/>
                  </a:lnTo>
                  <a:lnTo>
                    <a:pt x="234" y="3"/>
                  </a:lnTo>
                  <a:lnTo>
                    <a:pt x="243" y="5"/>
                  </a:lnTo>
                  <a:lnTo>
                    <a:pt x="246" y="9"/>
                  </a:lnTo>
                  <a:lnTo>
                    <a:pt x="258" y="17"/>
                  </a:lnTo>
                  <a:lnTo>
                    <a:pt x="268" y="16"/>
                  </a:lnTo>
                  <a:lnTo>
                    <a:pt x="274" y="11"/>
                  </a:lnTo>
                  <a:lnTo>
                    <a:pt x="285" y="22"/>
                  </a:lnTo>
                  <a:lnTo>
                    <a:pt x="297" y="33"/>
                  </a:lnTo>
                  <a:lnTo>
                    <a:pt x="295" y="48"/>
                  </a:lnTo>
                  <a:lnTo>
                    <a:pt x="304" y="57"/>
                  </a:lnTo>
                  <a:lnTo>
                    <a:pt x="293" y="67"/>
                  </a:lnTo>
                  <a:lnTo>
                    <a:pt x="283" y="79"/>
                  </a:lnTo>
                  <a:lnTo>
                    <a:pt x="280" y="100"/>
                  </a:lnTo>
                  <a:lnTo>
                    <a:pt x="276" y="1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4" name="Freeform 223"/>
            <p:cNvSpPr>
              <a:spLocks/>
            </p:cNvSpPr>
            <p:nvPr/>
          </p:nvSpPr>
          <p:spPr bwMode="auto">
            <a:xfrm>
              <a:off x="2916" y="2867"/>
              <a:ext cx="206" cy="200"/>
            </a:xfrm>
            <a:custGeom>
              <a:avLst/>
              <a:gdLst/>
              <a:ahLst/>
              <a:cxnLst>
                <a:cxn ang="0">
                  <a:pos x="32" y="87"/>
                </a:cxn>
                <a:cxn ang="0">
                  <a:pos x="16" y="87"/>
                </a:cxn>
                <a:cxn ang="0">
                  <a:pos x="1" y="88"/>
                </a:cxn>
                <a:cxn ang="0">
                  <a:pos x="0" y="101"/>
                </a:cxn>
                <a:cxn ang="0">
                  <a:pos x="0" y="116"/>
                </a:cxn>
                <a:cxn ang="0">
                  <a:pos x="0" y="130"/>
                </a:cxn>
                <a:cxn ang="0">
                  <a:pos x="0" y="144"/>
                </a:cxn>
                <a:cxn ang="0">
                  <a:pos x="10" y="158"/>
                </a:cxn>
                <a:cxn ang="0">
                  <a:pos x="21" y="171"/>
                </a:cxn>
                <a:cxn ang="0">
                  <a:pos x="32" y="168"/>
                </a:cxn>
                <a:cxn ang="0">
                  <a:pos x="49" y="173"/>
                </a:cxn>
                <a:cxn ang="0">
                  <a:pos x="72" y="179"/>
                </a:cxn>
                <a:cxn ang="0">
                  <a:pos x="86" y="165"/>
                </a:cxn>
                <a:cxn ang="0">
                  <a:pos x="103" y="152"/>
                </a:cxn>
                <a:cxn ang="0">
                  <a:pos x="108" y="141"/>
                </a:cxn>
                <a:cxn ang="0">
                  <a:pos x="120" y="137"/>
                </a:cxn>
                <a:cxn ang="0">
                  <a:pos x="132" y="135"/>
                </a:cxn>
                <a:cxn ang="0">
                  <a:pos x="129" y="125"/>
                </a:cxn>
                <a:cxn ang="0">
                  <a:pos x="141" y="120"/>
                </a:cxn>
                <a:cxn ang="0">
                  <a:pos x="152" y="116"/>
                </a:cxn>
                <a:cxn ang="0">
                  <a:pos x="164" y="111"/>
                </a:cxn>
                <a:cxn ang="0">
                  <a:pos x="176" y="106"/>
                </a:cxn>
                <a:cxn ang="0">
                  <a:pos x="169" y="98"/>
                </a:cxn>
                <a:cxn ang="0">
                  <a:pos x="177" y="81"/>
                </a:cxn>
                <a:cxn ang="0">
                  <a:pos x="180" y="76"/>
                </a:cxn>
                <a:cxn ang="0">
                  <a:pos x="181" y="62"/>
                </a:cxn>
                <a:cxn ang="0">
                  <a:pos x="182" y="48"/>
                </a:cxn>
                <a:cxn ang="0">
                  <a:pos x="186" y="41"/>
                </a:cxn>
                <a:cxn ang="0">
                  <a:pos x="176" y="27"/>
                </a:cxn>
                <a:cxn ang="0">
                  <a:pos x="175" y="23"/>
                </a:cxn>
                <a:cxn ang="0">
                  <a:pos x="158" y="14"/>
                </a:cxn>
                <a:cxn ang="0">
                  <a:pos x="141" y="4"/>
                </a:cxn>
                <a:cxn ang="0">
                  <a:pos x="141" y="0"/>
                </a:cxn>
                <a:cxn ang="0">
                  <a:pos x="126" y="4"/>
                </a:cxn>
                <a:cxn ang="0">
                  <a:pos x="111" y="8"/>
                </a:cxn>
                <a:cxn ang="0">
                  <a:pos x="103" y="21"/>
                </a:cxn>
                <a:cxn ang="0">
                  <a:pos x="106" y="36"/>
                </a:cxn>
                <a:cxn ang="0">
                  <a:pos x="105" y="52"/>
                </a:cxn>
                <a:cxn ang="0">
                  <a:pos x="103" y="68"/>
                </a:cxn>
                <a:cxn ang="0">
                  <a:pos x="118" y="78"/>
                </a:cxn>
                <a:cxn ang="0">
                  <a:pos x="123" y="72"/>
                </a:cxn>
                <a:cxn ang="0">
                  <a:pos x="121" y="95"/>
                </a:cxn>
                <a:cxn ang="0">
                  <a:pos x="116" y="94"/>
                </a:cxn>
                <a:cxn ang="0">
                  <a:pos x="110" y="94"/>
                </a:cxn>
                <a:cxn ang="0">
                  <a:pos x="97" y="76"/>
                </a:cxn>
                <a:cxn ang="0">
                  <a:pos x="87" y="69"/>
                </a:cxn>
                <a:cxn ang="0">
                  <a:pos x="80" y="63"/>
                </a:cxn>
                <a:cxn ang="0">
                  <a:pos x="74" y="69"/>
                </a:cxn>
                <a:cxn ang="0">
                  <a:pos x="54" y="62"/>
                </a:cxn>
                <a:cxn ang="0">
                  <a:pos x="51" y="56"/>
                </a:cxn>
                <a:cxn ang="0">
                  <a:pos x="38" y="58"/>
                </a:cxn>
                <a:cxn ang="0">
                  <a:pos x="32" y="50"/>
                </a:cxn>
                <a:cxn ang="0">
                  <a:pos x="32" y="68"/>
                </a:cxn>
                <a:cxn ang="0">
                  <a:pos x="32" y="87"/>
                </a:cxn>
              </a:cxnLst>
              <a:rect l="0" t="0" r="r" b="b"/>
              <a:pathLst>
                <a:path w="186" h="179">
                  <a:moveTo>
                    <a:pt x="32" y="87"/>
                  </a:moveTo>
                  <a:lnTo>
                    <a:pt x="16" y="87"/>
                  </a:lnTo>
                  <a:lnTo>
                    <a:pt x="1" y="88"/>
                  </a:lnTo>
                  <a:lnTo>
                    <a:pt x="0" y="101"/>
                  </a:lnTo>
                  <a:lnTo>
                    <a:pt x="0" y="116"/>
                  </a:lnTo>
                  <a:lnTo>
                    <a:pt x="0" y="130"/>
                  </a:lnTo>
                  <a:lnTo>
                    <a:pt x="0" y="144"/>
                  </a:lnTo>
                  <a:lnTo>
                    <a:pt x="10" y="158"/>
                  </a:lnTo>
                  <a:lnTo>
                    <a:pt x="21" y="171"/>
                  </a:lnTo>
                  <a:lnTo>
                    <a:pt x="32" y="168"/>
                  </a:lnTo>
                  <a:lnTo>
                    <a:pt x="49" y="173"/>
                  </a:lnTo>
                  <a:lnTo>
                    <a:pt x="72" y="179"/>
                  </a:lnTo>
                  <a:lnTo>
                    <a:pt x="86" y="165"/>
                  </a:lnTo>
                  <a:lnTo>
                    <a:pt x="103" y="152"/>
                  </a:lnTo>
                  <a:lnTo>
                    <a:pt x="108" y="141"/>
                  </a:lnTo>
                  <a:lnTo>
                    <a:pt x="120" y="137"/>
                  </a:lnTo>
                  <a:lnTo>
                    <a:pt x="132" y="135"/>
                  </a:lnTo>
                  <a:lnTo>
                    <a:pt x="129" y="125"/>
                  </a:lnTo>
                  <a:lnTo>
                    <a:pt x="141" y="120"/>
                  </a:lnTo>
                  <a:lnTo>
                    <a:pt x="152" y="116"/>
                  </a:lnTo>
                  <a:lnTo>
                    <a:pt x="164" y="111"/>
                  </a:lnTo>
                  <a:lnTo>
                    <a:pt x="176" y="106"/>
                  </a:lnTo>
                  <a:lnTo>
                    <a:pt x="169" y="98"/>
                  </a:lnTo>
                  <a:lnTo>
                    <a:pt x="177" y="81"/>
                  </a:lnTo>
                  <a:lnTo>
                    <a:pt x="180" y="76"/>
                  </a:lnTo>
                  <a:lnTo>
                    <a:pt x="181" y="62"/>
                  </a:lnTo>
                  <a:lnTo>
                    <a:pt x="182" y="48"/>
                  </a:lnTo>
                  <a:lnTo>
                    <a:pt x="186" y="41"/>
                  </a:lnTo>
                  <a:lnTo>
                    <a:pt x="176" y="27"/>
                  </a:lnTo>
                  <a:lnTo>
                    <a:pt x="175" y="23"/>
                  </a:lnTo>
                  <a:lnTo>
                    <a:pt x="158" y="14"/>
                  </a:lnTo>
                  <a:lnTo>
                    <a:pt x="141" y="4"/>
                  </a:lnTo>
                  <a:lnTo>
                    <a:pt x="141" y="0"/>
                  </a:lnTo>
                  <a:lnTo>
                    <a:pt x="126" y="4"/>
                  </a:lnTo>
                  <a:lnTo>
                    <a:pt x="111" y="8"/>
                  </a:lnTo>
                  <a:lnTo>
                    <a:pt x="103" y="21"/>
                  </a:lnTo>
                  <a:lnTo>
                    <a:pt x="106" y="36"/>
                  </a:lnTo>
                  <a:lnTo>
                    <a:pt x="105" y="52"/>
                  </a:lnTo>
                  <a:lnTo>
                    <a:pt x="103" y="68"/>
                  </a:lnTo>
                  <a:lnTo>
                    <a:pt x="118" y="78"/>
                  </a:lnTo>
                  <a:lnTo>
                    <a:pt x="123" y="72"/>
                  </a:lnTo>
                  <a:lnTo>
                    <a:pt x="121" y="95"/>
                  </a:lnTo>
                  <a:lnTo>
                    <a:pt x="116" y="94"/>
                  </a:lnTo>
                  <a:lnTo>
                    <a:pt x="110" y="94"/>
                  </a:lnTo>
                  <a:lnTo>
                    <a:pt x="97" y="76"/>
                  </a:lnTo>
                  <a:lnTo>
                    <a:pt x="87" y="69"/>
                  </a:lnTo>
                  <a:lnTo>
                    <a:pt x="80" y="63"/>
                  </a:lnTo>
                  <a:lnTo>
                    <a:pt x="74" y="69"/>
                  </a:lnTo>
                  <a:lnTo>
                    <a:pt x="54" y="62"/>
                  </a:lnTo>
                  <a:lnTo>
                    <a:pt x="51" y="56"/>
                  </a:lnTo>
                  <a:lnTo>
                    <a:pt x="38" y="58"/>
                  </a:lnTo>
                  <a:lnTo>
                    <a:pt x="32" y="50"/>
                  </a:lnTo>
                  <a:lnTo>
                    <a:pt x="32" y="68"/>
                  </a:lnTo>
                  <a:lnTo>
                    <a:pt x="32"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5" name="Freeform 224"/>
            <p:cNvSpPr>
              <a:spLocks/>
            </p:cNvSpPr>
            <p:nvPr/>
          </p:nvSpPr>
          <p:spPr bwMode="auto">
            <a:xfrm>
              <a:off x="2969" y="3016"/>
              <a:ext cx="135" cy="138"/>
            </a:xfrm>
            <a:custGeom>
              <a:avLst/>
              <a:gdLst/>
              <a:ahLst/>
              <a:cxnLst>
                <a:cxn ang="0">
                  <a:pos x="60" y="116"/>
                </a:cxn>
                <a:cxn ang="0">
                  <a:pos x="56" y="113"/>
                </a:cxn>
                <a:cxn ang="0">
                  <a:pos x="42" y="107"/>
                </a:cxn>
                <a:cxn ang="0">
                  <a:pos x="37" y="92"/>
                </a:cxn>
                <a:cxn ang="0">
                  <a:pos x="33" y="86"/>
                </a:cxn>
                <a:cxn ang="0">
                  <a:pos x="30" y="83"/>
                </a:cxn>
                <a:cxn ang="0">
                  <a:pos x="19" y="74"/>
                </a:cxn>
                <a:cxn ang="0">
                  <a:pos x="9" y="56"/>
                </a:cxn>
                <a:cxn ang="0">
                  <a:pos x="0" y="38"/>
                </a:cxn>
                <a:cxn ang="0">
                  <a:pos x="23" y="44"/>
                </a:cxn>
                <a:cxn ang="0">
                  <a:pos x="37" y="30"/>
                </a:cxn>
                <a:cxn ang="0">
                  <a:pos x="54" y="17"/>
                </a:cxn>
                <a:cxn ang="0">
                  <a:pos x="59" y="6"/>
                </a:cxn>
                <a:cxn ang="0">
                  <a:pos x="71" y="2"/>
                </a:cxn>
                <a:cxn ang="0">
                  <a:pos x="83" y="0"/>
                </a:cxn>
                <a:cxn ang="0">
                  <a:pos x="83" y="7"/>
                </a:cxn>
                <a:cxn ang="0">
                  <a:pos x="90" y="6"/>
                </a:cxn>
                <a:cxn ang="0">
                  <a:pos x="105" y="13"/>
                </a:cxn>
                <a:cxn ang="0">
                  <a:pos x="121" y="19"/>
                </a:cxn>
                <a:cxn ang="0">
                  <a:pos x="121" y="41"/>
                </a:cxn>
                <a:cxn ang="0">
                  <a:pos x="117" y="56"/>
                </a:cxn>
                <a:cxn ang="0">
                  <a:pos x="120" y="73"/>
                </a:cxn>
                <a:cxn ang="0">
                  <a:pos x="114" y="89"/>
                </a:cxn>
                <a:cxn ang="0">
                  <a:pos x="110" y="103"/>
                </a:cxn>
                <a:cxn ang="0">
                  <a:pos x="101" y="113"/>
                </a:cxn>
                <a:cxn ang="0">
                  <a:pos x="91" y="122"/>
                </a:cxn>
                <a:cxn ang="0">
                  <a:pos x="75" y="120"/>
                </a:cxn>
                <a:cxn ang="0">
                  <a:pos x="61" y="117"/>
                </a:cxn>
                <a:cxn ang="0">
                  <a:pos x="60" y="116"/>
                </a:cxn>
              </a:cxnLst>
              <a:rect l="0" t="0" r="r" b="b"/>
              <a:pathLst>
                <a:path w="121" h="122">
                  <a:moveTo>
                    <a:pt x="60" y="116"/>
                  </a:moveTo>
                  <a:lnTo>
                    <a:pt x="56" y="113"/>
                  </a:lnTo>
                  <a:lnTo>
                    <a:pt x="42" y="107"/>
                  </a:lnTo>
                  <a:lnTo>
                    <a:pt x="37" y="92"/>
                  </a:lnTo>
                  <a:lnTo>
                    <a:pt x="33" y="86"/>
                  </a:lnTo>
                  <a:lnTo>
                    <a:pt x="30" y="83"/>
                  </a:lnTo>
                  <a:lnTo>
                    <a:pt x="19" y="74"/>
                  </a:lnTo>
                  <a:lnTo>
                    <a:pt x="9" y="56"/>
                  </a:lnTo>
                  <a:lnTo>
                    <a:pt x="0" y="38"/>
                  </a:lnTo>
                  <a:lnTo>
                    <a:pt x="23" y="44"/>
                  </a:lnTo>
                  <a:lnTo>
                    <a:pt x="37" y="30"/>
                  </a:lnTo>
                  <a:lnTo>
                    <a:pt x="54" y="17"/>
                  </a:lnTo>
                  <a:lnTo>
                    <a:pt x="59" y="6"/>
                  </a:lnTo>
                  <a:lnTo>
                    <a:pt x="71" y="2"/>
                  </a:lnTo>
                  <a:lnTo>
                    <a:pt x="83" y="0"/>
                  </a:lnTo>
                  <a:lnTo>
                    <a:pt x="83" y="7"/>
                  </a:lnTo>
                  <a:lnTo>
                    <a:pt x="90" y="6"/>
                  </a:lnTo>
                  <a:lnTo>
                    <a:pt x="105" y="13"/>
                  </a:lnTo>
                  <a:lnTo>
                    <a:pt x="121" y="19"/>
                  </a:lnTo>
                  <a:lnTo>
                    <a:pt x="121" y="41"/>
                  </a:lnTo>
                  <a:lnTo>
                    <a:pt x="117" y="56"/>
                  </a:lnTo>
                  <a:lnTo>
                    <a:pt x="120" y="73"/>
                  </a:lnTo>
                  <a:lnTo>
                    <a:pt x="114" y="89"/>
                  </a:lnTo>
                  <a:lnTo>
                    <a:pt x="110" y="103"/>
                  </a:lnTo>
                  <a:lnTo>
                    <a:pt x="101" y="113"/>
                  </a:lnTo>
                  <a:lnTo>
                    <a:pt x="91" y="122"/>
                  </a:lnTo>
                  <a:lnTo>
                    <a:pt x="75" y="120"/>
                  </a:lnTo>
                  <a:lnTo>
                    <a:pt x="61" y="117"/>
                  </a:lnTo>
                  <a:lnTo>
                    <a:pt x="60" y="1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6" name="Freeform 225"/>
            <p:cNvSpPr>
              <a:spLocks/>
            </p:cNvSpPr>
            <p:nvPr/>
          </p:nvSpPr>
          <p:spPr bwMode="auto">
            <a:xfrm>
              <a:off x="920" y="2705"/>
              <a:ext cx="9" cy="18"/>
            </a:xfrm>
            <a:custGeom>
              <a:avLst/>
              <a:gdLst/>
              <a:ahLst/>
              <a:cxnLst>
                <a:cxn ang="0">
                  <a:pos x="0" y="0"/>
                </a:cxn>
                <a:cxn ang="0">
                  <a:pos x="5" y="10"/>
                </a:cxn>
                <a:cxn ang="0">
                  <a:pos x="0" y="16"/>
                </a:cxn>
                <a:cxn ang="0">
                  <a:pos x="10" y="17"/>
                </a:cxn>
                <a:cxn ang="0">
                  <a:pos x="4" y="0"/>
                </a:cxn>
                <a:cxn ang="0">
                  <a:pos x="0" y="0"/>
                </a:cxn>
              </a:cxnLst>
              <a:rect l="0" t="0" r="r" b="b"/>
              <a:pathLst>
                <a:path w="10" h="17">
                  <a:moveTo>
                    <a:pt x="0" y="0"/>
                  </a:moveTo>
                  <a:lnTo>
                    <a:pt x="5" y="10"/>
                  </a:lnTo>
                  <a:lnTo>
                    <a:pt x="0" y="16"/>
                  </a:lnTo>
                  <a:lnTo>
                    <a:pt x="10" y="17"/>
                  </a:lnTo>
                  <a:lnTo>
                    <a:pt x="4" y="0"/>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7" name="Freeform 226"/>
            <p:cNvSpPr>
              <a:spLocks/>
            </p:cNvSpPr>
            <p:nvPr/>
          </p:nvSpPr>
          <p:spPr bwMode="auto">
            <a:xfrm>
              <a:off x="936" y="2716"/>
              <a:ext cx="7" cy="3"/>
            </a:xfrm>
            <a:custGeom>
              <a:avLst/>
              <a:gdLst/>
              <a:ahLst/>
              <a:cxnLst>
                <a:cxn ang="0">
                  <a:pos x="6" y="1"/>
                </a:cxn>
                <a:cxn ang="0">
                  <a:pos x="4" y="1"/>
                </a:cxn>
                <a:cxn ang="0">
                  <a:pos x="0" y="0"/>
                </a:cxn>
                <a:cxn ang="0">
                  <a:pos x="6" y="1"/>
                </a:cxn>
              </a:cxnLst>
              <a:rect l="0" t="0" r="r" b="b"/>
              <a:pathLst>
                <a:path w="6" h="1">
                  <a:moveTo>
                    <a:pt x="6" y="1"/>
                  </a:moveTo>
                  <a:lnTo>
                    <a:pt x="4" y="1"/>
                  </a:lnTo>
                  <a:lnTo>
                    <a:pt x="0" y="0"/>
                  </a:lnTo>
                  <a:lnTo>
                    <a:pt x="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8" name="Freeform 227"/>
            <p:cNvSpPr>
              <a:spLocks/>
            </p:cNvSpPr>
            <p:nvPr/>
          </p:nvSpPr>
          <p:spPr bwMode="auto">
            <a:xfrm>
              <a:off x="1134" y="2516"/>
              <a:ext cx="40" cy="45"/>
            </a:xfrm>
            <a:custGeom>
              <a:avLst/>
              <a:gdLst/>
              <a:ahLst/>
              <a:cxnLst>
                <a:cxn ang="0">
                  <a:pos x="21" y="22"/>
                </a:cxn>
                <a:cxn ang="0">
                  <a:pos x="27" y="22"/>
                </a:cxn>
                <a:cxn ang="0">
                  <a:pos x="25" y="19"/>
                </a:cxn>
                <a:cxn ang="0">
                  <a:pos x="21" y="18"/>
                </a:cxn>
                <a:cxn ang="0">
                  <a:pos x="16" y="13"/>
                </a:cxn>
                <a:cxn ang="0">
                  <a:pos x="5" y="8"/>
                </a:cxn>
                <a:cxn ang="0">
                  <a:pos x="0" y="4"/>
                </a:cxn>
                <a:cxn ang="0">
                  <a:pos x="0" y="0"/>
                </a:cxn>
                <a:cxn ang="0">
                  <a:pos x="15" y="1"/>
                </a:cxn>
                <a:cxn ang="0">
                  <a:pos x="25" y="8"/>
                </a:cxn>
                <a:cxn ang="0">
                  <a:pos x="36" y="14"/>
                </a:cxn>
                <a:cxn ang="0">
                  <a:pos x="36" y="28"/>
                </a:cxn>
                <a:cxn ang="0">
                  <a:pos x="30" y="33"/>
                </a:cxn>
                <a:cxn ang="0">
                  <a:pos x="27" y="40"/>
                </a:cxn>
                <a:cxn ang="0">
                  <a:pos x="23" y="34"/>
                </a:cxn>
                <a:cxn ang="0">
                  <a:pos x="21" y="22"/>
                </a:cxn>
              </a:cxnLst>
              <a:rect l="0" t="0" r="r" b="b"/>
              <a:pathLst>
                <a:path w="36" h="40">
                  <a:moveTo>
                    <a:pt x="21" y="22"/>
                  </a:moveTo>
                  <a:lnTo>
                    <a:pt x="27" y="22"/>
                  </a:lnTo>
                  <a:lnTo>
                    <a:pt x="25" y="19"/>
                  </a:lnTo>
                  <a:lnTo>
                    <a:pt x="21" y="18"/>
                  </a:lnTo>
                  <a:lnTo>
                    <a:pt x="16" y="13"/>
                  </a:lnTo>
                  <a:lnTo>
                    <a:pt x="5" y="8"/>
                  </a:lnTo>
                  <a:lnTo>
                    <a:pt x="0" y="4"/>
                  </a:lnTo>
                  <a:lnTo>
                    <a:pt x="0" y="0"/>
                  </a:lnTo>
                  <a:lnTo>
                    <a:pt x="15" y="1"/>
                  </a:lnTo>
                  <a:lnTo>
                    <a:pt x="25" y="8"/>
                  </a:lnTo>
                  <a:lnTo>
                    <a:pt x="36" y="14"/>
                  </a:lnTo>
                  <a:lnTo>
                    <a:pt x="36" y="28"/>
                  </a:lnTo>
                  <a:lnTo>
                    <a:pt x="30" y="33"/>
                  </a:lnTo>
                  <a:lnTo>
                    <a:pt x="27" y="40"/>
                  </a:lnTo>
                  <a:lnTo>
                    <a:pt x="23" y="34"/>
                  </a:lnTo>
                  <a:lnTo>
                    <a:pt x="21" y="2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9" name="Freeform 228"/>
            <p:cNvSpPr>
              <a:spLocks/>
            </p:cNvSpPr>
            <p:nvPr/>
          </p:nvSpPr>
          <p:spPr bwMode="auto">
            <a:xfrm>
              <a:off x="1569" y="2590"/>
              <a:ext cx="53" cy="73"/>
            </a:xfrm>
            <a:custGeom>
              <a:avLst/>
              <a:gdLst/>
              <a:ahLst/>
              <a:cxnLst>
                <a:cxn ang="0">
                  <a:pos x="36" y="18"/>
                </a:cxn>
                <a:cxn ang="0">
                  <a:pos x="21" y="3"/>
                </a:cxn>
                <a:cxn ang="0">
                  <a:pos x="11" y="0"/>
                </a:cxn>
                <a:cxn ang="0">
                  <a:pos x="7" y="7"/>
                </a:cxn>
                <a:cxn ang="0">
                  <a:pos x="2" y="21"/>
                </a:cxn>
                <a:cxn ang="0">
                  <a:pos x="8" y="44"/>
                </a:cxn>
                <a:cxn ang="0">
                  <a:pos x="0" y="61"/>
                </a:cxn>
                <a:cxn ang="0">
                  <a:pos x="9" y="63"/>
                </a:cxn>
                <a:cxn ang="0">
                  <a:pos x="25" y="65"/>
                </a:cxn>
                <a:cxn ang="0">
                  <a:pos x="36" y="48"/>
                </a:cxn>
                <a:cxn ang="0">
                  <a:pos x="47" y="31"/>
                </a:cxn>
                <a:cxn ang="0">
                  <a:pos x="42" y="20"/>
                </a:cxn>
                <a:cxn ang="0">
                  <a:pos x="42" y="24"/>
                </a:cxn>
                <a:cxn ang="0">
                  <a:pos x="36" y="18"/>
                </a:cxn>
              </a:cxnLst>
              <a:rect l="0" t="0" r="r" b="b"/>
              <a:pathLst>
                <a:path w="47" h="65">
                  <a:moveTo>
                    <a:pt x="36" y="18"/>
                  </a:moveTo>
                  <a:lnTo>
                    <a:pt x="21" y="3"/>
                  </a:lnTo>
                  <a:lnTo>
                    <a:pt x="11" y="0"/>
                  </a:lnTo>
                  <a:lnTo>
                    <a:pt x="7" y="7"/>
                  </a:lnTo>
                  <a:lnTo>
                    <a:pt x="2" y="21"/>
                  </a:lnTo>
                  <a:lnTo>
                    <a:pt x="8" y="44"/>
                  </a:lnTo>
                  <a:lnTo>
                    <a:pt x="0" y="61"/>
                  </a:lnTo>
                  <a:lnTo>
                    <a:pt x="9" y="63"/>
                  </a:lnTo>
                  <a:lnTo>
                    <a:pt x="25" y="65"/>
                  </a:lnTo>
                  <a:lnTo>
                    <a:pt x="36" y="48"/>
                  </a:lnTo>
                  <a:lnTo>
                    <a:pt x="47" y="31"/>
                  </a:lnTo>
                  <a:lnTo>
                    <a:pt x="42" y="20"/>
                  </a:lnTo>
                  <a:lnTo>
                    <a:pt x="42" y="24"/>
                  </a:lnTo>
                  <a:lnTo>
                    <a:pt x="36"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0" name="Freeform 229"/>
            <p:cNvSpPr>
              <a:spLocks/>
            </p:cNvSpPr>
            <p:nvPr/>
          </p:nvSpPr>
          <p:spPr bwMode="auto">
            <a:xfrm>
              <a:off x="1140" y="2459"/>
              <a:ext cx="214" cy="331"/>
            </a:xfrm>
            <a:custGeom>
              <a:avLst/>
              <a:gdLst/>
              <a:ahLst/>
              <a:cxnLst>
                <a:cxn ang="0">
                  <a:pos x="76" y="28"/>
                </a:cxn>
                <a:cxn ang="0">
                  <a:pos x="69" y="25"/>
                </a:cxn>
                <a:cxn ang="0">
                  <a:pos x="56" y="53"/>
                </a:cxn>
                <a:cxn ang="0">
                  <a:pos x="35" y="79"/>
                </a:cxn>
                <a:cxn ang="0">
                  <a:pos x="29" y="66"/>
                </a:cxn>
                <a:cxn ang="0">
                  <a:pos x="23" y="85"/>
                </a:cxn>
                <a:cxn ang="0">
                  <a:pos x="24" y="100"/>
                </a:cxn>
                <a:cxn ang="0">
                  <a:pos x="24" y="124"/>
                </a:cxn>
                <a:cxn ang="0">
                  <a:pos x="27" y="150"/>
                </a:cxn>
                <a:cxn ang="0">
                  <a:pos x="18" y="173"/>
                </a:cxn>
                <a:cxn ang="0">
                  <a:pos x="5" y="187"/>
                </a:cxn>
                <a:cxn ang="0">
                  <a:pos x="2" y="197"/>
                </a:cxn>
                <a:cxn ang="0">
                  <a:pos x="24" y="215"/>
                </a:cxn>
                <a:cxn ang="0">
                  <a:pos x="58" y="224"/>
                </a:cxn>
                <a:cxn ang="0">
                  <a:pos x="68" y="232"/>
                </a:cxn>
                <a:cxn ang="0">
                  <a:pos x="89" y="254"/>
                </a:cxn>
                <a:cxn ang="0">
                  <a:pos x="112" y="263"/>
                </a:cxn>
                <a:cxn ang="0">
                  <a:pos x="140" y="269"/>
                </a:cxn>
                <a:cxn ang="0">
                  <a:pos x="143" y="298"/>
                </a:cxn>
                <a:cxn ang="0">
                  <a:pos x="150" y="247"/>
                </a:cxn>
                <a:cxn ang="0">
                  <a:pos x="141" y="211"/>
                </a:cxn>
                <a:cxn ang="0">
                  <a:pos x="155" y="206"/>
                </a:cxn>
                <a:cxn ang="0">
                  <a:pos x="144" y="191"/>
                </a:cxn>
                <a:cxn ang="0">
                  <a:pos x="171" y="191"/>
                </a:cxn>
                <a:cxn ang="0">
                  <a:pos x="173" y="191"/>
                </a:cxn>
                <a:cxn ang="0">
                  <a:pos x="188" y="199"/>
                </a:cxn>
                <a:cxn ang="0">
                  <a:pos x="188" y="186"/>
                </a:cxn>
                <a:cxn ang="0">
                  <a:pos x="184" y="163"/>
                </a:cxn>
                <a:cxn ang="0">
                  <a:pos x="180" y="126"/>
                </a:cxn>
                <a:cxn ang="0">
                  <a:pos x="171" y="112"/>
                </a:cxn>
                <a:cxn ang="0">
                  <a:pos x="143" y="96"/>
                </a:cxn>
                <a:cxn ang="0">
                  <a:pos x="118" y="95"/>
                </a:cxn>
                <a:cxn ang="0">
                  <a:pos x="107" y="78"/>
                </a:cxn>
                <a:cxn ang="0">
                  <a:pos x="93" y="58"/>
                </a:cxn>
                <a:cxn ang="0">
                  <a:pos x="108" y="28"/>
                </a:cxn>
                <a:cxn ang="0">
                  <a:pos x="128" y="10"/>
                </a:cxn>
                <a:cxn ang="0">
                  <a:pos x="119" y="1"/>
                </a:cxn>
                <a:cxn ang="0">
                  <a:pos x="90" y="19"/>
                </a:cxn>
              </a:cxnLst>
              <a:rect l="0" t="0" r="r" b="b"/>
              <a:pathLst>
                <a:path w="191" h="298">
                  <a:moveTo>
                    <a:pt x="81" y="20"/>
                  </a:moveTo>
                  <a:lnTo>
                    <a:pt x="76" y="28"/>
                  </a:lnTo>
                  <a:lnTo>
                    <a:pt x="77" y="25"/>
                  </a:lnTo>
                  <a:lnTo>
                    <a:pt x="69" y="25"/>
                  </a:lnTo>
                  <a:lnTo>
                    <a:pt x="57" y="40"/>
                  </a:lnTo>
                  <a:lnTo>
                    <a:pt x="56" y="53"/>
                  </a:lnTo>
                  <a:lnTo>
                    <a:pt x="38" y="70"/>
                  </a:lnTo>
                  <a:lnTo>
                    <a:pt x="35" y="79"/>
                  </a:lnTo>
                  <a:lnTo>
                    <a:pt x="33" y="71"/>
                  </a:lnTo>
                  <a:lnTo>
                    <a:pt x="29" y="66"/>
                  </a:lnTo>
                  <a:lnTo>
                    <a:pt x="29" y="80"/>
                  </a:lnTo>
                  <a:lnTo>
                    <a:pt x="23" y="85"/>
                  </a:lnTo>
                  <a:lnTo>
                    <a:pt x="20" y="92"/>
                  </a:lnTo>
                  <a:lnTo>
                    <a:pt x="24" y="100"/>
                  </a:lnTo>
                  <a:lnTo>
                    <a:pt x="28" y="116"/>
                  </a:lnTo>
                  <a:lnTo>
                    <a:pt x="24" y="124"/>
                  </a:lnTo>
                  <a:lnTo>
                    <a:pt x="26" y="137"/>
                  </a:lnTo>
                  <a:lnTo>
                    <a:pt x="27" y="150"/>
                  </a:lnTo>
                  <a:lnTo>
                    <a:pt x="29" y="152"/>
                  </a:lnTo>
                  <a:lnTo>
                    <a:pt x="18" y="173"/>
                  </a:lnTo>
                  <a:lnTo>
                    <a:pt x="9" y="178"/>
                  </a:lnTo>
                  <a:lnTo>
                    <a:pt x="5" y="187"/>
                  </a:lnTo>
                  <a:lnTo>
                    <a:pt x="0" y="190"/>
                  </a:lnTo>
                  <a:lnTo>
                    <a:pt x="2" y="197"/>
                  </a:lnTo>
                  <a:lnTo>
                    <a:pt x="15" y="206"/>
                  </a:lnTo>
                  <a:lnTo>
                    <a:pt x="24" y="215"/>
                  </a:lnTo>
                  <a:lnTo>
                    <a:pt x="40" y="215"/>
                  </a:lnTo>
                  <a:lnTo>
                    <a:pt x="58" y="224"/>
                  </a:lnTo>
                  <a:lnTo>
                    <a:pt x="59" y="223"/>
                  </a:lnTo>
                  <a:lnTo>
                    <a:pt x="68" y="232"/>
                  </a:lnTo>
                  <a:lnTo>
                    <a:pt x="77" y="240"/>
                  </a:lnTo>
                  <a:lnTo>
                    <a:pt x="89" y="254"/>
                  </a:lnTo>
                  <a:lnTo>
                    <a:pt x="92" y="263"/>
                  </a:lnTo>
                  <a:lnTo>
                    <a:pt x="112" y="263"/>
                  </a:lnTo>
                  <a:lnTo>
                    <a:pt x="124" y="264"/>
                  </a:lnTo>
                  <a:lnTo>
                    <a:pt x="140" y="269"/>
                  </a:lnTo>
                  <a:lnTo>
                    <a:pt x="134" y="290"/>
                  </a:lnTo>
                  <a:lnTo>
                    <a:pt x="143" y="298"/>
                  </a:lnTo>
                  <a:lnTo>
                    <a:pt x="147" y="272"/>
                  </a:lnTo>
                  <a:lnTo>
                    <a:pt x="150" y="247"/>
                  </a:lnTo>
                  <a:lnTo>
                    <a:pt x="144" y="228"/>
                  </a:lnTo>
                  <a:lnTo>
                    <a:pt x="141" y="211"/>
                  </a:lnTo>
                  <a:lnTo>
                    <a:pt x="152" y="211"/>
                  </a:lnTo>
                  <a:lnTo>
                    <a:pt x="155" y="206"/>
                  </a:lnTo>
                  <a:lnTo>
                    <a:pt x="147" y="203"/>
                  </a:lnTo>
                  <a:lnTo>
                    <a:pt x="144" y="191"/>
                  </a:lnTo>
                  <a:lnTo>
                    <a:pt x="158" y="191"/>
                  </a:lnTo>
                  <a:lnTo>
                    <a:pt x="171" y="191"/>
                  </a:lnTo>
                  <a:lnTo>
                    <a:pt x="170" y="188"/>
                  </a:lnTo>
                  <a:lnTo>
                    <a:pt x="173" y="191"/>
                  </a:lnTo>
                  <a:lnTo>
                    <a:pt x="183" y="184"/>
                  </a:lnTo>
                  <a:lnTo>
                    <a:pt x="188" y="199"/>
                  </a:lnTo>
                  <a:lnTo>
                    <a:pt x="191" y="200"/>
                  </a:lnTo>
                  <a:lnTo>
                    <a:pt x="188" y="186"/>
                  </a:lnTo>
                  <a:lnTo>
                    <a:pt x="179" y="172"/>
                  </a:lnTo>
                  <a:lnTo>
                    <a:pt x="184" y="163"/>
                  </a:lnTo>
                  <a:lnTo>
                    <a:pt x="177" y="140"/>
                  </a:lnTo>
                  <a:lnTo>
                    <a:pt x="180" y="126"/>
                  </a:lnTo>
                  <a:lnTo>
                    <a:pt x="184" y="110"/>
                  </a:lnTo>
                  <a:lnTo>
                    <a:pt x="171" y="112"/>
                  </a:lnTo>
                  <a:lnTo>
                    <a:pt x="156" y="113"/>
                  </a:lnTo>
                  <a:lnTo>
                    <a:pt x="143" y="96"/>
                  </a:lnTo>
                  <a:lnTo>
                    <a:pt x="130" y="96"/>
                  </a:lnTo>
                  <a:lnTo>
                    <a:pt x="118" y="95"/>
                  </a:lnTo>
                  <a:lnTo>
                    <a:pt x="107" y="89"/>
                  </a:lnTo>
                  <a:lnTo>
                    <a:pt x="107" y="78"/>
                  </a:lnTo>
                  <a:lnTo>
                    <a:pt x="99" y="58"/>
                  </a:lnTo>
                  <a:lnTo>
                    <a:pt x="93" y="58"/>
                  </a:lnTo>
                  <a:lnTo>
                    <a:pt x="100" y="42"/>
                  </a:lnTo>
                  <a:lnTo>
                    <a:pt x="108" y="28"/>
                  </a:lnTo>
                  <a:lnTo>
                    <a:pt x="117" y="12"/>
                  </a:lnTo>
                  <a:lnTo>
                    <a:pt x="128" y="10"/>
                  </a:lnTo>
                  <a:lnTo>
                    <a:pt x="130" y="0"/>
                  </a:lnTo>
                  <a:lnTo>
                    <a:pt x="119" y="1"/>
                  </a:lnTo>
                  <a:lnTo>
                    <a:pt x="105" y="11"/>
                  </a:lnTo>
                  <a:lnTo>
                    <a:pt x="90" y="19"/>
                  </a:lnTo>
                  <a:lnTo>
                    <a:pt x="81" y="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1" name="Freeform 230"/>
            <p:cNvSpPr>
              <a:spLocks/>
            </p:cNvSpPr>
            <p:nvPr/>
          </p:nvSpPr>
          <p:spPr bwMode="auto">
            <a:xfrm>
              <a:off x="1454" y="2534"/>
              <a:ext cx="82" cy="145"/>
            </a:xfrm>
            <a:custGeom>
              <a:avLst/>
              <a:gdLst/>
              <a:ahLst/>
              <a:cxnLst>
                <a:cxn ang="0">
                  <a:pos x="60" y="94"/>
                </a:cxn>
                <a:cxn ang="0">
                  <a:pos x="53" y="84"/>
                </a:cxn>
                <a:cxn ang="0">
                  <a:pos x="54" y="69"/>
                </a:cxn>
                <a:cxn ang="0">
                  <a:pos x="61" y="64"/>
                </a:cxn>
                <a:cxn ang="0">
                  <a:pos x="64" y="56"/>
                </a:cxn>
                <a:cxn ang="0">
                  <a:pos x="64" y="41"/>
                </a:cxn>
                <a:cxn ang="0">
                  <a:pos x="47" y="30"/>
                </a:cxn>
                <a:cxn ang="0">
                  <a:pos x="43" y="38"/>
                </a:cxn>
                <a:cxn ang="0">
                  <a:pos x="45" y="20"/>
                </a:cxn>
                <a:cxn ang="0">
                  <a:pos x="35" y="12"/>
                </a:cxn>
                <a:cxn ang="0">
                  <a:pos x="27" y="4"/>
                </a:cxn>
                <a:cxn ang="0">
                  <a:pos x="30" y="6"/>
                </a:cxn>
                <a:cxn ang="0">
                  <a:pos x="23" y="0"/>
                </a:cxn>
                <a:cxn ang="0">
                  <a:pos x="25" y="5"/>
                </a:cxn>
                <a:cxn ang="0">
                  <a:pos x="11" y="18"/>
                </a:cxn>
                <a:cxn ang="0">
                  <a:pos x="17" y="26"/>
                </a:cxn>
                <a:cxn ang="0">
                  <a:pos x="6" y="33"/>
                </a:cxn>
                <a:cxn ang="0">
                  <a:pos x="0" y="46"/>
                </a:cxn>
                <a:cxn ang="0">
                  <a:pos x="9" y="60"/>
                </a:cxn>
                <a:cxn ang="0">
                  <a:pos x="18" y="60"/>
                </a:cxn>
                <a:cxn ang="0">
                  <a:pos x="19" y="70"/>
                </a:cxn>
                <a:cxn ang="0">
                  <a:pos x="27" y="80"/>
                </a:cxn>
                <a:cxn ang="0">
                  <a:pos x="22" y="95"/>
                </a:cxn>
                <a:cxn ang="0">
                  <a:pos x="24" y="117"/>
                </a:cxn>
                <a:cxn ang="0">
                  <a:pos x="34" y="130"/>
                </a:cxn>
                <a:cxn ang="0">
                  <a:pos x="43" y="130"/>
                </a:cxn>
                <a:cxn ang="0">
                  <a:pos x="59" y="122"/>
                </a:cxn>
                <a:cxn ang="0">
                  <a:pos x="76" y="119"/>
                </a:cxn>
                <a:cxn ang="0">
                  <a:pos x="69" y="106"/>
                </a:cxn>
                <a:cxn ang="0">
                  <a:pos x="60" y="94"/>
                </a:cxn>
              </a:cxnLst>
              <a:rect l="0" t="0" r="r" b="b"/>
              <a:pathLst>
                <a:path w="76" h="130">
                  <a:moveTo>
                    <a:pt x="60" y="94"/>
                  </a:moveTo>
                  <a:lnTo>
                    <a:pt x="53" y="84"/>
                  </a:lnTo>
                  <a:lnTo>
                    <a:pt x="54" y="69"/>
                  </a:lnTo>
                  <a:lnTo>
                    <a:pt x="61" y="64"/>
                  </a:lnTo>
                  <a:lnTo>
                    <a:pt x="64" y="56"/>
                  </a:lnTo>
                  <a:lnTo>
                    <a:pt x="64" y="41"/>
                  </a:lnTo>
                  <a:lnTo>
                    <a:pt x="47" y="30"/>
                  </a:lnTo>
                  <a:lnTo>
                    <a:pt x="43" y="38"/>
                  </a:lnTo>
                  <a:lnTo>
                    <a:pt x="45" y="20"/>
                  </a:lnTo>
                  <a:lnTo>
                    <a:pt x="35" y="12"/>
                  </a:lnTo>
                  <a:lnTo>
                    <a:pt x="27" y="4"/>
                  </a:lnTo>
                  <a:lnTo>
                    <a:pt x="30" y="6"/>
                  </a:lnTo>
                  <a:lnTo>
                    <a:pt x="23" y="0"/>
                  </a:lnTo>
                  <a:lnTo>
                    <a:pt x="25" y="5"/>
                  </a:lnTo>
                  <a:lnTo>
                    <a:pt x="11" y="18"/>
                  </a:lnTo>
                  <a:lnTo>
                    <a:pt x="17" y="26"/>
                  </a:lnTo>
                  <a:lnTo>
                    <a:pt x="6" y="33"/>
                  </a:lnTo>
                  <a:lnTo>
                    <a:pt x="0" y="46"/>
                  </a:lnTo>
                  <a:lnTo>
                    <a:pt x="9" y="60"/>
                  </a:lnTo>
                  <a:lnTo>
                    <a:pt x="18" y="60"/>
                  </a:lnTo>
                  <a:lnTo>
                    <a:pt x="19" y="70"/>
                  </a:lnTo>
                  <a:lnTo>
                    <a:pt x="27" y="80"/>
                  </a:lnTo>
                  <a:lnTo>
                    <a:pt x="22" y="95"/>
                  </a:lnTo>
                  <a:lnTo>
                    <a:pt x="24" y="117"/>
                  </a:lnTo>
                  <a:lnTo>
                    <a:pt x="34" y="130"/>
                  </a:lnTo>
                  <a:lnTo>
                    <a:pt x="43" y="130"/>
                  </a:lnTo>
                  <a:lnTo>
                    <a:pt x="59" y="122"/>
                  </a:lnTo>
                  <a:lnTo>
                    <a:pt x="76" y="119"/>
                  </a:lnTo>
                  <a:lnTo>
                    <a:pt x="69" y="106"/>
                  </a:lnTo>
                  <a:lnTo>
                    <a:pt x="60" y="9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2" name="Freeform 231"/>
            <p:cNvSpPr>
              <a:spLocks/>
            </p:cNvSpPr>
            <p:nvPr/>
          </p:nvSpPr>
          <p:spPr bwMode="auto">
            <a:xfrm>
              <a:off x="1511" y="2587"/>
              <a:ext cx="69" cy="83"/>
            </a:xfrm>
            <a:custGeom>
              <a:avLst/>
              <a:gdLst/>
              <a:ahLst/>
              <a:cxnLst>
                <a:cxn ang="0">
                  <a:pos x="7" y="46"/>
                </a:cxn>
                <a:cxn ang="0">
                  <a:pos x="0" y="36"/>
                </a:cxn>
                <a:cxn ang="0">
                  <a:pos x="1" y="21"/>
                </a:cxn>
                <a:cxn ang="0">
                  <a:pos x="8" y="16"/>
                </a:cxn>
                <a:cxn ang="0">
                  <a:pos x="11" y="8"/>
                </a:cxn>
                <a:cxn ang="0">
                  <a:pos x="14" y="0"/>
                </a:cxn>
                <a:cxn ang="0">
                  <a:pos x="32" y="2"/>
                </a:cxn>
                <a:cxn ang="0">
                  <a:pos x="47" y="0"/>
                </a:cxn>
                <a:cxn ang="0">
                  <a:pos x="61" y="2"/>
                </a:cxn>
                <a:cxn ang="0">
                  <a:pos x="60" y="10"/>
                </a:cxn>
                <a:cxn ang="0">
                  <a:pos x="55" y="24"/>
                </a:cxn>
                <a:cxn ang="0">
                  <a:pos x="61" y="47"/>
                </a:cxn>
                <a:cxn ang="0">
                  <a:pos x="53" y="64"/>
                </a:cxn>
                <a:cxn ang="0">
                  <a:pos x="43" y="60"/>
                </a:cxn>
                <a:cxn ang="0">
                  <a:pos x="29" y="64"/>
                </a:cxn>
                <a:cxn ang="0">
                  <a:pos x="30" y="74"/>
                </a:cxn>
                <a:cxn ang="0">
                  <a:pos x="23" y="71"/>
                </a:cxn>
                <a:cxn ang="0">
                  <a:pos x="16" y="58"/>
                </a:cxn>
                <a:cxn ang="0">
                  <a:pos x="7" y="46"/>
                </a:cxn>
              </a:cxnLst>
              <a:rect l="0" t="0" r="r" b="b"/>
              <a:pathLst>
                <a:path w="61" h="74">
                  <a:moveTo>
                    <a:pt x="7" y="46"/>
                  </a:moveTo>
                  <a:lnTo>
                    <a:pt x="0" y="36"/>
                  </a:lnTo>
                  <a:lnTo>
                    <a:pt x="1" y="21"/>
                  </a:lnTo>
                  <a:lnTo>
                    <a:pt x="8" y="16"/>
                  </a:lnTo>
                  <a:lnTo>
                    <a:pt x="11" y="8"/>
                  </a:lnTo>
                  <a:lnTo>
                    <a:pt x="14" y="0"/>
                  </a:lnTo>
                  <a:lnTo>
                    <a:pt x="32" y="2"/>
                  </a:lnTo>
                  <a:lnTo>
                    <a:pt x="47" y="0"/>
                  </a:lnTo>
                  <a:lnTo>
                    <a:pt x="61" y="2"/>
                  </a:lnTo>
                  <a:lnTo>
                    <a:pt x="60" y="10"/>
                  </a:lnTo>
                  <a:lnTo>
                    <a:pt x="55" y="24"/>
                  </a:lnTo>
                  <a:lnTo>
                    <a:pt x="61" y="47"/>
                  </a:lnTo>
                  <a:lnTo>
                    <a:pt x="53" y="64"/>
                  </a:lnTo>
                  <a:lnTo>
                    <a:pt x="43" y="60"/>
                  </a:lnTo>
                  <a:lnTo>
                    <a:pt x="29" y="64"/>
                  </a:lnTo>
                  <a:lnTo>
                    <a:pt x="30" y="74"/>
                  </a:lnTo>
                  <a:lnTo>
                    <a:pt x="23" y="71"/>
                  </a:lnTo>
                  <a:lnTo>
                    <a:pt x="16" y="58"/>
                  </a:lnTo>
                  <a:lnTo>
                    <a:pt x="7"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3" name="Freeform 232"/>
            <p:cNvSpPr>
              <a:spLocks/>
            </p:cNvSpPr>
            <p:nvPr/>
          </p:nvSpPr>
          <p:spPr bwMode="auto">
            <a:xfrm>
              <a:off x="1447" y="2490"/>
              <a:ext cx="15" cy="13"/>
            </a:xfrm>
            <a:custGeom>
              <a:avLst/>
              <a:gdLst/>
              <a:ahLst/>
              <a:cxnLst>
                <a:cxn ang="0">
                  <a:pos x="4" y="0"/>
                </a:cxn>
                <a:cxn ang="0">
                  <a:pos x="15" y="0"/>
                </a:cxn>
                <a:cxn ang="0">
                  <a:pos x="10" y="12"/>
                </a:cxn>
                <a:cxn ang="0">
                  <a:pos x="0" y="11"/>
                </a:cxn>
                <a:cxn ang="0">
                  <a:pos x="6" y="3"/>
                </a:cxn>
                <a:cxn ang="0">
                  <a:pos x="4" y="0"/>
                </a:cxn>
              </a:cxnLst>
              <a:rect l="0" t="0" r="r" b="b"/>
              <a:pathLst>
                <a:path w="15" h="12">
                  <a:moveTo>
                    <a:pt x="4" y="0"/>
                  </a:moveTo>
                  <a:lnTo>
                    <a:pt x="15" y="0"/>
                  </a:lnTo>
                  <a:lnTo>
                    <a:pt x="10" y="12"/>
                  </a:lnTo>
                  <a:lnTo>
                    <a:pt x="0" y="11"/>
                  </a:lnTo>
                  <a:lnTo>
                    <a:pt x="6" y="3"/>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4" name="Freeform 233"/>
            <p:cNvSpPr>
              <a:spLocks/>
            </p:cNvSpPr>
            <p:nvPr/>
          </p:nvSpPr>
          <p:spPr bwMode="auto">
            <a:xfrm>
              <a:off x="1242" y="2463"/>
              <a:ext cx="238" cy="227"/>
            </a:xfrm>
            <a:custGeom>
              <a:avLst/>
              <a:gdLst/>
              <a:ahLst/>
              <a:cxnLst>
                <a:cxn ang="0">
                  <a:pos x="176" y="42"/>
                </a:cxn>
                <a:cxn ang="0">
                  <a:pos x="167" y="38"/>
                </a:cxn>
                <a:cxn ang="0">
                  <a:pos x="165" y="32"/>
                </a:cxn>
                <a:cxn ang="0">
                  <a:pos x="164" y="27"/>
                </a:cxn>
                <a:cxn ang="0">
                  <a:pos x="153" y="30"/>
                </a:cxn>
                <a:cxn ang="0">
                  <a:pos x="115" y="30"/>
                </a:cxn>
                <a:cxn ang="0">
                  <a:pos x="86" y="30"/>
                </a:cxn>
                <a:cxn ang="0">
                  <a:pos x="63" y="12"/>
                </a:cxn>
                <a:cxn ang="0">
                  <a:pos x="53" y="7"/>
                </a:cxn>
                <a:cxn ang="0">
                  <a:pos x="56" y="12"/>
                </a:cxn>
                <a:cxn ang="0">
                  <a:pos x="32" y="24"/>
                </a:cxn>
                <a:cxn ang="0">
                  <a:pos x="30" y="56"/>
                </a:cxn>
                <a:cxn ang="0">
                  <a:pos x="29" y="28"/>
                </a:cxn>
                <a:cxn ang="0">
                  <a:pos x="35" y="6"/>
                </a:cxn>
                <a:cxn ang="0">
                  <a:pos x="15" y="24"/>
                </a:cxn>
                <a:cxn ang="0">
                  <a:pos x="0" y="54"/>
                </a:cxn>
                <a:cxn ang="0">
                  <a:pos x="14" y="74"/>
                </a:cxn>
                <a:cxn ang="0">
                  <a:pos x="25" y="91"/>
                </a:cxn>
                <a:cxn ang="0">
                  <a:pos x="50" y="92"/>
                </a:cxn>
                <a:cxn ang="0">
                  <a:pos x="78" y="108"/>
                </a:cxn>
                <a:cxn ang="0">
                  <a:pos x="87" y="122"/>
                </a:cxn>
                <a:cxn ang="0">
                  <a:pos x="91" y="159"/>
                </a:cxn>
                <a:cxn ang="0">
                  <a:pos x="95" y="182"/>
                </a:cxn>
                <a:cxn ang="0">
                  <a:pos x="111" y="204"/>
                </a:cxn>
                <a:cxn ang="0">
                  <a:pos x="122" y="205"/>
                </a:cxn>
                <a:cxn ang="0">
                  <a:pos x="152" y="180"/>
                </a:cxn>
                <a:cxn ang="0">
                  <a:pos x="145" y="171"/>
                </a:cxn>
                <a:cxn ang="0">
                  <a:pos x="134" y="141"/>
                </a:cxn>
                <a:cxn ang="0">
                  <a:pos x="165" y="152"/>
                </a:cxn>
                <a:cxn ang="0">
                  <a:pos x="181" y="140"/>
                </a:cxn>
                <a:cxn ang="0">
                  <a:pos x="198" y="124"/>
                </a:cxn>
                <a:cxn ang="0">
                  <a:pos x="188" y="110"/>
                </a:cxn>
                <a:cxn ang="0">
                  <a:pos x="205" y="90"/>
                </a:cxn>
                <a:cxn ang="0">
                  <a:pos x="213" y="69"/>
                </a:cxn>
                <a:cxn ang="0">
                  <a:pos x="195" y="64"/>
                </a:cxn>
                <a:cxn ang="0">
                  <a:pos x="189" y="63"/>
                </a:cxn>
                <a:cxn ang="0">
                  <a:pos x="198" y="51"/>
                </a:cxn>
                <a:cxn ang="0">
                  <a:pos x="182" y="43"/>
                </a:cxn>
                <a:cxn ang="0">
                  <a:pos x="177" y="44"/>
                </a:cxn>
              </a:cxnLst>
              <a:rect l="0" t="0" r="r" b="b"/>
              <a:pathLst>
                <a:path w="213" h="205">
                  <a:moveTo>
                    <a:pt x="177" y="44"/>
                  </a:moveTo>
                  <a:lnTo>
                    <a:pt x="176" y="42"/>
                  </a:lnTo>
                  <a:lnTo>
                    <a:pt x="173" y="37"/>
                  </a:lnTo>
                  <a:lnTo>
                    <a:pt x="167" y="38"/>
                  </a:lnTo>
                  <a:lnTo>
                    <a:pt x="170" y="37"/>
                  </a:lnTo>
                  <a:lnTo>
                    <a:pt x="165" y="32"/>
                  </a:lnTo>
                  <a:lnTo>
                    <a:pt x="181" y="27"/>
                  </a:lnTo>
                  <a:lnTo>
                    <a:pt x="164" y="27"/>
                  </a:lnTo>
                  <a:lnTo>
                    <a:pt x="147" y="27"/>
                  </a:lnTo>
                  <a:lnTo>
                    <a:pt x="153" y="30"/>
                  </a:lnTo>
                  <a:lnTo>
                    <a:pt x="137" y="37"/>
                  </a:lnTo>
                  <a:lnTo>
                    <a:pt x="115" y="30"/>
                  </a:lnTo>
                  <a:lnTo>
                    <a:pt x="101" y="30"/>
                  </a:lnTo>
                  <a:lnTo>
                    <a:pt x="86" y="30"/>
                  </a:lnTo>
                  <a:lnTo>
                    <a:pt x="80" y="19"/>
                  </a:lnTo>
                  <a:lnTo>
                    <a:pt x="63" y="12"/>
                  </a:lnTo>
                  <a:lnTo>
                    <a:pt x="56" y="0"/>
                  </a:lnTo>
                  <a:lnTo>
                    <a:pt x="53" y="7"/>
                  </a:lnTo>
                  <a:lnTo>
                    <a:pt x="60" y="12"/>
                  </a:lnTo>
                  <a:lnTo>
                    <a:pt x="56" y="12"/>
                  </a:lnTo>
                  <a:lnTo>
                    <a:pt x="35" y="20"/>
                  </a:lnTo>
                  <a:lnTo>
                    <a:pt x="32" y="24"/>
                  </a:lnTo>
                  <a:lnTo>
                    <a:pt x="36" y="46"/>
                  </a:lnTo>
                  <a:lnTo>
                    <a:pt x="30" y="56"/>
                  </a:lnTo>
                  <a:lnTo>
                    <a:pt x="20" y="43"/>
                  </a:lnTo>
                  <a:lnTo>
                    <a:pt x="29" y="28"/>
                  </a:lnTo>
                  <a:lnTo>
                    <a:pt x="25" y="13"/>
                  </a:lnTo>
                  <a:lnTo>
                    <a:pt x="35" y="6"/>
                  </a:lnTo>
                  <a:lnTo>
                    <a:pt x="24" y="8"/>
                  </a:lnTo>
                  <a:lnTo>
                    <a:pt x="15" y="24"/>
                  </a:lnTo>
                  <a:lnTo>
                    <a:pt x="7" y="38"/>
                  </a:lnTo>
                  <a:lnTo>
                    <a:pt x="0" y="54"/>
                  </a:lnTo>
                  <a:lnTo>
                    <a:pt x="6" y="54"/>
                  </a:lnTo>
                  <a:lnTo>
                    <a:pt x="14" y="74"/>
                  </a:lnTo>
                  <a:lnTo>
                    <a:pt x="14" y="85"/>
                  </a:lnTo>
                  <a:lnTo>
                    <a:pt x="25" y="91"/>
                  </a:lnTo>
                  <a:lnTo>
                    <a:pt x="37" y="92"/>
                  </a:lnTo>
                  <a:lnTo>
                    <a:pt x="50" y="92"/>
                  </a:lnTo>
                  <a:lnTo>
                    <a:pt x="63" y="109"/>
                  </a:lnTo>
                  <a:lnTo>
                    <a:pt x="78" y="108"/>
                  </a:lnTo>
                  <a:lnTo>
                    <a:pt x="91" y="106"/>
                  </a:lnTo>
                  <a:lnTo>
                    <a:pt x="87" y="122"/>
                  </a:lnTo>
                  <a:lnTo>
                    <a:pt x="84" y="136"/>
                  </a:lnTo>
                  <a:lnTo>
                    <a:pt x="91" y="159"/>
                  </a:lnTo>
                  <a:lnTo>
                    <a:pt x="86" y="168"/>
                  </a:lnTo>
                  <a:lnTo>
                    <a:pt x="95" y="182"/>
                  </a:lnTo>
                  <a:lnTo>
                    <a:pt x="98" y="196"/>
                  </a:lnTo>
                  <a:lnTo>
                    <a:pt x="111" y="204"/>
                  </a:lnTo>
                  <a:lnTo>
                    <a:pt x="120" y="204"/>
                  </a:lnTo>
                  <a:lnTo>
                    <a:pt x="122" y="205"/>
                  </a:lnTo>
                  <a:lnTo>
                    <a:pt x="138" y="193"/>
                  </a:lnTo>
                  <a:lnTo>
                    <a:pt x="152" y="180"/>
                  </a:lnTo>
                  <a:lnTo>
                    <a:pt x="155" y="175"/>
                  </a:lnTo>
                  <a:lnTo>
                    <a:pt x="145" y="171"/>
                  </a:lnTo>
                  <a:lnTo>
                    <a:pt x="140" y="151"/>
                  </a:lnTo>
                  <a:lnTo>
                    <a:pt x="134" y="141"/>
                  </a:lnTo>
                  <a:lnTo>
                    <a:pt x="150" y="147"/>
                  </a:lnTo>
                  <a:lnTo>
                    <a:pt x="165" y="152"/>
                  </a:lnTo>
                  <a:lnTo>
                    <a:pt x="168" y="146"/>
                  </a:lnTo>
                  <a:lnTo>
                    <a:pt x="181" y="140"/>
                  </a:lnTo>
                  <a:lnTo>
                    <a:pt x="194" y="134"/>
                  </a:lnTo>
                  <a:lnTo>
                    <a:pt x="198" y="124"/>
                  </a:lnTo>
                  <a:lnTo>
                    <a:pt x="197" y="124"/>
                  </a:lnTo>
                  <a:lnTo>
                    <a:pt x="188" y="110"/>
                  </a:lnTo>
                  <a:lnTo>
                    <a:pt x="194" y="97"/>
                  </a:lnTo>
                  <a:lnTo>
                    <a:pt x="205" y="90"/>
                  </a:lnTo>
                  <a:lnTo>
                    <a:pt x="199" y="82"/>
                  </a:lnTo>
                  <a:lnTo>
                    <a:pt x="213" y="69"/>
                  </a:lnTo>
                  <a:lnTo>
                    <a:pt x="211" y="64"/>
                  </a:lnTo>
                  <a:lnTo>
                    <a:pt x="195" y="64"/>
                  </a:lnTo>
                  <a:lnTo>
                    <a:pt x="185" y="64"/>
                  </a:lnTo>
                  <a:lnTo>
                    <a:pt x="189" y="63"/>
                  </a:lnTo>
                  <a:lnTo>
                    <a:pt x="194" y="55"/>
                  </a:lnTo>
                  <a:lnTo>
                    <a:pt x="198" y="51"/>
                  </a:lnTo>
                  <a:lnTo>
                    <a:pt x="188" y="43"/>
                  </a:lnTo>
                  <a:lnTo>
                    <a:pt x="182" y="43"/>
                  </a:lnTo>
                  <a:lnTo>
                    <a:pt x="176" y="39"/>
                  </a:lnTo>
                  <a:lnTo>
                    <a:pt x="177" y="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5" name="Freeform 234"/>
            <p:cNvSpPr>
              <a:spLocks/>
            </p:cNvSpPr>
            <p:nvPr/>
          </p:nvSpPr>
          <p:spPr bwMode="auto">
            <a:xfrm>
              <a:off x="1405" y="2483"/>
              <a:ext cx="9" cy="4"/>
            </a:xfrm>
            <a:custGeom>
              <a:avLst/>
              <a:gdLst/>
              <a:ahLst/>
              <a:cxnLst>
                <a:cxn ang="0">
                  <a:pos x="8" y="2"/>
                </a:cxn>
                <a:cxn ang="0">
                  <a:pos x="0" y="0"/>
                </a:cxn>
                <a:cxn ang="0">
                  <a:pos x="8" y="2"/>
                </a:cxn>
              </a:cxnLst>
              <a:rect l="0" t="0" r="r" b="b"/>
              <a:pathLst>
                <a:path w="8" h="2">
                  <a:moveTo>
                    <a:pt x="8" y="2"/>
                  </a:moveTo>
                  <a:lnTo>
                    <a:pt x="0" y="0"/>
                  </a:lnTo>
                  <a:lnTo>
                    <a:pt x="8"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6" name="Freeform 235"/>
            <p:cNvSpPr>
              <a:spLocks/>
            </p:cNvSpPr>
            <p:nvPr/>
          </p:nvSpPr>
          <p:spPr bwMode="auto">
            <a:xfrm>
              <a:off x="1307" y="2454"/>
              <a:ext cx="2" cy="2"/>
            </a:xfrm>
            <a:custGeom>
              <a:avLst/>
              <a:gdLst/>
              <a:ahLst/>
              <a:cxnLst>
                <a:cxn ang="0">
                  <a:pos x="0" y="0"/>
                </a:cxn>
                <a:cxn ang="0">
                  <a:pos x="0" y="1"/>
                </a:cxn>
                <a:cxn ang="0">
                  <a:pos x="3" y="4"/>
                </a:cxn>
                <a:cxn ang="0">
                  <a:pos x="0" y="0"/>
                </a:cxn>
              </a:cxnLst>
              <a:rect l="0" t="0" r="r" b="b"/>
              <a:pathLst>
                <a:path w="3" h="4">
                  <a:moveTo>
                    <a:pt x="0" y="0"/>
                  </a:moveTo>
                  <a:lnTo>
                    <a:pt x="0" y="1"/>
                  </a:lnTo>
                  <a:lnTo>
                    <a:pt x="3" y="4"/>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7" name="Freeform 236"/>
            <p:cNvSpPr>
              <a:spLocks/>
            </p:cNvSpPr>
            <p:nvPr/>
          </p:nvSpPr>
          <p:spPr bwMode="auto">
            <a:xfrm>
              <a:off x="1449" y="2461"/>
              <a:ext cx="5" cy="4"/>
            </a:xfrm>
            <a:custGeom>
              <a:avLst/>
              <a:gdLst/>
              <a:ahLst/>
              <a:cxnLst>
                <a:cxn ang="0">
                  <a:pos x="2" y="3"/>
                </a:cxn>
                <a:cxn ang="0">
                  <a:pos x="2" y="2"/>
                </a:cxn>
                <a:cxn ang="0">
                  <a:pos x="2" y="0"/>
                </a:cxn>
                <a:cxn ang="0">
                  <a:pos x="1" y="0"/>
                </a:cxn>
                <a:cxn ang="0">
                  <a:pos x="1" y="2"/>
                </a:cxn>
                <a:cxn ang="0">
                  <a:pos x="0" y="2"/>
                </a:cxn>
                <a:cxn ang="0">
                  <a:pos x="0" y="3"/>
                </a:cxn>
                <a:cxn ang="0">
                  <a:pos x="0" y="4"/>
                </a:cxn>
                <a:cxn ang="0">
                  <a:pos x="1" y="4"/>
                </a:cxn>
                <a:cxn ang="0">
                  <a:pos x="2" y="4"/>
                </a:cxn>
                <a:cxn ang="0">
                  <a:pos x="2" y="3"/>
                </a:cxn>
              </a:cxnLst>
              <a:rect l="0" t="0" r="r" b="b"/>
              <a:pathLst>
                <a:path w="2" h="4">
                  <a:moveTo>
                    <a:pt x="2" y="3"/>
                  </a:moveTo>
                  <a:lnTo>
                    <a:pt x="2" y="2"/>
                  </a:lnTo>
                  <a:lnTo>
                    <a:pt x="2" y="0"/>
                  </a:lnTo>
                  <a:lnTo>
                    <a:pt x="1" y="0"/>
                  </a:lnTo>
                  <a:lnTo>
                    <a:pt x="1" y="2"/>
                  </a:lnTo>
                  <a:lnTo>
                    <a:pt x="0" y="2"/>
                  </a:lnTo>
                  <a:lnTo>
                    <a:pt x="0" y="3"/>
                  </a:lnTo>
                  <a:lnTo>
                    <a:pt x="0" y="4"/>
                  </a:lnTo>
                  <a:lnTo>
                    <a:pt x="1" y="4"/>
                  </a:lnTo>
                  <a:lnTo>
                    <a:pt x="2" y="4"/>
                  </a:lnTo>
                  <a:lnTo>
                    <a:pt x="2"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8" name="Freeform 237"/>
            <p:cNvSpPr>
              <a:spLocks/>
            </p:cNvSpPr>
            <p:nvPr/>
          </p:nvSpPr>
          <p:spPr bwMode="auto">
            <a:xfrm>
              <a:off x="1634" y="3723"/>
              <a:ext cx="26" cy="20"/>
            </a:xfrm>
            <a:custGeom>
              <a:avLst/>
              <a:gdLst/>
              <a:ahLst/>
              <a:cxnLst>
                <a:cxn ang="0">
                  <a:pos x="23" y="7"/>
                </a:cxn>
                <a:cxn ang="0">
                  <a:pos x="18" y="3"/>
                </a:cxn>
                <a:cxn ang="0">
                  <a:pos x="14" y="3"/>
                </a:cxn>
                <a:cxn ang="0">
                  <a:pos x="11" y="2"/>
                </a:cxn>
                <a:cxn ang="0">
                  <a:pos x="5" y="0"/>
                </a:cxn>
                <a:cxn ang="0">
                  <a:pos x="5" y="6"/>
                </a:cxn>
                <a:cxn ang="0">
                  <a:pos x="0" y="12"/>
                </a:cxn>
                <a:cxn ang="0">
                  <a:pos x="5" y="17"/>
                </a:cxn>
                <a:cxn ang="0">
                  <a:pos x="8" y="14"/>
                </a:cxn>
                <a:cxn ang="0">
                  <a:pos x="10" y="13"/>
                </a:cxn>
                <a:cxn ang="0">
                  <a:pos x="10" y="11"/>
                </a:cxn>
                <a:cxn ang="0">
                  <a:pos x="23" y="7"/>
                </a:cxn>
              </a:cxnLst>
              <a:rect l="0" t="0" r="r" b="b"/>
              <a:pathLst>
                <a:path w="23" h="17">
                  <a:moveTo>
                    <a:pt x="23" y="7"/>
                  </a:moveTo>
                  <a:lnTo>
                    <a:pt x="18" y="3"/>
                  </a:lnTo>
                  <a:lnTo>
                    <a:pt x="14" y="3"/>
                  </a:lnTo>
                  <a:lnTo>
                    <a:pt x="11" y="2"/>
                  </a:lnTo>
                  <a:lnTo>
                    <a:pt x="5" y="0"/>
                  </a:lnTo>
                  <a:lnTo>
                    <a:pt x="5" y="6"/>
                  </a:lnTo>
                  <a:lnTo>
                    <a:pt x="0" y="12"/>
                  </a:lnTo>
                  <a:lnTo>
                    <a:pt x="5" y="17"/>
                  </a:lnTo>
                  <a:lnTo>
                    <a:pt x="8" y="14"/>
                  </a:lnTo>
                  <a:lnTo>
                    <a:pt x="10" y="13"/>
                  </a:lnTo>
                  <a:lnTo>
                    <a:pt x="10" y="11"/>
                  </a:lnTo>
                  <a:lnTo>
                    <a:pt x="23"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9" name="Freeform 238"/>
            <p:cNvSpPr>
              <a:spLocks/>
            </p:cNvSpPr>
            <p:nvPr/>
          </p:nvSpPr>
          <p:spPr bwMode="auto">
            <a:xfrm>
              <a:off x="1616" y="3725"/>
              <a:ext cx="20" cy="16"/>
            </a:xfrm>
            <a:custGeom>
              <a:avLst/>
              <a:gdLst/>
              <a:ahLst/>
              <a:cxnLst>
                <a:cxn ang="0">
                  <a:pos x="4" y="6"/>
                </a:cxn>
                <a:cxn ang="0">
                  <a:pos x="1" y="1"/>
                </a:cxn>
                <a:cxn ang="0">
                  <a:pos x="18" y="0"/>
                </a:cxn>
                <a:cxn ang="0">
                  <a:pos x="9" y="10"/>
                </a:cxn>
                <a:cxn ang="0">
                  <a:pos x="0" y="13"/>
                </a:cxn>
                <a:cxn ang="0">
                  <a:pos x="4" y="8"/>
                </a:cxn>
                <a:cxn ang="0">
                  <a:pos x="2" y="6"/>
                </a:cxn>
                <a:cxn ang="0">
                  <a:pos x="4" y="6"/>
                </a:cxn>
              </a:cxnLst>
              <a:rect l="0" t="0" r="r" b="b"/>
              <a:pathLst>
                <a:path w="18" h="13">
                  <a:moveTo>
                    <a:pt x="4" y="6"/>
                  </a:moveTo>
                  <a:lnTo>
                    <a:pt x="1" y="1"/>
                  </a:lnTo>
                  <a:lnTo>
                    <a:pt x="18" y="0"/>
                  </a:lnTo>
                  <a:lnTo>
                    <a:pt x="9" y="10"/>
                  </a:lnTo>
                  <a:lnTo>
                    <a:pt x="0" y="13"/>
                  </a:lnTo>
                  <a:lnTo>
                    <a:pt x="4" y="8"/>
                  </a:lnTo>
                  <a:lnTo>
                    <a:pt x="2" y="6"/>
                  </a:lnTo>
                  <a:lnTo>
                    <a:pt x="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0" name="Freeform 239"/>
            <p:cNvSpPr>
              <a:spLocks/>
            </p:cNvSpPr>
            <p:nvPr/>
          </p:nvSpPr>
          <p:spPr bwMode="auto">
            <a:xfrm>
              <a:off x="1314" y="2901"/>
              <a:ext cx="220" cy="260"/>
            </a:xfrm>
            <a:custGeom>
              <a:avLst/>
              <a:gdLst/>
              <a:ahLst/>
              <a:cxnLst>
                <a:cxn ang="0">
                  <a:pos x="132" y="186"/>
                </a:cxn>
                <a:cxn ang="0">
                  <a:pos x="129" y="205"/>
                </a:cxn>
                <a:cxn ang="0">
                  <a:pos x="125" y="225"/>
                </a:cxn>
                <a:cxn ang="0">
                  <a:pos x="121" y="220"/>
                </a:cxn>
                <a:cxn ang="0">
                  <a:pos x="103" y="223"/>
                </a:cxn>
                <a:cxn ang="0">
                  <a:pos x="99" y="233"/>
                </a:cxn>
                <a:cxn ang="0">
                  <a:pos x="91" y="222"/>
                </a:cxn>
                <a:cxn ang="0">
                  <a:pos x="72" y="219"/>
                </a:cxn>
                <a:cxn ang="0">
                  <a:pos x="69" y="216"/>
                </a:cxn>
                <a:cxn ang="0">
                  <a:pos x="55" y="234"/>
                </a:cxn>
                <a:cxn ang="0">
                  <a:pos x="45" y="233"/>
                </a:cxn>
                <a:cxn ang="0">
                  <a:pos x="39" y="217"/>
                </a:cxn>
                <a:cxn ang="0">
                  <a:pos x="31" y="201"/>
                </a:cxn>
                <a:cxn ang="0">
                  <a:pos x="27" y="185"/>
                </a:cxn>
                <a:cxn ang="0">
                  <a:pos x="28" y="172"/>
                </a:cxn>
                <a:cxn ang="0">
                  <a:pos x="19" y="160"/>
                </a:cxn>
                <a:cxn ang="0">
                  <a:pos x="15" y="148"/>
                </a:cxn>
                <a:cxn ang="0">
                  <a:pos x="10" y="139"/>
                </a:cxn>
                <a:cxn ang="0">
                  <a:pos x="10" y="132"/>
                </a:cxn>
                <a:cxn ang="0">
                  <a:pos x="17" y="117"/>
                </a:cxn>
                <a:cxn ang="0">
                  <a:pos x="12" y="115"/>
                </a:cxn>
                <a:cxn ang="0">
                  <a:pos x="10" y="100"/>
                </a:cxn>
                <a:cxn ang="0">
                  <a:pos x="10" y="85"/>
                </a:cxn>
                <a:cxn ang="0">
                  <a:pos x="13" y="76"/>
                </a:cxn>
                <a:cxn ang="0">
                  <a:pos x="13" y="54"/>
                </a:cxn>
                <a:cxn ang="0">
                  <a:pos x="16" y="49"/>
                </a:cxn>
                <a:cxn ang="0">
                  <a:pos x="7" y="35"/>
                </a:cxn>
                <a:cxn ang="0">
                  <a:pos x="0" y="22"/>
                </a:cxn>
                <a:cxn ang="0">
                  <a:pos x="19" y="22"/>
                </a:cxn>
                <a:cxn ang="0">
                  <a:pos x="27" y="17"/>
                </a:cxn>
                <a:cxn ang="0">
                  <a:pos x="40" y="9"/>
                </a:cxn>
                <a:cxn ang="0">
                  <a:pos x="53" y="0"/>
                </a:cxn>
                <a:cxn ang="0">
                  <a:pos x="66" y="1"/>
                </a:cxn>
                <a:cxn ang="0">
                  <a:pos x="67" y="17"/>
                </a:cxn>
                <a:cxn ang="0">
                  <a:pos x="69" y="31"/>
                </a:cxn>
                <a:cxn ang="0">
                  <a:pos x="81" y="45"/>
                </a:cxn>
                <a:cxn ang="0">
                  <a:pos x="93" y="49"/>
                </a:cxn>
                <a:cxn ang="0">
                  <a:pos x="106" y="55"/>
                </a:cxn>
                <a:cxn ang="0">
                  <a:pos x="124" y="67"/>
                </a:cxn>
                <a:cxn ang="0">
                  <a:pos x="142" y="71"/>
                </a:cxn>
                <a:cxn ang="0">
                  <a:pos x="147" y="78"/>
                </a:cxn>
                <a:cxn ang="0">
                  <a:pos x="149" y="96"/>
                </a:cxn>
                <a:cxn ang="0">
                  <a:pos x="145" y="96"/>
                </a:cxn>
                <a:cxn ang="0">
                  <a:pos x="151" y="103"/>
                </a:cxn>
                <a:cxn ang="0">
                  <a:pos x="154" y="117"/>
                </a:cxn>
                <a:cxn ang="0">
                  <a:pos x="168" y="119"/>
                </a:cxn>
                <a:cxn ang="0">
                  <a:pos x="183" y="120"/>
                </a:cxn>
                <a:cxn ang="0">
                  <a:pos x="185" y="136"/>
                </a:cxn>
                <a:cxn ang="0">
                  <a:pos x="195" y="145"/>
                </a:cxn>
                <a:cxn ang="0">
                  <a:pos x="198" y="153"/>
                </a:cxn>
                <a:cxn ang="0">
                  <a:pos x="195" y="166"/>
                </a:cxn>
                <a:cxn ang="0">
                  <a:pos x="191" y="179"/>
                </a:cxn>
                <a:cxn ang="0">
                  <a:pos x="193" y="185"/>
                </a:cxn>
                <a:cxn ang="0">
                  <a:pos x="191" y="187"/>
                </a:cxn>
                <a:cxn ang="0">
                  <a:pos x="191" y="184"/>
                </a:cxn>
                <a:cxn ang="0">
                  <a:pos x="175" y="173"/>
                </a:cxn>
                <a:cxn ang="0">
                  <a:pos x="155" y="175"/>
                </a:cxn>
                <a:cxn ang="0">
                  <a:pos x="135" y="178"/>
                </a:cxn>
                <a:cxn ang="0">
                  <a:pos x="132" y="186"/>
                </a:cxn>
              </a:cxnLst>
              <a:rect l="0" t="0" r="r" b="b"/>
              <a:pathLst>
                <a:path w="198" h="234">
                  <a:moveTo>
                    <a:pt x="132" y="186"/>
                  </a:moveTo>
                  <a:lnTo>
                    <a:pt x="129" y="205"/>
                  </a:lnTo>
                  <a:lnTo>
                    <a:pt x="125" y="225"/>
                  </a:lnTo>
                  <a:lnTo>
                    <a:pt x="121" y="220"/>
                  </a:lnTo>
                  <a:lnTo>
                    <a:pt x="103" y="223"/>
                  </a:lnTo>
                  <a:lnTo>
                    <a:pt x="99" y="233"/>
                  </a:lnTo>
                  <a:lnTo>
                    <a:pt x="91" y="222"/>
                  </a:lnTo>
                  <a:lnTo>
                    <a:pt x="72" y="219"/>
                  </a:lnTo>
                  <a:lnTo>
                    <a:pt x="69" y="216"/>
                  </a:lnTo>
                  <a:lnTo>
                    <a:pt x="55" y="234"/>
                  </a:lnTo>
                  <a:lnTo>
                    <a:pt x="45" y="233"/>
                  </a:lnTo>
                  <a:lnTo>
                    <a:pt x="39" y="217"/>
                  </a:lnTo>
                  <a:lnTo>
                    <a:pt x="31" y="201"/>
                  </a:lnTo>
                  <a:lnTo>
                    <a:pt x="27" y="185"/>
                  </a:lnTo>
                  <a:lnTo>
                    <a:pt x="28" y="172"/>
                  </a:lnTo>
                  <a:lnTo>
                    <a:pt x="19" y="160"/>
                  </a:lnTo>
                  <a:lnTo>
                    <a:pt x="15" y="148"/>
                  </a:lnTo>
                  <a:lnTo>
                    <a:pt x="10" y="139"/>
                  </a:lnTo>
                  <a:lnTo>
                    <a:pt x="10" y="132"/>
                  </a:lnTo>
                  <a:lnTo>
                    <a:pt x="17" y="117"/>
                  </a:lnTo>
                  <a:lnTo>
                    <a:pt x="12" y="115"/>
                  </a:lnTo>
                  <a:lnTo>
                    <a:pt x="10" y="100"/>
                  </a:lnTo>
                  <a:lnTo>
                    <a:pt x="10" y="85"/>
                  </a:lnTo>
                  <a:lnTo>
                    <a:pt x="13" y="76"/>
                  </a:lnTo>
                  <a:lnTo>
                    <a:pt x="13" y="54"/>
                  </a:lnTo>
                  <a:lnTo>
                    <a:pt x="16" y="49"/>
                  </a:lnTo>
                  <a:lnTo>
                    <a:pt x="7" y="35"/>
                  </a:lnTo>
                  <a:lnTo>
                    <a:pt x="0" y="22"/>
                  </a:lnTo>
                  <a:lnTo>
                    <a:pt x="19" y="22"/>
                  </a:lnTo>
                  <a:lnTo>
                    <a:pt x="27" y="17"/>
                  </a:lnTo>
                  <a:lnTo>
                    <a:pt x="40" y="9"/>
                  </a:lnTo>
                  <a:lnTo>
                    <a:pt x="53" y="0"/>
                  </a:lnTo>
                  <a:lnTo>
                    <a:pt x="66" y="1"/>
                  </a:lnTo>
                  <a:lnTo>
                    <a:pt x="67" y="17"/>
                  </a:lnTo>
                  <a:lnTo>
                    <a:pt x="69" y="31"/>
                  </a:lnTo>
                  <a:lnTo>
                    <a:pt x="81" y="45"/>
                  </a:lnTo>
                  <a:lnTo>
                    <a:pt x="93" y="49"/>
                  </a:lnTo>
                  <a:lnTo>
                    <a:pt x="106" y="55"/>
                  </a:lnTo>
                  <a:lnTo>
                    <a:pt x="124" y="67"/>
                  </a:lnTo>
                  <a:lnTo>
                    <a:pt x="142" y="71"/>
                  </a:lnTo>
                  <a:lnTo>
                    <a:pt x="147" y="78"/>
                  </a:lnTo>
                  <a:lnTo>
                    <a:pt x="149" y="96"/>
                  </a:lnTo>
                  <a:lnTo>
                    <a:pt x="145" y="96"/>
                  </a:lnTo>
                  <a:lnTo>
                    <a:pt x="151" y="103"/>
                  </a:lnTo>
                  <a:lnTo>
                    <a:pt x="154" y="117"/>
                  </a:lnTo>
                  <a:lnTo>
                    <a:pt x="168" y="119"/>
                  </a:lnTo>
                  <a:lnTo>
                    <a:pt x="183" y="120"/>
                  </a:lnTo>
                  <a:lnTo>
                    <a:pt x="185" y="136"/>
                  </a:lnTo>
                  <a:lnTo>
                    <a:pt x="195" y="145"/>
                  </a:lnTo>
                  <a:lnTo>
                    <a:pt x="198" y="153"/>
                  </a:lnTo>
                  <a:lnTo>
                    <a:pt x="195" y="166"/>
                  </a:lnTo>
                  <a:lnTo>
                    <a:pt x="191" y="179"/>
                  </a:lnTo>
                  <a:lnTo>
                    <a:pt x="193" y="185"/>
                  </a:lnTo>
                  <a:lnTo>
                    <a:pt x="191" y="187"/>
                  </a:lnTo>
                  <a:lnTo>
                    <a:pt x="191" y="184"/>
                  </a:lnTo>
                  <a:lnTo>
                    <a:pt x="175" y="173"/>
                  </a:lnTo>
                  <a:lnTo>
                    <a:pt x="155" y="175"/>
                  </a:lnTo>
                  <a:lnTo>
                    <a:pt x="135" y="178"/>
                  </a:lnTo>
                  <a:lnTo>
                    <a:pt x="132" y="18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1" name="Freeform 240"/>
            <p:cNvSpPr>
              <a:spLocks/>
            </p:cNvSpPr>
            <p:nvPr/>
          </p:nvSpPr>
          <p:spPr bwMode="auto">
            <a:xfrm>
              <a:off x="1234" y="2601"/>
              <a:ext cx="686" cy="777"/>
            </a:xfrm>
            <a:custGeom>
              <a:avLst/>
              <a:gdLst/>
              <a:ahLst/>
              <a:cxnLst>
                <a:cxn ang="0">
                  <a:pos x="465" y="137"/>
                </a:cxn>
                <a:cxn ang="0">
                  <a:pos x="456" y="122"/>
                </a:cxn>
                <a:cxn ang="0">
                  <a:pos x="436" y="113"/>
                </a:cxn>
                <a:cxn ang="0">
                  <a:pos x="415" y="107"/>
                </a:cxn>
                <a:cxn ang="0">
                  <a:pos x="394" y="125"/>
                </a:cxn>
                <a:cxn ang="0">
                  <a:pos x="373" y="129"/>
                </a:cxn>
                <a:cxn ang="0">
                  <a:pos x="341" y="123"/>
                </a:cxn>
                <a:cxn ang="0">
                  <a:pos x="367" y="83"/>
                </a:cxn>
                <a:cxn ang="0">
                  <a:pos x="363" y="40"/>
                </a:cxn>
                <a:cxn ang="0">
                  <a:pos x="353" y="21"/>
                </a:cxn>
                <a:cxn ang="0">
                  <a:pos x="329" y="56"/>
                </a:cxn>
                <a:cxn ang="0">
                  <a:pos x="280" y="52"/>
                </a:cxn>
                <a:cxn ang="0">
                  <a:pos x="241" y="70"/>
                </a:cxn>
                <a:cxn ang="0">
                  <a:pos x="225" y="20"/>
                </a:cxn>
                <a:cxn ang="0">
                  <a:pos x="208" y="0"/>
                </a:cxn>
                <a:cxn ang="0">
                  <a:pos x="175" y="28"/>
                </a:cxn>
                <a:cxn ang="0">
                  <a:pos x="155" y="47"/>
                </a:cxn>
                <a:cxn ang="0">
                  <a:pos x="132" y="81"/>
                </a:cxn>
                <a:cxn ang="0">
                  <a:pos x="105" y="71"/>
                </a:cxn>
                <a:cxn ang="0">
                  <a:pos x="88" y="63"/>
                </a:cxn>
                <a:cxn ang="0">
                  <a:pos x="72" y="78"/>
                </a:cxn>
                <a:cxn ang="0">
                  <a:pos x="67" y="119"/>
                </a:cxn>
                <a:cxn ang="0">
                  <a:pos x="42" y="173"/>
                </a:cxn>
                <a:cxn ang="0">
                  <a:pos x="9" y="213"/>
                </a:cxn>
                <a:cxn ang="0">
                  <a:pos x="13" y="262"/>
                </a:cxn>
                <a:cxn ang="0">
                  <a:pos x="53" y="264"/>
                </a:cxn>
                <a:cxn ang="0">
                  <a:pos x="91" y="291"/>
                </a:cxn>
                <a:cxn ang="0">
                  <a:pos x="138" y="270"/>
                </a:cxn>
                <a:cxn ang="0">
                  <a:pos x="165" y="318"/>
                </a:cxn>
                <a:cxn ang="0">
                  <a:pos x="219" y="347"/>
                </a:cxn>
                <a:cxn ang="0">
                  <a:pos x="226" y="386"/>
                </a:cxn>
                <a:cxn ang="0">
                  <a:pos x="267" y="414"/>
                </a:cxn>
                <a:cxn ang="0">
                  <a:pos x="265" y="454"/>
                </a:cxn>
                <a:cxn ang="0">
                  <a:pos x="291" y="492"/>
                </a:cxn>
                <a:cxn ang="0">
                  <a:pos x="321" y="524"/>
                </a:cxn>
                <a:cxn ang="0">
                  <a:pos x="337" y="554"/>
                </a:cxn>
                <a:cxn ang="0">
                  <a:pos x="317" y="605"/>
                </a:cxn>
                <a:cxn ang="0">
                  <a:pos x="300" y="635"/>
                </a:cxn>
                <a:cxn ang="0">
                  <a:pos x="349" y="668"/>
                </a:cxn>
                <a:cxn ang="0">
                  <a:pos x="373" y="689"/>
                </a:cxn>
                <a:cxn ang="0">
                  <a:pos x="390" y="647"/>
                </a:cxn>
                <a:cxn ang="0">
                  <a:pos x="394" y="652"/>
                </a:cxn>
                <a:cxn ang="0">
                  <a:pos x="394" y="656"/>
                </a:cxn>
                <a:cxn ang="0">
                  <a:pos x="421" y="604"/>
                </a:cxn>
                <a:cxn ang="0">
                  <a:pos x="419" y="564"/>
                </a:cxn>
                <a:cxn ang="0">
                  <a:pos x="425" y="550"/>
                </a:cxn>
                <a:cxn ang="0">
                  <a:pos x="478" y="512"/>
                </a:cxn>
                <a:cxn ang="0">
                  <a:pos x="499" y="504"/>
                </a:cxn>
                <a:cxn ang="0">
                  <a:pos x="533" y="489"/>
                </a:cxn>
                <a:cxn ang="0">
                  <a:pos x="552" y="417"/>
                </a:cxn>
                <a:cxn ang="0">
                  <a:pos x="557" y="359"/>
                </a:cxn>
                <a:cxn ang="0">
                  <a:pos x="562" y="322"/>
                </a:cxn>
                <a:cxn ang="0">
                  <a:pos x="580" y="298"/>
                </a:cxn>
                <a:cxn ang="0">
                  <a:pos x="616" y="248"/>
                </a:cxn>
                <a:cxn ang="0">
                  <a:pos x="592" y="184"/>
                </a:cxn>
                <a:cxn ang="0">
                  <a:pos x="523" y="144"/>
                </a:cxn>
                <a:cxn ang="0">
                  <a:pos x="468" y="143"/>
                </a:cxn>
              </a:cxnLst>
              <a:rect l="0" t="0" r="r" b="b"/>
              <a:pathLst>
                <a:path w="618" h="700">
                  <a:moveTo>
                    <a:pt x="469" y="137"/>
                  </a:moveTo>
                  <a:lnTo>
                    <a:pt x="467" y="140"/>
                  </a:lnTo>
                  <a:lnTo>
                    <a:pt x="460" y="152"/>
                  </a:lnTo>
                  <a:lnTo>
                    <a:pt x="465" y="137"/>
                  </a:lnTo>
                  <a:lnTo>
                    <a:pt x="462" y="134"/>
                  </a:lnTo>
                  <a:lnTo>
                    <a:pt x="461" y="135"/>
                  </a:lnTo>
                  <a:lnTo>
                    <a:pt x="462" y="126"/>
                  </a:lnTo>
                  <a:lnTo>
                    <a:pt x="456" y="122"/>
                  </a:lnTo>
                  <a:lnTo>
                    <a:pt x="450" y="122"/>
                  </a:lnTo>
                  <a:lnTo>
                    <a:pt x="449" y="119"/>
                  </a:lnTo>
                  <a:lnTo>
                    <a:pt x="443" y="117"/>
                  </a:lnTo>
                  <a:lnTo>
                    <a:pt x="436" y="113"/>
                  </a:lnTo>
                  <a:lnTo>
                    <a:pt x="430" y="111"/>
                  </a:lnTo>
                  <a:lnTo>
                    <a:pt x="425" y="110"/>
                  </a:lnTo>
                  <a:lnTo>
                    <a:pt x="417" y="105"/>
                  </a:lnTo>
                  <a:lnTo>
                    <a:pt x="415" y="107"/>
                  </a:lnTo>
                  <a:lnTo>
                    <a:pt x="406" y="110"/>
                  </a:lnTo>
                  <a:lnTo>
                    <a:pt x="400" y="120"/>
                  </a:lnTo>
                  <a:lnTo>
                    <a:pt x="400" y="123"/>
                  </a:lnTo>
                  <a:lnTo>
                    <a:pt x="394" y="125"/>
                  </a:lnTo>
                  <a:lnTo>
                    <a:pt x="383" y="141"/>
                  </a:lnTo>
                  <a:lnTo>
                    <a:pt x="384" y="128"/>
                  </a:lnTo>
                  <a:lnTo>
                    <a:pt x="379" y="131"/>
                  </a:lnTo>
                  <a:lnTo>
                    <a:pt x="373" y="129"/>
                  </a:lnTo>
                  <a:lnTo>
                    <a:pt x="369" y="129"/>
                  </a:lnTo>
                  <a:lnTo>
                    <a:pt x="363" y="111"/>
                  </a:lnTo>
                  <a:lnTo>
                    <a:pt x="352" y="117"/>
                  </a:lnTo>
                  <a:lnTo>
                    <a:pt x="341" y="123"/>
                  </a:lnTo>
                  <a:lnTo>
                    <a:pt x="335" y="122"/>
                  </a:lnTo>
                  <a:lnTo>
                    <a:pt x="347" y="114"/>
                  </a:lnTo>
                  <a:lnTo>
                    <a:pt x="357" y="95"/>
                  </a:lnTo>
                  <a:lnTo>
                    <a:pt x="367" y="83"/>
                  </a:lnTo>
                  <a:lnTo>
                    <a:pt x="377" y="71"/>
                  </a:lnTo>
                  <a:lnTo>
                    <a:pt x="373" y="62"/>
                  </a:lnTo>
                  <a:lnTo>
                    <a:pt x="365" y="56"/>
                  </a:lnTo>
                  <a:lnTo>
                    <a:pt x="363" y="40"/>
                  </a:lnTo>
                  <a:lnTo>
                    <a:pt x="359" y="24"/>
                  </a:lnTo>
                  <a:lnTo>
                    <a:pt x="358" y="26"/>
                  </a:lnTo>
                  <a:lnTo>
                    <a:pt x="352" y="17"/>
                  </a:lnTo>
                  <a:lnTo>
                    <a:pt x="353" y="21"/>
                  </a:lnTo>
                  <a:lnTo>
                    <a:pt x="351" y="21"/>
                  </a:lnTo>
                  <a:lnTo>
                    <a:pt x="351" y="22"/>
                  </a:lnTo>
                  <a:lnTo>
                    <a:pt x="340" y="39"/>
                  </a:lnTo>
                  <a:lnTo>
                    <a:pt x="329" y="56"/>
                  </a:lnTo>
                  <a:lnTo>
                    <a:pt x="313" y="54"/>
                  </a:lnTo>
                  <a:lnTo>
                    <a:pt x="304" y="52"/>
                  </a:lnTo>
                  <a:lnTo>
                    <a:pt x="294" y="48"/>
                  </a:lnTo>
                  <a:lnTo>
                    <a:pt x="280" y="52"/>
                  </a:lnTo>
                  <a:lnTo>
                    <a:pt x="281" y="62"/>
                  </a:lnTo>
                  <a:lnTo>
                    <a:pt x="274" y="59"/>
                  </a:lnTo>
                  <a:lnTo>
                    <a:pt x="257" y="62"/>
                  </a:lnTo>
                  <a:lnTo>
                    <a:pt x="241" y="70"/>
                  </a:lnTo>
                  <a:lnTo>
                    <a:pt x="232" y="70"/>
                  </a:lnTo>
                  <a:lnTo>
                    <a:pt x="222" y="57"/>
                  </a:lnTo>
                  <a:lnTo>
                    <a:pt x="220" y="35"/>
                  </a:lnTo>
                  <a:lnTo>
                    <a:pt x="225" y="20"/>
                  </a:lnTo>
                  <a:lnTo>
                    <a:pt x="217" y="10"/>
                  </a:lnTo>
                  <a:lnTo>
                    <a:pt x="216" y="0"/>
                  </a:lnTo>
                  <a:lnTo>
                    <a:pt x="207" y="0"/>
                  </a:lnTo>
                  <a:lnTo>
                    <a:pt x="208" y="0"/>
                  </a:lnTo>
                  <a:lnTo>
                    <a:pt x="204" y="10"/>
                  </a:lnTo>
                  <a:lnTo>
                    <a:pt x="191" y="16"/>
                  </a:lnTo>
                  <a:lnTo>
                    <a:pt x="178" y="22"/>
                  </a:lnTo>
                  <a:lnTo>
                    <a:pt x="175" y="28"/>
                  </a:lnTo>
                  <a:lnTo>
                    <a:pt x="160" y="23"/>
                  </a:lnTo>
                  <a:lnTo>
                    <a:pt x="144" y="17"/>
                  </a:lnTo>
                  <a:lnTo>
                    <a:pt x="150" y="27"/>
                  </a:lnTo>
                  <a:lnTo>
                    <a:pt x="155" y="47"/>
                  </a:lnTo>
                  <a:lnTo>
                    <a:pt x="165" y="51"/>
                  </a:lnTo>
                  <a:lnTo>
                    <a:pt x="162" y="56"/>
                  </a:lnTo>
                  <a:lnTo>
                    <a:pt x="148" y="69"/>
                  </a:lnTo>
                  <a:lnTo>
                    <a:pt x="132" y="81"/>
                  </a:lnTo>
                  <a:lnTo>
                    <a:pt x="130" y="80"/>
                  </a:lnTo>
                  <a:lnTo>
                    <a:pt x="121" y="80"/>
                  </a:lnTo>
                  <a:lnTo>
                    <a:pt x="108" y="72"/>
                  </a:lnTo>
                  <a:lnTo>
                    <a:pt x="105" y="71"/>
                  </a:lnTo>
                  <a:lnTo>
                    <a:pt x="100" y="56"/>
                  </a:lnTo>
                  <a:lnTo>
                    <a:pt x="90" y="63"/>
                  </a:lnTo>
                  <a:lnTo>
                    <a:pt x="87" y="60"/>
                  </a:lnTo>
                  <a:lnTo>
                    <a:pt x="88" y="63"/>
                  </a:lnTo>
                  <a:lnTo>
                    <a:pt x="75" y="63"/>
                  </a:lnTo>
                  <a:lnTo>
                    <a:pt x="61" y="63"/>
                  </a:lnTo>
                  <a:lnTo>
                    <a:pt x="64" y="75"/>
                  </a:lnTo>
                  <a:lnTo>
                    <a:pt x="72" y="78"/>
                  </a:lnTo>
                  <a:lnTo>
                    <a:pt x="69" y="83"/>
                  </a:lnTo>
                  <a:lnTo>
                    <a:pt x="58" y="83"/>
                  </a:lnTo>
                  <a:lnTo>
                    <a:pt x="61" y="100"/>
                  </a:lnTo>
                  <a:lnTo>
                    <a:pt x="67" y="119"/>
                  </a:lnTo>
                  <a:lnTo>
                    <a:pt x="64" y="144"/>
                  </a:lnTo>
                  <a:lnTo>
                    <a:pt x="60" y="170"/>
                  </a:lnTo>
                  <a:lnTo>
                    <a:pt x="55" y="170"/>
                  </a:lnTo>
                  <a:lnTo>
                    <a:pt x="42" y="173"/>
                  </a:lnTo>
                  <a:lnTo>
                    <a:pt x="29" y="179"/>
                  </a:lnTo>
                  <a:lnTo>
                    <a:pt x="17" y="185"/>
                  </a:lnTo>
                  <a:lnTo>
                    <a:pt x="12" y="198"/>
                  </a:lnTo>
                  <a:lnTo>
                    <a:pt x="9" y="213"/>
                  </a:lnTo>
                  <a:lnTo>
                    <a:pt x="0" y="227"/>
                  </a:lnTo>
                  <a:lnTo>
                    <a:pt x="7" y="240"/>
                  </a:lnTo>
                  <a:lnTo>
                    <a:pt x="15" y="254"/>
                  </a:lnTo>
                  <a:lnTo>
                    <a:pt x="13" y="262"/>
                  </a:lnTo>
                  <a:lnTo>
                    <a:pt x="21" y="263"/>
                  </a:lnTo>
                  <a:lnTo>
                    <a:pt x="29" y="270"/>
                  </a:lnTo>
                  <a:lnTo>
                    <a:pt x="42" y="274"/>
                  </a:lnTo>
                  <a:lnTo>
                    <a:pt x="53" y="264"/>
                  </a:lnTo>
                  <a:lnTo>
                    <a:pt x="54" y="279"/>
                  </a:lnTo>
                  <a:lnTo>
                    <a:pt x="55" y="292"/>
                  </a:lnTo>
                  <a:lnTo>
                    <a:pt x="72" y="291"/>
                  </a:lnTo>
                  <a:lnTo>
                    <a:pt x="91" y="291"/>
                  </a:lnTo>
                  <a:lnTo>
                    <a:pt x="99" y="286"/>
                  </a:lnTo>
                  <a:lnTo>
                    <a:pt x="112" y="278"/>
                  </a:lnTo>
                  <a:lnTo>
                    <a:pt x="125" y="269"/>
                  </a:lnTo>
                  <a:lnTo>
                    <a:pt x="138" y="270"/>
                  </a:lnTo>
                  <a:lnTo>
                    <a:pt x="139" y="286"/>
                  </a:lnTo>
                  <a:lnTo>
                    <a:pt x="141" y="300"/>
                  </a:lnTo>
                  <a:lnTo>
                    <a:pt x="153" y="314"/>
                  </a:lnTo>
                  <a:lnTo>
                    <a:pt x="165" y="318"/>
                  </a:lnTo>
                  <a:lnTo>
                    <a:pt x="178" y="324"/>
                  </a:lnTo>
                  <a:lnTo>
                    <a:pt x="196" y="336"/>
                  </a:lnTo>
                  <a:lnTo>
                    <a:pt x="214" y="340"/>
                  </a:lnTo>
                  <a:lnTo>
                    <a:pt x="219" y="347"/>
                  </a:lnTo>
                  <a:lnTo>
                    <a:pt x="221" y="365"/>
                  </a:lnTo>
                  <a:lnTo>
                    <a:pt x="217" y="365"/>
                  </a:lnTo>
                  <a:lnTo>
                    <a:pt x="223" y="372"/>
                  </a:lnTo>
                  <a:lnTo>
                    <a:pt x="226" y="386"/>
                  </a:lnTo>
                  <a:lnTo>
                    <a:pt x="240" y="388"/>
                  </a:lnTo>
                  <a:lnTo>
                    <a:pt x="255" y="389"/>
                  </a:lnTo>
                  <a:lnTo>
                    <a:pt x="257" y="405"/>
                  </a:lnTo>
                  <a:lnTo>
                    <a:pt x="267" y="414"/>
                  </a:lnTo>
                  <a:lnTo>
                    <a:pt x="270" y="422"/>
                  </a:lnTo>
                  <a:lnTo>
                    <a:pt x="267" y="435"/>
                  </a:lnTo>
                  <a:lnTo>
                    <a:pt x="263" y="448"/>
                  </a:lnTo>
                  <a:lnTo>
                    <a:pt x="265" y="454"/>
                  </a:lnTo>
                  <a:lnTo>
                    <a:pt x="263" y="456"/>
                  </a:lnTo>
                  <a:lnTo>
                    <a:pt x="267" y="465"/>
                  </a:lnTo>
                  <a:lnTo>
                    <a:pt x="269" y="490"/>
                  </a:lnTo>
                  <a:lnTo>
                    <a:pt x="291" y="492"/>
                  </a:lnTo>
                  <a:lnTo>
                    <a:pt x="303" y="495"/>
                  </a:lnTo>
                  <a:lnTo>
                    <a:pt x="307" y="509"/>
                  </a:lnTo>
                  <a:lnTo>
                    <a:pt x="312" y="524"/>
                  </a:lnTo>
                  <a:lnTo>
                    <a:pt x="321" y="524"/>
                  </a:lnTo>
                  <a:lnTo>
                    <a:pt x="329" y="525"/>
                  </a:lnTo>
                  <a:lnTo>
                    <a:pt x="328" y="539"/>
                  </a:lnTo>
                  <a:lnTo>
                    <a:pt x="328" y="554"/>
                  </a:lnTo>
                  <a:lnTo>
                    <a:pt x="337" y="554"/>
                  </a:lnTo>
                  <a:lnTo>
                    <a:pt x="345" y="576"/>
                  </a:lnTo>
                  <a:lnTo>
                    <a:pt x="335" y="586"/>
                  </a:lnTo>
                  <a:lnTo>
                    <a:pt x="325" y="594"/>
                  </a:lnTo>
                  <a:lnTo>
                    <a:pt x="317" y="605"/>
                  </a:lnTo>
                  <a:lnTo>
                    <a:pt x="309" y="615"/>
                  </a:lnTo>
                  <a:lnTo>
                    <a:pt x="300" y="626"/>
                  </a:lnTo>
                  <a:lnTo>
                    <a:pt x="292" y="636"/>
                  </a:lnTo>
                  <a:lnTo>
                    <a:pt x="300" y="635"/>
                  </a:lnTo>
                  <a:lnTo>
                    <a:pt x="319" y="650"/>
                  </a:lnTo>
                  <a:lnTo>
                    <a:pt x="323" y="650"/>
                  </a:lnTo>
                  <a:lnTo>
                    <a:pt x="333" y="656"/>
                  </a:lnTo>
                  <a:lnTo>
                    <a:pt x="349" y="668"/>
                  </a:lnTo>
                  <a:lnTo>
                    <a:pt x="365" y="680"/>
                  </a:lnTo>
                  <a:lnTo>
                    <a:pt x="364" y="688"/>
                  </a:lnTo>
                  <a:lnTo>
                    <a:pt x="367" y="700"/>
                  </a:lnTo>
                  <a:lnTo>
                    <a:pt x="373" y="689"/>
                  </a:lnTo>
                  <a:lnTo>
                    <a:pt x="378" y="677"/>
                  </a:lnTo>
                  <a:lnTo>
                    <a:pt x="379" y="666"/>
                  </a:lnTo>
                  <a:lnTo>
                    <a:pt x="384" y="656"/>
                  </a:lnTo>
                  <a:lnTo>
                    <a:pt x="390" y="647"/>
                  </a:lnTo>
                  <a:lnTo>
                    <a:pt x="389" y="636"/>
                  </a:lnTo>
                  <a:lnTo>
                    <a:pt x="396" y="639"/>
                  </a:lnTo>
                  <a:lnTo>
                    <a:pt x="400" y="639"/>
                  </a:lnTo>
                  <a:lnTo>
                    <a:pt x="394" y="652"/>
                  </a:lnTo>
                  <a:lnTo>
                    <a:pt x="387" y="665"/>
                  </a:lnTo>
                  <a:lnTo>
                    <a:pt x="382" y="669"/>
                  </a:lnTo>
                  <a:lnTo>
                    <a:pt x="383" y="670"/>
                  </a:lnTo>
                  <a:lnTo>
                    <a:pt x="394" y="656"/>
                  </a:lnTo>
                  <a:lnTo>
                    <a:pt x="405" y="641"/>
                  </a:lnTo>
                  <a:lnTo>
                    <a:pt x="411" y="627"/>
                  </a:lnTo>
                  <a:lnTo>
                    <a:pt x="417" y="612"/>
                  </a:lnTo>
                  <a:lnTo>
                    <a:pt x="421" y="604"/>
                  </a:lnTo>
                  <a:lnTo>
                    <a:pt x="423" y="604"/>
                  </a:lnTo>
                  <a:lnTo>
                    <a:pt x="423" y="590"/>
                  </a:lnTo>
                  <a:lnTo>
                    <a:pt x="423" y="575"/>
                  </a:lnTo>
                  <a:lnTo>
                    <a:pt x="419" y="564"/>
                  </a:lnTo>
                  <a:lnTo>
                    <a:pt x="419" y="558"/>
                  </a:lnTo>
                  <a:lnTo>
                    <a:pt x="421" y="552"/>
                  </a:lnTo>
                  <a:lnTo>
                    <a:pt x="419" y="551"/>
                  </a:lnTo>
                  <a:lnTo>
                    <a:pt x="425" y="550"/>
                  </a:lnTo>
                  <a:lnTo>
                    <a:pt x="439" y="537"/>
                  </a:lnTo>
                  <a:lnTo>
                    <a:pt x="453" y="524"/>
                  </a:lnTo>
                  <a:lnTo>
                    <a:pt x="466" y="520"/>
                  </a:lnTo>
                  <a:lnTo>
                    <a:pt x="478" y="512"/>
                  </a:lnTo>
                  <a:lnTo>
                    <a:pt x="483" y="507"/>
                  </a:lnTo>
                  <a:lnTo>
                    <a:pt x="493" y="507"/>
                  </a:lnTo>
                  <a:lnTo>
                    <a:pt x="489" y="508"/>
                  </a:lnTo>
                  <a:lnTo>
                    <a:pt x="499" y="504"/>
                  </a:lnTo>
                  <a:lnTo>
                    <a:pt x="502" y="503"/>
                  </a:lnTo>
                  <a:lnTo>
                    <a:pt x="519" y="503"/>
                  </a:lnTo>
                  <a:lnTo>
                    <a:pt x="523" y="494"/>
                  </a:lnTo>
                  <a:lnTo>
                    <a:pt x="533" y="489"/>
                  </a:lnTo>
                  <a:lnTo>
                    <a:pt x="535" y="468"/>
                  </a:lnTo>
                  <a:lnTo>
                    <a:pt x="543" y="454"/>
                  </a:lnTo>
                  <a:lnTo>
                    <a:pt x="550" y="441"/>
                  </a:lnTo>
                  <a:lnTo>
                    <a:pt x="552" y="417"/>
                  </a:lnTo>
                  <a:lnTo>
                    <a:pt x="556" y="407"/>
                  </a:lnTo>
                  <a:lnTo>
                    <a:pt x="557" y="390"/>
                  </a:lnTo>
                  <a:lnTo>
                    <a:pt x="558" y="372"/>
                  </a:lnTo>
                  <a:lnTo>
                    <a:pt x="557" y="359"/>
                  </a:lnTo>
                  <a:lnTo>
                    <a:pt x="557" y="346"/>
                  </a:lnTo>
                  <a:lnTo>
                    <a:pt x="555" y="341"/>
                  </a:lnTo>
                  <a:lnTo>
                    <a:pt x="557" y="324"/>
                  </a:lnTo>
                  <a:lnTo>
                    <a:pt x="562" y="322"/>
                  </a:lnTo>
                  <a:lnTo>
                    <a:pt x="563" y="328"/>
                  </a:lnTo>
                  <a:lnTo>
                    <a:pt x="571" y="314"/>
                  </a:lnTo>
                  <a:lnTo>
                    <a:pt x="580" y="299"/>
                  </a:lnTo>
                  <a:lnTo>
                    <a:pt x="580" y="298"/>
                  </a:lnTo>
                  <a:lnTo>
                    <a:pt x="583" y="293"/>
                  </a:lnTo>
                  <a:lnTo>
                    <a:pt x="593" y="281"/>
                  </a:lnTo>
                  <a:lnTo>
                    <a:pt x="603" y="268"/>
                  </a:lnTo>
                  <a:lnTo>
                    <a:pt x="616" y="248"/>
                  </a:lnTo>
                  <a:lnTo>
                    <a:pt x="618" y="222"/>
                  </a:lnTo>
                  <a:lnTo>
                    <a:pt x="612" y="204"/>
                  </a:lnTo>
                  <a:lnTo>
                    <a:pt x="605" y="186"/>
                  </a:lnTo>
                  <a:lnTo>
                    <a:pt x="592" y="184"/>
                  </a:lnTo>
                  <a:lnTo>
                    <a:pt x="580" y="182"/>
                  </a:lnTo>
                  <a:lnTo>
                    <a:pt x="563" y="166"/>
                  </a:lnTo>
                  <a:lnTo>
                    <a:pt x="545" y="152"/>
                  </a:lnTo>
                  <a:lnTo>
                    <a:pt x="523" y="144"/>
                  </a:lnTo>
                  <a:lnTo>
                    <a:pt x="508" y="146"/>
                  </a:lnTo>
                  <a:lnTo>
                    <a:pt x="495" y="142"/>
                  </a:lnTo>
                  <a:lnTo>
                    <a:pt x="480" y="138"/>
                  </a:lnTo>
                  <a:lnTo>
                    <a:pt x="468" y="143"/>
                  </a:lnTo>
                  <a:lnTo>
                    <a:pt x="469"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2" name="Freeform 241"/>
            <p:cNvSpPr>
              <a:spLocks/>
            </p:cNvSpPr>
            <p:nvPr/>
          </p:nvSpPr>
          <p:spPr bwMode="auto">
            <a:xfrm>
              <a:off x="1636" y="2707"/>
              <a:ext cx="44" cy="34"/>
            </a:xfrm>
            <a:custGeom>
              <a:avLst/>
              <a:gdLst/>
              <a:ahLst/>
              <a:cxnLst>
                <a:cxn ang="0">
                  <a:pos x="19" y="28"/>
                </a:cxn>
                <a:cxn ang="0">
                  <a:pos x="17" y="29"/>
                </a:cxn>
                <a:cxn ang="0">
                  <a:pos x="8" y="26"/>
                </a:cxn>
                <a:cxn ang="0">
                  <a:pos x="5" y="30"/>
                </a:cxn>
                <a:cxn ang="0">
                  <a:pos x="0" y="17"/>
                </a:cxn>
                <a:cxn ang="0">
                  <a:pos x="2" y="17"/>
                </a:cxn>
                <a:cxn ang="0">
                  <a:pos x="1" y="10"/>
                </a:cxn>
                <a:cxn ang="0">
                  <a:pos x="6" y="0"/>
                </a:cxn>
                <a:cxn ang="0">
                  <a:pos x="21" y="2"/>
                </a:cxn>
                <a:cxn ang="0">
                  <a:pos x="38" y="4"/>
                </a:cxn>
                <a:cxn ang="0">
                  <a:pos x="30" y="20"/>
                </a:cxn>
                <a:cxn ang="0">
                  <a:pos x="29" y="21"/>
                </a:cxn>
                <a:cxn ang="0">
                  <a:pos x="27" y="26"/>
                </a:cxn>
                <a:cxn ang="0">
                  <a:pos x="25" y="26"/>
                </a:cxn>
                <a:cxn ang="0">
                  <a:pos x="19" y="28"/>
                </a:cxn>
              </a:cxnLst>
              <a:rect l="0" t="0" r="r" b="b"/>
              <a:pathLst>
                <a:path w="38" h="30">
                  <a:moveTo>
                    <a:pt x="19" y="28"/>
                  </a:moveTo>
                  <a:lnTo>
                    <a:pt x="17" y="29"/>
                  </a:lnTo>
                  <a:lnTo>
                    <a:pt x="8" y="26"/>
                  </a:lnTo>
                  <a:lnTo>
                    <a:pt x="5" y="30"/>
                  </a:lnTo>
                  <a:lnTo>
                    <a:pt x="0" y="17"/>
                  </a:lnTo>
                  <a:lnTo>
                    <a:pt x="2" y="17"/>
                  </a:lnTo>
                  <a:lnTo>
                    <a:pt x="1" y="10"/>
                  </a:lnTo>
                  <a:lnTo>
                    <a:pt x="6" y="0"/>
                  </a:lnTo>
                  <a:lnTo>
                    <a:pt x="21" y="2"/>
                  </a:lnTo>
                  <a:lnTo>
                    <a:pt x="38" y="4"/>
                  </a:lnTo>
                  <a:lnTo>
                    <a:pt x="30" y="20"/>
                  </a:lnTo>
                  <a:lnTo>
                    <a:pt x="29" y="21"/>
                  </a:lnTo>
                  <a:lnTo>
                    <a:pt x="27" y="26"/>
                  </a:lnTo>
                  <a:lnTo>
                    <a:pt x="25" y="26"/>
                  </a:lnTo>
                  <a:lnTo>
                    <a:pt x="19"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3" name="Freeform 242"/>
            <p:cNvSpPr>
              <a:spLocks/>
            </p:cNvSpPr>
            <p:nvPr/>
          </p:nvSpPr>
          <p:spPr bwMode="auto">
            <a:xfrm>
              <a:off x="1451" y="3092"/>
              <a:ext cx="147" cy="162"/>
            </a:xfrm>
            <a:custGeom>
              <a:avLst/>
              <a:gdLst/>
              <a:ahLst/>
              <a:cxnLst>
                <a:cxn ang="0">
                  <a:pos x="7" y="13"/>
                </a:cxn>
                <a:cxn ang="0">
                  <a:pos x="4" y="32"/>
                </a:cxn>
                <a:cxn ang="0">
                  <a:pos x="0" y="52"/>
                </a:cxn>
                <a:cxn ang="0">
                  <a:pos x="16" y="66"/>
                </a:cxn>
                <a:cxn ang="0">
                  <a:pos x="31" y="80"/>
                </a:cxn>
                <a:cxn ang="0">
                  <a:pos x="43" y="86"/>
                </a:cxn>
                <a:cxn ang="0">
                  <a:pos x="56" y="92"/>
                </a:cxn>
                <a:cxn ang="0">
                  <a:pos x="71" y="101"/>
                </a:cxn>
                <a:cxn ang="0">
                  <a:pos x="85" y="109"/>
                </a:cxn>
                <a:cxn ang="0">
                  <a:pos x="79" y="126"/>
                </a:cxn>
                <a:cxn ang="0">
                  <a:pos x="73" y="143"/>
                </a:cxn>
                <a:cxn ang="0">
                  <a:pos x="91" y="144"/>
                </a:cxn>
                <a:cxn ang="0">
                  <a:pos x="109" y="145"/>
                </a:cxn>
                <a:cxn ang="0">
                  <a:pos x="120" y="142"/>
                </a:cxn>
                <a:cxn ang="0">
                  <a:pos x="132" y="122"/>
                </a:cxn>
                <a:cxn ang="0">
                  <a:pos x="131" y="112"/>
                </a:cxn>
                <a:cxn ang="0">
                  <a:pos x="131" y="97"/>
                </a:cxn>
                <a:cxn ang="0">
                  <a:pos x="132" y="83"/>
                </a:cxn>
                <a:cxn ang="0">
                  <a:pos x="124" y="82"/>
                </a:cxn>
                <a:cxn ang="0">
                  <a:pos x="115" y="82"/>
                </a:cxn>
                <a:cxn ang="0">
                  <a:pos x="110" y="67"/>
                </a:cxn>
                <a:cxn ang="0">
                  <a:pos x="106" y="53"/>
                </a:cxn>
                <a:cxn ang="0">
                  <a:pos x="94" y="50"/>
                </a:cxn>
                <a:cxn ang="0">
                  <a:pos x="72" y="48"/>
                </a:cxn>
                <a:cxn ang="0">
                  <a:pos x="70" y="23"/>
                </a:cxn>
                <a:cxn ang="0">
                  <a:pos x="66" y="14"/>
                </a:cxn>
                <a:cxn ang="0">
                  <a:pos x="66" y="11"/>
                </a:cxn>
                <a:cxn ang="0">
                  <a:pos x="50" y="0"/>
                </a:cxn>
                <a:cxn ang="0">
                  <a:pos x="30" y="2"/>
                </a:cxn>
                <a:cxn ang="0">
                  <a:pos x="10" y="5"/>
                </a:cxn>
                <a:cxn ang="0">
                  <a:pos x="7" y="13"/>
                </a:cxn>
              </a:cxnLst>
              <a:rect l="0" t="0" r="r" b="b"/>
              <a:pathLst>
                <a:path w="132" h="145">
                  <a:moveTo>
                    <a:pt x="7" y="13"/>
                  </a:moveTo>
                  <a:lnTo>
                    <a:pt x="4" y="32"/>
                  </a:lnTo>
                  <a:lnTo>
                    <a:pt x="0" y="52"/>
                  </a:lnTo>
                  <a:lnTo>
                    <a:pt x="16" y="66"/>
                  </a:lnTo>
                  <a:lnTo>
                    <a:pt x="31" y="80"/>
                  </a:lnTo>
                  <a:lnTo>
                    <a:pt x="43" y="86"/>
                  </a:lnTo>
                  <a:lnTo>
                    <a:pt x="56" y="92"/>
                  </a:lnTo>
                  <a:lnTo>
                    <a:pt x="71" y="101"/>
                  </a:lnTo>
                  <a:lnTo>
                    <a:pt x="85" y="109"/>
                  </a:lnTo>
                  <a:lnTo>
                    <a:pt x="79" y="126"/>
                  </a:lnTo>
                  <a:lnTo>
                    <a:pt x="73" y="143"/>
                  </a:lnTo>
                  <a:lnTo>
                    <a:pt x="91" y="144"/>
                  </a:lnTo>
                  <a:lnTo>
                    <a:pt x="109" y="145"/>
                  </a:lnTo>
                  <a:lnTo>
                    <a:pt x="120" y="142"/>
                  </a:lnTo>
                  <a:lnTo>
                    <a:pt x="132" y="122"/>
                  </a:lnTo>
                  <a:lnTo>
                    <a:pt x="131" y="112"/>
                  </a:lnTo>
                  <a:lnTo>
                    <a:pt x="131" y="97"/>
                  </a:lnTo>
                  <a:lnTo>
                    <a:pt x="132" y="83"/>
                  </a:lnTo>
                  <a:lnTo>
                    <a:pt x="124" y="82"/>
                  </a:lnTo>
                  <a:lnTo>
                    <a:pt x="115" y="82"/>
                  </a:lnTo>
                  <a:lnTo>
                    <a:pt x="110" y="67"/>
                  </a:lnTo>
                  <a:lnTo>
                    <a:pt x="106" y="53"/>
                  </a:lnTo>
                  <a:lnTo>
                    <a:pt x="94" y="50"/>
                  </a:lnTo>
                  <a:lnTo>
                    <a:pt x="72" y="48"/>
                  </a:lnTo>
                  <a:lnTo>
                    <a:pt x="70" y="23"/>
                  </a:lnTo>
                  <a:lnTo>
                    <a:pt x="66" y="14"/>
                  </a:lnTo>
                  <a:lnTo>
                    <a:pt x="66" y="11"/>
                  </a:lnTo>
                  <a:lnTo>
                    <a:pt x="50" y="0"/>
                  </a:lnTo>
                  <a:lnTo>
                    <a:pt x="30" y="2"/>
                  </a:lnTo>
                  <a:lnTo>
                    <a:pt x="10" y="5"/>
                  </a:lnTo>
                  <a:lnTo>
                    <a:pt x="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4" name="Freeform 243"/>
            <p:cNvSpPr>
              <a:spLocks/>
            </p:cNvSpPr>
            <p:nvPr/>
          </p:nvSpPr>
          <p:spPr bwMode="auto">
            <a:xfrm>
              <a:off x="1556" y="3307"/>
              <a:ext cx="84" cy="94"/>
            </a:xfrm>
            <a:custGeom>
              <a:avLst/>
              <a:gdLst/>
              <a:ahLst/>
              <a:cxnLst>
                <a:cxn ang="0">
                  <a:pos x="74" y="45"/>
                </a:cxn>
                <a:cxn ang="0">
                  <a:pos x="58" y="33"/>
                </a:cxn>
                <a:cxn ang="0">
                  <a:pos x="42" y="21"/>
                </a:cxn>
                <a:cxn ang="0">
                  <a:pos x="32" y="15"/>
                </a:cxn>
                <a:cxn ang="0">
                  <a:pos x="28" y="15"/>
                </a:cxn>
                <a:cxn ang="0">
                  <a:pos x="9" y="0"/>
                </a:cxn>
                <a:cxn ang="0">
                  <a:pos x="1" y="1"/>
                </a:cxn>
                <a:cxn ang="0">
                  <a:pos x="1" y="3"/>
                </a:cxn>
                <a:cxn ang="0">
                  <a:pos x="1" y="22"/>
                </a:cxn>
                <a:cxn ang="0">
                  <a:pos x="0" y="42"/>
                </a:cxn>
                <a:cxn ang="0">
                  <a:pos x="1" y="45"/>
                </a:cxn>
                <a:cxn ang="0">
                  <a:pos x="0" y="59"/>
                </a:cxn>
                <a:cxn ang="0">
                  <a:pos x="7" y="73"/>
                </a:cxn>
                <a:cxn ang="0">
                  <a:pos x="26" y="82"/>
                </a:cxn>
                <a:cxn ang="0">
                  <a:pos x="51" y="85"/>
                </a:cxn>
                <a:cxn ang="0">
                  <a:pos x="66" y="81"/>
                </a:cxn>
                <a:cxn ang="0">
                  <a:pos x="76" y="65"/>
                </a:cxn>
                <a:cxn ang="0">
                  <a:pos x="73" y="53"/>
                </a:cxn>
                <a:cxn ang="0">
                  <a:pos x="74" y="45"/>
                </a:cxn>
              </a:cxnLst>
              <a:rect l="0" t="0" r="r" b="b"/>
              <a:pathLst>
                <a:path w="76" h="85">
                  <a:moveTo>
                    <a:pt x="74" y="45"/>
                  </a:moveTo>
                  <a:lnTo>
                    <a:pt x="58" y="33"/>
                  </a:lnTo>
                  <a:lnTo>
                    <a:pt x="42" y="21"/>
                  </a:lnTo>
                  <a:lnTo>
                    <a:pt x="32" y="15"/>
                  </a:lnTo>
                  <a:lnTo>
                    <a:pt x="28" y="15"/>
                  </a:lnTo>
                  <a:lnTo>
                    <a:pt x="9" y="0"/>
                  </a:lnTo>
                  <a:lnTo>
                    <a:pt x="1" y="1"/>
                  </a:lnTo>
                  <a:lnTo>
                    <a:pt x="1" y="3"/>
                  </a:lnTo>
                  <a:lnTo>
                    <a:pt x="1" y="22"/>
                  </a:lnTo>
                  <a:lnTo>
                    <a:pt x="0" y="42"/>
                  </a:lnTo>
                  <a:lnTo>
                    <a:pt x="1" y="45"/>
                  </a:lnTo>
                  <a:lnTo>
                    <a:pt x="0" y="59"/>
                  </a:lnTo>
                  <a:lnTo>
                    <a:pt x="7" y="73"/>
                  </a:lnTo>
                  <a:lnTo>
                    <a:pt x="26" y="82"/>
                  </a:lnTo>
                  <a:lnTo>
                    <a:pt x="51" y="85"/>
                  </a:lnTo>
                  <a:lnTo>
                    <a:pt x="66" y="81"/>
                  </a:lnTo>
                  <a:lnTo>
                    <a:pt x="76" y="65"/>
                  </a:lnTo>
                  <a:lnTo>
                    <a:pt x="73" y="53"/>
                  </a:lnTo>
                  <a:lnTo>
                    <a:pt x="74" y="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5" name="Freeform 244"/>
            <p:cNvSpPr>
              <a:spLocks/>
            </p:cNvSpPr>
            <p:nvPr/>
          </p:nvSpPr>
          <p:spPr bwMode="auto">
            <a:xfrm>
              <a:off x="1345" y="3141"/>
              <a:ext cx="271" cy="604"/>
            </a:xfrm>
            <a:custGeom>
              <a:avLst/>
              <a:gdLst/>
              <a:ahLst/>
              <a:cxnLst>
                <a:cxn ang="0">
                  <a:pos x="136" y="345"/>
                </a:cxn>
                <a:cxn ang="0">
                  <a:pos x="132" y="366"/>
                </a:cxn>
                <a:cxn ang="0">
                  <a:pos x="143" y="367"/>
                </a:cxn>
                <a:cxn ang="0">
                  <a:pos x="151" y="377"/>
                </a:cxn>
                <a:cxn ang="0">
                  <a:pos x="132" y="375"/>
                </a:cxn>
                <a:cxn ang="0">
                  <a:pos x="133" y="394"/>
                </a:cxn>
                <a:cxn ang="0">
                  <a:pos x="132" y="417"/>
                </a:cxn>
                <a:cxn ang="0">
                  <a:pos x="116" y="441"/>
                </a:cxn>
                <a:cxn ang="0">
                  <a:pos x="148" y="457"/>
                </a:cxn>
                <a:cxn ang="0">
                  <a:pos x="148" y="468"/>
                </a:cxn>
                <a:cxn ang="0">
                  <a:pos x="132" y="491"/>
                </a:cxn>
                <a:cxn ang="0">
                  <a:pos x="124" y="502"/>
                </a:cxn>
                <a:cxn ang="0">
                  <a:pos x="127" y="507"/>
                </a:cxn>
                <a:cxn ang="0">
                  <a:pos x="121" y="521"/>
                </a:cxn>
                <a:cxn ang="0">
                  <a:pos x="125" y="531"/>
                </a:cxn>
                <a:cxn ang="0">
                  <a:pos x="143" y="545"/>
                </a:cxn>
                <a:cxn ang="0">
                  <a:pos x="91" y="535"/>
                </a:cxn>
                <a:cxn ang="0">
                  <a:pos x="74" y="514"/>
                </a:cxn>
                <a:cxn ang="0">
                  <a:pos x="52" y="491"/>
                </a:cxn>
                <a:cxn ang="0">
                  <a:pos x="59" y="457"/>
                </a:cxn>
                <a:cxn ang="0">
                  <a:pos x="54" y="424"/>
                </a:cxn>
                <a:cxn ang="0">
                  <a:pos x="44" y="412"/>
                </a:cxn>
                <a:cxn ang="0">
                  <a:pos x="42" y="402"/>
                </a:cxn>
                <a:cxn ang="0">
                  <a:pos x="29" y="373"/>
                </a:cxn>
                <a:cxn ang="0">
                  <a:pos x="22" y="335"/>
                </a:cxn>
                <a:cxn ang="0">
                  <a:pos x="23" y="305"/>
                </a:cxn>
                <a:cxn ang="0">
                  <a:pos x="17" y="280"/>
                </a:cxn>
                <a:cxn ang="0">
                  <a:pos x="20" y="252"/>
                </a:cxn>
                <a:cxn ang="0">
                  <a:pos x="19" y="217"/>
                </a:cxn>
                <a:cxn ang="0">
                  <a:pos x="7" y="192"/>
                </a:cxn>
                <a:cxn ang="0">
                  <a:pos x="1" y="166"/>
                </a:cxn>
                <a:cxn ang="0">
                  <a:pos x="2" y="142"/>
                </a:cxn>
                <a:cxn ang="0">
                  <a:pos x="8" y="113"/>
                </a:cxn>
                <a:cxn ang="0">
                  <a:pos x="19" y="91"/>
                </a:cxn>
                <a:cxn ang="0">
                  <a:pos x="11" y="57"/>
                </a:cxn>
                <a:cxn ang="0">
                  <a:pos x="26" y="40"/>
                </a:cxn>
                <a:cxn ang="0">
                  <a:pos x="26" y="18"/>
                </a:cxn>
                <a:cxn ang="0">
                  <a:pos x="43" y="3"/>
                </a:cxn>
                <a:cxn ang="0">
                  <a:pos x="70" y="17"/>
                </a:cxn>
                <a:cxn ang="0">
                  <a:pos x="92" y="4"/>
                </a:cxn>
                <a:cxn ang="0">
                  <a:pos x="112" y="23"/>
                </a:cxn>
                <a:cxn ang="0">
                  <a:pos x="139" y="43"/>
                </a:cxn>
                <a:cxn ang="0">
                  <a:pos x="167" y="58"/>
                </a:cxn>
                <a:cxn ang="0">
                  <a:pos x="175" y="83"/>
                </a:cxn>
                <a:cxn ang="0">
                  <a:pos x="187" y="101"/>
                </a:cxn>
                <a:cxn ang="0">
                  <a:pos x="216" y="99"/>
                </a:cxn>
                <a:cxn ang="0">
                  <a:pos x="227" y="69"/>
                </a:cxn>
                <a:cxn ang="0">
                  <a:pos x="244" y="91"/>
                </a:cxn>
                <a:cxn ang="0">
                  <a:pos x="224" y="109"/>
                </a:cxn>
                <a:cxn ang="0">
                  <a:pos x="208" y="130"/>
                </a:cxn>
                <a:cxn ang="0">
                  <a:pos x="191" y="151"/>
                </a:cxn>
                <a:cxn ang="0">
                  <a:pos x="191" y="172"/>
                </a:cxn>
                <a:cxn ang="0">
                  <a:pos x="192" y="203"/>
                </a:cxn>
                <a:cxn ang="0">
                  <a:pos x="194" y="232"/>
                </a:cxn>
                <a:cxn ang="0">
                  <a:pos x="217" y="258"/>
                </a:cxn>
                <a:cxn ang="0">
                  <a:pos x="221" y="281"/>
                </a:cxn>
                <a:cxn ang="0">
                  <a:pos x="202" y="300"/>
                </a:cxn>
                <a:cxn ang="0">
                  <a:pos x="176" y="306"/>
                </a:cxn>
                <a:cxn ang="0">
                  <a:pos x="152" y="309"/>
                </a:cxn>
                <a:cxn ang="0">
                  <a:pos x="160" y="337"/>
                </a:cxn>
              </a:cxnLst>
              <a:rect l="0" t="0" r="r" b="b"/>
              <a:pathLst>
                <a:path w="244" h="545">
                  <a:moveTo>
                    <a:pt x="156" y="346"/>
                  </a:moveTo>
                  <a:lnTo>
                    <a:pt x="136" y="345"/>
                  </a:lnTo>
                  <a:lnTo>
                    <a:pt x="120" y="342"/>
                  </a:lnTo>
                  <a:lnTo>
                    <a:pt x="132" y="366"/>
                  </a:lnTo>
                  <a:lnTo>
                    <a:pt x="137" y="369"/>
                  </a:lnTo>
                  <a:lnTo>
                    <a:pt x="143" y="367"/>
                  </a:lnTo>
                  <a:lnTo>
                    <a:pt x="146" y="364"/>
                  </a:lnTo>
                  <a:lnTo>
                    <a:pt x="151" y="377"/>
                  </a:lnTo>
                  <a:lnTo>
                    <a:pt x="143" y="375"/>
                  </a:lnTo>
                  <a:lnTo>
                    <a:pt x="132" y="375"/>
                  </a:lnTo>
                  <a:lnTo>
                    <a:pt x="144" y="381"/>
                  </a:lnTo>
                  <a:lnTo>
                    <a:pt x="133" y="394"/>
                  </a:lnTo>
                  <a:lnTo>
                    <a:pt x="134" y="408"/>
                  </a:lnTo>
                  <a:lnTo>
                    <a:pt x="132" y="417"/>
                  </a:lnTo>
                  <a:lnTo>
                    <a:pt x="116" y="424"/>
                  </a:lnTo>
                  <a:lnTo>
                    <a:pt x="116" y="441"/>
                  </a:lnTo>
                  <a:lnTo>
                    <a:pt x="139" y="453"/>
                  </a:lnTo>
                  <a:lnTo>
                    <a:pt x="148" y="457"/>
                  </a:lnTo>
                  <a:lnTo>
                    <a:pt x="143" y="466"/>
                  </a:lnTo>
                  <a:lnTo>
                    <a:pt x="148" y="468"/>
                  </a:lnTo>
                  <a:lnTo>
                    <a:pt x="140" y="479"/>
                  </a:lnTo>
                  <a:lnTo>
                    <a:pt x="132" y="491"/>
                  </a:lnTo>
                  <a:lnTo>
                    <a:pt x="131" y="504"/>
                  </a:lnTo>
                  <a:lnTo>
                    <a:pt x="124" y="502"/>
                  </a:lnTo>
                  <a:lnTo>
                    <a:pt x="120" y="503"/>
                  </a:lnTo>
                  <a:lnTo>
                    <a:pt x="127" y="507"/>
                  </a:lnTo>
                  <a:lnTo>
                    <a:pt x="121" y="516"/>
                  </a:lnTo>
                  <a:lnTo>
                    <a:pt x="121" y="521"/>
                  </a:lnTo>
                  <a:lnTo>
                    <a:pt x="128" y="532"/>
                  </a:lnTo>
                  <a:lnTo>
                    <a:pt x="125" y="531"/>
                  </a:lnTo>
                  <a:lnTo>
                    <a:pt x="134" y="535"/>
                  </a:lnTo>
                  <a:lnTo>
                    <a:pt x="143" y="545"/>
                  </a:lnTo>
                  <a:lnTo>
                    <a:pt x="119" y="538"/>
                  </a:lnTo>
                  <a:lnTo>
                    <a:pt x="91" y="535"/>
                  </a:lnTo>
                  <a:lnTo>
                    <a:pt x="83" y="527"/>
                  </a:lnTo>
                  <a:lnTo>
                    <a:pt x="74" y="514"/>
                  </a:lnTo>
                  <a:lnTo>
                    <a:pt x="66" y="515"/>
                  </a:lnTo>
                  <a:lnTo>
                    <a:pt x="52" y="491"/>
                  </a:lnTo>
                  <a:lnTo>
                    <a:pt x="61" y="481"/>
                  </a:lnTo>
                  <a:lnTo>
                    <a:pt x="59" y="457"/>
                  </a:lnTo>
                  <a:lnTo>
                    <a:pt x="55" y="437"/>
                  </a:lnTo>
                  <a:lnTo>
                    <a:pt x="54" y="424"/>
                  </a:lnTo>
                  <a:lnTo>
                    <a:pt x="50" y="415"/>
                  </a:lnTo>
                  <a:lnTo>
                    <a:pt x="44" y="412"/>
                  </a:lnTo>
                  <a:lnTo>
                    <a:pt x="54" y="408"/>
                  </a:lnTo>
                  <a:lnTo>
                    <a:pt x="42" y="402"/>
                  </a:lnTo>
                  <a:lnTo>
                    <a:pt x="36" y="383"/>
                  </a:lnTo>
                  <a:lnTo>
                    <a:pt x="29" y="373"/>
                  </a:lnTo>
                  <a:lnTo>
                    <a:pt x="28" y="359"/>
                  </a:lnTo>
                  <a:lnTo>
                    <a:pt x="22" y="335"/>
                  </a:lnTo>
                  <a:lnTo>
                    <a:pt x="20" y="316"/>
                  </a:lnTo>
                  <a:lnTo>
                    <a:pt x="23" y="305"/>
                  </a:lnTo>
                  <a:lnTo>
                    <a:pt x="22" y="294"/>
                  </a:lnTo>
                  <a:lnTo>
                    <a:pt x="17" y="280"/>
                  </a:lnTo>
                  <a:lnTo>
                    <a:pt x="13" y="264"/>
                  </a:lnTo>
                  <a:lnTo>
                    <a:pt x="20" y="252"/>
                  </a:lnTo>
                  <a:lnTo>
                    <a:pt x="17" y="240"/>
                  </a:lnTo>
                  <a:lnTo>
                    <a:pt x="19" y="217"/>
                  </a:lnTo>
                  <a:lnTo>
                    <a:pt x="14" y="207"/>
                  </a:lnTo>
                  <a:lnTo>
                    <a:pt x="7" y="192"/>
                  </a:lnTo>
                  <a:lnTo>
                    <a:pt x="0" y="178"/>
                  </a:lnTo>
                  <a:lnTo>
                    <a:pt x="1" y="166"/>
                  </a:lnTo>
                  <a:lnTo>
                    <a:pt x="4" y="155"/>
                  </a:lnTo>
                  <a:lnTo>
                    <a:pt x="2" y="142"/>
                  </a:lnTo>
                  <a:lnTo>
                    <a:pt x="2" y="129"/>
                  </a:lnTo>
                  <a:lnTo>
                    <a:pt x="8" y="113"/>
                  </a:lnTo>
                  <a:lnTo>
                    <a:pt x="14" y="96"/>
                  </a:lnTo>
                  <a:lnTo>
                    <a:pt x="19" y="91"/>
                  </a:lnTo>
                  <a:lnTo>
                    <a:pt x="13" y="82"/>
                  </a:lnTo>
                  <a:lnTo>
                    <a:pt x="11" y="57"/>
                  </a:lnTo>
                  <a:lnTo>
                    <a:pt x="13" y="47"/>
                  </a:lnTo>
                  <a:lnTo>
                    <a:pt x="26" y="40"/>
                  </a:lnTo>
                  <a:lnTo>
                    <a:pt x="30" y="22"/>
                  </a:lnTo>
                  <a:lnTo>
                    <a:pt x="26" y="18"/>
                  </a:lnTo>
                  <a:lnTo>
                    <a:pt x="40" y="0"/>
                  </a:lnTo>
                  <a:lnTo>
                    <a:pt x="43" y="3"/>
                  </a:lnTo>
                  <a:lnTo>
                    <a:pt x="62" y="6"/>
                  </a:lnTo>
                  <a:lnTo>
                    <a:pt x="70" y="17"/>
                  </a:lnTo>
                  <a:lnTo>
                    <a:pt x="74" y="7"/>
                  </a:lnTo>
                  <a:lnTo>
                    <a:pt x="92" y="4"/>
                  </a:lnTo>
                  <a:lnTo>
                    <a:pt x="96" y="9"/>
                  </a:lnTo>
                  <a:lnTo>
                    <a:pt x="112" y="23"/>
                  </a:lnTo>
                  <a:lnTo>
                    <a:pt x="127" y="37"/>
                  </a:lnTo>
                  <a:lnTo>
                    <a:pt x="139" y="43"/>
                  </a:lnTo>
                  <a:lnTo>
                    <a:pt x="152" y="49"/>
                  </a:lnTo>
                  <a:lnTo>
                    <a:pt x="167" y="58"/>
                  </a:lnTo>
                  <a:lnTo>
                    <a:pt x="181" y="66"/>
                  </a:lnTo>
                  <a:lnTo>
                    <a:pt x="175" y="83"/>
                  </a:lnTo>
                  <a:lnTo>
                    <a:pt x="169" y="100"/>
                  </a:lnTo>
                  <a:lnTo>
                    <a:pt x="187" y="101"/>
                  </a:lnTo>
                  <a:lnTo>
                    <a:pt x="205" y="102"/>
                  </a:lnTo>
                  <a:lnTo>
                    <a:pt x="216" y="99"/>
                  </a:lnTo>
                  <a:lnTo>
                    <a:pt x="228" y="79"/>
                  </a:lnTo>
                  <a:lnTo>
                    <a:pt x="227" y="69"/>
                  </a:lnTo>
                  <a:lnTo>
                    <a:pt x="236" y="69"/>
                  </a:lnTo>
                  <a:lnTo>
                    <a:pt x="244" y="91"/>
                  </a:lnTo>
                  <a:lnTo>
                    <a:pt x="234" y="101"/>
                  </a:lnTo>
                  <a:lnTo>
                    <a:pt x="224" y="109"/>
                  </a:lnTo>
                  <a:lnTo>
                    <a:pt x="216" y="120"/>
                  </a:lnTo>
                  <a:lnTo>
                    <a:pt x="208" y="130"/>
                  </a:lnTo>
                  <a:lnTo>
                    <a:pt x="199" y="141"/>
                  </a:lnTo>
                  <a:lnTo>
                    <a:pt x="191" y="151"/>
                  </a:lnTo>
                  <a:lnTo>
                    <a:pt x="191" y="153"/>
                  </a:lnTo>
                  <a:lnTo>
                    <a:pt x="191" y="172"/>
                  </a:lnTo>
                  <a:lnTo>
                    <a:pt x="190" y="192"/>
                  </a:lnTo>
                  <a:lnTo>
                    <a:pt x="192" y="203"/>
                  </a:lnTo>
                  <a:lnTo>
                    <a:pt x="188" y="211"/>
                  </a:lnTo>
                  <a:lnTo>
                    <a:pt x="194" y="232"/>
                  </a:lnTo>
                  <a:lnTo>
                    <a:pt x="215" y="246"/>
                  </a:lnTo>
                  <a:lnTo>
                    <a:pt x="217" y="258"/>
                  </a:lnTo>
                  <a:lnTo>
                    <a:pt x="227" y="265"/>
                  </a:lnTo>
                  <a:lnTo>
                    <a:pt x="221" y="281"/>
                  </a:lnTo>
                  <a:lnTo>
                    <a:pt x="215" y="297"/>
                  </a:lnTo>
                  <a:lnTo>
                    <a:pt x="202" y="300"/>
                  </a:lnTo>
                  <a:lnTo>
                    <a:pt x="190" y="304"/>
                  </a:lnTo>
                  <a:lnTo>
                    <a:pt x="176" y="306"/>
                  </a:lnTo>
                  <a:lnTo>
                    <a:pt x="164" y="310"/>
                  </a:lnTo>
                  <a:lnTo>
                    <a:pt x="152" y="309"/>
                  </a:lnTo>
                  <a:lnTo>
                    <a:pt x="156" y="315"/>
                  </a:lnTo>
                  <a:lnTo>
                    <a:pt x="160" y="337"/>
                  </a:lnTo>
                  <a:lnTo>
                    <a:pt x="156" y="3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6" name="Freeform 245"/>
            <p:cNvSpPr>
              <a:spLocks/>
            </p:cNvSpPr>
            <p:nvPr/>
          </p:nvSpPr>
          <p:spPr bwMode="auto">
            <a:xfrm>
              <a:off x="1502" y="3750"/>
              <a:ext cx="67" cy="44"/>
            </a:xfrm>
            <a:custGeom>
              <a:avLst/>
              <a:gdLst/>
              <a:ahLst/>
              <a:cxnLst>
                <a:cxn ang="0">
                  <a:pos x="5" y="8"/>
                </a:cxn>
                <a:cxn ang="0">
                  <a:pos x="0" y="0"/>
                </a:cxn>
                <a:cxn ang="0">
                  <a:pos x="7" y="19"/>
                </a:cxn>
                <a:cxn ang="0">
                  <a:pos x="15" y="38"/>
                </a:cxn>
                <a:cxn ang="0">
                  <a:pos x="37" y="38"/>
                </a:cxn>
                <a:cxn ang="0">
                  <a:pos x="59" y="39"/>
                </a:cxn>
                <a:cxn ang="0">
                  <a:pos x="57" y="34"/>
                </a:cxn>
                <a:cxn ang="0">
                  <a:pos x="26" y="24"/>
                </a:cxn>
                <a:cxn ang="0">
                  <a:pos x="5" y="8"/>
                </a:cxn>
              </a:cxnLst>
              <a:rect l="0" t="0" r="r" b="b"/>
              <a:pathLst>
                <a:path w="59" h="39">
                  <a:moveTo>
                    <a:pt x="5" y="8"/>
                  </a:moveTo>
                  <a:lnTo>
                    <a:pt x="0" y="0"/>
                  </a:lnTo>
                  <a:lnTo>
                    <a:pt x="7" y="19"/>
                  </a:lnTo>
                  <a:lnTo>
                    <a:pt x="15" y="38"/>
                  </a:lnTo>
                  <a:lnTo>
                    <a:pt x="37" y="38"/>
                  </a:lnTo>
                  <a:lnTo>
                    <a:pt x="59" y="39"/>
                  </a:lnTo>
                  <a:lnTo>
                    <a:pt x="57" y="34"/>
                  </a:lnTo>
                  <a:lnTo>
                    <a:pt x="26" y="24"/>
                  </a:lnTo>
                  <a:lnTo>
                    <a:pt x="5" y="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7" name="Freeform 246"/>
            <p:cNvSpPr>
              <a:spLocks/>
            </p:cNvSpPr>
            <p:nvPr/>
          </p:nvSpPr>
          <p:spPr bwMode="auto">
            <a:xfrm>
              <a:off x="1309" y="3054"/>
              <a:ext cx="193" cy="720"/>
            </a:xfrm>
            <a:custGeom>
              <a:avLst/>
              <a:gdLst/>
              <a:ahLst/>
              <a:cxnLst>
                <a:cxn ang="0">
                  <a:pos x="18" y="257"/>
                </a:cxn>
                <a:cxn ang="0">
                  <a:pos x="20" y="300"/>
                </a:cxn>
                <a:cxn ang="0">
                  <a:pos x="15" y="348"/>
                </a:cxn>
                <a:cxn ang="0">
                  <a:pos x="22" y="384"/>
                </a:cxn>
                <a:cxn ang="0">
                  <a:pos x="33" y="432"/>
                </a:cxn>
                <a:cxn ang="0">
                  <a:pos x="46" y="432"/>
                </a:cxn>
                <a:cxn ang="0">
                  <a:pos x="54" y="444"/>
                </a:cxn>
                <a:cxn ang="0">
                  <a:pos x="54" y="459"/>
                </a:cxn>
                <a:cxn ang="0">
                  <a:pos x="63" y="484"/>
                </a:cxn>
                <a:cxn ang="0">
                  <a:pos x="61" y="500"/>
                </a:cxn>
                <a:cxn ang="0">
                  <a:pos x="62" y="514"/>
                </a:cxn>
                <a:cxn ang="0">
                  <a:pos x="57" y="515"/>
                </a:cxn>
                <a:cxn ang="0">
                  <a:pos x="49" y="509"/>
                </a:cxn>
                <a:cxn ang="0">
                  <a:pos x="39" y="524"/>
                </a:cxn>
                <a:cxn ang="0">
                  <a:pos x="63" y="532"/>
                </a:cxn>
                <a:cxn ang="0">
                  <a:pos x="56" y="542"/>
                </a:cxn>
                <a:cxn ang="0">
                  <a:pos x="75" y="545"/>
                </a:cxn>
                <a:cxn ang="0">
                  <a:pos x="61" y="546"/>
                </a:cxn>
                <a:cxn ang="0">
                  <a:pos x="75" y="576"/>
                </a:cxn>
                <a:cxn ang="0">
                  <a:pos x="84" y="588"/>
                </a:cxn>
                <a:cxn ang="0">
                  <a:pos x="96" y="604"/>
                </a:cxn>
                <a:cxn ang="0">
                  <a:pos x="102" y="614"/>
                </a:cxn>
                <a:cxn ang="0">
                  <a:pos x="111" y="629"/>
                </a:cxn>
                <a:cxn ang="0">
                  <a:pos x="118" y="636"/>
                </a:cxn>
                <a:cxn ang="0">
                  <a:pos x="148" y="626"/>
                </a:cxn>
                <a:cxn ang="0">
                  <a:pos x="151" y="615"/>
                </a:cxn>
                <a:cxn ang="0">
                  <a:pos x="106" y="591"/>
                </a:cxn>
                <a:cxn ang="0">
                  <a:pos x="93" y="558"/>
                </a:cxn>
                <a:cxn ang="0">
                  <a:pos x="86" y="501"/>
                </a:cxn>
                <a:cxn ang="0">
                  <a:pos x="86" y="485"/>
                </a:cxn>
                <a:cxn ang="0">
                  <a:pos x="61" y="450"/>
                </a:cxn>
                <a:cxn ang="0">
                  <a:pos x="52" y="393"/>
                </a:cxn>
                <a:cxn ang="0">
                  <a:pos x="49" y="357"/>
                </a:cxn>
                <a:cxn ang="0">
                  <a:pos x="49" y="317"/>
                </a:cxn>
                <a:cxn ang="0">
                  <a:pos x="39" y="269"/>
                </a:cxn>
                <a:cxn ang="0">
                  <a:pos x="36" y="232"/>
                </a:cxn>
                <a:cxn ang="0">
                  <a:pos x="40" y="190"/>
                </a:cxn>
                <a:cxn ang="0">
                  <a:pos x="45" y="159"/>
                </a:cxn>
                <a:cxn ang="0">
                  <a:pos x="58" y="117"/>
                </a:cxn>
                <a:cxn ang="0">
                  <a:pos x="48" y="94"/>
                </a:cxn>
                <a:cxn ang="0">
                  <a:pos x="30" y="46"/>
                </a:cxn>
                <a:cxn ang="0">
                  <a:pos x="18" y="9"/>
                </a:cxn>
                <a:cxn ang="0">
                  <a:pos x="3" y="15"/>
                </a:cxn>
                <a:cxn ang="0">
                  <a:pos x="9" y="62"/>
                </a:cxn>
                <a:cxn ang="0">
                  <a:pos x="8" y="108"/>
                </a:cxn>
                <a:cxn ang="0">
                  <a:pos x="10" y="176"/>
                </a:cxn>
                <a:cxn ang="0">
                  <a:pos x="12" y="230"/>
                </a:cxn>
              </a:cxnLst>
              <a:rect l="0" t="0" r="r" b="b"/>
              <a:pathLst>
                <a:path w="175" h="647">
                  <a:moveTo>
                    <a:pt x="12" y="230"/>
                  </a:moveTo>
                  <a:lnTo>
                    <a:pt x="15" y="244"/>
                  </a:lnTo>
                  <a:lnTo>
                    <a:pt x="18" y="257"/>
                  </a:lnTo>
                  <a:lnTo>
                    <a:pt x="20" y="270"/>
                  </a:lnTo>
                  <a:lnTo>
                    <a:pt x="21" y="284"/>
                  </a:lnTo>
                  <a:lnTo>
                    <a:pt x="20" y="300"/>
                  </a:lnTo>
                  <a:lnTo>
                    <a:pt x="18" y="316"/>
                  </a:lnTo>
                  <a:lnTo>
                    <a:pt x="16" y="332"/>
                  </a:lnTo>
                  <a:lnTo>
                    <a:pt x="15" y="348"/>
                  </a:lnTo>
                  <a:lnTo>
                    <a:pt x="12" y="354"/>
                  </a:lnTo>
                  <a:lnTo>
                    <a:pt x="16" y="369"/>
                  </a:lnTo>
                  <a:lnTo>
                    <a:pt x="22" y="384"/>
                  </a:lnTo>
                  <a:lnTo>
                    <a:pt x="26" y="401"/>
                  </a:lnTo>
                  <a:lnTo>
                    <a:pt x="24" y="418"/>
                  </a:lnTo>
                  <a:lnTo>
                    <a:pt x="33" y="432"/>
                  </a:lnTo>
                  <a:lnTo>
                    <a:pt x="34" y="436"/>
                  </a:lnTo>
                  <a:lnTo>
                    <a:pt x="40" y="432"/>
                  </a:lnTo>
                  <a:lnTo>
                    <a:pt x="46" y="432"/>
                  </a:lnTo>
                  <a:lnTo>
                    <a:pt x="51" y="430"/>
                  </a:lnTo>
                  <a:lnTo>
                    <a:pt x="49" y="440"/>
                  </a:lnTo>
                  <a:lnTo>
                    <a:pt x="54" y="444"/>
                  </a:lnTo>
                  <a:lnTo>
                    <a:pt x="51" y="443"/>
                  </a:lnTo>
                  <a:lnTo>
                    <a:pt x="52" y="448"/>
                  </a:lnTo>
                  <a:lnTo>
                    <a:pt x="54" y="459"/>
                  </a:lnTo>
                  <a:lnTo>
                    <a:pt x="55" y="471"/>
                  </a:lnTo>
                  <a:lnTo>
                    <a:pt x="55" y="477"/>
                  </a:lnTo>
                  <a:lnTo>
                    <a:pt x="63" y="484"/>
                  </a:lnTo>
                  <a:lnTo>
                    <a:pt x="58" y="496"/>
                  </a:lnTo>
                  <a:lnTo>
                    <a:pt x="64" y="500"/>
                  </a:lnTo>
                  <a:lnTo>
                    <a:pt x="61" y="500"/>
                  </a:lnTo>
                  <a:lnTo>
                    <a:pt x="61" y="504"/>
                  </a:lnTo>
                  <a:lnTo>
                    <a:pt x="61" y="506"/>
                  </a:lnTo>
                  <a:lnTo>
                    <a:pt x="62" y="514"/>
                  </a:lnTo>
                  <a:lnTo>
                    <a:pt x="63" y="513"/>
                  </a:lnTo>
                  <a:lnTo>
                    <a:pt x="58" y="520"/>
                  </a:lnTo>
                  <a:lnTo>
                    <a:pt x="57" y="515"/>
                  </a:lnTo>
                  <a:lnTo>
                    <a:pt x="51" y="515"/>
                  </a:lnTo>
                  <a:lnTo>
                    <a:pt x="52" y="509"/>
                  </a:lnTo>
                  <a:lnTo>
                    <a:pt x="49" y="509"/>
                  </a:lnTo>
                  <a:lnTo>
                    <a:pt x="44" y="510"/>
                  </a:lnTo>
                  <a:lnTo>
                    <a:pt x="37" y="525"/>
                  </a:lnTo>
                  <a:lnTo>
                    <a:pt x="39" y="524"/>
                  </a:lnTo>
                  <a:lnTo>
                    <a:pt x="44" y="521"/>
                  </a:lnTo>
                  <a:lnTo>
                    <a:pt x="52" y="524"/>
                  </a:lnTo>
                  <a:lnTo>
                    <a:pt x="63" y="532"/>
                  </a:lnTo>
                  <a:lnTo>
                    <a:pt x="58" y="536"/>
                  </a:lnTo>
                  <a:lnTo>
                    <a:pt x="63" y="539"/>
                  </a:lnTo>
                  <a:lnTo>
                    <a:pt x="56" y="542"/>
                  </a:lnTo>
                  <a:lnTo>
                    <a:pt x="69" y="540"/>
                  </a:lnTo>
                  <a:lnTo>
                    <a:pt x="70" y="539"/>
                  </a:lnTo>
                  <a:lnTo>
                    <a:pt x="75" y="545"/>
                  </a:lnTo>
                  <a:lnTo>
                    <a:pt x="75" y="550"/>
                  </a:lnTo>
                  <a:lnTo>
                    <a:pt x="66" y="548"/>
                  </a:lnTo>
                  <a:lnTo>
                    <a:pt x="61" y="546"/>
                  </a:lnTo>
                  <a:lnTo>
                    <a:pt x="68" y="557"/>
                  </a:lnTo>
                  <a:lnTo>
                    <a:pt x="75" y="569"/>
                  </a:lnTo>
                  <a:lnTo>
                    <a:pt x="75" y="576"/>
                  </a:lnTo>
                  <a:lnTo>
                    <a:pt x="79" y="582"/>
                  </a:lnTo>
                  <a:lnTo>
                    <a:pt x="75" y="585"/>
                  </a:lnTo>
                  <a:lnTo>
                    <a:pt x="84" y="588"/>
                  </a:lnTo>
                  <a:lnTo>
                    <a:pt x="88" y="596"/>
                  </a:lnTo>
                  <a:lnTo>
                    <a:pt x="88" y="599"/>
                  </a:lnTo>
                  <a:lnTo>
                    <a:pt x="96" y="604"/>
                  </a:lnTo>
                  <a:lnTo>
                    <a:pt x="99" y="609"/>
                  </a:lnTo>
                  <a:lnTo>
                    <a:pt x="94" y="606"/>
                  </a:lnTo>
                  <a:lnTo>
                    <a:pt x="102" y="614"/>
                  </a:lnTo>
                  <a:lnTo>
                    <a:pt x="103" y="617"/>
                  </a:lnTo>
                  <a:lnTo>
                    <a:pt x="109" y="626"/>
                  </a:lnTo>
                  <a:lnTo>
                    <a:pt x="111" y="629"/>
                  </a:lnTo>
                  <a:lnTo>
                    <a:pt x="118" y="633"/>
                  </a:lnTo>
                  <a:lnTo>
                    <a:pt x="121" y="635"/>
                  </a:lnTo>
                  <a:lnTo>
                    <a:pt x="118" y="636"/>
                  </a:lnTo>
                  <a:lnTo>
                    <a:pt x="127" y="639"/>
                  </a:lnTo>
                  <a:lnTo>
                    <a:pt x="147" y="647"/>
                  </a:lnTo>
                  <a:lnTo>
                    <a:pt x="148" y="626"/>
                  </a:lnTo>
                  <a:lnTo>
                    <a:pt x="160" y="620"/>
                  </a:lnTo>
                  <a:lnTo>
                    <a:pt x="175" y="622"/>
                  </a:lnTo>
                  <a:lnTo>
                    <a:pt x="151" y="615"/>
                  </a:lnTo>
                  <a:lnTo>
                    <a:pt x="123" y="612"/>
                  </a:lnTo>
                  <a:lnTo>
                    <a:pt x="115" y="604"/>
                  </a:lnTo>
                  <a:lnTo>
                    <a:pt x="106" y="591"/>
                  </a:lnTo>
                  <a:lnTo>
                    <a:pt x="98" y="592"/>
                  </a:lnTo>
                  <a:lnTo>
                    <a:pt x="84" y="568"/>
                  </a:lnTo>
                  <a:lnTo>
                    <a:pt x="93" y="558"/>
                  </a:lnTo>
                  <a:lnTo>
                    <a:pt x="91" y="534"/>
                  </a:lnTo>
                  <a:lnTo>
                    <a:pt x="87" y="514"/>
                  </a:lnTo>
                  <a:lnTo>
                    <a:pt x="86" y="501"/>
                  </a:lnTo>
                  <a:lnTo>
                    <a:pt x="82" y="492"/>
                  </a:lnTo>
                  <a:lnTo>
                    <a:pt x="76" y="489"/>
                  </a:lnTo>
                  <a:lnTo>
                    <a:pt x="86" y="485"/>
                  </a:lnTo>
                  <a:lnTo>
                    <a:pt x="74" y="479"/>
                  </a:lnTo>
                  <a:lnTo>
                    <a:pt x="68" y="460"/>
                  </a:lnTo>
                  <a:lnTo>
                    <a:pt x="61" y="450"/>
                  </a:lnTo>
                  <a:lnTo>
                    <a:pt x="60" y="436"/>
                  </a:lnTo>
                  <a:lnTo>
                    <a:pt x="54" y="412"/>
                  </a:lnTo>
                  <a:lnTo>
                    <a:pt x="52" y="393"/>
                  </a:lnTo>
                  <a:lnTo>
                    <a:pt x="55" y="382"/>
                  </a:lnTo>
                  <a:lnTo>
                    <a:pt x="54" y="371"/>
                  </a:lnTo>
                  <a:lnTo>
                    <a:pt x="49" y="357"/>
                  </a:lnTo>
                  <a:lnTo>
                    <a:pt x="45" y="341"/>
                  </a:lnTo>
                  <a:lnTo>
                    <a:pt x="52" y="329"/>
                  </a:lnTo>
                  <a:lnTo>
                    <a:pt x="49" y="317"/>
                  </a:lnTo>
                  <a:lnTo>
                    <a:pt x="51" y="294"/>
                  </a:lnTo>
                  <a:lnTo>
                    <a:pt x="46" y="284"/>
                  </a:lnTo>
                  <a:lnTo>
                    <a:pt x="39" y="269"/>
                  </a:lnTo>
                  <a:lnTo>
                    <a:pt x="32" y="255"/>
                  </a:lnTo>
                  <a:lnTo>
                    <a:pt x="33" y="243"/>
                  </a:lnTo>
                  <a:lnTo>
                    <a:pt x="36" y="232"/>
                  </a:lnTo>
                  <a:lnTo>
                    <a:pt x="34" y="219"/>
                  </a:lnTo>
                  <a:lnTo>
                    <a:pt x="34" y="206"/>
                  </a:lnTo>
                  <a:lnTo>
                    <a:pt x="40" y="190"/>
                  </a:lnTo>
                  <a:lnTo>
                    <a:pt x="46" y="173"/>
                  </a:lnTo>
                  <a:lnTo>
                    <a:pt x="51" y="168"/>
                  </a:lnTo>
                  <a:lnTo>
                    <a:pt x="45" y="159"/>
                  </a:lnTo>
                  <a:lnTo>
                    <a:pt x="43" y="134"/>
                  </a:lnTo>
                  <a:lnTo>
                    <a:pt x="45" y="124"/>
                  </a:lnTo>
                  <a:lnTo>
                    <a:pt x="58" y="117"/>
                  </a:lnTo>
                  <a:lnTo>
                    <a:pt x="62" y="99"/>
                  </a:lnTo>
                  <a:lnTo>
                    <a:pt x="58" y="95"/>
                  </a:lnTo>
                  <a:lnTo>
                    <a:pt x="48" y="94"/>
                  </a:lnTo>
                  <a:lnTo>
                    <a:pt x="42" y="78"/>
                  </a:lnTo>
                  <a:lnTo>
                    <a:pt x="34" y="62"/>
                  </a:lnTo>
                  <a:lnTo>
                    <a:pt x="30" y="46"/>
                  </a:lnTo>
                  <a:lnTo>
                    <a:pt x="31" y="33"/>
                  </a:lnTo>
                  <a:lnTo>
                    <a:pt x="22" y="21"/>
                  </a:lnTo>
                  <a:lnTo>
                    <a:pt x="18" y="9"/>
                  </a:lnTo>
                  <a:lnTo>
                    <a:pt x="13" y="0"/>
                  </a:lnTo>
                  <a:lnTo>
                    <a:pt x="9" y="8"/>
                  </a:lnTo>
                  <a:lnTo>
                    <a:pt x="3" y="15"/>
                  </a:lnTo>
                  <a:lnTo>
                    <a:pt x="0" y="16"/>
                  </a:lnTo>
                  <a:lnTo>
                    <a:pt x="4" y="39"/>
                  </a:lnTo>
                  <a:lnTo>
                    <a:pt x="9" y="62"/>
                  </a:lnTo>
                  <a:lnTo>
                    <a:pt x="9" y="81"/>
                  </a:lnTo>
                  <a:lnTo>
                    <a:pt x="8" y="100"/>
                  </a:lnTo>
                  <a:lnTo>
                    <a:pt x="8" y="108"/>
                  </a:lnTo>
                  <a:lnTo>
                    <a:pt x="10" y="131"/>
                  </a:lnTo>
                  <a:lnTo>
                    <a:pt x="12" y="150"/>
                  </a:lnTo>
                  <a:lnTo>
                    <a:pt x="10" y="176"/>
                  </a:lnTo>
                  <a:lnTo>
                    <a:pt x="10" y="201"/>
                  </a:lnTo>
                  <a:lnTo>
                    <a:pt x="12" y="213"/>
                  </a:lnTo>
                  <a:lnTo>
                    <a:pt x="12" y="23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8" name="Freeform 247"/>
            <p:cNvSpPr>
              <a:spLocks/>
            </p:cNvSpPr>
            <p:nvPr/>
          </p:nvSpPr>
          <p:spPr bwMode="auto">
            <a:xfrm>
              <a:off x="1469" y="3747"/>
              <a:ext cx="51" cy="45"/>
            </a:xfrm>
            <a:custGeom>
              <a:avLst/>
              <a:gdLst/>
              <a:ahLst/>
              <a:cxnLst>
                <a:cxn ang="0">
                  <a:pos x="31" y="2"/>
                </a:cxn>
                <a:cxn ang="0">
                  <a:pos x="38" y="21"/>
                </a:cxn>
                <a:cxn ang="0">
                  <a:pos x="46" y="40"/>
                </a:cxn>
                <a:cxn ang="0">
                  <a:pos x="42" y="39"/>
                </a:cxn>
                <a:cxn ang="0">
                  <a:pos x="34" y="40"/>
                </a:cxn>
                <a:cxn ang="0">
                  <a:pos x="19" y="38"/>
                </a:cxn>
                <a:cxn ang="0">
                  <a:pos x="13" y="38"/>
                </a:cxn>
                <a:cxn ang="0">
                  <a:pos x="0" y="36"/>
                </a:cxn>
                <a:cxn ang="0">
                  <a:pos x="3" y="34"/>
                </a:cxn>
                <a:cxn ang="0">
                  <a:pos x="12" y="32"/>
                </a:cxn>
                <a:cxn ang="0">
                  <a:pos x="16" y="34"/>
                </a:cxn>
                <a:cxn ang="0">
                  <a:pos x="20" y="34"/>
                </a:cxn>
                <a:cxn ang="0">
                  <a:pos x="13" y="30"/>
                </a:cxn>
                <a:cxn ang="0">
                  <a:pos x="22" y="32"/>
                </a:cxn>
                <a:cxn ang="0">
                  <a:pos x="27" y="33"/>
                </a:cxn>
                <a:cxn ang="0">
                  <a:pos x="34" y="34"/>
                </a:cxn>
                <a:cxn ang="0">
                  <a:pos x="37" y="35"/>
                </a:cxn>
                <a:cxn ang="0">
                  <a:pos x="19" y="24"/>
                </a:cxn>
                <a:cxn ang="0">
                  <a:pos x="26" y="16"/>
                </a:cxn>
                <a:cxn ang="0">
                  <a:pos x="15" y="16"/>
                </a:cxn>
                <a:cxn ang="0">
                  <a:pos x="10" y="3"/>
                </a:cxn>
                <a:cxn ang="0">
                  <a:pos x="16" y="0"/>
                </a:cxn>
                <a:cxn ang="0">
                  <a:pos x="31" y="2"/>
                </a:cxn>
              </a:cxnLst>
              <a:rect l="0" t="0" r="r" b="b"/>
              <a:pathLst>
                <a:path w="46" h="40">
                  <a:moveTo>
                    <a:pt x="31" y="2"/>
                  </a:moveTo>
                  <a:lnTo>
                    <a:pt x="38" y="21"/>
                  </a:lnTo>
                  <a:lnTo>
                    <a:pt x="46" y="40"/>
                  </a:lnTo>
                  <a:lnTo>
                    <a:pt x="42" y="39"/>
                  </a:lnTo>
                  <a:lnTo>
                    <a:pt x="34" y="40"/>
                  </a:lnTo>
                  <a:lnTo>
                    <a:pt x="19" y="38"/>
                  </a:lnTo>
                  <a:lnTo>
                    <a:pt x="13" y="38"/>
                  </a:lnTo>
                  <a:lnTo>
                    <a:pt x="0" y="36"/>
                  </a:lnTo>
                  <a:lnTo>
                    <a:pt x="3" y="34"/>
                  </a:lnTo>
                  <a:lnTo>
                    <a:pt x="12" y="32"/>
                  </a:lnTo>
                  <a:lnTo>
                    <a:pt x="16" y="34"/>
                  </a:lnTo>
                  <a:lnTo>
                    <a:pt x="20" y="34"/>
                  </a:lnTo>
                  <a:lnTo>
                    <a:pt x="13" y="30"/>
                  </a:lnTo>
                  <a:lnTo>
                    <a:pt x="22" y="32"/>
                  </a:lnTo>
                  <a:lnTo>
                    <a:pt x="27" y="33"/>
                  </a:lnTo>
                  <a:lnTo>
                    <a:pt x="34" y="34"/>
                  </a:lnTo>
                  <a:lnTo>
                    <a:pt x="37" y="35"/>
                  </a:lnTo>
                  <a:lnTo>
                    <a:pt x="19" y="24"/>
                  </a:lnTo>
                  <a:lnTo>
                    <a:pt x="26" y="16"/>
                  </a:lnTo>
                  <a:lnTo>
                    <a:pt x="15" y="16"/>
                  </a:lnTo>
                  <a:lnTo>
                    <a:pt x="10" y="3"/>
                  </a:lnTo>
                  <a:lnTo>
                    <a:pt x="16" y="0"/>
                  </a:lnTo>
                  <a:lnTo>
                    <a:pt x="3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9" name="Freeform 248"/>
            <p:cNvSpPr>
              <a:spLocks/>
            </p:cNvSpPr>
            <p:nvPr/>
          </p:nvSpPr>
          <p:spPr bwMode="auto">
            <a:xfrm>
              <a:off x="1340" y="3538"/>
              <a:ext cx="16" cy="32"/>
            </a:xfrm>
            <a:custGeom>
              <a:avLst/>
              <a:gdLst/>
              <a:ahLst/>
              <a:cxnLst>
                <a:cxn ang="0">
                  <a:pos x="5" y="0"/>
                </a:cxn>
                <a:cxn ang="0">
                  <a:pos x="0" y="4"/>
                </a:cxn>
                <a:cxn ang="0">
                  <a:pos x="6" y="28"/>
                </a:cxn>
                <a:cxn ang="0">
                  <a:pos x="12" y="25"/>
                </a:cxn>
                <a:cxn ang="0">
                  <a:pos x="14" y="20"/>
                </a:cxn>
                <a:cxn ang="0">
                  <a:pos x="10" y="10"/>
                </a:cxn>
                <a:cxn ang="0">
                  <a:pos x="12" y="8"/>
                </a:cxn>
                <a:cxn ang="0">
                  <a:pos x="5" y="0"/>
                </a:cxn>
              </a:cxnLst>
              <a:rect l="0" t="0" r="r" b="b"/>
              <a:pathLst>
                <a:path w="14" h="28">
                  <a:moveTo>
                    <a:pt x="5" y="0"/>
                  </a:moveTo>
                  <a:lnTo>
                    <a:pt x="0" y="4"/>
                  </a:lnTo>
                  <a:lnTo>
                    <a:pt x="6" y="28"/>
                  </a:lnTo>
                  <a:lnTo>
                    <a:pt x="12" y="25"/>
                  </a:lnTo>
                  <a:lnTo>
                    <a:pt x="14" y="20"/>
                  </a:lnTo>
                  <a:lnTo>
                    <a:pt x="10" y="10"/>
                  </a:lnTo>
                  <a:lnTo>
                    <a:pt x="12" y="8"/>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0" name="Freeform 249"/>
            <p:cNvSpPr>
              <a:spLocks/>
            </p:cNvSpPr>
            <p:nvPr/>
          </p:nvSpPr>
          <p:spPr bwMode="auto">
            <a:xfrm>
              <a:off x="1374" y="3676"/>
              <a:ext cx="15" cy="25"/>
            </a:xfrm>
            <a:custGeom>
              <a:avLst/>
              <a:gdLst/>
              <a:ahLst/>
              <a:cxnLst>
                <a:cxn ang="0">
                  <a:pos x="7" y="0"/>
                </a:cxn>
                <a:cxn ang="0">
                  <a:pos x="0" y="8"/>
                </a:cxn>
                <a:cxn ang="0">
                  <a:pos x="9" y="18"/>
                </a:cxn>
                <a:cxn ang="0">
                  <a:pos x="13" y="21"/>
                </a:cxn>
                <a:cxn ang="0">
                  <a:pos x="15" y="14"/>
                </a:cxn>
                <a:cxn ang="0">
                  <a:pos x="7" y="0"/>
                </a:cxn>
              </a:cxnLst>
              <a:rect l="0" t="0" r="r" b="b"/>
              <a:pathLst>
                <a:path w="15" h="21">
                  <a:moveTo>
                    <a:pt x="7" y="0"/>
                  </a:moveTo>
                  <a:lnTo>
                    <a:pt x="0" y="8"/>
                  </a:lnTo>
                  <a:lnTo>
                    <a:pt x="9" y="18"/>
                  </a:lnTo>
                  <a:lnTo>
                    <a:pt x="13" y="21"/>
                  </a:lnTo>
                  <a:lnTo>
                    <a:pt x="15" y="14"/>
                  </a:lnTo>
                  <a:lnTo>
                    <a:pt x="7"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1" name="Freeform 250"/>
            <p:cNvSpPr>
              <a:spLocks/>
            </p:cNvSpPr>
            <p:nvPr/>
          </p:nvSpPr>
          <p:spPr bwMode="auto">
            <a:xfrm>
              <a:off x="1107" y="2676"/>
              <a:ext cx="100" cy="129"/>
            </a:xfrm>
            <a:custGeom>
              <a:avLst/>
              <a:gdLst/>
              <a:ahLst/>
              <a:cxnLst>
                <a:cxn ang="0">
                  <a:pos x="0" y="45"/>
                </a:cxn>
                <a:cxn ang="0">
                  <a:pos x="3" y="63"/>
                </a:cxn>
                <a:cxn ang="0">
                  <a:pos x="0" y="67"/>
                </a:cxn>
                <a:cxn ang="0">
                  <a:pos x="11" y="72"/>
                </a:cxn>
                <a:cxn ang="0">
                  <a:pos x="15" y="67"/>
                </a:cxn>
                <a:cxn ang="0">
                  <a:pos x="16" y="71"/>
                </a:cxn>
                <a:cxn ang="0">
                  <a:pos x="16" y="83"/>
                </a:cxn>
                <a:cxn ang="0">
                  <a:pos x="10" y="85"/>
                </a:cxn>
                <a:cxn ang="0">
                  <a:pos x="11" y="96"/>
                </a:cxn>
                <a:cxn ang="0">
                  <a:pos x="7" y="104"/>
                </a:cxn>
                <a:cxn ang="0">
                  <a:pos x="13" y="102"/>
                </a:cxn>
                <a:cxn ang="0">
                  <a:pos x="30" y="115"/>
                </a:cxn>
                <a:cxn ang="0">
                  <a:pos x="35" y="108"/>
                </a:cxn>
                <a:cxn ang="0">
                  <a:pos x="37" y="101"/>
                </a:cxn>
                <a:cxn ang="0">
                  <a:pos x="41" y="95"/>
                </a:cxn>
                <a:cxn ang="0">
                  <a:pos x="43" y="84"/>
                </a:cxn>
                <a:cxn ang="0">
                  <a:pos x="45" y="84"/>
                </a:cxn>
                <a:cxn ang="0">
                  <a:pos x="46" y="86"/>
                </a:cxn>
                <a:cxn ang="0">
                  <a:pos x="48" y="86"/>
                </a:cxn>
                <a:cxn ang="0">
                  <a:pos x="47" y="83"/>
                </a:cxn>
                <a:cxn ang="0">
                  <a:pos x="51" y="79"/>
                </a:cxn>
                <a:cxn ang="0">
                  <a:pos x="60" y="74"/>
                </a:cxn>
                <a:cxn ang="0">
                  <a:pos x="77" y="63"/>
                </a:cxn>
                <a:cxn ang="0">
                  <a:pos x="87" y="42"/>
                </a:cxn>
                <a:cxn ang="0">
                  <a:pos x="90" y="43"/>
                </a:cxn>
                <a:cxn ang="0">
                  <a:pos x="84" y="29"/>
                </a:cxn>
                <a:cxn ang="0">
                  <a:pos x="89" y="27"/>
                </a:cxn>
                <a:cxn ang="0">
                  <a:pos x="71" y="18"/>
                </a:cxn>
                <a:cxn ang="0">
                  <a:pos x="55" y="18"/>
                </a:cxn>
                <a:cxn ang="0">
                  <a:pos x="46" y="9"/>
                </a:cxn>
                <a:cxn ang="0">
                  <a:pos x="33" y="0"/>
                </a:cxn>
                <a:cxn ang="0">
                  <a:pos x="27" y="6"/>
                </a:cxn>
                <a:cxn ang="0">
                  <a:pos x="12" y="13"/>
                </a:cxn>
                <a:cxn ang="0">
                  <a:pos x="9" y="27"/>
                </a:cxn>
                <a:cxn ang="0">
                  <a:pos x="7" y="36"/>
                </a:cxn>
                <a:cxn ang="0">
                  <a:pos x="0" y="45"/>
                </a:cxn>
              </a:cxnLst>
              <a:rect l="0" t="0" r="r" b="b"/>
              <a:pathLst>
                <a:path w="90" h="115">
                  <a:moveTo>
                    <a:pt x="0" y="45"/>
                  </a:moveTo>
                  <a:lnTo>
                    <a:pt x="3" y="63"/>
                  </a:lnTo>
                  <a:lnTo>
                    <a:pt x="0" y="67"/>
                  </a:lnTo>
                  <a:lnTo>
                    <a:pt x="11" y="72"/>
                  </a:lnTo>
                  <a:lnTo>
                    <a:pt x="15" y="67"/>
                  </a:lnTo>
                  <a:lnTo>
                    <a:pt x="16" y="71"/>
                  </a:lnTo>
                  <a:lnTo>
                    <a:pt x="16" y="83"/>
                  </a:lnTo>
                  <a:lnTo>
                    <a:pt x="10" y="85"/>
                  </a:lnTo>
                  <a:lnTo>
                    <a:pt x="11" y="96"/>
                  </a:lnTo>
                  <a:lnTo>
                    <a:pt x="7" y="104"/>
                  </a:lnTo>
                  <a:lnTo>
                    <a:pt x="13" y="102"/>
                  </a:lnTo>
                  <a:lnTo>
                    <a:pt x="30" y="115"/>
                  </a:lnTo>
                  <a:lnTo>
                    <a:pt x="35" y="108"/>
                  </a:lnTo>
                  <a:lnTo>
                    <a:pt x="37" y="101"/>
                  </a:lnTo>
                  <a:lnTo>
                    <a:pt x="41" y="95"/>
                  </a:lnTo>
                  <a:lnTo>
                    <a:pt x="43" y="84"/>
                  </a:lnTo>
                  <a:lnTo>
                    <a:pt x="45" y="84"/>
                  </a:lnTo>
                  <a:lnTo>
                    <a:pt x="46" y="86"/>
                  </a:lnTo>
                  <a:lnTo>
                    <a:pt x="48" y="86"/>
                  </a:lnTo>
                  <a:lnTo>
                    <a:pt x="47" y="83"/>
                  </a:lnTo>
                  <a:lnTo>
                    <a:pt x="51" y="79"/>
                  </a:lnTo>
                  <a:lnTo>
                    <a:pt x="60" y="74"/>
                  </a:lnTo>
                  <a:lnTo>
                    <a:pt x="77" y="63"/>
                  </a:lnTo>
                  <a:lnTo>
                    <a:pt x="87" y="42"/>
                  </a:lnTo>
                  <a:lnTo>
                    <a:pt x="90" y="43"/>
                  </a:lnTo>
                  <a:lnTo>
                    <a:pt x="84" y="29"/>
                  </a:lnTo>
                  <a:lnTo>
                    <a:pt x="89" y="27"/>
                  </a:lnTo>
                  <a:lnTo>
                    <a:pt x="71" y="18"/>
                  </a:lnTo>
                  <a:lnTo>
                    <a:pt x="55" y="18"/>
                  </a:lnTo>
                  <a:lnTo>
                    <a:pt x="46" y="9"/>
                  </a:lnTo>
                  <a:lnTo>
                    <a:pt x="33" y="0"/>
                  </a:lnTo>
                  <a:lnTo>
                    <a:pt x="27" y="6"/>
                  </a:lnTo>
                  <a:lnTo>
                    <a:pt x="12" y="13"/>
                  </a:lnTo>
                  <a:lnTo>
                    <a:pt x="9" y="27"/>
                  </a:lnTo>
                  <a:lnTo>
                    <a:pt x="7" y="36"/>
                  </a:lnTo>
                  <a:lnTo>
                    <a:pt x="0" y="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2" name="Freeform 251"/>
            <p:cNvSpPr>
              <a:spLocks/>
            </p:cNvSpPr>
            <p:nvPr/>
          </p:nvSpPr>
          <p:spPr bwMode="auto">
            <a:xfrm>
              <a:off x="1120" y="2761"/>
              <a:ext cx="3" cy="2"/>
            </a:xfrm>
            <a:custGeom>
              <a:avLst/>
              <a:gdLst/>
              <a:ahLst/>
              <a:cxnLst>
                <a:cxn ang="0">
                  <a:pos x="4" y="0"/>
                </a:cxn>
                <a:cxn ang="0">
                  <a:pos x="1" y="3"/>
                </a:cxn>
                <a:cxn ang="0">
                  <a:pos x="0" y="0"/>
                </a:cxn>
                <a:cxn ang="0">
                  <a:pos x="4" y="0"/>
                </a:cxn>
              </a:cxnLst>
              <a:rect l="0" t="0" r="r" b="b"/>
              <a:pathLst>
                <a:path w="4" h="3">
                  <a:moveTo>
                    <a:pt x="4" y="0"/>
                  </a:moveTo>
                  <a:lnTo>
                    <a:pt x="1" y="3"/>
                  </a:lnTo>
                  <a:lnTo>
                    <a:pt x="0" y="0"/>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3" name="Freeform 252"/>
            <p:cNvSpPr>
              <a:spLocks/>
            </p:cNvSpPr>
            <p:nvPr/>
          </p:nvSpPr>
          <p:spPr bwMode="auto">
            <a:xfrm>
              <a:off x="1100" y="2707"/>
              <a:ext cx="231" cy="365"/>
            </a:xfrm>
            <a:custGeom>
              <a:avLst/>
              <a:gdLst/>
              <a:ahLst/>
              <a:cxnLst>
                <a:cxn ang="0">
                  <a:pos x="201" y="259"/>
                </a:cxn>
                <a:cxn ang="0">
                  <a:pos x="203" y="289"/>
                </a:cxn>
                <a:cxn ang="0">
                  <a:pos x="201" y="306"/>
                </a:cxn>
                <a:cxn ang="0">
                  <a:pos x="197" y="321"/>
                </a:cxn>
                <a:cxn ang="0">
                  <a:pos x="188" y="329"/>
                </a:cxn>
                <a:cxn ang="0">
                  <a:pos x="171" y="311"/>
                </a:cxn>
                <a:cxn ang="0">
                  <a:pos x="143" y="295"/>
                </a:cxn>
                <a:cxn ang="0">
                  <a:pos x="117" y="280"/>
                </a:cxn>
                <a:cxn ang="0">
                  <a:pos x="89" y="253"/>
                </a:cxn>
                <a:cxn ang="0">
                  <a:pos x="78" y="225"/>
                </a:cxn>
                <a:cxn ang="0">
                  <a:pos x="60" y="192"/>
                </a:cxn>
                <a:cxn ang="0">
                  <a:pos x="47" y="167"/>
                </a:cxn>
                <a:cxn ang="0">
                  <a:pos x="34" y="141"/>
                </a:cxn>
                <a:cxn ang="0">
                  <a:pos x="16" y="118"/>
                </a:cxn>
                <a:cxn ang="0">
                  <a:pos x="5" y="105"/>
                </a:cxn>
                <a:cxn ang="0">
                  <a:pos x="8" y="70"/>
                </a:cxn>
                <a:cxn ang="0">
                  <a:pos x="16" y="70"/>
                </a:cxn>
                <a:cxn ang="0">
                  <a:pos x="18" y="76"/>
                </a:cxn>
                <a:cxn ang="0">
                  <a:pos x="40" y="82"/>
                </a:cxn>
                <a:cxn ang="0">
                  <a:pos x="46" y="69"/>
                </a:cxn>
                <a:cxn ang="0">
                  <a:pos x="50" y="58"/>
                </a:cxn>
                <a:cxn ang="0">
                  <a:pos x="53" y="60"/>
                </a:cxn>
                <a:cxn ang="0">
                  <a:pos x="56" y="53"/>
                </a:cxn>
                <a:cxn ang="0">
                  <a:pos x="82" y="37"/>
                </a:cxn>
                <a:cxn ang="0">
                  <a:pos x="95" y="17"/>
                </a:cxn>
                <a:cxn ang="0">
                  <a:pos x="94" y="1"/>
                </a:cxn>
                <a:cxn ang="0">
                  <a:pos x="104" y="9"/>
                </a:cxn>
                <a:cxn ang="0">
                  <a:pos x="125" y="31"/>
                </a:cxn>
                <a:cxn ang="0">
                  <a:pos x="148" y="40"/>
                </a:cxn>
                <a:cxn ang="0">
                  <a:pos x="176" y="46"/>
                </a:cxn>
                <a:cxn ang="0">
                  <a:pos x="179" y="75"/>
                </a:cxn>
                <a:cxn ang="0">
                  <a:pos x="161" y="78"/>
                </a:cxn>
                <a:cxn ang="0">
                  <a:pos x="136" y="90"/>
                </a:cxn>
                <a:cxn ang="0">
                  <a:pos x="128" y="118"/>
                </a:cxn>
                <a:cxn ang="0">
                  <a:pos x="126" y="145"/>
                </a:cxn>
                <a:cxn ang="0">
                  <a:pos x="132" y="167"/>
                </a:cxn>
                <a:cxn ang="0">
                  <a:pos x="148" y="175"/>
                </a:cxn>
                <a:cxn ang="0">
                  <a:pos x="172" y="169"/>
                </a:cxn>
                <a:cxn ang="0">
                  <a:pos x="174" y="197"/>
                </a:cxn>
                <a:cxn ang="0">
                  <a:pos x="198" y="209"/>
                </a:cxn>
                <a:cxn ang="0">
                  <a:pos x="204" y="228"/>
                </a:cxn>
              </a:cxnLst>
              <a:rect l="0" t="0" r="r" b="b"/>
              <a:pathLst>
                <a:path w="208" h="329">
                  <a:moveTo>
                    <a:pt x="204" y="250"/>
                  </a:moveTo>
                  <a:lnTo>
                    <a:pt x="201" y="259"/>
                  </a:lnTo>
                  <a:lnTo>
                    <a:pt x="201" y="274"/>
                  </a:lnTo>
                  <a:lnTo>
                    <a:pt x="203" y="289"/>
                  </a:lnTo>
                  <a:lnTo>
                    <a:pt x="208" y="291"/>
                  </a:lnTo>
                  <a:lnTo>
                    <a:pt x="201" y="306"/>
                  </a:lnTo>
                  <a:lnTo>
                    <a:pt x="201" y="313"/>
                  </a:lnTo>
                  <a:lnTo>
                    <a:pt x="197" y="321"/>
                  </a:lnTo>
                  <a:lnTo>
                    <a:pt x="191" y="328"/>
                  </a:lnTo>
                  <a:lnTo>
                    <a:pt x="188" y="329"/>
                  </a:lnTo>
                  <a:lnTo>
                    <a:pt x="178" y="321"/>
                  </a:lnTo>
                  <a:lnTo>
                    <a:pt x="171" y="311"/>
                  </a:lnTo>
                  <a:lnTo>
                    <a:pt x="158" y="304"/>
                  </a:lnTo>
                  <a:lnTo>
                    <a:pt x="143" y="295"/>
                  </a:lnTo>
                  <a:lnTo>
                    <a:pt x="130" y="288"/>
                  </a:lnTo>
                  <a:lnTo>
                    <a:pt x="117" y="280"/>
                  </a:lnTo>
                  <a:lnTo>
                    <a:pt x="102" y="267"/>
                  </a:lnTo>
                  <a:lnTo>
                    <a:pt x="89" y="253"/>
                  </a:lnTo>
                  <a:lnTo>
                    <a:pt x="89" y="244"/>
                  </a:lnTo>
                  <a:lnTo>
                    <a:pt x="78" y="225"/>
                  </a:lnTo>
                  <a:lnTo>
                    <a:pt x="69" y="204"/>
                  </a:lnTo>
                  <a:lnTo>
                    <a:pt x="60" y="192"/>
                  </a:lnTo>
                  <a:lnTo>
                    <a:pt x="53" y="180"/>
                  </a:lnTo>
                  <a:lnTo>
                    <a:pt x="47" y="167"/>
                  </a:lnTo>
                  <a:lnTo>
                    <a:pt x="40" y="154"/>
                  </a:lnTo>
                  <a:lnTo>
                    <a:pt x="34" y="141"/>
                  </a:lnTo>
                  <a:lnTo>
                    <a:pt x="27" y="127"/>
                  </a:lnTo>
                  <a:lnTo>
                    <a:pt x="16" y="118"/>
                  </a:lnTo>
                  <a:lnTo>
                    <a:pt x="4" y="109"/>
                  </a:lnTo>
                  <a:lnTo>
                    <a:pt x="5" y="105"/>
                  </a:lnTo>
                  <a:lnTo>
                    <a:pt x="0" y="81"/>
                  </a:lnTo>
                  <a:lnTo>
                    <a:pt x="8" y="70"/>
                  </a:lnTo>
                  <a:lnTo>
                    <a:pt x="15" y="59"/>
                  </a:lnTo>
                  <a:lnTo>
                    <a:pt x="16" y="70"/>
                  </a:lnTo>
                  <a:lnTo>
                    <a:pt x="12" y="78"/>
                  </a:lnTo>
                  <a:lnTo>
                    <a:pt x="18" y="76"/>
                  </a:lnTo>
                  <a:lnTo>
                    <a:pt x="35" y="89"/>
                  </a:lnTo>
                  <a:lnTo>
                    <a:pt x="40" y="82"/>
                  </a:lnTo>
                  <a:lnTo>
                    <a:pt x="42" y="75"/>
                  </a:lnTo>
                  <a:lnTo>
                    <a:pt x="46" y="69"/>
                  </a:lnTo>
                  <a:lnTo>
                    <a:pt x="48" y="58"/>
                  </a:lnTo>
                  <a:lnTo>
                    <a:pt x="50" y="58"/>
                  </a:lnTo>
                  <a:lnTo>
                    <a:pt x="51" y="60"/>
                  </a:lnTo>
                  <a:lnTo>
                    <a:pt x="53" y="60"/>
                  </a:lnTo>
                  <a:lnTo>
                    <a:pt x="52" y="57"/>
                  </a:lnTo>
                  <a:lnTo>
                    <a:pt x="56" y="53"/>
                  </a:lnTo>
                  <a:lnTo>
                    <a:pt x="65" y="48"/>
                  </a:lnTo>
                  <a:lnTo>
                    <a:pt x="82" y="37"/>
                  </a:lnTo>
                  <a:lnTo>
                    <a:pt x="92" y="16"/>
                  </a:lnTo>
                  <a:lnTo>
                    <a:pt x="95" y="17"/>
                  </a:lnTo>
                  <a:lnTo>
                    <a:pt x="89" y="3"/>
                  </a:lnTo>
                  <a:lnTo>
                    <a:pt x="94" y="1"/>
                  </a:lnTo>
                  <a:lnTo>
                    <a:pt x="95" y="0"/>
                  </a:lnTo>
                  <a:lnTo>
                    <a:pt x="104" y="9"/>
                  </a:lnTo>
                  <a:lnTo>
                    <a:pt x="113" y="17"/>
                  </a:lnTo>
                  <a:lnTo>
                    <a:pt x="125" y="31"/>
                  </a:lnTo>
                  <a:lnTo>
                    <a:pt x="128" y="40"/>
                  </a:lnTo>
                  <a:lnTo>
                    <a:pt x="148" y="40"/>
                  </a:lnTo>
                  <a:lnTo>
                    <a:pt x="160" y="41"/>
                  </a:lnTo>
                  <a:lnTo>
                    <a:pt x="176" y="46"/>
                  </a:lnTo>
                  <a:lnTo>
                    <a:pt x="170" y="67"/>
                  </a:lnTo>
                  <a:lnTo>
                    <a:pt x="179" y="75"/>
                  </a:lnTo>
                  <a:lnTo>
                    <a:pt x="174" y="75"/>
                  </a:lnTo>
                  <a:lnTo>
                    <a:pt x="161" y="78"/>
                  </a:lnTo>
                  <a:lnTo>
                    <a:pt x="148" y="84"/>
                  </a:lnTo>
                  <a:lnTo>
                    <a:pt x="136" y="90"/>
                  </a:lnTo>
                  <a:lnTo>
                    <a:pt x="131" y="103"/>
                  </a:lnTo>
                  <a:lnTo>
                    <a:pt x="128" y="118"/>
                  </a:lnTo>
                  <a:lnTo>
                    <a:pt x="119" y="132"/>
                  </a:lnTo>
                  <a:lnTo>
                    <a:pt x="126" y="145"/>
                  </a:lnTo>
                  <a:lnTo>
                    <a:pt x="134" y="159"/>
                  </a:lnTo>
                  <a:lnTo>
                    <a:pt x="132" y="167"/>
                  </a:lnTo>
                  <a:lnTo>
                    <a:pt x="140" y="168"/>
                  </a:lnTo>
                  <a:lnTo>
                    <a:pt x="148" y="175"/>
                  </a:lnTo>
                  <a:lnTo>
                    <a:pt x="161" y="179"/>
                  </a:lnTo>
                  <a:lnTo>
                    <a:pt x="172" y="169"/>
                  </a:lnTo>
                  <a:lnTo>
                    <a:pt x="173" y="184"/>
                  </a:lnTo>
                  <a:lnTo>
                    <a:pt x="174" y="197"/>
                  </a:lnTo>
                  <a:lnTo>
                    <a:pt x="191" y="196"/>
                  </a:lnTo>
                  <a:lnTo>
                    <a:pt x="198" y="209"/>
                  </a:lnTo>
                  <a:lnTo>
                    <a:pt x="207" y="223"/>
                  </a:lnTo>
                  <a:lnTo>
                    <a:pt x="204" y="228"/>
                  </a:lnTo>
                  <a:lnTo>
                    <a:pt x="204" y="25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4" name="Freeform 253"/>
            <p:cNvSpPr>
              <a:spLocks/>
            </p:cNvSpPr>
            <p:nvPr/>
          </p:nvSpPr>
          <p:spPr bwMode="auto">
            <a:xfrm>
              <a:off x="3731" y="1648"/>
              <a:ext cx="898" cy="653"/>
            </a:xfrm>
            <a:custGeom>
              <a:avLst/>
              <a:gdLst/>
              <a:ahLst/>
              <a:cxnLst>
                <a:cxn ang="0">
                  <a:pos x="324" y="454"/>
                </a:cxn>
                <a:cxn ang="0">
                  <a:pos x="270" y="453"/>
                </a:cxn>
                <a:cxn ang="0">
                  <a:pos x="205" y="432"/>
                </a:cxn>
                <a:cxn ang="0">
                  <a:pos x="155" y="412"/>
                </a:cxn>
                <a:cxn ang="0">
                  <a:pos x="106" y="369"/>
                </a:cxn>
                <a:cxn ang="0">
                  <a:pos x="107" y="337"/>
                </a:cxn>
                <a:cxn ang="0">
                  <a:pos x="94" y="321"/>
                </a:cxn>
                <a:cxn ang="0">
                  <a:pos x="43" y="293"/>
                </a:cxn>
                <a:cxn ang="0">
                  <a:pos x="31" y="283"/>
                </a:cxn>
                <a:cxn ang="0">
                  <a:pos x="17" y="227"/>
                </a:cxn>
                <a:cxn ang="0">
                  <a:pos x="68" y="204"/>
                </a:cxn>
                <a:cxn ang="0">
                  <a:pos x="72" y="166"/>
                </a:cxn>
                <a:cxn ang="0">
                  <a:pos x="88" y="137"/>
                </a:cxn>
                <a:cxn ang="0">
                  <a:pos x="113" y="91"/>
                </a:cxn>
                <a:cxn ang="0">
                  <a:pos x="144" y="82"/>
                </a:cxn>
                <a:cxn ang="0">
                  <a:pos x="208" y="141"/>
                </a:cxn>
                <a:cxn ang="0">
                  <a:pos x="295" y="173"/>
                </a:cxn>
                <a:cxn ang="0">
                  <a:pos x="389" y="191"/>
                </a:cxn>
                <a:cxn ang="0">
                  <a:pos x="452" y="201"/>
                </a:cxn>
                <a:cxn ang="0">
                  <a:pos x="523" y="169"/>
                </a:cxn>
                <a:cxn ang="0">
                  <a:pos x="560" y="138"/>
                </a:cxn>
                <a:cxn ang="0">
                  <a:pos x="569" y="93"/>
                </a:cxn>
                <a:cxn ang="0">
                  <a:pos x="533" y="89"/>
                </a:cxn>
                <a:cxn ang="0">
                  <a:pos x="556" y="41"/>
                </a:cxn>
                <a:cxn ang="0">
                  <a:pos x="566" y="0"/>
                </a:cxn>
                <a:cxn ang="0">
                  <a:pos x="662" y="48"/>
                </a:cxn>
                <a:cxn ang="0">
                  <a:pos x="751" y="99"/>
                </a:cxn>
                <a:cxn ang="0">
                  <a:pos x="809" y="145"/>
                </a:cxn>
                <a:cxn ang="0">
                  <a:pos x="800" y="187"/>
                </a:cxn>
                <a:cxn ang="0">
                  <a:pos x="773" y="201"/>
                </a:cxn>
                <a:cxn ang="0">
                  <a:pos x="738" y="233"/>
                </a:cxn>
                <a:cxn ang="0">
                  <a:pos x="707" y="246"/>
                </a:cxn>
                <a:cxn ang="0">
                  <a:pos x="676" y="233"/>
                </a:cxn>
                <a:cxn ang="0">
                  <a:pos x="676" y="270"/>
                </a:cxn>
                <a:cxn ang="0">
                  <a:pos x="734" y="283"/>
                </a:cxn>
                <a:cxn ang="0">
                  <a:pos x="708" y="311"/>
                </a:cxn>
                <a:cxn ang="0">
                  <a:pos x="764" y="384"/>
                </a:cxn>
                <a:cxn ang="0">
                  <a:pos x="756" y="407"/>
                </a:cxn>
                <a:cxn ang="0">
                  <a:pos x="774" y="424"/>
                </a:cxn>
                <a:cxn ang="0">
                  <a:pos x="778" y="437"/>
                </a:cxn>
                <a:cxn ang="0">
                  <a:pos x="770" y="455"/>
                </a:cxn>
                <a:cxn ang="0">
                  <a:pos x="756" y="485"/>
                </a:cxn>
                <a:cxn ang="0">
                  <a:pos x="758" y="499"/>
                </a:cxn>
                <a:cxn ang="0">
                  <a:pos x="743" y="515"/>
                </a:cxn>
                <a:cxn ang="0">
                  <a:pos x="721" y="540"/>
                </a:cxn>
                <a:cxn ang="0">
                  <a:pos x="700" y="545"/>
                </a:cxn>
                <a:cxn ang="0">
                  <a:pos x="677" y="543"/>
                </a:cxn>
                <a:cxn ang="0">
                  <a:pos x="668" y="562"/>
                </a:cxn>
                <a:cxn ang="0">
                  <a:pos x="640" y="569"/>
                </a:cxn>
                <a:cxn ang="0">
                  <a:pos x="628" y="569"/>
                </a:cxn>
                <a:cxn ang="0">
                  <a:pos x="604" y="563"/>
                </a:cxn>
                <a:cxn ang="0">
                  <a:pos x="554" y="537"/>
                </a:cxn>
                <a:cxn ang="0">
                  <a:pos x="527" y="546"/>
                </a:cxn>
                <a:cxn ang="0">
                  <a:pos x="497" y="551"/>
                </a:cxn>
                <a:cxn ang="0">
                  <a:pos x="476" y="567"/>
                </a:cxn>
                <a:cxn ang="0">
                  <a:pos x="448" y="522"/>
                </a:cxn>
                <a:cxn ang="0">
                  <a:pos x="436" y="495"/>
                </a:cxn>
                <a:cxn ang="0">
                  <a:pos x="412" y="441"/>
                </a:cxn>
                <a:cxn ang="0">
                  <a:pos x="389" y="427"/>
                </a:cxn>
              </a:cxnLst>
              <a:rect l="0" t="0" r="r" b="b"/>
              <a:pathLst>
                <a:path w="809" h="588">
                  <a:moveTo>
                    <a:pt x="361" y="429"/>
                  </a:moveTo>
                  <a:lnTo>
                    <a:pt x="350" y="438"/>
                  </a:lnTo>
                  <a:lnTo>
                    <a:pt x="338" y="449"/>
                  </a:lnTo>
                  <a:lnTo>
                    <a:pt x="325" y="454"/>
                  </a:lnTo>
                  <a:lnTo>
                    <a:pt x="324" y="454"/>
                  </a:lnTo>
                  <a:lnTo>
                    <a:pt x="317" y="449"/>
                  </a:lnTo>
                  <a:lnTo>
                    <a:pt x="295" y="447"/>
                  </a:lnTo>
                  <a:lnTo>
                    <a:pt x="284" y="462"/>
                  </a:lnTo>
                  <a:lnTo>
                    <a:pt x="277" y="448"/>
                  </a:lnTo>
                  <a:lnTo>
                    <a:pt x="270" y="453"/>
                  </a:lnTo>
                  <a:lnTo>
                    <a:pt x="252" y="450"/>
                  </a:lnTo>
                  <a:lnTo>
                    <a:pt x="238" y="449"/>
                  </a:lnTo>
                  <a:lnTo>
                    <a:pt x="222" y="442"/>
                  </a:lnTo>
                  <a:lnTo>
                    <a:pt x="220" y="438"/>
                  </a:lnTo>
                  <a:lnTo>
                    <a:pt x="205" y="432"/>
                  </a:lnTo>
                  <a:lnTo>
                    <a:pt x="200" y="426"/>
                  </a:lnTo>
                  <a:lnTo>
                    <a:pt x="194" y="429"/>
                  </a:lnTo>
                  <a:lnTo>
                    <a:pt x="174" y="414"/>
                  </a:lnTo>
                  <a:lnTo>
                    <a:pt x="161" y="406"/>
                  </a:lnTo>
                  <a:lnTo>
                    <a:pt x="155" y="412"/>
                  </a:lnTo>
                  <a:lnTo>
                    <a:pt x="154" y="411"/>
                  </a:lnTo>
                  <a:lnTo>
                    <a:pt x="139" y="401"/>
                  </a:lnTo>
                  <a:lnTo>
                    <a:pt x="120" y="390"/>
                  </a:lnTo>
                  <a:lnTo>
                    <a:pt x="113" y="388"/>
                  </a:lnTo>
                  <a:lnTo>
                    <a:pt x="106" y="369"/>
                  </a:lnTo>
                  <a:lnTo>
                    <a:pt x="115" y="370"/>
                  </a:lnTo>
                  <a:lnTo>
                    <a:pt x="118" y="363"/>
                  </a:lnTo>
                  <a:lnTo>
                    <a:pt x="108" y="349"/>
                  </a:lnTo>
                  <a:lnTo>
                    <a:pt x="108" y="342"/>
                  </a:lnTo>
                  <a:lnTo>
                    <a:pt x="107" y="337"/>
                  </a:lnTo>
                  <a:lnTo>
                    <a:pt x="103" y="335"/>
                  </a:lnTo>
                  <a:lnTo>
                    <a:pt x="101" y="331"/>
                  </a:lnTo>
                  <a:lnTo>
                    <a:pt x="100" y="327"/>
                  </a:lnTo>
                  <a:lnTo>
                    <a:pt x="98" y="322"/>
                  </a:lnTo>
                  <a:lnTo>
                    <a:pt x="94" y="321"/>
                  </a:lnTo>
                  <a:lnTo>
                    <a:pt x="86" y="317"/>
                  </a:lnTo>
                  <a:lnTo>
                    <a:pt x="82" y="316"/>
                  </a:lnTo>
                  <a:lnTo>
                    <a:pt x="61" y="310"/>
                  </a:lnTo>
                  <a:lnTo>
                    <a:pt x="50" y="305"/>
                  </a:lnTo>
                  <a:lnTo>
                    <a:pt x="43" y="293"/>
                  </a:lnTo>
                  <a:lnTo>
                    <a:pt x="25" y="288"/>
                  </a:lnTo>
                  <a:lnTo>
                    <a:pt x="25" y="285"/>
                  </a:lnTo>
                  <a:lnTo>
                    <a:pt x="29" y="285"/>
                  </a:lnTo>
                  <a:lnTo>
                    <a:pt x="30" y="285"/>
                  </a:lnTo>
                  <a:lnTo>
                    <a:pt x="31" y="283"/>
                  </a:lnTo>
                  <a:lnTo>
                    <a:pt x="23" y="262"/>
                  </a:lnTo>
                  <a:lnTo>
                    <a:pt x="8" y="261"/>
                  </a:lnTo>
                  <a:lnTo>
                    <a:pt x="0" y="246"/>
                  </a:lnTo>
                  <a:lnTo>
                    <a:pt x="6" y="233"/>
                  </a:lnTo>
                  <a:lnTo>
                    <a:pt x="17" y="227"/>
                  </a:lnTo>
                  <a:lnTo>
                    <a:pt x="24" y="226"/>
                  </a:lnTo>
                  <a:lnTo>
                    <a:pt x="32" y="228"/>
                  </a:lnTo>
                  <a:lnTo>
                    <a:pt x="42" y="217"/>
                  </a:lnTo>
                  <a:lnTo>
                    <a:pt x="58" y="213"/>
                  </a:lnTo>
                  <a:lnTo>
                    <a:pt x="68" y="204"/>
                  </a:lnTo>
                  <a:lnTo>
                    <a:pt x="79" y="195"/>
                  </a:lnTo>
                  <a:lnTo>
                    <a:pt x="76" y="186"/>
                  </a:lnTo>
                  <a:lnTo>
                    <a:pt x="79" y="183"/>
                  </a:lnTo>
                  <a:lnTo>
                    <a:pt x="79" y="179"/>
                  </a:lnTo>
                  <a:lnTo>
                    <a:pt x="72" y="166"/>
                  </a:lnTo>
                  <a:lnTo>
                    <a:pt x="66" y="153"/>
                  </a:lnTo>
                  <a:lnTo>
                    <a:pt x="56" y="149"/>
                  </a:lnTo>
                  <a:lnTo>
                    <a:pt x="73" y="142"/>
                  </a:lnTo>
                  <a:lnTo>
                    <a:pt x="94" y="144"/>
                  </a:lnTo>
                  <a:lnTo>
                    <a:pt x="88" y="137"/>
                  </a:lnTo>
                  <a:lnTo>
                    <a:pt x="86" y="123"/>
                  </a:lnTo>
                  <a:lnTo>
                    <a:pt x="84" y="107"/>
                  </a:lnTo>
                  <a:lnTo>
                    <a:pt x="107" y="112"/>
                  </a:lnTo>
                  <a:lnTo>
                    <a:pt x="120" y="109"/>
                  </a:lnTo>
                  <a:lnTo>
                    <a:pt x="113" y="91"/>
                  </a:lnTo>
                  <a:lnTo>
                    <a:pt x="120" y="87"/>
                  </a:lnTo>
                  <a:lnTo>
                    <a:pt x="126" y="75"/>
                  </a:lnTo>
                  <a:lnTo>
                    <a:pt x="137" y="73"/>
                  </a:lnTo>
                  <a:lnTo>
                    <a:pt x="138" y="76"/>
                  </a:lnTo>
                  <a:lnTo>
                    <a:pt x="144" y="82"/>
                  </a:lnTo>
                  <a:lnTo>
                    <a:pt x="164" y="95"/>
                  </a:lnTo>
                  <a:lnTo>
                    <a:pt x="175" y="97"/>
                  </a:lnTo>
                  <a:lnTo>
                    <a:pt x="197" y="112"/>
                  </a:lnTo>
                  <a:lnTo>
                    <a:pt x="202" y="126"/>
                  </a:lnTo>
                  <a:lnTo>
                    <a:pt x="208" y="141"/>
                  </a:lnTo>
                  <a:lnTo>
                    <a:pt x="224" y="143"/>
                  </a:lnTo>
                  <a:lnTo>
                    <a:pt x="241" y="147"/>
                  </a:lnTo>
                  <a:lnTo>
                    <a:pt x="262" y="153"/>
                  </a:lnTo>
                  <a:lnTo>
                    <a:pt x="282" y="159"/>
                  </a:lnTo>
                  <a:lnTo>
                    <a:pt x="295" y="173"/>
                  </a:lnTo>
                  <a:lnTo>
                    <a:pt x="308" y="186"/>
                  </a:lnTo>
                  <a:lnTo>
                    <a:pt x="329" y="187"/>
                  </a:lnTo>
                  <a:lnTo>
                    <a:pt x="348" y="189"/>
                  </a:lnTo>
                  <a:lnTo>
                    <a:pt x="368" y="190"/>
                  </a:lnTo>
                  <a:lnTo>
                    <a:pt x="389" y="191"/>
                  </a:lnTo>
                  <a:lnTo>
                    <a:pt x="395" y="196"/>
                  </a:lnTo>
                  <a:lnTo>
                    <a:pt x="413" y="199"/>
                  </a:lnTo>
                  <a:lnTo>
                    <a:pt x="431" y="203"/>
                  </a:lnTo>
                  <a:lnTo>
                    <a:pt x="442" y="208"/>
                  </a:lnTo>
                  <a:lnTo>
                    <a:pt x="452" y="201"/>
                  </a:lnTo>
                  <a:lnTo>
                    <a:pt x="462" y="195"/>
                  </a:lnTo>
                  <a:lnTo>
                    <a:pt x="480" y="193"/>
                  </a:lnTo>
                  <a:lnTo>
                    <a:pt x="497" y="192"/>
                  </a:lnTo>
                  <a:lnTo>
                    <a:pt x="510" y="180"/>
                  </a:lnTo>
                  <a:lnTo>
                    <a:pt x="523" y="169"/>
                  </a:lnTo>
                  <a:lnTo>
                    <a:pt x="514" y="161"/>
                  </a:lnTo>
                  <a:lnTo>
                    <a:pt x="511" y="144"/>
                  </a:lnTo>
                  <a:lnTo>
                    <a:pt x="533" y="150"/>
                  </a:lnTo>
                  <a:lnTo>
                    <a:pt x="546" y="142"/>
                  </a:lnTo>
                  <a:lnTo>
                    <a:pt x="560" y="138"/>
                  </a:lnTo>
                  <a:lnTo>
                    <a:pt x="563" y="126"/>
                  </a:lnTo>
                  <a:lnTo>
                    <a:pt x="580" y="118"/>
                  </a:lnTo>
                  <a:lnTo>
                    <a:pt x="604" y="118"/>
                  </a:lnTo>
                  <a:lnTo>
                    <a:pt x="600" y="109"/>
                  </a:lnTo>
                  <a:lnTo>
                    <a:pt x="569" y="93"/>
                  </a:lnTo>
                  <a:lnTo>
                    <a:pt x="562" y="100"/>
                  </a:lnTo>
                  <a:lnTo>
                    <a:pt x="557" y="97"/>
                  </a:lnTo>
                  <a:lnTo>
                    <a:pt x="541" y="97"/>
                  </a:lnTo>
                  <a:lnTo>
                    <a:pt x="529" y="90"/>
                  </a:lnTo>
                  <a:lnTo>
                    <a:pt x="533" y="89"/>
                  </a:lnTo>
                  <a:lnTo>
                    <a:pt x="532" y="75"/>
                  </a:lnTo>
                  <a:lnTo>
                    <a:pt x="529" y="61"/>
                  </a:lnTo>
                  <a:lnTo>
                    <a:pt x="550" y="65"/>
                  </a:lnTo>
                  <a:lnTo>
                    <a:pt x="560" y="54"/>
                  </a:lnTo>
                  <a:lnTo>
                    <a:pt x="556" y="41"/>
                  </a:lnTo>
                  <a:lnTo>
                    <a:pt x="554" y="21"/>
                  </a:lnTo>
                  <a:lnTo>
                    <a:pt x="545" y="13"/>
                  </a:lnTo>
                  <a:lnTo>
                    <a:pt x="539" y="11"/>
                  </a:lnTo>
                  <a:lnTo>
                    <a:pt x="548" y="1"/>
                  </a:lnTo>
                  <a:lnTo>
                    <a:pt x="566" y="0"/>
                  </a:lnTo>
                  <a:lnTo>
                    <a:pt x="584" y="0"/>
                  </a:lnTo>
                  <a:lnTo>
                    <a:pt x="619" y="11"/>
                  </a:lnTo>
                  <a:lnTo>
                    <a:pt x="634" y="24"/>
                  </a:lnTo>
                  <a:lnTo>
                    <a:pt x="648" y="36"/>
                  </a:lnTo>
                  <a:lnTo>
                    <a:pt x="662" y="48"/>
                  </a:lnTo>
                  <a:lnTo>
                    <a:pt x="677" y="60"/>
                  </a:lnTo>
                  <a:lnTo>
                    <a:pt x="692" y="66"/>
                  </a:lnTo>
                  <a:lnTo>
                    <a:pt x="718" y="73"/>
                  </a:lnTo>
                  <a:lnTo>
                    <a:pt x="733" y="79"/>
                  </a:lnTo>
                  <a:lnTo>
                    <a:pt x="751" y="99"/>
                  </a:lnTo>
                  <a:lnTo>
                    <a:pt x="773" y="96"/>
                  </a:lnTo>
                  <a:lnTo>
                    <a:pt x="794" y="88"/>
                  </a:lnTo>
                  <a:lnTo>
                    <a:pt x="803" y="103"/>
                  </a:lnTo>
                  <a:lnTo>
                    <a:pt x="805" y="124"/>
                  </a:lnTo>
                  <a:lnTo>
                    <a:pt x="809" y="145"/>
                  </a:lnTo>
                  <a:lnTo>
                    <a:pt x="790" y="142"/>
                  </a:lnTo>
                  <a:lnTo>
                    <a:pt x="787" y="151"/>
                  </a:lnTo>
                  <a:lnTo>
                    <a:pt x="797" y="167"/>
                  </a:lnTo>
                  <a:lnTo>
                    <a:pt x="806" y="183"/>
                  </a:lnTo>
                  <a:lnTo>
                    <a:pt x="800" y="187"/>
                  </a:lnTo>
                  <a:lnTo>
                    <a:pt x="804" y="192"/>
                  </a:lnTo>
                  <a:lnTo>
                    <a:pt x="787" y="183"/>
                  </a:lnTo>
                  <a:lnTo>
                    <a:pt x="787" y="192"/>
                  </a:lnTo>
                  <a:lnTo>
                    <a:pt x="778" y="199"/>
                  </a:lnTo>
                  <a:lnTo>
                    <a:pt x="773" y="201"/>
                  </a:lnTo>
                  <a:lnTo>
                    <a:pt x="779" y="210"/>
                  </a:lnTo>
                  <a:lnTo>
                    <a:pt x="761" y="205"/>
                  </a:lnTo>
                  <a:lnTo>
                    <a:pt x="755" y="208"/>
                  </a:lnTo>
                  <a:lnTo>
                    <a:pt x="746" y="223"/>
                  </a:lnTo>
                  <a:lnTo>
                    <a:pt x="738" y="233"/>
                  </a:lnTo>
                  <a:lnTo>
                    <a:pt x="731" y="238"/>
                  </a:lnTo>
                  <a:lnTo>
                    <a:pt x="721" y="245"/>
                  </a:lnTo>
                  <a:lnTo>
                    <a:pt x="712" y="251"/>
                  </a:lnTo>
                  <a:lnTo>
                    <a:pt x="701" y="256"/>
                  </a:lnTo>
                  <a:lnTo>
                    <a:pt x="707" y="246"/>
                  </a:lnTo>
                  <a:lnTo>
                    <a:pt x="697" y="243"/>
                  </a:lnTo>
                  <a:lnTo>
                    <a:pt x="701" y="225"/>
                  </a:lnTo>
                  <a:lnTo>
                    <a:pt x="692" y="220"/>
                  </a:lnTo>
                  <a:lnTo>
                    <a:pt x="683" y="222"/>
                  </a:lnTo>
                  <a:lnTo>
                    <a:pt x="676" y="233"/>
                  </a:lnTo>
                  <a:lnTo>
                    <a:pt x="668" y="245"/>
                  </a:lnTo>
                  <a:lnTo>
                    <a:pt x="658" y="251"/>
                  </a:lnTo>
                  <a:lnTo>
                    <a:pt x="649" y="252"/>
                  </a:lnTo>
                  <a:lnTo>
                    <a:pt x="654" y="264"/>
                  </a:lnTo>
                  <a:lnTo>
                    <a:pt x="676" y="270"/>
                  </a:lnTo>
                  <a:lnTo>
                    <a:pt x="683" y="285"/>
                  </a:lnTo>
                  <a:lnTo>
                    <a:pt x="694" y="282"/>
                  </a:lnTo>
                  <a:lnTo>
                    <a:pt x="706" y="274"/>
                  </a:lnTo>
                  <a:lnTo>
                    <a:pt x="725" y="281"/>
                  </a:lnTo>
                  <a:lnTo>
                    <a:pt x="734" y="283"/>
                  </a:lnTo>
                  <a:lnTo>
                    <a:pt x="734" y="292"/>
                  </a:lnTo>
                  <a:lnTo>
                    <a:pt x="726" y="291"/>
                  </a:lnTo>
                  <a:lnTo>
                    <a:pt x="716" y="297"/>
                  </a:lnTo>
                  <a:lnTo>
                    <a:pt x="710" y="305"/>
                  </a:lnTo>
                  <a:lnTo>
                    <a:pt x="708" y="311"/>
                  </a:lnTo>
                  <a:lnTo>
                    <a:pt x="706" y="329"/>
                  </a:lnTo>
                  <a:lnTo>
                    <a:pt x="727" y="342"/>
                  </a:lnTo>
                  <a:lnTo>
                    <a:pt x="738" y="355"/>
                  </a:lnTo>
                  <a:lnTo>
                    <a:pt x="748" y="370"/>
                  </a:lnTo>
                  <a:lnTo>
                    <a:pt x="764" y="384"/>
                  </a:lnTo>
                  <a:lnTo>
                    <a:pt x="740" y="377"/>
                  </a:lnTo>
                  <a:lnTo>
                    <a:pt x="742" y="378"/>
                  </a:lnTo>
                  <a:lnTo>
                    <a:pt x="756" y="388"/>
                  </a:lnTo>
                  <a:lnTo>
                    <a:pt x="770" y="397"/>
                  </a:lnTo>
                  <a:lnTo>
                    <a:pt x="756" y="407"/>
                  </a:lnTo>
                  <a:lnTo>
                    <a:pt x="751" y="411"/>
                  </a:lnTo>
                  <a:lnTo>
                    <a:pt x="760" y="412"/>
                  </a:lnTo>
                  <a:lnTo>
                    <a:pt x="769" y="411"/>
                  </a:lnTo>
                  <a:lnTo>
                    <a:pt x="780" y="417"/>
                  </a:lnTo>
                  <a:lnTo>
                    <a:pt x="774" y="424"/>
                  </a:lnTo>
                  <a:lnTo>
                    <a:pt x="780" y="424"/>
                  </a:lnTo>
                  <a:lnTo>
                    <a:pt x="779" y="426"/>
                  </a:lnTo>
                  <a:lnTo>
                    <a:pt x="775" y="430"/>
                  </a:lnTo>
                  <a:lnTo>
                    <a:pt x="776" y="433"/>
                  </a:lnTo>
                  <a:lnTo>
                    <a:pt x="778" y="437"/>
                  </a:lnTo>
                  <a:lnTo>
                    <a:pt x="775" y="437"/>
                  </a:lnTo>
                  <a:lnTo>
                    <a:pt x="779" y="444"/>
                  </a:lnTo>
                  <a:lnTo>
                    <a:pt x="775" y="445"/>
                  </a:lnTo>
                  <a:lnTo>
                    <a:pt x="767" y="449"/>
                  </a:lnTo>
                  <a:lnTo>
                    <a:pt x="770" y="455"/>
                  </a:lnTo>
                  <a:lnTo>
                    <a:pt x="768" y="463"/>
                  </a:lnTo>
                  <a:lnTo>
                    <a:pt x="762" y="477"/>
                  </a:lnTo>
                  <a:lnTo>
                    <a:pt x="760" y="478"/>
                  </a:lnTo>
                  <a:lnTo>
                    <a:pt x="763" y="481"/>
                  </a:lnTo>
                  <a:lnTo>
                    <a:pt x="756" y="485"/>
                  </a:lnTo>
                  <a:lnTo>
                    <a:pt x="755" y="485"/>
                  </a:lnTo>
                  <a:lnTo>
                    <a:pt x="762" y="487"/>
                  </a:lnTo>
                  <a:lnTo>
                    <a:pt x="763" y="497"/>
                  </a:lnTo>
                  <a:lnTo>
                    <a:pt x="758" y="496"/>
                  </a:lnTo>
                  <a:lnTo>
                    <a:pt x="758" y="499"/>
                  </a:lnTo>
                  <a:lnTo>
                    <a:pt x="755" y="503"/>
                  </a:lnTo>
                  <a:lnTo>
                    <a:pt x="754" y="505"/>
                  </a:lnTo>
                  <a:lnTo>
                    <a:pt x="752" y="511"/>
                  </a:lnTo>
                  <a:lnTo>
                    <a:pt x="744" y="513"/>
                  </a:lnTo>
                  <a:lnTo>
                    <a:pt x="743" y="515"/>
                  </a:lnTo>
                  <a:lnTo>
                    <a:pt x="744" y="519"/>
                  </a:lnTo>
                  <a:lnTo>
                    <a:pt x="739" y="525"/>
                  </a:lnTo>
                  <a:lnTo>
                    <a:pt x="726" y="534"/>
                  </a:lnTo>
                  <a:lnTo>
                    <a:pt x="727" y="535"/>
                  </a:lnTo>
                  <a:lnTo>
                    <a:pt x="721" y="540"/>
                  </a:lnTo>
                  <a:lnTo>
                    <a:pt x="713" y="543"/>
                  </a:lnTo>
                  <a:lnTo>
                    <a:pt x="712" y="543"/>
                  </a:lnTo>
                  <a:lnTo>
                    <a:pt x="709" y="545"/>
                  </a:lnTo>
                  <a:lnTo>
                    <a:pt x="702" y="546"/>
                  </a:lnTo>
                  <a:lnTo>
                    <a:pt x="700" y="545"/>
                  </a:lnTo>
                  <a:lnTo>
                    <a:pt x="696" y="547"/>
                  </a:lnTo>
                  <a:lnTo>
                    <a:pt x="694" y="550"/>
                  </a:lnTo>
                  <a:lnTo>
                    <a:pt x="689" y="550"/>
                  </a:lnTo>
                  <a:lnTo>
                    <a:pt x="680" y="538"/>
                  </a:lnTo>
                  <a:lnTo>
                    <a:pt x="677" y="543"/>
                  </a:lnTo>
                  <a:lnTo>
                    <a:pt x="680" y="555"/>
                  </a:lnTo>
                  <a:lnTo>
                    <a:pt x="677" y="550"/>
                  </a:lnTo>
                  <a:lnTo>
                    <a:pt x="677" y="557"/>
                  </a:lnTo>
                  <a:lnTo>
                    <a:pt x="674" y="556"/>
                  </a:lnTo>
                  <a:lnTo>
                    <a:pt x="668" y="562"/>
                  </a:lnTo>
                  <a:lnTo>
                    <a:pt x="665" y="558"/>
                  </a:lnTo>
                  <a:lnTo>
                    <a:pt x="662" y="562"/>
                  </a:lnTo>
                  <a:lnTo>
                    <a:pt x="658" y="561"/>
                  </a:lnTo>
                  <a:lnTo>
                    <a:pt x="648" y="567"/>
                  </a:lnTo>
                  <a:lnTo>
                    <a:pt x="640" y="569"/>
                  </a:lnTo>
                  <a:lnTo>
                    <a:pt x="637" y="570"/>
                  </a:lnTo>
                  <a:lnTo>
                    <a:pt x="636" y="579"/>
                  </a:lnTo>
                  <a:lnTo>
                    <a:pt x="640" y="588"/>
                  </a:lnTo>
                  <a:lnTo>
                    <a:pt x="631" y="587"/>
                  </a:lnTo>
                  <a:lnTo>
                    <a:pt x="628" y="569"/>
                  </a:lnTo>
                  <a:lnTo>
                    <a:pt x="623" y="565"/>
                  </a:lnTo>
                  <a:lnTo>
                    <a:pt x="617" y="567"/>
                  </a:lnTo>
                  <a:lnTo>
                    <a:pt x="611" y="564"/>
                  </a:lnTo>
                  <a:lnTo>
                    <a:pt x="605" y="561"/>
                  </a:lnTo>
                  <a:lnTo>
                    <a:pt x="604" y="563"/>
                  </a:lnTo>
                  <a:lnTo>
                    <a:pt x="598" y="565"/>
                  </a:lnTo>
                  <a:lnTo>
                    <a:pt x="582" y="559"/>
                  </a:lnTo>
                  <a:lnTo>
                    <a:pt x="576" y="555"/>
                  </a:lnTo>
                  <a:lnTo>
                    <a:pt x="574" y="543"/>
                  </a:lnTo>
                  <a:lnTo>
                    <a:pt x="554" y="537"/>
                  </a:lnTo>
                  <a:lnTo>
                    <a:pt x="547" y="535"/>
                  </a:lnTo>
                  <a:lnTo>
                    <a:pt x="539" y="546"/>
                  </a:lnTo>
                  <a:lnTo>
                    <a:pt x="533" y="546"/>
                  </a:lnTo>
                  <a:lnTo>
                    <a:pt x="530" y="547"/>
                  </a:lnTo>
                  <a:lnTo>
                    <a:pt x="527" y="546"/>
                  </a:lnTo>
                  <a:lnTo>
                    <a:pt x="520" y="546"/>
                  </a:lnTo>
                  <a:lnTo>
                    <a:pt x="517" y="549"/>
                  </a:lnTo>
                  <a:lnTo>
                    <a:pt x="509" y="546"/>
                  </a:lnTo>
                  <a:lnTo>
                    <a:pt x="505" y="551"/>
                  </a:lnTo>
                  <a:lnTo>
                    <a:pt x="497" y="551"/>
                  </a:lnTo>
                  <a:lnTo>
                    <a:pt x="500" y="573"/>
                  </a:lnTo>
                  <a:lnTo>
                    <a:pt x="494" y="569"/>
                  </a:lnTo>
                  <a:lnTo>
                    <a:pt x="492" y="565"/>
                  </a:lnTo>
                  <a:lnTo>
                    <a:pt x="487" y="563"/>
                  </a:lnTo>
                  <a:lnTo>
                    <a:pt x="476" y="567"/>
                  </a:lnTo>
                  <a:lnTo>
                    <a:pt x="468" y="557"/>
                  </a:lnTo>
                  <a:lnTo>
                    <a:pt x="460" y="553"/>
                  </a:lnTo>
                  <a:lnTo>
                    <a:pt x="462" y="539"/>
                  </a:lnTo>
                  <a:lnTo>
                    <a:pt x="451" y="534"/>
                  </a:lnTo>
                  <a:lnTo>
                    <a:pt x="448" y="522"/>
                  </a:lnTo>
                  <a:lnTo>
                    <a:pt x="446" y="520"/>
                  </a:lnTo>
                  <a:lnTo>
                    <a:pt x="430" y="522"/>
                  </a:lnTo>
                  <a:lnTo>
                    <a:pt x="430" y="514"/>
                  </a:lnTo>
                  <a:lnTo>
                    <a:pt x="428" y="507"/>
                  </a:lnTo>
                  <a:lnTo>
                    <a:pt x="436" y="495"/>
                  </a:lnTo>
                  <a:lnTo>
                    <a:pt x="438" y="486"/>
                  </a:lnTo>
                  <a:lnTo>
                    <a:pt x="434" y="472"/>
                  </a:lnTo>
                  <a:lnTo>
                    <a:pt x="432" y="457"/>
                  </a:lnTo>
                  <a:lnTo>
                    <a:pt x="425" y="454"/>
                  </a:lnTo>
                  <a:lnTo>
                    <a:pt x="412" y="441"/>
                  </a:lnTo>
                  <a:lnTo>
                    <a:pt x="410" y="447"/>
                  </a:lnTo>
                  <a:lnTo>
                    <a:pt x="394" y="441"/>
                  </a:lnTo>
                  <a:lnTo>
                    <a:pt x="394" y="432"/>
                  </a:lnTo>
                  <a:lnTo>
                    <a:pt x="388" y="431"/>
                  </a:lnTo>
                  <a:lnTo>
                    <a:pt x="389" y="427"/>
                  </a:lnTo>
                  <a:lnTo>
                    <a:pt x="383" y="425"/>
                  </a:lnTo>
                  <a:lnTo>
                    <a:pt x="374" y="430"/>
                  </a:lnTo>
                  <a:lnTo>
                    <a:pt x="361" y="42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5" name="Freeform 254"/>
            <p:cNvSpPr>
              <a:spLocks/>
            </p:cNvSpPr>
            <p:nvPr/>
          </p:nvSpPr>
          <p:spPr bwMode="auto">
            <a:xfrm>
              <a:off x="4415" y="2307"/>
              <a:ext cx="40" cy="34"/>
            </a:xfrm>
            <a:custGeom>
              <a:avLst/>
              <a:gdLst/>
              <a:ahLst/>
              <a:cxnLst>
                <a:cxn ang="0">
                  <a:pos x="26" y="0"/>
                </a:cxn>
                <a:cxn ang="0">
                  <a:pos x="11" y="3"/>
                </a:cxn>
                <a:cxn ang="0">
                  <a:pos x="0" y="10"/>
                </a:cxn>
                <a:cxn ang="0">
                  <a:pos x="1" y="24"/>
                </a:cxn>
                <a:cxn ang="0">
                  <a:pos x="13" y="30"/>
                </a:cxn>
                <a:cxn ang="0">
                  <a:pos x="19" y="29"/>
                </a:cxn>
                <a:cxn ang="0">
                  <a:pos x="29" y="18"/>
                </a:cxn>
                <a:cxn ang="0">
                  <a:pos x="35" y="6"/>
                </a:cxn>
                <a:cxn ang="0">
                  <a:pos x="32" y="0"/>
                </a:cxn>
                <a:cxn ang="0">
                  <a:pos x="26" y="0"/>
                </a:cxn>
              </a:cxnLst>
              <a:rect l="0" t="0" r="r" b="b"/>
              <a:pathLst>
                <a:path w="35" h="30">
                  <a:moveTo>
                    <a:pt x="26" y="0"/>
                  </a:moveTo>
                  <a:lnTo>
                    <a:pt x="11" y="3"/>
                  </a:lnTo>
                  <a:lnTo>
                    <a:pt x="0" y="10"/>
                  </a:lnTo>
                  <a:lnTo>
                    <a:pt x="1" y="24"/>
                  </a:lnTo>
                  <a:lnTo>
                    <a:pt x="13" y="30"/>
                  </a:lnTo>
                  <a:lnTo>
                    <a:pt x="19" y="29"/>
                  </a:lnTo>
                  <a:lnTo>
                    <a:pt x="29" y="18"/>
                  </a:lnTo>
                  <a:lnTo>
                    <a:pt x="35" y="6"/>
                  </a:lnTo>
                  <a:lnTo>
                    <a:pt x="32" y="0"/>
                  </a:lnTo>
                  <a:lnTo>
                    <a:pt x="2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6" name="Freeform 255"/>
            <p:cNvSpPr>
              <a:spLocks/>
            </p:cNvSpPr>
            <p:nvPr/>
          </p:nvSpPr>
          <p:spPr bwMode="auto">
            <a:xfrm>
              <a:off x="4713" y="1879"/>
              <a:ext cx="149" cy="157"/>
            </a:xfrm>
            <a:custGeom>
              <a:avLst/>
              <a:gdLst/>
              <a:ahLst/>
              <a:cxnLst>
                <a:cxn ang="0">
                  <a:pos x="125" y="108"/>
                </a:cxn>
                <a:cxn ang="0">
                  <a:pos x="122" y="103"/>
                </a:cxn>
                <a:cxn ang="0">
                  <a:pos x="123" y="112"/>
                </a:cxn>
                <a:cxn ang="0">
                  <a:pos x="116" y="114"/>
                </a:cxn>
                <a:cxn ang="0">
                  <a:pos x="114" y="121"/>
                </a:cxn>
                <a:cxn ang="0">
                  <a:pos x="111" y="113"/>
                </a:cxn>
                <a:cxn ang="0">
                  <a:pos x="107" y="122"/>
                </a:cxn>
                <a:cxn ang="0">
                  <a:pos x="90" y="121"/>
                </a:cxn>
                <a:cxn ang="0">
                  <a:pos x="86" y="119"/>
                </a:cxn>
                <a:cxn ang="0">
                  <a:pos x="81" y="115"/>
                </a:cxn>
                <a:cxn ang="0">
                  <a:pos x="83" y="124"/>
                </a:cxn>
                <a:cxn ang="0">
                  <a:pos x="87" y="128"/>
                </a:cxn>
                <a:cxn ang="0">
                  <a:pos x="81" y="136"/>
                </a:cxn>
                <a:cxn ang="0">
                  <a:pos x="78" y="143"/>
                </a:cxn>
                <a:cxn ang="0">
                  <a:pos x="64" y="132"/>
                </a:cxn>
                <a:cxn ang="0">
                  <a:pos x="63" y="120"/>
                </a:cxn>
                <a:cxn ang="0">
                  <a:pos x="44" y="122"/>
                </a:cxn>
                <a:cxn ang="0">
                  <a:pos x="23" y="127"/>
                </a:cxn>
                <a:cxn ang="0">
                  <a:pos x="17" y="134"/>
                </a:cxn>
                <a:cxn ang="0">
                  <a:pos x="0" y="132"/>
                </a:cxn>
                <a:cxn ang="0">
                  <a:pos x="3" y="126"/>
                </a:cxn>
                <a:cxn ang="0">
                  <a:pos x="14" y="115"/>
                </a:cxn>
                <a:cxn ang="0">
                  <a:pos x="23" y="106"/>
                </a:cxn>
                <a:cxn ang="0">
                  <a:pos x="38" y="104"/>
                </a:cxn>
                <a:cxn ang="0">
                  <a:pos x="53" y="103"/>
                </a:cxn>
                <a:cxn ang="0">
                  <a:pos x="57" y="106"/>
                </a:cxn>
                <a:cxn ang="0">
                  <a:pos x="65" y="101"/>
                </a:cxn>
                <a:cxn ang="0">
                  <a:pos x="63" y="91"/>
                </a:cxn>
                <a:cxn ang="0">
                  <a:pos x="62" y="77"/>
                </a:cxn>
                <a:cxn ang="0">
                  <a:pos x="68" y="73"/>
                </a:cxn>
                <a:cxn ang="0">
                  <a:pos x="66" y="78"/>
                </a:cxn>
                <a:cxn ang="0">
                  <a:pos x="72" y="84"/>
                </a:cxn>
                <a:cxn ang="0">
                  <a:pos x="80" y="77"/>
                </a:cxn>
                <a:cxn ang="0">
                  <a:pos x="87" y="70"/>
                </a:cxn>
                <a:cxn ang="0">
                  <a:pos x="89" y="56"/>
                </a:cxn>
                <a:cxn ang="0">
                  <a:pos x="90" y="42"/>
                </a:cxn>
                <a:cxn ang="0">
                  <a:pos x="82" y="29"/>
                </a:cxn>
                <a:cxn ang="0">
                  <a:pos x="76" y="13"/>
                </a:cxn>
                <a:cxn ang="0">
                  <a:pos x="77" y="5"/>
                </a:cxn>
                <a:cxn ang="0">
                  <a:pos x="86" y="10"/>
                </a:cxn>
                <a:cxn ang="0">
                  <a:pos x="89" y="7"/>
                </a:cxn>
                <a:cxn ang="0">
                  <a:pos x="87" y="4"/>
                </a:cxn>
                <a:cxn ang="0">
                  <a:pos x="81" y="4"/>
                </a:cxn>
                <a:cxn ang="0">
                  <a:pos x="82" y="0"/>
                </a:cxn>
                <a:cxn ang="0">
                  <a:pos x="89" y="2"/>
                </a:cxn>
                <a:cxn ang="0">
                  <a:pos x="102" y="18"/>
                </a:cxn>
                <a:cxn ang="0">
                  <a:pos x="118" y="34"/>
                </a:cxn>
                <a:cxn ang="0">
                  <a:pos x="119" y="55"/>
                </a:cxn>
                <a:cxn ang="0">
                  <a:pos x="116" y="61"/>
                </a:cxn>
                <a:cxn ang="0">
                  <a:pos x="124" y="84"/>
                </a:cxn>
                <a:cxn ang="0">
                  <a:pos x="135" y="101"/>
                </a:cxn>
                <a:cxn ang="0">
                  <a:pos x="129" y="118"/>
                </a:cxn>
                <a:cxn ang="0">
                  <a:pos x="125" y="108"/>
                </a:cxn>
              </a:cxnLst>
              <a:rect l="0" t="0" r="r" b="b"/>
              <a:pathLst>
                <a:path w="135" h="143">
                  <a:moveTo>
                    <a:pt x="125" y="108"/>
                  </a:moveTo>
                  <a:lnTo>
                    <a:pt x="122" y="103"/>
                  </a:lnTo>
                  <a:lnTo>
                    <a:pt x="123" y="112"/>
                  </a:lnTo>
                  <a:lnTo>
                    <a:pt x="116" y="114"/>
                  </a:lnTo>
                  <a:lnTo>
                    <a:pt x="114" y="121"/>
                  </a:lnTo>
                  <a:lnTo>
                    <a:pt x="111" y="113"/>
                  </a:lnTo>
                  <a:lnTo>
                    <a:pt x="107" y="122"/>
                  </a:lnTo>
                  <a:lnTo>
                    <a:pt x="90" y="121"/>
                  </a:lnTo>
                  <a:lnTo>
                    <a:pt x="86" y="119"/>
                  </a:lnTo>
                  <a:lnTo>
                    <a:pt x="81" y="115"/>
                  </a:lnTo>
                  <a:lnTo>
                    <a:pt x="83" y="124"/>
                  </a:lnTo>
                  <a:lnTo>
                    <a:pt x="87" y="128"/>
                  </a:lnTo>
                  <a:lnTo>
                    <a:pt x="81" y="136"/>
                  </a:lnTo>
                  <a:lnTo>
                    <a:pt x="78" y="143"/>
                  </a:lnTo>
                  <a:lnTo>
                    <a:pt x="64" y="132"/>
                  </a:lnTo>
                  <a:lnTo>
                    <a:pt x="63" y="120"/>
                  </a:lnTo>
                  <a:lnTo>
                    <a:pt x="44" y="122"/>
                  </a:lnTo>
                  <a:lnTo>
                    <a:pt x="23" y="127"/>
                  </a:lnTo>
                  <a:lnTo>
                    <a:pt x="17" y="134"/>
                  </a:lnTo>
                  <a:lnTo>
                    <a:pt x="0" y="132"/>
                  </a:lnTo>
                  <a:lnTo>
                    <a:pt x="3" y="126"/>
                  </a:lnTo>
                  <a:lnTo>
                    <a:pt x="14" y="115"/>
                  </a:lnTo>
                  <a:lnTo>
                    <a:pt x="23" y="106"/>
                  </a:lnTo>
                  <a:lnTo>
                    <a:pt x="38" y="104"/>
                  </a:lnTo>
                  <a:lnTo>
                    <a:pt x="53" y="103"/>
                  </a:lnTo>
                  <a:lnTo>
                    <a:pt x="57" y="106"/>
                  </a:lnTo>
                  <a:lnTo>
                    <a:pt x="65" y="101"/>
                  </a:lnTo>
                  <a:lnTo>
                    <a:pt x="63" y="91"/>
                  </a:lnTo>
                  <a:lnTo>
                    <a:pt x="62" y="77"/>
                  </a:lnTo>
                  <a:lnTo>
                    <a:pt x="68" y="73"/>
                  </a:lnTo>
                  <a:lnTo>
                    <a:pt x="66" y="78"/>
                  </a:lnTo>
                  <a:lnTo>
                    <a:pt x="72" y="84"/>
                  </a:lnTo>
                  <a:lnTo>
                    <a:pt x="80" y="77"/>
                  </a:lnTo>
                  <a:lnTo>
                    <a:pt x="87" y="70"/>
                  </a:lnTo>
                  <a:lnTo>
                    <a:pt x="89" y="56"/>
                  </a:lnTo>
                  <a:lnTo>
                    <a:pt x="90" y="42"/>
                  </a:lnTo>
                  <a:lnTo>
                    <a:pt x="82" y="29"/>
                  </a:lnTo>
                  <a:lnTo>
                    <a:pt x="76" y="13"/>
                  </a:lnTo>
                  <a:lnTo>
                    <a:pt x="77" y="5"/>
                  </a:lnTo>
                  <a:lnTo>
                    <a:pt x="86" y="10"/>
                  </a:lnTo>
                  <a:lnTo>
                    <a:pt x="89" y="7"/>
                  </a:lnTo>
                  <a:lnTo>
                    <a:pt x="87" y="4"/>
                  </a:lnTo>
                  <a:lnTo>
                    <a:pt x="81" y="4"/>
                  </a:lnTo>
                  <a:lnTo>
                    <a:pt x="82" y="0"/>
                  </a:lnTo>
                  <a:lnTo>
                    <a:pt x="89" y="2"/>
                  </a:lnTo>
                  <a:lnTo>
                    <a:pt x="102" y="18"/>
                  </a:lnTo>
                  <a:lnTo>
                    <a:pt x="118" y="34"/>
                  </a:lnTo>
                  <a:lnTo>
                    <a:pt x="119" y="55"/>
                  </a:lnTo>
                  <a:lnTo>
                    <a:pt x="116" y="61"/>
                  </a:lnTo>
                  <a:lnTo>
                    <a:pt x="124" y="84"/>
                  </a:lnTo>
                  <a:lnTo>
                    <a:pt x="135" y="101"/>
                  </a:lnTo>
                  <a:lnTo>
                    <a:pt x="129" y="118"/>
                  </a:lnTo>
                  <a:lnTo>
                    <a:pt x="125" y="1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7" name="Freeform 256"/>
            <p:cNvSpPr>
              <a:spLocks/>
            </p:cNvSpPr>
            <p:nvPr/>
          </p:nvSpPr>
          <p:spPr bwMode="auto">
            <a:xfrm>
              <a:off x="4766" y="1799"/>
              <a:ext cx="87" cy="80"/>
            </a:xfrm>
            <a:custGeom>
              <a:avLst/>
              <a:gdLst/>
              <a:ahLst/>
              <a:cxnLst>
                <a:cxn ang="0">
                  <a:pos x="61" y="28"/>
                </a:cxn>
                <a:cxn ang="0">
                  <a:pos x="47" y="24"/>
                </a:cxn>
                <a:cxn ang="0">
                  <a:pos x="24" y="12"/>
                </a:cxn>
                <a:cxn ang="0">
                  <a:pos x="0" y="0"/>
                </a:cxn>
                <a:cxn ang="0">
                  <a:pos x="5" y="10"/>
                </a:cxn>
                <a:cxn ang="0">
                  <a:pos x="12" y="25"/>
                </a:cxn>
                <a:cxn ang="0">
                  <a:pos x="19" y="40"/>
                </a:cxn>
                <a:cxn ang="0">
                  <a:pos x="9" y="40"/>
                </a:cxn>
                <a:cxn ang="0">
                  <a:pos x="6" y="42"/>
                </a:cxn>
                <a:cxn ang="0">
                  <a:pos x="7" y="49"/>
                </a:cxn>
                <a:cxn ang="0">
                  <a:pos x="10" y="59"/>
                </a:cxn>
                <a:cxn ang="0">
                  <a:pos x="21" y="72"/>
                </a:cxn>
                <a:cxn ang="0">
                  <a:pos x="24" y="68"/>
                </a:cxn>
                <a:cxn ang="0">
                  <a:pos x="31" y="67"/>
                </a:cxn>
                <a:cxn ang="0">
                  <a:pos x="13" y="55"/>
                </a:cxn>
                <a:cxn ang="0">
                  <a:pos x="22" y="55"/>
                </a:cxn>
                <a:cxn ang="0">
                  <a:pos x="28" y="53"/>
                </a:cxn>
                <a:cxn ang="0">
                  <a:pos x="58" y="61"/>
                </a:cxn>
                <a:cxn ang="0">
                  <a:pos x="59" y="58"/>
                </a:cxn>
                <a:cxn ang="0">
                  <a:pos x="66" y="46"/>
                </a:cxn>
                <a:cxn ang="0">
                  <a:pos x="78" y="40"/>
                </a:cxn>
                <a:cxn ang="0">
                  <a:pos x="71" y="35"/>
                </a:cxn>
                <a:cxn ang="0">
                  <a:pos x="65" y="22"/>
                </a:cxn>
                <a:cxn ang="0">
                  <a:pos x="61" y="28"/>
                </a:cxn>
              </a:cxnLst>
              <a:rect l="0" t="0" r="r" b="b"/>
              <a:pathLst>
                <a:path w="78" h="72">
                  <a:moveTo>
                    <a:pt x="61" y="28"/>
                  </a:moveTo>
                  <a:lnTo>
                    <a:pt x="47" y="24"/>
                  </a:lnTo>
                  <a:lnTo>
                    <a:pt x="24" y="12"/>
                  </a:lnTo>
                  <a:lnTo>
                    <a:pt x="0" y="0"/>
                  </a:lnTo>
                  <a:lnTo>
                    <a:pt x="5" y="10"/>
                  </a:lnTo>
                  <a:lnTo>
                    <a:pt x="12" y="25"/>
                  </a:lnTo>
                  <a:lnTo>
                    <a:pt x="19" y="40"/>
                  </a:lnTo>
                  <a:lnTo>
                    <a:pt x="9" y="40"/>
                  </a:lnTo>
                  <a:lnTo>
                    <a:pt x="6" y="42"/>
                  </a:lnTo>
                  <a:lnTo>
                    <a:pt x="7" y="49"/>
                  </a:lnTo>
                  <a:lnTo>
                    <a:pt x="10" y="59"/>
                  </a:lnTo>
                  <a:lnTo>
                    <a:pt x="21" y="72"/>
                  </a:lnTo>
                  <a:lnTo>
                    <a:pt x="24" y="68"/>
                  </a:lnTo>
                  <a:lnTo>
                    <a:pt x="31" y="67"/>
                  </a:lnTo>
                  <a:lnTo>
                    <a:pt x="13" y="55"/>
                  </a:lnTo>
                  <a:lnTo>
                    <a:pt x="22" y="55"/>
                  </a:lnTo>
                  <a:lnTo>
                    <a:pt x="28" y="53"/>
                  </a:lnTo>
                  <a:lnTo>
                    <a:pt x="58" y="61"/>
                  </a:lnTo>
                  <a:lnTo>
                    <a:pt x="59" y="58"/>
                  </a:lnTo>
                  <a:lnTo>
                    <a:pt x="66" y="46"/>
                  </a:lnTo>
                  <a:lnTo>
                    <a:pt x="78" y="40"/>
                  </a:lnTo>
                  <a:lnTo>
                    <a:pt x="71" y="35"/>
                  </a:lnTo>
                  <a:lnTo>
                    <a:pt x="65" y="22"/>
                  </a:lnTo>
                  <a:lnTo>
                    <a:pt x="61"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8" name="Freeform 257"/>
            <p:cNvSpPr>
              <a:spLocks/>
            </p:cNvSpPr>
            <p:nvPr/>
          </p:nvSpPr>
          <p:spPr bwMode="auto">
            <a:xfrm>
              <a:off x="4700" y="2030"/>
              <a:ext cx="42" cy="53"/>
            </a:xfrm>
            <a:custGeom>
              <a:avLst/>
              <a:gdLst/>
              <a:ahLst/>
              <a:cxnLst>
                <a:cxn ang="0">
                  <a:pos x="40" y="16"/>
                </a:cxn>
                <a:cxn ang="0">
                  <a:pos x="39" y="30"/>
                </a:cxn>
                <a:cxn ang="0">
                  <a:pos x="37" y="43"/>
                </a:cxn>
                <a:cxn ang="0">
                  <a:pos x="33" y="49"/>
                </a:cxn>
                <a:cxn ang="0">
                  <a:pos x="27" y="39"/>
                </a:cxn>
                <a:cxn ang="0">
                  <a:pos x="28" y="48"/>
                </a:cxn>
                <a:cxn ang="0">
                  <a:pos x="23" y="43"/>
                </a:cxn>
                <a:cxn ang="0">
                  <a:pos x="19" y="30"/>
                </a:cxn>
                <a:cxn ang="0">
                  <a:pos x="19" y="22"/>
                </a:cxn>
                <a:cxn ang="0">
                  <a:pos x="10" y="13"/>
                </a:cxn>
                <a:cxn ang="0">
                  <a:pos x="15" y="22"/>
                </a:cxn>
                <a:cxn ang="0">
                  <a:pos x="9" y="22"/>
                </a:cxn>
                <a:cxn ang="0">
                  <a:pos x="5" y="15"/>
                </a:cxn>
                <a:cxn ang="0">
                  <a:pos x="7" y="15"/>
                </a:cxn>
                <a:cxn ang="0">
                  <a:pos x="0" y="9"/>
                </a:cxn>
                <a:cxn ang="0">
                  <a:pos x="16" y="0"/>
                </a:cxn>
                <a:cxn ang="0">
                  <a:pos x="25" y="4"/>
                </a:cxn>
                <a:cxn ang="0">
                  <a:pos x="30" y="8"/>
                </a:cxn>
                <a:cxn ang="0">
                  <a:pos x="31" y="10"/>
                </a:cxn>
                <a:cxn ang="0">
                  <a:pos x="40" y="16"/>
                </a:cxn>
              </a:cxnLst>
              <a:rect l="0" t="0" r="r" b="b"/>
              <a:pathLst>
                <a:path w="40" h="49">
                  <a:moveTo>
                    <a:pt x="40" y="16"/>
                  </a:moveTo>
                  <a:lnTo>
                    <a:pt x="39" y="30"/>
                  </a:lnTo>
                  <a:lnTo>
                    <a:pt x="37" y="43"/>
                  </a:lnTo>
                  <a:lnTo>
                    <a:pt x="33" y="49"/>
                  </a:lnTo>
                  <a:lnTo>
                    <a:pt x="27" y="39"/>
                  </a:lnTo>
                  <a:lnTo>
                    <a:pt x="28" y="48"/>
                  </a:lnTo>
                  <a:lnTo>
                    <a:pt x="23" y="43"/>
                  </a:lnTo>
                  <a:lnTo>
                    <a:pt x="19" y="30"/>
                  </a:lnTo>
                  <a:lnTo>
                    <a:pt x="19" y="22"/>
                  </a:lnTo>
                  <a:lnTo>
                    <a:pt x="10" y="13"/>
                  </a:lnTo>
                  <a:lnTo>
                    <a:pt x="15" y="22"/>
                  </a:lnTo>
                  <a:lnTo>
                    <a:pt x="9" y="22"/>
                  </a:lnTo>
                  <a:lnTo>
                    <a:pt x="5" y="15"/>
                  </a:lnTo>
                  <a:lnTo>
                    <a:pt x="7" y="15"/>
                  </a:lnTo>
                  <a:lnTo>
                    <a:pt x="0" y="9"/>
                  </a:lnTo>
                  <a:lnTo>
                    <a:pt x="16" y="0"/>
                  </a:lnTo>
                  <a:lnTo>
                    <a:pt x="25" y="4"/>
                  </a:lnTo>
                  <a:lnTo>
                    <a:pt x="30" y="8"/>
                  </a:lnTo>
                  <a:lnTo>
                    <a:pt x="31" y="10"/>
                  </a:lnTo>
                  <a:lnTo>
                    <a:pt x="40"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9" name="Freeform 258"/>
            <p:cNvSpPr>
              <a:spLocks/>
            </p:cNvSpPr>
            <p:nvPr/>
          </p:nvSpPr>
          <p:spPr bwMode="auto">
            <a:xfrm>
              <a:off x="4740" y="2021"/>
              <a:ext cx="40" cy="31"/>
            </a:xfrm>
            <a:custGeom>
              <a:avLst/>
              <a:gdLst/>
              <a:ahLst/>
              <a:cxnLst>
                <a:cxn ang="0">
                  <a:pos x="29" y="18"/>
                </a:cxn>
                <a:cxn ang="0">
                  <a:pos x="17" y="18"/>
                </a:cxn>
                <a:cxn ang="0">
                  <a:pos x="16" y="29"/>
                </a:cxn>
                <a:cxn ang="0">
                  <a:pos x="6" y="22"/>
                </a:cxn>
                <a:cxn ang="0">
                  <a:pos x="3" y="16"/>
                </a:cxn>
                <a:cxn ang="0">
                  <a:pos x="0" y="17"/>
                </a:cxn>
                <a:cxn ang="0">
                  <a:pos x="9" y="6"/>
                </a:cxn>
                <a:cxn ang="0">
                  <a:pos x="17" y="5"/>
                </a:cxn>
                <a:cxn ang="0">
                  <a:pos x="26" y="0"/>
                </a:cxn>
                <a:cxn ang="0">
                  <a:pos x="33" y="5"/>
                </a:cxn>
                <a:cxn ang="0">
                  <a:pos x="36" y="10"/>
                </a:cxn>
                <a:cxn ang="0">
                  <a:pos x="29" y="18"/>
                </a:cxn>
              </a:cxnLst>
              <a:rect l="0" t="0" r="r" b="b"/>
              <a:pathLst>
                <a:path w="36" h="29">
                  <a:moveTo>
                    <a:pt x="29" y="18"/>
                  </a:moveTo>
                  <a:lnTo>
                    <a:pt x="17" y="18"/>
                  </a:lnTo>
                  <a:lnTo>
                    <a:pt x="16" y="29"/>
                  </a:lnTo>
                  <a:lnTo>
                    <a:pt x="6" y="22"/>
                  </a:lnTo>
                  <a:lnTo>
                    <a:pt x="3" y="16"/>
                  </a:lnTo>
                  <a:lnTo>
                    <a:pt x="0" y="17"/>
                  </a:lnTo>
                  <a:lnTo>
                    <a:pt x="9" y="6"/>
                  </a:lnTo>
                  <a:lnTo>
                    <a:pt x="17" y="5"/>
                  </a:lnTo>
                  <a:lnTo>
                    <a:pt x="26" y="0"/>
                  </a:lnTo>
                  <a:lnTo>
                    <a:pt x="33" y="5"/>
                  </a:lnTo>
                  <a:lnTo>
                    <a:pt x="36" y="10"/>
                  </a:lnTo>
                  <a:lnTo>
                    <a:pt x="2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0" name="Freeform 259"/>
            <p:cNvSpPr>
              <a:spLocks/>
            </p:cNvSpPr>
            <p:nvPr/>
          </p:nvSpPr>
          <p:spPr bwMode="auto">
            <a:xfrm>
              <a:off x="4713" y="2170"/>
              <a:ext cx="9" cy="13"/>
            </a:xfrm>
            <a:custGeom>
              <a:avLst/>
              <a:gdLst/>
              <a:ahLst/>
              <a:cxnLst>
                <a:cxn ang="0">
                  <a:pos x="0" y="12"/>
                </a:cxn>
                <a:cxn ang="0">
                  <a:pos x="8" y="1"/>
                </a:cxn>
                <a:cxn ang="0">
                  <a:pos x="6" y="0"/>
                </a:cxn>
                <a:cxn ang="0">
                  <a:pos x="0" y="12"/>
                </a:cxn>
              </a:cxnLst>
              <a:rect l="0" t="0" r="r" b="b"/>
              <a:pathLst>
                <a:path w="8" h="12">
                  <a:moveTo>
                    <a:pt x="0" y="12"/>
                  </a:moveTo>
                  <a:lnTo>
                    <a:pt x="8" y="1"/>
                  </a:lnTo>
                  <a:lnTo>
                    <a:pt x="6" y="0"/>
                  </a:lnTo>
                  <a:lnTo>
                    <a:pt x="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1" name="Freeform 260"/>
            <p:cNvSpPr>
              <a:spLocks/>
            </p:cNvSpPr>
            <p:nvPr/>
          </p:nvSpPr>
          <p:spPr bwMode="auto">
            <a:xfrm>
              <a:off x="4800" y="1941"/>
              <a:ext cx="2" cy="6"/>
            </a:xfrm>
            <a:custGeom>
              <a:avLst/>
              <a:gdLst/>
              <a:ahLst/>
              <a:cxnLst>
                <a:cxn ang="0">
                  <a:pos x="4" y="6"/>
                </a:cxn>
                <a:cxn ang="0">
                  <a:pos x="0" y="0"/>
                </a:cxn>
                <a:cxn ang="0">
                  <a:pos x="0" y="6"/>
                </a:cxn>
                <a:cxn ang="0">
                  <a:pos x="4" y="6"/>
                </a:cxn>
              </a:cxnLst>
              <a:rect l="0" t="0" r="r" b="b"/>
              <a:pathLst>
                <a:path w="4" h="6">
                  <a:moveTo>
                    <a:pt x="4" y="6"/>
                  </a:moveTo>
                  <a:lnTo>
                    <a:pt x="0" y="0"/>
                  </a:lnTo>
                  <a:lnTo>
                    <a:pt x="0" y="6"/>
                  </a:lnTo>
                  <a:lnTo>
                    <a:pt x="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2" name="Freeform 261"/>
            <p:cNvSpPr>
              <a:spLocks/>
            </p:cNvSpPr>
            <p:nvPr/>
          </p:nvSpPr>
          <p:spPr bwMode="auto">
            <a:xfrm>
              <a:off x="4713" y="2056"/>
              <a:ext cx="2" cy="5"/>
            </a:xfrm>
            <a:custGeom>
              <a:avLst/>
              <a:gdLst/>
              <a:ahLst/>
              <a:cxnLst>
                <a:cxn ang="0">
                  <a:pos x="3" y="0"/>
                </a:cxn>
                <a:cxn ang="0">
                  <a:pos x="4" y="2"/>
                </a:cxn>
                <a:cxn ang="0">
                  <a:pos x="0" y="2"/>
                </a:cxn>
                <a:cxn ang="0">
                  <a:pos x="3" y="0"/>
                </a:cxn>
              </a:cxnLst>
              <a:rect l="0" t="0" r="r" b="b"/>
              <a:pathLst>
                <a:path w="4" h="2">
                  <a:moveTo>
                    <a:pt x="3" y="0"/>
                  </a:moveTo>
                  <a:lnTo>
                    <a:pt x="4" y="2"/>
                  </a:lnTo>
                  <a:lnTo>
                    <a:pt x="0" y="2"/>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3" name="Freeform 262"/>
            <p:cNvSpPr>
              <a:spLocks/>
            </p:cNvSpPr>
            <p:nvPr/>
          </p:nvSpPr>
          <p:spPr bwMode="auto">
            <a:xfrm>
              <a:off x="4551" y="1850"/>
              <a:ext cx="78" cy="100"/>
            </a:xfrm>
            <a:custGeom>
              <a:avLst/>
              <a:gdLst/>
              <a:ahLst/>
              <a:cxnLst>
                <a:cxn ang="0">
                  <a:pos x="18" y="61"/>
                </a:cxn>
                <a:cxn ang="0">
                  <a:pos x="8" y="58"/>
                </a:cxn>
                <a:cxn ang="0">
                  <a:pos x="0" y="50"/>
                </a:cxn>
                <a:cxn ang="0">
                  <a:pos x="8" y="40"/>
                </a:cxn>
                <a:cxn ang="0">
                  <a:pos x="17" y="25"/>
                </a:cxn>
                <a:cxn ang="0">
                  <a:pos x="23" y="22"/>
                </a:cxn>
                <a:cxn ang="0">
                  <a:pos x="41" y="27"/>
                </a:cxn>
                <a:cxn ang="0">
                  <a:pos x="35" y="18"/>
                </a:cxn>
                <a:cxn ang="0">
                  <a:pos x="40" y="16"/>
                </a:cxn>
                <a:cxn ang="0">
                  <a:pos x="49" y="9"/>
                </a:cxn>
                <a:cxn ang="0">
                  <a:pos x="49" y="0"/>
                </a:cxn>
                <a:cxn ang="0">
                  <a:pos x="66" y="9"/>
                </a:cxn>
                <a:cxn ang="0">
                  <a:pos x="70" y="12"/>
                </a:cxn>
                <a:cxn ang="0">
                  <a:pos x="61" y="21"/>
                </a:cxn>
                <a:cxn ang="0">
                  <a:pos x="67" y="38"/>
                </a:cxn>
                <a:cxn ang="0">
                  <a:pos x="60" y="49"/>
                </a:cxn>
                <a:cxn ang="0">
                  <a:pos x="52" y="60"/>
                </a:cxn>
                <a:cxn ang="0">
                  <a:pos x="54" y="67"/>
                </a:cxn>
                <a:cxn ang="0">
                  <a:pos x="71" y="76"/>
                </a:cxn>
                <a:cxn ang="0">
                  <a:pos x="65" y="81"/>
                </a:cxn>
                <a:cxn ang="0">
                  <a:pos x="53" y="87"/>
                </a:cxn>
                <a:cxn ang="0">
                  <a:pos x="53" y="91"/>
                </a:cxn>
                <a:cxn ang="0">
                  <a:pos x="38" y="88"/>
                </a:cxn>
                <a:cxn ang="0">
                  <a:pos x="35" y="91"/>
                </a:cxn>
                <a:cxn ang="0">
                  <a:pos x="28" y="87"/>
                </a:cxn>
                <a:cxn ang="0">
                  <a:pos x="23" y="85"/>
                </a:cxn>
                <a:cxn ang="0">
                  <a:pos x="26" y="75"/>
                </a:cxn>
                <a:cxn ang="0">
                  <a:pos x="28" y="75"/>
                </a:cxn>
                <a:cxn ang="0">
                  <a:pos x="22" y="70"/>
                </a:cxn>
                <a:cxn ang="0">
                  <a:pos x="18" y="61"/>
                </a:cxn>
              </a:cxnLst>
              <a:rect l="0" t="0" r="r" b="b"/>
              <a:pathLst>
                <a:path w="71" h="91">
                  <a:moveTo>
                    <a:pt x="18" y="61"/>
                  </a:moveTo>
                  <a:lnTo>
                    <a:pt x="8" y="58"/>
                  </a:lnTo>
                  <a:lnTo>
                    <a:pt x="0" y="50"/>
                  </a:lnTo>
                  <a:lnTo>
                    <a:pt x="8" y="40"/>
                  </a:lnTo>
                  <a:lnTo>
                    <a:pt x="17" y="25"/>
                  </a:lnTo>
                  <a:lnTo>
                    <a:pt x="23" y="22"/>
                  </a:lnTo>
                  <a:lnTo>
                    <a:pt x="41" y="27"/>
                  </a:lnTo>
                  <a:lnTo>
                    <a:pt x="35" y="18"/>
                  </a:lnTo>
                  <a:lnTo>
                    <a:pt x="40" y="16"/>
                  </a:lnTo>
                  <a:lnTo>
                    <a:pt x="49" y="9"/>
                  </a:lnTo>
                  <a:lnTo>
                    <a:pt x="49" y="0"/>
                  </a:lnTo>
                  <a:lnTo>
                    <a:pt x="66" y="9"/>
                  </a:lnTo>
                  <a:lnTo>
                    <a:pt x="70" y="12"/>
                  </a:lnTo>
                  <a:lnTo>
                    <a:pt x="61" y="21"/>
                  </a:lnTo>
                  <a:lnTo>
                    <a:pt x="67" y="38"/>
                  </a:lnTo>
                  <a:lnTo>
                    <a:pt x="60" y="49"/>
                  </a:lnTo>
                  <a:lnTo>
                    <a:pt x="52" y="60"/>
                  </a:lnTo>
                  <a:lnTo>
                    <a:pt x="54" y="67"/>
                  </a:lnTo>
                  <a:lnTo>
                    <a:pt x="71" y="76"/>
                  </a:lnTo>
                  <a:lnTo>
                    <a:pt x="65" y="81"/>
                  </a:lnTo>
                  <a:lnTo>
                    <a:pt x="53" y="87"/>
                  </a:lnTo>
                  <a:lnTo>
                    <a:pt x="53" y="91"/>
                  </a:lnTo>
                  <a:lnTo>
                    <a:pt x="38" y="88"/>
                  </a:lnTo>
                  <a:lnTo>
                    <a:pt x="35" y="91"/>
                  </a:lnTo>
                  <a:lnTo>
                    <a:pt x="28" y="87"/>
                  </a:lnTo>
                  <a:lnTo>
                    <a:pt x="23" y="85"/>
                  </a:lnTo>
                  <a:lnTo>
                    <a:pt x="26" y="75"/>
                  </a:lnTo>
                  <a:lnTo>
                    <a:pt x="28" y="75"/>
                  </a:lnTo>
                  <a:lnTo>
                    <a:pt x="22" y="70"/>
                  </a:lnTo>
                  <a:lnTo>
                    <a:pt x="18" y="6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4" name="Freeform 263"/>
            <p:cNvSpPr>
              <a:spLocks/>
            </p:cNvSpPr>
            <p:nvPr/>
          </p:nvSpPr>
          <p:spPr bwMode="auto">
            <a:xfrm>
              <a:off x="4609" y="1934"/>
              <a:ext cx="66" cy="85"/>
            </a:xfrm>
            <a:custGeom>
              <a:avLst/>
              <a:gdLst/>
              <a:ahLst/>
              <a:cxnLst>
                <a:cxn ang="0">
                  <a:pos x="35" y="74"/>
                </a:cxn>
                <a:cxn ang="0">
                  <a:pos x="33" y="71"/>
                </a:cxn>
                <a:cxn ang="0">
                  <a:pos x="29" y="74"/>
                </a:cxn>
                <a:cxn ang="0">
                  <a:pos x="25" y="76"/>
                </a:cxn>
                <a:cxn ang="0">
                  <a:pos x="23" y="72"/>
                </a:cxn>
                <a:cxn ang="0">
                  <a:pos x="23" y="70"/>
                </a:cxn>
                <a:cxn ang="0">
                  <a:pos x="23" y="69"/>
                </a:cxn>
                <a:cxn ang="0">
                  <a:pos x="19" y="65"/>
                </a:cxn>
                <a:cxn ang="0">
                  <a:pos x="17" y="54"/>
                </a:cxn>
                <a:cxn ang="0">
                  <a:pos x="15" y="50"/>
                </a:cxn>
                <a:cxn ang="0">
                  <a:pos x="15" y="47"/>
                </a:cxn>
                <a:cxn ang="0">
                  <a:pos x="6" y="36"/>
                </a:cxn>
                <a:cxn ang="0">
                  <a:pos x="2" y="33"/>
                </a:cxn>
                <a:cxn ang="0">
                  <a:pos x="5" y="32"/>
                </a:cxn>
                <a:cxn ang="0">
                  <a:pos x="12" y="34"/>
                </a:cxn>
                <a:cxn ang="0">
                  <a:pos x="11" y="32"/>
                </a:cxn>
                <a:cxn ang="0">
                  <a:pos x="1" y="17"/>
                </a:cxn>
                <a:cxn ang="0">
                  <a:pos x="0" y="15"/>
                </a:cxn>
                <a:cxn ang="0">
                  <a:pos x="0" y="11"/>
                </a:cxn>
                <a:cxn ang="0">
                  <a:pos x="12" y="5"/>
                </a:cxn>
                <a:cxn ang="0">
                  <a:pos x="18" y="0"/>
                </a:cxn>
                <a:cxn ang="0">
                  <a:pos x="35" y="18"/>
                </a:cxn>
                <a:cxn ang="0">
                  <a:pos x="51" y="35"/>
                </a:cxn>
                <a:cxn ang="0">
                  <a:pos x="60" y="60"/>
                </a:cxn>
                <a:cxn ang="0">
                  <a:pos x="54" y="64"/>
                </a:cxn>
                <a:cxn ang="0">
                  <a:pos x="47" y="68"/>
                </a:cxn>
                <a:cxn ang="0">
                  <a:pos x="43" y="66"/>
                </a:cxn>
                <a:cxn ang="0">
                  <a:pos x="41" y="69"/>
                </a:cxn>
                <a:cxn ang="0">
                  <a:pos x="39" y="70"/>
                </a:cxn>
                <a:cxn ang="0">
                  <a:pos x="37" y="71"/>
                </a:cxn>
                <a:cxn ang="0">
                  <a:pos x="35" y="74"/>
                </a:cxn>
              </a:cxnLst>
              <a:rect l="0" t="0" r="r" b="b"/>
              <a:pathLst>
                <a:path w="60" h="76">
                  <a:moveTo>
                    <a:pt x="35" y="74"/>
                  </a:moveTo>
                  <a:lnTo>
                    <a:pt x="33" y="71"/>
                  </a:lnTo>
                  <a:lnTo>
                    <a:pt x="29" y="74"/>
                  </a:lnTo>
                  <a:lnTo>
                    <a:pt x="25" y="76"/>
                  </a:lnTo>
                  <a:lnTo>
                    <a:pt x="23" y="72"/>
                  </a:lnTo>
                  <a:lnTo>
                    <a:pt x="23" y="70"/>
                  </a:lnTo>
                  <a:lnTo>
                    <a:pt x="23" y="69"/>
                  </a:lnTo>
                  <a:lnTo>
                    <a:pt x="19" y="65"/>
                  </a:lnTo>
                  <a:lnTo>
                    <a:pt x="17" y="54"/>
                  </a:lnTo>
                  <a:lnTo>
                    <a:pt x="15" y="50"/>
                  </a:lnTo>
                  <a:lnTo>
                    <a:pt x="15" y="47"/>
                  </a:lnTo>
                  <a:lnTo>
                    <a:pt x="6" y="36"/>
                  </a:lnTo>
                  <a:lnTo>
                    <a:pt x="2" y="33"/>
                  </a:lnTo>
                  <a:lnTo>
                    <a:pt x="5" y="32"/>
                  </a:lnTo>
                  <a:lnTo>
                    <a:pt x="12" y="34"/>
                  </a:lnTo>
                  <a:lnTo>
                    <a:pt x="11" y="32"/>
                  </a:lnTo>
                  <a:lnTo>
                    <a:pt x="1" y="17"/>
                  </a:lnTo>
                  <a:lnTo>
                    <a:pt x="0" y="15"/>
                  </a:lnTo>
                  <a:lnTo>
                    <a:pt x="0" y="11"/>
                  </a:lnTo>
                  <a:lnTo>
                    <a:pt x="12" y="5"/>
                  </a:lnTo>
                  <a:lnTo>
                    <a:pt x="18" y="0"/>
                  </a:lnTo>
                  <a:lnTo>
                    <a:pt x="35" y="18"/>
                  </a:lnTo>
                  <a:lnTo>
                    <a:pt x="51" y="35"/>
                  </a:lnTo>
                  <a:lnTo>
                    <a:pt x="60" y="60"/>
                  </a:lnTo>
                  <a:lnTo>
                    <a:pt x="54" y="64"/>
                  </a:lnTo>
                  <a:lnTo>
                    <a:pt x="47" y="68"/>
                  </a:lnTo>
                  <a:lnTo>
                    <a:pt x="43" y="66"/>
                  </a:lnTo>
                  <a:lnTo>
                    <a:pt x="41" y="69"/>
                  </a:lnTo>
                  <a:lnTo>
                    <a:pt x="39" y="70"/>
                  </a:lnTo>
                  <a:lnTo>
                    <a:pt x="37" y="71"/>
                  </a:lnTo>
                  <a:lnTo>
                    <a:pt x="35" y="7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5" name="Freeform 264"/>
            <p:cNvSpPr>
              <a:spLocks/>
            </p:cNvSpPr>
            <p:nvPr/>
          </p:nvSpPr>
          <p:spPr bwMode="auto">
            <a:xfrm>
              <a:off x="4600" y="2203"/>
              <a:ext cx="24" cy="64"/>
            </a:xfrm>
            <a:custGeom>
              <a:avLst/>
              <a:gdLst/>
              <a:ahLst/>
              <a:cxnLst>
                <a:cxn ang="0">
                  <a:pos x="16" y="57"/>
                </a:cxn>
                <a:cxn ang="0">
                  <a:pos x="3" y="43"/>
                </a:cxn>
                <a:cxn ang="0">
                  <a:pos x="0" y="22"/>
                </a:cxn>
                <a:cxn ang="0">
                  <a:pos x="6" y="12"/>
                </a:cxn>
                <a:cxn ang="0">
                  <a:pos x="12" y="0"/>
                </a:cxn>
                <a:cxn ang="0">
                  <a:pos x="23" y="3"/>
                </a:cxn>
                <a:cxn ang="0">
                  <a:pos x="21" y="16"/>
                </a:cxn>
                <a:cxn ang="0">
                  <a:pos x="19" y="30"/>
                </a:cxn>
                <a:cxn ang="0">
                  <a:pos x="17" y="44"/>
                </a:cxn>
                <a:cxn ang="0">
                  <a:pos x="16" y="57"/>
                </a:cxn>
              </a:cxnLst>
              <a:rect l="0" t="0" r="r" b="b"/>
              <a:pathLst>
                <a:path w="23" h="57">
                  <a:moveTo>
                    <a:pt x="16" y="57"/>
                  </a:moveTo>
                  <a:lnTo>
                    <a:pt x="3" y="43"/>
                  </a:lnTo>
                  <a:lnTo>
                    <a:pt x="0" y="22"/>
                  </a:lnTo>
                  <a:lnTo>
                    <a:pt x="6" y="12"/>
                  </a:lnTo>
                  <a:lnTo>
                    <a:pt x="12" y="0"/>
                  </a:lnTo>
                  <a:lnTo>
                    <a:pt x="23" y="3"/>
                  </a:lnTo>
                  <a:lnTo>
                    <a:pt x="21" y="16"/>
                  </a:lnTo>
                  <a:lnTo>
                    <a:pt x="19" y="30"/>
                  </a:lnTo>
                  <a:lnTo>
                    <a:pt x="17" y="44"/>
                  </a:lnTo>
                  <a:lnTo>
                    <a:pt x="16" y="5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6" name="Freeform 265"/>
            <p:cNvSpPr>
              <a:spLocks/>
            </p:cNvSpPr>
            <p:nvPr/>
          </p:nvSpPr>
          <p:spPr bwMode="auto">
            <a:xfrm>
              <a:off x="3882" y="1672"/>
              <a:ext cx="520" cy="204"/>
            </a:xfrm>
            <a:custGeom>
              <a:avLst/>
              <a:gdLst/>
              <a:ahLst/>
              <a:cxnLst>
                <a:cxn ang="0">
                  <a:pos x="276" y="176"/>
                </a:cxn>
                <a:cxn ang="0">
                  <a:pos x="252" y="168"/>
                </a:cxn>
                <a:cxn ang="0">
                  <a:pos x="211" y="166"/>
                </a:cxn>
                <a:cxn ang="0">
                  <a:pos x="171" y="163"/>
                </a:cxn>
                <a:cxn ang="0">
                  <a:pos x="145" y="136"/>
                </a:cxn>
                <a:cxn ang="0">
                  <a:pos x="104" y="124"/>
                </a:cxn>
                <a:cxn ang="0">
                  <a:pos x="71" y="118"/>
                </a:cxn>
                <a:cxn ang="0">
                  <a:pos x="60" y="89"/>
                </a:cxn>
                <a:cxn ang="0">
                  <a:pos x="27" y="72"/>
                </a:cxn>
                <a:cxn ang="0">
                  <a:pos x="1" y="53"/>
                </a:cxn>
                <a:cxn ang="0">
                  <a:pos x="7" y="44"/>
                </a:cxn>
                <a:cxn ang="0">
                  <a:pos x="33" y="31"/>
                </a:cxn>
                <a:cxn ang="0">
                  <a:pos x="75" y="25"/>
                </a:cxn>
                <a:cxn ang="0">
                  <a:pos x="102" y="35"/>
                </a:cxn>
                <a:cxn ang="0">
                  <a:pos x="133" y="30"/>
                </a:cxn>
                <a:cxn ang="0">
                  <a:pos x="123" y="0"/>
                </a:cxn>
                <a:cxn ang="0">
                  <a:pos x="171" y="11"/>
                </a:cxn>
                <a:cxn ang="0">
                  <a:pos x="204" y="32"/>
                </a:cxn>
                <a:cxn ang="0">
                  <a:pos x="247" y="31"/>
                </a:cxn>
                <a:cxn ang="0">
                  <a:pos x="275" y="42"/>
                </a:cxn>
                <a:cxn ang="0">
                  <a:pos x="320" y="47"/>
                </a:cxn>
                <a:cxn ang="0">
                  <a:pos x="353" y="31"/>
                </a:cxn>
                <a:cxn ang="0">
                  <a:pos x="392" y="38"/>
                </a:cxn>
                <a:cxn ang="0">
                  <a:pos x="396" y="66"/>
                </a:cxn>
                <a:cxn ang="0">
                  <a:pos x="404" y="74"/>
                </a:cxn>
                <a:cxn ang="0">
                  <a:pos x="425" y="77"/>
                </a:cxn>
                <a:cxn ang="0">
                  <a:pos x="463" y="86"/>
                </a:cxn>
                <a:cxn ang="0">
                  <a:pos x="443" y="95"/>
                </a:cxn>
                <a:cxn ang="0">
                  <a:pos x="423" y="115"/>
                </a:cxn>
                <a:cxn ang="0">
                  <a:pos x="396" y="127"/>
                </a:cxn>
                <a:cxn ang="0">
                  <a:pos x="377" y="138"/>
                </a:cxn>
                <a:cxn ang="0">
                  <a:pos x="373" y="157"/>
                </a:cxn>
                <a:cxn ang="0">
                  <a:pos x="343" y="170"/>
                </a:cxn>
                <a:cxn ang="0">
                  <a:pos x="315" y="178"/>
                </a:cxn>
                <a:cxn ang="0">
                  <a:pos x="294" y="180"/>
                </a:cxn>
              </a:cxnLst>
              <a:rect l="0" t="0" r="r" b="b"/>
              <a:pathLst>
                <a:path w="467" h="185">
                  <a:moveTo>
                    <a:pt x="294" y="180"/>
                  </a:moveTo>
                  <a:lnTo>
                    <a:pt x="276" y="176"/>
                  </a:lnTo>
                  <a:lnTo>
                    <a:pt x="258" y="173"/>
                  </a:lnTo>
                  <a:lnTo>
                    <a:pt x="252" y="168"/>
                  </a:lnTo>
                  <a:lnTo>
                    <a:pt x="231" y="167"/>
                  </a:lnTo>
                  <a:lnTo>
                    <a:pt x="211" y="166"/>
                  </a:lnTo>
                  <a:lnTo>
                    <a:pt x="192" y="164"/>
                  </a:lnTo>
                  <a:lnTo>
                    <a:pt x="171" y="163"/>
                  </a:lnTo>
                  <a:lnTo>
                    <a:pt x="158" y="150"/>
                  </a:lnTo>
                  <a:lnTo>
                    <a:pt x="145" y="136"/>
                  </a:lnTo>
                  <a:lnTo>
                    <a:pt x="125" y="130"/>
                  </a:lnTo>
                  <a:lnTo>
                    <a:pt x="104" y="124"/>
                  </a:lnTo>
                  <a:lnTo>
                    <a:pt x="87" y="120"/>
                  </a:lnTo>
                  <a:lnTo>
                    <a:pt x="71" y="118"/>
                  </a:lnTo>
                  <a:lnTo>
                    <a:pt x="65" y="103"/>
                  </a:lnTo>
                  <a:lnTo>
                    <a:pt x="60" y="89"/>
                  </a:lnTo>
                  <a:lnTo>
                    <a:pt x="38" y="74"/>
                  </a:lnTo>
                  <a:lnTo>
                    <a:pt x="27" y="72"/>
                  </a:lnTo>
                  <a:lnTo>
                    <a:pt x="7" y="59"/>
                  </a:lnTo>
                  <a:lnTo>
                    <a:pt x="1" y="53"/>
                  </a:lnTo>
                  <a:lnTo>
                    <a:pt x="0" y="50"/>
                  </a:lnTo>
                  <a:lnTo>
                    <a:pt x="7" y="44"/>
                  </a:lnTo>
                  <a:lnTo>
                    <a:pt x="19" y="38"/>
                  </a:lnTo>
                  <a:lnTo>
                    <a:pt x="33" y="31"/>
                  </a:lnTo>
                  <a:lnTo>
                    <a:pt x="47" y="23"/>
                  </a:lnTo>
                  <a:lnTo>
                    <a:pt x="75" y="25"/>
                  </a:lnTo>
                  <a:lnTo>
                    <a:pt x="80" y="31"/>
                  </a:lnTo>
                  <a:lnTo>
                    <a:pt x="102" y="35"/>
                  </a:lnTo>
                  <a:lnTo>
                    <a:pt x="122" y="38"/>
                  </a:lnTo>
                  <a:lnTo>
                    <a:pt x="133" y="30"/>
                  </a:lnTo>
                  <a:lnTo>
                    <a:pt x="120" y="18"/>
                  </a:lnTo>
                  <a:lnTo>
                    <a:pt x="123" y="0"/>
                  </a:lnTo>
                  <a:lnTo>
                    <a:pt x="147" y="6"/>
                  </a:lnTo>
                  <a:lnTo>
                    <a:pt x="171" y="11"/>
                  </a:lnTo>
                  <a:lnTo>
                    <a:pt x="182" y="22"/>
                  </a:lnTo>
                  <a:lnTo>
                    <a:pt x="204" y="32"/>
                  </a:lnTo>
                  <a:lnTo>
                    <a:pt x="228" y="28"/>
                  </a:lnTo>
                  <a:lnTo>
                    <a:pt x="247" y="31"/>
                  </a:lnTo>
                  <a:lnTo>
                    <a:pt x="267" y="36"/>
                  </a:lnTo>
                  <a:lnTo>
                    <a:pt x="275" y="42"/>
                  </a:lnTo>
                  <a:lnTo>
                    <a:pt x="303" y="49"/>
                  </a:lnTo>
                  <a:lnTo>
                    <a:pt x="320" y="47"/>
                  </a:lnTo>
                  <a:lnTo>
                    <a:pt x="337" y="43"/>
                  </a:lnTo>
                  <a:lnTo>
                    <a:pt x="353" y="31"/>
                  </a:lnTo>
                  <a:lnTo>
                    <a:pt x="379" y="37"/>
                  </a:lnTo>
                  <a:lnTo>
                    <a:pt x="392" y="38"/>
                  </a:lnTo>
                  <a:lnTo>
                    <a:pt x="395" y="52"/>
                  </a:lnTo>
                  <a:lnTo>
                    <a:pt x="396" y="66"/>
                  </a:lnTo>
                  <a:lnTo>
                    <a:pt x="392" y="67"/>
                  </a:lnTo>
                  <a:lnTo>
                    <a:pt x="404" y="74"/>
                  </a:lnTo>
                  <a:lnTo>
                    <a:pt x="420" y="74"/>
                  </a:lnTo>
                  <a:lnTo>
                    <a:pt x="425" y="77"/>
                  </a:lnTo>
                  <a:lnTo>
                    <a:pt x="432" y="70"/>
                  </a:lnTo>
                  <a:lnTo>
                    <a:pt x="463" y="86"/>
                  </a:lnTo>
                  <a:lnTo>
                    <a:pt x="467" y="95"/>
                  </a:lnTo>
                  <a:lnTo>
                    <a:pt x="443" y="95"/>
                  </a:lnTo>
                  <a:lnTo>
                    <a:pt x="426" y="103"/>
                  </a:lnTo>
                  <a:lnTo>
                    <a:pt x="423" y="115"/>
                  </a:lnTo>
                  <a:lnTo>
                    <a:pt x="409" y="119"/>
                  </a:lnTo>
                  <a:lnTo>
                    <a:pt x="396" y="127"/>
                  </a:lnTo>
                  <a:lnTo>
                    <a:pt x="374" y="121"/>
                  </a:lnTo>
                  <a:lnTo>
                    <a:pt x="377" y="138"/>
                  </a:lnTo>
                  <a:lnTo>
                    <a:pt x="386" y="146"/>
                  </a:lnTo>
                  <a:lnTo>
                    <a:pt x="373" y="157"/>
                  </a:lnTo>
                  <a:lnTo>
                    <a:pt x="360" y="169"/>
                  </a:lnTo>
                  <a:lnTo>
                    <a:pt x="343" y="170"/>
                  </a:lnTo>
                  <a:lnTo>
                    <a:pt x="325" y="172"/>
                  </a:lnTo>
                  <a:lnTo>
                    <a:pt x="315" y="178"/>
                  </a:lnTo>
                  <a:lnTo>
                    <a:pt x="305" y="185"/>
                  </a:lnTo>
                  <a:lnTo>
                    <a:pt x="294" y="18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7" name="Freeform 266"/>
            <p:cNvSpPr>
              <a:spLocks/>
            </p:cNvSpPr>
            <p:nvPr/>
          </p:nvSpPr>
          <p:spPr bwMode="auto">
            <a:xfrm>
              <a:off x="3253" y="1608"/>
              <a:ext cx="618" cy="273"/>
            </a:xfrm>
            <a:custGeom>
              <a:avLst/>
              <a:gdLst/>
              <a:ahLst/>
              <a:cxnLst>
                <a:cxn ang="0">
                  <a:pos x="65" y="146"/>
                </a:cxn>
                <a:cxn ang="0">
                  <a:pos x="45" y="155"/>
                </a:cxn>
                <a:cxn ang="0">
                  <a:pos x="17" y="125"/>
                </a:cxn>
                <a:cxn ang="0">
                  <a:pos x="3" y="93"/>
                </a:cxn>
                <a:cxn ang="0">
                  <a:pos x="22" y="81"/>
                </a:cxn>
                <a:cxn ang="0">
                  <a:pos x="35" y="65"/>
                </a:cxn>
                <a:cxn ang="0">
                  <a:pos x="65" y="57"/>
                </a:cxn>
                <a:cxn ang="0">
                  <a:pos x="103" y="74"/>
                </a:cxn>
                <a:cxn ang="0">
                  <a:pos x="151" y="72"/>
                </a:cxn>
                <a:cxn ang="0">
                  <a:pos x="180" y="71"/>
                </a:cxn>
                <a:cxn ang="0">
                  <a:pos x="172" y="34"/>
                </a:cxn>
                <a:cxn ang="0">
                  <a:pos x="168" y="27"/>
                </a:cxn>
                <a:cxn ang="0">
                  <a:pos x="204" y="21"/>
                </a:cxn>
                <a:cxn ang="0">
                  <a:pos x="238" y="11"/>
                </a:cxn>
                <a:cxn ang="0">
                  <a:pos x="270" y="2"/>
                </a:cxn>
                <a:cxn ang="0">
                  <a:pos x="293" y="11"/>
                </a:cxn>
                <a:cxn ang="0">
                  <a:pos x="330" y="26"/>
                </a:cxn>
                <a:cxn ang="0">
                  <a:pos x="359" y="21"/>
                </a:cxn>
                <a:cxn ang="0">
                  <a:pos x="379" y="17"/>
                </a:cxn>
                <a:cxn ang="0">
                  <a:pos x="396" y="39"/>
                </a:cxn>
                <a:cxn ang="0">
                  <a:pos x="433" y="64"/>
                </a:cxn>
                <a:cxn ang="0">
                  <a:pos x="456" y="72"/>
                </a:cxn>
                <a:cxn ang="0">
                  <a:pos x="484" y="74"/>
                </a:cxn>
                <a:cxn ang="0">
                  <a:pos x="522" y="96"/>
                </a:cxn>
                <a:cxn ang="0">
                  <a:pos x="557" y="110"/>
                </a:cxn>
                <a:cxn ang="0">
                  <a:pos x="544" y="126"/>
                </a:cxn>
                <a:cxn ang="0">
                  <a:pos x="538" y="147"/>
                </a:cxn>
                <a:cxn ang="0">
                  <a:pos x="517" y="158"/>
                </a:cxn>
                <a:cxn ang="0">
                  <a:pos x="525" y="179"/>
                </a:cxn>
                <a:cxn ang="0">
                  <a:pos x="487" y="184"/>
                </a:cxn>
                <a:cxn ang="0">
                  <a:pos x="503" y="201"/>
                </a:cxn>
                <a:cxn ang="0">
                  <a:pos x="510" y="218"/>
                </a:cxn>
                <a:cxn ang="0">
                  <a:pos x="489" y="210"/>
                </a:cxn>
                <a:cxn ang="0">
                  <a:pos x="450" y="214"/>
                </a:cxn>
                <a:cxn ang="0">
                  <a:pos x="417" y="213"/>
                </a:cxn>
                <a:cxn ang="0">
                  <a:pos x="394" y="221"/>
                </a:cxn>
                <a:cxn ang="0">
                  <a:pos x="369" y="226"/>
                </a:cxn>
                <a:cxn ang="0">
                  <a:pos x="341" y="246"/>
                </a:cxn>
                <a:cxn ang="0">
                  <a:pos x="313" y="232"/>
                </a:cxn>
                <a:cxn ang="0">
                  <a:pos x="297" y="207"/>
                </a:cxn>
                <a:cxn ang="0">
                  <a:pos x="265" y="204"/>
                </a:cxn>
                <a:cxn ang="0">
                  <a:pos x="235" y="202"/>
                </a:cxn>
                <a:cxn ang="0">
                  <a:pos x="202" y="176"/>
                </a:cxn>
                <a:cxn ang="0">
                  <a:pos x="166" y="172"/>
                </a:cxn>
                <a:cxn ang="0">
                  <a:pos x="151" y="195"/>
                </a:cxn>
                <a:cxn ang="0">
                  <a:pos x="160" y="226"/>
                </a:cxn>
                <a:cxn ang="0">
                  <a:pos x="147" y="237"/>
                </a:cxn>
                <a:cxn ang="0">
                  <a:pos x="131" y="220"/>
                </a:cxn>
                <a:cxn ang="0">
                  <a:pos x="94" y="215"/>
                </a:cxn>
                <a:cxn ang="0">
                  <a:pos x="75" y="194"/>
                </a:cxn>
                <a:cxn ang="0">
                  <a:pos x="84" y="188"/>
                </a:cxn>
                <a:cxn ang="0">
                  <a:pos x="85" y="174"/>
                </a:cxn>
                <a:cxn ang="0">
                  <a:pos x="100" y="167"/>
                </a:cxn>
                <a:cxn ang="0">
                  <a:pos x="77" y="147"/>
                </a:cxn>
              </a:cxnLst>
              <a:rect l="0" t="0" r="r" b="b"/>
              <a:pathLst>
                <a:path w="557" h="246">
                  <a:moveTo>
                    <a:pt x="77" y="147"/>
                  </a:moveTo>
                  <a:lnTo>
                    <a:pt x="65" y="146"/>
                  </a:lnTo>
                  <a:lnTo>
                    <a:pt x="47" y="154"/>
                  </a:lnTo>
                  <a:lnTo>
                    <a:pt x="45" y="155"/>
                  </a:lnTo>
                  <a:lnTo>
                    <a:pt x="34" y="138"/>
                  </a:lnTo>
                  <a:lnTo>
                    <a:pt x="17" y="125"/>
                  </a:lnTo>
                  <a:lnTo>
                    <a:pt x="0" y="112"/>
                  </a:lnTo>
                  <a:lnTo>
                    <a:pt x="3" y="93"/>
                  </a:lnTo>
                  <a:lnTo>
                    <a:pt x="5" y="74"/>
                  </a:lnTo>
                  <a:lnTo>
                    <a:pt x="22" y="81"/>
                  </a:lnTo>
                  <a:lnTo>
                    <a:pt x="24" y="74"/>
                  </a:lnTo>
                  <a:lnTo>
                    <a:pt x="35" y="65"/>
                  </a:lnTo>
                  <a:lnTo>
                    <a:pt x="46" y="58"/>
                  </a:lnTo>
                  <a:lnTo>
                    <a:pt x="65" y="57"/>
                  </a:lnTo>
                  <a:lnTo>
                    <a:pt x="84" y="65"/>
                  </a:lnTo>
                  <a:lnTo>
                    <a:pt x="103" y="74"/>
                  </a:lnTo>
                  <a:lnTo>
                    <a:pt x="124" y="72"/>
                  </a:lnTo>
                  <a:lnTo>
                    <a:pt x="151" y="72"/>
                  </a:lnTo>
                  <a:lnTo>
                    <a:pt x="178" y="76"/>
                  </a:lnTo>
                  <a:lnTo>
                    <a:pt x="180" y="71"/>
                  </a:lnTo>
                  <a:lnTo>
                    <a:pt x="166" y="54"/>
                  </a:lnTo>
                  <a:lnTo>
                    <a:pt x="172" y="34"/>
                  </a:lnTo>
                  <a:lnTo>
                    <a:pt x="185" y="35"/>
                  </a:lnTo>
                  <a:lnTo>
                    <a:pt x="168" y="27"/>
                  </a:lnTo>
                  <a:lnTo>
                    <a:pt x="186" y="23"/>
                  </a:lnTo>
                  <a:lnTo>
                    <a:pt x="204" y="21"/>
                  </a:lnTo>
                  <a:lnTo>
                    <a:pt x="221" y="16"/>
                  </a:lnTo>
                  <a:lnTo>
                    <a:pt x="238" y="11"/>
                  </a:lnTo>
                  <a:lnTo>
                    <a:pt x="253" y="6"/>
                  </a:lnTo>
                  <a:lnTo>
                    <a:pt x="270" y="2"/>
                  </a:lnTo>
                  <a:lnTo>
                    <a:pt x="283" y="0"/>
                  </a:lnTo>
                  <a:lnTo>
                    <a:pt x="293" y="11"/>
                  </a:lnTo>
                  <a:lnTo>
                    <a:pt x="319" y="21"/>
                  </a:lnTo>
                  <a:lnTo>
                    <a:pt x="330" y="26"/>
                  </a:lnTo>
                  <a:lnTo>
                    <a:pt x="341" y="28"/>
                  </a:lnTo>
                  <a:lnTo>
                    <a:pt x="359" y="21"/>
                  </a:lnTo>
                  <a:lnTo>
                    <a:pt x="376" y="15"/>
                  </a:lnTo>
                  <a:lnTo>
                    <a:pt x="379" y="17"/>
                  </a:lnTo>
                  <a:lnTo>
                    <a:pt x="377" y="26"/>
                  </a:lnTo>
                  <a:lnTo>
                    <a:pt x="396" y="39"/>
                  </a:lnTo>
                  <a:lnTo>
                    <a:pt x="414" y="51"/>
                  </a:lnTo>
                  <a:lnTo>
                    <a:pt x="433" y="64"/>
                  </a:lnTo>
                  <a:lnTo>
                    <a:pt x="453" y="77"/>
                  </a:lnTo>
                  <a:lnTo>
                    <a:pt x="456" y="72"/>
                  </a:lnTo>
                  <a:lnTo>
                    <a:pt x="466" y="76"/>
                  </a:lnTo>
                  <a:lnTo>
                    <a:pt x="484" y="74"/>
                  </a:lnTo>
                  <a:lnTo>
                    <a:pt x="503" y="86"/>
                  </a:lnTo>
                  <a:lnTo>
                    <a:pt x="522" y="96"/>
                  </a:lnTo>
                  <a:lnTo>
                    <a:pt x="540" y="93"/>
                  </a:lnTo>
                  <a:lnTo>
                    <a:pt x="557" y="110"/>
                  </a:lnTo>
                  <a:lnTo>
                    <a:pt x="551" y="122"/>
                  </a:lnTo>
                  <a:lnTo>
                    <a:pt x="544" y="126"/>
                  </a:lnTo>
                  <a:lnTo>
                    <a:pt x="551" y="144"/>
                  </a:lnTo>
                  <a:lnTo>
                    <a:pt x="538" y="147"/>
                  </a:lnTo>
                  <a:lnTo>
                    <a:pt x="515" y="142"/>
                  </a:lnTo>
                  <a:lnTo>
                    <a:pt x="517" y="158"/>
                  </a:lnTo>
                  <a:lnTo>
                    <a:pt x="519" y="172"/>
                  </a:lnTo>
                  <a:lnTo>
                    <a:pt x="525" y="179"/>
                  </a:lnTo>
                  <a:lnTo>
                    <a:pt x="504" y="177"/>
                  </a:lnTo>
                  <a:lnTo>
                    <a:pt x="487" y="184"/>
                  </a:lnTo>
                  <a:lnTo>
                    <a:pt x="497" y="188"/>
                  </a:lnTo>
                  <a:lnTo>
                    <a:pt x="503" y="201"/>
                  </a:lnTo>
                  <a:lnTo>
                    <a:pt x="510" y="214"/>
                  </a:lnTo>
                  <a:lnTo>
                    <a:pt x="510" y="218"/>
                  </a:lnTo>
                  <a:lnTo>
                    <a:pt x="507" y="221"/>
                  </a:lnTo>
                  <a:lnTo>
                    <a:pt x="489" y="210"/>
                  </a:lnTo>
                  <a:lnTo>
                    <a:pt x="469" y="212"/>
                  </a:lnTo>
                  <a:lnTo>
                    <a:pt x="450" y="214"/>
                  </a:lnTo>
                  <a:lnTo>
                    <a:pt x="430" y="214"/>
                  </a:lnTo>
                  <a:lnTo>
                    <a:pt x="417" y="213"/>
                  </a:lnTo>
                  <a:lnTo>
                    <a:pt x="408" y="222"/>
                  </a:lnTo>
                  <a:lnTo>
                    <a:pt x="394" y="221"/>
                  </a:lnTo>
                  <a:lnTo>
                    <a:pt x="378" y="219"/>
                  </a:lnTo>
                  <a:lnTo>
                    <a:pt x="369" y="226"/>
                  </a:lnTo>
                  <a:lnTo>
                    <a:pt x="355" y="237"/>
                  </a:lnTo>
                  <a:lnTo>
                    <a:pt x="341" y="246"/>
                  </a:lnTo>
                  <a:lnTo>
                    <a:pt x="328" y="239"/>
                  </a:lnTo>
                  <a:lnTo>
                    <a:pt x="313" y="232"/>
                  </a:lnTo>
                  <a:lnTo>
                    <a:pt x="312" y="218"/>
                  </a:lnTo>
                  <a:lnTo>
                    <a:pt x="297" y="207"/>
                  </a:lnTo>
                  <a:lnTo>
                    <a:pt x="281" y="206"/>
                  </a:lnTo>
                  <a:lnTo>
                    <a:pt x="265" y="204"/>
                  </a:lnTo>
                  <a:lnTo>
                    <a:pt x="251" y="203"/>
                  </a:lnTo>
                  <a:lnTo>
                    <a:pt x="235" y="202"/>
                  </a:lnTo>
                  <a:lnTo>
                    <a:pt x="221" y="185"/>
                  </a:lnTo>
                  <a:lnTo>
                    <a:pt x="202" y="176"/>
                  </a:lnTo>
                  <a:lnTo>
                    <a:pt x="183" y="165"/>
                  </a:lnTo>
                  <a:lnTo>
                    <a:pt x="166" y="172"/>
                  </a:lnTo>
                  <a:lnTo>
                    <a:pt x="148" y="178"/>
                  </a:lnTo>
                  <a:lnTo>
                    <a:pt x="151" y="195"/>
                  </a:lnTo>
                  <a:lnTo>
                    <a:pt x="155" y="210"/>
                  </a:lnTo>
                  <a:lnTo>
                    <a:pt x="160" y="226"/>
                  </a:lnTo>
                  <a:lnTo>
                    <a:pt x="163" y="243"/>
                  </a:lnTo>
                  <a:lnTo>
                    <a:pt x="147" y="237"/>
                  </a:lnTo>
                  <a:lnTo>
                    <a:pt x="130" y="232"/>
                  </a:lnTo>
                  <a:lnTo>
                    <a:pt x="131" y="220"/>
                  </a:lnTo>
                  <a:lnTo>
                    <a:pt x="106" y="220"/>
                  </a:lnTo>
                  <a:lnTo>
                    <a:pt x="94" y="215"/>
                  </a:lnTo>
                  <a:lnTo>
                    <a:pt x="88" y="212"/>
                  </a:lnTo>
                  <a:lnTo>
                    <a:pt x="75" y="194"/>
                  </a:lnTo>
                  <a:lnTo>
                    <a:pt x="67" y="189"/>
                  </a:lnTo>
                  <a:lnTo>
                    <a:pt x="84" y="188"/>
                  </a:lnTo>
                  <a:lnTo>
                    <a:pt x="77" y="182"/>
                  </a:lnTo>
                  <a:lnTo>
                    <a:pt x="85" y="174"/>
                  </a:lnTo>
                  <a:lnTo>
                    <a:pt x="103" y="174"/>
                  </a:lnTo>
                  <a:lnTo>
                    <a:pt x="100" y="167"/>
                  </a:lnTo>
                  <a:lnTo>
                    <a:pt x="96" y="148"/>
                  </a:lnTo>
                  <a:lnTo>
                    <a:pt x="77" y="1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8" name="Freeform 267"/>
            <p:cNvSpPr>
              <a:spLocks/>
            </p:cNvSpPr>
            <p:nvPr/>
          </p:nvSpPr>
          <p:spPr bwMode="auto">
            <a:xfrm>
              <a:off x="3156" y="1827"/>
              <a:ext cx="133" cy="52"/>
            </a:xfrm>
            <a:custGeom>
              <a:avLst/>
              <a:gdLst/>
              <a:ahLst/>
              <a:cxnLst>
                <a:cxn ang="0">
                  <a:pos x="24" y="17"/>
                </a:cxn>
                <a:cxn ang="0">
                  <a:pos x="0" y="3"/>
                </a:cxn>
                <a:cxn ang="0">
                  <a:pos x="1" y="0"/>
                </a:cxn>
                <a:cxn ang="0">
                  <a:pos x="17" y="2"/>
                </a:cxn>
                <a:cxn ang="0">
                  <a:pos x="33" y="3"/>
                </a:cxn>
                <a:cxn ang="0">
                  <a:pos x="55" y="12"/>
                </a:cxn>
                <a:cxn ang="0">
                  <a:pos x="77" y="21"/>
                </a:cxn>
                <a:cxn ang="0">
                  <a:pos x="98" y="29"/>
                </a:cxn>
                <a:cxn ang="0">
                  <a:pos x="120" y="38"/>
                </a:cxn>
                <a:cxn ang="0">
                  <a:pos x="115" y="46"/>
                </a:cxn>
                <a:cxn ang="0">
                  <a:pos x="101" y="45"/>
                </a:cxn>
                <a:cxn ang="0">
                  <a:pos x="79" y="44"/>
                </a:cxn>
                <a:cxn ang="0">
                  <a:pos x="57" y="44"/>
                </a:cxn>
                <a:cxn ang="0">
                  <a:pos x="39" y="45"/>
                </a:cxn>
                <a:cxn ang="0">
                  <a:pos x="38" y="32"/>
                </a:cxn>
                <a:cxn ang="0">
                  <a:pos x="24" y="17"/>
                </a:cxn>
              </a:cxnLst>
              <a:rect l="0" t="0" r="r" b="b"/>
              <a:pathLst>
                <a:path w="120" h="46">
                  <a:moveTo>
                    <a:pt x="24" y="17"/>
                  </a:moveTo>
                  <a:lnTo>
                    <a:pt x="0" y="3"/>
                  </a:lnTo>
                  <a:lnTo>
                    <a:pt x="1" y="0"/>
                  </a:lnTo>
                  <a:lnTo>
                    <a:pt x="17" y="2"/>
                  </a:lnTo>
                  <a:lnTo>
                    <a:pt x="33" y="3"/>
                  </a:lnTo>
                  <a:lnTo>
                    <a:pt x="55" y="12"/>
                  </a:lnTo>
                  <a:lnTo>
                    <a:pt x="77" y="21"/>
                  </a:lnTo>
                  <a:lnTo>
                    <a:pt x="98" y="29"/>
                  </a:lnTo>
                  <a:lnTo>
                    <a:pt x="120" y="38"/>
                  </a:lnTo>
                  <a:lnTo>
                    <a:pt x="115" y="46"/>
                  </a:lnTo>
                  <a:lnTo>
                    <a:pt x="101" y="45"/>
                  </a:lnTo>
                  <a:lnTo>
                    <a:pt x="79" y="44"/>
                  </a:lnTo>
                  <a:lnTo>
                    <a:pt x="57" y="44"/>
                  </a:lnTo>
                  <a:lnTo>
                    <a:pt x="39" y="45"/>
                  </a:lnTo>
                  <a:lnTo>
                    <a:pt x="38" y="32"/>
                  </a:lnTo>
                  <a:lnTo>
                    <a:pt x="24"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9" name="Freeform 268"/>
            <p:cNvSpPr>
              <a:spLocks/>
            </p:cNvSpPr>
            <p:nvPr/>
          </p:nvSpPr>
          <p:spPr bwMode="auto">
            <a:xfrm>
              <a:off x="3662" y="1841"/>
              <a:ext cx="158" cy="80"/>
            </a:xfrm>
            <a:custGeom>
              <a:avLst/>
              <a:gdLst/>
              <a:ahLst/>
              <a:cxnLst>
                <a:cxn ang="0">
                  <a:pos x="46" y="41"/>
                </a:cxn>
                <a:cxn ang="0">
                  <a:pos x="31" y="32"/>
                </a:cxn>
                <a:cxn ang="0">
                  <a:pos x="10" y="29"/>
                </a:cxn>
                <a:cxn ang="0">
                  <a:pos x="0" y="16"/>
                </a:cxn>
                <a:cxn ang="0">
                  <a:pos x="9" y="9"/>
                </a:cxn>
                <a:cxn ang="0">
                  <a:pos x="25" y="11"/>
                </a:cxn>
                <a:cxn ang="0">
                  <a:pos x="39" y="12"/>
                </a:cxn>
                <a:cxn ang="0">
                  <a:pos x="48" y="3"/>
                </a:cxn>
                <a:cxn ang="0">
                  <a:pos x="61" y="4"/>
                </a:cxn>
                <a:cxn ang="0">
                  <a:pos x="81" y="4"/>
                </a:cxn>
                <a:cxn ang="0">
                  <a:pos x="100" y="2"/>
                </a:cxn>
                <a:cxn ang="0">
                  <a:pos x="120" y="0"/>
                </a:cxn>
                <a:cxn ang="0">
                  <a:pos x="138" y="11"/>
                </a:cxn>
                <a:cxn ang="0">
                  <a:pos x="141" y="20"/>
                </a:cxn>
                <a:cxn ang="0">
                  <a:pos x="130" y="29"/>
                </a:cxn>
                <a:cxn ang="0">
                  <a:pos x="120" y="38"/>
                </a:cxn>
                <a:cxn ang="0">
                  <a:pos x="104" y="42"/>
                </a:cxn>
                <a:cxn ang="0">
                  <a:pos x="94" y="53"/>
                </a:cxn>
                <a:cxn ang="0">
                  <a:pos x="86" y="51"/>
                </a:cxn>
                <a:cxn ang="0">
                  <a:pos x="79" y="52"/>
                </a:cxn>
                <a:cxn ang="0">
                  <a:pos x="68" y="58"/>
                </a:cxn>
                <a:cxn ang="0">
                  <a:pos x="62" y="71"/>
                </a:cxn>
                <a:cxn ang="0">
                  <a:pos x="37" y="69"/>
                </a:cxn>
                <a:cxn ang="0">
                  <a:pos x="12" y="65"/>
                </a:cxn>
                <a:cxn ang="0">
                  <a:pos x="10" y="53"/>
                </a:cxn>
                <a:cxn ang="0">
                  <a:pos x="28" y="47"/>
                </a:cxn>
                <a:cxn ang="0">
                  <a:pos x="46" y="41"/>
                </a:cxn>
              </a:cxnLst>
              <a:rect l="0" t="0" r="r" b="b"/>
              <a:pathLst>
                <a:path w="141" h="71">
                  <a:moveTo>
                    <a:pt x="46" y="41"/>
                  </a:moveTo>
                  <a:lnTo>
                    <a:pt x="31" y="32"/>
                  </a:lnTo>
                  <a:lnTo>
                    <a:pt x="10" y="29"/>
                  </a:lnTo>
                  <a:lnTo>
                    <a:pt x="0" y="16"/>
                  </a:lnTo>
                  <a:lnTo>
                    <a:pt x="9" y="9"/>
                  </a:lnTo>
                  <a:lnTo>
                    <a:pt x="25" y="11"/>
                  </a:lnTo>
                  <a:lnTo>
                    <a:pt x="39" y="12"/>
                  </a:lnTo>
                  <a:lnTo>
                    <a:pt x="48" y="3"/>
                  </a:lnTo>
                  <a:lnTo>
                    <a:pt x="61" y="4"/>
                  </a:lnTo>
                  <a:lnTo>
                    <a:pt x="81" y="4"/>
                  </a:lnTo>
                  <a:lnTo>
                    <a:pt x="100" y="2"/>
                  </a:lnTo>
                  <a:lnTo>
                    <a:pt x="120" y="0"/>
                  </a:lnTo>
                  <a:lnTo>
                    <a:pt x="138" y="11"/>
                  </a:lnTo>
                  <a:lnTo>
                    <a:pt x="141" y="20"/>
                  </a:lnTo>
                  <a:lnTo>
                    <a:pt x="130" y="29"/>
                  </a:lnTo>
                  <a:lnTo>
                    <a:pt x="120" y="38"/>
                  </a:lnTo>
                  <a:lnTo>
                    <a:pt x="104" y="42"/>
                  </a:lnTo>
                  <a:lnTo>
                    <a:pt x="94" y="53"/>
                  </a:lnTo>
                  <a:lnTo>
                    <a:pt x="86" y="51"/>
                  </a:lnTo>
                  <a:lnTo>
                    <a:pt x="79" y="52"/>
                  </a:lnTo>
                  <a:lnTo>
                    <a:pt x="68" y="58"/>
                  </a:lnTo>
                  <a:lnTo>
                    <a:pt x="62" y="71"/>
                  </a:lnTo>
                  <a:lnTo>
                    <a:pt x="37" y="69"/>
                  </a:lnTo>
                  <a:lnTo>
                    <a:pt x="12" y="65"/>
                  </a:lnTo>
                  <a:lnTo>
                    <a:pt x="10" y="53"/>
                  </a:lnTo>
                  <a:lnTo>
                    <a:pt x="28" y="47"/>
                  </a:lnTo>
                  <a:lnTo>
                    <a:pt x="46" y="4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0" name="Freeform 269"/>
            <p:cNvSpPr>
              <a:spLocks/>
            </p:cNvSpPr>
            <p:nvPr/>
          </p:nvSpPr>
          <p:spPr bwMode="auto">
            <a:xfrm>
              <a:off x="3369" y="1852"/>
              <a:ext cx="242" cy="149"/>
            </a:xfrm>
            <a:custGeom>
              <a:avLst/>
              <a:gdLst/>
              <a:ahLst/>
              <a:cxnLst>
                <a:cxn ang="0">
                  <a:pos x="206" y="104"/>
                </a:cxn>
                <a:cxn ang="0">
                  <a:pos x="200" y="119"/>
                </a:cxn>
                <a:cxn ang="0">
                  <a:pos x="187" y="126"/>
                </a:cxn>
                <a:cxn ang="0">
                  <a:pos x="182" y="134"/>
                </a:cxn>
                <a:cxn ang="0">
                  <a:pos x="174" y="133"/>
                </a:cxn>
                <a:cxn ang="0">
                  <a:pos x="159" y="128"/>
                </a:cxn>
                <a:cxn ang="0">
                  <a:pos x="153" y="110"/>
                </a:cxn>
                <a:cxn ang="0">
                  <a:pos x="140" y="108"/>
                </a:cxn>
                <a:cxn ang="0">
                  <a:pos x="127" y="100"/>
                </a:cxn>
                <a:cxn ang="0">
                  <a:pos x="114" y="91"/>
                </a:cxn>
                <a:cxn ang="0">
                  <a:pos x="90" y="83"/>
                </a:cxn>
                <a:cxn ang="0">
                  <a:pos x="75" y="84"/>
                </a:cxn>
                <a:cxn ang="0">
                  <a:pos x="59" y="86"/>
                </a:cxn>
                <a:cxn ang="0">
                  <a:pos x="48" y="97"/>
                </a:cxn>
                <a:cxn ang="0">
                  <a:pos x="43" y="97"/>
                </a:cxn>
                <a:cxn ang="0">
                  <a:pos x="39" y="83"/>
                </a:cxn>
                <a:cxn ang="0">
                  <a:pos x="35" y="67"/>
                </a:cxn>
                <a:cxn ang="0">
                  <a:pos x="26" y="61"/>
                </a:cxn>
                <a:cxn ang="0">
                  <a:pos x="25" y="62"/>
                </a:cxn>
                <a:cxn ang="0">
                  <a:pos x="27" y="59"/>
                </a:cxn>
                <a:cxn ang="0">
                  <a:pos x="30" y="56"/>
                </a:cxn>
                <a:cxn ang="0">
                  <a:pos x="26" y="50"/>
                </a:cxn>
                <a:cxn ang="0">
                  <a:pos x="19" y="52"/>
                </a:cxn>
                <a:cxn ang="0">
                  <a:pos x="19" y="53"/>
                </a:cxn>
                <a:cxn ang="0">
                  <a:pos x="14" y="35"/>
                </a:cxn>
                <a:cxn ang="0">
                  <a:pos x="17" y="34"/>
                </a:cxn>
                <a:cxn ang="0">
                  <a:pos x="25" y="34"/>
                </a:cxn>
                <a:cxn ang="0">
                  <a:pos x="32" y="38"/>
                </a:cxn>
                <a:cxn ang="0">
                  <a:pos x="36" y="37"/>
                </a:cxn>
                <a:cxn ang="0">
                  <a:pos x="37" y="35"/>
                </a:cxn>
                <a:cxn ang="0">
                  <a:pos x="39" y="30"/>
                </a:cxn>
                <a:cxn ang="0">
                  <a:pos x="25" y="14"/>
                </a:cxn>
                <a:cxn ang="0">
                  <a:pos x="12" y="13"/>
                </a:cxn>
                <a:cxn ang="0">
                  <a:pos x="13" y="28"/>
                </a:cxn>
                <a:cxn ang="0">
                  <a:pos x="13" y="30"/>
                </a:cxn>
                <a:cxn ang="0">
                  <a:pos x="3" y="11"/>
                </a:cxn>
                <a:cxn ang="0">
                  <a:pos x="5" y="2"/>
                </a:cxn>
                <a:cxn ang="0">
                  <a:pos x="0" y="0"/>
                </a:cxn>
                <a:cxn ang="0">
                  <a:pos x="25" y="0"/>
                </a:cxn>
                <a:cxn ang="0">
                  <a:pos x="24" y="12"/>
                </a:cxn>
                <a:cxn ang="0">
                  <a:pos x="41" y="17"/>
                </a:cxn>
                <a:cxn ang="0">
                  <a:pos x="57" y="23"/>
                </a:cxn>
                <a:cxn ang="0">
                  <a:pos x="78" y="26"/>
                </a:cxn>
                <a:cxn ang="0">
                  <a:pos x="74" y="17"/>
                </a:cxn>
                <a:cxn ang="0">
                  <a:pos x="81" y="13"/>
                </a:cxn>
                <a:cxn ang="0">
                  <a:pos x="93" y="0"/>
                </a:cxn>
                <a:cxn ang="0">
                  <a:pos x="113" y="13"/>
                </a:cxn>
                <a:cxn ang="0">
                  <a:pos x="125" y="31"/>
                </a:cxn>
                <a:cxn ang="0">
                  <a:pos x="144" y="38"/>
                </a:cxn>
                <a:cxn ang="0">
                  <a:pos x="157" y="46"/>
                </a:cxn>
                <a:cxn ang="0">
                  <a:pos x="182" y="61"/>
                </a:cxn>
                <a:cxn ang="0">
                  <a:pos x="207" y="77"/>
                </a:cxn>
                <a:cxn ang="0">
                  <a:pos x="217" y="95"/>
                </a:cxn>
                <a:cxn ang="0">
                  <a:pos x="211" y="100"/>
                </a:cxn>
                <a:cxn ang="0">
                  <a:pos x="206" y="104"/>
                </a:cxn>
              </a:cxnLst>
              <a:rect l="0" t="0" r="r" b="b"/>
              <a:pathLst>
                <a:path w="217" h="134">
                  <a:moveTo>
                    <a:pt x="206" y="104"/>
                  </a:moveTo>
                  <a:lnTo>
                    <a:pt x="200" y="119"/>
                  </a:lnTo>
                  <a:lnTo>
                    <a:pt x="187" y="126"/>
                  </a:lnTo>
                  <a:lnTo>
                    <a:pt x="182" y="134"/>
                  </a:lnTo>
                  <a:lnTo>
                    <a:pt x="174" y="133"/>
                  </a:lnTo>
                  <a:lnTo>
                    <a:pt x="159" y="128"/>
                  </a:lnTo>
                  <a:lnTo>
                    <a:pt x="153" y="110"/>
                  </a:lnTo>
                  <a:lnTo>
                    <a:pt x="140" y="108"/>
                  </a:lnTo>
                  <a:lnTo>
                    <a:pt x="127" y="100"/>
                  </a:lnTo>
                  <a:lnTo>
                    <a:pt x="114" y="91"/>
                  </a:lnTo>
                  <a:lnTo>
                    <a:pt x="90" y="83"/>
                  </a:lnTo>
                  <a:lnTo>
                    <a:pt x="75" y="84"/>
                  </a:lnTo>
                  <a:lnTo>
                    <a:pt x="59" y="86"/>
                  </a:lnTo>
                  <a:lnTo>
                    <a:pt x="48" y="97"/>
                  </a:lnTo>
                  <a:lnTo>
                    <a:pt x="43" y="97"/>
                  </a:lnTo>
                  <a:lnTo>
                    <a:pt x="39" y="83"/>
                  </a:lnTo>
                  <a:lnTo>
                    <a:pt x="35" y="67"/>
                  </a:lnTo>
                  <a:lnTo>
                    <a:pt x="26" y="61"/>
                  </a:lnTo>
                  <a:lnTo>
                    <a:pt x="25" y="62"/>
                  </a:lnTo>
                  <a:lnTo>
                    <a:pt x="27" y="59"/>
                  </a:lnTo>
                  <a:lnTo>
                    <a:pt x="30" y="56"/>
                  </a:lnTo>
                  <a:lnTo>
                    <a:pt x="26" y="50"/>
                  </a:lnTo>
                  <a:lnTo>
                    <a:pt x="19" y="52"/>
                  </a:lnTo>
                  <a:lnTo>
                    <a:pt x="19" y="53"/>
                  </a:lnTo>
                  <a:lnTo>
                    <a:pt x="14" y="35"/>
                  </a:lnTo>
                  <a:lnTo>
                    <a:pt x="17" y="34"/>
                  </a:lnTo>
                  <a:lnTo>
                    <a:pt x="25" y="34"/>
                  </a:lnTo>
                  <a:lnTo>
                    <a:pt x="32" y="38"/>
                  </a:lnTo>
                  <a:lnTo>
                    <a:pt x="36" y="37"/>
                  </a:lnTo>
                  <a:lnTo>
                    <a:pt x="37" y="35"/>
                  </a:lnTo>
                  <a:lnTo>
                    <a:pt x="39" y="30"/>
                  </a:lnTo>
                  <a:lnTo>
                    <a:pt x="25" y="14"/>
                  </a:lnTo>
                  <a:lnTo>
                    <a:pt x="12" y="13"/>
                  </a:lnTo>
                  <a:lnTo>
                    <a:pt x="13" y="28"/>
                  </a:lnTo>
                  <a:lnTo>
                    <a:pt x="13" y="30"/>
                  </a:lnTo>
                  <a:lnTo>
                    <a:pt x="3" y="11"/>
                  </a:lnTo>
                  <a:lnTo>
                    <a:pt x="5" y="2"/>
                  </a:lnTo>
                  <a:lnTo>
                    <a:pt x="0" y="0"/>
                  </a:lnTo>
                  <a:lnTo>
                    <a:pt x="25" y="0"/>
                  </a:lnTo>
                  <a:lnTo>
                    <a:pt x="24" y="12"/>
                  </a:lnTo>
                  <a:lnTo>
                    <a:pt x="41" y="17"/>
                  </a:lnTo>
                  <a:lnTo>
                    <a:pt x="57" y="23"/>
                  </a:lnTo>
                  <a:lnTo>
                    <a:pt x="78" y="26"/>
                  </a:lnTo>
                  <a:lnTo>
                    <a:pt x="74" y="17"/>
                  </a:lnTo>
                  <a:lnTo>
                    <a:pt x="81" y="13"/>
                  </a:lnTo>
                  <a:lnTo>
                    <a:pt x="93" y="0"/>
                  </a:lnTo>
                  <a:lnTo>
                    <a:pt x="113" y="13"/>
                  </a:lnTo>
                  <a:lnTo>
                    <a:pt x="125" y="31"/>
                  </a:lnTo>
                  <a:lnTo>
                    <a:pt x="144" y="38"/>
                  </a:lnTo>
                  <a:lnTo>
                    <a:pt x="157" y="46"/>
                  </a:lnTo>
                  <a:lnTo>
                    <a:pt x="182" y="61"/>
                  </a:lnTo>
                  <a:lnTo>
                    <a:pt x="207" y="77"/>
                  </a:lnTo>
                  <a:lnTo>
                    <a:pt x="217" y="95"/>
                  </a:lnTo>
                  <a:lnTo>
                    <a:pt x="211" y="100"/>
                  </a:lnTo>
                  <a:lnTo>
                    <a:pt x="206" y="10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1" name="Freeform 270"/>
            <p:cNvSpPr>
              <a:spLocks/>
            </p:cNvSpPr>
            <p:nvPr/>
          </p:nvSpPr>
          <p:spPr bwMode="auto">
            <a:xfrm>
              <a:off x="3542" y="1939"/>
              <a:ext cx="222" cy="180"/>
            </a:xfrm>
            <a:custGeom>
              <a:avLst/>
              <a:gdLst/>
              <a:ahLst/>
              <a:cxnLst>
                <a:cxn ang="0">
                  <a:pos x="1" y="71"/>
                </a:cxn>
                <a:cxn ang="0">
                  <a:pos x="0" y="73"/>
                </a:cxn>
                <a:cxn ang="0">
                  <a:pos x="0" y="83"/>
                </a:cxn>
                <a:cxn ang="0">
                  <a:pos x="6" y="88"/>
                </a:cxn>
                <a:cxn ang="0">
                  <a:pos x="4" y="91"/>
                </a:cxn>
                <a:cxn ang="0">
                  <a:pos x="8" y="106"/>
                </a:cxn>
                <a:cxn ang="0">
                  <a:pos x="10" y="121"/>
                </a:cxn>
                <a:cxn ang="0">
                  <a:pos x="26" y="126"/>
                </a:cxn>
                <a:cxn ang="0">
                  <a:pos x="28" y="133"/>
                </a:cxn>
                <a:cxn ang="0">
                  <a:pos x="18" y="154"/>
                </a:cxn>
                <a:cxn ang="0">
                  <a:pos x="31" y="157"/>
                </a:cxn>
                <a:cxn ang="0">
                  <a:pos x="43" y="162"/>
                </a:cxn>
                <a:cxn ang="0">
                  <a:pos x="67" y="161"/>
                </a:cxn>
                <a:cxn ang="0">
                  <a:pos x="84" y="157"/>
                </a:cxn>
                <a:cxn ang="0">
                  <a:pos x="99" y="154"/>
                </a:cxn>
                <a:cxn ang="0">
                  <a:pos x="99" y="146"/>
                </a:cxn>
                <a:cxn ang="0">
                  <a:pos x="102" y="132"/>
                </a:cxn>
                <a:cxn ang="0">
                  <a:pos x="116" y="126"/>
                </a:cxn>
                <a:cxn ang="0">
                  <a:pos x="121" y="121"/>
                </a:cxn>
                <a:cxn ang="0">
                  <a:pos x="135" y="121"/>
                </a:cxn>
                <a:cxn ang="0">
                  <a:pos x="136" y="102"/>
                </a:cxn>
                <a:cxn ang="0">
                  <a:pos x="148" y="91"/>
                </a:cxn>
                <a:cxn ang="0">
                  <a:pos x="140" y="82"/>
                </a:cxn>
                <a:cxn ang="0">
                  <a:pos x="153" y="80"/>
                </a:cxn>
                <a:cxn ang="0">
                  <a:pos x="156" y="72"/>
                </a:cxn>
                <a:cxn ang="0">
                  <a:pos x="160" y="59"/>
                </a:cxn>
                <a:cxn ang="0">
                  <a:pos x="152" y="44"/>
                </a:cxn>
                <a:cxn ang="0">
                  <a:pos x="159" y="34"/>
                </a:cxn>
                <a:cxn ang="0">
                  <a:pos x="177" y="29"/>
                </a:cxn>
                <a:cxn ang="0">
                  <a:pos x="195" y="25"/>
                </a:cxn>
                <a:cxn ang="0">
                  <a:pos x="195" y="22"/>
                </a:cxn>
                <a:cxn ang="0">
                  <a:pos x="199" y="22"/>
                </a:cxn>
                <a:cxn ang="0">
                  <a:pos x="200" y="22"/>
                </a:cxn>
                <a:cxn ang="0">
                  <a:pos x="187" y="20"/>
                </a:cxn>
                <a:cxn ang="0">
                  <a:pos x="182" y="19"/>
                </a:cxn>
                <a:cxn ang="0">
                  <a:pos x="170" y="20"/>
                </a:cxn>
                <a:cxn ang="0">
                  <a:pos x="152" y="30"/>
                </a:cxn>
                <a:cxn ang="0">
                  <a:pos x="146" y="8"/>
                </a:cxn>
                <a:cxn ang="0">
                  <a:pos x="142" y="8"/>
                </a:cxn>
                <a:cxn ang="0">
                  <a:pos x="138" y="0"/>
                </a:cxn>
                <a:cxn ang="0">
                  <a:pos x="130" y="4"/>
                </a:cxn>
                <a:cxn ang="0">
                  <a:pos x="128" y="14"/>
                </a:cxn>
                <a:cxn ang="0">
                  <a:pos x="117" y="19"/>
                </a:cxn>
                <a:cxn ang="0">
                  <a:pos x="114" y="23"/>
                </a:cxn>
                <a:cxn ang="0">
                  <a:pos x="104" y="23"/>
                </a:cxn>
                <a:cxn ang="0">
                  <a:pos x="96" y="24"/>
                </a:cxn>
                <a:cxn ang="0">
                  <a:pos x="91" y="22"/>
                </a:cxn>
                <a:cxn ang="0">
                  <a:pos x="76" y="19"/>
                </a:cxn>
                <a:cxn ang="0">
                  <a:pos x="62" y="17"/>
                </a:cxn>
                <a:cxn ang="0">
                  <a:pos x="56" y="22"/>
                </a:cxn>
                <a:cxn ang="0">
                  <a:pos x="51" y="26"/>
                </a:cxn>
                <a:cxn ang="0">
                  <a:pos x="45" y="41"/>
                </a:cxn>
                <a:cxn ang="0">
                  <a:pos x="32" y="48"/>
                </a:cxn>
                <a:cxn ang="0">
                  <a:pos x="27" y="56"/>
                </a:cxn>
                <a:cxn ang="0">
                  <a:pos x="19" y="55"/>
                </a:cxn>
                <a:cxn ang="0">
                  <a:pos x="4" y="50"/>
                </a:cxn>
                <a:cxn ang="0">
                  <a:pos x="1" y="71"/>
                </a:cxn>
              </a:cxnLst>
              <a:rect l="0" t="0" r="r" b="b"/>
              <a:pathLst>
                <a:path w="200" h="162">
                  <a:moveTo>
                    <a:pt x="1" y="71"/>
                  </a:moveTo>
                  <a:lnTo>
                    <a:pt x="0" y="73"/>
                  </a:lnTo>
                  <a:lnTo>
                    <a:pt x="0" y="83"/>
                  </a:lnTo>
                  <a:lnTo>
                    <a:pt x="6" y="88"/>
                  </a:lnTo>
                  <a:lnTo>
                    <a:pt x="4" y="91"/>
                  </a:lnTo>
                  <a:lnTo>
                    <a:pt x="8" y="106"/>
                  </a:lnTo>
                  <a:lnTo>
                    <a:pt x="10" y="121"/>
                  </a:lnTo>
                  <a:lnTo>
                    <a:pt x="26" y="126"/>
                  </a:lnTo>
                  <a:lnTo>
                    <a:pt x="28" y="133"/>
                  </a:lnTo>
                  <a:lnTo>
                    <a:pt x="18" y="154"/>
                  </a:lnTo>
                  <a:lnTo>
                    <a:pt x="31" y="157"/>
                  </a:lnTo>
                  <a:lnTo>
                    <a:pt x="43" y="162"/>
                  </a:lnTo>
                  <a:lnTo>
                    <a:pt x="67" y="161"/>
                  </a:lnTo>
                  <a:lnTo>
                    <a:pt x="84" y="157"/>
                  </a:lnTo>
                  <a:lnTo>
                    <a:pt x="99" y="154"/>
                  </a:lnTo>
                  <a:lnTo>
                    <a:pt x="99" y="146"/>
                  </a:lnTo>
                  <a:lnTo>
                    <a:pt x="102" y="132"/>
                  </a:lnTo>
                  <a:lnTo>
                    <a:pt x="116" y="126"/>
                  </a:lnTo>
                  <a:lnTo>
                    <a:pt x="121" y="121"/>
                  </a:lnTo>
                  <a:lnTo>
                    <a:pt x="135" y="121"/>
                  </a:lnTo>
                  <a:lnTo>
                    <a:pt x="136" y="102"/>
                  </a:lnTo>
                  <a:lnTo>
                    <a:pt x="148" y="91"/>
                  </a:lnTo>
                  <a:lnTo>
                    <a:pt x="140" y="82"/>
                  </a:lnTo>
                  <a:lnTo>
                    <a:pt x="153" y="80"/>
                  </a:lnTo>
                  <a:lnTo>
                    <a:pt x="156" y="72"/>
                  </a:lnTo>
                  <a:lnTo>
                    <a:pt x="160" y="59"/>
                  </a:lnTo>
                  <a:lnTo>
                    <a:pt x="152" y="44"/>
                  </a:lnTo>
                  <a:lnTo>
                    <a:pt x="159" y="34"/>
                  </a:lnTo>
                  <a:lnTo>
                    <a:pt x="177" y="29"/>
                  </a:lnTo>
                  <a:lnTo>
                    <a:pt x="195" y="25"/>
                  </a:lnTo>
                  <a:lnTo>
                    <a:pt x="195" y="22"/>
                  </a:lnTo>
                  <a:lnTo>
                    <a:pt x="199" y="22"/>
                  </a:lnTo>
                  <a:lnTo>
                    <a:pt x="200" y="22"/>
                  </a:lnTo>
                  <a:lnTo>
                    <a:pt x="187" y="20"/>
                  </a:lnTo>
                  <a:lnTo>
                    <a:pt x="182" y="19"/>
                  </a:lnTo>
                  <a:lnTo>
                    <a:pt x="170" y="20"/>
                  </a:lnTo>
                  <a:lnTo>
                    <a:pt x="152" y="30"/>
                  </a:lnTo>
                  <a:lnTo>
                    <a:pt x="146" y="8"/>
                  </a:lnTo>
                  <a:lnTo>
                    <a:pt x="142" y="8"/>
                  </a:lnTo>
                  <a:lnTo>
                    <a:pt x="138" y="0"/>
                  </a:lnTo>
                  <a:lnTo>
                    <a:pt x="130" y="4"/>
                  </a:lnTo>
                  <a:lnTo>
                    <a:pt x="128" y="14"/>
                  </a:lnTo>
                  <a:lnTo>
                    <a:pt x="117" y="19"/>
                  </a:lnTo>
                  <a:lnTo>
                    <a:pt x="114" y="23"/>
                  </a:lnTo>
                  <a:lnTo>
                    <a:pt x="104" y="23"/>
                  </a:lnTo>
                  <a:lnTo>
                    <a:pt x="96" y="24"/>
                  </a:lnTo>
                  <a:lnTo>
                    <a:pt x="91" y="22"/>
                  </a:lnTo>
                  <a:lnTo>
                    <a:pt x="76" y="19"/>
                  </a:lnTo>
                  <a:lnTo>
                    <a:pt x="62" y="17"/>
                  </a:lnTo>
                  <a:lnTo>
                    <a:pt x="56" y="22"/>
                  </a:lnTo>
                  <a:lnTo>
                    <a:pt x="51" y="26"/>
                  </a:lnTo>
                  <a:lnTo>
                    <a:pt x="45" y="41"/>
                  </a:lnTo>
                  <a:lnTo>
                    <a:pt x="32" y="48"/>
                  </a:lnTo>
                  <a:lnTo>
                    <a:pt x="27" y="56"/>
                  </a:lnTo>
                  <a:lnTo>
                    <a:pt x="19" y="55"/>
                  </a:lnTo>
                  <a:lnTo>
                    <a:pt x="4" y="50"/>
                  </a:lnTo>
                  <a:lnTo>
                    <a:pt x="1" y="7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2" name="Freeform 271"/>
            <p:cNvSpPr>
              <a:spLocks/>
            </p:cNvSpPr>
            <p:nvPr/>
          </p:nvSpPr>
          <p:spPr bwMode="auto">
            <a:xfrm>
              <a:off x="3069" y="1994"/>
              <a:ext cx="35" cy="20"/>
            </a:xfrm>
            <a:custGeom>
              <a:avLst/>
              <a:gdLst/>
              <a:ahLst/>
              <a:cxnLst>
                <a:cxn ang="0">
                  <a:pos x="31" y="0"/>
                </a:cxn>
                <a:cxn ang="0">
                  <a:pos x="12" y="6"/>
                </a:cxn>
                <a:cxn ang="0">
                  <a:pos x="0" y="11"/>
                </a:cxn>
                <a:cxn ang="0">
                  <a:pos x="5" y="19"/>
                </a:cxn>
                <a:cxn ang="0">
                  <a:pos x="23" y="13"/>
                </a:cxn>
                <a:cxn ang="0">
                  <a:pos x="21" y="10"/>
                </a:cxn>
                <a:cxn ang="0">
                  <a:pos x="31" y="0"/>
                </a:cxn>
              </a:cxnLst>
              <a:rect l="0" t="0" r="r" b="b"/>
              <a:pathLst>
                <a:path w="31" h="19">
                  <a:moveTo>
                    <a:pt x="31" y="0"/>
                  </a:moveTo>
                  <a:lnTo>
                    <a:pt x="12" y="6"/>
                  </a:lnTo>
                  <a:lnTo>
                    <a:pt x="0" y="11"/>
                  </a:lnTo>
                  <a:lnTo>
                    <a:pt x="5" y="19"/>
                  </a:lnTo>
                  <a:lnTo>
                    <a:pt x="23" y="13"/>
                  </a:lnTo>
                  <a:lnTo>
                    <a:pt x="21" y="10"/>
                  </a:lnTo>
                  <a:lnTo>
                    <a:pt x="3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3" name="Line 271"/>
            <p:cNvSpPr>
              <a:spLocks noChangeShapeType="1"/>
            </p:cNvSpPr>
            <p:nvPr/>
          </p:nvSpPr>
          <p:spPr bwMode="auto">
            <a:xfrm>
              <a:off x="3753" y="1967"/>
              <a:ext cx="2" cy="5"/>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4" name="Line 272"/>
            <p:cNvSpPr>
              <a:spLocks noChangeShapeType="1"/>
            </p:cNvSpPr>
            <p:nvPr/>
          </p:nvSpPr>
          <p:spPr bwMode="auto">
            <a:xfrm>
              <a:off x="3755" y="1970"/>
              <a:ext cx="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5" name="Line 273"/>
            <p:cNvSpPr>
              <a:spLocks noChangeShapeType="1"/>
            </p:cNvSpPr>
            <p:nvPr/>
          </p:nvSpPr>
          <p:spPr bwMode="auto">
            <a:xfrm flipH="1">
              <a:off x="3749" y="1974"/>
              <a:ext cx="6"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6" name="Line 274"/>
            <p:cNvSpPr>
              <a:spLocks noChangeShapeType="1"/>
            </p:cNvSpPr>
            <p:nvPr/>
          </p:nvSpPr>
          <p:spPr bwMode="auto">
            <a:xfrm flipH="1">
              <a:off x="3747" y="1976"/>
              <a:ext cx="4" cy="5"/>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7" name="Line 275"/>
            <p:cNvSpPr>
              <a:spLocks noChangeShapeType="1"/>
            </p:cNvSpPr>
            <p:nvPr/>
          </p:nvSpPr>
          <p:spPr bwMode="auto">
            <a:xfrm flipH="1">
              <a:off x="3742" y="1981"/>
              <a:ext cx="5"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8" name="Line 276"/>
            <p:cNvSpPr>
              <a:spLocks noChangeShapeType="1"/>
            </p:cNvSpPr>
            <p:nvPr/>
          </p:nvSpPr>
          <p:spPr bwMode="auto">
            <a:xfrm flipH="1">
              <a:off x="3740" y="1981"/>
              <a:ext cx="2" cy="6"/>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9" name="Line 277"/>
            <p:cNvSpPr>
              <a:spLocks noChangeShapeType="1"/>
            </p:cNvSpPr>
            <p:nvPr/>
          </p:nvSpPr>
          <p:spPr bwMode="auto">
            <a:xfrm>
              <a:off x="3740" y="1985"/>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0" name="Line 278"/>
            <p:cNvSpPr>
              <a:spLocks noChangeShapeType="1"/>
            </p:cNvSpPr>
            <p:nvPr/>
          </p:nvSpPr>
          <p:spPr bwMode="auto">
            <a:xfrm>
              <a:off x="3740" y="1990"/>
              <a:ext cx="2" cy="9"/>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1" name="Line 279"/>
            <p:cNvSpPr>
              <a:spLocks noChangeShapeType="1"/>
            </p:cNvSpPr>
            <p:nvPr/>
          </p:nvSpPr>
          <p:spPr bwMode="auto">
            <a:xfrm>
              <a:off x="3742" y="1996"/>
              <a:ext cx="5"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2" name="Line 280"/>
            <p:cNvSpPr>
              <a:spLocks noChangeShapeType="1"/>
            </p:cNvSpPr>
            <p:nvPr/>
          </p:nvSpPr>
          <p:spPr bwMode="auto">
            <a:xfrm>
              <a:off x="3744" y="2001"/>
              <a:ext cx="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3" name="Line 281"/>
            <p:cNvSpPr>
              <a:spLocks noChangeShapeType="1"/>
            </p:cNvSpPr>
            <p:nvPr/>
          </p:nvSpPr>
          <p:spPr bwMode="auto">
            <a:xfrm>
              <a:off x="3755" y="2027"/>
              <a:ext cx="3" cy="3"/>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4" name="Line 282"/>
            <p:cNvSpPr>
              <a:spLocks noChangeShapeType="1"/>
            </p:cNvSpPr>
            <p:nvPr/>
          </p:nvSpPr>
          <p:spPr bwMode="auto">
            <a:xfrm>
              <a:off x="3755" y="2027"/>
              <a:ext cx="9"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5" name="Line 283"/>
            <p:cNvSpPr>
              <a:spLocks noChangeShapeType="1"/>
            </p:cNvSpPr>
            <p:nvPr/>
          </p:nvSpPr>
          <p:spPr bwMode="auto">
            <a:xfrm>
              <a:off x="3762" y="2032"/>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6" name="Line 284"/>
            <p:cNvSpPr>
              <a:spLocks noChangeShapeType="1"/>
            </p:cNvSpPr>
            <p:nvPr/>
          </p:nvSpPr>
          <p:spPr bwMode="auto">
            <a:xfrm>
              <a:off x="3762" y="2036"/>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7" name="Line 285"/>
            <p:cNvSpPr>
              <a:spLocks noChangeShapeType="1"/>
            </p:cNvSpPr>
            <p:nvPr/>
          </p:nvSpPr>
          <p:spPr bwMode="auto">
            <a:xfrm>
              <a:off x="3764" y="2043"/>
              <a:ext cx="7"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8" name="Line 286"/>
            <p:cNvSpPr>
              <a:spLocks noChangeShapeType="1"/>
            </p:cNvSpPr>
            <p:nvPr/>
          </p:nvSpPr>
          <p:spPr bwMode="auto">
            <a:xfrm>
              <a:off x="3769" y="2045"/>
              <a:ext cx="6"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9" name="Line 287"/>
            <p:cNvSpPr>
              <a:spLocks noChangeShapeType="1"/>
            </p:cNvSpPr>
            <p:nvPr/>
          </p:nvSpPr>
          <p:spPr bwMode="auto">
            <a:xfrm flipV="1">
              <a:off x="3851" y="2021"/>
              <a:ext cx="9" cy="6"/>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0" name="Line 288"/>
            <p:cNvSpPr>
              <a:spLocks noChangeShapeType="1"/>
            </p:cNvSpPr>
            <p:nvPr/>
          </p:nvSpPr>
          <p:spPr bwMode="auto">
            <a:xfrm flipV="1">
              <a:off x="3858" y="2012"/>
              <a:ext cx="2" cy="11"/>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1" name="Line 289"/>
            <p:cNvSpPr>
              <a:spLocks noChangeShapeType="1"/>
            </p:cNvSpPr>
            <p:nvPr/>
          </p:nvSpPr>
          <p:spPr bwMode="auto">
            <a:xfrm flipV="1">
              <a:off x="3860" y="1996"/>
              <a:ext cx="2" cy="18"/>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2" name="Line 290"/>
            <p:cNvSpPr>
              <a:spLocks noChangeShapeType="1"/>
            </p:cNvSpPr>
            <p:nvPr/>
          </p:nvSpPr>
          <p:spPr bwMode="auto">
            <a:xfrm flipH="1" flipV="1">
              <a:off x="3849" y="1992"/>
              <a:ext cx="1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3" name="Line 291"/>
            <p:cNvSpPr>
              <a:spLocks noChangeShapeType="1"/>
            </p:cNvSpPr>
            <p:nvPr/>
          </p:nvSpPr>
          <p:spPr bwMode="auto">
            <a:xfrm flipH="1" flipV="1">
              <a:off x="3847" y="1990"/>
              <a:ext cx="2"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4" name="Line 292"/>
            <p:cNvSpPr>
              <a:spLocks noChangeShapeType="1"/>
            </p:cNvSpPr>
            <p:nvPr/>
          </p:nvSpPr>
          <p:spPr bwMode="auto">
            <a:xfrm flipH="1">
              <a:off x="3820" y="1996"/>
              <a:ext cx="2" cy="3"/>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5" name="Freeform 294"/>
            <p:cNvSpPr>
              <a:spLocks/>
            </p:cNvSpPr>
            <p:nvPr/>
          </p:nvSpPr>
          <p:spPr bwMode="auto">
            <a:xfrm>
              <a:off x="3120" y="2014"/>
              <a:ext cx="20" cy="31"/>
            </a:xfrm>
            <a:custGeom>
              <a:avLst/>
              <a:gdLst/>
              <a:ahLst/>
              <a:cxnLst>
                <a:cxn ang="0">
                  <a:pos x="17" y="16"/>
                </a:cxn>
                <a:cxn ang="0">
                  <a:pos x="7" y="25"/>
                </a:cxn>
                <a:cxn ang="0">
                  <a:pos x="0" y="29"/>
                </a:cxn>
                <a:cxn ang="0">
                  <a:pos x="5" y="15"/>
                </a:cxn>
                <a:cxn ang="0">
                  <a:pos x="10" y="0"/>
                </a:cxn>
                <a:cxn ang="0">
                  <a:pos x="19" y="5"/>
                </a:cxn>
                <a:cxn ang="0">
                  <a:pos x="17" y="16"/>
                </a:cxn>
              </a:cxnLst>
              <a:rect l="0" t="0" r="r" b="b"/>
              <a:pathLst>
                <a:path w="19" h="29">
                  <a:moveTo>
                    <a:pt x="17" y="16"/>
                  </a:moveTo>
                  <a:lnTo>
                    <a:pt x="7" y="25"/>
                  </a:lnTo>
                  <a:lnTo>
                    <a:pt x="0" y="29"/>
                  </a:lnTo>
                  <a:lnTo>
                    <a:pt x="5" y="15"/>
                  </a:lnTo>
                  <a:lnTo>
                    <a:pt x="10" y="0"/>
                  </a:lnTo>
                  <a:lnTo>
                    <a:pt x="19" y="5"/>
                  </a:lnTo>
                  <a:lnTo>
                    <a:pt x="17"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6" name="Freeform 295"/>
            <p:cNvSpPr>
              <a:spLocks/>
            </p:cNvSpPr>
            <p:nvPr/>
          </p:nvSpPr>
          <p:spPr bwMode="auto">
            <a:xfrm>
              <a:off x="3127" y="1963"/>
              <a:ext cx="102" cy="98"/>
            </a:xfrm>
            <a:custGeom>
              <a:avLst/>
              <a:gdLst/>
              <a:ahLst/>
              <a:cxnLst>
                <a:cxn ang="0">
                  <a:pos x="59" y="6"/>
                </a:cxn>
                <a:cxn ang="0">
                  <a:pos x="36" y="6"/>
                </a:cxn>
                <a:cxn ang="0">
                  <a:pos x="13" y="7"/>
                </a:cxn>
                <a:cxn ang="0">
                  <a:pos x="9" y="9"/>
                </a:cxn>
                <a:cxn ang="0">
                  <a:pos x="7" y="17"/>
                </a:cxn>
                <a:cxn ang="0">
                  <a:pos x="1" y="23"/>
                </a:cxn>
                <a:cxn ang="0">
                  <a:pos x="0" y="21"/>
                </a:cxn>
                <a:cxn ang="0">
                  <a:pos x="4" y="44"/>
                </a:cxn>
                <a:cxn ang="0">
                  <a:pos x="13" y="49"/>
                </a:cxn>
                <a:cxn ang="0">
                  <a:pos x="11" y="60"/>
                </a:cxn>
                <a:cxn ang="0">
                  <a:pos x="1" y="69"/>
                </a:cxn>
                <a:cxn ang="0">
                  <a:pos x="3" y="79"/>
                </a:cxn>
                <a:cxn ang="0">
                  <a:pos x="22" y="86"/>
                </a:cxn>
                <a:cxn ang="0">
                  <a:pos x="35" y="77"/>
                </a:cxn>
                <a:cxn ang="0">
                  <a:pos x="49" y="67"/>
                </a:cxn>
                <a:cxn ang="0">
                  <a:pos x="64" y="59"/>
                </a:cxn>
                <a:cxn ang="0">
                  <a:pos x="79" y="49"/>
                </a:cxn>
                <a:cxn ang="0">
                  <a:pos x="79" y="31"/>
                </a:cxn>
                <a:cxn ang="0">
                  <a:pos x="79" y="14"/>
                </a:cxn>
                <a:cxn ang="0">
                  <a:pos x="93" y="1"/>
                </a:cxn>
                <a:cxn ang="0">
                  <a:pos x="88" y="0"/>
                </a:cxn>
                <a:cxn ang="0">
                  <a:pos x="73" y="2"/>
                </a:cxn>
                <a:cxn ang="0">
                  <a:pos x="59" y="6"/>
                </a:cxn>
              </a:cxnLst>
              <a:rect l="0" t="0" r="r" b="b"/>
              <a:pathLst>
                <a:path w="93" h="86">
                  <a:moveTo>
                    <a:pt x="59" y="6"/>
                  </a:moveTo>
                  <a:lnTo>
                    <a:pt x="36" y="6"/>
                  </a:lnTo>
                  <a:lnTo>
                    <a:pt x="13" y="7"/>
                  </a:lnTo>
                  <a:lnTo>
                    <a:pt x="9" y="9"/>
                  </a:lnTo>
                  <a:lnTo>
                    <a:pt x="7" y="17"/>
                  </a:lnTo>
                  <a:lnTo>
                    <a:pt x="1" y="23"/>
                  </a:lnTo>
                  <a:lnTo>
                    <a:pt x="0" y="21"/>
                  </a:lnTo>
                  <a:lnTo>
                    <a:pt x="4" y="44"/>
                  </a:lnTo>
                  <a:lnTo>
                    <a:pt x="13" y="49"/>
                  </a:lnTo>
                  <a:lnTo>
                    <a:pt x="11" y="60"/>
                  </a:lnTo>
                  <a:lnTo>
                    <a:pt x="1" y="69"/>
                  </a:lnTo>
                  <a:lnTo>
                    <a:pt x="3" y="79"/>
                  </a:lnTo>
                  <a:lnTo>
                    <a:pt x="22" y="86"/>
                  </a:lnTo>
                  <a:lnTo>
                    <a:pt x="35" y="77"/>
                  </a:lnTo>
                  <a:lnTo>
                    <a:pt x="49" y="67"/>
                  </a:lnTo>
                  <a:lnTo>
                    <a:pt x="64" y="59"/>
                  </a:lnTo>
                  <a:lnTo>
                    <a:pt x="79" y="49"/>
                  </a:lnTo>
                  <a:lnTo>
                    <a:pt x="79" y="31"/>
                  </a:lnTo>
                  <a:lnTo>
                    <a:pt x="79" y="14"/>
                  </a:lnTo>
                  <a:lnTo>
                    <a:pt x="93" y="1"/>
                  </a:lnTo>
                  <a:lnTo>
                    <a:pt x="88" y="0"/>
                  </a:lnTo>
                  <a:lnTo>
                    <a:pt x="73" y="2"/>
                  </a:lnTo>
                  <a:lnTo>
                    <a:pt x="5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7" name="Freeform 296"/>
            <p:cNvSpPr>
              <a:spLocks/>
            </p:cNvSpPr>
            <p:nvPr/>
          </p:nvSpPr>
          <p:spPr bwMode="auto">
            <a:xfrm>
              <a:off x="3629" y="1874"/>
              <a:ext cx="138" cy="98"/>
            </a:xfrm>
            <a:custGeom>
              <a:avLst/>
              <a:gdLst/>
              <a:ahLst/>
              <a:cxnLst>
                <a:cxn ang="0">
                  <a:pos x="104" y="78"/>
                </a:cxn>
                <a:cxn ang="0">
                  <a:pos x="92" y="79"/>
                </a:cxn>
                <a:cxn ang="0">
                  <a:pos x="74" y="89"/>
                </a:cxn>
                <a:cxn ang="0">
                  <a:pos x="68" y="67"/>
                </a:cxn>
                <a:cxn ang="0">
                  <a:pos x="64" y="67"/>
                </a:cxn>
                <a:cxn ang="0">
                  <a:pos x="60" y="59"/>
                </a:cxn>
                <a:cxn ang="0">
                  <a:pos x="52" y="63"/>
                </a:cxn>
                <a:cxn ang="0">
                  <a:pos x="50" y="73"/>
                </a:cxn>
                <a:cxn ang="0">
                  <a:pos x="39" y="78"/>
                </a:cxn>
                <a:cxn ang="0">
                  <a:pos x="36" y="82"/>
                </a:cxn>
                <a:cxn ang="0">
                  <a:pos x="26" y="82"/>
                </a:cxn>
                <a:cxn ang="0">
                  <a:pos x="18" y="83"/>
                </a:cxn>
                <a:cxn ang="0">
                  <a:pos x="13" y="81"/>
                </a:cxn>
                <a:cxn ang="0">
                  <a:pos x="16" y="69"/>
                </a:cxn>
                <a:cxn ang="0">
                  <a:pos x="20" y="57"/>
                </a:cxn>
                <a:cxn ang="0">
                  <a:pos x="16" y="51"/>
                </a:cxn>
                <a:cxn ang="0">
                  <a:pos x="6" y="45"/>
                </a:cxn>
                <a:cxn ang="0">
                  <a:pos x="0" y="37"/>
                </a:cxn>
                <a:cxn ang="0">
                  <a:pos x="14" y="23"/>
                </a:cxn>
                <a:cxn ang="0">
                  <a:pos x="30" y="10"/>
                </a:cxn>
                <a:cxn ang="0">
                  <a:pos x="40" y="0"/>
                </a:cxn>
                <a:cxn ang="0">
                  <a:pos x="61" y="3"/>
                </a:cxn>
                <a:cxn ang="0">
                  <a:pos x="76" y="12"/>
                </a:cxn>
                <a:cxn ang="0">
                  <a:pos x="58" y="18"/>
                </a:cxn>
                <a:cxn ang="0">
                  <a:pos x="40" y="24"/>
                </a:cxn>
                <a:cxn ang="0">
                  <a:pos x="42" y="36"/>
                </a:cxn>
                <a:cxn ang="0">
                  <a:pos x="67" y="40"/>
                </a:cxn>
                <a:cxn ang="0">
                  <a:pos x="92" y="42"/>
                </a:cxn>
                <a:cxn ang="0">
                  <a:pos x="100" y="57"/>
                </a:cxn>
                <a:cxn ang="0">
                  <a:pos x="115" y="58"/>
                </a:cxn>
                <a:cxn ang="0">
                  <a:pos x="123" y="79"/>
                </a:cxn>
                <a:cxn ang="0">
                  <a:pos x="122" y="81"/>
                </a:cxn>
                <a:cxn ang="0">
                  <a:pos x="109" y="79"/>
                </a:cxn>
                <a:cxn ang="0">
                  <a:pos x="104" y="78"/>
                </a:cxn>
              </a:cxnLst>
              <a:rect l="0" t="0" r="r" b="b"/>
              <a:pathLst>
                <a:path w="123" h="89">
                  <a:moveTo>
                    <a:pt x="104" y="78"/>
                  </a:moveTo>
                  <a:lnTo>
                    <a:pt x="92" y="79"/>
                  </a:lnTo>
                  <a:lnTo>
                    <a:pt x="74" y="89"/>
                  </a:lnTo>
                  <a:lnTo>
                    <a:pt x="68" y="67"/>
                  </a:lnTo>
                  <a:lnTo>
                    <a:pt x="64" y="67"/>
                  </a:lnTo>
                  <a:lnTo>
                    <a:pt x="60" y="59"/>
                  </a:lnTo>
                  <a:lnTo>
                    <a:pt x="52" y="63"/>
                  </a:lnTo>
                  <a:lnTo>
                    <a:pt x="50" y="73"/>
                  </a:lnTo>
                  <a:lnTo>
                    <a:pt x="39" y="78"/>
                  </a:lnTo>
                  <a:lnTo>
                    <a:pt x="36" y="82"/>
                  </a:lnTo>
                  <a:lnTo>
                    <a:pt x="26" y="82"/>
                  </a:lnTo>
                  <a:lnTo>
                    <a:pt x="18" y="83"/>
                  </a:lnTo>
                  <a:lnTo>
                    <a:pt x="13" y="81"/>
                  </a:lnTo>
                  <a:lnTo>
                    <a:pt x="16" y="69"/>
                  </a:lnTo>
                  <a:lnTo>
                    <a:pt x="20" y="57"/>
                  </a:lnTo>
                  <a:lnTo>
                    <a:pt x="16" y="51"/>
                  </a:lnTo>
                  <a:lnTo>
                    <a:pt x="6" y="45"/>
                  </a:lnTo>
                  <a:lnTo>
                    <a:pt x="0" y="37"/>
                  </a:lnTo>
                  <a:lnTo>
                    <a:pt x="14" y="23"/>
                  </a:lnTo>
                  <a:lnTo>
                    <a:pt x="30" y="10"/>
                  </a:lnTo>
                  <a:lnTo>
                    <a:pt x="40" y="0"/>
                  </a:lnTo>
                  <a:lnTo>
                    <a:pt x="61" y="3"/>
                  </a:lnTo>
                  <a:lnTo>
                    <a:pt x="76" y="12"/>
                  </a:lnTo>
                  <a:lnTo>
                    <a:pt x="58" y="18"/>
                  </a:lnTo>
                  <a:lnTo>
                    <a:pt x="40" y="24"/>
                  </a:lnTo>
                  <a:lnTo>
                    <a:pt x="42" y="36"/>
                  </a:lnTo>
                  <a:lnTo>
                    <a:pt x="67" y="40"/>
                  </a:lnTo>
                  <a:lnTo>
                    <a:pt x="92" y="42"/>
                  </a:lnTo>
                  <a:lnTo>
                    <a:pt x="100" y="57"/>
                  </a:lnTo>
                  <a:lnTo>
                    <a:pt x="115" y="58"/>
                  </a:lnTo>
                  <a:lnTo>
                    <a:pt x="123" y="79"/>
                  </a:lnTo>
                  <a:lnTo>
                    <a:pt x="122" y="81"/>
                  </a:lnTo>
                  <a:lnTo>
                    <a:pt x="109" y="79"/>
                  </a:lnTo>
                  <a:lnTo>
                    <a:pt x="104" y="7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8" name="Freeform 297"/>
            <p:cNvSpPr>
              <a:spLocks/>
            </p:cNvSpPr>
            <p:nvPr/>
          </p:nvSpPr>
          <p:spPr bwMode="auto">
            <a:xfrm>
              <a:off x="3415" y="1790"/>
              <a:ext cx="258" cy="173"/>
            </a:xfrm>
            <a:custGeom>
              <a:avLst/>
              <a:gdLst/>
              <a:ahLst/>
              <a:cxnLst>
                <a:cxn ang="0">
                  <a:pos x="165" y="132"/>
                </a:cxn>
                <a:cxn ang="0">
                  <a:pos x="140" y="116"/>
                </a:cxn>
                <a:cxn ang="0">
                  <a:pos x="115" y="101"/>
                </a:cxn>
                <a:cxn ang="0">
                  <a:pos x="102" y="93"/>
                </a:cxn>
                <a:cxn ang="0">
                  <a:pos x="83" y="86"/>
                </a:cxn>
                <a:cxn ang="0">
                  <a:pos x="71" y="68"/>
                </a:cxn>
                <a:cxn ang="0">
                  <a:pos x="51" y="55"/>
                </a:cxn>
                <a:cxn ang="0">
                  <a:pos x="39" y="68"/>
                </a:cxn>
                <a:cxn ang="0">
                  <a:pos x="32" y="72"/>
                </a:cxn>
                <a:cxn ang="0">
                  <a:pos x="36" y="81"/>
                </a:cxn>
                <a:cxn ang="0">
                  <a:pos x="15" y="78"/>
                </a:cxn>
                <a:cxn ang="0">
                  <a:pos x="12" y="61"/>
                </a:cxn>
                <a:cxn ang="0">
                  <a:pos x="7" y="45"/>
                </a:cxn>
                <a:cxn ang="0">
                  <a:pos x="3" y="30"/>
                </a:cxn>
                <a:cxn ang="0">
                  <a:pos x="0" y="13"/>
                </a:cxn>
                <a:cxn ang="0">
                  <a:pos x="18" y="7"/>
                </a:cxn>
                <a:cxn ang="0">
                  <a:pos x="35" y="0"/>
                </a:cxn>
                <a:cxn ang="0">
                  <a:pos x="54" y="11"/>
                </a:cxn>
                <a:cxn ang="0">
                  <a:pos x="73" y="20"/>
                </a:cxn>
                <a:cxn ang="0">
                  <a:pos x="87" y="37"/>
                </a:cxn>
                <a:cxn ang="0">
                  <a:pos x="103" y="38"/>
                </a:cxn>
                <a:cxn ang="0">
                  <a:pos x="117" y="39"/>
                </a:cxn>
                <a:cxn ang="0">
                  <a:pos x="133" y="41"/>
                </a:cxn>
                <a:cxn ang="0">
                  <a:pos x="149" y="42"/>
                </a:cxn>
                <a:cxn ang="0">
                  <a:pos x="164" y="53"/>
                </a:cxn>
                <a:cxn ang="0">
                  <a:pos x="165" y="67"/>
                </a:cxn>
                <a:cxn ang="0">
                  <a:pos x="180" y="74"/>
                </a:cxn>
                <a:cxn ang="0">
                  <a:pos x="193" y="81"/>
                </a:cxn>
                <a:cxn ang="0">
                  <a:pos x="207" y="72"/>
                </a:cxn>
                <a:cxn ang="0">
                  <a:pos x="221" y="61"/>
                </a:cxn>
                <a:cxn ang="0">
                  <a:pos x="231" y="74"/>
                </a:cxn>
                <a:cxn ang="0">
                  <a:pos x="221" y="84"/>
                </a:cxn>
                <a:cxn ang="0">
                  <a:pos x="205" y="97"/>
                </a:cxn>
                <a:cxn ang="0">
                  <a:pos x="191" y="111"/>
                </a:cxn>
                <a:cxn ang="0">
                  <a:pos x="197" y="119"/>
                </a:cxn>
                <a:cxn ang="0">
                  <a:pos x="207" y="125"/>
                </a:cxn>
                <a:cxn ang="0">
                  <a:pos x="211" y="131"/>
                </a:cxn>
                <a:cxn ang="0">
                  <a:pos x="207" y="143"/>
                </a:cxn>
                <a:cxn ang="0">
                  <a:pos x="204" y="155"/>
                </a:cxn>
                <a:cxn ang="0">
                  <a:pos x="189" y="152"/>
                </a:cxn>
                <a:cxn ang="0">
                  <a:pos x="175" y="150"/>
                </a:cxn>
                <a:cxn ang="0">
                  <a:pos x="165" y="132"/>
                </a:cxn>
              </a:cxnLst>
              <a:rect l="0" t="0" r="r" b="b"/>
              <a:pathLst>
                <a:path w="231" h="155">
                  <a:moveTo>
                    <a:pt x="165" y="132"/>
                  </a:moveTo>
                  <a:lnTo>
                    <a:pt x="140" y="116"/>
                  </a:lnTo>
                  <a:lnTo>
                    <a:pt x="115" y="101"/>
                  </a:lnTo>
                  <a:lnTo>
                    <a:pt x="102" y="93"/>
                  </a:lnTo>
                  <a:lnTo>
                    <a:pt x="83" y="86"/>
                  </a:lnTo>
                  <a:lnTo>
                    <a:pt x="71" y="68"/>
                  </a:lnTo>
                  <a:lnTo>
                    <a:pt x="51" y="55"/>
                  </a:lnTo>
                  <a:lnTo>
                    <a:pt x="39" y="68"/>
                  </a:lnTo>
                  <a:lnTo>
                    <a:pt x="32" y="72"/>
                  </a:lnTo>
                  <a:lnTo>
                    <a:pt x="36" y="81"/>
                  </a:lnTo>
                  <a:lnTo>
                    <a:pt x="15" y="78"/>
                  </a:lnTo>
                  <a:lnTo>
                    <a:pt x="12" y="61"/>
                  </a:lnTo>
                  <a:lnTo>
                    <a:pt x="7" y="45"/>
                  </a:lnTo>
                  <a:lnTo>
                    <a:pt x="3" y="30"/>
                  </a:lnTo>
                  <a:lnTo>
                    <a:pt x="0" y="13"/>
                  </a:lnTo>
                  <a:lnTo>
                    <a:pt x="18" y="7"/>
                  </a:lnTo>
                  <a:lnTo>
                    <a:pt x="35" y="0"/>
                  </a:lnTo>
                  <a:lnTo>
                    <a:pt x="54" y="11"/>
                  </a:lnTo>
                  <a:lnTo>
                    <a:pt x="73" y="20"/>
                  </a:lnTo>
                  <a:lnTo>
                    <a:pt x="87" y="37"/>
                  </a:lnTo>
                  <a:lnTo>
                    <a:pt x="103" y="38"/>
                  </a:lnTo>
                  <a:lnTo>
                    <a:pt x="117" y="39"/>
                  </a:lnTo>
                  <a:lnTo>
                    <a:pt x="133" y="41"/>
                  </a:lnTo>
                  <a:lnTo>
                    <a:pt x="149" y="42"/>
                  </a:lnTo>
                  <a:lnTo>
                    <a:pt x="164" y="53"/>
                  </a:lnTo>
                  <a:lnTo>
                    <a:pt x="165" y="67"/>
                  </a:lnTo>
                  <a:lnTo>
                    <a:pt x="180" y="74"/>
                  </a:lnTo>
                  <a:lnTo>
                    <a:pt x="193" y="81"/>
                  </a:lnTo>
                  <a:lnTo>
                    <a:pt x="207" y="72"/>
                  </a:lnTo>
                  <a:lnTo>
                    <a:pt x="221" y="61"/>
                  </a:lnTo>
                  <a:lnTo>
                    <a:pt x="231" y="74"/>
                  </a:lnTo>
                  <a:lnTo>
                    <a:pt x="221" y="84"/>
                  </a:lnTo>
                  <a:lnTo>
                    <a:pt x="205" y="97"/>
                  </a:lnTo>
                  <a:lnTo>
                    <a:pt x="191" y="111"/>
                  </a:lnTo>
                  <a:lnTo>
                    <a:pt x="197" y="119"/>
                  </a:lnTo>
                  <a:lnTo>
                    <a:pt x="207" y="125"/>
                  </a:lnTo>
                  <a:lnTo>
                    <a:pt x="211" y="131"/>
                  </a:lnTo>
                  <a:lnTo>
                    <a:pt x="207" y="143"/>
                  </a:lnTo>
                  <a:lnTo>
                    <a:pt x="204" y="155"/>
                  </a:lnTo>
                  <a:lnTo>
                    <a:pt x="189" y="152"/>
                  </a:lnTo>
                  <a:lnTo>
                    <a:pt x="175" y="150"/>
                  </a:lnTo>
                  <a:lnTo>
                    <a:pt x="165" y="1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9" name="Freeform 298"/>
            <p:cNvSpPr>
              <a:spLocks/>
            </p:cNvSpPr>
            <p:nvPr/>
          </p:nvSpPr>
          <p:spPr bwMode="auto">
            <a:xfrm>
              <a:off x="2860" y="1861"/>
              <a:ext cx="40" cy="29"/>
            </a:xfrm>
            <a:custGeom>
              <a:avLst/>
              <a:gdLst/>
              <a:ahLst/>
              <a:cxnLst>
                <a:cxn ang="0">
                  <a:pos x="10" y="27"/>
                </a:cxn>
                <a:cxn ang="0">
                  <a:pos x="0" y="9"/>
                </a:cxn>
                <a:cxn ang="0">
                  <a:pos x="3" y="8"/>
                </a:cxn>
                <a:cxn ang="0">
                  <a:pos x="3" y="5"/>
                </a:cxn>
                <a:cxn ang="0">
                  <a:pos x="8" y="4"/>
                </a:cxn>
                <a:cxn ang="0">
                  <a:pos x="11" y="5"/>
                </a:cxn>
                <a:cxn ang="0">
                  <a:pos x="14" y="2"/>
                </a:cxn>
                <a:cxn ang="0">
                  <a:pos x="16" y="3"/>
                </a:cxn>
                <a:cxn ang="0">
                  <a:pos x="18" y="3"/>
                </a:cxn>
                <a:cxn ang="0">
                  <a:pos x="21" y="2"/>
                </a:cxn>
                <a:cxn ang="0">
                  <a:pos x="26" y="0"/>
                </a:cxn>
                <a:cxn ang="0">
                  <a:pos x="29" y="4"/>
                </a:cxn>
                <a:cxn ang="0">
                  <a:pos x="32" y="3"/>
                </a:cxn>
                <a:cxn ang="0">
                  <a:pos x="34" y="5"/>
                </a:cxn>
                <a:cxn ang="0">
                  <a:pos x="36" y="18"/>
                </a:cxn>
                <a:cxn ang="0">
                  <a:pos x="10" y="27"/>
                </a:cxn>
              </a:cxnLst>
              <a:rect l="0" t="0" r="r" b="b"/>
              <a:pathLst>
                <a:path w="36" h="27">
                  <a:moveTo>
                    <a:pt x="10" y="27"/>
                  </a:moveTo>
                  <a:lnTo>
                    <a:pt x="0" y="9"/>
                  </a:lnTo>
                  <a:lnTo>
                    <a:pt x="3" y="8"/>
                  </a:lnTo>
                  <a:lnTo>
                    <a:pt x="3" y="5"/>
                  </a:lnTo>
                  <a:lnTo>
                    <a:pt x="8" y="4"/>
                  </a:lnTo>
                  <a:lnTo>
                    <a:pt x="11" y="5"/>
                  </a:lnTo>
                  <a:lnTo>
                    <a:pt x="14" y="2"/>
                  </a:lnTo>
                  <a:lnTo>
                    <a:pt x="16" y="3"/>
                  </a:lnTo>
                  <a:lnTo>
                    <a:pt x="18" y="3"/>
                  </a:lnTo>
                  <a:lnTo>
                    <a:pt x="21" y="2"/>
                  </a:lnTo>
                  <a:lnTo>
                    <a:pt x="26" y="0"/>
                  </a:lnTo>
                  <a:lnTo>
                    <a:pt x="29" y="4"/>
                  </a:lnTo>
                  <a:lnTo>
                    <a:pt x="32" y="3"/>
                  </a:lnTo>
                  <a:lnTo>
                    <a:pt x="34" y="5"/>
                  </a:lnTo>
                  <a:lnTo>
                    <a:pt x="36" y="18"/>
                  </a:lnTo>
                  <a:lnTo>
                    <a:pt x="1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0" name="Freeform 299"/>
            <p:cNvSpPr>
              <a:spLocks/>
            </p:cNvSpPr>
            <p:nvPr/>
          </p:nvSpPr>
          <p:spPr bwMode="auto">
            <a:xfrm>
              <a:off x="2889" y="1823"/>
              <a:ext cx="98" cy="58"/>
            </a:xfrm>
            <a:custGeom>
              <a:avLst/>
              <a:gdLst/>
              <a:ahLst/>
              <a:cxnLst>
                <a:cxn ang="0">
                  <a:pos x="5" y="5"/>
                </a:cxn>
                <a:cxn ang="0">
                  <a:pos x="1" y="0"/>
                </a:cxn>
                <a:cxn ang="0">
                  <a:pos x="0" y="11"/>
                </a:cxn>
                <a:cxn ang="0">
                  <a:pos x="6" y="20"/>
                </a:cxn>
                <a:cxn ang="0">
                  <a:pos x="0" y="30"/>
                </a:cxn>
                <a:cxn ang="0">
                  <a:pos x="5" y="36"/>
                </a:cxn>
                <a:cxn ang="0">
                  <a:pos x="7" y="38"/>
                </a:cxn>
                <a:cxn ang="0">
                  <a:pos x="9" y="51"/>
                </a:cxn>
                <a:cxn ang="0">
                  <a:pos x="25" y="49"/>
                </a:cxn>
                <a:cxn ang="0">
                  <a:pos x="50" y="51"/>
                </a:cxn>
                <a:cxn ang="0">
                  <a:pos x="56" y="47"/>
                </a:cxn>
                <a:cxn ang="0">
                  <a:pos x="59" y="44"/>
                </a:cxn>
                <a:cxn ang="0">
                  <a:pos x="61" y="41"/>
                </a:cxn>
                <a:cxn ang="0">
                  <a:pos x="83" y="39"/>
                </a:cxn>
                <a:cxn ang="0">
                  <a:pos x="77" y="32"/>
                </a:cxn>
                <a:cxn ang="0">
                  <a:pos x="79" y="25"/>
                </a:cxn>
                <a:cxn ang="0">
                  <a:pos x="83" y="14"/>
                </a:cxn>
                <a:cxn ang="0">
                  <a:pos x="86" y="8"/>
                </a:cxn>
                <a:cxn ang="0">
                  <a:pos x="59" y="2"/>
                </a:cxn>
                <a:cxn ang="0">
                  <a:pos x="37" y="9"/>
                </a:cxn>
                <a:cxn ang="0">
                  <a:pos x="20" y="7"/>
                </a:cxn>
                <a:cxn ang="0">
                  <a:pos x="5" y="5"/>
                </a:cxn>
              </a:cxnLst>
              <a:rect l="0" t="0" r="r" b="b"/>
              <a:pathLst>
                <a:path w="86" h="51">
                  <a:moveTo>
                    <a:pt x="5" y="5"/>
                  </a:moveTo>
                  <a:lnTo>
                    <a:pt x="1" y="0"/>
                  </a:lnTo>
                  <a:lnTo>
                    <a:pt x="0" y="11"/>
                  </a:lnTo>
                  <a:lnTo>
                    <a:pt x="6" y="20"/>
                  </a:lnTo>
                  <a:lnTo>
                    <a:pt x="0" y="30"/>
                  </a:lnTo>
                  <a:lnTo>
                    <a:pt x="5" y="36"/>
                  </a:lnTo>
                  <a:lnTo>
                    <a:pt x="7" y="38"/>
                  </a:lnTo>
                  <a:lnTo>
                    <a:pt x="9" y="51"/>
                  </a:lnTo>
                  <a:lnTo>
                    <a:pt x="25" y="49"/>
                  </a:lnTo>
                  <a:lnTo>
                    <a:pt x="50" y="51"/>
                  </a:lnTo>
                  <a:lnTo>
                    <a:pt x="56" y="47"/>
                  </a:lnTo>
                  <a:lnTo>
                    <a:pt x="59" y="44"/>
                  </a:lnTo>
                  <a:lnTo>
                    <a:pt x="61" y="41"/>
                  </a:lnTo>
                  <a:lnTo>
                    <a:pt x="83" y="39"/>
                  </a:lnTo>
                  <a:lnTo>
                    <a:pt x="77" y="32"/>
                  </a:lnTo>
                  <a:lnTo>
                    <a:pt x="79" y="25"/>
                  </a:lnTo>
                  <a:lnTo>
                    <a:pt x="83" y="14"/>
                  </a:lnTo>
                  <a:lnTo>
                    <a:pt x="86" y="8"/>
                  </a:lnTo>
                  <a:lnTo>
                    <a:pt x="59" y="2"/>
                  </a:lnTo>
                  <a:lnTo>
                    <a:pt x="37" y="9"/>
                  </a:lnTo>
                  <a:lnTo>
                    <a:pt x="20" y="7"/>
                  </a:lnTo>
                  <a:lnTo>
                    <a:pt x="5"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1" name="Freeform 300"/>
            <p:cNvSpPr>
              <a:spLocks/>
            </p:cNvSpPr>
            <p:nvPr/>
          </p:nvSpPr>
          <p:spPr bwMode="auto">
            <a:xfrm>
              <a:off x="2842" y="1856"/>
              <a:ext cx="29" cy="58"/>
            </a:xfrm>
            <a:custGeom>
              <a:avLst/>
              <a:gdLst/>
              <a:ahLst/>
              <a:cxnLst>
                <a:cxn ang="0">
                  <a:pos x="0" y="12"/>
                </a:cxn>
                <a:cxn ang="0">
                  <a:pos x="2" y="36"/>
                </a:cxn>
                <a:cxn ang="0">
                  <a:pos x="13" y="50"/>
                </a:cxn>
                <a:cxn ang="0">
                  <a:pos x="17" y="45"/>
                </a:cxn>
                <a:cxn ang="0">
                  <a:pos x="25" y="31"/>
                </a:cxn>
                <a:cxn ang="0">
                  <a:pos x="25" y="30"/>
                </a:cxn>
                <a:cxn ang="0">
                  <a:pos x="15" y="12"/>
                </a:cxn>
                <a:cxn ang="0">
                  <a:pos x="11" y="2"/>
                </a:cxn>
                <a:cxn ang="0">
                  <a:pos x="2" y="0"/>
                </a:cxn>
                <a:cxn ang="0">
                  <a:pos x="0" y="12"/>
                </a:cxn>
              </a:cxnLst>
              <a:rect l="0" t="0" r="r" b="b"/>
              <a:pathLst>
                <a:path w="25" h="50">
                  <a:moveTo>
                    <a:pt x="0" y="12"/>
                  </a:moveTo>
                  <a:lnTo>
                    <a:pt x="2" y="36"/>
                  </a:lnTo>
                  <a:lnTo>
                    <a:pt x="13" y="50"/>
                  </a:lnTo>
                  <a:lnTo>
                    <a:pt x="17" y="45"/>
                  </a:lnTo>
                  <a:lnTo>
                    <a:pt x="25" y="31"/>
                  </a:lnTo>
                  <a:lnTo>
                    <a:pt x="25" y="30"/>
                  </a:lnTo>
                  <a:lnTo>
                    <a:pt x="15" y="12"/>
                  </a:lnTo>
                  <a:lnTo>
                    <a:pt x="11" y="2"/>
                  </a:lnTo>
                  <a:lnTo>
                    <a:pt x="2" y="0"/>
                  </a:lnTo>
                  <a:lnTo>
                    <a:pt x="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2" name="Freeform 301"/>
            <p:cNvSpPr>
              <a:spLocks/>
            </p:cNvSpPr>
            <p:nvPr/>
          </p:nvSpPr>
          <p:spPr bwMode="auto">
            <a:xfrm>
              <a:off x="3220" y="1876"/>
              <a:ext cx="75" cy="51"/>
            </a:xfrm>
            <a:custGeom>
              <a:avLst/>
              <a:gdLst/>
              <a:ahLst/>
              <a:cxnLst>
                <a:cxn ang="0">
                  <a:pos x="10" y="7"/>
                </a:cxn>
                <a:cxn ang="0">
                  <a:pos x="0" y="0"/>
                </a:cxn>
                <a:cxn ang="0">
                  <a:pos x="22" y="0"/>
                </a:cxn>
                <a:cxn ang="0">
                  <a:pos x="44" y="1"/>
                </a:cxn>
                <a:cxn ang="0">
                  <a:pos x="58" y="2"/>
                </a:cxn>
                <a:cxn ang="0">
                  <a:pos x="57" y="19"/>
                </a:cxn>
                <a:cxn ang="0">
                  <a:pos x="63" y="21"/>
                </a:cxn>
                <a:cxn ang="0">
                  <a:pos x="58" y="27"/>
                </a:cxn>
                <a:cxn ang="0">
                  <a:pos x="69" y="43"/>
                </a:cxn>
                <a:cxn ang="0">
                  <a:pos x="63" y="45"/>
                </a:cxn>
                <a:cxn ang="0">
                  <a:pos x="58" y="42"/>
                </a:cxn>
                <a:cxn ang="0">
                  <a:pos x="57" y="39"/>
                </a:cxn>
                <a:cxn ang="0">
                  <a:pos x="53" y="37"/>
                </a:cxn>
                <a:cxn ang="0">
                  <a:pos x="50" y="37"/>
                </a:cxn>
                <a:cxn ang="0">
                  <a:pos x="46" y="36"/>
                </a:cxn>
                <a:cxn ang="0">
                  <a:pos x="41" y="33"/>
                </a:cxn>
                <a:cxn ang="0">
                  <a:pos x="35" y="33"/>
                </a:cxn>
                <a:cxn ang="0">
                  <a:pos x="22" y="27"/>
                </a:cxn>
                <a:cxn ang="0">
                  <a:pos x="16" y="18"/>
                </a:cxn>
                <a:cxn ang="0">
                  <a:pos x="10" y="7"/>
                </a:cxn>
              </a:cxnLst>
              <a:rect l="0" t="0" r="r" b="b"/>
              <a:pathLst>
                <a:path w="69" h="45">
                  <a:moveTo>
                    <a:pt x="10" y="7"/>
                  </a:moveTo>
                  <a:lnTo>
                    <a:pt x="0" y="0"/>
                  </a:lnTo>
                  <a:lnTo>
                    <a:pt x="22" y="0"/>
                  </a:lnTo>
                  <a:lnTo>
                    <a:pt x="44" y="1"/>
                  </a:lnTo>
                  <a:lnTo>
                    <a:pt x="58" y="2"/>
                  </a:lnTo>
                  <a:lnTo>
                    <a:pt x="57" y="19"/>
                  </a:lnTo>
                  <a:lnTo>
                    <a:pt x="63" y="21"/>
                  </a:lnTo>
                  <a:lnTo>
                    <a:pt x="58" y="27"/>
                  </a:lnTo>
                  <a:lnTo>
                    <a:pt x="69" y="43"/>
                  </a:lnTo>
                  <a:lnTo>
                    <a:pt x="63" y="45"/>
                  </a:lnTo>
                  <a:lnTo>
                    <a:pt x="58" y="42"/>
                  </a:lnTo>
                  <a:lnTo>
                    <a:pt x="57" y="39"/>
                  </a:lnTo>
                  <a:lnTo>
                    <a:pt x="53" y="37"/>
                  </a:lnTo>
                  <a:lnTo>
                    <a:pt x="50" y="37"/>
                  </a:lnTo>
                  <a:lnTo>
                    <a:pt x="46" y="36"/>
                  </a:lnTo>
                  <a:lnTo>
                    <a:pt x="41" y="33"/>
                  </a:lnTo>
                  <a:lnTo>
                    <a:pt x="35" y="33"/>
                  </a:lnTo>
                  <a:lnTo>
                    <a:pt x="22" y="27"/>
                  </a:lnTo>
                  <a:lnTo>
                    <a:pt x="16" y="18"/>
                  </a:lnTo>
                  <a:lnTo>
                    <a:pt x="10"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3" name="Freeform 302"/>
            <p:cNvSpPr>
              <a:spLocks/>
            </p:cNvSpPr>
            <p:nvPr/>
          </p:nvSpPr>
          <p:spPr bwMode="auto">
            <a:xfrm>
              <a:off x="3282" y="1870"/>
              <a:ext cx="67" cy="69"/>
            </a:xfrm>
            <a:custGeom>
              <a:avLst/>
              <a:gdLst/>
              <a:ahLst/>
              <a:cxnLst>
                <a:cxn ang="0">
                  <a:pos x="12" y="49"/>
                </a:cxn>
                <a:cxn ang="0">
                  <a:pos x="1" y="33"/>
                </a:cxn>
                <a:cxn ang="0">
                  <a:pos x="6" y="27"/>
                </a:cxn>
                <a:cxn ang="0">
                  <a:pos x="0" y="25"/>
                </a:cxn>
                <a:cxn ang="0">
                  <a:pos x="1" y="8"/>
                </a:cxn>
                <a:cxn ang="0">
                  <a:pos x="6" y="0"/>
                </a:cxn>
                <a:cxn ang="0">
                  <a:pos x="30" y="4"/>
                </a:cxn>
                <a:cxn ang="0">
                  <a:pos x="38" y="15"/>
                </a:cxn>
                <a:cxn ang="0">
                  <a:pos x="59" y="27"/>
                </a:cxn>
                <a:cxn ang="0">
                  <a:pos x="49" y="30"/>
                </a:cxn>
                <a:cxn ang="0">
                  <a:pos x="44" y="50"/>
                </a:cxn>
                <a:cxn ang="0">
                  <a:pos x="43" y="62"/>
                </a:cxn>
                <a:cxn ang="0">
                  <a:pos x="30" y="52"/>
                </a:cxn>
                <a:cxn ang="0">
                  <a:pos x="31" y="49"/>
                </a:cxn>
                <a:cxn ang="0">
                  <a:pos x="26" y="39"/>
                </a:cxn>
                <a:cxn ang="0">
                  <a:pos x="12" y="49"/>
                </a:cxn>
              </a:cxnLst>
              <a:rect l="0" t="0" r="r" b="b"/>
              <a:pathLst>
                <a:path w="59" h="62">
                  <a:moveTo>
                    <a:pt x="12" y="49"/>
                  </a:moveTo>
                  <a:lnTo>
                    <a:pt x="1" y="33"/>
                  </a:lnTo>
                  <a:lnTo>
                    <a:pt x="6" y="27"/>
                  </a:lnTo>
                  <a:lnTo>
                    <a:pt x="0" y="25"/>
                  </a:lnTo>
                  <a:lnTo>
                    <a:pt x="1" y="8"/>
                  </a:lnTo>
                  <a:lnTo>
                    <a:pt x="6" y="0"/>
                  </a:lnTo>
                  <a:lnTo>
                    <a:pt x="30" y="4"/>
                  </a:lnTo>
                  <a:lnTo>
                    <a:pt x="38" y="15"/>
                  </a:lnTo>
                  <a:lnTo>
                    <a:pt x="59" y="27"/>
                  </a:lnTo>
                  <a:lnTo>
                    <a:pt x="49" y="30"/>
                  </a:lnTo>
                  <a:lnTo>
                    <a:pt x="44" y="50"/>
                  </a:lnTo>
                  <a:lnTo>
                    <a:pt x="43" y="62"/>
                  </a:lnTo>
                  <a:lnTo>
                    <a:pt x="30" y="52"/>
                  </a:lnTo>
                  <a:lnTo>
                    <a:pt x="31" y="49"/>
                  </a:lnTo>
                  <a:lnTo>
                    <a:pt x="26" y="39"/>
                  </a:lnTo>
                  <a:lnTo>
                    <a:pt x="12"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4" name="Freeform 303"/>
            <p:cNvSpPr>
              <a:spLocks/>
            </p:cNvSpPr>
            <p:nvPr/>
          </p:nvSpPr>
          <p:spPr bwMode="auto">
            <a:xfrm>
              <a:off x="3260" y="1914"/>
              <a:ext cx="29" cy="16"/>
            </a:xfrm>
            <a:custGeom>
              <a:avLst/>
              <a:gdLst/>
              <a:ahLst/>
              <a:cxnLst>
                <a:cxn ang="0">
                  <a:pos x="28" y="12"/>
                </a:cxn>
                <a:cxn ang="0">
                  <a:pos x="22" y="15"/>
                </a:cxn>
                <a:cxn ang="0">
                  <a:pos x="4" y="5"/>
                </a:cxn>
                <a:cxn ang="0">
                  <a:pos x="1" y="1"/>
                </a:cxn>
                <a:cxn ang="0">
                  <a:pos x="0" y="0"/>
                </a:cxn>
                <a:cxn ang="0">
                  <a:pos x="6" y="0"/>
                </a:cxn>
                <a:cxn ang="0">
                  <a:pos x="11" y="3"/>
                </a:cxn>
                <a:cxn ang="0">
                  <a:pos x="15" y="4"/>
                </a:cxn>
                <a:cxn ang="0">
                  <a:pos x="18" y="4"/>
                </a:cxn>
                <a:cxn ang="0">
                  <a:pos x="22" y="6"/>
                </a:cxn>
                <a:cxn ang="0">
                  <a:pos x="23" y="9"/>
                </a:cxn>
                <a:cxn ang="0">
                  <a:pos x="28" y="12"/>
                </a:cxn>
              </a:cxnLst>
              <a:rect l="0" t="0" r="r" b="b"/>
              <a:pathLst>
                <a:path w="28" h="15">
                  <a:moveTo>
                    <a:pt x="28" y="12"/>
                  </a:moveTo>
                  <a:lnTo>
                    <a:pt x="22" y="15"/>
                  </a:lnTo>
                  <a:lnTo>
                    <a:pt x="4" y="5"/>
                  </a:lnTo>
                  <a:lnTo>
                    <a:pt x="1" y="1"/>
                  </a:lnTo>
                  <a:lnTo>
                    <a:pt x="0" y="0"/>
                  </a:lnTo>
                  <a:lnTo>
                    <a:pt x="6" y="0"/>
                  </a:lnTo>
                  <a:lnTo>
                    <a:pt x="11" y="3"/>
                  </a:lnTo>
                  <a:lnTo>
                    <a:pt x="15" y="4"/>
                  </a:lnTo>
                  <a:lnTo>
                    <a:pt x="18" y="4"/>
                  </a:lnTo>
                  <a:lnTo>
                    <a:pt x="22" y="6"/>
                  </a:lnTo>
                  <a:lnTo>
                    <a:pt x="23" y="9"/>
                  </a:lnTo>
                  <a:lnTo>
                    <a:pt x="2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5" name="Freeform 304"/>
            <p:cNvSpPr>
              <a:spLocks/>
            </p:cNvSpPr>
            <p:nvPr/>
          </p:nvSpPr>
          <p:spPr bwMode="auto">
            <a:xfrm>
              <a:off x="2858" y="1874"/>
              <a:ext cx="102" cy="102"/>
            </a:xfrm>
            <a:custGeom>
              <a:avLst/>
              <a:gdLst/>
              <a:ahLst/>
              <a:cxnLst>
                <a:cxn ang="0">
                  <a:pos x="17" y="49"/>
                </a:cxn>
                <a:cxn ang="0">
                  <a:pos x="7" y="45"/>
                </a:cxn>
                <a:cxn ang="0">
                  <a:pos x="0" y="36"/>
                </a:cxn>
                <a:cxn ang="0">
                  <a:pos x="4" y="31"/>
                </a:cxn>
                <a:cxn ang="0">
                  <a:pos x="12" y="17"/>
                </a:cxn>
                <a:cxn ang="0">
                  <a:pos x="12" y="16"/>
                </a:cxn>
                <a:cxn ang="0">
                  <a:pos x="38" y="7"/>
                </a:cxn>
                <a:cxn ang="0">
                  <a:pos x="54" y="5"/>
                </a:cxn>
                <a:cxn ang="0">
                  <a:pos x="79" y="7"/>
                </a:cxn>
                <a:cxn ang="0">
                  <a:pos x="85" y="3"/>
                </a:cxn>
                <a:cxn ang="0">
                  <a:pos x="88" y="0"/>
                </a:cxn>
                <a:cxn ang="0">
                  <a:pos x="91" y="7"/>
                </a:cxn>
                <a:cxn ang="0">
                  <a:pos x="85" y="18"/>
                </a:cxn>
                <a:cxn ang="0">
                  <a:pos x="68" y="15"/>
                </a:cxn>
                <a:cxn ang="0">
                  <a:pos x="53" y="19"/>
                </a:cxn>
                <a:cxn ang="0">
                  <a:pos x="60" y="27"/>
                </a:cxn>
                <a:cxn ang="0">
                  <a:pos x="53" y="28"/>
                </a:cxn>
                <a:cxn ang="0">
                  <a:pos x="54" y="30"/>
                </a:cxn>
                <a:cxn ang="0">
                  <a:pos x="48" y="29"/>
                </a:cxn>
                <a:cxn ang="0">
                  <a:pos x="52" y="33"/>
                </a:cxn>
                <a:cxn ang="0">
                  <a:pos x="41" y="22"/>
                </a:cxn>
                <a:cxn ang="0">
                  <a:pos x="37" y="24"/>
                </a:cxn>
                <a:cxn ang="0">
                  <a:pos x="43" y="40"/>
                </a:cxn>
                <a:cxn ang="0">
                  <a:pos x="47" y="47"/>
                </a:cxn>
                <a:cxn ang="0">
                  <a:pos x="41" y="45"/>
                </a:cxn>
                <a:cxn ang="0">
                  <a:pos x="43" y="51"/>
                </a:cxn>
                <a:cxn ang="0">
                  <a:pos x="40" y="52"/>
                </a:cxn>
                <a:cxn ang="0">
                  <a:pos x="60" y="65"/>
                </a:cxn>
                <a:cxn ang="0">
                  <a:pos x="59" y="71"/>
                </a:cxn>
                <a:cxn ang="0">
                  <a:pos x="52" y="67"/>
                </a:cxn>
                <a:cxn ang="0">
                  <a:pos x="48" y="70"/>
                </a:cxn>
                <a:cxn ang="0">
                  <a:pos x="52" y="77"/>
                </a:cxn>
                <a:cxn ang="0">
                  <a:pos x="43" y="77"/>
                </a:cxn>
                <a:cxn ang="0">
                  <a:pos x="48" y="94"/>
                </a:cxn>
                <a:cxn ang="0">
                  <a:pos x="41" y="90"/>
                </a:cxn>
                <a:cxn ang="0">
                  <a:pos x="38" y="94"/>
                </a:cxn>
                <a:cxn ang="0">
                  <a:pos x="31" y="85"/>
                </a:cxn>
                <a:cxn ang="0">
                  <a:pos x="29" y="89"/>
                </a:cxn>
                <a:cxn ang="0">
                  <a:pos x="22" y="73"/>
                </a:cxn>
                <a:cxn ang="0">
                  <a:pos x="20" y="66"/>
                </a:cxn>
                <a:cxn ang="0">
                  <a:pos x="32" y="63"/>
                </a:cxn>
                <a:cxn ang="0">
                  <a:pos x="46" y="66"/>
                </a:cxn>
                <a:cxn ang="0">
                  <a:pos x="46" y="63"/>
                </a:cxn>
                <a:cxn ang="0">
                  <a:pos x="37" y="59"/>
                </a:cxn>
                <a:cxn ang="0">
                  <a:pos x="20" y="58"/>
                </a:cxn>
                <a:cxn ang="0">
                  <a:pos x="17" y="59"/>
                </a:cxn>
                <a:cxn ang="0">
                  <a:pos x="13" y="51"/>
                </a:cxn>
                <a:cxn ang="0">
                  <a:pos x="17" y="49"/>
                </a:cxn>
              </a:cxnLst>
              <a:rect l="0" t="0" r="r" b="b"/>
              <a:pathLst>
                <a:path w="91" h="94">
                  <a:moveTo>
                    <a:pt x="17" y="49"/>
                  </a:moveTo>
                  <a:lnTo>
                    <a:pt x="7" y="45"/>
                  </a:lnTo>
                  <a:lnTo>
                    <a:pt x="0" y="36"/>
                  </a:lnTo>
                  <a:lnTo>
                    <a:pt x="4" y="31"/>
                  </a:lnTo>
                  <a:lnTo>
                    <a:pt x="12" y="17"/>
                  </a:lnTo>
                  <a:lnTo>
                    <a:pt x="12" y="16"/>
                  </a:lnTo>
                  <a:lnTo>
                    <a:pt x="38" y="7"/>
                  </a:lnTo>
                  <a:lnTo>
                    <a:pt x="54" y="5"/>
                  </a:lnTo>
                  <a:lnTo>
                    <a:pt x="79" y="7"/>
                  </a:lnTo>
                  <a:lnTo>
                    <a:pt x="85" y="3"/>
                  </a:lnTo>
                  <a:lnTo>
                    <a:pt x="88" y="0"/>
                  </a:lnTo>
                  <a:lnTo>
                    <a:pt x="91" y="7"/>
                  </a:lnTo>
                  <a:lnTo>
                    <a:pt x="85" y="18"/>
                  </a:lnTo>
                  <a:lnTo>
                    <a:pt x="68" y="15"/>
                  </a:lnTo>
                  <a:lnTo>
                    <a:pt x="53" y="19"/>
                  </a:lnTo>
                  <a:lnTo>
                    <a:pt x="60" y="27"/>
                  </a:lnTo>
                  <a:lnTo>
                    <a:pt x="53" y="28"/>
                  </a:lnTo>
                  <a:lnTo>
                    <a:pt x="54" y="30"/>
                  </a:lnTo>
                  <a:lnTo>
                    <a:pt x="48" y="29"/>
                  </a:lnTo>
                  <a:lnTo>
                    <a:pt x="52" y="33"/>
                  </a:lnTo>
                  <a:lnTo>
                    <a:pt x="41" y="22"/>
                  </a:lnTo>
                  <a:lnTo>
                    <a:pt x="37" y="24"/>
                  </a:lnTo>
                  <a:lnTo>
                    <a:pt x="43" y="40"/>
                  </a:lnTo>
                  <a:lnTo>
                    <a:pt x="47" y="47"/>
                  </a:lnTo>
                  <a:lnTo>
                    <a:pt x="41" y="45"/>
                  </a:lnTo>
                  <a:lnTo>
                    <a:pt x="43" y="51"/>
                  </a:lnTo>
                  <a:lnTo>
                    <a:pt x="40" y="52"/>
                  </a:lnTo>
                  <a:lnTo>
                    <a:pt x="60" y="65"/>
                  </a:lnTo>
                  <a:lnTo>
                    <a:pt x="59" y="71"/>
                  </a:lnTo>
                  <a:lnTo>
                    <a:pt x="52" y="67"/>
                  </a:lnTo>
                  <a:lnTo>
                    <a:pt x="48" y="70"/>
                  </a:lnTo>
                  <a:lnTo>
                    <a:pt x="52" y="77"/>
                  </a:lnTo>
                  <a:lnTo>
                    <a:pt x="43" y="77"/>
                  </a:lnTo>
                  <a:lnTo>
                    <a:pt x="48" y="94"/>
                  </a:lnTo>
                  <a:lnTo>
                    <a:pt x="41" y="90"/>
                  </a:lnTo>
                  <a:lnTo>
                    <a:pt x="38" y="94"/>
                  </a:lnTo>
                  <a:lnTo>
                    <a:pt x="31" y="85"/>
                  </a:lnTo>
                  <a:lnTo>
                    <a:pt x="29" y="89"/>
                  </a:lnTo>
                  <a:lnTo>
                    <a:pt x="22" y="73"/>
                  </a:lnTo>
                  <a:lnTo>
                    <a:pt x="20" y="66"/>
                  </a:lnTo>
                  <a:lnTo>
                    <a:pt x="32" y="63"/>
                  </a:lnTo>
                  <a:lnTo>
                    <a:pt x="46" y="66"/>
                  </a:lnTo>
                  <a:lnTo>
                    <a:pt x="46" y="63"/>
                  </a:lnTo>
                  <a:lnTo>
                    <a:pt x="37" y="59"/>
                  </a:lnTo>
                  <a:lnTo>
                    <a:pt x="20" y="58"/>
                  </a:lnTo>
                  <a:lnTo>
                    <a:pt x="17" y="59"/>
                  </a:lnTo>
                  <a:lnTo>
                    <a:pt x="13" y="51"/>
                  </a:lnTo>
                  <a:lnTo>
                    <a:pt x="17"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6" name="Freeform 305"/>
            <p:cNvSpPr>
              <a:spLocks/>
            </p:cNvSpPr>
            <p:nvPr/>
          </p:nvSpPr>
          <p:spPr bwMode="auto">
            <a:xfrm>
              <a:off x="2922" y="1996"/>
              <a:ext cx="47" cy="11"/>
            </a:xfrm>
            <a:custGeom>
              <a:avLst/>
              <a:gdLst/>
              <a:ahLst/>
              <a:cxnLst>
                <a:cxn ang="0">
                  <a:pos x="31" y="4"/>
                </a:cxn>
                <a:cxn ang="0">
                  <a:pos x="8" y="0"/>
                </a:cxn>
                <a:cxn ang="0">
                  <a:pos x="1" y="0"/>
                </a:cxn>
                <a:cxn ang="0">
                  <a:pos x="0" y="6"/>
                </a:cxn>
                <a:cxn ang="0">
                  <a:pos x="14" y="8"/>
                </a:cxn>
                <a:cxn ang="0">
                  <a:pos x="29" y="9"/>
                </a:cxn>
                <a:cxn ang="0">
                  <a:pos x="41" y="6"/>
                </a:cxn>
                <a:cxn ang="0">
                  <a:pos x="31" y="4"/>
                </a:cxn>
              </a:cxnLst>
              <a:rect l="0" t="0" r="r" b="b"/>
              <a:pathLst>
                <a:path w="41" h="9">
                  <a:moveTo>
                    <a:pt x="31" y="4"/>
                  </a:moveTo>
                  <a:lnTo>
                    <a:pt x="8" y="0"/>
                  </a:lnTo>
                  <a:lnTo>
                    <a:pt x="1" y="0"/>
                  </a:lnTo>
                  <a:lnTo>
                    <a:pt x="0" y="6"/>
                  </a:lnTo>
                  <a:lnTo>
                    <a:pt x="14" y="8"/>
                  </a:lnTo>
                  <a:lnTo>
                    <a:pt x="29" y="9"/>
                  </a:lnTo>
                  <a:lnTo>
                    <a:pt x="41" y="6"/>
                  </a:lnTo>
                  <a:lnTo>
                    <a:pt x="3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7" name="Freeform 306"/>
            <p:cNvSpPr>
              <a:spLocks/>
            </p:cNvSpPr>
            <p:nvPr/>
          </p:nvSpPr>
          <p:spPr bwMode="auto">
            <a:xfrm>
              <a:off x="2907" y="1927"/>
              <a:ext cx="26" cy="18"/>
            </a:xfrm>
            <a:custGeom>
              <a:avLst/>
              <a:gdLst/>
              <a:ahLst/>
              <a:cxnLst>
                <a:cxn ang="0">
                  <a:pos x="24" y="16"/>
                </a:cxn>
                <a:cxn ang="0">
                  <a:pos x="11" y="4"/>
                </a:cxn>
                <a:cxn ang="0">
                  <a:pos x="0" y="0"/>
                </a:cxn>
                <a:cxn ang="0">
                  <a:pos x="12" y="8"/>
                </a:cxn>
                <a:cxn ang="0">
                  <a:pos x="24" y="16"/>
                </a:cxn>
              </a:cxnLst>
              <a:rect l="0" t="0" r="r" b="b"/>
              <a:pathLst>
                <a:path w="24" h="16">
                  <a:moveTo>
                    <a:pt x="24" y="16"/>
                  </a:moveTo>
                  <a:lnTo>
                    <a:pt x="11" y="4"/>
                  </a:lnTo>
                  <a:lnTo>
                    <a:pt x="0" y="0"/>
                  </a:lnTo>
                  <a:lnTo>
                    <a:pt x="12" y="8"/>
                  </a:lnTo>
                  <a:lnTo>
                    <a:pt x="24"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8" name="Freeform 307"/>
            <p:cNvSpPr>
              <a:spLocks/>
            </p:cNvSpPr>
            <p:nvPr/>
          </p:nvSpPr>
          <p:spPr bwMode="auto">
            <a:xfrm>
              <a:off x="2953" y="1921"/>
              <a:ext cx="11" cy="4"/>
            </a:xfrm>
            <a:custGeom>
              <a:avLst/>
              <a:gdLst/>
              <a:ahLst/>
              <a:cxnLst>
                <a:cxn ang="0">
                  <a:pos x="10" y="4"/>
                </a:cxn>
                <a:cxn ang="0">
                  <a:pos x="4" y="3"/>
                </a:cxn>
                <a:cxn ang="0">
                  <a:pos x="0" y="0"/>
                </a:cxn>
                <a:cxn ang="0">
                  <a:pos x="9" y="2"/>
                </a:cxn>
                <a:cxn ang="0">
                  <a:pos x="10" y="4"/>
                </a:cxn>
              </a:cxnLst>
              <a:rect l="0" t="0" r="r" b="b"/>
              <a:pathLst>
                <a:path w="10" h="4">
                  <a:moveTo>
                    <a:pt x="10" y="4"/>
                  </a:moveTo>
                  <a:lnTo>
                    <a:pt x="4" y="3"/>
                  </a:lnTo>
                  <a:lnTo>
                    <a:pt x="0" y="0"/>
                  </a:lnTo>
                  <a:lnTo>
                    <a:pt x="9" y="2"/>
                  </a:lnTo>
                  <a:lnTo>
                    <a:pt x="1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9" name="Freeform 308"/>
            <p:cNvSpPr>
              <a:spLocks/>
            </p:cNvSpPr>
            <p:nvPr/>
          </p:nvSpPr>
          <p:spPr bwMode="auto">
            <a:xfrm>
              <a:off x="2867" y="1941"/>
              <a:ext cx="4" cy="2"/>
            </a:xfrm>
            <a:custGeom>
              <a:avLst/>
              <a:gdLst/>
              <a:ahLst/>
              <a:cxnLst>
                <a:cxn ang="0">
                  <a:pos x="0" y="0"/>
                </a:cxn>
                <a:cxn ang="0">
                  <a:pos x="5" y="4"/>
                </a:cxn>
                <a:cxn ang="0">
                  <a:pos x="1" y="4"/>
                </a:cxn>
                <a:cxn ang="0">
                  <a:pos x="0" y="0"/>
                </a:cxn>
              </a:cxnLst>
              <a:rect l="0" t="0" r="r" b="b"/>
              <a:pathLst>
                <a:path w="5" h="4">
                  <a:moveTo>
                    <a:pt x="0" y="0"/>
                  </a:moveTo>
                  <a:lnTo>
                    <a:pt x="5" y="4"/>
                  </a:lnTo>
                  <a:lnTo>
                    <a:pt x="1" y="4"/>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0" name="Freeform 309"/>
            <p:cNvSpPr>
              <a:spLocks/>
            </p:cNvSpPr>
            <p:nvPr/>
          </p:nvSpPr>
          <p:spPr bwMode="auto">
            <a:xfrm>
              <a:off x="2956" y="1936"/>
              <a:ext cx="4" cy="5"/>
            </a:xfrm>
            <a:custGeom>
              <a:avLst/>
              <a:gdLst/>
              <a:ahLst/>
              <a:cxnLst>
                <a:cxn ang="0">
                  <a:pos x="3" y="0"/>
                </a:cxn>
                <a:cxn ang="0">
                  <a:pos x="2" y="4"/>
                </a:cxn>
                <a:cxn ang="0">
                  <a:pos x="0" y="1"/>
                </a:cxn>
                <a:cxn ang="0">
                  <a:pos x="3" y="0"/>
                </a:cxn>
              </a:cxnLst>
              <a:rect l="0" t="0" r="r" b="b"/>
              <a:pathLst>
                <a:path w="3" h="4">
                  <a:moveTo>
                    <a:pt x="3" y="0"/>
                  </a:moveTo>
                  <a:lnTo>
                    <a:pt x="2" y="4"/>
                  </a:lnTo>
                  <a:lnTo>
                    <a:pt x="0" y="1"/>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1" name="Freeform 310"/>
            <p:cNvSpPr>
              <a:spLocks/>
            </p:cNvSpPr>
            <p:nvPr/>
          </p:nvSpPr>
          <p:spPr bwMode="auto">
            <a:xfrm>
              <a:off x="2640" y="1770"/>
              <a:ext cx="189" cy="180"/>
            </a:xfrm>
            <a:custGeom>
              <a:avLst/>
              <a:gdLst/>
              <a:ahLst/>
              <a:cxnLst>
                <a:cxn ang="0">
                  <a:pos x="96" y="7"/>
                </a:cxn>
                <a:cxn ang="0">
                  <a:pos x="75" y="0"/>
                </a:cxn>
                <a:cxn ang="0">
                  <a:pos x="59" y="2"/>
                </a:cxn>
                <a:cxn ang="0">
                  <a:pos x="51" y="1"/>
                </a:cxn>
                <a:cxn ang="0">
                  <a:pos x="51" y="2"/>
                </a:cxn>
                <a:cxn ang="0">
                  <a:pos x="47" y="6"/>
                </a:cxn>
                <a:cxn ang="0">
                  <a:pos x="45" y="11"/>
                </a:cxn>
                <a:cxn ang="0">
                  <a:pos x="34" y="11"/>
                </a:cxn>
                <a:cxn ang="0">
                  <a:pos x="29" y="18"/>
                </a:cxn>
                <a:cxn ang="0">
                  <a:pos x="19" y="11"/>
                </a:cxn>
                <a:cxn ang="0">
                  <a:pos x="11" y="17"/>
                </a:cxn>
                <a:cxn ang="0">
                  <a:pos x="3" y="18"/>
                </a:cxn>
                <a:cxn ang="0">
                  <a:pos x="3" y="25"/>
                </a:cxn>
                <a:cxn ang="0">
                  <a:pos x="0" y="32"/>
                </a:cxn>
                <a:cxn ang="0">
                  <a:pos x="0" y="37"/>
                </a:cxn>
                <a:cxn ang="0">
                  <a:pos x="1" y="43"/>
                </a:cxn>
                <a:cxn ang="0">
                  <a:pos x="11" y="49"/>
                </a:cxn>
                <a:cxn ang="0">
                  <a:pos x="11" y="56"/>
                </a:cxn>
                <a:cxn ang="0">
                  <a:pos x="24" y="47"/>
                </a:cxn>
                <a:cxn ang="0">
                  <a:pos x="43" y="50"/>
                </a:cxn>
                <a:cxn ang="0">
                  <a:pos x="54" y="68"/>
                </a:cxn>
                <a:cxn ang="0">
                  <a:pos x="67" y="80"/>
                </a:cxn>
                <a:cxn ang="0">
                  <a:pos x="81" y="92"/>
                </a:cxn>
                <a:cxn ang="0">
                  <a:pos x="84" y="95"/>
                </a:cxn>
                <a:cxn ang="0">
                  <a:pos x="85" y="95"/>
                </a:cxn>
                <a:cxn ang="0">
                  <a:pos x="96" y="99"/>
                </a:cxn>
                <a:cxn ang="0">
                  <a:pos x="114" y="111"/>
                </a:cxn>
                <a:cxn ang="0">
                  <a:pos x="123" y="116"/>
                </a:cxn>
                <a:cxn ang="0">
                  <a:pos x="130" y="122"/>
                </a:cxn>
                <a:cxn ang="0">
                  <a:pos x="139" y="140"/>
                </a:cxn>
                <a:cxn ang="0">
                  <a:pos x="133" y="156"/>
                </a:cxn>
                <a:cxn ang="0">
                  <a:pos x="141" y="161"/>
                </a:cxn>
                <a:cxn ang="0">
                  <a:pos x="147" y="149"/>
                </a:cxn>
                <a:cxn ang="0">
                  <a:pos x="153" y="141"/>
                </a:cxn>
                <a:cxn ang="0">
                  <a:pos x="155" y="138"/>
                </a:cxn>
                <a:cxn ang="0">
                  <a:pos x="147" y="129"/>
                </a:cxn>
                <a:cxn ang="0">
                  <a:pos x="150" y="115"/>
                </a:cxn>
                <a:cxn ang="0">
                  <a:pos x="159" y="117"/>
                </a:cxn>
                <a:cxn ang="0">
                  <a:pos x="169" y="126"/>
                </a:cxn>
                <a:cxn ang="0">
                  <a:pos x="172" y="117"/>
                </a:cxn>
                <a:cxn ang="0">
                  <a:pos x="154" y="108"/>
                </a:cxn>
                <a:cxn ang="0">
                  <a:pos x="135" y="97"/>
                </a:cxn>
                <a:cxn ang="0">
                  <a:pos x="137" y="91"/>
                </a:cxn>
                <a:cxn ang="0">
                  <a:pos x="132" y="89"/>
                </a:cxn>
                <a:cxn ang="0">
                  <a:pos x="113" y="84"/>
                </a:cxn>
                <a:cxn ang="0">
                  <a:pos x="106" y="72"/>
                </a:cxn>
                <a:cxn ang="0">
                  <a:pos x="99" y="61"/>
                </a:cxn>
                <a:cxn ang="0">
                  <a:pos x="84" y="53"/>
                </a:cxn>
                <a:cxn ang="0">
                  <a:pos x="79" y="38"/>
                </a:cxn>
                <a:cxn ang="0">
                  <a:pos x="77" y="30"/>
                </a:cxn>
                <a:cxn ang="0">
                  <a:pos x="89" y="21"/>
                </a:cxn>
                <a:cxn ang="0">
                  <a:pos x="97" y="24"/>
                </a:cxn>
                <a:cxn ang="0">
                  <a:pos x="94" y="13"/>
                </a:cxn>
                <a:cxn ang="0">
                  <a:pos x="96" y="7"/>
                </a:cxn>
                <a:cxn ang="0">
                  <a:pos x="82" y="53"/>
                </a:cxn>
                <a:cxn ang="0">
                  <a:pos x="81" y="53"/>
                </a:cxn>
                <a:cxn ang="0">
                  <a:pos x="81" y="54"/>
                </a:cxn>
                <a:cxn ang="0">
                  <a:pos x="82" y="54"/>
                </a:cxn>
                <a:cxn ang="0">
                  <a:pos x="82" y="53"/>
                </a:cxn>
                <a:cxn ang="0">
                  <a:pos x="96" y="7"/>
                </a:cxn>
                <a:cxn ang="0">
                  <a:pos x="85" y="93"/>
                </a:cxn>
                <a:cxn ang="0">
                  <a:pos x="96" y="7"/>
                </a:cxn>
              </a:cxnLst>
              <a:rect l="0" t="0" r="r" b="b"/>
              <a:pathLst>
                <a:path w="172" h="161">
                  <a:moveTo>
                    <a:pt x="96" y="7"/>
                  </a:moveTo>
                  <a:lnTo>
                    <a:pt x="75" y="0"/>
                  </a:lnTo>
                  <a:lnTo>
                    <a:pt x="59" y="2"/>
                  </a:lnTo>
                  <a:lnTo>
                    <a:pt x="51" y="1"/>
                  </a:lnTo>
                  <a:lnTo>
                    <a:pt x="51" y="2"/>
                  </a:lnTo>
                  <a:lnTo>
                    <a:pt x="47" y="6"/>
                  </a:lnTo>
                  <a:lnTo>
                    <a:pt x="45" y="11"/>
                  </a:lnTo>
                  <a:lnTo>
                    <a:pt x="34" y="11"/>
                  </a:lnTo>
                  <a:lnTo>
                    <a:pt x="29" y="18"/>
                  </a:lnTo>
                  <a:lnTo>
                    <a:pt x="19" y="11"/>
                  </a:lnTo>
                  <a:lnTo>
                    <a:pt x="11" y="17"/>
                  </a:lnTo>
                  <a:lnTo>
                    <a:pt x="3" y="18"/>
                  </a:lnTo>
                  <a:lnTo>
                    <a:pt x="3" y="25"/>
                  </a:lnTo>
                  <a:lnTo>
                    <a:pt x="0" y="32"/>
                  </a:lnTo>
                  <a:lnTo>
                    <a:pt x="0" y="37"/>
                  </a:lnTo>
                  <a:lnTo>
                    <a:pt x="1" y="43"/>
                  </a:lnTo>
                  <a:lnTo>
                    <a:pt x="11" y="49"/>
                  </a:lnTo>
                  <a:lnTo>
                    <a:pt x="11" y="56"/>
                  </a:lnTo>
                  <a:lnTo>
                    <a:pt x="24" y="47"/>
                  </a:lnTo>
                  <a:lnTo>
                    <a:pt x="43" y="50"/>
                  </a:lnTo>
                  <a:lnTo>
                    <a:pt x="54" y="68"/>
                  </a:lnTo>
                  <a:lnTo>
                    <a:pt x="67" y="80"/>
                  </a:lnTo>
                  <a:lnTo>
                    <a:pt x="81" y="92"/>
                  </a:lnTo>
                  <a:lnTo>
                    <a:pt x="84" y="95"/>
                  </a:lnTo>
                  <a:lnTo>
                    <a:pt x="85" y="95"/>
                  </a:lnTo>
                  <a:lnTo>
                    <a:pt x="96" y="99"/>
                  </a:lnTo>
                  <a:lnTo>
                    <a:pt x="114" y="111"/>
                  </a:lnTo>
                  <a:lnTo>
                    <a:pt x="123" y="116"/>
                  </a:lnTo>
                  <a:lnTo>
                    <a:pt x="130" y="122"/>
                  </a:lnTo>
                  <a:lnTo>
                    <a:pt x="139" y="140"/>
                  </a:lnTo>
                  <a:lnTo>
                    <a:pt x="133" y="156"/>
                  </a:lnTo>
                  <a:lnTo>
                    <a:pt x="141" y="161"/>
                  </a:lnTo>
                  <a:lnTo>
                    <a:pt x="147" y="149"/>
                  </a:lnTo>
                  <a:lnTo>
                    <a:pt x="153" y="141"/>
                  </a:lnTo>
                  <a:lnTo>
                    <a:pt x="155" y="138"/>
                  </a:lnTo>
                  <a:lnTo>
                    <a:pt x="147" y="129"/>
                  </a:lnTo>
                  <a:lnTo>
                    <a:pt x="150" y="115"/>
                  </a:lnTo>
                  <a:lnTo>
                    <a:pt x="159" y="117"/>
                  </a:lnTo>
                  <a:lnTo>
                    <a:pt x="169" y="126"/>
                  </a:lnTo>
                  <a:lnTo>
                    <a:pt x="172" y="117"/>
                  </a:lnTo>
                  <a:lnTo>
                    <a:pt x="154" y="108"/>
                  </a:lnTo>
                  <a:lnTo>
                    <a:pt x="135" y="97"/>
                  </a:lnTo>
                  <a:lnTo>
                    <a:pt x="137" y="91"/>
                  </a:lnTo>
                  <a:lnTo>
                    <a:pt x="132" y="89"/>
                  </a:lnTo>
                  <a:lnTo>
                    <a:pt x="113" y="84"/>
                  </a:lnTo>
                  <a:lnTo>
                    <a:pt x="106" y="72"/>
                  </a:lnTo>
                  <a:lnTo>
                    <a:pt x="99" y="61"/>
                  </a:lnTo>
                  <a:lnTo>
                    <a:pt x="84" y="53"/>
                  </a:lnTo>
                  <a:lnTo>
                    <a:pt x="79" y="38"/>
                  </a:lnTo>
                  <a:lnTo>
                    <a:pt x="77" y="30"/>
                  </a:lnTo>
                  <a:lnTo>
                    <a:pt x="89" y="21"/>
                  </a:lnTo>
                  <a:lnTo>
                    <a:pt x="97" y="24"/>
                  </a:lnTo>
                  <a:lnTo>
                    <a:pt x="94" y="13"/>
                  </a:lnTo>
                  <a:lnTo>
                    <a:pt x="96" y="7"/>
                  </a:lnTo>
                  <a:lnTo>
                    <a:pt x="82" y="53"/>
                  </a:lnTo>
                  <a:lnTo>
                    <a:pt x="81" y="53"/>
                  </a:lnTo>
                  <a:lnTo>
                    <a:pt x="81" y="54"/>
                  </a:lnTo>
                  <a:lnTo>
                    <a:pt x="82" y="54"/>
                  </a:lnTo>
                  <a:lnTo>
                    <a:pt x="82" y="53"/>
                  </a:lnTo>
                  <a:lnTo>
                    <a:pt x="96" y="7"/>
                  </a:lnTo>
                  <a:lnTo>
                    <a:pt x="85" y="93"/>
                  </a:lnTo>
                  <a:lnTo>
                    <a:pt x="96" y="7"/>
                  </a:lnTo>
                  <a:close/>
                </a:path>
              </a:pathLst>
            </a:custGeom>
            <a:grpFill/>
            <a:ln w="3175" cmpd="sng">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2" name="Freeform 311"/>
            <p:cNvSpPr>
              <a:spLocks/>
            </p:cNvSpPr>
            <p:nvPr/>
          </p:nvSpPr>
          <p:spPr bwMode="auto">
            <a:xfrm>
              <a:off x="2640" y="1770"/>
              <a:ext cx="189" cy="180"/>
            </a:xfrm>
            <a:custGeom>
              <a:avLst/>
              <a:gdLst/>
              <a:ahLst/>
              <a:cxnLst>
                <a:cxn ang="0">
                  <a:pos x="96" y="7"/>
                </a:cxn>
                <a:cxn ang="0">
                  <a:pos x="75" y="0"/>
                </a:cxn>
                <a:cxn ang="0">
                  <a:pos x="59" y="2"/>
                </a:cxn>
                <a:cxn ang="0">
                  <a:pos x="51" y="1"/>
                </a:cxn>
                <a:cxn ang="0">
                  <a:pos x="51" y="2"/>
                </a:cxn>
                <a:cxn ang="0">
                  <a:pos x="47" y="6"/>
                </a:cxn>
                <a:cxn ang="0">
                  <a:pos x="45" y="11"/>
                </a:cxn>
                <a:cxn ang="0">
                  <a:pos x="34" y="11"/>
                </a:cxn>
                <a:cxn ang="0">
                  <a:pos x="29" y="18"/>
                </a:cxn>
                <a:cxn ang="0">
                  <a:pos x="19" y="11"/>
                </a:cxn>
                <a:cxn ang="0">
                  <a:pos x="11" y="17"/>
                </a:cxn>
                <a:cxn ang="0">
                  <a:pos x="3" y="18"/>
                </a:cxn>
                <a:cxn ang="0">
                  <a:pos x="3" y="25"/>
                </a:cxn>
                <a:cxn ang="0">
                  <a:pos x="0" y="32"/>
                </a:cxn>
                <a:cxn ang="0">
                  <a:pos x="0" y="37"/>
                </a:cxn>
                <a:cxn ang="0">
                  <a:pos x="1" y="43"/>
                </a:cxn>
                <a:cxn ang="0">
                  <a:pos x="11" y="49"/>
                </a:cxn>
                <a:cxn ang="0">
                  <a:pos x="11" y="56"/>
                </a:cxn>
                <a:cxn ang="0">
                  <a:pos x="24" y="47"/>
                </a:cxn>
                <a:cxn ang="0">
                  <a:pos x="43" y="50"/>
                </a:cxn>
                <a:cxn ang="0">
                  <a:pos x="54" y="68"/>
                </a:cxn>
                <a:cxn ang="0">
                  <a:pos x="67" y="80"/>
                </a:cxn>
                <a:cxn ang="0">
                  <a:pos x="81" y="92"/>
                </a:cxn>
                <a:cxn ang="0">
                  <a:pos x="84" y="95"/>
                </a:cxn>
                <a:cxn ang="0">
                  <a:pos x="85" y="95"/>
                </a:cxn>
                <a:cxn ang="0">
                  <a:pos x="96" y="99"/>
                </a:cxn>
                <a:cxn ang="0">
                  <a:pos x="114" y="111"/>
                </a:cxn>
                <a:cxn ang="0">
                  <a:pos x="123" y="116"/>
                </a:cxn>
                <a:cxn ang="0">
                  <a:pos x="130" y="122"/>
                </a:cxn>
                <a:cxn ang="0">
                  <a:pos x="139" y="140"/>
                </a:cxn>
                <a:cxn ang="0">
                  <a:pos x="133" y="156"/>
                </a:cxn>
                <a:cxn ang="0">
                  <a:pos x="141" y="161"/>
                </a:cxn>
                <a:cxn ang="0">
                  <a:pos x="147" y="149"/>
                </a:cxn>
                <a:cxn ang="0">
                  <a:pos x="153" y="141"/>
                </a:cxn>
                <a:cxn ang="0">
                  <a:pos x="155" y="138"/>
                </a:cxn>
                <a:cxn ang="0">
                  <a:pos x="147" y="129"/>
                </a:cxn>
                <a:cxn ang="0">
                  <a:pos x="150" y="115"/>
                </a:cxn>
                <a:cxn ang="0">
                  <a:pos x="159" y="117"/>
                </a:cxn>
                <a:cxn ang="0">
                  <a:pos x="169" y="126"/>
                </a:cxn>
                <a:cxn ang="0">
                  <a:pos x="172" y="117"/>
                </a:cxn>
                <a:cxn ang="0">
                  <a:pos x="154" y="108"/>
                </a:cxn>
                <a:cxn ang="0">
                  <a:pos x="135" y="97"/>
                </a:cxn>
                <a:cxn ang="0">
                  <a:pos x="137" y="91"/>
                </a:cxn>
                <a:cxn ang="0">
                  <a:pos x="132" y="89"/>
                </a:cxn>
                <a:cxn ang="0">
                  <a:pos x="113" y="84"/>
                </a:cxn>
                <a:cxn ang="0">
                  <a:pos x="106" y="72"/>
                </a:cxn>
                <a:cxn ang="0">
                  <a:pos x="99" y="61"/>
                </a:cxn>
                <a:cxn ang="0">
                  <a:pos x="84" y="53"/>
                </a:cxn>
                <a:cxn ang="0">
                  <a:pos x="79" y="38"/>
                </a:cxn>
                <a:cxn ang="0">
                  <a:pos x="77" y="30"/>
                </a:cxn>
                <a:cxn ang="0">
                  <a:pos x="89" y="21"/>
                </a:cxn>
                <a:cxn ang="0">
                  <a:pos x="97" y="24"/>
                </a:cxn>
                <a:cxn ang="0">
                  <a:pos x="94" y="13"/>
                </a:cxn>
                <a:cxn ang="0">
                  <a:pos x="96" y="7"/>
                </a:cxn>
              </a:cxnLst>
              <a:rect l="0" t="0" r="r" b="b"/>
              <a:pathLst>
                <a:path w="172" h="161">
                  <a:moveTo>
                    <a:pt x="96" y="7"/>
                  </a:moveTo>
                  <a:lnTo>
                    <a:pt x="75" y="0"/>
                  </a:lnTo>
                  <a:lnTo>
                    <a:pt x="59" y="2"/>
                  </a:lnTo>
                  <a:lnTo>
                    <a:pt x="51" y="1"/>
                  </a:lnTo>
                  <a:lnTo>
                    <a:pt x="51" y="2"/>
                  </a:lnTo>
                  <a:lnTo>
                    <a:pt x="47" y="6"/>
                  </a:lnTo>
                  <a:lnTo>
                    <a:pt x="45" y="11"/>
                  </a:lnTo>
                  <a:lnTo>
                    <a:pt x="34" y="11"/>
                  </a:lnTo>
                  <a:lnTo>
                    <a:pt x="29" y="18"/>
                  </a:lnTo>
                  <a:lnTo>
                    <a:pt x="19" y="11"/>
                  </a:lnTo>
                  <a:lnTo>
                    <a:pt x="11" y="17"/>
                  </a:lnTo>
                  <a:lnTo>
                    <a:pt x="3" y="18"/>
                  </a:lnTo>
                  <a:lnTo>
                    <a:pt x="3" y="25"/>
                  </a:lnTo>
                  <a:lnTo>
                    <a:pt x="0" y="32"/>
                  </a:lnTo>
                  <a:lnTo>
                    <a:pt x="0" y="37"/>
                  </a:lnTo>
                  <a:lnTo>
                    <a:pt x="1" y="43"/>
                  </a:lnTo>
                  <a:lnTo>
                    <a:pt x="11" y="49"/>
                  </a:lnTo>
                  <a:lnTo>
                    <a:pt x="11" y="56"/>
                  </a:lnTo>
                  <a:lnTo>
                    <a:pt x="24" y="47"/>
                  </a:lnTo>
                  <a:lnTo>
                    <a:pt x="43" y="50"/>
                  </a:lnTo>
                  <a:lnTo>
                    <a:pt x="54" y="68"/>
                  </a:lnTo>
                  <a:lnTo>
                    <a:pt x="67" y="80"/>
                  </a:lnTo>
                  <a:lnTo>
                    <a:pt x="81" y="92"/>
                  </a:lnTo>
                  <a:lnTo>
                    <a:pt x="84" y="95"/>
                  </a:lnTo>
                  <a:lnTo>
                    <a:pt x="85" y="95"/>
                  </a:lnTo>
                  <a:lnTo>
                    <a:pt x="96" y="99"/>
                  </a:lnTo>
                  <a:lnTo>
                    <a:pt x="114" y="111"/>
                  </a:lnTo>
                  <a:lnTo>
                    <a:pt x="123" y="116"/>
                  </a:lnTo>
                  <a:lnTo>
                    <a:pt x="130" y="122"/>
                  </a:lnTo>
                  <a:lnTo>
                    <a:pt x="139" y="140"/>
                  </a:lnTo>
                  <a:lnTo>
                    <a:pt x="133" y="156"/>
                  </a:lnTo>
                  <a:lnTo>
                    <a:pt x="141" y="161"/>
                  </a:lnTo>
                  <a:lnTo>
                    <a:pt x="147" y="149"/>
                  </a:lnTo>
                  <a:lnTo>
                    <a:pt x="153" y="141"/>
                  </a:lnTo>
                  <a:lnTo>
                    <a:pt x="155" y="138"/>
                  </a:lnTo>
                  <a:lnTo>
                    <a:pt x="147" y="129"/>
                  </a:lnTo>
                  <a:lnTo>
                    <a:pt x="150" y="115"/>
                  </a:lnTo>
                  <a:lnTo>
                    <a:pt x="159" y="117"/>
                  </a:lnTo>
                  <a:lnTo>
                    <a:pt x="169" y="126"/>
                  </a:lnTo>
                  <a:lnTo>
                    <a:pt x="172" y="117"/>
                  </a:lnTo>
                  <a:lnTo>
                    <a:pt x="154" y="108"/>
                  </a:lnTo>
                  <a:lnTo>
                    <a:pt x="135" y="97"/>
                  </a:lnTo>
                  <a:lnTo>
                    <a:pt x="137" y="91"/>
                  </a:lnTo>
                  <a:lnTo>
                    <a:pt x="132" y="89"/>
                  </a:lnTo>
                  <a:lnTo>
                    <a:pt x="113" y="84"/>
                  </a:lnTo>
                  <a:lnTo>
                    <a:pt x="106" y="72"/>
                  </a:lnTo>
                  <a:lnTo>
                    <a:pt x="99" y="61"/>
                  </a:lnTo>
                  <a:lnTo>
                    <a:pt x="84" y="53"/>
                  </a:lnTo>
                  <a:lnTo>
                    <a:pt x="79" y="38"/>
                  </a:lnTo>
                  <a:lnTo>
                    <a:pt x="77" y="30"/>
                  </a:lnTo>
                  <a:lnTo>
                    <a:pt x="89" y="21"/>
                  </a:lnTo>
                  <a:lnTo>
                    <a:pt x="97" y="24"/>
                  </a:lnTo>
                  <a:lnTo>
                    <a:pt x="94" y="13"/>
                  </a:lnTo>
                  <a:lnTo>
                    <a:pt x="96"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3" name="Rectangle 312"/>
            <p:cNvSpPr>
              <a:spLocks noChangeArrowheads="1"/>
            </p:cNvSpPr>
            <p:nvPr/>
          </p:nvSpPr>
          <p:spPr bwMode="auto">
            <a:xfrm>
              <a:off x="2729" y="1830"/>
              <a:ext cx="0" cy="0"/>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314" name="Freeform 313"/>
            <p:cNvSpPr>
              <a:spLocks/>
            </p:cNvSpPr>
            <p:nvPr/>
          </p:nvSpPr>
          <p:spPr bwMode="auto">
            <a:xfrm>
              <a:off x="2736" y="1941"/>
              <a:ext cx="51" cy="33"/>
            </a:xfrm>
            <a:custGeom>
              <a:avLst/>
              <a:gdLst/>
              <a:ahLst/>
              <a:cxnLst>
                <a:cxn ang="0">
                  <a:pos x="39" y="18"/>
                </a:cxn>
                <a:cxn ang="0">
                  <a:pos x="39" y="29"/>
                </a:cxn>
                <a:cxn ang="0">
                  <a:pos x="21" y="22"/>
                </a:cxn>
                <a:cxn ang="0">
                  <a:pos x="3" y="14"/>
                </a:cxn>
                <a:cxn ang="0">
                  <a:pos x="0" y="5"/>
                </a:cxn>
                <a:cxn ang="0">
                  <a:pos x="13" y="4"/>
                </a:cxn>
                <a:cxn ang="0">
                  <a:pos x="29" y="3"/>
                </a:cxn>
                <a:cxn ang="0">
                  <a:pos x="45" y="0"/>
                </a:cxn>
                <a:cxn ang="0">
                  <a:pos x="39" y="18"/>
                </a:cxn>
              </a:cxnLst>
              <a:rect l="0" t="0" r="r" b="b"/>
              <a:pathLst>
                <a:path w="45" h="29">
                  <a:moveTo>
                    <a:pt x="39" y="18"/>
                  </a:moveTo>
                  <a:lnTo>
                    <a:pt x="39" y="29"/>
                  </a:lnTo>
                  <a:lnTo>
                    <a:pt x="21" y="22"/>
                  </a:lnTo>
                  <a:lnTo>
                    <a:pt x="3" y="14"/>
                  </a:lnTo>
                  <a:lnTo>
                    <a:pt x="0" y="5"/>
                  </a:lnTo>
                  <a:lnTo>
                    <a:pt x="13" y="4"/>
                  </a:lnTo>
                  <a:lnTo>
                    <a:pt x="29" y="3"/>
                  </a:lnTo>
                  <a:lnTo>
                    <a:pt x="45" y="0"/>
                  </a:lnTo>
                  <a:lnTo>
                    <a:pt x="3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5" name="Freeform 314"/>
            <p:cNvSpPr>
              <a:spLocks/>
            </p:cNvSpPr>
            <p:nvPr/>
          </p:nvSpPr>
          <p:spPr bwMode="auto">
            <a:xfrm>
              <a:off x="2664" y="1883"/>
              <a:ext cx="27" cy="47"/>
            </a:xfrm>
            <a:custGeom>
              <a:avLst/>
              <a:gdLst/>
              <a:ahLst/>
              <a:cxnLst>
                <a:cxn ang="0">
                  <a:pos x="13" y="36"/>
                </a:cxn>
                <a:cxn ang="0">
                  <a:pos x="7" y="42"/>
                </a:cxn>
                <a:cxn ang="0">
                  <a:pos x="4" y="32"/>
                </a:cxn>
                <a:cxn ang="0">
                  <a:pos x="1" y="19"/>
                </a:cxn>
                <a:cxn ang="0">
                  <a:pos x="0" y="6"/>
                </a:cxn>
                <a:cxn ang="0">
                  <a:pos x="14" y="0"/>
                </a:cxn>
                <a:cxn ang="0">
                  <a:pos x="24" y="13"/>
                </a:cxn>
                <a:cxn ang="0">
                  <a:pos x="20" y="34"/>
                </a:cxn>
                <a:cxn ang="0">
                  <a:pos x="13" y="36"/>
                </a:cxn>
              </a:cxnLst>
              <a:rect l="0" t="0" r="r" b="b"/>
              <a:pathLst>
                <a:path w="24" h="42">
                  <a:moveTo>
                    <a:pt x="13" y="36"/>
                  </a:moveTo>
                  <a:lnTo>
                    <a:pt x="7" y="42"/>
                  </a:lnTo>
                  <a:lnTo>
                    <a:pt x="4" y="32"/>
                  </a:lnTo>
                  <a:lnTo>
                    <a:pt x="1" y="19"/>
                  </a:lnTo>
                  <a:lnTo>
                    <a:pt x="0" y="6"/>
                  </a:lnTo>
                  <a:lnTo>
                    <a:pt x="14" y="0"/>
                  </a:lnTo>
                  <a:lnTo>
                    <a:pt x="24" y="13"/>
                  </a:lnTo>
                  <a:lnTo>
                    <a:pt x="20" y="34"/>
                  </a:lnTo>
                  <a:lnTo>
                    <a:pt x="13"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6" name="Freeform 315"/>
            <p:cNvSpPr>
              <a:spLocks/>
            </p:cNvSpPr>
            <p:nvPr/>
          </p:nvSpPr>
          <p:spPr bwMode="auto">
            <a:xfrm>
              <a:off x="2649" y="1834"/>
              <a:ext cx="2" cy="2"/>
            </a:xfrm>
            <a:custGeom>
              <a:avLst/>
              <a:gdLst/>
              <a:ahLst/>
              <a:cxnLst>
                <a:cxn ang="0">
                  <a:pos x="1" y="0"/>
                </a:cxn>
                <a:cxn ang="0">
                  <a:pos x="0" y="0"/>
                </a:cxn>
                <a:cxn ang="0">
                  <a:pos x="1" y="0"/>
                </a:cxn>
              </a:cxnLst>
              <a:rect l="0" t="0" r="r" b="b"/>
              <a:pathLst>
                <a:path w="1">
                  <a:moveTo>
                    <a:pt x="1" y="0"/>
                  </a:move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7" name="Freeform 316"/>
            <p:cNvSpPr>
              <a:spLocks/>
            </p:cNvSpPr>
            <p:nvPr/>
          </p:nvSpPr>
          <p:spPr bwMode="auto">
            <a:xfrm>
              <a:off x="2960" y="1867"/>
              <a:ext cx="309" cy="123"/>
            </a:xfrm>
            <a:custGeom>
              <a:avLst/>
              <a:gdLst/>
              <a:ahLst/>
              <a:cxnLst>
                <a:cxn ang="0">
                  <a:pos x="186" y="93"/>
                </a:cxn>
                <a:cxn ang="0">
                  <a:pos x="159" y="96"/>
                </a:cxn>
                <a:cxn ang="0">
                  <a:pos x="151" y="110"/>
                </a:cxn>
                <a:cxn ang="0">
                  <a:pos x="150" y="106"/>
                </a:cxn>
                <a:cxn ang="0">
                  <a:pos x="144" y="95"/>
                </a:cxn>
                <a:cxn ang="0">
                  <a:pos x="123" y="99"/>
                </a:cxn>
                <a:cxn ang="0">
                  <a:pos x="95" y="102"/>
                </a:cxn>
                <a:cxn ang="0">
                  <a:pos x="69" y="100"/>
                </a:cxn>
                <a:cxn ang="0">
                  <a:pos x="47" y="99"/>
                </a:cxn>
                <a:cxn ang="0">
                  <a:pos x="31" y="95"/>
                </a:cxn>
                <a:cxn ang="0">
                  <a:pos x="33" y="90"/>
                </a:cxn>
                <a:cxn ang="0">
                  <a:pos x="23" y="84"/>
                </a:cxn>
                <a:cxn ang="0">
                  <a:pos x="18" y="75"/>
                </a:cxn>
                <a:cxn ang="0">
                  <a:pos x="4" y="63"/>
                </a:cxn>
                <a:cxn ang="0">
                  <a:pos x="12" y="65"/>
                </a:cxn>
                <a:cxn ang="0">
                  <a:pos x="10" y="56"/>
                </a:cxn>
                <a:cxn ang="0">
                  <a:pos x="0" y="45"/>
                </a:cxn>
                <a:cxn ang="0">
                  <a:pos x="16" y="30"/>
                </a:cxn>
                <a:cxn ang="0">
                  <a:pos x="39" y="28"/>
                </a:cxn>
                <a:cxn ang="0">
                  <a:pos x="45" y="22"/>
                </a:cxn>
                <a:cxn ang="0">
                  <a:pos x="65" y="17"/>
                </a:cxn>
                <a:cxn ang="0">
                  <a:pos x="100" y="3"/>
                </a:cxn>
                <a:cxn ang="0">
                  <a:pos x="123" y="2"/>
                </a:cxn>
                <a:cxn ang="0">
                  <a:pos x="139" y="10"/>
                </a:cxn>
                <a:cxn ang="0">
                  <a:pos x="177" y="18"/>
                </a:cxn>
                <a:cxn ang="0">
                  <a:pos x="217" y="9"/>
                </a:cxn>
                <a:cxn ang="0">
                  <a:pos x="245" y="15"/>
                </a:cxn>
                <a:cxn ang="0">
                  <a:pos x="257" y="35"/>
                </a:cxn>
                <a:cxn ang="0">
                  <a:pos x="264" y="46"/>
                </a:cxn>
                <a:cxn ang="0">
                  <a:pos x="269" y="74"/>
                </a:cxn>
                <a:cxn ang="0">
                  <a:pos x="270" y="88"/>
                </a:cxn>
                <a:cxn ang="0">
                  <a:pos x="246" y="84"/>
                </a:cxn>
                <a:cxn ang="0">
                  <a:pos x="238" y="87"/>
                </a:cxn>
                <a:cxn ang="0">
                  <a:pos x="209" y="93"/>
                </a:cxn>
              </a:cxnLst>
              <a:rect l="0" t="0" r="r" b="b"/>
              <a:pathLst>
                <a:path w="279" h="110">
                  <a:moveTo>
                    <a:pt x="209" y="93"/>
                  </a:moveTo>
                  <a:lnTo>
                    <a:pt x="186" y="93"/>
                  </a:lnTo>
                  <a:lnTo>
                    <a:pt x="163" y="94"/>
                  </a:lnTo>
                  <a:lnTo>
                    <a:pt x="159" y="96"/>
                  </a:lnTo>
                  <a:lnTo>
                    <a:pt x="157" y="104"/>
                  </a:lnTo>
                  <a:lnTo>
                    <a:pt x="151" y="110"/>
                  </a:lnTo>
                  <a:lnTo>
                    <a:pt x="150" y="108"/>
                  </a:lnTo>
                  <a:lnTo>
                    <a:pt x="150" y="106"/>
                  </a:lnTo>
                  <a:lnTo>
                    <a:pt x="151" y="92"/>
                  </a:lnTo>
                  <a:lnTo>
                    <a:pt x="144" y="95"/>
                  </a:lnTo>
                  <a:lnTo>
                    <a:pt x="135" y="95"/>
                  </a:lnTo>
                  <a:lnTo>
                    <a:pt x="123" y="99"/>
                  </a:lnTo>
                  <a:lnTo>
                    <a:pt x="107" y="106"/>
                  </a:lnTo>
                  <a:lnTo>
                    <a:pt x="95" y="102"/>
                  </a:lnTo>
                  <a:lnTo>
                    <a:pt x="71" y="93"/>
                  </a:lnTo>
                  <a:lnTo>
                    <a:pt x="69" y="100"/>
                  </a:lnTo>
                  <a:lnTo>
                    <a:pt x="61" y="104"/>
                  </a:lnTo>
                  <a:lnTo>
                    <a:pt x="47" y="99"/>
                  </a:lnTo>
                  <a:lnTo>
                    <a:pt x="40" y="94"/>
                  </a:lnTo>
                  <a:lnTo>
                    <a:pt x="31" y="95"/>
                  </a:lnTo>
                  <a:lnTo>
                    <a:pt x="24" y="95"/>
                  </a:lnTo>
                  <a:lnTo>
                    <a:pt x="33" y="90"/>
                  </a:lnTo>
                  <a:lnTo>
                    <a:pt x="22" y="89"/>
                  </a:lnTo>
                  <a:lnTo>
                    <a:pt x="23" y="84"/>
                  </a:lnTo>
                  <a:lnTo>
                    <a:pt x="16" y="78"/>
                  </a:lnTo>
                  <a:lnTo>
                    <a:pt x="18" y="75"/>
                  </a:lnTo>
                  <a:lnTo>
                    <a:pt x="5" y="69"/>
                  </a:lnTo>
                  <a:lnTo>
                    <a:pt x="4" y="63"/>
                  </a:lnTo>
                  <a:lnTo>
                    <a:pt x="7" y="63"/>
                  </a:lnTo>
                  <a:lnTo>
                    <a:pt x="12" y="65"/>
                  </a:lnTo>
                  <a:lnTo>
                    <a:pt x="10" y="58"/>
                  </a:lnTo>
                  <a:lnTo>
                    <a:pt x="10" y="56"/>
                  </a:lnTo>
                  <a:lnTo>
                    <a:pt x="9" y="46"/>
                  </a:lnTo>
                  <a:lnTo>
                    <a:pt x="0" y="45"/>
                  </a:lnTo>
                  <a:lnTo>
                    <a:pt x="1" y="33"/>
                  </a:lnTo>
                  <a:lnTo>
                    <a:pt x="16" y="30"/>
                  </a:lnTo>
                  <a:lnTo>
                    <a:pt x="21" y="27"/>
                  </a:lnTo>
                  <a:lnTo>
                    <a:pt x="39" y="28"/>
                  </a:lnTo>
                  <a:lnTo>
                    <a:pt x="49" y="23"/>
                  </a:lnTo>
                  <a:lnTo>
                    <a:pt x="45" y="22"/>
                  </a:lnTo>
                  <a:lnTo>
                    <a:pt x="37" y="16"/>
                  </a:lnTo>
                  <a:lnTo>
                    <a:pt x="65" y="17"/>
                  </a:lnTo>
                  <a:lnTo>
                    <a:pt x="85" y="4"/>
                  </a:lnTo>
                  <a:lnTo>
                    <a:pt x="100" y="3"/>
                  </a:lnTo>
                  <a:lnTo>
                    <a:pt x="114" y="0"/>
                  </a:lnTo>
                  <a:lnTo>
                    <a:pt x="123" y="2"/>
                  </a:lnTo>
                  <a:lnTo>
                    <a:pt x="133" y="6"/>
                  </a:lnTo>
                  <a:lnTo>
                    <a:pt x="139" y="10"/>
                  </a:lnTo>
                  <a:lnTo>
                    <a:pt x="159" y="15"/>
                  </a:lnTo>
                  <a:lnTo>
                    <a:pt x="177" y="18"/>
                  </a:lnTo>
                  <a:lnTo>
                    <a:pt x="196" y="20"/>
                  </a:lnTo>
                  <a:lnTo>
                    <a:pt x="217" y="9"/>
                  </a:lnTo>
                  <a:lnTo>
                    <a:pt x="235" y="8"/>
                  </a:lnTo>
                  <a:lnTo>
                    <a:pt x="245" y="15"/>
                  </a:lnTo>
                  <a:lnTo>
                    <a:pt x="251" y="26"/>
                  </a:lnTo>
                  <a:lnTo>
                    <a:pt x="257" y="35"/>
                  </a:lnTo>
                  <a:lnTo>
                    <a:pt x="270" y="41"/>
                  </a:lnTo>
                  <a:lnTo>
                    <a:pt x="264" y="46"/>
                  </a:lnTo>
                  <a:lnTo>
                    <a:pt x="265" y="56"/>
                  </a:lnTo>
                  <a:lnTo>
                    <a:pt x="269" y="74"/>
                  </a:lnTo>
                  <a:lnTo>
                    <a:pt x="279" y="87"/>
                  </a:lnTo>
                  <a:lnTo>
                    <a:pt x="270" y="88"/>
                  </a:lnTo>
                  <a:lnTo>
                    <a:pt x="267" y="84"/>
                  </a:lnTo>
                  <a:lnTo>
                    <a:pt x="246" y="84"/>
                  </a:lnTo>
                  <a:lnTo>
                    <a:pt x="243" y="88"/>
                  </a:lnTo>
                  <a:lnTo>
                    <a:pt x="238" y="87"/>
                  </a:lnTo>
                  <a:lnTo>
                    <a:pt x="223" y="89"/>
                  </a:lnTo>
                  <a:lnTo>
                    <a:pt x="209" y="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8" name="Freeform 317"/>
            <p:cNvSpPr>
              <a:spLocks/>
            </p:cNvSpPr>
            <p:nvPr/>
          </p:nvSpPr>
          <p:spPr bwMode="auto">
            <a:xfrm>
              <a:off x="2953" y="1867"/>
              <a:ext cx="47" cy="36"/>
            </a:xfrm>
            <a:custGeom>
              <a:avLst/>
              <a:gdLst/>
              <a:ahLst/>
              <a:cxnLst>
                <a:cxn ang="0">
                  <a:pos x="5" y="2"/>
                </a:cxn>
                <a:cxn ang="0">
                  <a:pos x="3" y="5"/>
                </a:cxn>
                <a:cxn ang="0">
                  <a:pos x="6" y="12"/>
                </a:cxn>
                <a:cxn ang="0">
                  <a:pos x="0" y="23"/>
                </a:cxn>
                <a:cxn ang="0">
                  <a:pos x="10" y="24"/>
                </a:cxn>
                <a:cxn ang="0">
                  <a:pos x="5" y="33"/>
                </a:cxn>
                <a:cxn ang="0">
                  <a:pos x="21" y="21"/>
                </a:cxn>
                <a:cxn ang="0">
                  <a:pos x="43" y="17"/>
                </a:cxn>
                <a:cxn ang="0">
                  <a:pos x="36" y="12"/>
                </a:cxn>
                <a:cxn ang="0">
                  <a:pos x="27" y="0"/>
                </a:cxn>
                <a:cxn ang="0">
                  <a:pos x="5" y="2"/>
                </a:cxn>
              </a:cxnLst>
              <a:rect l="0" t="0" r="r" b="b"/>
              <a:pathLst>
                <a:path w="43" h="33">
                  <a:moveTo>
                    <a:pt x="5" y="2"/>
                  </a:moveTo>
                  <a:lnTo>
                    <a:pt x="3" y="5"/>
                  </a:lnTo>
                  <a:lnTo>
                    <a:pt x="6" y="12"/>
                  </a:lnTo>
                  <a:lnTo>
                    <a:pt x="0" y="23"/>
                  </a:lnTo>
                  <a:lnTo>
                    <a:pt x="10" y="24"/>
                  </a:lnTo>
                  <a:lnTo>
                    <a:pt x="5" y="33"/>
                  </a:lnTo>
                  <a:lnTo>
                    <a:pt x="21" y="21"/>
                  </a:lnTo>
                  <a:lnTo>
                    <a:pt x="43" y="17"/>
                  </a:lnTo>
                  <a:lnTo>
                    <a:pt x="36" y="12"/>
                  </a:lnTo>
                  <a:lnTo>
                    <a:pt x="27"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9" name="Freeform 318"/>
            <p:cNvSpPr>
              <a:spLocks/>
            </p:cNvSpPr>
            <p:nvPr/>
          </p:nvSpPr>
          <p:spPr bwMode="auto">
            <a:xfrm>
              <a:off x="2876" y="1596"/>
              <a:ext cx="137" cy="87"/>
            </a:xfrm>
            <a:custGeom>
              <a:avLst/>
              <a:gdLst/>
              <a:ahLst/>
              <a:cxnLst>
                <a:cxn ang="0">
                  <a:pos x="122" y="42"/>
                </a:cxn>
                <a:cxn ang="0">
                  <a:pos x="117" y="47"/>
                </a:cxn>
                <a:cxn ang="0">
                  <a:pos x="121" y="62"/>
                </a:cxn>
                <a:cxn ang="0">
                  <a:pos x="104" y="71"/>
                </a:cxn>
                <a:cxn ang="0">
                  <a:pos x="105" y="78"/>
                </a:cxn>
                <a:cxn ang="0">
                  <a:pos x="81" y="73"/>
                </a:cxn>
                <a:cxn ang="0">
                  <a:pos x="57" y="68"/>
                </a:cxn>
                <a:cxn ang="0">
                  <a:pos x="35" y="68"/>
                </a:cxn>
                <a:cxn ang="0">
                  <a:pos x="11" y="68"/>
                </a:cxn>
                <a:cxn ang="0">
                  <a:pos x="2" y="63"/>
                </a:cxn>
                <a:cxn ang="0">
                  <a:pos x="12" y="51"/>
                </a:cxn>
                <a:cxn ang="0">
                  <a:pos x="0" y="30"/>
                </a:cxn>
                <a:cxn ang="0">
                  <a:pos x="21" y="15"/>
                </a:cxn>
                <a:cxn ang="0">
                  <a:pos x="41" y="2"/>
                </a:cxn>
                <a:cxn ang="0">
                  <a:pos x="60" y="0"/>
                </a:cxn>
                <a:cxn ang="0">
                  <a:pos x="80" y="3"/>
                </a:cxn>
                <a:cxn ang="0">
                  <a:pos x="102" y="7"/>
                </a:cxn>
                <a:cxn ang="0">
                  <a:pos x="104" y="26"/>
                </a:cxn>
                <a:cxn ang="0">
                  <a:pos x="122" y="42"/>
                </a:cxn>
              </a:cxnLst>
              <a:rect l="0" t="0" r="r" b="b"/>
              <a:pathLst>
                <a:path w="122" h="78">
                  <a:moveTo>
                    <a:pt x="122" y="42"/>
                  </a:moveTo>
                  <a:lnTo>
                    <a:pt x="117" y="47"/>
                  </a:lnTo>
                  <a:lnTo>
                    <a:pt x="121" y="62"/>
                  </a:lnTo>
                  <a:lnTo>
                    <a:pt x="104" y="71"/>
                  </a:lnTo>
                  <a:lnTo>
                    <a:pt x="105" y="78"/>
                  </a:lnTo>
                  <a:lnTo>
                    <a:pt x="81" y="73"/>
                  </a:lnTo>
                  <a:lnTo>
                    <a:pt x="57" y="68"/>
                  </a:lnTo>
                  <a:lnTo>
                    <a:pt x="35" y="68"/>
                  </a:lnTo>
                  <a:lnTo>
                    <a:pt x="11" y="68"/>
                  </a:lnTo>
                  <a:lnTo>
                    <a:pt x="2" y="63"/>
                  </a:lnTo>
                  <a:lnTo>
                    <a:pt x="12" y="51"/>
                  </a:lnTo>
                  <a:lnTo>
                    <a:pt x="0" y="30"/>
                  </a:lnTo>
                  <a:lnTo>
                    <a:pt x="21" y="15"/>
                  </a:lnTo>
                  <a:lnTo>
                    <a:pt x="41" y="2"/>
                  </a:lnTo>
                  <a:lnTo>
                    <a:pt x="60" y="0"/>
                  </a:lnTo>
                  <a:lnTo>
                    <a:pt x="80" y="3"/>
                  </a:lnTo>
                  <a:lnTo>
                    <a:pt x="102" y="7"/>
                  </a:lnTo>
                  <a:lnTo>
                    <a:pt x="104" y="26"/>
                  </a:lnTo>
                  <a:lnTo>
                    <a:pt x="122"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0" name="Freeform 319"/>
            <p:cNvSpPr>
              <a:spLocks/>
            </p:cNvSpPr>
            <p:nvPr/>
          </p:nvSpPr>
          <p:spPr bwMode="auto">
            <a:xfrm>
              <a:off x="2653" y="1581"/>
              <a:ext cx="34" cy="40"/>
            </a:xfrm>
            <a:custGeom>
              <a:avLst/>
              <a:gdLst/>
              <a:ahLst/>
              <a:cxnLst>
                <a:cxn ang="0">
                  <a:pos x="18" y="31"/>
                </a:cxn>
                <a:cxn ang="0">
                  <a:pos x="17" y="36"/>
                </a:cxn>
                <a:cxn ang="0">
                  <a:pos x="6" y="34"/>
                </a:cxn>
                <a:cxn ang="0">
                  <a:pos x="4" y="31"/>
                </a:cxn>
                <a:cxn ang="0">
                  <a:pos x="0" y="23"/>
                </a:cxn>
                <a:cxn ang="0">
                  <a:pos x="0" y="6"/>
                </a:cxn>
                <a:cxn ang="0">
                  <a:pos x="7" y="5"/>
                </a:cxn>
                <a:cxn ang="0">
                  <a:pos x="10" y="6"/>
                </a:cxn>
                <a:cxn ang="0">
                  <a:pos x="11" y="3"/>
                </a:cxn>
                <a:cxn ang="0">
                  <a:pos x="21" y="0"/>
                </a:cxn>
                <a:cxn ang="0">
                  <a:pos x="24" y="6"/>
                </a:cxn>
                <a:cxn ang="0">
                  <a:pos x="31" y="7"/>
                </a:cxn>
                <a:cxn ang="0">
                  <a:pos x="29" y="13"/>
                </a:cxn>
                <a:cxn ang="0">
                  <a:pos x="19" y="21"/>
                </a:cxn>
                <a:cxn ang="0">
                  <a:pos x="19" y="23"/>
                </a:cxn>
                <a:cxn ang="0">
                  <a:pos x="18" y="31"/>
                </a:cxn>
              </a:cxnLst>
              <a:rect l="0" t="0" r="r" b="b"/>
              <a:pathLst>
                <a:path w="31" h="36">
                  <a:moveTo>
                    <a:pt x="18" y="31"/>
                  </a:moveTo>
                  <a:lnTo>
                    <a:pt x="17" y="36"/>
                  </a:lnTo>
                  <a:lnTo>
                    <a:pt x="6" y="34"/>
                  </a:lnTo>
                  <a:lnTo>
                    <a:pt x="4" y="31"/>
                  </a:lnTo>
                  <a:lnTo>
                    <a:pt x="0" y="23"/>
                  </a:lnTo>
                  <a:lnTo>
                    <a:pt x="0" y="6"/>
                  </a:lnTo>
                  <a:lnTo>
                    <a:pt x="7" y="5"/>
                  </a:lnTo>
                  <a:lnTo>
                    <a:pt x="10" y="6"/>
                  </a:lnTo>
                  <a:lnTo>
                    <a:pt x="11" y="3"/>
                  </a:lnTo>
                  <a:lnTo>
                    <a:pt x="21" y="0"/>
                  </a:lnTo>
                  <a:lnTo>
                    <a:pt x="24" y="6"/>
                  </a:lnTo>
                  <a:lnTo>
                    <a:pt x="31" y="7"/>
                  </a:lnTo>
                  <a:lnTo>
                    <a:pt x="29" y="13"/>
                  </a:lnTo>
                  <a:lnTo>
                    <a:pt x="19" y="21"/>
                  </a:lnTo>
                  <a:lnTo>
                    <a:pt x="19" y="23"/>
                  </a:lnTo>
                  <a:lnTo>
                    <a:pt x="18" y="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1" name="Freeform 320"/>
            <p:cNvSpPr>
              <a:spLocks/>
            </p:cNvSpPr>
            <p:nvPr/>
          </p:nvSpPr>
          <p:spPr bwMode="auto">
            <a:xfrm>
              <a:off x="2693" y="1596"/>
              <a:ext cx="23" cy="20"/>
            </a:xfrm>
            <a:custGeom>
              <a:avLst/>
              <a:gdLst/>
              <a:ahLst/>
              <a:cxnLst>
                <a:cxn ang="0">
                  <a:pos x="20" y="6"/>
                </a:cxn>
                <a:cxn ang="0">
                  <a:pos x="18" y="2"/>
                </a:cxn>
                <a:cxn ang="0">
                  <a:pos x="14" y="0"/>
                </a:cxn>
                <a:cxn ang="0">
                  <a:pos x="12" y="6"/>
                </a:cxn>
                <a:cxn ang="0">
                  <a:pos x="9" y="4"/>
                </a:cxn>
                <a:cxn ang="0">
                  <a:pos x="3" y="2"/>
                </a:cxn>
                <a:cxn ang="0">
                  <a:pos x="0" y="6"/>
                </a:cxn>
                <a:cxn ang="0">
                  <a:pos x="0" y="9"/>
                </a:cxn>
                <a:cxn ang="0">
                  <a:pos x="11" y="18"/>
                </a:cxn>
                <a:cxn ang="0">
                  <a:pos x="15" y="14"/>
                </a:cxn>
                <a:cxn ang="0">
                  <a:pos x="15" y="10"/>
                </a:cxn>
                <a:cxn ang="0">
                  <a:pos x="20" y="6"/>
                </a:cxn>
              </a:cxnLst>
              <a:rect l="0" t="0" r="r" b="b"/>
              <a:pathLst>
                <a:path w="20" h="18">
                  <a:moveTo>
                    <a:pt x="20" y="6"/>
                  </a:moveTo>
                  <a:lnTo>
                    <a:pt x="18" y="2"/>
                  </a:lnTo>
                  <a:lnTo>
                    <a:pt x="14" y="0"/>
                  </a:lnTo>
                  <a:lnTo>
                    <a:pt x="12" y="6"/>
                  </a:lnTo>
                  <a:lnTo>
                    <a:pt x="9" y="4"/>
                  </a:lnTo>
                  <a:lnTo>
                    <a:pt x="3" y="2"/>
                  </a:lnTo>
                  <a:lnTo>
                    <a:pt x="0" y="6"/>
                  </a:lnTo>
                  <a:lnTo>
                    <a:pt x="0" y="9"/>
                  </a:lnTo>
                  <a:lnTo>
                    <a:pt x="11" y="18"/>
                  </a:lnTo>
                  <a:lnTo>
                    <a:pt x="15" y="14"/>
                  </a:lnTo>
                  <a:lnTo>
                    <a:pt x="15" y="10"/>
                  </a:lnTo>
                  <a:lnTo>
                    <a:pt x="2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2" name="Freeform 321"/>
            <p:cNvSpPr>
              <a:spLocks/>
            </p:cNvSpPr>
            <p:nvPr/>
          </p:nvSpPr>
          <p:spPr bwMode="auto">
            <a:xfrm>
              <a:off x="2653" y="1565"/>
              <a:ext cx="31" cy="20"/>
            </a:xfrm>
            <a:custGeom>
              <a:avLst/>
              <a:gdLst/>
              <a:ahLst/>
              <a:cxnLst>
                <a:cxn ang="0">
                  <a:pos x="23" y="12"/>
                </a:cxn>
                <a:cxn ang="0">
                  <a:pos x="3" y="13"/>
                </a:cxn>
                <a:cxn ang="0">
                  <a:pos x="0" y="18"/>
                </a:cxn>
                <a:cxn ang="0">
                  <a:pos x="2" y="11"/>
                </a:cxn>
                <a:cxn ang="0">
                  <a:pos x="15" y="8"/>
                </a:cxn>
                <a:cxn ang="0">
                  <a:pos x="28" y="0"/>
                </a:cxn>
                <a:cxn ang="0">
                  <a:pos x="23" y="12"/>
                </a:cxn>
              </a:cxnLst>
              <a:rect l="0" t="0" r="r" b="b"/>
              <a:pathLst>
                <a:path w="28" h="18">
                  <a:moveTo>
                    <a:pt x="23" y="12"/>
                  </a:moveTo>
                  <a:lnTo>
                    <a:pt x="3" y="13"/>
                  </a:lnTo>
                  <a:lnTo>
                    <a:pt x="0" y="18"/>
                  </a:lnTo>
                  <a:lnTo>
                    <a:pt x="2" y="11"/>
                  </a:lnTo>
                  <a:lnTo>
                    <a:pt x="15" y="8"/>
                  </a:lnTo>
                  <a:lnTo>
                    <a:pt x="28" y="0"/>
                  </a:lnTo>
                  <a:lnTo>
                    <a:pt x="23"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3" name="Freeform 322"/>
            <p:cNvSpPr>
              <a:spLocks/>
            </p:cNvSpPr>
            <p:nvPr/>
          </p:nvSpPr>
          <p:spPr bwMode="auto">
            <a:xfrm>
              <a:off x="2676" y="1608"/>
              <a:ext cx="13" cy="8"/>
            </a:xfrm>
            <a:custGeom>
              <a:avLst/>
              <a:gdLst/>
              <a:ahLst/>
              <a:cxnLst>
                <a:cxn ang="0">
                  <a:pos x="13" y="4"/>
                </a:cxn>
                <a:cxn ang="0">
                  <a:pos x="9" y="0"/>
                </a:cxn>
                <a:cxn ang="0">
                  <a:pos x="0" y="1"/>
                </a:cxn>
                <a:cxn ang="0">
                  <a:pos x="9" y="9"/>
                </a:cxn>
                <a:cxn ang="0">
                  <a:pos x="13" y="4"/>
                </a:cxn>
              </a:cxnLst>
              <a:rect l="0" t="0" r="r" b="b"/>
              <a:pathLst>
                <a:path w="13" h="9">
                  <a:moveTo>
                    <a:pt x="13" y="4"/>
                  </a:moveTo>
                  <a:lnTo>
                    <a:pt x="9" y="0"/>
                  </a:lnTo>
                  <a:lnTo>
                    <a:pt x="0" y="1"/>
                  </a:lnTo>
                  <a:lnTo>
                    <a:pt x="9" y="9"/>
                  </a:lnTo>
                  <a:lnTo>
                    <a:pt x="13"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4" name="Freeform 323"/>
            <p:cNvSpPr>
              <a:spLocks/>
            </p:cNvSpPr>
            <p:nvPr/>
          </p:nvSpPr>
          <p:spPr bwMode="auto">
            <a:xfrm>
              <a:off x="2707" y="1616"/>
              <a:ext cx="2" cy="5"/>
            </a:xfrm>
            <a:custGeom>
              <a:avLst/>
              <a:gdLst/>
              <a:ahLst/>
              <a:cxnLst>
                <a:cxn ang="0">
                  <a:pos x="3" y="1"/>
                </a:cxn>
                <a:cxn ang="0">
                  <a:pos x="0" y="0"/>
                </a:cxn>
                <a:cxn ang="0">
                  <a:pos x="0" y="3"/>
                </a:cxn>
                <a:cxn ang="0">
                  <a:pos x="3" y="1"/>
                </a:cxn>
              </a:cxnLst>
              <a:rect l="0" t="0" r="r" b="b"/>
              <a:pathLst>
                <a:path w="3" h="3">
                  <a:moveTo>
                    <a:pt x="3" y="1"/>
                  </a:moveTo>
                  <a:lnTo>
                    <a:pt x="0" y="0"/>
                  </a:lnTo>
                  <a:lnTo>
                    <a:pt x="0" y="3"/>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5" name="Freeform 324"/>
            <p:cNvSpPr>
              <a:spLocks/>
            </p:cNvSpPr>
            <p:nvPr/>
          </p:nvSpPr>
          <p:spPr bwMode="auto">
            <a:xfrm>
              <a:off x="2864" y="1532"/>
              <a:ext cx="65" cy="31"/>
            </a:xfrm>
            <a:custGeom>
              <a:avLst/>
              <a:gdLst/>
              <a:ahLst/>
              <a:cxnLst>
                <a:cxn ang="0">
                  <a:pos x="59" y="17"/>
                </a:cxn>
                <a:cxn ang="0">
                  <a:pos x="55" y="2"/>
                </a:cxn>
                <a:cxn ang="0">
                  <a:pos x="24" y="0"/>
                </a:cxn>
                <a:cxn ang="0">
                  <a:pos x="0" y="6"/>
                </a:cxn>
                <a:cxn ang="0">
                  <a:pos x="2" y="12"/>
                </a:cxn>
                <a:cxn ang="0">
                  <a:pos x="11" y="22"/>
                </a:cxn>
                <a:cxn ang="0">
                  <a:pos x="16" y="22"/>
                </a:cxn>
                <a:cxn ang="0">
                  <a:pos x="34" y="24"/>
                </a:cxn>
                <a:cxn ang="0">
                  <a:pos x="53" y="28"/>
                </a:cxn>
                <a:cxn ang="0">
                  <a:pos x="59" y="17"/>
                </a:cxn>
              </a:cxnLst>
              <a:rect l="0" t="0" r="r" b="b"/>
              <a:pathLst>
                <a:path w="59" h="28">
                  <a:moveTo>
                    <a:pt x="59" y="17"/>
                  </a:moveTo>
                  <a:lnTo>
                    <a:pt x="55" y="2"/>
                  </a:lnTo>
                  <a:lnTo>
                    <a:pt x="24" y="0"/>
                  </a:lnTo>
                  <a:lnTo>
                    <a:pt x="0" y="6"/>
                  </a:lnTo>
                  <a:lnTo>
                    <a:pt x="2" y="12"/>
                  </a:lnTo>
                  <a:lnTo>
                    <a:pt x="11" y="22"/>
                  </a:lnTo>
                  <a:lnTo>
                    <a:pt x="16" y="22"/>
                  </a:lnTo>
                  <a:lnTo>
                    <a:pt x="34" y="24"/>
                  </a:lnTo>
                  <a:lnTo>
                    <a:pt x="53" y="28"/>
                  </a:lnTo>
                  <a:lnTo>
                    <a:pt x="59"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6" name="Freeform 325"/>
            <p:cNvSpPr>
              <a:spLocks/>
            </p:cNvSpPr>
            <p:nvPr/>
          </p:nvSpPr>
          <p:spPr bwMode="auto">
            <a:xfrm>
              <a:off x="2836" y="1556"/>
              <a:ext cx="106" cy="45"/>
            </a:xfrm>
            <a:custGeom>
              <a:avLst/>
              <a:gdLst/>
              <a:ahLst/>
              <a:cxnLst>
                <a:cxn ang="0">
                  <a:pos x="49" y="26"/>
                </a:cxn>
                <a:cxn ang="0">
                  <a:pos x="26" y="30"/>
                </a:cxn>
                <a:cxn ang="0">
                  <a:pos x="5" y="32"/>
                </a:cxn>
                <a:cxn ang="0">
                  <a:pos x="0" y="33"/>
                </a:cxn>
                <a:cxn ang="0">
                  <a:pos x="7" y="10"/>
                </a:cxn>
                <a:cxn ang="0">
                  <a:pos x="18" y="10"/>
                </a:cxn>
                <a:cxn ang="0">
                  <a:pos x="35" y="21"/>
                </a:cxn>
                <a:cxn ang="0">
                  <a:pos x="42" y="14"/>
                </a:cxn>
                <a:cxn ang="0">
                  <a:pos x="41" y="0"/>
                </a:cxn>
                <a:cxn ang="0">
                  <a:pos x="59" y="2"/>
                </a:cxn>
                <a:cxn ang="0">
                  <a:pos x="78" y="6"/>
                </a:cxn>
                <a:cxn ang="0">
                  <a:pos x="86" y="18"/>
                </a:cxn>
                <a:cxn ang="0">
                  <a:pos x="96" y="37"/>
                </a:cxn>
                <a:cxn ang="0">
                  <a:pos x="77" y="39"/>
                </a:cxn>
                <a:cxn ang="0">
                  <a:pos x="49" y="26"/>
                </a:cxn>
              </a:cxnLst>
              <a:rect l="0" t="0" r="r" b="b"/>
              <a:pathLst>
                <a:path w="96" h="39">
                  <a:moveTo>
                    <a:pt x="49" y="26"/>
                  </a:moveTo>
                  <a:lnTo>
                    <a:pt x="26" y="30"/>
                  </a:lnTo>
                  <a:lnTo>
                    <a:pt x="5" y="32"/>
                  </a:lnTo>
                  <a:lnTo>
                    <a:pt x="0" y="33"/>
                  </a:lnTo>
                  <a:lnTo>
                    <a:pt x="7" y="10"/>
                  </a:lnTo>
                  <a:lnTo>
                    <a:pt x="18" y="10"/>
                  </a:lnTo>
                  <a:lnTo>
                    <a:pt x="35" y="21"/>
                  </a:lnTo>
                  <a:lnTo>
                    <a:pt x="42" y="14"/>
                  </a:lnTo>
                  <a:lnTo>
                    <a:pt x="41" y="0"/>
                  </a:lnTo>
                  <a:lnTo>
                    <a:pt x="59" y="2"/>
                  </a:lnTo>
                  <a:lnTo>
                    <a:pt x="78" y="6"/>
                  </a:lnTo>
                  <a:lnTo>
                    <a:pt x="86" y="18"/>
                  </a:lnTo>
                  <a:lnTo>
                    <a:pt x="96" y="37"/>
                  </a:lnTo>
                  <a:lnTo>
                    <a:pt x="77" y="39"/>
                  </a:lnTo>
                  <a:lnTo>
                    <a:pt x="49" y="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7" name="Freeform 326"/>
            <p:cNvSpPr>
              <a:spLocks/>
            </p:cNvSpPr>
            <p:nvPr/>
          </p:nvSpPr>
          <p:spPr bwMode="auto">
            <a:xfrm>
              <a:off x="2836" y="1585"/>
              <a:ext cx="86" cy="45"/>
            </a:xfrm>
            <a:custGeom>
              <a:avLst/>
              <a:gdLst/>
              <a:ahLst/>
              <a:cxnLst>
                <a:cxn ang="0">
                  <a:pos x="3" y="29"/>
                </a:cxn>
                <a:cxn ang="0">
                  <a:pos x="0" y="7"/>
                </a:cxn>
                <a:cxn ang="0">
                  <a:pos x="5" y="6"/>
                </a:cxn>
                <a:cxn ang="0">
                  <a:pos x="26" y="4"/>
                </a:cxn>
                <a:cxn ang="0">
                  <a:pos x="49" y="0"/>
                </a:cxn>
                <a:cxn ang="0">
                  <a:pos x="77" y="13"/>
                </a:cxn>
                <a:cxn ang="0">
                  <a:pos x="57" y="26"/>
                </a:cxn>
                <a:cxn ang="0">
                  <a:pos x="36" y="41"/>
                </a:cxn>
                <a:cxn ang="0">
                  <a:pos x="24" y="40"/>
                </a:cxn>
                <a:cxn ang="0">
                  <a:pos x="24" y="32"/>
                </a:cxn>
                <a:cxn ang="0">
                  <a:pos x="12" y="31"/>
                </a:cxn>
                <a:cxn ang="0">
                  <a:pos x="3" y="29"/>
                </a:cxn>
              </a:cxnLst>
              <a:rect l="0" t="0" r="r" b="b"/>
              <a:pathLst>
                <a:path w="77" h="41">
                  <a:moveTo>
                    <a:pt x="3" y="29"/>
                  </a:moveTo>
                  <a:lnTo>
                    <a:pt x="0" y="7"/>
                  </a:lnTo>
                  <a:lnTo>
                    <a:pt x="5" y="6"/>
                  </a:lnTo>
                  <a:lnTo>
                    <a:pt x="26" y="4"/>
                  </a:lnTo>
                  <a:lnTo>
                    <a:pt x="49" y="0"/>
                  </a:lnTo>
                  <a:lnTo>
                    <a:pt x="77" y="13"/>
                  </a:lnTo>
                  <a:lnTo>
                    <a:pt x="57" y="26"/>
                  </a:lnTo>
                  <a:lnTo>
                    <a:pt x="36" y="41"/>
                  </a:lnTo>
                  <a:lnTo>
                    <a:pt x="24" y="40"/>
                  </a:lnTo>
                  <a:lnTo>
                    <a:pt x="24" y="32"/>
                  </a:lnTo>
                  <a:lnTo>
                    <a:pt x="12" y="31"/>
                  </a:lnTo>
                  <a:lnTo>
                    <a:pt x="3" y="2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8" name="Freeform 327"/>
            <p:cNvSpPr>
              <a:spLocks/>
            </p:cNvSpPr>
            <p:nvPr/>
          </p:nvSpPr>
          <p:spPr bwMode="auto">
            <a:xfrm>
              <a:off x="2582" y="1648"/>
              <a:ext cx="58" cy="48"/>
            </a:xfrm>
            <a:custGeom>
              <a:avLst/>
              <a:gdLst/>
              <a:ahLst/>
              <a:cxnLst>
                <a:cxn ang="0">
                  <a:pos x="38" y="27"/>
                </a:cxn>
                <a:cxn ang="0">
                  <a:pos x="50" y="21"/>
                </a:cxn>
                <a:cxn ang="0">
                  <a:pos x="45" y="13"/>
                </a:cxn>
                <a:cxn ang="0">
                  <a:pos x="51" y="3"/>
                </a:cxn>
                <a:cxn ang="0">
                  <a:pos x="34" y="0"/>
                </a:cxn>
                <a:cxn ang="0">
                  <a:pos x="16" y="11"/>
                </a:cxn>
                <a:cxn ang="0">
                  <a:pos x="4" y="29"/>
                </a:cxn>
                <a:cxn ang="0">
                  <a:pos x="0" y="35"/>
                </a:cxn>
                <a:cxn ang="0">
                  <a:pos x="12" y="35"/>
                </a:cxn>
                <a:cxn ang="0">
                  <a:pos x="30" y="36"/>
                </a:cxn>
                <a:cxn ang="0">
                  <a:pos x="32" y="42"/>
                </a:cxn>
                <a:cxn ang="0">
                  <a:pos x="37" y="46"/>
                </a:cxn>
                <a:cxn ang="0">
                  <a:pos x="38" y="27"/>
                </a:cxn>
              </a:cxnLst>
              <a:rect l="0" t="0" r="r" b="b"/>
              <a:pathLst>
                <a:path w="51" h="46">
                  <a:moveTo>
                    <a:pt x="38" y="27"/>
                  </a:moveTo>
                  <a:lnTo>
                    <a:pt x="50" y="21"/>
                  </a:lnTo>
                  <a:lnTo>
                    <a:pt x="45" y="13"/>
                  </a:lnTo>
                  <a:lnTo>
                    <a:pt x="51" y="3"/>
                  </a:lnTo>
                  <a:lnTo>
                    <a:pt x="34" y="0"/>
                  </a:lnTo>
                  <a:lnTo>
                    <a:pt x="16" y="11"/>
                  </a:lnTo>
                  <a:lnTo>
                    <a:pt x="4" y="29"/>
                  </a:lnTo>
                  <a:lnTo>
                    <a:pt x="0" y="35"/>
                  </a:lnTo>
                  <a:lnTo>
                    <a:pt x="12" y="35"/>
                  </a:lnTo>
                  <a:lnTo>
                    <a:pt x="30" y="36"/>
                  </a:lnTo>
                  <a:lnTo>
                    <a:pt x="32" y="42"/>
                  </a:lnTo>
                  <a:lnTo>
                    <a:pt x="37" y="46"/>
                  </a:lnTo>
                  <a:lnTo>
                    <a:pt x="38"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9" name="Freeform 328"/>
            <p:cNvSpPr>
              <a:spLocks/>
            </p:cNvSpPr>
            <p:nvPr/>
          </p:nvSpPr>
          <p:spPr bwMode="auto">
            <a:xfrm>
              <a:off x="2742" y="1621"/>
              <a:ext cx="154" cy="109"/>
            </a:xfrm>
            <a:custGeom>
              <a:avLst/>
              <a:gdLst/>
              <a:ahLst/>
              <a:cxnLst>
                <a:cxn ang="0">
                  <a:pos x="57" y="5"/>
                </a:cxn>
                <a:cxn ang="0">
                  <a:pos x="55" y="0"/>
                </a:cxn>
                <a:cxn ang="0">
                  <a:pos x="37" y="2"/>
                </a:cxn>
                <a:cxn ang="0">
                  <a:pos x="19" y="8"/>
                </a:cxn>
                <a:cxn ang="0">
                  <a:pos x="0" y="11"/>
                </a:cxn>
                <a:cxn ang="0">
                  <a:pos x="6" y="17"/>
                </a:cxn>
                <a:cxn ang="0">
                  <a:pos x="1" y="18"/>
                </a:cxn>
                <a:cxn ang="0">
                  <a:pos x="3" y="34"/>
                </a:cxn>
                <a:cxn ang="0">
                  <a:pos x="10" y="53"/>
                </a:cxn>
                <a:cxn ang="0">
                  <a:pos x="13" y="66"/>
                </a:cxn>
                <a:cxn ang="0">
                  <a:pos x="15" y="66"/>
                </a:cxn>
                <a:cxn ang="0">
                  <a:pos x="33" y="72"/>
                </a:cxn>
                <a:cxn ang="0">
                  <a:pos x="37" y="77"/>
                </a:cxn>
                <a:cxn ang="0">
                  <a:pos x="44" y="77"/>
                </a:cxn>
                <a:cxn ang="0">
                  <a:pos x="54" y="77"/>
                </a:cxn>
                <a:cxn ang="0">
                  <a:pos x="70" y="89"/>
                </a:cxn>
                <a:cxn ang="0">
                  <a:pos x="86" y="90"/>
                </a:cxn>
                <a:cxn ang="0">
                  <a:pos x="88" y="94"/>
                </a:cxn>
                <a:cxn ang="0">
                  <a:pos x="100" y="93"/>
                </a:cxn>
                <a:cxn ang="0">
                  <a:pos x="122" y="98"/>
                </a:cxn>
                <a:cxn ang="0">
                  <a:pos x="124" y="93"/>
                </a:cxn>
                <a:cxn ang="0">
                  <a:pos x="138" y="75"/>
                </a:cxn>
                <a:cxn ang="0">
                  <a:pos x="139" y="66"/>
                </a:cxn>
                <a:cxn ang="0">
                  <a:pos x="132" y="47"/>
                </a:cxn>
                <a:cxn ang="0">
                  <a:pos x="123" y="42"/>
                </a:cxn>
                <a:cxn ang="0">
                  <a:pos x="133" y="30"/>
                </a:cxn>
                <a:cxn ang="0">
                  <a:pos x="121" y="9"/>
                </a:cxn>
                <a:cxn ang="0">
                  <a:pos x="96" y="6"/>
                </a:cxn>
                <a:cxn ang="0">
                  <a:pos x="72" y="5"/>
                </a:cxn>
                <a:cxn ang="0">
                  <a:pos x="57" y="5"/>
                </a:cxn>
              </a:cxnLst>
              <a:rect l="0" t="0" r="r" b="b"/>
              <a:pathLst>
                <a:path w="139" h="98">
                  <a:moveTo>
                    <a:pt x="57" y="5"/>
                  </a:moveTo>
                  <a:lnTo>
                    <a:pt x="55" y="0"/>
                  </a:lnTo>
                  <a:lnTo>
                    <a:pt x="37" y="2"/>
                  </a:lnTo>
                  <a:lnTo>
                    <a:pt x="19" y="8"/>
                  </a:lnTo>
                  <a:lnTo>
                    <a:pt x="0" y="11"/>
                  </a:lnTo>
                  <a:lnTo>
                    <a:pt x="6" y="17"/>
                  </a:lnTo>
                  <a:lnTo>
                    <a:pt x="1" y="18"/>
                  </a:lnTo>
                  <a:lnTo>
                    <a:pt x="3" y="34"/>
                  </a:lnTo>
                  <a:lnTo>
                    <a:pt x="10" y="53"/>
                  </a:lnTo>
                  <a:lnTo>
                    <a:pt x="13" y="66"/>
                  </a:lnTo>
                  <a:lnTo>
                    <a:pt x="15" y="66"/>
                  </a:lnTo>
                  <a:lnTo>
                    <a:pt x="33" y="72"/>
                  </a:lnTo>
                  <a:lnTo>
                    <a:pt x="37" y="77"/>
                  </a:lnTo>
                  <a:lnTo>
                    <a:pt x="44" y="77"/>
                  </a:lnTo>
                  <a:lnTo>
                    <a:pt x="54" y="77"/>
                  </a:lnTo>
                  <a:lnTo>
                    <a:pt x="70" y="89"/>
                  </a:lnTo>
                  <a:lnTo>
                    <a:pt x="86" y="90"/>
                  </a:lnTo>
                  <a:lnTo>
                    <a:pt x="88" y="94"/>
                  </a:lnTo>
                  <a:lnTo>
                    <a:pt x="100" y="93"/>
                  </a:lnTo>
                  <a:lnTo>
                    <a:pt x="122" y="98"/>
                  </a:lnTo>
                  <a:lnTo>
                    <a:pt x="124" y="93"/>
                  </a:lnTo>
                  <a:lnTo>
                    <a:pt x="138" y="75"/>
                  </a:lnTo>
                  <a:lnTo>
                    <a:pt x="139" y="66"/>
                  </a:lnTo>
                  <a:lnTo>
                    <a:pt x="132" y="47"/>
                  </a:lnTo>
                  <a:lnTo>
                    <a:pt x="123" y="42"/>
                  </a:lnTo>
                  <a:lnTo>
                    <a:pt x="133" y="30"/>
                  </a:lnTo>
                  <a:lnTo>
                    <a:pt x="121" y="9"/>
                  </a:lnTo>
                  <a:lnTo>
                    <a:pt x="96" y="6"/>
                  </a:lnTo>
                  <a:lnTo>
                    <a:pt x="72" y="5"/>
                  </a:lnTo>
                  <a:lnTo>
                    <a:pt x="57"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0" name="Freeform 329"/>
            <p:cNvSpPr>
              <a:spLocks/>
            </p:cNvSpPr>
            <p:nvPr/>
          </p:nvSpPr>
          <p:spPr bwMode="auto">
            <a:xfrm>
              <a:off x="2849" y="1745"/>
              <a:ext cx="151" cy="89"/>
            </a:xfrm>
            <a:custGeom>
              <a:avLst/>
              <a:gdLst/>
              <a:ahLst/>
              <a:cxnLst>
                <a:cxn ang="0">
                  <a:pos x="123" y="66"/>
                </a:cxn>
                <a:cxn ang="0">
                  <a:pos x="122" y="79"/>
                </a:cxn>
                <a:cxn ang="0">
                  <a:pos x="95" y="73"/>
                </a:cxn>
                <a:cxn ang="0">
                  <a:pos x="73" y="80"/>
                </a:cxn>
                <a:cxn ang="0">
                  <a:pos x="56" y="78"/>
                </a:cxn>
                <a:cxn ang="0">
                  <a:pos x="41" y="76"/>
                </a:cxn>
                <a:cxn ang="0">
                  <a:pos x="37" y="71"/>
                </a:cxn>
                <a:cxn ang="0">
                  <a:pos x="36" y="65"/>
                </a:cxn>
                <a:cxn ang="0">
                  <a:pos x="31" y="64"/>
                </a:cxn>
                <a:cxn ang="0">
                  <a:pos x="26" y="62"/>
                </a:cxn>
                <a:cxn ang="0">
                  <a:pos x="20" y="59"/>
                </a:cxn>
                <a:cxn ang="0">
                  <a:pos x="0" y="37"/>
                </a:cxn>
                <a:cxn ang="0">
                  <a:pos x="7" y="35"/>
                </a:cxn>
                <a:cxn ang="0">
                  <a:pos x="19" y="19"/>
                </a:cxn>
                <a:cxn ang="0">
                  <a:pos x="32" y="6"/>
                </a:cxn>
                <a:cxn ang="0">
                  <a:pos x="33" y="5"/>
                </a:cxn>
                <a:cxn ang="0">
                  <a:pos x="60" y="7"/>
                </a:cxn>
                <a:cxn ang="0">
                  <a:pos x="84" y="0"/>
                </a:cxn>
                <a:cxn ang="0">
                  <a:pos x="85" y="0"/>
                </a:cxn>
                <a:cxn ang="0">
                  <a:pos x="95" y="11"/>
                </a:cxn>
                <a:cxn ang="0">
                  <a:pos x="105" y="20"/>
                </a:cxn>
                <a:cxn ang="0">
                  <a:pos x="110" y="36"/>
                </a:cxn>
                <a:cxn ang="0">
                  <a:pos x="114" y="50"/>
                </a:cxn>
                <a:cxn ang="0">
                  <a:pos x="126" y="50"/>
                </a:cxn>
                <a:cxn ang="0">
                  <a:pos x="134" y="53"/>
                </a:cxn>
                <a:cxn ang="0">
                  <a:pos x="134" y="58"/>
                </a:cxn>
                <a:cxn ang="0">
                  <a:pos x="128" y="61"/>
                </a:cxn>
                <a:cxn ang="0">
                  <a:pos x="127" y="60"/>
                </a:cxn>
                <a:cxn ang="0">
                  <a:pos x="123" y="66"/>
                </a:cxn>
              </a:cxnLst>
              <a:rect l="0" t="0" r="r" b="b"/>
              <a:pathLst>
                <a:path w="134" h="80">
                  <a:moveTo>
                    <a:pt x="123" y="66"/>
                  </a:moveTo>
                  <a:lnTo>
                    <a:pt x="122" y="79"/>
                  </a:lnTo>
                  <a:lnTo>
                    <a:pt x="95" y="73"/>
                  </a:lnTo>
                  <a:lnTo>
                    <a:pt x="73" y="80"/>
                  </a:lnTo>
                  <a:lnTo>
                    <a:pt x="56" y="78"/>
                  </a:lnTo>
                  <a:lnTo>
                    <a:pt x="41" y="76"/>
                  </a:lnTo>
                  <a:lnTo>
                    <a:pt x="37" y="71"/>
                  </a:lnTo>
                  <a:lnTo>
                    <a:pt x="36" y="65"/>
                  </a:lnTo>
                  <a:lnTo>
                    <a:pt x="31" y="64"/>
                  </a:lnTo>
                  <a:lnTo>
                    <a:pt x="26" y="62"/>
                  </a:lnTo>
                  <a:lnTo>
                    <a:pt x="20" y="59"/>
                  </a:lnTo>
                  <a:lnTo>
                    <a:pt x="0" y="37"/>
                  </a:lnTo>
                  <a:lnTo>
                    <a:pt x="7" y="35"/>
                  </a:lnTo>
                  <a:lnTo>
                    <a:pt x="19" y="19"/>
                  </a:lnTo>
                  <a:lnTo>
                    <a:pt x="32" y="6"/>
                  </a:lnTo>
                  <a:lnTo>
                    <a:pt x="33" y="5"/>
                  </a:lnTo>
                  <a:lnTo>
                    <a:pt x="60" y="7"/>
                  </a:lnTo>
                  <a:lnTo>
                    <a:pt x="84" y="0"/>
                  </a:lnTo>
                  <a:lnTo>
                    <a:pt x="85" y="0"/>
                  </a:lnTo>
                  <a:lnTo>
                    <a:pt x="95" y="11"/>
                  </a:lnTo>
                  <a:lnTo>
                    <a:pt x="105" y="20"/>
                  </a:lnTo>
                  <a:lnTo>
                    <a:pt x="110" y="36"/>
                  </a:lnTo>
                  <a:lnTo>
                    <a:pt x="114" y="50"/>
                  </a:lnTo>
                  <a:lnTo>
                    <a:pt x="126" y="50"/>
                  </a:lnTo>
                  <a:lnTo>
                    <a:pt x="134" y="53"/>
                  </a:lnTo>
                  <a:lnTo>
                    <a:pt x="134" y="58"/>
                  </a:lnTo>
                  <a:lnTo>
                    <a:pt x="128" y="61"/>
                  </a:lnTo>
                  <a:lnTo>
                    <a:pt x="127" y="60"/>
                  </a:lnTo>
                  <a:lnTo>
                    <a:pt x="123" y="6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1" name="Freeform 330"/>
            <p:cNvSpPr>
              <a:spLocks/>
            </p:cNvSpPr>
            <p:nvPr/>
          </p:nvSpPr>
          <p:spPr bwMode="auto">
            <a:xfrm>
              <a:off x="2718" y="1694"/>
              <a:ext cx="102" cy="47"/>
            </a:xfrm>
            <a:custGeom>
              <a:avLst/>
              <a:gdLst/>
              <a:ahLst/>
              <a:cxnLst>
                <a:cxn ang="0">
                  <a:pos x="76" y="12"/>
                </a:cxn>
                <a:cxn ang="0">
                  <a:pos x="92" y="24"/>
                </a:cxn>
                <a:cxn ang="0">
                  <a:pos x="92" y="25"/>
                </a:cxn>
                <a:cxn ang="0">
                  <a:pos x="88" y="29"/>
                </a:cxn>
                <a:cxn ang="0">
                  <a:pos x="84" y="31"/>
                </a:cxn>
                <a:cxn ang="0">
                  <a:pos x="84" y="33"/>
                </a:cxn>
                <a:cxn ang="0">
                  <a:pos x="79" y="37"/>
                </a:cxn>
                <a:cxn ang="0">
                  <a:pos x="72" y="39"/>
                </a:cxn>
                <a:cxn ang="0">
                  <a:pos x="67" y="39"/>
                </a:cxn>
                <a:cxn ang="0">
                  <a:pos x="62" y="39"/>
                </a:cxn>
                <a:cxn ang="0">
                  <a:pos x="40" y="35"/>
                </a:cxn>
                <a:cxn ang="0">
                  <a:pos x="32" y="42"/>
                </a:cxn>
                <a:cxn ang="0">
                  <a:pos x="24" y="39"/>
                </a:cxn>
                <a:cxn ang="0">
                  <a:pos x="4" y="19"/>
                </a:cxn>
                <a:cxn ang="0">
                  <a:pos x="0" y="13"/>
                </a:cxn>
                <a:cxn ang="0">
                  <a:pos x="31" y="0"/>
                </a:cxn>
                <a:cxn ang="0">
                  <a:pos x="35" y="1"/>
                </a:cxn>
                <a:cxn ang="0">
                  <a:pos x="37" y="1"/>
                </a:cxn>
                <a:cxn ang="0">
                  <a:pos x="55" y="7"/>
                </a:cxn>
                <a:cxn ang="0">
                  <a:pos x="59" y="12"/>
                </a:cxn>
                <a:cxn ang="0">
                  <a:pos x="66" y="12"/>
                </a:cxn>
                <a:cxn ang="0">
                  <a:pos x="76" y="12"/>
                </a:cxn>
              </a:cxnLst>
              <a:rect l="0" t="0" r="r" b="b"/>
              <a:pathLst>
                <a:path w="92" h="42">
                  <a:moveTo>
                    <a:pt x="76" y="12"/>
                  </a:moveTo>
                  <a:lnTo>
                    <a:pt x="92" y="24"/>
                  </a:lnTo>
                  <a:lnTo>
                    <a:pt x="92" y="25"/>
                  </a:lnTo>
                  <a:lnTo>
                    <a:pt x="88" y="29"/>
                  </a:lnTo>
                  <a:lnTo>
                    <a:pt x="84" y="31"/>
                  </a:lnTo>
                  <a:lnTo>
                    <a:pt x="84" y="33"/>
                  </a:lnTo>
                  <a:lnTo>
                    <a:pt x="79" y="37"/>
                  </a:lnTo>
                  <a:lnTo>
                    <a:pt x="72" y="39"/>
                  </a:lnTo>
                  <a:lnTo>
                    <a:pt x="67" y="39"/>
                  </a:lnTo>
                  <a:lnTo>
                    <a:pt x="62" y="39"/>
                  </a:lnTo>
                  <a:lnTo>
                    <a:pt x="40" y="35"/>
                  </a:lnTo>
                  <a:lnTo>
                    <a:pt x="32" y="42"/>
                  </a:lnTo>
                  <a:lnTo>
                    <a:pt x="24" y="39"/>
                  </a:lnTo>
                  <a:lnTo>
                    <a:pt x="4" y="19"/>
                  </a:lnTo>
                  <a:lnTo>
                    <a:pt x="0" y="13"/>
                  </a:lnTo>
                  <a:lnTo>
                    <a:pt x="31" y="0"/>
                  </a:lnTo>
                  <a:lnTo>
                    <a:pt x="35" y="1"/>
                  </a:lnTo>
                  <a:lnTo>
                    <a:pt x="37" y="1"/>
                  </a:lnTo>
                  <a:lnTo>
                    <a:pt x="55" y="7"/>
                  </a:lnTo>
                  <a:lnTo>
                    <a:pt x="59" y="12"/>
                  </a:lnTo>
                  <a:lnTo>
                    <a:pt x="66" y="12"/>
                  </a:lnTo>
                  <a:lnTo>
                    <a:pt x="7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2" name="Freeform 331"/>
            <p:cNvSpPr>
              <a:spLocks/>
            </p:cNvSpPr>
            <p:nvPr/>
          </p:nvSpPr>
          <p:spPr bwMode="auto">
            <a:xfrm>
              <a:off x="2569" y="1685"/>
              <a:ext cx="58" cy="36"/>
            </a:xfrm>
            <a:custGeom>
              <a:avLst/>
              <a:gdLst/>
              <a:ahLst/>
              <a:cxnLst>
                <a:cxn ang="0">
                  <a:pos x="11" y="0"/>
                </a:cxn>
                <a:cxn ang="0">
                  <a:pos x="0" y="5"/>
                </a:cxn>
                <a:cxn ang="0">
                  <a:pos x="6" y="11"/>
                </a:cxn>
                <a:cxn ang="0">
                  <a:pos x="24" y="23"/>
                </a:cxn>
                <a:cxn ang="0">
                  <a:pos x="30" y="22"/>
                </a:cxn>
                <a:cxn ang="0">
                  <a:pos x="31" y="24"/>
                </a:cxn>
                <a:cxn ang="0">
                  <a:pos x="45" y="31"/>
                </a:cxn>
                <a:cxn ang="0">
                  <a:pos x="45" y="29"/>
                </a:cxn>
                <a:cxn ang="0">
                  <a:pos x="49" y="22"/>
                </a:cxn>
                <a:cxn ang="0">
                  <a:pos x="50" y="12"/>
                </a:cxn>
                <a:cxn ang="0">
                  <a:pos x="48" y="11"/>
                </a:cxn>
                <a:cxn ang="0">
                  <a:pos x="43" y="7"/>
                </a:cxn>
                <a:cxn ang="0">
                  <a:pos x="41" y="1"/>
                </a:cxn>
                <a:cxn ang="0">
                  <a:pos x="23" y="0"/>
                </a:cxn>
                <a:cxn ang="0">
                  <a:pos x="11" y="0"/>
                </a:cxn>
              </a:cxnLst>
              <a:rect l="0" t="0" r="r" b="b"/>
              <a:pathLst>
                <a:path w="50" h="31">
                  <a:moveTo>
                    <a:pt x="11" y="0"/>
                  </a:moveTo>
                  <a:lnTo>
                    <a:pt x="0" y="5"/>
                  </a:lnTo>
                  <a:lnTo>
                    <a:pt x="6" y="11"/>
                  </a:lnTo>
                  <a:lnTo>
                    <a:pt x="24" y="23"/>
                  </a:lnTo>
                  <a:lnTo>
                    <a:pt x="30" y="22"/>
                  </a:lnTo>
                  <a:lnTo>
                    <a:pt x="31" y="24"/>
                  </a:lnTo>
                  <a:lnTo>
                    <a:pt x="45" y="31"/>
                  </a:lnTo>
                  <a:lnTo>
                    <a:pt x="45" y="29"/>
                  </a:lnTo>
                  <a:lnTo>
                    <a:pt x="49" y="22"/>
                  </a:lnTo>
                  <a:lnTo>
                    <a:pt x="50" y="12"/>
                  </a:lnTo>
                  <a:lnTo>
                    <a:pt x="48" y="11"/>
                  </a:lnTo>
                  <a:lnTo>
                    <a:pt x="43" y="7"/>
                  </a:lnTo>
                  <a:lnTo>
                    <a:pt x="41" y="1"/>
                  </a:lnTo>
                  <a:lnTo>
                    <a:pt x="23" y="0"/>
                  </a:lnTo>
                  <a:lnTo>
                    <a:pt x="1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3" name="Freeform 332"/>
            <p:cNvSpPr>
              <a:spLocks/>
            </p:cNvSpPr>
            <p:nvPr/>
          </p:nvSpPr>
          <p:spPr bwMode="auto">
            <a:xfrm>
              <a:off x="2622" y="1616"/>
              <a:ext cx="134" cy="147"/>
            </a:xfrm>
            <a:custGeom>
              <a:avLst/>
              <a:gdLst/>
              <a:ahLst/>
              <a:cxnLst>
                <a:cxn ang="0">
                  <a:pos x="29" y="24"/>
                </a:cxn>
                <a:cxn ang="0">
                  <a:pos x="31" y="25"/>
                </a:cxn>
                <a:cxn ang="0">
                  <a:pos x="31" y="21"/>
                </a:cxn>
                <a:cxn ang="0">
                  <a:pos x="36" y="19"/>
                </a:cxn>
                <a:cxn ang="0">
                  <a:pos x="45" y="23"/>
                </a:cxn>
                <a:cxn ang="0">
                  <a:pos x="41" y="18"/>
                </a:cxn>
                <a:cxn ang="0">
                  <a:pos x="36" y="11"/>
                </a:cxn>
                <a:cxn ang="0">
                  <a:pos x="35" y="9"/>
                </a:cxn>
                <a:cxn ang="0">
                  <a:pos x="32" y="0"/>
                </a:cxn>
                <a:cxn ang="0">
                  <a:pos x="43" y="2"/>
                </a:cxn>
                <a:cxn ang="0">
                  <a:pos x="47" y="2"/>
                </a:cxn>
                <a:cxn ang="0">
                  <a:pos x="48" y="7"/>
                </a:cxn>
                <a:cxn ang="0">
                  <a:pos x="62" y="9"/>
                </a:cxn>
                <a:cxn ang="0">
                  <a:pos x="62" y="14"/>
                </a:cxn>
                <a:cxn ang="0">
                  <a:pos x="67" y="17"/>
                </a:cxn>
                <a:cxn ang="0">
                  <a:pos x="85" y="8"/>
                </a:cxn>
                <a:cxn ang="0">
                  <a:pos x="85" y="9"/>
                </a:cxn>
                <a:cxn ang="0">
                  <a:pos x="101" y="15"/>
                </a:cxn>
                <a:cxn ang="0">
                  <a:pos x="107" y="14"/>
                </a:cxn>
                <a:cxn ang="0">
                  <a:pos x="113" y="20"/>
                </a:cxn>
                <a:cxn ang="0">
                  <a:pos x="108" y="21"/>
                </a:cxn>
                <a:cxn ang="0">
                  <a:pos x="110" y="37"/>
                </a:cxn>
                <a:cxn ang="0">
                  <a:pos x="117" y="56"/>
                </a:cxn>
                <a:cxn ang="0">
                  <a:pos x="120" y="69"/>
                </a:cxn>
                <a:cxn ang="0">
                  <a:pos x="116" y="68"/>
                </a:cxn>
                <a:cxn ang="0">
                  <a:pos x="85" y="81"/>
                </a:cxn>
                <a:cxn ang="0">
                  <a:pos x="89" y="87"/>
                </a:cxn>
                <a:cxn ang="0">
                  <a:pos x="109" y="107"/>
                </a:cxn>
                <a:cxn ang="0">
                  <a:pos x="98" y="116"/>
                </a:cxn>
                <a:cxn ang="0">
                  <a:pos x="101" y="125"/>
                </a:cxn>
                <a:cxn ang="0">
                  <a:pos x="96" y="127"/>
                </a:cxn>
                <a:cxn ang="0">
                  <a:pos x="79" y="127"/>
                </a:cxn>
                <a:cxn ang="0">
                  <a:pos x="67" y="127"/>
                </a:cxn>
                <a:cxn ang="0">
                  <a:pos x="63" y="131"/>
                </a:cxn>
                <a:cxn ang="0">
                  <a:pos x="51" y="128"/>
                </a:cxn>
                <a:cxn ang="0">
                  <a:pos x="37" y="126"/>
                </a:cxn>
                <a:cxn ang="0">
                  <a:pos x="24" y="127"/>
                </a:cxn>
                <a:cxn ang="0">
                  <a:pos x="30" y="102"/>
                </a:cxn>
                <a:cxn ang="0">
                  <a:pos x="7" y="95"/>
                </a:cxn>
                <a:cxn ang="0">
                  <a:pos x="5" y="93"/>
                </a:cxn>
                <a:cxn ang="0">
                  <a:pos x="5" y="92"/>
                </a:cxn>
                <a:cxn ang="0">
                  <a:pos x="1" y="83"/>
                </a:cxn>
                <a:cxn ang="0">
                  <a:pos x="2" y="73"/>
                </a:cxn>
                <a:cxn ang="0">
                  <a:pos x="0" y="72"/>
                </a:cxn>
                <a:cxn ang="0">
                  <a:pos x="1" y="53"/>
                </a:cxn>
                <a:cxn ang="0">
                  <a:pos x="13" y="47"/>
                </a:cxn>
                <a:cxn ang="0">
                  <a:pos x="8" y="39"/>
                </a:cxn>
                <a:cxn ang="0">
                  <a:pos x="14" y="29"/>
                </a:cxn>
                <a:cxn ang="0">
                  <a:pos x="12" y="27"/>
                </a:cxn>
                <a:cxn ang="0">
                  <a:pos x="14" y="21"/>
                </a:cxn>
                <a:cxn ang="0">
                  <a:pos x="29" y="24"/>
                </a:cxn>
              </a:cxnLst>
              <a:rect l="0" t="0" r="r" b="b"/>
              <a:pathLst>
                <a:path w="120" h="131">
                  <a:moveTo>
                    <a:pt x="29" y="24"/>
                  </a:moveTo>
                  <a:lnTo>
                    <a:pt x="31" y="25"/>
                  </a:lnTo>
                  <a:lnTo>
                    <a:pt x="31" y="21"/>
                  </a:lnTo>
                  <a:lnTo>
                    <a:pt x="36" y="19"/>
                  </a:lnTo>
                  <a:lnTo>
                    <a:pt x="45" y="23"/>
                  </a:lnTo>
                  <a:lnTo>
                    <a:pt x="41" y="18"/>
                  </a:lnTo>
                  <a:lnTo>
                    <a:pt x="36" y="11"/>
                  </a:lnTo>
                  <a:lnTo>
                    <a:pt x="35" y="9"/>
                  </a:lnTo>
                  <a:lnTo>
                    <a:pt x="32" y="0"/>
                  </a:lnTo>
                  <a:lnTo>
                    <a:pt x="43" y="2"/>
                  </a:lnTo>
                  <a:lnTo>
                    <a:pt x="47" y="2"/>
                  </a:lnTo>
                  <a:lnTo>
                    <a:pt x="48" y="7"/>
                  </a:lnTo>
                  <a:lnTo>
                    <a:pt x="62" y="9"/>
                  </a:lnTo>
                  <a:lnTo>
                    <a:pt x="62" y="14"/>
                  </a:lnTo>
                  <a:lnTo>
                    <a:pt x="67" y="17"/>
                  </a:lnTo>
                  <a:lnTo>
                    <a:pt x="85" y="8"/>
                  </a:lnTo>
                  <a:lnTo>
                    <a:pt x="85" y="9"/>
                  </a:lnTo>
                  <a:lnTo>
                    <a:pt x="101" y="15"/>
                  </a:lnTo>
                  <a:lnTo>
                    <a:pt x="107" y="14"/>
                  </a:lnTo>
                  <a:lnTo>
                    <a:pt x="113" y="20"/>
                  </a:lnTo>
                  <a:lnTo>
                    <a:pt x="108" y="21"/>
                  </a:lnTo>
                  <a:lnTo>
                    <a:pt x="110" y="37"/>
                  </a:lnTo>
                  <a:lnTo>
                    <a:pt x="117" y="56"/>
                  </a:lnTo>
                  <a:lnTo>
                    <a:pt x="120" y="69"/>
                  </a:lnTo>
                  <a:lnTo>
                    <a:pt x="116" y="68"/>
                  </a:lnTo>
                  <a:lnTo>
                    <a:pt x="85" y="81"/>
                  </a:lnTo>
                  <a:lnTo>
                    <a:pt x="89" y="87"/>
                  </a:lnTo>
                  <a:lnTo>
                    <a:pt x="109" y="107"/>
                  </a:lnTo>
                  <a:lnTo>
                    <a:pt x="98" y="116"/>
                  </a:lnTo>
                  <a:lnTo>
                    <a:pt x="101" y="125"/>
                  </a:lnTo>
                  <a:lnTo>
                    <a:pt x="96" y="127"/>
                  </a:lnTo>
                  <a:lnTo>
                    <a:pt x="79" y="127"/>
                  </a:lnTo>
                  <a:lnTo>
                    <a:pt x="67" y="127"/>
                  </a:lnTo>
                  <a:lnTo>
                    <a:pt x="63" y="131"/>
                  </a:lnTo>
                  <a:lnTo>
                    <a:pt x="51" y="128"/>
                  </a:lnTo>
                  <a:lnTo>
                    <a:pt x="37" y="126"/>
                  </a:lnTo>
                  <a:lnTo>
                    <a:pt x="24" y="127"/>
                  </a:lnTo>
                  <a:lnTo>
                    <a:pt x="30" y="102"/>
                  </a:lnTo>
                  <a:lnTo>
                    <a:pt x="7" y="95"/>
                  </a:lnTo>
                  <a:lnTo>
                    <a:pt x="5" y="93"/>
                  </a:lnTo>
                  <a:lnTo>
                    <a:pt x="5" y="92"/>
                  </a:lnTo>
                  <a:lnTo>
                    <a:pt x="1" y="83"/>
                  </a:lnTo>
                  <a:lnTo>
                    <a:pt x="2" y="73"/>
                  </a:lnTo>
                  <a:lnTo>
                    <a:pt x="0" y="72"/>
                  </a:lnTo>
                  <a:lnTo>
                    <a:pt x="1" y="53"/>
                  </a:lnTo>
                  <a:lnTo>
                    <a:pt x="13" y="47"/>
                  </a:lnTo>
                  <a:lnTo>
                    <a:pt x="8" y="39"/>
                  </a:lnTo>
                  <a:lnTo>
                    <a:pt x="14" y="29"/>
                  </a:lnTo>
                  <a:lnTo>
                    <a:pt x="12" y="27"/>
                  </a:lnTo>
                  <a:lnTo>
                    <a:pt x="14" y="21"/>
                  </a:lnTo>
                  <a:lnTo>
                    <a:pt x="29"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4" name="Freeform 333"/>
            <p:cNvSpPr>
              <a:spLocks/>
            </p:cNvSpPr>
            <p:nvPr/>
          </p:nvSpPr>
          <p:spPr bwMode="auto">
            <a:xfrm>
              <a:off x="2727" y="1623"/>
              <a:ext cx="9" cy="7"/>
            </a:xfrm>
            <a:custGeom>
              <a:avLst/>
              <a:gdLst/>
              <a:ahLst/>
              <a:cxnLst>
                <a:cxn ang="0">
                  <a:pos x="0" y="5"/>
                </a:cxn>
                <a:cxn ang="0">
                  <a:pos x="9" y="5"/>
                </a:cxn>
                <a:cxn ang="0">
                  <a:pos x="4" y="0"/>
                </a:cxn>
                <a:cxn ang="0">
                  <a:pos x="0" y="5"/>
                </a:cxn>
              </a:cxnLst>
              <a:rect l="0" t="0" r="r" b="b"/>
              <a:pathLst>
                <a:path w="9" h="5">
                  <a:moveTo>
                    <a:pt x="0" y="5"/>
                  </a:moveTo>
                  <a:lnTo>
                    <a:pt x="9" y="5"/>
                  </a:lnTo>
                  <a:lnTo>
                    <a:pt x="4" y="0"/>
                  </a:lnTo>
                  <a:lnTo>
                    <a:pt x="0"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5" name="Freeform 334"/>
            <p:cNvSpPr>
              <a:spLocks/>
            </p:cNvSpPr>
            <p:nvPr/>
          </p:nvSpPr>
          <p:spPr bwMode="auto">
            <a:xfrm>
              <a:off x="2620" y="1710"/>
              <a:ext cx="9" cy="11"/>
            </a:xfrm>
            <a:custGeom>
              <a:avLst/>
              <a:gdLst/>
              <a:ahLst/>
              <a:cxnLst>
                <a:cxn ang="0">
                  <a:pos x="4" y="0"/>
                </a:cxn>
                <a:cxn ang="0">
                  <a:pos x="0" y="7"/>
                </a:cxn>
                <a:cxn ang="0">
                  <a:pos x="0" y="9"/>
                </a:cxn>
                <a:cxn ang="0">
                  <a:pos x="8" y="10"/>
                </a:cxn>
                <a:cxn ang="0">
                  <a:pos x="8" y="9"/>
                </a:cxn>
                <a:cxn ang="0">
                  <a:pos x="4" y="0"/>
                </a:cxn>
              </a:cxnLst>
              <a:rect l="0" t="0" r="r" b="b"/>
              <a:pathLst>
                <a:path w="8" h="10">
                  <a:moveTo>
                    <a:pt x="4" y="0"/>
                  </a:moveTo>
                  <a:lnTo>
                    <a:pt x="0" y="7"/>
                  </a:lnTo>
                  <a:lnTo>
                    <a:pt x="0" y="9"/>
                  </a:lnTo>
                  <a:lnTo>
                    <a:pt x="8" y="10"/>
                  </a:lnTo>
                  <a:lnTo>
                    <a:pt x="8" y="9"/>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6" name="Freeform 335"/>
            <p:cNvSpPr>
              <a:spLocks/>
            </p:cNvSpPr>
            <p:nvPr/>
          </p:nvSpPr>
          <p:spPr bwMode="auto">
            <a:xfrm>
              <a:off x="2942" y="1734"/>
              <a:ext cx="69" cy="69"/>
            </a:xfrm>
            <a:custGeom>
              <a:avLst/>
              <a:gdLst/>
              <a:ahLst/>
              <a:cxnLst>
                <a:cxn ang="0">
                  <a:pos x="12" y="0"/>
                </a:cxn>
                <a:cxn ang="0">
                  <a:pos x="0" y="10"/>
                </a:cxn>
                <a:cxn ang="0">
                  <a:pos x="1" y="10"/>
                </a:cxn>
                <a:cxn ang="0">
                  <a:pos x="11" y="21"/>
                </a:cxn>
                <a:cxn ang="0">
                  <a:pos x="21" y="30"/>
                </a:cxn>
                <a:cxn ang="0">
                  <a:pos x="26" y="46"/>
                </a:cxn>
                <a:cxn ang="0">
                  <a:pos x="30" y="60"/>
                </a:cxn>
                <a:cxn ang="0">
                  <a:pos x="42" y="60"/>
                </a:cxn>
                <a:cxn ang="0">
                  <a:pos x="50" y="63"/>
                </a:cxn>
                <a:cxn ang="0">
                  <a:pos x="49" y="54"/>
                </a:cxn>
                <a:cxn ang="0">
                  <a:pos x="61" y="44"/>
                </a:cxn>
                <a:cxn ang="0">
                  <a:pos x="50" y="33"/>
                </a:cxn>
                <a:cxn ang="0">
                  <a:pos x="38" y="23"/>
                </a:cxn>
                <a:cxn ang="0">
                  <a:pos x="27" y="12"/>
                </a:cxn>
                <a:cxn ang="0">
                  <a:pos x="17" y="2"/>
                </a:cxn>
                <a:cxn ang="0">
                  <a:pos x="12" y="0"/>
                </a:cxn>
              </a:cxnLst>
              <a:rect l="0" t="0" r="r" b="b"/>
              <a:pathLst>
                <a:path w="61" h="63">
                  <a:moveTo>
                    <a:pt x="12" y="0"/>
                  </a:moveTo>
                  <a:lnTo>
                    <a:pt x="0" y="10"/>
                  </a:lnTo>
                  <a:lnTo>
                    <a:pt x="1" y="10"/>
                  </a:lnTo>
                  <a:lnTo>
                    <a:pt x="11" y="21"/>
                  </a:lnTo>
                  <a:lnTo>
                    <a:pt x="21" y="30"/>
                  </a:lnTo>
                  <a:lnTo>
                    <a:pt x="26" y="46"/>
                  </a:lnTo>
                  <a:lnTo>
                    <a:pt x="30" y="60"/>
                  </a:lnTo>
                  <a:lnTo>
                    <a:pt x="42" y="60"/>
                  </a:lnTo>
                  <a:lnTo>
                    <a:pt x="50" y="63"/>
                  </a:lnTo>
                  <a:lnTo>
                    <a:pt x="49" y="54"/>
                  </a:lnTo>
                  <a:lnTo>
                    <a:pt x="61" y="44"/>
                  </a:lnTo>
                  <a:lnTo>
                    <a:pt x="50" y="33"/>
                  </a:lnTo>
                  <a:lnTo>
                    <a:pt x="38" y="23"/>
                  </a:lnTo>
                  <a:lnTo>
                    <a:pt x="27" y="12"/>
                  </a:lnTo>
                  <a:lnTo>
                    <a:pt x="17" y="2"/>
                  </a:lnTo>
                  <a:lnTo>
                    <a:pt x="1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7" name="Freeform 336"/>
            <p:cNvSpPr>
              <a:spLocks/>
            </p:cNvSpPr>
            <p:nvPr/>
          </p:nvSpPr>
          <p:spPr bwMode="auto">
            <a:xfrm>
              <a:off x="2602" y="1330"/>
              <a:ext cx="320" cy="229"/>
            </a:xfrm>
            <a:custGeom>
              <a:avLst/>
              <a:gdLst/>
              <a:ahLst/>
              <a:cxnLst>
                <a:cxn ang="0">
                  <a:pos x="166" y="17"/>
                </a:cxn>
                <a:cxn ang="0">
                  <a:pos x="159" y="18"/>
                </a:cxn>
                <a:cxn ang="0">
                  <a:pos x="150" y="24"/>
                </a:cxn>
                <a:cxn ang="0">
                  <a:pos x="141" y="29"/>
                </a:cxn>
                <a:cxn ang="0">
                  <a:pos x="127" y="38"/>
                </a:cxn>
                <a:cxn ang="0">
                  <a:pos x="129" y="42"/>
                </a:cxn>
                <a:cxn ang="0">
                  <a:pos x="126" y="48"/>
                </a:cxn>
                <a:cxn ang="0">
                  <a:pos x="110" y="51"/>
                </a:cxn>
                <a:cxn ang="0">
                  <a:pos x="120" y="55"/>
                </a:cxn>
                <a:cxn ang="0">
                  <a:pos x="110" y="57"/>
                </a:cxn>
                <a:cxn ang="0">
                  <a:pos x="99" y="65"/>
                </a:cxn>
                <a:cxn ang="0">
                  <a:pos x="91" y="72"/>
                </a:cxn>
                <a:cxn ang="0">
                  <a:pos x="90" y="77"/>
                </a:cxn>
                <a:cxn ang="0">
                  <a:pos x="87" y="89"/>
                </a:cxn>
                <a:cxn ang="0">
                  <a:pos x="75" y="96"/>
                </a:cxn>
                <a:cxn ang="0">
                  <a:pos x="72" y="101"/>
                </a:cxn>
                <a:cxn ang="0">
                  <a:pos x="56" y="113"/>
                </a:cxn>
                <a:cxn ang="0">
                  <a:pos x="73" y="109"/>
                </a:cxn>
                <a:cxn ang="0">
                  <a:pos x="58" y="117"/>
                </a:cxn>
                <a:cxn ang="0">
                  <a:pos x="42" y="121"/>
                </a:cxn>
                <a:cxn ang="0">
                  <a:pos x="37" y="126"/>
                </a:cxn>
                <a:cxn ang="0">
                  <a:pos x="22" y="129"/>
                </a:cxn>
                <a:cxn ang="0">
                  <a:pos x="27" y="131"/>
                </a:cxn>
                <a:cxn ang="0">
                  <a:pos x="24" y="138"/>
                </a:cxn>
                <a:cxn ang="0">
                  <a:pos x="9" y="138"/>
                </a:cxn>
                <a:cxn ang="0">
                  <a:pos x="1" y="139"/>
                </a:cxn>
                <a:cxn ang="0">
                  <a:pos x="0" y="145"/>
                </a:cxn>
                <a:cxn ang="0">
                  <a:pos x="3" y="151"/>
                </a:cxn>
                <a:cxn ang="0">
                  <a:pos x="27" y="152"/>
                </a:cxn>
                <a:cxn ang="0">
                  <a:pos x="26" y="158"/>
                </a:cxn>
                <a:cxn ang="0">
                  <a:pos x="2" y="161"/>
                </a:cxn>
                <a:cxn ang="0">
                  <a:pos x="8" y="163"/>
                </a:cxn>
                <a:cxn ang="0">
                  <a:pos x="8" y="169"/>
                </a:cxn>
                <a:cxn ang="0">
                  <a:pos x="22" y="165"/>
                </a:cxn>
                <a:cxn ang="0">
                  <a:pos x="12" y="176"/>
                </a:cxn>
                <a:cxn ang="0">
                  <a:pos x="6" y="185"/>
                </a:cxn>
                <a:cxn ang="0">
                  <a:pos x="16" y="185"/>
                </a:cxn>
                <a:cxn ang="0">
                  <a:pos x="10" y="198"/>
                </a:cxn>
                <a:cxn ang="0">
                  <a:pos x="60" y="188"/>
                </a:cxn>
                <a:cxn ang="0">
                  <a:pos x="73" y="176"/>
                </a:cxn>
                <a:cxn ang="0">
                  <a:pos x="90" y="175"/>
                </a:cxn>
                <a:cxn ang="0">
                  <a:pos x="97" y="151"/>
                </a:cxn>
                <a:cxn ang="0">
                  <a:pos x="86" y="114"/>
                </a:cxn>
                <a:cxn ang="0">
                  <a:pos x="102" y="99"/>
                </a:cxn>
                <a:cxn ang="0">
                  <a:pos x="120" y="73"/>
                </a:cxn>
                <a:cxn ang="0">
                  <a:pos x="147" y="43"/>
                </a:cxn>
                <a:cxn ang="0">
                  <a:pos x="168" y="30"/>
                </a:cxn>
                <a:cxn ang="0">
                  <a:pos x="194" y="33"/>
                </a:cxn>
                <a:cxn ang="0">
                  <a:pos x="230" y="32"/>
                </a:cxn>
                <a:cxn ang="0">
                  <a:pos x="270" y="20"/>
                </a:cxn>
                <a:cxn ang="0">
                  <a:pos x="289" y="23"/>
                </a:cxn>
                <a:cxn ang="0">
                  <a:pos x="276" y="19"/>
                </a:cxn>
                <a:cxn ang="0">
                  <a:pos x="278" y="6"/>
                </a:cxn>
                <a:cxn ang="0">
                  <a:pos x="256" y="13"/>
                </a:cxn>
                <a:cxn ang="0">
                  <a:pos x="253" y="5"/>
                </a:cxn>
                <a:cxn ang="0">
                  <a:pos x="237" y="11"/>
                </a:cxn>
                <a:cxn ang="0">
                  <a:pos x="225" y="5"/>
                </a:cxn>
                <a:cxn ang="0">
                  <a:pos x="213" y="6"/>
                </a:cxn>
                <a:cxn ang="0">
                  <a:pos x="193" y="12"/>
                </a:cxn>
                <a:cxn ang="0">
                  <a:pos x="186" y="18"/>
                </a:cxn>
              </a:cxnLst>
              <a:rect l="0" t="0" r="r" b="b"/>
              <a:pathLst>
                <a:path w="289" h="205">
                  <a:moveTo>
                    <a:pt x="171" y="21"/>
                  </a:moveTo>
                  <a:lnTo>
                    <a:pt x="166" y="26"/>
                  </a:lnTo>
                  <a:lnTo>
                    <a:pt x="166" y="17"/>
                  </a:lnTo>
                  <a:lnTo>
                    <a:pt x="165" y="21"/>
                  </a:lnTo>
                  <a:lnTo>
                    <a:pt x="162" y="23"/>
                  </a:lnTo>
                  <a:lnTo>
                    <a:pt x="159" y="18"/>
                  </a:lnTo>
                  <a:lnTo>
                    <a:pt x="157" y="21"/>
                  </a:lnTo>
                  <a:lnTo>
                    <a:pt x="158" y="25"/>
                  </a:lnTo>
                  <a:lnTo>
                    <a:pt x="150" y="24"/>
                  </a:lnTo>
                  <a:lnTo>
                    <a:pt x="151" y="26"/>
                  </a:lnTo>
                  <a:lnTo>
                    <a:pt x="145" y="25"/>
                  </a:lnTo>
                  <a:lnTo>
                    <a:pt x="141" y="29"/>
                  </a:lnTo>
                  <a:lnTo>
                    <a:pt x="142" y="35"/>
                  </a:lnTo>
                  <a:lnTo>
                    <a:pt x="140" y="36"/>
                  </a:lnTo>
                  <a:lnTo>
                    <a:pt x="127" y="38"/>
                  </a:lnTo>
                  <a:lnTo>
                    <a:pt x="140" y="39"/>
                  </a:lnTo>
                  <a:lnTo>
                    <a:pt x="138" y="43"/>
                  </a:lnTo>
                  <a:lnTo>
                    <a:pt x="129" y="42"/>
                  </a:lnTo>
                  <a:lnTo>
                    <a:pt x="128" y="43"/>
                  </a:lnTo>
                  <a:lnTo>
                    <a:pt x="126" y="47"/>
                  </a:lnTo>
                  <a:lnTo>
                    <a:pt x="126" y="48"/>
                  </a:lnTo>
                  <a:lnTo>
                    <a:pt x="122" y="44"/>
                  </a:lnTo>
                  <a:lnTo>
                    <a:pt x="118" y="45"/>
                  </a:lnTo>
                  <a:lnTo>
                    <a:pt x="110" y="51"/>
                  </a:lnTo>
                  <a:lnTo>
                    <a:pt x="121" y="50"/>
                  </a:lnTo>
                  <a:lnTo>
                    <a:pt x="117" y="53"/>
                  </a:lnTo>
                  <a:lnTo>
                    <a:pt x="120" y="55"/>
                  </a:lnTo>
                  <a:lnTo>
                    <a:pt x="118" y="55"/>
                  </a:lnTo>
                  <a:lnTo>
                    <a:pt x="111" y="55"/>
                  </a:lnTo>
                  <a:lnTo>
                    <a:pt x="110" y="57"/>
                  </a:lnTo>
                  <a:lnTo>
                    <a:pt x="118" y="61"/>
                  </a:lnTo>
                  <a:lnTo>
                    <a:pt x="109" y="61"/>
                  </a:lnTo>
                  <a:lnTo>
                    <a:pt x="99" y="65"/>
                  </a:lnTo>
                  <a:lnTo>
                    <a:pt x="93" y="68"/>
                  </a:lnTo>
                  <a:lnTo>
                    <a:pt x="94" y="68"/>
                  </a:lnTo>
                  <a:lnTo>
                    <a:pt x="91" y="72"/>
                  </a:lnTo>
                  <a:lnTo>
                    <a:pt x="93" y="73"/>
                  </a:lnTo>
                  <a:lnTo>
                    <a:pt x="100" y="73"/>
                  </a:lnTo>
                  <a:lnTo>
                    <a:pt x="90" y="77"/>
                  </a:lnTo>
                  <a:lnTo>
                    <a:pt x="87" y="81"/>
                  </a:lnTo>
                  <a:lnTo>
                    <a:pt x="87" y="85"/>
                  </a:lnTo>
                  <a:lnTo>
                    <a:pt x="87" y="89"/>
                  </a:lnTo>
                  <a:lnTo>
                    <a:pt x="90" y="90"/>
                  </a:lnTo>
                  <a:lnTo>
                    <a:pt x="75" y="95"/>
                  </a:lnTo>
                  <a:lnTo>
                    <a:pt x="75" y="96"/>
                  </a:lnTo>
                  <a:lnTo>
                    <a:pt x="81" y="93"/>
                  </a:lnTo>
                  <a:lnTo>
                    <a:pt x="78" y="98"/>
                  </a:lnTo>
                  <a:lnTo>
                    <a:pt x="72" y="101"/>
                  </a:lnTo>
                  <a:lnTo>
                    <a:pt x="67" y="102"/>
                  </a:lnTo>
                  <a:lnTo>
                    <a:pt x="60" y="109"/>
                  </a:lnTo>
                  <a:lnTo>
                    <a:pt x="56" y="113"/>
                  </a:lnTo>
                  <a:lnTo>
                    <a:pt x="61" y="116"/>
                  </a:lnTo>
                  <a:lnTo>
                    <a:pt x="68" y="111"/>
                  </a:lnTo>
                  <a:lnTo>
                    <a:pt x="73" y="109"/>
                  </a:lnTo>
                  <a:lnTo>
                    <a:pt x="73" y="114"/>
                  </a:lnTo>
                  <a:lnTo>
                    <a:pt x="63" y="117"/>
                  </a:lnTo>
                  <a:lnTo>
                    <a:pt x="58" y="117"/>
                  </a:lnTo>
                  <a:lnTo>
                    <a:pt x="49" y="116"/>
                  </a:lnTo>
                  <a:lnTo>
                    <a:pt x="48" y="117"/>
                  </a:lnTo>
                  <a:lnTo>
                    <a:pt x="42" y="121"/>
                  </a:lnTo>
                  <a:lnTo>
                    <a:pt x="38" y="125"/>
                  </a:lnTo>
                  <a:lnTo>
                    <a:pt x="39" y="127"/>
                  </a:lnTo>
                  <a:lnTo>
                    <a:pt x="37" y="126"/>
                  </a:lnTo>
                  <a:lnTo>
                    <a:pt x="40" y="129"/>
                  </a:lnTo>
                  <a:lnTo>
                    <a:pt x="24" y="125"/>
                  </a:lnTo>
                  <a:lnTo>
                    <a:pt x="22" y="129"/>
                  </a:lnTo>
                  <a:lnTo>
                    <a:pt x="27" y="129"/>
                  </a:lnTo>
                  <a:lnTo>
                    <a:pt x="32" y="129"/>
                  </a:lnTo>
                  <a:lnTo>
                    <a:pt x="27" y="131"/>
                  </a:lnTo>
                  <a:lnTo>
                    <a:pt x="16" y="133"/>
                  </a:lnTo>
                  <a:lnTo>
                    <a:pt x="25" y="137"/>
                  </a:lnTo>
                  <a:lnTo>
                    <a:pt x="24" y="138"/>
                  </a:lnTo>
                  <a:lnTo>
                    <a:pt x="15" y="134"/>
                  </a:lnTo>
                  <a:lnTo>
                    <a:pt x="16" y="137"/>
                  </a:lnTo>
                  <a:lnTo>
                    <a:pt x="9" y="138"/>
                  </a:lnTo>
                  <a:lnTo>
                    <a:pt x="12" y="139"/>
                  </a:lnTo>
                  <a:lnTo>
                    <a:pt x="4" y="140"/>
                  </a:lnTo>
                  <a:lnTo>
                    <a:pt x="1" y="139"/>
                  </a:lnTo>
                  <a:lnTo>
                    <a:pt x="1" y="143"/>
                  </a:lnTo>
                  <a:lnTo>
                    <a:pt x="18" y="144"/>
                  </a:lnTo>
                  <a:lnTo>
                    <a:pt x="0" y="145"/>
                  </a:lnTo>
                  <a:lnTo>
                    <a:pt x="6" y="150"/>
                  </a:lnTo>
                  <a:lnTo>
                    <a:pt x="2" y="151"/>
                  </a:lnTo>
                  <a:lnTo>
                    <a:pt x="3" y="151"/>
                  </a:lnTo>
                  <a:lnTo>
                    <a:pt x="1" y="155"/>
                  </a:lnTo>
                  <a:lnTo>
                    <a:pt x="19" y="152"/>
                  </a:lnTo>
                  <a:lnTo>
                    <a:pt x="27" y="152"/>
                  </a:lnTo>
                  <a:lnTo>
                    <a:pt x="28" y="151"/>
                  </a:lnTo>
                  <a:lnTo>
                    <a:pt x="30" y="156"/>
                  </a:lnTo>
                  <a:lnTo>
                    <a:pt x="26" y="158"/>
                  </a:lnTo>
                  <a:lnTo>
                    <a:pt x="16" y="156"/>
                  </a:lnTo>
                  <a:lnTo>
                    <a:pt x="0" y="158"/>
                  </a:lnTo>
                  <a:lnTo>
                    <a:pt x="2" y="161"/>
                  </a:lnTo>
                  <a:lnTo>
                    <a:pt x="3" y="162"/>
                  </a:lnTo>
                  <a:lnTo>
                    <a:pt x="0" y="162"/>
                  </a:lnTo>
                  <a:lnTo>
                    <a:pt x="8" y="163"/>
                  </a:lnTo>
                  <a:lnTo>
                    <a:pt x="6" y="167"/>
                  </a:lnTo>
                  <a:lnTo>
                    <a:pt x="2" y="170"/>
                  </a:lnTo>
                  <a:lnTo>
                    <a:pt x="8" y="169"/>
                  </a:lnTo>
                  <a:lnTo>
                    <a:pt x="10" y="173"/>
                  </a:lnTo>
                  <a:lnTo>
                    <a:pt x="16" y="167"/>
                  </a:lnTo>
                  <a:lnTo>
                    <a:pt x="22" y="165"/>
                  </a:lnTo>
                  <a:lnTo>
                    <a:pt x="19" y="171"/>
                  </a:lnTo>
                  <a:lnTo>
                    <a:pt x="18" y="167"/>
                  </a:lnTo>
                  <a:lnTo>
                    <a:pt x="12" y="176"/>
                  </a:lnTo>
                  <a:lnTo>
                    <a:pt x="13" y="177"/>
                  </a:lnTo>
                  <a:lnTo>
                    <a:pt x="6" y="180"/>
                  </a:lnTo>
                  <a:lnTo>
                    <a:pt x="6" y="185"/>
                  </a:lnTo>
                  <a:lnTo>
                    <a:pt x="12" y="182"/>
                  </a:lnTo>
                  <a:lnTo>
                    <a:pt x="15" y="181"/>
                  </a:lnTo>
                  <a:lnTo>
                    <a:pt x="16" y="185"/>
                  </a:lnTo>
                  <a:lnTo>
                    <a:pt x="15" y="189"/>
                  </a:lnTo>
                  <a:lnTo>
                    <a:pt x="9" y="191"/>
                  </a:lnTo>
                  <a:lnTo>
                    <a:pt x="10" y="198"/>
                  </a:lnTo>
                  <a:lnTo>
                    <a:pt x="21" y="204"/>
                  </a:lnTo>
                  <a:lnTo>
                    <a:pt x="39" y="205"/>
                  </a:lnTo>
                  <a:lnTo>
                    <a:pt x="60" y="188"/>
                  </a:lnTo>
                  <a:lnTo>
                    <a:pt x="68" y="188"/>
                  </a:lnTo>
                  <a:lnTo>
                    <a:pt x="68" y="179"/>
                  </a:lnTo>
                  <a:lnTo>
                    <a:pt x="73" y="176"/>
                  </a:lnTo>
                  <a:lnTo>
                    <a:pt x="76" y="187"/>
                  </a:lnTo>
                  <a:lnTo>
                    <a:pt x="82" y="191"/>
                  </a:lnTo>
                  <a:lnTo>
                    <a:pt x="90" y="175"/>
                  </a:lnTo>
                  <a:lnTo>
                    <a:pt x="92" y="161"/>
                  </a:lnTo>
                  <a:lnTo>
                    <a:pt x="92" y="156"/>
                  </a:lnTo>
                  <a:lnTo>
                    <a:pt x="97" y="151"/>
                  </a:lnTo>
                  <a:lnTo>
                    <a:pt x="87" y="145"/>
                  </a:lnTo>
                  <a:lnTo>
                    <a:pt x="87" y="129"/>
                  </a:lnTo>
                  <a:lnTo>
                    <a:pt x="86" y="114"/>
                  </a:lnTo>
                  <a:lnTo>
                    <a:pt x="97" y="107"/>
                  </a:lnTo>
                  <a:lnTo>
                    <a:pt x="108" y="105"/>
                  </a:lnTo>
                  <a:lnTo>
                    <a:pt x="102" y="99"/>
                  </a:lnTo>
                  <a:lnTo>
                    <a:pt x="111" y="79"/>
                  </a:lnTo>
                  <a:lnTo>
                    <a:pt x="109" y="75"/>
                  </a:lnTo>
                  <a:lnTo>
                    <a:pt x="120" y="73"/>
                  </a:lnTo>
                  <a:lnTo>
                    <a:pt x="126" y="63"/>
                  </a:lnTo>
                  <a:lnTo>
                    <a:pt x="132" y="48"/>
                  </a:lnTo>
                  <a:lnTo>
                    <a:pt x="147" y="43"/>
                  </a:lnTo>
                  <a:lnTo>
                    <a:pt x="148" y="38"/>
                  </a:lnTo>
                  <a:lnTo>
                    <a:pt x="169" y="38"/>
                  </a:lnTo>
                  <a:lnTo>
                    <a:pt x="168" y="30"/>
                  </a:lnTo>
                  <a:lnTo>
                    <a:pt x="174" y="30"/>
                  </a:lnTo>
                  <a:lnTo>
                    <a:pt x="181" y="25"/>
                  </a:lnTo>
                  <a:lnTo>
                    <a:pt x="194" y="33"/>
                  </a:lnTo>
                  <a:lnTo>
                    <a:pt x="207" y="36"/>
                  </a:lnTo>
                  <a:lnTo>
                    <a:pt x="223" y="36"/>
                  </a:lnTo>
                  <a:lnTo>
                    <a:pt x="230" y="32"/>
                  </a:lnTo>
                  <a:lnTo>
                    <a:pt x="234" y="21"/>
                  </a:lnTo>
                  <a:lnTo>
                    <a:pt x="250" y="14"/>
                  </a:lnTo>
                  <a:lnTo>
                    <a:pt x="270" y="20"/>
                  </a:lnTo>
                  <a:lnTo>
                    <a:pt x="270" y="30"/>
                  </a:lnTo>
                  <a:lnTo>
                    <a:pt x="282" y="23"/>
                  </a:lnTo>
                  <a:lnTo>
                    <a:pt x="289" y="23"/>
                  </a:lnTo>
                  <a:lnTo>
                    <a:pt x="289" y="18"/>
                  </a:lnTo>
                  <a:lnTo>
                    <a:pt x="282" y="18"/>
                  </a:lnTo>
                  <a:lnTo>
                    <a:pt x="276" y="19"/>
                  </a:lnTo>
                  <a:lnTo>
                    <a:pt x="266" y="13"/>
                  </a:lnTo>
                  <a:lnTo>
                    <a:pt x="289" y="11"/>
                  </a:lnTo>
                  <a:lnTo>
                    <a:pt x="278" y="6"/>
                  </a:lnTo>
                  <a:lnTo>
                    <a:pt x="266" y="3"/>
                  </a:lnTo>
                  <a:lnTo>
                    <a:pt x="259" y="6"/>
                  </a:lnTo>
                  <a:lnTo>
                    <a:pt x="256" y="13"/>
                  </a:lnTo>
                  <a:lnTo>
                    <a:pt x="255" y="8"/>
                  </a:lnTo>
                  <a:lnTo>
                    <a:pt x="254" y="6"/>
                  </a:lnTo>
                  <a:lnTo>
                    <a:pt x="253" y="5"/>
                  </a:lnTo>
                  <a:lnTo>
                    <a:pt x="252" y="0"/>
                  </a:lnTo>
                  <a:lnTo>
                    <a:pt x="244" y="2"/>
                  </a:lnTo>
                  <a:lnTo>
                    <a:pt x="237" y="11"/>
                  </a:lnTo>
                  <a:lnTo>
                    <a:pt x="234" y="2"/>
                  </a:lnTo>
                  <a:lnTo>
                    <a:pt x="220" y="14"/>
                  </a:lnTo>
                  <a:lnTo>
                    <a:pt x="225" y="5"/>
                  </a:lnTo>
                  <a:lnTo>
                    <a:pt x="222" y="3"/>
                  </a:lnTo>
                  <a:lnTo>
                    <a:pt x="213" y="3"/>
                  </a:lnTo>
                  <a:lnTo>
                    <a:pt x="213" y="6"/>
                  </a:lnTo>
                  <a:lnTo>
                    <a:pt x="200" y="14"/>
                  </a:lnTo>
                  <a:lnTo>
                    <a:pt x="192" y="14"/>
                  </a:lnTo>
                  <a:lnTo>
                    <a:pt x="193" y="12"/>
                  </a:lnTo>
                  <a:lnTo>
                    <a:pt x="180" y="13"/>
                  </a:lnTo>
                  <a:lnTo>
                    <a:pt x="188" y="15"/>
                  </a:lnTo>
                  <a:lnTo>
                    <a:pt x="186" y="18"/>
                  </a:lnTo>
                  <a:lnTo>
                    <a:pt x="178" y="18"/>
                  </a:lnTo>
                  <a:lnTo>
                    <a:pt x="171" y="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8" name="Freeform 337"/>
            <p:cNvSpPr>
              <a:spLocks/>
            </p:cNvSpPr>
            <p:nvPr/>
          </p:nvSpPr>
          <p:spPr bwMode="auto">
            <a:xfrm>
              <a:off x="2653" y="1194"/>
              <a:ext cx="120" cy="49"/>
            </a:xfrm>
            <a:custGeom>
              <a:avLst/>
              <a:gdLst/>
              <a:ahLst/>
              <a:cxnLst>
                <a:cxn ang="0">
                  <a:pos x="27" y="4"/>
                </a:cxn>
                <a:cxn ang="0">
                  <a:pos x="12" y="4"/>
                </a:cxn>
                <a:cxn ang="0">
                  <a:pos x="0" y="5"/>
                </a:cxn>
                <a:cxn ang="0">
                  <a:pos x="3" y="11"/>
                </a:cxn>
                <a:cxn ang="0">
                  <a:pos x="11" y="10"/>
                </a:cxn>
                <a:cxn ang="0">
                  <a:pos x="12" y="13"/>
                </a:cxn>
                <a:cxn ang="0">
                  <a:pos x="5" y="15"/>
                </a:cxn>
                <a:cxn ang="0">
                  <a:pos x="18" y="21"/>
                </a:cxn>
                <a:cxn ang="0">
                  <a:pos x="29" y="24"/>
                </a:cxn>
                <a:cxn ang="0">
                  <a:pos x="36" y="21"/>
                </a:cxn>
                <a:cxn ang="0">
                  <a:pos x="45" y="17"/>
                </a:cxn>
                <a:cxn ang="0">
                  <a:pos x="46" y="19"/>
                </a:cxn>
                <a:cxn ang="0">
                  <a:pos x="58" y="17"/>
                </a:cxn>
                <a:cxn ang="0">
                  <a:pos x="59" y="21"/>
                </a:cxn>
                <a:cxn ang="0">
                  <a:pos x="34" y="25"/>
                </a:cxn>
                <a:cxn ang="0">
                  <a:pos x="30" y="29"/>
                </a:cxn>
                <a:cxn ang="0">
                  <a:pos x="61" y="29"/>
                </a:cxn>
                <a:cxn ang="0">
                  <a:pos x="49" y="30"/>
                </a:cxn>
                <a:cxn ang="0">
                  <a:pos x="54" y="33"/>
                </a:cxn>
                <a:cxn ang="0">
                  <a:pos x="35" y="34"/>
                </a:cxn>
                <a:cxn ang="0">
                  <a:pos x="57" y="41"/>
                </a:cxn>
                <a:cxn ang="0">
                  <a:pos x="64" y="46"/>
                </a:cxn>
                <a:cxn ang="0">
                  <a:pos x="67" y="43"/>
                </a:cxn>
                <a:cxn ang="0">
                  <a:pos x="76" y="34"/>
                </a:cxn>
                <a:cxn ang="0">
                  <a:pos x="82" y="27"/>
                </a:cxn>
                <a:cxn ang="0">
                  <a:pos x="84" y="22"/>
                </a:cxn>
                <a:cxn ang="0">
                  <a:pos x="108" y="17"/>
                </a:cxn>
                <a:cxn ang="0">
                  <a:pos x="81" y="11"/>
                </a:cxn>
                <a:cxn ang="0">
                  <a:pos x="77" y="6"/>
                </a:cxn>
                <a:cxn ang="0">
                  <a:pos x="70" y="9"/>
                </a:cxn>
                <a:cxn ang="0">
                  <a:pos x="69" y="5"/>
                </a:cxn>
                <a:cxn ang="0">
                  <a:pos x="54" y="0"/>
                </a:cxn>
                <a:cxn ang="0">
                  <a:pos x="57" y="15"/>
                </a:cxn>
                <a:cxn ang="0">
                  <a:pos x="39" y="4"/>
                </a:cxn>
                <a:cxn ang="0">
                  <a:pos x="31" y="9"/>
                </a:cxn>
                <a:cxn ang="0">
                  <a:pos x="23" y="6"/>
                </a:cxn>
                <a:cxn ang="0">
                  <a:pos x="27" y="4"/>
                </a:cxn>
              </a:cxnLst>
              <a:rect l="0" t="0" r="r" b="b"/>
              <a:pathLst>
                <a:path w="108" h="46">
                  <a:moveTo>
                    <a:pt x="27" y="4"/>
                  </a:moveTo>
                  <a:lnTo>
                    <a:pt x="12" y="4"/>
                  </a:lnTo>
                  <a:lnTo>
                    <a:pt x="0" y="5"/>
                  </a:lnTo>
                  <a:lnTo>
                    <a:pt x="3" y="11"/>
                  </a:lnTo>
                  <a:lnTo>
                    <a:pt x="11" y="10"/>
                  </a:lnTo>
                  <a:lnTo>
                    <a:pt x="12" y="13"/>
                  </a:lnTo>
                  <a:lnTo>
                    <a:pt x="5" y="15"/>
                  </a:lnTo>
                  <a:lnTo>
                    <a:pt x="18" y="21"/>
                  </a:lnTo>
                  <a:lnTo>
                    <a:pt x="29" y="24"/>
                  </a:lnTo>
                  <a:lnTo>
                    <a:pt x="36" y="21"/>
                  </a:lnTo>
                  <a:lnTo>
                    <a:pt x="45" y="17"/>
                  </a:lnTo>
                  <a:lnTo>
                    <a:pt x="46" y="19"/>
                  </a:lnTo>
                  <a:lnTo>
                    <a:pt x="58" y="17"/>
                  </a:lnTo>
                  <a:lnTo>
                    <a:pt x="59" y="21"/>
                  </a:lnTo>
                  <a:lnTo>
                    <a:pt x="34" y="25"/>
                  </a:lnTo>
                  <a:lnTo>
                    <a:pt x="30" y="29"/>
                  </a:lnTo>
                  <a:lnTo>
                    <a:pt x="61" y="29"/>
                  </a:lnTo>
                  <a:lnTo>
                    <a:pt x="49" y="30"/>
                  </a:lnTo>
                  <a:lnTo>
                    <a:pt x="54" y="33"/>
                  </a:lnTo>
                  <a:lnTo>
                    <a:pt x="35" y="34"/>
                  </a:lnTo>
                  <a:lnTo>
                    <a:pt x="57" y="41"/>
                  </a:lnTo>
                  <a:lnTo>
                    <a:pt x="64" y="46"/>
                  </a:lnTo>
                  <a:lnTo>
                    <a:pt x="67" y="43"/>
                  </a:lnTo>
                  <a:lnTo>
                    <a:pt x="76" y="34"/>
                  </a:lnTo>
                  <a:lnTo>
                    <a:pt x="82" y="27"/>
                  </a:lnTo>
                  <a:lnTo>
                    <a:pt x="84" y="22"/>
                  </a:lnTo>
                  <a:lnTo>
                    <a:pt x="108" y="17"/>
                  </a:lnTo>
                  <a:lnTo>
                    <a:pt x="81" y="11"/>
                  </a:lnTo>
                  <a:lnTo>
                    <a:pt x="77" y="6"/>
                  </a:lnTo>
                  <a:lnTo>
                    <a:pt x="70" y="9"/>
                  </a:lnTo>
                  <a:lnTo>
                    <a:pt x="69" y="5"/>
                  </a:lnTo>
                  <a:lnTo>
                    <a:pt x="54" y="0"/>
                  </a:lnTo>
                  <a:lnTo>
                    <a:pt x="57" y="15"/>
                  </a:lnTo>
                  <a:lnTo>
                    <a:pt x="39" y="4"/>
                  </a:lnTo>
                  <a:lnTo>
                    <a:pt x="31" y="9"/>
                  </a:lnTo>
                  <a:lnTo>
                    <a:pt x="23" y="6"/>
                  </a:lnTo>
                  <a:lnTo>
                    <a:pt x="27"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9" name="Freeform 338"/>
            <p:cNvSpPr>
              <a:spLocks/>
            </p:cNvSpPr>
            <p:nvPr/>
          </p:nvSpPr>
          <p:spPr bwMode="auto">
            <a:xfrm>
              <a:off x="2731" y="1188"/>
              <a:ext cx="98" cy="15"/>
            </a:xfrm>
            <a:custGeom>
              <a:avLst/>
              <a:gdLst/>
              <a:ahLst/>
              <a:cxnLst>
                <a:cxn ang="0">
                  <a:pos x="40" y="5"/>
                </a:cxn>
                <a:cxn ang="0">
                  <a:pos x="14" y="2"/>
                </a:cxn>
                <a:cxn ang="0">
                  <a:pos x="10" y="3"/>
                </a:cxn>
                <a:cxn ang="0">
                  <a:pos x="0" y="5"/>
                </a:cxn>
                <a:cxn ang="0">
                  <a:pos x="0" y="6"/>
                </a:cxn>
                <a:cxn ang="0">
                  <a:pos x="36" y="9"/>
                </a:cxn>
                <a:cxn ang="0">
                  <a:pos x="19" y="11"/>
                </a:cxn>
                <a:cxn ang="0">
                  <a:pos x="47" y="15"/>
                </a:cxn>
                <a:cxn ang="0">
                  <a:pos x="77" y="14"/>
                </a:cxn>
                <a:cxn ang="0">
                  <a:pos x="89" y="6"/>
                </a:cxn>
                <a:cxn ang="0">
                  <a:pos x="82" y="4"/>
                </a:cxn>
                <a:cxn ang="0">
                  <a:pos x="53" y="3"/>
                </a:cxn>
                <a:cxn ang="0">
                  <a:pos x="49" y="3"/>
                </a:cxn>
                <a:cxn ang="0">
                  <a:pos x="43" y="0"/>
                </a:cxn>
                <a:cxn ang="0">
                  <a:pos x="41" y="3"/>
                </a:cxn>
                <a:cxn ang="0">
                  <a:pos x="40" y="5"/>
                </a:cxn>
              </a:cxnLst>
              <a:rect l="0" t="0" r="r" b="b"/>
              <a:pathLst>
                <a:path w="89" h="15">
                  <a:moveTo>
                    <a:pt x="40" y="5"/>
                  </a:moveTo>
                  <a:lnTo>
                    <a:pt x="14" y="2"/>
                  </a:lnTo>
                  <a:lnTo>
                    <a:pt x="10" y="3"/>
                  </a:lnTo>
                  <a:lnTo>
                    <a:pt x="0" y="5"/>
                  </a:lnTo>
                  <a:lnTo>
                    <a:pt x="0" y="6"/>
                  </a:lnTo>
                  <a:lnTo>
                    <a:pt x="36" y="9"/>
                  </a:lnTo>
                  <a:lnTo>
                    <a:pt x="19" y="11"/>
                  </a:lnTo>
                  <a:lnTo>
                    <a:pt x="47" y="15"/>
                  </a:lnTo>
                  <a:lnTo>
                    <a:pt x="77" y="14"/>
                  </a:lnTo>
                  <a:lnTo>
                    <a:pt x="89" y="6"/>
                  </a:lnTo>
                  <a:lnTo>
                    <a:pt x="82" y="4"/>
                  </a:lnTo>
                  <a:lnTo>
                    <a:pt x="53" y="3"/>
                  </a:lnTo>
                  <a:lnTo>
                    <a:pt x="49" y="3"/>
                  </a:lnTo>
                  <a:lnTo>
                    <a:pt x="43" y="0"/>
                  </a:lnTo>
                  <a:lnTo>
                    <a:pt x="41" y="3"/>
                  </a:lnTo>
                  <a:lnTo>
                    <a:pt x="40"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0" name="Freeform 339"/>
            <p:cNvSpPr>
              <a:spLocks/>
            </p:cNvSpPr>
            <p:nvPr/>
          </p:nvSpPr>
          <p:spPr bwMode="auto">
            <a:xfrm>
              <a:off x="2767" y="1221"/>
              <a:ext cx="46" cy="11"/>
            </a:xfrm>
            <a:custGeom>
              <a:avLst/>
              <a:gdLst/>
              <a:ahLst/>
              <a:cxnLst>
                <a:cxn ang="0">
                  <a:pos x="33" y="9"/>
                </a:cxn>
                <a:cxn ang="0">
                  <a:pos x="18" y="10"/>
                </a:cxn>
                <a:cxn ang="0">
                  <a:pos x="5" y="10"/>
                </a:cxn>
                <a:cxn ang="0">
                  <a:pos x="9" y="4"/>
                </a:cxn>
                <a:cxn ang="0">
                  <a:pos x="0" y="0"/>
                </a:cxn>
                <a:cxn ang="0">
                  <a:pos x="26" y="0"/>
                </a:cxn>
                <a:cxn ang="0">
                  <a:pos x="42" y="5"/>
                </a:cxn>
                <a:cxn ang="0">
                  <a:pos x="33" y="9"/>
                </a:cxn>
              </a:cxnLst>
              <a:rect l="0" t="0" r="r" b="b"/>
              <a:pathLst>
                <a:path w="42" h="10">
                  <a:moveTo>
                    <a:pt x="33" y="9"/>
                  </a:moveTo>
                  <a:lnTo>
                    <a:pt x="18" y="10"/>
                  </a:lnTo>
                  <a:lnTo>
                    <a:pt x="5" y="10"/>
                  </a:lnTo>
                  <a:lnTo>
                    <a:pt x="9" y="4"/>
                  </a:lnTo>
                  <a:lnTo>
                    <a:pt x="0" y="0"/>
                  </a:lnTo>
                  <a:lnTo>
                    <a:pt x="26" y="0"/>
                  </a:lnTo>
                  <a:lnTo>
                    <a:pt x="42" y="5"/>
                  </a:lnTo>
                  <a:lnTo>
                    <a:pt x="3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1" name="Freeform 340"/>
            <p:cNvSpPr>
              <a:spLocks/>
            </p:cNvSpPr>
            <p:nvPr/>
          </p:nvSpPr>
          <p:spPr bwMode="auto">
            <a:xfrm>
              <a:off x="2727" y="1368"/>
              <a:ext cx="15" cy="8"/>
            </a:xfrm>
            <a:custGeom>
              <a:avLst/>
              <a:gdLst/>
              <a:ahLst/>
              <a:cxnLst>
                <a:cxn ang="0">
                  <a:pos x="9" y="0"/>
                </a:cxn>
                <a:cxn ang="0">
                  <a:pos x="4" y="7"/>
                </a:cxn>
                <a:cxn ang="0">
                  <a:pos x="0" y="9"/>
                </a:cxn>
                <a:cxn ang="0">
                  <a:pos x="6" y="7"/>
                </a:cxn>
                <a:cxn ang="0">
                  <a:pos x="10" y="9"/>
                </a:cxn>
                <a:cxn ang="0">
                  <a:pos x="16" y="3"/>
                </a:cxn>
                <a:cxn ang="0">
                  <a:pos x="10" y="4"/>
                </a:cxn>
                <a:cxn ang="0">
                  <a:pos x="9" y="0"/>
                </a:cxn>
              </a:cxnLst>
              <a:rect l="0" t="0" r="r" b="b"/>
              <a:pathLst>
                <a:path w="16" h="9">
                  <a:moveTo>
                    <a:pt x="9" y="0"/>
                  </a:moveTo>
                  <a:lnTo>
                    <a:pt x="4" y="7"/>
                  </a:lnTo>
                  <a:lnTo>
                    <a:pt x="0" y="9"/>
                  </a:lnTo>
                  <a:lnTo>
                    <a:pt x="6" y="7"/>
                  </a:lnTo>
                  <a:lnTo>
                    <a:pt x="10" y="9"/>
                  </a:lnTo>
                  <a:lnTo>
                    <a:pt x="16" y="3"/>
                  </a:lnTo>
                  <a:lnTo>
                    <a:pt x="10" y="4"/>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2" name="Freeform 341"/>
            <p:cNvSpPr>
              <a:spLocks/>
            </p:cNvSpPr>
            <p:nvPr/>
          </p:nvSpPr>
          <p:spPr bwMode="auto">
            <a:xfrm>
              <a:off x="2796" y="1348"/>
              <a:ext cx="166" cy="177"/>
            </a:xfrm>
            <a:custGeom>
              <a:avLst/>
              <a:gdLst/>
              <a:ahLst/>
              <a:cxnLst>
                <a:cxn ang="0">
                  <a:pos x="127" y="87"/>
                </a:cxn>
                <a:cxn ang="0">
                  <a:pos x="122" y="82"/>
                </a:cxn>
                <a:cxn ang="0">
                  <a:pos x="121" y="67"/>
                </a:cxn>
                <a:cxn ang="0">
                  <a:pos x="106" y="51"/>
                </a:cxn>
                <a:cxn ang="0">
                  <a:pos x="114" y="39"/>
                </a:cxn>
                <a:cxn ang="0">
                  <a:pos x="96" y="29"/>
                </a:cxn>
                <a:cxn ang="0">
                  <a:pos x="96" y="19"/>
                </a:cxn>
                <a:cxn ang="0">
                  <a:pos x="96" y="16"/>
                </a:cxn>
                <a:cxn ang="0">
                  <a:pos x="96" y="6"/>
                </a:cxn>
                <a:cxn ang="0">
                  <a:pos x="76" y="0"/>
                </a:cxn>
                <a:cxn ang="0">
                  <a:pos x="60" y="7"/>
                </a:cxn>
                <a:cxn ang="0">
                  <a:pos x="56" y="18"/>
                </a:cxn>
                <a:cxn ang="0">
                  <a:pos x="49" y="22"/>
                </a:cxn>
                <a:cxn ang="0">
                  <a:pos x="33" y="22"/>
                </a:cxn>
                <a:cxn ang="0">
                  <a:pos x="20" y="19"/>
                </a:cxn>
                <a:cxn ang="0">
                  <a:pos x="7" y="11"/>
                </a:cxn>
                <a:cxn ang="0">
                  <a:pos x="0" y="16"/>
                </a:cxn>
                <a:cxn ang="0">
                  <a:pos x="33" y="30"/>
                </a:cxn>
                <a:cxn ang="0">
                  <a:pos x="45" y="51"/>
                </a:cxn>
                <a:cxn ang="0">
                  <a:pos x="51" y="66"/>
                </a:cxn>
                <a:cxn ang="0">
                  <a:pos x="56" y="65"/>
                </a:cxn>
                <a:cxn ang="0">
                  <a:pos x="62" y="69"/>
                </a:cxn>
                <a:cxn ang="0">
                  <a:pos x="66" y="81"/>
                </a:cxn>
                <a:cxn ang="0">
                  <a:pos x="44" y="96"/>
                </a:cxn>
                <a:cxn ang="0">
                  <a:pos x="36" y="105"/>
                </a:cxn>
                <a:cxn ang="0">
                  <a:pos x="26" y="109"/>
                </a:cxn>
                <a:cxn ang="0">
                  <a:pos x="28" y="127"/>
                </a:cxn>
                <a:cxn ang="0">
                  <a:pos x="32" y="148"/>
                </a:cxn>
                <a:cxn ang="0">
                  <a:pos x="45" y="153"/>
                </a:cxn>
                <a:cxn ang="0">
                  <a:pos x="46" y="155"/>
                </a:cxn>
                <a:cxn ang="0">
                  <a:pos x="51" y="154"/>
                </a:cxn>
                <a:cxn ang="0">
                  <a:pos x="56" y="161"/>
                </a:cxn>
                <a:cxn ang="0">
                  <a:pos x="60" y="159"/>
                </a:cxn>
                <a:cxn ang="0">
                  <a:pos x="91" y="153"/>
                </a:cxn>
                <a:cxn ang="0">
                  <a:pos x="97" y="150"/>
                </a:cxn>
                <a:cxn ang="0">
                  <a:pos x="114" y="150"/>
                </a:cxn>
                <a:cxn ang="0">
                  <a:pos x="123" y="141"/>
                </a:cxn>
                <a:cxn ang="0">
                  <a:pos x="133" y="131"/>
                </a:cxn>
                <a:cxn ang="0">
                  <a:pos x="141" y="121"/>
                </a:cxn>
                <a:cxn ang="0">
                  <a:pos x="151" y="112"/>
                </a:cxn>
                <a:cxn ang="0">
                  <a:pos x="128" y="99"/>
                </a:cxn>
                <a:cxn ang="0">
                  <a:pos x="134" y="94"/>
                </a:cxn>
                <a:cxn ang="0">
                  <a:pos x="127" y="87"/>
                </a:cxn>
              </a:cxnLst>
              <a:rect l="0" t="0" r="r" b="b"/>
              <a:pathLst>
                <a:path w="151" h="161">
                  <a:moveTo>
                    <a:pt x="127" y="87"/>
                  </a:moveTo>
                  <a:lnTo>
                    <a:pt x="122" y="82"/>
                  </a:lnTo>
                  <a:lnTo>
                    <a:pt x="121" y="67"/>
                  </a:lnTo>
                  <a:lnTo>
                    <a:pt x="106" y="51"/>
                  </a:lnTo>
                  <a:lnTo>
                    <a:pt x="114" y="39"/>
                  </a:lnTo>
                  <a:lnTo>
                    <a:pt x="96" y="29"/>
                  </a:lnTo>
                  <a:lnTo>
                    <a:pt x="96" y="19"/>
                  </a:lnTo>
                  <a:lnTo>
                    <a:pt x="96" y="16"/>
                  </a:lnTo>
                  <a:lnTo>
                    <a:pt x="96" y="6"/>
                  </a:lnTo>
                  <a:lnTo>
                    <a:pt x="76" y="0"/>
                  </a:lnTo>
                  <a:lnTo>
                    <a:pt x="60" y="7"/>
                  </a:lnTo>
                  <a:lnTo>
                    <a:pt x="56" y="18"/>
                  </a:lnTo>
                  <a:lnTo>
                    <a:pt x="49" y="22"/>
                  </a:lnTo>
                  <a:lnTo>
                    <a:pt x="33" y="22"/>
                  </a:lnTo>
                  <a:lnTo>
                    <a:pt x="20" y="19"/>
                  </a:lnTo>
                  <a:lnTo>
                    <a:pt x="7" y="11"/>
                  </a:lnTo>
                  <a:lnTo>
                    <a:pt x="0" y="16"/>
                  </a:lnTo>
                  <a:lnTo>
                    <a:pt x="33" y="30"/>
                  </a:lnTo>
                  <a:lnTo>
                    <a:pt x="45" y="51"/>
                  </a:lnTo>
                  <a:lnTo>
                    <a:pt x="51" y="66"/>
                  </a:lnTo>
                  <a:lnTo>
                    <a:pt x="56" y="65"/>
                  </a:lnTo>
                  <a:lnTo>
                    <a:pt x="62" y="69"/>
                  </a:lnTo>
                  <a:lnTo>
                    <a:pt x="66" y="81"/>
                  </a:lnTo>
                  <a:lnTo>
                    <a:pt x="44" y="96"/>
                  </a:lnTo>
                  <a:lnTo>
                    <a:pt x="36" y="105"/>
                  </a:lnTo>
                  <a:lnTo>
                    <a:pt x="26" y="109"/>
                  </a:lnTo>
                  <a:lnTo>
                    <a:pt x="28" y="127"/>
                  </a:lnTo>
                  <a:lnTo>
                    <a:pt x="32" y="148"/>
                  </a:lnTo>
                  <a:lnTo>
                    <a:pt x="45" y="153"/>
                  </a:lnTo>
                  <a:lnTo>
                    <a:pt x="46" y="155"/>
                  </a:lnTo>
                  <a:lnTo>
                    <a:pt x="51" y="154"/>
                  </a:lnTo>
                  <a:lnTo>
                    <a:pt x="56" y="161"/>
                  </a:lnTo>
                  <a:lnTo>
                    <a:pt x="60" y="159"/>
                  </a:lnTo>
                  <a:lnTo>
                    <a:pt x="91" y="153"/>
                  </a:lnTo>
                  <a:lnTo>
                    <a:pt x="97" y="150"/>
                  </a:lnTo>
                  <a:lnTo>
                    <a:pt x="114" y="150"/>
                  </a:lnTo>
                  <a:lnTo>
                    <a:pt x="123" y="141"/>
                  </a:lnTo>
                  <a:lnTo>
                    <a:pt x="133" y="131"/>
                  </a:lnTo>
                  <a:lnTo>
                    <a:pt x="141" y="121"/>
                  </a:lnTo>
                  <a:lnTo>
                    <a:pt x="151" y="112"/>
                  </a:lnTo>
                  <a:lnTo>
                    <a:pt x="128" y="99"/>
                  </a:lnTo>
                  <a:lnTo>
                    <a:pt x="134" y="94"/>
                  </a:lnTo>
                  <a:lnTo>
                    <a:pt x="127"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3" name="Freeform 342"/>
            <p:cNvSpPr>
              <a:spLocks/>
            </p:cNvSpPr>
            <p:nvPr/>
          </p:nvSpPr>
          <p:spPr bwMode="auto">
            <a:xfrm>
              <a:off x="2680" y="1763"/>
              <a:ext cx="2" cy="5"/>
            </a:xfrm>
            <a:custGeom>
              <a:avLst/>
              <a:gdLst/>
              <a:ahLst/>
              <a:cxnLst>
                <a:cxn ang="0">
                  <a:pos x="0" y="0"/>
                </a:cxn>
                <a:cxn ang="0">
                  <a:pos x="0" y="3"/>
                </a:cxn>
                <a:cxn ang="0">
                  <a:pos x="1" y="3"/>
                </a:cxn>
                <a:cxn ang="0">
                  <a:pos x="0" y="0"/>
                </a:cxn>
              </a:cxnLst>
              <a:rect l="0" t="0" r="r" b="b"/>
              <a:pathLst>
                <a:path w="1" h="3">
                  <a:moveTo>
                    <a:pt x="0" y="0"/>
                  </a:moveTo>
                  <a:lnTo>
                    <a:pt x="0" y="3"/>
                  </a:lnTo>
                  <a:lnTo>
                    <a:pt x="1" y="3"/>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4" name="Freeform 343"/>
            <p:cNvSpPr>
              <a:spLocks/>
            </p:cNvSpPr>
            <p:nvPr/>
          </p:nvSpPr>
          <p:spPr bwMode="auto">
            <a:xfrm>
              <a:off x="2680" y="1732"/>
              <a:ext cx="118" cy="49"/>
            </a:xfrm>
            <a:custGeom>
              <a:avLst/>
              <a:gdLst/>
              <a:ahLst/>
              <a:cxnLst>
                <a:cxn ang="0">
                  <a:pos x="39" y="35"/>
                </a:cxn>
                <a:cxn ang="0">
                  <a:pos x="23" y="37"/>
                </a:cxn>
                <a:cxn ang="0">
                  <a:pos x="15" y="36"/>
                </a:cxn>
                <a:cxn ang="0">
                  <a:pos x="3" y="32"/>
                </a:cxn>
                <a:cxn ang="0">
                  <a:pos x="1" y="32"/>
                </a:cxn>
                <a:cxn ang="0">
                  <a:pos x="0" y="29"/>
                </a:cxn>
                <a:cxn ang="0">
                  <a:pos x="1" y="25"/>
                </a:cxn>
                <a:cxn ang="0">
                  <a:pos x="11" y="26"/>
                </a:cxn>
                <a:cxn ang="0">
                  <a:pos x="13" y="28"/>
                </a:cxn>
                <a:cxn ang="0">
                  <a:pos x="17" y="24"/>
                </a:cxn>
                <a:cxn ang="0">
                  <a:pos x="29" y="24"/>
                </a:cxn>
                <a:cxn ang="0">
                  <a:pos x="46" y="24"/>
                </a:cxn>
                <a:cxn ang="0">
                  <a:pos x="51" y="22"/>
                </a:cxn>
                <a:cxn ang="0">
                  <a:pos x="48" y="13"/>
                </a:cxn>
                <a:cxn ang="0">
                  <a:pos x="59" y="4"/>
                </a:cxn>
                <a:cxn ang="0">
                  <a:pos x="67" y="7"/>
                </a:cxn>
                <a:cxn ang="0">
                  <a:pos x="75" y="0"/>
                </a:cxn>
                <a:cxn ang="0">
                  <a:pos x="97" y="4"/>
                </a:cxn>
                <a:cxn ang="0">
                  <a:pos x="107" y="17"/>
                </a:cxn>
                <a:cxn ang="0">
                  <a:pos x="101" y="22"/>
                </a:cxn>
                <a:cxn ang="0">
                  <a:pos x="100" y="23"/>
                </a:cxn>
                <a:cxn ang="0">
                  <a:pos x="95" y="35"/>
                </a:cxn>
                <a:cxn ang="0">
                  <a:pos x="94" y="36"/>
                </a:cxn>
                <a:cxn ang="0">
                  <a:pos x="66" y="43"/>
                </a:cxn>
                <a:cxn ang="0">
                  <a:pos x="60" y="42"/>
                </a:cxn>
                <a:cxn ang="0">
                  <a:pos x="39" y="35"/>
                </a:cxn>
              </a:cxnLst>
              <a:rect l="0" t="0" r="r" b="b"/>
              <a:pathLst>
                <a:path w="107" h="43">
                  <a:moveTo>
                    <a:pt x="39" y="35"/>
                  </a:moveTo>
                  <a:lnTo>
                    <a:pt x="23" y="37"/>
                  </a:lnTo>
                  <a:lnTo>
                    <a:pt x="15" y="36"/>
                  </a:lnTo>
                  <a:lnTo>
                    <a:pt x="3" y="32"/>
                  </a:lnTo>
                  <a:lnTo>
                    <a:pt x="1" y="32"/>
                  </a:lnTo>
                  <a:lnTo>
                    <a:pt x="0" y="29"/>
                  </a:lnTo>
                  <a:lnTo>
                    <a:pt x="1" y="25"/>
                  </a:lnTo>
                  <a:lnTo>
                    <a:pt x="11" y="26"/>
                  </a:lnTo>
                  <a:lnTo>
                    <a:pt x="13" y="28"/>
                  </a:lnTo>
                  <a:lnTo>
                    <a:pt x="17" y="24"/>
                  </a:lnTo>
                  <a:lnTo>
                    <a:pt x="29" y="24"/>
                  </a:lnTo>
                  <a:lnTo>
                    <a:pt x="46" y="24"/>
                  </a:lnTo>
                  <a:lnTo>
                    <a:pt x="51" y="22"/>
                  </a:lnTo>
                  <a:lnTo>
                    <a:pt x="48" y="13"/>
                  </a:lnTo>
                  <a:lnTo>
                    <a:pt x="59" y="4"/>
                  </a:lnTo>
                  <a:lnTo>
                    <a:pt x="67" y="7"/>
                  </a:lnTo>
                  <a:lnTo>
                    <a:pt x="75" y="0"/>
                  </a:lnTo>
                  <a:lnTo>
                    <a:pt x="97" y="4"/>
                  </a:lnTo>
                  <a:lnTo>
                    <a:pt x="107" y="17"/>
                  </a:lnTo>
                  <a:lnTo>
                    <a:pt x="101" y="22"/>
                  </a:lnTo>
                  <a:lnTo>
                    <a:pt x="100" y="23"/>
                  </a:lnTo>
                  <a:lnTo>
                    <a:pt x="95" y="35"/>
                  </a:lnTo>
                  <a:lnTo>
                    <a:pt x="94" y="36"/>
                  </a:lnTo>
                  <a:lnTo>
                    <a:pt x="66" y="43"/>
                  </a:lnTo>
                  <a:lnTo>
                    <a:pt x="60" y="42"/>
                  </a:lnTo>
                  <a:lnTo>
                    <a:pt x="39" y="3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5" name="Freeform 344"/>
            <p:cNvSpPr>
              <a:spLocks/>
            </p:cNvSpPr>
            <p:nvPr/>
          </p:nvSpPr>
          <p:spPr bwMode="auto">
            <a:xfrm>
              <a:off x="2780" y="1803"/>
              <a:ext cx="62" cy="53"/>
            </a:xfrm>
            <a:custGeom>
              <a:avLst/>
              <a:gdLst/>
              <a:ahLst/>
              <a:cxnLst>
                <a:cxn ang="0">
                  <a:pos x="51" y="6"/>
                </a:cxn>
                <a:cxn ang="0">
                  <a:pos x="52" y="8"/>
                </a:cxn>
                <a:cxn ang="0">
                  <a:pos x="51" y="11"/>
                </a:cxn>
                <a:cxn ang="0">
                  <a:pos x="48" y="14"/>
                </a:cxn>
                <a:cxn ang="0">
                  <a:pos x="48" y="15"/>
                </a:cxn>
                <a:cxn ang="0">
                  <a:pos x="51" y="18"/>
                </a:cxn>
                <a:cxn ang="0">
                  <a:pos x="57" y="21"/>
                </a:cxn>
                <a:cxn ang="0">
                  <a:pos x="52" y="24"/>
                </a:cxn>
                <a:cxn ang="0">
                  <a:pos x="56" y="26"/>
                </a:cxn>
                <a:cxn ang="0">
                  <a:pos x="56" y="30"/>
                </a:cxn>
                <a:cxn ang="0">
                  <a:pos x="47" y="31"/>
                </a:cxn>
                <a:cxn ang="0">
                  <a:pos x="51" y="35"/>
                </a:cxn>
                <a:cxn ang="0">
                  <a:pos x="50" y="36"/>
                </a:cxn>
                <a:cxn ang="0">
                  <a:pos x="47" y="35"/>
                </a:cxn>
                <a:cxn ang="0">
                  <a:pos x="44" y="39"/>
                </a:cxn>
                <a:cxn ang="0">
                  <a:pos x="41" y="41"/>
                </a:cxn>
                <a:cxn ang="0">
                  <a:pos x="45" y="45"/>
                </a:cxn>
                <a:cxn ang="0">
                  <a:pos x="41" y="47"/>
                </a:cxn>
                <a:cxn ang="0">
                  <a:pos x="39" y="45"/>
                </a:cxn>
                <a:cxn ang="0">
                  <a:pos x="34" y="43"/>
                </a:cxn>
                <a:cxn ang="0">
                  <a:pos x="30" y="41"/>
                </a:cxn>
                <a:cxn ang="0">
                  <a:pos x="30" y="39"/>
                </a:cxn>
                <a:cxn ang="0">
                  <a:pos x="24" y="35"/>
                </a:cxn>
                <a:cxn ang="0">
                  <a:pos x="23" y="32"/>
                </a:cxn>
                <a:cxn ang="0">
                  <a:pos x="20" y="30"/>
                </a:cxn>
                <a:cxn ang="0">
                  <a:pos x="9" y="20"/>
                </a:cxn>
                <a:cxn ang="0">
                  <a:pos x="9" y="19"/>
                </a:cxn>
                <a:cxn ang="0">
                  <a:pos x="6" y="18"/>
                </a:cxn>
                <a:cxn ang="0">
                  <a:pos x="4" y="11"/>
                </a:cxn>
                <a:cxn ang="0">
                  <a:pos x="0" y="8"/>
                </a:cxn>
                <a:cxn ang="0">
                  <a:pos x="0" y="1"/>
                </a:cxn>
                <a:cxn ang="0">
                  <a:pos x="4" y="0"/>
                </a:cxn>
                <a:cxn ang="0">
                  <a:pos x="8" y="5"/>
                </a:cxn>
                <a:cxn ang="0">
                  <a:pos x="11" y="0"/>
                </a:cxn>
                <a:cxn ang="0">
                  <a:pos x="16" y="0"/>
                </a:cxn>
                <a:cxn ang="0">
                  <a:pos x="20" y="1"/>
                </a:cxn>
                <a:cxn ang="0">
                  <a:pos x="30" y="3"/>
                </a:cxn>
                <a:cxn ang="0">
                  <a:pos x="32" y="1"/>
                </a:cxn>
                <a:cxn ang="0">
                  <a:pos x="34" y="2"/>
                </a:cxn>
                <a:cxn ang="0">
                  <a:pos x="35" y="2"/>
                </a:cxn>
                <a:cxn ang="0">
                  <a:pos x="39" y="2"/>
                </a:cxn>
                <a:cxn ang="0">
                  <a:pos x="41" y="2"/>
                </a:cxn>
                <a:cxn ang="0">
                  <a:pos x="44" y="6"/>
                </a:cxn>
                <a:cxn ang="0">
                  <a:pos x="47" y="6"/>
                </a:cxn>
                <a:cxn ang="0">
                  <a:pos x="51" y="6"/>
                </a:cxn>
              </a:cxnLst>
              <a:rect l="0" t="0" r="r" b="b"/>
              <a:pathLst>
                <a:path w="57" h="47">
                  <a:moveTo>
                    <a:pt x="51" y="6"/>
                  </a:moveTo>
                  <a:lnTo>
                    <a:pt x="52" y="8"/>
                  </a:lnTo>
                  <a:lnTo>
                    <a:pt x="51" y="11"/>
                  </a:lnTo>
                  <a:lnTo>
                    <a:pt x="48" y="14"/>
                  </a:lnTo>
                  <a:lnTo>
                    <a:pt x="48" y="15"/>
                  </a:lnTo>
                  <a:lnTo>
                    <a:pt x="51" y="18"/>
                  </a:lnTo>
                  <a:lnTo>
                    <a:pt x="57" y="21"/>
                  </a:lnTo>
                  <a:lnTo>
                    <a:pt x="52" y="24"/>
                  </a:lnTo>
                  <a:lnTo>
                    <a:pt x="56" y="26"/>
                  </a:lnTo>
                  <a:lnTo>
                    <a:pt x="56" y="30"/>
                  </a:lnTo>
                  <a:lnTo>
                    <a:pt x="47" y="31"/>
                  </a:lnTo>
                  <a:lnTo>
                    <a:pt x="51" y="35"/>
                  </a:lnTo>
                  <a:lnTo>
                    <a:pt x="50" y="36"/>
                  </a:lnTo>
                  <a:lnTo>
                    <a:pt x="47" y="35"/>
                  </a:lnTo>
                  <a:lnTo>
                    <a:pt x="44" y="39"/>
                  </a:lnTo>
                  <a:lnTo>
                    <a:pt x="41" y="41"/>
                  </a:lnTo>
                  <a:lnTo>
                    <a:pt x="45" y="45"/>
                  </a:lnTo>
                  <a:lnTo>
                    <a:pt x="41" y="47"/>
                  </a:lnTo>
                  <a:lnTo>
                    <a:pt x="39" y="45"/>
                  </a:lnTo>
                  <a:lnTo>
                    <a:pt x="34" y="43"/>
                  </a:lnTo>
                  <a:lnTo>
                    <a:pt x="30" y="41"/>
                  </a:lnTo>
                  <a:lnTo>
                    <a:pt x="30" y="39"/>
                  </a:lnTo>
                  <a:lnTo>
                    <a:pt x="24" y="35"/>
                  </a:lnTo>
                  <a:lnTo>
                    <a:pt x="23" y="32"/>
                  </a:lnTo>
                  <a:lnTo>
                    <a:pt x="20" y="30"/>
                  </a:lnTo>
                  <a:lnTo>
                    <a:pt x="9" y="20"/>
                  </a:lnTo>
                  <a:lnTo>
                    <a:pt x="9" y="19"/>
                  </a:lnTo>
                  <a:lnTo>
                    <a:pt x="6" y="18"/>
                  </a:lnTo>
                  <a:lnTo>
                    <a:pt x="4" y="11"/>
                  </a:lnTo>
                  <a:lnTo>
                    <a:pt x="0" y="8"/>
                  </a:lnTo>
                  <a:lnTo>
                    <a:pt x="0" y="1"/>
                  </a:lnTo>
                  <a:lnTo>
                    <a:pt x="4" y="0"/>
                  </a:lnTo>
                  <a:lnTo>
                    <a:pt x="8" y="5"/>
                  </a:lnTo>
                  <a:lnTo>
                    <a:pt x="11" y="0"/>
                  </a:lnTo>
                  <a:lnTo>
                    <a:pt x="16" y="0"/>
                  </a:lnTo>
                  <a:lnTo>
                    <a:pt x="20" y="1"/>
                  </a:lnTo>
                  <a:lnTo>
                    <a:pt x="30" y="3"/>
                  </a:lnTo>
                  <a:lnTo>
                    <a:pt x="32" y="1"/>
                  </a:lnTo>
                  <a:lnTo>
                    <a:pt x="34" y="2"/>
                  </a:lnTo>
                  <a:lnTo>
                    <a:pt x="35" y="2"/>
                  </a:lnTo>
                  <a:lnTo>
                    <a:pt x="39" y="2"/>
                  </a:lnTo>
                  <a:lnTo>
                    <a:pt x="41" y="2"/>
                  </a:lnTo>
                  <a:lnTo>
                    <a:pt x="44" y="6"/>
                  </a:lnTo>
                  <a:lnTo>
                    <a:pt x="47" y="6"/>
                  </a:lnTo>
                  <a:lnTo>
                    <a:pt x="5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6" name="Freeform 345"/>
            <p:cNvSpPr>
              <a:spLocks/>
            </p:cNvSpPr>
            <p:nvPr/>
          </p:nvSpPr>
          <p:spPr bwMode="auto">
            <a:xfrm>
              <a:off x="2747" y="1776"/>
              <a:ext cx="91" cy="74"/>
            </a:xfrm>
            <a:custGeom>
              <a:avLst/>
              <a:gdLst/>
              <a:ahLst/>
              <a:cxnLst>
                <a:cxn ang="0">
                  <a:pos x="74" y="30"/>
                </a:cxn>
                <a:cxn ang="0">
                  <a:pos x="77" y="30"/>
                </a:cxn>
                <a:cxn ang="0">
                  <a:pos x="78" y="26"/>
                </a:cxn>
                <a:cxn ang="0">
                  <a:pos x="82" y="25"/>
                </a:cxn>
                <a:cxn ang="0">
                  <a:pos x="82" y="24"/>
                </a:cxn>
                <a:cxn ang="0">
                  <a:pos x="77" y="23"/>
                </a:cxn>
                <a:cxn ang="0">
                  <a:pos x="76" y="21"/>
                </a:cxn>
                <a:cxn ang="0">
                  <a:pos x="77" y="19"/>
                </a:cxn>
                <a:cxn ang="0">
                  <a:pos x="76" y="19"/>
                </a:cxn>
                <a:cxn ang="0">
                  <a:pos x="72" y="13"/>
                </a:cxn>
                <a:cxn ang="0">
                  <a:pos x="51" y="11"/>
                </a:cxn>
                <a:cxn ang="0">
                  <a:pos x="39" y="0"/>
                </a:cxn>
                <a:cxn ang="0">
                  <a:pos x="38" y="1"/>
                </a:cxn>
                <a:cxn ang="0">
                  <a:pos x="36" y="2"/>
                </a:cxn>
                <a:cxn ang="0">
                  <a:pos x="36" y="3"/>
                </a:cxn>
                <a:cxn ang="0">
                  <a:pos x="32" y="3"/>
                </a:cxn>
                <a:cxn ang="0">
                  <a:pos x="30" y="5"/>
                </a:cxn>
                <a:cxn ang="0">
                  <a:pos x="26" y="6"/>
                </a:cxn>
                <a:cxn ang="0">
                  <a:pos x="27" y="9"/>
                </a:cxn>
                <a:cxn ang="0">
                  <a:pos x="27" y="11"/>
                </a:cxn>
                <a:cxn ang="0">
                  <a:pos x="29" y="13"/>
                </a:cxn>
                <a:cxn ang="0">
                  <a:pos x="27" y="13"/>
                </a:cxn>
                <a:cxn ang="0">
                  <a:pos x="22" y="15"/>
                </a:cxn>
                <a:cxn ang="0">
                  <a:pos x="22" y="17"/>
                </a:cxn>
                <a:cxn ang="0">
                  <a:pos x="23" y="20"/>
                </a:cxn>
                <a:cxn ang="0">
                  <a:pos x="20" y="20"/>
                </a:cxn>
                <a:cxn ang="0">
                  <a:pos x="16" y="18"/>
                </a:cxn>
                <a:cxn ang="0">
                  <a:pos x="15" y="19"/>
                </a:cxn>
                <a:cxn ang="0">
                  <a:pos x="12" y="17"/>
                </a:cxn>
                <a:cxn ang="0">
                  <a:pos x="10" y="20"/>
                </a:cxn>
                <a:cxn ang="0">
                  <a:pos x="4" y="20"/>
                </a:cxn>
                <a:cxn ang="0">
                  <a:pos x="0" y="18"/>
                </a:cxn>
                <a:cxn ang="0">
                  <a:pos x="3" y="24"/>
                </a:cxn>
                <a:cxn ang="0">
                  <a:pos x="6" y="29"/>
                </a:cxn>
                <a:cxn ang="0">
                  <a:pos x="10" y="25"/>
                </a:cxn>
                <a:cxn ang="0">
                  <a:pos x="21" y="42"/>
                </a:cxn>
                <a:cxn ang="0">
                  <a:pos x="26" y="47"/>
                </a:cxn>
                <a:cxn ang="0">
                  <a:pos x="39" y="55"/>
                </a:cxn>
                <a:cxn ang="0">
                  <a:pos x="57" y="65"/>
                </a:cxn>
                <a:cxn ang="0">
                  <a:pos x="59" y="65"/>
                </a:cxn>
                <a:cxn ang="0">
                  <a:pos x="60" y="65"/>
                </a:cxn>
                <a:cxn ang="0">
                  <a:pos x="60" y="63"/>
                </a:cxn>
                <a:cxn ang="0">
                  <a:pos x="54" y="59"/>
                </a:cxn>
                <a:cxn ang="0">
                  <a:pos x="53" y="56"/>
                </a:cxn>
                <a:cxn ang="0">
                  <a:pos x="50" y="54"/>
                </a:cxn>
                <a:cxn ang="0">
                  <a:pos x="39" y="44"/>
                </a:cxn>
                <a:cxn ang="0">
                  <a:pos x="39" y="43"/>
                </a:cxn>
                <a:cxn ang="0">
                  <a:pos x="36" y="42"/>
                </a:cxn>
                <a:cxn ang="0">
                  <a:pos x="34" y="35"/>
                </a:cxn>
                <a:cxn ang="0">
                  <a:pos x="30" y="32"/>
                </a:cxn>
                <a:cxn ang="0">
                  <a:pos x="30" y="25"/>
                </a:cxn>
                <a:cxn ang="0">
                  <a:pos x="34" y="24"/>
                </a:cxn>
                <a:cxn ang="0">
                  <a:pos x="38" y="29"/>
                </a:cxn>
                <a:cxn ang="0">
                  <a:pos x="41" y="24"/>
                </a:cxn>
                <a:cxn ang="0">
                  <a:pos x="46" y="24"/>
                </a:cxn>
                <a:cxn ang="0">
                  <a:pos x="50" y="25"/>
                </a:cxn>
                <a:cxn ang="0">
                  <a:pos x="60" y="27"/>
                </a:cxn>
                <a:cxn ang="0">
                  <a:pos x="62" y="25"/>
                </a:cxn>
                <a:cxn ang="0">
                  <a:pos x="64" y="26"/>
                </a:cxn>
                <a:cxn ang="0">
                  <a:pos x="65" y="26"/>
                </a:cxn>
                <a:cxn ang="0">
                  <a:pos x="69" y="26"/>
                </a:cxn>
                <a:cxn ang="0">
                  <a:pos x="71" y="26"/>
                </a:cxn>
                <a:cxn ang="0">
                  <a:pos x="74" y="30"/>
                </a:cxn>
              </a:cxnLst>
              <a:rect l="0" t="0" r="r" b="b"/>
              <a:pathLst>
                <a:path w="82" h="65">
                  <a:moveTo>
                    <a:pt x="74" y="30"/>
                  </a:moveTo>
                  <a:lnTo>
                    <a:pt x="77" y="30"/>
                  </a:lnTo>
                  <a:lnTo>
                    <a:pt x="78" y="26"/>
                  </a:lnTo>
                  <a:lnTo>
                    <a:pt x="82" y="25"/>
                  </a:lnTo>
                  <a:lnTo>
                    <a:pt x="82" y="24"/>
                  </a:lnTo>
                  <a:lnTo>
                    <a:pt x="77" y="23"/>
                  </a:lnTo>
                  <a:lnTo>
                    <a:pt x="76" y="21"/>
                  </a:lnTo>
                  <a:lnTo>
                    <a:pt x="77" y="19"/>
                  </a:lnTo>
                  <a:lnTo>
                    <a:pt x="76" y="19"/>
                  </a:lnTo>
                  <a:lnTo>
                    <a:pt x="72" y="13"/>
                  </a:lnTo>
                  <a:lnTo>
                    <a:pt x="51" y="11"/>
                  </a:lnTo>
                  <a:lnTo>
                    <a:pt x="39" y="0"/>
                  </a:lnTo>
                  <a:lnTo>
                    <a:pt x="38" y="1"/>
                  </a:lnTo>
                  <a:lnTo>
                    <a:pt x="36" y="2"/>
                  </a:lnTo>
                  <a:lnTo>
                    <a:pt x="36" y="3"/>
                  </a:lnTo>
                  <a:lnTo>
                    <a:pt x="32" y="3"/>
                  </a:lnTo>
                  <a:lnTo>
                    <a:pt x="30" y="5"/>
                  </a:lnTo>
                  <a:lnTo>
                    <a:pt x="26" y="6"/>
                  </a:lnTo>
                  <a:lnTo>
                    <a:pt x="27" y="9"/>
                  </a:lnTo>
                  <a:lnTo>
                    <a:pt x="27" y="11"/>
                  </a:lnTo>
                  <a:lnTo>
                    <a:pt x="29" y="13"/>
                  </a:lnTo>
                  <a:lnTo>
                    <a:pt x="27" y="13"/>
                  </a:lnTo>
                  <a:lnTo>
                    <a:pt x="22" y="15"/>
                  </a:lnTo>
                  <a:lnTo>
                    <a:pt x="22" y="17"/>
                  </a:lnTo>
                  <a:lnTo>
                    <a:pt x="23" y="20"/>
                  </a:lnTo>
                  <a:lnTo>
                    <a:pt x="20" y="20"/>
                  </a:lnTo>
                  <a:lnTo>
                    <a:pt x="16" y="18"/>
                  </a:lnTo>
                  <a:lnTo>
                    <a:pt x="15" y="19"/>
                  </a:lnTo>
                  <a:lnTo>
                    <a:pt x="12" y="17"/>
                  </a:lnTo>
                  <a:lnTo>
                    <a:pt x="10" y="20"/>
                  </a:lnTo>
                  <a:lnTo>
                    <a:pt x="4" y="20"/>
                  </a:lnTo>
                  <a:lnTo>
                    <a:pt x="0" y="18"/>
                  </a:lnTo>
                  <a:lnTo>
                    <a:pt x="3" y="24"/>
                  </a:lnTo>
                  <a:lnTo>
                    <a:pt x="6" y="29"/>
                  </a:lnTo>
                  <a:lnTo>
                    <a:pt x="10" y="25"/>
                  </a:lnTo>
                  <a:lnTo>
                    <a:pt x="21" y="42"/>
                  </a:lnTo>
                  <a:lnTo>
                    <a:pt x="26" y="47"/>
                  </a:lnTo>
                  <a:lnTo>
                    <a:pt x="39" y="55"/>
                  </a:lnTo>
                  <a:lnTo>
                    <a:pt x="57" y="65"/>
                  </a:lnTo>
                  <a:lnTo>
                    <a:pt x="59" y="65"/>
                  </a:lnTo>
                  <a:lnTo>
                    <a:pt x="60" y="65"/>
                  </a:lnTo>
                  <a:lnTo>
                    <a:pt x="60" y="63"/>
                  </a:lnTo>
                  <a:lnTo>
                    <a:pt x="54" y="59"/>
                  </a:lnTo>
                  <a:lnTo>
                    <a:pt x="53" y="56"/>
                  </a:lnTo>
                  <a:lnTo>
                    <a:pt x="50" y="54"/>
                  </a:lnTo>
                  <a:lnTo>
                    <a:pt x="39" y="44"/>
                  </a:lnTo>
                  <a:lnTo>
                    <a:pt x="39" y="43"/>
                  </a:lnTo>
                  <a:lnTo>
                    <a:pt x="36" y="42"/>
                  </a:lnTo>
                  <a:lnTo>
                    <a:pt x="34" y="35"/>
                  </a:lnTo>
                  <a:lnTo>
                    <a:pt x="30" y="32"/>
                  </a:lnTo>
                  <a:lnTo>
                    <a:pt x="30" y="25"/>
                  </a:lnTo>
                  <a:lnTo>
                    <a:pt x="34" y="24"/>
                  </a:lnTo>
                  <a:lnTo>
                    <a:pt x="38" y="29"/>
                  </a:lnTo>
                  <a:lnTo>
                    <a:pt x="41" y="24"/>
                  </a:lnTo>
                  <a:lnTo>
                    <a:pt x="46" y="24"/>
                  </a:lnTo>
                  <a:lnTo>
                    <a:pt x="50" y="25"/>
                  </a:lnTo>
                  <a:lnTo>
                    <a:pt x="60" y="27"/>
                  </a:lnTo>
                  <a:lnTo>
                    <a:pt x="62" y="25"/>
                  </a:lnTo>
                  <a:lnTo>
                    <a:pt x="64" y="26"/>
                  </a:lnTo>
                  <a:lnTo>
                    <a:pt x="65" y="26"/>
                  </a:lnTo>
                  <a:lnTo>
                    <a:pt x="69" y="26"/>
                  </a:lnTo>
                  <a:lnTo>
                    <a:pt x="71" y="26"/>
                  </a:lnTo>
                  <a:lnTo>
                    <a:pt x="74" y="3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7" name="Freeform 346"/>
            <p:cNvSpPr>
              <a:spLocks/>
            </p:cNvSpPr>
            <p:nvPr/>
          </p:nvSpPr>
          <p:spPr bwMode="auto">
            <a:xfrm>
              <a:off x="2802" y="1850"/>
              <a:ext cx="25" cy="11"/>
            </a:xfrm>
            <a:custGeom>
              <a:avLst/>
              <a:gdLst/>
              <a:ahLst/>
              <a:cxnLst>
                <a:cxn ang="0">
                  <a:pos x="21" y="9"/>
                </a:cxn>
                <a:cxn ang="0">
                  <a:pos x="21" y="7"/>
                </a:cxn>
                <a:cxn ang="0">
                  <a:pos x="21" y="6"/>
                </a:cxn>
                <a:cxn ang="0">
                  <a:pos x="19" y="4"/>
                </a:cxn>
                <a:cxn ang="0">
                  <a:pos x="14" y="2"/>
                </a:cxn>
                <a:cxn ang="0">
                  <a:pos x="10" y="0"/>
                </a:cxn>
                <a:cxn ang="0">
                  <a:pos x="9" y="1"/>
                </a:cxn>
                <a:cxn ang="0">
                  <a:pos x="0" y="0"/>
                </a:cxn>
                <a:cxn ang="0">
                  <a:pos x="21" y="9"/>
                </a:cxn>
              </a:cxnLst>
              <a:rect l="0" t="0" r="r" b="b"/>
              <a:pathLst>
                <a:path w="21" h="9">
                  <a:moveTo>
                    <a:pt x="21" y="9"/>
                  </a:moveTo>
                  <a:lnTo>
                    <a:pt x="21" y="7"/>
                  </a:lnTo>
                  <a:lnTo>
                    <a:pt x="21" y="6"/>
                  </a:lnTo>
                  <a:lnTo>
                    <a:pt x="19" y="4"/>
                  </a:lnTo>
                  <a:lnTo>
                    <a:pt x="14" y="2"/>
                  </a:lnTo>
                  <a:lnTo>
                    <a:pt x="10" y="0"/>
                  </a:lnTo>
                  <a:lnTo>
                    <a:pt x="9" y="1"/>
                  </a:lnTo>
                  <a:lnTo>
                    <a:pt x="0" y="0"/>
                  </a:lnTo>
                  <a:lnTo>
                    <a:pt x="21"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8" name="Freeform 347"/>
            <p:cNvSpPr>
              <a:spLocks/>
            </p:cNvSpPr>
            <p:nvPr/>
          </p:nvSpPr>
          <p:spPr bwMode="auto">
            <a:xfrm>
              <a:off x="2458" y="1690"/>
              <a:ext cx="198" cy="169"/>
            </a:xfrm>
            <a:custGeom>
              <a:avLst/>
              <a:gdLst/>
              <a:ahLst/>
              <a:cxnLst>
                <a:cxn ang="0">
                  <a:pos x="174" y="121"/>
                </a:cxn>
                <a:cxn ang="0">
                  <a:pos x="174" y="128"/>
                </a:cxn>
                <a:cxn ang="0">
                  <a:pos x="173" y="128"/>
                </a:cxn>
                <a:cxn ang="0">
                  <a:pos x="172" y="128"/>
                </a:cxn>
                <a:cxn ang="0">
                  <a:pos x="157" y="140"/>
                </a:cxn>
                <a:cxn ang="0">
                  <a:pos x="139" y="134"/>
                </a:cxn>
                <a:cxn ang="0">
                  <a:pos x="134" y="133"/>
                </a:cxn>
                <a:cxn ang="0">
                  <a:pos x="132" y="134"/>
                </a:cxn>
                <a:cxn ang="0">
                  <a:pos x="120" y="134"/>
                </a:cxn>
                <a:cxn ang="0">
                  <a:pos x="112" y="140"/>
                </a:cxn>
                <a:cxn ang="0">
                  <a:pos x="113" y="151"/>
                </a:cxn>
                <a:cxn ang="0">
                  <a:pos x="91" y="151"/>
                </a:cxn>
                <a:cxn ang="0">
                  <a:pos x="92" y="149"/>
                </a:cxn>
                <a:cxn ang="0">
                  <a:pos x="88" y="149"/>
                </a:cxn>
                <a:cxn ang="0">
                  <a:pos x="48" y="140"/>
                </a:cxn>
                <a:cxn ang="0">
                  <a:pos x="41" y="134"/>
                </a:cxn>
                <a:cxn ang="0">
                  <a:pos x="47" y="126"/>
                </a:cxn>
                <a:cxn ang="0">
                  <a:pos x="48" y="111"/>
                </a:cxn>
                <a:cxn ang="0">
                  <a:pos x="50" y="98"/>
                </a:cxn>
                <a:cxn ang="0">
                  <a:pos x="56" y="105"/>
                </a:cxn>
                <a:cxn ang="0">
                  <a:pos x="50" y="92"/>
                </a:cxn>
                <a:cxn ang="0">
                  <a:pos x="50" y="87"/>
                </a:cxn>
                <a:cxn ang="0">
                  <a:pos x="43" y="81"/>
                </a:cxn>
                <a:cxn ang="0">
                  <a:pos x="37" y="69"/>
                </a:cxn>
                <a:cxn ang="0">
                  <a:pos x="38" y="66"/>
                </a:cxn>
                <a:cxn ang="0">
                  <a:pos x="31" y="63"/>
                </a:cxn>
                <a:cxn ang="0">
                  <a:pos x="23" y="61"/>
                </a:cxn>
                <a:cxn ang="0">
                  <a:pos x="11" y="56"/>
                </a:cxn>
                <a:cxn ang="0">
                  <a:pos x="2" y="54"/>
                </a:cxn>
                <a:cxn ang="0">
                  <a:pos x="5" y="49"/>
                </a:cxn>
                <a:cxn ang="0">
                  <a:pos x="6" y="48"/>
                </a:cxn>
                <a:cxn ang="0">
                  <a:pos x="0" y="47"/>
                </a:cxn>
                <a:cxn ang="0">
                  <a:pos x="17" y="41"/>
                </a:cxn>
                <a:cxn ang="0">
                  <a:pos x="28" y="42"/>
                </a:cxn>
                <a:cxn ang="0">
                  <a:pos x="44" y="43"/>
                </a:cxn>
                <a:cxn ang="0">
                  <a:pos x="41" y="26"/>
                </a:cxn>
                <a:cxn ang="0">
                  <a:pos x="46" y="24"/>
                </a:cxn>
                <a:cxn ang="0">
                  <a:pos x="50" y="29"/>
                </a:cxn>
                <a:cxn ang="0">
                  <a:pos x="72" y="29"/>
                </a:cxn>
                <a:cxn ang="0">
                  <a:pos x="67" y="27"/>
                </a:cxn>
                <a:cxn ang="0">
                  <a:pos x="86" y="17"/>
                </a:cxn>
                <a:cxn ang="0">
                  <a:pos x="88" y="5"/>
                </a:cxn>
                <a:cxn ang="0">
                  <a:pos x="101" y="0"/>
                </a:cxn>
                <a:cxn ang="0">
                  <a:pos x="107" y="6"/>
                </a:cxn>
                <a:cxn ang="0">
                  <a:pos x="125" y="18"/>
                </a:cxn>
                <a:cxn ang="0">
                  <a:pos x="131" y="17"/>
                </a:cxn>
                <a:cxn ang="0">
                  <a:pos x="132" y="19"/>
                </a:cxn>
                <a:cxn ang="0">
                  <a:pos x="146" y="26"/>
                </a:cxn>
                <a:cxn ang="0">
                  <a:pos x="154" y="27"/>
                </a:cxn>
                <a:cxn ang="0">
                  <a:pos x="156" y="29"/>
                </a:cxn>
                <a:cxn ang="0">
                  <a:pos x="179" y="36"/>
                </a:cxn>
                <a:cxn ang="0">
                  <a:pos x="173" y="61"/>
                </a:cxn>
                <a:cxn ang="0">
                  <a:pos x="168" y="63"/>
                </a:cxn>
                <a:cxn ang="0">
                  <a:pos x="164" y="66"/>
                </a:cxn>
                <a:cxn ang="0">
                  <a:pos x="152" y="84"/>
                </a:cxn>
                <a:cxn ang="0">
                  <a:pos x="157" y="80"/>
                </a:cxn>
                <a:cxn ang="0">
                  <a:pos x="166" y="90"/>
                </a:cxn>
                <a:cxn ang="0">
                  <a:pos x="166" y="97"/>
                </a:cxn>
                <a:cxn ang="0">
                  <a:pos x="163" y="104"/>
                </a:cxn>
                <a:cxn ang="0">
                  <a:pos x="163" y="109"/>
                </a:cxn>
                <a:cxn ang="0">
                  <a:pos x="164" y="115"/>
                </a:cxn>
                <a:cxn ang="0">
                  <a:pos x="174" y="121"/>
                </a:cxn>
              </a:cxnLst>
              <a:rect l="0" t="0" r="r" b="b"/>
              <a:pathLst>
                <a:path w="179" h="151">
                  <a:moveTo>
                    <a:pt x="174" y="121"/>
                  </a:moveTo>
                  <a:lnTo>
                    <a:pt x="174" y="128"/>
                  </a:lnTo>
                  <a:lnTo>
                    <a:pt x="173" y="128"/>
                  </a:lnTo>
                  <a:lnTo>
                    <a:pt x="172" y="128"/>
                  </a:lnTo>
                  <a:lnTo>
                    <a:pt x="157" y="140"/>
                  </a:lnTo>
                  <a:lnTo>
                    <a:pt x="139" y="134"/>
                  </a:lnTo>
                  <a:lnTo>
                    <a:pt x="134" y="133"/>
                  </a:lnTo>
                  <a:lnTo>
                    <a:pt x="132" y="134"/>
                  </a:lnTo>
                  <a:lnTo>
                    <a:pt x="120" y="134"/>
                  </a:lnTo>
                  <a:lnTo>
                    <a:pt x="112" y="140"/>
                  </a:lnTo>
                  <a:lnTo>
                    <a:pt x="113" y="151"/>
                  </a:lnTo>
                  <a:lnTo>
                    <a:pt x="91" y="151"/>
                  </a:lnTo>
                  <a:lnTo>
                    <a:pt x="92" y="149"/>
                  </a:lnTo>
                  <a:lnTo>
                    <a:pt x="88" y="149"/>
                  </a:lnTo>
                  <a:lnTo>
                    <a:pt x="48" y="140"/>
                  </a:lnTo>
                  <a:lnTo>
                    <a:pt x="41" y="134"/>
                  </a:lnTo>
                  <a:lnTo>
                    <a:pt x="47" y="126"/>
                  </a:lnTo>
                  <a:lnTo>
                    <a:pt x="48" y="111"/>
                  </a:lnTo>
                  <a:lnTo>
                    <a:pt x="50" y="98"/>
                  </a:lnTo>
                  <a:lnTo>
                    <a:pt x="56" y="105"/>
                  </a:lnTo>
                  <a:lnTo>
                    <a:pt x="50" y="92"/>
                  </a:lnTo>
                  <a:lnTo>
                    <a:pt x="50" y="87"/>
                  </a:lnTo>
                  <a:lnTo>
                    <a:pt x="43" y="81"/>
                  </a:lnTo>
                  <a:lnTo>
                    <a:pt x="37" y="69"/>
                  </a:lnTo>
                  <a:lnTo>
                    <a:pt x="38" y="66"/>
                  </a:lnTo>
                  <a:lnTo>
                    <a:pt x="31" y="63"/>
                  </a:lnTo>
                  <a:lnTo>
                    <a:pt x="23" y="61"/>
                  </a:lnTo>
                  <a:lnTo>
                    <a:pt x="11" y="56"/>
                  </a:lnTo>
                  <a:lnTo>
                    <a:pt x="2" y="54"/>
                  </a:lnTo>
                  <a:lnTo>
                    <a:pt x="5" y="49"/>
                  </a:lnTo>
                  <a:lnTo>
                    <a:pt x="6" y="48"/>
                  </a:lnTo>
                  <a:lnTo>
                    <a:pt x="0" y="47"/>
                  </a:lnTo>
                  <a:lnTo>
                    <a:pt x="17" y="41"/>
                  </a:lnTo>
                  <a:lnTo>
                    <a:pt x="28" y="42"/>
                  </a:lnTo>
                  <a:lnTo>
                    <a:pt x="44" y="43"/>
                  </a:lnTo>
                  <a:lnTo>
                    <a:pt x="41" y="26"/>
                  </a:lnTo>
                  <a:lnTo>
                    <a:pt x="46" y="24"/>
                  </a:lnTo>
                  <a:lnTo>
                    <a:pt x="50" y="29"/>
                  </a:lnTo>
                  <a:lnTo>
                    <a:pt x="72" y="29"/>
                  </a:lnTo>
                  <a:lnTo>
                    <a:pt x="67" y="27"/>
                  </a:lnTo>
                  <a:lnTo>
                    <a:pt x="86" y="17"/>
                  </a:lnTo>
                  <a:lnTo>
                    <a:pt x="88" y="5"/>
                  </a:lnTo>
                  <a:lnTo>
                    <a:pt x="101" y="0"/>
                  </a:lnTo>
                  <a:lnTo>
                    <a:pt x="107" y="6"/>
                  </a:lnTo>
                  <a:lnTo>
                    <a:pt x="125" y="18"/>
                  </a:lnTo>
                  <a:lnTo>
                    <a:pt x="131" y="17"/>
                  </a:lnTo>
                  <a:lnTo>
                    <a:pt x="132" y="19"/>
                  </a:lnTo>
                  <a:lnTo>
                    <a:pt x="146" y="26"/>
                  </a:lnTo>
                  <a:lnTo>
                    <a:pt x="154" y="27"/>
                  </a:lnTo>
                  <a:lnTo>
                    <a:pt x="156" y="29"/>
                  </a:lnTo>
                  <a:lnTo>
                    <a:pt x="179" y="36"/>
                  </a:lnTo>
                  <a:lnTo>
                    <a:pt x="173" y="61"/>
                  </a:lnTo>
                  <a:lnTo>
                    <a:pt x="168" y="63"/>
                  </a:lnTo>
                  <a:lnTo>
                    <a:pt x="164" y="66"/>
                  </a:lnTo>
                  <a:lnTo>
                    <a:pt x="152" y="84"/>
                  </a:lnTo>
                  <a:lnTo>
                    <a:pt x="157" y="80"/>
                  </a:lnTo>
                  <a:lnTo>
                    <a:pt x="166" y="90"/>
                  </a:lnTo>
                  <a:lnTo>
                    <a:pt x="166" y="97"/>
                  </a:lnTo>
                  <a:lnTo>
                    <a:pt x="163" y="104"/>
                  </a:lnTo>
                  <a:lnTo>
                    <a:pt x="163" y="109"/>
                  </a:lnTo>
                  <a:lnTo>
                    <a:pt x="164" y="115"/>
                  </a:lnTo>
                  <a:lnTo>
                    <a:pt x="174" y="1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9" name="Freeform 348"/>
            <p:cNvSpPr>
              <a:spLocks/>
            </p:cNvSpPr>
            <p:nvPr/>
          </p:nvSpPr>
          <p:spPr bwMode="auto">
            <a:xfrm>
              <a:off x="2669" y="1850"/>
              <a:ext cx="15" cy="26"/>
            </a:xfrm>
            <a:custGeom>
              <a:avLst/>
              <a:gdLst/>
              <a:ahLst/>
              <a:cxnLst>
                <a:cxn ang="0">
                  <a:pos x="9" y="24"/>
                </a:cxn>
                <a:cxn ang="0">
                  <a:pos x="3" y="20"/>
                </a:cxn>
                <a:cxn ang="0">
                  <a:pos x="0" y="11"/>
                </a:cxn>
                <a:cxn ang="0">
                  <a:pos x="9" y="0"/>
                </a:cxn>
                <a:cxn ang="0">
                  <a:pos x="13" y="11"/>
                </a:cxn>
                <a:cxn ang="0">
                  <a:pos x="9" y="24"/>
                </a:cxn>
              </a:cxnLst>
              <a:rect l="0" t="0" r="r" b="b"/>
              <a:pathLst>
                <a:path w="13" h="24">
                  <a:moveTo>
                    <a:pt x="9" y="24"/>
                  </a:moveTo>
                  <a:lnTo>
                    <a:pt x="3" y="20"/>
                  </a:lnTo>
                  <a:lnTo>
                    <a:pt x="0" y="11"/>
                  </a:lnTo>
                  <a:lnTo>
                    <a:pt x="9" y="0"/>
                  </a:lnTo>
                  <a:lnTo>
                    <a:pt x="13" y="11"/>
                  </a:lnTo>
                  <a:lnTo>
                    <a:pt x="9"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0" name="Freeform 349"/>
            <p:cNvSpPr>
              <a:spLocks/>
            </p:cNvSpPr>
            <p:nvPr/>
          </p:nvSpPr>
          <p:spPr bwMode="auto">
            <a:xfrm>
              <a:off x="2782" y="1741"/>
              <a:ext cx="105" cy="51"/>
            </a:xfrm>
            <a:custGeom>
              <a:avLst/>
              <a:gdLst/>
              <a:ahLst/>
              <a:cxnLst>
                <a:cxn ang="0">
                  <a:pos x="39" y="46"/>
                </a:cxn>
                <a:cxn ang="0">
                  <a:pos x="18" y="44"/>
                </a:cxn>
                <a:cxn ang="0">
                  <a:pos x="6" y="33"/>
                </a:cxn>
                <a:cxn ang="0">
                  <a:pos x="1" y="30"/>
                </a:cxn>
                <a:cxn ang="0">
                  <a:pos x="0" y="28"/>
                </a:cxn>
                <a:cxn ang="0">
                  <a:pos x="1" y="27"/>
                </a:cxn>
                <a:cxn ang="0">
                  <a:pos x="6" y="15"/>
                </a:cxn>
                <a:cxn ang="0">
                  <a:pos x="7" y="14"/>
                </a:cxn>
                <a:cxn ang="0">
                  <a:pos x="13" y="9"/>
                </a:cxn>
                <a:cxn ang="0">
                  <a:pos x="17" y="10"/>
                </a:cxn>
                <a:cxn ang="0">
                  <a:pos x="35" y="11"/>
                </a:cxn>
                <a:cxn ang="0">
                  <a:pos x="57" y="0"/>
                </a:cxn>
                <a:cxn ang="0">
                  <a:pos x="81" y="2"/>
                </a:cxn>
                <a:cxn ang="0">
                  <a:pos x="92" y="10"/>
                </a:cxn>
                <a:cxn ang="0">
                  <a:pos x="79" y="23"/>
                </a:cxn>
                <a:cxn ang="0">
                  <a:pos x="67" y="39"/>
                </a:cxn>
                <a:cxn ang="0">
                  <a:pos x="60" y="41"/>
                </a:cxn>
                <a:cxn ang="0">
                  <a:pos x="39" y="46"/>
                </a:cxn>
              </a:cxnLst>
              <a:rect l="0" t="0" r="r" b="b"/>
              <a:pathLst>
                <a:path w="92" h="46">
                  <a:moveTo>
                    <a:pt x="39" y="46"/>
                  </a:moveTo>
                  <a:lnTo>
                    <a:pt x="18" y="44"/>
                  </a:lnTo>
                  <a:lnTo>
                    <a:pt x="6" y="33"/>
                  </a:lnTo>
                  <a:lnTo>
                    <a:pt x="1" y="30"/>
                  </a:lnTo>
                  <a:lnTo>
                    <a:pt x="0" y="28"/>
                  </a:lnTo>
                  <a:lnTo>
                    <a:pt x="1" y="27"/>
                  </a:lnTo>
                  <a:lnTo>
                    <a:pt x="6" y="15"/>
                  </a:lnTo>
                  <a:lnTo>
                    <a:pt x="7" y="14"/>
                  </a:lnTo>
                  <a:lnTo>
                    <a:pt x="13" y="9"/>
                  </a:lnTo>
                  <a:lnTo>
                    <a:pt x="17" y="10"/>
                  </a:lnTo>
                  <a:lnTo>
                    <a:pt x="35" y="11"/>
                  </a:lnTo>
                  <a:lnTo>
                    <a:pt x="57" y="0"/>
                  </a:lnTo>
                  <a:lnTo>
                    <a:pt x="81" y="2"/>
                  </a:lnTo>
                  <a:lnTo>
                    <a:pt x="92" y="10"/>
                  </a:lnTo>
                  <a:lnTo>
                    <a:pt x="79" y="23"/>
                  </a:lnTo>
                  <a:lnTo>
                    <a:pt x="67" y="39"/>
                  </a:lnTo>
                  <a:lnTo>
                    <a:pt x="60" y="41"/>
                  </a:lnTo>
                  <a:lnTo>
                    <a:pt x="39"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1" name="Freeform 350"/>
            <p:cNvSpPr>
              <a:spLocks/>
            </p:cNvSpPr>
            <p:nvPr/>
          </p:nvSpPr>
          <p:spPr bwMode="auto">
            <a:xfrm>
              <a:off x="2902" y="1228"/>
              <a:ext cx="2093" cy="646"/>
            </a:xfrm>
            <a:custGeom>
              <a:avLst/>
              <a:gdLst/>
              <a:ahLst/>
              <a:cxnLst>
                <a:cxn ang="0">
                  <a:pos x="1624" y="126"/>
                </a:cxn>
                <a:cxn ang="0">
                  <a:pos x="1471" y="99"/>
                </a:cxn>
                <a:cxn ang="0">
                  <a:pos x="1329" y="83"/>
                </a:cxn>
                <a:cxn ang="0">
                  <a:pos x="1222" y="71"/>
                </a:cxn>
                <a:cxn ang="0">
                  <a:pos x="1183" y="84"/>
                </a:cxn>
                <a:cxn ang="0">
                  <a:pos x="1071" y="75"/>
                </a:cxn>
                <a:cxn ang="0">
                  <a:pos x="890" y="52"/>
                </a:cxn>
                <a:cxn ang="0">
                  <a:pos x="873" y="30"/>
                </a:cxn>
                <a:cxn ang="0">
                  <a:pos x="777" y="15"/>
                </a:cxn>
                <a:cxn ang="0">
                  <a:pos x="702" y="18"/>
                </a:cxn>
                <a:cxn ang="0">
                  <a:pos x="597" y="41"/>
                </a:cxn>
                <a:cxn ang="0">
                  <a:pos x="564" y="74"/>
                </a:cxn>
                <a:cxn ang="0">
                  <a:pos x="596" y="84"/>
                </a:cxn>
                <a:cxn ang="0">
                  <a:pos x="511" y="87"/>
                </a:cxn>
                <a:cxn ang="0">
                  <a:pos x="548" y="122"/>
                </a:cxn>
                <a:cxn ang="0">
                  <a:pos x="541" y="144"/>
                </a:cxn>
                <a:cxn ang="0">
                  <a:pos x="511" y="155"/>
                </a:cxn>
                <a:cxn ang="0">
                  <a:pos x="428" y="68"/>
                </a:cxn>
                <a:cxn ang="0">
                  <a:pos x="464" y="125"/>
                </a:cxn>
                <a:cxn ang="0">
                  <a:pos x="360" y="134"/>
                </a:cxn>
                <a:cxn ang="0">
                  <a:pos x="296" y="124"/>
                </a:cxn>
                <a:cxn ang="0">
                  <a:pos x="194" y="147"/>
                </a:cxn>
                <a:cxn ang="0">
                  <a:pos x="180" y="164"/>
                </a:cxn>
                <a:cxn ang="0">
                  <a:pos x="129" y="201"/>
                </a:cxn>
                <a:cxn ang="0">
                  <a:pos x="54" y="155"/>
                </a:cxn>
                <a:cxn ang="0">
                  <a:pos x="46" y="123"/>
                </a:cxn>
                <a:cxn ang="0">
                  <a:pos x="12" y="116"/>
                </a:cxn>
                <a:cxn ang="0">
                  <a:pos x="38" y="201"/>
                </a:cxn>
                <a:cxn ang="0">
                  <a:pos x="27" y="260"/>
                </a:cxn>
                <a:cxn ang="0">
                  <a:pos x="57" y="336"/>
                </a:cxn>
                <a:cxn ang="0">
                  <a:pos x="152" y="416"/>
                </a:cxn>
                <a:cxn ang="0">
                  <a:pos x="206" y="492"/>
                </a:cxn>
                <a:cxn ang="0">
                  <a:pos x="207" y="531"/>
                </a:cxn>
                <a:cxn ang="0">
                  <a:pos x="373" y="582"/>
                </a:cxn>
                <a:cxn ang="0">
                  <a:pos x="362" y="501"/>
                </a:cxn>
                <a:cxn ang="0">
                  <a:pos x="350" y="407"/>
                </a:cxn>
                <a:cxn ang="0">
                  <a:pos x="481" y="396"/>
                </a:cxn>
                <a:cxn ang="0">
                  <a:pos x="585" y="344"/>
                </a:cxn>
                <a:cxn ang="0">
                  <a:pos x="692" y="368"/>
                </a:cxn>
                <a:cxn ang="0">
                  <a:pos x="837" y="438"/>
                </a:cxn>
                <a:cxn ang="0">
                  <a:pos x="963" y="431"/>
                </a:cxn>
                <a:cxn ang="0">
                  <a:pos x="1087" y="432"/>
                </a:cxn>
                <a:cxn ang="0">
                  <a:pos x="1262" y="437"/>
                </a:cxn>
                <a:cxn ang="0">
                  <a:pos x="1312" y="377"/>
                </a:cxn>
                <a:cxn ang="0">
                  <a:pos x="1479" y="456"/>
                </a:cxn>
                <a:cxn ang="0">
                  <a:pos x="1543" y="544"/>
                </a:cxn>
                <a:cxn ang="0">
                  <a:pos x="1570" y="561"/>
                </a:cxn>
                <a:cxn ang="0">
                  <a:pos x="1608" y="450"/>
                </a:cxn>
                <a:cxn ang="0">
                  <a:pos x="1514" y="362"/>
                </a:cxn>
                <a:cxn ang="0">
                  <a:pos x="1472" y="324"/>
                </a:cxn>
                <a:cxn ang="0">
                  <a:pos x="1531" y="276"/>
                </a:cxn>
                <a:cxn ang="0">
                  <a:pos x="1628" y="280"/>
                </a:cxn>
                <a:cxn ang="0">
                  <a:pos x="1672" y="251"/>
                </a:cxn>
                <a:cxn ang="0">
                  <a:pos x="1701" y="228"/>
                </a:cxn>
                <a:cxn ang="0">
                  <a:pos x="1702" y="318"/>
                </a:cxn>
                <a:cxn ang="0">
                  <a:pos x="1807" y="381"/>
                </a:cxn>
                <a:cxn ang="0">
                  <a:pos x="1807" y="333"/>
                </a:cxn>
                <a:cxn ang="0">
                  <a:pos x="1759" y="269"/>
                </a:cxn>
                <a:cxn ang="0">
                  <a:pos x="1828" y="249"/>
                </a:cxn>
                <a:cxn ang="0">
                  <a:pos x="1870" y="218"/>
                </a:cxn>
                <a:cxn ang="0">
                  <a:pos x="1788" y="156"/>
                </a:cxn>
              </a:cxnLst>
              <a:rect l="0" t="0" r="r" b="b"/>
              <a:pathLst>
                <a:path w="1884" h="582">
                  <a:moveTo>
                    <a:pt x="1741" y="124"/>
                  </a:moveTo>
                  <a:lnTo>
                    <a:pt x="1706" y="117"/>
                  </a:lnTo>
                  <a:lnTo>
                    <a:pt x="1670" y="110"/>
                  </a:lnTo>
                  <a:lnTo>
                    <a:pt x="1639" y="110"/>
                  </a:lnTo>
                  <a:lnTo>
                    <a:pt x="1609" y="107"/>
                  </a:lnTo>
                  <a:lnTo>
                    <a:pt x="1620" y="114"/>
                  </a:lnTo>
                  <a:lnTo>
                    <a:pt x="1638" y="124"/>
                  </a:lnTo>
                  <a:lnTo>
                    <a:pt x="1635" y="126"/>
                  </a:lnTo>
                  <a:lnTo>
                    <a:pt x="1624" y="126"/>
                  </a:lnTo>
                  <a:lnTo>
                    <a:pt x="1608" y="120"/>
                  </a:lnTo>
                  <a:lnTo>
                    <a:pt x="1602" y="120"/>
                  </a:lnTo>
                  <a:lnTo>
                    <a:pt x="1584" y="112"/>
                  </a:lnTo>
                  <a:lnTo>
                    <a:pt x="1570" y="116"/>
                  </a:lnTo>
                  <a:lnTo>
                    <a:pt x="1524" y="113"/>
                  </a:lnTo>
                  <a:lnTo>
                    <a:pt x="1522" y="120"/>
                  </a:lnTo>
                  <a:lnTo>
                    <a:pt x="1507" y="113"/>
                  </a:lnTo>
                  <a:lnTo>
                    <a:pt x="1489" y="110"/>
                  </a:lnTo>
                  <a:lnTo>
                    <a:pt x="1471" y="99"/>
                  </a:lnTo>
                  <a:lnTo>
                    <a:pt x="1443" y="93"/>
                  </a:lnTo>
                  <a:lnTo>
                    <a:pt x="1414" y="94"/>
                  </a:lnTo>
                  <a:lnTo>
                    <a:pt x="1387" y="96"/>
                  </a:lnTo>
                  <a:lnTo>
                    <a:pt x="1380" y="94"/>
                  </a:lnTo>
                  <a:lnTo>
                    <a:pt x="1358" y="88"/>
                  </a:lnTo>
                  <a:lnTo>
                    <a:pt x="1351" y="90"/>
                  </a:lnTo>
                  <a:lnTo>
                    <a:pt x="1351" y="87"/>
                  </a:lnTo>
                  <a:lnTo>
                    <a:pt x="1344" y="86"/>
                  </a:lnTo>
                  <a:lnTo>
                    <a:pt x="1329" y="83"/>
                  </a:lnTo>
                  <a:lnTo>
                    <a:pt x="1336" y="81"/>
                  </a:lnTo>
                  <a:lnTo>
                    <a:pt x="1310" y="75"/>
                  </a:lnTo>
                  <a:lnTo>
                    <a:pt x="1294" y="78"/>
                  </a:lnTo>
                  <a:lnTo>
                    <a:pt x="1290" y="78"/>
                  </a:lnTo>
                  <a:lnTo>
                    <a:pt x="1292" y="75"/>
                  </a:lnTo>
                  <a:lnTo>
                    <a:pt x="1291" y="74"/>
                  </a:lnTo>
                  <a:lnTo>
                    <a:pt x="1252" y="71"/>
                  </a:lnTo>
                  <a:lnTo>
                    <a:pt x="1213" y="68"/>
                  </a:lnTo>
                  <a:lnTo>
                    <a:pt x="1222" y="71"/>
                  </a:lnTo>
                  <a:lnTo>
                    <a:pt x="1206" y="75"/>
                  </a:lnTo>
                  <a:lnTo>
                    <a:pt x="1213" y="76"/>
                  </a:lnTo>
                  <a:lnTo>
                    <a:pt x="1218" y="77"/>
                  </a:lnTo>
                  <a:lnTo>
                    <a:pt x="1222" y="82"/>
                  </a:lnTo>
                  <a:lnTo>
                    <a:pt x="1230" y="87"/>
                  </a:lnTo>
                  <a:lnTo>
                    <a:pt x="1209" y="86"/>
                  </a:lnTo>
                  <a:lnTo>
                    <a:pt x="1213" y="89"/>
                  </a:lnTo>
                  <a:lnTo>
                    <a:pt x="1215" y="92"/>
                  </a:lnTo>
                  <a:lnTo>
                    <a:pt x="1183" y="84"/>
                  </a:lnTo>
                  <a:lnTo>
                    <a:pt x="1172" y="88"/>
                  </a:lnTo>
                  <a:lnTo>
                    <a:pt x="1146" y="83"/>
                  </a:lnTo>
                  <a:lnTo>
                    <a:pt x="1141" y="81"/>
                  </a:lnTo>
                  <a:lnTo>
                    <a:pt x="1148" y="90"/>
                  </a:lnTo>
                  <a:lnTo>
                    <a:pt x="1144" y="98"/>
                  </a:lnTo>
                  <a:lnTo>
                    <a:pt x="1126" y="93"/>
                  </a:lnTo>
                  <a:lnTo>
                    <a:pt x="1104" y="83"/>
                  </a:lnTo>
                  <a:lnTo>
                    <a:pt x="1078" y="74"/>
                  </a:lnTo>
                  <a:lnTo>
                    <a:pt x="1071" y="75"/>
                  </a:lnTo>
                  <a:lnTo>
                    <a:pt x="1090" y="88"/>
                  </a:lnTo>
                  <a:lnTo>
                    <a:pt x="1064" y="74"/>
                  </a:lnTo>
                  <a:lnTo>
                    <a:pt x="1022" y="69"/>
                  </a:lnTo>
                  <a:lnTo>
                    <a:pt x="980" y="64"/>
                  </a:lnTo>
                  <a:lnTo>
                    <a:pt x="957" y="59"/>
                  </a:lnTo>
                  <a:lnTo>
                    <a:pt x="961" y="57"/>
                  </a:lnTo>
                  <a:lnTo>
                    <a:pt x="943" y="57"/>
                  </a:lnTo>
                  <a:lnTo>
                    <a:pt x="903" y="58"/>
                  </a:lnTo>
                  <a:lnTo>
                    <a:pt x="890" y="52"/>
                  </a:lnTo>
                  <a:lnTo>
                    <a:pt x="873" y="52"/>
                  </a:lnTo>
                  <a:lnTo>
                    <a:pt x="873" y="50"/>
                  </a:lnTo>
                  <a:lnTo>
                    <a:pt x="854" y="53"/>
                  </a:lnTo>
                  <a:lnTo>
                    <a:pt x="872" y="54"/>
                  </a:lnTo>
                  <a:lnTo>
                    <a:pt x="850" y="60"/>
                  </a:lnTo>
                  <a:lnTo>
                    <a:pt x="829" y="63"/>
                  </a:lnTo>
                  <a:lnTo>
                    <a:pt x="830" y="60"/>
                  </a:lnTo>
                  <a:lnTo>
                    <a:pt x="852" y="46"/>
                  </a:lnTo>
                  <a:lnTo>
                    <a:pt x="873" y="30"/>
                  </a:lnTo>
                  <a:lnTo>
                    <a:pt x="864" y="28"/>
                  </a:lnTo>
                  <a:lnTo>
                    <a:pt x="853" y="24"/>
                  </a:lnTo>
                  <a:lnTo>
                    <a:pt x="870" y="28"/>
                  </a:lnTo>
                  <a:lnTo>
                    <a:pt x="855" y="20"/>
                  </a:lnTo>
                  <a:lnTo>
                    <a:pt x="853" y="21"/>
                  </a:lnTo>
                  <a:lnTo>
                    <a:pt x="844" y="20"/>
                  </a:lnTo>
                  <a:lnTo>
                    <a:pt x="826" y="15"/>
                  </a:lnTo>
                  <a:lnTo>
                    <a:pt x="790" y="14"/>
                  </a:lnTo>
                  <a:lnTo>
                    <a:pt x="777" y="15"/>
                  </a:lnTo>
                  <a:lnTo>
                    <a:pt x="776" y="9"/>
                  </a:lnTo>
                  <a:lnTo>
                    <a:pt x="760" y="8"/>
                  </a:lnTo>
                  <a:lnTo>
                    <a:pt x="742" y="8"/>
                  </a:lnTo>
                  <a:lnTo>
                    <a:pt x="756" y="4"/>
                  </a:lnTo>
                  <a:lnTo>
                    <a:pt x="728" y="0"/>
                  </a:lnTo>
                  <a:lnTo>
                    <a:pt x="711" y="10"/>
                  </a:lnTo>
                  <a:lnTo>
                    <a:pt x="718" y="15"/>
                  </a:lnTo>
                  <a:lnTo>
                    <a:pt x="728" y="16"/>
                  </a:lnTo>
                  <a:lnTo>
                    <a:pt x="702" y="18"/>
                  </a:lnTo>
                  <a:lnTo>
                    <a:pt x="711" y="21"/>
                  </a:lnTo>
                  <a:lnTo>
                    <a:pt x="693" y="22"/>
                  </a:lnTo>
                  <a:lnTo>
                    <a:pt x="676" y="23"/>
                  </a:lnTo>
                  <a:lnTo>
                    <a:pt x="644" y="23"/>
                  </a:lnTo>
                  <a:lnTo>
                    <a:pt x="657" y="23"/>
                  </a:lnTo>
                  <a:lnTo>
                    <a:pt x="632" y="28"/>
                  </a:lnTo>
                  <a:lnTo>
                    <a:pt x="606" y="33"/>
                  </a:lnTo>
                  <a:lnTo>
                    <a:pt x="597" y="35"/>
                  </a:lnTo>
                  <a:lnTo>
                    <a:pt x="597" y="41"/>
                  </a:lnTo>
                  <a:lnTo>
                    <a:pt x="588" y="40"/>
                  </a:lnTo>
                  <a:lnTo>
                    <a:pt x="603" y="45"/>
                  </a:lnTo>
                  <a:lnTo>
                    <a:pt x="594" y="46"/>
                  </a:lnTo>
                  <a:lnTo>
                    <a:pt x="607" y="50"/>
                  </a:lnTo>
                  <a:lnTo>
                    <a:pt x="607" y="52"/>
                  </a:lnTo>
                  <a:lnTo>
                    <a:pt x="576" y="54"/>
                  </a:lnTo>
                  <a:lnTo>
                    <a:pt x="546" y="58"/>
                  </a:lnTo>
                  <a:lnTo>
                    <a:pt x="550" y="64"/>
                  </a:lnTo>
                  <a:lnTo>
                    <a:pt x="564" y="74"/>
                  </a:lnTo>
                  <a:lnTo>
                    <a:pt x="579" y="77"/>
                  </a:lnTo>
                  <a:lnTo>
                    <a:pt x="601" y="84"/>
                  </a:lnTo>
                  <a:lnTo>
                    <a:pt x="610" y="98"/>
                  </a:lnTo>
                  <a:lnTo>
                    <a:pt x="614" y="104"/>
                  </a:lnTo>
                  <a:lnTo>
                    <a:pt x="608" y="104"/>
                  </a:lnTo>
                  <a:lnTo>
                    <a:pt x="598" y="94"/>
                  </a:lnTo>
                  <a:lnTo>
                    <a:pt x="596" y="100"/>
                  </a:lnTo>
                  <a:lnTo>
                    <a:pt x="589" y="90"/>
                  </a:lnTo>
                  <a:lnTo>
                    <a:pt x="596" y="84"/>
                  </a:lnTo>
                  <a:lnTo>
                    <a:pt x="571" y="82"/>
                  </a:lnTo>
                  <a:lnTo>
                    <a:pt x="546" y="74"/>
                  </a:lnTo>
                  <a:lnTo>
                    <a:pt x="525" y="77"/>
                  </a:lnTo>
                  <a:lnTo>
                    <a:pt x="535" y="81"/>
                  </a:lnTo>
                  <a:lnTo>
                    <a:pt x="512" y="81"/>
                  </a:lnTo>
                  <a:lnTo>
                    <a:pt x="518" y="86"/>
                  </a:lnTo>
                  <a:lnTo>
                    <a:pt x="546" y="90"/>
                  </a:lnTo>
                  <a:lnTo>
                    <a:pt x="552" y="94"/>
                  </a:lnTo>
                  <a:lnTo>
                    <a:pt x="511" y="87"/>
                  </a:lnTo>
                  <a:lnTo>
                    <a:pt x="498" y="69"/>
                  </a:lnTo>
                  <a:lnTo>
                    <a:pt x="488" y="68"/>
                  </a:lnTo>
                  <a:lnTo>
                    <a:pt x="498" y="77"/>
                  </a:lnTo>
                  <a:lnTo>
                    <a:pt x="487" y="84"/>
                  </a:lnTo>
                  <a:lnTo>
                    <a:pt x="492" y="90"/>
                  </a:lnTo>
                  <a:lnTo>
                    <a:pt x="508" y="100"/>
                  </a:lnTo>
                  <a:lnTo>
                    <a:pt x="507" y="112"/>
                  </a:lnTo>
                  <a:lnTo>
                    <a:pt x="518" y="123"/>
                  </a:lnTo>
                  <a:lnTo>
                    <a:pt x="548" y="122"/>
                  </a:lnTo>
                  <a:lnTo>
                    <a:pt x="564" y="125"/>
                  </a:lnTo>
                  <a:lnTo>
                    <a:pt x="571" y="136"/>
                  </a:lnTo>
                  <a:lnTo>
                    <a:pt x="576" y="142"/>
                  </a:lnTo>
                  <a:lnTo>
                    <a:pt x="592" y="146"/>
                  </a:lnTo>
                  <a:lnTo>
                    <a:pt x="567" y="142"/>
                  </a:lnTo>
                  <a:lnTo>
                    <a:pt x="558" y="129"/>
                  </a:lnTo>
                  <a:lnTo>
                    <a:pt x="549" y="124"/>
                  </a:lnTo>
                  <a:lnTo>
                    <a:pt x="528" y="128"/>
                  </a:lnTo>
                  <a:lnTo>
                    <a:pt x="541" y="144"/>
                  </a:lnTo>
                  <a:lnTo>
                    <a:pt x="530" y="160"/>
                  </a:lnTo>
                  <a:lnTo>
                    <a:pt x="525" y="162"/>
                  </a:lnTo>
                  <a:lnTo>
                    <a:pt x="518" y="165"/>
                  </a:lnTo>
                  <a:lnTo>
                    <a:pt x="484" y="161"/>
                  </a:lnTo>
                  <a:lnTo>
                    <a:pt x="481" y="158"/>
                  </a:lnTo>
                  <a:lnTo>
                    <a:pt x="502" y="159"/>
                  </a:lnTo>
                  <a:lnTo>
                    <a:pt x="499" y="160"/>
                  </a:lnTo>
                  <a:lnTo>
                    <a:pt x="513" y="159"/>
                  </a:lnTo>
                  <a:lnTo>
                    <a:pt x="511" y="155"/>
                  </a:lnTo>
                  <a:lnTo>
                    <a:pt x="520" y="140"/>
                  </a:lnTo>
                  <a:lnTo>
                    <a:pt x="520" y="132"/>
                  </a:lnTo>
                  <a:lnTo>
                    <a:pt x="500" y="120"/>
                  </a:lnTo>
                  <a:lnTo>
                    <a:pt x="492" y="106"/>
                  </a:lnTo>
                  <a:lnTo>
                    <a:pt x="482" y="92"/>
                  </a:lnTo>
                  <a:lnTo>
                    <a:pt x="470" y="86"/>
                  </a:lnTo>
                  <a:lnTo>
                    <a:pt x="470" y="71"/>
                  </a:lnTo>
                  <a:lnTo>
                    <a:pt x="452" y="66"/>
                  </a:lnTo>
                  <a:lnTo>
                    <a:pt x="428" y="68"/>
                  </a:lnTo>
                  <a:lnTo>
                    <a:pt x="426" y="87"/>
                  </a:lnTo>
                  <a:lnTo>
                    <a:pt x="416" y="94"/>
                  </a:lnTo>
                  <a:lnTo>
                    <a:pt x="420" y="98"/>
                  </a:lnTo>
                  <a:lnTo>
                    <a:pt x="427" y="98"/>
                  </a:lnTo>
                  <a:lnTo>
                    <a:pt x="429" y="107"/>
                  </a:lnTo>
                  <a:lnTo>
                    <a:pt x="433" y="113"/>
                  </a:lnTo>
                  <a:lnTo>
                    <a:pt x="448" y="118"/>
                  </a:lnTo>
                  <a:lnTo>
                    <a:pt x="458" y="125"/>
                  </a:lnTo>
                  <a:lnTo>
                    <a:pt x="464" y="125"/>
                  </a:lnTo>
                  <a:lnTo>
                    <a:pt x="459" y="136"/>
                  </a:lnTo>
                  <a:lnTo>
                    <a:pt x="441" y="126"/>
                  </a:lnTo>
                  <a:lnTo>
                    <a:pt x="412" y="119"/>
                  </a:lnTo>
                  <a:lnTo>
                    <a:pt x="386" y="114"/>
                  </a:lnTo>
                  <a:lnTo>
                    <a:pt x="360" y="111"/>
                  </a:lnTo>
                  <a:lnTo>
                    <a:pt x="355" y="114"/>
                  </a:lnTo>
                  <a:lnTo>
                    <a:pt x="368" y="125"/>
                  </a:lnTo>
                  <a:lnTo>
                    <a:pt x="360" y="130"/>
                  </a:lnTo>
                  <a:lnTo>
                    <a:pt x="360" y="134"/>
                  </a:lnTo>
                  <a:lnTo>
                    <a:pt x="351" y="132"/>
                  </a:lnTo>
                  <a:lnTo>
                    <a:pt x="349" y="125"/>
                  </a:lnTo>
                  <a:lnTo>
                    <a:pt x="332" y="128"/>
                  </a:lnTo>
                  <a:lnTo>
                    <a:pt x="319" y="130"/>
                  </a:lnTo>
                  <a:lnTo>
                    <a:pt x="304" y="135"/>
                  </a:lnTo>
                  <a:lnTo>
                    <a:pt x="285" y="134"/>
                  </a:lnTo>
                  <a:lnTo>
                    <a:pt x="291" y="131"/>
                  </a:lnTo>
                  <a:lnTo>
                    <a:pt x="286" y="126"/>
                  </a:lnTo>
                  <a:lnTo>
                    <a:pt x="296" y="124"/>
                  </a:lnTo>
                  <a:lnTo>
                    <a:pt x="274" y="130"/>
                  </a:lnTo>
                  <a:lnTo>
                    <a:pt x="273" y="132"/>
                  </a:lnTo>
                  <a:lnTo>
                    <a:pt x="249" y="137"/>
                  </a:lnTo>
                  <a:lnTo>
                    <a:pt x="236" y="142"/>
                  </a:lnTo>
                  <a:lnTo>
                    <a:pt x="237" y="144"/>
                  </a:lnTo>
                  <a:lnTo>
                    <a:pt x="226" y="146"/>
                  </a:lnTo>
                  <a:lnTo>
                    <a:pt x="225" y="155"/>
                  </a:lnTo>
                  <a:lnTo>
                    <a:pt x="207" y="156"/>
                  </a:lnTo>
                  <a:lnTo>
                    <a:pt x="194" y="147"/>
                  </a:lnTo>
                  <a:lnTo>
                    <a:pt x="212" y="141"/>
                  </a:lnTo>
                  <a:lnTo>
                    <a:pt x="190" y="130"/>
                  </a:lnTo>
                  <a:lnTo>
                    <a:pt x="166" y="129"/>
                  </a:lnTo>
                  <a:lnTo>
                    <a:pt x="181" y="135"/>
                  </a:lnTo>
                  <a:lnTo>
                    <a:pt x="186" y="152"/>
                  </a:lnTo>
                  <a:lnTo>
                    <a:pt x="192" y="162"/>
                  </a:lnTo>
                  <a:lnTo>
                    <a:pt x="190" y="170"/>
                  </a:lnTo>
                  <a:lnTo>
                    <a:pt x="184" y="170"/>
                  </a:lnTo>
                  <a:lnTo>
                    <a:pt x="180" y="164"/>
                  </a:lnTo>
                  <a:lnTo>
                    <a:pt x="166" y="161"/>
                  </a:lnTo>
                  <a:lnTo>
                    <a:pt x="154" y="171"/>
                  </a:lnTo>
                  <a:lnTo>
                    <a:pt x="142" y="179"/>
                  </a:lnTo>
                  <a:lnTo>
                    <a:pt x="154" y="192"/>
                  </a:lnTo>
                  <a:lnTo>
                    <a:pt x="127" y="189"/>
                  </a:lnTo>
                  <a:lnTo>
                    <a:pt x="109" y="183"/>
                  </a:lnTo>
                  <a:lnTo>
                    <a:pt x="110" y="190"/>
                  </a:lnTo>
                  <a:lnTo>
                    <a:pt x="123" y="196"/>
                  </a:lnTo>
                  <a:lnTo>
                    <a:pt x="129" y="201"/>
                  </a:lnTo>
                  <a:lnTo>
                    <a:pt x="114" y="203"/>
                  </a:lnTo>
                  <a:lnTo>
                    <a:pt x="90" y="191"/>
                  </a:lnTo>
                  <a:lnTo>
                    <a:pt x="81" y="178"/>
                  </a:lnTo>
                  <a:lnTo>
                    <a:pt x="80" y="173"/>
                  </a:lnTo>
                  <a:lnTo>
                    <a:pt x="82" y="173"/>
                  </a:lnTo>
                  <a:lnTo>
                    <a:pt x="66" y="165"/>
                  </a:lnTo>
                  <a:lnTo>
                    <a:pt x="60" y="161"/>
                  </a:lnTo>
                  <a:lnTo>
                    <a:pt x="44" y="153"/>
                  </a:lnTo>
                  <a:lnTo>
                    <a:pt x="54" y="155"/>
                  </a:lnTo>
                  <a:lnTo>
                    <a:pt x="86" y="161"/>
                  </a:lnTo>
                  <a:lnTo>
                    <a:pt x="118" y="168"/>
                  </a:lnTo>
                  <a:lnTo>
                    <a:pt x="148" y="161"/>
                  </a:lnTo>
                  <a:lnTo>
                    <a:pt x="152" y="150"/>
                  </a:lnTo>
                  <a:lnTo>
                    <a:pt x="140" y="142"/>
                  </a:lnTo>
                  <a:lnTo>
                    <a:pt x="106" y="131"/>
                  </a:lnTo>
                  <a:lnTo>
                    <a:pt x="72" y="120"/>
                  </a:lnTo>
                  <a:lnTo>
                    <a:pt x="52" y="122"/>
                  </a:lnTo>
                  <a:lnTo>
                    <a:pt x="46" y="123"/>
                  </a:lnTo>
                  <a:lnTo>
                    <a:pt x="51" y="117"/>
                  </a:lnTo>
                  <a:lnTo>
                    <a:pt x="43" y="118"/>
                  </a:lnTo>
                  <a:lnTo>
                    <a:pt x="33" y="113"/>
                  </a:lnTo>
                  <a:lnTo>
                    <a:pt x="45" y="112"/>
                  </a:lnTo>
                  <a:lnTo>
                    <a:pt x="31" y="110"/>
                  </a:lnTo>
                  <a:lnTo>
                    <a:pt x="25" y="113"/>
                  </a:lnTo>
                  <a:lnTo>
                    <a:pt x="19" y="111"/>
                  </a:lnTo>
                  <a:lnTo>
                    <a:pt x="19" y="116"/>
                  </a:lnTo>
                  <a:lnTo>
                    <a:pt x="12" y="116"/>
                  </a:lnTo>
                  <a:lnTo>
                    <a:pt x="0" y="123"/>
                  </a:lnTo>
                  <a:lnTo>
                    <a:pt x="0" y="126"/>
                  </a:lnTo>
                  <a:lnTo>
                    <a:pt x="0" y="136"/>
                  </a:lnTo>
                  <a:lnTo>
                    <a:pt x="18" y="146"/>
                  </a:lnTo>
                  <a:lnTo>
                    <a:pt x="10" y="158"/>
                  </a:lnTo>
                  <a:lnTo>
                    <a:pt x="25" y="174"/>
                  </a:lnTo>
                  <a:lnTo>
                    <a:pt x="26" y="189"/>
                  </a:lnTo>
                  <a:lnTo>
                    <a:pt x="31" y="194"/>
                  </a:lnTo>
                  <a:lnTo>
                    <a:pt x="38" y="201"/>
                  </a:lnTo>
                  <a:lnTo>
                    <a:pt x="32" y="206"/>
                  </a:lnTo>
                  <a:lnTo>
                    <a:pt x="55" y="219"/>
                  </a:lnTo>
                  <a:lnTo>
                    <a:pt x="45" y="228"/>
                  </a:lnTo>
                  <a:lnTo>
                    <a:pt x="37" y="238"/>
                  </a:lnTo>
                  <a:lnTo>
                    <a:pt x="27" y="248"/>
                  </a:lnTo>
                  <a:lnTo>
                    <a:pt x="18" y="257"/>
                  </a:lnTo>
                  <a:lnTo>
                    <a:pt x="26" y="257"/>
                  </a:lnTo>
                  <a:lnTo>
                    <a:pt x="25" y="257"/>
                  </a:lnTo>
                  <a:lnTo>
                    <a:pt x="27" y="260"/>
                  </a:lnTo>
                  <a:lnTo>
                    <a:pt x="50" y="267"/>
                  </a:lnTo>
                  <a:lnTo>
                    <a:pt x="36" y="266"/>
                  </a:lnTo>
                  <a:lnTo>
                    <a:pt x="25" y="272"/>
                  </a:lnTo>
                  <a:lnTo>
                    <a:pt x="21" y="276"/>
                  </a:lnTo>
                  <a:lnTo>
                    <a:pt x="25" y="291"/>
                  </a:lnTo>
                  <a:lnTo>
                    <a:pt x="19" y="302"/>
                  </a:lnTo>
                  <a:lnTo>
                    <a:pt x="27" y="314"/>
                  </a:lnTo>
                  <a:lnTo>
                    <a:pt x="37" y="333"/>
                  </a:lnTo>
                  <a:lnTo>
                    <a:pt x="57" y="336"/>
                  </a:lnTo>
                  <a:lnTo>
                    <a:pt x="79" y="340"/>
                  </a:lnTo>
                  <a:lnTo>
                    <a:pt x="81" y="359"/>
                  </a:lnTo>
                  <a:lnTo>
                    <a:pt x="99" y="375"/>
                  </a:lnTo>
                  <a:lnTo>
                    <a:pt x="94" y="380"/>
                  </a:lnTo>
                  <a:lnTo>
                    <a:pt x="98" y="395"/>
                  </a:lnTo>
                  <a:lnTo>
                    <a:pt x="109" y="392"/>
                  </a:lnTo>
                  <a:lnTo>
                    <a:pt x="132" y="394"/>
                  </a:lnTo>
                  <a:lnTo>
                    <a:pt x="134" y="400"/>
                  </a:lnTo>
                  <a:lnTo>
                    <a:pt x="152" y="416"/>
                  </a:lnTo>
                  <a:lnTo>
                    <a:pt x="170" y="431"/>
                  </a:lnTo>
                  <a:lnTo>
                    <a:pt x="180" y="430"/>
                  </a:lnTo>
                  <a:lnTo>
                    <a:pt x="200" y="436"/>
                  </a:lnTo>
                  <a:lnTo>
                    <a:pt x="222" y="443"/>
                  </a:lnTo>
                  <a:lnTo>
                    <a:pt x="230" y="467"/>
                  </a:lnTo>
                  <a:lnTo>
                    <a:pt x="219" y="473"/>
                  </a:lnTo>
                  <a:lnTo>
                    <a:pt x="214" y="483"/>
                  </a:lnTo>
                  <a:lnTo>
                    <a:pt x="217" y="486"/>
                  </a:lnTo>
                  <a:lnTo>
                    <a:pt x="206" y="492"/>
                  </a:lnTo>
                  <a:lnTo>
                    <a:pt x="199" y="495"/>
                  </a:lnTo>
                  <a:lnTo>
                    <a:pt x="211" y="504"/>
                  </a:lnTo>
                  <a:lnTo>
                    <a:pt x="206" y="503"/>
                  </a:lnTo>
                  <a:lnTo>
                    <a:pt x="205" y="509"/>
                  </a:lnTo>
                  <a:lnTo>
                    <a:pt x="202" y="504"/>
                  </a:lnTo>
                  <a:lnTo>
                    <a:pt x="201" y="515"/>
                  </a:lnTo>
                  <a:lnTo>
                    <a:pt x="189" y="516"/>
                  </a:lnTo>
                  <a:lnTo>
                    <a:pt x="186" y="520"/>
                  </a:lnTo>
                  <a:lnTo>
                    <a:pt x="207" y="531"/>
                  </a:lnTo>
                  <a:lnTo>
                    <a:pt x="229" y="543"/>
                  </a:lnTo>
                  <a:lnTo>
                    <a:pt x="230" y="540"/>
                  </a:lnTo>
                  <a:lnTo>
                    <a:pt x="246" y="542"/>
                  </a:lnTo>
                  <a:lnTo>
                    <a:pt x="262" y="543"/>
                  </a:lnTo>
                  <a:lnTo>
                    <a:pt x="284" y="552"/>
                  </a:lnTo>
                  <a:lnTo>
                    <a:pt x="306" y="561"/>
                  </a:lnTo>
                  <a:lnTo>
                    <a:pt x="327" y="569"/>
                  </a:lnTo>
                  <a:lnTo>
                    <a:pt x="349" y="578"/>
                  </a:lnTo>
                  <a:lnTo>
                    <a:pt x="373" y="582"/>
                  </a:lnTo>
                  <a:lnTo>
                    <a:pt x="361" y="568"/>
                  </a:lnTo>
                  <a:lnTo>
                    <a:pt x="348" y="555"/>
                  </a:lnTo>
                  <a:lnTo>
                    <a:pt x="346" y="543"/>
                  </a:lnTo>
                  <a:lnTo>
                    <a:pt x="345" y="548"/>
                  </a:lnTo>
                  <a:lnTo>
                    <a:pt x="337" y="534"/>
                  </a:lnTo>
                  <a:lnTo>
                    <a:pt x="332" y="530"/>
                  </a:lnTo>
                  <a:lnTo>
                    <a:pt x="339" y="512"/>
                  </a:lnTo>
                  <a:lnTo>
                    <a:pt x="355" y="506"/>
                  </a:lnTo>
                  <a:lnTo>
                    <a:pt x="362" y="501"/>
                  </a:lnTo>
                  <a:lnTo>
                    <a:pt x="360" y="497"/>
                  </a:lnTo>
                  <a:lnTo>
                    <a:pt x="349" y="480"/>
                  </a:lnTo>
                  <a:lnTo>
                    <a:pt x="332" y="467"/>
                  </a:lnTo>
                  <a:lnTo>
                    <a:pt x="315" y="454"/>
                  </a:lnTo>
                  <a:lnTo>
                    <a:pt x="318" y="435"/>
                  </a:lnTo>
                  <a:lnTo>
                    <a:pt x="320" y="416"/>
                  </a:lnTo>
                  <a:lnTo>
                    <a:pt x="337" y="423"/>
                  </a:lnTo>
                  <a:lnTo>
                    <a:pt x="339" y="416"/>
                  </a:lnTo>
                  <a:lnTo>
                    <a:pt x="350" y="407"/>
                  </a:lnTo>
                  <a:lnTo>
                    <a:pt x="361" y="400"/>
                  </a:lnTo>
                  <a:lnTo>
                    <a:pt x="380" y="399"/>
                  </a:lnTo>
                  <a:lnTo>
                    <a:pt x="399" y="407"/>
                  </a:lnTo>
                  <a:lnTo>
                    <a:pt x="418" y="416"/>
                  </a:lnTo>
                  <a:lnTo>
                    <a:pt x="439" y="414"/>
                  </a:lnTo>
                  <a:lnTo>
                    <a:pt x="466" y="414"/>
                  </a:lnTo>
                  <a:lnTo>
                    <a:pt x="493" y="418"/>
                  </a:lnTo>
                  <a:lnTo>
                    <a:pt x="495" y="413"/>
                  </a:lnTo>
                  <a:lnTo>
                    <a:pt x="481" y="396"/>
                  </a:lnTo>
                  <a:lnTo>
                    <a:pt x="487" y="376"/>
                  </a:lnTo>
                  <a:lnTo>
                    <a:pt x="500" y="377"/>
                  </a:lnTo>
                  <a:lnTo>
                    <a:pt x="483" y="369"/>
                  </a:lnTo>
                  <a:lnTo>
                    <a:pt x="501" y="365"/>
                  </a:lnTo>
                  <a:lnTo>
                    <a:pt x="519" y="363"/>
                  </a:lnTo>
                  <a:lnTo>
                    <a:pt x="536" y="358"/>
                  </a:lnTo>
                  <a:lnTo>
                    <a:pt x="553" y="353"/>
                  </a:lnTo>
                  <a:lnTo>
                    <a:pt x="568" y="348"/>
                  </a:lnTo>
                  <a:lnTo>
                    <a:pt x="585" y="344"/>
                  </a:lnTo>
                  <a:lnTo>
                    <a:pt x="598" y="342"/>
                  </a:lnTo>
                  <a:lnTo>
                    <a:pt x="608" y="353"/>
                  </a:lnTo>
                  <a:lnTo>
                    <a:pt x="634" y="363"/>
                  </a:lnTo>
                  <a:lnTo>
                    <a:pt x="645" y="368"/>
                  </a:lnTo>
                  <a:lnTo>
                    <a:pt x="656" y="370"/>
                  </a:lnTo>
                  <a:lnTo>
                    <a:pt x="674" y="363"/>
                  </a:lnTo>
                  <a:lnTo>
                    <a:pt x="691" y="357"/>
                  </a:lnTo>
                  <a:lnTo>
                    <a:pt x="694" y="359"/>
                  </a:lnTo>
                  <a:lnTo>
                    <a:pt x="692" y="368"/>
                  </a:lnTo>
                  <a:lnTo>
                    <a:pt x="711" y="381"/>
                  </a:lnTo>
                  <a:lnTo>
                    <a:pt x="729" y="393"/>
                  </a:lnTo>
                  <a:lnTo>
                    <a:pt x="748" y="406"/>
                  </a:lnTo>
                  <a:lnTo>
                    <a:pt x="768" y="419"/>
                  </a:lnTo>
                  <a:lnTo>
                    <a:pt x="771" y="414"/>
                  </a:lnTo>
                  <a:lnTo>
                    <a:pt x="781" y="418"/>
                  </a:lnTo>
                  <a:lnTo>
                    <a:pt x="799" y="416"/>
                  </a:lnTo>
                  <a:lnTo>
                    <a:pt x="818" y="428"/>
                  </a:lnTo>
                  <a:lnTo>
                    <a:pt x="837" y="438"/>
                  </a:lnTo>
                  <a:lnTo>
                    <a:pt x="855" y="435"/>
                  </a:lnTo>
                  <a:lnTo>
                    <a:pt x="872" y="452"/>
                  </a:lnTo>
                  <a:lnTo>
                    <a:pt x="883" y="450"/>
                  </a:lnTo>
                  <a:lnTo>
                    <a:pt x="890" y="444"/>
                  </a:lnTo>
                  <a:lnTo>
                    <a:pt x="902" y="438"/>
                  </a:lnTo>
                  <a:lnTo>
                    <a:pt x="916" y="431"/>
                  </a:lnTo>
                  <a:lnTo>
                    <a:pt x="930" y="423"/>
                  </a:lnTo>
                  <a:lnTo>
                    <a:pt x="958" y="425"/>
                  </a:lnTo>
                  <a:lnTo>
                    <a:pt x="963" y="431"/>
                  </a:lnTo>
                  <a:lnTo>
                    <a:pt x="985" y="435"/>
                  </a:lnTo>
                  <a:lnTo>
                    <a:pt x="1005" y="438"/>
                  </a:lnTo>
                  <a:lnTo>
                    <a:pt x="1016" y="430"/>
                  </a:lnTo>
                  <a:lnTo>
                    <a:pt x="1003" y="418"/>
                  </a:lnTo>
                  <a:lnTo>
                    <a:pt x="1006" y="400"/>
                  </a:lnTo>
                  <a:lnTo>
                    <a:pt x="1030" y="406"/>
                  </a:lnTo>
                  <a:lnTo>
                    <a:pt x="1054" y="411"/>
                  </a:lnTo>
                  <a:lnTo>
                    <a:pt x="1065" y="422"/>
                  </a:lnTo>
                  <a:lnTo>
                    <a:pt x="1087" y="432"/>
                  </a:lnTo>
                  <a:lnTo>
                    <a:pt x="1111" y="428"/>
                  </a:lnTo>
                  <a:lnTo>
                    <a:pt x="1130" y="431"/>
                  </a:lnTo>
                  <a:lnTo>
                    <a:pt x="1150" y="436"/>
                  </a:lnTo>
                  <a:lnTo>
                    <a:pt x="1158" y="442"/>
                  </a:lnTo>
                  <a:lnTo>
                    <a:pt x="1186" y="449"/>
                  </a:lnTo>
                  <a:lnTo>
                    <a:pt x="1203" y="447"/>
                  </a:lnTo>
                  <a:lnTo>
                    <a:pt x="1220" y="443"/>
                  </a:lnTo>
                  <a:lnTo>
                    <a:pt x="1236" y="431"/>
                  </a:lnTo>
                  <a:lnTo>
                    <a:pt x="1262" y="437"/>
                  </a:lnTo>
                  <a:lnTo>
                    <a:pt x="1275" y="438"/>
                  </a:lnTo>
                  <a:lnTo>
                    <a:pt x="1296" y="442"/>
                  </a:lnTo>
                  <a:lnTo>
                    <a:pt x="1306" y="431"/>
                  </a:lnTo>
                  <a:lnTo>
                    <a:pt x="1302" y="418"/>
                  </a:lnTo>
                  <a:lnTo>
                    <a:pt x="1300" y="398"/>
                  </a:lnTo>
                  <a:lnTo>
                    <a:pt x="1291" y="390"/>
                  </a:lnTo>
                  <a:lnTo>
                    <a:pt x="1285" y="388"/>
                  </a:lnTo>
                  <a:lnTo>
                    <a:pt x="1294" y="378"/>
                  </a:lnTo>
                  <a:lnTo>
                    <a:pt x="1312" y="377"/>
                  </a:lnTo>
                  <a:lnTo>
                    <a:pt x="1330" y="377"/>
                  </a:lnTo>
                  <a:lnTo>
                    <a:pt x="1365" y="388"/>
                  </a:lnTo>
                  <a:lnTo>
                    <a:pt x="1380" y="401"/>
                  </a:lnTo>
                  <a:lnTo>
                    <a:pt x="1394" y="413"/>
                  </a:lnTo>
                  <a:lnTo>
                    <a:pt x="1408" y="425"/>
                  </a:lnTo>
                  <a:lnTo>
                    <a:pt x="1423" y="437"/>
                  </a:lnTo>
                  <a:lnTo>
                    <a:pt x="1438" y="443"/>
                  </a:lnTo>
                  <a:lnTo>
                    <a:pt x="1464" y="450"/>
                  </a:lnTo>
                  <a:lnTo>
                    <a:pt x="1479" y="456"/>
                  </a:lnTo>
                  <a:lnTo>
                    <a:pt x="1497" y="476"/>
                  </a:lnTo>
                  <a:lnTo>
                    <a:pt x="1519" y="473"/>
                  </a:lnTo>
                  <a:lnTo>
                    <a:pt x="1540" y="465"/>
                  </a:lnTo>
                  <a:lnTo>
                    <a:pt x="1549" y="480"/>
                  </a:lnTo>
                  <a:lnTo>
                    <a:pt x="1551" y="501"/>
                  </a:lnTo>
                  <a:lnTo>
                    <a:pt x="1555" y="522"/>
                  </a:lnTo>
                  <a:lnTo>
                    <a:pt x="1536" y="519"/>
                  </a:lnTo>
                  <a:lnTo>
                    <a:pt x="1533" y="528"/>
                  </a:lnTo>
                  <a:lnTo>
                    <a:pt x="1543" y="544"/>
                  </a:lnTo>
                  <a:lnTo>
                    <a:pt x="1552" y="560"/>
                  </a:lnTo>
                  <a:lnTo>
                    <a:pt x="1546" y="564"/>
                  </a:lnTo>
                  <a:lnTo>
                    <a:pt x="1550" y="569"/>
                  </a:lnTo>
                  <a:lnTo>
                    <a:pt x="1554" y="572"/>
                  </a:lnTo>
                  <a:lnTo>
                    <a:pt x="1551" y="566"/>
                  </a:lnTo>
                  <a:lnTo>
                    <a:pt x="1554" y="566"/>
                  </a:lnTo>
                  <a:lnTo>
                    <a:pt x="1561" y="555"/>
                  </a:lnTo>
                  <a:lnTo>
                    <a:pt x="1566" y="554"/>
                  </a:lnTo>
                  <a:lnTo>
                    <a:pt x="1570" y="561"/>
                  </a:lnTo>
                  <a:lnTo>
                    <a:pt x="1581" y="562"/>
                  </a:lnTo>
                  <a:lnTo>
                    <a:pt x="1598" y="556"/>
                  </a:lnTo>
                  <a:lnTo>
                    <a:pt x="1603" y="544"/>
                  </a:lnTo>
                  <a:lnTo>
                    <a:pt x="1608" y="532"/>
                  </a:lnTo>
                  <a:lnTo>
                    <a:pt x="1610" y="515"/>
                  </a:lnTo>
                  <a:lnTo>
                    <a:pt x="1611" y="498"/>
                  </a:lnTo>
                  <a:lnTo>
                    <a:pt x="1614" y="482"/>
                  </a:lnTo>
                  <a:lnTo>
                    <a:pt x="1615" y="465"/>
                  </a:lnTo>
                  <a:lnTo>
                    <a:pt x="1608" y="450"/>
                  </a:lnTo>
                  <a:lnTo>
                    <a:pt x="1600" y="436"/>
                  </a:lnTo>
                  <a:lnTo>
                    <a:pt x="1592" y="426"/>
                  </a:lnTo>
                  <a:lnTo>
                    <a:pt x="1588" y="414"/>
                  </a:lnTo>
                  <a:lnTo>
                    <a:pt x="1584" y="404"/>
                  </a:lnTo>
                  <a:lnTo>
                    <a:pt x="1574" y="392"/>
                  </a:lnTo>
                  <a:lnTo>
                    <a:pt x="1558" y="382"/>
                  </a:lnTo>
                  <a:lnTo>
                    <a:pt x="1567" y="382"/>
                  </a:lnTo>
                  <a:lnTo>
                    <a:pt x="1532" y="364"/>
                  </a:lnTo>
                  <a:lnTo>
                    <a:pt x="1514" y="362"/>
                  </a:lnTo>
                  <a:lnTo>
                    <a:pt x="1519" y="369"/>
                  </a:lnTo>
                  <a:lnTo>
                    <a:pt x="1507" y="375"/>
                  </a:lnTo>
                  <a:lnTo>
                    <a:pt x="1507" y="369"/>
                  </a:lnTo>
                  <a:lnTo>
                    <a:pt x="1498" y="366"/>
                  </a:lnTo>
                  <a:lnTo>
                    <a:pt x="1497" y="369"/>
                  </a:lnTo>
                  <a:lnTo>
                    <a:pt x="1485" y="358"/>
                  </a:lnTo>
                  <a:lnTo>
                    <a:pt x="1462" y="354"/>
                  </a:lnTo>
                  <a:lnTo>
                    <a:pt x="1467" y="340"/>
                  </a:lnTo>
                  <a:lnTo>
                    <a:pt x="1472" y="324"/>
                  </a:lnTo>
                  <a:lnTo>
                    <a:pt x="1477" y="314"/>
                  </a:lnTo>
                  <a:lnTo>
                    <a:pt x="1480" y="304"/>
                  </a:lnTo>
                  <a:lnTo>
                    <a:pt x="1477" y="296"/>
                  </a:lnTo>
                  <a:lnTo>
                    <a:pt x="1483" y="281"/>
                  </a:lnTo>
                  <a:lnTo>
                    <a:pt x="1500" y="279"/>
                  </a:lnTo>
                  <a:lnTo>
                    <a:pt x="1516" y="275"/>
                  </a:lnTo>
                  <a:lnTo>
                    <a:pt x="1521" y="275"/>
                  </a:lnTo>
                  <a:lnTo>
                    <a:pt x="1528" y="279"/>
                  </a:lnTo>
                  <a:lnTo>
                    <a:pt x="1531" y="276"/>
                  </a:lnTo>
                  <a:lnTo>
                    <a:pt x="1563" y="279"/>
                  </a:lnTo>
                  <a:lnTo>
                    <a:pt x="1563" y="275"/>
                  </a:lnTo>
                  <a:lnTo>
                    <a:pt x="1561" y="272"/>
                  </a:lnTo>
                  <a:lnTo>
                    <a:pt x="1586" y="273"/>
                  </a:lnTo>
                  <a:lnTo>
                    <a:pt x="1605" y="278"/>
                  </a:lnTo>
                  <a:lnTo>
                    <a:pt x="1599" y="280"/>
                  </a:lnTo>
                  <a:lnTo>
                    <a:pt x="1604" y="286"/>
                  </a:lnTo>
                  <a:lnTo>
                    <a:pt x="1617" y="284"/>
                  </a:lnTo>
                  <a:lnTo>
                    <a:pt x="1628" y="280"/>
                  </a:lnTo>
                  <a:lnTo>
                    <a:pt x="1647" y="280"/>
                  </a:lnTo>
                  <a:lnTo>
                    <a:pt x="1644" y="276"/>
                  </a:lnTo>
                  <a:lnTo>
                    <a:pt x="1630" y="275"/>
                  </a:lnTo>
                  <a:lnTo>
                    <a:pt x="1626" y="270"/>
                  </a:lnTo>
                  <a:lnTo>
                    <a:pt x="1626" y="255"/>
                  </a:lnTo>
                  <a:lnTo>
                    <a:pt x="1624" y="238"/>
                  </a:lnTo>
                  <a:lnTo>
                    <a:pt x="1652" y="238"/>
                  </a:lnTo>
                  <a:lnTo>
                    <a:pt x="1658" y="236"/>
                  </a:lnTo>
                  <a:lnTo>
                    <a:pt x="1672" y="251"/>
                  </a:lnTo>
                  <a:lnTo>
                    <a:pt x="1675" y="249"/>
                  </a:lnTo>
                  <a:lnTo>
                    <a:pt x="1683" y="256"/>
                  </a:lnTo>
                  <a:lnTo>
                    <a:pt x="1690" y="240"/>
                  </a:lnTo>
                  <a:lnTo>
                    <a:pt x="1699" y="240"/>
                  </a:lnTo>
                  <a:lnTo>
                    <a:pt x="1684" y="226"/>
                  </a:lnTo>
                  <a:lnTo>
                    <a:pt x="1688" y="224"/>
                  </a:lnTo>
                  <a:lnTo>
                    <a:pt x="1711" y="226"/>
                  </a:lnTo>
                  <a:lnTo>
                    <a:pt x="1713" y="228"/>
                  </a:lnTo>
                  <a:lnTo>
                    <a:pt x="1701" y="228"/>
                  </a:lnTo>
                  <a:lnTo>
                    <a:pt x="1712" y="239"/>
                  </a:lnTo>
                  <a:lnTo>
                    <a:pt x="1722" y="251"/>
                  </a:lnTo>
                  <a:lnTo>
                    <a:pt x="1714" y="256"/>
                  </a:lnTo>
                  <a:lnTo>
                    <a:pt x="1712" y="269"/>
                  </a:lnTo>
                  <a:lnTo>
                    <a:pt x="1708" y="282"/>
                  </a:lnTo>
                  <a:lnTo>
                    <a:pt x="1707" y="299"/>
                  </a:lnTo>
                  <a:lnTo>
                    <a:pt x="1694" y="302"/>
                  </a:lnTo>
                  <a:lnTo>
                    <a:pt x="1700" y="308"/>
                  </a:lnTo>
                  <a:lnTo>
                    <a:pt x="1702" y="318"/>
                  </a:lnTo>
                  <a:lnTo>
                    <a:pt x="1713" y="333"/>
                  </a:lnTo>
                  <a:lnTo>
                    <a:pt x="1725" y="347"/>
                  </a:lnTo>
                  <a:lnTo>
                    <a:pt x="1746" y="365"/>
                  </a:lnTo>
                  <a:lnTo>
                    <a:pt x="1767" y="383"/>
                  </a:lnTo>
                  <a:lnTo>
                    <a:pt x="1788" y="401"/>
                  </a:lnTo>
                  <a:lnTo>
                    <a:pt x="1808" y="418"/>
                  </a:lnTo>
                  <a:lnTo>
                    <a:pt x="1814" y="407"/>
                  </a:lnTo>
                  <a:lnTo>
                    <a:pt x="1802" y="384"/>
                  </a:lnTo>
                  <a:lnTo>
                    <a:pt x="1807" y="381"/>
                  </a:lnTo>
                  <a:lnTo>
                    <a:pt x="1818" y="382"/>
                  </a:lnTo>
                  <a:lnTo>
                    <a:pt x="1814" y="380"/>
                  </a:lnTo>
                  <a:lnTo>
                    <a:pt x="1802" y="363"/>
                  </a:lnTo>
                  <a:lnTo>
                    <a:pt x="1818" y="356"/>
                  </a:lnTo>
                  <a:lnTo>
                    <a:pt x="1796" y="338"/>
                  </a:lnTo>
                  <a:lnTo>
                    <a:pt x="1796" y="328"/>
                  </a:lnTo>
                  <a:lnTo>
                    <a:pt x="1797" y="326"/>
                  </a:lnTo>
                  <a:lnTo>
                    <a:pt x="1797" y="329"/>
                  </a:lnTo>
                  <a:lnTo>
                    <a:pt x="1807" y="333"/>
                  </a:lnTo>
                  <a:lnTo>
                    <a:pt x="1796" y="321"/>
                  </a:lnTo>
                  <a:lnTo>
                    <a:pt x="1789" y="320"/>
                  </a:lnTo>
                  <a:lnTo>
                    <a:pt x="1774" y="302"/>
                  </a:lnTo>
                  <a:lnTo>
                    <a:pt x="1767" y="303"/>
                  </a:lnTo>
                  <a:lnTo>
                    <a:pt x="1754" y="298"/>
                  </a:lnTo>
                  <a:lnTo>
                    <a:pt x="1747" y="280"/>
                  </a:lnTo>
                  <a:lnTo>
                    <a:pt x="1740" y="269"/>
                  </a:lnTo>
                  <a:lnTo>
                    <a:pt x="1748" y="266"/>
                  </a:lnTo>
                  <a:lnTo>
                    <a:pt x="1759" y="269"/>
                  </a:lnTo>
                  <a:lnTo>
                    <a:pt x="1756" y="264"/>
                  </a:lnTo>
                  <a:lnTo>
                    <a:pt x="1762" y="258"/>
                  </a:lnTo>
                  <a:lnTo>
                    <a:pt x="1774" y="269"/>
                  </a:lnTo>
                  <a:lnTo>
                    <a:pt x="1776" y="262"/>
                  </a:lnTo>
                  <a:lnTo>
                    <a:pt x="1798" y="256"/>
                  </a:lnTo>
                  <a:lnTo>
                    <a:pt x="1821" y="266"/>
                  </a:lnTo>
                  <a:lnTo>
                    <a:pt x="1821" y="262"/>
                  </a:lnTo>
                  <a:lnTo>
                    <a:pt x="1827" y="250"/>
                  </a:lnTo>
                  <a:lnTo>
                    <a:pt x="1828" y="249"/>
                  </a:lnTo>
                  <a:lnTo>
                    <a:pt x="1827" y="244"/>
                  </a:lnTo>
                  <a:lnTo>
                    <a:pt x="1830" y="242"/>
                  </a:lnTo>
                  <a:lnTo>
                    <a:pt x="1843" y="233"/>
                  </a:lnTo>
                  <a:lnTo>
                    <a:pt x="1856" y="225"/>
                  </a:lnTo>
                  <a:lnTo>
                    <a:pt x="1849" y="222"/>
                  </a:lnTo>
                  <a:lnTo>
                    <a:pt x="1854" y="222"/>
                  </a:lnTo>
                  <a:lnTo>
                    <a:pt x="1882" y="228"/>
                  </a:lnTo>
                  <a:lnTo>
                    <a:pt x="1884" y="225"/>
                  </a:lnTo>
                  <a:lnTo>
                    <a:pt x="1870" y="218"/>
                  </a:lnTo>
                  <a:lnTo>
                    <a:pt x="1856" y="210"/>
                  </a:lnTo>
                  <a:lnTo>
                    <a:pt x="1849" y="208"/>
                  </a:lnTo>
                  <a:lnTo>
                    <a:pt x="1827" y="195"/>
                  </a:lnTo>
                  <a:lnTo>
                    <a:pt x="1826" y="197"/>
                  </a:lnTo>
                  <a:lnTo>
                    <a:pt x="1810" y="189"/>
                  </a:lnTo>
                  <a:lnTo>
                    <a:pt x="1820" y="190"/>
                  </a:lnTo>
                  <a:lnTo>
                    <a:pt x="1833" y="189"/>
                  </a:lnTo>
                  <a:lnTo>
                    <a:pt x="1810" y="172"/>
                  </a:lnTo>
                  <a:lnTo>
                    <a:pt x="1788" y="156"/>
                  </a:lnTo>
                  <a:lnTo>
                    <a:pt x="1765" y="140"/>
                  </a:lnTo>
                  <a:lnTo>
                    <a:pt x="1741" y="1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2" name="Freeform 351"/>
            <p:cNvSpPr>
              <a:spLocks/>
            </p:cNvSpPr>
            <p:nvPr/>
          </p:nvSpPr>
          <p:spPr bwMode="auto">
            <a:xfrm>
              <a:off x="134" y="1368"/>
              <a:ext cx="151" cy="80"/>
            </a:xfrm>
            <a:custGeom>
              <a:avLst/>
              <a:gdLst/>
              <a:ahLst/>
              <a:cxnLst>
                <a:cxn ang="0">
                  <a:pos x="136" y="43"/>
                </a:cxn>
                <a:cxn ang="0">
                  <a:pos x="132" y="37"/>
                </a:cxn>
                <a:cxn ang="0">
                  <a:pos x="125" y="30"/>
                </a:cxn>
                <a:cxn ang="0">
                  <a:pos x="118" y="29"/>
                </a:cxn>
                <a:cxn ang="0">
                  <a:pos x="118" y="31"/>
                </a:cxn>
                <a:cxn ang="0">
                  <a:pos x="114" y="29"/>
                </a:cxn>
                <a:cxn ang="0">
                  <a:pos x="102" y="30"/>
                </a:cxn>
                <a:cxn ang="0">
                  <a:pos x="94" y="36"/>
                </a:cxn>
                <a:cxn ang="0">
                  <a:pos x="93" y="40"/>
                </a:cxn>
                <a:cxn ang="0">
                  <a:pos x="87" y="40"/>
                </a:cxn>
                <a:cxn ang="0">
                  <a:pos x="92" y="34"/>
                </a:cxn>
                <a:cxn ang="0">
                  <a:pos x="101" y="24"/>
                </a:cxn>
                <a:cxn ang="0">
                  <a:pos x="101" y="16"/>
                </a:cxn>
                <a:cxn ang="0">
                  <a:pos x="90" y="6"/>
                </a:cxn>
                <a:cxn ang="0">
                  <a:pos x="90" y="9"/>
                </a:cxn>
                <a:cxn ang="0">
                  <a:pos x="83" y="0"/>
                </a:cxn>
                <a:cxn ang="0">
                  <a:pos x="63" y="15"/>
                </a:cxn>
                <a:cxn ang="0">
                  <a:pos x="41" y="28"/>
                </a:cxn>
                <a:cxn ang="0">
                  <a:pos x="21" y="42"/>
                </a:cxn>
                <a:cxn ang="0">
                  <a:pos x="0" y="57"/>
                </a:cxn>
                <a:cxn ang="0">
                  <a:pos x="10" y="48"/>
                </a:cxn>
                <a:cxn ang="0">
                  <a:pos x="20" y="43"/>
                </a:cxn>
                <a:cxn ang="0">
                  <a:pos x="26" y="42"/>
                </a:cxn>
                <a:cxn ang="0">
                  <a:pos x="32" y="39"/>
                </a:cxn>
                <a:cxn ang="0">
                  <a:pos x="32" y="42"/>
                </a:cxn>
                <a:cxn ang="0">
                  <a:pos x="35" y="41"/>
                </a:cxn>
                <a:cxn ang="0">
                  <a:pos x="23" y="47"/>
                </a:cxn>
                <a:cxn ang="0">
                  <a:pos x="22" y="53"/>
                </a:cxn>
                <a:cxn ang="0">
                  <a:pos x="46" y="53"/>
                </a:cxn>
                <a:cxn ang="0">
                  <a:pos x="39" y="64"/>
                </a:cxn>
                <a:cxn ang="0">
                  <a:pos x="50" y="67"/>
                </a:cxn>
                <a:cxn ang="0">
                  <a:pos x="58" y="69"/>
                </a:cxn>
                <a:cxn ang="0">
                  <a:pos x="54" y="72"/>
                </a:cxn>
                <a:cxn ang="0">
                  <a:pos x="64" y="70"/>
                </a:cxn>
                <a:cxn ang="0">
                  <a:pos x="70" y="67"/>
                </a:cxn>
                <a:cxn ang="0">
                  <a:pos x="69" y="65"/>
                </a:cxn>
                <a:cxn ang="0">
                  <a:pos x="86" y="57"/>
                </a:cxn>
                <a:cxn ang="0">
                  <a:pos x="92" y="54"/>
                </a:cxn>
                <a:cxn ang="0">
                  <a:pos x="94" y="49"/>
                </a:cxn>
                <a:cxn ang="0">
                  <a:pos x="95" y="53"/>
                </a:cxn>
                <a:cxn ang="0">
                  <a:pos x="104" y="52"/>
                </a:cxn>
                <a:cxn ang="0">
                  <a:pos x="108" y="49"/>
                </a:cxn>
                <a:cxn ang="0">
                  <a:pos x="119" y="49"/>
                </a:cxn>
                <a:cxn ang="0">
                  <a:pos x="136" y="43"/>
                </a:cxn>
              </a:cxnLst>
              <a:rect l="0" t="0" r="r" b="b"/>
              <a:pathLst>
                <a:path w="136" h="72">
                  <a:moveTo>
                    <a:pt x="136" y="43"/>
                  </a:moveTo>
                  <a:lnTo>
                    <a:pt x="132" y="37"/>
                  </a:lnTo>
                  <a:lnTo>
                    <a:pt x="125" y="30"/>
                  </a:lnTo>
                  <a:lnTo>
                    <a:pt x="118" y="29"/>
                  </a:lnTo>
                  <a:lnTo>
                    <a:pt x="118" y="31"/>
                  </a:lnTo>
                  <a:lnTo>
                    <a:pt x="114" y="29"/>
                  </a:lnTo>
                  <a:lnTo>
                    <a:pt x="102" y="30"/>
                  </a:lnTo>
                  <a:lnTo>
                    <a:pt x="94" y="36"/>
                  </a:lnTo>
                  <a:lnTo>
                    <a:pt x="93" y="40"/>
                  </a:lnTo>
                  <a:lnTo>
                    <a:pt x="87" y="40"/>
                  </a:lnTo>
                  <a:lnTo>
                    <a:pt x="92" y="34"/>
                  </a:lnTo>
                  <a:lnTo>
                    <a:pt x="101" y="24"/>
                  </a:lnTo>
                  <a:lnTo>
                    <a:pt x="101" y="16"/>
                  </a:lnTo>
                  <a:lnTo>
                    <a:pt x="90" y="6"/>
                  </a:lnTo>
                  <a:lnTo>
                    <a:pt x="90" y="9"/>
                  </a:lnTo>
                  <a:lnTo>
                    <a:pt x="83" y="0"/>
                  </a:lnTo>
                  <a:lnTo>
                    <a:pt x="63" y="15"/>
                  </a:lnTo>
                  <a:lnTo>
                    <a:pt x="41" y="28"/>
                  </a:lnTo>
                  <a:lnTo>
                    <a:pt x="21" y="42"/>
                  </a:lnTo>
                  <a:lnTo>
                    <a:pt x="0" y="57"/>
                  </a:lnTo>
                  <a:lnTo>
                    <a:pt x="10" y="48"/>
                  </a:lnTo>
                  <a:lnTo>
                    <a:pt x="20" y="43"/>
                  </a:lnTo>
                  <a:lnTo>
                    <a:pt x="26" y="42"/>
                  </a:lnTo>
                  <a:lnTo>
                    <a:pt x="32" y="39"/>
                  </a:lnTo>
                  <a:lnTo>
                    <a:pt x="32" y="42"/>
                  </a:lnTo>
                  <a:lnTo>
                    <a:pt x="35" y="41"/>
                  </a:lnTo>
                  <a:lnTo>
                    <a:pt x="23" y="47"/>
                  </a:lnTo>
                  <a:lnTo>
                    <a:pt x="22" y="53"/>
                  </a:lnTo>
                  <a:lnTo>
                    <a:pt x="46" y="53"/>
                  </a:lnTo>
                  <a:lnTo>
                    <a:pt x="39" y="64"/>
                  </a:lnTo>
                  <a:lnTo>
                    <a:pt x="50" y="67"/>
                  </a:lnTo>
                  <a:lnTo>
                    <a:pt x="58" y="69"/>
                  </a:lnTo>
                  <a:lnTo>
                    <a:pt x="54" y="72"/>
                  </a:lnTo>
                  <a:lnTo>
                    <a:pt x="64" y="70"/>
                  </a:lnTo>
                  <a:lnTo>
                    <a:pt x="70" y="67"/>
                  </a:lnTo>
                  <a:lnTo>
                    <a:pt x="69" y="65"/>
                  </a:lnTo>
                  <a:lnTo>
                    <a:pt x="86" y="57"/>
                  </a:lnTo>
                  <a:lnTo>
                    <a:pt x="92" y="54"/>
                  </a:lnTo>
                  <a:lnTo>
                    <a:pt x="94" y="49"/>
                  </a:lnTo>
                  <a:lnTo>
                    <a:pt x="95" y="53"/>
                  </a:lnTo>
                  <a:lnTo>
                    <a:pt x="104" y="52"/>
                  </a:lnTo>
                  <a:lnTo>
                    <a:pt x="108" y="49"/>
                  </a:lnTo>
                  <a:lnTo>
                    <a:pt x="119" y="49"/>
                  </a:lnTo>
                  <a:lnTo>
                    <a:pt x="136" y="4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3" name="Freeform 352"/>
            <p:cNvSpPr>
              <a:spLocks/>
            </p:cNvSpPr>
            <p:nvPr/>
          </p:nvSpPr>
          <p:spPr bwMode="auto">
            <a:xfrm>
              <a:off x="4637" y="1628"/>
              <a:ext cx="145" cy="162"/>
            </a:xfrm>
            <a:custGeom>
              <a:avLst/>
              <a:gdLst/>
              <a:ahLst/>
              <a:cxnLst>
                <a:cxn ang="0">
                  <a:pos x="115" y="101"/>
                </a:cxn>
                <a:cxn ang="0">
                  <a:pos x="98" y="85"/>
                </a:cxn>
                <a:cxn ang="0">
                  <a:pos x="80" y="70"/>
                </a:cxn>
                <a:cxn ang="0">
                  <a:pos x="62" y="55"/>
                </a:cxn>
                <a:cxn ang="0">
                  <a:pos x="43" y="40"/>
                </a:cxn>
                <a:cxn ang="0">
                  <a:pos x="40" y="34"/>
                </a:cxn>
                <a:cxn ang="0">
                  <a:pos x="22" y="17"/>
                </a:cxn>
                <a:cxn ang="0">
                  <a:pos x="4" y="0"/>
                </a:cxn>
                <a:cxn ang="0">
                  <a:pos x="0" y="3"/>
                </a:cxn>
                <a:cxn ang="0">
                  <a:pos x="13" y="12"/>
                </a:cxn>
                <a:cxn ang="0">
                  <a:pos x="13" y="18"/>
                </a:cxn>
                <a:cxn ang="0">
                  <a:pos x="6" y="18"/>
                </a:cxn>
                <a:cxn ang="0">
                  <a:pos x="20" y="34"/>
                </a:cxn>
                <a:cxn ang="0">
                  <a:pos x="35" y="49"/>
                </a:cxn>
                <a:cxn ang="0">
                  <a:pos x="49" y="64"/>
                </a:cxn>
                <a:cxn ang="0">
                  <a:pos x="62" y="81"/>
                </a:cxn>
                <a:cxn ang="0">
                  <a:pos x="73" y="99"/>
                </a:cxn>
                <a:cxn ang="0">
                  <a:pos x="85" y="113"/>
                </a:cxn>
                <a:cxn ang="0">
                  <a:pos x="97" y="127"/>
                </a:cxn>
                <a:cxn ang="0">
                  <a:pos x="109" y="145"/>
                </a:cxn>
                <a:cxn ang="0">
                  <a:pos x="113" y="145"/>
                </a:cxn>
                <a:cxn ang="0">
                  <a:pos x="112" y="133"/>
                </a:cxn>
                <a:cxn ang="0">
                  <a:pos x="125" y="139"/>
                </a:cxn>
                <a:cxn ang="0">
                  <a:pos x="131" y="147"/>
                </a:cxn>
                <a:cxn ang="0">
                  <a:pos x="120" y="133"/>
                </a:cxn>
                <a:cxn ang="0">
                  <a:pos x="92" y="112"/>
                </a:cxn>
                <a:cxn ang="0">
                  <a:pos x="86" y="89"/>
                </a:cxn>
                <a:cxn ang="0">
                  <a:pos x="91" y="89"/>
                </a:cxn>
                <a:cxn ang="0">
                  <a:pos x="108" y="95"/>
                </a:cxn>
                <a:cxn ang="0">
                  <a:pos x="115" y="101"/>
                </a:cxn>
              </a:cxnLst>
              <a:rect l="0" t="0" r="r" b="b"/>
              <a:pathLst>
                <a:path w="131" h="147">
                  <a:moveTo>
                    <a:pt x="115" y="101"/>
                  </a:moveTo>
                  <a:lnTo>
                    <a:pt x="98" y="85"/>
                  </a:lnTo>
                  <a:lnTo>
                    <a:pt x="80" y="70"/>
                  </a:lnTo>
                  <a:lnTo>
                    <a:pt x="62" y="55"/>
                  </a:lnTo>
                  <a:lnTo>
                    <a:pt x="43" y="40"/>
                  </a:lnTo>
                  <a:lnTo>
                    <a:pt x="40" y="34"/>
                  </a:lnTo>
                  <a:lnTo>
                    <a:pt x="22" y="17"/>
                  </a:lnTo>
                  <a:lnTo>
                    <a:pt x="4" y="0"/>
                  </a:lnTo>
                  <a:lnTo>
                    <a:pt x="0" y="3"/>
                  </a:lnTo>
                  <a:lnTo>
                    <a:pt x="13" y="12"/>
                  </a:lnTo>
                  <a:lnTo>
                    <a:pt x="13" y="18"/>
                  </a:lnTo>
                  <a:lnTo>
                    <a:pt x="6" y="18"/>
                  </a:lnTo>
                  <a:lnTo>
                    <a:pt x="20" y="34"/>
                  </a:lnTo>
                  <a:lnTo>
                    <a:pt x="35" y="49"/>
                  </a:lnTo>
                  <a:lnTo>
                    <a:pt x="49" y="64"/>
                  </a:lnTo>
                  <a:lnTo>
                    <a:pt x="62" y="81"/>
                  </a:lnTo>
                  <a:lnTo>
                    <a:pt x="73" y="99"/>
                  </a:lnTo>
                  <a:lnTo>
                    <a:pt x="85" y="113"/>
                  </a:lnTo>
                  <a:lnTo>
                    <a:pt x="97" y="127"/>
                  </a:lnTo>
                  <a:lnTo>
                    <a:pt x="109" y="145"/>
                  </a:lnTo>
                  <a:lnTo>
                    <a:pt x="113" y="145"/>
                  </a:lnTo>
                  <a:lnTo>
                    <a:pt x="112" y="133"/>
                  </a:lnTo>
                  <a:lnTo>
                    <a:pt x="125" y="139"/>
                  </a:lnTo>
                  <a:lnTo>
                    <a:pt x="131" y="147"/>
                  </a:lnTo>
                  <a:lnTo>
                    <a:pt x="120" y="133"/>
                  </a:lnTo>
                  <a:lnTo>
                    <a:pt x="92" y="112"/>
                  </a:lnTo>
                  <a:lnTo>
                    <a:pt x="86" y="89"/>
                  </a:lnTo>
                  <a:lnTo>
                    <a:pt x="91" y="89"/>
                  </a:lnTo>
                  <a:lnTo>
                    <a:pt x="108" y="95"/>
                  </a:lnTo>
                  <a:lnTo>
                    <a:pt x="115" y="10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4" name="Freeform 353"/>
            <p:cNvSpPr>
              <a:spLocks/>
            </p:cNvSpPr>
            <p:nvPr/>
          </p:nvSpPr>
          <p:spPr bwMode="auto">
            <a:xfrm>
              <a:off x="3180" y="1239"/>
              <a:ext cx="149" cy="55"/>
            </a:xfrm>
            <a:custGeom>
              <a:avLst/>
              <a:gdLst/>
              <a:ahLst/>
              <a:cxnLst>
                <a:cxn ang="0">
                  <a:pos x="135" y="4"/>
                </a:cxn>
                <a:cxn ang="0">
                  <a:pos x="125" y="10"/>
                </a:cxn>
                <a:cxn ang="0">
                  <a:pos x="95" y="17"/>
                </a:cxn>
                <a:cxn ang="0">
                  <a:pos x="65" y="24"/>
                </a:cxn>
                <a:cxn ang="0">
                  <a:pos x="58" y="25"/>
                </a:cxn>
                <a:cxn ang="0">
                  <a:pos x="61" y="28"/>
                </a:cxn>
                <a:cxn ang="0">
                  <a:pos x="59" y="30"/>
                </a:cxn>
                <a:cxn ang="0">
                  <a:pos x="53" y="31"/>
                </a:cxn>
                <a:cxn ang="0">
                  <a:pos x="54" y="34"/>
                </a:cxn>
                <a:cxn ang="0">
                  <a:pos x="42" y="32"/>
                </a:cxn>
                <a:cxn ang="0">
                  <a:pos x="46" y="37"/>
                </a:cxn>
                <a:cxn ang="0">
                  <a:pos x="41" y="40"/>
                </a:cxn>
                <a:cxn ang="0">
                  <a:pos x="45" y="44"/>
                </a:cxn>
                <a:cxn ang="0">
                  <a:pos x="30" y="42"/>
                </a:cxn>
                <a:cxn ang="0">
                  <a:pos x="43" y="46"/>
                </a:cxn>
                <a:cxn ang="0">
                  <a:pos x="36" y="46"/>
                </a:cxn>
                <a:cxn ang="0">
                  <a:pos x="39" y="50"/>
                </a:cxn>
                <a:cxn ang="0">
                  <a:pos x="7" y="48"/>
                </a:cxn>
                <a:cxn ang="0">
                  <a:pos x="13" y="44"/>
                </a:cxn>
                <a:cxn ang="0">
                  <a:pos x="0" y="44"/>
                </a:cxn>
                <a:cxn ang="0">
                  <a:pos x="13" y="37"/>
                </a:cxn>
                <a:cxn ang="0">
                  <a:pos x="17" y="37"/>
                </a:cxn>
                <a:cxn ang="0">
                  <a:pos x="12" y="35"/>
                </a:cxn>
                <a:cxn ang="0">
                  <a:pos x="15" y="32"/>
                </a:cxn>
                <a:cxn ang="0">
                  <a:pos x="22" y="29"/>
                </a:cxn>
                <a:cxn ang="0">
                  <a:pos x="17" y="28"/>
                </a:cxn>
                <a:cxn ang="0">
                  <a:pos x="19" y="25"/>
                </a:cxn>
                <a:cxn ang="0">
                  <a:pos x="12" y="25"/>
                </a:cxn>
                <a:cxn ang="0">
                  <a:pos x="21" y="22"/>
                </a:cxn>
                <a:cxn ang="0">
                  <a:pos x="28" y="19"/>
                </a:cxn>
                <a:cxn ang="0">
                  <a:pos x="53" y="12"/>
                </a:cxn>
                <a:cxn ang="0">
                  <a:pos x="57" y="10"/>
                </a:cxn>
                <a:cxn ang="0">
                  <a:pos x="103" y="4"/>
                </a:cxn>
                <a:cxn ang="0">
                  <a:pos x="123" y="0"/>
                </a:cxn>
                <a:cxn ang="0">
                  <a:pos x="135" y="4"/>
                </a:cxn>
              </a:cxnLst>
              <a:rect l="0" t="0" r="r" b="b"/>
              <a:pathLst>
                <a:path w="135" h="50">
                  <a:moveTo>
                    <a:pt x="135" y="4"/>
                  </a:moveTo>
                  <a:lnTo>
                    <a:pt x="125" y="10"/>
                  </a:lnTo>
                  <a:lnTo>
                    <a:pt x="95" y="17"/>
                  </a:lnTo>
                  <a:lnTo>
                    <a:pt x="65" y="24"/>
                  </a:lnTo>
                  <a:lnTo>
                    <a:pt x="58" y="25"/>
                  </a:lnTo>
                  <a:lnTo>
                    <a:pt x="61" y="28"/>
                  </a:lnTo>
                  <a:lnTo>
                    <a:pt x="59" y="30"/>
                  </a:lnTo>
                  <a:lnTo>
                    <a:pt x="53" y="31"/>
                  </a:lnTo>
                  <a:lnTo>
                    <a:pt x="54" y="34"/>
                  </a:lnTo>
                  <a:lnTo>
                    <a:pt x="42" y="32"/>
                  </a:lnTo>
                  <a:lnTo>
                    <a:pt x="46" y="37"/>
                  </a:lnTo>
                  <a:lnTo>
                    <a:pt x="41" y="40"/>
                  </a:lnTo>
                  <a:lnTo>
                    <a:pt x="45" y="44"/>
                  </a:lnTo>
                  <a:lnTo>
                    <a:pt x="30" y="42"/>
                  </a:lnTo>
                  <a:lnTo>
                    <a:pt x="43" y="46"/>
                  </a:lnTo>
                  <a:lnTo>
                    <a:pt x="36" y="46"/>
                  </a:lnTo>
                  <a:lnTo>
                    <a:pt x="39" y="50"/>
                  </a:lnTo>
                  <a:lnTo>
                    <a:pt x="7" y="48"/>
                  </a:lnTo>
                  <a:lnTo>
                    <a:pt x="13" y="44"/>
                  </a:lnTo>
                  <a:lnTo>
                    <a:pt x="0" y="44"/>
                  </a:lnTo>
                  <a:lnTo>
                    <a:pt x="13" y="37"/>
                  </a:lnTo>
                  <a:lnTo>
                    <a:pt x="17" y="37"/>
                  </a:lnTo>
                  <a:lnTo>
                    <a:pt x="12" y="35"/>
                  </a:lnTo>
                  <a:lnTo>
                    <a:pt x="15" y="32"/>
                  </a:lnTo>
                  <a:lnTo>
                    <a:pt x="22" y="29"/>
                  </a:lnTo>
                  <a:lnTo>
                    <a:pt x="17" y="28"/>
                  </a:lnTo>
                  <a:lnTo>
                    <a:pt x="19" y="25"/>
                  </a:lnTo>
                  <a:lnTo>
                    <a:pt x="12" y="25"/>
                  </a:lnTo>
                  <a:lnTo>
                    <a:pt x="21" y="22"/>
                  </a:lnTo>
                  <a:lnTo>
                    <a:pt x="28" y="19"/>
                  </a:lnTo>
                  <a:lnTo>
                    <a:pt x="53" y="12"/>
                  </a:lnTo>
                  <a:lnTo>
                    <a:pt x="57" y="10"/>
                  </a:lnTo>
                  <a:lnTo>
                    <a:pt x="103" y="4"/>
                  </a:lnTo>
                  <a:lnTo>
                    <a:pt x="123" y="0"/>
                  </a:lnTo>
                  <a:lnTo>
                    <a:pt x="13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5" name="Freeform 354"/>
            <p:cNvSpPr>
              <a:spLocks/>
            </p:cNvSpPr>
            <p:nvPr/>
          </p:nvSpPr>
          <p:spPr bwMode="auto">
            <a:xfrm>
              <a:off x="3167" y="1294"/>
              <a:ext cx="88" cy="42"/>
            </a:xfrm>
            <a:custGeom>
              <a:avLst/>
              <a:gdLst/>
              <a:ahLst/>
              <a:cxnLst>
                <a:cxn ang="0">
                  <a:pos x="80" y="38"/>
                </a:cxn>
                <a:cxn ang="0">
                  <a:pos x="50" y="26"/>
                </a:cxn>
                <a:cxn ang="0">
                  <a:pos x="41" y="10"/>
                </a:cxn>
                <a:cxn ang="0">
                  <a:pos x="41" y="8"/>
                </a:cxn>
                <a:cxn ang="0">
                  <a:pos x="42" y="5"/>
                </a:cxn>
                <a:cxn ang="0">
                  <a:pos x="45" y="2"/>
                </a:cxn>
                <a:cxn ang="0">
                  <a:pos x="16" y="0"/>
                </a:cxn>
                <a:cxn ang="0">
                  <a:pos x="11" y="5"/>
                </a:cxn>
                <a:cxn ang="0">
                  <a:pos x="8" y="10"/>
                </a:cxn>
                <a:cxn ang="0">
                  <a:pos x="11" y="11"/>
                </a:cxn>
                <a:cxn ang="0">
                  <a:pos x="6" y="18"/>
                </a:cxn>
                <a:cxn ang="0">
                  <a:pos x="0" y="21"/>
                </a:cxn>
                <a:cxn ang="0">
                  <a:pos x="8" y="27"/>
                </a:cxn>
                <a:cxn ang="0">
                  <a:pos x="17" y="27"/>
                </a:cxn>
                <a:cxn ang="0">
                  <a:pos x="24" y="27"/>
                </a:cxn>
                <a:cxn ang="0">
                  <a:pos x="29" y="28"/>
                </a:cxn>
                <a:cxn ang="0">
                  <a:pos x="35" y="33"/>
                </a:cxn>
                <a:cxn ang="0">
                  <a:pos x="34" y="34"/>
                </a:cxn>
                <a:cxn ang="0">
                  <a:pos x="45" y="38"/>
                </a:cxn>
                <a:cxn ang="0">
                  <a:pos x="53" y="38"/>
                </a:cxn>
                <a:cxn ang="0">
                  <a:pos x="64" y="39"/>
                </a:cxn>
                <a:cxn ang="0">
                  <a:pos x="75" y="39"/>
                </a:cxn>
                <a:cxn ang="0">
                  <a:pos x="80" y="38"/>
                </a:cxn>
              </a:cxnLst>
              <a:rect l="0" t="0" r="r" b="b"/>
              <a:pathLst>
                <a:path w="80" h="39">
                  <a:moveTo>
                    <a:pt x="80" y="38"/>
                  </a:moveTo>
                  <a:lnTo>
                    <a:pt x="50" y="26"/>
                  </a:lnTo>
                  <a:lnTo>
                    <a:pt x="41" y="10"/>
                  </a:lnTo>
                  <a:lnTo>
                    <a:pt x="41" y="8"/>
                  </a:lnTo>
                  <a:lnTo>
                    <a:pt x="42" y="5"/>
                  </a:lnTo>
                  <a:lnTo>
                    <a:pt x="45" y="2"/>
                  </a:lnTo>
                  <a:lnTo>
                    <a:pt x="16" y="0"/>
                  </a:lnTo>
                  <a:lnTo>
                    <a:pt x="11" y="5"/>
                  </a:lnTo>
                  <a:lnTo>
                    <a:pt x="8" y="10"/>
                  </a:lnTo>
                  <a:lnTo>
                    <a:pt x="11" y="11"/>
                  </a:lnTo>
                  <a:lnTo>
                    <a:pt x="6" y="18"/>
                  </a:lnTo>
                  <a:lnTo>
                    <a:pt x="0" y="21"/>
                  </a:lnTo>
                  <a:lnTo>
                    <a:pt x="8" y="27"/>
                  </a:lnTo>
                  <a:lnTo>
                    <a:pt x="17" y="27"/>
                  </a:lnTo>
                  <a:lnTo>
                    <a:pt x="24" y="27"/>
                  </a:lnTo>
                  <a:lnTo>
                    <a:pt x="29" y="28"/>
                  </a:lnTo>
                  <a:lnTo>
                    <a:pt x="35" y="33"/>
                  </a:lnTo>
                  <a:lnTo>
                    <a:pt x="34" y="34"/>
                  </a:lnTo>
                  <a:lnTo>
                    <a:pt x="45" y="38"/>
                  </a:lnTo>
                  <a:lnTo>
                    <a:pt x="53" y="38"/>
                  </a:lnTo>
                  <a:lnTo>
                    <a:pt x="64" y="39"/>
                  </a:lnTo>
                  <a:lnTo>
                    <a:pt x="75" y="39"/>
                  </a:lnTo>
                  <a:lnTo>
                    <a:pt x="80"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6" name="Freeform 355"/>
            <p:cNvSpPr>
              <a:spLocks/>
            </p:cNvSpPr>
            <p:nvPr/>
          </p:nvSpPr>
          <p:spPr bwMode="auto">
            <a:xfrm>
              <a:off x="4140" y="1250"/>
              <a:ext cx="102" cy="24"/>
            </a:xfrm>
            <a:custGeom>
              <a:avLst/>
              <a:gdLst/>
              <a:ahLst/>
              <a:cxnLst>
                <a:cxn ang="0">
                  <a:pos x="94" y="9"/>
                </a:cxn>
                <a:cxn ang="0">
                  <a:pos x="35" y="0"/>
                </a:cxn>
                <a:cxn ang="0">
                  <a:pos x="42" y="2"/>
                </a:cxn>
                <a:cxn ang="0">
                  <a:pos x="35" y="2"/>
                </a:cxn>
                <a:cxn ang="0">
                  <a:pos x="41" y="6"/>
                </a:cxn>
                <a:cxn ang="0">
                  <a:pos x="12" y="1"/>
                </a:cxn>
                <a:cxn ang="0">
                  <a:pos x="1" y="4"/>
                </a:cxn>
                <a:cxn ang="0">
                  <a:pos x="0" y="6"/>
                </a:cxn>
                <a:cxn ang="0">
                  <a:pos x="6" y="9"/>
                </a:cxn>
                <a:cxn ang="0">
                  <a:pos x="10" y="12"/>
                </a:cxn>
                <a:cxn ang="0">
                  <a:pos x="46" y="21"/>
                </a:cxn>
                <a:cxn ang="0">
                  <a:pos x="47" y="18"/>
                </a:cxn>
                <a:cxn ang="0">
                  <a:pos x="76" y="16"/>
                </a:cxn>
                <a:cxn ang="0">
                  <a:pos x="89" y="16"/>
                </a:cxn>
                <a:cxn ang="0">
                  <a:pos x="83" y="15"/>
                </a:cxn>
                <a:cxn ang="0">
                  <a:pos x="93" y="13"/>
                </a:cxn>
                <a:cxn ang="0">
                  <a:pos x="94" y="9"/>
                </a:cxn>
              </a:cxnLst>
              <a:rect l="0" t="0" r="r" b="b"/>
              <a:pathLst>
                <a:path w="94" h="21">
                  <a:moveTo>
                    <a:pt x="94" y="9"/>
                  </a:moveTo>
                  <a:lnTo>
                    <a:pt x="35" y="0"/>
                  </a:lnTo>
                  <a:lnTo>
                    <a:pt x="42" y="2"/>
                  </a:lnTo>
                  <a:lnTo>
                    <a:pt x="35" y="2"/>
                  </a:lnTo>
                  <a:lnTo>
                    <a:pt x="41" y="6"/>
                  </a:lnTo>
                  <a:lnTo>
                    <a:pt x="12" y="1"/>
                  </a:lnTo>
                  <a:lnTo>
                    <a:pt x="1" y="4"/>
                  </a:lnTo>
                  <a:lnTo>
                    <a:pt x="0" y="6"/>
                  </a:lnTo>
                  <a:lnTo>
                    <a:pt x="6" y="9"/>
                  </a:lnTo>
                  <a:lnTo>
                    <a:pt x="10" y="12"/>
                  </a:lnTo>
                  <a:lnTo>
                    <a:pt x="46" y="21"/>
                  </a:lnTo>
                  <a:lnTo>
                    <a:pt x="47" y="18"/>
                  </a:lnTo>
                  <a:lnTo>
                    <a:pt x="76" y="16"/>
                  </a:lnTo>
                  <a:lnTo>
                    <a:pt x="89" y="16"/>
                  </a:lnTo>
                  <a:lnTo>
                    <a:pt x="83" y="15"/>
                  </a:lnTo>
                  <a:lnTo>
                    <a:pt x="93" y="13"/>
                  </a:lnTo>
                  <a:lnTo>
                    <a:pt x="94"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7" name="Freeform 356"/>
            <p:cNvSpPr>
              <a:spLocks/>
            </p:cNvSpPr>
            <p:nvPr/>
          </p:nvSpPr>
          <p:spPr bwMode="auto">
            <a:xfrm>
              <a:off x="3562" y="1192"/>
              <a:ext cx="80" cy="18"/>
            </a:xfrm>
            <a:custGeom>
              <a:avLst/>
              <a:gdLst/>
              <a:ahLst/>
              <a:cxnLst>
                <a:cxn ang="0">
                  <a:pos x="61" y="5"/>
                </a:cxn>
                <a:cxn ang="0">
                  <a:pos x="43" y="2"/>
                </a:cxn>
                <a:cxn ang="0">
                  <a:pos x="36" y="4"/>
                </a:cxn>
                <a:cxn ang="0">
                  <a:pos x="30" y="0"/>
                </a:cxn>
                <a:cxn ang="0">
                  <a:pos x="3" y="2"/>
                </a:cxn>
                <a:cxn ang="0">
                  <a:pos x="0" y="8"/>
                </a:cxn>
                <a:cxn ang="0">
                  <a:pos x="9" y="8"/>
                </a:cxn>
                <a:cxn ang="0">
                  <a:pos x="24" y="14"/>
                </a:cxn>
                <a:cxn ang="0">
                  <a:pos x="72" y="17"/>
                </a:cxn>
                <a:cxn ang="0">
                  <a:pos x="67" y="12"/>
                </a:cxn>
                <a:cxn ang="0">
                  <a:pos x="61" y="5"/>
                </a:cxn>
              </a:cxnLst>
              <a:rect l="0" t="0" r="r" b="b"/>
              <a:pathLst>
                <a:path w="72" h="17">
                  <a:moveTo>
                    <a:pt x="61" y="5"/>
                  </a:moveTo>
                  <a:lnTo>
                    <a:pt x="43" y="2"/>
                  </a:lnTo>
                  <a:lnTo>
                    <a:pt x="36" y="4"/>
                  </a:lnTo>
                  <a:lnTo>
                    <a:pt x="30" y="0"/>
                  </a:lnTo>
                  <a:lnTo>
                    <a:pt x="3" y="2"/>
                  </a:lnTo>
                  <a:lnTo>
                    <a:pt x="0" y="8"/>
                  </a:lnTo>
                  <a:lnTo>
                    <a:pt x="9" y="8"/>
                  </a:lnTo>
                  <a:lnTo>
                    <a:pt x="24" y="14"/>
                  </a:lnTo>
                  <a:lnTo>
                    <a:pt x="72" y="17"/>
                  </a:lnTo>
                  <a:lnTo>
                    <a:pt x="67" y="12"/>
                  </a:lnTo>
                  <a:lnTo>
                    <a:pt x="61"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8" name="Freeform 357"/>
            <p:cNvSpPr>
              <a:spLocks/>
            </p:cNvSpPr>
            <p:nvPr/>
          </p:nvSpPr>
          <p:spPr bwMode="auto">
            <a:xfrm>
              <a:off x="3653" y="1203"/>
              <a:ext cx="60" cy="20"/>
            </a:xfrm>
            <a:custGeom>
              <a:avLst/>
              <a:gdLst/>
              <a:ahLst/>
              <a:cxnLst>
                <a:cxn ang="0">
                  <a:pos x="53" y="10"/>
                </a:cxn>
                <a:cxn ang="0">
                  <a:pos x="26" y="2"/>
                </a:cxn>
                <a:cxn ang="0">
                  <a:pos x="20" y="7"/>
                </a:cxn>
                <a:cxn ang="0">
                  <a:pos x="15" y="0"/>
                </a:cxn>
                <a:cxn ang="0">
                  <a:pos x="8" y="0"/>
                </a:cxn>
                <a:cxn ang="0">
                  <a:pos x="11" y="2"/>
                </a:cxn>
                <a:cxn ang="0">
                  <a:pos x="0" y="2"/>
                </a:cxn>
                <a:cxn ang="0">
                  <a:pos x="3" y="4"/>
                </a:cxn>
                <a:cxn ang="0">
                  <a:pos x="9" y="8"/>
                </a:cxn>
                <a:cxn ang="0">
                  <a:pos x="2" y="10"/>
                </a:cxn>
                <a:cxn ang="0">
                  <a:pos x="6" y="19"/>
                </a:cxn>
                <a:cxn ang="0">
                  <a:pos x="54" y="12"/>
                </a:cxn>
                <a:cxn ang="0">
                  <a:pos x="53" y="10"/>
                </a:cxn>
              </a:cxnLst>
              <a:rect l="0" t="0" r="r" b="b"/>
              <a:pathLst>
                <a:path w="54" h="19">
                  <a:moveTo>
                    <a:pt x="53" y="10"/>
                  </a:moveTo>
                  <a:lnTo>
                    <a:pt x="26" y="2"/>
                  </a:lnTo>
                  <a:lnTo>
                    <a:pt x="20" y="7"/>
                  </a:lnTo>
                  <a:lnTo>
                    <a:pt x="15" y="0"/>
                  </a:lnTo>
                  <a:lnTo>
                    <a:pt x="8" y="0"/>
                  </a:lnTo>
                  <a:lnTo>
                    <a:pt x="11" y="2"/>
                  </a:lnTo>
                  <a:lnTo>
                    <a:pt x="0" y="2"/>
                  </a:lnTo>
                  <a:lnTo>
                    <a:pt x="3" y="4"/>
                  </a:lnTo>
                  <a:lnTo>
                    <a:pt x="9" y="8"/>
                  </a:lnTo>
                  <a:lnTo>
                    <a:pt x="2" y="10"/>
                  </a:lnTo>
                  <a:lnTo>
                    <a:pt x="6" y="19"/>
                  </a:lnTo>
                  <a:lnTo>
                    <a:pt x="54" y="12"/>
                  </a:lnTo>
                  <a:lnTo>
                    <a:pt x="53"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9" name="Freeform 358"/>
            <p:cNvSpPr>
              <a:spLocks/>
            </p:cNvSpPr>
            <p:nvPr/>
          </p:nvSpPr>
          <p:spPr bwMode="auto">
            <a:xfrm>
              <a:off x="3529" y="1181"/>
              <a:ext cx="64" cy="11"/>
            </a:xfrm>
            <a:custGeom>
              <a:avLst/>
              <a:gdLst/>
              <a:ahLst/>
              <a:cxnLst>
                <a:cxn ang="0">
                  <a:pos x="56" y="5"/>
                </a:cxn>
                <a:cxn ang="0">
                  <a:pos x="31" y="0"/>
                </a:cxn>
                <a:cxn ang="0">
                  <a:pos x="2" y="3"/>
                </a:cxn>
                <a:cxn ang="0">
                  <a:pos x="9" y="4"/>
                </a:cxn>
                <a:cxn ang="0">
                  <a:pos x="8" y="7"/>
                </a:cxn>
                <a:cxn ang="0">
                  <a:pos x="0" y="9"/>
                </a:cxn>
                <a:cxn ang="0">
                  <a:pos x="17" y="9"/>
                </a:cxn>
                <a:cxn ang="0">
                  <a:pos x="12" y="11"/>
                </a:cxn>
                <a:cxn ang="0">
                  <a:pos x="56" y="10"/>
                </a:cxn>
                <a:cxn ang="0">
                  <a:pos x="50" y="7"/>
                </a:cxn>
                <a:cxn ang="0">
                  <a:pos x="56" y="5"/>
                </a:cxn>
              </a:cxnLst>
              <a:rect l="0" t="0" r="r" b="b"/>
              <a:pathLst>
                <a:path w="56" h="11">
                  <a:moveTo>
                    <a:pt x="56" y="5"/>
                  </a:moveTo>
                  <a:lnTo>
                    <a:pt x="31" y="0"/>
                  </a:lnTo>
                  <a:lnTo>
                    <a:pt x="2" y="3"/>
                  </a:lnTo>
                  <a:lnTo>
                    <a:pt x="9" y="4"/>
                  </a:lnTo>
                  <a:lnTo>
                    <a:pt x="8" y="7"/>
                  </a:lnTo>
                  <a:lnTo>
                    <a:pt x="0" y="9"/>
                  </a:lnTo>
                  <a:lnTo>
                    <a:pt x="17" y="9"/>
                  </a:lnTo>
                  <a:lnTo>
                    <a:pt x="12" y="11"/>
                  </a:lnTo>
                  <a:lnTo>
                    <a:pt x="56" y="10"/>
                  </a:lnTo>
                  <a:lnTo>
                    <a:pt x="50" y="7"/>
                  </a:lnTo>
                  <a:lnTo>
                    <a:pt x="56"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0" name="Freeform 359"/>
            <p:cNvSpPr>
              <a:spLocks/>
            </p:cNvSpPr>
            <p:nvPr/>
          </p:nvSpPr>
          <p:spPr bwMode="auto">
            <a:xfrm>
              <a:off x="4253" y="1259"/>
              <a:ext cx="67" cy="11"/>
            </a:xfrm>
            <a:custGeom>
              <a:avLst/>
              <a:gdLst/>
              <a:ahLst/>
              <a:cxnLst>
                <a:cxn ang="0">
                  <a:pos x="59" y="6"/>
                </a:cxn>
                <a:cxn ang="0">
                  <a:pos x="14" y="2"/>
                </a:cxn>
                <a:cxn ang="0">
                  <a:pos x="0" y="0"/>
                </a:cxn>
                <a:cxn ang="0">
                  <a:pos x="5" y="5"/>
                </a:cxn>
                <a:cxn ang="0">
                  <a:pos x="54" y="11"/>
                </a:cxn>
                <a:cxn ang="0">
                  <a:pos x="59" y="6"/>
                </a:cxn>
              </a:cxnLst>
              <a:rect l="0" t="0" r="r" b="b"/>
              <a:pathLst>
                <a:path w="59" h="11">
                  <a:moveTo>
                    <a:pt x="59" y="6"/>
                  </a:moveTo>
                  <a:lnTo>
                    <a:pt x="14" y="2"/>
                  </a:lnTo>
                  <a:lnTo>
                    <a:pt x="0" y="0"/>
                  </a:lnTo>
                  <a:lnTo>
                    <a:pt x="5" y="5"/>
                  </a:lnTo>
                  <a:lnTo>
                    <a:pt x="54" y="11"/>
                  </a:lnTo>
                  <a:lnTo>
                    <a:pt x="5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1" name="Freeform 360"/>
            <p:cNvSpPr>
              <a:spLocks/>
            </p:cNvSpPr>
            <p:nvPr/>
          </p:nvSpPr>
          <p:spPr bwMode="auto">
            <a:xfrm>
              <a:off x="2831" y="1616"/>
              <a:ext cx="31" cy="14"/>
            </a:xfrm>
            <a:custGeom>
              <a:avLst/>
              <a:gdLst/>
              <a:ahLst/>
              <a:cxnLst>
                <a:cxn ang="0">
                  <a:pos x="8" y="0"/>
                </a:cxn>
                <a:cxn ang="0">
                  <a:pos x="7" y="3"/>
                </a:cxn>
                <a:cxn ang="0">
                  <a:pos x="0" y="2"/>
                </a:cxn>
                <a:cxn ang="0">
                  <a:pos x="0" y="3"/>
                </a:cxn>
                <a:cxn ang="0">
                  <a:pos x="1" y="5"/>
                </a:cxn>
                <a:cxn ang="0">
                  <a:pos x="2" y="5"/>
                </a:cxn>
                <a:cxn ang="0">
                  <a:pos x="0" y="6"/>
                </a:cxn>
                <a:cxn ang="0">
                  <a:pos x="0" y="8"/>
                </a:cxn>
                <a:cxn ang="0">
                  <a:pos x="6" y="9"/>
                </a:cxn>
                <a:cxn ang="0">
                  <a:pos x="29" y="11"/>
                </a:cxn>
                <a:cxn ang="0">
                  <a:pos x="29" y="3"/>
                </a:cxn>
                <a:cxn ang="0">
                  <a:pos x="17" y="2"/>
                </a:cxn>
                <a:cxn ang="0">
                  <a:pos x="8" y="0"/>
                </a:cxn>
              </a:cxnLst>
              <a:rect l="0" t="0" r="r" b="b"/>
              <a:pathLst>
                <a:path w="29" h="11">
                  <a:moveTo>
                    <a:pt x="8" y="0"/>
                  </a:moveTo>
                  <a:lnTo>
                    <a:pt x="7" y="3"/>
                  </a:lnTo>
                  <a:lnTo>
                    <a:pt x="0" y="2"/>
                  </a:lnTo>
                  <a:lnTo>
                    <a:pt x="0" y="3"/>
                  </a:lnTo>
                  <a:lnTo>
                    <a:pt x="1" y="5"/>
                  </a:lnTo>
                  <a:lnTo>
                    <a:pt x="2" y="5"/>
                  </a:lnTo>
                  <a:lnTo>
                    <a:pt x="0" y="6"/>
                  </a:lnTo>
                  <a:lnTo>
                    <a:pt x="0" y="8"/>
                  </a:lnTo>
                  <a:lnTo>
                    <a:pt x="6" y="9"/>
                  </a:lnTo>
                  <a:lnTo>
                    <a:pt x="29" y="11"/>
                  </a:lnTo>
                  <a:lnTo>
                    <a:pt x="29" y="3"/>
                  </a:lnTo>
                  <a:lnTo>
                    <a:pt x="17" y="2"/>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2" name="Freeform 361"/>
            <p:cNvSpPr>
              <a:spLocks/>
            </p:cNvSpPr>
            <p:nvPr/>
          </p:nvSpPr>
          <p:spPr bwMode="auto">
            <a:xfrm>
              <a:off x="4224" y="1285"/>
              <a:ext cx="51" cy="11"/>
            </a:xfrm>
            <a:custGeom>
              <a:avLst/>
              <a:gdLst/>
              <a:ahLst/>
              <a:cxnLst>
                <a:cxn ang="0">
                  <a:pos x="46" y="10"/>
                </a:cxn>
                <a:cxn ang="0">
                  <a:pos x="0" y="6"/>
                </a:cxn>
                <a:cxn ang="0">
                  <a:pos x="16" y="0"/>
                </a:cxn>
                <a:cxn ang="0">
                  <a:pos x="41" y="7"/>
                </a:cxn>
                <a:cxn ang="0">
                  <a:pos x="46" y="10"/>
                </a:cxn>
              </a:cxnLst>
              <a:rect l="0" t="0" r="r" b="b"/>
              <a:pathLst>
                <a:path w="46" h="10">
                  <a:moveTo>
                    <a:pt x="46" y="10"/>
                  </a:moveTo>
                  <a:lnTo>
                    <a:pt x="0" y="6"/>
                  </a:lnTo>
                  <a:lnTo>
                    <a:pt x="16" y="0"/>
                  </a:lnTo>
                  <a:lnTo>
                    <a:pt x="41" y="7"/>
                  </a:lnTo>
                  <a:lnTo>
                    <a:pt x="46"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3" name="Freeform 362"/>
            <p:cNvSpPr>
              <a:spLocks/>
            </p:cNvSpPr>
            <p:nvPr/>
          </p:nvSpPr>
          <p:spPr bwMode="auto">
            <a:xfrm>
              <a:off x="3149" y="1356"/>
              <a:ext cx="27" cy="14"/>
            </a:xfrm>
            <a:custGeom>
              <a:avLst/>
              <a:gdLst/>
              <a:ahLst/>
              <a:cxnLst>
                <a:cxn ang="0">
                  <a:pos x="24" y="6"/>
                </a:cxn>
                <a:cxn ang="0">
                  <a:pos x="6" y="12"/>
                </a:cxn>
                <a:cxn ang="0">
                  <a:pos x="0" y="4"/>
                </a:cxn>
                <a:cxn ang="0">
                  <a:pos x="6" y="0"/>
                </a:cxn>
                <a:cxn ang="0">
                  <a:pos x="24" y="6"/>
                </a:cxn>
              </a:cxnLst>
              <a:rect l="0" t="0" r="r" b="b"/>
              <a:pathLst>
                <a:path w="24" h="12">
                  <a:moveTo>
                    <a:pt x="24" y="6"/>
                  </a:moveTo>
                  <a:lnTo>
                    <a:pt x="6" y="12"/>
                  </a:lnTo>
                  <a:lnTo>
                    <a:pt x="0" y="4"/>
                  </a:lnTo>
                  <a:lnTo>
                    <a:pt x="6" y="0"/>
                  </a:lnTo>
                  <a:lnTo>
                    <a:pt x="2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4" name="Freeform 363"/>
            <p:cNvSpPr>
              <a:spLocks/>
            </p:cNvSpPr>
            <p:nvPr/>
          </p:nvSpPr>
          <p:spPr bwMode="auto">
            <a:xfrm>
              <a:off x="280" y="1323"/>
              <a:ext cx="40" cy="9"/>
            </a:xfrm>
            <a:custGeom>
              <a:avLst/>
              <a:gdLst/>
              <a:ahLst/>
              <a:cxnLst>
                <a:cxn ang="0">
                  <a:pos x="33" y="6"/>
                </a:cxn>
                <a:cxn ang="0">
                  <a:pos x="0" y="8"/>
                </a:cxn>
                <a:cxn ang="0">
                  <a:pos x="18" y="0"/>
                </a:cxn>
                <a:cxn ang="0">
                  <a:pos x="35" y="3"/>
                </a:cxn>
                <a:cxn ang="0">
                  <a:pos x="33" y="6"/>
                </a:cxn>
              </a:cxnLst>
              <a:rect l="0" t="0" r="r" b="b"/>
              <a:pathLst>
                <a:path w="35" h="8">
                  <a:moveTo>
                    <a:pt x="33" y="6"/>
                  </a:moveTo>
                  <a:lnTo>
                    <a:pt x="0" y="8"/>
                  </a:lnTo>
                  <a:lnTo>
                    <a:pt x="18" y="0"/>
                  </a:lnTo>
                  <a:lnTo>
                    <a:pt x="35" y="3"/>
                  </a:lnTo>
                  <a:lnTo>
                    <a:pt x="33"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5" name="Freeform 364"/>
            <p:cNvSpPr>
              <a:spLocks/>
            </p:cNvSpPr>
            <p:nvPr/>
          </p:nvSpPr>
          <p:spPr bwMode="auto">
            <a:xfrm>
              <a:off x="3042" y="1183"/>
              <a:ext cx="49" cy="9"/>
            </a:xfrm>
            <a:custGeom>
              <a:avLst/>
              <a:gdLst/>
              <a:ahLst/>
              <a:cxnLst>
                <a:cxn ang="0">
                  <a:pos x="43" y="1"/>
                </a:cxn>
                <a:cxn ang="0">
                  <a:pos x="17" y="5"/>
                </a:cxn>
                <a:cxn ang="0">
                  <a:pos x="8" y="7"/>
                </a:cxn>
                <a:cxn ang="0">
                  <a:pos x="0" y="7"/>
                </a:cxn>
                <a:cxn ang="0">
                  <a:pos x="8" y="5"/>
                </a:cxn>
                <a:cxn ang="0">
                  <a:pos x="24" y="1"/>
                </a:cxn>
                <a:cxn ang="0">
                  <a:pos x="36" y="0"/>
                </a:cxn>
                <a:cxn ang="0">
                  <a:pos x="43" y="1"/>
                </a:cxn>
              </a:cxnLst>
              <a:rect l="0" t="0" r="r" b="b"/>
              <a:pathLst>
                <a:path w="43" h="7">
                  <a:moveTo>
                    <a:pt x="43" y="1"/>
                  </a:moveTo>
                  <a:lnTo>
                    <a:pt x="17" y="5"/>
                  </a:lnTo>
                  <a:lnTo>
                    <a:pt x="8" y="7"/>
                  </a:lnTo>
                  <a:lnTo>
                    <a:pt x="0" y="7"/>
                  </a:lnTo>
                  <a:lnTo>
                    <a:pt x="8" y="5"/>
                  </a:lnTo>
                  <a:lnTo>
                    <a:pt x="24" y="1"/>
                  </a:lnTo>
                  <a:lnTo>
                    <a:pt x="36" y="0"/>
                  </a:lnTo>
                  <a:lnTo>
                    <a:pt x="4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6" name="Freeform 365"/>
            <p:cNvSpPr>
              <a:spLocks/>
            </p:cNvSpPr>
            <p:nvPr/>
          </p:nvSpPr>
          <p:spPr bwMode="auto">
            <a:xfrm>
              <a:off x="4860" y="1801"/>
              <a:ext cx="15" cy="20"/>
            </a:xfrm>
            <a:custGeom>
              <a:avLst/>
              <a:gdLst/>
              <a:ahLst/>
              <a:cxnLst>
                <a:cxn ang="0">
                  <a:pos x="15" y="0"/>
                </a:cxn>
                <a:cxn ang="0">
                  <a:pos x="3" y="5"/>
                </a:cxn>
                <a:cxn ang="0">
                  <a:pos x="0" y="18"/>
                </a:cxn>
                <a:cxn ang="0">
                  <a:pos x="6" y="11"/>
                </a:cxn>
                <a:cxn ang="0">
                  <a:pos x="12" y="3"/>
                </a:cxn>
                <a:cxn ang="0">
                  <a:pos x="15" y="0"/>
                </a:cxn>
              </a:cxnLst>
              <a:rect l="0" t="0" r="r" b="b"/>
              <a:pathLst>
                <a:path w="15" h="18">
                  <a:moveTo>
                    <a:pt x="15" y="0"/>
                  </a:moveTo>
                  <a:lnTo>
                    <a:pt x="3" y="5"/>
                  </a:lnTo>
                  <a:lnTo>
                    <a:pt x="0" y="18"/>
                  </a:lnTo>
                  <a:lnTo>
                    <a:pt x="6" y="11"/>
                  </a:lnTo>
                  <a:lnTo>
                    <a:pt x="12" y="3"/>
                  </a:lnTo>
                  <a:lnTo>
                    <a:pt x="1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7" name="Freeform 366"/>
            <p:cNvSpPr>
              <a:spLocks/>
            </p:cNvSpPr>
            <p:nvPr/>
          </p:nvSpPr>
          <p:spPr bwMode="auto">
            <a:xfrm>
              <a:off x="4762" y="1323"/>
              <a:ext cx="20" cy="11"/>
            </a:xfrm>
            <a:custGeom>
              <a:avLst/>
              <a:gdLst/>
              <a:ahLst/>
              <a:cxnLst>
                <a:cxn ang="0">
                  <a:pos x="3" y="0"/>
                </a:cxn>
                <a:cxn ang="0">
                  <a:pos x="0" y="6"/>
                </a:cxn>
                <a:cxn ang="0">
                  <a:pos x="9" y="10"/>
                </a:cxn>
                <a:cxn ang="0">
                  <a:pos x="17" y="9"/>
                </a:cxn>
                <a:cxn ang="0">
                  <a:pos x="3" y="0"/>
                </a:cxn>
              </a:cxnLst>
              <a:rect l="0" t="0" r="r" b="b"/>
              <a:pathLst>
                <a:path w="17" h="10">
                  <a:moveTo>
                    <a:pt x="3" y="0"/>
                  </a:moveTo>
                  <a:lnTo>
                    <a:pt x="0" y="6"/>
                  </a:lnTo>
                  <a:lnTo>
                    <a:pt x="9" y="10"/>
                  </a:lnTo>
                  <a:lnTo>
                    <a:pt x="17" y="9"/>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8" name="Freeform 367"/>
            <p:cNvSpPr>
              <a:spLocks/>
            </p:cNvSpPr>
            <p:nvPr/>
          </p:nvSpPr>
          <p:spPr bwMode="auto">
            <a:xfrm>
              <a:off x="3269" y="1341"/>
              <a:ext cx="31" cy="9"/>
            </a:xfrm>
            <a:custGeom>
              <a:avLst/>
              <a:gdLst/>
              <a:ahLst/>
              <a:cxnLst>
                <a:cxn ang="0">
                  <a:pos x="28" y="9"/>
                </a:cxn>
                <a:cxn ang="0">
                  <a:pos x="3" y="0"/>
                </a:cxn>
                <a:cxn ang="0">
                  <a:pos x="0" y="3"/>
                </a:cxn>
                <a:cxn ang="0">
                  <a:pos x="18" y="9"/>
                </a:cxn>
                <a:cxn ang="0">
                  <a:pos x="28" y="9"/>
                </a:cxn>
              </a:cxnLst>
              <a:rect l="0" t="0" r="r" b="b"/>
              <a:pathLst>
                <a:path w="28" h="9">
                  <a:moveTo>
                    <a:pt x="28" y="9"/>
                  </a:moveTo>
                  <a:lnTo>
                    <a:pt x="3" y="0"/>
                  </a:lnTo>
                  <a:lnTo>
                    <a:pt x="0" y="3"/>
                  </a:lnTo>
                  <a:lnTo>
                    <a:pt x="18" y="9"/>
                  </a:lnTo>
                  <a:lnTo>
                    <a:pt x="28"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9" name="Freeform 368"/>
            <p:cNvSpPr>
              <a:spLocks/>
            </p:cNvSpPr>
            <p:nvPr/>
          </p:nvSpPr>
          <p:spPr bwMode="auto">
            <a:xfrm>
              <a:off x="2847" y="1550"/>
              <a:ext cx="17" cy="9"/>
            </a:xfrm>
            <a:custGeom>
              <a:avLst/>
              <a:gdLst/>
              <a:ahLst/>
              <a:cxnLst>
                <a:cxn ang="0">
                  <a:pos x="16" y="1"/>
                </a:cxn>
                <a:cxn ang="0">
                  <a:pos x="2" y="7"/>
                </a:cxn>
                <a:cxn ang="0">
                  <a:pos x="0" y="1"/>
                </a:cxn>
                <a:cxn ang="0">
                  <a:pos x="14" y="0"/>
                </a:cxn>
                <a:cxn ang="0">
                  <a:pos x="16" y="1"/>
                </a:cxn>
              </a:cxnLst>
              <a:rect l="0" t="0" r="r" b="b"/>
              <a:pathLst>
                <a:path w="16" h="7">
                  <a:moveTo>
                    <a:pt x="16" y="1"/>
                  </a:moveTo>
                  <a:lnTo>
                    <a:pt x="2" y="7"/>
                  </a:lnTo>
                  <a:lnTo>
                    <a:pt x="0" y="1"/>
                  </a:lnTo>
                  <a:lnTo>
                    <a:pt x="14" y="0"/>
                  </a:lnTo>
                  <a:lnTo>
                    <a:pt x="1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0" name="Freeform 369"/>
            <p:cNvSpPr>
              <a:spLocks/>
            </p:cNvSpPr>
            <p:nvPr/>
          </p:nvSpPr>
          <p:spPr bwMode="auto">
            <a:xfrm>
              <a:off x="4860" y="1536"/>
              <a:ext cx="11" cy="14"/>
            </a:xfrm>
            <a:custGeom>
              <a:avLst/>
              <a:gdLst/>
              <a:ahLst/>
              <a:cxnLst>
                <a:cxn ang="0">
                  <a:pos x="11" y="3"/>
                </a:cxn>
                <a:cxn ang="0">
                  <a:pos x="5" y="11"/>
                </a:cxn>
                <a:cxn ang="0">
                  <a:pos x="0" y="5"/>
                </a:cxn>
                <a:cxn ang="0">
                  <a:pos x="5" y="0"/>
                </a:cxn>
                <a:cxn ang="0">
                  <a:pos x="11" y="3"/>
                </a:cxn>
              </a:cxnLst>
              <a:rect l="0" t="0" r="r" b="b"/>
              <a:pathLst>
                <a:path w="11" h="11">
                  <a:moveTo>
                    <a:pt x="11" y="3"/>
                  </a:moveTo>
                  <a:lnTo>
                    <a:pt x="5" y="11"/>
                  </a:lnTo>
                  <a:lnTo>
                    <a:pt x="0" y="5"/>
                  </a:lnTo>
                  <a:lnTo>
                    <a:pt x="5" y="0"/>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1" name="Freeform 370"/>
            <p:cNvSpPr>
              <a:spLocks/>
            </p:cNvSpPr>
            <p:nvPr/>
          </p:nvSpPr>
          <p:spPr bwMode="auto">
            <a:xfrm>
              <a:off x="4660" y="1350"/>
              <a:ext cx="22" cy="4"/>
            </a:xfrm>
            <a:custGeom>
              <a:avLst/>
              <a:gdLst/>
              <a:ahLst/>
              <a:cxnLst>
                <a:cxn ang="0">
                  <a:pos x="21" y="1"/>
                </a:cxn>
                <a:cxn ang="0">
                  <a:pos x="18" y="3"/>
                </a:cxn>
                <a:cxn ang="0">
                  <a:pos x="0" y="0"/>
                </a:cxn>
                <a:cxn ang="0">
                  <a:pos x="18" y="0"/>
                </a:cxn>
                <a:cxn ang="0">
                  <a:pos x="21" y="1"/>
                </a:cxn>
              </a:cxnLst>
              <a:rect l="0" t="0" r="r" b="b"/>
              <a:pathLst>
                <a:path w="21" h="3">
                  <a:moveTo>
                    <a:pt x="21" y="1"/>
                  </a:moveTo>
                  <a:lnTo>
                    <a:pt x="18" y="3"/>
                  </a:lnTo>
                  <a:lnTo>
                    <a:pt x="0" y="0"/>
                  </a:lnTo>
                  <a:lnTo>
                    <a:pt x="18" y="0"/>
                  </a:lnTo>
                  <a:lnTo>
                    <a:pt x="2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2" name="Freeform 371"/>
            <p:cNvSpPr>
              <a:spLocks/>
            </p:cNvSpPr>
            <p:nvPr/>
          </p:nvSpPr>
          <p:spPr bwMode="auto">
            <a:xfrm>
              <a:off x="3382" y="1292"/>
              <a:ext cx="20" cy="4"/>
            </a:xfrm>
            <a:custGeom>
              <a:avLst/>
              <a:gdLst/>
              <a:ahLst/>
              <a:cxnLst>
                <a:cxn ang="0">
                  <a:pos x="19" y="4"/>
                </a:cxn>
                <a:cxn ang="0">
                  <a:pos x="0" y="5"/>
                </a:cxn>
                <a:cxn ang="0">
                  <a:pos x="2" y="0"/>
                </a:cxn>
                <a:cxn ang="0">
                  <a:pos x="10" y="2"/>
                </a:cxn>
                <a:cxn ang="0">
                  <a:pos x="19" y="4"/>
                </a:cxn>
              </a:cxnLst>
              <a:rect l="0" t="0" r="r" b="b"/>
              <a:pathLst>
                <a:path w="19" h="5">
                  <a:moveTo>
                    <a:pt x="19" y="4"/>
                  </a:moveTo>
                  <a:lnTo>
                    <a:pt x="0" y="5"/>
                  </a:lnTo>
                  <a:lnTo>
                    <a:pt x="2" y="0"/>
                  </a:lnTo>
                  <a:lnTo>
                    <a:pt x="10" y="2"/>
                  </a:lnTo>
                  <a:lnTo>
                    <a:pt x="19"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3" name="Freeform 372"/>
            <p:cNvSpPr>
              <a:spLocks/>
            </p:cNvSpPr>
            <p:nvPr/>
          </p:nvSpPr>
          <p:spPr bwMode="auto">
            <a:xfrm>
              <a:off x="3173" y="1183"/>
              <a:ext cx="34" cy="5"/>
            </a:xfrm>
            <a:custGeom>
              <a:avLst/>
              <a:gdLst/>
              <a:ahLst/>
              <a:cxnLst>
                <a:cxn ang="0">
                  <a:pos x="29" y="0"/>
                </a:cxn>
                <a:cxn ang="0">
                  <a:pos x="0" y="1"/>
                </a:cxn>
                <a:cxn ang="0">
                  <a:pos x="16" y="3"/>
                </a:cxn>
                <a:cxn ang="0">
                  <a:pos x="29" y="0"/>
                </a:cxn>
              </a:cxnLst>
              <a:rect l="0" t="0" r="r" b="b"/>
              <a:pathLst>
                <a:path w="29" h="3">
                  <a:moveTo>
                    <a:pt x="29" y="0"/>
                  </a:moveTo>
                  <a:lnTo>
                    <a:pt x="0" y="1"/>
                  </a:lnTo>
                  <a:lnTo>
                    <a:pt x="16" y="3"/>
                  </a:lnTo>
                  <a:lnTo>
                    <a:pt x="2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4" name="Freeform 373"/>
            <p:cNvSpPr>
              <a:spLocks/>
            </p:cNvSpPr>
            <p:nvPr/>
          </p:nvSpPr>
          <p:spPr bwMode="auto">
            <a:xfrm>
              <a:off x="3207" y="1181"/>
              <a:ext cx="31" cy="2"/>
            </a:xfrm>
            <a:custGeom>
              <a:avLst/>
              <a:gdLst/>
              <a:ahLst/>
              <a:cxnLst>
                <a:cxn ang="0">
                  <a:pos x="28" y="3"/>
                </a:cxn>
                <a:cxn ang="0">
                  <a:pos x="0" y="4"/>
                </a:cxn>
                <a:cxn ang="0">
                  <a:pos x="23" y="0"/>
                </a:cxn>
                <a:cxn ang="0">
                  <a:pos x="28" y="3"/>
                </a:cxn>
              </a:cxnLst>
              <a:rect l="0" t="0" r="r" b="b"/>
              <a:pathLst>
                <a:path w="28" h="4">
                  <a:moveTo>
                    <a:pt x="28" y="3"/>
                  </a:moveTo>
                  <a:lnTo>
                    <a:pt x="0" y="4"/>
                  </a:lnTo>
                  <a:lnTo>
                    <a:pt x="23" y="0"/>
                  </a:lnTo>
                  <a:lnTo>
                    <a:pt x="28"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5" name="Freeform 374"/>
            <p:cNvSpPr>
              <a:spLocks/>
            </p:cNvSpPr>
            <p:nvPr/>
          </p:nvSpPr>
          <p:spPr bwMode="auto">
            <a:xfrm>
              <a:off x="3867" y="1276"/>
              <a:ext cx="22" cy="5"/>
            </a:xfrm>
            <a:custGeom>
              <a:avLst/>
              <a:gdLst/>
              <a:ahLst/>
              <a:cxnLst>
                <a:cxn ang="0">
                  <a:pos x="19" y="0"/>
                </a:cxn>
                <a:cxn ang="0">
                  <a:pos x="0" y="1"/>
                </a:cxn>
                <a:cxn ang="0">
                  <a:pos x="21" y="3"/>
                </a:cxn>
                <a:cxn ang="0">
                  <a:pos x="19" y="0"/>
                </a:cxn>
              </a:cxnLst>
              <a:rect l="0" t="0" r="r" b="b"/>
              <a:pathLst>
                <a:path w="21" h="3">
                  <a:moveTo>
                    <a:pt x="19" y="0"/>
                  </a:moveTo>
                  <a:lnTo>
                    <a:pt x="0" y="1"/>
                  </a:lnTo>
                  <a:lnTo>
                    <a:pt x="21" y="3"/>
                  </a:lnTo>
                  <a:lnTo>
                    <a:pt x="1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6" name="Freeform 375"/>
            <p:cNvSpPr>
              <a:spLocks/>
            </p:cNvSpPr>
            <p:nvPr/>
          </p:nvSpPr>
          <p:spPr bwMode="auto">
            <a:xfrm>
              <a:off x="4904" y="1699"/>
              <a:ext cx="5" cy="11"/>
            </a:xfrm>
            <a:custGeom>
              <a:avLst/>
              <a:gdLst/>
              <a:ahLst/>
              <a:cxnLst>
                <a:cxn ang="0">
                  <a:pos x="5" y="1"/>
                </a:cxn>
                <a:cxn ang="0">
                  <a:pos x="1" y="11"/>
                </a:cxn>
                <a:cxn ang="0">
                  <a:pos x="0" y="0"/>
                </a:cxn>
                <a:cxn ang="0">
                  <a:pos x="5" y="1"/>
                </a:cxn>
              </a:cxnLst>
              <a:rect l="0" t="0" r="r" b="b"/>
              <a:pathLst>
                <a:path w="5" h="11">
                  <a:moveTo>
                    <a:pt x="5" y="1"/>
                  </a:moveTo>
                  <a:lnTo>
                    <a:pt x="1" y="11"/>
                  </a:lnTo>
                  <a:lnTo>
                    <a:pt x="0" y="0"/>
                  </a:lnTo>
                  <a:lnTo>
                    <a:pt x="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7" name="Freeform 376"/>
            <p:cNvSpPr>
              <a:spLocks/>
            </p:cNvSpPr>
            <p:nvPr/>
          </p:nvSpPr>
          <p:spPr bwMode="auto">
            <a:xfrm>
              <a:off x="4846" y="1821"/>
              <a:ext cx="7" cy="11"/>
            </a:xfrm>
            <a:custGeom>
              <a:avLst/>
              <a:gdLst/>
              <a:ahLst/>
              <a:cxnLst>
                <a:cxn ang="0">
                  <a:pos x="6" y="0"/>
                </a:cxn>
                <a:cxn ang="0">
                  <a:pos x="0" y="11"/>
                </a:cxn>
                <a:cxn ang="0">
                  <a:pos x="0" y="3"/>
                </a:cxn>
                <a:cxn ang="0">
                  <a:pos x="6" y="0"/>
                </a:cxn>
              </a:cxnLst>
              <a:rect l="0" t="0" r="r" b="b"/>
              <a:pathLst>
                <a:path w="6" h="11">
                  <a:moveTo>
                    <a:pt x="6" y="0"/>
                  </a:moveTo>
                  <a:lnTo>
                    <a:pt x="0" y="11"/>
                  </a:lnTo>
                  <a:lnTo>
                    <a:pt x="0" y="3"/>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8" name="Freeform 377"/>
            <p:cNvSpPr>
              <a:spLocks/>
            </p:cNvSpPr>
            <p:nvPr/>
          </p:nvSpPr>
          <p:spPr bwMode="auto">
            <a:xfrm>
              <a:off x="4213" y="1281"/>
              <a:ext cx="9" cy="4"/>
            </a:xfrm>
            <a:custGeom>
              <a:avLst/>
              <a:gdLst/>
              <a:ahLst/>
              <a:cxnLst>
                <a:cxn ang="0">
                  <a:pos x="10" y="0"/>
                </a:cxn>
                <a:cxn ang="0">
                  <a:pos x="0" y="0"/>
                </a:cxn>
                <a:cxn ang="0">
                  <a:pos x="10" y="5"/>
                </a:cxn>
                <a:cxn ang="0">
                  <a:pos x="10" y="0"/>
                </a:cxn>
              </a:cxnLst>
              <a:rect l="0" t="0" r="r" b="b"/>
              <a:pathLst>
                <a:path w="10" h="5">
                  <a:moveTo>
                    <a:pt x="10" y="0"/>
                  </a:moveTo>
                  <a:lnTo>
                    <a:pt x="0" y="0"/>
                  </a:lnTo>
                  <a:lnTo>
                    <a:pt x="10" y="5"/>
                  </a:lnTo>
                  <a:lnTo>
                    <a:pt x="1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9" name="Freeform 378"/>
            <p:cNvSpPr>
              <a:spLocks/>
            </p:cNvSpPr>
            <p:nvPr/>
          </p:nvSpPr>
          <p:spPr bwMode="auto">
            <a:xfrm>
              <a:off x="3029" y="1185"/>
              <a:ext cx="31" cy="3"/>
            </a:xfrm>
            <a:custGeom>
              <a:avLst/>
              <a:gdLst/>
              <a:ahLst/>
              <a:cxnLst>
                <a:cxn ang="0">
                  <a:pos x="27" y="0"/>
                </a:cxn>
                <a:cxn ang="0">
                  <a:pos x="0" y="1"/>
                </a:cxn>
                <a:cxn ang="0">
                  <a:pos x="6" y="0"/>
                </a:cxn>
                <a:cxn ang="0">
                  <a:pos x="27" y="0"/>
                </a:cxn>
              </a:cxnLst>
              <a:rect l="0" t="0" r="r" b="b"/>
              <a:pathLst>
                <a:path w="27" h="1">
                  <a:moveTo>
                    <a:pt x="27" y="0"/>
                  </a:moveTo>
                  <a:lnTo>
                    <a:pt x="0" y="1"/>
                  </a:lnTo>
                  <a:lnTo>
                    <a:pt x="6" y="0"/>
                  </a:lnTo>
                  <a:lnTo>
                    <a:pt x="27"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0" name="Freeform 379"/>
            <p:cNvSpPr>
              <a:spLocks/>
            </p:cNvSpPr>
            <p:nvPr/>
          </p:nvSpPr>
          <p:spPr bwMode="auto">
            <a:xfrm>
              <a:off x="3480" y="1308"/>
              <a:ext cx="13" cy="2"/>
            </a:xfrm>
            <a:custGeom>
              <a:avLst/>
              <a:gdLst/>
              <a:ahLst/>
              <a:cxnLst>
                <a:cxn ang="0">
                  <a:pos x="13" y="0"/>
                </a:cxn>
                <a:cxn ang="0">
                  <a:pos x="1" y="3"/>
                </a:cxn>
                <a:cxn ang="0">
                  <a:pos x="0" y="0"/>
                </a:cxn>
                <a:cxn ang="0">
                  <a:pos x="13" y="0"/>
                </a:cxn>
              </a:cxnLst>
              <a:rect l="0" t="0" r="r" b="b"/>
              <a:pathLst>
                <a:path w="13" h="3">
                  <a:moveTo>
                    <a:pt x="13" y="0"/>
                  </a:moveTo>
                  <a:lnTo>
                    <a:pt x="1" y="3"/>
                  </a:lnTo>
                  <a:lnTo>
                    <a:pt x="0" y="0"/>
                  </a:lnTo>
                  <a:lnTo>
                    <a:pt x="1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1" name="Freeform 380"/>
            <p:cNvSpPr>
              <a:spLocks/>
            </p:cNvSpPr>
            <p:nvPr/>
          </p:nvSpPr>
          <p:spPr bwMode="auto">
            <a:xfrm>
              <a:off x="3156" y="1190"/>
              <a:ext cx="22" cy="2"/>
            </a:xfrm>
            <a:custGeom>
              <a:avLst/>
              <a:gdLst/>
              <a:ahLst/>
              <a:cxnLst>
                <a:cxn ang="0">
                  <a:pos x="20" y="0"/>
                </a:cxn>
                <a:cxn ang="0">
                  <a:pos x="0" y="0"/>
                </a:cxn>
                <a:cxn ang="0">
                  <a:pos x="9" y="2"/>
                </a:cxn>
                <a:cxn ang="0">
                  <a:pos x="20" y="0"/>
                </a:cxn>
              </a:cxnLst>
              <a:rect l="0" t="0" r="r" b="b"/>
              <a:pathLst>
                <a:path w="20" h="2">
                  <a:moveTo>
                    <a:pt x="20" y="0"/>
                  </a:moveTo>
                  <a:lnTo>
                    <a:pt x="0" y="0"/>
                  </a:lnTo>
                  <a:lnTo>
                    <a:pt x="9" y="2"/>
                  </a:lnTo>
                  <a:lnTo>
                    <a:pt x="2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2" name="Freeform 381"/>
            <p:cNvSpPr>
              <a:spLocks/>
            </p:cNvSpPr>
            <p:nvPr/>
          </p:nvSpPr>
          <p:spPr bwMode="auto">
            <a:xfrm>
              <a:off x="4966" y="1610"/>
              <a:ext cx="25" cy="13"/>
            </a:xfrm>
            <a:custGeom>
              <a:avLst/>
              <a:gdLst/>
              <a:ahLst/>
              <a:cxnLst>
                <a:cxn ang="0">
                  <a:pos x="23" y="12"/>
                </a:cxn>
                <a:cxn ang="0">
                  <a:pos x="0" y="0"/>
                </a:cxn>
                <a:cxn ang="0">
                  <a:pos x="19" y="8"/>
                </a:cxn>
                <a:cxn ang="0">
                  <a:pos x="23" y="12"/>
                </a:cxn>
              </a:cxnLst>
              <a:rect l="0" t="0" r="r" b="b"/>
              <a:pathLst>
                <a:path w="23" h="12">
                  <a:moveTo>
                    <a:pt x="23" y="12"/>
                  </a:moveTo>
                  <a:lnTo>
                    <a:pt x="0" y="0"/>
                  </a:lnTo>
                  <a:lnTo>
                    <a:pt x="19" y="8"/>
                  </a:lnTo>
                  <a:lnTo>
                    <a:pt x="23"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3" name="Freeform 382"/>
            <p:cNvSpPr>
              <a:spLocks/>
            </p:cNvSpPr>
            <p:nvPr/>
          </p:nvSpPr>
          <p:spPr bwMode="auto">
            <a:xfrm>
              <a:off x="4120" y="1254"/>
              <a:ext cx="13" cy="7"/>
            </a:xfrm>
            <a:custGeom>
              <a:avLst/>
              <a:gdLst/>
              <a:ahLst/>
              <a:cxnLst>
                <a:cxn ang="0">
                  <a:pos x="11" y="4"/>
                </a:cxn>
                <a:cxn ang="0">
                  <a:pos x="0" y="0"/>
                </a:cxn>
                <a:cxn ang="0">
                  <a:pos x="12" y="6"/>
                </a:cxn>
                <a:cxn ang="0">
                  <a:pos x="11" y="4"/>
                </a:cxn>
              </a:cxnLst>
              <a:rect l="0" t="0" r="r" b="b"/>
              <a:pathLst>
                <a:path w="12" h="6">
                  <a:moveTo>
                    <a:pt x="11" y="4"/>
                  </a:moveTo>
                  <a:lnTo>
                    <a:pt x="0" y="0"/>
                  </a:lnTo>
                  <a:lnTo>
                    <a:pt x="12" y="6"/>
                  </a:lnTo>
                  <a:lnTo>
                    <a:pt x="1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4" name="Freeform 383"/>
            <p:cNvSpPr>
              <a:spLocks/>
            </p:cNvSpPr>
            <p:nvPr/>
          </p:nvSpPr>
          <p:spPr bwMode="auto">
            <a:xfrm>
              <a:off x="2847" y="1543"/>
              <a:ext cx="13" cy="2"/>
            </a:xfrm>
            <a:custGeom>
              <a:avLst/>
              <a:gdLst/>
              <a:ahLst/>
              <a:cxnLst>
                <a:cxn ang="0">
                  <a:pos x="11" y="1"/>
                </a:cxn>
                <a:cxn ang="0">
                  <a:pos x="0" y="1"/>
                </a:cxn>
                <a:cxn ang="0">
                  <a:pos x="4" y="0"/>
                </a:cxn>
                <a:cxn ang="0">
                  <a:pos x="11" y="1"/>
                </a:cxn>
              </a:cxnLst>
              <a:rect l="0" t="0" r="r" b="b"/>
              <a:pathLst>
                <a:path w="11" h="1">
                  <a:moveTo>
                    <a:pt x="11" y="1"/>
                  </a:moveTo>
                  <a:lnTo>
                    <a:pt x="0" y="1"/>
                  </a:lnTo>
                  <a:lnTo>
                    <a:pt x="4" y="0"/>
                  </a:lnTo>
                  <a:lnTo>
                    <a:pt x="1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5" name="Rectangle 384"/>
            <p:cNvSpPr>
              <a:spLocks noChangeArrowheads="1"/>
            </p:cNvSpPr>
            <p:nvPr/>
          </p:nvSpPr>
          <p:spPr bwMode="auto">
            <a:xfrm>
              <a:off x="2729" y="1830"/>
              <a:ext cx="0" cy="0"/>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386" name="Freeform 385"/>
            <p:cNvSpPr>
              <a:spLocks/>
            </p:cNvSpPr>
            <p:nvPr/>
          </p:nvSpPr>
          <p:spPr bwMode="auto">
            <a:xfrm>
              <a:off x="2787" y="1721"/>
              <a:ext cx="91" cy="33"/>
            </a:xfrm>
            <a:custGeom>
              <a:avLst/>
              <a:gdLst/>
              <a:ahLst/>
              <a:cxnLst>
                <a:cxn ang="0">
                  <a:pos x="30" y="0"/>
                </a:cxn>
                <a:cxn ang="0">
                  <a:pos x="30" y="1"/>
                </a:cxn>
                <a:cxn ang="0">
                  <a:pos x="26" y="5"/>
                </a:cxn>
                <a:cxn ang="0">
                  <a:pos x="22" y="7"/>
                </a:cxn>
                <a:cxn ang="0">
                  <a:pos x="22" y="9"/>
                </a:cxn>
                <a:cxn ang="0">
                  <a:pos x="17" y="13"/>
                </a:cxn>
                <a:cxn ang="0">
                  <a:pos x="10" y="15"/>
                </a:cxn>
                <a:cxn ang="0">
                  <a:pos x="5" y="15"/>
                </a:cxn>
                <a:cxn ang="0">
                  <a:pos x="0" y="15"/>
                </a:cxn>
                <a:cxn ang="0">
                  <a:pos x="10" y="28"/>
                </a:cxn>
                <a:cxn ang="0">
                  <a:pos x="14" y="29"/>
                </a:cxn>
                <a:cxn ang="0">
                  <a:pos x="32" y="30"/>
                </a:cxn>
                <a:cxn ang="0">
                  <a:pos x="54" y="19"/>
                </a:cxn>
                <a:cxn ang="0">
                  <a:pos x="78" y="21"/>
                </a:cxn>
                <a:cxn ang="0">
                  <a:pos x="82" y="9"/>
                </a:cxn>
                <a:cxn ang="0">
                  <a:pos x="60" y="4"/>
                </a:cxn>
                <a:cxn ang="0">
                  <a:pos x="48" y="5"/>
                </a:cxn>
                <a:cxn ang="0">
                  <a:pos x="46" y="1"/>
                </a:cxn>
                <a:cxn ang="0">
                  <a:pos x="30" y="0"/>
                </a:cxn>
              </a:cxnLst>
              <a:rect l="0" t="0" r="r" b="b"/>
              <a:pathLst>
                <a:path w="82" h="30">
                  <a:moveTo>
                    <a:pt x="30" y="0"/>
                  </a:moveTo>
                  <a:lnTo>
                    <a:pt x="30" y="1"/>
                  </a:lnTo>
                  <a:lnTo>
                    <a:pt x="26" y="5"/>
                  </a:lnTo>
                  <a:lnTo>
                    <a:pt x="22" y="7"/>
                  </a:lnTo>
                  <a:lnTo>
                    <a:pt x="22" y="9"/>
                  </a:lnTo>
                  <a:lnTo>
                    <a:pt x="17" y="13"/>
                  </a:lnTo>
                  <a:lnTo>
                    <a:pt x="10" y="15"/>
                  </a:lnTo>
                  <a:lnTo>
                    <a:pt x="5" y="15"/>
                  </a:lnTo>
                  <a:lnTo>
                    <a:pt x="0" y="15"/>
                  </a:lnTo>
                  <a:lnTo>
                    <a:pt x="10" y="28"/>
                  </a:lnTo>
                  <a:lnTo>
                    <a:pt x="14" y="29"/>
                  </a:lnTo>
                  <a:lnTo>
                    <a:pt x="32" y="30"/>
                  </a:lnTo>
                  <a:lnTo>
                    <a:pt x="54" y="19"/>
                  </a:lnTo>
                  <a:lnTo>
                    <a:pt x="78" y="21"/>
                  </a:lnTo>
                  <a:lnTo>
                    <a:pt x="82" y="9"/>
                  </a:lnTo>
                  <a:lnTo>
                    <a:pt x="60" y="4"/>
                  </a:lnTo>
                  <a:lnTo>
                    <a:pt x="48" y="5"/>
                  </a:lnTo>
                  <a:lnTo>
                    <a:pt x="46" y="1"/>
                  </a:lnTo>
                  <a:lnTo>
                    <a:pt x="3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7" name="Freeform 386"/>
            <p:cNvSpPr>
              <a:spLocks/>
            </p:cNvSpPr>
            <p:nvPr/>
          </p:nvSpPr>
          <p:spPr bwMode="auto">
            <a:xfrm>
              <a:off x="2742" y="1772"/>
              <a:ext cx="47" cy="29"/>
            </a:xfrm>
            <a:custGeom>
              <a:avLst/>
              <a:gdLst/>
              <a:ahLst/>
              <a:cxnLst>
                <a:cxn ang="0">
                  <a:pos x="7" y="25"/>
                </a:cxn>
                <a:cxn ang="0">
                  <a:pos x="13" y="25"/>
                </a:cxn>
                <a:cxn ang="0">
                  <a:pos x="15" y="22"/>
                </a:cxn>
                <a:cxn ang="0">
                  <a:pos x="18" y="24"/>
                </a:cxn>
                <a:cxn ang="0">
                  <a:pos x="19" y="23"/>
                </a:cxn>
                <a:cxn ang="0">
                  <a:pos x="23" y="25"/>
                </a:cxn>
                <a:cxn ang="0">
                  <a:pos x="26" y="25"/>
                </a:cxn>
                <a:cxn ang="0">
                  <a:pos x="25" y="22"/>
                </a:cxn>
                <a:cxn ang="0">
                  <a:pos x="25" y="20"/>
                </a:cxn>
                <a:cxn ang="0">
                  <a:pos x="30" y="18"/>
                </a:cxn>
                <a:cxn ang="0">
                  <a:pos x="32" y="18"/>
                </a:cxn>
                <a:cxn ang="0">
                  <a:pos x="30" y="16"/>
                </a:cxn>
                <a:cxn ang="0">
                  <a:pos x="30" y="14"/>
                </a:cxn>
                <a:cxn ang="0">
                  <a:pos x="29" y="11"/>
                </a:cxn>
                <a:cxn ang="0">
                  <a:pos x="33" y="10"/>
                </a:cxn>
                <a:cxn ang="0">
                  <a:pos x="35" y="8"/>
                </a:cxn>
                <a:cxn ang="0">
                  <a:pos x="39" y="8"/>
                </a:cxn>
                <a:cxn ang="0">
                  <a:pos x="39" y="7"/>
                </a:cxn>
                <a:cxn ang="0">
                  <a:pos x="41" y="6"/>
                </a:cxn>
                <a:cxn ang="0">
                  <a:pos x="42" y="5"/>
                </a:cxn>
                <a:cxn ang="0">
                  <a:pos x="37" y="2"/>
                </a:cxn>
                <a:cxn ang="0">
                  <a:pos x="36" y="0"/>
                </a:cxn>
                <a:cxn ang="0">
                  <a:pos x="8" y="7"/>
                </a:cxn>
                <a:cxn ang="0">
                  <a:pos x="2" y="6"/>
                </a:cxn>
                <a:cxn ang="0">
                  <a:pos x="0" y="12"/>
                </a:cxn>
                <a:cxn ang="0">
                  <a:pos x="3" y="23"/>
                </a:cxn>
                <a:cxn ang="0">
                  <a:pos x="7" y="25"/>
                </a:cxn>
              </a:cxnLst>
              <a:rect l="0" t="0" r="r" b="b"/>
              <a:pathLst>
                <a:path w="42" h="25">
                  <a:moveTo>
                    <a:pt x="7" y="25"/>
                  </a:moveTo>
                  <a:lnTo>
                    <a:pt x="13" y="25"/>
                  </a:lnTo>
                  <a:lnTo>
                    <a:pt x="15" y="22"/>
                  </a:lnTo>
                  <a:lnTo>
                    <a:pt x="18" y="24"/>
                  </a:lnTo>
                  <a:lnTo>
                    <a:pt x="19" y="23"/>
                  </a:lnTo>
                  <a:lnTo>
                    <a:pt x="23" y="25"/>
                  </a:lnTo>
                  <a:lnTo>
                    <a:pt x="26" y="25"/>
                  </a:lnTo>
                  <a:lnTo>
                    <a:pt x="25" y="22"/>
                  </a:lnTo>
                  <a:lnTo>
                    <a:pt x="25" y="20"/>
                  </a:lnTo>
                  <a:lnTo>
                    <a:pt x="30" y="18"/>
                  </a:lnTo>
                  <a:lnTo>
                    <a:pt x="32" y="18"/>
                  </a:lnTo>
                  <a:lnTo>
                    <a:pt x="30" y="16"/>
                  </a:lnTo>
                  <a:lnTo>
                    <a:pt x="30" y="14"/>
                  </a:lnTo>
                  <a:lnTo>
                    <a:pt x="29" y="11"/>
                  </a:lnTo>
                  <a:lnTo>
                    <a:pt x="33" y="10"/>
                  </a:lnTo>
                  <a:lnTo>
                    <a:pt x="35" y="8"/>
                  </a:lnTo>
                  <a:lnTo>
                    <a:pt x="39" y="8"/>
                  </a:lnTo>
                  <a:lnTo>
                    <a:pt x="39" y="7"/>
                  </a:lnTo>
                  <a:lnTo>
                    <a:pt x="41" y="6"/>
                  </a:lnTo>
                  <a:lnTo>
                    <a:pt x="42" y="5"/>
                  </a:lnTo>
                  <a:lnTo>
                    <a:pt x="37" y="2"/>
                  </a:lnTo>
                  <a:lnTo>
                    <a:pt x="36" y="0"/>
                  </a:lnTo>
                  <a:lnTo>
                    <a:pt x="8" y="7"/>
                  </a:lnTo>
                  <a:lnTo>
                    <a:pt x="2" y="6"/>
                  </a:lnTo>
                  <a:lnTo>
                    <a:pt x="0" y="12"/>
                  </a:lnTo>
                  <a:lnTo>
                    <a:pt x="3" y="23"/>
                  </a:lnTo>
                  <a:lnTo>
                    <a:pt x="7" y="2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8" name="Freeform 387"/>
            <p:cNvSpPr>
              <a:spLocks/>
            </p:cNvSpPr>
            <p:nvPr/>
          </p:nvSpPr>
          <p:spPr bwMode="auto">
            <a:xfrm>
              <a:off x="2691" y="1363"/>
              <a:ext cx="162" cy="247"/>
            </a:xfrm>
            <a:custGeom>
              <a:avLst/>
              <a:gdLst/>
              <a:ahLst/>
              <a:cxnLst>
                <a:cxn ang="0">
                  <a:pos x="101" y="85"/>
                </a:cxn>
                <a:cxn ang="0">
                  <a:pos x="84" y="95"/>
                </a:cxn>
                <a:cxn ang="0">
                  <a:pos x="74" y="103"/>
                </a:cxn>
                <a:cxn ang="0">
                  <a:pos x="71" y="115"/>
                </a:cxn>
                <a:cxn ang="0">
                  <a:pos x="90" y="139"/>
                </a:cxn>
                <a:cxn ang="0">
                  <a:pos x="83" y="153"/>
                </a:cxn>
                <a:cxn ang="0">
                  <a:pos x="79" y="151"/>
                </a:cxn>
                <a:cxn ang="0">
                  <a:pos x="91" y="155"/>
                </a:cxn>
                <a:cxn ang="0">
                  <a:pos x="82" y="158"/>
                </a:cxn>
                <a:cxn ang="0">
                  <a:pos x="67" y="165"/>
                </a:cxn>
                <a:cxn ang="0">
                  <a:pos x="71" y="170"/>
                </a:cxn>
                <a:cxn ang="0">
                  <a:pos x="72" y="181"/>
                </a:cxn>
                <a:cxn ang="0">
                  <a:pos x="68" y="193"/>
                </a:cxn>
                <a:cxn ang="0">
                  <a:pos x="44" y="211"/>
                </a:cxn>
                <a:cxn ang="0">
                  <a:pos x="28" y="219"/>
                </a:cxn>
                <a:cxn ang="0">
                  <a:pos x="20" y="195"/>
                </a:cxn>
                <a:cxn ang="0">
                  <a:pos x="8" y="173"/>
                </a:cxn>
                <a:cxn ang="0">
                  <a:pos x="4" y="171"/>
                </a:cxn>
                <a:cxn ang="0">
                  <a:pos x="2" y="161"/>
                </a:cxn>
                <a:cxn ang="0">
                  <a:pos x="12" y="131"/>
                </a:cxn>
                <a:cxn ang="0">
                  <a:pos x="17" y="121"/>
                </a:cxn>
                <a:cxn ang="0">
                  <a:pos x="7" y="99"/>
                </a:cxn>
                <a:cxn ang="0">
                  <a:pos x="17" y="77"/>
                </a:cxn>
                <a:cxn ang="0">
                  <a:pos x="22" y="69"/>
                </a:cxn>
                <a:cxn ang="0">
                  <a:pos x="29" y="45"/>
                </a:cxn>
                <a:cxn ang="0">
                  <a:pos x="46" y="33"/>
                </a:cxn>
                <a:cxn ang="0">
                  <a:pos x="67" y="13"/>
                </a:cxn>
                <a:cxn ang="0">
                  <a:pos x="89" y="8"/>
                </a:cxn>
                <a:cxn ang="0">
                  <a:pos x="94" y="0"/>
                </a:cxn>
                <a:cxn ang="0">
                  <a:pos x="139" y="35"/>
                </a:cxn>
                <a:cxn ang="0">
                  <a:pos x="128" y="49"/>
                </a:cxn>
                <a:cxn ang="0">
                  <a:pos x="122" y="54"/>
                </a:cxn>
                <a:cxn ang="0">
                  <a:pos x="114" y="57"/>
                </a:cxn>
                <a:cxn ang="0">
                  <a:pos x="115" y="73"/>
                </a:cxn>
              </a:cxnLst>
              <a:rect l="0" t="0" r="r" b="b"/>
              <a:pathLst>
                <a:path w="145" h="221">
                  <a:moveTo>
                    <a:pt x="115" y="73"/>
                  </a:moveTo>
                  <a:lnTo>
                    <a:pt x="101" y="85"/>
                  </a:lnTo>
                  <a:lnTo>
                    <a:pt x="90" y="91"/>
                  </a:lnTo>
                  <a:lnTo>
                    <a:pt x="84" y="95"/>
                  </a:lnTo>
                  <a:lnTo>
                    <a:pt x="77" y="96"/>
                  </a:lnTo>
                  <a:lnTo>
                    <a:pt x="74" y="103"/>
                  </a:lnTo>
                  <a:lnTo>
                    <a:pt x="72" y="105"/>
                  </a:lnTo>
                  <a:lnTo>
                    <a:pt x="71" y="115"/>
                  </a:lnTo>
                  <a:lnTo>
                    <a:pt x="76" y="133"/>
                  </a:lnTo>
                  <a:lnTo>
                    <a:pt x="90" y="139"/>
                  </a:lnTo>
                  <a:lnTo>
                    <a:pt x="96" y="146"/>
                  </a:lnTo>
                  <a:lnTo>
                    <a:pt x="83" y="153"/>
                  </a:lnTo>
                  <a:lnTo>
                    <a:pt x="78" y="149"/>
                  </a:lnTo>
                  <a:lnTo>
                    <a:pt x="79" y="151"/>
                  </a:lnTo>
                  <a:lnTo>
                    <a:pt x="62" y="152"/>
                  </a:lnTo>
                  <a:lnTo>
                    <a:pt x="91" y="155"/>
                  </a:lnTo>
                  <a:lnTo>
                    <a:pt x="83" y="161"/>
                  </a:lnTo>
                  <a:lnTo>
                    <a:pt x="82" y="158"/>
                  </a:lnTo>
                  <a:lnTo>
                    <a:pt x="73" y="167"/>
                  </a:lnTo>
                  <a:lnTo>
                    <a:pt x="67" y="165"/>
                  </a:lnTo>
                  <a:lnTo>
                    <a:pt x="72" y="169"/>
                  </a:lnTo>
                  <a:lnTo>
                    <a:pt x="71" y="170"/>
                  </a:lnTo>
                  <a:lnTo>
                    <a:pt x="70" y="176"/>
                  </a:lnTo>
                  <a:lnTo>
                    <a:pt x="72" y="181"/>
                  </a:lnTo>
                  <a:lnTo>
                    <a:pt x="71" y="180"/>
                  </a:lnTo>
                  <a:lnTo>
                    <a:pt x="68" y="193"/>
                  </a:lnTo>
                  <a:lnTo>
                    <a:pt x="66" y="206"/>
                  </a:lnTo>
                  <a:lnTo>
                    <a:pt x="44" y="211"/>
                  </a:lnTo>
                  <a:lnTo>
                    <a:pt x="42" y="221"/>
                  </a:lnTo>
                  <a:lnTo>
                    <a:pt x="28" y="219"/>
                  </a:lnTo>
                  <a:lnTo>
                    <a:pt x="23" y="206"/>
                  </a:lnTo>
                  <a:lnTo>
                    <a:pt x="20" y="195"/>
                  </a:lnTo>
                  <a:lnTo>
                    <a:pt x="7" y="177"/>
                  </a:lnTo>
                  <a:lnTo>
                    <a:pt x="8" y="173"/>
                  </a:lnTo>
                  <a:lnTo>
                    <a:pt x="5" y="171"/>
                  </a:lnTo>
                  <a:lnTo>
                    <a:pt x="4" y="171"/>
                  </a:lnTo>
                  <a:lnTo>
                    <a:pt x="0" y="162"/>
                  </a:lnTo>
                  <a:lnTo>
                    <a:pt x="2" y="161"/>
                  </a:lnTo>
                  <a:lnTo>
                    <a:pt x="10" y="145"/>
                  </a:lnTo>
                  <a:lnTo>
                    <a:pt x="12" y="131"/>
                  </a:lnTo>
                  <a:lnTo>
                    <a:pt x="12" y="126"/>
                  </a:lnTo>
                  <a:lnTo>
                    <a:pt x="17" y="121"/>
                  </a:lnTo>
                  <a:lnTo>
                    <a:pt x="7" y="115"/>
                  </a:lnTo>
                  <a:lnTo>
                    <a:pt x="7" y="99"/>
                  </a:lnTo>
                  <a:lnTo>
                    <a:pt x="6" y="84"/>
                  </a:lnTo>
                  <a:lnTo>
                    <a:pt x="17" y="77"/>
                  </a:lnTo>
                  <a:lnTo>
                    <a:pt x="28" y="75"/>
                  </a:lnTo>
                  <a:lnTo>
                    <a:pt x="22" y="69"/>
                  </a:lnTo>
                  <a:lnTo>
                    <a:pt x="31" y="49"/>
                  </a:lnTo>
                  <a:lnTo>
                    <a:pt x="29" y="45"/>
                  </a:lnTo>
                  <a:lnTo>
                    <a:pt x="40" y="43"/>
                  </a:lnTo>
                  <a:lnTo>
                    <a:pt x="46" y="33"/>
                  </a:lnTo>
                  <a:lnTo>
                    <a:pt x="52" y="18"/>
                  </a:lnTo>
                  <a:lnTo>
                    <a:pt x="67" y="13"/>
                  </a:lnTo>
                  <a:lnTo>
                    <a:pt x="68" y="8"/>
                  </a:lnTo>
                  <a:lnTo>
                    <a:pt x="89" y="8"/>
                  </a:lnTo>
                  <a:lnTo>
                    <a:pt x="88" y="0"/>
                  </a:lnTo>
                  <a:lnTo>
                    <a:pt x="94" y="0"/>
                  </a:lnTo>
                  <a:lnTo>
                    <a:pt x="127" y="14"/>
                  </a:lnTo>
                  <a:lnTo>
                    <a:pt x="139" y="35"/>
                  </a:lnTo>
                  <a:lnTo>
                    <a:pt x="145" y="50"/>
                  </a:lnTo>
                  <a:lnTo>
                    <a:pt x="128" y="49"/>
                  </a:lnTo>
                  <a:lnTo>
                    <a:pt x="124" y="51"/>
                  </a:lnTo>
                  <a:lnTo>
                    <a:pt x="122" y="54"/>
                  </a:lnTo>
                  <a:lnTo>
                    <a:pt x="120" y="53"/>
                  </a:lnTo>
                  <a:lnTo>
                    <a:pt x="114" y="57"/>
                  </a:lnTo>
                  <a:lnTo>
                    <a:pt x="112" y="66"/>
                  </a:lnTo>
                  <a:lnTo>
                    <a:pt x="115"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9" name="Freeform 388"/>
            <p:cNvSpPr>
              <a:spLocks/>
            </p:cNvSpPr>
            <p:nvPr/>
          </p:nvSpPr>
          <p:spPr bwMode="auto">
            <a:xfrm>
              <a:off x="2793" y="1563"/>
              <a:ext cx="9" cy="16"/>
            </a:xfrm>
            <a:custGeom>
              <a:avLst/>
              <a:gdLst/>
              <a:ahLst/>
              <a:cxnLst>
                <a:cxn ang="0">
                  <a:pos x="8" y="0"/>
                </a:cxn>
                <a:cxn ang="0">
                  <a:pos x="8" y="3"/>
                </a:cxn>
                <a:cxn ang="0">
                  <a:pos x="4" y="12"/>
                </a:cxn>
                <a:cxn ang="0">
                  <a:pos x="3" y="13"/>
                </a:cxn>
                <a:cxn ang="0">
                  <a:pos x="0" y="7"/>
                </a:cxn>
                <a:cxn ang="0">
                  <a:pos x="8" y="0"/>
                </a:cxn>
              </a:cxnLst>
              <a:rect l="0" t="0" r="r" b="b"/>
              <a:pathLst>
                <a:path w="8" h="13">
                  <a:moveTo>
                    <a:pt x="8" y="0"/>
                  </a:moveTo>
                  <a:lnTo>
                    <a:pt x="8" y="3"/>
                  </a:lnTo>
                  <a:lnTo>
                    <a:pt x="4" y="12"/>
                  </a:lnTo>
                  <a:lnTo>
                    <a:pt x="3" y="13"/>
                  </a:lnTo>
                  <a:lnTo>
                    <a:pt x="0" y="7"/>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0" name="Freeform 389"/>
            <p:cNvSpPr>
              <a:spLocks/>
            </p:cNvSpPr>
            <p:nvPr/>
          </p:nvSpPr>
          <p:spPr bwMode="auto">
            <a:xfrm>
              <a:off x="2627" y="1756"/>
              <a:ext cx="69" cy="34"/>
            </a:xfrm>
            <a:custGeom>
              <a:avLst/>
              <a:gdLst/>
              <a:ahLst/>
              <a:cxnLst>
                <a:cxn ang="0">
                  <a:pos x="58" y="18"/>
                </a:cxn>
                <a:cxn ang="0">
                  <a:pos x="56" y="23"/>
                </a:cxn>
                <a:cxn ang="0">
                  <a:pos x="45" y="23"/>
                </a:cxn>
                <a:cxn ang="0">
                  <a:pos x="40" y="30"/>
                </a:cxn>
                <a:cxn ang="0">
                  <a:pos x="30" y="23"/>
                </a:cxn>
                <a:cxn ang="0">
                  <a:pos x="22" y="29"/>
                </a:cxn>
                <a:cxn ang="0">
                  <a:pos x="14" y="30"/>
                </a:cxn>
                <a:cxn ang="0">
                  <a:pos x="5" y="20"/>
                </a:cxn>
                <a:cxn ang="0">
                  <a:pos x="0" y="24"/>
                </a:cxn>
                <a:cxn ang="0">
                  <a:pos x="12" y="6"/>
                </a:cxn>
                <a:cxn ang="0">
                  <a:pos x="16" y="3"/>
                </a:cxn>
                <a:cxn ang="0">
                  <a:pos x="21" y="1"/>
                </a:cxn>
                <a:cxn ang="0">
                  <a:pos x="34" y="0"/>
                </a:cxn>
                <a:cxn ang="0">
                  <a:pos x="48" y="2"/>
                </a:cxn>
                <a:cxn ang="0">
                  <a:pos x="47" y="6"/>
                </a:cxn>
                <a:cxn ang="0">
                  <a:pos x="47" y="8"/>
                </a:cxn>
                <a:cxn ang="0">
                  <a:pos x="47" y="9"/>
                </a:cxn>
                <a:cxn ang="0">
                  <a:pos x="50" y="9"/>
                </a:cxn>
                <a:cxn ang="0">
                  <a:pos x="62" y="13"/>
                </a:cxn>
                <a:cxn ang="0">
                  <a:pos x="62" y="14"/>
                </a:cxn>
                <a:cxn ang="0">
                  <a:pos x="58" y="18"/>
                </a:cxn>
              </a:cxnLst>
              <a:rect l="0" t="0" r="r" b="b"/>
              <a:pathLst>
                <a:path w="62" h="30">
                  <a:moveTo>
                    <a:pt x="58" y="18"/>
                  </a:moveTo>
                  <a:lnTo>
                    <a:pt x="56" y="23"/>
                  </a:lnTo>
                  <a:lnTo>
                    <a:pt x="45" y="23"/>
                  </a:lnTo>
                  <a:lnTo>
                    <a:pt x="40" y="30"/>
                  </a:lnTo>
                  <a:lnTo>
                    <a:pt x="30" y="23"/>
                  </a:lnTo>
                  <a:lnTo>
                    <a:pt x="22" y="29"/>
                  </a:lnTo>
                  <a:lnTo>
                    <a:pt x="14" y="30"/>
                  </a:lnTo>
                  <a:lnTo>
                    <a:pt x="5" y="20"/>
                  </a:lnTo>
                  <a:lnTo>
                    <a:pt x="0" y="24"/>
                  </a:lnTo>
                  <a:lnTo>
                    <a:pt x="12" y="6"/>
                  </a:lnTo>
                  <a:lnTo>
                    <a:pt x="16" y="3"/>
                  </a:lnTo>
                  <a:lnTo>
                    <a:pt x="21" y="1"/>
                  </a:lnTo>
                  <a:lnTo>
                    <a:pt x="34" y="0"/>
                  </a:lnTo>
                  <a:lnTo>
                    <a:pt x="48" y="2"/>
                  </a:lnTo>
                  <a:lnTo>
                    <a:pt x="47" y="6"/>
                  </a:lnTo>
                  <a:lnTo>
                    <a:pt x="47" y="8"/>
                  </a:lnTo>
                  <a:lnTo>
                    <a:pt x="47" y="9"/>
                  </a:lnTo>
                  <a:lnTo>
                    <a:pt x="50" y="9"/>
                  </a:lnTo>
                  <a:lnTo>
                    <a:pt x="62" y="13"/>
                  </a:lnTo>
                  <a:lnTo>
                    <a:pt x="62" y="14"/>
                  </a:lnTo>
                  <a:lnTo>
                    <a:pt x="58"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1" name="Freeform 390"/>
            <p:cNvSpPr>
              <a:spLocks/>
            </p:cNvSpPr>
            <p:nvPr/>
          </p:nvSpPr>
          <p:spPr bwMode="auto">
            <a:xfrm>
              <a:off x="2873" y="1663"/>
              <a:ext cx="285" cy="158"/>
            </a:xfrm>
            <a:custGeom>
              <a:avLst/>
              <a:gdLst/>
              <a:ahLst/>
              <a:cxnLst>
                <a:cxn ang="0">
                  <a:pos x="135" y="0"/>
                </a:cxn>
                <a:cxn ang="0">
                  <a:pos x="124" y="3"/>
                </a:cxn>
                <a:cxn ang="0">
                  <a:pos x="107" y="12"/>
                </a:cxn>
                <a:cxn ang="0">
                  <a:pos x="108" y="19"/>
                </a:cxn>
                <a:cxn ang="0">
                  <a:pos x="84" y="14"/>
                </a:cxn>
                <a:cxn ang="0">
                  <a:pos x="60" y="9"/>
                </a:cxn>
                <a:cxn ang="0">
                  <a:pos x="38" y="9"/>
                </a:cxn>
                <a:cxn ang="0">
                  <a:pos x="14" y="9"/>
                </a:cxn>
                <a:cxn ang="0">
                  <a:pos x="21" y="28"/>
                </a:cxn>
                <a:cxn ang="0">
                  <a:pos x="20" y="37"/>
                </a:cxn>
                <a:cxn ang="0">
                  <a:pos x="6" y="55"/>
                </a:cxn>
                <a:cxn ang="0">
                  <a:pos x="4" y="60"/>
                </a:cxn>
                <a:cxn ang="0">
                  <a:pos x="0" y="72"/>
                </a:cxn>
                <a:cxn ang="0">
                  <a:pos x="11" y="80"/>
                </a:cxn>
                <a:cxn ang="0">
                  <a:pos x="12" y="79"/>
                </a:cxn>
                <a:cxn ang="0">
                  <a:pos x="39" y="81"/>
                </a:cxn>
                <a:cxn ang="0">
                  <a:pos x="63" y="74"/>
                </a:cxn>
                <a:cxn ang="0">
                  <a:pos x="75" y="64"/>
                </a:cxn>
                <a:cxn ang="0">
                  <a:pos x="80" y="66"/>
                </a:cxn>
                <a:cxn ang="0">
                  <a:pos x="90" y="76"/>
                </a:cxn>
                <a:cxn ang="0">
                  <a:pos x="101" y="87"/>
                </a:cxn>
                <a:cxn ang="0">
                  <a:pos x="113" y="97"/>
                </a:cxn>
                <a:cxn ang="0">
                  <a:pos x="124" y="108"/>
                </a:cxn>
                <a:cxn ang="0">
                  <a:pos x="136" y="100"/>
                </a:cxn>
                <a:cxn ang="0">
                  <a:pos x="140" y="103"/>
                </a:cxn>
                <a:cxn ang="0">
                  <a:pos x="138" y="94"/>
                </a:cxn>
                <a:cxn ang="0">
                  <a:pos x="141" y="100"/>
                </a:cxn>
                <a:cxn ang="0">
                  <a:pos x="152" y="103"/>
                </a:cxn>
                <a:cxn ang="0">
                  <a:pos x="137" y="104"/>
                </a:cxn>
                <a:cxn ang="0">
                  <a:pos x="143" y="108"/>
                </a:cxn>
                <a:cxn ang="0">
                  <a:pos x="155" y="111"/>
                </a:cxn>
                <a:cxn ang="0">
                  <a:pos x="167" y="114"/>
                </a:cxn>
                <a:cxn ang="0">
                  <a:pos x="153" y="123"/>
                </a:cxn>
                <a:cxn ang="0">
                  <a:pos x="164" y="128"/>
                </a:cxn>
                <a:cxn ang="0">
                  <a:pos x="170" y="134"/>
                </a:cxn>
                <a:cxn ang="0">
                  <a:pos x="172" y="141"/>
                </a:cxn>
                <a:cxn ang="0">
                  <a:pos x="192" y="133"/>
                </a:cxn>
                <a:cxn ang="0">
                  <a:pos x="202" y="132"/>
                </a:cxn>
                <a:cxn ang="0">
                  <a:pos x="210" y="126"/>
                </a:cxn>
                <a:cxn ang="0">
                  <a:pos x="198" y="126"/>
                </a:cxn>
                <a:cxn ang="0">
                  <a:pos x="185" y="115"/>
                </a:cxn>
                <a:cxn ang="0">
                  <a:pos x="189" y="106"/>
                </a:cxn>
                <a:cxn ang="0">
                  <a:pos x="186" y="111"/>
                </a:cxn>
                <a:cxn ang="0">
                  <a:pos x="191" y="108"/>
                </a:cxn>
                <a:cxn ang="0">
                  <a:pos x="210" y="100"/>
                </a:cxn>
                <a:cxn ang="0">
                  <a:pos x="232" y="92"/>
                </a:cxn>
                <a:cxn ang="0">
                  <a:pos x="240" y="91"/>
                </a:cxn>
                <a:cxn ang="0">
                  <a:pos x="245" y="81"/>
                </a:cxn>
                <a:cxn ang="0">
                  <a:pos x="256" y="75"/>
                </a:cxn>
                <a:cxn ang="0">
                  <a:pos x="248" y="51"/>
                </a:cxn>
                <a:cxn ang="0">
                  <a:pos x="226" y="44"/>
                </a:cxn>
                <a:cxn ang="0">
                  <a:pos x="206" y="38"/>
                </a:cxn>
                <a:cxn ang="0">
                  <a:pos x="196" y="39"/>
                </a:cxn>
                <a:cxn ang="0">
                  <a:pos x="178" y="24"/>
                </a:cxn>
                <a:cxn ang="0">
                  <a:pos x="160" y="8"/>
                </a:cxn>
                <a:cxn ang="0">
                  <a:pos x="158" y="2"/>
                </a:cxn>
                <a:cxn ang="0">
                  <a:pos x="135" y="0"/>
                </a:cxn>
              </a:cxnLst>
              <a:rect l="0" t="0" r="r" b="b"/>
              <a:pathLst>
                <a:path w="256" h="141">
                  <a:moveTo>
                    <a:pt x="135" y="0"/>
                  </a:moveTo>
                  <a:lnTo>
                    <a:pt x="124" y="3"/>
                  </a:lnTo>
                  <a:lnTo>
                    <a:pt x="107" y="12"/>
                  </a:lnTo>
                  <a:lnTo>
                    <a:pt x="108" y="19"/>
                  </a:lnTo>
                  <a:lnTo>
                    <a:pt x="84" y="14"/>
                  </a:lnTo>
                  <a:lnTo>
                    <a:pt x="60" y="9"/>
                  </a:lnTo>
                  <a:lnTo>
                    <a:pt x="38" y="9"/>
                  </a:lnTo>
                  <a:lnTo>
                    <a:pt x="14" y="9"/>
                  </a:lnTo>
                  <a:lnTo>
                    <a:pt x="21" y="28"/>
                  </a:lnTo>
                  <a:lnTo>
                    <a:pt x="20" y="37"/>
                  </a:lnTo>
                  <a:lnTo>
                    <a:pt x="6" y="55"/>
                  </a:lnTo>
                  <a:lnTo>
                    <a:pt x="4" y="60"/>
                  </a:lnTo>
                  <a:lnTo>
                    <a:pt x="0" y="72"/>
                  </a:lnTo>
                  <a:lnTo>
                    <a:pt x="11" y="80"/>
                  </a:lnTo>
                  <a:lnTo>
                    <a:pt x="12" y="79"/>
                  </a:lnTo>
                  <a:lnTo>
                    <a:pt x="39" y="81"/>
                  </a:lnTo>
                  <a:lnTo>
                    <a:pt x="63" y="74"/>
                  </a:lnTo>
                  <a:lnTo>
                    <a:pt x="75" y="64"/>
                  </a:lnTo>
                  <a:lnTo>
                    <a:pt x="80" y="66"/>
                  </a:lnTo>
                  <a:lnTo>
                    <a:pt x="90" y="76"/>
                  </a:lnTo>
                  <a:lnTo>
                    <a:pt x="101" y="87"/>
                  </a:lnTo>
                  <a:lnTo>
                    <a:pt x="113" y="97"/>
                  </a:lnTo>
                  <a:lnTo>
                    <a:pt x="124" y="108"/>
                  </a:lnTo>
                  <a:lnTo>
                    <a:pt x="136" y="100"/>
                  </a:lnTo>
                  <a:lnTo>
                    <a:pt x="140" y="103"/>
                  </a:lnTo>
                  <a:lnTo>
                    <a:pt x="138" y="94"/>
                  </a:lnTo>
                  <a:lnTo>
                    <a:pt x="141" y="100"/>
                  </a:lnTo>
                  <a:lnTo>
                    <a:pt x="152" y="103"/>
                  </a:lnTo>
                  <a:lnTo>
                    <a:pt x="137" y="104"/>
                  </a:lnTo>
                  <a:lnTo>
                    <a:pt x="143" y="108"/>
                  </a:lnTo>
                  <a:lnTo>
                    <a:pt x="155" y="111"/>
                  </a:lnTo>
                  <a:lnTo>
                    <a:pt x="167" y="114"/>
                  </a:lnTo>
                  <a:lnTo>
                    <a:pt x="153" y="123"/>
                  </a:lnTo>
                  <a:lnTo>
                    <a:pt x="164" y="128"/>
                  </a:lnTo>
                  <a:lnTo>
                    <a:pt x="170" y="134"/>
                  </a:lnTo>
                  <a:lnTo>
                    <a:pt x="172" y="141"/>
                  </a:lnTo>
                  <a:lnTo>
                    <a:pt x="192" y="133"/>
                  </a:lnTo>
                  <a:lnTo>
                    <a:pt x="202" y="132"/>
                  </a:lnTo>
                  <a:lnTo>
                    <a:pt x="210" y="126"/>
                  </a:lnTo>
                  <a:lnTo>
                    <a:pt x="198" y="126"/>
                  </a:lnTo>
                  <a:lnTo>
                    <a:pt x="185" y="115"/>
                  </a:lnTo>
                  <a:lnTo>
                    <a:pt x="189" y="106"/>
                  </a:lnTo>
                  <a:lnTo>
                    <a:pt x="186" y="111"/>
                  </a:lnTo>
                  <a:lnTo>
                    <a:pt x="191" y="108"/>
                  </a:lnTo>
                  <a:lnTo>
                    <a:pt x="210" y="100"/>
                  </a:lnTo>
                  <a:lnTo>
                    <a:pt x="232" y="92"/>
                  </a:lnTo>
                  <a:lnTo>
                    <a:pt x="240" y="91"/>
                  </a:lnTo>
                  <a:lnTo>
                    <a:pt x="245" y="81"/>
                  </a:lnTo>
                  <a:lnTo>
                    <a:pt x="256" y="75"/>
                  </a:lnTo>
                  <a:lnTo>
                    <a:pt x="248" y="51"/>
                  </a:lnTo>
                  <a:lnTo>
                    <a:pt x="226" y="44"/>
                  </a:lnTo>
                  <a:lnTo>
                    <a:pt x="206" y="38"/>
                  </a:lnTo>
                  <a:lnTo>
                    <a:pt x="196" y="39"/>
                  </a:lnTo>
                  <a:lnTo>
                    <a:pt x="178" y="24"/>
                  </a:lnTo>
                  <a:lnTo>
                    <a:pt x="160" y="8"/>
                  </a:lnTo>
                  <a:lnTo>
                    <a:pt x="158" y="2"/>
                  </a:lnTo>
                  <a:lnTo>
                    <a:pt x="13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2" name="Freeform 391"/>
            <p:cNvSpPr>
              <a:spLocks/>
            </p:cNvSpPr>
            <p:nvPr/>
          </p:nvSpPr>
          <p:spPr bwMode="auto">
            <a:xfrm>
              <a:off x="2827" y="1788"/>
              <a:ext cx="69" cy="82"/>
            </a:xfrm>
            <a:custGeom>
              <a:avLst/>
              <a:gdLst/>
              <a:ahLst/>
              <a:cxnLst>
                <a:cxn ang="0">
                  <a:pos x="11" y="16"/>
                </a:cxn>
                <a:cxn ang="0">
                  <a:pos x="11" y="17"/>
                </a:cxn>
                <a:cxn ang="0">
                  <a:pos x="7" y="18"/>
                </a:cxn>
                <a:cxn ang="0">
                  <a:pos x="6" y="22"/>
                </a:cxn>
                <a:cxn ang="0">
                  <a:pos x="10" y="22"/>
                </a:cxn>
                <a:cxn ang="0">
                  <a:pos x="11" y="24"/>
                </a:cxn>
                <a:cxn ang="0">
                  <a:pos x="10" y="27"/>
                </a:cxn>
                <a:cxn ang="0">
                  <a:pos x="7" y="30"/>
                </a:cxn>
                <a:cxn ang="0">
                  <a:pos x="7" y="31"/>
                </a:cxn>
                <a:cxn ang="0">
                  <a:pos x="10" y="34"/>
                </a:cxn>
                <a:cxn ang="0">
                  <a:pos x="16" y="37"/>
                </a:cxn>
                <a:cxn ang="0">
                  <a:pos x="11" y="40"/>
                </a:cxn>
                <a:cxn ang="0">
                  <a:pos x="15" y="42"/>
                </a:cxn>
                <a:cxn ang="0">
                  <a:pos x="15" y="46"/>
                </a:cxn>
                <a:cxn ang="0">
                  <a:pos x="6" y="47"/>
                </a:cxn>
                <a:cxn ang="0">
                  <a:pos x="10" y="51"/>
                </a:cxn>
                <a:cxn ang="0">
                  <a:pos x="9" y="52"/>
                </a:cxn>
                <a:cxn ang="0">
                  <a:pos x="6" y="51"/>
                </a:cxn>
                <a:cxn ang="0">
                  <a:pos x="3" y="55"/>
                </a:cxn>
                <a:cxn ang="0">
                  <a:pos x="0" y="57"/>
                </a:cxn>
                <a:cxn ang="0">
                  <a:pos x="4" y="61"/>
                </a:cxn>
                <a:cxn ang="0">
                  <a:pos x="0" y="63"/>
                </a:cxn>
                <a:cxn ang="0">
                  <a:pos x="0" y="64"/>
                </a:cxn>
                <a:cxn ang="0">
                  <a:pos x="0" y="66"/>
                </a:cxn>
                <a:cxn ang="0">
                  <a:pos x="10" y="71"/>
                </a:cxn>
                <a:cxn ang="0">
                  <a:pos x="16" y="76"/>
                </a:cxn>
                <a:cxn ang="0">
                  <a:pos x="18" y="64"/>
                </a:cxn>
                <a:cxn ang="0">
                  <a:pos x="27" y="66"/>
                </a:cxn>
                <a:cxn ang="0">
                  <a:pos x="31" y="76"/>
                </a:cxn>
                <a:cxn ang="0">
                  <a:pos x="34" y="75"/>
                </a:cxn>
                <a:cxn ang="0">
                  <a:pos x="34" y="72"/>
                </a:cxn>
                <a:cxn ang="0">
                  <a:pos x="39" y="71"/>
                </a:cxn>
                <a:cxn ang="0">
                  <a:pos x="42" y="72"/>
                </a:cxn>
                <a:cxn ang="0">
                  <a:pos x="45" y="69"/>
                </a:cxn>
                <a:cxn ang="0">
                  <a:pos x="47" y="70"/>
                </a:cxn>
                <a:cxn ang="0">
                  <a:pos x="49" y="70"/>
                </a:cxn>
                <a:cxn ang="0">
                  <a:pos x="52" y="69"/>
                </a:cxn>
                <a:cxn ang="0">
                  <a:pos x="57" y="67"/>
                </a:cxn>
                <a:cxn ang="0">
                  <a:pos x="60" y="71"/>
                </a:cxn>
                <a:cxn ang="0">
                  <a:pos x="63" y="70"/>
                </a:cxn>
                <a:cxn ang="0">
                  <a:pos x="58" y="64"/>
                </a:cxn>
                <a:cxn ang="0">
                  <a:pos x="64" y="54"/>
                </a:cxn>
                <a:cxn ang="0">
                  <a:pos x="58" y="45"/>
                </a:cxn>
                <a:cxn ang="0">
                  <a:pos x="59" y="34"/>
                </a:cxn>
                <a:cxn ang="0">
                  <a:pos x="58" y="28"/>
                </a:cxn>
                <a:cxn ang="0">
                  <a:pos x="53" y="27"/>
                </a:cxn>
                <a:cxn ang="0">
                  <a:pos x="48" y="25"/>
                </a:cxn>
                <a:cxn ang="0">
                  <a:pos x="42" y="22"/>
                </a:cxn>
                <a:cxn ang="0">
                  <a:pos x="22" y="0"/>
                </a:cxn>
                <a:cxn ang="0">
                  <a:pos x="1" y="5"/>
                </a:cxn>
                <a:cxn ang="0">
                  <a:pos x="5" y="11"/>
                </a:cxn>
                <a:cxn ang="0">
                  <a:pos x="6" y="11"/>
                </a:cxn>
                <a:cxn ang="0">
                  <a:pos x="5" y="13"/>
                </a:cxn>
                <a:cxn ang="0">
                  <a:pos x="6" y="15"/>
                </a:cxn>
                <a:cxn ang="0">
                  <a:pos x="11" y="16"/>
                </a:cxn>
              </a:cxnLst>
              <a:rect l="0" t="0" r="r" b="b"/>
              <a:pathLst>
                <a:path w="64" h="76">
                  <a:moveTo>
                    <a:pt x="11" y="16"/>
                  </a:moveTo>
                  <a:lnTo>
                    <a:pt x="11" y="17"/>
                  </a:lnTo>
                  <a:lnTo>
                    <a:pt x="7" y="18"/>
                  </a:lnTo>
                  <a:lnTo>
                    <a:pt x="6" y="22"/>
                  </a:lnTo>
                  <a:lnTo>
                    <a:pt x="10" y="22"/>
                  </a:lnTo>
                  <a:lnTo>
                    <a:pt x="11" y="24"/>
                  </a:lnTo>
                  <a:lnTo>
                    <a:pt x="10" y="27"/>
                  </a:lnTo>
                  <a:lnTo>
                    <a:pt x="7" y="30"/>
                  </a:lnTo>
                  <a:lnTo>
                    <a:pt x="7" y="31"/>
                  </a:lnTo>
                  <a:lnTo>
                    <a:pt x="10" y="34"/>
                  </a:lnTo>
                  <a:lnTo>
                    <a:pt x="16" y="37"/>
                  </a:lnTo>
                  <a:lnTo>
                    <a:pt x="11" y="40"/>
                  </a:lnTo>
                  <a:lnTo>
                    <a:pt x="15" y="42"/>
                  </a:lnTo>
                  <a:lnTo>
                    <a:pt x="15" y="46"/>
                  </a:lnTo>
                  <a:lnTo>
                    <a:pt x="6" y="47"/>
                  </a:lnTo>
                  <a:lnTo>
                    <a:pt x="10" y="51"/>
                  </a:lnTo>
                  <a:lnTo>
                    <a:pt x="9" y="52"/>
                  </a:lnTo>
                  <a:lnTo>
                    <a:pt x="6" y="51"/>
                  </a:lnTo>
                  <a:lnTo>
                    <a:pt x="3" y="55"/>
                  </a:lnTo>
                  <a:lnTo>
                    <a:pt x="0" y="57"/>
                  </a:lnTo>
                  <a:lnTo>
                    <a:pt x="4" y="61"/>
                  </a:lnTo>
                  <a:lnTo>
                    <a:pt x="0" y="63"/>
                  </a:lnTo>
                  <a:lnTo>
                    <a:pt x="0" y="64"/>
                  </a:lnTo>
                  <a:lnTo>
                    <a:pt x="0" y="66"/>
                  </a:lnTo>
                  <a:lnTo>
                    <a:pt x="10" y="71"/>
                  </a:lnTo>
                  <a:lnTo>
                    <a:pt x="16" y="76"/>
                  </a:lnTo>
                  <a:lnTo>
                    <a:pt x="18" y="64"/>
                  </a:lnTo>
                  <a:lnTo>
                    <a:pt x="27" y="66"/>
                  </a:lnTo>
                  <a:lnTo>
                    <a:pt x="31" y="76"/>
                  </a:lnTo>
                  <a:lnTo>
                    <a:pt x="34" y="75"/>
                  </a:lnTo>
                  <a:lnTo>
                    <a:pt x="34" y="72"/>
                  </a:lnTo>
                  <a:lnTo>
                    <a:pt x="39" y="71"/>
                  </a:lnTo>
                  <a:lnTo>
                    <a:pt x="42" y="72"/>
                  </a:lnTo>
                  <a:lnTo>
                    <a:pt x="45" y="69"/>
                  </a:lnTo>
                  <a:lnTo>
                    <a:pt x="47" y="70"/>
                  </a:lnTo>
                  <a:lnTo>
                    <a:pt x="49" y="70"/>
                  </a:lnTo>
                  <a:lnTo>
                    <a:pt x="52" y="69"/>
                  </a:lnTo>
                  <a:lnTo>
                    <a:pt x="57" y="67"/>
                  </a:lnTo>
                  <a:lnTo>
                    <a:pt x="60" y="71"/>
                  </a:lnTo>
                  <a:lnTo>
                    <a:pt x="63" y="70"/>
                  </a:lnTo>
                  <a:lnTo>
                    <a:pt x="58" y="64"/>
                  </a:lnTo>
                  <a:lnTo>
                    <a:pt x="64" y="54"/>
                  </a:lnTo>
                  <a:lnTo>
                    <a:pt x="58" y="45"/>
                  </a:lnTo>
                  <a:lnTo>
                    <a:pt x="59" y="34"/>
                  </a:lnTo>
                  <a:lnTo>
                    <a:pt x="58" y="28"/>
                  </a:lnTo>
                  <a:lnTo>
                    <a:pt x="53" y="27"/>
                  </a:lnTo>
                  <a:lnTo>
                    <a:pt x="48" y="25"/>
                  </a:lnTo>
                  <a:lnTo>
                    <a:pt x="42" y="22"/>
                  </a:lnTo>
                  <a:lnTo>
                    <a:pt x="22" y="0"/>
                  </a:lnTo>
                  <a:lnTo>
                    <a:pt x="1" y="5"/>
                  </a:lnTo>
                  <a:lnTo>
                    <a:pt x="5" y="11"/>
                  </a:lnTo>
                  <a:lnTo>
                    <a:pt x="6" y="11"/>
                  </a:lnTo>
                  <a:lnTo>
                    <a:pt x="5" y="13"/>
                  </a:lnTo>
                  <a:lnTo>
                    <a:pt x="6" y="15"/>
                  </a:lnTo>
                  <a:lnTo>
                    <a:pt x="11"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3" name="Freeform 392"/>
            <p:cNvSpPr>
              <a:spLocks/>
            </p:cNvSpPr>
            <p:nvPr/>
          </p:nvSpPr>
          <p:spPr bwMode="auto">
            <a:xfrm>
              <a:off x="554" y="1316"/>
              <a:ext cx="1144" cy="558"/>
            </a:xfrm>
            <a:custGeom>
              <a:avLst/>
              <a:gdLst/>
              <a:ahLst/>
              <a:cxnLst>
                <a:cxn ang="0">
                  <a:pos x="793" y="84"/>
                </a:cxn>
                <a:cxn ang="0">
                  <a:pos x="839" y="34"/>
                </a:cxn>
                <a:cxn ang="0">
                  <a:pos x="756" y="56"/>
                </a:cxn>
                <a:cxn ang="0">
                  <a:pos x="723" y="32"/>
                </a:cxn>
                <a:cxn ang="0">
                  <a:pos x="721" y="2"/>
                </a:cxn>
                <a:cxn ang="0">
                  <a:pos x="709" y="38"/>
                </a:cxn>
                <a:cxn ang="0">
                  <a:pos x="655" y="75"/>
                </a:cxn>
                <a:cxn ang="0">
                  <a:pos x="666" y="55"/>
                </a:cxn>
                <a:cxn ang="0">
                  <a:pos x="627" y="63"/>
                </a:cxn>
                <a:cxn ang="0">
                  <a:pos x="544" y="52"/>
                </a:cxn>
                <a:cxn ang="0">
                  <a:pos x="509" y="64"/>
                </a:cxn>
                <a:cxn ang="0">
                  <a:pos x="437" y="45"/>
                </a:cxn>
                <a:cxn ang="0">
                  <a:pos x="346" y="36"/>
                </a:cxn>
                <a:cxn ang="0">
                  <a:pos x="288" y="28"/>
                </a:cxn>
                <a:cxn ang="0">
                  <a:pos x="124" y="69"/>
                </a:cxn>
                <a:cxn ang="0">
                  <a:pos x="22" y="188"/>
                </a:cxn>
                <a:cxn ang="0">
                  <a:pos x="72" y="254"/>
                </a:cxn>
                <a:cxn ang="0">
                  <a:pos x="47" y="277"/>
                </a:cxn>
                <a:cxn ang="0">
                  <a:pos x="61" y="298"/>
                </a:cxn>
                <a:cxn ang="0">
                  <a:pos x="63" y="321"/>
                </a:cxn>
                <a:cxn ang="0">
                  <a:pos x="37" y="337"/>
                </a:cxn>
                <a:cxn ang="0">
                  <a:pos x="59" y="344"/>
                </a:cxn>
                <a:cxn ang="0">
                  <a:pos x="70" y="358"/>
                </a:cxn>
                <a:cxn ang="0">
                  <a:pos x="75" y="370"/>
                </a:cxn>
                <a:cxn ang="0">
                  <a:pos x="271" y="373"/>
                </a:cxn>
                <a:cxn ang="0">
                  <a:pos x="468" y="367"/>
                </a:cxn>
                <a:cxn ang="0">
                  <a:pos x="582" y="409"/>
                </a:cxn>
                <a:cxn ang="0">
                  <a:pos x="579" y="495"/>
                </a:cxn>
                <a:cxn ang="0">
                  <a:pos x="695" y="457"/>
                </a:cxn>
                <a:cxn ang="0">
                  <a:pos x="820" y="403"/>
                </a:cxn>
                <a:cxn ang="0">
                  <a:pos x="868" y="428"/>
                </a:cxn>
                <a:cxn ang="0">
                  <a:pos x="841" y="451"/>
                </a:cxn>
                <a:cxn ang="0">
                  <a:pos x="913" y="439"/>
                </a:cxn>
                <a:cxn ang="0">
                  <a:pos x="865" y="408"/>
                </a:cxn>
                <a:cxn ang="0">
                  <a:pos x="891" y="378"/>
                </a:cxn>
                <a:cxn ang="0">
                  <a:pos x="809" y="388"/>
                </a:cxn>
                <a:cxn ang="0">
                  <a:pos x="978" y="337"/>
                </a:cxn>
                <a:cxn ang="0">
                  <a:pos x="1031" y="297"/>
                </a:cxn>
                <a:cxn ang="0">
                  <a:pos x="976" y="295"/>
                </a:cxn>
                <a:cxn ang="0">
                  <a:pos x="987" y="272"/>
                </a:cxn>
                <a:cxn ang="0">
                  <a:pos x="981" y="260"/>
                </a:cxn>
                <a:cxn ang="0">
                  <a:pos x="966" y="238"/>
                </a:cxn>
                <a:cxn ang="0">
                  <a:pos x="966" y="218"/>
                </a:cxn>
                <a:cxn ang="0">
                  <a:pos x="965" y="188"/>
                </a:cxn>
                <a:cxn ang="0">
                  <a:pos x="942" y="201"/>
                </a:cxn>
                <a:cxn ang="0">
                  <a:pos x="899" y="219"/>
                </a:cxn>
                <a:cxn ang="0">
                  <a:pos x="893" y="194"/>
                </a:cxn>
                <a:cxn ang="0">
                  <a:pos x="883" y="160"/>
                </a:cxn>
                <a:cxn ang="0">
                  <a:pos x="810" y="163"/>
                </a:cxn>
                <a:cxn ang="0">
                  <a:pos x="772" y="254"/>
                </a:cxn>
                <a:cxn ang="0">
                  <a:pos x="702" y="327"/>
                </a:cxn>
                <a:cxn ang="0">
                  <a:pos x="682" y="284"/>
                </a:cxn>
                <a:cxn ang="0">
                  <a:pos x="599" y="231"/>
                </a:cxn>
                <a:cxn ang="0">
                  <a:pos x="570" y="201"/>
                </a:cxn>
                <a:cxn ang="0">
                  <a:pos x="647" y="140"/>
                </a:cxn>
                <a:cxn ang="0">
                  <a:pos x="685" y="122"/>
                </a:cxn>
                <a:cxn ang="0">
                  <a:pos x="723" y="96"/>
                </a:cxn>
              </a:cxnLst>
              <a:rect l="0" t="0" r="r" b="b"/>
              <a:pathLst>
                <a:path w="1031" h="502">
                  <a:moveTo>
                    <a:pt x="759" y="87"/>
                  </a:moveTo>
                  <a:lnTo>
                    <a:pt x="753" y="81"/>
                  </a:lnTo>
                  <a:lnTo>
                    <a:pt x="769" y="82"/>
                  </a:lnTo>
                  <a:lnTo>
                    <a:pt x="777" y="86"/>
                  </a:lnTo>
                  <a:lnTo>
                    <a:pt x="785" y="85"/>
                  </a:lnTo>
                  <a:lnTo>
                    <a:pt x="779" y="76"/>
                  </a:lnTo>
                  <a:lnTo>
                    <a:pt x="785" y="78"/>
                  </a:lnTo>
                  <a:lnTo>
                    <a:pt x="789" y="79"/>
                  </a:lnTo>
                  <a:lnTo>
                    <a:pt x="793" y="84"/>
                  </a:lnTo>
                  <a:lnTo>
                    <a:pt x="822" y="73"/>
                  </a:lnTo>
                  <a:lnTo>
                    <a:pt x="827" y="66"/>
                  </a:lnTo>
                  <a:lnTo>
                    <a:pt x="826" y="57"/>
                  </a:lnTo>
                  <a:lnTo>
                    <a:pt x="827" y="52"/>
                  </a:lnTo>
                  <a:lnTo>
                    <a:pt x="841" y="48"/>
                  </a:lnTo>
                  <a:lnTo>
                    <a:pt x="833" y="45"/>
                  </a:lnTo>
                  <a:lnTo>
                    <a:pt x="845" y="40"/>
                  </a:lnTo>
                  <a:lnTo>
                    <a:pt x="826" y="36"/>
                  </a:lnTo>
                  <a:lnTo>
                    <a:pt x="839" y="34"/>
                  </a:lnTo>
                  <a:lnTo>
                    <a:pt x="804" y="33"/>
                  </a:lnTo>
                  <a:lnTo>
                    <a:pt x="801" y="42"/>
                  </a:lnTo>
                  <a:lnTo>
                    <a:pt x="802" y="45"/>
                  </a:lnTo>
                  <a:lnTo>
                    <a:pt x="801" y="48"/>
                  </a:lnTo>
                  <a:lnTo>
                    <a:pt x="790" y="48"/>
                  </a:lnTo>
                  <a:lnTo>
                    <a:pt x="763" y="69"/>
                  </a:lnTo>
                  <a:lnTo>
                    <a:pt x="754" y="70"/>
                  </a:lnTo>
                  <a:lnTo>
                    <a:pt x="751" y="58"/>
                  </a:lnTo>
                  <a:lnTo>
                    <a:pt x="756" y="56"/>
                  </a:lnTo>
                  <a:lnTo>
                    <a:pt x="763" y="45"/>
                  </a:lnTo>
                  <a:lnTo>
                    <a:pt x="753" y="40"/>
                  </a:lnTo>
                  <a:lnTo>
                    <a:pt x="731" y="56"/>
                  </a:lnTo>
                  <a:lnTo>
                    <a:pt x="737" y="43"/>
                  </a:lnTo>
                  <a:lnTo>
                    <a:pt x="732" y="39"/>
                  </a:lnTo>
                  <a:lnTo>
                    <a:pt x="744" y="37"/>
                  </a:lnTo>
                  <a:lnTo>
                    <a:pt x="737" y="34"/>
                  </a:lnTo>
                  <a:lnTo>
                    <a:pt x="724" y="33"/>
                  </a:lnTo>
                  <a:lnTo>
                    <a:pt x="723" y="32"/>
                  </a:lnTo>
                  <a:lnTo>
                    <a:pt x="732" y="27"/>
                  </a:lnTo>
                  <a:lnTo>
                    <a:pt x="732" y="25"/>
                  </a:lnTo>
                  <a:lnTo>
                    <a:pt x="738" y="25"/>
                  </a:lnTo>
                  <a:lnTo>
                    <a:pt x="733" y="16"/>
                  </a:lnTo>
                  <a:lnTo>
                    <a:pt x="738" y="7"/>
                  </a:lnTo>
                  <a:lnTo>
                    <a:pt x="731" y="2"/>
                  </a:lnTo>
                  <a:lnTo>
                    <a:pt x="726" y="2"/>
                  </a:lnTo>
                  <a:lnTo>
                    <a:pt x="730" y="0"/>
                  </a:lnTo>
                  <a:lnTo>
                    <a:pt x="721" y="2"/>
                  </a:lnTo>
                  <a:lnTo>
                    <a:pt x="726" y="2"/>
                  </a:lnTo>
                  <a:lnTo>
                    <a:pt x="708" y="6"/>
                  </a:lnTo>
                  <a:lnTo>
                    <a:pt x="711" y="9"/>
                  </a:lnTo>
                  <a:lnTo>
                    <a:pt x="699" y="9"/>
                  </a:lnTo>
                  <a:lnTo>
                    <a:pt x="694" y="19"/>
                  </a:lnTo>
                  <a:lnTo>
                    <a:pt x="696" y="20"/>
                  </a:lnTo>
                  <a:lnTo>
                    <a:pt x="688" y="22"/>
                  </a:lnTo>
                  <a:lnTo>
                    <a:pt x="683" y="31"/>
                  </a:lnTo>
                  <a:lnTo>
                    <a:pt x="709" y="38"/>
                  </a:lnTo>
                  <a:lnTo>
                    <a:pt x="701" y="40"/>
                  </a:lnTo>
                  <a:lnTo>
                    <a:pt x="702" y="38"/>
                  </a:lnTo>
                  <a:lnTo>
                    <a:pt x="696" y="42"/>
                  </a:lnTo>
                  <a:lnTo>
                    <a:pt x="689" y="48"/>
                  </a:lnTo>
                  <a:lnTo>
                    <a:pt x="701" y="44"/>
                  </a:lnTo>
                  <a:lnTo>
                    <a:pt x="695" y="50"/>
                  </a:lnTo>
                  <a:lnTo>
                    <a:pt x="671" y="58"/>
                  </a:lnTo>
                  <a:lnTo>
                    <a:pt x="661" y="69"/>
                  </a:lnTo>
                  <a:lnTo>
                    <a:pt x="655" y="75"/>
                  </a:lnTo>
                  <a:lnTo>
                    <a:pt x="647" y="75"/>
                  </a:lnTo>
                  <a:lnTo>
                    <a:pt x="648" y="79"/>
                  </a:lnTo>
                  <a:lnTo>
                    <a:pt x="647" y="75"/>
                  </a:lnTo>
                  <a:lnTo>
                    <a:pt x="648" y="75"/>
                  </a:lnTo>
                  <a:lnTo>
                    <a:pt x="657" y="74"/>
                  </a:lnTo>
                  <a:lnTo>
                    <a:pt x="653" y="72"/>
                  </a:lnTo>
                  <a:lnTo>
                    <a:pt x="657" y="68"/>
                  </a:lnTo>
                  <a:lnTo>
                    <a:pt x="651" y="69"/>
                  </a:lnTo>
                  <a:lnTo>
                    <a:pt x="666" y="55"/>
                  </a:lnTo>
                  <a:lnTo>
                    <a:pt x="655" y="57"/>
                  </a:lnTo>
                  <a:lnTo>
                    <a:pt x="658" y="55"/>
                  </a:lnTo>
                  <a:lnTo>
                    <a:pt x="645" y="52"/>
                  </a:lnTo>
                  <a:lnTo>
                    <a:pt x="635" y="56"/>
                  </a:lnTo>
                  <a:lnTo>
                    <a:pt x="637" y="61"/>
                  </a:lnTo>
                  <a:lnTo>
                    <a:pt x="646" y="62"/>
                  </a:lnTo>
                  <a:lnTo>
                    <a:pt x="634" y="63"/>
                  </a:lnTo>
                  <a:lnTo>
                    <a:pt x="630" y="58"/>
                  </a:lnTo>
                  <a:lnTo>
                    <a:pt x="627" y="63"/>
                  </a:lnTo>
                  <a:lnTo>
                    <a:pt x="603" y="62"/>
                  </a:lnTo>
                  <a:lnTo>
                    <a:pt x="580" y="62"/>
                  </a:lnTo>
                  <a:lnTo>
                    <a:pt x="573" y="58"/>
                  </a:lnTo>
                  <a:lnTo>
                    <a:pt x="563" y="57"/>
                  </a:lnTo>
                  <a:lnTo>
                    <a:pt x="559" y="51"/>
                  </a:lnTo>
                  <a:lnTo>
                    <a:pt x="556" y="45"/>
                  </a:lnTo>
                  <a:lnTo>
                    <a:pt x="519" y="54"/>
                  </a:lnTo>
                  <a:lnTo>
                    <a:pt x="526" y="56"/>
                  </a:lnTo>
                  <a:lnTo>
                    <a:pt x="544" y="52"/>
                  </a:lnTo>
                  <a:lnTo>
                    <a:pt x="556" y="51"/>
                  </a:lnTo>
                  <a:lnTo>
                    <a:pt x="533" y="58"/>
                  </a:lnTo>
                  <a:lnTo>
                    <a:pt x="522" y="60"/>
                  </a:lnTo>
                  <a:lnTo>
                    <a:pt x="515" y="78"/>
                  </a:lnTo>
                  <a:lnTo>
                    <a:pt x="510" y="74"/>
                  </a:lnTo>
                  <a:lnTo>
                    <a:pt x="508" y="85"/>
                  </a:lnTo>
                  <a:lnTo>
                    <a:pt x="503" y="73"/>
                  </a:lnTo>
                  <a:lnTo>
                    <a:pt x="511" y="73"/>
                  </a:lnTo>
                  <a:lnTo>
                    <a:pt x="509" y="64"/>
                  </a:lnTo>
                  <a:lnTo>
                    <a:pt x="502" y="68"/>
                  </a:lnTo>
                  <a:lnTo>
                    <a:pt x="502" y="63"/>
                  </a:lnTo>
                  <a:lnTo>
                    <a:pt x="493" y="60"/>
                  </a:lnTo>
                  <a:lnTo>
                    <a:pt x="449" y="64"/>
                  </a:lnTo>
                  <a:lnTo>
                    <a:pt x="432" y="60"/>
                  </a:lnTo>
                  <a:lnTo>
                    <a:pt x="450" y="55"/>
                  </a:lnTo>
                  <a:lnTo>
                    <a:pt x="456" y="54"/>
                  </a:lnTo>
                  <a:lnTo>
                    <a:pt x="444" y="44"/>
                  </a:lnTo>
                  <a:lnTo>
                    <a:pt x="437" y="45"/>
                  </a:lnTo>
                  <a:lnTo>
                    <a:pt x="406" y="38"/>
                  </a:lnTo>
                  <a:lnTo>
                    <a:pt x="377" y="31"/>
                  </a:lnTo>
                  <a:lnTo>
                    <a:pt x="360" y="38"/>
                  </a:lnTo>
                  <a:lnTo>
                    <a:pt x="354" y="37"/>
                  </a:lnTo>
                  <a:lnTo>
                    <a:pt x="359" y="33"/>
                  </a:lnTo>
                  <a:lnTo>
                    <a:pt x="363" y="26"/>
                  </a:lnTo>
                  <a:lnTo>
                    <a:pt x="358" y="28"/>
                  </a:lnTo>
                  <a:lnTo>
                    <a:pt x="353" y="33"/>
                  </a:lnTo>
                  <a:lnTo>
                    <a:pt x="346" y="36"/>
                  </a:lnTo>
                  <a:lnTo>
                    <a:pt x="340" y="39"/>
                  </a:lnTo>
                  <a:lnTo>
                    <a:pt x="335" y="28"/>
                  </a:lnTo>
                  <a:lnTo>
                    <a:pt x="330" y="21"/>
                  </a:lnTo>
                  <a:lnTo>
                    <a:pt x="331" y="25"/>
                  </a:lnTo>
                  <a:lnTo>
                    <a:pt x="306" y="33"/>
                  </a:lnTo>
                  <a:lnTo>
                    <a:pt x="307" y="31"/>
                  </a:lnTo>
                  <a:lnTo>
                    <a:pt x="281" y="34"/>
                  </a:lnTo>
                  <a:lnTo>
                    <a:pt x="307" y="26"/>
                  </a:lnTo>
                  <a:lnTo>
                    <a:pt x="288" y="28"/>
                  </a:lnTo>
                  <a:lnTo>
                    <a:pt x="259" y="36"/>
                  </a:lnTo>
                  <a:lnTo>
                    <a:pt x="229" y="44"/>
                  </a:lnTo>
                  <a:lnTo>
                    <a:pt x="226" y="48"/>
                  </a:lnTo>
                  <a:lnTo>
                    <a:pt x="216" y="46"/>
                  </a:lnTo>
                  <a:lnTo>
                    <a:pt x="214" y="49"/>
                  </a:lnTo>
                  <a:lnTo>
                    <a:pt x="190" y="42"/>
                  </a:lnTo>
                  <a:lnTo>
                    <a:pt x="167" y="33"/>
                  </a:lnTo>
                  <a:lnTo>
                    <a:pt x="145" y="51"/>
                  </a:lnTo>
                  <a:lnTo>
                    <a:pt x="124" y="69"/>
                  </a:lnTo>
                  <a:lnTo>
                    <a:pt x="102" y="87"/>
                  </a:lnTo>
                  <a:lnTo>
                    <a:pt x="81" y="105"/>
                  </a:lnTo>
                  <a:lnTo>
                    <a:pt x="61" y="124"/>
                  </a:lnTo>
                  <a:lnTo>
                    <a:pt x="41" y="144"/>
                  </a:lnTo>
                  <a:lnTo>
                    <a:pt x="21" y="163"/>
                  </a:lnTo>
                  <a:lnTo>
                    <a:pt x="0" y="181"/>
                  </a:lnTo>
                  <a:lnTo>
                    <a:pt x="25" y="181"/>
                  </a:lnTo>
                  <a:lnTo>
                    <a:pt x="19" y="184"/>
                  </a:lnTo>
                  <a:lnTo>
                    <a:pt x="22" y="188"/>
                  </a:lnTo>
                  <a:lnTo>
                    <a:pt x="22" y="205"/>
                  </a:lnTo>
                  <a:lnTo>
                    <a:pt x="34" y="200"/>
                  </a:lnTo>
                  <a:lnTo>
                    <a:pt x="43" y="195"/>
                  </a:lnTo>
                  <a:lnTo>
                    <a:pt x="61" y="189"/>
                  </a:lnTo>
                  <a:lnTo>
                    <a:pt x="66" y="207"/>
                  </a:lnTo>
                  <a:lnTo>
                    <a:pt x="63" y="223"/>
                  </a:lnTo>
                  <a:lnTo>
                    <a:pt x="59" y="238"/>
                  </a:lnTo>
                  <a:lnTo>
                    <a:pt x="66" y="247"/>
                  </a:lnTo>
                  <a:lnTo>
                    <a:pt x="72" y="254"/>
                  </a:lnTo>
                  <a:lnTo>
                    <a:pt x="58" y="270"/>
                  </a:lnTo>
                  <a:lnTo>
                    <a:pt x="71" y="259"/>
                  </a:lnTo>
                  <a:lnTo>
                    <a:pt x="71" y="262"/>
                  </a:lnTo>
                  <a:lnTo>
                    <a:pt x="59" y="270"/>
                  </a:lnTo>
                  <a:lnTo>
                    <a:pt x="61" y="270"/>
                  </a:lnTo>
                  <a:lnTo>
                    <a:pt x="54" y="276"/>
                  </a:lnTo>
                  <a:lnTo>
                    <a:pt x="49" y="276"/>
                  </a:lnTo>
                  <a:lnTo>
                    <a:pt x="49" y="282"/>
                  </a:lnTo>
                  <a:lnTo>
                    <a:pt x="47" y="277"/>
                  </a:lnTo>
                  <a:lnTo>
                    <a:pt x="46" y="284"/>
                  </a:lnTo>
                  <a:lnTo>
                    <a:pt x="53" y="284"/>
                  </a:lnTo>
                  <a:lnTo>
                    <a:pt x="48" y="284"/>
                  </a:lnTo>
                  <a:lnTo>
                    <a:pt x="48" y="288"/>
                  </a:lnTo>
                  <a:lnTo>
                    <a:pt x="45" y="285"/>
                  </a:lnTo>
                  <a:lnTo>
                    <a:pt x="47" y="297"/>
                  </a:lnTo>
                  <a:lnTo>
                    <a:pt x="65" y="286"/>
                  </a:lnTo>
                  <a:lnTo>
                    <a:pt x="58" y="296"/>
                  </a:lnTo>
                  <a:lnTo>
                    <a:pt x="61" y="298"/>
                  </a:lnTo>
                  <a:lnTo>
                    <a:pt x="54" y="296"/>
                  </a:lnTo>
                  <a:lnTo>
                    <a:pt x="52" y="307"/>
                  </a:lnTo>
                  <a:lnTo>
                    <a:pt x="55" y="306"/>
                  </a:lnTo>
                  <a:lnTo>
                    <a:pt x="45" y="316"/>
                  </a:lnTo>
                  <a:lnTo>
                    <a:pt x="51" y="313"/>
                  </a:lnTo>
                  <a:lnTo>
                    <a:pt x="49" y="318"/>
                  </a:lnTo>
                  <a:lnTo>
                    <a:pt x="70" y="307"/>
                  </a:lnTo>
                  <a:lnTo>
                    <a:pt x="64" y="315"/>
                  </a:lnTo>
                  <a:lnTo>
                    <a:pt x="63" y="321"/>
                  </a:lnTo>
                  <a:lnTo>
                    <a:pt x="60" y="315"/>
                  </a:lnTo>
                  <a:lnTo>
                    <a:pt x="45" y="325"/>
                  </a:lnTo>
                  <a:lnTo>
                    <a:pt x="45" y="328"/>
                  </a:lnTo>
                  <a:lnTo>
                    <a:pt x="49" y="326"/>
                  </a:lnTo>
                  <a:lnTo>
                    <a:pt x="59" y="327"/>
                  </a:lnTo>
                  <a:lnTo>
                    <a:pt x="43" y="331"/>
                  </a:lnTo>
                  <a:lnTo>
                    <a:pt x="40" y="332"/>
                  </a:lnTo>
                  <a:lnTo>
                    <a:pt x="46" y="333"/>
                  </a:lnTo>
                  <a:lnTo>
                    <a:pt x="37" y="337"/>
                  </a:lnTo>
                  <a:lnTo>
                    <a:pt x="48" y="340"/>
                  </a:lnTo>
                  <a:lnTo>
                    <a:pt x="52" y="338"/>
                  </a:lnTo>
                  <a:lnTo>
                    <a:pt x="55" y="339"/>
                  </a:lnTo>
                  <a:lnTo>
                    <a:pt x="51" y="342"/>
                  </a:lnTo>
                  <a:lnTo>
                    <a:pt x="57" y="342"/>
                  </a:lnTo>
                  <a:lnTo>
                    <a:pt x="52" y="344"/>
                  </a:lnTo>
                  <a:lnTo>
                    <a:pt x="64" y="340"/>
                  </a:lnTo>
                  <a:lnTo>
                    <a:pt x="66" y="338"/>
                  </a:lnTo>
                  <a:lnTo>
                    <a:pt x="59" y="344"/>
                  </a:lnTo>
                  <a:lnTo>
                    <a:pt x="53" y="344"/>
                  </a:lnTo>
                  <a:lnTo>
                    <a:pt x="52" y="348"/>
                  </a:lnTo>
                  <a:lnTo>
                    <a:pt x="61" y="344"/>
                  </a:lnTo>
                  <a:lnTo>
                    <a:pt x="61" y="348"/>
                  </a:lnTo>
                  <a:lnTo>
                    <a:pt x="71" y="342"/>
                  </a:lnTo>
                  <a:lnTo>
                    <a:pt x="66" y="350"/>
                  </a:lnTo>
                  <a:lnTo>
                    <a:pt x="76" y="346"/>
                  </a:lnTo>
                  <a:lnTo>
                    <a:pt x="63" y="355"/>
                  </a:lnTo>
                  <a:lnTo>
                    <a:pt x="70" y="358"/>
                  </a:lnTo>
                  <a:lnTo>
                    <a:pt x="77" y="351"/>
                  </a:lnTo>
                  <a:lnTo>
                    <a:pt x="72" y="362"/>
                  </a:lnTo>
                  <a:lnTo>
                    <a:pt x="75" y="362"/>
                  </a:lnTo>
                  <a:lnTo>
                    <a:pt x="69" y="362"/>
                  </a:lnTo>
                  <a:lnTo>
                    <a:pt x="75" y="364"/>
                  </a:lnTo>
                  <a:lnTo>
                    <a:pt x="81" y="362"/>
                  </a:lnTo>
                  <a:lnTo>
                    <a:pt x="76" y="367"/>
                  </a:lnTo>
                  <a:lnTo>
                    <a:pt x="81" y="368"/>
                  </a:lnTo>
                  <a:lnTo>
                    <a:pt x="75" y="370"/>
                  </a:lnTo>
                  <a:lnTo>
                    <a:pt x="79" y="373"/>
                  </a:lnTo>
                  <a:lnTo>
                    <a:pt x="103" y="373"/>
                  </a:lnTo>
                  <a:lnTo>
                    <a:pt x="127" y="373"/>
                  </a:lnTo>
                  <a:lnTo>
                    <a:pt x="151" y="373"/>
                  </a:lnTo>
                  <a:lnTo>
                    <a:pt x="175" y="373"/>
                  </a:lnTo>
                  <a:lnTo>
                    <a:pt x="199" y="373"/>
                  </a:lnTo>
                  <a:lnTo>
                    <a:pt x="223" y="373"/>
                  </a:lnTo>
                  <a:lnTo>
                    <a:pt x="247" y="373"/>
                  </a:lnTo>
                  <a:lnTo>
                    <a:pt x="271" y="373"/>
                  </a:lnTo>
                  <a:lnTo>
                    <a:pt x="295" y="373"/>
                  </a:lnTo>
                  <a:lnTo>
                    <a:pt x="319" y="373"/>
                  </a:lnTo>
                  <a:lnTo>
                    <a:pt x="342" y="373"/>
                  </a:lnTo>
                  <a:lnTo>
                    <a:pt x="366" y="373"/>
                  </a:lnTo>
                  <a:lnTo>
                    <a:pt x="390" y="373"/>
                  </a:lnTo>
                  <a:lnTo>
                    <a:pt x="414" y="373"/>
                  </a:lnTo>
                  <a:lnTo>
                    <a:pt x="438" y="373"/>
                  </a:lnTo>
                  <a:lnTo>
                    <a:pt x="462" y="373"/>
                  </a:lnTo>
                  <a:lnTo>
                    <a:pt x="468" y="367"/>
                  </a:lnTo>
                  <a:lnTo>
                    <a:pt x="467" y="376"/>
                  </a:lnTo>
                  <a:lnTo>
                    <a:pt x="483" y="380"/>
                  </a:lnTo>
                  <a:lnTo>
                    <a:pt x="503" y="388"/>
                  </a:lnTo>
                  <a:lnTo>
                    <a:pt x="515" y="386"/>
                  </a:lnTo>
                  <a:lnTo>
                    <a:pt x="527" y="391"/>
                  </a:lnTo>
                  <a:lnTo>
                    <a:pt x="546" y="386"/>
                  </a:lnTo>
                  <a:lnTo>
                    <a:pt x="558" y="394"/>
                  </a:lnTo>
                  <a:lnTo>
                    <a:pt x="570" y="402"/>
                  </a:lnTo>
                  <a:lnTo>
                    <a:pt x="582" y="409"/>
                  </a:lnTo>
                  <a:lnTo>
                    <a:pt x="594" y="417"/>
                  </a:lnTo>
                  <a:lnTo>
                    <a:pt x="595" y="424"/>
                  </a:lnTo>
                  <a:lnTo>
                    <a:pt x="600" y="423"/>
                  </a:lnTo>
                  <a:lnTo>
                    <a:pt x="599" y="428"/>
                  </a:lnTo>
                  <a:lnTo>
                    <a:pt x="610" y="436"/>
                  </a:lnTo>
                  <a:lnTo>
                    <a:pt x="606" y="452"/>
                  </a:lnTo>
                  <a:lnTo>
                    <a:pt x="604" y="469"/>
                  </a:lnTo>
                  <a:lnTo>
                    <a:pt x="597" y="478"/>
                  </a:lnTo>
                  <a:lnTo>
                    <a:pt x="579" y="495"/>
                  </a:lnTo>
                  <a:lnTo>
                    <a:pt x="583" y="502"/>
                  </a:lnTo>
                  <a:lnTo>
                    <a:pt x="599" y="496"/>
                  </a:lnTo>
                  <a:lnTo>
                    <a:pt x="613" y="492"/>
                  </a:lnTo>
                  <a:lnTo>
                    <a:pt x="629" y="487"/>
                  </a:lnTo>
                  <a:lnTo>
                    <a:pt x="645" y="482"/>
                  </a:lnTo>
                  <a:lnTo>
                    <a:pt x="646" y="470"/>
                  </a:lnTo>
                  <a:lnTo>
                    <a:pt x="663" y="469"/>
                  </a:lnTo>
                  <a:lnTo>
                    <a:pt x="681" y="468"/>
                  </a:lnTo>
                  <a:lnTo>
                    <a:pt x="695" y="457"/>
                  </a:lnTo>
                  <a:lnTo>
                    <a:pt x="709" y="446"/>
                  </a:lnTo>
                  <a:lnTo>
                    <a:pt x="737" y="445"/>
                  </a:lnTo>
                  <a:lnTo>
                    <a:pt x="765" y="442"/>
                  </a:lnTo>
                  <a:lnTo>
                    <a:pt x="774" y="436"/>
                  </a:lnTo>
                  <a:lnTo>
                    <a:pt x="787" y="426"/>
                  </a:lnTo>
                  <a:lnTo>
                    <a:pt x="799" y="412"/>
                  </a:lnTo>
                  <a:lnTo>
                    <a:pt x="813" y="400"/>
                  </a:lnTo>
                  <a:lnTo>
                    <a:pt x="814" y="403"/>
                  </a:lnTo>
                  <a:lnTo>
                    <a:pt x="820" y="403"/>
                  </a:lnTo>
                  <a:lnTo>
                    <a:pt x="829" y="406"/>
                  </a:lnTo>
                  <a:lnTo>
                    <a:pt x="823" y="428"/>
                  </a:lnTo>
                  <a:lnTo>
                    <a:pt x="827" y="440"/>
                  </a:lnTo>
                  <a:lnTo>
                    <a:pt x="831" y="442"/>
                  </a:lnTo>
                  <a:lnTo>
                    <a:pt x="844" y="436"/>
                  </a:lnTo>
                  <a:lnTo>
                    <a:pt x="843" y="438"/>
                  </a:lnTo>
                  <a:lnTo>
                    <a:pt x="863" y="432"/>
                  </a:lnTo>
                  <a:lnTo>
                    <a:pt x="867" y="424"/>
                  </a:lnTo>
                  <a:lnTo>
                    <a:pt x="868" y="428"/>
                  </a:lnTo>
                  <a:lnTo>
                    <a:pt x="871" y="428"/>
                  </a:lnTo>
                  <a:lnTo>
                    <a:pt x="861" y="435"/>
                  </a:lnTo>
                  <a:lnTo>
                    <a:pt x="882" y="436"/>
                  </a:lnTo>
                  <a:lnTo>
                    <a:pt x="869" y="441"/>
                  </a:lnTo>
                  <a:lnTo>
                    <a:pt x="868" y="438"/>
                  </a:lnTo>
                  <a:lnTo>
                    <a:pt x="846" y="448"/>
                  </a:lnTo>
                  <a:lnTo>
                    <a:pt x="850" y="447"/>
                  </a:lnTo>
                  <a:lnTo>
                    <a:pt x="837" y="453"/>
                  </a:lnTo>
                  <a:lnTo>
                    <a:pt x="841" y="451"/>
                  </a:lnTo>
                  <a:lnTo>
                    <a:pt x="834" y="459"/>
                  </a:lnTo>
                  <a:lnTo>
                    <a:pt x="839" y="469"/>
                  </a:lnTo>
                  <a:lnTo>
                    <a:pt x="847" y="466"/>
                  </a:lnTo>
                  <a:lnTo>
                    <a:pt x="868" y="450"/>
                  </a:lnTo>
                  <a:lnTo>
                    <a:pt x="870" y="452"/>
                  </a:lnTo>
                  <a:lnTo>
                    <a:pt x="875" y="450"/>
                  </a:lnTo>
                  <a:lnTo>
                    <a:pt x="877" y="451"/>
                  </a:lnTo>
                  <a:lnTo>
                    <a:pt x="895" y="445"/>
                  </a:lnTo>
                  <a:lnTo>
                    <a:pt x="913" y="439"/>
                  </a:lnTo>
                  <a:lnTo>
                    <a:pt x="909" y="436"/>
                  </a:lnTo>
                  <a:lnTo>
                    <a:pt x="913" y="435"/>
                  </a:lnTo>
                  <a:lnTo>
                    <a:pt x="906" y="428"/>
                  </a:lnTo>
                  <a:lnTo>
                    <a:pt x="900" y="430"/>
                  </a:lnTo>
                  <a:lnTo>
                    <a:pt x="888" y="429"/>
                  </a:lnTo>
                  <a:lnTo>
                    <a:pt x="879" y="424"/>
                  </a:lnTo>
                  <a:lnTo>
                    <a:pt x="871" y="422"/>
                  </a:lnTo>
                  <a:lnTo>
                    <a:pt x="871" y="409"/>
                  </a:lnTo>
                  <a:lnTo>
                    <a:pt x="865" y="408"/>
                  </a:lnTo>
                  <a:lnTo>
                    <a:pt x="876" y="396"/>
                  </a:lnTo>
                  <a:lnTo>
                    <a:pt x="864" y="397"/>
                  </a:lnTo>
                  <a:lnTo>
                    <a:pt x="863" y="393"/>
                  </a:lnTo>
                  <a:lnTo>
                    <a:pt x="850" y="391"/>
                  </a:lnTo>
                  <a:lnTo>
                    <a:pt x="853" y="390"/>
                  </a:lnTo>
                  <a:lnTo>
                    <a:pt x="868" y="390"/>
                  </a:lnTo>
                  <a:lnTo>
                    <a:pt x="886" y="384"/>
                  </a:lnTo>
                  <a:lnTo>
                    <a:pt x="887" y="378"/>
                  </a:lnTo>
                  <a:lnTo>
                    <a:pt x="891" y="378"/>
                  </a:lnTo>
                  <a:lnTo>
                    <a:pt x="889" y="374"/>
                  </a:lnTo>
                  <a:lnTo>
                    <a:pt x="874" y="368"/>
                  </a:lnTo>
                  <a:lnTo>
                    <a:pt x="853" y="374"/>
                  </a:lnTo>
                  <a:lnTo>
                    <a:pt x="833" y="380"/>
                  </a:lnTo>
                  <a:lnTo>
                    <a:pt x="819" y="390"/>
                  </a:lnTo>
                  <a:lnTo>
                    <a:pt x="803" y="399"/>
                  </a:lnTo>
                  <a:lnTo>
                    <a:pt x="781" y="411"/>
                  </a:lnTo>
                  <a:lnTo>
                    <a:pt x="796" y="399"/>
                  </a:lnTo>
                  <a:lnTo>
                    <a:pt x="809" y="388"/>
                  </a:lnTo>
                  <a:lnTo>
                    <a:pt x="793" y="382"/>
                  </a:lnTo>
                  <a:lnTo>
                    <a:pt x="808" y="388"/>
                  </a:lnTo>
                  <a:lnTo>
                    <a:pt x="828" y="374"/>
                  </a:lnTo>
                  <a:lnTo>
                    <a:pt x="850" y="367"/>
                  </a:lnTo>
                  <a:lnTo>
                    <a:pt x="865" y="352"/>
                  </a:lnTo>
                  <a:lnTo>
                    <a:pt x="895" y="352"/>
                  </a:lnTo>
                  <a:lnTo>
                    <a:pt x="925" y="351"/>
                  </a:lnTo>
                  <a:lnTo>
                    <a:pt x="953" y="351"/>
                  </a:lnTo>
                  <a:lnTo>
                    <a:pt x="978" y="337"/>
                  </a:lnTo>
                  <a:lnTo>
                    <a:pt x="1002" y="331"/>
                  </a:lnTo>
                  <a:lnTo>
                    <a:pt x="1029" y="318"/>
                  </a:lnTo>
                  <a:lnTo>
                    <a:pt x="1021" y="314"/>
                  </a:lnTo>
                  <a:lnTo>
                    <a:pt x="1029" y="313"/>
                  </a:lnTo>
                  <a:lnTo>
                    <a:pt x="1019" y="310"/>
                  </a:lnTo>
                  <a:lnTo>
                    <a:pt x="1026" y="309"/>
                  </a:lnTo>
                  <a:lnTo>
                    <a:pt x="1026" y="307"/>
                  </a:lnTo>
                  <a:lnTo>
                    <a:pt x="1029" y="302"/>
                  </a:lnTo>
                  <a:lnTo>
                    <a:pt x="1031" y="297"/>
                  </a:lnTo>
                  <a:lnTo>
                    <a:pt x="1021" y="292"/>
                  </a:lnTo>
                  <a:lnTo>
                    <a:pt x="1023" y="291"/>
                  </a:lnTo>
                  <a:lnTo>
                    <a:pt x="1013" y="294"/>
                  </a:lnTo>
                  <a:lnTo>
                    <a:pt x="1015" y="284"/>
                  </a:lnTo>
                  <a:lnTo>
                    <a:pt x="1003" y="285"/>
                  </a:lnTo>
                  <a:lnTo>
                    <a:pt x="1009" y="285"/>
                  </a:lnTo>
                  <a:lnTo>
                    <a:pt x="988" y="292"/>
                  </a:lnTo>
                  <a:lnTo>
                    <a:pt x="970" y="298"/>
                  </a:lnTo>
                  <a:lnTo>
                    <a:pt x="976" y="295"/>
                  </a:lnTo>
                  <a:lnTo>
                    <a:pt x="969" y="291"/>
                  </a:lnTo>
                  <a:lnTo>
                    <a:pt x="978" y="292"/>
                  </a:lnTo>
                  <a:lnTo>
                    <a:pt x="1003" y="283"/>
                  </a:lnTo>
                  <a:lnTo>
                    <a:pt x="987" y="286"/>
                  </a:lnTo>
                  <a:lnTo>
                    <a:pt x="1018" y="277"/>
                  </a:lnTo>
                  <a:lnTo>
                    <a:pt x="999" y="270"/>
                  </a:lnTo>
                  <a:lnTo>
                    <a:pt x="994" y="270"/>
                  </a:lnTo>
                  <a:lnTo>
                    <a:pt x="999" y="266"/>
                  </a:lnTo>
                  <a:lnTo>
                    <a:pt x="987" y="272"/>
                  </a:lnTo>
                  <a:lnTo>
                    <a:pt x="993" y="267"/>
                  </a:lnTo>
                  <a:lnTo>
                    <a:pt x="991" y="266"/>
                  </a:lnTo>
                  <a:lnTo>
                    <a:pt x="984" y="268"/>
                  </a:lnTo>
                  <a:lnTo>
                    <a:pt x="987" y="265"/>
                  </a:lnTo>
                  <a:lnTo>
                    <a:pt x="978" y="268"/>
                  </a:lnTo>
                  <a:lnTo>
                    <a:pt x="982" y="266"/>
                  </a:lnTo>
                  <a:lnTo>
                    <a:pt x="984" y="262"/>
                  </a:lnTo>
                  <a:lnTo>
                    <a:pt x="985" y="256"/>
                  </a:lnTo>
                  <a:lnTo>
                    <a:pt x="981" y="260"/>
                  </a:lnTo>
                  <a:lnTo>
                    <a:pt x="982" y="258"/>
                  </a:lnTo>
                  <a:lnTo>
                    <a:pt x="976" y="250"/>
                  </a:lnTo>
                  <a:lnTo>
                    <a:pt x="967" y="248"/>
                  </a:lnTo>
                  <a:lnTo>
                    <a:pt x="975" y="248"/>
                  </a:lnTo>
                  <a:lnTo>
                    <a:pt x="970" y="244"/>
                  </a:lnTo>
                  <a:lnTo>
                    <a:pt x="973" y="243"/>
                  </a:lnTo>
                  <a:lnTo>
                    <a:pt x="969" y="242"/>
                  </a:lnTo>
                  <a:lnTo>
                    <a:pt x="972" y="242"/>
                  </a:lnTo>
                  <a:lnTo>
                    <a:pt x="966" y="238"/>
                  </a:lnTo>
                  <a:lnTo>
                    <a:pt x="969" y="238"/>
                  </a:lnTo>
                  <a:lnTo>
                    <a:pt x="973" y="241"/>
                  </a:lnTo>
                  <a:lnTo>
                    <a:pt x="983" y="235"/>
                  </a:lnTo>
                  <a:lnTo>
                    <a:pt x="978" y="230"/>
                  </a:lnTo>
                  <a:lnTo>
                    <a:pt x="975" y="228"/>
                  </a:lnTo>
                  <a:lnTo>
                    <a:pt x="979" y="223"/>
                  </a:lnTo>
                  <a:lnTo>
                    <a:pt x="975" y="219"/>
                  </a:lnTo>
                  <a:lnTo>
                    <a:pt x="973" y="217"/>
                  </a:lnTo>
                  <a:lnTo>
                    <a:pt x="966" y="218"/>
                  </a:lnTo>
                  <a:lnTo>
                    <a:pt x="976" y="214"/>
                  </a:lnTo>
                  <a:lnTo>
                    <a:pt x="975" y="211"/>
                  </a:lnTo>
                  <a:lnTo>
                    <a:pt x="963" y="214"/>
                  </a:lnTo>
                  <a:lnTo>
                    <a:pt x="976" y="206"/>
                  </a:lnTo>
                  <a:lnTo>
                    <a:pt x="971" y="202"/>
                  </a:lnTo>
                  <a:lnTo>
                    <a:pt x="966" y="202"/>
                  </a:lnTo>
                  <a:lnTo>
                    <a:pt x="971" y="198"/>
                  </a:lnTo>
                  <a:lnTo>
                    <a:pt x="969" y="195"/>
                  </a:lnTo>
                  <a:lnTo>
                    <a:pt x="965" y="188"/>
                  </a:lnTo>
                  <a:lnTo>
                    <a:pt x="965" y="184"/>
                  </a:lnTo>
                  <a:lnTo>
                    <a:pt x="960" y="186"/>
                  </a:lnTo>
                  <a:lnTo>
                    <a:pt x="964" y="182"/>
                  </a:lnTo>
                  <a:lnTo>
                    <a:pt x="955" y="186"/>
                  </a:lnTo>
                  <a:lnTo>
                    <a:pt x="955" y="190"/>
                  </a:lnTo>
                  <a:lnTo>
                    <a:pt x="948" y="190"/>
                  </a:lnTo>
                  <a:lnTo>
                    <a:pt x="952" y="195"/>
                  </a:lnTo>
                  <a:lnTo>
                    <a:pt x="947" y="198"/>
                  </a:lnTo>
                  <a:lnTo>
                    <a:pt x="942" y="201"/>
                  </a:lnTo>
                  <a:lnTo>
                    <a:pt x="935" y="208"/>
                  </a:lnTo>
                  <a:lnTo>
                    <a:pt x="933" y="213"/>
                  </a:lnTo>
                  <a:lnTo>
                    <a:pt x="930" y="206"/>
                  </a:lnTo>
                  <a:lnTo>
                    <a:pt x="917" y="213"/>
                  </a:lnTo>
                  <a:lnTo>
                    <a:pt x="907" y="220"/>
                  </a:lnTo>
                  <a:lnTo>
                    <a:pt x="909" y="214"/>
                  </a:lnTo>
                  <a:lnTo>
                    <a:pt x="904" y="217"/>
                  </a:lnTo>
                  <a:lnTo>
                    <a:pt x="906" y="211"/>
                  </a:lnTo>
                  <a:lnTo>
                    <a:pt x="899" y="219"/>
                  </a:lnTo>
                  <a:lnTo>
                    <a:pt x="885" y="223"/>
                  </a:lnTo>
                  <a:lnTo>
                    <a:pt x="904" y="214"/>
                  </a:lnTo>
                  <a:lnTo>
                    <a:pt x="901" y="204"/>
                  </a:lnTo>
                  <a:lnTo>
                    <a:pt x="885" y="207"/>
                  </a:lnTo>
                  <a:lnTo>
                    <a:pt x="881" y="207"/>
                  </a:lnTo>
                  <a:lnTo>
                    <a:pt x="887" y="204"/>
                  </a:lnTo>
                  <a:lnTo>
                    <a:pt x="892" y="205"/>
                  </a:lnTo>
                  <a:lnTo>
                    <a:pt x="897" y="196"/>
                  </a:lnTo>
                  <a:lnTo>
                    <a:pt x="893" y="194"/>
                  </a:lnTo>
                  <a:lnTo>
                    <a:pt x="898" y="187"/>
                  </a:lnTo>
                  <a:lnTo>
                    <a:pt x="882" y="184"/>
                  </a:lnTo>
                  <a:lnTo>
                    <a:pt x="901" y="183"/>
                  </a:lnTo>
                  <a:lnTo>
                    <a:pt x="904" y="175"/>
                  </a:lnTo>
                  <a:lnTo>
                    <a:pt x="906" y="171"/>
                  </a:lnTo>
                  <a:lnTo>
                    <a:pt x="901" y="171"/>
                  </a:lnTo>
                  <a:lnTo>
                    <a:pt x="883" y="164"/>
                  </a:lnTo>
                  <a:lnTo>
                    <a:pt x="888" y="159"/>
                  </a:lnTo>
                  <a:lnTo>
                    <a:pt x="883" y="160"/>
                  </a:lnTo>
                  <a:lnTo>
                    <a:pt x="879" y="154"/>
                  </a:lnTo>
                  <a:lnTo>
                    <a:pt x="880" y="152"/>
                  </a:lnTo>
                  <a:lnTo>
                    <a:pt x="868" y="146"/>
                  </a:lnTo>
                  <a:lnTo>
                    <a:pt x="853" y="151"/>
                  </a:lnTo>
                  <a:lnTo>
                    <a:pt x="839" y="151"/>
                  </a:lnTo>
                  <a:lnTo>
                    <a:pt x="844" y="150"/>
                  </a:lnTo>
                  <a:lnTo>
                    <a:pt x="820" y="146"/>
                  </a:lnTo>
                  <a:lnTo>
                    <a:pt x="809" y="158"/>
                  </a:lnTo>
                  <a:lnTo>
                    <a:pt x="810" y="163"/>
                  </a:lnTo>
                  <a:lnTo>
                    <a:pt x="802" y="174"/>
                  </a:lnTo>
                  <a:lnTo>
                    <a:pt x="805" y="174"/>
                  </a:lnTo>
                  <a:lnTo>
                    <a:pt x="802" y="186"/>
                  </a:lnTo>
                  <a:lnTo>
                    <a:pt x="796" y="192"/>
                  </a:lnTo>
                  <a:lnTo>
                    <a:pt x="793" y="193"/>
                  </a:lnTo>
                  <a:lnTo>
                    <a:pt x="773" y="210"/>
                  </a:lnTo>
                  <a:lnTo>
                    <a:pt x="787" y="225"/>
                  </a:lnTo>
                  <a:lnTo>
                    <a:pt x="779" y="240"/>
                  </a:lnTo>
                  <a:lnTo>
                    <a:pt x="772" y="254"/>
                  </a:lnTo>
                  <a:lnTo>
                    <a:pt x="753" y="264"/>
                  </a:lnTo>
                  <a:lnTo>
                    <a:pt x="733" y="272"/>
                  </a:lnTo>
                  <a:lnTo>
                    <a:pt x="724" y="276"/>
                  </a:lnTo>
                  <a:lnTo>
                    <a:pt x="725" y="288"/>
                  </a:lnTo>
                  <a:lnTo>
                    <a:pt x="720" y="312"/>
                  </a:lnTo>
                  <a:lnTo>
                    <a:pt x="713" y="321"/>
                  </a:lnTo>
                  <a:lnTo>
                    <a:pt x="708" y="330"/>
                  </a:lnTo>
                  <a:lnTo>
                    <a:pt x="705" y="333"/>
                  </a:lnTo>
                  <a:lnTo>
                    <a:pt x="702" y="327"/>
                  </a:lnTo>
                  <a:lnTo>
                    <a:pt x="693" y="338"/>
                  </a:lnTo>
                  <a:lnTo>
                    <a:pt x="695" y="343"/>
                  </a:lnTo>
                  <a:lnTo>
                    <a:pt x="685" y="332"/>
                  </a:lnTo>
                  <a:lnTo>
                    <a:pt x="675" y="338"/>
                  </a:lnTo>
                  <a:lnTo>
                    <a:pt x="685" y="330"/>
                  </a:lnTo>
                  <a:lnTo>
                    <a:pt x="675" y="318"/>
                  </a:lnTo>
                  <a:lnTo>
                    <a:pt x="677" y="313"/>
                  </a:lnTo>
                  <a:lnTo>
                    <a:pt x="676" y="301"/>
                  </a:lnTo>
                  <a:lnTo>
                    <a:pt x="682" y="284"/>
                  </a:lnTo>
                  <a:lnTo>
                    <a:pt x="689" y="267"/>
                  </a:lnTo>
                  <a:lnTo>
                    <a:pt x="672" y="266"/>
                  </a:lnTo>
                  <a:lnTo>
                    <a:pt x="655" y="266"/>
                  </a:lnTo>
                  <a:lnTo>
                    <a:pt x="651" y="268"/>
                  </a:lnTo>
                  <a:lnTo>
                    <a:pt x="657" y="264"/>
                  </a:lnTo>
                  <a:lnTo>
                    <a:pt x="645" y="258"/>
                  </a:lnTo>
                  <a:lnTo>
                    <a:pt x="631" y="252"/>
                  </a:lnTo>
                  <a:lnTo>
                    <a:pt x="617" y="237"/>
                  </a:lnTo>
                  <a:lnTo>
                    <a:pt x="599" y="231"/>
                  </a:lnTo>
                  <a:lnTo>
                    <a:pt x="576" y="237"/>
                  </a:lnTo>
                  <a:lnTo>
                    <a:pt x="577" y="236"/>
                  </a:lnTo>
                  <a:lnTo>
                    <a:pt x="574" y="237"/>
                  </a:lnTo>
                  <a:lnTo>
                    <a:pt x="585" y="217"/>
                  </a:lnTo>
                  <a:lnTo>
                    <a:pt x="583" y="207"/>
                  </a:lnTo>
                  <a:lnTo>
                    <a:pt x="571" y="210"/>
                  </a:lnTo>
                  <a:lnTo>
                    <a:pt x="567" y="216"/>
                  </a:lnTo>
                  <a:lnTo>
                    <a:pt x="571" y="207"/>
                  </a:lnTo>
                  <a:lnTo>
                    <a:pt x="570" y="201"/>
                  </a:lnTo>
                  <a:lnTo>
                    <a:pt x="588" y="177"/>
                  </a:lnTo>
                  <a:lnTo>
                    <a:pt x="616" y="159"/>
                  </a:lnTo>
                  <a:lnTo>
                    <a:pt x="617" y="154"/>
                  </a:lnTo>
                  <a:lnTo>
                    <a:pt x="630" y="150"/>
                  </a:lnTo>
                  <a:lnTo>
                    <a:pt x="628" y="148"/>
                  </a:lnTo>
                  <a:lnTo>
                    <a:pt x="633" y="150"/>
                  </a:lnTo>
                  <a:lnTo>
                    <a:pt x="639" y="145"/>
                  </a:lnTo>
                  <a:lnTo>
                    <a:pt x="646" y="144"/>
                  </a:lnTo>
                  <a:lnTo>
                    <a:pt x="647" y="140"/>
                  </a:lnTo>
                  <a:lnTo>
                    <a:pt x="667" y="136"/>
                  </a:lnTo>
                  <a:lnTo>
                    <a:pt x="669" y="132"/>
                  </a:lnTo>
                  <a:lnTo>
                    <a:pt x="654" y="128"/>
                  </a:lnTo>
                  <a:lnTo>
                    <a:pt x="657" y="127"/>
                  </a:lnTo>
                  <a:lnTo>
                    <a:pt x="642" y="124"/>
                  </a:lnTo>
                  <a:lnTo>
                    <a:pt x="642" y="120"/>
                  </a:lnTo>
                  <a:lnTo>
                    <a:pt x="660" y="123"/>
                  </a:lnTo>
                  <a:lnTo>
                    <a:pt x="679" y="127"/>
                  </a:lnTo>
                  <a:lnTo>
                    <a:pt x="685" y="122"/>
                  </a:lnTo>
                  <a:lnTo>
                    <a:pt x="689" y="120"/>
                  </a:lnTo>
                  <a:lnTo>
                    <a:pt x="696" y="122"/>
                  </a:lnTo>
                  <a:lnTo>
                    <a:pt x="696" y="118"/>
                  </a:lnTo>
                  <a:lnTo>
                    <a:pt x="703" y="121"/>
                  </a:lnTo>
                  <a:lnTo>
                    <a:pt x="731" y="106"/>
                  </a:lnTo>
                  <a:lnTo>
                    <a:pt x="735" y="102"/>
                  </a:lnTo>
                  <a:lnTo>
                    <a:pt x="709" y="98"/>
                  </a:lnTo>
                  <a:lnTo>
                    <a:pt x="694" y="91"/>
                  </a:lnTo>
                  <a:lnTo>
                    <a:pt x="723" y="96"/>
                  </a:lnTo>
                  <a:lnTo>
                    <a:pt x="731" y="100"/>
                  </a:lnTo>
                  <a:lnTo>
                    <a:pt x="759"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4" name="Freeform 393"/>
            <p:cNvSpPr>
              <a:spLocks/>
            </p:cNvSpPr>
            <p:nvPr/>
          </p:nvSpPr>
          <p:spPr bwMode="auto">
            <a:xfrm>
              <a:off x="1414" y="1288"/>
              <a:ext cx="313" cy="202"/>
            </a:xfrm>
            <a:custGeom>
              <a:avLst/>
              <a:gdLst/>
              <a:ahLst/>
              <a:cxnLst>
                <a:cxn ang="0">
                  <a:pos x="205" y="41"/>
                </a:cxn>
                <a:cxn ang="0">
                  <a:pos x="195" y="33"/>
                </a:cxn>
                <a:cxn ang="0">
                  <a:pos x="183" y="33"/>
                </a:cxn>
                <a:cxn ang="0">
                  <a:pos x="163" y="39"/>
                </a:cxn>
                <a:cxn ang="0">
                  <a:pos x="168" y="27"/>
                </a:cxn>
                <a:cxn ang="0">
                  <a:pos x="177" y="22"/>
                </a:cxn>
                <a:cxn ang="0">
                  <a:pos x="133" y="23"/>
                </a:cxn>
                <a:cxn ang="0">
                  <a:pos x="130" y="25"/>
                </a:cxn>
                <a:cxn ang="0">
                  <a:pos x="120" y="23"/>
                </a:cxn>
                <a:cxn ang="0">
                  <a:pos x="109" y="22"/>
                </a:cxn>
                <a:cxn ang="0">
                  <a:pos x="94" y="6"/>
                </a:cxn>
                <a:cxn ang="0">
                  <a:pos x="75" y="12"/>
                </a:cxn>
                <a:cxn ang="0">
                  <a:pos x="69" y="21"/>
                </a:cxn>
                <a:cxn ang="0">
                  <a:pos x="61" y="34"/>
                </a:cxn>
                <a:cxn ang="0">
                  <a:pos x="47" y="27"/>
                </a:cxn>
                <a:cxn ang="0">
                  <a:pos x="24" y="15"/>
                </a:cxn>
                <a:cxn ang="0">
                  <a:pos x="5" y="48"/>
                </a:cxn>
                <a:cxn ang="0">
                  <a:pos x="31" y="55"/>
                </a:cxn>
                <a:cxn ang="0">
                  <a:pos x="76" y="53"/>
                </a:cxn>
                <a:cxn ang="0">
                  <a:pos x="115" y="51"/>
                </a:cxn>
                <a:cxn ang="0">
                  <a:pos x="126" y="61"/>
                </a:cxn>
                <a:cxn ang="0">
                  <a:pos x="123" y="76"/>
                </a:cxn>
                <a:cxn ang="0">
                  <a:pos x="153" y="75"/>
                </a:cxn>
                <a:cxn ang="0">
                  <a:pos x="144" y="106"/>
                </a:cxn>
                <a:cxn ang="0">
                  <a:pos x="178" y="114"/>
                </a:cxn>
                <a:cxn ang="0">
                  <a:pos x="137" y="108"/>
                </a:cxn>
                <a:cxn ang="0">
                  <a:pos x="99" y="133"/>
                </a:cxn>
                <a:cxn ang="0">
                  <a:pos x="61" y="139"/>
                </a:cxn>
                <a:cxn ang="0">
                  <a:pos x="103" y="139"/>
                </a:cxn>
                <a:cxn ang="0">
                  <a:pos x="117" y="138"/>
                </a:cxn>
                <a:cxn ang="0">
                  <a:pos x="127" y="154"/>
                </a:cxn>
                <a:cxn ang="0">
                  <a:pos x="148" y="169"/>
                </a:cxn>
                <a:cxn ang="0">
                  <a:pos x="175" y="163"/>
                </a:cxn>
                <a:cxn ang="0">
                  <a:pos x="189" y="163"/>
                </a:cxn>
                <a:cxn ang="0">
                  <a:pos x="205" y="171"/>
                </a:cxn>
                <a:cxn ang="0">
                  <a:pos x="215" y="157"/>
                </a:cxn>
                <a:cxn ang="0">
                  <a:pos x="214" y="144"/>
                </a:cxn>
                <a:cxn ang="0">
                  <a:pos x="208" y="136"/>
                </a:cxn>
                <a:cxn ang="0">
                  <a:pos x="201" y="131"/>
                </a:cxn>
                <a:cxn ang="0">
                  <a:pos x="196" y="120"/>
                </a:cxn>
                <a:cxn ang="0">
                  <a:pos x="205" y="115"/>
                </a:cxn>
                <a:cxn ang="0">
                  <a:pos x="215" y="109"/>
                </a:cxn>
                <a:cxn ang="0">
                  <a:pos x="243" y="112"/>
                </a:cxn>
                <a:cxn ang="0">
                  <a:pos x="226" y="126"/>
                </a:cxn>
                <a:cxn ang="0">
                  <a:pos x="237" y="131"/>
                </a:cxn>
                <a:cxn ang="0">
                  <a:pos x="250" y="118"/>
                </a:cxn>
                <a:cxn ang="0">
                  <a:pos x="259" y="117"/>
                </a:cxn>
                <a:cxn ang="0">
                  <a:pos x="276" y="111"/>
                </a:cxn>
                <a:cxn ang="0">
                  <a:pos x="273" y="102"/>
                </a:cxn>
                <a:cxn ang="0">
                  <a:pos x="257" y="106"/>
                </a:cxn>
                <a:cxn ang="0">
                  <a:pos x="246" y="100"/>
                </a:cxn>
                <a:cxn ang="0">
                  <a:pos x="246" y="96"/>
                </a:cxn>
                <a:cxn ang="0">
                  <a:pos x="246" y="90"/>
                </a:cxn>
                <a:cxn ang="0">
                  <a:pos x="235" y="89"/>
                </a:cxn>
                <a:cxn ang="0">
                  <a:pos x="229" y="84"/>
                </a:cxn>
                <a:cxn ang="0">
                  <a:pos x="210" y="76"/>
                </a:cxn>
                <a:cxn ang="0">
                  <a:pos x="219" y="72"/>
                </a:cxn>
                <a:cxn ang="0">
                  <a:pos x="214" y="67"/>
                </a:cxn>
                <a:cxn ang="0">
                  <a:pos x="221" y="61"/>
                </a:cxn>
                <a:cxn ang="0">
                  <a:pos x="215" y="58"/>
                </a:cxn>
                <a:cxn ang="0">
                  <a:pos x="234" y="47"/>
                </a:cxn>
                <a:cxn ang="0">
                  <a:pos x="202" y="48"/>
                </a:cxn>
              </a:cxnLst>
              <a:rect l="0" t="0" r="r" b="b"/>
              <a:pathLst>
                <a:path w="282" h="183">
                  <a:moveTo>
                    <a:pt x="197" y="48"/>
                  </a:moveTo>
                  <a:lnTo>
                    <a:pt x="193" y="48"/>
                  </a:lnTo>
                  <a:lnTo>
                    <a:pt x="213" y="42"/>
                  </a:lnTo>
                  <a:lnTo>
                    <a:pt x="205" y="41"/>
                  </a:lnTo>
                  <a:lnTo>
                    <a:pt x="190" y="45"/>
                  </a:lnTo>
                  <a:lnTo>
                    <a:pt x="199" y="39"/>
                  </a:lnTo>
                  <a:lnTo>
                    <a:pt x="209" y="37"/>
                  </a:lnTo>
                  <a:lnTo>
                    <a:pt x="195" y="33"/>
                  </a:lnTo>
                  <a:lnTo>
                    <a:pt x="183" y="40"/>
                  </a:lnTo>
                  <a:lnTo>
                    <a:pt x="184" y="36"/>
                  </a:lnTo>
                  <a:lnTo>
                    <a:pt x="178" y="40"/>
                  </a:lnTo>
                  <a:lnTo>
                    <a:pt x="183" y="33"/>
                  </a:lnTo>
                  <a:lnTo>
                    <a:pt x="177" y="36"/>
                  </a:lnTo>
                  <a:lnTo>
                    <a:pt x="183" y="30"/>
                  </a:lnTo>
                  <a:lnTo>
                    <a:pt x="180" y="31"/>
                  </a:lnTo>
                  <a:lnTo>
                    <a:pt x="163" y="39"/>
                  </a:lnTo>
                  <a:lnTo>
                    <a:pt x="171" y="33"/>
                  </a:lnTo>
                  <a:lnTo>
                    <a:pt x="166" y="33"/>
                  </a:lnTo>
                  <a:lnTo>
                    <a:pt x="183" y="27"/>
                  </a:lnTo>
                  <a:lnTo>
                    <a:pt x="168" y="27"/>
                  </a:lnTo>
                  <a:lnTo>
                    <a:pt x="162" y="30"/>
                  </a:lnTo>
                  <a:lnTo>
                    <a:pt x="168" y="24"/>
                  </a:lnTo>
                  <a:lnTo>
                    <a:pt x="157" y="29"/>
                  </a:lnTo>
                  <a:lnTo>
                    <a:pt x="177" y="22"/>
                  </a:lnTo>
                  <a:lnTo>
                    <a:pt x="169" y="18"/>
                  </a:lnTo>
                  <a:lnTo>
                    <a:pt x="142" y="18"/>
                  </a:lnTo>
                  <a:lnTo>
                    <a:pt x="150" y="23"/>
                  </a:lnTo>
                  <a:lnTo>
                    <a:pt x="133" y="23"/>
                  </a:lnTo>
                  <a:lnTo>
                    <a:pt x="138" y="29"/>
                  </a:lnTo>
                  <a:lnTo>
                    <a:pt x="130" y="27"/>
                  </a:lnTo>
                  <a:lnTo>
                    <a:pt x="131" y="28"/>
                  </a:lnTo>
                  <a:lnTo>
                    <a:pt x="130" y="25"/>
                  </a:lnTo>
                  <a:lnTo>
                    <a:pt x="130" y="21"/>
                  </a:lnTo>
                  <a:lnTo>
                    <a:pt x="126" y="22"/>
                  </a:lnTo>
                  <a:lnTo>
                    <a:pt x="120" y="22"/>
                  </a:lnTo>
                  <a:lnTo>
                    <a:pt x="120" y="23"/>
                  </a:lnTo>
                  <a:lnTo>
                    <a:pt x="115" y="23"/>
                  </a:lnTo>
                  <a:lnTo>
                    <a:pt x="109" y="25"/>
                  </a:lnTo>
                  <a:lnTo>
                    <a:pt x="113" y="19"/>
                  </a:lnTo>
                  <a:lnTo>
                    <a:pt x="109" y="22"/>
                  </a:lnTo>
                  <a:lnTo>
                    <a:pt x="124" y="15"/>
                  </a:lnTo>
                  <a:lnTo>
                    <a:pt x="121" y="1"/>
                  </a:lnTo>
                  <a:lnTo>
                    <a:pt x="91" y="4"/>
                  </a:lnTo>
                  <a:lnTo>
                    <a:pt x="94" y="6"/>
                  </a:lnTo>
                  <a:lnTo>
                    <a:pt x="83" y="7"/>
                  </a:lnTo>
                  <a:lnTo>
                    <a:pt x="76" y="9"/>
                  </a:lnTo>
                  <a:lnTo>
                    <a:pt x="88" y="11"/>
                  </a:lnTo>
                  <a:lnTo>
                    <a:pt x="75" y="12"/>
                  </a:lnTo>
                  <a:lnTo>
                    <a:pt x="83" y="16"/>
                  </a:lnTo>
                  <a:lnTo>
                    <a:pt x="66" y="13"/>
                  </a:lnTo>
                  <a:lnTo>
                    <a:pt x="65" y="21"/>
                  </a:lnTo>
                  <a:lnTo>
                    <a:pt x="69" y="21"/>
                  </a:lnTo>
                  <a:lnTo>
                    <a:pt x="71" y="27"/>
                  </a:lnTo>
                  <a:lnTo>
                    <a:pt x="58" y="24"/>
                  </a:lnTo>
                  <a:lnTo>
                    <a:pt x="55" y="28"/>
                  </a:lnTo>
                  <a:lnTo>
                    <a:pt x="61" y="34"/>
                  </a:lnTo>
                  <a:lnTo>
                    <a:pt x="52" y="40"/>
                  </a:lnTo>
                  <a:lnTo>
                    <a:pt x="35" y="40"/>
                  </a:lnTo>
                  <a:lnTo>
                    <a:pt x="57" y="35"/>
                  </a:lnTo>
                  <a:lnTo>
                    <a:pt x="47" y="27"/>
                  </a:lnTo>
                  <a:lnTo>
                    <a:pt x="66" y="9"/>
                  </a:lnTo>
                  <a:lnTo>
                    <a:pt x="84" y="0"/>
                  </a:lnTo>
                  <a:lnTo>
                    <a:pt x="46" y="4"/>
                  </a:lnTo>
                  <a:lnTo>
                    <a:pt x="24" y="15"/>
                  </a:lnTo>
                  <a:lnTo>
                    <a:pt x="0" y="35"/>
                  </a:lnTo>
                  <a:lnTo>
                    <a:pt x="25" y="41"/>
                  </a:lnTo>
                  <a:lnTo>
                    <a:pt x="3" y="41"/>
                  </a:lnTo>
                  <a:lnTo>
                    <a:pt x="5" y="48"/>
                  </a:lnTo>
                  <a:lnTo>
                    <a:pt x="19" y="51"/>
                  </a:lnTo>
                  <a:lnTo>
                    <a:pt x="21" y="51"/>
                  </a:lnTo>
                  <a:lnTo>
                    <a:pt x="25" y="49"/>
                  </a:lnTo>
                  <a:lnTo>
                    <a:pt x="31" y="55"/>
                  </a:lnTo>
                  <a:lnTo>
                    <a:pt x="75" y="57"/>
                  </a:lnTo>
                  <a:lnTo>
                    <a:pt x="64" y="51"/>
                  </a:lnTo>
                  <a:lnTo>
                    <a:pt x="84" y="59"/>
                  </a:lnTo>
                  <a:lnTo>
                    <a:pt x="76" y="53"/>
                  </a:lnTo>
                  <a:lnTo>
                    <a:pt x="109" y="57"/>
                  </a:lnTo>
                  <a:lnTo>
                    <a:pt x="107" y="49"/>
                  </a:lnTo>
                  <a:lnTo>
                    <a:pt x="115" y="46"/>
                  </a:lnTo>
                  <a:lnTo>
                    <a:pt x="115" y="51"/>
                  </a:lnTo>
                  <a:lnTo>
                    <a:pt x="124" y="53"/>
                  </a:lnTo>
                  <a:lnTo>
                    <a:pt x="120" y="58"/>
                  </a:lnTo>
                  <a:lnTo>
                    <a:pt x="130" y="59"/>
                  </a:lnTo>
                  <a:lnTo>
                    <a:pt x="126" y="61"/>
                  </a:lnTo>
                  <a:lnTo>
                    <a:pt x="132" y="60"/>
                  </a:lnTo>
                  <a:lnTo>
                    <a:pt x="135" y="70"/>
                  </a:lnTo>
                  <a:lnTo>
                    <a:pt x="124" y="72"/>
                  </a:lnTo>
                  <a:lnTo>
                    <a:pt x="123" y="76"/>
                  </a:lnTo>
                  <a:lnTo>
                    <a:pt x="137" y="71"/>
                  </a:lnTo>
                  <a:lnTo>
                    <a:pt x="143" y="72"/>
                  </a:lnTo>
                  <a:lnTo>
                    <a:pt x="149" y="78"/>
                  </a:lnTo>
                  <a:lnTo>
                    <a:pt x="153" y="75"/>
                  </a:lnTo>
                  <a:lnTo>
                    <a:pt x="150" y="82"/>
                  </a:lnTo>
                  <a:lnTo>
                    <a:pt x="157" y="83"/>
                  </a:lnTo>
                  <a:lnTo>
                    <a:pt x="155" y="100"/>
                  </a:lnTo>
                  <a:lnTo>
                    <a:pt x="144" y="106"/>
                  </a:lnTo>
                  <a:lnTo>
                    <a:pt x="162" y="107"/>
                  </a:lnTo>
                  <a:lnTo>
                    <a:pt x="171" y="101"/>
                  </a:lnTo>
                  <a:lnTo>
                    <a:pt x="183" y="109"/>
                  </a:lnTo>
                  <a:lnTo>
                    <a:pt x="178" y="114"/>
                  </a:lnTo>
                  <a:lnTo>
                    <a:pt x="165" y="114"/>
                  </a:lnTo>
                  <a:lnTo>
                    <a:pt x="159" y="115"/>
                  </a:lnTo>
                  <a:lnTo>
                    <a:pt x="162" y="109"/>
                  </a:lnTo>
                  <a:lnTo>
                    <a:pt x="137" y="108"/>
                  </a:lnTo>
                  <a:lnTo>
                    <a:pt x="120" y="115"/>
                  </a:lnTo>
                  <a:lnTo>
                    <a:pt x="124" y="124"/>
                  </a:lnTo>
                  <a:lnTo>
                    <a:pt x="96" y="130"/>
                  </a:lnTo>
                  <a:lnTo>
                    <a:pt x="99" y="133"/>
                  </a:lnTo>
                  <a:lnTo>
                    <a:pt x="96" y="136"/>
                  </a:lnTo>
                  <a:lnTo>
                    <a:pt x="96" y="129"/>
                  </a:lnTo>
                  <a:lnTo>
                    <a:pt x="76" y="127"/>
                  </a:lnTo>
                  <a:lnTo>
                    <a:pt x="61" y="139"/>
                  </a:lnTo>
                  <a:lnTo>
                    <a:pt x="76" y="144"/>
                  </a:lnTo>
                  <a:lnTo>
                    <a:pt x="90" y="142"/>
                  </a:lnTo>
                  <a:lnTo>
                    <a:pt x="93" y="139"/>
                  </a:lnTo>
                  <a:lnTo>
                    <a:pt x="103" y="139"/>
                  </a:lnTo>
                  <a:lnTo>
                    <a:pt x="106" y="133"/>
                  </a:lnTo>
                  <a:lnTo>
                    <a:pt x="109" y="138"/>
                  </a:lnTo>
                  <a:lnTo>
                    <a:pt x="109" y="143"/>
                  </a:lnTo>
                  <a:lnTo>
                    <a:pt x="117" y="138"/>
                  </a:lnTo>
                  <a:lnTo>
                    <a:pt x="121" y="139"/>
                  </a:lnTo>
                  <a:lnTo>
                    <a:pt x="119" y="145"/>
                  </a:lnTo>
                  <a:lnTo>
                    <a:pt x="126" y="150"/>
                  </a:lnTo>
                  <a:lnTo>
                    <a:pt x="127" y="154"/>
                  </a:lnTo>
                  <a:lnTo>
                    <a:pt x="136" y="155"/>
                  </a:lnTo>
                  <a:lnTo>
                    <a:pt x="127" y="159"/>
                  </a:lnTo>
                  <a:lnTo>
                    <a:pt x="133" y="163"/>
                  </a:lnTo>
                  <a:lnTo>
                    <a:pt x="148" y="169"/>
                  </a:lnTo>
                  <a:lnTo>
                    <a:pt x="167" y="177"/>
                  </a:lnTo>
                  <a:lnTo>
                    <a:pt x="186" y="183"/>
                  </a:lnTo>
                  <a:lnTo>
                    <a:pt x="186" y="175"/>
                  </a:lnTo>
                  <a:lnTo>
                    <a:pt x="175" y="163"/>
                  </a:lnTo>
                  <a:lnTo>
                    <a:pt x="165" y="153"/>
                  </a:lnTo>
                  <a:lnTo>
                    <a:pt x="178" y="159"/>
                  </a:lnTo>
                  <a:lnTo>
                    <a:pt x="180" y="154"/>
                  </a:lnTo>
                  <a:lnTo>
                    <a:pt x="189" y="163"/>
                  </a:lnTo>
                  <a:lnTo>
                    <a:pt x="190" y="161"/>
                  </a:lnTo>
                  <a:lnTo>
                    <a:pt x="195" y="165"/>
                  </a:lnTo>
                  <a:lnTo>
                    <a:pt x="203" y="168"/>
                  </a:lnTo>
                  <a:lnTo>
                    <a:pt x="205" y="171"/>
                  </a:lnTo>
                  <a:lnTo>
                    <a:pt x="207" y="166"/>
                  </a:lnTo>
                  <a:lnTo>
                    <a:pt x="210" y="165"/>
                  </a:lnTo>
                  <a:lnTo>
                    <a:pt x="213" y="154"/>
                  </a:lnTo>
                  <a:lnTo>
                    <a:pt x="215" y="157"/>
                  </a:lnTo>
                  <a:lnTo>
                    <a:pt x="217" y="153"/>
                  </a:lnTo>
                  <a:lnTo>
                    <a:pt x="219" y="148"/>
                  </a:lnTo>
                  <a:lnTo>
                    <a:pt x="215" y="147"/>
                  </a:lnTo>
                  <a:lnTo>
                    <a:pt x="214" y="144"/>
                  </a:lnTo>
                  <a:lnTo>
                    <a:pt x="215" y="141"/>
                  </a:lnTo>
                  <a:lnTo>
                    <a:pt x="214" y="138"/>
                  </a:lnTo>
                  <a:lnTo>
                    <a:pt x="210" y="137"/>
                  </a:lnTo>
                  <a:lnTo>
                    <a:pt x="208" y="136"/>
                  </a:lnTo>
                  <a:lnTo>
                    <a:pt x="204" y="132"/>
                  </a:lnTo>
                  <a:lnTo>
                    <a:pt x="202" y="133"/>
                  </a:lnTo>
                  <a:lnTo>
                    <a:pt x="204" y="130"/>
                  </a:lnTo>
                  <a:lnTo>
                    <a:pt x="201" y="131"/>
                  </a:lnTo>
                  <a:lnTo>
                    <a:pt x="202" y="126"/>
                  </a:lnTo>
                  <a:lnTo>
                    <a:pt x="202" y="123"/>
                  </a:lnTo>
                  <a:lnTo>
                    <a:pt x="193" y="123"/>
                  </a:lnTo>
                  <a:lnTo>
                    <a:pt x="196" y="120"/>
                  </a:lnTo>
                  <a:lnTo>
                    <a:pt x="195" y="117"/>
                  </a:lnTo>
                  <a:lnTo>
                    <a:pt x="192" y="112"/>
                  </a:lnTo>
                  <a:lnTo>
                    <a:pt x="202" y="119"/>
                  </a:lnTo>
                  <a:lnTo>
                    <a:pt x="205" y="115"/>
                  </a:lnTo>
                  <a:lnTo>
                    <a:pt x="204" y="111"/>
                  </a:lnTo>
                  <a:lnTo>
                    <a:pt x="210" y="109"/>
                  </a:lnTo>
                  <a:lnTo>
                    <a:pt x="209" y="108"/>
                  </a:lnTo>
                  <a:lnTo>
                    <a:pt x="215" y="109"/>
                  </a:lnTo>
                  <a:lnTo>
                    <a:pt x="226" y="114"/>
                  </a:lnTo>
                  <a:lnTo>
                    <a:pt x="229" y="112"/>
                  </a:lnTo>
                  <a:lnTo>
                    <a:pt x="221" y="118"/>
                  </a:lnTo>
                  <a:lnTo>
                    <a:pt x="243" y="112"/>
                  </a:lnTo>
                  <a:lnTo>
                    <a:pt x="233" y="117"/>
                  </a:lnTo>
                  <a:lnTo>
                    <a:pt x="223" y="123"/>
                  </a:lnTo>
                  <a:lnTo>
                    <a:pt x="227" y="123"/>
                  </a:lnTo>
                  <a:lnTo>
                    <a:pt x="226" y="126"/>
                  </a:lnTo>
                  <a:lnTo>
                    <a:pt x="232" y="126"/>
                  </a:lnTo>
                  <a:lnTo>
                    <a:pt x="229" y="131"/>
                  </a:lnTo>
                  <a:lnTo>
                    <a:pt x="233" y="127"/>
                  </a:lnTo>
                  <a:lnTo>
                    <a:pt x="237" y="131"/>
                  </a:lnTo>
                  <a:lnTo>
                    <a:pt x="244" y="132"/>
                  </a:lnTo>
                  <a:lnTo>
                    <a:pt x="244" y="125"/>
                  </a:lnTo>
                  <a:lnTo>
                    <a:pt x="245" y="124"/>
                  </a:lnTo>
                  <a:lnTo>
                    <a:pt x="250" y="118"/>
                  </a:lnTo>
                  <a:lnTo>
                    <a:pt x="255" y="123"/>
                  </a:lnTo>
                  <a:lnTo>
                    <a:pt x="257" y="119"/>
                  </a:lnTo>
                  <a:lnTo>
                    <a:pt x="263" y="118"/>
                  </a:lnTo>
                  <a:lnTo>
                    <a:pt x="259" y="117"/>
                  </a:lnTo>
                  <a:lnTo>
                    <a:pt x="268" y="115"/>
                  </a:lnTo>
                  <a:lnTo>
                    <a:pt x="262" y="113"/>
                  </a:lnTo>
                  <a:lnTo>
                    <a:pt x="268" y="111"/>
                  </a:lnTo>
                  <a:lnTo>
                    <a:pt x="276" y="111"/>
                  </a:lnTo>
                  <a:lnTo>
                    <a:pt x="276" y="109"/>
                  </a:lnTo>
                  <a:lnTo>
                    <a:pt x="275" y="107"/>
                  </a:lnTo>
                  <a:lnTo>
                    <a:pt x="282" y="107"/>
                  </a:lnTo>
                  <a:lnTo>
                    <a:pt x="273" y="102"/>
                  </a:lnTo>
                  <a:lnTo>
                    <a:pt x="269" y="105"/>
                  </a:lnTo>
                  <a:lnTo>
                    <a:pt x="265" y="105"/>
                  </a:lnTo>
                  <a:lnTo>
                    <a:pt x="265" y="102"/>
                  </a:lnTo>
                  <a:lnTo>
                    <a:pt x="257" y="106"/>
                  </a:lnTo>
                  <a:lnTo>
                    <a:pt x="256" y="105"/>
                  </a:lnTo>
                  <a:lnTo>
                    <a:pt x="263" y="97"/>
                  </a:lnTo>
                  <a:lnTo>
                    <a:pt x="258" y="100"/>
                  </a:lnTo>
                  <a:lnTo>
                    <a:pt x="246" y="100"/>
                  </a:lnTo>
                  <a:lnTo>
                    <a:pt x="255" y="97"/>
                  </a:lnTo>
                  <a:lnTo>
                    <a:pt x="245" y="99"/>
                  </a:lnTo>
                  <a:lnTo>
                    <a:pt x="252" y="97"/>
                  </a:lnTo>
                  <a:lnTo>
                    <a:pt x="246" y="96"/>
                  </a:lnTo>
                  <a:lnTo>
                    <a:pt x="256" y="94"/>
                  </a:lnTo>
                  <a:lnTo>
                    <a:pt x="256" y="93"/>
                  </a:lnTo>
                  <a:lnTo>
                    <a:pt x="249" y="90"/>
                  </a:lnTo>
                  <a:lnTo>
                    <a:pt x="246" y="90"/>
                  </a:lnTo>
                  <a:lnTo>
                    <a:pt x="250" y="85"/>
                  </a:lnTo>
                  <a:lnTo>
                    <a:pt x="243" y="90"/>
                  </a:lnTo>
                  <a:lnTo>
                    <a:pt x="240" y="87"/>
                  </a:lnTo>
                  <a:lnTo>
                    <a:pt x="235" y="89"/>
                  </a:lnTo>
                  <a:lnTo>
                    <a:pt x="238" y="85"/>
                  </a:lnTo>
                  <a:lnTo>
                    <a:pt x="231" y="89"/>
                  </a:lnTo>
                  <a:lnTo>
                    <a:pt x="235" y="84"/>
                  </a:lnTo>
                  <a:lnTo>
                    <a:pt x="229" y="84"/>
                  </a:lnTo>
                  <a:lnTo>
                    <a:pt x="225" y="82"/>
                  </a:lnTo>
                  <a:lnTo>
                    <a:pt x="219" y="82"/>
                  </a:lnTo>
                  <a:lnTo>
                    <a:pt x="228" y="79"/>
                  </a:lnTo>
                  <a:lnTo>
                    <a:pt x="210" y="76"/>
                  </a:lnTo>
                  <a:lnTo>
                    <a:pt x="220" y="76"/>
                  </a:lnTo>
                  <a:lnTo>
                    <a:pt x="210" y="73"/>
                  </a:lnTo>
                  <a:lnTo>
                    <a:pt x="223" y="75"/>
                  </a:lnTo>
                  <a:lnTo>
                    <a:pt x="219" y="72"/>
                  </a:lnTo>
                  <a:lnTo>
                    <a:pt x="227" y="71"/>
                  </a:lnTo>
                  <a:lnTo>
                    <a:pt x="214" y="70"/>
                  </a:lnTo>
                  <a:lnTo>
                    <a:pt x="219" y="67"/>
                  </a:lnTo>
                  <a:lnTo>
                    <a:pt x="214" y="67"/>
                  </a:lnTo>
                  <a:lnTo>
                    <a:pt x="223" y="66"/>
                  </a:lnTo>
                  <a:lnTo>
                    <a:pt x="215" y="65"/>
                  </a:lnTo>
                  <a:lnTo>
                    <a:pt x="240" y="67"/>
                  </a:lnTo>
                  <a:lnTo>
                    <a:pt x="221" y="61"/>
                  </a:lnTo>
                  <a:lnTo>
                    <a:pt x="207" y="61"/>
                  </a:lnTo>
                  <a:lnTo>
                    <a:pt x="239" y="59"/>
                  </a:lnTo>
                  <a:lnTo>
                    <a:pt x="233" y="51"/>
                  </a:lnTo>
                  <a:lnTo>
                    <a:pt x="215" y="58"/>
                  </a:lnTo>
                  <a:lnTo>
                    <a:pt x="205" y="60"/>
                  </a:lnTo>
                  <a:lnTo>
                    <a:pt x="226" y="52"/>
                  </a:lnTo>
                  <a:lnTo>
                    <a:pt x="207" y="55"/>
                  </a:lnTo>
                  <a:lnTo>
                    <a:pt x="234" y="47"/>
                  </a:lnTo>
                  <a:lnTo>
                    <a:pt x="219" y="45"/>
                  </a:lnTo>
                  <a:lnTo>
                    <a:pt x="213" y="46"/>
                  </a:lnTo>
                  <a:lnTo>
                    <a:pt x="220" y="42"/>
                  </a:lnTo>
                  <a:lnTo>
                    <a:pt x="202" y="48"/>
                  </a:lnTo>
                  <a:lnTo>
                    <a:pt x="192" y="55"/>
                  </a:lnTo>
                  <a:lnTo>
                    <a:pt x="197" y="4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5" name="Freeform 394"/>
            <p:cNvSpPr>
              <a:spLocks/>
            </p:cNvSpPr>
            <p:nvPr/>
          </p:nvSpPr>
          <p:spPr bwMode="auto">
            <a:xfrm>
              <a:off x="1505" y="1159"/>
              <a:ext cx="382" cy="86"/>
            </a:xfrm>
            <a:custGeom>
              <a:avLst/>
              <a:gdLst/>
              <a:ahLst/>
              <a:cxnLst>
                <a:cxn ang="0">
                  <a:pos x="85" y="56"/>
                </a:cxn>
                <a:cxn ang="0">
                  <a:pos x="64" y="65"/>
                </a:cxn>
                <a:cxn ang="0">
                  <a:pos x="52" y="59"/>
                </a:cxn>
                <a:cxn ang="0">
                  <a:pos x="62" y="55"/>
                </a:cxn>
                <a:cxn ang="0">
                  <a:pos x="42" y="52"/>
                </a:cxn>
                <a:cxn ang="0">
                  <a:pos x="95" y="46"/>
                </a:cxn>
                <a:cxn ang="0">
                  <a:pos x="71" y="30"/>
                </a:cxn>
                <a:cxn ang="0">
                  <a:pos x="103" y="29"/>
                </a:cxn>
                <a:cxn ang="0">
                  <a:pos x="116" y="35"/>
                </a:cxn>
                <a:cxn ang="0">
                  <a:pos x="108" y="28"/>
                </a:cxn>
                <a:cxn ang="0">
                  <a:pos x="157" y="22"/>
                </a:cxn>
                <a:cxn ang="0">
                  <a:pos x="182" y="16"/>
                </a:cxn>
                <a:cxn ang="0">
                  <a:pos x="131" y="20"/>
                </a:cxn>
                <a:cxn ang="0">
                  <a:pos x="78" y="24"/>
                </a:cxn>
                <a:cxn ang="0">
                  <a:pos x="124" y="19"/>
                </a:cxn>
                <a:cxn ang="0">
                  <a:pos x="71" y="25"/>
                </a:cxn>
                <a:cxn ang="0">
                  <a:pos x="55" y="22"/>
                </a:cxn>
                <a:cxn ang="0">
                  <a:pos x="104" y="18"/>
                </a:cxn>
                <a:cxn ang="0">
                  <a:pos x="52" y="18"/>
                </a:cxn>
                <a:cxn ang="0">
                  <a:pos x="84" y="16"/>
                </a:cxn>
                <a:cxn ang="0">
                  <a:pos x="43" y="13"/>
                </a:cxn>
                <a:cxn ang="0">
                  <a:pos x="97" y="8"/>
                </a:cxn>
                <a:cxn ang="0">
                  <a:pos x="164" y="12"/>
                </a:cxn>
                <a:cxn ang="0">
                  <a:pos x="156" y="1"/>
                </a:cxn>
                <a:cxn ang="0">
                  <a:pos x="210" y="4"/>
                </a:cxn>
                <a:cxn ang="0">
                  <a:pos x="198" y="0"/>
                </a:cxn>
                <a:cxn ang="0">
                  <a:pos x="270" y="4"/>
                </a:cxn>
                <a:cxn ang="0">
                  <a:pos x="344" y="7"/>
                </a:cxn>
                <a:cxn ang="0">
                  <a:pos x="295" y="13"/>
                </a:cxn>
                <a:cxn ang="0">
                  <a:pos x="246" y="19"/>
                </a:cxn>
                <a:cxn ang="0">
                  <a:pos x="304" y="16"/>
                </a:cxn>
                <a:cxn ang="0">
                  <a:pos x="251" y="25"/>
                </a:cxn>
                <a:cxn ang="0">
                  <a:pos x="198" y="35"/>
                </a:cxn>
                <a:cxn ang="0">
                  <a:pos x="149" y="40"/>
                </a:cxn>
                <a:cxn ang="0">
                  <a:pos x="176" y="44"/>
                </a:cxn>
                <a:cxn ang="0">
                  <a:pos x="138" y="47"/>
                </a:cxn>
                <a:cxn ang="0">
                  <a:pos x="169" y="49"/>
                </a:cxn>
                <a:cxn ang="0">
                  <a:pos x="126" y="59"/>
                </a:cxn>
                <a:cxn ang="0">
                  <a:pos x="122" y="65"/>
                </a:cxn>
                <a:cxn ang="0">
                  <a:pos x="86" y="67"/>
                </a:cxn>
                <a:cxn ang="0">
                  <a:pos x="115" y="76"/>
                </a:cxn>
                <a:cxn ang="0">
                  <a:pos x="79" y="78"/>
                </a:cxn>
                <a:cxn ang="0">
                  <a:pos x="40" y="78"/>
                </a:cxn>
                <a:cxn ang="0">
                  <a:pos x="0" y="77"/>
                </a:cxn>
                <a:cxn ang="0">
                  <a:pos x="28" y="67"/>
                </a:cxn>
                <a:cxn ang="0">
                  <a:pos x="22" y="61"/>
                </a:cxn>
                <a:cxn ang="0">
                  <a:pos x="64" y="66"/>
                </a:cxn>
                <a:cxn ang="0">
                  <a:pos x="85" y="56"/>
                </a:cxn>
              </a:cxnLst>
              <a:rect l="0" t="0" r="r" b="b"/>
              <a:pathLst>
                <a:path w="344" h="78">
                  <a:moveTo>
                    <a:pt x="85" y="56"/>
                  </a:moveTo>
                  <a:lnTo>
                    <a:pt x="64" y="65"/>
                  </a:lnTo>
                  <a:lnTo>
                    <a:pt x="52" y="59"/>
                  </a:lnTo>
                  <a:lnTo>
                    <a:pt x="62" y="55"/>
                  </a:lnTo>
                  <a:lnTo>
                    <a:pt x="42" y="52"/>
                  </a:lnTo>
                  <a:lnTo>
                    <a:pt x="95" y="46"/>
                  </a:lnTo>
                  <a:lnTo>
                    <a:pt x="71" y="30"/>
                  </a:lnTo>
                  <a:lnTo>
                    <a:pt x="103" y="29"/>
                  </a:lnTo>
                  <a:lnTo>
                    <a:pt x="116" y="35"/>
                  </a:lnTo>
                  <a:lnTo>
                    <a:pt x="108" y="28"/>
                  </a:lnTo>
                  <a:lnTo>
                    <a:pt x="157" y="22"/>
                  </a:lnTo>
                  <a:lnTo>
                    <a:pt x="182" y="16"/>
                  </a:lnTo>
                  <a:lnTo>
                    <a:pt x="131" y="20"/>
                  </a:lnTo>
                  <a:lnTo>
                    <a:pt x="78" y="24"/>
                  </a:lnTo>
                  <a:lnTo>
                    <a:pt x="124" y="19"/>
                  </a:lnTo>
                  <a:lnTo>
                    <a:pt x="71" y="25"/>
                  </a:lnTo>
                  <a:lnTo>
                    <a:pt x="55" y="22"/>
                  </a:lnTo>
                  <a:lnTo>
                    <a:pt x="104" y="18"/>
                  </a:lnTo>
                  <a:lnTo>
                    <a:pt x="52" y="18"/>
                  </a:lnTo>
                  <a:lnTo>
                    <a:pt x="84" y="16"/>
                  </a:lnTo>
                  <a:lnTo>
                    <a:pt x="43" y="13"/>
                  </a:lnTo>
                  <a:lnTo>
                    <a:pt x="97" y="8"/>
                  </a:lnTo>
                  <a:lnTo>
                    <a:pt x="164" y="12"/>
                  </a:lnTo>
                  <a:lnTo>
                    <a:pt x="156" y="1"/>
                  </a:lnTo>
                  <a:lnTo>
                    <a:pt x="210" y="4"/>
                  </a:lnTo>
                  <a:lnTo>
                    <a:pt x="198" y="0"/>
                  </a:lnTo>
                  <a:lnTo>
                    <a:pt x="270" y="4"/>
                  </a:lnTo>
                  <a:lnTo>
                    <a:pt x="344" y="7"/>
                  </a:lnTo>
                  <a:lnTo>
                    <a:pt x="295" y="13"/>
                  </a:lnTo>
                  <a:lnTo>
                    <a:pt x="246" y="19"/>
                  </a:lnTo>
                  <a:lnTo>
                    <a:pt x="304" y="16"/>
                  </a:lnTo>
                  <a:lnTo>
                    <a:pt x="251" y="25"/>
                  </a:lnTo>
                  <a:lnTo>
                    <a:pt x="198" y="35"/>
                  </a:lnTo>
                  <a:lnTo>
                    <a:pt x="149" y="40"/>
                  </a:lnTo>
                  <a:lnTo>
                    <a:pt x="176" y="44"/>
                  </a:lnTo>
                  <a:lnTo>
                    <a:pt x="138" y="47"/>
                  </a:lnTo>
                  <a:lnTo>
                    <a:pt x="169" y="49"/>
                  </a:lnTo>
                  <a:lnTo>
                    <a:pt x="126" y="59"/>
                  </a:lnTo>
                  <a:lnTo>
                    <a:pt x="122" y="65"/>
                  </a:lnTo>
                  <a:lnTo>
                    <a:pt x="86" y="67"/>
                  </a:lnTo>
                  <a:lnTo>
                    <a:pt x="115" y="76"/>
                  </a:lnTo>
                  <a:lnTo>
                    <a:pt x="79" y="78"/>
                  </a:lnTo>
                  <a:lnTo>
                    <a:pt x="40" y="78"/>
                  </a:lnTo>
                  <a:lnTo>
                    <a:pt x="0" y="77"/>
                  </a:lnTo>
                  <a:lnTo>
                    <a:pt x="28" y="67"/>
                  </a:lnTo>
                  <a:lnTo>
                    <a:pt x="22" y="61"/>
                  </a:lnTo>
                  <a:lnTo>
                    <a:pt x="64" y="66"/>
                  </a:lnTo>
                  <a:lnTo>
                    <a:pt x="85"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6" name="Freeform 395"/>
            <p:cNvSpPr>
              <a:spLocks/>
            </p:cNvSpPr>
            <p:nvPr/>
          </p:nvSpPr>
          <p:spPr bwMode="auto">
            <a:xfrm>
              <a:off x="1043" y="1294"/>
              <a:ext cx="213" cy="80"/>
            </a:xfrm>
            <a:custGeom>
              <a:avLst/>
              <a:gdLst/>
              <a:ahLst/>
              <a:cxnLst>
                <a:cxn ang="0">
                  <a:pos x="125" y="65"/>
                </a:cxn>
                <a:cxn ang="0">
                  <a:pos x="117" y="60"/>
                </a:cxn>
                <a:cxn ang="0">
                  <a:pos x="114" y="59"/>
                </a:cxn>
                <a:cxn ang="0">
                  <a:pos x="93" y="66"/>
                </a:cxn>
                <a:cxn ang="0">
                  <a:pos x="61" y="69"/>
                </a:cxn>
                <a:cxn ang="0">
                  <a:pos x="29" y="72"/>
                </a:cxn>
                <a:cxn ang="0">
                  <a:pos x="30" y="64"/>
                </a:cxn>
                <a:cxn ang="0">
                  <a:pos x="0" y="55"/>
                </a:cxn>
                <a:cxn ang="0">
                  <a:pos x="6" y="47"/>
                </a:cxn>
                <a:cxn ang="0">
                  <a:pos x="39" y="46"/>
                </a:cxn>
                <a:cxn ang="0">
                  <a:pos x="73" y="45"/>
                </a:cxn>
                <a:cxn ang="0">
                  <a:pos x="42" y="40"/>
                </a:cxn>
                <a:cxn ang="0">
                  <a:pos x="9" y="39"/>
                </a:cxn>
                <a:cxn ang="0">
                  <a:pos x="6" y="35"/>
                </a:cxn>
                <a:cxn ang="0">
                  <a:pos x="48" y="27"/>
                </a:cxn>
                <a:cxn ang="0">
                  <a:pos x="17" y="28"/>
                </a:cxn>
                <a:cxn ang="0">
                  <a:pos x="25" y="25"/>
                </a:cxn>
                <a:cxn ang="0">
                  <a:pos x="11" y="25"/>
                </a:cxn>
                <a:cxn ang="0">
                  <a:pos x="32" y="16"/>
                </a:cxn>
                <a:cxn ang="0">
                  <a:pos x="30" y="13"/>
                </a:cxn>
                <a:cxn ang="0">
                  <a:pos x="60" y="6"/>
                </a:cxn>
                <a:cxn ang="0">
                  <a:pos x="89" y="0"/>
                </a:cxn>
                <a:cxn ang="0">
                  <a:pos x="91" y="4"/>
                </a:cxn>
                <a:cxn ang="0">
                  <a:pos x="78" y="11"/>
                </a:cxn>
                <a:cxn ang="0">
                  <a:pos x="89" y="10"/>
                </a:cxn>
                <a:cxn ang="0">
                  <a:pos x="99" y="5"/>
                </a:cxn>
                <a:cxn ang="0">
                  <a:pos x="111" y="12"/>
                </a:cxn>
                <a:cxn ang="0">
                  <a:pos x="104" y="16"/>
                </a:cxn>
                <a:cxn ang="0">
                  <a:pos x="109" y="15"/>
                </a:cxn>
                <a:cxn ang="0">
                  <a:pos x="125" y="13"/>
                </a:cxn>
                <a:cxn ang="0">
                  <a:pos x="126" y="10"/>
                </a:cxn>
                <a:cxn ang="0">
                  <a:pos x="128" y="5"/>
                </a:cxn>
                <a:cxn ang="0">
                  <a:pos x="140" y="12"/>
                </a:cxn>
                <a:cxn ang="0">
                  <a:pos x="133" y="25"/>
                </a:cxn>
                <a:cxn ang="0">
                  <a:pos x="145" y="21"/>
                </a:cxn>
                <a:cxn ang="0">
                  <a:pos x="156" y="3"/>
                </a:cxn>
                <a:cxn ang="0">
                  <a:pos x="175" y="3"/>
                </a:cxn>
                <a:cxn ang="0">
                  <a:pos x="177" y="12"/>
                </a:cxn>
                <a:cxn ang="0">
                  <a:pos x="167" y="31"/>
                </a:cxn>
                <a:cxn ang="0">
                  <a:pos x="168" y="41"/>
                </a:cxn>
                <a:cxn ang="0">
                  <a:pos x="171" y="41"/>
                </a:cxn>
                <a:cxn ang="0">
                  <a:pos x="191" y="47"/>
                </a:cxn>
                <a:cxn ang="0">
                  <a:pos x="188" y="51"/>
                </a:cxn>
                <a:cxn ang="0">
                  <a:pos x="180" y="54"/>
                </a:cxn>
                <a:cxn ang="0">
                  <a:pos x="181" y="51"/>
                </a:cxn>
                <a:cxn ang="0">
                  <a:pos x="174" y="53"/>
                </a:cxn>
                <a:cxn ang="0">
                  <a:pos x="169" y="53"/>
                </a:cxn>
                <a:cxn ang="0">
                  <a:pos x="161" y="57"/>
                </a:cxn>
                <a:cxn ang="0">
                  <a:pos x="156" y="57"/>
                </a:cxn>
                <a:cxn ang="0">
                  <a:pos x="151" y="63"/>
                </a:cxn>
                <a:cxn ang="0">
                  <a:pos x="169" y="58"/>
                </a:cxn>
                <a:cxn ang="0">
                  <a:pos x="167" y="60"/>
                </a:cxn>
                <a:cxn ang="0">
                  <a:pos x="161" y="65"/>
                </a:cxn>
                <a:cxn ang="0">
                  <a:pos x="125" y="65"/>
                </a:cxn>
              </a:cxnLst>
              <a:rect l="0" t="0" r="r" b="b"/>
              <a:pathLst>
                <a:path w="191" h="72">
                  <a:moveTo>
                    <a:pt x="125" y="65"/>
                  </a:moveTo>
                  <a:lnTo>
                    <a:pt x="117" y="60"/>
                  </a:lnTo>
                  <a:lnTo>
                    <a:pt x="114" y="59"/>
                  </a:lnTo>
                  <a:lnTo>
                    <a:pt x="93" y="66"/>
                  </a:lnTo>
                  <a:lnTo>
                    <a:pt x="61" y="69"/>
                  </a:lnTo>
                  <a:lnTo>
                    <a:pt x="29" y="72"/>
                  </a:lnTo>
                  <a:lnTo>
                    <a:pt x="30" y="64"/>
                  </a:lnTo>
                  <a:lnTo>
                    <a:pt x="0" y="55"/>
                  </a:lnTo>
                  <a:lnTo>
                    <a:pt x="6" y="47"/>
                  </a:lnTo>
                  <a:lnTo>
                    <a:pt x="39" y="46"/>
                  </a:lnTo>
                  <a:lnTo>
                    <a:pt x="73" y="45"/>
                  </a:lnTo>
                  <a:lnTo>
                    <a:pt x="42" y="40"/>
                  </a:lnTo>
                  <a:lnTo>
                    <a:pt x="9" y="39"/>
                  </a:lnTo>
                  <a:lnTo>
                    <a:pt x="6" y="35"/>
                  </a:lnTo>
                  <a:lnTo>
                    <a:pt x="48" y="27"/>
                  </a:lnTo>
                  <a:lnTo>
                    <a:pt x="17" y="28"/>
                  </a:lnTo>
                  <a:lnTo>
                    <a:pt x="25" y="25"/>
                  </a:lnTo>
                  <a:lnTo>
                    <a:pt x="11" y="25"/>
                  </a:lnTo>
                  <a:lnTo>
                    <a:pt x="32" y="16"/>
                  </a:lnTo>
                  <a:lnTo>
                    <a:pt x="30" y="13"/>
                  </a:lnTo>
                  <a:lnTo>
                    <a:pt x="60" y="6"/>
                  </a:lnTo>
                  <a:lnTo>
                    <a:pt x="89" y="0"/>
                  </a:lnTo>
                  <a:lnTo>
                    <a:pt x="91" y="4"/>
                  </a:lnTo>
                  <a:lnTo>
                    <a:pt x="78" y="11"/>
                  </a:lnTo>
                  <a:lnTo>
                    <a:pt x="89" y="10"/>
                  </a:lnTo>
                  <a:lnTo>
                    <a:pt x="99" y="5"/>
                  </a:lnTo>
                  <a:lnTo>
                    <a:pt x="111" y="12"/>
                  </a:lnTo>
                  <a:lnTo>
                    <a:pt x="104" y="16"/>
                  </a:lnTo>
                  <a:lnTo>
                    <a:pt x="109" y="15"/>
                  </a:lnTo>
                  <a:lnTo>
                    <a:pt x="125" y="13"/>
                  </a:lnTo>
                  <a:lnTo>
                    <a:pt x="126" y="10"/>
                  </a:lnTo>
                  <a:lnTo>
                    <a:pt x="128" y="5"/>
                  </a:lnTo>
                  <a:lnTo>
                    <a:pt x="140" y="12"/>
                  </a:lnTo>
                  <a:lnTo>
                    <a:pt x="133" y="25"/>
                  </a:lnTo>
                  <a:lnTo>
                    <a:pt x="145" y="21"/>
                  </a:lnTo>
                  <a:lnTo>
                    <a:pt x="156" y="3"/>
                  </a:lnTo>
                  <a:lnTo>
                    <a:pt x="175" y="3"/>
                  </a:lnTo>
                  <a:lnTo>
                    <a:pt x="177" y="12"/>
                  </a:lnTo>
                  <a:lnTo>
                    <a:pt x="167" y="31"/>
                  </a:lnTo>
                  <a:lnTo>
                    <a:pt x="168" y="41"/>
                  </a:lnTo>
                  <a:lnTo>
                    <a:pt x="171" y="41"/>
                  </a:lnTo>
                  <a:lnTo>
                    <a:pt x="191" y="47"/>
                  </a:lnTo>
                  <a:lnTo>
                    <a:pt x="188" y="51"/>
                  </a:lnTo>
                  <a:lnTo>
                    <a:pt x="180" y="54"/>
                  </a:lnTo>
                  <a:lnTo>
                    <a:pt x="181" y="51"/>
                  </a:lnTo>
                  <a:lnTo>
                    <a:pt x="174" y="53"/>
                  </a:lnTo>
                  <a:lnTo>
                    <a:pt x="169" y="53"/>
                  </a:lnTo>
                  <a:lnTo>
                    <a:pt x="161" y="57"/>
                  </a:lnTo>
                  <a:lnTo>
                    <a:pt x="156" y="57"/>
                  </a:lnTo>
                  <a:lnTo>
                    <a:pt x="151" y="63"/>
                  </a:lnTo>
                  <a:lnTo>
                    <a:pt x="169" y="58"/>
                  </a:lnTo>
                  <a:lnTo>
                    <a:pt x="167" y="60"/>
                  </a:lnTo>
                  <a:lnTo>
                    <a:pt x="161" y="65"/>
                  </a:lnTo>
                  <a:lnTo>
                    <a:pt x="125" y="6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7" name="Freeform 396"/>
            <p:cNvSpPr>
              <a:spLocks/>
            </p:cNvSpPr>
            <p:nvPr/>
          </p:nvSpPr>
          <p:spPr bwMode="auto">
            <a:xfrm>
              <a:off x="980" y="1276"/>
              <a:ext cx="156" cy="54"/>
            </a:xfrm>
            <a:custGeom>
              <a:avLst/>
              <a:gdLst/>
              <a:ahLst/>
              <a:cxnLst>
                <a:cxn ang="0">
                  <a:pos x="64" y="33"/>
                </a:cxn>
                <a:cxn ang="0">
                  <a:pos x="42" y="44"/>
                </a:cxn>
                <a:cxn ang="0">
                  <a:pos x="11" y="49"/>
                </a:cxn>
                <a:cxn ang="0">
                  <a:pos x="6" y="38"/>
                </a:cxn>
                <a:cxn ang="0">
                  <a:pos x="0" y="33"/>
                </a:cxn>
                <a:cxn ang="0">
                  <a:pos x="21" y="25"/>
                </a:cxn>
                <a:cxn ang="0">
                  <a:pos x="28" y="20"/>
                </a:cxn>
                <a:cxn ang="0">
                  <a:pos x="52" y="9"/>
                </a:cxn>
                <a:cxn ang="0">
                  <a:pos x="51" y="2"/>
                </a:cxn>
                <a:cxn ang="0">
                  <a:pos x="94" y="0"/>
                </a:cxn>
                <a:cxn ang="0">
                  <a:pos x="104" y="3"/>
                </a:cxn>
                <a:cxn ang="0">
                  <a:pos x="107" y="6"/>
                </a:cxn>
                <a:cxn ang="0">
                  <a:pos x="129" y="3"/>
                </a:cxn>
                <a:cxn ang="0">
                  <a:pos x="140" y="14"/>
                </a:cxn>
                <a:cxn ang="0">
                  <a:pos x="108" y="21"/>
                </a:cxn>
                <a:cxn ang="0">
                  <a:pos x="77" y="28"/>
                </a:cxn>
                <a:cxn ang="0">
                  <a:pos x="64" y="33"/>
                </a:cxn>
              </a:cxnLst>
              <a:rect l="0" t="0" r="r" b="b"/>
              <a:pathLst>
                <a:path w="140" h="49">
                  <a:moveTo>
                    <a:pt x="64" y="33"/>
                  </a:moveTo>
                  <a:lnTo>
                    <a:pt x="42" y="44"/>
                  </a:lnTo>
                  <a:lnTo>
                    <a:pt x="11" y="49"/>
                  </a:lnTo>
                  <a:lnTo>
                    <a:pt x="6" y="38"/>
                  </a:lnTo>
                  <a:lnTo>
                    <a:pt x="0" y="33"/>
                  </a:lnTo>
                  <a:lnTo>
                    <a:pt x="21" y="25"/>
                  </a:lnTo>
                  <a:lnTo>
                    <a:pt x="28" y="20"/>
                  </a:lnTo>
                  <a:lnTo>
                    <a:pt x="52" y="9"/>
                  </a:lnTo>
                  <a:lnTo>
                    <a:pt x="51" y="2"/>
                  </a:lnTo>
                  <a:lnTo>
                    <a:pt x="94" y="0"/>
                  </a:lnTo>
                  <a:lnTo>
                    <a:pt x="104" y="3"/>
                  </a:lnTo>
                  <a:lnTo>
                    <a:pt x="107" y="6"/>
                  </a:lnTo>
                  <a:lnTo>
                    <a:pt x="129" y="3"/>
                  </a:lnTo>
                  <a:lnTo>
                    <a:pt x="140" y="14"/>
                  </a:lnTo>
                  <a:lnTo>
                    <a:pt x="108" y="21"/>
                  </a:lnTo>
                  <a:lnTo>
                    <a:pt x="77" y="28"/>
                  </a:lnTo>
                  <a:lnTo>
                    <a:pt x="64" y="3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8" name="Freeform 397"/>
            <p:cNvSpPr>
              <a:spLocks/>
            </p:cNvSpPr>
            <p:nvPr/>
          </p:nvSpPr>
          <p:spPr bwMode="auto">
            <a:xfrm>
              <a:off x="1611" y="1683"/>
              <a:ext cx="103" cy="93"/>
            </a:xfrm>
            <a:custGeom>
              <a:avLst/>
              <a:gdLst/>
              <a:ahLst/>
              <a:cxnLst>
                <a:cxn ang="0">
                  <a:pos x="47" y="67"/>
                </a:cxn>
                <a:cxn ang="0">
                  <a:pos x="48" y="64"/>
                </a:cxn>
                <a:cxn ang="0">
                  <a:pos x="22" y="68"/>
                </a:cxn>
                <a:cxn ang="0">
                  <a:pos x="0" y="66"/>
                </a:cxn>
                <a:cxn ang="0">
                  <a:pos x="5" y="58"/>
                </a:cxn>
                <a:cxn ang="0">
                  <a:pos x="16" y="51"/>
                </a:cxn>
                <a:cxn ang="0">
                  <a:pos x="5" y="51"/>
                </a:cxn>
                <a:cxn ang="0">
                  <a:pos x="10" y="49"/>
                </a:cxn>
                <a:cxn ang="0">
                  <a:pos x="23" y="42"/>
                </a:cxn>
                <a:cxn ang="0">
                  <a:pos x="24" y="43"/>
                </a:cxn>
                <a:cxn ang="0">
                  <a:pos x="26" y="39"/>
                </a:cxn>
                <a:cxn ang="0">
                  <a:pos x="23" y="36"/>
                </a:cxn>
                <a:cxn ang="0">
                  <a:pos x="29" y="33"/>
                </a:cxn>
                <a:cxn ang="0">
                  <a:pos x="43" y="14"/>
                </a:cxn>
                <a:cxn ang="0">
                  <a:pos x="60" y="1"/>
                </a:cxn>
                <a:cxn ang="0">
                  <a:pos x="67" y="0"/>
                </a:cxn>
                <a:cxn ang="0">
                  <a:pos x="73" y="0"/>
                </a:cxn>
                <a:cxn ang="0">
                  <a:pos x="64" y="4"/>
                </a:cxn>
                <a:cxn ang="0">
                  <a:pos x="66" y="7"/>
                </a:cxn>
                <a:cxn ang="0">
                  <a:pos x="60" y="13"/>
                </a:cxn>
                <a:cxn ang="0">
                  <a:pos x="43" y="33"/>
                </a:cxn>
                <a:cxn ang="0">
                  <a:pos x="56" y="24"/>
                </a:cxn>
                <a:cxn ang="0">
                  <a:pos x="54" y="27"/>
                </a:cxn>
                <a:cxn ang="0">
                  <a:pos x="64" y="26"/>
                </a:cxn>
                <a:cxn ang="0">
                  <a:pos x="55" y="31"/>
                </a:cxn>
                <a:cxn ang="0">
                  <a:pos x="55" y="34"/>
                </a:cxn>
                <a:cxn ang="0">
                  <a:pos x="65" y="37"/>
                </a:cxn>
                <a:cxn ang="0">
                  <a:pos x="62" y="40"/>
                </a:cxn>
                <a:cxn ang="0">
                  <a:pos x="76" y="34"/>
                </a:cxn>
                <a:cxn ang="0">
                  <a:pos x="74" y="38"/>
                </a:cxn>
                <a:cxn ang="0">
                  <a:pos x="88" y="37"/>
                </a:cxn>
                <a:cxn ang="0">
                  <a:pos x="78" y="46"/>
                </a:cxn>
                <a:cxn ang="0">
                  <a:pos x="80" y="50"/>
                </a:cxn>
                <a:cxn ang="0">
                  <a:pos x="76" y="54"/>
                </a:cxn>
                <a:cxn ang="0">
                  <a:pos x="92" y="50"/>
                </a:cxn>
                <a:cxn ang="0">
                  <a:pos x="77" y="60"/>
                </a:cxn>
                <a:cxn ang="0">
                  <a:pos x="78" y="62"/>
                </a:cxn>
                <a:cxn ang="0">
                  <a:pos x="77" y="62"/>
                </a:cxn>
                <a:cxn ang="0">
                  <a:pos x="77" y="68"/>
                </a:cxn>
                <a:cxn ang="0">
                  <a:pos x="91" y="57"/>
                </a:cxn>
                <a:cxn ang="0">
                  <a:pos x="84" y="68"/>
                </a:cxn>
                <a:cxn ang="0">
                  <a:pos x="91" y="64"/>
                </a:cxn>
                <a:cxn ang="0">
                  <a:pos x="92" y="69"/>
                </a:cxn>
                <a:cxn ang="0">
                  <a:pos x="80" y="85"/>
                </a:cxn>
                <a:cxn ang="0">
                  <a:pos x="74" y="82"/>
                </a:cxn>
                <a:cxn ang="0">
                  <a:pos x="74" y="76"/>
                </a:cxn>
                <a:cxn ang="0">
                  <a:pos x="67" y="80"/>
                </a:cxn>
                <a:cxn ang="0">
                  <a:pos x="74" y="68"/>
                </a:cxn>
                <a:cxn ang="0">
                  <a:pos x="71" y="63"/>
                </a:cxn>
                <a:cxn ang="0">
                  <a:pos x="64" y="72"/>
                </a:cxn>
                <a:cxn ang="0">
                  <a:pos x="67" y="68"/>
                </a:cxn>
                <a:cxn ang="0">
                  <a:pos x="44" y="81"/>
                </a:cxn>
                <a:cxn ang="0">
                  <a:pos x="44" y="76"/>
                </a:cxn>
                <a:cxn ang="0">
                  <a:pos x="62" y="67"/>
                </a:cxn>
                <a:cxn ang="0">
                  <a:pos x="58" y="68"/>
                </a:cxn>
                <a:cxn ang="0">
                  <a:pos x="61" y="64"/>
                </a:cxn>
                <a:cxn ang="0">
                  <a:pos x="54" y="67"/>
                </a:cxn>
                <a:cxn ang="0">
                  <a:pos x="48" y="70"/>
                </a:cxn>
                <a:cxn ang="0">
                  <a:pos x="42" y="69"/>
                </a:cxn>
                <a:cxn ang="0">
                  <a:pos x="47" y="67"/>
                </a:cxn>
              </a:cxnLst>
              <a:rect l="0" t="0" r="r" b="b"/>
              <a:pathLst>
                <a:path w="92" h="85">
                  <a:moveTo>
                    <a:pt x="47" y="67"/>
                  </a:moveTo>
                  <a:lnTo>
                    <a:pt x="48" y="64"/>
                  </a:lnTo>
                  <a:lnTo>
                    <a:pt x="22" y="68"/>
                  </a:lnTo>
                  <a:lnTo>
                    <a:pt x="0" y="66"/>
                  </a:lnTo>
                  <a:lnTo>
                    <a:pt x="5" y="58"/>
                  </a:lnTo>
                  <a:lnTo>
                    <a:pt x="16" y="51"/>
                  </a:lnTo>
                  <a:lnTo>
                    <a:pt x="5" y="51"/>
                  </a:lnTo>
                  <a:lnTo>
                    <a:pt x="10" y="49"/>
                  </a:lnTo>
                  <a:lnTo>
                    <a:pt x="23" y="42"/>
                  </a:lnTo>
                  <a:lnTo>
                    <a:pt x="24" y="43"/>
                  </a:lnTo>
                  <a:lnTo>
                    <a:pt x="26" y="39"/>
                  </a:lnTo>
                  <a:lnTo>
                    <a:pt x="23" y="36"/>
                  </a:lnTo>
                  <a:lnTo>
                    <a:pt x="29" y="33"/>
                  </a:lnTo>
                  <a:lnTo>
                    <a:pt x="43" y="14"/>
                  </a:lnTo>
                  <a:lnTo>
                    <a:pt x="60" y="1"/>
                  </a:lnTo>
                  <a:lnTo>
                    <a:pt x="67" y="0"/>
                  </a:lnTo>
                  <a:lnTo>
                    <a:pt x="73" y="0"/>
                  </a:lnTo>
                  <a:lnTo>
                    <a:pt x="64" y="4"/>
                  </a:lnTo>
                  <a:lnTo>
                    <a:pt x="66" y="7"/>
                  </a:lnTo>
                  <a:lnTo>
                    <a:pt x="60" y="13"/>
                  </a:lnTo>
                  <a:lnTo>
                    <a:pt x="43" y="33"/>
                  </a:lnTo>
                  <a:lnTo>
                    <a:pt x="56" y="24"/>
                  </a:lnTo>
                  <a:lnTo>
                    <a:pt x="54" y="27"/>
                  </a:lnTo>
                  <a:lnTo>
                    <a:pt x="64" y="26"/>
                  </a:lnTo>
                  <a:lnTo>
                    <a:pt x="55" y="31"/>
                  </a:lnTo>
                  <a:lnTo>
                    <a:pt x="55" y="34"/>
                  </a:lnTo>
                  <a:lnTo>
                    <a:pt x="65" y="37"/>
                  </a:lnTo>
                  <a:lnTo>
                    <a:pt x="62" y="40"/>
                  </a:lnTo>
                  <a:lnTo>
                    <a:pt x="76" y="34"/>
                  </a:lnTo>
                  <a:lnTo>
                    <a:pt x="74" y="38"/>
                  </a:lnTo>
                  <a:lnTo>
                    <a:pt x="88" y="37"/>
                  </a:lnTo>
                  <a:lnTo>
                    <a:pt x="78" y="46"/>
                  </a:lnTo>
                  <a:lnTo>
                    <a:pt x="80" y="50"/>
                  </a:lnTo>
                  <a:lnTo>
                    <a:pt x="76" y="54"/>
                  </a:lnTo>
                  <a:lnTo>
                    <a:pt x="92" y="50"/>
                  </a:lnTo>
                  <a:lnTo>
                    <a:pt x="77" y="60"/>
                  </a:lnTo>
                  <a:lnTo>
                    <a:pt x="78" y="62"/>
                  </a:lnTo>
                  <a:lnTo>
                    <a:pt x="77" y="62"/>
                  </a:lnTo>
                  <a:lnTo>
                    <a:pt x="77" y="68"/>
                  </a:lnTo>
                  <a:lnTo>
                    <a:pt x="91" y="57"/>
                  </a:lnTo>
                  <a:lnTo>
                    <a:pt x="84" y="68"/>
                  </a:lnTo>
                  <a:lnTo>
                    <a:pt x="91" y="64"/>
                  </a:lnTo>
                  <a:lnTo>
                    <a:pt x="92" y="69"/>
                  </a:lnTo>
                  <a:lnTo>
                    <a:pt x="80" y="85"/>
                  </a:lnTo>
                  <a:lnTo>
                    <a:pt x="74" y="82"/>
                  </a:lnTo>
                  <a:lnTo>
                    <a:pt x="74" y="76"/>
                  </a:lnTo>
                  <a:lnTo>
                    <a:pt x="67" y="80"/>
                  </a:lnTo>
                  <a:lnTo>
                    <a:pt x="74" y="68"/>
                  </a:lnTo>
                  <a:lnTo>
                    <a:pt x="71" y="63"/>
                  </a:lnTo>
                  <a:lnTo>
                    <a:pt x="64" y="72"/>
                  </a:lnTo>
                  <a:lnTo>
                    <a:pt x="67" y="68"/>
                  </a:lnTo>
                  <a:lnTo>
                    <a:pt x="44" y="81"/>
                  </a:lnTo>
                  <a:lnTo>
                    <a:pt x="44" y="76"/>
                  </a:lnTo>
                  <a:lnTo>
                    <a:pt x="62" y="67"/>
                  </a:lnTo>
                  <a:lnTo>
                    <a:pt x="58" y="68"/>
                  </a:lnTo>
                  <a:lnTo>
                    <a:pt x="61" y="64"/>
                  </a:lnTo>
                  <a:lnTo>
                    <a:pt x="54" y="67"/>
                  </a:lnTo>
                  <a:lnTo>
                    <a:pt x="48" y="70"/>
                  </a:lnTo>
                  <a:lnTo>
                    <a:pt x="42" y="69"/>
                  </a:lnTo>
                  <a:lnTo>
                    <a:pt x="47" y="6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9" name="Freeform 398"/>
            <p:cNvSpPr>
              <a:spLocks/>
            </p:cNvSpPr>
            <p:nvPr/>
          </p:nvSpPr>
          <p:spPr bwMode="auto">
            <a:xfrm>
              <a:off x="1414" y="1241"/>
              <a:ext cx="180" cy="31"/>
            </a:xfrm>
            <a:custGeom>
              <a:avLst/>
              <a:gdLst/>
              <a:ahLst/>
              <a:cxnLst>
                <a:cxn ang="0">
                  <a:pos x="65" y="15"/>
                </a:cxn>
                <a:cxn ang="0">
                  <a:pos x="48" y="9"/>
                </a:cxn>
                <a:cxn ang="0">
                  <a:pos x="72" y="9"/>
                </a:cxn>
                <a:cxn ang="0">
                  <a:pos x="29" y="6"/>
                </a:cxn>
                <a:cxn ang="0">
                  <a:pos x="37" y="0"/>
                </a:cxn>
                <a:cxn ang="0">
                  <a:pos x="0" y="1"/>
                </a:cxn>
                <a:cxn ang="0">
                  <a:pos x="34" y="6"/>
                </a:cxn>
                <a:cxn ang="0">
                  <a:pos x="28" y="17"/>
                </a:cxn>
                <a:cxn ang="0">
                  <a:pos x="22" y="29"/>
                </a:cxn>
                <a:cxn ang="0">
                  <a:pos x="57" y="28"/>
                </a:cxn>
                <a:cxn ang="0">
                  <a:pos x="90" y="28"/>
                </a:cxn>
                <a:cxn ang="0">
                  <a:pos x="125" y="27"/>
                </a:cxn>
                <a:cxn ang="0">
                  <a:pos x="159" y="27"/>
                </a:cxn>
                <a:cxn ang="0">
                  <a:pos x="163" y="19"/>
                </a:cxn>
                <a:cxn ang="0">
                  <a:pos x="137" y="13"/>
                </a:cxn>
                <a:cxn ang="0">
                  <a:pos x="101" y="15"/>
                </a:cxn>
                <a:cxn ang="0">
                  <a:pos x="65" y="15"/>
                </a:cxn>
              </a:cxnLst>
              <a:rect l="0" t="0" r="r" b="b"/>
              <a:pathLst>
                <a:path w="163" h="29">
                  <a:moveTo>
                    <a:pt x="65" y="15"/>
                  </a:moveTo>
                  <a:lnTo>
                    <a:pt x="48" y="9"/>
                  </a:lnTo>
                  <a:lnTo>
                    <a:pt x="72" y="9"/>
                  </a:lnTo>
                  <a:lnTo>
                    <a:pt x="29" y="6"/>
                  </a:lnTo>
                  <a:lnTo>
                    <a:pt x="37" y="0"/>
                  </a:lnTo>
                  <a:lnTo>
                    <a:pt x="0" y="1"/>
                  </a:lnTo>
                  <a:lnTo>
                    <a:pt x="34" y="6"/>
                  </a:lnTo>
                  <a:lnTo>
                    <a:pt x="28" y="17"/>
                  </a:lnTo>
                  <a:lnTo>
                    <a:pt x="22" y="29"/>
                  </a:lnTo>
                  <a:lnTo>
                    <a:pt x="57" y="28"/>
                  </a:lnTo>
                  <a:lnTo>
                    <a:pt x="90" y="28"/>
                  </a:lnTo>
                  <a:lnTo>
                    <a:pt x="125" y="27"/>
                  </a:lnTo>
                  <a:lnTo>
                    <a:pt x="159" y="27"/>
                  </a:lnTo>
                  <a:lnTo>
                    <a:pt x="163" y="19"/>
                  </a:lnTo>
                  <a:lnTo>
                    <a:pt x="137" y="13"/>
                  </a:lnTo>
                  <a:lnTo>
                    <a:pt x="101" y="15"/>
                  </a:lnTo>
                  <a:lnTo>
                    <a:pt x="65"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0" name="Freeform 399"/>
            <p:cNvSpPr>
              <a:spLocks/>
            </p:cNvSpPr>
            <p:nvPr/>
          </p:nvSpPr>
          <p:spPr bwMode="auto">
            <a:xfrm>
              <a:off x="1476" y="1181"/>
              <a:ext cx="113" cy="40"/>
            </a:xfrm>
            <a:custGeom>
              <a:avLst/>
              <a:gdLst/>
              <a:ahLst/>
              <a:cxnLst>
                <a:cxn ang="0">
                  <a:pos x="21" y="11"/>
                </a:cxn>
                <a:cxn ang="0">
                  <a:pos x="13" y="6"/>
                </a:cxn>
                <a:cxn ang="0">
                  <a:pos x="48" y="0"/>
                </a:cxn>
                <a:cxn ang="0">
                  <a:pos x="92" y="9"/>
                </a:cxn>
                <a:cxn ang="0">
                  <a:pos x="81" y="18"/>
                </a:cxn>
                <a:cxn ang="0">
                  <a:pos x="103" y="22"/>
                </a:cxn>
                <a:cxn ang="0">
                  <a:pos x="66" y="29"/>
                </a:cxn>
                <a:cxn ang="0">
                  <a:pos x="49" y="36"/>
                </a:cxn>
                <a:cxn ang="0">
                  <a:pos x="43" y="31"/>
                </a:cxn>
                <a:cxn ang="0">
                  <a:pos x="42" y="36"/>
                </a:cxn>
                <a:cxn ang="0">
                  <a:pos x="6" y="27"/>
                </a:cxn>
                <a:cxn ang="0">
                  <a:pos x="48" y="22"/>
                </a:cxn>
                <a:cxn ang="0">
                  <a:pos x="0" y="17"/>
                </a:cxn>
                <a:cxn ang="0">
                  <a:pos x="21" y="11"/>
                </a:cxn>
              </a:cxnLst>
              <a:rect l="0" t="0" r="r" b="b"/>
              <a:pathLst>
                <a:path w="103" h="36">
                  <a:moveTo>
                    <a:pt x="21" y="11"/>
                  </a:moveTo>
                  <a:lnTo>
                    <a:pt x="13" y="6"/>
                  </a:lnTo>
                  <a:lnTo>
                    <a:pt x="48" y="0"/>
                  </a:lnTo>
                  <a:lnTo>
                    <a:pt x="92" y="9"/>
                  </a:lnTo>
                  <a:lnTo>
                    <a:pt x="81" y="18"/>
                  </a:lnTo>
                  <a:lnTo>
                    <a:pt x="103" y="22"/>
                  </a:lnTo>
                  <a:lnTo>
                    <a:pt x="66" y="29"/>
                  </a:lnTo>
                  <a:lnTo>
                    <a:pt x="49" y="36"/>
                  </a:lnTo>
                  <a:lnTo>
                    <a:pt x="43" y="31"/>
                  </a:lnTo>
                  <a:lnTo>
                    <a:pt x="42" y="36"/>
                  </a:lnTo>
                  <a:lnTo>
                    <a:pt x="6" y="27"/>
                  </a:lnTo>
                  <a:lnTo>
                    <a:pt x="48" y="22"/>
                  </a:lnTo>
                  <a:lnTo>
                    <a:pt x="0" y="17"/>
                  </a:lnTo>
                  <a:lnTo>
                    <a:pt x="21"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1" name="Freeform 400"/>
            <p:cNvSpPr>
              <a:spLocks/>
            </p:cNvSpPr>
            <p:nvPr/>
          </p:nvSpPr>
          <p:spPr bwMode="auto">
            <a:xfrm>
              <a:off x="1142" y="1241"/>
              <a:ext cx="154" cy="35"/>
            </a:xfrm>
            <a:custGeom>
              <a:avLst/>
              <a:gdLst/>
              <a:ahLst/>
              <a:cxnLst>
                <a:cxn ang="0">
                  <a:pos x="37" y="34"/>
                </a:cxn>
                <a:cxn ang="0">
                  <a:pos x="22" y="29"/>
                </a:cxn>
                <a:cxn ang="0">
                  <a:pos x="68" y="22"/>
                </a:cxn>
                <a:cxn ang="0">
                  <a:pos x="33" y="21"/>
                </a:cxn>
                <a:cxn ang="0">
                  <a:pos x="0" y="21"/>
                </a:cxn>
                <a:cxn ang="0">
                  <a:pos x="32" y="16"/>
                </a:cxn>
                <a:cxn ang="0">
                  <a:pos x="18" y="15"/>
                </a:cxn>
                <a:cxn ang="0">
                  <a:pos x="39" y="12"/>
                </a:cxn>
                <a:cxn ang="0">
                  <a:pos x="30" y="9"/>
                </a:cxn>
                <a:cxn ang="0">
                  <a:pos x="69" y="11"/>
                </a:cxn>
                <a:cxn ang="0">
                  <a:pos x="96" y="18"/>
                </a:cxn>
                <a:cxn ang="0">
                  <a:pos x="97" y="6"/>
                </a:cxn>
                <a:cxn ang="0">
                  <a:pos x="121" y="0"/>
                </a:cxn>
                <a:cxn ang="0">
                  <a:pos x="112" y="15"/>
                </a:cxn>
                <a:cxn ang="0">
                  <a:pos x="139" y="13"/>
                </a:cxn>
                <a:cxn ang="0">
                  <a:pos x="117" y="24"/>
                </a:cxn>
                <a:cxn ang="0">
                  <a:pos x="100" y="23"/>
                </a:cxn>
                <a:cxn ang="0">
                  <a:pos x="69" y="28"/>
                </a:cxn>
                <a:cxn ang="0">
                  <a:pos x="37" y="34"/>
                </a:cxn>
              </a:cxnLst>
              <a:rect l="0" t="0" r="r" b="b"/>
              <a:pathLst>
                <a:path w="139" h="34">
                  <a:moveTo>
                    <a:pt x="37" y="34"/>
                  </a:moveTo>
                  <a:lnTo>
                    <a:pt x="22" y="29"/>
                  </a:lnTo>
                  <a:lnTo>
                    <a:pt x="68" y="22"/>
                  </a:lnTo>
                  <a:lnTo>
                    <a:pt x="33" y="21"/>
                  </a:lnTo>
                  <a:lnTo>
                    <a:pt x="0" y="21"/>
                  </a:lnTo>
                  <a:lnTo>
                    <a:pt x="32" y="16"/>
                  </a:lnTo>
                  <a:lnTo>
                    <a:pt x="18" y="15"/>
                  </a:lnTo>
                  <a:lnTo>
                    <a:pt x="39" y="12"/>
                  </a:lnTo>
                  <a:lnTo>
                    <a:pt x="30" y="9"/>
                  </a:lnTo>
                  <a:lnTo>
                    <a:pt x="69" y="11"/>
                  </a:lnTo>
                  <a:lnTo>
                    <a:pt x="96" y="18"/>
                  </a:lnTo>
                  <a:lnTo>
                    <a:pt x="97" y="6"/>
                  </a:lnTo>
                  <a:lnTo>
                    <a:pt x="121" y="0"/>
                  </a:lnTo>
                  <a:lnTo>
                    <a:pt x="112" y="15"/>
                  </a:lnTo>
                  <a:lnTo>
                    <a:pt x="139" y="13"/>
                  </a:lnTo>
                  <a:lnTo>
                    <a:pt x="117" y="24"/>
                  </a:lnTo>
                  <a:lnTo>
                    <a:pt x="100" y="23"/>
                  </a:lnTo>
                  <a:lnTo>
                    <a:pt x="69" y="28"/>
                  </a:lnTo>
                  <a:lnTo>
                    <a:pt x="37"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2" name="Freeform 401"/>
            <p:cNvSpPr>
              <a:spLocks/>
            </p:cNvSpPr>
            <p:nvPr/>
          </p:nvSpPr>
          <p:spPr bwMode="auto">
            <a:xfrm>
              <a:off x="1347" y="1419"/>
              <a:ext cx="95" cy="49"/>
            </a:xfrm>
            <a:custGeom>
              <a:avLst/>
              <a:gdLst/>
              <a:ahLst/>
              <a:cxnLst>
                <a:cxn ang="0">
                  <a:pos x="62" y="32"/>
                </a:cxn>
                <a:cxn ang="0">
                  <a:pos x="53" y="30"/>
                </a:cxn>
                <a:cxn ang="0">
                  <a:pos x="54" y="28"/>
                </a:cxn>
                <a:cxn ang="0">
                  <a:pos x="47" y="30"/>
                </a:cxn>
                <a:cxn ang="0">
                  <a:pos x="18" y="43"/>
                </a:cxn>
                <a:cxn ang="0">
                  <a:pos x="18" y="35"/>
                </a:cxn>
                <a:cxn ang="0">
                  <a:pos x="0" y="35"/>
                </a:cxn>
                <a:cxn ang="0">
                  <a:pos x="18" y="26"/>
                </a:cxn>
                <a:cxn ang="0">
                  <a:pos x="29" y="13"/>
                </a:cxn>
                <a:cxn ang="0">
                  <a:pos x="41" y="0"/>
                </a:cxn>
                <a:cxn ang="0">
                  <a:pos x="48" y="4"/>
                </a:cxn>
                <a:cxn ang="0">
                  <a:pos x="46" y="10"/>
                </a:cxn>
                <a:cxn ang="0">
                  <a:pos x="53" y="7"/>
                </a:cxn>
                <a:cxn ang="0">
                  <a:pos x="76" y="22"/>
                </a:cxn>
                <a:cxn ang="0">
                  <a:pos x="68" y="30"/>
                </a:cxn>
                <a:cxn ang="0">
                  <a:pos x="86" y="30"/>
                </a:cxn>
                <a:cxn ang="0">
                  <a:pos x="87" y="34"/>
                </a:cxn>
                <a:cxn ang="0">
                  <a:pos x="72" y="38"/>
                </a:cxn>
                <a:cxn ang="0">
                  <a:pos x="62" y="32"/>
                </a:cxn>
              </a:cxnLst>
              <a:rect l="0" t="0" r="r" b="b"/>
              <a:pathLst>
                <a:path w="87" h="43">
                  <a:moveTo>
                    <a:pt x="62" y="32"/>
                  </a:moveTo>
                  <a:lnTo>
                    <a:pt x="53" y="30"/>
                  </a:lnTo>
                  <a:lnTo>
                    <a:pt x="54" y="28"/>
                  </a:lnTo>
                  <a:lnTo>
                    <a:pt x="47" y="30"/>
                  </a:lnTo>
                  <a:lnTo>
                    <a:pt x="18" y="43"/>
                  </a:lnTo>
                  <a:lnTo>
                    <a:pt x="18" y="35"/>
                  </a:lnTo>
                  <a:lnTo>
                    <a:pt x="0" y="35"/>
                  </a:lnTo>
                  <a:lnTo>
                    <a:pt x="18" y="26"/>
                  </a:lnTo>
                  <a:lnTo>
                    <a:pt x="29" y="13"/>
                  </a:lnTo>
                  <a:lnTo>
                    <a:pt x="41" y="0"/>
                  </a:lnTo>
                  <a:lnTo>
                    <a:pt x="48" y="4"/>
                  </a:lnTo>
                  <a:lnTo>
                    <a:pt x="46" y="10"/>
                  </a:lnTo>
                  <a:lnTo>
                    <a:pt x="53" y="7"/>
                  </a:lnTo>
                  <a:lnTo>
                    <a:pt x="76" y="22"/>
                  </a:lnTo>
                  <a:lnTo>
                    <a:pt x="68" y="30"/>
                  </a:lnTo>
                  <a:lnTo>
                    <a:pt x="86" y="30"/>
                  </a:lnTo>
                  <a:lnTo>
                    <a:pt x="87" y="34"/>
                  </a:lnTo>
                  <a:lnTo>
                    <a:pt x="72" y="38"/>
                  </a:lnTo>
                  <a:lnTo>
                    <a:pt x="62" y="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3" name="Freeform 402"/>
            <p:cNvSpPr>
              <a:spLocks/>
            </p:cNvSpPr>
            <p:nvPr/>
          </p:nvSpPr>
          <p:spPr bwMode="auto">
            <a:xfrm>
              <a:off x="1276" y="1288"/>
              <a:ext cx="84" cy="35"/>
            </a:xfrm>
            <a:custGeom>
              <a:avLst/>
              <a:gdLst/>
              <a:ahLst/>
              <a:cxnLst>
                <a:cxn ang="0">
                  <a:pos x="76" y="0"/>
                </a:cxn>
                <a:cxn ang="0">
                  <a:pos x="32" y="0"/>
                </a:cxn>
                <a:cxn ang="0">
                  <a:pos x="37" y="8"/>
                </a:cxn>
                <a:cxn ang="0">
                  <a:pos x="27" y="14"/>
                </a:cxn>
                <a:cxn ang="0">
                  <a:pos x="0" y="14"/>
                </a:cxn>
                <a:cxn ang="0">
                  <a:pos x="15" y="23"/>
                </a:cxn>
                <a:cxn ang="0">
                  <a:pos x="32" y="33"/>
                </a:cxn>
                <a:cxn ang="0">
                  <a:pos x="36" y="28"/>
                </a:cxn>
                <a:cxn ang="0">
                  <a:pos x="56" y="27"/>
                </a:cxn>
                <a:cxn ang="0">
                  <a:pos x="66" y="14"/>
                </a:cxn>
                <a:cxn ang="0">
                  <a:pos x="76" y="0"/>
                </a:cxn>
              </a:cxnLst>
              <a:rect l="0" t="0" r="r" b="b"/>
              <a:pathLst>
                <a:path w="76" h="33">
                  <a:moveTo>
                    <a:pt x="76" y="0"/>
                  </a:moveTo>
                  <a:lnTo>
                    <a:pt x="32" y="0"/>
                  </a:lnTo>
                  <a:lnTo>
                    <a:pt x="37" y="8"/>
                  </a:lnTo>
                  <a:lnTo>
                    <a:pt x="27" y="14"/>
                  </a:lnTo>
                  <a:lnTo>
                    <a:pt x="0" y="14"/>
                  </a:lnTo>
                  <a:lnTo>
                    <a:pt x="15" y="23"/>
                  </a:lnTo>
                  <a:lnTo>
                    <a:pt x="32" y="33"/>
                  </a:lnTo>
                  <a:lnTo>
                    <a:pt x="36" y="28"/>
                  </a:lnTo>
                  <a:lnTo>
                    <a:pt x="56" y="27"/>
                  </a:lnTo>
                  <a:lnTo>
                    <a:pt x="66" y="14"/>
                  </a:lnTo>
                  <a:lnTo>
                    <a:pt x="7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4" name="Freeform 403"/>
            <p:cNvSpPr>
              <a:spLocks/>
            </p:cNvSpPr>
            <p:nvPr/>
          </p:nvSpPr>
          <p:spPr bwMode="auto">
            <a:xfrm>
              <a:off x="1356" y="1281"/>
              <a:ext cx="89" cy="35"/>
            </a:xfrm>
            <a:custGeom>
              <a:avLst/>
              <a:gdLst/>
              <a:ahLst/>
              <a:cxnLst>
                <a:cxn ang="0">
                  <a:pos x="49" y="18"/>
                </a:cxn>
                <a:cxn ang="0">
                  <a:pos x="22" y="20"/>
                </a:cxn>
                <a:cxn ang="0">
                  <a:pos x="26" y="23"/>
                </a:cxn>
                <a:cxn ang="0">
                  <a:pos x="14" y="30"/>
                </a:cxn>
                <a:cxn ang="0">
                  <a:pos x="0" y="32"/>
                </a:cxn>
                <a:cxn ang="0">
                  <a:pos x="2" y="29"/>
                </a:cxn>
                <a:cxn ang="0">
                  <a:pos x="16" y="9"/>
                </a:cxn>
                <a:cxn ang="0">
                  <a:pos x="26" y="8"/>
                </a:cxn>
                <a:cxn ang="0">
                  <a:pos x="25" y="4"/>
                </a:cxn>
                <a:cxn ang="0">
                  <a:pos x="34" y="0"/>
                </a:cxn>
                <a:cxn ang="0">
                  <a:pos x="80" y="4"/>
                </a:cxn>
                <a:cxn ang="0">
                  <a:pos x="68" y="9"/>
                </a:cxn>
                <a:cxn ang="0">
                  <a:pos x="49" y="18"/>
                </a:cxn>
              </a:cxnLst>
              <a:rect l="0" t="0" r="r" b="b"/>
              <a:pathLst>
                <a:path w="80" h="32">
                  <a:moveTo>
                    <a:pt x="49" y="18"/>
                  </a:moveTo>
                  <a:lnTo>
                    <a:pt x="22" y="20"/>
                  </a:lnTo>
                  <a:lnTo>
                    <a:pt x="26" y="23"/>
                  </a:lnTo>
                  <a:lnTo>
                    <a:pt x="14" y="30"/>
                  </a:lnTo>
                  <a:lnTo>
                    <a:pt x="0" y="32"/>
                  </a:lnTo>
                  <a:lnTo>
                    <a:pt x="2" y="29"/>
                  </a:lnTo>
                  <a:lnTo>
                    <a:pt x="16" y="9"/>
                  </a:lnTo>
                  <a:lnTo>
                    <a:pt x="26" y="8"/>
                  </a:lnTo>
                  <a:lnTo>
                    <a:pt x="25" y="4"/>
                  </a:lnTo>
                  <a:lnTo>
                    <a:pt x="34" y="0"/>
                  </a:lnTo>
                  <a:lnTo>
                    <a:pt x="80" y="4"/>
                  </a:lnTo>
                  <a:lnTo>
                    <a:pt x="68" y="9"/>
                  </a:lnTo>
                  <a:lnTo>
                    <a:pt x="4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5" name="Freeform 404"/>
            <p:cNvSpPr>
              <a:spLocks/>
            </p:cNvSpPr>
            <p:nvPr/>
          </p:nvSpPr>
          <p:spPr bwMode="auto">
            <a:xfrm>
              <a:off x="578" y="1696"/>
              <a:ext cx="49" cy="47"/>
            </a:xfrm>
            <a:custGeom>
              <a:avLst/>
              <a:gdLst/>
              <a:ahLst/>
              <a:cxnLst>
                <a:cxn ang="0">
                  <a:pos x="30" y="27"/>
                </a:cxn>
                <a:cxn ang="0">
                  <a:pos x="28" y="30"/>
                </a:cxn>
                <a:cxn ang="0">
                  <a:pos x="16" y="29"/>
                </a:cxn>
                <a:cxn ang="0">
                  <a:pos x="19" y="26"/>
                </a:cxn>
                <a:cxn ang="0">
                  <a:pos x="14" y="25"/>
                </a:cxn>
                <a:cxn ang="0">
                  <a:pos x="8" y="23"/>
                </a:cxn>
                <a:cxn ang="0">
                  <a:pos x="18" y="19"/>
                </a:cxn>
                <a:cxn ang="0">
                  <a:pos x="8" y="15"/>
                </a:cxn>
                <a:cxn ang="0">
                  <a:pos x="8" y="12"/>
                </a:cxn>
                <a:cxn ang="0">
                  <a:pos x="2" y="11"/>
                </a:cxn>
                <a:cxn ang="0">
                  <a:pos x="1" y="8"/>
                </a:cxn>
                <a:cxn ang="0">
                  <a:pos x="8" y="3"/>
                </a:cxn>
                <a:cxn ang="0">
                  <a:pos x="5" y="5"/>
                </a:cxn>
                <a:cxn ang="0">
                  <a:pos x="0" y="0"/>
                </a:cxn>
                <a:cxn ang="0">
                  <a:pos x="14" y="2"/>
                </a:cxn>
                <a:cxn ang="0">
                  <a:pos x="30" y="6"/>
                </a:cxn>
                <a:cxn ang="0">
                  <a:pos x="34" y="14"/>
                </a:cxn>
                <a:cxn ang="0">
                  <a:pos x="41" y="25"/>
                </a:cxn>
                <a:cxn ang="0">
                  <a:pos x="42" y="37"/>
                </a:cxn>
                <a:cxn ang="0">
                  <a:pos x="43" y="41"/>
                </a:cxn>
                <a:cxn ang="0">
                  <a:pos x="22" y="35"/>
                </a:cxn>
                <a:cxn ang="0">
                  <a:pos x="30" y="27"/>
                </a:cxn>
              </a:cxnLst>
              <a:rect l="0" t="0" r="r" b="b"/>
              <a:pathLst>
                <a:path w="43" h="41">
                  <a:moveTo>
                    <a:pt x="30" y="27"/>
                  </a:moveTo>
                  <a:lnTo>
                    <a:pt x="28" y="30"/>
                  </a:lnTo>
                  <a:lnTo>
                    <a:pt x="16" y="29"/>
                  </a:lnTo>
                  <a:lnTo>
                    <a:pt x="19" y="26"/>
                  </a:lnTo>
                  <a:lnTo>
                    <a:pt x="14" y="25"/>
                  </a:lnTo>
                  <a:lnTo>
                    <a:pt x="8" y="23"/>
                  </a:lnTo>
                  <a:lnTo>
                    <a:pt x="18" y="19"/>
                  </a:lnTo>
                  <a:lnTo>
                    <a:pt x="8" y="15"/>
                  </a:lnTo>
                  <a:lnTo>
                    <a:pt x="8" y="12"/>
                  </a:lnTo>
                  <a:lnTo>
                    <a:pt x="2" y="11"/>
                  </a:lnTo>
                  <a:lnTo>
                    <a:pt x="1" y="8"/>
                  </a:lnTo>
                  <a:lnTo>
                    <a:pt x="8" y="3"/>
                  </a:lnTo>
                  <a:lnTo>
                    <a:pt x="5" y="5"/>
                  </a:lnTo>
                  <a:lnTo>
                    <a:pt x="0" y="0"/>
                  </a:lnTo>
                  <a:lnTo>
                    <a:pt x="14" y="2"/>
                  </a:lnTo>
                  <a:lnTo>
                    <a:pt x="30" y="6"/>
                  </a:lnTo>
                  <a:lnTo>
                    <a:pt x="34" y="14"/>
                  </a:lnTo>
                  <a:lnTo>
                    <a:pt x="41" y="25"/>
                  </a:lnTo>
                  <a:lnTo>
                    <a:pt x="42" y="37"/>
                  </a:lnTo>
                  <a:lnTo>
                    <a:pt x="43" y="41"/>
                  </a:lnTo>
                  <a:lnTo>
                    <a:pt x="22" y="35"/>
                  </a:lnTo>
                  <a:lnTo>
                    <a:pt x="3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6" name="Freeform 405"/>
            <p:cNvSpPr>
              <a:spLocks/>
            </p:cNvSpPr>
            <p:nvPr/>
          </p:nvSpPr>
          <p:spPr bwMode="auto">
            <a:xfrm>
              <a:off x="1100" y="1230"/>
              <a:ext cx="111" cy="24"/>
            </a:xfrm>
            <a:custGeom>
              <a:avLst/>
              <a:gdLst/>
              <a:ahLst/>
              <a:cxnLst>
                <a:cxn ang="0">
                  <a:pos x="60" y="12"/>
                </a:cxn>
                <a:cxn ang="0">
                  <a:pos x="63" y="9"/>
                </a:cxn>
                <a:cxn ang="0">
                  <a:pos x="49" y="13"/>
                </a:cxn>
                <a:cxn ang="0">
                  <a:pos x="39" y="17"/>
                </a:cxn>
                <a:cxn ang="0">
                  <a:pos x="36" y="15"/>
                </a:cxn>
                <a:cxn ang="0">
                  <a:pos x="29" y="20"/>
                </a:cxn>
                <a:cxn ang="0">
                  <a:pos x="19" y="21"/>
                </a:cxn>
                <a:cxn ang="0">
                  <a:pos x="19" y="18"/>
                </a:cxn>
                <a:cxn ang="0">
                  <a:pos x="11" y="20"/>
                </a:cxn>
                <a:cxn ang="0">
                  <a:pos x="0" y="19"/>
                </a:cxn>
                <a:cxn ang="0">
                  <a:pos x="6" y="15"/>
                </a:cxn>
                <a:cxn ang="0">
                  <a:pos x="43" y="7"/>
                </a:cxn>
                <a:cxn ang="0">
                  <a:pos x="69" y="1"/>
                </a:cxn>
                <a:cxn ang="0">
                  <a:pos x="85" y="0"/>
                </a:cxn>
                <a:cxn ang="0">
                  <a:pos x="101" y="2"/>
                </a:cxn>
                <a:cxn ang="0">
                  <a:pos x="87" y="6"/>
                </a:cxn>
                <a:cxn ang="0">
                  <a:pos x="89" y="7"/>
                </a:cxn>
                <a:cxn ang="0">
                  <a:pos x="85" y="8"/>
                </a:cxn>
                <a:cxn ang="0">
                  <a:pos x="69" y="12"/>
                </a:cxn>
                <a:cxn ang="0">
                  <a:pos x="60" y="17"/>
                </a:cxn>
                <a:cxn ang="0">
                  <a:pos x="60" y="12"/>
                </a:cxn>
              </a:cxnLst>
              <a:rect l="0" t="0" r="r" b="b"/>
              <a:pathLst>
                <a:path w="101" h="21">
                  <a:moveTo>
                    <a:pt x="60" y="12"/>
                  </a:moveTo>
                  <a:lnTo>
                    <a:pt x="63" y="9"/>
                  </a:lnTo>
                  <a:lnTo>
                    <a:pt x="49" y="13"/>
                  </a:lnTo>
                  <a:lnTo>
                    <a:pt x="39" y="17"/>
                  </a:lnTo>
                  <a:lnTo>
                    <a:pt x="36" y="15"/>
                  </a:lnTo>
                  <a:lnTo>
                    <a:pt x="29" y="20"/>
                  </a:lnTo>
                  <a:lnTo>
                    <a:pt x="19" y="21"/>
                  </a:lnTo>
                  <a:lnTo>
                    <a:pt x="19" y="18"/>
                  </a:lnTo>
                  <a:lnTo>
                    <a:pt x="11" y="20"/>
                  </a:lnTo>
                  <a:lnTo>
                    <a:pt x="0" y="19"/>
                  </a:lnTo>
                  <a:lnTo>
                    <a:pt x="6" y="15"/>
                  </a:lnTo>
                  <a:lnTo>
                    <a:pt x="43" y="7"/>
                  </a:lnTo>
                  <a:lnTo>
                    <a:pt x="69" y="1"/>
                  </a:lnTo>
                  <a:lnTo>
                    <a:pt x="85" y="0"/>
                  </a:lnTo>
                  <a:lnTo>
                    <a:pt x="101" y="2"/>
                  </a:lnTo>
                  <a:lnTo>
                    <a:pt x="87" y="6"/>
                  </a:lnTo>
                  <a:lnTo>
                    <a:pt x="89" y="7"/>
                  </a:lnTo>
                  <a:lnTo>
                    <a:pt x="85" y="8"/>
                  </a:lnTo>
                  <a:lnTo>
                    <a:pt x="69" y="12"/>
                  </a:lnTo>
                  <a:lnTo>
                    <a:pt x="60" y="17"/>
                  </a:lnTo>
                  <a:lnTo>
                    <a:pt x="6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7" name="Freeform 406"/>
            <p:cNvSpPr>
              <a:spLocks/>
            </p:cNvSpPr>
            <p:nvPr/>
          </p:nvSpPr>
          <p:spPr bwMode="auto">
            <a:xfrm>
              <a:off x="1327" y="1243"/>
              <a:ext cx="67" cy="25"/>
            </a:xfrm>
            <a:custGeom>
              <a:avLst/>
              <a:gdLst/>
              <a:ahLst/>
              <a:cxnLst>
                <a:cxn ang="0">
                  <a:pos x="29" y="7"/>
                </a:cxn>
                <a:cxn ang="0">
                  <a:pos x="19" y="4"/>
                </a:cxn>
                <a:cxn ang="0">
                  <a:pos x="23" y="6"/>
                </a:cxn>
                <a:cxn ang="0">
                  <a:pos x="16" y="7"/>
                </a:cxn>
                <a:cxn ang="0">
                  <a:pos x="16" y="9"/>
                </a:cxn>
                <a:cxn ang="0">
                  <a:pos x="15" y="10"/>
                </a:cxn>
                <a:cxn ang="0">
                  <a:pos x="0" y="13"/>
                </a:cxn>
                <a:cxn ang="0">
                  <a:pos x="40" y="13"/>
                </a:cxn>
                <a:cxn ang="0">
                  <a:pos x="16" y="18"/>
                </a:cxn>
                <a:cxn ang="0">
                  <a:pos x="15" y="19"/>
                </a:cxn>
                <a:cxn ang="0">
                  <a:pos x="39" y="21"/>
                </a:cxn>
                <a:cxn ang="0">
                  <a:pos x="41" y="19"/>
                </a:cxn>
                <a:cxn ang="0">
                  <a:pos x="45" y="16"/>
                </a:cxn>
                <a:cxn ang="0">
                  <a:pos x="53" y="16"/>
                </a:cxn>
                <a:cxn ang="0">
                  <a:pos x="55" y="13"/>
                </a:cxn>
                <a:cxn ang="0">
                  <a:pos x="51" y="12"/>
                </a:cxn>
                <a:cxn ang="0">
                  <a:pos x="61" y="4"/>
                </a:cxn>
                <a:cxn ang="0">
                  <a:pos x="59" y="0"/>
                </a:cxn>
                <a:cxn ang="0">
                  <a:pos x="49" y="2"/>
                </a:cxn>
                <a:cxn ang="0">
                  <a:pos x="31" y="2"/>
                </a:cxn>
                <a:cxn ang="0">
                  <a:pos x="39" y="7"/>
                </a:cxn>
                <a:cxn ang="0">
                  <a:pos x="33" y="8"/>
                </a:cxn>
                <a:cxn ang="0">
                  <a:pos x="29" y="7"/>
                </a:cxn>
              </a:cxnLst>
              <a:rect l="0" t="0" r="r" b="b"/>
              <a:pathLst>
                <a:path w="61" h="21">
                  <a:moveTo>
                    <a:pt x="29" y="7"/>
                  </a:moveTo>
                  <a:lnTo>
                    <a:pt x="19" y="4"/>
                  </a:lnTo>
                  <a:lnTo>
                    <a:pt x="23" y="6"/>
                  </a:lnTo>
                  <a:lnTo>
                    <a:pt x="16" y="7"/>
                  </a:lnTo>
                  <a:lnTo>
                    <a:pt x="16" y="9"/>
                  </a:lnTo>
                  <a:lnTo>
                    <a:pt x="15" y="10"/>
                  </a:lnTo>
                  <a:lnTo>
                    <a:pt x="0" y="13"/>
                  </a:lnTo>
                  <a:lnTo>
                    <a:pt x="40" y="13"/>
                  </a:lnTo>
                  <a:lnTo>
                    <a:pt x="16" y="18"/>
                  </a:lnTo>
                  <a:lnTo>
                    <a:pt x="15" y="19"/>
                  </a:lnTo>
                  <a:lnTo>
                    <a:pt x="39" y="21"/>
                  </a:lnTo>
                  <a:lnTo>
                    <a:pt x="41" y="19"/>
                  </a:lnTo>
                  <a:lnTo>
                    <a:pt x="45" y="16"/>
                  </a:lnTo>
                  <a:lnTo>
                    <a:pt x="53" y="16"/>
                  </a:lnTo>
                  <a:lnTo>
                    <a:pt x="55" y="13"/>
                  </a:lnTo>
                  <a:lnTo>
                    <a:pt x="51" y="12"/>
                  </a:lnTo>
                  <a:lnTo>
                    <a:pt x="61" y="4"/>
                  </a:lnTo>
                  <a:lnTo>
                    <a:pt x="59" y="0"/>
                  </a:lnTo>
                  <a:lnTo>
                    <a:pt x="49" y="2"/>
                  </a:lnTo>
                  <a:lnTo>
                    <a:pt x="31" y="2"/>
                  </a:lnTo>
                  <a:lnTo>
                    <a:pt x="39" y="7"/>
                  </a:lnTo>
                  <a:lnTo>
                    <a:pt x="33" y="8"/>
                  </a:lnTo>
                  <a:lnTo>
                    <a:pt x="29"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8" name="Freeform 407"/>
            <p:cNvSpPr>
              <a:spLocks/>
            </p:cNvSpPr>
            <p:nvPr/>
          </p:nvSpPr>
          <p:spPr bwMode="auto">
            <a:xfrm>
              <a:off x="1351" y="1205"/>
              <a:ext cx="63" cy="23"/>
            </a:xfrm>
            <a:custGeom>
              <a:avLst/>
              <a:gdLst/>
              <a:ahLst/>
              <a:cxnLst>
                <a:cxn ang="0">
                  <a:pos x="35" y="4"/>
                </a:cxn>
                <a:cxn ang="0">
                  <a:pos x="36" y="2"/>
                </a:cxn>
                <a:cxn ang="0">
                  <a:pos x="49" y="4"/>
                </a:cxn>
                <a:cxn ang="0">
                  <a:pos x="54" y="5"/>
                </a:cxn>
                <a:cxn ang="0">
                  <a:pos x="52" y="10"/>
                </a:cxn>
                <a:cxn ang="0">
                  <a:pos x="55" y="16"/>
                </a:cxn>
                <a:cxn ang="0">
                  <a:pos x="41" y="19"/>
                </a:cxn>
                <a:cxn ang="0">
                  <a:pos x="26" y="12"/>
                </a:cxn>
                <a:cxn ang="0">
                  <a:pos x="0" y="11"/>
                </a:cxn>
                <a:cxn ang="0">
                  <a:pos x="6" y="8"/>
                </a:cxn>
                <a:cxn ang="0">
                  <a:pos x="19" y="7"/>
                </a:cxn>
                <a:cxn ang="0">
                  <a:pos x="18" y="4"/>
                </a:cxn>
                <a:cxn ang="0">
                  <a:pos x="10" y="4"/>
                </a:cxn>
                <a:cxn ang="0">
                  <a:pos x="6" y="0"/>
                </a:cxn>
                <a:cxn ang="0">
                  <a:pos x="35" y="0"/>
                </a:cxn>
                <a:cxn ang="0">
                  <a:pos x="35" y="4"/>
                </a:cxn>
              </a:cxnLst>
              <a:rect l="0" t="0" r="r" b="b"/>
              <a:pathLst>
                <a:path w="55" h="19">
                  <a:moveTo>
                    <a:pt x="35" y="4"/>
                  </a:moveTo>
                  <a:lnTo>
                    <a:pt x="36" y="2"/>
                  </a:lnTo>
                  <a:lnTo>
                    <a:pt x="49" y="4"/>
                  </a:lnTo>
                  <a:lnTo>
                    <a:pt x="54" y="5"/>
                  </a:lnTo>
                  <a:lnTo>
                    <a:pt x="52" y="10"/>
                  </a:lnTo>
                  <a:lnTo>
                    <a:pt x="55" y="16"/>
                  </a:lnTo>
                  <a:lnTo>
                    <a:pt x="41" y="19"/>
                  </a:lnTo>
                  <a:lnTo>
                    <a:pt x="26" y="12"/>
                  </a:lnTo>
                  <a:lnTo>
                    <a:pt x="0" y="11"/>
                  </a:lnTo>
                  <a:lnTo>
                    <a:pt x="6" y="8"/>
                  </a:lnTo>
                  <a:lnTo>
                    <a:pt x="19" y="7"/>
                  </a:lnTo>
                  <a:lnTo>
                    <a:pt x="18" y="4"/>
                  </a:lnTo>
                  <a:lnTo>
                    <a:pt x="10" y="4"/>
                  </a:lnTo>
                  <a:lnTo>
                    <a:pt x="6" y="0"/>
                  </a:lnTo>
                  <a:lnTo>
                    <a:pt x="35" y="0"/>
                  </a:lnTo>
                  <a:lnTo>
                    <a:pt x="3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9" name="Freeform 408"/>
            <p:cNvSpPr>
              <a:spLocks/>
            </p:cNvSpPr>
            <p:nvPr/>
          </p:nvSpPr>
          <p:spPr bwMode="auto">
            <a:xfrm>
              <a:off x="1256" y="1350"/>
              <a:ext cx="53" cy="24"/>
            </a:xfrm>
            <a:custGeom>
              <a:avLst/>
              <a:gdLst/>
              <a:ahLst/>
              <a:cxnLst>
                <a:cxn ang="0">
                  <a:pos x="42" y="12"/>
                </a:cxn>
                <a:cxn ang="0">
                  <a:pos x="43" y="9"/>
                </a:cxn>
                <a:cxn ang="0">
                  <a:pos x="30" y="0"/>
                </a:cxn>
                <a:cxn ang="0">
                  <a:pos x="22" y="6"/>
                </a:cxn>
                <a:cxn ang="0">
                  <a:pos x="21" y="4"/>
                </a:cxn>
                <a:cxn ang="0">
                  <a:pos x="18" y="9"/>
                </a:cxn>
                <a:cxn ang="0">
                  <a:pos x="0" y="14"/>
                </a:cxn>
                <a:cxn ang="0">
                  <a:pos x="28" y="22"/>
                </a:cxn>
                <a:cxn ang="0">
                  <a:pos x="49" y="16"/>
                </a:cxn>
                <a:cxn ang="0">
                  <a:pos x="43" y="16"/>
                </a:cxn>
                <a:cxn ang="0">
                  <a:pos x="42" y="12"/>
                </a:cxn>
              </a:cxnLst>
              <a:rect l="0" t="0" r="r" b="b"/>
              <a:pathLst>
                <a:path w="49" h="22">
                  <a:moveTo>
                    <a:pt x="42" y="12"/>
                  </a:moveTo>
                  <a:lnTo>
                    <a:pt x="43" y="9"/>
                  </a:lnTo>
                  <a:lnTo>
                    <a:pt x="30" y="0"/>
                  </a:lnTo>
                  <a:lnTo>
                    <a:pt x="22" y="6"/>
                  </a:lnTo>
                  <a:lnTo>
                    <a:pt x="21" y="4"/>
                  </a:lnTo>
                  <a:lnTo>
                    <a:pt x="18" y="9"/>
                  </a:lnTo>
                  <a:lnTo>
                    <a:pt x="0" y="14"/>
                  </a:lnTo>
                  <a:lnTo>
                    <a:pt x="28" y="22"/>
                  </a:lnTo>
                  <a:lnTo>
                    <a:pt x="49" y="16"/>
                  </a:lnTo>
                  <a:lnTo>
                    <a:pt x="43" y="16"/>
                  </a:lnTo>
                  <a:lnTo>
                    <a:pt x="42"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0" name="Freeform 409"/>
            <p:cNvSpPr>
              <a:spLocks/>
            </p:cNvSpPr>
            <p:nvPr/>
          </p:nvSpPr>
          <p:spPr bwMode="auto">
            <a:xfrm>
              <a:off x="1549" y="1290"/>
              <a:ext cx="53" cy="13"/>
            </a:xfrm>
            <a:custGeom>
              <a:avLst/>
              <a:gdLst/>
              <a:ahLst/>
              <a:cxnLst>
                <a:cxn ang="0">
                  <a:pos x="33" y="0"/>
                </a:cxn>
                <a:cxn ang="0">
                  <a:pos x="2" y="0"/>
                </a:cxn>
                <a:cxn ang="0">
                  <a:pos x="0" y="4"/>
                </a:cxn>
                <a:cxn ang="0">
                  <a:pos x="5" y="8"/>
                </a:cxn>
                <a:cxn ang="0">
                  <a:pos x="9" y="13"/>
                </a:cxn>
                <a:cxn ang="0">
                  <a:pos x="48" y="10"/>
                </a:cxn>
                <a:cxn ang="0">
                  <a:pos x="33" y="0"/>
                </a:cxn>
              </a:cxnLst>
              <a:rect l="0" t="0" r="r" b="b"/>
              <a:pathLst>
                <a:path w="48" h="13">
                  <a:moveTo>
                    <a:pt x="33" y="0"/>
                  </a:moveTo>
                  <a:lnTo>
                    <a:pt x="2" y="0"/>
                  </a:lnTo>
                  <a:lnTo>
                    <a:pt x="0" y="4"/>
                  </a:lnTo>
                  <a:lnTo>
                    <a:pt x="5" y="8"/>
                  </a:lnTo>
                  <a:lnTo>
                    <a:pt x="9" y="13"/>
                  </a:lnTo>
                  <a:lnTo>
                    <a:pt x="48" y="10"/>
                  </a:lnTo>
                  <a:lnTo>
                    <a:pt x="3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1" name="Freeform 410"/>
            <p:cNvSpPr>
              <a:spLocks/>
            </p:cNvSpPr>
            <p:nvPr/>
          </p:nvSpPr>
          <p:spPr bwMode="auto">
            <a:xfrm>
              <a:off x="1527" y="1376"/>
              <a:ext cx="33" cy="20"/>
            </a:xfrm>
            <a:custGeom>
              <a:avLst/>
              <a:gdLst/>
              <a:ahLst/>
              <a:cxnLst>
                <a:cxn ang="0">
                  <a:pos x="27" y="11"/>
                </a:cxn>
                <a:cxn ang="0">
                  <a:pos x="4" y="17"/>
                </a:cxn>
                <a:cxn ang="0">
                  <a:pos x="0" y="8"/>
                </a:cxn>
                <a:cxn ang="0">
                  <a:pos x="19" y="0"/>
                </a:cxn>
                <a:cxn ang="0">
                  <a:pos x="30" y="3"/>
                </a:cxn>
                <a:cxn ang="0">
                  <a:pos x="27" y="11"/>
                </a:cxn>
              </a:cxnLst>
              <a:rect l="0" t="0" r="r" b="b"/>
              <a:pathLst>
                <a:path w="30" h="17">
                  <a:moveTo>
                    <a:pt x="27" y="11"/>
                  </a:moveTo>
                  <a:lnTo>
                    <a:pt x="4" y="17"/>
                  </a:lnTo>
                  <a:lnTo>
                    <a:pt x="0" y="8"/>
                  </a:lnTo>
                  <a:lnTo>
                    <a:pt x="19" y="0"/>
                  </a:lnTo>
                  <a:lnTo>
                    <a:pt x="30" y="3"/>
                  </a:lnTo>
                  <a:lnTo>
                    <a:pt x="27"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2" name="Freeform 411"/>
            <p:cNvSpPr>
              <a:spLocks/>
            </p:cNvSpPr>
            <p:nvPr/>
          </p:nvSpPr>
          <p:spPr bwMode="auto">
            <a:xfrm>
              <a:off x="1427" y="1212"/>
              <a:ext cx="38" cy="16"/>
            </a:xfrm>
            <a:custGeom>
              <a:avLst/>
              <a:gdLst/>
              <a:ahLst/>
              <a:cxnLst>
                <a:cxn ang="0">
                  <a:pos x="0" y="6"/>
                </a:cxn>
                <a:cxn ang="0">
                  <a:pos x="4" y="0"/>
                </a:cxn>
                <a:cxn ang="0">
                  <a:pos x="34" y="5"/>
                </a:cxn>
                <a:cxn ang="0">
                  <a:pos x="29" y="8"/>
                </a:cxn>
                <a:cxn ang="0">
                  <a:pos x="4" y="13"/>
                </a:cxn>
                <a:cxn ang="0">
                  <a:pos x="0" y="8"/>
                </a:cxn>
                <a:cxn ang="0">
                  <a:pos x="0" y="6"/>
                </a:cxn>
              </a:cxnLst>
              <a:rect l="0" t="0" r="r" b="b"/>
              <a:pathLst>
                <a:path w="34" h="13">
                  <a:moveTo>
                    <a:pt x="0" y="6"/>
                  </a:moveTo>
                  <a:lnTo>
                    <a:pt x="4" y="0"/>
                  </a:lnTo>
                  <a:lnTo>
                    <a:pt x="34" y="5"/>
                  </a:lnTo>
                  <a:lnTo>
                    <a:pt x="29" y="8"/>
                  </a:lnTo>
                  <a:lnTo>
                    <a:pt x="4" y="13"/>
                  </a:lnTo>
                  <a:lnTo>
                    <a:pt x="0" y="8"/>
                  </a:lnTo>
                  <a:lnTo>
                    <a:pt x="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3" name="Freeform 412"/>
            <p:cNvSpPr>
              <a:spLocks/>
            </p:cNvSpPr>
            <p:nvPr/>
          </p:nvSpPr>
          <p:spPr bwMode="auto">
            <a:xfrm>
              <a:off x="1385" y="1259"/>
              <a:ext cx="37" cy="11"/>
            </a:xfrm>
            <a:custGeom>
              <a:avLst/>
              <a:gdLst/>
              <a:ahLst/>
              <a:cxnLst>
                <a:cxn ang="0">
                  <a:pos x="10" y="11"/>
                </a:cxn>
                <a:cxn ang="0">
                  <a:pos x="0" y="8"/>
                </a:cxn>
                <a:cxn ang="0">
                  <a:pos x="26" y="0"/>
                </a:cxn>
                <a:cxn ang="0">
                  <a:pos x="35" y="7"/>
                </a:cxn>
                <a:cxn ang="0">
                  <a:pos x="31" y="11"/>
                </a:cxn>
                <a:cxn ang="0">
                  <a:pos x="10" y="11"/>
                </a:cxn>
              </a:cxnLst>
              <a:rect l="0" t="0" r="r" b="b"/>
              <a:pathLst>
                <a:path w="35" h="11">
                  <a:moveTo>
                    <a:pt x="10" y="11"/>
                  </a:moveTo>
                  <a:lnTo>
                    <a:pt x="0" y="8"/>
                  </a:lnTo>
                  <a:lnTo>
                    <a:pt x="26" y="0"/>
                  </a:lnTo>
                  <a:lnTo>
                    <a:pt x="35" y="7"/>
                  </a:lnTo>
                  <a:lnTo>
                    <a:pt x="31" y="11"/>
                  </a:lnTo>
                  <a:lnTo>
                    <a:pt x="10"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4" name="Freeform 413"/>
            <p:cNvSpPr>
              <a:spLocks/>
            </p:cNvSpPr>
            <p:nvPr/>
          </p:nvSpPr>
          <p:spPr bwMode="auto">
            <a:xfrm>
              <a:off x="1236" y="1288"/>
              <a:ext cx="31" cy="13"/>
            </a:xfrm>
            <a:custGeom>
              <a:avLst/>
              <a:gdLst/>
              <a:ahLst/>
              <a:cxnLst>
                <a:cxn ang="0">
                  <a:pos x="8" y="12"/>
                </a:cxn>
                <a:cxn ang="0">
                  <a:pos x="0" y="4"/>
                </a:cxn>
                <a:cxn ang="0">
                  <a:pos x="24" y="0"/>
                </a:cxn>
                <a:cxn ang="0">
                  <a:pos x="28" y="3"/>
                </a:cxn>
                <a:cxn ang="0">
                  <a:pos x="8" y="12"/>
                </a:cxn>
              </a:cxnLst>
              <a:rect l="0" t="0" r="r" b="b"/>
              <a:pathLst>
                <a:path w="28" h="12">
                  <a:moveTo>
                    <a:pt x="8" y="12"/>
                  </a:moveTo>
                  <a:lnTo>
                    <a:pt x="0" y="4"/>
                  </a:lnTo>
                  <a:lnTo>
                    <a:pt x="24" y="0"/>
                  </a:lnTo>
                  <a:lnTo>
                    <a:pt x="28" y="3"/>
                  </a:lnTo>
                  <a:lnTo>
                    <a:pt x="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5" name="Freeform 414"/>
            <p:cNvSpPr>
              <a:spLocks/>
            </p:cNvSpPr>
            <p:nvPr/>
          </p:nvSpPr>
          <p:spPr bwMode="auto">
            <a:xfrm>
              <a:off x="1711" y="1152"/>
              <a:ext cx="691" cy="371"/>
            </a:xfrm>
            <a:custGeom>
              <a:avLst/>
              <a:gdLst/>
              <a:ahLst/>
              <a:cxnLst>
                <a:cxn ang="0">
                  <a:pos x="106" y="264"/>
                </a:cxn>
                <a:cxn ang="0">
                  <a:pos x="126" y="259"/>
                </a:cxn>
                <a:cxn ang="0">
                  <a:pos x="110" y="276"/>
                </a:cxn>
                <a:cxn ang="0">
                  <a:pos x="119" y="287"/>
                </a:cxn>
                <a:cxn ang="0">
                  <a:pos x="126" y="304"/>
                </a:cxn>
                <a:cxn ang="0">
                  <a:pos x="131" y="311"/>
                </a:cxn>
                <a:cxn ang="0">
                  <a:pos x="140" y="320"/>
                </a:cxn>
                <a:cxn ang="0">
                  <a:pos x="162" y="324"/>
                </a:cxn>
                <a:cxn ang="0">
                  <a:pos x="170" y="334"/>
                </a:cxn>
                <a:cxn ang="0">
                  <a:pos x="197" y="324"/>
                </a:cxn>
                <a:cxn ang="0">
                  <a:pos x="202" y="314"/>
                </a:cxn>
                <a:cxn ang="0">
                  <a:pos x="214" y="300"/>
                </a:cxn>
                <a:cxn ang="0">
                  <a:pos x="223" y="282"/>
                </a:cxn>
                <a:cxn ang="0">
                  <a:pos x="234" y="272"/>
                </a:cxn>
                <a:cxn ang="0">
                  <a:pos x="257" y="246"/>
                </a:cxn>
                <a:cxn ang="0">
                  <a:pos x="288" y="239"/>
                </a:cxn>
                <a:cxn ang="0">
                  <a:pos x="343" y="217"/>
                </a:cxn>
                <a:cxn ang="0">
                  <a:pos x="394" y="204"/>
                </a:cxn>
                <a:cxn ang="0">
                  <a:pos x="482" y="175"/>
                </a:cxn>
                <a:cxn ang="0">
                  <a:pos x="424" y="162"/>
                </a:cxn>
                <a:cxn ang="0">
                  <a:pos x="424" y="146"/>
                </a:cxn>
                <a:cxn ang="0">
                  <a:pos x="492" y="168"/>
                </a:cxn>
                <a:cxn ang="0">
                  <a:pos x="486" y="148"/>
                </a:cxn>
                <a:cxn ang="0">
                  <a:pos x="440" y="136"/>
                </a:cxn>
                <a:cxn ang="0">
                  <a:pos x="460" y="127"/>
                </a:cxn>
                <a:cxn ang="0">
                  <a:pos x="499" y="128"/>
                </a:cxn>
                <a:cxn ang="0">
                  <a:pos x="532" y="113"/>
                </a:cxn>
                <a:cxn ang="0">
                  <a:pos x="505" y="95"/>
                </a:cxn>
                <a:cxn ang="0">
                  <a:pos x="509" y="85"/>
                </a:cxn>
                <a:cxn ang="0">
                  <a:pos x="544" y="68"/>
                </a:cxn>
                <a:cxn ang="0">
                  <a:pos x="540" y="48"/>
                </a:cxn>
                <a:cxn ang="0">
                  <a:pos x="580" y="31"/>
                </a:cxn>
                <a:cxn ang="0">
                  <a:pos x="545" y="22"/>
                </a:cxn>
                <a:cxn ang="0">
                  <a:pos x="479" y="23"/>
                </a:cxn>
                <a:cxn ang="0">
                  <a:pos x="503" y="7"/>
                </a:cxn>
                <a:cxn ang="0">
                  <a:pos x="383" y="4"/>
                </a:cxn>
                <a:cxn ang="0">
                  <a:pos x="342" y="7"/>
                </a:cxn>
                <a:cxn ang="0">
                  <a:pos x="314" y="16"/>
                </a:cxn>
                <a:cxn ang="0">
                  <a:pos x="221" y="20"/>
                </a:cxn>
                <a:cxn ang="0">
                  <a:pos x="148" y="24"/>
                </a:cxn>
                <a:cxn ang="0">
                  <a:pos x="95" y="41"/>
                </a:cxn>
                <a:cxn ang="0">
                  <a:pos x="19" y="68"/>
                </a:cxn>
                <a:cxn ang="0">
                  <a:pos x="38" y="74"/>
                </a:cxn>
                <a:cxn ang="0">
                  <a:pos x="42" y="89"/>
                </a:cxn>
                <a:cxn ang="0">
                  <a:pos x="132" y="109"/>
                </a:cxn>
                <a:cxn ang="0">
                  <a:pos x="136" y="132"/>
                </a:cxn>
                <a:cxn ang="0">
                  <a:pos x="136" y="152"/>
                </a:cxn>
                <a:cxn ang="0">
                  <a:pos x="160" y="155"/>
                </a:cxn>
                <a:cxn ang="0">
                  <a:pos x="162" y="164"/>
                </a:cxn>
                <a:cxn ang="0">
                  <a:pos x="158" y="184"/>
                </a:cxn>
                <a:cxn ang="0">
                  <a:pos x="152" y="194"/>
                </a:cxn>
                <a:cxn ang="0">
                  <a:pos x="125" y="204"/>
                </a:cxn>
                <a:cxn ang="0">
                  <a:pos x="137" y="210"/>
                </a:cxn>
                <a:cxn ang="0">
                  <a:pos x="126" y="211"/>
                </a:cxn>
                <a:cxn ang="0">
                  <a:pos x="119" y="223"/>
                </a:cxn>
                <a:cxn ang="0">
                  <a:pos x="124" y="228"/>
                </a:cxn>
                <a:cxn ang="0">
                  <a:pos x="104" y="241"/>
                </a:cxn>
              </a:cxnLst>
              <a:rect l="0" t="0" r="r" b="b"/>
              <a:pathLst>
                <a:path w="622" h="334">
                  <a:moveTo>
                    <a:pt x="131" y="242"/>
                  </a:moveTo>
                  <a:lnTo>
                    <a:pt x="115" y="246"/>
                  </a:lnTo>
                  <a:lnTo>
                    <a:pt x="109" y="251"/>
                  </a:lnTo>
                  <a:lnTo>
                    <a:pt x="108" y="254"/>
                  </a:lnTo>
                  <a:lnTo>
                    <a:pt x="119" y="253"/>
                  </a:lnTo>
                  <a:lnTo>
                    <a:pt x="113" y="256"/>
                  </a:lnTo>
                  <a:lnTo>
                    <a:pt x="106" y="264"/>
                  </a:lnTo>
                  <a:lnTo>
                    <a:pt x="115" y="262"/>
                  </a:lnTo>
                  <a:lnTo>
                    <a:pt x="122" y="258"/>
                  </a:lnTo>
                  <a:lnTo>
                    <a:pt x="125" y="250"/>
                  </a:lnTo>
                  <a:lnTo>
                    <a:pt x="127" y="254"/>
                  </a:lnTo>
                  <a:lnTo>
                    <a:pt x="132" y="256"/>
                  </a:lnTo>
                  <a:lnTo>
                    <a:pt x="134" y="263"/>
                  </a:lnTo>
                  <a:lnTo>
                    <a:pt x="126" y="259"/>
                  </a:lnTo>
                  <a:lnTo>
                    <a:pt x="127" y="263"/>
                  </a:lnTo>
                  <a:lnTo>
                    <a:pt x="113" y="266"/>
                  </a:lnTo>
                  <a:lnTo>
                    <a:pt x="125" y="265"/>
                  </a:lnTo>
                  <a:lnTo>
                    <a:pt x="128" y="265"/>
                  </a:lnTo>
                  <a:lnTo>
                    <a:pt x="109" y="269"/>
                  </a:lnTo>
                  <a:lnTo>
                    <a:pt x="115" y="271"/>
                  </a:lnTo>
                  <a:lnTo>
                    <a:pt x="110" y="276"/>
                  </a:lnTo>
                  <a:lnTo>
                    <a:pt x="116" y="275"/>
                  </a:lnTo>
                  <a:lnTo>
                    <a:pt x="113" y="277"/>
                  </a:lnTo>
                  <a:lnTo>
                    <a:pt x="112" y="278"/>
                  </a:lnTo>
                  <a:lnTo>
                    <a:pt x="119" y="280"/>
                  </a:lnTo>
                  <a:lnTo>
                    <a:pt x="112" y="281"/>
                  </a:lnTo>
                  <a:lnTo>
                    <a:pt x="120" y="283"/>
                  </a:lnTo>
                  <a:lnTo>
                    <a:pt x="119" y="287"/>
                  </a:lnTo>
                  <a:lnTo>
                    <a:pt x="124" y="286"/>
                  </a:lnTo>
                  <a:lnTo>
                    <a:pt x="120" y="289"/>
                  </a:lnTo>
                  <a:lnTo>
                    <a:pt x="118" y="292"/>
                  </a:lnTo>
                  <a:lnTo>
                    <a:pt x="124" y="298"/>
                  </a:lnTo>
                  <a:lnTo>
                    <a:pt x="122" y="300"/>
                  </a:lnTo>
                  <a:lnTo>
                    <a:pt x="128" y="300"/>
                  </a:lnTo>
                  <a:lnTo>
                    <a:pt x="126" y="304"/>
                  </a:lnTo>
                  <a:lnTo>
                    <a:pt x="130" y="302"/>
                  </a:lnTo>
                  <a:lnTo>
                    <a:pt x="128" y="306"/>
                  </a:lnTo>
                  <a:lnTo>
                    <a:pt x="131" y="307"/>
                  </a:lnTo>
                  <a:lnTo>
                    <a:pt x="126" y="308"/>
                  </a:lnTo>
                  <a:lnTo>
                    <a:pt x="132" y="308"/>
                  </a:lnTo>
                  <a:lnTo>
                    <a:pt x="130" y="311"/>
                  </a:lnTo>
                  <a:lnTo>
                    <a:pt x="131" y="311"/>
                  </a:lnTo>
                  <a:lnTo>
                    <a:pt x="130" y="314"/>
                  </a:lnTo>
                  <a:lnTo>
                    <a:pt x="136" y="313"/>
                  </a:lnTo>
                  <a:lnTo>
                    <a:pt x="137" y="317"/>
                  </a:lnTo>
                  <a:lnTo>
                    <a:pt x="134" y="318"/>
                  </a:lnTo>
                  <a:lnTo>
                    <a:pt x="136" y="318"/>
                  </a:lnTo>
                  <a:lnTo>
                    <a:pt x="136" y="319"/>
                  </a:lnTo>
                  <a:lnTo>
                    <a:pt x="140" y="320"/>
                  </a:lnTo>
                  <a:lnTo>
                    <a:pt x="149" y="319"/>
                  </a:lnTo>
                  <a:lnTo>
                    <a:pt x="163" y="314"/>
                  </a:lnTo>
                  <a:lnTo>
                    <a:pt x="163" y="317"/>
                  </a:lnTo>
                  <a:lnTo>
                    <a:pt x="169" y="314"/>
                  </a:lnTo>
                  <a:lnTo>
                    <a:pt x="161" y="320"/>
                  </a:lnTo>
                  <a:lnTo>
                    <a:pt x="167" y="319"/>
                  </a:lnTo>
                  <a:lnTo>
                    <a:pt x="162" y="324"/>
                  </a:lnTo>
                  <a:lnTo>
                    <a:pt x="169" y="323"/>
                  </a:lnTo>
                  <a:lnTo>
                    <a:pt x="168" y="325"/>
                  </a:lnTo>
                  <a:lnTo>
                    <a:pt x="173" y="324"/>
                  </a:lnTo>
                  <a:lnTo>
                    <a:pt x="168" y="330"/>
                  </a:lnTo>
                  <a:lnTo>
                    <a:pt x="175" y="326"/>
                  </a:lnTo>
                  <a:lnTo>
                    <a:pt x="168" y="331"/>
                  </a:lnTo>
                  <a:lnTo>
                    <a:pt x="170" y="334"/>
                  </a:lnTo>
                  <a:lnTo>
                    <a:pt x="181" y="329"/>
                  </a:lnTo>
                  <a:lnTo>
                    <a:pt x="191" y="332"/>
                  </a:lnTo>
                  <a:lnTo>
                    <a:pt x="192" y="330"/>
                  </a:lnTo>
                  <a:lnTo>
                    <a:pt x="190" y="328"/>
                  </a:lnTo>
                  <a:lnTo>
                    <a:pt x="181" y="324"/>
                  </a:lnTo>
                  <a:lnTo>
                    <a:pt x="194" y="325"/>
                  </a:lnTo>
                  <a:lnTo>
                    <a:pt x="197" y="324"/>
                  </a:lnTo>
                  <a:lnTo>
                    <a:pt x="194" y="322"/>
                  </a:lnTo>
                  <a:lnTo>
                    <a:pt x="196" y="320"/>
                  </a:lnTo>
                  <a:lnTo>
                    <a:pt x="194" y="319"/>
                  </a:lnTo>
                  <a:lnTo>
                    <a:pt x="202" y="319"/>
                  </a:lnTo>
                  <a:lnTo>
                    <a:pt x="194" y="317"/>
                  </a:lnTo>
                  <a:lnTo>
                    <a:pt x="202" y="317"/>
                  </a:lnTo>
                  <a:lnTo>
                    <a:pt x="202" y="314"/>
                  </a:lnTo>
                  <a:lnTo>
                    <a:pt x="202" y="313"/>
                  </a:lnTo>
                  <a:lnTo>
                    <a:pt x="205" y="312"/>
                  </a:lnTo>
                  <a:lnTo>
                    <a:pt x="203" y="310"/>
                  </a:lnTo>
                  <a:lnTo>
                    <a:pt x="209" y="308"/>
                  </a:lnTo>
                  <a:lnTo>
                    <a:pt x="208" y="306"/>
                  </a:lnTo>
                  <a:lnTo>
                    <a:pt x="212" y="301"/>
                  </a:lnTo>
                  <a:lnTo>
                    <a:pt x="214" y="300"/>
                  </a:lnTo>
                  <a:lnTo>
                    <a:pt x="210" y="295"/>
                  </a:lnTo>
                  <a:lnTo>
                    <a:pt x="212" y="295"/>
                  </a:lnTo>
                  <a:lnTo>
                    <a:pt x="208" y="290"/>
                  </a:lnTo>
                  <a:lnTo>
                    <a:pt x="217" y="287"/>
                  </a:lnTo>
                  <a:lnTo>
                    <a:pt x="226" y="286"/>
                  </a:lnTo>
                  <a:lnTo>
                    <a:pt x="223" y="284"/>
                  </a:lnTo>
                  <a:lnTo>
                    <a:pt x="223" y="282"/>
                  </a:lnTo>
                  <a:lnTo>
                    <a:pt x="228" y="282"/>
                  </a:lnTo>
                  <a:lnTo>
                    <a:pt x="229" y="278"/>
                  </a:lnTo>
                  <a:lnTo>
                    <a:pt x="233" y="280"/>
                  </a:lnTo>
                  <a:lnTo>
                    <a:pt x="230" y="278"/>
                  </a:lnTo>
                  <a:lnTo>
                    <a:pt x="234" y="277"/>
                  </a:lnTo>
                  <a:lnTo>
                    <a:pt x="239" y="275"/>
                  </a:lnTo>
                  <a:lnTo>
                    <a:pt x="234" y="272"/>
                  </a:lnTo>
                  <a:lnTo>
                    <a:pt x="244" y="272"/>
                  </a:lnTo>
                  <a:lnTo>
                    <a:pt x="241" y="266"/>
                  </a:lnTo>
                  <a:lnTo>
                    <a:pt x="234" y="264"/>
                  </a:lnTo>
                  <a:lnTo>
                    <a:pt x="246" y="262"/>
                  </a:lnTo>
                  <a:lnTo>
                    <a:pt x="246" y="252"/>
                  </a:lnTo>
                  <a:lnTo>
                    <a:pt x="258" y="251"/>
                  </a:lnTo>
                  <a:lnTo>
                    <a:pt x="257" y="246"/>
                  </a:lnTo>
                  <a:lnTo>
                    <a:pt x="265" y="245"/>
                  </a:lnTo>
                  <a:lnTo>
                    <a:pt x="270" y="244"/>
                  </a:lnTo>
                  <a:lnTo>
                    <a:pt x="283" y="241"/>
                  </a:lnTo>
                  <a:lnTo>
                    <a:pt x="281" y="240"/>
                  </a:lnTo>
                  <a:lnTo>
                    <a:pt x="289" y="233"/>
                  </a:lnTo>
                  <a:lnTo>
                    <a:pt x="295" y="234"/>
                  </a:lnTo>
                  <a:lnTo>
                    <a:pt x="288" y="239"/>
                  </a:lnTo>
                  <a:lnTo>
                    <a:pt x="295" y="240"/>
                  </a:lnTo>
                  <a:lnTo>
                    <a:pt x="313" y="235"/>
                  </a:lnTo>
                  <a:lnTo>
                    <a:pt x="314" y="232"/>
                  </a:lnTo>
                  <a:lnTo>
                    <a:pt x="319" y="233"/>
                  </a:lnTo>
                  <a:lnTo>
                    <a:pt x="330" y="229"/>
                  </a:lnTo>
                  <a:lnTo>
                    <a:pt x="332" y="227"/>
                  </a:lnTo>
                  <a:lnTo>
                    <a:pt x="343" y="217"/>
                  </a:lnTo>
                  <a:lnTo>
                    <a:pt x="361" y="209"/>
                  </a:lnTo>
                  <a:lnTo>
                    <a:pt x="361" y="204"/>
                  </a:lnTo>
                  <a:lnTo>
                    <a:pt x="364" y="199"/>
                  </a:lnTo>
                  <a:lnTo>
                    <a:pt x="377" y="206"/>
                  </a:lnTo>
                  <a:lnTo>
                    <a:pt x="384" y="204"/>
                  </a:lnTo>
                  <a:lnTo>
                    <a:pt x="390" y="203"/>
                  </a:lnTo>
                  <a:lnTo>
                    <a:pt x="394" y="204"/>
                  </a:lnTo>
                  <a:lnTo>
                    <a:pt x="419" y="198"/>
                  </a:lnTo>
                  <a:lnTo>
                    <a:pt x="444" y="192"/>
                  </a:lnTo>
                  <a:lnTo>
                    <a:pt x="452" y="188"/>
                  </a:lnTo>
                  <a:lnTo>
                    <a:pt x="462" y="184"/>
                  </a:lnTo>
                  <a:lnTo>
                    <a:pt x="467" y="181"/>
                  </a:lnTo>
                  <a:lnTo>
                    <a:pt x="474" y="178"/>
                  </a:lnTo>
                  <a:lnTo>
                    <a:pt x="482" y="175"/>
                  </a:lnTo>
                  <a:lnTo>
                    <a:pt x="448" y="172"/>
                  </a:lnTo>
                  <a:lnTo>
                    <a:pt x="419" y="176"/>
                  </a:lnTo>
                  <a:lnTo>
                    <a:pt x="418" y="174"/>
                  </a:lnTo>
                  <a:lnTo>
                    <a:pt x="438" y="169"/>
                  </a:lnTo>
                  <a:lnTo>
                    <a:pt x="409" y="169"/>
                  </a:lnTo>
                  <a:lnTo>
                    <a:pt x="424" y="163"/>
                  </a:lnTo>
                  <a:lnTo>
                    <a:pt x="424" y="162"/>
                  </a:lnTo>
                  <a:lnTo>
                    <a:pt x="425" y="161"/>
                  </a:lnTo>
                  <a:lnTo>
                    <a:pt x="451" y="160"/>
                  </a:lnTo>
                  <a:lnTo>
                    <a:pt x="450" y="155"/>
                  </a:lnTo>
                  <a:lnTo>
                    <a:pt x="449" y="155"/>
                  </a:lnTo>
                  <a:lnTo>
                    <a:pt x="426" y="154"/>
                  </a:lnTo>
                  <a:lnTo>
                    <a:pt x="433" y="151"/>
                  </a:lnTo>
                  <a:lnTo>
                    <a:pt x="424" y="146"/>
                  </a:lnTo>
                  <a:lnTo>
                    <a:pt x="446" y="154"/>
                  </a:lnTo>
                  <a:lnTo>
                    <a:pt x="466" y="161"/>
                  </a:lnTo>
                  <a:lnTo>
                    <a:pt x="473" y="170"/>
                  </a:lnTo>
                  <a:lnTo>
                    <a:pt x="482" y="168"/>
                  </a:lnTo>
                  <a:lnTo>
                    <a:pt x="485" y="164"/>
                  </a:lnTo>
                  <a:lnTo>
                    <a:pt x="486" y="169"/>
                  </a:lnTo>
                  <a:lnTo>
                    <a:pt x="492" y="168"/>
                  </a:lnTo>
                  <a:lnTo>
                    <a:pt x="492" y="162"/>
                  </a:lnTo>
                  <a:lnTo>
                    <a:pt x="493" y="155"/>
                  </a:lnTo>
                  <a:lnTo>
                    <a:pt x="486" y="156"/>
                  </a:lnTo>
                  <a:lnTo>
                    <a:pt x="490" y="152"/>
                  </a:lnTo>
                  <a:lnTo>
                    <a:pt x="485" y="152"/>
                  </a:lnTo>
                  <a:lnTo>
                    <a:pt x="482" y="151"/>
                  </a:lnTo>
                  <a:lnTo>
                    <a:pt x="486" y="148"/>
                  </a:lnTo>
                  <a:lnTo>
                    <a:pt x="460" y="142"/>
                  </a:lnTo>
                  <a:lnTo>
                    <a:pt x="456" y="144"/>
                  </a:lnTo>
                  <a:lnTo>
                    <a:pt x="456" y="140"/>
                  </a:lnTo>
                  <a:lnTo>
                    <a:pt x="466" y="138"/>
                  </a:lnTo>
                  <a:lnTo>
                    <a:pt x="450" y="137"/>
                  </a:lnTo>
                  <a:lnTo>
                    <a:pt x="443" y="137"/>
                  </a:lnTo>
                  <a:lnTo>
                    <a:pt x="440" y="136"/>
                  </a:lnTo>
                  <a:lnTo>
                    <a:pt x="463" y="132"/>
                  </a:lnTo>
                  <a:lnTo>
                    <a:pt x="439" y="131"/>
                  </a:lnTo>
                  <a:lnTo>
                    <a:pt x="438" y="133"/>
                  </a:lnTo>
                  <a:lnTo>
                    <a:pt x="438" y="131"/>
                  </a:lnTo>
                  <a:lnTo>
                    <a:pt x="445" y="128"/>
                  </a:lnTo>
                  <a:lnTo>
                    <a:pt x="443" y="126"/>
                  </a:lnTo>
                  <a:lnTo>
                    <a:pt x="460" y="127"/>
                  </a:lnTo>
                  <a:lnTo>
                    <a:pt x="466" y="124"/>
                  </a:lnTo>
                  <a:lnTo>
                    <a:pt x="463" y="121"/>
                  </a:lnTo>
                  <a:lnTo>
                    <a:pt x="472" y="124"/>
                  </a:lnTo>
                  <a:lnTo>
                    <a:pt x="482" y="122"/>
                  </a:lnTo>
                  <a:lnTo>
                    <a:pt x="491" y="125"/>
                  </a:lnTo>
                  <a:lnTo>
                    <a:pt x="478" y="124"/>
                  </a:lnTo>
                  <a:lnTo>
                    <a:pt x="499" y="128"/>
                  </a:lnTo>
                  <a:lnTo>
                    <a:pt x="516" y="124"/>
                  </a:lnTo>
                  <a:lnTo>
                    <a:pt x="517" y="120"/>
                  </a:lnTo>
                  <a:lnTo>
                    <a:pt x="502" y="120"/>
                  </a:lnTo>
                  <a:lnTo>
                    <a:pt x="500" y="121"/>
                  </a:lnTo>
                  <a:lnTo>
                    <a:pt x="497" y="115"/>
                  </a:lnTo>
                  <a:lnTo>
                    <a:pt x="503" y="110"/>
                  </a:lnTo>
                  <a:lnTo>
                    <a:pt x="532" y="113"/>
                  </a:lnTo>
                  <a:lnTo>
                    <a:pt x="529" y="108"/>
                  </a:lnTo>
                  <a:lnTo>
                    <a:pt x="517" y="108"/>
                  </a:lnTo>
                  <a:lnTo>
                    <a:pt x="515" y="103"/>
                  </a:lnTo>
                  <a:lnTo>
                    <a:pt x="504" y="103"/>
                  </a:lnTo>
                  <a:lnTo>
                    <a:pt x="516" y="101"/>
                  </a:lnTo>
                  <a:lnTo>
                    <a:pt x="504" y="97"/>
                  </a:lnTo>
                  <a:lnTo>
                    <a:pt x="505" y="95"/>
                  </a:lnTo>
                  <a:lnTo>
                    <a:pt x="530" y="101"/>
                  </a:lnTo>
                  <a:lnTo>
                    <a:pt x="529" y="91"/>
                  </a:lnTo>
                  <a:lnTo>
                    <a:pt x="510" y="91"/>
                  </a:lnTo>
                  <a:lnTo>
                    <a:pt x="532" y="89"/>
                  </a:lnTo>
                  <a:lnTo>
                    <a:pt x="520" y="88"/>
                  </a:lnTo>
                  <a:lnTo>
                    <a:pt x="512" y="85"/>
                  </a:lnTo>
                  <a:lnTo>
                    <a:pt x="509" y="85"/>
                  </a:lnTo>
                  <a:lnTo>
                    <a:pt x="503" y="80"/>
                  </a:lnTo>
                  <a:lnTo>
                    <a:pt x="520" y="79"/>
                  </a:lnTo>
                  <a:lnTo>
                    <a:pt x="550" y="79"/>
                  </a:lnTo>
                  <a:lnTo>
                    <a:pt x="548" y="72"/>
                  </a:lnTo>
                  <a:lnTo>
                    <a:pt x="532" y="72"/>
                  </a:lnTo>
                  <a:lnTo>
                    <a:pt x="524" y="68"/>
                  </a:lnTo>
                  <a:lnTo>
                    <a:pt x="544" y="68"/>
                  </a:lnTo>
                  <a:lnTo>
                    <a:pt x="523" y="65"/>
                  </a:lnTo>
                  <a:lnTo>
                    <a:pt x="518" y="68"/>
                  </a:lnTo>
                  <a:lnTo>
                    <a:pt x="515" y="66"/>
                  </a:lnTo>
                  <a:lnTo>
                    <a:pt x="523" y="55"/>
                  </a:lnTo>
                  <a:lnTo>
                    <a:pt x="539" y="52"/>
                  </a:lnTo>
                  <a:lnTo>
                    <a:pt x="546" y="47"/>
                  </a:lnTo>
                  <a:lnTo>
                    <a:pt x="540" y="48"/>
                  </a:lnTo>
                  <a:lnTo>
                    <a:pt x="548" y="41"/>
                  </a:lnTo>
                  <a:lnTo>
                    <a:pt x="560" y="40"/>
                  </a:lnTo>
                  <a:lnTo>
                    <a:pt x="562" y="36"/>
                  </a:lnTo>
                  <a:lnTo>
                    <a:pt x="539" y="40"/>
                  </a:lnTo>
                  <a:lnTo>
                    <a:pt x="535" y="37"/>
                  </a:lnTo>
                  <a:lnTo>
                    <a:pt x="557" y="35"/>
                  </a:lnTo>
                  <a:lnTo>
                    <a:pt x="580" y="31"/>
                  </a:lnTo>
                  <a:lnTo>
                    <a:pt x="538" y="31"/>
                  </a:lnTo>
                  <a:lnTo>
                    <a:pt x="596" y="28"/>
                  </a:lnTo>
                  <a:lnTo>
                    <a:pt x="594" y="25"/>
                  </a:lnTo>
                  <a:lnTo>
                    <a:pt x="622" y="20"/>
                  </a:lnTo>
                  <a:lnTo>
                    <a:pt x="586" y="17"/>
                  </a:lnTo>
                  <a:lnTo>
                    <a:pt x="566" y="20"/>
                  </a:lnTo>
                  <a:lnTo>
                    <a:pt x="545" y="22"/>
                  </a:lnTo>
                  <a:lnTo>
                    <a:pt x="544" y="20"/>
                  </a:lnTo>
                  <a:lnTo>
                    <a:pt x="504" y="31"/>
                  </a:lnTo>
                  <a:lnTo>
                    <a:pt x="518" y="24"/>
                  </a:lnTo>
                  <a:lnTo>
                    <a:pt x="528" y="17"/>
                  </a:lnTo>
                  <a:lnTo>
                    <a:pt x="512" y="16"/>
                  </a:lnTo>
                  <a:lnTo>
                    <a:pt x="508" y="18"/>
                  </a:lnTo>
                  <a:lnTo>
                    <a:pt x="479" y="23"/>
                  </a:lnTo>
                  <a:lnTo>
                    <a:pt x="493" y="19"/>
                  </a:lnTo>
                  <a:lnTo>
                    <a:pt x="497" y="16"/>
                  </a:lnTo>
                  <a:lnTo>
                    <a:pt x="428" y="19"/>
                  </a:lnTo>
                  <a:lnTo>
                    <a:pt x="449" y="14"/>
                  </a:lnTo>
                  <a:lnTo>
                    <a:pt x="488" y="14"/>
                  </a:lnTo>
                  <a:lnTo>
                    <a:pt x="535" y="11"/>
                  </a:lnTo>
                  <a:lnTo>
                    <a:pt x="503" y="7"/>
                  </a:lnTo>
                  <a:lnTo>
                    <a:pt x="504" y="5"/>
                  </a:lnTo>
                  <a:lnTo>
                    <a:pt x="410" y="6"/>
                  </a:lnTo>
                  <a:lnTo>
                    <a:pt x="422" y="6"/>
                  </a:lnTo>
                  <a:lnTo>
                    <a:pt x="494" y="4"/>
                  </a:lnTo>
                  <a:lnTo>
                    <a:pt x="466" y="0"/>
                  </a:lnTo>
                  <a:lnTo>
                    <a:pt x="377" y="1"/>
                  </a:lnTo>
                  <a:lnTo>
                    <a:pt x="383" y="4"/>
                  </a:lnTo>
                  <a:lnTo>
                    <a:pt x="376" y="5"/>
                  </a:lnTo>
                  <a:lnTo>
                    <a:pt x="373" y="6"/>
                  </a:lnTo>
                  <a:lnTo>
                    <a:pt x="350" y="5"/>
                  </a:lnTo>
                  <a:lnTo>
                    <a:pt x="319" y="4"/>
                  </a:lnTo>
                  <a:lnTo>
                    <a:pt x="324" y="6"/>
                  </a:lnTo>
                  <a:lnTo>
                    <a:pt x="301" y="5"/>
                  </a:lnTo>
                  <a:lnTo>
                    <a:pt x="342" y="7"/>
                  </a:lnTo>
                  <a:lnTo>
                    <a:pt x="361" y="11"/>
                  </a:lnTo>
                  <a:lnTo>
                    <a:pt x="343" y="8"/>
                  </a:lnTo>
                  <a:lnTo>
                    <a:pt x="343" y="10"/>
                  </a:lnTo>
                  <a:lnTo>
                    <a:pt x="314" y="8"/>
                  </a:lnTo>
                  <a:lnTo>
                    <a:pt x="326" y="13"/>
                  </a:lnTo>
                  <a:lnTo>
                    <a:pt x="317" y="13"/>
                  </a:lnTo>
                  <a:lnTo>
                    <a:pt x="314" y="16"/>
                  </a:lnTo>
                  <a:lnTo>
                    <a:pt x="314" y="18"/>
                  </a:lnTo>
                  <a:lnTo>
                    <a:pt x="262" y="11"/>
                  </a:lnTo>
                  <a:lnTo>
                    <a:pt x="258" y="17"/>
                  </a:lnTo>
                  <a:lnTo>
                    <a:pt x="258" y="19"/>
                  </a:lnTo>
                  <a:lnTo>
                    <a:pt x="235" y="16"/>
                  </a:lnTo>
                  <a:lnTo>
                    <a:pt x="224" y="20"/>
                  </a:lnTo>
                  <a:lnTo>
                    <a:pt x="221" y="20"/>
                  </a:lnTo>
                  <a:lnTo>
                    <a:pt x="224" y="13"/>
                  </a:lnTo>
                  <a:lnTo>
                    <a:pt x="173" y="16"/>
                  </a:lnTo>
                  <a:lnTo>
                    <a:pt x="188" y="22"/>
                  </a:lnTo>
                  <a:lnTo>
                    <a:pt x="175" y="19"/>
                  </a:lnTo>
                  <a:lnTo>
                    <a:pt x="151" y="18"/>
                  </a:lnTo>
                  <a:lnTo>
                    <a:pt x="151" y="20"/>
                  </a:lnTo>
                  <a:lnTo>
                    <a:pt x="148" y="24"/>
                  </a:lnTo>
                  <a:lnTo>
                    <a:pt x="128" y="24"/>
                  </a:lnTo>
                  <a:lnTo>
                    <a:pt x="126" y="28"/>
                  </a:lnTo>
                  <a:lnTo>
                    <a:pt x="124" y="25"/>
                  </a:lnTo>
                  <a:lnTo>
                    <a:pt x="74" y="35"/>
                  </a:lnTo>
                  <a:lnTo>
                    <a:pt x="106" y="36"/>
                  </a:lnTo>
                  <a:lnTo>
                    <a:pt x="97" y="37"/>
                  </a:lnTo>
                  <a:lnTo>
                    <a:pt x="95" y="41"/>
                  </a:lnTo>
                  <a:lnTo>
                    <a:pt x="84" y="47"/>
                  </a:lnTo>
                  <a:lnTo>
                    <a:pt x="46" y="52"/>
                  </a:lnTo>
                  <a:lnTo>
                    <a:pt x="5" y="58"/>
                  </a:lnTo>
                  <a:lnTo>
                    <a:pt x="1" y="60"/>
                  </a:lnTo>
                  <a:lnTo>
                    <a:pt x="1" y="64"/>
                  </a:lnTo>
                  <a:lnTo>
                    <a:pt x="23" y="66"/>
                  </a:lnTo>
                  <a:lnTo>
                    <a:pt x="19" y="68"/>
                  </a:lnTo>
                  <a:lnTo>
                    <a:pt x="18" y="70"/>
                  </a:lnTo>
                  <a:lnTo>
                    <a:pt x="34" y="71"/>
                  </a:lnTo>
                  <a:lnTo>
                    <a:pt x="56" y="68"/>
                  </a:lnTo>
                  <a:lnTo>
                    <a:pt x="53" y="73"/>
                  </a:lnTo>
                  <a:lnTo>
                    <a:pt x="26" y="73"/>
                  </a:lnTo>
                  <a:lnTo>
                    <a:pt x="47" y="76"/>
                  </a:lnTo>
                  <a:lnTo>
                    <a:pt x="38" y="74"/>
                  </a:lnTo>
                  <a:lnTo>
                    <a:pt x="0" y="77"/>
                  </a:lnTo>
                  <a:lnTo>
                    <a:pt x="13" y="78"/>
                  </a:lnTo>
                  <a:lnTo>
                    <a:pt x="24" y="82"/>
                  </a:lnTo>
                  <a:lnTo>
                    <a:pt x="12" y="85"/>
                  </a:lnTo>
                  <a:lnTo>
                    <a:pt x="38" y="91"/>
                  </a:lnTo>
                  <a:lnTo>
                    <a:pt x="35" y="89"/>
                  </a:lnTo>
                  <a:lnTo>
                    <a:pt x="42" y="89"/>
                  </a:lnTo>
                  <a:lnTo>
                    <a:pt x="48" y="89"/>
                  </a:lnTo>
                  <a:lnTo>
                    <a:pt x="66" y="86"/>
                  </a:lnTo>
                  <a:lnTo>
                    <a:pt x="74" y="86"/>
                  </a:lnTo>
                  <a:lnTo>
                    <a:pt x="121" y="95"/>
                  </a:lnTo>
                  <a:lnTo>
                    <a:pt x="118" y="100"/>
                  </a:lnTo>
                  <a:lnTo>
                    <a:pt x="128" y="106"/>
                  </a:lnTo>
                  <a:lnTo>
                    <a:pt x="132" y="109"/>
                  </a:lnTo>
                  <a:lnTo>
                    <a:pt x="128" y="113"/>
                  </a:lnTo>
                  <a:lnTo>
                    <a:pt x="124" y="115"/>
                  </a:lnTo>
                  <a:lnTo>
                    <a:pt x="132" y="115"/>
                  </a:lnTo>
                  <a:lnTo>
                    <a:pt x="132" y="121"/>
                  </a:lnTo>
                  <a:lnTo>
                    <a:pt x="133" y="126"/>
                  </a:lnTo>
                  <a:lnTo>
                    <a:pt x="132" y="130"/>
                  </a:lnTo>
                  <a:lnTo>
                    <a:pt x="136" y="132"/>
                  </a:lnTo>
                  <a:lnTo>
                    <a:pt x="133" y="139"/>
                  </a:lnTo>
                  <a:lnTo>
                    <a:pt x="127" y="142"/>
                  </a:lnTo>
                  <a:lnTo>
                    <a:pt x="124" y="146"/>
                  </a:lnTo>
                  <a:lnTo>
                    <a:pt x="131" y="146"/>
                  </a:lnTo>
                  <a:lnTo>
                    <a:pt x="116" y="151"/>
                  </a:lnTo>
                  <a:lnTo>
                    <a:pt x="122" y="156"/>
                  </a:lnTo>
                  <a:lnTo>
                    <a:pt x="136" y="152"/>
                  </a:lnTo>
                  <a:lnTo>
                    <a:pt x="143" y="142"/>
                  </a:lnTo>
                  <a:lnTo>
                    <a:pt x="144" y="150"/>
                  </a:lnTo>
                  <a:lnTo>
                    <a:pt x="151" y="148"/>
                  </a:lnTo>
                  <a:lnTo>
                    <a:pt x="149" y="150"/>
                  </a:lnTo>
                  <a:lnTo>
                    <a:pt x="160" y="152"/>
                  </a:lnTo>
                  <a:lnTo>
                    <a:pt x="149" y="155"/>
                  </a:lnTo>
                  <a:lnTo>
                    <a:pt x="160" y="155"/>
                  </a:lnTo>
                  <a:lnTo>
                    <a:pt x="151" y="158"/>
                  </a:lnTo>
                  <a:lnTo>
                    <a:pt x="157" y="157"/>
                  </a:lnTo>
                  <a:lnTo>
                    <a:pt x="154" y="158"/>
                  </a:lnTo>
                  <a:lnTo>
                    <a:pt x="162" y="162"/>
                  </a:lnTo>
                  <a:lnTo>
                    <a:pt x="155" y="161"/>
                  </a:lnTo>
                  <a:lnTo>
                    <a:pt x="163" y="164"/>
                  </a:lnTo>
                  <a:lnTo>
                    <a:pt x="162" y="164"/>
                  </a:lnTo>
                  <a:lnTo>
                    <a:pt x="162" y="168"/>
                  </a:lnTo>
                  <a:lnTo>
                    <a:pt x="163" y="170"/>
                  </a:lnTo>
                  <a:lnTo>
                    <a:pt x="127" y="164"/>
                  </a:lnTo>
                  <a:lnTo>
                    <a:pt x="125" y="169"/>
                  </a:lnTo>
                  <a:lnTo>
                    <a:pt x="163" y="178"/>
                  </a:lnTo>
                  <a:lnTo>
                    <a:pt x="157" y="181"/>
                  </a:lnTo>
                  <a:lnTo>
                    <a:pt x="158" y="184"/>
                  </a:lnTo>
                  <a:lnTo>
                    <a:pt x="154" y="186"/>
                  </a:lnTo>
                  <a:lnTo>
                    <a:pt x="156" y="188"/>
                  </a:lnTo>
                  <a:lnTo>
                    <a:pt x="160" y="190"/>
                  </a:lnTo>
                  <a:lnTo>
                    <a:pt x="160" y="192"/>
                  </a:lnTo>
                  <a:lnTo>
                    <a:pt x="154" y="190"/>
                  </a:lnTo>
                  <a:lnTo>
                    <a:pt x="148" y="193"/>
                  </a:lnTo>
                  <a:lnTo>
                    <a:pt x="152" y="194"/>
                  </a:lnTo>
                  <a:lnTo>
                    <a:pt x="122" y="202"/>
                  </a:lnTo>
                  <a:lnTo>
                    <a:pt x="125" y="204"/>
                  </a:lnTo>
                  <a:lnTo>
                    <a:pt x="143" y="202"/>
                  </a:lnTo>
                  <a:lnTo>
                    <a:pt x="149" y="199"/>
                  </a:lnTo>
                  <a:lnTo>
                    <a:pt x="144" y="204"/>
                  </a:lnTo>
                  <a:lnTo>
                    <a:pt x="149" y="208"/>
                  </a:lnTo>
                  <a:lnTo>
                    <a:pt x="125" y="204"/>
                  </a:lnTo>
                  <a:lnTo>
                    <a:pt x="120" y="204"/>
                  </a:lnTo>
                  <a:lnTo>
                    <a:pt x="130" y="208"/>
                  </a:lnTo>
                  <a:lnTo>
                    <a:pt x="118" y="206"/>
                  </a:lnTo>
                  <a:lnTo>
                    <a:pt x="109" y="212"/>
                  </a:lnTo>
                  <a:lnTo>
                    <a:pt x="132" y="209"/>
                  </a:lnTo>
                  <a:lnTo>
                    <a:pt x="130" y="209"/>
                  </a:lnTo>
                  <a:lnTo>
                    <a:pt x="137" y="210"/>
                  </a:lnTo>
                  <a:lnTo>
                    <a:pt x="143" y="209"/>
                  </a:lnTo>
                  <a:lnTo>
                    <a:pt x="148" y="209"/>
                  </a:lnTo>
                  <a:lnTo>
                    <a:pt x="142" y="211"/>
                  </a:lnTo>
                  <a:lnTo>
                    <a:pt x="150" y="211"/>
                  </a:lnTo>
                  <a:lnTo>
                    <a:pt x="145" y="212"/>
                  </a:lnTo>
                  <a:lnTo>
                    <a:pt x="148" y="215"/>
                  </a:lnTo>
                  <a:lnTo>
                    <a:pt x="126" y="211"/>
                  </a:lnTo>
                  <a:lnTo>
                    <a:pt x="106" y="217"/>
                  </a:lnTo>
                  <a:lnTo>
                    <a:pt x="133" y="217"/>
                  </a:lnTo>
                  <a:lnTo>
                    <a:pt x="140" y="220"/>
                  </a:lnTo>
                  <a:lnTo>
                    <a:pt x="133" y="218"/>
                  </a:lnTo>
                  <a:lnTo>
                    <a:pt x="104" y="220"/>
                  </a:lnTo>
                  <a:lnTo>
                    <a:pt x="108" y="222"/>
                  </a:lnTo>
                  <a:lnTo>
                    <a:pt x="119" y="223"/>
                  </a:lnTo>
                  <a:lnTo>
                    <a:pt x="113" y="226"/>
                  </a:lnTo>
                  <a:lnTo>
                    <a:pt x="112" y="227"/>
                  </a:lnTo>
                  <a:lnTo>
                    <a:pt x="108" y="227"/>
                  </a:lnTo>
                  <a:lnTo>
                    <a:pt x="115" y="229"/>
                  </a:lnTo>
                  <a:lnTo>
                    <a:pt x="104" y="230"/>
                  </a:lnTo>
                  <a:lnTo>
                    <a:pt x="102" y="234"/>
                  </a:lnTo>
                  <a:lnTo>
                    <a:pt x="124" y="228"/>
                  </a:lnTo>
                  <a:lnTo>
                    <a:pt x="145" y="222"/>
                  </a:lnTo>
                  <a:lnTo>
                    <a:pt x="139" y="224"/>
                  </a:lnTo>
                  <a:lnTo>
                    <a:pt x="102" y="238"/>
                  </a:lnTo>
                  <a:lnTo>
                    <a:pt x="107" y="238"/>
                  </a:lnTo>
                  <a:lnTo>
                    <a:pt x="102" y="239"/>
                  </a:lnTo>
                  <a:lnTo>
                    <a:pt x="121" y="236"/>
                  </a:lnTo>
                  <a:lnTo>
                    <a:pt x="104" y="241"/>
                  </a:lnTo>
                  <a:lnTo>
                    <a:pt x="106" y="244"/>
                  </a:lnTo>
                  <a:lnTo>
                    <a:pt x="108" y="245"/>
                  </a:lnTo>
                  <a:lnTo>
                    <a:pt x="116" y="245"/>
                  </a:lnTo>
                  <a:lnTo>
                    <a:pt x="131" y="2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6" name="Freeform 415"/>
            <p:cNvSpPr>
              <a:spLocks/>
            </p:cNvSpPr>
            <p:nvPr/>
          </p:nvSpPr>
          <p:spPr bwMode="auto">
            <a:xfrm>
              <a:off x="1838" y="1343"/>
              <a:ext cx="35" cy="18"/>
            </a:xfrm>
            <a:custGeom>
              <a:avLst/>
              <a:gdLst/>
              <a:ahLst/>
              <a:cxnLst>
                <a:cxn ang="0">
                  <a:pos x="31" y="10"/>
                </a:cxn>
                <a:cxn ang="0">
                  <a:pos x="7" y="0"/>
                </a:cxn>
                <a:cxn ang="0">
                  <a:pos x="0" y="4"/>
                </a:cxn>
                <a:cxn ang="0">
                  <a:pos x="1" y="4"/>
                </a:cxn>
                <a:cxn ang="0">
                  <a:pos x="0" y="8"/>
                </a:cxn>
                <a:cxn ang="0">
                  <a:pos x="2" y="10"/>
                </a:cxn>
                <a:cxn ang="0">
                  <a:pos x="8" y="13"/>
                </a:cxn>
                <a:cxn ang="0">
                  <a:pos x="5" y="15"/>
                </a:cxn>
                <a:cxn ang="0">
                  <a:pos x="31" y="10"/>
                </a:cxn>
              </a:cxnLst>
              <a:rect l="0" t="0" r="r" b="b"/>
              <a:pathLst>
                <a:path w="31" h="15">
                  <a:moveTo>
                    <a:pt x="31" y="10"/>
                  </a:moveTo>
                  <a:lnTo>
                    <a:pt x="7" y="0"/>
                  </a:lnTo>
                  <a:lnTo>
                    <a:pt x="0" y="4"/>
                  </a:lnTo>
                  <a:lnTo>
                    <a:pt x="1" y="4"/>
                  </a:lnTo>
                  <a:lnTo>
                    <a:pt x="0" y="8"/>
                  </a:lnTo>
                  <a:lnTo>
                    <a:pt x="2" y="10"/>
                  </a:lnTo>
                  <a:lnTo>
                    <a:pt x="8" y="13"/>
                  </a:lnTo>
                  <a:lnTo>
                    <a:pt x="5" y="15"/>
                  </a:lnTo>
                  <a:lnTo>
                    <a:pt x="31"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7" name="Freeform 416"/>
            <p:cNvSpPr>
              <a:spLocks/>
            </p:cNvSpPr>
            <p:nvPr/>
          </p:nvSpPr>
          <p:spPr bwMode="auto">
            <a:xfrm>
              <a:off x="2207" y="1408"/>
              <a:ext cx="142" cy="53"/>
            </a:xfrm>
            <a:custGeom>
              <a:avLst/>
              <a:gdLst/>
              <a:ahLst/>
              <a:cxnLst>
                <a:cxn ang="0">
                  <a:pos x="99" y="0"/>
                </a:cxn>
                <a:cxn ang="0">
                  <a:pos x="96" y="4"/>
                </a:cxn>
                <a:cxn ang="0">
                  <a:pos x="86" y="8"/>
                </a:cxn>
                <a:cxn ang="0">
                  <a:pos x="77" y="5"/>
                </a:cxn>
                <a:cxn ang="0">
                  <a:pos x="76" y="12"/>
                </a:cxn>
                <a:cxn ang="0">
                  <a:pos x="75" y="10"/>
                </a:cxn>
                <a:cxn ang="0">
                  <a:pos x="64" y="6"/>
                </a:cxn>
                <a:cxn ang="0">
                  <a:pos x="60" y="10"/>
                </a:cxn>
                <a:cxn ang="0">
                  <a:pos x="53" y="6"/>
                </a:cxn>
                <a:cxn ang="0">
                  <a:pos x="46" y="15"/>
                </a:cxn>
                <a:cxn ang="0">
                  <a:pos x="39" y="18"/>
                </a:cxn>
                <a:cxn ang="0">
                  <a:pos x="34" y="14"/>
                </a:cxn>
                <a:cxn ang="0">
                  <a:pos x="38" y="10"/>
                </a:cxn>
                <a:cxn ang="0">
                  <a:pos x="21" y="0"/>
                </a:cxn>
                <a:cxn ang="0">
                  <a:pos x="23" y="4"/>
                </a:cxn>
                <a:cxn ang="0">
                  <a:pos x="26" y="10"/>
                </a:cxn>
                <a:cxn ang="0">
                  <a:pos x="16" y="5"/>
                </a:cxn>
                <a:cxn ang="0">
                  <a:pos x="12" y="8"/>
                </a:cxn>
                <a:cxn ang="0">
                  <a:pos x="12" y="10"/>
                </a:cxn>
                <a:cxn ang="0">
                  <a:pos x="15" y="11"/>
                </a:cxn>
                <a:cxn ang="0">
                  <a:pos x="14" y="11"/>
                </a:cxn>
                <a:cxn ang="0">
                  <a:pos x="4" y="11"/>
                </a:cxn>
                <a:cxn ang="0">
                  <a:pos x="8" y="14"/>
                </a:cxn>
                <a:cxn ang="0">
                  <a:pos x="0" y="15"/>
                </a:cxn>
                <a:cxn ang="0">
                  <a:pos x="28" y="16"/>
                </a:cxn>
                <a:cxn ang="0">
                  <a:pos x="23" y="20"/>
                </a:cxn>
                <a:cxn ang="0">
                  <a:pos x="27" y="22"/>
                </a:cxn>
                <a:cxn ang="0">
                  <a:pos x="3" y="24"/>
                </a:cxn>
                <a:cxn ang="0">
                  <a:pos x="22" y="29"/>
                </a:cxn>
                <a:cxn ang="0">
                  <a:pos x="28" y="30"/>
                </a:cxn>
                <a:cxn ang="0">
                  <a:pos x="24" y="33"/>
                </a:cxn>
                <a:cxn ang="0">
                  <a:pos x="28" y="33"/>
                </a:cxn>
                <a:cxn ang="0">
                  <a:pos x="26" y="35"/>
                </a:cxn>
                <a:cxn ang="0">
                  <a:pos x="15" y="40"/>
                </a:cxn>
                <a:cxn ang="0">
                  <a:pos x="24" y="42"/>
                </a:cxn>
                <a:cxn ang="0">
                  <a:pos x="41" y="44"/>
                </a:cxn>
                <a:cxn ang="0">
                  <a:pos x="69" y="48"/>
                </a:cxn>
                <a:cxn ang="0">
                  <a:pos x="88" y="41"/>
                </a:cxn>
                <a:cxn ang="0">
                  <a:pos x="107" y="35"/>
                </a:cxn>
                <a:cxn ang="0">
                  <a:pos x="119" y="28"/>
                </a:cxn>
                <a:cxn ang="0">
                  <a:pos x="125" y="24"/>
                </a:cxn>
                <a:cxn ang="0">
                  <a:pos x="129" y="23"/>
                </a:cxn>
                <a:cxn ang="0">
                  <a:pos x="123" y="21"/>
                </a:cxn>
                <a:cxn ang="0">
                  <a:pos x="129" y="18"/>
                </a:cxn>
                <a:cxn ang="0">
                  <a:pos x="129" y="16"/>
                </a:cxn>
                <a:cxn ang="0">
                  <a:pos x="118" y="16"/>
                </a:cxn>
                <a:cxn ang="0">
                  <a:pos x="120" y="14"/>
                </a:cxn>
                <a:cxn ang="0">
                  <a:pos x="114" y="12"/>
                </a:cxn>
                <a:cxn ang="0">
                  <a:pos x="114" y="8"/>
                </a:cxn>
                <a:cxn ang="0">
                  <a:pos x="119" y="2"/>
                </a:cxn>
                <a:cxn ang="0">
                  <a:pos x="110" y="4"/>
                </a:cxn>
                <a:cxn ang="0">
                  <a:pos x="99" y="0"/>
                </a:cxn>
              </a:cxnLst>
              <a:rect l="0" t="0" r="r" b="b"/>
              <a:pathLst>
                <a:path w="129" h="48">
                  <a:moveTo>
                    <a:pt x="99" y="0"/>
                  </a:moveTo>
                  <a:lnTo>
                    <a:pt x="96" y="4"/>
                  </a:lnTo>
                  <a:lnTo>
                    <a:pt x="86" y="8"/>
                  </a:lnTo>
                  <a:lnTo>
                    <a:pt x="77" y="5"/>
                  </a:lnTo>
                  <a:lnTo>
                    <a:pt x="76" y="12"/>
                  </a:lnTo>
                  <a:lnTo>
                    <a:pt x="75" y="10"/>
                  </a:lnTo>
                  <a:lnTo>
                    <a:pt x="64" y="6"/>
                  </a:lnTo>
                  <a:lnTo>
                    <a:pt x="60" y="10"/>
                  </a:lnTo>
                  <a:lnTo>
                    <a:pt x="53" y="6"/>
                  </a:lnTo>
                  <a:lnTo>
                    <a:pt x="46" y="15"/>
                  </a:lnTo>
                  <a:lnTo>
                    <a:pt x="39" y="18"/>
                  </a:lnTo>
                  <a:lnTo>
                    <a:pt x="34" y="14"/>
                  </a:lnTo>
                  <a:lnTo>
                    <a:pt x="38" y="10"/>
                  </a:lnTo>
                  <a:lnTo>
                    <a:pt x="21" y="0"/>
                  </a:lnTo>
                  <a:lnTo>
                    <a:pt x="23" y="4"/>
                  </a:lnTo>
                  <a:lnTo>
                    <a:pt x="26" y="10"/>
                  </a:lnTo>
                  <a:lnTo>
                    <a:pt x="16" y="5"/>
                  </a:lnTo>
                  <a:lnTo>
                    <a:pt x="12" y="8"/>
                  </a:lnTo>
                  <a:lnTo>
                    <a:pt x="12" y="10"/>
                  </a:lnTo>
                  <a:lnTo>
                    <a:pt x="15" y="11"/>
                  </a:lnTo>
                  <a:lnTo>
                    <a:pt x="14" y="11"/>
                  </a:lnTo>
                  <a:lnTo>
                    <a:pt x="4" y="11"/>
                  </a:lnTo>
                  <a:lnTo>
                    <a:pt x="8" y="14"/>
                  </a:lnTo>
                  <a:lnTo>
                    <a:pt x="0" y="15"/>
                  </a:lnTo>
                  <a:lnTo>
                    <a:pt x="28" y="16"/>
                  </a:lnTo>
                  <a:lnTo>
                    <a:pt x="23" y="20"/>
                  </a:lnTo>
                  <a:lnTo>
                    <a:pt x="27" y="22"/>
                  </a:lnTo>
                  <a:lnTo>
                    <a:pt x="3" y="24"/>
                  </a:lnTo>
                  <a:lnTo>
                    <a:pt x="22" y="29"/>
                  </a:lnTo>
                  <a:lnTo>
                    <a:pt x="28" y="30"/>
                  </a:lnTo>
                  <a:lnTo>
                    <a:pt x="24" y="33"/>
                  </a:lnTo>
                  <a:lnTo>
                    <a:pt x="28" y="33"/>
                  </a:lnTo>
                  <a:lnTo>
                    <a:pt x="26" y="35"/>
                  </a:lnTo>
                  <a:lnTo>
                    <a:pt x="15" y="40"/>
                  </a:lnTo>
                  <a:lnTo>
                    <a:pt x="24" y="42"/>
                  </a:lnTo>
                  <a:lnTo>
                    <a:pt x="41" y="44"/>
                  </a:lnTo>
                  <a:lnTo>
                    <a:pt x="69" y="48"/>
                  </a:lnTo>
                  <a:lnTo>
                    <a:pt x="88" y="41"/>
                  </a:lnTo>
                  <a:lnTo>
                    <a:pt x="107" y="35"/>
                  </a:lnTo>
                  <a:lnTo>
                    <a:pt x="119" y="28"/>
                  </a:lnTo>
                  <a:lnTo>
                    <a:pt x="125" y="24"/>
                  </a:lnTo>
                  <a:lnTo>
                    <a:pt x="129" y="23"/>
                  </a:lnTo>
                  <a:lnTo>
                    <a:pt x="123" y="21"/>
                  </a:lnTo>
                  <a:lnTo>
                    <a:pt x="129" y="18"/>
                  </a:lnTo>
                  <a:lnTo>
                    <a:pt x="129" y="16"/>
                  </a:lnTo>
                  <a:lnTo>
                    <a:pt x="118" y="16"/>
                  </a:lnTo>
                  <a:lnTo>
                    <a:pt x="120" y="14"/>
                  </a:lnTo>
                  <a:lnTo>
                    <a:pt x="114" y="12"/>
                  </a:lnTo>
                  <a:lnTo>
                    <a:pt x="114" y="8"/>
                  </a:lnTo>
                  <a:lnTo>
                    <a:pt x="119" y="2"/>
                  </a:lnTo>
                  <a:lnTo>
                    <a:pt x="110" y="4"/>
                  </a:lnTo>
                  <a:lnTo>
                    <a:pt x="9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8" name="Freeform 417"/>
            <p:cNvSpPr>
              <a:spLocks/>
            </p:cNvSpPr>
            <p:nvPr/>
          </p:nvSpPr>
          <p:spPr bwMode="auto">
            <a:xfrm>
              <a:off x="2376" y="1610"/>
              <a:ext cx="62" cy="71"/>
            </a:xfrm>
            <a:custGeom>
              <a:avLst/>
              <a:gdLst/>
              <a:ahLst/>
              <a:cxnLst>
                <a:cxn ang="0">
                  <a:pos x="55" y="47"/>
                </a:cxn>
                <a:cxn ang="0">
                  <a:pos x="55" y="33"/>
                </a:cxn>
                <a:cxn ang="0">
                  <a:pos x="55" y="20"/>
                </a:cxn>
                <a:cxn ang="0">
                  <a:pos x="48" y="17"/>
                </a:cxn>
                <a:cxn ang="0">
                  <a:pos x="44" y="18"/>
                </a:cxn>
                <a:cxn ang="0">
                  <a:pos x="33" y="15"/>
                </a:cxn>
                <a:cxn ang="0">
                  <a:pos x="43" y="3"/>
                </a:cxn>
                <a:cxn ang="0">
                  <a:pos x="45" y="0"/>
                </a:cxn>
                <a:cxn ang="0">
                  <a:pos x="39" y="2"/>
                </a:cxn>
                <a:cxn ang="0">
                  <a:pos x="35" y="2"/>
                </a:cxn>
                <a:cxn ang="0">
                  <a:pos x="24" y="8"/>
                </a:cxn>
                <a:cxn ang="0">
                  <a:pos x="29" y="11"/>
                </a:cxn>
                <a:cxn ang="0">
                  <a:pos x="24" y="17"/>
                </a:cxn>
                <a:cxn ang="0">
                  <a:pos x="7" y="18"/>
                </a:cxn>
                <a:cxn ang="0">
                  <a:pos x="8" y="24"/>
                </a:cxn>
                <a:cxn ang="0">
                  <a:pos x="2" y="30"/>
                </a:cxn>
                <a:cxn ang="0">
                  <a:pos x="18" y="35"/>
                </a:cxn>
                <a:cxn ang="0">
                  <a:pos x="7" y="45"/>
                </a:cxn>
                <a:cxn ang="0">
                  <a:pos x="18" y="43"/>
                </a:cxn>
                <a:cxn ang="0">
                  <a:pos x="6" y="49"/>
                </a:cxn>
                <a:cxn ang="0">
                  <a:pos x="0" y="53"/>
                </a:cxn>
                <a:cxn ang="0">
                  <a:pos x="3" y="54"/>
                </a:cxn>
                <a:cxn ang="0">
                  <a:pos x="0" y="57"/>
                </a:cxn>
                <a:cxn ang="0">
                  <a:pos x="6" y="60"/>
                </a:cxn>
                <a:cxn ang="0">
                  <a:pos x="3" y="61"/>
                </a:cxn>
                <a:cxn ang="0">
                  <a:pos x="8" y="61"/>
                </a:cxn>
                <a:cxn ang="0">
                  <a:pos x="8" y="63"/>
                </a:cxn>
                <a:cxn ang="0">
                  <a:pos x="23" y="62"/>
                </a:cxn>
                <a:cxn ang="0">
                  <a:pos x="36" y="55"/>
                </a:cxn>
                <a:cxn ang="0">
                  <a:pos x="50" y="54"/>
                </a:cxn>
                <a:cxn ang="0">
                  <a:pos x="55" y="47"/>
                </a:cxn>
              </a:cxnLst>
              <a:rect l="0" t="0" r="r" b="b"/>
              <a:pathLst>
                <a:path w="55" h="63">
                  <a:moveTo>
                    <a:pt x="55" y="47"/>
                  </a:moveTo>
                  <a:lnTo>
                    <a:pt x="55" y="33"/>
                  </a:lnTo>
                  <a:lnTo>
                    <a:pt x="55" y="20"/>
                  </a:lnTo>
                  <a:lnTo>
                    <a:pt x="48" y="17"/>
                  </a:lnTo>
                  <a:lnTo>
                    <a:pt x="44" y="18"/>
                  </a:lnTo>
                  <a:lnTo>
                    <a:pt x="33" y="15"/>
                  </a:lnTo>
                  <a:lnTo>
                    <a:pt x="43" y="3"/>
                  </a:lnTo>
                  <a:lnTo>
                    <a:pt x="45" y="0"/>
                  </a:lnTo>
                  <a:lnTo>
                    <a:pt x="39" y="2"/>
                  </a:lnTo>
                  <a:lnTo>
                    <a:pt x="35" y="2"/>
                  </a:lnTo>
                  <a:lnTo>
                    <a:pt x="24" y="8"/>
                  </a:lnTo>
                  <a:lnTo>
                    <a:pt x="29" y="11"/>
                  </a:lnTo>
                  <a:lnTo>
                    <a:pt x="24" y="17"/>
                  </a:lnTo>
                  <a:lnTo>
                    <a:pt x="7" y="18"/>
                  </a:lnTo>
                  <a:lnTo>
                    <a:pt x="8" y="24"/>
                  </a:lnTo>
                  <a:lnTo>
                    <a:pt x="2" y="30"/>
                  </a:lnTo>
                  <a:lnTo>
                    <a:pt x="18" y="35"/>
                  </a:lnTo>
                  <a:lnTo>
                    <a:pt x="7" y="45"/>
                  </a:lnTo>
                  <a:lnTo>
                    <a:pt x="18" y="43"/>
                  </a:lnTo>
                  <a:lnTo>
                    <a:pt x="6" y="49"/>
                  </a:lnTo>
                  <a:lnTo>
                    <a:pt x="0" y="53"/>
                  </a:lnTo>
                  <a:lnTo>
                    <a:pt x="3" y="54"/>
                  </a:lnTo>
                  <a:lnTo>
                    <a:pt x="0" y="57"/>
                  </a:lnTo>
                  <a:lnTo>
                    <a:pt x="6" y="60"/>
                  </a:lnTo>
                  <a:lnTo>
                    <a:pt x="3" y="61"/>
                  </a:lnTo>
                  <a:lnTo>
                    <a:pt x="8" y="61"/>
                  </a:lnTo>
                  <a:lnTo>
                    <a:pt x="8" y="63"/>
                  </a:lnTo>
                  <a:lnTo>
                    <a:pt x="23" y="62"/>
                  </a:lnTo>
                  <a:lnTo>
                    <a:pt x="36" y="55"/>
                  </a:lnTo>
                  <a:lnTo>
                    <a:pt x="50" y="54"/>
                  </a:lnTo>
                  <a:lnTo>
                    <a:pt x="55" y="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9" name="Freeform 418"/>
            <p:cNvSpPr>
              <a:spLocks/>
            </p:cNvSpPr>
            <p:nvPr/>
          </p:nvSpPr>
          <p:spPr bwMode="auto">
            <a:xfrm>
              <a:off x="2445" y="1550"/>
              <a:ext cx="113" cy="160"/>
            </a:xfrm>
            <a:custGeom>
              <a:avLst/>
              <a:gdLst/>
              <a:ahLst/>
              <a:cxnLst>
                <a:cxn ang="0">
                  <a:pos x="8" y="43"/>
                </a:cxn>
                <a:cxn ang="0">
                  <a:pos x="16" y="44"/>
                </a:cxn>
                <a:cxn ang="0">
                  <a:pos x="12" y="57"/>
                </a:cxn>
                <a:cxn ang="0">
                  <a:pos x="20" y="63"/>
                </a:cxn>
                <a:cxn ang="0">
                  <a:pos x="31" y="66"/>
                </a:cxn>
                <a:cxn ang="0">
                  <a:pos x="38" y="87"/>
                </a:cxn>
                <a:cxn ang="0">
                  <a:pos x="16" y="96"/>
                </a:cxn>
                <a:cxn ang="0">
                  <a:pos x="23" y="102"/>
                </a:cxn>
                <a:cxn ang="0">
                  <a:pos x="8" y="115"/>
                </a:cxn>
                <a:cxn ang="0">
                  <a:pos x="29" y="121"/>
                </a:cxn>
                <a:cxn ang="0">
                  <a:pos x="38" y="122"/>
                </a:cxn>
                <a:cxn ang="0">
                  <a:pos x="13" y="134"/>
                </a:cxn>
                <a:cxn ang="0">
                  <a:pos x="5" y="144"/>
                </a:cxn>
                <a:cxn ang="0">
                  <a:pos x="25" y="141"/>
                </a:cxn>
                <a:cxn ang="0">
                  <a:pos x="42" y="134"/>
                </a:cxn>
                <a:cxn ang="0">
                  <a:pos x="82" y="133"/>
                </a:cxn>
                <a:cxn ang="0">
                  <a:pos x="85" y="120"/>
                </a:cxn>
                <a:cxn ang="0">
                  <a:pos x="102" y="103"/>
                </a:cxn>
                <a:cxn ang="0">
                  <a:pos x="82" y="97"/>
                </a:cxn>
                <a:cxn ang="0">
                  <a:pos x="72" y="82"/>
                </a:cxn>
                <a:cxn ang="0">
                  <a:pos x="76" y="76"/>
                </a:cxn>
                <a:cxn ang="0">
                  <a:pos x="50" y="45"/>
                </a:cxn>
                <a:cxn ang="0">
                  <a:pos x="43" y="39"/>
                </a:cxn>
                <a:cxn ang="0">
                  <a:pos x="41" y="36"/>
                </a:cxn>
                <a:cxn ang="0">
                  <a:pos x="29" y="16"/>
                </a:cxn>
                <a:cxn ang="0">
                  <a:pos x="28" y="13"/>
                </a:cxn>
                <a:cxn ang="0">
                  <a:pos x="17" y="0"/>
                </a:cxn>
                <a:cxn ang="0">
                  <a:pos x="11" y="10"/>
                </a:cxn>
                <a:cxn ang="0">
                  <a:pos x="5" y="18"/>
                </a:cxn>
                <a:cxn ang="0">
                  <a:pos x="5" y="22"/>
                </a:cxn>
                <a:cxn ang="0">
                  <a:pos x="2" y="32"/>
                </a:cxn>
                <a:cxn ang="0">
                  <a:pos x="10" y="31"/>
                </a:cxn>
                <a:cxn ang="0">
                  <a:pos x="1" y="55"/>
                </a:cxn>
              </a:cxnLst>
              <a:rect l="0" t="0" r="r" b="b"/>
              <a:pathLst>
                <a:path w="102" h="144">
                  <a:moveTo>
                    <a:pt x="1" y="55"/>
                  </a:moveTo>
                  <a:lnTo>
                    <a:pt x="8" y="43"/>
                  </a:lnTo>
                  <a:lnTo>
                    <a:pt x="13" y="43"/>
                  </a:lnTo>
                  <a:lnTo>
                    <a:pt x="16" y="44"/>
                  </a:lnTo>
                  <a:lnTo>
                    <a:pt x="14" y="49"/>
                  </a:lnTo>
                  <a:lnTo>
                    <a:pt x="12" y="57"/>
                  </a:lnTo>
                  <a:lnTo>
                    <a:pt x="13" y="66"/>
                  </a:lnTo>
                  <a:lnTo>
                    <a:pt x="20" y="63"/>
                  </a:lnTo>
                  <a:lnTo>
                    <a:pt x="35" y="60"/>
                  </a:lnTo>
                  <a:lnTo>
                    <a:pt x="31" y="66"/>
                  </a:lnTo>
                  <a:lnTo>
                    <a:pt x="37" y="73"/>
                  </a:lnTo>
                  <a:lnTo>
                    <a:pt x="38" y="87"/>
                  </a:lnTo>
                  <a:lnTo>
                    <a:pt x="34" y="88"/>
                  </a:lnTo>
                  <a:lnTo>
                    <a:pt x="16" y="96"/>
                  </a:lnTo>
                  <a:lnTo>
                    <a:pt x="19" y="96"/>
                  </a:lnTo>
                  <a:lnTo>
                    <a:pt x="23" y="102"/>
                  </a:lnTo>
                  <a:lnTo>
                    <a:pt x="11" y="111"/>
                  </a:lnTo>
                  <a:lnTo>
                    <a:pt x="8" y="115"/>
                  </a:lnTo>
                  <a:lnTo>
                    <a:pt x="23" y="117"/>
                  </a:lnTo>
                  <a:lnTo>
                    <a:pt x="29" y="121"/>
                  </a:lnTo>
                  <a:lnTo>
                    <a:pt x="44" y="116"/>
                  </a:lnTo>
                  <a:lnTo>
                    <a:pt x="38" y="122"/>
                  </a:lnTo>
                  <a:lnTo>
                    <a:pt x="26" y="124"/>
                  </a:lnTo>
                  <a:lnTo>
                    <a:pt x="13" y="134"/>
                  </a:lnTo>
                  <a:lnTo>
                    <a:pt x="0" y="142"/>
                  </a:lnTo>
                  <a:lnTo>
                    <a:pt x="5" y="144"/>
                  </a:lnTo>
                  <a:lnTo>
                    <a:pt x="8" y="144"/>
                  </a:lnTo>
                  <a:lnTo>
                    <a:pt x="25" y="141"/>
                  </a:lnTo>
                  <a:lnTo>
                    <a:pt x="30" y="136"/>
                  </a:lnTo>
                  <a:lnTo>
                    <a:pt x="42" y="134"/>
                  </a:lnTo>
                  <a:lnTo>
                    <a:pt x="58" y="133"/>
                  </a:lnTo>
                  <a:lnTo>
                    <a:pt x="82" y="133"/>
                  </a:lnTo>
                  <a:lnTo>
                    <a:pt x="97" y="123"/>
                  </a:lnTo>
                  <a:lnTo>
                    <a:pt x="85" y="120"/>
                  </a:lnTo>
                  <a:lnTo>
                    <a:pt x="90" y="116"/>
                  </a:lnTo>
                  <a:lnTo>
                    <a:pt x="102" y="103"/>
                  </a:lnTo>
                  <a:lnTo>
                    <a:pt x="97" y="97"/>
                  </a:lnTo>
                  <a:lnTo>
                    <a:pt x="82" y="97"/>
                  </a:lnTo>
                  <a:lnTo>
                    <a:pt x="83" y="92"/>
                  </a:lnTo>
                  <a:lnTo>
                    <a:pt x="72" y="82"/>
                  </a:lnTo>
                  <a:lnTo>
                    <a:pt x="77" y="84"/>
                  </a:lnTo>
                  <a:lnTo>
                    <a:pt x="76" y="76"/>
                  </a:lnTo>
                  <a:lnTo>
                    <a:pt x="65" y="67"/>
                  </a:lnTo>
                  <a:lnTo>
                    <a:pt x="50" y="45"/>
                  </a:lnTo>
                  <a:lnTo>
                    <a:pt x="32" y="43"/>
                  </a:lnTo>
                  <a:lnTo>
                    <a:pt x="43" y="39"/>
                  </a:lnTo>
                  <a:lnTo>
                    <a:pt x="36" y="37"/>
                  </a:lnTo>
                  <a:lnTo>
                    <a:pt x="41" y="36"/>
                  </a:lnTo>
                  <a:lnTo>
                    <a:pt x="55" y="16"/>
                  </a:lnTo>
                  <a:lnTo>
                    <a:pt x="29" y="16"/>
                  </a:lnTo>
                  <a:lnTo>
                    <a:pt x="23" y="15"/>
                  </a:lnTo>
                  <a:lnTo>
                    <a:pt x="28" y="13"/>
                  </a:lnTo>
                  <a:lnTo>
                    <a:pt x="38" y="1"/>
                  </a:lnTo>
                  <a:lnTo>
                    <a:pt x="17" y="0"/>
                  </a:lnTo>
                  <a:lnTo>
                    <a:pt x="12" y="4"/>
                  </a:lnTo>
                  <a:lnTo>
                    <a:pt x="11" y="10"/>
                  </a:lnTo>
                  <a:lnTo>
                    <a:pt x="6" y="12"/>
                  </a:lnTo>
                  <a:lnTo>
                    <a:pt x="5" y="18"/>
                  </a:lnTo>
                  <a:lnTo>
                    <a:pt x="5" y="20"/>
                  </a:lnTo>
                  <a:lnTo>
                    <a:pt x="5" y="22"/>
                  </a:lnTo>
                  <a:lnTo>
                    <a:pt x="0" y="30"/>
                  </a:lnTo>
                  <a:lnTo>
                    <a:pt x="2" y="32"/>
                  </a:lnTo>
                  <a:lnTo>
                    <a:pt x="0" y="33"/>
                  </a:lnTo>
                  <a:lnTo>
                    <a:pt x="10" y="31"/>
                  </a:lnTo>
                  <a:lnTo>
                    <a:pt x="8" y="32"/>
                  </a:lnTo>
                  <a:lnTo>
                    <a:pt x="1" y="5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0" name="Freeform 419"/>
            <p:cNvSpPr>
              <a:spLocks/>
            </p:cNvSpPr>
            <p:nvPr/>
          </p:nvSpPr>
          <p:spPr bwMode="auto">
            <a:xfrm>
              <a:off x="2413" y="1612"/>
              <a:ext cx="36" cy="22"/>
            </a:xfrm>
            <a:custGeom>
              <a:avLst/>
              <a:gdLst/>
              <a:ahLst/>
              <a:cxnLst>
                <a:cxn ang="0">
                  <a:pos x="32" y="13"/>
                </a:cxn>
                <a:cxn ang="0">
                  <a:pos x="29" y="10"/>
                </a:cxn>
                <a:cxn ang="0">
                  <a:pos x="21" y="0"/>
                </a:cxn>
                <a:cxn ang="0">
                  <a:pos x="10" y="2"/>
                </a:cxn>
                <a:cxn ang="0">
                  <a:pos x="0" y="14"/>
                </a:cxn>
                <a:cxn ang="0">
                  <a:pos x="11" y="17"/>
                </a:cxn>
                <a:cxn ang="0">
                  <a:pos x="15" y="16"/>
                </a:cxn>
                <a:cxn ang="0">
                  <a:pos x="22" y="19"/>
                </a:cxn>
                <a:cxn ang="0">
                  <a:pos x="32" y="13"/>
                </a:cxn>
              </a:cxnLst>
              <a:rect l="0" t="0" r="r" b="b"/>
              <a:pathLst>
                <a:path w="32" h="19">
                  <a:moveTo>
                    <a:pt x="32" y="13"/>
                  </a:moveTo>
                  <a:lnTo>
                    <a:pt x="29" y="10"/>
                  </a:lnTo>
                  <a:lnTo>
                    <a:pt x="21" y="0"/>
                  </a:lnTo>
                  <a:lnTo>
                    <a:pt x="10" y="2"/>
                  </a:lnTo>
                  <a:lnTo>
                    <a:pt x="0" y="14"/>
                  </a:lnTo>
                  <a:lnTo>
                    <a:pt x="11" y="17"/>
                  </a:lnTo>
                  <a:lnTo>
                    <a:pt x="15" y="16"/>
                  </a:lnTo>
                  <a:lnTo>
                    <a:pt x="22" y="19"/>
                  </a:lnTo>
                  <a:lnTo>
                    <a:pt x="32"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1" name="Freeform 420"/>
            <p:cNvSpPr>
              <a:spLocks/>
            </p:cNvSpPr>
            <p:nvPr/>
          </p:nvSpPr>
          <p:spPr bwMode="auto">
            <a:xfrm>
              <a:off x="2436" y="1568"/>
              <a:ext cx="13" cy="8"/>
            </a:xfrm>
            <a:custGeom>
              <a:avLst/>
              <a:gdLst/>
              <a:ahLst/>
              <a:cxnLst>
                <a:cxn ang="0">
                  <a:pos x="7" y="2"/>
                </a:cxn>
                <a:cxn ang="0">
                  <a:pos x="3" y="0"/>
                </a:cxn>
                <a:cxn ang="0">
                  <a:pos x="0" y="4"/>
                </a:cxn>
                <a:cxn ang="0">
                  <a:pos x="10" y="9"/>
                </a:cxn>
                <a:cxn ang="0">
                  <a:pos x="13" y="6"/>
                </a:cxn>
                <a:cxn ang="0">
                  <a:pos x="7" y="2"/>
                </a:cxn>
              </a:cxnLst>
              <a:rect l="0" t="0" r="r" b="b"/>
              <a:pathLst>
                <a:path w="13" h="9">
                  <a:moveTo>
                    <a:pt x="7" y="2"/>
                  </a:moveTo>
                  <a:lnTo>
                    <a:pt x="3" y="0"/>
                  </a:lnTo>
                  <a:lnTo>
                    <a:pt x="0" y="4"/>
                  </a:lnTo>
                  <a:lnTo>
                    <a:pt x="10" y="9"/>
                  </a:lnTo>
                  <a:lnTo>
                    <a:pt x="13" y="6"/>
                  </a:lnTo>
                  <a:lnTo>
                    <a:pt x="7"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2" name="Freeform 421"/>
            <p:cNvSpPr>
              <a:spLocks/>
            </p:cNvSpPr>
            <p:nvPr/>
          </p:nvSpPr>
          <p:spPr bwMode="auto">
            <a:xfrm>
              <a:off x="2431" y="1554"/>
              <a:ext cx="11" cy="9"/>
            </a:xfrm>
            <a:custGeom>
              <a:avLst/>
              <a:gdLst/>
              <a:ahLst/>
              <a:cxnLst>
                <a:cxn ang="0">
                  <a:pos x="11" y="3"/>
                </a:cxn>
                <a:cxn ang="0">
                  <a:pos x="11" y="0"/>
                </a:cxn>
                <a:cxn ang="0">
                  <a:pos x="2" y="4"/>
                </a:cxn>
                <a:cxn ang="0">
                  <a:pos x="0" y="9"/>
                </a:cxn>
                <a:cxn ang="0">
                  <a:pos x="11" y="3"/>
                </a:cxn>
              </a:cxnLst>
              <a:rect l="0" t="0" r="r" b="b"/>
              <a:pathLst>
                <a:path w="11" h="9">
                  <a:moveTo>
                    <a:pt x="11" y="3"/>
                  </a:moveTo>
                  <a:lnTo>
                    <a:pt x="11" y="0"/>
                  </a:lnTo>
                  <a:lnTo>
                    <a:pt x="2" y="4"/>
                  </a:lnTo>
                  <a:lnTo>
                    <a:pt x="0" y="9"/>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3" name="Freeform 422"/>
            <p:cNvSpPr>
              <a:spLocks/>
            </p:cNvSpPr>
            <p:nvPr/>
          </p:nvSpPr>
          <p:spPr bwMode="auto">
            <a:xfrm>
              <a:off x="2511" y="1514"/>
              <a:ext cx="5" cy="9"/>
            </a:xfrm>
            <a:custGeom>
              <a:avLst/>
              <a:gdLst/>
              <a:ahLst/>
              <a:cxnLst>
                <a:cxn ang="0">
                  <a:pos x="1" y="0"/>
                </a:cxn>
                <a:cxn ang="0">
                  <a:pos x="1" y="3"/>
                </a:cxn>
                <a:cxn ang="0">
                  <a:pos x="0" y="5"/>
                </a:cxn>
                <a:cxn ang="0">
                  <a:pos x="1" y="8"/>
                </a:cxn>
                <a:cxn ang="0">
                  <a:pos x="5" y="0"/>
                </a:cxn>
                <a:cxn ang="0">
                  <a:pos x="1" y="0"/>
                </a:cxn>
              </a:cxnLst>
              <a:rect l="0" t="0" r="r" b="b"/>
              <a:pathLst>
                <a:path w="5" h="8">
                  <a:moveTo>
                    <a:pt x="1" y="0"/>
                  </a:moveTo>
                  <a:lnTo>
                    <a:pt x="1" y="3"/>
                  </a:lnTo>
                  <a:lnTo>
                    <a:pt x="0" y="5"/>
                  </a:lnTo>
                  <a:lnTo>
                    <a:pt x="1" y="8"/>
                  </a:lnTo>
                  <a:lnTo>
                    <a:pt x="5"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4" name="Freeform 423"/>
            <p:cNvSpPr>
              <a:spLocks/>
            </p:cNvSpPr>
            <p:nvPr/>
          </p:nvSpPr>
          <p:spPr bwMode="auto">
            <a:xfrm>
              <a:off x="2442" y="1588"/>
              <a:ext cx="7" cy="4"/>
            </a:xfrm>
            <a:custGeom>
              <a:avLst/>
              <a:gdLst/>
              <a:ahLst/>
              <a:cxnLst>
                <a:cxn ang="0">
                  <a:pos x="0" y="4"/>
                </a:cxn>
                <a:cxn ang="0">
                  <a:pos x="7" y="2"/>
                </a:cxn>
                <a:cxn ang="0">
                  <a:pos x="0" y="0"/>
                </a:cxn>
                <a:cxn ang="0">
                  <a:pos x="0" y="4"/>
                </a:cxn>
              </a:cxnLst>
              <a:rect l="0" t="0" r="r" b="b"/>
              <a:pathLst>
                <a:path w="7" h="4">
                  <a:moveTo>
                    <a:pt x="0" y="4"/>
                  </a:moveTo>
                  <a:lnTo>
                    <a:pt x="7" y="2"/>
                  </a:lnTo>
                  <a:lnTo>
                    <a:pt x="0" y="0"/>
                  </a:lnTo>
                  <a:lnTo>
                    <a:pt x="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5" name="Freeform 424"/>
            <p:cNvSpPr>
              <a:spLocks/>
            </p:cNvSpPr>
            <p:nvPr/>
          </p:nvSpPr>
          <p:spPr bwMode="auto">
            <a:xfrm>
              <a:off x="2465" y="1648"/>
              <a:ext cx="4" cy="2"/>
            </a:xfrm>
            <a:custGeom>
              <a:avLst/>
              <a:gdLst/>
              <a:ahLst/>
              <a:cxnLst>
                <a:cxn ang="0">
                  <a:pos x="5" y="3"/>
                </a:cxn>
                <a:cxn ang="0">
                  <a:pos x="1" y="0"/>
                </a:cxn>
                <a:cxn ang="0">
                  <a:pos x="0" y="4"/>
                </a:cxn>
                <a:cxn ang="0">
                  <a:pos x="5" y="3"/>
                </a:cxn>
              </a:cxnLst>
              <a:rect l="0" t="0" r="r" b="b"/>
              <a:pathLst>
                <a:path w="5" h="4">
                  <a:moveTo>
                    <a:pt x="5" y="3"/>
                  </a:moveTo>
                  <a:lnTo>
                    <a:pt x="1" y="0"/>
                  </a:lnTo>
                  <a:lnTo>
                    <a:pt x="0" y="4"/>
                  </a:lnTo>
                  <a:lnTo>
                    <a:pt x="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6" name="Freeform 425"/>
            <p:cNvSpPr>
              <a:spLocks/>
            </p:cNvSpPr>
            <p:nvPr/>
          </p:nvSpPr>
          <p:spPr bwMode="auto">
            <a:xfrm>
              <a:off x="2556" y="1856"/>
              <a:ext cx="4" cy="3"/>
            </a:xfrm>
            <a:custGeom>
              <a:avLst/>
              <a:gdLst/>
              <a:ahLst/>
              <a:cxnLst>
                <a:cxn ang="0">
                  <a:pos x="4" y="0"/>
                </a:cxn>
                <a:cxn ang="0">
                  <a:pos x="0" y="0"/>
                </a:cxn>
                <a:cxn ang="0">
                  <a:pos x="0" y="1"/>
                </a:cxn>
                <a:cxn ang="0">
                  <a:pos x="3" y="2"/>
                </a:cxn>
                <a:cxn ang="0">
                  <a:pos x="4" y="0"/>
                </a:cxn>
              </a:cxnLst>
              <a:rect l="0" t="0" r="r" b="b"/>
              <a:pathLst>
                <a:path w="4" h="2">
                  <a:moveTo>
                    <a:pt x="4" y="0"/>
                  </a:moveTo>
                  <a:lnTo>
                    <a:pt x="0" y="0"/>
                  </a:lnTo>
                  <a:lnTo>
                    <a:pt x="0" y="1"/>
                  </a:lnTo>
                  <a:lnTo>
                    <a:pt x="3" y="2"/>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7" name="Freeform 426"/>
            <p:cNvSpPr>
              <a:spLocks/>
            </p:cNvSpPr>
            <p:nvPr/>
          </p:nvSpPr>
          <p:spPr bwMode="auto">
            <a:xfrm>
              <a:off x="1442" y="2059"/>
              <a:ext cx="5" cy="2"/>
            </a:xfrm>
            <a:custGeom>
              <a:avLst/>
              <a:gdLst/>
              <a:ahLst/>
              <a:cxnLst>
                <a:cxn ang="0">
                  <a:pos x="2" y="0"/>
                </a:cxn>
                <a:cxn ang="0">
                  <a:pos x="1" y="1"/>
                </a:cxn>
                <a:cxn ang="0">
                  <a:pos x="1" y="2"/>
                </a:cxn>
                <a:cxn ang="0">
                  <a:pos x="0" y="2"/>
                </a:cxn>
                <a:cxn ang="0">
                  <a:pos x="1" y="2"/>
                </a:cxn>
                <a:cxn ang="0">
                  <a:pos x="2" y="1"/>
                </a:cxn>
                <a:cxn ang="0">
                  <a:pos x="2" y="0"/>
                </a:cxn>
              </a:cxnLst>
              <a:rect l="0" t="0" r="r" b="b"/>
              <a:pathLst>
                <a:path w="2" h="2">
                  <a:moveTo>
                    <a:pt x="2" y="0"/>
                  </a:moveTo>
                  <a:lnTo>
                    <a:pt x="1" y="1"/>
                  </a:lnTo>
                  <a:lnTo>
                    <a:pt x="1" y="2"/>
                  </a:lnTo>
                  <a:lnTo>
                    <a:pt x="0" y="2"/>
                  </a:lnTo>
                  <a:lnTo>
                    <a:pt x="1" y="2"/>
                  </a:lnTo>
                  <a:lnTo>
                    <a:pt x="2" y="1"/>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8" name="Freeform 427"/>
            <p:cNvSpPr>
              <a:spLocks/>
            </p:cNvSpPr>
            <p:nvPr/>
          </p:nvSpPr>
          <p:spPr bwMode="auto">
            <a:xfrm>
              <a:off x="2376" y="1867"/>
              <a:ext cx="53" cy="100"/>
            </a:xfrm>
            <a:custGeom>
              <a:avLst/>
              <a:gdLst/>
              <a:ahLst/>
              <a:cxnLst>
                <a:cxn ang="0">
                  <a:pos x="21" y="0"/>
                </a:cxn>
                <a:cxn ang="0">
                  <a:pos x="13" y="0"/>
                </a:cxn>
                <a:cxn ang="0">
                  <a:pos x="13" y="22"/>
                </a:cxn>
                <a:cxn ang="0">
                  <a:pos x="8" y="34"/>
                </a:cxn>
                <a:cxn ang="0">
                  <a:pos x="2" y="47"/>
                </a:cxn>
                <a:cxn ang="0">
                  <a:pos x="0" y="59"/>
                </a:cxn>
                <a:cxn ang="0">
                  <a:pos x="7" y="63"/>
                </a:cxn>
                <a:cxn ang="0">
                  <a:pos x="9" y="64"/>
                </a:cxn>
                <a:cxn ang="0">
                  <a:pos x="8" y="89"/>
                </a:cxn>
                <a:cxn ang="0">
                  <a:pos x="30" y="87"/>
                </a:cxn>
                <a:cxn ang="0">
                  <a:pos x="29" y="82"/>
                </a:cxn>
                <a:cxn ang="0">
                  <a:pos x="35" y="71"/>
                </a:cxn>
                <a:cxn ang="0">
                  <a:pos x="33" y="66"/>
                </a:cxn>
                <a:cxn ang="0">
                  <a:pos x="35" y="57"/>
                </a:cxn>
                <a:cxn ang="0">
                  <a:pos x="29" y="42"/>
                </a:cxn>
                <a:cxn ang="0">
                  <a:pos x="35" y="41"/>
                </a:cxn>
                <a:cxn ang="0">
                  <a:pos x="39" y="20"/>
                </a:cxn>
                <a:cxn ang="0">
                  <a:pos x="48" y="11"/>
                </a:cxn>
                <a:cxn ang="0">
                  <a:pos x="45" y="3"/>
                </a:cxn>
                <a:cxn ang="0">
                  <a:pos x="26" y="2"/>
                </a:cxn>
                <a:cxn ang="0">
                  <a:pos x="21" y="0"/>
                </a:cxn>
              </a:cxnLst>
              <a:rect l="0" t="0" r="r" b="b"/>
              <a:pathLst>
                <a:path w="48" h="89">
                  <a:moveTo>
                    <a:pt x="21" y="0"/>
                  </a:moveTo>
                  <a:lnTo>
                    <a:pt x="13" y="0"/>
                  </a:lnTo>
                  <a:lnTo>
                    <a:pt x="13" y="22"/>
                  </a:lnTo>
                  <a:lnTo>
                    <a:pt x="8" y="34"/>
                  </a:lnTo>
                  <a:lnTo>
                    <a:pt x="2" y="47"/>
                  </a:lnTo>
                  <a:lnTo>
                    <a:pt x="0" y="59"/>
                  </a:lnTo>
                  <a:lnTo>
                    <a:pt x="7" y="63"/>
                  </a:lnTo>
                  <a:lnTo>
                    <a:pt x="9" y="64"/>
                  </a:lnTo>
                  <a:lnTo>
                    <a:pt x="8" y="89"/>
                  </a:lnTo>
                  <a:lnTo>
                    <a:pt x="30" y="87"/>
                  </a:lnTo>
                  <a:lnTo>
                    <a:pt x="29" y="82"/>
                  </a:lnTo>
                  <a:lnTo>
                    <a:pt x="35" y="71"/>
                  </a:lnTo>
                  <a:lnTo>
                    <a:pt x="33" y="66"/>
                  </a:lnTo>
                  <a:lnTo>
                    <a:pt x="35" y="57"/>
                  </a:lnTo>
                  <a:lnTo>
                    <a:pt x="29" y="42"/>
                  </a:lnTo>
                  <a:lnTo>
                    <a:pt x="35" y="41"/>
                  </a:lnTo>
                  <a:lnTo>
                    <a:pt x="39" y="20"/>
                  </a:lnTo>
                  <a:lnTo>
                    <a:pt x="48" y="11"/>
                  </a:lnTo>
                  <a:lnTo>
                    <a:pt x="45" y="3"/>
                  </a:lnTo>
                  <a:lnTo>
                    <a:pt x="26" y="2"/>
                  </a:lnTo>
                  <a:lnTo>
                    <a:pt x="2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9" name="Freeform 428"/>
            <p:cNvSpPr>
              <a:spLocks/>
            </p:cNvSpPr>
            <p:nvPr/>
          </p:nvSpPr>
          <p:spPr bwMode="auto">
            <a:xfrm>
              <a:off x="2387" y="1834"/>
              <a:ext cx="195" cy="149"/>
            </a:xfrm>
            <a:custGeom>
              <a:avLst/>
              <a:gdLst/>
              <a:ahLst/>
              <a:cxnLst>
                <a:cxn ang="0">
                  <a:pos x="36" y="34"/>
                </a:cxn>
                <a:cxn ang="0">
                  <a:pos x="17" y="33"/>
                </a:cxn>
                <a:cxn ang="0">
                  <a:pos x="12" y="31"/>
                </a:cxn>
                <a:cxn ang="0">
                  <a:pos x="4" y="31"/>
                </a:cxn>
                <a:cxn ang="0">
                  <a:pos x="3" y="27"/>
                </a:cxn>
                <a:cxn ang="0">
                  <a:pos x="2" y="23"/>
                </a:cxn>
                <a:cxn ang="0">
                  <a:pos x="2" y="21"/>
                </a:cxn>
                <a:cxn ang="0">
                  <a:pos x="0" y="17"/>
                </a:cxn>
                <a:cxn ang="0">
                  <a:pos x="0" y="10"/>
                </a:cxn>
                <a:cxn ang="0">
                  <a:pos x="22" y="0"/>
                </a:cxn>
                <a:cxn ang="0">
                  <a:pos x="40" y="3"/>
                </a:cxn>
                <a:cxn ang="0">
                  <a:pos x="56" y="4"/>
                </a:cxn>
                <a:cxn ang="0">
                  <a:pos x="72" y="5"/>
                </a:cxn>
                <a:cxn ang="0">
                  <a:pos x="88" y="5"/>
                </a:cxn>
                <a:cxn ang="0">
                  <a:pos x="105" y="6"/>
                </a:cxn>
                <a:cxn ang="0">
                  <a:pos x="112" y="12"/>
                </a:cxn>
                <a:cxn ang="0">
                  <a:pos x="152" y="21"/>
                </a:cxn>
                <a:cxn ang="0">
                  <a:pos x="152" y="22"/>
                </a:cxn>
                <a:cxn ang="0">
                  <a:pos x="155" y="23"/>
                </a:cxn>
                <a:cxn ang="0">
                  <a:pos x="177" y="23"/>
                </a:cxn>
                <a:cxn ang="0">
                  <a:pos x="173" y="36"/>
                </a:cxn>
                <a:cxn ang="0">
                  <a:pos x="158" y="45"/>
                </a:cxn>
                <a:cxn ang="0">
                  <a:pos x="142" y="53"/>
                </a:cxn>
                <a:cxn ang="0">
                  <a:pos x="134" y="65"/>
                </a:cxn>
                <a:cxn ang="0">
                  <a:pos x="125" y="78"/>
                </a:cxn>
                <a:cxn ang="0">
                  <a:pos x="131" y="91"/>
                </a:cxn>
                <a:cxn ang="0">
                  <a:pos x="119" y="106"/>
                </a:cxn>
                <a:cxn ang="0">
                  <a:pos x="116" y="111"/>
                </a:cxn>
                <a:cxn ang="0">
                  <a:pos x="104" y="117"/>
                </a:cxn>
                <a:cxn ang="0">
                  <a:pos x="96" y="124"/>
                </a:cxn>
                <a:cxn ang="0">
                  <a:pos x="80" y="126"/>
                </a:cxn>
                <a:cxn ang="0">
                  <a:pos x="62" y="129"/>
                </a:cxn>
                <a:cxn ang="0">
                  <a:pos x="51" y="136"/>
                </a:cxn>
                <a:cxn ang="0">
                  <a:pos x="50" y="136"/>
                </a:cxn>
                <a:cxn ang="0">
                  <a:pos x="40" y="135"/>
                </a:cxn>
                <a:cxn ang="0">
                  <a:pos x="36" y="123"/>
                </a:cxn>
                <a:cxn ang="0">
                  <a:pos x="26" y="117"/>
                </a:cxn>
                <a:cxn ang="0">
                  <a:pos x="21" y="118"/>
                </a:cxn>
                <a:cxn ang="0">
                  <a:pos x="20" y="113"/>
                </a:cxn>
                <a:cxn ang="0">
                  <a:pos x="26" y="102"/>
                </a:cxn>
                <a:cxn ang="0">
                  <a:pos x="24" y="97"/>
                </a:cxn>
                <a:cxn ang="0">
                  <a:pos x="26" y="88"/>
                </a:cxn>
                <a:cxn ang="0">
                  <a:pos x="20" y="73"/>
                </a:cxn>
                <a:cxn ang="0">
                  <a:pos x="26" y="72"/>
                </a:cxn>
                <a:cxn ang="0">
                  <a:pos x="30" y="51"/>
                </a:cxn>
                <a:cxn ang="0">
                  <a:pos x="39" y="42"/>
                </a:cxn>
                <a:cxn ang="0">
                  <a:pos x="36" y="34"/>
                </a:cxn>
              </a:cxnLst>
              <a:rect l="0" t="0" r="r" b="b"/>
              <a:pathLst>
                <a:path w="177" h="136">
                  <a:moveTo>
                    <a:pt x="36" y="34"/>
                  </a:moveTo>
                  <a:lnTo>
                    <a:pt x="17" y="33"/>
                  </a:lnTo>
                  <a:lnTo>
                    <a:pt x="12" y="31"/>
                  </a:lnTo>
                  <a:lnTo>
                    <a:pt x="4" y="31"/>
                  </a:lnTo>
                  <a:lnTo>
                    <a:pt x="3" y="27"/>
                  </a:lnTo>
                  <a:lnTo>
                    <a:pt x="2" y="23"/>
                  </a:lnTo>
                  <a:lnTo>
                    <a:pt x="2" y="21"/>
                  </a:lnTo>
                  <a:lnTo>
                    <a:pt x="0" y="17"/>
                  </a:lnTo>
                  <a:lnTo>
                    <a:pt x="0" y="10"/>
                  </a:lnTo>
                  <a:lnTo>
                    <a:pt x="22" y="0"/>
                  </a:lnTo>
                  <a:lnTo>
                    <a:pt x="40" y="3"/>
                  </a:lnTo>
                  <a:lnTo>
                    <a:pt x="56" y="4"/>
                  </a:lnTo>
                  <a:lnTo>
                    <a:pt x="72" y="5"/>
                  </a:lnTo>
                  <a:lnTo>
                    <a:pt x="88" y="5"/>
                  </a:lnTo>
                  <a:lnTo>
                    <a:pt x="105" y="6"/>
                  </a:lnTo>
                  <a:lnTo>
                    <a:pt x="112" y="12"/>
                  </a:lnTo>
                  <a:lnTo>
                    <a:pt x="152" y="21"/>
                  </a:lnTo>
                  <a:lnTo>
                    <a:pt x="152" y="22"/>
                  </a:lnTo>
                  <a:lnTo>
                    <a:pt x="155" y="23"/>
                  </a:lnTo>
                  <a:lnTo>
                    <a:pt x="177" y="23"/>
                  </a:lnTo>
                  <a:lnTo>
                    <a:pt x="173" y="36"/>
                  </a:lnTo>
                  <a:lnTo>
                    <a:pt x="158" y="45"/>
                  </a:lnTo>
                  <a:lnTo>
                    <a:pt x="142" y="53"/>
                  </a:lnTo>
                  <a:lnTo>
                    <a:pt x="134" y="65"/>
                  </a:lnTo>
                  <a:lnTo>
                    <a:pt x="125" y="78"/>
                  </a:lnTo>
                  <a:lnTo>
                    <a:pt x="131" y="91"/>
                  </a:lnTo>
                  <a:lnTo>
                    <a:pt x="119" y="106"/>
                  </a:lnTo>
                  <a:lnTo>
                    <a:pt x="116" y="111"/>
                  </a:lnTo>
                  <a:lnTo>
                    <a:pt x="104" y="117"/>
                  </a:lnTo>
                  <a:lnTo>
                    <a:pt x="96" y="124"/>
                  </a:lnTo>
                  <a:lnTo>
                    <a:pt x="80" y="126"/>
                  </a:lnTo>
                  <a:lnTo>
                    <a:pt x="62" y="129"/>
                  </a:lnTo>
                  <a:lnTo>
                    <a:pt x="51" y="136"/>
                  </a:lnTo>
                  <a:lnTo>
                    <a:pt x="50" y="136"/>
                  </a:lnTo>
                  <a:lnTo>
                    <a:pt x="40" y="135"/>
                  </a:lnTo>
                  <a:lnTo>
                    <a:pt x="36" y="123"/>
                  </a:lnTo>
                  <a:lnTo>
                    <a:pt x="26" y="117"/>
                  </a:lnTo>
                  <a:lnTo>
                    <a:pt x="21" y="118"/>
                  </a:lnTo>
                  <a:lnTo>
                    <a:pt x="20" y="113"/>
                  </a:lnTo>
                  <a:lnTo>
                    <a:pt x="26" y="102"/>
                  </a:lnTo>
                  <a:lnTo>
                    <a:pt x="24" y="97"/>
                  </a:lnTo>
                  <a:lnTo>
                    <a:pt x="26" y="88"/>
                  </a:lnTo>
                  <a:lnTo>
                    <a:pt x="20" y="73"/>
                  </a:lnTo>
                  <a:lnTo>
                    <a:pt x="26" y="72"/>
                  </a:lnTo>
                  <a:lnTo>
                    <a:pt x="30" y="51"/>
                  </a:lnTo>
                  <a:lnTo>
                    <a:pt x="39" y="42"/>
                  </a:lnTo>
                  <a:lnTo>
                    <a:pt x="36"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0" name="Freeform 429"/>
            <p:cNvSpPr>
              <a:spLocks/>
            </p:cNvSpPr>
            <p:nvPr/>
          </p:nvSpPr>
          <p:spPr bwMode="auto">
            <a:xfrm>
              <a:off x="2571" y="1910"/>
              <a:ext cx="18" cy="11"/>
            </a:xfrm>
            <a:custGeom>
              <a:avLst/>
              <a:gdLst/>
              <a:ahLst/>
              <a:cxnLst>
                <a:cxn ang="0">
                  <a:pos x="16" y="2"/>
                </a:cxn>
                <a:cxn ang="0">
                  <a:pos x="7" y="8"/>
                </a:cxn>
                <a:cxn ang="0">
                  <a:pos x="0" y="2"/>
                </a:cxn>
                <a:cxn ang="0">
                  <a:pos x="10" y="0"/>
                </a:cxn>
                <a:cxn ang="0">
                  <a:pos x="16" y="2"/>
                </a:cxn>
              </a:cxnLst>
              <a:rect l="0" t="0" r="r" b="b"/>
              <a:pathLst>
                <a:path w="16" h="8">
                  <a:moveTo>
                    <a:pt x="16" y="2"/>
                  </a:moveTo>
                  <a:lnTo>
                    <a:pt x="7" y="8"/>
                  </a:lnTo>
                  <a:lnTo>
                    <a:pt x="0" y="2"/>
                  </a:lnTo>
                  <a:lnTo>
                    <a:pt x="10" y="0"/>
                  </a:lnTo>
                  <a:lnTo>
                    <a:pt x="1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1" name="Freeform 430"/>
            <p:cNvSpPr>
              <a:spLocks/>
            </p:cNvSpPr>
            <p:nvPr/>
          </p:nvSpPr>
          <p:spPr bwMode="auto">
            <a:xfrm>
              <a:off x="514" y="1723"/>
              <a:ext cx="960" cy="480"/>
            </a:xfrm>
            <a:custGeom>
              <a:avLst/>
              <a:gdLst/>
              <a:ahLst/>
              <a:cxnLst>
                <a:cxn ang="0">
                  <a:pos x="855" y="36"/>
                </a:cxn>
                <a:cxn ang="0">
                  <a:pos x="809" y="69"/>
                </a:cxn>
                <a:cxn ang="0">
                  <a:pos x="716" y="101"/>
                </a:cxn>
                <a:cxn ang="0">
                  <a:pos x="648" y="125"/>
                </a:cxn>
                <a:cxn ang="0">
                  <a:pos x="639" y="102"/>
                </a:cxn>
                <a:cxn ang="0">
                  <a:pos x="630" y="57"/>
                </a:cxn>
                <a:cxn ang="0">
                  <a:pos x="581" y="19"/>
                </a:cxn>
                <a:cxn ang="0">
                  <a:pos x="502" y="9"/>
                </a:cxn>
                <a:cxn ang="0">
                  <a:pos x="425" y="6"/>
                </a:cxn>
                <a:cxn ang="0">
                  <a:pos x="306" y="6"/>
                </a:cxn>
                <a:cxn ang="0">
                  <a:pos x="186" y="6"/>
                </a:cxn>
                <a:cxn ang="0">
                  <a:pos x="102" y="35"/>
                </a:cxn>
                <a:cxn ang="0">
                  <a:pos x="93" y="35"/>
                </a:cxn>
                <a:cxn ang="0">
                  <a:pos x="76" y="41"/>
                </a:cxn>
                <a:cxn ang="0">
                  <a:pos x="66" y="54"/>
                </a:cxn>
                <a:cxn ang="0">
                  <a:pos x="27" y="111"/>
                </a:cxn>
                <a:cxn ang="0">
                  <a:pos x="0" y="176"/>
                </a:cxn>
                <a:cxn ang="0">
                  <a:pos x="10" y="200"/>
                </a:cxn>
                <a:cxn ang="0">
                  <a:pos x="10" y="219"/>
                </a:cxn>
                <a:cxn ang="0">
                  <a:pos x="17" y="264"/>
                </a:cxn>
                <a:cxn ang="0">
                  <a:pos x="86" y="296"/>
                </a:cxn>
                <a:cxn ang="0">
                  <a:pos x="154" y="320"/>
                </a:cxn>
                <a:cxn ang="0">
                  <a:pos x="222" y="348"/>
                </a:cxn>
                <a:cxn ang="0">
                  <a:pos x="280" y="367"/>
                </a:cxn>
                <a:cxn ang="0">
                  <a:pos x="320" y="396"/>
                </a:cxn>
                <a:cxn ang="0">
                  <a:pos x="328" y="380"/>
                </a:cxn>
                <a:cxn ang="0">
                  <a:pos x="345" y="372"/>
                </a:cxn>
                <a:cxn ang="0">
                  <a:pos x="374" y="353"/>
                </a:cxn>
                <a:cxn ang="0">
                  <a:pos x="412" y="350"/>
                </a:cxn>
                <a:cxn ang="0">
                  <a:pos x="441" y="351"/>
                </a:cxn>
                <a:cxn ang="0">
                  <a:pos x="454" y="345"/>
                </a:cxn>
                <a:cxn ang="0">
                  <a:pos x="476" y="338"/>
                </a:cxn>
                <a:cxn ang="0">
                  <a:pos x="490" y="338"/>
                </a:cxn>
                <a:cxn ang="0">
                  <a:pos x="515" y="344"/>
                </a:cxn>
                <a:cxn ang="0">
                  <a:pos x="552" y="366"/>
                </a:cxn>
                <a:cxn ang="0">
                  <a:pos x="550" y="392"/>
                </a:cxn>
                <a:cxn ang="0">
                  <a:pos x="557" y="408"/>
                </a:cxn>
                <a:cxn ang="0">
                  <a:pos x="586" y="399"/>
                </a:cxn>
                <a:cxn ang="0">
                  <a:pos x="581" y="354"/>
                </a:cxn>
                <a:cxn ang="0">
                  <a:pos x="591" y="311"/>
                </a:cxn>
                <a:cxn ang="0">
                  <a:pos x="624" y="285"/>
                </a:cxn>
                <a:cxn ang="0">
                  <a:pos x="664" y="252"/>
                </a:cxn>
                <a:cxn ang="0">
                  <a:pos x="687" y="237"/>
                </a:cxn>
                <a:cxn ang="0">
                  <a:pos x="681" y="235"/>
                </a:cxn>
                <a:cxn ang="0">
                  <a:pos x="686" y="219"/>
                </a:cxn>
                <a:cxn ang="0">
                  <a:pos x="687" y="213"/>
                </a:cxn>
                <a:cxn ang="0">
                  <a:pos x="684" y="186"/>
                </a:cxn>
                <a:cxn ang="0">
                  <a:pos x="694" y="179"/>
                </a:cxn>
                <a:cxn ang="0">
                  <a:pos x="699" y="197"/>
                </a:cxn>
                <a:cxn ang="0">
                  <a:pos x="710" y="193"/>
                </a:cxn>
                <a:cxn ang="0">
                  <a:pos x="714" y="183"/>
                </a:cxn>
                <a:cxn ang="0">
                  <a:pos x="741" y="150"/>
                </a:cxn>
                <a:cxn ang="0">
                  <a:pos x="784" y="135"/>
                </a:cxn>
                <a:cxn ang="0">
                  <a:pos x="803" y="133"/>
                </a:cxn>
                <a:cxn ang="0">
                  <a:pos x="819" y="96"/>
                </a:cxn>
                <a:cxn ang="0">
                  <a:pos x="845" y="87"/>
                </a:cxn>
              </a:cxnLst>
              <a:rect l="0" t="0" r="r" b="b"/>
              <a:pathLst>
                <a:path w="864" h="431">
                  <a:moveTo>
                    <a:pt x="863" y="79"/>
                  </a:moveTo>
                  <a:lnTo>
                    <a:pt x="862" y="73"/>
                  </a:lnTo>
                  <a:lnTo>
                    <a:pt x="858" y="61"/>
                  </a:lnTo>
                  <a:lnTo>
                    <a:pt x="864" y="39"/>
                  </a:lnTo>
                  <a:lnTo>
                    <a:pt x="855" y="36"/>
                  </a:lnTo>
                  <a:lnTo>
                    <a:pt x="849" y="36"/>
                  </a:lnTo>
                  <a:lnTo>
                    <a:pt x="848" y="33"/>
                  </a:lnTo>
                  <a:lnTo>
                    <a:pt x="834" y="45"/>
                  </a:lnTo>
                  <a:lnTo>
                    <a:pt x="822" y="59"/>
                  </a:lnTo>
                  <a:lnTo>
                    <a:pt x="809" y="69"/>
                  </a:lnTo>
                  <a:lnTo>
                    <a:pt x="800" y="75"/>
                  </a:lnTo>
                  <a:lnTo>
                    <a:pt x="772" y="78"/>
                  </a:lnTo>
                  <a:lnTo>
                    <a:pt x="744" y="79"/>
                  </a:lnTo>
                  <a:lnTo>
                    <a:pt x="730" y="90"/>
                  </a:lnTo>
                  <a:lnTo>
                    <a:pt x="716" y="101"/>
                  </a:lnTo>
                  <a:lnTo>
                    <a:pt x="698" y="102"/>
                  </a:lnTo>
                  <a:lnTo>
                    <a:pt x="681" y="103"/>
                  </a:lnTo>
                  <a:lnTo>
                    <a:pt x="680" y="115"/>
                  </a:lnTo>
                  <a:lnTo>
                    <a:pt x="664" y="120"/>
                  </a:lnTo>
                  <a:lnTo>
                    <a:pt x="648" y="125"/>
                  </a:lnTo>
                  <a:lnTo>
                    <a:pt x="634" y="129"/>
                  </a:lnTo>
                  <a:lnTo>
                    <a:pt x="618" y="135"/>
                  </a:lnTo>
                  <a:lnTo>
                    <a:pt x="614" y="128"/>
                  </a:lnTo>
                  <a:lnTo>
                    <a:pt x="632" y="111"/>
                  </a:lnTo>
                  <a:lnTo>
                    <a:pt x="639" y="102"/>
                  </a:lnTo>
                  <a:lnTo>
                    <a:pt x="641" y="85"/>
                  </a:lnTo>
                  <a:lnTo>
                    <a:pt x="645" y="69"/>
                  </a:lnTo>
                  <a:lnTo>
                    <a:pt x="634" y="61"/>
                  </a:lnTo>
                  <a:lnTo>
                    <a:pt x="635" y="56"/>
                  </a:lnTo>
                  <a:lnTo>
                    <a:pt x="630" y="57"/>
                  </a:lnTo>
                  <a:lnTo>
                    <a:pt x="629" y="50"/>
                  </a:lnTo>
                  <a:lnTo>
                    <a:pt x="617" y="42"/>
                  </a:lnTo>
                  <a:lnTo>
                    <a:pt x="605" y="35"/>
                  </a:lnTo>
                  <a:lnTo>
                    <a:pt x="593" y="27"/>
                  </a:lnTo>
                  <a:lnTo>
                    <a:pt x="581" y="19"/>
                  </a:lnTo>
                  <a:lnTo>
                    <a:pt x="562" y="24"/>
                  </a:lnTo>
                  <a:lnTo>
                    <a:pt x="550" y="19"/>
                  </a:lnTo>
                  <a:lnTo>
                    <a:pt x="538" y="21"/>
                  </a:lnTo>
                  <a:lnTo>
                    <a:pt x="518" y="13"/>
                  </a:lnTo>
                  <a:lnTo>
                    <a:pt x="502" y="9"/>
                  </a:lnTo>
                  <a:lnTo>
                    <a:pt x="503" y="0"/>
                  </a:lnTo>
                  <a:lnTo>
                    <a:pt x="497" y="6"/>
                  </a:lnTo>
                  <a:lnTo>
                    <a:pt x="473" y="6"/>
                  </a:lnTo>
                  <a:lnTo>
                    <a:pt x="449" y="6"/>
                  </a:lnTo>
                  <a:lnTo>
                    <a:pt x="425" y="6"/>
                  </a:lnTo>
                  <a:lnTo>
                    <a:pt x="401" y="6"/>
                  </a:lnTo>
                  <a:lnTo>
                    <a:pt x="377" y="6"/>
                  </a:lnTo>
                  <a:lnTo>
                    <a:pt x="354" y="6"/>
                  </a:lnTo>
                  <a:lnTo>
                    <a:pt x="330" y="6"/>
                  </a:lnTo>
                  <a:lnTo>
                    <a:pt x="306" y="6"/>
                  </a:lnTo>
                  <a:lnTo>
                    <a:pt x="282" y="6"/>
                  </a:lnTo>
                  <a:lnTo>
                    <a:pt x="258" y="6"/>
                  </a:lnTo>
                  <a:lnTo>
                    <a:pt x="234" y="6"/>
                  </a:lnTo>
                  <a:lnTo>
                    <a:pt x="210" y="6"/>
                  </a:lnTo>
                  <a:lnTo>
                    <a:pt x="186" y="6"/>
                  </a:lnTo>
                  <a:lnTo>
                    <a:pt x="162" y="6"/>
                  </a:lnTo>
                  <a:lnTo>
                    <a:pt x="138" y="6"/>
                  </a:lnTo>
                  <a:lnTo>
                    <a:pt x="114" y="6"/>
                  </a:lnTo>
                  <a:lnTo>
                    <a:pt x="110" y="20"/>
                  </a:lnTo>
                  <a:lnTo>
                    <a:pt x="102" y="35"/>
                  </a:lnTo>
                  <a:lnTo>
                    <a:pt x="92" y="39"/>
                  </a:lnTo>
                  <a:lnTo>
                    <a:pt x="94" y="36"/>
                  </a:lnTo>
                  <a:lnTo>
                    <a:pt x="95" y="38"/>
                  </a:lnTo>
                  <a:lnTo>
                    <a:pt x="106" y="25"/>
                  </a:lnTo>
                  <a:lnTo>
                    <a:pt x="93" y="35"/>
                  </a:lnTo>
                  <a:lnTo>
                    <a:pt x="92" y="35"/>
                  </a:lnTo>
                  <a:lnTo>
                    <a:pt x="100" y="27"/>
                  </a:lnTo>
                  <a:lnTo>
                    <a:pt x="105" y="21"/>
                  </a:lnTo>
                  <a:lnTo>
                    <a:pt x="83" y="17"/>
                  </a:lnTo>
                  <a:lnTo>
                    <a:pt x="76" y="41"/>
                  </a:lnTo>
                  <a:lnTo>
                    <a:pt x="74" y="43"/>
                  </a:lnTo>
                  <a:lnTo>
                    <a:pt x="72" y="47"/>
                  </a:lnTo>
                  <a:lnTo>
                    <a:pt x="71" y="49"/>
                  </a:lnTo>
                  <a:lnTo>
                    <a:pt x="70" y="47"/>
                  </a:lnTo>
                  <a:lnTo>
                    <a:pt x="66" y="54"/>
                  </a:lnTo>
                  <a:lnTo>
                    <a:pt x="76" y="56"/>
                  </a:lnTo>
                  <a:lnTo>
                    <a:pt x="69" y="56"/>
                  </a:lnTo>
                  <a:lnTo>
                    <a:pt x="62" y="65"/>
                  </a:lnTo>
                  <a:lnTo>
                    <a:pt x="44" y="87"/>
                  </a:lnTo>
                  <a:lnTo>
                    <a:pt x="27" y="111"/>
                  </a:lnTo>
                  <a:lnTo>
                    <a:pt x="22" y="126"/>
                  </a:lnTo>
                  <a:lnTo>
                    <a:pt x="17" y="140"/>
                  </a:lnTo>
                  <a:lnTo>
                    <a:pt x="2" y="157"/>
                  </a:lnTo>
                  <a:lnTo>
                    <a:pt x="3" y="163"/>
                  </a:lnTo>
                  <a:lnTo>
                    <a:pt x="0" y="176"/>
                  </a:lnTo>
                  <a:lnTo>
                    <a:pt x="3" y="188"/>
                  </a:lnTo>
                  <a:lnTo>
                    <a:pt x="5" y="199"/>
                  </a:lnTo>
                  <a:lnTo>
                    <a:pt x="4" y="197"/>
                  </a:lnTo>
                  <a:lnTo>
                    <a:pt x="3" y="200"/>
                  </a:lnTo>
                  <a:lnTo>
                    <a:pt x="10" y="200"/>
                  </a:lnTo>
                  <a:lnTo>
                    <a:pt x="14" y="200"/>
                  </a:lnTo>
                  <a:lnTo>
                    <a:pt x="11" y="210"/>
                  </a:lnTo>
                  <a:lnTo>
                    <a:pt x="8" y="207"/>
                  </a:lnTo>
                  <a:lnTo>
                    <a:pt x="5" y="210"/>
                  </a:lnTo>
                  <a:lnTo>
                    <a:pt x="10" y="219"/>
                  </a:lnTo>
                  <a:lnTo>
                    <a:pt x="5" y="227"/>
                  </a:lnTo>
                  <a:lnTo>
                    <a:pt x="9" y="236"/>
                  </a:lnTo>
                  <a:lnTo>
                    <a:pt x="12" y="247"/>
                  </a:lnTo>
                  <a:lnTo>
                    <a:pt x="9" y="263"/>
                  </a:lnTo>
                  <a:lnTo>
                    <a:pt x="17" y="264"/>
                  </a:lnTo>
                  <a:lnTo>
                    <a:pt x="33" y="272"/>
                  </a:lnTo>
                  <a:lnTo>
                    <a:pt x="48" y="284"/>
                  </a:lnTo>
                  <a:lnTo>
                    <a:pt x="48" y="299"/>
                  </a:lnTo>
                  <a:lnTo>
                    <a:pt x="66" y="297"/>
                  </a:lnTo>
                  <a:lnTo>
                    <a:pt x="86" y="296"/>
                  </a:lnTo>
                  <a:lnTo>
                    <a:pt x="96" y="302"/>
                  </a:lnTo>
                  <a:lnTo>
                    <a:pt x="108" y="308"/>
                  </a:lnTo>
                  <a:lnTo>
                    <a:pt x="120" y="314"/>
                  </a:lnTo>
                  <a:lnTo>
                    <a:pt x="132" y="320"/>
                  </a:lnTo>
                  <a:lnTo>
                    <a:pt x="154" y="320"/>
                  </a:lnTo>
                  <a:lnTo>
                    <a:pt x="176" y="320"/>
                  </a:lnTo>
                  <a:lnTo>
                    <a:pt x="179" y="312"/>
                  </a:lnTo>
                  <a:lnTo>
                    <a:pt x="204" y="312"/>
                  </a:lnTo>
                  <a:lnTo>
                    <a:pt x="218" y="330"/>
                  </a:lnTo>
                  <a:lnTo>
                    <a:pt x="222" y="348"/>
                  </a:lnTo>
                  <a:lnTo>
                    <a:pt x="231" y="355"/>
                  </a:lnTo>
                  <a:lnTo>
                    <a:pt x="240" y="362"/>
                  </a:lnTo>
                  <a:lnTo>
                    <a:pt x="251" y="349"/>
                  </a:lnTo>
                  <a:lnTo>
                    <a:pt x="273" y="351"/>
                  </a:lnTo>
                  <a:lnTo>
                    <a:pt x="280" y="367"/>
                  </a:lnTo>
                  <a:lnTo>
                    <a:pt x="286" y="384"/>
                  </a:lnTo>
                  <a:lnTo>
                    <a:pt x="292" y="405"/>
                  </a:lnTo>
                  <a:lnTo>
                    <a:pt x="302" y="414"/>
                  </a:lnTo>
                  <a:lnTo>
                    <a:pt x="321" y="416"/>
                  </a:lnTo>
                  <a:lnTo>
                    <a:pt x="320" y="396"/>
                  </a:lnTo>
                  <a:lnTo>
                    <a:pt x="318" y="393"/>
                  </a:lnTo>
                  <a:lnTo>
                    <a:pt x="317" y="390"/>
                  </a:lnTo>
                  <a:lnTo>
                    <a:pt x="322" y="392"/>
                  </a:lnTo>
                  <a:lnTo>
                    <a:pt x="324" y="383"/>
                  </a:lnTo>
                  <a:lnTo>
                    <a:pt x="328" y="380"/>
                  </a:lnTo>
                  <a:lnTo>
                    <a:pt x="336" y="374"/>
                  </a:lnTo>
                  <a:lnTo>
                    <a:pt x="341" y="371"/>
                  </a:lnTo>
                  <a:lnTo>
                    <a:pt x="341" y="368"/>
                  </a:lnTo>
                  <a:lnTo>
                    <a:pt x="348" y="368"/>
                  </a:lnTo>
                  <a:lnTo>
                    <a:pt x="345" y="372"/>
                  </a:lnTo>
                  <a:lnTo>
                    <a:pt x="353" y="367"/>
                  </a:lnTo>
                  <a:lnTo>
                    <a:pt x="350" y="367"/>
                  </a:lnTo>
                  <a:lnTo>
                    <a:pt x="368" y="355"/>
                  </a:lnTo>
                  <a:lnTo>
                    <a:pt x="370" y="350"/>
                  </a:lnTo>
                  <a:lnTo>
                    <a:pt x="374" y="353"/>
                  </a:lnTo>
                  <a:lnTo>
                    <a:pt x="372" y="354"/>
                  </a:lnTo>
                  <a:lnTo>
                    <a:pt x="384" y="347"/>
                  </a:lnTo>
                  <a:lnTo>
                    <a:pt x="387" y="347"/>
                  </a:lnTo>
                  <a:lnTo>
                    <a:pt x="399" y="349"/>
                  </a:lnTo>
                  <a:lnTo>
                    <a:pt x="412" y="350"/>
                  </a:lnTo>
                  <a:lnTo>
                    <a:pt x="419" y="349"/>
                  </a:lnTo>
                  <a:lnTo>
                    <a:pt x="424" y="355"/>
                  </a:lnTo>
                  <a:lnTo>
                    <a:pt x="434" y="357"/>
                  </a:lnTo>
                  <a:lnTo>
                    <a:pt x="442" y="359"/>
                  </a:lnTo>
                  <a:lnTo>
                    <a:pt x="441" y="351"/>
                  </a:lnTo>
                  <a:lnTo>
                    <a:pt x="453" y="360"/>
                  </a:lnTo>
                  <a:lnTo>
                    <a:pt x="450" y="363"/>
                  </a:lnTo>
                  <a:lnTo>
                    <a:pt x="455" y="357"/>
                  </a:lnTo>
                  <a:lnTo>
                    <a:pt x="449" y="349"/>
                  </a:lnTo>
                  <a:lnTo>
                    <a:pt x="454" y="345"/>
                  </a:lnTo>
                  <a:lnTo>
                    <a:pt x="452" y="344"/>
                  </a:lnTo>
                  <a:lnTo>
                    <a:pt x="450" y="343"/>
                  </a:lnTo>
                  <a:lnTo>
                    <a:pt x="440" y="341"/>
                  </a:lnTo>
                  <a:lnTo>
                    <a:pt x="450" y="341"/>
                  </a:lnTo>
                  <a:lnTo>
                    <a:pt x="476" y="338"/>
                  </a:lnTo>
                  <a:lnTo>
                    <a:pt x="479" y="331"/>
                  </a:lnTo>
                  <a:lnTo>
                    <a:pt x="478" y="339"/>
                  </a:lnTo>
                  <a:lnTo>
                    <a:pt x="485" y="338"/>
                  </a:lnTo>
                  <a:lnTo>
                    <a:pt x="494" y="336"/>
                  </a:lnTo>
                  <a:lnTo>
                    <a:pt x="490" y="338"/>
                  </a:lnTo>
                  <a:lnTo>
                    <a:pt x="504" y="337"/>
                  </a:lnTo>
                  <a:lnTo>
                    <a:pt x="501" y="337"/>
                  </a:lnTo>
                  <a:lnTo>
                    <a:pt x="509" y="339"/>
                  </a:lnTo>
                  <a:lnTo>
                    <a:pt x="513" y="339"/>
                  </a:lnTo>
                  <a:lnTo>
                    <a:pt x="515" y="344"/>
                  </a:lnTo>
                  <a:lnTo>
                    <a:pt x="512" y="342"/>
                  </a:lnTo>
                  <a:lnTo>
                    <a:pt x="515" y="350"/>
                  </a:lnTo>
                  <a:lnTo>
                    <a:pt x="537" y="343"/>
                  </a:lnTo>
                  <a:lnTo>
                    <a:pt x="545" y="354"/>
                  </a:lnTo>
                  <a:lnTo>
                    <a:pt x="552" y="366"/>
                  </a:lnTo>
                  <a:lnTo>
                    <a:pt x="549" y="386"/>
                  </a:lnTo>
                  <a:lnTo>
                    <a:pt x="548" y="383"/>
                  </a:lnTo>
                  <a:lnTo>
                    <a:pt x="549" y="386"/>
                  </a:lnTo>
                  <a:lnTo>
                    <a:pt x="552" y="381"/>
                  </a:lnTo>
                  <a:lnTo>
                    <a:pt x="550" y="392"/>
                  </a:lnTo>
                  <a:lnTo>
                    <a:pt x="554" y="399"/>
                  </a:lnTo>
                  <a:lnTo>
                    <a:pt x="556" y="401"/>
                  </a:lnTo>
                  <a:lnTo>
                    <a:pt x="556" y="407"/>
                  </a:lnTo>
                  <a:lnTo>
                    <a:pt x="560" y="403"/>
                  </a:lnTo>
                  <a:lnTo>
                    <a:pt x="557" y="408"/>
                  </a:lnTo>
                  <a:lnTo>
                    <a:pt x="560" y="417"/>
                  </a:lnTo>
                  <a:lnTo>
                    <a:pt x="567" y="431"/>
                  </a:lnTo>
                  <a:lnTo>
                    <a:pt x="576" y="428"/>
                  </a:lnTo>
                  <a:lnTo>
                    <a:pt x="581" y="414"/>
                  </a:lnTo>
                  <a:lnTo>
                    <a:pt x="586" y="399"/>
                  </a:lnTo>
                  <a:lnTo>
                    <a:pt x="584" y="384"/>
                  </a:lnTo>
                  <a:lnTo>
                    <a:pt x="581" y="368"/>
                  </a:lnTo>
                  <a:lnTo>
                    <a:pt x="584" y="383"/>
                  </a:lnTo>
                  <a:lnTo>
                    <a:pt x="582" y="368"/>
                  </a:lnTo>
                  <a:lnTo>
                    <a:pt x="581" y="354"/>
                  </a:lnTo>
                  <a:lnTo>
                    <a:pt x="580" y="339"/>
                  </a:lnTo>
                  <a:lnTo>
                    <a:pt x="579" y="325"/>
                  </a:lnTo>
                  <a:lnTo>
                    <a:pt x="584" y="321"/>
                  </a:lnTo>
                  <a:lnTo>
                    <a:pt x="585" y="319"/>
                  </a:lnTo>
                  <a:lnTo>
                    <a:pt x="591" y="311"/>
                  </a:lnTo>
                  <a:lnTo>
                    <a:pt x="596" y="302"/>
                  </a:lnTo>
                  <a:lnTo>
                    <a:pt x="597" y="301"/>
                  </a:lnTo>
                  <a:lnTo>
                    <a:pt x="602" y="300"/>
                  </a:lnTo>
                  <a:lnTo>
                    <a:pt x="622" y="285"/>
                  </a:lnTo>
                  <a:lnTo>
                    <a:pt x="624" y="285"/>
                  </a:lnTo>
                  <a:lnTo>
                    <a:pt x="640" y="275"/>
                  </a:lnTo>
                  <a:lnTo>
                    <a:pt x="646" y="272"/>
                  </a:lnTo>
                  <a:lnTo>
                    <a:pt x="657" y="261"/>
                  </a:lnTo>
                  <a:lnTo>
                    <a:pt x="675" y="255"/>
                  </a:lnTo>
                  <a:lnTo>
                    <a:pt x="664" y="252"/>
                  </a:lnTo>
                  <a:lnTo>
                    <a:pt x="671" y="253"/>
                  </a:lnTo>
                  <a:lnTo>
                    <a:pt x="674" y="249"/>
                  </a:lnTo>
                  <a:lnTo>
                    <a:pt x="666" y="245"/>
                  </a:lnTo>
                  <a:lnTo>
                    <a:pt x="682" y="246"/>
                  </a:lnTo>
                  <a:lnTo>
                    <a:pt x="687" y="237"/>
                  </a:lnTo>
                  <a:lnTo>
                    <a:pt x="683" y="240"/>
                  </a:lnTo>
                  <a:lnTo>
                    <a:pt x="678" y="236"/>
                  </a:lnTo>
                  <a:lnTo>
                    <a:pt x="674" y="234"/>
                  </a:lnTo>
                  <a:lnTo>
                    <a:pt x="675" y="234"/>
                  </a:lnTo>
                  <a:lnTo>
                    <a:pt x="681" y="235"/>
                  </a:lnTo>
                  <a:lnTo>
                    <a:pt x="686" y="234"/>
                  </a:lnTo>
                  <a:lnTo>
                    <a:pt x="688" y="235"/>
                  </a:lnTo>
                  <a:lnTo>
                    <a:pt x="689" y="224"/>
                  </a:lnTo>
                  <a:lnTo>
                    <a:pt x="690" y="240"/>
                  </a:lnTo>
                  <a:lnTo>
                    <a:pt x="686" y="219"/>
                  </a:lnTo>
                  <a:lnTo>
                    <a:pt x="680" y="218"/>
                  </a:lnTo>
                  <a:lnTo>
                    <a:pt x="675" y="212"/>
                  </a:lnTo>
                  <a:lnTo>
                    <a:pt x="686" y="217"/>
                  </a:lnTo>
                  <a:lnTo>
                    <a:pt x="681" y="209"/>
                  </a:lnTo>
                  <a:lnTo>
                    <a:pt x="687" y="213"/>
                  </a:lnTo>
                  <a:lnTo>
                    <a:pt x="680" y="199"/>
                  </a:lnTo>
                  <a:lnTo>
                    <a:pt x="689" y="205"/>
                  </a:lnTo>
                  <a:lnTo>
                    <a:pt x="682" y="193"/>
                  </a:lnTo>
                  <a:lnTo>
                    <a:pt x="677" y="193"/>
                  </a:lnTo>
                  <a:lnTo>
                    <a:pt x="684" y="186"/>
                  </a:lnTo>
                  <a:lnTo>
                    <a:pt x="682" y="193"/>
                  </a:lnTo>
                  <a:lnTo>
                    <a:pt x="690" y="198"/>
                  </a:lnTo>
                  <a:lnTo>
                    <a:pt x="688" y="188"/>
                  </a:lnTo>
                  <a:lnTo>
                    <a:pt x="692" y="194"/>
                  </a:lnTo>
                  <a:lnTo>
                    <a:pt x="694" y="179"/>
                  </a:lnTo>
                  <a:lnTo>
                    <a:pt x="704" y="175"/>
                  </a:lnTo>
                  <a:lnTo>
                    <a:pt x="698" y="185"/>
                  </a:lnTo>
                  <a:lnTo>
                    <a:pt x="695" y="189"/>
                  </a:lnTo>
                  <a:lnTo>
                    <a:pt x="694" y="194"/>
                  </a:lnTo>
                  <a:lnTo>
                    <a:pt x="699" y="197"/>
                  </a:lnTo>
                  <a:lnTo>
                    <a:pt x="696" y="201"/>
                  </a:lnTo>
                  <a:lnTo>
                    <a:pt x="698" y="205"/>
                  </a:lnTo>
                  <a:lnTo>
                    <a:pt x="694" y="207"/>
                  </a:lnTo>
                  <a:lnTo>
                    <a:pt x="690" y="213"/>
                  </a:lnTo>
                  <a:lnTo>
                    <a:pt x="710" y="193"/>
                  </a:lnTo>
                  <a:lnTo>
                    <a:pt x="708" y="175"/>
                  </a:lnTo>
                  <a:lnTo>
                    <a:pt x="717" y="167"/>
                  </a:lnTo>
                  <a:lnTo>
                    <a:pt x="710" y="171"/>
                  </a:lnTo>
                  <a:lnTo>
                    <a:pt x="716" y="179"/>
                  </a:lnTo>
                  <a:lnTo>
                    <a:pt x="714" y="183"/>
                  </a:lnTo>
                  <a:lnTo>
                    <a:pt x="732" y="167"/>
                  </a:lnTo>
                  <a:lnTo>
                    <a:pt x="732" y="169"/>
                  </a:lnTo>
                  <a:lnTo>
                    <a:pt x="735" y="157"/>
                  </a:lnTo>
                  <a:lnTo>
                    <a:pt x="742" y="144"/>
                  </a:lnTo>
                  <a:lnTo>
                    <a:pt x="741" y="150"/>
                  </a:lnTo>
                  <a:lnTo>
                    <a:pt x="746" y="147"/>
                  </a:lnTo>
                  <a:lnTo>
                    <a:pt x="762" y="144"/>
                  </a:lnTo>
                  <a:lnTo>
                    <a:pt x="778" y="140"/>
                  </a:lnTo>
                  <a:lnTo>
                    <a:pt x="782" y="135"/>
                  </a:lnTo>
                  <a:lnTo>
                    <a:pt x="784" y="135"/>
                  </a:lnTo>
                  <a:lnTo>
                    <a:pt x="790" y="139"/>
                  </a:lnTo>
                  <a:lnTo>
                    <a:pt x="794" y="140"/>
                  </a:lnTo>
                  <a:lnTo>
                    <a:pt x="803" y="135"/>
                  </a:lnTo>
                  <a:lnTo>
                    <a:pt x="802" y="128"/>
                  </a:lnTo>
                  <a:lnTo>
                    <a:pt x="803" y="133"/>
                  </a:lnTo>
                  <a:lnTo>
                    <a:pt x="795" y="129"/>
                  </a:lnTo>
                  <a:lnTo>
                    <a:pt x="796" y="120"/>
                  </a:lnTo>
                  <a:lnTo>
                    <a:pt x="797" y="116"/>
                  </a:lnTo>
                  <a:lnTo>
                    <a:pt x="814" y="98"/>
                  </a:lnTo>
                  <a:lnTo>
                    <a:pt x="819" y="96"/>
                  </a:lnTo>
                  <a:lnTo>
                    <a:pt x="821" y="97"/>
                  </a:lnTo>
                  <a:lnTo>
                    <a:pt x="834" y="85"/>
                  </a:lnTo>
                  <a:lnTo>
                    <a:pt x="834" y="86"/>
                  </a:lnTo>
                  <a:lnTo>
                    <a:pt x="838" y="86"/>
                  </a:lnTo>
                  <a:lnTo>
                    <a:pt x="845" y="87"/>
                  </a:lnTo>
                  <a:lnTo>
                    <a:pt x="863" y="7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2" name="Freeform 431"/>
            <p:cNvSpPr>
              <a:spLocks/>
            </p:cNvSpPr>
            <p:nvPr/>
          </p:nvSpPr>
          <p:spPr bwMode="auto">
            <a:xfrm>
              <a:off x="127" y="1328"/>
              <a:ext cx="611" cy="293"/>
            </a:xfrm>
            <a:custGeom>
              <a:avLst/>
              <a:gdLst/>
              <a:ahLst/>
              <a:cxnLst>
                <a:cxn ang="0">
                  <a:pos x="442" y="229"/>
                </a:cxn>
                <a:cxn ang="0">
                  <a:pos x="426" y="186"/>
                </a:cxn>
                <a:cxn ang="0">
                  <a:pos x="402" y="175"/>
                </a:cxn>
                <a:cxn ang="0">
                  <a:pos x="424" y="135"/>
                </a:cxn>
                <a:cxn ang="0">
                  <a:pos x="507" y="60"/>
                </a:cxn>
                <a:cxn ang="0">
                  <a:pos x="500" y="16"/>
                </a:cxn>
                <a:cxn ang="0">
                  <a:pos x="429" y="6"/>
                </a:cxn>
                <a:cxn ang="0">
                  <a:pos x="413" y="1"/>
                </a:cxn>
                <a:cxn ang="0">
                  <a:pos x="356" y="10"/>
                </a:cxn>
                <a:cxn ang="0">
                  <a:pos x="324" y="16"/>
                </a:cxn>
                <a:cxn ang="0">
                  <a:pos x="230" y="45"/>
                </a:cxn>
                <a:cxn ang="0">
                  <a:pos x="250" y="72"/>
                </a:cxn>
                <a:cxn ang="0">
                  <a:pos x="242" y="76"/>
                </a:cxn>
                <a:cxn ang="0">
                  <a:pos x="222" y="72"/>
                </a:cxn>
                <a:cxn ang="0">
                  <a:pos x="155" y="94"/>
                </a:cxn>
                <a:cxn ang="0">
                  <a:pos x="220" y="97"/>
                </a:cxn>
                <a:cxn ang="0">
                  <a:pos x="180" y="121"/>
                </a:cxn>
                <a:cxn ang="0">
                  <a:pos x="129" y="135"/>
                </a:cxn>
                <a:cxn ang="0">
                  <a:pos x="96" y="148"/>
                </a:cxn>
                <a:cxn ang="0">
                  <a:pos x="108" y="151"/>
                </a:cxn>
                <a:cxn ang="0">
                  <a:pos x="105" y="163"/>
                </a:cxn>
                <a:cxn ang="0">
                  <a:pos x="81" y="169"/>
                </a:cxn>
                <a:cxn ang="0">
                  <a:pos x="110" y="177"/>
                </a:cxn>
                <a:cxn ang="0">
                  <a:pos x="88" y="199"/>
                </a:cxn>
                <a:cxn ang="0">
                  <a:pos x="137" y="193"/>
                </a:cxn>
                <a:cxn ang="0">
                  <a:pos x="159" y="193"/>
                </a:cxn>
                <a:cxn ang="0">
                  <a:pos x="124" y="217"/>
                </a:cxn>
                <a:cxn ang="0">
                  <a:pos x="57" y="246"/>
                </a:cxn>
                <a:cxn ang="0">
                  <a:pos x="38" y="246"/>
                </a:cxn>
                <a:cxn ang="0">
                  <a:pos x="14" y="258"/>
                </a:cxn>
                <a:cxn ang="0">
                  <a:pos x="34" y="252"/>
                </a:cxn>
                <a:cxn ang="0">
                  <a:pos x="81" y="244"/>
                </a:cxn>
                <a:cxn ang="0">
                  <a:pos x="168" y="210"/>
                </a:cxn>
                <a:cxn ang="0">
                  <a:pos x="228" y="179"/>
                </a:cxn>
                <a:cxn ang="0">
                  <a:pos x="297" y="153"/>
                </a:cxn>
                <a:cxn ang="0">
                  <a:pos x="258" y="166"/>
                </a:cxn>
                <a:cxn ang="0">
                  <a:pos x="238" y="190"/>
                </a:cxn>
                <a:cxn ang="0">
                  <a:pos x="261" y="183"/>
                </a:cxn>
                <a:cxn ang="0">
                  <a:pos x="280" y="178"/>
                </a:cxn>
                <a:cxn ang="0">
                  <a:pos x="294" y="165"/>
                </a:cxn>
                <a:cxn ang="0">
                  <a:pos x="312" y="161"/>
                </a:cxn>
                <a:cxn ang="0">
                  <a:pos x="324" y="163"/>
                </a:cxn>
                <a:cxn ang="0">
                  <a:pos x="323" y="169"/>
                </a:cxn>
                <a:cxn ang="0">
                  <a:pos x="340" y="174"/>
                </a:cxn>
                <a:cxn ang="0">
                  <a:pos x="393" y="178"/>
                </a:cxn>
                <a:cxn ang="0">
                  <a:pos x="389" y="184"/>
                </a:cxn>
                <a:cxn ang="0">
                  <a:pos x="411" y="195"/>
                </a:cxn>
                <a:cxn ang="0">
                  <a:pos x="420" y="201"/>
                </a:cxn>
                <a:cxn ang="0">
                  <a:pos x="434" y="199"/>
                </a:cxn>
                <a:cxn ang="0">
                  <a:pos x="436" y="211"/>
                </a:cxn>
                <a:cxn ang="0">
                  <a:pos x="435" y="215"/>
                </a:cxn>
                <a:cxn ang="0">
                  <a:pos x="435" y="232"/>
                </a:cxn>
                <a:cxn ang="0">
                  <a:pos x="428" y="249"/>
                </a:cxn>
                <a:cxn ang="0">
                  <a:pos x="441" y="255"/>
                </a:cxn>
              </a:cxnLst>
              <a:rect l="0" t="0" r="r" b="b"/>
              <a:pathLst>
                <a:path w="550" h="264">
                  <a:moveTo>
                    <a:pt x="447" y="256"/>
                  </a:moveTo>
                  <a:lnTo>
                    <a:pt x="455" y="245"/>
                  </a:lnTo>
                  <a:lnTo>
                    <a:pt x="449" y="238"/>
                  </a:lnTo>
                  <a:lnTo>
                    <a:pt x="442" y="229"/>
                  </a:lnTo>
                  <a:lnTo>
                    <a:pt x="446" y="214"/>
                  </a:lnTo>
                  <a:lnTo>
                    <a:pt x="449" y="198"/>
                  </a:lnTo>
                  <a:lnTo>
                    <a:pt x="444" y="180"/>
                  </a:lnTo>
                  <a:lnTo>
                    <a:pt x="426" y="186"/>
                  </a:lnTo>
                  <a:lnTo>
                    <a:pt x="417" y="191"/>
                  </a:lnTo>
                  <a:lnTo>
                    <a:pt x="405" y="196"/>
                  </a:lnTo>
                  <a:lnTo>
                    <a:pt x="405" y="179"/>
                  </a:lnTo>
                  <a:lnTo>
                    <a:pt x="402" y="175"/>
                  </a:lnTo>
                  <a:lnTo>
                    <a:pt x="408" y="172"/>
                  </a:lnTo>
                  <a:lnTo>
                    <a:pt x="383" y="172"/>
                  </a:lnTo>
                  <a:lnTo>
                    <a:pt x="404" y="154"/>
                  </a:lnTo>
                  <a:lnTo>
                    <a:pt x="424" y="135"/>
                  </a:lnTo>
                  <a:lnTo>
                    <a:pt x="444" y="115"/>
                  </a:lnTo>
                  <a:lnTo>
                    <a:pt x="464" y="96"/>
                  </a:lnTo>
                  <a:lnTo>
                    <a:pt x="485" y="78"/>
                  </a:lnTo>
                  <a:lnTo>
                    <a:pt x="507" y="60"/>
                  </a:lnTo>
                  <a:lnTo>
                    <a:pt x="528" y="42"/>
                  </a:lnTo>
                  <a:lnTo>
                    <a:pt x="550" y="24"/>
                  </a:lnTo>
                  <a:lnTo>
                    <a:pt x="524" y="18"/>
                  </a:lnTo>
                  <a:lnTo>
                    <a:pt x="500" y="16"/>
                  </a:lnTo>
                  <a:lnTo>
                    <a:pt x="474" y="13"/>
                  </a:lnTo>
                  <a:lnTo>
                    <a:pt x="443" y="11"/>
                  </a:lnTo>
                  <a:lnTo>
                    <a:pt x="441" y="9"/>
                  </a:lnTo>
                  <a:lnTo>
                    <a:pt x="429" y="6"/>
                  </a:lnTo>
                  <a:lnTo>
                    <a:pt x="422" y="6"/>
                  </a:lnTo>
                  <a:lnTo>
                    <a:pt x="418" y="4"/>
                  </a:lnTo>
                  <a:lnTo>
                    <a:pt x="406" y="6"/>
                  </a:lnTo>
                  <a:lnTo>
                    <a:pt x="413" y="1"/>
                  </a:lnTo>
                  <a:lnTo>
                    <a:pt x="406" y="0"/>
                  </a:lnTo>
                  <a:lnTo>
                    <a:pt x="372" y="7"/>
                  </a:lnTo>
                  <a:lnTo>
                    <a:pt x="366" y="7"/>
                  </a:lnTo>
                  <a:lnTo>
                    <a:pt x="356" y="10"/>
                  </a:lnTo>
                  <a:lnTo>
                    <a:pt x="354" y="12"/>
                  </a:lnTo>
                  <a:lnTo>
                    <a:pt x="347" y="16"/>
                  </a:lnTo>
                  <a:lnTo>
                    <a:pt x="352" y="11"/>
                  </a:lnTo>
                  <a:lnTo>
                    <a:pt x="324" y="16"/>
                  </a:lnTo>
                  <a:lnTo>
                    <a:pt x="296" y="25"/>
                  </a:lnTo>
                  <a:lnTo>
                    <a:pt x="268" y="36"/>
                  </a:lnTo>
                  <a:lnTo>
                    <a:pt x="244" y="36"/>
                  </a:lnTo>
                  <a:lnTo>
                    <a:pt x="230" y="45"/>
                  </a:lnTo>
                  <a:lnTo>
                    <a:pt x="240" y="60"/>
                  </a:lnTo>
                  <a:lnTo>
                    <a:pt x="236" y="64"/>
                  </a:lnTo>
                  <a:lnTo>
                    <a:pt x="255" y="66"/>
                  </a:lnTo>
                  <a:lnTo>
                    <a:pt x="250" y="72"/>
                  </a:lnTo>
                  <a:lnTo>
                    <a:pt x="264" y="73"/>
                  </a:lnTo>
                  <a:lnTo>
                    <a:pt x="245" y="72"/>
                  </a:lnTo>
                  <a:lnTo>
                    <a:pt x="244" y="67"/>
                  </a:lnTo>
                  <a:lnTo>
                    <a:pt x="242" y="76"/>
                  </a:lnTo>
                  <a:lnTo>
                    <a:pt x="246" y="79"/>
                  </a:lnTo>
                  <a:lnTo>
                    <a:pt x="238" y="79"/>
                  </a:lnTo>
                  <a:lnTo>
                    <a:pt x="210" y="78"/>
                  </a:lnTo>
                  <a:lnTo>
                    <a:pt x="222" y="72"/>
                  </a:lnTo>
                  <a:lnTo>
                    <a:pt x="191" y="77"/>
                  </a:lnTo>
                  <a:lnTo>
                    <a:pt x="152" y="88"/>
                  </a:lnTo>
                  <a:lnTo>
                    <a:pt x="165" y="93"/>
                  </a:lnTo>
                  <a:lnTo>
                    <a:pt x="155" y="94"/>
                  </a:lnTo>
                  <a:lnTo>
                    <a:pt x="153" y="103"/>
                  </a:lnTo>
                  <a:lnTo>
                    <a:pt x="186" y="103"/>
                  </a:lnTo>
                  <a:lnTo>
                    <a:pt x="191" y="106"/>
                  </a:lnTo>
                  <a:lnTo>
                    <a:pt x="220" y="97"/>
                  </a:lnTo>
                  <a:lnTo>
                    <a:pt x="214" y="105"/>
                  </a:lnTo>
                  <a:lnTo>
                    <a:pt x="208" y="106"/>
                  </a:lnTo>
                  <a:lnTo>
                    <a:pt x="202" y="115"/>
                  </a:lnTo>
                  <a:lnTo>
                    <a:pt x="180" y="121"/>
                  </a:lnTo>
                  <a:lnTo>
                    <a:pt x="149" y="129"/>
                  </a:lnTo>
                  <a:lnTo>
                    <a:pt x="155" y="125"/>
                  </a:lnTo>
                  <a:lnTo>
                    <a:pt x="143" y="127"/>
                  </a:lnTo>
                  <a:lnTo>
                    <a:pt x="129" y="135"/>
                  </a:lnTo>
                  <a:lnTo>
                    <a:pt x="131" y="135"/>
                  </a:lnTo>
                  <a:lnTo>
                    <a:pt x="125" y="137"/>
                  </a:lnTo>
                  <a:lnTo>
                    <a:pt x="104" y="147"/>
                  </a:lnTo>
                  <a:lnTo>
                    <a:pt x="96" y="148"/>
                  </a:lnTo>
                  <a:lnTo>
                    <a:pt x="99" y="150"/>
                  </a:lnTo>
                  <a:lnTo>
                    <a:pt x="90" y="153"/>
                  </a:lnTo>
                  <a:lnTo>
                    <a:pt x="93" y="157"/>
                  </a:lnTo>
                  <a:lnTo>
                    <a:pt x="108" y="151"/>
                  </a:lnTo>
                  <a:lnTo>
                    <a:pt x="94" y="159"/>
                  </a:lnTo>
                  <a:lnTo>
                    <a:pt x="95" y="161"/>
                  </a:lnTo>
                  <a:lnTo>
                    <a:pt x="110" y="162"/>
                  </a:lnTo>
                  <a:lnTo>
                    <a:pt x="105" y="163"/>
                  </a:lnTo>
                  <a:lnTo>
                    <a:pt x="107" y="166"/>
                  </a:lnTo>
                  <a:lnTo>
                    <a:pt x="98" y="166"/>
                  </a:lnTo>
                  <a:lnTo>
                    <a:pt x="92" y="163"/>
                  </a:lnTo>
                  <a:lnTo>
                    <a:pt x="81" y="169"/>
                  </a:lnTo>
                  <a:lnTo>
                    <a:pt x="87" y="180"/>
                  </a:lnTo>
                  <a:lnTo>
                    <a:pt x="110" y="174"/>
                  </a:lnTo>
                  <a:lnTo>
                    <a:pt x="124" y="167"/>
                  </a:lnTo>
                  <a:lnTo>
                    <a:pt x="110" y="177"/>
                  </a:lnTo>
                  <a:lnTo>
                    <a:pt x="100" y="187"/>
                  </a:lnTo>
                  <a:lnTo>
                    <a:pt x="96" y="192"/>
                  </a:lnTo>
                  <a:lnTo>
                    <a:pt x="96" y="193"/>
                  </a:lnTo>
                  <a:lnTo>
                    <a:pt x="88" y="199"/>
                  </a:lnTo>
                  <a:lnTo>
                    <a:pt x="114" y="195"/>
                  </a:lnTo>
                  <a:lnTo>
                    <a:pt x="122" y="196"/>
                  </a:lnTo>
                  <a:lnTo>
                    <a:pt x="122" y="204"/>
                  </a:lnTo>
                  <a:lnTo>
                    <a:pt x="137" y="193"/>
                  </a:lnTo>
                  <a:lnTo>
                    <a:pt x="142" y="193"/>
                  </a:lnTo>
                  <a:lnTo>
                    <a:pt x="132" y="197"/>
                  </a:lnTo>
                  <a:lnTo>
                    <a:pt x="135" y="201"/>
                  </a:lnTo>
                  <a:lnTo>
                    <a:pt x="159" y="193"/>
                  </a:lnTo>
                  <a:lnTo>
                    <a:pt x="136" y="207"/>
                  </a:lnTo>
                  <a:lnTo>
                    <a:pt x="140" y="207"/>
                  </a:lnTo>
                  <a:lnTo>
                    <a:pt x="137" y="207"/>
                  </a:lnTo>
                  <a:lnTo>
                    <a:pt x="124" y="217"/>
                  </a:lnTo>
                  <a:lnTo>
                    <a:pt x="117" y="219"/>
                  </a:lnTo>
                  <a:lnTo>
                    <a:pt x="95" y="231"/>
                  </a:lnTo>
                  <a:lnTo>
                    <a:pt x="60" y="241"/>
                  </a:lnTo>
                  <a:lnTo>
                    <a:pt x="57" y="246"/>
                  </a:lnTo>
                  <a:lnTo>
                    <a:pt x="51" y="246"/>
                  </a:lnTo>
                  <a:lnTo>
                    <a:pt x="48" y="249"/>
                  </a:lnTo>
                  <a:lnTo>
                    <a:pt x="48" y="246"/>
                  </a:lnTo>
                  <a:lnTo>
                    <a:pt x="38" y="246"/>
                  </a:lnTo>
                  <a:lnTo>
                    <a:pt x="0" y="262"/>
                  </a:lnTo>
                  <a:lnTo>
                    <a:pt x="3" y="261"/>
                  </a:lnTo>
                  <a:lnTo>
                    <a:pt x="5" y="262"/>
                  </a:lnTo>
                  <a:lnTo>
                    <a:pt x="14" y="258"/>
                  </a:lnTo>
                  <a:lnTo>
                    <a:pt x="15" y="259"/>
                  </a:lnTo>
                  <a:lnTo>
                    <a:pt x="32" y="252"/>
                  </a:lnTo>
                  <a:lnTo>
                    <a:pt x="39" y="252"/>
                  </a:lnTo>
                  <a:lnTo>
                    <a:pt x="34" y="252"/>
                  </a:lnTo>
                  <a:lnTo>
                    <a:pt x="51" y="250"/>
                  </a:lnTo>
                  <a:lnTo>
                    <a:pt x="62" y="249"/>
                  </a:lnTo>
                  <a:lnTo>
                    <a:pt x="65" y="247"/>
                  </a:lnTo>
                  <a:lnTo>
                    <a:pt x="81" y="244"/>
                  </a:lnTo>
                  <a:lnTo>
                    <a:pt x="86" y="243"/>
                  </a:lnTo>
                  <a:lnTo>
                    <a:pt x="89" y="239"/>
                  </a:lnTo>
                  <a:lnTo>
                    <a:pt x="131" y="223"/>
                  </a:lnTo>
                  <a:lnTo>
                    <a:pt x="168" y="210"/>
                  </a:lnTo>
                  <a:lnTo>
                    <a:pt x="201" y="196"/>
                  </a:lnTo>
                  <a:lnTo>
                    <a:pt x="194" y="192"/>
                  </a:lnTo>
                  <a:lnTo>
                    <a:pt x="222" y="180"/>
                  </a:lnTo>
                  <a:lnTo>
                    <a:pt x="228" y="179"/>
                  </a:lnTo>
                  <a:lnTo>
                    <a:pt x="232" y="173"/>
                  </a:lnTo>
                  <a:lnTo>
                    <a:pt x="256" y="163"/>
                  </a:lnTo>
                  <a:lnTo>
                    <a:pt x="280" y="156"/>
                  </a:lnTo>
                  <a:lnTo>
                    <a:pt x="297" y="153"/>
                  </a:lnTo>
                  <a:lnTo>
                    <a:pt x="286" y="157"/>
                  </a:lnTo>
                  <a:lnTo>
                    <a:pt x="290" y="162"/>
                  </a:lnTo>
                  <a:lnTo>
                    <a:pt x="284" y="161"/>
                  </a:lnTo>
                  <a:lnTo>
                    <a:pt x="258" y="166"/>
                  </a:lnTo>
                  <a:lnTo>
                    <a:pt x="236" y="183"/>
                  </a:lnTo>
                  <a:lnTo>
                    <a:pt x="248" y="180"/>
                  </a:lnTo>
                  <a:lnTo>
                    <a:pt x="230" y="187"/>
                  </a:lnTo>
                  <a:lnTo>
                    <a:pt x="238" y="190"/>
                  </a:lnTo>
                  <a:lnTo>
                    <a:pt x="256" y="181"/>
                  </a:lnTo>
                  <a:lnTo>
                    <a:pt x="251" y="185"/>
                  </a:lnTo>
                  <a:lnTo>
                    <a:pt x="257" y="183"/>
                  </a:lnTo>
                  <a:lnTo>
                    <a:pt x="261" y="183"/>
                  </a:lnTo>
                  <a:lnTo>
                    <a:pt x="263" y="179"/>
                  </a:lnTo>
                  <a:lnTo>
                    <a:pt x="264" y="181"/>
                  </a:lnTo>
                  <a:lnTo>
                    <a:pt x="272" y="177"/>
                  </a:lnTo>
                  <a:lnTo>
                    <a:pt x="280" y="178"/>
                  </a:lnTo>
                  <a:lnTo>
                    <a:pt x="296" y="171"/>
                  </a:lnTo>
                  <a:lnTo>
                    <a:pt x="293" y="169"/>
                  </a:lnTo>
                  <a:lnTo>
                    <a:pt x="298" y="167"/>
                  </a:lnTo>
                  <a:lnTo>
                    <a:pt x="294" y="165"/>
                  </a:lnTo>
                  <a:lnTo>
                    <a:pt x="303" y="162"/>
                  </a:lnTo>
                  <a:lnTo>
                    <a:pt x="316" y="156"/>
                  </a:lnTo>
                  <a:lnTo>
                    <a:pt x="305" y="162"/>
                  </a:lnTo>
                  <a:lnTo>
                    <a:pt x="312" y="161"/>
                  </a:lnTo>
                  <a:lnTo>
                    <a:pt x="311" y="162"/>
                  </a:lnTo>
                  <a:lnTo>
                    <a:pt x="330" y="159"/>
                  </a:lnTo>
                  <a:lnTo>
                    <a:pt x="326" y="160"/>
                  </a:lnTo>
                  <a:lnTo>
                    <a:pt x="324" y="163"/>
                  </a:lnTo>
                  <a:lnTo>
                    <a:pt x="321" y="165"/>
                  </a:lnTo>
                  <a:lnTo>
                    <a:pt x="327" y="165"/>
                  </a:lnTo>
                  <a:lnTo>
                    <a:pt x="328" y="166"/>
                  </a:lnTo>
                  <a:lnTo>
                    <a:pt x="323" y="169"/>
                  </a:lnTo>
                  <a:lnTo>
                    <a:pt x="328" y="172"/>
                  </a:lnTo>
                  <a:lnTo>
                    <a:pt x="341" y="167"/>
                  </a:lnTo>
                  <a:lnTo>
                    <a:pt x="336" y="171"/>
                  </a:lnTo>
                  <a:lnTo>
                    <a:pt x="340" y="174"/>
                  </a:lnTo>
                  <a:lnTo>
                    <a:pt x="357" y="175"/>
                  </a:lnTo>
                  <a:lnTo>
                    <a:pt x="375" y="177"/>
                  </a:lnTo>
                  <a:lnTo>
                    <a:pt x="375" y="181"/>
                  </a:lnTo>
                  <a:lnTo>
                    <a:pt x="393" y="178"/>
                  </a:lnTo>
                  <a:lnTo>
                    <a:pt x="400" y="180"/>
                  </a:lnTo>
                  <a:lnTo>
                    <a:pt x="394" y="183"/>
                  </a:lnTo>
                  <a:lnTo>
                    <a:pt x="398" y="178"/>
                  </a:lnTo>
                  <a:lnTo>
                    <a:pt x="389" y="184"/>
                  </a:lnTo>
                  <a:lnTo>
                    <a:pt x="398" y="195"/>
                  </a:lnTo>
                  <a:lnTo>
                    <a:pt x="407" y="205"/>
                  </a:lnTo>
                  <a:lnTo>
                    <a:pt x="413" y="205"/>
                  </a:lnTo>
                  <a:lnTo>
                    <a:pt x="411" y="195"/>
                  </a:lnTo>
                  <a:lnTo>
                    <a:pt x="417" y="197"/>
                  </a:lnTo>
                  <a:lnTo>
                    <a:pt x="423" y="195"/>
                  </a:lnTo>
                  <a:lnTo>
                    <a:pt x="424" y="196"/>
                  </a:lnTo>
                  <a:lnTo>
                    <a:pt x="420" y="201"/>
                  </a:lnTo>
                  <a:lnTo>
                    <a:pt x="420" y="203"/>
                  </a:lnTo>
                  <a:lnTo>
                    <a:pt x="422" y="207"/>
                  </a:lnTo>
                  <a:lnTo>
                    <a:pt x="436" y="190"/>
                  </a:lnTo>
                  <a:lnTo>
                    <a:pt x="434" y="199"/>
                  </a:lnTo>
                  <a:lnTo>
                    <a:pt x="436" y="207"/>
                  </a:lnTo>
                  <a:lnTo>
                    <a:pt x="440" y="205"/>
                  </a:lnTo>
                  <a:lnTo>
                    <a:pt x="441" y="209"/>
                  </a:lnTo>
                  <a:lnTo>
                    <a:pt x="436" y="211"/>
                  </a:lnTo>
                  <a:lnTo>
                    <a:pt x="444" y="213"/>
                  </a:lnTo>
                  <a:lnTo>
                    <a:pt x="440" y="213"/>
                  </a:lnTo>
                  <a:lnTo>
                    <a:pt x="440" y="217"/>
                  </a:lnTo>
                  <a:lnTo>
                    <a:pt x="435" y="215"/>
                  </a:lnTo>
                  <a:lnTo>
                    <a:pt x="436" y="221"/>
                  </a:lnTo>
                  <a:lnTo>
                    <a:pt x="431" y="222"/>
                  </a:lnTo>
                  <a:lnTo>
                    <a:pt x="432" y="225"/>
                  </a:lnTo>
                  <a:lnTo>
                    <a:pt x="435" y="232"/>
                  </a:lnTo>
                  <a:lnTo>
                    <a:pt x="441" y="240"/>
                  </a:lnTo>
                  <a:lnTo>
                    <a:pt x="435" y="240"/>
                  </a:lnTo>
                  <a:lnTo>
                    <a:pt x="422" y="251"/>
                  </a:lnTo>
                  <a:lnTo>
                    <a:pt x="428" y="249"/>
                  </a:lnTo>
                  <a:lnTo>
                    <a:pt x="446" y="243"/>
                  </a:lnTo>
                  <a:lnTo>
                    <a:pt x="435" y="256"/>
                  </a:lnTo>
                  <a:lnTo>
                    <a:pt x="430" y="257"/>
                  </a:lnTo>
                  <a:lnTo>
                    <a:pt x="441" y="255"/>
                  </a:lnTo>
                  <a:lnTo>
                    <a:pt x="434" y="259"/>
                  </a:lnTo>
                  <a:lnTo>
                    <a:pt x="430" y="264"/>
                  </a:lnTo>
                  <a:lnTo>
                    <a:pt x="447" y="2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3" name="Freeform 432"/>
            <p:cNvSpPr>
              <a:spLocks/>
            </p:cNvSpPr>
            <p:nvPr/>
          </p:nvSpPr>
          <p:spPr bwMode="auto">
            <a:xfrm>
              <a:off x="300" y="1561"/>
              <a:ext cx="43" cy="22"/>
            </a:xfrm>
            <a:custGeom>
              <a:avLst/>
              <a:gdLst/>
              <a:ahLst/>
              <a:cxnLst>
                <a:cxn ang="0">
                  <a:pos x="40" y="6"/>
                </a:cxn>
                <a:cxn ang="0">
                  <a:pos x="36" y="5"/>
                </a:cxn>
                <a:cxn ang="0">
                  <a:pos x="37" y="3"/>
                </a:cxn>
                <a:cxn ang="0">
                  <a:pos x="35" y="3"/>
                </a:cxn>
                <a:cxn ang="0">
                  <a:pos x="31" y="0"/>
                </a:cxn>
                <a:cxn ang="0">
                  <a:pos x="29" y="4"/>
                </a:cxn>
                <a:cxn ang="0">
                  <a:pos x="24" y="4"/>
                </a:cxn>
                <a:cxn ang="0">
                  <a:pos x="18" y="5"/>
                </a:cxn>
                <a:cxn ang="0">
                  <a:pos x="13" y="12"/>
                </a:cxn>
                <a:cxn ang="0">
                  <a:pos x="12" y="6"/>
                </a:cxn>
                <a:cxn ang="0">
                  <a:pos x="1" y="12"/>
                </a:cxn>
                <a:cxn ang="0">
                  <a:pos x="1" y="18"/>
                </a:cxn>
                <a:cxn ang="0">
                  <a:pos x="3" y="16"/>
                </a:cxn>
                <a:cxn ang="0">
                  <a:pos x="7" y="16"/>
                </a:cxn>
                <a:cxn ang="0">
                  <a:pos x="0" y="22"/>
                </a:cxn>
                <a:cxn ang="0">
                  <a:pos x="9" y="16"/>
                </a:cxn>
                <a:cxn ang="0">
                  <a:pos x="25" y="11"/>
                </a:cxn>
                <a:cxn ang="0">
                  <a:pos x="28" y="10"/>
                </a:cxn>
                <a:cxn ang="0">
                  <a:pos x="40" y="6"/>
                </a:cxn>
              </a:cxnLst>
              <a:rect l="0" t="0" r="r" b="b"/>
              <a:pathLst>
                <a:path w="40" h="22">
                  <a:moveTo>
                    <a:pt x="40" y="6"/>
                  </a:moveTo>
                  <a:lnTo>
                    <a:pt x="36" y="5"/>
                  </a:lnTo>
                  <a:lnTo>
                    <a:pt x="37" y="3"/>
                  </a:lnTo>
                  <a:lnTo>
                    <a:pt x="35" y="3"/>
                  </a:lnTo>
                  <a:lnTo>
                    <a:pt x="31" y="0"/>
                  </a:lnTo>
                  <a:lnTo>
                    <a:pt x="29" y="4"/>
                  </a:lnTo>
                  <a:lnTo>
                    <a:pt x="24" y="4"/>
                  </a:lnTo>
                  <a:lnTo>
                    <a:pt x="18" y="5"/>
                  </a:lnTo>
                  <a:lnTo>
                    <a:pt x="13" y="12"/>
                  </a:lnTo>
                  <a:lnTo>
                    <a:pt x="12" y="6"/>
                  </a:lnTo>
                  <a:lnTo>
                    <a:pt x="1" y="12"/>
                  </a:lnTo>
                  <a:lnTo>
                    <a:pt x="1" y="18"/>
                  </a:lnTo>
                  <a:lnTo>
                    <a:pt x="3" y="16"/>
                  </a:lnTo>
                  <a:lnTo>
                    <a:pt x="7" y="16"/>
                  </a:lnTo>
                  <a:lnTo>
                    <a:pt x="0" y="22"/>
                  </a:lnTo>
                  <a:lnTo>
                    <a:pt x="9" y="16"/>
                  </a:lnTo>
                  <a:lnTo>
                    <a:pt x="25" y="11"/>
                  </a:lnTo>
                  <a:lnTo>
                    <a:pt x="28" y="10"/>
                  </a:lnTo>
                  <a:lnTo>
                    <a:pt x="4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4" name="Freeform 433"/>
            <p:cNvSpPr>
              <a:spLocks/>
            </p:cNvSpPr>
            <p:nvPr/>
          </p:nvSpPr>
          <p:spPr bwMode="auto">
            <a:xfrm>
              <a:off x="196" y="1456"/>
              <a:ext cx="38" cy="14"/>
            </a:xfrm>
            <a:custGeom>
              <a:avLst/>
              <a:gdLst/>
              <a:ahLst/>
              <a:cxnLst>
                <a:cxn ang="0">
                  <a:pos x="33" y="6"/>
                </a:cxn>
                <a:cxn ang="0">
                  <a:pos x="16" y="11"/>
                </a:cxn>
                <a:cxn ang="0">
                  <a:pos x="10" y="3"/>
                </a:cxn>
                <a:cxn ang="0">
                  <a:pos x="13" y="7"/>
                </a:cxn>
                <a:cxn ang="0">
                  <a:pos x="0" y="6"/>
                </a:cxn>
                <a:cxn ang="0">
                  <a:pos x="4" y="0"/>
                </a:cxn>
                <a:cxn ang="0">
                  <a:pos x="18" y="0"/>
                </a:cxn>
                <a:cxn ang="0">
                  <a:pos x="33" y="6"/>
                </a:cxn>
              </a:cxnLst>
              <a:rect l="0" t="0" r="r" b="b"/>
              <a:pathLst>
                <a:path w="33" h="11">
                  <a:moveTo>
                    <a:pt x="33" y="6"/>
                  </a:moveTo>
                  <a:lnTo>
                    <a:pt x="16" y="11"/>
                  </a:lnTo>
                  <a:lnTo>
                    <a:pt x="10" y="3"/>
                  </a:lnTo>
                  <a:lnTo>
                    <a:pt x="13" y="7"/>
                  </a:lnTo>
                  <a:lnTo>
                    <a:pt x="0" y="6"/>
                  </a:lnTo>
                  <a:lnTo>
                    <a:pt x="4" y="0"/>
                  </a:lnTo>
                  <a:lnTo>
                    <a:pt x="18" y="0"/>
                  </a:lnTo>
                  <a:lnTo>
                    <a:pt x="33"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5" name="Freeform 434"/>
            <p:cNvSpPr>
              <a:spLocks/>
            </p:cNvSpPr>
            <p:nvPr/>
          </p:nvSpPr>
          <p:spPr bwMode="auto">
            <a:xfrm>
              <a:off x="576" y="1590"/>
              <a:ext cx="18" cy="33"/>
            </a:xfrm>
            <a:custGeom>
              <a:avLst/>
              <a:gdLst/>
              <a:ahLst/>
              <a:cxnLst>
                <a:cxn ang="0">
                  <a:pos x="9" y="26"/>
                </a:cxn>
                <a:cxn ang="0">
                  <a:pos x="7" y="29"/>
                </a:cxn>
                <a:cxn ang="0">
                  <a:pos x="6" y="21"/>
                </a:cxn>
                <a:cxn ang="0">
                  <a:pos x="0" y="18"/>
                </a:cxn>
                <a:cxn ang="0">
                  <a:pos x="6" y="17"/>
                </a:cxn>
                <a:cxn ang="0">
                  <a:pos x="9" y="12"/>
                </a:cxn>
                <a:cxn ang="0">
                  <a:pos x="3" y="13"/>
                </a:cxn>
                <a:cxn ang="0">
                  <a:pos x="10" y="8"/>
                </a:cxn>
                <a:cxn ang="0">
                  <a:pos x="9" y="2"/>
                </a:cxn>
                <a:cxn ang="0">
                  <a:pos x="14" y="0"/>
                </a:cxn>
                <a:cxn ang="0">
                  <a:pos x="16" y="14"/>
                </a:cxn>
                <a:cxn ang="0">
                  <a:pos x="14" y="12"/>
                </a:cxn>
                <a:cxn ang="0">
                  <a:pos x="13" y="15"/>
                </a:cxn>
                <a:cxn ang="0">
                  <a:pos x="9" y="26"/>
                </a:cxn>
              </a:cxnLst>
              <a:rect l="0" t="0" r="r" b="b"/>
              <a:pathLst>
                <a:path w="16" h="29">
                  <a:moveTo>
                    <a:pt x="9" y="26"/>
                  </a:moveTo>
                  <a:lnTo>
                    <a:pt x="7" y="29"/>
                  </a:lnTo>
                  <a:lnTo>
                    <a:pt x="6" y="21"/>
                  </a:lnTo>
                  <a:lnTo>
                    <a:pt x="0" y="18"/>
                  </a:lnTo>
                  <a:lnTo>
                    <a:pt x="6" y="17"/>
                  </a:lnTo>
                  <a:lnTo>
                    <a:pt x="9" y="12"/>
                  </a:lnTo>
                  <a:lnTo>
                    <a:pt x="3" y="13"/>
                  </a:lnTo>
                  <a:lnTo>
                    <a:pt x="10" y="8"/>
                  </a:lnTo>
                  <a:lnTo>
                    <a:pt x="9" y="2"/>
                  </a:lnTo>
                  <a:lnTo>
                    <a:pt x="14" y="0"/>
                  </a:lnTo>
                  <a:lnTo>
                    <a:pt x="16" y="14"/>
                  </a:lnTo>
                  <a:lnTo>
                    <a:pt x="14" y="12"/>
                  </a:lnTo>
                  <a:lnTo>
                    <a:pt x="13" y="15"/>
                  </a:lnTo>
                  <a:lnTo>
                    <a:pt x="9" y="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6" name="Freeform 435"/>
            <p:cNvSpPr>
              <a:spLocks/>
            </p:cNvSpPr>
            <p:nvPr/>
          </p:nvSpPr>
          <p:spPr bwMode="auto">
            <a:xfrm>
              <a:off x="587" y="1556"/>
              <a:ext cx="20" cy="23"/>
            </a:xfrm>
            <a:custGeom>
              <a:avLst/>
              <a:gdLst/>
              <a:ahLst/>
              <a:cxnLst>
                <a:cxn ang="0">
                  <a:pos x="17" y="10"/>
                </a:cxn>
                <a:cxn ang="0">
                  <a:pos x="12" y="12"/>
                </a:cxn>
                <a:cxn ang="0">
                  <a:pos x="0" y="20"/>
                </a:cxn>
                <a:cxn ang="0">
                  <a:pos x="3" y="15"/>
                </a:cxn>
                <a:cxn ang="0">
                  <a:pos x="14" y="0"/>
                </a:cxn>
                <a:cxn ang="0">
                  <a:pos x="18" y="1"/>
                </a:cxn>
                <a:cxn ang="0">
                  <a:pos x="17" y="10"/>
                </a:cxn>
              </a:cxnLst>
              <a:rect l="0" t="0" r="r" b="b"/>
              <a:pathLst>
                <a:path w="18" h="20">
                  <a:moveTo>
                    <a:pt x="17" y="10"/>
                  </a:moveTo>
                  <a:lnTo>
                    <a:pt x="12" y="12"/>
                  </a:lnTo>
                  <a:lnTo>
                    <a:pt x="0" y="20"/>
                  </a:lnTo>
                  <a:lnTo>
                    <a:pt x="3" y="15"/>
                  </a:lnTo>
                  <a:lnTo>
                    <a:pt x="14" y="0"/>
                  </a:lnTo>
                  <a:lnTo>
                    <a:pt x="18" y="1"/>
                  </a:lnTo>
                  <a:lnTo>
                    <a:pt x="17"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7" name="Freeform 436"/>
            <p:cNvSpPr>
              <a:spLocks/>
            </p:cNvSpPr>
            <p:nvPr/>
          </p:nvSpPr>
          <p:spPr bwMode="auto">
            <a:xfrm>
              <a:off x="96" y="1616"/>
              <a:ext cx="29" cy="9"/>
            </a:xfrm>
            <a:custGeom>
              <a:avLst/>
              <a:gdLst/>
              <a:ahLst/>
              <a:cxnLst>
                <a:cxn ang="0">
                  <a:pos x="26" y="6"/>
                </a:cxn>
                <a:cxn ang="0">
                  <a:pos x="21" y="0"/>
                </a:cxn>
                <a:cxn ang="0">
                  <a:pos x="0" y="7"/>
                </a:cxn>
                <a:cxn ang="0">
                  <a:pos x="6" y="8"/>
                </a:cxn>
                <a:cxn ang="0">
                  <a:pos x="26" y="6"/>
                </a:cxn>
              </a:cxnLst>
              <a:rect l="0" t="0" r="r" b="b"/>
              <a:pathLst>
                <a:path w="26" h="8">
                  <a:moveTo>
                    <a:pt x="26" y="6"/>
                  </a:moveTo>
                  <a:lnTo>
                    <a:pt x="21" y="0"/>
                  </a:lnTo>
                  <a:lnTo>
                    <a:pt x="0" y="7"/>
                  </a:lnTo>
                  <a:lnTo>
                    <a:pt x="6" y="8"/>
                  </a:lnTo>
                  <a:lnTo>
                    <a:pt x="2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8" name="Freeform 437"/>
            <p:cNvSpPr>
              <a:spLocks/>
            </p:cNvSpPr>
            <p:nvPr/>
          </p:nvSpPr>
          <p:spPr bwMode="auto">
            <a:xfrm>
              <a:off x="180" y="1516"/>
              <a:ext cx="20" cy="9"/>
            </a:xfrm>
            <a:custGeom>
              <a:avLst/>
              <a:gdLst/>
              <a:ahLst/>
              <a:cxnLst>
                <a:cxn ang="0">
                  <a:pos x="19" y="7"/>
                </a:cxn>
                <a:cxn ang="0">
                  <a:pos x="12" y="8"/>
                </a:cxn>
                <a:cxn ang="0">
                  <a:pos x="0" y="4"/>
                </a:cxn>
                <a:cxn ang="0">
                  <a:pos x="19" y="0"/>
                </a:cxn>
                <a:cxn ang="0">
                  <a:pos x="19" y="7"/>
                </a:cxn>
              </a:cxnLst>
              <a:rect l="0" t="0" r="r" b="b"/>
              <a:pathLst>
                <a:path w="19" h="8">
                  <a:moveTo>
                    <a:pt x="19" y="7"/>
                  </a:moveTo>
                  <a:lnTo>
                    <a:pt x="12" y="8"/>
                  </a:lnTo>
                  <a:lnTo>
                    <a:pt x="0" y="4"/>
                  </a:lnTo>
                  <a:lnTo>
                    <a:pt x="19" y="0"/>
                  </a:lnTo>
                  <a:lnTo>
                    <a:pt x="19"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9" name="Freeform 438"/>
            <p:cNvSpPr>
              <a:spLocks/>
            </p:cNvSpPr>
            <p:nvPr/>
          </p:nvSpPr>
          <p:spPr bwMode="auto">
            <a:xfrm>
              <a:off x="574" y="1554"/>
              <a:ext cx="20" cy="16"/>
            </a:xfrm>
            <a:custGeom>
              <a:avLst/>
              <a:gdLst/>
              <a:ahLst/>
              <a:cxnLst>
                <a:cxn ang="0">
                  <a:pos x="15" y="14"/>
                </a:cxn>
                <a:cxn ang="0">
                  <a:pos x="12" y="10"/>
                </a:cxn>
                <a:cxn ang="0">
                  <a:pos x="9" y="5"/>
                </a:cxn>
                <a:cxn ang="0">
                  <a:pos x="18" y="9"/>
                </a:cxn>
                <a:cxn ang="0">
                  <a:pos x="17" y="6"/>
                </a:cxn>
                <a:cxn ang="0">
                  <a:pos x="12" y="5"/>
                </a:cxn>
                <a:cxn ang="0">
                  <a:pos x="15" y="0"/>
                </a:cxn>
                <a:cxn ang="0">
                  <a:pos x="6" y="4"/>
                </a:cxn>
                <a:cxn ang="0">
                  <a:pos x="5" y="8"/>
                </a:cxn>
                <a:cxn ang="0">
                  <a:pos x="0" y="9"/>
                </a:cxn>
                <a:cxn ang="0">
                  <a:pos x="4" y="15"/>
                </a:cxn>
                <a:cxn ang="0">
                  <a:pos x="6" y="9"/>
                </a:cxn>
                <a:cxn ang="0">
                  <a:pos x="15" y="14"/>
                </a:cxn>
              </a:cxnLst>
              <a:rect l="0" t="0" r="r" b="b"/>
              <a:pathLst>
                <a:path w="18" h="15">
                  <a:moveTo>
                    <a:pt x="15" y="14"/>
                  </a:moveTo>
                  <a:lnTo>
                    <a:pt x="12" y="10"/>
                  </a:lnTo>
                  <a:lnTo>
                    <a:pt x="9" y="5"/>
                  </a:lnTo>
                  <a:lnTo>
                    <a:pt x="18" y="9"/>
                  </a:lnTo>
                  <a:lnTo>
                    <a:pt x="17" y="6"/>
                  </a:lnTo>
                  <a:lnTo>
                    <a:pt x="12" y="5"/>
                  </a:lnTo>
                  <a:lnTo>
                    <a:pt x="15" y="0"/>
                  </a:lnTo>
                  <a:lnTo>
                    <a:pt x="6" y="4"/>
                  </a:lnTo>
                  <a:lnTo>
                    <a:pt x="5" y="8"/>
                  </a:lnTo>
                  <a:lnTo>
                    <a:pt x="0" y="9"/>
                  </a:lnTo>
                  <a:lnTo>
                    <a:pt x="4" y="15"/>
                  </a:lnTo>
                  <a:lnTo>
                    <a:pt x="6" y="9"/>
                  </a:lnTo>
                  <a:lnTo>
                    <a:pt x="15" y="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0" name="Freeform 439"/>
            <p:cNvSpPr>
              <a:spLocks/>
            </p:cNvSpPr>
            <p:nvPr/>
          </p:nvSpPr>
          <p:spPr bwMode="auto">
            <a:xfrm>
              <a:off x="571" y="1570"/>
              <a:ext cx="14" cy="24"/>
            </a:xfrm>
            <a:custGeom>
              <a:avLst/>
              <a:gdLst/>
              <a:ahLst/>
              <a:cxnLst>
                <a:cxn ang="0">
                  <a:pos x="0" y="21"/>
                </a:cxn>
                <a:cxn ang="0">
                  <a:pos x="12" y="0"/>
                </a:cxn>
                <a:cxn ang="0">
                  <a:pos x="4" y="4"/>
                </a:cxn>
                <a:cxn ang="0">
                  <a:pos x="0" y="21"/>
                </a:cxn>
              </a:cxnLst>
              <a:rect l="0" t="0" r="r" b="b"/>
              <a:pathLst>
                <a:path w="12" h="21">
                  <a:moveTo>
                    <a:pt x="0" y="21"/>
                  </a:moveTo>
                  <a:lnTo>
                    <a:pt x="12" y="0"/>
                  </a:lnTo>
                  <a:lnTo>
                    <a:pt x="4" y="4"/>
                  </a:lnTo>
                  <a:lnTo>
                    <a:pt x="0" y="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1" name="Freeform 440"/>
            <p:cNvSpPr>
              <a:spLocks/>
            </p:cNvSpPr>
            <p:nvPr/>
          </p:nvSpPr>
          <p:spPr bwMode="auto">
            <a:xfrm>
              <a:off x="591" y="1576"/>
              <a:ext cx="14" cy="14"/>
            </a:xfrm>
            <a:custGeom>
              <a:avLst/>
              <a:gdLst/>
              <a:ahLst/>
              <a:cxnLst>
                <a:cxn ang="0">
                  <a:pos x="11" y="7"/>
                </a:cxn>
                <a:cxn ang="0">
                  <a:pos x="12" y="5"/>
                </a:cxn>
                <a:cxn ang="0">
                  <a:pos x="5" y="0"/>
                </a:cxn>
                <a:cxn ang="0">
                  <a:pos x="0" y="8"/>
                </a:cxn>
                <a:cxn ang="0">
                  <a:pos x="5" y="11"/>
                </a:cxn>
                <a:cxn ang="0">
                  <a:pos x="7" y="6"/>
                </a:cxn>
                <a:cxn ang="0">
                  <a:pos x="11" y="7"/>
                </a:cxn>
              </a:cxnLst>
              <a:rect l="0" t="0" r="r" b="b"/>
              <a:pathLst>
                <a:path w="12" h="11">
                  <a:moveTo>
                    <a:pt x="11" y="7"/>
                  </a:moveTo>
                  <a:lnTo>
                    <a:pt x="12" y="5"/>
                  </a:lnTo>
                  <a:lnTo>
                    <a:pt x="5" y="0"/>
                  </a:lnTo>
                  <a:lnTo>
                    <a:pt x="0" y="8"/>
                  </a:lnTo>
                  <a:lnTo>
                    <a:pt x="5" y="11"/>
                  </a:lnTo>
                  <a:lnTo>
                    <a:pt x="7" y="6"/>
                  </a:lnTo>
                  <a:lnTo>
                    <a:pt x="11"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2" name="Freeform 441"/>
            <p:cNvSpPr>
              <a:spLocks/>
            </p:cNvSpPr>
            <p:nvPr/>
          </p:nvSpPr>
          <p:spPr bwMode="auto">
            <a:xfrm>
              <a:off x="578" y="1581"/>
              <a:ext cx="13" cy="13"/>
            </a:xfrm>
            <a:custGeom>
              <a:avLst/>
              <a:gdLst/>
              <a:ahLst/>
              <a:cxnLst>
                <a:cxn ang="0">
                  <a:pos x="12" y="4"/>
                </a:cxn>
                <a:cxn ang="0">
                  <a:pos x="0" y="12"/>
                </a:cxn>
                <a:cxn ang="0">
                  <a:pos x="6" y="0"/>
                </a:cxn>
                <a:cxn ang="0">
                  <a:pos x="12" y="4"/>
                </a:cxn>
              </a:cxnLst>
              <a:rect l="0" t="0" r="r" b="b"/>
              <a:pathLst>
                <a:path w="12" h="12">
                  <a:moveTo>
                    <a:pt x="12" y="4"/>
                  </a:moveTo>
                  <a:lnTo>
                    <a:pt x="0" y="12"/>
                  </a:lnTo>
                  <a:lnTo>
                    <a:pt x="6" y="0"/>
                  </a:lnTo>
                  <a:lnTo>
                    <a:pt x="1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3" name="Freeform 442"/>
            <p:cNvSpPr>
              <a:spLocks/>
            </p:cNvSpPr>
            <p:nvPr/>
          </p:nvSpPr>
          <p:spPr bwMode="auto">
            <a:xfrm>
              <a:off x="1334" y="1885"/>
              <a:ext cx="37" cy="9"/>
            </a:xfrm>
            <a:custGeom>
              <a:avLst/>
              <a:gdLst/>
              <a:ahLst/>
              <a:cxnLst>
                <a:cxn ang="0">
                  <a:pos x="35" y="1"/>
                </a:cxn>
                <a:cxn ang="0">
                  <a:pos x="25" y="4"/>
                </a:cxn>
                <a:cxn ang="0">
                  <a:pos x="27" y="0"/>
                </a:cxn>
                <a:cxn ang="0">
                  <a:pos x="0" y="8"/>
                </a:cxn>
                <a:cxn ang="0">
                  <a:pos x="17" y="5"/>
                </a:cxn>
                <a:cxn ang="0">
                  <a:pos x="35" y="1"/>
                </a:cxn>
              </a:cxnLst>
              <a:rect l="0" t="0" r="r" b="b"/>
              <a:pathLst>
                <a:path w="35" h="8">
                  <a:moveTo>
                    <a:pt x="35" y="1"/>
                  </a:moveTo>
                  <a:lnTo>
                    <a:pt x="25" y="4"/>
                  </a:lnTo>
                  <a:lnTo>
                    <a:pt x="27" y="0"/>
                  </a:lnTo>
                  <a:lnTo>
                    <a:pt x="0" y="8"/>
                  </a:lnTo>
                  <a:lnTo>
                    <a:pt x="17" y="5"/>
                  </a:lnTo>
                  <a:lnTo>
                    <a:pt x="3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4" name="Freeform 443"/>
            <p:cNvSpPr>
              <a:spLocks/>
            </p:cNvSpPr>
            <p:nvPr/>
          </p:nvSpPr>
          <p:spPr bwMode="auto">
            <a:xfrm>
              <a:off x="2236" y="2154"/>
              <a:ext cx="146" cy="136"/>
            </a:xfrm>
            <a:custGeom>
              <a:avLst/>
              <a:gdLst/>
              <a:ahLst/>
              <a:cxnLst>
                <a:cxn ang="0">
                  <a:pos x="2" y="114"/>
                </a:cxn>
                <a:cxn ang="0">
                  <a:pos x="0" y="124"/>
                </a:cxn>
                <a:cxn ang="0">
                  <a:pos x="0" y="114"/>
                </a:cxn>
                <a:cxn ang="0">
                  <a:pos x="11" y="91"/>
                </a:cxn>
                <a:cxn ang="0">
                  <a:pos x="21" y="70"/>
                </a:cxn>
                <a:cxn ang="0">
                  <a:pos x="18" y="72"/>
                </a:cxn>
                <a:cxn ang="0">
                  <a:pos x="31" y="58"/>
                </a:cxn>
                <a:cxn ang="0">
                  <a:pos x="36" y="43"/>
                </a:cxn>
                <a:cxn ang="0">
                  <a:pos x="42" y="30"/>
                </a:cxn>
                <a:cxn ang="0">
                  <a:pos x="54" y="18"/>
                </a:cxn>
                <a:cxn ang="0">
                  <a:pos x="63" y="0"/>
                </a:cxn>
                <a:cxn ang="0">
                  <a:pos x="80" y="0"/>
                </a:cxn>
                <a:cxn ang="0">
                  <a:pos x="98" y="0"/>
                </a:cxn>
                <a:cxn ang="0">
                  <a:pos x="115" y="0"/>
                </a:cxn>
                <a:cxn ang="0">
                  <a:pos x="132" y="0"/>
                </a:cxn>
                <a:cxn ang="0">
                  <a:pos x="132" y="7"/>
                </a:cxn>
                <a:cxn ang="0">
                  <a:pos x="132" y="30"/>
                </a:cxn>
                <a:cxn ang="0">
                  <a:pos x="119" y="30"/>
                </a:cxn>
                <a:cxn ang="0">
                  <a:pos x="107" y="30"/>
                </a:cxn>
                <a:cxn ang="0">
                  <a:pos x="93" y="30"/>
                </a:cxn>
                <a:cxn ang="0">
                  <a:pos x="80" y="30"/>
                </a:cxn>
                <a:cxn ang="0">
                  <a:pos x="80" y="53"/>
                </a:cxn>
                <a:cxn ang="0">
                  <a:pos x="79" y="76"/>
                </a:cxn>
                <a:cxn ang="0">
                  <a:pos x="63" y="84"/>
                </a:cxn>
                <a:cxn ang="0">
                  <a:pos x="63" y="99"/>
                </a:cxn>
                <a:cxn ang="0">
                  <a:pos x="63" y="114"/>
                </a:cxn>
                <a:cxn ang="0">
                  <a:pos x="48" y="114"/>
                </a:cxn>
                <a:cxn ang="0">
                  <a:pos x="32" y="114"/>
                </a:cxn>
                <a:cxn ang="0">
                  <a:pos x="17" y="114"/>
                </a:cxn>
                <a:cxn ang="0">
                  <a:pos x="2" y="114"/>
                </a:cxn>
              </a:cxnLst>
              <a:rect l="0" t="0" r="r" b="b"/>
              <a:pathLst>
                <a:path w="132" h="124">
                  <a:moveTo>
                    <a:pt x="2" y="114"/>
                  </a:moveTo>
                  <a:lnTo>
                    <a:pt x="0" y="124"/>
                  </a:lnTo>
                  <a:lnTo>
                    <a:pt x="0" y="114"/>
                  </a:lnTo>
                  <a:lnTo>
                    <a:pt x="11" y="91"/>
                  </a:lnTo>
                  <a:lnTo>
                    <a:pt x="21" y="70"/>
                  </a:lnTo>
                  <a:lnTo>
                    <a:pt x="18" y="72"/>
                  </a:lnTo>
                  <a:lnTo>
                    <a:pt x="31" y="58"/>
                  </a:lnTo>
                  <a:lnTo>
                    <a:pt x="36" y="43"/>
                  </a:lnTo>
                  <a:lnTo>
                    <a:pt x="42" y="30"/>
                  </a:lnTo>
                  <a:lnTo>
                    <a:pt x="54" y="18"/>
                  </a:lnTo>
                  <a:lnTo>
                    <a:pt x="63" y="0"/>
                  </a:lnTo>
                  <a:lnTo>
                    <a:pt x="80" y="0"/>
                  </a:lnTo>
                  <a:lnTo>
                    <a:pt x="98" y="0"/>
                  </a:lnTo>
                  <a:lnTo>
                    <a:pt x="115" y="0"/>
                  </a:lnTo>
                  <a:lnTo>
                    <a:pt x="132" y="0"/>
                  </a:lnTo>
                  <a:lnTo>
                    <a:pt x="132" y="7"/>
                  </a:lnTo>
                  <a:lnTo>
                    <a:pt x="132" y="30"/>
                  </a:lnTo>
                  <a:lnTo>
                    <a:pt x="119" y="30"/>
                  </a:lnTo>
                  <a:lnTo>
                    <a:pt x="107" y="30"/>
                  </a:lnTo>
                  <a:lnTo>
                    <a:pt x="93" y="30"/>
                  </a:lnTo>
                  <a:lnTo>
                    <a:pt x="80" y="30"/>
                  </a:lnTo>
                  <a:lnTo>
                    <a:pt x="80" y="53"/>
                  </a:lnTo>
                  <a:lnTo>
                    <a:pt x="79" y="76"/>
                  </a:lnTo>
                  <a:lnTo>
                    <a:pt x="63" y="84"/>
                  </a:lnTo>
                  <a:lnTo>
                    <a:pt x="63" y="99"/>
                  </a:lnTo>
                  <a:lnTo>
                    <a:pt x="63" y="114"/>
                  </a:lnTo>
                  <a:lnTo>
                    <a:pt x="48" y="114"/>
                  </a:lnTo>
                  <a:lnTo>
                    <a:pt x="32" y="114"/>
                  </a:lnTo>
                  <a:lnTo>
                    <a:pt x="17" y="114"/>
                  </a:lnTo>
                  <a:lnTo>
                    <a:pt x="2" y="1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grpSp>
      <p:sp>
        <p:nvSpPr>
          <p:cNvPr id="445" name="TextBox 599"/>
          <p:cNvSpPr txBox="1"/>
          <p:nvPr/>
        </p:nvSpPr>
        <p:spPr>
          <a:xfrm>
            <a:off x="7495627" y="3948025"/>
            <a:ext cx="4222761" cy="2113259"/>
          </a:xfrm>
          <a:prstGeom prst="roundRect">
            <a:avLst/>
          </a:prstGeom>
          <a:noFill/>
          <a:ln w="28575">
            <a:solidFill>
              <a:schemeClr val="accent1"/>
            </a:solidFill>
            <a:prstDash val="dashDot"/>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endParaRPr lang="en-GB" sz="1869" dirty="0">
              <a:solidFill>
                <a:prstClr val="black"/>
              </a:solidFill>
            </a:endParaRPr>
          </a:p>
        </p:txBody>
      </p:sp>
      <p:grpSp>
        <p:nvGrpSpPr>
          <p:cNvPr id="446" name="Group 445"/>
          <p:cNvGrpSpPr/>
          <p:nvPr/>
        </p:nvGrpSpPr>
        <p:grpSpPr>
          <a:xfrm>
            <a:off x="381805" y="1763278"/>
            <a:ext cx="3779722" cy="4065458"/>
            <a:chOff x="458769" y="1327309"/>
            <a:chExt cx="3847119" cy="4137950"/>
          </a:xfrm>
        </p:grpSpPr>
        <p:sp>
          <p:nvSpPr>
            <p:cNvPr id="447" name="Freeform 446"/>
            <p:cNvSpPr/>
            <p:nvPr/>
          </p:nvSpPr>
          <p:spPr>
            <a:xfrm rot="21365595" flipH="1" flipV="1">
              <a:off x="1361005" y="2521249"/>
              <a:ext cx="1883228" cy="608646"/>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48" name="Freeform 447"/>
            <p:cNvSpPr/>
            <p:nvPr/>
          </p:nvSpPr>
          <p:spPr>
            <a:xfrm rot="21287480" flipH="1" flipV="1">
              <a:off x="1322362" y="4080518"/>
              <a:ext cx="1970135" cy="334088"/>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grpSp>
          <p:nvGrpSpPr>
            <p:cNvPr id="449" name="Group 448"/>
            <p:cNvGrpSpPr/>
            <p:nvPr/>
          </p:nvGrpSpPr>
          <p:grpSpPr>
            <a:xfrm rot="10800000" flipH="1">
              <a:off x="458769" y="1327309"/>
              <a:ext cx="3847119" cy="4137950"/>
              <a:chOff x="3474598" y="1219201"/>
              <a:chExt cx="3702490" cy="4807347"/>
            </a:xfrm>
          </p:grpSpPr>
          <p:sp>
            <p:nvSpPr>
              <p:cNvPr id="450" name="Freeform 449"/>
              <p:cNvSpPr/>
              <p:nvPr/>
            </p:nvSpPr>
            <p:spPr>
              <a:xfrm>
                <a:off x="3494041" y="4040150"/>
                <a:ext cx="886981" cy="484968"/>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1" name="Freeform 450"/>
              <p:cNvSpPr/>
              <p:nvPr/>
            </p:nvSpPr>
            <p:spPr>
              <a:xfrm>
                <a:off x="3483565" y="2413795"/>
                <a:ext cx="873329" cy="516731"/>
              </a:xfrm>
              <a:custGeom>
                <a:avLst/>
                <a:gdLst>
                  <a:gd name="connsiteX0" fmla="*/ 0 w 819150"/>
                  <a:gd name="connsiteY0" fmla="*/ 523875 h 523875"/>
                  <a:gd name="connsiteX1" fmla="*/ 806450 w 819150"/>
                  <a:gd name="connsiteY1" fmla="*/ 339725 h 523875"/>
                  <a:gd name="connsiteX2" fmla="*/ 819150 w 819150"/>
                  <a:gd name="connsiteY2" fmla="*/ 0 h 523875"/>
                  <a:gd name="connsiteX3" fmla="*/ 6350 w 819150"/>
                  <a:gd name="connsiteY3" fmla="*/ 241300 h 523875"/>
                  <a:gd name="connsiteX4" fmla="*/ 0 w 819150"/>
                  <a:gd name="connsiteY4" fmla="*/ 523875 h 523875"/>
                  <a:gd name="connsiteX0" fmla="*/ 0 w 812006"/>
                  <a:gd name="connsiteY0" fmla="*/ 516731 h 516731"/>
                  <a:gd name="connsiteX1" fmla="*/ 806450 w 812006"/>
                  <a:gd name="connsiteY1" fmla="*/ 332581 h 516731"/>
                  <a:gd name="connsiteX2" fmla="*/ 812006 w 812006"/>
                  <a:gd name="connsiteY2" fmla="*/ 0 h 516731"/>
                  <a:gd name="connsiteX3" fmla="*/ 6350 w 812006"/>
                  <a:gd name="connsiteY3" fmla="*/ 234156 h 516731"/>
                  <a:gd name="connsiteX4" fmla="*/ 0 w 812006"/>
                  <a:gd name="connsiteY4" fmla="*/ 516731 h 516731"/>
                  <a:gd name="connsiteX0" fmla="*/ 0 w 813594"/>
                  <a:gd name="connsiteY0" fmla="*/ 516731 h 516731"/>
                  <a:gd name="connsiteX1" fmla="*/ 813594 w 813594"/>
                  <a:gd name="connsiteY1" fmla="*/ 330199 h 516731"/>
                  <a:gd name="connsiteX2" fmla="*/ 812006 w 813594"/>
                  <a:gd name="connsiteY2" fmla="*/ 0 h 516731"/>
                  <a:gd name="connsiteX3" fmla="*/ 6350 w 813594"/>
                  <a:gd name="connsiteY3" fmla="*/ 234156 h 516731"/>
                  <a:gd name="connsiteX4" fmla="*/ 0 w 813594"/>
                  <a:gd name="connsiteY4" fmla="*/ 516731 h 51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94" h="516731">
                    <a:moveTo>
                      <a:pt x="0" y="516731"/>
                    </a:moveTo>
                    <a:lnTo>
                      <a:pt x="813594" y="330199"/>
                    </a:lnTo>
                    <a:cubicBezTo>
                      <a:pt x="813065" y="220133"/>
                      <a:pt x="812535" y="110066"/>
                      <a:pt x="812006" y="0"/>
                    </a:cubicBezTo>
                    <a:lnTo>
                      <a:pt x="6350" y="234156"/>
                    </a:lnTo>
                    <a:cubicBezTo>
                      <a:pt x="5292" y="331523"/>
                      <a:pt x="4233" y="428889"/>
                      <a:pt x="0" y="5167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2" name="Freeform 451"/>
              <p:cNvSpPr/>
              <p:nvPr/>
            </p:nvSpPr>
            <p:spPr>
              <a:xfrm>
                <a:off x="4310063" y="2743200"/>
                <a:ext cx="2376487" cy="1376386"/>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354137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2368550"/>
                  <a:gd name="connsiteY0" fmla="*/ 0 h 1354137"/>
                  <a:gd name="connsiteX1" fmla="*/ 0 w 2368550"/>
                  <a:gd name="connsiteY1" fmla="*/ 1354137 h 1354137"/>
                  <a:gd name="connsiteX2" fmla="*/ 2368550 w 2368550"/>
                  <a:gd name="connsiteY2" fmla="*/ 1320800 h 1354137"/>
                  <a:gd name="connsiteX3" fmla="*/ 1816100 w 2368550"/>
                  <a:gd name="connsiteY3" fmla="*/ 469900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8550" h="1354137">
                    <a:moveTo>
                      <a:pt x="6350" y="0"/>
                    </a:moveTo>
                    <a:cubicBezTo>
                      <a:pt x="4233" y="389467"/>
                      <a:pt x="2117" y="964670"/>
                      <a:pt x="0" y="1354137"/>
                    </a:cubicBezTo>
                    <a:lnTo>
                      <a:pt x="2368550" y="1320800"/>
                    </a:lnTo>
                    <a:lnTo>
                      <a:pt x="2354262" y="379412"/>
                    </a:lnTo>
                    <a:cubicBezTo>
                      <a:pt x="2345266" y="281780"/>
                      <a:pt x="2331508" y="203993"/>
                      <a:pt x="2193925" y="169862"/>
                    </a:cubicBezTo>
                    <a:lnTo>
                      <a:pt x="6350" y="0"/>
                    </a:lnTo>
                    <a:close/>
                  </a:path>
                </a:pathLst>
              </a:custGeom>
              <a:solidFill>
                <a:schemeClr val="accent1">
                  <a:lumMod val="20000"/>
                  <a:lumOff val="8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3" name="Freeform 452"/>
              <p:cNvSpPr/>
              <p:nvPr/>
            </p:nvSpPr>
            <p:spPr>
              <a:xfrm>
                <a:off x="4322764" y="4356465"/>
                <a:ext cx="2854324" cy="1670050"/>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354137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2368550"/>
                  <a:gd name="connsiteY0" fmla="*/ 0 h 1354137"/>
                  <a:gd name="connsiteX1" fmla="*/ 0 w 2368550"/>
                  <a:gd name="connsiteY1" fmla="*/ 1354137 h 1354137"/>
                  <a:gd name="connsiteX2" fmla="*/ 2368550 w 2368550"/>
                  <a:gd name="connsiteY2" fmla="*/ 1320800 h 1354137"/>
                  <a:gd name="connsiteX3" fmla="*/ 1816100 w 2368550"/>
                  <a:gd name="connsiteY3" fmla="*/ 469900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11112 w 2373312"/>
                  <a:gd name="connsiteY0" fmla="*/ 0 h 1520824"/>
                  <a:gd name="connsiteX1" fmla="*/ 0 w 2373312"/>
                  <a:gd name="connsiteY1" fmla="*/ 1520824 h 1520824"/>
                  <a:gd name="connsiteX2" fmla="*/ 2373312 w 2373312"/>
                  <a:gd name="connsiteY2" fmla="*/ 1320800 h 1520824"/>
                  <a:gd name="connsiteX3" fmla="*/ 2359024 w 2373312"/>
                  <a:gd name="connsiteY3" fmla="*/ 379412 h 1520824"/>
                  <a:gd name="connsiteX4" fmla="*/ 2198687 w 2373312"/>
                  <a:gd name="connsiteY4" fmla="*/ 169862 h 1520824"/>
                  <a:gd name="connsiteX5" fmla="*/ 11112 w 2373312"/>
                  <a:gd name="connsiteY5" fmla="*/ 0 h 1520824"/>
                  <a:gd name="connsiteX0" fmla="*/ 1587 w 2363787"/>
                  <a:gd name="connsiteY0" fmla="*/ 0 h 1516062"/>
                  <a:gd name="connsiteX1" fmla="*/ 0 w 2363787"/>
                  <a:gd name="connsiteY1" fmla="*/ 1516062 h 1516062"/>
                  <a:gd name="connsiteX2" fmla="*/ 2363787 w 2363787"/>
                  <a:gd name="connsiteY2" fmla="*/ 1320800 h 1516062"/>
                  <a:gd name="connsiteX3" fmla="*/ 2349499 w 2363787"/>
                  <a:gd name="connsiteY3" fmla="*/ 379412 h 1516062"/>
                  <a:gd name="connsiteX4" fmla="*/ 2189162 w 2363787"/>
                  <a:gd name="connsiteY4" fmla="*/ 169862 h 1516062"/>
                  <a:gd name="connsiteX5" fmla="*/ 1587 w 2363787"/>
                  <a:gd name="connsiteY5" fmla="*/ 0 h 1516062"/>
                  <a:gd name="connsiteX0" fmla="*/ 1587 w 2844799"/>
                  <a:gd name="connsiteY0" fmla="*/ 0 h 1516062"/>
                  <a:gd name="connsiteX1" fmla="*/ 0 w 2844799"/>
                  <a:gd name="connsiteY1" fmla="*/ 1516062 h 1516062"/>
                  <a:gd name="connsiteX2" fmla="*/ 2844799 w 2844799"/>
                  <a:gd name="connsiteY2" fmla="*/ 1063625 h 1516062"/>
                  <a:gd name="connsiteX3" fmla="*/ 2349499 w 2844799"/>
                  <a:gd name="connsiteY3" fmla="*/ 379412 h 1516062"/>
                  <a:gd name="connsiteX4" fmla="*/ 2189162 w 2844799"/>
                  <a:gd name="connsiteY4" fmla="*/ 169862 h 1516062"/>
                  <a:gd name="connsiteX5" fmla="*/ 1587 w 2844799"/>
                  <a:gd name="connsiteY5" fmla="*/ 0 h 1516062"/>
                  <a:gd name="connsiteX0" fmla="*/ 1587 w 2844799"/>
                  <a:gd name="connsiteY0" fmla="*/ 153988 h 1670050"/>
                  <a:gd name="connsiteX1" fmla="*/ 0 w 2844799"/>
                  <a:gd name="connsiteY1" fmla="*/ 1670050 h 1670050"/>
                  <a:gd name="connsiteX2" fmla="*/ 2844799 w 2844799"/>
                  <a:gd name="connsiteY2" fmla="*/ 1217613 h 1670050"/>
                  <a:gd name="connsiteX3" fmla="*/ 2349499 w 2844799"/>
                  <a:gd name="connsiteY3" fmla="*/ 533400 h 1670050"/>
                  <a:gd name="connsiteX4" fmla="*/ 2651124 w 2844799"/>
                  <a:gd name="connsiteY4" fmla="*/ 0 h 1670050"/>
                  <a:gd name="connsiteX5" fmla="*/ 1587 w 2844799"/>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9561 w 2854324"/>
                  <a:gd name="connsiteY2" fmla="*/ 1208088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49226 h 1670050"/>
                  <a:gd name="connsiteX1" fmla="*/ 0 w 2854324"/>
                  <a:gd name="connsiteY1" fmla="*/ 1670050 h 1670050"/>
                  <a:gd name="connsiteX2" fmla="*/ 2849561 w 2854324"/>
                  <a:gd name="connsiteY2" fmla="*/ 1208088 h 1670050"/>
                  <a:gd name="connsiteX3" fmla="*/ 2854324 w 2854324"/>
                  <a:gd name="connsiteY3" fmla="*/ 304800 h 1670050"/>
                  <a:gd name="connsiteX4" fmla="*/ 2651124 w 2854324"/>
                  <a:gd name="connsiteY4" fmla="*/ 0 h 1670050"/>
                  <a:gd name="connsiteX5" fmla="*/ 1587 w 2854324"/>
                  <a:gd name="connsiteY5" fmla="*/ 149226 h 167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4324" h="1670050">
                    <a:moveTo>
                      <a:pt x="1587" y="149226"/>
                    </a:moveTo>
                    <a:cubicBezTo>
                      <a:pt x="-530" y="538693"/>
                      <a:pt x="2117" y="1280583"/>
                      <a:pt x="0" y="1670050"/>
                    </a:cubicBezTo>
                    <a:lnTo>
                      <a:pt x="2849561" y="1208088"/>
                    </a:lnTo>
                    <a:cubicBezTo>
                      <a:pt x="2851149" y="906992"/>
                      <a:pt x="2852736" y="605896"/>
                      <a:pt x="2854324" y="304800"/>
                    </a:cubicBezTo>
                    <a:cubicBezTo>
                      <a:pt x="2850090" y="159543"/>
                      <a:pt x="2826807" y="29368"/>
                      <a:pt x="2651124" y="0"/>
                    </a:cubicBezTo>
                    <a:lnTo>
                      <a:pt x="1587" y="149226"/>
                    </a:lnTo>
                    <a:close/>
                  </a:path>
                </a:pathLst>
              </a:custGeom>
              <a:solidFill>
                <a:schemeClr val="accent1">
                  <a:lumMod val="20000"/>
                  <a:lumOff val="8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4" name="Freeform 453"/>
              <p:cNvSpPr/>
              <p:nvPr/>
            </p:nvSpPr>
            <p:spPr>
              <a:xfrm>
                <a:off x="4318000" y="1219201"/>
                <a:ext cx="1889449" cy="1379224"/>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16100" h="1358900">
                    <a:moveTo>
                      <a:pt x="6350" y="0"/>
                    </a:moveTo>
                    <a:cubicBezTo>
                      <a:pt x="4233" y="389467"/>
                      <a:pt x="2117" y="778933"/>
                      <a:pt x="0" y="1168400"/>
                    </a:cubicBezTo>
                    <a:lnTo>
                      <a:pt x="1816100" y="1358900"/>
                    </a:lnTo>
                    <a:lnTo>
                      <a:pt x="1816100" y="469900"/>
                    </a:lnTo>
                    <a:cubicBezTo>
                      <a:pt x="1797579" y="378618"/>
                      <a:pt x="1750483" y="342106"/>
                      <a:pt x="1689100" y="317500"/>
                    </a:cubicBezTo>
                    <a:lnTo>
                      <a:pt x="6350" y="0"/>
                    </a:lnTo>
                    <a:close/>
                  </a:path>
                </a:pathLst>
              </a:custGeom>
              <a:solidFill>
                <a:schemeClr val="accent1">
                  <a:lumMod val="20000"/>
                  <a:lumOff val="8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5" name="Parallelogram 4"/>
              <p:cNvSpPr/>
              <p:nvPr/>
            </p:nvSpPr>
            <p:spPr>
              <a:xfrm>
                <a:off x="3474598" y="1222375"/>
                <a:ext cx="851609" cy="1461294"/>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4616 w 851468"/>
                  <a:gd name="connsiteY0" fmla="*/ 1422234 h 1422234"/>
                  <a:gd name="connsiteX1" fmla="*/ 0 w 851468"/>
                  <a:gd name="connsiteY1" fmla="*/ 463091 h 1422234"/>
                  <a:gd name="connsiteX2" fmla="*/ 851339 w 851468"/>
                  <a:gd name="connsiteY2" fmla="*/ 0 h 1422234"/>
                  <a:gd name="connsiteX3" fmla="*/ 841668 w 851468"/>
                  <a:gd name="connsiteY3" fmla="*/ 1174584 h 1422234"/>
                  <a:gd name="connsiteX4" fmla="*/ 4616 w 851468"/>
                  <a:gd name="connsiteY4" fmla="*/ 1422234 h 1422234"/>
                  <a:gd name="connsiteX0" fmla="*/ 4616 w 851767"/>
                  <a:gd name="connsiteY0" fmla="*/ 1422234 h 1422234"/>
                  <a:gd name="connsiteX1" fmla="*/ 0 w 851767"/>
                  <a:gd name="connsiteY1" fmla="*/ 463091 h 1422234"/>
                  <a:gd name="connsiteX2" fmla="*/ 851339 w 851767"/>
                  <a:gd name="connsiteY2" fmla="*/ 0 h 1422234"/>
                  <a:gd name="connsiteX3" fmla="*/ 851193 w 851767"/>
                  <a:gd name="connsiteY3" fmla="*/ 1160641 h 1422234"/>
                  <a:gd name="connsiteX4" fmla="*/ 4616 w 851767"/>
                  <a:gd name="connsiteY4" fmla="*/ 1422234 h 1422234"/>
                  <a:gd name="connsiteX0" fmla="*/ 4616 w 851609"/>
                  <a:gd name="connsiteY0" fmla="*/ 1422234 h 1422234"/>
                  <a:gd name="connsiteX1" fmla="*/ 0 w 851609"/>
                  <a:gd name="connsiteY1" fmla="*/ 463091 h 1422234"/>
                  <a:gd name="connsiteX2" fmla="*/ 851339 w 851609"/>
                  <a:gd name="connsiteY2" fmla="*/ 0 h 1422234"/>
                  <a:gd name="connsiteX3" fmla="*/ 848812 w 851609"/>
                  <a:gd name="connsiteY3" fmla="*/ 1169937 h 1422234"/>
                  <a:gd name="connsiteX4" fmla="*/ 4616 w 851609"/>
                  <a:gd name="connsiteY4" fmla="*/ 1422234 h 1422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609" h="1422234">
                    <a:moveTo>
                      <a:pt x="4616" y="1422234"/>
                    </a:moveTo>
                    <a:cubicBezTo>
                      <a:pt x="3077" y="1102520"/>
                      <a:pt x="1539" y="782805"/>
                      <a:pt x="0" y="463091"/>
                    </a:cubicBezTo>
                    <a:lnTo>
                      <a:pt x="851339" y="0"/>
                    </a:lnTo>
                    <a:cubicBezTo>
                      <a:pt x="852878" y="385331"/>
                      <a:pt x="847273" y="784606"/>
                      <a:pt x="848812" y="1169937"/>
                    </a:cubicBezTo>
                    <a:lnTo>
                      <a:pt x="4616" y="1422234"/>
                    </a:lnTo>
                    <a:close/>
                  </a:path>
                </a:pathLst>
              </a:custGeom>
              <a:solidFill>
                <a:schemeClr val="accent1">
                  <a:lumMod val="40000"/>
                  <a:lumOff val="6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6" name="Parallelogram 4"/>
              <p:cNvSpPr/>
              <p:nvPr/>
            </p:nvSpPr>
            <p:spPr>
              <a:xfrm>
                <a:off x="3486583" y="4382399"/>
                <a:ext cx="842465" cy="1644149"/>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155993 h 1403643"/>
                  <a:gd name="connsiteX4" fmla="*/ 252 w 837304"/>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384593 h 1403643"/>
                  <a:gd name="connsiteX4" fmla="*/ 252 w 837304"/>
                  <a:gd name="connsiteY4" fmla="*/ 1403643 h 1403643"/>
                  <a:gd name="connsiteX0" fmla="*/ 252 w 837304"/>
                  <a:gd name="connsiteY0" fmla="*/ 1304583 h 1384593"/>
                  <a:gd name="connsiteX1" fmla="*/ 3256 w 837304"/>
                  <a:gd name="connsiteY1" fmla="*/ 193040 h 1384593"/>
                  <a:gd name="connsiteX2" fmla="*/ 832688 w 837304"/>
                  <a:gd name="connsiteY2" fmla="*/ 0 h 1384593"/>
                  <a:gd name="connsiteX3" fmla="*/ 837304 w 837304"/>
                  <a:gd name="connsiteY3" fmla="*/ 1384593 h 1384593"/>
                  <a:gd name="connsiteX4" fmla="*/ 252 w 837304"/>
                  <a:gd name="connsiteY4" fmla="*/ 1304583 h 138459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44924"/>
                  <a:gd name="connsiteY0" fmla="*/ 1304583 h 1338873"/>
                  <a:gd name="connsiteX1" fmla="*/ 3256 w 844924"/>
                  <a:gd name="connsiteY1" fmla="*/ 193040 h 1338873"/>
                  <a:gd name="connsiteX2" fmla="*/ 832688 w 844924"/>
                  <a:gd name="connsiteY2" fmla="*/ 0 h 1338873"/>
                  <a:gd name="connsiteX3" fmla="*/ 844924 w 844924"/>
                  <a:gd name="connsiteY3" fmla="*/ 1338873 h 1338873"/>
                  <a:gd name="connsiteX4" fmla="*/ 252 w 844924"/>
                  <a:gd name="connsiteY4" fmla="*/ 1304583 h 133887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28172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28172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1223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12236 w 829683"/>
                  <a:gd name="connsiteY4" fmla="*/ 1296963 h 1354113"/>
                  <a:gd name="connsiteX0" fmla="*/ 461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296963 h 1354113"/>
                  <a:gd name="connsiteX0" fmla="*/ 73196 w 829683"/>
                  <a:gd name="connsiteY0" fmla="*/ 1350303 h 1354113"/>
                  <a:gd name="connsiteX1" fmla="*/ 0 w 829683"/>
                  <a:gd name="connsiteY1" fmla="*/ 193040 h 1354113"/>
                  <a:gd name="connsiteX2" fmla="*/ 829432 w 829683"/>
                  <a:gd name="connsiteY2" fmla="*/ 0 h 1354113"/>
                  <a:gd name="connsiteX3" fmla="*/ 826428 w 829683"/>
                  <a:gd name="connsiteY3" fmla="*/ 1354113 h 1354113"/>
                  <a:gd name="connsiteX4" fmla="*/ 73196 w 829683"/>
                  <a:gd name="connsiteY4" fmla="*/ 1350303 h 1354113"/>
                  <a:gd name="connsiteX0" fmla="*/ 4616 w 829683"/>
                  <a:gd name="connsiteY0" fmla="*/ 131982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319823 h 1354113"/>
                  <a:gd name="connsiteX0" fmla="*/ 121 w 825188"/>
                  <a:gd name="connsiteY0" fmla="*/ 1319823 h 1354113"/>
                  <a:gd name="connsiteX1" fmla="*/ 10745 w 825188"/>
                  <a:gd name="connsiteY1" fmla="*/ 78740 h 1354113"/>
                  <a:gd name="connsiteX2" fmla="*/ 824937 w 825188"/>
                  <a:gd name="connsiteY2" fmla="*/ 0 h 1354113"/>
                  <a:gd name="connsiteX3" fmla="*/ 821933 w 825188"/>
                  <a:gd name="connsiteY3" fmla="*/ 1354113 h 1354113"/>
                  <a:gd name="connsiteX4" fmla="*/ 121 w 825188"/>
                  <a:gd name="connsiteY4" fmla="*/ 1319823 h 1354113"/>
                  <a:gd name="connsiteX0" fmla="*/ 121 w 825188"/>
                  <a:gd name="connsiteY0" fmla="*/ 1241083 h 1275373"/>
                  <a:gd name="connsiteX1" fmla="*/ 10745 w 825188"/>
                  <a:gd name="connsiteY1" fmla="*/ 0 h 1275373"/>
                  <a:gd name="connsiteX2" fmla="*/ 824937 w 825188"/>
                  <a:gd name="connsiteY2" fmla="*/ 104140 h 1275373"/>
                  <a:gd name="connsiteX3" fmla="*/ 821933 w 825188"/>
                  <a:gd name="connsiteY3" fmla="*/ 1275373 h 1275373"/>
                  <a:gd name="connsiteX4" fmla="*/ 121 w 825188"/>
                  <a:gd name="connsiteY4" fmla="*/ 1241083 h 1275373"/>
                  <a:gd name="connsiteX0" fmla="*/ 121 w 825188"/>
                  <a:gd name="connsiteY0" fmla="*/ 1241083 h 1641133"/>
                  <a:gd name="connsiteX1" fmla="*/ 10745 w 825188"/>
                  <a:gd name="connsiteY1" fmla="*/ 0 h 1641133"/>
                  <a:gd name="connsiteX2" fmla="*/ 824937 w 825188"/>
                  <a:gd name="connsiteY2" fmla="*/ 104140 h 1641133"/>
                  <a:gd name="connsiteX3" fmla="*/ 821933 w 825188"/>
                  <a:gd name="connsiteY3" fmla="*/ 1641133 h 1641133"/>
                  <a:gd name="connsiteX4" fmla="*/ 121 w 825188"/>
                  <a:gd name="connsiteY4" fmla="*/ 1241083 h 1641133"/>
                  <a:gd name="connsiteX0" fmla="*/ 121 w 825188"/>
                  <a:gd name="connsiteY0" fmla="*/ 1225843 h 1641133"/>
                  <a:gd name="connsiteX1" fmla="*/ 10745 w 825188"/>
                  <a:gd name="connsiteY1" fmla="*/ 0 h 1641133"/>
                  <a:gd name="connsiteX2" fmla="*/ 824937 w 825188"/>
                  <a:gd name="connsiteY2" fmla="*/ 104140 h 1641133"/>
                  <a:gd name="connsiteX3" fmla="*/ 821933 w 825188"/>
                  <a:gd name="connsiteY3" fmla="*/ 1641133 h 1641133"/>
                  <a:gd name="connsiteX4" fmla="*/ 121 w 825188"/>
                  <a:gd name="connsiteY4" fmla="*/ 1225843 h 1641133"/>
                  <a:gd name="connsiteX0" fmla="*/ 251 w 825318"/>
                  <a:gd name="connsiteY0" fmla="*/ 1210603 h 1625893"/>
                  <a:gd name="connsiteX1" fmla="*/ 3255 w 825318"/>
                  <a:gd name="connsiteY1" fmla="*/ 0 h 1625893"/>
                  <a:gd name="connsiteX2" fmla="*/ 825067 w 825318"/>
                  <a:gd name="connsiteY2" fmla="*/ 88900 h 1625893"/>
                  <a:gd name="connsiteX3" fmla="*/ 822063 w 825318"/>
                  <a:gd name="connsiteY3" fmla="*/ 1625893 h 1625893"/>
                  <a:gd name="connsiteX4" fmla="*/ 251 w 825318"/>
                  <a:gd name="connsiteY4" fmla="*/ 1210603 h 1625893"/>
                  <a:gd name="connsiteX0" fmla="*/ 251 w 825318"/>
                  <a:gd name="connsiteY0" fmla="*/ 1245528 h 1660818"/>
                  <a:gd name="connsiteX1" fmla="*/ 3255 w 825318"/>
                  <a:gd name="connsiteY1" fmla="*/ 0 h 1660818"/>
                  <a:gd name="connsiteX2" fmla="*/ 825067 w 825318"/>
                  <a:gd name="connsiteY2" fmla="*/ 123825 h 1660818"/>
                  <a:gd name="connsiteX3" fmla="*/ 822063 w 825318"/>
                  <a:gd name="connsiteY3" fmla="*/ 1660818 h 1660818"/>
                  <a:gd name="connsiteX4" fmla="*/ 251 w 825318"/>
                  <a:gd name="connsiteY4" fmla="*/ 1245528 h 1660818"/>
                  <a:gd name="connsiteX0" fmla="*/ 251 w 825255"/>
                  <a:gd name="connsiteY0" fmla="*/ 1245528 h 1644149"/>
                  <a:gd name="connsiteX1" fmla="*/ 3255 w 825255"/>
                  <a:gd name="connsiteY1" fmla="*/ 0 h 1644149"/>
                  <a:gd name="connsiteX2" fmla="*/ 825067 w 825255"/>
                  <a:gd name="connsiteY2" fmla="*/ 123825 h 1644149"/>
                  <a:gd name="connsiteX3" fmla="*/ 819731 w 825255"/>
                  <a:gd name="connsiteY3" fmla="*/ 1644149 h 1644149"/>
                  <a:gd name="connsiteX4" fmla="*/ 251 w 825255"/>
                  <a:gd name="connsiteY4" fmla="*/ 1245528 h 164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55" h="1644149">
                    <a:moveTo>
                      <a:pt x="251" y="1245528"/>
                    </a:moveTo>
                    <a:cubicBezTo>
                      <a:pt x="-1288" y="925814"/>
                      <a:pt x="4794" y="319714"/>
                      <a:pt x="3255" y="0"/>
                    </a:cubicBezTo>
                    <a:lnTo>
                      <a:pt x="825067" y="123825"/>
                    </a:lnTo>
                    <a:cubicBezTo>
                      <a:pt x="826606" y="509156"/>
                      <a:pt x="818192" y="1258818"/>
                      <a:pt x="819731" y="1644149"/>
                    </a:cubicBezTo>
                    <a:lnTo>
                      <a:pt x="251" y="1245528"/>
                    </a:lnTo>
                    <a:close/>
                  </a:path>
                </a:pathLst>
              </a:custGeom>
              <a:solidFill>
                <a:schemeClr val="accent1">
                  <a:lumMod val="40000"/>
                  <a:lumOff val="60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7" name="Parallelogram 4"/>
              <p:cNvSpPr/>
              <p:nvPr/>
            </p:nvSpPr>
            <p:spPr>
              <a:xfrm>
                <a:off x="3485393" y="2745581"/>
                <a:ext cx="836575" cy="1373982"/>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155993 h 1403643"/>
                  <a:gd name="connsiteX4" fmla="*/ 252 w 837304"/>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384593 h 1403643"/>
                  <a:gd name="connsiteX4" fmla="*/ 252 w 837304"/>
                  <a:gd name="connsiteY4" fmla="*/ 1403643 h 1403643"/>
                  <a:gd name="connsiteX0" fmla="*/ 252 w 837304"/>
                  <a:gd name="connsiteY0" fmla="*/ 1304583 h 1384593"/>
                  <a:gd name="connsiteX1" fmla="*/ 3256 w 837304"/>
                  <a:gd name="connsiteY1" fmla="*/ 193040 h 1384593"/>
                  <a:gd name="connsiteX2" fmla="*/ 832688 w 837304"/>
                  <a:gd name="connsiteY2" fmla="*/ 0 h 1384593"/>
                  <a:gd name="connsiteX3" fmla="*/ 837304 w 837304"/>
                  <a:gd name="connsiteY3" fmla="*/ 1384593 h 1384593"/>
                  <a:gd name="connsiteX4" fmla="*/ 252 w 837304"/>
                  <a:gd name="connsiteY4" fmla="*/ 1304583 h 138459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44924"/>
                  <a:gd name="connsiteY0" fmla="*/ 1304583 h 1338873"/>
                  <a:gd name="connsiteX1" fmla="*/ 3256 w 844924"/>
                  <a:gd name="connsiteY1" fmla="*/ 193040 h 1338873"/>
                  <a:gd name="connsiteX2" fmla="*/ 832688 w 844924"/>
                  <a:gd name="connsiteY2" fmla="*/ 0 h 1338873"/>
                  <a:gd name="connsiteX3" fmla="*/ 844924 w 844924"/>
                  <a:gd name="connsiteY3" fmla="*/ 1338873 h 1338873"/>
                  <a:gd name="connsiteX4" fmla="*/ 252 w 844924"/>
                  <a:gd name="connsiteY4" fmla="*/ 1304583 h 133887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28172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28172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1223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12236 w 829683"/>
                  <a:gd name="connsiteY4" fmla="*/ 1296963 h 1354113"/>
                  <a:gd name="connsiteX0" fmla="*/ 461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296963 h 1354113"/>
                  <a:gd name="connsiteX0" fmla="*/ 4616 w 829683"/>
                  <a:gd name="connsiteY0" fmla="*/ 1319188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319188 h 1354113"/>
                  <a:gd name="connsiteX0" fmla="*/ 1441 w 826508"/>
                  <a:gd name="connsiteY0" fmla="*/ 1319188 h 1354113"/>
                  <a:gd name="connsiteX1" fmla="*/ 0 w 826508"/>
                  <a:gd name="connsiteY1" fmla="*/ 196215 h 1354113"/>
                  <a:gd name="connsiteX2" fmla="*/ 826257 w 826508"/>
                  <a:gd name="connsiteY2" fmla="*/ 0 h 1354113"/>
                  <a:gd name="connsiteX3" fmla="*/ 823253 w 826508"/>
                  <a:gd name="connsiteY3" fmla="*/ 1354113 h 1354113"/>
                  <a:gd name="connsiteX4" fmla="*/ 1441 w 826508"/>
                  <a:gd name="connsiteY4" fmla="*/ 1319188 h 1354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08" h="1354113">
                    <a:moveTo>
                      <a:pt x="1441" y="1319188"/>
                    </a:moveTo>
                    <a:cubicBezTo>
                      <a:pt x="-98" y="999474"/>
                      <a:pt x="1539" y="515929"/>
                      <a:pt x="0" y="196215"/>
                    </a:cubicBezTo>
                    <a:lnTo>
                      <a:pt x="826257" y="0"/>
                    </a:lnTo>
                    <a:cubicBezTo>
                      <a:pt x="827796" y="385331"/>
                      <a:pt x="821714" y="968782"/>
                      <a:pt x="823253" y="1354113"/>
                    </a:cubicBezTo>
                    <a:lnTo>
                      <a:pt x="1441" y="1319188"/>
                    </a:lnTo>
                    <a:close/>
                  </a:path>
                </a:pathLst>
              </a:custGeom>
              <a:solidFill>
                <a:schemeClr val="accent1">
                  <a:lumMod val="40000"/>
                  <a:lumOff val="6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8" name="Down Arrow 457"/>
              <p:cNvSpPr/>
              <p:nvPr/>
            </p:nvSpPr>
            <p:spPr>
              <a:xfrm rot="10635248" flipV="1">
                <a:off x="3513231" y="2021116"/>
                <a:ext cx="269982" cy="375120"/>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pic>
            <p:nvPicPr>
              <p:cNvPr id="459" name="Picture 458"/>
              <p:cNvPicPr>
                <a:picLocks noChangeAspect="1"/>
              </p:cNvPicPr>
              <p:nvPr/>
            </p:nvPicPr>
            <p:blipFill>
              <a:blip r:embed="rId2" cstate="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10800000">
                <a:off x="5656110" y="1876644"/>
                <a:ext cx="566776" cy="566777"/>
              </a:xfrm>
              <a:prstGeom prst="rect">
                <a:avLst/>
              </a:prstGeom>
            </p:spPr>
          </p:pic>
          <p:pic>
            <p:nvPicPr>
              <p:cNvPr id="460" name="Picture 459"/>
              <p:cNvPicPr>
                <a:picLocks noChangeAspect="1"/>
              </p:cNvPicPr>
              <p:nvPr/>
            </p:nvPicPr>
            <p:blipFill>
              <a:blip r:embed="rId3" cstate="print">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5905013" y="3112482"/>
                <a:ext cx="685800" cy="685800"/>
              </a:xfrm>
              <a:prstGeom prst="rect">
                <a:avLst/>
              </a:prstGeom>
            </p:spPr>
          </p:pic>
          <p:pic>
            <p:nvPicPr>
              <p:cNvPr id="461" name="Picture 460"/>
              <p:cNvPicPr>
                <a:picLocks noChangeAspect="1"/>
              </p:cNvPicPr>
              <p:nvPr/>
            </p:nvPicPr>
            <p:blipFill>
              <a:blip r:embed="rId4" cstate="print">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rot="10800000" flipH="1">
                <a:off x="6328896" y="4715851"/>
                <a:ext cx="703089" cy="703089"/>
              </a:xfrm>
              <a:prstGeom prst="rect">
                <a:avLst/>
              </a:prstGeom>
            </p:spPr>
          </p:pic>
          <p:sp>
            <p:nvSpPr>
              <p:cNvPr id="462" name="Down Arrow 461"/>
              <p:cNvSpPr/>
              <p:nvPr/>
            </p:nvSpPr>
            <p:spPr>
              <a:xfrm>
                <a:off x="3533774" y="3627089"/>
                <a:ext cx="211701" cy="413058"/>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63" name="Down Arrow 462"/>
              <p:cNvSpPr/>
              <p:nvPr/>
            </p:nvSpPr>
            <p:spPr>
              <a:xfrm>
                <a:off x="3533775" y="5114189"/>
                <a:ext cx="243131" cy="418271"/>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grpSp>
      </p:grpSp>
      <p:sp>
        <p:nvSpPr>
          <p:cNvPr id="464" name="TextBox 127"/>
          <p:cNvSpPr txBox="1"/>
          <p:nvPr/>
        </p:nvSpPr>
        <p:spPr>
          <a:xfrm>
            <a:off x="467605" y="2544751"/>
            <a:ext cx="716566" cy="332623"/>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2034F</a:t>
            </a:r>
          </a:p>
        </p:txBody>
      </p:sp>
      <p:sp>
        <p:nvSpPr>
          <p:cNvPr id="465" name="TextBox 128"/>
          <p:cNvSpPr txBox="1"/>
          <p:nvPr/>
        </p:nvSpPr>
        <p:spPr>
          <a:xfrm>
            <a:off x="152400" y="1131579"/>
            <a:ext cx="5791200" cy="502920"/>
          </a:xfrm>
          <a:prstGeom prst="rect">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pPr algn="ctr"/>
            <a:r>
              <a:rPr lang="en-GB" sz="1376" b="1" dirty="0">
                <a:solidFill>
                  <a:prstClr val="black"/>
                </a:solidFill>
              </a:rPr>
              <a:t>North America WXYZ Market Value (US$ </a:t>
            </a:r>
            <a:r>
              <a:rPr lang="en-GB" sz="1376" b="1" dirty="0" err="1">
                <a:solidFill>
                  <a:prstClr val="black"/>
                </a:solidFill>
              </a:rPr>
              <a:t>Mn</a:t>
            </a:r>
            <a:r>
              <a:rPr lang="en-GB" sz="1376" b="1" dirty="0">
                <a:solidFill>
                  <a:prstClr val="black"/>
                </a:solidFill>
              </a:rPr>
              <a:t>)</a:t>
            </a:r>
          </a:p>
        </p:txBody>
      </p:sp>
      <p:sp>
        <p:nvSpPr>
          <p:cNvPr id="466" name="TextBox 129"/>
          <p:cNvSpPr txBox="1"/>
          <p:nvPr/>
        </p:nvSpPr>
        <p:spPr>
          <a:xfrm>
            <a:off x="467605" y="3945797"/>
            <a:ext cx="716566" cy="334259"/>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2029F</a:t>
            </a:r>
          </a:p>
        </p:txBody>
      </p:sp>
      <p:sp>
        <p:nvSpPr>
          <p:cNvPr id="467" name="TextBox 130"/>
          <p:cNvSpPr txBox="1"/>
          <p:nvPr/>
        </p:nvSpPr>
        <p:spPr>
          <a:xfrm>
            <a:off x="467605" y="5165028"/>
            <a:ext cx="716566" cy="332623"/>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2024E</a:t>
            </a:r>
          </a:p>
        </p:txBody>
      </p:sp>
      <p:sp>
        <p:nvSpPr>
          <p:cNvPr id="468" name="TextBox 131"/>
          <p:cNvSpPr txBox="1"/>
          <p:nvPr/>
        </p:nvSpPr>
        <p:spPr>
          <a:xfrm>
            <a:off x="1269734" y="2205145"/>
            <a:ext cx="1593183"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solidFill>
                <a:prstClr val="black"/>
              </a:solidFill>
            </a:endParaRPr>
          </a:p>
          <a:p>
            <a:pPr algn="ctr"/>
            <a:r>
              <a:rPr lang="en-US" sz="1800" b="1" dirty="0" err="1">
                <a:solidFill>
                  <a:prstClr val="black"/>
                </a:solidFill>
              </a:rPr>
              <a:t>Mn</a:t>
            </a:r>
            <a:endParaRPr lang="en-US" sz="1800" b="1" dirty="0">
              <a:solidFill>
                <a:prstClr val="black"/>
              </a:solidFill>
            </a:endParaRPr>
          </a:p>
        </p:txBody>
      </p:sp>
      <p:sp>
        <p:nvSpPr>
          <p:cNvPr id="469" name="TextBox 132"/>
          <p:cNvSpPr txBox="1"/>
          <p:nvPr/>
        </p:nvSpPr>
        <p:spPr>
          <a:xfrm>
            <a:off x="1269734" y="3667727"/>
            <a:ext cx="1368961"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p>
          <a:p>
            <a:pPr algn="ctr"/>
            <a:r>
              <a:rPr lang="en-US" sz="1800" b="1" dirty="0" err="1">
                <a:solidFill>
                  <a:prstClr val="black"/>
                </a:solidFill>
              </a:rPr>
              <a:t>Mn</a:t>
            </a:r>
            <a:endParaRPr lang="en-US" sz="1800" b="1" dirty="0">
              <a:solidFill>
                <a:prstClr val="black"/>
              </a:solidFill>
            </a:endParaRPr>
          </a:p>
        </p:txBody>
      </p:sp>
      <p:sp>
        <p:nvSpPr>
          <p:cNvPr id="470" name="TextBox 133"/>
          <p:cNvSpPr txBox="1"/>
          <p:nvPr/>
        </p:nvSpPr>
        <p:spPr>
          <a:xfrm>
            <a:off x="1269734" y="4940208"/>
            <a:ext cx="1368961"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p>
          <a:p>
            <a:pPr algn="ctr"/>
            <a:r>
              <a:rPr lang="en-US" sz="1800" b="1" dirty="0" err="1">
                <a:solidFill>
                  <a:prstClr val="black"/>
                </a:solidFill>
              </a:rPr>
              <a:t>Mn</a:t>
            </a:r>
            <a:endParaRPr lang="en-US" sz="1800" b="1" dirty="0">
              <a:solidFill>
                <a:prstClr val="black"/>
              </a:solidFill>
            </a:endParaRPr>
          </a:p>
        </p:txBody>
      </p:sp>
      <p:cxnSp>
        <p:nvCxnSpPr>
          <p:cNvPr id="471" name="Straight Connector 470"/>
          <p:cNvCxnSpPr/>
          <p:nvPr/>
        </p:nvCxnSpPr>
        <p:spPr>
          <a:xfrm>
            <a:off x="3485260" y="4612987"/>
            <a:ext cx="0" cy="1284684"/>
          </a:xfrm>
          <a:prstGeom prst="line">
            <a:avLst/>
          </a:prstGeom>
          <a:ln w="28575">
            <a:solidFill>
              <a:srgbClr val="A6A6A6"/>
            </a:solidFill>
          </a:ln>
        </p:spPr>
        <p:style>
          <a:lnRef idx="1">
            <a:schemeClr val="accent1"/>
          </a:lnRef>
          <a:fillRef idx="0">
            <a:schemeClr val="accent1"/>
          </a:fillRef>
          <a:effectRef idx="0">
            <a:schemeClr val="accent1"/>
          </a:effectRef>
          <a:fontRef idx="minor">
            <a:schemeClr val="tx1"/>
          </a:fontRef>
        </p:style>
      </p:cxnSp>
      <p:sp>
        <p:nvSpPr>
          <p:cNvPr id="472" name="Chevron 471"/>
          <p:cNvSpPr/>
          <p:nvPr/>
        </p:nvSpPr>
        <p:spPr>
          <a:xfrm>
            <a:off x="3389976" y="5190091"/>
            <a:ext cx="190568" cy="145196"/>
          </a:xfrm>
          <a:prstGeom prst="chevron">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black"/>
              </a:solidFill>
            </a:endParaRPr>
          </a:p>
        </p:txBody>
      </p:sp>
      <p:sp>
        <p:nvSpPr>
          <p:cNvPr id="473" name="TextBox 142"/>
          <p:cNvSpPr txBox="1"/>
          <p:nvPr/>
        </p:nvSpPr>
        <p:spPr>
          <a:xfrm>
            <a:off x="4195599" y="4864062"/>
            <a:ext cx="2768961" cy="1309461"/>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751" b="1" dirty="0">
                <a:solidFill>
                  <a:prstClr val="black"/>
                </a:solidFill>
              </a:rPr>
              <a:t>US$ </a:t>
            </a:r>
            <a:r>
              <a:rPr lang="en-US" sz="2800" b="1" dirty="0"/>
              <a:t>xx</a:t>
            </a:r>
          </a:p>
          <a:p>
            <a:pPr algn="ctr"/>
            <a:r>
              <a:rPr lang="en-US" sz="2751" b="1" dirty="0" err="1">
                <a:solidFill>
                  <a:prstClr val="black"/>
                </a:solidFill>
              </a:rPr>
              <a:t>Mn</a:t>
            </a:r>
            <a:endParaRPr lang="en-US" sz="2751" b="1" dirty="0">
              <a:solidFill>
                <a:prstClr val="black"/>
              </a:solidFill>
            </a:endParaRPr>
          </a:p>
          <a:p>
            <a:pPr algn="ctr"/>
            <a:r>
              <a:rPr lang="en-US" sz="1179" b="1" dirty="0">
                <a:solidFill>
                  <a:prstClr val="black"/>
                </a:solidFill>
              </a:rPr>
              <a:t>Incremental $ Opportunity</a:t>
            </a:r>
          </a:p>
          <a:p>
            <a:pPr algn="ctr"/>
            <a:r>
              <a:rPr lang="en-US" sz="1179" b="1" dirty="0">
                <a:solidFill>
                  <a:prstClr val="black"/>
                </a:solidFill>
              </a:rPr>
              <a:t>2023 - 2033</a:t>
            </a:r>
          </a:p>
        </p:txBody>
      </p:sp>
      <p:sp>
        <p:nvSpPr>
          <p:cNvPr id="474" name="TextBox 292"/>
          <p:cNvSpPr txBox="1"/>
          <p:nvPr/>
        </p:nvSpPr>
        <p:spPr>
          <a:xfrm>
            <a:off x="7228567" y="3995932"/>
            <a:ext cx="55868" cy="2144824"/>
          </a:xfrm>
          <a:prstGeom prst="rect">
            <a:avLst/>
          </a:prstGeom>
          <a:solidFill>
            <a:schemeClr val="accent1"/>
          </a:solidFill>
          <a:effectLst/>
        </p:spPr>
        <p:style>
          <a:lnRef idx="0">
            <a:schemeClr val="accent2"/>
          </a:lnRef>
          <a:fillRef idx="3">
            <a:schemeClr val="accent2"/>
          </a:fillRef>
          <a:effectRef idx="3">
            <a:schemeClr val="accent2"/>
          </a:effectRef>
          <a:fontRef idx="minor">
            <a:schemeClr val="lt1"/>
          </a:fontRef>
        </p:style>
        <p:txBody>
          <a:bodyPr wrap="square" rtlCol="0" anchor="ctr">
            <a:noAutofit/>
          </a:bodyP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GB" sz="982" b="1" dirty="0">
              <a:solidFill>
                <a:sysClr val="windowText" lastClr="000000"/>
              </a:solidFill>
            </a:endParaRPr>
          </a:p>
        </p:txBody>
      </p:sp>
      <p:sp>
        <p:nvSpPr>
          <p:cNvPr id="475" name="TextBox 145"/>
          <p:cNvSpPr txBox="1"/>
          <p:nvPr/>
        </p:nvSpPr>
        <p:spPr>
          <a:xfrm>
            <a:off x="4593421" y="3713072"/>
            <a:ext cx="1291742" cy="947695"/>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3200" b="1" dirty="0"/>
              <a:t>XX</a:t>
            </a:r>
            <a:endParaRPr lang="en-US" sz="3144" b="1" dirty="0">
              <a:solidFill>
                <a:prstClr val="black"/>
              </a:solidFill>
            </a:endParaRPr>
          </a:p>
          <a:p>
            <a:pPr algn="ctr"/>
            <a:r>
              <a:rPr lang="en-US" sz="1179" b="1" dirty="0">
                <a:solidFill>
                  <a:prstClr val="black"/>
                </a:solidFill>
              </a:rPr>
              <a:t>Growth</a:t>
            </a:r>
          </a:p>
          <a:p>
            <a:pPr algn="ctr"/>
            <a:r>
              <a:rPr lang="en-US" sz="1179" b="1" dirty="0">
                <a:solidFill>
                  <a:prstClr val="black"/>
                </a:solidFill>
              </a:rPr>
              <a:t>2023 - 2033</a:t>
            </a:r>
          </a:p>
        </p:txBody>
      </p:sp>
      <p:sp>
        <p:nvSpPr>
          <p:cNvPr id="476" name="TextBox 146"/>
          <p:cNvSpPr txBox="1"/>
          <p:nvPr/>
        </p:nvSpPr>
        <p:spPr>
          <a:xfrm>
            <a:off x="7628974" y="5360012"/>
            <a:ext cx="2768961" cy="400110"/>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IN" sz="2000" b="1" dirty="0"/>
              <a:t>Xx </a:t>
            </a:r>
            <a:r>
              <a:rPr lang="en-US" sz="1572" b="1" dirty="0">
                <a:solidFill>
                  <a:prstClr val="black"/>
                </a:solidFill>
              </a:rPr>
              <a:t>(2034F)</a:t>
            </a:r>
          </a:p>
        </p:txBody>
      </p:sp>
      <p:sp>
        <p:nvSpPr>
          <p:cNvPr id="477" name="TextBox 147"/>
          <p:cNvSpPr txBox="1"/>
          <p:nvPr/>
        </p:nvSpPr>
        <p:spPr>
          <a:xfrm>
            <a:off x="7631502" y="4869943"/>
            <a:ext cx="2288398" cy="400110"/>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IN" sz="2000" b="1" dirty="0"/>
              <a:t>Xx </a:t>
            </a:r>
            <a:r>
              <a:rPr lang="en-US" sz="1572" b="1" dirty="0">
                <a:solidFill>
                  <a:prstClr val="black"/>
                </a:solidFill>
              </a:rPr>
              <a:t>(2024E)</a:t>
            </a:r>
          </a:p>
        </p:txBody>
      </p:sp>
      <p:sp>
        <p:nvSpPr>
          <p:cNvPr id="478" name="TextBox 151"/>
          <p:cNvSpPr txBox="1"/>
          <p:nvPr/>
        </p:nvSpPr>
        <p:spPr>
          <a:xfrm>
            <a:off x="7763358" y="4088829"/>
            <a:ext cx="3699179" cy="334259"/>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GB" sz="1572" b="1" dirty="0">
                <a:solidFill>
                  <a:prstClr val="black"/>
                </a:solidFill>
              </a:rPr>
              <a:t>WXYZ Market </a:t>
            </a:r>
            <a:r>
              <a:rPr lang="en-US" sz="1572" b="1" dirty="0">
                <a:solidFill>
                  <a:prstClr val="black"/>
                </a:solidFill>
              </a:rPr>
              <a:t>Volume (Tons)</a:t>
            </a:r>
          </a:p>
        </p:txBody>
      </p:sp>
      <p:pic>
        <p:nvPicPr>
          <p:cNvPr id="479" name="Picture 478"/>
          <p:cNvPicPr>
            <a:picLocks noChangeAspect="1"/>
          </p:cNvPicPr>
          <p:nvPr/>
        </p:nvPicPr>
        <p:blipFill>
          <a:blip r:embed="rId4"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5790291" y="3885195"/>
            <a:ext cx="573333" cy="581624"/>
          </a:xfrm>
          <a:prstGeom prst="rect">
            <a:avLst/>
          </a:prstGeom>
        </p:spPr>
      </p:pic>
      <p:grpSp>
        <p:nvGrpSpPr>
          <p:cNvPr id="480" name="Group 479"/>
          <p:cNvGrpSpPr/>
          <p:nvPr/>
        </p:nvGrpSpPr>
        <p:grpSpPr>
          <a:xfrm>
            <a:off x="10255825" y="4603620"/>
            <a:ext cx="1005448" cy="1132827"/>
            <a:chOff x="6615292" y="2096313"/>
            <a:chExt cx="1023376" cy="1153027"/>
          </a:xfrm>
        </p:grpSpPr>
        <p:sp>
          <p:nvSpPr>
            <p:cNvPr id="481" name="TextBox 594"/>
            <p:cNvSpPr txBox="1"/>
            <p:nvPr/>
          </p:nvSpPr>
          <p:spPr>
            <a:xfrm>
              <a:off x="6615292" y="2330852"/>
              <a:ext cx="959125" cy="407244"/>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000" b="1" spc="-147" dirty="0">
                  <a:solidFill>
                    <a:srgbClr val="2A5F8F">
                      <a:lumMod val="50000"/>
                    </a:srgbClr>
                  </a:solidFill>
                  <a:cs typeface="FrankRuehl" panose="020E0503060101010101" pitchFamily="34" charset="-79"/>
                </a:rPr>
                <a:t>CAGR </a:t>
              </a:r>
            </a:p>
          </p:txBody>
        </p:sp>
        <p:sp>
          <p:nvSpPr>
            <p:cNvPr id="482" name="TextBox 595"/>
            <p:cNvSpPr txBox="1"/>
            <p:nvPr/>
          </p:nvSpPr>
          <p:spPr>
            <a:xfrm>
              <a:off x="6667912" y="2716790"/>
              <a:ext cx="970756" cy="532550"/>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800" b="1" dirty="0">
                  <a:solidFill>
                    <a:srgbClr val="2A5F8F">
                      <a:lumMod val="50000"/>
                    </a:srgbClr>
                  </a:solidFill>
                  <a:latin typeface="Agency FB" panose="020B0503020202020204" pitchFamily="34" charset="0"/>
                </a:rPr>
                <a:t>xx%</a:t>
              </a:r>
            </a:p>
          </p:txBody>
        </p:sp>
        <p:sp>
          <p:nvSpPr>
            <p:cNvPr id="483" name="TextBox 596"/>
            <p:cNvSpPr txBox="1"/>
            <p:nvPr/>
          </p:nvSpPr>
          <p:spPr>
            <a:xfrm>
              <a:off x="6732162" y="2096313"/>
              <a:ext cx="858124" cy="212931"/>
            </a:xfrm>
            <a:prstGeom prst="rect">
              <a:avLst/>
            </a:prstGeom>
            <a:noFill/>
          </p:spPr>
          <p:txBody>
            <a:bodyPr wrap="square" lIns="0" tIns="0" rIns="0" bIns="0" rtlCol="0">
              <a:no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defTabSz="898398">
                <a:defRPr/>
              </a:pPr>
              <a:r>
                <a:rPr lang="en-GB" sz="1800" b="1" kern="0" dirty="0">
                  <a:solidFill>
                    <a:srgbClr val="2A5F8F">
                      <a:lumMod val="50000"/>
                    </a:srgbClr>
                  </a:solidFill>
                </a:rPr>
                <a:t>Volume</a:t>
              </a:r>
            </a:p>
          </p:txBody>
        </p:sp>
      </p:grpSp>
      <p:grpSp>
        <p:nvGrpSpPr>
          <p:cNvPr id="484" name="Group 483"/>
          <p:cNvGrpSpPr/>
          <p:nvPr/>
        </p:nvGrpSpPr>
        <p:grpSpPr>
          <a:xfrm>
            <a:off x="10896939" y="1965146"/>
            <a:ext cx="1295061" cy="1132827"/>
            <a:chOff x="6615292" y="2096313"/>
            <a:chExt cx="1023376" cy="1153027"/>
          </a:xfrm>
        </p:grpSpPr>
        <p:sp>
          <p:nvSpPr>
            <p:cNvPr id="485" name="TextBox 604"/>
            <p:cNvSpPr txBox="1"/>
            <p:nvPr/>
          </p:nvSpPr>
          <p:spPr>
            <a:xfrm>
              <a:off x="6615292" y="2330852"/>
              <a:ext cx="959125" cy="407245"/>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000" b="1" spc="-147" dirty="0">
                  <a:solidFill>
                    <a:srgbClr val="2A5F8F">
                      <a:lumMod val="50000"/>
                    </a:srgbClr>
                  </a:solidFill>
                  <a:cs typeface="FrankRuehl" panose="020E0503060101010101" pitchFamily="34" charset="-79"/>
                </a:rPr>
                <a:t>CAGR </a:t>
              </a:r>
            </a:p>
          </p:txBody>
        </p:sp>
        <p:sp>
          <p:nvSpPr>
            <p:cNvPr id="486" name="TextBox 605"/>
            <p:cNvSpPr txBox="1"/>
            <p:nvPr/>
          </p:nvSpPr>
          <p:spPr>
            <a:xfrm>
              <a:off x="6667912" y="2716790"/>
              <a:ext cx="970756" cy="532550"/>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800" b="1" dirty="0">
                  <a:solidFill>
                    <a:srgbClr val="2A5F8F">
                      <a:lumMod val="50000"/>
                    </a:srgbClr>
                  </a:solidFill>
                  <a:latin typeface="Agency FB" panose="020B0503020202020204" pitchFamily="34" charset="0"/>
                </a:rPr>
                <a:t>xx%</a:t>
              </a:r>
            </a:p>
          </p:txBody>
        </p:sp>
        <p:sp>
          <p:nvSpPr>
            <p:cNvPr id="487" name="TextBox 606"/>
            <p:cNvSpPr txBox="1"/>
            <p:nvPr/>
          </p:nvSpPr>
          <p:spPr>
            <a:xfrm>
              <a:off x="6732162" y="2096313"/>
              <a:ext cx="725385" cy="248712"/>
            </a:xfrm>
            <a:prstGeom prst="rect">
              <a:avLst/>
            </a:prstGeom>
            <a:noFill/>
          </p:spPr>
          <p:txBody>
            <a:bodyPr wrap="square" lIns="0" tIns="0" rIns="0" bIns="0" rtlCol="0">
              <a:no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defTabSz="898398">
                <a:defRPr/>
              </a:pPr>
              <a:r>
                <a:rPr lang="en-GB" sz="1800" b="1" kern="0" dirty="0">
                  <a:solidFill>
                    <a:srgbClr val="2A5F8F">
                      <a:lumMod val="50000"/>
                    </a:srgbClr>
                  </a:solidFill>
                </a:rPr>
                <a:t>Value</a:t>
              </a:r>
            </a:p>
          </p:txBody>
        </p:sp>
      </p:grpSp>
      <p:sp>
        <p:nvSpPr>
          <p:cNvPr id="488" name="TextBox 597"/>
          <p:cNvSpPr txBox="1"/>
          <p:nvPr/>
        </p:nvSpPr>
        <p:spPr>
          <a:xfrm>
            <a:off x="6248400" y="1131672"/>
            <a:ext cx="5791200" cy="502920"/>
          </a:xfrm>
          <a:prstGeom prst="rect">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pPr algn="ctr"/>
            <a:r>
              <a:rPr lang="en-GB" sz="1376" b="1" dirty="0">
                <a:solidFill>
                  <a:prstClr val="black"/>
                </a:solidFill>
              </a:rPr>
              <a:t>North America WXYZ Market Incremental $ Opportunity, 2019 and 2023-2034</a:t>
            </a:r>
          </a:p>
        </p:txBody>
      </p:sp>
      <p:cxnSp>
        <p:nvCxnSpPr>
          <p:cNvPr id="489" name="Straight Connector 488"/>
          <p:cNvCxnSpPr/>
          <p:nvPr/>
        </p:nvCxnSpPr>
        <p:spPr>
          <a:xfrm>
            <a:off x="7714740" y="5300649"/>
            <a:ext cx="1848801" cy="0"/>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491" name="Content Placeholder 13"/>
          <p:cNvGraphicFramePr>
            <a:graphicFrameLocks/>
          </p:cNvGraphicFramePr>
          <p:nvPr>
            <p:extLst>
              <p:ext uri="{D42A27DB-BD31-4B8C-83A1-F6EECF244321}">
                <p14:modId xmlns:p14="http://schemas.microsoft.com/office/powerpoint/2010/main" val="521968139"/>
              </p:ext>
            </p:extLst>
          </p:nvPr>
        </p:nvGraphicFramePr>
        <p:xfrm>
          <a:off x="6512366" y="1694610"/>
          <a:ext cx="4585089" cy="1920875"/>
        </p:xfrm>
        <a:graphic>
          <a:graphicData uri="http://schemas.openxmlformats.org/drawingml/2006/chart">
            <c:chart xmlns:c="http://schemas.openxmlformats.org/drawingml/2006/chart" xmlns:r="http://schemas.openxmlformats.org/officeDocument/2006/relationships" r:id="rId5"/>
          </a:graphicData>
        </a:graphic>
      </p:graphicFrame>
      <p:sp>
        <p:nvSpPr>
          <p:cNvPr id="493" name="TextBox 49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208</a:t>
            </a:fld>
            <a:endParaRPr lang="en-GB" dirty="0"/>
          </a:p>
        </p:txBody>
      </p:sp>
    </p:spTree>
    <p:extLst>
      <p:ext uri="{BB962C8B-B14F-4D97-AF65-F5344CB8AC3E}">
        <p14:creationId xmlns:p14="http://schemas.microsoft.com/office/powerpoint/2010/main" val="2832506974"/>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North America WXYZ Market Analysis By Country</a:t>
            </a:r>
          </a:p>
        </p:txBody>
      </p:sp>
      <p:sp>
        <p:nvSpPr>
          <p:cNvPr id="7" name="Text Placeholder 6"/>
          <p:cNvSpPr>
            <a:spLocks noGrp="1"/>
          </p:cNvSpPr>
          <p:nvPr>
            <p:ph type="body" idx="12"/>
          </p:nvPr>
        </p:nvSpPr>
        <p:spPr/>
        <p:txBody>
          <a:bodyPr/>
          <a:lstStyle/>
          <a:p>
            <a:r>
              <a:rPr lang="en-US" sz="1100" dirty="0"/>
              <a:t>Figure XX: North America WXYZ Market Share and BPS Analysis By Country, 2024 &amp; 2034</a:t>
            </a:r>
          </a:p>
        </p:txBody>
      </p:sp>
      <p:sp>
        <p:nvSpPr>
          <p:cNvPr id="9" name="Text Placeholder 8"/>
          <p:cNvSpPr>
            <a:spLocks noGrp="1"/>
          </p:cNvSpPr>
          <p:nvPr>
            <p:ph type="body" idx="14"/>
          </p:nvPr>
        </p:nvSpPr>
        <p:spPr/>
        <p:txBody>
          <a:bodyPr/>
          <a:lstStyle/>
          <a:p>
            <a:r>
              <a:rPr lang="en-US" sz="1100" dirty="0"/>
              <a:t>Figure XX: North America WXYZ Market Y-o-Y Growth Projections By Country, 2024 – 2034</a:t>
            </a:r>
          </a:p>
        </p:txBody>
      </p:sp>
      <p:sp>
        <p:nvSpPr>
          <p:cNvPr id="11" name="Text Placeholder 10"/>
          <p:cNvSpPr>
            <a:spLocks noGrp="1"/>
          </p:cNvSpPr>
          <p:nvPr>
            <p:ph type="body" idx="16"/>
          </p:nvPr>
        </p:nvSpPr>
        <p:spPr/>
        <p:txBody>
          <a:bodyPr/>
          <a:lstStyle/>
          <a:p>
            <a:r>
              <a:rPr lang="en-US" dirty="0"/>
              <a:t>Figure XX: North America WXYZ Market Attractiveness Analysis By Country, 2024 – 2034</a:t>
            </a:r>
          </a:p>
        </p:txBody>
      </p:sp>
      <p:sp>
        <p:nvSpPr>
          <p:cNvPr id="13" name="TextBox 1"/>
          <p:cNvSpPr txBox="1"/>
          <p:nvPr/>
        </p:nvSpPr>
        <p:spPr>
          <a:xfrm>
            <a:off x="790887" y="1664288"/>
            <a:ext cx="71013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XX </a:t>
            </a:r>
            <a:r>
              <a:rPr lang="en-US" sz="1200" b="1" dirty="0" err="1"/>
              <a:t>Mn</a:t>
            </a:r>
            <a:endParaRPr lang="en-US" sz="1200" b="1" dirty="0"/>
          </a:p>
        </p:txBody>
      </p:sp>
      <p:sp>
        <p:nvSpPr>
          <p:cNvPr id="14" name="TextBox 9"/>
          <p:cNvSpPr txBox="1"/>
          <p:nvPr/>
        </p:nvSpPr>
        <p:spPr>
          <a:xfrm>
            <a:off x="2652075" y="1664288"/>
            <a:ext cx="71013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XX </a:t>
            </a:r>
            <a:r>
              <a:rPr lang="en-US" sz="1200" b="1" dirty="0" err="1"/>
              <a:t>Mn</a:t>
            </a:r>
            <a:endParaRPr lang="en-US" sz="1200" b="1" dirty="0"/>
          </a:p>
        </p:txBody>
      </p:sp>
      <p:graphicFrame>
        <p:nvGraphicFramePr>
          <p:cNvPr id="22" name="Content Placeholder 17"/>
          <p:cNvGraphicFramePr>
            <a:graphicFrameLocks noGrp="1"/>
          </p:cNvGraphicFramePr>
          <p:nvPr>
            <p:ph idx="13"/>
            <p:extLst>
              <p:ext uri="{D42A27DB-BD31-4B8C-83A1-F6EECF244321}">
                <p14:modId xmlns:p14="http://schemas.microsoft.com/office/powerpoint/2010/main" val="191165868"/>
              </p:ext>
            </p:extLst>
          </p:nvPr>
        </p:nvGraphicFramePr>
        <p:xfrm>
          <a:off x="4513263" y="1612901"/>
          <a:ext cx="3109912" cy="4594225"/>
        </p:xfrm>
        <a:graphic>
          <a:graphicData uri="http://schemas.openxmlformats.org/drawingml/2006/chart">
            <c:chart xmlns:c="http://schemas.openxmlformats.org/drawingml/2006/chart" xmlns:r="http://schemas.openxmlformats.org/officeDocument/2006/relationships" r:id="rId2"/>
          </a:graphicData>
        </a:graphic>
      </p:graphicFrame>
      <p:sp>
        <p:nvSpPr>
          <p:cNvPr id="12" name="TextBox 1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5" name="Content Placeholder 19"/>
          <p:cNvGraphicFramePr>
            <a:graphicFrameLocks noGrp="1"/>
          </p:cNvGraphicFramePr>
          <p:nvPr>
            <p:ph idx="15"/>
            <p:extLst>
              <p:ext uri="{D42A27DB-BD31-4B8C-83A1-F6EECF244321}">
                <p14:modId xmlns:p14="http://schemas.microsoft.com/office/powerpoint/2010/main" val="3122944650"/>
              </p:ext>
            </p:extLst>
          </p:nvPr>
        </p:nvGraphicFramePr>
        <p:xfrm>
          <a:off x="8274050" y="1612900"/>
          <a:ext cx="3768725" cy="459422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Content Placeholder 14"/>
          <p:cNvGraphicFramePr>
            <a:graphicFrameLocks noGrp="1"/>
          </p:cNvGraphicFramePr>
          <p:nvPr>
            <p:ph idx="1"/>
            <p:extLst>
              <p:ext uri="{D42A27DB-BD31-4B8C-83A1-F6EECF244321}">
                <p14:modId xmlns:p14="http://schemas.microsoft.com/office/powerpoint/2010/main" val="2126885786"/>
              </p:ext>
            </p:extLst>
          </p:nvPr>
        </p:nvGraphicFramePr>
        <p:xfrm>
          <a:off x="152400" y="1612900"/>
          <a:ext cx="3768725" cy="4594225"/>
        </p:xfrm>
        <a:graphic>
          <a:graphicData uri="http://schemas.openxmlformats.org/drawingml/2006/chart">
            <c:chart xmlns:c="http://schemas.openxmlformats.org/drawingml/2006/chart" xmlns:r="http://schemas.openxmlformats.org/officeDocument/2006/relationships" r:id="rId4"/>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209</a:t>
            </a:fld>
            <a:endParaRPr lang="en-GB" dirty="0"/>
          </a:p>
        </p:txBody>
      </p:sp>
    </p:spTree>
    <p:extLst>
      <p:ext uri="{BB962C8B-B14F-4D97-AF65-F5344CB8AC3E}">
        <p14:creationId xmlns:p14="http://schemas.microsoft.com/office/powerpoint/2010/main" val="3303148677"/>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dirty="0"/>
              <a:t>North America WXYZ Market Analysis By Country</a:t>
            </a:r>
          </a:p>
        </p:txBody>
      </p:sp>
      <p:sp>
        <p:nvSpPr>
          <p:cNvPr id="11" name="Text Placeholder 10"/>
          <p:cNvSpPr>
            <a:spLocks noGrp="1"/>
          </p:cNvSpPr>
          <p:nvPr>
            <p:ph type="body" idx="12"/>
          </p:nvPr>
        </p:nvSpPr>
        <p:spPr/>
        <p:txBody>
          <a:bodyPr/>
          <a:lstStyle/>
          <a:p>
            <a:r>
              <a:rPr lang="en-US" sz="1400" dirty="0"/>
              <a:t>Table 05: North America WXYZ Market Size (US$ </a:t>
            </a:r>
            <a:r>
              <a:rPr lang="en-US" sz="1400" dirty="0" err="1"/>
              <a:t>Mn</a:t>
            </a:r>
            <a:r>
              <a:rPr lang="en-US" sz="1400" dirty="0"/>
              <a:t>) and Volume (Tons) Analysis and Forecast By Country, 2019 – 2034</a:t>
            </a:r>
          </a:p>
        </p:txBody>
      </p:sp>
      <p:graphicFrame>
        <p:nvGraphicFramePr>
          <p:cNvPr id="12" name="Content Placeholder 9"/>
          <p:cNvGraphicFramePr>
            <a:graphicFrameLocks/>
          </p:cNvGraphicFramePr>
          <p:nvPr>
            <p:extLst>
              <p:ext uri="{D42A27DB-BD31-4B8C-83A1-F6EECF244321}">
                <p14:modId xmlns:p14="http://schemas.microsoft.com/office/powerpoint/2010/main" val="1242968065"/>
              </p:ext>
            </p:extLst>
          </p:nvPr>
        </p:nvGraphicFramePr>
        <p:xfrm>
          <a:off x="152399" y="1682529"/>
          <a:ext cx="11887207" cy="3802561"/>
        </p:xfrm>
        <a:graphic>
          <a:graphicData uri="http://schemas.openxmlformats.org/drawingml/2006/table">
            <a:tbl>
              <a:tblPr firstRow="1" bandRow="1">
                <a:tableStyleId>{5C22544A-7EE6-4342-B048-85BDC9FD1C3A}</a:tableStyleId>
              </a:tblPr>
              <a:tblGrid>
                <a:gridCol w="897220">
                  <a:extLst>
                    <a:ext uri="{9D8B030D-6E8A-4147-A177-3AD203B41FA5}">
                      <a16:colId xmlns:a16="http://schemas.microsoft.com/office/drawing/2014/main" val="20000"/>
                    </a:ext>
                  </a:extLst>
                </a:gridCol>
                <a:gridCol w="360618">
                  <a:extLst>
                    <a:ext uri="{9D8B030D-6E8A-4147-A177-3AD203B41FA5}">
                      <a16:colId xmlns:a16="http://schemas.microsoft.com/office/drawing/2014/main" val="20018"/>
                    </a:ext>
                  </a:extLst>
                </a:gridCol>
                <a:gridCol w="625257">
                  <a:extLst>
                    <a:ext uri="{9D8B030D-6E8A-4147-A177-3AD203B41FA5}">
                      <a16:colId xmlns:a16="http://schemas.microsoft.com/office/drawing/2014/main" val="20001"/>
                    </a:ext>
                  </a:extLst>
                </a:gridCol>
                <a:gridCol w="625257">
                  <a:extLst>
                    <a:ext uri="{9D8B030D-6E8A-4147-A177-3AD203B41FA5}">
                      <a16:colId xmlns:a16="http://schemas.microsoft.com/office/drawing/2014/main" val="20002"/>
                    </a:ext>
                  </a:extLst>
                </a:gridCol>
                <a:gridCol w="625257">
                  <a:extLst>
                    <a:ext uri="{9D8B030D-6E8A-4147-A177-3AD203B41FA5}">
                      <a16:colId xmlns:a16="http://schemas.microsoft.com/office/drawing/2014/main" val="20003"/>
                    </a:ext>
                  </a:extLst>
                </a:gridCol>
                <a:gridCol w="625257">
                  <a:extLst>
                    <a:ext uri="{9D8B030D-6E8A-4147-A177-3AD203B41FA5}">
                      <a16:colId xmlns:a16="http://schemas.microsoft.com/office/drawing/2014/main" val="20004"/>
                    </a:ext>
                  </a:extLst>
                </a:gridCol>
                <a:gridCol w="625257">
                  <a:extLst>
                    <a:ext uri="{9D8B030D-6E8A-4147-A177-3AD203B41FA5}">
                      <a16:colId xmlns:a16="http://schemas.microsoft.com/office/drawing/2014/main" val="20005"/>
                    </a:ext>
                  </a:extLst>
                </a:gridCol>
                <a:gridCol w="625257">
                  <a:extLst>
                    <a:ext uri="{9D8B030D-6E8A-4147-A177-3AD203B41FA5}">
                      <a16:colId xmlns:a16="http://schemas.microsoft.com/office/drawing/2014/main" val="20006"/>
                    </a:ext>
                  </a:extLst>
                </a:gridCol>
                <a:gridCol w="625257">
                  <a:extLst>
                    <a:ext uri="{9D8B030D-6E8A-4147-A177-3AD203B41FA5}">
                      <a16:colId xmlns:a16="http://schemas.microsoft.com/office/drawing/2014/main" val="20007"/>
                    </a:ext>
                  </a:extLst>
                </a:gridCol>
                <a:gridCol w="625257">
                  <a:extLst>
                    <a:ext uri="{9D8B030D-6E8A-4147-A177-3AD203B41FA5}">
                      <a16:colId xmlns:a16="http://schemas.microsoft.com/office/drawing/2014/main" val="20008"/>
                    </a:ext>
                  </a:extLst>
                </a:gridCol>
                <a:gridCol w="625257">
                  <a:extLst>
                    <a:ext uri="{9D8B030D-6E8A-4147-A177-3AD203B41FA5}">
                      <a16:colId xmlns:a16="http://schemas.microsoft.com/office/drawing/2014/main" val="20009"/>
                    </a:ext>
                  </a:extLst>
                </a:gridCol>
                <a:gridCol w="625257">
                  <a:extLst>
                    <a:ext uri="{9D8B030D-6E8A-4147-A177-3AD203B41FA5}">
                      <a16:colId xmlns:a16="http://schemas.microsoft.com/office/drawing/2014/main" val="20010"/>
                    </a:ext>
                  </a:extLst>
                </a:gridCol>
                <a:gridCol w="625257">
                  <a:extLst>
                    <a:ext uri="{9D8B030D-6E8A-4147-A177-3AD203B41FA5}">
                      <a16:colId xmlns:a16="http://schemas.microsoft.com/office/drawing/2014/main" val="20011"/>
                    </a:ext>
                  </a:extLst>
                </a:gridCol>
                <a:gridCol w="625257">
                  <a:extLst>
                    <a:ext uri="{9D8B030D-6E8A-4147-A177-3AD203B41FA5}">
                      <a16:colId xmlns:a16="http://schemas.microsoft.com/office/drawing/2014/main" val="20012"/>
                    </a:ext>
                  </a:extLst>
                </a:gridCol>
                <a:gridCol w="625257">
                  <a:extLst>
                    <a:ext uri="{9D8B030D-6E8A-4147-A177-3AD203B41FA5}">
                      <a16:colId xmlns:a16="http://schemas.microsoft.com/office/drawing/2014/main" val="20013"/>
                    </a:ext>
                  </a:extLst>
                </a:gridCol>
                <a:gridCol w="625257">
                  <a:extLst>
                    <a:ext uri="{9D8B030D-6E8A-4147-A177-3AD203B41FA5}">
                      <a16:colId xmlns:a16="http://schemas.microsoft.com/office/drawing/2014/main" val="20014"/>
                    </a:ext>
                  </a:extLst>
                </a:gridCol>
                <a:gridCol w="625257">
                  <a:extLst>
                    <a:ext uri="{9D8B030D-6E8A-4147-A177-3AD203B41FA5}">
                      <a16:colId xmlns:a16="http://schemas.microsoft.com/office/drawing/2014/main" val="20015"/>
                    </a:ext>
                  </a:extLst>
                </a:gridCol>
                <a:gridCol w="625257">
                  <a:extLst>
                    <a:ext uri="{9D8B030D-6E8A-4147-A177-3AD203B41FA5}">
                      <a16:colId xmlns:a16="http://schemas.microsoft.com/office/drawing/2014/main" val="20016"/>
                    </a:ext>
                  </a:extLst>
                </a:gridCol>
                <a:gridCol w="625257">
                  <a:extLst>
                    <a:ext uri="{9D8B030D-6E8A-4147-A177-3AD203B41FA5}">
                      <a16:colId xmlns:a16="http://schemas.microsoft.com/office/drawing/2014/main" val="20017"/>
                    </a:ext>
                  </a:extLst>
                </a:gridCol>
              </a:tblGrid>
              <a:tr h="976265">
                <a:tc gridSpan="2">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dirty="0"/>
                        <a:t>Country</a:t>
                      </a:r>
                      <a:endParaRPr lang="en-US" sz="1100" b="1" i="0" baseline="0" dirty="0">
                        <a:solidFill>
                          <a:schemeClr val="tx1"/>
                        </a:solidFill>
                        <a:latin typeface="+mn-lt"/>
                      </a:endParaRPr>
                    </a:p>
                  </a:txBody>
                  <a:tcPr marR="0" marT="0" marB="0" anchor="ctr"/>
                </a:tc>
                <a:tc hMerge="1">
                  <a:txBody>
                    <a:bodyPr/>
                    <a:lstStyle/>
                    <a:p>
                      <a:pPr algn="ctr"/>
                      <a:endParaRPr lang="en-US" sz="10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353287">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algn="l" defTabSz="914400" rtl="0" eaLnBrk="1" latinLnBrk="0" hangingPunct="1"/>
                      <a:r>
                        <a:rPr lang="en-US" sz="1100" b="1" i="0" kern="1200" baseline="0" dirty="0">
                          <a:solidFill>
                            <a:prstClr val="black"/>
                          </a:solidFill>
                          <a:latin typeface="Calibri" panose="020F0502020204030204"/>
                          <a:ea typeface="Malgun Gothic" panose="020B0503020000020004" pitchFamily="34" charset="-127"/>
                          <a:cs typeface=""/>
                        </a:rPr>
                        <a:t>U.S.</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353287">
                <a:tc vMerge="1">
                  <a:txBody>
                    <a:bodyPr/>
                    <a:lstStyle/>
                    <a:p>
                      <a:endParaRPr lang="en-US" dirty="0"/>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353287">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100" b="1" i="0" kern="1200" baseline="0" dirty="0">
                          <a:solidFill>
                            <a:prstClr val="black"/>
                          </a:solidFill>
                          <a:latin typeface="+mn-lt"/>
                          <a:ea typeface="Malgun Gothic" panose="020B0503020000020004" pitchFamily="34" charset="-127"/>
                          <a:cs typeface=""/>
                        </a:rPr>
                        <a:t>Canada</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353287">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353287">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100" b="1" i="0" kern="1200" baseline="0" dirty="0">
                          <a:solidFill>
                            <a:prstClr val="black"/>
                          </a:solidFill>
                          <a:latin typeface="+mn-lt"/>
                          <a:ea typeface="Malgun Gothic" panose="020B0503020000020004" pitchFamily="34" charset="-127"/>
                          <a:cs typeface=""/>
                        </a:rPr>
                        <a:t>Mexico</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305825266"/>
                  </a:ext>
                </a:extLst>
              </a:tr>
              <a:tr h="353287">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100" b="1" i="0" kern="1200" baseline="0" dirty="0">
                        <a:solidFill>
                          <a:prstClr val="black"/>
                        </a:solidFill>
                        <a:latin typeface="+mn-lt"/>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523335598"/>
                  </a:ext>
                </a:extLst>
              </a:tr>
              <a:tr h="353287">
                <a:tc rowSpan="2">
                  <a:txBody>
                    <a:bodyPr/>
                    <a:lstStyle/>
                    <a:p>
                      <a:pPr algn="l"/>
                      <a:r>
                        <a:rPr lang="en-IN" sz="1100" b="1" i="0" baseline="0" dirty="0">
                          <a:latin typeface="+mn-lt"/>
                        </a:rPr>
                        <a:t>Total</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5"/>
                  </a:ext>
                </a:extLst>
              </a:tr>
              <a:tr h="353287">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210</a:t>
            </a:fld>
            <a:endParaRPr lang="en-GB" dirty="0"/>
          </a:p>
        </p:txBody>
      </p:sp>
    </p:spTree>
    <p:extLst>
      <p:ext uri="{BB962C8B-B14F-4D97-AF65-F5344CB8AC3E}">
        <p14:creationId xmlns:p14="http://schemas.microsoft.com/office/powerpoint/2010/main" val="3324994588"/>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North America WXYZ Market Absolute $ Opportunity Analysis By Country</a:t>
            </a:r>
            <a:endParaRPr lang="en-IN" dirty="0"/>
          </a:p>
        </p:txBody>
      </p:sp>
      <p:sp>
        <p:nvSpPr>
          <p:cNvPr id="5" name="Text Placeholder 4"/>
          <p:cNvSpPr>
            <a:spLocks noGrp="1"/>
          </p:cNvSpPr>
          <p:nvPr>
            <p:ph type="body" idx="12"/>
          </p:nvPr>
        </p:nvSpPr>
        <p:spPr>
          <a:noFill/>
        </p:spPr>
        <p:txBody>
          <a:bodyPr anchor="ctr"/>
          <a:lstStyle/>
          <a:p>
            <a:r>
              <a:rPr lang="en-US" dirty="0"/>
              <a:t>FIG: North America Incremental $ Opportunity By Country, 2024-2034</a:t>
            </a:r>
          </a:p>
        </p:txBody>
      </p:sp>
      <p:sp>
        <p:nvSpPr>
          <p:cNvPr id="6" name="Text Placeholder 5"/>
          <p:cNvSpPr>
            <a:spLocks noGrp="1"/>
          </p:cNvSpPr>
          <p:nvPr>
            <p:ph type="body" idx="14"/>
          </p:nvPr>
        </p:nvSpPr>
        <p:spPr>
          <a:noFill/>
        </p:spPr>
        <p:txBody>
          <a:bodyPr vert="horz" lIns="91440" tIns="91440" rIns="91440" bIns="91440" rtlCol="0" anchor="ctr">
            <a:noAutofit/>
          </a:bodyPr>
          <a:lstStyle/>
          <a:p>
            <a:pPr algn="ctr"/>
            <a:r>
              <a:rPr lang="en-US" dirty="0"/>
              <a:t>Key Takeaways</a:t>
            </a:r>
          </a:p>
        </p:txBody>
      </p:sp>
      <p:graphicFrame>
        <p:nvGraphicFramePr>
          <p:cNvPr id="10" name="Content Placeholder 13"/>
          <p:cNvGraphicFramePr>
            <a:graphicFrameLocks noGrp="1"/>
          </p:cNvGraphicFramePr>
          <p:nvPr>
            <p:ph idx="1"/>
            <p:extLst>
              <p:ext uri="{D42A27DB-BD31-4B8C-83A1-F6EECF244321}">
                <p14:modId xmlns:p14="http://schemas.microsoft.com/office/powerpoint/2010/main" val="2762924584"/>
              </p:ext>
            </p:extLst>
          </p:nvPr>
        </p:nvGraphicFramePr>
        <p:xfrm>
          <a:off x="152400" y="1612900"/>
          <a:ext cx="5764213" cy="4594225"/>
        </p:xfrm>
        <a:graphic>
          <a:graphicData uri="http://schemas.openxmlformats.org/drawingml/2006/chart">
            <c:chart xmlns:c="http://schemas.openxmlformats.org/drawingml/2006/chart" xmlns:r="http://schemas.openxmlformats.org/officeDocument/2006/relationships" r:id="rId2"/>
          </a:graphicData>
        </a:graphic>
      </p:graphicFrame>
      <p:pic>
        <p:nvPicPr>
          <p:cNvPr id="12" name="Picture 11"/>
          <p:cNvPicPr>
            <a:picLocks noChangeAspect="1"/>
          </p:cNvPicPr>
          <p:nvPr/>
        </p:nvPicPr>
        <p:blipFill>
          <a:blip r:embed="rId3"/>
          <a:stretch>
            <a:fillRect/>
          </a:stretch>
        </p:blipFill>
        <p:spPr>
          <a:xfrm>
            <a:off x="6278580" y="1640032"/>
            <a:ext cx="5761020" cy="4399280"/>
          </a:xfrm>
          <a:prstGeom prst="rect">
            <a:avLst/>
          </a:prstGeom>
        </p:spPr>
      </p:pic>
      <p:sp>
        <p:nvSpPr>
          <p:cNvPr id="13" name="TextBox 1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211</a:t>
            </a:fld>
            <a:endParaRPr lang="en-GB" dirty="0"/>
          </a:p>
        </p:txBody>
      </p:sp>
    </p:spTree>
    <p:extLst>
      <p:ext uri="{BB962C8B-B14F-4D97-AF65-F5344CB8AC3E}">
        <p14:creationId xmlns:p14="http://schemas.microsoft.com/office/powerpoint/2010/main" val="2007418413"/>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212</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212</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Latin America WXYZ Market Analysis 2019 – 2023 and Forecast, 2024 – 2034</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212</a:t>
            </a:r>
          </a:p>
        </p:txBody>
      </p:sp>
    </p:spTree>
    <p:extLst>
      <p:ext uri="{BB962C8B-B14F-4D97-AF65-F5344CB8AC3E}">
        <p14:creationId xmlns:p14="http://schemas.microsoft.com/office/powerpoint/2010/main" val="1667440563"/>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Introduction</a:t>
            </a:r>
          </a:p>
        </p:txBody>
      </p:sp>
      <p:grpSp>
        <p:nvGrpSpPr>
          <p:cNvPr id="6" name="Group 5"/>
          <p:cNvGrpSpPr>
            <a:grpSpLocks/>
          </p:cNvGrpSpPr>
          <p:nvPr/>
        </p:nvGrpSpPr>
        <p:grpSpPr bwMode="auto">
          <a:xfrm>
            <a:off x="4199256" y="3530036"/>
            <a:ext cx="7519132" cy="2513907"/>
            <a:chOff x="96" y="1152"/>
            <a:chExt cx="5568" cy="2642"/>
          </a:xfrm>
          <a:solidFill>
            <a:srgbClr val="EBF2F9"/>
          </a:solidFill>
        </p:grpSpPr>
        <p:sp>
          <p:nvSpPr>
            <p:cNvPr id="7" name="Freeform 6"/>
            <p:cNvSpPr>
              <a:spLocks/>
            </p:cNvSpPr>
            <p:nvPr/>
          </p:nvSpPr>
          <p:spPr bwMode="auto">
            <a:xfrm>
              <a:off x="4358" y="2676"/>
              <a:ext cx="6" cy="5"/>
            </a:xfrm>
            <a:custGeom>
              <a:avLst/>
              <a:gdLst/>
              <a:ahLst/>
              <a:cxnLst>
                <a:cxn ang="0">
                  <a:pos x="6" y="1"/>
                </a:cxn>
                <a:cxn ang="0">
                  <a:pos x="0" y="2"/>
                </a:cxn>
                <a:cxn ang="0">
                  <a:pos x="0" y="0"/>
                </a:cxn>
                <a:cxn ang="0">
                  <a:pos x="6" y="1"/>
                </a:cxn>
              </a:cxnLst>
              <a:rect l="0" t="0" r="r" b="b"/>
              <a:pathLst>
                <a:path w="6" h="2">
                  <a:moveTo>
                    <a:pt x="6" y="1"/>
                  </a:moveTo>
                  <a:lnTo>
                    <a:pt x="0" y="2"/>
                  </a:lnTo>
                  <a:lnTo>
                    <a:pt x="0" y="0"/>
                  </a:lnTo>
                  <a:lnTo>
                    <a:pt x="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 name="Freeform 7"/>
            <p:cNvSpPr>
              <a:spLocks/>
            </p:cNvSpPr>
            <p:nvPr/>
          </p:nvSpPr>
          <p:spPr bwMode="auto">
            <a:xfrm>
              <a:off x="4451" y="2619"/>
              <a:ext cx="175" cy="166"/>
            </a:xfrm>
            <a:custGeom>
              <a:avLst/>
              <a:gdLst/>
              <a:ahLst/>
              <a:cxnLst>
                <a:cxn ang="0">
                  <a:pos x="158" y="62"/>
                </a:cxn>
                <a:cxn ang="0">
                  <a:pos x="144" y="61"/>
                </a:cxn>
                <a:cxn ang="0">
                  <a:pos x="143" y="60"/>
                </a:cxn>
                <a:cxn ang="0">
                  <a:pos x="136" y="84"/>
                </a:cxn>
                <a:cxn ang="0">
                  <a:pos x="138" y="85"/>
                </a:cxn>
                <a:cxn ang="0">
                  <a:pos x="134" y="94"/>
                </a:cxn>
                <a:cxn ang="0">
                  <a:pos x="125" y="98"/>
                </a:cxn>
                <a:cxn ang="0">
                  <a:pos x="118" y="110"/>
                </a:cxn>
                <a:cxn ang="0">
                  <a:pos x="118" y="118"/>
                </a:cxn>
                <a:cxn ang="0">
                  <a:pos x="121" y="118"/>
                </a:cxn>
                <a:cxn ang="0">
                  <a:pos x="116" y="124"/>
                </a:cxn>
                <a:cxn ang="0">
                  <a:pos x="114" y="130"/>
                </a:cxn>
                <a:cxn ang="0">
                  <a:pos x="110" y="143"/>
                </a:cxn>
                <a:cxn ang="0">
                  <a:pos x="89" y="150"/>
                </a:cxn>
                <a:cxn ang="0">
                  <a:pos x="86" y="140"/>
                </a:cxn>
                <a:cxn ang="0">
                  <a:pos x="84" y="138"/>
                </a:cxn>
                <a:cxn ang="0">
                  <a:pos x="73" y="138"/>
                </a:cxn>
                <a:cxn ang="0">
                  <a:pos x="64" y="133"/>
                </a:cxn>
                <a:cxn ang="0">
                  <a:pos x="54" y="138"/>
                </a:cxn>
                <a:cxn ang="0">
                  <a:pos x="46" y="139"/>
                </a:cxn>
                <a:cxn ang="0">
                  <a:pos x="42" y="130"/>
                </a:cxn>
                <a:cxn ang="0">
                  <a:pos x="29" y="132"/>
                </a:cxn>
                <a:cxn ang="0">
                  <a:pos x="30" y="131"/>
                </a:cxn>
                <a:cxn ang="0">
                  <a:pos x="26" y="132"/>
                </a:cxn>
                <a:cxn ang="0">
                  <a:pos x="19" y="130"/>
                </a:cxn>
                <a:cxn ang="0">
                  <a:pos x="16" y="112"/>
                </a:cxn>
                <a:cxn ang="0">
                  <a:pos x="16" y="98"/>
                </a:cxn>
                <a:cxn ang="0">
                  <a:pos x="6" y="90"/>
                </a:cxn>
                <a:cxn ang="0">
                  <a:pos x="7" y="90"/>
                </a:cxn>
                <a:cxn ang="0">
                  <a:pos x="4" y="82"/>
                </a:cxn>
                <a:cxn ang="0">
                  <a:pos x="4" y="77"/>
                </a:cxn>
                <a:cxn ang="0">
                  <a:pos x="0" y="62"/>
                </a:cxn>
                <a:cxn ang="0">
                  <a:pos x="5" y="53"/>
                </a:cxn>
                <a:cxn ang="0">
                  <a:pos x="2" y="54"/>
                </a:cxn>
                <a:cxn ang="0">
                  <a:pos x="11" y="41"/>
                </a:cxn>
                <a:cxn ang="0">
                  <a:pos x="14" y="53"/>
                </a:cxn>
                <a:cxn ang="0">
                  <a:pos x="30" y="62"/>
                </a:cxn>
                <a:cxn ang="0">
                  <a:pos x="50" y="58"/>
                </a:cxn>
                <a:cxn ang="0">
                  <a:pos x="56" y="50"/>
                </a:cxn>
                <a:cxn ang="0">
                  <a:pos x="77" y="55"/>
                </a:cxn>
                <a:cxn ang="0">
                  <a:pos x="90" y="49"/>
                </a:cxn>
                <a:cxn ang="0">
                  <a:pos x="97" y="34"/>
                </a:cxn>
                <a:cxn ang="0">
                  <a:pos x="101" y="25"/>
                </a:cxn>
                <a:cxn ang="0">
                  <a:pos x="104" y="12"/>
                </a:cxn>
                <a:cxn ang="0">
                  <a:pos x="108" y="0"/>
                </a:cxn>
                <a:cxn ang="0">
                  <a:pos x="122" y="1"/>
                </a:cxn>
                <a:cxn ang="0">
                  <a:pos x="136" y="4"/>
                </a:cxn>
                <a:cxn ang="0">
                  <a:pos x="134" y="6"/>
                </a:cxn>
                <a:cxn ang="0">
                  <a:pos x="134" y="7"/>
                </a:cxn>
                <a:cxn ang="0">
                  <a:pos x="138" y="13"/>
                </a:cxn>
                <a:cxn ang="0">
                  <a:pos x="134" y="12"/>
                </a:cxn>
                <a:cxn ang="0">
                  <a:pos x="130" y="13"/>
                </a:cxn>
                <a:cxn ang="0">
                  <a:pos x="132" y="20"/>
                </a:cxn>
                <a:cxn ang="0">
                  <a:pos x="144" y="38"/>
                </a:cxn>
                <a:cxn ang="0">
                  <a:pos x="142" y="44"/>
                </a:cxn>
                <a:cxn ang="0">
                  <a:pos x="150" y="53"/>
                </a:cxn>
                <a:cxn ang="0">
                  <a:pos x="158" y="62"/>
                </a:cxn>
              </a:cxnLst>
              <a:rect l="0" t="0" r="r" b="b"/>
              <a:pathLst>
                <a:path w="158" h="150">
                  <a:moveTo>
                    <a:pt x="158" y="62"/>
                  </a:moveTo>
                  <a:lnTo>
                    <a:pt x="144" y="61"/>
                  </a:lnTo>
                  <a:lnTo>
                    <a:pt x="143" y="60"/>
                  </a:lnTo>
                  <a:lnTo>
                    <a:pt x="136" y="84"/>
                  </a:lnTo>
                  <a:lnTo>
                    <a:pt x="138" y="85"/>
                  </a:lnTo>
                  <a:lnTo>
                    <a:pt x="134" y="94"/>
                  </a:lnTo>
                  <a:lnTo>
                    <a:pt x="125" y="98"/>
                  </a:lnTo>
                  <a:lnTo>
                    <a:pt x="118" y="110"/>
                  </a:lnTo>
                  <a:lnTo>
                    <a:pt x="118" y="118"/>
                  </a:lnTo>
                  <a:lnTo>
                    <a:pt x="121" y="118"/>
                  </a:lnTo>
                  <a:lnTo>
                    <a:pt x="116" y="124"/>
                  </a:lnTo>
                  <a:lnTo>
                    <a:pt x="114" y="130"/>
                  </a:lnTo>
                  <a:lnTo>
                    <a:pt x="110" y="143"/>
                  </a:lnTo>
                  <a:lnTo>
                    <a:pt x="89" y="150"/>
                  </a:lnTo>
                  <a:lnTo>
                    <a:pt x="86" y="140"/>
                  </a:lnTo>
                  <a:lnTo>
                    <a:pt x="84" y="138"/>
                  </a:lnTo>
                  <a:lnTo>
                    <a:pt x="73" y="138"/>
                  </a:lnTo>
                  <a:lnTo>
                    <a:pt x="64" y="133"/>
                  </a:lnTo>
                  <a:lnTo>
                    <a:pt x="54" y="138"/>
                  </a:lnTo>
                  <a:lnTo>
                    <a:pt x="46" y="139"/>
                  </a:lnTo>
                  <a:lnTo>
                    <a:pt x="42" y="130"/>
                  </a:lnTo>
                  <a:lnTo>
                    <a:pt x="29" y="132"/>
                  </a:lnTo>
                  <a:lnTo>
                    <a:pt x="30" y="131"/>
                  </a:lnTo>
                  <a:lnTo>
                    <a:pt x="26" y="132"/>
                  </a:lnTo>
                  <a:lnTo>
                    <a:pt x="19" y="130"/>
                  </a:lnTo>
                  <a:lnTo>
                    <a:pt x="16" y="112"/>
                  </a:lnTo>
                  <a:lnTo>
                    <a:pt x="16" y="98"/>
                  </a:lnTo>
                  <a:lnTo>
                    <a:pt x="6" y="90"/>
                  </a:lnTo>
                  <a:lnTo>
                    <a:pt x="7" y="90"/>
                  </a:lnTo>
                  <a:lnTo>
                    <a:pt x="4" y="82"/>
                  </a:lnTo>
                  <a:lnTo>
                    <a:pt x="4" y="77"/>
                  </a:lnTo>
                  <a:lnTo>
                    <a:pt x="0" y="62"/>
                  </a:lnTo>
                  <a:lnTo>
                    <a:pt x="5" y="53"/>
                  </a:lnTo>
                  <a:lnTo>
                    <a:pt x="2" y="54"/>
                  </a:lnTo>
                  <a:lnTo>
                    <a:pt x="11" y="41"/>
                  </a:lnTo>
                  <a:lnTo>
                    <a:pt x="14" y="53"/>
                  </a:lnTo>
                  <a:lnTo>
                    <a:pt x="30" y="62"/>
                  </a:lnTo>
                  <a:lnTo>
                    <a:pt x="50" y="58"/>
                  </a:lnTo>
                  <a:lnTo>
                    <a:pt x="56" y="50"/>
                  </a:lnTo>
                  <a:lnTo>
                    <a:pt x="77" y="55"/>
                  </a:lnTo>
                  <a:lnTo>
                    <a:pt x="90" y="49"/>
                  </a:lnTo>
                  <a:lnTo>
                    <a:pt x="97" y="34"/>
                  </a:lnTo>
                  <a:lnTo>
                    <a:pt x="101" y="25"/>
                  </a:lnTo>
                  <a:lnTo>
                    <a:pt x="104" y="12"/>
                  </a:lnTo>
                  <a:lnTo>
                    <a:pt x="108" y="0"/>
                  </a:lnTo>
                  <a:lnTo>
                    <a:pt x="122" y="1"/>
                  </a:lnTo>
                  <a:lnTo>
                    <a:pt x="136" y="4"/>
                  </a:lnTo>
                  <a:lnTo>
                    <a:pt x="134" y="6"/>
                  </a:lnTo>
                  <a:lnTo>
                    <a:pt x="134" y="7"/>
                  </a:lnTo>
                  <a:lnTo>
                    <a:pt x="138" y="13"/>
                  </a:lnTo>
                  <a:lnTo>
                    <a:pt x="134" y="12"/>
                  </a:lnTo>
                  <a:lnTo>
                    <a:pt x="130" y="13"/>
                  </a:lnTo>
                  <a:lnTo>
                    <a:pt x="132" y="20"/>
                  </a:lnTo>
                  <a:lnTo>
                    <a:pt x="144" y="38"/>
                  </a:lnTo>
                  <a:lnTo>
                    <a:pt x="142" y="44"/>
                  </a:lnTo>
                  <a:lnTo>
                    <a:pt x="150" y="53"/>
                  </a:lnTo>
                  <a:lnTo>
                    <a:pt x="158" y="6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 name="Freeform 8"/>
            <p:cNvSpPr>
              <a:spLocks/>
            </p:cNvSpPr>
            <p:nvPr/>
          </p:nvSpPr>
          <p:spPr bwMode="auto">
            <a:xfrm>
              <a:off x="4206" y="2594"/>
              <a:ext cx="194" cy="227"/>
            </a:xfrm>
            <a:custGeom>
              <a:avLst/>
              <a:gdLst/>
              <a:ahLst/>
              <a:cxnLst>
                <a:cxn ang="0">
                  <a:pos x="173" y="158"/>
                </a:cxn>
                <a:cxn ang="0">
                  <a:pos x="172" y="160"/>
                </a:cxn>
                <a:cxn ang="0">
                  <a:pos x="170" y="182"/>
                </a:cxn>
                <a:cxn ang="0">
                  <a:pos x="167" y="204"/>
                </a:cxn>
                <a:cxn ang="0">
                  <a:pos x="160" y="198"/>
                </a:cxn>
                <a:cxn ang="0">
                  <a:pos x="159" y="202"/>
                </a:cxn>
                <a:cxn ang="0">
                  <a:pos x="150" y="200"/>
                </a:cxn>
                <a:cxn ang="0">
                  <a:pos x="150" y="204"/>
                </a:cxn>
                <a:cxn ang="0">
                  <a:pos x="135" y="189"/>
                </a:cxn>
                <a:cxn ang="0">
                  <a:pos x="126" y="180"/>
                </a:cxn>
                <a:cxn ang="0">
                  <a:pos x="118" y="172"/>
                </a:cxn>
                <a:cxn ang="0">
                  <a:pos x="110" y="164"/>
                </a:cxn>
                <a:cxn ang="0">
                  <a:pos x="101" y="154"/>
                </a:cxn>
                <a:cxn ang="0">
                  <a:pos x="94" y="140"/>
                </a:cxn>
                <a:cxn ang="0">
                  <a:pos x="87" y="125"/>
                </a:cxn>
                <a:cxn ang="0">
                  <a:pos x="84" y="123"/>
                </a:cxn>
                <a:cxn ang="0">
                  <a:pos x="76" y="110"/>
                </a:cxn>
                <a:cxn ang="0">
                  <a:pos x="68" y="96"/>
                </a:cxn>
                <a:cxn ang="0">
                  <a:pos x="63" y="84"/>
                </a:cxn>
                <a:cxn ang="0">
                  <a:pos x="58" y="72"/>
                </a:cxn>
                <a:cxn ang="0">
                  <a:pos x="45" y="59"/>
                </a:cxn>
                <a:cxn ang="0">
                  <a:pos x="35" y="45"/>
                </a:cxn>
                <a:cxn ang="0">
                  <a:pos x="23" y="33"/>
                </a:cxn>
                <a:cxn ang="0">
                  <a:pos x="11" y="21"/>
                </a:cxn>
                <a:cxn ang="0">
                  <a:pos x="0" y="0"/>
                </a:cxn>
                <a:cxn ang="0">
                  <a:pos x="11" y="2"/>
                </a:cxn>
                <a:cxn ang="0">
                  <a:pos x="23" y="4"/>
                </a:cxn>
                <a:cxn ang="0">
                  <a:pos x="35" y="6"/>
                </a:cxn>
                <a:cxn ang="0">
                  <a:pos x="50" y="23"/>
                </a:cxn>
                <a:cxn ang="0">
                  <a:pos x="51" y="27"/>
                </a:cxn>
                <a:cxn ang="0">
                  <a:pos x="65" y="40"/>
                </a:cxn>
                <a:cxn ang="0">
                  <a:pos x="80" y="52"/>
                </a:cxn>
                <a:cxn ang="0">
                  <a:pos x="92" y="65"/>
                </a:cxn>
                <a:cxn ang="0">
                  <a:pos x="90" y="59"/>
                </a:cxn>
                <a:cxn ang="0">
                  <a:pos x="105" y="70"/>
                </a:cxn>
                <a:cxn ang="0">
                  <a:pos x="113" y="81"/>
                </a:cxn>
                <a:cxn ang="0">
                  <a:pos x="128" y="90"/>
                </a:cxn>
                <a:cxn ang="0">
                  <a:pos x="130" y="92"/>
                </a:cxn>
                <a:cxn ang="0">
                  <a:pos x="140" y="100"/>
                </a:cxn>
                <a:cxn ang="0">
                  <a:pos x="132" y="104"/>
                </a:cxn>
                <a:cxn ang="0">
                  <a:pos x="134" y="107"/>
                </a:cxn>
                <a:cxn ang="0">
                  <a:pos x="132" y="110"/>
                </a:cxn>
                <a:cxn ang="0">
                  <a:pos x="135" y="116"/>
                </a:cxn>
                <a:cxn ang="0">
                  <a:pos x="147" y="118"/>
                </a:cxn>
                <a:cxn ang="0">
                  <a:pos x="150" y="131"/>
                </a:cxn>
                <a:cxn ang="0">
                  <a:pos x="153" y="136"/>
                </a:cxn>
                <a:cxn ang="0">
                  <a:pos x="153" y="143"/>
                </a:cxn>
                <a:cxn ang="0">
                  <a:pos x="166" y="143"/>
                </a:cxn>
                <a:cxn ang="0">
                  <a:pos x="173" y="158"/>
                </a:cxn>
              </a:cxnLst>
              <a:rect l="0" t="0" r="r" b="b"/>
              <a:pathLst>
                <a:path w="173" h="204">
                  <a:moveTo>
                    <a:pt x="173" y="158"/>
                  </a:moveTo>
                  <a:lnTo>
                    <a:pt x="172" y="160"/>
                  </a:lnTo>
                  <a:lnTo>
                    <a:pt x="170" y="182"/>
                  </a:lnTo>
                  <a:lnTo>
                    <a:pt x="167" y="204"/>
                  </a:lnTo>
                  <a:lnTo>
                    <a:pt x="160" y="198"/>
                  </a:lnTo>
                  <a:lnTo>
                    <a:pt x="159" y="202"/>
                  </a:lnTo>
                  <a:lnTo>
                    <a:pt x="150" y="200"/>
                  </a:lnTo>
                  <a:lnTo>
                    <a:pt x="150" y="204"/>
                  </a:lnTo>
                  <a:lnTo>
                    <a:pt x="135" y="189"/>
                  </a:lnTo>
                  <a:lnTo>
                    <a:pt x="126" y="180"/>
                  </a:lnTo>
                  <a:lnTo>
                    <a:pt x="118" y="172"/>
                  </a:lnTo>
                  <a:lnTo>
                    <a:pt x="110" y="164"/>
                  </a:lnTo>
                  <a:lnTo>
                    <a:pt x="101" y="154"/>
                  </a:lnTo>
                  <a:lnTo>
                    <a:pt x="94" y="140"/>
                  </a:lnTo>
                  <a:lnTo>
                    <a:pt x="87" y="125"/>
                  </a:lnTo>
                  <a:lnTo>
                    <a:pt x="84" y="123"/>
                  </a:lnTo>
                  <a:lnTo>
                    <a:pt x="76" y="110"/>
                  </a:lnTo>
                  <a:lnTo>
                    <a:pt x="68" y="96"/>
                  </a:lnTo>
                  <a:lnTo>
                    <a:pt x="63" y="84"/>
                  </a:lnTo>
                  <a:lnTo>
                    <a:pt x="58" y="72"/>
                  </a:lnTo>
                  <a:lnTo>
                    <a:pt x="45" y="59"/>
                  </a:lnTo>
                  <a:lnTo>
                    <a:pt x="35" y="45"/>
                  </a:lnTo>
                  <a:lnTo>
                    <a:pt x="23" y="33"/>
                  </a:lnTo>
                  <a:lnTo>
                    <a:pt x="11" y="21"/>
                  </a:lnTo>
                  <a:lnTo>
                    <a:pt x="0" y="0"/>
                  </a:lnTo>
                  <a:lnTo>
                    <a:pt x="11" y="2"/>
                  </a:lnTo>
                  <a:lnTo>
                    <a:pt x="23" y="4"/>
                  </a:lnTo>
                  <a:lnTo>
                    <a:pt x="35" y="6"/>
                  </a:lnTo>
                  <a:lnTo>
                    <a:pt x="50" y="23"/>
                  </a:lnTo>
                  <a:lnTo>
                    <a:pt x="51" y="27"/>
                  </a:lnTo>
                  <a:lnTo>
                    <a:pt x="65" y="40"/>
                  </a:lnTo>
                  <a:lnTo>
                    <a:pt x="80" y="52"/>
                  </a:lnTo>
                  <a:lnTo>
                    <a:pt x="92" y="65"/>
                  </a:lnTo>
                  <a:lnTo>
                    <a:pt x="90" y="59"/>
                  </a:lnTo>
                  <a:lnTo>
                    <a:pt x="105" y="70"/>
                  </a:lnTo>
                  <a:lnTo>
                    <a:pt x="113" y="81"/>
                  </a:lnTo>
                  <a:lnTo>
                    <a:pt x="128" y="90"/>
                  </a:lnTo>
                  <a:lnTo>
                    <a:pt x="130" y="92"/>
                  </a:lnTo>
                  <a:lnTo>
                    <a:pt x="140" y="100"/>
                  </a:lnTo>
                  <a:lnTo>
                    <a:pt x="132" y="104"/>
                  </a:lnTo>
                  <a:lnTo>
                    <a:pt x="134" y="107"/>
                  </a:lnTo>
                  <a:lnTo>
                    <a:pt x="132" y="110"/>
                  </a:lnTo>
                  <a:lnTo>
                    <a:pt x="135" y="116"/>
                  </a:lnTo>
                  <a:lnTo>
                    <a:pt x="147" y="118"/>
                  </a:lnTo>
                  <a:lnTo>
                    <a:pt x="150" y="131"/>
                  </a:lnTo>
                  <a:lnTo>
                    <a:pt x="153" y="136"/>
                  </a:lnTo>
                  <a:lnTo>
                    <a:pt x="153" y="143"/>
                  </a:lnTo>
                  <a:lnTo>
                    <a:pt x="166" y="143"/>
                  </a:lnTo>
                  <a:lnTo>
                    <a:pt x="173" y="15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 name="Freeform 9"/>
            <p:cNvSpPr>
              <a:spLocks/>
            </p:cNvSpPr>
            <p:nvPr/>
          </p:nvSpPr>
          <p:spPr bwMode="auto">
            <a:xfrm>
              <a:off x="4842" y="2714"/>
              <a:ext cx="173" cy="173"/>
            </a:xfrm>
            <a:custGeom>
              <a:avLst/>
              <a:gdLst/>
              <a:ahLst/>
              <a:cxnLst>
                <a:cxn ang="0">
                  <a:pos x="118" y="132"/>
                </a:cxn>
                <a:cxn ang="0">
                  <a:pos x="122" y="138"/>
                </a:cxn>
                <a:cxn ang="0">
                  <a:pos x="139" y="147"/>
                </a:cxn>
                <a:cxn ang="0">
                  <a:pos x="150" y="142"/>
                </a:cxn>
                <a:cxn ang="0">
                  <a:pos x="152" y="113"/>
                </a:cxn>
                <a:cxn ang="0">
                  <a:pos x="154" y="84"/>
                </a:cxn>
                <a:cxn ang="0">
                  <a:pos x="156" y="54"/>
                </a:cxn>
                <a:cxn ang="0">
                  <a:pos x="145" y="37"/>
                </a:cxn>
                <a:cxn ang="0">
                  <a:pos x="106" y="19"/>
                </a:cxn>
                <a:cxn ang="0">
                  <a:pos x="81" y="36"/>
                </a:cxn>
                <a:cxn ang="0">
                  <a:pos x="58" y="47"/>
                </a:cxn>
                <a:cxn ang="0">
                  <a:pos x="51" y="42"/>
                </a:cxn>
                <a:cxn ang="0">
                  <a:pos x="48" y="13"/>
                </a:cxn>
                <a:cxn ang="0">
                  <a:pos x="31" y="4"/>
                </a:cxn>
                <a:cxn ang="0">
                  <a:pos x="2" y="10"/>
                </a:cxn>
                <a:cxn ang="0">
                  <a:pos x="12" y="23"/>
                </a:cxn>
                <a:cxn ang="0">
                  <a:pos x="31" y="34"/>
                </a:cxn>
                <a:cxn ang="0">
                  <a:pos x="42" y="36"/>
                </a:cxn>
                <a:cxn ang="0">
                  <a:pos x="39" y="39"/>
                </a:cxn>
                <a:cxn ang="0">
                  <a:pos x="20" y="42"/>
                </a:cxn>
                <a:cxn ang="0">
                  <a:pos x="27" y="57"/>
                </a:cxn>
                <a:cxn ang="0">
                  <a:pos x="33" y="65"/>
                </a:cxn>
                <a:cxn ang="0">
                  <a:pos x="40" y="59"/>
                </a:cxn>
                <a:cxn ang="0">
                  <a:pos x="57" y="64"/>
                </a:cxn>
                <a:cxn ang="0">
                  <a:pos x="68" y="73"/>
                </a:cxn>
                <a:cxn ang="0">
                  <a:pos x="92" y="83"/>
                </a:cxn>
                <a:cxn ang="0">
                  <a:pos x="109" y="95"/>
                </a:cxn>
                <a:cxn ang="0">
                  <a:pos x="122" y="119"/>
                </a:cxn>
                <a:cxn ang="0">
                  <a:pos x="122" y="123"/>
                </a:cxn>
                <a:cxn ang="0">
                  <a:pos x="117" y="129"/>
                </a:cxn>
                <a:cxn ang="0">
                  <a:pos x="97" y="144"/>
                </a:cxn>
                <a:cxn ang="0">
                  <a:pos x="118" y="131"/>
                </a:cxn>
              </a:cxnLst>
              <a:rect l="0" t="0" r="r" b="b"/>
              <a:pathLst>
                <a:path w="156" h="157">
                  <a:moveTo>
                    <a:pt x="118" y="131"/>
                  </a:moveTo>
                  <a:lnTo>
                    <a:pt x="118" y="132"/>
                  </a:lnTo>
                  <a:lnTo>
                    <a:pt x="117" y="141"/>
                  </a:lnTo>
                  <a:lnTo>
                    <a:pt x="122" y="138"/>
                  </a:lnTo>
                  <a:lnTo>
                    <a:pt x="135" y="136"/>
                  </a:lnTo>
                  <a:lnTo>
                    <a:pt x="139" y="147"/>
                  </a:lnTo>
                  <a:lnTo>
                    <a:pt x="148" y="157"/>
                  </a:lnTo>
                  <a:lnTo>
                    <a:pt x="150" y="142"/>
                  </a:lnTo>
                  <a:lnTo>
                    <a:pt x="151" y="127"/>
                  </a:lnTo>
                  <a:lnTo>
                    <a:pt x="152" y="113"/>
                  </a:lnTo>
                  <a:lnTo>
                    <a:pt x="153" y="99"/>
                  </a:lnTo>
                  <a:lnTo>
                    <a:pt x="154" y="84"/>
                  </a:lnTo>
                  <a:lnTo>
                    <a:pt x="154" y="69"/>
                  </a:lnTo>
                  <a:lnTo>
                    <a:pt x="156" y="54"/>
                  </a:lnTo>
                  <a:lnTo>
                    <a:pt x="156" y="40"/>
                  </a:lnTo>
                  <a:lnTo>
                    <a:pt x="145" y="37"/>
                  </a:lnTo>
                  <a:lnTo>
                    <a:pt x="126" y="28"/>
                  </a:lnTo>
                  <a:lnTo>
                    <a:pt x="106" y="19"/>
                  </a:lnTo>
                  <a:lnTo>
                    <a:pt x="96" y="28"/>
                  </a:lnTo>
                  <a:lnTo>
                    <a:pt x="81" y="36"/>
                  </a:lnTo>
                  <a:lnTo>
                    <a:pt x="64" y="53"/>
                  </a:lnTo>
                  <a:lnTo>
                    <a:pt x="58" y="47"/>
                  </a:lnTo>
                  <a:lnTo>
                    <a:pt x="52" y="39"/>
                  </a:lnTo>
                  <a:lnTo>
                    <a:pt x="51" y="42"/>
                  </a:lnTo>
                  <a:lnTo>
                    <a:pt x="48" y="23"/>
                  </a:lnTo>
                  <a:lnTo>
                    <a:pt x="48" y="13"/>
                  </a:lnTo>
                  <a:lnTo>
                    <a:pt x="46" y="6"/>
                  </a:lnTo>
                  <a:lnTo>
                    <a:pt x="31" y="4"/>
                  </a:lnTo>
                  <a:lnTo>
                    <a:pt x="16" y="0"/>
                  </a:lnTo>
                  <a:lnTo>
                    <a:pt x="2" y="10"/>
                  </a:lnTo>
                  <a:lnTo>
                    <a:pt x="0" y="19"/>
                  </a:lnTo>
                  <a:lnTo>
                    <a:pt x="12" y="23"/>
                  </a:lnTo>
                  <a:lnTo>
                    <a:pt x="20" y="34"/>
                  </a:lnTo>
                  <a:lnTo>
                    <a:pt x="31" y="34"/>
                  </a:lnTo>
                  <a:lnTo>
                    <a:pt x="43" y="33"/>
                  </a:lnTo>
                  <a:lnTo>
                    <a:pt x="42" y="36"/>
                  </a:lnTo>
                  <a:lnTo>
                    <a:pt x="40" y="39"/>
                  </a:lnTo>
                  <a:lnTo>
                    <a:pt x="39" y="39"/>
                  </a:lnTo>
                  <a:lnTo>
                    <a:pt x="34" y="39"/>
                  </a:lnTo>
                  <a:lnTo>
                    <a:pt x="20" y="42"/>
                  </a:lnTo>
                  <a:lnTo>
                    <a:pt x="14" y="46"/>
                  </a:lnTo>
                  <a:lnTo>
                    <a:pt x="27" y="57"/>
                  </a:lnTo>
                  <a:lnTo>
                    <a:pt x="25" y="64"/>
                  </a:lnTo>
                  <a:lnTo>
                    <a:pt x="33" y="65"/>
                  </a:lnTo>
                  <a:lnTo>
                    <a:pt x="43" y="48"/>
                  </a:lnTo>
                  <a:lnTo>
                    <a:pt x="40" y="59"/>
                  </a:lnTo>
                  <a:lnTo>
                    <a:pt x="54" y="64"/>
                  </a:lnTo>
                  <a:lnTo>
                    <a:pt x="57" y="64"/>
                  </a:lnTo>
                  <a:lnTo>
                    <a:pt x="56" y="70"/>
                  </a:lnTo>
                  <a:lnTo>
                    <a:pt x="68" y="73"/>
                  </a:lnTo>
                  <a:lnTo>
                    <a:pt x="80" y="78"/>
                  </a:lnTo>
                  <a:lnTo>
                    <a:pt x="92" y="83"/>
                  </a:lnTo>
                  <a:lnTo>
                    <a:pt x="103" y="88"/>
                  </a:lnTo>
                  <a:lnTo>
                    <a:pt x="109" y="95"/>
                  </a:lnTo>
                  <a:lnTo>
                    <a:pt x="117" y="115"/>
                  </a:lnTo>
                  <a:lnTo>
                    <a:pt x="122" y="119"/>
                  </a:lnTo>
                  <a:lnTo>
                    <a:pt x="114" y="119"/>
                  </a:lnTo>
                  <a:lnTo>
                    <a:pt x="122" y="123"/>
                  </a:lnTo>
                  <a:lnTo>
                    <a:pt x="115" y="124"/>
                  </a:lnTo>
                  <a:lnTo>
                    <a:pt x="117" y="129"/>
                  </a:lnTo>
                  <a:lnTo>
                    <a:pt x="106" y="127"/>
                  </a:lnTo>
                  <a:lnTo>
                    <a:pt x="97" y="144"/>
                  </a:lnTo>
                  <a:lnTo>
                    <a:pt x="111" y="141"/>
                  </a:lnTo>
                  <a:lnTo>
                    <a:pt x="118" y="1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 name="Freeform 10"/>
            <p:cNvSpPr>
              <a:spLocks/>
            </p:cNvSpPr>
            <p:nvPr/>
          </p:nvSpPr>
          <p:spPr bwMode="auto">
            <a:xfrm>
              <a:off x="4626" y="2672"/>
              <a:ext cx="111" cy="147"/>
            </a:xfrm>
            <a:custGeom>
              <a:avLst/>
              <a:gdLst/>
              <a:ahLst/>
              <a:cxnLst>
                <a:cxn ang="0">
                  <a:pos x="101" y="4"/>
                </a:cxn>
                <a:cxn ang="0">
                  <a:pos x="96" y="0"/>
                </a:cxn>
                <a:cxn ang="0">
                  <a:pos x="82" y="16"/>
                </a:cxn>
                <a:cxn ang="0">
                  <a:pos x="61" y="12"/>
                </a:cxn>
                <a:cxn ang="0">
                  <a:pos x="41" y="8"/>
                </a:cxn>
                <a:cxn ang="0">
                  <a:pos x="31" y="8"/>
                </a:cxn>
                <a:cxn ang="0">
                  <a:pos x="25" y="16"/>
                </a:cxn>
                <a:cxn ang="0">
                  <a:pos x="22" y="16"/>
                </a:cxn>
                <a:cxn ang="0">
                  <a:pos x="15" y="30"/>
                </a:cxn>
                <a:cxn ang="0">
                  <a:pos x="16" y="46"/>
                </a:cxn>
                <a:cxn ang="0">
                  <a:pos x="13" y="43"/>
                </a:cxn>
                <a:cxn ang="0">
                  <a:pos x="7" y="60"/>
                </a:cxn>
                <a:cxn ang="0">
                  <a:pos x="0" y="78"/>
                </a:cxn>
                <a:cxn ang="0">
                  <a:pos x="1" y="94"/>
                </a:cxn>
                <a:cxn ang="0">
                  <a:pos x="9" y="95"/>
                </a:cxn>
                <a:cxn ang="0">
                  <a:pos x="9" y="108"/>
                </a:cxn>
                <a:cxn ang="0">
                  <a:pos x="7" y="121"/>
                </a:cxn>
                <a:cxn ang="0">
                  <a:pos x="9" y="132"/>
                </a:cxn>
                <a:cxn ang="0">
                  <a:pos x="23" y="128"/>
                </a:cxn>
                <a:cxn ang="0">
                  <a:pos x="22" y="107"/>
                </a:cxn>
                <a:cxn ang="0">
                  <a:pos x="22" y="85"/>
                </a:cxn>
                <a:cxn ang="0">
                  <a:pos x="31" y="78"/>
                </a:cxn>
                <a:cxn ang="0">
                  <a:pos x="33" y="89"/>
                </a:cxn>
                <a:cxn ang="0">
                  <a:pos x="34" y="96"/>
                </a:cxn>
                <a:cxn ang="0">
                  <a:pos x="41" y="106"/>
                </a:cxn>
                <a:cxn ang="0">
                  <a:pos x="43" y="116"/>
                </a:cxn>
                <a:cxn ang="0">
                  <a:pos x="48" y="114"/>
                </a:cxn>
                <a:cxn ang="0">
                  <a:pos x="59" y="108"/>
                </a:cxn>
                <a:cxn ang="0">
                  <a:pos x="63" y="106"/>
                </a:cxn>
                <a:cxn ang="0">
                  <a:pos x="53" y="91"/>
                </a:cxn>
                <a:cxn ang="0">
                  <a:pos x="55" y="86"/>
                </a:cxn>
                <a:cxn ang="0">
                  <a:pos x="47" y="74"/>
                </a:cxn>
                <a:cxn ang="0">
                  <a:pos x="40" y="62"/>
                </a:cxn>
                <a:cxn ang="0">
                  <a:pos x="46" y="64"/>
                </a:cxn>
                <a:cxn ang="0">
                  <a:pos x="57" y="54"/>
                </a:cxn>
                <a:cxn ang="0">
                  <a:pos x="69" y="46"/>
                </a:cxn>
                <a:cxn ang="0">
                  <a:pos x="72" y="46"/>
                </a:cxn>
                <a:cxn ang="0">
                  <a:pos x="70" y="40"/>
                </a:cxn>
                <a:cxn ang="0">
                  <a:pos x="64" y="42"/>
                </a:cxn>
                <a:cxn ang="0">
                  <a:pos x="45" y="46"/>
                </a:cxn>
                <a:cxn ang="0">
                  <a:pos x="31" y="54"/>
                </a:cxn>
                <a:cxn ang="0">
                  <a:pos x="19" y="37"/>
                </a:cxn>
                <a:cxn ang="0">
                  <a:pos x="25" y="22"/>
                </a:cxn>
                <a:cxn ang="0">
                  <a:pos x="47" y="23"/>
                </a:cxn>
                <a:cxn ang="0">
                  <a:pos x="70" y="24"/>
                </a:cxn>
                <a:cxn ang="0">
                  <a:pos x="91" y="19"/>
                </a:cxn>
                <a:cxn ang="0">
                  <a:pos x="101" y="4"/>
                </a:cxn>
              </a:cxnLst>
              <a:rect l="0" t="0" r="r" b="b"/>
              <a:pathLst>
                <a:path w="101" h="132">
                  <a:moveTo>
                    <a:pt x="101" y="4"/>
                  </a:moveTo>
                  <a:lnTo>
                    <a:pt x="96" y="0"/>
                  </a:lnTo>
                  <a:lnTo>
                    <a:pt x="82" y="16"/>
                  </a:lnTo>
                  <a:lnTo>
                    <a:pt x="61" y="12"/>
                  </a:lnTo>
                  <a:lnTo>
                    <a:pt x="41" y="8"/>
                  </a:lnTo>
                  <a:lnTo>
                    <a:pt x="31" y="8"/>
                  </a:lnTo>
                  <a:lnTo>
                    <a:pt x="25" y="16"/>
                  </a:lnTo>
                  <a:lnTo>
                    <a:pt x="22" y="16"/>
                  </a:lnTo>
                  <a:lnTo>
                    <a:pt x="15" y="30"/>
                  </a:lnTo>
                  <a:lnTo>
                    <a:pt x="16" y="46"/>
                  </a:lnTo>
                  <a:lnTo>
                    <a:pt x="13" y="43"/>
                  </a:lnTo>
                  <a:lnTo>
                    <a:pt x="7" y="60"/>
                  </a:lnTo>
                  <a:lnTo>
                    <a:pt x="0" y="78"/>
                  </a:lnTo>
                  <a:lnTo>
                    <a:pt x="1" y="94"/>
                  </a:lnTo>
                  <a:lnTo>
                    <a:pt x="9" y="95"/>
                  </a:lnTo>
                  <a:lnTo>
                    <a:pt x="9" y="108"/>
                  </a:lnTo>
                  <a:lnTo>
                    <a:pt x="7" y="121"/>
                  </a:lnTo>
                  <a:lnTo>
                    <a:pt x="9" y="132"/>
                  </a:lnTo>
                  <a:lnTo>
                    <a:pt x="23" y="128"/>
                  </a:lnTo>
                  <a:lnTo>
                    <a:pt x="22" y="107"/>
                  </a:lnTo>
                  <a:lnTo>
                    <a:pt x="22" y="85"/>
                  </a:lnTo>
                  <a:lnTo>
                    <a:pt x="31" y="78"/>
                  </a:lnTo>
                  <a:lnTo>
                    <a:pt x="33" y="89"/>
                  </a:lnTo>
                  <a:lnTo>
                    <a:pt x="34" y="96"/>
                  </a:lnTo>
                  <a:lnTo>
                    <a:pt x="41" y="106"/>
                  </a:lnTo>
                  <a:lnTo>
                    <a:pt x="43" y="116"/>
                  </a:lnTo>
                  <a:lnTo>
                    <a:pt x="48" y="114"/>
                  </a:lnTo>
                  <a:lnTo>
                    <a:pt x="59" y="108"/>
                  </a:lnTo>
                  <a:lnTo>
                    <a:pt x="63" y="106"/>
                  </a:lnTo>
                  <a:lnTo>
                    <a:pt x="53" y="91"/>
                  </a:lnTo>
                  <a:lnTo>
                    <a:pt x="55" y="86"/>
                  </a:lnTo>
                  <a:lnTo>
                    <a:pt x="47" y="74"/>
                  </a:lnTo>
                  <a:lnTo>
                    <a:pt x="40" y="62"/>
                  </a:lnTo>
                  <a:lnTo>
                    <a:pt x="46" y="64"/>
                  </a:lnTo>
                  <a:lnTo>
                    <a:pt x="57" y="54"/>
                  </a:lnTo>
                  <a:lnTo>
                    <a:pt x="69" y="46"/>
                  </a:lnTo>
                  <a:lnTo>
                    <a:pt x="72" y="46"/>
                  </a:lnTo>
                  <a:lnTo>
                    <a:pt x="70" y="40"/>
                  </a:lnTo>
                  <a:lnTo>
                    <a:pt x="64" y="42"/>
                  </a:lnTo>
                  <a:lnTo>
                    <a:pt x="45" y="46"/>
                  </a:lnTo>
                  <a:lnTo>
                    <a:pt x="31" y="54"/>
                  </a:lnTo>
                  <a:lnTo>
                    <a:pt x="19" y="37"/>
                  </a:lnTo>
                  <a:lnTo>
                    <a:pt x="25" y="22"/>
                  </a:lnTo>
                  <a:lnTo>
                    <a:pt x="47" y="23"/>
                  </a:lnTo>
                  <a:lnTo>
                    <a:pt x="70" y="24"/>
                  </a:lnTo>
                  <a:lnTo>
                    <a:pt x="91" y="19"/>
                  </a:lnTo>
                  <a:lnTo>
                    <a:pt x="10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 name="Freeform 11"/>
            <p:cNvSpPr>
              <a:spLocks/>
            </p:cNvSpPr>
            <p:nvPr/>
          </p:nvSpPr>
          <p:spPr bwMode="auto">
            <a:xfrm>
              <a:off x="4382" y="2825"/>
              <a:ext cx="162" cy="56"/>
            </a:xfrm>
            <a:custGeom>
              <a:avLst/>
              <a:gdLst/>
              <a:ahLst/>
              <a:cxnLst>
                <a:cxn ang="0">
                  <a:pos x="145" y="49"/>
                </a:cxn>
                <a:cxn ang="0">
                  <a:pos x="143" y="47"/>
                </a:cxn>
                <a:cxn ang="0">
                  <a:pos x="144" y="32"/>
                </a:cxn>
                <a:cxn ang="0">
                  <a:pos x="132" y="31"/>
                </a:cxn>
                <a:cxn ang="0">
                  <a:pos x="120" y="29"/>
                </a:cxn>
                <a:cxn ang="0">
                  <a:pos x="116" y="19"/>
                </a:cxn>
                <a:cxn ang="0">
                  <a:pos x="97" y="12"/>
                </a:cxn>
                <a:cxn ang="0">
                  <a:pos x="90" y="7"/>
                </a:cxn>
                <a:cxn ang="0">
                  <a:pos x="83" y="16"/>
                </a:cxn>
                <a:cxn ang="0">
                  <a:pos x="71" y="16"/>
                </a:cxn>
                <a:cxn ang="0">
                  <a:pos x="57" y="16"/>
                </a:cxn>
                <a:cxn ang="0">
                  <a:pos x="51" y="8"/>
                </a:cxn>
                <a:cxn ang="0">
                  <a:pos x="33" y="0"/>
                </a:cxn>
                <a:cxn ang="0">
                  <a:pos x="13" y="0"/>
                </a:cxn>
                <a:cxn ang="0">
                  <a:pos x="5" y="11"/>
                </a:cxn>
                <a:cxn ang="0">
                  <a:pos x="0" y="13"/>
                </a:cxn>
                <a:cxn ang="0">
                  <a:pos x="17" y="18"/>
                </a:cxn>
                <a:cxn ang="0">
                  <a:pos x="17" y="22"/>
                </a:cxn>
                <a:cxn ang="0">
                  <a:pos x="32" y="26"/>
                </a:cxn>
                <a:cxn ang="0">
                  <a:pos x="49" y="30"/>
                </a:cxn>
                <a:cxn ang="0">
                  <a:pos x="63" y="34"/>
                </a:cxn>
                <a:cxn ang="0">
                  <a:pos x="79" y="37"/>
                </a:cxn>
                <a:cxn ang="0">
                  <a:pos x="99" y="40"/>
                </a:cxn>
                <a:cxn ang="0">
                  <a:pos x="119" y="42"/>
                </a:cxn>
                <a:cxn ang="0">
                  <a:pos x="132" y="46"/>
                </a:cxn>
                <a:cxn ang="0">
                  <a:pos x="145" y="49"/>
                </a:cxn>
              </a:cxnLst>
              <a:rect l="0" t="0" r="r" b="b"/>
              <a:pathLst>
                <a:path w="145" h="49">
                  <a:moveTo>
                    <a:pt x="145" y="49"/>
                  </a:moveTo>
                  <a:lnTo>
                    <a:pt x="143" y="47"/>
                  </a:lnTo>
                  <a:lnTo>
                    <a:pt x="144" y="32"/>
                  </a:lnTo>
                  <a:lnTo>
                    <a:pt x="132" y="31"/>
                  </a:lnTo>
                  <a:lnTo>
                    <a:pt x="120" y="29"/>
                  </a:lnTo>
                  <a:lnTo>
                    <a:pt x="116" y="19"/>
                  </a:lnTo>
                  <a:lnTo>
                    <a:pt x="97" y="12"/>
                  </a:lnTo>
                  <a:lnTo>
                    <a:pt x="90" y="7"/>
                  </a:lnTo>
                  <a:lnTo>
                    <a:pt x="83" y="16"/>
                  </a:lnTo>
                  <a:lnTo>
                    <a:pt x="71" y="16"/>
                  </a:lnTo>
                  <a:lnTo>
                    <a:pt x="57" y="16"/>
                  </a:lnTo>
                  <a:lnTo>
                    <a:pt x="51" y="8"/>
                  </a:lnTo>
                  <a:lnTo>
                    <a:pt x="33" y="0"/>
                  </a:lnTo>
                  <a:lnTo>
                    <a:pt x="13" y="0"/>
                  </a:lnTo>
                  <a:lnTo>
                    <a:pt x="5" y="11"/>
                  </a:lnTo>
                  <a:lnTo>
                    <a:pt x="0" y="13"/>
                  </a:lnTo>
                  <a:lnTo>
                    <a:pt x="17" y="18"/>
                  </a:lnTo>
                  <a:lnTo>
                    <a:pt x="17" y="22"/>
                  </a:lnTo>
                  <a:lnTo>
                    <a:pt x="32" y="26"/>
                  </a:lnTo>
                  <a:lnTo>
                    <a:pt x="49" y="30"/>
                  </a:lnTo>
                  <a:lnTo>
                    <a:pt x="63" y="34"/>
                  </a:lnTo>
                  <a:lnTo>
                    <a:pt x="79" y="37"/>
                  </a:lnTo>
                  <a:lnTo>
                    <a:pt x="99" y="40"/>
                  </a:lnTo>
                  <a:lnTo>
                    <a:pt x="119" y="42"/>
                  </a:lnTo>
                  <a:lnTo>
                    <a:pt x="132" y="46"/>
                  </a:lnTo>
                  <a:lnTo>
                    <a:pt x="145"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 name="Freeform 12"/>
            <p:cNvSpPr>
              <a:spLocks/>
            </p:cNvSpPr>
            <p:nvPr/>
          </p:nvSpPr>
          <p:spPr bwMode="auto">
            <a:xfrm>
              <a:off x="4700" y="2874"/>
              <a:ext cx="66" cy="38"/>
            </a:xfrm>
            <a:custGeom>
              <a:avLst/>
              <a:gdLst/>
              <a:ahLst/>
              <a:cxnLst>
                <a:cxn ang="0">
                  <a:pos x="61" y="0"/>
                </a:cxn>
                <a:cxn ang="0">
                  <a:pos x="39" y="1"/>
                </a:cxn>
                <a:cxn ang="0">
                  <a:pos x="23" y="9"/>
                </a:cxn>
                <a:cxn ang="0">
                  <a:pos x="9" y="17"/>
                </a:cxn>
                <a:cxn ang="0">
                  <a:pos x="1" y="30"/>
                </a:cxn>
                <a:cxn ang="0">
                  <a:pos x="0" y="31"/>
                </a:cxn>
                <a:cxn ang="0">
                  <a:pos x="1" y="35"/>
                </a:cxn>
                <a:cxn ang="0">
                  <a:pos x="22" y="24"/>
                </a:cxn>
                <a:cxn ang="0">
                  <a:pos x="41" y="12"/>
                </a:cxn>
                <a:cxn ang="0">
                  <a:pos x="61" y="0"/>
                </a:cxn>
              </a:cxnLst>
              <a:rect l="0" t="0" r="r" b="b"/>
              <a:pathLst>
                <a:path w="61" h="35">
                  <a:moveTo>
                    <a:pt x="61" y="0"/>
                  </a:moveTo>
                  <a:lnTo>
                    <a:pt x="39" y="1"/>
                  </a:lnTo>
                  <a:lnTo>
                    <a:pt x="23" y="9"/>
                  </a:lnTo>
                  <a:lnTo>
                    <a:pt x="9" y="17"/>
                  </a:lnTo>
                  <a:lnTo>
                    <a:pt x="1" y="30"/>
                  </a:lnTo>
                  <a:lnTo>
                    <a:pt x="0" y="31"/>
                  </a:lnTo>
                  <a:lnTo>
                    <a:pt x="1" y="35"/>
                  </a:lnTo>
                  <a:lnTo>
                    <a:pt x="22" y="24"/>
                  </a:lnTo>
                  <a:lnTo>
                    <a:pt x="41" y="12"/>
                  </a:lnTo>
                  <a:lnTo>
                    <a:pt x="6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 name="Freeform 13"/>
            <p:cNvSpPr>
              <a:spLocks/>
            </p:cNvSpPr>
            <p:nvPr/>
          </p:nvSpPr>
          <p:spPr bwMode="auto">
            <a:xfrm>
              <a:off x="4777" y="2663"/>
              <a:ext cx="25" cy="60"/>
            </a:xfrm>
            <a:custGeom>
              <a:avLst/>
              <a:gdLst/>
              <a:ahLst/>
              <a:cxnLst>
                <a:cxn ang="0">
                  <a:pos x="23" y="34"/>
                </a:cxn>
                <a:cxn ang="0">
                  <a:pos x="13" y="22"/>
                </a:cxn>
                <a:cxn ang="0">
                  <a:pos x="20" y="14"/>
                </a:cxn>
                <a:cxn ang="0">
                  <a:pos x="16" y="10"/>
                </a:cxn>
                <a:cxn ang="0">
                  <a:pos x="11" y="15"/>
                </a:cxn>
                <a:cxn ang="0">
                  <a:pos x="5" y="24"/>
                </a:cxn>
                <a:cxn ang="0">
                  <a:pos x="5" y="19"/>
                </a:cxn>
                <a:cxn ang="0">
                  <a:pos x="8" y="7"/>
                </a:cxn>
                <a:cxn ang="0">
                  <a:pos x="8" y="0"/>
                </a:cxn>
                <a:cxn ang="0">
                  <a:pos x="0" y="13"/>
                </a:cxn>
                <a:cxn ang="0">
                  <a:pos x="2" y="25"/>
                </a:cxn>
                <a:cxn ang="0">
                  <a:pos x="4" y="38"/>
                </a:cxn>
                <a:cxn ang="0">
                  <a:pos x="13" y="54"/>
                </a:cxn>
                <a:cxn ang="0">
                  <a:pos x="7" y="32"/>
                </a:cxn>
                <a:cxn ang="0">
                  <a:pos x="23" y="34"/>
                </a:cxn>
              </a:cxnLst>
              <a:rect l="0" t="0" r="r" b="b"/>
              <a:pathLst>
                <a:path w="23" h="54">
                  <a:moveTo>
                    <a:pt x="23" y="34"/>
                  </a:moveTo>
                  <a:lnTo>
                    <a:pt x="13" y="22"/>
                  </a:lnTo>
                  <a:lnTo>
                    <a:pt x="20" y="14"/>
                  </a:lnTo>
                  <a:lnTo>
                    <a:pt x="16" y="10"/>
                  </a:lnTo>
                  <a:lnTo>
                    <a:pt x="11" y="15"/>
                  </a:lnTo>
                  <a:lnTo>
                    <a:pt x="5" y="24"/>
                  </a:lnTo>
                  <a:lnTo>
                    <a:pt x="5" y="19"/>
                  </a:lnTo>
                  <a:lnTo>
                    <a:pt x="8" y="7"/>
                  </a:lnTo>
                  <a:lnTo>
                    <a:pt x="8" y="0"/>
                  </a:lnTo>
                  <a:lnTo>
                    <a:pt x="0" y="13"/>
                  </a:lnTo>
                  <a:lnTo>
                    <a:pt x="2" y="25"/>
                  </a:lnTo>
                  <a:lnTo>
                    <a:pt x="4" y="38"/>
                  </a:lnTo>
                  <a:lnTo>
                    <a:pt x="13" y="54"/>
                  </a:lnTo>
                  <a:lnTo>
                    <a:pt x="7" y="32"/>
                  </a:lnTo>
                  <a:lnTo>
                    <a:pt x="23"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 name="Freeform 14"/>
            <p:cNvSpPr>
              <a:spLocks/>
            </p:cNvSpPr>
            <p:nvPr/>
          </p:nvSpPr>
          <p:spPr bwMode="auto">
            <a:xfrm>
              <a:off x="4784" y="2763"/>
              <a:ext cx="51" cy="18"/>
            </a:xfrm>
            <a:custGeom>
              <a:avLst/>
              <a:gdLst/>
              <a:ahLst/>
              <a:cxnLst>
                <a:cxn ang="0">
                  <a:pos x="47" y="13"/>
                </a:cxn>
                <a:cxn ang="0">
                  <a:pos x="44" y="16"/>
                </a:cxn>
                <a:cxn ang="0">
                  <a:pos x="25" y="8"/>
                </a:cxn>
                <a:cxn ang="0">
                  <a:pos x="12" y="9"/>
                </a:cxn>
                <a:cxn ang="0">
                  <a:pos x="2" y="6"/>
                </a:cxn>
                <a:cxn ang="0">
                  <a:pos x="0" y="9"/>
                </a:cxn>
                <a:cxn ang="0">
                  <a:pos x="1" y="3"/>
                </a:cxn>
                <a:cxn ang="0">
                  <a:pos x="11" y="0"/>
                </a:cxn>
                <a:cxn ang="0">
                  <a:pos x="25" y="1"/>
                </a:cxn>
                <a:cxn ang="0">
                  <a:pos x="38" y="2"/>
                </a:cxn>
                <a:cxn ang="0">
                  <a:pos x="47" y="13"/>
                </a:cxn>
              </a:cxnLst>
              <a:rect l="0" t="0" r="r" b="b"/>
              <a:pathLst>
                <a:path w="47" h="16">
                  <a:moveTo>
                    <a:pt x="47" y="13"/>
                  </a:moveTo>
                  <a:lnTo>
                    <a:pt x="44" y="16"/>
                  </a:lnTo>
                  <a:lnTo>
                    <a:pt x="25" y="8"/>
                  </a:lnTo>
                  <a:lnTo>
                    <a:pt x="12" y="9"/>
                  </a:lnTo>
                  <a:lnTo>
                    <a:pt x="2" y="6"/>
                  </a:lnTo>
                  <a:lnTo>
                    <a:pt x="0" y="9"/>
                  </a:lnTo>
                  <a:lnTo>
                    <a:pt x="1" y="3"/>
                  </a:lnTo>
                  <a:lnTo>
                    <a:pt x="11" y="0"/>
                  </a:lnTo>
                  <a:lnTo>
                    <a:pt x="25" y="1"/>
                  </a:lnTo>
                  <a:lnTo>
                    <a:pt x="38" y="2"/>
                  </a:lnTo>
                  <a:lnTo>
                    <a:pt x="4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 name="Freeform 15"/>
            <p:cNvSpPr>
              <a:spLocks/>
            </p:cNvSpPr>
            <p:nvPr/>
          </p:nvSpPr>
          <p:spPr bwMode="auto">
            <a:xfrm>
              <a:off x="4635" y="2870"/>
              <a:ext cx="58" cy="11"/>
            </a:xfrm>
            <a:custGeom>
              <a:avLst/>
              <a:gdLst/>
              <a:ahLst/>
              <a:cxnLst>
                <a:cxn ang="0">
                  <a:pos x="51" y="1"/>
                </a:cxn>
                <a:cxn ang="0">
                  <a:pos x="51" y="0"/>
                </a:cxn>
                <a:cxn ang="0">
                  <a:pos x="48" y="0"/>
                </a:cxn>
                <a:cxn ang="0">
                  <a:pos x="43" y="4"/>
                </a:cxn>
                <a:cxn ang="0">
                  <a:pos x="33" y="4"/>
                </a:cxn>
                <a:cxn ang="0">
                  <a:pos x="21" y="2"/>
                </a:cxn>
                <a:cxn ang="0">
                  <a:pos x="8" y="1"/>
                </a:cxn>
                <a:cxn ang="0">
                  <a:pos x="0" y="8"/>
                </a:cxn>
                <a:cxn ang="0">
                  <a:pos x="7" y="10"/>
                </a:cxn>
                <a:cxn ang="0">
                  <a:pos x="22" y="10"/>
                </a:cxn>
                <a:cxn ang="0">
                  <a:pos x="38" y="9"/>
                </a:cxn>
                <a:cxn ang="0">
                  <a:pos x="51" y="1"/>
                </a:cxn>
              </a:cxnLst>
              <a:rect l="0" t="0" r="r" b="b"/>
              <a:pathLst>
                <a:path w="51" h="10">
                  <a:moveTo>
                    <a:pt x="51" y="1"/>
                  </a:moveTo>
                  <a:lnTo>
                    <a:pt x="51" y="0"/>
                  </a:lnTo>
                  <a:lnTo>
                    <a:pt x="48" y="0"/>
                  </a:lnTo>
                  <a:lnTo>
                    <a:pt x="43" y="4"/>
                  </a:lnTo>
                  <a:lnTo>
                    <a:pt x="33" y="4"/>
                  </a:lnTo>
                  <a:lnTo>
                    <a:pt x="21" y="2"/>
                  </a:lnTo>
                  <a:lnTo>
                    <a:pt x="8" y="1"/>
                  </a:lnTo>
                  <a:lnTo>
                    <a:pt x="0" y="8"/>
                  </a:lnTo>
                  <a:lnTo>
                    <a:pt x="7" y="10"/>
                  </a:lnTo>
                  <a:lnTo>
                    <a:pt x="22" y="10"/>
                  </a:lnTo>
                  <a:lnTo>
                    <a:pt x="38" y="9"/>
                  </a:lnTo>
                  <a:lnTo>
                    <a:pt x="5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 name="Freeform 16"/>
            <p:cNvSpPr>
              <a:spLocks/>
            </p:cNvSpPr>
            <p:nvPr/>
          </p:nvSpPr>
          <p:spPr bwMode="auto">
            <a:xfrm>
              <a:off x="4384" y="2736"/>
              <a:ext cx="29" cy="31"/>
            </a:xfrm>
            <a:custGeom>
              <a:avLst/>
              <a:gdLst/>
              <a:ahLst/>
              <a:cxnLst>
                <a:cxn ang="0">
                  <a:pos x="26" y="19"/>
                </a:cxn>
                <a:cxn ang="0">
                  <a:pos x="24" y="27"/>
                </a:cxn>
                <a:cxn ang="0">
                  <a:pos x="11" y="19"/>
                </a:cxn>
                <a:cxn ang="0">
                  <a:pos x="6" y="9"/>
                </a:cxn>
                <a:cxn ang="0">
                  <a:pos x="0" y="7"/>
                </a:cxn>
                <a:cxn ang="0">
                  <a:pos x="7" y="1"/>
                </a:cxn>
                <a:cxn ang="0">
                  <a:pos x="11" y="0"/>
                </a:cxn>
                <a:cxn ang="0">
                  <a:pos x="17" y="14"/>
                </a:cxn>
                <a:cxn ang="0">
                  <a:pos x="26" y="19"/>
                </a:cxn>
              </a:cxnLst>
              <a:rect l="0" t="0" r="r" b="b"/>
              <a:pathLst>
                <a:path w="26" h="27">
                  <a:moveTo>
                    <a:pt x="26" y="19"/>
                  </a:moveTo>
                  <a:lnTo>
                    <a:pt x="24" y="27"/>
                  </a:lnTo>
                  <a:lnTo>
                    <a:pt x="11" y="19"/>
                  </a:lnTo>
                  <a:lnTo>
                    <a:pt x="6" y="9"/>
                  </a:lnTo>
                  <a:lnTo>
                    <a:pt x="0" y="7"/>
                  </a:lnTo>
                  <a:lnTo>
                    <a:pt x="7" y="1"/>
                  </a:lnTo>
                  <a:lnTo>
                    <a:pt x="11" y="0"/>
                  </a:lnTo>
                  <a:lnTo>
                    <a:pt x="17" y="14"/>
                  </a:lnTo>
                  <a:lnTo>
                    <a:pt x="26"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 name="Freeform 17"/>
            <p:cNvSpPr>
              <a:spLocks/>
            </p:cNvSpPr>
            <p:nvPr/>
          </p:nvSpPr>
          <p:spPr bwMode="auto">
            <a:xfrm>
              <a:off x="4582" y="2867"/>
              <a:ext cx="42" cy="18"/>
            </a:xfrm>
            <a:custGeom>
              <a:avLst/>
              <a:gdLst/>
              <a:ahLst/>
              <a:cxnLst>
                <a:cxn ang="0">
                  <a:pos x="38" y="10"/>
                </a:cxn>
                <a:cxn ang="0">
                  <a:pos x="36" y="5"/>
                </a:cxn>
                <a:cxn ang="0">
                  <a:pos x="31" y="6"/>
                </a:cxn>
                <a:cxn ang="0">
                  <a:pos x="16" y="0"/>
                </a:cxn>
                <a:cxn ang="0">
                  <a:pos x="24" y="10"/>
                </a:cxn>
                <a:cxn ang="0">
                  <a:pos x="15" y="9"/>
                </a:cxn>
                <a:cxn ang="0">
                  <a:pos x="3" y="7"/>
                </a:cxn>
                <a:cxn ang="0">
                  <a:pos x="0" y="17"/>
                </a:cxn>
                <a:cxn ang="0">
                  <a:pos x="13" y="15"/>
                </a:cxn>
                <a:cxn ang="0">
                  <a:pos x="26" y="12"/>
                </a:cxn>
                <a:cxn ang="0">
                  <a:pos x="32" y="13"/>
                </a:cxn>
                <a:cxn ang="0">
                  <a:pos x="31" y="12"/>
                </a:cxn>
                <a:cxn ang="0">
                  <a:pos x="38" y="10"/>
                </a:cxn>
              </a:cxnLst>
              <a:rect l="0" t="0" r="r" b="b"/>
              <a:pathLst>
                <a:path w="38" h="17">
                  <a:moveTo>
                    <a:pt x="38" y="10"/>
                  </a:moveTo>
                  <a:lnTo>
                    <a:pt x="36" y="5"/>
                  </a:lnTo>
                  <a:lnTo>
                    <a:pt x="31" y="6"/>
                  </a:lnTo>
                  <a:lnTo>
                    <a:pt x="16" y="0"/>
                  </a:lnTo>
                  <a:lnTo>
                    <a:pt x="24" y="10"/>
                  </a:lnTo>
                  <a:lnTo>
                    <a:pt x="15" y="9"/>
                  </a:lnTo>
                  <a:lnTo>
                    <a:pt x="3" y="7"/>
                  </a:lnTo>
                  <a:lnTo>
                    <a:pt x="0" y="17"/>
                  </a:lnTo>
                  <a:lnTo>
                    <a:pt x="13" y="15"/>
                  </a:lnTo>
                  <a:lnTo>
                    <a:pt x="26" y="12"/>
                  </a:lnTo>
                  <a:lnTo>
                    <a:pt x="32" y="13"/>
                  </a:lnTo>
                  <a:lnTo>
                    <a:pt x="31" y="12"/>
                  </a:lnTo>
                  <a:lnTo>
                    <a:pt x="38"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 name="Freeform 18"/>
            <p:cNvSpPr>
              <a:spLocks/>
            </p:cNvSpPr>
            <p:nvPr/>
          </p:nvSpPr>
          <p:spPr bwMode="auto">
            <a:xfrm>
              <a:off x="4620" y="2894"/>
              <a:ext cx="31" cy="16"/>
            </a:xfrm>
            <a:custGeom>
              <a:avLst/>
              <a:gdLst/>
              <a:ahLst/>
              <a:cxnLst>
                <a:cxn ang="0">
                  <a:pos x="28" y="12"/>
                </a:cxn>
                <a:cxn ang="0">
                  <a:pos x="17" y="15"/>
                </a:cxn>
                <a:cxn ang="0">
                  <a:pos x="4" y="6"/>
                </a:cxn>
                <a:cxn ang="0">
                  <a:pos x="0" y="0"/>
                </a:cxn>
                <a:cxn ang="0">
                  <a:pos x="17" y="0"/>
                </a:cxn>
                <a:cxn ang="0">
                  <a:pos x="28" y="12"/>
                </a:cxn>
              </a:cxnLst>
              <a:rect l="0" t="0" r="r" b="b"/>
              <a:pathLst>
                <a:path w="28" h="15">
                  <a:moveTo>
                    <a:pt x="28" y="12"/>
                  </a:moveTo>
                  <a:lnTo>
                    <a:pt x="17" y="15"/>
                  </a:lnTo>
                  <a:lnTo>
                    <a:pt x="4" y="6"/>
                  </a:lnTo>
                  <a:lnTo>
                    <a:pt x="0" y="0"/>
                  </a:lnTo>
                  <a:lnTo>
                    <a:pt x="17" y="0"/>
                  </a:lnTo>
                  <a:lnTo>
                    <a:pt x="2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 name="Freeform 19"/>
            <p:cNvSpPr>
              <a:spLocks/>
            </p:cNvSpPr>
            <p:nvPr/>
          </p:nvSpPr>
          <p:spPr bwMode="auto">
            <a:xfrm>
              <a:off x="4751" y="2767"/>
              <a:ext cx="22" cy="14"/>
            </a:xfrm>
            <a:custGeom>
              <a:avLst/>
              <a:gdLst/>
              <a:ahLst/>
              <a:cxnLst>
                <a:cxn ang="0">
                  <a:pos x="19" y="6"/>
                </a:cxn>
                <a:cxn ang="0">
                  <a:pos x="12" y="13"/>
                </a:cxn>
                <a:cxn ang="0">
                  <a:pos x="0" y="5"/>
                </a:cxn>
                <a:cxn ang="0">
                  <a:pos x="6" y="0"/>
                </a:cxn>
                <a:cxn ang="0">
                  <a:pos x="19" y="6"/>
                </a:cxn>
              </a:cxnLst>
              <a:rect l="0" t="0" r="r" b="b"/>
              <a:pathLst>
                <a:path w="19" h="13">
                  <a:moveTo>
                    <a:pt x="19" y="6"/>
                  </a:moveTo>
                  <a:lnTo>
                    <a:pt x="12" y="13"/>
                  </a:lnTo>
                  <a:lnTo>
                    <a:pt x="0" y="5"/>
                  </a:lnTo>
                  <a:lnTo>
                    <a:pt x="6" y="0"/>
                  </a:lnTo>
                  <a:lnTo>
                    <a:pt x="1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 name="Freeform 20"/>
            <p:cNvSpPr>
              <a:spLocks/>
            </p:cNvSpPr>
            <p:nvPr/>
          </p:nvSpPr>
          <p:spPr bwMode="auto">
            <a:xfrm>
              <a:off x="4544" y="2867"/>
              <a:ext cx="20" cy="12"/>
            </a:xfrm>
            <a:custGeom>
              <a:avLst/>
              <a:gdLst/>
              <a:ahLst/>
              <a:cxnLst>
                <a:cxn ang="0">
                  <a:pos x="18" y="5"/>
                </a:cxn>
                <a:cxn ang="0">
                  <a:pos x="16" y="2"/>
                </a:cxn>
                <a:cxn ang="0">
                  <a:pos x="0" y="0"/>
                </a:cxn>
                <a:cxn ang="0">
                  <a:pos x="8" y="10"/>
                </a:cxn>
                <a:cxn ang="0">
                  <a:pos x="18" y="5"/>
                </a:cxn>
              </a:cxnLst>
              <a:rect l="0" t="0" r="r" b="b"/>
              <a:pathLst>
                <a:path w="18" h="10">
                  <a:moveTo>
                    <a:pt x="18" y="5"/>
                  </a:moveTo>
                  <a:lnTo>
                    <a:pt x="16" y="2"/>
                  </a:lnTo>
                  <a:lnTo>
                    <a:pt x="0" y="0"/>
                  </a:lnTo>
                  <a:lnTo>
                    <a:pt x="8" y="10"/>
                  </a:lnTo>
                  <a:lnTo>
                    <a:pt x="18"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 name="Freeform 21"/>
            <p:cNvSpPr>
              <a:spLocks/>
            </p:cNvSpPr>
            <p:nvPr/>
          </p:nvSpPr>
          <p:spPr bwMode="auto">
            <a:xfrm>
              <a:off x="4242" y="2676"/>
              <a:ext cx="16" cy="18"/>
            </a:xfrm>
            <a:custGeom>
              <a:avLst/>
              <a:gdLst/>
              <a:ahLst/>
              <a:cxnLst>
                <a:cxn ang="0">
                  <a:pos x="14" y="9"/>
                </a:cxn>
                <a:cxn ang="0">
                  <a:pos x="12" y="16"/>
                </a:cxn>
                <a:cxn ang="0">
                  <a:pos x="0" y="1"/>
                </a:cxn>
                <a:cxn ang="0">
                  <a:pos x="4" y="0"/>
                </a:cxn>
                <a:cxn ang="0">
                  <a:pos x="14" y="9"/>
                </a:cxn>
              </a:cxnLst>
              <a:rect l="0" t="0" r="r" b="b"/>
              <a:pathLst>
                <a:path w="14" h="16">
                  <a:moveTo>
                    <a:pt x="14" y="9"/>
                  </a:moveTo>
                  <a:lnTo>
                    <a:pt x="12" y="16"/>
                  </a:lnTo>
                  <a:lnTo>
                    <a:pt x="0" y="1"/>
                  </a:lnTo>
                  <a:lnTo>
                    <a:pt x="4" y="0"/>
                  </a:lnTo>
                  <a:lnTo>
                    <a:pt x="14"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 name="Freeform 22"/>
            <p:cNvSpPr>
              <a:spLocks/>
            </p:cNvSpPr>
            <p:nvPr/>
          </p:nvSpPr>
          <p:spPr bwMode="auto">
            <a:xfrm>
              <a:off x="4569" y="2870"/>
              <a:ext cx="13" cy="13"/>
            </a:xfrm>
            <a:custGeom>
              <a:avLst/>
              <a:gdLst/>
              <a:ahLst/>
              <a:cxnLst>
                <a:cxn ang="0">
                  <a:pos x="12" y="3"/>
                </a:cxn>
                <a:cxn ang="0">
                  <a:pos x="8" y="0"/>
                </a:cxn>
                <a:cxn ang="0">
                  <a:pos x="0" y="9"/>
                </a:cxn>
                <a:cxn ang="0">
                  <a:pos x="6" y="12"/>
                </a:cxn>
                <a:cxn ang="0">
                  <a:pos x="12" y="3"/>
                </a:cxn>
              </a:cxnLst>
              <a:rect l="0" t="0" r="r" b="b"/>
              <a:pathLst>
                <a:path w="12" h="12">
                  <a:moveTo>
                    <a:pt x="12" y="3"/>
                  </a:moveTo>
                  <a:lnTo>
                    <a:pt x="8" y="0"/>
                  </a:lnTo>
                  <a:lnTo>
                    <a:pt x="0" y="9"/>
                  </a:lnTo>
                  <a:lnTo>
                    <a:pt x="6" y="12"/>
                  </a:lnTo>
                  <a:lnTo>
                    <a:pt x="12"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 name="Freeform 23"/>
            <p:cNvSpPr>
              <a:spLocks/>
            </p:cNvSpPr>
            <p:nvPr/>
          </p:nvSpPr>
          <p:spPr bwMode="auto">
            <a:xfrm>
              <a:off x="4426" y="2756"/>
              <a:ext cx="14" cy="14"/>
            </a:xfrm>
            <a:custGeom>
              <a:avLst/>
              <a:gdLst/>
              <a:ahLst/>
              <a:cxnLst>
                <a:cxn ang="0">
                  <a:pos x="11" y="5"/>
                </a:cxn>
                <a:cxn ang="0">
                  <a:pos x="5" y="9"/>
                </a:cxn>
                <a:cxn ang="0">
                  <a:pos x="0" y="11"/>
                </a:cxn>
                <a:cxn ang="0">
                  <a:pos x="0" y="0"/>
                </a:cxn>
                <a:cxn ang="0">
                  <a:pos x="11" y="5"/>
                </a:cxn>
              </a:cxnLst>
              <a:rect l="0" t="0" r="r" b="b"/>
              <a:pathLst>
                <a:path w="11" h="11">
                  <a:moveTo>
                    <a:pt x="11" y="5"/>
                  </a:moveTo>
                  <a:lnTo>
                    <a:pt x="5" y="9"/>
                  </a:lnTo>
                  <a:lnTo>
                    <a:pt x="0" y="11"/>
                  </a:lnTo>
                  <a:lnTo>
                    <a:pt x="0" y="0"/>
                  </a:lnTo>
                  <a:lnTo>
                    <a:pt x="11"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 name="Freeform 24"/>
            <p:cNvSpPr>
              <a:spLocks/>
            </p:cNvSpPr>
            <p:nvPr/>
          </p:nvSpPr>
          <p:spPr bwMode="auto">
            <a:xfrm>
              <a:off x="4689" y="2794"/>
              <a:ext cx="11" cy="25"/>
            </a:xfrm>
            <a:custGeom>
              <a:avLst/>
              <a:gdLst/>
              <a:ahLst/>
              <a:cxnLst>
                <a:cxn ang="0">
                  <a:pos x="9" y="15"/>
                </a:cxn>
                <a:cxn ang="0">
                  <a:pos x="7" y="14"/>
                </a:cxn>
                <a:cxn ang="0">
                  <a:pos x="7" y="5"/>
                </a:cxn>
                <a:cxn ang="0">
                  <a:pos x="7" y="0"/>
                </a:cxn>
                <a:cxn ang="0">
                  <a:pos x="0" y="22"/>
                </a:cxn>
                <a:cxn ang="0">
                  <a:pos x="9" y="15"/>
                </a:cxn>
              </a:cxnLst>
              <a:rect l="0" t="0" r="r" b="b"/>
              <a:pathLst>
                <a:path w="9" h="22">
                  <a:moveTo>
                    <a:pt x="9" y="15"/>
                  </a:moveTo>
                  <a:lnTo>
                    <a:pt x="7" y="14"/>
                  </a:lnTo>
                  <a:lnTo>
                    <a:pt x="7" y="5"/>
                  </a:lnTo>
                  <a:lnTo>
                    <a:pt x="7" y="0"/>
                  </a:lnTo>
                  <a:lnTo>
                    <a:pt x="0" y="22"/>
                  </a:lnTo>
                  <a:lnTo>
                    <a:pt x="9"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 name="Freeform 25"/>
            <p:cNvSpPr>
              <a:spLocks/>
            </p:cNvSpPr>
            <p:nvPr/>
          </p:nvSpPr>
          <p:spPr bwMode="auto">
            <a:xfrm>
              <a:off x="4895" y="2816"/>
              <a:ext cx="7" cy="14"/>
            </a:xfrm>
            <a:custGeom>
              <a:avLst/>
              <a:gdLst/>
              <a:ahLst/>
              <a:cxnLst>
                <a:cxn ang="0">
                  <a:pos x="6" y="10"/>
                </a:cxn>
                <a:cxn ang="0">
                  <a:pos x="6" y="0"/>
                </a:cxn>
                <a:cxn ang="0">
                  <a:pos x="0" y="2"/>
                </a:cxn>
                <a:cxn ang="0">
                  <a:pos x="0" y="13"/>
                </a:cxn>
                <a:cxn ang="0">
                  <a:pos x="6" y="10"/>
                </a:cxn>
              </a:cxnLst>
              <a:rect l="0" t="0" r="r" b="b"/>
              <a:pathLst>
                <a:path w="6" h="13">
                  <a:moveTo>
                    <a:pt x="6" y="10"/>
                  </a:moveTo>
                  <a:lnTo>
                    <a:pt x="6" y="0"/>
                  </a:lnTo>
                  <a:lnTo>
                    <a:pt x="0" y="2"/>
                  </a:lnTo>
                  <a:lnTo>
                    <a:pt x="0" y="13"/>
                  </a:lnTo>
                  <a:lnTo>
                    <a:pt x="6"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 name="Freeform 26"/>
            <p:cNvSpPr>
              <a:spLocks/>
            </p:cNvSpPr>
            <p:nvPr/>
          </p:nvSpPr>
          <p:spPr bwMode="auto">
            <a:xfrm>
              <a:off x="4271" y="2723"/>
              <a:ext cx="9" cy="16"/>
            </a:xfrm>
            <a:custGeom>
              <a:avLst/>
              <a:gdLst/>
              <a:ahLst/>
              <a:cxnLst>
                <a:cxn ang="0">
                  <a:pos x="8" y="13"/>
                </a:cxn>
                <a:cxn ang="0">
                  <a:pos x="2" y="13"/>
                </a:cxn>
                <a:cxn ang="0">
                  <a:pos x="0" y="0"/>
                </a:cxn>
                <a:cxn ang="0">
                  <a:pos x="8" y="13"/>
                </a:cxn>
              </a:cxnLst>
              <a:rect l="0" t="0" r="r" b="b"/>
              <a:pathLst>
                <a:path w="8" h="13">
                  <a:moveTo>
                    <a:pt x="8" y="13"/>
                  </a:moveTo>
                  <a:lnTo>
                    <a:pt x="2" y="13"/>
                  </a:lnTo>
                  <a:lnTo>
                    <a:pt x="0" y="0"/>
                  </a:lnTo>
                  <a:lnTo>
                    <a:pt x="8"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 name="Freeform 27"/>
            <p:cNvSpPr>
              <a:spLocks/>
            </p:cNvSpPr>
            <p:nvPr/>
          </p:nvSpPr>
          <p:spPr bwMode="auto">
            <a:xfrm>
              <a:off x="4686" y="2799"/>
              <a:ext cx="7" cy="13"/>
            </a:xfrm>
            <a:custGeom>
              <a:avLst/>
              <a:gdLst/>
              <a:ahLst/>
              <a:cxnLst>
                <a:cxn ang="0">
                  <a:pos x="6" y="5"/>
                </a:cxn>
                <a:cxn ang="0">
                  <a:pos x="6" y="0"/>
                </a:cxn>
                <a:cxn ang="0">
                  <a:pos x="3" y="1"/>
                </a:cxn>
                <a:cxn ang="0">
                  <a:pos x="0" y="12"/>
                </a:cxn>
                <a:cxn ang="0">
                  <a:pos x="6" y="5"/>
                </a:cxn>
              </a:cxnLst>
              <a:rect l="0" t="0" r="r" b="b"/>
              <a:pathLst>
                <a:path w="6" h="12">
                  <a:moveTo>
                    <a:pt x="6" y="5"/>
                  </a:moveTo>
                  <a:lnTo>
                    <a:pt x="6" y="0"/>
                  </a:lnTo>
                  <a:lnTo>
                    <a:pt x="3" y="1"/>
                  </a:lnTo>
                  <a:lnTo>
                    <a:pt x="0" y="12"/>
                  </a:lnTo>
                  <a:lnTo>
                    <a:pt x="6"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 name="Freeform 28"/>
            <p:cNvSpPr>
              <a:spLocks/>
            </p:cNvSpPr>
            <p:nvPr/>
          </p:nvSpPr>
          <p:spPr bwMode="auto">
            <a:xfrm>
              <a:off x="4722" y="2739"/>
              <a:ext cx="18" cy="4"/>
            </a:xfrm>
            <a:custGeom>
              <a:avLst/>
              <a:gdLst/>
              <a:ahLst/>
              <a:cxnLst>
                <a:cxn ang="0">
                  <a:pos x="15" y="4"/>
                </a:cxn>
                <a:cxn ang="0">
                  <a:pos x="7" y="0"/>
                </a:cxn>
                <a:cxn ang="0">
                  <a:pos x="0" y="4"/>
                </a:cxn>
                <a:cxn ang="0">
                  <a:pos x="15" y="4"/>
                </a:cxn>
              </a:cxnLst>
              <a:rect l="0" t="0" r="r" b="b"/>
              <a:pathLst>
                <a:path w="15" h="4">
                  <a:moveTo>
                    <a:pt x="15" y="4"/>
                  </a:moveTo>
                  <a:lnTo>
                    <a:pt x="7" y="0"/>
                  </a:lnTo>
                  <a:lnTo>
                    <a:pt x="0" y="4"/>
                  </a:lnTo>
                  <a:lnTo>
                    <a:pt x="1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 name="Freeform 29"/>
            <p:cNvSpPr>
              <a:spLocks/>
            </p:cNvSpPr>
            <p:nvPr/>
          </p:nvSpPr>
          <p:spPr bwMode="auto">
            <a:xfrm>
              <a:off x="4889" y="2830"/>
              <a:ext cx="6" cy="13"/>
            </a:xfrm>
            <a:custGeom>
              <a:avLst/>
              <a:gdLst/>
              <a:ahLst/>
              <a:cxnLst>
                <a:cxn ang="0">
                  <a:pos x="6" y="6"/>
                </a:cxn>
                <a:cxn ang="0">
                  <a:pos x="1" y="11"/>
                </a:cxn>
                <a:cxn ang="0">
                  <a:pos x="0" y="0"/>
                </a:cxn>
                <a:cxn ang="0">
                  <a:pos x="6" y="6"/>
                </a:cxn>
              </a:cxnLst>
              <a:rect l="0" t="0" r="r" b="b"/>
              <a:pathLst>
                <a:path w="6" h="11">
                  <a:moveTo>
                    <a:pt x="6" y="6"/>
                  </a:moveTo>
                  <a:lnTo>
                    <a:pt x="1" y="11"/>
                  </a:lnTo>
                  <a:lnTo>
                    <a:pt x="0" y="0"/>
                  </a:lnTo>
                  <a:lnTo>
                    <a:pt x="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 name="Freeform 30"/>
            <p:cNvSpPr>
              <a:spLocks/>
            </p:cNvSpPr>
            <p:nvPr/>
          </p:nvSpPr>
          <p:spPr bwMode="auto">
            <a:xfrm>
              <a:off x="4513" y="2845"/>
              <a:ext cx="25" cy="2"/>
            </a:xfrm>
            <a:custGeom>
              <a:avLst/>
              <a:gdLst/>
              <a:ahLst/>
              <a:cxnLst>
                <a:cxn ang="0">
                  <a:pos x="22" y="0"/>
                </a:cxn>
                <a:cxn ang="0">
                  <a:pos x="6" y="2"/>
                </a:cxn>
                <a:cxn ang="0">
                  <a:pos x="0" y="0"/>
                </a:cxn>
                <a:cxn ang="0">
                  <a:pos x="22" y="0"/>
                </a:cxn>
              </a:cxnLst>
              <a:rect l="0" t="0" r="r" b="b"/>
              <a:pathLst>
                <a:path w="22" h="2">
                  <a:moveTo>
                    <a:pt x="22" y="0"/>
                  </a:moveTo>
                  <a:lnTo>
                    <a:pt x="6" y="2"/>
                  </a:lnTo>
                  <a:lnTo>
                    <a:pt x="0" y="0"/>
                  </a:lnTo>
                  <a:lnTo>
                    <a:pt x="2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 name="Freeform 31"/>
            <p:cNvSpPr>
              <a:spLocks/>
            </p:cNvSpPr>
            <p:nvPr/>
          </p:nvSpPr>
          <p:spPr bwMode="auto">
            <a:xfrm>
              <a:off x="4540" y="2607"/>
              <a:ext cx="15" cy="16"/>
            </a:xfrm>
            <a:custGeom>
              <a:avLst/>
              <a:gdLst/>
              <a:ahLst/>
              <a:cxnLst>
                <a:cxn ang="0">
                  <a:pos x="9" y="16"/>
                </a:cxn>
                <a:cxn ang="0">
                  <a:pos x="0" y="6"/>
                </a:cxn>
                <a:cxn ang="0">
                  <a:pos x="15" y="0"/>
                </a:cxn>
                <a:cxn ang="0">
                  <a:pos x="15" y="1"/>
                </a:cxn>
                <a:cxn ang="0">
                  <a:pos x="12" y="10"/>
                </a:cxn>
                <a:cxn ang="0">
                  <a:pos x="9" y="16"/>
                </a:cxn>
              </a:cxnLst>
              <a:rect l="0" t="0" r="r" b="b"/>
              <a:pathLst>
                <a:path w="15" h="16">
                  <a:moveTo>
                    <a:pt x="9" y="16"/>
                  </a:moveTo>
                  <a:lnTo>
                    <a:pt x="0" y="6"/>
                  </a:lnTo>
                  <a:lnTo>
                    <a:pt x="15" y="0"/>
                  </a:lnTo>
                  <a:lnTo>
                    <a:pt x="15" y="1"/>
                  </a:lnTo>
                  <a:lnTo>
                    <a:pt x="12" y="10"/>
                  </a:lnTo>
                  <a:lnTo>
                    <a:pt x="9"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 name="Freeform 32"/>
            <p:cNvSpPr>
              <a:spLocks/>
            </p:cNvSpPr>
            <p:nvPr/>
          </p:nvSpPr>
          <p:spPr bwMode="auto">
            <a:xfrm>
              <a:off x="4462" y="2567"/>
              <a:ext cx="169" cy="120"/>
            </a:xfrm>
            <a:custGeom>
              <a:avLst/>
              <a:gdLst/>
              <a:ahLst/>
              <a:cxnLst>
                <a:cxn ang="0">
                  <a:pos x="113" y="0"/>
                </a:cxn>
                <a:cxn ang="0">
                  <a:pos x="122" y="7"/>
                </a:cxn>
                <a:cxn ang="0">
                  <a:pos x="122" y="19"/>
                </a:cxn>
                <a:cxn ang="0">
                  <a:pos x="129" y="16"/>
                </a:cxn>
                <a:cxn ang="0">
                  <a:pos x="129" y="21"/>
                </a:cxn>
                <a:cxn ang="0">
                  <a:pos x="132" y="22"/>
                </a:cxn>
                <a:cxn ang="0">
                  <a:pos x="151" y="30"/>
                </a:cxn>
                <a:cxn ang="0">
                  <a:pos x="134" y="35"/>
                </a:cxn>
                <a:cxn ang="0">
                  <a:pos x="139" y="45"/>
                </a:cxn>
                <a:cxn ang="0">
                  <a:pos x="128" y="47"/>
                </a:cxn>
                <a:cxn ang="0">
                  <a:pos x="125" y="51"/>
                </a:cxn>
                <a:cxn ang="0">
                  <a:pos x="111" y="48"/>
                </a:cxn>
                <a:cxn ang="0">
                  <a:pos x="97" y="47"/>
                </a:cxn>
                <a:cxn ang="0">
                  <a:pos x="93" y="59"/>
                </a:cxn>
                <a:cxn ang="0">
                  <a:pos x="90" y="72"/>
                </a:cxn>
                <a:cxn ang="0">
                  <a:pos x="86" y="81"/>
                </a:cxn>
                <a:cxn ang="0">
                  <a:pos x="79" y="96"/>
                </a:cxn>
                <a:cxn ang="0">
                  <a:pos x="66" y="102"/>
                </a:cxn>
                <a:cxn ang="0">
                  <a:pos x="45" y="97"/>
                </a:cxn>
                <a:cxn ang="0">
                  <a:pos x="39" y="105"/>
                </a:cxn>
                <a:cxn ang="0">
                  <a:pos x="19" y="109"/>
                </a:cxn>
                <a:cxn ang="0">
                  <a:pos x="3" y="100"/>
                </a:cxn>
                <a:cxn ang="0">
                  <a:pos x="0" y="88"/>
                </a:cxn>
                <a:cxn ang="0">
                  <a:pos x="1" y="89"/>
                </a:cxn>
                <a:cxn ang="0">
                  <a:pos x="13" y="96"/>
                </a:cxn>
                <a:cxn ang="0">
                  <a:pos x="25" y="100"/>
                </a:cxn>
                <a:cxn ang="0">
                  <a:pos x="23" y="99"/>
                </a:cxn>
                <a:cxn ang="0">
                  <a:pos x="25" y="95"/>
                </a:cxn>
                <a:cxn ang="0">
                  <a:pos x="26" y="87"/>
                </a:cxn>
                <a:cxn ang="0">
                  <a:pos x="26" y="83"/>
                </a:cxn>
                <a:cxn ang="0">
                  <a:pos x="29" y="77"/>
                </a:cxn>
                <a:cxn ang="0">
                  <a:pos x="39" y="73"/>
                </a:cxn>
                <a:cxn ang="0">
                  <a:pos x="50" y="70"/>
                </a:cxn>
                <a:cxn ang="0">
                  <a:pos x="60" y="57"/>
                </a:cxn>
                <a:cxn ang="0">
                  <a:pos x="69" y="42"/>
                </a:cxn>
                <a:cxn ang="0">
                  <a:pos x="78" y="52"/>
                </a:cxn>
                <a:cxn ang="0">
                  <a:pos x="81" y="46"/>
                </a:cxn>
                <a:cxn ang="0">
                  <a:pos x="84" y="37"/>
                </a:cxn>
                <a:cxn ang="0">
                  <a:pos x="87" y="47"/>
                </a:cxn>
                <a:cxn ang="0">
                  <a:pos x="87" y="40"/>
                </a:cxn>
                <a:cxn ang="0">
                  <a:pos x="91" y="35"/>
                </a:cxn>
                <a:cxn ang="0">
                  <a:pos x="90" y="30"/>
                </a:cxn>
                <a:cxn ang="0">
                  <a:pos x="93" y="25"/>
                </a:cxn>
                <a:cxn ang="0">
                  <a:pos x="101" y="13"/>
                </a:cxn>
                <a:cxn ang="0">
                  <a:pos x="108" y="0"/>
                </a:cxn>
                <a:cxn ang="0">
                  <a:pos x="109" y="5"/>
                </a:cxn>
                <a:cxn ang="0">
                  <a:pos x="113" y="0"/>
                </a:cxn>
              </a:cxnLst>
              <a:rect l="0" t="0" r="r" b="b"/>
              <a:pathLst>
                <a:path w="151" h="109">
                  <a:moveTo>
                    <a:pt x="113" y="0"/>
                  </a:moveTo>
                  <a:lnTo>
                    <a:pt x="122" y="7"/>
                  </a:lnTo>
                  <a:lnTo>
                    <a:pt x="122" y="19"/>
                  </a:lnTo>
                  <a:lnTo>
                    <a:pt x="129" y="16"/>
                  </a:lnTo>
                  <a:lnTo>
                    <a:pt x="129" y="21"/>
                  </a:lnTo>
                  <a:lnTo>
                    <a:pt x="132" y="22"/>
                  </a:lnTo>
                  <a:lnTo>
                    <a:pt x="151" y="30"/>
                  </a:lnTo>
                  <a:lnTo>
                    <a:pt x="134" y="35"/>
                  </a:lnTo>
                  <a:lnTo>
                    <a:pt x="139" y="45"/>
                  </a:lnTo>
                  <a:lnTo>
                    <a:pt x="128" y="47"/>
                  </a:lnTo>
                  <a:lnTo>
                    <a:pt x="125" y="51"/>
                  </a:lnTo>
                  <a:lnTo>
                    <a:pt x="111" y="48"/>
                  </a:lnTo>
                  <a:lnTo>
                    <a:pt x="97" y="47"/>
                  </a:lnTo>
                  <a:lnTo>
                    <a:pt x="93" y="59"/>
                  </a:lnTo>
                  <a:lnTo>
                    <a:pt x="90" y="72"/>
                  </a:lnTo>
                  <a:lnTo>
                    <a:pt x="86" y="81"/>
                  </a:lnTo>
                  <a:lnTo>
                    <a:pt x="79" y="96"/>
                  </a:lnTo>
                  <a:lnTo>
                    <a:pt x="66" y="102"/>
                  </a:lnTo>
                  <a:lnTo>
                    <a:pt x="45" y="97"/>
                  </a:lnTo>
                  <a:lnTo>
                    <a:pt x="39" y="105"/>
                  </a:lnTo>
                  <a:lnTo>
                    <a:pt x="19" y="109"/>
                  </a:lnTo>
                  <a:lnTo>
                    <a:pt x="3" y="100"/>
                  </a:lnTo>
                  <a:lnTo>
                    <a:pt x="0" y="88"/>
                  </a:lnTo>
                  <a:lnTo>
                    <a:pt x="1" y="89"/>
                  </a:lnTo>
                  <a:lnTo>
                    <a:pt x="13" y="96"/>
                  </a:lnTo>
                  <a:lnTo>
                    <a:pt x="25" y="100"/>
                  </a:lnTo>
                  <a:lnTo>
                    <a:pt x="23" y="99"/>
                  </a:lnTo>
                  <a:lnTo>
                    <a:pt x="25" y="95"/>
                  </a:lnTo>
                  <a:lnTo>
                    <a:pt x="26" y="87"/>
                  </a:lnTo>
                  <a:lnTo>
                    <a:pt x="26" y="83"/>
                  </a:lnTo>
                  <a:lnTo>
                    <a:pt x="29" y="77"/>
                  </a:lnTo>
                  <a:lnTo>
                    <a:pt x="39" y="73"/>
                  </a:lnTo>
                  <a:lnTo>
                    <a:pt x="50" y="70"/>
                  </a:lnTo>
                  <a:lnTo>
                    <a:pt x="60" y="57"/>
                  </a:lnTo>
                  <a:lnTo>
                    <a:pt x="69" y="42"/>
                  </a:lnTo>
                  <a:lnTo>
                    <a:pt x="78" y="52"/>
                  </a:lnTo>
                  <a:lnTo>
                    <a:pt x="81" y="46"/>
                  </a:lnTo>
                  <a:lnTo>
                    <a:pt x="84" y="37"/>
                  </a:lnTo>
                  <a:lnTo>
                    <a:pt x="87" y="47"/>
                  </a:lnTo>
                  <a:lnTo>
                    <a:pt x="87" y="40"/>
                  </a:lnTo>
                  <a:lnTo>
                    <a:pt x="91" y="35"/>
                  </a:lnTo>
                  <a:lnTo>
                    <a:pt x="90" y="30"/>
                  </a:lnTo>
                  <a:lnTo>
                    <a:pt x="93" y="25"/>
                  </a:lnTo>
                  <a:lnTo>
                    <a:pt x="101" y="13"/>
                  </a:lnTo>
                  <a:lnTo>
                    <a:pt x="108" y="0"/>
                  </a:lnTo>
                  <a:lnTo>
                    <a:pt x="109" y="5"/>
                  </a:lnTo>
                  <a:lnTo>
                    <a:pt x="11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 name="Freeform 33"/>
            <p:cNvSpPr>
              <a:spLocks/>
            </p:cNvSpPr>
            <p:nvPr/>
          </p:nvSpPr>
          <p:spPr bwMode="auto">
            <a:xfrm>
              <a:off x="4293" y="2574"/>
              <a:ext cx="76" cy="102"/>
            </a:xfrm>
            <a:custGeom>
              <a:avLst/>
              <a:gdLst/>
              <a:ahLst/>
              <a:cxnLst>
                <a:cxn ang="0">
                  <a:pos x="59" y="93"/>
                </a:cxn>
                <a:cxn ang="0">
                  <a:pos x="40" y="80"/>
                </a:cxn>
                <a:cxn ang="0">
                  <a:pos x="21" y="66"/>
                </a:cxn>
                <a:cxn ang="0">
                  <a:pos x="12" y="46"/>
                </a:cxn>
                <a:cxn ang="0">
                  <a:pos x="6" y="24"/>
                </a:cxn>
                <a:cxn ang="0">
                  <a:pos x="0" y="3"/>
                </a:cxn>
                <a:cxn ang="0">
                  <a:pos x="1" y="0"/>
                </a:cxn>
                <a:cxn ang="0">
                  <a:pos x="13" y="6"/>
                </a:cxn>
                <a:cxn ang="0">
                  <a:pos x="15" y="14"/>
                </a:cxn>
                <a:cxn ang="0">
                  <a:pos x="25" y="14"/>
                </a:cxn>
                <a:cxn ang="0">
                  <a:pos x="31" y="6"/>
                </a:cxn>
                <a:cxn ang="0">
                  <a:pos x="41" y="16"/>
                </a:cxn>
                <a:cxn ang="0">
                  <a:pos x="52" y="27"/>
                </a:cxn>
                <a:cxn ang="0">
                  <a:pos x="53" y="44"/>
                </a:cxn>
                <a:cxn ang="0">
                  <a:pos x="55" y="60"/>
                </a:cxn>
                <a:cxn ang="0">
                  <a:pos x="63" y="76"/>
                </a:cxn>
                <a:cxn ang="0">
                  <a:pos x="70" y="92"/>
                </a:cxn>
                <a:cxn ang="0">
                  <a:pos x="64" y="89"/>
                </a:cxn>
                <a:cxn ang="0">
                  <a:pos x="59" y="93"/>
                </a:cxn>
              </a:cxnLst>
              <a:rect l="0" t="0" r="r" b="b"/>
              <a:pathLst>
                <a:path w="70" h="93">
                  <a:moveTo>
                    <a:pt x="59" y="93"/>
                  </a:moveTo>
                  <a:lnTo>
                    <a:pt x="40" y="80"/>
                  </a:lnTo>
                  <a:lnTo>
                    <a:pt x="21" y="66"/>
                  </a:lnTo>
                  <a:lnTo>
                    <a:pt x="12" y="46"/>
                  </a:lnTo>
                  <a:lnTo>
                    <a:pt x="6" y="24"/>
                  </a:lnTo>
                  <a:lnTo>
                    <a:pt x="0" y="3"/>
                  </a:lnTo>
                  <a:lnTo>
                    <a:pt x="1" y="0"/>
                  </a:lnTo>
                  <a:lnTo>
                    <a:pt x="13" y="6"/>
                  </a:lnTo>
                  <a:lnTo>
                    <a:pt x="15" y="14"/>
                  </a:lnTo>
                  <a:lnTo>
                    <a:pt x="25" y="14"/>
                  </a:lnTo>
                  <a:lnTo>
                    <a:pt x="31" y="6"/>
                  </a:lnTo>
                  <a:lnTo>
                    <a:pt x="41" y="16"/>
                  </a:lnTo>
                  <a:lnTo>
                    <a:pt x="52" y="27"/>
                  </a:lnTo>
                  <a:lnTo>
                    <a:pt x="53" y="44"/>
                  </a:lnTo>
                  <a:lnTo>
                    <a:pt x="55" y="60"/>
                  </a:lnTo>
                  <a:lnTo>
                    <a:pt x="63" y="76"/>
                  </a:lnTo>
                  <a:lnTo>
                    <a:pt x="70" y="92"/>
                  </a:lnTo>
                  <a:lnTo>
                    <a:pt x="64" y="89"/>
                  </a:lnTo>
                  <a:lnTo>
                    <a:pt x="59" y="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 name="Freeform 34"/>
            <p:cNvSpPr>
              <a:spLocks/>
            </p:cNvSpPr>
            <p:nvPr/>
          </p:nvSpPr>
          <p:spPr bwMode="auto">
            <a:xfrm>
              <a:off x="5473" y="2714"/>
              <a:ext cx="2" cy="2"/>
            </a:xfrm>
            <a:custGeom>
              <a:avLst/>
              <a:gdLst/>
              <a:ahLst/>
              <a:cxnLst>
                <a:cxn ang="0">
                  <a:pos x="0" y="2"/>
                </a:cxn>
                <a:cxn ang="0">
                  <a:pos x="0" y="0"/>
                </a:cxn>
                <a:cxn ang="0">
                  <a:pos x="0" y="2"/>
                </a:cxn>
              </a:cxnLst>
              <a:rect l="0" t="0" r="r" b="b"/>
              <a:pathLst>
                <a:path h="2">
                  <a:moveTo>
                    <a:pt x="0" y="2"/>
                  </a:moveTo>
                  <a:lnTo>
                    <a:pt x="0" y="0"/>
                  </a:lnTo>
                  <a:lnTo>
                    <a:pt x="0"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 name="Freeform 35"/>
            <p:cNvSpPr>
              <a:spLocks/>
            </p:cNvSpPr>
            <p:nvPr/>
          </p:nvSpPr>
          <p:spPr bwMode="auto">
            <a:xfrm>
              <a:off x="5006" y="2756"/>
              <a:ext cx="171" cy="160"/>
            </a:xfrm>
            <a:custGeom>
              <a:avLst/>
              <a:gdLst/>
              <a:ahLst/>
              <a:cxnLst>
                <a:cxn ang="0">
                  <a:pos x="154" y="137"/>
                </a:cxn>
                <a:cxn ang="0">
                  <a:pos x="148" y="140"/>
                </a:cxn>
                <a:cxn ang="0">
                  <a:pos x="148" y="144"/>
                </a:cxn>
                <a:cxn ang="0">
                  <a:pos x="140" y="141"/>
                </a:cxn>
                <a:cxn ang="0">
                  <a:pos x="124" y="139"/>
                </a:cxn>
                <a:cxn ang="0">
                  <a:pos x="110" y="135"/>
                </a:cxn>
                <a:cxn ang="0">
                  <a:pos x="101" y="126"/>
                </a:cxn>
                <a:cxn ang="0">
                  <a:pos x="93" y="117"/>
                </a:cxn>
                <a:cxn ang="0">
                  <a:pos x="84" y="107"/>
                </a:cxn>
                <a:cxn ang="0">
                  <a:pos x="77" y="96"/>
                </a:cxn>
                <a:cxn ang="0">
                  <a:pos x="57" y="89"/>
                </a:cxn>
                <a:cxn ang="0">
                  <a:pos x="56" y="92"/>
                </a:cxn>
                <a:cxn ang="0">
                  <a:pos x="46" y="89"/>
                </a:cxn>
                <a:cxn ang="0">
                  <a:pos x="47" y="97"/>
                </a:cxn>
                <a:cxn ang="0">
                  <a:pos x="41" y="97"/>
                </a:cxn>
                <a:cxn ang="0">
                  <a:pos x="42" y="101"/>
                </a:cxn>
                <a:cxn ang="0">
                  <a:pos x="21" y="101"/>
                </a:cxn>
                <a:cxn ang="0">
                  <a:pos x="39" y="110"/>
                </a:cxn>
                <a:cxn ang="0">
                  <a:pos x="30" y="117"/>
                </a:cxn>
                <a:cxn ang="0">
                  <a:pos x="16" y="117"/>
                </a:cxn>
                <a:cxn ang="0">
                  <a:pos x="0" y="117"/>
                </a:cxn>
                <a:cxn ang="0">
                  <a:pos x="2" y="102"/>
                </a:cxn>
                <a:cxn ang="0">
                  <a:pos x="3" y="87"/>
                </a:cxn>
                <a:cxn ang="0">
                  <a:pos x="4" y="73"/>
                </a:cxn>
                <a:cxn ang="0">
                  <a:pos x="5" y="59"/>
                </a:cxn>
                <a:cxn ang="0">
                  <a:pos x="6" y="44"/>
                </a:cxn>
                <a:cxn ang="0">
                  <a:pos x="6" y="29"/>
                </a:cxn>
                <a:cxn ang="0">
                  <a:pos x="8" y="14"/>
                </a:cxn>
                <a:cxn ang="0">
                  <a:pos x="8" y="0"/>
                </a:cxn>
                <a:cxn ang="0">
                  <a:pos x="23" y="7"/>
                </a:cxn>
                <a:cxn ang="0">
                  <a:pos x="38" y="13"/>
                </a:cxn>
                <a:cxn ang="0">
                  <a:pos x="53" y="20"/>
                </a:cxn>
                <a:cxn ang="0">
                  <a:pos x="69" y="27"/>
                </a:cxn>
                <a:cxn ang="0">
                  <a:pos x="82" y="44"/>
                </a:cxn>
                <a:cxn ang="0">
                  <a:pos x="83" y="53"/>
                </a:cxn>
                <a:cxn ang="0">
                  <a:pos x="96" y="59"/>
                </a:cxn>
                <a:cxn ang="0">
                  <a:pos x="111" y="65"/>
                </a:cxn>
                <a:cxn ang="0">
                  <a:pos x="112" y="74"/>
                </a:cxn>
                <a:cxn ang="0">
                  <a:pos x="98" y="75"/>
                </a:cxn>
                <a:cxn ang="0">
                  <a:pos x="105" y="91"/>
                </a:cxn>
                <a:cxn ang="0">
                  <a:pos x="116" y="101"/>
                </a:cxn>
                <a:cxn ang="0">
                  <a:pos x="123" y="116"/>
                </a:cxn>
                <a:cxn ang="0">
                  <a:pos x="132" y="117"/>
                </a:cxn>
                <a:cxn ang="0">
                  <a:pos x="131" y="123"/>
                </a:cxn>
                <a:cxn ang="0">
                  <a:pos x="140" y="128"/>
                </a:cxn>
                <a:cxn ang="0">
                  <a:pos x="138" y="132"/>
                </a:cxn>
                <a:cxn ang="0">
                  <a:pos x="154" y="137"/>
                </a:cxn>
              </a:cxnLst>
              <a:rect l="0" t="0" r="r" b="b"/>
              <a:pathLst>
                <a:path w="154" h="144">
                  <a:moveTo>
                    <a:pt x="154" y="137"/>
                  </a:moveTo>
                  <a:lnTo>
                    <a:pt x="148" y="140"/>
                  </a:lnTo>
                  <a:lnTo>
                    <a:pt x="148" y="144"/>
                  </a:lnTo>
                  <a:lnTo>
                    <a:pt x="140" y="141"/>
                  </a:lnTo>
                  <a:lnTo>
                    <a:pt x="124" y="139"/>
                  </a:lnTo>
                  <a:lnTo>
                    <a:pt x="110" y="135"/>
                  </a:lnTo>
                  <a:lnTo>
                    <a:pt x="101" y="126"/>
                  </a:lnTo>
                  <a:lnTo>
                    <a:pt x="93" y="117"/>
                  </a:lnTo>
                  <a:lnTo>
                    <a:pt x="84" y="107"/>
                  </a:lnTo>
                  <a:lnTo>
                    <a:pt x="77" y="96"/>
                  </a:lnTo>
                  <a:lnTo>
                    <a:pt x="57" y="89"/>
                  </a:lnTo>
                  <a:lnTo>
                    <a:pt x="56" y="92"/>
                  </a:lnTo>
                  <a:lnTo>
                    <a:pt x="46" y="89"/>
                  </a:lnTo>
                  <a:lnTo>
                    <a:pt x="47" y="97"/>
                  </a:lnTo>
                  <a:lnTo>
                    <a:pt x="41" y="97"/>
                  </a:lnTo>
                  <a:lnTo>
                    <a:pt x="42" y="101"/>
                  </a:lnTo>
                  <a:lnTo>
                    <a:pt x="21" y="101"/>
                  </a:lnTo>
                  <a:lnTo>
                    <a:pt x="39" y="110"/>
                  </a:lnTo>
                  <a:lnTo>
                    <a:pt x="30" y="117"/>
                  </a:lnTo>
                  <a:lnTo>
                    <a:pt x="16" y="117"/>
                  </a:lnTo>
                  <a:lnTo>
                    <a:pt x="0" y="117"/>
                  </a:lnTo>
                  <a:lnTo>
                    <a:pt x="2" y="102"/>
                  </a:lnTo>
                  <a:lnTo>
                    <a:pt x="3" y="87"/>
                  </a:lnTo>
                  <a:lnTo>
                    <a:pt x="4" y="73"/>
                  </a:lnTo>
                  <a:lnTo>
                    <a:pt x="5" y="59"/>
                  </a:lnTo>
                  <a:lnTo>
                    <a:pt x="6" y="44"/>
                  </a:lnTo>
                  <a:lnTo>
                    <a:pt x="6" y="29"/>
                  </a:lnTo>
                  <a:lnTo>
                    <a:pt x="8" y="14"/>
                  </a:lnTo>
                  <a:lnTo>
                    <a:pt x="8" y="0"/>
                  </a:lnTo>
                  <a:lnTo>
                    <a:pt x="23" y="7"/>
                  </a:lnTo>
                  <a:lnTo>
                    <a:pt x="38" y="13"/>
                  </a:lnTo>
                  <a:lnTo>
                    <a:pt x="53" y="20"/>
                  </a:lnTo>
                  <a:lnTo>
                    <a:pt x="69" y="27"/>
                  </a:lnTo>
                  <a:lnTo>
                    <a:pt x="82" y="44"/>
                  </a:lnTo>
                  <a:lnTo>
                    <a:pt x="83" y="53"/>
                  </a:lnTo>
                  <a:lnTo>
                    <a:pt x="96" y="59"/>
                  </a:lnTo>
                  <a:lnTo>
                    <a:pt x="111" y="65"/>
                  </a:lnTo>
                  <a:lnTo>
                    <a:pt x="112" y="74"/>
                  </a:lnTo>
                  <a:lnTo>
                    <a:pt x="98" y="75"/>
                  </a:lnTo>
                  <a:lnTo>
                    <a:pt x="105" y="91"/>
                  </a:lnTo>
                  <a:lnTo>
                    <a:pt x="116" y="101"/>
                  </a:lnTo>
                  <a:lnTo>
                    <a:pt x="123" y="116"/>
                  </a:lnTo>
                  <a:lnTo>
                    <a:pt x="132" y="117"/>
                  </a:lnTo>
                  <a:lnTo>
                    <a:pt x="131" y="123"/>
                  </a:lnTo>
                  <a:lnTo>
                    <a:pt x="140" y="128"/>
                  </a:lnTo>
                  <a:lnTo>
                    <a:pt x="138" y="132"/>
                  </a:lnTo>
                  <a:lnTo>
                    <a:pt x="154"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 name="Freeform 36"/>
            <p:cNvSpPr>
              <a:spLocks/>
            </p:cNvSpPr>
            <p:nvPr/>
          </p:nvSpPr>
          <p:spPr bwMode="auto">
            <a:xfrm>
              <a:off x="5142" y="2790"/>
              <a:ext cx="73" cy="40"/>
            </a:xfrm>
            <a:custGeom>
              <a:avLst/>
              <a:gdLst/>
              <a:ahLst/>
              <a:cxnLst>
                <a:cxn ang="0">
                  <a:pos x="66" y="1"/>
                </a:cxn>
                <a:cxn ang="0">
                  <a:pos x="61" y="13"/>
                </a:cxn>
                <a:cxn ang="0">
                  <a:pos x="57" y="15"/>
                </a:cxn>
                <a:cxn ang="0">
                  <a:pos x="58" y="21"/>
                </a:cxn>
                <a:cxn ang="0">
                  <a:pos x="48" y="26"/>
                </a:cxn>
                <a:cxn ang="0">
                  <a:pos x="26" y="36"/>
                </a:cxn>
                <a:cxn ang="0">
                  <a:pos x="13" y="32"/>
                </a:cxn>
                <a:cxn ang="0">
                  <a:pos x="3" y="27"/>
                </a:cxn>
                <a:cxn ang="0">
                  <a:pos x="0" y="21"/>
                </a:cxn>
                <a:cxn ang="0">
                  <a:pos x="21" y="23"/>
                </a:cxn>
                <a:cxn ang="0">
                  <a:pos x="27" y="13"/>
                </a:cxn>
                <a:cxn ang="0">
                  <a:pos x="27" y="19"/>
                </a:cxn>
                <a:cxn ang="0">
                  <a:pos x="36" y="23"/>
                </a:cxn>
                <a:cxn ang="0">
                  <a:pos x="51" y="12"/>
                </a:cxn>
                <a:cxn ang="0">
                  <a:pos x="51" y="1"/>
                </a:cxn>
                <a:cxn ang="0">
                  <a:pos x="60" y="0"/>
                </a:cxn>
                <a:cxn ang="0">
                  <a:pos x="66" y="1"/>
                </a:cxn>
              </a:cxnLst>
              <a:rect l="0" t="0" r="r" b="b"/>
              <a:pathLst>
                <a:path w="66" h="36">
                  <a:moveTo>
                    <a:pt x="66" y="1"/>
                  </a:moveTo>
                  <a:lnTo>
                    <a:pt x="61" y="13"/>
                  </a:lnTo>
                  <a:lnTo>
                    <a:pt x="57" y="15"/>
                  </a:lnTo>
                  <a:lnTo>
                    <a:pt x="58" y="21"/>
                  </a:lnTo>
                  <a:lnTo>
                    <a:pt x="48" y="26"/>
                  </a:lnTo>
                  <a:lnTo>
                    <a:pt x="26" y="36"/>
                  </a:lnTo>
                  <a:lnTo>
                    <a:pt x="13" y="32"/>
                  </a:lnTo>
                  <a:lnTo>
                    <a:pt x="3" y="27"/>
                  </a:lnTo>
                  <a:lnTo>
                    <a:pt x="0" y="21"/>
                  </a:lnTo>
                  <a:lnTo>
                    <a:pt x="21" y="23"/>
                  </a:lnTo>
                  <a:lnTo>
                    <a:pt x="27" y="13"/>
                  </a:lnTo>
                  <a:lnTo>
                    <a:pt x="27" y="19"/>
                  </a:lnTo>
                  <a:lnTo>
                    <a:pt x="36" y="23"/>
                  </a:lnTo>
                  <a:lnTo>
                    <a:pt x="51" y="12"/>
                  </a:lnTo>
                  <a:lnTo>
                    <a:pt x="51" y="1"/>
                  </a:lnTo>
                  <a:lnTo>
                    <a:pt x="60" y="0"/>
                  </a:lnTo>
                  <a:lnTo>
                    <a:pt x="6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 name="Freeform 37"/>
            <p:cNvSpPr>
              <a:spLocks/>
            </p:cNvSpPr>
            <p:nvPr/>
          </p:nvSpPr>
          <p:spPr bwMode="auto">
            <a:xfrm>
              <a:off x="5253" y="2814"/>
              <a:ext cx="20" cy="29"/>
            </a:xfrm>
            <a:custGeom>
              <a:avLst/>
              <a:gdLst/>
              <a:ahLst/>
              <a:cxnLst>
                <a:cxn ang="0">
                  <a:pos x="18" y="24"/>
                </a:cxn>
                <a:cxn ang="0">
                  <a:pos x="14" y="27"/>
                </a:cxn>
                <a:cxn ang="0">
                  <a:pos x="4" y="15"/>
                </a:cxn>
                <a:cxn ang="0">
                  <a:pos x="0" y="0"/>
                </a:cxn>
                <a:cxn ang="0">
                  <a:pos x="10" y="12"/>
                </a:cxn>
                <a:cxn ang="0">
                  <a:pos x="18" y="24"/>
                </a:cxn>
              </a:cxnLst>
              <a:rect l="0" t="0" r="r" b="b"/>
              <a:pathLst>
                <a:path w="18" h="27">
                  <a:moveTo>
                    <a:pt x="18" y="24"/>
                  </a:moveTo>
                  <a:lnTo>
                    <a:pt x="14" y="27"/>
                  </a:lnTo>
                  <a:lnTo>
                    <a:pt x="4" y="15"/>
                  </a:lnTo>
                  <a:lnTo>
                    <a:pt x="0" y="0"/>
                  </a:lnTo>
                  <a:lnTo>
                    <a:pt x="10" y="12"/>
                  </a:lnTo>
                  <a:lnTo>
                    <a:pt x="18"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 name="Freeform 38"/>
            <p:cNvSpPr>
              <a:spLocks/>
            </p:cNvSpPr>
            <p:nvPr/>
          </p:nvSpPr>
          <p:spPr bwMode="auto">
            <a:xfrm>
              <a:off x="5189" y="2759"/>
              <a:ext cx="37" cy="42"/>
            </a:xfrm>
            <a:custGeom>
              <a:avLst/>
              <a:gdLst/>
              <a:ahLst/>
              <a:cxnLst>
                <a:cxn ang="0">
                  <a:pos x="33" y="31"/>
                </a:cxn>
                <a:cxn ang="0">
                  <a:pos x="29" y="37"/>
                </a:cxn>
                <a:cxn ang="0">
                  <a:pos x="18" y="16"/>
                </a:cxn>
                <a:cxn ang="0">
                  <a:pos x="9" y="8"/>
                </a:cxn>
                <a:cxn ang="0">
                  <a:pos x="0" y="1"/>
                </a:cxn>
                <a:cxn ang="0">
                  <a:pos x="0" y="0"/>
                </a:cxn>
                <a:cxn ang="0">
                  <a:pos x="12" y="10"/>
                </a:cxn>
                <a:cxn ang="0">
                  <a:pos x="25" y="19"/>
                </a:cxn>
                <a:cxn ang="0">
                  <a:pos x="33" y="31"/>
                </a:cxn>
              </a:cxnLst>
              <a:rect l="0" t="0" r="r" b="b"/>
              <a:pathLst>
                <a:path w="33" h="37">
                  <a:moveTo>
                    <a:pt x="33" y="31"/>
                  </a:moveTo>
                  <a:lnTo>
                    <a:pt x="29" y="37"/>
                  </a:lnTo>
                  <a:lnTo>
                    <a:pt x="18" y="16"/>
                  </a:lnTo>
                  <a:lnTo>
                    <a:pt x="9" y="8"/>
                  </a:lnTo>
                  <a:lnTo>
                    <a:pt x="0" y="1"/>
                  </a:lnTo>
                  <a:lnTo>
                    <a:pt x="0" y="0"/>
                  </a:lnTo>
                  <a:lnTo>
                    <a:pt x="12" y="10"/>
                  </a:lnTo>
                  <a:lnTo>
                    <a:pt x="25" y="19"/>
                  </a:lnTo>
                  <a:lnTo>
                    <a:pt x="33" y="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 name="Freeform 39"/>
            <p:cNvSpPr>
              <a:spLocks/>
            </p:cNvSpPr>
            <p:nvPr/>
          </p:nvSpPr>
          <p:spPr bwMode="auto">
            <a:xfrm>
              <a:off x="5180" y="2901"/>
              <a:ext cx="6" cy="6"/>
            </a:xfrm>
            <a:custGeom>
              <a:avLst/>
              <a:gdLst/>
              <a:ahLst/>
              <a:cxnLst>
                <a:cxn ang="0">
                  <a:pos x="6" y="3"/>
                </a:cxn>
                <a:cxn ang="0">
                  <a:pos x="3" y="5"/>
                </a:cxn>
                <a:cxn ang="0">
                  <a:pos x="0" y="0"/>
                </a:cxn>
                <a:cxn ang="0">
                  <a:pos x="6" y="3"/>
                </a:cxn>
              </a:cxnLst>
              <a:rect l="0" t="0" r="r" b="b"/>
              <a:pathLst>
                <a:path w="6" h="5">
                  <a:moveTo>
                    <a:pt x="6" y="3"/>
                  </a:moveTo>
                  <a:lnTo>
                    <a:pt x="3" y="5"/>
                  </a:lnTo>
                  <a:lnTo>
                    <a:pt x="0" y="0"/>
                  </a:lnTo>
                  <a:lnTo>
                    <a:pt x="6"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 name="Freeform 40"/>
            <p:cNvSpPr>
              <a:spLocks/>
            </p:cNvSpPr>
            <p:nvPr/>
          </p:nvSpPr>
          <p:spPr bwMode="auto">
            <a:xfrm>
              <a:off x="4042" y="2176"/>
              <a:ext cx="87" cy="111"/>
            </a:xfrm>
            <a:custGeom>
              <a:avLst/>
              <a:gdLst/>
              <a:ahLst/>
              <a:cxnLst>
                <a:cxn ang="0">
                  <a:pos x="28" y="84"/>
                </a:cxn>
                <a:cxn ang="0">
                  <a:pos x="27" y="85"/>
                </a:cxn>
                <a:cxn ang="0">
                  <a:pos x="24" y="80"/>
                </a:cxn>
                <a:cxn ang="0">
                  <a:pos x="24" y="82"/>
                </a:cxn>
                <a:cxn ang="0">
                  <a:pos x="19" y="68"/>
                </a:cxn>
                <a:cxn ang="0">
                  <a:pos x="14" y="55"/>
                </a:cxn>
                <a:cxn ang="0">
                  <a:pos x="13" y="44"/>
                </a:cxn>
                <a:cxn ang="0">
                  <a:pos x="1" y="34"/>
                </a:cxn>
                <a:cxn ang="0">
                  <a:pos x="6" y="27"/>
                </a:cxn>
                <a:cxn ang="0">
                  <a:pos x="12" y="24"/>
                </a:cxn>
                <a:cxn ang="0">
                  <a:pos x="0" y="13"/>
                </a:cxn>
                <a:cxn ang="0">
                  <a:pos x="0" y="0"/>
                </a:cxn>
                <a:cxn ang="0">
                  <a:pos x="10" y="3"/>
                </a:cxn>
                <a:cxn ang="0">
                  <a:pos x="15" y="9"/>
                </a:cxn>
                <a:cxn ang="0">
                  <a:pos x="19" y="6"/>
                </a:cxn>
                <a:cxn ang="0">
                  <a:pos x="25" y="20"/>
                </a:cxn>
                <a:cxn ang="0">
                  <a:pos x="42" y="22"/>
                </a:cxn>
                <a:cxn ang="0">
                  <a:pos x="58" y="24"/>
                </a:cxn>
                <a:cxn ang="0">
                  <a:pos x="67" y="30"/>
                </a:cxn>
                <a:cxn ang="0">
                  <a:pos x="64" y="37"/>
                </a:cxn>
                <a:cxn ang="0">
                  <a:pos x="52" y="45"/>
                </a:cxn>
                <a:cxn ang="0">
                  <a:pos x="56" y="60"/>
                </a:cxn>
                <a:cxn ang="0">
                  <a:pos x="58" y="63"/>
                </a:cxn>
                <a:cxn ang="0">
                  <a:pos x="66" y="50"/>
                </a:cxn>
                <a:cxn ang="0">
                  <a:pos x="72" y="66"/>
                </a:cxn>
                <a:cxn ang="0">
                  <a:pos x="78" y="81"/>
                </a:cxn>
                <a:cxn ang="0">
                  <a:pos x="79" y="92"/>
                </a:cxn>
                <a:cxn ang="0">
                  <a:pos x="74" y="96"/>
                </a:cxn>
                <a:cxn ang="0">
                  <a:pos x="76" y="100"/>
                </a:cxn>
                <a:cxn ang="0">
                  <a:pos x="67" y="84"/>
                </a:cxn>
                <a:cxn ang="0">
                  <a:pos x="58" y="67"/>
                </a:cxn>
                <a:cxn ang="0">
                  <a:pos x="48" y="66"/>
                </a:cxn>
                <a:cxn ang="0">
                  <a:pos x="43" y="55"/>
                </a:cxn>
                <a:cxn ang="0">
                  <a:pos x="27" y="45"/>
                </a:cxn>
                <a:cxn ang="0">
                  <a:pos x="22" y="46"/>
                </a:cxn>
                <a:cxn ang="0">
                  <a:pos x="39" y="56"/>
                </a:cxn>
                <a:cxn ang="0">
                  <a:pos x="44" y="67"/>
                </a:cxn>
                <a:cxn ang="0">
                  <a:pos x="45" y="70"/>
                </a:cxn>
                <a:cxn ang="0">
                  <a:pos x="42" y="85"/>
                </a:cxn>
                <a:cxn ang="0">
                  <a:pos x="38" y="80"/>
                </a:cxn>
                <a:cxn ang="0">
                  <a:pos x="36" y="80"/>
                </a:cxn>
                <a:cxn ang="0">
                  <a:pos x="32" y="84"/>
                </a:cxn>
                <a:cxn ang="0">
                  <a:pos x="28" y="84"/>
                </a:cxn>
              </a:cxnLst>
              <a:rect l="0" t="0" r="r" b="b"/>
              <a:pathLst>
                <a:path w="79" h="100">
                  <a:moveTo>
                    <a:pt x="28" y="84"/>
                  </a:moveTo>
                  <a:lnTo>
                    <a:pt x="27" y="85"/>
                  </a:lnTo>
                  <a:lnTo>
                    <a:pt x="24" y="80"/>
                  </a:lnTo>
                  <a:lnTo>
                    <a:pt x="24" y="82"/>
                  </a:lnTo>
                  <a:lnTo>
                    <a:pt x="19" y="68"/>
                  </a:lnTo>
                  <a:lnTo>
                    <a:pt x="14" y="55"/>
                  </a:lnTo>
                  <a:lnTo>
                    <a:pt x="13" y="44"/>
                  </a:lnTo>
                  <a:lnTo>
                    <a:pt x="1" y="34"/>
                  </a:lnTo>
                  <a:lnTo>
                    <a:pt x="6" y="27"/>
                  </a:lnTo>
                  <a:lnTo>
                    <a:pt x="12" y="24"/>
                  </a:lnTo>
                  <a:lnTo>
                    <a:pt x="0" y="13"/>
                  </a:lnTo>
                  <a:lnTo>
                    <a:pt x="0" y="0"/>
                  </a:lnTo>
                  <a:lnTo>
                    <a:pt x="10" y="3"/>
                  </a:lnTo>
                  <a:lnTo>
                    <a:pt x="15" y="9"/>
                  </a:lnTo>
                  <a:lnTo>
                    <a:pt x="19" y="6"/>
                  </a:lnTo>
                  <a:lnTo>
                    <a:pt x="25" y="20"/>
                  </a:lnTo>
                  <a:lnTo>
                    <a:pt x="42" y="22"/>
                  </a:lnTo>
                  <a:lnTo>
                    <a:pt x="58" y="24"/>
                  </a:lnTo>
                  <a:lnTo>
                    <a:pt x="67" y="30"/>
                  </a:lnTo>
                  <a:lnTo>
                    <a:pt x="64" y="37"/>
                  </a:lnTo>
                  <a:lnTo>
                    <a:pt x="52" y="45"/>
                  </a:lnTo>
                  <a:lnTo>
                    <a:pt x="56" y="60"/>
                  </a:lnTo>
                  <a:lnTo>
                    <a:pt x="58" y="63"/>
                  </a:lnTo>
                  <a:lnTo>
                    <a:pt x="66" y="50"/>
                  </a:lnTo>
                  <a:lnTo>
                    <a:pt x="72" y="66"/>
                  </a:lnTo>
                  <a:lnTo>
                    <a:pt x="78" y="81"/>
                  </a:lnTo>
                  <a:lnTo>
                    <a:pt x="79" y="92"/>
                  </a:lnTo>
                  <a:lnTo>
                    <a:pt x="74" y="96"/>
                  </a:lnTo>
                  <a:lnTo>
                    <a:pt x="76" y="100"/>
                  </a:lnTo>
                  <a:lnTo>
                    <a:pt x="67" y="84"/>
                  </a:lnTo>
                  <a:lnTo>
                    <a:pt x="58" y="67"/>
                  </a:lnTo>
                  <a:lnTo>
                    <a:pt x="48" y="66"/>
                  </a:lnTo>
                  <a:lnTo>
                    <a:pt x="43" y="55"/>
                  </a:lnTo>
                  <a:lnTo>
                    <a:pt x="27" y="45"/>
                  </a:lnTo>
                  <a:lnTo>
                    <a:pt x="22" y="46"/>
                  </a:lnTo>
                  <a:lnTo>
                    <a:pt x="39" y="56"/>
                  </a:lnTo>
                  <a:lnTo>
                    <a:pt x="44" y="67"/>
                  </a:lnTo>
                  <a:lnTo>
                    <a:pt x="45" y="70"/>
                  </a:lnTo>
                  <a:lnTo>
                    <a:pt x="42" y="85"/>
                  </a:lnTo>
                  <a:lnTo>
                    <a:pt x="38" y="80"/>
                  </a:lnTo>
                  <a:lnTo>
                    <a:pt x="36" y="80"/>
                  </a:lnTo>
                  <a:lnTo>
                    <a:pt x="32" y="84"/>
                  </a:lnTo>
                  <a:lnTo>
                    <a:pt x="28" y="8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 name="Freeform 41"/>
            <p:cNvSpPr>
              <a:spLocks/>
            </p:cNvSpPr>
            <p:nvPr/>
          </p:nvSpPr>
          <p:spPr bwMode="auto">
            <a:xfrm>
              <a:off x="4046" y="2143"/>
              <a:ext cx="56" cy="27"/>
            </a:xfrm>
            <a:custGeom>
              <a:avLst/>
              <a:gdLst/>
              <a:ahLst/>
              <a:cxnLst>
                <a:cxn ang="0">
                  <a:pos x="33" y="2"/>
                </a:cxn>
                <a:cxn ang="0">
                  <a:pos x="11" y="0"/>
                </a:cxn>
                <a:cxn ang="0">
                  <a:pos x="0" y="15"/>
                </a:cxn>
                <a:cxn ang="0">
                  <a:pos x="3" y="22"/>
                </a:cxn>
                <a:cxn ang="0">
                  <a:pos x="22" y="25"/>
                </a:cxn>
                <a:cxn ang="0">
                  <a:pos x="36" y="24"/>
                </a:cxn>
                <a:cxn ang="0">
                  <a:pos x="51" y="22"/>
                </a:cxn>
                <a:cxn ang="0">
                  <a:pos x="45" y="13"/>
                </a:cxn>
                <a:cxn ang="0">
                  <a:pos x="40" y="7"/>
                </a:cxn>
                <a:cxn ang="0">
                  <a:pos x="33" y="2"/>
                </a:cxn>
              </a:cxnLst>
              <a:rect l="0" t="0" r="r" b="b"/>
              <a:pathLst>
                <a:path w="51" h="25">
                  <a:moveTo>
                    <a:pt x="33" y="2"/>
                  </a:moveTo>
                  <a:lnTo>
                    <a:pt x="11" y="0"/>
                  </a:lnTo>
                  <a:lnTo>
                    <a:pt x="0" y="15"/>
                  </a:lnTo>
                  <a:lnTo>
                    <a:pt x="3" y="22"/>
                  </a:lnTo>
                  <a:lnTo>
                    <a:pt x="22" y="25"/>
                  </a:lnTo>
                  <a:lnTo>
                    <a:pt x="36" y="24"/>
                  </a:lnTo>
                  <a:lnTo>
                    <a:pt x="51" y="22"/>
                  </a:lnTo>
                  <a:lnTo>
                    <a:pt x="45" y="13"/>
                  </a:lnTo>
                  <a:lnTo>
                    <a:pt x="40" y="7"/>
                  </a:lnTo>
                  <a:lnTo>
                    <a:pt x="3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 name="Freeform 42"/>
            <p:cNvSpPr>
              <a:spLocks/>
            </p:cNvSpPr>
            <p:nvPr/>
          </p:nvSpPr>
          <p:spPr bwMode="auto">
            <a:xfrm>
              <a:off x="4320" y="2412"/>
              <a:ext cx="93" cy="84"/>
            </a:xfrm>
            <a:custGeom>
              <a:avLst/>
              <a:gdLst/>
              <a:ahLst/>
              <a:cxnLst>
                <a:cxn ang="0">
                  <a:pos x="59" y="56"/>
                </a:cxn>
                <a:cxn ang="0">
                  <a:pos x="64" y="70"/>
                </a:cxn>
                <a:cxn ang="0">
                  <a:pos x="52" y="68"/>
                </a:cxn>
                <a:cxn ang="0">
                  <a:pos x="48" y="71"/>
                </a:cxn>
                <a:cxn ang="0">
                  <a:pos x="39" y="77"/>
                </a:cxn>
                <a:cxn ang="0">
                  <a:pos x="29" y="74"/>
                </a:cxn>
                <a:cxn ang="0">
                  <a:pos x="24" y="72"/>
                </a:cxn>
                <a:cxn ang="0">
                  <a:pos x="22" y="64"/>
                </a:cxn>
                <a:cxn ang="0">
                  <a:pos x="17" y="68"/>
                </a:cxn>
                <a:cxn ang="0">
                  <a:pos x="14" y="56"/>
                </a:cxn>
                <a:cxn ang="0">
                  <a:pos x="12" y="55"/>
                </a:cxn>
                <a:cxn ang="0">
                  <a:pos x="6" y="41"/>
                </a:cxn>
                <a:cxn ang="0">
                  <a:pos x="0" y="25"/>
                </a:cxn>
                <a:cxn ang="0">
                  <a:pos x="11" y="7"/>
                </a:cxn>
                <a:cxn ang="0">
                  <a:pos x="27" y="7"/>
                </a:cxn>
                <a:cxn ang="0">
                  <a:pos x="44" y="6"/>
                </a:cxn>
                <a:cxn ang="0">
                  <a:pos x="57" y="13"/>
                </a:cxn>
                <a:cxn ang="0">
                  <a:pos x="57" y="8"/>
                </a:cxn>
                <a:cxn ang="0">
                  <a:pos x="63" y="4"/>
                </a:cxn>
                <a:cxn ang="0">
                  <a:pos x="69" y="6"/>
                </a:cxn>
                <a:cxn ang="0">
                  <a:pos x="80" y="0"/>
                </a:cxn>
                <a:cxn ang="0">
                  <a:pos x="81" y="16"/>
                </a:cxn>
                <a:cxn ang="0">
                  <a:pos x="82" y="30"/>
                </a:cxn>
                <a:cxn ang="0">
                  <a:pos x="83" y="44"/>
                </a:cxn>
                <a:cxn ang="0">
                  <a:pos x="68" y="52"/>
                </a:cxn>
                <a:cxn ang="0">
                  <a:pos x="59" y="56"/>
                </a:cxn>
              </a:cxnLst>
              <a:rect l="0" t="0" r="r" b="b"/>
              <a:pathLst>
                <a:path w="83" h="77">
                  <a:moveTo>
                    <a:pt x="59" y="56"/>
                  </a:moveTo>
                  <a:lnTo>
                    <a:pt x="64" y="70"/>
                  </a:lnTo>
                  <a:lnTo>
                    <a:pt x="52" y="68"/>
                  </a:lnTo>
                  <a:lnTo>
                    <a:pt x="48" y="71"/>
                  </a:lnTo>
                  <a:lnTo>
                    <a:pt x="39" y="77"/>
                  </a:lnTo>
                  <a:lnTo>
                    <a:pt x="29" y="74"/>
                  </a:lnTo>
                  <a:lnTo>
                    <a:pt x="24" y="72"/>
                  </a:lnTo>
                  <a:lnTo>
                    <a:pt x="22" y="64"/>
                  </a:lnTo>
                  <a:lnTo>
                    <a:pt x="17" y="68"/>
                  </a:lnTo>
                  <a:lnTo>
                    <a:pt x="14" y="56"/>
                  </a:lnTo>
                  <a:lnTo>
                    <a:pt x="12" y="55"/>
                  </a:lnTo>
                  <a:lnTo>
                    <a:pt x="6" y="41"/>
                  </a:lnTo>
                  <a:lnTo>
                    <a:pt x="0" y="25"/>
                  </a:lnTo>
                  <a:lnTo>
                    <a:pt x="11" y="7"/>
                  </a:lnTo>
                  <a:lnTo>
                    <a:pt x="27" y="7"/>
                  </a:lnTo>
                  <a:lnTo>
                    <a:pt x="44" y="6"/>
                  </a:lnTo>
                  <a:lnTo>
                    <a:pt x="57" y="13"/>
                  </a:lnTo>
                  <a:lnTo>
                    <a:pt x="57" y="8"/>
                  </a:lnTo>
                  <a:lnTo>
                    <a:pt x="63" y="4"/>
                  </a:lnTo>
                  <a:lnTo>
                    <a:pt x="69" y="6"/>
                  </a:lnTo>
                  <a:lnTo>
                    <a:pt x="80" y="0"/>
                  </a:lnTo>
                  <a:lnTo>
                    <a:pt x="81" y="16"/>
                  </a:lnTo>
                  <a:lnTo>
                    <a:pt x="82" y="30"/>
                  </a:lnTo>
                  <a:lnTo>
                    <a:pt x="83" y="44"/>
                  </a:lnTo>
                  <a:lnTo>
                    <a:pt x="68" y="52"/>
                  </a:lnTo>
                  <a:lnTo>
                    <a:pt x="59"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 name="Freeform 43"/>
            <p:cNvSpPr>
              <a:spLocks/>
            </p:cNvSpPr>
            <p:nvPr/>
          </p:nvSpPr>
          <p:spPr bwMode="auto">
            <a:xfrm>
              <a:off x="4493" y="2261"/>
              <a:ext cx="5" cy="2"/>
            </a:xfrm>
            <a:custGeom>
              <a:avLst/>
              <a:gdLst/>
              <a:ahLst/>
              <a:cxnLst>
                <a:cxn ang="0">
                  <a:pos x="4" y="0"/>
                </a:cxn>
                <a:cxn ang="0">
                  <a:pos x="3" y="1"/>
                </a:cxn>
                <a:cxn ang="0">
                  <a:pos x="0" y="1"/>
                </a:cxn>
                <a:cxn ang="0">
                  <a:pos x="4" y="0"/>
                </a:cxn>
              </a:cxnLst>
              <a:rect l="0" t="0" r="r" b="b"/>
              <a:pathLst>
                <a:path w="4" h="1">
                  <a:moveTo>
                    <a:pt x="4" y="0"/>
                  </a:moveTo>
                  <a:lnTo>
                    <a:pt x="3" y="1"/>
                  </a:lnTo>
                  <a:lnTo>
                    <a:pt x="0" y="1"/>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5" name="Freeform 44"/>
            <p:cNvSpPr>
              <a:spLocks/>
            </p:cNvSpPr>
            <p:nvPr/>
          </p:nvSpPr>
          <p:spPr bwMode="auto">
            <a:xfrm>
              <a:off x="4262" y="2259"/>
              <a:ext cx="147" cy="168"/>
            </a:xfrm>
            <a:custGeom>
              <a:avLst/>
              <a:gdLst/>
              <a:ahLst/>
              <a:cxnLst>
                <a:cxn ang="0">
                  <a:pos x="74" y="38"/>
                </a:cxn>
                <a:cxn ang="0">
                  <a:pos x="69" y="34"/>
                </a:cxn>
                <a:cxn ang="0">
                  <a:pos x="60" y="25"/>
                </a:cxn>
                <a:cxn ang="0">
                  <a:pos x="53" y="29"/>
                </a:cxn>
                <a:cxn ang="0">
                  <a:pos x="41" y="19"/>
                </a:cxn>
                <a:cxn ang="0">
                  <a:pos x="38" y="12"/>
                </a:cxn>
                <a:cxn ang="0">
                  <a:pos x="26" y="0"/>
                </a:cxn>
                <a:cxn ang="0">
                  <a:pos x="18" y="0"/>
                </a:cxn>
                <a:cxn ang="0">
                  <a:pos x="21" y="22"/>
                </a:cxn>
                <a:cxn ang="0">
                  <a:pos x="15" y="18"/>
                </a:cxn>
                <a:cxn ang="0">
                  <a:pos x="13" y="14"/>
                </a:cxn>
                <a:cxn ang="0">
                  <a:pos x="6" y="28"/>
                </a:cxn>
                <a:cxn ang="0">
                  <a:pos x="0" y="36"/>
                </a:cxn>
                <a:cxn ang="0">
                  <a:pos x="6" y="38"/>
                </a:cxn>
                <a:cxn ang="0">
                  <a:pos x="7" y="49"/>
                </a:cxn>
                <a:cxn ang="0">
                  <a:pos x="19" y="50"/>
                </a:cxn>
                <a:cxn ang="0">
                  <a:pos x="20" y="68"/>
                </a:cxn>
                <a:cxn ang="0">
                  <a:pos x="21" y="86"/>
                </a:cxn>
                <a:cxn ang="0">
                  <a:pos x="36" y="76"/>
                </a:cxn>
                <a:cxn ang="0">
                  <a:pos x="45" y="79"/>
                </a:cxn>
                <a:cxn ang="0">
                  <a:pos x="53" y="77"/>
                </a:cxn>
                <a:cxn ang="0">
                  <a:pos x="60" y="72"/>
                </a:cxn>
                <a:cxn ang="0">
                  <a:pos x="79" y="88"/>
                </a:cxn>
                <a:cxn ang="0">
                  <a:pos x="81" y="101"/>
                </a:cxn>
                <a:cxn ang="0">
                  <a:pos x="96" y="119"/>
                </a:cxn>
                <a:cxn ang="0">
                  <a:pos x="99" y="134"/>
                </a:cxn>
                <a:cxn ang="0">
                  <a:pos x="95" y="144"/>
                </a:cxn>
                <a:cxn ang="0">
                  <a:pos x="108" y="151"/>
                </a:cxn>
                <a:cxn ang="0">
                  <a:pos x="108" y="146"/>
                </a:cxn>
                <a:cxn ang="0">
                  <a:pos x="114" y="142"/>
                </a:cxn>
                <a:cxn ang="0">
                  <a:pos x="120" y="144"/>
                </a:cxn>
                <a:cxn ang="0">
                  <a:pos x="131" y="138"/>
                </a:cxn>
                <a:cxn ang="0">
                  <a:pos x="128" y="124"/>
                </a:cxn>
                <a:cxn ang="0">
                  <a:pos x="123" y="118"/>
                </a:cxn>
                <a:cxn ang="0">
                  <a:pos x="125" y="114"/>
                </a:cxn>
                <a:cxn ang="0">
                  <a:pos x="110" y="102"/>
                </a:cxn>
                <a:cxn ang="0">
                  <a:pos x="103" y="92"/>
                </a:cxn>
                <a:cxn ang="0">
                  <a:pos x="93" y="80"/>
                </a:cxn>
                <a:cxn ang="0">
                  <a:pos x="84" y="68"/>
                </a:cxn>
                <a:cxn ang="0">
                  <a:pos x="63" y="53"/>
                </a:cxn>
                <a:cxn ang="0">
                  <a:pos x="67" y="48"/>
                </a:cxn>
                <a:cxn ang="0">
                  <a:pos x="75" y="46"/>
                </a:cxn>
                <a:cxn ang="0">
                  <a:pos x="74" y="38"/>
                </a:cxn>
              </a:cxnLst>
              <a:rect l="0" t="0" r="r" b="b"/>
              <a:pathLst>
                <a:path w="131" h="151">
                  <a:moveTo>
                    <a:pt x="74" y="38"/>
                  </a:moveTo>
                  <a:lnTo>
                    <a:pt x="69" y="34"/>
                  </a:lnTo>
                  <a:lnTo>
                    <a:pt x="60" y="25"/>
                  </a:lnTo>
                  <a:lnTo>
                    <a:pt x="53" y="29"/>
                  </a:lnTo>
                  <a:lnTo>
                    <a:pt x="41" y="19"/>
                  </a:lnTo>
                  <a:lnTo>
                    <a:pt x="38" y="12"/>
                  </a:lnTo>
                  <a:lnTo>
                    <a:pt x="26" y="0"/>
                  </a:lnTo>
                  <a:lnTo>
                    <a:pt x="18" y="0"/>
                  </a:lnTo>
                  <a:lnTo>
                    <a:pt x="21" y="22"/>
                  </a:lnTo>
                  <a:lnTo>
                    <a:pt x="15" y="18"/>
                  </a:lnTo>
                  <a:lnTo>
                    <a:pt x="13" y="14"/>
                  </a:lnTo>
                  <a:lnTo>
                    <a:pt x="6" y="28"/>
                  </a:lnTo>
                  <a:lnTo>
                    <a:pt x="0" y="36"/>
                  </a:lnTo>
                  <a:lnTo>
                    <a:pt x="6" y="38"/>
                  </a:lnTo>
                  <a:lnTo>
                    <a:pt x="7" y="49"/>
                  </a:lnTo>
                  <a:lnTo>
                    <a:pt x="19" y="50"/>
                  </a:lnTo>
                  <a:lnTo>
                    <a:pt x="20" y="68"/>
                  </a:lnTo>
                  <a:lnTo>
                    <a:pt x="21" y="86"/>
                  </a:lnTo>
                  <a:lnTo>
                    <a:pt x="36" y="76"/>
                  </a:lnTo>
                  <a:lnTo>
                    <a:pt x="45" y="79"/>
                  </a:lnTo>
                  <a:lnTo>
                    <a:pt x="53" y="77"/>
                  </a:lnTo>
                  <a:lnTo>
                    <a:pt x="60" y="72"/>
                  </a:lnTo>
                  <a:lnTo>
                    <a:pt x="79" y="88"/>
                  </a:lnTo>
                  <a:lnTo>
                    <a:pt x="81" y="101"/>
                  </a:lnTo>
                  <a:lnTo>
                    <a:pt x="96" y="119"/>
                  </a:lnTo>
                  <a:lnTo>
                    <a:pt x="99" y="134"/>
                  </a:lnTo>
                  <a:lnTo>
                    <a:pt x="95" y="144"/>
                  </a:lnTo>
                  <a:lnTo>
                    <a:pt x="108" y="151"/>
                  </a:lnTo>
                  <a:lnTo>
                    <a:pt x="108" y="146"/>
                  </a:lnTo>
                  <a:lnTo>
                    <a:pt x="114" y="142"/>
                  </a:lnTo>
                  <a:lnTo>
                    <a:pt x="120" y="144"/>
                  </a:lnTo>
                  <a:lnTo>
                    <a:pt x="131" y="138"/>
                  </a:lnTo>
                  <a:lnTo>
                    <a:pt x="128" y="124"/>
                  </a:lnTo>
                  <a:lnTo>
                    <a:pt x="123" y="118"/>
                  </a:lnTo>
                  <a:lnTo>
                    <a:pt x="125" y="114"/>
                  </a:lnTo>
                  <a:lnTo>
                    <a:pt x="110" y="102"/>
                  </a:lnTo>
                  <a:lnTo>
                    <a:pt x="103" y="92"/>
                  </a:lnTo>
                  <a:lnTo>
                    <a:pt x="93" y="80"/>
                  </a:lnTo>
                  <a:lnTo>
                    <a:pt x="84" y="68"/>
                  </a:lnTo>
                  <a:lnTo>
                    <a:pt x="63" y="53"/>
                  </a:lnTo>
                  <a:lnTo>
                    <a:pt x="67" y="48"/>
                  </a:lnTo>
                  <a:lnTo>
                    <a:pt x="75" y="46"/>
                  </a:lnTo>
                  <a:lnTo>
                    <a:pt x="74"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6" name="Freeform 45"/>
            <p:cNvSpPr>
              <a:spLocks/>
            </p:cNvSpPr>
            <p:nvPr/>
          </p:nvSpPr>
          <p:spPr bwMode="auto">
            <a:xfrm>
              <a:off x="4124" y="2136"/>
              <a:ext cx="154" cy="367"/>
            </a:xfrm>
            <a:custGeom>
              <a:avLst/>
              <a:gdLst/>
              <a:ahLst/>
              <a:cxnLst>
                <a:cxn ang="0">
                  <a:pos x="76" y="81"/>
                </a:cxn>
                <a:cxn ang="0">
                  <a:pos x="74" y="66"/>
                </a:cxn>
                <a:cxn ang="0">
                  <a:pos x="84" y="45"/>
                </a:cxn>
                <a:cxn ang="0">
                  <a:pos x="78" y="16"/>
                </a:cxn>
                <a:cxn ang="0">
                  <a:pos x="58" y="0"/>
                </a:cxn>
                <a:cxn ang="0">
                  <a:pos x="54" y="14"/>
                </a:cxn>
                <a:cxn ang="0">
                  <a:pos x="55" y="25"/>
                </a:cxn>
                <a:cxn ang="0">
                  <a:pos x="29" y="38"/>
                </a:cxn>
                <a:cxn ang="0">
                  <a:pos x="28" y="61"/>
                </a:cxn>
                <a:cxn ang="0">
                  <a:pos x="11" y="82"/>
                </a:cxn>
                <a:cxn ang="0">
                  <a:pos x="10" y="117"/>
                </a:cxn>
                <a:cxn ang="0">
                  <a:pos x="4" y="117"/>
                </a:cxn>
                <a:cxn ang="0">
                  <a:pos x="0" y="132"/>
                </a:cxn>
                <a:cxn ang="0">
                  <a:pos x="11" y="148"/>
                </a:cxn>
                <a:cxn ang="0">
                  <a:pos x="18" y="156"/>
                </a:cxn>
                <a:cxn ang="0">
                  <a:pos x="26" y="156"/>
                </a:cxn>
                <a:cxn ang="0">
                  <a:pos x="26" y="165"/>
                </a:cxn>
                <a:cxn ang="0">
                  <a:pos x="34" y="165"/>
                </a:cxn>
                <a:cxn ang="0">
                  <a:pos x="44" y="194"/>
                </a:cxn>
                <a:cxn ang="0">
                  <a:pos x="43" y="224"/>
                </a:cxn>
                <a:cxn ang="0">
                  <a:pos x="52" y="225"/>
                </a:cxn>
                <a:cxn ang="0">
                  <a:pos x="58" y="226"/>
                </a:cxn>
                <a:cxn ang="0">
                  <a:pos x="61" y="228"/>
                </a:cxn>
                <a:cxn ang="0">
                  <a:pos x="74" y="213"/>
                </a:cxn>
                <a:cxn ang="0">
                  <a:pos x="83" y="201"/>
                </a:cxn>
                <a:cxn ang="0">
                  <a:pos x="96" y="216"/>
                </a:cxn>
                <a:cxn ang="0">
                  <a:pos x="109" y="266"/>
                </a:cxn>
                <a:cxn ang="0">
                  <a:pos x="115" y="274"/>
                </a:cxn>
                <a:cxn ang="0">
                  <a:pos x="122" y="301"/>
                </a:cxn>
                <a:cxn ang="0">
                  <a:pos x="121" y="330"/>
                </a:cxn>
                <a:cxn ang="0">
                  <a:pos x="131" y="314"/>
                </a:cxn>
                <a:cxn ang="0">
                  <a:pos x="131" y="285"/>
                </a:cxn>
                <a:cxn ang="0">
                  <a:pos x="119" y="259"/>
                </a:cxn>
                <a:cxn ang="0">
                  <a:pos x="110" y="237"/>
                </a:cxn>
                <a:cxn ang="0">
                  <a:pos x="116" y="219"/>
                </a:cxn>
                <a:cxn ang="0">
                  <a:pos x="100" y="199"/>
                </a:cxn>
                <a:cxn ang="0">
                  <a:pos x="91" y="180"/>
                </a:cxn>
                <a:cxn ang="0">
                  <a:pos x="109" y="157"/>
                </a:cxn>
                <a:cxn ang="0">
                  <a:pos x="125" y="146"/>
                </a:cxn>
                <a:cxn ang="0">
                  <a:pos x="138" y="124"/>
                </a:cxn>
                <a:cxn ang="0">
                  <a:pos x="122" y="126"/>
                </a:cxn>
                <a:cxn ang="0">
                  <a:pos x="106" y="112"/>
                </a:cxn>
                <a:cxn ang="0">
                  <a:pos x="97" y="93"/>
                </a:cxn>
                <a:cxn ang="0">
                  <a:pos x="92" y="79"/>
                </a:cxn>
              </a:cxnLst>
              <a:rect l="0" t="0" r="r" b="b"/>
              <a:pathLst>
                <a:path w="138" h="330">
                  <a:moveTo>
                    <a:pt x="92" y="79"/>
                  </a:moveTo>
                  <a:lnTo>
                    <a:pt x="76" y="81"/>
                  </a:lnTo>
                  <a:lnTo>
                    <a:pt x="76" y="73"/>
                  </a:lnTo>
                  <a:lnTo>
                    <a:pt x="74" y="66"/>
                  </a:lnTo>
                  <a:lnTo>
                    <a:pt x="82" y="54"/>
                  </a:lnTo>
                  <a:lnTo>
                    <a:pt x="84" y="45"/>
                  </a:lnTo>
                  <a:lnTo>
                    <a:pt x="80" y="31"/>
                  </a:lnTo>
                  <a:lnTo>
                    <a:pt x="78" y="16"/>
                  </a:lnTo>
                  <a:lnTo>
                    <a:pt x="71" y="13"/>
                  </a:lnTo>
                  <a:lnTo>
                    <a:pt x="58" y="0"/>
                  </a:lnTo>
                  <a:lnTo>
                    <a:pt x="56" y="6"/>
                  </a:lnTo>
                  <a:lnTo>
                    <a:pt x="54" y="14"/>
                  </a:lnTo>
                  <a:lnTo>
                    <a:pt x="53" y="19"/>
                  </a:lnTo>
                  <a:lnTo>
                    <a:pt x="55" y="25"/>
                  </a:lnTo>
                  <a:lnTo>
                    <a:pt x="43" y="22"/>
                  </a:lnTo>
                  <a:lnTo>
                    <a:pt x="29" y="38"/>
                  </a:lnTo>
                  <a:lnTo>
                    <a:pt x="29" y="52"/>
                  </a:lnTo>
                  <a:lnTo>
                    <a:pt x="28" y="61"/>
                  </a:lnTo>
                  <a:lnTo>
                    <a:pt x="20" y="82"/>
                  </a:lnTo>
                  <a:lnTo>
                    <a:pt x="11" y="82"/>
                  </a:lnTo>
                  <a:lnTo>
                    <a:pt x="11" y="98"/>
                  </a:lnTo>
                  <a:lnTo>
                    <a:pt x="10" y="117"/>
                  </a:lnTo>
                  <a:lnTo>
                    <a:pt x="5" y="116"/>
                  </a:lnTo>
                  <a:lnTo>
                    <a:pt x="4" y="117"/>
                  </a:lnTo>
                  <a:lnTo>
                    <a:pt x="5" y="128"/>
                  </a:lnTo>
                  <a:lnTo>
                    <a:pt x="0" y="132"/>
                  </a:lnTo>
                  <a:lnTo>
                    <a:pt x="11" y="147"/>
                  </a:lnTo>
                  <a:lnTo>
                    <a:pt x="11" y="148"/>
                  </a:lnTo>
                  <a:lnTo>
                    <a:pt x="14" y="145"/>
                  </a:lnTo>
                  <a:lnTo>
                    <a:pt x="18" y="156"/>
                  </a:lnTo>
                  <a:lnTo>
                    <a:pt x="19" y="156"/>
                  </a:lnTo>
                  <a:lnTo>
                    <a:pt x="26" y="156"/>
                  </a:lnTo>
                  <a:lnTo>
                    <a:pt x="31" y="163"/>
                  </a:lnTo>
                  <a:lnTo>
                    <a:pt x="26" y="165"/>
                  </a:lnTo>
                  <a:lnTo>
                    <a:pt x="31" y="172"/>
                  </a:lnTo>
                  <a:lnTo>
                    <a:pt x="34" y="165"/>
                  </a:lnTo>
                  <a:lnTo>
                    <a:pt x="40" y="180"/>
                  </a:lnTo>
                  <a:lnTo>
                    <a:pt x="44" y="194"/>
                  </a:lnTo>
                  <a:lnTo>
                    <a:pt x="44" y="208"/>
                  </a:lnTo>
                  <a:lnTo>
                    <a:pt x="43" y="224"/>
                  </a:lnTo>
                  <a:lnTo>
                    <a:pt x="49" y="216"/>
                  </a:lnTo>
                  <a:lnTo>
                    <a:pt x="52" y="225"/>
                  </a:lnTo>
                  <a:lnTo>
                    <a:pt x="54" y="228"/>
                  </a:lnTo>
                  <a:lnTo>
                    <a:pt x="58" y="226"/>
                  </a:lnTo>
                  <a:lnTo>
                    <a:pt x="61" y="225"/>
                  </a:lnTo>
                  <a:lnTo>
                    <a:pt x="61" y="228"/>
                  </a:lnTo>
                  <a:lnTo>
                    <a:pt x="72" y="218"/>
                  </a:lnTo>
                  <a:lnTo>
                    <a:pt x="74" y="213"/>
                  </a:lnTo>
                  <a:lnTo>
                    <a:pt x="78" y="216"/>
                  </a:lnTo>
                  <a:lnTo>
                    <a:pt x="83" y="201"/>
                  </a:lnTo>
                  <a:lnTo>
                    <a:pt x="89" y="210"/>
                  </a:lnTo>
                  <a:lnTo>
                    <a:pt x="96" y="216"/>
                  </a:lnTo>
                  <a:lnTo>
                    <a:pt x="103" y="241"/>
                  </a:lnTo>
                  <a:lnTo>
                    <a:pt x="109" y="266"/>
                  </a:lnTo>
                  <a:lnTo>
                    <a:pt x="110" y="261"/>
                  </a:lnTo>
                  <a:lnTo>
                    <a:pt x="115" y="274"/>
                  </a:lnTo>
                  <a:lnTo>
                    <a:pt x="120" y="288"/>
                  </a:lnTo>
                  <a:lnTo>
                    <a:pt x="122" y="301"/>
                  </a:lnTo>
                  <a:lnTo>
                    <a:pt x="122" y="316"/>
                  </a:lnTo>
                  <a:lnTo>
                    <a:pt x="121" y="330"/>
                  </a:lnTo>
                  <a:lnTo>
                    <a:pt x="125" y="326"/>
                  </a:lnTo>
                  <a:lnTo>
                    <a:pt x="131" y="314"/>
                  </a:lnTo>
                  <a:lnTo>
                    <a:pt x="136" y="303"/>
                  </a:lnTo>
                  <a:lnTo>
                    <a:pt x="131" y="285"/>
                  </a:lnTo>
                  <a:lnTo>
                    <a:pt x="127" y="270"/>
                  </a:lnTo>
                  <a:lnTo>
                    <a:pt x="119" y="259"/>
                  </a:lnTo>
                  <a:lnTo>
                    <a:pt x="110" y="248"/>
                  </a:lnTo>
                  <a:lnTo>
                    <a:pt x="110" y="237"/>
                  </a:lnTo>
                  <a:lnTo>
                    <a:pt x="113" y="230"/>
                  </a:lnTo>
                  <a:lnTo>
                    <a:pt x="116" y="219"/>
                  </a:lnTo>
                  <a:lnTo>
                    <a:pt x="113" y="218"/>
                  </a:lnTo>
                  <a:lnTo>
                    <a:pt x="100" y="199"/>
                  </a:lnTo>
                  <a:lnTo>
                    <a:pt x="86" y="178"/>
                  </a:lnTo>
                  <a:lnTo>
                    <a:pt x="91" y="180"/>
                  </a:lnTo>
                  <a:lnTo>
                    <a:pt x="95" y="159"/>
                  </a:lnTo>
                  <a:lnTo>
                    <a:pt x="109" y="157"/>
                  </a:lnTo>
                  <a:lnTo>
                    <a:pt x="116" y="148"/>
                  </a:lnTo>
                  <a:lnTo>
                    <a:pt x="125" y="146"/>
                  </a:lnTo>
                  <a:lnTo>
                    <a:pt x="131" y="138"/>
                  </a:lnTo>
                  <a:lnTo>
                    <a:pt x="138" y="124"/>
                  </a:lnTo>
                  <a:lnTo>
                    <a:pt x="133" y="122"/>
                  </a:lnTo>
                  <a:lnTo>
                    <a:pt x="122" y="126"/>
                  </a:lnTo>
                  <a:lnTo>
                    <a:pt x="114" y="116"/>
                  </a:lnTo>
                  <a:lnTo>
                    <a:pt x="106" y="112"/>
                  </a:lnTo>
                  <a:lnTo>
                    <a:pt x="108" y="98"/>
                  </a:lnTo>
                  <a:lnTo>
                    <a:pt x="97" y="93"/>
                  </a:lnTo>
                  <a:lnTo>
                    <a:pt x="94" y="81"/>
                  </a:lnTo>
                  <a:lnTo>
                    <a:pt x="92" y="7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7" name="Freeform 46"/>
            <p:cNvSpPr>
              <a:spLocks/>
            </p:cNvSpPr>
            <p:nvPr/>
          </p:nvSpPr>
          <p:spPr bwMode="auto">
            <a:xfrm>
              <a:off x="4620" y="2334"/>
              <a:ext cx="82" cy="120"/>
            </a:xfrm>
            <a:custGeom>
              <a:avLst/>
              <a:gdLst/>
              <a:ahLst/>
              <a:cxnLst>
                <a:cxn ang="0">
                  <a:pos x="15" y="69"/>
                </a:cxn>
                <a:cxn ang="0">
                  <a:pos x="15" y="76"/>
                </a:cxn>
                <a:cxn ang="0">
                  <a:pos x="4" y="58"/>
                </a:cxn>
                <a:cxn ang="0">
                  <a:pos x="0" y="43"/>
                </a:cxn>
                <a:cxn ang="0">
                  <a:pos x="9" y="45"/>
                </a:cxn>
                <a:cxn ang="0">
                  <a:pos x="6" y="27"/>
                </a:cxn>
                <a:cxn ang="0">
                  <a:pos x="5" y="7"/>
                </a:cxn>
                <a:cxn ang="0">
                  <a:pos x="9" y="0"/>
                </a:cxn>
                <a:cxn ang="0">
                  <a:pos x="29" y="5"/>
                </a:cxn>
                <a:cxn ang="0">
                  <a:pos x="31" y="9"/>
                </a:cxn>
                <a:cxn ang="0">
                  <a:pos x="36" y="23"/>
                </a:cxn>
                <a:cxn ang="0">
                  <a:pos x="39" y="34"/>
                </a:cxn>
                <a:cxn ang="0">
                  <a:pos x="35" y="45"/>
                </a:cxn>
                <a:cxn ang="0">
                  <a:pos x="29" y="52"/>
                </a:cxn>
                <a:cxn ang="0">
                  <a:pos x="29" y="65"/>
                </a:cxn>
                <a:cxn ang="0">
                  <a:pos x="39" y="84"/>
                </a:cxn>
                <a:cxn ang="0">
                  <a:pos x="43" y="83"/>
                </a:cxn>
                <a:cxn ang="0">
                  <a:pos x="45" y="81"/>
                </a:cxn>
                <a:cxn ang="0">
                  <a:pos x="53" y="78"/>
                </a:cxn>
                <a:cxn ang="0">
                  <a:pos x="60" y="88"/>
                </a:cxn>
                <a:cxn ang="0">
                  <a:pos x="61" y="84"/>
                </a:cxn>
                <a:cxn ang="0">
                  <a:pos x="69" y="89"/>
                </a:cxn>
                <a:cxn ang="0">
                  <a:pos x="65" y="91"/>
                </a:cxn>
                <a:cxn ang="0">
                  <a:pos x="72" y="100"/>
                </a:cxn>
                <a:cxn ang="0">
                  <a:pos x="76" y="101"/>
                </a:cxn>
                <a:cxn ang="0">
                  <a:pos x="72" y="108"/>
                </a:cxn>
                <a:cxn ang="0">
                  <a:pos x="72" y="103"/>
                </a:cxn>
                <a:cxn ang="0">
                  <a:pos x="61" y="97"/>
                </a:cxn>
                <a:cxn ang="0">
                  <a:pos x="54" y="89"/>
                </a:cxn>
                <a:cxn ang="0">
                  <a:pos x="48" y="87"/>
                </a:cxn>
                <a:cxn ang="0">
                  <a:pos x="51" y="99"/>
                </a:cxn>
                <a:cxn ang="0">
                  <a:pos x="35" y="85"/>
                </a:cxn>
                <a:cxn ang="0">
                  <a:pos x="25" y="90"/>
                </a:cxn>
                <a:cxn ang="0">
                  <a:pos x="18" y="87"/>
                </a:cxn>
                <a:cxn ang="0">
                  <a:pos x="18" y="78"/>
                </a:cxn>
                <a:cxn ang="0">
                  <a:pos x="21" y="71"/>
                </a:cxn>
                <a:cxn ang="0">
                  <a:pos x="15" y="69"/>
                </a:cxn>
              </a:cxnLst>
              <a:rect l="0" t="0" r="r" b="b"/>
              <a:pathLst>
                <a:path w="76" h="108">
                  <a:moveTo>
                    <a:pt x="15" y="69"/>
                  </a:moveTo>
                  <a:lnTo>
                    <a:pt x="15" y="76"/>
                  </a:lnTo>
                  <a:lnTo>
                    <a:pt x="4" y="58"/>
                  </a:lnTo>
                  <a:lnTo>
                    <a:pt x="0" y="43"/>
                  </a:lnTo>
                  <a:lnTo>
                    <a:pt x="9" y="45"/>
                  </a:lnTo>
                  <a:lnTo>
                    <a:pt x="6" y="27"/>
                  </a:lnTo>
                  <a:lnTo>
                    <a:pt x="5" y="7"/>
                  </a:lnTo>
                  <a:lnTo>
                    <a:pt x="9" y="0"/>
                  </a:lnTo>
                  <a:lnTo>
                    <a:pt x="29" y="5"/>
                  </a:lnTo>
                  <a:lnTo>
                    <a:pt x="31" y="9"/>
                  </a:lnTo>
                  <a:lnTo>
                    <a:pt x="36" y="23"/>
                  </a:lnTo>
                  <a:lnTo>
                    <a:pt x="39" y="34"/>
                  </a:lnTo>
                  <a:lnTo>
                    <a:pt x="35" y="45"/>
                  </a:lnTo>
                  <a:lnTo>
                    <a:pt x="29" y="52"/>
                  </a:lnTo>
                  <a:lnTo>
                    <a:pt x="29" y="65"/>
                  </a:lnTo>
                  <a:lnTo>
                    <a:pt x="39" y="84"/>
                  </a:lnTo>
                  <a:lnTo>
                    <a:pt x="43" y="83"/>
                  </a:lnTo>
                  <a:lnTo>
                    <a:pt x="45" y="81"/>
                  </a:lnTo>
                  <a:lnTo>
                    <a:pt x="53" y="78"/>
                  </a:lnTo>
                  <a:lnTo>
                    <a:pt x="60" y="88"/>
                  </a:lnTo>
                  <a:lnTo>
                    <a:pt x="61" y="84"/>
                  </a:lnTo>
                  <a:lnTo>
                    <a:pt x="69" y="89"/>
                  </a:lnTo>
                  <a:lnTo>
                    <a:pt x="65" y="91"/>
                  </a:lnTo>
                  <a:lnTo>
                    <a:pt x="72" y="100"/>
                  </a:lnTo>
                  <a:lnTo>
                    <a:pt x="76" y="101"/>
                  </a:lnTo>
                  <a:lnTo>
                    <a:pt x="72" y="108"/>
                  </a:lnTo>
                  <a:lnTo>
                    <a:pt x="72" y="103"/>
                  </a:lnTo>
                  <a:lnTo>
                    <a:pt x="61" y="97"/>
                  </a:lnTo>
                  <a:lnTo>
                    <a:pt x="54" y="89"/>
                  </a:lnTo>
                  <a:lnTo>
                    <a:pt x="48" y="87"/>
                  </a:lnTo>
                  <a:lnTo>
                    <a:pt x="51" y="99"/>
                  </a:lnTo>
                  <a:lnTo>
                    <a:pt x="35" y="85"/>
                  </a:lnTo>
                  <a:lnTo>
                    <a:pt x="25" y="90"/>
                  </a:lnTo>
                  <a:lnTo>
                    <a:pt x="18" y="87"/>
                  </a:lnTo>
                  <a:lnTo>
                    <a:pt x="18" y="78"/>
                  </a:lnTo>
                  <a:lnTo>
                    <a:pt x="21" y="71"/>
                  </a:lnTo>
                  <a:lnTo>
                    <a:pt x="15"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8" name="Freeform 47"/>
            <p:cNvSpPr>
              <a:spLocks/>
            </p:cNvSpPr>
            <p:nvPr/>
          </p:nvSpPr>
          <p:spPr bwMode="auto">
            <a:xfrm>
              <a:off x="4675" y="2512"/>
              <a:ext cx="80" cy="82"/>
            </a:xfrm>
            <a:custGeom>
              <a:avLst/>
              <a:gdLst/>
              <a:ahLst/>
              <a:cxnLst>
                <a:cxn ang="0">
                  <a:pos x="56" y="73"/>
                </a:cxn>
                <a:cxn ang="0">
                  <a:pos x="54" y="66"/>
                </a:cxn>
                <a:cxn ang="0">
                  <a:pos x="51" y="68"/>
                </a:cxn>
                <a:cxn ang="0">
                  <a:pos x="33" y="58"/>
                </a:cxn>
                <a:cxn ang="0">
                  <a:pos x="36" y="43"/>
                </a:cxn>
                <a:cxn ang="0">
                  <a:pos x="26" y="34"/>
                </a:cxn>
                <a:cxn ang="0">
                  <a:pos x="22" y="38"/>
                </a:cxn>
                <a:cxn ang="0">
                  <a:pos x="19" y="37"/>
                </a:cxn>
                <a:cxn ang="0">
                  <a:pos x="16" y="40"/>
                </a:cxn>
                <a:cxn ang="0">
                  <a:pos x="12" y="35"/>
                </a:cxn>
                <a:cxn ang="0">
                  <a:pos x="4" y="44"/>
                </a:cxn>
                <a:cxn ang="0">
                  <a:pos x="0" y="49"/>
                </a:cxn>
                <a:cxn ang="0">
                  <a:pos x="2" y="36"/>
                </a:cxn>
                <a:cxn ang="0">
                  <a:pos x="14" y="25"/>
                </a:cxn>
                <a:cxn ang="0">
                  <a:pos x="24" y="19"/>
                </a:cxn>
                <a:cxn ang="0">
                  <a:pos x="27" y="29"/>
                </a:cxn>
                <a:cxn ang="0">
                  <a:pos x="34" y="25"/>
                </a:cxn>
                <a:cxn ang="0">
                  <a:pos x="39" y="22"/>
                </a:cxn>
                <a:cxn ang="0">
                  <a:pos x="42" y="13"/>
                </a:cxn>
                <a:cxn ang="0">
                  <a:pos x="49" y="13"/>
                </a:cxn>
                <a:cxn ang="0">
                  <a:pos x="52" y="13"/>
                </a:cxn>
                <a:cxn ang="0">
                  <a:pos x="51" y="0"/>
                </a:cxn>
                <a:cxn ang="0">
                  <a:pos x="63" y="8"/>
                </a:cxn>
                <a:cxn ang="0">
                  <a:pos x="66" y="22"/>
                </a:cxn>
                <a:cxn ang="0">
                  <a:pos x="73" y="43"/>
                </a:cxn>
                <a:cxn ang="0">
                  <a:pos x="69" y="52"/>
                </a:cxn>
                <a:cxn ang="0">
                  <a:pos x="68" y="59"/>
                </a:cxn>
                <a:cxn ang="0">
                  <a:pos x="61" y="44"/>
                </a:cxn>
                <a:cxn ang="0">
                  <a:pos x="56" y="48"/>
                </a:cxn>
                <a:cxn ang="0">
                  <a:pos x="58" y="60"/>
                </a:cxn>
                <a:cxn ang="0">
                  <a:pos x="56" y="73"/>
                </a:cxn>
              </a:cxnLst>
              <a:rect l="0" t="0" r="r" b="b"/>
              <a:pathLst>
                <a:path w="73" h="73">
                  <a:moveTo>
                    <a:pt x="56" y="73"/>
                  </a:moveTo>
                  <a:lnTo>
                    <a:pt x="54" y="66"/>
                  </a:lnTo>
                  <a:lnTo>
                    <a:pt x="51" y="68"/>
                  </a:lnTo>
                  <a:lnTo>
                    <a:pt x="33" y="58"/>
                  </a:lnTo>
                  <a:lnTo>
                    <a:pt x="36" y="43"/>
                  </a:lnTo>
                  <a:lnTo>
                    <a:pt x="26" y="34"/>
                  </a:lnTo>
                  <a:lnTo>
                    <a:pt x="22" y="38"/>
                  </a:lnTo>
                  <a:lnTo>
                    <a:pt x="19" y="37"/>
                  </a:lnTo>
                  <a:lnTo>
                    <a:pt x="16" y="40"/>
                  </a:lnTo>
                  <a:lnTo>
                    <a:pt x="12" y="35"/>
                  </a:lnTo>
                  <a:lnTo>
                    <a:pt x="4" y="44"/>
                  </a:lnTo>
                  <a:lnTo>
                    <a:pt x="0" y="49"/>
                  </a:lnTo>
                  <a:lnTo>
                    <a:pt x="2" y="36"/>
                  </a:lnTo>
                  <a:lnTo>
                    <a:pt x="14" y="25"/>
                  </a:lnTo>
                  <a:lnTo>
                    <a:pt x="24" y="19"/>
                  </a:lnTo>
                  <a:lnTo>
                    <a:pt x="27" y="29"/>
                  </a:lnTo>
                  <a:lnTo>
                    <a:pt x="34" y="25"/>
                  </a:lnTo>
                  <a:lnTo>
                    <a:pt x="39" y="22"/>
                  </a:lnTo>
                  <a:lnTo>
                    <a:pt x="42" y="13"/>
                  </a:lnTo>
                  <a:lnTo>
                    <a:pt x="49" y="13"/>
                  </a:lnTo>
                  <a:lnTo>
                    <a:pt x="52" y="13"/>
                  </a:lnTo>
                  <a:lnTo>
                    <a:pt x="51" y="0"/>
                  </a:lnTo>
                  <a:lnTo>
                    <a:pt x="63" y="8"/>
                  </a:lnTo>
                  <a:lnTo>
                    <a:pt x="66" y="22"/>
                  </a:lnTo>
                  <a:lnTo>
                    <a:pt x="73" y="43"/>
                  </a:lnTo>
                  <a:lnTo>
                    <a:pt x="69" y="52"/>
                  </a:lnTo>
                  <a:lnTo>
                    <a:pt x="68" y="59"/>
                  </a:lnTo>
                  <a:lnTo>
                    <a:pt x="61" y="44"/>
                  </a:lnTo>
                  <a:lnTo>
                    <a:pt x="56" y="48"/>
                  </a:lnTo>
                  <a:lnTo>
                    <a:pt x="58" y="60"/>
                  </a:lnTo>
                  <a:lnTo>
                    <a:pt x="56"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9" name="Freeform 48"/>
            <p:cNvSpPr>
              <a:spLocks/>
            </p:cNvSpPr>
            <p:nvPr/>
          </p:nvSpPr>
          <p:spPr bwMode="auto">
            <a:xfrm>
              <a:off x="4680" y="2490"/>
              <a:ext cx="17" cy="33"/>
            </a:xfrm>
            <a:custGeom>
              <a:avLst/>
              <a:gdLst/>
              <a:ahLst/>
              <a:cxnLst>
                <a:cxn ang="0">
                  <a:pos x="16" y="0"/>
                </a:cxn>
                <a:cxn ang="0">
                  <a:pos x="12" y="22"/>
                </a:cxn>
                <a:cxn ang="0">
                  <a:pos x="12" y="31"/>
                </a:cxn>
                <a:cxn ang="0">
                  <a:pos x="0" y="20"/>
                </a:cxn>
                <a:cxn ang="0">
                  <a:pos x="4" y="15"/>
                </a:cxn>
                <a:cxn ang="0">
                  <a:pos x="6" y="0"/>
                </a:cxn>
                <a:cxn ang="0">
                  <a:pos x="16" y="0"/>
                </a:cxn>
              </a:cxnLst>
              <a:rect l="0" t="0" r="r" b="b"/>
              <a:pathLst>
                <a:path w="16" h="31">
                  <a:moveTo>
                    <a:pt x="16" y="0"/>
                  </a:moveTo>
                  <a:lnTo>
                    <a:pt x="12" y="22"/>
                  </a:lnTo>
                  <a:lnTo>
                    <a:pt x="12" y="31"/>
                  </a:lnTo>
                  <a:lnTo>
                    <a:pt x="0" y="20"/>
                  </a:lnTo>
                  <a:lnTo>
                    <a:pt x="4" y="15"/>
                  </a:lnTo>
                  <a:lnTo>
                    <a:pt x="6" y="0"/>
                  </a:lnTo>
                  <a:lnTo>
                    <a:pt x="1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0" name="Freeform 49"/>
            <p:cNvSpPr>
              <a:spLocks/>
            </p:cNvSpPr>
            <p:nvPr/>
          </p:nvSpPr>
          <p:spPr bwMode="auto">
            <a:xfrm>
              <a:off x="4706" y="2454"/>
              <a:ext cx="29" cy="31"/>
            </a:xfrm>
            <a:custGeom>
              <a:avLst/>
              <a:gdLst/>
              <a:ahLst/>
              <a:cxnLst>
                <a:cxn ang="0">
                  <a:pos x="20" y="27"/>
                </a:cxn>
                <a:cxn ang="0">
                  <a:pos x="12" y="18"/>
                </a:cxn>
                <a:cxn ang="0">
                  <a:pos x="0" y="3"/>
                </a:cxn>
                <a:cxn ang="0">
                  <a:pos x="14" y="0"/>
                </a:cxn>
                <a:cxn ang="0">
                  <a:pos x="20" y="11"/>
                </a:cxn>
                <a:cxn ang="0">
                  <a:pos x="27" y="28"/>
                </a:cxn>
                <a:cxn ang="0">
                  <a:pos x="20" y="27"/>
                </a:cxn>
              </a:cxnLst>
              <a:rect l="0" t="0" r="r" b="b"/>
              <a:pathLst>
                <a:path w="27" h="28">
                  <a:moveTo>
                    <a:pt x="20" y="27"/>
                  </a:moveTo>
                  <a:lnTo>
                    <a:pt x="12" y="18"/>
                  </a:lnTo>
                  <a:lnTo>
                    <a:pt x="0" y="3"/>
                  </a:lnTo>
                  <a:lnTo>
                    <a:pt x="14" y="0"/>
                  </a:lnTo>
                  <a:lnTo>
                    <a:pt x="20" y="11"/>
                  </a:lnTo>
                  <a:lnTo>
                    <a:pt x="27" y="28"/>
                  </a:lnTo>
                  <a:lnTo>
                    <a:pt x="2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1" name="Freeform 50"/>
            <p:cNvSpPr>
              <a:spLocks/>
            </p:cNvSpPr>
            <p:nvPr/>
          </p:nvSpPr>
          <p:spPr bwMode="auto">
            <a:xfrm>
              <a:off x="4666" y="2470"/>
              <a:ext cx="23" cy="26"/>
            </a:xfrm>
            <a:custGeom>
              <a:avLst/>
              <a:gdLst/>
              <a:ahLst/>
              <a:cxnLst>
                <a:cxn ang="0">
                  <a:pos x="20" y="4"/>
                </a:cxn>
                <a:cxn ang="0">
                  <a:pos x="3" y="0"/>
                </a:cxn>
                <a:cxn ang="0">
                  <a:pos x="0" y="1"/>
                </a:cxn>
                <a:cxn ang="0">
                  <a:pos x="5" y="24"/>
                </a:cxn>
                <a:cxn ang="0">
                  <a:pos x="20" y="9"/>
                </a:cxn>
                <a:cxn ang="0">
                  <a:pos x="21" y="8"/>
                </a:cxn>
                <a:cxn ang="0">
                  <a:pos x="20" y="4"/>
                </a:cxn>
              </a:cxnLst>
              <a:rect l="0" t="0" r="r" b="b"/>
              <a:pathLst>
                <a:path w="21" h="24">
                  <a:moveTo>
                    <a:pt x="20" y="4"/>
                  </a:moveTo>
                  <a:lnTo>
                    <a:pt x="3" y="0"/>
                  </a:lnTo>
                  <a:lnTo>
                    <a:pt x="0" y="1"/>
                  </a:lnTo>
                  <a:lnTo>
                    <a:pt x="5" y="24"/>
                  </a:lnTo>
                  <a:lnTo>
                    <a:pt x="20" y="9"/>
                  </a:lnTo>
                  <a:lnTo>
                    <a:pt x="21" y="8"/>
                  </a:lnTo>
                  <a:lnTo>
                    <a:pt x="2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2" name="Freeform 51"/>
            <p:cNvSpPr>
              <a:spLocks/>
            </p:cNvSpPr>
            <p:nvPr/>
          </p:nvSpPr>
          <p:spPr bwMode="auto">
            <a:xfrm>
              <a:off x="4589" y="2481"/>
              <a:ext cx="42" cy="55"/>
            </a:xfrm>
            <a:custGeom>
              <a:avLst/>
              <a:gdLst/>
              <a:ahLst/>
              <a:cxnLst>
                <a:cxn ang="0">
                  <a:pos x="37" y="15"/>
                </a:cxn>
                <a:cxn ang="0">
                  <a:pos x="23" y="29"/>
                </a:cxn>
                <a:cxn ang="0">
                  <a:pos x="12" y="40"/>
                </a:cxn>
                <a:cxn ang="0">
                  <a:pos x="0" y="52"/>
                </a:cxn>
                <a:cxn ang="0">
                  <a:pos x="1" y="48"/>
                </a:cxn>
                <a:cxn ang="0">
                  <a:pos x="13" y="34"/>
                </a:cxn>
                <a:cxn ang="0">
                  <a:pos x="24" y="21"/>
                </a:cxn>
                <a:cxn ang="0">
                  <a:pos x="29" y="9"/>
                </a:cxn>
                <a:cxn ang="0">
                  <a:pos x="30" y="9"/>
                </a:cxn>
                <a:cxn ang="0">
                  <a:pos x="31" y="0"/>
                </a:cxn>
                <a:cxn ang="0">
                  <a:pos x="37" y="15"/>
                </a:cxn>
              </a:cxnLst>
              <a:rect l="0" t="0" r="r" b="b"/>
              <a:pathLst>
                <a:path w="37" h="52">
                  <a:moveTo>
                    <a:pt x="37" y="15"/>
                  </a:moveTo>
                  <a:lnTo>
                    <a:pt x="23" y="29"/>
                  </a:lnTo>
                  <a:lnTo>
                    <a:pt x="12" y="40"/>
                  </a:lnTo>
                  <a:lnTo>
                    <a:pt x="0" y="52"/>
                  </a:lnTo>
                  <a:lnTo>
                    <a:pt x="1" y="48"/>
                  </a:lnTo>
                  <a:lnTo>
                    <a:pt x="13" y="34"/>
                  </a:lnTo>
                  <a:lnTo>
                    <a:pt x="24" y="21"/>
                  </a:lnTo>
                  <a:lnTo>
                    <a:pt x="29" y="9"/>
                  </a:lnTo>
                  <a:lnTo>
                    <a:pt x="30" y="9"/>
                  </a:lnTo>
                  <a:lnTo>
                    <a:pt x="31" y="0"/>
                  </a:lnTo>
                  <a:lnTo>
                    <a:pt x="37"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3" name="Freeform 52"/>
            <p:cNvSpPr>
              <a:spLocks/>
            </p:cNvSpPr>
            <p:nvPr/>
          </p:nvSpPr>
          <p:spPr bwMode="auto">
            <a:xfrm>
              <a:off x="4633" y="2436"/>
              <a:ext cx="24" cy="25"/>
            </a:xfrm>
            <a:custGeom>
              <a:avLst/>
              <a:gdLst/>
              <a:ahLst/>
              <a:cxnLst>
                <a:cxn ang="0">
                  <a:pos x="22" y="14"/>
                </a:cxn>
                <a:cxn ang="0">
                  <a:pos x="18" y="20"/>
                </a:cxn>
                <a:cxn ang="0">
                  <a:pos x="10" y="11"/>
                </a:cxn>
                <a:cxn ang="0">
                  <a:pos x="0" y="0"/>
                </a:cxn>
                <a:cxn ang="0">
                  <a:pos x="17" y="2"/>
                </a:cxn>
                <a:cxn ang="0">
                  <a:pos x="22" y="14"/>
                </a:cxn>
              </a:cxnLst>
              <a:rect l="0" t="0" r="r" b="b"/>
              <a:pathLst>
                <a:path w="22" h="20">
                  <a:moveTo>
                    <a:pt x="22" y="14"/>
                  </a:moveTo>
                  <a:lnTo>
                    <a:pt x="18" y="20"/>
                  </a:lnTo>
                  <a:lnTo>
                    <a:pt x="10" y="11"/>
                  </a:lnTo>
                  <a:lnTo>
                    <a:pt x="0" y="0"/>
                  </a:lnTo>
                  <a:lnTo>
                    <a:pt x="17" y="2"/>
                  </a:lnTo>
                  <a:lnTo>
                    <a:pt x="22" y="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4" name="Freeform 53"/>
            <p:cNvSpPr>
              <a:spLocks/>
            </p:cNvSpPr>
            <p:nvPr/>
          </p:nvSpPr>
          <p:spPr bwMode="auto">
            <a:xfrm>
              <a:off x="4711" y="2476"/>
              <a:ext cx="18" cy="27"/>
            </a:xfrm>
            <a:custGeom>
              <a:avLst/>
              <a:gdLst/>
              <a:ahLst/>
              <a:cxnLst>
                <a:cxn ang="0">
                  <a:pos x="10" y="4"/>
                </a:cxn>
                <a:cxn ang="0">
                  <a:pos x="16" y="21"/>
                </a:cxn>
                <a:cxn ang="0">
                  <a:pos x="12" y="22"/>
                </a:cxn>
                <a:cxn ang="0">
                  <a:pos x="11" y="25"/>
                </a:cxn>
                <a:cxn ang="0">
                  <a:pos x="4" y="10"/>
                </a:cxn>
                <a:cxn ang="0">
                  <a:pos x="0" y="0"/>
                </a:cxn>
                <a:cxn ang="0">
                  <a:pos x="10" y="4"/>
                </a:cxn>
              </a:cxnLst>
              <a:rect l="0" t="0" r="r" b="b"/>
              <a:pathLst>
                <a:path w="16" h="25">
                  <a:moveTo>
                    <a:pt x="10" y="4"/>
                  </a:moveTo>
                  <a:lnTo>
                    <a:pt x="16" y="21"/>
                  </a:lnTo>
                  <a:lnTo>
                    <a:pt x="12" y="22"/>
                  </a:lnTo>
                  <a:lnTo>
                    <a:pt x="11" y="25"/>
                  </a:lnTo>
                  <a:lnTo>
                    <a:pt x="4" y="10"/>
                  </a:lnTo>
                  <a:lnTo>
                    <a:pt x="0" y="0"/>
                  </a:lnTo>
                  <a:lnTo>
                    <a:pt x="1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5" name="Freeform 54"/>
            <p:cNvSpPr>
              <a:spLocks/>
            </p:cNvSpPr>
            <p:nvPr/>
          </p:nvSpPr>
          <p:spPr bwMode="auto">
            <a:xfrm>
              <a:off x="4689" y="2456"/>
              <a:ext cx="15" cy="16"/>
            </a:xfrm>
            <a:custGeom>
              <a:avLst/>
              <a:gdLst/>
              <a:ahLst/>
              <a:cxnLst>
                <a:cxn ang="0">
                  <a:pos x="14" y="13"/>
                </a:cxn>
                <a:cxn ang="0">
                  <a:pos x="2" y="6"/>
                </a:cxn>
                <a:cxn ang="0">
                  <a:pos x="0" y="7"/>
                </a:cxn>
                <a:cxn ang="0">
                  <a:pos x="1" y="0"/>
                </a:cxn>
                <a:cxn ang="0">
                  <a:pos x="14" y="11"/>
                </a:cxn>
                <a:cxn ang="0">
                  <a:pos x="14" y="13"/>
                </a:cxn>
              </a:cxnLst>
              <a:rect l="0" t="0" r="r" b="b"/>
              <a:pathLst>
                <a:path w="14" h="13">
                  <a:moveTo>
                    <a:pt x="14" y="13"/>
                  </a:moveTo>
                  <a:lnTo>
                    <a:pt x="2" y="6"/>
                  </a:lnTo>
                  <a:lnTo>
                    <a:pt x="0" y="7"/>
                  </a:lnTo>
                  <a:lnTo>
                    <a:pt x="1" y="0"/>
                  </a:lnTo>
                  <a:lnTo>
                    <a:pt x="14" y="11"/>
                  </a:lnTo>
                  <a:lnTo>
                    <a:pt x="14"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6" name="Freeform 55"/>
            <p:cNvSpPr>
              <a:spLocks/>
            </p:cNvSpPr>
            <p:nvPr/>
          </p:nvSpPr>
          <p:spPr bwMode="auto">
            <a:xfrm>
              <a:off x="4704" y="2503"/>
              <a:ext cx="13" cy="7"/>
            </a:xfrm>
            <a:custGeom>
              <a:avLst/>
              <a:gdLst/>
              <a:ahLst/>
              <a:cxnLst>
                <a:cxn ang="0">
                  <a:pos x="12" y="6"/>
                </a:cxn>
                <a:cxn ang="0">
                  <a:pos x="10" y="0"/>
                </a:cxn>
                <a:cxn ang="0">
                  <a:pos x="0" y="6"/>
                </a:cxn>
                <a:cxn ang="0">
                  <a:pos x="12" y="6"/>
                </a:cxn>
              </a:cxnLst>
              <a:rect l="0" t="0" r="r" b="b"/>
              <a:pathLst>
                <a:path w="12" h="6">
                  <a:moveTo>
                    <a:pt x="12" y="6"/>
                  </a:moveTo>
                  <a:lnTo>
                    <a:pt x="10" y="0"/>
                  </a:lnTo>
                  <a:lnTo>
                    <a:pt x="0" y="6"/>
                  </a:lnTo>
                  <a:lnTo>
                    <a:pt x="12"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7" name="Freeform 56"/>
            <p:cNvSpPr>
              <a:spLocks/>
            </p:cNvSpPr>
            <p:nvPr/>
          </p:nvSpPr>
          <p:spPr bwMode="auto">
            <a:xfrm>
              <a:off x="4695" y="2481"/>
              <a:ext cx="11" cy="35"/>
            </a:xfrm>
            <a:custGeom>
              <a:avLst/>
              <a:gdLst/>
              <a:ahLst/>
              <a:cxnLst>
                <a:cxn ang="0">
                  <a:pos x="8" y="0"/>
                </a:cxn>
                <a:cxn ang="0">
                  <a:pos x="8" y="9"/>
                </a:cxn>
                <a:cxn ang="0">
                  <a:pos x="5" y="21"/>
                </a:cxn>
                <a:cxn ang="0">
                  <a:pos x="0" y="33"/>
                </a:cxn>
                <a:cxn ang="0">
                  <a:pos x="5" y="16"/>
                </a:cxn>
                <a:cxn ang="0">
                  <a:pos x="8" y="0"/>
                </a:cxn>
              </a:cxnLst>
              <a:rect l="0" t="0" r="r" b="b"/>
              <a:pathLst>
                <a:path w="8" h="33">
                  <a:moveTo>
                    <a:pt x="8" y="0"/>
                  </a:moveTo>
                  <a:lnTo>
                    <a:pt x="8" y="9"/>
                  </a:lnTo>
                  <a:lnTo>
                    <a:pt x="5" y="21"/>
                  </a:lnTo>
                  <a:lnTo>
                    <a:pt x="0" y="33"/>
                  </a:lnTo>
                  <a:lnTo>
                    <a:pt x="5" y="16"/>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8" name="Freeform 57"/>
            <p:cNvSpPr>
              <a:spLocks/>
            </p:cNvSpPr>
            <p:nvPr/>
          </p:nvSpPr>
          <p:spPr bwMode="auto">
            <a:xfrm>
              <a:off x="4220" y="2299"/>
              <a:ext cx="153" cy="291"/>
            </a:xfrm>
            <a:custGeom>
              <a:avLst/>
              <a:gdLst/>
              <a:ahLst/>
              <a:cxnLst>
                <a:cxn ang="0">
                  <a:pos x="46" y="187"/>
                </a:cxn>
                <a:cxn ang="0">
                  <a:pos x="53" y="155"/>
                </a:cxn>
                <a:cxn ang="0">
                  <a:pos x="54" y="126"/>
                </a:cxn>
                <a:cxn ang="0">
                  <a:pos x="69" y="137"/>
                </a:cxn>
                <a:cxn ang="0">
                  <a:pos x="96" y="150"/>
                </a:cxn>
                <a:cxn ang="0">
                  <a:pos x="96" y="143"/>
                </a:cxn>
                <a:cxn ang="0">
                  <a:pos x="101" y="109"/>
                </a:cxn>
                <a:cxn ang="0">
                  <a:pos x="134" y="108"/>
                </a:cxn>
                <a:cxn ang="0">
                  <a:pos x="135" y="83"/>
                </a:cxn>
                <a:cxn ang="0">
                  <a:pos x="118" y="52"/>
                </a:cxn>
                <a:cxn ang="0">
                  <a:pos x="92" y="41"/>
                </a:cxn>
                <a:cxn ang="0">
                  <a:pos x="75" y="40"/>
                </a:cxn>
                <a:cxn ang="0">
                  <a:pos x="59" y="32"/>
                </a:cxn>
                <a:cxn ang="0">
                  <a:pos x="46" y="13"/>
                </a:cxn>
                <a:cxn ang="0">
                  <a:pos x="39" y="0"/>
                </a:cxn>
                <a:cxn ang="0">
                  <a:pos x="23" y="11"/>
                </a:cxn>
                <a:cxn ang="0">
                  <a:pos x="5" y="34"/>
                </a:cxn>
                <a:cxn ang="0">
                  <a:pos x="14" y="53"/>
                </a:cxn>
                <a:cxn ang="0">
                  <a:pos x="30" y="73"/>
                </a:cxn>
                <a:cxn ang="0">
                  <a:pos x="24" y="91"/>
                </a:cxn>
                <a:cxn ang="0">
                  <a:pos x="33" y="113"/>
                </a:cxn>
                <a:cxn ang="0">
                  <a:pos x="45" y="139"/>
                </a:cxn>
                <a:cxn ang="0">
                  <a:pos x="45" y="168"/>
                </a:cxn>
                <a:cxn ang="0">
                  <a:pos x="39" y="184"/>
                </a:cxn>
                <a:cxn ang="0">
                  <a:pos x="34" y="218"/>
                </a:cxn>
                <a:cxn ang="0">
                  <a:pos x="45" y="226"/>
                </a:cxn>
                <a:cxn ang="0">
                  <a:pos x="58" y="240"/>
                </a:cxn>
                <a:cxn ang="0">
                  <a:pos x="66" y="248"/>
                </a:cxn>
                <a:cxn ang="0">
                  <a:pos x="80" y="262"/>
                </a:cxn>
                <a:cxn ang="0">
                  <a:pos x="96" y="254"/>
                </a:cxn>
                <a:cxn ang="0">
                  <a:pos x="76" y="241"/>
                </a:cxn>
                <a:cxn ang="0">
                  <a:pos x="64" y="218"/>
                </a:cxn>
                <a:cxn ang="0">
                  <a:pos x="51" y="200"/>
                </a:cxn>
              </a:cxnLst>
              <a:rect l="0" t="0" r="r" b="b"/>
              <a:pathLst>
                <a:path w="138" h="262">
                  <a:moveTo>
                    <a:pt x="51" y="200"/>
                  </a:moveTo>
                  <a:lnTo>
                    <a:pt x="46" y="187"/>
                  </a:lnTo>
                  <a:lnTo>
                    <a:pt x="50" y="170"/>
                  </a:lnTo>
                  <a:lnTo>
                    <a:pt x="53" y="155"/>
                  </a:lnTo>
                  <a:lnTo>
                    <a:pt x="53" y="140"/>
                  </a:lnTo>
                  <a:lnTo>
                    <a:pt x="54" y="126"/>
                  </a:lnTo>
                  <a:lnTo>
                    <a:pt x="68" y="124"/>
                  </a:lnTo>
                  <a:lnTo>
                    <a:pt x="69" y="137"/>
                  </a:lnTo>
                  <a:lnTo>
                    <a:pt x="81" y="139"/>
                  </a:lnTo>
                  <a:lnTo>
                    <a:pt x="96" y="150"/>
                  </a:lnTo>
                  <a:lnTo>
                    <a:pt x="102" y="157"/>
                  </a:lnTo>
                  <a:lnTo>
                    <a:pt x="96" y="143"/>
                  </a:lnTo>
                  <a:lnTo>
                    <a:pt x="90" y="127"/>
                  </a:lnTo>
                  <a:lnTo>
                    <a:pt x="101" y="109"/>
                  </a:lnTo>
                  <a:lnTo>
                    <a:pt x="117" y="109"/>
                  </a:lnTo>
                  <a:lnTo>
                    <a:pt x="134" y="108"/>
                  </a:lnTo>
                  <a:lnTo>
                    <a:pt x="138" y="98"/>
                  </a:lnTo>
                  <a:lnTo>
                    <a:pt x="135" y="83"/>
                  </a:lnTo>
                  <a:lnTo>
                    <a:pt x="120" y="65"/>
                  </a:lnTo>
                  <a:lnTo>
                    <a:pt x="118" y="52"/>
                  </a:lnTo>
                  <a:lnTo>
                    <a:pt x="99" y="36"/>
                  </a:lnTo>
                  <a:lnTo>
                    <a:pt x="92" y="41"/>
                  </a:lnTo>
                  <a:lnTo>
                    <a:pt x="84" y="43"/>
                  </a:lnTo>
                  <a:lnTo>
                    <a:pt x="75" y="40"/>
                  </a:lnTo>
                  <a:lnTo>
                    <a:pt x="60" y="50"/>
                  </a:lnTo>
                  <a:lnTo>
                    <a:pt x="59" y="32"/>
                  </a:lnTo>
                  <a:lnTo>
                    <a:pt x="58" y="14"/>
                  </a:lnTo>
                  <a:lnTo>
                    <a:pt x="46" y="13"/>
                  </a:lnTo>
                  <a:lnTo>
                    <a:pt x="45" y="2"/>
                  </a:lnTo>
                  <a:lnTo>
                    <a:pt x="39" y="0"/>
                  </a:lnTo>
                  <a:lnTo>
                    <a:pt x="30" y="2"/>
                  </a:lnTo>
                  <a:lnTo>
                    <a:pt x="23" y="11"/>
                  </a:lnTo>
                  <a:lnTo>
                    <a:pt x="9" y="13"/>
                  </a:lnTo>
                  <a:lnTo>
                    <a:pt x="5" y="34"/>
                  </a:lnTo>
                  <a:lnTo>
                    <a:pt x="0" y="32"/>
                  </a:lnTo>
                  <a:lnTo>
                    <a:pt x="14" y="53"/>
                  </a:lnTo>
                  <a:lnTo>
                    <a:pt x="27" y="72"/>
                  </a:lnTo>
                  <a:lnTo>
                    <a:pt x="30" y="73"/>
                  </a:lnTo>
                  <a:lnTo>
                    <a:pt x="27" y="84"/>
                  </a:lnTo>
                  <a:lnTo>
                    <a:pt x="24" y="91"/>
                  </a:lnTo>
                  <a:lnTo>
                    <a:pt x="24" y="102"/>
                  </a:lnTo>
                  <a:lnTo>
                    <a:pt x="33" y="113"/>
                  </a:lnTo>
                  <a:lnTo>
                    <a:pt x="41" y="124"/>
                  </a:lnTo>
                  <a:lnTo>
                    <a:pt x="45" y="139"/>
                  </a:lnTo>
                  <a:lnTo>
                    <a:pt x="50" y="157"/>
                  </a:lnTo>
                  <a:lnTo>
                    <a:pt x="45" y="168"/>
                  </a:lnTo>
                  <a:lnTo>
                    <a:pt x="39" y="180"/>
                  </a:lnTo>
                  <a:lnTo>
                    <a:pt x="39" y="184"/>
                  </a:lnTo>
                  <a:lnTo>
                    <a:pt x="36" y="200"/>
                  </a:lnTo>
                  <a:lnTo>
                    <a:pt x="34" y="218"/>
                  </a:lnTo>
                  <a:lnTo>
                    <a:pt x="36" y="216"/>
                  </a:lnTo>
                  <a:lnTo>
                    <a:pt x="45" y="226"/>
                  </a:lnTo>
                  <a:lnTo>
                    <a:pt x="53" y="235"/>
                  </a:lnTo>
                  <a:lnTo>
                    <a:pt x="58" y="240"/>
                  </a:lnTo>
                  <a:lnTo>
                    <a:pt x="65" y="251"/>
                  </a:lnTo>
                  <a:lnTo>
                    <a:pt x="66" y="248"/>
                  </a:lnTo>
                  <a:lnTo>
                    <a:pt x="78" y="254"/>
                  </a:lnTo>
                  <a:lnTo>
                    <a:pt x="80" y="262"/>
                  </a:lnTo>
                  <a:lnTo>
                    <a:pt x="90" y="262"/>
                  </a:lnTo>
                  <a:lnTo>
                    <a:pt x="96" y="254"/>
                  </a:lnTo>
                  <a:lnTo>
                    <a:pt x="88" y="244"/>
                  </a:lnTo>
                  <a:lnTo>
                    <a:pt x="76" y="241"/>
                  </a:lnTo>
                  <a:lnTo>
                    <a:pt x="68" y="232"/>
                  </a:lnTo>
                  <a:lnTo>
                    <a:pt x="64" y="218"/>
                  </a:lnTo>
                  <a:lnTo>
                    <a:pt x="58" y="202"/>
                  </a:lnTo>
                  <a:lnTo>
                    <a:pt x="51" y="20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9" name="Freeform 58"/>
            <p:cNvSpPr>
              <a:spLocks/>
            </p:cNvSpPr>
            <p:nvPr/>
          </p:nvSpPr>
          <p:spPr bwMode="auto">
            <a:xfrm>
              <a:off x="4293" y="2241"/>
              <a:ext cx="153" cy="291"/>
            </a:xfrm>
            <a:custGeom>
              <a:avLst/>
              <a:gdLst/>
              <a:ahLst/>
              <a:cxnLst>
                <a:cxn ang="0">
                  <a:pos x="43" y="50"/>
                </a:cxn>
                <a:cxn ang="0">
                  <a:pos x="27" y="45"/>
                </a:cxn>
                <a:cxn ang="0">
                  <a:pos x="12" y="28"/>
                </a:cxn>
                <a:cxn ang="0">
                  <a:pos x="4" y="11"/>
                </a:cxn>
                <a:cxn ang="0">
                  <a:pos x="15" y="11"/>
                </a:cxn>
                <a:cxn ang="0">
                  <a:pos x="25" y="12"/>
                </a:cxn>
                <a:cxn ang="0">
                  <a:pos x="34" y="11"/>
                </a:cxn>
                <a:cxn ang="0">
                  <a:pos x="49" y="2"/>
                </a:cxn>
                <a:cxn ang="0">
                  <a:pos x="71" y="20"/>
                </a:cxn>
                <a:cxn ang="0">
                  <a:pos x="93" y="30"/>
                </a:cxn>
                <a:cxn ang="0">
                  <a:pos x="76" y="42"/>
                </a:cxn>
                <a:cxn ang="0">
                  <a:pos x="70" y="59"/>
                </a:cxn>
                <a:cxn ang="0">
                  <a:pos x="76" y="90"/>
                </a:cxn>
                <a:cxn ang="0">
                  <a:pos x="89" y="110"/>
                </a:cxn>
                <a:cxn ang="0">
                  <a:pos x="113" y="130"/>
                </a:cxn>
                <a:cxn ang="0">
                  <a:pos x="131" y="166"/>
                </a:cxn>
                <a:cxn ang="0">
                  <a:pos x="137" y="196"/>
                </a:cxn>
                <a:cxn ang="0">
                  <a:pos x="135" y="210"/>
                </a:cxn>
                <a:cxn ang="0">
                  <a:pos x="112" y="230"/>
                </a:cxn>
                <a:cxn ang="0">
                  <a:pos x="101" y="232"/>
                </a:cxn>
                <a:cxn ang="0">
                  <a:pos x="99" y="239"/>
                </a:cxn>
                <a:cxn ang="0">
                  <a:pos x="93" y="246"/>
                </a:cxn>
                <a:cxn ang="0">
                  <a:pos x="72" y="262"/>
                </a:cxn>
                <a:cxn ang="0">
                  <a:pos x="64" y="231"/>
                </a:cxn>
                <a:cxn ang="0">
                  <a:pos x="77" y="222"/>
                </a:cxn>
                <a:cxn ang="0">
                  <a:pos x="84" y="210"/>
                </a:cxn>
                <a:cxn ang="0">
                  <a:pos x="108" y="198"/>
                </a:cxn>
                <a:cxn ang="0">
                  <a:pos x="106" y="170"/>
                </a:cxn>
                <a:cxn ang="0">
                  <a:pos x="102" y="140"/>
                </a:cxn>
                <a:cxn ang="0">
                  <a:pos x="99" y="130"/>
                </a:cxn>
                <a:cxn ang="0">
                  <a:pos x="77" y="108"/>
                </a:cxn>
                <a:cxn ang="0">
                  <a:pos x="58" y="84"/>
                </a:cxn>
                <a:cxn ang="0">
                  <a:pos x="41" y="64"/>
                </a:cxn>
                <a:cxn ang="0">
                  <a:pos x="48" y="54"/>
                </a:cxn>
              </a:cxnLst>
              <a:rect l="0" t="0" r="r" b="b"/>
              <a:pathLst>
                <a:path w="138" h="262">
                  <a:moveTo>
                    <a:pt x="48" y="54"/>
                  </a:moveTo>
                  <a:lnTo>
                    <a:pt x="43" y="50"/>
                  </a:lnTo>
                  <a:lnTo>
                    <a:pt x="34" y="41"/>
                  </a:lnTo>
                  <a:lnTo>
                    <a:pt x="27" y="45"/>
                  </a:lnTo>
                  <a:lnTo>
                    <a:pt x="15" y="35"/>
                  </a:lnTo>
                  <a:lnTo>
                    <a:pt x="12" y="28"/>
                  </a:lnTo>
                  <a:lnTo>
                    <a:pt x="0" y="16"/>
                  </a:lnTo>
                  <a:lnTo>
                    <a:pt x="4" y="11"/>
                  </a:lnTo>
                  <a:lnTo>
                    <a:pt x="12" y="14"/>
                  </a:lnTo>
                  <a:lnTo>
                    <a:pt x="15" y="11"/>
                  </a:lnTo>
                  <a:lnTo>
                    <a:pt x="22" y="11"/>
                  </a:lnTo>
                  <a:lnTo>
                    <a:pt x="25" y="12"/>
                  </a:lnTo>
                  <a:lnTo>
                    <a:pt x="28" y="11"/>
                  </a:lnTo>
                  <a:lnTo>
                    <a:pt x="34" y="11"/>
                  </a:lnTo>
                  <a:lnTo>
                    <a:pt x="42" y="0"/>
                  </a:lnTo>
                  <a:lnTo>
                    <a:pt x="49" y="2"/>
                  </a:lnTo>
                  <a:lnTo>
                    <a:pt x="69" y="8"/>
                  </a:lnTo>
                  <a:lnTo>
                    <a:pt x="71" y="20"/>
                  </a:lnTo>
                  <a:lnTo>
                    <a:pt x="77" y="24"/>
                  </a:lnTo>
                  <a:lnTo>
                    <a:pt x="93" y="30"/>
                  </a:lnTo>
                  <a:lnTo>
                    <a:pt x="84" y="38"/>
                  </a:lnTo>
                  <a:lnTo>
                    <a:pt x="76" y="42"/>
                  </a:lnTo>
                  <a:lnTo>
                    <a:pt x="76" y="44"/>
                  </a:lnTo>
                  <a:lnTo>
                    <a:pt x="70" y="59"/>
                  </a:lnTo>
                  <a:lnTo>
                    <a:pt x="64" y="75"/>
                  </a:lnTo>
                  <a:lnTo>
                    <a:pt x="76" y="90"/>
                  </a:lnTo>
                  <a:lnTo>
                    <a:pt x="79" y="100"/>
                  </a:lnTo>
                  <a:lnTo>
                    <a:pt x="89" y="110"/>
                  </a:lnTo>
                  <a:lnTo>
                    <a:pt x="100" y="119"/>
                  </a:lnTo>
                  <a:lnTo>
                    <a:pt x="113" y="130"/>
                  </a:lnTo>
                  <a:lnTo>
                    <a:pt x="124" y="142"/>
                  </a:lnTo>
                  <a:lnTo>
                    <a:pt x="131" y="166"/>
                  </a:lnTo>
                  <a:lnTo>
                    <a:pt x="138" y="190"/>
                  </a:lnTo>
                  <a:lnTo>
                    <a:pt x="137" y="196"/>
                  </a:lnTo>
                  <a:lnTo>
                    <a:pt x="137" y="203"/>
                  </a:lnTo>
                  <a:lnTo>
                    <a:pt x="135" y="210"/>
                  </a:lnTo>
                  <a:lnTo>
                    <a:pt x="124" y="220"/>
                  </a:lnTo>
                  <a:lnTo>
                    <a:pt x="112" y="230"/>
                  </a:lnTo>
                  <a:lnTo>
                    <a:pt x="101" y="227"/>
                  </a:lnTo>
                  <a:lnTo>
                    <a:pt x="101" y="232"/>
                  </a:lnTo>
                  <a:lnTo>
                    <a:pt x="101" y="237"/>
                  </a:lnTo>
                  <a:lnTo>
                    <a:pt x="99" y="239"/>
                  </a:lnTo>
                  <a:lnTo>
                    <a:pt x="99" y="246"/>
                  </a:lnTo>
                  <a:lnTo>
                    <a:pt x="93" y="246"/>
                  </a:lnTo>
                  <a:lnTo>
                    <a:pt x="81" y="260"/>
                  </a:lnTo>
                  <a:lnTo>
                    <a:pt x="72" y="262"/>
                  </a:lnTo>
                  <a:lnTo>
                    <a:pt x="75" y="240"/>
                  </a:lnTo>
                  <a:lnTo>
                    <a:pt x="64" y="231"/>
                  </a:lnTo>
                  <a:lnTo>
                    <a:pt x="73" y="225"/>
                  </a:lnTo>
                  <a:lnTo>
                    <a:pt x="77" y="222"/>
                  </a:lnTo>
                  <a:lnTo>
                    <a:pt x="89" y="224"/>
                  </a:lnTo>
                  <a:lnTo>
                    <a:pt x="84" y="210"/>
                  </a:lnTo>
                  <a:lnTo>
                    <a:pt x="93" y="206"/>
                  </a:lnTo>
                  <a:lnTo>
                    <a:pt x="108" y="198"/>
                  </a:lnTo>
                  <a:lnTo>
                    <a:pt x="107" y="184"/>
                  </a:lnTo>
                  <a:lnTo>
                    <a:pt x="106" y="170"/>
                  </a:lnTo>
                  <a:lnTo>
                    <a:pt x="105" y="154"/>
                  </a:lnTo>
                  <a:lnTo>
                    <a:pt x="102" y="140"/>
                  </a:lnTo>
                  <a:lnTo>
                    <a:pt x="97" y="134"/>
                  </a:lnTo>
                  <a:lnTo>
                    <a:pt x="99" y="130"/>
                  </a:lnTo>
                  <a:lnTo>
                    <a:pt x="84" y="118"/>
                  </a:lnTo>
                  <a:lnTo>
                    <a:pt x="77" y="108"/>
                  </a:lnTo>
                  <a:lnTo>
                    <a:pt x="67" y="96"/>
                  </a:lnTo>
                  <a:lnTo>
                    <a:pt x="58" y="84"/>
                  </a:lnTo>
                  <a:lnTo>
                    <a:pt x="37" y="69"/>
                  </a:lnTo>
                  <a:lnTo>
                    <a:pt x="41" y="64"/>
                  </a:lnTo>
                  <a:lnTo>
                    <a:pt x="49" y="62"/>
                  </a:lnTo>
                  <a:lnTo>
                    <a:pt x="48" y="5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0" name="Freeform 59"/>
            <p:cNvSpPr>
              <a:spLocks/>
            </p:cNvSpPr>
            <p:nvPr/>
          </p:nvSpPr>
          <p:spPr bwMode="auto">
            <a:xfrm>
              <a:off x="3402" y="2183"/>
              <a:ext cx="13" cy="33"/>
            </a:xfrm>
            <a:custGeom>
              <a:avLst/>
              <a:gdLst/>
              <a:ahLst/>
              <a:cxnLst>
                <a:cxn ang="0">
                  <a:pos x="7" y="27"/>
                </a:cxn>
                <a:cxn ang="0">
                  <a:pos x="5" y="29"/>
                </a:cxn>
                <a:cxn ang="0">
                  <a:pos x="0" y="25"/>
                </a:cxn>
                <a:cxn ang="0">
                  <a:pos x="0" y="8"/>
                </a:cxn>
                <a:cxn ang="0">
                  <a:pos x="6" y="0"/>
                </a:cxn>
                <a:cxn ang="0">
                  <a:pos x="11" y="15"/>
                </a:cxn>
                <a:cxn ang="0">
                  <a:pos x="7" y="27"/>
                </a:cxn>
              </a:cxnLst>
              <a:rect l="0" t="0" r="r" b="b"/>
              <a:pathLst>
                <a:path w="11" h="29">
                  <a:moveTo>
                    <a:pt x="7" y="27"/>
                  </a:moveTo>
                  <a:lnTo>
                    <a:pt x="5" y="29"/>
                  </a:lnTo>
                  <a:lnTo>
                    <a:pt x="0" y="25"/>
                  </a:lnTo>
                  <a:lnTo>
                    <a:pt x="0" y="8"/>
                  </a:lnTo>
                  <a:lnTo>
                    <a:pt x="6" y="0"/>
                  </a:lnTo>
                  <a:lnTo>
                    <a:pt x="11" y="15"/>
                  </a:lnTo>
                  <a:lnTo>
                    <a:pt x="7"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1" name="Freeform 60"/>
            <p:cNvSpPr>
              <a:spLocks/>
            </p:cNvSpPr>
            <p:nvPr/>
          </p:nvSpPr>
          <p:spPr bwMode="auto">
            <a:xfrm>
              <a:off x="3253" y="1914"/>
              <a:ext cx="356" cy="289"/>
            </a:xfrm>
            <a:custGeom>
              <a:avLst/>
              <a:gdLst/>
              <a:ahLst/>
              <a:cxnLst>
                <a:cxn ang="0">
                  <a:pos x="36" y="106"/>
                </a:cxn>
                <a:cxn ang="0">
                  <a:pos x="40" y="79"/>
                </a:cxn>
                <a:cxn ang="0">
                  <a:pos x="29" y="66"/>
                </a:cxn>
                <a:cxn ang="0">
                  <a:pos x="5" y="33"/>
                </a:cxn>
                <a:cxn ang="0">
                  <a:pos x="0" y="5"/>
                </a:cxn>
                <a:cxn ang="0">
                  <a:pos x="7" y="1"/>
                </a:cxn>
                <a:cxn ang="0">
                  <a:pos x="28" y="15"/>
                </a:cxn>
                <a:cxn ang="0">
                  <a:pos x="54" y="0"/>
                </a:cxn>
                <a:cxn ang="0">
                  <a:pos x="58" y="13"/>
                </a:cxn>
                <a:cxn ang="0">
                  <a:pos x="79" y="39"/>
                </a:cxn>
                <a:cxn ang="0">
                  <a:pos x="111" y="51"/>
                </a:cxn>
                <a:cxn ang="0">
                  <a:pos x="138" y="53"/>
                </a:cxn>
                <a:cxn ang="0">
                  <a:pos x="151" y="48"/>
                </a:cxn>
                <a:cxn ang="0">
                  <a:pos x="154" y="42"/>
                </a:cxn>
                <a:cxn ang="0">
                  <a:pos x="181" y="29"/>
                </a:cxn>
                <a:cxn ang="0">
                  <a:pos x="220" y="36"/>
                </a:cxn>
                <a:cxn ang="0">
                  <a:pos x="246" y="53"/>
                </a:cxn>
                <a:cxn ang="0">
                  <a:pos x="265" y="73"/>
                </a:cxn>
                <a:cxn ang="0">
                  <a:pos x="261" y="96"/>
                </a:cxn>
                <a:cxn ang="0">
                  <a:pos x="267" y="111"/>
                </a:cxn>
                <a:cxn ang="0">
                  <a:pos x="269" y="129"/>
                </a:cxn>
                <a:cxn ang="0">
                  <a:pos x="287" y="149"/>
                </a:cxn>
                <a:cxn ang="0">
                  <a:pos x="279" y="177"/>
                </a:cxn>
                <a:cxn ang="0">
                  <a:pos x="300" y="201"/>
                </a:cxn>
                <a:cxn ang="0">
                  <a:pos x="317" y="225"/>
                </a:cxn>
                <a:cxn ang="0">
                  <a:pos x="322" y="234"/>
                </a:cxn>
                <a:cxn ang="0">
                  <a:pos x="303" y="246"/>
                </a:cxn>
                <a:cxn ang="0">
                  <a:pos x="285" y="258"/>
                </a:cxn>
                <a:cxn ang="0">
                  <a:pos x="251" y="252"/>
                </a:cxn>
                <a:cxn ang="0">
                  <a:pos x="228" y="238"/>
                </a:cxn>
                <a:cxn ang="0">
                  <a:pos x="209" y="231"/>
                </a:cxn>
                <a:cxn ang="0">
                  <a:pos x="172" y="231"/>
                </a:cxn>
                <a:cxn ang="0">
                  <a:pos x="144" y="213"/>
                </a:cxn>
                <a:cxn ang="0">
                  <a:pos x="125" y="190"/>
                </a:cxn>
                <a:cxn ang="0">
                  <a:pos x="105" y="172"/>
                </a:cxn>
                <a:cxn ang="0">
                  <a:pos x="97" y="166"/>
                </a:cxn>
                <a:cxn ang="0">
                  <a:pos x="90" y="174"/>
                </a:cxn>
                <a:cxn ang="0">
                  <a:pos x="81" y="156"/>
                </a:cxn>
                <a:cxn ang="0">
                  <a:pos x="76" y="142"/>
                </a:cxn>
                <a:cxn ang="0">
                  <a:pos x="57" y="126"/>
                </a:cxn>
              </a:cxnLst>
              <a:rect l="0" t="0" r="r" b="b"/>
              <a:pathLst>
                <a:path w="322" h="261">
                  <a:moveTo>
                    <a:pt x="45" y="118"/>
                  </a:moveTo>
                  <a:lnTo>
                    <a:pt x="36" y="106"/>
                  </a:lnTo>
                  <a:lnTo>
                    <a:pt x="35" y="96"/>
                  </a:lnTo>
                  <a:lnTo>
                    <a:pt x="40" y="79"/>
                  </a:lnTo>
                  <a:lnTo>
                    <a:pt x="40" y="71"/>
                  </a:lnTo>
                  <a:lnTo>
                    <a:pt x="29" y="66"/>
                  </a:lnTo>
                  <a:lnTo>
                    <a:pt x="15" y="46"/>
                  </a:lnTo>
                  <a:lnTo>
                    <a:pt x="5" y="33"/>
                  </a:lnTo>
                  <a:lnTo>
                    <a:pt x="1" y="15"/>
                  </a:lnTo>
                  <a:lnTo>
                    <a:pt x="0" y="5"/>
                  </a:lnTo>
                  <a:lnTo>
                    <a:pt x="6" y="0"/>
                  </a:lnTo>
                  <a:lnTo>
                    <a:pt x="7" y="1"/>
                  </a:lnTo>
                  <a:lnTo>
                    <a:pt x="10" y="5"/>
                  </a:lnTo>
                  <a:lnTo>
                    <a:pt x="28" y="15"/>
                  </a:lnTo>
                  <a:lnTo>
                    <a:pt x="40" y="10"/>
                  </a:lnTo>
                  <a:lnTo>
                    <a:pt x="54" y="0"/>
                  </a:lnTo>
                  <a:lnTo>
                    <a:pt x="59" y="10"/>
                  </a:lnTo>
                  <a:lnTo>
                    <a:pt x="58" y="13"/>
                  </a:lnTo>
                  <a:lnTo>
                    <a:pt x="71" y="23"/>
                  </a:lnTo>
                  <a:lnTo>
                    <a:pt x="79" y="39"/>
                  </a:lnTo>
                  <a:lnTo>
                    <a:pt x="96" y="46"/>
                  </a:lnTo>
                  <a:lnTo>
                    <a:pt x="111" y="51"/>
                  </a:lnTo>
                  <a:lnTo>
                    <a:pt x="125" y="55"/>
                  </a:lnTo>
                  <a:lnTo>
                    <a:pt x="138" y="53"/>
                  </a:lnTo>
                  <a:lnTo>
                    <a:pt x="149" y="51"/>
                  </a:lnTo>
                  <a:lnTo>
                    <a:pt x="151" y="48"/>
                  </a:lnTo>
                  <a:lnTo>
                    <a:pt x="149" y="42"/>
                  </a:lnTo>
                  <a:lnTo>
                    <a:pt x="154" y="42"/>
                  </a:lnTo>
                  <a:lnTo>
                    <a:pt x="165" y="31"/>
                  </a:lnTo>
                  <a:lnTo>
                    <a:pt x="181" y="29"/>
                  </a:lnTo>
                  <a:lnTo>
                    <a:pt x="196" y="28"/>
                  </a:lnTo>
                  <a:lnTo>
                    <a:pt x="220" y="36"/>
                  </a:lnTo>
                  <a:lnTo>
                    <a:pt x="233" y="45"/>
                  </a:lnTo>
                  <a:lnTo>
                    <a:pt x="246" y="53"/>
                  </a:lnTo>
                  <a:lnTo>
                    <a:pt x="259" y="55"/>
                  </a:lnTo>
                  <a:lnTo>
                    <a:pt x="265" y="73"/>
                  </a:lnTo>
                  <a:lnTo>
                    <a:pt x="262" y="94"/>
                  </a:lnTo>
                  <a:lnTo>
                    <a:pt x="261" y="96"/>
                  </a:lnTo>
                  <a:lnTo>
                    <a:pt x="261" y="106"/>
                  </a:lnTo>
                  <a:lnTo>
                    <a:pt x="267" y="111"/>
                  </a:lnTo>
                  <a:lnTo>
                    <a:pt x="265" y="114"/>
                  </a:lnTo>
                  <a:lnTo>
                    <a:pt x="269" y="129"/>
                  </a:lnTo>
                  <a:lnTo>
                    <a:pt x="271" y="144"/>
                  </a:lnTo>
                  <a:lnTo>
                    <a:pt x="287" y="149"/>
                  </a:lnTo>
                  <a:lnTo>
                    <a:pt x="289" y="156"/>
                  </a:lnTo>
                  <a:lnTo>
                    <a:pt x="279" y="177"/>
                  </a:lnTo>
                  <a:lnTo>
                    <a:pt x="289" y="189"/>
                  </a:lnTo>
                  <a:lnTo>
                    <a:pt x="300" y="201"/>
                  </a:lnTo>
                  <a:lnTo>
                    <a:pt x="312" y="207"/>
                  </a:lnTo>
                  <a:lnTo>
                    <a:pt x="317" y="225"/>
                  </a:lnTo>
                  <a:lnTo>
                    <a:pt x="322" y="227"/>
                  </a:lnTo>
                  <a:lnTo>
                    <a:pt x="322" y="234"/>
                  </a:lnTo>
                  <a:lnTo>
                    <a:pt x="309" y="240"/>
                  </a:lnTo>
                  <a:lnTo>
                    <a:pt x="303" y="246"/>
                  </a:lnTo>
                  <a:lnTo>
                    <a:pt x="301" y="261"/>
                  </a:lnTo>
                  <a:lnTo>
                    <a:pt x="285" y="258"/>
                  </a:lnTo>
                  <a:lnTo>
                    <a:pt x="268" y="255"/>
                  </a:lnTo>
                  <a:lnTo>
                    <a:pt x="251" y="252"/>
                  </a:lnTo>
                  <a:lnTo>
                    <a:pt x="234" y="250"/>
                  </a:lnTo>
                  <a:lnTo>
                    <a:pt x="228" y="238"/>
                  </a:lnTo>
                  <a:lnTo>
                    <a:pt x="221" y="226"/>
                  </a:lnTo>
                  <a:lnTo>
                    <a:pt x="209" y="231"/>
                  </a:lnTo>
                  <a:lnTo>
                    <a:pt x="196" y="235"/>
                  </a:lnTo>
                  <a:lnTo>
                    <a:pt x="172" y="231"/>
                  </a:lnTo>
                  <a:lnTo>
                    <a:pt x="159" y="221"/>
                  </a:lnTo>
                  <a:lnTo>
                    <a:pt x="144" y="213"/>
                  </a:lnTo>
                  <a:lnTo>
                    <a:pt x="132" y="201"/>
                  </a:lnTo>
                  <a:lnTo>
                    <a:pt x="125" y="190"/>
                  </a:lnTo>
                  <a:lnTo>
                    <a:pt x="111" y="171"/>
                  </a:lnTo>
                  <a:lnTo>
                    <a:pt x="105" y="172"/>
                  </a:lnTo>
                  <a:lnTo>
                    <a:pt x="97" y="167"/>
                  </a:lnTo>
                  <a:lnTo>
                    <a:pt x="97" y="166"/>
                  </a:lnTo>
                  <a:lnTo>
                    <a:pt x="93" y="174"/>
                  </a:lnTo>
                  <a:lnTo>
                    <a:pt x="90" y="174"/>
                  </a:lnTo>
                  <a:lnTo>
                    <a:pt x="85" y="168"/>
                  </a:lnTo>
                  <a:lnTo>
                    <a:pt x="81" y="156"/>
                  </a:lnTo>
                  <a:lnTo>
                    <a:pt x="75" y="156"/>
                  </a:lnTo>
                  <a:lnTo>
                    <a:pt x="76" y="142"/>
                  </a:lnTo>
                  <a:lnTo>
                    <a:pt x="70" y="135"/>
                  </a:lnTo>
                  <a:lnTo>
                    <a:pt x="57" y="126"/>
                  </a:lnTo>
                  <a:lnTo>
                    <a:pt x="45" y="1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2" name="Freeform 61"/>
            <p:cNvSpPr>
              <a:spLocks/>
            </p:cNvSpPr>
            <p:nvPr/>
          </p:nvSpPr>
          <p:spPr bwMode="auto">
            <a:xfrm>
              <a:off x="3180" y="1961"/>
              <a:ext cx="173" cy="162"/>
            </a:xfrm>
            <a:custGeom>
              <a:avLst/>
              <a:gdLst/>
              <a:ahLst/>
              <a:cxnLst>
                <a:cxn ang="0">
                  <a:pos x="101" y="63"/>
                </a:cxn>
                <a:cxn ang="0">
                  <a:pos x="100" y="53"/>
                </a:cxn>
                <a:cxn ang="0">
                  <a:pos x="105" y="36"/>
                </a:cxn>
                <a:cxn ang="0">
                  <a:pos x="105" y="28"/>
                </a:cxn>
                <a:cxn ang="0">
                  <a:pos x="94" y="23"/>
                </a:cxn>
                <a:cxn ang="0">
                  <a:pos x="80" y="3"/>
                </a:cxn>
                <a:cxn ang="0">
                  <a:pos x="71" y="4"/>
                </a:cxn>
                <a:cxn ang="0">
                  <a:pos x="68" y="0"/>
                </a:cxn>
                <a:cxn ang="0">
                  <a:pos x="47" y="0"/>
                </a:cxn>
                <a:cxn ang="0">
                  <a:pos x="44" y="4"/>
                </a:cxn>
                <a:cxn ang="0">
                  <a:pos x="30" y="17"/>
                </a:cxn>
                <a:cxn ang="0">
                  <a:pos x="30" y="34"/>
                </a:cxn>
                <a:cxn ang="0">
                  <a:pos x="30" y="52"/>
                </a:cxn>
                <a:cxn ang="0">
                  <a:pos x="15" y="62"/>
                </a:cxn>
                <a:cxn ang="0">
                  <a:pos x="0" y="70"/>
                </a:cxn>
                <a:cxn ang="0">
                  <a:pos x="10" y="92"/>
                </a:cxn>
                <a:cxn ang="0">
                  <a:pos x="24" y="98"/>
                </a:cxn>
                <a:cxn ang="0">
                  <a:pos x="40" y="105"/>
                </a:cxn>
                <a:cxn ang="0">
                  <a:pos x="54" y="111"/>
                </a:cxn>
                <a:cxn ang="0">
                  <a:pos x="69" y="118"/>
                </a:cxn>
                <a:cxn ang="0">
                  <a:pos x="83" y="131"/>
                </a:cxn>
                <a:cxn ang="0">
                  <a:pos x="99" y="146"/>
                </a:cxn>
                <a:cxn ang="0">
                  <a:pos x="126" y="147"/>
                </a:cxn>
                <a:cxn ang="0">
                  <a:pos x="134" y="132"/>
                </a:cxn>
                <a:cxn ang="0">
                  <a:pos x="147" y="131"/>
                </a:cxn>
                <a:cxn ang="0">
                  <a:pos x="155" y="131"/>
                </a:cxn>
                <a:cxn ang="0">
                  <a:pos x="150" y="125"/>
                </a:cxn>
                <a:cxn ang="0">
                  <a:pos x="146" y="113"/>
                </a:cxn>
                <a:cxn ang="0">
                  <a:pos x="140" y="113"/>
                </a:cxn>
                <a:cxn ang="0">
                  <a:pos x="141" y="99"/>
                </a:cxn>
                <a:cxn ang="0">
                  <a:pos x="135" y="92"/>
                </a:cxn>
                <a:cxn ang="0">
                  <a:pos x="122" y="83"/>
                </a:cxn>
                <a:cxn ang="0">
                  <a:pos x="110" y="75"/>
                </a:cxn>
                <a:cxn ang="0">
                  <a:pos x="101" y="63"/>
                </a:cxn>
              </a:cxnLst>
              <a:rect l="0" t="0" r="r" b="b"/>
              <a:pathLst>
                <a:path w="155" h="147">
                  <a:moveTo>
                    <a:pt x="101" y="63"/>
                  </a:moveTo>
                  <a:lnTo>
                    <a:pt x="100" y="53"/>
                  </a:lnTo>
                  <a:lnTo>
                    <a:pt x="105" y="36"/>
                  </a:lnTo>
                  <a:lnTo>
                    <a:pt x="105" y="28"/>
                  </a:lnTo>
                  <a:lnTo>
                    <a:pt x="94" y="23"/>
                  </a:lnTo>
                  <a:lnTo>
                    <a:pt x="80" y="3"/>
                  </a:lnTo>
                  <a:lnTo>
                    <a:pt x="71" y="4"/>
                  </a:lnTo>
                  <a:lnTo>
                    <a:pt x="68" y="0"/>
                  </a:lnTo>
                  <a:lnTo>
                    <a:pt x="47" y="0"/>
                  </a:lnTo>
                  <a:lnTo>
                    <a:pt x="44" y="4"/>
                  </a:lnTo>
                  <a:lnTo>
                    <a:pt x="30" y="17"/>
                  </a:lnTo>
                  <a:lnTo>
                    <a:pt x="30" y="34"/>
                  </a:lnTo>
                  <a:lnTo>
                    <a:pt x="30" y="52"/>
                  </a:lnTo>
                  <a:lnTo>
                    <a:pt x="15" y="62"/>
                  </a:lnTo>
                  <a:lnTo>
                    <a:pt x="0" y="70"/>
                  </a:lnTo>
                  <a:lnTo>
                    <a:pt x="10" y="92"/>
                  </a:lnTo>
                  <a:lnTo>
                    <a:pt x="24" y="98"/>
                  </a:lnTo>
                  <a:lnTo>
                    <a:pt x="40" y="105"/>
                  </a:lnTo>
                  <a:lnTo>
                    <a:pt x="54" y="111"/>
                  </a:lnTo>
                  <a:lnTo>
                    <a:pt x="69" y="118"/>
                  </a:lnTo>
                  <a:lnTo>
                    <a:pt x="83" y="131"/>
                  </a:lnTo>
                  <a:lnTo>
                    <a:pt x="99" y="146"/>
                  </a:lnTo>
                  <a:lnTo>
                    <a:pt x="126" y="147"/>
                  </a:lnTo>
                  <a:lnTo>
                    <a:pt x="134" y="132"/>
                  </a:lnTo>
                  <a:lnTo>
                    <a:pt x="147" y="131"/>
                  </a:lnTo>
                  <a:lnTo>
                    <a:pt x="155" y="131"/>
                  </a:lnTo>
                  <a:lnTo>
                    <a:pt x="150" y="125"/>
                  </a:lnTo>
                  <a:lnTo>
                    <a:pt x="146" y="113"/>
                  </a:lnTo>
                  <a:lnTo>
                    <a:pt x="140" y="113"/>
                  </a:lnTo>
                  <a:lnTo>
                    <a:pt x="141" y="99"/>
                  </a:lnTo>
                  <a:lnTo>
                    <a:pt x="135" y="92"/>
                  </a:lnTo>
                  <a:lnTo>
                    <a:pt x="122" y="83"/>
                  </a:lnTo>
                  <a:lnTo>
                    <a:pt x="110" y="75"/>
                  </a:lnTo>
                  <a:lnTo>
                    <a:pt x="101" y="6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3" name="Freeform 62"/>
            <p:cNvSpPr>
              <a:spLocks/>
            </p:cNvSpPr>
            <p:nvPr/>
          </p:nvSpPr>
          <p:spPr bwMode="auto">
            <a:xfrm>
              <a:off x="3320" y="2107"/>
              <a:ext cx="33" cy="29"/>
            </a:xfrm>
            <a:custGeom>
              <a:avLst/>
              <a:gdLst/>
              <a:ahLst/>
              <a:cxnLst>
                <a:cxn ang="0">
                  <a:pos x="24" y="7"/>
                </a:cxn>
                <a:cxn ang="0">
                  <a:pos x="20" y="9"/>
                </a:cxn>
                <a:cxn ang="0">
                  <a:pos x="21" y="12"/>
                </a:cxn>
                <a:cxn ang="0">
                  <a:pos x="30" y="27"/>
                </a:cxn>
                <a:cxn ang="0">
                  <a:pos x="17" y="23"/>
                </a:cxn>
                <a:cxn ang="0">
                  <a:pos x="15" y="18"/>
                </a:cxn>
                <a:cxn ang="0">
                  <a:pos x="0" y="16"/>
                </a:cxn>
                <a:cxn ang="0">
                  <a:pos x="8" y="1"/>
                </a:cxn>
                <a:cxn ang="0">
                  <a:pos x="21" y="0"/>
                </a:cxn>
                <a:cxn ang="0">
                  <a:pos x="24" y="7"/>
                </a:cxn>
              </a:cxnLst>
              <a:rect l="0" t="0" r="r" b="b"/>
              <a:pathLst>
                <a:path w="30" h="27">
                  <a:moveTo>
                    <a:pt x="24" y="7"/>
                  </a:moveTo>
                  <a:lnTo>
                    <a:pt x="20" y="9"/>
                  </a:lnTo>
                  <a:lnTo>
                    <a:pt x="21" y="12"/>
                  </a:lnTo>
                  <a:lnTo>
                    <a:pt x="30" y="27"/>
                  </a:lnTo>
                  <a:lnTo>
                    <a:pt x="17" y="23"/>
                  </a:lnTo>
                  <a:lnTo>
                    <a:pt x="15" y="18"/>
                  </a:lnTo>
                  <a:lnTo>
                    <a:pt x="0" y="16"/>
                  </a:lnTo>
                  <a:lnTo>
                    <a:pt x="8" y="1"/>
                  </a:lnTo>
                  <a:lnTo>
                    <a:pt x="21" y="0"/>
                  </a:lnTo>
                  <a:lnTo>
                    <a:pt x="24"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4" name="Freeform 63"/>
            <p:cNvSpPr>
              <a:spLocks/>
            </p:cNvSpPr>
            <p:nvPr/>
          </p:nvSpPr>
          <p:spPr bwMode="auto">
            <a:xfrm>
              <a:off x="3893" y="2096"/>
              <a:ext cx="142" cy="80"/>
            </a:xfrm>
            <a:custGeom>
              <a:avLst/>
              <a:gdLst/>
              <a:ahLst/>
              <a:cxnLst>
                <a:cxn ang="0">
                  <a:pos x="73" y="56"/>
                </a:cxn>
                <a:cxn ang="0">
                  <a:pos x="54" y="54"/>
                </a:cxn>
                <a:cxn ang="0">
                  <a:pos x="39" y="50"/>
                </a:cxn>
                <a:cxn ang="0">
                  <a:pos x="19" y="41"/>
                </a:cxn>
                <a:cxn ang="0">
                  <a:pos x="0" y="30"/>
                </a:cxn>
                <a:cxn ang="0">
                  <a:pos x="0" y="19"/>
                </a:cxn>
                <a:cxn ang="0">
                  <a:pos x="9" y="5"/>
                </a:cxn>
                <a:cxn ang="0">
                  <a:pos x="10" y="6"/>
                </a:cxn>
                <a:cxn ang="0">
                  <a:pos x="16" y="0"/>
                </a:cxn>
                <a:cxn ang="0">
                  <a:pos x="29" y="8"/>
                </a:cxn>
                <a:cxn ang="0">
                  <a:pos x="49" y="23"/>
                </a:cxn>
                <a:cxn ang="0">
                  <a:pos x="55" y="20"/>
                </a:cxn>
                <a:cxn ang="0">
                  <a:pos x="60" y="26"/>
                </a:cxn>
                <a:cxn ang="0">
                  <a:pos x="75" y="32"/>
                </a:cxn>
                <a:cxn ang="0">
                  <a:pos x="77" y="36"/>
                </a:cxn>
                <a:cxn ang="0">
                  <a:pos x="93" y="43"/>
                </a:cxn>
                <a:cxn ang="0">
                  <a:pos x="107" y="44"/>
                </a:cxn>
                <a:cxn ang="0">
                  <a:pos x="125" y="47"/>
                </a:cxn>
                <a:cxn ang="0">
                  <a:pos x="130" y="72"/>
                </a:cxn>
                <a:cxn ang="0">
                  <a:pos x="113" y="71"/>
                </a:cxn>
                <a:cxn ang="0">
                  <a:pos x="93" y="68"/>
                </a:cxn>
                <a:cxn ang="0">
                  <a:pos x="82" y="65"/>
                </a:cxn>
                <a:cxn ang="0">
                  <a:pos x="73" y="56"/>
                </a:cxn>
              </a:cxnLst>
              <a:rect l="0" t="0" r="r" b="b"/>
              <a:pathLst>
                <a:path w="130" h="72">
                  <a:moveTo>
                    <a:pt x="73" y="56"/>
                  </a:moveTo>
                  <a:lnTo>
                    <a:pt x="54" y="54"/>
                  </a:lnTo>
                  <a:lnTo>
                    <a:pt x="39" y="50"/>
                  </a:lnTo>
                  <a:lnTo>
                    <a:pt x="19" y="41"/>
                  </a:lnTo>
                  <a:lnTo>
                    <a:pt x="0" y="30"/>
                  </a:lnTo>
                  <a:lnTo>
                    <a:pt x="0" y="19"/>
                  </a:lnTo>
                  <a:lnTo>
                    <a:pt x="9" y="5"/>
                  </a:lnTo>
                  <a:lnTo>
                    <a:pt x="10" y="6"/>
                  </a:lnTo>
                  <a:lnTo>
                    <a:pt x="16" y="0"/>
                  </a:lnTo>
                  <a:lnTo>
                    <a:pt x="29" y="8"/>
                  </a:lnTo>
                  <a:lnTo>
                    <a:pt x="49" y="23"/>
                  </a:lnTo>
                  <a:lnTo>
                    <a:pt x="55" y="20"/>
                  </a:lnTo>
                  <a:lnTo>
                    <a:pt x="60" y="26"/>
                  </a:lnTo>
                  <a:lnTo>
                    <a:pt x="75" y="32"/>
                  </a:lnTo>
                  <a:lnTo>
                    <a:pt x="77" y="36"/>
                  </a:lnTo>
                  <a:lnTo>
                    <a:pt x="93" y="43"/>
                  </a:lnTo>
                  <a:lnTo>
                    <a:pt x="107" y="44"/>
                  </a:lnTo>
                  <a:lnTo>
                    <a:pt x="125" y="47"/>
                  </a:lnTo>
                  <a:lnTo>
                    <a:pt x="130" y="72"/>
                  </a:lnTo>
                  <a:lnTo>
                    <a:pt x="113" y="71"/>
                  </a:lnTo>
                  <a:lnTo>
                    <a:pt x="93" y="68"/>
                  </a:lnTo>
                  <a:lnTo>
                    <a:pt x="82" y="65"/>
                  </a:lnTo>
                  <a:lnTo>
                    <a:pt x="73"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5" name="Freeform 64"/>
            <p:cNvSpPr>
              <a:spLocks/>
            </p:cNvSpPr>
            <p:nvPr/>
          </p:nvSpPr>
          <p:spPr bwMode="auto">
            <a:xfrm>
              <a:off x="3562" y="1967"/>
              <a:ext cx="260" cy="263"/>
            </a:xfrm>
            <a:custGeom>
              <a:avLst/>
              <a:gdLst/>
              <a:ahLst/>
              <a:cxnLst>
                <a:cxn ang="0">
                  <a:pos x="102" y="217"/>
                </a:cxn>
                <a:cxn ang="0">
                  <a:pos x="116" y="233"/>
                </a:cxn>
                <a:cxn ang="0">
                  <a:pos x="135" y="234"/>
                </a:cxn>
                <a:cxn ang="0">
                  <a:pos x="148" y="229"/>
                </a:cxn>
                <a:cxn ang="0">
                  <a:pos x="169" y="227"/>
                </a:cxn>
                <a:cxn ang="0">
                  <a:pos x="156" y="203"/>
                </a:cxn>
                <a:cxn ang="0">
                  <a:pos x="140" y="185"/>
                </a:cxn>
                <a:cxn ang="0">
                  <a:pos x="154" y="165"/>
                </a:cxn>
                <a:cxn ang="0">
                  <a:pos x="180" y="149"/>
                </a:cxn>
                <a:cxn ang="0">
                  <a:pos x="196" y="120"/>
                </a:cxn>
                <a:cxn ang="0">
                  <a:pos x="200" y="95"/>
                </a:cxn>
                <a:cxn ang="0">
                  <a:pos x="204" y="82"/>
                </a:cxn>
                <a:cxn ang="0">
                  <a:pos x="190" y="71"/>
                </a:cxn>
                <a:cxn ang="0">
                  <a:pos x="187" y="57"/>
                </a:cxn>
                <a:cxn ang="0">
                  <a:pos x="180" y="42"/>
                </a:cxn>
                <a:cxn ang="0">
                  <a:pos x="219" y="40"/>
                </a:cxn>
                <a:cxn ang="0">
                  <a:pos x="213" y="22"/>
                </a:cxn>
                <a:cxn ang="0">
                  <a:pos x="195" y="5"/>
                </a:cxn>
                <a:cxn ang="0">
                  <a:pos x="159" y="4"/>
                </a:cxn>
                <a:cxn ang="0">
                  <a:pos x="134" y="19"/>
                </a:cxn>
                <a:cxn ang="0">
                  <a:pos x="138" y="47"/>
                </a:cxn>
                <a:cxn ang="0">
                  <a:pos x="122" y="57"/>
                </a:cxn>
                <a:cxn ang="0">
                  <a:pos x="118" y="77"/>
                </a:cxn>
                <a:cxn ang="0">
                  <a:pos x="103" y="96"/>
                </a:cxn>
                <a:cxn ang="0">
                  <a:pos x="84" y="107"/>
                </a:cxn>
                <a:cxn ang="0">
                  <a:pos x="81" y="129"/>
                </a:cxn>
                <a:cxn ang="0">
                  <a:pos x="49" y="136"/>
                </a:cxn>
                <a:cxn ang="0">
                  <a:pos x="13" y="132"/>
                </a:cxn>
                <a:cxn ang="0">
                  <a:pos x="10" y="141"/>
                </a:cxn>
                <a:cxn ang="0">
                  <a:pos x="33" y="159"/>
                </a:cxn>
                <a:cxn ang="0">
                  <a:pos x="43" y="179"/>
                </a:cxn>
                <a:cxn ang="0">
                  <a:pos x="30" y="192"/>
                </a:cxn>
                <a:cxn ang="0">
                  <a:pos x="22" y="213"/>
                </a:cxn>
                <a:cxn ang="0">
                  <a:pos x="51" y="211"/>
                </a:cxn>
                <a:cxn ang="0">
                  <a:pos x="80" y="209"/>
                </a:cxn>
              </a:cxnLst>
              <a:rect l="0" t="0" r="r" b="b"/>
              <a:pathLst>
                <a:path w="234" h="238">
                  <a:moveTo>
                    <a:pt x="96" y="208"/>
                  </a:moveTo>
                  <a:lnTo>
                    <a:pt x="102" y="217"/>
                  </a:lnTo>
                  <a:lnTo>
                    <a:pt x="108" y="220"/>
                  </a:lnTo>
                  <a:lnTo>
                    <a:pt x="116" y="233"/>
                  </a:lnTo>
                  <a:lnTo>
                    <a:pt x="128" y="238"/>
                  </a:lnTo>
                  <a:lnTo>
                    <a:pt x="135" y="234"/>
                  </a:lnTo>
                  <a:lnTo>
                    <a:pt x="135" y="228"/>
                  </a:lnTo>
                  <a:lnTo>
                    <a:pt x="148" y="229"/>
                  </a:lnTo>
                  <a:lnTo>
                    <a:pt x="163" y="227"/>
                  </a:lnTo>
                  <a:lnTo>
                    <a:pt x="169" y="227"/>
                  </a:lnTo>
                  <a:lnTo>
                    <a:pt x="162" y="204"/>
                  </a:lnTo>
                  <a:lnTo>
                    <a:pt x="156" y="203"/>
                  </a:lnTo>
                  <a:lnTo>
                    <a:pt x="152" y="191"/>
                  </a:lnTo>
                  <a:lnTo>
                    <a:pt x="140" y="185"/>
                  </a:lnTo>
                  <a:lnTo>
                    <a:pt x="148" y="163"/>
                  </a:lnTo>
                  <a:lnTo>
                    <a:pt x="154" y="165"/>
                  </a:lnTo>
                  <a:lnTo>
                    <a:pt x="170" y="165"/>
                  </a:lnTo>
                  <a:lnTo>
                    <a:pt x="180" y="149"/>
                  </a:lnTo>
                  <a:lnTo>
                    <a:pt x="189" y="133"/>
                  </a:lnTo>
                  <a:lnTo>
                    <a:pt x="196" y="120"/>
                  </a:lnTo>
                  <a:lnTo>
                    <a:pt x="204" y="108"/>
                  </a:lnTo>
                  <a:lnTo>
                    <a:pt x="200" y="95"/>
                  </a:lnTo>
                  <a:lnTo>
                    <a:pt x="211" y="88"/>
                  </a:lnTo>
                  <a:lnTo>
                    <a:pt x="204" y="82"/>
                  </a:lnTo>
                  <a:lnTo>
                    <a:pt x="198" y="76"/>
                  </a:lnTo>
                  <a:lnTo>
                    <a:pt x="190" y="71"/>
                  </a:lnTo>
                  <a:lnTo>
                    <a:pt x="187" y="61"/>
                  </a:lnTo>
                  <a:lnTo>
                    <a:pt x="187" y="57"/>
                  </a:lnTo>
                  <a:lnTo>
                    <a:pt x="180" y="48"/>
                  </a:lnTo>
                  <a:lnTo>
                    <a:pt x="180" y="42"/>
                  </a:lnTo>
                  <a:lnTo>
                    <a:pt x="202" y="46"/>
                  </a:lnTo>
                  <a:lnTo>
                    <a:pt x="219" y="40"/>
                  </a:lnTo>
                  <a:lnTo>
                    <a:pt x="234" y="28"/>
                  </a:lnTo>
                  <a:lnTo>
                    <a:pt x="213" y="22"/>
                  </a:lnTo>
                  <a:lnTo>
                    <a:pt x="202" y="17"/>
                  </a:lnTo>
                  <a:lnTo>
                    <a:pt x="195" y="5"/>
                  </a:lnTo>
                  <a:lnTo>
                    <a:pt x="177" y="0"/>
                  </a:lnTo>
                  <a:lnTo>
                    <a:pt x="159" y="4"/>
                  </a:lnTo>
                  <a:lnTo>
                    <a:pt x="141" y="9"/>
                  </a:lnTo>
                  <a:lnTo>
                    <a:pt x="134" y="19"/>
                  </a:lnTo>
                  <a:lnTo>
                    <a:pt x="142" y="34"/>
                  </a:lnTo>
                  <a:lnTo>
                    <a:pt x="138" y="47"/>
                  </a:lnTo>
                  <a:lnTo>
                    <a:pt x="135" y="55"/>
                  </a:lnTo>
                  <a:lnTo>
                    <a:pt x="122" y="57"/>
                  </a:lnTo>
                  <a:lnTo>
                    <a:pt x="130" y="66"/>
                  </a:lnTo>
                  <a:lnTo>
                    <a:pt x="118" y="77"/>
                  </a:lnTo>
                  <a:lnTo>
                    <a:pt x="117" y="96"/>
                  </a:lnTo>
                  <a:lnTo>
                    <a:pt x="103" y="96"/>
                  </a:lnTo>
                  <a:lnTo>
                    <a:pt x="98" y="101"/>
                  </a:lnTo>
                  <a:lnTo>
                    <a:pt x="84" y="107"/>
                  </a:lnTo>
                  <a:lnTo>
                    <a:pt x="81" y="121"/>
                  </a:lnTo>
                  <a:lnTo>
                    <a:pt x="81" y="129"/>
                  </a:lnTo>
                  <a:lnTo>
                    <a:pt x="66" y="132"/>
                  </a:lnTo>
                  <a:lnTo>
                    <a:pt x="49" y="136"/>
                  </a:lnTo>
                  <a:lnTo>
                    <a:pt x="25" y="137"/>
                  </a:lnTo>
                  <a:lnTo>
                    <a:pt x="13" y="132"/>
                  </a:lnTo>
                  <a:lnTo>
                    <a:pt x="0" y="129"/>
                  </a:lnTo>
                  <a:lnTo>
                    <a:pt x="10" y="141"/>
                  </a:lnTo>
                  <a:lnTo>
                    <a:pt x="21" y="153"/>
                  </a:lnTo>
                  <a:lnTo>
                    <a:pt x="33" y="159"/>
                  </a:lnTo>
                  <a:lnTo>
                    <a:pt x="38" y="177"/>
                  </a:lnTo>
                  <a:lnTo>
                    <a:pt x="43" y="179"/>
                  </a:lnTo>
                  <a:lnTo>
                    <a:pt x="43" y="186"/>
                  </a:lnTo>
                  <a:lnTo>
                    <a:pt x="30" y="192"/>
                  </a:lnTo>
                  <a:lnTo>
                    <a:pt x="24" y="198"/>
                  </a:lnTo>
                  <a:lnTo>
                    <a:pt x="22" y="213"/>
                  </a:lnTo>
                  <a:lnTo>
                    <a:pt x="37" y="211"/>
                  </a:lnTo>
                  <a:lnTo>
                    <a:pt x="51" y="211"/>
                  </a:lnTo>
                  <a:lnTo>
                    <a:pt x="63" y="210"/>
                  </a:lnTo>
                  <a:lnTo>
                    <a:pt x="80" y="209"/>
                  </a:lnTo>
                  <a:lnTo>
                    <a:pt x="96" y="2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6" name="Freeform 65"/>
            <p:cNvSpPr>
              <a:spLocks/>
            </p:cNvSpPr>
            <p:nvPr/>
          </p:nvSpPr>
          <p:spPr bwMode="auto">
            <a:xfrm>
              <a:off x="2951" y="2074"/>
              <a:ext cx="196" cy="196"/>
            </a:xfrm>
            <a:custGeom>
              <a:avLst/>
              <a:gdLst/>
              <a:ahLst/>
              <a:cxnLst>
                <a:cxn ang="0">
                  <a:pos x="139" y="66"/>
                </a:cxn>
                <a:cxn ang="0">
                  <a:pos x="130" y="49"/>
                </a:cxn>
                <a:cxn ang="0">
                  <a:pos x="119" y="33"/>
                </a:cxn>
                <a:cxn ang="0">
                  <a:pos x="116" y="34"/>
                </a:cxn>
                <a:cxn ang="0">
                  <a:pos x="122" y="48"/>
                </a:cxn>
                <a:cxn ang="0">
                  <a:pos x="130" y="61"/>
                </a:cxn>
                <a:cxn ang="0">
                  <a:pos x="137" y="75"/>
                </a:cxn>
                <a:cxn ang="0">
                  <a:pos x="143" y="88"/>
                </a:cxn>
                <a:cxn ang="0">
                  <a:pos x="150" y="100"/>
                </a:cxn>
                <a:cxn ang="0">
                  <a:pos x="157" y="113"/>
                </a:cxn>
                <a:cxn ang="0">
                  <a:pos x="166" y="125"/>
                </a:cxn>
                <a:cxn ang="0">
                  <a:pos x="175" y="138"/>
                </a:cxn>
                <a:cxn ang="0">
                  <a:pos x="173" y="139"/>
                </a:cxn>
                <a:cxn ang="0">
                  <a:pos x="174" y="154"/>
                </a:cxn>
                <a:cxn ang="0">
                  <a:pos x="168" y="160"/>
                </a:cxn>
                <a:cxn ang="0">
                  <a:pos x="164" y="159"/>
                </a:cxn>
                <a:cxn ang="0">
                  <a:pos x="161" y="168"/>
                </a:cxn>
                <a:cxn ang="0">
                  <a:pos x="152" y="171"/>
                </a:cxn>
                <a:cxn ang="0">
                  <a:pos x="149" y="178"/>
                </a:cxn>
                <a:cxn ang="0">
                  <a:pos x="130" y="177"/>
                </a:cxn>
                <a:cxn ang="0">
                  <a:pos x="110" y="174"/>
                </a:cxn>
                <a:cxn ang="0">
                  <a:pos x="109" y="169"/>
                </a:cxn>
                <a:cxn ang="0">
                  <a:pos x="108" y="174"/>
                </a:cxn>
                <a:cxn ang="0">
                  <a:pos x="96" y="174"/>
                </a:cxn>
                <a:cxn ang="0">
                  <a:pos x="83" y="174"/>
                </a:cxn>
                <a:cxn ang="0">
                  <a:pos x="71" y="174"/>
                </a:cxn>
                <a:cxn ang="0">
                  <a:pos x="59" y="174"/>
                </a:cxn>
                <a:cxn ang="0">
                  <a:pos x="47" y="174"/>
                </a:cxn>
                <a:cxn ang="0">
                  <a:pos x="35" y="174"/>
                </a:cxn>
                <a:cxn ang="0">
                  <a:pos x="23" y="174"/>
                </a:cxn>
                <a:cxn ang="0">
                  <a:pos x="11" y="174"/>
                </a:cxn>
                <a:cxn ang="0">
                  <a:pos x="10" y="157"/>
                </a:cxn>
                <a:cxn ang="0">
                  <a:pos x="8" y="141"/>
                </a:cxn>
                <a:cxn ang="0">
                  <a:pos x="7" y="124"/>
                </a:cxn>
                <a:cxn ang="0">
                  <a:pos x="6" y="107"/>
                </a:cxn>
                <a:cxn ang="0">
                  <a:pos x="5" y="90"/>
                </a:cxn>
                <a:cxn ang="0">
                  <a:pos x="4" y="73"/>
                </a:cxn>
                <a:cxn ang="0">
                  <a:pos x="2" y="57"/>
                </a:cxn>
                <a:cxn ang="0">
                  <a:pos x="1" y="39"/>
                </a:cxn>
                <a:cxn ang="0">
                  <a:pos x="1" y="25"/>
                </a:cxn>
                <a:cxn ang="0">
                  <a:pos x="0" y="12"/>
                </a:cxn>
                <a:cxn ang="0">
                  <a:pos x="2" y="0"/>
                </a:cxn>
                <a:cxn ang="0">
                  <a:pos x="13" y="1"/>
                </a:cxn>
                <a:cxn ang="0">
                  <a:pos x="36" y="7"/>
                </a:cxn>
                <a:cxn ang="0">
                  <a:pos x="60" y="15"/>
                </a:cxn>
                <a:cxn ang="0">
                  <a:pos x="80" y="7"/>
                </a:cxn>
                <a:cxn ang="0">
                  <a:pos x="91" y="1"/>
                </a:cxn>
                <a:cxn ang="0">
                  <a:pos x="86" y="5"/>
                </a:cxn>
                <a:cxn ang="0">
                  <a:pos x="94" y="3"/>
                </a:cxn>
                <a:cxn ang="0">
                  <a:pos x="107" y="6"/>
                </a:cxn>
                <a:cxn ang="0">
                  <a:pos x="112" y="10"/>
                </a:cxn>
                <a:cxn ang="0">
                  <a:pos x="119" y="11"/>
                </a:cxn>
                <a:cxn ang="0">
                  <a:pos x="140" y="6"/>
                </a:cxn>
                <a:cxn ang="0">
                  <a:pos x="148" y="23"/>
                </a:cxn>
                <a:cxn ang="0">
                  <a:pos x="155" y="40"/>
                </a:cxn>
                <a:cxn ang="0">
                  <a:pos x="151" y="54"/>
                </a:cxn>
                <a:cxn ang="0">
                  <a:pos x="148" y="69"/>
                </a:cxn>
                <a:cxn ang="0">
                  <a:pos x="139" y="66"/>
                </a:cxn>
              </a:cxnLst>
              <a:rect l="0" t="0" r="r" b="b"/>
              <a:pathLst>
                <a:path w="175" h="178">
                  <a:moveTo>
                    <a:pt x="139" y="66"/>
                  </a:moveTo>
                  <a:lnTo>
                    <a:pt x="130" y="49"/>
                  </a:lnTo>
                  <a:lnTo>
                    <a:pt x="119" y="33"/>
                  </a:lnTo>
                  <a:lnTo>
                    <a:pt x="116" y="34"/>
                  </a:lnTo>
                  <a:lnTo>
                    <a:pt x="122" y="48"/>
                  </a:lnTo>
                  <a:lnTo>
                    <a:pt x="130" y="61"/>
                  </a:lnTo>
                  <a:lnTo>
                    <a:pt x="137" y="75"/>
                  </a:lnTo>
                  <a:lnTo>
                    <a:pt x="143" y="88"/>
                  </a:lnTo>
                  <a:lnTo>
                    <a:pt x="150" y="100"/>
                  </a:lnTo>
                  <a:lnTo>
                    <a:pt x="157" y="113"/>
                  </a:lnTo>
                  <a:lnTo>
                    <a:pt x="166" y="125"/>
                  </a:lnTo>
                  <a:lnTo>
                    <a:pt x="175" y="138"/>
                  </a:lnTo>
                  <a:lnTo>
                    <a:pt x="173" y="139"/>
                  </a:lnTo>
                  <a:lnTo>
                    <a:pt x="174" y="154"/>
                  </a:lnTo>
                  <a:lnTo>
                    <a:pt x="168" y="160"/>
                  </a:lnTo>
                  <a:lnTo>
                    <a:pt x="164" y="159"/>
                  </a:lnTo>
                  <a:lnTo>
                    <a:pt x="161" y="168"/>
                  </a:lnTo>
                  <a:lnTo>
                    <a:pt x="152" y="171"/>
                  </a:lnTo>
                  <a:lnTo>
                    <a:pt x="149" y="178"/>
                  </a:lnTo>
                  <a:lnTo>
                    <a:pt x="130" y="177"/>
                  </a:lnTo>
                  <a:lnTo>
                    <a:pt x="110" y="174"/>
                  </a:lnTo>
                  <a:lnTo>
                    <a:pt x="109" y="169"/>
                  </a:lnTo>
                  <a:lnTo>
                    <a:pt x="108" y="174"/>
                  </a:lnTo>
                  <a:lnTo>
                    <a:pt x="96" y="174"/>
                  </a:lnTo>
                  <a:lnTo>
                    <a:pt x="83" y="174"/>
                  </a:lnTo>
                  <a:lnTo>
                    <a:pt x="71" y="174"/>
                  </a:lnTo>
                  <a:lnTo>
                    <a:pt x="59" y="174"/>
                  </a:lnTo>
                  <a:lnTo>
                    <a:pt x="47" y="174"/>
                  </a:lnTo>
                  <a:lnTo>
                    <a:pt x="35" y="174"/>
                  </a:lnTo>
                  <a:lnTo>
                    <a:pt x="23" y="174"/>
                  </a:lnTo>
                  <a:lnTo>
                    <a:pt x="11" y="174"/>
                  </a:lnTo>
                  <a:lnTo>
                    <a:pt x="10" y="157"/>
                  </a:lnTo>
                  <a:lnTo>
                    <a:pt x="8" y="141"/>
                  </a:lnTo>
                  <a:lnTo>
                    <a:pt x="7" y="124"/>
                  </a:lnTo>
                  <a:lnTo>
                    <a:pt x="6" y="107"/>
                  </a:lnTo>
                  <a:lnTo>
                    <a:pt x="5" y="90"/>
                  </a:lnTo>
                  <a:lnTo>
                    <a:pt x="4" y="73"/>
                  </a:lnTo>
                  <a:lnTo>
                    <a:pt x="2" y="57"/>
                  </a:lnTo>
                  <a:lnTo>
                    <a:pt x="1" y="39"/>
                  </a:lnTo>
                  <a:lnTo>
                    <a:pt x="1" y="25"/>
                  </a:lnTo>
                  <a:lnTo>
                    <a:pt x="0" y="12"/>
                  </a:lnTo>
                  <a:lnTo>
                    <a:pt x="2" y="0"/>
                  </a:lnTo>
                  <a:lnTo>
                    <a:pt x="13" y="1"/>
                  </a:lnTo>
                  <a:lnTo>
                    <a:pt x="36" y="7"/>
                  </a:lnTo>
                  <a:lnTo>
                    <a:pt x="60" y="15"/>
                  </a:lnTo>
                  <a:lnTo>
                    <a:pt x="80" y="7"/>
                  </a:lnTo>
                  <a:lnTo>
                    <a:pt x="91" y="1"/>
                  </a:lnTo>
                  <a:lnTo>
                    <a:pt x="86" y="5"/>
                  </a:lnTo>
                  <a:lnTo>
                    <a:pt x="94" y="3"/>
                  </a:lnTo>
                  <a:lnTo>
                    <a:pt x="107" y="6"/>
                  </a:lnTo>
                  <a:lnTo>
                    <a:pt x="112" y="10"/>
                  </a:lnTo>
                  <a:lnTo>
                    <a:pt x="119" y="11"/>
                  </a:lnTo>
                  <a:lnTo>
                    <a:pt x="140" y="6"/>
                  </a:lnTo>
                  <a:lnTo>
                    <a:pt x="148" y="23"/>
                  </a:lnTo>
                  <a:lnTo>
                    <a:pt x="155" y="40"/>
                  </a:lnTo>
                  <a:lnTo>
                    <a:pt x="151" y="54"/>
                  </a:lnTo>
                  <a:lnTo>
                    <a:pt x="148" y="69"/>
                  </a:lnTo>
                  <a:lnTo>
                    <a:pt x="139" y="6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7" name="Freeform 66"/>
            <p:cNvSpPr>
              <a:spLocks/>
            </p:cNvSpPr>
            <p:nvPr/>
          </p:nvSpPr>
          <p:spPr bwMode="auto">
            <a:xfrm>
              <a:off x="3704" y="1996"/>
              <a:ext cx="482" cy="547"/>
            </a:xfrm>
            <a:custGeom>
              <a:avLst/>
              <a:gdLst/>
              <a:ahLst/>
              <a:cxnLst>
                <a:cxn ang="0">
                  <a:pos x="74" y="18"/>
                </a:cxn>
                <a:cxn ang="0">
                  <a:pos x="59" y="29"/>
                </a:cxn>
                <a:cxn ang="0">
                  <a:pos x="70" y="48"/>
                </a:cxn>
                <a:cxn ang="0">
                  <a:pos x="72" y="67"/>
                </a:cxn>
                <a:cxn ang="0">
                  <a:pos x="61" y="105"/>
                </a:cxn>
                <a:cxn ang="0">
                  <a:pos x="26" y="137"/>
                </a:cxn>
                <a:cxn ang="0">
                  <a:pos x="24" y="163"/>
                </a:cxn>
                <a:cxn ang="0">
                  <a:pos x="41" y="199"/>
                </a:cxn>
                <a:cxn ang="0">
                  <a:pos x="7" y="200"/>
                </a:cxn>
                <a:cxn ang="0">
                  <a:pos x="0" y="211"/>
                </a:cxn>
                <a:cxn ang="0">
                  <a:pos x="17" y="227"/>
                </a:cxn>
                <a:cxn ang="0">
                  <a:pos x="23" y="235"/>
                </a:cxn>
                <a:cxn ang="0">
                  <a:pos x="42" y="264"/>
                </a:cxn>
                <a:cxn ang="0">
                  <a:pos x="66" y="237"/>
                </a:cxn>
                <a:cxn ang="0">
                  <a:pos x="71" y="246"/>
                </a:cxn>
                <a:cxn ang="0">
                  <a:pos x="77" y="260"/>
                </a:cxn>
                <a:cxn ang="0">
                  <a:pos x="83" y="295"/>
                </a:cxn>
                <a:cxn ang="0">
                  <a:pos x="95" y="339"/>
                </a:cxn>
                <a:cxn ang="0">
                  <a:pos x="113" y="381"/>
                </a:cxn>
                <a:cxn ang="0">
                  <a:pos x="136" y="432"/>
                </a:cxn>
                <a:cxn ang="0">
                  <a:pos x="155" y="473"/>
                </a:cxn>
                <a:cxn ang="0">
                  <a:pos x="179" y="482"/>
                </a:cxn>
                <a:cxn ang="0">
                  <a:pos x="192" y="464"/>
                </a:cxn>
                <a:cxn ang="0">
                  <a:pos x="204" y="438"/>
                </a:cxn>
                <a:cxn ang="0">
                  <a:pos x="208" y="396"/>
                </a:cxn>
                <a:cxn ang="0">
                  <a:pos x="211" y="353"/>
                </a:cxn>
                <a:cxn ang="0">
                  <a:pos x="221" y="343"/>
                </a:cxn>
                <a:cxn ang="0">
                  <a:pos x="251" y="312"/>
                </a:cxn>
                <a:cxn ang="0">
                  <a:pos x="288" y="277"/>
                </a:cxn>
                <a:cxn ang="0">
                  <a:pos x="312" y="241"/>
                </a:cxn>
                <a:cxn ang="0">
                  <a:pos x="324" y="247"/>
                </a:cxn>
                <a:cxn ang="0">
                  <a:pos x="323" y="229"/>
                </a:cxn>
                <a:cxn ang="0">
                  <a:pos x="305" y="195"/>
                </a:cxn>
                <a:cxn ang="0">
                  <a:pos x="304" y="174"/>
                </a:cxn>
                <a:cxn ang="0">
                  <a:pos x="319" y="170"/>
                </a:cxn>
                <a:cxn ang="0">
                  <a:pos x="346" y="183"/>
                </a:cxn>
                <a:cxn ang="0">
                  <a:pos x="368" y="198"/>
                </a:cxn>
                <a:cxn ang="0">
                  <a:pos x="362" y="224"/>
                </a:cxn>
                <a:cxn ang="0">
                  <a:pos x="382" y="242"/>
                </a:cxn>
                <a:cxn ang="0">
                  <a:pos x="389" y="223"/>
                </a:cxn>
                <a:cxn ang="0">
                  <a:pos x="406" y="186"/>
                </a:cxn>
                <a:cxn ang="0">
                  <a:pos x="421" y="147"/>
                </a:cxn>
                <a:cxn ang="0">
                  <a:pos x="432" y="139"/>
                </a:cxn>
                <a:cxn ang="0">
                  <a:pos x="418" y="116"/>
                </a:cxn>
                <a:cxn ang="0">
                  <a:pos x="407" y="109"/>
                </a:cxn>
                <a:cxn ang="0">
                  <a:pos x="374" y="122"/>
                </a:cxn>
                <a:cxn ang="0">
                  <a:pos x="348" y="138"/>
                </a:cxn>
                <a:cxn ang="0">
                  <a:pos x="344" y="155"/>
                </a:cxn>
                <a:cxn ang="0">
                  <a:pos x="308" y="146"/>
                </a:cxn>
                <a:cxn ang="0">
                  <a:pos x="299" y="162"/>
                </a:cxn>
                <a:cxn ang="0">
                  <a:pos x="251" y="155"/>
                </a:cxn>
                <a:cxn ang="0">
                  <a:pos x="208" y="140"/>
                </a:cxn>
                <a:cxn ang="0">
                  <a:pos x="169" y="109"/>
                </a:cxn>
                <a:cxn ang="0">
                  <a:pos x="144" y="74"/>
                </a:cxn>
                <a:cxn ang="0">
                  <a:pos x="139" y="54"/>
                </a:cxn>
                <a:cxn ang="0">
                  <a:pos x="132" y="26"/>
                </a:cxn>
                <a:cxn ang="0">
                  <a:pos x="127" y="19"/>
                </a:cxn>
                <a:cxn ang="0">
                  <a:pos x="122" y="6"/>
                </a:cxn>
                <a:cxn ang="0">
                  <a:pos x="106" y="0"/>
                </a:cxn>
              </a:cxnLst>
              <a:rect l="0" t="0" r="r" b="b"/>
              <a:pathLst>
                <a:path w="434" h="491">
                  <a:moveTo>
                    <a:pt x="106" y="0"/>
                  </a:moveTo>
                  <a:lnTo>
                    <a:pt x="91" y="12"/>
                  </a:lnTo>
                  <a:lnTo>
                    <a:pt x="74" y="18"/>
                  </a:lnTo>
                  <a:lnTo>
                    <a:pt x="52" y="14"/>
                  </a:lnTo>
                  <a:lnTo>
                    <a:pt x="52" y="20"/>
                  </a:lnTo>
                  <a:lnTo>
                    <a:pt x="59" y="29"/>
                  </a:lnTo>
                  <a:lnTo>
                    <a:pt x="59" y="33"/>
                  </a:lnTo>
                  <a:lnTo>
                    <a:pt x="62" y="43"/>
                  </a:lnTo>
                  <a:lnTo>
                    <a:pt x="70" y="48"/>
                  </a:lnTo>
                  <a:lnTo>
                    <a:pt x="76" y="54"/>
                  </a:lnTo>
                  <a:lnTo>
                    <a:pt x="83" y="60"/>
                  </a:lnTo>
                  <a:lnTo>
                    <a:pt x="72" y="67"/>
                  </a:lnTo>
                  <a:lnTo>
                    <a:pt x="76" y="80"/>
                  </a:lnTo>
                  <a:lnTo>
                    <a:pt x="68" y="92"/>
                  </a:lnTo>
                  <a:lnTo>
                    <a:pt x="61" y="105"/>
                  </a:lnTo>
                  <a:lnTo>
                    <a:pt x="52" y="121"/>
                  </a:lnTo>
                  <a:lnTo>
                    <a:pt x="42" y="137"/>
                  </a:lnTo>
                  <a:lnTo>
                    <a:pt x="26" y="137"/>
                  </a:lnTo>
                  <a:lnTo>
                    <a:pt x="20" y="135"/>
                  </a:lnTo>
                  <a:lnTo>
                    <a:pt x="12" y="157"/>
                  </a:lnTo>
                  <a:lnTo>
                    <a:pt x="24" y="163"/>
                  </a:lnTo>
                  <a:lnTo>
                    <a:pt x="28" y="175"/>
                  </a:lnTo>
                  <a:lnTo>
                    <a:pt x="34" y="176"/>
                  </a:lnTo>
                  <a:lnTo>
                    <a:pt x="41" y="199"/>
                  </a:lnTo>
                  <a:lnTo>
                    <a:pt x="35" y="199"/>
                  </a:lnTo>
                  <a:lnTo>
                    <a:pt x="20" y="201"/>
                  </a:lnTo>
                  <a:lnTo>
                    <a:pt x="7" y="200"/>
                  </a:lnTo>
                  <a:lnTo>
                    <a:pt x="7" y="206"/>
                  </a:lnTo>
                  <a:lnTo>
                    <a:pt x="0" y="210"/>
                  </a:lnTo>
                  <a:lnTo>
                    <a:pt x="0" y="211"/>
                  </a:lnTo>
                  <a:lnTo>
                    <a:pt x="6" y="209"/>
                  </a:lnTo>
                  <a:lnTo>
                    <a:pt x="4" y="213"/>
                  </a:lnTo>
                  <a:lnTo>
                    <a:pt x="17" y="227"/>
                  </a:lnTo>
                  <a:lnTo>
                    <a:pt x="35" y="224"/>
                  </a:lnTo>
                  <a:lnTo>
                    <a:pt x="34" y="228"/>
                  </a:lnTo>
                  <a:lnTo>
                    <a:pt x="23" y="235"/>
                  </a:lnTo>
                  <a:lnTo>
                    <a:pt x="14" y="234"/>
                  </a:lnTo>
                  <a:lnTo>
                    <a:pt x="29" y="248"/>
                  </a:lnTo>
                  <a:lnTo>
                    <a:pt x="42" y="264"/>
                  </a:lnTo>
                  <a:lnTo>
                    <a:pt x="64" y="258"/>
                  </a:lnTo>
                  <a:lnTo>
                    <a:pt x="65" y="246"/>
                  </a:lnTo>
                  <a:lnTo>
                    <a:pt x="66" y="237"/>
                  </a:lnTo>
                  <a:lnTo>
                    <a:pt x="74" y="237"/>
                  </a:lnTo>
                  <a:lnTo>
                    <a:pt x="72" y="242"/>
                  </a:lnTo>
                  <a:lnTo>
                    <a:pt x="71" y="246"/>
                  </a:lnTo>
                  <a:lnTo>
                    <a:pt x="79" y="246"/>
                  </a:lnTo>
                  <a:lnTo>
                    <a:pt x="74" y="252"/>
                  </a:lnTo>
                  <a:lnTo>
                    <a:pt x="77" y="260"/>
                  </a:lnTo>
                  <a:lnTo>
                    <a:pt x="77" y="272"/>
                  </a:lnTo>
                  <a:lnTo>
                    <a:pt x="82" y="290"/>
                  </a:lnTo>
                  <a:lnTo>
                    <a:pt x="83" y="295"/>
                  </a:lnTo>
                  <a:lnTo>
                    <a:pt x="84" y="300"/>
                  </a:lnTo>
                  <a:lnTo>
                    <a:pt x="89" y="321"/>
                  </a:lnTo>
                  <a:lnTo>
                    <a:pt x="95" y="339"/>
                  </a:lnTo>
                  <a:lnTo>
                    <a:pt x="101" y="356"/>
                  </a:lnTo>
                  <a:lnTo>
                    <a:pt x="104" y="361"/>
                  </a:lnTo>
                  <a:lnTo>
                    <a:pt x="113" y="381"/>
                  </a:lnTo>
                  <a:lnTo>
                    <a:pt x="121" y="402"/>
                  </a:lnTo>
                  <a:lnTo>
                    <a:pt x="128" y="416"/>
                  </a:lnTo>
                  <a:lnTo>
                    <a:pt x="136" y="432"/>
                  </a:lnTo>
                  <a:lnTo>
                    <a:pt x="143" y="446"/>
                  </a:lnTo>
                  <a:lnTo>
                    <a:pt x="148" y="458"/>
                  </a:lnTo>
                  <a:lnTo>
                    <a:pt x="155" y="473"/>
                  </a:lnTo>
                  <a:lnTo>
                    <a:pt x="161" y="486"/>
                  </a:lnTo>
                  <a:lnTo>
                    <a:pt x="170" y="491"/>
                  </a:lnTo>
                  <a:lnTo>
                    <a:pt x="179" y="482"/>
                  </a:lnTo>
                  <a:lnTo>
                    <a:pt x="188" y="473"/>
                  </a:lnTo>
                  <a:lnTo>
                    <a:pt x="198" y="471"/>
                  </a:lnTo>
                  <a:lnTo>
                    <a:pt x="192" y="464"/>
                  </a:lnTo>
                  <a:lnTo>
                    <a:pt x="200" y="451"/>
                  </a:lnTo>
                  <a:lnTo>
                    <a:pt x="205" y="451"/>
                  </a:lnTo>
                  <a:lnTo>
                    <a:pt x="204" y="438"/>
                  </a:lnTo>
                  <a:lnTo>
                    <a:pt x="202" y="425"/>
                  </a:lnTo>
                  <a:lnTo>
                    <a:pt x="205" y="410"/>
                  </a:lnTo>
                  <a:lnTo>
                    <a:pt x="208" y="396"/>
                  </a:lnTo>
                  <a:lnTo>
                    <a:pt x="204" y="379"/>
                  </a:lnTo>
                  <a:lnTo>
                    <a:pt x="203" y="359"/>
                  </a:lnTo>
                  <a:lnTo>
                    <a:pt x="211" y="353"/>
                  </a:lnTo>
                  <a:lnTo>
                    <a:pt x="214" y="351"/>
                  </a:lnTo>
                  <a:lnTo>
                    <a:pt x="217" y="350"/>
                  </a:lnTo>
                  <a:lnTo>
                    <a:pt x="221" y="343"/>
                  </a:lnTo>
                  <a:lnTo>
                    <a:pt x="234" y="338"/>
                  </a:lnTo>
                  <a:lnTo>
                    <a:pt x="236" y="327"/>
                  </a:lnTo>
                  <a:lnTo>
                    <a:pt x="251" y="312"/>
                  </a:lnTo>
                  <a:lnTo>
                    <a:pt x="266" y="296"/>
                  </a:lnTo>
                  <a:lnTo>
                    <a:pt x="278" y="283"/>
                  </a:lnTo>
                  <a:lnTo>
                    <a:pt x="288" y="277"/>
                  </a:lnTo>
                  <a:lnTo>
                    <a:pt x="296" y="264"/>
                  </a:lnTo>
                  <a:lnTo>
                    <a:pt x="298" y="251"/>
                  </a:lnTo>
                  <a:lnTo>
                    <a:pt x="312" y="241"/>
                  </a:lnTo>
                  <a:lnTo>
                    <a:pt x="316" y="248"/>
                  </a:lnTo>
                  <a:lnTo>
                    <a:pt x="320" y="248"/>
                  </a:lnTo>
                  <a:lnTo>
                    <a:pt x="324" y="247"/>
                  </a:lnTo>
                  <a:lnTo>
                    <a:pt x="328" y="248"/>
                  </a:lnTo>
                  <a:lnTo>
                    <a:pt x="328" y="243"/>
                  </a:lnTo>
                  <a:lnTo>
                    <a:pt x="323" y="229"/>
                  </a:lnTo>
                  <a:lnTo>
                    <a:pt x="318" y="216"/>
                  </a:lnTo>
                  <a:lnTo>
                    <a:pt x="317" y="205"/>
                  </a:lnTo>
                  <a:lnTo>
                    <a:pt x="305" y="195"/>
                  </a:lnTo>
                  <a:lnTo>
                    <a:pt x="310" y="188"/>
                  </a:lnTo>
                  <a:lnTo>
                    <a:pt x="316" y="185"/>
                  </a:lnTo>
                  <a:lnTo>
                    <a:pt x="304" y="174"/>
                  </a:lnTo>
                  <a:lnTo>
                    <a:pt x="304" y="161"/>
                  </a:lnTo>
                  <a:lnTo>
                    <a:pt x="314" y="164"/>
                  </a:lnTo>
                  <a:lnTo>
                    <a:pt x="319" y="170"/>
                  </a:lnTo>
                  <a:lnTo>
                    <a:pt x="323" y="167"/>
                  </a:lnTo>
                  <a:lnTo>
                    <a:pt x="329" y="181"/>
                  </a:lnTo>
                  <a:lnTo>
                    <a:pt x="346" y="183"/>
                  </a:lnTo>
                  <a:lnTo>
                    <a:pt x="362" y="185"/>
                  </a:lnTo>
                  <a:lnTo>
                    <a:pt x="371" y="191"/>
                  </a:lnTo>
                  <a:lnTo>
                    <a:pt x="368" y="198"/>
                  </a:lnTo>
                  <a:lnTo>
                    <a:pt x="356" y="206"/>
                  </a:lnTo>
                  <a:lnTo>
                    <a:pt x="360" y="221"/>
                  </a:lnTo>
                  <a:lnTo>
                    <a:pt x="362" y="224"/>
                  </a:lnTo>
                  <a:lnTo>
                    <a:pt x="370" y="211"/>
                  </a:lnTo>
                  <a:lnTo>
                    <a:pt x="376" y="227"/>
                  </a:lnTo>
                  <a:lnTo>
                    <a:pt x="382" y="242"/>
                  </a:lnTo>
                  <a:lnTo>
                    <a:pt x="383" y="241"/>
                  </a:lnTo>
                  <a:lnTo>
                    <a:pt x="388" y="242"/>
                  </a:lnTo>
                  <a:lnTo>
                    <a:pt x="389" y="223"/>
                  </a:lnTo>
                  <a:lnTo>
                    <a:pt x="389" y="207"/>
                  </a:lnTo>
                  <a:lnTo>
                    <a:pt x="398" y="207"/>
                  </a:lnTo>
                  <a:lnTo>
                    <a:pt x="406" y="186"/>
                  </a:lnTo>
                  <a:lnTo>
                    <a:pt x="407" y="177"/>
                  </a:lnTo>
                  <a:lnTo>
                    <a:pt x="407" y="163"/>
                  </a:lnTo>
                  <a:lnTo>
                    <a:pt x="421" y="147"/>
                  </a:lnTo>
                  <a:lnTo>
                    <a:pt x="433" y="150"/>
                  </a:lnTo>
                  <a:lnTo>
                    <a:pt x="431" y="144"/>
                  </a:lnTo>
                  <a:lnTo>
                    <a:pt x="432" y="139"/>
                  </a:lnTo>
                  <a:lnTo>
                    <a:pt x="434" y="131"/>
                  </a:lnTo>
                  <a:lnTo>
                    <a:pt x="418" y="125"/>
                  </a:lnTo>
                  <a:lnTo>
                    <a:pt x="418" y="116"/>
                  </a:lnTo>
                  <a:lnTo>
                    <a:pt x="412" y="115"/>
                  </a:lnTo>
                  <a:lnTo>
                    <a:pt x="413" y="111"/>
                  </a:lnTo>
                  <a:lnTo>
                    <a:pt x="407" y="109"/>
                  </a:lnTo>
                  <a:lnTo>
                    <a:pt x="398" y="114"/>
                  </a:lnTo>
                  <a:lnTo>
                    <a:pt x="385" y="113"/>
                  </a:lnTo>
                  <a:lnTo>
                    <a:pt x="374" y="122"/>
                  </a:lnTo>
                  <a:lnTo>
                    <a:pt x="362" y="133"/>
                  </a:lnTo>
                  <a:lnTo>
                    <a:pt x="349" y="138"/>
                  </a:lnTo>
                  <a:lnTo>
                    <a:pt x="348" y="138"/>
                  </a:lnTo>
                  <a:lnTo>
                    <a:pt x="353" y="144"/>
                  </a:lnTo>
                  <a:lnTo>
                    <a:pt x="359" y="153"/>
                  </a:lnTo>
                  <a:lnTo>
                    <a:pt x="344" y="155"/>
                  </a:lnTo>
                  <a:lnTo>
                    <a:pt x="330" y="156"/>
                  </a:lnTo>
                  <a:lnTo>
                    <a:pt x="311" y="153"/>
                  </a:lnTo>
                  <a:lnTo>
                    <a:pt x="308" y="146"/>
                  </a:lnTo>
                  <a:lnTo>
                    <a:pt x="301" y="132"/>
                  </a:lnTo>
                  <a:lnTo>
                    <a:pt x="294" y="137"/>
                  </a:lnTo>
                  <a:lnTo>
                    <a:pt x="299" y="162"/>
                  </a:lnTo>
                  <a:lnTo>
                    <a:pt x="282" y="161"/>
                  </a:lnTo>
                  <a:lnTo>
                    <a:pt x="262" y="158"/>
                  </a:lnTo>
                  <a:lnTo>
                    <a:pt x="251" y="155"/>
                  </a:lnTo>
                  <a:lnTo>
                    <a:pt x="242" y="146"/>
                  </a:lnTo>
                  <a:lnTo>
                    <a:pt x="223" y="144"/>
                  </a:lnTo>
                  <a:lnTo>
                    <a:pt x="208" y="140"/>
                  </a:lnTo>
                  <a:lnTo>
                    <a:pt x="188" y="131"/>
                  </a:lnTo>
                  <a:lnTo>
                    <a:pt x="169" y="120"/>
                  </a:lnTo>
                  <a:lnTo>
                    <a:pt x="169" y="109"/>
                  </a:lnTo>
                  <a:lnTo>
                    <a:pt x="178" y="95"/>
                  </a:lnTo>
                  <a:lnTo>
                    <a:pt x="163" y="85"/>
                  </a:lnTo>
                  <a:lnTo>
                    <a:pt x="144" y="74"/>
                  </a:lnTo>
                  <a:lnTo>
                    <a:pt x="137" y="72"/>
                  </a:lnTo>
                  <a:lnTo>
                    <a:pt x="130" y="53"/>
                  </a:lnTo>
                  <a:lnTo>
                    <a:pt x="139" y="54"/>
                  </a:lnTo>
                  <a:lnTo>
                    <a:pt x="142" y="47"/>
                  </a:lnTo>
                  <a:lnTo>
                    <a:pt x="132" y="33"/>
                  </a:lnTo>
                  <a:lnTo>
                    <a:pt x="132" y="26"/>
                  </a:lnTo>
                  <a:lnTo>
                    <a:pt x="131" y="25"/>
                  </a:lnTo>
                  <a:lnTo>
                    <a:pt x="131" y="21"/>
                  </a:lnTo>
                  <a:lnTo>
                    <a:pt x="127" y="19"/>
                  </a:lnTo>
                  <a:lnTo>
                    <a:pt x="125" y="15"/>
                  </a:lnTo>
                  <a:lnTo>
                    <a:pt x="124" y="11"/>
                  </a:lnTo>
                  <a:lnTo>
                    <a:pt x="122" y="6"/>
                  </a:lnTo>
                  <a:lnTo>
                    <a:pt x="118" y="5"/>
                  </a:lnTo>
                  <a:lnTo>
                    <a:pt x="110" y="1"/>
                  </a:lnTo>
                  <a:lnTo>
                    <a:pt x="10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8" name="Freeform 67"/>
            <p:cNvSpPr>
              <a:spLocks/>
            </p:cNvSpPr>
            <p:nvPr/>
          </p:nvSpPr>
          <p:spPr bwMode="auto">
            <a:xfrm>
              <a:off x="3107" y="2041"/>
              <a:ext cx="22" cy="75"/>
            </a:xfrm>
            <a:custGeom>
              <a:avLst/>
              <a:gdLst/>
              <a:ahLst/>
              <a:cxnLst>
                <a:cxn ang="0">
                  <a:pos x="15" y="69"/>
                </a:cxn>
                <a:cxn ang="0">
                  <a:pos x="8" y="52"/>
                </a:cxn>
                <a:cxn ang="0">
                  <a:pos x="0" y="35"/>
                </a:cxn>
                <a:cxn ang="0">
                  <a:pos x="6" y="20"/>
                </a:cxn>
                <a:cxn ang="0">
                  <a:pos x="11" y="4"/>
                </a:cxn>
                <a:cxn ang="0">
                  <a:pos x="18" y="0"/>
                </a:cxn>
                <a:cxn ang="0">
                  <a:pos x="20" y="10"/>
                </a:cxn>
                <a:cxn ang="0">
                  <a:pos x="18" y="24"/>
                </a:cxn>
                <a:cxn ang="0">
                  <a:pos x="17" y="39"/>
                </a:cxn>
                <a:cxn ang="0">
                  <a:pos x="17" y="53"/>
                </a:cxn>
                <a:cxn ang="0">
                  <a:pos x="15" y="68"/>
                </a:cxn>
                <a:cxn ang="0">
                  <a:pos x="15" y="69"/>
                </a:cxn>
              </a:cxnLst>
              <a:rect l="0" t="0" r="r" b="b"/>
              <a:pathLst>
                <a:path w="20" h="69">
                  <a:moveTo>
                    <a:pt x="15" y="69"/>
                  </a:moveTo>
                  <a:lnTo>
                    <a:pt x="8" y="52"/>
                  </a:lnTo>
                  <a:lnTo>
                    <a:pt x="0" y="35"/>
                  </a:lnTo>
                  <a:lnTo>
                    <a:pt x="6" y="20"/>
                  </a:lnTo>
                  <a:lnTo>
                    <a:pt x="11" y="4"/>
                  </a:lnTo>
                  <a:lnTo>
                    <a:pt x="18" y="0"/>
                  </a:lnTo>
                  <a:lnTo>
                    <a:pt x="20" y="10"/>
                  </a:lnTo>
                  <a:lnTo>
                    <a:pt x="18" y="24"/>
                  </a:lnTo>
                  <a:lnTo>
                    <a:pt x="17" y="39"/>
                  </a:lnTo>
                  <a:lnTo>
                    <a:pt x="17" y="53"/>
                  </a:lnTo>
                  <a:lnTo>
                    <a:pt x="15" y="68"/>
                  </a:lnTo>
                  <a:lnTo>
                    <a:pt x="15"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9" name="Freeform 68"/>
            <p:cNvSpPr>
              <a:spLocks/>
            </p:cNvSpPr>
            <p:nvPr/>
          </p:nvSpPr>
          <p:spPr bwMode="auto">
            <a:xfrm>
              <a:off x="3122" y="2039"/>
              <a:ext cx="69" cy="84"/>
            </a:xfrm>
            <a:custGeom>
              <a:avLst/>
              <a:gdLst/>
              <a:ahLst/>
              <a:cxnLst>
                <a:cxn ang="0">
                  <a:pos x="24" y="19"/>
                </a:cxn>
                <a:cxn ang="0">
                  <a:pos x="5" y="12"/>
                </a:cxn>
                <a:cxn ang="0">
                  <a:pos x="3" y="26"/>
                </a:cxn>
                <a:cxn ang="0">
                  <a:pos x="2" y="41"/>
                </a:cxn>
                <a:cxn ang="0">
                  <a:pos x="2" y="55"/>
                </a:cxn>
                <a:cxn ang="0">
                  <a:pos x="0" y="70"/>
                </a:cxn>
                <a:cxn ang="0">
                  <a:pos x="1" y="72"/>
                </a:cxn>
                <a:cxn ang="0">
                  <a:pos x="18" y="76"/>
                </a:cxn>
                <a:cxn ang="0">
                  <a:pos x="27" y="64"/>
                </a:cxn>
                <a:cxn ang="0">
                  <a:pos x="38" y="61"/>
                </a:cxn>
                <a:cxn ang="0">
                  <a:pos x="45" y="53"/>
                </a:cxn>
                <a:cxn ang="0">
                  <a:pos x="27" y="35"/>
                </a:cxn>
                <a:cxn ang="0">
                  <a:pos x="44" y="28"/>
                </a:cxn>
                <a:cxn ang="0">
                  <a:pos x="61" y="22"/>
                </a:cxn>
                <a:cxn ang="0">
                  <a:pos x="51" y="0"/>
                </a:cxn>
                <a:cxn ang="0">
                  <a:pos x="37" y="10"/>
                </a:cxn>
                <a:cxn ang="0">
                  <a:pos x="24" y="19"/>
                </a:cxn>
              </a:cxnLst>
              <a:rect l="0" t="0" r="r" b="b"/>
              <a:pathLst>
                <a:path w="61" h="76">
                  <a:moveTo>
                    <a:pt x="24" y="19"/>
                  </a:moveTo>
                  <a:lnTo>
                    <a:pt x="5" y="12"/>
                  </a:lnTo>
                  <a:lnTo>
                    <a:pt x="3" y="26"/>
                  </a:lnTo>
                  <a:lnTo>
                    <a:pt x="2" y="41"/>
                  </a:lnTo>
                  <a:lnTo>
                    <a:pt x="2" y="55"/>
                  </a:lnTo>
                  <a:lnTo>
                    <a:pt x="0" y="70"/>
                  </a:lnTo>
                  <a:lnTo>
                    <a:pt x="1" y="72"/>
                  </a:lnTo>
                  <a:lnTo>
                    <a:pt x="18" y="76"/>
                  </a:lnTo>
                  <a:lnTo>
                    <a:pt x="27" y="64"/>
                  </a:lnTo>
                  <a:lnTo>
                    <a:pt x="38" y="61"/>
                  </a:lnTo>
                  <a:lnTo>
                    <a:pt x="45" y="53"/>
                  </a:lnTo>
                  <a:lnTo>
                    <a:pt x="27" y="35"/>
                  </a:lnTo>
                  <a:lnTo>
                    <a:pt x="44" y="28"/>
                  </a:lnTo>
                  <a:lnTo>
                    <a:pt x="61" y="22"/>
                  </a:lnTo>
                  <a:lnTo>
                    <a:pt x="51" y="0"/>
                  </a:lnTo>
                  <a:lnTo>
                    <a:pt x="37" y="10"/>
                  </a:lnTo>
                  <a:lnTo>
                    <a:pt x="24"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0" name="Freeform 69"/>
            <p:cNvSpPr>
              <a:spLocks/>
            </p:cNvSpPr>
            <p:nvPr/>
          </p:nvSpPr>
          <p:spPr bwMode="auto">
            <a:xfrm>
              <a:off x="3431" y="2207"/>
              <a:ext cx="131" cy="167"/>
            </a:xfrm>
            <a:custGeom>
              <a:avLst/>
              <a:gdLst/>
              <a:ahLst/>
              <a:cxnLst>
                <a:cxn ang="0">
                  <a:pos x="119" y="46"/>
                </a:cxn>
                <a:cxn ang="0">
                  <a:pos x="107" y="35"/>
                </a:cxn>
                <a:cxn ang="0">
                  <a:pos x="95" y="25"/>
                </a:cxn>
                <a:cxn ang="0">
                  <a:pos x="82" y="19"/>
                </a:cxn>
                <a:cxn ang="0">
                  <a:pos x="68" y="13"/>
                </a:cxn>
                <a:cxn ang="0">
                  <a:pos x="61" y="0"/>
                </a:cxn>
                <a:cxn ang="0">
                  <a:pos x="56" y="4"/>
                </a:cxn>
                <a:cxn ang="0">
                  <a:pos x="54" y="0"/>
                </a:cxn>
                <a:cxn ang="0">
                  <a:pos x="56" y="17"/>
                </a:cxn>
                <a:cxn ang="0">
                  <a:pos x="49" y="19"/>
                </a:cxn>
                <a:cxn ang="0">
                  <a:pos x="46" y="41"/>
                </a:cxn>
                <a:cxn ang="0">
                  <a:pos x="54" y="54"/>
                </a:cxn>
                <a:cxn ang="0">
                  <a:pos x="50" y="72"/>
                </a:cxn>
                <a:cxn ang="0">
                  <a:pos x="47" y="90"/>
                </a:cxn>
                <a:cxn ang="0">
                  <a:pos x="36" y="94"/>
                </a:cxn>
                <a:cxn ang="0">
                  <a:pos x="24" y="99"/>
                </a:cxn>
                <a:cxn ang="0">
                  <a:pos x="13" y="103"/>
                </a:cxn>
                <a:cxn ang="0">
                  <a:pos x="2" y="108"/>
                </a:cxn>
                <a:cxn ang="0">
                  <a:pos x="0" y="115"/>
                </a:cxn>
                <a:cxn ang="0">
                  <a:pos x="11" y="133"/>
                </a:cxn>
                <a:cxn ang="0">
                  <a:pos x="22" y="150"/>
                </a:cxn>
                <a:cxn ang="0">
                  <a:pos x="35" y="148"/>
                </a:cxn>
                <a:cxn ang="0">
                  <a:pos x="47" y="144"/>
                </a:cxn>
                <a:cxn ang="0">
                  <a:pos x="55" y="137"/>
                </a:cxn>
                <a:cxn ang="0">
                  <a:pos x="60" y="127"/>
                </a:cxn>
                <a:cxn ang="0">
                  <a:pos x="74" y="124"/>
                </a:cxn>
                <a:cxn ang="0">
                  <a:pos x="80" y="111"/>
                </a:cxn>
                <a:cxn ang="0">
                  <a:pos x="92" y="105"/>
                </a:cxn>
                <a:cxn ang="0">
                  <a:pos x="91" y="85"/>
                </a:cxn>
                <a:cxn ang="0">
                  <a:pos x="97" y="81"/>
                </a:cxn>
                <a:cxn ang="0">
                  <a:pos x="101" y="81"/>
                </a:cxn>
                <a:cxn ang="0">
                  <a:pos x="110" y="64"/>
                </a:cxn>
                <a:cxn ang="0">
                  <a:pos x="119" y="46"/>
                </a:cxn>
              </a:cxnLst>
              <a:rect l="0" t="0" r="r" b="b"/>
              <a:pathLst>
                <a:path w="119" h="150">
                  <a:moveTo>
                    <a:pt x="119" y="46"/>
                  </a:moveTo>
                  <a:lnTo>
                    <a:pt x="107" y="35"/>
                  </a:lnTo>
                  <a:lnTo>
                    <a:pt x="95" y="25"/>
                  </a:lnTo>
                  <a:lnTo>
                    <a:pt x="82" y="19"/>
                  </a:lnTo>
                  <a:lnTo>
                    <a:pt x="68" y="13"/>
                  </a:lnTo>
                  <a:lnTo>
                    <a:pt x="61" y="0"/>
                  </a:lnTo>
                  <a:lnTo>
                    <a:pt x="56" y="4"/>
                  </a:lnTo>
                  <a:lnTo>
                    <a:pt x="54" y="0"/>
                  </a:lnTo>
                  <a:lnTo>
                    <a:pt x="56" y="17"/>
                  </a:lnTo>
                  <a:lnTo>
                    <a:pt x="49" y="19"/>
                  </a:lnTo>
                  <a:lnTo>
                    <a:pt x="46" y="41"/>
                  </a:lnTo>
                  <a:lnTo>
                    <a:pt x="54" y="54"/>
                  </a:lnTo>
                  <a:lnTo>
                    <a:pt x="50" y="72"/>
                  </a:lnTo>
                  <a:lnTo>
                    <a:pt x="47" y="90"/>
                  </a:lnTo>
                  <a:lnTo>
                    <a:pt x="36" y="94"/>
                  </a:lnTo>
                  <a:lnTo>
                    <a:pt x="24" y="99"/>
                  </a:lnTo>
                  <a:lnTo>
                    <a:pt x="13" y="103"/>
                  </a:lnTo>
                  <a:lnTo>
                    <a:pt x="2" y="108"/>
                  </a:lnTo>
                  <a:lnTo>
                    <a:pt x="0" y="115"/>
                  </a:lnTo>
                  <a:lnTo>
                    <a:pt x="11" y="133"/>
                  </a:lnTo>
                  <a:lnTo>
                    <a:pt x="22" y="150"/>
                  </a:lnTo>
                  <a:lnTo>
                    <a:pt x="35" y="148"/>
                  </a:lnTo>
                  <a:lnTo>
                    <a:pt x="47" y="144"/>
                  </a:lnTo>
                  <a:lnTo>
                    <a:pt x="55" y="137"/>
                  </a:lnTo>
                  <a:lnTo>
                    <a:pt x="60" y="127"/>
                  </a:lnTo>
                  <a:lnTo>
                    <a:pt x="74" y="124"/>
                  </a:lnTo>
                  <a:lnTo>
                    <a:pt x="80" y="111"/>
                  </a:lnTo>
                  <a:lnTo>
                    <a:pt x="92" y="105"/>
                  </a:lnTo>
                  <a:lnTo>
                    <a:pt x="91" y="85"/>
                  </a:lnTo>
                  <a:lnTo>
                    <a:pt x="97" y="81"/>
                  </a:lnTo>
                  <a:lnTo>
                    <a:pt x="101" y="81"/>
                  </a:lnTo>
                  <a:lnTo>
                    <a:pt x="110" y="64"/>
                  </a:lnTo>
                  <a:lnTo>
                    <a:pt x="119"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1" name="Freeform 70"/>
            <p:cNvSpPr>
              <a:spLocks/>
            </p:cNvSpPr>
            <p:nvPr/>
          </p:nvSpPr>
          <p:spPr bwMode="auto">
            <a:xfrm>
              <a:off x="3489" y="2181"/>
              <a:ext cx="6" cy="11"/>
            </a:xfrm>
            <a:custGeom>
              <a:avLst/>
              <a:gdLst/>
              <a:ahLst/>
              <a:cxnLst>
                <a:cxn ang="0">
                  <a:pos x="5" y="0"/>
                </a:cxn>
                <a:cxn ang="0">
                  <a:pos x="0" y="8"/>
                </a:cxn>
                <a:cxn ang="0">
                  <a:pos x="5" y="10"/>
                </a:cxn>
                <a:cxn ang="0">
                  <a:pos x="5" y="0"/>
                </a:cxn>
              </a:cxnLst>
              <a:rect l="0" t="0" r="r" b="b"/>
              <a:pathLst>
                <a:path w="5" h="10">
                  <a:moveTo>
                    <a:pt x="5" y="0"/>
                  </a:moveTo>
                  <a:lnTo>
                    <a:pt x="0" y="8"/>
                  </a:lnTo>
                  <a:lnTo>
                    <a:pt x="5" y="10"/>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2" name="Freeform 71"/>
            <p:cNvSpPr>
              <a:spLocks/>
            </p:cNvSpPr>
            <p:nvPr/>
          </p:nvSpPr>
          <p:spPr bwMode="auto">
            <a:xfrm>
              <a:off x="3120" y="2063"/>
              <a:ext cx="371" cy="331"/>
            </a:xfrm>
            <a:custGeom>
              <a:avLst/>
              <a:gdLst/>
              <a:ahLst/>
              <a:cxnLst>
                <a:cxn ang="0">
                  <a:pos x="76" y="178"/>
                </a:cxn>
                <a:cxn ang="0">
                  <a:pos x="65" y="151"/>
                </a:cxn>
                <a:cxn ang="0">
                  <a:pos x="45" y="134"/>
                </a:cxn>
                <a:cxn ang="0">
                  <a:pos x="21" y="94"/>
                </a:cxn>
                <a:cxn ang="0">
                  <a:pos x="0" y="72"/>
                </a:cxn>
                <a:cxn ang="0">
                  <a:pos x="21" y="54"/>
                </a:cxn>
                <a:cxn ang="0">
                  <a:pos x="41" y="39"/>
                </a:cxn>
                <a:cxn ang="0">
                  <a:pos x="30" y="13"/>
                </a:cxn>
                <a:cxn ang="0">
                  <a:pos x="64" y="0"/>
                </a:cxn>
                <a:cxn ang="0">
                  <a:pos x="94" y="13"/>
                </a:cxn>
                <a:cxn ang="0">
                  <a:pos x="123" y="26"/>
                </a:cxn>
                <a:cxn ang="0">
                  <a:pos x="153" y="54"/>
                </a:cxn>
                <a:cxn ang="0">
                  <a:pos x="195" y="57"/>
                </a:cxn>
                <a:cxn ang="0">
                  <a:pos x="210" y="66"/>
                </a:cxn>
                <a:cxn ang="0">
                  <a:pos x="226" y="85"/>
                </a:cxn>
                <a:cxn ang="0">
                  <a:pos x="242" y="109"/>
                </a:cxn>
                <a:cxn ang="0">
                  <a:pos x="255" y="134"/>
                </a:cxn>
                <a:cxn ang="0">
                  <a:pos x="262" y="136"/>
                </a:cxn>
                <a:cxn ang="0">
                  <a:pos x="264" y="141"/>
                </a:cxn>
                <a:cxn ang="0">
                  <a:pos x="266" y="146"/>
                </a:cxn>
                <a:cxn ang="0">
                  <a:pos x="276" y="165"/>
                </a:cxn>
                <a:cxn ang="0">
                  <a:pos x="323" y="174"/>
                </a:cxn>
                <a:cxn ang="0">
                  <a:pos x="334" y="183"/>
                </a:cxn>
                <a:cxn ang="0">
                  <a:pos x="327" y="219"/>
                </a:cxn>
                <a:cxn ang="0">
                  <a:pos x="304" y="228"/>
                </a:cxn>
                <a:cxn ang="0">
                  <a:pos x="282" y="237"/>
                </a:cxn>
                <a:cxn ang="0">
                  <a:pos x="257" y="243"/>
                </a:cxn>
                <a:cxn ang="0">
                  <a:pos x="232" y="250"/>
                </a:cxn>
                <a:cxn ang="0">
                  <a:pos x="215" y="273"/>
                </a:cxn>
                <a:cxn ang="0">
                  <a:pos x="197" y="297"/>
                </a:cxn>
                <a:cxn ang="0">
                  <a:pos x="182" y="272"/>
                </a:cxn>
                <a:cxn ang="0">
                  <a:pos x="149" y="264"/>
                </a:cxn>
                <a:cxn ang="0">
                  <a:pos x="141" y="284"/>
                </a:cxn>
                <a:cxn ang="0">
                  <a:pos x="125" y="258"/>
                </a:cxn>
                <a:cxn ang="0">
                  <a:pos x="100" y="218"/>
                </a:cxn>
              </a:cxnLst>
              <a:rect l="0" t="0" r="r" b="b"/>
              <a:pathLst>
                <a:path w="334" h="297">
                  <a:moveTo>
                    <a:pt x="82" y="202"/>
                  </a:moveTo>
                  <a:lnTo>
                    <a:pt x="76" y="178"/>
                  </a:lnTo>
                  <a:lnTo>
                    <a:pt x="70" y="165"/>
                  </a:lnTo>
                  <a:lnTo>
                    <a:pt x="65" y="151"/>
                  </a:lnTo>
                  <a:lnTo>
                    <a:pt x="54" y="142"/>
                  </a:lnTo>
                  <a:lnTo>
                    <a:pt x="45" y="134"/>
                  </a:lnTo>
                  <a:lnTo>
                    <a:pt x="36" y="115"/>
                  </a:lnTo>
                  <a:lnTo>
                    <a:pt x="21" y="94"/>
                  </a:lnTo>
                  <a:lnTo>
                    <a:pt x="5" y="73"/>
                  </a:lnTo>
                  <a:lnTo>
                    <a:pt x="0" y="72"/>
                  </a:lnTo>
                  <a:lnTo>
                    <a:pt x="4" y="50"/>
                  </a:lnTo>
                  <a:lnTo>
                    <a:pt x="21" y="54"/>
                  </a:lnTo>
                  <a:lnTo>
                    <a:pt x="30" y="42"/>
                  </a:lnTo>
                  <a:lnTo>
                    <a:pt x="41" y="39"/>
                  </a:lnTo>
                  <a:lnTo>
                    <a:pt x="48" y="31"/>
                  </a:lnTo>
                  <a:lnTo>
                    <a:pt x="30" y="13"/>
                  </a:lnTo>
                  <a:lnTo>
                    <a:pt x="47" y="6"/>
                  </a:lnTo>
                  <a:lnTo>
                    <a:pt x="64" y="0"/>
                  </a:lnTo>
                  <a:lnTo>
                    <a:pt x="78" y="6"/>
                  </a:lnTo>
                  <a:lnTo>
                    <a:pt x="94" y="13"/>
                  </a:lnTo>
                  <a:lnTo>
                    <a:pt x="108" y="19"/>
                  </a:lnTo>
                  <a:lnTo>
                    <a:pt x="123" y="26"/>
                  </a:lnTo>
                  <a:lnTo>
                    <a:pt x="137" y="39"/>
                  </a:lnTo>
                  <a:lnTo>
                    <a:pt x="153" y="54"/>
                  </a:lnTo>
                  <a:lnTo>
                    <a:pt x="180" y="55"/>
                  </a:lnTo>
                  <a:lnTo>
                    <a:pt x="195" y="57"/>
                  </a:lnTo>
                  <a:lnTo>
                    <a:pt x="197" y="62"/>
                  </a:lnTo>
                  <a:lnTo>
                    <a:pt x="210" y="66"/>
                  </a:lnTo>
                  <a:lnTo>
                    <a:pt x="219" y="79"/>
                  </a:lnTo>
                  <a:lnTo>
                    <a:pt x="226" y="85"/>
                  </a:lnTo>
                  <a:lnTo>
                    <a:pt x="240" y="99"/>
                  </a:lnTo>
                  <a:lnTo>
                    <a:pt x="242" y="109"/>
                  </a:lnTo>
                  <a:lnTo>
                    <a:pt x="249" y="121"/>
                  </a:lnTo>
                  <a:lnTo>
                    <a:pt x="255" y="134"/>
                  </a:lnTo>
                  <a:lnTo>
                    <a:pt x="260" y="138"/>
                  </a:lnTo>
                  <a:lnTo>
                    <a:pt x="262" y="136"/>
                  </a:lnTo>
                  <a:lnTo>
                    <a:pt x="264" y="136"/>
                  </a:lnTo>
                  <a:lnTo>
                    <a:pt x="264" y="141"/>
                  </a:lnTo>
                  <a:lnTo>
                    <a:pt x="266" y="142"/>
                  </a:lnTo>
                  <a:lnTo>
                    <a:pt x="266" y="146"/>
                  </a:lnTo>
                  <a:lnTo>
                    <a:pt x="270" y="150"/>
                  </a:lnTo>
                  <a:lnTo>
                    <a:pt x="276" y="165"/>
                  </a:lnTo>
                  <a:lnTo>
                    <a:pt x="299" y="170"/>
                  </a:lnTo>
                  <a:lnTo>
                    <a:pt x="323" y="174"/>
                  </a:lnTo>
                  <a:lnTo>
                    <a:pt x="326" y="170"/>
                  </a:lnTo>
                  <a:lnTo>
                    <a:pt x="334" y="183"/>
                  </a:lnTo>
                  <a:lnTo>
                    <a:pt x="330" y="201"/>
                  </a:lnTo>
                  <a:lnTo>
                    <a:pt x="327" y="219"/>
                  </a:lnTo>
                  <a:lnTo>
                    <a:pt x="316" y="223"/>
                  </a:lnTo>
                  <a:lnTo>
                    <a:pt x="304" y="228"/>
                  </a:lnTo>
                  <a:lnTo>
                    <a:pt x="293" y="232"/>
                  </a:lnTo>
                  <a:lnTo>
                    <a:pt x="282" y="237"/>
                  </a:lnTo>
                  <a:lnTo>
                    <a:pt x="269" y="240"/>
                  </a:lnTo>
                  <a:lnTo>
                    <a:pt x="257" y="243"/>
                  </a:lnTo>
                  <a:lnTo>
                    <a:pt x="244" y="247"/>
                  </a:lnTo>
                  <a:lnTo>
                    <a:pt x="232" y="250"/>
                  </a:lnTo>
                  <a:lnTo>
                    <a:pt x="224" y="262"/>
                  </a:lnTo>
                  <a:lnTo>
                    <a:pt x="215" y="273"/>
                  </a:lnTo>
                  <a:lnTo>
                    <a:pt x="206" y="285"/>
                  </a:lnTo>
                  <a:lnTo>
                    <a:pt x="197" y="297"/>
                  </a:lnTo>
                  <a:lnTo>
                    <a:pt x="196" y="279"/>
                  </a:lnTo>
                  <a:lnTo>
                    <a:pt x="182" y="272"/>
                  </a:lnTo>
                  <a:lnTo>
                    <a:pt x="166" y="266"/>
                  </a:lnTo>
                  <a:lnTo>
                    <a:pt x="149" y="264"/>
                  </a:lnTo>
                  <a:lnTo>
                    <a:pt x="146" y="278"/>
                  </a:lnTo>
                  <a:lnTo>
                    <a:pt x="141" y="284"/>
                  </a:lnTo>
                  <a:lnTo>
                    <a:pt x="132" y="271"/>
                  </a:lnTo>
                  <a:lnTo>
                    <a:pt x="125" y="258"/>
                  </a:lnTo>
                  <a:lnTo>
                    <a:pt x="112" y="238"/>
                  </a:lnTo>
                  <a:lnTo>
                    <a:pt x="100" y="218"/>
                  </a:lnTo>
                  <a:lnTo>
                    <a:pt x="82" y="20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3" name="Freeform 72"/>
            <p:cNvSpPr>
              <a:spLocks/>
            </p:cNvSpPr>
            <p:nvPr/>
          </p:nvSpPr>
          <p:spPr bwMode="auto">
            <a:xfrm>
              <a:off x="3415" y="2190"/>
              <a:ext cx="85" cy="66"/>
            </a:xfrm>
            <a:custGeom>
              <a:avLst/>
              <a:gdLst/>
              <a:ahLst/>
              <a:cxnLst>
                <a:cxn ang="0">
                  <a:pos x="0" y="32"/>
                </a:cxn>
                <a:cxn ang="0">
                  <a:pos x="4" y="36"/>
                </a:cxn>
                <a:cxn ang="0">
                  <a:pos x="10" y="51"/>
                </a:cxn>
                <a:cxn ang="0">
                  <a:pos x="33" y="56"/>
                </a:cxn>
                <a:cxn ang="0">
                  <a:pos x="57" y="60"/>
                </a:cxn>
                <a:cxn ang="0">
                  <a:pos x="60" y="56"/>
                </a:cxn>
                <a:cxn ang="0">
                  <a:pos x="63" y="34"/>
                </a:cxn>
                <a:cxn ang="0">
                  <a:pos x="70" y="32"/>
                </a:cxn>
                <a:cxn ang="0">
                  <a:pos x="68" y="15"/>
                </a:cxn>
                <a:cxn ang="0">
                  <a:pos x="70" y="19"/>
                </a:cxn>
                <a:cxn ang="0">
                  <a:pos x="75" y="15"/>
                </a:cxn>
                <a:cxn ang="0">
                  <a:pos x="72" y="2"/>
                </a:cxn>
                <a:cxn ang="0">
                  <a:pos x="67" y="0"/>
                </a:cxn>
                <a:cxn ang="0">
                  <a:pos x="54" y="15"/>
                </a:cxn>
                <a:cxn ang="0">
                  <a:pos x="38" y="31"/>
                </a:cxn>
                <a:cxn ang="0">
                  <a:pos x="14" y="32"/>
                </a:cxn>
                <a:cxn ang="0">
                  <a:pos x="4" y="31"/>
                </a:cxn>
                <a:cxn ang="0">
                  <a:pos x="0" y="28"/>
                </a:cxn>
                <a:cxn ang="0">
                  <a:pos x="0" y="32"/>
                </a:cxn>
              </a:cxnLst>
              <a:rect l="0" t="0" r="r" b="b"/>
              <a:pathLst>
                <a:path w="75" h="60">
                  <a:moveTo>
                    <a:pt x="0" y="32"/>
                  </a:moveTo>
                  <a:lnTo>
                    <a:pt x="4" y="36"/>
                  </a:lnTo>
                  <a:lnTo>
                    <a:pt x="10" y="51"/>
                  </a:lnTo>
                  <a:lnTo>
                    <a:pt x="33" y="56"/>
                  </a:lnTo>
                  <a:lnTo>
                    <a:pt x="57" y="60"/>
                  </a:lnTo>
                  <a:lnTo>
                    <a:pt x="60" y="56"/>
                  </a:lnTo>
                  <a:lnTo>
                    <a:pt x="63" y="34"/>
                  </a:lnTo>
                  <a:lnTo>
                    <a:pt x="70" y="32"/>
                  </a:lnTo>
                  <a:lnTo>
                    <a:pt x="68" y="15"/>
                  </a:lnTo>
                  <a:lnTo>
                    <a:pt x="70" y="19"/>
                  </a:lnTo>
                  <a:lnTo>
                    <a:pt x="75" y="15"/>
                  </a:lnTo>
                  <a:lnTo>
                    <a:pt x="72" y="2"/>
                  </a:lnTo>
                  <a:lnTo>
                    <a:pt x="67" y="0"/>
                  </a:lnTo>
                  <a:lnTo>
                    <a:pt x="54" y="15"/>
                  </a:lnTo>
                  <a:lnTo>
                    <a:pt x="38" y="31"/>
                  </a:lnTo>
                  <a:lnTo>
                    <a:pt x="14" y="32"/>
                  </a:lnTo>
                  <a:lnTo>
                    <a:pt x="4" y="31"/>
                  </a:lnTo>
                  <a:lnTo>
                    <a:pt x="0" y="28"/>
                  </a:lnTo>
                  <a:lnTo>
                    <a:pt x="0" y="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4" name="Freeform 73"/>
            <p:cNvSpPr>
              <a:spLocks/>
            </p:cNvSpPr>
            <p:nvPr/>
          </p:nvSpPr>
          <p:spPr bwMode="auto">
            <a:xfrm>
              <a:off x="3275" y="2327"/>
              <a:ext cx="180" cy="125"/>
            </a:xfrm>
            <a:custGeom>
              <a:avLst/>
              <a:gdLst/>
              <a:ahLst/>
              <a:cxnLst>
                <a:cxn ang="0">
                  <a:pos x="5" y="41"/>
                </a:cxn>
                <a:cxn ang="0">
                  <a:pos x="0" y="47"/>
                </a:cxn>
                <a:cxn ang="0">
                  <a:pos x="0" y="69"/>
                </a:cxn>
                <a:cxn ang="0">
                  <a:pos x="7" y="90"/>
                </a:cxn>
                <a:cxn ang="0">
                  <a:pos x="14" y="113"/>
                </a:cxn>
                <a:cxn ang="0">
                  <a:pos x="33" y="112"/>
                </a:cxn>
                <a:cxn ang="0">
                  <a:pos x="54" y="100"/>
                </a:cxn>
                <a:cxn ang="0">
                  <a:pos x="69" y="95"/>
                </a:cxn>
                <a:cxn ang="0">
                  <a:pos x="86" y="89"/>
                </a:cxn>
                <a:cxn ang="0">
                  <a:pos x="98" y="84"/>
                </a:cxn>
                <a:cxn ang="0">
                  <a:pos x="110" y="78"/>
                </a:cxn>
                <a:cxn ang="0">
                  <a:pos x="122" y="72"/>
                </a:cxn>
                <a:cxn ang="0">
                  <a:pos x="134" y="67"/>
                </a:cxn>
                <a:cxn ang="0">
                  <a:pos x="146" y="61"/>
                </a:cxn>
                <a:cxn ang="0">
                  <a:pos x="147" y="54"/>
                </a:cxn>
                <a:cxn ang="0">
                  <a:pos x="161" y="42"/>
                </a:cxn>
                <a:cxn ang="0">
                  <a:pos x="150" y="25"/>
                </a:cxn>
                <a:cxn ang="0">
                  <a:pos x="139" y="7"/>
                </a:cxn>
                <a:cxn ang="0">
                  <a:pos x="141" y="0"/>
                </a:cxn>
                <a:cxn ang="0">
                  <a:pos x="128" y="3"/>
                </a:cxn>
                <a:cxn ang="0">
                  <a:pos x="116" y="6"/>
                </a:cxn>
                <a:cxn ang="0">
                  <a:pos x="103" y="10"/>
                </a:cxn>
                <a:cxn ang="0">
                  <a:pos x="91" y="13"/>
                </a:cxn>
                <a:cxn ang="0">
                  <a:pos x="83" y="25"/>
                </a:cxn>
                <a:cxn ang="0">
                  <a:pos x="74" y="36"/>
                </a:cxn>
                <a:cxn ang="0">
                  <a:pos x="65" y="48"/>
                </a:cxn>
                <a:cxn ang="0">
                  <a:pos x="56" y="60"/>
                </a:cxn>
                <a:cxn ang="0">
                  <a:pos x="55" y="42"/>
                </a:cxn>
                <a:cxn ang="0">
                  <a:pos x="41" y="35"/>
                </a:cxn>
                <a:cxn ang="0">
                  <a:pos x="25" y="29"/>
                </a:cxn>
                <a:cxn ang="0">
                  <a:pos x="8" y="27"/>
                </a:cxn>
                <a:cxn ang="0">
                  <a:pos x="5" y="41"/>
                </a:cxn>
              </a:cxnLst>
              <a:rect l="0" t="0" r="r" b="b"/>
              <a:pathLst>
                <a:path w="161" h="113">
                  <a:moveTo>
                    <a:pt x="5" y="41"/>
                  </a:moveTo>
                  <a:lnTo>
                    <a:pt x="0" y="47"/>
                  </a:lnTo>
                  <a:lnTo>
                    <a:pt x="0" y="69"/>
                  </a:lnTo>
                  <a:lnTo>
                    <a:pt x="7" y="90"/>
                  </a:lnTo>
                  <a:lnTo>
                    <a:pt x="14" y="113"/>
                  </a:lnTo>
                  <a:lnTo>
                    <a:pt x="33" y="112"/>
                  </a:lnTo>
                  <a:lnTo>
                    <a:pt x="54" y="100"/>
                  </a:lnTo>
                  <a:lnTo>
                    <a:pt x="69" y="95"/>
                  </a:lnTo>
                  <a:lnTo>
                    <a:pt x="86" y="89"/>
                  </a:lnTo>
                  <a:lnTo>
                    <a:pt x="98" y="84"/>
                  </a:lnTo>
                  <a:lnTo>
                    <a:pt x="110" y="78"/>
                  </a:lnTo>
                  <a:lnTo>
                    <a:pt x="122" y="72"/>
                  </a:lnTo>
                  <a:lnTo>
                    <a:pt x="134" y="67"/>
                  </a:lnTo>
                  <a:lnTo>
                    <a:pt x="146" y="61"/>
                  </a:lnTo>
                  <a:lnTo>
                    <a:pt x="147" y="54"/>
                  </a:lnTo>
                  <a:lnTo>
                    <a:pt x="161" y="42"/>
                  </a:lnTo>
                  <a:lnTo>
                    <a:pt x="150" y="25"/>
                  </a:lnTo>
                  <a:lnTo>
                    <a:pt x="139" y="7"/>
                  </a:lnTo>
                  <a:lnTo>
                    <a:pt x="141" y="0"/>
                  </a:lnTo>
                  <a:lnTo>
                    <a:pt x="128" y="3"/>
                  </a:lnTo>
                  <a:lnTo>
                    <a:pt x="116" y="6"/>
                  </a:lnTo>
                  <a:lnTo>
                    <a:pt x="103" y="10"/>
                  </a:lnTo>
                  <a:lnTo>
                    <a:pt x="91" y="13"/>
                  </a:lnTo>
                  <a:lnTo>
                    <a:pt x="83" y="25"/>
                  </a:lnTo>
                  <a:lnTo>
                    <a:pt x="74" y="36"/>
                  </a:lnTo>
                  <a:lnTo>
                    <a:pt x="65" y="48"/>
                  </a:lnTo>
                  <a:lnTo>
                    <a:pt x="56" y="60"/>
                  </a:lnTo>
                  <a:lnTo>
                    <a:pt x="55" y="42"/>
                  </a:lnTo>
                  <a:lnTo>
                    <a:pt x="41" y="35"/>
                  </a:lnTo>
                  <a:lnTo>
                    <a:pt x="25" y="29"/>
                  </a:lnTo>
                  <a:lnTo>
                    <a:pt x="8" y="27"/>
                  </a:lnTo>
                  <a:lnTo>
                    <a:pt x="5" y="4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5" name="Freeform 74"/>
            <p:cNvSpPr>
              <a:spLocks/>
            </p:cNvSpPr>
            <p:nvPr/>
          </p:nvSpPr>
          <p:spPr bwMode="auto">
            <a:xfrm>
              <a:off x="3933" y="2510"/>
              <a:ext cx="38" cy="77"/>
            </a:xfrm>
            <a:custGeom>
              <a:avLst/>
              <a:gdLst/>
              <a:ahLst/>
              <a:cxnLst>
                <a:cxn ang="0">
                  <a:pos x="9" y="2"/>
                </a:cxn>
                <a:cxn ang="0">
                  <a:pos x="15" y="12"/>
                </a:cxn>
                <a:cxn ang="0">
                  <a:pos x="22" y="22"/>
                </a:cxn>
                <a:cxn ang="0">
                  <a:pos x="29" y="37"/>
                </a:cxn>
                <a:cxn ang="0">
                  <a:pos x="35" y="50"/>
                </a:cxn>
                <a:cxn ang="0">
                  <a:pos x="27" y="64"/>
                </a:cxn>
                <a:cxn ang="0">
                  <a:pos x="11" y="69"/>
                </a:cxn>
                <a:cxn ang="0">
                  <a:pos x="3" y="45"/>
                </a:cxn>
                <a:cxn ang="0">
                  <a:pos x="0" y="28"/>
                </a:cxn>
                <a:cxn ang="0">
                  <a:pos x="1" y="30"/>
                </a:cxn>
                <a:cxn ang="0">
                  <a:pos x="4" y="18"/>
                </a:cxn>
                <a:cxn ang="0">
                  <a:pos x="6" y="4"/>
                </a:cxn>
                <a:cxn ang="0">
                  <a:pos x="6" y="3"/>
                </a:cxn>
                <a:cxn ang="0">
                  <a:pos x="3" y="0"/>
                </a:cxn>
                <a:cxn ang="0">
                  <a:pos x="9" y="2"/>
                </a:cxn>
              </a:cxnLst>
              <a:rect l="0" t="0" r="r" b="b"/>
              <a:pathLst>
                <a:path w="35" h="69">
                  <a:moveTo>
                    <a:pt x="9" y="2"/>
                  </a:moveTo>
                  <a:lnTo>
                    <a:pt x="15" y="12"/>
                  </a:lnTo>
                  <a:lnTo>
                    <a:pt x="22" y="22"/>
                  </a:lnTo>
                  <a:lnTo>
                    <a:pt x="29" y="37"/>
                  </a:lnTo>
                  <a:lnTo>
                    <a:pt x="35" y="50"/>
                  </a:lnTo>
                  <a:lnTo>
                    <a:pt x="27" y="64"/>
                  </a:lnTo>
                  <a:lnTo>
                    <a:pt x="11" y="69"/>
                  </a:lnTo>
                  <a:lnTo>
                    <a:pt x="3" y="45"/>
                  </a:lnTo>
                  <a:lnTo>
                    <a:pt x="0" y="28"/>
                  </a:lnTo>
                  <a:lnTo>
                    <a:pt x="1" y="30"/>
                  </a:lnTo>
                  <a:lnTo>
                    <a:pt x="4" y="18"/>
                  </a:lnTo>
                  <a:lnTo>
                    <a:pt x="6" y="4"/>
                  </a:lnTo>
                  <a:lnTo>
                    <a:pt x="6" y="3"/>
                  </a:lnTo>
                  <a:lnTo>
                    <a:pt x="3" y="0"/>
                  </a:lnTo>
                  <a:lnTo>
                    <a:pt x="9"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6" name="Freeform 75"/>
            <p:cNvSpPr>
              <a:spLocks/>
            </p:cNvSpPr>
            <p:nvPr/>
          </p:nvSpPr>
          <p:spPr bwMode="auto">
            <a:xfrm>
              <a:off x="3040" y="2727"/>
              <a:ext cx="36" cy="32"/>
            </a:xfrm>
            <a:custGeom>
              <a:avLst/>
              <a:gdLst/>
              <a:ahLst/>
              <a:cxnLst>
                <a:cxn ang="0">
                  <a:pos x="11" y="6"/>
                </a:cxn>
                <a:cxn ang="0">
                  <a:pos x="5" y="18"/>
                </a:cxn>
                <a:cxn ang="0">
                  <a:pos x="0" y="29"/>
                </a:cxn>
                <a:cxn ang="0">
                  <a:pos x="2" y="29"/>
                </a:cxn>
                <a:cxn ang="0">
                  <a:pos x="3" y="29"/>
                </a:cxn>
                <a:cxn ang="0">
                  <a:pos x="16" y="29"/>
                </a:cxn>
                <a:cxn ang="0">
                  <a:pos x="18" y="23"/>
                </a:cxn>
                <a:cxn ang="0">
                  <a:pos x="27" y="24"/>
                </a:cxn>
                <a:cxn ang="0">
                  <a:pos x="32" y="22"/>
                </a:cxn>
                <a:cxn ang="0">
                  <a:pos x="26" y="0"/>
                </a:cxn>
                <a:cxn ang="0">
                  <a:pos x="16" y="6"/>
                </a:cxn>
                <a:cxn ang="0">
                  <a:pos x="11" y="6"/>
                </a:cxn>
              </a:cxnLst>
              <a:rect l="0" t="0" r="r" b="b"/>
              <a:pathLst>
                <a:path w="32" h="29">
                  <a:moveTo>
                    <a:pt x="11" y="6"/>
                  </a:moveTo>
                  <a:lnTo>
                    <a:pt x="5" y="18"/>
                  </a:lnTo>
                  <a:lnTo>
                    <a:pt x="0" y="29"/>
                  </a:lnTo>
                  <a:lnTo>
                    <a:pt x="2" y="29"/>
                  </a:lnTo>
                  <a:lnTo>
                    <a:pt x="3" y="29"/>
                  </a:lnTo>
                  <a:lnTo>
                    <a:pt x="16" y="29"/>
                  </a:lnTo>
                  <a:lnTo>
                    <a:pt x="18" y="23"/>
                  </a:lnTo>
                  <a:lnTo>
                    <a:pt x="27" y="24"/>
                  </a:lnTo>
                  <a:lnTo>
                    <a:pt x="32" y="22"/>
                  </a:lnTo>
                  <a:lnTo>
                    <a:pt x="26" y="0"/>
                  </a:lnTo>
                  <a:lnTo>
                    <a:pt x="16" y="6"/>
                  </a:lnTo>
                  <a:lnTo>
                    <a:pt x="1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7" name="Freeform 76"/>
            <p:cNvSpPr>
              <a:spLocks/>
            </p:cNvSpPr>
            <p:nvPr/>
          </p:nvSpPr>
          <p:spPr bwMode="auto">
            <a:xfrm>
              <a:off x="3827" y="2667"/>
              <a:ext cx="2" cy="3"/>
            </a:xfrm>
            <a:custGeom>
              <a:avLst/>
              <a:gdLst/>
              <a:ahLst/>
              <a:cxnLst>
                <a:cxn ang="0">
                  <a:pos x="2" y="1"/>
                </a:cxn>
                <a:cxn ang="0">
                  <a:pos x="0" y="1"/>
                </a:cxn>
                <a:cxn ang="0">
                  <a:pos x="2" y="0"/>
                </a:cxn>
                <a:cxn ang="0">
                  <a:pos x="2" y="1"/>
                </a:cxn>
              </a:cxnLst>
              <a:rect l="0" t="0" r="r" b="b"/>
              <a:pathLst>
                <a:path w="2" h="1">
                  <a:moveTo>
                    <a:pt x="2" y="1"/>
                  </a:moveTo>
                  <a:lnTo>
                    <a:pt x="0" y="1"/>
                  </a:lnTo>
                  <a:lnTo>
                    <a:pt x="2" y="0"/>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8" name="Freeform 77"/>
            <p:cNvSpPr>
              <a:spLocks/>
            </p:cNvSpPr>
            <p:nvPr/>
          </p:nvSpPr>
          <p:spPr bwMode="auto">
            <a:xfrm>
              <a:off x="3833" y="2712"/>
              <a:ext cx="2" cy="2"/>
            </a:xfrm>
            <a:custGeom>
              <a:avLst/>
              <a:gdLst/>
              <a:ahLst/>
              <a:cxnLst>
                <a:cxn ang="0">
                  <a:pos x="0" y="0"/>
                </a:cxn>
                <a:cxn ang="0">
                  <a:pos x="1" y="1"/>
                </a:cxn>
                <a:cxn ang="0">
                  <a:pos x="0" y="2"/>
                </a:cxn>
                <a:cxn ang="0">
                  <a:pos x="0" y="0"/>
                </a:cxn>
              </a:cxnLst>
              <a:rect l="0" t="0" r="r" b="b"/>
              <a:pathLst>
                <a:path w="1" h="2">
                  <a:moveTo>
                    <a:pt x="0" y="0"/>
                  </a:moveTo>
                  <a:lnTo>
                    <a:pt x="1" y="1"/>
                  </a:lnTo>
                  <a:lnTo>
                    <a:pt x="0" y="2"/>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9" name="Freeform 78"/>
            <p:cNvSpPr>
              <a:spLocks/>
            </p:cNvSpPr>
            <p:nvPr/>
          </p:nvSpPr>
          <p:spPr bwMode="auto">
            <a:xfrm>
              <a:off x="3829" y="2703"/>
              <a:ext cx="2" cy="2"/>
            </a:xfrm>
            <a:custGeom>
              <a:avLst/>
              <a:gdLst/>
              <a:ahLst/>
              <a:cxnLst>
                <a:cxn ang="0">
                  <a:pos x="1" y="0"/>
                </a:cxn>
                <a:cxn ang="0">
                  <a:pos x="1" y="1"/>
                </a:cxn>
                <a:cxn ang="0">
                  <a:pos x="0" y="0"/>
                </a:cxn>
                <a:cxn ang="0">
                  <a:pos x="1" y="0"/>
                </a:cxn>
              </a:cxnLst>
              <a:rect l="0" t="0" r="r" b="b"/>
              <a:pathLst>
                <a:path w="1" h="1">
                  <a:moveTo>
                    <a:pt x="1" y="0"/>
                  </a:moveTo>
                  <a:lnTo>
                    <a:pt x="1"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0" name="Freeform 79"/>
            <p:cNvSpPr>
              <a:spLocks/>
            </p:cNvSpPr>
            <p:nvPr/>
          </p:nvSpPr>
          <p:spPr bwMode="auto">
            <a:xfrm>
              <a:off x="3822" y="2719"/>
              <a:ext cx="2" cy="2"/>
            </a:xfrm>
            <a:custGeom>
              <a:avLst/>
              <a:gdLst/>
              <a:ahLst/>
              <a:cxnLst>
                <a:cxn ang="0">
                  <a:pos x="1" y="0"/>
                </a:cxn>
                <a:cxn ang="0">
                  <a:pos x="0" y="1"/>
                </a:cxn>
                <a:cxn ang="0">
                  <a:pos x="0" y="0"/>
                </a:cxn>
                <a:cxn ang="0">
                  <a:pos x="1" y="0"/>
                </a:cxn>
              </a:cxnLst>
              <a:rect l="0" t="0" r="r" b="b"/>
              <a:pathLst>
                <a:path w="1" h="1">
                  <a:moveTo>
                    <a:pt x="1" y="0"/>
                  </a:moveTo>
                  <a:lnTo>
                    <a:pt x="0"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1" name="Freeform 80"/>
            <p:cNvSpPr>
              <a:spLocks/>
            </p:cNvSpPr>
            <p:nvPr/>
          </p:nvSpPr>
          <p:spPr bwMode="auto">
            <a:xfrm>
              <a:off x="3822" y="2721"/>
              <a:ext cx="2" cy="2"/>
            </a:xfrm>
            <a:custGeom>
              <a:avLst/>
              <a:gdLst/>
              <a:ahLst/>
              <a:cxnLst>
                <a:cxn ang="0">
                  <a:pos x="1" y="2"/>
                </a:cxn>
                <a:cxn ang="0">
                  <a:pos x="1" y="0"/>
                </a:cxn>
                <a:cxn ang="0">
                  <a:pos x="0" y="2"/>
                </a:cxn>
                <a:cxn ang="0">
                  <a:pos x="1" y="2"/>
                </a:cxn>
              </a:cxnLst>
              <a:rect l="0" t="0" r="r" b="b"/>
              <a:pathLst>
                <a:path w="1" h="2">
                  <a:moveTo>
                    <a:pt x="1" y="2"/>
                  </a:moveTo>
                  <a:lnTo>
                    <a:pt x="1" y="0"/>
                  </a:lnTo>
                  <a:lnTo>
                    <a:pt x="0" y="2"/>
                  </a:lnTo>
                  <a:lnTo>
                    <a:pt x="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2" name="Freeform 81"/>
            <p:cNvSpPr>
              <a:spLocks/>
            </p:cNvSpPr>
            <p:nvPr/>
          </p:nvSpPr>
          <p:spPr bwMode="auto">
            <a:xfrm>
              <a:off x="3822" y="2592"/>
              <a:ext cx="2" cy="2"/>
            </a:xfrm>
            <a:custGeom>
              <a:avLst/>
              <a:gdLst/>
              <a:ahLst/>
              <a:cxnLst>
                <a:cxn ang="0">
                  <a:pos x="1" y="1"/>
                </a:cxn>
                <a:cxn ang="0">
                  <a:pos x="0" y="0"/>
                </a:cxn>
                <a:cxn ang="0">
                  <a:pos x="0" y="1"/>
                </a:cxn>
                <a:cxn ang="0">
                  <a:pos x="1" y="1"/>
                </a:cxn>
              </a:cxnLst>
              <a:rect l="0" t="0" r="r" b="b"/>
              <a:pathLst>
                <a:path w="1" h="1">
                  <a:moveTo>
                    <a:pt x="1" y="1"/>
                  </a:moveTo>
                  <a:lnTo>
                    <a:pt x="0" y="0"/>
                  </a:lnTo>
                  <a:lnTo>
                    <a:pt x="0" y="1"/>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3" name="Freeform 82"/>
            <p:cNvSpPr>
              <a:spLocks/>
            </p:cNvSpPr>
            <p:nvPr/>
          </p:nvSpPr>
          <p:spPr bwMode="auto">
            <a:xfrm>
              <a:off x="3827" y="2719"/>
              <a:ext cx="2" cy="2"/>
            </a:xfrm>
            <a:custGeom>
              <a:avLst/>
              <a:gdLst/>
              <a:ahLst/>
              <a:cxnLst>
                <a:cxn ang="0">
                  <a:pos x="0" y="1"/>
                </a:cxn>
                <a:cxn ang="0">
                  <a:pos x="0" y="0"/>
                </a:cxn>
                <a:cxn ang="0">
                  <a:pos x="0" y="1"/>
                </a:cxn>
              </a:cxnLst>
              <a:rect l="0" t="0" r="r" b="b"/>
              <a:pathLst>
                <a:path h="1">
                  <a:moveTo>
                    <a:pt x="0" y="1"/>
                  </a:moveTo>
                  <a:lnTo>
                    <a:pt x="0" y="0"/>
                  </a:lnTo>
                  <a:lnTo>
                    <a:pt x="0"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4" name="Freeform 83"/>
            <p:cNvSpPr>
              <a:spLocks/>
            </p:cNvSpPr>
            <p:nvPr/>
          </p:nvSpPr>
          <p:spPr bwMode="auto">
            <a:xfrm>
              <a:off x="3833" y="2663"/>
              <a:ext cx="2" cy="2"/>
            </a:xfrm>
            <a:custGeom>
              <a:avLst/>
              <a:gdLst/>
              <a:ahLst/>
              <a:cxnLst>
                <a:cxn ang="0">
                  <a:pos x="1" y="0"/>
                </a:cxn>
                <a:cxn ang="0">
                  <a:pos x="0" y="0"/>
                </a:cxn>
                <a:cxn ang="0">
                  <a:pos x="0" y="1"/>
                </a:cxn>
                <a:cxn ang="0">
                  <a:pos x="1" y="0"/>
                </a:cxn>
              </a:cxnLst>
              <a:rect l="0" t="0" r="r" b="b"/>
              <a:pathLst>
                <a:path w="1" h="1">
                  <a:moveTo>
                    <a:pt x="1" y="0"/>
                  </a:moveTo>
                  <a:lnTo>
                    <a:pt x="0" y="0"/>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5" name="Freeform 84"/>
            <p:cNvSpPr>
              <a:spLocks/>
            </p:cNvSpPr>
            <p:nvPr/>
          </p:nvSpPr>
          <p:spPr bwMode="auto">
            <a:xfrm>
              <a:off x="3820" y="2565"/>
              <a:ext cx="2" cy="2"/>
            </a:xfrm>
            <a:custGeom>
              <a:avLst/>
              <a:gdLst/>
              <a:ahLst/>
              <a:cxnLst>
                <a:cxn ang="0">
                  <a:pos x="1" y="0"/>
                </a:cxn>
                <a:cxn ang="0">
                  <a:pos x="0" y="0"/>
                </a:cxn>
                <a:cxn ang="0">
                  <a:pos x="0" y="2"/>
                </a:cxn>
                <a:cxn ang="0">
                  <a:pos x="1" y="0"/>
                </a:cxn>
              </a:cxnLst>
              <a:rect l="0" t="0" r="r" b="b"/>
              <a:pathLst>
                <a:path w="1" h="2">
                  <a:moveTo>
                    <a:pt x="1" y="0"/>
                  </a:moveTo>
                  <a:lnTo>
                    <a:pt x="0" y="0"/>
                  </a:lnTo>
                  <a:lnTo>
                    <a:pt x="0" y="2"/>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6" name="Freeform 85"/>
            <p:cNvSpPr>
              <a:spLocks/>
            </p:cNvSpPr>
            <p:nvPr/>
          </p:nvSpPr>
          <p:spPr bwMode="auto">
            <a:xfrm>
              <a:off x="3827" y="2670"/>
              <a:ext cx="2" cy="2"/>
            </a:xfrm>
            <a:custGeom>
              <a:avLst/>
              <a:gdLst/>
              <a:ahLst/>
              <a:cxnLst>
                <a:cxn ang="0">
                  <a:pos x="1" y="1"/>
                </a:cxn>
                <a:cxn ang="0">
                  <a:pos x="0" y="0"/>
                </a:cxn>
                <a:cxn ang="0">
                  <a:pos x="0" y="2"/>
                </a:cxn>
                <a:cxn ang="0">
                  <a:pos x="1" y="1"/>
                </a:cxn>
              </a:cxnLst>
              <a:rect l="0" t="0" r="r" b="b"/>
              <a:pathLst>
                <a:path w="1" h="2">
                  <a:moveTo>
                    <a:pt x="1" y="1"/>
                  </a:moveTo>
                  <a:lnTo>
                    <a:pt x="0" y="0"/>
                  </a:lnTo>
                  <a:lnTo>
                    <a:pt x="0" y="2"/>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7" name="Freeform 86"/>
            <p:cNvSpPr>
              <a:spLocks/>
            </p:cNvSpPr>
            <p:nvPr/>
          </p:nvSpPr>
          <p:spPr bwMode="auto">
            <a:xfrm>
              <a:off x="3829" y="2659"/>
              <a:ext cx="2" cy="2"/>
            </a:xfrm>
            <a:custGeom>
              <a:avLst/>
              <a:gdLst/>
              <a:ahLst/>
              <a:cxnLst>
                <a:cxn ang="0">
                  <a:pos x="1" y="0"/>
                </a:cxn>
                <a:cxn ang="0">
                  <a:pos x="0" y="0"/>
                </a:cxn>
                <a:cxn ang="0">
                  <a:pos x="0" y="1"/>
                </a:cxn>
                <a:cxn ang="0">
                  <a:pos x="1" y="0"/>
                </a:cxn>
              </a:cxnLst>
              <a:rect l="0" t="0" r="r" b="b"/>
              <a:pathLst>
                <a:path w="1" h="1">
                  <a:moveTo>
                    <a:pt x="1" y="0"/>
                  </a:moveTo>
                  <a:lnTo>
                    <a:pt x="0" y="0"/>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8" name="Freeform 87"/>
            <p:cNvSpPr>
              <a:spLocks/>
            </p:cNvSpPr>
            <p:nvPr/>
          </p:nvSpPr>
          <p:spPr bwMode="auto">
            <a:xfrm>
              <a:off x="3827" y="2592"/>
              <a:ext cx="2" cy="2"/>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9" name="Freeform 88"/>
            <p:cNvSpPr>
              <a:spLocks/>
            </p:cNvSpPr>
            <p:nvPr/>
          </p:nvSpPr>
          <p:spPr bwMode="auto">
            <a:xfrm>
              <a:off x="3818" y="2572"/>
              <a:ext cx="2" cy="2"/>
            </a:xfrm>
            <a:custGeom>
              <a:avLst/>
              <a:gdLst/>
              <a:ahLst/>
              <a:cxnLst>
                <a:cxn ang="0">
                  <a:pos x="2" y="0"/>
                </a:cxn>
                <a:cxn ang="0">
                  <a:pos x="1" y="0"/>
                </a:cxn>
                <a:cxn ang="0">
                  <a:pos x="0" y="0"/>
                </a:cxn>
                <a:cxn ang="0">
                  <a:pos x="2" y="0"/>
                </a:cxn>
              </a:cxnLst>
              <a:rect l="0" t="0" r="r" b="b"/>
              <a:pathLst>
                <a:path w="2">
                  <a:moveTo>
                    <a:pt x="2" y="0"/>
                  </a:moveTo>
                  <a:lnTo>
                    <a:pt x="1" y="0"/>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0" name="Freeform 89"/>
            <p:cNvSpPr>
              <a:spLocks/>
            </p:cNvSpPr>
            <p:nvPr/>
          </p:nvSpPr>
          <p:spPr bwMode="auto">
            <a:xfrm>
              <a:off x="3813" y="2650"/>
              <a:ext cx="2" cy="2"/>
            </a:xfrm>
            <a:custGeom>
              <a:avLst/>
              <a:gdLst/>
              <a:ahLst/>
              <a:cxnLst>
                <a:cxn ang="0">
                  <a:pos x="2" y="1"/>
                </a:cxn>
                <a:cxn ang="0">
                  <a:pos x="2" y="0"/>
                </a:cxn>
                <a:cxn ang="0">
                  <a:pos x="0" y="0"/>
                </a:cxn>
                <a:cxn ang="0">
                  <a:pos x="2" y="1"/>
                </a:cxn>
              </a:cxnLst>
              <a:rect l="0" t="0" r="r" b="b"/>
              <a:pathLst>
                <a:path w="2" h="1">
                  <a:moveTo>
                    <a:pt x="2" y="1"/>
                  </a:moveTo>
                  <a:lnTo>
                    <a:pt x="2" y="0"/>
                  </a:lnTo>
                  <a:lnTo>
                    <a:pt x="0" y="0"/>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1" name="Freeform 90"/>
            <p:cNvSpPr>
              <a:spLocks/>
            </p:cNvSpPr>
            <p:nvPr/>
          </p:nvSpPr>
          <p:spPr bwMode="auto">
            <a:xfrm>
              <a:off x="3815" y="2563"/>
              <a:ext cx="3" cy="2"/>
            </a:xfrm>
            <a:custGeom>
              <a:avLst/>
              <a:gdLst/>
              <a:ahLst/>
              <a:cxnLst>
                <a:cxn ang="0">
                  <a:pos x="1" y="1"/>
                </a:cxn>
                <a:cxn ang="0">
                  <a:pos x="1" y="0"/>
                </a:cxn>
                <a:cxn ang="0">
                  <a:pos x="0" y="0"/>
                </a:cxn>
                <a:cxn ang="0">
                  <a:pos x="1" y="1"/>
                </a:cxn>
              </a:cxnLst>
              <a:rect l="0" t="0" r="r" b="b"/>
              <a:pathLst>
                <a:path w="1" h="1">
                  <a:moveTo>
                    <a:pt x="1" y="1"/>
                  </a:moveTo>
                  <a:lnTo>
                    <a:pt x="1" y="0"/>
                  </a:ln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2" name="Freeform 91"/>
            <p:cNvSpPr>
              <a:spLocks/>
            </p:cNvSpPr>
            <p:nvPr/>
          </p:nvSpPr>
          <p:spPr bwMode="auto">
            <a:xfrm>
              <a:off x="3827" y="2645"/>
              <a:ext cx="2" cy="2"/>
            </a:xfrm>
            <a:custGeom>
              <a:avLst/>
              <a:gdLst/>
              <a:ahLst/>
              <a:cxnLst>
                <a:cxn ang="0">
                  <a:pos x="1" y="1"/>
                </a:cxn>
                <a:cxn ang="0">
                  <a:pos x="1" y="0"/>
                </a:cxn>
                <a:cxn ang="0">
                  <a:pos x="0" y="0"/>
                </a:cxn>
                <a:cxn ang="0">
                  <a:pos x="1" y="1"/>
                </a:cxn>
              </a:cxnLst>
              <a:rect l="0" t="0" r="r" b="b"/>
              <a:pathLst>
                <a:path w="1" h="1">
                  <a:moveTo>
                    <a:pt x="1" y="1"/>
                  </a:moveTo>
                  <a:lnTo>
                    <a:pt x="1" y="0"/>
                  </a:ln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3" name="Freeform 92"/>
            <p:cNvSpPr>
              <a:spLocks/>
            </p:cNvSpPr>
            <p:nvPr/>
          </p:nvSpPr>
          <p:spPr bwMode="auto">
            <a:xfrm>
              <a:off x="3829" y="2694"/>
              <a:ext cx="2" cy="2"/>
            </a:xfrm>
            <a:custGeom>
              <a:avLst/>
              <a:gdLst/>
              <a:ahLst/>
              <a:cxnLst>
                <a:cxn ang="0">
                  <a:pos x="1" y="0"/>
                </a:cxn>
                <a:cxn ang="0">
                  <a:pos x="1" y="1"/>
                </a:cxn>
                <a:cxn ang="0">
                  <a:pos x="0" y="1"/>
                </a:cxn>
                <a:cxn ang="0">
                  <a:pos x="1" y="0"/>
                </a:cxn>
              </a:cxnLst>
              <a:rect l="0" t="0" r="r" b="b"/>
              <a:pathLst>
                <a:path w="1" h="1">
                  <a:moveTo>
                    <a:pt x="1" y="0"/>
                  </a:moveTo>
                  <a:lnTo>
                    <a:pt x="1" y="1"/>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4" name="Freeform 93"/>
            <p:cNvSpPr>
              <a:spLocks/>
            </p:cNvSpPr>
            <p:nvPr/>
          </p:nvSpPr>
          <p:spPr bwMode="auto">
            <a:xfrm>
              <a:off x="3815" y="2567"/>
              <a:ext cx="3" cy="3"/>
            </a:xfrm>
            <a:custGeom>
              <a:avLst/>
              <a:gdLst/>
              <a:ahLst/>
              <a:cxnLst>
                <a:cxn ang="0">
                  <a:pos x="1" y="0"/>
                </a:cxn>
                <a:cxn ang="0">
                  <a:pos x="1" y="1"/>
                </a:cxn>
                <a:cxn ang="0">
                  <a:pos x="0" y="3"/>
                </a:cxn>
                <a:cxn ang="0">
                  <a:pos x="1" y="0"/>
                </a:cxn>
              </a:cxnLst>
              <a:rect l="0" t="0" r="r" b="b"/>
              <a:pathLst>
                <a:path w="1" h="3">
                  <a:moveTo>
                    <a:pt x="1" y="0"/>
                  </a:moveTo>
                  <a:lnTo>
                    <a:pt x="1" y="1"/>
                  </a:lnTo>
                  <a:lnTo>
                    <a:pt x="0" y="3"/>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5" name="Freeform 94"/>
            <p:cNvSpPr>
              <a:spLocks/>
            </p:cNvSpPr>
            <p:nvPr/>
          </p:nvSpPr>
          <p:spPr bwMode="auto">
            <a:xfrm>
              <a:off x="3827" y="2654"/>
              <a:ext cx="2" cy="2"/>
            </a:xfrm>
            <a:custGeom>
              <a:avLst/>
              <a:gdLst/>
              <a:ahLst/>
              <a:cxnLst>
                <a:cxn ang="0">
                  <a:pos x="2" y="0"/>
                </a:cxn>
                <a:cxn ang="0">
                  <a:pos x="2" y="2"/>
                </a:cxn>
                <a:cxn ang="0">
                  <a:pos x="0" y="0"/>
                </a:cxn>
                <a:cxn ang="0">
                  <a:pos x="2" y="0"/>
                </a:cxn>
              </a:cxnLst>
              <a:rect l="0" t="0" r="r" b="b"/>
              <a:pathLst>
                <a:path w="2" h="2">
                  <a:moveTo>
                    <a:pt x="2" y="0"/>
                  </a:moveTo>
                  <a:lnTo>
                    <a:pt x="2" y="2"/>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6" name="Freeform 95"/>
            <p:cNvSpPr>
              <a:spLocks/>
            </p:cNvSpPr>
            <p:nvPr/>
          </p:nvSpPr>
          <p:spPr bwMode="auto">
            <a:xfrm>
              <a:off x="3827" y="2614"/>
              <a:ext cx="2" cy="2"/>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7" name="Freeform 96"/>
            <p:cNvSpPr>
              <a:spLocks/>
            </p:cNvSpPr>
            <p:nvPr/>
          </p:nvSpPr>
          <p:spPr bwMode="auto">
            <a:xfrm>
              <a:off x="3342" y="2892"/>
              <a:ext cx="7" cy="2"/>
            </a:xfrm>
            <a:custGeom>
              <a:avLst/>
              <a:gdLst/>
              <a:ahLst/>
              <a:cxnLst>
                <a:cxn ang="0">
                  <a:pos x="6" y="0"/>
                </a:cxn>
                <a:cxn ang="0">
                  <a:pos x="4" y="0"/>
                </a:cxn>
                <a:cxn ang="0">
                  <a:pos x="0" y="1"/>
                </a:cxn>
                <a:cxn ang="0">
                  <a:pos x="6" y="0"/>
                </a:cxn>
              </a:cxnLst>
              <a:rect l="0" t="0" r="r" b="b"/>
              <a:pathLst>
                <a:path w="6" h="1">
                  <a:moveTo>
                    <a:pt x="6" y="0"/>
                  </a:moveTo>
                  <a:lnTo>
                    <a:pt x="4" y="0"/>
                  </a:lnTo>
                  <a:lnTo>
                    <a:pt x="0" y="1"/>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8" name="Freeform 97"/>
            <p:cNvSpPr>
              <a:spLocks/>
            </p:cNvSpPr>
            <p:nvPr/>
          </p:nvSpPr>
          <p:spPr bwMode="auto">
            <a:xfrm>
              <a:off x="3395" y="2183"/>
              <a:ext cx="3" cy="4"/>
            </a:xfrm>
            <a:custGeom>
              <a:avLst/>
              <a:gdLst/>
              <a:ahLst/>
              <a:cxnLst>
                <a:cxn ang="0">
                  <a:pos x="0" y="0"/>
                </a:cxn>
                <a:cxn ang="0">
                  <a:pos x="0" y="3"/>
                </a:cxn>
                <a:cxn ang="0">
                  <a:pos x="1" y="1"/>
                </a:cxn>
                <a:cxn ang="0">
                  <a:pos x="0" y="0"/>
                </a:cxn>
              </a:cxnLst>
              <a:rect l="0" t="0" r="r" b="b"/>
              <a:pathLst>
                <a:path w="1" h="3">
                  <a:moveTo>
                    <a:pt x="0" y="0"/>
                  </a:moveTo>
                  <a:lnTo>
                    <a:pt x="0" y="3"/>
                  </a:lnTo>
                  <a:lnTo>
                    <a:pt x="1"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9" name="Freeform 98"/>
            <p:cNvSpPr>
              <a:spLocks/>
            </p:cNvSpPr>
            <p:nvPr/>
          </p:nvSpPr>
          <p:spPr bwMode="auto">
            <a:xfrm>
              <a:off x="2769" y="2236"/>
              <a:ext cx="180" cy="318"/>
            </a:xfrm>
            <a:custGeom>
              <a:avLst/>
              <a:gdLst/>
              <a:ahLst/>
              <a:cxnLst>
                <a:cxn ang="0">
                  <a:pos x="160" y="72"/>
                </a:cxn>
                <a:cxn ang="0">
                  <a:pos x="145" y="63"/>
                </a:cxn>
                <a:cxn ang="0">
                  <a:pos x="129" y="54"/>
                </a:cxn>
                <a:cxn ang="0">
                  <a:pos x="112" y="45"/>
                </a:cxn>
                <a:cxn ang="0">
                  <a:pos x="97" y="36"/>
                </a:cxn>
                <a:cxn ang="0">
                  <a:pos x="81" y="27"/>
                </a:cxn>
                <a:cxn ang="0">
                  <a:pos x="66" y="18"/>
                </a:cxn>
                <a:cxn ang="0">
                  <a:pos x="50" y="9"/>
                </a:cxn>
                <a:cxn ang="0">
                  <a:pos x="34" y="0"/>
                </a:cxn>
                <a:cxn ang="0">
                  <a:pos x="19" y="9"/>
                </a:cxn>
                <a:cxn ang="0">
                  <a:pos x="20" y="22"/>
                </a:cxn>
                <a:cxn ang="0">
                  <a:pos x="22" y="36"/>
                </a:cxn>
                <a:cxn ang="0">
                  <a:pos x="36" y="56"/>
                </a:cxn>
                <a:cxn ang="0">
                  <a:pos x="32" y="64"/>
                </a:cxn>
                <a:cxn ang="0">
                  <a:pos x="31" y="78"/>
                </a:cxn>
                <a:cxn ang="0">
                  <a:pos x="30" y="91"/>
                </a:cxn>
                <a:cxn ang="0">
                  <a:pos x="30" y="105"/>
                </a:cxn>
                <a:cxn ang="0">
                  <a:pos x="28" y="118"/>
                </a:cxn>
                <a:cxn ang="0">
                  <a:pos x="21" y="129"/>
                </a:cxn>
                <a:cxn ang="0">
                  <a:pos x="14" y="140"/>
                </a:cxn>
                <a:cxn ang="0">
                  <a:pos x="7" y="151"/>
                </a:cxn>
                <a:cxn ang="0">
                  <a:pos x="0" y="162"/>
                </a:cxn>
                <a:cxn ang="0">
                  <a:pos x="1" y="176"/>
                </a:cxn>
                <a:cxn ang="0">
                  <a:pos x="8" y="187"/>
                </a:cxn>
                <a:cxn ang="0">
                  <a:pos x="14" y="187"/>
                </a:cxn>
                <a:cxn ang="0">
                  <a:pos x="21" y="205"/>
                </a:cxn>
                <a:cxn ang="0">
                  <a:pos x="24" y="225"/>
                </a:cxn>
                <a:cxn ang="0">
                  <a:pos x="34" y="243"/>
                </a:cxn>
                <a:cxn ang="0">
                  <a:pos x="15" y="243"/>
                </a:cxn>
                <a:cxn ang="0">
                  <a:pos x="8" y="247"/>
                </a:cxn>
                <a:cxn ang="0">
                  <a:pos x="21" y="264"/>
                </a:cxn>
                <a:cxn ang="0">
                  <a:pos x="31" y="286"/>
                </a:cxn>
                <a:cxn ang="0">
                  <a:pos x="46" y="282"/>
                </a:cxn>
                <a:cxn ang="0">
                  <a:pos x="49" y="284"/>
                </a:cxn>
                <a:cxn ang="0">
                  <a:pos x="58" y="283"/>
                </a:cxn>
                <a:cxn ang="0">
                  <a:pos x="80" y="278"/>
                </a:cxn>
                <a:cxn ang="0">
                  <a:pos x="87" y="268"/>
                </a:cxn>
                <a:cxn ang="0">
                  <a:pos x="85" y="264"/>
                </a:cxn>
                <a:cxn ang="0">
                  <a:pos x="108" y="259"/>
                </a:cxn>
                <a:cxn ang="0">
                  <a:pos x="120" y="244"/>
                </a:cxn>
                <a:cxn ang="0">
                  <a:pos x="132" y="230"/>
                </a:cxn>
                <a:cxn ang="0">
                  <a:pos x="147" y="226"/>
                </a:cxn>
                <a:cxn ang="0">
                  <a:pos x="146" y="216"/>
                </a:cxn>
                <a:cxn ang="0">
                  <a:pos x="142" y="206"/>
                </a:cxn>
                <a:cxn ang="0">
                  <a:pos x="136" y="193"/>
                </a:cxn>
                <a:cxn ang="0">
                  <a:pos x="130" y="192"/>
                </a:cxn>
                <a:cxn ang="0">
                  <a:pos x="135" y="178"/>
                </a:cxn>
                <a:cxn ang="0">
                  <a:pos x="138" y="170"/>
                </a:cxn>
                <a:cxn ang="0">
                  <a:pos x="139" y="165"/>
                </a:cxn>
                <a:cxn ang="0">
                  <a:pos x="139" y="159"/>
                </a:cxn>
                <a:cxn ang="0">
                  <a:pos x="147" y="145"/>
                </a:cxn>
                <a:cxn ang="0">
                  <a:pos x="152" y="140"/>
                </a:cxn>
                <a:cxn ang="0">
                  <a:pos x="163" y="140"/>
                </a:cxn>
                <a:cxn ang="0">
                  <a:pos x="162" y="123"/>
                </a:cxn>
                <a:cxn ang="0">
                  <a:pos x="162" y="106"/>
                </a:cxn>
                <a:cxn ang="0">
                  <a:pos x="160" y="88"/>
                </a:cxn>
                <a:cxn ang="0">
                  <a:pos x="160" y="72"/>
                </a:cxn>
              </a:cxnLst>
              <a:rect l="0" t="0" r="r" b="b"/>
              <a:pathLst>
                <a:path w="163" h="286">
                  <a:moveTo>
                    <a:pt x="160" y="72"/>
                  </a:moveTo>
                  <a:lnTo>
                    <a:pt x="145" y="63"/>
                  </a:lnTo>
                  <a:lnTo>
                    <a:pt x="129" y="54"/>
                  </a:lnTo>
                  <a:lnTo>
                    <a:pt x="112" y="45"/>
                  </a:lnTo>
                  <a:lnTo>
                    <a:pt x="97" y="36"/>
                  </a:lnTo>
                  <a:lnTo>
                    <a:pt x="81" y="27"/>
                  </a:lnTo>
                  <a:lnTo>
                    <a:pt x="66" y="18"/>
                  </a:lnTo>
                  <a:lnTo>
                    <a:pt x="50" y="9"/>
                  </a:lnTo>
                  <a:lnTo>
                    <a:pt x="34" y="0"/>
                  </a:lnTo>
                  <a:lnTo>
                    <a:pt x="19" y="9"/>
                  </a:lnTo>
                  <a:lnTo>
                    <a:pt x="20" y="22"/>
                  </a:lnTo>
                  <a:lnTo>
                    <a:pt x="22" y="36"/>
                  </a:lnTo>
                  <a:lnTo>
                    <a:pt x="36" y="56"/>
                  </a:lnTo>
                  <a:lnTo>
                    <a:pt x="32" y="64"/>
                  </a:lnTo>
                  <a:lnTo>
                    <a:pt x="31" y="78"/>
                  </a:lnTo>
                  <a:lnTo>
                    <a:pt x="30" y="91"/>
                  </a:lnTo>
                  <a:lnTo>
                    <a:pt x="30" y="105"/>
                  </a:lnTo>
                  <a:lnTo>
                    <a:pt x="28" y="118"/>
                  </a:lnTo>
                  <a:lnTo>
                    <a:pt x="21" y="129"/>
                  </a:lnTo>
                  <a:lnTo>
                    <a:pt x="14" y="140"/>
                  </a:lnTo>
                  <a:lnTo>
                    <a:pt x="7" y="151"/>
                  </a:lnTo>
                  <a:lnTo>
                    <a:pt x="0" y="162"/>
                  </a:lnTo>
                  <a:lnTo>
                    <a:pt x="1" y="176"/>
                  </a:lnTo>
                  <a:lnTo>
                    <a:pt x="8" y="187"/>
                  </a:lnTo>
                  <a:lnTo>
                    <a:pt x="14" y="187"/>
                  </a:lnTo>
                  <a:lnTo>
                    <a:pt x="21" y="205"/>
                  </a:lnTo>
                  <a:lnTo>
                    <a:pt x="24" y="225"/>
                  </a:lnTo>
                  <a:lnTo>
                    <a:pt x="34" y="243"/>
                  </a:lnTo>
                  <a:lnTo>
                    <a:pt x="15" y="243"/>
                  </a:lnTo>
                  <a:lnTo>
                    <a:pt x="8" y="247"/>
                  </a:lnTo>
                  <a:lnTo>
                    <a:pt x="21" y="264"/>
                  </a:lnTo>
                  <a:lnTo>
                    <a:pt x="31" y="286"/>
                  </a:lnTo>
                  <a:lnTo>
                    <a:pt x="46" y="282"/>
                  </a:lnTo>
                  <a:lnTo>
                    <a:pt x="49" y="284"/>
                  </a:lnTo>
                  <a:lnTo>
                    <a:pt x="58" y="283"/>
                  </a:lnTo>
                  <a:lnTo>
                    <a:pt x="80" y="278"/>
                  </a:lnTo>
                  <a:lnTo>
                    <a:pt x="87" y="268"/>
                  </a:lnTo>
                  <a:lnTo>
                    <a:pt x="85" y="264"/>
                  </a:lnTo>
                  <a:lnTo>
                    <a:pt x="108" y="259"/>
                  </a:lnTo>
                  <a:lnTo>
                    <a:pt x="120" y="244"/>
                  </a:lnTo>
                  <a:lnTo>
                    <a:pt x="132" y="230"/>
                  </a:lnTo>
                  <a:lnTo>
                    <a:pt x="147" y="226"/>
                  </a:lnTo>
                  <a:lnTo>
                    <a:pt x="146" y="216"/>
                  </a:lnTo>
                  <a:lnTo>
                    <a:pt x="142" y="206"/>
                  </a:lnTo>
                  <a:lnTo>
                    <a:pt x="136" y="193"/>
                  </a:lnTo>
                  <a:lnTo>
                    <a:pt x="130" y="192"/>
                  </a:lnTo>
                  <a:lnTo>
                    <a:pt x="135" y="178"/>
                  </a:lnTo>
                  <a:lnTo>
                    <a:pt x="138" y="170"/>
                  </a:lnTo>
                  <a:lnTo>
                    <a:pt x="139" y="165"/>
                  </a:lnTo>
                  <a:lnTo>
                    <a:pt x="139" y="159"/>
                  </a:lnTo>
                  <a:lnTo>
                    <a:pt x="147" y="145"/>
                  </a:lnTo>
                  <a:lnTo>
                    <a:pt x="152" y="140"/>
                  </a:lnTo>
                  <a:lnTo>
                    <a:pt x="163" y="140"/>
                  </a:lnTo>
                  <a:lnTo>
                    <a:pt x="162" y="123"/>
                  </a:lnTo>
                  <a:lnTo>
                    <a:pt x="162" y="106"/>
                  </a:lnTo>
                  <a:lnTo>
                    <a:pt x="160" y="88"/>
                  </a:lnTo>
                  <a:lnTo>
                    <a:pt x="160" y="7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0" name="Freeform 99"/>
            <p:cNvSpPr>
              <a:spLocks/>
            </p:cNvSpPr>
            <p:nvPr/>
          </p:nvSpPr>
          <p:spPr bwMode="auto">
            <a:xfrm>
              <a:off x="3264" y="2454"/>
              <a:ext cx="25" cy="31"/>
            </a:xfrm>
            <a:custGeom>
              <a:avLst/>
              <a:gdLst/>
              <a:ahLst/>
              <a:cxnLst>
                <a:cxn ang="0">
                  <a:pos x="0" y="28"/>
                </a:cxn>
                <a:cxn ang="0">
                  <a:pos x="18" y="28"/>
                </a:cxn>
                <a:cxn ang="0">
                  <a:pos x="22" y="20"/>
                </a:cxn>
                <a:cxn ang="0">
                  <a:pos x="16" y="0"/>
                </a:cxn>
                <a:cxn ang="0">
                  <a:pos x="10" y="2"/>
                </a:cxn>
                <a:cxn ang="0">
                  <a:pos x="0" y="28"/>
                </a:cxn>
              </a:cxnLst>
              <a:rect l="0" t="0" r="r" b="b"/>
              <a:pathLst>
                <a:path w="22" h="28">
                  <a:moveTo>
                    <a:pt x="0" y="28"/>
                  </a:moveTo>
                  <a:lnTo>
                    <a:pt x="18" y="28"/>
                  </a:lnTo>
                  <a:lnTo>
                    <a:pt x="22" y="20"/>
                  </a:lnTo>
                  <a:lnTo>
                    <a:pt x="16" y="0"/>
                  </a:lnTo>
                  <a:lnTo>
                    <a:pt x="10" y="2"/>
                  </a:lnTo>
                  <a:lnTo>
                    <a:pt x="0"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1" name="Freeform 100"/>
            <p:cNvSpPr>
              <a:spLocks/>
            </p:cNvSpPr>
            <p:nvPr/>
          </p:nvSpPr>
          <p:spPr bwMode="auto">
            <a:xfrm>
              <a:off x="3167" y="2347"/>
              <a:ext cx="115" cy="114"/>
            </a:xfrm>
            <a:custGeom>
              <a:avLst/>
              <a:gdLst/>
              <a:ahLst/>
              <a:cxnLst>
                <a:cxn ang="0">
                  <a:pos x="0" y="78"/>
                </a:cxn>
                <a:cxn ang="0">
                  <a:pos x="2" y="65"/>
                </a:cxn>
                <a:cxn ang="0">
                  <a:pos x="4" y="40"/>
                </a:cxn>
                <a:cxn ang="0">
                  <a:pos x="10" y="17"/>
                </a:cxn>
                <a:cxn ang="0">
                  <a:pos x="20" y="10"/>
                </a:cxn>
                <a:cxn ang="0">
                  <a:pos x="29" y="3"/>
                </a:cxn>
                <a:cxn ang="0">
                  <a:pos x="32" y="0"/>
                </a:cxn>
                <a:cxn ang="0">
                  <a:pos x="36" y="12"/>
                </a:cxn>
                <a:cxn ang="0">
                  <a:pos x="41" y="25"/>
                </a:cxn>
                <a:cxn ang="0">
                  <a:pos x="46" y="39"/>
                </a:cxn>
                <a:cxn ang="0">
                  <a:pos x="52" y="52"/>
                </a:cxn>
                <a:cxn ang="0">
                  <a:pos x="52" y="47"/>
                </a:cxn>
                <a:cxn ang="0">
                  <a:pos x="57" y="49"/>
                </a:cxn>
                <a:cxn ang="0">
                  <a:pos x="70" y="59"/>
                </a:cxn>
                <a:cxn ang="0">
                  <a:pos x="87" y="76"/>
                </a:cxn>
                <a:cxn ang="0">
                  <a:pos x="104" y="93"/>
                </a:cxn>
                <a:cxn ang="0">
                  <a:pos x="105" y="96"/>
                </a:cxn>
                <a:cxn ang="0">
                  <a:pos x="104" y="97"/>
                </a:cxn>
                <a:cxn ang="0">
                  <a:pos x="98" y="99"/>
                </a:cxn>
                <a:cxn ang="0">
                  <a:pos x="90" y="102"/>
                </a:cxn>
                <a:cxn ang="0">
                  <a:pos x="89" y="99"/>
                </a:cxn>
                <a:cxn ang="0">
                  <a:pos x="75" y="94"/>
                </a:cxn>
                <a:cxn ang="0">
                  <a:pos x="65" y="83"/>
                </a:cxn>
                <a:cxn ang="0">
                  <a:pos x="60" y="77"/>
                </a:cxn>
                <a:cxn ang="0">
                  <a:pos x="51" y="72"/>
                </a:cxn>
                <a:cxn ang="0">
                  <a:pos x="42" y="70"/>
                </a:cxn>
                <a:cxn ang="0">
                  <a:pos x="33" y="71"/>
                </a:cxn>
                <a:cxn ang="0">
                  <a:pos x="24" y="63"/>
                </a:cxn>
                <a:cxn ang="0">
                  <a:pos x="22" y="77"/>
                </a:cxn>
                <a:cxn ang="0">
                  <a:pos x="15" y="71"/>
                </a:cxn>
                <a:cxn ang="0">
                  <a:pos x="8" y="79"/>
                </a:cxn>
                <a:cxn ang="0">
                  <a:pos x="0" y="78"/>
                </a:cxn>
              </a:cxnLst>
              <a:rect l="0" t="0" r="r" b="b"/>
              <a:pathLst>
                <a:path w="105" h="102">
                  <a:moveTo>
                    <a:pt x="0" y="78"/>
                  </a:moveTo>
                  <a:lnTo>
                    <a:pt x="2" y="65"/>
                  </a:lnTo>
                  <a:lnTo>
                    <a:pt x="4" y="40"/>
                  </a:lnTo>
                  <a:lnTo>
                    <a:pt x="10" y="17"/>
                  </a:lnTo>
                  <a:lnTo>
                    <a:pt x="20" y="10"/>
                  </a:lnTo>
                  <a:lnTo>
                    <a:pt x="29" y="3"/>
                  </a:lnTo>
                  <a:lnTo>
                    <a:pt x="32" y="0"/>
                  </a:lnTo>
                  <a:lnTo>
                    <a:pt x="36" y="12"/>
                  </a:lnTo>
                  <a:lnTo>
                    <a:pt x="41" y="25"/>
                  </a:lnTo>
                  <a:lnTo>
                    <a:pt x="46" y="39"/>
                  </a:lnTo>
                  <a:lnTo>
                    <a:pt x="52" y="52"/>
                  </a:lnTo>
                  <a:lnTo>
                    <a:pt x="52" y="47"/>
                  </a:lnTo>
                  <a:lnTo>
                    <a:pt x="57" y="49"/>
                  </a:lnTo>
                  <a:lnTo>
                    <a:pt x="70" y="59"/>
                  </a:lnTo>
                  <a:lnTo>
                    <a:pt x="87" y="76"/>
                  </a:lnTo>
                  <a:lnTo>
                    <a:pt x="104" y="93"/>
                  </a:lnTo>
                  <a:lnTo>
                    <a:pt x="105" y="96"/>
                  </a:lnTo>
                  <a:lnTo>
                    <a:pt x="104" y="97"/>
                  </a:lnTo>
                  <a:lnTo>
                    <a:pt x="98" y="99"/>
                  </a:lnTo>
                  <a:lnTo>
                    <a:pt x="90" y="102"/>
                  </a:lnTo>
                  <a:lnTo>
                    <a:pt x="89" y="99"/>
                  </a:lnTo>
                  <a:lnTo>
                    <a:pt x="75" y="94"/>
                  </a:lnTo>
                  <a:lnTo>
                    <a:pt x="65" y="83"/>
                  </a:lnTo>
                  <a:lnTo>
                    <a:pt x="60" y="77"/>
                  </a:lnTo>
                  <a:lnTo>
                    <a:pt x="51" y="72"/>
                  </a:lnTo>
                  <a:lnTo>
                    <a:pt x="42" y="70"/>
                  </a:lnTo>
                  <a:lnTo>
                    <a:pt x="33" y="71"/>
                  </a:lnTo>
                  <a:lnTo>
                    <a:pt x="24" y="63"/>
                  </a:lnTo>
                  <a:lnTo>
                    <a:pt x="22" y="77"/>
                  </a:lnTo>
                  <a:lnTo>
                    <a:pt x="15" y="71"/>
                  </a:lnTo>
                  <a:lnTo>
                    <a:pt x="8" y="79"/>
                  </a:lnTo>
                  <a:lnTo>
                    <a:pt x="0" y="7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2" name="Freeform 101"/>
            <p:cNvSpPr>
              <a:spLocks/>
            </p:cNvSpPr>
            <p:nvPr/>
          </p:nvSpPr>
          <p:spPr bwMode="auto">
            <a:xfrm>
              <a:off x="3111" y="2416"/>
              <a:ext cx="262" cy="220"/>
            </a:xfrm>
            <a:custGeom>
              <a:avLst/>
              <a:gdLst/>
              <a:ahLst/>
              <a:cxnLst>
                <a:cxn ang="0">
                  <a:pos x="80" y="193"/>
                </a:cxn>
                <a:cxn ang="0">
                  <a:pos x="61" y="180"/>
                </a:cxn>
                <a:cxn ang="0">
                  <a:pos x="48" y="177"/>
                </a:cxn>
                <a:cxn ang="0">
                  <a:pos x="43" y="163"/>
                </a:cxn>
                <a:cxn ang="0">
                  <a:pos x="34" y="159"/>
                </a:cxn>
                <a:cxn ang="0">
                  <a:pos x="28" y="147"/>
                </a:cxn>
                <a:cxn ang="0">
                  <a:pos x="22" y="135"/>
                </a:cxn>
                <a:cxn ang="0">
                  <a:pos x="6" y="121"/>
                </a:cxn>
                <a:cxn ang="0">
                  <a:pos x="0" y="116"/>
                </a:cxn>
                <a:cxn ang="0">
                  <a:pos x="6" y="109"/>
                </a:cxn>
                <a:cxn ang="0">
                  <a:pos x="18" y="106"/>
                </a:cxn>
                <a:cxn ang="0">
                  <a:pos x="19" y="86"/>
                </a:cxn>
                <a:cxn ang="0">
                  <a:pos x="22" y="67"/>
                </a:cxn>
                <a:cxn ang="0">
                  <a:pos x="30" y="64"/>
                </a:cxn>
                <a:cxn ang="0">
                  <a:pos x="34" y="45"/>
                </a:cxn>
                <a:cxn ang="0">
                  <a:pos x="50" y="15"/>
                </a:cxn>
                <a:cxn ang="0">
                  <a:pos x="58" y="16"/>
                </a:cxn>
                <a:cxn ang="0">
                  <a:pos x="65" y="8"/>
                </a:cxn>
                <a:cxn ang="0">
                  <a:pos x="72" y="14"/>
                </a:cxn>
                <a:cxn ang="0">
                  <a:pos x="74" y="0"/>
                </a:cxn>
                <a:cxn ang="0">
                  <a:pos x="83" y="8"/>
                </a:cxn>
                <a:cxn ang="0">
                  <a:pos x="92" y="7"/>
                </a:cxn>
                <a:cxn ang="0">
                  <a:pos x="101" y="9"/>
                </a:cxn>
                <a:cxn ang="0">
                  <a:pos x="110" y="14"/>
                </a:cxn>
                <a:cxn ang="0">
                  <a:pos x="115" y="20"/>
                </a:cxn>
                <a:cxn ang="0">
                  <a:pos x="125" y="31"/>
                </a:cxn>
                <a:cxn ang="0">
                  <a:pos x="139" y="36"/>
                </a:cxn>
                <a:cxn ang="0">
                  <a:pos x="140" y="39"/>
                </a:cxn>
                <a:cxn ang="0">
                  <a:pos x="148" y="36"/>
                </a:cxn>
                <a:cxn ang="0">
                  <a:pos x="138" y="62"/>
                </a:cxn>
                <a:cxn ang="0">
                  <a:pos x="156" y="62"/>
                </a:cxn>
                <a:cxn ang="0">
                  <a:pos x="154" y="73"/>
                </a:cxn>
                <a:cxn ang="0">
                  <a:pos x="163" y="85"/>
                </a:cxn>
                <a:cxn ang="0">
                  <a:pos x="174" y="98"/>
                </a:cxn>
                <a:cxn ang="0">
                  <a:pos x="186" y="103"/>
                </a:cxn>
                <a:cxn ang="0">
                  <a:pos x="198" y="108"/>
                </a:cxn>
                <a:cxn ang="0">
                  <a:pos x="210" y="112"/>
                </a:cxn>
                <a:cxn ang="0">
                  <a:pos x="221" y="116"/>
                </a:cxn>
                <a:cxn ang="0">
                  <a:pos x="236" y="116"/>
                </a:cxn>
                <a:cxn ang="0">
                  <a:pos x="226" y="130"/>
                </a:cxn>
                <a:cxn ang="0">
                  <a:pos x="214" y="144"/>
                </a:cxn>
                <a:cxn ang="0">
                  <a:pos x="202" y="158"/>
                </a:cxn>
                <a:cxn ang="0">
                  <a:pos x="191" y="172"/>
                </a:cxn>
                <a:cxn ang="0">
                  <a:pos x="178" y="174"/>
                </a:cxn>
                <a:cxn ang="0">
                  <a:pos x="166" y="175"/>
                </a:cxn>
                <a:cxn ang="0">
                  <a:pos x="150" y="184"/>
                </a:cxn>
                <a:cxn ang="0">
                  <a:pos x="143" y="189"/>
                </a:cxn>
                <a:cxn ang="0">
                  <a:pos x="126" y="186"/>
                </a:cxn>
                <a:cxn ang="0">
                  <a:pos x="110" y="190"/>
                </a:cxn>
                <a:cxn ang="0">
                  <a:pos x="102" y="198"/>
                </a:cxn>
                <a:cxn ang="0">
                  <a:pos x="80" y="193"/>
                </a:cxn>
              </a:cxnLst>
              <a:rect l="0" t="0" r="r" b="b"/>
              <a:pathLst>
                <a:path w="236" h="198">
                  <a:moveTo>
                    <a:pt x="80" y="193"/>
                  </a:moveTo>
                  <a:lnTo>
                    <a:pt x="61" y="180"/>
                  </a:lnTo>
                  <a:lnTo>
                    <a:pt x="48" y="177"/>
                  </a:lnTo>
                  <a:lnTo>
                    <a:pt x="43" y="163"/>
                  </a:lnTo>
                  <a:lnTo>
                    <a:pt x="34" y="159"/>
                  </a:lnTo>
                  <a:lnTo>
                    <a:pt x="28" y="147"/>
                  </a:lnTo>
                  <a:lnTo>
                    <a:pt x="22" y="135"/>
                  </a:lnTo>
                  <a:lnTo>
                    <a:pt x="6" y="121"/>
                  </a:lnTo>
                  <a:lnTo>
                    <a:pt x="0" y="116"/>
                  </a:lnTo>
                  <a:lnTo>
                    <a:pt x="6" y="109"/>
                  </a:lnTo>
                  <a:lnTo>
                    <a:pt x="18" y="106"/>
                  </a:lnTo>
                  <a:lnTo>
                    <a:pt x="19" y="86"/>
                  </a:lnTo>
                  <a:lnTo>
                    <a:pt x="22" y="67"/>
                  </a:lnTo>
                  <a:lnTo>
                    <a:pt x="30" y="64"/>
                  </a:lnTo>
                  <a:lnTo>
                    <a:pt x="34" y="45"/>
                  </a:lnTo>
                  <a:lnTo>
                    <a:pt x="50" y="15"/>
                  </a:lnTo>
                  <a:lnTo>
                    <a:pt x="58" y="16"/>
                  </a:lnTo>
                  <a:lnTo>
                    <a:pt x="65" y="8"/>
                  </a:lnTo>
                  <a:lnTo>
                    <a:pt x="72" y="14"/>
                  </a:lnTo>
                  <a:lnTo>
                    <a:pt x="74" y="0"/>
                  </a:lnTo>
                  <a:lnTo>
                    <a:pt x="83" y="8"/>
                  </a:lnTo>
                  <a:lnTo>
                    <a:pt x="92" y="7"/>
                  </a:lnTo>
                  <a:lnTo>
                    <a:pt x="101" y="9"/>
                  </a:lnTo>
                  <a:lnTo>
                    <a:pt x="110" y="14"/>
                  </a:lnTo>
                  <a:lnTo>
                    <a:pt x="115" y="20"/>
                  </a:lnTo>
                  <a:lnTo>
                    <a:pt x="125" y="31"/>
                  </a:lnTo>
                  <a:lnTo>
                    <a:pt x="139" y="36"/>
                  </a:lnTo>
                  <a:lnTo>
                    <a:pt x="140" y="39"/>
                  </a:lnTo>
                  <a:lnTo>
                    <a:pt x="148" y="36"/>
                  </a:lnTo>
                  <a:lnTo>
                    <a:pt x="138" y="62"/>
                  </a:lnTo>
                  <a:lnTo>
                    <a:pt x="156" y="62"/>
                  </a:lnTo>
                  <a:lnTo>
                    <a:pt x="154" y="73"/>
                  </a:lnTo>
                  <a:lnTo>
                    <a:pt x="163" y="85"/>
                  </a:lnTo>
                  <a:lnTo>
                    <a:pt x="174" y="98"/>
                  </a:lnTo>
                  <a:lnTo>
                    <a:pt x="186" y="103"/>
                  </a:lnTo>
                  <a:lnTo>
                    <a:pt x="198" y="108"/>
                  </a:lnTo>
                  <a:lnTo>
                    <a:pt x="210" y="112"/>
                  </a:lnTo>
                  <a:lnTo>
                    <a:pt x="221" y="116"/>
                  </a:lnTo>
                  <a:lnTo>
                    <a:pt x="236" y="116"/>
                  </a:lnTo>
                  <a:lnTo>
                    <a:pt x="226" y="130"/>
                  </a:lnTo>
                  <a:lnTo>
                    <a:pt x="214" y="144"/>
                  </a:lnTo>
                  <a:lnTo>
                    <a:pt x="202" y="158"/>
                  </a:lnTo>
                  <a:lnTo>
                    <a:pt x="191" y="172"/>
                  </a:lnTo>
                  <a:lnTo>
                    <a:pt x="178" y="174"/>
                  </a:lnTo>
                  <a:lnTo>
                    <a:pt x="166" y="175"/>
                  </a:lnTo>
                  <a:lnTo>
                    <a:pt x="150" y="184"/>
                  </a:lnTo>
                  <a:lnTo>
                    <a:pt x="143" y="189"/>
                  </a:lnTo>
                  <a:lnTo>
                    <a:pt x="126" y="186"/>
                  </a:lnTo>
                  <a:lnTo>
                    <a:pt x="110" y="190"/>
                  </a:lnTo>
                  <a:lnTo>
                    <a:pt x="102" y="198"/>
                  </a:lnTo>
                  <a:lnTo>
                    <a:pt x="80" y="1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3" name="Freeform 102"/>
            <p:cNvSpPr>
              <a:spLocks/>
            </p:cNvSpPr>
            <p:nvPr/>
          </p:nvSpPr>
          <p:spPr bwMode="auto">
            <a:xfrm>
              <a:off x="3253" y="2467"/>
              <a:ext cx="176" cy="272"/>
            </a:xfrm>
            <a:custGeom>
              <a:avLst/>
              <a:gdLst/>
              <a:ahLst/>
              <a:cxnLst>
                <a:cxn ang="0">
                  <a:pos x="154" y="34"/>
                </a:cxn>
                <a:cxn ang="0">
                  <a:pos x="149" y="54"/>
                </a:cxn>
                <a:cxn ang="0">
                  <a:pos x="138" y="76"/>
                </a:cxn>
                <a:cxn ang="0">
                  <a:pos x="128" y="96"/>
                </a:cxn>
                <a:cxn ang="0">
                  <a:pos x="117" y="118"/>
                </a:cxn>
                <a:cxn ang="0">
                  <a:pos x="106" y="139"/>
                </a:cxn>
                <a:cxn ang="0">
                  <a:pos x="96" y="150"/>
                </a:cxn>
                <a:cxn ang="0">
                  <a:pos x="87" y="160"/>
                </a:cxn>
                <a:cxn ang="0">
                  <a:pos x="77" y="169"/>
                </a:cxn>
                <a:cxn ang="0">
                  <a:pos x="69" y="179"/>
                </a:cxn>
                <a:cxn ang="0">
                  <a:pos x="57" y="190"/>
                </a:cxn>
                <a:cxn ang="0">
                  <a:pos x="46" y="201"/>
                </a:cxn>
                <a:cxn ang="0">
                  <a:pos x="35" y="211"/>
                </a:cxn>
                <a:cxn ang="0">
                  <a:pos x="24" y="222"/>
                </a:cxn>
                <a:cxn ang="0">
                  <a:pos x="16" y="234"/>
                </a:cxn>
                <a:cxn ang="0">
                  <a:pos x="9" y="245"/>
                </a:cxn>
                <a:cxn ang="0">
                  <a:pos x="0" y="231"/>
                </a:cxn>
                <a:cxn ang="0">
                  <a:pos x="0" y="214"/>
                </a:cxn>
                <a:cxn ang="0">
                  <a:pos x="0" y="197"/>
                </a:cxn>
                <a:cxn ang="0">
                  <a:pos x="0" y="180"/>
                </a:cxn>
                <a:cxn ang="0">
                  <a:pos x="0" y="165"/>
                </a:cxn>
                <a:cxn ang="0">
                  <a:pos x="8" y="154"/>
                </a:cxn>
                <a:cxn ang="0">
                  <a:pos x="15" y="144"/>
                </a:cxn>
                <a:cxn ang="0">
                  <a:pos x="22" y="139"/>
                </a:cxn>
                <a:cxn ang="0">
                  <a:pos x="38" y="130"/>
                </a:cxn>
                <a:cxn ang="0">
                  <a:pos x="50" y="129"/>
                </a:cxn>
                <a:cxn ang="0">
                  <a:pos x="63" y="127"/>
                </a:cxn>
                <a:cxn ang="0">
                  <a:pos x="74" y="113"/>
                </a:cxn>
                <a:cxn ang="0">
                  <a:pos x="86" y="99"/>
                </a:cxn>
                <a:cxn ang="0">
                  <a:pos x="98" y="85"/>
                </a:cxn>
                <a:cxn ang="0">
                  <a:pos x="108" y="71"/>
                </a:cxn>
                <a:cxn ang="0">
                  <a:pos x="93" y="71"/>
                </a:cxn>
                <a:cxn ang="0">
                  <a:pos x="82" y="67"/>
                </a:cxn>
                <a:cxn ang="0">
                  <a:pos x="70" y="63"/>
                </a:cxn>
                <a:cxn ang="0">
                  <a:pos x="58" y="58"/>
                </a:cxn>
                <a:cxn ang="0">
                  <a:pos x="46" y="53"/>
                </a:cxn>
                <a:cxn ang="0">
                  <a:pos x="35" y="40"/>
                </a:cxn>
                <a:cxn ang="0">
                  <a:pos x="26" y="28"/>
                </a:cxn>
                <a:cxn ang="0">
                  <a:pos x="28" y="17"/>
                </a:cxn>
                <a:cxn ang="0">
                  <a:pos x="32" y="9"/>
                </a:cxn>
                <a:cxn ang="0">
                  <a:pos x="42" y="18"/>
                </a:cxn>
                <a:cxn ang="0">
                  <a:pos x="52" y="28"/>
                </a:cxn>
                <a:cxn ang="0">
                  <a:pos x="71" y="21"/>
                </a:cxn>
                <a:cxn ang="0">
                  <a:pos x="87" y="22"/>
                </a:cxn>
                <a:cxn ang="0">
                  <a:pos x="101" y="15"/>
                </a:cxn>
                <a:cxn ang="0">
                  <a:pos x="123" y="10"/>
                </a:cxn>
                <a:cxn ang="0">
                  <a:pos x="146" y="5"/>
                </a:cxn>
                <a:cxn ang="0">
                  <a:pos x="153" y="0"/>
                </a:cxn>
                <a:cxn ang="0">
                  <a:pos x="158" y="5"/>
                </a:cxn>
                <a:cxn ang="0">
                  <a:pos x="156" y="28"/>
                </a:cxn>
                <a:cxn ang="0">
                  <a:pos x="159" y="28"/>
                </a:cxn>
                <a:cxn ang="0">
                  <a:pos x="154" y="34"/>
                </a:cxn>
              </a:cxnLst>
              <a:rect l="0" t="0" r="r" b="b"/>
              <a:pathLst>
                <a:path w="159" h="245">
                  <a:moveTo>
                    <a:pt x="154" y="34"/>
                  </a:moveTo>
                  <a:lnTo>
                    <a:pt x="149" y="54"/>
                  </a:lnTo>
                  <a:lnTo>
                    <a:pt x="138" y="76"/>
                  </a:lnTo>
                  <a:lnTo>
                    <a:pt x="128" y="96"/>
                  </a:lnTo>
                  <a:lnTo>
                    <a:pt x="117" y="118"/>
                  </a:lnTo>
                  <a:lnTo>
                    <a:pt x="106" y="139"/>
                  </a:lnTo>
                  <a:lnTo>
                    <a:pt x="96" y="150"/>
                  </a:lnTo>
                  <a:lnTo>
                    <a:pt x="87" y="160"/>
                  </a:lnTo>
                  <a:lnTo>
                    <a:pt x="77" y="169"/>
                  </a:lnTo>
                  <a:lnTo>
                    <a:pt x="69" y="179"/>
                  </a:lnTo>
                  <a:lnTo>
                    <a:pt x="57" y="190"/>
                  </a:lnTo>
                  <a:lnTo>
                    <a:pt x="46" y="201"/>
                  </a:lnTo>
                  <a:lnTo>
                    <a:pt x="35" y="211"/>
                  </a:lnTo>
                  <a:lnTo>
                    <a:pt x="24" y="222"/>
                  </a:lnTo>
                  <a:lnTo>
                    <a:pt x="16" y="234"/>
                  </a:lnTo>
                  <a:lnTo>
                    <a:pt x="9" y="245"/>
                  </a:lnTo>
                  <a:lnTo>
                    <a:pt x="0" y="231"/>
                  </a:lnTo>
                  <a:lnTo>
                    <a:pt x="0" y="214"/>
                  </a:lnTo>
                  <a:lnTo>
                    <a:pt x="0" y="197"/>
                  </a:lnTo>
                  <a:lnTo>
                    <a:pt x="0" y="180"/>
                  </a:lnTo>
                  <a:lnTo>
                    <a:pt x="0" y="165"/>
                  </a:lnTo>
                  <a:lnTo>
                    <a:pt x="8" y="154"/>
                  </a:lnTo>
                  <a:lnTo>
                    <a:pt x="15" y="144"/>
                  </a:lnTo>
                  <a:lnTo>
                    <a:pt x="22" y="139"/>
                  </a:lnTo>
                  <a:lnTo>
                    <a:pt x="38" y="130"/>
                  </a:lnTo>
                  <a:lnTo>
                    <a:pt x="50" y="129"/>
                  </a:lnTo>
                  <a:lnTo>
                    <a:pt x="63" y="127"/>
                  </a:lnTo>
                  <a:lnTo>
                    <a:pt x="74" y="113"/>
                  </a:lnTo>
                  <a:lnTo>
                    <a:pt x="86" y="99"/>
                  </a:lnTo>
                  <a:lnTo>
                    <a:pt x="98" y="85"/>
                  </a:lnTo>
                  <a:lnTo>
                    <a:pt x="108" y="71"/>
                  </a:lnTo>
                  <a:lnTo>
                    <a:pt x="93" y="71"/>
                  </a:lnTo>
                  <a:lnTo>
                    <a:pt x="82" y="67"/>
                  </a:lnTo>
                  <a:lnTo>
                    <a:pt x="70" y="63"/>
                  </a:lnTo>
                  <a:lnTo>
                    <a:pt x="58" y="58"/>
                  </a:lnTo>
                  <a:lnTo>
                    <a:pt x="46" y="53"/>
                  </a:lnTo>
                  <a:lnTo>
                    <a:pt x="35" y="40"/>
                  </a:lnTo>
                  <a:lnTo>
                    <a:pt x="26" y="28"/>
                  </a:lnTo>
                  <a:lnTo>
                    <a:pt x="28" y="17"/>
                  </a:lnTo>
                  <a:lnTo>
                    <a:pt x="32" y="9"/>
                  </a:lnTo>
                  <a:lnTo>
                    <a:pt x="42" y="18"/>
                  </a:lnTo>
                  <a:lnTo>
                    <a:pt x="52" y="28"/>
                  </a:lnTo>
                  <a:lnTo>
                    <a:pt x="71" y="21"/>
                  </a:lnTo>
                  <a:lnTo>
                    <a:pt x="87" y="22"/>
                  </a:lnTo>
                  <a:lnTo>
                    <a:pt x="101" y="15"/>
                  </a:lnTo>
                  <a:lnTo>
                    <a:pt x="123" y="10"/>
                  </a:lnTo>
                  <a:lnTo>
                    <a:pt x="146" y="5"/>
                  </a:lnTo>
                  <a:lnTo>
                    <a:pt x="153" y="0"/>
                  </a:lnTo>
                  <a:lnTo>
                    <a:pt x="158" y="5"/>
                  </a:lnTo>
                  <a:lnTo>
                    <a:pt x="156" y="28"/>
                  </a:lnTo>
                  <a:lnTo>
                    <a:pt x="159" y="28"/>
                  </a:lnTo>
                  <a:lnTo>
                    <a:pt x="154"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4" name="Freeform 103"/>
            <p:cNvSpPr>
              <a:spLocks/>
            </p:cNvSpPr>
            <p:nvPr/>
          </p:nvSpPr>
          <p:spPr bwMode="auto">
            <a:xfrm>
              <a:off x="2913" y="2243"/>
              <a:ext cx="287" cy="393"/>
            </a:xfrm>
            <a:custGeom>
              <a:avLst/>
              <a:gdLst/>
              <a:ahLst/>
              <a:cxnLst>
                <a:cxn ang="0">
                  <a:pos x="30" y="56"/>
                </a:cxn>
                <a:cxn ang="0">
                  <a:pos x="45" y="38"/>
                </a:cxn>
                <a:cxn ang="0">
                  <a:pos x="57" y="20"/>
                </a:cxn>
                <a:cxn ang="0">
                  <a:pos x="81" y="20"/>
                </a:cxn>
                <a:cxn ang="0">
                  <a:pos x="105" y="20"/>
                </a:cxn>
                <a:cxn ang="0">
                  <a:pos x="130" y="20"/>
                </a:cxn>
                <a:cxn ang="0">
                  <a:pos x="143" y="15"/>
                </a:cxn>
                <a:cxn ang="0">
                  <a:pos x="164" y="23"/>
                </a:cxn>
                <a:cxn ang="0">
                  <a:pos x="186" y="17"/>
                </a:cxn>
                <a:cxn ang="0">
                  <a:pos x="198" y="5"/>
                </a:cxn>
                <a:cxn ang="0">
                  <a:pos x="208" y="0"/>
                </a:cxn>
                <a:cxn ang="0">
                  <a:pos x="228" y="23"/>
                </a:cxn>
                <a:cxn ang="0">
                  <a:pos x="238" y="57"/>
                </a:cxn>
                <a:cxn ang="0">
                  <a:pos x="257" y="95"/>
                </a:cxn>
                <a:cxn ang="0">
                  <a:pos x="238" y="109"/>
                </a:cxn>
                <a:cxn ang="0">
                  <a:pos x="230" y="157"/>
                </a:cxn>
                <a:cxn ang="0">
                  <a:pos x="212" y="200"/>
                </a:cxn>
                <a:cxn ang="0">
                  <a:pos x="200" y="222"/>
                </a:cxn>
                <a:cxn ang="0">
                  <a:pos x="196" y="261"/>
                </a:cxn>
                <a:cxn ang="0">
                  <a:pos x="178" y="271"/>
                </a:cxn>
                <a:cxn ang="0">
                  <a:pos x="200" y="290"/>
                </a:cxn>
                <a:cxn ang="0">
                  <a:pos x="212" y="314"/>
                </a:cxn>
                <a:cxn ang="0">
                  <a:pos x="226" y="332"/>
                </a:cxn>
                <a:cxn ang="0">
                  <a:pos x="201" y="332"/>
                </a:cxn>
                <a:cxn ang="0">
                  <a:pos x="188" y="348"/>
                </a:cxn>
                <a:cxn ang="0">
                  <a:pos x="162" y="350"/>
                </a:cxn>
                <a:cxn ang="0">
                  <a:pos x="147" y="349"/>
                </a:cxn>
                <a:cxn ang="0">
                  <a:pos x="134" y="342"/>
                </a:cxn>
                <a:cxn ang="0">
                  <a:pos x="117" y="336"/>
                </a:cxn>
                <a:cxn ang="0">
                  <a:pos x="95" y="329"/>
                </a:cxn>
                <a:cxn ang="0">
                  <a:pos x="89" y="319"/>
                </a:cxn>
                <a:cxn ang="0">
                  <a:pos x="74" y="297"/>
                </a:cxn>
                <a:cxn ang="0">
                  <a:pos x="57" y="277"/>
                </a:cxn>
                <a:cxn ang="0">
                  <a:pos x="39" y="261"/>
                </a:cxn>
                <a:cxn ang="0">
                  <a:pos x="30" y="241"/>
                </a:cxn>
                <a:cxn ang="0">
                  <a:pos x="17" y="219"/>
                </a:cxn>
                <a:cxn ang="0">
                  <a:pos x="12" y="199"/>
                </a:cxn>
                <a:cxn ang="0">
                  <a:pos x="0" y="185"/>
                </a:cxn>
                <a:cxn ang="0">
                  <a:pos x="8" y="163"/>
                </a:cxn>
                <a:cxn ang="0">
                  <a:pos x="9" y="152"/>
                </a:cxn>
                <a:cxn ang="0">
                  <a:pos x="22" y="133"/>
                </a:cxn>
                <a:cxn ang="0">
                  <a:pos x="32" y="116"/>
                </a:cxn>
                <a:cxn ang="0">
                  <a:pos x="30" y="81"/>
                </a:cxn>
              </a:cxnLst>
              <a:rect l="0" t="0" r="r" b="b"/>
              <a:pathLst>
                <a:path w="257" h="353">
                  <a:moveTo>
                    <a:pt x="30" y="65"/>
                  </a:moveTo>
                  <a:lnTo>
                    <a:pt x="30" y="56"/>
                  </a:lnTo>
                  <a:lnTo>
                    <a:pt x="46" y="56"/>
                  </a:lnTo>
                  <a:lnTo>
                    <a:pt x="45" y="38"/>
                  </a:lnTo>
                  <a:lnTo>
                    <a:pt x="45" y="20"/>
                  </a:lnTo>
                  <a:lnTo>
                    <a:pt x="57" y="20"/>
                  </a:lnTo>
                  <a:lnTo>
                    <a:pt x="69" y="20"/>
                  </a:lnTo>
                  <a:lnTo>
                    <a:pt x="81" y="20"/>
                  </a:lnTo>
                  <a:lnTo>
                    <a:pt x="93" y="20"/>
                  </a:lnTo>
                  <a:lnTo>
                    <a:pt x="105" y="20"/>
                  </a:lnTo>
                  <a:lnTo>
                    <a:pt x="117" y="20"/>
                  </a:lnTo>
                  <a:lnTo>
                    <a:pt x="130" y="20"/>
                  </a:lnTo>
                  <a:lnTo>
                    <a:pt x="142" y="20"/>
                  </a:lnTo>
                  <a:lnTo>
                    <a:pt x="143" y="15"/>
                  </a:lnTo>
                  <a:lnTo>
                    <a:pt x="144" y="20"/>
                  </a:lnTo>
                  <a:lnTo>
                    <a:pt x="164" y="23"/>
                  </a:lnTo>
                  <a:lnTo>
                    <a:pt x="183" y="24"/>
                  </a:lnTo>
                  <a:lnTo>
                    <a:pt x="186" y="17"/>
                  </a:lnTo>
                  <a:lnTo>
                    <a:pt x="195" y="14"/>
                  </a:lnTo>
                  <a:lnTo>
                    <a:pt x="198" y="5"/>
                  </a:lnTo>
                  <a:lnTo>
                    <a:pt x="202" y="6"/>
                  </a:lnTo>
                  <a:lnTo>
                    <a:pt x="208" y="0"/>
                  </a:lnTo>
                  <a:lnTo>
                    <a:pt x="219" y="11"/>
                  </a:lnTo>
                  <a:lnTo>
                    <a:pt x="228" y="23"/>
                  </a:lnTo>
                  <a:lnTo>
                    <a:pt x="234" y="36"/>
                  </a:lnTo>
                  <a:lnTo>
                    <a:pt x="238" y="57"/>
                  </a:lnTo>
                  <a:lnTo>
                    <a:pt x="243" y="78"/>
                  </a:lnTo>
                  <a:lnTo>
                    <a:pt x="257" y="95"/>
                  </a:lnTo>
                  <a:lnTo>
                    <a:pt x="248" y="102"/>
                  </a:lnTo>
                  <a:lnTo>
                    <a:pt x="238" y="109"/>
                  </a:lnTo>
                  <a:lnTo>
                    <a:pt x="232" y="132"/>
                  </a:lnTo>
                  <a:lnTo>
                    <a:pt x="230" y="157"/>
                  </a:lnTo>
                  <a:lnTo>
                    <a:pt x="228" y="170"/>
                  </a:lnTo>
                  <a:lnTo>
                    <a:pt x="212" y="200"/>
                  </a:lnTo>
                  <a:lnTo>
                    <a:pt x="208" y="219"/>
                  </a:lnTo>
                  <a:lnTo>
                    <a:pt x="200" y="222"/>
                  </a:lnTo>
                  <a:lnTo>
                    <a:pt x="197" y="241"/>
                  </a:lnTo>
                  <a:lnTo>
                    <a:pt x="196" y="261"/>
                  </a:lnTo>
                  <a:lnTo>
                    <a:pt x="184" y="264"/>
                  </a:lnTo>
                  <a:lnTo>
                    <a:pt x="178" y="271"/>
                  </a:lnTo>
                  <a:lnTo>
                    <a:pt x="184" y="276"/>
                  </a:lnTo>
                  <a:lnTo>
                    <a:pt x="200" y="290"/>
                  </a:lnTo>
                  <a:lnTo>
                    <a:pt x="206" y="302"/>
                  </a:lnTo>
                  <a:lnTo>
                    <a:pt x="212" y="314"/>
                  </a:lnTo>
                  <a:lnTo>
                    <a:pt x="221" y="318"/>
                  </a:lnTo>
                  <a:lnTo>
                    <a:pt x="226" y="332"/>
                  </a:lnTo>
                  <a:lnTo>
                    <a:pt x="213" y="332"/>
                  </a:lnTo>
                  <a:lnTo>
                    <a:pt x="201" y="332"/>
                  </a:lnTo>
                  <a:lnTo>
                    <a:pt x="195" y="339"/>
                  </a:lnTo>
                  <a:lnTo>
                    <a:pt x="188" y="348"/>
                  </a:lnTo>
                  <a:lnTo>
                    <a:pt x="170" y="348"/>
                  </a:lnTo>
                  <a:lnTo>
                    <a:pt x="162" y="350"/>
                  </a:lnTo>
                  <a:lnTo>
                    <a:pt x="159" y="348"/>
                  </a:lnTo>
                  <a:lnTo>
                    <a:pt x="147" y="349"/>
                  </a:lnTo>
                  <a:lnTo>
                    <a:pt x="146" y="353"/>
                  </a:lnTo>
                  <a:lnTo>
                    <a:pt x="134" y="342"/>
                  </a:lnTo>
                  <a:lnTo>
                    <a:pt x="123" y="331"/>
                  </a:lnTo>
                  <a:lnTo>
                    <a:pt x="117" y="336"/>
                  </a:lnTo>
                  <a:lnTo>
                    <a:pt x="107" y="337"/>
                  </a:lnTo>
                  <a:lnTo>
                    <a:pt x="95" y="329"/>
                  </a:lnTo>
                  <a:lnTo>
                    <a:pt x="92" y="325"/>
                  </a:lnTo>
                  <a:lnTo>
                    <a:pt x="89" y="319"/>
                  </a:lnTo>
                  <a:lnTo>
                    <a:pt x="80" y="307"/>
                  </a:lnTo>
                  <a:lnTo>
                    <a:pt x="74" y="297"/>
                  </a:lnTo>
                  <a:lnTo>
                    <a:pt x="59" y="284"/>
                  </a:lnTo>
                  <a:lnTo>
                    <a:pt x="57" y="277"/>
                  </a:lnTo>
                  <a:lnTo>
                    <a:pt x="42" y="266"/>
                  </a:lnTo>
                  <a:lnTo>
                    <a:pt x="39" y="261"/>
                  </a:lnTo>
                  <a:lnTo>
                    <a:pt x="28" y="259"/>
                  </a:lnTo>
                  <a:lnTo>
                    <a:pt x="30" y="241"/>
                  </a:lnTo>
                  <a:lnTo>
                    <a:pt x="23" y="230"/>
                  </a:lnTo>
                  <a:lnTo>
                    <a:pt x="17" y="219"/>
                  </a:lnTo>
                  <a:lnTo>
                    <a:pt x="16" y="209"/>
                  </a:lnTo>
                  <a:lnTo>
                    <a:pt x="12" y="199"/>
                  </a:lnTo>
                  <a:lnTo>
                    <a:pt x="6" y="186"/>
                  </a:lnTo>
                  <a:lnTo>
                    <a:pt x="0" y="185"/>
                  </a:lnTo>
                  <a:lnTo>
                    <a:pt x="5" y="171"/>
                  </a:lnTo>
                  <a:lnTo>
                    <a:pt x="8" y="163"/>
                  </a:lnTo>
                  <a:lnTo>
                    <a:pt x="9" y="158"/>
                  </a:lnTo>
                  <a:lnTo>
                    <a:pt x="9" y="152"/>
                  </a:lnTo>
                  <a:lnTo>
                    <a:pt x="17" y="138"/>
                  </a:lnTo>
                  <a:lnTo>
                    <a:pt x="22" y="133"/>
                  </a:lnTo>
                  <a:lnTo>
                    <a:pt x="33" y="133"/>
                  </a:lnTo>
                  <a:lnTo>
                    <a:pt x="32" y="116"/>
                  </a:lnTo>
                  <a:lnTo>
                    <a:pt x="32" y="99"/>
                  </a:lnTo>
                  <a:lnTo>
                    <a:pt x="30" y="81"/>
                  </a:lnTo>
                  <a:lnTo>
                    <a:pt x="30" y="6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5" name="Freeform 104"/>
            <p:cNvSpPr>
              <a:spLocks/>
            </p:cNvSpPr>
            <p:nvPr/>
          </p:nvSpPr>
          <p:spPr bwMode="auto">
            <a:xfrm>
              <a:off x="3042" y="2752"/>
              <a:ext cx="31" cy="42"/>
            </a:xfrm>
            <a:custGeom>
              <a:avLst/>
              <a:gdLst/>
              <a:ahLst/>
              <a:cxnLst>
                <a:cxn ang="0">
                  <a:pos x="25" y="10"/>
                </a:cxn>
                <a:cxn ang="0">
                  <a:pos x="25" y="1"/>
                </a:cxn>
                <a:cxn ang="0">
                  <a:pos x="16" y="0"/>
                </a:cxn>
                <a:cxn ang="0">
                  <a:pos x="14" y="6"/>
                </a:cxn>
                <a:cxn ang="0">
                  <a:pos x="1" y="6"/>
                </a:cxn>
                <a:cxn ang="0">
                  <a:pos x="0" y="7"/>
                </a:cxn>
                <a:cxn ang="0">
                  <a:pos x="1" y="8"/>
                </a:cxn>
                <a:cxn ang="0">
                  <a:pos x="3" y="23"/>
                </a:cxn>
                <a:cxn ang="0">
                  <a:pos x="7" y="38"/>
                </a:cxn>
                <a:cxn ang="0">
                  <a:pos x="10" y="38"/>
                </a:cxn>
                <a:cxn ang="0">
                  <a:pos x="19" y="26"/>
                </a:cxn>
                <a:cxn ang="0">
                  <a:pos x="28" y="16"/>
                </a:cxn>
                <a:cxn ang="0">
                  <a:pos x="25" y="10"/>
                </a:cxn>
              </a:cxnLst>
              <a:rect l="0" t="0" r="r" b="b"/>
              <a:pathLst>
                <a:path w="28" h="38">
                  <a:moveTo>
                    <a:pt x="25" y="10"/>
                  </a:moveTo>
                  <a:lnTo>
                    <a:pt x="25" y="1"/>
                  </a:lnTo>
                  <a:lnTo>
                    <a:pt x="16" y="0"/>
                  </a:lnTo>
                  <a:lnTo>
                    <a:pt x="14" y="6"/>
                  </a:lnTo>
                  <a:lnTo>
                    <a:pt x="1" y="6"/>
                  </a:lnTo>
                  <a:lnTo>
                    <a:pt x="0" y="7"/>
                  </a:lnTo>
                  <a:lnTo>
                    <a:pt x="1" y="8"/>
                  </a:lnTo>
                  <a:lnTo>
                    <a:pt x="3" y="23"/>
                  </a:lnTo>
                  <a:lnTo>
                    <a:pt x="7" y="38"/>
                  </a:lnTo>
                  <a:lnTo>
                    <a:pt x="10" y="38"/>
                  </a:lnTo>
                  <a:lnTo>
                    <a:pt x="19" y="26"/>
                  </a:lnTo>
                  <a:lnTo>
                    <a:pt x="28" y="16"/>
                  </a:lnTo>
                  <a:lnTo>
                    <a:pt x="25"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6" name="Freeform 105"/>
            <p:cNvSpPr>
              <a:spLocks/>
            </p:cNvSpPr>
            <p:nvPr/>
          </p:nvSpPr>
          <p:spPr bwMode="auto">
            <a:xfrm>
              <a:off x="2729" y="2634"/>
              <a:ext cx="131" cy="171"/>
            </a:xfrm>
            <a:custGeom>
              <a:avLst/>
              <a:gdLst/>
              <a:ahLst/>
              <a:cxnLst>
                <a:cxn ang="0">
                  <a:pos x="20" y="108"/>
                </a:cxn>
                <a:cxn ang="0">
                  <a:pos x="6" y="109"/>
                </a:cxn>
                <a:cxn ang="0">
                  <a:pos x="7" y="115"/>
                </a:cxn>
                <a:cxn ang="0">
                  <a:pos x="8" y="120"/>
                </a:cxn>
                <a:cxn ang="0">
                  <a:pos x="12" y="127"/>
                </a:cxn>
                <a:cxn ang="0">
                  <a:pos x="8" y="131"/>
                </a:cxn>
                <a:cxn ang="0">
                  <a:pos x="4" y="129"/>
                </a:cxn>
                <a:cxn ang="0">
                  <a:pos x="0" y="136"/>
                </a:cxn>
                <a:cxn ang="0">
                  <a:pos x="13" y="155"/>
                </a:cxn>
                <a:cxn ang="0">
                  <a:pos x="24" y="145"/>
                </a:cxn>
                <a:cxn ang="0">
                  <a:pos x="30" y="148"/>
                </a:cxn>
                <a:cxn ang="0">
                  <a:pos x="38" y="151"/>
                </a:cxn>
                <a:cxn ang="0">
                  <a:pos x="42" y="145"/>
                </a:cxn>
                <a:cxn ang="0">
                  <a:pos x="51" y="144"/>
                </a:cxn>
                <a:cxn ang="0">
                  <a:pos x="54" y="153"/>
                </a:cxn>
                <a:cxn ang="0">
                  <a:pos x="66" y="141"/>
                </a:cxn>
                <a:cxn ang="0">
                  <a:pos x="78" y="129"/>
                </a:cxn>
                <a:cxn ang="0">
                  <a:pos x="80" y="115"/>
                </a:cxn>
                <a:cxn ang="0">
                  <a:pos x="81" y="101"/>
                </a:cxn>
                <a:cxn ang="0">
                  <a:pos x="93" y="87"/>
                </a:cxn>
                <a:cxn ang="0">
                  <a:pos x="104" y="72"/>
                </a:cxn>
                <a:cxn ang="0">
                  <a:pos x="106" y="59"/>
                </a:cxn>
                <a:cxn ang="0">
                  <a:pos x="109" y="45"/>
                </a:cxn>
                <a:cxn ang="0">
                  <a:pos x="111" y="31"/>
                </a:cxn>
                <a:cxn ang="0">
                  <a:pos x="114" y="18"/>
                </a:cxn>
                <a:cxn ang="0">
                  <a:pos x="117" y="3"/>
                </a:cxn>
                <a:cxn ang="0">
                  <a:pos x="105" y="1"/>
                </a:cxn>
                <a:cxn ang="0">
                  <a:pos x="93" y="0"/>
                </a:cxn>
                <a:cxn ang="0">
                  <a:pos x="85" y="6"/>
                </a:cxn>
                <a:cxn ang="0">
                  <a:pos x="79" y="25"/>
                </a:cxn>
                <a:cxn ang="0">
                  <a:pos x="76" y="34"/>
                </a:cxn>
                <a:cxn ang="0">
                  <a:pos x="62" y="30"/>
                </a:cxn>
                <a:cxn ang="0">
                  <a:pos x="49" y="27"/>
                </a:cxn>
                <a:cxn ang="0">
                  <a:pos x="33" y="27"/>
                </a:cxn>
                <a:cxn ang="0">
                  <a:pos x="32" y="43"/>
                </a:cxn>
                <a:cxn ang="0">
                  <a:pos x="49" y="42"/>
                </a:cxn>
                <a:cxn ang="0">
                  <a:pos x="50" y="54"/>
                </a:cxn>
                <a:cxn ang="0">
                  <a:pos x="43" y="64"/>
                </a:cxn>
                <a:cxn ang="0">
                  <a:pos x="52" y="79"/>
                </a:cxn>
                <a:cxn ang="0">
                  <a:pos x="48" y="105"/>
                </a:cxn>
                <a:cxn ang="0">
                  <a:pos x="43" y="109"/>
                </a:cxn>
                <a:cxn ang="0">
                  <a:pos x="40" y="105"/>
                </a:cxn>
                <a:cxn ang="0">
                  <a:pos x="31" y="108"/>
                </a:cxn>
                <a:cxn ang="0">
                  <a:pos x="21" y="97"/>
                </a:cxn>
                <a:cxn ang="0">
                  <a:pos x="20" y="108"/>
                </a:cxn>
              </a:cxnLst>
              <a:rect l="0" t="0" r="r" b="b"/>
              <a:pathLst>
                <a:path w="117" h="155">
                  <a:moveTo>
                    <a:pt x="20" y="108"/>
                  </a:moveTo>
                  <a:lnTo>
                    <a:pt x="6" y="109"/>
                  </a:lnTo>
                  <a:lnTo>
                    <a:pt x="7" y="115"/>
                  </a:lnTo>
                  <a:lnTo>
                    <a:pt x="8" y="120"/>
                  </a:lnTo>
                  <a:lnTo>
                    <a:pt x="12" y="127"/>
                  </a:lnTo>
                  <a:lnTo>
                    <a:pt x="8" y="131"/>
                  </a:lnTo>
                  <a:lnTo>
                    <a:pt x="4" y="129"/>
                  </a:lnTo>
                  <a:lnTo>
                    <a:pt x="0" y="136"/>
                  </a:lnTo>
                  <a:lnTo>
                    <a:pt x="13" y="155"/>
                  </a:lnTo>
                  <a:lnTo>
                    <a:pt x="24" y="145"/>
                  </a:lnTo>
                  <a:lnTo>
                    <a:pt x="30" y="148"/>
                  </a:lnTo>
                  <a:lnTo>
                    <a:pt x="38" y="151"/>
                  </a:lnTo>
                  <a:lnTo>
                    <a:pt x="42" y="145"/>
                  </a:lnTo>
                  <a:lnTo>
                    <a:pt x="51" y="144"/>
                  </a:lnTo>
                  <a:lnTo>
                    <a:pt x="54" y="153"/>
                  </a:lnTo>
                  <a:lnTo>
                    <a:pt x="66" y="141"/>
                  </a:lnTo>
                  <a:lnTo>
                    <a:pt x="78" y="129"/>
                  </a:lnTo>
                  <a:lnTo>
                    <a:pt x="80" y="115"/>
                  </a:lnTo>
                  <a:lnTo>
                    <a:pt x="81" y="101"/>
                  </a:lnTo>
                  <a:lnTo>
                    <a:pt x="93" y="87"/>
                  </a:lnTo>
                  <a:lnTo>
                    <a:pt x="104" y="72"/>
                  </a:lnTo>
                  <a:lnTo>
                    <a:pt x="106" y="59"/>
                  </a:lnTo>
                  <a:lnTo>
                    <a:pt x="109" y="45"/>
                  </a:lnTo>
                  <a:lnTo>
                    <a:pt x="111" y="31"/>
                  </a:lnTo>
                  <a:lnTo>
                    <a:pt x="114" y="18"/>
                  </a:lnTo>
                  <a:lnTo>
                    <a:pt x="117" y="3"/>
                  </a:lnTo>
                  <a:lnTo>
                    <a:pt x="105" y="1"/>
                  </a:lnTo>
                  <a:lnTo>
                    <a:pt x="93" y="0"/>
                  </a:lnTo>
                  <a:lnTo>
                    <a:pt x="85" y="6"/>
                  </a:lnTo>
                  <a:lnTo>
                    <a:pt x="79" y="25"/>
                  </a:lnTo>
                  <a:lnTo>
                    <a:pt x="76" y="34"/>
                  </a:lnTo>
                  <a:lnTo>
                    <a:pt x="62" y="30"/>
                  </a:lnTo>
                  <a:lnTo>
                    <a:pt x="49" y="27"/>
                  </a:lnTo>
                  <a:lnTo>
                    <a:pt x="33" y="27"/>
                  </a:lnTo>
                  <a:lnTo>
                    <a:pt x="32" y="43"/>
                  </a:lnTo>
                  <a:lnTo>
                    <a:pt x="49" y="42"/>
                  </a:lnTo>
                  <a:lnTo>
                    <a:pt x="50" y="54"/>
                  </a:lnTo>
                  <a:lnTo>
                    <a:pt x="43" y="64"/>
                  </a:lnTo>
                  <a:lnTo>
                    <a:pt x="52" y="79"/>
                  </a:lnTo>
                  <a:lnTo>
                    <a:pt x="48" y="105"/>
                  </a:lnTo>
                  <a:lnTo>
                    <a:pt x="43" y="109"/>
                  </a:lnTo>
                  <a:lnTo>
                    <a:pt x="40" y="105"/>
                  </a:lnTo>
                  <a:lnTo>
                    <a:pt x="31" y="108"/>
                  </a:lnTo>
                  <a:lnTo>
                    <a:pt x="21" y="97"/>
                  </a:lnTo>
                  <a:lnTo>
                    <a:pt x="20" y="1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7" name="Freeform 106"/>
            <p:cNvSpPr>
              <a:spLocks/>
            </p:cNvSpPr>
            <p:nvPr/>
          </p:nvSpPr>
          <p:spPr bwMode="auto">
            <a:xfrm>
              <a:off x="3129" y="2614"/>
              <a:ext cx="140" cy="185"/>
            </a:xfrm>
            <a:custGeom>
              <a:avLst/>
              <a:gdLst/>
              <a:ahLst/>
              <a:cxnLst>
                <a:cxn ang="0">
                  <a:pos x="58" y="137"/>
                </a:cxn>
                <a:cxn ang="0">
                  <a:pos x="44" y="127"/>
                </a:cxn>
                <a:cxn ang="0">
                  <a:pos x="30" y="119"/>
                </a:cxn>
                <a:cxn ang="0">
                  <a:pos x="15" y="109"/>
                </a:cxn>
                <a:cxn ang="0">
                  <a:pos x="0" y="101"/>
                </a:cxn>
                <a:cxn ang="0">
                  <a:pos x="0" y="82"/>
                </a:cxn>
                <a:cxn ang="0">
                  <a:pos x="10" y="64"/>
                </a:cxn>
                <a:cxn ang="0">
                  <a:pos x="18" y="49"/>
                </a:cxn>
                <a:cxn ang="0">
                  <a:pos x="13" y="35"/>
                </a:cxn>
                <a:cxn ang="0">
                  <a:pos x="8" y="22"/>
                </a:cxn>
                <a:cxn ang="0">
                  <a:pos x="1" y="7"/>
                </a:cxn>
                <a:cxn ang="0">
                  <a:pos x="7" y="0"/>
                </a:cxn>
                <a:cxn ang="0">
                  <a:pos x="19" y="0"/>
                </a:cxn>
                <a:cxn ang="0">
                  <a:pos x="32" y="0"/>
                </a:cxn>
                <a:cxn ang="0">
                  <a:pos x="45" y="3"/>
                </a:cxn>
                <a:cxn ang="0">
                  <a:pos x="64" y="16"/>
                </a:cxn>
                <a:cxn ang="0">
                  <a:pos x="86" y="21"/>
                </a:cxn>
                <a:cxn ang="0">
                  <a:pos x="94" y="13"/>
                </a:cxn>
                <a:cxn ang="0">
                  <a:pos x="110" y="9"/>
                </a:cxn>
                <a:cxn ang="0">
                  <a:pos x="127" y="12"/>
                </a:cxn>
                <a:cxn ang="0">
                  <a:pos x="120" y="22"/>
                </a:cxn>
                <a:cxn ang="0">
                  <a:pos x="112" y="33"/>
                </a:cxn>
                <a:cxn ang="0">
                  <a:pos x="112" y="48"/>
                </a:cxn>
                <a:cxn ang="0">
                  <a:pos x="112" y="65"/>
                </a:cxn>
                <a:cxn ang="0">
                  <a:pos x="112" y="82"/>
                </a:cxn>
                <a:cxn ang="0">
                  <a:pos x="112" y="99"/>
                </a:cxn>
                <a:cxn ang="0">
                  <a:pos x="121" y="113"/>
                </a:cxn>
                <a:cxn ang="0">
                  <a:pos x="112" y="118"/>
                </a:cxn>
                <a:cxn ang="0">
                  <a:pos x="106" y="129"/>
                </a:cxn>
                <a:cxn ang="0">
                  <a:pos x="99" y="136"/>
                </a:cxn>
                <a:cxn ang="0">
                  <a:pos x="92" y="150"/>
                </a:cxn>
                <a:cxn ang="0">
                  <a:pos x="85" y="166"/>
                </a:cxn>
                <a:cxn ang="0">
                  <a:pos x="84" y="167"/>
                </a:cxn>
                <a:cxn ang="0">
                  <a:pos x="72" y="155"/>
                </a:cxn>
                <a:cxn ang="0">
                  <a:pos x="60" y="143"/>
                </a:cxn>
                <a:cxn ang="0">
                  <a:pos x="58" y="137"/>
                </a:cxn>
              </a:cxnLst>
              <a:rect l="0" t="0" r="r" b="b"/>
              <a:pathLst>
                <a:path w="127" h="167">
                  <a:moveTo>
                    <a:pt x="58" y="137"/>
                  </a:moveTo>
                  <a:lnTo>
                    <a:pt x="44" y="127"/>
                  </a:lnTo>
                  <a:lnTo>
                    <a:pt x="30" y="119"/>
                  </a:lnTo>
                  <a:lnTo>
                    <a:pt x="15" y="109"/>
                  </a:lnTo>
                  <a:lnTo>
                    <a:pt x="0" y="101"/>
                  </a:lnTo>
                  <a:lnTo>
                    <a:pt x="0" y="82"/>
                  </a:lnTo>
                  <a:lnTo>
                    <a:pt x="10" y="64"/>
                  </a:lnTo>
                  <a:lnTo>
                    <a:pt x="18" y="49"/>
                  </a:lnTo>
                  <a:lnTo>
                    <a:pt x="13" y="35"/>
                  </a:lnTo>
                  <a:lnTo>
                    <a:pt x="8" y="22"/>
                  </a:lnTo>
                  <a:lnTo>
                    <a:pt x="1" y="7"/>
                  </a:lnTo>
                  <a:lnTo>
                    <a:pt x="7" y="0"/>
                  </a:lnTo>
                  <a:lnTo>
                    <a:pt x="19" y="0"/>
                  </a:lnTo>
                  <a:lnTo>
                    <a:pt x="32" y="0"/>
                  </a:lnTo>
                  <a:lnTo>
                    <a:pt x="45" y="3"/>
                  </a:lnTo>
                  <a:lnTo>
                    <a:pt x="64" y="16"/>
                  </a:lnTo>
                  <a:lnTo>
                    <a:pt x="86" y="21"/>
                  </a:lnTo>
                  <a:lnTo>
                    <a:pt x="94" y="13"/>
                  </a:lnTo>
                  <a:lnTo>
                    <a:pt x="110" y="9"/>
                  </a:lnTo>
                  <a:lnTo>
                    <a:pt x="127" y="12"/>
                  </a:lnTo>
                  <a:lnTo>
                    <a:pt x="120" y="22"/>
                  </a:lnTo>
                  <a:lnTo>
                    <a:pt x="112" y="33"/>
                  </a:lnTo>
                  <a:lnTo>
                    <a:pt x="112" y="48"/>
                  </a:lnTo>
                  <a:lnTo>
                    <a:pt x="112" y="65"/>
                  </a:lnTo>
                  <a:lnTo>
                    <a:pt x="112" y="82"/>
                  </a:lnTo>
                  <a:lnTo>
                    <a:pt x="112" y="99"/>
                  </a:lnTo>
                  <a:lnTo>
                    <a:pt x="121" y="113"/>
                  </a:lnTo>
                  <a:lnTo>
                    <a:pt x="112" y="118"/>
                  </a:lnTo>
                  <a:lnTo>
                    <a:pt x="106" y="129"/>
                  </a:lnTo>
                  <a:lnTo>
                    <a:pt x="99" y="136"/>
                  </a:lnTo>
                  <a:lnTo>
                    <a:pt x="92" y="150"/>
                  </a:lnTo>
                  <a:lnTo>
                    <a:pt x="85" y="166"/>
                  </a:lnTo>
                  <a:lnTo>
                    <a:pt x="84" y="167"/>
                  </a:lnTo>
                  <a:lnTo>
                    <a:pt x="72" y="155"/>
                  </a:lnTo>
                  <a:lnTo>
                    <a:pt x="60" y="143"/>
                  </a:lnTo>
                  <a:lnTo>
                    <a:pt x="58"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8" name="Freeform 107"/>
            <p:cNvSpPr>
              <a:spLocks/>
            </p:cNvSpPr>
            <p:nvPr/>
          </p:nvSpPr>
          <p:spPr bwMode="auto">
            <a:xfrm>
              <a:off x="5573" y="2643"/>
              <a:ext cx="2" cy="2"/>
            </a:xfrm>
            <a:custGeom>
              <a:avLst/>
              <a:gdLst/>
              <a:ahLst/>
              <a:cxnLst>
                <a:cxn ang="0">
                  <a:pos x="3" y="0"/>
                </a:cxn>
                <a:cxn ang="0">
                  <a:pos x="2" y="1"/>
                </a:cxn>
                <a:cxn ang="0">
                  <a:pos x="0" y="1"/>
                </a:cxn>
                <a:cxn ang="0">
                  <a:pos x="2" y="0"/>
                </a:cxn>
                <a:cxn ang="0">
                  <a:pos x="3" y="0"/>
                </a:cxn>
              </a:cxnLst>
              <a:rect l="0" t="0" r="r" b="b"/>
              <a:pathLst>
                <a:path w="3" h="1">
                  <a:moveTo>
                    <a:pt x="3" y="0"/>
                  </a:moveTo>
                  <a:lnTo>
                    <a:pt x="2" y="1"/>
                  </a:lnTo>
                  <a:lnTo>
                    <a:pt x="0" y="1"/>
                  </a:lnTo>
                  <a:lnTo>
                    <a:pt x="2" y="0"/>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9" name="Freeform 108"/>
            <p:cNvSpPr>
              <a:spLocks/>
            </p:cNvSpPr>
            <p:nvPr/>
          </p:nvSpPr>
          <p:spPr bwMode="auto">
            <a:xfrm>
              <a:off x="5577" y="2667"/>
              <a:ext cx="3" cy="3"/>
            </a:xfrm>
            <a:custGeom>
              <a:avLst/>
              <a:gdLst/>
              <a:ahLst/>
              <a:cxnLst>
                <a:cxn ang="0">
                  <a:pos x="2" y="4"/>
                </a:cxn>
                <a:cxn ang="0">
                  <a:pos x="1" y="4"/>
                </a:cxn>
                <a:cxn ang="0">
                  <a:pos x="2" y="4"/>
                </a:cxn>
                <a:cxn ang="0">
                  <a:pos x="2" y="3"/>
                </a:cxn>
                <a:cxn ang="0">
                  <a:pos x="0" y="0"/>
                </a:cxn>
                <a:cxn ang="0">
                  <a:pos x="1" y="0"/>
                </a:cxn>
                <a:cxn ang="0">
                  <a:pos x="2" y="3"/>
                </a:cxn>
                <a:cxn ang="0">
                  <a:pos x="2" y="4"/>
                </a:cxn>
              </a:cxnLst>
              <a:rect l="0" t="0" r="r" b="b"/>
              <a:pathLst>
                <a:path w="2" h="4">
                  <a:moveTo>
                    <a:pt x="2" y="4"/>
                  </a:moveTo>
                  <a:lnTo>
                    <a:pt x="1" y="4"/>
                  </a:lnTo>
                  <a:lnTo>
                    <a:pt x="2" y="4"/>
                  </a:lnTo>
                  <a:lnTo>
                    <a:pt x="2" y="3"/>
                  </a:lnTo>
                  <a:lnTo>
                    <a:pt x="0" y="0"/>
                  </a:lnTo>
                  <a:lnTo>
                    <a:pt x="1" y="0"/>
                  </a:lnTo>
                  <a:lnTo>
                    <a:pt x="2" y="3"/>
                  </a:lnTo>
                  <a:lnTo>
                    <a:pt x="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0" name="Freeform 109"/>
            <p:cNvSpPr>
              <a:spLocks/>
            </p:cNvSpPr>
            <p:nvPr/>
          </p:nvSpPr>
          <p:spPr bwMode="auto">
            <a:xfrm>
              <a:off x="5584" y="2667"/>
              <a:ext cx="2" cy="3"/>
            </a:xfrm>
            <a:custGeom>
              <a:avLst/>
              <a:gdLst/>
              <a:ahLst/>
              <a:cxnLst>
                <a:cxn ang="0">
                  <a:pos x="1" y="0"/>
                </a:cxn>
                <a:cxn ang="0">
                  <a:pos x="0" y="0"/>
                </a:cxn>
                <a:cxn ang="0">
                  <a:pos x="1" y="0"/>
                </a:cxn>
              </a:cxnLst>
              <a:rect l="0" t="0" r="r" b="b"/>
              <a:pathLst>
                <a:path w="1">
                  <a:moveTo>
                    <a:pt x="1" y="0"/>
                  </a:move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1" name="Freeform 110"/>
            <p:cNvSpPr>
              <a:spLocks/>
            </p:cNvSpPr>
            <p:nvPr/>
          </p:nvSpPr>
          <p:spPr bwMode="auto">
            <a:xfrm>
              <a:off x="5580" y="2674"/>
              <a:ext cx="2" cy="2"/>
            </a:xfrm>
            <a:custGeom>
              <a:avLst/>
              <a:gdLst/>
              <a:ahLst/>
              <a:cxnLst>
                <a:cxn ang="0">
                  <a:pos x="0" y="1"/>
                </a:cxn>
                <a:cxn ang="0">
                  <a:pos x="0" y="0"/>
                </a:cxn>
                <a:cxn ang="0">
                  <a:pos x="0" y="1"/>
                </a:cxn>
              </a:cxnLst>
              <a:rect l="0" t="0" r="r" b="b"/>
              <a:pathLst>
                <a:path h="1">
                  <a:moveTo>
                    <a:pt x="0" y="1"/>
                  </a:moveTo>
                  <a:lnTo>
                    <a:pt x="0" y="0"/>
                  </a:lnTo>
                  <a:lnTo>
                    <a:pt x="0"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2" name="Freeform 111"/>
            <p:cNvSpPr>
              <a:spLocks/>
            </p:cNvSpPr>
            <p:nvPr/>
          </p:nvSpPr>
          <p:spPr bwMode="auto">
            <a:xfrm>
              <a:off x="2580" y="2430"/>
              <a:ext cx="209" cy="189"/>
            </a:xfrm>
            <a:custGeom>
              <a:avLst/>
              <a:gdLst/>
              <a:ahLst/>
              <a:cxnLst>
                <a:cxn ang="0">
                  <a:pos x="124" y="121"/>
                </a:cxn>
                <a:cxn ang="0">
                  <a:pos x="112" y="125"/>
                </a:cxn>
                <a:cxn ang="0">
                  <a:pos x="105" y="135"/>
                </a:cxn>
                <a:cxn ang="0">
                  <a:pos x="99" y="146"/>
                </a:cxn>
                <a:cxn ang="0">
                  <a:pos x="94" y="161"/>
                </a:cxn>
                <a:cxn ang="0">
                  <a:pos x="88" y="159"/>
                </a:cxn>
                <a:cxn ang="0">
                  <a:pos x="89" y="165"/>
                </a:cxn>
                <a:cxn ang="0">
                  <a:pos x="73" y="165"/>
                </a:cxn>
                <a:cxn ang="0">
                  <a:pos x="71" y="164"/>
                </a:cxn>
                <a:cxn ang="0">
                  <a:pos x="69" y="164"/>
                </a:cxn>
                <a:cxn ang="0">
                  <a:pos x="66" y="167"/>
                </a:cxn>
                <a:cxn ang="0">
                  <a:pos x="64" y="162"/>
                </a:cxn>
                <a:cxn ang="0">
                  <a:pos x="64" y="169"/>
                </a:cxn>
                <a:cxn ang="0">
                  <a:pos x="64" y="165"/>
                </a:cxn>
                <a:cxn ang="0">
                  <a:pos x="61" y="167"/>
                </a:cxn>
                <a:cxn ang="0">
                  <a:pos x="57" y="167"/>
                </a:cxn>
                <a:cxn ang="0">
                  <a:pos x="49" y="168"/>
                </a:cxn>
                <a:cxn ang="0">
                  <a:pos x="43" y="151"/>
                </a:cxn>
                <a:cxn ang="0">
                  <a:pos x="45" y="150"/>
                </a:cxn>
                <a:cxn ang="0">
                  <a:pos x="41" y="146"/>
                </a:cxn>
                <a:cxn ang="0">
                  <a:pos x="42" y="146"/>
                </a:cxn>
                <a:cxn ang="0">
                  <a:pos x="39" y="143"/>
                </a:cxn>
                <a:cxn ang="0">
                  <a:pos x="22" y="132"/>
                </a:cxn>
                <a:cxn ang="0">
                  <a:pos x="13" y="131"/>
                </a:cxn>
                <a:cxn ang="0">
                  <a:pos x="16" y="128"/>
                </a:cxn>
                <a:cxn ang="0">
                  <a:pos x="0" y="133"/>
                </a:cxn>
                <a:cxn ang="0">
                  <a:pos x="1" y="108"/>
                </a:cxn>
                <a:cxn ang="0">
                  <a:pos x="3" y="84"/>
                </a:cxn>
                <a:cxn ang="0">
                  <a:pos x="15" y="63"/>
                </a:cxn>
                <a:cxn ang="0">
                  <a:pos x="16" y="48"/>
                </a:cxn>
                <a:cxn ang="0">
                  <a:pos x="13" y="38"/>
                </a:cxn>
                <a:cxn ang="0">
                  <a:pos x="13" y="37"/>
                </a:cxn>
                <a:cxn ang="0">
                  <a:pos x="15" y="30"/>
                </a:cxn>
                <a:cxn ang="0">
                  <a:pos x="19" y="18"/>
                </a:cxn>
                <a:cxn ang="0">
                  <a:pos x="23" y="5"/>
                </a:cxn>
                <a:cxn ang="0">
                  <a:pos x="37" y="0"/>
                </a:cxn>
                <a:cxn ang="0">
                  <a:pos x="53" y="1"/>
                </a:cxn>
                <a:cxn ang="0">
                  <a:pos x="64" y="12"/>
                </a:cxn>
                <a:cxn ang="0">
                  <a:pos x="81" y="7"/>
                </a:cxn>
                <a:cxn ang="0">
                  <a:pos x="93" y="12"/>
                </a:cxn>
                <a:cxn ang="0">
                  <a:pos x="103" y="17"/>
                </a:cxn>
                <a:cxn ang="0">
                  <a:pos x="121" y="8"/>
                </a:cxn>
                <a:cxn ang="0">
                  <a:pos x="138" y="9"/>
                </a:cxn>
                <a:cxn ang="0">
                  <a:pos x="154" y="11"/>
                </a:cxn>
                <a:cxn ang="0">
                  <a:pos x="172" y="1"/>
                </a:cxn>
                <a:cxn ang="0">
                  <a:pos x="179" y="12"/>
                </a:cxn>
                <a:cxn ang="0">
                  <a:pos x="181" y="25"/>
                </a:cxn>
                <a:cxn ang="0">
                  <a:pos x="189" y="32"/>
                </a:cxn>
                <a:cxn ang="0">
                  <a:pos x="184" y="42"/>
                </a:cxn>
                <a:cxn ang="0">
                  <a:pos x="173" y="53"/>
                </a:cxn>
                <a:cxn ang="0">
                  <a:pos x="167" y="65"/>
                </a:cxn>
                <a:cxn ang="0">
                  <a:pos x="162" y="78"/>
                </a:cxn>
                <a:cxn ang="0">
                  <a:pos x="156" y="92"/>
                </a:cxn>
                <a:cxn ang="0">
                  <a:pos x="150" y="102"/>
                </a:cxn>
                <a:cxn ang="0">
                  <a:pos x="144" y="117"/>
                </a:cxn>
                <a:cxn ang="0">
                  <a:pos x="135" y="132"/>
                </a:cxn>
                <a:cxn ang="0">
                  <a:pos x="124" y="121"/>
                </a:cxn>
              </a:cxnLst>
              <a:rect l="0" t="0" r="r" b="b"/>
              <a:pathLst>
                <a:path w="189" h="169">
                  <a:moveTo>
                    <a:pt x="124" y="121"/>
                  </a:moveTo>
                  <a:lnTo>
                    <a:pt x="112" y="125"/>
                  </a:lnTo>
                  <a:lnTo>
                    <a:pt x="105" y="135"/>
                  </a:lnTo>
                  <a:lnTo>
                    <a:pt x="99" y="146"/>
                  </a:lnTo>
                  <a:lnTo>
                    <a:pt x="94" y="161"/>
                  </a:lnTo>
                  <a:lnTo>
                    <a:pt x="88" y="159"/>
                  </a:lnTo>
                  <a:lnTo>
                    <a:pt x="89" y="165"/>
                  </a:lnTo>
                  <a:lnTo>
                    <a:pt x="73" y="165"/>
                  </a:lnTo>
                  <a:lnTo>
                    <a:pt x="71" y="164"/>
                  </a:lnTo>
                  <a:lnTo>
                    <a:pt x="69" y="164"/>
                  </a:lnTo>
                  <a:lnTo>
                    <a:pt x="66" y="167"/>
                  </a:lnTo>
                  <a:lnTo>
                    <a:pt x="64" y="162"/>
                  </a:lnTo>
                  <a:lnTo>
                    <a:pt x="64" y="169"/>
                  </a:lnTo>
                  <a:lnTo>
                    <a:pt x="64" y="165"/>
                  </a:lnTo>
                  <a:lnTo>
                    <a:pt x="61" y="167"/>
                  </a:lnTo>
                  <a:lnTo>
                    <a:pt x="57" y="167"/>
                  </a:lnTo>
                  <a:lnTo>
                    <a:pt x="49" y="168"/>
                  </a:lnTo>
                  <a:lnTo>
                    <a:pt x="43" y="151"/>
                  </a:lnTo>
                  <a:lnTo>
                    <a:pt x="45" y="150"/>
                  </a:lnTo>
                  <a:lnTo>
                    <a:pt x="41" y="146"/>
                  </a:lnTo>
                  <a:lnTo>
                    <a:pt x="42" y="146"/>
                  </a:lnTo>
                  <a:lnTo>
                    <a:pt x="39" y="143"/>
                  </a:lnTo>
                  <a:lnTo>
                    <a:pt x="22" y="132"/>
                  </a:lnTo>
                  <a:lnTo>
                    <a:pt x="13" y="131"/>
                  </a:lnTo>
                  <a:lnTo>
                    <a:pt x="16" y="128"/>
                  </a:lnTo>
                  <a:lnTo>
                    <a:pt x="0" y="133"/>
                  </a:lnTo>
                  <a:lnTo>
                    <a:pt x="1" y="108"/>
                  </a:lnTo>
                  <a:lnTo>
                    <a:pt x="3" y="84"/>
                  </a:lnTo>
                  <a:lnTo>
                    <a:pt x="15" y="63"/>
                  </a:lnTo>
                  <a:lnTo>
                    <a:pt x="16" y="48"/>
                  </a:lnTo>
                  <a:lnTo>
                    <a:pt x="13" y="38"/>
                  </a:lnTo>
                  <a:lnTo>
                    <a:pt x="13" y="37"/>
                  </a:lnTo>
                  <a:lnTo>
                    <a:pt x="15" y="30"/>
                  </a:lnTo>
                  <a:lnTo>
                    <a:pt x="19" y="18"/>
                  </a:lnTo>
                  <a:lnTo>
                    <a:pt x="23" y="5"/>
                  </a:lnTo>
                  <a:lnTo>
                    <a:pt x="37" y="0"/>
                  </a:lnTo>
                  <a:lnTo>
                    <a:pt x="53" y="1"/>
                  </a:lnTo>
                  <a:lnTo>
                    <a:pt x="64" y="12"/>
                  </a:lnTo>
                  <a:lnTo>
                    <a:pt x="81" y="7"/>
                  </a:lnTo>
                  <a:lnTo>
                    <a:pt x="93" y="12"/>
                  </a:lnTo>
                  <a:lnTo>
                    <a:pt x="103" y="17"/>
                  </a:lnTo>
                  <a:lnTo>
                    <a:pt x="121" y="8"/>
                  </a:lnTo>
                  <a:lnTo>
                    <a:pt x="138" y="9"/>
                  </a:lnTo>
                  <a:lnTo>
                    <a:pt x="154" y="11"/>
                  </a:lnTo>
                  <a:lnTo>
                    <a:pt x="172" y="1"/>
                  </a:lnTo>
                  <a:lnTo>
                    <a:pt x="179" y="12"/>
                  </a:lnTo>
                  <a:lnTo>
                    <a:pt x="181" y="25"/>
                  </a:lnTo>
                  <a:lnTo>
                    <a:pt x="189" y="32"/>
                  </a:lnTo>
                  <a:lnTo>
                    <a:pt x="184" y="42"/>
                  </a:lnTo>
                  <a:lnTo>
                    <a:pt x="173" y="53"/>
                  </a:lnTo>
                  <a:lnTo>
                    <a:pt x="167" y="65"/>
                  </a:lnTo>
                  <a:lnTo>
                    <a:pt x="162" y="78"/>
                  </a:lnTo>
                  <a:lnTo>
                    <a:pt x="156" y="92"/>
                  </a:lnTo>
                  <a:lnTo>
                    <a:pt x="150" y="102"/>
                  </a:lnTo>
                  <a:lnTo>
                    <a:pt x="144" y="117"/>
                  </a:lnTo>
                  <a:lnTo>
                    <a:pt x="135" y="132"/>
                  </a:lnTo>
                  <a:lnTo>
                    <a:pt x="124" y="1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3" name="Freeform 112"/>
            <p:cNvSpPr>
              <a:spLocks/>
            </p:cNvSpPr>
            <p:nvPr/>
          </p:nvSpPr>
          <p:spPr bwMode="auto">
            <a:xfrm>
              <a:off x="2547" y="2459"/>
              <a:ext cx="49" cy="122"/>
            </a:xfrm>
            <a:custGeom>
              <a:avLst/>
              <a:gdLst/>
              <a:ahLst/>
              <a:cxnLst>
                <a:cxn ang="0">
                  <a:pos x="3" y="24"/>
                </a:cxn>
                <a:cxn ang="0">
                  <a:pos x="1" y="24"/>
                </a:cxn>
                <a:cxn ang="0">
                  <a:pos x="0" y="32"/>
                </a:cxn>
                <a:cxn ang="0">
                  <a:pos x="9" y="42"/>
                </a:cxn>
                <a:cxn ang="0">
                  <a:pos x="11" y="56"/>
                </a:cxn>
                <a:cxn ang="0">
                  <a:pos x="11" y="70"/>
                </a:cxn>
                <a:cxn ang="0">
                  <a:pos x="12" y="84"/>
                </a:cxn>
                <a:cxn ang="0">
                  <a:pos x="12" y="97"/>
                </a:cxn>
                <a:cxn ang="0">
                  <a:pos x="13" y="110"/>
                </a:cxn>
                <a:cxn ang="0">
                  <a:pos x="30" y="108"/>
                </a:cxn>
                <a:cxn ang="0">
                  <a:pos x="31" y="83"/>
                </a:cxn>
                <a:cxn ang="0">
                  <a:pos x="33" y="59"/>
                </a:cxn>
                <a:cxn ang="0">
                  <a:pos x="45" y="38"/>
                </a:cxn>
                <a:cxn ang="0">
                  <a:pos x="46" y="23"/>
                </a:cxn>
                <a:cxn ang="0">
                  <a:pos x="43" y="13"/>
                </a:cxn>
                <a:cxn ang="0">
                  <a:pos x="43" y="12"/>
                </a:cxn>
                <a:cxn ang="0">
                  <a:pos x="30" y="0"/>
                </a:cxn>
                <a:cxn ang="0">
                  <a:pos x="25" y="6"/>
                </a:cxn>
                <a:cxn ang="0">
                  <a:pos x="25" y="8"/>
                </a:cxn>
                <a:cxn ang="0">
                  <a:pos x="24" y="11"/>
                </a:cxn>
                <a:cxn ang="0">
                  <a:pos x="12" y="18"/>
                </a:cxn>
                <a:cxn ang="0">
                  <a:pos x="3" y="24"/>
                </a:cxn>
              </a:cxnLst>
              <a:rect l="0" t="0" r="r" b="b"/>
              <a:pathLst>
                <a:path w="46" h="110">
                  <a:moveTo>
                    <a:pt x="3" y="24"/>
                  </a:moveTo>
                  <a:lnTo>
                    <a:pt x="1" y="24"/>
                  </a:lnTo>
                  <a:lnTo>
                    <a:pt x="0" y="32"/>
                  </a:lnTo>
                  <a:lnTo>
                    <a:pt x="9" y="42"/>
                  </a:lnTo>
                  <a:lnTo>
                    <a:pt x="11" y="56"/>
                  </a:lnTo>
                  <a:lnTo>
                    <a:pt x="11" y="70"/>
                  </a:lnTo>
                  <a:lnTo>
                    <a:pt x="12" y="84"/>
                  </a:lnTo>
                  <a:lnTo>
                    <a:pt x="12" y="97"/>
                  </a:lnTo>
                  <a:lnTo>
                    <a:pt x="13" y="110"/>
                  </a:lnTo>
                  <a:lnTo>
                    <a:pt x="30" y="108"/>
                  </a:lnTo>
                  <a:lnTo>
                    <a:pt x="31" y="83"/>
                  </a:lnTo>
                  <a:lnTo>
                    <a:pt x="33" y="59"/>
                  </a:lnTo>
                  <a:lnTo>
                    <a:pt x="45" y="38"/>
                  </a:lnTo>
                  <a:lnTo>
                    <a:pt x="46" y="23"/>
                  </a:lnTo>
                  <a:lnTo>
                    <a:pt x="43" y="13"/>
                  </a:lnTo>
                  <a:lnTo>
                    <a:pt x="43" y="12"/>
                  </a:lnTo>
                  <a:lnTo>
                    <a:pt x="30" y="0"/>
                  </a:lnTo>
                  <a:lnTo>
                    <a:pt x="25" y="6"/>
                  </a:lnTo>
                  <a:lnTo>
                    <a:pt x="25" y="8"/>
                  </a:lnTo>
                  <a:lnTo>
                    <a:pt x="24" y="11"/>
                  </a:lnTo>
                  <a:lnTo>
                    <a:pt x="12" y="18"/>
                  </a:lnTo>
                  <a:lnTo>
                    <a:pt x="3"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4" name="Freeform 113"/>
            <p:cNvSpPr>
              <a:spLocks/>
            </p:cNvSpPr>
            <p:nvPr/>
          </p:nvSpPr>
          <p:spPr bwMode="auto">
            <a:xfrm>
              <a:off x="2436" y="2403"/>
              <a:ext cx="137" cy="113"/>
            </a:xfrm>
            <a:custGeom>
              <a:avLst/>
              <a:gdLst/>
              <a:ahLst/>
              <a:cxnLst>
                <a:cxn ang="0">
                  <a:pos x="102" y="73"/>
                </a:cxn>
                <a:cxn ang="0">
                  <a:pos x="97" y="73"/>
                </a:cxn>
                <a:cxn ang="0">
                  <a:pos x="84" y="71"/>
                </a:cxn>
                <a:cxn ang="0">
                  <a:pos x="79" y="72"/>
                </a:cxn>
                <a:cxn ang="0">
                  <a:pos x="61" y="73"/>
                </a:cxn>
                <a:cxn ang="0">
                  <a:pos x="42" y="73"/>
                </a:cxn>
                <a:cxn ang="0">
                  <a:pos x="43" y="87"/>
                </a:cxn>
                <a:cxn ang="0">
                  <a:pos x="44" y="101"/>
                </a:cxn>
                <a:cxn ang="0">
                  <a:pos x="30" y="92"/>
                </a:cxn>
                <a:cxn ang="0">
                  <a:pos x="15" y="97"/>
                </a:cxn>
                <a:cxn ang="0">
                  <a:pos x="6" y="86"/>
                </a:cxn>
                <a:cxn ang="0">
                  <a:pos x="0" y="84"/>
                </a:cxn>
                <a:cxn ang="0">
                  <a:pos x="3" y="60"/>
                </a:cxn>
                <a:cxn ang="0">
                  <a:pos x="8" y="56"/>
                </a:cxn>
                <a:cxn ang="0">
                  <a:pos x="16" y="48"/>
                </a:cxn>
                <a:cxn ang="0">
                  <a:pos x="20" y="41"/>
                </a:cxn>
                <a:cxn ang="0">
                  <a:pos x="22" y="30"/>
                </a:cxn>
                <a:cxn ang="0">
                  <a:pos x="32" y="35"/>
                </a:cxn>
                <a:cxn ang="0">
                  <a:pos x="34" y="27"/>
                </a:cxn>
                <a:cxn ang="0">
                  <a:pos x="38" y="26"/>
                </a:cxn>
                <a:cxn ang="0">
                  <a:pos x="44" y="17"/>
                </a:cxn>
                <a:cxn ang="0">
                  <a:pos x="54" y="17"/>
                </a:cxn>
                <a:cxn ang="0">
                  <a:pos x="55" y="9"/>
                </a:cxn>
                <a:cxn ang="0">
                  <a:pos x="75" y="0"/>
                </a:cxn>
                <a:cxn ang="0">
                  <a:pos x="90" y="2"/>
                </a:cxn>
                <a:cxn ang="0">
                  <a:pos x="92" y="17"/>
                </a:cxn>
                <a:cxn ang="0">
                  <a:pos x="104" y="30"/>
                </a:cxn>
                <a:cxn ang="0">
                  <a:pos x="102" y="31"/>
                </a:cxn>
                <a:cxn ang="0">
                  <a:pos x="102" y="37"/>
                </a:cxn>
                <a:cxn ang="0">
                  <a:pos x="111" y="44"/>
                </a:cxn>
                <a:cxn ang="0">
                  <a:pos x="117" y="43"/>
                </a:cxn>
                <a:cxn ang="0">
                  <a:pos x="121" y="48"/>
                </a:cxn>
                <a:cxn ang="0">
                  <a:pos x="124" y="57"/>
                </a:cxn>
                <a:cxn ang="0">
                  <a:pos x="123" y="60"/>
                </a:cxn>
                <a:cxn ang="0">
                  <a:pos x="111" y="67"/>
                </a:cxn>
                <a:cxn ang="0">
                  <a:pos x="102" y="73"/>
                </a:cxn>
              </a:cxnLst>
              <a:rect l="0" t="0" r="r" b="b"/>
              <a:pathLst>
                <a:path w="124" h="101">
                  <a:moveTo>
                    <a:pt x="102" y="73"/>
                  </a:moveTo>
                  <a:lnTo>
                    <a:pt x="97" y="73"/>
                  </a:lnTo>
                  <a:lnTo>
                    <a:pt x="84" y="71"/>
                  </a:lnTo>
                  <a:lnTo>
                    <a:pt x="79" y="72"/>
                  </a:lnTo>
                  <a:lnTo>
                    <a:pt x="61" y="73"/>
                  </a:lnTo>
                  <a:lnTo>
                    <a:pt x="42" y="73"/>
                  </a:lnTo>
                  <a:lnTo>
                    <a:pt x="43" y="87"/>
                  </a:lnTo>
                  <a:lnTo>
                    <a:pt x="44" y="101"/>
                  </a:lnTo>
                  <a:lnTo>
                    <a:pt x="30" y="92"/>
                  </a:lnTo>
                  <a:lnTo>
                    <a:pt x="15" y="97"/>
                  </a:lnTo>
                  <a:lnTo>
                    <a:pt x="6" y="86"/>
                  </a:lnTo>
                  <a:lnTo>
                    <a:pt x="0" y="84"/>
                  </a:lnTo>
                  <a:lnTo>
                    <a:pt x="3" y="60"/>
                  </a:lnTo>
                  <a:lnTo>
                    <a:pt x="8" y="56"/>
                  </a:lnTo>
                  <a:lnTo>
                    <a:pt x="16" y="48"/>
                  </a:lnTo>
                  <a:lnTo>
                    <a:pt x="20" y="41"/>
                  </a:lnTo>
                  <a:lnTo>
                    <a:pt x="22" y="30"/>
                  </a:lnTo>
                  <a:lnTo>
                    <a:pt x="32" y="35"/>
                  </a:lnTo>
                  <a:lnTo>
                    <a:pt x="34" y="27"/>
                  </a:lnTo>
                  <a:lnTo>
                    <a:pt x="38" y="26"/>
                  </a:lnTo>
                  <a:lnTo>
                    <a:pt x="44" y="17"/>
                  </a:lnTo>
                  <a:lnTo>
                    <a:pt x="54" y="17"/>
                  </a:lnTo>
                  <a:lnTo>
                    <a:pt x="55" y="9"/>
                  </a:lnTo>
                  <a:lnTo>
                    <a:pt x="75" y="0"/>
                  </a:lnTo>
                  <a:lnTo>
                    <a:pt x="90" y="2"/>
                  </a:lnTo>
                  <a:lnTo>
                    <a:pt x="92" y="17"/>
                  </a:lnTo>
                  <a:lnTo>
                    <a:pt x="104" y="30"/>
                  </a:lnTo>
                  <a:lnTo>
                    <a:pt x="102" y="31"/>
                  </a:lnTo>
                  <a:lnTo>
                    <a:pt x="102" y="37"/>
                  </a:lnTo>
                  <a:lnTo>
                    <a:pt x="111" y="44"/>
                  </a:lnTo>
                  <a:lnTo>
                    <a:pt x="117" y="43"/>
                  </a:lnTo>
                  <a:lnTo>
                    <a:pt x="121" y="48"/>
                  </a:lnTo>
                  <a:lnTo>
                    <a:pt x="124" y="57"/>
                  </a:lnTo>
                  <a:lnTo>
                    <a:pt x="123" y="60"/>
                  </a:lnTo>
                  <a:lnTo>
                    <a:pt x="111" y="67"/>
                  </a:lnTo>
                  <a:lnTo>
                    <a:pt x="102"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5" name="Freeform 114"/>
            <p:cNvSpPr>
              <a:spLocks/>
            </p:cNvSpPr>
            <p:nvPr/>
          </p:nvSpPr>
          <p:spPr bwMode="auto">
            <a:xfrm>
              <a:off x="2682" y="2443"/>
              <a:ext cx="134" cy="227"/>
            </a:xfrm>
            <a:custGeom>
              <a:avLst/>
              <a:gdLst/>
              <a:ahLst/>
              <a:cxnLst>
                <a:cxn ang="0">
                  <a:pos x="112" y="56"/>
                </a:cxn>
                <a:cxn ang="0">
                  <a:pos x="93" y="56"/>
                </a:cxn>
                <a:cxn ang="0">
                  <a:pos x="86" y="60"/>
                </a:cxn>
                <a:cxn ang="0">
                  <a:pos x="99" y="77"/>
                </a:cxn>
                <a:cxn ang="0">
                  <a:pos x="109" y="99"/>
                </a:cxn>
                <a:cxn ang="0">
                  <a:pos x="102" y="114"/>
                </a:cxn>
                <a:cxn ang="0">
                  <a:pos x="93" y="128"/>
                </a:cxn>
                <a:cxn ang="0">
                  <a:pos x="99" y="153"/>
                </a:cxn>
                <a:cxn ang="0">
                  <a:pos x="108" y="167"/>
                </a:cxn>
                <a:cxn ang="0">
                  <a:pos x="116" y="179"/>
                </a:cxn>
                <a:cxn ang="0">
                  <a:pos x="121" y="195"/>
                </a:cxn>
                <a:cxn ang="0">
                  <a:pos x="118" y="204"/>
                </a:cxn>
                <a:cxn ang="0">
                  <a:pos x="104" y="200"/>
                </a:cxn>
                <a:cxn ang="0">
                  <a:pos x="91" y="197"/>
                </a:cxn>
                <a:cxn ang="0">
                  <a:pos x="75" y="197"/>
                </a:cxn>
                <a:cxn ang="0">
                  <a:pos x="60" y="197"/>
                </a:cxn>
                <a:cxn ang="0">
                  <a:pos x="44" y="197"/>
                </a:cxn>
                <a:cxn ang="0">
                  <a:pos x="32" y="194"/>
                </a:cxn>
                <a:cxn ang="0">
                  <a:pos x="20" y="193"/>
                </a:cxn>
                <a:cxn ang="0">
                  <a:pos x="20" y="174"/>
                </a:cxn>
                <a:cxn ang="0">
                  <a:pos x="18" y="165"/>
                </a:cxn>
                <a:cxn ang="0">
                  <a:pos x="16" y="163"/>
                </a:cxn>
                <a:cxn ang="0">
                  <a:pos x="7" y="162"/>
                </a:cxn>
                <a:cxn ang="0">
                  <a:pos x="2" y="151"/>
                </a:cxn>
                <a:cxn ang="0">
                  <a:pos x="0" y="152"/>
                </a:cxn>
                <a:cxn ang="0">
                  <a:pos x="1" y="149"/>
                </a:cxn>
                <a:cxn ang="0">
                  <a:pos x="6" y="134"/>
                </a:cxn>
                <a:cxn ang="0">
                  <a:pos x="12" y="123"/>
                </a:cxn>
                <a:cxn ang="0">
                  <a:pos x="19" y="113"/>
                </a:cxn>
                <a:cxn ang="0">
                  <a:pos x="31" y="109"/>
                </a:cxn>
                <a:cxn ang="0">
                  <a:pos x="42" y="120"/>
                </a:cxn>
                <a:cxn ang="0">
                  <a:pos x="51" y="105"/>
                </a:cxn>
                <a:cxn ang="0">
                  <a:pos x="57" y="90"/>
                </a:cxn>
                <a:cxn ang="0">
                  <a:pos x="63" y="80"/>
                </a:cxn>
                <a:cxn ang="0">
                  <a:pos x="69" y="66"/>
                </a:cxn>
                <a:cxn ang="0">
                  <a:pos x="74" y="53"/>
                </a:cxn>
                <a:cxn ang="0">
                  <a:pos x="80" y="41"/>
                </a:cxn>
                <a:cxn ang="0">
                  <a:pos x="91" y="30"/>
                </a:cxn>
                <a:cxn ang="0">
                  <a:pos x="96" y="20"/>
                </a:cxn>
                <a:cxn ang="0">
                  <a:pos x="88" y="13"/>
                </a:cxn>
                <a:cxn ang="0">
                  <a:pos x="86" y="0"/>
                </a:cxn>
                <a:cxn ang="0">
                  <a:pos x="92" y="0"/>
                </a:cxn>
                <a:cxn ang="0">
                  <a:pos x="99" y="18"/>
                </a:cxn>
                <a:cxn ang="0">
                  <a:pos x="102" y="38"/>
                </a:cxn>
                <a:cxn ang="0">
                  <a:pos x="112" y="56"/>
                </a:cxn>
              </a:cxnLst>
              <a:rect l="0" t="0" r="r" b="b"/>
              <a:pathLst>
                <a:path w="121" h="204">
                  <a:moveTo>
                    <a:pt x="112" y="56"/>
                  </a:moveTo>
                  <a:lnTo>
                    <a:pt x="93" y="56"/>
                  </a:lnTo>
                  <a:lnTo>
                    <a:pt x="86" y="60"/>
                  </a:lnTo>
                  <a:lnTo>
                    <a:pt x="99" y="77"/>
                  </a:lnTo>
                  <a:lnTo>
                    <a:pt x="109" y="99"/>
                  </a:lnTo>
                  <a:lnTo>
                    <a:pt x="102" y="114"/>
                  </a:lnTo>
                  <a:lnTo>
                    <a:pt x="93" y="128"/>
                  </a:lnTo>
                  <a:lnTo>
                    <a:pt x="99" y="153"/>
                  </a:lnTo>
                  <a:lnTo>
                    <a:pt x="108" y="167"/>
                  </a:lnTo>
                  <a:lnTo>
                    <a:pt x="116" y="179"/>
                  </a:lnTo>
                  <a:lnTo>
                    <a:pt x="121" y="195"/>
                  </a:lnTo>
                  <a:lnTo>
                    <a:pt x="118" y="204"/>
                  </a:lnTo>
                  <a:lnTo>
                    <a:pt x="104" y="200"/>
                  </a:lnTo>
                  <a:lnTo>
                    <a:pt x="91" y="197"/>
                  </a:lnTo>
                  <a:lnTo>
                    <a:pt x="75" y="197"/>
                  </a:lnTo>
                  <a:lnTo>
                    <a:pt x="60" y="197"/>
                  </a:lnTo>
                  <a:lnTo>
                    <a:pt x="44" y="197"/>
                  </a:lnTo>
                  <a:lnTo>
                    <a:pt x="32" y="194"/>
                  </a:lnTo>
                  <a:lnTo>
                    <a:pt x="20" y="193"/>
                  </a:lnTo>
                  <a:lnTo>
                    <a:pt x="20" y="174"/>
                  </a:lnTo>
                  <a:lnTo>
                    <a:pt x="18" y="165"/>
                  </a:lnTo>
                  <a:lnTo>
                    <a:pt x="16" y="163"/>
                  </a:lnTo>
                  <a:lnTo>
                    <a:pt x="7" y="162"/>
                  </a:lnTo>
                  <a:lnTo>
                    <a:pt x="2" y="151"/>
                  </a:lnTo>
                  <a:lnTo>
                    <a:pt x="0" y="152"/>
                  </a:lnTo>
                  <a:lnTo>
                    <a:pt x="1" y="149"/>
                  </a:lnTo>
                  <a:lnTo>
                    <a:pt x="6" y="134"/>
                  </a:lnTo>
                  <a:lnTo>
                    <a:pt x="12" y="123"/>
                  </a:lnTo>
                  <a:lnTo>
                    <a:pt x="19" y="113"/>
                  </a:lnTo>
                  <a:lnTo>
                    <a:pt x="31" y="109"/>
                  </a:lnTo>
                  <a:lnTo>
                    <a:pt x="42" y="120"/>
                  </a:lnTo>
                  <a:lnTo>
                    <a:pt x="51" y="105"/>
                  </a:lnTo>
                  <a:lnTo>
                    <a:pt x="57" y="90"/>
                  </a:lnTo>
                  <a:lnTo>
                    <a:pt x="63" y="80"/>
                  </a:lnTo>
                  <a:lnTo>
                    <a:pt x="69" y="66"/>
                  </a:lnTo>
                  <a:lnTo>
                    <a:pt x="74" y="53"/>
                  </a:lnTo>
                  <a:lnTo>
                    <a:pt x="80" y="41"/>
                  </a:lnTo>
                  <a:lnTo>
                    <a:pt x="91" y="30"/>
                  </a:lnTo>
                  <a:lnTo>
                    <a:pt x="96" y="20"/>
                  </a:lnTo>
                  <a:lnTo>
                    <a:pt x="88" y="13"/>
                  </a:lnTo>
                  <a:lnTo>
                    <a:pt x="86" y="0"/>
                  </a:lnTo>
                  <a:lnTo>
                    <a:pt x="92" y="0"/>
                  </a:lnTo>
                  <a:lnTo>
                    <a:pt x="99" y="18"/>
                  </a:lnTo>
                  <a:lnTo>
                    <a:pt x="102" y="38"/>
                  </a:lnTo>
                  <a:lnTo>
                    <a:pt x="112"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6" name="Freeform 115"/>
            <p:cNvSpPr>
              <a:spLocks/>
            </p:cNvSpPr>
            <p:nvPr/>
          </p:nvSpPr>
          <p:spPr bwMode="auto">
            <a:xfrm>
              <a:off x="2787" y="2487"/>
              <a:ext cx="229" cy="174"/>
            </a:xfrm>
            <a:custGeom>
              <a:avLst/>
              <a:gdLst/>
              <a:ahLst/>
              <a:cxnLst>
                <a:cxn ang="0">
                  <a:pos x="72" y="42"/>
                </a:cxn>
                <a:cxn ang="0">
                  <a:pos x="70" y="38"/>
                </a:cxn>
                <a:cxn ang="0">
                  <a:pos x="93" y="33"/>
                </a:cxn>
                <a:cxn ang="0">
                  <a:pos x="105" y="18"/>
                </a:cxn>
                <a:cxn ang="0">
                  <a:pos x="117" y="4"/>
                </a:cxn>
                <a:cxn ang="0">
                  <a:pos x="132" y="0"/>
                </a:cxn>
                <a:cxn ang="0">
                  <a:pos x="138" y="11"/>
                </a:cxn>
                <a:cxn ang="0">
                  <a:pos x="145" y="22"/>
                </a:cxn>
                <a:cxn ang="0">
                  <a:pos x="143" y="40"/>
                </a:cxn>
                <a:cxn ang="0">
                  <a:pos x="154" y="42"/>
                </a:cxn>
                <a:cxn ang="0">
                  <a:pos x="157" y="47"/>
                </a:cxn>
                <a:cxn ang="0">
                  <a:pos x="172" y="58"/>
                </a:cxn>
                <a:cxn ang="0">
                  <a:pos x="174" y="65"/>
                </a:cxn>
                <a:cxn ang="0">
                  <a:pos x="189" y="78"/>
                </a:cxn>
                <a:cxn ang="0">
                  <a:pos x="195" y="88"/>
                </a:cxn>
                <a:cxn ang="0">
                  <a:pos x="204" y="100"/>
                </a:cxn>
                <a:cxn ang="0">
                  <a:pos x="207" y="106"/>
                </a:cxn>
                <a:cxn ang="0">
                  <a:pos x="198" y="104"/>
                </a:cxn>
                <a:cxn ang="0">
                  <a:pos x="185" y="102"/>
                </a:cxn>
                <a:cxn ang="0">
                  <a:pos x="173" y="101"/>
                </a:cxn>
                <a:cxn ang="0">
                  <a:pos x="167" y="106"/>
                </a:cxn>
                <a:cxn ang="0">
                  <a:pos x="155" y="106"/>
                </a:cxn>
                <a:cxn ang="0">
                  <a:pos x="139" y="112"/>
                </a:cxn>
                <a:cxn ang="0">
                  <a:pos x="132" y="111"/>
                </a:cxn>
                <a:cxn ang="0">
                  <a:pos x="125" y="122"/>
                </a:cxn>
                <a:cxn ang="0">
                  <a:pos x="111" y="118"/>
                </a:cxn>
                <a:cxn ang="0">
                  <a:pos x="95" y="113"/>
                </a:cxn>
                <a:cxn ang="0">
                  <a:pos x="78" y="104"/>
                </a:cxn>
                <a:cxn ang="0">
                  <a:pos x="66" y="120"/>
                </a:cxn>
                <a:cxn ang="0">
                  <a:pos x="66" y="134"/>
                </a:cxn>
                <a:cxn ang="0">
                  <a:pos x="54" y="132"/>
                </a:cxn>
                <a:cxn ang="0">
                  <a:pos x="42" y="131"/>
                </a:cxn>
                <a:cxn ang="0">
                  <a:pos x="34" y="137"/>
                </a:cxn>
                <a:cxn ang="0">
                  <a:pos x="28" y="156"/>
                </a:cxn>
                <a:cxn ang="0">
                  <a:pos x="23" y="140"/>
                </a:cxn>
                <a:cxn ang="0">
                  <a:pos x="15" y="128"/>
                </a:cxn>
                <a:cxn ang="0">
                  <a:pos x="6" y="114"/>
                </a:cxn>
                <a:cxn ang="0">
                  <a:pos x="0" y="89"/>
                </a:cxn>
                <a:cxn ang="0">
                  <a:pos x="9" y="75"/>
                </a:cxn>
                <a:cxn ang="0">
                  <a:pos x="16" y="60"/>
                </a:cxn>
                <a:cxn ang="0">
                  <a:pos x="31" y="56"/>
                </a:cxn>
                <a:cxn ang="0">
                  <a:pos x="34" y="58"/>
                </a:cxn>
                <a:cxn ang="0">
                  <a:pos x="43" y="57"/>
                </a:cxn>
                <a:cxn ang="0">
                  <a:pos x="65" y="52"/>
                </a:cxn>
                <a:cxn ang="0">
                  <a:pos x="72" y="42"/>
                </a:cxn>
              </a:cxnLst>
              <a:rect l="0" t="0" r="r" b="b"/>
              <a:pathLst>
                <a:path w="207" h="156">
                  <a:moveTo>
                    <a:pt x="72" y="42"/>
                  </a:moveTo>
                  <a:lnTo>
                    <a:pt x="70" y="38"/>
                  </a:lnTo>
                  <a:lnTo>
                    <a:pt x="93" y="33"/>
                  </a:lnTo>
                  <a:lnTo>
                    <a:pt x="105" y="18"/>
                  </a:lnTo>
                  <a:lnTo>
                    <a:pt x="117" y="4"/>
                  </a:lnTo>
                  <a:lnTo>
                    <a:pt x="132" y="0"/>
                  </a:lnTo>
                  <a:lnTo>
                    <a:pt x="138" y="11"/>
                  </a:lnTo>
                  <a:lnTo>
                    <a:pt x="145" y="22"/>
                  </a:lnTo>
                  <a:lnTo>
                    <a:pt x="143" y="40"/>
                  </a:lnTo>
                  <a:lnTo>
                    <a:pt x="154" y="42"/>
                  </a:lnTo>
                  <a:lnTo>
                    <a:pt x="157" y="47"/>
                  </a:lnTo>
                  <a:lnTo>
                    <a:pt x="172" y="58"/>
                  </a:lnTo>
                  <a:lnTo>
                    <a:pt x="174" y="65"/>
                  </a:lnTo>
                  <a:lnTo>
                    <a:pt x="189" y="78"/>
                  </a:lnTo>
                  <a:lnTo>
                    <a:pt x="195" y="88"/>
                  </a:lnTo>
                  <a:lnTo>
                    <a:pt x="204" y="100"/>
                  </a:lnTo>
                  <a:lnTo>
                    <a:pt x="207" y="106"/>
                  </a:lnTo>
                  <a:lnTo>
                    <a:pt x="198" y="104"/>
                  </a:lnTo>
                  <a:lnTo>
                    <a:pt x="185" y="102"/>
                  </a:lnTo>
                  <a:lnTo>
                    <a:pt x="173" y="101"/>
                  </a:lnTo>
                  <a:lnTo>
                    <a:pt x="167" y="106"/>
                  </a:lnTo>
                  <a:lnTo>
                    <a:pt x="155" y="106"/>
                  </a:lnTo>
                  <a:lnTo>
                    <a:pt x="139" y="112"/>
                  </a:lnTo>
                  <a:lnTo>
                    <a:pt x="132" y="111"/>
                  </a:lnTo>
                  <a:lnTo>
                    <a:pt x="125" y="122"/>
                  </a:lnTo>
                  <a:lnTo>
                    <a:pt x="111" y="118"/>
                  </a:lnTo>
                  <a:lnTo>
                    <a:pt x="95" y="113"/>
                  </a:lnTo>
                  <a:lnTo>
                    <a:pt x="78" y="104"/>
                  </a:lnTo>
                  <a:lnTo>
                    <a:pt x="66" y="120"/>
                  </a:lnTo>
                  <a:lnTo>
                    <a:pt x="66" y="134"/>
                  </a:lnTo>
                  <a:lnTo>
                    <a:pt x="54" y="132"/>
                  </a:lnTo>
                  <a:lnTo>
                    <a:pt x="42" y="131"/>
                  </a:lnTo>
                  <a:lnTo>
                    <a:pt x="34" y="137"/>
                  </a:lnTo>
                  <a:lnTo>
                    <a:pt x="28" y="156"/>
                  </a:lnTo>
                  <a:lnTo>
                    <a:pt x="23" y="140"/>
                  </a:lnTo>
                  <a:lnTo>
                    <a:pt x="15" y="128"/>
                  </a:lnTo>
                  <a:lnTo>
                    <a:pt x="6" y="114"/>
                  </a:lnTo>
                  <a:lnTo>
                    <a:pt x="0" y="89"/>
                  </a:lnTo>
                  <a:lnTo>
                    <a:pt x="9" y="75"/>
                  </a:lnTo>
                  <a:lnTo>
                    <a:pt x="16" y="60"/>
                  </a:lnTo>
                  <a:lnTo>
                    <a:pt x="31" y="56"/>
                  </a:lnTo>
                  <a:lnTo>
                    <a:pt x="34" y="58"/>
                  </a:lnTo>
                  <a:lnTo>
                    <a:pt x="43" y="57"/>
                  </a:lnTo>
                  <a:lnTo>
                    <a:pt x="65" y="52"/>
                  </a:lnTo>
                  <a:lnTo>
                    <a:pt x="72"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7" name="Freeform 116"/>
            <p:cNvSpPr>
              <a:spLocks/>
            </p:cNvSpPr>
            <p:nvPr/>
          </p:nvSpPr>
          <p:spPr bwMode="auto">
            <a:xfrm>
              <a:off x="2238" y="2430"/>
              <a:ext cx="51" cy="13"/>
            </a:xfrm>
            <a:custGeom>
              <a:avLst/>
              <a:gdLst/>
              <a:ahLst/>
              <a:cxnLst>
                <a:cxn ang="0">
                  <a:pos x="2" y="5"/>
                </a:cxn>
                <a:cxn ang="0">
                  <a:pos x="0" y="12"/>
                </a:cxn>
                <a:cxn ang="0">
                  <a:pos x="13" y="8"/>
                </a:cxn>
                <a:cxn ang="0">
                  <a:pos x="25" y="3"/>
                </a:cxn>
                <a:cxn ang="0">
                  <a:pos x="46" y="8"/>
                </a:cxn>
                <a:cxn ang="0">
                  <a:pos x="42" y="3"/>
                </a:cxn>
                <a:cxn ang="0">
                  <a:pos x="23" y="0"/>
                </a:cxn>
                <a:cxn ang="0">
                  <a:pos x="20" y="3"/>
                </a:cxn>
                <a:cxn ang="0">
                  <a:pos x="4" y="3"/>
                </a:cxn>
                <a:cxn ang="0">
                  <a:pos x="4" y="5"/>
                </a:cxn>
                <a:cxn ang="0">
                  <a:pos x="18" y="5"/>
                </a:cxn>
                <a:cxn ang="0">
                  <a:pos x="10" y="8"/>
                </a:cxn>
                <a:cxn ang="0">
                  <a:pos x="2" y="5"/>
                </a:cxn>
              </a:cxnLst>
              <a:rect l="0" t="0" r="r" b="b"/>
              <a:pathLst>
                <a:path w="46" h="12">
                  <a:moveTo>
                    <a:pt x="2" y="5"/>
                  </a:moveTo>
                  <a:lnTo>
                    <a:pt x="0" y="12"/>
                  </a:lnTo>
                  <a:lnTo>
                    <a:pt x="13" y="8"/>
                  </a:lnTo>
                  <a:lnTo>
                    <a:pt x="25" y="3"/>
                  </a:lnTo>
                  <a:lnTo>
                    <a:pt x="46" y="8"/>
                  </a:lnTo>
                  <a:lnTo>
                    <a:pt x="42" y="3"/>
                  </a:lnTo>
                  <a:lnTo>
                    <a:pt x="23" y="0"/>
                  </a:lnTo>
                  <a:lnTo>
                    <a:pt x="20" y="3"/>
                  </a:lnTo>
                  <a:lnTo>
                    <a:pt x="4" y="3"/>
                  </a:lnTo>
                  <a:lnTo>
                    <a:pt x="4" y="5"/>
                  </a:lnTo>
                  <a:lnTo>
                    <a:pt x="18" y="5"/>
                  </a:lnTo>
                  <a:lnTo>
                    <a:pt x="10" y="8"/>
                  </a:lnTo>
                  <a:lnTo>
                    <a:pt x="2"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8" name="Freeform 117"/>
            <p:cNvSpPr>
              <a:spLocks/>
            </p:cNvSpPr>
            <p:nvPr/>
          </p:nvSpPr>
          <p:spPr bwMode="auto">
            <a:xfrm>
              <a:off x="2476" y="2483"/>
              <a:ext cx="77" cy="127"/>
            </a:xfrm>
            <a:custGeom>
              <a:avLst/>
              <a:gdLst/>
              <a:ahLst/>
              <a:cxnLst>
                <a:cxn ang="0">
                  <a:pos x="61" y="97"/>
                </a:cxn>
                <a:cxn ang="0">
                  <a:pos x="50" y="100"/>
                </a:cxn>
                <a:cxn ang="0">
                  <a:pos x="38" y="105"/>
                </a:cxn>
                <a:cxn ang="0">
                  <a:pos x="27" y="110"/>
                </a:cxn>
                <a:cxn ang="0">
                  <a:pos x="16" y="114"/>
                </a:cxn>
                <a:cxn ang="0">
                  <a:pos x="1" y="109"/>
                </a:cxn>
                <a:cxn ang="0">
                  <a:pos x="6" y="105"/>
                </a:cxn>
                <a:cxn ang="0">
                  <a:pos x="3" y="91"/>
                </a:cxn>
                <a:cxn ang="0">
                  <a:pos x="0" y="78"/>
                </a:cxn>
                <a:cxn ang="0">
                  <a:pos x="6" y="66"/>
                </a:cxn>
                <a:cxn ang="0">
                  <a:pos x="10" y="52"/>
                </a:cxn>
                <a:cxn ang="0">
                  <a:pos x="8" y="30"/>
                </a:cxn>
                <a:cxn ang="0">
                  <a:pos x="7" y="16"/>
                </a:cxn>
                <a:cxn ang="0">
                  <a:pos x="6" y="2"/>
                </a:cxn>
                <a:cxn ang="0">
                  <a:pos x="25" y="2"/>
                </a:cxn>
                <a:cxn ang="0">
                  <a:pos x="43" y="1"/>
                </a:cxn>
                <a:cxn ang="0">
                  <a:pos x="48" y="0"/>
                </a:cxn>
                <a:cxn ang="0">
                  <a:pos x="50" y="6"/>
                </a:cxn>
                <a:cxn ang="0">
                  <a:pos x="56" y="21"/>
                </a:cxn>
                <a:cxn ang="0">
                  <a:pos x="56" y="30"/>
                </a:cxn>
                <a:cxn ang="0">
                  <a:pos x="57" y="42"/>
                </a:cxn>
                <a:cxn ang="0">
                  <a:pos x="60" y="54"/>
                </a:cxn>
                <a:cxn ang="0">
                  <a:pos x="61" y="68"/>
                </a:cxn>
                <a:cxn ang="0">
                  <a:pos x="61" y="81"/>
                </a:cxn>
                <a:cxn ang="0">
                  <a:pos x="69" y="91"/>
                </a:cxn>
                <a:cxn ang="0">
                  <a:pos x="61" y="97"/>
                </a:cxn>
                <a:cxn ang="0">
                  <a:pos x="55" y="92"/>
                </a:cxn>
                <a:cxn ang="0">
                  <a:pos x="61" y="97"/>
                </a:cxn>
              </a:cxnLst>
              <a:rect l="0" t="0" r="r" b="b"/>
              <a:pathLst>
                <a:path w="69" h="114">
                  <a:moveTo>
                    <a:pt x="61" y="97"/>
                  </a:moveTo>
                  <a:lnTo>
                    <a:pt x="50" y="100"/>
                  </a:lnTo>
                  <a:lnTo>
                    <a:pt x="38" y="105"/>
                  </a:lnTo>
                  <a:lnTo>
                    <a:pt x="27" y="110"/>
                  </a:lnTo>
                  <a:lnTo>
                    <a:pt x="16" y="114"/>
                  </a:lnTo>
                  <a:lnTo>
                    <a:pt x="1" y="109"/>
                  </a:lnTo>
                  <a:lnTo>
                    <a:pt x="6" y="105"/>
                  </a:lnTo>
                  <a:lnTo>
                    <a:pt x="3" y="91"/>
                  </a:lnTo>
                  <a:lnTo>
                    <a:pt x="0" y="78"/>
                  </a:lnTo>
                  <a:lnTo>
                    <a:pt x="6" y="66"/>
                  </a:lnTo>
                  <a:lnTo>
                    <a:pt x="10" y="52"/>
                  </a:lnTo>
                  <a:lnTo>
                    <a:pt x="8" y="30"/>
                  </a:lnTo>
                  <a:lnTo>
                    <a:pt x="7" y="16"/>
                  </a:lnTo>
                  <a:lnTo>
                    <a:pt x="6" y="2"/>
                  </a:lnTo>
                  <a:lnTo>
                    <a:pt x="25" y="2"/>
                  </a:lnTo>
                  <a:lnTo>
                    <a:pt x="43" y="1"/>
                  </a:lnTo>
                  <a:lnTo>
                    <a:pt x="48" y="0"/>
                  </a:lnTo>
                  <a:lnTo>
                    <a:pt x="50" y="6"/>
                  </a:lnTo>
                  <a:lnTo>
                    <a:pt x="56" y="21"/>
                  </a:lnTo>
                  <a:lnTo>
                    <a:pt x="56" y="30"/>
                  </a:lnTo>
                  <a:lnTo>
                    <a:pt x="57" y="42"/>
                  </a:lnTo>
                  <a:lnTo>
                    <a:pt x="60" y="54"/>
                  </a:lnTo>
                  <a:lnTo>
                    <a:pt x="61" y="68"/>
                  </a:lnTo>
                  <a:lnTo>
                    <a:pt x="61" y="81"/>
                  </a:lnTo>
                  <a:lnTo>
                    <a:pt x="69" y="91"/>
                  </a:lnTo>
                  <a:lnTo>
                    <a:pt x="61" y="97"/>
                  </a:lnTo>
                  <a:lnTo>
                    <a:pt x="55" y="92"/>
                  </a:lnTo>
                  <a:lnTo>
                    <a:pt x="61" y="9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9" name="Freeform 118"/>
            <p:cNvSpPr>
              <a:spLocks/>
            </p:cNvSpPr>
            <p:nvPr/>
          </p:nvSpPr>
          <p:spPr bwMode="auto">
            <a:xfrm>
              <a:off x="2267" y="2452"/>
              <a:ext cx="129" cy="109"/>
            </a:xfrm>
            <a:custGeom>
              <a:avLst/>
              <a:gdLst/>
              <a:ahLst/>
              <a:cxnLst>
                <a:cxn ang="0">
                  <a:pos x="105" y="23"/>
                </a:cxn>
                <a:cxn ang="0">
                  <a:pos x="102" y="29"/>
                </a:cxn>
                <a:cxn ang="0">
                  <a:pos x="105" y="29"/>
                </a:cxn>
                <a:cxn ang="0">
                  <a:pos x="112" y="46"/>
                </a:cxn>
                <a:cxn ang="0">
                  <a:pos x="111" y="59"/>
                </a:cxn>
                <a:cxn ang="0">
                  <a:pos x="113" y="62"/>
                </a:cxn>
                <a:cxn ang="0">
                  <a:pos x="114" y="66"/>
                </a:cxn>
                <a:cxn ang="0">
                  <a:pos x="116" y="72"/>
                </a:cxn>
                <a:cxn ang="0">
                  <a:pos x="116" y="77"/>
                </a:cxn>
                <a:cxn ang="0">
                  <a:pos x="108" y="78"/>
                </a:cxn>
                <a:cxn ang="0">
                  <a:pos x="111" y="85"/>
                </a:cxn>
                <a:cxn ang="0">
                  <a:pos x="106" y="91"/>
                </a:cxn>
                <a:cxn ang="0">
                  <a:pos x="105" y="92"/>
                </a:cxn>
                <a:cxn ang="0">
                  <a:pos x="100" y="92"/>
                </a:cxn>
                <a:cxn ang="0">
                  <a:pos x="93" y="97"/>
                </a:cxn>
                <a:cxn ang="0">
                  <a:pos x="89" y="94"/>
                </a:cxn>
                <a:cxn ang="0">
                  <a:pos x="84" y="76"/>
                </a:cxn>
                <a:cxn ang="0">
                  <a:pos x="76" y="76"/>
                </a:cxn>
                <a:cxn ang="0">
                  <a:pos x="70" y="77"/>
                </a:cxn>
                <a:cxn ang="0">
                  <a:pos x="71" y="65"/>
                </a:cxn>
                <a:cxn ang="0">
                  <a:pos x="62" y="48"/>
                </a:cxn>
                <a:cxn ang="0">
                  <a:pos x="40" y="54"/>
                </a:cxn>
                <a:cxn ang="0">
                  <a:pos x="28" y="66"/>
                </a:cxn>
                <a:cxn ang="0">
                  <a:pos x="27" y="60"/>
                </a:cxn>
                <a:cxn ang="0">
                  <a:pos x="23" y="55"/>
                </a:cxn>
                <a:cxn ang="0">
                  <a:pos x="21" y="52"/>
                </a:cxn>
                <a:cxn ang="0">
                  <a:pos x="16" y="47"/>
                </a:cxn>
                <a:cxn ang="0">
                  <a:pos x="8" y="37"/>
                </a:cxn>
                <a:cxn ang="0">
                  <a:pos x="8" y="34"/>
                </a:cxn>
                <a:cxn ang="0">
                  <a:pos x="6" y="35"/>
                </a:cxn>
                <a:cxn ang="0">
                  <a:pos x="5" y="30"/>
                </a:cxn>
                <a:cxn ang="0">
                  <a:pos x="0" y="32"/>
                </a:cxn>
                <a:cxn ang="0">
                  <a:pos x="2" y="31"/>
                </a:cxn>
                <a:cxn ang="0">
                  <a:pos x="5" y="24"/>
                </a:cxn>
                <a:cxn ang="0">
                  <a:pos x="20" y="18"/>
                </a:cxn>
                <a:cxn ang="0">
                  <a:pos x="20" y="8"/>
                </a:cxn>
                <a:cxn ang="0">
                  <a:pos x="22" y="0"/>
                </a:cxn>
                <a:cxn ang="0">
                  <a:pos x="36" y="4"/>
                </a:cxn>
                <a:cxn ang="0">
                  <a:pos x="59" y="5"/>
                </a:cxn>
                <a:cxn ang="0">
                  <a:pos x="57" y="10"/>
                </a:cxn>
                <a:cxn ang="0">
                  <a:pos x="66" y="10"/>
                </a:cxn>
                <a:cxn ang="0">
                  <a:pos x="71" y="12"/>
                </a:cxn>
                <a:cxn ang="0">
                  <a:pos x="81" y="11"/>
                </a:cxn>
                <a:cxn ang="0">
                  <a:pos x="92" y="7"/>
                </a:cxn>
                <a:cxn ang="0">
                  <a:pos x="94" y="4"/>
                </a:cxn>
                <a:cxn ang="0">
                  <a:pos x="99" y="18"/>
                </a:cxn>
                <a:cxn ang="0">
                  <a:pos x="105" y="23"/>
                </a:cxn>
              </a:cxnLst>
              <a:rect l="0" t="0" r="r" b="b"/>
              <a:pathLst>
                <a:path w="116" h="97">
                  <a:moveTo>
                    <a:pt x="105" y="23"/>
                  </a:moveTo>
                  <a:lnTo>
                    <a:pt x="102" y="29"/>
                  </a:lnTo>
                  <a:lnTo>
                    <a:pt x="105" y="29"/>
                  </a:lnTo>
                  <a:lnTo>
                    <a:pt x="112" y="46"/>
                  </a:lnTo>
                  <a:lnTo>
                    <a:pt x="111" y="59"/>
                  </a:lnTo>
                  <a:lnTo>
                    <a:pt x="113" y="62"/>
                  </a:lnTo>
                  <a:lnTo>
                    <a:pt x="114" y="66"/>
                  </a:lnTo>
                  <a:lnTo>
                    <a:pt x="116" y="72"/>
                  </a:lnTo>
                  <a:lnTo>
                    <a:pt x="116" y="77"/>
                  </a:lnTo>
                  <a:lnTo>
                    <a:pt x="108" y="78"/>
                  </a:lnTo>
                  <a:lnTo>
                    <a:pt x="111" y="85"/>
                  </a:lnTo>
                  <a:lnTo>
                    <a:pt x="106" y="91"/>
                  </a:lnTo>
                  <a:lnTo>
                    <a:pt x="105" y="92"/>
                  </a:lnTo>
                  <a:lnTo>
                    <a:pt x="100" y="92"/>
                  </a:lnTo>
                  <a:lnTo>
                    <a:pt x="93" y="97"/>
                  </a:lnTo>
                  <a:lnTo>
                    <a:pt x="89" y="94"/>
                  </a:lnTo>
                  <a:lnTo>
                    <a:pt x="84" y="76"/>
                  </a:lnTo>
                  <a:lnTo>
                    <a:pt x="76" y="76"/>
                  </a:lnTo>
                  <a:lnTo>
                    <a:pt x="70" y="77"/>
                  </a:lnTo>
                  <a:lnTo>
                    <a:pt x="71" y="65"/>
                  </a:lnTo>
                  <a:lnTo>
                    <a:pt x="62" y="48"/>
                  </a:lnTo>
                  <a:lnTo>
                    <a:pt x="40" y="54"/>
                  </a:lnTo>
                  <a:lnTo>
                    <a:pt x="28" y="66"/>
                  </a:lnTo>
                  <a:lnTo>
                    <a:pt x="27" y="60"/>
                  </a:lnTo>
                  <a:lnTo>
                    <a:pt x="23" y="55"/>
                  </a:lnTo>
                  <a:lnTo>
                    <a:pt x="21" y="52"/>
                  </a:lnTo>
                  <a:lnTo>
                    <a:pt x="16" y="47"/>
                  </a:lnTo>
                  <a:lnTo>
                    <a:pt x="8" y="37"/>
                  </a:lnTo>
                  <a:lnTo>
                    <a:pt x="8" y="34"/>
                  </a:lnTo>
                  <a:lnTo>
                    <a:pt x="6" y="35"/>
                  </a:lnTo>
                  <a:lnTo>
                    <a:pt x="5" y="30"/>
                  </a:lnTo>
                  <a:lnTo>
                    <a:pt x="0" y="32"/>
                  </a:lnTo>
                  <a:lnTo>
                    <a:pt x="2" y="31"/>
                  </a:lnTo>
                  <a:lnTo>
                    <a:pt x="5" y="24"/>
                  </a:lnTo>
                  <a:lnTo>
                    <a:pt x="20" y="18"/>
                  </a:lnTo>
                  <a:lnTo>
                    <a:pt x="20" y="8"/>
                  </a:lnTo>
                  <a:lnTo>
                    <a:pt x="22" y="0"/>
                  </a:lnTo>
                  <a:lnTo>
                    <a:pt x="36" y="4"/>
                  </a:lnTo>
                  <a:lnTo>
                    <a:pt x="59" y="5"/>
                  </a:lnTo>
                  <a:lnTo>
                    <a:pt x="57" y="10"/>
                  </a:lnTo>
                  <a:lnTo>
                    <a:pt x="66" y="10"/>
                  </a:lnTo>
                  <a:lnTo>
                    <a:pt x="71" y="12"/>
                  </a:lnTo>
                  <a:lnTo>
                    <a:pt x="81" y="11"/>
                  </a:lnTo>
                  <a:lnTo>
                    <a:pt x="92" y="7"/>
                  </a:lnTo>
                  <a:lnTo>
                    <a:pt x="94" y="4"/>
                  </a:lnTo>
                  <a:lnTo>
                    <a:pt x="99" y="18"/>
                  </a:lnTo>
                  <a:lnTo>
                    <a:pt x="105" y="2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0" name="Freeform 119"/>
            <p:cNvSpPr>
              <a:spLocks/>
            </p:cNvSpPr>
            <p:nvPr/>
          </p:nvSpPr>
          <p:spPr bwMode="auto">
            <a:xfrm>
              <a:off x="2240" y="2452"/>
              <a:ext cx="51" cy="35"/>
            </a:xfrm>
            <a:custGeom>
              <a:avLst/>
              <a:gdLst/>
              <a:ahLst/>
              <a:cxnLst>
                <a:cxn ang="0">
                  <a:pos x="24" y="19"/>
                </a:cxn>
                <a:cxn ang="0">
                  <a:pos x="22" y="24"/>
                </a:cxn>
                <a:cxn ang="0">
                  <a:pos x="24" y="29"/>
                </a:cxn>
                <a:cxn ang="0">
                  <a:pos x="27" y="31"/>
                </a:cxn>
                <a:cxn ang="0">
                  <a:pos x="30" y="24"/>
                </a:cxn>
                <a:cxn ang="0">
                  <a:pos x="45" y="18"/>
                </a:cxn>
                <a:cxn ang="0">
                  <a:pos x="45" y="8"/>
                </a:cxn>
                <a:cxn ang="0">
                  <a:pos x="47" y="0"/>
                </a:cxn>
                <a:cxn ang="0">
                  <a:pos x="34" y="1"/>
                </a:cxn>
                <a:cxn ang="0">
                  <a:pos x="21" y="2"/>
                </a:cxn>
                <a:cxn ang="0">
                  <a:pos x="0" y="7"/>
                </a:cxn>
                <a:cxn ang="0">
                  <a:pos x="7" y="7"/>
                </a:cxn>
                <a:cxn ang="0">
                  <a:pos x="5" y="11"/>
                </a:cxn>
                <a:cxn ang="0">
                  <a:pos x="13" y="12"/>
                </a:cxn>
                <a:cxn ang="0">
                  <a:pos x="12" y="14"/>
                </a:cxn>
                <a:cxn ang="0">
                  <a:pos x="23" y="14"/>
                </a:cxn>
                <a:cxn ang="0">
                  <a:pos x="27" y="17"/>
                </a:cxn>
                <a:cxn ang="0">
                  <a:pos x="18" y="18"/>
                </a:cxn>
                <a:cxn ang="0">
                  <a:pos x="24" y="19"/>
                </a:cxn>
              </a:cxnLst>
              <a:rect l="0" t="0" r="r" b="b"/>
              <a:pathLst>
                <a:path w="47" h="31">
                  <a:moveTo>
                    <a:pt x="24" y="19"/>
                  </a:moveTo>
                  <a:lnTo>
                    <a:pt x="22" y="24"/>
                  </a:lnTo>
                  <a:lnTo>
                    <a:pt x="24" y="29"/>
                  </a:lnTo>
                  <a:lnTo>
                    <a:pt x="27" y="31"/>
                  </a:lnTo>
                  <a:lnTo>
                    <a:pt x="30" y="24"/>
                  </a:lnTo>
                  <a:lnTo>
                    <a:pt x="45" y="18"/>
                  </a:lnTo>
                  <a:lnTo>
                    <a:pt x="45" y="8"/>
                  </a:lnTo>
                  <a:lnTo>
                    <a:pt x="47" y="0"/>
                  </a:lnTo>
                  <a:lnTo>
                    <a:pt x="34" y="1"/>
                  </a:lnTo>
                  <a:lnTo>
                    <a:pt x="21" y="2"/>
                  </a:lnTo>
                  <a:lnTo>
                    <a:pt x="0" y="7"/>
                  </a:lnTo>
                  <a:lnTo>
                    <a:pt x="7" y="7"/>
                  </a:lnTo>
                  <a:lnTo>
                    <a:pt x="5" y="11"/>
                  </a:lnTo>
                  <a:lnTo>
                    <a:pt x="13" y="12"/>
                  </a:lnTo>
                  <a:lnTo>
                    <a:pt x="12" y="14"/>
                  </a:lnTo>
                  <a:lnTo>
                    <a:pt x="23" y="14"/>
                  </a:lnTo>
                  <a:lnTo>
                    <a:pt x="27" y="17"/>
                  </a:lnTo>
                  <a:lnTo>
                    <a:pt x="18" y="18"/>
                  </a:lnTo>
                  <a:lnTo>
                    <a:pt x="24"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1" name="Freeform 120"/>
            <p:cNvSpPr>
              <a:spLocks/>
            </p:cNvSpPr>
            <p:nvPr/>
          </p:nvSpPr>
          <p:spPr bwMode="auto">
            <a:xfrm>
              <a:off x="2382" y="2492"/>
              <a:ext cx="105" cy="127"/>
            </a:xfrm>
            <a:custGeom>
              <a:avLst/>
              <a:gdLst/>
              <a:ahLst/>
              <a:cxnLst>
                <a:cxn ang="0">
                  <a:pos x="53" y="7"/>
                </a:cxn>
                <a:cxn ang="0">
                  <a:pos x="47" y="5"/>
                </a:cxn>
                <a:cxn ang="0">
                  <a:pos x="36" y="7"/>
                </a:cxn>
                <a:cxn ang="0">
                  <a:pos x="33" y="0"/>
                </a:cxn>
                <a:cxn ang="0">
                  <a:pos x="27" y="4"/>
                </a:cxn>
                <a:cxn ang="0">
                  <a:pos x="20" y="8"/>
                </a:cxn>
                <a:cxn ang="0">
                  <a:pos x="11" y="6"/>
                </a:cxn>
                <a:cxn ang="0">
                  <a:pos x="7" y="10"/>
                </a:cxn>
                <a:cxn ang="0">
                  <a:pos x="6" y="23"/>
                </a:cxn>
                <a:cxn ang="0">
                  <a:pos x="8" y="26"/>
                </a:cxn>
                <a:cxn ang="0">
                  <a:pos x="9" y="30"/>
                </a:cxn>
                <a:cxn ang="0">
                  <a:pos x="11" y="36"/>
                </a:cxn>
                <a:cxn ang="0">
                  <a:pos x="11" y="41"/>
                </a:cxn>
                <a:cxn ang="0">
                  <a:pos x="3" y="42"/>
                </a:cxn>
                <a:cxn ang="0">
                  <a:pos x="6" y="49"/>
                </a:cxn>
                <a:cxn ang="0">
                  <a:pos x="1" y="55"/>
                </a:cxn>
                <a:cxn ang="0">
                  <a:pos x="0" y="56"/>
                </a:cxn>
                <a:cxn ang="0">
                  <a:pos x="0" y="72"/>
                </a:cxn>
                <a:cxn ang="0">
                  <a:pos x="0" y="76"/>
                </a:cxn>
                <a:cxn ang="0">
                  <a:pos x="9" y="84"/>
                </a:cxn>
                <a:cxn ang="0">
                  <a:pos x="17" y="92"/>
                </a:cxn>
                <a:cxn ang="0">
                  <a:pos x="14" y="114"/>
                </a:cxn>
                <a:cxn ang="0">
                  <a:pos x="35" y="107"/>
                </a:cxn>
                <a:cxn ang="0">
                  <a:pos x="54" y="100"/>
                </a:cxn>
                <a:cxn ang="0">
                  <a:pos x="49" y="100"/>
                </a:cxn>
                <a:cxn ang="0">
                  <a:pos x="69" y="98"/>
                </a:cxn>
                <a:cxn ang="0">
                  <a:pos x="60" y="98"/>
                </a:cxn>
                <a:cxn ang="0">
                  <a:pos x="72" y="97"/>
                </a:cxn>
                <a:cxn ang="0">
                  <a:pos x="81" y="98"/>
                </a:cxn>
                <a:cxn ang="0">
                  <a:pos x="84" y="101"/>
                </a:cxn>
                <a:cxn ang="0">
                  <a:pos x="89" y="97"/>
                </a:cxn>
                <a:cxn ang="0">
                  <a:pos x="86" y="83"/>
                </a:cxn>
                <a:cxn ang="0">
                  <a:pos x="83" y="70"/>
                </a:cxn>
                <a:cxn ang="0">
                  <a:pos x="89" y="58"/>
                </a:cxn>
                <a:cxn ang="0">
                  <a:pos x="93" y="44"/>
                </a:cxn>
                <a:cxn ang="0">
                  <a:pos x="91" y="22"/>
                </a:cxn>
                <a:cxn ang="0">
                  <a:pos x="77" y="13"/>
                </a:cxn>
                <a:cxn ang="0">
                  <a:pos x="62" y="18"/>
                </a:cxn>
                <a:cxn ang="0">
                  <a:pos x="53" y="7"/>
                </a:cxn>
              </a:cxnLst>
              <a:rect l="0" t="0" r="r" b="b"/>
              <a:pathLst>
                <a:path w="93" h="114">
                  <a:moveTo>
                    <a:pt x="53" y="7"/>
                  </a:moveTo>
                  <a:lnTo>
                    <a:pt x="47" y="5"/>
                  </a:lnTo>
                  <a:lnTo>
                    <a:pt x="36" y="7"/>
                  </a:lnTo>
                  <a:lnTo>
                    <a:pt x="33" y="0"/>
                  </a:lnTo>
                  <a:lnTo>
                    <a:pt x="27" y="4"/>
                  </a:lnTo>
                  <a:lnTo>
                    <a:pt x="20" y="8"/>
                  </a:lnTo>
                  <a:lnTo>
                    <a:pt x="11" y="6"/>
                  </a:lnTo>
                  <a:lnTo>
                    <a:pt x="7" y="10"/>
                  </a:lnTo>
                  <a:lnTo>
                    <a:pt x="6" y="23"/>
                  </a:lnTo>
                  <a:lnTo>
                    <a:pt x="8" y="26"/>
                  </a:lnTo>
                  <a:lnTo>
                    <a:pt x="9" y="30"/>
                  </a:lnTo>
                  <a:lnTo>
                    <a:pt x="11" y="36"/>
                  </a:lnTo>
                  <a:lnTo>
                    <a:pt x="11" y="41"/>
                  </a:lnTo>
                  <a:lnTo>
                    <a:pt x="3" y="42"/>
                  </a:lnTo>
                  <a:lnTo>
                    <a:pt x="6" y="49"/>
                  </a:lnTo>
                  <a:lnTo>
                    <a:pt x="1" y="55"/>
                  </a:lnTo>
                  <a:lnTo>
                    <a:pt x="0" y="56"/>
                  </a:lnTo>
                  <a:lnTo>
                    <a:pt x="0" y="72"/>
                  </a:lnTo>
                  <a:lnTo>
                    <a:pt x="0" y="76"/>
                  </a:lnTo>
                  <a:lnTo>
                    <a:pt x="9" y="84"/>
                  </a:lnTo>
                  <a:lnTo>
                    <a:pt x="17" y="92"/>
                  </a:lnTo>
                  <a:lnTo>
                    <a:pt x="14" y="114"/>
                  </a:lnTo>
                  <a:lnTo>
                    <a:pt x="35" y="107"/>
                  </a:lnTo>
                  <a:lnTo>
                    <a:pt x="54" y="100"/>
                  </a:lnTo>
                  <a:lnTo>
                    <a:pt x="49" y="100"/>
                  </a:lnTo>
                  <a:lnTo>
                    <a:pt x="69" y="98"/>
                  </a:lnTo>
                  <a:lnTo>
                    <a:pt x="60" y="98"/>
                  </a:lnTo>
                  <a:lnTo>
                    <a:pt x="72" y="97"/>
                  </a:lnTo>
                  <a:lnTo>
                    <a:pt x="81" y="98"/>
                  </a:lnTo>
                  <a:lnTo>
                    <a:pt x="84" y="101"/>
                  </a:lnTo>
                  <a:lnTo>
                    <a:pt x="89" y="97"/>
                  </a:lnTo>
                  <a:lnTo>
                    <a:pt x="86" y="83"/>
                  </a:lnTo>
                  <a:lnTo>
                    <a:pt x="83" y="70"/>
                  </a:lnTo>
                  <a:lnTo>
                    <a:pt x="89" y="58"/>
                  </a:lnTo>
                  <a:lnTo>
                    <a:pt x="93" y="44"/>
                  </a:lnTo>
                  <a:lnTo>
                    <a:pt x="91" y="22"/>
                  </a:lnTo>
                  <a:lnTo>
                    <a:pt x="77" y="13"/>
                  </a:lnTo>
                  <a:lnTo>
                    <a:pt x="62" y="18"/>
                  </a:lnTo>
                  <a:lnTo>
                    <a:pt x="53"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2" name="Freeform 121"/>
            <p:cNvSpPr>
              <a:spLocks/>
            </p:cNvSpPr>
            <p:nvPr/>
          </p:nvSpPr>
          <p:spPr bwMode="auto">
            <a:xfrm>
              <a:off x="2298" y="2505"/>
              <a:ext cx="53" cy="62"/>
            </a:xfrm>
            <a:custGeom>
              <a:avLst/>
              <a:gdLst/>
              <a:ahLst/>
              <a:cxnLst>
                <a:cxn ang="0">
                  <a:pos x="48" y="28"/>
                </a:cxn>
                <a:cxn ang="0">
                  <a:pos x="41" y="38"/>
                </a:cxn>
                <a:cxn ang="0">
                  <a:pos x="34" y="49"/>
                </a:cxn>
                <a:cxn ang="0">
                  <a:pos x="29" y="55"/>
                </a:cxn>
                <a:cxn ang="0">
                  <a:pos x="12" y="47"/>
                </a:cxn>
                <a:cxn ang="0">
                  <a:pos x="16" y="44"/>
                </a:cxn>
                <a:cxn ang="0">
                  <a:pos x="12" y="42"/>
                </a:cxn>
                <a:cxn ang="0">
                  <a:pos x="1" y="30"/>
                </a:cxn>
                <a:cxn ang="0">
                  <a:pos x="6" y="26"/>
                </a:cxn>
                <a:cxn ang="0">
                  <a:pos x="1" y="24"/>
                </a:cxn>
                <a:cxn ang="0">
                  <a:pos x="5" y="22"/>
                </a:cxn>
                <a:cxn ang="0">
                  <a:pos x="0" y="18"/>
                </a:cxn>
                <a:cxn ang="0">
                  <a:pos x="12" y="6"/>
                </a:cxn>
                <a:cxn ang="0">
                  <a:pos x="34" y="0"/>
                </a:cxn>
                <a:cxn ang="0">
                  <a:pos x="43" y="17"/>
                </a:cxn>
                <a:cxn ang="0">
                  <a:pos x="42" y="29"/>
                </a:cxn>
                <a:cxn ang="0">
                  <a:pos x="48" y="28"/>
                </a:cxn>
              </a:cxnLst>
              <a:rect l="0" t="0" r="r" b="b"/>
              <a:pathLst>
                <a:path w="48" h="55">
                  <a:moveTo>
                    <a:pt x="48" y="28"/>
                  </a:moveTo>
                  <a:lnTo>
                    <a:pt x="41" y="38"/>
                  </a:lnTo>
                  <a:lnTo>
                    <a:pt x="34" y="49"/>
                  </a:lnTo>
                  <a:lnTo>
                    <a:pt x="29" y="55"/>
                  </a:lnTo>
                  <a:lnTo>
                    <a:pt x="12" y="47"/>
                  </a:lnTo>
                  <a:lnTo>
                    <a:pt x="16" y="44"/>
                  </a:lnTo>
                  <a:lnTo>
                    <a:pt x="12" y="42"/>
                  </a:lnTo>
                  <a:lnTo>
                    <a:pt x="1" y="30"/>
                  </a:lnTo>
                  <a:lnTo>
                    <a:pt x="6" y="26"/>
                  </a:lnTo>
                  <a:lnTo>
                    <a:pt x="1" y="24"/>
                  </a:lnTo>
                  <a:lnTo>
                    <a:pt x="5" y="22"/>
                  </a:lnTo>
                  <a:lnTo>
                    <a:pt x="0" y="18"/>
                  </a:lnTo>
                  <a:lnTo>
                    <a:pt x="12" y="6"/>
                  </a:lnTo>
                  <a:lnTo>
                    <a:pt x="34" y="0"/>
                  </a:lnTo>
                  <a:lnTo>
                    <a:pt x="43" y="17"/>
                  </a:lnTo>
                  <a:lnTo>
                    <a:pt x="42" y="29"/>
                  </a:lnTo>
                  <a:lnTo>
                    <a:pt x="48"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3" name="Freeform 122"/>
            <p:cNvSpPr>
              <a:spLocks/>
            </p:cNvSpPr>
            <p:nvPr/>
          </p:nvSpPr>
          <p:spPr bwMode="auto">
            <a:xfrm>
              <a:off x="2529" y="2483"/>
              <a:ext cx="31" cy="100"/>
            </a:xfrm>
            <a:custGeom>
              <a:avLst/>
              <a:gdLst/>
              <a:ahLst/>
              <a:cxnLst>
                <a:cxn ang="0">
                  <a:pos x="13" y="2"/>
                </a:cxn>
                <a:cxn ang="0">
                  <a:pos x="0" y="0"/>
                </a:cxn>
                <a:cxn ang="0">
                  <a:pos x="2" y="6"/>
                </a:cxn>
                <a:cxn ang="0">
                  <a:pos x="8" y="21"/>
                </a:cxn>
                <a:cxn ang="0">
                  <a:pos x="8" y="30"/>
                </a:cxn>
                <a:cxn ang="0">
                  <a:pos x="9" y="42"/>
                </a:cxn>
                <a:cxn ang="0">
                  <a:pos x="12" y="54"/>
                </a:cxn>
                <a:cxn ang="0">
                  <a:pos x="13" y="68"/>
                </a:cxn>
                <a:cxn ang="0">
                  <a:pos x="13" y="81"/>
                </a:cxn>
                <a:cxn ang="0">
                  <a:pos x="21" y="91"/>
                </a:cxn>
                <a:cxn ang="0">
                  <a:pos x="28" y="88"/>
                </a:cxn>
                <a:cxn ang="0">
                  <a:pos x="27" y="75"/>
                </a:cxn>
                <a:cxn ang="0">
                  <a:pos x="27" y="62"/>
                </a:cxn>
                <a:cxn ang="0">
                  <a:pos x="26" y="48"/>
                </a:cxn>
                <a:cxn ang="0">
                  <a:pos x="26" y="34"/>
                </a:cxn>
                <a:cxn ang="0">
                  <a:pos x="24" y="20"/>
                </a:cxn>
                <a:cxn ang="0">
                  <a:pos x="15" y="10"/>
                </a:cxn>
                <a:cxn ang="0">
                  <a:pos x="16" y="2"/>
                </a:cxn>
                <a:cxn ang="0">
                  <a:pos x="13" y="2"/>
                </a:cxn>
              </a:cxnLst>
              <a:rect l="0" t="0" r="r" b="b"/>
              <a:pathLst>
                <a:path w="28" h="91">
                  <a:moveTo>
                    <a:pt x="13" y="2"/>
                  </a:moveTo>
                  <a:lnTo>
                    <a:pt x="0" y="0"/>
                  </a:lnTo>
                  <a:lnTo>
                    <a:pt x="2" y="6"/>
                  </a:lnTo>
                  <a:lnTo>
                    <a:pt x="8" y="21"/>
                  </a:lnTo>
                  <a:lnTo>
                    <a:pt x="8" y="30"/>
                  </a:lnTo>
                  <a:lnTo>
                    <a:pt x="9" y="42"/>
                  </a:lnTo>
                  <a:lnTo>
                    <a:pt x="12" y="54"/>
                  </a:lnTo>
                  <a:lnTo>
                    <a:pt x="13" y="68"/>
                  </a:lnTo>
                  <a:lnTo>
                    <a:pt x="13" y="81"/>
                  </a:lnTo>
                  <a:lnTo>
                    <a:pt x="21" y="91"/>
                  </a:lnTo>
                  <a:lnTo>
                    <a:pt x="28" y="88"/>
                  </a:lnTo>
                  <a:lnTo>
                    <a:pt x="27" y="75"/>
                  </a:lnTo>
                  <a:lnTo>
                    <a:pt x="27" y="62"/>
                  </a:lnTo>
                  <a:lnTo>
                    <a:pt x="26" y="48"/>
                  </a:lnTo>
                  <a:lnTo>
                    <a:pt x="26" y="34"/>
                  </a:lnTo>
                  <a:lnTo>
                    <a:pt x="24" y="20"/>
                  </a:lnTo>
                  <a:lnTo>
                    <a:pt x="15" y="10"/>
                  </a:lnTo>
                  <a:lnTo>
                    <a:pt x="16" y="2"/>
                  </a:lnTo>
                  <a:lnTo>
                    <a:pt x="1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4" name="Freeform 123"/>
            <p:cNvSpPr>
              <a:spLocks/>
            </p:cNvSpPr>
            <p:nvPr/>
          </p:nvSpPr>
          <p:spPr bwMode="auto">
            <a:xfrm>
              <a:off x="2382" y="1970"/>
              <a:ext cx="356" cy="353"/>
            </a:xfrm>
            <a:custGeom>
              <a:avLst/>
              <a:gdLst/>
              <a:ahLst/>
              <a:cxnLst>
                <a:cxn ang="0">
                  <a:pos x="0" y="165"/>
                </a:cxn>
                <a:cxn ang="0">
                  <a:pos x="15" y="182"/>
                </a:cxn>
                <a:cxn ang="0">
                  <a:pos x="44" y="202"/>
                </a:cxn>
                <a:cxn ang="0">
                  <a:pos x="71" y="222"/>
                </a:cxn>
                <a:cxn ang="0">
                  <a:pos x="93" y="240"/>
                </a:cxn>
                <a:cxn ang="0">
                  <a:pos x="116" y="256"/>
                </a:cxn>
                <a:cxn ang="0">
                  <a:pos x="140" y="274"/>
                </a:cxn>
                <a:cxn ang="0">
                  <a:pos x="151" y="289"/>
                </a:cxn>
                <a:cxn ang="0">
                  <a:pos x="181" y="304"/>
                </a:cxn>
                <a:cxn ang="0">
                  <a:pos x="199" y="318"/>
                </a:cxn>
                <a:cxn ang="0">
                  <a:pos x="224" y="313"/>
                </a:cxn>
                <a:cxn ang="0">
                  <a:pos x="249" y="288"/>
                </a:cxn>
                <a:cxn ang="0">
                  <a:pos x="284" y="264"/>
                </a:cxn>
                <a:cxn ang="0">
                  <a:pos x="319" y="240"/>
                </a:cxn>
                <a:cxn ang="0">
                  <a:pos x="294" y="223"/>
                </a:cxn>
                <a:cxn ang="0">
                  <a:pos x="278" y="193"/>
                </a:cxn>
                <a:cxn ang="0">
                  <a:pos x="284" y="165"/>
                </a:cxn>
                <a:cxn ang="0">
                  <a:pos x="277" y="123"/>
                </a:cxn>
                <a:cxn ang="0">
                  <a:pos x="275" y="103"/>
                </a:cxn>
                <a:cxn ang="0">
                  <a:pos x="258" y="73"/>
                </a:cxn>
                <a:cxn ang="0">
                  <a:pos x="253" y="42"/>
                </a:cxn>
                <a:cxn ang="0">
                  <a:pos x="258" y="4"/>
                </a:cxn>
                <a:cxn ang="0">
                  <a:pos x="237" y="0"/>
                </a:cxn>
                <a:cxn ang="0">
                  <a:pos x="209" y="2"/>
                </a:cxn>
                <a:cxn ang="0">
                  <a:pos x="175" y="2"/>
                </a:cxn>
                <a:cxn ang="0">
                  <a:pos x="137" y="14"/>
                </a:cxn>
                <a:cxn ang="0">
                  <a:pos x="114" y="25"/>
                </a:cxn>
                <a:cxn ang="0">
                  <a:pos x="104" y="36"/>
                </a:cxn>
                <a:cxn ang="0">
                  <a:pos x="108" y="62"/>
                </a:cxn>
                <a:cxn ang="0">
                  <a:pos x="114" y="84"/>
                </a:cxn>
                <a:cxn ang="0">
                  <a:pos x="78" y="92"/>
                </a:cxn>
                <a:cxn ang="0">
                  <a:pos x="67" y="111"/>
                </a:cxn>
                <a:cxn ang="0">
                  <a:pos x="42" y="124"/>
                </a:cxn>
                <a:cxn ang="0">
                  <a:pos x="17" y="138"/>
                </a:cxn>
              </a:cxnLst>
              <a:rect l="0" t="0" r="r" b="b"/>
              <a:pathLst>
                <a:path w="319" h="318">
                  <a:moveTo>
                    <a:pt x="3" y="144"/>
                  </a:moveTo>
                  <a:lnTo>
                    <a:pt x="0" y="165"/>
                  </a:lnTo>
                  <a:lnTo>
                    <a:pt x="0" y="172"/>
                  </a:lnTo>
                  <a:lnTo>
                    <a:pt x="15" y="182"/>
                  </a:lnTo>
                  <a:lnTo>
                    <a:pt x="30" y="193"/>
                  </a:lnTo>
                  <a:lnTo>
                    <a:pt x="44" y="202"/>
                  </a:lnTo>
                  <a:lnTo>
                    <a:pt x="59" y="213"/>
                  </a:lnTo>
                  <a:lnTo>
                    <a:pt x="71" y="222"/>
                  </a:lnTo>
                  <a:lnTo>
                    <a:pt x="81" y="230"/>
                  </a:lnTo>
                  <a:lnTo>
                    <a:pt x="93" y="240"/>
                  </a:lnTo>
                  <a:lnTo>
                    <a:pt x="105" y="248"/>
                  </a:lnTo>
                  <a:lnTo>
                    <a:pt x="116" y="256"/>
                  </a:lnTo>
                  <a:lnTo>
                    <a:pt x="128" y="266"/>
                  </a:lnTo>
                  <a:lnTo>
                    <a:pt x="140" y="274"/>
                  </a:lnTo>
                  <a:lnTo>
                    <a:pt x="151" y="283"/>
                  </a:lnTo>
                  <a:lnTo>
                    <a:pt x="151" y="289"/>
                  </a:lnTo>
                  <a:lnTo>
                    <a:pt x="159" y="295"/>
                  </a:lnTo>
                  <a:lnTo>
                    <a:pt x="181" y="304"/>
                  </a:lnTo>
                  <a:lnTo>
                    <a:pt x="182" y="318"/>
                  </a:lnTo>
                  <a:lnTo>
                    <a:pt x="199" y="318"/>
                  </a:lnTo>
                  <a:lnTo>
                    <a:pt x="212" y="315"/>
                  </a:lnTo>
                  <a:lnTo>
                    <a:pt x="224" y="313"/>
                  </a:lnTo>
                  <a:lnTo>
                    <a:pt x="236" y="300"/>
                  </a:lnTo>
                  <a:lnTo>
                    <a:pt x="249" y="288"/>
                  </a:lnTo>
                  <a:lnTo>
                    <a:pt x="266" y="276"/>
                  </a:lnTo>
                  <a:lnTo>
                    <a:pt x="284" y="264"/>
                  </a:lnTo>
                  <a:lnTo>
                    <a:pt x="301" y="252"/>
                  </a:lnTo>
                  <a:lnTo>
                    <a:pt x="319" y="240"/>
                  </a:lnTo>
                  <a:lnTo>
                    <a:pt x="312" y="225"/>
                  </a:lnTo>
                  <a:lnTo>
                    <a:pt x="294" y="223"/>
                  </a:lnTo>
                  <a:lnTo>
                    <a:pt x="288" y="207"/>
                  </a:lnTo>
                  <a:lnTo>
                    <a:pt x="278" y="193"/>
                  </a:lnTo>
                  <a:lnTo>
                    <a:pt x="285" y="186"/>
                  </a:lnTo>
                  <a:lnTo>
                    <a:pt x="284" y="165"/>
                  </a:lnTo>
                  <a:lnTo>
                    <a:pt x="284" y="145"/>
                  </a:lnTo>
                  <a:lnTo>
                    <a:pt x="277" y="123"/>
                  </a:lnTo>
                  <a:lnTo>
                    <a:pt x="278" y="120"/>
                  </a:lnTo>
                  <a:lnTo>
                    <a:pt x="275" y="103"/>
                  </a:lnTo>
                  <a:lnTo>
                    <a:pt x="270" y="86"/>
                  </a:lnTo>
                  <a:lnTo>
                    <a:pt x="258" y="73"/>
                  </a:lnTo>
                  <a:lnTo>
                    <a:pt x="246" y="55"/>
                  </a:lnTo>
                  <a:lnTo>
                    <a:pt x="253" y="42"/>
                  </a:lnTo>
                  <a:lnTo>
                    <a:pt x="259" y="28"/>
                  </a:lnTo>
                  <a:lnTo>
                    <a:pt x="258" y="4"/>
                  </a:lnTo>
                  <a:lnTo>
                    <a:pt x="261" y="0"/>
                  </a:lnTo>
                  <a:lnTo>
                    <a:pt x="237" y="0"/>
                  </a:lnTo>
                  <a:lnTo>
                    <a:pt x="225" y="0"/>
                  </a:lnTo>
                  <a:lnTo>
                    <a:pt x="209" y="2"/>
                  </a:lnTo>
                  <a:lnTo>
                    <a:pt x="192" y="2"/>
                  </a:lnTo>
                  <a:lnTo>
                    <a:pt x="175" y="2"/>
                  </a:lnTo>
                  <a:lnTo>
                    <a:pt x="156" y="8"/>
                  </a:lnTo>
                  <a:lnTo>
                    <a:pt x="137" y="14"/>
                  </a:lnTo>
                  <a:lnTo>
                    <a:pt x="128" y="18"/>
                  </a:lnTo>
                  <a:lnTo>
                    <a:pt x="114" y="25"/>
                  </a:lnTo>
                  <a:lnTo>
                    <a:pt x="101" y="32"/>
                  </a:lnTo>
                  <a:lnTo>
                    <a:pt x="104" y="36"/>
                  </a:lnTo>
                  <a:lnTo>
                    <a:pt x="105" y="49"/>
                  </a:lnTo>
                  <a:lnTo>
                    <a:pt x="108" y="62"/>
                  </a:lnTo>
                  <a:lnTo>
                    <a:pt x="117" y="79"/>
                  </a:lnTo>
                  <a:lnTo>
                    <a:pt x="114" y="84"/>
                  </a:lnTo>
                  <a:lnTo>
                    <a:pt x="98" y="85"/>
                  </a:lnTo>
                  <a:lnTo>
                    <a:pt x="78" y="92"/>
                  </a:lnTo>
                  <a:lnTo>
                    <a:pt x="78" y="103"/>
                  </a:lnTo>
                  <a:lnTo>
                    <a:pt x="67" y="111"/>
                  </a:lnTo>
                  <a:lnTo>
                    <a:pt x="56" y="118"/>
                  </a:lnTo>
                  <a:lnTo>
                    <a:pt x="42" y="124"/>
                  </a:lnTo>
                  <a:lnTo>
                    <a:pt x="29" y="130"/>
                  </a:lnTo>
                  <a:lnTo>
                    <a:pt x="17" y="138"/>
                  </a:lnTo>
                  <a:lnTo>
                    <a:pt x="3" y="1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5" name="Freeform 124"/>
            <p:cNvSpPr>
              <a:spLocks/>
            </p:cNvSpPr>
            <p:nvPr/>
          </p:nvSpPr>
          <p:spPr bwMode="auto">
            <a:xfrm>
              <a:off x="2289" y="2130"/>
              <a:ext cx="11" cy="11"/>
            </a:xfrm>
            <a:custGeom>
              <a:avLst/>
              <a:gdLst/>
              <a:ahLst/>
              <a:cxnLst>
                <a:cxn ang="0">
                  <a:pos x="9" y="0"/>
                </a:cxn>
                <a:cxn ang="0">
                  <a:pos x="8" y="7"/>
                </a:cxn>
                <a:cxn ang="0">
                  <a:pos x="0" y="9"/>
                </a:cxn>
                <a:cxn ang="0">
                  <a:pos x="9" y="0"/>
                </a:cxn>
              </a:cxnLst>
              <a:rect l="0" t="0" r="r" b="b"/>
              <a:pathLst>
                <a:path w="9" h="9">
                  <a:moveTo>
                    <a:pt x="9" y="0"/>
                  </a:moveTo>
                  <a:lnTo>
                    <a:pt x="8" y="7"/>
                  </a:lnTo>
                  <a:lnTo>
                    <a:pt x="0" y="9"/>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6" name="Freeform 125"/>
            <p:cNvSpPr>
              <a:spLocks/>
            </p:cNvSpPr>
            <p:nvPr/>
          </p:nvSpPr>
          <p:spPr bwMode="auto">
            <a:xfrm>
              <a:off x="2247" y="2136"/>
              <a:ext cx="9" cy="9"/>
            </a:xfrm>
            <a:custGeom>
              <a:avLst/>
              <a:gdLst/>
              <a:ahLst/>
              <a:cxnLst>
                <a:cxn ang="0">
                  <a:pos x="8" y="0"/>
                </a:cxn>
                <a:cxn ang="0">
                  <a:pos x="0" y="7"/>
                </a:cxn>
                <a:cxn ang="0">
                  <a:pos x="0" y="1"/>
                </a:cxn>
                <a:cxn ang="0">
                  <a:pos x="8" y="0"/>
                </a:cxn>
              </a:cxnLst>
              <a:rect l="0" t="0" r="r" b="b"/>
              <a:pathLst>
                <a:path w="8" h="7">
                  <a:moveTo>
                    <a:pt x="8" y="0"/>
                  </a:moveTo>
                  <a:lnTo>
                    <a:pt x="0" y="7"/>
                  </a:lnTo>
                  <a:lnTo>
                    <a:pt x="0" y="1"/>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7" name="Freeform 126"/>
            <p:cNvSpPr>
              <a:spLocks/>
            </p:cNvSpPr>
            <p:nvPr/>
          </p:nvSpPr>
          <p:spPr bwMode="auto">
            <a:xfrm>
              <a:off x="2262" y="2147"/>
              <a:ext cx="7" cy="3"/>
            </a:xfrm>
            <a:custGeom>
              <a:avLst/>
              <a:gdLst/>
              <a:ahLst/>
              <a:cxnLst>
                <a:cxn ang="0">
                  <a:pos x="6" y="0"/>
                </a:cxn>
                <a:cxn ang="0">
                  <a:pos x="5" y="4"/>
                </a:cxn>
                <a:cxn ang="0">
                  <a:pos x="0" y="0"/>
                </a:cxn>
                <a:cxn ang="0">
                  <a:pos x="6" y="0"/>
                </a:cxn>
              </a:cxnLst>
              <a:rect l="0" t="0" r="r" b="b"/>
              <a:pathLst>
                <a:path w="6" h="4">
                  <a:moveTo>
                    <a:pt x="6" y="0"/>
                  </a:moveTo>
                  <a:lnTo>
                    <a:pt x="5" y="4"/>
                  </a:lnTo>
                  <a:lnTo>
                    <a:pt x="0" y="0"/>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8" name="Freeform 127"/>
            <p:cNvSpPr>
              <a:spLocks/>
            </p:cNvSpPr>
            <p:nvPr/>
          </p:nvSpPr>
          <p:spPr bwMode="auto">
            <a:xfrm>
              <a:off x="2300" y="2121"/>
              <a:ext cx="7" cy="2"/>
            </a:xfrm>
            <a:custGeom>
              <a:avLst/>
              <a:gdLst/>
              <a:ahLst/>
              <a:cxnLst>
                <a:cxn ang="0">
                  <a:pos x="4" y="3"/>
                </a:cxn>
                <a:cxn ang="0">
                  <a:pos x="6" y="0"/>
                </a:cxn>
                <a:cxn ang="0">
                  <a:pos x="0" y="3"/>
                </a:cxn>
                <a:cxn ang="0">
                  <a:pos x="4" y="3"/>
                </a:cxn>
              </a:cxnLst>
              <a:rect l="0" t="0" r="r" b="b"/>
              <a:pathLst>
                <a:path w="6" h="3">
                  <a:moveTo>
                    <a:pt x="4" y="3"/>
                  </a:moveTo>
                  <a:lnTo>
                    <a:pt x="6" y="0"/>
                  </a:lnTo>
                  <a:lnTo>
                    <a:pt x="0" y="3"/>
                  </a:lnTo>
                  <a:lnTo>
                    <a:pt x="4"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9" name="Freeform 128"/>
            <p:cNvSpPr>
              <a:spLocks/>
            </p:cNvSpPr>
            <p:nvPr/>
          </p:nvSpPr>
          <p:spPr bwMode="auto">
            <a:xfrm>
              <a:off x="2109" y="2374"/>
              <a:ext cx="4" cy="2"/>
            </a:xfrm>
            <a:custGeom>
              <a:avLst/>
              <a:gdLst/>
              <a:ahLst/>
              <a:cxnLst>
                <a:cxn ang="0">
                  <a:pos x="3" y="1"/>
                </a:cxn>
                <a:cxn ang="0">
                  <a:pos x="1" y="1"/>
                </a:cxn>
                <a:cxn ang="0">
                  <a:pos x="0" y="0"/>
                </a:cxn>
                <a:cxn ang="0">
                  <a:pos x="3" y="1"/>
                </a:cxn>
              </a:cxnLst>
              <a:rect l="0" t="0" r="r" b="b"/>
              <a:pathLst>
                <a:path w="3" h="1">
                  <a:moveTo>
                    <a:pt x="3" y="1"/>
                  </a:moveTo>
                  <a:lnTo>
                    <a:pt x="1" y="1"/>
                  </a:lnTo>
                  <a:lnTo>
                    <a:pt x="0" y="0"/>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0" name="Rectangle 129"/>
            <p:cNvSpPr>
              <a:spLocks noChangeArrowheads="1"/>
            </p:cNvSpPr>
            <p:nvPr/>
          </p:nvSpPr>
          <p:spPr bwMode="auto">
            <a:xfrm>
              <a:off x="2442" y="1983"/>
              <a:ext cx="0" cy="2"/>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131" name="Freeform 130"/>
            <p:cNvSpPr>
              <a:spLocks/>
            </p:cNvSpPr>
            <p:nvPr/>
          </p:nvSpPr>
          <p:spPr bwMode="auto">
            <a:xfrm>
              <a:off x="2691" y="2043"/>
              <a:ext cx="273" cy="273"/>
            </a:xfrm>
            <a:custGeom>
              <a:avLst/>
              <a:gdLst/>
              <a:ahLst/>
              <a:cxnLst>
                <a:cxn ang="0">
                  <a:pos x="230" y="245"/>
                </a:cxn>
                <a:cxn ang="0">
                  <a:pos x="230" y="236"/>
                </a:cxn>
                <a:cxn ang="0">
                  <a:pos x="246" y="236"/>
                </a:cxn>
                <a:cxn ang="0">
                  <a:pos x="245" y="218"/>
                </a:cxn>
                <a:cxn ang="0">
                  <a:pos x="245" y="200"/>
                </a:cxn>
                <a:cxn ang="0">
                  <a:pos x="244" y="183"/>
                </a:cxn>
                <a:cxn ang="0">
                  <a:pos x="242" y="167"/>
                </a:cxn>
                <a:cxn ang="0">
                  <a:pos x="241" y="150"/>
                </a:cxn>
                <a:cxn ang="0">
                  <a:pos x="240" y="133"/>
                </a:cxn>
                <a:cxn ang="0">
                  <a:pos x="239" y="116"/>
                </a:cxn>
                <a:cxn ang="0">
                  <a:pos x="238" y="99"/>
                </a:cxn>
                <a:cxn ang="0">
                  <a:pos x="236" y="83"/>
                </a:cxn>
                <a:cxn ang="0">
                  <a:pos x="235" y="65"/>
                </a:cxn>
                <a:cxn ang="0">
                  <a:pos x="235" y="51"/>
                </a:cxn>
                <a:cxn ang="0">
                  <a:pos x="234" y="38"/>
                </a:cxn>
                <a:cxn ang="0">
                  <a:pos x="236" y="26"/>
                </a:cxn>
                <a:cxn ang="0">
                  <a:pos x="228" y="20"/>
                </a:cxn>
                <a:cxn ang="0">
                  <a:pos x="205" y="14"/>
                </a:cxn>
                <a:cxn ang="0">
                  <a:pos x="202" y="8"/>
                </a:cxn>
                <a:cxn ang="0">
                  <a:pos x="182" y="3"/>
                </a:cxn>
                <a:cxn ang="0">
                  <a:pos x="170" y="11"/>
                </a:cxn>
                <a:cxn ang="0">
                  <a:pos x="160" y="18"/>
                </a:cxn>
                <a:cxn ang="0">
                  <a:pos x="161" y="42"/>
                </a:cxn>
                <a:cxn ang="0">
                  <a:pos x="145" y="51"/>
                </a:cxn>
                <a:cxn ang="0">
                  <a:pos x="127" y="43"/>
                </a:cxn>
                <a:cxn ang="0">
                  <a:pos x="110" y="35"/>
                </a:cxn>
                <a:cxn ang="0">
                  <a:pos x="92" y="30"/>
                </a:cxn>
                <a:cxn ang="0">
                  <a:pos x="85" y="13"/>
                </a:cxn>
                <a:cxn ang="0">
                  <a:pos x="68" y="9"/>
                </a:cxn>
                <a:cxn ang="0">
                  <a:pos x="52" y="5"/>
                </a:cxn>
                <a:cxn ang="0">
                  <a:pos x="30" y="0"/>
                </a:cxn>
                <a:cxn ang="0">
                  <a:pos x="29" y="14"/>
                </a:cxn>
                <a:cxn ang="0">
                  <a:pos x="19" y="23"/>
                </a:cxn>
                <a:cxn ang="0">
                  <a:pos x="10" y="31"/>
                </a:cxn>
                <a:cxn ang="0">
                  <a:pos x="10" y="45"/>
                </a:cxn>
                <a:cxn ang="0">
                  <a:pos x="1" y="53"/>
                </a:cxn>
                <a:cxn ang="0">
                  <a:pos x="0" y="56"/>
                </a:cxn>
                <a:cxn ang="0">
                  <a:pos x="7" y="78"/>
                </a:cxn>
                <a:cxn ang="0">
                  <a:pos x="7" y="98"/>
                </a:cxn>
                <a:cxn ang="0">
                  <a:pos x="8" y="119"/>
                </a:cxn>
                <a:cxn ang="0">
                  <a:pos x="1" y="126"/>
                </a:cxn>
                <a:cxn ang="0">
                  <a:pos x="11" y="140"/>
                </a:cxn>
                <a:cxn ang="0">
                  <a:pos x="17" y="156"/>
                </a:cxn>
                <a:cxn ang="0">
                  <a:pos x="35" y="158"/>
                </a:cxn>
                <a:cxn ang="0">
                  <a:pos x="42" y="173"/>
                </a:cxn>
                <a:cxn ang="0">
                  <a:pos x="64" y="179"/>
                </a:cxn>
                <a:cxn ang="0">
                  <a:pos x="77" y="189"/>
                </a:cxn>
                <a:cxn ang="0">
                  <a:pos x="88" y="182"/>
                </a:cxn>
                <a:cxn ang="0">
                  <a:pos x="104" y="173"/>
                </a:cxn>
                <a:cxn ang="0">
                  <a:pos x="120" y="182"/>
                </a:cxn>
                <a:cxn ang="0">
                  <a:pos x="136" y="191"/>
                </a:cxn>
                <a:cxn ang="0">
                  <a:pos x="151" y="200"/>
                </a:cxn>
                <a:cxn ang="0">
                  <a:pos x="167" y="209"/>
                </a:cxn>
                <a:cxn ang="0">
                  <a:pos x="182" y="218"/>
                </a:cxn>
                <a:cxn ang="0">
                  <a:pos x="199" y="227"/>
                </a:cxn>
                <a:cxn ang="0">
                  <a:pos x="215" y="236"/>
                </a:cxn>
                <a:cxn ang="0">
                  <a:pos x="230" y="245"/>
                </a:cxn>
              </a:cxnLst>
              <a:rect l="0" t="0" r="r" b="b"/>
              <a:pathLst>
                <a:path w="246" h="245">
                  <a:moveTo>
                    <a:pt x="230" y="245"/>
                  </a:moveTo>
                  <a:lnTo>
                    <a:pt x="230" y="236"/>
                  </a:lnTo>
                  <a:lnTo>
                    <a:pt x="246" y="236"/>
                  </a:lnTo>
                  <a:lnTo>
                    <a:pt x="245" y="218"/>
                  </a:lnTo>
                  <a:lnTo>
                    <a:pt x="245" y="200"/>
                  </a:lnTo>
                  <a:lnTo>
                    <a:pt x="244" y="183"/>
                  </a:lnTo>
                  <a:lnTo>
                    <a:pt x="242" y="167"/>
                  </a:lnTo>
                  <a:lnTo>
                    <a:pt x="241" y="150"/>
                  </a:lnTo>
                  <a:lnTo>
                    <a:pt x="240" y="133"/>
                  </a:lnTo>
                  <a:lnTo>
                    <a:pt x="239" y="116"/>
                  </a:lnTo>
                  <a:lnTo>
                    <a:pt x="238" y="99"/>
                  </a:lnTo>
                  <a:lnTo>
                    <a:pt x="236" y="83"/>
                  </a:lnTo>
                  <a:lnTo>
                    <a:pt x="235" y="65"/>
                  </a:lnTo>
                  <a:lnTo>
                    <a:pt x="235" y="51"/>
                  </a:lnTo>
                  <a:lnTo>
                    <a:pt x="234" y="38"/>
                  </a:lnTo>
                  <a:lnTo>
                    <a:pt x="236" y="26"/>
                  </a:lnTo>
                  <a:lnTo>
                    <a:pt x="228" y="20"/>
                  </a:lnTo>
                  <a:lnTo>
                    <a:pt x="205" y="14"/>
                  </a:lnTo>
                  <a:lnTo>
                    <a:pt x="202" y="8"/>
                  </a:lnTo>
                  <a:lnTo>
                    <a:pt x="182" y="3"/>
                  </a:lnTo>
                  <a:lnTo>
                    <a:pt x="170" y="11"/>
                  </a:lnTo>
                  <a:lnTo>
                    <a:pt x="160" y="18"/>
                  </a:lnTo>
                  <a:lnTo>
                    <a:pt x="161" y="42"/>
                  </a:lnTo>
                  <a:lnTo>
                    <a:pt x="145" y="51"/>
                  </a:lnTo>
                  <a:lnTo>
                    <a:pt x="127" y="43"/>
                  </a:lnTo>
                  <a:lnTo>
                    <a:pt x="110" y="35"/>
                  </a:lnTo>
                  <a:lnTo>
                    <a:pt x="92" y="30"/>
                  </a:lnTo>
                  <a:lnTo>
                    <a:pt x="85" y="13"/>
                  </a:lnTo>
                  <a:lnTo>
                    <a:pt x="68" y="9"/>
                  </a:lnTo>
                  <a:lnTo>
                    <a:pt x="52" y="5"/>
                  </a:lnTo>
                  <a:lnTo>
                    <a:pt x="30" y="0"/>
                  </a:lnTo>
                  <a:lnTo>
                    <a:pt x="29" y="14"/>
                  </a:lnTo>
                  <a:lnTo>
                    <a:pt x="19" y="23"/>
                  </a:lnTo>
                  <a:lnTo>
                    <a:pt x="10" y="31"/>
                  </a:lnTo>
                  <a:lnTo>
                    <a:pt x="10" y="45"/>
                  </a:lnTo>
                  <a:lnTo>
                    <a:pt x="1" y="53"/>
                  </a:lnTo>
                  <a:lnTo>
                    <a:pt x="0" y="56"/>
                  </a:lnTo>
                  <a:lnTo>
                    <a:pt x="7" y="78"/>
                  </a:lnTo>
                  <a:lnTo>
                    <a:pt x="7" y="98"/>
                  </a:lnTo>
                  <a:lnTo>
                    <a:pt x="8" y="119"/>
                  </a:lnTo>
                  <a:lnTo>
                    <a:pt x="1" y="126"/>
                  </a:lnTo>
                  <a:lnTo>
                    <a:pt x="11" y="140"/>
                  </a:lnTo>
                  <a:lnTo>
                    <a:pt x="17" y="156"/>
                  </a:lnTo>
                  <a:lnTo>
                    <a:pt x="35" y="158"/>
                  </a:lnTo>
                  <a:lnTo>
                    <a:pt x="42" y="173"/>
                  </a:lnTo>
                  <a:lnTo>
                    <a:pt x="64" y="179"/>
                  </a:lnTo>
                  <a:lnTo>
                    <a:pt x="77" y="189"/>
                  </a:lnTo>
                  <a:lnTo>
                    <a:pt x="88" y="182"/>
                  </a:lnTo>
                  <a:lnTo>
                    <a:pt x="104" y="173"/>
                  </a:lnTo>
                  <a:lnTo>
                    <a:pt x="120" y="182"/>
                  </a:lnTo>
                  <a:lnTo>
                    <a:pt x="136" y="191"/>
                  </a:lnTo>
                  <a:lnTo>
                    <a:pt x="151" y="200"/>
                  </a:lnTo>
                  <a:lnTo>
                    <a:pt x="167" y="209"/>
                  </a:lnTo>
                  <a:lnTo>
                    <a:pt x="182" y="218"/>
                  </a:lnTo>
                  <a:lnTo>
                    <a:pt x="199" y="227"/>
                  </a:lnTo>
                  <a:lnTo>
                    <a:pt x="215" y="236"/>
                  </a:lnTo>
                  <a:lnTo>
                    <a:pt x="230" y="2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2" name="Freeform 131"/>
            <p:cNvSpPr>
              <a:spLocks/>
            </p:cNvSpPr>
            <p:nvPr/>
          </p:nvSpPr>
          <p:spPr bwMode="auto">
            <a:xfrm>
              <a:off x="2318" y="2207"/>
              <a:ext cx="286" cy="296"/>
            </a:xfrm>
            <a:custGeom>
              <a:avLst/>
              <a:gdLst/>
              <a:ahLst/>
              <a:cxnLst>
                <a:cxn ang="0">
                  <a:pos x="56" y="250"/>
                </a:cxn>
                <a:cxn ang="0">
                  <a:pos x="66" y="267"/>
                </a:cxn>
                <a:cxn ang="0">
                  <a:pos x="79" y="265"/>
                </a:cxn>
                <a:cxn ang="0">
                  <a:pos x="92" y="257"/>
                </a:cxn>
                <a:cxn ang="0">
                  <a:pos x="106" y="262"/>
                </a:cxn>
                <a:cxn ang="0">
                  <a:pos x="114" y="234"/>
                </a:cxn>
                <a:cxn ang="0">
                  <a:pos x="126" y="219"/>
                </a:cxn>
                <a:cxn ang="0">
                  <a:pos x="138" y="213"/>
                </a:cxn>
                <a:cxn ang="0">
                  <a:pos x="144" y="204"/>
                </a:cxn>
                <a:cxn ang="0">
                  <a:pos x="160" y="195"/>
                </a:cxn>
                <a:cxn ang="0">
                  <a:pos x="181" y="178"/>
                </a:cxn>
                <a:cxn ang="0">
                  <a:pos x="198" y="180"/>
                </a:cxn>
                <a:cxn ang="0">
                  <a:pos x="230" y="174"/>
                </a:cxn>
                <a:cxn ang="0">
                  <a:pos x="256" y="157"/>
                </a:cxn>
                <a:cxn ang="0">
                  <a:pos x="257" y="131"/>
                </a:cxn>
                <a:cxn ang="0">
                  <a:pos x="258" y="105"/>
                </a:cxn>
                <a:cxn ang="0">
                  <a:pos x="240" y="91"/>
                </a:cxn>
                <a:cxn ang="0">
                  <a:pos x="210" y="76"/>
                </a:cxn>
                <a:cxn ang="0">
                  <a:pos x="199" y="61"/>
                </a:cxn>
                <a:cxn ang="0">
                  <a:pos x="175" y="43"/>
                </a:cxn>
                <a:cxn ang="0">
                  <a:pos x="152" y="27"/>
                </a:cxn>
                <a:cxn ang="0">
                  <a:pos x="130" y="9"/>
                </a:cxn>
                <a:cxn ang="0">
                  <a:pos x="104" y="0"/>
                </a:cxn>
                <a:cxn ang="0">
                  <a:pos x="92" y="19"/>
                </a:cxn>
                <a:cxn ang="0">
                  <a:pos x="96" y="58"/>
                </a:cxn>
                <a:cxn ang="0">
                  <a:pos x="100" y="95"/>
                </a:cxn>
                <a:cxn ang="0">
                  <a:pos x="102" y="133"/>
                </a:cxn>
                <a:cxn ang="0">
                  <a:pos x="108" y="156"/>
                </a:cxn>
                <a:cxn ang="0">
                  <a:pos x="91" y="171"/>
                </a:cxn>
                <a:cxn ang="0">
                  <a:pos x="61" y="171"/>
                </a:cxn>
                <a:cxn ang="0">
                  <a:pos x="44" y="169"/>
                </a:cxn>
                <a:cxn ang="0">
                  <a:pos x="19" y="175"/>
                </a:cxn>
                <a:cxn ang="0">
                  <a:pos x="2" y="185"/>
                </a:cxn>
                <a:cxn ang="0">
                  <a:pos x="4" y="202"/>
                </a:cxn>
                <a:cxn ang="0">
                  <a:pos x="13" y="226"/>
                </a:cxn>
                <a:cxn ang="0">
                  <a:pos x="20" y="231"/>
                </a:cxn>
                <a:cxn ang="0">
                  <a:pos x="35" y="232"/>
                </a:cxn>
                <a:cxn ang="0">
                  <a:pos x="48" y="225"/>
                </a:cxn>
                <a:cxn ang="0">
                  <a:pos x="59" y="244"/>
                </a:cxn>
              </a:cxnLst>
              <a:rect l="0" t="0" r="r" b="b"/>
              <a:pathLst>
                <a:path w="258" h="267">
                  <a:moveTo>
                    <a:pt x="59" y="244"/>
                  </a:moveTo>
                  <a:lnTo>
                    <a:pt x="56" y="250"/>
                  </a:lnTo>
                  <a:lnTo>
                    <a:pt x="59" y="250"/>
                  </a:lnTo>
                  <a:lnTo>
                    <a:pt x="66" y="267"/>
                  </a:lnTo>
                  <a:lnTo>
                    <a:pt x="70" y="263"/>
                  </a:lnTo>
                  <a:lnTo>
                    <a:pt x="79" y="265"/>
                  </a:lnTo>
                  <a:lnTo>
                    <a:pt x="86" y="261"/>
                  </a:lnTo>
                  <a:lnTo>
                    <a:pt x="92" y="257"/>
                  </a:lnTo>
                  <a:lnTo>
                    <a:pt x="95" y="264"/>
                  </a:lnTo>
                  <a:lnTo>
                    <a:pt x="106" y="262"/>
                  </a:lnTo>
                  <a:lnTo>
                    <a:pt x="109" y="238"/>
                  </a:lnTo>
                  <a:lnTo>
                    <a:pt x="114" y="234"/>
                  </a:lnTo>
                  <a:lnTo>
                    <a:pt x="122" y="226"/>
                  </a:lnTo>
                  <a:lnTo>
                    <a:pt x="126" y="219"/>
                  </a:lnTo>
                  <a:lnTo>
                    <a:pt x="128" y="208"/>
                  </a:lnTo>
                  <a:lnTo>
                    <a:pt x="138" y="213"/>
                  </a:lnTo>
                  <a:lnTo>
                    <a:pt x="140" y="205"/>
                  </a:lnTo>
                  <a:lnTo>
                    <a:pt x="144" y="204"/>
                  </a:lnTo>
                  <a:lnTo>
                    <a:pt x="150" y="195"/>
                  </a:lnTo>
                  <a:lnTo>
                    <a:pt x="160" y="195"/>
                  </a:lnTo>
                  <a:lnTo>
                    <a:pt x="161" y="187"/>
                  </a:lnTo>
                  <a:lnTo>
                    <a:pt x="181" y="178"/>
                  </a:lnTo>
                  <a:lnTo>
                    <a:pt x="196" y="180"/>
                  </a:lnTo>
                  <a:lnTo>
                    <a:pt x="198" y="180"/>
                  </a:lnTo>
                  <a:lnTo>
                    <a:pt x="212" y="174"/>
                  </a:lnTo>
                  <a:lnTo>
                    <a:pt x="230" y="174"/>
                  </a:lnTo>
                  <a:lnTo>
                    <a:pt x="247" y="173"/>
                  </a:lnTo>
                  <a:lnTo>
                    <a:pt x="256" y="157"/>
                  </a:lnTo>
                  <a:lnTo>
                    <a:pt x="257" y="144"/>
                  </a:lnTo>
                  <a:lnTo>
                    <a:pt x="257" y="131"/>
                  </a:lnTo>
                  <a:lnTo>
                    <a:pt x="258" y="118"/>
                  </a:lnTo>
                  <a:lnTo>
                    <a:pt x="258" y="105"/>
                  </a:lnTo>
                  <a:lnTo>
                    <a:pt x="241" y="105"/>
                  </a:lnTo>
                  <a:lnTo>
                    <a:pt x="240" y="91"/>
                  </a:lnTo>
                  <a:lnTo>
                    <a:pt x="218" y="82"/>
                  </a:lnTo>
                  <a:lnTo>
                    <a:pt x="210" y="76"/>
                  </a:lnTo>
                  <a:lnTo>
                    <a:pt x="210" y="70"/>
                  </a:lnTo>
                  <a:lnTo>
                    <a:pt x="199" y="61"/>
                  </a:lnTo>
                  <a:lnTo>
                    <a:pt x="187" y="53"/>
                  </a:lnTo>
                  <a:lnTo>
                    <a:pt x="175" y="43"/>
                  </a:lnTo>
                  <a:lnTo>
                    <a:pt x="164" y="35"/>
                  </a:lnTo>
                  <a:lnTo>
                    <a:pt x="152" y="27"/>
                  </a:lnTo>
                  <a:lnTo>
                    <a:pt x="140" y="17"/>
                  </a:lnTo>
                  <a:lnTo>
                    <a:pt x="130" y="9"/>
                  </a:lnTo>
                  <a:lnTo>
                    <a:pt x="118" y="0"/>
                  </a:lnTo>
                  <a:lnTo>
                    <a:pt x="104" y="0"/>
                  </a:lnTo>
                  <a:lnTo>
                    <a:pt x="90" y="0"/>
                  </a:lnTo>
                  <a:lnTo>
                    <a:pt x="92" y="19"/>
                  </a:lnTo>
                  <a:lnTo>
                    <a:pt x="94" y="39"/>
                  </a:lnTo>
                  <a:lnTo>
                    <a:pt x="96" y="58"/>
                  </a:lnTo>
                  <a:lnTo>
                    <a:pt x="97" y="76"/>
                  </a:lnTo>
                  <a:lnTo>
                    <a:pt x="100" y="95"/>
                  </a:lnTo>
                  <a:lnTo>
                    <a:pt x="101" y="114"/>
                  </a:lnTo>
                  <a:lnTo>
                    <a:pt x="102" y="133"/>
                  </a:lnTo>
                  <a:lnTo>
                    <a:pt x="104" y="153"/>
                  </a:lnTo>
                  <a:lnTo>
                    <a:pt x="108" y="156"/>
                  </a:lnTo>
                  <a:lnTo>
                    <a:pt x="106" y="171"/>
                  </a:lnTo>
                  <a:lnTo>
                    <a:pt x="91" y="171"/>
                  </a:lnTo>
                  <a:lnTo>
                    <a:pt x="76" y="171"/>
                  </a:lnTo>
                  <a:lnTo>
                    <a:pt x="61" y="171"/>
                  </a:lnTo>
                  <a:lnTo>
                    <a:pt x="46" y="171"/>
                  </a:lnTo>
                  <a:lnTo>
                    <a:pt x="44" y="169"/>
                  </a:lnTo>
                  <a:lnTo>
                    <a:pt x="22" y="174"/>
                  </a:lnTo>
                  <a:lnTo>
                    <a:pt x="19" y="175"/>
                  </a:lnTo>
                  <a:lnTo>
                    <a:pt x="10" y="169"/>
                  </a:lnTo>
                  <a:lnTo>
                    <a:pt x="2" y="185"/>
                  </a:lnTo>
                  <a:lnTo>
                    <a:pt x="0" y="184"/>
                  </a:lnTo>
                  <a:lnTo>
                    <a:pt x="4" y="202"/>
                  </a:lnTo>
                  <a:lnTo>
                    <a:pt x="8" y="209"/>
                  </a:lnTo>
                  <a:lnTo>
                    <a:pt x="13" y="226"/>
                  </a:lnTo>
                  <a:lnTo>
                    <a:pt x="11" y="231"/>
                  </a:lnTo>
                  <a:lnTo>
                    <a:pt x="20" y="231"/>
                  </a:lnTo>
                  <a:lnTo>
                    <a:pt x="25" y="233"/>
                  </a:lnTo>
                  <a:lnTo>
                    <a:pt x="35" y="232"/>
                  </a:lnTo>
                  <a:lnTo>
                    <a:pt x="46" y="228"/>
                  </a:lnTo>
                  <a:lnTo>
                    <a:pt x="48" y="225"/>
                  </a:lnTo>
                  <a:lnTo>
                    <a:pt x="53" y="239"/>
                  </a:lnTo>
                  <a:lnTo>
                    <a:pt x="59" y="2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3" name="Freeform 132"/>
            <p:cNvSpPr>
              <a:spLocks/>
            </p:cNvSpPr>
            <p:nvPr/>
          </p:nvSpPr>
          <p:spPr bwMode="auto">
            <a:xfrm>
              <a:off x="2769" y="1987"/>
              <a:ext cx="4" cy="3"/>
            </a:xfrm>
            <a:custGeom>
              <a:avLst/>
              <a:gdLst/>
              <a:ahLst/>
              <a:cxnLst>
                <a:cxn ang="0">
                  <a:pos x="3" y="2"/>
                </a:cxn>
                <a:cxn ang="0">
                  <a:pos x="2" y="3"/>
                </a:cxn>
                <a:cxn ang="0">
                  <a:pos x="0" y="0"/>
                </a:cxn>
                <a:cxn ang="0">
                  <a:pos x="3" y="2"/>
                </a:cxn>
              </a:cxnLst>
              <a:rect l="0" t="0" r="r" b="b"/>
              <a:pathLst>
                <a:path w="3" h="3">
                  <a:moveTo>
                    <a:pt x="3" y="2"/>
                  </a:moveTo>
                  <a:lnTo>
                    <a:pt x="2" y="3"/>
                  </a:lnTo>
                  <a:lnTo>
                    <a:pt x="0" y="0"/>
                  </a:lnTo>
                  <a:lnTo>
                    <a:pt x="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4" name="Freeform 133"/>
            <p:cNvSpPr>
              <a:spLocks/>
            </p:cNvSpPr>
            <p:nvPr/>
          </p:nvSpPr>
          <p:spPr bwMode="auto">
            <a:xfrm>
              <a:off x="2236" y="2161"/>
              <a:ext cx="213" cy="251"/>
            </a:xfrm>
            <a:custGeom>
              <a:avLst/>
              <a:gdLst/>
              <a:ahLst/>
              <a:cxnLst>
                <a:cxn ang="0">
                  <a:pos x="9" y="195"/>
                </a:cxn>
                <a:cxn ang="0">
                  <a:pos x="6" y="202"/>
                </a:cxn>
                <a:cxn ang="0">
                  <a:pos x="11" y="180"/>
                </a:cxn>
                <a:cxn ang="0">
                  <a:pos x="14" y="159"/>
                </a:cxn>
                <a:cxn ang="0">
                  <a:pos x="9" y="142"/>
                </a:cxn>
                <a:cxn ang="0">
                  <a:pos x="11" y="123"/>
                </a:cxn>
                <a:cxn ang="0">
                  <a:pos x="1" y="112"/>
                </a:cxn>
                <a:cxn ang="0">
                  <a:pos x="0" y="117"/>
                </a:cxn>
                <a:cxn ang="0">
                  <a:pos x="2" y="107"/>
                </a:cxn>
                <a:cxn ang="0">
                  <a:pos x="17" y="107"/>
                </a:cxn>
                <a:cxn ang="0">
                  <a:pos x="32" y="107"/>
                </a:cxn>
                <a:cxn ang="0">
                  <a:pos x="48" y="107"/>
                </a:cxn>
                <a:cxn ang="0">
                  <a:pos x="63" y="107"/>
                </a:cxn>
                <a:cxn ang="0">
                  <a:pos x="63" y="92"/>
                </a:cxn>
                <a:cxn ang="0">
                  <a:pos x="63" y="77"/>
                </a:cxn>
                <a:cxn ang="0">
                  <a:pos x="79" y="69"/>
                </a:cxn>
                <a:cxn ang="0">
                  <a:pos x="80" y="46"/>
                </a:cxn>
                <a:cxn ang="0">
                  <a:pos x="80" y="23"/>
                </a:cxn>
                <a:cxn ang="0">
                  <a:pos x="93" y="23"/>
                </a:cxn>
                <a:cxn ang="0">
                  <a:pos x="107" y="23"/>
                </a:cxn>
                <a:cxn ang="0">
                  <a:pos x="119" y="23"/>
                </a:cxn>
                <a:cxn ang="0">
                  <a:pos x="132" y="23"/>
                </a:cxn>
                <a:cxn ang="0">
                  <a:pos x="132" y="0"/>
                </a:cxn>
                <a:cxn ang="0">
                  <a:pos x="147" y="10"/>
                </a:cxn>
                <a:cxn ang="0">
                  <a:pos x="162" y="21"/>
                </a:cxn>
                <a:cxn ang="0">
                  <a:pos x="176" y="30"/>
                </a:cxn>
                <a:cxn ang="0">
                  <a:pos x="191" y="41"/>
                </a:cxn>
                <a:cxn ang="0">
                  <a:pos x="177" y="41"/>
                </a:cxn>
                <a:cxn ang="0">
                  <a:pos x="163" y="41"/>
                </a:cxn>
                <a:cxn ang="0">
                  <a:pos x="165" y="60"/>
                </a:cxn>
                <a:cxn ang="0">
                  <a:pos x="167" y="80"/>
                </a:cxn>
                <a:cxn ang="0">
                  <a:pos x="169" y="99"/>
                </a:cxn>
                <a:cxn ang="0">
                  <a:pos x="170" y="117"/>
                </a:cxn>
                <a:cxn ang="0">
                  <a:pos x="173" y="136"/>
                </a:cxn>
                <a:cxn ang="0">
                  <a:pos x="174" y="155"/>
                </a:cxn>
                <a:cxn ang="0">
                  <a:pos x="175" y="174"/>
                </a:cxn>
                <a:cxn ang="0">
                  <a:pos x="177" y="194"/>
                </a:cxn>
                <a:cxn ang="0">
                  <a:pos x="181" y="197"/>
                </a:cxn>
                <a:cxn ang="0">
                  <a:pos x="179" y="212"/>
                </a:cxn>
                <a:cxn ang="0">
                  <a:pos x="164" y="212"/>
                </a:cxn>
                <a:cxn ang="0">
                  <a:pos x="149" y="212"/>
                </a:cxn>
                <a:cxn ang="0">
                  <a:pos x="134" y="212"/>
                </a:cxn>
                <a:cxn ang="0">
                  <a:pos x="119" y="212"/>
                </a:cxn>
                <a:cxn ang="0">
                  <a:pos x="117" y="210"/>
                </a:cxn>
                <a:cxn ang="0">
                  <a:pos x="95" y="215"/>
                </a:cxn>
                <a:cxn ang="0">
                  <a:pos x="92" y="216"/>
                </a:cxn>
                <a:cxn ang="0">
                  <a:pos x="83" y="210"/>
                </a:cxn>
                <a:cxn ang="0">
                  <a:pos x="75" y="226"/>
                </a:cxn>
                <a:cxn ang="0">
                  <a:pos x="73" y="225"/>
                </a:cxn>
                <a:cxn ang="0">
                  <a:pos x="61" y="213"/>
                </a:cxn>
                <a:cxn ang="0">
                  <a:pos x="49" y="200"/>
                </a:cxn>
                <a:cxn ang="0">
                  <a:pos x="35" y="191"/>
                </a:cxn>
                <a:cxn ang="0">
                  <a:pos x="23" y="192"/>
                </a:cxn>
                <a:cxn ang="0">
                  <a:pos x="9" y="195"/>
                </a:cxn>
              </a:cxnLst>
              <a:rect l="0" t="0" r="r" b="b"/>
              <a:pathLst>
                <a:path w="191" h="226">
                  <a:moveTo>
                    <a:pt x="9" y="195"/>
                  </a:moveTo>
                  <a:lnTo>
                    <a:pt x="6" y="202"/>
                  </a:lnTo>
                  <a:lnTo>
                    <a:pt x="11" y="180"/>
                  </a:lnTo>
                  <a:lnTo>
                    <a:pt x="14" y="159"/>
                  </a:lnTo>
                  <a:lnTo>
                    <a:pt x="9" y="142"/>
                  </a:lnTo>
                  <a:lnTo>
                    <a:pt x="11" y="123"/>
                  </a:lnTo>
                  <a:lnTo>
                    <a:pt x="1" y="112"/>
                  </a:lnTo>
                  <a:lnTo>
                    <a:pt x="0" y="117"/>
                  </a:lnTo>
                  <a:lnTo>
                    <a:pt x="2" y="107"/>
                  </a:lnTo>
                  <a:lnTo>
                    <a:pt x="17" y="107"/>
                  </a:lnTo>
                  <a:lnTo>
                    <a:pt x="32" y="107"/>
                  </a:lnTo>
                  <a:lnTo>
                    <a:pt x="48" y="107"/>
                  </a:lnTo>
                  <a:lnTo>
                    <a:pt x="63" y="107"/>
                  </a:lnTo>
                  <a:lnTo>
                    <a:pt x="63" y="92"/>
                  </a:lnTo>
                  <a:lnTo>
                    <a:pt x="63" y="77"/>
                  </a:lnTo>
                  <a:lnTo>
                    <a:pt x="79" y="69"/>
                  </a:lnTo>
                  <a:lnTo>
                    <a:pt x="80" y="46"/>
                  </a:lnTo>
                  <a:lnTo>
                    <a:pt x="80" y="23"/>
                  </a:lnTo>
                  <a:lnTo>
                    <a:pt x="93" y="23"/>
                  </a:lnTo>
                  <a:lnTo>
                    <a:pt x="107" y="23"/>
                  </a:lnTo>
                  <a:lnTo>
                    <a:pt x="119" y="23"/>
                  </a:lnTo>
                  <a:lnTo>
                    <a:pt x="132" y="23"/>
                  </a:lnTo>
                  <a:lnTo>
                    <a:pt x="132" y="0"/>
                  </a:lnTo>
                  <a:lnTo>
                    <a:pt x="147" y="10"/>
                  </a:lnTo>
                  <a:lnTo>
                    <a:pt x="162" y="21"/>
                  </a:lnTo>
                  <a:lnTo>
                    <a:pt x="176" y="30"/>
                  </a:lnTo>
                  <a:lnTo>
                    <a:pt x="191" y="41"/>
                  </a:lnTo>
                  <a:lnTo>
                    <a:pt x="177" y="41"/>
                  </a:lnTo>
                  <a:lnTo>
                    <a:pt x="163" y="41"/>
                  </a:lnTo>
                  <a:lnTo>
                    <a:pt x="165" y="60"/>
                  </a:lnTo>
                  <a:lnTo>
                    <a:pt x="167" y="80"/>
                  </a:lnTo>
                  <a:lnTo>
                    <a:pt x="169" y="99"/>
                  </a:lnTo>
                  <a:lnTo>
                    <a:pt x="170" y="117"/>
                  </a:lnTo>
                  <a:lnTo>
                    <a:pt x="173" y="136"/>
                  </a:lnTo>
                  <a:lnTo>
                    <a:pt x="174" y="155"/>
                  </a:lnTo>
                  <a:lnTo>
                    <a:pt x="175" y="174"/>
                  </a:lnTo>
                  <a:lnTo>
                    <a:pt x="177" y="194"/>
                  </a:lnTo>
                  <a:lnTo>
                    <a:pt x="181" y="197"/>
                  </a:lnTo>
                  <a:lnTo>
                    <a:pt x="179" y="212"/>
                  </a:lnTo>
                  <a:lnTo>
                    <a:pt x="164" y="212"/>
                  </a:lnTo>
                  <a:lnTo>
                    <a:pt x="149" y="212"/>
                  </a:lnTo>
                  <a:lnTo>
                    <a:pt x="134" y="212"/>
                  </a:lnTo>
                  <a:lnTo>
                    <a:pt x="119" y="212"/>
                  </a:lnTo>
                  <a:lnTo>
                    <a:pt x="117" y="210"/>
                  </a:lnTo>
                  <a:lnTo>
                    <a:pt x="95" y="215"/>
                  </a:lnTo>
                  <a:lnTo>
                    <a:pt x="92" y="216"/>
                  </a:lnTo>
                  <a:lnTo>
                    <a:pt x="83" y="210"/>
                  </a:lnTo>
                  <a:lnTo>
                    <a:pt x="75" y="226"/>
                  </a:lnTo>
                  <a:lnTo>
                    <a:pt x="73" y="225"/>
                  </a:lnTo>
                  <a:lnTo>
                    <a:pt x="61" y="213"/>
                  </a:lnTo>
                  <a:lnTo>
                    <a:pt x="49" y="200"/>
                  </a:lnTo>
                  <a:lnTo>
                    <a:pt x="35" y="191"/>
                  </a:lnTo>
                  <a:lnTo>
                    <a:pt x="23" y="192"/>
                  </a:lnTo>
                  <a:lnTo>
                    <a:pt x="9" y="19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5" name="Freeform 134"/>
            <p:cNvSpPr>
              <a:spLocks/>
            </p:cNvSpPr>
            <p:nvPr/>
          </p:nvSpPr>
          <p:spPr bwMode="auto">
            <a:xfrm>
              <a:off x="2307" y="1990"/>
              <a:ext cx="206" cy="164"/>
            </a:xfrm>
            <a:custGeom>
              <a:avLst/>
              <a:gdLst/>
              <a:ahLst/>
              <a:cxnLst>
                <a:cxn ang="0">
                  <a:pos x="96" y="36"/>
                </a:cxn>
                <a:cxn ang="0">
                  <a:pos x="82" y="45"/>
                </a:cxn>
                <a:cxn ang="0">
                  <a:pos x="69" y="54"/>
                </a:cxn>
                <a:cxn ang="0">
                  <a:pos x="60" y="68"/>
                </a:cxn>
                <a:cxn ang="0">
                  <a:pos x="53" y="81"/>
                </a:cxn>
                <a:cxn ang="0">
                  <a:pos x="56" y="98"/>
                </a:cxn>
                <a:cxn ang="0">
                  <a:pos x="48" y="110"/>
                </a:cxn>
                <a:cxn ang="0">
                  <a:pos x="41" y="123"/>
                </a:cxn>
                <a:cxn ang="0">
                  <a:pos x="29" y="132"/>
                </a:cxn>
                <a:cxn ang="0">
                  <a:pos x="17" y="140"/>
                </a:cxn>
                <a:cxn ang="0">
                  <a:pos x="0" y="147"/>
                </a:cxn>
                <a:cxn ang="0">
                  <a:pos x="17" y="147"/>
                </a:cxn>
                <a:cxn ang="0">
                  <a:pos x="35" y="147"/>
                </a:cxn>
                <a:cxn ang="0">
                  <a:pos x="52" y="147"/>
                </a:cxn>
                <a:cxn ang="0">
                  <a:pos x="69" y="147"/>
                </a:cxn>
                <a:cxn ang="0">
                  <a:pos x="72" y="126"/>
                </a:cxn>
                <a:cxn ang="0">
                  <a:pos x="86" y="120"/>
                </a:cxn>
                <a:cxn ang="0">
                  <a:pos x="98" y="112"/>
                </a:cxn>
                <a:cxn ang="0">
                  <a:pos x="111" y="106"/>
                </a:cxn>
                <a:cxn ang="0">
                  <a:pos x="125" y="100"/>
                </a:cxn>
                <a:cxn ang="0">
                  <a:pos x="136" y="93"/>
                </a:cxn>
                <a:cxn ang="0">
                  <a:pos x="147" y="85"/>
                </a:cxn>
                <a:cxn ang="0">
                  <a:pos x="147" y="74"/>
                </a:cxn>
                <a:cxn ang="0">
                  <a:pos x="167" y="67"/>
                </a:cxn>
                <a:cxn ang="0">
                  <a:pos x="183" y="66"/>
                </a:cxn>
                <a:cxn ang="0">
                  <a:pos x="186" y="61"/>
                </a:cxn>
                <a:cxn ang="0">
                  <a:pos x="177" y="44"/>
                </a:cxn>
                <a:cxn ang="0">
                  <a:pos x="174" y="31"/>
                </a:cxn>
                <a:cxn ang="0">
                  <a:pos x="173" y="18"/>
                </a:cxn>
                <a:cxn ang="0">
                  <a:pos x="170" y="14"/>
                </a:cxn>
                <a:cxn ang="0">
                  <a:pos x="159" y="10"/>
                </a:cxn>
                <a:cxn ang="0">
                  <a:pos x="154" y="12"/>
                </a:cxn>
                <a:cxn ang="0">
                  <a:pos x="129" y="9"/>
                </a:cxn>
                <a:cxn ang="0">
                  <a:pos x="120" y="0"/>
                </a:cxn>
                <a:cxn ang="0">
                  <a:pos x="112" y="7"/>
                </a:cxn>
                <a:cxn ang="0">
                  <a:pos x="105" y="21"/>
                </a:cxn>
                <a:cxn ang="0">
                  <a:pos x="96" y="36"/>
                </a:cxn>
              </a:cxnLst>
              <a:rect l="0" t="0" r="r" b="b"/>
              <a:pathLst>
                <a:path w="186" h="147">
                  <a:moveTo>
                    <a:pt x="96" y="36"/>
                  </a:moveTo>
                  <a:lnTo>
                    <a:pt x="82" y="45"/>
                  </a:lnTo>
                  <a:lnTo>
                    <a:pt x="69" y="54"/>
                  </a:lnTo>
                  <a:lnTo>
                    <a:pt x="60" y="68"/>
                  </a:lnTo>
                  <a:lnTo>
                    <a:pt x="53" y="81"/>
                  </a:lnTo>
                  <a:lnTo>
                    <a:pt x="56" y="98"/>
                  </a:lnTo>
                  <a:lnTo>
                    <a:pt x="48" y="110"/>
                  </a:lnTo>
                  <a:lnTo>
                    <a:pt x="41" y="123"/>
                  </a:lnTo>
                  <a:lnTo>
                    <a:pt x="29" y="132"/>
                  </a:lnTo>
                  <a:lnTo>
                    <a:pt x="17" y="140"/>
                  </a:lnTo>
                  <a:lnTo>
                    <a:pt x="0" y="147"/>
                  </a:lnTo>
                  <a:lnTo>
                    <a:pt x="17" y="147"/>
                  </a:lnTo>
                  <a:lnTo>
                    <a:pt x="35" y="147"/>
                  </a:lnTo>
                  <a:lnTo>
                    <a:pt x="52" y="147"/>
                  </a:lnTo>
                  <a:lnTo>
                    <a:pt x="69" y="147"/>
                  </a:lnTo>
                  <a:lnTo>
                    <a:pt x="72" y="126"/>
                  </a:lnTo>
                  <a:lnTo>
                    <a:pt x="86" y="120"/>
                  </a:lnTo>
                  <a:lnTo>
                    <a:pt x="98" y="112"/>
                  </a:lnTo>
                  <a:lnTo>
                    <a:pt x="111" y="106"/>
                  </a:lnTo>
                  <a:lnTo>
                    <a:pt x="125" y="100"/>
                  </a:lnTo>
                  <a:lnTo>
                    <a:pt x="136" y="93"/>
                  </a:lnTo>
                  <a:lnTo>
                    <a:pt x="147" y="85"/>
                  </a:lnTo>
                  <a:lnTo>
                    <a:pt x="147" y="74"/>
                  </a:lnTo>
                  <a:lnTo>
                    <a:pt x="167" y="67"/>
                  </a:lnTo>
                  <a:lnTo>
                    <a:pt x="183" y="66"/>
                  </a:lnTo>
                  <a:lnTo>
                    <a:pt x="186" y="61"/>
                  </a:lnTo>
                  <a:lnTo>
                    <a:pt x="177" y="44"/>
                  </a:lnTo>
                  <a:lnTo>
                    <a:pt x="174" y="31"/>
                  </a:lnTo>
                  <a:lnTo>
                    <a:pt x="173" y="18"/>
                  </a:lnTo>
                  <a:lnTo>
                    <a:pt x="170" y="14"/>
                  </a:lnTo>
                  <a:lnTo>
                    <a:pt x="159" y="10"/>
                  </a:lnTo>
                  <a:lnTo>
                    <a:pt x="154" y="12"/>
                  </a:lnTo>
                  <a:lnTo>
                    <a:pt x="129" y="9"/>
                  </a:lnTo>
                  <a:lnTo>
                    <a:pt x="120" y="0"/>
                  </a:lnTo>
                  <a:lnTo>
                    <a:pt x="112" y="7"/>
                  </a:lnTo>
                  <a:lnTo>
                    <a:pt x="105" y="21"/>
                  </a:lnTo>
                  <a:lnTo>
                    <a:pt x="96"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6" name="Freeform 135"/>
            <p:cNvSpPr>
              <a:spLocks/>
            </p:cNvSpPr>
            <p:nvPr/>
          </p:nvSpPr>
          <p:spPr bwMode="auto">
            <a:xfrm>
              <a:off x="2536" y="2236"/>
              <a:ext cx="273" cy="236"/>
            </a:xfrm>
            <a:custGeom>
              <a:avLst/>
              <a:gdLst/>
              <a:ahLst/>
              <a:cxnLst>
                <a:cxn ang="0">
                  <a:pos x="27" y="194"/>
                </a:cxn>
                <a:cxn ang="0">
                  <a:pos x="21" y="195"/>
                </a:cxn>
                <a:cxn ang="0">
                  <a:pos x="12" y="188"/>
                </a:cxn>
                <a:cxn ang="0">
                  <a:pos x="12" y="182"/>
                </a:cxn>
                <a:cxn ang="0">
                  <a:pos x="14" y="181"/>
                </a:cxn>
                <a:cxn ang="0">
                  <a:pos x="2" y="168"/>
                </a:cxn>
                <a:cxn ang="0">
                  <a:pos x="0" y="153"/>
                </a:cxn>
                <a:cxn ang="0">
                  <a:pos x="2" y="153"/>
                </a:cxn>
                <a:cxn ang="0">
                  <a:pos x="16" y="147"/>
                </a:cxn>
                <a:cxn ang="0">
                  <a:pos x="34" y="147"/>
                </a:cxn>
                <a:cxn ang="0">
                  <a:pos x="51" y="146"/>
                </a:cxn>
                <a:cxn ang="0">
                  <a:pos x="60" y="130"/>
                </a:cxn>
                <a:cxn ang="0">
                  <a:pos x="61" y="117"/>
                </a:cxn>
                <a:cxn ang="0">
                  <a:pos x="61" y="104"/>
                </a:cxn>
                <a:cxn ang="0">
                  <a:pos x="62" y="91"/>
                </a:cxn>
                <a:cxn ang="0">
                  <a:pos x="62" y="78"/>
                </a:cxn>
                <a:cxn ang="0">
                  <a:pos x="75" y="75"/>
                </a:cxn>
                <a:cxn ang="0">
                  <a:pos x="87" y="73"/>
                </a:cxn>
                <a:cxn ang="0">
                  <a:pos x="99" y="60"/>
                </a:cxn>
                <a:cxn ang="0">
                  <a:pos x="112" y="48"/>
                </a:cxn>
                <a:cxn ang="0">
                  <a:pos x="129" y="36"/>
                </a:cxn>
                <a:cxn ang="0">
                  <a:pos x="147" y="24"/>
                </a:cxn>
                <a:cxn ang="0">
                  <a:pos x="164" y="12"/>
                </a:cxn>
                <a:cxn ang="0">
                  <a:pos x="182" y="0"/>
                </a:cxn>
                <a:cxn ang="0">
                  <a:pos x="204" y="6"/>
                </a:cxn>
                <a:cxn ang="0">
                  <a:pos x="217" y="16"/>
                </a:cxn>
                <a:cxn ang="0">
                  <a:pos x="228" y="9"/>
                </a:cxn>
                <a:cxn ang="0">
                  <a:pos x="229" y="9"/>
                </a:cxn>
                <a:cxn ang="0">
                  <a:pos x="230" y="22"/>
                </a:cxn>
                <a:cxn ang="0">
                  <a:pos x="232" y="36"/>
                </a:cxn>
                <a:cxn ang="0">
                  <a:pos x="246" y="56"/>
                </a:cxn>
                <a:cxn ang="0">
                  <a:pos x="242" y="64"/>
                </a:cxn>
                <a:cxn ang="0">
                  <a:pos x="241" y="78"/>
                </a:cxn>
                <a:cxn ang="0">
                  <a:pos x="240" y="91"/>
                </a:cxn>
                <a:cxn ang="0">
                  <a:pos x="240" y="105"/>
                </a:cxn>
                <a:cxn ang="0">
                  <a:pos x="238" y="118"/>
                </a:cxn>
                <a:cxn ang="0">
                  <a:pos x="231" y="129"/>
                </a:cxn>
                <a:cxn ang="0">
                  <a:pos x="224" y="140"/>
                </a:cxn>
                <a:cxn ang="0">
                  <a:pos x="217" y="151"/>
                </a:cxn>
                <a:cxn ang="0">
                  <a:pos x="210" y="162"/>
                </a:cxn>
                <a:cxn ang="0">
                  <a:pos x="211" y="176"/>
                </a:cxn>
                <a:cxn ang="0">
                  <a:pos x="193" y="186"/>
                </a:cxn>
                <a:cxn ang="0">
                  <a:pos x="177" y="184"/>
                </a:cxn>
                <a:cxn ang="0">
                  <a:pos x="160" y="183"/>
                </a:cxn>
                <a:cxn ang="0">
                  <a:pos x="142" y="192"/>
                </a:cxn>
                <a:cxn ang="0">
                  <a:pos x="132" y="187"/>
                </a:cxn>
                <a:cxn ang="0">
                  <a:pos x="120" y="182"/>
                </a:cxn>
                <a:cxn ang="0">
                  <a:pos x="103" y="187"/>
                </a:cxn>
                <a:cxn ang="0">
                  <a:pos x="92" y="176"/>
                </a:cxn>
                <a:cxn ang="0">
                  <a:pos x="76" y="175"/>
                </a:cxn>
                <a:cxn ang="0">
                  <a:pos x="62" y="180"/>
                </a:cxn>
                <a:cxn ang="0">
                  <a:pos x="58" y="193"/>
                </a:cxn>
                <a:cxn ang="0">
                  <a:pos x="54" y="205"/>
                </a:cxn>
                <a:cxn ang="0">
                  <a:pos x="52" y="212"/>
                </a:cxn>
                <a:cxn ang="0">
                  <a:pos x="39" y="200"/>
                </a:cxn>
                <a:cxn ang="0">
                  <a:pos x="34" y="206"/>
                </a:cxn>
                <a:cxn ang="0">
                  <a:pos x="34" y="208"/>
                </a:cxn>
                <a:cxn ang="0">
                  <a:pos x="31" y="199"/>
                </a:cxn>
                <a:cxn ang="0">
                  <a:pos x="27" y="194"/>
                </a:cxn>
              </a:cxnLst>
              <a:rect l="0" t="0" r="r" b="b"/>
              <a:pathLst>
                <a:path w="246" h="212">
                  <a:moveTo>
                    <a:pt x="27" y="194"/>
                  </a:moveTo>
                  <a:lnTo>
                    <a:pt x="21" y="195"/>
                  </a:lnTo>
                  <a:lnTo>
                    <a:pt x="12" y="188"/>
                  </a:lnTo>
                  <a:lnTo>
                    <a:pt x="12" y="182"/>
                  </a:lnTo>
                  <a:lnTo>
                    <a:pt x="14" y="181"/>
                  </a:lnTo>
                  <a:lnTo>
                    <a:pt x="2" y="168"/>
                  </a:lnTo>
                  <a:lnTo>
                    <a:pt x="0" y="153"/>
                  </a:lnTo>
                  <a:lnTo>
                    <a:pt x="2" y="153"/>
                  </a:lnTo>
                  <a:lnTo>
                    <a:pt x="16" y="147"/>
                  </a:lnTo>
                  <a:lnTo>
                    <a:pt x="34" y="147"/>
                  </a:lnTo>
                  <a:lnTo>
                    <a:pt x="51" y="146"/>
                  </a:lnTo>
                  <a:lnTo>
                    <a:pt x="60" y="130"/>
                  </a:lnTo>
                  <a:lnTo>
                    <a:pt x="61" y="117"/>
                  </a:lnTo>
                  <a:lnTo>
                    <a:pt x="61" y="104"/>
                  </a:lnTo>
                  <a:lnTo>
                    <a:pt x="62" y="91"/>
                  </a:lnTo>
                  <a:lnTo>
                    <a:pt x="62" y="78"/>
                  </a:lnTo>
                  <a:lnTo>
                    <a:pt x="75" y="75"/>
                  </a:lnTo>
                  <a:lnTo>
                    <a:pt x="87" y="73"/>
                  </a:lnTo>
                  <a:lnTo>
                    <a:pt x="99" y="60"/>
                  </a:lnTo>
                  <a:lnTo>
                    <a:pt x="112" y="48"/>
                  </a:lnTo>
                  <a:lnTo>
                    <a:pt x="129" y="36"/>
                  </a:lnTo>
                  <a:lnTo>
                    <a:pt x="147" y="24"/>
                  </a:lnTo>
                  <a:lnTo>
                    <a:pt x="164" y="12"/>
                  </a:lnTo>
                  <a:lnTo>
                    <a:pt x="182" y="0"/>
                  </a:lnTo>
                  <a:lnTo>
                    <a:pt x="204" y="6"/>
                  </a:lnTo>
                  <a:lnTo>
                    <a:pt x="217" y="16"/>
                  </a:lnTo>
                  <a:lnTo>
                    <a:pt x="228" y="9"/>
                  </a:lnTo>
                  <a:lnTo>
                    <a:pt x="229" y="9"/>
                  </a:lnTo>
                  <a:lnTo>
                    <a:pt x="230" y="22"/>
                  </a:lnTo>
                  <a:lnTo>
                    <a:pt x="232" y="36"/>
                  </a:lnTo>
                  <a:lnTo>
                    <a:pt x="246" y="56"/>
                  </a:lnTo>
                  <a:lnTo>
                    <a:pt x="242" y="64"/>
                  </a:lnTo>
                  <a:lnTo>
                    <a:pt x="241" y="78"/>
                  </a:lnTo>
                  <a:lnTo>
                    <a:pt x="240" y="91"/>
                  </a:lnTo>
                  <a:lnTo>
                    <a:pt x="240" y="105"/>
                  </a:lnTo>
                  <a:lnTo>
                    <a:pt x="238" y="118"/>
                  </a:lnTo>
                  <a:lnTo>
                    <a:pt x="231" y="129"/>
                  </a:lnTo>
                  <a:lnTo>
                    <a:pt x="224" y="140"/>
                  </a:lnTo>
                  <a:lnTo>
                    <a:pt x="217" y="151"/>
                  </a:lnTo>
                  <a:lnTo>
                    <a:pt x="210" y="162"/>
                  </a:lnTo>
                  <a:lnTo>
                    <a:pt x="211" y="176"/>
                  </a:lnTo>
                  <a:lnTo>
                    <a:pt x="193" y="186"/>
                  </a:lnTo>
                  <a:lnTo>
                    <a:pt x="177" y="184"/>
                  </a:lnTo>
                  <a:lnTo>
                    <a:pt x="160" y="183"/>
                  </a:lnTo>
                  <a:lnTo>
                    <a:pt x="142" y="192"/>
                  </a:lnTo>
                  <a:lnTo>
                    <a:pt x="132" y="187"/>
                  </a:lnTo>
                  <a:lnTo>
                    <a:pt x="120" y="182"/>
                  </a:lnTo>
                  <a:lnTo>
                    <a:pt x="103" y="187"/>
                  </a:lnTo>
                  <a:lnTo>
                    <a:pt x="92" y="176"/>
                  </a:lnTo>
                  <a:lnTo>
                    <a:pt x="76" y="175"/>
                  </a:lnTo>
                  <a:lnTo>
                    <a:pt x="62" y="180"/>
                  </a:lnTo>
                  <a:lnTo>
                    <a:pt x="58" y="193"/>
                  </a:lnTo>
                  <a:lnTo>
                    <a:pt x="54" y="205"/>
                  </a:lnTo>
                  <a:lnTo>
                    <a:pt x="52" y="212"/>
                  </a:lnTo>
                  <a:lnTo>
                    <a:pt x="39" y="200"/>
                  </a:lnTo>
                  <a:lnTo>
                    <a:pt x="34" y="206"/>
                  </a:lnTo>
                  <a:lnTo>
                    <a:pt x="34" y="208"/>
                  </a:lnTo>
                  <a:lnTo>
                    <a:pt x="31" y="199"/>
                  </a:lnTo>
                  <a:lnTo>
                    <a:pt x="27" y="19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7" name="Freeform 136"/>
            <p:cNvSpPr>
              <a:spLocks/>
            </p:cNvSpPr>
            <p:nvPr/>
          </p:nvSpPr>
          <p:spPr bwMode="auto">
            <a:xfrm>
              <a:off x="2227" y="2374"/>
              <a:ext cx="106" cy="87"/>
            </a:xfrm>
            <a:custGeom>
              <a:avLst/>
              <a:gdLst/>
              <a:ahLst/>
              <a:cxnLst>
                <a:cxn ang="0">
                  <a:pos x="18" y="4"/>
                </a:cxn>
                <a:cxn ang="0">
                  <a:pos x="15" y="11"/>
                </a:cxn>
                <a:cxn ang="0">
                  <a:pos x="8" y="23"/>
                </a:cxn>
                <a:cxn ang="0">
                  <a:pos x="0" y="35"/>
                </a:cxn>
                <a:cxn ang="0">
                  <a:pos x="10" y="48"/>
                </a:cxn>
                <a:cxn ang="0">
                  <a:pos x="15" y="45"/>
                </a:cxn>
                <a:cxn ang="0">
                  <a:pos x="11" y="48"/>
                </a:cxn>
                <a:cxn ang="0">
                  <a:pos x="14" y="49"/>
                </a:cxn>
                <a:cxn ang="0">
                  <a:pos x="14" y="55"/>
                </a:cxn>
                <a:cxn ang="0">
                  <a:pos x="30" y="55"/>
                </a:cxn>
                <a:cxn ang="0">
                  <a:pos x="33" y="52"/>
                </a:cxn>
                <a:cxn ang="0">
                  <a:pos x="52" y="55"/>
                </a:cxn>
                <a:cxn ang="0">
                  <a:pos x="56" y="60"/>
                </a:cxn>
                <a:cxn ang="0">
                  <a:pos x="35" y="55"/>
                </a:cxn>
                <a:cxn ang="0">
                  <a:pos x="23" y="60"/>
                </a:cxn>
                <a:cxn ang="0">
                  <a:pos x="10" y="64"/>
                </a:cxn>
                <a:cxn ang="0">
                  <a:pos x="12" y="72"/>
                </a:cxn>
                <a:cxn ang="0">
                  <a:pos x="23" y="71"/>
                </a:cxn>
                <a:cxn ang="0">
                  <a:pos x="29" y="69"/>
                </a:cxn>
                <a:cxn ang="0">
                  <a:pos x="29" y="71"/>
                </a:cxn>
                <a:cxn ang="0">
                  <a:pos x="15" y="72"/>
                </a:cxn>
                <a:cxn ang="0">
                  <a:pos x="11" y="78"/>
                </a:cxn>
                <a:cxn ang="0">
                  <a:pos x="32" y="73"/>
                </a:cxn>
                <a:cxn ang="0">
                  <a:pos x="45" y="72"/>
                </a:cxn>
                <a:cxn ang="0">
                  <a:pos x="58" y="71"/>
                </a:cxn>
                <a:cxn ang="0">
                  <a:pos x="72" y="75"/>
                </a:cxn>
                <a:cxn ang="0">
                  <a:pos x="95" y="76"/>
                </a:cxn>
                <a:cxn ang="0">
                  <a:pos x="90" y="59"/>
                </a:cxn>
                <a:cxn ang="0">
                  <a:pos x="86" y="52"/>
                </a:cxn>
                <a:cxn ang="0">
                  <a:pos x="82" y="34"/>
                </a:cxn>
                <a:cxn ang="0">
                  <a:pos x="70" y="22"/>
                </a:cxn>
                <a:cxn ang="0">
                  <a:pos x="58" y="9"/>
                </a:cxn>
                <a:cxn ang="0">
                  <a:pos x="44" y="0"/>
                </a:cxn>
                <a:cxn ang="0">
                  <a:pos x="32" y="1"/>
                </a:cxn>
                <a:cxn ang="0">
                  <a:pos x="18" y="4"/>
                </a:cxn>
              </a:cxnLst>
              <a:rect l="0" t="0" r="r" b="b"/>
              <a:pathLst>
                <a:path w="95" h="78">
                  <a:moveTo>
                    <a:pt x="18" y="4"/>
                  </a:moveTo>
                  <a:lnTo>
                    <a:pt x="15" y="11"/>
                  </a:lnTo>
                  <a:lnTo>
                    <a:pt x="8" y="23"/>
                  </a:lnTo>
                  <a:lnTo>
                    <a:pt x="0" y="35"/>
                  </a:lnTo>
                  <a:lnTo>
                    <a:pt x="10" y="48"/>
                  </a:lnTo>
                  <a:lnTo>
                    <a:pt x="15" y="45"/>
                  </a:lnTo>
                  <a:lnTo>
                    <a:pt x="11" y="48"/>
                  </a:lnTo>
                  <a:lnTo>
                    <a:pt x="14" y="49"/>
                  </a:lnTo>
                  <a:lnTo>
                    <a:pt x="14" y="55"/>
                  </a:lnTo>
                  <a:lnTo>
                    <a:pt x="30" y="55"/>
                  </a:lnTo>
                  <a:lnTo>
                    <a:pt x="33" y="52"/>
                  </a:lnTo>
                  <a:lnTo>
                    <a:pt x="52" y="55"/>
                  </a:lnTo>
                  <a:lnTo>
                    <a:pt x="56" y="60"/>
                  </a:lnTo>
                  <a:lnTo>
                    <a:pt x="35" y="55"/>
                  </a:lnTo>
                  <a:lnTo>
                    <a:pt x="23" y="60"/>
                  </a:lnTo>
                  <a:lnTo>
                    <a:pt x="10" y="64"/>
                  </a:lnTo>
                  <a:lnTo>
                    <a:pt x="12" y="72"/>
                  </a:lnTo>
                  <a:lnTo>
                    <a:pt x="23" y="71"/>
                  </a:lnTo>
                  <a:lnTo>
                    <a:pt x="29" y="69"/>
                  </a:lnTo>
                  <a:lnTo>
                    <a:pt x="29" y="71"/>
                  </a:lnTo>
                  <a:lnTo>
                    <a:pt x="15" y="72"/>
                  </a:lnTo>
                  <a:lnTo>
                    <a:pt x="11" y="78"/>
                  </a:lnTo>
                  <a:lnTo>
                    <a:pt x="32" y="73"/>
                  </a:lnTo>
                  <a:lnTo>
                    <a:pt x="45" y="72"/>
                  </a:lnTo>
                  <a:lnTo>
                    <a:pt x="58" y="71"/>
                  </a:lnTo>
                  <a:lnTo>
                    <a:pt x="72" y="75"/>
                  </a:lnTo>
                  <a:lnTo>
                    <a:pt x="95" y="76"/>
                  </a:lnTo>
                  <a:lnTo>
                    <a:pt x="90" y="59"/>
                  </a:lnTo>
                  <a:lnTo>
                    <a:pt x="86" y="52"/>
                  </a:lnTo>
                  <a:lnTo>
                    <a:pt x="82" y="34"/>
                  </a:lnTo>
                  <a:lnTo>
                    <a:pt x="70" y="22"/>
                  </a:lnTo>
                  <a:lnTo>
                    <a:pt x="58" y="9"/>
                  </a:lnTo>
                  <a:lnTo>
                    <a:pt x="44" y="0"/>
                  </a:lnTo>
                  <a:lnTo>
                    <a:pt x="32" y="1"/>
                  </a:lnTo>
                  <a:lnTo>
                    <a:pt x="18"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8" name="Freeform 137"/>
            <p:cNvSpPr>
              <a:spLocks/>
            </p:cNvSpPr>
            <p:nvPr/>
          </p:nvSpPr>
          <p:spPr bwMode="auto">
            <a:xfrm>
              <a:off x="2656" y="1963"/>
              <a:ext cx="68" cy="140"/>
            </a:xfrm>
            <a:custGeom>
              <a:avLst/>
              <a:gdLst/>
              <a:ahLst/>
              <a:cxnLst>
                <a:cxn ang="0">
                  <a:pos x="41" y="118"/>
                </a:cxn>
                <a:cxn ang="0">
                  <a:pos x="32" y="126"/>
                </a:cxn>
                <a:cxn ang="0">
                  <a:pos x="29" y="109"/>
                </a:cxn>
                <a:cxn ang="0">
                  <a:pos x="24" y="92"/>
                </a:cxn>
                <a:cxn ang="0">
                  <a:pos x="12" y="79"/>
                </a:cxn>
                <a:cxn ang="0">
                  <a:pos x="0" y="61"/>
                </a:cxn>
                <a:cxn ang="0">
                  <a:pos x="7" y="48"/>
                </a:cxn>
                <a:cxn ang="0">
                  <a:pos x="13" y="34"/>
                </a:cxn>
                <a:cxn ang="0">
                  <a:pos x="12" y="10"/>
                </a:cxn>
                <a:cxn ang="0">
                  <a:pos x="15" y="6"/>
                </a:cxn>
                <a:cxn ang="0">
                  <a:pos x="32" y="0"/>
                </a:cxn>
                <a:cxn ang="0">
                  <a:pos x="38" y="3"/>
                </a:cxn>
                <a:cxn ang="0">
                  <a:pos x="42" y="9"/>
                </a:cxn>
                <a:cxn ang="0">
                  <a:pos x="51" y="3"/>
                </a:cxn>
                <a:cxn ang="0">
                  <a:pos x="44" y="22"/>
                </a:cxn>
                <a:cxn ang="0">
                  <a:pos x="54" y="36"/>
                </a:cxn>
                <a:cxn ang="0">
                  <a:pos x="45" y="46"/>
                </a:cxn>
                <a:cxn ang="0">
                  <a:pos x="38" y="57"/>
                </a:cxn>
                <a:cxn ang="0">
                  <a:pos x="51" y="66"/>
                </a:cxn>
                <a:cxn ang="0">
                  <a:pos x="61" y="73"/>
                </a:cxn>
                <a:cxn ang="0">
                  <a:pos x="60" y="87"/>
                </a:cxn>
                <a:cxn ang="0">
                  <a:pos x="50" y="96"/>
                </a:cxn>
                <a:cxn ang="0">
                  <a:pos x="41" y="104"/>
                </a:cxn>
                <a:cxn ang="0">
                  <a:pos x="41" y="118"/>
                </a:cxn>
              </a:cxnLst>
              <a:rect l="0" t="0" r="r" b="b"/>
              <a:pathLst>
                <a:path w="61" h="126">
                  <a:moveTo>
                    <a:pt x="41" y="118"/>
                  </a:moveTo>
                  <a:lnTo>
                    <a:pt x="32" y="126"/>
                  </a:lnTo>
                  <a:lnTo>
                    <a:pt x="29" y="109"/>
                  </a:lnTo>
                  <a:lnTo>
                    <a:pt x="24" y="92"/>
                  </a:lnTo>
                  <a:lnTo>
                    <a:pt x="12" y="79"/>
                  </a:lnTo>
                  <a:lnTo>
                    <a:pt x="0" y="61"/>
                  </a:lnTo>
                  <a:lnTo>
                    <a:pt x="7" y="48"/>
                  </a:lnTo>
                  <a:lnTo>
                    <a:pt x="13" y="34"/>
                  </a:lnTo>
                  <a:lnTo>
                    <a:pt x="12" y="10"/>
                  </a:lnTo>
                  <a:lnTo>
                    <a:pt x="15" y="6"/>
                  </a:lnTo>
                  <a:lnTo>
                    <a:pt x="32" y="0"/>
                  </a:lnTo>
                  <a:lnTo>
                    <a:pt x="38" y="3"/>
                  </a:lnTo>
                  <a:lnTo>
                    <a:pt x="42" y="9"/>
                  </a:lnTo>
                  <a:lnTo>
                    <a:pt x="51" y="3"/>
                  </a:lnTo>
                  <a:lnTo>
                    <a:pt x="44" y="22"/>
                  </a:lnTo>
                  <a:lnTo>
                    <a:pt x="54" y="36"/>
                  </a:lnTo>
                  <a:lnTo>
                    <a:pt x="45" y="46"/>
                  </a:lnTo>
                  <a:lnTo>
                    <a:pt x="38" y="57"/>
                  </a:lnTo>
                  <a:lnTo>
                    <a:pt x="51" y="66"/>
                  </a:lnTo>
                  <a:lnTo>
                    <a:pt x="61" y="73"/>
                  </a:lnTo>
                  <a:lnTo>
                    <a:pt x="60" y="87"/>
                  </a:lnTo>
                  <a:lnTo>
                    <a:pt x="50" y="96"/>
                  </a:lnTo>
                  <a:lnTo>
                    <a:pt x="41" y="104"/>
                  </a:lnTo>
                  <a:lnTo>
                    <a:pt x="41" y="1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9" name="Freeform 138"/>
            <p:cNvSpPr>
              <a:spLocks/>
            </p:cNvSpPr>
            <p:nvPr/>
          </p:nvSpPr>
          <p:spPr bwMode="auto">
            <a:xfrm>
              <a:off x="2329" y="2536"/>
              <a:ext cx="73" cy="83"/>
            </a:xfrm>
            <a:custGeom>
              <a:avLst/>
              <a:gdLst/>
              <a:ahLst/>
              <a:cxnLst>
                <a:cxn ang="0">
                  <a:pos x="62" y="74"/>
                </a:cxn>
                <a:cxn ang="0">
                  <a:pos x="45" y="63"/>
                </a:cxn>
                <a:cxn ang="0">
                  <a:pos x="29" y="54"/>
                </a:cxn>
                <a:cxn ang="0">
                  <a:pos x="14" y="40"/>
                </a:cxn>
                <a:cxn ang="0">
                  <a:pos x="0" y="27"/>
                </a:cxn>
                <a:cxn ang="0">
                  <a:pos x="5" y="21"/>
                </a:cxn>
                <a:cxn ang="0">
                  <a:pos x="12" y="10"/>
                </a:cxn>
                <a:cxn ang="0">
                  <a:pos x="19" y="0"/>
                </a:cxn>
                <a:cxn ang="0">
                  <a:pos x="27" y="0"/>
                </a:cxn>
                <a:cxn ang="0">
                  <a:pos x="32" y="18"/>
                </a:cxn>
                <a:cxn ang="0">
                  <a:pos x="36" y="21"/>
                </a:cxn>
                <a:cxn ang="0">
                  <a:pos x="43" y="16"/>
                </a:cxn>
                <a:cxn ang="0">
                  <a:pos x="48" y="16"/>
                </a:cxn>
                <a:cxn ang="0">
                  <a:pos x="48" y="32"/>
                </a:cxn>
                <a:cxn ang="0">
                  <a:pos x="48" y="36"/>
                </a:cxn>
                <a:cxn ang="0">
                  <a:pos x="57" y="44"/>
                </a:cxn>
                <a:cxn ang="0">
                  <a:pos x="65" y="52"/>
                </a:cxn>
                <a:cxn ang="0">
                  <a:pos x="62" y="74"/>
                </a:cxn>
              </a:cxnLst>
              <a:rect l="0" t="0" r="r" b="b"/>
              <a:pathLst>
                <a:path w="65" h="74">
                  <a:moveTo>
                    <a:pt x="62" y="74"/>
                  </a:moveTo>
                  <a:lnTo>
                    <a:pt x="45" y="63"/>
                  </a:lnTo>
                  <a:lnTo>
                    <a:pt x="29" y="54"/>
                  </a:lnTo>
                  <a:lnTo>
                    <a:pt x="14" y="40"/>
                  </a:lnTo>
                  <a:lnTo>
                    <a:pt x="0" y="27"/>
                  </a:lnTo>
                  <a:lnTo>
                    <a:pt x="5" y="21"/>
                  </a:lnTo>
                  <a:lnTo>
                    <a:pt x="12" y="10"/>
                  </a:lnTo>
                  <a:lnTo>
                    <a:pt x="19" y="0"/>
                  </a:lnTo>
                  <a:lnTo>
                    <a:pt x="27" y="0"/>
                  </a:lnTo>
                  <a:lnTo>
                    <a:pt x="32" y="18"/>
                  </a:lnTo>
                  <a:lnTo>
                    <a:pt x="36" y="21"/>
                  </a:lnTo>
                  <a:lnTo>
                    <a:pt x="43" y="16"/>
                  </a:lnTo>
                  <a:lnTo>
                    <a:pt x="48" y="16"/>
                  </a:lnTo>
                  <a:lnTo>
                    <a:pt x="48" y="32"/>
                  </a:lnTo>
                  <a:lnTo>
                    <a:pt x="48" y="36"/>
                  </a:lnTo>
                  <a:lnTo>
                    <a:pt x="57" y="44"/>
                  </a:lnTo>
                  <a:lnTo>
                    <a:pt x="65" y="52"/>
                  </a:lnTo>
                  <a:lnTo>
                    <a:pt x="62" y="7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0" name="Freeform 139"/>
            <p:cNvSpPr>
              <a:spLocks/>
            </p:cNvSpPr>
            <p:nvPr/>
          </p:nvSpPr>
          <p:spPr bwMode="auto">
            <a:xfrm>
              <a:off x="1076" y="2514"/>
              <a:ext cx="55" cy="47"/>
            </a:xfrm>
            <a:custGeom>
              <a:avLst/>
              <a:gdLst/>
              <a:ahLst/>
              <a:cxnLst>
                <a:cxn ang="0">
                  <a:pos x="0" y="28"/>
                </a:cxn>
                <a:cxn ang="0">
                  <a:pos x="1" y="14"/>
                </a:cxn>
                <a:cxn ang="0">
                  <a:pos x="0" y="2"/>
                </a:cxn>
                <a:cxn ang="0">
                  <a:pos x="6" y="0"/>
                </a:cxn>
                <a:cxn ang="0">
                  <a:pos x="10" y="8"/>
                </a:cxn>
                <a:cxn ang="0">
                  <a:pos x="18" y="10"/>
                </a:cxn>
                <a:cxn ang="0">
                  <a:pos x="22" y="15"/>
                </a:cxn>
                <a:cxn ang="0">
                  <a:pos x="44" y="6"/>
                </a:cxn>
                <a:cxn ang="0">
                  <a:pos x="46" y="9"/>
                </a:cxn>
                <a:cxn ang="0">
                  <a:pos x="50" y="14"/>
                </a:cxn>
                <a:cxn ang="0">
                  <a:pos x="38" y="24"/>
                </a:cxn>
                <a:cxn ang="0">
                  <a:pos x="45" y="36"/>
                </a:cxn>
                <a:cxn ang="0">
                  <a:pos x="31" y="42"/>
                </a:cxn>
                <a:cxn ang="0">
                  <a:pos x="28" y="32"/>
                </a:cxn>
                <a:cxn ang="0">
                  <a:pos x="26" y="35"/>
                </a:cxn>
                <a:cxn ang="0">
                  <a:pos x="19" y="28"/>
                </a:cxn>
                <a:cxn ang="0">
                  <a:pos x="3" y="23"/>
                </a:cxn>
                <a:cxn ang="0">
                  <a:pos x="0" y="28"/>
                </a:cxn>
              </a:cxnLst>
              <a:rect l="0" t="0" r="r" b="b"/>
              <a:pathLst>
                <a:path w="50" h="42">
                  <a:moveTo>
                    <a:pt x="0" y="28"/>
                  </a:moveTo>
                  <a:lnTo>
                    <a:pt x="1" y="14"/>
                  </a:lnTo>
                  <a:lnTo>
                    <a:pt x="0" y="2"/>
                  </a:lnTo>
                  <a:lnTo>
                    <a:pt x="6" y="0"/>
                  </a:lnTo>
                  <a:lnTo>
                    <a:pt x="10" y="8"/>
                  </a:lnTo>
                  <a:lnTo>
                    <a:pt x="18" y="10"/>
                  </a:lnTo>
                  <a:lnTo>
                    <a:pt x="22" y="15"/>
                  </a:lnTo>
                  <a:lnTo>
                    <a:pt x="44" y="6"/>
                  </a:lnTo>
                  <a:lnTo>
                    <a:pt x="46" y="9"/>
                  </a:lnTo>
                  <a:lnTo>
                    <a:pt x="50" y="14"/>
                  </a:lnTo>
                  <a:lnTo>
                    <a:pt x="38" y="24"/>
                  </a:lnTo>
                  <a:lnTo>
                    <a:pt x="45" y="36"/>
                  </a:lnTo>
                  <a:lnTo>
                    <a:pt x="31" y="42"/>
                  </a:lnTo>
                  <a:lnTo>
                    <a:pt x="28" y="32"/>
                  </a:lnTo>
                  <a:lnTo>
                    <a:pt x="26" y="35"/>
                  </a:lnTo>
                  <a:lnTo>
                    <a:pt x="19" y="28"/>
                  </a:lnTo>
                  <a:lnTo>
                    <a:pt x="3" y="23"/>
                  </a:lnTo>
                  <a:lnTo>
                    <a:pt x="0"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1" name="Freeform 140"/>
            <p:cNvSpPr>
              <a:spLocks/>
            </p:cNvSpPr>
            <p:nvPr/>
          </p:nvSpPr>
          <p:spPr bwMode="auto">
            <a:xfrm>
              <a:off x="1067" y="2243"/>
              <a:ext cx="182" cy="64"/>
            </a:xfrm>
            <a:custGeom>
              <a:avLst/>
              <a:gdLst/>
              <a:ahLst/>
              <a:cxnLst>
                <a:cxn ang="0">
                  <a:pos x="116" y="23"/>
                </a:cxn>
                <a:cxn ang="0">
                  <a:pos x="116" y="24"/>
                </a:cxn>
                <a:cxn ang="0">
                  <a:pos x="100" y="17"/>
                </a:cxn>
                <a:cxn ang="0">
                  <a:pos x="83" y="8"/>
                </a:cxn>
                <a:cxn ang="0">
                  <a:pos x="71" y="3"/>
                </a:cxn>
                <a:cxn ang="0">
                  <a:pos x="60" y="0"/>
                </a:cxn>
                <a:cxn ang="0">
                  <a:pos x="54" y="0"/>
                </a:cxn>
                <a:cxn ang="0">
                  <a:pos x="35" y="3"/>
                </a:cxn>
                <a:cxn ang="0">
                  <a:pos x="17" y="7"/>
                </a:cxn>
                <a:cxn ang="0">
                  <a:pos x="9" y="18"/>
                </a:cxn>
                <a:cxn ang="0">
                  <a:pos x="0" y="23"/>
                </a:cxn>
                <a:cxn ang="0">
                  <a:pos x="6" y="21"/>
                </a:cxn>
                <a:cxn ang="0">
                  <a:pos x="20" y="15"/>
                </a:cxn>
                <a:cxn ang="0">
                  <a:pos x="32" y="9"/>
                </a:cxn>
                <a:cxn ang="0">
                  <a:pos x="52" y="9"/>
                </a:cxn>
                <a:cxn ang="0">
                  <a:pos x="45" y="12"/>
                </a:cxn>
                <a:cxn ang="0">
                  <a:pos x="58" y="17"/>
                </a:cxn>
                <a:cxn ang="0">
                  <a:pos x="66" y="19"/>
                </a:cxn>
                <a:cxn ang="0">
                  <a:pos x="71" y="21"/>
                </a:cxn>
                <a:cxn ang="0">
                  <a:pos x="93" y="26"/>
                </a:cxn>
                <a:cxn ang="0">
                  <a:pos x="98" y="37"/>
                </a:cxn>
                <a:cxn ang="0">
                  <a:pos x="117" y="47"/>
                </a:cxn>
                <a:cxn ang="0">
                  <a:pos x="107" y="57"/>
                </a:cxn>
                <a:cxn ang="0">
                  <a:pos x="123" y="57"/>
                </a:cxn>
                <a:cxn ang="0">
                  <a:pos x="138" y="56"/>
                </a:cxn>
                <a:cxn ang="0">
                  <a:pos x="150" y="55"/>
                </a:cxn>
                <a:cxn ang="0">
                  <a:pos x="164" y="53"/>
                </a:cxn>
                <a:cxn ang="0">
                  <a:pos x="152" y="47"/>
                </a:cxn>
                <a:cxn ang="0">
                  <a:pos x="141" y="41"/>
                </a:cxn>
                <a:cxn ang="0">
                  <a:pos x="140" y="36"/>
                </a:cxn>
                <a:cxn ang="0">
                  <a:pos x="129" y="31"/>
                </a:cxn>
                <a:cxn ang="0">
                  <a:pos x="117" y="27"/>
                </a:cxn>
                <a:cxn ang="0">
                  <a:pos x="116" y="23"/>
                </a:cxn>
              </a:cxnLst>
              <a:rect l="0" t="0" r="r" b="b"/>
              <a:pathLst>
                <a:path w="164" h="57">
                  <a:moveTo>
                    <a:pt x="116" y="23"/>
                  </a:moveTo>
                  <a:lnTo>
                    <a:pt x="116" y="24"/>
                  </a:lnTo>
                  <a:lnTo>
                    <a:pt x="100" y="17"/>
                  </a:lnTo>
                  <a:lnTo>
                    <a:pt x="83" y="8"/>
                  </a:lnTo>
                  <a:lnTo>
                    <a:pt x="71" y="3"/>
                  </a:lnTo>
                  <a:lnTo>
                    <a:pt x="60" y="0"/>
                  </a:lnTo>
                  <a:lnTo>
                    <a:pt x="54" y="0"/>
                  </a:lnTo>
                  <a:lnTo>
                    <a:pt x="35" y="3"/>
                  </a:lnTo>
                  <a:lnTo>
                    <a:pt x="17" y="7"/>
                  </a:lnTo>
                  <a:lnTo>
                    <a:pt x="9" y="18"/>
                  </a:lnTo>
                  <a:lnTo>
                    <a:pt x="0" y="23"/>
                  </a:lnTo>
                  <a:lnTo>
                    <a:pt x="6" y="21"/>
                  </a:lnTo>
                  <a:lnTo>
                    <a:pt x="20" y="15"/>
                  </a:lnTo>
                  <a:lnTo>
                    <a:pt x="32" y="9"/>
                  </a:lnTo>
                  <a:lnTo>
                    <a:pt x="52" y="9"/>
                  </a:lnTo>
                  <a:lnTo>
                    <a:pt x="45" y="12"/>
                  </a:lnTo>
                  <a:lnTo>
                    <a:pt x="58" y="17"/>
                  </a:lnTo>
                  <a:lnTo>
                    <a:pt x="66" y="19"/>
                  </a:lnTo>
                  <a:lnTo>
                    <a:pt x="71" y="21"/>
                  </a:lnTo>
                  <a:lnTo>
                    <a:pt x="93" y="26"/>
                  </a:lnTo>
                  <a:lnTo>
                    <a:pt x="98" y="37"/>
                  </a:lnTo>
                  <a:lnTo>
                    <a:pt x="117" y="47"/>
                  </a:lnTo>
                  <a:lnTo>
                    <a:pt x="107" y="57"/>
                  </a:lnTo>
                  <a:lnTo>
                    <a:pt x="123" y="57"/>
                  </a:lnTo>
                  <a:lnTo>
                    <a:pt x="138" y="56"/>
                  </a:lnTo>
                  <a:lnTo>
                    <a:pt x="150" y="55"/>
                  </a:lnTo>
                  <a:lnTo>
                    <a:pt x="164" y="53"/>
                  </a:lnTo>
                  <a:lnTo>
                    <a:pt x="152" y="47"/>
                  </a:lnTo>
                  <a:lnTo>
                    <a:pt x="141" y="41"/>
                  </a:lnTo>
                  <a:lnTo>
                    <a:pt x="140" y="36"/>
                  </a:lnTo>
                  <a:lnTo>
                    <a:pt x="129" y="31"/>
                  </a:lnTo>
                  <a:lnTo>
                    <a:pt x="117" y="27"/>
                  </a:lnTo>
                  <a:lnTo>
                    <a:pt x="116" y="2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2" name="Freeform 141"/>
            <p:cNvSpPr>
              <a:spLocks/>
            </p:cNvSpPr>
            <p:nvPr/>
          </p:nvSpPr>
          <p:spPr bwMode="auto">
            <a:xfrm>
              <a:off x="1096" y="2267"/>
              <a:ext cx="11" cy="9"/>
            </a:xfrm>
            <a:custGeom>
              <a:avLst/>
              <a:gdLst/>
              <a:ahLst/>
              <a:cxnLst>
                <a:cxn ang="0">
                  <a:pos x="0" y="9"/>
                </a:cxn>
                <a:cxn ang="0">
                  <a:pos x="8" y="7"/>
                </a:cxn>
                <a:cxn ang="0">
                  <a:pos x="2" y="0"/>
                </a:cxn>
                <a:cxn ang="0">
                  <a:pos x="0" y="9"/>
                </a:cxn>
              </a:cxnLst>
              <a:rect l="0" t="0" r="r" b="b"/>
              <a:pathLst>
                <a:path w="8" h="9">
                  <a:moveTo>
                    <a:pt x="0" y="9"/>
                  </a:moveTo>
                  <a:lnTo>
                    <a:pt x="8" y="7"/>
                  </a:lnTo>
                  <a:lnTo>
                    <a:pt x="2" y="0"/>
                  </a:lnTo>
                  <a:lnTo>
                    <a:pt x="0"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3" name="Freeform 142"/>
            <p:cNvSpPr>
              <a:spLocks/>
            </p:cNvSpPr>
            <p:nvPr/>
          </p:nvSpPr>
          <p:spPr bwMode="auto">
            <a:xfrm>
              <a:off x="1120" y="2319"/>
              <a:ext cx="7" cy="2"/>
            </a:xfrm>
            <a:custGeom>
              <a:avLst/>
              <a:gdLst/>
              <a:ahLst/>
              <a:cxnLst>
                <a:cxn ang="0">
                  <a:pos x="5" y="1"/>
                </a:cxn>
                <a:cxn ang="0">
                  <a:pos x="5" y="0"/>
                </a:cxn>
                <a:cxn ang="0">
                  <a:pos x="4" y="0"/>
                </a:cxn>
                <a:cxn ang="0">
                  <a:pos x="3" y="0"/>
                </a:cxn>
                <a:cxn ang="0">
                  <a:pos x="2" y="0"/>
                </a:cxn>
                <a:cxn ang="0">
                  <a:pos x="3" y="0"/>
                </a:cxn>
                <a:cxn ang="0">
                  <a:pos x="3" y="1"/>
                </a:cxn>
                <a:cxn ang="0">
                  <a:pos x="2" y="1"/>
                </a:cxn>
                <a:cxn ang="0">
                  <a:pos x="0" y="1"/>
                </a:cxn>
                <a:cxn ang="0">
                  <a:pos x="0" y="0"/>
                </a:cxn>
                <a:cxn ang="0">
                  <a:pos x="0" y="1"/>
                </a:cxn>
                <a:cxn ang="0">
                  <a:pos x="0" y="2"/>
                </a:cxn>
                <a:cxn ang="0">
                  <a:pos x="0" y="1"/>
                </a:cxn>
                <a:cxn ang="0">
                  <a:pos x="2" y="1"/>
                </a:cxn>
                <a:cxn ang="0">
                  <a:pos x="2" y="2"/>
                </a:cxn>
                <a:cxn ang="0">
                  <a:pos x="3" y="2"/>
                </a:cxn>
                <a:cxn ang="0">
                  <a:pos x="3" y="1"/>
                </a:cxn>
                <a:cxn ang="0">
                  <a:pos x="4" y="1"/>
                </a:cxn>
                <a:cxn ang="0">
                  <a:pos x="5" y="1"/>
                </a:cxn>
              </a:cxnLst>
              <a:rect l="0" t="0" r="r" b="b"/>
              <a:pathLst>
                <a:path w="5" h="2">
                  <a:moveTo>
                    <a:pt x="5" y="1"/>
                  </a:moveTo>
                  <a:lnTo>
                    <a:pt x="5" y="0"/>
                  </a:lnTo>
                  <a:lnTo>
                    <a:pt x="4" y="0"/>
                  </a:lnTo>
                  <a:lnTo>
                    <a:pt x="3" y="0"/>
                  </a:lnTo>
                  <a:lnTo>
                    <a:pt x="2" y="0"/>
                  </a:lnTo>
                  <a:lnTo>
                    <a:pt x="3" y="0"/>
                  </a:lnTo>
                  <a:lnTo>
                    <a:pt x="3" y="1"/>
                  </a:lnTo>
                  <a:lnTo>
                    <a:pt x="2" y="1"/>
                  </a:lnTo>
                  <a:lnTo>
                    <a:pt x="0" y="1"/>
                  </a:lnTo>
                  <a:lnTo>
                    <a:pt x="0" y="0"/>
                  </a:lnTo>
                  <a:lnTo>
                    <a:pt x="0" y="1"/>
                  </a:lnTo>
                  <a:lnTo>
                    <a:pt x="0" y="2"/>
                  </a:lnTo>
                  <a:lnTo>
                    <a:pt x="0" y="1"/>
                  </a:lnTo>
                  <a:lnTo>
                    <a:pt x="2" y="1"/>
                  </a:lnTo>
                  <a:lnTo>
                    <a:pt x="2" y="2"/>
                  </a:lnTo>
                  <a:lnTo>
                    <a:pt x="3" y="2"/>
                  </a:lnTo>
                  <a:lnTo>
                    <a:pt x="3" y="1"/>
                  </a:lnTo>
                  <a:lnTo>
                    <a:pt x="4" y="1"/>
                  </a:lnTo>
                  <a:lnTo>
                    <a:pt x="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4" name="Freeform 143"/>
            <p:cNvSpPr>
              <a:spLocks/>
            </p:cNvSpPr>
            <p:nvPr/>
          </p:nvSpPr>
          <p:spPr bwMode="auto">
            <a:xfrm>
              <a:off x="1147" y="2310"/>
              <a:ext cx="2" cy="2"/>
            </a:xfrm>
            <a:custGeom>
              <a:avLst/>
              <a:gdLst/>
              <a:ahLst/>
              <a:cxnLst>
                <a:cxn ang="0">
                  <a:pos x="3" y="0"/>
                </a:cxn>
                <a:cxn ang="0">
                  <a:pos x="2" y="1"/>
                </a:cxn>
                <a:cxn ang="0">
                  <a:pos x="0" y="1"/>
                </a:cxn>
                <a:cxn ang="0">
                  <a:pos x="2" y="1"/>
                </a:cxn>
                <a:cxn ang="0">
                  <a:pos x="3" y="1"/>
                </a:cxn>
                <a:cxn ang="0">
                  <a:pos x="3" y="0"/>
                </a:cxn>
              </a:cxnLst>
              <a:rect l="0" t="0" r="r" b="b"/>
              <a:pathLst>
                <a:path w="3" h="1">
                  <a:moveTo>
                    <a:pt x="3" y="0"/>
                  </a:moveTo>
                  <a:lnTo>
                    <a:pt x="2" y="1"/>
                  </a:lnTo>
                  <a:lnTo>
                    <a:pt x="0" y="1"/>
                  </a:lnTo>
                  <a:lnTo>
                    <a:pt x="2" y="1"/>
                  </a:lnTo>
                  <a:lnTo>
                    <a:pt x="3" y="1"/>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5" name="Freeform 144"/>
            <p:cNvSpPr>
              <a:spLocks/>
            </p:cNvSpPr>
            <p:nvPr/>
          </p:nvSpPr>
          <p:spPr bwMode="auto">
            <a:xfrm>
              <a:off x="1142" y="2312"/>
              <a:ext cx="5" cy="2"/>
            </a:xfrm>
            <a:custGeom>
              <a:avLst/>
              <a:gdLst/>
              <a:ahLst/>
              <a:cxnLst>
                <a:cxn ang="0">
                  <a:pos x="2" y="0"/>
                </a:cxn>
                <a:cxn ang="0">
                  <a:pos x="1" y="0"/>
                </a:cxn>
                <a:cxn ang="0">
                  <a:pos x="0" y="0"/>
                </a:cxn>
                <a:cxn ang="0">
                  <a:pos x="0" y="1"/>
                </a:cxn>
                <a:cxn ang="0">
                  <a:pos x="1" y="1"/>
                </a:cxn>
                <a:cxn ang="0">
                  <a:pos x="1" y="0"/>
                </a:cxn>
                <a:cxn ang="0">
                  <a:pos x="2" y="0"/>
                </a:cxn>
              </a:cxnLst>
              <a:rect l="0" t="0" r="r" b="b"/>
              <a:pathLst>
                <a:path w="2" h="1">
                  <a:moveTo>
                    <a:pt x="2" y="0"/>
                  </a:moveTo>
                  <a:lnTo>
                    <a:pt x="1" y="0"/>
                  </a:lnTo>
                  <a:lnTo>
                    <a:pt x="0" y="0"/>
                  </a:lnTo>
                  <a:lnTo>
                    <a:pt x="0" y="1"/>
                  </a:lnTo>
                  <a:lnTo>
                    <a:pt x="1" y="1"/>
                  </a:lnTo>
                  <a:lnTo>
                    <a:pt x="1"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6" name="Freeform 145"/>
            <p:cNvSpPr>
              <a:spLocks/>
            </p:cNvSpPr>
            <p:nvPr/>
          </p:nvSpPr>
          <p:spPr bwMode="auto">
            <a:xfrm>
              <a:off x="1409" y="2336"/>
              <a:ext cx="2" cy="3"/>
            </a:xfrm>
            <a:custGeom>
              <a:avLst/>
              <a:gdLst/>
              <a:ahLst/>
              <a:cxnLst>
                <a:cxn ang="0">
                  <a:pos x="2" y="0"/>
                </a:cxn>
                <a:cxn ang="0">
                  <a:pos x="1" y="0"/>
                </a:cxn>
                <a:cxn ang="0">
                  <a:pos x="0" y="0"/>
                </a:cxn>
                <a:cxn ang="0">
                  <a:pos x="0" y="1"/>
                </a:cxn>
                <a:cxn ang="0">
                  <a:pos x="1" y="1"/>
                </a:cxn>
                <a:cxn ang="0">
                  <a:pos x="1" y="0"/>
                </a:cxn>
                <a:cxn ang="0">
                  <a:pos x="2" y="0"/>
                </a:cxn>
              </a:cxnLst>
              <a:rect l="0" t="0" r="r" b="b"/>
              <a:pathLst>
                <a:path w="2" h="1">
                  <a:moveTo>
                    <a:pt x="2" y="0"/>
                  </a:moveTo>
                  <a:lnTo>
                    <a:pt x="1" y="0"/>
                  </a:lnTo>
                  <a:lnTo>
                    <a:pt x="0" y="0"/>
                  </a:lnTo>
                  <a:lnTo>
                    <a:pt x="0" y="1"/>
                  </a:lnTo>
                  <a:lnTo>
                    <a:pt x="1" y="1"/>
                  </a:lnTo>
                  <a:lnTo>
                    <a:pt x="1"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7" name="Freeform 146"/>
            <p:cNvSpPr>
              <a:spLocks/>
            </p:cNvSpPr>
            <p:nvPr/>
          </p:nvSpPr>
          <p:spPr bwMode="auto">
            <a:xfrm>
              <a:off x="1414" y="2330"/>
              <a:ext cx="2" cy="2"/>
            </a:xfrm>
            <a:custGeom>
              <a:avLst/>
              <a:gdLst/>
              <a:ahLst/>
              <a:cxnLst>
                <a:cxn ang="0">
                  <a:pos x="3" y="1"/>
                </a:cxn>
                <a:cxn ang="0">
                  <a:pos x="2" y="1"/>
                </a:cxn>
                <a:cxn ang="0">
                  <a:pos x="2" y="0"/>
                </a:cxn>
                <a:cxn ang="0">
                  <a:pos x="0" y="0"/>
                </a:cxn>
                <a:cxn ang="0">
                  <a:pos x="0" y="1"/>
                </a:cxn>
                <a:cxn ang="0">
                  <a:pos x="0" y="0"/>
                </a:cxn>
                <a:cxn ang="0">
                  <a:pos x="0" y="1"/>
                </a:cxn>
                <a:cxn ang="0">
                  <a:pos x="2" y="1"/>
                </a:cxn>
                <a:cxn ang="0">
                  <a:pos x="3" y="1"/>
                </a:cxn>
              </a:cxnLst>
              <a:rect l="0" t="0" r="r" b="b"/>
              <a:pathLst>
                <a:path w="3" h="1">
                  <a:moveTo>
                    <a:pt x="3" y="1"/>
                  </a:moveTo>
                  <a:lnTo>
                    <a:pt x="2" y="1"/>
                  </a:lnTo>
                  <a:lnTo>
                    <a:pt x="2" y="0"/>
                  </a:lnTo>
                  <a:lnTo>
                    <a:pt x="0" y="0"/>
                  </a:lnTo>
                  <a:lnTo>
                    <a:pt x="0" y="1"/>
                  </a:lnTo>
                  <a:lnTo>
                    <a:pt x="0" y="0"/>
                  </a:lnTo>
                  <a:lnTo>
                    <a:pt x="0" y="1"/>
                  </a:lnTo>
                  <a:lnTo>
                    <a:pt x="2" y="1"/>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8" name="Freeform 147"/>
            <p:cNvSpPr>
              <a:spLocks/>
            </p:cNvSpPr>
            <p:nvPr/>
          </p:nvSpPr>
          <p:spPr bwMode="auto">
            <a:xfrm>
              <a:off x="1414" y="2336"/>
              <a:ext cx="2" cy="3"/>
            </a:xfrm>
            <a:custGeom>
              <a:avLst/>
              <a:gdLst/>
              <a:ahLst/>
              <a:cxnLst>
                <a:cxn ang="0">
                  <a:pos x="3" y="0"/>
                </a:cxn>
                <a:cxn ang="0">
                  <a:pos x="1" y="0"/>
                </a:cxn>
                <a:cxn ang="0">
                  <a:pos x="1" y="1"/>
                </a:cxn>
                <a:cxn ang="0">
                  <a:pos x="0" y="1"/>
                </a:cxn>
                <a:cxn ang="0">
                  <a:pos x="1" y="1"/>
                </a:cxn>
                <a:cxn ang="0">
                  <a:pos x="1" y="0"/>
                </a:cxn>
                <a:cxn ang="0">
                  <a:pos x="3" y="0"/>
                </a:cxn>
              </a:cxnLst>
              <a:rect l="0" t="0" r="r" b="b"/>
              <a:pathLst>
                <a:path w="3" h="1">
                  <a:moveTo>
                    <a:pt x="3" y="0"/>
                  </a:moveTo>
                  <a:lnTo>
                    <a:pt x="1" y="0"/>
                  </a:lnTo>
                  <a:lnTo>
                    <a:pt x="1" y="1"/>
                  </a:lnTo>
                  <a:lnTo>
                    <a:pt x="0" y="1"/>
                  </a:lnTo>
                  <a:lnTo>
                    <a:pt x="1" y="1"/>
                  </a:lnTo>
                  <a:lnTo>
                    <a:pt x="1" y="0"/>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9" name="Freeform 148"/>
            <p:cNvSpPr>
              <a:spLocks/>
            </p:cNvSpPr>
            <p:nvPr/>
          </p:nvSpPr>
          <p:spPr bwMode="auto">
            <a:xfrm>
              <a:off x="1409" y="2339"/>
              <a:ext cx="2" cy="2"/>
            </a:xfrm>
            <a:custGeom>
              <a:avLst/>
              <a:gdLst/>
              <a:ahLst/>
              <a:cxnLst>
                <a:cxn ang="0">
                  <a:pos x="1" y="0"/>
                </a:cxn>
                <a:cxn ang="0">
                  <a:pos x="0" y="0"/>
                </a:cxn>
                <a:cxn ang="0">
                  <a:pos x="0" y="1"/>
                </a:cxn>
                <a:cxn ang="0">
                  <a:pos x="0" y="0"/>
                </a:cxn>
                <a:cxn ang="0">
                  <a:pos x="1" y="0"/>
                </a:cxn>
              </a:cxnLst>
              <a:rect l="0" t="0" r="r" b="b"/>
              <a:pathLst>
                <a:path w="1" h="1">
                  <a:moveTo>
                    <a:pt x="1" y="0"/>
                  </a:moveTo>
                  <a:lnTo>
                    <a:pt x="0" y="0"/>
                  </a:lnTo>
                  <a:lnTo>
                    <a:pt x="0"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0" name="Freeform 149"/>
            <p:cNvSpPr>
              <a:spLocks/>
            </p:cNvSpPr>
            <p:nvPr/>
          </p:nvSpPr>
          <p:spPr bwMode="auto">
            <a:xfrm>
              <a:off x="1282" y="2310"/>
              <a:ext cx="65" cy="44"/>
            </a:xfrm>
            <a:custGeom>
              <a:avLst/>
              <a:gdLst/>
              <a:ahLst/>
              <a:cxnLst>
                <a:cxn ang="0">
                  <a:pos x="5" y="2"/>
                </a:cxn>
                <a:cxn ang="0">
                  <a:pos x="2" y="15"/>
                </a:cxn>
                <a:cxn ang="0">
                  <a:pos x="0" y="21"/>
                </a:cxn>
                <a:cxn ang="0">
                  <a:pos x="1" y="32"/>
                </a:cxn>
                <a:cxn ang="0">
                  <a:pos x="6" y="40"/>
                </a:cxn>
                <a:cxn ang="0">
                  <a:pos x="13" y="30"/>
                </a:cxn>
                <a:cxn ang="0">
                  <a:pos x="20" y="26"/>
                </a:cxn>
                <a:cxn ang="0">
                  <a:pos x="29" y="27"/>
                </a:cxn>
                <a:cxn ang="0">
                  <a:pos x="49" y="28"/>
                </a:cxn>
                <a:cxn ang="0">
                  <a:pos x="56" y="21"/>
                </a:cxn>
                <a:cxn ang="0">
                  <a:pos x="38" y="13"/>
                </a:cxn>
                <a:cxn ang="0">
                  <a:pos x="42" y="9"/>
                </a:cxn>
                <a:cxn ang="0">
                  <a:pos x="33" y="6"/>
                </a:cxn>
                <a:cxn ang="0">
                  <a:pos x="12" y="0"/>
                </a:cxn>
                <a:cxn ang="0">
                  <a:pos x="5" y="2"/>
                </a:cxn>
              </a:cxnLst>
              <a:rect l="0" t="0" r="r" b="b"/>
              <a:pathLst>
                <a:path w="56" h="40">
                  <a:moveTo>
                    <a:pt x="5" y="2"/>
                  </a:moveTo>
                  <a:lnTo>
                    <a:pt x="2" y="15"/>
                  </a:lnTo>
                  <a:lnTo>
                    <a:pt x="0" y="21"/>
                  </a:lnTo>
                  <a:lnTo>
                    <a:pt x="1" y="32"/>
                  </a:lnTo>
                  <a:lnTo>
                    <a:pt x="6" y="40"/>
                  </a:lnTo>
                  <a:lnTo>
                    <a:pt x="13" y="30"/>
                  </a:lnTo>
                  <a:lnTo>
                    <a:pt x="20" y="26"/>
                  </a:lnTo>
                  <a:lnTo>
                    <a:pt x="29" y="27"/>
                  </a:lnTo>
                  <a:lnTo>
                    <a:pt x="49" y="28"/>
                  </a:lnTo>
                  <a:lnTo>
                    <a:pt x="56" y="21"/>
                  </a:lnTo>
                  <a:lnTo>
                    <a:pt x="38" y="13"/>
                  </a:lnTo>
                  <a:lnTo>
                    <a:pt x="42" y="9"/>
                  </a:lnTo>
                  <a:lnTo>
                    <a:pt x="33" y="6"/>
                  </a:lnTo>
                  <a:lnTo>
                    <a:pt x="12"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1" name="Freeform 150"/>
            <p:cNvSpPr>
              <a:spLocks/>
            </p:cNvSpPr>
            <p:nvPr/>
          </p:nvSpPr>
          <p:spPr bwMode="auto">
            <a:xfrm>
              <a:off x="1238" y="2310"/>
              <a:ext cx="51" cy="35"/>
            </a:xfrm>
            <a:custGeom>
              <a:avLst/>
              <a:gdLst/>
              <a:ahLst/>
              <a:cxnLst>
                <a:cxn ang="0">
                  <a:pos x="46" y="2"/>
                </a:cxn>
                <a:cxn ang="0">
                  <a:pos x="43" y="15"/>
                </a:cxn>
                <a:cxn ang="0">
                  <a:pos x="41" y="21"/>
                </a:cxn>
                <a:cxn ang="0">
                  <a:pos x="42" y="32"/>
                </a:cxn>
                <a:cxn ang="0">
                  <a:pos x="26" y="31"/>
                </a:cxn>
                <a:cxn ang="0">
                  <a:pos x="10" y="31"/>
                </a:cxn>
                <a:cxn ang="0">
                  <a:pos x="0" y="25"/>
                </a:cxn>
                <a:cxn ang="0">
                  <a:pos x="8" y="22"/>
                </a:cxn>
                <a:cxn ang="0">
                  <a:pos x="22" y="22"/>
                </a:cxn>
                <a:cxn ang="0">
                  <a:pos x="34" y="24"/>
                </a:cxn>
                <a:cxn ang="0">
                  <a:pos x="29" y="9"/>
                </a:cxn>
                <a:cxn ang="0">
                  <a:pos x="23" y="3"/>
                </a:cxn>
                <a:cxn ang="0">
                  <a:pos x="20" y="0"/>
                </a:cxn>
                <a:cxn ang="0">
                  <a:pos x="36" y="1"/>
                </a:cxn>
                <a:cxn ang="0">
                  <a:pos x="46" y="2"/>
                </a:cxn>
              </a:cxnLst>
              <a:rect l="0" t="0" r="r" b="b"/>
              <a:pathLst>
                <a:path w="46" h="32">
                  <a:moveTo>
                    <a:pt x="46" y="2"/>
                  </a:moveTo>
                  <a:lnTo>
                    <a:pt x="43" y="15"/>
                  </a:lnTo>
                  <a:lnTo>
                    <a:pt x="41" y="21"/>
                  </a:lnTo>
                  <a:lnTo>
                    <a:pt x="42" y="32"/>
                  </a:lnTo>
                  <a:lnTo>
                    <a:pt x="26" y="31"/>
                  </a:lnTo>
                  <a:lnTo>
                    <a:pt x="10" y="31"/>
                  </a:lnTo>
                  <a:lnTo>
                    <a:pt x="0" y="25"/>
                  </a:lnTo>
                  <a:lnTo>
                    <a:pt x="8" y="22"/>
                  </a:lnTo>
                  <a:lnTo>
                    <a:pt x="22" y="22"/>
                  </a:lnTo>
                  <a:lnTo>
                    <a:pt x="34" y="24"/>
                  </a:lnTo>
                  <a:lnTo>
                    <a:pt x="29" y="9"/>
                  </a:lnTo>
                  <a:lnTo>
                    <a:pt x="23" y="3"/>
                  </a:lnTo>
                  <a:lnTo>
                    <a:pt x="20" y="0"/>
                  </a:lnTo>
                  <a:lnTo>
                    <a:pt x="36" y="1"/>
                  </a:lnTo>
                  <a:lnTo>
                    <a:pt x="4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2" name="Freeform 151"/>
            <p:cNvSpPr>
              <a:spLocks/>
            </p:cNvSpPr>
            <p:nvPr/>
          </p:nvSpPr>
          <p:spPr bwMode="auto">
            <a:xfrm>
              <a:off x="1282" y="2270"/>
              <a:ext cx="5" cy="2"/>
            </a:xfrm>
            <a:custGeom>
              <a:avLst/>
              <a:gdLst/>
              <a:ahLst/>
              <a:cxnLst>
                <a:cxn ang="0">
                  <a:pos x="2" y="1"/>
                </a:cxn>
                <a:cxn ang="0">
                  <a:pos x="0" y="1"/>
                </a:cxn>
                <a:cxn ang="0">
                  <a:pos x="0" y="0"/>
                </a:cxn>
                <a:cxn ang="0">
                  <a:pos x="3" y="1"/>
                </a:cxn>
                <a:cxn ang="0">
                  <a:pos x="2" y="1"/>
                </a:cxn>
              </a:cxnLst>
              <a:rect l="0" t="0" r="r" b="b"/>
              <a:pathLst>
                <a:path w="3" h="1">
                  <a:moveTo>
                    <a:pt x="2" y="1"/>
                  </a:moveTo>
                  <a:lnTo>
                    <a:pt x="0" y="1"/>
                  </a:lnTo>
                  <a:lnTo>
                    <a:pt x="0" y="0"/>
                  </a:lnTo>
                  <a:lnTo>
                    <a:pt x="3" y="1"/>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3" name="Freeform 152"/>
            <p:cNvSpPr>
              <a:spLocks/>
            </p:cNvSpPr>
            <p:nvPr/>
          </p:nvSpPr>
          <p:spPr bwMode="auto">
            <a:xfrm>
              <a:off x="1291" y="2270"/>
              <a:ext cx="5" cy="2"/>
            </a:xfrm>
            <a:custGeom>
              <a:avLst/>
              <a:gdLst/>
              <a:ahLst/>
              <a:cxnLst>
                <a:cxn ang="0">
                  <a:pos x="4" y="1"/>
                </a:cxn>
                <a:cxn ang="0">
                  <a:pos x="0" y="0"/>
                </a:cxn>
                <a:cxn ang="0">
                  <a:pos x="4" y="1"/>
                </a:cxn>
              </a:cxnLst>
              <a:rect l="0" t="0" r="r" b="b"/>
              <a:pathLst>
                <a:path w="4" h="1">
                  <a:moveTo>
                    <a:pt x="4" y="1"/>
                  </a:moveTo>
                  <a:lnTo>
                    <a:pt x="0" y="0"/>
                  </a:lnTo>
                  <a:lnTo>
                    <a:pt x="4"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4" name="Freeform 153"/>
            <p:cNvSpPr>
              <a:spLocks/>
            </p:cNvSpPr>
            <p:nvPr/>
          </p:nvSpPr>
          <p:spPr bwMode="auto">
            <a:xfrm>
              <a:off x="1465" y="2425"/>
              <a:ext cx="2" cy="7"/>
            </a:xfrm>
            <a:custGeom>
              <a:avLst/>
              <a:gdLst/>
              <a:ahLst/>
              <a:cxnLst>
                <a:cxn ang="0">
                  <a:pos x="1" y="6"/>
                </a:cxn>
                <a:cxn ang="0">
                  <a:pos x="0" y="2"/>
                </a:cxn>
                <a:cxn ang="0">
                  <a:pos x="2" y="0"/>
                </a:cxn>
                <a:cxn ang="0">
                  <a:pos x="1" y="6"/>
                </a:cxn>
              </a:cxnLst>
              <a:rect l="0" t="0" r="r" b="b"/>
              <a:pathLst>
                <a:path w="2" h="6">
                  <a:moveTo>
                    <a:pt x="1" y="6"/>
                  </a:moveTo>
                  <a:lnTo>
                    <a:pt x="0" y="2"/>
                  </a:lnTo>
                  <a:lnTo>
                    <a:pt x="2" y="0"/>
                  </a:lnTo>
                  <a:lnTo>
                    <a:pt x="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5" name="Freeform 154"/>
            <p:cNvSpPr>
              <a:spLocks/>
            </p:cNvSpPr>
            <p:nvPr/>
          </p:nvSpPr>
          <p:spPr bwMode="auto">
            <a:xfrm>
              <a:off x="1025" y="2483"/>
              <a:ext cx="58" cy="62"/>
            </a:xfrm>
            <a:custGeom>
              <a:avLst/>
              <a:gdLst/>
              <a:ahLst/>
              <a:cxnLst>
                <a:cxn ang="0">
                  <a:pos x="12" y="27"/>
                </a:cxn>
                <a:cxn ang="0">
                  <a:pos x="0" y="13"/>
                </a:cxn>
                <a:cxn ang="0">
                  <a:pos x="2" y="5"/>
                </a:cxn>
                <a:cxn ang="0">
                  <a:pos x="2" y="2"/>
                </a:cxn>
                <a:cxn ang="0">
                  <a:pos x="5" y="0"/>
                </a:cxn>
                <a:cxn ang="0">
                  <a:pos x="26" y="5"/>
                </a:cxn>
                <a:cxn ang="0">
                  <a:pos x="36" y="3"/>
                </a:cxn>
                <a:cxn ang="0">
                  <a:pos x="44" y="15"/>
                </a:cxn>
                <a:cxn ang="0">
                  <a:pos x="52" y="27"/>
                </a:cxn>
                <a:cxn ang="0">
                  <a:pos x="46" y="29"/>
                </a:cxn>
                <a:cxn ang="0">
                  <a:pos x="47" y="41"/>
                </a:cxn>
                <a:cxn ang="0">
                  <a:pos x="46" y="55"/>
                </a:cxn>
                <a:cxn ang="0">
                  <a:pos x="37" y="43"/>
                </a:cxn>
                <a:cxn ang="0">
                  <a:pos x="37" y="48"/>
                </a:cxn>
                <a:cxn ang="0">
                  <a:pos x="35" y="42"/>
                </a:cxn>
                <a:cxn ang="0">
                  <a:pos x="30" y="32"/>
                </a:cxn>
                <a:cxn ang="0">
                  <a:pos x="19" y="24"/>
                </a:cxn>
                <a:cxn ang="0">
                  <a:pos x="10" y="15"/>
                </a:cxn>
                <a:cxn ang="0">
                  <a:pos x="13" y="24"/>
                </a:cxn>
                <a:cxn ang="0">
                  <a:pos x="12" y="27"/>
                </a:cxn>
              </a:cxnLst>
              <a:rect l="0" t="0" r="r" b="b"/>
              <a:pathLst>
                <a:path w="52" h="55">
                  <a:moveTo>
                    <a:pt x="12" y="27"/>
                  </a:moveTo>
                  <a:lnTo>
                    <a:pt x="0" y="13"/>
                  </a:lnTo>
                  <a:lnTo>
                    <a:pt x="2" y="5"/>
                  </a:lnTo>
                  <a:lnTo>
                    <a:pt x="2" y="2"/>
                  </a:lnTo>
                  <a:lnTo>
                    <a:pt x="5" y="0"/>
                  </a:lnTo>
                  <a:lnTo>
                    <a:pt x="26" y="5"/>
                  </a:lnTo>
                  <a:lnTo>
                    <a:pt x="36" y="3"/>
                  </a:lnTo>
                  <a:lnTo>
                    <a:pt x="44" y="15"/>
                  </a:lnTo>
                  <a:lnTo>
                    <a:pt x="52" y="27"/>
                  </a:lnTo>
                  <a:lnTo>
                    <a:pt x="46" y="29"/>
                  </a:lnTo>
                  <a:lnTo>
                    <a:pt x="47" y="41"/>
                  </a:lnTo>
                  <a:lnTo>
                    <a:pt x="46" y="55"/>
                  </a:lnTo>
                  <a:lnTo>
                    <a:pt x="37" y="43"/>
                  </a:lnTo>
                  <a:lnTo>
                    <a:pt x="37" y="48"/>
                  </a:lnTo>
                  <a:lnTo>
                    <a:pt x="35" y="42"/>
                  </a:lnTo>
                  <a:lnTo>
                    <a:pt x="30" y="32"/>
                  </a:lnTo>
                  <a:lnTo>
                    <a:pt x="19" y="24"/>
                  </a:lnTo>
                  <a:lnTo>
                    <a:pt x="10" y="15"/>
                  </a:lnTo>
                  <a:lnTo>
                    <a:pt x="13" y="24"/>
                  </a:lnTo>
                  <a:lnTo>
                    <a:pt x="12"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6" name="Freeform 155"/>
            <p:cNvSpPr>
              <a:spLocks/>
            </p:cNvSpPr>
            <p:nvPr/>
          </p:nvSpPr>
          <p:spPr bwMode="auto">
            <a:xfrm>
              <a:off x="1489" y="2441"/>
              <a:ext cx="5" cy="2"/>
            </a:xfrm>
            <a:custGeom>
              <a:avLst/>
              <a:gdLst/>
              <a:ahLst/>
              <a:cxnLst>
                <a:cxn ang="0">
                  <a:pos x="3" y="4"/>
                </a:cxn>
                <a:cxn ang="0">
                  <a:pos x="1" y="4"/>
                </a:cxn>
                <a:cxn ang="0">
                  <a:pos x="0" y="0"/>
                </a:cxn>
                <a:cxn ang="0">
                  <a:pos x="3" y="3"/>
                </a:cxn>
                <a:cxn ang="0">
                  <a:pos x="3" y="4"/>
                </a:cxn>
              </a:cxnLst>
              <a:rect l="0" t="0" r="r" b="b"/>
              <a:pathLst>
                <a:path w="3" h="4">
                  <a:moveTo>
                    <a:pt x="3" y="4"/>
                  </a:moveTo>
                  <a:lnTo>
                    <a:pt x="1" y="4"/>
                  </a:lnTo>
                  <a:lnTo>
                    <a:pt x="0" y="0"/>
                  </a:lnTo>
                  <a:lnTo>
                    <a:pt x="3" y="3"/>
                  </a:lnTo>
                  <a:lnTo>
                    <a:pt x="3"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7" name="Freeform 156"/>
            <p:cNvSpPr>
              <a:spLocks/>
            </p:cNvSpPr>
            <p:nvPr/>
          </p:nvSpPr>
          <p:spPr bwMode="auto">
            <a:xfrm>
              <a:off x="1460" y="2394"/>
              <a:ext cx="2" cy="9"/>
            </a:xfrm>
            <a:custGeom>
              <a:avLst/>
              <a:gdLst/>
              <a:ahLst/>
              <a:cxnLst>
                <a:cxn ang="0">
                  <a:pos x="4" y="5"/>
                </a:cxn>
                <a:cxn ang="0">
                  <a:pos x="1" y="8"/>
                </a:cxn>
                <a:cxn ang="0">
                  <a:pos x="0" y="0"/>
                </a:cxn>
                <a:cxn ang="0">
                  <a:pos x="3" y="0"/>
                </a:cxn>
                <a:cxn ang="0">
                  <a:pos x="4" y="5"/>
                </a:cxn>
              </a:cxnLst>
              <a:rect l="0" t="0" r="r" b="b"/>
              <a:pathLst>
                <a:path w="4" h="8">
                  <a:moveTo>
                    <a:pt x="4" y="5"/>
                  </a:moveTo>
                  <a:lnTo>
                    <a:pt x="1" y="8"/>
                  </a:lnTo>
                  <a:lnTo>
                    <a:pt x="0" y="0"/>
                  </a:lnTo>
                  <a:lnTo>
                    <a:pt x="3" y="0"/>
                  </a:lnTo>
                  <a:lnTo>
                    <a:pt x="4"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8" name="Freeform 157"/>
            <p:cNvSpPr>
              <a:spLocks/>
            </p:cNvSpPr>
            <p:nvPr/>
          </p:nvSpPr>
          <p:spPr bwMode="auto">
            <a:xfrm>
              <a:off x="956" y="2416"/>
              <a:ext cx="40" cy="27"/>
            </a:xfrm>
            <a:custGeom>
              <a:avLst/>
              <a:gdLst/>
              <a:ahLst/>
              <a:cxnLst>
                <a:cxn ang="0">
                  <a:pos x="35" y="18"/>
                </a:cxn>
                <a:cxn ang="0">
                  <a:pos x="31" y="23"/>
                </a:cxn>
                <a:cxn ang="0">
                  <a:pos x="23" y="20"/>
                </a:cxn>
                <a:cxn ang="0">
                  <a:pos x="12" y="17"/>
                </a:cxn>
                <a:cxn ang="0">
                  <a:pos x="0" y="12"/>
                </a:cxn>
                <a:cxn ang="0">
                  <a:pos x="13" y="0"/>
                </a:cxn>
                <a:cxn ang="0">
                  <a:pos x="23" y="7"/>
                </a:cxn>
                <a:cxn ang="0">
                  <a:pos x="36" y="9"/>
                </a:cxn>
                <a:cxn ang="0">
                  <a:pos x="35" y="18"/>
                </a:cxn>
              </a:cxnLst>
              <a:rect l="0" t="0" r="r" b="b"/>
              <a:pathLst>
                <a:path w="36" h="23">
                  <a:moveTo>
                    <a:pt x="35" y="18"/>
                  </a:moveTo>
                  <a:lnTo>
                    <a:pt x="31" y="23"/>
                  </a:lnTo>
                  <a:lnTo>
                    <a:pt x="23" y="20"/>
                  </a:lnTo>
                  <a:lnTo>
                    <a:pt x="12" y="17"/>
                  </a:lnTo>
                  <a:lnTo>
                    <a:pt x="0" y="12"/>
                  </a:lnTo>
                  <a:lnTo>
                    <a:pt x="13" y="0"/>
                  </a:lnTo>
                  <a:lnTo>
                    <a:pt x="23" y="7"/>
                  </a:lnTo>
                  <a:lnTo>
                    <a:pt x="36" y="9"/>
                  </a:lnTo>
                  <a:lnTo>
                    <a:pt x="35"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9" name="Freeform 158"/>
            <p:cNvSpPr>
              <a:spLocks/>
            </p:cNvSpPr>
            <p:nvPr/>
          </p:nvSpPr>
          <p:spPr bwMode="auto">
            <a:xfrm>
              <a:off x="971" y="2387"/>
              <a:ext cx="109" cy="60"/>
            </a:xfrm>
            <a:custGeom>
              <a:avLst/>
              <a:gdLst/>
              <a:ahLst/>
              <a:cxnLst>
                <a:cxn ang="0">
                  <a:pos x="53" y="36"/>
                </a:cxn>
                <a:cxn ang="0">
                  <a:pos x="47" y="38"/>
                </a:cxn>
                <a:cxn ang="0">
                  <a:pos x="40" y="42"/>
                </a:cxn>
                <a:cxn ang="0">
                  <a:pos x="34" y="53"/>
                </a:cxn>
                <a:cxn ang="0">
                  <a:pos x="30" y="53"/>
                </a:cxn>
                <a:cxn ang="0">
                  <a:pos x="28" y="46"/>
                </a:cxn>
                <a:cxn ang="0">
                  <a:pos x="22" y="45"/>
                </a:cxn>
                <a:cxn ang="0">
                  <a:pos x="23" y="36"/>
                </a:cxn>
                <a:cxn ang="0">
                  <a:pos x="10" y="34"/>
                </a:cxn>
                <a:cxn ang="0">
                  <a:pos x="0" y="27"/>
                </a:cxn>
                <a:cxn ang="0">
                  <a:pos x="10" y="12"/>
                </a:cxn>
                <a:cxn ang="0">
                  <a:pos x="20" y="4"/>
                </a:cxn>
                <a:cxn ang="0">
                  <a:pos x="22" y="4"/>
                </a:cxn>
                <a:cxn ang="0">
                  <a:pos x="37" y="2"/>
                </a:cxn>
                <a:cxn ang="0">
                  <a:pos x="53" y="0"/>
                </a:cxn>
                <a:cxn ang="0">
                  <a:pos x="65" y="2"/>
                </a:cxn>
                <a:cxn ang="0">
                  <a:pos x="78" y="2"/>
                </a:cxn>
                <a:cxn ang="0">
                  <a:pos x="88" y="9"/>
                </a:cxn>
                <a:cxn ang="0">
                  <a:pos x="85" y="8"/>
                </a:cxn>
                <a:cxn ang="0">
                  <a:pos x="86" y="11"/>
                </a:cxn>
                <a:cxn ang="0">
                  <a:pos x="92" y="11"/>
                </a:cxn>
                <a:cxn ang="0">
                  <a:pos x="98" y="17"/>
                </a:cxn>
                <a:cxn ang="0">
                  <a:pos x="85" y="18"/>
                </a:cxn>
                <a:cxn ang="0">
                  <a:pos x="72" y="21"/>
                </a:cxn>
                <a:cxn ang="0">
                  <a:pos x="53" y="36"/>
                </a:cxn>
              </a:cxnLst>
              <a:rect l="0" t="0" r="r" b="b"/>
              <a:pathLst>
                <a:path w="98" h="53">
                  <a:moveTo>
                    <a:pt x="53" y="36"/>
                  </a:moveTo>
                  <a:lnTo>
                    <a:pt x="47" y="38"/>
                  </a:lnTo>
                  <a:lnTo>
                    <a:pt x="40" y="42"/>
                  </a:lnTo>
                  <a:lnTo>
                    <a:pt x="34" y="53"/>
                  </a:lnTo>
                  <a:lnTo>
                    <a:pt x="30" y="53"/>
                  </a:lnTo>
                  <a:lnTo>
                    <a:pt x="28" y="46"/>
                  </a:lnTo>
                  <a:lnTo>
                    <a:pt x="22" y="45"/>
                  </a:lnTo>
                  <a:lnTo>
                    <a:pt x="23" y="36"/>
                  </a:lnTo>
                  <a:lnTo>
                    <a:pt x="10" y="34"/>
                  </a:lnTo>
                  <a:lnTo>
                    <a:pt x="0" y="27"/>
                  </a:lnTo>
                  <a:lnTo>
                    <a:pt x="10" y="12"/>
                  </a:lnTo>
                  <a:lnTo>
                    <a:pt x="20" y="4"/>
                  </a:lnTo>
                  <a:lnTo>
                    <a:pt x="22" y="4"/>
                  </a:lnTo>
                  <a:lnTo>
                    <a:pt x="37" y="2"/>
                  </a:lnTo>
                  <a:lnTo>
                    <a:pt x="53" y="0"/>
                  </a:lnTo>
                  <a:lnTo>
                    <a:pt x="65" y="2"/>
                  </a:lnTo>
                  <a:lnTo>
                    <a:pt x="78" y="2"/>
                  </a:lnTo>
                  <a:lnTo>
                    <a:pt x="88" y="9"/>
                  </a:lnTo>
                  <a:lnTo>
                    <a:pt x="85" y="8"/>
                  </a:lnTo>
                  <a:lnTo>
                    <a:pt x="86" y="11"/>
                  </a:lnTo>
                  <a:lnTo>
                    <a:pt x="92" y="11"/>
                  </a:lnTo>
                  <a:lnTo>
                    <a:pt x="98" y="17"/>
                  </a:lnTo>
                  <a:lnTo>
                    <a:pt x="85" y="18"/>
                  </a:lnTo>
                  <a:lnTo>
                    <a:pt x="72" y="21"/>
                  </a:lnTo>
                  <a:lnTo>
                    <a:pt x="53"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0" name="Freeform 159"/>
            <p:cNvSpPr>
              <a:spLocks/>
            </p:cNvSpPr>
            <p:nvPr/>
          </p:nvSpPr>
          <p:spPr bwMode="auto">
            <a:xfrm>
              <a:off x="1462" y="2410"/>
              <a:ext cx="7" cy="6"/>
            </a:xfrm>
            <a:custGeom>
              <a:avLst/>
              <a:gdLst/>
              <a:ahLst/>
              <a:cxnLst>
                <a:cxn ang="0">
                  <a:pos x="6" y="6"/>
                </a:cxn>
                <a:cxn ang="0">
                  <a:pos x="0" y="0"/>
                </a:cxn>
                <a:cxn ang="0">
                  <a:pos x="7" y="6"/>
                </a:cxn>
                <a:cxn ang="0">
                  <a:pos x="6" y="6"/>
                </a:cxn>
              </a:cxnLst>
              <a:rect l="0" t="0" r="r" b="b"/>
              <a:pathLst>
                <a:path w="7" h="6">
                  <a:moveTo>
                    <a:pt x="6" y="6"/>
                  </a:moveTo>
                  <a:lnTo>
                    <a:pt x="0" y="0"/>
                  </a:lnTo>
                  <a:lnTo>
                    <a:pt x="7" y="6"/>
                  </a:lnTo>
                  <a:lnTo>
                    <a:pt x="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1" name="Freeform 160"/>
            <p:cNvSpPr>
              <a:spLocks/>
            </p:cNvSpPr>
            <p:nvPr/>
          </p:nvSpPr>
          <p:spPr bwMode="auto">
            <a:xfrm>
              <a:off x="998" y="2407"/>
              <a:ext cx="82" cy="83"/>
            </a:xfrm>
            <a:custGeom>
              <a:avLst/>
              <a:gdLst/>
              <a:ahLst/>
              <a:cxnLst>
                <a:cxn ang="0">
                  <a:pos x="29" y="19"/>
                </a:cxn>
                <a:cxn ang="0">
                  <a:pos x="23" y="21"/>
                </a:cxn>
                <a:cxn ang="0">
                  <a:pos x="16" y="25"/>
                </a:cxn>
                <a:cxn ang="0">
                  <a:pos x="10" y="36"/>
                </a:cxn>
                <a:cxn ang="0">
                  <a:pos x="6" y="36"/>
                </a:cxn>
                <a:cxn ang="0">
                  <a:pos x="0" y="37"/>
                </a:cxn>
                <a:cxn ang="0">
                  <a:pos x="14" y="54"/>
                </a:cxn>
                <a:cxn ang="0">
                  <a:pos x="29" y="70"/>
                </a:cxn>
                <a:cxn ang="0">
                  <a:pos x="50" y="75"/>
                </a:cxn>
                <a:cxn ang="0">
                  <a:pos x="60" y="73"/>
                </a:cxn>
                <a:cxn ang="0">
                  <a:pos x="60" y="61"/>
                </a:cxn>
                <a:cxn ang="0">
                  <a:pos x="61" y="52"/>
                </a:cxn>
                <a:cxn ang="0">
                  <a:pos x="64" y="41"/>
                </a:cxn>
                <a:cxn ang="0">
                  <a:pos x="65" y="45"/>
                </a:cxn>
                <a:cxn ang="0">
                  <a:pos x="67" y="31"/>
                </a:cxn>
                <a:cxn ang="0">
                  <a:pos x="70" y="17"/>
                </a:cxn>
                <a:cxn ang="0">
                  <a:pos x="70" y="3"/>
                </a:cxn>
                <a:cxn ang="0">
                  <a:pos x="74" y="0"/>
                </a:cxn>
                <a:cxn ang="0">
                  <a:pos x="61" y="1"/>
                </a:cxn>
                <a:cxn ang="0">
                  <a:pos x="48" y="4"/>
                </a:cxn>
                <a:cxn ang="0">
                  <a:pos x="29" y="19"/>
                </a:cxn>
              </a:cxnLst>
              <a:rect l="0" t="0" r="r" b="b"/>
              <a:pathLst>
                <a:path w="74" h="75">
                  <a:moveTo>
                    <a:pt x="29" y="19"/>
                  </a:moveTo>
                  <a:lnTo>
                    <a:pt x="23" y="21"/>
                  </a:lnTo>
                  <a:lnTo>
                    <a:pt x="16" y="25"/>
                  </a:lnTo>
                  <a:lnTo>
                    <a:pt x="10" y="36"/>
                  </a:lnTo>
                  <a:lnTo>
                    <a:pt x="6" y="36"/>
                  </a:lnTo>
                  <a:lnTo>
                    <a:pt x="0" y="37"/>
                  </a:lnTo>
                  <a:lnTo>
                    <a:pt x="14" y="54"/>
                  </a:lnTo>
                  <a:lnTo>
                    <a:pt x="29" y="70"/>
                  </a:lnTo>
                  <a:lnTo>
                    <a:pt x="50" y="75"/>
                  </a:lnTo>
                  <a:lnTo>
                    <a:pt x="60" y="73"/>
                  </a:lnTo>
                  <a:lnTo>
                    <a:pt x="60" y="61"/>
                  </a:lnTo>
                  <a:lnTo>
                    <a:pt x="61" y="52"/>
                  </a:lnTo>
                  <a:lnTo>
                    <a:pt x="64" y="41"/>
                  </a:lnTo>
                  <a:lnTo>
                    <a:pt x="65" y="45"/>
                  </a:lnTo>
                  <a:lnTo>
                    <a:pt x="67" y="31"/>
                  </a:lnTo>
                  <a:lnTo>
                    <a:pt x="70" y="17"/>
                  </a:lnTo>
                  <a:lnTo>
                    <a:pt x="70" y="3"/>
                  </a:lnTo>
                  <a:lnTo>
                    <a:pt x="74" y="0"/>
                  </a:lnTo>
                  <a:lnTo>
                    <a:pt x="61" y="1"/>
                  </a:lnTo>
                  <a:lnTo>
                    <a:pt x="48" y="4"/>
                  </a:lnTo>
                  <a:lnTo>
                    <a:pt x="29"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2" name="Freeform 161"/>
            <p:cNvSpPr>
              <a:spLocks/>
            </p:cNvSpPr>
            <p:nvPr/>
          </p:nvSpPr>
          <p:spPr bwMode="auto">
            <a:xfrm>
              <a:off x="1460" y="2439"/>
              <a:ext cx="2" cy="4"/>
            </a:xfrm>
            <a:custGeom>
              <a:avLst/>
              <a:gdLst/>
              <a:ahLst/>
              <a:cxnLst>
                <a:cxn ang="0">
                  <a:pos x="2" y="4"/>
                </a:cxn>
                <a:cxn ang="0">
                  <a:pos x="2" y="0"/>
                </a:cxn>
                <a:cxn ang="0">
                  <a:pos x="0" y="2"/>
                </a:cxn>
                <a:cxn ang="0">
                  <a:pos x="2" y="4"/>
                </a:cxn>
              </a:cxnLst>
              <a:rect l="0" t="0" r="r" b="b"/>
              <a:pathLst>
                <a:path w="2" h="4">
                  <a:moveTo>
                    <a:pt x="2" y="4"/>
                  </a:moveTo>
                  <a:lnTo>
                    <a:pt x="2" y="0"/>
                  </a:lnTo>
                  <a:lnTo>
                    <a:pt x="0" y="2"/>
                  </a:lnTo>
                  <a:lnTo>
                    <a:pt x="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3" name="Freeform 162"/>
            <p:cNvSpPr>
              <a:spLocks/>
            </p:cNvSpPr>
            <p:nvPr/>
          </p:nvSpPr>
          <p:spPr bwMode="auto">
            <a:xfrm>
              <a:off x="1442" y="2363"/>
              <a:ext cx="3" cy="2"/>
            </a:xfrm>
            <a:custGeom>
              <a:avLst/>
              <a:gdLst/>
              <a:ahLst/>
              <a:cxnLst>
                <a:cxn ang="0">
                  <a:pos x="1" y="1"/>
                </a:cxn>
                <a:cxn ang="0">
                  <a:pos x="0" y="0"/>
                </a:cxn>
                <a:cxn ang="0">
                  <a:pos x="1" y="1"/>
                </a:cxn>
              </a:cxnLst>
              <a:rect l="0" t="0" r="r" b="b"/>
              <a:pathLst>
                <a:path w="1" h="1">
                  <a:moveTo>
                    <a:pt x="1" y="1"/>
                  </a:move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4" name="Freeform 163"/>
            <p:cNvSpPr>
              <a:spLocks/>
            </p:cNvSpPr>
            <p:nvPr/>
          </p:nvSpPr>
          <p:spPr bwMode="auto">
            <a:xfrm>
              <a:off x="1438" y="2359"/>
              <a:ext cx="4" cy="2"/>
            </a:xfrm>
            <a:custGeom>
              <a:avLst/>
              <a:gdLst/>
              <a:ahLst/>
              <a:cxnLst>
                <a:cxn ang="0">
                  <a:pos x="4" y="2"/>
                </a:cxn>
                <a:cxn ang="0">
                  <a:pos x="0" y="0"/>
                </a:cxn>
                <a:cxn ang="0">
                  <a:pos x="4" y="2"/>
                </a:cxn>
              </a:cxnLst>
              <a:rect l="0" t="0" r="r" b="b"/>
              <a:pathLst>
                <a:path w="4" h="2">
                  <a:moveTo>
                    <a:pt x="4" y="2"/>
                  </a:moveTo>
                  <a:lnTo>
                    <a:pt x="0" y="0"/>
                  </a:lnTo>
                  <a:lnTo>
                    <a:pt x="4"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5" name="Freeform 164"/>
            <p:cNvSpPr>
              <a:spLocks/>
            </p:cNvSpPr>
            <p:nvPr/>
          </p:nvSpPr>
          <p:spPr bwMode="auto">
            <a:xfrm>
              <a:off x="1456" y="2381"/>
              <a:ext cx="4" cy="4"/>
            </a:xfrm>
            <a:custGeom>
              <a:avLst/>
              <a:gdLst/>
              <a:ahLst/>
              <a:cxnLst>
                <a:cxn ang="0">
                  <a:pos x="2" y="0"/>
                </a:cxn>
                <a:cxn ang="0">
                  <a:pos x="3" y="1"/>
                </a:cxn>
                <a:cxn ang="0">
                  <a:pos x="0" y="5"/>
                </a:cxn>
                <a:cxn ang="0">
                  <a:pos x="2" y="0"/>
                </a:cxn>
              </a:cxnLst>
              <a:rect l="0" t="0" r="r" b="b"/>
              <a:pathLst>
                <a:path w="3" h="5">
                  <a:moveTo>
                    <a:pt x="2" y="0"/>
                  </a:moveTo>
                  <a:lnTo>
                    <a:pt x="3" y="1"/>
                  </a:lnTo>
                  <a:lnTo>
                    <a:pt x="0" y="5"/>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6" name="Freeform 165"/>
            <p:cNvSpPr>
              <a:spLocks/>
            </p:cNvSpPr>
            <p:nvPr/>
          </p:nvSpPr>
          <p:spPr bwMode="auto">
            <a:xfrm>
              <a:off x="1434" y="2341"/>
              <a:ext cx="4" cy="2"/>
            </a:xfrm>
            <a:custGeom>
              <a:avLst/>
              <a:gdLst/>
              <a:ahLst/>
              <a:cxnLst>
                <a:cxn ang="0">
                  <a:pos x="4" y="1"/>
                </a:cxn>
                <a:cxn ang="0">
                  <a:pos x="4" y="0"/>
                </a:cxn>
                <a:cxn ang="0">
                  <a:pos x="4" y="1"/>
                </a:cxn>
                <a:cxn ang="0">
                  <a:pos x="3" y="1"/>
                </a:cxn>
                <a:cxn ang="0">
                  <a:pos x="2" y="1"/>
                </a:cxn>
                <a:cxn ang="0">
                  <a:pos x="2" y="3"/>
                </a:cxn>
                <a:cxn ang="0">
                  <a:pos x="0" y="3"/>
                </a:cxn>
                <a:cxn ang="0">
                  <a:pos x="2" y="3"/>
                </a:cxn>
                <a:cxn ang="0">
                  <a:pos x="3" y="3"/>
                </a:cxn>
                <a:cxn ang="0">
                  <a:pos x="3" y="1"/>
                </a:cxn>
                <a:cxn ang="0">
                  <a:pos x="4" y="1"/>
                </a:cxn>
              </a:cxnLst>
              <a:rect l="0" t="0" r="r" b="b"/>
              <a:pathLst>
                <a:path w="4" h="3">
                  <a:moveTo>
                    <a:pt x="4" y="1"/>
                  </a:moveTo>
                  <a:lnTo>
                    <a:pt x="4" y="0"/>
                  </a:lnTo>
                  <a:lnTo>
                    <a:pt x="4" y="1"/>
                  </a:lnTo>
                  <a:lnTo>
                    <a:pt x="3" y="1"/>
                  </a:lnTo>
                  <a:lnTo>
                    <a:pt x="2" y="1"/>
                  </a:lnTo>
                  <a:lnTo>
                    <a:pt x="2" y="3"/>
                  </a:lnTo>
                  <a:lnTo>
                    <a:pt x="0" y="3"/>
                  </a:lnTo>
                  <a:lnTo>
                    <a:pt x="2" y="3"/>
                  </a:lnTo>
                  <a:lnTo>
                    <a:pt x="3" y="3"/>
                  </a:lnTo>
                  <a:lnTo>
                    <a:pt x="3" y="1"/>
                  </a:lnTo>
                  <a:lnTo>
                    <a:pt x="4"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7" name="Freeform 166"/>
            <p:cNvSpPr>
              <a:spLocks/>
            </p:cNvSpPr>
            <p:nvPr/>
          </p:nvSpPr>
          <p:spPr bwMode="auto">
            <a:xfrm>
              <a:off x="1456" y="2363"/>
              <a:ext cx="4" cy="2"/>
            </a:xfrm>
            <a:custGeom>
              <a:avLst/>
              <a:gdLst/>
              <a:ahLst/>
              <a:cxnLst>
                <a:cxn ang="0">
                  <a:pos x="1" y="0"/>
                </a:cxn>
                <a:cxn ang="0">
                  <a:pos x="0" y="1"/>
                </a:cxn>
                <a:cxn ang="0">
                  <a:pos x="0" y="2"/>
                </a:cxn>
                <a:cxn ang="0">
                  <a:pos x="3" y="2"/>
                </a:cxn>
                <a:cxn ang="0">
                  <a:pos x="1" y="0"/>
                </a:cxn>
              </a:cxnLst>
              <a:rect l="0" t="0" r="r" b="b"/>
              <a:pathLst>
                <a:path w="3" h="2">
                  <a:moveTo>
                    <a:pt x="1" y="0"/>
                  </a:moveTo>
                  <a:lnTo>
                    <a:pt x="0" y="1"/>
                  </a:lnTo>
                  <a:lnTo>
                    <a:pt x="0" y="2"/>
                  </a:lnTo>
                  <a:lnTo>
                    <a:pt x="3" y="2"/>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8" name="Freeform 167"/>
            <p:cNvSpPr>
              <a:spLocks/>
            </p:cNvSpPr>
            <p:nvPr/>
          </p:nvSpPr>
          <p:spPr bwMode="auto">
            <a:xfrm>
              <a:off x="1456" y="2352"/>
              <a:ext cx="2" cy="2"/>
            </a:xfrm>
            <a:custGeom>
              <a:avLst/>
              <a:gdLst/>
              <a:ahLst/>
              <a:cxnLst>
                <a:cxn ang="0">
                  <a:pos x="1" y="2"/>
                </a:cxn>
                <a:cxn ang="0">
                  <a:pos x="0" y="1"/>
                </a:cxn>
                <a:cxn ang="0">
                  <a:pos x="0" y="0"/>
                </a:cxn>
                <a:cxn ang="0">
                  <a:pos x="1" y="1"/>
                </a:cxn>
                <a:cxn ang="0">
                  <a:pos x="1" y="2"/>
                </a:cxn>
              </a:cxnLst>
              <a:rect l="0" t="0" r="r" b="b"/>
              <a:pathLst>
                <a:path w="1" h="2">
                  <a:moveTo>
                    <a:pt x="1" y="2"/>
                  </a:moveTo>
                  <a:lnTo>
                    <a:pt x="0" y="1"/>
                  </a:lnTo>
                  <a:lnTo>
                    <a:pt x="0" y="0"/>
                  </a:lnTo>
                  <a:lnTo>
                    <a:pt x="1" y="1"/>
                  </a:lnTo>
                  <a:lnTo>
                    <a:pt x="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9" name="Freeform 168"/>
            <p:cNvSpPr>
              <a:spLocks/>
            </p:cNvSpPr>
            <p:nvPr/>
          </p:nvSpPr>
          <p:spPr bwMode="auto">
            <a:xfrm>
              <a:off x="976" y="2336"/>
              <a:ext cx="24" cy="51"/>
            </a:xfrm>
            <a:custGeom>
              <a:avLst/>
              <a:gdLst/>
              <a:ahLst/>
              <a:cxnLst>
                <a:cxn ang="0">
                  <a:pos x="13" y="38"/>
                </a:cxn>
                <a:cxn ang="0">
                  <a:pos x="5" y="46"/>
                </a:cxn>
                <a:cxn ang="0">
                  <a:pos x="0" y="46"/>
                </a:cxn>
                <a:cxn ang="0">
                  <a:pos x="2" y="30"/>
                </a:cxn>
                <a:cxn ang="0">
                  <a:pos x="6" y="12"/>
                </a:cxn>
                <a:cxn ang="0">
                  <a:pos x="20" y="0"/>
                </a:cxn>
                <a:cxn ang="0">
                  <a:pos x="21" y="3"/>
                </a:cxn>
                <a:cxn ang="0">
                  <a:pos x="17" y="20"/>
                </a:cxn>
                <a:cxn ang="0">
                  <a:pos x="13" y="38"/>
                </a:cxn>
              </a:cxnLst>
              <a:rect l="0" t="0" r="r" b="b"/>
              <a:pathLst>
                <a:path w="21" h="46">
                  <a:moveTo>
                    <a:pt x="13" y="38"/>
                  </a:moveTo>
                  <a:lnTo>
                    <a:pt x="5" y="46"/>
                  </a:lnTo>
                  <a:lnTo>
                    <a:pt x="0" y="46"/>
                  </a:lnTo>
                  <a:lnTo>
                    <a:pt x="2" y="30"/>
                  </a:lnTo>
                  <a:lnTo>
                    <a:pt x="6" y="12"/>
                  </a:lnTo>
                  <a:lnTo>
                    <a:pt x="20" y="0"/>
                  </a:lnTo>
                  <a:lnTo>
                    <a:pt x="21" y="3"/>
                  </a:lnTo>
                  <a:lnTo>
                    <a:pt x="17" y="20"/>
                  </a:lnTo>
                  <a:lnTo>
                    <a:pt x="13"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0" name="Freeform 169"/>
            <p:cNvSpPr>
              <a:spLocks/>
            </p:cNvSpPr>
            <p:nvPr/>
          </p:nvSpPr>
          <p:spPr bwMode="auto">
            <a:xfrm>
              <a:off x="920" y="2350"/>
              <a:ext cx="74" cy="80"/>
            </a:xfrm>
            <a:custGeom>
              <a:avLst/>
              <a:gdLst/>
              <a:ahLst/>
              <a:cxnLst>
                <a:cxn ang="0">
                  <a:pos x="6" y="64"/>
                </a:cxn>
                <a:cxn ang="0">
                  <a:pos x="0" y="58"/>
                </a:cxn>
                <a:cxn ang="0">
                  <a:pos x="3" y="46"/>
                </a:cxn>
                <a:cxn ang="0">
                  <a:pos x="11" y="32"/>
                </a:cxn>
                <a:cxn ang="0">
                  <a:pos x="33" y="28"/>
                </a:cxn>
                <a:cxn ang="0">
                  <a:pos x="21" y="12"/>
                </a:cxn>
                <a:cxn ang="0">
                  <a:pos x="26" y="10"/>
                </a:cxn>
                <a:cxn ang="0">
                  <a:pos x="27" y="0"/>
                </a:cxn>
                <a:cxn ang="0">
                  <a:pos x="42" y="0"/>
                </a:cxn>
                <a:cxn ang="0">
                  <a:pos x="57" y="0"/>
                </a:cxn>
                <a:cxn ang="0">
                  <a:pos x="53" y="18"/>
                </a:cxn>
                <a:cxn ang="0">
                  <a:pos x="51" y="34"/>
                </a:cxn>
                <a:cxn ang="0">
                  <a:pos x="56" y="34"/>
                </a:cxn>
                <a:cxn ang="0">
                  <a:pos x="62" y="36"/>
                </a:cxn>
                <a:cxn ang="0">
                  <a:pos x="66" y="38"/>
                </a:cxn>
                <a:cxn ang="0">
                  <a:pos x="56" y="46"/>
                </a:cxn>
                <a:cxn ang="0">
                  <a:pos x="46" y="61"/>
                </a:cxn>
                <a:cxn ang="0">
                  <a:pos x="33" y="73"/>
                </a:cxn>
                <a:cxn ang="0">
                  <a:pos x="20" y="69"/>
                </a:cxn>
                <a:cxn ang="0">
                  <a:pos x="6" y="64"/>
                </a:cxn>
              </a:cxnLst>
              <a:rect l="0" t="0" r="r" b="b"/>
              <a:pathLst>
                <a:path w="66" h="73">
                  <a:moveTo>
                    <a:pt x="6" y="64"/>
                  </a:moveTo>
                  <a:lnTo>
                    <a:pt x="0" y="58"/>
                  </a:lnTo>
                  <a:lnTo>
                    <a:pt x="3" y="46"/>
                  </a:lnTo>
                  <a:lnTo>
                    <a:pt x="11" y="32"/>
                  </a:lnTo>
                  <a:lnTo>
                    <a:pt x="33" y="28"/>
                  </a:lnTo>
                  <a:lnTo>
                    <a:pt x="21" y="12"/>
                  </a:lnTo>
                  <a:lnTo>
                    <a:pt x="26" y="10"/>
                  </a:lnTo>
                  <a:lnTo>
                    <a:pt x="27" y="0"/>
                  </a:lnTo>
                  <a:lnTo>
                    <a:pt x="42" y="0"/>
                  </a:lnTo>
                  <a:lnTo>
                    <a:pt x="57" y="0"/>
                  </a:lnTo>
                  <a:lnTo>
                    <a:pt x="53" y="18"/>
                  </a:lnTo>
                  <a:lnTo>
                    <a:pt x="51" y="34"/>
                  </a:lnTo>
                  <a:lnTo>
                    <a:pt x="56" y="34"/>
                  </a:lnTo>
                  <a:lnTo>
                    <a:pt x="62" y="36"/>
                  </a:lnTo>
                  <a:lnTo>
                    <a:pt x="66" y="38"/>
                  </a:lnTo>
                  <a:lnTo>
                    <a:pt x="56" y="46"/>
                  </a:lnTo>
                  <a:lnTo>
                    <a:pt x="46" y="61"/>
                  </a:lnTo>
                  <a:lnTo>
                    <a:pt x="33" y="73"/>
                  </a:lnTo>
                  <a:lnTo>
                    <a:pt x="20" y="69"/>
                  </a:lnTo>
                  <a:lnTo>
                    <a:pt x="6" y="6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1" name="Freeform 170"/>
            <p:cNvSpPr>
              <a:spLocks/>
            </p:cNvSpPr>
            <p:nvPr/>
          </p:nvSpPr>
          <p:spPr bwMode="auto">
            <a:xfrm>
              <a:off x="1171" y="2336"/>
              <a:ext cx="36" cy="14"/>
            </a:xfrm>
            <a:custGeom>
              <a:avLst/>
              <a:gdLst/>
              <a:ahLst/>
              <a:cxnLst>
                <a:cxn ang="0">
                  <a:pos x="12" y="0"/>
                </a:cxn>
                <a:cxn ang="0">
                  <a:pos x="0" y="4"/>
                </a:cxn>
                <a:cxn ang="0">
                  <a:pos x="18" y="13"/>
                </a:cxn>
                <a:cxn ang="0">
                  <a:pos x="32" y="10"/>
                </a:cxn>
                <a:cxn ang="0">
                  <a:pos x="12" y="0"/>
                </a:cxn>
              </a:cxnLst>
              <a:rect l="0" t="0" r="r" b="b"/>
              <a:pathLst>
                <a:path w="32" h="13">
                  <a:moveTo>
                    <a:pt x="12" y="0"/>
                  </a:moveTo>
                  <a:lnTo>
                    <a:pt x="0" y="4"/>
                  </a:lnTo>
                  <a:lnTo>
                    <a:pt x="18" y="13"/>
                  </a:lnTo>
                  <a:lnTo>
                    <a:pt x="32" y="10"/>
                  </a:lnTo>
                  <a:lnTo>
                    <a:pt x="1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2" name="Freeform 171"/>
            <p:cNvSpPr>
              <a:spLocks/>
            </p:cNvSpPr>
            <p:nvPr/>
          </p:nvSpPr>
          <p:spPr bwMode="auto">
            <a:xfrm>
              <a:off x="1365" y="2336"/>
              <a:ext cx="29" cy="11"/>
            </a:xfrm>
            <a:custGeom>
              <a:avLst/>
              <a:gdLst/>
              <a:ahLst/>
              <a:cxnLst>
                <a:cxn ang="0">
                  <a:pos x="25" y="4"/>
                </a:cxn>
                <a:cxn ang="0">
                  <a:pos x="23" y="6"/>
                </a:cxn>
                <a:cxn ang="0">
                  <a:pos x="7" y="9"/>
                </a:cxn>
                <a:cxn ang="0">
                  <a:pos x="0" y="7"/>
                </a:cxn>
                <a:cxn ang="0">
                  <a:pos x="2" y="0"/>
                </a:cxn>
                <a:cxn ang="0">
                  <a:pos x="25" y="4"/>
                </a:cxn>
              </a:cxnLst>
              <a:rect l="0" t="0" r="r" b="b"/>
              <a:pathLst>
                <a:path w="25" h="9">
                  <a:moveTo>
                    <a:pt x="25" y="4"/>
                  </a:moveTo>
                  <a:lnTo>
                    <a:pt x="23" y="6"/>
                  </a:lnTo>
                  <a:lnTo>
                    <a:pt x="7" y="9"/>
                  </a:lnTo>
                  <a:lnTo>
                    <a:pt x="0" y="7"/>
                  </a:lnTo>
                  <a:lnTo>
                    <a:pt x="2" y="0"/>
                  </a:lnTo>
                  <a:lnTo>
                    <a:pt x="2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3" name="Freeform 172"/>
            <p:cNvSpPr>
              <a:spLocks/>
            </p:cNvSpPr>
            <p:nvPr/>
          </p:nvSpPr>
          <p:spPr bwMode="auto">
            <a:xfrm>
              <a:off x="1402" y="2350"/>
              <a:ext cx="7" cy="2"/>
            </a:xfrm>
            <a:custGeom>
              <a:avLst/>
              <a:gdLst/>
              <a:ahLst/>
              <a:cxnLst>
                <a:cxn ang="0">
                  <a:pos x="6" y="0"/>
                </a:cxn>
                <a:cxn ang="0">
                  <a:pos x="2" y="0"/>
                </a:cxn>
                <a:cxn ang="0">
                  <a:pos x="0" y="1"/>
                </a:cxn>
                <a:cxn ang="0">
                  <a:pos x="6" y="0"/>
                </a:cxn>
              </a:cxnLst>
              <a:rect l="0" t="0" r="r" b="b"/>
              <a:pathLst>
                <a:path w="6" h="1">
                  <a:moveTo>
                    <a:pt x="6" y="0"/>
                  </a:moveTo>
                  <a:lnTo>
                    <a:pt x="2" y="0"/>
                  </a:lnTo>
                  <a:lnTo>
                    <a:pt x="0" y="1"/>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4" name="Freeform 173"/>
            <p:cNvSpPr>
              <a:spLocks/>
            </p:cNvSpPr>
            <p:nvPr/>
          </p:nvSpPr>
          <p:spPr bwMode="auto">
            <a:xfrm>
              <a:off x="567" y="2054"/>
              <a:ext cx="467" cy="360"/>
            </a:xfrm>
            <a:custGeom>
              <a:avLst/>
              <a:gdLst/>
              <a:ahLst/>
              <a:cxnLst>
                <a:cxn ang="0">
                  <a:pos x="53" y="157"/>
                </a:cxn>
                <a:cxn ang="0">
                  <a:pos x="35" y="114"/>
                </a:cxn>
                <a:cxn ang="0">
                  <a:pos x="14" y="95"/>
                </a:cxn>
                <a:cxn ang="0">
                  <a:pos x="22" y="71"/>
                </a:cxn>
                <a:cxn ang="0">
                  <a:pos x="3" y="25"/>
                </a:cxn>
                <a:cxn ang="0">
                  <a:pos x="38" y="0"/>
                </a:cxn>
                <a:cxn ang="0">
                  <a:pos x="72" y="18"/>
                </a:cxn>
                <a:cxn ang="0">
                  <a:pos x="128" y="24"/>
                </a:cxn>
                <a:cxn ang="0">
                  <a:pos x="170" y="34"/>
                </a:cxn>
                <a:cxn ang="0">
                  <a:pos x="192" y="66"/>
                </a:cxn>
                <a:cxn ang="0">
                  <a:pos x="232" y="71"/>
                </a:cxn>
                <a:cxn ang="0">
                  <a:pos x="254" y="118"/>
                </a:cxn>
                <a:cxn ang="0">
                  <a:pos x="254" y="168"/>
                </a:cxn>
                <a:cxn ang="0">
                  <a:pos x="262" y="226"/>
                </a:cxn>
                <a:cxn ang="0">
                  <a:pos x="273" y="250"/>
                </a:cxn>
                <a:cxn ang="0">
                  <a:pos x="321" y="253"/>
                </a:cxn>
                <a:cxn ang="0">
                  <a:pos x="344" y="251"/>
                </a:cxn>
                <a:cxn ang="0">
                  <a:pos x="362" y="213"/>
                </a:cxn>
                <a:cxn ang="0">
                  <a:pos x="408" y="201"/>
                </a:cxn>
                <a:cxn ang="0">
                  <a:pos x="419" y="207"/>
                </a:cxn>
                <a:cxn ang="0">
                  <a:pos x="402" y="238"/>
                </a:cxn>
                <a:cxn ang="0">
                  <a:pos x="392" y="251"/>
                </a:cxn>
                <a:cxn ang="0">
                  <a:pos x="360" y="267"/>
                </a:cxn>
                <a:cxn ang="0">
                  <a:pos x="339" y="279"/>
                </a:cxn>
                <a:cxn ang="0">
                  <a:pos x="321" y="313"/>
                </a:cxn>
                <a:cxn ang="0">
                  <a:pos x="288" y="294"/>
                </a:cxn>
                <a:cxn ang="0">
                  <a:pos x="278" y="295"/>
                </a:cxn>
                <a:cxn ang="0">
                  <a:pos x="250" y="305"/>
                </a:cxn>
                <a:cxn ang="0">
                  <a:pos x="198" y="280"/>
                </a:cxn>
                <a:cxn ang="0">
                  <a:pos x="160" y="259"/>
                </a:cxn>
                <a:cxn ang="0">
                  <a:pos x="126" y="232"/>
                </a:cxn>
                <a:cxn ang="0">
                  <a:pos x="128" y="211"/>
                </a:cxn>
                <a:cxn ang="0">
                  <a:pos x="122" y="173"/>
                </a:cxn>
                <a:cxn ang="0">
                  <a:pos x="107" y="149"/>
                </a:cxn>
                <a:cxn ang="0">
                  <a:pos x="99" y="136"/>
                </a:cxn>
                <a:cxn ang="0">
                  <a:pos x="84" y="125"/>
                </a:cxn>
                <a:cxn ang="0">
                  <a:pos x="72" y="90"/>
                </a:cxn>
                <a:cxn ang="0">
                  <a:pos x="57" y="63"/>
                </a:cxn>
                <a:cxn ang="0">
                  <a:pos x="41" y="22"/>
                </a:cxn>
                <a:cxn ang="0">
                  <a:pos x="26" y="52"/>
                </a:cxn>
                <a:cxn ang="0">
                  <a:pos x="46" y="95"/>
                </a:cxn>
                <a:cxn ang="0">
                  <a:pos x="54" y="126"/>
                </a:cxn>
                <a:cxn ang="0">
                  <a:pos x="70" y="161"/>
                </a:cxn>
              </a:cxnLst>
              <a:rect l="0" t="0" r="r" b="b"/>
              <a:pathLst>
                <a:path w="419" h="325">
                  <a:moveTo>
                    <a:pt x="74" y="169"/>
                  </a:moveTo>
                  <a:lnTo>
                    <a:pt x="63" y="174"/>
                  </a:lnTo>
                  <a:lnTo>
                    <a:pt x="53" y="157"/>
                  </a:lnTo>
                  <a:lnTo>
                    <a:pt x="39" y="142"/>
                  </a:lnTo>
                  <a:lnTo>
                    <a:pt x="40" y="127"/>
                  </a:lnTo>
                  <a:lnTo>
                    <a:pt x="35" y="114"/>
                  </a:lnTo>
                  <a:lnTo>
                    <a:pt x="30" y="105"/>
                  </a:lnTo>
                  <a:lnTo>
                    <a:pt x="21" y="103"/>
                  </a:lnTo>
                  <a:lnTo>
                    <a:pt x="14" y="95"/>
                  </a:lnTo>
                  <a:lnTo>
                    <a:pt x="6" y="87"/>
                  </a:lnTo>
                  <a:lnTo>
                    <a:pt x="18" y="89"/>
                  </a:lnTo>
                  <a:lnTo>
                    <a:pt x="22" y="71"/>
                  </a:lnTo>
                  <a:lnTo>
                    <a:pt x="14" y="59"/>
                  </a:lnTo>
                  <a:lnTo>
                    <a:pt x="5" y="47"/>
                  </a:lnTo>
                  <a:lnTo>
                    <a:pt x="3" y="25"/>
                  </a:lnTo>
                  <a:lnTo>
                    <a:pt x="0" y="3"/>
                  </a:lnTo>
                  <a:lnTo>
                    <a:pt x="18" y="1"/>
                  </a:lnTo>
                  <a:lnTo>
                    <a:pt x="38" y="0"/>
                  </a:lnTo>
                  <a:lnTo>
                    <a:pt x="48" y="6"/>
                  </a:lnTo>
                  <a:lnTo>
                    <a:pt x="60" y="12"/>
                  </a:lnTo>
                  <a:lnTo>
                    <a:pt x="72" y="18"/>
                  </a:lnTo>
                  <a:lnTo>
                    <a:pt x="84" y="24"/>
                  </a:lnTo>
                  <a:lnTo>
                    <a:pt x="106" y="24"/>
                  </a:lnTo>
                  <a:lnTo>
                    <a:pt x="128" y="24"/>
                  </a:lnTo>
                  <a:lnTo>
                    <a:pt x="131" y="16"/>
                  </a:lnTo>
                  <a:lnTo>
                    <a:pt x="156" y="16"/>
                  </a:lnTo>
                  <a:lnTo>
                    <a:pt x="170" y="34"/>
                  </a:lnTo>
                  <a:lnTo>
                    <a:pt x="174" y="52"/>
                  </a:lnTo>
                  <a:lnTo>
                    <a:pt x="183" y="59"/>
                  </a:lnTo>
                  <a:lnTo>
                    <a:pt x="192" y="66"/>
                  </a:lnTo>
                  <a:lnTo>
                    <a:pt x="203" y="53"/>
                  </a:lnTo>
                  <a:lnTo>
                    <a:pt x="225" y="55"/>
                  </a:lnTo>
                  <a:lnTo>
                    <a:pt x="232" y="71"/>
                  </a:lnTo>
                  <a:lnTo>
                    <a:pt x="238" y="88"/>
                  </a:lnTo>
                  <a:lnTo>
                    <a:pt x="244" y="109"/>
                  </a:lnTo>
                  <a:lnTo>
                    <a:pt x="254" y="118"/>
                  </a:lnTo>
                  <a:lnTo>
                    <a:pt x="273" y="120"/>
                  </a:lnTo>
                  <a:lnTo>
                    <a:pt x="263" y="144"/>
                  </a:lnTo>
                  <a:lnTo>
                    <a:pt x="254" y="168"/>
                  </a:lnTo>
                  <a:lnTo>
                    <a:pt x="251" y="192"/>
                  </a:lnTo>
                  <a:lnTo>
                    <a:pt x="256" y="210"/>
                  </a:lnTo>
                  <a:lnTo>
                    <a:pt x="262" y="226"/>
                  </a:lnTo>
                  <a:lnTo>
                    <a:pt x="267" y="238"/>
                  </a:lnTo>
                  <a:lnTo>
                    <a:pt x="272" y="249"/>
                  </a:lnTo>
                  <a:lnTo>
                    <a:pt x="273" y="250"/>
                  </a:lnTo>
                  <a:lnTo>
                    <a:pt x="290" y="258"/>
                  </a:lnTo>
                  <a:lnTo>
                    <a:pt x="304" y="257"/>
                  </a:lnTo>
                  <a:lnTo>
                    <a:pt x="321" y="253"/>
                  </a:lnTo>
                  <a:lnTo>
                    <a:pt x="332" y="253"/>
                  </a:lnTo>
                  <a:lnTo>
                    <a:pt x="339" y="255"/>
                  </a:lnTo>
                  <a:lnTo>
                    <a:pt x="344" y="251"/>
                  </a:lnTo>
                  <a:lnTo>
                    <a:pt x="341" y="247"/>
                  </a:lnTo>
                  <a:lnTo>
                    <a:pt x="354" y="234"/>
                  </a:lnTo>
                  <a:lnTo>
                    <a:pt x="362" y="213"/>
                  </a:lnTo>
                  <a:lnTo>
                    <a:pt x="378" y="204"/>
                  </a:lnTo>
                  <a:lnTo>
                    <a:pt x="393" y="202"/>
                  </a:lnTo>
                  <a:lnTo>
                    <a:pt x="408" y="201"/>
                  </a:lnTo>
                  <a:lnTo>
                    <a:pt x="412" y="201"/>
                  </a:lnTo>
                  <a:lnTo>
                    <a:pt x="418" y="204"/>
                  </a:lnTo>
                  <a:lnTo>
                    <a:pt x="419" y="207"/>
                  </a:lnTo>
                  <a:lnTo>
                    <a:pt x="405" y="229"/>
                  </a:lnTo>
                  <a:lnTo>
                    <a:pt x="402" y="235"/>
                  </a:lnTo>
                  <a:lnTo>
                    <a:pt x="402" y="238"/>
                  </a:lnTo>
                  <a:lnTo>
                    <a:pt x="402" y="240"/>
                  </a:lnTo>
                  <a:lnTo>
                    <a:pt x="395" y="257"/>
                  </a:lnTo>
                  <a:lnTo>
                    <a:pt x="392" y="251"/>
                  </a:lnTo>
                  <a:lnTo>
                    <a:pt x="389" y="255"/>
                  </a:lnTo>
                  <a:lnTo>
                    <a:pt x="375" y="267"/>
                  </a:lnTo>
                  <a:lnTo>
                    <a:pt x="360" y="267"/>
                  </a:lnTo>
                  <a:lnTo>
                    <a:pt x="345" y="267"/>
                  </a:lnTo>
                  <a:lnTo>
                    <a:pt x="344" y="277"/>
                  </a:lnTo>
                  <a:lnTo>
                    <a:pt x="339" y="279"/>
                  </a:lnTo>
                  <a:lnTo>
                    <a:pt x="351" y="295"/>
                  </a:lnTo>
                  <a:lnTo>
                    <a:pt x="329" y="299"/>
                  </a:lnTo>
                  <a:lnTo>
                    <a:pt x="321" y="313"/>
                  </a:lnTo>
                  <a:lnTo>
                    <a:pt x="318" y="325"/>
                  </a:lnTo>
                  <a:lnTo>
                    <a:pt x="303" y="310"/>
                  </a:lnTo>
                  <a:lnTo>
                    <a:pt x="288" y="294"/>
                  </a:lnTo>
                  <a:lnTo>
                    <a:pt x="294" y="300"/>
                  </a:lnTo>
                  <a:lnTo>
                    <a:pt x="286" y="294"/>
                  </a:lnTo>
                  <a:lnTo>
                    <a:pt x="278" y="295"/>
                  </a:lnTo>
                  <a:lnTo>
                    <a:pt x="281" y="295"/>
                  </a:lnTo>
                  <a:lnTo>
                    <a:pt x="266" y="300"/>
                  </a:lnTo>
                  <a:lnTo>
                    <a:pt x="250" y="305"/>
                  </a:lnTo>
                  <a:lnTo>
                    <a:pt x="233" y="297"/>
                  </a:lnTo>
                  <a:lnTo>
                    <a:pt x="215" y="288"/>
                  </a:lnTo>
                  <a:lnTo>
                    <a:pt x="198" y="280"/>
                  </a:lnTo>
                  <a:lnTo>
                    <a:pt x="180" y="273"/>
                  </a:lnTo>
                  <a:lnTo>
                    <a:pt x="171" y="265"/>
                  </a:lnTo>
                  <a:lnTo>
                    <a:pt x="160" y="259"/>
                  </a:lnTo>
                  <a:lnTo>
                    <a:pt x="148" y="253"/>
                  </a:lnTo>
                  <a:lnTo>
                    <a:pt x="137" y="243"/>
                  </a:lnTo>
                  <a:lnTo>
                    <a:pt x="126" y="232"/>
                  </a:lnTo>
                  <a:lnTo>
                    <a:pt x="124" y="219"/>
                  </a:lnTo>
                  <a:lnTo>
                    <a:pt x="130" y="216"/>
                  </a:lnTo>
                  <a:lnTo>
                    <a:pt x="128" y="211"/>
                  </a:lnTo>
                  <a:lnTo>
                    <a:pt x="132" y="201"/>
                  </a:lnTo>
                  <a:lnTo>
                    <a:pt x="126" y="186"/>
                  </a:lnTo>
                  <a:lnTo>
                    <a:pt x="122" y="173"/>
                  </a:lnTo>
                  <a:lnTo>
                    <a:pt x="112" y="160"/>
                  </a:lnTo>
                  <a:lnTo>
                    <a:pt x="102" y="148"/>
                  </a:lnTo>
                  <a:lnTo>
                    <a:pt x="107" y="149"/>
                  </a:lnTo>
                  <a:lnTo>
                    <a:pt x="100" y="139"/>
                  </a:lnTo>
                  <a:lnTo>
                    <a:pt x="98" y="137"/>
                  </a:lnTo>
                  <a:lnTo>
                    <a:pt x="99" y="136"/>
                  </a:lnTo>
                  <a:lnTo>
                    <a:pt x="88" y="130"/>
                  </a:lnTo>
                  <a:lnTo>
                    <a:pt x="90" y="125"/>
                  </a:lnTo>
                  <a:lnTo>
                    <a:pt x="84" y="125"/>
                  </a:lnTo>
                  <a:lnTo>
                    <a:pt x="89" y="114"/>
                  </a:lnTo>
                  <a:lnTo>
                    <a:pt x="83" y="108"/>
                  </a:lnTo>
                  <a:lnTo>
                    <a:pt x="72" y="90"/>
                  </a:lnTo>
                  <a:lnTo>
                    <a:pt x="72" y="85"/>
                  </a:lnTo>
                  <a:lnTo>
                    <a:pt x="63" y="78"/>
                  </a:lnTo>
                  <a:lnTo>
                    <a:pt x="57" y="63"/>
                  </a:lnTo>
                  <a:lnTo>
                    <a:pt x="51" y="47"/>
                  </a:lnTo>
                  <a:lnTo>
                    <a:pt x="51" y="27"/>
                  </a:lnTo>
                  <a:lnTo>
                    <a:pt x="41" y="22"/>
                  </a:lnTo>
                  <a:lnTo>
                    <a:pt x="29" y="15"/>
                  </a:lnTo>
                  <a:lnTo>
                    <a:pt x="27" y="33"/>
                  </a:lnTo>
                  <a:lnTo>
                    <a:pt x="26" y="52"/>
                  </a:lnTo>
                  <a:lnTo>
                    <a:pt x="33" y="66"/>
                  </a:lnTo>
                  <a:lnTo>
                    <a:pt x="41" y="82"/>
                  </a:lnTo>
                  <a:lnTo>
                    <a:pt x="46" y="95"/>
                  </a:lnTo>
                  <a:lnTo>
                    <a:pt x="50" y="107"/>
                  </a:lnTo>
                  <a:lnTo>
                    <a:pt x="52" y="106"/>
                  </a:lnTo>
                  <a:lnTo>
                    <a:pt x="54" y="126"/>
                  </a:lnTo>
                  <a:lnTo>
                    <a:pt x="58" y="148"/>
                  </a:lnTo>
                  <a:lnTo>
                    <a:pt x="63" y="151"/>
                  </a:lnTo>
                  <a:lnTo>
                    <a:pt x="70" y="161"/>
                  </a:lnTo>
                  <a:lnTo>
                    <a:pt x="74" y="1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5" name="Freeform 174"/>
            <p:cNvSpPr>
              <a:spLocks/>
            </p:cNvSpPr>
            <p:nvPr/>
          </p:nvSpPr>
          <p:spPr bwMode="auto">
            <a:xfrm>
              <a:off x="1187" y="2203"/>
              <a:ext cx="9" cy="16"/>
            </a:xfrm>
            <a:custGeom>
              <a:avLst/>
              <a:gdLst/>
              <a:ahLst/>
              <a:cxnLst>
                <a:cxn ang="0">
                  <a:pos x="9" y="13"/>
                </a:cxn>
                <a:cxn ang="0">
                  <a:pos x="6" y="0"/>
                </a:cxn>
                <a:cxn ang="0">
                  <a:pos x="0" y="10"/>
                </a:cxn>
                <a:cxn ang="0">
                  <a:pos x="3" y="14"/>
                </a:cxn>
                <a:cxn ang="0">
                  <a:pos x="9" y="13"/>
                </a:cxn>
              </a:cxnLst>
              <a:rect l="0" t="0" r="r" b="b"/>
              <a:pathLst>
                <a:path w="9" h="14">
                  <a:moveTo>
                    <a:pt x="9" y="13"/>
                  </a:moveTo>
                  <a:lnTo>
                    <a:pt x="6" y="0"/>
                  </a:lnTo>
                  <a:lnTo>
                    <a:pt x="0" y="10"/>
                  </a:lnTo>
                  <a:lnTo>
                    <a:pt x="3" y="14"/>
                  </a:lnTo>
                  <a:lnTo>
                    <a:pt x="9"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6" name="Freeform 175"/>
            <p:cNvSpPr>
              <a:spLocks/>
            </p:cNvSpPr>
            <p:nvPr/>
          </p:nvSpPr>
          <p:spPr bwMode="auto">
            <a:xfrm>
              <a:off x="1202" y="2167"/>
              <a:ext cx="14" cy="20"/>
            </a:xfrm>
            <a:custGeom>
              <a:avLst/>
              <a:gdLst/>
              <a:ahLst/>
              <a:cxnLst>
                <a:cxn ang="0">
                  <a:pos x="5" y="17"/>
                </a:cxn>
                <a:cxn ang="0">
                  <a:pos x="7" y="10"/>
                </a:cxn>
                <a:cxn ang="0">
                  <a:pos x="0" y="0"/>
                </a:cxn>
                <a:cxn ang="0">
                  <a:pos x="11" y="11"/>
                </a:cxn>
                <a:cxn ang="0">
                  <a:pos x="5" y="17"/>
                </a:cxn>
              </a:cxnLst>
              <a:rect l="0" t="0" r="r" b="b"/>
              <a:pathLst>
                <a:path w="11" h="17">
                  <a:moveTo>
                    <a:pt x="5" y="17"/>
                  </a:moveTo>
                  <a:lnTo>
                    <a:pt x="7" y="10"/>
                  </a:lnTo>
                  <a:lnTo>
                    <a:pt x="0" y="0"/>
                  </a:lnTo>
                  <a:lnTo>
                    <a:pt x="11" y="11"/>
                  </a:lnTo>
                  <a:lnTo>
                    <a:pt x="5"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7" name="Freeform 176"/>
            <p:cNvSpPr>
              <a:spLocks/>
            </p:cNvSpPr>
            <p:nvPr/>
          </p:nvSpPr>
          <p:spPr bwMode="auto">
            <a:xfrm>
              <a:off x="1218" y="2196"/>
              <a:ext cx="9" cy="16"/>
            </a:xfrm>
            <a:custGeom>
              <a:avLst/>
              <a:gdLst/>
              <a:ahLst/>
              <a:cxnLst>
                <a:cxn ang="0">
                  <a:pos x="5" y="13"/>
                </a:cxn>
                <a:cxn ang="0">
                  <a:pos x="7" y="7"/>
                </a:cxn>
                <a:cxn ang="0">
                  <a:pos x="0" y="0"/>
                </a:cxn>
                <a:cxn ang="0">
                  <a:pos x="4" y="5"/>
                </a:cxn>
                <a:cxn ang="0">
                  <a:pos x="6" y="7"/>
                </a:cxn>
                <a:cxn ang="0">
                  <a:pos x="4" y="12"/>
                </a:cxn>
                <a:cxn ang="0">
                  <a:pos x="5" y="13"/>
                </a:cxn>
              </a:cxnLst>
              <a:rect l="0" t="0" r="r" b="b"/>
              <a:pathLst>
                <a:path w="7" h="13">
                  <a:moveTo>
                    <a:pt x="5" y="13"/>
                  </a:moveTo>
                  <a:lnTo>
                    <a:pt x="7" y="7"/>
                  </a:lnTo>
                  <a:lnTo>
                    <a:pt x="0" y="0"/>
                  </a:lnTo>
                  <a:lnTo>
                    <a:pt x="4" y="5"/>
                  </a:lnTo>
                  <a:lnTo>
                    <a:pt x="6" y="7"/>
                  </a:lnTo>
                  <a:lnTo>
                    <a:pt x="4" y="12"/>
                  </a:lnTo>
                  <a:lnTo>
                    <a:pt x="5"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8" name="Freeform 177"/>
            <p:cNvSpPr>
              <a:spLocks/>
            </p:cNvSpPr>
            <p:nvPr/>
          </p:nvSpPr>
          <p:spPr bwMode="auto">
            <a:xfrm>
              <a:off x="1260" y="2281"/>
              <a:ext cx="9" cy="6"/>
            </a:xfrm>
            <a:custGeom>
              <a:avLst/>
              <a:gdLst/>
              <a:ahLst/>
              <a:cxnLst>
                <a:cxn ang="0">
                  <a:pos x="10" y="0"/>
                </a:cxn>
                <a:cxn ang="0">
                  <a:pos x="10" y="3"/>
                </a:cxn>
                <a:cxn ang="0">
                  <a:pos x="0" y="6"/>
                </a:cxn>
                <a:cxn ang="0">
                  <a:pos x="10" y="0"/>
                </a:cxn>
              </a:cxnLst>
              <a:rect l="0" t="0" r="r" b="b"/>
              <a:pathLst>
                <a:path w="10" h="6">
                  <a:moveTo>
                    <a:pt x="10" y="0"/>
                  </a:moveTo>
                  <a:lnTo>
                    <a:pt x="10" y="3"/>
                  </a:lnTo>
                  <a:lnTo>
                    <a:pt x="0" y="6"/>
                  </a:lnTo>
                  <a:lnTo>
                    <a:pt x="1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9" name="Freeform 178"/>
            <p:cNvSpPr>
              <a:spLocks/>
            </p:cNvSpPr>
            <p:nvPr/>
          </p:nvSpPr>
          <p:spPr bwMode="auto">
            <a:xfrm>
              <a:off x="1254" y="2254"/>
              <a:ext cx="6" cy="7"/>
            </a:xfrm>
            <a:custGeom>
              <a:avLst/>
              <a:gdLst/>
              <a:ahLst/>
              <a:cxnLst>
                <a:cxn ang="0">
                  <a:pos x="6" y="2"/>
                </a:cxn>
                <a:cxn ang="0">
                  <a:pos x="4" y="0"/>
                </a:cxn>
                <a:cxn ang="0">
                  <a:pos x="0" y="5"/>
                </a:cxn>
                <a:cxn ang="0">
                  <a:pos x="6" y="2"/>
                </a:cxn>
              </a:cxnLst>
              <a:rect l="0" t="0" r="r" b="b"/>
              <a:pathLst>
                <a:path w="6" h="5">
                  <a:moveTo>
                    <a:pt x="6" y="2"/>
                  </a:moveTo>
                  <a:lnTo>
                    <a:pt x="4" y="0"/>
                  </a:lnTo>
                  <a:lnTo>
                    <a:pt x="0" y="5"/>
                  </a:lnTo>
                  <a:lnTo>
                    <a:pt x="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0" name="Freeform 179"/>
            <p:cNvSpPr>
              <a:spLocks/>
            </p:cNvSpPr>
            <p:nvPr/>
          </p:nvSpPr>
          <p:spPr bwMode="auto">
            <a:xfrm>
              <a:off x="1182" y="2174"/>
              <a:ext cx="18" cy="2"/>
            </a:xfrm>
            <a:custGeom>
              <a:avLst/>
              <a:gdLst/>
              <a:ahLst/>
              <a:cxnLst>
                <a:cxn ang="0">
                  <a:pos x="5" y="0"/>
                </a:cxn>
                <a:cxn ang="0">
                  <a:pos x="15" y="0"/>
                </a:cxn>
                <a:cxn ang="0">
                  <a:pos x="9" y="1"/>
                </a:cxn>
                <a:cxn ang="0">
                  <a:pos x="0" y="0"/>
                </a:cxn>
                <a:cxn ang="0">
                  <a:pos x="5" y="0"/>
                </a:cxn>
              </a:cxnLst>
              <a:rect l="0" t="0" r="r" b="b"/>
              <a:pathLst>
                <a:path w="15" h="1">
                  <a:moveTo>
                    <a:pt x="5" y="0"/>
                  </a:moveTo>
                  <a:lnTo>
                    <a:pt x="15" y="0"/>
                  </a:lnTo>
                  <a:lnTo>
                    <a:pt x="9" y="1"/>
                  </a:lnTo>
                  <a:lnTo>
                    <a:pt x="0" y="0"/>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1" name="Freeform 180"/>
            <p:cNvSpPr>
              <a:spLocks/>
            </p:cNvSpPr>
            <p:nvPr/>
          </p:nvSpPr>
          <p:spPr bwMode="auto">
            <a:xfrm>
              <a:off x="1194" y="2223"/>
              <a:ext cx="6" cy="7"/>
            </a:xfrm>
            <a:custGeom>
              <a:avLst/>
              <a:gdLst/>
              <a:ahLst/>
              <a:cxnLst>
                <a:cxn ang="0">
                  <a:pos x="5" y="4"/>
                </a:cxn>
                <a:cxn ang="0">
                  <a:pos x="3" y="1"/>
                </a:cxn>
                <a:cxn ang="0">
                  <a:pos x="0" y="0"/>
                </a:cxn>
                <a:cxn ang="0">
                  <a:pos x="3" y="6"/>
                </a:cxn>
                <a:cxn ang="0">
                  <a:pos x="5" y="4"/>
                </a:cxn>
              </a:cxnLst>
              <a:rect l="0" t="0" r="r" b="b"/>
              <a:pathLst>
                <a:path w="5" h="6">
                  <a:moveTo>
                    <a:pt x="5" y="4"/>
                  </a:moveTo>
                  <a:lnTo>
                    <a:pt x="3" y="1"/>
                  </a:lnTo>
                  <a:lnTo>
                    <a:pt x="0" y="0"/>
                  </a:lnTo>
                  <a:lnTo>
                    <a:pt x="3" y="6"/>
                  </a:lnTo>
                  <a:lnTo>
                    <a:pt x="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2" name="Freeform 181"/>
            <p:cNvSpPr>
              <a:spLocks/>
            </p:cNvSpPr>
            <p:nvPr/>
          </p:nvSpPr>
          <p:spPr bwMode="auto">
            <a:xfrm>
              <a:off x="4449" y="2921"/>
              <a:ext cx="700" cy="562"/>
            </a:xfrm>
            <a:custGeom>
              <a:avLst/>
              <a:gdLst/>
              <a:ahLst/>
              <a:cxnLst>
                <a:cxn ang="0">
                  <a:pos x="356" y="12"/>
                </a:cxn>
                <a:cxn ang="0">
                  <a:pos x="361" y="25"/>
                </a:cxn>
                <a:cxn ang="0">
                  <a:pos x="333" y="34"/>
                </a:cxn>
                <a:cxn ang="0">
                  <a:pos x="320" y="48"/>
                </a:cxn>
                <a:cxn ang="0">
                  <a:pos x="314" y="72"/>
                </a:cxn>
                <a:cxn ang="0">
                  <a:pos x="301" y="78"/>
                </a:cxn>
                <a:cxn ang="0">
                  <a:pos x="282" y="85"/>
                </a:cxn>
                <a:cxn ang="0">
                  <a:pos x="269" y="58"/>
                </a:cxn>
                <a:cxn ang="0">
                  <a:pos x="254" y="60"/>
                </a:cxn>
                <a:cxn ang="0">
                  <a:pos x="241" y="79"/>
                </a:cxn>
                <a:cxn ang="0">
                  <a:pos x="225" y="90"/>
                </a:cxn>
                <a:cxn ang="0">
                  <a:pos x="224" y="100"/>
                </a:cxn>
                <a:cxn ang="0">
                  <a:pos x="212" y="100"/>
                </a:cxn>
                <a:cxn ang="0">
                  <a:pos x="209" y="129"/>
                </a:cxn>
                <a:cxn ang="0">
                  <a:pos x="183" y="121"/>
                </a:cxn>
                <a:cxn ang="0">
                  <a:pos x="144" y="165"/>
                </a:cxn>
                <a:cxn ang="0">
                  <a:pos x="92" y="175"/>
                </a:cxn>
                <a:cxn ang="0">
                  <a:pos x="44" y="199"/>
                </a:cxn>
                <a:cxn ang="0">
                  <a:pos x="29" y="264"/>
                </a:cxn>
                <a:cxn ang="0">
                  <a:pos x="21" y="267"/>
                </a:cxn>
                <a:cxn ang="0">
                  <a:pos x="19" y="293"/>
                </a:cxn>
                <a:cxn ang="0">
                  <a:pos x="24" y="354"/>
                </a:cxn>
                <a:cxn ang="0">
                  <a:pos x="8" y="411"/>
                </a:cxn>
                <a:cxn ang="0">
                  <a:pos x="21" y="437"/>
                </a:cxn>
                <a:cxn ang="0">
                  <a:pos x="72" y="418"/>
                </a:cxn>
                <a:cxn ang="0">
                  <a:pos x="141" y="402"/>
                </a:cxn>
                <a:cxn ang="0">
                  <a:pos x="219" y="379"/>
                </a:cxn>
                <a:cxn ang="0">
                  <a:pos x="290" y="385"/>
                </a:cxn>
                <a:cxn ang="0">
                  <a:pos x="300" y="414"/>
                </a:cxn>
                <a:cxn ang="0">
                  <a:pos x="308" y="431"/>
                </a:cxn>
                <a:cxn ang="0">
                  <a:pos x="348" y="406"/>
                </a:cxn>
                <a:cxn ang="0">
                  <a:pos x="330" y="439"/>
                </a:cxn>
                <a:cxn ang="0">
                  <a:pos x="343" y="445"/>
                </a:cxn>
                <a:cxn ang="0">
                  <a:pos x="345" y="489"/>
                </a:cxn>
                <a:cxn ang="0">
                  <a:pos x="403" y="495"/>
                </a:cxn>
                <a:cxn ang="0">
                  <a:pos x="410" y="497"/>
                </a:cxn>
                <a:cxn ang="0">
                  <a:pos x="426" y="502"/>
                </a:cxn>
                <a:cxn ang="0">
                  <a:pos x="495" y="471"/>
                </a:cxn>
                <a:cxn ang="0">
                  <a:pos x="549" y="409"/>
                </a:cxn>
                <a:cxn ang="0">
                  <a:pos x="599" y="358"/>
                </a:cxn>
                <a:cxn ang="0">
                  <a:pos x="621" y="299"/>
                </a:cxn>
                <a:cxn ang="0">
                  <a:pos x="623" y="250"/>
                </a:cxn>
                <a:cxn ang="0">
                  <a:pos x="608" y="213"/>
                </a:cxn>
                <a:cxn ang="0">
                  <a:pos x="594" y="193"/>
                </a:cxn>
                <a:cxn ang="0">
                  <a:pos x="575" y="157"/>
                </a:cxn>
                <a:cxn ang="0">
                  <a:pos x="553" y="97"/>
                </a:cxn>
                <a:cxn ang="0">
                  <a:pos x="533" y="65"/>
                </a:cxn>
                <a:cxn ang="0">
                  <a:pos x="525" y="13"/>
                </a:cxn>
                <a:cxn ang="0">
                  <a:pos x="509" y="23"/>
                </a:cxn>
                <a:cxn ang="0">
                  <a:pos x="503" y="43"/>
                </a:cxn>
                <a:cxn ang="0">
                  <a:pos x="497" y="81"/>
                </a:cxn>
                <a:cxn ang="0">
                  <a:pos x="451" y="114"/>
                </a:cxn>
                <a:cxn ang="0">
                  <a:pos x="401" y="72"/>
                </a:cxn>
                <a:cxn ang="0">
                  <a:pos x="422" y="40"/>
                </a:cxn>
                <a:cxn ang="0">
                  <a:pos x="415" y="27"/>
                </a:cxn>
                <a:cxn ang="0">
                  <a:pos x="387" y="24"/>
                </a:cxn>
              </a:cxnLst>
              <a:rect l="0" t="0" r="r" b="b"/>
              <a:pathLst>
                <a:path w="630" h="508">
                  <a:moveTo>
                    <a:pt x="369" y="12"/>
                  </a:moveTo>
                  <a:lnTo>
                    <a:pt x="362" y="11"/>
                  </a:lnTo>
                  <a:lnTo>
                    <a:pt x="357" y="10"/>
                  </a:lnTo>
                  <a:lnTo>
                    <a:pt x="356" y="12"/>
                  </a:lnTo>
                  <a:lnTo>
                    <a:pt x="351" y="10"/>
                  </a:lnTo>
                  <a:lnTo>
                    <a:pt x="357" y="13"/>
                  </a:lnTo>
                  <a:lnTo>
                    <a:pt x="365" y="18"/>
                  </a:lnTo>
                  <a:lnTo>
                    <a:pt x="361" y="25"/>
                  </a:lnTo>
                  <a:lnTo>
                    <a:pt x="356" y="28"/>
                  </a:lnTo>
                  <a:lnTo>
                    <a:pt x="343" y="25"/>
                  </a:lnTo>
                  <a:lnTo>
                    <a:pt x="337" y="28"/>
                  </a:lnTo>
                  <a:lnTo>
                    <a:pt x="333" y="34"/>
                  </a:lnTo>
                  <a:lnTo>
                    <a:pt x="330" y="31"/>
                  </a:lnTo>
                  <a:lnTo>
                    <a:pt x="327" y="35"/>
                  </a:lnTo>
                  <a:lnTo>
                    <a:pt x="321" y="45"/>
                  </a:lnTo>
                  <a:lnTo>
                    <a:pt x="320" y="48"/>
                  </a:lnTo>
                  <a:lnTo>
                    <a:pt x="314" y="54"/>
                  </a:lnTo>
                  <a:lnTo>
                    <a:pt x="307" y="67"/>
                  </a:lnTo>
                  <a:lnTo>
                    <a:pt x="312" y="70"/>
                  </a:lnTo>
                  <a:lnTo>
                    <a:pt x="314" y="72"/>
                  </a:lnTo>
                  <a:lnTo>
                    <a:pt x="309" y="78"/>
                  </a:lnTo>
                  <a:lnTo>
                    <a:pt x="315" y="84"/>
                  </a:lnTo>
                  <a:lnTo>
                    <a:pt x="303" y="75"/>
                  </a:lnTo>
                  <a:lnTo>
                    <a:pt x="301" y="78"/>
                  </a:lnTo>
                  <a:lnTo>
                    <a:pt x="290" y="73"/>
                  </a:lnTo>
                  <a:lnTo>
                    <a:pt x="288" y="82"/>
                  </a:lnTo>
                  <a:lnTo>
                    <a:pt x="284" y="82"/>
                  </a:lnTo>
                  <a:lnTo>
                    <a:pt x="282" y="85"/>
                  </a:lnTo>
                  <a:lnTo>
                    <a:pt x="282" y="81"/>
                  </a:lnTo>
                  <a:lnTo>
                    <a:pt x="285" y="70"/>
                  </a:lnTo>
                  <a:lnTo>
                    <a:pt x="270" y="54"/>
                  </a:lnTo>
                  <a:lnTo>
                    <a:pt x="269" y="58"/>
                  </a:lnTo>
                  <a:lnTo>
                    <a:pt x="261" y="60"/>
                  </a:lnTo>
                  <a:lnTo>
                    <a:pt x="260" y="58"/>
                  </a:lnTo>
                  <a:lnTo>
                    <a:pt x="258" y="60"/>
                  </a:lnTo>
                  <a:lnTo>
                    <a:pt x="254" y="60"/>
                  </a:lnTo>
                  <a:lnTo>
                    <a:pt x="251" y="70"/>
                  </a:lnTo>
                  <a:lnTo>
                    <a:pt x="248" y="65"/>
                  </a:lnTo>
                  <a:lnTo>
                    <a:pt x="240" y="73"/>
                  </a:lnTo>
                  <a:lnTo>
                    <a:pt x="241" y="79"/>
                  </a:lnTo>
                  <a:lnTo>
                    <a:pt x="235" y="78"/>
                  </a:lnTo>
                  <a:lnTo>
                    <a:pt x="237" y="87"/>
                  </a:lnTo>
                  <a:lnTo>
                    <a:pt x="230" y="83"/>
                  </a:lnTo>
                  <a:lnTo>
                    <a:pt x="225" y="90"/>
                  </a:lnTo>
                  <a:lnTo>
                    <a:pt x="227" y="91"/>
                  </a:lnTo>
                  <a:lnTo>
                    <a:pt x="229" y="91"/>
                  </a:lnTo>
                  <a:lnTo>
                    <a:pt x="224" y="95"/>
                  </a:lnTo>
                  <a:lnTo>
                    <a:pt x="224" y="100"/>
                  </a:lnTo>
                  <a:lnTo>
                    <a:pt x="228" y="101"/>
                  </a:lnTo>
                  <a:lnTo>
                    <a:pt x="219" y="101"/>
                  </a:lnTo>
                  <a:lnTo>
                    <a:pt x="216" y="101"/>
                  </a:lnTo>
                  <a:lnTo>
                    <a:pt x="212" y="100"/>
                  </a:lnTo>
                  <a:lnTo>
                    <a:pt x="210" y="103"/>
                  </a:lnTo>
                  <a:lnTo>
                    <a:pt x="212" y="112"/>
                  </a:lnTo>
                  <a:lnTo>
                    <a:pt x="209" y="114"/>
                  </a:lnTo>
                  <a:lnTo>
                    <a:pt x="209" y="129"/>
                  </a:lnTo>
                  <a:lnTo>
                    <a:pt x="204" y="115"/>
                  </a:lnTo>
                  <a:lnTo>
                    <a:pt x="199" y="102"/>
                  </a:lnTo>
                  <a:lnTo>
                    <a:pt x="194" y="107"/>
                  </a:lnTo>
                  <a:lnTo>
                    <a:pt x="183" y="121"/>
                  </a:lnTo>
                  <a:lnTo>
                    <a:pt x="183" y="133"/>
                  </a:lnTo>
                  <a:lnTo>
                    <a:pt x="168" y="150"/>
                  </a:lnTo>
                  <a:lnTo>
                    <a:pt x="156" y="157"/>
                  </a:lnTo>
                  <a:lnTo>
                    <a:pt x="144" y="165"/>
                  </a:lnTo>
                  <a:lnTo>
                    <a:pt x="126" y="168"/>
                  </a:lnTo>
                  <a:lnTo>
                    <a:pt x="111" y="173"/>
                  </a:lnTo>
                  <a:lnTo>
                    <a:pt x="97" y="178"/>
                  </a:lnTo>
                  <a:lnTo>
                    <a:pt x="92" y="175"/>
                  </a:lnTo>
                  <a:lnTo>
                    <a:pt x="71" y="190"/>
                  </a:lnTo>
                  <a:lnTo>
                    <a:pt x="50" y="204"/>
                  </a:lnTo>
                  <a:lnTo>
                    <a:pt x="43" y="210"/>
                  </a:lnTo>
                  <a:lnTo>
                    <a:pt x="44" y="199"/>
                  </a:lnTo>
                  <a:lnTo>
                    <a:pt x="37" y="216"/>
                  </a:lnTo>
                  <a:lnTo>
                    <a:pt x="29" y="235"/>
                  </a:lnTo>
                  <a:lnTo>
                    <a:pt x="27" y="251"/>
                  </a:lnTo>
                  <a:lnTo>
                    <a:pt x="29" y="264"/>
                  </a:lnTo>
                  <a:lnTo>
                    <a:pt x="30" y="276"/>
                  </a:lnTo>
                  <a:lnTo>
                    <a:pt x="26" y="280"/>
                  </a:lnTo>
                  <a:lnTo>
                    <a:pt x="26" y="275"/>
                  </a:lnTo>
                  <a:lnTo>
                    <a:pt x="21" y="267"/>
                  </a:lnTo>
                  <a:lnTo>
                    <a:pt x="21" y="285"/>
                  </a:lnTo>
                  <a:lnTo>
                    <a:pt x="18" y="277"/>
                  </a:lnTo>
                  <a:lnTo>
                    <a:pt x="17" y="276"/>
                  </a:lnTo>
                  <a:lnTo>
                    <a:pt x="19" y="293"/>
                  </a:lnTo>
                  <a:lnTo>
                    <a:pt x="21" y="310"/>
                  </a:lnTo>
                  <a:lnTo>
                    <a:pt x="23" y="325"/>
                  </a:lnTo>
                  <a:lnTo>
                    <a:pt x="25" y="341"/>
                  </a:lnTo>
                  <a:lnTo>
                    <a:pt x="24" y="354"/>
                  </a:lnTo>
                  <a:lnTo>
                    <a:pt x="23" y="367"/>
                  </a:lnTo>
                  <a:lnTo>
                    <a:pt x="20" y="381"/>
                  </a:lnTo>
                  <a:lnTo>
                    <a:pt x="19" y="393"/>
                  </a:lnTo>
                  <a:lnTo>
                    <a:pt x="8" y="411"/>
                  </a:lnTo>
                  <a:lnTo>
                    <a:pt x="1" y="413"/>
                  </a:lnTo>
                  <a:lnTo>
                    <a:pt x="0" y="424"/>
                  </a:lnTo>
                  <a:lnTo>
                    <a:pt x="11" y="430"/>
                  </a:lnTo>
                  <a:lnTo>
                    <a:pt x="21" y="437"/>
                  </a:lnTo>
                  <a:lnTo>
                    <a:pt x="41" y="435"/>
                  </a:lnTo>
                  <a:lnTo>
                    <a:pt x="60" y="427"/>
                  </a:lnTo>
                  <a:lnTo>
                    <a:pt x="62" y="425"/>
                  </a:lnTo>
                  <a:lnTo>
                    <a:pt x="72" y="418"/>
                  </a:lnTo>
                  <a:lnTo>
                    <a:pt x="89" y="418"/>
                  </a:lnTo>
                  <a:lnTo>
                    <a:pt x="105" y="418"/>
                  </a:lnTo>
                  <a:lnTo>
                    <a:pt x="127" y="417"/>
                  </a:lnTo>
                  <a:lnTo>
                    <a:pt x="141" y="402"/>
                  </a:lnTo>
                  <a:lnTo>
                    <a:pt x="162" y="395"/>
                  </a:lnTo>
                  <a:lnTo>
                    <a:pt x="181" y="387"/>
                  </a:lnTo>
                  <a:lnTo>
                    <a:pt x="200" y="383"/>
                  </a:lnTo>
                  <a:lnTo>
                    <a:pt x="219" y="379"/>
                  </a:lnTo>
                  <a:lnTo>
                    <a:pt x="239" y="377"/>
                  </a:lnTo>
                  <a:lnTo>
                    <a:pt x="258" y="373"/>
                  </a:lnTo>
                  <a:lnTo>
                    <a:pt x="269" y="377"/>
                  </a:lnTo>
                  <a:lnTo>
                    <a:pt x="290" y="385"/>
                  </a:lnTo>
                  <a:lnTo>
                    <a:pt x="294" y="390"/>
                  </a:lnTo>
                  <a:lnTo>
                    <a:pt x="296" y="395"/>
                  </a:lnTo>
                  <a:lnTo>
                    <a:pt x="299" y="402"/>
                  </a:lnTo>
                  <a:lnTo>
                    <a:pt x="300" y="414"/>
                  </a:lnTo>
                  <a:lnTo>
                    <a:pt x="301" y="426"/>
                  </a:lnTo>
                  <a:lnTo>
                    <a:pt x="299" y="426"/>
                  </a:lnTo>
                  <a:lnTo>
                    <a:pt x="306" y="433"/>
                  </a:lnTo>
                  <a:lnTo>
                    <a:pt x="308" y="431"/>
                  </a:lnTo>
                  <a:lnTo>
                    <a:pt x="326" y="415"/>
                  </a:lnTo>
                  <a:lnTo>
                    <a:pt x="344" y="401"/>
                  </a:lnTo>
                  <a:lnTo>
                    <a:pt x="351" y="393"/>
                  </a:lnTo>
                  <a:lnTo>
                    <a:pt x="348" y="406"/>
                  </a:lnTo>
                  <a:lnTo>
                    <a:pt x="337" y="420"/>
                  </a:lnTo>
                  <a:lnTo>
                    <a:pt x="326" y="435"/>
                  </a:lnTo>
                  <a:lnTo>
                    <a:pt x="319" y="439"/>
                  </a:lnTo>
                  <a:lnTo>
                    <a:pt x="330" y="439"/>
                  </a:lnTo>
                  <a:lnTo>
                    <a:pt x="343" y="423"/>
                  </a:lnTo>
                  <a:lnTo>
                    <a:pt x="347" y="431"/>
                  </a:lnTo>
                  <a:lnTo>
                    <a:pt x="335" y="445"/>
                  </a:lnTo>
                  <a:lnTo>
                    <a:pt x="343" y="445"/>
                  </a:lnTo>
                  <a:lnTo>
                    <a:pt x="347" y="447"/>
                  </a:lnTo>
                  <a:lnTo>
                    <a:pt x="350" y="454"/>
                  </a:lnTo>
                  <a:lnTo>
                    <a:pt x="344" y="471"/>
                  </a:lnTo>
                  <a:lnTo>
                    <a:pt x="345" y="489"/>
                  </a:lnTo>
                  <a:lnTo>
                    <a:pt x="360" y="495"/>
                  </a:lnTo>
                  <a:lnTo>
                    <a:pt x="371" y="499"/>
                  </a:lnTo>
                  <a:lnTo>
                    <a:pt x="381" y="503"/>
                  </a:lnTo>
                  <a:lnTo>
                    <a:pt x="403" y="495"/>
                  </a:lnTo>
                  <a:lnTo>
                    <a:pt x="403" y="492"/>
                  </a:lnTo>
                  <a:lnTo>
                    <a:pt x="413" y="489"/>
                  </a:lnTo>
                  <a:lnTo>
                    <a:pt x="407" y="496"/>
                  </a:lnTo>
                  <a:lnTo>
                    <a:pt x="410" y="497"/>
                  </a:lnTo>
                  <a:lnTo>
                    <a:pt x="416" y="497"/>
                  </a:lnTo>
                  <a:lnTo>
                    <a:pt x="419" y="505"/>
                  </a:lnTo>
                  <a:lnTo>
                    <a:pt x="422" y="508"/>
                  </a:lnTo>
                  <a:lnTo>
                    <a:pt x="426" y="502"/>
                  </a:lnTo>
                  <a:lnTo>
                    <a:pt x="455" y="487"/>
                  </a:lnTo>
                  <a:lnTo>
                    <a:pt x="469" y="486"/>
                  </a:lnTo>
                  <a:lnTo>
                    <a:pt x="488" y="480"/>
                  </a:lnTo>
                  <a:lnTo>
                    <a:pt x="495" y="471"/>
                  </a:lnTo>
                  <a:lnTo>
                    <a:pt x="512" y="453"/>
                  </a:lnTo>
                  <a:lnTo>
                    <a:pt x="529" y="435"/>
                  </a:lnTo>
                  <a:lnTo>
                    <a:pt x="543" y="415"/>
                  </a:lnTo>
                  <a:lnTo>
                    <a:pt x="549" y="409"/>
                  </a:lnTo>
                  <a:lnTo>
                    <a:pt x="567" y="395"/>
                  </a:lnTo>
                  <a:lnTo>
                    <a:pt x="573" y="390"/>
                  </a:lnTo>
                  <a:lnTo>
                    <a:pt x="587" y="375"/>
                  </a:lnTo>
                  <a:lnTo>
                    <a:pt x="599" y="358"/>
                  </a:lnTo>
                  <a:lnTo>
                    <a:pt x="611" y="341"/>
                  </a:lnTo>
                  <a:lnTo>
                    <a:pt x="620" y="324"/>
                  </a:lnTo>
                  <a:lnTo>
                    <a:pt x="621" y="311"/>
                  </a:lnTo>
                  <a:lnTo>
                    <a:pt x="621" y="299"/>
                  </a:lnTo>
                  <a:lnTo>
                    <a:pt x="626" y="285"/>
                  </a:lnTo>
                  <a:lnTo>
                    <a:pt x="630" y="270"/>
                  </a:lnTo>
                  <a:lnTo>
                    <a:pt x="629" y="259"/>
                  </a:lnTo>
                  <a:lnTo>
                    <a:pt x="623" y="250"/>
                  </a:lnTo>
                  <a:lnTo>
                    <a:pt x="617" y="240"/>
                  </a:lnTo>
                  <a:lnTo>
                    <a:pt x="607" y="229"/>
                  </a:lnTo>
                  <a:lnTo>
                    <a:pt x="611" y="208"/>
                  </a:lnTo>
                  <a:lnTo>
                    <a:pt x="608" y="213"/>
                  </a:lnTo>
                  <a:lnTo>
                    <a:pt x="601" y="205"/>
                  </a:lnTo>
                  <a:lnTo>
                    <a:pt x="599" y="213"/>
                  </a:lnTo>
                  <a:lnTo>
                    <a:pt x="594" y="208"/>
                  </a:lnTo>
                  <a:lnTo>
                    <a:pt x="594" y="193"/>
                  </a:lnTo>
                  <a:lnTo>
                    <a:pt x="588" y="179"/>
                  </a:lnTo>
                  <a:lnTo>
                    <a:pt x="590" y="174"/>
                  </a:lnTo>
                  <a:lnTo>
                    <a:pt x="585" y="169"/>
                  </a:lnTo>
                  <a:lnTo>
                    <a:pt x="575" y="157"/>
                  </a:lnTo>
                  <a:lnTo>
                    <a:pt x="557" y="144"/>
                  </a:lnTo>
                  <a:lnTo>
                    <a:pt x="557" y="127"/>
                  </a:lnTo>
                  <a:lnTo>
                    <a:pt x="557" y="111"/>
                  </a:lnTo>
                  <a:lnTo>
                    <a:pt x="553" y="97"/>
                  </a:lnTo>
                  <a:lnTo>
                    <a:pt x="555" y="81"/>
                  </a:lnTo>
                  <a:lnTo>
                    <a:pt x="552" y="73"/>
                  </a:lnTo>
                  <a:lnTo>
                    <a:pt x="543" y="64"/>
                  </a:lnTo>
                  <a:lnTo>
                    <a:pt x="533" y="65"/>
                  </a:lnTo>
                  <a:lnTo>
                    <a:pt x="531" y="53"/>
                  </a:lnTo>
                  <a:lnTo>
                    <a:pt x="530" y="40"/>
                  </a:lnTo>
                  <a:lnTo>
                    <a:pt x="529" y="24"/>
                  </a:lnTo>
                  <a:lnTo>
                    <a:pt x="525" y="13"/>
                  </a:lnTo>
                  <a:lnTo>
                    <a:pt x="522" y="5"/>
                  </a:lnTo>
                  <a:lnTo>
                    <a:pt x="521" y="0"/>
                  </a:lnTo>
                  <a:lnTo>
                    <a:pt x="512" y="16"/>
                  </a:lnTo>
                  <a:lnTo>
                    <a:pt x="509" y="23"/>
                  </a:lnTo>
                  <a:lnTo>
                    <a:pt x="505" y="33"/>
                  </a:lnTo>
                  <a:lnTo>
                    <a:pt x="507" y="34"/>
                  </a:lnTo>
                  <a:lnTo>
                    <a:pt x="507" y="36"/>
                  </a:lnTo>
                  <a:lnTo>
                    <a:pt x="503" y="43"/>
                  </a:lnTo>
                  <a:lnTo>
                    <a:pt x="501" y="51"/>
                  </a:lnTo>
                  <a:lnTo>
                    <a:pt x="499" y="51"/>
                  </a:lnTo>
                  <a:lnTo>
                    <a:pt x="498" y="66"/>
                  </a:lnTo>
                  <a:lnTo>
                    <a:pt x="497" y="81"/>
                  </a:lnTo>
                  <a:lnTo>
                    <a:pt x="485" y="101"/>
                  </a:lnTo>
                  <a:lnTo>
                    <a:pt x="474" y="121"/>
                  </a:lnTo>
                  <a:lnTo>
                    <a:pt x="462" y="124"/>
                  </a:lnTo>
                  <a:lnTo>
                    <a:pt x="451" y="114"/>
                  </a:lnTo>
                  <a:lnTo>
                    <a:pt x="435" y="103"/>
                  </a:lnTo>
                  <a:lnTo>
                    <a:pt x="419" y="93"/>
                  </a:lnTo>
                  <a:lnTo>
                    <a:pt x="410" y="82"/>
                  </a:lnTo>
                  <a:lnTo>
                    <a:pt x="401" y="72"/>
                  </a:lnTo>
                  <a:lnTo>
                    <a:pt x="411" y="54"/>
                  </a:lnTo>
                  <a:lnTo>
                    <a:pt x="416" y="43"/>
                  </a:lnTo>
                  <a:lnTo>
                    <a:pt x="419" y="46"/>
                  </a:lnTo>
                  <a:lnTo>
                    <a:pt x="422" y="40"/>
                  </a:lnTo>
                  <a:lnTo>
                    <a:pt x="429" y="29"/>
                  </a:lnTo>
                  <a:lnTo>
                    <a:pt x="422" y="23"/>
                  </a:lnTo>
                  <a:lnTo>
                    <a:pt x="416" y="31"/>
                  </a:lnTo>
                  <a:lnTo>
                    <a:pt x="415" y="27"/>
                  </a:lnTo>
                  <a:lnTo>
                    <a:pt x="410" y="27"/>
                  </a:lnTo>
                  <a:lnTo>
                    <a:pt x="413" y="23"/>
                  </a:lnTo>
                  <a:lnTo>
                    <a:pt x="398" y="27"/>
                  </a:lnTo>
                  <a:lnTo>
                    <a:pt x="387" y="24"/>
                  </a:lnTo>
                  <a:lnTo>
                    <a:pt x="380" y="19"/>
                  </a:lnTo>
                  <a:lnTo>
                    <a:pt x="369"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3" name="Freeform 182"/>
            <p:cNvSpPr>
              <a:spLocks/>
            </p:cNvSpPr>
            <p:nvPr/>
          </p:nvSpPr>
          <p:spPr bwMode="auto">
            <a:xfrm>
              <a:off x="4860" y="3518"/>
              <a:ext cx="69" cy="56"/>
            </a:xfrm>
            <a:custGeom>
              <a:avLst/>
              <a:gdLst/>
              <a:ahLst/>
              <a:cxnLst>
                <a:cxn ang="0">
                  <a:pos x="25" y="38"/>
                </a:cxn>
                <a:cxn ang="0">
                  <a:pos x="7" y="50"/>
                </a:cxn>
                <a:cxn ang="0">
                  <a:pos x="0" y="46"/>
                </a:cxn>
                <a:cxn ang="0">
                  <a:pos x="1" y="44"/>
                </a:cxn>
                <a:cxn ang="0">
                  <a:pos x="1" y="29"/>
                </a:cxn>
                <a:cxn ang="0">
                  <a:pos x="4" y="26"/>
                </a:cxn>
                <a:cxn ang="0">
                  <a:pos x="5" y="28"/>
                </a:cxn>
                <a:cxn ang="0">
                  <a:pos x="7" y="16"/>
                </a:cxn>
                <a:cxn ang="0">
                  <a:pos x="9" y="2"/>
                </a:cxn>
                <a:cxn ang="0">
                  <a:pos x="13" y="0"/>
                </a:cxn>
                <a:cxn ang="0">
                  <a:pos x="27" y="5"/>
                </a:cxn>
                <a:cxn ang="0">
                  <a:pos x="40" y="11"/>
                </a:cxn>
                <a:cxn ang="0">
                  <a:pos x="43" y="4"/>
                </a:cxn>
                <a:cxn ang="0">
                  <a:pos x="63" y="2"/>
                </a:cxn>
                <a:cxn ang="0">
                  <a:pos x="48" y="25"/>
                </a:cxn>
                <a:cxn ang="0">
                  <a:pos x="46" y="24"/>
                </a:cxn>
                <a:cxn ang="0">
                  <a:pos x="28" y="43"/>
                </a:cxn>
                <a:cxn ang="0">
                  <a:pos x="30" y="40"/>
                </a:cxn>
                <a:cxn ang="0">
                  <a:pos x="27" y="40"/>
                </a:cxn>
                <a:cxn ang="0">
                  <a:pos x="25" y="38"/>
                </a:cxn>
              </a:cxnLst>
              <a:rect l="0" t="0" r="r" b="b"/>
              <a:pathLst>
                <a:path w="63" h="50">
                  <a:moveTo>
                    <a:pt x="25" y="38"/>
                  </a:moveTo>
                  <a:lnTo>
                    <a:pt x="7" y="50"/>
                  </a:lnTo>
                  <a:lnTo>
                    <a:pt x="0" y="46"/>
                  </a:lnTo>
                  <a:lnTo>
                    <a:pt x="1" y="44"/>
                  </a:lnTo>
                  <a:lnTo>
                    <a:pt x="1" y="29"/>
                  </a:lnTo>
                  <a:lnTo>
                    <a:pt x="4" y="26"/>
                  </a:lnTo>
                  <a:lnTo>
                    <a:pt x="5" y="28"/>
                  </a:lnTo>
                  <a:lnTo>
                    <a:pt x="7" y="16"/>
                  </a:lnTo>
                  <a:lnTo>
                    <a:pt x="9" y="2"/>
                  </a:lnTo>
                  <a:lnTo>
                    <a:pt x="13" y="0"/>
                  </a:lnTo>
                  <a:lnTo>
                    <a:pt x="27" y="5"/>
                  </a:lnTo>
                  <a:lnTo>
                    <a:pt x="40" y="11"/>
                  </a:lnTo>
                  <a:lnTo>
                    <a:pt x="43" y="4"/>
                  </a:lnTo>
                  <a:lnTo>
                    <a:pt x="63" y="2"/>
                  </a:lnTo>
                  <a:lnTo>
                    <a:pt x="48" y="25"/>
                  </a:lnTo>
                  <a:lnTo>
                    <a:pt x="46" y="24"/>
                  </a:lnTo>
                  <a:lnTo>
                    <a:pt x="28" y="43"/>
                  </a:lnTo>
                  <a:lnTo>
                    <a:pt x="30" y="40"/>
                  </a:lnTo>
                  <a:lnTo>
                    <a:pt x="27" y="40"/>
                  </a:lnTo>
                  <a:lnTo>
                    <a:pt x="25"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4" name="Freeform 183"/>
            <p:cNvSpPr>
              <a:spLocks/>
            </p:cNvSpPr>
            <p:nvPr/>
          </p:nvSpPr>
          <p:spPr bwMode="auto">
            <a:xfrm>
              <a:off x="5613" y="3052"/>
              <a:ext cx="22" cy="15"/>
            </a:xfrm>
            <a:custGeom>
              <a:avLst/>
              <a:gdLst/>
              <a:ahLst/>
              <a:cxnLst>
                <a:cxn ang="0">
                  <a:pos x="21" y="13"/>
                </a:cxn>
                <a:cxn ang="0">
                  <a:pos x="0" y="14"/>
                </a:cxn>
                <a:cxn ang="0">
                  <a:pos x="1" y="7"/>
                </a:cxn>
                <a:cxn ang="0">
                  <a:pos x="16" y="0"/>
                </a:cxn>
                <a:cxn ang="0">
                  <a:pos x="21" y="12"/>
                </a:cxn>
                <a:cxn ang="0">
                  <a:pos x="21" y="13"/>
                </a:cxn>
              </a:cxnLst>
              <a:rect l="0" t="0" r="r" b="b"/>
              <a:pathLst>
                <a:path w="21" h="14">
                  <a:moveTo>
                    <a:pt x="21" y="13"/>
                  </a:moveTo>
                  <a:lnTo>
                    <a:pt x="0" y="14"/>
                  </a:lnTo>
                  <a:lnTo>
                    <a:pt x="1" y="7"/>
                  </a:lnTo>
                  <a:lnTo>
                    <a:pt x="16" y="0"/>
                  </a:lnTo>
                  <a:lnTo>
                    <a:pt x="21" y="12"/>
                  </a:lnTo>
                  <a:lnTo>
                    <a:pt x="21"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5" name="Freeform 184"/>
            <p:cNvSpPr>
              <a:spLocks/>
            </p:cNvSpPr>
            <p:nvPr/>
          </p:nvSpPr>
          <p:spPr bwMode="auto">
            <a:xfrm>
              <a:off x="5640" y="3030"/>
              <a:ext cx="24" cy="13"/>
            </a:xfrm>
            <a:custGeom>
              <a:avLst/>
              <a:gdLst/>
              <a:ahLst/>
              <a:cxnLst>
                <a:cxn ang="0">
                  <a:pos x="16" y="8"/>
                </a:cxn>
                <a:cxn ang="0">
                  <a:pos x="22" y="0"/>
                </a:cxn>
                <a:cxn ang="0">
                  <a:pos x="0" y="7"/>
                </a:cxn>
                <a:cxn ang="0">
                  <a:pos x="0" y="12"/>
                </a:cxn>
                <a:cxn ang="0">
                  <a:pos x="16" y="8"/>
                </a:cxn>
              </a:cxnLst>
              <a:rect l="0" t="0" r="r" b="b"/>
              <a:pathLst>
                <a:path w="22" h="12">
                  <a:moveTo>
                    <a:pt x="16" y="8"/>
                  </a:moveTo>
                  <a:lnTo>
                    <a:pt x="22" y="0"/>
                  </a:lnTo>
                  <a:lnTo>
                    <a:pt x="0" y="7"/>
                  </a:lnTo>
                  <a:lnTo>
                    <a:pt x="0" y="12"/>
                  </a:lnTo>
                  <a:lnTo>
                    <a:pt x="16" y="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6" name="Freeform 185"/>
            <p:cNvSpPr>
              <a:spLocks/>
            </p:cNvSpPr>
            <p:nvPr/>
          </p:nvSpPr>
          <p:spPr bwMode="auto">
            <a:xfrm>
              <a:off x="5373" y="3107"/>
              <a:ext cx="38" cy="43"/>
            </a:xfrm>
            <a:custGeom>
              <a:avLst/>
              <a:gdLst/>
              <a:ahLst/>
              <a:cxnLst>
                <a:cxn ang="0">
                  <a:pos x="35" y="38"/>
                </a:cxn>
                <a:cxn ang="0">
                  <a:pos x="27" y="36"/>
                </a:cxn>
                <a:cxn ang="0">
                  <a:pos x="13" y="24"/>
                </a:cxn>
                <a:cxn ang="0">
                  <a:pos x="1" y="11"/>
                </a:cxn>
                <a:cxn ang="0">
                  <a:pos x="0" y="0"/>
                </a:cxn>
                <a:cxn ang="0">
                  <a:pos x="9" y="10"/>
                </a:cxn>
                <a:cxn ang="0">
                  <a:pos x="18" y="18"/>
                </a:cxn>
                <a:cxn ang="0">
                  <a:pos x="27" y="28"/>
                </a:cxn>
                <a:cxn ang="0">
                  <a:pos x="35" y="38"/>
                </a:cxn>
              </a:cxnLst>
              <a:rect l="0" t="0" r="r" b="b"/>
              <a:pathLst>
                <a:path w="35" h="38">
                  <a:moveTo>
                    <a:pt x="35" y="38"/>
                  </a:moveTo>
                  <a:lnTo>
                    <a:pt x="27" y="36"/>
                  </a:lnTo>
                  <a:lnTo>
                    <a:pt x="13" y="24"/>
                  </a:lnTo>
                  <a:lnTo>
                    <a:pt x="1" y="11"/>
                  </a:lnTo>
                  <a:lnTo>
                    <a:pt x="0" y="0"/>
                  </a:lnTo>
                  <a:lnTo>
                    <a:pt x="9" y="10"/>
                  </a:lnTo>
                  <a:lnTo>
                    <a:pt x="18" y="18"/>
                  </a:lnTo>
                  <a:lnTo>
                    <a:pt x="27" y="28"/>
                  </a:lnTo>
                  <a:lnTo>
                    <a:pt x="35"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7" name="Freeform 186"/>
            <p:cNvSpPr>
              <a:spLocks/>
            </p:cNvSpPr>
            <p:nvPr/>
          </p:nvSpPr>
          <p:spPr bwMode="auto">
            <a:xfrm>
              <a:off x="5146" y="3514"/>
              <a:ext cx="198" cy="120"/>
            </a:xfrm>
            <a:custGeom>
              <a:avLst/>
              <a:gdLst/>
              <a:ahLst/>
              <a:cxnLst>
                <a:cxn ang="0">
                  <a:pos x="117" y="59"/>
                </a:cxn>
                <a:cxn ang="0">
                  <a:pos x="111" y="48"/>
                </a:cxn>
                <a:cxn ang="0">
                  <a:pos x="109" y="48"/>
                </a:cxn>
                <a:cxn ang="0">
                  <a:pos x="105" y="51"/>
                </a:cxn>
                <a:cxn ang="0">
                  <a:pos x="111" y="60"/>
                </a:cxn>
                <a:cxn ang="0">
                  <a:pos x="99" y="64"/>
                </a:cxn>
                <a:cxn ang="0">
                  <a:pos x="90" y="65"/>
                </a:cxn>
                <a:cxn ang="0">
                  <a:pos x="88" y="72"/>
                </a:cxn>
                <a:cxn ang="0">
                  <a:pos x="82" y="78"/>
                </a:cxn>
                <a:cxn ang="0">
                  <a:pos x="82" y="79"/>
                </a:cxn>
                <a:cxn ang="0">
                  <a:pos x="61" y="95"/>
                </a:cxn>
                <a:cxn ang="0">
                  <a:pos x="27" y="109"/>
                </a:cxn>
                <a:cxn ang="0">
                  <a:pos x="19" y="106"/>
                </a:cxn>
                <a:cxn ang="0">
                  <a:pos x="6" y="102"/>
                </a:cxn>
                <a:cxn ang="0">
                  <a:pos x="1" y="100"/>
                </a:cxn>
                <a:cxn ang="0">
                  <a:pos x="3" y="99"/>
                </a:cxn>
                <a:cxn ang="0">
                  <a:pos x="0" y="97"/>
                </a:cxn>
                <a:cxn ang="0">
                  <a:pos x="9" y="91"/>
                </a:cxn>
                <a:cxn ang="0">
                  <a:pos x="12" y="89"/>
                </a:cxn>
                <a:cxn ang="0">
                  <a:pos x="17" y="85"/>
                </a:cxn>
                <a:cxn ang="0">
                  <a:pos x="18" y="87"/>
                </a:cxn>
                <a:cxn ang="0">
                  <a:pos x="24" y="79"/>
                </a:cxn>
                <a:cxn ang="0">
                  <a:pos x="30" y="77"/>
                </a:cxn>
                <a:cxn ang="0">
                  <a:pos x="40" y="73"/>
                </a:cxn>
                <a:cxn ang="0">
                  <a:pos x="59" y="63"/>
                </a:cxn>
                <a:cxn ang="0">
                  <a:pos x="67" y="60"/>
                </a:cxn>
                <a:cxn ang="0">
                  <a:pos x="95" y="47"/>
                </a:cxn>
                <a:cxn ang="0">
                  <a:pos x="108" y="41"/>
                </a:cxn>
                <a:cxn ang="0">
                  <a:pos x="125" y="31"/>
                </a:cxn>
                <a:cxn ang="0">
                  <a:pos x="120" y="31"/>
                </a:cxn>
                <a:cxn ang="0">
                  <a:pos x="132" y="23"/>
                </a:cxn>
                <a:cxn ang="0">
                  <a:pos x="162" y="3"/>
                </a:cxn>
                <a:cxn ang="0">
                  <a:pos x="169" y="0"/>
                </a:cxn>
                <a:cxn ang="0">
                  <a:pos x="162" y="4"/>
                </a:cxn>
                <a:cxn ang="0">
                  <a:pos x="161" y="12"/>
                </a:cxn>
                <a:cxn ang="0">
                  <a:pos x="175" y="7"/>
                </a:cxn>
                <a:cxn ang="0">
                  <a:pos x="173" y="11"/>
                </a:cxn>
                <a:cxn ang="0">
                  <a:pos x="175" y="12"/>
                </a:cxn>
                <a:cxn ang="0">
                  <a:pos x="174" y="13"/>
                </a:cxn>
                <a:cxn ang="0">
                  <a:pos x="179" y="12"/>
                </a:cxn>
                <a:cxn ang="0">
                  <a:pos x="171" y="21"/>
                </a:cxn>
                <a:cxn ang="0">
                  <a:pos x="151" y="34"/>
                </a:cxn>
                <a:cxn ang="0">
                  <a:pos x="132" y="46"/>
                </a:cxn>
                <a:cxn ang="0">
                  <a:pos x="124" y="49"/>
                </a:cxn>
                <a:cxn ang="0">
                  <a:pos x="123" y="52"/>
                </a:cxn>
                <a:cxn ang="0">
                  <a:pos x="117" y="52"/>
                </a:cxn>
                <a:cxn ang="0">
                  <a:pos x="123" y="55"/>
                </a:cxn>
                <a:cxn ang="0">
                  <a:pos x="124" y="60"/>
                </a:cxn>
                <a:cxn ang="0">
                  <a:pos x="117" y="59"/>
                </a:cxn>
              </a:cxnLst>
              <a:rect l="0" t="0" r="r" b="b"/>
              <a:pathLst>
                <a:path w="179" h="109">
                  <a:moveTo>
                    <a:pt x="117" y="59"/>
                  </a:moveTo>
                  <a:lnTo>
                    <a:pt x="111" y="48"/>
                  </a:lnTo>
                  <a:lnTo>
                    <a:pt x="109" y="48"/>
                  </a:lnTo>
                  <a:lnTo>
                    <a:pt x="105" y="51"/>
                  </a:lnTo>
                  <a:lnTo>
                    <a:pt x="111" y="60"/>
                  </a:lnTo>
                  <a:lnTo>
                    <a:pt x="99" y="64"/>
                  </a:lnTo>
                  <a:lnTo>
                    <a:pt x="90" y="65"/>
                  </a:lnTo>
                  <a:lnTo>
                    <a:pt x="88" y="72"/>
                  </a:lnTo>
                  <a:lnTo>
                    <a:pt x="82" y="78"/>
                  </a:lnTo>
                  <a:lnTo>
                    <a:pt x="82" y="79"/>
                  </a:lnTo>
                  <a:lnTo>
                    <a:pt x="61" y="95"/>
                  </a:lnTo>
                  <a:lnTo>
                    <a:pt x="27" y="109"/>
                  </a:lnTo>
                  <a:lnTo>
                    <a:pt x="19" y="106"/>
                  </a:lnTo>
                  <a:lnTo>
                    <a:pt x="6" y="102"/>
                  </a:lnTo>
                  <a:lnTo>
                    <a:pt x="1" y="100"/>
                  </a:lnTo>
                  <a:lnTo>
                    <a:pt x="3" y="99"/>
                  </a:lnTo>
                  <a:lnTo>
                    <a:pt x="0" y="97"/>
                  </a:lnTo>
                  <a:lnTo>
                    <a:pt x="9" y="91"/>
                  </a:lnTo>
                  <a:lnTo>
                    <a:pt x="12" y="89"/>
                  </a:lnTo>
                  <a:lnTo>
                    <a:pt x="17" y="85"/>
                  </a:lnTo>
                  <a:lnTo>
                    <a:pt x="18" y="87"/>
                  </a:lnTo>
                  <a:lnTo>
                    <a:pt x="24" y="79"/>
                  </a:lnTo>
                  <a:lnTo>
                    <a:pt x="30" y="77"/>
                  </a:lnTo>
                  <a:lnTo>
                    <a:pt x="40" y="73"/>
                  </a:lnTo>
                  <a:lnTo>
                    <a:pt x="59" y="63"/>
                  </a:lnTo>
                  <a:lnTo>
                    <a:pt x="67" y="60"/>
                  </a:lnTo>
                  <a:lnTo>
                    <a:pt x="95" y="47"/>
                  </a:lnTo>
                  <a:lnTo>
                    <a:pt x="108" y="41"/>
                  </a:lnTo>
                  <a:lnTo>
                    <a:pt x="125" y="31"/>
                  </a:lnTo>
                  <a:lnTo>
                    <a:pt x="120" y="31"/>
                  </a:lnTo>
                  <a:lnTo>
                    <a:pt x="132" y="23"/>
                  </a:lnTo>
                  <a:lnTo>
                    <a:pt x="162" y="3"/>
                  </a:lnTo>
                  <a:lnTo>
                    <a:pt x="169" y="0"/>
                  </a:lnTo>
                  <a:lnTo>
                    <a:pt x="162" y="4"/>
                  </a:lnTo>
                  <a:lnTo>
                    <a:pt x="161" y="12"/>
                  </a:lnTo>
                  <a:lnTo>
                    <a:pt x="175" y="7"/>
                  </a:lnTo>
                  <a:lnTo>
                    <a:pt x="173" y="11"/>
                  </a:lnTo>
                  <a:lnTo>
                    <a:pt x="175" y="12"/>
                  </a:lnTo>
                  <a:lnTo>
                    <a:pt x="174" y="13"/>
                  </a:lnTo>
                  <a:lnTo>
                    <a:pt x="179" y="12"/>
                  </a:lnTo>
                  <a:lnTo>
                    <a:pt x="171" y="21"/>
                  </a:lnTo>
                  <a:lnTo>
                    <a:pt x="151" y="34"/>
                  </a:lnTo>
                  <a:lnTo>
                    <a:pt x="132" y="46"/>
                  </a:lnTo>
                  <a:lnTo>
                    <a:pt x="124" y="49"/>
                  </a:lnTo>
                  <a:lnTo>
                    <a:pt x="123" y="52"/>
                  </a:lnTo>
                  <a:lnTo>
                    <a:pt x="117" y="52"/>
                  </a:lnTo>
                  <a:lnTo>
                    <a:pt x="123" y="55"/>
                  </a:lnTo>
                  <a:lnTo>
                    <a:pt x="124" y="60"/>
                  </a:lnTo>
                  <a:lnTo>
                    <a:pt x="117" y="5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8" name="Freeform 187"/>
            <p:cNvSpPr>
              <a:spLocks/>
            </p:cNvSpPr>
            <p:nvPr/>
          </p:nvSpPr>
          <p:spPr bwMode="auto">
            <a:xfrm>
              <a:off x="5348" y="3394"/>
              <a:ext cx="114" cy="140"/>
            </a:xfrm>
            <a:custGeom>
              <a:avLst/>
              <a:gdLst/>
              <a:ahLst/>
              <a:cxnLst>
                <a:cxn ang="0">
                  <a:pos x="12" y="85"/>
                </a:cxn>
                <a:cxn ang="0">
                  <a:pos x="18" y="94"/>
                </a:cxn>
                <a:cxn ang="0">
                  <a:pos x="23" y="102"/>
                </a:cxn>
                <a:cxn ang="0">
                  <a:pos x="0" y="123"/>
                </a:cxn>
                <a:cxn ang="0">
                  <a:pos x="3" y="127"/>
                </a:cxn>
                <a:cxn ang="0">
                  <a:pos x="25" y="114"/>
                </a:cxn>
                <a:cxn ang="0">
                  <a:pos x="48" y="101"/>
                </a:cxn>
                <a:cxn ang="0">
                  <a:pos x="59" y="88"/>
                </a:cxn>
                <a:cxn ang="0">
                  <a:pos x="74" y="83"/>
                </a:cxn>
                <a:cxn ang="0">
                  <a:pos x="81" y="76"/>
                </a:cxn>
                <a:cxn ang="0">
                  <a:pos x="102" y="58"/>
                </a:cxn>
                <a:cxn ang="0">
                  <a:pos x="99" y="57"/>
                </a:cxn>
                <a:cxn ang="0">
                  <a:pos x="83" y="63"/>
                </a:cxn>
                <a:cxn ang="0">
                  <a:pos x="66" y="54"/>
                </a:cxn>
                <a:cxn ang="0">
                  <a:pos x="71" y="36"/>
                </a:cxn>
                <a:cxn ang="0">
                  <a:pos x="65" y="47"/>
                </a:cxn>
                <a:cxn ang="0">
                  <a:pos x="56" y="42"/>
                </a:cxn>
                <a:cxn ang="0">
                  <a:pos x="59" y="36"/>
                </a:cxn>
                <a:cxn ang="0">
                  <a:pos x="63" y="23"/>
                </a:cxn>
                <a:cxn ang="0">
                  <a:pos x="67" y="16"/>
                </a:cxn>
                <a:cxn ang="0">
                  <a:pos x="65" y="16"/>
                </a:cxn>
                <a:cxn ang="0">
                  <a:pos x="57" y="7"/>
                </a:cxn>
                <a:cxn ang="0">
                  <a:pos x="54" y="1"/>
                </a:cxn>
                <a:cxn ang="0">
                  <a:pos x="54" y="0"/>
                </a:cxn>
                <a:cxn ang="0">
                  <a:pos x="51" y="12"/>
                </a:cxn>
                <a:cxn ang="0">
                  <a:pos x="54" y="17"/>
                </a:cxn>
                <a:cxn ang="0">
                  <a:pos x="50" y="34"/>
                </a:cxn>
                <a:cxn ang="0">
                  <a:pos x="53" y="27"/>
                </a:cxn>
                <a:cxn ang="0">
                  <a:pos x="55" y="30"/>
                </a:cxn>
                <a:cxn ang="0">
                  <a:pos x="55" y="33"/>
                </a:cxn>
                <a:cxn ang="0">
                  <a:pos x="53" y="37"/>
                </a:cxn>
                <a:cxn ang="0">
                  <a:pos x="49" y="46"/>
                </a:cxn>
                <a:cxn ang="0">
                  <a:pos x="55" y="45"/>
                </a:cxn>
                <a:cxn ang="0">
                  <a:pos x="51" y="48"/>
                </a:cxn>
                <a:cxn ang="0">
                  <a:pos x="47" y="57"/>
                </a:cxn>
                <a:cxn ang="0">
                  <a:pos x="32" y="76"/>
                </a:cxn>
                <a:cxn ang="0">
                  <a:pos x="12" y="85"/>
                </a:cxn>
              </a:cxnLst>
              <a:rect l="0" t="0" r="r" b="b"/>
              <a:pathLst>
                <a:path w="102" h="127">
                  <a:moveTo>
                    <a:pt x="12" y="85"/>
                  </a:moveTo>
                  <a:lnTo>
                    <a:pt x="18" y="94"/>
                  </a:lnTo>
                  <a:lnTo>
                    <a:pt x="23" y="102"/>
                  </a:lnTo>
                  <a:lnTo>
                    <a:pt x="0" y="123"/>
                  </a:lnTo>
                  <a:lnTo>
                    <a:pt x="3" y="127"/>
                  </a:lnTo>
                  <a:lnTo>
                    <a:pt x="25" y="114"/>
                  </a:lnTo>
                  <a:lnTo>
                    <a:pt x="48" y="101"/>
                  </a:lnTo>
                  <a:lnTo>
                    <a:pt x="59" y="88"/>
                  </a:lnTo>
                  <a:lnTo>
                    <a:pt x="74" y="83"/>
                  </a:lnTo>
                  <a:lnTo>
                    <a:pt x="81" y="76"/>
                  </a:lnTo>
                  <a:lnTo>
                    <a:pt x="102" y="58"/>
                  </a:lnTo>
                  <a:lnTo>
                    <a:pt x="99" y="57"/>
                  </a:lnTo>
                  <a:lnTo>
                    <a:pt x="83" y="63"/>
                  </a:lnTo>
                  <a:lnTo>
                    <a:pt x="66" y="54"/>
                  </a:lnTo>
                  <a:lnTo>
                    <a:pt x="71" y="36"/>
                  </a:lnTo>
                  <a:lnTo>
                    <a:pt x="65" y="47"/>
                  </a:lnTo>
                  <a:lnTo>
                    <a:pt x="56" y="42"/>
                  </a:lnTo>
                  <a:lnTo>
                    <a:pt x="59" y="36"/>
                  </a:lnTo>
                  <a:lnTo>
                    <a:pt x="63" y="23"/>
                  </a:lnTo>
                  <a:lnTo>
                    <a:pt x="67" y="16"/>
                  </a:lnTo>
                  <a:lnTo>
                    <a:pt x="65" y="16"/>
                  </a:lnTo>
                  <a:lnTo>
                    <a:pt x="57" y="7"/>
                  </a:lnTo>
                  <a:lnTo>
                    <a:pt x="54" y="1"/>
                  </a:lnTo>
                  <a:lnTo>
                    <a:pt x="54" y="0"/>
                  </a:lnTo>
                  <a:lnTo>
                    <a:pt x="51" y="12"/>
                  </a:lnTo>
                  <a:lnTo>
                    <a:pt x="54" y="17"/>
                  </a:lnTo>
                  <a:lnTo>
                    <a:pt x="50" y="34"/>
                  </a:lnTo>
                  <a:lnTo>
                    <a:pt x="53" y="27"/>
                  </a:lnTo>
                  <a:lnTo>
                    <a:pt x="55" y="30"/>
                  </a:lnTo>
                  <a:lnTo>
                    <a:pt x="55" y="33"/>
                  </a:lnTo>
                  <a:lnTo>
                    <a:pt x="53" y="37"/>
                  </a:lnTo>
                  <a:lnTo>
                    <a:pt x="49" y="46"/>
                  </a:lnTo>
                  <a:lnTo>
                    <a:pt x="55" y="45"/>
                  </a:lnTo>
                  <a:lnTo>
                    <a:pt x="51" y="48"/>
                  </a:lnTo>
                  <a:lnTo>
                    <a:pt x="47" y="57"/>
                  </a:lnTo>
                  <a:lnTo>
                    <a:pt x="32" y="76"/>
                  </a:lnTo>
                  <a:lnTo>
                    <a:pt x="12" y="8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9" name="Freeform 188"/>
            <p:cNvSpPr>
              <a:spLocks/>
            </p:cNvSpPr>
            <p:nvPr/>
          </p:nvSpPr>
          <p:spPr bwMode="auto">
            <a:xfrm>
              <a:off x="5144" y="3636"/>
              <a:ext cx="11" cy="7"/>
            </a:xfrm>
            <a:custGeom>
              <a:avLst/>
              <a:gdLst/>
              <a:ahLst/>
              <a:cxnLst>
                <a:cxn ang="0">
                  <a:pos x="11" y="3"/>
                </a:cxn>
                <a:cxn ang="0">
                  <a:pos x="11" y="1"/>
                </a:cxn>
                <a:cxn ang="0">
                  <a:pos x="6" y="0"/>
                </a:cxn>
                <a:cxn ang="0">
                  <a:pos x="0" y="6"/>
                </a:cxn>
                <a:cxn ang="0">
                  <a:pos x="11" y="3"/>
                </a:cxn>
              </a:cxnLst>
              <a:rect l="0" t="0" r="r" b="b"/>
              <a:pathLst>
                <a:path w="11" h="6">
                  <a:moveTo>
                    <a:pt x="11" y="3"/>
                  </a:moveTo>
                  <a:lnTo>
                    <a:pt x="11" y="1"/>
                  </a:lnTo>
                  <a:lnTo>
                    <a:pt x="6" y="0"/>
                  </a:lnTo>
                  <a:lnTo>
                    <a:pt x="0" y="6"/>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0" name="Freeform 189"/>
            <p:cNvSpPr>
              <a:spLocks/>
            </p:cNvSpPr>
            <p:nvPr/>
          </p:nvSpPr>
          <p:spPr bwMode="auto">
            <a:xfrm>
              <a:off x="5333" y="2890"/>
              <a:ext cx="20" cy="13"/>
            </a:xfrm>
            <a:custGeom>
              <a:avLst/>
              <a:gdLst/>
              <a:ahLst/>
              <a:cxnLst>
                <a:cxn ang="0">
                  <a:pos x="17" y="11"/>
                </a:cxn>
                <a:cxn ang="0">
                  <a:pos x="18" y="9"/>
                </a:cxn>
                <a:cxn ang="0">
                  <a:pos x="3" y="0"/>
                </a:cxn>
                <a:cxn ang="0">
                  <a:pos x="0" y="5"/>
                </a:cxn>
                <a:cxn ang="0">
                  <a:pos x="17" y="11"/>
                </a:cxn>
              </a:cxnLst>
              <a:rect l="0" t="0" r="r" b="b"/>
              <a:pathLst>
                <a:path w="18" h="11">
                  <a:moveTo>
                    <a:pt x="17" y="11"/>
                  </a:moveTo>
                  <a:lnTo>
                    <a:pt x="18" y="9"/>
                  </a:lnTo>
                  <a:lnTo>
                    <a:pt x="3" y="0"/>
                  </a:lnTo>
                  <a:lnTo>
                    <a:pt x="0" y="5"/>
                  </a:lnTo>
                  <a:lnTo>
                    <a:pt x="17"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1" name="Freeform 190"/>
            <p:cNvSpPr>
              <a:spLocks/>
            </p:cNvSpPr>
            <p:nvPr/>
          </p:nvSpPr>
          <p:spPr bwMode="auto">
            <a:xfrm>
              <a:off x="5284" y="2839"/>
              <a:ext cx="16" cy="15"/>
            </a:xfrm>
            <a:custGeom>
              <a:avLst/>
              <a:gdLst/>
              <a:ahLst/>
              <a:cxnLst>
                <a:cxn ang="0">
                  <a:pos x="0" y="0"/>
                </a:cxn>
                <a:cxn ang="0">
                  <a:pos x="14" y="13"/>
                </a:cxn>
                <a:cxn ang="0">
                  <a:pos x="5" y="10"/>
                </a:cxn>
                <a:cxn ang="0">
                  <a:pos x="0" y="0"/>
                </a:cxn>
              </a:cxnLst>
              <a:rect l="0" t="0" r="r" b="b"/>
              <a:pathLst>
                <a:path w="14" h="13">
                  <a:moveTo>
                    <a:pt x="0" y="0"/>
                  </a:moveTo>
                  <a:lnTo>
                    <a:pt x="14" y="13"/>
                  </a:lnTo>
                  <a:lnTo>
                    <a:pt x="5" y="10"/>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2" name="Freeform 191"/>
            <p:cNvSpPr>
              <a:spLocks/>
            </p:cNvSpPr>
            <p:nvPr/>
          </p:nvSpPr>
          <p:spPr bwMode="auto">
            <a:xfrm>
              <a:off x="5362" y="2910"/>
              <a:ext cx="13" cy="11"/>
            </a:xfrm>
            <a:custGeom>
              <a:avLst/>
              <a:gdLst/>
              <a:ahLst/>
              <a:cxnLst>
                <a:cxn ang="0">
                  <a:pos x="13" y="10"/>
                </a:cxn>
                <a:cxn ang="0">
                  <a:pos x="1" y="3"/>
                </a:cxn>
                <a:cxn ang="0">
                  <a:pos x="0" y="0"/>
                </a:cxn>
                <a:cxn ang="0">
                  <a:pos x="13" y="8"/>
                </a:cxn>
                <a:cxn ang="0">
                  <a:pos x="13" y="10"/>
                </a:cxn>
              </a:cxnLst>
              <a:rect l="0" t="0" r="r" b="b"/>
              <a:pathLst>
                <a:path w="13" h="10">
                  <a:moveTo>
                    <a:pt x="13" y="10"/>
                  </a:moveTo>
                  <a:lnTo>
                    <a:pt x="1" y="3"/>
                  </a:lnTo>
                  <a:lnTo>
                    <a:pt x="0" y="0"/>
                  </a:lnTo>
                  <a:lnTo>
                    <a:pt x="13" y="8"/>
                  </a:lnTo>
                  <a:lnTo>
                    <a:pt x="13"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3" name="Freeform 192"/>
            <p:cNvSpPr>
              <a:spLocks/>
            </p:cNvSpPr>
            <p:nvPr/>
          </p:nvSpPr>
          <p:spPr bwMode="auto">
            <a:xfrm>
              <a:off x="5295" y="2865"/>
              <a:ext cx="9" cy="11"/>
            </a:xfrm>
            <a:custGeom>
              <a:avLst/>
              <a:gdLst/>
              <a:ahLst/>
              <a:cxnLst>
                <a:cxn ang="0">
                  <a:pos x="8" y="10"/>
                </a:cxn>
                <a:cxn ang="0">
                  <a:pos x="4" y="0"/>
                </a:cxn>
                <a:cxn ang="0">
                  <a:pos x="0" y="4"/>
                </a:cxn>
                <a:cxn ang="0">
                  <a:pos x="3" y="4"/>
                </a:cxn>
                <a:cxn ang="0">
                  <a:pos x="8" y="10"/>
                </a:cxn>
              </a:cxnLst>
              <a:rect l="0" t="0" r="r" b="b"/>
              <a:pathLst>
                <a:path w="8" h="10">
                  <a:moveTo>
                    <a:pt x="8" y="10"/>
                  </a:moveTo>
                  <a:lnTo>
                    <a:pt x="4" y="0"/>
                  </a:lnTo>
                  <a:lnTo>
                    <a:pt x="0" y="4"/>
                  </a:lnTo>
                  <a:lnTo>
                    <a:pt x="3" y="4"/>
                  </a:lnTo>
                  <a:lnTo>
                    <a:pt x="8"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4" name="Freeform 193"/>
            <p:cNvSpPr>
              <a:spLocks/>
            </p:cNvSpPr>
            <p:nvPr/>
          </p:nvSpPr>
          <p:spPr bwMode="auto">
            <a:xfrm>
              <a:off x="5353" y="2870"/>
              <a:ext cx="9" cy="26"/>
            </a:xfrm>
            <a:custGeom>
              <a:avLst/>
              <a:gdLst/>
              <a:ahLst/>
              <a:cxnLst>
                <a:cxn ang="0">
                  <a:pos x="2" y="0"/>
                </a:cxn>
                <a:cxn ang="0">
                  <a:pos x="9" y="23"/>
                </a:cxn>
                <a:cxn ang="0">
                  <a:pos x="0" y="5"/>
                </a:cxn>
                <a:cxn ang="0">
                  <a:pos x="2" y="0"/>
                </a:cxn>
              </a:cxnLst>
              <a:rect l="0" t="0" r="r" b="b"/>
              <a:pathLst>
                <a:path w="9" h="23">
                  <a:moveTo>
                    <a:pt x="2" y="0"/>
                  </a:moveTo>
                  <a:lnTo>
                    <a:pt x="9" y="23"/>
                  </a:lnTo>
                  <a:lnTo>
                    <a:pt x="0" y="5"/>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5" name="Freeform 194"/>
            <p:cNvSpPr>
              <a:spLocks/>
            </p:cNvSpPr>
            <p:nvPr/>
          </p:nvSpPr>
          <p:spPr bwMode="auto">
            <a:xfrm>
              <a:off x="5320" y="2856"/>
              <a:ext cx="20" cy="20"/>
            </a:xfrm>
            <a:custGeom>
              <a:avLst/>
              <a:gdLst/>
              <a:ahLst/>
              <a:cxnLst>
                <a:cxn ang="0">
                  <a:pos x="17" y="18"/>
                </a:cxn>
                <a:cxn ang="0">
                  <a:pos x="19" y="18"/>
                </a:cxn>
                <a:cxn ang="0">
                  <a:pos x="10" y="9"/>
                </a:cxn>
                <a:cxn ang="0">
                  <a:pos x="0" y="0"/>
                </a:cxn>
                <a:cxn ang="0">
                  <a:pos x="9" y="9"/>
                </a:cxn>
                <a:cxn ang="0">
                  <a:pos x="17" y="18"/>
                </a:cxn>
              </a:cxnLst>
              <a:rect l="0" t="0" r="r" b="b"/>
              <a:pathLst>
                <a:path w="19" h="18">
                  <a:moveTo>
                    <a:pt x="17" y="18"/>
                  </a:moveTo>
                  <a:lnTo>
                    <a:pt x="19" y="18"/>
                  </a:lnTo>
                  <a:lnTo>
                    <a:pt x="10" y="9"/>
                  </a:lnTo>
                  <a:lnTo>
                    <a:pt x="0" y="0"/>
                  </a:lnTo>
                  <a:lnTo>
                    <a:pt x="9" y="9"/>
                  </a:lnTo>
                  <a:lnTo>
                    <a:pt x="17"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6" name="Freeform 195"/>
            <p:cNvSpPr>
              <a:spLocks/>
            </p:cNvSpPr>
            <p:nvPr/>
          </p:nvSpPr>
          <p:spPr bwMode="auto">
            <a:xfrm>
              <a:off x="5628" y="2954"/>
              <a:ext cx="3" cy="2"/>
            </a:xfrm>
            <a:custGeom>
              <a:avLst/>
              <a:gdLst/>
              <a:ahLst/>
              <a:cxnLst>
                <a:cxn ang="0">
                  <a:pos x="2" y="0"/>
                </a:cxn>
                <a:cxn ang="0">
                  <a:pos x="1" y="0"/>
                </a:cxn>
                <a:cxn ang="0">
                  <a:pos x="0" y="0"/>
                </a:cxn>
                <a:cxn ang="0">
                  <a:pos x="2" y="0"/>
                </a:cxn>
              </a:cxnLst>
              <a:rect l="0" t="0" r="r" b="b"/>
              <a:pathLst>
                <a:path w="2">
                  <a:moveTo>
                    <a:pt x="2" y="0"/>
                  </a:moveTo>
                  <a:lnTo>
                    <a:pt x="1" y="0"/>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7" name="Freeform 196"/>
            <p:cNvSpPr>
              <a:spLocks/>
            </p:cNvSpPr>
            <p:nvPr/>
          </p:nvSpPr>
          <p:spPr bwMode="auto">
            <a:xfrm>
              <a:off x="5437" y="3001"/>
              <a:ext cx="9" cy="13"/>
            </a:xfrm>
            <a:custGeom>
              <a:avLst/>
              <a:gdLst/>
              <a:ahLst/>
              <a:cxnLst>
                <a:cxn ang="0">
                  <a:pos x="7" y="13"/>
                </a:cxn>
                <a:cxn ang="0">
                  <a:pos x="8" y="5"/>
                </a:cxn>
                <a:cxn ang="0">
                  <a:pos x="6" y="6"/>
                </a:cxn>
                <a:cxn ang="0">
                  <a:pos x="2" y="0"/>
                </a:cxn>
                <a:cxn ang="0">
                  <a:pos x="0" y="13"/>
                </a:cxn>
                <a:cxn ang="0">
                  <a:pos x="7" y="13"/>
                </a:cxn>
              </a:cxnLst>
              <a:rect l="0" t="0" r="r" b="b"/>
              <a:pathLst>
                <a:path w="8" h="13">
                  <a:moveTo>
                    <a:pt x="7" y="13"/>
                  </a:moveTo>
                  <a:lnTo>
                    <a:pt x="8" y="5"/>
                  </a:lnTo>
                  <a:lnTo>
                    <a:pt x="6" y="6"/>
                  </a:lnTo>
                  <a:lnTo>
                    <a:pt x="2" y="0"/>
                  </a:lnTo>
                  <a:lnTo>
                    <a:pt x="0" y="13"/>
                  </a:lnTo>
                  <a:lnTo>
                    <a:pt x="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8" name="Freeform 197"/>
            <p:cNvSpPr>
              <a:spLocks/>
            </p:cNvSpPr>
            <p:nvPr/>
          </p:nvSpPr>
          <p:spPr bwMode="auto">
            <a:xfrm>
              <a:off x="5446" y="3021"/>
              <a:ext cx="7" cy="13"/>
            </a:xfrm>
            <a:custGeom>
              <a:avLst/>
              <a:gdLst/>
              <a:ahLst/>
              <a:cxnLst>
                <a:cxn ang="0">
                  <a:pos x="6" y="12"/>
                </a:cxn>
                <a:cxn ang="0">
                  <a:pos x="0" y="11"/>
                </a:cxn>
                <a:cxn ang="0">
                  <a:pos x="0" y="0"/>
                </a:cxn>
                <a:cxn ang="0">
                  <a:pos x="6" y="12"/>
                </a:cxn>
              </a:cxnLst>
              <a:rect l="0" t="0" r="r" b="b"/>
              <a:pathLst>
                <a:path w="6" h="12">
                  <a:moveTo>
                    <a:pt x="6" y="12"/>
                  </a:moveTo>
                  <a:lnTo>
                    <a:pt x="0" y="11"/>
                  </a:lnTo>
                  <a:lnTo>
                    <a:pt x="0" y="0"/>
                  </a:lnTo>
                  <a:lnTo>
                    <a:pt x="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9" name="Freeform 198"/>
            <p:cNvSpPr>
              <a:spLocks/>
            </p:cNvSpPr>
            <p:nvPr/>
          </p:nvSpPr>
          <p:spPr bwMode="auto">
            <a:xfrm>
              <a:off x="5457" y="3027"/>
              <a:ext cx="5" cy="5"/>
            </a:xfrm>
            <a:custGeom>
              <a:avLst/>
              <a:gdLst/>
              <a:ahLst/>
              <a:cxnLst>
                <a:cxn ang="0">
                  <a:pos x="4" y="0"/>
                </a:cxn>
                <a:cxn ang="0">
                  <a:pos x="1" y="5"/>
                </a:cxn>
                <a:cxn ang="0">
                  <a:pos x="0" y="4"/>
                </a:cxn>
                <a:cxn ang="0">
                  <a:pos x="4" y="0"/>
                </a:cxn>
              </a:cxnLst>
              <a:rect l="0" t="0" r="r" b="b"/>
              <a:pathLst>
                <a:path w="4" h="5">
                  <a:moveTo>
                    <a:pt x="4" y="0"/>
                  </a:moveTo>
                  <a:lnTo>
                    <a:pt x="1" y="5"/>
                  </a:lnTo>
                  <a:lnTo>
                    <a:pt x="0" y="4"/>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0" name="Freeform 199"/>
            <p:cNvSpPr>
              <a:spLocks/>
            </p:cNvSpPr>
            <p:nvPr/>
          </p:nvSpPr>
          <p:spPr bwMode="auto">
            <a:xfrm>
              <a:off x="5464" y="3079"/>
              <a:ext cx="2" cy="4"/>
            </a:xfrm>
            <a:custGeom>
              <a:avLst/>
              <a:gdLst/>
              <a:ahLst/>
              <a:cxnLst>
                <a:cxn ang="0">
                  <a:pos x="2" y="1"/>
                </a:cxn>
                <a:cxn ang="0">
                  <a:pos x="2" y="0"/>
                </a:cxn>
                <a:cxn ang="0">
                  <a:pos x="0" y="5"/>
                </a:cxn>
                <a:cxn ang="0">
                  <a:pos x="2" y="1"/>
                </a:cxn>
              </a:cxnLst>
              <a:rect l="0" t="0" r="r" b="b"/>
              <a:pathLst>
                <a:path w="2" h="5">
                  <a:moveTo>
                    <a:pt x="2" y="1"/>
                  </a:moveTo>
                  <a:lnTo>
                    <a:pt x="2" y="0"/>
                  </a:lnTo>
                  <a:lnTo>
                    <a:pt x="0" y="5"/>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1" name="Freeform 200"/>
            <p:cNvSpPr>
              <a:spLocks/>
            </p:cNvSpPr>
            <p:nvPr/>
          </p:nvSpPr>
          <p:spPr bwMode="auto">
            <a:xfrm>
              <a:off x="2736" y="3043"/>
              <a:ext cx="233" cy="238"/>
            </a:xfrm>
            <a:custGeom>
              <a:avLst/>
              <a:gdLst/>
              <a:ahLst/>
              <a:cxnLst>
                <a:cxn ang="0">
                  <a:pos x="124" y="140"/>
                </a:cxn>
                <a:cxn ang="0">
                  <a:pos x="126" y="115"/>
                </a:cxn>
                <a:cxn ang="0">
                  <a:pos x="127" y="90"/>
                </a:cxn>
                <a:cxn ang="0">
                  <a:pos x="142" y="90"/>
                </a:cxn>
                <a:cxn ang="0">
                  <a:pos x="142" y="73"/>
                </a:cxn>
                <a:cxn ang="0">
                  <a:pos x="144" y="57"/>
                </a:cxn>
                <a:cxn ang="0">
                  <a:pos x="144" y="41"/>
                </a:cxn>
                <a:cxn ang="0">
                  <a:pos x="145" y="24"/>
                </a:cxn>
                <a:cxn ang="0">
                  <a:pos x="163" y="21"/>
                </a:cxn>
                <a:cxn ang="0">
                  <a:pos x="181" y="20"/>
                </a:cxn>
                <a:cxn ang="0">
                  <a:pos x="187" y="26"/>
                </a:cxn>
                <a:cxn ang="0">
                  <a:pos x="199" y="19"/>
                </a:cxn>
                <a:cxn ang="0">
                  <a:pos x="211" y="14"/>
                </a:cxn>
                <a:cxn ang="0">
                  <a:pos x="194" y="9"/>
                </a:cxn>
                <a:cxn ang="0">
                  <a:pos x="183" y="12"/>
                </a:cxn>
                <a:cxn ang="0">
                  <a:pos x="159" y="14"/>
                </a:cxn>
                <a:cxn ang="0">
                  <a:pos x="136" y="18"/>
                </a:cxn>
                <a:cxn ang="0">
                  <a:pos x="121" y="14"/>
                </a:cxn>
                <a:cxn ang="0">
                  <a:pos x="106" y="11"/>
                </a:cxn>
                <a:cxn ang="0">
                  <a:pos x="104" y="7"/>
                </a:cxn>
                <a:cxn ang="0">
                  <a:pos x="86" y="7"/>
                </a:cxn>
                <a:cxn ang="0">
                  <a:pos x="68" y="6"/>
                </a:cxn>
                <a:cxn ang="0">
                  <a:pos x="50" y="6"/>
                </a:cxn>
                <a:cxn ang="0">
                  <a:pos x="31" y="5"/>
                </a:cxn>
                <a:cxn ang="0">
                  <a:pos x="20" y="0"/>
                </a:cxn>
                <a:cxn ang="0">
                  <a:pos x="1" y="5"/>
                </a:cxn>
                <a:cxn ang="0">
                  <a:pos x="0" y="15"/>
                </a:cxn>
                <a:cxn ang="0">
                  <a:pos x="10" y="37"/>
                </a:cxn>
                <a:cxn ang="0">
                  <a:pos x="21" y="59"/>
                </a:cxn>
                <a:cxn ang="0">
                  <a:pos x="31" y="80"/>
                </a:cxn>
                <a:cxn ang="0">
                  <a:pos x="42" y="102"/>
                </a:cxn>
                <a:cxn ang="0">
                  <a:pos x="43" y="111"/>
                </a:cxn>
                <a:cxn ang="0">
                  <a:pos x="40" y="110"/>
                </a:cxn>
                <a:cxn ang="0">
                  <a:pos x="43" y="129"/>
                </a:cxn>
                <a:cxn ang="0">
                  <a:pos x="45" y="147"/>
                </a:cxn>
                <a:cxn ang="0">
                  <a:pos x="48" y="165"/>
                </a:cxn>
                <a:cxn ang="0">
                  <a:pos x="50" y="183"/>
                </a:cxn>
                <a:cxn ang="0">
                  <a:pos x="60" y="197"/>
                </a:cxn>
                <a:cxn ang="0">
                  <a:pos x="68" y="209"/>
                </a:cxn>
                <a:cxn ang="0">
                  <a:pos x="76" y="199"/>
                </a:cxn>
                <a:cxn ang="0">
                  <a:pos x="82" y="210"/>
                </a:cxn>
                <a:cxn ang="0">
                  <a:pos x="105" y="213"/>
                </a:cxn>
                <a:cxn ang="0">
                  <a:pos x="118" y="207"/>
                </a:cxn>
                <a:cxn ang="0">
                  <a:pos x="121" y="191"/>
                </a:cxn>
                <a:cxn ang="0">
                  <a:pos x="122" y="174"/>
                </a:cxn>
                <a:cxn ang="0">
                  <a:pos x="123" y="157"/>
                </a:cxn>
                <a:cxn ang="0">
                  <a:pos x="124" y="140"/>
                </a:cxn>
              </a:cxnLst>
              <a:rect l="0" t="0" r="r" b="b"/>
              <a:pathLst>
                <a:path w="211" h="213">
                  <a:moveTo>
                    <a:pt x="124" y="140"/>
                  </a:moveTo>
                  <a:lnTo>
                    <a:pt x="126" y="115"/>
                  </a:lnTo>
                  <a:lnTo>
                    <a:pt x="127" y="90"/>
                  </a:lnTo>
                  <a:lnTo>
                    <a:pt x="142" y="90"/>
                  </a:lnTo>
                  <a:lnTo>
                    <a:pt x="142" y="73"/>
                  </a:lnTo>
                  <a:lnTo>
                    <a:pt x="144" y="57"/>
                  </a:lnTo>
                  <a:lnTo>
                    <a:pt x="144" y="41"/>
                  </a:lnTo>
                  <a:lnTo>
                    <a:pt x="145" y="24"/>
                  </a:lnTo>
                  <a:lnTo>
                    <a:pt x="163" y="21"/>
                  </a:lnTo>
                  <a:lnTo>
                    <a:pt x="181" y="20"/>
                  </a:lnTo>
                  <a:lnTo>
                    <a:pt x="187" y="26"/>
                  </a:lnTo>
                  <a:lnTo>
                    <a:pt x="199" y="19"/>
                  </a:lnTo>
                  <a:lnTo>
                    <a:pt x="211" y="14"/>
                  </a:lnTo>
                  <a:lnTo>
                    <a:pt x="194" y="9"/>
                  </a:lnTo>
                  <a:lnTo>
                    <a:pt x="183" y="12"/>
                  </a:lnTo>
                  <a:lnTo>
                    <a:pt x="159" y="14"/>
                  </a:lnTo>
                  <a:lnTo>
                    <a:pt x="136" y="18"/>
                  </a:lnTo>
                  <a:lnTo>
                    <a:pt x="121" y="14"/>
                  </a:lnTo>
                  <a:lnTo>
                    <a:pt x="106" y="11"/>
                  </a:lnTo>
                  <a:lnTo>
                    <a:pt x="104" y="7"/>
                  </a:lnTo>
                  <a:lnTo>
                    <a:pt x="86" y="7"/>
                  </a:lnTo>
                  <a:lnTo>
                    <a:pt x="68" y="6"/>
                  </a:lnTo>
                  <a:lnTo>
                    <a:pt x="50" y="6"/>
                  </a:lnTo>
                  <a:lnTo>
                    <a:pt x="31" y="5"/>
                  </a:lnTo>
                  <a:lnTo>
                    <a:pt x="20" y="0"/>
                  </a:lnTo>
                  <a:lnTo>
                    <a:pt x="1" y="5"/>
                  </a:lnTo>
                  <a:lnTo>
                    <a:pt x="0" y="15"/>
                  </a:lnTo>
                  <a:lnTo>
                    <a:pt x="10" y="37"/>
                  </a:lnTo>
                  <a:lnTo>
                    <a:pt x="21" y="59"/>
                  </a:lnTo>
                  <a:lnTo>
                    <a:pt x="31" y="80"/>
                  </a:lnTo>
                  <a:lnTo>
                    <a:pt x="42" y="102"/>
                  </a:lnTo>
                  <a:lnTo>
                    <a:pt x="43" y="111"/>
                  </a:lnTo>
                  <a:lnTo>
                    <a:pt x="40" y="110"/>
                  </a:lnTo>
                  <a:lnTo>
                    <a:pt x="43" y="129"/>
                  </a:lnTo>
                  <a:lnTo>
                    <a:pt x="45" y="147"/>
                  </a:lnTo>
                  <a:lnTo>
                    <a:pt x="48" y="165"/>
                  </a:lnTo>
                  <a:lnTo>
                    <a:pt x="50" y="183"/>
                  </a:lnTo>
                  <a:lnTo>
                    <a:pt x="60" y="197"/>
                  </a:lnTo>
                  <a:lnTo>
                    <a:pt x="68" y="209"/>
                  </a:lnTo>
                  <a:lnTo>
                    <a:pt x="76" y="199"/>
                  </a:lnTo>
                  <a:lnTo>
                    <a:pt x="82" y="210"/>
                  </a:lnTo>
                  <a:lnTo>
                    <a:pt x="105" y="213"/>
                  </a:lnTo>
                  <a:lnTo>
                    <a:pt x="118" y="207"/>
                  </a:lnTo>
                  <a:lnTo>
                    <a:pt x="121" y="191"/>
                  </a:lnTo>
                  <a:lnTo>
                    <a:pt x="122" y="174"/>
                  </a:lnTo>
                  <a:lnTo>
                    <a:pt x="123" y="157"/>
                  </a:lnTo>
                  <a:lnTo>
                    <a:pt x="124" y="14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2" name="Freeform 201"/>
            <p:cNvSpPr>
              <a:spLocks/>
            </p:cNvSpPr>
            <p:nvPr/>
          </p:nvSpPr>
          <p:spPr bwMode="auto">
            <a:xfrm>
              <a:off x="2873" y="3061"/>
              <a:ext cx="163" cy="180"/>
            </a:xfrm>
            <a:custGeom>
              <a:avLst/>
              <a:gdLst/>
              <a:ahLst/>
              <a:cxnLst>
                <a:cxn ang="0">
                  <a:pos x="0" y="126"/>
                </a:cxn>
                <a:cxn ang="0">
                  <a:pos x="2" y="101"/>
                </a:cxn>
                <a:cxn ang="0">
                  <a:pos x="3" y="76"/>
                </a:cxn>
                <a:cxn ang="0">
                  <a:pos x="18" y="76"/>
                </a:cxn>
                <a:cxn ang="0">
                  <a:pos x="18" y="59"/>
                </a:cxn>
                <a:cxn ang="0">
                  <a:pos x="20" y="43"/>
                </a:cxn>
                <a:cxn ang="0">
                  <a:pos x="20" y="27"/>
                </a:cxn>
                <a:cxn ang="0">
                  <a:pos x="21" y="10"/>
                </a:cxn>
                <a:cxn ang="0">
                  <a:pos x="39" y="7"/>
                </a:cxn>
                <a:cxn ang="0">
                  <a:pos x="57" y="6"/>
                </a:cxn>
                <a:cxn ang="0">
                  <a:pos x="63" y="12"/>
                </a:cxn>
                <a:cxn ang="0">
                  <a:pos x="75" y="5"/>
                </a:cxn>
                <a:cxn ang="0">
                  <a:pos x="87" y="0"/>
                </a:cxn>
                <a:cxn ang="0">
                  <a:pos x="96" y="18"/>
                </a:cxn>
                <a:cxn ang="0">
                  <a:pos x="106" y="36"/>
                </a:cxn>
                <a:cxn ang="0">
                  <a:pos x="117" y="45"/>
                </a:cxn>
                <a:cxn ang="0">
                  <a:pos x="120" y="48"/>
                </a:cxn>
                <a:cxn ang="0">
                  <a:pos x="124" y="54"/>
                </a:cxn>
                <a:cxn ang="0">
                  <a:pos x="129" y="69"/>
                </a:cxn>
                <a:cxn ang="0">
                  <a:pos x="143" y="75"/>
                </a:cxn>
                <a:cxn ang="0">
                  <a:pos x="147" y="78"/>
                </a:cxn>
                <a:cxn ang="0">
                  <a:pos x="146" y="79"/>
                </a:cxn>
                <a:cxn ang="0">
                  <a:pos x="125" y="93"/>
                </a:cxn>
                <a:cxn ang="0">
                  <a:pos x="110" y="107"/>
                </a:cxn>
                <a:cxn ang="0">
                  <a:pos x="101" y="123"/>
                </a:cxn>
                <a:cxn ang="0">
                  <a:pos x="92" y="129"/>
                </a:cxn>
                <a:cxn ang="0">
                  <a:pos x="83" y="143"/>
                </a:cxn>
                <a:cxn ang="0">
                  <a:pos x="59" y="141"/>
                </a:cxn>
                <a:cxn ang="0">
                  <a:pos x="47" y="136"/>
                </a:cxn>
                <a:cxn ang="0">
                  <a:pos x="39" y="148"/>
                </a:cxn>
                <a:cxn ang="0">
                  <a:pos x="32" y="160"/>
                </a:cxn>
                <a:cxn ang="0">
                  <a:pos x="15" y="162"/>
                </a:cxn>
                <a:cxn ang="0">
                  <a:pos x="9" y="160"/>
                </a:cxn>
                <a:cxn ang="0">
                  <a:pos x="11" y="143"/>
                </a:cxn>
                <a:cxn ang="0">
                  <a:pos x="0" y="126"/>
                </a:cxn>
              </a:cxnLst>
              <a:rect l="0" t="0" r="r" b="b"/>
              <a:pathLst>
                <a:path w="147" h="162">
                  <a:moveTo>
                    <a:pt x="0" y="126"/>
                  </a:moveTo>
                  <a:lnTo>
                    <a:pt x="2" y="101"/>
                  </a:lnTo>
                  <a:lnTo>
                    <a:pt x="3" y="76"/>
                  </a:lnTo>
                  <a:lnTo>
                    <a:pt x="18" y="76"/>
                  </a:lnTo>
                  <a:lnTo>
                    <a:pt x="18" y="59"/>
                  </a:lnTo>
                  <a:lnTo>
                    <a:pt x="20" y="43"/>
                  </a:lnTo>
                  <a:lnTo>
                    <a:pt x="20" y="27"/>
                  </a:lnTo>
                  <a:lnTo>
                    <a:pt x="21" y="10"/>
                  </a:lnTo>
                  <a:lnTo>
                    <a:pt x="39" y="7"/>
                  </a:lnTo>
                  <a:lnTo>
                    <a:pt x="57" y="6"/>
                  </a:lnTo>
                  <a:lnTo>
                    <a:pt x="63" y="12"/>
                  </a:lnTo>
                  <a:lnTo>
                    <a:pt x="75" y="5"/>
                  </a:lnTo>
                  <a:lnTo>
                    <a:pt x="87" y="0"/>
                  </a:lnTo>
                  <a:lnTo>
                    <a:pt x="96" y="18"/>
                  </a:lnTo>
                  <a:lnTo>
                    <a:pt x="106" y="36"/>
                  </a:lnTo>
                  <a:lnTo>
                    <a:pt x="117" y="45"/>
                  </a:lnTo>
                  <a:lnTo>
                    <a:pt x="120" y="48"/>
                  </a:lnTo>
                  <a:lnTo>
                    <a:pt x="124" y="54"/>
                  </a:lnTo>
                  <a:lnTo>
                    <a:pt x="129" y="69"/>
                  </a:lnTo>
                  <a:lnTo>
                    <a:pt x="143" y="75"/>
                  </a:lnTo>
                  <a:lnTo>
                    <a:pt x="147" y="78"/>
                  </a:lnTo>
                  <a:lnTo>
                    <a:pt x="146" y="79"/>
                  </a:lnTo>
                  <a:lnTo>
                    <a:pt x="125" y="93"/>
                  </a:lnTo>
                  <a:lnTo>
                    <a:pt x="110" y="107"/>
                  </a:lnTo>
                  <a:lnTo>
                    <a:pt x="101" y="123"/>
                  </a:lnTo>
                  <a:lnTo>
                    <a:pt x="92" y="129"/>
                  </a:lnTo>
                  <a:lnTo>
                    <a:pt x="83" y="143"/>
                  </a:lnTo>
                  <a:lnTo>
                    <a:pt x="59" y="141"/>
                  </a:lnTo>
                  <a:lnTo>
                    <a:pt x="47" y="136"/>
                  </a:lnTo>
                  <a:lnTo>
                    <a:pt x="39" y="148"/>
                  </a:lnTo>
                  <a:lnTo>
                    <a:pt x="32" y="160"/>
                  </a:lnTo>
                  <a:lnTo>
                    <a:pt x="15" y="162"/>
                  </a:lnTo>
                  <a:lnTo>
                    <a:pt x="9" y="160"/>
                  </a:lnTo>
                  <a:lnTo>
                    <a:pt x="11" y="143"/>
                  </a:lnTo>
                  <a:lnTo>
                    <a:pt x="0" y="1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3" name="Freeform 202"/>
            <p:cNvSpPr>
              <a:spLocks/>
            </p:cNvSpPr>
            <p:nvPr/>
          </p:nvSpPr>
          <p:spPr bwMode="auto">
            <a:xfrm>
              <a:off x="3289" y="2934"/>
              <a:ext cx="4" cy="9"/>
            </a:xfrm>
            <a:custGeom>
              <a:avLst/>
              <a:gdLst/>
              <a:ahLst/>
              <a:cxnLst>
                <a:cxn ang="0">
                  <a:pos x="3" y="9"/>
                </a:cxn>
                <a:cxn ang="0">
                  <a:pos x="3" y="7"/>
                </a:cxn>
                <a:cxn ang="0">
                  <a:pos x="0" y="0"/>
                </a:cxn>
                <a:cxn ang="0">
                  <a:pos x="3" y="9"/>
                </a:cxn>
              </a:cxnLst>
              <a:rect l="0" t="0" r="r" b="b"/>
              <a:pathLst>
                <a:path w="3" h="9">
                  <a:moveTo>
                    <a:pt x="3" y="9"/>
                  </a:moveTo>
                  <a:lnTo>
                    <a:pt x="3" y="7"/>
                  </a:lnTo>
                  <a:lnTo>
                    <a:pt x="0" y="0"/>
                  </a:lnTo>
                  <a:lnTo>
                    <a:pt x="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4" name="Freeform 203"/>
            <p:cNvSpPr>
              <a:spLocks/>
            </p:cNvSpPr>
            <p:nvPr/>
          </p:nvSpPr>
          <p:spPr bwMode="auto">
            <a:xfrm>
              <a:off x="2989" y="3276"/>
              <a:ext cx="40" cy="40"/>
            </a:xfrm>
            <a:custGeom>
              <a:avLst/>
              <a:gdLst/>
              <a:ahLst/>
              <a:cxnLst>
                <a:cxn ang="0">
                  <a:pos x="15" y="3"/>
                </a:cxn>
                <a:cxn ang="0">
                  <a:pos x="0" y="19"/>
                </a:cxn>
                <a:cxn ang="0">
                  <a:pos x="11" y="35"/>
                </a:cxn>
                <a:cxn ang="0">
                  <a:pos x="17" y="30"/>
                </a:cxn>
                <a:cxn ang="0">
                  <a:pos x="32" y="19"/>
                </a:cxn>
                <a:cxn ang="0">
                  <a:pos x="35" y="7"/>
                </a:cxn>
                <a:cxn ang="0">
                  <a:pos x="21" y="0"/>
                </a:cxn>
                <a:cxn ang="0">
                  <a:pos x="15" y="3"/>
                </a:cxn>
              </a:cxnLst>
              <a:rect l="0" t="0" r="r" b="b"/>
              <a:pathLst>
                <a:path w="35" h="35">
                  <a:moveTo>
                    <a:pt x="15" y="3"/>
                  </a:moveTo>
                  <a:lnTo>
                    <a:pt x="0" y="19"/>
                  </a:lnTo>
                  <a:lnTo>
                    <a:pt x="11" y="35"/>
                  </a:lnTo>
                  <a:lnTo>
                    <a:pt x="17" y="30"/>
                  </a:lnTo>
                  <a:lnTo>
                    <a:pt x="32" y="19"/>
                  </a:lnTo>
                  <a:lnTo>
                    <a:pt x="35" y="7"/>
                  </a:lnTo>
                  <a:lnTo>
                    <a:pt x="21" y="0"/>
                  </a:lnTo>
                  <a:lnTo>
                    <a:pt x="1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5" name="Freeform 204"/>
            <p:cNvSpPr>
              <a:spLocks/>
            </p:cNvSpPr>
            <p:nvPr/>
          </p:nvSpPr>
          <p:spPr bwMode="auto">
            <a:xfrm>
              <a:off x="3278" y="2947"/>
              <a:ext cx="135" cy="267"/>
            </a:xfrm>
            <a:custGeom>
              <a:avLst/>
              <a:gdLst/>
              <a:ahLst/>
              <a:cxnLst>
                <a:cxn ang="0">
                  <a:pos x="44" y="69"/>
                </a:cxn>
                <a:cxn ang="0">
                  <a:pos x="38" y="70"/>
                </a:cxn>
                <a:cxn ang="0">
                  <a:pos x="24" y="77"/>
                </a:cxn>
                <a:cxn ang="0">
                  <a:pos x="20" y="91"/>
                </a:cxn>
                <a:cxn ang="0">
                  <a:pos x="17" y="106"/>
                </a:cxn>
                <a:cxn ang="0">
                  <a:pos x="19" y="124"/>
                </a:cxn>
                <a:cxn ang="0">
                  <a:pos x="22" y="142"/>
                </a:cxn>
                <a:cxn ang="0">
                  <a:pos x="13" y="154"/>
                </a:cxn>
                <a:cxn ang="0">
                  <a:pos x="5" y="166"/>
                </a:cxn>
                <a:cxn ang="0">
                  <a:pos x="0" y="190"/>
                </a:cxn>
                <a:cxn ang="0">
                  <a:pos x="4" y="210"/>
                </a:cxn>
                <a:cxn ang="0">
                  <a:pos x="10" y="233"/>
                </a:cxn>
                <a:cxn ang="0">
                  <a:pos x="30" y="241"/>
                </a:cxn>
                <a:cxn ang="0">
                  <a:pos x="43" y="235"/>
                </a:cxn>
                <a:cxn ang="0">
                  <a:pos x="58" y="228"/>
                </a:cxn>
                <a:cxn ang="0">
                  <a:pos x="62" y="211"/>
                </a:cxn>
                <a:cxn ang="0">
                  <a:pos x="68" y="195"/>
                </a:cxn>
                <a:cxn ang="0">
                  <a:pos x="74" y="179"/>
                </a:cxn>
                <a:cxn ang="0">
                  <a:pos x="80" y="162"/>
                </a:cxn>
                <a:cxn ang="0">
                  <a:pos x="85" y="147"/>
                </a:cxn>
                <a:cxn ang="0">
                  <a:pos x="91" y="130"/>
                </a:cxn>
                <a:cxn ang="0">
                  <a:pos x="97" y="113"/>
                </a:cxn>
                <a:cxn ang="0">
                  <a:pos x="102" y="97"/>
                </a:cxn>
                <a:cxn ang="0">
                  <a:pos x="109" y="85"/>
                </a:cxn>
                <a:cxn ang="0">
                  <a:pos x="108" y="60"/>
                </a:cxn>
                <a:cxn ang="0">
                  <a:pos x="118" y="67"/>
                </a:cxn>
                <a:cxn ang="0">
                  <a:pos x="121" y="58"/>
                </a:cxn>
                <a:cxn ang="0">
                  <a:pos x="116" y="35"/>
                </a:cxn>
                <a:cxn ang="0">
                  <a:pos x="110" y="13"/>
                </a:cxn>
                <a:cxn ang="0">
                  <a:pos x="106" y="0"/>
                </a:cxn>
                <a:cxn ang="0">
                  <a:pos x="102" y="0"/>
                </a:cxn>
                <a:cxn ang="0">
                  <a:pos x="98" y="6"/>
                </a:cxn>
                <a:cxn ang="0">
                  <a:pos x="95" y="24"/>
                </a:cxn>
                <a:cxn ang="0">
                  <a:pos x="89" y="28"/>
                </a:cxn>
                <a:cxn ang="0">
                  <a:pos x="86" y="30"/>
                </a:cxn>
                <a:cxn ang="0">
                  <a:pos x="82" y="28"/>
                </a:cxn>
                <a:cxn ang="0">
                  <a:pos x="83" y="37"/>
                </a:cxn>
                <a:cxn ang="0">
                  <a:pos x="79" y="45"/>
                </a:cxn>
                <a:cxn ang="0">
                  <a:pos x="82" y="47"/>
                </a:cxn>
                <a:cxn ang="0">
                  <a:pos x="73" y="52"/>
                </a:cxn>
                <a:cxn ang="0">
                  <a:pos x="73" y="47"/>
                </a:cxn>
                <a:cxn ang="0">
                  <a:pos x="68" y="59"/>
                </a:cxn>
                <a:cxn ang="0">
                  <a:pos x="66" y="59"/>
                </a:cxn>
                <a:cxn ang="0">
                  <a:pos x="62" y="58"/>
                </a:cxn>
                <a:cxn ang="0">
                  <a:pos x="56" y="67"/>
                </a:cxn>
                <a:cxn ang="0">
                  <a:pos x="44" y="69"/>
                </a:cxn>
              </a:cxnLst>
              <a:rect l="0" t="0" r="r" b="b"/>
              <a:pathLst>
                <a:path w="121" h="241">
                  <a:moveTo>
                    <a:pt x="44" y="69"/>
                  </a:moveTo>
                  <a:lnTo>
                    <a:pt x="38" y="70"/>
                  </a:lnTo>
                  <a:lnTo>
                    <a:pt x="24" y="77"/>
                  </a:lnTo>
                  <a:lnTo>
                    <a:pt x="20" y="91"/>
                  </a:lnTo>
                  <a:lnTo>
                    <a:pt x="17" y="106"/>
                  </a:lnTo>
                  <a:lnTo>
                    <a:pt x="19" y="124"/>
                  </a:lnTo>
                  <a:lnTo>
                    <a:pt x="22" y="142"/>
                  </a:lnTo>
                  <a:lnTo>
                    <a:pt x="13" y="154"/>
                  </a:lnTo>
                  <a:lnTo>
                    <a:pt x="5" y="166"/>
                  </a:lnTo>
                  <a:lnTo>
                    <a:pt x="0" y="190"/>
                  </a:lnTo>
                  <a:lnTo>
                    <a:pt x="4" y="210"/>
                  </a:lnTo>
                  <a:lnTo>
                    <a:pt x="10" y="233"/>
                  </a:lnTo>
                  <a:lnTo>
                    <a:pt x="30" y="241"/>
                  </a:lnTo>
                  <a:lnTo>
                    <a:pt x="43" y="235"/>
                  </a:lnTo>
                  <a:lnTo>
                    <a:pt x="58" y="228"/>
                  </a:lnTo>
                  <a:lnTo>
                    <a:pt x="62" y="211"/>
                  </a:lnTo>
                  <a:lnTo>
                    <a:pt x="68" y="195"/>
                  </a:lnTo>
                  <a:lnTo>
                    <a:pt x="74" y="179"/>
                  </a:lnTo>
                  <a:lnTo>
                    <a:pt x="80" y="162"/>
                  </a:lnTo>
                  <a:lnTo>
                    <a:pt x="85" y="147"/>
                  </a:lnTo>
                  <a:lnTo>
                    <a:pt x="91" y="130"/>
                  </a:lnTo>
                  <a:lnTo>
                    <a:pt x="97" y="113"/>
                  </a:lnTo>
                  <a:lnTo>
                    <a:pt x="102" y="97"/>
                  </a:lnTo>
                  <a:lnTo>
                    <a:pt x="109" y="85"/>
                  </a:lnTo>
                  <a:lnTo>
                    <a:pt x="108" y="60"/>
                  </a:lnTo>
                  <a:lnTo>
                    <a:pt x="118" y="67"/>
                  </a:lnTo>
                  <a:lnTo>
                    <a:pt x="121" y="58"/>
                  </a:lnTo>
                  <a:lnTo>
                    <a:pt x="116" y="35"/>
                  </a:lnTo>
                  <a:lnTo>
                    <a:pt x="110" y="13"/>
                  </a:lnTo>
                  <a:lnTo>
                    <a:pt x="106" y="0"/>
                  </a:lnTo>
                  <a:lnTo>
                    <a:pt x="102" y="0"/>
                  </a:lnTo>
                  <a:lnTo>
                    <a:pt x="98" y="6"/>
                  </a:lnTo>
                  <a:lnTo>
                    <a:pt x="95" y="24"/>
                  </a:lnTo>
                  <a:lnTo>
                    <a:pt x="89" y="28"/>
                  </a:lnTo>
                  <a:lnTo>
                    <a:pt x="86" y="30"/>
                  </a:lnTo>
                  <a:lnTo>
                    <a:pt x="82" y="28"/>
                  </a:lnTo>
                  <a:lnTo>
                    <a:pt x="83" y="37"/>
                  </a:lnTo>
                  <a:lnTo>
                    <a:pt x="79" y="45"/>
                  </a:lnTo>
                  <a:lnTo>
                    <a:pt x="82" y="47"/>
                  </a:lnTo>
                  <a:lnTo>
                    <a:pt x="73" y="52"/>
                  </a:lnTo>
                  <a:lnTo>
                    <a:pt x="73" y="47"/>
                  </a:lnTo>
                  <a:lnTo>
                    <a:pt x="68" y="59"/>
                  </a:lnTo>
                  <a:lnTo>
                    <a:pt x="66" y="59"/>
                  </a:lnTo>
                  <a:lnTo>
                    <a:pt x="62" y="58"/>
                  </a:lnTo>
                  <a:lnTo>
                    <a:pt x="56" y="67"/>
                  </a:lnTo>
                  <a:lnTo>
                    <a:pt x="44"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6" name="Freeform 205"/>
            <p:cNvSpPr>
              <a:spLocks/>
            </p:cNvSpPr>
            <p:nvPr/>
          </p:nvSpPr>
          <p:spPr bwMode="auto">
            <a:xfrm>
              <a:off x="3102" y="2894"/>
              <a:ext cx="56" cy="153"/>
            </a:xfrm>
            <a:custGeom>
              <a:avLst/>
              <a:gdLst/>
              <a:ahLst/>
              <a:cxnLst>
                <a:cxn ang="0">
                  <a:pos x="29" y="97"/>
                </a:cxn>
                <a:cxn ang="0">
                  <a:pos x="23" y="115"/>
                </a:cxn>
                <a:cxn ang="0">
                  <a:pos x="30" y="127"/>
                </a:cxn>
                <a:cxn ang="0">
                  <a:pos x="37" y="138"/>
                </a:cxn>
                <a:cxn ang="0">
                  <a:pos x="36" y="129"/>
                </a:cxn>
                <a:cxn ang="0">
                  <a:pos x="44" y="120"/>
                </a:cxn>
                <a:cxn ang="0">
                  <a:pos x="47" y="107"/>
                </a:cxn>
                <a:cxn ang="0">
                  <a:pos x="49" y="94"/>
                </a:cxn>
                <a:cxn ang="0">
                  <a:pos x="39" y="84"/>
                </a:cxn>
                <a:cxn ang="0">
                  <a:pos x="30" y="73"/>
                </a:cxn>
                <a:cxn ang="0">
                  <a:pos x="27" y="55"/>
                </a:cxn>
                <a:cxn ang="0">
                  <a:pos x="31" y="42"/>
                </a:cxn>
                <a:cxn ang="0">
                  <a:pos x="36" y="39"/>
                </a:cxn>
                <a:cxn ang="0">
                  <a:pos x="37" y="39"/>
                </a:cxn>
                <a:cxn ang="0">
                  <a:pos x="32" y="24"/>
                </a:cxn>
                <a:cxn ang="0">
                  <a:pos x="27" y="6"/>
                </a:cxn>
                <a:cxn ang="0">
                  <a:pos x="21" y="3"/>
                </a:cxn>
                <a:cxn ang="0">
                  <a:pos x="6" y="0"/>
                </a:cxn>
                <a:cxn ang="0">
                  <a:pos x="7" y="4"/>
                </a:cxn>
                <a:cxn ang="0">
                  <a:pos x="17" y="18"/>
                </a:cxn>
                <a:cxn ang="0">
                  <a:pos x="13" y="25"/>
                </a:cxn>
                <a:cxn ang="0">
                  <a:pos x="12" y="39"/>
                </a:cxn>
                <a:cxn ang="0">
                  <a:pos x="11" y="53"/>
                </a:cxn>
                <a:cxn ang="0">
                  <a:pos x="8" y="58"/>
                </a:cxn>
                <a:cxn ang="0">
                  <a:pos x="0" y="75"/>
                </a:cxn>
                <a:cxn ang="0">
                  <a:pos x="7" y="83"/>
                </a:cxn>
                <a:cxn ang="0">
                  <a:pos x="13" y="90"/>
                </a:cxn>
                <a:cxn ang="0">
                  <a:pos x="23" y="90"/>
                </a:cxn>
                <a:cxn ang="0">
                  <a:pos x="29" y="97"/>
                </a:cxn>
              </a:cxnLst>
              <a:rect l="0" t="0" r="r" b="b"/>
              <a:pathLst>
                <a:path w="49" h="138">
                  <a:moveTo>
                    <a:pt x="29" y="97"/>
                  </a:moveTo>
                  <a:lnTo>
                    <a:pt x="23" y="115"/>
                  </a:lnTo>
                  <a:lnTo>
                    <a:pt x="30" y="127"/>
                  </a:lnTo>
                  <a:lnTo>
                    <a:pt x="37" y="138"/>
                  </a:lnTo>
                  <a:lnTo>
                    <a:pt x="36" y="129"/>
                  </a:lnTo>
                  <a:lnTo>
                    <a:pt x="44" y="120"/>
                  </a:lnTo>
                  <a:lnTo>
                    <a:pt x="47" y="107"/>
                  </a:lnTo>
                  <a:lnTo>
                    <a:pt x="49" y="94"/>
                  </a:lnTo>
                  <a:lnTo>
                    <a:pt x="39" y="84"/>
                  </a:lnTo>
                  <a:lnTo>
                    <a:pt x="30" y="73"/>
                  </a:lnTo>
                  <a:lnTo>
                    <a:pt x="27" y="55"/>
                  </a:lnTo>
                  <a:lnTo>
                    <a:pt x="31" y="42"/>
                  </a:lnTo>
                  <a:lnTo>
                    <a:pt x="36" y="39"/>
                  </a:lnTo>
                  <a:lnTo>
                    <a:pt x="37" y="39"/>
                  </a:lnTo>
                  <a:lnTo>
                    <a:pt x="32" y="24"/>
                  </a:lnTo>
                  <a:lnTo>
                    <a:pt x="27" y="6"/>
                  </a:lnTo>
                  <a:lnTo>
                    <a:pt x="21" y="3"/>
                  </a:lnTo>
                  <a:lnTo>
                    <a:pt x="6" y="0"/>
                  </a:lnTo>
                  <a:lnTo>
                    <a:pt x="7" y="4"/>
                  </a:lnTo>
                  <a:lnTo>
                    <a:pt x="17" y="18"/>
                  </a:lnTo>
                  <a:lnTo>
                    <a:pt x="13" y="25"/>
                  </a:lnTo>
                  <a:lnTo>
                    <a:pt x="12" y="39"/>
                  </a:lnTo>
                  <a:lnTo>
                    <a:pt x="11" y="53"/>
                  </a:lnTo>
                  <a:lnTo>
                    <a:pt x="8" y="58"/>
                  </a:lnTo>
                  <a:lnTo>
                    <a:pt x="0" y="75"/>
                  </a:lnTo>
                  <a:lnTo>
                    <a:pt x="7" y="83"/>
                  </a:lnTo>
                  <a:lnTo>
                    <a:pt x="13" y="90"/>
                  </a:lnTo>
                  <a:lnTo>
                    <a:pt x="23" y="90"/>
                  </a:lnTo>
                  <a:lnTo>
                    <a:pt x="29" y="9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7" name="Freeform 206"/>
            <p:cNvSpPr>
              <a:spLocks/>
            </p:cNvSpPr>
            <p:nvPr/>
          </p:nvSpPr>
          <p:spPr bwMode="auto">
            <a:xfrm>
              <a:off x="3060" y="2914"/>
              <a:ext cx="182" cy="327"/>
            </a:xfrm>
            <a:custGeom>
              <a:avLst/>
              <a:gdLst/>
              <a:ahLst/>
              <a:cxnLst>
                <a:cxn ang="0">
                  <a:pos x="66" y="172"/>
                </a:cxn>
                <a:cxn ang="0">
                  <a:pos x="72" y="166"/>
                </a:cxn>
                <a:cxn ang="0">
                  <a:pos x="102" y="136"/>
                </a:cxn>
                <a:cxn ang="0">
                  <a:pos x="130" y="119"/>
                </a:cxn>
                <a:cxn ang="0">
                  <a:pos x="162" y="84"/>
                </a:cxn>
                <a:cxn ang="0">
                  <a:pos x="165" y="71"/>
                </a:cxn>
                <a:cxn ang="0">
                  <a:pos x="165" y="38"/>
                </a:cxn>
                <a:cxn ang="0">
                  <a:pos x="165" y="0"/>
                </a:cxn>
                <a:cxn ang="0">
                  <a:pos x="147" y="9"/>
                </a:cxn>
                <a:cxn ang="0">
                  <a:pos x="123" y="17"/>
                </a:cxn>
                <a:cxn ang="0">
                  <a:pos x="93" y="18"/>
                </a:cxn>
                <a:cxn ang="0">
                  <a:pos x="76" y="20"/>
                </a:cxn>
                <a:cxn ang="0">
                  <a:pos x="67" y="36"/>
                </a:cxn>
                <a:cxn ang="0">
                  <a:pos x="79" y="65"/>
                </a:cxn>
                <a:cxn ang="0">
                  <a:pos x="87" y="88"/>
                </a:cxn>
                <a:cxn ang="0">
                  <a:pos x="76" y="110"/>
                </a:cxn>
                <a:cxn ang="0">
                  <a:pos x="70" y="108"/>
                </a:cxn>
                <a:cxn ang="0">
                  <a:pos x="69" y="78"/>
                </a:cxn>
                <a:cxn ang="0">
                  <a:pos x="53" y="71"/>
                </a:cxn>
                <a:cxn ang="0">
                  <a:pos x="35" y="69"/>
                </a:cxn>
                <a:cxn ang="0">
                  <a:pos x="12" y="78"/>
                </a:cxn>
                <a:cxn ang="0">
                  <a:pos x="3" y="93"/>
                </a:cxn>
                <a:cxn ang="0">
                  <a:pos x="10" y="99"/>
                </a:cxn>
                <a:cxn ang="0">
                  <a:pos x="41" y="112"/>
                </a:cxn>
                <a:cxn ang="0">
                  <a:pos x="37" y="149"/>
                </a:cxn>
                <a:cxn ang="0">
                  <a:pos x="34" y="182"/>
                </a:cxn>
                <a:cxn ang="0">
                  <a:pos x="21" y="206"/>
                </a:cxn>
                <a:cxn ang="0">
                  <a:pos x="13" y="227"/>
                </a:cxn>
                <a:cxn ang="0">
                  <a:pos x="17" y="260"/>
                </a:cxn>
                <a:cxn ang="0">
                  <a:pos x="19" y="294"/>
                </a:cxn>
                <a:cxn ang="0">
                  <a:pos x="31" y="282"/>
                </a:cxn>
                <a:cxn ang="0">
                  <a:pos x="46" y="263"/>
                </a:cxn>
                <a:cxn ang="0">
                  <a:pos x="72" y="248"/>
                </a:cxn>
                <a:cxn ang="0">
                  <a:pos x="75" y="225"/>
                </a:cxn>
                <a:cxn ang="0">
                  <a:pos x="73" y="214"/>
                </a:cxn>
                <a:cxn ang="0">
                  <a:pos x="69" y="184"/>
                </a:cxn>
              </a:cxnLst>
              <a:rect l="0" t="0" r="r" b="b"/>
              <a:pathLst>
                <a:path w="166" h="294">
                  <a:moveTo>
                    <a:pt x="69" y="184"/>
                  </a:moveTo>
                  <a:lnTo>
                    <a:pt x="66" y="172"/>
                  </a:lnTo>
                  <a:lnTo>
                    <a:pt x="66" y="166"/>
                  </a:lnTo>
                  <a:lnTo>
                    <a:pt x="72" y="166"/>
                  </a:lnTo>
                  <a:lnTo>
                    <a:pt x="90" y="152"/>
                  </a:lnTo>
                  <a:lnTo>
                    <a:pt x="102" y="136"/>
                  </a:lnTo>
                  <a:lnTo>
                    <a:pt x="115" y="128"/>
                  </a:lnTo>
                  <a:lnTo>
                    <a:pt x="130" y="119"/>
                  </a:lnTo>
                  <a:lnTo>
                    <a:pt x="149" y="107"/>
                  </a:lnTo>
                  <a:lnTo>
                    <a:pt x="162" y="84"/>
                  </a:lnTo>
                  <a:lnTo>
                    <a:pt x="166" y="71"/>
                  </a:lnTo>
                  <a:lnTo>
                    <a:pt x="165" y="71"/>
                  </a:lnTo>
                  <a:lnTo>
                    <a:pt x="162" y="46"/>
                  </a:lnTo>
                  <a:lnTo>
                    <a:pt x="165" y="38"/>
                  </a:lnTo>
                  <a:lnTo>
                    <a:pt x="163" y="12"/>
                  </a:lnTo>
                  <a:lnTo>
                    <a:pt x="165" y="0"/>
                  </a:lnTo>
                  <a:lnTo>
                    <a:pt x="163" y="0"/>
                  </a:lnTo>
                  <a:lnTo>
                    <a:pt x="147" y="9"/>
                  </a:lnTo>
                  <a:lnTo>
                    <a:pt x="131" y="16"/>
                  </a:lnTo>
                  <a:lnTo>
                    <a:pt x="123" y="17"/>
                  </a:lnTo>
                  <a:lnTo>
                    <a:pt x="111" y="22"/>
                  </a:lnTo>
                  <a:lnTo>
                    <a:pt x="93" y="18"/>
                  </a:lnTo>
                  <a:lnTo>
                    <a:pt x="83" y="20"/>
                  </a:lnTo>
                  <a:lnTo>
                    <a:pt x="76" y="20"/>
                  </a:lnTo>
                  <a:lnTo>
                    <a:pt x="71" y="23"/>
                  </a:lnTo>
                  <a:lnTo>
                    <a:pt x="67" y="36"/>
                  </a:lnTo>
                  <a:lnTo>
                    <a:pt x="70" y="54"/>
                  </a:lnTo>
                  <a:lnTo>
                    <a:pt x="79" y="65"/>
                  </a:lnTo>
                  <a:lnTo>
                    <a:pt x="89" y="75"/>
                  </a:lnTo>
                  <a:lnTo>
                    <a:pt x="87" y="88"/>
                  </a:lnTo>
                  <a:lnTo>
                    <a:pt x="84" y="101"/>
                  </a:lnTo>
                  <a:lnTo>
                    <a:pt x="76" y="110"/>
                  </a:lnTo>
                  <a:lnTo>
                    <a:pt x="77" y="119"/>
                  </a:lnTo>
                  <a:lnTo>
                    <a:pt x="70" y="108"/>
                  </a:lnTo>
                  <a:lnTo>
                    <a:pt x="63" y="96"/>
                  </a:lnTo>
                  <a:lnTo>
                    <a:pt x="69" y="78"/>
                  </a:lnTo>
                  <a:lnTo>
                    <a:pt x="63" y="71"/>
                  </a:lnTo>
                  <a:lnTo>
                    <a:pt x="53" y="71"/>
                  </a:lnTo>
                  <a:lnTo>
                    <a:pt x="47" y="64"/>
                  </a:lnTo>
                  <a:lnTo>
                    <a:pt x="35" y="69"/>
                  </a:lnTo>
                  <a:lnTo>
                    <a:pt x="23" y="74"/>
                  </a:lnTo>
                  <a:lnTo>
                    <a:pt x="12" y="78"/>
                  </a:lnTo>
                  <a:lnTo>
                    <a:pt x="0" y="83"/>
                  </a:lnTo>
                  <a:lnTo>
                    <a:pt x="3" y="93"/>
                  </a:lnTo>
                  <a:lnTo>
                    <a:pt x="3" y="100"/>
                  </a:lnTo>
                  <a:lnTo>
                    <a:pt x="10" y="99"/>
                  </a:lnTo>
                  <a:lnTo>
                    <a:pt x="25" y="106"/>
                  </a:lnTo>
                  <a:lnTo>
                    <a:pt x="41" y="112"/>
                  </a:lnTo>
                  <a:lnTo>
                    <a:pt x="41" y="134"/>
                  </a:lnTo>
                  <a:lnTo>
                    <a:pt x="37" y="149"/>
                  </a:lnTo>
                  <a:lnTo>
                    <a:pt x="40" y="166"/>
                  </a:lnTo>
                  <a:lnTo>
                    <a:pt x="34" y="182"/>
                  </a:lnTo>
                  <a:lnTo>
                    <a:pt x="30" y="196"/>
                  </a:lnTo>
                  <a:lnTo>
                    <a:pt x="21" y="206"/>
                  </a:lnTo>
                  <a:lnTo>
                    <a:pt x="11" y="215"/>
                  </a:lnTo>
                  <a:lnTo>
                    <a:pt x="13" y="227"/>
                  </a:lnTo>
                  <a:lnTo>
                    <a:pt x="17" y="240"/>
                  </a:lnTo>
                  <a:lnTo>
                    <a:pt x="17" y="260"/>
                  </a:lnTo>
                  <a:lnTo>
                    <a:pt x="17" y="278"/>
                  </a:lnTo>
                  <a:lnTo>
                    <a:pt x="19" y="294"/>
                  </a:lnTo>
                  <a:lnTo>
                    <a:pt x="30" y="294"/>
                  </a:lnTo>
                  <a:lnTo>
                    <a:pt x="31" y="282"/>
                  </a:lnTo>
                  <a:lnTo>
                    <a:pt x="27" y="279"/>
                  </a:lnTo>
                  <a:lnTo>
                    <a:pt x="46" y="263"/>
                  </a:lnTo>
                  <a:lnTo>
                    <a:pt x="59" y="256"/>
                  </a:lnTo>
                  <a:lnTo>
                    <a:pt x="72" y="248"/>
                  </a:lnTo>
                  <a:lnTo>
                    <a:pt x="72" y="240"/>
                  </a:lnTo>
                  <a:lnTo>
                    <a:pt x="75" y="225"/>
                  </a:lnTo>
                  <a:lnTo>
                    <a:pt x="76" y="209"/>
                  </a:lnTo>
                  <a:lnTo>
                    <a:pt x="73" y="214"/>
                  </a:lnTo>
                  <a:lnTo>
                    <a:pt x="70" y="200"/>
                  </a:lnTo>
                  <a:lnTo>
                    <a:pt x="69" y="18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8" name="Freeform 207"/>
            <p:cNvSpPr>
              <a:spLocks/>
            </p:cNvSpPr>
            <p:nvPr/>
          </p:nvSpPr>
          <p:spPr bwMode="auto">
            <a:xfrm>
              <a:off x="2811" y="3147"/>
              <a:ext cx="282" cy="251"/>
            </a:xfrm>
            <a:custGeom>
              <a:avLst/>
              <a:gdLst/>
              <a:ahLst/>
              <a:cxnLst>
                <a:cxn ang="0">
                  <a:pos x="55" y="64"/>
                </a:cxn>
                <a:cxn ang="0">
                  <a:pos x="53" y="98"/>
                </a:cxn>
                <a:cxn ang="0">
                  <a:pos x="37" y="120"/>
                </a:cxn>
                <a:cxn ang="0">
                  <a:pos x="8" y="106"/>
                </a:cxn>
                <a:cxn ang="0">
                  <a:pos x="7" y="132"/>
                </a:cxn>
                <a:cxn ang="0">
                  <a:pos x="19" y="165"/>
                </a:cxn>
                <a:cxn ang="0">
                  <a:pos x="19" y="190"/>
                </a:cxn>
                <a:cxn ang="0">
                  <a:pos x="25" y="216"/>
                </a:cxn>
                <a:cxn ang="0">
                  <a:pos x="38" y="221"/>
                </a:cxn>
                <a:cxn ang="0">
                  <a:pos x="64" y="221"/>
                </a:cxn>
                <a:cxn ang="0">
                  <a:pos x="96" y="215"/>
                </a:cxn>
                <a:cxn ang="0">
                  <a:pos x="133" y="212"/>
                </a:cxn>
                <a:cxn ang="0">
                  <a:pos x="160" y="198"/>
                </a:cxn>
                <a:cxn ang="0">
                  <a:pos x="186" y="179"/>
                </a:cxn>
                <a:cxn ang="0">
                  <a:pos x="205" y="158"/>
                </a:cxn>
                <a:cxn ang="0">
                  <a:pos x="227" y="134"/>
                </a:cxn>
                <a:cxn ang="0">
                  <a:pos x="246" y="101"/>
                </a:cxn>
                <a:cxn ang="0">
                  <a:pos x="242" y="84"/>
                </a:cxn>
                <a:cxn ang="0">
                  <a:pos x="223" y="87"/>
                </a:cxn>
                <a:cxn ang="0">
                  <a:pos x="232" y="64"/>
                </a:cxn>
                <a:cxn ang="0">
                  <a:pos x="240" y="50"/>
                </a:cxn>
                <a:cxn ang="0">
                  <a:pos x="236" y="17"/>
                </a:cxn>
                <a:cxn ang="0">
                  <a:pos x="218" y="3"/>
                </a:cxn>
                <a:cxn ang="0">
                  <a:pos x="202" y="0"/>
                </a:cxn>
                <a:cxn ang="0">
                  <a:pos x="166" y="28"/>
                </a:cxn>
                <a:cxn ang="0">
                  <a:pos x="148" y="50"/>
                </a:cxn>
                <a:cxn ang="0">
                  <a:pos x="115" y="62"/>
                </a:cxn>
                <a:cxn ang="0">
                  <a:pos x="95" y="69"/>
                </a:cxn>
                <a:cxn ang="0">
                  <a:pos x="71" y="83"/>
                </a:cxn>
                <a:cxn ang="0">
                  <a:pos x="67" y="64"/>
                </a:cxn>
                <a:cxn ang="0">
                  <a:pos x="176" y="120"/>
                </a:cxn>
                <a:cxn ang="0">
                  <a:pos x="172" y="152"/>
                </a:cxn>
                <a:cxn ang="0">
                  <a:pos x="193" y="136"/>
                </a:cxn>
                <a:cxn ang="0">
                  <a:pos x="182" y="117"/>
                </a:cxn>
                <a:cxn ang="0">
                  <a:pos x="56" y="47"/>
                </a:cxn>
              </a:cxnLst>
              <a:rect l="0" t="0" r="r" b="b"/>
              <a:pathLst>
                <a:path w="253" h="226">
                  <a:moveTo>
                    <a:pt x="56" y="47"/>
                  </a:moveTo>
                  <a:lnTo>
                    <a:pt x="55" y="64"/>
                  </a:lnTo>
                  <a:lnTo>
                    <a:pt x="54" y="81"/>
                  </a:lnTo>
                  <a:lnTo>
                    <a:pt x="53" y="98"/>
                  </a:lnTo>
                  <a:lnTo>
                    <a:pt x="50" y="114"/>
                  </a:lnTo>
                  <a:lnTo>
                    <a:pt x="37" y="120"/>
                  </a:lnTo>
                  <a:lnTo>
                    <a:pt x="14" y="117"/>
                  </a:lnTo>
                  <a:lnTo>
                    <a:pt x="8" y="106"/>
                  </a:lnTo>
                  <a:lnTo>
                    <a:pt x="0" y="116"/>
                  </a:lnTo>
                  <a:lnTo>
                    <a:pt x="7" y="132"/>
                  </a:lnTo>
                  <a:lnTo>
                    <a:pt x="13" y="148"/>
                  </a:lnTo>
                  <a:lnTo>
                    <a:pt x="19" y="165"/>
                  </a:lnTo>
                  <a:lnTo>
                    <a:pt x="25" y="182"/>
                  </a:lnTo>
                  <a:lnTo>
                    <a:pt x="19" y="190"/>
                  </a:lnTo>
                  <a:lnTo>
                    <a:pt x="20" y="198"/>
                  </a:lnTo>
                  <a:lnTo>
                    <a:pt x="25" y="216"/>
                  </a:lnTo>
                  <a:lnTo>
                    <a:pt x="30" y="216"/>
                  </a:lnTo>
                  <a:lnTo>
                    <a:pt x="38" y="221"/>
                  </a:lnTo>
                  <a:lnTo>
                    <a:pt x="48" y="226"/>
                  </a:lnTo>
                  <a:lnTo>
                    <a:pt x="64" y="221"/>
                  </a:lnTo>
                  <a:lnTo>
                    <a:pt x="80" y="215"/>
                  </a:lnTo>
                  <a:lnTo>
                    <a:pt x="96" y="215"/>
                  </a:lnTo>
                  <a:lnTo>
                    <a:pt x="113" y="214"/>
                  </a:lnTo>
                  <a:lnTo>
                    <a:pt x="133" y="212"/>
                  </a:lnTo>
                  <a:lnTo>
                    <a:pt x="143" y="208"/>
                  </a:lnTo>
                  <a:lnTo>
                    <a:pt x="160" y="198"/>
                  </a:lnTo>
                  <a:lnTo>
                    <a:pt x="176" y="189"/>
                  </a:lnTo>
                  <a:lnTo>
                    <a:pt x="186" y="179"/>
                  </a:lnTo>
                  <a:lnTo>
                    <a:pt x="196" y="168"/>
                  </a:lnTo>
                  <a:lnTo>
                    <a:pt x="205" y="158"/>
                  </a:lnTo>
                  <a:lnTo>
                    <a:pt x="216" y="147"/>
                  </a:lnTo>
                  <a:lnTo>
                    <a:pt x="227" y="134"/>
                  </a:lnTo>
                  <a:lnTo>
                    <a:pt x="239" y="119"/>
                  </a:lnTo>
                  <a:lnTo>
                    <a:pt x="246" y="101"/>
                  </a:lnTo>
                  <a:lnTo>
                    <a:pt x="253" y="84"/>
                  </a:lnTo>
                  <a:lnTo>
                    <a:pt x="242" y="84"/>
                  </a:lnTo>
                  <a:lnTo>
                    <a:pt x="239" y="92"/>
                  </a:lnTo>
                  <a:lnTo>
                    <a:pt x="223" y="87"/>
                  </a:lnTo>
                  <a:lnTo>
                    <a:pt x="224" y="74"/>
                  </a:lnTo>
                  <a:lnTo>
                    <a:pt x="232" y="64"/>
                  </a:lnTo>
                  <a:lnTo>
                    <a:pt x="240" y="68"/>
                  </a:lnTo>
                  <a:lnTo>
                    <a:pt x="240" y="50"/>
                  </a:lnTo>
                  <a:lnTo>
                    <a:pt x="240" y="30"/>
                  </a:lnTo>
                  <a:lnTo>
                    <a:pt x="236" y="17"/>
                  </a:lnTo>
                  <a:lnTo>
                    <a:pt x="234" y="5"/>
                  </a:lnTo>
                  <a:lnTo>
                    <a:pt x="218" y="3"/>
                  </a:lnTo>
                  <a:lnTo>
                    <a:pt x="204" y="0"/>
                  </a:lnTo>
                  <a:lnTo>
                    <a:pt x="202" y="0"/>
                  </a:lnTo>
                  <a:lnTo>
                    <a:pt x="181" y="14"/>
                  </a:lnTo>
                  <a:lnTo>
                    <a:pt x="166" y="28"/>
                  </a:lnTo>
                  <a:lnTo>
                    <a:pt x="157" y="44"/>
                  </a:lnTo>
                  <a:lnTo>
                    <a:pt x="148" y="50"/>
                  </a:lnTo>
                  <a:lnTo>
                    <a:pt x="139" y="64"/>
                  </a:lnTo>
                  <a:lnTo>
                    <a:pt x="115" y="62"/>
                  </a:lnTo>
                  <a:lnTo>
                    <a:pt x="103" y="57"/>
                  </a:lnTo>
                  <a:lnTo>
                    <a:pt x="95" y="69"/>
                  </a:lnTo>
                  <a:lnTo>
                    <a:pt x="88" y="81"/>
                  </a:lnTo>
                  <a:lnTo>
                    <a:pt x="71" y="83"/>
                  </a:lnTo>
                  <a:lnTo>
                    <a:pt x="65" y="81"/>
                  </a:lnTo>
                  <a:lnTo>
                    <a:pt x="67" y="64"/>
                  </a:lnTo>
                  <a:lnTo>
                    <a:pt x="56" y="47"/>
                  </a:lnTo>
                  <a:lnTo>
                    <a:pt x="176" y="120"/>
                  </a:lnTo>
                  <a:lnTo>
                    <a:pt x="161" y="136"/>
                  </a:lnTo>
                  <a:lnTo>
                    <a:pt x="172" y="152"/>
                  </a:lnTo>
                  <a:lnTo>
                    <a:pt x="178" y="147"/>
                  </a:lnTo>
                  <a:lnTo>
                    <a:pt x="193" y="136"/>
                  </a:lnTo>
                  <a:lnTo>
                    <a:pt x="196" y="124"/>
                  </a:lnTo>
                  <a:lnTo>
                    <a:pt x="182" y="117"/>
                  </a:lnTo>
                  <a:lnTo>
                    <a:pt x="176" y="120"/>
                  </a:lnTo>
                  <a:lnTo>
                    <a:pt x="56" y="47"/>
                  </a:lnTo>
                  <a:close/>
                </a:path>
              </a:pathLst>
            </a:custGeom>
            <a:grpFill/>
            <a:ln w="3175" cmpd="sng">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9" name="Freeform 208"/>
            <p:cNvSpPr>
              <a:spLocks/>
            </p:cNvSpPr>
            <p:nvPr/>
          </p:nvSpPr>
          <p:spPr bwMode="auto">
            <a:xfrm>
              <a:off x="2811" y="3147"/>
              <a:ext cx="282" cy="251"/>
            </a:xfrm>
            <a:custGeom>
              <a:avLst/>
              <a:gdLst/>
              <a:ahLst/>
              <a:cxnLst>
                <a:cxn ang="0">
                  <a:pos x="56" y="47"/>
                </a:cxn>
                <a:cxn ang="0">
                  <a:pos x="55" y="64"/>
                </a:cxn>
                <a:cxn ang="0">
                  <a:pos x="54" y="81"/>
                </a:cxn>
                <a:cxn ang="0">
                  <a:pos x="53" y="98"/>
                </a:cxn>
                <a:cxn ang="0">
                  <a:pos x="50" y="114"/>
                </a:cxn>
                <a:cxn ang="0">
                  <a:pos x="37" y="120"/>
                </a:cxn>
                <a:cxn ang="0">
                  <a:pos x="14" y="117"/>
                </a:cxn>
                <a:cxn ang="0">
                  <a:pos x="8" y="106"/>
                </a:cxn>
                <a:cxn ang="0">
                  <a:pos x="0" y="116"/>
                </a:cxn>
                <a:cxn ang="0">
                  <a:pos x="7" y="132"/>
                </a:cxn>
                <a:cxn ang="0">
                  <a:pos x="13" y="148"/>
                </a:cxn>
                <a:cxn ang="0">
                  <a:pos x="19" y="165"/>
                </a:cxn>
                <a:cxn ang="0">
                  <a:pos x="25" y="182"/>
                </a:cxn>
                <a:cxn ang="0">
                  <a:pos x="19" y="190"/>
                </a:cxn>
                <a:cxn ang="0">
                  <a:pos x="20" y="198"/>
                </a:cxn>
                <a:cxn ang="0">
                  <a:pos x="25" y="216"/>
                </a:cxn>
                <a:cxn ang="0">
                  <a:pos x="30" y="216"/>
                </a:cxn>
                <a:cxn ang="0">
                  <a:pos x="38" y="221"/>
                </a:cxn>
                <a:cxn ang="0">
                  <a:pos x="48" y="226"/>
                </a:cxn>
                <a:cxn ang="0">
                  <a:pos x="64" y="221"/>
                </a:cxn>
                <a:cxn ang="0">
                  <a:pos x="80" y="215"/>
                </a:cxn>
                <a:cxn ang="0">
                  <a:pos x="96" y="215"/>
                </a:cxn>
                <a:cxn ang="0">
                  <a:pos x="113" y="214"/>
                </a:cxn>
                <a:cxn ang="0">
                  <a:pos x="133" y="212"/>
                </a:cxn>
                <a:cxn ang="0">
                  <a:pos x="143" y="208"/>
                </a:cxn>
                <a:cxn ang="0">
                  <a:pos x="160" y="198"/>
                </a:cxn>
                <a:cxn ang="0">
                  <a:pos x="176" y="189"/>
                </a:cxn>
                <a:cxn ang="0">
                  <a:pos x="186" y="179"/>
                </a:cxn>
                <a:cxn ang="0">
                  <a:pos x="196" y="168"/>
                </a:cxn>
                <a:cxn ang="0">
                  <a:pos x="205" y="158"/>
                </a:cxn>
                <a:cxn ang="0">
                  <a:pos x="216" y="147"/>
                </a:cxn>
                <a:cxn ang="0">
                  <a:pos x="227" y="134"/>
                </a:cxn>
                <a:cxn ang="0">
                  <a:pos x="239" y="119"/>
                </a:cxn>
                <a:cxn ang="0">
                  <a:pos x="246" y="101"/>
                </a:cxn>
                <a:cxn ang="0">
                  <a:pos x="253" y="84"/>
                </a:cxn>
                <a:cxn ang="0">
                  <a:pos x="242" y="84"/>
                </a:cxn>
                <a:cxn ang="0">
                  <a:pos x="239" y="92"/>
                </a:cxn>
                <a:cxn ang="0">
                  <a:pos x="223" y="87"/>
                </a:cxn>
                <a:cxn ang="0">
                  <a:pos x="224" y="74"/>
                </a:cxn>
                <a:cxn ang="0">
                  <a:pos x="232" y="64"/>
                </a:cxn>
                <a:cxn ang="0">
                  <a:pos x="240" y="68"/>
                </a:cxn>
                <a:cxn ang="0">
                  <a:pos x="240" y="50"/>
                </a:cxn>
                <a:cxn ang="0">
                  <a:pos x="240" y="30"/>
                </a:cxn>
                <a:cxn ang="0">
                  <a:pos x="236" y="17"/>
                </a:cxn>
                <a:cxn ang="0">
                  <a:pos x="234" y="5"/>
                </a:cxn>
                <a:cxn ang="0">
                  <a:pos x="218" y="3"/>
                </a:cxn>
                <a:cxn ang="0">
                  <a:pos x="204" y="0"/>
                </a:cxn>
                <a:cxn ang="0">
                  <a:pos x="202" y="0"/>
                </a:cxn>
                <a:cxn ang="0">
                  <a:pos x="181" y="14"/>
                </a:cxn>
                <a:cxn ang="0">
                  <a:pos x="166" y="28"/>
                </a:cxn>
                <a:cxn ang="0">
                  <a:pos x="157" y="44"/>
                </a:cxn>
                <a:cxn ang="0">
                  <a:pos x="148" y="50"/>
                </a:cxn>
                <a:cxn ang="0">
                  <a:pos x="139" y="64"/>
                </a:cxn>
                <a:cxn ang="0">
                  <a:pos x="115" y="62"/>
                </a:cxn>
                <a:cxn ang="0">
                  <a:pos x="103" y="57"/>
                </a:cxn>
                <a:cxn ang="0">
                  <a:pos x="95" y="69"/>
                </a:cxn>
                <a:cxn ang="0">
                  <a:pos x="88" y="81"/>
                </a:cxn>
                <a:cxn ang="0">
                  <a:pos x="71" y="83"/>
                </a:cxn>
                <a:cxn ang="0">
                  <a:pos x="65" y="81"/>
                </a:cxn>
                <a:cxn ang="0">
                  <a:pos x="67" y="64"/>
                </a:cxn>
                <a:cxn ang="0">
                  <a:pos x="56" y="47"/>
                </a:cxn>
              </a:cxnLst>
              <a:rect l="0" t="0" r="r" b="b"/>
              <a:pathLst>
                <a:path w="253" h="226">
                  <a:moveTo>
                    <a:pt x="56" y="47"/>
                  </a:moveTo>
                  <a:lnTo>
                    <a:pt x="55" y="64"/>
                  </a:lnTo>
                  <a:lnTo>
                    <a:pt x="54" y="81"/>
                  </a:lnTo>
                  <a:lnTo>
                    <a:pt x="53" y="98"/>
                  </a:lnTo>
                  <a:lnTo>
                    <a:pt x="50" y="114"/>
                  </a:lnTo>
                  <a:lnTo>
                    <a:pt x="37" y="120"/>
                  </a:lnTo>
                  <a:lnTo>
                    <a:pt x="14" y="117"/>
                  </a:lnTo>
                  <a:lnTo>
                    <a:pt x="8" y="106"/>
                  </a:lnTo>
                  <a:lnTo>
                    <a:pt x="0" y="116"/>
                  </a:lnTo>
                  <a:lnTo>
                    <a:pt x="7" y="132"/>
                  </a:lnTo>
                  <a:lnTo>
                    <a:pt x="13" y="148"/>
                  </a:lnTo>
                  <a:lnTo>
                    <a:pt x="19" y="165"/>
                  </a:lnTo>
                  <a:lnTo>
                    <a:pt x="25" y="182"/>
                  </a:lnTo>
                  <a:lnTo>
                    <a:pt x="19" y="190"/>
                  </a:lnTo>
                  <a:lnTo>
                    <a:pt x="20" y="198"/>
                  </a:lnTo>
                  <a:lnTo>
                    <a:pt x="25" y="216"/>
                  </a:lnTo>
                  <a:lnTo>
                    <a:pt x="30" y="216"/>
                  </a:lnTo>
                  <a:lnTo>
                    <a:pt x="38" y="221"/>
                  </a:lnTo>
                  <a:lnTo>
                    <a:pt x="48" y="226"/>
                  </a:lnTo>
                  <a:lnTo>
                    <a:pt x="64" y="221"/>
                  </a:lnTo>
                  <a:lnTo>
                    <a:pt x="80" y="215"/>
                  </a:lnTo>
                  <a:lnTo>
                    <a:pt x="96" y="215"/>
                  </a:lnTo>
                  <a:lnTo>
                    <a:pt x="113" y="214"/>
                  </a:lnTo>
                  <a:lnTo>
                    <a:pt x="133" y="212"/>
                  </a:lnTo>
                  <a:lnTo>
                    <a:pt x="143" y="208"/>
                  </a:lnTo>
                  <a:lnTo>
                    <a:pt x="160" y="198"/>
                  </a:lnTo>
                  <a:lnTo>
                    <a:pt x="176" y="189"/>
                  </a:lnTo>
                  <a:lnTo>
                    <a:pt x="186" y="179"/>
                  </a:lnTo>
                  <a:lnTo>
                    <a:pt x="196" y="168"/>
                  </a:lnTo>
                  <a:lnTo>
                    <a:pt x="205" y="158"/>
                  </a:lnTo>
                  <a:lnTo>
                    <a:pt x="216" y="147"/>
                  </a:lnTo>
                  <a:lnTo>
                    <a:pt x="227" y="134"/>
                  </a:lnTo>
                  <a:lnTo>
                    <a:pt x="239" y="119"/>
                  </a:lnTo>
                  <a:lnTo>
                    <a:pt x="246" y="101"/>
                  </a:lnTo>
                  <a:lnTo>
                    <a:pt x="253" y="84"/>
                  </a:lnTo>
                  <a:lnTo>
                    <a:pt x="242" y="84"/>
                  </a:lnTo>
                  <a:lnTo>
                    <a:pt x="239" y="92"/>
                  </a:lnTo>
                  <a:lnTo>
                    <a:pt x="223" y="87"/>
                  </a:lnTo>
                  <a:lnTo>
                    <a:pt x="224" y="74"/>
                  </a:lnTo>
                  <a:lnTo>
                    <a:pt x="232" y="64"/>
                  </a:lnTo>
                  <a:lnTo>
                    <a:pt x="240" y="68"/>
                  </a:lnTo>
                  <a:lnTo>
                    <a:pt x="240" y="50"/>
                  </a:lnTo>
                  <a:lnTo>
                    <a:pt x="240" y="30"/>
                  </a:lnTo>
                  <a:lnTo>
                    <a:pt x="236" y="17"/>
                  </a:lnTo>
                  <a:lnTo>
                    <a:pt x="234" y="5"/>
                  </a:lnTo>
                  <a:lnTo>
                    <a:pt x="218" y="3"/>
                  </a:lnTo>
                  <a:lnTo>
                    <a:pt x="204" y="0"/>
                  </a:lnTo>
                  <a:lnTo>
                    <a:pt x="202" y="0"/>
                  </a:lnTo>
                  <a:lnTo>
                    <a:pt x="181" y="14"/>
                  </a:lnTo>
                  <a:lnTo>
                    <a:pt x="166" y="28"/>
                  </a:lnTo>
                  <a:lnTo>
                    <a:pt x="157" y="44"/>
                  </a:lnTo>
                  <a:lnTo>
                    <a:pt x="148" y="50"/>
                  </a:lnTo>
                  <a:lnTo>
                    <a:pt x="139" y="64"/>
                  </a:lnTo>
                  <a:lnTo>
                    <a:pt x="115" y="62"/>
                  </a:lnTo>
                  <a:lnTo>
                    <a:pt x="103" y="57"/>
                  </a:lnTo>
                  <a:lnTo>
                    <a:pt x="95" y="69"/>
                  </a:lnTo>
                  <a:lnTo>
                    <a:pt x="88" y="81"/>
                  </a:lnTo>
                  <a:lnTo>
                    <a:pt x="71" y="83"/>
                  </a:lnTo>
                  <a:lnTo>
                    <a:pt x="65" y="81"/>
                  </a:lnTo>
                  <a:lnTo>
                    <a:pt x="67" y="64"/>
                  </a:lnTo>
                  <a:lnTo>
                    <a:pt x="56" y="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0" name="Freeform 209"/>
            <p:cNvSpPr>
              <a:spLocks/>
            </p:cNvSpPr>
            <p:nvPr/>
          </p:nvSpPr>
          <p:spPr bwMode="auto">
            <a:xfrm>
              <a:off x="2989" y="3276"/>
              <a:ext cx="40" cy="40"/>
            </a:xfrm>
            <a:custGeom>
              <a:avLst/>
              <a:gdLst/>
              <a:ahLst/>
              <a:cxnLst>
                <a:cxn ang="0">
                  <a:pos x="15" y="3"/>
                </a:cxn>
                <a:cxn ang="0">
                  <a:pos x="0" y="19"/>
                </a:cxn>
                <a:cxn ang="0">
                  <a:pos x="11" y="35"/>
                </a:cxn>
                <a:cxn ang="0">
                  <a:pos x="17" y="30"/>
                </a:cxn>
                <a:cxn ang="0">
                  <a:pos x="32" y="19"/>
                </a:cxn>
                <a:cxn ang="0">
                  <a:pos x="35" y="7"/>
                </a:cxn>
                <a:cxn ang="0">
                  <a:pos x="21" y="0"/>
                </a:cxn>
                <a:cxn ang="0">
                  <a:pos x="15" y="3"/>
                </a:cxn>
              </a:cxnLst>
              <a:rect l="0" t="0" r="r" b="b"/>
              <a:pathLst>
                <a:path w="35" h="35">
                  <a:moveTo>
                    <a:pt x="15" y="3"/>
                  </a:moveTo>
                  <a:lnTo>
                    <a:pt x="0" y="19"/>
                  </a:lnTo>
                  <a:lnTo>
                    <a:pt x="11" y="35"/>
                  </a:lnTo>
                  <a:lnTo>
                    <a:pt x="17" y="30"/>
                  </a:lnTo>
                  <a:lnTo>
                    <a:pt x="32" y="19"/>
                  </a:lnTo>
                  <a:lnTo>
                    <a:pt x="35" y="7"/>
                  </a:lnTo>
                  <a:lnTo>
                    <a:pt x="21" y="0"/>
                  </a:lnTo>
                  <a:lnTo>
                    <a:pt x="1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1" name="Freeform 210"/>
            <p:cNvSpPr>
              <a:spLocks/>
            </p:cNvSpPr>
            <p:nvPr/>
          </p:nvSpPr>
          <p:spPr bwMode="auto">
            <a:xfrm>
              <a:off x="2780" y="3156"/>
              <a:ext cx="2" cy="11"/>
            </a:xfrm>
            <a:custGeom>
              <a:avLst/>
              <a:gdLst/>
              <a:ahLst/>
              <a:cxnLst>
                <a:cxn ang="0">
                  <a:pos x="3" y="9"/>
                </a:cxn>
                <a:cxn ang="0">
                  <a:pos x="0" y="8"/>
                </a:cxn>
                <a:cxn ang="0">
                  <a:pos x="2" y="0"/>
                </a:cxn>
                <a:cxn ang="0">
                  <a:pos x="3" y="9"/>
                </a:cxn>
              </a:cxnLst>
              <a:rect l="0" t="0" r="r" b="b"/>
              <a:pathLst>
                <a:path w="3" h="9">
                  <a:moveTo>
                    <a:pt x="3" y="9"/>
                  </a:moveTo>
                  <a:lnTo>
                    <a:pt x="0" y="8"/>
                  </a:lnTo>
                  <a:lnTo>
                    <a:pt x="2" y="0"/>
                  </a:lnTo>
                  <a:lnTo>
                    <a:pt x="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2" name="Freeform 211"/>
            <p:cNvSpPr>
              <a:spLocks/>
            </p:cNvSpPr>
            <p:nvPr/>
          </p:nvSpPr>
          <p:spPr bwMode="auto">
            <a:xfrm>
              <a:off x="3060" y="3218"/>
              <a:ext cx="20" cy="32"/>
            </a:xfrm>
            <a:custGeom>
              <a:avLst/>
              <a:gdLst/>
              <a:ahLst/>
              <a:cxnLst>
                <a:cxn ang="0">
                  <a:pos x="9" y="0"/>
                </a:cxn>
                <a:cxn ang="0">
                  <a:pos x="1" y="10"/>
                </a:cxn>
                <a:cxn ang="0">
                  <a:pos x="0" y="23"/>
                </a:cxn>
                <a:cxn ang="0">
                  <a:pos x="16" y="28"/>
                </a:cxn>
                <a:cxn ang="0">
                  <a:pos x="19" y="20"/>
                </a:cxn>
                <a:cxn ang="0">
                  <a:pos x="17" y="4"/>
                </a:cxn>
                <a:cxn ang="0">
                  <a:pos x="9" y="0"/>
                </a:cxn>
              </a:cxnLst>
              <a:rect l="0" t="0" r="r" b="b"/>
              <a:pathLst>
                <a:path w="19" h="28">
                  <a:moveTo>
                    <a:pt x="9" y="0"/>
                  </a:moveTo>
                  <a:lnTo>
                    <a:pt x="1" y="10"/>
                  </a:lnTo>
                  <a:lnTo>
                    <a:pt x="0" y="23"/>
                  </a:lnTo>
                  <a:lnTo>
                    <a:pt x="16" y="28"/>
                  </a:lnTo>
                  <a:lnTo>
                    <a:pt x="19" y="20"/>
                  </a:lnTo>
                  <a:lnTo>
                    <a:pt x="17" y="4"/>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3" name="Freeform 212"/>
            <p:cNvSpPr>
              <a:spLocks/>
            </p:cNvSpPr>
            <p:nvPr/>
          </p:nvSpPr>
          <p:spPr bwMode="auto">
            <a:xfrm>
              <a:off x="2736" y="2823"/>
              <a:ext cx="215" cy="240"/>
            </a:xfrm>
            <a:custGeom>
              <a:avLst/>
              <a:gdLst/>
              <a:ahLst/>
              <a:cxnLst>
                <a:cxn ang="0">
                  <a:pos x="193" y="127"/>
                </a:cxn>
                <a:cxn ang="0">
                  <a:pos x="177" y="127"/>
                </a:cxn>
                <a:cxn ang="0">
                  <a:pos x="162" y="128"/>
                </a:cxn>
                <a:cxn ang="0">
                  <a:pos x="161" y="141"/>
                </a:cxn>
                <a:cxn ang="0">
                  <a:pos x="161" y="156"/>
                </a:cxn>
                <a:cxn ang="0">
                  <a:pos x="161" y="170"/>
                </a:cxn>
                <a:cxn ang="0">
                  <a:pos x="161" y="184"/>
                </a:cxn>
                <a:cxn ang="0">
                  <a:pos x="171" y="198"/>
                </a:cxn>
                <a:cxn ang="0">
                  <a:pos x="182" y="211"/>
                </a:cxn>
                <a:cxn ang="0">
                  <a:pos x="158" y="213"/>
                </a:cxn>
                <a:cxn ang="0">
                  <a:pos x="135" y="217"/>
                </a:cxn>
                <a:cxn ang="0">
                  <a:pos x="120" y="213"/>
                </a:cxn>
                <a:cxn ang="0">
                  <a:pos x="105" y="210"/>
                </a:cxn>
                <a:cxn ang="0">
                  <a:pos x="103" y="206"/>
                </a:cxn>
                <a:cxn ang="0">
                  <a:pos x="85" y="206"/>
                </a:cxn>
                <a:cxn ang="0">
                  <a:pos x="67" y="205"/>
                </a:cxn>
                <a:cxn ang="0">
                  <a:pos x="49" y="205"/>
                </a:cxn>
                <a:cxn ang="0">
                  <a:pos x="30" y="204"/>
                </a:cxn>
                <a:cxn ang="0">
                  <a:pos x="19" y="199"/>
                </a:cxn>
                <a:cxn ang="0">
                  <a:pos x="0" y="204"/>
                </a:cxn>
                <a:cxn ang="0">
                  <a:pos x="1" y="189"/>
                </a:cxn>
                <a:cxn ang="0">
                  <a:pos x="2" y="175"/>
                </a:cxn>
                <a:cxn ang="0">
                  <a:pos x="9" y="153"/>
                </a:cxn>
                <a:cxn ang="0">
                  <a:pos x="17" y="130"/>
                </a:cxn>
                <a:cxn ang="0">
                  <a:pos x="25" y="118"/>
                </a:cxn>
                <a:cxn ang="0">
                  <a:pos x="32" y="106"/>
                </a:cxn>
                <a:cxn ang="0">
                  <a:pos x="30" y="82"/>
                </a:cxn>
                <a:cxn ang="0">
                  <a:pos x="25" y="68"/>
                </a:cxn>
                <a:cxn ang="0">
                  <a:pos x="21" y="55"/>
                </a:cxn>
                <a:cxn ang="0">
                  <a:pos x="26" y="46"/>
                </a:cxn>
                <a:cxn ang="0">
                  <a:pos x="19" y="25"/>
                </a:cxn>
                <a:cxn ang="0">
                  <a:pos x="11" y="3"/>
                </a:cxn>
                <a:cxn ang="0">
                  <a:pos x="24" y="0"/>
                </a:cxn>
                <a:cxn ang="0">
                  <a:pos x="37" y="0"/>
                </a:cxn>
                <a:cxn ang="0">
                  <a:pos x="51" y="1"/>
                </a:cxn>
                <a:cxn ang="0">
                  <a:pos x="65" y="1"/>
                </a:cxn>
                <a:cxn ang="0">
                  <a:pos x="78" y="2"/>
                </a:cxn>
                <a:cxn ang="0">
                  <a:pos x="84" y="19"/>
                </a:cxn>
                <a:cxn ang="0">
                  <a:pos x="91" y="36"/>
                </a:cxn>
                <a:cxn ang="0">
                  <a:pos x="102" y="39"/>
                </a:cxn>
                <a:cxn ang="0">
                  <a:pos x="121" y="36"/>
                </a:cxn>
                <a:cxn ang="0">
                  <a:pos x="125" y="20"/>
                </a:cxn>
                <a:cxn ang="0">
                  <a:pos x="140" y="21"/>
                </a:cxn>
                <a:cxn ang="0">
                  <a:pos x="140" y="25"/>
                </a:cxn>
                <a:cxn ang="0">
                  <a:pos x="161" y="28"/>
                </a:cxn>
                <a:cxn ang="0">
                  <a:pos x="162" y="49"/>
                </a:cxn>
                <a:cxn ang="0">
                  <a:pos x="162" y="69"/>
                </a:cxn>
                <a:cxn ang="0">
                  <a:pos x="167" y="87"/>
                </a:cxn>
                <a:cxn ang="0">
                  <a:pos x="168" y="94"/>
                </a:cxn>
                <a:cxn ang="0">
                  <a:pos x="181" y="92"/>
                </a:cxn>
                <a:cxn ang="0">
                  <a:pos x="193" y="90"/>
                </a:cxn>
                <a:cxn ang="0">
                  <a:pos x="193" y="108"/>
                </a:cxn>
                <a:cxn ang="0">
                  <a:pos x="193" y="127"/>
                </a:cxn>
              </a:cxnLst>
              <a:rect l="0" t="0" r="r" b="b"/>
              <a:pathLst>
                <a:path w="193" h="217">
                  <a:moveTo>
                    <a:pt x="193" y="127"/>
                  </a:moveTo>
                  <a:lnTo>
                    <a:pt x="177" y="127"/>
                  </a:lnTo>
                  <a:lnTo>
                    <a:pt x="162" y="128"/>
                  </a:lnTo>
                  <a:lnTo>
                    <a:pt x="161" y="141"/>
                  </a:lnTo>
                  <a:lnTo>
                    <a:pt x="161" y="156"/>
                  </a:lnTo>
                  <a:lnTo>
                    <a:pt x="161" y="170"/>
                  </a:lnTo>
                  <a:lnTo>
                    <a:pt x="161" y="184"/>
                  </a:lnTo>
                  <a:lnTo>
                    <a:pt x="171" y="198"/>
                  </a:lnTo>
                  <a:lnTo>
                    <a:pt x="182" y="211"/>
                  </a:lnTo>
                  <a:lnTo>
                    <a:pt x="158" y="213"/>
                  </a:lnTo>
                  <a:lnTo>
                    <a:pt x="135" y="217"/>
                  </a:lnTo>
                  <a:lnTo>
                    <a:pt x="120" y="213"/>
                  </a:lnTo>
                  <a:lnTo>
                    <a:pt x="105" y="210"/>
                  </a:lnTo>
                  <a:lnTo>
                    <a:pt x="103" y="206"/>
                  </a:lnTo>
                  <a:lnTo>
                    <a:pt x="85" y="206"/>
                  </a:lnTo>
                  <a:lnTo>
                    <a:pt x="67" y="205"/>
                  </a:lnTo>
                  <a:lnTo>
                    <a:pt x="49" y="205"/>
                  </a:lnTo>
                  <a:lnTo>
                    <a:pt x="30" y="204"/>
                  </a:lnTo>
                  <a:lnTo>
                    <a:pt x="19" y="199"/>
                  </a:lnTo>
                  <a:lnTo>
                    <a:pt x="0" y="204"/>
                  </a:lnTo>
                  <a:lnTo>
                    <a:pt x="1" y="189"/>
                  </a:lnTo>
                  <a:lnTo>
                    <a:pt x="2" y="175"/>
                  </a:lnTo>
                  <a:lnTo>
                    <a:pt x="9" y="153"/>
                  </a:lnTo>
                  <a:lnTo>
                    <a:pt x="17" y="130"/>
                  </a:lnTo>
                  <a:lnTo>
                    <a:pt x="25" y="118"/>
                  </a:lnTo>
                  <a:lnTo>
                    <a:pt x="32" y="106"/>
                  </a:lnTo>
                  <a:lnTo>
                    <a:pt x="30" y="82"/>
                  </a:lnTo>
                  <a:lnTo>
                    <a:pt x="25" y="68"/>
                  </a:lnTo>
                  <a:lnTo>
                    <a:pt x="21" y="55"/>
                  </a:lnTo>
                  <a:lnTo>
                    <a:pt x="26" y="46"/>
                  </a:lnTo>
                  <a:lnTo>
                    <a:pt x="19" y="25"/>
                  </a:lnTo>
                  <a:lnTo>
                    <a:pt x="11" y="3"/>
                  </a:lnTo>
                  <a:lnTo>
                    <a:pt x="24" y="0"/>
                  </a:lnTo>
                  <a:lnTo>
                    <a:pt x="37" y="0"/>
                  </a:lnTo>
                  <a:lnTo>
                    <a:pt x="51" y="1"/>
                  </a:lnTo>
                  <a:lnTo>
                    <a:pt x="65" y="1"/>
                  </a:lnTo>
                  <a:lnTo>
                    <a:pt x="78" y="2"/>
                  </a:lnTo>
                  <a:lnTo>
                    <a:pt x="84" y="19"/>
                  </a:lnTo>
                  <a:lnTo>
                    <a:pt x="91" y="36"/>
                  </a:lnTo>
                  <a:lnTo>
                    <a:pt x="102" y="39"/>
                  </a:lnTo>
                  <a:lnTo>
                    <a:pt x="121" y="36"/>
                  </a:lnTo>
                  <a:lnTo>
                    <a:pt x="125" y="20"/>
                  </a:lnTo>
                  <a:lnTo>
                    <a:pt x="140" y="21"/>
                  </a:lnTo>
                  <a:lnTo>
                    <a:pt x="140" y="25"/>
                  </a:lnTo>
                  <a:lnTo>
                    <a:pt x="161" y="28"/>
                  </a:lnTo>
                  <a:lnTo>
                    <a:pt x="162" y="49"/>
                  </a:lnTo>
                  <a:lnTo>
                    <a:pt x="162" y="69"/>
                  </a:lnTo>
                  <a:lnTo>
                    <a:pt x="167" y="87"/>
                  </a:lnTo>
                  <a:lnTo>
                    <a:pt x="168" y="94"/>
                  </a:lnTo>
                  <a:lnTo>
                    <a:pt x="181" y="92"/>
                  </a:lnTo>
                  <a:lnTo>
                    <a:pt x="193" y="90"/>
                  </a:lnTo>
                  <a:lnTo>
                    <a:pt x="193" y="108"/>
                  </a:lnTo>
                  <a:lnTo>
                    <a:pt x="193" y="1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4" name="Freeform 213"/>
            <p:cNvSpPr>
              <a:spLocks/>
            </p:cNvSpPr>
            <p:nvPr/>
          </p:nvSpPr>
          <p:spPr bwMode="auto">
            <a:xfrm>
              <a:off x="2742" y="2794"/>
              <a:ext cx="20" cy="27"/>
            </a:xfrm>
            <a:custGeom>
              <a:avLst/>
              <a:gdLst/>
              <a:ahLst/>
              <a:cxnLst>
                <a:cxn ang="0">
                  <a:pos x="2" y="24"/>
                </a:cxn>
                <a:cxn ang="0">
                  <a:pos x="0" y="10"/>
                </a:cxn>
                <a:cxn ang="0">
                  <a:pos x="11" y="0"/>
                </a:cxn>
                <a:cxn ang="0">
                  <a:pos x="17" y="3"/>
                </a:cxn>
                <a:cxn ang="0">
                  <a:pos x="9" y="9"/>
                </a:cxn>
                <a:cxn ang="0">
                  <a:pos x="8" y="23"/>
                </a:cxn>
                <a:cxn ang="0">
                  <a:pos x="2" y="24"/>
                </a:cxn>
              </a:cxnLst>
              <a:rect l="0" t="0" r="r" b="b"/>
              <a:pathLst>
                <a:path w="17" h="24">
                  <a:moveTo>
                    <a:pt x="2" y="24"/>
                  </a:moveTo>
                  <a:lnTo>
                    <a:pt x="0" y="10"/>
                  </a:lnTo>
                  <a:lnTo>
                    <a:pt x="11" y="0"/>
                  </a:lnTo>
                  <a:lnTo>
                    <a:pt x="17" y="3"/>
                  </a:lnTo>
                  <a:lnTo>
                    <a:pt x="9" y="9"/>
                  </a:lnTo>
                  <a:lnTo>
                    <a:pt x="8" y="23"/>
                  </a:lnTo>
                  <a:lnTo>
                    <a:pt x="2"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5" name="Freeform 214"/>
            <p:cNvSpPr>
              <a:spLocks/>
            </p:cNvSpPr>
            <p:nvPr/>
          </p:nvSpPr>
          <p:spPr bwMode="auto">
            <a:xfrm>
              <a:off x="2698" y="2659"/>
              <a:ext cx="33" cy="26"/>
            </a:xfrm>
            <a:custGeom>
              <a:avLst/>
              <a:gdLst/>
              <a:ahLst/>
              <a:cxnLst>
                <a:cxn ang="0">
                  <a:pos x="6" y="24"/>
                </a:cxn>
                <a:cxn ang="0">
                  <a:pos x="0" y="22"/>
                </a:cxn>
                <a:cxn ang="0">
                  <a:pos x="2" y="16"/>
                </a:cxn>
                <a:cxn ang="0">
                  <a:pos x="6" y="0"/>
                </a:cxn>
                <a:cxn ang="0">
                  <a:pos x="18" y="1"/>
                </a:cxn>
                <a:cxn ang="0">
                  <a:pos x="30" y="4"/>
                </a:cxn>
                <a:cxn ang="0">
                  <a:pos x="30" y="24"/>
                </a:cxn>
                <a:cxn ang="0">
                  <a:pos x="18" y="24"/>
                </a:cxn>
                <a:cxn ang="0">
                  <a:pos x="6" y="24"/>
                </a:cxn>
              </a:cxnLst>
              <a:rect l="0" t="0" r="r" b="b"/>
              <a:pathLst>
                <a:path w="30" h="24">
                  <a:moveTo>
                    <a:pt x="6" y="24"/>
                  </a:moveTo>
                  <a:lnTo>
                    <a:pt x="0" y="22"/>
                  </a:lnTo>
                  <a:lnTo>
                    <a:pt x="2" y="16"/>
                  </a:lnTo>
                  <a:lnTo>
                    <a:pt x="6" y="0"/>
                  </a:lnTo>
                  <a:lnTo>
                    <a:pt x="18" y="1"/>
                  </a:lnTo>
                  <a:lnTo>
                    <a:pt x="30" y="4"/>
                  </a:lnTo>
                  <a:lnTo>
                    <a:pt x="30" y="24"/>
                  </a:lnTo>
                  <a:lnTo>
                    <a:pt x="18" y="24"/>
                  </a:lnTo>
                  <a:lnTo>
                    <a:pt x="6"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6" name="Freeform 215"/>
            <p:cNvSpPr>
              <a:spLocks/>
            </p:cNvSpPr>
            <p:nvPr/>
          </p:nvSpPr>
          <p:spPr bwMode="auto">
            <a:xfrm>
              <a:off x="2680" y="2630"/>
              <a:ext cx="9" cy="11"/>
            </a:xfrm>
            <a:custGeom>
              <a:avLst/>
              <a:gdLst/>
              <a:ahLst/>
              <a:cxnLst>
                <a:cxn ang="0">
                  <a:pos x="9" y="1"/>
                </a:cxn>
                <a:cxn ang="0">
                  <a:pos x="6" y="0"/>
                </a:cxn>
                <a:cxn ang="0">
                  <a:pos x="0" y="8"/>
                </a:cxn>
                <a:cxn ang="0">
                  <a:pos x="9" y="1"/>
                </a:cxn>
              </a:cxnLst>
              <a:rect l="0" t="0" r="r" b="b"/>
              <a:pathLst>
                <a:path w="9" h="8">
                  <a:moveTo>
                    <a:pt x="9" y="1"/>
                  </a:moveTo>
                  <a:lnTo>
                    <a:pt x="6" y="0"/>
                  </a:lnTo>
                  <a:lnTo>
                    <a:pt x="0" y="8"/>
                  </a:lnTo>
                  <a:lnTo>
                    <a:pt x="9"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7" name="Freeform 216"/>
            <p:cNvSpPr>
              <a:spLocks/>
            </p:cNvSpPr>
            <p:nvPr/>
          </p:nvSpPr>
          <p:spPr bwMode="auto">
            <a:xfrm>
              <a:off x="2687" y="2663"/>
              <a:ext cx="100" cy="120"/>
            </a:xfrm>
            <a:custGeom>
              <a:avLst/>
              <a:gdLst/>
              <a:ahLst/>
              <a:cxnLst>
                <a:cxn ang="0">
                  <a:pos x="16" y="20"/>
                </a:cxn>
                <a:cxn ang="0">
                  <a:pos x="13" y="27"/>
                </a:cxn>
                <a:cxn ang="0">
                  <a:pos x="9" y="27"/>
                </a:cxn>
                <a:cxn ang="0">
                  <a:pos x="19" y="36"/>
                </a:cxn>
                <a:cxn ang="0">
                  <a:pos x="10" y="34"/>
                </a:cxn>
                <a:cxn ang="0">
                  <a:pos x="5" y="51"/>
                </a:cxn>
                <a:cxn ang="0">
                  <a:pos x="0" y="51"/>
                </a:cxn>
                <a:cxn ang="0">
                  <a:pos x="7" y="63"/>
                </a:cxn>
                <a:cxn ang="0">
                  <a:pos x="11" y="67"/>
                </a:cxn>
                <a:cxn ang="0">
                  <a:pos x="5" y="62"/>
                </a:cxn>
                <a:cxn ang="0">
                  <a:pos x="12" y="73"/>
                </a:cxn>
                <a:cxn ang="0">
                  <a:pos x="10" y="73"/>
                </a:cxn>
                <a:cxn ang="0">
                  <a:pos x="19" y="84"/>
                </a:cxn>
                <a:cxn ang="0">
                  <a:pos x="17" y="82"/>
                </a:cxn>
                <a:cxn ang="0">
                  <a:pos x="28" y="96"/>
                </a:cxn>
                <a:cxn ang="0">
                  <a:pos x="39" y="109"/>
                </a:cxn>
                <a:cxn ang="0">
                  <a:pos x="43" y="102"/>
                </a:cxn>
                <a:cxn ang="0">
                  <a:pos x="47" y="104"/>
                </a:cxn>
                <a:cxn ang="0">
                  <a:pos x="51" y="100"/>
                </a:cxn>
                <a:cxn ang="0">
                  <a:pos x="47" y="93"/>
                </a:cxn>
                <a:cxn ang="0">
                  <a:pos x="46" y="88"/>
                </a:cxn>
                <a:cxn ang="0">
                  <a:pos x="45" y="82"/>
                </a:cxn>
                <a:cxn ang="0">
                  <a:pos x="59" y="81"/>
                </a:cxn>
                <a:cxn ang="0">
                  <a:pos x="60" y="70"/>
                </a:cxn>
                <a:cxn ang="0">
                  <a:pos x="70" y="81"/>
                </a:cxn>
                <a:cxn ang="0">
                  <a:pos x="79" y="78"/>
                </a:cxn>
                <a:cxn ang="0">
                  <a:pos x="82" y="82"/>
                </a:cxn>
                <a:cxn ang="0">
                  <a:pos x="87" y="78"/>
                </a:cxn>
                <a:cxn ang="0">
                  <a:pos x="91" y="52"/>
                </a:cxn>
                <a:cxn ang="0">
                  <a:pos x="82" y="37"/>
                </a:cxn>
                <a:cxn ang="0">
                  <a:pos x="89" y="27"/>
                </a:cxn>
                <a:cxn ang="0">
                  <a:pos x="88" y="15"/>
                </a:cxn>
                <a:cxn ang="0">
                  <a:pos x="71" y="16"/>
                </a:cxn>
                <a:cxn ang="0">
                  <a:pos x="72" y="0"/>
                </a:cxn>
                <a:cxn ang="0">
                  <a:pos x="57" y="0"/>
                </a:cxn>
                <a:cxn ang="0">
                  <a:pos x="41" y="0"/>
                </a:cxn>
                <a:cxn ang="0">
                  <a:pos x="41" y="20"/>
                </a:cxn>
                <a:cxn ang="0">
                  <a:pos x="29" y="20"/>
                </a:cxn>
                <a:cxn ang="0">
                  <a:pos x="17" y="20"/>
                </a:cxn>
                <a:cxn ang="0">
                  <a:pos x="16" y="20"/>
                </a:cxn>
              </a:cxnLst>
              <a:rect l="0" t="0" r="r" b="b"/>
              <a:pathLst>
                <a:path w="91" h="109">
                  <a:moveTo>
                    <a:pt x="16" y="20"/>
                  </a:moveTo>
                  <a:lnTo>
                    <a:pt x="13" y="27"/>
                  </a:lnTo>
                  <a:lnTo>
                    <a:pt x="9" y="27"/>
                  </a:lnTo>
                  <a:lnTo>
                    <a:pt x="19" y="36"/>
                  </a:lnTo>
                  <a:lnTo>
                    <a:pt x="10" y="34"/>
                  </a:lnTo>
                  <a:lnTo>
                    <a:pt x="5" y="51"/>
                  </a:lnTo>
                  <a:lnTo>
                    <a:pt x="0" y="51"/>
                  </a:lnTo>
                  <a:lnTo>
                    <a:pt x="7" y="63"/>
                  </a:lnTo>
                  <a:lnTo>
                    <a:pt x="11" y="67"/>
                  </a:lnTo>
                  <a:lnTo>
                    <a:pt x="5" y="62"/>
                  </a:lnTo>
                  <a:lnTo>
                    <a:pt x="12" y="73"/>
                  </a:lnTo>
                  <a:lnTo>
                    <a:pt x="10" y="73"/>
                  </a:lnTo>
                  <a:lnTo>
                    <a:pt x="19" y="84"/>
                  </a:lnTo>
                  <a:lnTo>
                    <a:pt x="17" y="82"/>
                  </a:lnTo>
                  <a:lnTo>
                    <a:pt x="28" y="96"/>
                  </a:lnTo>
                  <a:lnTo>
                    <a:pt x="39" y="109"/>
                  </a:lnTo>
                  <a:lnTo>
                    <a:pt x="43" y="102"/>
                  </a:lnTo>
                  <a:lnTo>
                    <a:pt x="47" y="104"/>
                  </a:lnTo>
                  <a:lnTo>
                    <a:pt x="51" y="100"/>
                  </a:lnTo>
                  <a:lnTo>
                    <a:pt x="47" y="93"/>
                  </a:lnTo>
                  <a:lnTo>
                    <a:pt x="46" y="88"/>
                  </a:lnTo>
                  <a:lnTo>
                    <a:pt x="45" y="82"/>
                  </a:lnTo>
                  <a:lnTo>
                    <a:pt x="59" y="81"/>
                  </a:lnTo>
                  <a:lnTo>
                    <a:pt x="60" y="70"/>
                  </a:lnTo>
                  <a:lnTo>
                    <a:pt x="70" y="81"/>
                  </a:lnTo>
                  <a:lnTo>
                    <a:pt x="79" y="78"/>
                  </a:lnTo>
                  <a:lnTo>
                    <a:pt x="82" y="82"/>
                  </a:lnTo>
                  <a:lnTo>
                    <a:pt x="87" y="78"/>
                  </a:lnTo>
                  <a:lnTo>
                    <a:pt x="91" y="52"/>
                  </a:lnTo>
                  <a:lnTo>
                    <a:pt x="82" y="37"/>
                  </a:lnTo>
                  <a:lnTo>
                    <a:pt x="89" y="27"/>
                  </a:lnTo>
                  <a:lnTo>
                    <a:pt x="88" y="15"/>
                  </a:lnTo>
                  <a:lnTo>
                    <a:pt x="71" y="16"/>
                  </a:lnTo>
                  <a:lnTo>
                    <a:pt x="72" y="0"/>
                  </a:lnTo>
                  <a:lnTo>
                    <a:pt x="57" y="0"/>
                  </a:lnTo>
                  <a:lnTo>
                    <a:pt x="41" y="0"/>
                  </a:lnTo>
                  <a:lnTo>
                    <a:pt x="41" y="20"/>
                  </a:lnTo>
                  <a:lnTo>
                    <a:pt x="29" y="20"/>
                  </a:lnTo>
                  <a:lnTo>
                    <a:pt x="17" y="20"/>
                  </a:lnTo>
                  <a:lnTo>
                    <a:pt x="16" y="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8" name="Freeform 217"/>
            <p:cNvSpPr>
              <a:spLocks/>
            </p:cNvSpPr>
            <p:nvPr/>
          </p:nvSpPr>
          <p:spPr bwMode="auto">
            <a:xfrm>
              <a:off x="2647" y="2696"/>
              <a:ext cx="4" cy="9"/>
            </a:xfrm>
            <a:custGeom>
              <a:avLst/>
              <a:gdLst/>
              <a:ahLst/>
              <a:cxnLst>
                <a:cxn ang="0">
                  <a:pos x="5" y="2"/>
                </a:cxn>
                <a:cxn ang="0">
                  <a:pos x="1" y="7"/>
                </a:cxn>
                <a:cxn ang="0">
                  <a:pos x="0" y="3"/>
                </a:cxn>
                <a:cxn ang="0">
                  <a:pos x="3" y="0"/>
                </a:cxn>
                <a:cxn ang="0">
                  <a:pos x="5" y="2"/>
                </a:cxn>
              </a:cxnLst>
              <a:rect l="0" t="0" r="r" b="b"/>
              <a:pathLst>
                <a:path w="5" h="7">
                  <a:moveTo>
                    <a:pt x="5" y="2"/>
                  </a:moveTo>
                  <a:lnTo>
                    <a:pt x="1" y="7"/>
                  </a:lnTo>
                  <a:lnTo>
                    <a:pt x="0" y="3"/>
                  </a:lnTo>
                  <a:lnTo>
                    <a:pt x="3"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9" name="Freeform 218"/>
            <p:cNvSpPr>
              <a:spLocks/>
            </p:cNvSpPr>
            <p:nvPr/>
          </p:nvSpPr>
          <p:spPr bwMode="auto">
            <a:xfrm>
              <a:off x="2660" y="2672"/>
              <a:ext cx="2" cy="2"/>
            </a:xfrm>
            <a:custGeom>
              <a:avLst/>
              <a:gdLst/>
              <a:ahLst/>
              <a:cxnLst>
                <a:cxn ang="0">
                  <a:pos x="2" y="2"/>
                </a:cxn>
                <a:cxn ang="0">
                  <a:pos x="0" y="0"/>
                </a:cxn>
                <a:cxn ang="0">
                  <a:pos x="3" y="0"/>
                </a:cxn>
                <a:cxn ang="0">
                  <a:pos x="2" y="2"/>
                </a:cxn>
              </a:cxnLst>
              <a:rect l="0" t="0" r="r" b="b"/>
              <a:pathLst>
                <a:path w="3" h="2">
                  <a:moveTo>
                    <a:pt x="2" y="2"/>
                  </a:moveTo>
                  <a:lnTo>
                    <a:pt x="0" y="0"/>
                  </a:lnTo>
                  <a:lnTo>
                    <a:pt x="3" y="0"/>
                  </a:lnTo>
                  <a:lnTo>
                    <a:pt x="2"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0" name="Freeform 219"/>
            <p:cNvSpPr>
              <a:spLocks/>
            </p:cNvSpPr>
            <p:nvPr/>
          </p:nvSpPr>
          <p:spPr bwMode="auto">
            <a:xfrm>
              <a:off x="3049" y="2725"/>
              <a:ext cx="191" cy="214"/>
            </a:xfrm>
            <a:custGeom>
              <a:avLst/>
              <a:gdLst/>
              <a:ahLst/>
              <a:cxnLst>
                <a:cxn ang="0">
                  <a:pos x="131" y="42"/>
                </a:cxn>
                <a:cxn ang="0">
                  <a:pos x="129" y="36"/>
                </a:cxn>
                <a:cxn ang="0">
                  <a:pos x="115" y="26"/>
                </a:cxn>
                <a:cxn ang="0">
                  <a:pos x="101" y="18"/>
                </a:cxn>
                <a:cxn ang="0">
                  <a:pos x="86" y="8"/>
                </a:cxn>
                <a:cxn ang="0">
                  <a:pos x="71" y="0"/>
                </a:cxn>
                <a:cxn ang="0">
                  <a:pos x="57" y="0"/>
                </a:cxn>
                <a:cxn ang="0">
                  <a:pos x="44" y="0"/>
                </a:cxn>
                <a:cxn ang="0">
                  <a:pos x="30" y="1"/>
                </a:cxn>
                <a:cxn ang="0">
                  <a:pos x="17" y="1"/>
                </a:cxn>
                <a:cxn ang="0">
                  <a:pos x="23" y="23"/>
                </a:cxn>
                <a:cxn ang="0">
                  <a:pos x="18" y="25"/>
                </a:cxn>
                <a:cxn ang="0">
                  <a:pos x="18" y="34"/>
                </a:cxn>
                <a:cxn ang="0">
                  <a:pos x="21" y="40"/>
                </a:cxn>
                <a:cxn ang="0">
                  <a:pos x="12" y="50"/>
                </a:cxn>
                <a:cxn ang="0">
                  <a:pos x="3" y="62"/>
                </a:cxn>
                <a:cxn ang="0">
                  <a:pos x="0" y="62"/>
                </a:cxn>
                <a:cxn ang="0">
                  <a:pos x="0" y="76"/>
                </a:cxn>
                <a:cxn ang="0">
                  <a:pos x="1" y="89"/>
                </a:cxn>
                <a:cxn ang="0">
                  <a:pos x="6" y="103"/>
                </a:cxn>
                <a:cxn ang="0">
                  <a:pos x="13" y="116"/>
                </a:cxn>
                <a:cxn ang="0">
                  <a:pos x="20" y="128"/>
                </a:cxn>
                <a:cxn ang="0">
                  <a:pos x="20" y="132"/>
                </a:cxn>
                <a:cxn ang="0">
                  <a:pos x="37" y="142"/>
                </a:cxn>
                <a:cxn ang="0">
                  <a:pos x="54" y="151"/>
                </a:cxn>
                <a:cxn ang="0">
                  <a:pos x="69" y="154"/>
                </a:cxn>
                <a:cxn ang="0">
                  <a:pos x="75" y="157"/>
                </a:cxn>
                <a:cxn ang="0">
                  <a:pos x="80" y="175"/>
                </a:cxn>
                <a:cxn ang="0">
                  <a:pos x="85" y="190"/>
                </a:cxn>
                <a:cxn ang="0">
                  <a:pos x="91" y="190"/>
                </a:cxn>
                <a:cxn ang="0">
                  <a:pos x="101" y="188"/>
                </a:cxn>
                <a:cxn ang="0">
                  <a:pos x="119" y="192"/>
                </a:cxn>
                <a:cxn ang="0">
                  <a:pos x="131" y="187"/>
                </a:cxn>
                <a:cxn ang="0">
                  <a:pos x="139" y="186"/>
                </a:cxn>
                <a:cxn ang="0">
                  <a:pos x="155" y="179"/>
                </a:cxn>
                <a:cxn ang="0">
                  <a:pos x="171" y="170"/>
                </a:cxn>
                <a:cxn ang="0">
                  <a:pos x="161" y="160"/>
                </a:cxn>
                <a:cxn ang="0">
                  <a:pos x="158" y="142"/>
                </a:cxn>
                <a:cxn ang="0">
                  <a:pos x="156" y="128"/>
                </a:cxn>
                <a:cxn ang="0">
                  <a:pos x="155" y="122"/>
                </a:cxn>
                <a:cxn ang="0">
                  <a:pos x="158" y="106"/>
                </a:cxn>
                <a:cxn ang="0">
                  <a:pos x="147" y="90"/>
                </a:cxn>
                <a:cxn ang="0">
                  <a:pos x="155" y="66"/>
                </a:cxn>
                <a:cxn ang="0">
                  <a:pos x="143" y="54"/>
                </a:cxn>
                <a:cxn ang="0">
                  <a:pos x="131" y="42"/>
                </a:cxn>
              </a:cxnLst>
              <a:rect l="0" t="0" r="r" b="b"/>
              <a:pathLst>
                <a:path w="171" h="192">
                  <a:moveTo>
                    <a:pt x="131" y="42"/>
                  </a:moveTo>
                  <a:lnTo>
                    <a:pt x="129" y="36"/>
                  </a:lnTo>
                  <a:lnTo>
                    <a:pt x="115" y="26"/>
                  </a:lnTo>
                  <a:lnTo>
                    <a:pt x="101" y="18"/>
                  </a:lnTo>
                  <a:lnTo>
                    <a:pt x="86" y="8"/>
                  </a:lnTo>
                  <a:lnTo>
                    <a:pt x="71" y="0"/>
                  </a:lnTo>
                  <a:lnTo>
                    <a:pt x="57" y="0"/>
                  </a:lnTo>
                  <a:lnTo>
                    <a:pt x="44" y="0"/>
                  </a:lnTo>
                  <a:lnTo>
                    <a:pt x="30" y="1"/>
                  </a:lnTo>
                  <a:lnTo>
                    <a:pt x="17" y="1"/>
                  </a:lnTo>
                  <a:lnTo>
                    <a:pt x="23" y="23"/>
                  </a:lnTo>
                  <a:lnTo>
                    <a:pt x="18" y="25"/>
                  </a:lnTo>
                  <a:lnTo>
                    <a:pt x="18" y="34"/>
                  </a:lnTo>
                  <a:lnTo>
                    <a:pt x="21" y="40"/>
                  </a:lnTo>
                  <a:lnTo>
                    <a:pt x="12" y="50"/>
                  </a:lnTo>
                  <a:lnTo>
                    <a:pt x="3" y="62"/>
                  </a:lnTo>
                  <a:lnTo>
                    <a:pt x="0" y="62"/>
                  </a:lnTo>
                  <a:lnTo>
                    <a:pt x="0" y="76"/>
                  </a:lnTo>
                  <a:lnTo>
                    <a:pt x="1" y="89"/>
                  </a:lnTo>
                  <a:lnTo>
                    <a:pt x="6" y="103"/>
                  </a:lnTo>
                  <a:lnTo>
                    <a:pt x="13" y="116"/>
                  </a:lnTo>
                  <a:lnTo>
                    <a:pt x="20" y="128"/>
                  </a:lnTo>
                  <a:lnTo>
                    <a:pt x="20" y="132"/>
                  </a:lnTo>
                  <a:lnTo>
                    <a:pt x="37" y="142"/>
                  </a:lnTo>
                  <a:lnTo>
                    <a:pt x="54" y="151"/>
                  </a:lnTo>
                  <a:lnTo>
                    <a:pt x="69" y="154"/>
                  </a:lnTo>
                  <a:lnTo>
                    <a:pt x="75" y="157"/>
                  </a:lnTo>
                  <a:lnTo>
                    <a:pt x="80" y="175"/>
                  </a:lnTo>
                  <a:lnTo>
                    <a:pt x="85" y="190"/>
                  </a:lnTo>
                  <a:lnTo>
                    <a:pt x="91" y="190"/>
                  </a:lnTo>
                  <a:lnTo>
                    <a:pt x="101" y="188"/>
                  </a:lnTo>
                  <a:lnTo>
                    <a:pt x="119" y="192"/>
                  </a:lnTo>
                  <a:lnTo>
                    <a:pt x="131" y="187"/>
                  </a:lnTo>
                  <a:lnTo>
                    <a:pt x="139" y="186"/>
                  </a:lnTo>
                  <a:lnTo>
                    <a:pt x="155" y="179"/>
                  </a:lnTo>
                  <a:lnTo>
                    <a:pt x="171" y="170"/>
                  </a:lnTo>
                  <a:lnTo>
                    <a:pt x="161" y="160"/>
                  </a:lnTo>
                  <a:lnTo>
                    <a:pt x="158" y="142"/>
                  </a:lnTo>
                  <a:lnTo>
                    <a:pt x="156" y="128"/>
                  </a:lnTo>
                  <a:lnTo>
                    <a:pt x="155" y="122"/>
                  </a:lnTo>
                  <a:lnTo>
                    <a:pt x="158" y="106"/>
                  </a:lnTo>
                  <a:lnTo>
                    <a:pt x="147" y="90"/>
                  </a:lnTo>
                  <a:lnTo>
                    <a:pt x="155" y="66"/>
                  </a:lnTo>
                  <a:lnTo>
                    <a:pt x="143" y="54"/>
                  </a:lnTo>
                  <a:lnTo>
                    <a:pt x="131"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1" name="Freeform 220"/>
            <p:cNvSpPr>
              <a:spLocks/>
            </p:cNvSpPr>
            <p:nvPr/>
          </p:nvSpPr>
          <p:spPr bwMode="auto">
            <a:xfrm>
              <a:off x="3220" y="2821"/>
              <a:ext cx="7" cy="13"/>
            </a:xfrm>
            <a:custGeom>
              <a:avLst/>
              <a:gdLst/>
              <a:ahLst/>
              <a:cxnLst>
                <a:cxn ang="0">
                  <a:pos x="6" y="12"/>
                </a:cxn>
                <a:cxn ang="0">
                  <a:pos x="4" y="0"/>
                </a:cxn>
                <a:cxn ang="0">
                  <a:pos x="0" y="4"/>
                </a:cxn>
                <a:cxn ang="0">
                  <a:pos x="6" y="12"/>
                </a:cxn>
              </a:cxnLst>
              <a:rect l="0" t="0" r="r" b="b"/>
              <a:pathLst>
                <a:path w="6" h="12">
                  <a:moveTo>
                    <a:pt x="6" y="12"/>
                  </a:moveTo>
                  <a:lnTo>
                    <a:pt x="4" y="0"/>
                  </a:lnTo>
                  <a:lnTo>
                    <a:pt x="0" y="4"/>
                  </a:lnTo>
                  <a:lnTo>
                    <a:pt x="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2" name="Freeform 221"/>
            <p:cNvSpPr>
              <a:spLocks/>
            </p:cNvSpPr>
            <p:nvPr/>
          </p:nvSpPr>
          <p:spPr bwMode="auto">
            <a:xfrm>
              <a:off x="3053" y="2621"/>
              <a:ext cx="96" cy="113"/>
            </a:xfrm>
            <a:custGeom>
              <a:avLst/>
              <a:gdLst/>
              <a:ahLst/>
              <a:cxnLst>
                <a:cxn ang="0">
                  <a:pos x="77" y="15"/>
                </a:cxn>
                <a:cxn ang="0">
                  <a:pos x="70" y="0"/>
                </a:cxn>
                <a:cxn ang="0">
                  <a:pos x="63" y="9"/>
                </a:cxn>
                <a:cxn ang="0">
                  <a:pos x="45" y="9"/>
                </a:cxn>
                <a:cxn ang="0">
                  <a:pos x="37" y="11"/>
                </a:cxn>
                <a:cxn ang="0">
                  <a:pos x="34" y="9"/>
                </a:cxn>
                <a:cxn ang="0">
                  <a:pos x="22" y="10"/>
                </a:cxn>
                <a:cxn ang="0">
                  <a:pos x="21" y="14"/>
                </a:cxn>
                <a:cxn ang="0">
                  <a:pos x="19" y="29"/>
                </a:cxn>
                <a:cxn ang="0">
                  <a:pos x="28" y="38"/>
                </a:cxn>
                <a:cxn ang="0">
                  <a:pos x="17" y="48"/>
                </a:cxn>
                <a:cxn ang="0">
                  <a:pos x="7" y="60"/>
                </a:cxn>
                <a:cxn ang="0">
                  <a:pos x="4" y="81"/>
                </a:cxn>
                <a:cxn ang="0">
                  <a:pos x="0" y="101"/>
                </a:cxn>
                <a:cxn ang="0">
                  <a:pos x="5" y="101"/>
                </a:cxn>
                <a:cxn ang="0">
                  <a:pos x="15" y="95"/>
                </a:cxn>
                <a:cxn ang="0">
                  <a:pos x="28" y="95"/>
                </a:cxn>
                <a:cxn ang="0">
                  <a:pos x="42" y="94"/>
                </a:cxn>
                <a:cxn ang="0">
                  <a:pos x="55" y="94"/>
                </a:cxn>
                <a:cxn ang="0">
                  <a:pos x="69" y="94"/>
                </a:cxn>
                <a:cxn ang="0">
                  <a:pos x="69" y="75"/>
                </a:cxn>
                <a:cxn ang="0">
                  <a:pos x="79" y="57"/>
                </a:cxn>
                <a:cxn ang="0">
                  <a:pos x="87" y="42"/>
                </a:cxn>
                <a:cxn ang="0">
                  <a:pos x="82" y="28"/>
                </a:cxn>
                <a:cxn ang="0">
                  <a:pos x="77" y="15"/>
                </a:cxn>
              </a:cxnLst>
              <a:rect l="0" t="0" r="r" b="b"/>
              <a:pathLst>
                <a:path w="87" h="101">
                  <a:moveTo>
                    <a:pt x="77" y="15"/>
                  </a:moveTo>
                  <a:lnTo>
                    <a:pt x="70" y="0"/>
                  </a:lnTo>
                  <a:lnTo>
                    <a:pt x="63" y="9"/>
                  </a:lnTo>
                  <a:lnTo>
                    <a:pt x="45" y="9"/>
                  </a:lnTo>
                  <a:lnTo>
                    <a:pt x="37" y="11"/>
                  </a:lnTo>
                  <a:lnTo>
                    <a:pt x="34" y="9"/>
                  </a:lnTo>
                  <a:lnTo>
                    <a:pt x="22" y="10"/>
                  </a:lnTo>
                  <a:lnTo>
                    <a:pt x="21" y="14"/>
                  </a:lnTo>
                  <a:lnTo>
                    <a:pt x="19" y="29"/>
                  </a:lnTo>
                  <a:lnTo>
                    <a:pt x="28" y="38"/>
                  </a:lnTo>
                  <a:lnTo>
                    <a:pt x="17" y="48"/>
                  </a:lnTo>
                  <a:lnTo>
                    <a:pt x="7" y="60"/>
                  </a:lnTo>
                  <a:lnTo>
                    <a:pt x="4" y="81"/>
                  </a:lnTo>
                  <a:lnTo>
                    <a:pt x="0" y="101"/>
                  </a:lnTo>
                  <a:lnTo>
                    <a:pt x="5" y="101"/>
                  </a:lnTo>
                  <a:lnTo>
                    <a:pt x="15" y="95"/>
                  </a:lnTo>
                  <a:lnTo>
                    <a:pt x="28" y="95"/>
                  </a:lnTo>
                  <a:lnTo>
                    <a:pt x="42" y="94"/>
                  </a:lnTo>
                  <a:lnTo>
                    <a:pt x="55" y="94"/>
                  </a:lnTo>
                  <a:lnTo>
                    <a:pt x="69" y="94"/>
                  </a:lnTo>
                  <a:lnTo>
                    <a:pt x="69" y="75"/>
                  </a:lnTo>
                  <a:lnTo>
                    <a:pt x="79" y="57"/>
                  </a:lnTo>
                  <a:lnTo>
                    <a:pt x="87" y="42"/>
                  </a:lnTo>
                  <a:lnTo>
                    <a:pt x="82" y="28"/>
                  </a:lnTo>
                  <a:lnTo>
                    <a:pt x="77"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3" name="Freeform 222"/>
            <p:cNvSpPr>
              <a:spLocks/>
            </p:cNvSpPr>
            <p:nvPr/>
          </p:nvSpPr>
          <p:spPr bwMode="auto">
            <a:xfrm>
              <a:off x="2747" y="2601"/>
              <a:ext cx="335" cy="373"/>
            </a:xfrm>
            <a:custGeom>
              <a:avLst/>
              <a:gdLst/>
              <a:ahLst/>
              <a:cxnLst>
                <a:cxn ang="0">
                  <a:pos x="270" y="132"/>
                </a:cxn>
                <a:cxn ang="0">
                  <a:pos x="267" y="143"/>
                </a:cxn>
                <a:cxn ang="0">
                  <a:pos x="268" y="145"/>
                </a:cxn>
                <a:cxn ang="0">
                  <a:pos x="274" y="175"/>
                </a:cxn>
                <a:cxn ang="0">
                  <a:pos x="275" y="202"/>
                </a:cxn>
                <a:cxn ang="0">
                  <a:pos x="287" y="229"/>
                </a:cxn>
                <a:cxn ang="0">
                  <a:pos x="279" y="245"/>
                </a:cxn>
                <a:cxn ang="0">
                  <a:pos x="256" y="262"/>
                </a:cxn>
                <a:cxn ang="0">
                  <a:pos x="258" y="293"/>
                </a:cxn>
                <a:cxn ang="0">
                  <a:pos x="271" y="319"/>
                </a:cxn>
                <a:cxn ang="0">
                  <a:pos x="274" y="336"/>
                </a:cxn>
                <a:cxn ang="0">
                  <a:pos x="263" y="335"/>
                </a:cxn>
                <a:cxn ang="0">
                  <a:pos x="240" y="310"/>
                </a:cxn>
                <a:cxn ang="0">
                  <a:pos x="227" y="310"/>
                </a:cxn>
                <a:cxn ang="0">
                  <a:pos x="204" y="297"/>
                </a:cxn>
                <a:cxn ang="0">
                  <a:pos x="185" y="291"/>
                </a:cxn>
                <a:cxn ang="0">
                  <a:pos x="160" y="295"/>
                </a:cxn>
                <a:cxn ang="0">
                  <a:pos x="154" y="270"/>
                </a:cxn>
                <a:cxn ang="0">
                  <a:pos x="153" y="229"/>
                </a:cxn>
                <a:cxn ang="0">
                  <a:pos x="132" y="222"/>
                </a:cxn>
                <a:cxn ang="0">
                  <a:pos x="113" y="237"/>
                </a:cxn>
                <a:cxn ang="0">
                  <a:pos x="83" y="237"/>
                </a:cxn>
                <a:cxn ang="0">
                  <a:pos x="70" y="203"/>
                </a:cxn>
                <a:cxn ang="0">
                  <a:pos x="43" y="202"/>
                </a:cxn>
                <a:cxn ang="0">
                  <a:pos x="16" y="201"/>
                </a:cxn>
                <a:cxn ang="0">
                  <a:pos x="0" y="199"/>
                </a:cxn>
                <a:cxn ang="0">
                  <a:pos x="7" y="184"/>
                </a:cxn>
                <a:cxn ang="0">
                  <a:pos x="23" y="181"/>
                </a:cxn>
                <a:cxn ang="0">
                  <a:pos x="36" y="174"/>
                </a:cxn>
                <a:cxn ang="0">
                  <a:pos x="51" y="171"/>
                </a:cxn>
                <a:cxn ang="0">
                  <a:pos x="65" y="145"/>
                </a:cxn>
                <a:cxn ang="0">
                  <a:pos x="78" y="117"/>
                </a:cxn>
                <a:cxn ang="0">
                  <a:pos x="91" y="89"/>
                </a:cxn>
                <a:cxn ang="0">
                  <a:pos x="96" y="61"/>
                </a:cxn>
                <a:cxn ang="0">
                  <a:pos x="102" y="33"/>
                </a:cxn>
                <a:cxn ang="0">
                  <a:pos x="114" y="3"/>
                </a:cxn>
                <a:cxn ang="0">
                  <a:pos x="147" y="17"/>
                </a:cxn>
                <a:cxn ang="0">
                  <a:pos x="168" y="10"/>
                </a:cxn>
                <a:cxn ang="0">
                  <a:pos x="191" y="5"/>
                </a:cxn>
                <a:cxn ang="0">
                  <a:pos x="209" y="0"/>
                </a:cxn>
                <a:cxn ang="0">
                  <a:pos x="234" y="3"/>
                </a:cxn>
                <a:cxn ang="0">
                  <a:pos x="246" y="9"/>
                </a:cxn>
                <a:cxn ang="0">
                  <a:pos x="268" y="16"/>
                </a:cxn>
                <a:cxn ang="0">
                  <a:pos x="285" y="22"/>
                </a:cxn>
                <a:cxn ang="0">
                  <a:pos x="295" y="48"/>
                </a:cxn>
                <a:cxn ang="0">
                  <a:pos x="293" y="67"/>
                </a:cxn>
                <a:cxn ang="0">
                  <a:pos x="280" y="100"/>
                </a:cxn>
              </a:cxnLst>
              <a:rect l="0" t="0" r="r" b="b"/>
              <a:pathLst>
                <a:path w="304" h="336">
                  <a:moveTo>
                    <a:pt x="276" y="120"/>
                  </a:moveTo>
                  <a:lnTo>
                    <a:pt x="270" y="132"/>
                  </a:lnTo>
                  <a:lnTo>
                    <a:pt x="265" y="143"/>
                  </a:lnTo>
                  <a:lnTo>
                    <a:pt x="267" y="143"/>
                  </a:lnTo>
                  <a:lnTo>
                    <a:pt x="267" y="144"/>
                  </a:lnTo>
                  <a:lnTo>
                    <a:pt x="268" y="145"/>
                  </a:lnTo>
                  <a:lnTo>
                    <a:pt x="270" y="160"/>
                  </a:lnTo>
                  <a:lnTo>
                    <a:pt x="274" y="175"/>
                  </a:lnTo>
                  <a:lnTo>
                    <a:pt x="274" y="189"/>
                  </a:lnTo>
                  <a:lnTo>
                    <a:pt x="275" y="202"/>
                  </a:lnTo>
                  <a:lnTo>
                    <a:pt x="280" y="216"/>
                  </a:lnTo>
                  <a:lnTo>
                    <a:pt x="287" y="229"/>
                  </a:lnTo>
                  <a:lnTo>
                    <a:pt x="294" y="241"/>
                  </a:lnTo>
                  <a:lnTo>
                    <a:pt x="279" y="245"/>
                  </a:lnTo>
                  <a:lnTo>
                    <a:pt x="264" y="249"/>
                  </a:lnTo>
                  <a:lnTo>
                    <a:pt x="256" y="262"/>
                  </a:lnTo>
                  <a:lnTo>
                    <a:pt x="259" y="277"/>
                  </a:lnTo>
                  <a:lnTo>
                    <a:pt x="258" y="293"/>
                  </a:lnTo>
                  <a:lnTo>
                    <a:pt x="256" y="309"/>
                  </a:lnTo>
                  <a:lnTo>
                    <a:pt x="271" y="319"/>
                  </a:lnTo>
                  <a:lnTo>
                    <a:pt x="276" y="313"/>
                  </a:lnTo>
                  <a:lnTo>
                    <a:pt x="274" y="336"/>
                  </a:lnTo>
                  <a:lnTo>
                    <a:pt x="269" y="335"/>
                  </a:lnTo>
                  <a:lnTo>
                    <a:pt x="263" y="335"/>
                  </a:lnTo>
                  <a:lnTo>
                    <a:pt x="250" y="317"/>
                  </a:lnTo>
                  <a:lnTo>
                    <a:pt x="240" y="310"/>
                  </a:lnTo>
                  <a:lnTo>
                    <a:pt x="233" y="304"/>
                  </a:lnTo>
                  <a:lnTo>
                    <a:pt x="227" y="310"/>
                  </a:lnTo>
                  <a:lnTo>
                    <a:pt x="207" y="303"/>
                  </a:lnTo>
                  <a:lnTo>
                    <a:pt x="204" y="297"/>
                  </a:lnTo>
                  <a:lnTo>
                    <a:pt x="191" y="299"/>
                  </a:lnTo>
                  <a:lnTo>
                    <a:pt x="185" y="291"/>
                  </a:lnTo>
                  <a:lnTo>
                    <a:pt x="173" y="293"/>
                  </a:lnTo>
                  <a:lnTo>
                    <a:pt x="160" y="295"/>
                  </a:lnTo>
                  <a:lnTo>
                    <a:pt x="159" y="288"/>
                  </a:lnTo>
                  <a:lnTo>
                    <a:pt x="154" y="270"/>
                  </a:lnTo>
                  <a:lnTo>
                    <a:pt x="154" y="250"/>
                  </a:lnTo>
                  <a:lnTo>
                    <a:pt x="153" y="229"/>
                  </a:lnTo>
                  <a:lnTo>
                    <a:pt x="132" y="226"/>
                  </a:lnTo>
                  <a:lnTo>
                    <a:pt x="132" y="222"/>
                  </a:lnTo>
                  <a:lnTo>
                    <a:pt x="117" y="221"/>
                  </a:lnTo>
                  <a:lnTo>
                    <a:pt x="113" y="237"/>
                  </a:lnTo>
                  <a:lnTo>
                    <a:pt x="94" y="240"/>
                  </a:lnTo>
                  <a:lnTo>
                    <a:pt x="83" y="237"/>
                  </a:lnTo>
                  <a:lnTo>
                    <a:pt x="76" y="220"/>
                  </a:lnTo>
                  <a:lnTo>
                    <a:pt x="70" y="203"/>
                  </a:lnTo>
                  <a:lnTo>
                    <a:pt x="57" y="202"/>
                  </a:lnTo>
                  <a:lnTo>
                    <a:pt x="43" y="202"/>
                  </a:lnTo>
                  <a:lnTo>
                    <a:pt x="29" y="201"/>
                  </a:lnTo>
                  <a:lnTo>
                    <a:pt x="16" y="201"/>
                  </a:lnTo>
                  <a:lnTo>
                    <a:pt x="3" y="202"/>
                  </a:lnTo>
                  <a:lnTo>
                    <a:pt x="0" y="199"/>
                  </a:lnTo>
                  <a:lnTo>
                    <a:pt x="6" y="198"/>
                  </a:lnTo>
                  <a:lnTo>
                    <a:pt x="7" y="184"/>
                  </a:lnTo>
                  <a:lnTo>
                    <a:pt x="15" y="178"/>
                  </a:lnTo>
                  <a:lnTo>
                    <a:pt x="23" y="181"/>
                  </a:lnTo>
                  <a:lnTo>
                    <a:pt x="27" y="175"/>
                  </a:lnTo>
                  <a:lnTo>
                    <a:pt x="36" y="174"/>
                  </a:lnTo>
                  <a:lnTo>
                    <a:pt x="39" y="183"/>
                  </a:lnTo>
                  <a:lnTo>
                    <a:pt x="51" y="171"/>
                  </a:lnTo>
                  <a:lnTo>
                    <a:pt x="63" y="159"/>
                  </a:lnTo>
                  <a:lnTo>
                    <a:pt x="65" y="145"/>
                  </a:lnTo>
                  <a:lnTo>
                    <a:pt x="66" y="131"/>
                  </a:lnTo>
                  <a:lnTo>
                    <a:pt x="78" y="117"/>
                  </a:lnTo>
                  <a:lnTo>
                    <a:pt x="89" y="102"/>
                  </a:lnTo>
                  <a:lnTo>
                    <a:pt x="91" y="89"/>
                  </a:lnTo>
                  <a:lnTo>
                    <a:pt x="94" y="75"/>
                  </a:lnTo>
                  <a:lnTo>
                    <a:pt x="96" y="61"/>
                  </a:lnTo>
                  <a:lnTo>
                    <a:pt x="99" y="48"/>
                  </a:lnTo>
                  <a:lnTo>
                    <a:pt x="102" y="33"/>
                  </a:lnTo>
                  <a:lnTo>
                    <a:pt x="102" y="19"/>
                  </a:lnTo>
                  <a:lnTo>
                    <a:pt x="114" y="3"/>
                  </a:lnTo>
                  <a:lnTo>
                    <a:pt x="131" y="12"/>
                  </a:lnTo>
                  <a:lnTo>
                    <a:pt x="147" y="17"/>
                  </a:lnTo>
                  <a:lnTo>
                    <a:pt x="161" y="21"/>
                  </a:lnTo>
                  <a:lnTo>
                    <a:pt x="168" y="10"/>
                  </a:lnTo>
                  <a:lnTo>
                    <a:pt x="175" y="11"/>
                  </a:lnTo>
                  <a:lnTo>
                    <a:pt x="191" y="5"/>
                  </a:lnTo>
                  <a:lnTo>
                    <a:pt x="203" y="5"/>
                  </a:lnTo>
                  <a:lnTo>
                    <a:pt x="209" y="0"/>
                  </a:lnTo>
                  <a:lnTo>
                    <a:pt x="221" y="1"/>
                  </a:lnTo>
                  <a:lnTo>
                    <a:pt x="234" y="3"/>
                  </a:lnTo>
                  <a:lnTo>
                    <a:pt x="243" y="5"/>
                  </a:lnTo>
                  <a:lnTo>
                    <a:pt x="246" y="9"/>
                  </a:lnTo>
                  <a:lnTo>
                    <a:pt x="258" y="17"/>
                  </a:lnTo>
                  <a:lnTo>
                    <a:pt x="268" y="16"/>
                  </a:lnTo>
                  <a:lnTo>
                    <a:pt x="274" y="11"/>
                  </a:lnTo>
                  <a:lnTo>
                    <a:pt x="285" y="22"/>
                  </a:lnTo>
                  <a:lnTo>
                    <a:pt x="297" y="33"/>
                  </a:lnTo>
                  <a:lnTo>
                    <a:pt x="295" y="48"/>
                  </a:lnTo>
                  <a:lnTo>
                    <a:pt x="304" y="57"/>
                  </a:lnTo>
                  <a:lnTo>
                    <a:pt x="293" y="67"/>
                  </a:lnTo>
                  <a:lnTo>
                    <a:pt x="283" y="79"/>
                  </a:lnTo>
                  <a:lnTo>
                    <a:pt x="280" y="100"/>
                  </a:lnTo>
                  <a:lnTo>
                    <a:pt x="276" y="1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4" name="Freeform 223"/>
            <p:cNvSpPr>
              <a:spLocks/>
            </p:cNvSpPr>
            <p:nvPr/>
          </p:nvSpPr>
          <p:spPr bwMode="auto">
            <a:xfrm>
              <a:off x="2916" y="2867"/>
              <a:ext cx="206" cy="200"/>
            </a:xfrm>
            <a:custGeom>
              <a:avLst/>
              <a:gdLst/>
              <a:ahLst/>
              <a:cxnLst>
                <a:cxn ang="0">
                  <a:pos x="32" y="87"/>
                </a:cxn>
                <a:cxn ang="0">
                  <a:pos x="16" y="87"/>
                </a:cxn>
                <a:cxn ang="0">
                  <a:pos x="1" y="88"/>
                </a:cxn>
                <a:cxn ang="0">
                  <a:pos x="0" y="101"/>
                </a:cxn>
                <a:cxn ang="0">
                  <a:pos x="0" y="116"/>
                </a:cxn>
                <a:cxn ang="0">
                  <a:pos x="0" y="130"/>
                </a:cxn>
                <a:cxn ang="0">
                  <a:pos x="0" y="144"/>
                </a:cxn>
                <a:cxn ang="0">
                  <a:pos x="10" y="158"/>
                </a:cxn>
                <a:cxn ang="0">
                  <a:pos x="21" y="171"/>
                </a:cxn>
                <a:cxn ang="0">
                  <a:pos x="32" y="168"/>
                </a:cxn>
                <a:cxn ang="0">
                  <a:pos x="49" y="173"/>
                </a:cxn>
                <a:cxn ang="0">
                  <a:pos x="72" y="179"/>
                </a:cxn>
                <a:cxn ang="0">
                  <a:pos x="86" y="165"/>
                </a:cxn>
                <a:cxn ang="0">
                  <a:pos x="103" y="152"/>
                </a:cxn>
                <a:cxn ang="0">
                  <a:pos x="108" y="141"/>
                </a:cxn>
                <a:cxn ang="0">
                  <a:pos x="120" y="137"/>
                </a:cxn>
                <a:cxn ang="0">
                  <a:pos x="132" y="135"/>
                </a:cxn>
                <a:cxn ang="0">
                  <a:pos x="129" y="125"/>
                </a:cxn>
                <a:cxn ang="0">
                  <a:pos x="141" y="120"/>
                </a:cxn>
                <a:cxn ang="0">
                  <a:pos x="152" y="116"/>
                </a:cxn>
                <a:cxn ang="0">
                  <a:pos x="164" y="111"/>
                </a:cxn>
                <a:cxn ang="0">
                  <a:pos x="176" y="106"/>
                </a:cxn>
                <a:cxn ang="0">
                  <a:pos x="169" y="98"/>
                </a:cxn>
                <a:cxn ang="0">
                  <a:pos x="177" y="81"/>
                </a:cxn>
                <a:cxn ang="0">
                  <a:pos x="180" y="76"/>
                </a:cxn>
                <a:cxn ang="0">
                  <a:pos x="181" y="62"/>
                </a:cxn>
                <a:cxn ang="0">
                  <a:pos x="182" y="48"/>
                </a:cxn>
                <a:cxn ang="0">
                  <a:pos x="186" y="41"/>
                </a:cxn>
                <a:cxn ang="0">
                  <a:pos x="176" y="27"/>
                </a:cxn>
                <a:cxn ang="0">
                  <a:pos x="175" y="23"/>
                </a:cxn>
                <a:cxn ang="0">
                  <a:pos x="158" y="14"/>
                </a:cxn>
                <a:cxn ang="0">
                  <a:pos x="141" y="4"/>
                </a:cxn>
                <a:cxn ang="0">
                  <a:pos x="141" y="0"/>
                </a:cxn>
                <a:cxn ang="0">
                  <a:pos x="126" y="4"/>
                </a:cxn>
                <a:cxn ang="0">
                  <a:pos x="111" y="8"/>
                </a:cxn>
                <a:cxn ang="0">
                  <a:pos x="103" y="21"/>
                </a:cxn>
                <a:cxn ang="0">
                  <a:pos x="106" y="36"/>
                </a:cxn>
                <a:cxn ang="0">
                  <a:pos x="105" y="52"/>
                </a:cxn>
                <a:cxn ang="0">
                  <a:pos x="103" y="68"/>
                </a:cxn>
                <a:cxn ang="0">
                  <a:pos x="118" y="78"/>
                </a:cxn>
                <a:cxn ang="0">
                  <a:pos x="123" y="72"/>
                </a:cxn>
                <a:cxn ang="0">
                  <a:pos x="121" y="95"/>
                </a:cxn>
                <a:cxn ang="0">
                  <a:pos x="116" y="94"/>
                </a:cxn>
                <a:cxn ang="0">
                  <a:pos x="110" y="94"/>
                </a:cxn>
                <a:cxn ang="0">
                  <a:pos x="97" y="76"/>
                </a:cxn>
                <a:cxn ang="0">
                  <a:pos x="87" y="69"/>
                </a:cxn>
                <a:cxn ang="0">
                  <a:pos x="80" y="63"/>
                </a:cxn>
                <a:cxn ang="0">
                  <a:pos x="74" y="69"/>
                </a:cxn>
                <a:cxn ang="0">
                  <a:pos x="54" y="62"/>
                </a:cxn>
                <a:cxn ang="0">
                  <a:pos x="51" y="56"/>
                </a:cxn>
                <a:cxn ang="0">
                  <a:pos x="38" y="58"/>
                </a:cxn>
                <a:cxn ang="0">
                  <a:pos x="32" y="50"/>
                </a:cxn>
                <a:cxn ang="0">
                  <a:pos x="32" y="68"/>
                </a:cxn>
                <a:cxn ang="0">
                  <a:pos x="32" y="87"/>
                </a:cxn>
              </a:cxnLst>
              <a:rect l="0" t="0" r="r" b="b"/>
              <a:pathLst>
                <a:path w="186" h="179">
                  <a:moveTo>
                    <a:pt x="32" y="87"/>
                  </a:moveTo>
                  <a:lnTo>
                    <a:pt x="16" y="87"/>
                  </a:lnTo>
                  <a:lnTo>
                    <a:pt x="1" y="88"/>
                  </a:lnTo>
                  <a:lnTo>
                    <a:pt x="0" y="101"/>
                  </a:lnTo>
                  <a:lnTo>
                    <a:pt x="0" y="116"/>
                  </a:lnTo>
                  <a:lnTo>
                    <a:pt x="0" y="130"/>
                  </a:lnTo>
                  <a:lnTo>
                    <a:pt x="0" y="144"/>
                  </a:lnTo>
                  <a:lnTo>
                    <a:pt x="10" y="158"/>
                  </a:lnTo>
                  <a:lnTo>
                    <a:pt x="21" y="171"/>
                  </a:lnTo>
                  <a:lnTo>
                    <a:pt x="32" y="168"/>
                  </a:lnTo>
                  <a:lnTo>
                    <a:pt x="49" y="173"/>
                  </a:lnTo>
                  <a:lnTo>
                    <a:pt x="72" y="179"/>
                  </a:lnTo>
                  <a:lnTo>
                    <a:pt x="86" y="165"/>
                  </a:lnTo>
                  <a:lnTo>
                    <a:pt x="103" y="152"/>
                  </a:lnTo>
                  <a:lnTo>
                    <a:pt x="108" y="141"/>
                  </a:lnTo>
                  <a:lnTo>
                    <a:pt x="120" y="137"/>
                  </a:lnTo>
                  <a:lnTo>
                    <a:pt x="132" y="135"/>
                  </a:lnTo>
                  <a:lnTo>
                    <a:pt x="129" y="125"/>
                  </a:lnTo>
                  <a:lnTo>
                    <a:pt x="141" y="120"/>
                  </a:lnTo>
                  <a:lnTo>
                    <a:pt x="152" y="116"/>
                  </a:lnTo>
                  <a:lnTo>
                    <a:pt x="164" y="111"/>
                  </a:lnTo>
                  <a:lnTo>
                    <a:pt x="176" y="106"/>
                  </a:lnTo>
                  <a:lnTo>
                    <a:pt x="169" y="98"/>
                  </a:lnTo>
                  <a:lnTo>
                    <a:pt x="177" y="81"/>
                  </a:lnTo>
                  <a:lnTo>
                    <a:pt x="180" y="76"/>
                  </a:lnTo>
                  <a:lnTo>
                    <a:pt x="181" y="62"/>
                  </a:lnTo>
                  <a:lnTo>
                    <a:pt x="182" y="48"/>
                  </a:lnTo>
                  <a:lnTo>
                    <a:pt x="186" y="41"/>
                  </a:lnTo>
                  <a:lnTo>
                    <a:pt x="176" y="27"/>
                  </a:lnTo>
                  <a:lnTo>
                    <a:pt x="175" y="23"/>
                  </a:lnTo>
                  <a:lnTo>
                    <a:pt x="158" y="14"/>
                  </a:lnTo>
                  <a:lnTo>
                    <a:pt x="141" y="4"/>
                  </a:lnTo>
                  <a:lnTo>
                    <a:pt x="141" y="0"/>
                  </a:lnTo>
                  <a:lnTo>
                    <a:pt x="126" y="4"/>
                  </a:lnTo>
                  <a:lnTo>
                    <a:pt x="111" y="8"/>
                  </a:lnTo>
                  <a:lnTo>
                    <a:pt x="103" y="21"/>
                  </a:lnTo>
                  <a:lnTo>
                    <a:pt x="106" y="36"/>
                  </a:lnTo>
                  <a:lnTo>
                    <a:pt x="105" y="52"/>
                  </a:lnTo>
                  <a:lnTo>
                    <a:pt x="103" y="68"/>
                  </a:lnTo>
                  <a:lnTo>
                    <a:pt x="118" y="78"/>
                  </a:lnTo>
                  <a:lnTo>
                    <a:pt x="123" y="72"/>
                  </a:lnTo>
                  <a:lnTo>
                    <a:pt x="121" y="95"/>
                  </a:lnTo>
                  <a:lnTo>
                    <a:pt x="116" y="94"/>
                  </a:lnTo>
                  <a:lnTo>
                    <a:pt x="110" y="94"/>
                  </a:lnTo>
                  <a:lnTo>
                    <a:pt x="97" y="76"/>
                  </a:lnTo>
                  <a:lnTo>
                    <a:pt x="87" y="69"/>
                  </a:lnTo>
                  <a:lnTo>
                    <a:pt x="80" y="63"/>
                  </a:lnTo>
                  <a:lnTo>
                    <a:pt x="74" y="69"/>
                  </a:lnTo>
                  <a:lnTo>
                    <a:pt x="54" y="62"/>
                  </a:lnTo>
                  <a:lnTo>
                    <a:pt x="51" y="56"/>
                  </a:lnTo>
                  <a:lnTo>
                    <a:pt x="38" y="58"/>
                  </a:lnTo>
                  <a:lnTo>
                    <a:pt x="32" y="50"/>
                  </a:lnTo>
                  <a:lnTo>
                    <a:pt x="32" y="68"/>
                  </a:lnTo>
                  <a:lnTo>
                    <a:pt x="32"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5" name="Freeform 224"/>
            <p:cNvSpPr>
              <a:spLocks/>
            </p:cNvSpPr>
            <p:nvPr/>
          </p:nvSpPr>
          <p:spPr bwMode="auto">
            <a:xfrm>
              <a:off x="2969" y="3016"/>
              <a:ext cx="135" cy="138"/>
            </a:xfrm>
            <a:custGeom>
              <a:avLst/>
              <a:gdLst/>
              <a:ahLst/>
              <a:cxnLst>
                <a:cxn ang="0">
                  <a:pos x="60" y="116"/>
                </a:cxn>
                <a:cxn ang="0">
                  <a:pos x="56" y="113"/>
                </a:cxn>
                <a:cxn ang="0">
                  <a:pos x="42" y="107"/>
                </a:cxn>
                <a:cxn ang="0">
                  <a:pos x="37" y="92"/>
                </a:cxn>
                <a:cxn ang="0">
                  <a:pos x="33" y="86"/>
                </a:cxn>
                <a:cxn ang="0">
                  <a:pos x="30" y="83"/>
                </a:cxn>
                <a:cxn ang="0">
                  <a:pos x="19" y="74"/>
                </a:cxn>
                <a:cxn ang="0">
                  <a:pos x="9" y="56"/>
                </a:cxn>
                <a:cxn ang="0">
                  <a:pos x="0" y="38"/>
                </a:cxn>
                <a:cxn ang="0">
                  <a:pos x="23" y="44"/>
                </a:cxn>
                <a:cxn ang="0">
                  <a:pos x="37" y="30"/>
                </a:cxn>
                <a:cxn ang="0">
                  <a:pos x="54" y="17"/>
                </a:cxn>
                <a:cxn ang="0">
                  <a:pos x="59" y="6"/>
                </a:cxn>
                <a:cxn ang="0">
                  <a:pos x="71" y="2"/>
                </a:cxn>
                <a:cxn ang="0">
                  <a:pos x="83" y="0"/>
                </a:cxn>
                <a:cxn ang="0">
                  <a:pos x="83" y="7"/>
                </a:cxn>
                <a:cxn ang="0">
                  <a:pos x="90" y="6"/>
                </a:cxn>
                <a:cxn ang="0">
                  <a:pos x="105" y="13"/>
                </a:cxn>
                <a:cxn ang="0">
                  <a:pos x="121" y="19"/>
                </a:cxn>
                <a:cxn ang="0">
                  <a:pos x="121" y="41"/>
                </a:cxn>
                <a:cxn ang="0">
                  <a:pos x="117" y="56"/>
                </a:cxn>
                <a:cxn ang="0">
                  <a:pos x="120" y="73"/>
                </a:cxn>
                <a:cxn ang="0">
                  <a:pos x="114" y="89"/>
                </a:cxn>
                <a:cxn ang="0">
                  <a:pos x="110" y="103"/>
                </a:cxn>
                <a:cxn ang="0">
                  <a:pos x="101" y="113"/>
                </a:cxn>
                <a:cxn ang="0">
                  <a:pos x="91" y="122"/>
                </a:cxn>
                <a:cxn ang="0">
                  <a:pos x="75" y="120"/>
                </a:cxn>
                <a:cxn ang="0">
                  <a:pos x="61" y="117"/>
                </a:cxn>
                <a:cxn ang="0">
                  <a:pos x="60" y="116"/>
                </a:cxn>
              </a:cxnLst>
              <a:rect l="0" t="0" r="r" b="b"/>
              <a:pathLst>
                <a:path w="121" h="122">
                  <a:moveTo>
                    <a:pt x="60" y="116"/>
                  </a:moveTo>
                  <a:lnTo>
                    <a:pt x="56" y="113"/>
                  </a:lnTo>
                  <a:lnTo>
                    <a:pt x="42" y="107"/>
                  </a:lnTo>
                  <a:lnTo>
                    <a:pt x="37" y="92"/>
                  </a:lnTo>
                  <a:lnTo>
                    <a:pt x="33" y="86"/>
                  </a:lnTo>
                  <a:lnTo>
                    <a:pt x="30" y="83"/>
                  </a:lnTo>
                  <a:lnTo>
                    <a:pt x="19" y="74"/>
                  </a:lnTo>
                  <a:lnTo>
                    <a:pt x="9" y="56"/>
                  </a:lnTo>
                  <a:lnTo>
                    <a:pt x="0" y="38"/>
                  </a:lnTo>
                  <a:lnTo>
                    <a:pt x="23" y="44"/>
                  </a:lnTo>
                  <a:lnTo>
                    <a:pt x="37" y="30"/>
                  </a:lnTo>
                  <a:lnTo>
                    <a:pt x="54" y="17"/>
                  </a:lnTo>
                  <a:lnTo>
                    <a:pt x="59" y="6"/>
                  </a:lnTo>
                  <a:lnTo>
                    <a:pt x="71" y="2"/>
                  </a:lnTo>
                  <a:lnTo>
                    <a:pt x="83" y="0"/>
                  </a:lnTo>
                  <a:lnTo>
                    <a:pt x="83" y="7"/>
                  </a:lnTo>
                  <a:lnTo>
                    <a:pt x="90" y="6"/>
                  </a:lnTo>
                  <a:lnTo>
                    <a:pt x="105" y="13"/>
                  </a:lnTo>
                  <a:lnTo>
                    <a:pt x="121" y="19"/>
                  </a:lnTo>
                  <a:lnTo>
                    <a:pt x="121" y="41"/>
                  </a:lnTo>
                  <a:lnTo>
                    <a:pt x="117" y="56"/>
                  </a:lnTo>
                  <a:lnTo>
                    <a:pt x="120" y="73"/>
                  </a:lnTo>
                  <a:lnTo>
                    <a:pt x="114" y="89"/>
                  </a:lnTo>
                  <a:lnTo>
                    <a:pt x="110" y="103"/>
                  </a:lnTo>
                  <a:lnTo>
                    <a:pt x="101" y="113"/>
                  </a:lnTo>
                  <a:lnTo>
                    <a:pt x="91" y="122"/>
                  </a:lnTo>
                  <a:lnTo>
                    <a:pt x="75" y="120"/>
                  </a:lnTo>
                  <a:lnTo>
                    <a:pt x="61" y="117"/>
                  </a:lnTo>
                  <a:lnTo>
                    <a:pt x="60" y="1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6" name="Freeform 225"/>
            <p:cNvSpPr>
              <a:spLocks/>
            </p:cNvSpPr>
            <p:nvPr/>
          </p:nvSpPr>
          <p:spPr bwMode="auto">
            <a:xfrm>
              <a:off x="920" y="2705"/>
              <a:ext cx="9" cy="18"/>
            </a:xfrm>
            <a:custGeom>
              <a:avLst/>
              <a:gdLst/>
              <a:ahLst/>
              <a:cxnLst>
                <a:cxn ang="0">
                  <a:pos x="0" y="0"/>
                </a:cxn>
                <a:cxn ang="0">
                  <a:pos x="5" y="10"/>
                </a:cxn>
                <a:cxn ang="0">
                  <a:pos x="0" y="16"/>
                </a:cxn>
                <a:cxn ang="0">
                  <a:pos x="10" y="17"/>
                </a:cxn>
                <a:cxn ang="0">
                  <a:pos x="4" y="0"/>
                </a:cxn>
                <a:cxn ang="0">
                  <a:pos x="0" y="0"/>
                </a:cxn>
              </a:cxnLst>
              <a:rect l="0" t="0" r="r" b="b"/>
              <a:pathLst>
                <a:path w="10" h="17">
                  <a:moveTo>
                    <a:pt x="0" y="0"/>
                  </a:moveTo>
                  <a:lnTo>
                    <a:pt x="5" y="10"/>
                  </a:lnTo>
                  <a:lnTo>
                    <a:pt x="0" y="16"/>
                  </a:lnTo>
                  <a:lnTo>
                    <a:pt x="10" y="17"/>
                  </a:lnTo>
                  <a:lnTo>
                    <a:pt x="4" y="0"/>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7" name="Freeform 226"/>
            <p:cNvSpPr>
              <a:spLocks/>
            </p:cNvSpPr>
            <p:nvPr/>
          </p:nvSpPr>
          <p:spPr bwMode="auto">
            <a:xfrm>
              <a:off x="936" y="2716"/>
              <a:ext cx="7" cy="3"/>
            </a:xfrm>
            <a:custGeom>
              <a:avLst/>
              <a:gdLst/>
              <a:ahLst/>
              <a:cxnLst>
                <a:cxn ang="0">
                  <a:pos x="6" y="1"/>
                </a:cxn>
                <a:cxn ang="0">
                  <a:pos x="4" y="1"/>
                </a:cxn>
                <a:cxn ang="0">
                  <a:pos x="0" y="0"/>
                </a:cxn>
                <a:cxn ang="0">
                  <a:pos x="6" y="1"/>
                </a:cxn>
              </a:cxnLst>
              <a:rect l="0" t="0" r="r" b="b"/>
              <a:pathLst>
                <a:path w="6" h="1">
                  <a:moveTo>
                    <a:pt x="6" y="1"/>
                  </a:moveTo>
                  <a:lnTo>
                    <a:pt x="4" y="1"/>
                  </a:lnTo>
                  <a:lnTo>
                    <a:pt x="0" y="0"/>
                  </a:lnTo>
                  <a:lnTo>
                    <a:pt x="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8" name="Freeform 227"/>
            <p:cNvSpPr>
              <a:spLocks/>
            </p:cNvSpPr>
            <p:nvPr/>
          </p:nvSpPr>
          <p:spPr bwMode="auto">
            <a:xfrm>
              <a:off x="1134" y="2516"/>
              <a:ext cx="40" cy="45"/>
            </a:xfrm>
            <a:custGeom>
              <a:avLst/>
              <a:gdLst/>
              <a:ahLst/>
              <a:cxnLst>
                <a:cxn ang="0">
                  <a:pos x="21" y="22"/>
                </a:cxn>
                <a:cxn ang="0">
                  <a:pos x="27" y="22"/>
                </a:cxn>
                <a:cxn ang="0">
                  <a:pos x="25" y="19"/>
                </a:cxn>
                <a:cxn ang="0">
                  <a:pos x="21" y="18"/>
                </a:cxn>
                <a:cxn ang="0">
                  <a:pos x="16" y="13"/>
                </a:cxn>
                <a:cxn ang="0">
                  <a:pos x="5" y="8"/>
                </a:cxn>
                <a:cxn ang="0">
                  <a:pos x="0" y="4"/>
                </a:cxn>
                <a:cxn ang="0">
                  <a:pos x="0" y="0"/>
                </a:cxn>
                <a:cxn ang="0">
                  <a:pos x="15" y="1"/>
                </a:cxn>
                <a:cxn ang="0">
                  <a:pos x="25" y="8"/>
                </a:cxn>
                <a:cxn ang="0">
                  <a:pos x="36" y="14"/>
                </a:cxn>
                <a:cxn ang="0">
                  <a:pos x="36" y="28"/>
                </a:cxn>
                <a:cxn ang="0">
                  <a:pos x="30" y="33"/>
                </a:cxn>
                <a:cxn ang="0">
                  <a:pos x="27" y="40"/>
                </a:cxn>
                <a:cxn ang="0">
                  <a:pos x="23" y="34"/>
                </a:cxn>
                <a:cxn ang="0">
                  <a:pos x="21" y="22"/>
                </a:cxn>
              </a:cxnLst>
              <a:rect l="0" t="0" r="r" b="b"/>
              <a:pathLst>
                <a:path w="36" h="40">
                  <a:moveTo>
                    <a:pt x="21" y="22"/>
                  </a:moveTo>
                  <a:lnTo>
                    <a:pt x="27" y="22"/>
                  </a:lnTo>
                  <a:lnTo>
                    <a:pt x="25" y="19"/>
                  </a:lnTo>
                  <a:lnTo>
                    <a:pt x="21" y="18"/>
                  </a:lnTo>
                  <a:lnTo>
                    <a:pt x="16" y="13"/>
                  </a:lnTo>
                  <a:lnTo>
                    <a:pt x="5" y="8"/>
                  </a:lnTo>
                  <a:lnTo>
                    <a:pt x="0" y="4"/>
                  </a:lnTo>
                  <a:lnTo>
                    <a:pt x="0" y="0"/>
                  </a:lnTo>
                  <a:lnTo>
                    <a:pt x="15" y="1"/>
                  </a:lnTo>
                  <a:lnTo>
                    <a:pt x="25" y="8"/>
                  </a:lnTo>
                  <a:lnTo>
                    <a:pt x="36" y="14"/>
                  </a:lnTo>
                  <a:lnTo>
                    <a:pt x="36" y="28"/>
                  </a:lnTo>
                  <a:lnTo>
                    <a:pt x="30" y="33"/>
                  </a:lnTo>
                  <a:lnTo>
                    <a:pt x="27" y="40"/>
                  </a:lnTo>
                  <a:lnTo>
                    <a:pt x="23" y="34"/>
                  </a:lnTo>
                  <a:lnTo>
                    <a:pt x="21" y="2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9" name="Freeform 228"/>
            <p:cNvSpPr>
              <a:spLocks/>
            </p:cNvSpPr>
            <p:nvPr/>
          </p:nvSpPr>
          <p:spPr bwMode="auto">
            <a:xfrm>
              <a:off x="1569" y="2590"/>
              <a:ext cx="53" cy="73"/>
            </a:xfrm>
            <a:custGeom>
              <a:avLst/>
              <a:gdLst/>
              <a:ahLst/>
              <a:cxnLst>
                <a:cxn ang="0">
                  <a:pos x="36" y="18"/>
                </a:cxn>
                <a:cxn ang="0">
                  <a:pos x="21" y="3"/>
                </a:cxn>
                <a:cxn ang="0">
                  <a:pos x="11" y="0"/>
                </a:cxn>
                <a:cxn ang="0">
                  <a:pos x="7" y="7"/>
                </a:cxn>
                <a:cxn ang="0">
                  <a:pos x="2" y="21"/>
                </a:cxn>
                <a:cxn ang="0">
                  <a:pos x="8" y="44"/>
                </a:cxn>
                <a:cxn ang="0">
                  <a:pos x="0" y="61"/>
                </a:cxn>
                <a:cxn ang="0">
                  <a:pos x="9" y="63"/>
                </a:cxn>
                <a:cxn ang="0">
                  <a:pos x="25" y="65"/>
                </a:cxn>
                <a:cxn ang="0">
                  <a:pos x="36" y="48"/>
                </a:cxn>
                <a:cxn ang="0">
                  <a:pos x="47" y="31"/>
                </a:cxn>
                <a:cxn ang="0">
                  <a:pos x="42" y="20"/>
                </a:cxn>
                <a:cxn ang="0">
                  <a:pos x="42" y="24"/>
                </a:cxn>
                <a:cxn ang="0">
                  <a:pos x="36" y="18"/>
                </a:cxn>
              </a:cxnLst>
              <a:rect l="0" t="0" r="r" b="b"/>
              <a:pathLst>
                <a:path w="47" h="65">
                  <a:moveTo>
                    <a:pt x="36" y="18"/>
                  </a:moveTo>
                  <a:lnTo>
                    <a:pt x="21" y="3"/>
                  </a:lnTo>
                  <a:lnTo>
                    <a:pt x="11" y="0"/>
                  </a:lnTo>
                  <a:lnTo>
                    <a:pt x="7" y="7"/>
                  </a:lnTo>
                  <a:lnTo>
                    <a:pt x="2" y="21"/>
                  </a:lnTo>
                  <a:lnTo>
                    <a:pt x="8" y="44"/>
                  </a:lnTo>
                  <a:lnTo>
                    <a:pt x="0" y="61"/>
                  </a:lnTo>
                  <a:lnTo>
                    <a:pt x="9" y="63"/>
                  </a:lnTo>
                  <a:lnTo>
                    <a:pt x="25" y="65"/>
                  </a:lnTo>
                  <a:lnTo>
                    <a:pt x="36" y="48"/>
                  </a:lnTo>
                  <a:lnTo>
                    <a:pt x="47" y="31"/>
                  </a:lnTo>
                  <a:lnTo>
                    <a:pt x="42" y="20"/>
                  </a:lnTo>
                  <a:lnTo>
                    <a:pt x="42" y="24"/>
                  </a:lnTo>
                  <a:lnTo>
                    <a:pt x="36"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0" name="Freeform 229"/>
            <p:cNvSpPr>
              <a:spLocks/>
            </p:cNvSpPr>
            <p:nvPr/>
          </p:nvSpPr>
          <p:spPr bwMode="auto">
            <a:xfrm>
              <a:off x="1140" y="2459"/>
              <a:ext cx="214" cy="331"/>
            </a:xfrm>
            <a:custGeom>
              <a:avLst/>
              <a:gdLst/>
              <a:ahLst/>
              <a:cxnLst>
                <a:cxn ang="0">
                  <a:pos x="76" y="28"/>
                </a:cxn>
                <a:cxn ang="0">
                  <a:pos x="69" y="25"/>
                </a:cxn>
                <a:cxn ang="0">
                  <a:pos x="56" y="53"/>
                </a:cxn>
                <a:cxn ang="0">
                  <a:pos x="35" y="79"/>
                </a:cxn>
                <a:cxn ang="0">
                  <a:pos x="29" y="66"/>
                </a:cxn>
                <a:cxn ang="0">
                  <a:pos x="23" y="85"/>
                </a:cxn>
                <a:cxn ang="0">
                  <a:pos x="24" y="100"/>
                </a:cxn>
                <a:cxn ang="0">
                  <a:pos x="24" y="124"/>
                </a:cxn>
                <a:cxn ang="0">
                  <a:pos x="27" y="150"/>
                </a:cxn>
                <a:cxn ang="0">
                  <a:pos x="18" y="173"/>
                </a:cxn>
                <a:cxn ang="0">
                  <a:pos x="5" y="187"/>
                </a:cxn>
                <a:cxn ang="0">
                  <a:pos x="2" y="197"/>
                </a:cxn>
                <a:cxn ang="0">
                  <a:pos x="24" y="215"/>
                </a:cxn>
                <a:cxn ang="0">
                  <a:pos x="58" y="224"/>
                </a:cxn>
                <a:cxn ang="0">
                  <a:pos x="68" y="232"/>
                </a:cxn>
                <a:cxn ang="0">
                  <a:pos x="89" y="254"/>
                </a:cxn>
                <a:cxn ang="0">
                  <a:pos x="112" y="263"/>
                </a:cxn>
                <a:cxn ang="0">
                  <a:pos x="140" y="269"/>
                </a:cxn>
                <a:cxn ang="0">
                  <a:pos x="143" y="298"/>
                </a:cxn>
                <a:cxn ang="0">
                  <a:pos x="150" y="247"/>
                </a:cxn>
                <a:cxn ang="0">
                  <a:pos x="141" y="211"/>
                </a:cxn>
                <a:cxn ang="0">
                  <a:pos x="155" y="206"/>
                </a:cxn>
                <a:cxn ang="0">
                  <a:pos x="144" y="191"/>
                </a:cxn>
                <a:cxn ang="0">
                  <a:pos x="171" y="191"/>
                </a:cxn>
                <a:cxn ang="0">
                  <a:pos x="173" y="191"/>
                </a:cxn>
                <a:cxn ang="0">
                  <a:pos x="188" y="199"/>
                </a:cxn>
                <a:cxn ang="0">
                  <a:pos x="188" y="186"/>
                </a:cxn>
                <a:cxn ang="0">
                  <a:pos x="184" y="163"/>
                </a:cxn>
                <a:cxn ang="0">
                  <a:pos x="180" y="126"/>
                </a:cxn>
                <a:cxn ang="0">
                  <a:pos x="171" y="112"/>
                </a:cxn>
                <a:cxn ang="0">
                  <a:pos x="143" y="96"/>
                </a:cxn>
                <a:cxn ang="0">
                  <a:pos x="118" y="95"/>
                </a:cxn>
                <a:cxn ang="0">
                  <a:pos x="107" y="78"/>
                </a:cxn>
                <a:cxn ang="0">
                  <a:pos x="93" y="58"/>
                </a:cxn>
                <a:cxn ang="0">
                  <a:pos x="108" y="28"/>
                </a:cxn>
                <a:cxn ang="0">
                  <a:pos x="128" y="10"/>
                </a:cxn>
                <a:cxn ang="0">
                  <a:pos x="119" y="1"/>
                </a:cxn>
                <a:cxn ang="0">
                  <a:pos x="90" y="19"/>
                </a:cxn>
              </a:cxnLst>
              <a:rect l="0" t="0" r="r" b="b"/>
              <a:pathLst>
                <a:path w="191" h="298">
                  <a:moveTo>
                    <a:pt x="81" y="20"/>
                  </a:moveTo>
                  <a:lnTo>
                    <a:pt x="76" y="28"/>
                  </a:lnTo>
                  <a:lnTo>
                    <a:pt x="77" y="25"/>
                  </a:lnTo>
                  <a:lnTo>
                    <a:pt x="69" y="25"/>
                  </a:lnTo>
                  <a:lnTo>
                    <a:pt x="57" y="40"/>
                  </a:lnTo>
                  <a:lnTo>
                    <a:pt x="56" y="53"/>
                  </a:lnTo>
                  <a:lnTo>
                    <a:pt x="38" y="70"/>
                  </a:lnTo>
                  <a:lnTo>
                    <a:pt x="35" y="79"/>
                  </a:lnTo>
                  <a:lnTo>
                    <a:pt x="33" y="71"/>
                  </a:lnTo>
                  <a:lnTo>
                    <a:pt x="29" y="66"/>
                  </a:lnTo>
                  <a:lnTo>
                    <a:pt x="29" y="80"/>
                  </a:lnTo>
                  <a:lnTo>
                    <a:pt x="23" y="85"/>
                  </a:lnTo>
                  <a:lnTo>
                    <a:pt x="20" y="92"/>
                  </a:lnTo>
                  <a:lnTo>
                    <a:pt x="24" y="100"/>
                  </a:lnTo>
                  <a:lnTo>
                    <a:pt x="28" y="116"/>
                  </a:lnTo>
                  <a:lnTo>
                    <a:pt x="24" y="124"/>
                  </a:lnTo>
                  <a:lnTo>
                    <a:pt x="26" y="137"/>
                  </a:lnTo>
                  <a:lnTo>
                    <a:pt x="27" y="150"/>
                  </a:lnTo>
                  <a:lnTo>
                    <a:pt x="29" y="152"/>
                  </a:lnTo>
                  <a:lnTo>
                    <a:pt x="18" y="173"/>
                  </a:lnTo>
                  <a:lnTo>
                    <a:pt x="9" y="178"/>
                  </a:lnTo>
                  <a:lnTo>
                    <a:pt x="5" y="187"/>
                  </a:lnTo>
                  <a:lnTo>
                    <a:pt x="0" y="190"/>
                  </a:lnTo>
                  <a:lnTo>
                    <a:pt x="2" y="197"/>
                  </a:lnTo>
                  <a:lnTo>
                    <a:pt x="15" y="206"/>
                  </a:lnTo>
                  <a:lnTo>
                    <a:pt x="24" y="215"/>
                  </a:lnTo>
                  <a:lnTo>
                    <a:pt x="40" y="215"/>
                  </a:lnTo>
                  <a:lnTo>
                    <a:pt x="58" y="224"/>
                  </a:lnTo>
                  <a:lnTo>
                    <a:pt x="59" y="223"/>
                  </a:lnTo>
                  <a:lnTo>
                    <a:pt x="68" y="232"/>
                  </a:lnTo>
                  <a:lnTo>
                    <a:pt x="77" y="240"/>
                  </a:lnTo>
                  <a:lnTo>
                    <a:pt x="89" y="254"/>
                  </a:lnTo>
                  <a:lnTo>
                    <a:pt x="92" y="263"/>
                  </a:lnTo>
                  <a:lnTo>
                    <a:pt x="112" y="263"/>
                  </a:lnTo>
                  <a:lnTo>
                    <a:pt x="124" y="264"/>
                  </a:lnTo>
                  <a:lnTo>
                    <a:pt x="140" y="269"/>
                  </a:lnTo>
                  <a:lnTo>
                    <a:pt x="134" y="290"/>
                  </a:lnTo>
                  <a:lnTo>
                    <a:pt x="143" y="298"/>
                  </a:lnTo>
                  <a:lnTo>
                    <a:pt x="147" y="272"/>
                  </a:lnTo>
                  <a:lnTo>
                    <a:pt x="150" y="247"/>
                  </a:lnTo>
                  <a:lnTo>
                    <a:pt x="144" y="228"/>
                  </a:lnTo>
                  <a:lnTo>
                    <a:pt x="141" y="211"/>
                  </a:lnTo>
                  <a:lnTo>
                    <a:pt x="152" y="211"/>
                  </a:lnTo>
                  <a:lnTo>
                    <a:pt x="155" y="206"/>
                  </a:lnTo>
                  <a:lnTo>
                    <a:pt x="147" y="203"/>
                  </a:lnTo>
                  <a:lnTo>
                    <a:pt x="144" y="191"/>
                  </a:lnTo>
                  <a:lnTo>
                    <a:pt x="158" y="191"/>
                  </a:lnTo>
                  <a:lnTo>
                    <a:pt x="171" y="191"/>
                  </a:lnTo>
                  <a:lnTo>
                    <a:pt x="170" y="188"/>
                  </a:lnTo>
                  <a:lnTo>
                    <a:pt x="173" y="191"/>
                  </a:lnTo>
                  <a:lnTo>
                    <a:pt x="183" y="184"/>
                  </a:lnTo>
                  <a:lnTo>
                    <a:pt x="188" y="199"/>
                  </a:lnTo>
                  <a:lnTo>
                    <a:pt x="191" y="200"/>
                  </a:lnTo>
                  <a:lnTo>
                    <a:pt x="188" y="186"/>
                  </a:lnTo>
                  <a:lnTo>
                    <a:pt x="179" y="172"/>
                  </a:lnTo>
                  <a:lnTo>
                    <a:pt x="184" y="163"/>
                  </a:lnTo>
                  <a:lnTo>
                    <a:pt x="177" y="140"/>
                  </a:lnTo>
                  <a:lnTo>
                    <a:pt x="180" y="126"/>
                  </a:lnTo>
                  <a:lnTo>
                    <a:pt x="184" y="110"/>
                  </a:lnTo>
                  <a:lnTo>
                    <a:pt x="171" y="112"/>
                  </a:lnTo>
                  <a:lnTo>
                    <a:pt x="156" y="113"/>
                  </a:lnTo>
                  <a:lnTo>
                    <a:pt x="143" y="96"/>
                  </a:lnTo>
                  <a:lnTo>
                    <a:pt x="130" y="96"/>
                  </a:lnTo>
                  <a:lnTo>
                    <a:pt x="118" y="95"/>
                  </a:lnTo>
                  <a:lnTo>
                    <a:pt x="107" y="89"/>
                  </a:lnTo>
                  <a:lnTo>
                    <a:pt x="107" y="78"/>
                  </a:lnTo>
                  <a:lnTo>
                    <a:pt x="99" y="58"/>
                  </a:lnTo>
                  <a:lnTo>
                    <a:pt x="93" y="58"/>
                  </a:lnTo>
                  <a:lnTo>
                    <a:pt x="100" y="42"/>
                  </a:lnTo>
                  <a:lnTo>
                    <a:pt x="108" y="28"/>
                  </a:lnTo>
                  <a:lnTo>
                    <a:pt x="117" y="12"/>
                  </a:lnTo>
                  <a:lnTo>
                    <a:pt x="128" y="10"/>
                  </a:lnTo>
                  <a:lnTo>
                    <a:pt x="130" y="0"/>
                  </a:lnTo>
                  <a:lnTo>
                    <a:pt x="119" y="1"/>
                  </a:lnTo>
                  <a:lnTo>
                    <a:pt x="105" y="11"/>
                  </a:lnTo>
                  <a:lnTo>
                    <a:pt x="90" y="19"/>
                  </a:lnTo>
                  <a:lnTo>
                    <a:pt x="81" y="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1" name="Freeform 230"/>
            <p:cNvSpPr>
              <a:spLocks/>
            </p:cNvSpPr>
            <p:nvPr/>
          </p:nvSpPr>
          <p:spPr bwMode="auto">
            <a:xfrm>
              <a:off x="1454" y="2534"/>
              <a:ext cx="82" cy="145"/>
            </a:xfrm>
            <a:custGeom>
              <a:avLst/>
              <a:gdLst/>
              <a:ahLst/>
              <a:cxnLst>
                <a:cxn ang="0">
                  <a:pos x="60" y="94"/>
                </a:cxn>
                <a:cxn ang="0">
                  <a:pos x="53" y="84"/>
                </a:cxn>
                <a:cxn ang="0">
                  <a:pos x="54" y="69"/>
                </a:cxn>
                <a:cxn ang="0">
                  <a:pos x="61" y="64"/>
                </a:cxn>
                <a:cxn ang="0">
                  <a:pos x="64" y="56"/>
                </a:cxn>
                <a:cxn ang="0">
                  <a:pos x="64" y="41"/>
                </a:cxn>
                <a:cxn ang="0">
                  <a:pos x="47" y="30"/>
                </a:cxn>
                <a:cxn ang="0">
                  <a:pos x="43" y="38"/>
                </a:cxn>
                <a:cxn ang="0">
                  <a:pos x="45" y="20"/>
                </a:cxn>
                <a:cxn ang="0">
                  <a:pos x="35" y="12"/>
                </a:cxn>
                <a:cxn ang="0">
                  <a:pos x="27" y="4"/>
                </a:cxn>
                <a:cxn ang="0">
                  <a:pos x="30" y="6"/>
                </a:cxn>
                <a:cxn ang="0">
                  <a:pos x="23" y="0"/>
                </a:cxn>
                <a:cxn ang="0">
                  <a:pos x="25" y="5"/>
                </a:cxn>
                <a:cxn ang="0">
                  <a:pos x="11" y="18"/>
                </a:cxn>
                <a:cxn ang="0">
                  <a:pos x="17" y="26"/>
                </a:cxn>
                <a:cxn ang="0">
                  <a:pos x="6" y="33"/>
                </a:cxn>
                <a:cxn ang="0">
                  <a:pos x="0" y="46"/>
                </a:cxn>
                <a:cxn ang="0">
                  <a:pos x="9" y="60"/>
                </a:cxn>
                <a:cxn ang="0">
                  <a:pos x="18" y="60"/>
                </a:cxn>
                <a:cxn ang="0">
                  <a:pos x="19" y="70"/>
                </a:cxn>
                <a:cxn ang="0">
                  <a:pos x="27" y="80"/>
                </a:cxn>
                <a:cxn ang="0">
                  <a:pos x="22" y="95"/>
                </a:cxn>
                <a:cxn ang="0">
                  <a:pos x="24" y="117"/>
                </a:cxn>
                <a:cxn ang="0">
                  <a:pos x="34" y="130"/>
                </a:cxn>
                <a:cxn ang="0">
                  <a:pos x="43" y="130"/>
                </a:cxn>
                <a:cxn ang="0">
                  <a:pos x="59" y="122"/>
                </a:cxn>
                <a:cxn ang="0">
                  <a:pos x="76" y="119"/>
                </a:cxn>
                <a:cxn ang="0">
                  <a:pos x="69" y="106"/>
                </a:cxn>
                <a:cxn ang="0">
                  <a:pos x="60" y="94"/>
                </a:cxn>
              </a:cxnLst>
              <a:rect l="0" t="0" r="r" b="b"/>
              <a:pathLst>
                <a:path w="76" h="130">
                  <a:moveTo>
                    <a:pt x="60" y="94"/>
                  </a:moveTo>
                  <a:lnTo>
                    <a:pt x="53" y="84"/>
                  </a:lnTo>
                  <a:lnTo>
                    <a:pt x="54" y="69"/>
                  </a:lnTo>
                  <a:lnTo>
                    <a:pt x="61" y="64"/>
                  </a:lnTo>
                  <a:lnTo>
                    <a:pt x="64" y="56"/>
                  </a:lnTo>
                  <a:lnTo>
                    <a:pt x="64" y="41"/>
                  </a:lnTo>
                  <a:lnTo>
                    <a:pt x="47" y="30"/>
                  </a:lnTo>
                  <a:lnTo>
                    <a:pt x="43" y="38"/>
                  </a:lnTo>
                  <a:lnTo>
                    <a:pt x="45" y="20"/>
                  </a:lnTo>
                  <a:lnTo>
                    <a:pt x="35" y="12"/>
                  </a:lnTo>
                  <a:lnTo>
                    <a:pt x="27" y="4"/>
                  </a:lnTo>
                  <a:lnTo>
                    <a:pt x="30" y="6"/>
                  </a:lnTo>
                  <a:lnTo>
                    <a:pt x="23" y="0"/>
                  </a:lnTo>
                  <a:lnTo>
                    <a:pt x="25" y="5"/>
                  </a:lnTo>
                  <a:lnTo>
                    <a:pt x="11" y="18"/>
                  </a:lnTo>
                  <a:lnTo>
                    <a:pt x="17" y="26"/>
                  </a:lnTo>
                  <a:lnTo>
                    <a:pt x="6" y="33"/>
                  </a:lnTo>
                  <a:lnTo>
                    <a:pt x="0" y="46"/>
                  </a:lnTo>
                  <a:lnTo>
                    <a:pt x="9" y="60"/>
                  </a:lnTo>
                  <a:lnTo>
                    <a:pt x="18" y="60"/>
                  </a:lnTo>
                  <a:lnTo>
                    <a:pt x="19" y="70"/>
                  </a:lnTo>
                  <a:lnTo>
                    <a:pt x="27" y="80"/>
                  </a:lnTo>
                  <a:lnTo>
                    <a:pt x="22" y="95"/>
                  </a:lnTo>
                  <a:lnTo>
                    <a:pt x="24" y="117"/>
                  </a:lnTo>
                  <a:lnTo>
                    <a:pt x="34" y="130"/>
                  </a:lnTo>
                  <a:lnTo>
                    <a:pt x="43" y="130"/>
                  </a:lnTo>
                  <a:lnTo>
                    <a:pt x="59" y="122"/>
                  </a:lnTo>
                  <a:lnTo>
                    <a:pt x="76" y="119"/>
                  </a:lnTo>
                  <a:lnTo>
                    <a:pt x="69" y="106"/>
                  </a:lnTo>
                  <a:lnTo>
                    <a:pt x="60" y="9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2" name="Freeform 231"/>
            <p:cNvSpPr>
              <a:spLocks/>
            </p:cNvSpPr>
            <p:nvPr/>
          </p:nvSpPr>
          <p:spPr bwMode="auto">
            <a:xfrm>
              <a:off x="1511" y="2587"/>
              <a:ext cx="69" cy="83"/>
            </a:xfrm>
            <a:custGeom>
              <a:avLst/>
              <a:gdLst/>
              <a:ahLst/>
              <a:cxnLst>
                <a:cxn ang="0">
                  <a:pos x="7" y="46"/>
                </a:cxn>
                <a:cxn ang="0">
                  <a:pos x="0" y="36"/>
                </a:cxn>
                <a:cxn ang="0">
                  <a:pos x="1" y="21"/>
                </a:cxn>
                <a:cxn ang="0">
                  <a:pos x="8" y="16"/>
                </a:cxn>
                <a:cxn ang="0">
                  <a:pos x="11" y="8"/>
                </a:cxn>
                <a:cxn ang="0">
                  <a:pos x="14" y="0"/>
                </a:cxn>
                <a:cxn ang="0">
                  <a:pos x="32" y="2"/>
                </a:cxn>
                <a:cxn ang="0">
                  <a:pos x="47" y="0"/>
                </a:cxn>
                <a:cxn ang="0">
                  <a:pos x="61" y="2"/>
                </a:cxn>
                <a:cxn ang="0">
                  <a:pos x="60" y="10"/>
                </a:cxn>
                <a:cxn ang="0">
                  <a:pos x="55" y="24"/>
                </a:cxn>
                <a:cxn ang="0">
                  <a:pos x="61" y="47"/>
                </a:cxn>
                <a:cxn ang="0">
                  <a:pos x="53" y="64"/>
                </a:cxn>
                <a:cxn ang="0">
                  <a:pos x="43" y="60"/>
                </a:cxn>
                <a:cxn ang="0">
                  <a:pos x="29" y="64"/>
                </a:cxn>
                <a:cxn ang="0">
                  <a:pos x="30" y="74"/>
                </a:cxn>
                <a:cxn ang="0">
                  <a:pos x="23" y="71"/>
                </a:cxn>
                <a:cxn ang="0">
                  <a:pos x="16" y="58"/>
                </a:cxn>
                <a:cxn ang="0">
                  <a:pos x="7" y="46"/>
                </a:cxn>
              </a:cxnLst>
              <a:rect l="0" t="0" r="r" b="b"/>
              <a:pathLst>
                <a:path w="61" h="74">
                  <a:moveTo>
                    <a:pt x="7" y="46"/>
                  </a:moveTo>
                  <a:lnTo>
                    <a:pt x="0" y="36"/>
                  </a:lnTo>
                  <a:lnTo>
                    <a:pt x="1" y="21"/>
                  </a:lnTo>
                  <a:lnTo>
                    <a:pt x="8" y="16"/>
                  </a:lnTo>
                  <a:lnTo>
                    <a:pt x="11" y="8"/>
                  </a:lnTo>
                  <a:lnTo>
                    <a:pt x="14" y="0"/>
                  </a:lnTo>
                  <a:lnTo>
                    <a:pt x="32" y="2"/>
                  </a:lnTo>
                  <a:lnTo>
                    <a:pt x="47" y="0"/>
                  </a:lnTo>
                  <a:lnTo>
                    <a:pt x="61" y="2"/>
                  </a:lnTo>
                  <a:lnTo>
                    <a:pt x="60" y="10"/>
                  </a:lnTo>
                  <a:lnTo>
                    <a:pt x="55" y="24"/>
                  </a:lnTo>
                  <a:lnTo>
                    <a:pt x="61" y="47"/>
                  </a:lnTo>
                  <a:lnTo>
                    <a:pt x="53" y="64"/>
                  </a:lnTo>
                  <a:lnTo>
                    <a:pt x="43" y="60"/>
                  </a:lnTo>
                  <a:lnTo>
                    <a:pt x="29" y="64"/>
                  </a:lnTo>
                  <a:lnTo>
                    <a:pt x="30" y="74"/>
                  </a:lnTo>
                  <a:lnTo>
                    <a:pt x="23" y="71"/>
                  </a:lnTo>
                  <a:lnTo>
                    <a:pt x="16" y="58"/>
                  </a:lnTo>
                  <a:lnTo>
                    <a:pt x="7"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3" name="Freeform 232"/>
            <p:cNvSpPr>
              <a:spLocks/>
            </p:cNvSpPr>
            <p:nvPr/>
          </p:nvSpPr>
          <p:spPr bwMode="auto">
            <a:xfrm>
              <a:off x="1447" y="2490"/>
              <a:ext cx="15" cy="13"/>
            </a:xfrm>
            <a:custGeom>
              <a:avLst/>
              <a:gdLst/>
              <a:ahLst/>
              <a:cxnLst>
                <a:cxn ang="0">
                  <a:pos x="4" y="0"/>
                </a:cxn>
                <a:cxn ang="0">
                  <a:pos x="15" y="0"/>
                </a:cxn>
                <a:cxn ang="0">
                  <a:pos x="10" y="12"/>
                </a:cxn>
                <a:cxn ang="0">
                  <a:pos x="0" y="11"/>
                </a:cxn>
                <a:cxn ang="0">
                  <a:pos x="6" y="3"/>
                </a:cxn>
                <a:cxn ang="0">
                  <a:pos x="4" y="0"/>
                </a:cxn>
              </a:cxnLst>
              <a:rect l="0" t="0" r="r" b="b"/>
              <a:pathLst>
                <a:path w="15" h="12">
                  <a:moveTo>
                    <a:pt x="4" y="0"/>
                  </a:moveTo>
                  <a:lnTo>
                    <a:pt x="15" y="0"/>
                  </a:lnTo>
                  <a:lnTo>
                    <a:pt x="10" y="12"/>
                  </a:lnTo>
                  <a:lnTo>
                    <a:pt x="0" y="11"/>
                  </a:lnTo>
                  <a:lnTo>
                    <a:pt x="6" y="3"/>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4" name="Freeform 233"/>
            <p:cNvSpPr>
              <a:spLocks/>
            </p:cNvSpPr>
            <p:nvPr/>
          </p:nvSpPr>
          <p:spPr bwMode="auto">
            <a:xfrm>
              <a:off x="1242" y="2463"/>
              <a:ext cx="238" cy="227"/>
            </a:xfrm>
            <a:custGeom>
              <a:avLst/>
              <a:gdLst/>
              <a:ahLst/>
              <a:cxnLst>
                <a:cxn ang="0">
                  <a:pos x="176" y="42"/>
                </a:cxn>
                <a:cxn ang="0">
                  <a:pos x="167" y="38"/>
                </a:cxn>
                <a:cxn ang="0">
                  <a:pos x="165" y="32"/>
                </a:cxn>
                <a:cxn ang="0">
                  <a:pos x="164" y="27"/>
                </a:cxn>
                <a:cxn ang="0">
                  <a:pos x="153" y="30"/>
                </a:cxn>
                <a:cxn ang="0">
                  <a:pos x="115" y="30"/>
                </a:cxn>
                <a:cxn ang="0">
                  <a:pos x="86" y="30"/>
                </a:cxn>
                <a:cxn ang="0">
                  <a:pos x="63" y="12"/>
                </a:cxn>
                <a:cxn ang="0">
                  <a:pos x="53" y="7"/>
                </a:cxn>
                <a:cxn ang="0">
                  <a:pos x="56" y="12"/>
                </a:cxn>
                <a:cxn ang="0">
                  <a:pos x="32" y="24"/>
                </a:cxn>
                <a:cxn ang="0">
                  <a:pos x="30" y="56"/>
                </a:cxn>
                <a:cxn ang="0">
                  <a:pos x="29" y="28"/>
                </a:cxn>
                <a:cxn ang="0">
                  <a:pos x="35" y="6"/>
                </a:cxn>
                <a:cxn ang="0">
                  <a:pos x="15" y="24"/>
                </a:cxn>
                <a:cxn ang="0">
                  <a:pos x="0" y="54"/>
                </a:cxn>
                <a:cxn ang="0">
                  <a:pos x="14" y="74"/>
                </a:cxn>
                <a:cxn ang="0">
                  <a:pos x="25" y="91"/>
                </a:cxn>
                <a:cxn ang="0">
                  <a:pos x="50" y="92"/>
                </a:cxn>
                <a:cxn ang="0">
                  <a:pos x="78" y="108"/>
                </a:cxn>
                <a:cxn ang="0">
                  <a:pos x="87" y="122"/>
                </a:cxn>
                <a:cxn ang="0">
                  <a:pos x="91" y="159"/>
                </a:cxn>
                <a:cxn ang="0">
                  <a:pos x="95" y="182"/>
                </a:cxn>
                <a:cxn ang="0">
                  <a:pos x="111" y="204"/>
                </a:cxn>
                <a:cxn ang="0">
                  <a:pos x="122" y="205"/>
                </a:cxn>
                <a:cxn ang="0">
                  <a:pos x="152" y="180"/>
                </a:cxn>
                <a:cxn ang="0">
                  <a:pos x="145" y="171"/>
                </a:cxn>
                <a:cxn ang="0">
                  <a:pos x="134" y="141"/>
                </a:cxn>
                <a:cxn ang="0">
                  <a:pos x="165" y="152"/>
                </a:cxn>
                <a:cxn ang="0">
                  <a:pos x="181" y="140"/>
                </a:cxn>
                <a:cxn ang="0">
                  <a:pos x="198" y="124"/>
                </a:cxn>
                <a:cxn ang="0">
                  <a:pos x="188" y="110"/>
                </a:cxn>
                <a:cxn ang="0">
                  <a:pos x="205" y="90"/>
                </a:cxn>
                <a:cxn ang="0">
                  <a:pos x="213" y="69"/>
                </a:cxn>
                <a:cxn ang="0">
                  <a:pos x="195" y="64"/>
                </a:cxn>
                <a:cxn ang="0">
                  <a:pos x="189" y="63"/>
                </a:cxn>
                <a:cxn ang="0">
                  <a:pos x="198" y="51"/>
                </a:cxn>
                <a:cxn ang="0">
                  <a:pos x="182" y="43"/>
                </a:cxn>
                <a:cxn ang="0">
                  <a:pos x="177" y="44"/>
                </a:cxn>
              </a:cxnLst>
              <a:rect l="0" t="0" r="r" b="b"/>
              <a:pathLst>
                <a:path w="213" h="205">
                  <a:moveTo>
                    <a:pt x="177" y="44"/>
                  </a:moveTo>
                  <a:lnTo>
                    <a:pt x="176" y="42"/>
                  </a:lnTo>
                  <a:lnTo>
                    <a:pt x="173" y="37"/>
                  </a:lnTo>
                  <a:lnTo>
                    <a:pt x="167" y="38"/>
                  </a:lnTo>
                  <a:lnTo>
                    <a:pt x="170" y="37"/>
                  </a:lnTo>
                  <a:lnTo>
                    <a:pt x="165" y="32"/>
                  </a:lnTo>
                  <a:lnTo>
                    <a:pt x="181" y="27"/>
                  </a:lnTo>
                  <a:lnTo>
                    <a:pt x="164" y="27"/>
                  </a:lnTo>
                  <a:lnTo>
                    <a:pt x="147" y="27"/>
                  </a:lnTo>
                  <a:lnTo>
                    <a:pt x="153" y="30"/>
                  </a:lnTo>
                  <a:lnTo>
                    <a:pt x="137" y="37"/>
                  </a:lnTo>
                  <a:lnTo>
                    <a:pt x="115" y="30"/>
                  </a:lnTo>
                  <a:lnTo>
                    <a:pt x="101" y="30"/>
                  </a:lnTo>
                  <a:lnTo>
                    <a:pt x="86" y="30"/>
                  </a:lnTo>
                  <a:lnTo>
                    <a:pt x="80" y="19"/>
                  </a:lnTo>
                  <a:lnTo>
                    <a:pt x="63" y="12"/>
                  </a:lnTo>
                  <a:lnTo>
                    <a:pt x="56" y="0"/>
                  </a:lnTo>
                  <a:lnTo>
                    <a:pt x="53" y="7"/>
                  </a:lnTo>
                  <a:lnTo>
                    <a:pt x="60" y="12"/>
                  </a:lnTo>
                  <a:lnTo>
                    <a:pt x="56" y="12"/>
                  </a:lnTo>
                  <a:lnTo>
                    <a:pt x="35" y="20"/>
                  </a:lnTo>
                  <a:lnTo>
                    <a:pt x="32" y="24"/>
                  </a:lnTo>
                  <a:lnTo>
                    <a:pt x="36" y="46"/>
                  </a:lnTo>
                  <a:lnTo>
                    <a:pt x="30" y="56"/>
                  </a:lnTo>
                  <a:lnTo>
                    <a:pt x="20" y="43"/>
                  </a:lnTo>
                  <a:lnTo>
                    <a:pt x="29" y="28"/>
                  </a:lnTo>
                  <a:lnTo>
                    <a:pt x="25" y="13"/>
                  </a:lnTo>
                  <a:lnTo>
                    <a:pt x="35" y="6"/>
                  </a:lnTo>
                  <a:lnTo>
                    <a:pt x="24" y="8"/>
                  </a:lnTo>
                  <a:lnTo>
                    <a:pt x="15" y="24"/>
                  </a:lnTo>
                  <a:lnTo>
                    <a:pt x="7" y="38"/>
                  </a:lnTo>
                  <a:lnTo>
                    <a:pt x="0" y="54"/>
                  </a:lnTo>
                  <a:lnTo>
                    <a:pt x="6" y="54"/>
                  </a:lnTo>
                  <a:lnTo>
                    <a:pt x="14" y="74"/>
                  </a:lnTo>
                  <a:lnTo>
                    <a:pt x="14" y="85"/>
                  </a:lnTo>
                  <a:lnTo>
                    <a:pt x="25" y="91"/>
                  </a:lnTo>
                  <a:lnTo>
                    <a:pt x="37" y="92"/>
                  </a:lnTo>
                  <a:lnTo>
                    <a:pt x="50" y="92"/>
                  </a:lnTo>
                  <a:lnTo>
                    <a:pt x="63" y="109"/>
                  </a:lnTo>
                  <a:lnTo>
                    <a:pt x="78" y="108"/>
                  </a:lnTo>
                  <a:lnTo>
                    <a:pt x="91" y="106"/>
                  </a:lnTo>
                  <a:lnTo>
                    <a:pt x="87" y="122"/>
                  </a:lnTo>
                  <a:lnTo>
                    <a:pt x="84" y="136"/>
                  </a:lnTo>
                  <a:lnTo>
                    <a:pt x="91" y="159"/>
                  </a:lnTo>
                  <a:lnTo>
                    <a:pt x="86" y="168"/>
                  </a:lnTo>
                  <a:lnTo>
                    <a:pt x="95" y="182"/>
                  </a:lnTo>
                  <a:lnTo>
                    <a:pt x="98" y="196"/>
                  </a:lnTo>
                  <a:lnTo>
                    <a:pt x="111" y="204"/>
                  </a:lnTo>
                  <a:lnTo>
                    <a:pt x="120" y="204"/>
                  </a:lnTo>
                  <a:lnTo>
                    <a:pt x="122" y="205"/>
                  </a:lnTo>
                  <a:lnTo>
                    <a:pt x="138" y="193"/>
                  </a:lnTo>
                  <a:lnTo>
                    <a:pt x="152" y="180"/>
                  </a:lnTo>
                  <a:lnTo>
                    <a:pt x="155" y="175"/>
                  </a:lnTo>
                  <a:lnTo>
                    <a:pt x="145" y="171"/>
                  </a:lnTo>
                  <a:lnTo>
                    <a:pt x="140" y="151"/>
                  </a:lnTo>
                  <a:lnTo>
                    <a:pt x="134" y="141"/>
                  </a:lnTo>
                  <a:lnTo>
                    <a:pt x="150" y="147"/>
                  </a:lnTo>
                  <a:lnTo>
                    <a:pt x="165" y="152"/>
                  </a:lnTo>
                  <a:lnTo>
                    <a:pt x="168" y="146"/>
                  </a:lnTo>
                  <a:lnTo>
                    <a:pt x="181" y="140"/>
                  </a:lnTo>
                  <a:lnTo>
                    <a:pt x="194" y="134"/>
                  </a:lnTo>
                  <a:lnTo>
                    <a:pt x="198" y="124"/>
                  </a:lnTo>
                  <a:lnTo>
                    <a:pt x="197" y="124"/>
                  </a:lnTo>
                  <a:lnTo>
                    <a:pt x="188" y="110"/>
                  </a:lnTo>
                  <a:lnTo>
                    <a:pt x="194" y="97"/>
                  </a:lnTo>
                  <a:lnTo>
                    <a:pt x="205" y="90"/>
                  </a:lnTo>
                  <a:lnTo>
                    <a:pt x="199" y="82"/>
                  </a:lnTo>
                  <a:lnTo>
                    <a:pt x="213" y="69"/>
                  </a:lnTo>
                  <a:lnTo>
                    <a:pt x="211" y="64"/>
                  </a:lnTo>
                  <a:lnTo>
                    <a:pt x="195" y="64"/>
                  </a:lnTo>
                  <a:lnTo>
                    <a:pt x="185" y="64"/>
                  </a:lnTo>
                  <a:lnTo>
                    <a:pt x="189" y="63"/>
                  </a:lnTo>
                  <a:lnTo>
                    <a:pt x="194" y="55"/>
                  </a:lnTo>
                  <a:lnTo>
                    <a:pt x="198" y="51"/>
                  </a:lnTo>
                  <a:lnTo>
                    <a:pt x="188" y="43"/>
                  </a:lnTo>
                  <a:lnTo>
                    <a:pt x="182" y="43"/>
                  </a:lnTo>
                  <a:lnTo>
                    <a:pt x="176" y="39"/>
                  </a:lnTo>
                  <a:lnTo>
                    <a:pt x="177" y="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5" name="Freeform 234"/>
            <p:cNvSpPr>
              <a:spLocks/>
            </p:cNvSpPr>
            <p:nvPr/>
          </p:nvSpPr>
          <p:spPr bwMode="auto">
            <a:xfrm>
              <a:off x="1405" y="2483"/>
              <a:ext cx="9" cy="4"/>
            </a:xfrm>
            <a:custGeom>
              <a:avLst/>
              <a:gdLst/>
              <a:ahLst/>
              <a:cxnLst>
                <a:cxn ang="0">
                  <a:pos x="8" y="2"/>
                </a:cxn>
                <a:cxn ang="0">
                  <a:pos x="0" y="0"/>
                </a:cxn>
                <a:cxn ang="0">
                  <a:pos x="8" y="2"/>
                </a:cxn>
              </a:cxnLst>
              <a:rect l="0" t="0" r="r" b="b"/>
              <a:pathLst>
                <a:path w="8" h="2">
                  <a:moveTo>
                    <a:pt x="8" y="2"/>
                  </a:moveTo>
                  <a:lnTo>
                    <a:pt x="0" y="0"/>
                  </a:lnTo>
                  <a:lnTo>
                    <a:pt x="8"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6" name="Freeform 235"/>
            <p:cNvSpPr>
              <a:spLocks/>
            </p:cNvSpPr>
            <p:nvPr/>
          </p:nvSpPr>
          <p:spPr bwMode="auto">
            <a:xfrm>
              <a:off x="1307" y="2454"/>
              <a:ext cx="2" cy="2"/>
            </a:xfrm>
            <a:custGeom>
              <a:avLst/>
              <a:gdLst/>
              <a:ahLst/>
              <a:cxnLst>
                <a:cxn ang="0">
                  <a:pos x="0" y="0"/>
                </a:cxn>
                <a:cxn ang="0">
                  <a:pos x="0" y="1"/>
                </a:cxn>
                <a:cxn ang="0">
                  <a:pos x="3" y="4"/>
                </a:cxn>
                <a:cxn ang="0">
                  <a:pos x="0" y="0"/>
                </a:cxn>
              </a:cxnLst>
              <a:rect l="0" t="0" r="r" b="b"/>
              <a:pathLst>
                <a:path w="3" h="4">
                  <a:moveTo>
                    <a:pt x="0" y="0"/>
                  </a:moveTo>
                  <a:lnTo>
                    <a:pt x="0" y="1"/>
                  </a:lnTo>
                  <a:lnTo>
                    <a:pt x="3" y="4"/>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7" name="Freeform 236"/>
            <p:cNvSpPr>
              <a:spLocks/>
            </p:cNvSpPr>
            <p:nvPr/>
          </p:nvSpPr>
          <p:spPr bwMode="auto">
            <a:xfrm>
              <a:off x="1449" y="2461"/>
              <a:ext cx="5" cy="4"/>
            </a:xfrm>
            <a:custGeom>
              <a:avLst/>
              <a:gdLst/>
              <a:ahLst/>
              <a:cxnLst>
                <a:cxn ang="0">
                  <a:pos x="2" y="3"/>
                </a:cxn>
                <a:cxn ang="0">
                  <a:pos x="2" y="2"/>
                </a:cxn>
                <a:cxn ang="0">
                  <a:pos x="2" y="0"/>
                </a:cxn>
                <a:cxn ang="0">
                  <a:pos x="1" y="0"/>
                </a:cxn>
                <a:cxn ang="0">
                  <a:pos x="1" y="2"/>
                </a:cxn>
                <a:cxn ang="0">
                  <a:pos x="0" y="2"/>
                </a:cxn>
                <a:cxn ang="0">
                  <a:pos x="0" y="3"/>
                </a:cxn>
                <a:cxn ang="0">
                  <a:pos x="0" y="4"/>
                </a:cxn>
                <a:cxn ang="0">
                  <a:pos x="1" y="4"/>
                </a:cxn>
                <a:cxn ang="0">
                  <a:pos x="2" y="4"/>
                </a:cxn>
                <a:cxn ang="0">
                  <a:pos x="2" y="3"/>
                </a:cxn>
              </a:cxnLst>
              <a:rect l="0" t="0" r="r" b="b"/>
              <a:pathLst>
                <a:path w="2" h="4">
                  <a:moveTo>
                    <a:pt x="2" y="3"/>
                  </a:moveTo>
                  <a:lnTo>
                    <a:pt x="2" y="2"/>
                  </a:lnTo>
                  <a:lnTo>
                    <a:pt x="2" y="0"/>
                  </a:lnTo>
                  <a:lnTo>
                    <a:pt x="1" y="0"/>
                  </a:lnTo>
                  <a:lnTo>
                    <a:pt x="1" y="2"/>
                  </a:lnTo>
                  <a:lnTo>
                    <a:pt x="0" y="2"/>
                  </a:lnTo>
                  <a:lnTo>
                    <a:pt x="0" y="3"/>
                  </a:lnTo>
                  <a:lnTo>
                    <a:pt x="0" y="4"/>
                  </a:lnTo>
                  <a:lnTo>
                    <a:pt x="1" y="4"/>
                  </a:lnTo>
                  <a:lnTo>
                    <a:pt x="2" y="4"/>
                  </a:lnTo>
                  <a:lnTo>
                    <a:pt x="2"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8" name="Freeform 237"/>
            <p:cNvSpPr>
              <a:spLocks/>
            </p:cNvSpPr>
            <p:nvPr/>
          </p:nvSpPr>
          <p:spPr bwMode="auto">
            <a:xfrm>
              <a:off x="1634" y="3723"/>
              <a:ext cx="26" cy="20"/>
            </a:xfrm>
            <a:custGeom>
              <a:avLst/>
              <a:gdLst/>
              <a:ahLst/>
              <a:cxnLst>
                <a:cxn ang="0">
                  <a:pos x="23" y="7"/>
                </a:cxn>
                <a:cxn ang="0">
                  <a:pos x="18" y="3"/>
                </a:cxn>
                <a:cxn ang="0">
                  <a:pos x="14" y="3"/>
                </a:cxn>
                <a:cxn ang="0">
                  <a:pos x="11" y="2"/>
                </a:cxn>
                <a:cxn ang="0">
                  <a:pos x="5" y="0"/>
                </a:cxn>
                <a:cxn ang="0">
                  <a:pos x="5" y="6"/>
                </a:cxn>
                <a:cxn ang="0">
                  <a:pos x="0" y="12"/>
                </a:cxn>
                <a:cxn ang="0">
                  <a:pos x="5" y="17"/>
                </a:cxn>
                <a:cxn ang="0">
                  <a:pos x="8" y="14"/>
                </a:cxn>
                <a:cxn ang="0">
                  <a:pos x="10" y="13"/>
                </a:cxn>
                <a:cxn ang="0">
                  <a:pos x="10" y="11"/>
                </a:cxn>
                <a:cxn ang="0">
                  <a:pos x="23" y="7"/>
                </a:cxn>
              </a:cxnLst>
              <a:rect l="0" t="0" r="r" b="b"/>
              <a:pathLst>
                <a:path w="23" h="17">
                  <a:moveTo>
                    <a:pt x="23" y="7"/>
                  </a:moveTo>
                  <a:lnTo>
                    <a:pt x="18" y="3"/>
                  </a:lnTo>
                  <a:lnTo>
                    <a:pt x="14" y="3"/>
                  </a:lnTo>
                  <a:lnTo>
                    <a:pt x="11" y="2"/>
                  </a:lnTo>
                  <a:lnTo>
                    <a:pt x="5" y="0"/>
                  </a:lnTo>
                  <a:lnTo>
                    <a:pt x="5" y="6"/>
                  </a:lnTo>
                  <a:lnTo>
                    <a:pt x="0" y="12"/>
                  </a:lnTo>
                  <a:lnTo>
                    <a:pt x="5" y="17"/>
                  </a:lnTo>
                  <a:lnTo>
                    <a:pt x="8" y="14"/>
                  </a:lnTo>
                  <a:lnTo>
                    <a:pt x="10" y="13"/>
                  </a:lnTo>
                  <a:lnTo>
                    <a:pt x="10" y="11"/>
                  </a:lnTo>
                  <a:lnTo>
                    <a:pt x="23"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9" name="Freeform 238"/>
            <p:cNvSpPr>
              <a:spLocks/>
            </p:cNvSpPr>
            <p:nvPr/>
          </p:nvSpPr>
          <p:spPr bwMode="auto">
            <a:xfrm>
              <a:off x="1616" y="3725"/>
              <a:ext cx="20" cy="16"/>
            </a:xfrm>
            <a:custGeom>
              <a:avLst/>
              <a:gdLst/>
              <a:ahLst/>
              <a:cxnLst>
                <a:cxn ang="0">
                  <a:pos x="4" y="6"/>
                </a:cxn>
                <a:cxn ang="0">
                  <a:pos x="1" y="1"/>
                </a:cxn>
                <a:cxn ang="0">
                  <a:pos x="18" y="0"/>
                </a:cxn>
                <a:cxn ang="0">
                  <a:pos x="9" y="10"/>
                </a:cxn>
                <a:cxn ang="0">
                  <a:pos x="0" y="13"/>
                </a:cxn>
                <a:cxn ang="0">
                  <a:pos x="4" y="8"/>
                </a:cxn>
                <a:cxn ang="0">
                  <a:pos x="2" y="6"/>
                </a:cxn>
                <a:cxn ang="0">
                  <a:pos x="4" y="6"/>
                </a:cxn>
              </a:cxnLst>
              <a:rect l="0" t="0" r="r" b="b"/>
              <a:pathLst>
                <a:path w="18" h="13">
                  <a:moveTo>
                    <a:pt x="4" y="6"/>
                  </a:moveTo>
                  <a:lnTo>
                    <a:pt x="1" y="1"/>
                  </a:lnTo>
                  <a:lnTo>
                    <a:pt x="18" y="0"/>
                  </a:lnTo>
                  <a:lnTo>
                    <a:pt x="9" y="10"/>
                  </a:lnTo>
                  <a:lnTo>
                    <a:pt x="0" y="13"/>
                  </a:lnTo>
                  <a:lnTo>
                    <a:pt x="4" y="8"/>
                  </a:lnTo>
                  <a:lnTo>
                    <a:pt x="2" y="6"/>
                  </a:lnTo>
                  <a:lnTo>
                    <a:pt x="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0" name="Freeform 239"/>
            <p:cNvSpPr>
              <a:spLocks/>
            </p:cNvSpPr>
            <p:nvPr/>
          </p:nvSpPr>
          <p:spPr bwMode="auto">
            <a:xfrm>
              <a:off x="1314" y="2901"/>
              <a:ext cx="220" cy="260"/>
            </a:xfrm>
            <a:custGeom>
              <a:avLst/>
              <a:gdLst/>
              <a:ahLst/>
              <a:cxnLst>
                <a:cxn ang="0">
                  <a:pos x="132" y="186"/>
                </a:cxn>
                <a:cxn ang="0">
                  <a:pos x="129" y="205"/>
                </a:cxn>
                <a:cxn ang="0">
                  <a:pos x="125" y="225"/>
                </a:cxn>
                <a:cxn ang="0">
                  <a:pos x="121" y="220"/>
                </a:cxn>
                <a:cxn ang="0">
                  <a:pos x="103" y="223"/>
                </a:cxn>
                <a:cxn ang="0">
                  <a:pos x="99" y="233"/>
                </a:cxn>
                <a:cxn ang="0">
                  <a:pos x="91" y="222"/>
                </a:cxn>
                <a:cxn ang="0">
                  <a:pos x="72" y="219"/>
                </a:cxn>
                <a:cxn ang="0">
                  <a:pos x="69" y="216"/>
                </a:cxn>
                <a:cxn ang="0">
                  <a:pos x="55" y="234"/>
                </a:cxn>
                <a:cxn ang="0">
                  <a:pos x="45" y="233"/>
                </a:cxn>
                <a:cxn ang="0">
                  <a:pos x="39" y="217"/>
                </a:cxn>
                <a:cxn ang="0">
                  <a:pos x="31" y="201"/>
                </a:cxn>
                <a:cxn ang="0">
                  <a:pos x="27" y="185"/>
                </a:cxn>
                <a:cxn ang="0">
                  <a:pos x="28" y="172"/>
                </a:cxn>
                <a:cxn ang="0">
                  <a:pos x="19" y="160"/>
                </a:cxn>
                <a:cxn ang="0">
                  <a:pos x="15" y="148"/>
                </a:cxn>
                <a:cxn ang="0">
                  <a:pos x="10" y="139"/>
                </a:cxn>
                <a:cxn ang="0">
                  <a:pos x="10" y="132"/>
                </a:cxn>
                <a:cxn ang="0">
                  <a:pos x="17" y="117"/>
                </a:cxn>
                <a:cxn ang="0">
                  <a:pos x="12" y="115"/>
                </a:cxn>
                <a:cxn ang="0">
                  <a:pos x="10" y="100"/>
                </a:cxn>
                <a:cxn ang="0">
                  <a:pos x="10" y="85"/>
                </a:cxn>
                <a:cxn ang="0">
                  <a:pos x="13" y="76"/>
                </a:cxn>
                <a:cxn ang="0">
                  <a:pos x="13" y="54"/>
                </a:cxn>
                <a:cxn ang="0">
                  <a:pos x="16" y="49"/>
                </a:cxn>
                <a:cxn ang="0">
                  <a:pos x="7" y="35"/>
                </a:cxn>
                <a:cxn ang="0">
                  <a:pos x="0" y="22"/>
                </a:cxn>
                <a:cxn ang="0">
                  <a:pos x="19" y="22"/>
                </a:cxn>
                <a:cxn ang="0">
                  <a:pos x="27" y="17"/>
                </a:cxn>
                <a:cxn ang="0">
                  <a:pos x="40" y="9"/>
                </a:cxn>
                <a:cxn ang="0">
                  <a:pos x="53" y="0"/>
                </a:cxn>
                <a:cxn ang="0">
                  <a:pos x="66" y="1"/>
                </a:cxn>
                <a:cxn ang="0">
                  <a:pos x="67" y="17"/>
                </a:cxn>
                <a:cxn ang="0">
                  <a:pos x="69" y="31"/>
                </a:cxn>
                <a:cxn ang="0">
                  <a:pos x="81" y="45"/>
                </a:cxn>
                <a:cxn ang="0">
                  <a:pos x="93" y="49"/>
                </a:cxn>
                <a:cxn ang="0">
                  <a:pos x="106" y="55"/>
                </a:cxn>
                <a:cxn ang="0">
                  <a:pos x="124" y="67"/>
                </a:cxn>
                <a:cxn ang="0">
                  <a:pos x="142" y="71"/>
                </a:cxn>
                <a:cxn ang="0">
                  <a:pos x="147" y="78"/>
                </a:cxn>
                <a:cxn ang="0">
                  <a:pos x="149" y="96"/>
                </a:cxn>
                <a:cxn ang="0">
                  <a:pos x="145" y="96"/>
                </a:cxn>
                <a:cxn ang="0">
                  <a:pos x="151" y="103"/>
                </a:cxn>
                <a:cxn ang="0">
                  <a:pos x="154" y="117"/>
                </a:cxn>
                <a:cxn ang="0">
                  <a:pos x="168" y="119"/>
                </a:cxn>
                <a:cxn ang="0">
                  <a:pos x="183" y="120"/>
                </a:cxn>
                <a:cxn ang="0">
                  <a:pos x="185" y="136"/>
                </a:cxn>
                <a:cxn ang="0">
                  <a:pos x="195" y="145"/>
                </a:cxn>
                <a:cxn ang="0">
                  <a:pos x="198" y="153"/>
                </a:cxn>
                <a:cxn ang="0">
                  <a:pos x="195" y="166"/>
                </a:cxn>
                <a:cxn ang="0">
                  <a:pos x="191" y="179"/>
                </a:cxn>
                <a:cxn ang="0">
                  <a:pos x="193" y="185"/>
                </a:cxn>
                <a:cxn ang="0">
                  <a:pos x="191" y="187"/>
                </a:cxn>
                <a:cxn ang="0">
                  <a:pos x="191" y="184"/>
                </a:cxn>
                <a:cxn ang="0">
                  <a:pos x="175" y="173"/>
                </a:cxn>
                <a:cxn ang="0">
                  <a:pos x="155" y="175"/>
                </a:cxn>
                <a:cxn ang="0">
                  <a:pos x="135" y="178"/>
                </a:cxn>
                <a:cxn ang="0">
                  <a:pos x="132" y="186"/>
                </a:cxn>
              </a:cxnLst>
              <a:rect l="0" t="0" r="r" b="b"/>
              <a:pathLst>
                <a:path w="198" h="234">
                  <a:moveTo>
                    <a:pt x="132" y="186"/>
                  </a:moveTo>
                  <a:lnTo>
                    <a:pt x="129" y="205"/>
                  </a:lnTo>
                  <a:lnTo>
                    <a:pt x="125" y="225"/>
                  </a:lnTo>
                  <a:lnTo>
                    <a:pt x="121" y="220"/>
                  </a:lnTo>
                  <a:lnTo>
                    <a:pt x="103" y="223"/>
                  </a:lnTo>
                  <a:lnTo>
                    <a:pt x="99" y="233"/>
                  </a:lnTo>
                  <a:lnTo>
                    <a:pt x="91" y="222"/>
                  </a:lnTo>
                  <a:lnTo>
                    <a:pt x="72" y="219"/>
                  </a:lnTo>
                  <a:lnTo>
                    <a:pt x="69" y="216"/>
                  </a:lnTo>
                  <a:lnTo>
                    <a:pt x="55" y="234"/>
                  </a:lnTo>
                  <a:lnTo>
                    <a:pt x="45" y="233"/>
                  </a:lnTo>
                  <a:lnTo>
                    <a:pt x="39" y="217"/>
                  </a:lnTo>
                  <a:lnTo>
                    <a:pt x="31" y="201"/>
                  </a:lnTo>
                  <a:lnTo>
                    <a:pt x="27" y="185"/>
                  </a:lnTo>
                  <a:lnTo>
                    <a:pt x="28" y="172"/>
                  </a:lnTo>
                  <a:lnTo>
                    <a:pt x="19" y="160"/>
                  </a:lnTo>
                  <a:lnTo>
                    <a:pt x="15" y="148"/>
                  </a:lnTo>
                  <a:lnTo>
                    <a:pt x="10" y="139"/>
                  </a:lnTo>
                  <a:lnTo>
                    <a:pt x="10" y="132"/>
                  </a:lnTo>
                  <a:lnTo>
                    <a:pt x="17" y="117"/>
                  </a:lnTo>
                  <a:lnTo>
                    <a:pt x="12" y="115"/>
                  </a:lnTo>
                  <a:lnTo>
                    <a:pt x="10" y="100"/>
                  </a:lnTo>
                  <a:lnTo>
                    <a:pt x="10" y="85"/>
                  </a:lnTo>
                  <a:lnTo>
                    <a:pt x="13" y="76"/>
                  </a:lnTo>
                  <a:lnTo>
                    <a:pt x="13" y="54"/>
                  </a:lnTo>
                  <a:lnTo>
                    <a:pt x="16" y="49"/>
                  </a:lnTo>
                  <a:lnTo>
                    <a:pt x="7" y="35"/>
                  </a:lnTo>
                  <a:lnTo>
                    <a:pt x="0" y="22"/>
                  </a:lnTo>
                  <a:lnTo>
                    <a:pt x="19" y="22"/>
                  </a:lnTo>
                  <a:lnTo>
                    <a:pt x="27" y="17"/>
                  </a:lnTo>
                  <a:lnTo>
                    <a:pt x="40" y="9"/>
                  </a:lnTo>
                  <a:lnTo>
                    <a:pt x="53" y="0"/>
                  </a:lnTo>
                  <a:lnTo>
                    <a:pt x="66" y="1"/>
                  </a:lnTo>
                  <a:lnTo>
                    <a:pt x="67" y="17"/>
                  </a:lnTo>
                  <a:lnTo>
                    <a:pt x="69" y="31"/>
                  </a:lnTo>
                  <a:lnTo>
                    <a:pt x="81" y="45"/>
                  </a:lnTo>
                  <a:lnTo>
                    <a:pt x="93" y="49"/>
                  </a:lnTo>
                  <a:lnTo>
                    <a:pt x="106" y="55"/>
                  </a:lnTo>
                  <a:lnTo>
                    <a:pt x="124" y="67"/>
                  </a:lnTo>
                  <a:lnTo>
                    <a:pt x="142" y="71"/>
                  </a:lnTo>
                  <a:lnTo>
                    <a:pt x="147" y="78"/>
                  </a:lnTo>
                  <a:lnTo>
                    <a:pt x="149" y="96"/>
                  </a:lnTo>
                  <a:lnTo>
                    <a:pt x="145" y="96"/>
                  </a:lnTo>
                  <a:lnTo>
                    <a:pt x="151" y="103"/>
                  </a:lnTo>
                  <a:lnTo>
                    <a:pt x="154" y="117"/>
                  </a:lnTo>
                  <a:lnTo>
                    <a:pt x="168" y="119"/>
                  </a:lnTo>
                  <a:lnTo>
                    <a:pt x="183" y="120"/>
                  </a:lnTo>
                  <a:lnTo>
                    <a:pt x="185" y="136"/>
                  </a:lnTo>
                  <a:lnTo>
                    <a:pt x="195" y="145"/>
                  </a:lnTo>
                  <a:lnTo>
                    <a:pt x="198" y="153"/>
                  </a:lnTo>
                  <a:lnTo>
                    <a:pt x="195" y="166"/>
                  </a:lnTo>
                  <a:lnTo>
                    <a:pt x="191" y="179"/>
                  </a:lnTo>
                  <a:lnTo>
                    <a:pt x="193" y="185"/>
                  </a:lnTo>
                  <a:lnTo>
                    <a:pt x="191" y="187"/>
                  </a:lnTo>
                  <a:lnTo>
                    <a:pt x="191" y="184"/>
                  </a:lnTo>
                  <a:lnTo>
                    <a:pt x="175" y="173"/>
                  </a:lnTo>
                  <a:lnTo>
                    <a:pt x="155" y="175"/>
                  </a:lnTo>
                  <a:lnTo>
                    <a:pt x="135" y="178"/>
                  </a:lnTo>
                  <a:lnTo>
                    <a:pt x="132" y="18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1" name="Freeform 240"/>
            <p:cNvSpPr>
              <a:spLocks/>
            </p:cNvSpPr>
            <p:nvPr/>
          </p:nvSpPr>
          <p:spPr bwMode="auto">
            <a:xfrm>
              <a:off x="1234" y="2601"/>
              <a:ext cx="686" cy="777"/>
            </a:xfrm>
            <a:custGeom>
              <a:avLst/>
              <a:gdLst/>
              <a:ahLst/>
              <a:cxnLst>
                <a:cxn ang="0">
                  <a:pos x="465" y="137"/>
                </a:cxn>
                <a:cxn ang="0">
                  <a:pos x="456" y="122"/>
                </a:cxn>
                <a:cxn ang="0">
                  <a:pos x="436" y="113"/>
                </a:cxn>
                <a:cxn ang="0">
                  <a:pos x="415" y="107"/>
                </a:cxn>
                <a:cxn ang="0">
                  <a:pos x="394" y="125"/>
                </a:cxn>
                <a:cxn ang="0">
                  <a:pos x="373" y="129"/>
                </a:cxn>
                <a:cxn ang="0">
                  <a:pos x="341" y="123"/>
                </a:cxn>
                <a:cxn ang="0">
                  <a:pos x="367" y="83"/>
                </a:cxn>
                <a:cxn ang="0">
                  <a:pos x="363" y="40"/>
                </a:cxn>
                <a:cxn ang="0">
                  <a:pos x="353" y="21"/>
                </a:cxn>
                <a:cxn ang="0">
                  <a:pos x="329" y="56"/>
                </a:cxn>
                <a:cxn ang="0">
                  <a:pos x="280" y="52"/>
                </a:cxn>
                <a:cxn ang="0">
                  <a:pos x="241" y="70"/>
                </a:cxn>
                <a:cxn ang="0">
                  <a:pos x="225" y="20"/>
                </a:cxn>
                <a:cxn ang="0">
                  <a:pos x="208" y="0"/>
                </a:cxn>
                <a:cxn ang="0">
                  <a:pos x="175" y="28"/>
                </a:cxn>
                <a:cxn ang="0">
                  <a:pos x="155" y="47"/>
                </a:cxn>
                <a:cxn ang="0">
                  <a:pos x="132" y="81"/>
                </a:cxn>
                <a:cxn ang="0">
                  <a:pos x="105" y="71"/>
                </a:cxn>
                <a:cxn ang="0">
                  <a:pos x="88" y="63"/>
                </a:cxn>
                <a:cxn ang="0">
                  <a:pos x="72" y="78"/>
                </a:cxn>
                <a:cxn ang="0">
                  <a:pos x="67" y="119"/>
                </a:cxn>
                <a:cxn ang="0">
                  <a:pos x="42" y="173"/>
                </a:cxn>
                <a:cxn ang="0">
                  <a:pos x="9" y="213"/>
                </a:cxn>
                <a:cxn ang="0">
                  <a:pos x="13" y="262"/>
                </a:cxn>
                <a:cxn ang="0">
                  <a:pos x="53" y="264"/>
                </a:cxn>
                <a:cxn ang="0">
                  <a:pos x="91" y="291"/>
                </a:cxn>
                <a:cxn ang="0">
                  <a:pos x="138" y="270"/>
                </a:cxn>
                <a:cxn ang="0">
                  <a:pos x="165" y="318"/>
                </a:cxn>
                <a:cxn ang="0">
                  <a:pos x="219" y="347"/>
                </a:cxn>
                <a:cxn ang="0">
                  <a:pos x="226" y="386"/>
                </a:cxn>
                <a:cxn ang="0">
                  <a:pos x="267" y="414"/>
                </a:cxn>
                <a:cxn ang="0">
                  <a:pos x="265" y="454"/>
                </a:cxn>
                <a:cxn ang="0">
                  <a:pos x="291" y="492"/>
                </a:cxn>
                <a:cxn ang="0">
                  <a:pos x="321" y="524"/>
                </a:cxn>
                <a:cxn ang="0">
                  <a:pos x="337" y="554"/>
                </a:cxn>
                <a:cxn ang="0">
                  <a:pos x="317" y="605"/>
                </a:cxn>
                <a:cxn ang="0">
                  <a:pos x="300" y="635"/>
                </a:cxn>
                <a:cxn ang="0">
                  <a:pos x="349" y="668"/>
                </a:cxn>
                <a:cxn ang="0">
                  <a:pos x="373" y="689"/>
                </a:cxn>
                <a:cxn ang="0">
                  <a:pos x="390" y="647"/>
                </a:cxn>
                <a:cxn ang="0">
                  <a:pos x="394" y="652"/>
                </a:cxn>
                <a:cxn ang="0">
                  <a:pos x="394" y="656"/>
                </a:cxn>
                <a:cxn ang="0">
                  <a:pos x="421" y="604"/>
                </a:cxn>
                <a:cxn ang="0">
                  <a:pos x="419" y="564"/>
                </a:cxn>
                <a:cxn ang="0">
                  <a:pos x="425" y="550"/>
                </a:cxn>
                <a:cxn ang="0">
                  <a:pos x="478" y="512"/>
                </a:cxn>
                <a:cxn ang="0">
                  <a:pos x="499" y="504"/>
                </a:cxn>
                <a:cxn ang="0">
                  <a:pos x="533" y="489"/>
                </a:cxn>
                <a:cxn ang="0">
                  <a:pos x="552" y="417"/>
                </a:cxn>
                <a:cxn ang="0">
                  <a:pos x="557" y="359"/>
                </a:cxn>
                <a:cxn ang="0">
                  <a:pos x="562" y="322"/>
                </a:cxn>
                <a:cxn ang="0">
                  <a:pos x="580" y="298"/>
                </a:cxn>
                <a:cxn ang="0">
                  <a:pos x="616" y="248"/>
                </a:cxn>
                <a:cxn ang="0">
                  <a:pos x="592" y="184"/>
                </a:cxn>
                <a:cxn ang="0">
                  <a:pos x="523" y="144"/>
                </a:cxn>
                <a:cxn ang="0">
                  <a:pos x="468" y="143"/>
                </a:cxn>
              </a:cxnLst>
              <a:rect l="0" t="0" r="r" b="b"/>
              <a:pathLst>
                <a:path w="618" h="700">
                  <a:moveTo>
                    <a:pt x="469" y="137"/>
                  </a:moveTo>
                  <a:lnTo>
                    <a:pt x="467" y="140"/>
                  </a:lnTo>
                  <a:lnTo>
                    <a:pt x="460" y="152"/>
                  </a:lnTo>
                  <a:lnTo>
                    <a:pt x="465" y="137"/>
                  </a:lnTo>
                  <a:lnTo>
                    <a:pt x="462" y="134"/>
                  </a:lnTo>
                  <a:lnTo>
                    <a:pt x="461" y="135"/>
                  </a:lnTo>
                  <a:lnTo>
                    <a:pt x="462" y="126"/>
                  </a:lnTo>
                  <a:lnTo>
                    <a:pt x="456" y="122"/>
                  </a:lnTo>
                  <a:lnTo>
                    <a:pt x="450" y="122"/>
                  </a:lnTo>
                  <a:lnTo>
                    <a:pt x="449" y="119"/>
                  </a:lnTo>
                  <a:lnTo>
                    <a:pt x="443" y="117"/>
                  </a:lnTo>
                  <a:lnTo>
                    <a:pt x="436" y="113"/>
                  </a:lnTo>
                  <a:lnTo>
                    <a:pt x="430" y="111"/>
                  </a:lnTo>
                  <a:lnTo>
                    <a:pt x="425" y="110"/>
                  </a:lnTo>
                  <a:lnTo>
                    <a:pt x="417" y="105"/>
                  </a:lnTo>
                  <a:lnTo>
                    <a:pt x="415" y="107"/>
                  </a:lnTo>
                  <a:lnTo>
                    <a:pt x="406" y="110"/>
                  </a:lnTo>
                  <a:lnTo>
                    <a:pt x="400" y="120"/>
                  </a:lnTo>
                  <a:lnTo>
                    <a:pt x="400" y="123"/>
                  </a:lnTo>
                  <a:lnTo>
                    <a:pt x="394" y="125"/>
                  </a:lnTo>
                  <a:lnTo>
                    <a:pt x="383" y="141"/>
                  </a:lnTo>
                  <a:lnTo>
                    <a:pt x="384" y="128"/>
                  </a:lnTo>
                  <a:lnTo>
                    <a:pt x="379" y="131"/>
                  </a:lnTo>
                  <a:lnTo>
                    <a:pt x="373" y="129"/>
                  </a:lnTo>
                  <a:lnTo>
                    <a:pt x="369" y="129"/>
                  </a:lnTo>
                  <a:lnTo>
                    <a:pt x="363" y="111"/>
                  </a:lnTo>
                  <a:lnTo>
                    <a:pt x="352" y="117"/>
                  </a:lnTo>
                  <a:lnTo>
                    <a:pt x="341" y="123"/>
                  </a:lnTo>
                  <a:lnTo>
                    <a:pt x="335" y="122"/>
                  </a:lnTo>
                  <a:lnTo>
                    <a:pt x="347" y="114"/>
                  </a:lnTo>
                  <a:lnTo>
                    <a:pt x="357" y="95"/>
                  </a:lnTo>
                  <a:lnTo>
                    <a:pt x="367" y="83"/>
                  </a:lnTo>
                  <a:lnTo>
                    <a:pt x="377" y="71"/>
                  </a:lnTo>
                  <a:lnTo>
                    <a:pt x="373" y="62"/>
                  </a:lnTo>
                  <a:lnTo>
                    <a:pt x="365" y="56"/>
                  </a:lnTo>
                  <a:lnTo>
                    <a:pt x="363" y="40"/>
                  </a:lnTo>
                  <a:lnTo>
                    <a:pt x="359" y="24"/>
                  </a:lnTo>
                  <a:lnTo>
                    <a:pt x="358" y="26"/>
                  </a:lnTo>
                  <a:lnTo>
                    <a:pt x="352" y="17"/>
                  </a:lnTo>
                  <a:lnTo>
                    <a:pt x="353" y="21"/>
                  </a:lnTo>
                  <a:lnTo>
                    <a:pt x="351" y="21"/>
                  </a:lnTo>
                  <a:lnTo>
                    <a:pt x="351" y="22"/>
                  </a:lnTo>
                  <a:lnTo>
                    <a:pt x="340" y="39"/>
                  </a:lnTo>
                  <a:lnTo>
                    <a:pt x="329" y="56"/>
                  </a:lnTo>
                  <a:lnTo>
                    <a:pt x="313" y="54"/>
                  </a:lnTo>
                  <a:lnTo>
                    <a:pt x="304" y="52"/>
                  </a:lnTo>
                  <a:lnTo>
                    <a:pt x="294" y="48"/>
                  </a:lnTo>
                  <a:lnTo>
                    <a:pt x="280" y="52"/>
                  </a:lnTo>
                  <a:lnTo>
                    <a:pt x="281" y="62"/>
                  </a:lnTo>
                  <a:lnTo>
                    <a:pt x="274" y="59"/>
                  </a:lnTo>
                  <a:lnTo>
                    <a:pt x="257" y="62"/>
                  </a:lnTo>
                  <a:lnTo>
                    <a:pt x="241" y="70"/>
                  </a:lnTo>
                  <a:lnTo>
                    <a:pt x="232" y="70"/>
                  </a:lnTo>
                  <a:lnTo>
                    <a:pt x="222" y="57"/>
                  </a:lnTo>
                  <a:lnTo>
                    <a:pt x="220" y="35"/>
                  </a:lnTo>
                  <a:lnTo>
                    <a:pt x="225" y="20"/>
                  </a:lnTo>
                  <a:lnTo>
                    <a:pt x="217" y="10"/>
                  </a:lnTo>
                  <a:lnTo>
                    <a:pt x="216" y="0"/>
                  </a:lnTo>
                  <a:lnTo>
                    <a:pt x="207" y="0"/>
                  </a:lnTo>
                  <a:lnTo>
                    <a:pt x="208" y="0"/>
                  </a:lnTo>
                  <a:lnTo>
                    <a:pt x="204" y="10"/>
                  </a:lnTo>
                  <a:lnTo>
                    <a:pt x="191" y="16"/>
                  </a:lnTo>
                  <a:lnTo>
                    <a:pt x="178" y="22"/>
                  </a:lnTo>
                  <a:lnTo>
                    <a:pt x="175" y="28"/>
                  </a:lnTo>
                  <a:lnTo>
                    <a:pt x="160" y="23"/>
                  </a:lnTo>
                  <a:lnTo>
                    <a:pt x="144" y="17"/>
                  </a:lnTo>
                  <a:lnTo>
                    <a:pt x="150" y="27"/>
                  </a:lnTo>
                  <a:lnTo>
                    <a:pt x="155" y="47"/>
                  </a:lnTo>
                  <a:lnTo>
                    <a:pt x="165" y="51"/>
                  </a:lnTo>
                  <a:lnTo>
                    <a:pt x="162" y="56"/>
                  </a:lnTo>
                  <a:lnTo>
                    <a:pt x="148" y="69"/>
                  </a:lnTo>
                  <a:lnTo>
                    <a:pt x="132" y="81"/>
                  </a:lnTo>
                  <a:lnTo>
                    <a:pt x="130" y="80"/>
                  </a:lnTo>
                  <a:lnTo>
                    <a:pt x="121" y="80"/>
                  </a:lnTo>
                  <a:lnTo>
                    <a:pt x="108" y="72"/>
                  </a:lnTo>
                  <a:lnTo>
                    <a:pt x="105" y="71"/>
                  </a:lnTo>
                  <a:lnTo>
                    <a:pt x="100" y="56"/>
                  </a:lnTo>
                  <a:lnTo>
                    <a:pt x="90" y="63"/>
                  </a:lnTo>
                  <a:lnTo>
                    <a:pt x="87" y="60"/>
                  </a:lnTo>
                  <a:lnTo>
                    <a:pt x="88" y="63"/>
                  </a:lnTo>
                  <a:lnTo>
                    <a:pt x="75" y="63"/>
                  </a:lnTo>
                  <a:lnTo>
                    <a:pt x="61" y="63"/>
                  </a:lnTo>
                  <a:lnTo>
                    <a:pt x="64" y="75"/>
                  </a:lnTo>
                  <a:lnTo>
                    <a:pt x="72" y="78"/>
                  </a:lnTo>
                  <a:lnTo>
                    <a:pt x="69" y="83"/>
                  </a:lnTo>
                  <a:lnTo>
                    <a:pt x="58" y="83"/>
                  </a:lnTo>
                  <a:lnTo>
                    <a:pt x="61" y="100"/>
                  </a:lnTo>
                  <a:lnTo>
                    <a:pt x="67" y="119"/>
                  </a:lnTo>
                  <a:lnTo>
                    <a:pt x="64" y="144"/>
                  </a:lnTo>
                  <a:lnTo>
                    <a:pt x="60" y="170"/>
                  </a:lnTo>
                  <a:lnTo>
                    <a:pt x="55" y="170"/>
                  </a:lnTo>
                  <a:lnTo>
                    <a:pt x="42" y="173"/>
                  </a:lnTo>
                  <a:lnTo>
                    <a:pt x="29" y="179"/>
                  </a:lnTo>
                  <a:lnTo>
                    <a:pt x="17" y="185"/>
                  </a:lnTo>
                  <a:lnTo>
                    <a:pt x="12" y="198"/>
                  </a:lnTo>
                  <a:lnTo>
                    <a:pt x="9" y="213"/>
                  </a:lnTo>
                  <a:lnTo>
                    <a:pt x="0" y="227"/>
                  </a:lnTo>
                  <a:lnTo>
                    <a:pt x="7" y="240"/>
                  </a:lnTo>
                  <a:lnTo>
                    <a:pt x="15" y="254"/>
                  </a:lnTo>
                  <a:lnTo>
                    <a:pt x="13" y="262"/>
                  </a:lnTo>
                  <a:lnTo>
                    <a:pt x="21" y="263"/>
                  </a:lnTo>
                  <a:lnTo>
                    <a:pt x="29" y="270"/>
                  </a:lnTo>
                  <a:lnTo>
                    <a:pt x="42" y="274"/>
                  </a:lnTo>
                  <a:lnTo>
                    <a:pt x="53" y="264"/>
                  </a:lnTo>
                  <a:lnTo>
                    <a:pt x="54" y="279"/>
                  </a:lnTo>
                  <a:lnTo>
                    <a:pt x="55" y="292"/>
                  </a:lnTo>
                  <a:lnTo>
                    <a:pt x="72" y="291"/>
                  </a:lnTo>
                  <a:lnTo>
                    <a:pt x="91" y="291"/>
                  </a:lnTo>
                  <a:lnTo>
                    <a:pt x="99" y="286"/>
                  </a:lnTo>
                  <a:lnTo>
                    <a:pt x="112" y="278"/>
                  </a:lnTo>
                  <a:lnTo>
                    <a:pt x="125" y="269"/>
                  </a:lnTo>
                  <a:lnTo>
                    <a:pt x="138" y="270"/>
                  </a:lnTo>
                  <a:lnTo>
                    <a:pt x="139" y="286"/>
                  </a:lnTo>
                  <a:lnTo>
                    <a:pt x="141" y="300"/>
                  </a:lnTo>
                  <a:lnTo>
                    <a:pt x="153" y="314"/>
                  </a:lnTo>
                  <a:lnTo>
                    <a:pt x="165" y="318"/>
                  </a:lnTo>
                  <a:lnTo>
                    <a:pt x="178" y="324"/>
                  </a:lnTo>
                  <a:lnTo>
                    <a:pt x="196" y="336"/>
                  </a:lnTo>
                  <a:lnTo>
                    <a:pt x="214" y="340"/>
                  </a:lnTo>
                  <a:lnTo>
                    <a:pt x="219" y="347"/>
                  </a:lnTo>
                  <a:lnTo>
                    <a:pt x="221" y="365"/>
                  </a:lnTo>
                  <a:lnTo>
                    <a:pt x="217" y="365"/>
                  </a:lnTo>
                  <a:lnTo>
                    <a:pt x="223" y="372"/>
                  </a:lnTo>
                  <a:lnTo>
                    <a:pt x="226" y="386"/>
                  </a:lnTo>
                  <a:lnTo>
                    <a:pt x="240" y="388"/>
                  </a:lnTo>
                  <a:lnTo>
                    <a:pt x="255" y="389"/>
                  </a:lnTo>
                  <a:lnTo>
                    <a:pt x="257" y="405"/>
                  </a:lnTo>
                  <a:lnTo>
                    <a:pt x="267" y="414"/>
                  </a:lnTo>
                  <a:lnTo>
                    <a:pt x="270" y="422"/>
                  </a:lnTo>
                  <a:lnTo>
                    <a:pt x="267" y="435"/>
                  </a:lnTo>
                  <a:lnTo>
                    <a:pt x="263" y="448"/>
                  </a:lnTo>
                  <a:lnTo>
                    <a:pt x="265" y="454"/>
                  </a:lnTo>
                  <a:lnTo>
                    <a:pt x="263" y="456"/>
                  </a:lnTo>
                  <a:lnTo>
                    <a:pt x="267" y="465"/>
                  </a:lnTo>
                  <a:lnTo>
                    <a:pt x="269" y="490"/>
                  </a:lnTo>
                  <a:lnTo>
                    <a:pt x="291" y="492"/>
                  </a:lnTo>
                  <a:lnTo>
                    <a:pt x="303" y="495"/>
                  </a:lnTo>
                  <a:lnTo>
                    <a:pt x="307" y="509"/>
                  </a:lnTo>
                  <a:lnTo>
                    <a:pt x="312" y="524"/>
                  </a:lnTo>
                  <a:lnTo>
                    <a:pt x="321" y="524"/>
                  </a:lnTo>
                  <a:lnTo>
                    <a:pt x="329" y="525"/>
                  </a:lnTo>
                  <a:lnTo>
                    <a:pt x="328" y="539"/>
                  </a:lnTo>
                  <a:lnTo>
                    <a:pt x="328" y="554"/>
                  </a:lnTo>
                  <a:lnTo>
                    <a:pt x="337" y="554"/>
                  </a:lnTo>
                  <a:lnTo>
                    <a:pt x="345" y="576"/>
                  </a:lnTo>
                  <a:lnTo>
                    <a:pt x="335" y="586"/>
                  </a:lnTo>
                  <a:lnTo>
                    <a:pt x="325" y="594"/>
                  </a:lnTo>
                  <a:lnTo>
                    <a:pt x="317" y="605"/>
                  </a:lnTo>
                  <a:lnTo>
                    <a:pt x="309" y="615"/>
                  </a:lnTo>
                  <a:lnTo>
                    <a:pt x="300" y="626"/>
                  </a:lnTo>
                  <a:lnTo>
                    <a:pt x="292" y="636"/>
                  </a:lnTo>
                  <a:lnTo>
                    <a:pt x="300" y="635"/>
                  </a:lnTo>
                  <a:lnTo>
                    <a:pt x="319" y="650"/>
                  </a:lnTo>
                  <a:lnTo>
                    <a:pt x="323" y="650"/>
                  </a:lnTo>
                  <a:lnTo>
                    <a:pt x="333" y="656"/>
                  </a:lnTo>
                  <a:lnTo>
                    <a:pt x="349" y="668"/>
                  </a:lnTo>
                  <a:lnTo>
                    <a:pt x="365" y="680"/>
                  </a:lnTo>
                  <a:lnTo>
                    <a:pt x="364" y="688"/>
                  </a:lnTo>
                  <a:lnTo>
                    <a:pt x="367" y="700"/>
                  </a:lnTo>
                  <a:lnTo>
                    <a:pt x="373" y="689"/>
                  </a:lnTo>
                  <a:lnTo>
                    <a:pt x="378" y="677"/>
                  </a:lnTo>
                  <a:lnTo>
                    <a:pt x="379" y="666"/>
                  </a:lnTo>
                  <a:lnTo>
                    <a:pt x="384" y="656"/>
                  </a:lnTo>
                  <a:lnTo>
                    <a:pt x="390" y="647"/>
                  </a:lnTo>
                  <a:lnTo>
                    <a:pt x="389" y="636"/>
                  </a:lnTo>
                  <a:lnTo>
                    <a:pt x="396" y="639"/>
                  </a:lnTo>
                  <a:lnTo>
                    <a:pt x="400" y="639"/>
                  </a:lnTo>
                  <a:lnTo>
                    <a:pt x="394" y="652"/>
                  </a:lnTo>
                  <a:lnTo>
                    <a:pt x="387" y="665"/>
                  </a:lnTo>
                  <a:lnTo>
                    <a:pt x="382" y="669"/>
                  </a:lnTo>
                  <a:lnTo>
                    <a:pt x="383" y="670"/>
                  </a:lnTo>
                  <a:lnTo>
                    <a:pt x="394" y="656"/>
                  </a:lnTo>
                  <a:lnTo>
                    <a:pt x="405" y="641"/>
                  </a:lnTo>
                  <a:lnTo>
                    <a:pt x="411" y="627"/>
                  </a:lnTo>
                  <a:lnTo>
                    <a:pt x="417" y="612"/>
                  </a:lnTo>
                  <a:lnTo>
                    <a:pt x="421" y="604"/>
                  </a:lnTo>
                  <a:lnTo>
                    <a:pt x="423" y="604"/>
                  </a:lnTo>
                  <a:lnTo>
                    <a:pt x="423" y="590"/>
                  </a:lnTo>
                  <a:lnTo>
                    <a:pt x="423" y="575"/>
                  </a:lnTo>
                  <a:lnTo>
                    <a:pt x="419" y="564"/>
                  </a:lnTo>
                  <a:lnTo>
                    <a:pt x="419" y="558"/>
                  </a:lnTo>
                  <a:lnTo>
                    <a:pt x="421" y="552"/>
                  </a:lnTo>
                  <a:lnTo>
                    <a:pt x="419" y="551"/>
                  </a:lnTo>
                  <a:lnTo>
                    <a:pt x="425" y="550"/>
                  </a:lnTo>
                  <a:lnTo>
                    <a:pt x="439" y="537"/>
                  </a:lnTo>
                  <a:lnTo>
                    <a:pt x="453" y="524"/>
                  </a:lnTo>
                  <a:lnTo>
                    <a:pt x="466" y="520"/>
                  </a:lnTo>
                  <a:lnTo>
                    <a:pt x="478" y="512"/>
                  </a:lnTo>
                  <a:lnTo>
                    <a:pt x="483" y="507"/>
                  </a:lnTo>
                  <a:lnTo>
                    <a:pt x="493" y="507"/>
                  </a:lnTo>
                  <a:lnTo>
                    <a:pt x="489" y="508"/>
                  </a:lnTo>
                  <a:lnTo>
                    <a:pt x="499" y="504"/>
                  </a:lnTo>
                  <a:lnTo>
                    <a:pt x="502" y="503"/>
                  </a:lnTo>
                  <a:lnTo>
                    <a:pt x="519" y="503"/>
                  </a:lnTo>
                  <a:lnTo>
                    <a:pt x="523" y="494"/>
                  </a:lnTo>
                  <a:lnTo>
                    <a:pt x="533" y="489"/>
                  </a:lnTo>
                  <a:lnTo>
                    <a:pt x="535" y="468"/>
                  </a:lnTo>
                  <a:lnTo>
                    <a:pt x="543" y="454"/>
                  </a:lnTo>
                  <a:lnTo>
                    <a:pt x="550" y="441"/>
                  </a:lnTo>
                  <a:lnTo>
                    <a:pt x="552" y="417"/>
                  </a:lnTo>
                  <a:lnTo>
                    <a:pt x="556" y="407"/>
                  </a:lnTo>
                  <a:lnTo>
                    <a:pt x="557" y="390"/>
                  </a:lnTo>
                  <a:lnTo>
                    <a:pt x="558" y="372"/>
                  </a:lnTo>
                  <a:lnTo>
                    <a:pt x="557" y="359"/>
                  </a:lnTo>
                  <a:lnTo>
                    <a:pt x="557" y="346"/>
                  </a:lnTo>
                  <a:lnTo>
                    <a:pt x="555" y="341"/>
                  </a:lnTo>
                  <a:lnTo>
                    <a:pt x="557" y="324"/>
                  </a:lnTo>
                  <a:lnTo>
                    <a:pt x="562" y="322"/>
                  </a:lnTo>
                  <a:lnTo>
                    <a:pt x="563" y="328"/>
                  </a:lnTo>
                  <a:lnTo>
                    <a:pt x="571" y="314"/>
                  </a:lnTo>
                  <a:lnTo>
                    <a:pt x="580" y="299"/>
                  </a:lnTo>
                  <a:lnTo>
                    <a:pt x="580" y="298"/>
                  </a:lnTo>
                  <a:lnTo>
                    <a:pt x="583" y="293"/>
                  </a:lnTo>
                  <a:lnTo>
                    <a:pt x="593" y="281"/>
                  </a:lnTo>
                  <a:lnTo>
                    <a:pt x="603" y="268"/>
                  </a:lnTo>
                  <a:lnTo>
                    <a:pt x="616" y="248"/>
                  </a:lnTo>
                  <a:lnTo>
                    <a:pt x="618" y="222"/>
                  </a:lnTo>
                  <a:lnTo>
                    <a:pt x="612" y="204"/>
                  </a:lnTo>
                  <a:lnTo>
                    <a:pt x="605" y="186"/>
                  </a:lnTo>
                  <a:lnTo>
                    <a:pt x="592" y="184"/>
                  </a:lnTo>
                  <a:lnTo>
                    <a:pt x="580" y="182"/>
                  </a:lnTo>
                  <a:lnTo>
                    <a:pt x="563" y="166"/>
                  </a:lnTo>
                  <a:lnTo>
                    <a:pt x="545" y="152"/>
                  </a:lnTo>
                  <a:lnTo>
                    <a:pt x="523" y="144"/>
                  </a:lnTo>
                  <a:lnTo>
                    <a:pt x="508" y="146"/>
                  </a:lnTo>
                  <a:lnTo>
                    <a:pt x="495" y="142"/>
                  </a:lnTo>
                  <a:lnTo>
                    <a:pt x="480" y="138"/>
                  </a:lnTo>
                  <a:lnTo>
                    <a:pt x="468" y="143"/>
                  </a:lnTo>
                  <a:lnTo>
                    <a:pt x="469"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2" name="Freeform 241"/>
            <p:cNvSpPr>
              <a:spLocks/>
            </p:cNvSpPr>
            <p:nvPr/>
          </p:nvSpPr>
          <p:spPr bwMode="auto">
            <a:xfrm>
              <a:off x="1636" y="2707"/>
              <a:ext cx="44" cy="34"/>
            </a:xfrm>
            <a:custGeom>
              <a:avLst/>
              <a:gdLst/>
              <a:ahLst/>
              <a:cxnLst>
                <a:cxn ang="0">
                  <a:pos x="19" y="28"/>
                </a:cxn>
                <a:cxn ang="0">
                  <a:pos x="17" y="29"/>
                </a:cxn>
                <a:cxn ang="0">
                  <a:pos x="8" y="26"/>
                </a:cxn>
                <a:cxn ang="0">
                  <a:pos x="5" y="30"/>
                </a:cxn>
                <a:cxn ang="0">
                  <a:pos x="0" y="17"/>
                </a:cxn>
                <a:cxn ang="0">
                  <a:pos x="2" y="17"/>
                </a:cxn>
                <a:cxn ang="0">
                  <a:pos x="1" y="10"/>
                </a:cxn>
                <a:cxn ang="0">
                  <a:pos x="6" y="0"/>
                </a:cxn>
                <a:cxn ang="0">
                  <a:pos x="21" y="2"/>
                </a:cxn>
                <a:cxn ang="0">
                  <a:pos x="38" y="4"/>
                </a:cxn>
                <a:cxn ang="0">
                  <a:pos x="30" y="20"/>
                </a:cxn>
                <a:cxn ang="0">
                  <a:pos x="29" y="21"/>
                </a:cxn>
                <a:cxn ang="0">
                  <a:pos x="27" y="26"/>
                </a:cxn>
                <a:cxn ang="0">
                  <a:pos x="25" y="26"/>
                </a:cxn>
                <a:cxn ang="0">
                  <a:pos x="19" y="28"/>
                </a:cxn>
              </a:cxnLst>
              <a:rect l="0" t="0" r="r" b="b"/>
              <a:pathLst>
                <a:path w="38" h="30">
                  <a:moveTo>
                    <a:pt x="19" y="28"/>
                  </a:moveTo>
                  <a:lnTo>
                    <a:pt x="17" y="29"/>
                  </a:lnTo>
                  <a:lnTo>
                    <a:pt x="8" y="26"/>
                  </a:lnTo>
                  <a:lnTo>
                    <a:pt x="5" y="30"/>
                  </a:lnTo>
                  <a:lnTo>
                    <a:pt x="0" y="17"/>
                  </a:lnTo>
                  <a:lnTo>
                    <a:pt x="2" y="17"/>
                  </a:lnTo>
                  <a:lnTo>
                    <a:pt x="1" y="10"/>
                  </a:lnTo>
                  <a:lnTo>
                    <a:pt x="6" y="0"/>
                  </a:lnTo>
                  <a:lnTo>
                    <a:pt x="21" y="2"/>
                  </a:lnTo>
                  <a:lnTo>
                    <a:pt x="38" y="4"/>
                  </a:lnTo>
                  <a:lnTo>
                    <a:pt x="30" y="20"/>
                  </a:lnTo>
                  <a:lnTo>
                    <a:pt x="29" y="21"/>
                  </a:lnTo>
                  <a:lnTo>
                    <a:pt x="27" y="26"/>
                  </a:lnTo>
                  <a:lnTo>
                    <a:pt x="25" y="26"/>
                  </a:lnTo>
                  <a:lnTo>
                    <a:pt x="19"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3" name="Freeform 242"/>
            <p:cNvSpPr>
              <a:spLocks/>
            </p:cNvSpPr>
            <p:nvPr/>
          </p:nvSpPr>
          <p:spPr bwMode="auto">
            <a:xfrm>
              <a:off x="1451" y="3092"/>
              <a:ext cx="147" cy="162"/>
            </a:xfrm>
            <a:custGeom>
              <a:avLst/>
              <a:gdLst/>
              <a:ahLst/>
              <a:cxnLst>
                <a:cxn ang="0">
                  <a:pos x="7" y="13"/>
                </a:cxn>
                <a:cxn ang="0">
                  <a:pos x="4" y="32"/>
                </a:cxn>
                <a:cxn ang="0">
                  <a:pos x="0" y="52"/>
                </a:cxn>
                <a:cxn ang="0">
                  <a:pos x="16" y="66"/>
                </a:cxn>
                <a:cxn ang="0">
                  <a:pos x="31" y="80"/>
                </a:cxn>
                <a:cxn ang="0">
                  <a:pos x="43" y="86"/>
                </a:cxn>
                <a:cxn ang="0">
                  <a:pos x="56" y="92"/>
                </a:cxn>
                <a:cxn ang="0">
                  <a:pos x="71" y="101"/>
                </a:cxn>
                <a:cxn ang="0">
                  <a:pos x="85" y="109"/>
                </a:cxn>
                <a:cxn ang="0">
                  <a:pos x="79" y="126"/>
                </a:cxn>
                <a:cxn ang="0">
                  <a:pos x="73" y="143"/>
                </a:cxn>
                <a:cxn ang="0">
                  <a:pos x="91" y="144"/>
                </a:cxn>
                <a:cxn ang="0">
                  <a:pos x="109" y="145"/>
                </a:cxn>
                <a:cxn ang="0">
                  <a:pos x="120" y="142"/>
                </a:cxn>
                <a:cxn ang="0">
                  <a:pos x="132" y="122"/>
                </a:cxn>
                <a:cxn ang="0">
                  <a:pos x="131" y="112"/>
                </a:cxn>
                <a:cxn ang="0">
                  <a:pos x="131" y="97"/>
                </a:cxn>
                <a:cxn ang="0">
                  <a:pos x="132" y="83"/>
                </a:cxn>
                <a:cxn ang="0">
                  <a:pos x="124" y="82"/>
                </a:cxn>
                <a:cxn ang="0">
                  <a:pos x="115" y="82"/>
                </a:cxn>
                <a:cxn ang="0">
                  <a:pos x="110" y="67"/>
                </a:cxn>
                <a:cxn ang="0">
                  <a:pos x="106" y="53"/>
                </a:cxn>
                <a:cxn ang="0">
                  <a:pos x="94" y="50"/>
                </a:cxn>
                <a:cxn ang="0">
                  <a:pos x="72" y="48"/>
                </a:cxn>
                <a:cxn ang="0">
                  <a:pos x="70" y="23"/>
                </a:cxn>
                <a:cxn ang="0">
                  <a:pos x="66" y="14"/>
                </a:cxn>
                <a:cxn ang="0">
                  <a:pos x="66" y="11"/>
                </a:cxn>
                <a:cxn ang="0">
                  <a:pos x="50" y="0"/>
                </a:cxn>
                <a:cxn ang="0">
                  <a:pos x="30" y="2"/>
                </a:cxn>
                <a:cxn ang="0">
                  <a:pos x="10" y="5"/>
                </a:cxn>
                <a:cxn ang="0">
                  <a:pos x="7" y="13"/>
                </a:cxn>
              </a:cxnLst>
              <a:rect l="0" t="0" r="r" b="b"/>
              <a:pathLst>
                <a:path w="132" h="145">
                  <a:moveTo>
                    <a:pt x="7" y="13"/>
                  </a:moveTo>
                  <a:lnTo>
                    <a:pt x="4" y="32"/>
                  </a:lnTo>
                  <a:lnTo>
                    <a:pt x="0" y="52"/>
                  </a:lnTo>
                  <a:lnTo>
                    <a:pt x="16" y="66"/>
                  </a:lnTo>
                  <a:lnTo>
                    <a:pt x="31" y="80"/>
                  </a:lnTo>
                  <a:lnTo>
                    <a:pt x="43" y="86"/>
                  </a:lnTo>
                  <a:lnTo>
                    <a:pt x="56" y="92"/>
                  </a:lnTo>
                  <a:lnTo>
                    <a:pt x="71" y="101"/>
                  </a:lnTo>
                  <a:lnTo>
                    <a:pt x="85" y="109"/>
                  </a:lnTo>
                  <a:lnTo>
                    <a:pt x="79" y="126"/>
                  </a:lnTo>
                  <a:lnTo>
                    <a:pt x="73" y="143"/>
                  </a:lnTo>
                  <a:lnTo>
                    <a:pt x="91" y="144"/>
                  </a:lnTo>
                  <a:lnTo>
                    <a:pt x="109" y="145"/>
                  </a:lnTo>
                  <a:lnTo>
                    <a:pt x="120" y="142"/>
                  </a:lnTo>
                  <a:lnTo>
                    <a:pt x="132" y="122"/>
                  </a:lnTo>
                  <a:lnTo>
                    <a:pt x="131" y="112"/>
                  </a:lnTo>
                  <a:lnTo>
                    <a:pt x="131" y="97"/>
                  </a:lnTo>
                  <a:lnTo>
                    <a:pt x="132" y="83"/>
                  </a:lnTo>
                  <a:lnTo>
                    <a:pt x="124" y="82"/>
                  </a:lnTo>
                  <a:lnTo>
                    <a:pt x="115" y="82"/>
                  </a:lnTo>
                  <a:lnTo>
                    <a:pt x="110" y="67"/>
                  </a:lnTo>
                  <a:lnTo>
                    <a:pt x="106" y="53"/>
                  </a:lnTo>
                  <a:lnTo>
                    <a:pt x="94" y="50"/>
                  </a:lnTo>
                  <a:lnTo>
                    <a:pt x="72" y="48"/>
                  </a:lnTo>
                  <a:lnTo>
                    <a:pt x="70" y="23"/>
                  </a:lnTo>
                  <a:lnTo>
                    <a:pt x="66" y="14"/>
                  </a:lnTo>
                  <a:lnTo>
                    <a:pt x="66" y="11"/>
                  </a:lnTo>
                  <a:lnTo>
                    <a:pt x="50" y="0"/>
                  </a:lnTo>
                  <a:lnTo>
                    <a:pt x="30" y="2"/>
                  </a:lnTo>
                  <a:lnTo>
                    <a:pt x="10" y="5"/>
                  </a:lnTo>
                  <a:lnTo>
                    <a:pt x="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4" name="Freeform 243"/>
            <p:cNvSpPr>
              <a:spLocks/>
            </p:cNvSpPr>
            <p:nvPr/>
          </p:nvSpPr>
          <p:spPr bwMode="auto">
            <a:xfrm>
              <a:off x="1556" y="3307"/>
              <a:ext cx="84" cy="94"/>
            </a:xfrm>
            <a:custGeom>
              <a:avLst/>
              <a:gdLst/>
              <a:ahLst/>
              <a:cxnLst>
                <a:cxn ang="0">
                  <a:pos x="74" y="45"/>
                </a:cxn>
                <a:cxn ang="0">
                  <a:pos x="58" y="33"/>
                </a:cxn>
                <a:cxn ang="0">
                  <a:pos x="42" y="21"/>
                </a:cxn>
                <a:cxn ang="0">
                  <a:pos x="32" y="15"/>
                </a:cxn>
                <a:cxn ang="0">
                  <a:pos x="28" y="15"/>
                </a:cxn>
                <a:cxn ang="0">
                  <a:pos x="9" y="0"/>
                </a:cxn>
                <a:cxn ang="0">
                  <a:pos x="1" y="1"/>
                </a:cxn>
                <a:cxn ang="0">
                  <a:pos x="1" y="3"/>
                </a:cxn>
                <a:cxn ang="0">
                  <a:pos x="1" y="22"/>
                </a:cxn>
                <a:cxn ang="0">
                  <a:pos x="0" y="42"/>
                </a:cxn>
                <a:cxn ang="0">
                  <a:pos x="1" y="45"/>
                </a:cxn>
                <a:cxn ang="0">
                  <a:pos x="0" y="59"/>
                </a:cxn>
                <a:cxn ang="0">
                  <a:pos x="7" y="73"/>
                </a:cxn>
                <a:cxn ang="0">
                  <a:pos x="26" y="82"/>
                </a:cxn>
                <a:cxn ang="0">
                  <a:pos x="51" y="85"/>
                </a:cxn>
                <a:cxn ang="0">
                  <a:pos x="66" y="81"/>
                </a:cxn>
                <a:cxn ang="0">
                  <a:pos x="76" y="65"/>
                </a:cxn>
                <a:cxn ang="0">
                  <a:pos x="73" y="53"/>
                </a:cxn>
                <a:cxn ang="0">
                  <a:pos x="74" y="45"/>
                </a:cxn>
              </a:cxnLst>
              <a:rect l="0" t="0" r="r" b="b"/>
              <a:pathLst>
                <a:path w="76" h="85">
                  <a:moveTo>
                    <a:pt x="74" y="45"/>
                  </a:moveTo>
                  <a:lnTo>
                    <a:pt x="58" y="33"/>
                  </a:lnTo>
                  <a:lnTo>
                    <a:pt x="42" y="21"/>
                  </a:lnTo>
                  <a:lnTo>
                    <a:pt x="32" y="15"/>
                  </a:lnTo>
                  <a:lnTo>
                    <a:pt x="28" y="15"/>
                  </a:lnTo>
                  <a:lnTo>
                    <a:pt x="9" y="0"/>
                  </a:lnTo>
                  <a:lnTo>
                    <a:pt x="1" y="1"/>
                  </a:lnTo>
                  <a:lnTo>
                    <a:pt x="1" y="3"/>
                  </a:lnTo>
                  <a:lnTo>
                    <a:pt x="1" y="22"/>
                  </a:lnTo>
                  <a:lnTo>
                    <a:pt x="0" y="42"/>
                  </a:lnTo>
                  <a:lnTo>
                    <a:pt x="1" y="45"/>
                  </a:lnTo>
                  <a:lnTo>
                    <a:pt x="0" y="59"/>
                  </a:lnTo>
                  <a:lnTo>
                    <a:pt x="7" y="73"/>
                  </a:lnTo>
                  <a:lnTo>
                    <a:pt x="26" y="82"/>
                  </a:lnTo>
                  <a:lnTo>
                    <a:pt x="51" y="85"/>
                  </a:lnTo>
                  <a:lnTo>
                    <a:pt x="66" y="81"/>
                  </a:lnTo>
                  <a:lnTo>
                    <a:pt x="76" y="65"/>
                  </a:lnTo>
                  <a:lnTo>
                    <a:pt x="73" y="53"/>
                  </a:lnTo>
                  <a:lnTo>
                    <a:pt x="74" y="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5" name="Freeform 244"/>
            <p:cNvSpPr>
              <a:spLocks/>
            </p:cNvSpPr>
            <p:nvPr/>
          </p:nvSpPr>
          <p:spPr bwMode="auto">
            <a:xfrm>
              <a:off x="1345" y="3141"/>
              <a:ext cx="271" cy="604"/>
            </a:xfrm>
            <a:custGeom>
              <a:avLst/>
              <a:gdLst/>
              <a:ahLst/>
              <a:cxnLst>
                <a:cxn ang="0">
                  <a:pos x="136" y="345"/>
                </a:cxn>
                <a:cxn ang="0">
                  <a:pos x="132" y="366"/>
                </a:cxn>
                <a:cxn ang="0">
                  <a:pos x="143" y="367"/>
                </a:cxn>
                <a:cxn ang="0">
                  <a:pos x="151" y="377"/>
                </a:cxn>
                <a:cxn ang="0">
                  <a:pos x="132" y="375"/>
                </a:cxn>
                <a:cxn ang="0">
                  <a:pos x="133" y="394"/>
                </a:cxn>
                <a:cxn ang="0">
                  <a:pos x="132" y="417"/>
                </a:cxn>
                <a:cxn ang="0">
                  <a:pos x="116" y="441"/>
                </a:cxn>
                <a:cxn ang="0">
                  <a:pos x="148" y="457"/>
                </a:cxn>
                <a:cxn ang="0">
                  <a:pos x="148" y="468"/>
                </a:cxn>
                <a:cxn ang="0">
                  <a:pos x="132" y="491"/>
                </a:cxn>
                <a:cxn ang="0">
                  <a:pos x="124" y="502"/>
                </a:cxn>
                <a:cxn ang="0">
                  <a:pos x="127" y="507"/>
                </a:cxn>
                <a:cxn ang="0">
                  <a:pos x="121" y="521"/>
                </a:cxn>
                <a:cxn ang="0">
                  <a:pos x="125" y="531"/>
                </a:cxn>
                <a:cxn ang="0">
                  <a:pos x="143" y="545"/>
                </a:cxn>
                <a:cxn ang="0">
                  <a:pos x="91" y="535"/>
                </a:cxn>
                <a:cxn ang="0">
                  <a:pos x="74" y="514"/>
                </a:cxn>
                <a:cxn ang="0">
                  <a:pos x="52" y="491"/>
                </a:cxn>
                <a:cxn ang="0">
                  <a:pos x="59" y="457"/>
                </a:cxn>
                <a:cxn ang="0">
                  <a:pos x="54" y="424"/>
                </a:cxn>
                <a:cxn ang="0">
                  <a:pos x="44" y="412"/>
                </a:cxn>
                <a:cxn ang="0">
                  <a:pos x="42" y="402"/>
                </a:cxn>
                <a:cxn ang="0">
                  <a:pos x="29" y="373"/>
                </a:cxn>
                <a:cxn ang="0">
                  <a:pos x="22" y="335"/>
                </a:cxn>
                <a:cxn ang="0">
                  <a:pos x="23" y="305"/>
                </a:cxn>
                <a:cxn ang="0">
                  <a:pos x="17" y="280"/>
                </a:cxn>
                <a:cxn ang="0">
                  <a:pos x="20" y="252"/>
                </a:cxn>
                <a:cxn ang="0">
                  <a:pos x="19" y="217"/>
                </a:cxn>
                <a:cxn ang="0">
                  <a:pos x="7" y="192"/>
                </a:cxn>
                <a:cxn ang="0">
                  <a:pos x="1" y="166"/>
                </a:cxn>
                <a:cxn ang="0">
                  <a:pos x="2" y="142"/>
                </a:cxn>
                <a:cxn ang="0">
                  <a:pos x="8" y="113"/>
                </a:cxn>
                <a:cxn ang="0">
                  <a:pos x="19" y="91"/>
                </a:cxn>
                <a:cxn ang="0">
                  <a:pos x="11" y="57"/>
                </a:cxn>
                <a:cxn ang="0">
                  <a:pos x="26" y="40"/>
                </a:cxn>
                <a:cxn ang="0">
                  <a:pos x="26" y="18"/>
                </a:cxn>
                <a:cxn ang="0">
                  <a:pos x="43" y="3"/>
                </a:cxn>
                <a:cxn ang="0">
                  <a:pos x="70" y="17"/>
                </a:cxn>
                <a:cxn ang="0">
                  <a:pos x="92" y="4"/>
                </a:cxn>
                <a:cxn ang="0">
                  <a:pos x="112" y="23"/>
                </a:cxn>
                <a:cxn ang="0">
                  <a:pos x="139" y="43"/>
                </a:cxn>
                <a:cxn ang="0">
                  <a:pos x="167" y="58"/>
                </a:cxn>
                <a:cxn ang="0">
                  <a:pos x="175" y="83"/>
                </a:cxn>
                <a:cxn ang="0">
                  <a:pos x="187" y="101"/>
                </a:cxn>
                <a:cxn ang="0">
                  <a:pos x="216" y="99"/>
                </a:cxn>
                <a:cxn ang="0">
                  <a:pos x="227" y="69"/>
                </a:cxn>
                <a:cxn ang="0">
                  <a:pos x="244" y="91"/>
                </a:cxn>
                <a:cxn ang="0">
                  <a:pos x="224" y="109"/>
                </a:cxn>
                <a:cxn ang="0">
                  <a:pos x="208" y="130"/>
                </a:cxn>
                <a:cxn ang="0">
                  <a:pos x="191" y="151"/>
                </a:cxn>
                <a:cxn ang="0">
                  <a:pos x="191" y="172"/>
                </a:cxn>
                <a:cxn ang="0">
                  <a:pos x="192" y="203"/>
                </a:cxn>
                <a:cxn ang="0">
                  <a:pos x="194" y="232"/>
                </a:cxn>
                <a:cxn ang="0">
                  <a:pos x="217" y="258"/>
                </a:cxn>
                <a:cxn ang="0">
                  <a:pos x="221" y="281"/>
                </a:cxn>
                <a:cxn ang="0">
                  <a:pos x="202" y="300"/>
                </a:cxn>
                <a:cxn ang="0">
                  <a:pos x="176" y="306"/>
                </a:cxn>
                <a:cxn ang="0">
                  <a:pos x="152" y="309"/>
                </a:cxn>
                <a:cxn ang="0">
                  <a:pos x="160" y="337"/>
                </a:cxn>
              </a:cxnLst>
              <a:rect l="0" t="0" r="r" b="b"/>
              <a:pathLst>
                <a:path w="244" h="545">
                  <a:moveTo>
                    <a:pt x="156" y="346"/>
                  </a:moveTo>
                  <a:lnTo>
                    <a:pt x="136" y="345"/>
                  </a:lnTo>
                  <a:lnTo>
                    <a:pt x="120" y="342"/>
                  </a:lnTo>
                  <a:lnTo>
                    <a:pt x="132" y="366"/>
                  </a:lnTo>
                  <a:lnTo>
                    <a:pt x="137" y="369"/>
                  </a:lnTo>
                  <a:lnTo>
                    <a:pt x="143" y="367"/>
                  </a:lnTo>
                  <a:lnTo>
                    <a:pt x="146" y="364"/>
                  </a:lnTo>
                  <a:lnTo>
                    <a:pt x="151" y="377"/>
                  </a:lnTo>
                  <a:lnTo>
                    <a:pt x="143" y="375"/>
                  </a:lnTo>
                  <a:lnTo>
                    <a:pt x="132" y="375"/>
                  </a:lnTo>
                  <a:lnTo>
                    <a:pt x="144" y="381"/>
                  </a:lnTo>
                  <a:lnTo>
                    <a:pt x="133" y="394"/>
                  </a:lnTo>
                  <a:lnTo>
                    <a:pt x="134" y="408"/>
                  </a:lnTo>
                  <a:lnTo>
                    <a:pt x="132" y="417"/>
                  </a:lnTo>
                  <a:lnTo>
                    <a:pt x="116" y="424"/>
                  </a:lnTo>
                  <a:lnTo>
                    <a:pt x="116" y="441"/>
                  </a:lnTo>
                  <a:lnTo>
                    <a:pt x="139" y="453"/>
                  </a:lnTo>
                  <a:lnTo>
                    <a:pt x="148" y="457"/>
                  </a:lnTo>
                  <a:lnTo>
                    <a:pt x="143" y="466"/>
                  </a:lnTo>
                  <a:lnTo>
                    <a:pt x="148" y="468"/>
                  </a:lnTo>
                  <a:lnTo>
                    <a:pt x="140" y="479"/>
                  </a:lnTo>
                  <a:lnTo>
                    <a:pt x="132" y="491"/>
                  </a:lnTo>
                  <a:lnTo>
                    <a:pt x="131" y="504"/>
                  </a:lnTo>
                  <a:lnTo>
                    <a:pt x="124" y="502"/>
                  </a:lnTo>
                  <a:lnTo>
                    <a:pt x="120" y="503"/>
                  </a:lnTo>
                  <a:lnTo>
                    <a:pt x="127" y="507"/>
                  </a:lnTo>
                  <a:lnTo>
                    <a:pt x="121" y="516"/>
                  </a:lnTo>
                  <a:lnTo>
                    <a:pt x="121" y="521"/>
                  </a:lnTo>
                  <a:lnTo>
                    <a:pt x="128" y="532"/>
                  </a:lnTo>
                  <a:lnTo>
                    <a:pt x="125" y="531"/>
                  </a:lnTo>
                  <a:lnTo>
                    <a:pt x="134" y="535"/>
                  </a:lnTo>
                  <a:lnTo>
                    <a:pt x="143" y="545"/>
                  </a:lnTo>
                  <a:lnTo>
                    <a:pt x="119" y="538"/>
                  </a:lnTo>
                  <a:lnTo>
                    <a:pt x="91" y="535"/>
                  </a:lnTo>
                  <a:lnTo>
                    <a:pt x="83" y="527"/>
                  </a:lnTo>
                  <a:lnTo>
                    <a:pt x="74" y="514"/>
                  </a:lnTo>
                  <a:lnTo>
                    <a:pt x="66" y="515"/>
                  </a:lnTo>
                  <a:lnTo>
                    <a:pt x="52" y="491"/>
                  </a:lnTo>
                  <a:lnTo>
                    <a:pt x="61" y="481"/>
                  </a:lnTo>
                  <a:lnTo>
                    <a:pt x="59" y="457"/>
                  </a:lnTo>
                  <a:lnTo>
                    <a:pt x="55" y="437"/>
                  </a:lnTo>
                  <a:lnTo>
                    <a:pt x="54" y="424"/>
                  </a:lnTo>
                  <a:lnTo>
                    <a:pt x="50" y="415"/>
                  </a:lnTo>
                  <a:lnTo>
                    <a:pt x="44" y="412"/>
                  </a:lnTo>
                  <a:lnTo>
                    <a:pt x="54" y="408"/>
                  </a:lnTo>
                  <a:lnTo>
                    <a:pt x="42" y="402"/>
                  </a:lnTo>
                  <a:lnTo>
                    <a:pt x="36" y="383"/>
                  </a:lnTo>
                  <a:lnTo>
                    <a:pt x="29" y="373"/>
                  </a:lnTo>
                  <a:lnTo>
                    <a:pt x="28" y="359"/>
                  </a:lnTo>
                  <a:lnTo>
                    <a:pt x="22" y="335"/>
                  </a:lnTo>
                  <a:lnTo>
                    <a:pt x="20" y="316"/>
                  </a:lnTo>
                  <a:lnTo>
                    <a:pt x="23" y="305"/>
                  </a:lnTo>
                  <a:lnTo>
                    <a:pt x="22" y="294"/>
                  </a:lnTo>
                  <a:lnTo>
                    <a:pt x="17" y="280"/>
                  </a:lnTo>
                  <a:lnTo>
                    <a:pt x="13" y="264"/>
                  </a:lnTo>
                  <a:lnTo>
                    <a:pt x="20" y="252"/>
                  </a:lnTo>
                  <a:lnTo>
                    <a:pt x="17" y="240"/>
                  </a:lnTo>
                  <a:lnTo>
                    <a:pt x="19" y="217"/>
                  </a:lnTo>
                  <a:lnTo>
                    <a:pt x="14" y="207"/>
                  </a:lnTo>
                  <a:lnTo>
                    <a:pt x="7" y="192"/>
                  </a:lnTo>
                  <a:lnTo>
                    <a:pt x="0" y="178"/>
                  </a:lnTo>
                  <a:lnTo>
                    <a:pt x="1" y="166"/>
                  </a:lnTo>
                  <a:lnTo>
                    <a:pt x="4" y="155"/>
                  </a:lnTo>
                  <a:lnTo>
                    <a:pt x="2" y="142"/>
                  </a:lnTo>
                  <a:lnTo>
                    <a:pt x="2" y="129"/>
                  </a:lnTo>
                  <a:lnTo>
                    <a:pt x="8" y="113"/>
                  </a:lnTo>
                  <a:lnTo>
                    <a:pt x="14" y="96"/>
                  </a:lnTo>
                  <a:lnTo>
                    <a:pt x="19" y="91"/>
                  </a:lnTo>
                  <a:lnTo>
                    <a:pt x="13" y="82"/>
                  </a:lnTo>
                  <a:lnTo>
                    <a:pt x="11" y="57"/>
                  </a:lnTo>
                  <a:lnTo>
                    <a:pt x="13" y="47"/>
                  </a:lnTo>
                  <a:lnTo>
                    <a:pt x="26" y="40"/>
                  </a:lnTo>
                  <a:lnTo>
                    <a:pt x="30" y="22"/>
                  </a:lnTo>
                  <a:lnTo>
                    <a:pt x="26" y="18"/>
                  </a:lnTo>
                  <a:lnTo>
                    <a:pt x="40" y="0"/>
                  </a:lnTo>
                  <a:lnTo>
                    <a:pt x="43" y="3"/>
                  </a:lnTo>
                  <a:lnTo>
                    <a:pt x="62" y="6"/>
                  </a:lnTo>
                  <a:lnTo>
                    <a:pt x="70" y="17"/>
                  </a:lnTo>
                  <a:lnTo>
                    <a:pt x="74" y="7"/>
                  </a:lnTo>
                  <a:lnTo>
                    <a:pt x="92" y="4"/>
                  </a:lnTo>
                  <a:lnTo>
                    <a:pt x="96" y="9"/>
                  </a:lnTo>
                  <a:lnTo>
                    <a:pt x="112" y="23"/>
                  </a:lnTo>
                  <a:lnTo>
                    <a:pt x="127" y="37"/>
                  </a:lnTo>
                  <a:lnTo>
                    <a:pt x="139" y="43"/>
                  </a:lnTo>
                  <a:lnTo>
                    <a:pt x="152" y="49"/>
                  </a:lnTo>
                  <a:lnTo>
                    <a:pt x="167" y="58"/>
                  </a:lnTo>
                  <a:lnTo>
                    <a:pt x="181" y="66"/>
                  </a:lnTo>
                  <a:lnTo>
                    <a:pt x="175" y="83"/>
                  </a:lnTo>
                  <a:lnTo>
                    <a:pt x="169" y="100"/>
                  </a:lnTo>
                  <a:lnTo>
                    <a:pt x="187" y="101"/>
                  </a:lnTo>
                  <a:lnTo>
                    <a:pt x="205" y="102"/>
                  </a:lnTo>
                  <a:lnTo>
                    <a:pt x="216" y="99"/>
                  </a:lnTo>
                  <a:lnTo>
                    <a:pt x="228" y="79"/>
                  </a:lnTo>
                  <a:lnTo>
                    <a:pt x="227" y="69"/>
                  </a:lnTo>
                  <a:lnTo>
                    <a:pt x="236" y="69"/>
                  </a:lnTo>
                  <a:lnTo>
                    <a:pt x="244" y="91"/>
                  </a:lnTo>
                  <a:lnTo>
                    <a:pt x="234" y="101"/>
                  </a:lnTo>
                  <a:lnTo>
                    <a:pt x="224" y="109"/>
                  </a:lnTo>
                  <a:lnTo>
                    <a:pt x="216" y="120"/>
                  </a:lnTo>
                  <a:lnTo>
                    <a:pt x="208" y="130"/>
                  </a:lnTo>
                  <a:lnTo>
                    <a:pt x="199" y="141"/>
                  </a:lnTo>
                  <a:lnTo>
                    <a:pt x="191" y="151"/>
                  </a:lnTo>
                  <a:lnTo>
                    <a:pt x="191" y="153"/>
                  </a:lnTo>
                  <a:lnTo>
                    <a:pt x="191" y="172"/>
                  </a:lnTo>
                  <a:lnTo>
                    <a:pt x="190" y="192"/>
                  </a:lnTo>
                  <a:lnTo>
                    <a:pt x="192" y="203"/>
                  </a:lnTo>
                  <a:lnTo>
                    <a:pt x="188" y="211"/>
                  </a:lnTo>
                  <a:lnTo>
                    <a:pt x="194" y="232"/>
                  </a:lnTo>
                  <a:lnTo>
                    <a:pt x="215" y="246"/>
                  </a:lnTo>
                  <a:lnTo>
                    <a:pt x="217" y="258"/>
                  </a:lnTo>
                  <a:lnTo>
                    <a:pt x="227" y="265"/>
                  </a:lnTo>
                  <a:lnTo>
                    <a:pt x="221" y="281"/>
                  </a:lnTo>
                  <a:lnTo>
                    <a:pt x="215" y="297"/>
                  </a:lnTo>
                  <a:lnTo>
                    <a:pt x="202" y="300"/>
                  </a:lnTo>
                  <a:lnTo>
                    <a:pt x="190" y="304"/>
                  </a:lnTo>
                  <a:lnTo>
                    <a:pt x="176" y="306"/>
                  </a:lnTo>
                  <a:lnTo>
                    <a:pt x="164" y="310"/>
                  </a:lnTo>
                  <a:lnTo>
                    <a:pt x="152" y="309"/>
                  </a:lnTo>
                  <a:lnTo>
                    <a:pt x="156" y="315"/>
                  </a:lnTo>
                  <a:lnTo>
                    <a:pt x="160" y="337"/>
                  </a:lnTo>
                  <a:lnTo>
                    <a:pt x="156" y="3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6" name="Freeform 245"/>
            <p:cNvSpPr>
              <a:spLocks/>
            </p:cNvSpPr>
            <p:nvPr/>
          </p:nvSpPr>
          <p:spPr bwMode="auto">
            <a:xfrm>
              <a:off x="1502" y="3750"/>
              <a:ext cx="67" cy="44"/>
            </a:xfrm>
            <a:custGeom>
              <a:avLst/>
              <a:gdLst/>
              <a:ahLst/>
              <a:cxnLst>
                <a:cxn ang="0">
                  <a:pos x="5" y="8"/>
                </a:cxn>
                <a:cxn ang="0">
                  <a:pos x="0" y="0"/>
                </a:cxn>
                <a:cxn ang="0">
                  <a:pos x="7" y="19"/>
                </a:cxn>
                <a:cxn ang="0">
                  <a:pos x="15" y="38"/>
                </a:cxn>
                <a:cxn ang="0">
                  <a:pos x="37" y="38"/>
                </a:cxn>
                <a:cxn ang="0">
                  <a:pos x="59" y="39"/>
                </a:cxn>
                <a:cxn ang="0">
                  <a:pos x="57" y="34"/>
                </a:cxn>
                <a:cxn ang="0">
                  <a:pos x="26" y="24"/>
                </a:cxn>
                <a:cxn ang="0">
                  <a:pos x="5" y="8"/>
                </a:cxn>
              </a:cxnLst>
              <a:rect l="0" t="0" r="r" b="b"/>
              <a:pathLst>
                <a:path w="59" h="39">
                  <a:moveTo>
                    <a:pt x="5" y="8"/>
                  </a:moveTo>
                  <a:lnTo>
                    <a:pt x="0" y="0"/>
                  </a:lnTo>
                  <a:lnTo>
                    <a:pt x="7" y="19"/>
                  </a:lnTo>
                  <a:lnTo>
                    <a:pt x="15" y="38"/>
                  </a:lnTo>
                  <a:lnTo>
                    <a:pt x="37" y="38"/>
                  </a:lnTo>
                  <a:lnTo>
                    <a:pt x="59" y="39"/>
                  </a:lnTo>
                  <a:lnTo>
                    <a:pt x="57" y="34"/>
                  </a:lnTo>
                  <a:lnTo>
                    <a:pt x="26" y="24"/>
                  </a:lnTo>
                  <a:lnTo>
                    <a:pt x="5" y="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7" name="Freeform 246"/>
            <p:cNvSpPr>
              <a:spLocks/>
            </p:cNvSpPr>
            <p:nvPr/>
          </p:nvSpPr>
          <p:spPr bwMode="auto">
            <a:xfrm>
              <a:off x="1309" y="3054"/>
              <a:ext cx="193" cy="720"/>
            </a:xfrm>
            <a:custGeom>
              <a:avLst/>
              <a:gdLst/>
              <a:ahLst/>
              <a:cxnLst>
                <a:cxn ang="0">
                  <a:pos x="18" y="257"/>
                </a:cxn>
                <a:cxn ang="0">
                  <a:pos x="20" y="300"/>
                </a:cxn>
                <a:cxn ang="0">
                  <a:pos x="15" y="348"/>
                </a:cxn>
                <a:cxn ang="0">
                  <a:pos x="22" y="384"/>
                </a:cxn>
                <a:cxn ang="0">
                  <a:pos x="33" y="432"/>
                </a:cxn>
                <a:cxn ang="0">
                  <a:pos x="46" y="432"/>
                </a:cxn>
                <a:cxn ang="0">
                  <a:pos x="54" y="444"/>
                </a:cxn>
                <a:cxn ang="0">
                  <a:pos x="54" y="459"/>
                </a:cxn>
                <a:cxn ang="0">
                  <a:pos x="63" y="484"/>
                </a:cxn>
                <a:cxn ang="0">
                  <a:pos x="61" y="500"/>
                </a:cxn>
                <a:cxn ang="0">
                  <a:pos x="62" y="514"/>
                </a:cxn>
                <a:cxn ang="0">
                  <a:pos x="57" y="515"/>
                </a:cxn>
                <a:cxn ang="0">
                  <a:pos x="49" y="509"/>
                </a:cxn>
                <a:cxn ang="0">
                  <a:pos x="39" y="524"/>
                </a:cxn>
                <a:cxn ang="0">
                  <a:pos x="63" y="532"/>
                </a:cxn>
                <a:cxn ang="0">
                  <a:pos x="56" y="542"/>
                </a:cxn>
                <a:cxn ang="0">
                  <a:pos x="75" y="545"/>
                </a:cxn>
                <a:cxn ang="0">
                  <a:pos x="61" y="546"/>
                </a:cxn>
                <a:cxn ang="0">
                  <a:pos x="75" y="576"/>
                </a:cxn>
                <a:cxn ang="0">
                  <a:pos x="84" y="588"/>
                </a:cxn>
                <a:cxn ang="0">
                  <a:pos x="96" y="604"/>
                </a:cxn>
                <a:cxn ang="0">
                  <a:pos x="102" y="614"/>
                </a:cxn>
                <a:cxn ang="0">
                  <a:pos x="111" y="629"/>
                </a:cxn>
                <a:cxn ang="0">
                  <a:pos x="118" y="636"/>
                </a:cxn>
                <a:cxn ang="0">
                  <a:pos x="148" y="626"/>
                </a:cxn>
                <a:cxn ang="0">
                  <a:pos x="151" y="615"/>
                </a:cxn>
                <a:cxn ang="0">
                  <a:pos x="106" y="591"/>
                </a:cxn>
                <a:cxn ang="0">
                  <a:pos x="93" y="558"/>
                </a:cxn>
                <a:cxn ang="0">
                  <a:pos x="86" y="501"/>
                </a:cxn>
                <a:cxn ang="0">
                  <a:pos x="86" y="485"/>
                </a:cxn>
                <a:cxn ang="0">
                  <a:pos x="61" y="450"/>
                </a:cxn>
                <a:cxn ang="0">
                  <a:pos x="52" y="393"/>
                </a:cxn>
                <a:cxn ang="0">
                  <a:pos x="49" y="357"/>
                </a:cxn>
                <a:cxn ang="0">
                  <a:pos x="49" y="317"/>
                </a:cxn>
                <a:cxn ang="0">
                  <a:pos x="39" y="269"/>
                </a:cxn>
                <a:cxn ang="0">
                  <a:pos x="36" y="232"/>
                </a:cxn>
                <a:cxn ang="0">
                  <a:pos x="40" y="190"/>
                </a:cxn>
                <a:cxn ang="0">
                  <a:pos x="45" y="159"/>
                </a:cxn>
                <a:cxn ang="0">
                  <a:pos x="58" y="117"/>
                </a:cxn>
                <a:cxn ang="0">
                  <a:pos x="48" y="94"/>
                </a:cxn>
                <a:cxn ang="0">
                  <a:pos x="30" y="46"/>
                </a:cxn>
                <a:cxn ang="0">
                  <a:pos x="18" y="9"/>
                </a:cxn>
                <a:cxn ang="0">
                  <a:pos x="3" y="15"/>
                </a:cxn>
                <a:cxn ang="0">
                  <a:pos x="9" y="62"/>
                </a:cxn>
                <a:cxn ang="0">
                  <a:pos x="8" y="108"/>
                </a:cxn>
                <a:cxn ang="0">
                  <a:pos x="10" y="176"/>
                </a:cxn>
                <a:cxn ang="0">
                  <a:pos x="12" y="230"/>
                </a:cxn>
              </a:cxnLst>
              <a:rect l="0" t="0" r="r" b="b"/>
              <a:pathLst>
                <a:path w="175" h="647">
                  <a:moveTo>
                    <a:pt x="12" y="230"/>
                  </a:moveTo>
                  <a:lnTo>
                    <a:pt x="15" y="244"/>
                  </a:lnTo>
                  <a:lnTo>
                    <a:pt x="18" y="257"/>
                  </a:lnTo>
                  <a:lnTo>
                    <a:pt x="20" y="270"/>
                  </a:lnTo>
                  <a:lnTo>
                    <a:pt x="21" y="284"/>
                  </a:lnTo>
                  <a:lnTo>
                    <a:pt x="20" y="300"/>
                  </a:lnTo>
                  <a:lnTo>
                    <a:pt x="18" y="316"/>
                  </a:lnTo>
                  <a:lnTo>
                    <a:pt x="16" y="332"/>
                  </a:lnTo>
                  <a:lnTo>
                    <a:pt x="15" y="348"/>
                  </a:lnTo>
                  <a:lnTo>
                    <a:pt x="12" y="354"/>
                  </a:lnTo>
                  <a:lnTo>
                    <a:pt x="16" y="369"/>
                  </a:lnTo>
                  <a:lnTo>
                    <a:pt x="22" y="384"/>
                  </a:lnTo>
                  <a:lnTo>
                    <a:pt x="26" y="401"/>
                  </a:lnTo>
                  <a:lnTo>
                    <a:pt x="24" y="418"/>
                  </a:lnTo>
                  <a:lnTo>
                    <a:pt x="33" y="432"/>
                  </a:lnTo>
                  <a:lnTo>
                    <a:pt x="34" y="436"/>
                  </a:lnTo>
                  <a:lnTo>
                    <a:pt x="40" y="432"/>
                  </a:lnTo>
                  <a:lnTo>
                    <a:pt x="46" y="432"/>
                  </a:lnTo>
                  <a:lnTo>
                    <a:pt x="51" y="430"/>
                  </a:lnTo>
                  <a:lnTo>
                    <a:pt x="49" y="440"/>
                  </a:lnTo>
                  <a:lnTo>
                    <a:pt x="54" y="444"/>
                  </a:lnTo>
                  <a:lnTo>
                    <a:pt x="51" y="443"/>
                  </a:lnTo>
                  <a:lnTo>
                    <a:pt x="52" y="448"/>
                  </a:lnTo>
                  <a:lnTo>
                    <a:pt x="54" y="459"/>
                  </a:lnTo>
                  <a:lnTo>
                    <a:pt x="55" y="471"/>
                  </a:lnTo>
                  <a:lnTo>
                    <a:pt x="55" y="477"/>
                  </a:lnTo>
                  <a:lnTo>
                    <a:pt x="63" y="484"/>
                  </a:lnTo>
                  <a:lnTo>
                    <a:pt x="58" y="496"/>
                  </a:lnTo>
                  <a:lnTo>
                    <a:pt x="64" y="500"/>
                  </a:lnTo>
                  <a:lnTo>
                    <a:pt x="61" y="500"/>
                  </a:lnTo>
                  <a:lnTo>
                    <a:pt x="61" y="504"/>
                  </a:lnTo>
                  <a:lnTo>
                    <a:pt x="61" y="506"/>
                  </a:lnTo>
                  <a:lnTo>
                    <a:pt x="62" y="514"/>
                  </a:lnTo>
                  <a:lnTo>
                    <a:pt x="63" y="513"/>
                  </a:lnTo>
                  <a:lnTo>
                    <a:pt x="58" y="520"/>
                  </a:lnTo>
                  <a:lnTo>
                    <a:pt x="57" y="515"/>
                  </a:lnTo>
                  <a:lnTo>
                    <a:pt x="51" y="515"/>
                  </a:lnTo>
                  <a:lnTo>
                    <a:pt x="52" y="509"/>
                  </a:lnTo>
                  <a:lnTo>
                    <a:pt x="49" y="509"/>
                  </a:lnTo>
                  <a:lnTo>
                    <a:pt x="44" y="510"/>
                  </a:lnTo>
                  <a:lnTo>
                    <a:pt x="37" y="525"/>
                  </a:lnTo>
                  <a:lnTo>
                    <a:pt x="39" y="524"/>
                  </a:lnTo>
                  <a:lnTo>
                    <a:pt x="44" y="521"/>
                  </a:lnTo>
                  <a:lnTo>
                    <a:pt x="52" y="524"/>
                  </a:lnTo>
                  <a:lnTo>
                    <a:pt x="63" y="532"/>
                  </a:lnTo>
                  <a:lnTo>
                    <a:pt x="58" y="536"/>
                  </a:lnTo>
                  <a:lnTo>
                    <a:pt x="63" y="539"/>
                  </a:lnTo>
                  <a:lnTo>
                    <a:pt x="56" y="542"/>
                  </a:lnTo>
                  <a:lnTo>
                    <a:pt x="69" y="540"/>
                  </a:lnTo>
                  <a:lnTo>
                    <a:pt x="70" y="539"/>
                  </a:lnTo>
                  <a:lnTo>
                    <a:pt x="75" y="545"/>
                  </a:lnTo>
                  <a:lnTo>
                    <a:pt x="75" y="550"/>
                  </a:lnTo>
                  <a:lnTo>
                    <a:pt x="66" y="548"/>
                  </a:lnTo>
                  <a:lnTo>
                    <a:pt x="61" y="546"/>
                  </a:lnTo>
                  <a:lnTo>
                    <a:pt x="68" y="557"/>
                  </a:lnTo>
                  <a:lnTo>
                    <a:pt x="75" y="569"/>
                  </a:lnTo>
                  <a:lnTo>
                    <a:pt x="75" y="576"/>
                  </a:lnTo>
                  <a:lnTo>
                    <a:pt x="79" y="582"/>
                  </a:lnTo>
                  <a:lnTo>
                    <a:pt x="75" y="585"/>
                  </a:lnTo>
                  <a:lnTo>
                    <a:pt x="84" y="588"/>
                  </a:lnTo>
                  <a:lnTo>
                    <a:pt x="88" y="596"/>
                  </a:lnTo>
                  <a:lnTo>
                    <a:pt x="88" y="599"/>
                  </a:lnTo>
                  <a:lnTo>
                    <a:pt x="96" y="604"/>
                  </a:lnTo>
                  <a:lnTo>
                    <a:pt x="99" y="609"/>
                  </a:lnTo>
                  <a:lnTo>
                    <a:pt x="94" y="606"/>
                  </a:lnTo>
                  <a:lnTo>
                    <a:pt x="102" y="614"/>
                  </a:lnTo>
                  <a:lnTo>
                    <a:pt x="103" y="617"/>
                  </a:lnTo>
                  <a:lnTo>
                    <a:pt x="109" y="626"/>
                  </a:lnTo>
                  <a:lnTo>
                    <a:pt x="111" y="629"/>
                  </a:lnTo>
                  <a:lnTo>
                    <a:pt x="118" y="633"/>
                  </a:lnTo>
                  <a:lnTo>
                    <a:pt x="121" y="635"/>
                  </a:lnTo>
                  <a:lnTo>
                    <a:pt x="118" y="636"/>
                  </a:lnTo>
                  <a:lnTo>
                    <a:pt x="127" y="639"/>
                  </a:lnTo>
                  <a:lnTo>
                    <a:pt x="147" y="647"/>
                  </a:lnTo>
                  <a:lnTo>
                    <a:pt x="148" y="626"/>
                  </a:lnTo>
                  <a:lnTo>
                    <a:pt x="160" y="620"/>
                  </a:lnTo>
                  <a:lnTo>
                    <a:pt x="175" y="622"/>
                  </a:lnTo>
                  <a:lnTo>
                    <a:pt x="151" y="615"/>
                  </a:lnTo>
                  <a:lnTo>
                    <a:pt x="123" y="612"/>
                  </a:lnTo>
                  <a:lnTo>
                    <a:pt x="115" y="604"/>
                  </a:lnTo>
                  <a:lnTo>
                    <a:pt x="106" y="591"/>
                  </a:lnTo>
                  <a:lnTo>
                    <a:pt x="98" y="592"/>
                  </a:lnTo>
                  <a:lnTo>
                    <a:pt x="84" y="568"/>
                  </a:lnTo>
                  <a:lnTo>
                    <a:pt x="93" y="558"/>
                  </a:lnTo>
                  <a:lnTo>
                    <a:pt x="91" y="534"/>
                  </a:lnTo>
                  <a:lnTo>
                    <a:pt x="87" y="514"/>
                  </a:lnTo>
                  <a:lnTo>
                    <a:pt x="86" y="501"/>
                  </a:lnTo>
                  <a:lnTo>
                    <a:pt x="82" y="492"/>
                  </a:lnTo>
                  <a:lnTo>
                    <a:pt x="76" y="489"/>
                  </a:lnTo>
                  <a:lnTo>
                    <a:pt x="86" y="485"/>
                  </a:lnTo>
                  <a:lnTo>
                    <a:pt x="74" y="479"/>
                  </a:lnTo>
                  <a:lnTo>
                    <a:pt x="68" y="460"/>
                  </a:lnTo>
                  <a:lnTo>
                    <a:pt x="61" y="450"/>
                  </a:lnTo>
                  <a:lnTo>
                    <a:pt x="60" y="436"/>
                  </a:lnTo>
                  <a:lnTo>
                    <a:pt x="54" y="412"/>
                  </a:lnTo>
                  <a:lnTo>
                    <a:pt x="52" y="393"/>
                  </a:lnTo>
                  <a:lnTo>
                    <a:pt x="55" y="382"/>
                  </a:lnTo>
                  <a:lnTo>
                    <a:pt x="54" y="371"/>
                  </a:lnTo>
                  <a:lnTo>
                    <a:pt x="49" y="357"/>
                  </a:lnTo>
                  <a:lnTo>
                    <a:pt x="45" y="341"/>
                  </a:lnTo>
                  <a:lnTo>
                    <a:pt x="52" y="329"/>
                  </a:lnTo>
                  <a:lnTo>
                    <a:pt x="49" y="317"/>
                  </a:lnTo>
                  <a:lnTo>
                    <a:pt x="51" y="294"/>
                  </a:lnTo>
                  <a:lnTo>
                    <a:pt x="46" y="284"/>
                  </a:lnTo>
                  <a:lnTo>
                    <a:pt x="39" y="269"/>
                  </a:lnTo>
                  <a:lnTo>
                    <a:pt x="32" y="255"/>
                  </a:lnTo>
                  <a:lnTo>
                    <a:pt x="33" y="243"/>
                  </a:lnTo>
                  <a:lnTo>
                    <a:pt x="36" y="232"/>
                  </a:lnTo>
                  <a:lnTo>
                    <a:pt x="34" y="219"/>
                  </a:lnTo>
                  <a:lnTo>
                    <a:pt x="34" y="206"/>
                  </a:lnTo>
                  <a:lnTo>
                    <a:pt x="40" y="190"/>
                  </a:lnTo>
                  <a:lnTo>
                    <a:pt x="46" y="173"/>
                  </a:lnTo>
                  <a:lnTo>
                    <a:pt x="51" y="168"/>
                  </a:lnTo>
                  <a:lnTo>
                    <a:pt x="45" y="159"/>
                  </a:lnTo>
                  <a:lnTo>
                    <a:pt x="43" y="134"/>
                  </a:lnTo>
                  <a:lnTo>
                    <a:pt x="45" y="124"/>
                  </a:lnTo>
                  <a:lnTo>
                    <a:pt x="58" y="117"/>
                  </a:lnTo>
                  <a:lnTo>
                    <a:pt x="62" y="99"/>
                  </a:lnTo>
                  <a:lnTo>
                    <a:pt x="58" y="95"/>
                  </a:lnTo>
                  <a:lnTo>
                    <a:pt x="48" y="94"/>
                  </a:lnTo>
                  <a:lnTo>
                    <a:pt x="42" y="78"/>
                  </a:lnTo>
                  <a:lnTo>
                    <a:pt x="34" y="62"/>
                  </a:lnTo>
                  <a:lnTo>
                    <a:pt x="30" y="46"/>
                  </a:lnTo>
                  <a:lnTo>
                    <a:pt x="31" y="33"/>
                  </a:lnTo>
                  <a:lnTo>
                    <a:pt x="22" y="21"/>
                  </a:lnTo>
                  <a:lnTo>
                    <a:pt x="18" y="9"/>
                  </a:lnTo>
                  <a:lnTo>
                    <a:pt x="13" y="0"/>
                  </a:lnTo>
                  <a:lnTo>
                    <a:pt x="9" y="8"/>
                  </a:lnTo>
                  <a:lnTo>
                    <a:pt x="3" y="15"/>
                  </a:lnTo>
                  <a:lnTo>
                    <a:pt x="0" y="16"/>
                  </a:lnTo>
                  <a:lnTo>
                    <a:pt x="4" y="39"/>
                  </a:lnTo>
                  <a:lnTo>
                    <a:pt x="9" y="62"/>
                  </a:lnTo>
                  <a:lnTo>
                    <a:pt x="9" y="81"/>
                  </a:lnTo>
                  <a:lnTo>
                    <a:pt x="8" y="100"/>
                  </a:lnTo>
                  <a:lnTo>
                    <a:pt x="8" y="108"/>
                  </a:lnTo>
                  <a:lnTo>
                    <a:pt x="10" y="131"/>
                  </a:lnTo>
                  <a:lnTo>
                    <a:pt x="12" y="150"/>
                  </a:lnTo>
                  <a:lnTo>
                    <a:pt x="10" y="176"/>
                  </a:lnTo>
                  <a:lnTo>
                    <a:pt x="10" y="201"/>
                  </a:lnTo>
                  <a:lnTo>
                    <a:pt x="12" y="213"/>
                  </a:lnTo>
                  <a:lnTo>
                    <a:pt x="12" y="23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8" name="Freeform 247"/>
            <p:cNvSpPr>
              <a:spLocks/>
            </p:cNvSpPr>
            <p:nvPr/>
          </p:nvSpPr>
          <p:spPr bwMode="auto">
            <a:xfrm>
              <a:off x="1469" y="3747"/>
              <a:ext cx="51" cy="45"/>
            </a:xfrm>
            <a:custGeom>
              <a:avLst/>
              <a:gdLst/>
              <a:ahLst/>
              <a:cxnLst>
                <a:cxn ang="0">
                  <a:pos x="31" y="2"/>
                </a:cxn>
                <a:cxn ang="0">
                  <a:pos x="38" y="21"/>
                </a:cxn>
                <a:cxn ang="0">
                  <a:pos x="46" y="40"/>
                </a:cxn>
                <a:cxn ang="0">
                  <a:pos x="42" y="39"/>
                </a:cxn>
                <a:cxn ang="0">
                  <a:pos x="34" y="40"/>
                </a:cxn>
                <a:cxn ang="0">
                  <a:pos x="19" y="38"/>
                </a:cxn>
                <a:cxn ang="0">
                  <a:pos x="13" y="38"/>
                </a:cxn>
                <a:cxn ang="0">
                  <a:pos x="0" y="36"/>
                </a:cxn>
                <a:cxn ang="0">
                  <a:pos x="3" y="34"/>
                </a:cxn>
                <a:cxn ang="0">
                  <a:pos x="12" y="32"/>
                </a:cxn>
                <a:cxn ang="0">
                  <a:pos x="16" y="34"/>
                </a:cxn>
                <a:cxn ang="0">
                  <a:pos x="20" y="34"/>
                </a:cxn>
                <a:cxn ang="0">
                  <a:pos x="13" y="30"/>
                </a:cxn>
                <a:cxn ang="0">
                  <a:pos x="22" y="32"/>
                </a:cxn>
                <a:cxn ang="0">
                  <a:pos x="27" y="33"/>
                </a:cxn>
                <a:cxn ang="0">
                  <a:pos x="34" y="34"/>
                </a:cxn>
                <a:cxn ang="0">
                  <a:pos x="37" y="35"/>
                </a:cxn>
                <a:cxn ang="0">
                  <a:pos x="19" y="24"/>
                </a:cxn>
                <a:cxn ang="0">
                  <a:pos x="26" y="16"/>
                </a:cxn>
                <a:cxn ang="0">
                  <a:pos x="15" y="16"/>
                </a:cxn>
                <a:cxn ang="0">
                  <a:pos x="10" y="3"/>
                </a:cxn>
                <a:cxn ang="0">
                  <a:pos x="16" y="0"/>
                </a:cxn>
                <a:cxn ang="0">
                  <a:pos x="31" y="2"/>
                </a:cxn>
              </a:cxnLst>
              <a:rect l="0" t="0" r="r" b="b"/>
              <a:pathLst>
                <a:path w="46" h="40">
                  <a:moveTo>
                    <a:pt x="31" y="2"/>
                  </a:moveTo>
                  <a:lnTo>
                    <a:pt x="38" y="21"/>
                  </a:lnTo>
                  <a:lnTo>
                    <a:pt x="46" y="40"/>
                  </a:lnTo>
                  <a:lnTo>
                    <a:pt x="42" y="39"/>
                  </a:lnTo>
                  <a:lnTo>
                    <a:pt x="34" y="40"/>
                  </a:lnTo>
                  <a:lnTo>
                    <a:pt x="19" y="38"/>
                  </a:lnTo>
                  <a:lnTo>
                    <a:pt x="13" y="38"/>
                  </a:lnTo>
                  <a:lnTo>
                    <a:pt x="0" y="36"/>
                  </a:lnTo>
                  <a:lnTo>
                    <a:pt x="3" y="34"/>
                  </a:lnTo>
                  <a:lnTo>
                    <a:pt x="12" y="32"/>
                  </a:lnTo>
                  <a:lnTo>
                    <a:pt x="16" y="34"/>
                  </a:lnTo>
                  <a:lnTo>
                    <a:pt x="20" y="34"/>
                  </a:lnTo>
                  <a:lnTo>
                    <a:pt x="13" y="30"/>
                  </a:lnTo>
                  <a:lnTo>
                    <a:pt x="22" y="32"/>
                  </a:lnTo>
                  <a:lnTo>
                    <a:pt x="27" y="33"/>
                  </a:lnTo>
                  <a:lnTo>
                    <a:pt x="34" y="34"/>
                  </a:lnTo>
                  <a:lnTo>
                    <a:pt x="37" y="35"/>
                  </a:lnTo>
                  <a:lnTo>
                    <a:pt x="19" y="24"/>
                  </a:lnTo>
                  <a:lnTo>
                    <a:pt x="26" y="16"/>
                  </a:lnTo>
                  <a:lnTo>
                    <a:pt x="15" y="16"/>
                  </a:lnTo>
                  <a:lnTo>
                    <a:pt x="10" y="3"/>
                  </a:lnTo>
                  <a:lnTo>
                    <a:pt x="16" y="0"/>
                  </a:lnTo>
                  <a:lnTo>
                    <a:pt x="3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9" name="Freeform 248"/>
            <p:cNvSpPr>
              <a:spLocks/>
            </p:cNvSpPr>
            <p:nvPr/>
          </p:nvSpPr>
          <p:spPr bwMode="auto">
            <a:xfrm>
              <a:off x="1340" y="3538"/>
              <a:ext cx="16" cy="32"/>
            </a:xfrm>
            <a:custGeom>
              <a:avLst/>
              <a:gdLst/>
              <a:ahLst/>
              <a:cxnLst>
                <a:cxn ang="0">
                  <a:pos x="5" y="0"/>
                </a:cxn>
                <a:cxn ang="0">
                  <a:pos x="0" y="4"/>
                </a:cxn>
                <a:cxn ang="0">
                  <a:pos x="6" y="28"/>
                </a:cxn>
                <a:cxn ang="0">
                  <a:pos x="12" y="25"/>
                </a:cxn>
                <a:cxn ang="0">
                  <a:pos x="14" y="20"/>
                </a:cxn>
                <a:cxn ang="0">
                  <a:pos x="10" y="10"/>
                </a:cxn>
                <a:cxn ang="0">
                  <a:pos x="12" y="8"/>
                </a:cxn>
                <a:cxn ang="0">
                  <a:pos x="5" y="0"/>
                </a:cxn>
              </a:cxnLst>
              <a:rect l="0" t="0" r="r" b="b"/>
              <a:pathLst>
                <a:path w="14" h="28">
                  <a:moveTo>
                    <a:pt x="5" y="0"/>
                  </a:moveTo>
                  <a:lnTo>
                    <a:pt x="0" y="4"/>
                  </a:lnTo>
                  <a:lnTo>
                    <a:pt x="6" y="28"/>
                  </a:lnTo>
                  <a:lnTo>
                    <a:pt x="12" y="25"/>
                  </a:lnTo>
                  <a:lnTo>
                    <a:pt x="14" y="20"/>
                  </a:lnTo>
                  <a:lnTo>
                    <a:pt x="10" y="10"/>
                  </a:lnTo>
                  <a:lnTo>
                    <a:pt x="12" y="8"/>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0" name="Freeform 249"/>
            <p:cNvSpPr>
              <a:spLocks/>
            </p:cNvSpPr>
            <p:nvPr/>
          </p:nvSpPr>
          <p:spPr bwMode="auto">
            <a:xfrm>
              <a:off x="1374" y="3676"/>
              <a:ext cx="15" cy="25"/>
            </a:xfrm>
            <a:custGeom>
              <a:avLst/>
              <a:gdLst/>
              <a:ahLst/>
              <a:cxnLst>
                <a:cxn ang="0">
                  <a:pos x="7" y="0"/>
                </a:cxn>
                <a:cxn ang="0">
                  <a:pos x="0" y="8"/>
                </a:cxn>
                <a:cxn ang="0">
                  <a:pos x="9" y="18"/>
                </a:cxn>
                <a:cxn ang="0">
                  <a:pos x="13" y="21"/>
                </a:cxn>
                <a:cxn ang="0">
                  <a:pos x="15" y="14"/>
                </a:cxn>
                <a:cxn ang="0">
                  <a:pos x="7" y="0"/>
                </a:cxn>
              </a:cxnLst>
              <a:rect l="0" t="0" r="r" b="b"/>
              <a:pathLst>
                <a:path w="15" h="21">
                  <a:moveTo>
                    <a:pt x="7" y="0"/>
                  </a:moveTo>
                  <a:lnTo>
                    <a:pt x="0" y="8"/>
                  </a:lnTo>
                  <a:lnTo>
                    <a:pt x="9" y="18"/>
                  </a:lnTo>
                  <a:lnTo>
                    <a:pt x="13" y="21"/>
                  </a:lnTo>
                  <a:lnTo>
                    <a:pt x="15" y="14"/>
                  </a:lnTo>
                  <a:lnTo>
                    <a:pt x="7"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1" name="Freeform 250"/>
            <p:cNvSpPr>
              <a:spLocks/>
            </p:cNvSpPr>
            <p:nvPr/>
          </p:nvSpPr>
          <p:spPr bwMode="auto">
            <a:xfrm>
              <a:off x="1107" y="2676"/>
              <a:ext cx="100" cy="129"/>
            </a:xfrm>
            <a:custGeom>
              <a:avLst/>
              <a:gdLst/>
              <a:ahLst/>
              <a:cxnLst>
                <a:cxn ang="0">
                  <a:pos x="0" y="45"/>
                </a:cxn>
                <a:cxn ang="0">
                  <a:pos x="3" y="63"/>
                </a:cxn>
                <a:cxn ang="0">
                  <a:pos x="0" y="67"/>
                </a:cxn>
                <a:cxn ang="0">
                  <a:pos x="11" y="72"/>
                </a:cxn>
                <a:cxn ang="0">
                  <a:pos x="15" y="67"/>
                </a:cxn>
                <a:cxn ang="0">
                  <a:pos x="16" y="71"/>
                </a:cxn>
                <a:cxn ang="0">
                  <a:pos x="16" y="83"/>
                </a:cxn>
                <a:cxn ang="0">
                  <a:pos x="10" y="85"/>
                </a:cxn>
                <a:cxn ang="0">
                  <a:pos x="11" y="96"/>
                </a:cxn>
                <a:cxn ang="0">
                  <a:pos x="7" y="104"/>
                </a:cxn>
                <a:cxn ang="0">
                  <a:pos x="13" y="102"/>
                </a:cxn>
                <a:cxn ang="0">
                  <a:pos x="30" y="115"/>
                </a:cxn>
                <a:cxn ang="0">
                  <a:pos x="35" y="108"/>
                </a:cxn>
                <a:cxn ang="0">
                  <a:pos x="37" y="101"/>
                </a:cxn>
                <a:cxn ang="0">
                  <a:pos x="41" y="95"/>
                </a:cxn>
                <a:cxn ang="0">
                  <a:pos x="43" y="84"/>
                </a:cxn>
                <a:cxn ang="0">
                  <a:pos x="45" y="84"/>
                </a:cxn>
                <a:cxn ang="0">
                  <a:pos x="46" y="86"/>
                </a:cxn>
                <a:cxn ang="0">
                  <a:pos x="48" y="86"/>
                </a:cxn>
                <a:cxn ang="0">
                  <a:pos x="47" y="83"/>
                </a:cxn>
                <a:cxn ang="0">
                  <a:pos x="51" y="79"/>
                </a:cxn>
                <a:cxn ang="0">
                  <a:pos x="60" y="74"/>
                </a:cxn>
                <a:cxn ang="0">
                  <a:pos x="77" y="63"/>
                </a:cxn>
                <a:cxn ang="0">
                  <a:pos x="87" y="42"/>
                </a:cxn>
                <a:cxn ang="0">
                  <a:pos x="90" y="43"/>
                </a:cxn>
                <a:cxn ang="0">
                  <a:pos x="84" y="29"/>
                </a:cxn>
                <a:cxn ang="0">
                  <a:pos x="89" y="27"/>
                </a:cxn>
                <a:cxn ang="0">
                  <a:pos x="71" y="18"/>
                </a:cxn>
                <a:cxn ang="0">
                  <a:pos x="55" y="18"/>
                </a:cxn>
                <a:cxn ang="0">
                  <a:pos x="46" y="9"/>
                </a:cxn>
                <a:cxn ang="0">
                  <a:pos x="33" y="0"/>
                </a:cxn>
                <a:cxn ang="0">
                  <a:pos x="27" y="6"/>
                </a:cxn>
                <a:cxn ang="0">
                  <a:pos x="12" y="13"/>
                </a:cxn>
                <a:cxn ang="0">
                  <a:pos x="9" y="27"/>
                </a:cxn>
                <a:cxn ang="0">
                  <a:pos x="7" y="36"/>
                </a:cxn>
                <a:cxn ang="0">
                  <a:pos x="0" y="45"/>
                </a:cxn>
              </a:cxnLst>
              <a:rect l="0" t="0" r="r" b="b"/>
              <a:pathLst>
                <a:path w="90" h="115">
                  <a:moveTo>
                    <a:pt x="0" y="45"/>
                  </a:moveTo>
                  <a:lnTo>
                    <a:pt x="3" y="63"/>
                  </a:lnTo>
                  <a:lnTo>
                    <a:pt x="0" y="67"/>
                  </a:lnTo>
                  <a:lnTo>
                    <a:pt x="11" y="72"/>
                  </a:lnTo>
                  <a:lnTo>
                    <a:pt x="15" y="67"/>
                  </a:lnTo>
                  <a:lnTo>
                    <a:pt x="16" y="71"/>
                  </a:lnTo>
                  <a:lnTo>
                    <a:pt x="16" y="83"/>
                  </a:lnTo>
                  <a:lnTo>
                    <a:pt x="10" y="85"/>
                  </a:lnTo>
                  <a:lnTo>
                    <a:pt x="11" y="96"/>
                  </a:lnTo>
                  <a:lnTo>
                    <a:pt x="7" y="104"/>
                  </a:lnTo>
                  <a:lnTo>
                    <a:pt x="13" y="102"/>
                  </a:lnTo>
                  <a:lnTo>
                    <a:pt x="30" y="115"/>
                  </a:lnTo>
                  <a:lnTo>
                    <a:pt x="35" y="108"/>
                  </a:lnTo>
                  <a:lnTo>
                    <a:pt x="37" y="101"/>
                  </a:lnTo>
                  <a:lnTo>
                    <a:pt x="41" y="95"/>
                  </a:lnTo>
                  <a:lnTo>
                    <a:pt x="43" y="84"/>
                  </a:lnTo>
                  <a:lnTo>
                    <a:pt x="45" y="84"/>
                  </a:lnTo>
                  <a:lnTo>
                    <a:pt x="46" y="86"/>
                  </a:lnTo>
                  <a:lnTo>
                    <a:pt x="48" y="86"/>
                  </a:lnTo>
                  <a:lnTo>
                    <a:pt x="47" y="83"/>
                  </a:lnTo>
                  <a:lnTo>
                    <a:pt x="51" y="79"/>
                  </a:lnTo>
                  <a:lnTo>
                    <a:pt x="60" y="74"/>
                  </a:lnTo>
                  <a:lnTo>
                    <a:pt x="77" y="63"/>
                  </a:lnTo>
                  <a:lnTo>
                    <a:pt x="87" y="42"/>
                  </a:lnTo>
                  <a:lnTo>
                    <a:pt x="90" y="43"/>
                  </a:lnTo>
                  <a:lnTo>
                    <a:pt x="84" y="29"/>
                  </a:lnTo>
                  <a:lnTo>
                    <a:pt x="89" y="27"/>
                  </a:lnTo>
                  <a:lnTo>
                    <a:pt x="71" y="18"/>
                  </a:lnTo>
                  <a:lnTo>
                    <a:pt x="55" y="18"/>
                  </a:lnTo>
                  <a:lnTo>
                    <a:pt x="46" y="9"/>
                  </a:lnTo>
                  <a:lnTo>
                    <a:pt x="33" y="0"/>
                  </a:lnTo>
                  <a:lnTo>
                    <a:pt x="27" y="6"/>
                  </a:lnTo>
                  <a:lnTo>
                    <a:pt x="12" y="13"/>
                  </a:lnTo>
                  <a:lnTo>
                    <a:pt x="9" y="27"/>
                  </a:lnTo>
                  <a:lnTo>
                    <a:pt x="7" y="36"/>
                  </a:lnTo>
                  <a:lnTo>
                    <a:pt x="0" y="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2" name="Freeform 251"/>
            <p:cNvSpPr>
              <a:spLocks/>
            </p:cNvSpPr>
            <p:nvPr/>
          </p:nvSpPr>
          <p:spPr bwMode="auto">
            <a:xfrm>
              <a:off x="1120" y="2761"/>
              <a:ext cx="3" cy="2"/>
            </a:xfrm>
            <a:custGeom>
              <a:avLst/>
              <a:gdLst/>
              <a:ahLst/>
              <a:cxnLst>
                <a:cxn ang="0">
                  <a:pos x="4" y="0"/>
                </a:cxn>
                <a:cxn ang="0">
                  <a:pos x="1" y="3"/>
                </a:cxn>
                <a:cxn ang="0">
                  <a:pos x="0" y="0"/>
                </a:cxn>
                <a:cxn ang="0">
                  <a:pos x="4" y="0"/>
                </a:cxn>
              </a:cxnLst>
              <a:rect l="0" t="0" r="r" b="b"/>
              <a:pathLst>
                <a:path w="4" h="3">
                  <a:moveTo>
                    <a:pt x="4" y="0"/>
                  </a:moveTo>
                  <a:lnTo>
                    <a:pt x="1" y="3"/>
                  </a:lnTo>
                  <a:lnTo>
                    <a:pt x="0" y="0"/>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3" name="Freeform 252"/>
            <p:cNvSpPr>
              <a:spLocks/>
            </p:cNvSpPr>
            <p:nvPr/>
          </p:nvSpPr>
          <p:spPr bwMode="auto">
            <a:xfrm>
              <a:off x="1100" y="2707"/>
              <a:ext cx="231" cy="365"/>
            </a:xfrm>
            <a:custGeom>
              <a:avLst/>
              <a:gdLst/>
              <a:ahLst/>
              <a:cxnLst>
                <a:cxn ang="0">
                  <a:pos x="201" y="259"/>
                </a:cxn>
                <a:cxn ang="0">
                  <a:pos x="203" y="289"/>
                </a:cxn>
                <a:cxn ang="0">
                  <a:pos x="201" y="306"/>
                </a:cxn>
                <a:cxn ang="0">
                  <a:pos x="197" y="321"/>
                </a:cxn>
                <a:cxn ang="0">
                  <a:pos x="188" y="329"/>
                </a:cxn>
                <a:cxn ang="0">
                  <a:pos x="171" y="311"/>
                </a:cxn>
                <a:cxn ang="0">
                  <a:pos x="143" y="295"/>
                </a:cxn>
                <a:cxn ang="0">
                  <a:pos x="117" y="280"/>
                </a:cxn>
                <a:cxn ang="0">
                  <a:pos x="89" y="253"/>
                </a:cxn>
                <a:cxn ang="0">
                  <a:pos x="78" y="225"/>
                </a:cxn>
                <a:cxn ang="0">
                  <a:pos x="60" y="192"/>
                </a:cxn>
                <a:cxn ang="0">
                  <a:pos x="47" y="167"/>
                </a:cxn>
                <a:cxn ang="0">
                  <a:pos x="34" y="141"/>
                </a:cxn>
                <a:cxn ang="0">
                  <a:pos x="16" y="118"/>
                </a:cxn>
                <a:cxn ang="0">
                  <a:pos x="5" y="105"/>
                </a:cxn>
                <a:cxn ang="0">
                  <a:pos x="8" y="70"/>
                </a:cxn>
                <a:cxn ang="0">
                  <a:pos x="16" y="70"/>
                </a:cxn>
                <a:cxn ang="0">
                  <a:pos x="18" y="76"/>
                </a:cxn>
                <a:cxn ang="0">
                  <a:pos x="40" y="82"/>
                </a:cxn>
                <a:cxn ang="0">
                  <a:pos x="46" y="69"/>
                </a:cxn>
                <a:cxn ang="0">
                  <a:pos x="50" y="58"/>
                </a:cxn>
                <a:cxn ang="0">
                  <a:pos x="53" y="60"/>
                </a:cxn>
                <a:cxn ang="0">
                  <a:pos x="56" y="53"/>
                </a:cxn>
                <a:cxn ang="0">
                  <a:pos x="82" y="37"/>
                </a:cxn>
                <a:cxn ang="0">
                  <a:pos x="95" y="17"/>
                </a:cxn>
                <a:cxn ang="0">
                  <a:pos x="94" y="1"/>
                </a:cxn>
                <a:cxn ang="0">
                  <a:pos x="104" y="9"/>
                </a:cxn>
                <a:cxn ang="0">
                  <a:pos x="125" y="31"/>
                </a:cxn>
                <a:cxn ang="0">
                  <a:pos x="148" y="40"/>
                </a:cxn>
                <a:cxn ang="0">
                  <a:pos x="176" y="46"/>
                </a:cxn>
                <a:cxn ang="0">
                  <a:pos x="179" y="75"/>
                </a:cxn>
                <a:cxn ang="0">
                  <a:pos x="161" y="78"/>
                </a:cxn>
                <a:cxn ang="0">
                  <a:pos x="136" y="90"/>
                </a:cxn>
                <a:cxn ang="0">
                  <a:pos x="128" y="118"/>
                </a:cxn>
                <a:cxn ang="0">
                  <a:pos x="126" y="145"/>
                </a:cxn>
                <a:cxn ang="0">
                  <a:pos x="132" y="167"/>
                </a:cxn>
                <a:cxn ang="0">
                  <a:pos x="148" y="175"/>
                </a:cxn>
                <a:cxn ang="0">
                  <a:pos x="172" y="169"/>
                </a:cxn>
                <a:cxn ang="0">
                  <a:pos x="174" y="197"/>
                </a:cxn>
                <a:cxn ang="0">
                  <a:pos x="198" y="209"/>
                </a:cxn>
                <a:cxn ang="0">
                  <a:pos x="204" y="228"/>
                </a:cxn>
              </a:cxnLst>
              <a:rect l="0" t="0" r="r" b="b"/>
              <a:pathLst>
                <a:path w="208" h="329">
                  <a:moveTo>
                    <a:pt x="204" y="250"/>
                  </a:moveTo>
                  <a:lnTo>
                    <a:pt x="201" y="259"/>
                  </a:lnTo>
                  <a:lnTo>
                    <a:pt x="201" y="274"/>
                  </a:lnTo>
                  <a:lnTo>
                    <a:pt x="203" y="289"/>
                  </a:lnTo>
                  <a:lnTo>
                    <a:pt x="208" y="291"/>
                  </a:lnTo>
                  <a:lnTo>
                    <a:pt x="201" y="306"/>
                  </a:lnTo>
                  <a:lnTo>
                    <a:pt x="201" y="313"/>
                  </a:lnTo>
                  <a:lnTo>
                    <a:pt x="197" y="321"/>
                  </a:lnTo>
                  <a:lnTo>
                    <a:pt x="191" y="328"/>
                  </a:lnTo>
                  <a:lnTo>
                    <a:pt x="188" y="329"/>
                  </a:lnTo>
                  <a:lnTo>
                    <a:pt x="178" y="321"/>
                  </a:lnTo>
                  <a:lnTo>
                    <a:pt x="171" y="311"/>
                  </a:lnTo>
                  <a:lnTo>
                    <a:pt x="158" y="304"/>
                  </a:lnTo>
                  <a:lnTo>
                    <a:pt x="143" y="295"/>
                  </a:lnTo>
                  <a:lnTo>
                    <a:pt x="130" y="288"/>
                  </a:lnTo>
                  <a:lnTo>
                    <a:pt x="117" y="280"/>
                  </a:lnTo>
                  <a:lnTo>
                    <a:pt x="102" y="267"/>
                  </a:lnTo>
                  <a:lnTo>
                    <a:pt x="89" y="253"/>
                  </a:lnTo>
                  <a:lnTo>
                    <a:pt x="89" y="244"/>
                  </a:lnTo>
                  <a:lnTo>
                    <a:pt x="78" y="225"/>
                  </a:lnTo>
                  <a:lnTo>
                    <a:pt x="69" y="204"/>
                  </a:lnTo>
                  <a:lnTo>
                    <a:pt x="60" y="192"/>
                  </a:lnTo>
                  <a:lnTo>
                    <a:pt x="53" y="180"/>
                  </a:lnTo>
                  <a:lnTo>
                    <a:pt x="47" y="167"/>
                  </a:lnTo>
                  <a:lnTo>
                    <a:pt x="40" y="154"/>
                  </a:lnTo>
                  <a:lnTo>
                    <a:pt x="34" y="141"/>
                  </a:lnTo>
                  <a:lnTo>
                    <a:pt x="27" y="127"/>
                  </a:lnTo>
                  <a:lnTo>
                    <a:pt x="16" y="118"/>
                  </a:lnTo>
                  <a:lnTo>
                    <a:pt x="4" y="109"/>
                  </a:lnTo>
                  <a:lnTo>
                    <a:pt x="5" y="105"/>
                  </a:lnTo>
                  <a:lnTo>
                    <a:pt x="0" y="81"/>
                  </a:lnTo>
                  <a:lnTo>
                    <a:pt x="8" y="70"/>
                  </a:lnTo>
                  <a:lnTo>
                    <a:pt x="15" y="59"/>
                  </a:lnTo>
                  <a:lnTo>
                    <a:pt x="16" y="70"/>
                  </a:lnTo>
                  <a:lnTo>
                    <a:pt x="12" y="78"/>
                  </a:lnTo>
                  <a:lnTo>
                    <a:pt x="18" y="76"/>
                  </a:lnTo>
                  <a:lnTo>
                    <a:pt x="35" y="89"/>
                  </a:lnTo>
                  <a:lnTo>
                    <a:pt x="40" y="82"/>
                  </a:lnTo>
                  <a:lnTo>
                    <a:pt x="42" y="75"/>
                  </a:lnTo>
                  <a:lnTo>
                    <a:pt x="46" y="69"/>
                  </a:lnTo>
                  <a:lnTo>
                    <a:pt x="48" y="58"/>
                  </a:lnTo>
                  <a:lnTo>
                    <a:pt x="50" y="58"/>
                  </a:lnTo>
                  <a:lnTo>
                    <a:pt x="51" y="60"/>
                  </a:lnTo>
                  <a:lnTo>
                    <a:pt x="53" y="60"/>
                  </a:lnTo>
                  <a:lnTo>
                    <a:pt x="52" y="57"/>
                  </a:lnTo>
                  <a:lnTo>
                    <a:pt x="56" y="53"/>
                  </a:lnTo>
                  <a:lnTo>
                    <a:pt x="65" y="48"/>
                  </a:lnTo>
                  <a:lnTo>
                    <a:pt x="82" y="37"/>
                  </a:lnTo>
                  <a:lnTo>
                    <a:pt x="92" y="16"/>
                  </a:lnTo>
                  <a:lnTo>
                    <a:pt x="95" y="17"/>
                  </a:lnTo>
                  <a:lnTo>
                    <a:pt x="89" y="3"/>
                  </a:lnTo>
                  <a:lnTo>
                    <a:pt x="94" y="1"/>
                  </a:lnTo>
                  <a:lnTo>
                    <a:pt x="95" y="0"/>
                  </a:lnTo>
                  <a:lnTo>
                    <a:pt x="104" y="9"/>
                  </a:lnTo>
                  <a:lnTo>
                    <a:pt x="113" y="17"/>
                  </a:lnTo>
                  <a:lnTo>
                    <a:pt x="125" y="31"/>
                  </a:lnTo>
                  <a:lnTo>
                    <a:pt x="128" y="40"/>
                  </a:lnTo>
                  <a:lnTo>
                    <a:pt x="148" y="40"/>
                  </a:lnTo>
                  <a:lnTo>
                    <a:pt x="160" y="41"/>
                  </a:lnTo>
                  <a:lnTo>
                    <a:pt x="176" y="46"/>
                  </a:lnTo>
                  <a:lnTo>
                    <a:pt x="170" y="67"/>
                  </a:lnTo>
                  <a:lnTo>
                    <a:pt x="179" y="75"/>
                  </a:lnTo>
                  <a:lnTo>
                    <a:pt x="174" y="75"/>
                  </a:lnTo>
                  <a:lnTo>
                    <a:pt x="161" y="78"/>
                  </a:lnTo>
                  <a:lnTo>
                    <a:pt x="148" y="84"/>
                  </a:lnTo>
                  <a:lnTo>
                    <a:pt x="136" y="90"/>
                  </a:lnTo>
                  <a:lnTo>
                    <a:pt x="131" y="103"/>
                  </a:lnTo>
                  <a:lnTo>
                    <a:pt x="128" y="118"/>
                  </a:lnTo>
                  <a:lnTo>
                    <a:pt x="119" y="132"/>
                  </a:lnTo>
                  <a:lnTo>
                    <a:pt x="126" y="145"/>
                  </a:lnTo>
                  <a:lnTo>
                    <a:pt x="134" y="159"/>
                  </a:lnTo>
                  <a:lnTo>
                    <a:pt x="132" y="167"/>
                  </a:lnTo>
                  <a:lnTo>
                    <a:pt x="140" y="168"/>
                  </a:lnTo>
                  <a:lnTo>
                    <a:pt x="148" y="175"/>
                  </a:lnTo>
                  <a:lnTo>
                    <a:pt x="161" y="179"/>
                  </a:lnTo>
                  <a:lnTo>
                    <a:pt x="172" y="169"/>
                  </a:lnTo>
                  <a:lnTo>
                    <a:pt x="173" y="184"/>
                  </a:lnTo>
                  <a:lnTo>
                    <a:pt x="174" y="197"/>
                  </a:lnTo>
                  <a:lnTo>
                    <a:pt x="191" y="196"/>
                  </a:lnTo>
                  <a:lnTo>
                    <a:pt x="198" y="209"/>
                  </a:lnTo>
                  <a:lnTo>
                    <a:pt x="207" y="223"/>
                  </a:lnTo>
                  <a:lnTo>
                    <a:pt x="204" y="228"/>
                  </a:lnTo>
                  <a:lnTo>
                    <a:pt x="204" y="25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4" name="Freeform 253"/>
            <p:cNvSpPr>
              <a:spLocks/>
            </p:cNvSpPr>
            <p:nvPr/>
          </p:nvSpPr>
          <p:spPr bwMode="auto">
            <a:xfrm>
              <a:off x="3731" y="1648"/>
              <a:ext cx="898" cy="653"/>
            </a:xfrm>
            <a:custGeom>
              <a:avLst/>
              <a:gdLst/>
              <a:ahLst/>
              <a:cxnLst>
                <a:cxn ang="0">
                  <a:pos x="324" y="454"/>
                </a:cxn>
                <a:cxn ang="0">
                  <a:pos x="270" y="453"/>
                </a:cxn>
                <a:cxn ang="0">
                  <a:pos x="205" y="432"/>
                </a:cxn>
                <a:cxn ang="0">
                  <a:pos x="155" y="412"/>
                </a:cxn>
                <a:cxn ang="0">
                  <a:pos x="106" y="369"/>
                </a:cxn>
                <a:cxn ang="0">
                  <a:pos x="107" y="337"/>
                </a:cxn>
                <a:cxn ang="0">
                  <a:pos x="94" y="321"/>
                </a:cxn>
                <a:cxn ang="0">
                  <a:pos x="43" y="293"/>
                </a:cxn>
                <a:cxn ang="0">
                  <a:pos x="31" y="283"/>
                </a:cxn>
                <a:cxn ang="0">
                  <a:pos x="17" y="227"/>
                </a:cxn>
                <a:cxn ang="0">
                  <a:pos x="68" y="204"/>
                </a:cxn>
                <a:cxn ang="0">
                  <a:pos x="72" y="166"/>
                </a:cxn>
                <a:cxn ang="0">
                  <a:pos x="88" y="137"/>
                </a:cxn>
                <a:cxn ang="0">
                  <a:pos x="113" y="91"/>
                </a:cxn>
                <a:cxn ang="0">
                  <a:pos x="144" y="82"/>
                </a:cxn>
                <a:cxn ang="0">
                  <a:pos x="208" y="141"/>
                </a:cxn>
                <a:cxn ang="0">
                  <a:pos x="295" y="173"/>
                </a:cxn>
                <a:cxn ang="0">
                  <a:pos x="389" y="191"/>
                </a:cxn>
                <a:cxn ang="0">
                  <a:pos x="452" y="201"/>
                </a:cxn>
                <a:cxn ang="0">
                  <a:pos x="523" y="169"/>
                </a:cxn>
                <a:cxn ang="0">
                  <a:pos x="560" y="138"/>
                </a:cxn>
                <a:cxn ang="0">
                  <a:pos x="569" y="93"/>
                </a:cxn>
                <a:cxn ang="0">
                  <a:pos x="533" y="89"/>
                </a:cxn>
                <a:cxn ang="0">
                  <a:pos x="556" y="41"/>
                </a:cxn>
                <a:cxn ang="0">
                  <a:pos x="566" y="0"/>
                </a:cxn>
                <a:cxn ang="0">
                  <a:pos x="662" y="48"/>
                </a:cxn>
                <a:cxn ang="0">
                  <a:pos x="751" y="99"/>
                </a:cxn>
                <a:cxn ang="0">
                  <a:pos x="809" y="145"/>
                </a:cxn>
                <a:cxn ang="0">
                  <a:pos x="800" y="187"/>
                </a:cxn>
                <a:cxn ang="0">
                  <a:pos x="773" y="201"/>
                </a:cxn>
                <a:cxn ang="0">
                  <a:pos x="738" y="233"/>
                </a:cxn>
                <a:cxn ang="0">
                  <a:pos x="707" y="246"/>
                </a:cxn>
                <a:cxn ang="0">
                  <a:pos x="676" y="233"/>
                </a:cxn>
                <a:cxn ang="0">
                  <a:pos x="676" y="270"/>
                </a:cxn>
                <a:cxn ang="0">
                  <a:pos x="734" y="283"/>
                </a:cxn>
                <a:cxn ang="0">
                  <a:pos x="708" y="311"/>
                </a:cxn>
                <a:cxn ang="0">
                  <a:pos x="764" y="384"/>
                </a:cxn>
                <a:cxn ang="0">
                  <a:pos x="756" y="407"/>
                </a:cxn>
                <a:cxn ang="0">
                  <a:pos x="774" y="424"/>
                </a:cxn>
                <a:cxn ang="0">
                  <a:pos x="778" y="437"/>
                </a:cxn>
                <a:cxn ang="0">
                  <a:pos x="770" y="455"/>
                </a:cxn>
                <a:cxn ang="0">
                  <a:pos x="756" y="485"/>
                </a:cxn>
                <a:cxn ang="0">
                  <a:pos x="758" y="499"/>
                </a:cxn>
                <a:cxn ang="0">
                  <a:pos x="743" y="515"/>
                </a:cxn>
                <a:cxn ang="0">
                  <a:pos x="721" y="540"/>
                </a:cxn>
                <a:cxn ang="0">
                  <a:pos x="700" y="545"/>
                </a:cxn>
                <a:cxn ang="0">
                  <a:pos x="677" y="543"/>
                </a:cxn>
                <a:cxn ang="0">
                  <a:pos x="668" y="562"/>
                </a:cxn>
                <a:cxn ang="0">
                  <a:pos x="640" y="569"/>
                </a:cxn>
                <a:cxn ang="0">
                  <a:pos x="628" y="569"/>
                </a:cxn>
                <a:cxn ang="0">
                  <a:pos x="604" y="563"/>
                </a:cxn>
                <a:cxn ang="0">
                  <a:pos x="554" y="537"/>
                </a:cxn>
                <a:cxn ang="0">
                  <a:pos x="527" y="546"/>
                </a:cxn>
                <a:cxn ang="0">
                  <a:pos x="497" y="551"/>
                </a:cxn>
                <a:cxn ang="0">
                  <a:pos x="476" y="567"/>
                </a:cxn>
                <a:cxn ang="0">
                  <a:pos x="448" y="522"/>
                </a:cxn>
                <a:cxn ang="0">
                  <a:pos x="436" y="495"/>
                </a:cxn>
                <a:cxn ang="0">
                  <a:pos x="412" y="441"/>
                </a:cxn>
                <a:cxn ang="0">
                  <a:pos x="389" y="427"/>
                </a:cxn>
              </a:cxnLst>
              <a:rect l="0" t="0" r="r" b="b"/>
              <a:pathLst>
                <a:path w="809" h="588">
                  <a:moveTo>
                    <a:pt x="361" y="429"/>
                  </a:moveTo>
                  <a:lnTo>
                    <a:pt x="350" y="438"/>
                  </a:lnTo>
                  <a:lnTo>
                    <a:pt x="338" y="449"/>
                  </a:lnTo>
                  <a:lnTo>
                    <a:pt x="325" y="454"/>
                  </a:lnTo>
                  <a:lnTo>
                    <a:pt x="324" y="454"/>
                  </a:lnTo>
                  <a:lnTo>
                    <a:pt x="317" y="449"/>
                  </a:lnTo>
                  <a:lnTo>
                    <a:pt x="295" y="447"/>
                  </a:lnTo>
                  <a:lnTo>
                    <a:pt x="284" y="462"/>
                  </a:lnTo>
                  <a:lnTo>
                    <a:pt x="277" y="448"/>
                  </a:lnTo>
                  <a:lnTo>
                    <a:pt x="270" y="453"/>
                  </a:lnTo>
                  <a:lnTo>
                    <a:pt x="252" y="450"/>
                  </a:lnTo>
                  <a:lnTo>
                    <a:pt x="238" y="449"/>
                  </a:lnTo>
                  <a:lnTo>
                    <a:pt x="222" y="442"/>
                  </a:lnTo>
                  <a:lnTo>
                    <a:pt x="220" y="438"/>
                  </a:lnTo>
                  <a:lnTo>
                    <a:pt x="205" y="432"/>
                  </a:lnTo>
                  <a:lnTo>
                    <a:pt x="200" y="426"/>
                  </a:lnTo>
                  <a:lnTo>
                    <a:pt x="194" y="429"/>
                  </a:lnTo>
                  <a:lnTo>
                    <a:pt x="174" y="414"/>
                  </a:lnTo>
                  <a:lnTo>
                    <a:pt x="161" y="406"/>
                  </a:lnTo>
                  <a:lnTo>
                    <a:pt x="155" y="412"/>
                  </a:lnTo>
                  <a:lnTo>
                    <a:pt x="154" y="411"/>
                  </a:lnTo>
                  <a:lnTo>
                    <a:pt x="139" y="401"/>
                  </a:lnTo>
                  <a:lnTo>
                    <a:pt x="120" y="390"/>
                  </a:lnTo>
                  <a:lnTo>
                    <a:pt x="113" y="388"/>
                  </a:lnTo>
                  <a:lnTo>
                    <a:pt x="106" y="369"/>
                  </a:lnTo>
                  <a:lnTo>
                    <a:pt x="115" y="370"/>
                  </a:lnTo>
                  <a:lnTo>
                    <a:pt x="118" y="363"/>
                  </a:lnTo>
                  <a:lnTo>
                    <a:pt x="108" y="349"/>
                  </a:lnTo>
                  <a:lnTo>
                    <a:pt x="108" y="342"/>
                  </a:lnTo>
                  <a:lnTo>
                    <a:pt x="107" y="337"/>
                  </a:lnTo>
                  <a:lnTo>
                    <a:pt x="103" y="335"/>
                  </a:lnTo>
                  <a:lnTo>
                    <a:pt x="101" y="331"/>
                  </a:lnTo>
                  <a:lnTo>
                    <a:pt x="100" y="327"/>
                  </a:lnTo>
                  <a:lnTo>
                    <a:pt x="98" y="322"/>
                  </a:lnTo>
                  <a:lnTo>
                    <a:pt x="94" y="321"/>
                  </a:lnTo>
                  <a:lnTo>
                    <a:pt x="86" y="317"/>
                  </a:lnTo>
                  <a:lnTo>
                    <a:pt x="82" y="316"/>
                  </a:lnTo>
                  <a:lnTo>
                    <a:pt x="61" y="310"/>
                  </a:lnTo>
                  <a:lnTo>
                    <a:pt x="50" y="305"/>
                  </a:lnTo>
                  <a:lnTo>
                    <a:pt x="43" y="293"/>
                  </a:lnTo>
                  <a:lnTo>
                    <a:pt x="25" y="288"/>
                  </a:lnTo>
                  <a:lnTo>
                    <a:pt x="25" y="285"/>
                  </a:lnTo>
                  <a:lnTo>
                    <a:pt x="29" y="285"/>
                  </a:lnTo>
                  <a:lnTo>
                    <a:pt x="30" y="285"/>
                  </a:lnTo>
                  <a:lnTo>
                    <a:pt x="31" y="283"/>
                  </a:lnTo>
                  <a:lnTo>
                    <a:pt x="23" y="262"/>
                  </a:lnTo>
                  <a:lnTo>
                    <a:pt x="8" y="261"/>
                  </a:lnTo>
                  <a:lnTo>
                    <a:pt x="0" y="246"/>
                  </a:lnTo>
                  <a:lnTo>
                    <a:pt x="6" y="233"/>
                  </a:lnTo>
                  <a:lnTo>
                    <a:pt x="17" y="227"/>
                  </a:lnTo>
                  <a:lnTo>
                    <a:pt x="24" y="226"/>
                  </a:lnTo>
                  <a:lnTo>
                    <a:pt x="32" y="228"/>
                  </a:lnTo>
                  <a:lnTo>
                    <a:pt x="42" y="217"/>
                  </a:lnTo>
                  <a:lnTo>
                    <a:pt x="58" y="213"/>
                  </a:lnTo>
                  <a:lnTo>
                    <a:pt x="68" y="204"/>
                  </a:lnTo>
                  <a:lnTo>
                    <a:pt x="79" y="195"/>
                  </a:lnTo>
                  <a:lnTo>
                    <a:pt x="76" y="186"/>
                  </a:lnTo>
                  <a:lnTo>
                    <a:pt x="79" y="183"/>
                  </a:lnTo>
                  <a:lnTo>
                    <a:pt x="79" y="179"/>
                  </a:lnTo>
                  <a:lnTo>
                    <a:pt x="72" y="166"/>
                  </a:lnTo>
                  <a:lnTo>
                    <a:pt x="66" y="153"/>
                  </a:lnTo>
                  <a:lnTo>
                    <a:pt x="56" y="149"/>
                  </a:lnTo>
                  <a:lnTo>
                    <a:pt x="73" y="142"/>
                  </a:lnTo>
                  <a:lnTo>
                    <a:pt x="94" y="144"/>
                  </a:lnTo>
                  <a:lnTo>
                    <a:pt x="88" y="137"/>
                  </a:lnTo>
                  <a:lnTo>
                    <a:pt x="86" y="123"/>
                  </a:lnTo>
                  <a:lnTo>
                    <a:pt x="84" y="107"/>
                  </a:lnTo>
                  <a:lnTo>
                    <a:pt x="107" y="112"/>
                  </a:lnTo>
                  <a:lnTo>
                    <a:pt x="120" y="109"/>
                  </a:lnTo>
                  <a:lnTo>
                    <a:pt x="113" y="91"/>
                  </a:lnTo>
                  <a:lnTo>
                    <a:pt x="120" y="87"/>
                  </a:lnTo>
                  <a:lnTo>
                    <a:pt x="126" y="75"/>
                  </a:lnTo>
                  <a:lnTo>
                    <a:pt x="137" y="73"/>
                  </a:lnTo>
                  <a:lnTo>
                    <a:pt x="138" y="76"/>
                  </a:lnTo>
                  <a:lnTo>
                    <a:pt x="144" y="82"/>
                  </a:lnTo>
                  <a:lnTo>
                    <a:pt x="164" y="95"/>
                  </a:lnTo>
                  <a:lnTo>
                    <a:pt x="175" y="97"/>
                  </a:lnTo>
                  <a:lnTo>
                    <a:pt x="197" y="112"/>
                  </a:lnTo>
                  <a:lnTo>
                    <a:pt x="202" y="126"/>
                  </a:lnTo>
                  <a:lnTo>
                    <a:pt x="208" y="141"/>
                  </a:lnTo>
                  <a:lnTo>
                    <a:pt x="224" y="143"/>
                  </a:lnTo>
                  <a:lnTo>
                    <a:pt x="241" y="147"/>
                  </a:lnTo>
                  <a:lnTo>
                    <a:pt x="262" y="153"/>
                  </a:lnTo>
                  <a:lnTo>
                    <a:pt x="282" y="159"/>
                  </a:lnTo>
                  <a:lnTo>
                    <a:pt x="295" y="173"/>
                  </a:lnTo>
                  <a:lnTo>
                    <a:pt x="308" y="186"/>
                  </a:lnTo>
                  <a:lnTo>
                    <a:pt x="329" y="187"/>
                  </a:lnTo>
                  <a:lnTo>
                    <a:pt x="348" y="189"/>
                  </a:lnTo>
                  <a:lnTo>
                    <a:pt x="368" y="190"/>
                  </a:lnTo>
                  <a:lnTo>
                    <a:pt x="389" y="191"/>
                  </a:lnTo>
                  <a:lnTo>
                    <a:pt x="395" y="196"/>
                  </a:lnTo>
                  <a:lnTo>
                    <a:pt x="413" y="199"/>
                  </a:lnTo>
                  <a:lnTo>
                    <a:pt x="431" y="203"/>
                  </a:lnTo>
                  <a:lnTo>
                    <a:pt x="442" y="208"/>
                  </a:lnTo>
                  <a:lnTo>
                    <a:pt x="452" y="201"/>
                  </a:lnTo>
                  <a:lnTo>
                    <a:pt x="462" y="195"/>
                  </a:lnTo>
                  <a:lnTo>
                    <a:pt x="480" y="193"/>
                  </a:lnTo>
                  <a:lnTo>
                    <a:pt x="497" y="192"/>
                  </a:lnTo>
                  <a:lnTo>
                    <a:pt x="510" y="180"/>
                  </a:lnTo>
                  <a:lnTo>
                    <a:pt x="523" y="169"/>
                  </a:lnTo>
                  <a:lnTo>
                    <a:pt x="514" y="161"/>
                  </a:lnTo>
                  <a:lnTo>
                    <a:pt x="511" y="144"/>
                  </a:lnTo>
                  <a:lnTo>
                    <a:pt x="533" y="150"/>
                  </a:lnTo>
                  <a:lnTo>
                    <a:pt x="546" y="142"/>
                  </a:lnTo>
                  <a:lnTo>
                    <a:pt x="560" y="138"/>
                  </a:lnTo>
                  <a:lnTo>
                    <a:pt x="563" y="126"/>
                  </a:lnTo>
                  <a:lnTo>
                    <a:pt x="580" y="118"/>
                  </a:lnTo>
                  <a:lnTo>
                    <a:pt x="604" y="118"/>
                  </a:lnTo>
                  <a:lnTo>
                    <a:pt x="600" y="109"/>
                  </a:lnTo>
                  <a:lnTo>
                    <a:pt x="569" y="93"/>
                  </a:lnTo>
                  <a:lnTo>
                    <a:pt x="562" y="100"/>
                  </a:lnTo>
                  <a:lnTo>
                    <a:pt x="557" y="97"/>
                  </a:lnTo>
                  <a:lnTo>
                    <a:pt x="541" y="97"/>
                  </a:lnTo>
                  <a:lnTo>
                    <a:pt x="529" y="90"/>
                  </a:lnTo>
                  <a:lnTo>
                    <a:pt x="533" y="89"/>
                  </a:lnTo>
                  <a:lnTo>
                    <a:pt x="532" y="75"/>
                  </a:lnTo>
                  <a:lnTo>
                    <a:pt x="529" y="61"/>
                  </a:lnTo>
                  <a:lnTo>
                    <a:pt x="550" y="65"/>
                  </a:lnTo>
                  <a:lnTo>
                    <a:pt x="560" y="54"/>
                  </a:lnTo>
                  <a:lnTo>
                    <a:pt x="556" y="41"/>
                  </a:lnTo>
                  <a:lnTo>
                    <a:pt x="554" y="21"/>
                  </a:lnTo>
                  <a:lnTo>
                    <a:pt x="545" y="13"/>
                  </a:lnTo>
                  <a:lnTo>
                    <a:pt x="539" y="11"/>
                  </a:lnTo>
                  <a:lnTo>
                    <a:pt x="548" y="1"/>
                  </a:lnTo>
                  <a:lnTo>
                    <a:pt x="566" y="0"/>
                  </a:lnTo>
                  <a:lnTo>
                    <a:pt x="584" y="0"/>
                  </a:lnTo>
                  <a:lnTo>
                    <a:pt x="619" y="11"/>
                  </a:lnTo>
                  <a:lnTo>
                    <a:pt x="634" y="24"/>
                  </a:lnTo>
                  <a:lnTo>
                    <a:pt x="648" y="36"/>
                  </a:lnTo>
                  <a:lnTo>
                    <a:pt x="662" y="48"/>
                  </a:lnTo>
                  <a:lnTo>
                    <a:pt x="677" y="60"/>
                  </a:lnTo>
                  <a:lnTo>
                    <a:pt x="692" y="66"/>
                  </a:lnTo>
                  <a:lnTo>
                    <a:pt x="718" y="73"/>
                  </a:lnTo>
                  <a:lnTo>
                    <a:pt x="733" y="79"/>
                  </a:lnTo>
                  <a:lnTo>
                    <a:pt x="751" y="99"/>
                  </a:lnTo>
                  <a:lnTo>
                    <a:pt x="773" y="96"/>
                  </a:lnTo>
                  <a:lnTo>
                    <a:pt x="794" y="88"/>
                  </a:lnTo>
                  <a:lnTo>
                    <a:pt x="803" y="103"/>
                  </a:lnTo>
                  <a:lnTo>
                    <a:pt x="805" y="124"/>
                  </a:lnTo>
                  <a:lnTo>
                    <a:pt x="809" y="145"/>
                  </a:lnTo>
                  <a:lnTo>
                    <a:pt x="790" y="142"/>
                  </a:lnTo>
                  <a:lnTo>
                    <a:pt x="787" y="151"/>
                  </a:lnTo>
                  <a:lnTo>
                    <a:pt x="797" y="167"/>
                  </a:lnTo>
                  <a:lnTo>
                    <a:pt x="806" y="183"/>
                  </a:lnTo>
                  <a:lnTo>
                    <a:pt x="800" y="187"/>
                  </a:lnTo>
                  <a:lnTo>
                    <a:pt x="804" y="192"/>
                  </a:lnTo>
                  <a:lnTo>
                    <a:pt x="787" y="183"/>
                  </a:lnTo>
                  <a:lnTo>
                    <a:pt x="787" y="192"/>
                  </a:lnTo>
                  <a:lnTo>
                    <a:pt x="778" y="199"/>
                  </a:lnTo>
                  <a:lnTo>
                    <a:pt x="773" y="201"/>
                  </a:lnTo>
                  <a:lnTo>
                    <a:pt x="779" y="210"/>
                  </a:lnTo>
                  <a:lnTo>
                    <a:pt x="761" y="205"/>
                  </a:lnTo>
                  <a:lnTo>
                    <a:pt x="755" y="208"/>
                  </a:lnTo>
                  <a:lnTo>
                    <a:pt x="746" y="223"/>
                  </a:lnTo>
                  <a:lnTo>
                    <a:pt x="738" y="233"/>
                  </a:lnTo>
                  <a:lnTo>
                    <a:pt x="731" y="238"/>
                  </a:lnTo>
                  <a:lnTo>
                    <a:pt x="721" y="245"/>
                  </a:lnTo>
                  <a:lnTo>
                    <a:pt x="712" y="251"/>
                  </a:lnTo>
                  <a:lnTo>
                    <a:pt x="701" y="256"/>
                  </a:lnTo>
                  <a:lnTo>
                    <a:pt x="707" y="246"/>
                  </a:lnTo>
                  <a:lnTo>
                    <a:pt x="697" y="243"/>
                  </a:lnTo>
                  <a:lnTo>
                    <a:pt x="701" y="225"/>
                  </a:lnTo>
                  <a:lnTo>
                    <a:pt x="692" y="220"/>
                  </a:lnTo>
                  <a:lnTo>
                    <a:pt x="683" y="222"/>
                  </a:lnTo>
                  <a:lnTo>
                    <a:pt x="676" y="233"/>
                  </a:lnTo>
                  <a:lnTo>
                    <a:pt x="668" y="245"/>
                  </a:lnTo>
                  <a:lnTo>
                    <a:pt x="658" y="251"/>
                  </a:lnTo>
                  <a:lnTo>
                    <a:pt x="649" y="252"/>
                  </a:lnTo>
                  <a:lnTo>
                    <a:pt x="654" y="264"/>
                  </a:lnTo>
                  <a:lnTo>
                    <a:pt x="676" y="270"/>
                  </a:lnTo>
                  <a:lnTo>
                    <a:pt x="683" y="285"/>
                  </a:lnTo>
                  <a:lnTo>
                    <a:pt x="694" y="282"/>
                  </a:lnTo>
                  <a:lnTo>
                    <a:pt x="706" y="274"/>
                  </a:lnTo>
                  <a:lnTo>
                    <a:pt x="725" y="281"/>
                  </a:lnTo>
                  <a:lnTo>
                    <a:pt x="734" y="283"/>
                  </a:lnTo>
                  <a:lnTo>
                    <a:pt x="734" y="292"/>
                  </a:lnTo>
                  <a:lnTo>
                    <a:pt x="726" y="291"/>
                  </a:lnTo>
                  <a:lnTo>
                    <a:pt x="716" y="297"/>
                  </a:lnTo>
                  <a:lnTo>
                    <a:pt x="710" y="305"/>
                  </a:lnTo>
                  <a:lnTo>
                    <a:pt x="708" y="311"/>
                  </a:lnTo>
                  <a:lnTo>
                    <a:pt x="706" y="329"/>
                  </a:lnTo>
                  <a:lnTo>
                    <a:pt x="727" y="342"/>
                  </a:lnTo>
                  <a:lnTo>
                    <a:pt x="738" y="355"/>
                  </a:lnTo>
                  <a:lnTo>
                    <a:pt x="748" y="370"/>
                  </a:lnTo>
                  <a:lnTo>
                    <a:pt x="764" y="384"/>
                  </a:lnTo>
                  <a:lnTo>
                    <a:pt x="740" y="377"/>
                  </a:lnTo>
                  <a:lnTo>
                    <a:pt x="742" y="378"/>
                  </a:lnTo>
                  <a:lnTo>
                    <a:pt x="756" y="388"/>
                  </a:lnTo>
                  <a:lnTo>
                    <a:pt x="770" y="397"/>
                  </a:lnTo>
                  <a:lnTo>
                    <a:pt x="756" y="407"/>
                  </a:lnTo>
                  <a:lnTo>
                    <a:pt x="751" y="411"/>
                  </a:lnTo>
                  <a:lnTo>
                    <a:pt x="760" y="412"/>
                  </a:lnTo>
                  <a:lnTo>
                    <a:pt x="769" y="411"/>
                  </a:lnTo>
                  <a:lnTo>
                    <a:pt x="780" y="417"/>
                  </a:lnTo>
                  <a:lnTo>
                    <a:pt x="774" y="424"/>
                  </a:lnTo>
                  <a:lnTo>
                    <a:pt x="780" y="424"/>
                  </a:lnTo>
                  <a:lnTo>
                    <a:pt x="779" y="426"/>
                  </a:lnTo>
                  <a:lnTo>
                    <a:pt x="775" y="430"/>
                  </a:lnTo>
                  <a:lnTo>
                    <a:pt x="776" y="433"/>
                  </a:lnTo>
                  <a:lnTo>
                    <a:pt x="778" y="437"/>
                  </a:lnTo>
                  <a:lnTo>
                    <a:pt x="775" y="437"/>
                  </a:lnTo>
                  <a:lnTo>
                    <a:pt x="779" y="444"/>
                  </a:lnTo>
                  <a:lnTo>
                    <a:pt x="775" y="445"/>
                  </a:lnTo>
                  <a:lnTo>
                    <a:pt x="767" y="449"/>
                  </a:lnTo>
                  <a:lnTo>
                    <a:pt x="770" y="455"/>
                  </a:lnTo>
                  <a:lnTo>
                    <a:pt x="768" y="463"/>
                  </a:lnTo>
                  <a:lnTo>
                    <a:pt x="762" y="477"/>
                  </a:lnTo>
                  <a:lnTo>
                    <a:pt x="760" y="478"/>
                  </a:lnTo>
                  <a:lnTo>
                    <a:pt x="763" y="481"/>
                  </a:lnTo>
                  <a:lnTo>
                    <a:pt x="756" y="485"/>
                  </a:lnTo>
                  <a:lnTo>
                    <a:pt x="755" y="485"/>
                  </a:lnTo>
                  <a:lnTo>
                    <a:pt x="762" y="487"/>
                  </a:lnTo>
                  <a:lnTo>
                    <a:pt x="763" y="497"/>
                  </a:lnTo>
                  <a:lnTo>
                    <a:pt x="758" y="496"/>
                  </a:lnTo>
                  <a:lnTo>
                    <a:pt x="758" y="499"/>
                  </a:lnTo>
                  <a:lnTo>
                    <a:pt x="755" y="503"/>
                  </a:lnTo>
                  <a:lnTo>
                    <a:pt x="754" y="505"/>
                  </a:lnTo>
                  <a:lnTo>
                    <a:pt x="752" y="511"/>
                  </a:lnTo>
                  <a:lnTo>
                    <a:pt x="744" y="513"/>
                  </a:lnTo>
                  <a:lnTo>
                    <a:pt x="743" y="515"/>
                  </a:lnTo>
                  <a:lnTo>
                    <a:pt x="744" y="519"/>
                  </a:lnTo>
                  <a:lnTo>
                    <a:pt x="739" y="525"/>
                  </a:lnTo>
                  <a:lnTo>
                    <a:pt x="726" y="534"/>
                  </a:lnTo>
                  <a:lnTo>
                    <a:pt x="727" y="535"/>
                  </a:lnTo>
                  <a:lnTo>
                    <a:pt x="721" y="540"/>
                  </a:lnTo>
                  <a:lnTo>
                    <a:pt x="713" y="543"/>
                  </a:lnTo>
                  <a:lnTo>
                    <a:pt x="712" y="543"/>
                  </a:lnTo>
                  <a:lnTo>
                    <a:pt x="709" y="545"/>
                  </a:lnTo>
                  <a:lnTo>
                    <a:pt x="702" y="546"/>
                  </a:lnTo>
                  <a:lnTo>
                    <a:pt x="700" y="545"/>
                  </a:lnTo>
                  <a:lnTo>
                    <a:pt x="696" y="547"/>
                  </a:lnTo>
                  <a:lnTo>
                    <a:pt x="694" y="550"/>
                  </a:lnTo>
                  <a:lnTo>
                    <a:pt x="689" y="550"/>
                  </a:lnTo>
                  <a:lnTo>
                    <a:pt x="680" y="538"/>
                  </a:lnTo>
                  <a:lnTo>
                    <a:pt x="677" y="543"/>
                  </a:lnTo>
                  <a:lnTo>
                    <a:pt x="680" y="555"/>
                  </a:lnTo>
                  <a:lnTo>
                    <a:pt x="677" y="550"/>
                  </a:lnTo>
                  <a:lnTo>
                    <a:pt x="677" y="557"/>
                  </a:lnTo>
                  <a:lnTo>
                    <a:pt x="674" y="556"/>
                  </a:lnTo>
                  <a:lnTo>
                    <a:pt x="668" y="562"/>
                  </a:lnTo>
                  <a:lnTo>
                    <a:pt x="665" y="558"/>
                  </a:lnTo>
                  <a:lnTo>
                    <a:pt x="662" y="562"/>
                  </a:lnTo>
                  <a:lnTo>
                    <a:pt x="658" y="561"/>
                  </a:lnTo>
                  <a:lnTo>
                    <a:pt x="648" y="567"/>
                  </a:lnTo>
                  <a:lnTo>
                    <a:pt x="640" y="569"/>
                  </a:lnTo>
                  <a:lnTo>
                    <a:pt x="637" y="570"/>
                  </a:lnTo>
                  <a:lnTo>
                    <a:pt x="636" y="579"/>
                  </a:lnTo>
                  <a:lnTo>
                    <a:pt x="640" y="588"/>
                  </a:lnTo>
                  <a:lnTo>
                    <a:pt x="631" y="587"/>
                  </a:lnTo>
                  <a:lnTo>
                    <a:pt x="628" y="569"/>
                  </a:lnTo>
                  <a:lnTo>
                    <a:pt x="623" y="565"/>
                  </a:lnTo>
                  <a:lnTo>
                    <a:pt x="617" y="567"/>
                  </a:lnTo>
                  <a:lnTo>
                    <a:pt x="611" y="564"/>
                  </a:lnTo>
                  <a:lnTo>
                    <a:pt x="605" y="561"/>
                  </a:lnTo>
                  <a:lnTo>
                    <a:pt x="604" y="563"/>
                  </a:lnTo>
                  <a:lnTo>
                    <a:pt x="598" y="565"/>
                  </a:lnTo>
                  <a:lnTo>
                    <a:pt x="582" y="559"/>
                  </a:lnTo>
                  <a:lnTo>
                    <a:pt x="576" y="555"/>
                  </a:lnTo>
                  <a:lnTo>
                    <a:pt x="574" y="543"/>
                  </a:lnTo>
                  <a:lnTo>
                    <a:pt x="554" y="537"/>
                  </a:lnTo>
                  <a:lnTo>
                    <a:pt x="547" y="535"/>
                  </a:lnTo>
                  <a:lnTo>
                    <a:pt x="539" y="546"/>
                  </a:lnTo>
                  <a:lnTo>
                    <a:pt x="533" y="546"/>
                  </a:lnTo>
                  <a:lnTo>
                    <a:pt x="530" y="547"/>
                  </a:lnTo>
                  <a:lnTo>
                    <a:pt x="527" y="546"/>
                  </a:lnTo>
                  <a:lnTo>
                    <a:pt x="520" y="546"/>
                  </a:lnTo>
                  <a:lnTo>
                    <a:pt x="517" y="549"/>
                  </a:lnTo>
                  <a:lnTo>
                    <a:pt x="509" y="546"/>
                  </a:lnTo>
                  <a:lnTo>
                    <a:pt x="505" y="551"/>
                  </a:lnTo>
                  <a:lnTo>
                    <a:pt x="497" y="551"/>
                  </a:lnTo>
                  <a:lnTo>
                    <a:pt x="500" y="573"/>
                  </a:lnTo>
                  <a:lnTo>
                    <a:pt x="494" y="569"/>
                  </a:lnTo>
                  <a:lnTo>
                    <a:pt x="492" y="565"/>
                  </a:lnTo>
                  <a:lnTo>
                    <a:pt x="487" y="563"/>
                  </a:lnTo>
                  <a:lnTo>
                    <a:pt x="476" y="567"/>
                  </a:lnTo>
                  <a:lnTo>
                    <a:pt x="468" y="557"/>
                  </a:lnTo>
                  <a:lnTo>
                    <a:pt x="460" y="553"/>
                  </a:lnTo>
                  <a:lnTo>
                    <a:pt x="462" y="539"/>
                  </a:lnTo>
                  <a:lnTo>
                    <a:pt x="451" y="534"/>
                  </a:lnTo>
                  <a:lnTo>
                    <a:pt x="448" y="522"/>
                  </a:lnTo>
                  <a:lnTo>
                    <a:pt x="446" y="520"/>
                  </a:lnTo>
                  <a:lnTo>
                    <a:pt x="430" y="522"/>
                  </a:lnTo>
                  <a:lnTo>
                    <a:pt x="430" y="514"/>
                  </a:lnTo>
                  <a:lnTo>
                    <a:pt x="428" y="507"/>
                  </a:lnTo>
                  <a:lnTo>
                    <a:pt x="436" y="495"/>
                  </a:lnTo>
                  <a:lnTo>
                    <a:pt x="438" y="486"/>
                  </a:lnTo>
                  <a:lnTo>
                    <a:pt x="434" y="472"/>
                  </a:lnTo>
                  <a:lnTo>
                    <a:pt x="432" y="457"/>
                  </a:lnTo>
                  <a:lnTo>
                    <a:pt x="425" y="454"/>
                  </a:lnTo>
                  <a:lnTo>
                    <a:pt x="412" y="441"/>
                  </a:lnTo>
                  <a:lnTo>
                    <a:pt x="410" y="447"/>
                  </a:lnTo>
                  <a:lnTo>
                    <a:pt x="394" y="441"/>
                  </a:lnTo>
                  <a:lnTo>
                    <a:pt x="394" y="432"/>
                  </a:lnTo>
                  <a:lnTo>
                    <a:pt x="388" y="431"/>
                  </a:lnTo>
                  <a:lnTo>
                    <a:pt x="389" y="427"/>
                  </a:lnTo>
                  <a:lnTo>
                    <a:pt x="383" y="425"/>
                  </a:lnTo>
                  <a:lnTo>
                    <a:pt x="374" y="430"/>
                  </a:lnTo>
                  <a:lnTo>
                    <a:pt x="361" y="42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5" name="Freeform 254"/>
            <p:cNvSpPr>
              <a:spLocks/>
            </p:cNvSpPr>
            <p:nvPr/>
          </p:nvSpPr>
          <p:spPr bwMode="auto">
            <a:xfrm>
              <a:off x="4415" y="2307"/>
              <a:ext cx="40" cy="34"/>
            </a:xfrm>
            <a:custGeom>
              <a:avLst/>
              <a:gdLst/>
              <a:ahLst/>
              <a:cxnLst>
                <a:cxn ang="0">
                  <a:pos x="26" y="0"/>
                </a:cxn>
                <a:cxn ang="0">
                  <a:pos x="11" y="3"/>
                </a:cxn>
                <a:cxn ang="0">
                  <a:pos x="0" y="10"/>
                </a:cxn>
                <a:cxn ang="0">
                  <a:pos x="1" y="24"/>
                </a:cxn>
                <a:cxn ang="0">
                  <a:pos x="13" y="30"/>
                </a:cxn>
                <a:cxn ang="0">
                  <a:pos x="19" y="29"/>
                </a:cxn>
                <a:cxn ang="0">
                  <a:pos x="29" y="18"/>
                </a:cxn>
                <a:cxn ang="0">
                  <a:pos x="35" y="6"/>
                </a:cxn>
                <a:cxn ang="0">
                  <a:pos x="32" y="0"/>
                </a:cxn>
                <a:cxn ang="0">
                  <a:pos x="26" y="0"/>
                </a:cxn>
              </a:cxnLst>
              <a:rect l="0" t="0" r="r" b="b"/>
              <a:pathLst>
                <a:path w="35" h="30">
                  <a:moveTo>
                    <a:pt x="26" y="0"/>
                  </a:moveTo>
                  <a:lnTo>
                    <a:pt x="11" y="3"/>
                  </a:lnTo>
                  <a:lnTo>
                    <a:pt x="0" y="10"/>
                  </a:lnTo>
                  <a:lnTo>
                    <a:pt x="1" y="24"/>
                  </a:lnTo>
                  <a:lnTo>
                    <a:pt x="13" y="30"/>
                  </a:lnTo>
                  <a:lnTo>
                    <a:pt x="19" y="29"/>
                  </a:lnTo>
                  <a:lnTo>
                    <a:pt x="29" y="18"/>
                  </a:lnTo>
                  <a:lnTo>
                    <a:pt x="35" y="6"/>
                  </a:lnTo>
                  <a:lnTo>
                    <a:pt x="32" y="0"/>
                  </a:lnTo>
                  <a:lnTo>
                    <a:pt x="2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6" name="Freeform 255"/>
            <p:cNvSpPr>
              <a:spLocks/>
            </p:cNvSpPr>
            <p:nvPr/>
          </p:nvSpPr>
          <p:spPr bwMode="auto">
            <a:xfrm>
              <a:off x="4713" y="1879"/>
              <a:ext cx="149" cy="157"/>
            </a:xfrm>
            <a:custGeom>
              <a:avLst/>
              <a:gdLst/>
              <a:ahLst/>
              <a:cxnLst>
                <a:cxn ang="0">
                  <a:pos x="125" y="108"/>
                </a:cxn>
                <a:cxn ang="0">
                  <a:pos x="122" y="103"/>
                </a:cxn>
                <a:cxn ang="0">
                  <a:pos x="123" y="112"/>
                </a:cxn>
                <a:cxn ang="0">
                  <a:pos x="116" y="114"/>
                </a:cxn>
                <a:cxn ang="0">
                  <a:pos x="114" y="121"/>
                </a:cxn>
                <a:cxn ang="0">
                  <a:pos x="111" y="113"/>
                </a:cxn>
                <a:cxn ang="0">
                  <a:pos x="107" y="122"/>
                </a:cxn>
                <a:cxn ang="0">
                  <a:pos x="90" y="121"/>
                </a:cxn>
                <a:cxn ang="0">
                  <a:pos x="86" y="119"/>
                </a:cxn>
                <a:cxn ang="0">
                  <a:pos x="81" y="115"/>
                </a:cxn>
                <a:cxn ang="0">
                  <a:pos x="83" y="124"/>
                </a:cxn>
                <a:cxn ang="0">
                  <a:pos x="87" y="128"/>
                </a:cxn>
                <a:cxn ang="0">
                  <a:pos x="81" y="136"/>
                </a:cxn>
                <a:cxn ang="0">
                  <a:pos x="78" y="143"/>
                </a:cxn>
                <a:cxn ang="0">
                  <a:pos x="64" y="132"/>
                </a:cxn>
                <a:cxn ang="0">
                  <a:pos x="63" y="120"/>
                </a:cxn>
                <a:cxn ang="0">
                  <a:pos x="44" y="122"/>
                </a:cxn>
                <a:cxn ang="0">
                  <a:pos x="23" y="127"/>
                </a:cxn>
                <a:cxn ang="0">
                  <a:pos x="17" y="134"/>
                </a:cxn>
                <a:cxn ang="0">
                  <a:pos x="0" y="132"/>
                </a:cxn>
                <a:cxn ang="0">
                  <a:pos x="3" y="126"/>
                </a:cxn>
                <a:cxn ang="0">
                  <a:pos x="14" y="115"/>
                </a:cxn>
                <a:cxn ang="0">
                  <a:pos x="23" y="106"/>
                </a:cxn>
                <a:cxn ang="0">
                  <a:pos x="38" y="104"/>
                </a:cxn>
                <a:cxn ang="0">
                  <a:pos x="53" y="103"/>
                </a:cxn>
                <a:cxn ang="0">
                  <a:pos x="57" y="106"/>
                </a:cxn>
                <a:cxn ang="0">
                  <a:pos x="65" y="101"/>
                </a:cxn>
                <a:cxn ang="0">
                  <a:pos x="63" y="91"/>
                </a:cxn>
                <a:cxn ang="0">
                  <a:pos x="62" y="77"/>
                </a:cxn>
                <a:cxn ang="0">
                  <a:pos x="68" y="73"/>
                </a:cxn>
                <a:cxn ang="0">
                  <a:pos x="66" y="78"/>
                </a:cxn>
                <a:cxn ang="0">
                  <a:pos x="72" y="84"/>
                </a:cxn>
                <a:cxn ang="0">
                  <a:pos x="80" y="77"/>
                </a:cxn>
                <a:cxn ang="0">
                  <a:pos x="87" y="70"/>
                </a:cxn>
                <a:cxn ang="0">
                  <a:pos x="89" y="56"/>
                </a:cxn>
                <a:cxn ang="0">
                  <a:pos x="90" y="42"/>
                </a:cxn>
                <a:cxn ang="0">
                  <a:pos x="82" y="29"/>
                </a:cxn>
                <a:cxn ang="0">
                  <a:pos x="76" y="13"/>
                </a:cxn>
                <a:cxn ang="0">
                  <a:pos x="77" y="5"/>
                </a:cxn>
                <a:cxn ang="0">
                  <a:pos x="86" y="10"/>
                </a:cxn>
                <a:cxn ang="0">
                  <a:pos x="89" y="7"/>
                </a:cxn>
                <a:cxn ang="0">
                  <a:pos x="87" y="4"/>
                </a:cxn>
                <a:cxn ang="0">
                  <a:pos x="81" y="4"/>
                </a:cxn>
                <a:cxn ang="0">
                  <a:pos x="82" y="0"/>
                </a:cxn>
                <a:cxn ang="0">
                  <a:pos x="89" y="2"/>
                </a:cxn>
                <a:cxn ang="0">
                  <a:pos x="102" y="18"/>
                </a:cxn>
                <a:cxn ang="0">
                  <a:pos x="118" y="34"/>
                </a:cxn>
                <a:cxn ang="0">
                  <a:pos x="119" y="55"/>
                </a:cxn>
                <a:cxn ang="0">
                  <a:pos x="116" y="61"/>
                </a:cxn>
                <a:cxn ang="0">
                  <a:pos x="124" y="84"/>
                </a:cxn>
                <a:cxn ang="0">
                  <a:pos x="135" y="101"/>
                </a:cxn>
                <a:cxn ang="0">
                  <a:pos x="129" y="118"/>
                </a:cxn>
                <a:cxn ang="0">
                  <a:pos x="125" y="108"/>
                </a:cxn>
              </a:cxnLst>
              <a:rect l="0" t="0" r="r" b="b"/>
              <a:pathLst>
                <a:path w="135" h="143">
                  <a:moveTo>
                    <a:pt x="125" y="108"/>
                  </a:moveTo>
                  <a:lnTo>
                    <a:pt x="122" y="103"/>
                  </a:lnTo>
                  <a:lnTo>
                    <a:pt x="123" y="112"/>
                  </a:lnTo>
                  <a:lnTo>
                    <a:pt x="116" y="114"/>
                  </a:lnTo>
                  <a:lnTo>
                    <a:pt x="114" y="121"/>
                  </a:lnTo>
                  <a:lnTo>
                    <a:pt x="111" y="113"/>
                  </a:lnTo>
                  <a:lnTo>
                    <a:pt x="107" y="122"/>
                  </a:lnTo>
                  <a:lnTo>
                    <a:pt x="90" y="121"/>
                  </a:lnTo>
                  <a:lnTo>
                    <a:pt x="86" y="119"/>
                  </a:lnTo>
                  <a:lnTo>
                    <a:pt x="81" y="115"/>
                  </a:lnTo>
                  <a:lnTo>
                    <a:pt x="83" y="124"/>
                  </a:lnTo>
                  <a:lnTo>
                    <a:pt x="87" y="128"/>
                  </a:lnTo>
                  <a:lnTo>
                    <a:pt x="81" y="136"/>
                  </a:lnTo>
                  <a:lnTo>
                    <a:pt x="78" y="143"/>
                  </a:lnTo>
                  <a:lnTo>
                    <a:pt x="64" y="132"/>
                  </a:lnTo>
                  <a:lnTo>
                    <a:pt x="63" y="120"/>
                  </a:lnTo>
                  <a:lnTo>
                    <a:pt x="44" y="122"/>
                  </a:lnTo>
                  <a:lnTo>
                    <a:pt x="23" y="127"/>
                  </a:lnTo>
                  <a:lnTo>
                    <a:pt x="17" y="134"/>
                  </a:lnTo>
                  <a:lnTo>
                    <a:pt x="0" y="132"/>
                  </a:lnTo>
                  <a:lnTo>
                    <a:pt x="3" y="126"/>
                  </a:lnTo>
                  <a:lnTo>
                    <a:pt x="14" y="115"/>
                  </a:lnTo>
                  <a:lnTo>
                    <a:pt x="23" y="106"/>
                  </a:lnTo>
                  <a:lnTo>
                    <a:pt x="38" y="104"/>
                  </a:lnTo>
                  <a:lnTo>
                    <a:pt x="53" y="103"/>
                  </a:lnTo>
                  <a:lnTo>
                    <a:pt x="57" y="106"/>
                  </a:lnTo>
                  <a:lnTo>
                    <a:pt x="65" y="101"/>
                  </a:lnTo>
                  <a:lnTo>
                    <a:pt x="63" y="91"/>
                  </a:lnTo>
                  <a:lnTo>
                    <a:pt x="62" y="77"/>
                  </a:lnTo>
                  <a:lnTo>
                    <a:pt x="68" y="73"/>
                  </a:lnTo>
                  <a:lnTo>
                    <a:pt x="66" y="78"/>
                  </a:lnTo>
                  <a:lnTo>
                    <a:pt x="72" y="84"/>
                  </a:lnTo>
                  <a:lnTo>
                    <a:pt x="80" y="77"/>
                  </a:lnTo>
                  <a:lnTo>
                    <a:pt x="87" y="70"/>
                  </a:lnTo>
                  <a:lnTo>
                    <a:pt x="89" y="56"/>
                  </a:lnTo>
                  <a:lnTo>
                    <a:pt x="90" y="42"/>
                  </a:lnTo>
                  <a:lnTo>
                    <a:pt x="82" y="29"/>
                  </a:lnTo>
                  <a:lnTo>
                    <a:pt x="76" y="13"/>
                  </a:lnTo>
                  <a:lnTo>
                    <a:pt x="77" y="5"/>
                  </a:lnTo>
                  <a:lnTo>
                    <a:pt x="86" y="10"/>
                  </a:lnTo>
                  <a:lnTo>
                    <a:pt x="89" y="7"/>
                  </a:lnTo>
                  <a:lnTo>
                    <a:pt x="87" y="4"/>
                  </a:lnTo>
                  <a:lnTo>
                    <a:pt x="81" y="4"/>
                  </a:lnTo>
                  <a:lnTo>
                    <a:pt x="82" y="0"/>
                  </a:lnTo>
                  <a:lnTo>
                    <a:pt x="89" y="2"/>
                  </a:lnTo>
                  <a:lnTo>
                    <a:pt x="102" y="18"/>
                  </a:lnTo>
                  <a:lnTo>
                    <a:pt x="118" y="34"/>
                  </a:lnTo>
                  <a:lnTo>
                    <a:pt x="119" y="55"/>
                  </a:lnTo>
                  <a:lnTo>
                    <a:pt x="116" y="61"/>
                  </a:lnTo>
                  <a:lnTo>
                    <a:pt x="124" y="84"/>
                  </a:lnTo>
                  <a:lnTo>
                    <a:pt x="135" y="101"/>
                  </a:lnTo>
                  <a:lnTo>
                    <a:pt x="129" y="118"/>
                  </a:lnTo>
                  <a:lnTo>
                    <a:pt x="125" y="1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7" name="Freeform 256"/>
            <p:cNvSpPr>
              <a:spLocks/>
            </p:cNvSpPr>
            <p:nvPr/>
          </p:nvSpPr>
          <p:spPr bwMode="auto">
            <a:xfrm>
              <a:off x="4766" y="1799"/>
              <a:ext cx="87" cy="80"/>
            </a:xfrm>
            <a:custGeom>
              <a:avLst/>
              <a:gdLst/>
              <a:ahLst/>
              <a:cxnLst>
                <a:cxn ang="0">
                  <a:pos x="61" y="28"/>
                </a:cxn>
                <a:cxn ang="0">
                  <a:pos x="47" y="24"/>
                </a:cxn>
                <a:cxn ang="0">
                  <a:pos x="24" y="12"/>
                </a:cxn>
                <a:cxn ang="0">
                  <a:pos x="0" y="0"/>
                </a:cxn>
                <a:cxn ang="0">
                  <a:pos x="5" y="10"/>
                </a:cxn>
                <a:cxn ang="0">
                  <a:pos x="12" y="25"/>
                </a:cxn>
                <a:cxn ang="0">
                  <a:pos x="19" y="40"/>
                </a:cxn>
                <a:cxn ang="0">
                  <a:pos x="9" y="40"/>
                </a:cxn>
                <a:cxn ang="0">
                  <a:pos x="6" y="42"/>
                </a:cxn>
                <a:cxn ang="0">
                  <a:pos x="7" y="49"/>
                </a:cxn>
                <a:cxn ang="0">
                  <a:pos x="10" y="59"/>
                </a:cxn>
                <a:cxn ang="0">
                  <a:pos x="21" y="72"/>
                </a:cxn>
                <a:cxn ang="0">
                  <a:pos x="24" y="68"/>
                </a:cxn>
                <a:cxn ang="0">
                  <a:pos x="31" y="67"/>
                </a:cxn>
                <a:cxn ang="0">
                  <a:pos x="13" y="55"/>
                </a:cxn>
                <a:cxn ang="0">
                  <a:pos x="22" y="55"/>
                </a:cxn>
                <a:cxn ang="0">
                  <a:pos x="28" y="53"/>
                </a:cxn>
                <a:cxn ang="0">
                  <a:pos x="58" y="61"/>
                </a:cxn>
                <a:cxn ang="0">
                  <a:pos x="59" y="58"/>
                </a:cxn>
                <a:cxn ang="0">
                  <a:pos x="66" y="46"/>
                </a:cxn>
                <a:cxn ang="0">
                  <a:pos x="78" y="40"/>
                </a:cxn>
                <a:cxn ang="0">
                  <a:pos x="71" y="35"/>
                </a:cxn>
                <a:cxn ang="0">
                  <a:pos x="65" y="22"/>
                </a:cxn>
                <a:cxn ang="0">
                  <a:pos x="61" y="28"/>
                </a:cxn>
              </a:cxnLst>
              <a:rect l="0" t="0" r="r" b="b"/>
              <a:pathLst>
                <a:path w="78" h="72">
                  <a:moveTo>
                    <a:pt x="61" y="28"/>
                  </a:moveTo>
                  <a:lnTo>
                    <a:pt x="47" y="24"/>
                  </a:lnTo>
                  <a:lnTo>
                    <a:pt x="24" y="12"/>
                  </a:lnTo>
                  <a:lnTo>
                    <a:pt x="0" y="0"/>
                  </a:lnTo>
                  <a:lnTo>
                    <a:pt x="5" y="10"/>
                  </a:lnTo>
                  <a:lnTo>
                    <a:pt x="12" y="25"/>
                  </a:lnTo>
                  <a:lnTo>
                    <a:pt x="19" y="40"/>
                  </a:lnTo>
                  <a:lnTo>
                    <a:pt x="9" y="40"/>
                  </a:lnTo>
                  <a:lnTo>
                    <a:pt x="6" y="42"/>
                  </a:lnTo>
                  <a:lnTo>
                    <a:pt x="7" y="49"/>
                  </a:lnTo>
                  <a:lnTo>
                    <a:pt x="10" y="59"/>
                  </a:lnTo>
                  <a:lnTo>
                    <a:pt x="21" y="72"/>
                  </a:lnTo>
                  <a:lnTo>
                    <a:pt x="24" y="68"/>
                  </a:lnTo>
                  <a:lnTo>
                    <a:pt x="31" y="67"/>
                  </a:lnTo>
                  <a:lnTo>
                    <a:pt x="13" y="55"/>
                  </a:lnTo>
                  <a:lnTo>
                    <a:pt x="22" y="55"/>
                  </a:lnTo>
                  <a:lnTo>
                    <a:pt x="28" y="53"/>
                  </a:lnTo>
                  <a:lnTo>
                    <a:pt x="58" y="61"/>
                  </a:lnTo>
                  <a:lnTo>
                    <a:pt x="59" y="58"/>
                  </a:lnTo>
                  <a:lnTo>
                    <a:pt x="66" y="46"/>
                  </a:lnTo>
                  <a:lnTo>
                    <a:pt x="78" y="40"/>
                  </a:lnTo>
                  <a:lnTo>
                    <a:pt x="71" y="35"/>
                  </a:lnTo>
                  <a:lnTo>
                    <a:pt x="65" y="22"/>
                  </a:lnTo>
                  <a:lnTo>
                    <a:pt x="61"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8" name="Freeform 257"/>
            <p:cNvSpPr>
              <a:spLocks/>
            </p:cNvSpPr>
            <p:nvPr/>
          </p:nvSpPr>
          <p:spPr bwMode="auto">
            <a:xfrm>
              <a:off x="4700" y="2030"/>
              <a:ext cx="42" cy="53"/>
            </a:xfrm>
            <a:custGeom>
              <a:avLst/>
              <a:gdLst/>
              <a:ahLst/>
              <a:cxnLst>
                <a:cxn ang="0">
                  <a:pos x="40" y="16"/>
                </a:cxn>
                <a:cxn ang="0">
                  <a:pos x="39" y="30"/>
                </a:cxn>
                <a:cxn ang="0">
                  <a:pos x="37" y="43"/>
                </a:cxn>
                <a:cxn ang="0">
                  <a:pos x="33" y="49"/>
                </a:cxn>
                <a:cxn ang="0">
                  <a:pos x="27" y="39"/>
                </a:cxn>
                <a:cxn ang="0">
                  <a:pos x="28" y="48"/>
                </a:cxn>
                <a:cxn ang="0">
                  <a:pos x="23" y="43"/>
                </a:cxn>
                <a:cxn ang="0">
                  <a:pos x="19" y="30"/>
                </a:cxn>
                <a:cxn ang="0">
                  <a:pos x="19" y="22"/>
                </a:cxn>
                <a:cxn ang="0">
                  <a:pos x="10" y="13"/>
                </a:cxn>
                <a:cxn ang="0">
                  <a:pos x="15" y="22"/>
                </a:cxn>
                <a:cxn ang="0">
                  <a:pos x="9" y="22"/>
                </a:cxn>
                <a:cxn ang="0">
                  <a:pos x="5" y="15"/>
                </a:cxn>
                <a:cxn ang="0">
                  <a:pos x="7" y="15"/>
                </a:cxn>
                <a:cxn ang="0">
                  <a:pos x="0" y="9"/>
                </a:cxn>
                <a:cxn ang="0">
                  <a:pos x="16" y="0"/>
                </a:cxn>
                <a:cxn ang="0">
                  <a:pos x="25" y="4"/>
                </a:cxn>
                <a:cxn ang="0">
                  <a:pos x="30" y="8"/>
                </a:cxn>
                <a:cxn ang="0">
                  <a:pos x="31" y="10"/>
                </a:cxn>
                <a:cxn ang="0">
                  <a:pos x="40" y="16"/>
                </a:cxn>
              </a:cxnLst>
              <a:rect l="0" t="0" r="r" b="b"/>
              <a:pathLst>
                <a:path w="40" h="49">
                  <a:moveTo>
                    <a:pt x="40" y="16"/>
                  </a:moveTo>
                  <a:lnTo>
                    <a:pt x="39" y="30"/>
                  </a:lnTo>
                  <a:lnTo>
                    <a:pt x="37" y="43"/>
                  </a:lnTo>
                  <a:lnTo>
                    <a:pt x="33" y="49"/>
                  </a:lnTo>
                  <a:lnTo>
                    <a:pt x="27" y="39"/>
                  </a:lnTo>
                  <a:lnTo>
                    <a:pt x="28" y="48"/>
                  </a:lnTo>
                  <a:lnTo>
                    <a:pt x="23" y="43"/>
                  </a:lnTo>
                  <a:lnTo>
                    <a:pt x="19" y="30"/>
                  </a:lnTo>
                  <a:lnTo>
                    <a:pt x="19" y="22"/>
                  </a:lnTo>
                  <a:lnTo>
                    <a:pt x="10" y="13"/>
                  </a:lnTo>
                  <a:lnTo>
                    <a:pt x="15" y="22"/>
                  </a:lnTo>
                  <a:lnTo>
                    <a:pt x="9" y="22"/>
                  </a:lnTo>
                  <a:lnTo>
                    <a:pt x="5" y="15"/>
                  </a:lnTo>
                  <a:lnTo>
                    <a:pt x="7" y="15"/>
                  </a:lnTo>
                  <a:lnTo>
                    <a:pt x="0" y="9"/>
                  </a:lnTo>
                  <a:lnTo>
                    <a:pt x="16" y="0"/>
                  </a:lnTo>
                  <a:lnTo>
                    <a:pt x="25" y="4"/>
                  </a:lnTo>
                  <a:lnTo>
                    <a:pt x="30" y="8"/>
                  </a:lnTo>
                  <a:lnTo>
                    <a:pt x="31" y="10"/>
                  </a:lnTo>
                  <a:lnTo>
                    <a:pt x="40"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9" name="Freeform 258"/>
            <p:cNvSpPr>
              <a:spLocks/>
            </p:cNvSpPr>
            <p:nvPr/>
          </p:nvSpPr>
          <p:spPr bwMode="auto">
            <a:xfrm>
              <a:off x="4740" y="2021"/>
              <a:ext cx="40" cy="31"/>
            </a:xfrm>
            <a:custGeom>
              <a:avLst/>
              <a:gdLst/>
              <a:ahLst/>
              <a:cxnLst>
                <a:cxn ang="0">
                  <a:pos x="29" y="18"/>
                </a:cxn>
                <a:cxn ang="0">
                  <a:pos x="17" y="18"/>
                </a:cxn>
                <a:cxn ang="0">
                  <a:pos x="16" y="29"/>
                </a:cxn>
                <a:cxn ang="0">
                  <a:pos x="6" y="22"/>
                </a:cxn>
                <a:cxn ang="0">
                  <a:pos x="3" y="16"/>
                </a:cxn>
                <a:cxn ang="0">
                  <a:pos x="0" y="17"/>
                </a:cxn>
                <a:cxn ang="0">
                  <a:pos x="9" y="6"/>
                </a:cxn>
                <a:cxn ang="0">
                  <a:pos x="17" y="5"/>
                </a:cxn>
                <a:cxn ang="0">
                  <a:pos x="26" y="0"/>
                </a:cxn>
                <a:cxn ang="0">
                  <a:pos x="33" y="5"/>
                </a:cxn>
                <a:cxn ang="0">
                  <a:pos x="36" y="10"/>
                </a:cxn>
                <a:cxn ang="0">
                  <a:pos x="29" y="18"/>
                </a:cxn>
              </a:cxnLst>
              <a:rect l="0" t="0" r="r" b="b"/>
              <a:pathLst>
                <a:path w="36" h="29">
                  <a:moveTo>
                    <a:pt x="29" y="18"/>
                  </a:moveTo>
                  <a:lnTo>
                    <a:pt x="17" y="18"/>
                  </a:lnTo>
                  <a:lnTo>
                    <a:pt x="16" y="29"/>
                  </a:lnTo>
                  <a:lnTo>
                    <a:pt x="6" y="22"/>
                  </a:lnTo>
                  <a:lnTo>
                    <a:pt x="3" y="16"/>
                  </a:lnTo>
                  <a:lnTo>
                    <a:pt x="0" y="17"/>
                  </a:lnTo>
                  <a:lnTo>
                    <a:pt x="9" y="6"/>
                  </a:lnTo>
                  <a:lnTo>
                    <a:pt x="17" y="5"/>
                  </a:lnTo>
                  <a:lnTo>
                    <a:pt x="26" y="0"/>
                  </a:lnTo>
                  <a:lnTo>
                    <a:pt x="33" y="5"/>
                  </a:lnTo>
                  <a:lnTo>
                    <a:pt x="36" y="10"/>
                  </a:lnTo>
                  <a:lnTo>
                    <a:pt x="2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0" name="Freeform 259"/>
            <p:cNvSpPr>
              <a:spLocks/>
            </p:cNvSpPr>
            <p:nvPr/>
          </p:nvSpPr>
          <p:spPr bwMode="auto">
            <a:xfrm>
              <a:off x="4713" y="2170"/>
              <a:ext cx="9" cy="13"/>
            </a:xfrm>
            <a:custGeom>
              <a:avLst/>
              <a:gdLst/>
              <a:ahLst/>
              <a:cxnLst>
                <a:cxn ang="0">
                  <a:pos x="0" y="12"/>
                </a:cxn>
                <a:cxn ang="0">
                  <a:pos x="8" y="1"/>
                </a:cxn>
                <a:cxn ang="0">
                  <a:pos x="6" y="0"/>
                </a:cxn>
                <a:cxn ang="0">
                  <a:pos x="0" y="12"/>
                </a:cxn>
              </a:cxnLst>
              <a:rect l="0" t="0" r="r" b="b"/>
              <a:pathLst>
                <a:path w="8" h="12">
                  <a:moveTo>
                    <a:pt x="0" y="12"/>
                  </a:moveTo>
                  <a:lnTo>
                    <a:pt x="8" y="1"/>
                  </a:lnTo>
                  <a:lnTo>
                    <a:pt x="6" y="0"/>
                  </a:lnTo>
                  <a:lnTo>
                    <a:pt x="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1" name="Freeform 260"/>
            <p:cNvSpPr>
              <a:spLocks/>
            </p:cNvSpPr>
            <p:nvPr/>
          </p:nvSpPr>
          <p:spPr bwMode="auto">
            <a:xfrm>
              <a:off x="4800" y="1941"/>
              <a:ext cx="2" cy="6"/>
            </a:xfrm>
            <a:custGeom>
              <a:avLst/>
              <a:gdLst/>
              <a:ahLst/>
              <a:cxnLst>
                <a:cxn ang="0">
                  <a:pos x="4" y="6"/>
                </a:cxn>
                <a:cxn ang="0">
                  <a:pos x="0" y="0"/>
                </a:cxn>
                <a:cxn ang="0">
                  <a:pos x="0" y="6"/>
                </a:cxn>
                <a:cxn ang="0">
                  <a:pos x="4" y="6"/>
                </a:cxn>
              </a:cxnLst>
              <a:rect l="0" t="0" r="r" b="b"/>
              <a:pathLst>
                <a:path w="4" h="6">
                  <a:moveTo>
                    <a:pt x="4" y="6"/>
                  </a:moveTo>
                  <a:lnTo>
                    <a:pt x="0" y="0"/>
                  </a:lnTo>
                  <a:lnTo>
                    <a:pt x="0" y="6"/>
                  </a:lnTo>
                  <a:lnTo>
                    <a:pt x="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2" name="Freeform 261"/>
            <p:cNvSpPr>
              <a:spLocks/>
            </p:cNvSpPr>
            <p:nvPr/>
          </p:nvSpPr>
          <p:spPr bwMode="auto">
            <a:xfrm>
              <a:off x="4713" y="2056"/>
              <a:ext cx="2" cy="5"/>
            </a:xfrm>
            <a:custGeom>
              <a:avLst/>
              <a:gdLst/>
              <a:ahLst/>
              <a:cxnLst>
                <a:cxn ang="0">
                  <a:pos x="3" y="0"/>
                </a:cxn>
                <a:cxn ang="0">
                  <a:pos x="4" y="2"/>
                </a:cxn>
                <a:cxn ang="0">
                  <a:pos x="0" y="2"/>
                </a:cxn>
                <a:cxn ang="0">
                  <a:pos x="3" y="0"/>
                </a:cxn>
              </a:cxnLst>
              <a:rect l="0" t="0" r="r" b="b"/>
              <a:pathLst>
                <a:path w="4" h="2">
                  <a:moveTo>
                    <a:pt x="3" y="0"/>
                  </a:moveTo>
                  <a:lnTo>
                    <a:pt x="4" y="2"/>
                  </a:lnTo>
                  <a:lnTo>
                    <a:pt x="0" y="2"/>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3" name="Freeform 262"/>
            <p:cNvSpPr>
              <a:spLocks/>
            </p:cNvSpPr>
            <p:nvPr/>
          </p:nvSpPr>
          <p:spPr bwMode="auto">
            <a:xfrm>
              <a:off x="4551" y="1850"/>
              <a:ext cx="78" cy="100"/>
            </a:xfrm>
            <a:custGeom>
              <a:avLst/>
              <a:gdLst/>
              <a:ahLst/>
              <a:cxnLst>
                <a:cxn ang="0">
                  <a:pos x="18" y="61"/>
                </a:cxn>
                <a:cxn ang="0">
                  <a:pos x="8" y="58"/>
                </a:cxn>
                <a:cxn ang="0">
                  <a:pos x="0" y="50"/>
                </a:cxn>
                <a:cxn ang="0">
                  <a:pos x="8" y="40"/>
                </a:cxn>
                <a:cxn ang="0">
                  <a:pos x="17" y="25"/>
                </a:cxn>
                <a:cxn ang="0">
                  <a:pos x="23" y="22"/>
                </a:cxn>
                <a:cxn ang="0">
                  <a:pos x="41" y="27"/>
                </a:cxn>
                <a:cxn ang="0">
                  <a:pos x="35" y="18"/>
                </a:cxn>
                <a:cxn ang="0">
                  <a:pos x="40" y="16"/>
                </a:cxn>
                <a:cxn ang="0">
                  <a:pos x="49" y="9"/>
                </a:cxn>
                <a:cxn ang="0">
                  <a:pos x="49" y="0"/>
                </a:cxn>
                <a:cxn ang="0">
                  <a:pos x="66" y="9"/>
                </a:cxn>
                <a:cxn ang="0">
                  <a:pos x="70" y="12"/>
                </a:cxn>
                <a:cxn ang="0">
                  <a:pos x="61" y="21"/>
                </a:cxn>
                <a:cxn ang="0">
                  <a:pos x="67" y="38"/>
                </a:cxn>
                <a:cxn ang="0">
                  <a:pos x="60" y="49"/>
                </a:cxn>
                <a:cxn ang="0">
                  <a:pos x="52" y="60"/>
                </a:cxn>
                <a:cxn ang="0">
                  <a:pos x="54" y="67"/>
                </a:cxn>
                <a:cxn ang="0">
                  <a:pos x="71" y="76"/>
                </a:cxn>
                <a:cxn ang="0">
                  <a:pos x="65" y="81"/>
                </a:cxn>
                <a:cxn ang="0">
                  <a:pos x="53" y="87"/>
                </a:cxn>
                <a:cxn ang="0">
                  <a:pos x="53" y="91"/>
                </a:cxn>
                <a:cxn ang="0">
                  <a:pos x="38" y="88"/>
                </a:cxn>
                <a:cxn ang="0">
                  <a:pos x="35" y="91"/>
                </a:cxn>
                <a:cxn ang="0">
                  <a:pos x="28" y="87"/>
                </a:cxn>
                <a:cxn ang="0">
                  <a:pos x="23" y="85"/>
                </a:cxn>
                <a:cxn ang="0">
                  <a:pos x="26" y="75"/>
                </a:cxn>
                <a:cxn ang="0">
                  <a:pos x="28" y="75"/>
                </a:cxn>
                <a:cxn ang="0">
                  <a:pos x="22" y="70"/>
                </a:cxn>
                <a:cxn ang="0">
                  <a:pos x="18" y="61"/>
                </a:cxn>
              </a:cxnLst>
              <a:rect l="0" t="0" r="r" b="b"/>
              <a:pathLst>
                <a:path w="71" h="91">
                  <a:moveTo>
                    <a:pt x="18" y="61"/>
                  </a:moveTo>
                  <a:lnTo>
                    <a:pt x="8" y="58"/>
                  </a:lnTo>
                  <a:lnTo>
                    <a:pt x="0" y="50"/>
                  </a:lnTo>
                  <a:lnTo>
                    <a:pt x="8" y="40"/>
                  </a:lnTo>
                  <a:lnTo>
                    <a:pt x="17" y="25"/>
                  </a:lnTo>
                  <a:lnTo>
                    <a:pt x="23" y="22"/>
                  </a:lnTo>
                  <a:lnTo>
                    <a:pt x="41" y="27"/>
                  </a:lnTo>
                  <a:lnTo>
                    <a:pt x="35" y="18"/>
                  </a:lnTo>
                  <a:lnTo>
                    <a:pt x="40" y="16"/>
                  </a:lnTo>
                  <a:lnTo>
                    <a:pt x="49" y="9"/>
                  </a:lnTo>
                  <a:lnTo>
                    <a:pt x="49" y="0"/>
                  </a:lnTo>
                  <a:lnTo>
                    <a:pt x="66" y="9"/>
                  </a:lnTo>
                  <a:lnTo>
                    <a:pt x="70" y="12"/>
                  </a:lnTo>
                  <a:lnTo>
                    <a:pt x="61" y="21"/>
                  </a:lnTo>
                  <a:lnTo>
                    <a:pt x="67" y="38"/>
                  </a:lnTo>
                  <a:lnTo>
                    <a:pt x="60" y="49"/>
                  </a:lnTo>
                  <a:lnTo>
                    <a:pt x="52" y="60"/>
                  </a:lnTo>
                  <a:lnTo>
                    <a:pt x="54" y="67"/>
                  </a:lnTo>
                  <a:lnTo>
                    <a:pt x="71" y="76"/>
                  </a:lnTo>
                  <a:lnTo>
                    <a:pt x="65" y="81"/>
                  </a:lnTo>
                  <a:lnTo>
                    <a:pt x="53" y="87"/>
                  </a:lnTo>
                  <a:lnTo>
                    <a:pt x="53" y="91"/>
                  </a:lnTo>
                  <a:lnTo>
                    <a:pt x="38" y="88"/>
                  </a:lnTo>
                  <a:lnTo>
                    <a:pt x="35" y="91"/>
                  </a:lnTo>
                  <a:lnTo>
                    <a:pt x="28" y="87"/>
                  </a:lnTo>
                  <a:lnTo>
                    <a:pt x="23" y="85"/>
                  </a:lnTo>
                  <a:lnTo>
                    <a:pt x="26" y="75"/>
                  </a:lnTo>
                  <a:lnTo>
                    <a:pt x="28" y="75"/>
                  </a:lnTo>
                  <a:lnTo>
                    <a:pt x="22" y="70"/>
                  </a:lnTo>
                  <a:lnTo>
                    <a:pt x="18" y="6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4" name="Freeform 263"/>
            <p:cNvSpPr>
              <a:spLocks/>
            </p:cNvSpPr>
            <p:nvPr/>
          </p:nvSpPr>
          <p:spPr bwMode="auto">
            <a:xfrm>
              <a:off x="4609" y="1934"/>
              <a:ext cx="66" cy="85"/>
            </a:xfrm>
            <a:custGeom>
              <a:avLst/>
              <a:gdLst/>
              <a:ahLst/>
              <a:cxnLst>
                <a:cxn ang="0">
                  <a:pos x="35" y="74"/>
                </a:cxn>
                <a:cxn ang="0">
                  <a:pos x="33" y="71"/>
                </a:cxn>
                <a:cxn ang="0">
                  <a:pos x="29" y="74"/>
                </a:cxn>
                <a:cxn ang="0">
                  <a:pos x="25" y="76"/>
                </a:cxn>
                <a:cxn ang="0">
                  <a:pos x="23" y="72"/>
                </a:cxn>
                <a:cxn ang="0">
                  <a:pos x="23" y="70"/>
                </a:cxn>
                <a:cxn ang="0">
                  <a:pos x="23" y="69"/>
                </a:cxn>
                <a:cxn ang="0">
                  <a:pos x="19" y="65"/>
                </a:cxn>
                <a:cxn ang="0">
                  <a:pos x="17" y="54"/>
                </a:cxn>
                <a:cxn ang="0">
                  <a:pos x="15" y="50"/>
                </a:cxn>
                <a:cxn ang="0">
                  <a:pos x="15" y="47"/>
                </a:cxn>
                <a:cxn ang="0">
                  <a:pos x="6" y="36"/>
                </a:cxn>
                <a:cxn ang="0">
                  <a:pos x="2" y="33"/>
                </a:cxn>
                <a:cxn ang="0">
                  <a:pos x="5" y="32"/>
                </a:cxn>
                <a:cxn ang="0">
                  <a:pos x="12" y="34"/>
                </a:cxn>
                <a:cxn ang="0">
                  <a:pos x="11" y="32"/>
                </a:cxn>
                <a:cxn ang="0">
                  <a:pos x="1" y="17"/>
                </a:cxn>
                <a:cxn ang="0">
                  <a:pos x="0" y="15"/>
                </a:cxn>
                <a:cxn ang="0">
                  <a:pos x="0" y="11"/>
                </a:cxn>
                <a:cxn ang="0">
                  <a:pos x="12" y="5"/>
                </a:cxn>
                <a:cxn ang="0">
                  <a:pos x="18" y="0"/>
                </a:cxn>
                <a:cxn ang="0">
                  <a:pos x="35" y="18"/>
                </a:cxn>
                <a:cxn ang="0">
                  <a:pos x="51" y="35"/>
                </a:cxn>
                <a:cxn ang="0">
                  <a:pos x="60" y="60"/>
                </a:cxn>
                <a:cxn ang="0">
                  <a:pos x="54" y="64"/>
                </a:cxn>
                <a:cxn ang="0">
                  <a:pos x="47" y="68"/>
                </a:cxn>
                <a:cxn ang="0">
                  <a:pos x="43" y="66"/>
                </a:cxn>
                <a:cxn ang="0">
                  <a:pos x="41" y="69"/>
                </a:cxn>
                <a:cxn ang="0">
                  <a:pos x="39" y="70"/>
                </a:cxn>
                <a:cxn ang="0">
                  <a:pos x="37" y="71"/>
                </a:cxn>
                <a:cxn ang="0">
                  <a:pos x="35" y="74"/>
                </a:cxn>
              </a:cxnLst>
              <a:rect l="0" t="0" r="r" b="b"/>
              <a:pathLst>
                <a:path w="60" h="76">
                  <a:moveTo>
                    <a:pt x="35" y="74"/>
                  </a:moveTo>
                  <a:lnTo>
                    <a:pt x="33" y="71"/>
                  </a:lnTo>
                  <a:lnTo>
                    <a:pt x="29" y="74"/>
                  </a:lnTo>
                  <a:lnTo>
                    <a:pt x="25" y="76"/>
                  </a:lnTo>
                  <a:lnTo>
                    <a:pt x="23" y="72"/>
                  </a:lnTo>
                  <a:lnTo>
                    <a:pt x="23" y="70"/>
                  </a:lnTo>
                  <a:lnTo>
                    <a:pt x="23" y="69"/>
                  </a:lnTo>
                  <a:lnTo>
                    <a:pt x="19" y="65"/>
                  </a:lnTo>
                  <a:lnTo>
                    <a:pt x="17" y="54"/>
                  </a:lnTo>
                  <a:lnTo>
                    <a:pt x="15" y="50"/>
                  </a:lnTo>
                  <a:lnTo>
                    <a:pt x="15" y="47"/>
                  </a:lnTo>
                  <a:lnTo>
                    <a:pt x="6" y="36"/>
                  </a:lnTo>
                  <a:lnTo>
                    <a:pt x="2" y="33"/>
                  </a:lnTo>
                  <a:lnTo>
                    <a:pt x="5" y="32"/>
                  </a:lnTo>
                  <a:lnTo>
                    <a:pt x="12" y="34"/>
                  </a:lnTo>
                  <a:lnTo>
                    <a:pt x="11" y="32"/>
                  </a:lnTo>
                  <a:lnTo>
                    <a:pt x="1" y="17"/>
                  </a:lnTo>
                  <a:lnTo>
                    <a:pt x="0" y="15"/>
                  </a:lnTo>
                  <a:lnTo>
                    <a:pt x="0" y="11"/>
                  </a:lnTo>
                  <a:lnTo>
                    <a:pt x="12" y="5"/>
                  </a:lnTo>
                  <a:lnTo>
                    <a:pt x="18" y="0"/>
                  </a:lnTo>
                  <a:lnTo>
                    <a:pt x="35" y="18"/>
                  </a:lnTo>
                  <a:lnTo>
                    <a:pt x="51" y="35"/>
                  </a:lnTo>
                  <a:lnTo>
                    <a:pt x="60" y="60"/>
                  </a:lnTo>
                  <a:lnTo>
                    <a:pt x="54" y="64"/>
                  </a:lnTo>
                  <a:lnTo>
                    <a:pt x="47" y="68"/>
                  </a:lnTo>
                  <a:lnTo>
                    <a:pt x="43" y="66"/>
                  </a:lnTo>
                  <a:lnTo>
                    <a:pt x="41" y="69"/>
                  </a:lnTo>
                  <a:lnTo>
                    <a:pt x="39" y="70"/>
                  </a:lnTo>
                  <a:lnTo>
                    <a:pt x="37" y="71"/>
                  </a:lnTo>
                  <a:lnTo>
                    <a:pt x="35" y="7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5" name="Freeform 264"/>
            <p:cNvSpPr>
              <a:spLocks/>
            </p:cNvSpPr>
            <p:nvPr/>
          </p:nvSpPr>
          <p:spPr bwMode="auto">
            <a:xfrm>
              <a:off x="4600" y="2203"/>
              <a:ext cx="24" cy="64"/>
            </a:xfrm>
            <a:custGeom>
              <a:avLst/>
              <a:gdLst/>
              <a:ahLst/>
              <a:cxnLst>
                <a:cxn ang="0">
                  <a:pos x="16" y="57"/>
                </a:cxn>
                <a:cxn ang="0">
                  <a:pos x="3" y="43"/>
                </a:cxn>
                <a:cxn ang="0">
                  <a:pos x="0" y="22"/>
                </a:cxn>
                <a:cxn ang="0">
                  <a:pos x="6" y="12"/>
                </a:cxn>
                <a:cxn ang="0">
                  <a:pos x="12" y="0"/>
                </a:cxn>
                <a:cxn ang="0">
                  <a:pos x="23" y="3"/>
                </a:cxn>
                <a:cxn ang="0">
                  <a:pos x="21" y="16"/>
                </a:cxn>
                <a:cxn ang="0">
                  <a:pos x="19" y="30"/>
                </a:cxn>
                <a:cxn ang="0">
                  <a:pos x="17" y="44"/>
                </a:cxn>
                <a:cxn ang="0">
                  <a:pos x="16" y="57"/>
                </a:cxn>
              </a:cxnLst>
              <a:rect l="0" t="0" r="r" b="b"/>
              <a:pathLst>
                <a:path w="23" h="57">
                  <a:moveTo>
                    <a:pt x="16" y="57"/>
                  </a:moveTo>
                  <a:lnTo>
                    <a:pt x="3" y="43"/>
                  </a:lnTo>
                  <a:lnTo>
                    <a:pt x="0" y="22"/>
                  </a:lnTo>
                  <a:lnTo>
                    <a:pt x="6" y="12"/>
                  </a:lnTo>
                  <a:lnTo>
                    <a:pt x="12" y="0"/>
                  </a:lnTo>
                  <a:lnTo>
                    <a:pt x="23" y="3"/>
                  </a:lnTo>
                  <a:lnTo>
                    <a:pt x="21" y="16"/>
                  </a:lnTo>
                  <a:lnTo>
                    <a:pt x="19" y="30"/>
                  </a:lnTo>
                  <a:lnTo>
                    <a:pt x="17" y="44"/>
                  </a:lnTo>
                  <a:lnTo>
                    <a:pt x="16" y="5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6" name="Freeform 265"/>
            <p:cNvSpPr>
              <a:spLocks/>
            </p:cNvSpPr>
            <p:nvPr/>
          </p:nvSpPr>
          <p:spPr bwMode="auto">
            <a:xfrm>
              <a:off x="3882" y="1672"/>
              <a:ext cx="520" cy="204"/>
            </a:xfrm>
            <a:custGeom>
              <a:avLst/>
              <a:gdLst/>
              <a:ahLst/>
              <a:cxnLst>
                <a:cxn ang="0">
                  <a:pos x="276" y="176"/>
                </a:cxn>
                <a:cxn ang="0">
                  <a:pos x="252" y="168"/>
                </a:cxn>
                <a:cxn ang="0">
                  <a:pos x="211" y="166"/>
                </a:cxn>
                <a:cxn ang="0">
                  <a:pos x="171" y="163"/>
                </a:cxn>
                <a:cxn ang="0">
                  <a:pos x="145" y="136"/>
                </a:cxn>
                <a:cxn ang="0">
                  <a:pos x="104" y="124"/>
                </a:cxn>
                <a:cxn ang="0">
                  <a:pos x="71" y="118"/>
                </a:cxn>
                <a:cxn ang="0">
                  <a:pos x="60" y="89"/>
                </a:cxn>
                <a:cxn ang="0">
                  <a:pos x="27" y="72"/>
                </a:cxn>
                <a:cxn ang="0">
                  <a:pos x="1" y="53"/>
                </a:cxn>
                <a:cxn ang="0">
                  <a:pos x="7" y="44"/>
                </a:cxn>
                <a:cxn ang="0">
                  <a:pos x="33" y="31"/>
                </a:cxn>
                <a:cxn ang="0">
                  <a:pos x="75" y="25"/>
                </a:cxn>
                <a:cxn ang="0">
                  <a:pos x="102" y="35"/>
                </a:cxn>
                <a:cxn ang="0">
                  <a:pos x="133" y="30"/>
                </a:cxn>
                <a:cxn ang="0">
                  <a:pos x="123" y="0"/>
                </a:cxn>
                <a:cxn ang="0">
                  <a:pos x="171" y="11"/>
                </a:cxn>
                <a:cxn ang="0">
                  <a:pos x="204" y="32"/>
                </a:cxn>
                <a:cxn ang="0">
                  <a:pos x="247" y="31"/>
                </a:cxn>
                <a:cxn ang="0">
                  <a:pos x="275" y="42"/>
                </a:cxn>
                <a:cxn ang="0">
                  <a:pos x="320" y="47"/>
                </a:cxn>
                <a:cxn ang="0">
                  <a:pos x="353" y="31"/>
                </a:cxn>
                <a:cxn ang="0">
                  <a:pos x="392" y="38"/>
                </a:cxn>
                <a:cxn ang="0">
                  <a:pos x="396" y="66"/>
                </a:cxn>
                <a:cxn ang="0">
                  <a:pos x="404" y="74"/>
                </a:cxn>
                <a:cxn ang="0">
                  <a:pos x="425" y="77"/>
                </a:cxn>
                <a:cxn ang="0">
                  <a:pos x="463" y="86"/>
                </a:cxn>
                <a:cxn ang="0">
                  <a:pos x="443" y="95"/>
                </a:cxn>
                <a:cxn ang="0">
                  <a:pos x="423" y="115"/>
                </a:cxn>
                <a:cxn ang="0">
                  <a:pos x="396" y="127"/>
                </a:cxn>
                <a:cxn ang="0">
                  <a:pos x="377" y="138"/>
                </a:cxn>
                <a:cxn ang="0">
                  <a:pos x="373" y="157"/>
                </a:cxn>
                <a:cxn ang="0">
                  <a:pos x="343" y="170"/>
                </a:cxn>
                <a:cxn ang="0">
                  <a:pos x="315" y="178"/>
                </a:cxn>
                <a:cxn ang="0">
                  <a:pos x="294" y="180"/>
                </a:cxn>
              </a:cxnLst>
              <a:rect l="0" t="0" r="r" b="b"/>
              <a:pathLst>
                <a:path w="467" h="185">
                  <a:moveTo>
                    <a:pt x="294" y="180"/>
                  </a:moveTo>
                  <a:lnTo>
                    <a:pt x="276" y="176"/>
                  </a:lnTo>
                  <a:lnTo>
                    <a:pt x="258" y="173"/>
                  </a:lnTo>
                  <a:lnTo>
                    <a:pt x="252" y="168"/>
                  </a:lnTo>
                  <a:lnTo>
                    <a:pt x="231" y="167"/>
                  </a:lnTo>
                  <a:lnTo>
                    <a:pt x="211" y="166"/>
                  </a:lnTo>
                  <a:lnTo>
                    <a:pt x="192" y="164"/>
                  </a:lnTo>
                  <a:lnTo>
                    <a:pt x="171" y="163"/>
                  </a:lnTo>
                  <a:lnTo>
                    <a:pt x="158" y="150"/>
                  </a:lnTo>
                  <a:lnTo>
                    <a:pt x="145" y="136"/>
                  </a:lnTo>
                  <a:lnTo>
                    <a:pt x="125" y="130"/>
                  </a:lnTo>
                  <a:lnTo>
                    <a:pt x="104" y="124"/>
                  </a:lnTo>
                  <a:lnTo>
                    <a:pt x="87" y="120"/>
                  </a:lnTo>
                  <a:lnTo>
                    <a:pt x="71" y="118"/>
                  </a:lnTo>
                  <a:lnTo>
                    <a:pt x="65" y="103"/>
                  </a:lnTo>
                  <a:lnTo>
                    <a:pt x="60" y="89"/>
                  </a:lnTo>
                  <a:lnTo>
                    <a:pt x="38" y="74"/>
                  </a:lnTo>
                  <a:lnTo>
                    <a:pt x="27" y="72"/>
                  </a:lnTo>
                  <a:lnTo>
                    <a:pt x="7" y="59"/>
                  </a:lnTo>
                  <a:lnTo>
                    <a:pt x="1" y="53"/>
                  </a:lnTo>
                  <a:lnTo>
                    <a:pt x="0" y="50"/>
                  </a:lnTo>
                  <a:lnTo>
                    <a:pt x="7" y="44"/>
                  </a:lnTo>
                  <a:lnTo>
                    <a:pt x="19" y="38"/>
                  </a:lnTo>
                  <a:lnTo>
                    <a:pt x="33" y="31"/>
                  </a:lnTo>
                  <a:lnTo>
                    <a:pt x="47" y="23"/>
                  </a:lnTo>
                  <a:lnTo>
                    <a:pt x="75" y="25"/>
                  </a:lnTo>
                  <a:lnTo>
                    <a:pt x="80" y="31"/>
                  </a:lnTo>
                  <a:lnTo>
                    <a:pt x="102" y="35"/>
                  </a:lnTo>
                  <a:lnTo>
                    <a:pt x="122" y="38"/>
                  </a:lnTo>
                  <a:lnTo>
                    <a:pt x="133" y="30"/>
                  </a:lnTo>
                  <a:lnTo>
                    <a:pt x="120" y="18"/>
                  </a:lnTo>
                  <a:lnTo>
                    <a:pt x="123" y="0"/>
                  </a:lnTo>
                  <a:lnTo>
                    <a:pt x="147" y="6"/>
                  </a:lnTo>
                  <a:lnTo>
                    <a:pt x="171" y="11"/>
                  </a:lnTo>
                  <a:lnTo>
                    <a:pt x="182" y="22"/>
                  </a:lnTo>
                  <a:lnTo>
                    <a:pt x="204" y="32"/>
                  </a:lnTo>
                  <a:lnTo>
                    <a:pt x="228" y="28"/>
                  </a:lnTo>
                  <a:lnTo>
                    <a:pt x="247" y="31"/>
                  </a:lnTo>
                  <a:lnTo>
                    <a:pt x="267" y="36"/>
                  </a:lnTo>
                  <a:lnTo>
                    <a:pt x="275" y="42"/>
                  </a:lnTo>
                  <a:lnTo>
                    <a:pt x="303" y="49"/>
                  </a:lnTo>
                  <a:lnTo>
                    <a:pt x="320" y="47"/>
                  </a:lnTo>
                  <a:lnTo>
                    <a:pt x="337" y="43"/>
                  </a:lnTo>
                  <a:lnTo>
                    <a:pt x="353" y="31"/>
                  </a:lnTo>
                  <a:lnTo>
                    <a:pt x="379" y="37"/>
                  </a:lnTo>
                  <a:lnTo>
                    <a:pt x="392" y="38"/>
                  </a:lnTo>
                  <a:lnTo>
                    <a:pt x="395" y="52"/>
                  </a:lnTo>
                  <a:lnTo>
                    <a:pt x="396" y="66"/>
                  </a:lnTo>
                  <a:lnTo>
                    <a:pt x="392" y="67"/>
                  </a:lnTo>
                  <a:lnTo>
                    <a:pt x="404" y="74"/>
                  </a:lnTo>
                  <a:lnTo>
                    <a:pt x="420" y="74"/>
                  </a:lnTo>
                  <a:lnTo>
                    <a:pt x="425" y="77"/>
                  </a:lnTo>
                  <a:lnTo>
                    <a:pt x="432" y="70"/>
                  </a:lnTo>
                  <a:lnTo>
                    <a:pt x="463" y="86"/>
                  </a:lnTo>
                  <a:lnTo>
                    <a:pt x="467" y="95"/>
                  </a:lnTo>
                  <a:lnTo>
                    <a:pt x="443" y="95"/>
                  </a:lnTo>
                  <a:lnTo>
                    <a:pt x="426" y="103"/>
                  </a:lnTo>
                  <a:lnTo>
                    <a:pt x="423" y="115"/>
                  </a:lnTo>
                  <a:lnTo>
                    <a:pt x="409" y="119"/>
                  </a:lnTo>
                  <a:lnTo>
                    <a:pt x="396" y="127"/>
                  </a:lnTo>
                  <a:lnTo>
                    <a:pt x="374" y="121"/>
                  </a:lnTo>
                  <a:lnTo>
                    <a:pt x="377" y="138"/>
                  </a:lnTo>
                  <a:lnTo>
                    <a:pt x="386" y="146"/>
                  </a:lnTo>
                  <a:lnTo>
                    <a:pt x="373" y="157"/>
                  </a:lnTo>
                  <a:lnTo>
                    <a:pt x="360" y="169"/>
                  </a:lnTo>
                  <a:lnTo>
                    <a:pt x="343" y="170"/>
                  </a:lnTo>
                  <a:lnTo>
                    <a:pt x="325" y="172"/>
                  </a:lnTo>
                  <a:lnTo>
                    <a:pt x="315" y="178"/>
                  </a:lnTo>
                  <a:lnTo>
                    <a:pt x="305" y="185"/>
                  </a:lnTo>
                  <a:lnTo>
                    <a:pt x="294" y="18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7" name="Freeform 266"/>
            <p:cNvSpPr>
              <a:spLocks/>
            </p:cNvSpPr>
            <p:nvPr/>
          </p:nvSpPr>
          <p:spPr bwMode="auto">
            <a:xfrm>
              <a:off x="3253" y="1608"/>
              <a:ext cx="618" cy="273"/>
            </a:xfrm>
            <a:custGeom>
              <a:avLst/>
              <a:gdLst/>
              <a:ahLst/>
              <a:cxnLst>
                <a:cxn ang="0">
                  <a:pos x="65" y="146"/>
                </a:cxn>
                <a:cxn ang="0">
                  <a:pos x="45" y="155"/>
                </a:cxn>
                <a:cxn ang="0">
                  <a:pos x="17" y="125"/>
                </a:cxn>
                <a:cxn ang="0">
                  <a:pos x="3" y="93"/>
                </a:cxn>
                <a:cxn ang="0">
                  <a:pos x="22" y="81"/>
                </a:cxn>
                <a:cxn ang="0">
                  <a:pos x="35" y="65"/>
                </a:cxn>
                <a:cxn ang="0">
                  <a:pos x="65" y="57"/>
                </a:cxn>
                <a:cxn ang="0">
                  <a:pos x="103" y="74"/>
                </a:cxn>
                <a:cxn ang="0">
                  <a:pos x="151" y="72"/>
                </a:cxn>
                <a:cxn ang="0">
                  <a:pos x="180" y="71"/>
                </a:cxn>
                <a:cxn ang="0">
                  <a:pos x="172" y="34"/>
                </a:cxn>
                <a:cxn ang="0">
                  <a:pos x="168" y="27"/>
                </a:cxn>
                <a:cxn ang="0">
                  <a:pos x="204" y="21"/>
                </a:cxn>
                <a:cxn ang="0">
                  <a:pos x="238" y="11"/>
                </a:cxn>
                <a:cxn ang="0">
                  <a:pos x="270" y="2"/>
                </a:cxn>
                <a:cxn ang="0">
                  <a:pos x="293" y="11"/>
                </a:cxn>
                <a:cxn ang="0">
                  <a:pos x="330" y="26"/>
                </a:cxn>
                <a:cxn ang="0">
                  <a:pos x="359" y="21"/>
                </a:cxn>
                <a:cxn ang="0">
                  <a:pos x="379" y="17"/>
                </a:cxn>
                <a:cxn ang="0">
                  <a:pos x="396" y="39"/>
                </a:cxn>
                <a:cxn ang="0">
                  <a:pos x="433" y="64"/>
                </a:cxn>
                <a:cxn ang="0">
                  <a:pos x="456" y="72"/>
                </a:cxn>
                <a:cxn ang="0">
                  <a:pos x="484" y="74"/>
                </a:cxn>
                <a:cxn ang="0">
                  <a:pos x="522" y="96"/>
                </a:cxn>
                <a:cxn ang="0">
                  <a:pos x="557" y="110"/>
                </a:cxn>
                <a:cxn ang="0">
                  <a:pos x="544" y="126"/>
                </a:cxn>
                <a:cxn ang="0">
                  <a:pos x="538" y="147"/>
                </a:cxn>
                <a:cxn ang="0">
                  <a:pos x="517" y="158"/>
                </a:cxn>
                <a:cxn ang="0">
                  <a:pos x="525" y="179"/>
                </a:cxn>
                <a:cxn ang="0">
                  <a:pos x="487" y="184"/>
                </a:cxn>
                <a:cxn ang="0">
                  <a:pos x="503" y="201"/>
                </a:cxn>
                <a:cxn ang="0">
                  <a:pos x="510" y="218"/>
                </a:cxn>
                <a:cxn ang="0">
                  <a:pos x="489" y="210"/>
                </a:cxn>
                <a:cxn ang="0">
                  <a:pos x="450" y="214"/>
                </a:cxn>
                <a:cxn ang="0">
                  <a:pos x="417" y="213"/>
                </a:cxn>
                <a:cxn ang="0">
                  <a:pos x="394" y="221"/>
                </a:cxn>
                <a:cxn ang="0">
                  <a:pos x="369" y="226"/>
                </a:cxn>
                <a:cxn ang="0">
                  <a:pos x="341" y="246"/>
                </a:cxn>
                <a:cxn ang="0">
                  <a:pos x="313" y="232"/>
                </a:cxn>
                <a:cxn ang="0">
                  <a:pos x="297" y="207"/>
                </a:cxn>
                <a:cxn ang="0">
                  <a:pos x="265" y="204"/>
                </a:cxn>
                <a:cxn ang="0">
                  <a:pos x="235" y="202"/>
                </a:cxn>
                <a:cxn ang="0">
                  <a:pos x="202" y="176"/>
                </a:cxn>
                <a:cxn ang="0">
                  <a:pos x="166" y="172"/>
                </a:cxn>
                <a:cxn ang="0">
                  <a:pos x="151" y="195"/>
                </a:cxn>
                <a:cxn ang="0">
                  <a:pos x="160" y="226"/>
                </a:cxn>
                <a:cxn ang="0">
                  <a:pos x="147" y="237"/>
                </a:cxn>
                <a:cxn ang="0">
                  <a:pos x="131" y="220"/>
                </a:cxn>
                <a:cxn ang="0">
                  <a:pos x="94" y="215"/>
                </a:cxn>
                <a:cxn ang="0">
                  <a:pos x="75" y="194"/>
                </a:cxn>
                <a:cxn ang="0">
                  <a:pos x="84" y="188"/>
                </a:cxn>
                <a:cxn ang="0">
                  <a:pos x="85" y="174"/>
                </a:cxn>
                <a:cxn ang="0">
                  <a:pos x="100" y="167"/>
                </a:cxn>
                <a:cxn ang="0">
                  <a:pos x="77" y="147"/>
                </a:cxn>
              </a:cxnLst>
              <a:rect l="0" t="0" r="r" b="b"/>
              <a:pathLst>
                <a:path w="557" h="246">
                  <a:moveTo>
                    <a:pt x="77" y="147"/>
                  </a:moveTo>
                  <a:lnTo>
                    <a:pt x="65" y="146"/>
                  </a:lnTo>
                  <a:lnTo>
                    <a:pt x="47" y="154"/>
                  </a:lnTo>
                  <a:lnTo>
                    <a:pt x="45" y="155"/>
                  </a:lnTo>
                  <a:lnTo>
                    <a:pt x="34" y="138"/>
                  </a:lnTo>
                  <a:lnTo>
                    <a:pt x="17" y="125"/>
                  </a:lnTo>
                  <a:lnTo>
                    <a:pt x="0" y="112"/>
                  </a:lnTo>
                  <a:lnTo>
                    <a:pt x="3" y="93"/>
                  </a:lnTo>
                  <a:lnTo>
                    <a:pt x="5" y="74"/>
                  </a:lnTo>
                  <a:lnTo>
                    <a:pt x="22" y="81"/>
                  </a:lnTo>
                  <a:lnTo>
                    <a:pt x="24" y="74"/>
                  </a:lnTo>
                  <a:lnTo>
                    <a:pt x="35" y="65"/>
                  </a:lnTo>
                  <a:lnTo>
                    <a:pt x="46" y="58"/>
                  </a:lnTo>
                  <a:lnTo>
                    <a:pt x="65" y="57"/>
                  </a:lnTo>
                  <a:lnTo>
                    <a:pt x="84" y="65"/>
                  </a:lnTo>
                  <a:lnTo>
                    <a:pt x="103" y="74"/>
                  </a:lnTo>
                  <a:lnTo>
                    <a:pt x="124" y="72"/>
                  </a:lnTo>
                  <a:lnTo>
                    <a:pt x="151" y="72"/>
                  </a:lnTo>
                  <a:lnTo>
                    <a:pt x="178" y="76"/>
                  </a:lnTo>
                  <a:lnTo>
                    <a:pt x="180" y="71"/>
                  </a:lnTo>
                  <a:lnTo>
                    <a:pt x="166" y="54"/>
                  </a:lnTo>
                  <a:lnTo>
                    <a:pt x="172" y="34"/>
                  </a:lnTo>
                  <a:lnTo>
                    <a:pt x="185" y="35"/>
                  </a:lnTo>
                  <a:lnTo>
                    <a:pt x="168" y="27"/>
                  </a:lnTo>
                  <a:lnTo>
                    <a:pt x="186" y="23"/>
                  </a:lnTo>
                  <a:lnTo>
                    <a:pt x="204" y="21"/>
                  </a:lnTo>
                  <a:lnTo>
                    <a:pt x="221" y="16"/>
                  </a:lnTo>
                  <a:lnTo>
                    <a:pt x="238" y="11"/>
                  </a:lnTo>
                  <a:lnTo>
                    <a:pt x="253" y="6"/>
                  </a:lnTo>
                  <a:lnTo>
                    <a:pt x="270" y="2"/>
                  </a:lnTo>
                  <a:lnTo>
                    <a:pt x="283" y="0"/>
                  </a:lnTo>
                  <a:lnTo>
                    <a:pt x="293" y="11"/>
                  </a:lnTo>
                  <a:lnTo>
                    <a:pt x="319" y="21"/>
                  </a:lnTo>
                  <a:lnTo>
                    <a:pt x="330" y="26"/>
                  </a:lnTo>
                  <a:lnTo>
                    <a:pt x="341" y="28"/>
                  </a:lnTo>
                  <a:lnTo>
                    <a:pt x="359" y="21"/>
                  </a:lnTo>
                  <a:lnTo>
                    <a:pt x="376" y="15"/>
                  </a:lnTo>
                  <a:lnTo>
                    <a:pt x="379" y="17"/>
                  </a:lnTo>
                  <a:lnTo>
                    <a:pt x="377" y="26"/>
                  </a:lnTo>
                  <a:lnTo>
                    <a:pt x="396" y="39"/>
                  </a:lnTo>
                  <a:lnTo>
                    <a:pt x="414" y="51"/>
                  </a:lnTo>
                  <a:lnTo>
                    <a:pt x="433" y="64"/>
                  </a:lnTo>
                  <a:lnTo>
                    <a:pt x="453" y="77"/>
                  </a:lnTo>
                  <a:lnTo>
                    <a:pt x="456" y="72"/>
                  </a:lnTo>
                  <a:lnTo>
                    <a:pt x="466" y="76"/>
                  </a:lnTo>
                  <a:lnTo>
                    <a:pt x="484" y="74"/>
                  </a:lnTo>
                  <a:lnTo>
                    <a:pt x="503" y="86"/>
                  </a:lnTo>
                  <a:lnTo>
                    <a:pt x="522" y="96"/>
                  </a:lnTo>
                  <a:lnTo>
                    <a:pt x="540" y="93"/>
                  </a:lnTo>
                  <a:lnTo>
                    <a:pt x="557" y="110"/>
                  </a:lnTo>
                  <a:lnTo>
                    <a:pt x="551" y="122"/>
                  </a:lnTo>
                  <a:lnTo>
                    <a:pt x="544" y="126"/>
                  </a:lnTo>
                  <a:lnTo>
                    <a:pt x="551" y="144"/>
                  </a:lnTo>
                  <a:lnTo>
                    <a:pt x="538" y="147"/>
                  </a:lnTo>
                  <a:lnTo>
                    <a:pt x="515" y="142"/>
                  </a:lnTo>
                  <a:lnTo>
                    <a:pt x="517" y="158"/>
                  </a:lnTo>
                  <a:lnTo>
                    <a:pt x="519" y="172"/>
                  </a:lnTo>
                  <a:lnTo>
                    <a:pt x="525" y="179"/>
                  </a:lnTo>
                  <a:lnTo>
                    <a:pt x="504" y="177"/>
                  </a:lnTo>
                  <a:lnTo>
                    <a:pt x="487" y="184"/>
                  </a:lnTo>
                  <a:lnTo>
                    <a:pt x="497" y="188"/>
                  </a:lnTo>
                  <a:lnTo>
                    <a:pt x="503" y="201"/>
                  </a:lnTo>
                  <a:lnTo>
                    <a:pt x="510" y="214"/>
                  </a:lnTo>
                  <a:lnTo>
                    <a:pt x="510" y="218"/>
                  </a:lnTo>
                  <a:lnTo>
                    <a:pt x="507" y="221"/>
                  </a:lnTo>
                  <a:lnTo>
                    <a:pt x="489" y="210"/>
                  </a:lnTo>
                  <a:lnTo>
                    <a:pt x="469" y="212"/>
                  </a:lnTo>
                  <a:lnTo>
                    <a:pt x="450" y="214"/>
                  </a:lnTo>
                  <a:lnTo>
                    <a:pt x="430" y="214"/>
                  </a:lnTo>
                  <a:lnTo>
                    <a:pt x="417" y="213"/>
                  </a:lnTo>
                  <a:lnTo>
                    <a:pt x="408" y="222"/>
                  </a:lnTo>
                  <a:lnTo>
                    <a:pt x="394" y="221"/>
                  </a:lnTo>
                  <a:lnTo>
                    <a:pt x="378" y="219"/>
                  </a:lnTo>
                  <a:lnTo>
                    <a:pt x="369" y="226"/>
                  </a:lnTo>
                  <a:lnTo>
                    <a:pt x="355" y="237"/>
                  </a:lnTo>
                  <a:lnTo>
                    <a:pt x="341" y="246"/>
                  </a:lnTo>
                  <a:lnTo>
                    <a:pt x="328" y="239"/>
                  </a:lnTo>
                  <a:lnTo>
                    <a:pt x="313" y="232"/>
                  </a:lnTo>
                  <a:lnTo>
                    <a:pt x="312" y="218"/>
                  </a:lnTo>
                  <a:lnTo>
                    <a:pt x="297" y="207"/>
                  </a:lnTo>
                  <a:lnTo>
                    <a:pt x="281" y="206"/>
                  </a:lnTo>
                  <a:lnTo>
                    <a:pt x="265" y="204"/>
                  </a:lnTo>
                  <a:lnTo>
                    <a:pt x="251" y="203"/>
                  </a:lnTo>
                  <a:lnTo>
                    <a:pt x="235" y="202"/>
                  </a:lnTo>
                  <a:lnTo>
                    <a:pt x="221" y="185"/>
                  </a:lnTo>
                  <a:lnTo>
                    <a:pt x="202" y="176"/>
                  </a:lnTo>
                  <a:lnTo>
                    <a:pt x="183" y="165"/>
                  </a:lnTo>
                  <a:lnTo>
                    <a:pt x="166" y="172"/>
                  </a:lnTo>
                  <a:lnTo>
                    <a:pt x="148" y="178"/>
                  </a:lnTo>
                  <a:lnTo>
                    <a:pt x="151" y="195"/>
                  </a:lnTo>
                  <a:lnTo>
                    <a:pt x="155" y="210"/>
                  </a:lnTo>
                  <a:lnTo>
                    <a:pt x="160" y="226"/>
                  </a:lnTo>
                  <a:lnTo>
                    <a:pt x="163" y="243"/>
                  </a:lnTo>
                  <a:lnTo>
                    <a:pt x="147" y="237"/>
                  </a:lnTo>
                  <a:lnTo>
                    <a:pt x="130" y="232"/>
                  </a:lnTo>
                  <a:lnTo>
                    <a:pt x="131" y="220"/>
                  </a:lnTo>
                  <a:lnTo>
                    <a:pt x="106" y="220"/>
                  </a:lnTo>
                  <a:lnTo>
                    <a:pt x="94" y="215"/>
                  </a:lnTo>
                  <a:lnTo>
                    <a:pt x="88" y="212"/>
                  </a:lnTo>
                  <a:lnTo>
                    <a:pt x="75" y="194"/>
                  </a:lnTo>
                  <a:lnTo>
                    <a:pt x="67" y="189"/>
                  </a:lnTo>
                  <a:lnTo>
                    <a:pt x="84" y="188"/>
                  </a:lnTo>
                  <a:lnTo>
                    <a:pt x="77" y="182"/>
                  </a:lnTo>
                  <a:lnTo>
                    <a:pt x="85" y="174"/>
                  </a:lnTo>
                  <a:lnTo>
                    <a:pt x="103" y="174"/>
                  </a:lnTo>
                  <a:lnTo>
                    <a:pt x="100" y="167"/>
                  </a:lnTo>
                  <a:lnTo>
                    <a:pt x="96" y="148"/>
                  </a:lnTo>
                  <a:lnTo>
                    <a:pt x="77" y="1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8" name="Freeform 267"/>
            <p:cNvSpPr>
              <a:spLocks/>
            </p:cNvSpPr>
            <p:nvPr/>
          </p:nvSpPr>
          <p:spPr bwMode="auto">
            <a:xfrm>
              <a:off x="3156" y="1827"/>
              <a:ext cx="133" cy="52"/>
            </a:xfrm>
            <a:custGeom>
              <a:avLst/>
              <a:gdLst/>
              <a:ahLst/>
              <a:cxnLst>
                <a:cxn ang="0">
                  <a:pos x="24" y="17"/>
                </a:cxn>
                <a:cxn ang="0">
                  <a:pos x="0" y="3"/>
                </a:cxn>
                <a:cxn ang="0">
                  <a:pos x="1" y="0"/>
                </a:cxn>
                <a:cxn ang="0">
                  <a:pos x="17" y="2"/>
                </a:cxn>
                <a:cxn ang="0">
                  <a:pos x="33" y="3"/>
                </a:cxn>
                <a:cxn ang="0">
                  <a:pos x="55" y="12"/>
                </a:cxn>
                <a:cxn ang="0">
                  <a:pos x="77" y="21"/>
                </a:cxn>
                <a:cxn ang="0">
                  <a:pos x="98" y="29"/>
                </a:cxn>
                <a:cxn ang="0">
                  <a:pos x="120" y="38"/>
                </a:cxn>
                <a:cxn ang="0">
                  <a:pos x="115" y="46"/>
                </a:cxn>
                <a:cxn ang="0">
                  <a:pos x="101" y="45"/>
                </a:cxn>
                <a:cxn ang="0">
                  <a:pos x="79" y="44"/>
                </a:cxn>
                <a:cxn ang="0">
                  <a:pos x="57" y="44"/>
                </a:cxn>
                <a:cxn ang="0">
                  <a:pos x="39" y="45"/>
                </a:cxn>
                <a:cxn ang="0">
                  <a:pos x="38" y="32"/>
                </a:cxn>
                <a:cxn ang="0">
                  <a:pos x="24" y="17"/>
                </a:cxn>
              </a:cxnLst>
              <a:rect l="0" t="0" r="r" b="b"/>
              <a:pathLst>
                <a:path w="120" h="46">
                  <a:moveTo>
                    <a:pt x="24" y="17"/>
                  </a:moveTo>
                  <a:lnTo>
                    <a:pt x="0" y="3"/>
                  </a:lnTo>
                  <a:lnTo>
                    <a:pt x="1" y="0"/>
                  </a:lnTo>
                  <a:lnTo>
                    <a:pt x="17" y="2"/>
                  </a:lnTo>
                  <a:lnTo>
                    <a:pt x="33" y="3"/>
                  </a:lnTo>
                  <a:lnTo>
                    <a:pt x="55" y="12"/>
                  </a:lnTo>
                  <a:lnTo>
                    <a:pt x="77" y="21"/>
                  </a:lnTo>
                  <a:lnTo>
                    <a:pt x="98" y="29"/>
                  </a:lnTo>
                  <a:lnTo>
                    <a:pt x="120" y="38"/>
                  </a:lnTo>
                  <a:lnTo>
                    <a:pt x="115" y="46"/>
                  </a:lnTo>
                  <a:lnTo>
                    <a:pt x="101" y="45"/>
                  </a:lnTo>
                  <a:lnTo>
                    <a:pt x="79" y="44"/>
                  </a:lnTo>
                  <a:lnTo>
                    <a:pt x="57" y="44"/>
                  </a:lnTo>
                  <a:lnTo>
                    <a:pt x="39" y="45"/>
                  </a:lnTo>
                  <a:lnTo>
                    <a:pt x="38" y="32"/>
                  </a:lnTo>
                  <a:lnTo>
                    <a:pt x="24"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9" name="Freeform 268"/>
            <p:cNvSpPr>
              <a:spLocks/>
            </p:cNvSpPr>
            <p:nvPr/>
          </p:nvSpPr>
          <p:spPr bwMode="auto">
            <a:xfrm>
              <a:off x="3662" y="1841"/>
              <a:ext cx="158" cy="80"/>
            </a:xfrm>
            <a:custGeom>
              <a:avLst/>
              <a:gdLst/>
              <a:ahLst/>
              <a:cxnLst>
                <a:cxn ang="0">
                  <a:pos x="46" y="41"/>
                </a:cxn>
                <a:cxn ang="0">
                  <a:pos x="31" y="32"/>
                </a:cxn>
                <a:cxn ang="0">
                  <a:pos x="10" y="29"/>
                </a:cxn>
                <a:cxn ang="0">
                  <a:pos x="0" y="16"/>
                </a:cxn>
                <a:cxn ang="0">
                  <a:pos x="9" y="9"/>
                </a:cxn>
                <a:cxn ang="0">
                  <a:pos x="25" y="11"/>
                </a:cxn>
                <a:cxn ang="0">
                  <a:pos x="39" y="12"/>
                </a:cxn>
                <a:cxn ang="0">
                  <a:pos x="48" y="3"/>
                </a:cxn>
                <a:cxn ang="0">
                  <a:pos x="61" y="4"/>
                </a:cxn>
                <a:cxn ang="0">
                  <a:pos x="81" y="4"/>
                </a:cxn>
                <a:cxn ang="0">
                  <a:pos x="100" y="2"/>
                </a:cxn>
                <a:cxn ang="0">
                  <a:pos x="120" y="0"/>
                </a:cxn>
                <a:cxn ang="0">
                  <a:pos x="138" y="11"/>
                </a:cxn>
                <a:cxn ang="0">
                  <a:pos x="141" y="20"/>
                </a:cxn>
                <a:cxn ang="0">
                  <a:pos x="130" y="29"/>
                </a:cxn>
                <a:cxn ang="0">
                  <a:pos x="120" y="38"/>
                </a:cxn>
                <a:cxn ang="0">
                  <a:pos x="104" y="42"/>
                </a:cxn>
                <a:cxn ang="0">
                  <a:pos x="94" y="53"/>
                </a:cxn>
                <a:cxn ang="0">
                  <a:pos x="86" y="51"/>
                </a:cxn>
                <a:cxn ang="0">
                  <a:pos x="79" y="52"/>
                </a:cxn>
                <a:cxn ang="0">
                  <a:pos x="68" y="58"/>
                </a:cxn>
                <a:cxn ang="0">
                  <a:pos x="62" y="71"/>
                </a:cxn>
                <a:cxn ang="0">
                  <a:pos x="37" y="69"/>
                </a:cxn>
                <a:cxn ang="0">
                  <a:pos x="12" y="65"/>
                </a:cxn>
                <a:cxn ang="0">
                  <a:pos x="10" y="53"/>
                </a:cxn>
                <a:cxn ang="0">
                  <a:pos x="28" y="47"/>
                </a:cxn>
                <a:cxn ang="0">
                  <a:pos x="46" y="41"/>
                </a:cxn>
              </a:cxnLst>
              <a:rect l="0" t="0" r="r" b="b"/>
              <a:pathLst>
                <a:path w="141" h="71">
                  <a:moveTo>
                    <a:pt x="46" y="41"/>
                  </a:moveTo>
                  <a:lnTo>
                    <a:pt x="31" y="32"/>
                  </a:lnTo>
                  <a:lnTo>
                    <a:pt x="10" y="29"/>
                  </a:lnTo>
                  <a:lnTo>
                    <a:pt x="0" y="16"/>
                  </a:lnTo>
                  <a:lnTo>
                    <a:pt x="9" y="9"/>
                  </a:lnTo>
                  <a:lnTo>
                    <a:pt x="25" y="11"/>
                  </a:lnTo>
                  <a:lnTo>
                    <a:pt x="39" y="12"/>
                  </a:lnTo>
                  <a:lnTo>
                    <a:pt x="48" y="3"/>
                  </a:lnTo>
                  <a:lnTo>
                    <a:pt x="61" y="4"/>
                  </a:lnTo>
                  <a:lnTo>
                    <a:pt x="81" y="4"/>
                  </a:lnTo>
                  <a:lnTo>
                    <a:pt x="100" y="2"/>
                  </a:lnTo>
                  <a:lnTo>
                    <a:pt x="120" y="0"/>
                  </a:lnTo>
                  <a:lnTo>
                    <a:pt x="138" y="11"/>
                  </a:lnTo>
                  <a:lnTo>
                    <a:pt x="141" y="20"/>
                  </a:lnTo>
                  <a:lnTo>
                    <a:pt x="130" y="29"/>
                  </a:lnTo>
                  <a:lnTo>
                    <a:pt x="120" y="38"/>
                  </a:lnTo>
                  <a:lnTo>
                    <a:pt x="104" y="42"/>
                  </a:lnTo>
                  <a:lnTo>
                    <a:pt x="94" y="53"/>
                  </a:lnTo>
                  <a:lnTo>
                    <a:pt x="86" y="51"/>
                  </a:lnTo>
                  <a:lnTo>
                    <a:pt x="79" y="52"/>
                  </a:lnTo>
                  <a:lnTo>
                    <a:pt x="68" y="58"/>
                  </a:lnTo>
                  <a:lnTo>
                    <a:pt x="62" y="71"/>
                  </a:lnTo>
                  <a:lnTo>
                    <a:pt x="37" y="69"/>
                  </a:lnTo>
                  <a:lnTo>
                    <a:pt x="12" y="65"/>
                  </a:lnTo>
                  <a:lnTo>
                    <a:pt x="10" y="53"/>
                  </a:lnTo>
                  <a:lnTo>
                    <a:pt x="28" y="47"/>
                  </a:lnTo>
                  <a:lnTo>
                    <a:pt x="46" y="4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0" name="Freeform 269"/>
            <p:cNvSpPr>
              <a:spLocks/>
            </p:cNvSpPr>
            <p:nvPr/>
          </p:nvSpPr>
          <p:spPr bwMode="auto">
            <a:xfrm>
              <a:off x="3369" y="1852"/>
              <a:ext cx="242" cy="149"/>
            </a:xfrm>
            <a:custGeom>
              <a:avLst/>
              <a:gdLst/>
              <a:ahLst/>
              <a:cxnLst>
                <a:cxn ang="0">
                  <a:pos x="206" y="104"/>
                </a:cxn>
                <a:cxn ang="0">
                  <a:pos x="200" y="119"/>
                </a:cxn>
                <a:cxn ang="0">
                  <a:pos x="187" y="126"/>
                </a:cxn>
                <a:cxn ang="0">
                  <a:pos x="182" y="134"/>
                </a:cxn>
                <a:cxn ang="0">
                  <a:pos x="174" y="133"/>
                </a:cxn>
                <a:cxn ang="0">
                  <a:pos x="159" y="128"/>
                </a:cxn>
                <a:cxn ang="0">
                  <a:pos x="153" y="110"/>
                </a:cxn>
                <a:cxn ang="0">
                  <a:pos x="140" y="108"/>
                </a:cxn>
                <a:cxn ang="0">
                  <a:pos x="127" y="100"/>
                </a:cxn>
                <a:cxn ang="0">
                  <a:pos x="114" y="91"/>
                </a:cxn>
                <a:cxn ang="0">
                  <a:pos x="90" y="83"/>
                </a:cxn>
                <a:cxn ang="0">
                  <a:pos x="75" y="84"/>
                </a:cxn>
                <a:cxn ang="0">
                  <a:pos x="59" y="86"/>
                </a:cxn>
                <a:cxn ang="0">
                  <a:pos x="48" y="97"/>
                </a:cxn>
                <a:cxn ang="0">
                  <a:pos x="43" y="97"/>
                </a:cxn>
                <a:cxn ang="0">
                  <a:pos x="39" y="83"/>
                </a:cxn>
                <a:cxn ang="0">
                  <a:pos x="35" y="67"/>
                </a:cxn>
                <a:cxn ang="0">
                  <a:pos x="26" y="61"/>
                </a:cxn>
                <a:cxn ang="0">
                  <a:pos x="25" y="62"/>
                </a:cxn>
                <a:cxn ang="0">
                  <a:pos x="27" y="59"/>
                </a:cxn>
                <a:cxn ang="0">
                  <a:pos x="30" y="56"/>
                </a:cxn>
                <a:cxn ang="0">
                  <a:pos x="26" y="50"/>
                </a:cxn>
                <a:cxn ang="0">
                  <a:pos x="19" y="52"/>
                </a:cxn>
                <a:cxn ang="0">
                  <a:pos x="19" y="53"/>
                </a:cxn>
                <a:cxn ang="0">
                  <a:pos x="14" y="35"/>
                </a:cxn>
                <a:cxn ang="0">
                  <a:pos x="17" y="34"/>
                </a:cxn>
                <a:cxn ang="0">
                  <a:pos x="25" y="34"/>
                </a:cxn>
                <a:cxn ang="0">
                  <a:pos x="32" y="38"/>
                </a:cxn>
                <a:cxn ang="0">
                  <a:pos x="36" y="37"/>
                </a:cxn>
                <a:cxn ang="0">
                  <a:pos x="37" y="35"/>
                </a:cxn>
                <a:cxn ang="0">
                  <a:pos x="39" y="30"/>
                </a:cxn>
                <a:cxn ang="0">
                  <a:pos x="25" y="14"/>
                </a:cxn>
                <a:cxn ang="0">
                  <a:pos x="12" y="13"/>
                </a:cxn>
                <a:cxn ang="0">
                  <a:pos x="13" y="28"/>
                </a:cxn>
                <a:cxn ang="0">
                  <a:pos x="13" y="30"/>
                </a:cxn>
                <a:cxn ang="0">
                  <a:pos x="3" y="11"/>
                </a:cxn>
                <a:cxn ang="0">
                  <a:pos x="5" y="2"/>
                </a:cxn>
                <a:cxn ang="0">
                  <a:pos x="0" y="0"/>
                </a:cxn>
                <a:cxn ang="0">
                  <a:pos x="25" y="0"/>
                </a:cxn>
                <a:cxn ang="0">
                  <a:pos x="24" y="12"/>
                </a:cxn>
                <a:cxn ang="0">
                  <a:pos x="41" y="17"/>
                </a:cxn>
                <a:cxn ang="0">
                  <a:pos x="57" y="23"/>
                </a:cxn>
                <a:cxn ang="0">
                  <a:pos x="78" y="26"/>
                </a:cxn>
                <a:cxn ang="0">
                  <a:pos x="74" y="17"/>
                </a:cxn>
                <a:cxn ang="0">
                  <a:pos x="81" y="13"/>
                </a:cxn>
                <a:cxn ang="0">
                  <a:pos x="93" y="0"/>
                </a:cxn>
                <a:cxn ang="0">
                  <a:pos x="113" y="13"/>
                </a:cxn>
                <a:cxn ang="0">
                  <a:pos x="125" y="31"/>
                </a:cxn>
                <a:cxn ang="0">
                  <a:pos x="144" y="38"/>
                </a:cxn>
                <a:cxn ang="0">
                  <a:pos x="157" y="46"/>
                </a:cxn>
                <a:cxn ang="0">
                  <a:pos x="182" y="61"/>
                </a:cxn>
                <a:cxn ang="0">
                  <a:pos x="207" y="77"/>
                </a:cxn>
                <a:cxn ang="0">
                  <a:pos x="217" y="95"/>
                </a:cxn>
                <a:cxn ang="0">
                  <a:pos x="211" y="100"/>
                </a:cxn>
                <a:cxn ang="0">
                  <a:pos x="206" y="104"/>
                </a:cxn>
              </a:cxnLst>
              <a:rect l="0" t="0" r="r" b="b"/>
              <a:pathLst>
                <a:path w="217" h="134">
                  <a:moveTo>
                    <a:pt x="206" y="104"/>
                  </a:moveTo>
                  <a:lnTo>
                    <a:pt x="200" y="119"/>
                  </a:lnTo>
                  <a:lnTo>
                    <a:pt x="187" y="126"/>
                  </a:lnTo>
                  <a:lnTo>
                    <a:pt x="182" y="134"/>
                  </a:lnTo>
                  <a:lnTo>
                    <a:pt x="174" y="133"/>
                  </a:lnTo>
                  <a:lnTo>
                    <a:pt x="159" y="128"/>
                  </a:lnTo>
                  <a:lnTo>
                    <a:pt x="153" y="110"/>
                  </a:lnTo>
                  <a:lnTo>
                    <a:pt x="140" y="108"/>
                  </a:lnTo>
                  <a:lnTo>
                    <a:pt x="127" y="100"/>
                  </a:lnTo>
                  <a:lnTo>
                    <a:pt x="114" y="91"/>
                  </a:lnTo>
                  <a:lnTo>
                    <a:pt x="90" y="83"/>
                  </a:lnTo>
                  <a:lnTo>
                    <a:pt x="75" y="84"/>
                  </a:lnTo>
                  <a:lnTo>
                    <a:pt x="59" y="86"/>
                  </a:lnTo>
                  <a:lnTo>
                    <a:pt x="48" y="97"/>
                  </a:lnTo>
                  <a:lnTo>
                    <a:pt x="43" y="97"/>
                  </a:lnTo>
                  <a:lnTo>
                    <a:pt x="39" y="83"/>
                  </a:lnTo>
                  <a:lnTo>
                    <a:pt x="35" y="67"/>
                  </a:lnTo>
                  <a:lnTo>
                    <a:pt x="26" y="61"/>
                  </a:lnTo>
                  <a:lnTo>
                    <a:pt x="25" y="62"/>
                  </a:lnTo>
                  <a:lnTo>
                    <a:pt x="27" y="59"/>
                  </a:lnTo>
                  <a:lnTo>
                    <a:pt x="30" y="56"/>
                  </a:lnTo>
                  <a:lnTo>
                    <a:pt x="26" y="50"/>
                  </a:lnTo>
                  <a:lnTo>
                    <a:pt x="19" y="52"/>
                  </a:lnTo>
                  <a:lnTo>
                    <a:pt x="19" y="53"/>
                  </a:lnTo>
                  <a:lnTo>
                    <a:pt x="14" y="35"/>
                  </a:lnTo>
                  <a:lnTo>
                    <a:pt x="17" y="34"/>
                  </a:lnTo>
                  <a:lnTo>
                    <a:pt x="25" y="34"/>
                  </a:lnTo>
                  <a:lnTo>
                    <a:pt x="32" y="38"/>
                  </a:lnTo>
                  <a:lnTo>
                    <a:pt x="36" y="37"/>
                  </a:lnTo>
                  <a:lnTo>
                    <a:pt x="37" y="35"/>
                  </a:lnTo>
                  <a:lnTo>
                    <a:pt x="39" y="30"/>
                  </a:lnTo>
                  <a:lnTo>
                    <a:pt x="25" y="14"/>
                  </a:lnTo>
                  <a:lnTo>
                    <a:pt x="12" y="13"/>
                  </a:lnTo>
                  <a:lnTo>
                    <a:pt x="13" y="28"/>
                  </a:lnTo>
                  <a:lnTo>
                    <a:pt x="13" y="30"/>
                  </a:lnTo>
                  <a:lnTo>
                    <a:pt x="3" y="11"/>
                  </a:lnTo>
                  <a:lnTo>
                    <a:pt x="5" y="2"/>
                  </a:lnTo>
                  <a:lnTo>
                    <a:pt x="0" y="0"/>
                  </a:lnTo>
                  <a:lnTo>
                    <a:pt x="25" y="0"/>
                  </a:lnTo>
                  <a:lnTo>
                    <a:pt x="24" y="12"/>
                  </a:lnTo>
                  <a:lnTo>
                    <a:pt x="41" y="17"/>
                  </a:lnTo>
                  <a:lnTo>
                    <a:pt x="57" y="23"/>
                  </a:lnTo>
                  <a:lnTo>
                    <a:pt x="78" y="26"/>
                  </a:lnTo>
                  <a:lnTo>
                    <a:pt x="74" y="17"/>
                  </a:lnTo>
                  <a:lnTo>
                    <a:pt x="81" y="13"/>
                  </a:lnTo>
                  <a:lnTo>
                    <a:pt x="93" y="0"/>
                  </a:lnTo>
                  <a:lnTo>
                    <a:pt x="113" y="13"/>
                  </a:lnTo>
                  <a:lnTo>
                    <a:pt x="125" y="31"/>
                  </a:lnTo>
                  <a:lnTo>
                    <a:pt x="144" y="38"/>
                  </a:lnTo>
                  <a:lnTo>
                    <a:pt x="157" y="46"/>
                  </a:lnTo>
                  <a:lnTo>
                    <a:pt x="182" y="61"/>
                  </a:lnTo>
                  <a:lnTo>
                    <a:pt x="207" y="77"/>
                  </a:lnTo>
                  <a:lnTo>
                    <a:pt x="217" y="95"/>
                  </a:lnTo>
                  <a:lnTo>
                    <a:pt x="211" y="100"/>
                  </a:lnTo>
                  <a:lnTo>
                    <a:pt x="206" y="10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1" name="Freeform 270"/>
            <p:cNvSpPr>
              <a:spLocks/>
            </p:cNvSpPr>
            <p:nvPr/>
          </p:nvSpPr>
          <p:spPr bwMode="auto">
            <a:xfrm>
              <a:off x="3542" y="1939"/>
              <a:ext cx="222" cy="180"/>
            </a:xfrm>
            <a:custGeom>
              <a:avLst/>
              <a:gdLst/>
              <a:ahLst/>
              <a:cxnLst>
                <a:cxn ang="0">
                  <a:pos x="1" y="71"/>
                </a:cxn>
                <a:cxn ang="0">
                  <a:pos x="0" y="73"/>
                </a:cxn>
                <a:cxn ang="0">
                  <a:pos x="0" y="83"/>
                </a:cxn>
                <a:cxn ang="0">
                  <a:pos x="6" y="88"/>
                </a:cxn>
                <a:cxn ang="0">
                  <a:pos x="4" y="91"/>
                </a:cxn>
                <a:cxn ang="0">
                  <a:pos x="8" y="106"/>
                </a:cxn>
                <a:cxn ang="0">
                  <a:pos x="10" y="121"/>
                </a:cxn>
                <a:cxn ang="0">
                  <a:pos x="26" y="126"/>
                </a:cxn>
                <a:cxn ang="0">
                  <a:pos x="28" y="133"/>
                </a:cxn>
                <a:cxn ang="0">
                  <a:pos x="18" y="154"/>
                </a:cxn>
                <a:cxn ang="0">
                  <a:pos x="31" y="157"/>
                </a:cxn>
                <a:cxn ang="0">
                  <a:pos x="43" y="162"/>
                </a:cxn>
                <a:cxn ang="0">
                  <a:pos x="67" y="161"/>
                </a:cxn>
                <a:cxn ang="0">
                  <a:pos x="84" y="157"/>
                </a:cxn>
                <a:cxn ang="0">
                  <a:pos x="99" y="154"/>
                </a:cxn>
                <a:cxn ang="0">
                  <a:pos x="99" y="146"/>
                </a:cxn>
                <a:cxn ang="0">
                  <a:pos x="102" y="132"/>
                </a:cxn>
                <a:cxn ang="0">
                  <a:pos x="116" y="126"/>
                </a:cxn>
                <a:cxn ang="0">
                  <a:pos x="121" y="121"/>
                </a:cxn>
                <a:cxn ang="0">
                  <a:pos x="135" y="121"/>
                </a:cxn>
                <a:cxn ang="0">
                  <a:pos x="136" y="102"/>
                </a:cxn>
                <a:cxn ang="0">
                  <a:pos x="148" y="91"/>
                </a:cxn>
                <a:cxn ang="0">
                  <a:pos x="140" y="82"/>
                </a:cxn>
                <a:cxn ang="0">
                  <a:pos x="153" y="80"/>
                </a:cxn>
                <a:cxn ang="0">
                  <a:pos x="156" y="72"/>
                </a:cxn>
                <a:cxn ang="0">
                  <a:pos x="160" y="59"/>
                </a:cxn>
                <a:cxn ang="0">
                  <a:pos x="152" y="44"/>
                </a:cxn>
                <a:cxn ang="0">
                  <a:pos x="159" y="34"/>
                </a:cxn>
                <a:cxn ang="0">
                  <a:pos x="177" y="29"/>
                </a:cxn>
                <a:cxn ang="0">
                  <a:pos x="195" y="25"/>
                </a:cxn>
                <a:cxn ang="0">
                  <a:pos x="195" y="22"/>
                </a:cxn>
                <a:cxn ang="0">
                  <a:pos x="199" y="22"/>
                </a:cxn>
                <a:cxn ang="0">
                  <a:pos x="200" y="22"/>
                </a:cxn>
                <a:cxn ang="0">
                  <a:pos x="187" y="20"/>
                </a:cxn>
                <a:cxn ang="0">
                  <a:pos x="182" y="19"/>
                </a:cxn>
                <a:cxn ang="0">
                  <a:pos x="170" y="20"/>
                </a:cxn>
                <a:cxn ang="0">
                  <a:pos x="152" y="30"/>
                </a:cxn>
                <a:cxn ang="0">
                  <a:pos x="146" y="8"/>
                </a:cxn>
                <a:cxn ang="0">
                  <a:pos x="142" y="8"/>
                </a:cxn>
                <a:cxn ang="0">
                  <a:pos x="138" y="0"/>
                </a:cxn>
                <a:cxn ang="0">
                  <a:pos x="130" y="4"/>
                </a:cxn>
                <a:cxn ang="0">
                  <a:pos x="128" y="14"/>
                </a:cxn>
                <a:cxn ang="0">
                  <a:pos x="117" y="19"/>
                </a:cxn>
                <a:cxn ang="0">
                  <a:pos x="114" y="23"/>
                </a:cxn>
                <a:cxn ang="0">
                  <a:pos x="104" y="23"/>
                </a:cxn>
                <a:cxn ang="0">
                  <a:pos x="96" y="24"/>
                </a:cxn>
                <a:cxn ang="0">
                  <a:pos x="91" y="22"/>
                </a:cxn>
                <a:cxn ang="0">
                  <a:pos x="76" y="19"/>
                </a:cxn>
                <a:cxn ang="0">
                  <a:pos x="62" y="17"/>
                </a:cxn>
                <a:cxn ang="0">
                  <a:pos x="56" y="22"/>
                </a:cxn>
                <a:cxn ang="0">
                  <a:pos x="51" y="26"/>
                </a:cxn>
                <a:cxn ang="0">
                  <a:pos x="45" y="41"/>
                </a:cxn>
                <a:cxn ang="0">
                  <a:pos x="32" y="48"/>
                </a:cxn>
                <a:cxn ang="0">
                  <a:pos x="27" y="56"/>
                </a:cxn>
                <a:cxn ang="0">
                  <a:pos x="19" y="55"/>
                </a:cxn>
                <a:cxn ang="0">
                  <a:pos x="4" y="50"/>
                </a:cxn>
                <a:cxn ang="0">
                  <a:pos x="1" y="71"/>
                </a:cxn>
              </a:cxnLst>
              <a:rect l="0" t="0" r="r" b="b"/>
              <a:pathLst>
                <a:path w="200" h="162">
                  <a:moveTo>
                    <a:pt x="1" y="71"/>
                  </a:moveTo>
                  <a:lnTo>
                    <a:pt x="0" y="73"/>
                  </a:lnTo>
                  <a:lnTo>
                    <a:pt x="0" y="83"/>
                  </a:lnTo>
                  <a:lnTo>
                    <a:pt x="6" y="88"/>
                  </a:lnTo>
                  <a:lnTo>
                    <a:pt x="4" y="91"/>
                  </a:lnTo>
                  <a:lnTo>
                    <a:pt x="8" y="106"/>
                  </a:lnTo>
                  <a:lnTo>
                    <a:pt x="10" y="121"/>
                  </a:lnTo>
                  <a:lnTo>
                    <a:pt x="26" y="126"/>
                  </a:lnTo>
                  <a:lnTo>
                    <a:pt x="28" y="133"/>
                  </a:lnTo>
                  <a:lnTo>
                    <a:pt x="18" y="154"/>
                  </a:lnTo>
                  <a:lnTo>
                    <a:pt x="31" y="157"/>
                  </a:lnTo>
                  <a:lnTo>
                    <a:pt x="43" y="162"/>
                  </a:lnTo>
                  <a:lnTo>
                    <a:pt x="67" y="161"/>
                  </a:lnTo>
                  <a:lnTo>
                    <a:pt x="84" y="157"/>
                  </a:lnTo>
                  <a:lnTo>
                    <a:pt x="99" y="154"/>
                  </a:lnTo>
                  <a:lnTo>
                    <a:pt x="99" y="146"/>
                  </a:lnTo>
                  <a:lnTo>
                    <a:pt x="102" y="132"/>
                  </a:lnTo>
                  <a:lnTo>
                    <a:pt x="116" y="126"/>
                  </a:lnTo>
                  <a:lnTo>
                    <a:pt x="121" y="121"/>
                  </a:lnTo>
                  <a:lnTo>
                    <a:pt x="135" y="121"/>
                  </a:lnTo>
                  <a:lnTo>
                    <a:pt x="136" y="102"/>
                  </a:lnTo>
                  <a:lnTo>
                    <a:pt x="148" y="91"/>
                  </a:lnTo>
                  <a:lnTo>
                    <a:pt x="140" y="82"/>
                  </a:lnTo>
                  <a:lnTo>
                    <a:pt x="153" y="80"/>
                  </a:lnTo>
                  <a:lnTo>
                    <a:pt x="156" y="72"/>
                  </a:lnTo>
                  <a:lnTo>
                    <a:pt x="160" y="59"/>
                  </a:lnTo>
                  <a:lnTo>
                    <a:pt x="152" y="44"/>
                  </a:lnTo>
                  <a:lnTo>
                    <a:pt x="159" y="34"/>
                  </a:lnTo>
                  <a:lnTo>
                    <a:pt x="177" y="29"/>
                  </a:lnTo>
                  <a:lnTo>
                    <a:pt x="195" y="25"/>
                  </a:lnTo>
                  <a:lnTo>
                    <a:pt x="195" y="22"/>
                  </a:lnTo>
                  <a:lnTo>
                    <a:pt x="199" y="22"/>
                  </a:lnTo>
                  <a:lnTo>
                    <a:pt x="200" y="22"/>
                  </a:lnTo>
                  <a:lnTo>
                    <a:pt x="187" y="20"/>
                  </a:lnTo>
                  <a:lnTo>
                    <a:pt x="182" y="19"/>
                  </a:lnTo>
                  <a:lnTo>
                    <a:pt x="170" y="20"/>
                  </a:lnTo>
                  <a:lnTo>
                    <a:pt x="152" y="30"/>
                  </a:lnTo>
                  <a:lnTo>
                    <a:pt x="146" y="8"/>
                  </a:lnTo>
                  <a:lnTo>
                    <a:pt x="142" y="8"/>
                  </a:lnTo>
                  <a:lnTo>
                    <a:pt x="138" y="0"/>
                  </a:lnTo>
                  <a:lnTo>
                    <a:pt x="130" y="4"/>
                  </a:lnTo>
                  <a:lnTo>
                    <a:pt x="128" y="14"/>
                  </a:lnTo>
                  <a:lnTo>
                    <a:pt x="117" y="19"/>
                  </a:lnTo>
                  <a:lnTo>
                    <a:pt x="114" y="23"/>
                  </a:lnTo>
                  <a:lnTo>
                    <a:pt x="104" y="23"/>
                  </a:lnTo>
                  <a:lnTo>
                    <a:pt x="96" y="24"/>
                  </a:lnTo>
                  <a:lnTo>
                    <a:pt x="91" y="22"/>
                  </a:lnTo>
                  <a:lnTo>
                    <a:pt x="76" y="19"/>
                  </a:lnTo>
                  <a:lnTo>
                    <a:pt x="62" y="17"/>
                  </a:lnTo>
                  <a:lnTo>
                    <a:pt x="56" y="22"/>
                  </a:lnTo>
                  <a:lnTo>
                    <a:pt x="51" y="26"/>
                  </a:lnTo>
                  <a:lnTo>
                    <a:pt x="45" y="41"/>
                  </a:lnTo>
                  <a:lnTo>
                    <a:pt x="32" y="48"/>
                  </a:lnTo>
                  <a:lnTo>
                    <a:pt x="27" y="56"/>
                  </a:lnTo>
                  <a:lnTo>
                    <a:pt x="19" y="55"/>
                  </a:lnTo>
                  <a:lnTo>
                    <a:pt x="4" y="50"/>
                  </a:lnTo>
                  <a:lnTo>
                    <a:pt x="1" y="7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2" name="Freeform 271"/>
            <p:cNvSpPr>
              <a:spLocks/>
            </p:cNvSpPr>
            <p:nvPr/>
          </p:nvSpPr>
          <p:spPr bwMode="auto">
            <a:xfrm>
              <a:off x="3069" y="1994"/>
              <a:ext cx="35" cy="20"/>
            </a:xfrm>
            <a:custGeom>
              <a:avLst/>
              <a:gdLst/>
              <a:ahLst/>
              <a:cxnLst>
                <a:cxn ang="0">
                  <a:pos x="31" y="0"/>
                </a:cxn>
                <a:cxn ang="0">
                  <a:pos x="12" y="6"/>
                </a:cxn>
                <a:cxn ang="0">
                  <a:pos x="0" y="11"/>
                </a:cxn>
                <a:cxn ang="0">
                  <a:pos x="5" y="19"/>
                </a:cxn>
                <a:cxn ang="0">
                  <a:pos x="23" y="13"/>
                </a:cxn>
                <a:cxn ang="0">
                  <a:pos x="21" y="10"/>
                </a:cxn>
                <a:cxn ang="0">
                  <a:pos x="31" y="0"/>
                </a:cxn>
              </a:cxnLst>
              <a:rect l="0" t="0" r="r" b="b"/>
              <a:pathLst>
                <a:path w="31" h="19">
                  <a:moveTo>
                    <a:pt x="31" y="0"/>
                  </a:moveTo>
                  <a:lnTo>
                    <a:pt x="12" y="6"/>
                  </a:lnTo>
                  <a:lnTo>
                    <a:pt x="0" y="11"/>
                  </a:lnTo>
                  <a:lnTo>
                    <a:pt x="5" y="19"/>
                  </a:lnTo>
                  <a:lnTo>
                    <a:pt x="23" y="13"/>
                  </a:lnTo>
                  <a:lnTo>
                    <a:pt x="21" y="10"/>
                  </a:lnTo>
                  <a:lnTo>
                    <a:pt x="3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3" name="Line 271"/>
            <p:cNvSpPr>
              <a:spLocks noChangeShapeType="1"/>
            </p:cNvSpPr>
            <p:nvPr/>
          </p:nvSpPr>
          <p:spPr bwMode="auto">
            <a:xfrm>
              <a:off x="3753" y="1967"/>
              <a:ext cx="2" cy="5"/>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4" name="Line 272"/>
            <p:cNvSpPr>
              <a:spLocks noChangeShapeType="1"/>
            </p:cNvSpPr>
            <p:nvPr/>
          </p:nvSpPr>
          <p:spPr bwMode="auto">
            <a:xfrm>
              <a:off x="3755" y="1970"/>
              <a:ext cx="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5" name="Line 273"/>
            <p:cNvSpPr>
              <a:spLocks noChangeShapeType="1"/>
            </p:cNvSpPr>
            <p:nvPr/>
          </p:nvSpPr>
          <p:spPr bwMode="auto">
            <a:xfrm flipH="1">
              <a:off x="3749" y="1974"/>
              <a:ext cx="6"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6" name="Line 274"/>
            <p:cNvSpPr>
              <a:spLocks noChangeShapeType="1"/>
            </p:cNvSpPr>
            <p:nvPr/>
          </p:nvSpPr>
          <p:spPr bwMode="auto">
            <a:xfrm flipH="1">
              <a:off x="3747" y="1976"/>
              <a:ext cx="4" cy="5"/>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7" name="Line 275"/>
            <p:cNvSpPr>
              <a:spLocks noChangeShapeType="1"/>
            </p:cNvSpPr>
            <p:nvPr/>
          </p:nvSpPr>
          <p:spPr bwMode="auto">
            <a:xfrm flipH="1">
              <a:off x="3742" y="1981"/>
              <a:ext cx="5"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8" name="Line 276"/>
            <p:cNvSpPr>
              <a:spLocks noChangeShapeType="1"/>
            </p:cNvSpPr>
            <p:nvPr/>
          </p:nvSpPr>
          <p:spPr bwMode="auto">
            <a:xfrm flipH="1">
              <a:off x="3740" y="1981"/>
              <a:ext cx="2" cy="6"/>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9" name="Line 277"/>
            <p:cNvSpPr>
              <a:spLocks noChangeShapeType="1"/>
            </p:cNvSpPr>
            <p:nvPr/>
          </p:nvSpPr>
          <p:spPr bwMode="auto">
            <a:xfrm>
              <a:off x="3740" y="1985"/>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0" name="Line 278"/>
            <p:cNvSpPr>
              <a:spLocks noChangeShapeType="1"/>
            </p:cNvSpPr>
            <p:nvPr/>
          </p:nvSpPr>
          <p:spPr bwMode="auto">
            <a:xfrm>
              <a:off x="3740" y="1990"/>
              <a:ext cx="2" cy="9"/>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1" name="Line 279"/>
            <p:cNvSpPr>
              <a:spLocks noChangeShapeType="1"/>
            </p:cNvSpPr>
            <p:nvPr/>
          </p:nvSpPr>
          <p:spPr bwMode="auto">
            <a:xfrm>
              <a:off x="3742" y="1996"/>
              <a:ext cx="5"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2" name="Line 280"/>
            <p:cNvSpPr>
              <a:spLocks noChangeShapeType="1"/>
            </p:cNvSpPr>
            <p:nvPr/>
          </p:nvSpPr>
          <p:spPr bwMode="auto">
            <a:xfrm>
              <a:off x="3744" y="2001"/>
              <a:ext cx="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3" name="Line 281"/>
            <p:cNvSpPr>
              <a:spLocks noChangeShapeType="1"/>
            </p:cNvSpPr>
            <p:nvPr/>
          </p:nvSpPr>
          <p:spPr bwMode="auto">
            <a:xfrm>
              <a:off x="3755" y="2027"/>
              <a:ext cx="3" cy="3"/>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4" name="Line 282"/>
            <p:cNvSpPr>
              <a:spLocks noChangeShapeType="1"/>
            </p:cNvSpPr>
            <p:nvPr/>
          </p:nvSpPr>
          <p:spPr bwMode="auto">
            <a:xfrm>
              <a:off x="3755" y="2027"/>
              <a:ext cx="9"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5" name="Line 283"/>
            <p:cNvSpPr>
              <a:spLocks noChangeShapeType="1"/>
            </p:cNvSpPr>
            <p:nvPr/>
          </p:nvSpPr>
          <p:spPr bwMode="auto">
            <a:xfrm>
              <a:off x="3762" y="2032"/>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6" name="Line 284"/>
            <p:cNvSpPr>
              <a:spLocks noChangeShapeType="1"/>
            </p:cNvSpPr>
            <p:nvPr/>
          </p:nvSpPr>
          <p:spPr bwMode="auto">
            <a:xfrm>
              <a:off x="3762" y="2036"/>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7" name="Line 285"/>
            <p:cNvSpPr>
              <a:spLocks noChangeShapeType="1"/>
            </p:cNvSpPr>
            <p:nvPr/>
          </p:nvSpPr>
          <p:spPr bwMode="auto">
            <a:xfrm>
              <a:off x="3764" y="2043"/>
              <a:ext cx="7"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8" name="Line 286"/>
            <p:cNvSpPr>
              <a:spLocks noChangeShapeType="1"/>
            </p:cNvSpPr>
            <p:nvPr/>
          </p:nvSpPr>
          <p:spPr bwMode="auto">
            <a:xfrm>
              <a:off x="3769" y="2045"/>
              <a:ext cx="6"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9" name="Line 287"/>
            <p:cNvSpPr>
              <a:spLocks noChangeShapeType="1"/>
            </p:cNvSpPr>
            <p:nvPr/>
          </p:nvSpPr>
          <p:spPr bwMode="auto">
            <a:xfrm flipV="1">
              <a:off x="3851" y="2021"/>
              <a:ext cx="9" cy="6"/>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0" name="Line 288"/>
            <p:cNvSpPr>
              <a:spLocks noChangeShapeType="1"/>
            </p:cNvSpPr>
            <p:nvPr/>
          </p:nvSpPr>
          <p:spPr bwMode="auto">
            <a:xfrm flipV="1">
              <a:off x="3858" y="2012"/>
              <a:ext cx="2" cy="11"/>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1" name="Line 289"/>
            <p:cNvSpPr>
              <a:spLocks noChangeShapeType="1"/>
            </p:cNvSpPr>
            <p:nvPr/>
          </p:nvSpPr>
          <p:spPr bwMode="auto">
            <a:xfrm flipV="1">
              <a:off x="3860" y="1996"/>
              <a:ext cx="2" cy="18"/>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2" name="Line 290"/>
            <p:cNvSpPr>
              <a:spLocks noChangeShapeType="1"/>
            </p:cNvSpPr>
            <p:nvPr/>
          </p:nvSpPr>
          <p:spPr bwMode="auto">
            <a:xfrm flipH="1" flipV="1">
              <a:off x="3849" y="1992"/>
              <a:ext cx="1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3" name="Line 291"/>
            <p:cNvSpPr>
              <a:spLocks noChangeShapeType="1"/>
            </p:cNvSpPr>
            <p:nvPr/>
          </p:nvSpPr>
          <p:spPr bwMode="auto">
            <a:xfrm flipH="1" flipV="1">
              <a:off x="3847" y="1990"/>
              <a:ext cx="2"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4" name="Line 292"/>
            <p:cNvSpPr>
              <a:spLocks noChangeShapeType="1"/>
            </p:cNvSpPr>
            <p:nvPr/>
          </p:nvSpPr>
          <p:spPr bwMode="auto">
            <a:xfrm flipH="1">
              <a:off x="3820" y="1996"/>
              <a:ext cx="2" cy="3"/>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5" name="Freeform 294"/>
            <p:cNvSpPr>
              <a:spLocks/>
            </p:cNvSpPr>
            <p:nvPr/>
          </p:nvSpPr>
          <p:spPr bwMode="auto">
            <a:xfrm>
              <a:off x="3120" y="2014"/>
              <a:ext cx="20" cy="31"/>
            </a:xfrm>
            <a:custGeom>
              <a:avLst/>
              <a:gdLst/>
              <a:ahLst/>
              <a:cxnLst>
                <a:cxn ang="0">
                  <a:pos x="17" y="16"/>
                </a:cxn>
                <a:cxn ang="0">
                  <a:pos x="7" y="25"/>
                </a:cxn>
                <a:cxn ang="0">
                  <a:pos x="0" y="29"/>
                </a:cxn>
                <a:cxn ang="0">
                  <a:pos x="5" y="15"/>
                </a:cxn>
                <a:cxn ang="0">
                  <a:pos x="10" y="0"/>
                </a:cxn>
                <a:cxn ang="0">
                  <a:pos x="19" y="5"/>
                </a:cxn>
                <a:cxn ang="0">
                  <a:pos x="17" y="16"/>
                </a:cxn>
              </a:cxnLst>
              <a:rect l="0" t="0" r="r" b="b"/>
              <a:pathLst>
                <a:path w="19" h="29">
                  <a:moveTo>
                    <a:pt x="17" y="16"/>
                  </a:moveTo>
                  <a:lnTo>
                    <a:pt x="7" y="25"/>
                  </a:lnTo>
                  <a:lnTo>
                    <a:pt x="0" y="29"/>
                  </a:lnTo>
                  <a:lnTo>
                    <a:pt x="5" y="15"/>
                  </a:lnTo>
                  <a:lnTo>
                    <a:pt x="10" y="0"/>
                  </a:lnTo>
                  <a:lnTo>
                    <a:pt x="19" y="5"/>
                  </a:lnTo>
                  <a:lnTo>
                    <a:pt x="17"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6" name="Freeform 295"/>
            <p:cNvSpPr>
              <a:spLocks/>
            </p:cNvSpPr>
            <p:nvPr/>
          </p:nvSpPr>
          <p:spPr bwMode="auto">
            <a:xfrm>
              <a:off x="3127" y="1963"/>
              <a:ext cx="102" cy="98"/>
            </a:xfrm>
            <a:custGeom>
              <a:avLst/>
              <a:gdLst/>
              <a:ahLst/>
              <a:cxnLst>
                <a:cxn ang="0">
                  <a:pos x="59" y="6"/>
                </a:cxn>
                <a:cxn ang="0">
                  <a:pos x="36" y="6"/>
                </a:cxn>
                <a:cxn ang="0">
                  <a:pos x="13" y="7"/>
                </a:cxn>
                <a:cxn ang="0">
                  <a:pos x="9" y="9"/>
                </a:cxn>
                <a:cxn ang="0">
                  <a:pos x="7" y="17"/>
                </a:cxn>
                <a:cxn ang="0">
                  <a:pos x="1" y="23"/>
                </a:cxn>
                <a:cxn ang="0">
                  <a:pos x="0" y="21"/>
                </a:cxn>
                <a:cxn ang="0">
                  <a:pos x="4" y="44"/>
                </a:cxn>
                <a:cxn ang="0">
                  <a:pos x="13" y="49"/>
                </a:cxn>
                <a:cxn ang="0">
                  <a:pos x="11" y="60"/>
                </a:cxn>
                <a:cxn ang="0">
                  <a:pos x="1" y="69"/>
                </a:cxn>
                <a:cxn ang="0">
                  <a:pos x="3" y="79"/>
                </a:cxn>
                <a:cxn ang="0">
                  <a:pos x="22" y="86"/>
                </a:cxn>
                <a:cxn ang="0">
                  <a:pos x="35" y="77"/>
                </a:cxn>
                <a:cxn ang="0">
                  <a:pos x="49" y="67"/>
                </a:cxn>
                <a:cxn ang="0">
                  <a:pos x="64" y="59"/>
                </a:cxn>
                <a:cxn ang="0">
                  <a:pos x="79" y="49"/>
                </a:cxn>
                <a:cxn ang="0">
                  <a:pos x="79" y="31"/>
                </a:cxn>
                <a:cxn ang="0">
                  <a:pos x="79" y="14"/>
                </a:cxn>
                <a:cxn ang="0">
                  <a:pos x="93" y="1"/>
                </a:cxn>
                <a:cxn ang="0">
                  <a:pos x="88" y="0"/>
                </a:cxn>
                <a:cxn ang="0">
                  <a:pos x="73" y="2"/>
                </a:cxn>
                <a:cxn ang="0">
                  <a:pos x="59" y="6"/>
                </a:cxn>
              </a:cxnLst>
              <a:rect l="0" t="0" r="r" b="b"/>
              <a:pathLst>
                <a:path w="93" h="86">
                  <a:moveTo>
                    <a:pt x="59" y="6"/>
                  </a:moveTo>
                  <a:lnTo>
                    <a:pt x="36" y="6"/>
                  </a:lnTo>
                  <a:lnTo>
                    <a:pt x="13" y="7"/>
                  </a:lnTo>
                  <a:lnTo>
                    <a:pt x="9" y="9"/>
                  </a:lnTo>
                  <a:lnTo>
                    <a:pt x="7" y="17"/>
                  </a:lnTo>
                  <a:lnTo>
                    <a:pt x="1" y="23"/>
                  </a:lnTo>
                  <a:lnTo>
                    <a:pt x="0" y="21"/>
                  </a:lnTo>
                  <a:lnTo>
                    <a:pt x="4" y="44"/>
                  </a:lnTo>
                  <a:lnTo>
                    <a:pt x="13" y="49"/>
                  </a:lnTo>
                  <a:lnTo>
                    <a:pt x="11" y="60"/>
                  </a:lnTo>
                  <a:lnTo>
                    <a:pt x="1" y="69"/>
                  </a:lnTo>
                  <a:lnTo>
                    <a:pt x="3" y="79"/>
                  </a:lnTo>
                  <a:lnTo>
                    <a:pt x="22" y="86"/>
                  </a:lnTo>
                  <a:lnTo>
                    <a:pt x="35" y="77"/>
                  </a:lnTo>
                  <a:lnTo>
                    <a:pt x="49" y="67"/>
                  </a:lnTo>
                  <a:lnTo>
                    <a:pt x="64" y="59"/>
                  </a:lnTo>
                  <a:lnTo>
                    <a:pt x="79" y="49"/>
                  </a:lnTo>
                  <a:lnTo>
                    <a:pt x="79" y="31"/>
                  </a:lnTo>
                  <a:lnTo>
                    <a:pt x="79" y="14"/>
                  </a:lnTo>
                  <a:lnTo>
                    <a:pt x="93" y="1"/>
                  </a:lnTo>
                  <a:lnTo>
                    <a:pt x="88" y="0"/>
                  </a:lnTo>
                  <a:lnTo>
                    <a:pt x="73" y="2"/>
                  </a:lnTo>
                  <a:lnTo>
                    <a:pt x="5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7" name="Freeform 296"/>
            <p:cNvSpPr>
              <a:spLocks/>
            </p:cNvSpPr>
            <p:nvPr/>
          </p:nvSpPr>
          <p:spPr bwMode="auto">
            <a:xfrm>
              <a:off x="3629" y="1874"/>
              <a:ext cx="138" cy="98"/>
            </a:xfrm>
            <a:custGeom>
              <a:avLst/>
              <a:gdLst/>
              <a:ahLst/>
              <a:cxnLst>
                <a:cxn ang="0">
                  <a:pos x="104" y="78"/>
                </a:cxn>
                <a:cxn ang="0">
                  <a:pos x="92" y="79"/>
                </a:cxn>
                <a:cxn ang="0">
                  <a:pos x="74" y="89"/>
                </a:cxn>
                <a:cxn ang="0">
                  <a:pos x="68" y="67"/>
                </a:cxn>
                <a:cxn ang="0">
                  <a:pos x="64" y="67"/>
                </a:cxn>
                <a:cxn ang="0">
                  <a:pos x="60" y="59"/>
                </a:cxn>
                <a:cxn ang="0">
                  <a:pos x="52" y="63"/>
                </a:cxn>
                <a:cxn ang="0">
                  <a:pos x="50" y="73"/>
                </a:cxn>
                <a:cxn ang="0">
                  <a:pos x="39" y="78"/>
                </a:cxn>
                <a:cxn ang="0">
                  <a:pos x="36" y="82"/>
                </a:cxn>
                <a:cxn ang="0">
                  <a:pos x="26" y="82"/>
                </a:cxn>
                <a:cxn ang="0">
                  <a:pos x="18" y="83"/>
                </a:cxn>
                <a:cxn ang="0">
                  <a:pos x="13" y="81"/>
                </a:cxn>
                <a:cxn ang="0">
                  <a:pos x="16" y="69"/>
                </a:cxn>
                <a:cxn ang="0">
                  <a:pos x="20" y="57"/>
                </a:cxn>
                <a:cxn ang="0">
                  <a:pos x="16" y="51"/>
                </a:cxn>
                <a:cxn ang="0">
                  <a:pos x="6" y="45"/>
                </a:cxn>
                <a:cxn ang="0">
                  <a:pos x="0" y="37"/>
                </a:cxn>
                <a:cxn ang="0">
                  <a:pos x="14" y="23"/>
                </a:cxn>
                <a:cxn ang="0">
                  <a:pos x="30" y="10"/>
                </a:cxn>
                <a:cxn ang="0">
                  <a:pos x="40" y="0"/>
                </a:cxn>
                <a:cxn ang="0">
                  <a:pos x="61" y="3"/>
                </a:cxn>
                <a:cxn ang="0">
                  <a:pos x="76" y="12"/>
                </a:cxn>
                <a:cxn ang="0">
                  <a:pos x="58" y="18"/>
                </a:cxn>
                <a:cxn ang="0">
                  <a:pos x="40" y="24"/>
                </a:cxn>
                <a:cxn ang="0">
                  <a:pos x="42" y="36"/>
                </a:cxn>
                <a:cxn ang="0">
                  <a:pos x="67" y="40"/>
                </a:cxn>
                <a:cxn ang="0">
                  <a:pos x="92" y="42"/>
                </a:cxn>
                <a:cxn ang="0">
                  <a:pos x="100" y="57"/>
                </a:cxn>
                <a:cxn ang="0">
                  <a:pos x="115" y="58"/>
                </a:cxn>
                <a:cxn ang="0">
                  <a:pos x="123" y="79"/>
                </a:cxn>
                <a:cxn ang="0">
                  <a:pos x="122" y="81"/>
                </a:cxn>
                <a:cxn ang="0">
                  <a:pos x="109" y="79"/>
                </a:cxn>
                <a:cxn ang="0">
                  <a:pos x="104" y="78"/>
                </a:cxn>
              </a:cxnLst>
              <a:rect l="0" t="0" r="r" b="b"/>
              <a:pathLst>
                <a:path w="123" h="89">
                  <a:moveTo>
                    <a:pt x="104" y="78"/>
                  </a:moveTo>
                  <a:lnTo>
                    <a:pt x="92" y="79"/>
                  </a:lnTo>
                  <a:lnTo>
                    <a:pt x="74" y="89"/>
                  </a:lnTo>
                  <a:lnTo>
                    <a:pt x="68" y="67"/>
                  </a:lnTo>
                  <a:lnTo>
                    <a:pt x="64" y="67"/>
                  </a:lnTo>
                  <a:lnTo>
                    <a:pt x="60" y="59"/>
                  </a:lnTo>
                  <a:lnTo>
                    <a:pt x="52" y="63"/>
                  </a:lnTo>
                  <a:lnTo>
                    <a:pt x="50" y="73"/>
                  </a:lnTo>
                  <a:lnTo>
                    <a:pt x="39" y="78"/>
                  </a:lnTo>
                  <a:lnTo>
                    <a:pt x="36" y="82"/>
                  </a:lnTo>
                  <a:lnTo>
                    <a:pt x="26" y="82"/>
                  </a:lnTo>
                  <a:lnTo>
                    <a:pt x="18" y="83"/>
                  </a:lnTo>
                  <a:lnTo>
                    <a:pt x="13" y="81"/>
                  </a:lnTo>
                  <a:lnTo>
                    <a:pt x="16" y="69"/>
                  </a:lnTo>
                  <a:lnTo>
                    <a:pt x="20" y="57"/>
                  </a:lnTo>
                  <a:lnTo>
                    <a:pt x="16" y="51"/>
                  </a:lnTo>
                  <a:lnTo>
                    <a:pt x="6" y="45"/>
                  </a:lnTo>
                  <a:lnTo>
                    <a:pt x="0" y="37"/>
                  </a:lnTo>
                  <a:lnTo>
                    <a:pt x="14" y="23"/>
                  </a:lnTo>
                  <a:lnTo>
                    <a:pt x="30" y="10"/>
                  </a:lnTo>
                  <a:lnTo>
                    <a:pt x="40" y="0"/>
                  </a:lnTo>
                  <a:lnTo>
                    <a:pt x="61" y="3"/>
                  </a:lnTo>
                  <a:lnTo>
                    <a:pt x="76" y="12"/>
                  </a:lnTo>
                  <a:lnTo>
                    <a:pt x="58" y="18"/>
                  </a:lnTo>
                  <a:lnTo>
                    <a:pt x="40" y="24"/>
                  </a:lnTo>
                  <a:lnTo>
                    <a:pt x="42" y="36"/>
                  </a:lnTo>
                  <a:lnTo>
                    <a:pt x="67" y="40"/>
                  </a:lnTo>
                  <a:lnTo>
                    <a:pt x="92" y="42"/>
                  </a:lnTo>
                  <a:lnTo>
                    <a:pt x="100" y="57"/>
                  </a:lnTo>
                  <a:lnTo>
                    <a:pt x="115" y="58"/>
                  </a:lnTo>
                  <a:lnTo>
                    <a:pt x="123" y="79"/>
                  </a:lnTo>
                  <a:lnTo>
                    <a:pt x="122" y="81"/>
                  </a:lnTo>
                  <a:lnTo>
                    <a:pt x="109" y="79"/>
                  </a:lnTo>
                  <a:lnTo>
                    <a:pt x="104" y="7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8" name="Freeform 297"/>
            <p:cNvSpPr>
              <a:spLocks/>
            </p:cNvSpPr>
            <p:nvPr/>
          </p:nvSpPr>
          <p:spPr bwMode="auto">
            <a:xfrm>
              <a:off x="3415" y="1790"/>
              <a:ext cx="258" cy="173"/>
            </a:xfrm>
            <a:custGeom>
              <a:avLst/>
              <a:gdLst/>
              <a:ahLst/>
              <a:cxnLst>
                <a:cxn ang="0">
                  <a:pos x="165" y="132"/>
                </a:cxn>
                <a:cxn ang="0">
                  <a:pos x="140" y="116"/>
                </a:cxn>
                <a:cxn ang="0">
                  <a:pos x="115" y="101"/>
                </a:cxn>
                <a:cxn ang="0">
                  <a:pos x="102" y="93"/>
                </a:cxn>
                <a:cxn ang="0">
                  <a:pos x="83" y="86"/>
                </a:cxn>
                <a:cxn ang="0">
                  <a:pos x="71" y="68"/>
                </a:cxn>
                <a:cxn ang="0">
                  <a:pos x="51" y="55"/>
                </a:cxn>
                <a:cxn ang="0">
                  <a:pos x="39" y="68"/>
                </a:cxn>
                <a:cxn ang="0">
                  <a:pos x="32" y="72"/>
                </a:cxn>
                <a:cxn ang="0">
                  <a:pos x="36" y="81"/>
                </a:cxn>
                <a:cxn ang="0">
                  <a:pos x="15" y="78"/>
                </a:cxn>
                <a:cxn ang="0">
                  <a:pos x="12" y="61"/>
                </a:cxn>
                <a:cxn ang="0">
                  <a:pos x="7" y="45"/>
                </a:cxn>
                <a:cxn ang="0">
                  <a:pos x="3" y="30"/>
                </a:cxn>
                <a:cxn ang="0">
                  <a:pos x="0" y="13"/>
                </a:cxn>
                <a:cxn ang="0">
                  <a:pos x="18" y="7"/>
                </a:cxn>
                <a:cxn ang="0">
                  <a:pos x="35" y="0"/>
                </a:cxn>
                <a:cxn ang="0">
                  <a:pos x="54" y="11"/>
                </a:cxn>
                <a:cxn ang="0">
                  <a:pos x="73" y="20"/>
                </a:cxn>
                <a:cxn ang="0">
                  <a:pos x="87" y="37"/>
                </a:cxn>
                <a:cxn ang="0">
                  <a:pos x="103" y="38"/>
                </a:cxn>
                <a:cxn ang="0">
                  <a:pos x="117" y="39"/>
                </a:cxn>
                <a:cxn ang="0">
                  <a:pos x="133" y="41"/>
                </a:cxn>
                <a:cxn ang="0">
                  <a:pos x="149" y="42"/>
                </a:cxn>
                <a:cxn ang="0">
                  <a:pos x="164" y="53"/>
                </a:cxn>
                <a:cxn ang="0">
                  <a:pos x="165" y="67"/>
                </a:cxn>
                <a:cxn ang="0">
                  <a:pos x="180" y="74"/>
                </a:cxn>
                <a:cxn ang="0">
                  <a:pos x="193" y="81"/>
                </a:cxn>
                <a:cxn ang="0">
                  <a:pos x="207" y="72"/>
                </a:cxn>
                <a:cxn ang="0">
                  <a:pos x="221" y="61"/>
                </a:cxn>
                <a:cxn ang="0">
                  <a:pos x="231" y="74"/>
                </a:cxn>
                <a:cxn ang="0">
                  <a:pos x="221" y="84"/>
                </a:cxn>
                <a:cxn ang="0">
                  <a:pos x="205" y="97"/>
                </a:cxn>
                <a:cxn ang="0">
                  <a:pos x="191" y="111"/>
                </a:cxn>
                <a:cxn ang="0">
                  <a:pos x="197" y="119"/>
                </a:cxn>
                <a:cxn ang="0">
                  <a:pos x="207" y="125"/>
                </a:cxn>
                <a:cxn ang="0">
                  <a:pos x="211" y="131"/>
                </a:cxn>
                <a:cxn ang="0">
                  <a:pos x="207" y="143"/>
                </a:cxn>
                <a:cxn ang="0">
                  <a:pos x="204" y="155"/>
                </a:cxn>
                <a:cxn ang="0">
                  <a:pos x="189" y="152"/>
                </a:cxn>
                <a:cxn ang="0">
                  <a:pos x="175" y="150"/>
                </a:cxn>
                <a:cxn ang="0">
                  <a:pos x="165" y="132"/>
                </a:cxn>
              </a:cxnLst>
              <a:rect l="0" t="0" r="r" b="b"/>
              <a:pathLst>
                <a:path w="231" h="155">
                  <a:moveTo>
                    <a:pt x="165" y="132"/>
                  </a:moveTo>
                  <a:lnTo>
                    <a:pt x="140" y="116"/>
                  </a:lnTo>
                  <a:lnTo>
                    <a:pt x="115" y="101"/>
                  </a:lnTo>
                  <a:lnTo>
                    <a:pt x="102" y="93"/>
                  </a:lnTo>
                  <a:lnTo>
                    <a:pt x="83" y="86"/>
                  </a:lnTo>
                  <a:lnTo>
                    <a:pt x="71" y="68"/>
                  </a:lnTo>
                  <a:lnTo>
                    <a:pt x="51" y="55"/>
                  </a:lnTo>
                  <a:lnTo>
                    <a:pt x="39" y="68"/>
                  </a:lnTo>
                  <a:lnTo>
                    <a:pt x="32" y="72"/>
                  </a:lnTo>
                  <a:lnTo>
                    <a:pt x="36" y="81"/>
                  </a:lnTo>
                  <a:lnTo>
                    <a:pt x="15" y="78"/>
                  </a:lnTo>
                  <a:lnTo>
                    <a:pt x="12" y="61"/>
                  </a:lnTo>
                  <a:lnTo>
                    <a:pt x="7" y="45"/>
                  </a:lnTo>
                  <a:lnTo>
                    <a:pt x="3" y="30"/>
                  </a:lnTo>
                  <a:lnTo>
                    <a:pt x="0" y="13"/>
                  </a:lnTo>
                  <a:lnTo>
                    <a:pt x="18" y="7"/>
                  </a:lnTo>
                  <a:lnTo>
                    <a:pt x="35" y="0"/>
                  </a:lnTo>
                  <a:lnTo>
                    <a:pt x="54" y="11"/>
                  </a:lnTo>
                  <a:lnTo>
                    <a:pt x="73" y="20"/>
                  </a:lnTo>
                  <a:lnTo>
                    <a:pt x="87" y="37"/>
                  </a:lnTo>
                  <a:lnTo>
                    <a:pt x="103" y="38"/>
                  </a:lnTo>
                  <a:lnTo>
                    <a:pt x="117" y="39"/>
                  </a:lnTo>
                  <a:lnTo>
                    <a:pt x="133" y="41"/>
                  </a:lnTo>
                  <a:lnTo>
                    <a:pt x="149" y="42"/>
                  </a:lnTo>
                  <a:lnTo>
                    <a:pt x="164" y="53"/>
                  </a:lnTo>
                  <a:lnTo>
                    <a:pt x="165" y="67"/>
                  </a:lnTo>
                  <a:lnTo>
                    <a:pt x="180" y="74"/>
                  </a:lnTo>
                  <a:lnTo>
                    <a:pt x="193" y="81"/>
                  </a:lnTo>
                  <a:lnTo>
                    <a:pt x="207" y="72"/>
                  </a:lnTo>
                  <a:lnTo>
                    <a:pt x="221" y="61"/>
                  </a:lnTo>
                  <a:lnTo>
                    <a:pt x="231" y="74"/>
                  </a:lnTo>
                  <a:lnTo>
                    <a:pt x="221" y="84"/>
                  </a:lnTo>
                  <a:lnTo>
                    <a:pt x="205" y="97"/>
                  </a:lnTo>
                  <a:lnTo>
                    <a:pt x="191" y="111"/>
                  </a:lnTo>
                  <a:lnTo>
                    <a:pt x="197" y="119"/>
                  </a:lnTo>
                  <a:lnTo>
                    <a:pt x="207" y="125"/>
                  </a:lnTo>
                  <a:lnTo>
                    <a:pt x="211" y="131"/>
                  </a:lnTo>
                  <a:lnTo>
                    <a:pt x="207" y="143"/>
                  </a:lnTo>
                  <a:lnTo>
                    <a:pt x="204" y="155"/>
                  </a:lnTo>
                  <a:lnTo>
                    <a:pt x="189" y="152"/>
                  </a:lnTo>
                  <a:lnTo>
                    <a:pt x="175" y="150"/>
                  </a:lnTo>
                  <a:lnTo>
                    <a:pt x="165" y="1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9" name="Freeform 298"/>
            <p:cNvSpPr>
              <a:spLocks/>
            </p:cNvSpPr>
            <p:nvPr/>
          </p:nvSpPr>
          <p:spPr bwMode="auto">
            <a:xfrm>
              <a:off x="2860" y="1861"/>
              <a:ext cx="40" cy="29"/>
            </a:xfrm>
            <a:custGeom>
              <a:avLst/>
              <a:gdLst/>
              <a:ahLst/>
              <a:cxnLst>
                <a:cxn ang="0">
                  <a:pos x="10" y="27"/>
                </a:cxn>
                <a:cxn ang="0">
                  <a:pos x="0" y="9"/>
                </a:cxn>
                <a:cxn ang="0">
                  <a:pos x="3" y="8"/>
                </a:cxn>
                <a:cxn ang="0">
                  <a:pos x="3" y="5"/>
                </a:cxn>
                <a:cxn ang="0">
                  <a:pos x="8" y="4"/>
                </a:cxn>
                <a:cxn ang="0">
                  <a:pos x="11" y="5"/>
                </a:cxn>
                <a:cxn ang="0">
                  <a:pos x="14" y="2"/>
                </a:cxn>
                <a:cxn ang="0">
                  <a:pos x="16" y="3"/>
                </a:cxn>
                <a:cxn ang="0">
                  <a:pos x="18" y="3"/>
                </a:cxn>
                <a:cxn ang="0">
                  <a:pos x="21" y="2"/>
                </a:cxn>
                <a:cxn ang="0">
                  <a:pos x="26" y="0"/>
                </a:cxn>
                <a:cxn ang="0">
                  <a:pos x="29" y="4"/>
                </a:cxn>
                <a:cxn ang="0">
                  <a:pos x="32" y="3"/>
                </a:cxn>
                <a:cxn ang="0">
                  <a:pos x="34" y="5"/>
                </a:cxn>
                <a:cxn ang="0">
                  <a:pos x="36" y="18"/>
                </a:cxn>
                <a:cxn ang="0">
                  <a:pos x="10" y="27"/>
                </a:cxn>
              </a:cxnLst>
              <a:rect l="0" t="0" r="r" b="b"/>
              <a:pathLst>
                <a:path w="36" h="27">
                  <a:moveTo>
                    <a:pt x="10" y="27"/>
                  </a:moveTo>
                  <a:lnTo>
                    <a:pt x="0" y="9"/>
                  </a:lnTo>
                  <a:lnTo>
                    <a:pt x="3" y="8"/>
                  </a:lnTo>
                  <a:lnTo>
                    <a:pt x="3" y="5"/>
                  </a:lnTo>
                  <a:lnTo>
                    <a:pt x="8" y="4"/>
                  </a:lnTo>
                  <a:lnTo>
                    <a:pt x="11" y="5"/>
                  </a:lnTo>
                  <a:lnTo>
                    <a:pt x="14" y="2"/>
                  </a:lnTo>
                  <a:lnTo>
                    <a:pt x="16" y="3"/>
                  </a:lnTo>
                  <a:lnTo>
                    <a:pt x="18" y="3"/>
                  </a:lnTo>
                  <a:lnTo>
                    <a:pt x="21" y="2"/>
                  </a:lnTo>
                  <a:lnTo>
                    <a:pt x="26" y="0"/>
                  </a:lnTo>
                  <a:lnTo>
                    <a:pt x="29" y="4"/>
                  </a:lnTo>
                  <a:lnTo>
                    <a:pt x="32" y="3"/>
                  </a:lnTo>
                  <a:lnTo>
                    <a:pt x="34" y="5"/>
                  </a:lnTo>
                  <a:lnTo>
                    <a:pt x="36" y="18"/>
                  </a:lnTo>
                  <a:lnTo>
                    <a:pt x="1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0" name="Freeform 299"/>
            <p:cNvSpPr>
              <a:spLocks/>
            </p:cNvSpPr>
            <p:nvPr/>
          </p:nvSpPr>
          <p:spPr bwMode="auto">
            <a:xfrm>
              <a:off x="2889" y="1823"/>
              <a:ext cx="98" cy="58"/>
            </a:xfrm>
            <a:custGeom>
              <a:avLst/>
              <a:gdLst/>
              <a:ahLst/>
              <a:cxnLst>
                <a:cxn ang="0">
                  <a:pos x="5" y="5"/>
                </a:cxn>
                <a:cxn ang="0">
                  <a:pos x="1" y="0"/>
                </a:cxn>
                <a:cxn ang="0">
                  <a:pos x="0" y="11"/>
                </a:cxn>
                <a:cxn ang="0">
                  <a:pos x="6" y="20"/>
                </a:cxn>
                <a:cxn ang="0">
                  <a:pos x="0" y="30"/>
                </a:cxn>
                <a:cxn ang="0">
                  <a:pos x="5" y="36"/>
                </a:cxn>
                <a:cxn ang="0">
                  <a:pos x="7" y="38"/>
                </a:cxn>
                <a:cxn ang="0">
                  <a:pos x="9" y="51"/>
                </a:cxn>
                <a:cxn ang="0">
                  <a:pos x="25" y="49"/>
                </a:cxn>
                <a:cxn ang="0">
                  <a:pos x="50" y="51"/>
                </a:cxn>
                <a:cxn ang="0">
                  <a:pos x="56" y="47"/>
                </a:cxn>
                <a:cxn ang="0">
                  <a:pos x="59" y="44"/>
                </a:cxn>
                <a:cxn ang="0">
                  <a:pos x="61" y="41"/>
                </a:cxn>
                <a:cxn ang="0">
                  <a:pos x="83" y="39"/>
                </a:cxn>
                <a:cxn ang="0">
                  <a:pos x="77" y="32"/>
                </a:cxn>
                <a:cxn ang="0">
                  <a:pos x="79" y="25"/>
                </a:cxn>
                <a:cxn ang="0">
                  <a:pos x="83" y="14"/>
                </a:cxn>
                <a:cxn ang="0">
                  <a:pos x="86" y="8"/>
                </a:cxn>
                <a:cxn ang="0">
                  <a:pos x="59" y="2"/>
                </a:cxn>
                <a:cxn ang="0">
                  <a:pos x="37" y="9"/>
                </a:cxn>
                <a:cxn ang="0">
                  <a:pos x="20" y="7"/>
                </a:cxn>
                <a:cxn ang="0">
                  <a:pos x="5" y="5"/>
                </a:cxn>
              </a:cxnLst>
              <a:rect l="0" t="0" r="r" b="b"/>
              <a:pathLst>
                <a:path w="86" h="51">
                  <a:moveTo>
                    <a:pt x="5" y="5"/>
                  </a:moveTo>
                  <a:lnTo>
                    <a:pt x="1" y="0"/>
                  </a:lnTo>
                  <a:lnTo>
                    <a:pt x="0" y="11"/>
                  </a:lnTo>
                  <a:lnTo>
                    <a:pt x="6" y="20"/>
                  </a:lnTo>
                  <a:lnTo>
                    <a:pt x="0" y="30"/>
                  </a:lnTo>
                  <a:lnTo>
                    <a:pt x="5" y="36"/>
                  </a:lnTo>
                  <a:lnTo>
                    <a:pt x="7" y="38"/>
                  </a:lnTo>
                  <a:lnTo>
                    <a:pt x="9" y="51"/>
                  </a:lnTo>
                  <a:lnTo>
                    <a:pt x="25" y="49"/>
                  </a:lnTo>
                  <a:lnTo>
                    <a:pt x="50" y="51"/>
                  </a:lnTo>
                  <a:lnTo>
                    <a:pt x="56" y="47"/>
                  </a:lnTo>
                  <a:lnTo>
                    <a:pt x="59" y="44"/>
                  </a:lnTo>
                  <a:lnTo>
                    <a:pt x="61" y="41"/>
                  </a:lnTo>
                  <a:lnTo>
                    <a:pt x="83" y="39"/>
                  </a:lnTo>
                  <a:lnTo>
                    <a:pt x="77" y="32"/>
                  </a:lnTo>
                  <a:lnTo>
                    <a:pt x="79" y="25"/>
                  </a:lnTo>
                  <a:lnTo>
                    <a:pt x="83" y="14"/>
                  </a:lnTo>
                  <a:lnTo>
                    <a:pt x="86" y="8"/>
                  </a:lnTo>
                  <a:lnTo>
                    <a:pt x="59" y="2"/>
                  </a:lnTo>
                  <a:lnTo>
                    <a:pt x="37" y="9"/>
                  </a:lnTo>
                  <a:lnTo>
                    <a:pt x="20" y="7"/>
                  </a:lnTo>
                  <a:lnTo>
                    <a:pt x="5"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1" name="Freeform 300"/>
            <p:cNvSpPr>
              <a:spLocks/>
            </p:cNvSpPr>
            <p:nvPr/>
          </p:nvSpPr>
          <p:spPr bwMode="auto">
            <a:xfrm>
              <a:off x="2842" y="1856"/>
              <a:ext cx="29" cy="58"/>
            </a:xfrm>
            <a:custGeom>
              <a:avLst/>
              <a:gdLst/>
              <a:ahLst/>
              <a:cxnLst>
                <a:cxn ang="0">
                  <a:pos x="0" y="12"/>
                </a:cxn>
                <a:cxn ang="0">
                  <a:pos x="2" y="36"/>
                </a:cxn>
                <a:cxn ang="0">
                  <a:pos x="13" y="50"/>
                </a:cxn>
                <a:cxn ang="0">
                  <a:pos x="17" y="45"/>
                </a:cxn>
                <a:cxn ang="0">
                  <a:pos x="25" y="31"/>
                </a:cxn>
                <a:cxn ang="0">
                  <a:pos x="25" y="30"/>
                </a:cxn>
                <a:cxn ang="0">
                  <a:pos x="15" y="12"/>
                </a:cxn>
                <a:cxn ang="0">
                  <a:pos x="11" y="2"/>
                </a:cxn>
                <a:cxn ang="0">
                  <a:pos x="2" y="0"/>
                </a:cxn>
                <a:cxn ang="0">
                  <a:pos x="0" y="12"/>
                </a:cxn>
              </a:cxnLst>
              <a:rect l="0" t="0" r="r" b="b"/>
              <a:pathLst>
                <a:path w="25" h="50">
                  <a:moveTo>
                    <a:pt x="0" y="12"/>
                  </a:moveTo>
                  <a:lnTo>
                    <a:pt x="2" y="36"/>
                  </a:lnTo>
                  <a:lnTo>
                    <a:pt x="13" y="50"/>
                  </a:lnTo>
                  <a:lnTo>
                    <a:pt x="17" y="45"/>
                  </a:lnTo>
                  <a:lnTo>
                    <a:pt x="25" y="31"/>
                  </a:lnTo>
                  <a:lnTo>
                    <a:pt x="25" y="30"/>
                  </a:lnTo>
                  <a:lnTo>
                    <a:pt x="15" y="12"/>
                  </a:lnTo>
                  <a:lnTo>
                    <a:pt x="11" y="2"/>
                  </a:lnTo>
                  <a:lnTo>
                    <a:pt x="2" y="0"/>
                  </a:lnTo>
                  <a:lnTo>
                    <a:pt x="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2" name="Freeform 301"/>
            <p:cNvSpPr>
              <a:spLocks/>
            </p:cNvSpPr>
            <p:nvPr/>
          </p:nvSpPr>
          <p:spPr bwMode="auto">
            <a:xfrm>
              <a:off x="3220" y="1876"/>
              <a:ext cx="75" cy="51"/>
            </a:xfrm>
            <a:custGeom>
              <a:avLst/>
              <a:gdLst/>
              <a:ahLst/>
              <a:cxnLst>
                <a:cxn ang="0">
                  <a:pos x="10" y="7"/>
                </a:cxn>
                <a:cxn ang="0">
                  <a:pos x="0" y="0"/>
                </a:cxn>
                <a:cxn ang="0">
                  <a:pos x="22" y="0"/>
                </a:cxn>
                <a:cxn ang="0">
                  <a:pos x="44" y="1"/>
                </a:cxn>
                <a:cxn ang="0">
                  <a:pos x="58" y="2"/>
                </a:cxn>
                <a:cxn ang="0">
                  <a:pos x="57" y="19"/>
                </a:cxn>
                <a:cxn ang="0">
                  <a:pos x="63" y="21"/>
                </a:cxn>
                <a:cxn ang="0">
                  <a:pos x="58" y="27"/>
                </a:cxn>
                <a:cxn ang="0">
                  <a:pos x="69" y="43"/>
                </a:cxn>
                <a:cxn ang="0">
                  <a:pos x="63" y="45"/>
                </a:cxn>
                <a:cxn ang="0">
                  <a:pos x="58" y="42"/>
                </a:cxn>
                <a:cxn ang="0">
                  <a:pos x="57" y="39"/>
                </a:cxn>
                <a:cxn ang="0">
                  <a:pos x="53" y="37"/>
                </a:cxn>
                <a:cxn ang="0">
                  <a:pos x="50" y="37"/>
                </a:cxn>
                <a:cxn ang="0">
                  <a:pos x="46" y="36"/>
                </a:cxn>
                <a:cxn ang="0">
                  <a:pos x="41" y="33"/>
                </a:cxn>
                <a:cxn ang="0">
                  <a:pos x="35" y="33"/>
                </a:cxn>
                <a:cxn ang="0">
                  <a:pos x="22" y="27"/>
                </a:cxn>
                <a:cxn ang="0">
                  <a:pos x="16" y="18"/>
                </a:cxn>
                <a:cxn ang="0">
                  <a:pos x="10" y="7"/>
                </a:cxn>
              </a:cxnLst>
              <a:rect l="0" t="0" r="r" b="b"/>
              <a:pathLst>
                <a:path w="69" h="45">
                  <a:moveTo>
                    <a:pt x="10" y="7"/>
                  </a:moveTo>
                  <a:lnTo>
                    <a:pt x="0" y="0"/>
                  </a:lnTo>
                  <a:lnTo>
                    <a:pt x="22" y="0"/>
                  </a:lnTo>
                  <a:lnTo>
                    <a:pt x="44" y="1"/>
                  </a:lnTo>
                  <a:lnTo>
                    <a:pt x="58" y="2"/>
                  </a:lnTo>
                  <a:lnTo>
                    <a:pt x="57" y="19"/>
                  </a:lnTo>
                  <a:lnTo>
                    <a:pt x="63" y="21"/>
                  </a:lnTo>
                  <a:lnTo>
                    <a:pt x="58" y="27"/>
                  </a:lnTo>
                  <a:lnTo>
                    <a:pt x="69" y="43"/>
                  </a:lnTo>
                  <a:lnTo>
                    <a:pt x="63" y="45"/>
                  </a:lnTo>
                  <a:lnTo>
                    <a:pt x="58" y="42"/>
                  </a:lnTo>
                  <a:lnTo>
                    <a:pt x="57" y="39"/>
                  </a:lnTo>
                  <a:lnTo>
                    <a:pt x="53" y="37"/>
                  </a:lnTo>
                  <a:lnTo>
                    <a:pt x="50" y="37"/>
                  </a:lnTo>
                  <a:lnTo>
                    <a:pt x="46" y="36"/>
                  </a:lnTo>
                  <a:lnTo>
                    <a:pt x="41" y="33"/>
                  </a:lnTo>
                  <a:lnTo>
                    <a:pt x="35" y="33"/>
                  </a:lnTo>
                  <a:lnTo>
                    <a:pt x="22" y="27"/>
                  </a:lnTo>
                  <a:lnTo>
                    <a:pt x="16" y="18"/>
                  </a:lnTo>
                  <a:lnTo>
                    <a:pt x="10"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3" name="Freeform 302"/>
            <p:cNvSpPr>
              <a:spLocks/>
            </p:cNvSpPr>
            <p:nvPr/>
          </p:nvSpPr>
          <p:spPr bwMode="auto">
            <a:xfrm>
              <a:off x="3282" y="1870"/>
              <a:ext cx="67" cy="69"/>
            </a:xfrm>
            <a:custGeom>
              <a:avLst/>
              <a:gdLst/>
              <a:ahLst/>
              <a:cxnLst>
                <a:cxn ang="0">
                  <a:pos x="12" y="49"/>
                </a:cxn>
                <a:cxn ang="0">
                  <a:pos x="1" y="33"/>
                </a:cxn>
                <a:cxn ang="0">
                  <a:pos x="6" y="27"/>
                </a:cxn>
                <a:cxn ang="0">
                  <a:pos x="0" y="25"/>
                </a:cxn>
                <a:cxn ang="0">
                  <a:pos x="1" y="8"/>
                </a:cxn>
                <a:cxn ang="0">
                  <a:pos x="6" y="0"/>
                </a:cxn>
                <a:cxn ang="0">
                  <a:pos x="30" y="4"/>
                </a:cxn>
                <a:cxn ang="0">
                  <a:pos x="38" y="15"/>
                </a:cxn>
                <a:cxn ang="0">
                  <a:pos x="59" y="27"/>
                </a:cxn>
                <a:cxn ang="0">
                  <a:pos x="49" y="30"/>
                </a:cxn>
                <a:cxn ang="0">
                  <a:pos x="44" y="50"/>
                </a:cxn>
                <a:cxn ang="0">
                  <a:pos x="43" y="62"/>
                </a:cxn>
                <a:cxn ang="0">
                  <a:pos x="30" y="52"/>
                </a:cxn>
                <a:cxn ang="0">
                  <a:pos x="31" y="49"/>
                </a:cxn>
                <a:cxn ang="0">
                  <a:pos x="26" y="39"/>
                </a:cxn>
                <a:cxn ang="0">
                  <a:pos x="12" y="49"/>
                </a:cxn>
              </a:cxnLst>
              <a:rect l="0" t="0" r="r" b="b"/>
              <a:pathLst>
                <a:path w="59" h="62">
                  <a:moveTo>
                    <a:pt x="12" y="49"/>
                  </a:moveTo>
                  <a:lnTo>
                    <a:pt x="1" y="33"/>
                  </a:lnTo>
                  <a:lnTo>
                    <a:pt x="6" y="27"/>
                  </a:lnTo>
                  <a:lnTo>
                    <a:pt x="0" y="25"/>
                  </a:lnTo>
                  <a:lnTo>
                    <a:pt x="1" y="8"/>
                  </a:lnTo>
                  <a:lnTo>
                    <a:pt x="6" y="0"/>
                  </a:lnTo>
                  <a:lnTo>
                    <a:pt x="30" y="4"/>
                  </a:lnTo>
                  <a:lnTo>
                    <a:pt x="38" y="15"/>
                  </a:lnTo>
                  <a:lnTo>
                    <a:pt x="59" y="27"/>
                  </a:lnTo>
                  <a:lnTo>
                    <a:pt x="49" y="30"/>
                  </a:lnTo>
                  <a:lnTo>
                    <a:pt x="44" y="50"/>
                  </a:lnTo>
                  <a:lnTo>
                    <a:pt x="43" y="62"/>
                  </a:lnTo>
                  <a:lnTo>
                    <a:pt x="30" y="52"/>
                  </a:lnTo>
                  <a:lnTo>
                    <a:pt x="31" y="49"/>
                  </a:lnTo>
                  <a:lnTo>
                    <a:pt x="26" y="39"/>
                  </a:lnTo>
                  <a:lnTo>
                    <a:pt x="12"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4" name="Freeform 303"/>
            <p:cNvSpPr>
              <a:spLocks/>
            </p:cNvSpPr>
            <p:nvPr/>
          </p:nvSpPr>
          <p:spPr bwMode="auto">
            <a:xfrm>
              <a:off x="3260" y="1914"/>
              <a:ext cx="29" cy="16"/>
            </a:xfrm>
            <a:custGeom>
              <a:avLst/>
              <a:gdLst/>
              <a:ahLst/>
              <a:cxnLst>
                <a:cxn ang="0">
                  <a:pos x="28" y="12"/>
                </a:cxn>
                <a:cxn ang="0">
                  <a:pos x="22" y="15"/>
                </a:cxn>
                <a:cxn ang="0">
                  <a:pos x="4" y="5"/>
                </a:cxn>
                <a:cxn ang="0">
                  <a:pos x="1" y="1"/>
                </a:cxn>
                <a:cxn ang="0">
                  <a:pos x="0" y="0"/>
                </a:cxn>
                <a:cxn ang="0">
                  <a:pos x="6" y="0"/>
                </a:cxn>
                <a:cxn ang="0">
                  <a:pos x="11" y="3"/>
                </a:cxn>
                <a:cxn ang="0">
                  <a:pos x="15" y="4"/>
                </a:cxn>
                <a:cxn ang="0">
                  <a:pos x="18" y="4"/>
                </a:cxn>
                <a:cxn ang="0">
                  <a:pos x="22" y="6"/>
                </a:cxn>
                <a:cxn ang="0">
                  <a:pos x="23" y="9"/>
                </a:cxn>
                <a:cxn ang="0">
                  <a:pos x="28" y="12"/>
                </a:cxn>
              </a:cxnLst>
              <a:rect l="0" t="0" r="r" b="b"/>
              <a:pathLst>
                <a:path w="28" h="15">
                  <a:moveTo>
                    <a:pt x="28" y="12"/>
                  </a:moveTo>
                  <a:lnTo>
                    <a:pt x="22" y="15"/>
                  </a:lnTo>
                  <a:lnTo>
                    <a:pt x="4" y="5"/>
                  </a:lnTo>
                  <a:lnTo>
                    <a:pt x="1" y="1"/>
                  </a:lnTo>
                  <a:lnTo>
                    <a:pt x="0" y="0"/>
                  </a:lnTo>
                  <a:lnTo>
                    <a:pt x="6" y="0"/>
                  </a:lnTo>
                  <a:lnTo>
                    <a:pt x="11" y="3"/>
                  </a:lnTo>
                  <a:lnTo>
                    <a:pt x="15" y="4"/>
                  </a:lnTo>
                  <a:lnTo>
                    <a:pt x="18" y="4"/>
                  </a:lnTo>
                  <a:lnTo>
                    <a:pt x="22" y="6"/>
                  </a:lnTo>
                  <a:lnTo>
                    <a:pt x="23" y="9"/>
                  </a:lnTo>
                  <a:lnTo>
                    <a:pt x="2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5" name="Freeform 304"/>
            <p:cNvSpPr>
              <a:spLocks/>
            </p:cNvSpPr>
            <p:nvPr/>
          </p:nvSpPr>
          <p:spPr bwMode="auto">
            <a:xfrm>
              <a:off x="2858" y="1874"/>
              <a:ext cx="102" cy="102"/>
            </a:xfrm>
            <a:custGeom>
              <a:avLst/>
              <a:gdLst/>
              <a:ahLst/>
              <a:cxnLst>
                <a:cxn ang="0">
                  <a:pos x="17" y="49"/>
                </a:cxn>
                <a:cxn ang="0">
                  <a:pos x="7" y="45"/>
                </a:cxn>
                <a:cxn ang="0">
                  <a:pos x="0" y="36"/>
                </a:cxn>
                <a:cxn ang="0">
                  <a:pos x="4" y="31"/>
                </a:cxn>
                <a:cxn ang="0">
                  <a:pos x="12" y="17"/>
                </a:cxn>
                <a:cxn ang="0">
                  <a:pos x="12" y="16"/>
                </a:cxn>
                <a:cxn ang="0">
                  <a:pos x="38" y="7"/>
                </a:cxn>
                <a:cxn ang="0">
                  <a:pos x="54" y="5"/>
                </a:cxn>
                <a:cxn ang="0">
                  <a:pos x="79" y="7"/>
                </a:cxn>
                <a:cxn ang="0">
                  <a:pos x="85" y="3"/>
                </a:cxn>
                <a:cxn ang="0">
                  <a:pos x="88" y="0"/>
                </a:cxn>
                <a:cxn ang="0">
                  <a:pos x="91" y="7"/>
                </a:cxn>
                <a:cxn ang="0">
                  <a:pos x="85" y="18"/>
                </a:cxn>
                <a:cxn ang="0">
                  <a:pos x="68" y="15"/>
                </a:cxn>
                <a:cxn ang="0">
                  <a:pos x="53" y="19"/>
                </a:cxn>
                <a:cxn ang="0">
                  <a:pos x="60" y="27"/>
                </a:cxn>
                <a:cxn ang="0">
                  <a:pos x="53" y="28"/>
                </a:cxn>
                <a:cxn ang="0">
                  <a:pos x="54" y="30"/>
                </a:cxn>
                <a:cxn ang="0">
                  <a:pos x="48" y="29"/>
                </a:cxn>
                <a:cxn ang="0">
                  <a:pos x="52" y="33"/>
                </a:cxn>
                <a:cxn ang="0">
                  <a:pos x="41" y="22"/>
                </a:cxn>
                <a:cxn ang="0">
                  <a:pos x="37" y="24"/>
                </a:cxn>
                <a:cxn ang="0">
                  <a:pos x="43" y="40"/>
                </a:cxn>
                <a:cxn ang="0">
                  <a:pos x="47" y="47"/>
                </a:cxn>
                <a:cxn ang="0">
                  <a:pos x="41" y="45"/>
                </a:cxn>
                <a:cxn ang="0">
                  <a:pos x="43" y="51"/>
                </a:cxn>
                <a:cxn ang="0">
                  <a:pos x="40" y="52"/>
                </a:cxn>
                <a:cxn ang="0">
                  <a:pos x="60" y="65"/>
                </a:cxn>
                <a:cxn ang="0">
                  <a:pos x="59" y="71"/>
                </a:cxn>
                <a:cxn ang="0">
                  <a:pos x="52" y="67"/>
                </a:cxn>
                <a:cxn ang="0">
                  <a:pos x="48" y="70"/>
                </a:cxn>
                <a:cxn ang="0">
                  <a:pos x="52" y="77"/>
                </a:cxn>
                <a:cxn ang="0">
                  <a:pos x="43" y="77"/>
                </a:cxn>
                <a:cxn ang="0">
                  <a:pos x="48" y="94"/>
                </a:cxn>
                <a:cxn ang="0">
                  <a:pos x="41" y="90"/>
                </a:cxn>
                <a:cxn ang="0">
                  <a:pos x="38" y="94"/>
                </a:cxn>
                <a:cxn ang="0">
                  <a:pos x="31" y="85"/>
                </a:cxn>
                <a:cxn ang="0">
                  <a:pos x="29" y="89"/>
                </a:cxn>
                <a:cxn ang="0">
                  <a:pos x="22" y="73"/>
                </a:cxn>
                <a:cxn ang="0">
                  <a:pos x="20" y="66"/>
                </a:cxn>
                <a:cxn ang="0">
                  <a:pos x="32" y="63"/>
                </a:cxn>
                <a:cxn ang="0">
                  <a:pos x="46" y="66"/>
                </a:cxn>
                <a:cxn ang="0">
                  <a:pos x="46" y="63"/>
                </a:cxn>
                <a:cxn ang="0">
                  <a:pos x="37" y="59"/>
                </a:cxn>
                <a:cxn ang="0">
                  <a:pos x="20" y="58"/>
                </a:cxn>
                <a:cxn ang="0">
                  <a:pos x="17" y="59"/>
                </a:cxn>
                <a:cxn ang="0">
                  <a:pos x="13" y="51"/>
                </a:cxn>
                <a:cxn ang="0">
                  <a:pos x="17" y="49"/>
                </a:cxn>
              </a:cxnLst>
              <a:rect l="0" t="0" r="r" b="b"/>
              <a:pathLst>
                <a:path w="91" h="94">
                  <a:moveTo>
                    <a:pt x="17" y="49"/>
                  </a:moveTo>
                  <a:lnTo>
                    <a:pt x="7" y="45"/>
                  </a:lnTo>
                  <a:lnTo>
                    <a:pt x="0" y="36"/>
                  </a:lnTo>
                  <a:lnTo>
                    <a:pt x="4" y="31"/>
                  </a:lnTo>
                  <a:lnTo>
                    <a:pt x="12" y="17"/>
                  </a:lnTo>
                  <a:lnTo>
                    <a:pt x="12" y="16"/>
                  </a:lnTo>
                  <a:lnTo>
                    <a:pt x="38" y="7"/>
                  </a:lnTo>
                  <a:lnTo>
                    <a:pt x="54" y="5"/>
                  </a:lnTo>
                  <a:lnTo>
                    <a:pt x="79" y="7"/>
                  </a:lnTo>
                  <a:lnTo>
                    <a:pt x="85" y="3"/>
                  </a:lnTo>
                  <a:lnTo>
                    <a:pt x="88" y="0"/>
                  </a:lnTo>
                  <a:lnTo>
                    <a:pt x="91" y="7"/>
                  </a:lnTo>
                  <a:lnTo>
                    <a:pt x="85" y="18"/>
                  </a:lnTo>
                  <a:lnTo>
                    <a:pt x="68" y="15"/>
                  </a:lnTo>
                  <a:lnTo>
                    <a:pt x="53" y="19"/>
                  </a:lnTo>
                  <a:lnTo>
                    <a:pt x="60" y="27"/>
                  </a:lnTo>
                  <a:lnTo>
                    <a:pt x="53" y="28"/>
                  </a:lnTo>
                  <a:lnTo>
                    <a:pt x="54" y="30"/>
                  </a:lnTo>
                  <a:lnTo>
                    <a:pt x="48" y="29"/>
                  </a:lnTo>
                  <a:lnTo>
                    <a:pt x="52" y="33"/>
                  </a:lnTo>
                  <a:lnTo>
                    <a:pt x="41" y="22"/>
                  </a:lnTo>
                  <a:lnTo>
                    <a:pt x="37" y="24"/>
                  </a:lnTo>
                  <a:lnTo>
                    <a:pt x="43" y="40"/>
                  </a:lnTo>
                  <a:lnTo>
                    <a:pt x="47" y="47"/>
                  </a:lnTo>
                  <a:lnTo>
                    <a:pt x="41" y="45"/>
                  </a:lnTo>
                  <a:lnTo>
                    <a:pt x="43" y="51"/>
                  </a:lnTo>
                  <a:lnTo>
                    <a:pt x="40" y="52"/>
                  </a:lnTo>
                  <a:lnTo>
                    <a:pt x="60" y="65"/>
                  </a:lnTo>
                  <a:lnTo>
                    <a:pt x="59" y="71"/>
                  </a:lnTo>
                  <a:lnTo>
                    <a:pt x="52" y="67"/>
                  </a:lnTo>
                  <a:lnTo>
                    <a:pt x="48" y="70"/>
                  </a:lnTo>
                  <a:lnTo>
                    <a:pt x="52" y="77"/>
                  </a:lnTo>
                  <a:lnTo>
                    <a:pt x="43" y="77"/>
                  </a:lnTo>
                  <a:lnTo>
                    <a:pt x="48" y="94"/>
                  </a:lnTo>
                  <a:lnTo>
                    <a:pt x="41" y="90"/>
                  </a:lnTo>
                  <a:lnTo>
                    <a:pt x="38" y="94"/>
                  </a:lnTo>
                  <a:lnTo>
                    <a:pt x="31" y="85"/>
                  </a:lnTo>
                  <a:lnTo>
                    <a:pt x="29" y="89"/>
                  </a:lnTo>
                  <a:lnTo>
                    <a:pt x="22" y="73"/>
                  </a:lnTo>
                  <a:lnTo>
                    <a:pt x="20" y="66"/>
                  </a:lnTo>
                  <a:lnTo>
                    <a:pt x="32" y="63"/>
                  </a:lnTo>
                  <a:lnTo>
                    <a:pt x="46" y="66"/>
                  </a:lnTo>
                  <a:lnTo>
                    <a:pt x="46" y="63"/>
                  </a:lnTo>
                  <a:lnTo>
                    <a:pt x="37" y="59"/>
                  </a:lnTo>
                  <a:lnTo>
                    <a:pt x="20" y="58"/>
                  </a:lnTo>
                  <a:lnTo>
                    <a:pt x="17" y="59"/>
                  </a:lnTo>
                  <a:lnTo>
                    <a:pt x="13" y="51"/>
                  </a:lnTo>
                  <a:lnTo>
                    <a:pt x="17"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6" name="Freeform 305"/>
            <p:cNvSpPr>
              <a:spLocks/>
            </p:cNvSpPr>
            <p:nvPr/>
          </p:nvSpPr>
          <p:spPr bwMode="auto">
            <a:xfrm>
              <a:off x="2922" y="1996"/>
              <a:ext cx="47" cy="11"/>
            </a:xfrm>
            <a:custGeom>
              <a:avLst/>
              <a:gdLst/>
              <a:ahLst/>
              <a:cxnLst>
                <a:cxn ang="0">
                  <a:pos x="31" y="4"/>
                </a:cxn>
                <a:cxn ang="0">
                  <a:pos x="8" y="0"/>
                </a:cxn>
                <a:cxn ang="0">
                  <a:pos x="1" y="0"/>
                </a:cxn>
                <a:cxn ang="0">
                  <a:pos x="0" y="6"/>
                </a:cxn>
                <a:cxn ang="0">
                  <a:pos x="14" y="8"/>
                </a:cxn>
                <a:cxn ang="0">
                  <a:pos x="29" y="9"/>
                </a:cxn>
                <a:cxn ang="0">
                  <a:pos x="41" y="6"/>
                </a:cxn>
                <a:cxn ang="0">
                  <a:pos x="31" y="4"/>
                </a:cxn>
              </a:cxnLst>
              <a:rect l="0" t="0" r="r" b="b"/>
              <a:pathLst>
                <a:path w="41" h="9">
                  <a:moveTo>
                    <a:pt x="31" y="4"/>
                  </a:moveTo>
                  <a:lnTo>
                    <a:pt x="8" y="0"/>
                  </a:lnTo>
                  <a:lnTo>
                    <a:pt x="1" y="0"/>
                  </a:lnTo>
                  <a:lnTo>
                    <a:pt x="0" y="6"/>
                  </a:lnTo>
                  <a:lnTo>
                    <a:pt x="14" y="8"/>
                  </a:lnTo>
                  <a:lnTo>
                    <a:pt x="29" y="9"/>
                  </a:lnTo>
                  <a:lnTo>
                    <a:pt x="41" y="6"/>
                  </a:lnTo>
                  <a:lnTo>
                    <a:pt x="3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7" name="Freeform 306"/>
            <p:cNvSpPr>
              <a:spLocks/>
            </p:cNvSpPr>
            <p:nvPr/>
          </p:nvSpPr>
          <p:spPr bwMode="auto">
            <a:xfrm>
              <a:off x="2907" y="1927"/>
              <a:ext cx="26" cy="18"/>
            </a:xfrm>
            <a:custGeom>
              <a:avLst/>
              <a:gdLst/>
              <a:ahLst/>
              <a:cxnLst>
                <a:cxn ang="0">
                  <a:pos x="24" y="16"/>
                </a:cxn>
                <a:cxn ang="0">
                  <a:pos x="11" y="4"/>
                </a:cxn>
                <a:cxn ang="0">
                  <a:pos x="0" y="0"/>
                </a:cxn>
                <a:cxn ang="0">
                  <a:pos x="12" y="8"/>
                </a:cxn>
                <a:cxn ang="0">
                  <a:pos x="24" y="16"/>
                </a:cxn>
              </a:cxnLst>
              <a:rect l="0" t="0" r="r" b="b"/>
              <a:pathLst>
                <a:path w="24" h="16">
                  <a:moveTo>
                    <a:pt x="24" y="16"/>
                  </a:moveTo>
                  <a:lnTo>
                    <a:pt x="11" y="4"/>
                  </a:lnTo>
                  <a:lnTo>
                    <a:pt x="0" y="0"/>
                  </a:lnTo>
                  <a:lnTo>
                    <a:pt x="12" y="8"/>
                  </a:lnTo>
                  <a:lnTo>
                    <a:pt x="24"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8" name="Freeform 307"/>
            <p:cNvSpPr>
              <a:spLocks/>
            </p:cNvSpPr>
            <p:nvPr/>
          </p:nvSpPr>
          <p:spPr bwMode="auto">
            <a:xfrm>
              <a:off x="2953" y="1921"/>
              <a:ext cx="11" cy="4"/>
            </a:xfrm>
            <a:custGeom>
              <a:avLst/>
              <a:gdLst/>
              <a:ahLst/>
              <a:cxnLst>
                <a:cxn ang="0">
                  <a:pos x="10" y="4"/>
                </a:cxn>
                <a:cxn ang="0">
                  <a:pos x="4" y="3"/>
                </a:cxn>
                <a:cxn ang="0">
                  <a:pos x="0" y="0"/>
                </a:cxn>
                <a:cxn ang="0">
                  <a:pos x="9" y="2"/>
                </a:cxn>
                <a:cxn ang="0">
                  <a:pos x="10" y="4"/>
                </a:cxn>
              </a:cxnLst>
              <a:rect l="0" t="0" r="r" b="b"/>
              <a:pathLst>
                <a:path w="10" h="4">
                  <a:moveTo>
                    <a:pt x="10" y="4"/>
                  </a:moveTo>
                  <a:lnTo>
                    <a:pt x="4" y="3"/>
                  </a:lnTo>
                  <a:lnTo>
                    <a:pt x="0" y="0"/>
                  </a:lnTo>
                  <a:lnTo>
                    <a:pt x="9" y="2"/>
                  </a:lnTo>
                  <a:lnTo>
                    <a:pt x="1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9" name="Freeform 308"/>
            <p:cNvSpPr>
              <a:spLocks/>
            </p:cNvSpPr>
            <p:nvPr/>
          </p:nvSpPr>
          <p:spPr bwMode="auto">
            <a:xfrm>
              <a:off x="2867" y="1941"/>
              <a:ext cx="4" cy="2"/>
            </a:xfrm>
            <a:custGeom>
              <a:avLst/>
              <a:gdLst/>
              <a:ahLst/>
              <a:cxnLst>
                <a:cxn ang="0">
                  <a:pos x="0" y="0"/>
                </a:cxn>
                <a:cxn ang="0">
                  <a:pos x="5" y="4"/>
                </a:cxn>
                <a:cxn ang="0">
                  <a:pos x="1" y="4"/>
                </a:cxn>
                <a:cxn ang="0">
                  <a:pos x="0" y="0"/>
                </a:cxn>
              </a:cxnLst>
              <a:rect l="0" t="0" r="r" b="b"/>
              <a:pathLst>
                <a:path w="5" h="4">
                  <a:moveTo>
                    <a:pt x="0" y="0"/>
                  </a:moveTo>
                  <a:lnTo>
                    <a:pt x="5" y="4"/>
                  </a:lnTo>
                  <a:lnTo>
                    <a:pt x="1" y="4"/>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0" name="Freeform 309"/>
            <p:cNvSpPr>
              <a:spLocks/>
            </p:cNvSpPr>
            <p:nvPr/>
          </p:nvSpPr>
          <p:spPr bwMode="auto">
            <a:xfrm>
              <a:off x="2956" y="1936"/>
              <a:ext cx="4" cy="5"/>
            </a:xfrm>
            <a:custGeom>
              <a:avLst/>
              <a:gdLst/>
              <a:ahLst/>
              <a:cxnLst>
                <a:cxn ang="0">
                  <a:pos x="3" y="0"/>
                </a:cxn>
                <a:cxn ang="0">
                  <a:pos x="2" y="4"/>
                </a:cxn>
                <a:cxn ang="0">
                  <a:pos x="0" y="1"/>
                </a:cxn>
                <a:cxn ang="0">
                  <a:pos x="3" y="0"/>
                </a:cxn>
              </a:cxnLst>
              <a:rect l="0" t="0" r="r" b="b"/>
              <a:pathLst>
                <a:path w="3" h="4">
                  <a:moveTo>
                    <a:pt x="3" y="0"/>
                  </a:moveTo>
                  <a:lnTo>
                    <a:pt x="2" y="4"/>
                  </a:lnTo>
                  <a:lnTo>
                    <a:pt x="0" y="1"/>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1" name="Freeform 310"/>
            <p:cNvSpPr>
              <a:spLocks/>
            </p:cNvSpPr>
            <p:nvPr/>
          </p:nvSpPr>
          <p:spPr bwMode="auto">
            <a:xfrm>
              <a:off x="2640" y="1770"/>
              <a:ext cx="189" cy="180"/>
            </a:xfrm>
            <a:custGeom>
              <a:avLst/>
              <a:gdLst/>
              <a:ahLst/>
              <a:cxnLst>
                <a:cxn ang="0">
                  <a:pos x="96" y="7"/>
                </a:cxn>
                <a:cxn ang="0">
                  <a:pos x="75" y="0"/>
                </a:cxn>
                <a:cxn ang="0">
                  <a:pos x="59" y="2"/>
                </a:cxn>
                <a:cxn ang="0">
                  <a:pos x="51" y="1"/>
                </a:cxn>
                <a:cxn ang="0">
                  <a:pos x="51" y="2"/>
                </a:cxn>
                <a:cxn ang="0">
                  <a:pos x="47" y="6"/>
                </a:cxn>
                <a:cxn ang="0">
                  <a:pos x="45" y="11"/>
                </a:cxn>
                <a:cxn ang="0">
                  <a:pos x="34" y="11"/>
                </a:cxn>
                <a:cxn ang="0">
                  <a:pos x="29" y="18"/>
                </a:cxn>
                <a:cxn ang="0">
                  <a:pos x="19" y="11"/>
                </a:cxn>
                <a:cxn ang="0">
                  <a:pos x="11" y="17"/>
                </a:cxn>
                <a:cxn ang="0">
                  <a:pos x="3" y="18"/>
                </a:cxn>
                <a:cxn ang="0">
                  <a:pos x="3" y="25"/>
                </a:cxn>
                <a:cxn ang="0">
                  <a:pos x="0" y="32"/>
                </a:cxn>
                <a:cxn ang="0">
                  <a:pos x="0" y="37"/>
                </a:cxn>
                <a:cxn ang="0">
                  <a:pos x="1" y="43"/>
                </a:cxn>
                <a:cxn ang="0">
                  <a:pos x="11" y="49"/>
                </a:cxn>
                <a:cxn ang="0">
                  <a:pos x="11" y="56"/>
                </a:cxn>
                <a:cxn ang="0">
                  <a:pos x="24" y="47"/>
                </a:cxn>
                <a:cxn ang="0">
                  <a:pos x="43" y="50"/>
                </a:cxn>
                <a:cxn ang="0">
                  <a:pos x="54" y="68"/>
                </a:cxn>
                <a:cxn ang="0">
                  <a:pos x="67" y="80"/>
                </a:cxn>
                <a:cxn ang="0">
                  <a:pos x="81" y="92"/>
                </a:cxn>
                <a:cxn ang="0">
                  <a:pos x="84" y="95"/>
                </a:cxn>
                <a:cxn ang="0">
                  <a:pos x="85" y="95"/>
                </a:cxn>
                <a:cxn ang="0">
                  <a:pos x="96" y="99"/>
                </a:cxn>
                <a:cxn ang="0">
                  <a:pos x="114" y="111"/>
                </a:cxn>
                <a:cxn ang="0">
                  <a:pos x="123" y="116"/>
                </a:cxn>
                <a:cxn ang="0">
                  <a:pos x="130" y="122"/>
                </a:cxn>
                <a:cxn ang="0">
                  <a:pos x="139" y="140"/>
                </a:cxn>
                <a:cxn ang="0">
                  <a:pos x="133" y="156"/>
                </a:cxn>
                <a:cxn ang="0">
                  <a:pos x="141" y="161"/>
                </a:cxn>
                <a:cxn ang="0">
                  <a:pos x="147" y="149"/>
                </a:cxn>
                <a:cxn ang="0">
                  <a:pos x="153" y="141"/>
                </a:cxn>
                <a:cxn ang="0">
                  <a:pos x="155" y="138"/>
                </a:cxn>
                <a:cxn ang="0">
                  <a:pos x="147" y="129"/>
                </a:cxn>
                <a:cxn ang="0">
                  <a:pos x="150" y="115"/>
                </a:cxn>
                <a:cxn ang="0">
                  <a:pos x="159" y="117"/>
                </a:cxn>
                <a:cxn ang="0">
                  <a:pos x="169" y="126"/>
                </a:cxn>
                <a:cxn ang="0">
                  <a:pos x="172" y="117"/>
                </a:cxn>
                <a:cxn ang="0">
                  <a:pos x="154" y="108"/>
                </a:cxn>
                <a:cxn ang="0">
                  <a:pos x="135" y="97"/>
                </a:cxn>
                <a:cxn ang="0">
                  <a:pos x="137" y="91"/>
                </a:cxn>
                <a:cxn ang="0">
                  <a:pos x="132" y="89"/>
                </a:cxn>
                <a:cxn ang="0">
                  <a:pos x="113" y="84"/>
                </a:cxn>
                <a:cxn ang="0">
                  <a:pos x="106" y="72"/>
                </a:cxn>
                <a:cxn ang="0">
                  <a:pos x="99" y="61"/>
                </a:cxn>
                <a:cxn ang="0">
                  <a:pos x="84" y="53"/>
                </a:cxn>
                <a:cxn ang="0">
                  <a:pos x="79" y="38"/>
                </a:cxn>
                <a:cxn ang="0">
                  <a:pos x="77" y="30"/>
                </a:cxn>
                <a:cxn ang="0">
                  <a:pos x="89" y="21"/>
                </a:cxn>
                <a:cxn ang="0">
                  <a:pos x="97" y="24"/>
                </a:cxn>
                <a:cxn ang="0">
                  <a:pos x="94" y="13"/>
                </a:cxn>
                <a:cxn ang="0">
                  <a:pos x="96" y="7"/>
                </a:cxn>
                <a:cxn ang="0">
                  <a:pos x="82" y="53"/>
                </a:cxn>
                <a:cxn ang="0">
                  <a:pos x="81" y="53"/>
                </a:cxn>
                <a:cxn ang="0">
                  <a:pos x="81" y="54"/>
                </a:cxn>
                <a:cxn ang="0">
                  <a:pos x="82" y="54"/>
                </a:cxn>
                <a:cxn ang="0">
                  <a:pos x="82" y="53"/>
                </a:cxn>
                <a:cxn ang="0">
                  <a:pos x="96" y="7"/>
                </a:cxn>
                <a:cxn ang="0">
                  <a:pos x="85" y="93"/>
                </a:cxn>
                <a:cxn ang="0">
                  <a:pos x="96" y="7"/>
                </a:cxn>
              </a:cxnLst>
              <a:rect l="0" t="0" r="r" b="b"/>
              <a:pathLst>
                <a:path w="172" h="161">
                  <a:moveTo>
                    <a:pt x="96" y="7"/>
                  </a:moveTo>
                  <a:lnTo>
                    <a:pt x="75" y="0"/>
                  </a:lnTo>
                  <a:lnTo>
                    <a:pt x="59" y="2"/>
                  </a:lnTo>
                  <a:lnTo>
                    <a:pt x="51" y="1"/>
                  </a:lnTo>
                  <a:lnTo>
                    <a:pt x="51" y="2"/>
                  </a:lnTo>
                  <a:lnTo>
                    <a:pt x="47" y="6"/>
                  </a:lnTo>
                  <a:lnTo>
                    <a:pt x="45" y="11"/>
                  </a:lnTo>
                  <a:lnTo>
                    <a:pt x="34" y="11"/>
                  </a:lnTo>
                  <a:lnTo>
                    <a:pt x="29" y="18"/>
                  </a:lnTo>
                  <a:lnTo>
                    <a:pt x="19" y="11"/>
                  </a:lnTo>
                  <a:lnTo>
                    <a:pt x="11" y="17"/>
                  </a:lnTo>
                  <a:lnTo>
                    <a:pt x="3" y="18"/>
                  </a:lnTo>
                  <a:lnTo>
                    <a:pt x="3" y="25"/>
                  </a:lnTo>
                  <a:lnTo>
                    <a:pt x="0" y="32"/>
                  </a:lnTo>
                  <a:lnTo>
                    <a:pt x="0" y="37"/>
                  </a:lnTo>
                  <a:lnTo>
                    <a:pt x="1" y="43"/>
                  </a:lnTo>
                  <a:lnTo>
                    <a:pt x="11" y="49"/>
                  </a:lnTo>
                  <a:lnTo>
                    <a:pt x="11" y="56"/>
                  </a:lnTo>
                  <a:lnTo>
                    <a:pt x="24" y="47"/>
                  </a:lnTo>
                  <a:lnTo>
                    <a:pt x="43" y="50"/>
                  </a:lnTo>
                  <a:lnTo>
                    <a:pt x="54" y="68"/>
                  </a:lnTo>
                  <a:lnTo>
                    <a:pt x="67" y="80"/>
                  </a:lnTo>
                  <a:lnTo>
                    <a:pt x="81" y="92"/>
                  </a:lnTo>
                  <a:lnTo>
                    <a:pt x="84" y="95"/>
                  </a:lnTo>
                  <a:lnTo>
                    <a:pt x="85" y="95"/>
                  </a:lnTo>
                  <a:lnTo>
                    <a:pt x="96" y="99"/>
                  </a:lnTo>
                  <a:lnTo>
                    <a:pt x="114" y="111"/>
                  </a:lnTo>
                  <a:lnTo>
                    <a:pt x="123" y="116"/>
                  </a:lnTo>
                  <a:lnTo>
                    <a:pt x="130" y="122"/>
                  </a:lnTo>
                  <a:lnTo>
                    <a:pt x="139" y="140"/>
                  </a:lnTo>
                  <a:lnTo>
                    <a:pt x="133" y="156"/>
                  </a:lnTo>
                  <a:lnTo>
                    <a:pt x="141" y="161"/>
                  </a:lnTo>
                  <a:lnTo>
                    <a:pt x="147" y="149"/>
                  </a:lnTo>
                  <a:lnTo>
                    <a:pt x="153" y="141"/>
                  </a:lnTo>
                  <a:lnTo>
                    <a:pt x="155" y="138"/>
                  </a:lnTo>
                  <a:lnTo>
                    <a:pt x="147" y="129"/>
                  </a:lnTo>
                  <a:lnTo>
                    <a:pt x="150" y="115"/>
                  </a:lnTo>
                  <a:lnTo>
                    <a:pt x="159" y="117"/>
                  </a:lnTo>
                  <a:lnTo>
                    <a:pt x="169" y="126"/>
                  </a:lnTo>
                  <a:lnTo>
                    <a:pt x="172" y="117"/>
                  </a:lnTo>
                  <a:lnTo>
                    <a:pt x="154" y="108"/>
                  </a:lnTo>
                  <a:lnTo>
                    <a:pt x="135" y="97"/>
                  </a:lnTo>
                  <a:lnTo>
                    <a:pt x="137" y="91"/>
                  </a:lnTo>
                  <a:lnTo>
                    <a:pt x="132" y="89"/>
                  </a:lnTo>
                  <a:lnTo>
                    <a:pt x="113" y="84"/>
                  </a:lnTo>
                  <a:lnTo>
                    <a:pt x="106" y="72"/>
                  </a:lnTo>
                  <a:lnTo>
                    <a:pt x="99" y="61"/>
                  </a:lnTo>
                  <a:lnTo>
                    <a:pt x="84" y="53"/>
                  </a:lnTo>
                  <a:lnTo>
                    <a:pt x="79" y="38"/>
                  </a:lnTo>
                  <a:lnTo>
                    <a:pt x="77" y="30"/>
                  </a:lnTo>
                  <a:lnTo>
                    <a:pt x="89" y="21"/>
                  </a:lnTo>
                  <a:lnTo>
                    <a:pt x="97" y="24"/>
                  </a:lnTo>
                  <a:lnTo>
                    <a:pt x="94" y="13"/>
                  </a:lnTo>
                  <a:lnTo>
                    <a:pt x="96" y="7"/>
                  </a:lnTo>
                  <a:lnTo>
                    <a:pt x="82" y="53"/>
                  </a:lnTo>
                  <a:lnTo>
                    <a:pt x="81" y="53"/>
                  </a:lnTo>
                  <a:lnTo>
                    <a:pt x="81" y="54"/>
                  </a:lnTo>
                  <a:lnTo>
                    <a:pt x="82" y="54"/>
                  </a:lnTo>
                  <a:lnTo>
                    <a:pt x="82" y="53"/>
                  </a:lnTo>
                  <a:lnTo>
                    <a:pt x="96" y="7"/>
                  </a:lnTo>
                  <a:lnTo>
                    <a:pt x="85" y="93"/>
                  </a:lnTo>
                  <a:lnTo>
                    <a:pt x="96" y="7"/>
                  </a:lnTo>
                  <a:close/>
                </a:path>
              </a:pathLst>
            </a:custGeom>
            <a:grpFill/>
            <a:ln w="3175" cmpd="sng">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2" name="Freeform 311"/>
            <p:cNvSpPr>
              <a:spLocks/>
            </p:cNvSpPr>
            <p:nvPr/>
          </p:nvSpPr>
          <p:spPr bwMode="auto">
            <a:xfrm>
              <a:off x="2640" y="1770"/>
              <a:ext cx="189" cy="180"/>
            </a:xfrm>
            <a:custGeom>
              <a:avLst/>
              <a:gdLst/>
              <a:ahLst/>
              <a:cxnLst>
                <a:cxn ang="0">
                  <a:pos x="96" y="7"/>
                </a:cxn>
                <a:cxn ang="0">
                  <a:pos x="75" y="0"/>
                </a:cxn>
                <a:cxn ang="0">
                  <a:pos x="59" y="2"/>
                </a:cxn>
                <a:cxn ang="0">
                  <a:pos x="51" y="1"/>
                </a:cxn>
                <a:cxn ang="0">
                  <a:pos x="51" y="2"/>
                </a:cxn>
                <a:cxn ang="0">
                  <a:pos x="47" y="6"/>
                </a:cxn>
                <a:cxn ang="0">
                  <a:pos x="45" y="11"/>
                </a:cxn>
                <a:cxn ang="0">
                  <a:pos x="34" y="11"/>
                </a:cxn>
                <a:cxn ang="0">
                  <a:pos x="29" y="18"/>
                </a:cxn>
                <a:cxn ang="0">
                  <a:pos x="19" y="11"/>
                </a:cxn>
                <a:cxn ang="0">
                  <a:pos x="11" y="17"/>
                </a:cxn>
                <a:cxn ang="0">
                  <a:pos x="3" y="18"/>
                </a:cxn>
                <a:cxn ang="0">
                  <a:pos x="3" y="25"/>
                </a:cxn>
                <a:cxn ang="0">
                  <a:pos x="0" y="32"/>
                </a:cxn>
                <a:cxn ang="0">
                  <a:pos x="0" y="37"/>
                </a:cxn>
                <a:cxn ang="0">
                  <a:pos x="1" y="43"/>
                </a:cxn>
                <a:cxn ang="0">
                  <a:pos x="11" y="49"/>
                </a:cxn>
                <a:cxn ang="0">
                  <a:pos x="11" y="56"/>
                </a:cxn>
                <a:cxn ang="0">
                  <a:pos x="24" y="47"/>
                </a:cxn>
                <a:cxn ang="0">
                  <a:pos x="43" y="50"/>
                </a:cxn>
                <a:cxn ang="0">
                  <a:pos x="54" y="68"/>
                </a:cxn>
                <a:cxn ang="0">
                  <a:pos x="67" y="80"/>
                </a:cxn>
                <a:cxn ang="0">
                  <a:pos x="81" y="92"/>
                </a:cxn>
                <a:cxn ang="0">
                  <a:pos x="84" y="95"/>
                </a:cxn>
                <a:cxn ang="0">
                  <a:pos x="85" y="95"/>
                </a:cxn>
                <a:cxn ang="0">
                  <a:pos x="96" y="99"/>
                </a:cxn>
                <a:cxn ang="0">
                  <a:pos x="114" y="111"/>
                </a:cxn>
                <a:cxn ang="0">
                  <a:pos x="123" y="116"/>
                </a:cxn>
                <a:cxn ang="0">
                  <a:pos x="130" y="122"/>
                </a:cxn>
                <a:cxn ang="0">
                  <a:pos x="139" y="140"/>
                </a:cxn>
                <a:cxn ang="0">
                  <a:pos x="133" y="156"/>
                </a:cxn>
                <a:cxn ang="0">
                  <a:pos x="141" y="161"/>
                </a:cxn>
                <a:cxn ang="0">
                  <a:pos x="147" y="149"/>
                </a:cxn>
                <a:cxn ang="0">
                  <a:pos x="153" y="141"/>
                </a:cxn>
                <a:cxn ang="0">
                  <a:pos x="155" y="138"/>
                </a:cxn>
                <a:cxn ang="0">
                  <a:pos x="147" y="129"/>
                </a:cxn>
                <a:cxn ang="0">
                  <a:pos x="150" y="115"/>
                </a:cxn>
                <a:cxn ang="0">
                  <a:pos x="159" y="117"/>
                </a:cxn>
                <a:cxn ang="0">
                  <a:pos x="169" y="126"/>
                </a:cxn>
                <a:cxn ang="0">
                  <a:pos x="172" y="117"/>
                </a:cxn>
                <a:cxn ang="0">
                  <a:pos x="154" y="108"/>
                </a:cxn>
                <a:cxn ang="0">
                  <a:pos x="135" y="97"/>
                </a:cxn>
                <a:cxn ang="0">
                  <a:pos x="137" y="91"/>
                </a:cxn>
                <a:cxn ang="0">
                  <a:pos x="132" y="89"/>
                </a:cxn>
                <a:cxn ang="0">
                  <a:pos x="113" y="84"/>
                </a:cxn>
                <a:cxn ang="0">
                  <a:pos x="106" y="72"/>
                </a:cxn>
                <a:cxn ang="0">
                  <a:pos x="99" y="61"/>
                </a:cxn>
                <a:cxn ang="0">
                  <a:pos x="84" y="53"/>
                </a:cxn>
                <a:cxn ang="0">
                  <a:pos x="79" y="38"/>
                </a:cxn>
                <a:cxn ang="0">
                  <a:pos x="77" y="30"/>
                </a:cxn>
                <a:cxn ang="0">
                  <a:pos x="89" y="21"/>
                </a:cxn>
                <a:cxn ang="0">
                  <a:pos x="97" y="24"/>
                </a:cxn>
                <a:cxn ang="0">
                  <a:pos x="94" y="13"/>
                </a:cxn>
                <a:cxn ang="0">
                  <a:pos x="96" y="7"/>
                </a:cxn>
              </a:cxnLst>
              <a:rect l="0" t="0" r="r" b="b"/>
              <a:pathLst>
                <a:path w="172" h="161">
                  <a:moveTo>
                    <a:pt x="96" y="7"/>
                  </a:moveTo>
                  <a:lnTo>
                    <a:pt x="75" y="0"/>
                  </a:lnTo>
                  <a:lnTo>
                    <a:pt x="59" y="2"/>
                  </a:lnTo>
                  <a:lnTo>
                    <a:pt x="51" y="1"/>
                  </a:lnTo>
                  <a:lnTo>
                    <a:pt x="51" y="2"/>
                  </a:lnTo>
                  <a:lnTo>
                    <a:pt x="47" y="6"/>
                  </a:lnTo>
                  <a:lnTo>
                    <a:pt x="45" y="11"/>
                  </a:lnTo>
                  <a:lnTo>
                    <a:pt x="34" y="11"/>
                  </a:lnTo>
                  <a:lnTo>
                    <a:pt x="29" y="18"/>
                  </a:lnTo>
                  <a:lnTo>
                    <a:pt x="19" y="11"/>
                  </a:lnTo>
                  <a:lnTo>
                    <a:pt x="11" y="17"/>
                  </a:lnTo>
                  <a:lnTo>
                    <a:pt x="3" y="18"/>
                  </a:lnTo>
                  <a:lnTo>
                    <a:pt x="3" y="25"/>
                  </a:lnTo>
                  <a:lnTo>
                    <a:pt x="0" y="32"/>
                  </a:lnTo>
                  <a:lnTo>
                    <a:pt x="0" y="37"/>
                  </a:lnTo>
                  <a:lnTo>
                    <a:pt x="1" y="43"/>
                  </a:lnTo>
                  <a:lnTo>
                    <a:pt x="11" y="49"/>
                  </a:lnTo>
                  <a:lnTo>
                    <a:pt x="11" y="56"/>
                  </a:lnTo>
                  <a:lnTo>
                    <a:pt x="24" y="47"/>
                  </a:lnTo>
                  <a:lnTo>
                    <a:pt x="43" y="50"/>
                  </a:lnTo>
                  <a:lnTo>
                    <a:pt x="54" y="68"/>
                  </a:lnTo>
                  <a:lnTo>
                    <a:pt x="67" y="80"/>
                  </a:lnTo>
                  <a:lnTo>
                    <a:pt x="81" y="92"/>
                  </a:lnTo>
                  <a:lnTo>
                    <a:pt x="84" y="95"/>
                  </a:lnTo>
                  <a:lnTo>
                    <a:pt x="85" y="95"/>
                  </a:lnTo>
                  <a:lnTo>
                    <a:pt x="96" y="99"/>
                  </a:lnTo>
                  <a:lnTo>
                    <a:pt x="114" y="111"/>
                  </a:lnTo>
                  <a:lnTo>
                    <a:pt x="123" y="116"/>
                  </a:lnTo>
                  <a:lnTo>
                    <a:pt x="130" y="122"/>
                  </a:lnTo>
                  <a:lnTo>
                    <a:pt x="139" y="140"/>
                  </a:lnTo>
                  <a:lnTo>
                    <a:pt x="133" y="156"/>
                  </a:lnTo>
                  <a:lnTo>
                    <a:pt x="141" y="161"/>
                  </a:lnTo>
                  <a:lnTo>
                    <a:pt x="147" y="149"/>
                  </a:lnTo>
                  <a:lnTo>
                    <a:pt x="153" y="141"/>
                  </a:lnTo>
                  <a:lnTo>
                    <a:pt x="155" y="138"/>
                  </a:lnTo>
                  <a:lnTo>
                    <a:pt x="147" y="129"/>
                  </a:lnTo>
                  <a:lnTo>
                    <a:pt x="150" y="115"/>
                  </a:lnTo>
                  <a:lnTo>
                    <a:pt x="159" y="117"/>
                  </a:lnTo>
                  <a:lnTo>
                    <a:pt x="169" y="126"/>
                  </a:lnTo>
                  <a:lnTo>
                    <a:pt x="172" y="117"/>
                  </a:lnTo>
                  <a:lnTo>
                    <a:pt x="154" y="108"/>
                  </a:lnTo>
                  <a:lnTo>
                    <a:pt x="135" y="97"/>
                  </a:lnTo>
                  <a:lnTo>
                    <a:pt x="137" y="91"/>
                  </a:lnTo>
                  <a:lnTo>
                    <a:pt x="132" y="89"/>
                  </a:lnTo>
                  <a:lnTo>
                    <a:pt x="113" y="84"/>
                  </a:lnTo>
                  <a:lnTo>
                    <a:pt x="106" y="72"/>
                  </a:lnTo>
                  <a:lnTo>
                    <a:pt x="99" y="61"/>
                  </a:lnTo>
                  <a:lnTo>
                    <a:pt x="84" y="53"/>
                  </a:lnTo>
                  <a:lnTo>
                    <a:pt x="79" y="38"/>
                  </a:lnTo>
                  <a:lnTo>
                    <a:pt x="77" y="30"/>
                  </a:lnTo>
                  <a:lnTo>
                    <a:pt x="89" y="21"/>
                  </a:lnTo>
                  <a:lnTo>
                    <a:pt x="97" y="24"/>
                  </a:lnTo>
                  <a:lnTo>
                    <a:pt x="94" y="13"/>
                  </a:lnTo>
                  <a:lnTo>
                    <a:pt x="96"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3" name="Rectangle 312"/>
            <p:cNvSpPr>
              <a:spLocks noChangeArrowheads="1"/>
            </p:cNvSpPr>
            <p:nvPr/>
          </p:nvSpPr>
          <p:spPr bwMode="auto">
            <a:xfrm>
              <a:off x="2729" y="1830"/>
              <a:ext cx="0" cy="0"/>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314" name="Freeform 313"/>
            <p:cNvSpPr>
              <a:spLocks/>
            </p:cNvSpPr>
            <p:nvPr/>
          </p:nvSpPr>
          <p:spPr bwMode="auto">
            <a:xfrm>
              <a:off x="2736" y="1941"/>
              <a:ext cx="51" cy="33"/>
            </a:xfrm>
            <a:custGeom>
              <a:avLst/>
              <a:gdLst/>
              <a:ahLst/>
              <a:cxnLst>
                <a:cxn ang="0">
                  <a:pos x="39" y="18"/>
                </a:cxn>
                <a:cxn ang="0">
                  <a:pos x="39" y="29"/>
                </a:cxn>
                <a:cxn ang="0">
                  <a:pos x="21" y="22"/>
                </a:cxn>
                <a:cxn ang="0">
                  <a:pos x="3" y="14"/>
                </a:cxn>
                <a:cxn ang="0">
                  <a:pos x="0" y="5"/>
                </a:cxn>
                <a:cxn ang="0">
                  <a:pos x="13" y="4"/>
                </a:cxn>
                <a:cxn ang="0">
                  <a:pos x="29" y="3"/>
                </a:cxn>
                <a:cxn ang="0">
                  <a:pos x="45" y="0"/>
                </a:cxn>
                <a:cxn ang="0">
                  <a:pos x="39" y="18"/>
                </a:cxn>
              </a:cxnLst>
              <a:rect l="0" t="0" r="r" b="b"/>
              <a:pathLst>
                <a:path w="45" h="29">
                  <a:moveTo>
                    <a:pt x="39" y="18"/>
                  </a:moveTo>
                  <a:lnTo>
                    <a:pt x="39" y="29"/>
                  </a:lnTo>
                  <a:lnTo>
                    <a:pt x="21" y="22"/>
                  </a:lnTo>
                  <a:lnTo>
                    <a:pt x="3" y="14"/>
                  </a:lnTo>
                  <a:lnTo>
                    <a:pt x="0" y="5"/>
                  </a:lnTo>
                  <a:lnTo>
                    <a:pt x="13" y="4"/>
                  </a:lnTo>
                  <a:lnTo>
                    <a:pt x="29" y="3"/>
                  </a:lnTo>
                  <a:lnTo>
                    <a:pt x="45" y="0"/>
                  </a:lnTo>
                  <a:lnTo>
                    <a:pt x="3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5" name="Freeform 314"/>
            <p:cNvSpPr>
              <a:spLocks/>
            </p:cNvSpPr>
            <p:nvPr/>
          </p:nvSpPr>
          <p:spPr bwMode="auto">
            <a:xfrm>
              <a:off x="2664" y="1883"/>
              <a:ext cx="27" cy="47"/>
            </a:xfrm>
            <a:custGeom>
              <a:avLst/>
              <a:gdLst/>
              <a:ahLst/>
              <a:cxnLst>
                <a:cxn ang="0">
                  <a:pos x="13" y="36"/>
                </a:cxn>
                <a:cxn ang="0">
                  <a:pos x="7" y="42"/>
                </a:cxn>
                <a:cxn ang="0">
                  <a:pos x="4" y="32"/>
                </a:cxn>
                <a:cxn ang="0">
                  <a:pos x="1" y="19"/>
                </a:cxn>
                <a:cxn ang="0">
                  <a:pos x="0" y="6"/>
                </a:cxn>
                <a:cxn ang="0">
                  <a:pos x="14" y="0"/>
                </a:cxn>
                <a:cxn ang="0">
                  <a:pos x="24" y="13"/>
                </a:cxn>
                <a:cxn ang="0">
                  <a:pos x="20" y="34"/>
                </a:cxn>
                <a:cxn ang="0">
                  <a:pos x="13" y="36"/>
                </a:cxn>
              </a:cxnLst>
              <a:rect l="0" t="0" r="r" b="b"/>
              <a:pathLst>
                <a:path w="24" h="42">
                  <a:moveTo>
                    <a:pt x="13" y="36"/>
                  </a:moveTo>
                  <a:lnTo>
                    <a:pt x="7" y="42"/>
                  </a:lnTo>
                  <a:lnTo>
                    <a:pt x="4" y="32"/>
                  </a:lnTo>
                  <a:lnTo>
                    <a:pt x="1" y="19"/>
                  </a:lnTo>
                  <a:lnTo>
                    <a:pt x="0" y="6"/>
                  </a:lnTo>
                  <a:lnTo>
                    <a:pt x="14" y="0"/>
                  </a:lnTo>
                  <a:lnTo>
                    <a:pt x="24" y="13"/>
                  </a:lnTo>
                  <a:lnTo>
                    <a:pt x="20" y="34"/>
                  </a:lnTo>
                  <a:lnTo>
                    <a:pt x="13"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6" name="Freeform 315"/>
            <p:cNvSpPr>
              <a:spLocks/>
            </p:cNvSpPr>
            <p:nvPr/>
          </p:nvSpPr>
          <p:spPr bwMode="auto">
            <a:xfrm>
              <a:off x="2649" y="1834"/>
              <a:ext cx="2" cy="2"/>
            </a:xfrm>
            <a:custGeom>
              <a:avLst/>
              <a:gdLst/>
              <a:ahLst/>
              <a:cxnLst>
                <a:cxn ang="0">
                  <a:pos x="1" y="0"/>
                </a:cxn>
                <a:cxn ang="0">
                  <a:pos x="0" y="0"/>
                </a:cxn>
                <a:cxn ang="0">
                  <a:pos x="1" y="0"/>
                </a:cxn>
              </a:cxnLst>
              <a:rect l="0" t="0" r="r" b="b"/>
              <a:pathLst>
                <a:path w="1">
                  <a:moveTo>
                    <a:pt x="1" y="0"/>
                  </a:move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7" name="Freeform 316"/>
            <p:cNvSpPr>
              <a:spLocks/>
            </p:cNvSpPr>
            <p:nvPr/>
          </p:nvSpPr>
          <p:spPr bwMode="auto">
            <a:xfrm>
              <a:off x="2960" y="1867"/>
              <a:ext cx="309" cy="123"/>
            </a:xfrm>
            <a:custGeom>
              <a:avLst/>
              <a:gdLst/>
              <a:ahLst/>
              <a:cxnLst>
                <a:cxn ang="0">
                  <a:pos x="186" y="93"/>
                </a:cxn>
                <a:cxn ang="0">
                  <a:pos x="159" y="96"/>
                </a:cxn>
                <a:cxn ang="0">
                  <a:pos x="151" y="110"/>
                </a:cxn>
                <a:cxn ang="0">
                  <a:pos x="150" y="106"/>
                </a:cxn>
                <a:cxn ang="0">
                  <a:pos x="144" y="95"/>
                </a:cxn>
                <a:cxn ang="0">
                  <a:pos x="123" y="99"/>
                </a:cxn>
                <a:cxn ang="0">
                  <a:pos x="95" y="102"/>
                </a:cxn>
                <a:cxn ang="0">
                  <a:pos x="69" y="100"/>
                </a:cxn>
                <a:cxn ang="0">
                  <a:pos x="47" y="99"/>
                </a:cxn>
                <a:cxn ang="0">
                  <a:pos x="31" y="95"/>
                </a:cxn>
                <a:cxn ang="0">
                  <a:pos x="33" y="90"/>
                </a:cxn>
                <a:cxn ang="0">
                  <a:pos x="23" y="84"/>
                </a:cxn>
                <a:cxn ang="0">
                  <a:pos x="18" y="75"/>
                </a:cxn>
                <a:cxn ang="0">
                  <a:pos x="4" y="63"/>
                </a:cxn>
                <a:cxn ang="0">
                  <a:pos x="12" y="65"/>
                </a:cxn>
                <a:cxn ang="0">
                  <a:pos x="10" y="56"/>
                </a:cxn>
                <a:cxn ang="0">
                  <a:pos x="0" y="45"/>
                </a:cxn>
                <a:cxn ang="0">
                  <a:pos x="16" y="30"/>
                </a:cxn>
                <a:cxn ang="0">
                  <a:pos x="39" y="28"/>
                </a:cxn>
                <a:cxn ang="0">
                  <a:pos x="45" y="22"/>
                </a:cxn>
                <a:cxn ang="0">
                  <a:pos x="65" y="17"/>
                </a:cxn>
                <a:cxn ang="0">
                  <a:pos x="100" y="3"/>
                </a:cxn>
                <a:cxn ang="0">
                  <a:pos x="123" y="2"/>
                </a:cxn>
                <a:cxn ang="0">
                  <a:pos x="139" y="10"/>
                </a:cxn>
                <a:cxn ang="0">
                  <a:pos x="177" y="18"/>
                </a:cxn>
                <a:cxn ang="0">
                  <a:pos x="217" y="9"/>
                </a:cxn>
                <a:cxn ang="0">
                  <a:pos x="245" y="15"/>
                </a:cxn>
                <a:cxn ang="0">
                  <a:pos x="257" y="35"/>
                </a:cxn>
                <a:cxn ang="0">
                  <a:pos x="264" y="46"/>
                </a:cxn>
                <a:cxn ang="0">
                  <a:pos x="269" y="74"/>
                </a:cxn>
                <a:cxn ang="0">
                  <a:pos x="270" y="88"/>
                </a:cxn>
                <a:cxn ang="0">
                  <a:pos x="246" y="84"/>
                </a:cxn>
                <a:cxn ang="0">
                  <a:pos x="238" y="87"/>
                </a:cxn>
                <a:cxn ang="0">
                  <a:pos x="209" y="93"/>
                </a:cxn>
              </a:cxnLst>
              <a:rect l="0" t="0" r="r" b="b"/>
              <a:pathLst>
                <a:path w="279" h="110">
                  <a:moveTo>
                    <a:pt x="209" y="93"/>
                  </a:moveTo>
                  <a:lnTo>
                    <a:pt x="186" y="93"/>
                  </a:lnTo>
                  <a:lnTo>
                    <a:pt x="163" y="94"/>
                  </a:lnTo>
                  <a:lnTo>
                    <a:pt x="159" y="96"/>
                  </a:lnTo>
                  <a:lnTo>
                    <a:pt x="157" y="104"/>
                  </a:lnTo>
                  <a:lnTo>
                    <a:pt x="151" y="110"/>
                  </a:lnTo>
                  <a:lnTo>
                    <a:pt x="150" y="108"/>
                  </a:lnTo>
                  <a:lnTo>
                    <a:pt x="150" y="106"/>
                  </a:lnTo>
                  <a:lnTo>
                    <a:pt x="151" y="92"/>
                  </a:lnTo>
                  <a:lnTo>
                    <a:pt x="144" y="95"/>
                  </a:lnTo>
                  <a:lnTo>
                    <a:pt x="135" y="95"/>
                  </a:lnTo>
                  <a:lnTo>
                    <a:pt x="123" y="99"/>
                  </a:lnTo>
                  <a:lnTo>
                    <a:pt x="107" y="106"/>
                  </a:lnTo>
                  <a:lnTo>
                    <a:pt x="95" y="102"/>
                  </a:lnTo>
                  <a:lnTo>
                    <a:pt x="71" y="93"/>
                  </a:lnTo>
                  <a:lnTo>
                    <a:pt x="69" y="100"/>
                  </a:lnTo>
                  <a:lnTo>
                    <a:pt x="61" y="104"/>
                  </a:lnTo>
                  <a:lnTo>
                    <a:pt x="47" y="99"/>
                  </a:lnTo>
                  <a:lnTo>
                    <a:pt x="40" y="94"/>
                  </a:lnTo>
                  <a:lnTo>
                    <a:pt x="31" y="95"/>
                  </a:lnTo>
                  <a:lnTo>
                    <a:pt x="24" y="95"/>
                  </a:lnTo>
                  <a:lnTo>
                    <a:pt x="33" y="90"/>
                  </a:lnTo>
                  <a:lnTo>
                    <a:pt x="22" y="89"/>
                  </a:lnTo>
                  <a:lnTo>
                    <a:pt x="23" y="84"/>
                  </a:lnTo>
                  <a:lnTo>
                    <a:pt x="16" y="78"/>
                  </a:lnTo>
                  <a:lnTo>
                    <a:pt x="18" y="75"/>
                  </a:lnTo>
                  <a:lnTo>
                    <a:pt x="5" y="69"/>
                  </a:lnTo>
                  <a:lnTo>
                    <a:pt x="4" y="63"/>
                  </a:lnTo>
                  <a:lnTo>
                    <a:pt x="7" y="63"/>
                  </a:lnTo>
                  <a:lnTo>
                    <a:pt x="12" y="65"/>
                  </a:lnTo>
                  <a:lnTo>
                    <a:pt x="10" y="58"/>
                  </a:lnTo>
                  <a:lnTo>
                    <a:pt x="10" y="56"/>
                  </a:lnTo>
                  <a:lnTo>
                    <a:pt x="9" y="46"/>
                  </a:lnTo>
                  <a:lnTo>
                    <a:pt x="0" y="45"/>
                  </a:lnTo>
                  <a:lnTo>
                    <a:pt x="1" y="33"/>
                  </a:lnTo>
                  <a:lnTo>
                    <a:pt x="16" y="30"/>
                  </a:lnTo>
                  <a:lnTo>
                    <a:pt x="21" y="27"/>
                  </a:lnTo>
                  <a:lnTo>
                    <a:pt x="39" y="28"/>
                  </a:lnTo>
                  <a:lnTo>
                    <a:pt x="49" y="23"/>
                  </a:lnTo>
                  <a:lnTo>
                    <a:pt x="45" y="22"/>
                  </a:lnTo>
                  <a:lnTo>
                    <a:pt x="37" y="16"/>
                  </a:lnTo>
                  <a:lnTo>
                    <a:pt x="65" y="17"/>
                  </a:lnTo>
                  <a:lnTo>
                    <a:pt x="85" y="4"/>
                  </a:lnTo>
                  <a:lnTo>
                    <a:pt x="100" y="3"/>
                  </a:lnTo>
                  <a:lnTo>
                    <a:pt x="114" y="0"/>
                  </a:lnTo>
                  <a:lnTo>
                    <a:pt x="123" y="2"/>
                  </a:lnTo>
                  <a:lnTo>
                    <a:pt x="133" y="6"/>
                  </a:lnTo>
                  <a:lnTo>
                    <a:pt x="139" y="10"/>
                  </a:lnTo>
                  <a:lnTo>
                    <a:pt x="159" y="15"/>
                  </a:lnTo>
                  <a:lnTo>
                    <a:pt x="177" y="18"/>
                  </a:lnTo>
                  <a:lnTo>
                    <a:pt x="196" y="20"/>
                  </a:lnTo>
                  <a:lnTo>
                    <a:pt x="217" y="9"/>
                  </a:lnTo>
                  <a:lnTo>
                    <a:pt x="235" y="8"/>
                  </a:lnTo>
                  <a:lnTo>
                    <a:pt x="245" y="15"/>
                  </a:lnTo>
                  <a:lnTo>
                    <a:pt x="251" y="26"/>
                  </a:lnTo>
                  <a:lnTo>
                    <a:pt x="257" y="35"/>
                  </a:lnTo>
                  <a:lnTo>
                    <a:pt x="270" y="41"/>
                  </a:lnTo>
                  <a:lnTo>
                    <a:pt x="264" y="46"/>
                  </a:lnTo>
                  <a:lnTo>
                    <a:pt x="265" y="56"/>
                  </a:lnTo>
                  <a:lnTo>
                    <a:pt x="269" y="74"/>
                  </a:lnTo>
                  <a:lnTo>
                    <a:pt x="279" y="87"/>
                  </a:lnTo>
                  <a:lnTo>
                    <a:pt x="270" y="88"/>
                  </a:lnTo>
                  <a:lnTo>
                    <a:pt x="267" y="84"/>
                  </a:lnTo>
                  <a:lnTo>
                    <a:pt x="246" y="84"/>
                  </a:lnTo>
                  <a:lnTo>
                    <a:pt x="243" y="88"/>
                  </a:lnTo>
                  <a:lnTo>
                    <a:pt x="238" y="87"/>
                  </a:lnTo>
                  <a:lnTo>
                    <a:pt x="223" y="89"/>
                  </a:lnTo>
                  <a:lnTo>
                    <a:pt x="209" y="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8" name="Freeform 317"/>
            <p:cNvSpPr>
              <a:spLocks/>
            </p:cNvSpPr>
            <p:nvPr/>
          </p:nvSpPr>
          <p:spPr bwMode="auto">
            <a:xfrm>
              <a:off x="2953" y="1867"/>
              <a:ext cx="47" cy="36"/>
            </a:xfrm>
            <a:custGeom>
              <a:avLst/>
              <a:gdLst/>
              <a:ahLst/>
              <a:cxnLst>
                <a:cxn ang="0">
                  <a:pos x="5" y="2"/>
                </a:cxn>
                <a:cxn ang="0">
                  <a:pos x="3" y="5"/>
                </a:cxn>
                <a:cxn ang="0">
                  <a:pos x="6" y="12"/>
                </a:cxn>
                <a:cxn ang="0">
                  <a:pos x="0" y="23"/>
                </a:cxn>
                <a:cxn ang="0">
                  <a:pos x="10" y="24"/>
                </a:cxn>
                <a:cxn ang="0">
                  <a:pos x="5" y="33"/>
                </a:cxn>
                <a:cxn ang="0">
                  <a:pos x="21" y="21"/>
                </a:cxn>
                <a:cxn ang="0">
                  <a:pos x="43" y="17"/>
                </a:cxn>
                <a:cxn ang="0">
                  <a:pos x="36" y="12"/>
                </a:cxn>
                <a:cxn ang="0">
                  <a:pos x="27" y="0"/>
                </a:cxn>
                <a:cxn ang="0">
                  <a:pos x="5" y="2"/>
                </a:cxn>
              </a:cxnLst>
              <a:rect l="0" t="0" r="r" b="b"/>
              <a:pathLst>
                <a:path w="43" h="33">
                  <a:moveTo>
                    <a:pt x="5" y="2"/>
                  </a:moveTo>
                  <a:lnTo>
                    <a:pt x="3" y="5"/>
                  </a:lnTo>
                  <a:lnTo>
                    <a:pt x="6" y="12"/>
                  </a:lnTo>
                  <a:lnTo>
                    <a:pt x="0" y="23"/>
                  </a:lnTo>
                  <a:lnTo>
                    <a:pt x="10" y="24"/>
                  </a:lnTo>
                  <a:lnTo>
                    <a:pt x="5" y="33"/>
                  </a:lnTo>
                  <a:lnTo>
                    <a:pt x="21" y="21"/>
                  </a:lnTo>
                  <a:lnTo>
                    <a:pt x="43" y="17"/>
                  </a:lnTo>
                  <a:lnTo>
                    <a:pt x="36" y="12"/>
                  </a:lnTo>
                  <a:lnTo>
                    <a:pt x="27"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9" name="Freeform 318"/>
            <p:cNvSpPr>
              <a:spLocks/>
            </p:cNvSpPr>
            <p:nvPr/>
          </p:nvSpPr>
          <p:spPr bwMode="auto">
            <a:xfrm>
              <a:off x="2876" y="1596"/>
              <a:ext cx="137" cy="87"/>
            </a:xfrm>
            <a:custGeom>
              <a:avLst/>
              <a:gdLst/>
              <a:ahLst/>
              <a:cxnLst>
                <a:cxn ang="0">
                  <a:pos x="122" y="42"/>
                </a:cxn>
                <a:cxn ang="0">
                  <a:pos x="117" y="47"/>
                </a:cxn>
                <a:cxn ang="0">
                  <a:pos x="121" y="62"/>
                </a:cxn>
                <a:cxn ang="0">
                  <a:pos x="104" y="71"/>
                </a:cxn>
                <a:cxn ang="0">
                  <a:pos x="105" y="78"/>
                </a:cxn>
                <a:cxn ang="0">
                  <a:pos x="81" y="73"/>
                </a:cxn>
                <a:cxn ang="0">
                  <a:pos x="57" y="68"/>
                </a:cxn>
                <a:cxn ang="0">
                  <a:pos x="35" y="68"/>
                </a:cxn>
                <a:cxn ang="0">
                  <a:pos x="11" y="68"/>
                </a:cxn>
                <a:cxn ang="0">
                  <a:pos x="2" y="63"/>
                </a:cxn>
                <a:cxn ang="0">
                  <a:pos x="12" y="51"/>
                </a:cxn>
                <a:cxn ang="0">
                  <a:pos x="0" y="30"/>
                </a:cxn>
                <a:cxn ang="0">
                  <a:pos x="21" y="15"/>
                </a:cxn>
                <a:cxn ang="0">
                  <a:pos x="41" y="2"/>
                </a:cxn>
                <a:cxn ang="0">
                  <a:pos x="60" y="0"/>
                </a:cxn>
                <a:cxn ang="0">
                  <a:pos x="80" y="3"/>
                </a:cxn>
                <a:cxn ang="0">
                  <a:pos x="102" y="7"/>
                </a:cxn>
                <a:cxn ang="0">
                  <a:pos x="104" y="26"/>
                </a:cxn>
                <a:cxn ang="0">
                  <a:pos x="122" y="42"/>
                </a:cxn>
              </a:cxnLst>
              <a:rect l="0" t="0" r="r" b="b"/>
              <a:pathLst>
                <a:path w="122" h="78">
                  <a:moveTo>
                    <a:pt x="122" y="42"/>
                  </a:moveTo>
                  <a:lnTo>
                    <a:pt x="117" y="47"/>
                  </a:lnTo>
                  <a:lnTo>
                    <a:pt x="121" y="62"/>
                  </a:lnTo>
                  <a:lnTo>
                    <a:pt x="104" y="71"/>
                  </a:lnTo>
                  <a:lnTo>
                    <a:pt x="105" y="78"/>
                  </a:lnTo>
                  <a:lnTo>
                    <a:pt x="81" y="73"/>
                  </a:lnTo>
                  <a:lnTo>
                    <a:pt x="57" y="68"/>
                  </a:lnTo>
                  <a:lnTo>
                    <a:pt x="35" y="68"/>
                  </a:lnTo>
                  <a:lnTo>
                    <a:pt x="11" y="68"/>
                  </a:lnTo>
                  <a:lnTo>
                    <a:pt x="2" y="63"/>
                  </a:lnTo>
                  <a:lnTo>
                    <a:pt x="12" y="51"/>
                  </a:lnTo>
                  <a:lnTo>
                    <a:pt x="0" y="30"/>
                  </a:lnTo>
                  <a:lnTo>
                    <a:pt x="21" y="15"/>
                  </a:lnTo>
                  <a:lnTo>
                    <a:pt x="41" y="2"/>
                  </a:lnTo>
                  <a:lnTo>
                    <a:pt x="60" y="0"/>
                  </a:lnTo>
                  <a:lnTo>
                    <a:pt x="80" y="3"/>
                  </a:lnTo>
                  <a:lnTo>
                    <a:pt x="102" y="7"/>
                  </a:lnTo>
                  <a:lnTo>
                    <a:pt x="104" y="26"/>
                  </a:lnTo>
                  <a:lnTo>
                    <a:pt x="122"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0" name="Freeform 319"/>
            <p:cNvSpPr>
              <a:spLocks/>
            </p:cNvSpPr>
            <p:nvPr/>
          </p:nvSpPr>
          <p:spPr bwMode="auto">
            <a:xfrm>
              <a:off x="2653" y="1581"/>
              <a:ext cx="34" cy="40"/>
            </a:xfrm>
            <a:custGeom>
              <a:avLst/>
              <a:gdLst/>
              <a:ahLst/>
              <a:cxnLst>
                <a:cxn ang="0">
                  <a:pos x="18" y="31"/>
                </a:cxn>
                <a:cxn ang="0">
                  <a:pos x="17" y="36"/>
                </a:cxn>
                <a:cxn ang="0">
                  <a:pos x="6" y="34"/>
                </a:cxn>
                <a:cxn ang="0">
                  <a:pos x="4" y="31"/>
                </a:cxn>
                <a:cxn ang="0">
                  <a:pos x="0" y="23"/>
                </a:cxn>
                <a:cxn ang="0">
                  <a:pos x="0" y="6"/>
                </a:cxn>
                <a:cxn ang="0">
                  <a:pos x="7" y="5"/>
                </a:cxn>
                <a:cxn ang="0">
                  <a:pos x="10" y="6"/>
                </a:cxn>
                <a:cxn ang="0">
                  <a:pos x="11" y="3"/>
                </a:cxn>
                <a:cxn ang="0">
                  <a:pos x="21" y="0"/>
                </a:cxn>
                <a:cxn ang="0">
                  <a:pos x="24" y="6"/>
                </a:cxn>
                <a:cxn ang="0">
                  <a:pos x="31" y="7"/>
                </a:cxn>
                <a:cxn ang="0">
                  <a:pos x="29" y="13"/>
                </a:cxn>
                <a:cxn ang="0">
                  <a:pos x="19" y="21"/>
                </a:cxn>
                <a:cxn ang="0">
                  <a:pos x="19" y="23"/>
                </a:cxn>
                <a:cxn ang="0">
                  <a:pos x="18" y="31"/>
                </a:cxn>
              </a:cxnLst>
              <a:rect l="0" t="0" r="r" b="b"/>
              <a:pathLst>
                <a:path w="31" h="36">
                  <a:moveTo>
                    <a:pt x="18" y="31"/>
                  </a:moveTo>
                  <a:lnTo>
                    <a:pt x="17" y="36"/>
                  </a:lnTo>
                  <a:lnTo>
                    <a:pt x="6" y="34"/>
                  </a:lnTo>
                  <a:lnTo>
                    <a:pt x="4" y="31"/>
                  </a:lnTo>
                  <a:lnTo>
                    <a:pt x="0" y="23"/>
                  </a:lnTo>
                  <a:lnTo>
                    <a:pt x="0" y="6"/>
                  </a:lnTo>
                  <a:lnTo>
                    <a:pt x="7" y="5"/>
                  </a:lnTo>
                  <a:lnTo>
                    <a:pt x="10" y="6"/>
                  </a:lnTo>
                  <a:lnTo>
                    <a:pt x="11" y="3"/>
                  </a:lnTo>
                  <a:lnTo>
                    <a:pt x="21" y="0"/>
                  </a:lnTo>
                  <a:lnTo>
                    <a:pt x="24" y="6"/>
                  </a:lnTo>
                  <a:lnTo>
                    <a:pt x="31" y="7"/>
                  </a:lnTo>
                  <a:lnTo>
                    <a:pt x="29" y="13"/>
                  </a:lnTo>
                  <a:lnTo>
                    <a:pt x="19" y="21"/>
                  </a:lnTo>
                  <a:lnTo>
                    <a:pt x="19" y="23"/>
                  </a:lnTo>
                  <a:lnTo>
                    <a:pt x="18" y="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1" name="Freeform 320"/>
            <p:cNvSpPr>
              <a:spLocks/>
            </p:cNvSpPr>
            <p:nvPr/>
          </p:nvSpPr>
          <p:spPr bwMode="auto">
            <a:xfrm>
              <a:off x="2693" y="1596"/>
              <a:ext cx="23" cy="20"/>
            </a:xfrm>
            <a:custGeom>
              <a:avLst/>
              <a:gdLst/>
              <a:ahLst/>
              <a:cxnLst>
                <a:cxn ang="0">
                  <a:pos x="20" y="6"/>
                </a:cxn>
                <a:cxn ang="0">
                  <a:pos x="18" y="2"/>
                </a:cxn>
                <a:cxn ang="0">
                  <a:pos x="14" y="0"/>
                </a:cxn>
                <a:cxn ang="0">
                  <a:pos x="12" y="6"/>
                </a:cxn>
                <a:cxn ang="0">
                  <a:pos x="9" y="4"/>
                </a:cxn>
                <a:cxn ang="0">
                  <a:pos x="3" y="2"/>
                </a:cxn>
                <a:cxn ang="0">
                  <a:pos x="0" y="6"/>
                </a:cxn>
                <a:cxn ang="0">
                  <a:pos x="0" y="9"/>
                </a:cxn>
                <a:cxn ang="0">
                  <a:pos x="11" y="18"/>
                </a:cxn>
                <a:cxn ang="0">
                  <a:pos x="15" y="14"/>
                </a:cxn>
                <a:cxn ang="0">
                  <a:pos x="15" y="10"/>
                </a:cxn>
                <a:cxn ang="0">
                  <a:pos x="20" y="6"/>
                </a:cxn>
              </a:cxnLst>
              <a:rect l="0" t="0" r="r" b="b"/>
              <a:pathLst>
                <a:path w="20" h="18">
                  <a:moveTo>
                    <a:pt x="20" y="6"/>
                  </a:moveTo>
                  <a:lnTo>
                    <a:pt x="18" y="2"/>
                  </a:lnTo>
                  <a:lnTo>
                    <a:pt x="14" y="0"/>
                  </a:lnTo>
                  <a:lnTo>
                    <a:pt x="12" y="6"/>
                  </a:lnTo>
                  <a:lnTo>
                    <a:pt x="9" y="4"/>
                  </a:lnTo>
                  <a:lnTo>
                    <a:pt x="3" y="2"/>
                  </a:lnTo>
                  <a:lnTo>
                    <a:pt x="0" y="6"/>
                  </a:lnTo>
                  <a:lnTo>
                    <a:pt x="0" y="9"/>
                  </a:lnTo>
                  <a:lnTo>
                    <a:pt x="11" y="18"/>
                  </a:lnTo>
                  <a:lnTo>
                    <a:pt x="15" y="14"/>
                  </a:lnTo>
                  <a:lnTo>
                    <a:pt x="15" y="10"/>
                  </a:lnTo>
                  <a:lnTo>
                    <a:pt x="2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2" name="Freeform 321"/>
            <p:cNvSpPr>
              <a:spLocks/>
            </p:cNvSpPr>
            <p:nvPr/>
          </p:nvSpPr>
          <p:spPr bwMode="auto">
            <a:xfrm>
              <a:off x="2653" y="1565"/>
              <a:ext cx="31" cy="20"/>
            </a:xfrm>
            <a:custGeom>
              <a:avLst/>
              <a:gdLst/>
              <a:ahLst/>
              <a:cxnLst>
                <a:cxn ang="0">
                  <a:pos x="23" y="12"/>
                </a:cxn>
                <a:cxn ang="0">
                  <a:pos x="3" y="13"/>
                </a:cxn>
                <a:cxn ang="0">
                  <a:pos x="0" y="18"/>
                </a:cxn>
                <a:cxn ang="0">
                  <a:pos x="2" y="11"/>
                </a:cxn>
                <a:cxn ang="0">
                  <a:pos x="15" y="8"/>
                </a:cxn>
                <a:cxn ang="0">
                  <a:pos x="28" y="0"/>
                </a:cxn>
                <a:cxn ang="0">
                  <a:pos x="23" y="12"/>
                </a:cxn>
              </a:cxnLst>
              <a:rect l="0" t="0" r="r" b="b"/>
              <a:pathLst>
                <a:path w="28" h="18">
                  <a:moveTo>
                    <a:pt x="23" y="12"/>
                  </a:moveTo>
                  <a:lnTo>
                    <a:pt x="3" y="13"/>
                  </a:lnTo>
                  <a:lnTo>
                    <a:pt x="0" y="18"/>
                  </a:lnTo>
                  <a:lnTo>
                    <a:pt x="2" y="11"/>
                  </a:lnTo>
                  <a:lnTo>
                    <a:pt x="15" y="8"/>
                  </a:lnTo>
                  <a:lnTo>
                    <a:pt x="28" y="0"/>
                  </a:lnTo>
                  <a:lnTo>
                    <a:pt x="23"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3" name="Freeform 322"/>
            <p:cNvSpPr>
              <a:spLocks/>
            </p:cNvSpPr>
            <p:nvPr/>
          </p:nvSpPr>
          <p:spPr bwMode="auto">
            <a:xfrm>
              <a:off x="2676" y="1608"/>
              <a:ext cx="13" cy="8"/>
            </a:xfrm>
            <a:custGeom>
              <a:avLst/>
              <a:gdLst/>
              <a:ahLst/>
              <a:cxnLst>
                <a:cxn ang="0">
                  <a:pos x="13" y="4"/>
                </a:cxn>
                <a:cxn ang="0">
                  <a:pos x="9" y="0"/>
                </a:cxn>
                <a:cxn ang="0">
                  <a:pos x="0" y="1"/>
                </a:cxn>
                <a:cxn ang="0">
                  <a:pos x="9" y="9"/>
                </a:cxn>
                <a:cxn ang="0">
                  <a:pos x="13" y="4"/>
                </a:cxn>
              </a:cxnLst>
              <a:rect l="0" t="0" r="r" b="b"/>
              <a:pathLst>
                <a:path w="13" h="9">
                  <a:moveTo>
                    <a:pt x="13" y="4"/>
                  </a:moveTo>
                  <a:lnTo>
                    <a:pt x="9" y="0"/>
                  </a:lnTo>
                  <a:lnTo>
                    <a:pt x="0" y="1"/>
                  </a:lnTo>
                  <a:lnTo>
                    <a:pt x="9" y="9"/>
                  </a:lnTo>
                  <a:lnTo>
                    <a:pt x="13"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4" name="Freeform 323"/>
            <p:cNvSpPr>
              <a:spLocks/>
            </p:cNvSpPr>
            <p:nvPr/>
          </p:nvSpPr>
          <p:spPr bwMode="auto">
            <a:xfrm>
              <a:off x="2707" y="1616"/>
              <a:ext cx="2" cy="5"/>
            </a:xfrm>
            <a:custGeom>
              <a:avLst/>
              <a:gdLst/>
              <a:ahLst/>
              <a:cxnLst>
                <a:cxn ang="0">
                  <a:pos x="3" y="1"/>
                </a:cxn>
                <a:cxn ang="0">
                  <a:pos x="0" y="0"/>
                </a:cxn>
                <a:cxn ang="0">
                  <a:pos x="0" y="3"/>
                </a:cxn>
                <a:cxn ang="0">
                  <a:pos x="3" y="1"/>
                </a:cxn>
              </a:cxnLst>
              <a:rect l="0" t="0" r="r" b="b"/>
              <a:pathLst>
                <a:path w="3" h="3">
                  <a:moveTo>
                    <a:pt x="3" y="1"/>
                  </a:moveTo>
                  <a:lnTo>
                    <a:pt x="0" y="0"/>
                  </a:lnTo>
                  <a:lnTo>
                    <a:pt x="0" y="3"/>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5" name="Freeform 324"/>
            <p:cNvSpPr>
              <a:spLocks/>
            </p:cNvSpPr>
            <p:nvPr/>
          </p:nvSpPr>
          <p:spPr bwMode="auto">
            <a:xfrm>
              <a:off x="2864" y="1532"/>
              <a:ext cx="65" cy="31"/>
            </a:xfrm>
            <a:custGeom>
              <a:avLst/>
              <a:gdLst/>
              <a:ahLst/>
              <a:cxnLst>
                <a:cxn ang="0">
                  <a:pos x="59" y="17"/>
                </a:cxn>
                <a:cxn ang="0">
                  <a:pos x="55" y="2"/>
                </a:cxn>
                <a:cxn ang="0">
                  <a:pos x="24" y="0"/>
                </a:cxn>
                <a:cxn ang="0">
                  <a:pos x="0" y="6"/>
                </a:cxn>
                <a:cxn ang="0">
                  <a:pos x="2" y="12"/>
                </a:cxn>
                <a:cxn ang="0">
                  <a:pos x="11" y="22"/>
                </a:cxn>
                <a:cxn ang="0">
                  <a:pos x="16" y="22"/>
                </a:cxn>
                <a:cxn ang="0">
                  <a:pos x="34" y="24"/>
                </a:cxn>
                <a:cxn ang="0">
                  <a:pos x="53" y="28"/>
                </a:cxn>
                <a:cxn ang="0">
                  <a:pos x="59" y="17"/>
                </a:cxn>
              </a:cxnLst>
              <a:rect l="0" t="0" r="r" b="b"/>
              <a:pathLst>
                <a:path w="59" h="28">
                  <a:moveTo>
                    <a:pt x="59" y="17"/>
                  </a:moveTo>
                  <a:lnTo>
                    <a:pt x="55" y="2"/>
                  </a:lnTo>
                  <a:lnTo>
                    <a:pt x="24" y="0"/>
                  </a:lnTo>
                  <a:lnTo>
                    <a:pt x="0" y="6"/>
                  </a:lnTo>
                  <a:lnTo>
                    <a:pt x="2" y="12"/>
                  </a:lnTo>
                  <a:lnTo>
                    <a:pt x="11" y="22"/>
                  </a:lnTo>
                  <a:lnTo>
                    <a:pt x="16" y="22"/>
                  </a:lnTo>
                  <a:lnTo>
                    <a:pt x="34" y="24"/>
                  </a:lnTo>
                  <a:lnTo>
                    <a:pt x="53" y="28"/>
                  </a:lnTo>
                  <a:lnTo>
                    <a:pt x="59"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6" name="Freeform 325"/>
            <p:cNvSpPr>
              <a:spLocks/>
            </p:cNvSpPr>
            <p:nvPr/>
          </p:nvSpPr>
          <p:spPr bwMode="auto">
            <a:xfrm>
              <a:off x="2836" y="1556"/>
              <a:ext cx="106" cy="45"/>
            </a:xfrm>
            <a:custGeom>
              <a:avLst/>
              <a:gdLst/>
              <a:ahLst/>
              <a:cxnLst>
                <a:cxn ang="0">
                  <a:pos x="49" y="26"/>
                </a:cxn>
                <a:cxn ang="0">
                  <a:pos x="26" y="30"/>
                </a:cxn>
                <a:cxn ang="0">
                  <a:pos x="5" y="32"/>
                </a:cxn>
                <a:cxn ang="0">
                  <a:pos x="0" y="33"/>
                </a:cxn>
                <a:cxn ang="0">
                  <a:pos x="7" y="10"/>
                </a:cxn>
                <a:cxn ang="0">
                  <a:pos x="18" y="10"/>
                </a:cxn>
                <a:cxn ang="0">
                  <a:pos x="35" y="21"/>
                </a:cxn>
                <a:cxn ang="0">
                  <a:pos x="42" y="14"/>
                </a:cxn>
                <a:cxn ang="0">
                  <a:pos x="41" y="0"/>
                </a:cxn>
                <a:cxn ang="0">
                  <a:pos x="59" y="2"/>
                </a:cxn>
                <a:cxn ang="0">
                  <a:pos x="78" y="6"/>
                </a:cxn>
                <a:cxn ang="0">
                  <a:pos x="86" y="18"/>
                </a:cxn>
                <a:cxn ang="0">
                  <a:pos x="96" y="37"/>
                </a:cxn>
                <a:cxn ang="0">
                  <a:pos x="77" y="39"/>
                </a:cxn>
                <a:cxn ang="0">
                  <a:pos x="49" y="26"/>
                </a:cxn>
              </a:cxnLst>
              <a:rect l="0" t="0" r="r" b="b"/>
              <a:pathLst>
                <a:path w="96" h="39">
                  <a:moveTo>
                    <a:pt x="49" y="26"/>
                  </a:moveTo>
                  <a:lnTo>
                    <a:pt x="26" y="30"/>
                  </a:lnTo>
                  <a:lnTo>
                    <a:pt x="5" y="32"/>
                  </a:lnTo>
                  <a:lnTo>
                    <a:pt x="0" y="33"/>
                  </a:lnTo>
                  <a:lnTo>
                    <a:pt x="7" y="10"/>
                  </a:lnTo>
                  <a:lnTo>
                    <a:pt x="18" y="10"/>
                  </a:lnTo>
                  <a:lnTo>
                    <a:pt x="35" y="21"/>
                  </a:lnTo>
                  <a:lnTo>
                    <a:pt x="42" y="14"/>
                  </a:lnTo>
                  <a:lnTo>
                    <a:pt x="41" y="0"/>
                  </a:lnTo>
                  <a:lnTo>
                    <a:pt x="59" y="2"/>
                  </a:lnTo>
                  <a:lnTo>
                    <a:pt x="78" y="6"/>
                  </a:lnTo>
                  <a:lnTo>
                    <a:pt x="86" y="18"/>
                  </a:lnTo>
                  <a:lnTo>
                    <a:pt x="96" y="37"/>
                  </a:lnTo>
                  <a:lnTo>
                    <a:pt x="77" y="39"/>
                  </a:lnTo>
                  <a:lnTo>
                    <a:pt x="49" y="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7" name="Freeform 326"/>
            <p:cNvSpPr>
              <a:spLocks/>
            </p:cNvSpPr>
            <p:nvPr/>
          </p:nvSpPr>
          <p:spPr bwMode="auto">
            <a:xfrm>
              <a:off x="2836" y="1585"/>
              <a:ext cx="86" cy="45"/>
            </a:xfrm>
            <a:custGeom>
              <a:avLst/>
              <a:gdLst/>
              <a:ahLst/>
              <a:cxnLst>
                <a:cxn ang="0">
                  <a:pos x="3" y="29"/>
                </a:cxn>
                <a:cxn ang="0">
                  <a:pos x="0" y="7"/>
                </a:cxn>
                <a:cxn ang="0">
                  <a:pos x="5" y="6"/>
                </a:cxn>
                <a:cxn ang="0">
                  <a:pos x="26" y="4"/>
                </a:cxn>
                <a:cxn ang="0">
                  <a:pos x="49" y="0"/>
                </a:cxn>
                <a:cxn ang="0">
                  <a:pos x="77" y="13"/>
                </a:cxn>
                <a:cxn ang="0">
                  <a:pos x="57" y="26"/>
                </a:cxn>
                <a:cxn ang="0">
                  <a:pos x="36" y="41"/>
                </a:cxn>
                <a:cxn ang="0">
                  <a:pos x="24" y="40"/>
                </a:cxn>
                <a:cxn ang="0">
                  <a:pos x="24" y="32"/>
                </a:cxn>
                <a:cxn ang="0">
                  <a:pos x="12" y="31"/>
                </a:cxn>
                <a:cxn ang="0">
                  <a:pos x="3" y="29"/>
                </a:cxn>
              </a:cxnLst>
              <a:rect l="0" t="0" r="r" b="b"/>
              <a:pathLst>
                <a:path w="77" h="41">
                  <a:moveTo>
                    <a:pt x="3" y="29"/>
                  </a:moveTo>
                  <a:lnTo>
                    <a:pt x="0" y="7"/>
                  </a:lnTo>
                  <a:lnTo>
                    <a:pt x="5" y="6"/>
                  </a:lnTo>
                  <a:lnTo>
                    <a:pt x="26" y="4"/>
                  </a:lnTo>
                  <a:lnTo>
                    <a:pt x="49" y="0"/>
                  </a:lnTo>
                  <a:lnTo>
                    <a:pt x="77" y="13"/>
                  </a:lnTo>
                  <a:lnTo>
                    <a:pt x="57" y="26"/>
                  </a:lnTo>
                  <a:lnTo>
                    <a:pt x="36" y="41"/>
                  </a:lnTo>
                  <a:lnTo>
                    <a:pt x="24" y="40"/>
                  </a:lnTo>
                  <a:lnTo>
                    <a:pt x="24" y="32"/>
                  </a:lnTo>
                  <a:lnTo>
                    <a:pt x="12" y="31"/>
                  </a:lnTo>
                  <a:lnTo>
                    <a:pt x="3" y="2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8" name="Freeform 327"/>
            <p:cNvSpPr>
              <a:spLocks/>
            </p:cNvSpPr>
            <p:nvPr/>
          </p:nvSpPr>
          <p:spPr bwMode="auto">
            <a:xfrm>
              <a:off x="2582" y="1648"/>
              <a:ext cx="58" cy="48"/>
            </a:xfrm>
            <a:custGeom>
              <a:avLst/>
              <a:gdLst/>
              <a:ahLst/>
              <a:cxnLst>
                <a:cxn ang="0">
                  <a:pos x="38" y="27"/>
                </a:cxn>
                <a:cxn ang="0">
                  <a:pos x="50" y="21"/>
                </a:cxn>
                <a:cxn ang="0">
                  <a:pos x="45" y="13"/>
                </a:cxn>
                <a:cxn ang="0">
                  <a:pos x="51" y="3"/>
                </a:cxn>
                <a:cxn ang="0">
                  <a:pos x="34" y="0"/>
                </a:cxn>
                <a:cxn ang="0">
                  <a:pos x="16" y="11"/>
                </a:cxn>
                <a:cxn ang="0">
                  <a:pos x="4" y="29"/>
                </a:cxn>
                <a:cxn ang="0">
                  <a:pos x="0" y="35"/>
                </a:cxn>
                <a:cxn ang="0">
                  <a:pos x="12" y="35"/>
                </a:cxn>
                <a:cxn ang="0">
                  <a:pos x="30" y="36"/>
                </a:cxn>
                <a:cxn ang="0">
                  <a:pos x="32" y="42"/>
                </a:cxn>
                <a:cxn ang="0">
                  <a:pos x="37" y="46"/>
                </a:cxn>
                <a:cxn ang="0">
                  <a:pos x="38" y="27"/>
                </a:cxn>
              </a:cxnLst>
              <a:rect l="0" t="0" r="r" b="b"/>
              <a:pathLst>
                <a:path w="51" h="46">
                  <a:moveTo>
                    <a:pt x="38" y="27"/>
                  </a:moveTo>
                  <a:lnTo>
                    <a:pt x="50" y="21"/>
                  </a:lnTo>
                  <a:lnTo>
                    <a:pt x="45" y="13"/>
                  </a:lnTo>
                  <a:lnTo>
                    <a:pt x="51" y="3"/>
                  </a:lnTo>
                  <a:lnTo>
                    <a:pt x="34" y="0"/>
                  </a:lnTo>
                  <a:lnTo>
                    <a:pt x="16" y="11"/>
                  </a:lnTo>
                  <a:lnTo>
                    <a:pt x="4" y="29"/>
                  </a:lnTo>
                  <a:lnTo>
                    <a:pt x="0" y="35"/>
                  </a:lnTo>
                  <a:lnTo>
                    <a:pt x="12" y="35"/>
                  </a:lnTo>
                  <a:lnTo>
                    <a:pt x="30" y="36"/>
                  </a:lnTo>
                  <a:lnTo>
                    <a:pt x="32" y="42"/>
                  </a:lnTo>
                  <a:lnTo>
                    <a:pt x="37" y="46"/>
                  </a:lnTo>
                  <a:lnTo>
                    <a:pt x="38"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9" name="Freeform 328"/>
            <p:cNvSpPr>
              <a:spLocks/>
            </p:cNvSpPr>
            <p:nvPr/>
          </p:nvSpPr>
          <p:spPr bwMode="auto">
            <a:xfrm>
              <a:off x="2742" y="1621"/>
              <a:ext cx="154" cy="109"/>
            </a:xfrm>
            <a:custGeom>
              <a:avLst/>
              <a:gdLst/>
              <a:ahLst/>
              <a:cxnLst>
                <a:cxn ang="0">
                  <a:pos x="57" y="5"/>
                </a:cxn>
                <a:cxn ang="0">
                  <a:pos x="55" y="0"/>
                </a:cxn>
                <a:cxn ang="0">
                  <a:pos x="37" y="2"/>
                </a:cxn>
                <a:cxn ang="0">
                  <a:pos x="19" y="8"/>
                </a:cxn>
                <a:cxn ang="0">
                  <a:pos x="0" y="11"/>
                </a:cxn>
                <a:cxn ang="0">
                  <a:pos x="6" y="17"/>
                </a:cxn>
                <a:cxn ang="0">
                  <a:pos x="1" y="18"/>
                </a:cxn>
                <a:cxn ang="0">
                  <a:pos x="3" y="34"/>
                </a:cxn>
                <a:cxn ang="0">
                  <a:pos x="10" y="53"/>
                </a:cxn>
                <a:cxn ang="0">
                  <a:pos x="13" y="66"/>
                </a:cxn>
                <a:cxn ang="0">
                  <a:pos x="15" y="66"/>
                </a:cxn>
                <a:cxn ang="0">
                  <a:pos x="33" y="72"/>
                </a:cxn>
                <a:cxn ang="0">
                  <a:pos x="37" y="77"/>
                </a:cxn>
                <a:cxn ang="0">
                  <a:pos x="44" y="77"/>
                </a:cxn>
                <a:cxn ang="0">
                  <a:pos x="54" y="77"/>
                </a:cxn>
                <a:cxn ang="0">
                  <a:pos x="70" y="89"/>
                </a:cxn>
                <a:cxn ang="0">
                  <a:pos x="86" y="90"/>
                </a:cxn>
                <a:cxn ang="0">
                  <a:pos x="88" y="94"/>
                </a:cxn>
                <a:cxn ang="0">
                  <a:pos x="100" y="93"/>
                </a:cxn>
                <a:cxn ang="0">
                  <a:pos x="122" y="98"/>
                </a:cxn>
                <a:cxn ang="0">
                  <a:pos x="124" y="93"/>
                </a:cxn>
                <a:cxn ang="0">
                  <a:pos x="138" y="75"/>
                </a:cxn>
                <a:cxn ang="0">
                  <a:pos x="139" y="66"/>
                </a:cxn>
                <a:cxn ang="0">
                  <a:pos x="132" y="47"/>
                </a:cxn>
                <a:cxn ang="0">
                  <a:pos x="123" y="42"/>
                </a:cxn>
                <a:cxn ang="0">
                  <a:pos x="133" y="30"/>
                </a:cxn>
                <a:cxn ang="0">
                  <a:pos x="121" y="9"/>
                </a:cxn>
                <a:cxn ang="0">
                  <a:pos x="96" y="6"/>
                </a:cxn>
                <a:cxn ang="0">
                  <a:pos x="72" y="5"/>
                </a:cxn>
                <a:cxn ang="0">
                  <a:pos x="57" y="5"/>
                </a:cxn>
              </a:cxnLst>
              <a:rect l="0" t="0" r="r" b="b"/>
              <a:pathLst>
                <a:path w="139" h="98">
                  <a:moveTo>
                    <a:pt x="57" y="5"/>
                  </a:moveTo>
                  <a:lnTo>
                    <a:pt x="55" y="0"/>
                  </a:lnTo>
                  <a:lnTo>
                    <a:pt x="37" y="2"/>
                  </a:lnTo>
                  <a:lnTo>
                    <a:pt x="19" y="8"/>
                  </a:lnTo>
                  <a:lnTo>
                    <a:pt x="0" y="11"/>
                  </a:lnTo>
                  <a:lnTo>
                    <a:pt x="6" y="17"/>
                  </a:lnTo>
                  <a:lnTo>
                    <a:pt x="1" y="18"/>
                  </a:lnTo>
                  <a:lnTo>
                    <a:pt x="3" y="34"/>
                  </a:lnTo>
                  <a:lnTo>
                    <a:pt x="10" y="53"/>
                  </a:lnTo>
                  <a:lnTo>
                    <a:pt x="13" y="66"/>
                  </a:lnTo>
                  <a:lnTo>
                    <a:pt x="15" y="66"/>
                  </a:lnTo>
                  <a:lnTo>
                    <a:pt x="33" y="72"/>
                  </a:lnTo>
                  <a:lnTo>
                    <a:pt x="37" y="77"/>
                  </a:lnTo>
                  <a:lnTo>
                    <a:pt x="44" y="77"/>
                  </a:lnTo>
                  <a:lnTo>
                    <a:pt x="54" y="77"/>
                  </a:lnTo>
                  <a:lnTo>
                    <a:pt x="70" y="89"/>
                  </a:lnTo>
                  <a:lnTo>
                    <a:pt x="86" y="90"/>
                  </a:lnTo>
                  <a:lnTo>
                    <a:pt x="88" y="94"/>
                  </a:lnTo>
                  <a:lnTo>
                    <a:pt x="100" y="93"/>
                  </a:lnTo>
                  <a:lnTo>
                    <a:pt x="122" y="98"/>
                  </a:lnTo>
                  <a:lnTo>
                    <a:pt x="124" y="93"/>
                  </a:lnTo>
                  <a:lnTo>
                    <a:pt x="138" y="75"/>
                  </a:lnTo>
                  <a:lnTo>
                    <a:pt x="139" y="66"/>
                  </a:lnTo>
                  <a:lnTo>
                    <a:pt x="132" y="47"/>
                  </a:lnTo>
                  <a:lnTo>
                    <a:pt x="123" y="42"/>
                  </a:lnTo>
                  <a:lnTo>
                    <a:pt x="133" y="30"/>
                  </a:lnTo>
                  <a:lnTo>
                    <a:pt x="121" y="9"/>
                  </a:lnTo>
                  <a:lnTo>
                    <a:pt x="96" y="6"/>
                  </a:lnTo>
                  <a:lnTo>
                    <a:pt x="72" y="5"/>
                  </a:lnTo>
                  <a:lnTo>
                    <a:pt x="57"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0" name="Freeform 329"/>
            <p:cNvSpPr>
              <a:spLocks/>
            </p:cNvSpPr>
            <p:nvPr/>
          </p:nvSpPr>
          <p:spPr bwMode="auto">
            <a:xfrm>
              <a:off x="2849" y="1745"/>
              <a:ext cx="151" cy="89"/>
            </a:xfrm>
            <a:custGeom>
              <a:avLst/>
              <a:gdLst/>
              <a:ahLst/>
              <a:cxnLst>
                <a:cxn ang="0">
                  <a:pos x="123" y="66"/>
                </a:cxn>
                <a:cxn ang="0">
                  <a:pos x="122" y="79"/>
                </a:cxn>
                <a:cxn ang="0">
                  <a:pos x="95" y="73"/>
                </a:cxn>
                <a:cxn ang="0">
                  <a:pos x="73" y="80"/>
                </a:cxn>
                <a:cxn ang="0">
                  <a:pos x="56" y="78"/>
                </a:cxn>
                <a:cxn ang="0">
                  <a:pos x="41" y="76"/>
                </a:cxn>
                <a:cxn ang="0">
                  <a:pos x="37" y="71"/>
                </a:cxn>
                <a:cxn ang="0">
                  <a:pos x="36" y="65"/>
                </a:cxn>
                <a:cxn ang="0">
                  <a:pos x="31" y="64"/>
                </a:cxn>
                <a:cxn ang="0">
                  <a:pos x="26" y="62"/>
                </a:cxn>
                <a:cxn ang="0">
                  <a:pos x="20" y="59"/>
                </a:cxn>
                <a:cxn ang="0">
                  <a:pos x="0" y="37"/>
                </a:cxn>
                <a:cxn ang="0">
                  <a:pos x="7" y="35"/>
                </a:cxn>
                <a:cxn ang="0">
                  <a:pos x="19" y="19"/>
                </a:cxn>
                <a:cxn ang="0">
                  <a:pos x="32" y="6"/>
                </a:cxn>
                <a:cxn ang="0">
                  <a:pos x="33" y="5"/>
                </a:cxn>
                <a:cxn ang="0">
                  <a:pos x="60" y="7"/>
                </a:cxn>
                <a:cxn ang="0">
                  <a:pos x="84" y="0"/>
                </a:cxn>
                <a:cxn ang="0">
                  <a:pos x="85" y="0"/>
                </a:cxn>
                <a:cxn ang="0">
                  <a:pos x="95" y="11"/>
                </a:cxn>
                <a:cxn ang="0">
                  <a:pos x="105" y="20"/>
                </a:cxn>
                <a:cxn ang="0">
                  <a:pos x="110" y="36"/>
                </a:cxn>
                <a:cxn ang="0">
                  <a:pos x="114" y="50"/>
                </a:cxn>
                <a:cxn ang="0">
                  <a:pos x="126" y="50"/>
                </a:cxn>
                <a:cxn ang="0">
                  <a:pos x="134" y="53"/>
                </a:cxn>
                <a:cxn ang="0">
                  <a:pos x="134" y="58"/>
                </a:cxn>
                <a:cxn ang="0">
                  <a:pos x="128" y="61"/>
                </a:cxn>
                <a:cxn ang="0">
                  <a:pos x="127" y="60"/>
                </a:cxn>
                <a:cxn ang="0">
                  <a:pos x="123" y="66"/>
                </a:cxn>
              </a:cxnLst>
              <a:rect l="0" t="0" r="r" b="b"/>
              <a:pathLst>
                <a:path w="134" h="80">
                  <a:moveTo>
                    <a:pt x="123" y="66"/>
                  </a:moveTo>
                  <a:lnTo>
                    <a:pt x="122" y="79"/>
                  </a:lnTo>
                  <a:lnTo>
                    <a:pt x="95" y="73"/>
                  </a:lnTo>
                  <a:lnTo>
                    <a:pt x="73" y="80"/>
                  </a:lnTo>
                  <a:lnTo>
                    <a:pt x="56" y="78"/>
                  </a:lnTo>
                  <a:lnTo>
                    <a:pt x="41" y="76"/>
                  </a:lnTo>
                  <a:lnTo>
                    <a:pt x="37" y="71"/>
                  </a:lnTo>
                  <a:lnTo>
                    <a:pt x="36" y="65"/>
                  </a:lnTo>
                  <a:lnTo>
                    <a:pt x="31" y="64"/>
                  </a:lnTo>
                  <a:lnTo>
                    <a:pt x="26" y="62"/>
                  </a:lnTo>
                  <a:lnTo>
                    <a:pt x="20" y="59"/>
                  </a:lnTo>
                  <a:lnTo>
                    <a:pt x="0" y="37"/>
                  </a:lnTo>
                  <a:lnTo>
                    <a:pt x="7" y="35"/>
                  </a:lnTo>
                  <a:lnTo>
                    <a:pt x="19" y="19"/>
                  </a:lnTo>
                  <a:lnTo>
                    <a:pt x="32" y="6"/>
                  </a:lnTo>
                  <a:lnTo>
                    <a:pt x="33" y="5"/>
                  </a:lnTo>
                  <a:lnTo>
                    <a:pt x="60" y="7"/>
                  </a:lnTo>
                  <a:lnTo>
                    <a:pt x="84" y="0"/>
                  </a:lnTo>
                  <a:lnTo>
                    <a:pt x="85" y="0"/>
                  </a:lnTo>
                  <a:lnTo>
                    <a:pt x="95" y="11"/>
                  </a:lnTo>
                  <a:lnTo>
                    <a:pt x="105" y="20"/>
                  </a:lnTo>
                  <a:lnTo>
                    <a:pt x="110" y="36"/>
                  </a:lnTo>
                  <a:lnTo>
                    <a:pt x="114" y="50"/>
                  </a:lnTo>
                  <a:lnTo>
                    <a:pt x="126" y="50"/>
                  </a:lnTo>
                  <a:lnTo>
                    <a:pt x="134" y="53"/>
                  </a:lnTo>
                  <a:lnTo>
                    <a:pt x="134" y="58"/>
                  </a:lnTo>
                  <a:lnTo>
                    <a:pt x="128" y="61"/>
                  </a:lnTo>
                  <a:lnTo>
                    <a:pt x="127" y="60"/>
                  </a:lnTo>
                  <a:lnTo>
                    <a:pt x="123" y="6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1" name="Freeform 330"/>
            <p:cNvSpPr>
              <a:spLocks/>
            </p:cNvSpPr>
            <p:nvPr/>
          </p:nvSpPr>
          <p:spPr bwMode="auto">
            <a:xfrm>
              <a:off x="2718" y="1694"/>
              <a:ext cx="102" cy="47"/>
            </a:xfrm>
            <a:custGeom>
              <a:avLst/>
              <a:gdLst/>
              <a:ahLst/>
              <a:cxnLst>
                <a:cxn ang="0">
                  <a:pos x="76" y="12"/>
                </a:cxn>
                <a:cxn ang="0">
                  <a:pos x="92" y="24"/>
                </a:cxn>
                <a:cxn ang="0">
                  <a:pos x="92" y="25"/>
                </a:cxn>
                <a:cxn ang="0">
                  <a:pos x="88" y="29"/>
                </a:cxn>
                <a:cxn ang="0">
                  <a:pos x="84" y="31"/>
                </a:cxn>
                <a:cxn ang="0">
                  <a:pos x="84" y="33"/>
                </a:cxn>
                <a:cxn ang="0">
                  <a:pos x="79" y="37"/>
                </a:cxn>
                <a:cxn ang="0">
                  <a:pos x="72" y="39"/>
                </a:cxn>
                <a:cxn ang="0">
                  <a:pos x="67" y="39"/>
                </a:cxn>
                <a:cxn ang="0">
                  <a:pos x="62" y="39"/>
                </a:cxn>
                <a:cxn ang="0">
                  <a:pos x="40" y="35"/>
                </a:cxn>
                <a:cxn ang="0">
                  <a:pos x="32" y="42"/>
                </a:cxn>
                <a:cxn ang="0">
                  <a:pos x="24" y="39"/>
                </a:cxn>
                <a:cxn ang="0">
                  <a:pos x="4" y="19"/>
                </a:cxn>
                <a:cxn ang="0">
                  <a:pos x="0" y="13"/>
                </a:cxn>
                <a:cxn ang="0">
                  <a:pos x="31" y="0"/>
                </a:cxn>
                <a:cxn ang="0">
                  <a:pos x="35" y="1"/>
                </a:cxn>
                <a:cxn ang="0">
                  <a:pos x="37" y="1"/>
                </a:cxn>
                <a:cxn ang="0">
                  <a:pos x="55" y="7"/>
                </a:cxn>
                <a:cxn ang="0">
                  <a:pos x="59" y="12"/>
                </a:cxn>
                <a:cxn ang="0">
                  <a:pos x="66" y="12"/>
                </a:cxn>
                <a:cxn ang="0">
                  <a:pos x="76" y="12"/>
                </a:cxn>
              </a:cxnLst>
              <a:rect l="0" t="0" r="r" b="b"/>
              <a:pathLst>
                <a:path w="92" h="42">
                  <a:moveTo>
                    <a:pt x="76" y="12"/>
                  </a:moveTo>
                  <a:lnTo>
                    <a:pt x="92" y="24"/>
                  </a:lnTo>
                  <a:lnTo>
                    <a:pt x="92" y="25"/>
                  </a:lnTo>
                  <a:lnTo>
                    <a:pt x="88" y="29"/>
                  </a:lnTo>
                  <a:lnTo>
                    <a:pt x="84" y="31"/>
                  </a:lnTo>
                  <a:lnTo>
                    <a:pt x="84" y="33"/>
                  </a:lnTo>
                  <a:lnTo>
                    <a:pt x="79" y="37"/>
                  </a:lnTo>
                  <a:lnTo>
                    <a:pt x="72" y="39"/>
                  </a:lnTo>
                  <a:lnTo>
                    <a:pt x="67" y="39"/>
                  </a:lnTo>
                  <a:lnTo>
                    <a:pt x="62" y="39"/>
                  </a:lnTo>
                  <a:lnTo>
                    <a:pt x="40" y="35"/>
                  </a:lnTo>
                  <a:lnTo>
                    <a:pt x="32" y="42"/>
                  </a:lnTo>
                  <a:lnTo>
                    <a:pt x="24" y="39"/>
                  </a:lnTo>
                  <a:lnTo>
                    <a:pt x="4" y="19"/>
                  </a:lnTo>
                  <a:lnTo>
                    <a:pt x="0" y="13"/>
                  </a:lnTo>
                  <a:lnTo>
                    <a:pt x="31" y="0"/>
                  </a:lnTo>
                  <a:lnTo>
                    <a:pt x="35" y="1"/>
                  </a:lnTo>
                  <a:lnTo>
                    <a:pt x="37" y="1"/>
                  </a:lnTo>
                  <a:lnTo>
                    <a:pt x="55" y="7"/>
                  </a:lnTo>
                  <a:lnTo>
                    <a:pt x="59" y="12"/>
                  </a:lnTo>
                  <a:lnTo>
                    <a:pt x="66" y="12"/>
                  </a:lnTo>
                  <a:lnTo>
                    <a:pt x="7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2" name="Freeform 331"/>
            <p:cNvSpPr>
              <a:spLocks/>
            </p:cNvSpPr>
            <p:nvPr/>
          </p:nvSpPr>
          <p:spPr bwMode="auto">
            <a:xfrm>
              <a:off x="2569" y="1685"/>
              <a:ext cx="58" cy="36"/>
            </a:xfrm>
            <a:custGeom>
              <a:avLst/>
              <a:gdLst/>
              <a:ahLst/>
              <a:cxnLst>
                <a:cxn ang="0">
                  <a:pos x="11" y="0"/>
                </a:cxn>
                <a:cxn ang="0">
                  <a:pos x="0" y="5"/>
                </a:cxn>
                <a:cxn ang="0">
                  <a:pos x="6" y="11"/>
                </a:cxn>
                <a:cxn ang="0">
                  <a:pos x="24" y="23"/>
                </a:cxn>
                <a:cxn ang="0">
                  <a:pos x="30" y="22"/>
                </a:cxn>
                <a:cxn ang="0">
                  <a:pos x="31" y="24"/>
                </a:cxn>
                <a:cxn ang="0">
                  <a:pos x="45" y="31"/>
                </a:cxn>
                <a:cxn ang="0">
                  <a:pos x="45" y="29"/>
                </a:cxn>
                <a:cxn ang="0">
                  <a:pos x="49" y="22"/>
                </a:cxn>
                <a:cxn ang="0">
                  <a:pos x="50" y="12"/>
                </a:cxn>
                <a:cxn ang="0">
                  <a:pos x="48" y="11"/>
                </a:cxn>
                <a:cxn ang="0">
                  <a:pos x="43" y="7"/>
                </a:cxn>
                <a:cxn ang="0">
                  <a:pos x="41" y="1"/>
                </a:cxn>
                <a:cxn ang="0">
                  <a:pos x="23" y="0"/>
                </a:cxn>
                <a:cxn ang="0">
                  <a:pos x="11" y="0"/>
                </a:cxn>
              </a:cxnLst>
              <a:rect l="0" t="0" r="r" b="b"/>
              <a:pathLst>
                <a:path w="50" h="31">
                  <a:moveTo>
                    <a:pt x="11" y="0"/>
                  </a:moveTo>
                  <a:lnTo>
                    <a:pt x="0" y="5"/>
                  </a:lnTo>
                  <a:lnTo>
                    <a:pt x="6" y="11"/>
                  </a:lnTo>
                  <a:lnTo>
                    <a:pt x="24" y="23"/>
                  </a:lnTo>
                  <a:lnTo>
                    <a:pt x="30" y="22"/>
                  </a:lnTo>
                  <a:lnTo>
                    <a:pt x="31" y="24"/>
                  </a:lnTo>
                  <a:lnTo>
                    <a:pt x="45" y="31"/>
                  </a:lnTo>
                  <a:lnTo>
                    <a:pt x="45" y="29"/>
                  </a:lnTo>
                  <a:lnTo>
                    <a:pt x="49" y="22"/>
                  </a:lnTo>
                  <a:lnTo>
                    <a:pt x="50" y="12"/>
                  </a:lnTo>
                  <a:lnTo>
                    <a:pt x="48" y="11"/>
                  </a:lnTo>
                  <a:lnTo>
                    <a:pt x="43" y="7"/>
                  </a:lnTo>
                  <a:lnTo>
                    <a:pt x="41" y="1"/>
                  </a:lnTo>
                  <a:lnTo>
                    <a:pt x="23" y="0"/>
                  </a:lnTo>
                  <a:lnTo>
                    <a:pt x="1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3" name="Freeform 332"/>
            <p:cNvSpPr>
              <a:spLocks/>
            </p:cNvSpPr>
            <p:nvPr/>
          </p:nvSpPr>
          <p:spPr bwMode="auto">
            <a:xfrm>
              <a:off x="2622" y="1616"/>
              <a:ext cx="134" cy="147"/>
            </a:xfrm>
            <a:custGeom>
              <a:avLst/>
              <a:gdLst/>
              <a:ahLst/>
              <a:cxnLst>
                <a:cxn ang="0">
                  <a:pos x="29" y="24"/>
                </a:cxn>
                <a:cxn ang="0">
                  <a:pos x="31" y="25"/>
                </a:cxn>
                <a:cxn ang="0">
                  <a:pos x="31" y="21"/>
                </a:cxn>
                <a:cxn ang="0">
                  <a:pos x="36" y="19"/>
                </a:cxn>
                <a:cxn ang="0">
                  <a:pos x="45" y="23"/>
                </a:cxn>
                <a:cxn ang="0">
                  <a:pos x="41" y="18"/>
                </a:cxn>
                <a:cxn ang="0">
                  <a:pos x="36" y="11"/>
                </a:cxn>
                <a:cxn ang="0">
                  <a:pos x="35" y="9"/>
                </a:cxn>
                <a:cxn ang="0">
                  <a:pos x="32" y="0"/>
                </a:cxn>
                <a:cxn ang="0">
                  <a:pos x="43" y="2"/>
                </a:cxn>
                <a:cxn ang="0">
                  <a:pos x="47" y="2"/>
                </a:cxn>
                <a:cxn ang="0">
                  <a:pos x="48" y="7"/>
                </a:cxn>
                <a:cxn ang="0">
                  <a:pos x="62" y="9"/>
                </a:cxn>
                <a:cxn ang="0">
                  <a:pos x="62" y="14"/>
                </a:cxn>
                <a:cxn ang="0">
                  <a:pos x="67" y="17"/>
                </a:cxn>
                <a:cxn ang="0">
                  <a:pos x="85" y="8"/>
                </a:cxn>
                <a:cxn ang="0">
                  <a:pos x="85" y="9"/>
                </a:cxn>
                <a:cxn ang="0">
                  <a:pos x="101" y="15"/>
                </a:cxn>
                <a:cxn ang="0">
                  <a:pos x="107" y="14"/>
                </a:cxn>
                <a:cxn ang="0">
                  <a:pos x="113" y="20"/>
                </a:cxn>
                <a:cxn ang="0">
                  <a:pos x="108" y="21"/>
                </a:cxn>
                <a:cxn ang="0">
                  <a:pos x="110" y="37"/>
                </a:cxn>
                <a:cxn ang="0">
                  <a:pos x="117" y="56"/>
                </a:cxn>
                <a:cxn ang="0">
                  <a:pos x="120" y="69"/>
                </a:cxn>
                <a:cxn ang="0">
                  <a:pos x="116" y="68"/>
                </a:cxn>
                <a:cxn ang="0">
                  <a:pos x="85" y="81"/>
                </a:cxn>
                <a:cxn ang="0">
                  <a:pos x="89" y="87"/>
                </a:cxn>
                <a:cxn ang="0">
                  <a:pos x="109" y="107"/>
                </a:cxn>
                <a:cxn ang="0">
                  <a:pos x="98" y="116"/>
                </a:cxn>
                <a:cxn ang="0">
                  <a:pos x="101" y="125"/>
                </a:cxn>
                <a:cxn ang="0">
                  <a:pos x="96" y="127"/>
                </a:cxn>
                <a:cxn ang="0">
                  <a:pos x="79" y="127"/>
                </a:cxn>
                <a:cxn ang="0">
                  <a:pos x="67" y="127"/>
                </a:cxn>
                <a:cxn ang="0">
                  <a:pos x="63" y="131"/>
                </a:cxn>
                <a:cxn ang="0">
                  <a:pos x="51" y="128"/>
                </a:cxn>
                <a:cxn ang="0">
                  <a:pos x="37" y="126"/>
                </a:cxn>
                <a:cxn ang="0">
                  <a:pos x="24" y="127"/>
                </a:cxn>
                <a:cxn ang="0">
                  <a:pos x="30" y="102"/>
                </a:cxn>
                <a:cxn ang="0">
                  <a:pos x="7" y="95"/>
                </a:cxn>
                <a:cxn ang="0">
                  <a:pos x="5" y="93"/>
                </a:cxn>
                <a:cxn ang="0">
                  <a:pos x="5" y="92"/>
                </a:cxn>
                <a:cxn ang="0">
                  <a:pos x="1" y="83"/>
                </a:cxn>
                <a:cxn ang="0">
                  <a:pos x="2" y="73"/>
                </a:cxn>
                <a:cxn ang="0">
                  <a:pos x="0" y="72"/>
                </a:cxn>
                <a:cxn ang="0">
                  <a:pos x="1" y="53"/>
                </a:cxn>
                <a:cxn ang="0">
                  <a:pos x="13" y="47"/>
                </a:cxn>
                <a:cxn ang="0">
                  <a:pos x="8" y="39"/>
                </a:cxn>
                <a:cxn ang="0">
                  <a:pos x="14" y="29"/>
                </a:cxn>
                <a:cxn ang="0">
                  <a:pos x="12" y="27"/>
                </a:cxn>
                <a:cxn ang="0">
                  <a:pos x="14" y="21"/>
                </a:cxn>
                <a:cxn ang="0">
                  <a:pos x="29" y="24"/>
                </a:cxn>
              </a:cxnLst>
              <a:rect l="0" t="0" r="r" b="b"/>
              <a:pathLst>
                <a:path w="120" h="131">
                  <a:moveTo>
                    <a:pt x="29" y="24"/>
                  </a:moveTo>
                  <a:lnTo>
                    <a:pt x="31" y="25"/>
                  </a:lnTo>
                  <a:lnTo>
                    <a:pt x="31" y="21"/>
                  </a:lnTo>
                  <a:lnTo>
                    <a:pt x="36" y="19"/>
                  </a:lnTo>
                  <a:lnTo>
                    <a:pt x="45" y="23"/>
                  </a:lnTo>
                  <a:lnTo>
                    <a:pt x="41" y="18"/>
                  </a:lnTo>
                  <a:lnTo>
                    <a:pt x="36" y="11"/>
                  </a:lnTo>
                  <a:lnTo>
                    <a:pt x="35" y="9"/>
                  </a:lnTo>
                  <a:lnTo>
                    <a:pt x="32" y="0"/>
                  </a:lnTo>
                  <a:lnTo>
                    <a:pt x="43" y="2"/>
                  </a:lnTo>
                  <a:lnTo>
                    <a:pt x="47" y="2"/>
                  </a:lnTo>
                  <a:lnTo>
                    <a:pt x="48" y="7"/>
                  </a:lnTo>
                  <a:lnTo>
                    <a:pt x="62" y="9"/>
                  </a:lnTo>
                  <a:lnTo>
                    <a:pt x="62" y="14"/>
                  </a:lnTo>
                  <a:lnTo>
                    <a:pt x="67" y="17"/>
                  </a:lnTo>
                  <a:lnTo>
                    <a:pt x="85" y="8"/>
                  </a:lnTo>
                  <a:lnTo>
                    <a:pt x="85" y="9"/>
                  </a:lnTo>
                  <a:lnTo>
                    <a:pt x="101" y="15"/>
                  </a:lnTo>
                  <a:lnTo>
                    <a:pt x="107" y="14"/>
                  </a:lnTo>
                  <a:lnTo>
                    <a:pt x="113" y="20"/>
                  </a:lnTo>
                  <a:lnTo>
                    <a:pt x="108" y="21"/>
                  </a:lnTo>
                  <a:lnTo>
                    <a:pt x="110" y="37"/>
                  </a:lnTo>
                  <a:lnTo>
                    <a:pt x="117" y="56"/>
                  </a:lnTo>
                  <a:lnTo>
                    <a:pt x="120" y="69"/>
                  </a:lnTo>
                  <a:lnTo>
                    <a:pt x="116" y="68"/>
                  </a:lnTo>
                  <a:lnTo>
                    <a:pt x="85" y="81"/>
                  </a:lnTo>
                  <a:lnTo>
                    <a:pt x="89" y="87"/>
                  </a:lnTo>
                  <a:lnTo>
                    <a:pt x="109" y="107"/>
                  </a:lnTo>
                  <a:lnTo>
                    <a:pt x="98" y="116"/>
                  </a:lnTo>
                  <a:lnTo>
                    <a:pt x="101" y="125"/>
                  </a:lnTo>
                  <a:lnTo>
                    <a:pt x="96" y="127"/>
                  </a:lnTo>
                  <a:lnTo>
                    <a:pt x="79" y="127"/>
                  </a:lnTo>
                  <a:lnTo>
                    <a:pt x="67" y="127"/>
                  </a:lnTo>
                  <a:lnTo>
                    <a:pt x="63" y="131"/>
                  </a:lnTo>
                  <a:lnTo>
                    <a:pt x="51" y="128"/>
                  </a:lnTo>
                  <a:lnTo>
                    <a:pt x="37" y="126"/>
                  </a:lnTo>
                  <a:lnTo>
                    <a:pt x="24" y="127"/>
                  </a:lnTo>
                  <a:lnTo>
                    <a:pt x="30" y="102"/>
                  </a:lnTo>
                  <a:lnTo>
                    <a:pt x="7" y="95"/>
                  </a:lnTo>
                  <a:lnTo>
                    <a:pt x="5" y="93"/>
                  </a:lnTo>
                  <a:lnTo>
                    <a:pt x="5" y="92"/>
                  </a:lnTo>
                  <a:lnTo>
                    <a:pt x="1" y="83"/>
                  </a:lnTo>
                  <a:lnTo>
                    <a:pt x="2" y="73"/>
                  </a:lnTo>
                  <a:lnTo>
                    <a:pt x="0" y="72"/>
                  </a:lnTo>
                  <a:lnTo>
                    <a:pt x="1" y="53"/>
                  </a:lnTo>
                  <a:lnTo>
                    <a:pt x="13" y="47"/>
                  </a:lnTo>
                  <a:lnTo>
                    <a:pt x="8" y="39"/>
                  </a:lnTo>
                  <a:lnTo>
                    <a:pt x="14" y="29"/>
                  </a:lnTo>
                  <a:lnTo>
                    <a:pt x="12" y="27"/>
                  </a:lnTo>
                  <a:lnTo>
                    <a:pt x="14" y="21"/>
                  </a:lnTo>
                  <a:lnTo>
                    <a:pt x="29"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4" name="Freeform 333"/>
            <p:cNvSpPr>
              <a:spLocks/>
            </p:cNvSpPr>
            <p:nvPr/>
          </p:nvSpPr>
          <p:spPr bwMode="auto">
            <a:xfrm>
              <a:off x="2727" y="1623"/>
              <a:ext cx="9" cy="7"/>
            </a:xfrm>
            <a:custGeom>
              <a:avLst/>
              <a:gdLst/>
              <a:ahLst/>
              <a:cxnLst>
                <a:cxn ang="0">
                  <a:pos x="0" y="5"/>
                </a:cxn>
                <a:cxn ang="0">
                  <a:pos x="9" y="5"/>
                </a:cxn>
                <a:cxn ang="0">
                  <a:pos x="4" y="0"/>
                </a:cxn>
                <a:cxn ang="0">
                  <a:pos x="0" y="5"/>
                </a:cxn>
              </a:cxnLst>
              <a:rect l="0" t="0" r="r" b="b"/>
              <a:pathLst>
                <a:path w="9" h="5">
                  <a:moveTo>
                    <a:pt x="0" y="5"/>
                  </a:moveTo>
                  <a:lnTo>
                    <a:pt x="9" y="5"/>
                  </a:lnTo>
                  <a:lnTo>
                    <a:pt x="4" y="0"/>
                  </a:lnTo>
                  <a:lnTo>
                    <a:pt x="0"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5" name="Freeform 334"/>
            <p:cNvSpPr>
              <a:spLocks/>
            </p:cNvSpPr>
            <p:nvPr/>
          </p:nvSpPr>
          <p:spPr bwMode="auto">
            <a:xfrm>
              <a:off x="2620" y="1710"/>
              <a:ext cx="9" cy="11"/>
            </a:xfrm>
            <a:custGeom>
              <a:avLst/>
              <a:gdLst/>
              <a:ahLst/>
              <a:cxnLst>
                <a:cxn ang="0">
                  <a:pos x="4" y="0"/>
                </a:cxn>
                <a:cxn ang="0">
                  <a:pos x="0" y="7"/>
                </a:cxn>
                <a:cxn ang="0">
                  <a:pos x="0" y="9"/>
                </a:cxn>
                <a:cxn ang="0">
                  <a:pos x="8" y="10"/>
                </a:cxn>
                <a:cxn ang="0">
                  <a:pos x="8" y="9"/>
                </a:cxn>
                <a:cxn ang="0">
                  <a:pos x="4" y="0"/>
                </a:cxn>
              </a:cxnLst>
              <a:rect l="0" t="0" r="r" b="b"/>
              <a:pathLst>
                <a:path w="8" h="10">
                  <a:moveTo>
                    <a:pt x="4" y="0"/>
                  </a:moveTo>
                  <a:lnTo>
                    <a:pt x="0" y="7"/>
                  </a:lnTo>
                  <a:lnTo>
                    <a:pt x="0" y="9"/>
                  </a:lnTo>
                  <a:lnTo>
                    <a:pt x="8" y="10"/>
                  </a:lnTo>
                  <a:lnTo>
                    <a:pt x="8" y="9"/>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6" name="Freeform 335"/>
            <p:cNvSpPr>
              <a:spLocks/>
            </p:cNvSpPr>
            <p:nvPr/>
          </p:nvSpPr>
          <p:spPr bwMode="auto">
            <a:xfrm>
              <a:off x="2942" y="1734"/>
              <a:ext cx="69" cy="69"/>
            </a:xfrm>
            <a:custGeom>
              <a:avLst/>
              <a:gdLst/>
              <a:ahLst/>
              <a:cxnLst>
                <a:cxn ang="0">
                  <a:pos x="12" y="0"/>
                </a:cxn>
                <a:cxn ang="0">
                  <a:pos x="0" y="10"/>
                </a:cxn>
                <a:cxn ang="0">
                  <a:pos x="1" y="10"/>
                </a:cxn>
                <a:cxn ang="0">
                  <a:pos x="11" y="21"/>
                </a:cxn>
                <a:cxn ang="0">
                  <a:pos x="21" y="30"/>
                </a:cxn>
                <a:cxn ang="0">
                  <a:pos x="26" y="46"/>
                </a:cxn>
                <a:cxn ang="0">
                  <a:pos x="30" y="60"/>
                </a:cxn>
                <a:cxn ang="0">
                  <a:pos x="42" y="60"/>
                </a:cxn>
                <a:cxn ang="0">
                  <a:pos x="50" y="63"/>
                </a:cxn>
                <a:cxn ang="0">
                  <a:pos x="49" y="54"/>
                </a:cxn>
                <a:cxn ang="0">
                  <a:pos x="61" y="44"/>
                </a:cxn>
                <a:cxn ang="0">
                  <a:pos x="50" y="33"/>
                </a:cxn>
                <a:cxn ang="0">
                  <a:pos x="38" y="23"/>
                </a:cxn>
                <a:cxn ang="0">
                  <a:pos x="27" y="12"/>
                </a:cxn>
                <a:cxn ang="0">
                  <a:pos x="17" y="2"/>
                </a:cxn>
                <a:cxn ang="0">
                  <a:pos x="12" y="0"/>
                </a:cxn>
              </a:cxnLst>
              <a:rect l="0" t="0" r="r" b="b"/>
              <a:pathLst>
                <a:path w="61" h="63">
                  <a:moveTo>
                    <a:pt x="12" y="0"/>
                  </a:moveTo>
                  <a:lnTo>
                    <a:pt x="0" y="10"/>
                  </a:lnTo>
                  <a:lnTo>
                    <a:pt x="1" y="10"/>
                  </a:lnTo>
                  <a:lnTo>
                    <a:pt x="11" y="21"/>
                  </a:lnTo>
                  <a:lnTo>
                    <a:pt x="21" y="30"/>
                  </a:lnTo>
                  <a:lnTo>
                    <a:pt x="26" y="46"/>
                  </a:lnTo>
                  <a:lnTo>
                    <a:pt x="30" y="60"/>
                  </a:lnTo>
                  <a:lnTo>
                    <a:pt x="42" y="60"/>
                  </a:lnTo>
                  <a:lnTo>
                    <a:pt x="50" y="63"/>
                  </a:lnTo>
                  <a:lnTo>
                    <a:pt x="49" y="54"/>
                  </a:lnTo>
                  <a:lnTo>
                    <a:pt x="61" y="44"/>
                  </a:lnTo>
                  <a:lnTo>
                    <a:pt x="50" y="33"/>
                  </a:lnTo>
                  <a:lnTo>
                    <a:pt x="38" y="23"/>
                  </a:lnTo>
                  <a:lnTo>
                    <a:pt x="27" y="12"/>
                  </a:lnTo>
                  <a:lnTo>
                    <a:pt x="17" y="2"/>
                  </a:lnTo>
                  <a:lnTo>
                    <a:pt x="1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7" name="Freeform 336"/>
            <p:cNvSpPr>
              <a:spLocks/>
            </p:cNvSpPr>
            <p:nvPr/>
          </p:nvSpPr>
          <p:spPr bwMode="auto">
            <a:xfrm>
              <a:off x="2602" y="1330"/>
              <a:ext cx="320" cy="229"/>
            </a:xfrm>
            <a:custGeom>
              <a:avLst/>
              <a:gdLst/>
              <a:ahLst/>
              <a:cxnLst>
                <a:cxn ang="0">
                  <a:pos x="166" y="17"/>
                </a:cxn>
                <a:cxn ang="0">
                  <a:pos x="159" y="18"/>
                </a:cxn>
                <a:cxn ang="0">
                  <a:pos x="150" y="24"/>
                </a:cxn>
                <a:cxn ang="0">
                  <a:pos x="141" y="29"/>
                </a:cxn>
                <a:cxn ang="0">
                  <a:pos x="127" y="38"/>
                </a:cxn>
                <a:cxn ang="0">
                  <a:pos x="129" y="42"/>
                </a:cxn>
                <a:cxn ang="0">
                  <a:pos x="126" y="48"/>
                </a:cxn>
                <a:cxn ang="0">
                  <a:pos x="110" y="51"/>
                </a:cxn>
                <a:cxn ang="0">
                  <a:pos x="120" y="55"/>
                </a:cxn>
                <a:cxn ang="0">
                  <a:pos x="110" y="57"/>
                </a:cxn>
                <a:cxn ang="0">
                  <a:pos x="99" y="65"/>
                </a:cxn>
                <a:cxn ang="0">
                  <a:pos x="91" y="72"/>
                </a:cxn>
                <a:cxn ang="0">
                  <a:pos x="90" y="77"/>
                </a:cxn>
                <a:cxn ang="0">
                  <a:pos x="87" y="89"/>
                </a:cxn>
                <a:cxn ang="0">
                  <a:pos x="75" y="96"/>
                </a:cxn>
                <a:cxn ang="0">
                  <a:pos x="72" y="101"/>
                </a:cxn>
                <a:cxn ang="0">
                  <a:pos x="56" y="113"/>
                </a:cxn>
                <a:cxn ang="0">
                  <a:pos x="73" y="109"/>
                </a:cxn>
                <a:cxn ang="0">
                  <a:pos x="58" y="117"/>
                </a:cxn>
                <a:cxn ang="0">
                  <a:pos x="42" y="121"/>
                </a:cxn>
                <a:cxn ang="0">
                  <a:pos x="37" y="126"/>
                </a:cxn>
                <a:cxn ang="0">
                  <a:pos x="22" y="129"/>
                </a:cxn>
                <a:cxn ang="0">
                  <a:pos x="27" y="131"/>
                </a:cxn>
                <a:cxn ang="0">
                  <a:pos x="24" y="138"/>
                </a:cxn>
                <a:cxn ang="0">
                  <a:pos x="9" y="138"/>
                </a:cxn>
                <a:cxn ang="0">
                  <a:pos x="1" y="139"/>
                </a:cxn>
                <a:cxn ang="0">
                  <a:pos x="0" y="145"/>
                </a:cxn>
                <a:cxn ang="0">
                  <a:pos x="3" y="151"/>
                </a:cxn>
                <a:cxn ang="0">
                  <a:pos x="27" y="152"/>
                </a:cxn>
                <a:cxn ang="0">
                  <a:pos x="26" y="158"/>
                </a:cxn>
                <a:cxn ang="0">
                  <a:pos x="2" y="161"/>
                </a:cxn>
                <a:cxn ang="0">
                  <a:pos x="8" y="163"/>
                </a:cxn>
                <a:cxn ang="0">
                  <a:pos x="8" y="169"/>
                </a:cxn>
                <a:cxn ang="0">
                  <a:pos x="22" y="165"/>
                </a:cxn>
                <a:cxn ang="0">
                  <a:pos x="12" y="176"/>
                </a:cxn>
                <a:cxn ang="0">
                  <a:pos x="6" y="185"/>
                </a:cxn>
                <a:cxn ang="0">
                  <a:pos x="16" y="185"/>
                </a:cxn>
                <a:cxn ang="0">
                  <a:pos x="10" y="198"/>
                </a:cxn>
                <a:cxn ang="0">
                  <a:pos x="60" y="188"/>
                </a:cxn>
                <a:cxn ang="0">
                  <a:pos x="73" y="176"/>
                </a:cxn>
                <a:cxn ang="0">
                  <a:pos x="90" y="175"/>
                </a:cxn>
                <a:cxn ang="0">
                  <a:pos x="97" y="151"/>
                </a:cxn>
                <a:cxn ang="0">
                  <a:pos x="86" y="114"/>
                </a:cxn>
                <a:cxn ang="0">
                  <a:pos x="102" y="99"/>
                </a:cxn>
                <a:cxn ang="0">
                  <a:pos x="120" y="73"/>
                </a:cxn>
                <a:cxn ang="0">
                  <a:pos x="147" y="43"/>
                </a:cxn>
                <a:cxn ang="0">
                  <a:pos x="168" y="30"/>
                </a:cxn>
                <a:cxn ang="0">
                  <a:pos x="194" y="33"/>
                </a:cxn>
                <a:cxn ang="0">
                  <a:pos x="230" y="32"/>
                </a:cxn>
                <a:cxn ang="0">
                  <a:pos x="270" y="20"/>
                </a:cxn>
                <a:cxn ang="0">
                  <a:pos x="289" y="23"/>
                </a:cxn>
                <a:cxn ang="0">
                  <a:pos x="276" y="19"/>
                </a:cxn>
                <a:cxn ang="0">
                  <a:pos x="278" y="6"/>
                </a:cxn>
                <a:cxn ang="0">
                  <a:pos x="256" y="13"/>
                </a:cxn>
                <a:cxn ang="0">
                  <a:pos x="253" y="5"/>
                </a:cxn>
                <a:cxn ang="0">
                  <a:pos x="237" y="11"/>
                </a:cxn>
                <a:cxn ang="0">
                  <a:pos x="225" y="5"/>
                </a:cxn>
                <a:cxn ang="0">
                  <a:pos x="213" y="6"/>
                </a:cxn>
                <a:cxn ang="0">
                  <a:pos x="193" y="12"/>
                </a:cxn>
                <a:cxn ang="0">
                  <a:pos x="186" y="18"/>
                </a:cxn>
              </a:cxnLst>
              <a:rect l="0" t="0" r="r" b="b"/>
              <a:pathLst>
                <a:path w="289" h="205">
                  <a:moveTo>
                    <a:pt x="171" y="21"/>
                  </a:moveTo>
                  <a:lnTo>
                    <a:pt x="166" y="26"/>
                  </a:lnTo>
                  <a:lnTo>
                    <a:pt x="166" y="17"/>
                  </a:lnTo>
                  <a:lnTo>
                    <a:pt x="165" y="21"/>
                  </a:lnTo>
                  <a:lnTo>
                    <a:pt x="162" y="23"/>
                  </a:lnTo>
                  <a:lnTo>
                    <a:pt x="159" y="18"/>
                  </a:lnTo>
                  <a:lnTo>
                    <a:pt x="157" y="21"/>
                  </a:lnTo>
                  <a:lnTo>
                    <a:pt x="158" y="25"/>
                  </a:lnTo>
                  <a:lnTo>
                    <a:pt x="150" y="24"/>
                  </a:lnTo>
                  <a:lnTo>
                    <a:pt x="151" y="26"/>
                  </a:lnTo>
                  <a:lnTo>
                    <a:pt x="145" y="25"/>
                  </a:lnTo>
                  <a:lnTo>
                    <a:pt x="141" y="29"/>
                  </a:lnTo>
                  <a:lnTo>
                    <a:pt x="142" y="35"/>
                  </a:lnTo>
                  <a:lnTo>
                    <a:pt x="140" y="36"/>
                  </a:lnTo>
                  <a:lnTo>
                    <a:pt x="127" y="38"/>
                  </a:lnTo>
                  <a:lnTo>
                    <a:pt x="140" y="39"/>
                  </a:lnTo>
                  <a:lnTo>
                    <a:pt x="138" y="43"/>
                  </a:lnTo>
                  <a:lnTo>
                    <a:pt x="129" y="42"/>
                  </a:lnTo>
                  <a:lnTo>
                    <a:pt x="128" y="43"/>
                  </a:lnTo>
                  <a:lnTo>
                    <a:pt x="126" y="47"/>
                  </a:lnTo>
                  <a:lnTo>
                    <a:pt x="126" y="48"/>
                  </a:lnTo>
                  <a:lnTo>
                    <a:pt x="122" y="44"/>
                  </a:lnTo>
                  <a:lnTo>
                    <a:pt x="118" y="45"/>
                  </a:lnTo>
                  <a:lnTo>
                    <a:pt x="110" y="51"/>
                  </a:lnTo>
                  <a:lnTo>
                    <a:pt x="121" y="50"/>
                  </a:lnTo>
                  <a:lnTo>
                    <a:pt x="117" y="53"/>
                  </a:lnTo>
                  <a:lnTo>
                    <a:pt x="120" y="55"/>
                  </a:lnTo>
                  <a:lnTo>
                    <a:pt x="118" y="55"/>
                  </a:lnTo>
                  <a:lnTo>
                    <a:pt x="111" y="55"/>
                  </a:lnTo>
                  <a:lnTo>
                    <a:pt x="110" y="57"/>
                  </a:lnTo>
                  <a:lnTo>
                    <a:pt x="118" y="61"/>
                  </a:lnTo>
                  <a:lnTo>
                    <a:pt x="109" y="61"/>
                  </a:lnTo>
                  <a:lnTo>
                    <a:pt x="99" y="65"/>
                  </a:lnTo>
                  <a:lnTo>
                    <a:pt x="93" y="68"/>
                  </a:lnTo>
                  <a:lnTo>
                    <a:pt x="94" y="68"/>
                  </a:lnTo>
                  <a:lnTo>
                    <a:pt x="91" y="72"/>
                  </a:lnTo>
                  <a:lnTo>
                    <a:pt x="93" y="73"/>
                  </a:lnTo>
                  <a:lnTo>
                    <a:pt x="100" y="73"/>
                  </a:lnTo>
                  <a:lnTo>
                    <a:pt x="90" y="77"/>
                  </a:lnTo>
                  <a:lnTo>
                    <a:pt x="87" y="81"/>
                  </a:lnTo>
                  <a:lnTo>
                    <a:pt x="87" y="85"/>
                  </a:lnTo>
                  <a:lnTo>
                    <a:pt x="87" y="89"/>
                  </a:lnTo>
                  <a:lnTo>
                    <a:pt x="90" y="90"/>
                  </a:lnTo>
                  <a:lnTo>
                    <a:pt x="75" y="95"/>
                  </a:lnTo>
                  <a:lnTo>
                    <a:pt x="75" y="96"/>
                  </a:lnTo>
                  <a:lnTo>
                    <a:pt x="81" y="93"/>
                  </a:lnTo>
                  <a:lnTo>
                    <a:pt x="78" y="98"/>
                  </a:lnTo>
                  <a:lnTo>
                    <a:pt x="72" y="101"/>
                  </a:lnTo>
                  <a:lnTo>
                    <a:pt x="67" y="102"/>
                  </a:lnTo>
                  <a:lnTo>
                    <a:pt x="60" y="109"/>
                  </a:lnTo>
                  <a:lnTo>
                    <a:pt x="56" y="113"/>
                  </a:lnTo>
                  <a:lnTo>
                    <a:pt x="61" y="116"/>
                  </a:lnTo>
                  <a:lnTo>
                    <a:pt x="68" y="111"/>
                  </a:lnTo>
                  <a:lnTo>
                    <a:pt x="73" y="109"/>
                  </a:lnTo>
                  <a:lnTo>
                    <a:pt x="73" y="114"/>
                  </a:lnTo>
                  <a:lnTo>
                    <a:pt x="63" y="117"/>
                  </a:lnTo>
                  <a:lnTo>
                    <a:pt x="58" y="117"/>
                  </a:lnTo>
                  <a:lnTo>
                    <a:pt x="49" y="116"/>
                  </a:lnTo>
                  <a:lnTo>
                    <a:pt x="48" y="117"/>
                  </a:lnTo>
                  <a:lnTo>
                    <a:pt x="42" y="121"/>
                  </a:lnTo>
                  <a:lnTo>
                    <a:pt x="38" y="125"/>
                  </a:lnTo>
                  <a:lnTo>
                    <a:pt x="39" y="127"/>
                  </a:lnTo>
                  <a:lnTo>
                    <a:pt x="37" y="126"/>
                  </a:lnTo>
                  <a:lnTo>
                    <a:pt x="40" y="129"/>
                  </a:lnTo>
                  <a:lnTo>
                    <a:pt x="24" y="125"/>
                  </a:lnTo>
                  <a:lnTo>
                    <a:pt x="22" y="129"/>
                  </a:lnTo>
                  <a:lnTo>
                    <a:pt x="27" y="129"/>
                  </a:lnTo>
                  <a:lnTo>
                    <a:pt x="32" y="129"/>
                  </a:lnTo>
                  <a:lnTo>
                    <a:pt x="27" y="131"/>
                  </a:lnTo>
                  <a:lnTo>
                    <a:pt x="16" y="133"/>
                  </a:lnTo>
                  <a:lnTo>
                    <a:pt x="25" y="137"/>
                  </a:lnTo>
                  <a:lnTo>
                    <a:pt x="24" y="138"/>
                  </a:lnTo>
                  <a:lnTo>
                    <a:pt x="15" y="134"/>
                  </a:lnTo>
                  <a:lnTo>
                    <a:pt x="16" y="137"/>
                  </a:lnTo>
                  <a:lnTo>
                    <a:pt x="9" y="138"/>
                  </a:lnTo>
                  <a:lnTo>
                    <a:pt x="12" y="139"/>
                  </a:lnTo>
                  <a:lnTo>
                    <a:pt x="4" y="140"/>
                  </a:lnTo>
                  <a:lnTo>
                    <a:pt x="1" y="139"/>
                  </a:lnTo>
                  <a:lnTo>
                    <a:pt x="1" y="143"/>
                  </a:lnTo>
                  <a:lnTo>
                    <a:pt x="18" y="144"/>
                  </a:lnTo>
                  <a:lnTo>
                    <a:pt x="0" y="145"/>
                  </a:lnTo>
                  <a:lnTo>
                    <a:pt x="6" y="150"/>
                  </a:lnTo>
                  <a:lnTo>
                    <a:pt x="2" y="151"/>
                  </a:lnTo>
                  <a:lnTo>
                    <a:pt x="3" y="151"/>
                  </a:lnTo>
                  <a:lnTo>
                    <a:pt x="1" y="155"/>
                  </a:lnTo>
                  <a:lnTo>
                    <a:pt x="19" y="152"/>
                  </a:lnTo>
                  <a:lnTo>
                    <a:pt x="27" y="152"/>
                  </a:lnTo>
                  <a:lnTo>
                    <a:pt x="28" y="151"/>
                  </a:lnTo>
                  <a:lnTo>
                    <a:pt x="30" y="156"/>
                  </a:lnTo>
                  <a:lnTo>
                    <a:pt x="26" y="158"/>
                  </a:lnTo>
                  <a:lnTo>
                    <a:pt x="16" y="156"/>
                  </a:lnTo>
                  <a:lnTo>
                    <a:pt x="0" y="158"/>
                  </a:lnTo>
                  <a:lnTo>
                    <a:pt x="2" y="161"/>
                  </a:lnTo>
                  <a:lnTo>
                    <a:pt x="3" y="162"/>
                  </a:lnTo>
                  <a:lnTo>
                    <a:pt x="0" y="162"/>
                  </a:lnTo>
                  <a:lnTo>
                    <a:pt x="8" y="163"/>
                  </a:lnTo>
                  <a:lnTo>
                    <a:pt x="6" y="167"/>
                  </a:lnTo>
                  <a:lnTo>
                    <a:pt x="2" y="170"/>
                  </a:lnTo>
                  <a:lnTo>
                    <a:pt x="8" y="169"/>
                  </a:lnTo>
                  <a:lnTo>
                    <a:pt x="10" y="173"/>
                  </a:lnTo>
                  <a:lnTo>
                    <a:pt x="16" y="167"/>
                  </a:lnTo>
                  <a:lnTo>
                    <a:pt x="22" y="165"/>
                  </a:lnTo>
                  <a:lnTo>
                    <a:pt x="19" y="171"/>
                  </a:lnTo>
                  <a:lnTo>
                    <a:pt x="18" y="167"/>
                  </a:lnTo>
                  <a:lnTo>
                    <a:pt x="12" y="176"/>
                  </a:lnTo>
                  <a:lnTo>
                    <a:pt x="13" y="177"/>
                  </a:lnTo>
                  <a:lnTo>
                    <a:pt x="6" y="180"/>
                  </a:lnTo>
                  <a:lnTo>
                    <a:pt x="6" y="185"/>
                  </a:lnTo>
                  <a:lnTo>
                    <a:pt x="12" y="182"/>
                  </a:lnTo>
                  <a:lnTo>
                    <a:pt x="15" y="181"/>
                  </a:lnTo>
                  <a:lnTo>
                    <a:pt x="16" y="185"/>
                  </a:lnTo>
                  <a:lnTo>
                    <a:pt x="15" y="189"/>
                  </a:lnTo>
                  <a:lnTo>
                    <a:pt x="9" y="191"/>
                  </a:lnTo>
                  <a:lnTo>
                    <a:pt x="10" y="198"/>
                  </a:lnTo>
                  <a:lnTo>
                    <a:pt x="21" y="204"/>
                  </a:lnTo>
                  <a:lnTo>
                    <a:pt x="39" y="205"/>
                  </a:lnTo>
                  <a:lnTo>
                    <a:pt x="60" y="188"/>
                  </a:lnTo>
                  <a:lnTo>
                    <a:pt x="68" y="188"/>
                  </a:lnTo>
                  <a:lnTo>
                    <a:pt x="68" y="179"/>
                  </a:lnTo>
                  <a:lnTo>
                    <a:pt x="73" y="176"/>
                  </a:lnTo>
                  <a:lnTo>
                    <a:pt x="76" y="187"/>
                  </a:lnTo>
                  <a:lnTo>
                    <a:pt x="82" y="191"/>
                  </a:lnTo>
                  <a:lnTo>
                    <a:pt x="90" y="175"/>
                  </a:lnTo>
                  <a:lnTo>
                    <a:pt x="92" y="161"/>
                  </a:lnTo>
                  <a:lnTo>
                    <a:pt x="92" y="156"/>
                  </a:lnTo>
                  <a:lnTo>
                    <a:pt x="97" y="151"/>
                  </a:lnTo>
                  <a:lnTo>
                    <a:pt x="87" y="145"/>
                  </a:lnTo>
                  <a:lnTo>
                    <a:pt x="87" y="129"/>
                  </a:lnTo>
                  <a:lnTo>
                    <a:pt x="86" y="114"/>
                  </a:lnTo>
                  <a:lnTo>
                    <a:pt x="97" y="107"/>
                  </a:lnTo>
                  <a:lnTo>
                    <a:pt x="108" y="105"/>
                  </a:lnTo>
                  <a:lnTo>
                    <a:pt x="102" y="99"/>
                  </a:lnTo>
                  <a:lnTo>
                    <a:pt x="111" y="79"/>
                  </a:lnTo>
                  <a:lnTo>
                    <a:pt x="109" y="75"/>
                  </a:lnTo>
                  <a:lnTo>
                    <a:pt x="120" y="73"/>
                  </a:lnTo>
                  <a:lnTo>
                    <a:pt x="126" y="63"/>
                  </a:lnTo>
                  <a:lnTo>
                    <a:pt x="132" y="48"/>
                  </a:lnTo>
                  <a:lnTo>
                    <a:pt x="147" y="43"/>
                  </a:lnTo>
                  <a:lnTo>
                    <a:pt x="148" y="38"/>
                  </a:lnTo>
                  <a:lnTo>
                    <a:pt x="169" y="38"/>
                  </a:lnTo>
                  <a:lnTo>
                    <a:pt x="168" y="30"/>
                  </a:lnTo>
                  <a:lnTo>
                    <a:pt x="174" y="30"/>
                  </a:lnTo>
                  <a:lnTo>
                    <a:pt x="181" y="25"/>
                  </a:lnTo>
                  <a:lnTo>
                    <a:pt x="194" y="33"/>
                  </a:lnTo>
                  <a:lnTo>
                    <a:pt x="207" y="36"/>
                  </a:lnTo>
                  <a:lnTo>
                    <a:pt x="223" y="36"/>
                  </a:lnTo>
                  <a:lnTo>
                    <a:pt x="230" y="32"/>
                  </a:lnTo>
                  <a:lnTo>
                    <a:pt x="234" y="21"/>
                  </a:lnTo>
                  <a:lnTo>
                    <a:pt x="250" y="14"/>
                  </a:lnTo>
                  <a:lnTo>
                    <a:pt x="270" y="20"/>
                  </a:lnTo>
                  <a:lnTo>
                    <a:pt x="270" y="30"/>
                  </a:lnTo>
                  <a:lnTo>
                    <a:pt x="282" y="23"/>
                  </a:lnTo>
                  <a:lnTo>
                    <a:pt x="289" y="23"/>
                  </a:lnTo>
                  <a:lnTo>
                    <a:pt x="289" y="18"/>
                  </a:lnTo>
                  <a:lnTo>
                    <a:pt x="282" y="18"/>
                  </a:lnTo>
                  <a:lnTo>
                    <a:pt x="276" y="19"/>
                  </a:lnTo>
                  <a:lnTo>
                    <a:pt x="266" y="13"/>
                  </a:lnTo>
                  <a:lnTo>
                    <a:pt x="289" y="11"/>
                  </a:lnTo>
                  <a:lnTo>
                    <a:pt x="278" y="6"/>
                  </a:lnTo>
                  <a:lnTo>
                    <a:pt x="266" y="3"/>
                  </a:lnTo>
                  <a:lnTo>
                    <a:pt x="259" y="6"/>
                  </a:lnTo>
                  <a:lnTo>
                    <a:pt x="256" y="13"/>
                  </a:lnTo>
                  <a:lnTo>
                    <a:pt x="255" y="8"/>
                  </a:lnTo>
                  <a:lnTo>
                    <a:pt x="254" y="6"/>
                  </a:lnTo>
                  <a:lnTo>
                    <a:pt x="253" y="5"/>
                  </a:lnTo>
                  <a:lnTo>
                    <a:pt x="252" y="0"/>
                  </a:lnTo>
                  <a:lnTo>
                    <a:pt x="244" y="2"/>
                  </a:lnTo>
                  <a:lnTo>
                    <a:pt x="237" y="11"/>
                  </a:lnTo>
                  <a:lnTo>
                    <a:pt x="234" y="2"/>
                  </a:lnTo>
                  <a:lnTo>
                    <a:pt x="220" y="14"/>
                  </a:lnTo>
                  <a:lnTo>
                    <a:pt x="225" y="5"/>
                  </a:lnTo>
                  <a:lnTo>
                    <a:pt x="222" y="3"/>
                  </a:lnTo>
                  <a:lnTo>
                    <a:pt x="213" y="3"/>
                  </a:lnTo>
                  <a:lnTo>
                    <a:pt x="213" y="6"/>
                  </a:lnTo>
                  <a:lnTo>
                    <a:pt x="200" y="14"/>
                  </a:lnTo>
                  <a:lnTo>
                    <a:pt x="192" y="14"/>
                  </a:lnTo>
                  <a:lnTo>
                    <a:pt x="193" y="12"/>
                  </a:lnTo>
                  <a:lnTo>
                    <a:pt x="180" y="13"/>
                  </a:lnTo>
                  <a:lnTo>
                    <a:pt x="188" y="15"/>
                  </a:lnTo>
                  <a:lnTo>
                    <a:pt x="186" y="18"/>
                  </a:lnTo>
                  <a:lnTo>
                    <a:pt x="178" y="18"/>
                  </a:lnTo>
                  <a:lnTo>
                    <a:pt x="171" y="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8" name="Freeform 337"/>
            <p:cNvSpPr>
              <a:spLocks/>
            </p:cNvSpPr>
            <p:nvPr/>
          </p:nvSpPr>
          <p:spPr bwMode="auto">
            <a:xfrm>
              <a:off x="2653" y="1194"/>
              <a:ext cx="120" cy="49"/>
            </a:xfrm>
            <a:custGeom>
              <a:avLst/>
              <a:gdLst/>
              <a:ahLst/>
              <a:cxnLst>
                <a:cxn ang="0">
                  <a:pos x="27" y="4"/>
                </a:cxn>
                <a:cxn ang="0">
                  <a:pos x="12" y="4"/>
                </a:cxn>
                <a:cxn ang="0">
                  <a:pos x="0" y="5"/>
                </a:cxn>
                <a:cxn ang="0">
                  <a:pos x="3" y="11"/>
                </a:cxn>
                <a:cxn ang="0">
                  <a:pos x="11" y="10"/>
                </a:cxn>
                <a:cxn ang="0">
                  <a:pos x="12" y="13"/>
                </a:cxn>
                <a:cxn ang="0">
                  <a:pos x="5" y="15"/>
                </a:cxn>
                <a:cxn ang="0">
                  <a:pos x="18" y="21"/>
                </a:cxn>
                <a:cxn ang="0">
                  <a:pos x="29" y="24"/>
                </a:cxn>
                <a:cxn ang="0">
                  <a:pos x="36" y="21"/>
                </a:cxn>
                <a:cxn ang="0">
                  <a:pos x="45" y="17"/>
                </a:cxn>
                <a:cxn ang="0">
                  <a:pos x="46" y="19"/>
                </a:cxn>
                <a:cxn ang="0">
                  <a:pos x="58" y="17"/>
                </a:cxn>
                <a:cxn ang="0">
                  <a:pos x="59" y="21"/>
                </a:cxn>
                <a:cxn ang="0">
                  <a:pos x="34" y="25"/>
                </a:cxn>
                <a:cxn ang="0">
                  <a:pos x="30" y="29"/>
                </a:cxn>
                <a:cxn ang="0">
                  <a:pos x="61" y="29"/>
                </a:cxn>
                <a:cxn ang="0">
                  <a:pos x="49" y="30"/>
                </a:cxn>
                <a:cxn ang="0">
                  <a:pos x="54" y="33"/>
                </a:cxn>
                <a:cxn ang="0">
                  <a:pos x="35" y="34"/>
                </a:cxn>
                <a:cxn ang="0">
                  <a:pos x="57" y="41"/>
                </a:cxn>
                <a:cxn ang="0">
                  <a:pos x="64" y="46"/>
                </a:cxn>
                <a:cxn ang="0">
                  <a:pos x="67" y="43"/>
                </a:cxn>
                <a:cxn ang="0">
                  <a:pos x="76" y="34"/>
                </a:cxn>
                <a:cxn ang="0">
                  <a:pos x="82" y="27"/>
                </a:cxn>
                <a:cxn ang="0">
                  <a:pos x="84" y="22"/>
                </a:cxn>
                <a:cxn ang="0">
                  <a:pos x="108" y="17"/>
                </a:cxn>
                <a:cxn ang="0">
                  <a:pos x="81" y="11"/>
                </a:cxn>
                <a:cxn ang="0">
                  <a:pos x="77" y="6"/>
                </a:cxn>
                <a:cxn ang="0">
                  <a:pos x="70" y="9"/>
                </a:cxn>
                <a:cxn ang="0">
                  <a:pos x="69" y="5"/>
                </a:cxn>
                <a:cxn ang="0">
                  <a:pos x="54" y="0"/>
                </a:cxn>
                <a:cxn ang="0">
                  <a:pos x="57" y="15"/>
                </a:cxn>
                <a:cxn ang="0">
                  <a:pos x="39" y="4"/>
                </a:cxn>
                <a:cxn ang="0">
                  <a:pos x="31" y="9"/>
                </a:cxn>
                <a:cxn ang="0">
                  <a:pos x="23" y="6"/>
                </a:cxn>
                <a:cxn ang="0">
                  <a:pos x="27" y="4"/>
                </a:cxn>
              </a:cxnLst>
              <a:rect l="0" t="0" r="r" b="b"/>
              <a:pathLst>
                <a:path w="108" h="46">
                  <a:moveTo>
                    <a:pt x="27" y="4"/>
                  </a:moveTo>
                  <a:lnTo>
                    <a:pt x="12" y="4"/>
                  </a:lnTo>
                  <a:lnTo>
                    <a:pt x="0" y="5"/>
                  </a:lnTo>
                  <a:lnTo>
                    <a:pt x="3" y="11"/>
                  </a:lnTo>
                  <a:lnTo>
                    <a:pt x="11" y="10"/>
                  </a:lnTo>
                  <a:lnTo>
                    <a:pt x="12" y="13"/>
                  </a:lnTo>
                  <a:lnTo>
                    <a:pt x="5" y="15"/>
                  </a:lnTo>
                  <a:lnTo>
                    <a:pt x="18" y="21"/>
                  </a:lnTo>
                  <a:lnTo>
                    <a:pt x="29" y="24"/>
                  </a:lnTo>
                  <a:lnTo>
                    <a:pt x="36" y="21"/>
                  </a:lnTo>
                  <a:lnTo>
                    <a:pt x="45" y="17"/>
                  </a:lnTo>
                  <a:lnTo>
                    <a:pt x="46" y="19"/>
                  </a:lnTo>
                  <a:lnTo>
                    <a:pt x="58" y="17"/>
                  </a:lnTo>
                  <a:lnTo>
                    <a:pt x="59" y="21"/>
                  </a:lnTo>
                  <a:lnTo>
                    <a:pt x="34" y="25"/>
                  </a:lnTo>
                  <a:lnTo>
                    <a:pt x="30" y="29"/>
                  </a:lnTo>
                  <a:lnTo>
                    <a:pt x="61" y="29"/>
                  </a:lnTo>
                  <a:lnTo>
                    <a:pt x="49" y="30"/>
                  </a:lnTo>
                  <a:lnTo>
                    <a:pt x="54" y="33"/>
                  </a:lnTo>
                  <a:lnTo>
                    <a:pt x="35" y="34"/>
                  </a:lnTo>
                  <a:lnTo>
                    <a:pt x="57" y="41"/>
                  </a:lnTo>
                  <a:lnTo>
                    <a:pt x="64" y="46"/>
                  </a:lnTo>
                  <a:lnTo>
                    <a:pt x="67" y="43"/>
                  </a:lnTo>
                  <a:lnTo>
                    <a:pt x="76" y="34"/>
                  </a:lnTo>
                  <a:lnTo>
                    <a:pt x="82" y="27"/>
                  </a:lnTo>
                  <a:lnTo>
                    <a:pt x="84" y="22"/>
                  </a:lnTo>
                  <a:lnTo>
                    <a:pt x="108" y="17"/>
                  </a:lnTo>
                  <a:lnTo>
                    <a:pt x="81" y="11"/>
                  </a:lnTo>
                  <a:lnTo>
                    <a:pt x="77" y="6"/>
                  </a:lnTo>
                  <a:lnTo>
                    <a:pt x="70" y="9"/>
                  </a:lnTo>
                  <a:lnTo>
                    <a:pt x="69" y="5"/>
                  </a:lnTo>
                  <a:lnTo>
                    <a:pt x="54" y="0"/>
                  </a:lnTo>
                  <a:lnTo>
                    <a:pt x="57" y="15"/>
                  </a:lnTo>
                  <a:lnTo>
                    <a:pt x="39" y="4"/>
                  </a:lnTo>
                  <a:lnTo>
                    <a:pt x="31" y="9"/>
                  </a:lnTo>
                  <a:lnTo>
                    <a:pt x="23" y="6"/>
                  </a:lnTo>
                  <a:lnTo>
                    <a:pt x="27"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9" name="Freeform 338"/>
            <p:cNvSpPr>
              <a:spLocks/>
            </p:cNvSpPr>
            <p:nvPr/>
          </p:nvSpPr>
          <p:spPr bwMode="auto">
            <a:xfrm>
              <a:off x="2731" y="1188"/>
              <a:ext cx="98" cy="15"/>
            </a:xfrm>
            <a:custGeom>
              <a:avLst/>
              <a:gdLst/>
              <a:ahLst/>
              <a:cxnLst>
                <a:cxn ang="0">
                  <a:pos x="40" y="5"/>
                </a:cxn>
                <a:cxn ang="0">
                  <a:pos x="14" y="2"/>
                </a:cxn>
                <a:cxn ang="0">
                  <a:pos x="10" y="3"/>
                </a:cxn>
                <a:cxn ang="0">
                  <a:pos x="0" y="5"/>
                </a:cxn>
                <a:cxn ang="0">
                  <a:pos x="0" y="6"/>
                </a:cxn>
                <a:cxn ang="0">
                  <a:pos x="36" y="9"/>
                </a:cxn>
                <a:cxn ang="0">
                  <a:pos x="19" y="11"/>
                </a:cxn>
                <a:cxn ang="0">
                  <a:pos x="47" y="15"/>
                </a:cxn>
                <a:cxn ang="0">
                  <a:pos x="77" y="14"/>
                </a:cxn>
                <a:cxn ang="0">
                  <a:pos x="89" y="6"/>
                </a:cxn>
                <a:cxn ang="0">
                  <a:pos x="82" y="4"/>
                </a:cxn>
                <a:cxn ang="0">
                  <a:pos x="53" y="3"/>
                </a:cxn>
                <a:cxn ang="0">
                  <a:pos x="49" y="3"/>
                </a:cxn>
                <a:cxn ang="0">
                  <a:pos x="43" y="0"/>
                </a:cxn>
                <a:cxn ang="0">
                  <a:pos x="41" y="3"/>
                </a:cxn>
                <a:cxn ang="0">
                  <a:pos x="40" y="5"/>
                </a:cxn>
              </a:cxnLst>
              <a:rect l="0" t="0" r="r" b="b"/>
              <a:pathLst>
                <a:path w="89" h="15">
                  <a:moveTo>
                    <a:pt x="40" y="5"/>
                  </a:moveTo>
                  <a:lnTo>
                    <a:pt x="14" y="2"/>
                  </a:lnTo>
                  <a:lnTo>
                    <a:pt x="10" y="3"/>
                  </a:lnTo>
                  <a:lnTo>
                    <a:pt x="0" y="5"/>
                  </a:lnTo>
                  <a:lnTo>
                    <a:pt x="0" y="6"/>
                  </a:lnTo>
                  <a:lnTo>
                    <a:pt x="36" y="9"/>
                  </a:lnTo>
                  <a:lnTo>
                    <a:pt x="19" y="11"/>
                  </a:lnTo>
                  <a:lnTo>
                    <a:pt x="47" y="15"/>
                  </a:lnTo>
                  <a:lnTo>
                    <a:pt x="77" y="14"/>
                  </a:lnTo>
                  <a:lnTo>
                    <a:pt x="89" y="6"/>
                  </a:lnTo>
                  <a:lnTo>
                    <a:pt x="82" y="4"/>
                  </a:lnTo>
                  <a:lnTo>
                    <a:pt x="53" y="3"/>
                  </a:lnTo>
                  <a:lnTo>
                    <a:pt x="49" y="3"/>
                  </a:lnTo>
                  <a:lnTo>
                    <a:pt x="43" y="0"/>
                  </a:lnTo>
                  <a:lnTo>
                    <a:pt x="41" y="3"/>
                  </a:lnTo>
                  <a:lnTo>
                    <a:pt x="40"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0" name="Freeform 339"/>
            <p:cNvSpPr>
              <a:spLocks/>
            </p:cNvSpPr>
            <p:nvPr/>
          </p:nvSpPr>
          <p:spPr bwMode="auto">
            <a:xfrm>
              <a:off x="2767" y="1221"/>
              <a:ext cx="46" cy="11"/>
            </a:xfrm>
            <a:custGeom>
              <a:avLst/>
              <a:gdLst/>
              <a:ahLst/>
              <a:cxnLst>
                <a:cxn ang="0">
                  <a:pos x="33" y="9"/>
                </a:cxn>
                <a:cxn ang="0">
                  <a:pos x="18" y="10"/>
                </a:cxn>
                <a:cxn ang="0">
                  <a:pos x="5" y="10"/>
                </a:cxn>
                <a:cxn ang="0">
                  <a:pos x="9" y="4"/>
                </a:cxn>
                <a:cxn ang="0">
                  <a:pos x="0" y="0"/>
                </a:cxn>
                <a:cxn ang="0">
                  <a:pos x="26" y="0"/>
                </a:cxn>
                <a:cxn ang="0">
                  <a:pos x="42" y="5"/>
                </a:cxn>
                <a:cxn ang="0">
                  <a:pos x="33" y="9"/>
                </a:cxn>
              </a:cxnLst>
              <a:rect l="0" t="0" r="r" b="b"/>
              <a:pathLst>
                <a:path w="42" h="10">
                  <a:moveTo>
                    <a:pt x="33" y="9"/>
                  </a:moveTo>
                  <a:lnTo>
                    <a:pt x="18" y="10"/>
                  </a:lnTo>
                  <a:lnTo>
                    <a:pt x="5" y="10"/>
                  </a:lnTo>
                  <a:lnTo>
                    <a:pt x="9" y="4"/>
                  </a:lnTo>
                  <a:lnTo>
                    <a:pt x="0" y="0"/>
                  </a:lnTo>
                  <a:lnTo>
                    <a:pt x="26" y="0"/>
                  </a:lnTo>
                  <a:lnTo>
                    <a:pt x="42" y="5"/>
                  </a:lnTo>
                  <a:lnTo>
                    <a:pt x="3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1" name="Freeform 340"/>
            <p:cNvSpPr>
              <a:spLocks/>
            </p:cNvSpPr>
            <p:nvPr/>
          </p:nvSpPr>
          <p:spPr bwMode="auto">
            <a:xfrm>
              <a:off x="2727" y="1368"/>
              <a:ext cx="15" cy="8"/>
            </a:xfrm>
            <a:custGeom>
              <a:avLst/>
              <a:gdLst/>
              <a:ahLst/>
              <a:cxnLst>
                <a:cxn ang="0">
                  <a:pos x="9" y="0"/>
                </a:cxn>
                <a:cxn ang="0">
                  <a:pos x="4" y="7"/>
                </a:cxn>
                <a:cxn ang="0">
                  <a:pos x="0" y="9"/>
                </a:cxn>
                <a:cxn ang="0">
                  <a:pos x="6" y="7"/>
                </a:cxn>
                <a:cxn ang="0">
                  <a:pos x="10" y="9"/>
                </a:cxn>
                <a:cxn ang="0">
                  <a:pos x="16" y="3"/>
                </a:cxn>
                <a:cxn ang="0">
                  <a:pos x="10" y="4"/>
                </a:cxn>
                <a:cxn ang="0">
                  <a:pos x="9" y="0"/>
                </a:cxn>
              </a:cxnLst>
              <a:rect l="0" t="0" r="r" b="b"/>
              <a:pathLst>
                <a:path w="16" h="9">
                  <a:moveTo>
                    <a:pt x="9" y="0"/>
                  </a:moveTo>
                  <a:lnTo>
                    <a:pt x="4" y="7"/>
                  </a:lnTo>
                  <a:lnTo>
                    <a:pt x="0" y="9"/>
                  </a:lnTo>
                  <a:lnTo>
                    <a:pt x="6" y="7"/>
                  </a:lnTo>
                  <a:lnTo>
                    <a:pt x="10" y="9"/>
                  </a:lnTo>
                  <a:lnTo>
                    <a:pt x="16" y="3"/>
                  </a:lnTo>
                  <a:lnTo>
                    <a:pt x="10" y="4"/>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2" name="Freeform 341"/>
            <p:cNvSpPr>
              <a:spLocks/>
            </p:cNvSpPr>
            <p:nvPr/>
          </p:nvSpPr>
          <p:spPr bwMode="auto">
            <a:xfrm>
              <a:off x="2796" y="1348"/>
              <a:ext cx="166" cy="177"/>
            </a:xfrm>
            <a:custGeom>
              <a:avLst/>
              <a:gdLst/>
              <a:ahLst/>
              <a:cxnLst>
                <a:cxn ang="0">
                  <a:pos x="127" y="87"/>
                </a:cxn>
                <a:cxn ang="0">
                  <a:pos x="122" y="82"/>
                </a:cxn>
                <a:cxn ang="0">
                  <a:pos x="121" y="67"/>
                </a:cxn>
                <a:cxn ang="0">
                  <a:pos x="106" y="51"/>
                </a:cxn>
                <a:cxn ang="0">
                  <a:pos x="114" y="39"/>
                </a:cxn>
                <a:cxn ang="0">
                  <a:pos x="96" y="29"/>
                </a:cxn>
                <a:cxn ang="0">
                  <a:pos x="96" y="19"/>
                </a:cxn>
                <a:cxn ang="0">
                  <a:pos x="96" y="16"/>
                </a:cxn>
                <a:cxn ang="0">
                  <a:pos x="96" y="6"/>
                </a:cxn>
                <a:cxn ang="0">
                  <a:pos x="76" y="0"/>
                </a:cxn>
                <a:cxn ang="0">
                  <a:pos x="60" y="7"/>
                </a:cxn>
                <a:cxn ang="0">
                  <a:pos x="56" y="18"/>
                </a:cxn>
                <a:cxn ang="0">
                  <a:pos x="49" y="22"/>
                </a:cxn>
                <a:cxn ang="0">
                  <a:pos x="33" y="22"/>
                </a:cxn>
                <a:cxn ang="0">
                  <a:pos x="20" y="19"/>
                </a:cxn>
                <a:cxn ang="0">
                  <a:pos x="7" y="11"/>
                </a:cxn>
                <a:cxn ang="0">
                  <a:pos x="0" y="16"/>
                </a:cxn>
                <a:cxn ang="0">
                  <a:pos x="33" y="30"/>
                </a:cxn>
                <a:cxn ang="0">
                  <a:pos x="45" y="51"/>
                </a:cxn>
                <a:cxn ang="0">
                  <a:pos x="51" y="66"/>
                </a:cxn>
                <a:cxn ang="0">
                  <a:pos x="56" y="65"/>
                </a:cxn>
                <a:cxn ang="0">
                  <a:pos x="62" y="69"/>
                </a:cxn>
                <a:cxn ang="0">
                  <a:pos x="66" y="81"/>
                </a:cxn>
                <a:cxn ang="0">
                  <a:pos x="44" y="96"/>
                </a:cxn>
                <a:cxn ang="0">
                  <a:pos x="36" y="105"/>
                </a:cxn>
                <a:cxn ang="0">
                  <a:pos x="26" y="109"/>
                </a:cxn>
                <a:cxn ang="0">
                  <a:pos x="28" y="127"/>
                </a:cxn>
                <a:cxn ang="0">
                  <a:pos x="32" y="148"/>
                </a:cxn>
                <a:cxn ang="0">
                  <a:pos x="45" y="153"/>
                </a:cxn>
                <a:cxn ang="0">
                  <a:pos x="46" y="155"/>
                </a:cxn>
                <a:cxn ang="0">
                  <a:pos x="51" y="154"/>
                </a:cxn>
                <a:cxn ang="0">
                  <a:pos x="56" y="161"/>
                </a:cxn>
                <a:cxn ang="0">
                  <a:pos x="60" y="159"/>
                </a:cxn>
                <a:cxn ang="0">
                  <a:pos x="91" y="153"/>
                </a:cxn>
                <a:cxn ang="0">
                  <a:pos x="97" y="150"/>
                </a:cxn>
                <a:cxn ang="0">
                  <a:pos x="114" y="150"/>
                </a:cxn>
                <a:cxn ang="0">
                  <a:pos x="123" y="141"/>
                </a:cxn>
                <a:cxn ang="0">
                  <a:pos x="133" y="131"/>
                </a:cxn>
                <a:cxn ang="0">
                  <a:pos x="141" y="121"/>
                </a:cxn>
                <a:cxn ang="0">
                  <a:pos x="151" y="112"/>
                </a:cxn>
                <a:cxn ang="0">
                  <a:pos x="128" y="99"/>
                </a:cxn>
                <a:cxn ang="0">
                  <a:pos x="134" y="94"/>
                </a:cxn>
                <a:cxn ang="0">
                  <a:pos x="127" y="87"/>
                </a:cxn>
              </a:cxnLst>
              <a:rect l="0" t="0" r="r" b="b"/>
              <a:pathLst>
                <a:path w="151" h="161">
                  <a:moveTo>
                    <a:pt x="127" y="87"/>
                  </a:moveTo>
                  <a:lnTo>
                    <a:pt x="122" y="82"/>
                  </a:lnTo>
                  <a:lnTo>
                    <a:pt x="121" y="67"/>
                  </a:lnTo>
                  <a:lnTo>
                    <a:pt x="106" y="51"/>
                  </a:lnTo>
                  <a:lnTo>
                    <a:pt x="114" y="39"/>
                  </a:lnTo>
                  <a:lnTo>
                    <a:pt x="96" y="29"/>
                  </a:lnTo>
                  <a:lnTo>
                    <a:pt x="96" y="19"/>
                  </a:lnTo>
                  <a:lnTo>
                    <a:pt x="96" y="16"/>
                  </a:lnTo>
                  <a:lnTo>
                    <a:pt x="96" y="6"/>
                  </a:lnTo>
                  <a:lnTo>
                    <a:pt x="76" y="0"/>
                  </a:lnTo>
                  <a:lnTo>
                    <a:pt x="60" y="7"/>
                  </a:lnTo>
                  <a:lnTo>
                    <a:pt x="56" y="18"/>
                  </a:lnTo>
                  <a:lnTo>
                    <a:pt x="49" y="22"/>
                  </a:lnTo>
                  <a:lnTo>
                    <a:pt x="33" y="22"/>
                  </a:lnTo>
                  <a:lnTo>
                    <a:pt x="20" y="19"/>
                  </a:lnTo>
                  <a:lnTo>
                    <a:pt x="7" y="11"/>
                  </a:lnTo>
                  <a:lnTo>
                    <a:pt x="0" y="16"/>
                  </a:lnTo>
                  <a:lnTo>
                    <a:pt x="33" y="30"/>
                  </a:lnTo>
                  <a:lnTo>
                    <a:pt x="45" y="51"/>
                  </a:lnTo>
                  <a:lnTo>
                    <a:pt x="51" y="66"/>
                  </a:lnTo>
                  <a:lnTo>
                    <a:pt x="56" y="65"/>
                  </a:lnTo>
                  <a:lnTo>
                    <a:pt x="62" y="69"/>
                  </a:lnTo>
                  <a:lnTo>
                    <a:pt x="66" y="81"/>
                  </a:lnTo>
                  <a:lnTo>
                    <a:pt x="44" y="96"/>
                  </a:lnTo>
                  <a:lnTo>
                    <a:pt x="36" y="105"/>
                  </a:lnTo>
                  <a:lnTo>
                    <a:pt x="26" y="109"/>
                  </a:lnTo>
                  <a:lnTo>
                    <a:pt x="28" y="127"/>
                  </a:lnTo>
                  <a:lnTo>
                    <a:pt x="32" y="148"/>
                  </a:lnTo>
                  <a:lnTo>
                    <a:pt x="45" y="153"/>
                  </a:lnTo>
                  <a:lnTo>
                    <a:pt x="46" y="155"/>
                  </a:lnTo>
                  <a:lnTo>
                    <a:pt x="51" y="154"/>
                  </a:lnTo>
                  <a:lnTo>
                    <a:pt x="56" y="161"/>
                  </a:lnTo>
                  <a:lnTo>
                    <a:pt x="60" y="159"/>
                  </a:lnTo>
                  <a:lnTo>
                    <a:pt x="91" y="153"/>
                  </a:lnTo>
                  <a:lnTo>
                    <a:pt x="97" y="150"/>
                  </a:lnTo>
                  <a:lnTo>
                    <a:pt x="114" y="150"/>
                  </a:lnTo>
                  <a:lnTo>
                    <a:pt x="123" y="141"/>
                  </a:lnTo>
                  <a:lnTo>
                    <a:pt x="133" y="131"/>
                  </a:lnTo>
                  <a:lnTo>
                    <a:pt x="141" y="121"/>
                  </a:lnTo>
                  <a:lnTo>
                    <a:pt x="151" y="112"/>
                  </a:lnTo>
                  <a:lnTo>
                    <a:pt x="128" y="99"/>
                  </a:lnTo>
                  <a:lnTo>
                    <a:pt x="134" y="94"/>
                  </a:lnTo>
                  <a:lnTo>
                    <a:pt x="127"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3" name="Freeform 342"/>
            <p:cNvSpPr>
              <a:spLocks/>
            </p:cNvSpPr>
            <p:nvPr/>
          </p:nvSpPr>
          <p:spPr bwMode="auto">
            <a:xfrm>
              <a:off x="2680" y="1763"/>
              <a:ext cx="2" cy="5"/>
            </a:xfrm>
            <a:custGeom>
              <a:avLst/>
              <a:gdLst/>
              <a:ahLst/>
              <a:cxnLst>
                <a:cxn ang="0">
                  <a:pos x="0" y="0"/>
                </a:cxn>
                <a:cxn ang="0">
                  <a:pos x="0" y="3"/>
                </a:cxn>
                <a:cxn ang="0">
                  <a:pos x="1" y="3"/>
                </a:cxn>
                <a:cxn ang="0">
                  <a:pos x="0" y="0"/>
                </a:cxn>
              </a:cxnLst>
              <a:rect l="0" t="0" r="r" b="b"/>
              <a:pathLst>
                <a:path w="1" h="3">
                  <a:moveTo>
                    <a:pt x="0" y="0"/>
                  </a:moveTo>
                  <a:lnTo>
                    <a:pt x="0" y="3"/>
                  </a:lnTo>
                  <a:lnTo>
                    <a:pt x="1" y="3"/>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4" name="Freeform 343"/>
            <p:cNvSpPr>
              <a:spLocks/>
            </p:cNvSpPr>
            <p:nvPr/>
          </p:nvSpPr>
          <p:spPr bwMode="auto">
            <a:xfrm>
              <a:off x="2680" y="1732"/>
              <a:ext cx="118" cy="49"/>
            </a:xfrm>
            <a:custGeom>
              <a:avLst/>
              <a:gdLst/>
              <a:ahLst/>
              <a:cxnLst>
                <a:cxn ang="0">
                  <a:pos x="39" y="35"/>
                </a:cxn>
                <a:cxn ang="0">
                  <a:pos x="23" y="37"/>
                </a:cxn>
                <a:cxn ang="0">
                  <a:pos x="15" y="36"/>
                </a:cxn>
                <a:cxn ang="0">
                  <a:pos x="3" y="32"/>
                </a:cxn>
                <a:cxn ang="0">
                  <a:pos x="1" y="32"/>
                </a:cxn>
                <a:cxn ang="0">
                  <a:pos x="0" y="29"/>
                </a:cxn>
                <a:cxn ang="0">
                  <a:pos x="1" y="25"/>
                </a:cxn>
                <a:cxn ang="0">
                  <a:pos x="11" y="26"/>
                </a:cxn>
                <a:cxn ang="0">
                  <a:pos x="13" y="28"/>
                </a:cxn>
                <a:cxn ang="0">
                  <a:pos x="17" y="24"/>
                </a:cxn>
                <a:cxn ang="0">
                  <a:pos x="29" y="24"/>
                </a:cxn>
                <a:cxn ang="0">
                  <a:pos x="46" y="24"/>
                </a:cxn>
                <a:cxn ang="0">
                  <a:pos x="51" y="22"/>
                </a:cxn>
                <a:cxn ang="0">
                  <a:pos x="48" y="13"/>
                </a:cxn>
                <a:cxn ang="0">
                  <a:pos x="59" y="4"/>
                </a:cxn>
                <a:cxn ang="0">
                  <a:pos x="67" y="7"/>
                </a:cxn>
                <a:cxn ang="0">
                  <a:pos x="75" y="0"/>
                </a:cxn>
                <a:cxn ang="0">
                  <a:pos x="97" y="4"/>
                </a:cxn>
                <a:cxn ang="0">
                  <a:pos x="107" y="17"/>
                </a:cxn>
                <a:cxn ang="0">
                  <a:pos x="101" y="22"/>
                </a:cxn>
                <a:cxn ang="0">
                  <a:pos x="100" y="23"/>
                </a:cxn>
                <a:cxn ang="0">
                  <a:pos x="95" y="35"/>
                </a:cxn>
                <a:cxn ang="0">
                  <a:pos x="94" y="36"/>
                </a:cxn>
                <a:cxn ang="0">
                  <a:pos x="66" y="43"/>
                </a:cxn>
                <a:cxn ang="0">
                  <a:pos x="60" y="42"/>
                </a:cxn>
                <a:cxn ang="0">
                  <a:pos x="39" y="35"/>
                </a:cxn>
              </a:cxnLst>
              <a:rect l="0" t="0" r="r" b="b"/>
              <a:pathLst>
                <a:path w="107" h="43">
                  <a:moveTo>
                    <a:pt x="39" y="35"/>
                  </a:moveTo>
                  <a:lnTo>
                    <a:pt x="23" y="37"/>
                  </a:lnTo>
                  <a:lnTo>
                    <a:pt x="15" y="36"/>
                  </a:lnTo>
                  <a:lnTo>
                    <a:pt x="3" y="32"/>
                  </a:lnTo>
                  <a:lnTo>
                    <a:pt x="1" y="32"/>
                  </a:lnTo>
                  <a:lnTo>
                    <a:pt x="0" y="29"/>
                  </a:lnTo>
                  <a:lnTo>
                    <a:pt x="1" y="25"/>
                  </a:lnTo>
                  <a:lnTo>
                    <a:pt x="11" y="26"/>
                  </a:lnTo>
                  <a:lnTo>
                    <a:pt x="13" y="28"/>
                  </a:lnTo>
                  <a:lnTo>
                    <a:pt x="17" y="24"/>
                  </a:lnTo>
                  <a:lnTo>
                    <a:pt x="29" y="24"/>
                  </a:lnTo>
                  <a:lnTo>
                    <a:pt x="46" y="24"/>
                  </a:lnTo>
                  <a:lnTo>
                    <a:pt x="51" y="22"/>
                  </a:lnTo>
                  <a:lnTo>
                    <a:pt x="48" y="13"/>
                  </a:lnTo>
                  <a:lnTo>
                    <a:pt x="59" y="4"/>
                  </a:lnTo>
                  <a:lnTo>
                    <a:pt x="67" y="7"/>
                  </a:lnTo>
                  <a:lnTo>
                    <a:pt x="75" y="0"/>
                  </a:lnTo>
                  <a:lnTo>
                    <a:pt x="97" y="4"/>
                  </a:lnTo>
                  <a:lnTo>
                    <a:pt x="107" y="17"/>
                  </a:lnTo>
                  <a:lnTo>
                    <a:pt x="101" y="22"/>
                  </a:lnTo>
                  <a:lnTo>
                    <a:pt x="100" y="23"/>
                  </a:lnTo>
                  <a:lnTo>
                    <a:pt x="95" y="35"/>
                  </a:lnTo>
                  <a:lnTo>
                    <a:pt x="94" y="36"/>
                  </a:lnTo>
                  <a:lnTo>
                    <a:pt x="66" y="43"/>
                  </a:lnTo>
                  <a:lnTo>
                    <a:pt x="60" y="42"/>
                  </a:lnTo>
                  <a:lnTo>
                    <a:pt x="39" y="3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5" name="Freeform 344"/>
            <p:cNvSpPr>
              <a:spLocks/>
            </p:cNvSpPr>
            <p:nvPr/>
          </p:nvSpPr>
          <p:spPr bwMode="auto">
            <a:xfrm>
              <a:off x="2780" y="1803"/>
              <a:ext cx="62" cy="53"/>
            </a:xfrm>
            <a:custGeom>
              <a:avLst/>
              <a:gdLst/>
              <a:ahLst/>
              <a:cxnLst>
                <a:cxn ang="0">
                  <a:pos x="51" y="6"/>
                </a:cxn>
                <a:cxn ang="0">
                  <a:pos x="52" y="8"/>
                </a:cxn>
                <a:cxn ang="0">
                  <a:pos x="51" y="11"/>
                </a:cxn>
                <a:cxn ang="0">
                  <a:pos x="48" y="14"/>
                </a:cxn>
                <a:cxn ang="0">
                  <a:pos x="48" y="15"/>
                </a:cxn>
                <a:cxn ang="0">
                  <a:pos x="51" y="18"/>
                </a:cxn>
                <a:cxn ang="0">
                  <a:pos x="57" y="21"/>
                </a:cxn>
                <a:cxn ang="0">
                  <a:pos x="52" y="24"/>
                </a:cxn>
                <a:cxn ang="0">
                  <a:pos x="56" y="26"/>
                </a:cxn>
                <a:cxn ang="0">
                  <a:pos x="56" y="30"/>
                </a:cxn>
                <a:cxn ang="0">
                  <a:pos x="47" y="31"/>
                </a:cxn>
                <a:cxn ang="0">
                  <a:pos x="51" y="35"/>
                </a:cxn>
                <a:cxn ang="0">
                  <a:pos x="50" y="36"/>
                </a:cxn>
                <a:cxn ang="0">
                  <a:pos x="47" y="35"/>
                </a:cxn>
                <a:cxn ang="0">
                  <a:pos x="44" y="39"/>
                </a:cxn>
                <a:cxn ang="0">
                  <a:pos x="41" y="41"/>
                </a:cxn>
                <a:cxn ang="0">
                  <a:pos x="45" y="45"/>
                </a:cxn>
                <a:cxn ang="0">
                  <a:pos x="41" y="47"/>
                </a:cxn>
                <a:cxn ang="0">
                  <a:pos x="39" y="45"/>
                </a:cxn>
                <a:cxn ang="0">
                  <a:pos x="34" y="43"/>
                </a:cxn>
                <a:cxn ang="0">
                  <a:pos x="30" y="41"/>
                </a:cxn>
                <a:cxn ang="0">
                  <a:pos x="30" y="39"/>
                </a:cxn>
                <a:cxn ang="0">
                  <a:pos x="24" y="35"/>
                </a:cxn>
                <a:cxn ang="0">
                  <a:pos x="23" y="32"/>
                </a:cxn>
                <a:cxn ang="0">
                  <a:pos x="20" y="30"/>
                </a:cxn>
                <a:cxn ang="0">
                  <a:pos x="9" y="20"/>
                </a:cxn>
                <a:cxn ang="0">
                  <a:pos x="9" y="19"/>
                </a:cxn>
                <a:cxn ang="0">
                  <a:pos x="6" y="18"/>
                </a:cxn>
                <a:cxn ang="0">
                  <a:pos x="4" y="11"/>
                </a:cxn>
                <a:cxn ang="0">
                  <a:pos x="0" y="8"/>
                </a:cxn>
                <a:cxn ang="0">
                  <a:pos x="0" y="1"/>
                </a:cxn>
                <a:cxn ang="0">
                  <a:pos x="4" y="0"/>
                </a:cxn>
                <a:cxn ang="0">
                  <a:pos x="8" y="5"/>
                </a:cxn>
                <a:cxn ang="0">
                  <a:pos x="11" y="0"/>
                </a:cxn>
                <a:cxn ang="0">
                  <a:pos x="16" y="0"/>
                </a:cxn>
                <a:cxn ang="0">
                  <a:pos x="20" y="1"/>
                </a:cxn>
                <a:cxn ang="0">
                  <a:pos x="30" y="3"/>
                </a:cxn>
                <a:cxn ang="0">
                  <a:pos x="32" y="1"/>
                </a:cxn>
                <a:cxn ang="0">
                  <a:pos x="34" y="2"/>
                </a:cxn>
                <a:cxn ang="0">
                  <a:pos x="35" y="2"/>
                </a:cxn>
                <a:cxn ang="0">
                  <a:pos x="39" y="2"/>
                </a:cxn>
                <a:cxn ang="0">
                  <a:pos x="41" y="2"/>
                </a:cxn>
                <a:cxn ang="0">
                  <a:pos x="44" y="6"/>
                </a:cxn>
                <a:cxn ang="0">
                  <a:pos x="47" y="6"/>
                </a:cxn>
                <a:cxn ang="0">
                  <a:pos x="51" y="6"/>
                </a:cxn>
              </a:cxnLst>
              <a:rect l="0" t="0" r="r" b="b"/>
              <a:pathLst>
                <a:path w="57" h="47">
                  <a:moveTo>
                    <a:pt x="51" y="6"/>
                  </a:moveTo>
                  <a:lnTo>
                    <a:pt x="52" y="8"/>
                  </a:lnTo>
                  <a:lnTo>
                    <a:pt x="51" y="11"/>
                  </a:lnTo>
                  <a:lnTo>
                    <a:pt x="48" y="14"/>
                  </a:lnTo>
                  <a:lnTo>
                    <a:pt x="48" y="15"/>
                  </a:lnTo>
                  <a:lnTo>
                    <a:pt x="51" y="18"/>
                  </a:lnTo>
                  <a:lnTo>
                    <a:pt x="57" y="21"/>
                  </a:lnTo>
                  <a:lnTo>
                    <a:pt x="52" y="24"/>
                  </a:lnTo>
                  <a:lnTo>
                    <a:pt x="56" y="26"/>
                  </a:lnTo>
                  <a:lnTo>
                    <a:pt x="56" y="30"/>
                  </a:lnTo>
                  <a:lnTo>
                    <a:pt x="47" y="31"/>
                  </a:lnTo>
                  <a:lnTo>
                    <a:pt x="51" y="35"/>
                  </a:lnTo>
                  <a:lnTo>
                    <a:pt x="50" y="36"/>
                  </a:lnTo>
                  <a:lnTo>
                    <a:pt x="47" y="35"/>
                  </a:lnTo>
                  <a:lnTo>
                    <a:pt x="44" y="39"/>
                  </a:lnTo>
                  <a:lnTo>
                    <a:pt x="41" y="41"/>
                  </a:lnTo>
                  <a:lnTo>
                    <a:pt x="45" y="45"/>
                  </a:lnTo>
                  <a:lnTo>
                    <a:pt x="41" y="47"/>
                  </a:lnTo>
                  <a:lnTo>
                    <a:pt x="39" y="45"/>
                  </a:lnTo>
                  <a:lnTo>
                    <a:pt x="34" y="43"/>
                  </a:lnTo>
                  <a:lnTo>
                    <a:pt x="30" y="41"/>
                  </a:lnTo>
                  <a:lnTo>
                    <a:pt x="30" y="39"/>
                  </a:lnTo>
                  <a:lnTo>
                    <a:pt x="24" y="35"/>
                  </a:lnTo>
                  <a:lnTo>
                    <a:pt x="23" y="32"/>
                  </a:lnTo>
                  <a:lnTo>
                    <a:pt x="20" y="30"/>
                  </a:lnTo>
                  <a:lnTo>
                    <a:pt x="9" y="20"/>
                  </a:lnTo>
                  <a:lnTo>
                    <a:pt x="9" y="19"/>
                  </a:lnTo>
                  <a:lnTo>
                    <a:pt x="6" y="18"/>
                  </a:lnTo>
                  <a:lnTo>
                    <a:pt x="4" y="11"/>
                  </a:lnTo>
                  <a:lnTo>
                    <a:pt x="0" y="8"/>
                  </a:lnTo>
                  <a:lnTo>
                    <a:pt x="0" y="1"/>
                  </a:lnTo>
                  <a:lnTo>
                    <a:pt x="4" y="0"/>
                  </a:lnTo>
                  <a:lnTo>
                    <a:pt x="8" y="5"/>
                  </a:lnTo>
                  <a:lnTo>
                    <a:pt x="11" y="0"/>
                  </a:lnTo>
                  <a:lnTo>
                    <a:pt x="16" y="0"/>
                  </a:lnTo>
                  <a:lnTo>
                    <a:pt x="20" y="1"/>
                  </a:lnTo>
                  <a:lnTo>
                    <a:pt x="30" y="3"/>
                  </a:lnTo>
                  <a:lnTo>
                    <a:pt x="32" y="1"/>
                  </a:lnTo>
                  <a:lnTo>
                    <a:pt x="34" y="2"/>
                  </a:lnTo>
                  <a:lnTo>
                    <a:pt x="35" y="2"/>
                  </a:lnTo>
                  <a:lnTo>
                    <a:pt x="39" y="2"/>
                  </a:lnTo>
                  <a:lnTo>
                    <a:pt x="41" y="2"/>
                  </a:lnTo>
                  <a:lnTo>
                    <a:pt x="44" y="6"/>
                  </a:lnTo>
                  <a:lnTo>
                    <a:pt x="47" y="6"/>
                  </a:lnTo>
                  <a:lnTo>
                    <a:pt x="5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6" name="Freeform 345"/>
            <p:cNvSpPr>
              <a:spLocks/>
            </p:cNvSpPr>
            <p:nvPr/>
          </p:nvSpPr>
          <p:spPr bwMode="auto">
            <a:xfrm>
              <a:off x="2747" y="1776"/>
              <a:ext cx="91" cy="74"/>
            </a:xfrm>
            <a:custGeom>
              <a:avLst/>
              <a:gdLst/>
              <a:ahLst/>
              <a:cxnLst>
                <a:cxn ang="0">
                  <a:pos x="74" y="30"/>
                </a:cxn>
                <a:cxn ang="0">
                  <a:pos x="77" y="30"/>
                </a:cxn>
                <a:cxn ang="0">
                  <a:pos x="78" y="26"/>
                </a:cxn>
                <a:cxn ang="0">
                  <a:pos x="82" y="25"/>
                </a:cxn>
                <a:cxn ang="0">
                  <a:pos x="82" y="24"/>
                </a:cxn>
                <a:cxn ang="0">
                  <a:pos x="77" y="23"/>
                </a:cxn>
                <a:cxn ang="0">
                  <a:pos x="76" y="21"/>
                </a:cxn>
                <a:cxn ang="0">
                  <a:pos x="77" y="19"/>
                </a:cxn>
                <a:cxn ang="0">
                  <a:pos x="76" y="19"/>
                </a:cxn>
                <a:cxn ang="0">
                  <a:pos x="72" y="13"/>
                </a:cxn>
                <a:cxn ang="0">
                  <a:pos x="51" y="11"/>
                </a:cxn>
                <a:cxn ang="0">
                  <a:pos x="39" y="0"/>
                </a:cxn>
                <a:cxn ang="0">
                  <a:pos x="38" y="1"/>
                </a:cxn>
                <a:cxn ang="0">
                  <a:pos x="36" y="2"/>
                </a:cxn>
                <a:cxn ang="0">
                  <a:pos x="36" y="3"/>
                </a:cxn>
                <a:cxn ang="0">
                  <a:pos x="32" y="3"/>
                </a:cxn>
                <a:cxn ang="0">
                  <a:pos x="30" y="5"/>
                </a:cxn>
                <a:cxn ang="0">
                  <a:pos x="26" y="6"/>
                </a:cxn>
                <a:cxn ang="0">
                  <a:pos x="27" y="9"/>
                </a:cxn>
                <a:cxn ang="0">
                  <a:pos x="27" y="11"/>
                </a:cxn>
                <a:cxn ang="0">
                  <a:pos x="29" y="13"/>
                </a:cxn>
                <a:cxn ang="0">
                  <a:pos x="27" y="13"/>
                </a:cxn>
                <a:cxn ang="0">
                  <a:pos x="22" y="15"/>
                </a:cxn>
                <a:cxn ang="0">
                  <a:pos x="22" y="17"/>
                </a:cxn>
                <a:cxn ang="0">
                  <a:pos x="23" y="20"/>
                </a:cxn>
                <a:cxn ang="0">
                  <a:pos x="20" y="20"/>
                </a:cxn>
                <a:cxn ang="0">
                  <a:pos x="16" y="18"/>
                </a:cxn>
                <a:cxn ang="0">
                  <a:pos x="15" y="19"/>
                </a:cxn>
                <a:cxn ang="0">
                  <a:pos x="12" y="17"/>
                </a:cxn>
                <a:cxn ang="0">
                  <a:pos x="10" y="20"/>
                </a:cxn>
                <a:cxn ang="0">
                  <a:pos x="4" y="20"/>
                </a:cxn>
                <a:cxn ang="0">
                  <a:pos x="0" y="18"/>
                </a:cxn>
                <a:cxn ang="0">
                  <a:pos x="3" y="24"/>
                </a:cxn>
                <a:cxn ang="0">
                  <a:pos x="6" y="29"/>
                </a:cxn>
                <a:cxn ang="0">
                  <a:pos x="10" y="25"/>
                </a:cxn>
                <a:cxn ang="0">
                  <a:pos x="21" y="42"/>
                </a:cxn>
                <a:cxn ang="0">
                  <a:pos x="26" y="47"/>
                </a:cxn>
                <a:cxn ang="0">
                  <a:pos x="39" y="55"/>
                </a:cxn>
                <a:cxn ang="0">
                  <a:pos x="57" y="65"/>
                </a:cxn>
                <a:cxn ang="0">
                  <a:pos x="59" y="65"/>
                </a:cxn>
                <a:cxn ang="0">
                  <a:pos x="60" y="65"/>
                </a:cxn>
                <a:cxn ang="0">
                  <a:pos x="60" y="63"/>
                </a:cxn>
                <a:cxn ang="0">
                  <a:pos x="54" y="59"/>
                </a:cxn>
                <a:cxn ang="0">
                  <a:pos x="53" y="56"/>
                </a:cxn>
                <a:cxn ang="0">
                  <a:pos x="50" y="54"/>
                </a:cxn>
                <a:cxn ang="0">
                  <a:pos x="39" y="44"/>
                </a:cxn>
                <a:cxn ang="0">
                  <a:pos x="39" y="43"/>
                </a:cxn>
                <a:cxn ang="0">
                  <a:pos x="36" y="42"/>
                </a:cxn>
                <a:cxn ang="0">
                  <a:pos x="34" y="35"/>
                </a:cxn>
                <a:cxn ang="0">
                  <a:pos x="30" y="32"/>
                </a:cxn>
                <a:cxn ang="0">
                  <a:pos x="30" y="25"/>
                </a:cxn>
                <a:cxn ang="0">
                  <a:pos x="34" y="24"/>
                </a:cxn>
                <a:cxn ang="0">
                  <a:pos x="38" y="29"/>
                </a:cxn>
                <a:cxn ang="0">
                  <a:pos x="41" y="24"/>
                </a:cxn>
                <a:cxn ang="0">
                  <a:pos x="46" y="24"/>
                </a:cxn>
                <a:cxn ang="0">
                  <a:pos x="50" y="25"/>
                </a:cxn>
                <a:cxn ang="0">
                  <a:pos x="60" y="27"/>
                </a:cxn>
                <a:cxn ang="0">
                  <a:pos x="62" y="25"/>
                </a:cxn>
                <a:cxn ang="0">
                  <a:pos x="64" y="26"/>
                </a:cxn>
                <a:cxn ang="0">
                  <a:pos x="65" y="26"/>
                </a:cxn>
                <a:cxn ang="0">
                  <a:pos x="69" y="26"/>
                </a:cxn>
                <a:cxn ang="0">
                  <a:pos x="71" y="26"/>
                </a:cxn>
                <a:cxn ang="0">
                  <a:pos x="74" y="30"/>
                </a:cxn>
              </a:cxnLst>
              <a:rect l="0" t="0" r="r" b="b"/>
              <a:pathLst>
                <a:path w="82" h="65">
                  <a:moveTo>
                    <a:pt x="74" y="30"/>
                  </a:moveTo>
                  <a:lnTo>
                    <a:pt x="77" y="30"/>
                  </a:lnTo>
                  <a:lnTo>
                    <a:pt x="78" y="26"/>
                  </a:lnTo>
                  <a:lnTo>
                    <a:pt x="82" y="25"/>
                  </a:lnTo>
                  <a:lnTo>
                    <a:pt x="82" y="24"/>
                  </a:lnTo>
                  <a:lnTo>
                    <a:pt x="77" y="23"/>
                  </a:lnTo>
                  <a:lnTo>
                    <a:pt x="76" y="21"/>
                  </a:lnTo>
                  <a:lnTo>
                    <a:pt x="77" y="19"/>
                  </a:lnTo>
                  <a:lnTo>
                    <a:pt x="76" y="19"/>
                  </a:lnTo>
                  <a:lnTo>
                    <a:pt x="72" y="13"/>
                  </a:lnTo>
                  <a:lnTo>
                    <a:pt x="51" y="11"/>
                  </a:lnTo>
                  <a:lnTo>
                    <a:pt x="39" y="0"/>
                  </a:lnTo>
                  <a:lnTo>
                    <a:pt x="38" y="1"/>
                  </a:lnTo>
                  <a:lnTo>
                    <a:pt x="36" y="2"/>
                  </a:lnTo>
                  <a:lnTo>
                    <a:pt x="36" y="3"/>
                  </a:lnTo>
                  <a:lnTo>
                    <a:pt x="32" y="3"/>
                  </a:lnTo>
                  <a:lnTo>
                    <a:pt x="30" y="5"/>
                  </a:lnTo>
                  <a:lnTo>
                    <a:pt x="26" y="6"/>
                  </a:lnTo>
                  <a:lnTo>
                    <a:pt x="27" y="9"/>
                  </a:lnTo>
                  <a:lnTo>
                    <a:pt x="27" y="11"/>
                  </a:lnTo>
                  <a:lnTo>
                    <a:pt x="29" y="13"/>
                  </a:lnTo>
                  <a:lnTo>
                    <a:pt x="27" y="13"/>
                  </a:lnTo>
                  <a:lnTo>
                    <a:pt x="22" y="15"/>
                  </a:lnTo>
                  <a:lnTo>
                    <a:pt x="22" y="17"/>
                  </a:lnTo>
                  <a:lnTo>
                    <a:pt x="23" y="20"/>
                  </a:lnTo>
                  <a:lnTo>
                    <a:pt x="20" y="20"/>
                  </a:lnTo>
                  <a:lnTo>
                    <a:pt x="16" y="18"/>
                  </a:lnTo>
                  <a:lnTo>
                    <a:pt x="15" y="19"/>
                  </a:lnTo>
                  <a:lnTo>
                    <a:pt x="12" y="17"/>
                  </a:lnTo>
                  <a:lnTo>
                    <a:pt x="10" y="20"/>
                  </a:lnTo>
                  <a:lnTo>
                    <a:pt x="4" y="20"/>
                  </a:lnTo>
                  <a:lnTo>
                    <a:pt x="0" y="18"/>
                  </a:lnTo>
                  <a:lnTo>
                    <a:pt x="3" y="24"/>
                  </a:lnTo>
                  <a:lnTo>
                    <a:pt x="6" y="29"/>
                  </a:lnTo>
                  <a:lnTo>
                    <a:pt x="10" y="25"/>
                  </a:lnTo>
                  <a:lnTo>
                    <a:pt x="21" y="42"/>
                  </a:lnTo>
                  <a:lnTo>
                    <a:pt x="26" y="47"/>
                  </a:lnTo>
                  <a:lnTo>
                    <a:pt x="39" y="55"/>
                  </a:lnTo>
                  <a:lnTo>
                    <a:pt x="57" y="65"/>
                  </a:lnTo>
                  <a:lnTo>
                    <a:pt x="59" y="65"/>
                  </a:lnTo>
                  <a:lnTo>
                    <a:pt x="60" y="65"/>
                  </a:lnTo>
                  <a:lnTo>
                    <a:pt x="60" y="63"/>
                  </a:lnTo>
                  <a:lnTo>
                    <a:pt x="54" y="59"/>
                  </a:lnTo>
                  <a:lnTo>
                    <a:pt x="53" y="56"/>
                  </a:lnTo>
                  <a:lnTo>
                    <a:pt x="50" y="54"/>
                  </a:lnTo>
                  <a:lnTo>
                    <a:pt x="39" y="44"/>
                  </a:lnTo>
                  <a:lnTo>
                    <a:pt x="39" y="43"/>
                  </a:lnTo>
                  <a:lnTo>
                    <a:pt x="36" y="42"/>
                  </a:lnTo>
                  <a:lnTo>
                    <a:pt x="34" y="35"/>
                  </a:lnTo>
                  <a:lnTo>
                    <a:pt x="30" y="32"/>
                  </a:lnTo>
                  <a:lnTo>
                    <a:pt x="30" y="25"/>
                  </a:lnTo>
                  <a:lnTo>
                    <a:pt x="34" y="24"/>
                  </a:lnTo>
                  <a:lnTo>
                    <a:pt x="38" y="29"/>
                  </a:lnTo>
                  <a:lnTo>
                    <a:pt x="41" y="24"/>
                  </a:lnTo>
                  <a:lnTo>
                    <a:pt x="46" y="24"/>
                  </a:lnTo>
                  <a:lnTo>
                    <a:pt x="50" y="25"/>
                  </a:lnTo>
                  <a:lnTo>
                    <a:pt x="60" y="27"/>
                  </a:lnTo>
                  <a:lnTo>
                    <a:pt x="62" y="25"/>
                  </a:lnTo>
                  <a:lnTo>
                    <a:pt x="64" y="26"/>
                  </a:lnTo>
                  <a:lnTo>
                    <a:pt x="65" y="26"/>
                  </a:lnTo>
                  <a:lnTo>
                    <a:pt x="69" y="26"/>
                  </a:lnTo>
                  <a:lnTo>
                    <a:pt x="71" y="26"/>
                  </a:lnTo>
                  <a:lnTo>
                    <a:pt x="74" y="3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7" name="Freeform 346"/>
            <p:cNvSpPr>
              <a:spLocks/>
            </p:cNvSpPr>
            <p:nvPr/>
          </p:nvSpPr>
          <p:spPr bwMode="auto">
            <a:xfrm>
              <a:off x="2802" y="1850"/>
              <a:ext cx="25" cy="11"/>
            </a:xfrm>
            <a:custGeom>
              <a:avLst/>
              <a:gdLst/>
              <a:ahLst/>
              <a:cxnLst>
                <a:cxn ang="0">
                  <a:pos x="21" y="9"/>
                </a:cxn>
                <a:cxn ang="0">
                  <a:pos x="21" y="7"/>
                </a:cxn>
                <a:cxn ang="0">
                  <a:pos x="21" y="6"/>
                </a:cxn>
                <a:cxn ang="0">
                  <a:pos x="19" y="4"/>
                </a:cxn>
                <a:cxn ang="0">
                  <a:pos x="14" y="2"/>
                </a:cxn>
                <a:cxn ang="0">
                  <a:pos x="10" y="0"/>
                </a:cxn>
                <a:cxn ang="0">
                  <a:pos x="9" y="1"/>
                </a:cxn>
                <a:cxn ang="0">
                  <a:pos x="0" y="0"/>
                </a:cxn>
                <a:cxn ang="0">
                  <a:pos x="21" y="9"/>
                </a:cxn>
              </a:cxnLst>
              <a:rect l="0" t="0" r="r" b="b"/>
              <a:pathLst>
                <a:path w="21" h="9">
                  <a:moveTo>
                    <a:pt x="21" y="9"/>
                  </a:moveTo>
                  <a:lnTo>
                    <a:pt x="21" y="7"/>
                  </a:lnTo>
                  <a:lnTo>
                    <a:pt x="21" y="6"/>
                  </a:lnTo>
                  <a:lnTo>
                    <a:pt x="19" y="4"/>
                  </a:lnTo>
                  <a:lnTo>
                    <a:pt x="14" y="2"/>
                  </a:lnTo>
                  <a:lnTo>
                    <a:pt x="10" y="0"/>
                  </a:lnTo>
                  <a:lnTo>
                    <a:pt x="9" y="1"/>
                  </a:lnTo>
                  <a:lnTo>
                    <a:pt x="0" y="0"/>
                  </a:lnTo>
                  <a:lnTo>
                    <a:pt x="21"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8" name="Freeform 347"/>
            <p:cNvSpPr>
              <a:spLocks/>
            </p:cNvSpPr>
            <p:nvPr/>
          </p:nvSpPr>
          <p:spPr bwMode="auto">
            <a:xfrm>
              <a:off x="2458" y="1690"/>
              <a:ext cx="198" cy="169"/>
            </a:xfrm>
            <a:custGeom>
              <a:avLst/>
              <a:gdLst/>
              <a:ahLst/>
              <a:cxnLst>
                <a:cxn ang="0">
                  <a:pos x="174" y="121"/>
                </a:cxn>
                <a:cxn ang="0">
                  <a:pos x="174" y="128"/>
                </a:cxn>
                <a:cxn ang="0">
                  <a:pos x="173" y="128"/>
                </a:cxn>
                <a:cxn ang="0">
                  <a:pos x="172" y="128"/>
                </a:cxn>
                <a:cxn ang="0">
                  <a:pos x="157" y="140"/>
                </a:cxn>
                <a:cxn ang="0">
                  <a:pos x="139" y="134"/>
                </a:cxn>
                <a:cxn ang="0">
                  <a:pos x="134" y="133"/>
                </a:cxn>
                <a:cxn ang="0">
                  <a:pos x="132" y="134"/>
                </a:cxn>
                <a:cxn ang="0">
                  <a:pos x="120" y="134"/>
                </a:cxn>
                <a:cxn ang="0">
                  <a:pos x="112" y="140"/>
                </a:cxn>
                <a:cxn ang="0">
                  <a:pos x="113" y="151"/>
                </a:cxn>
                <a:cxn ang="0">
                  <a:pos x="91" y="151"/>
                </a:cxn>
                <a:cxn ang="0">
                  <a:pos x="92" y="149"/>
                </a:cxn>
                <a:cxn ang="0">
                  <a:pos x="88" y="149"/>
                </a:cxn>
                <a:cxn ang="0">
                  <a:pos x="48" y="140"/>
                </a:cxn>
                <a:cxn ang="0">
                  <a:pos x="41" y="134"/>
                </a:cxn>
                <a:cxn ang="0">
                  <a:pos x="47" y="126"/>
                </a:cxn>
                <a:cxn ang="0">
                  <a:pos x="48" y="111"/>
                </a:cxn>
                <a:cxn ang="0">
                  <a:pos x="50" y="98"/>
                </a:cxn>
                <a:cxn ang="0">
                  <a:pos x="56" y="105"/>
                </a:cxn>
                <a:cxn ang="0">
                  <a:pos x="50" y="92"/>
                </a:cxn>
                <a:cxn ang="0">
                  <a:pos x="50" y="87"/>
                </a:cxn>
                <a:cxn ang="0">
                  <a:pos x="43" y="81"/>
                </a:cxn>
                <a:cxn ang="0">
                  <a:pos x="37" y="69"/>
                </a:cxn>
                <a:cxn ang="0">
                  <a:pos x="38" y="66"/>
                </a:cxn>
                <a:cxn ang="0">
                  <a:pos x="31" y="63"/>
                </a:cxn>
                <a:cxn ang="0">
                  <a:pos x="23" y="61"/>
                </a:cxn>
                <a:cxn ang="0">
                  <a:pos x="11" y="56"/>
                </a:cxn>
                <a:cxn ang="0">
                  <a:pos x="2" y="54"/>
                </a:cxn>
                <a:cxn ang="0">
                  <a:pos x="5" y="49"/>
                </a:cxn>
                <a:cxn ang="0">
                  <a:pos x="6" y="48"/>
                </a:cxn>
                <a:cxn ang="0">
                  <a:pos x="0" y="47"/>
                </a:cxn>
                <a:cxn ang="0">
                  <a:pos x="17" y="41"/>
                </a:cxn>
                <a:cxn ang="0">
                  <a:pos x="28" y="42"/>
                </a:cxn>
                <a:cxn ang="0">
                  <a:pos x="44" y="43"/>
                </a:cxn>
                <a:cxn ang="0">
                  <a:pos x="41" y="26"/>
                </a:cxn>
                <a:cxn ang="0">
                  <a:pos x="46" y="24"/>
                </a:cxn>
                <a:cxn ang="0">
                  <a:pos x="50" y="29"/>
                </a:cxn>
                <a:cxn ang="0">
                  <a:pos x="72" y="29"/>
                </a:cxn>
                <a:cxn ang="0">
                  <a:pos x="67" y="27"/>
                </a:cxn>
                <a:cxn ang="0">
                  <a:pos x="86" y="17"/>
                </a:cxn>
                <a:cxn ang="0">
                  <a:pos x="88" y="5"/>
                </a:cxn>
                <a:cxn ang="0">
                  <a:pos x="101" y="0"/>
                </a:cxn>
                <a:cxn ang="0">
                  <a:pos x="107" y="6"/>
                </a:cxn>
                <a:cxn ang="0">
                  <a:pos x="125" y="18"/>
                </a:cxn>
                <a:cxn ang="0">
                  <a:pos x="131" y="17"/>
                </a:cxn>
                <a:cxn ang="0">
                  <a:pos x="132" y="19"/>
                </a:cxn>
                <a:cxn ang="0">
                  <a:pos x="146" y="26"/>
                </a:cxn>
                <a:cxn ang="0">
                  <a:pos x="154" y="27"/>
                </a:cxn>
                <a:cxn ang="0">
                  <a:pos x="156" y="29"/>
                </a:cxn>
                <a:cxn ang="0">
                  <a:pos x="179" y="36"/>
                </a:cxn>
                <a:cxn ang="0">
                  <a:pos x="173" y="61"/>
                </a:cxn>
                <a:cxn ang="0">
                  <a:pos x="168" y="63"/>
                </a:cxn>
                <a:cxn ang="0">
                  <a:pos x="164" y="66"/>
                </a:cxn>
                <a:cxn ang="0">
                  <a:pos x="152" y="84"/>
                </a:cxn>
                <a:cxn ang="0">
                  <a:pos x="157" y="80"/>
                </a:cxn>
                <a:cxn ang="0">
                  <a:pos x="166" y="90"/>
                </a:cxn>
                <a:cxn ang="0">
                  <a:pos x="166" y="97"/>
                </a:cxn>
                <a:cxn ang="0">
                  <a:pos x="163" y="104"/>
                </a:cxn>
                <a:cxn ang="0">
                  <a:pos x="163" y="109"/>
                </a:cxn>
                <a:cxn ang="0">
                  <a:pos x="164" y="115"/>
                </a:cxn>
                <a:cxn ang="0">
                  <a:pos x="174" y="121"/>
                </a:cxn>
              </a:cxnLst>
              <a:rect l="0" t="0" r="r" b="b"/>
              <a:pathLst>
                <a:path w="179" h="151">
                  <a:moveTo>
                    <a:pt x="174" y="121"/>
                  </a:moveTo>
                  <a:lnTo>
                    <a:pt x="174" y="128"/>
                  </a:lnTo>
                  <a:lnTo>
                    <a:pt x="173" y="128"/>
                  </a:lnTo>
                  <a:lnTo>
                    <a:pt x="172" y="128"/>
                  </a:lnTo>
                  <a:lnTo>
                    <a:pt x="157" y="140"/>
                  </a:lnTo>
                  <a:lnTo>
                    <a:pt x="139" y="134"/>
                  </a:lnTo>
                  <a:lnTo>
                    <a:pt x="134" y="133"/>
                  </a:lnTo>
                  <a:lnTo>
                    <a:pt x="132" y="134"/>
                  </a:lnTo>
                  <a:lnTo>
                    <a:pt x="120" y="134"/>
                  </a:lnTo>
                  <a:lnTo>
                    <a:pt x="112" y="140"/>
                  </a:lnTo>
                  <a:lnTo>
                    <a:pt x="113" y="151"/>
                  </a:lnTo>
                  <a:lnTo>
                    <a:pt x="91" y="151"/>
                  </a:lnTo>
                  <a:lnTo>
                    <a:pt x="92" y="149"/>
                  </a:lnTo>
                  <a:lnTo>
                    <a:pt x="88" y="149"/>
                  </a:lnTo>
                  <a:lnTo>
                    <a:pt x="48" y="140"/>
                  </a:lnTo>
                  <a:lnTo>
                    <a:pt x="41" y="134"/>
                  </a:lnTo>
                  <a:lnTo>
                    <a:pt x="47" y="126"/>
                  </a:lnTo>
                  <a:lnTo>
                    <a:pt x="48" y="111"/>
                  </a:lnTo>
                  <a:lnTo>
                    <a:pt x="50" y="98"/>
                  </a:lnTo>
                  <a:lnTo>
                    <a:pt x="56" y="105"/>
                  </a:lnTo>
                  <a:lnTo>
                    <a:pt x="50" y="92"/>
                  </a:lnTo>
                  <a:lnTo>
                    <a:pt x="50" y="87"/>
                  </a:lnTo>
                  <a:lnTo>
                    <a:pt x="43" y="81"/>
                  </a:lnTo>
                  <a:lnTo>
                    <a:pt x="37" y="69"/>
                  </a:lnTo>
                  <a:lnTo>
                    <a:pt x="38" y="66"/>
                  </a:lnTo>
                  <a:lnTo>
                    <a:pt x="31" y="63"/>
                  </a:lnTo>
                  <a:lnTo>
                    <a:pt x="23" y="61"/>
                  </a:lnTo>
                  <a:lnTo>
                    <a:pt x="11" y="56"/>
                  </a:lnTo>
                  <a:lnTo>
                    <a:pt x="2" y="54"/>
                  </a:lnTo>
                  <a:lnTo>
                    <a:pt x="5" y="49"/>
                  </a:lnTo>
                  <a:lnTo>
                    <a:pt x="6" y="48"/>
                  </a:lnTo>
                  <a:lnTo>
                    <a:pt x="0" y="47"/>
                  </a:lnTo>
                  <a:lnTo>
                    <a:pt x="17" y="41"/>
                  </a:lnTo>
                  <a:lnTo>
                    <a:pt x="28" y="42"/>
                  </a:lnTo>
                  <a:lnTo>
                    <a:pt x="44" y="43"/>
                  </a:lnTo>
                  <a:lnTo>
                    <a:pt x="41" y="26"/>
                  </a:lnTo>
                  <a:lnTo>
                    <a:pt x="46" y="24"/>
                  </a:lnTo>
                  <a:lnTo>
                    <a:pt x="50" y="29"/>
                  </a:lnTo>
                  <a:lnTo>
                    <a:pt x="72" y="29"/>
                  </a:lnTo>
                  <a:lnTo>
                    <a:pt x="67" y="27"/>
                  </a:lnTo>
                  <a:lnTo>
                    <a:pt x="86" y="17"/>
                  </a:lnTo>
                  <a:lnTo>
                    <a:pt x="88" y="5"/>
                  </a:lnTo>
                  <a:lnTo>
                    <a:pt x="101" y="0"/>
                  </a:lnTo>
                  <a:lnTo>
                    <a:pt x="107" y="6"/>
                  </a:lnTo>
                  <a:lnTo>
                    <a:pt x="125" y="18"/>
                  </a:lnTo>
                  <a:lnTo>
                    <a:pt x="131" y="17"/>
                  </a:lnTo>
                  <a:lnTo>
                    <a:pt x="132" y="19"/>
                  </a:lnTo>
                  <a:lnTo>
                    <a:pt x="146" y="26"/>
                  </a:lnTo>
                  <a:lnTo>
                    <a:pt x="154" y="27"/>
                  </a:lnTo>
                  <a:lnTo>
                    <a:pt x="156" y="29"/>
                  </a:lnTo>
                  <a:lnTo>
                    <a:pt x="179" y="36"/>
                  </a:lnTo>
                  <a:lnTo>
                    <a:pt x="173" y="61"/>
                  </a:lnTo>
                  <a:lnTo>
                    <a:pt x="168" y="63"/>
                  </a:lnTo>
                  <a:lnTo>
                    <a:pt x="164" y="66"/>
                  </a:lnTo>
                  <a:lnTo>
                    <a:pt x="152" y="84"/>
                  </a:lnTo>
                  <a:lnTo>
                    <a:pt x="157" y="80"/>
                  </a:lnTo>
                  <a:lnTo>
                    <a:pt x="166" y="90"/>
                  </a:lnTo>
                  <a:lnTo>
                    <a:pt x="166" y="97"/>
                  </a:lnTo>
                  <a:lnTo>
                    <a:pt x="163" y="104"/>
                  </a:lnTo>
                  <a:lnTo>
                    <a:pt x="163" y="109"/>
                  </a:lnTo>
                  <a:lnTo>
                    <a:pt x="164" y="115"/>
                  </a:lnTo>
                  <a:lnTo>
                    <a:pt x="174" y="1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9" name="Freeform 348"/>
            <p:cNvSpPr>
              <a:spLocks/>
            </p:cNvSpPr>
            <p:nvPr/>
          </p:nvSpPr>
          <p:spPr bwMode="auto">
            <a:xfrm>
              <a:off x="2669" y="1850"/>
              <a:ext cx="15" cy="26"/>
            </a:xfrm>
            <a:custGeom>
              <a:avLst/>
              <a:gdLst/>
              <a:ahLst/>
              <a:cxnLst>
                <a:cxn ang="0">
                  <a:pos x="9" y="24"/>
                </a:cxn>
                <a:cxn ang="0">
                  <a:pos x="3" y="20"/>
                </a:cxn>
                <a:cxn ang="0">
                  <a:pos x="0" y="11"/>
                </a:cxn>
                <a:cxn ang="0">
                  <a:pos x="9" y="0"/>
                </a:cxn>
                <a:cxn ang="0">
                  <a:pos x="13" y="11"/>
                </a:cxn>
                <a:cxn ang="0">
                  <a:pos x="9" y="24"/>
                </a:cxn>
              </a:cxnLst>
              <a:rect l="0" t="0" r="r" b="b"/>
              <a:pathLst>
                <a:path w="13" h="24">
                  <a:moveTo>
                    <a:pt x="9" y="24"/>
                  </a:moveTo>
                  <a:lnTo>
                    <a:pt x="3" y="20"/>
                  </a:lnTo>
                  <a:lnTo>
                    <a:pt x="0" y="11"/>
                  </a:lnTo>
                  <a:lnTo>
                    <a:pt x="9" y="0"/>
                  </a:lnTo>
                  <a:lnTo>
                    <a:pt x="13" y="11"/>
                  </a:lnTo>
                  <a:lnTo>
                    <a:pt x="9"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0" name="Freeform 349"/>
            <p:cNvSpPr>
              <a:spLocks/>
            </p:cNvSpPr>
            <p:nvPr/>
          </p:nvSpPr>
          <p:spPr bwMode="auto">
            <a:xfrm>
              <a:off x="2782" y="1741"/>
              <a:ext cx="105" cy="51"/>
            </a:xfrm>
            <a:custGeom>
              <a:avLst/>
              <a:gdLst/>
              <a:ahLst/>
              <a:cxnLst>
                <a:cxn ang="0">
                  <a:pos x="39" y="46"/>
                </a:cxn>
                <a:cxn ang="0">
                  <a:pos x="18" y="44"/>
                </a:cxn>
                <a:cxn ang="0">
                  <a:pos x="6" y="33"/>
                </a:cxn>
                <a:cxn ang="0">
                  <a:pos x="1" y="30"/>
                </a:cxn>
                <a:cxn ang="0">
                  <a:pos x="0" y="28"/>
                </a:cxn>
                <a:cxn ang="0">
                  <a:pos x="1" y="27"/>
                </a:cxn>
                <a:cxn ang="0">
                  <a:pos x="6" y="15"/>
                </a:cxn>
                <a:cxn ang="0">
                  <a:pos x="7" y="14"/>
                </a:cxn>
                <a:cxn ang="0">
                  <a:pos x="13" y="9"/>
                </a:cxn>
                <a:cxn ang="0">
                  <a:pos x="17" y="10"/>
                </a:cxn>
                <a:cxn ang="0">
                  <a:pos x="35" y="11"/>
                </a:cxn>
                <a:cxn ang="0">
                  <a:pos x="57" y="0"/>
                </a:cxn>
                <a:cxn ang="0">
                  <a:pos x="81" y="2"/>
                </a:cxn>
                <a:cxn ang="0">
                  <a:pos x="92" y="10"/>
                </a:cxn>
                <a:cxn ang="0">
                  <a:pos x="79" y="23"/>
                </a:cxn>
                <a:cxn ang="0">
                  <a:pos x="67" y="39"/>
                </a:cxn>
                <a:cxn ang="0">
                  <a:pos x="60" y="41"/>
                </a:cxn>
                <a:cxn ang="0">
                  <a:pos x="39" y="46"/>
                </a:cxn>
              </a:cxnLst>
              <a:rect l="0" t="0" r="r" b="b"/>
              <a:pathLst>
                <a:path w="92" h="46">
                  <a:moveTo>
                    <a:pt x="39" y="46"/>
                  </a:moveTo>
                  <a:lnTo>
                    <a:pt x="18" y="44"/>
                  </a:lnTo>
                  <a:lnTo>
                    <a:pt x="6" y="33"/>
                  </a:lnTo>
                  <a:lnTo>
                    <a:pt x="1" y="30"/>
                  </a:lnTo>
                  <a:lnTo>
                    <a:pt x="0" y="28"/>
                  </a:lnTo>
                  <a:lnTo>
                    <a:pt x="1" y="27"/>
                  </a:lnTo>
                  <a:lnTo>
                    <a:pt x="6" y="15"/>
                  </a:lnTo>
                  <a:lnTo>
                    <a:pt x="7" y="14"/>
                  </a:lnTo>
                  <a:lnTo>
                    <a:pt x="13" y="9"/>
                  </a:lnTo>
                  <a:lnTo>
                    <a:pt x="17" y="10"/>
                  </a:lnTo>
                  <a:lnTo>
                    <a:pt x="35" y="11"/>
                  </a:lnTo>
                  <a:lnTo>
                    <a:pt x="57" y="0"/>
                  </a:lnTo>
                  <a:lnTo>
                    <a:pt x="81" y="2"/>
                  </a:lnTo>
                  <a:lnTo>
                    <a:pt x="92" y="10"/>
                  </a:lnTo>
                  <a:lnTo>
                    <a:pt x="79" y="23"/>
                  </a:lnTo>
                  <a:lnTo>
                    <a:pt x="67" y="39"/>
                  </a:lnTo>
                  <a:lnTo>
                    <a:pt x="60" y="41"/>
                  </a:lnTo>
                  <a:lnTo>
                    <a:pt x="39"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1" name="Freeform 350"/>
            <p:cNvSpPr>
              <a:spLocks/>
            </p:cNvSpPr>
            <p:nvPr/>
          </p:nvSpPr>
          <p:spPr bwMode="auto">
            <a:xfrm>
              <a:off x="2902" y="1228"/>
              <a:ext cx="2093" cy="646"/>
            </a:xfrm>
            <a:custGeom>
              <a:avLst/>
              <a:gdLst/>
              <a:ahLst/>
              <a:cxnLst>
                <a:cxn ang="0">
                  <a:pos x="1624" y="126"/>
                </a:cxn>
                <a:cxn ang="0">
                  <a:pos x="1471" y="99"/>
                </a:cxn>
                <a:cxn ang="0">
                  <a:pos x="1329" y="83"/>
                </a:cxn>
                <a:cxn ang="0">
                  <a:pos x="1222" y="71"/>
                </a:cxn>
                <a:cxn ang="0">
                  <a:pos x="1183" y="84"/>
                </a:cxn>
                <a:cxn ang="0">
                  <a:pos x="1071" y="75"/>
                </a:cxn>
                <a:cxn ang="0">
                  <a:pos x="890" y="52"/>
                </a:cxn>
                <a:cxn ang="0">
                  <a:pos x="873" y="30"/>
                </a:cxn>
                <a:cxn ang="0">
                  <a:pos x="777" y="15"/>
                </a:cxn>
                <a:cxn ang="0">
                  <a:pos x="702" y="18"/>
                </a:cxn>
                <a:cxn ang="0">
                  <a:pos x="597" y="41"/>
                </a:cxn>
                <a:cxn ang="0">
                  <a:pos x="564" y="74"/>
                </a:cxn>
                <a:cxn ang="0">
                  <a:pos x="596" y="84"/>
                </a:cxn>
                <a:cxn ang="0">
                  <a:pos x="511" y="87"/>
                </a:cxn>
                <a:cxn ang="0">
                  <a:pos x="548" y="122"/>
                </a:cxn>
                <a:cxn ang="0">
                  <a:pos x="541" y="144"/>
                </a:cxn>
                <a:cxn ang="0">
                  <a:pos x="511" y="155"/>
                </a:cxn>
                <a:cxn ang="0">
                  <a:pos x="428" y="68"/>
                </a:cxn>
                <a:cxn ang="0">
                  <a:pos x="464" y="125"/>
                </a:cxn>
                <a:cxn ang="0">
                  <a:pos x="360" y="134"/>
                </a:cxn>
                <a:cxn ang="0">
                  <a:pos x="296" y="124"/>
                </a:cxn>
                <a:cxn ang="0">
                  <a:pos x="194" y="147"/>
                </a:cxn>
                <a:cxn ang="0">
                  <a:pos x="180" y="164"/>
                </a:cxn>
                <a:cxn ang="0">
                  <a:pos x="129" y="201"/>
                </a:cxn>
                <a:cxn ang="0">
                  <a:pos x="54" y="155"/>
                </a:cxn>
                <a:cxn ang="0">
                  <a:pos x="46" y="123"/>
                </a:cxn>
                <a:cxn ang="0">
                  <a:pos x="12" y="116"/>
                </a:cxn>
                <a:cxn ang="0">
                  <a:pos x="38" y="201"/>
                </a:cxn>
                <a:cxn ang="0">
                  <a:pos x="27" y="260"/>
                </a:cxn>
                <a:cxn ang="0">
                  <a:pos x="57" y="336"/>
                </a:cxn>
                <a:cxn ang="0">
                  <a:pos x="152" y="416"/>
                </a:cxn>
                <a:cxn ang="0">
                  <a:pos x="206" y="492"/>
                </a:cxn>
                <a:cxn ang="0">
                  <a:pos x="207" y="531"/>
                </a:cxn>
                <a:cxn ang="0">
                  <a:pos x="373" y="582"/>
                </a:cxn>
                <a:cxn ang="0">
                  <a:pos x="362" y="501"/>
                </a:cxn>
                <a:cxn ang="0">
                  <a:pos x="350" y="407"/>
                </a:cxn>
                <a:cxn ang="0">
                  <a:pos x="481" y="396"/>
                </a:cxn>
                <a:cxn ang="0">
                  <a:pos x="585" y="344"/>
                </a:cxn>
                <a:cxn ang="0">
                  <a:pos x="692" y="368"/>
                </a:cxn>
                <a:cxn ang="0">
                  <a:pos x="837" y="438"/>
                </a:cxn>
                <a:cxn ang="0">
                  <a:pos x="963" y="431"/>
                </a:cxn>
                <a:cxn ang="0">
                  <a:pos x="1087" y="432"/>
                </a:cxn>
                <a:cxn ang="0">
                  <a:pos x="1262" y="437"/>
                </a:cxn>
                <a:cxn ang="0">
                  <a:pos x="1312" y="377"/>
                </a:cxn>
                <a:cxn ang="0">
                  <a:pos x="1479" y="456"/>
                </a:cxn>
                <a:cxn ang="0">
                  <a:pos x="1543" y="544"/>
                </a:cxn>
                <a:cxn ang="0">
                  <a:pos x="1570" y="561"/>
                </a:cxn>
                <a:cxn ang="0">
                  <a:pos x="1608" y="450"/>
                </a:cxn>
                <a:cxn ang="0">
                  <a:pos x="1514" y="362"/>
                </a:cxn>
                <a:cxn ang="0">
                  <a:pos x="1472" y="324"/>
                </a:cxn>
                <a:cxn ang="0">
                  <a:pos x="1531" y="276"/>
                </a:cxn>
                <a:cxn ang="0">
                  <a:pos x="1628" y="280"/>
                </a:cxn>
                <a:cxn ang="0">
                  <a:pos x="1672" y="251"/>
                </a:cxn>
                <a:cxn ang="0">
                  <a:pos x="1701" y="228"/>
                </a:cxn>
                <a:cxn ang="0">
                  <a:pos x="1702" y="318"/>
                </a:cxn>
                <a:cxn ang="0">
                  <a:pos x="1807" y="381"/>
                </a:cxn>
                <a:cxn ang="0">
                  <a:pos x="1807" y="333"/>
                </a:cxn>
                <a:cxn ang="0">
                  <a:pos x="1759" y="269"/>
                </a:cxn>
                <a:cxn ang="0">
                  <a:pos x="1828" y="249"/>
                </a:cxn>
                <a:cxn ang="0">
                  <a:pos x="1870" y="218"/>
                </a:cxn>
                <a:cxn ang="0">
                  <a:pos x="1788" y="156"/>
                </a:cxn>
              </a:cxnLst>
              <a:rect l="0" t="0" r="r" b="b"/>
              <a:pathLst>
                <a:path w="1884" h="582">
                  <a:moveTo>
                    <a:pt x="1741" y="124"/>
                  </a:moveTo>
                  <a:lnTo>
                    <a:pt x="1706" y="117"/>
                  </a:lnTo>
                  <a:lnTo>
                    <a:pt x="1670" y="110"/>
                  </a:lnTo>
                  <a:lnTo>
                    <a:pt x="1639" y="110"/>
                  </a:lnTo>
                  <a:lnTo>
                    <a:pt x="1609" y="107"/>
                  </a:lnTo>
                  <a:lnTo>
                    <a:pt x="1620" y="114"/>
                  </a:lnTo>
                  <a:lnTo>
                    <a:pt x="1638" y="124"/>
                  </a:lnTo>
                  <a:lnTo>
                    <a:pt x="1635" y="126"/>
                  </a:lnTo>
                  <a:lnTo>
                    <a:pt x="1624" y="126"/>
                  </a:lnTo>
                  <a:lnTo>
                    <a:pt x="1608" y="120"/>
                  </a:lnTo>
                  <a:lnTo>
                    <a:pt x="1602" y="120"/>
                  </a:lnTo>
                  <a:lnTo>
                    <a:pt x="1584" y="112"/>
                  </a:lnTo>
                  <a:lnTo>
                    <a:pt x="1570" y="116"/>
                  </a:lnTo>
                  <a:lnTo>
                    <a:pt x="1524" y="113"/>
                  </a:lnTo>
                  <a:lnTo>
                    <a:pt x="1522" y="120"/>
                  </a:lnTo>
                  <a:lnTo>
                    <a:pt x="1507" y="113"/>
                  </a:lnTo>
                  <a:lnTo>
                    <a:pt x="1489" y="110"/>
                  </a:lnTo>
                  <a:lnTo>
                    <a:pt x="1471" y="99"/>
                  </a:lnTo>
                  <a:lnTo>
                    <a:pt x="1443" y="93"/>
                  </a:lnTo>
                  <a:lnTo>
                    <a:pt x="1414" y="94"/>
                  </a:lnTo>
                  <a:lnTo>
                    <a:pt x="1387" y="96"/>
                  </a:lnTo>
                  <a:lnTo>
                    <a:pt x="1380" y="94"/>
                  </a:lnTo>
                  <a:lnTo>
                    <a:pt x="1358" y="88"/>
                  </a:lnTo>
                  <a:lnTo>
                    <a:pt x="1351" y="90"/>
                  </a:lnTo>
                  <a:lnTo>
                    <a:pt x="1351" y="87"/>
                  </a:lnTo>
                  <a:lnTo>
                    <a:pt x="1344" y="86"/>
                  </a:lnTo>
                  <a:lnTo>
                    <a:pt x="1329" y="83"/>
                  </a:lnTo>
                  <a:lnTo>
                    <a:pt x="1336" y="81"/>
                  </a:lnTo>
                  <a:lnTo>
                    <a:pt x="1310" y="75"/>
                  </a:lnTo>
                  <a:lnTo>
                    <a:pt x="1294" y="78"/>
                  </a:lnTo>
                  <a:lnTo>
                    <a:pt x="1290" y="78"/>
                  </a:lnTo>
                  <a:lnTo>
                    <a:pt x="1292" y="75"/>
                  </a:lnTo>
                  <a:lnTo>
                    <a:pt x="1291" y="74"/>
                  </a:lnTo>
                  <a:lnTo>
                    <a:pt x="1252" y="71"/>
                  </a:lnTo>
                  <a:lnTo>
                    <a:pt x="1213" y="68"/>
                  </a:lnTo>
                  <a:lnTo>
                    <a:pt x="1222" y="71"/>
                  </a:lnTo>
                  <a:lnTo>
                    <a:pt x="1206" y="75"/>
                  </a:lnTo>
                  <a:lnTo>
                    <a:pt x="1213" y="76"/>
                  </a:lnTo>
                  <a:lnTo>
                    <a:pt x="1218" y="77"/>
                  </a:lnTo>
                  <a:lnTo>
                    <a:pt x="1222" y="82"/>
                  </a:lnTo>
                  <a:lnTo>
                    <a:pt x="1230" y="87"/>
                  </a:lnTo>
                  <a:lnTo>
                    <a:pt x="1209" y="86"/>
                  </a:lnTo>
                  <a:lnTo>
                    <a:pt x="1213" y="89"/>
                  </a:lnTo>
                  <a:lnTo>
                    <a:pt x="1215" y="92"/>
                  </a:lnTo>
                  <a:lnTo>
                    <a:pt x="1183" y="84"/>
                  </a:lnTo>
                  <a:lnTo>
                    <a:pt x="1172" y="88"/>
                  </a:lnTo>
                  <a:lnTo>
                    <a:pt x="1146" y="83"/>
                  </a:lnTo>
                  <a:lnTo>
                    <a:pt x="1141" y="81"/>
                  </a:lnTo>
                  <a:lnTo>
                    <a:pt x="1148" y="90"/>
                  </a:lnTo>
                  <a:lnTo>
                    <a:pt x="1144" y="98"/>
                  </a:lnTo>
                  <a:lnTo>
                    <a:pt x="1126" y="93"/>
                  </a:lnTo>
                  <a:lnTo>
                    <a:pt x="1104" y="83"/>
                  </a:lnTo>
                  <a:lnTo>
                    <a:pt x="1078" y="74"/>
                  </a:lnTo>
                  <a:lnTo>
                    <a:pt x="1071" y="75"/>
                  </a:lnTo>
                  <a:lnTo>
                    <a:pt x="1090" y="88"/>
                  </a:lnTo>
                  <a:lnTo>
                    <a:pt x="1064" y="74"/>
                  </a:lnTo>
                  <a:lnTo>
                    <a:pt x="1022" y="69"/>
                  </a:lnTo>
                  <a:lnTo>
                    <a:pt x="980" y="64"/>
                  </a:lnTo>
                  <a:lnTo>
                    <a:pt x="957" y="59"/>
                  </a:lnTo>
                  <a:lnTo>
                    <a:pt x="961" y="57"/>
                  </a:lnTo>
                  <a:lnTo>
                    <a:pt x="943" y="57"/>
                  </a:lnTo>
                  <a:lnTo>
                    <a:pt x="903" y="58"/>
                  </a:lnTo>
                  <a:lnTo>
                    <a:pt x="890" y="52"/>
                  </a:lnTo>
                  <a:lnTo>
                    <a:pt x="873" y="52"/>
                  </a:lnTo>
                  <a:lnTo>
                    <a:pt x="873" y="50"/>
                  </a:lnTo>
                  <a:lnTo>
                    <a:pt x="854" y="53"/>
                  </a:lnTo>
                  <a:lnTo>
                    <a:pt x="872" y="54"/>
                  </a:lnTo>
                  <a:lnTo>
                    <a:pt x="850" y="60"/>
                  </a:lnTo>
                  <a:lnTo>
                    <a:pt x="829" y="63"/>
                  </a:lnTo>
                  <a:lnTo>
                    <a:pt x="830" y="60"/>
                  </a:lnTo>
                  <a:lnTo>
                    <a:pt x="852" y="46"/>
                  </a:lnTo>
                  <a:lnTo>
                    <a:pt x="873" y="30"/>
                  </a:lnTo>
                  <a:lnTo>
                    <a:pt x="864" y="28"/>
                  </a:lnTo>
                  <a:lnTo>
                    <a:pt x="853" y="24"/>
                  </a:lnTo>
                  <a:lnTo>
                    <a:pt x="870" y="28"/>
                  </a:lnTo>
                  <a:lnTo>
                    <a:pt x="855" y="20"/>
                  </a:lnTo>
                  <a:lnTo>
                    <a:pt x="853" y="21"/>
                  </a:lnTo>
                  <a:lnTo>
                    <a:pt x="844" y="20"/>
                  </a:lnTo>
                  <a:lnTo>
                    <a:pt x="826" y="15"/>
                  </a:lnTo>
                  <a:lnTo>
                    <a:pt x="790" y="14"/>
                  </a:lnTo>
                  <a:lnTo>
                    <a:pt x="777" y="15"/>
                  </a:lnTo>
                  <a:lnTo>
                    <a:pt x="776" y="9"/>
                  </a:lnTo>
                  <a:lnTo>
                    <a:pt x="760" y="8"/>
                  </a:lnTo>
                  <a:lnTo>
                    <a:pt x="742" y="8"/>
                  </a:lnTo>
                  <a:lnTo>
                    <a:pt x="756" y="4"/>
                  </a:lnTo>
                  <a:lnTo>
                    <a:pt x="728" y="0"/>
                  </a:lnTo>
                  <a:lnTo>
                    <a:pt x="711" y="10"/>
                  </a:lnTo>
                  <a:lnTo>
                    <a:pt x="718" y="15"/>
                  </a:lnTo>
                  <a:lnTo>
                    <a:pt x="728" y="16"/>
                  </a:lnTo>
                  <a:lnTo>
                    <a:pt x="702" y="18"/>
                  </a:lnTo>
                  <a:lnTo>
                    <a:pt x="711" y="21"/>
                  </a:lnTo>
                  <a:lnTo>
                    <a:pt x="693" y="22"/>
                  </a:lnTo>
                  <a:lnTo>
                    <a:pt x="676" y="23"/>
                  </a:lnTo>
                  <a:lnTo>
                    <a:pt x="644" y="23"/>
                  </a:lnTo>
                  <a:lnTo>
                    <a:pt x="657" y="23"/>
                  </a:lnTo>
                  <a:lnTo>
                    <a:pt x="632" y="28"/>
                  </a:lnTo>
                  <a:lnTo>
                    <a:pt x="606" y="33"/>
                  </a:lnTo>
                  <a:lnTo>
                    <a:pt x="597" y="35"/>
                  </a:lnTo>
                  <a:lnTo>
                    <a:pt x="597" y="41"/>
                  </a:lnTo>
                  <a:lnTo>
                    <a:pt x="588" y="40"/>
                  </a:lnTo>
                  <a:lnTo>
                    <a:pt x="603" y="45"/>
                  </a:lnTo>
                  <a:lnTo>
                    <a:pt x="594" y="46"/>
                  </a:lnTo>
                  <a:lnTo>
                    <a:pt x="607" y="50"/>
                  </a:lnTo>
                  <a:lnTo>
                    <a:pt x="607" y="52"/>
                  </a:lnTo>
                  <a:lnTo>
                    <a:pt x="576" y="54"/>
                  </a:lnTo>
                  <a:lnTo>
                    <a:pt x="546" y="58"/>
                  </a:lnTo>
                  <a:lnTo>
                    <a:pt x="550" y="64"/>
                  </a:lnTo>
                  <a:lnTo>
                    <a:pt x="564" y="74"/>
                  </a:lnTo>
                  <a:lnTo>
                    <a:pt x="579" y="77"/>
                  </a:lnTo>
                  <a:lnTo>
                    <a:pt x="601" y="84"/>
                  </a:lnTo>
                  <a:lnTo>
                    <a:pt x="610" y="98"/>
                  </a:lnTo>
                  <a:lnTo>
                    <a:pt x="614" y="104"/>
                  </a:lnTo>
                  <a:lnTo>
                    <a:pt x="608" y="104"/>
                  </a:lnTo>
                  <a:lnTo>
                    <a:pt x="598" y="94"/>
                  </a:lnTo>
                  <a:lnTo>
                    <a:pt x="596" y="100"/>
                  </a:lnTo>
                  <a:lnTo>
                    <a:pt x="589" y="90"/>
                  </a:lnTo>
                  <a:lnTo>
                    <a:pt x="596" y="84"/>
                  </a:lnTo>
                  <a:lnTo>
                    <a:pt x="571" y="82"/>
                  </a:lnTo>
                  <a:lnTo>
                    <a:pt x="546" y="74"/>
                  </a:lnTo>
                  <a:lnTo>
                    <a:pt x="525" y="77"/>
                  </a:lnTo>
                  <a:lnTo>
                    <a:pt x="535" y="81"/>
                  </a:lnTo>
                  <a:lnTo>
                    <a:pt x="512" y="81"/>
                  </a:lnTo>
                  <a:lnTo>
                    <a:pt x="518" y="86"/>
                  </a:lnTo>
                  <a:lnTo>
                    <a:pt x="546" y="90"/>
                  </a:lnTo>
                  <a:lnTo>
                    <a:pt x="552" y="94"/>
                  </a:lnTo>
                  <a:lnTo>
                    <a:pt x="511" y="87"/>
                  </a:lnTo>
                  <a:lnTo>
                    <a:pt x="498" y="69"/>
                  </a:lnTo>
                  <a:lnTo>
                    <a:pt x="488" y="68"/>
                  </a:lnTo>
                  <a:lnTo>
                    <a:pt x="498" y="77"/>
                  </a:lnTo>
                  <a:lnTo>
                    <a:pt x="487" y="84"/>
                  </a:lnTo>
                  <a:lnTo>
                    <a:pt x="492" y="90"/>
                  </a:lnTo>
                  <a:lnTo>
                    <a:pt x="508" y="100"/>
                  </a:lnTo>
                  <a:lnTo>
                    <a:pt x="507" y="112"/>
                  </a:lnTo>
                  <a:lnTo>
                    <a:pt x="518" y="123"/>
                  </a:lnTo>
                  <a:lnTo>
                    <a:pt x="548" y="122"/>
                  </a:lnTo>
                  <a:lnTo>
                    <a:pt x="564" y="125"/>
                  </a:lnTo>
                  <a:lnTo>
                    <a:pt x="571" y="136"/>
                  </a:lnTo>
                  <a:lnTo>
                    <a:pt x="576" y="142"/>
                  </a:lnTo>
                  <a:lnTo>
                    <a:pt x="592" y="146"/>
                  </a:lnTo>
                  <a:lnTo>
                    <a:pt x="567" y="142"/>
                  </a:lnTo>
                  <a:lnTo>
                    <a:pt x="558" y="129"/>
                  </a:lnTo>
                  <a:lnTo>
                    <a:pt x="549" y="124"/>
                  </a:lnTo>
                  <a:lnTo>
                    <a:pt x="528" y="128"/>
                  </a:lnTo>
                  <a:lnTo>
                    <a:pt x="541" y="144"/>
                  </a:lnTo>
                  <a:lnTo>
                    <a:pt x="530" y="160"/>
                  </a:lnTo>
                  <a:lnTo>
                    <a:pt x="525" y="162"/>
                  </a:lnTo>
                  <a:lnTo>
                    <a:pt x="518" y="165"/>
                  </a:lnTo>
                  <a:lnTo>
                    <a:pt x="484" y="161"/>
                  </a:lnTo>
                  <a:lnTo>
                    <a:pt x="481" y="158"/>
                  </a:lnTo>
                  <a:lnTo>
                    <a:pt x="502" y="159"/>
                  </a:lnTo>
                  <a:lnTo>
                    <a:pt x="499" y="160"/>
                  </a:lnTo>
                  <a:lnTo>
                    <a:pt x="513" y="159"/>
                  </a:lnTo>
                  <a:lnTo>
                    <a:pt x="511" y="155"/>
                  </a:lnTo>
                  <a:lnTo>
                    <a:pt x="520" y="140"/>
                  </a:lnTo>
                  <a:lnTo>
                    <a:pt x="520" y="132"/>
                  </a:lnTo>
                  <a:lnTo>
                    <a:pt x="500" y="120"/>
                  </a:lnTo>
                  <a:lnTo>
                    <a:pt x="492" y="106"/>
                  </a:lnTo>
                  <a:lnTo>
                    <a:pt x="482" y="92"/>
                  </a:lnTo>
                  <a:lnTo>
                    <a:pt x="470" y="86"/>
                  </a:lnTo>
                  <a:lnTo>
                    <a:pt x="470" y="71"/>
                  </a:lnTo>
                  <a:lnTo>
                    <a:pt x="452" y="66"/>
                  </a:lnTo>
                  <a:lnTo>
                    <a:pt x="428" y="68"/>
                  </a:lnTo>
                  <a:lnTo>
                    <a:pt x="426" y="87"/>
                  </a:lnTo>
                  <a:lnTo>
                    <a:pt x="416" y="94"/>
                  </a:lnTo>
                  <a:lnTo>
                    <a:pt x="420" y="98"/>
                  </a:lnTo>
                  <a:lnTo>
                    <a:pt x="427" y="98"/>
                  </a:lnTo>
                  <a:lnTo>
                    <a:pt x="429" y="107"/>
                  </a:lnTo>
                  <a:lnTo>
                    <a:pt x="433" y="113"/>
                  </a:lnTo>
                  <a:lnTo>
                    <a:pt x="448" y="118"/>
                  </a:lnTo>
                  <a:lnTo>
                    <a:pt x="458" y="125"/>
                  </a:lnTo>
                  <a:lnTo>
                    <a:pt x="464" y="125"/>
                  </a:lnTo>
                  <a:lnTo>
                    <a:pt x="459" y="136"/>
                  </a:lnTo>
                  <a:lnTo>
                    <a:pt x="441" y="126"/>
                  </a:lnTo>
                  <a:lnTo>
                    <a:pt x="412" y="119"/>
                  </a:lnTo>
                  <a:lnTo>
                    <a:pt x="386" y="114"/>
                  </a:lnTo>
                  <a:lnTo>
                    <a:pt x="360" y="111"/>
                  </a:lnTo>
                  <a:lnTo>
                    <a:pt x="355" y="114"/>
                  </a:lnTo>
                  <a:lnTo>
                    <a:pt x="368" y="125"/>
                  </a:lnTo>
                  <a:lnTo>
                    <a:pt x="360" y="130"/>
                  </a:lnTo>
                  <a:lnTo>
                    <a:pt x="360" y="134"/>
                  </a:lnTo>
                  <a:lnTo>
                    <a:pt x="351" y="132"/>
                  </a:lnTo>
                  <a:lnTo>
                    <a:pt x="349" y="125"/>
                  </a:lnTo>
                  <a:lnTo>
                    <a:pt x="332" y="128"/>
                  </a:lnTo>
                  <a:lnTo>
                    <a:pt x="319" y="130"/>
                  </a:lnTo>
                  <a:lnTo>
                    <a:pt x="304" y="135"/>
                  </a:lnTo>
                  <a:lnTo>
                    <a:pt x="285" y="134"/>
                  </a:lnTo>
                  <a:lnTo>
                    <a:pt x="291" y="131"/>
                  </a:lnTo>
                  <a:lnTo>
                    <a:pt x="286" y="126"/>
                  </a:lnTo>
                  <a:lnTo>
                    <a:pt x="296" y="124"/>
                  </a:lnTo>
                  <a:lnTo>
                    <a:pt x="274" y="130"/>
                  </a:lnTo>
                  <a:lnTo>
                    <a:pt x="273" y="132"/>
                  </a:lnTo>
                  <a:lnTo>
                    <a:pt x="249" y="137"/>
                  </a:lnTo>
                  <a:lnTo>
                    <a:pt x="236" y="142"/>
                  </a:lnTo>
                  <a:lnTo>
                    <a:pt x="237" y="144"/>
                  </a:lnTo>
                  <a:lnTo>
                    <a:pt x="226" y="146"/>
                  </a:lnTo>
                  <a:lnTo>
                    <a:pt x="225" y="155"/>
                  </a:lnTo>
                  <a:lnTo>
                    <a:pt x="207" y="156"/>
                  </a:lnTo>
                  <a:lnTo>
                    <a:pt x="194" y="147"/>
                  </a:lnTo>
                  <a:lnTo>
                    <a:pt x="212" y="141"/>
                  </a:lnTo>
                  <a:lnTo>
                    <a:pt x="190" y="130"/>
                  </a:lnTo>
                  <a:lnTo>
                    <a:pt x="166" y="129"/>
                  </a:lnTo>
                  <a:lnTo>
                    <a:pt x="181" y="135"/>
                  </a:lnTo>
                  <a:lnTo>
                    <a:pt x="186" y="152"/>
                  </a:lnTo>
                  <a:lnTo>
                    <a:pt x="192" y="162"/>
                  </a:lnTo>
                  <a:lnTo>
                    <a:pt x="190" y="170"/>
                  </a:lnTo>
                  <a:lnTo>
                    <a:pt x="184" y="170"/>
                  </a:lnTo>
                  <a:lnTo>
                    <a:pt x="180" y="164"/>
                  </a:lnTo>
                  <a:lnTo>
                    <a:pt x="166" y="161"/>
                  </a:lnTo>
                  <a:lnTo>
                    <a:pt x="154" y="171"/>
                  </a:lnTo>
                  <a:lnTo>
                    <a:pt x="142" y="179"/>
                  </a:lnTo>
                  <a:lnTo>
                    <a:pt x="154" y="192"/>
                  </a:lnTo>
                  <a:lnTo>
                    <a:pt x="127" y="189"/>
                  </a:lnTo>
                  <a:lnTo>
                    <a:pt x="109" y="183"/>
                  </a:lnTo>
                  <a:lnTo>
                    <a:pt x="110" y="190"/>
                  </a:lnTo>
                  <a:lnTo>
                    <a:pt x="123" y="196"/>
                  </a:lnTo>
                  <a:lnTo>
                    <a:pt x="129" y="201"/>
                  </a:lnTo>
                  <a:lnTo>
                    <a:pt x="114" y="203"/>
                  </a:lnTo>
                  <a:lnTo>
                    <a:pt x="90" y="191"/>
                  </a:lnTo>
                  <a:lnTo>
                    <a:pt x="81" y="178"/>
                  </a:lnTo>
                  <a:lnTo>
                    <a:pt x="80" y="173"/>
                  </a:lnTo>
                  <a:lnTo>
                    <a:pt x="82" y="173"/>
                  </a:lnTo>
                  <a:lnTo>
                    <a:pt x="66" y="165"/>
                  </a:lnTo>
                  <a:lnTo>
                    <a:pt x="60" y="161"/>
                  </a:lnTo>
                  <a:lnTo>
                    <a:pt x="44" y="153"/>
                  </a:lnTo>
                  <a:lnTo>
                    <a:pt x="54" y="155"/>
                  </a:lnTo>
                  <a:lnTo>
                    <a:pt x="86" y="161"/>
                  </a:lnTo>
                  <a:lnTo>
                    <a:pt x="118" y="168"/>
                  </a:lnTo>
                  <a:lnTo>
                    <a:pt x="148" y="161"/>
                  </a:lnTo>
                  <a:lnTo>
                    <a:pt x="152" y="150"/>
                  </a:lnTo>
                  <a:lnTo>
                    <a:pt x="140" y="142"/>
                  </a:lnTo>
                  <a:lnTo>
                    <a:pt x="106" y="131"/>
                  </a:lnTo>
                  <a:lnTo>
                    <a:pt x="72" y="120"/>
                  </a:lnTo>
                  <a:lnTo>
                    <a:pt x="52" y="122"/>
                  </a:lnTo>
                  <a:lnTo>
                    <a:pt x="46" y="123"/>
                  </a:lnTo>
                  <a:lnTo>
                    <a:pt x="51" y="117"/>
                  </a:lnTo>
                  <a:lnTo>
                    <a:pt x="43" y="118"/>
                  </a:lnTo>
                  <a:lnTo>
                    <a:pt x="33" y="113"/>
                  </a:lnTo>
                  <a:lnTo>
                    <a:pt x="45" y="112"/>
                  </a:lnTo>
                  <a:lnTo>
                    <a:pt x="31" y="110"/>
                  </a:lnTo>
                  <a:lnTo>
                    <a:pt x="25" y="113"/>
                  </a:lnTo>
                  <a:lnTo>
                    <a:pt x="19" y="111"/>
                  </a:lnTo>
                  <a:lnTo>
                    <a:pt x="19" y="116"/>
                  </a:lnTo>
                  <a:lnTo>
                    <a:pt x="12" y="116"/>
                  </a:lnTo>
                  <a:lnTo>
                    <a:pt x="0" y="123"/>
                  </a:lnTo>
                  <a:lnTo>
                    <a:pt x="0" y="126"/>
                  </a:lnTo>
                  <a:lnTo>
                    <a:pt x="0" y="136"/>
                  </a:lnTo>
                  <a:lnTo>
                    <a:pt x="18" y="146"/>
                  </a:lnTo>
                  <a:lnTo>
                    <a:pt x="10" y="158"/>
                  </a:lnTo>
                  <a:lnTo>
                    <a:pt x="25" y="174"/>
                  </a:lnTo>
                  <a:lnTo>
                    <a:pt x="26" y="189"/>
                  </a:lnTo>
                  <a:lnTo>
                    <a:pt x="31" y="194"/>
                  </a:lnTo>
                  <a:lnTo>
                    <a:pt x="38" y="201"/>
                  </a:lnTo>
                  <a:lnTo>
                    <a:pt x="32" y="206"/>
                  </a:lnTo>
                  <a:lnTo>
                    <a:pt x="55" y="219"/>
                  </a:lnTo>
                  <a:lnTo>
                    <a:pt x="45" y="228"/>
                  </a:lnTo>
                  <a:lnTo>
                    <a:pt x="37" y="238"/>
                  </a:lnTo>
                  <a:lnTo>
                    <a:pt x="27" y="248"/>
                  </a:lnTo>
                  <a:lnTo>
                    <a:pt x="18" y="257"/>
                  </a:lnTo>
                  <a:lnTo>
                    <a:pt x="26" y="257"/>
                  </a:lnTo>
                  <a:lnTo>
                    <a:pt x="25" y="257"/>
                  </a:lnTo>
                  <a:lnTo>
                    <a:pt x="27" y="260"/>
                  </a:lnTo>
                  <a:lnTo>
                    <a:pt x="50" y="267"/>
                  </a:lnTo>
                  <a:lnTo>
                    <a:pt x="36" y="266"/>
                  </a:lnTo>
                  <a:lnTo>
                    <a:pt x="25" y="272"/>
                  </a:lnTo>
                  <a:lnTo>
                    <a:pt x="21" y="276"/>
                  </a:lnTo>
                  <a:lnTo>
                    <a:pt x="25" y="291"/>
                  </a:lnTo>
                  <a:lnTo>
                    <a:pt x="19" y="302"/>
                  </a:lnTo>
                  <a:lnTo>
                    <a:pt x="27" y="314"/>
                  </a:lnTo>
                  <a:lnTo>
                    <a:pt x="37" y="333"/>
                  </a:lnTo>
                  <a:lnTo>
                    <a:pt x="57" y="336"/>
                  </a:lnTo>
                  <a:lnTo>
                    <a:pt x="79" y="340"/>
                  </a:lnTo>
                  <a:lnTo>
                    <a:pt x="81" y="359"/>
                  </a:lnTo>
                  <a:lnTo>
                    <a:pt x="99" y="375"/>
                  </a:lnTo>
                  <a:lnTo>
                    <a:pt x="94" y="380"/>
                  </a:lnTo>
                  <a:lnTo>
                    <a:pt x="98" y="395"/>
                  </a:lnTo>
                  <a:lnTo>
                    <a:pt x="109" y="392"/>
                  </a:lnTo>
                  <a:lnTo>
                    <a:pt x="132" y="394"/>
                  </a:lnTo>
                  <a:lnTo>
                    <a:pt x="134" y="400"/>
                  </a:lnTo>
                  <a:lnTo>
                    <a:pt x="152" y="416"/>
                  </a:lnTo>
                  <a:lnTo>
                    <a:pt x="170" y="431"/>
                  </a:lnTo>
                  <a:lnTo>
                    <a:pt x="180" y="430"/>
                  </a:lnTo>
                  <a:lnTo>
                    <a:pt x="200" y="436"/>
                  </a:lnTo>
                  <a:lnTo>
                    <a:pt x="222" y="443"/>
                  </a:lnTo>
                  <a:lnTo>
                    <a:pt x="230" y="467"/>
                  </a:lnTo>
                  <a:lnTo>
                    <a:pt x="219" y="473"/>
                  </a:lnTo>
                  <a:lnTo>
                    <a:pt x="214" y="483"/>
                  </a:lnTo>
                  <a:lnTo>
                    <a:pt x="217" y="486"/>
                  </a:lnTo>
                  <a:lnTo>
                    <a:pt x="206" y="492"/>
                  </a:lnTo>
                  <a:lnTo>
                    <a:pt x="199" y="495"/>
                  </a:lnTo>
                  <a:lnTo>
                    <a:pt x="211" y="504"/>
                  </a:lnTo>
                  <a:lnTo>
                    <a:pt x="206" y="503"/>
                  </a:lnTo>
                  <a:lnTo>
                    <a:pt x="205" y="509"/>
                  </a:lnTo>
                  <a:lnTo>
                    <a:pt x="202" y="504"/>
                  </a:lnTo>
                  <a:lnTo>
                    <a:pt x="201" y="515"/>
                  </a:lnTo>
                  <a:lnTo>
                    <a:pt x="189" y="516"/>
                  </a:lnTo>
                  <a:lnTo>
                    <a:pt x="186" y="520"/>
                  </a:lnTo>
                  <a:lnTo>
                    <a:pt x="207" y="531"/>
                  </a:lnTo>
                  <a:lnTo>
                    <a:pt x="229" y="543"/>
                  </a:lnTo>
                  <a:lnTo>
                    <a:pt x="230" y="540"/>
                  </a:lnTo>
                  <a:lnTo>
                    <a:pt x="246" y="542"/>
                  </a:lnTo>
                  <a:lnTo>
                    <a:pt x="262" y="543"/>
                  </a:lnTo>
                  <a:lnTo>
                    <a:pt x="284" y="552"/>
                  </a:lnTo>
                  <a:lnTo>
                    <a:pt x="306" y="561"/>
                  </a:lnTo>
                  <a:lnTo>
                    <a:pt x="327" y="569"/>
                  </a:lnTo>
                  <a:lnTo>
                    <a:pt x="349" y="578"/>
                  </a:lnTo>
                  <a:lnTo>
                    <a:pt x="373" y="582"/>
                  </a:lnTo>
                  <a:lnTo>
                    <a:pt x="361" y="568"/>
                  </a:lnTo>
                  <a:lnTo>
                    <a:pt x="348" y="555"/>
                  </a:lnTo>
                  <a:lnTo>
                    <a:pt x="346" y="543"/>
                  </a:lnTo>
                  <a:lnTo>
                    <a:pt x="345" y="548"/>
                  </a:lnTo>
                  <a:lnTo>
                    <a:pt x="337" y="534"/>
                  </a:lnTo>
                  <a:lnTo>
                    <a:pt x="332" y="530"/>
                  </a:lnTo>
                  <a:lnTo>
                    <a:pt x="339" y="512"/>
                  </a:lnTo>
                  <a:lnTo>
                    <a:pt x="355" y="506"/>
                  </a:lnTo>
                  <a:lnTo>
                    <a:pt x="362" y="501"/>
                  </a:lnTo>
                  <a:lnTo>
                    <a:pt x="360" y="497"/>
                  </a:lnTo>
                  <a:lnTo>
                    <a:pt x="349" y="480"/>
                  </a:lnTo>
                  <a:lnTo>
                    <a:pt x="332" y="467"/>
                  </a:lnTo>
                  <a:lnTo>
                    <a:pt x="315" y="454"/>
                  </a:lnTo>
                  <a:lnTo>
                    <a:pt x="318" y="435"/>
                  </a:lnTo>
                  <a:lnTo>
                    <a:pt x="320" y="416"/>
                  </a:lnTo>
                  <a:lnTo>
                    <a:pt x="337" y="423"/>
                  </a:lnTo>
                  <a:lnTo>
                    <a:pt x="339" y="416"/>
                  </a:lnTo>
                  <a:lnTo>
                    <a:pt x="350" y="407"/>
                  </a:lnTo>
                  <a:lnTo>
                    <a:pt x="361" y="400"/>
                  </a:lnTo>
                  <a:lnTo>
                    <a:pt x="380" y="399"/>
                  </a:lnTo>
                  <a:lnTo>
                    <a:pt x="399" y="407"/>
                  </a:lnTo>
                  <a:lnTo>
                    <a:pt x="418" y="416"/>
                  </a:lnTo>
                  <a:lnTo>
                    <a:pt x="439" y="414"/>
                  </a:lnTo>
                  <a:lnTo>
                    <a:pt x="466" y="414"/>
                  </a:lnTo>
                  <a:lnTo>
                    <a:pt x="493" y="418"/>
                  </a:lnTo>
                  <a:lnTo>
                    <a:pt x="495" y="413"/>
                  </a:lnTo>
                  <a:lnTo>
                    <a:pt x="481" y="396"/>
                  </a:lnTo>
                  <a:lnTo>
                    <a:pt x="487" y="376"/>
                  </a:lnTo>
                  <a:lnTo>
                    <a:pt x="500" y="377"/>
                  </a:lnTo>
                  <a:lnTo>
                    <a:pt x="483" y="369"/>
                  </a:lnTo>
                  <a:lnTo>
                    <a:pt x="501" y="365"/>
                  </a:lnTo>
                  <a:lnTo>
                    <a:pt x="519" y="363"/>
                  </a:lnTo>
                  <a:lnTo>
                    <a:pt x="536" y="358"/>
                  </a:lnTo>
                  <a:lnTo>
                    <a:pt x="553" y="353"/>
                  </a:lnTo>
                  <a:lnTo>
                    <a:pt x="568" y="348"/>
                  </a:lnTo>
                  <a:lnTo>
                    <a:pt x="585" y="344"/>
                  </a:lnTo>
                  <a:lnTo>
                    <a:pt x="598" y="342"/>
                  </a:lnTo>
                  <a:lnTo>
                    <a:pt x="608" y="353"/>
                  </a:lnTo>
                  <a:lnTo>
                    <a:pt x="634" y="363"/>
                  </a:lnTo>
                  <a:lnTo>
                    <a:pt x="645" y="368"/>
                  </a:lnTo>
                  <a:lnTo>
                    <a:pt x="656" y="370"/>
                  </a:lnTo>
                  <a:lnTo>
                    <a:pt x="674" y="363"/>
                  </a:lnTo>
                  <a:lnTo>
                    <a:pt x="691" y="357"/>
                  </a:lnTo>
                  <a:lnTo>
                    <a:pt x="694" y="359"/>
                  </a:lnTo>
                  <a:lnTo>
                    <a:pt x="692" y="368"/>
                  </a:lnTo>
                  <a:lnTo>
                    <a:pt x="711" y="381"/>
                  </a:lnTo>
                  <a:lnTo>
                    <a:pt x="729" y="393"/>
                  </a:lnTo>
                  <a:lnTo>
                    <a:pt x="748" y="406"/>
                  </a:lnTo>
                  <a:lnTo>
                    <a:pt x="768" y="419"/>
                  </a:lnTo>
                  <a:lnTo>
                    <a:pt x="771" y="414"/>
                  </a:lnTo>
                  <a:lnTo>
                    <a:pt x="781" y="418"/>
                  </a:lnTo>
                  <a:lnTo>
                    <a:pt x="799" y="416"/>
                  </a:lnTo>
                  <a:lnTo>
                    <a:pt x="818" y="428"/>
                  </a:lnTo>
                  <a:lnTo>
                    <a:pt x="837" y="438"/>
                  </a:lnTo>
                  <a:lnTo>
                    <a:pt x="855" y="435"/>
                  </a:lnTo>
                  <a:lnTo>
                    <a:pt x="872" y="452"/>
                  </a:lnTo>
                  <a:lnTo>
                    <a:pt x="883" y="450"/>
                  </a:lnTo>
                  <a:lnTo>
                    <a:pt x="890" y="444"/>
                  </a:lnTo>
                  <a:lnTo>
                    <a:pt x="902" y="438"/>
                  </a:lnTo>
                  <a:lnTo>
                    <a:pt x="916" y="431"/>
                  </a:lnTo>
                  <a:lnTo>
                    <a:pt x="930" y="423"/>
                  </a:lnTo>
                  <a:lnTo>
                    <a:pt x="958" y="425"/>
                  </a:lnTo>
                  <a:lnTo>
                    <a:pt x="963" y="431"/>
                  </a:lnTo>
                  <a:lnTo>
                    <a:pt x="985" y="435"/>
                  </a:lnTo>
                  <a:lnTo>
                    <a:pt x="1005" y="438"/>
                  </a:lnTo>
                  <a:lnTo>
                    <a:pt x="1016" y="430"/>
                  </a:lnTo>
                  <a:lnTo>
                    <a:pt x="1003" y="418"/>
                  </a:lnTo>
                  <a:lnTo>
                    <a:pt x="1006" y="400"/>
                  </a:lnTo>
                  <a:lnTo>
                    <a:pt x="1030" y="406"/>
                  </a:lnTo>
                  <a:lnTo>
                    <a:pt x="1054" y="411"/>
                  </a:lnTo>
                  <a:lnTo>
                    <a:pt x="1065" y="422"/>
                  </a:lnTo>
                  <a:lnTo>
                    <a:pt x="1087" y="432"/>
                  </a:lnTo>
                  <a:lnTo>
                    <a:pt x="1111" y="428"/>
                  </a:lnTo>
                  <a:lnTo>
                    <a:pt x="1130" y="431"/>
                  </a:lnTo>
                  <a:lnTo>
                    <a:pt x="1150" y="436"/>
                  </a:lnTo>
                  <a:lnTo>
                    <a:pt x="1158" y="442"/>
                  </a:lnTo>
                  <a:lnTo>
                    <a:pt x="1186" y="449"/>
                  </a:lnTo>
                  <a:lnTo>
                    <a:pt x="1203" y="447"/>
                  </a:lnTo>
                  <a:lnTo>
                    <a:pt x="1220" y="443"/>
                  </a:lnTo>
                  <a:lnTo>
                    <a:pt x="1236" y="431"/>
                  </a:lnTo>
                  <a:lnTo>
                    <a:pt x="1262" y="437"/>
                  </a:lnTo>
                  <a:lnTo>
                    <a:pt x="1275" y="438"/>
                  </a:lnTo>
                  <a:lnTo>
                    <a:pt x="1296" y="442"/>
                  </a:lnTo>
                  <a:lnTo>
                    <a:pt x="1306" y="431"/>
                  </a:lnTo>
                  <a:lnTo>
                    <a:pt x="1302" y="418"/>
                  </a:lnTo>
                  <a:lnTo>
                    <a:pt x="1300" y="398"/>
                  </a:lnTo>
                  <a:lnTo>
                    <a:pt x="1291" y="390"/>
                  </a:lnTo>
                  <a:lnTo>
                    <a:pt x="1285" y="388"/>
                  </a:lnTo>
                  <a:lnTo>
                    <a:pt x="1294" y="378"/>
                  </a:lnTo>
                  <a:lnTo>
                    <a:pt x="1312" y="377"/>
                  </a:lnTo>
                  <a:lnTo>
                    <a:pt x="1330" y="377"/>
                  </a:lnTo>
                  <a:lnTo>
                    <a:pt x="1365" y="388"/>
                  </a:lnTo>
                  <a:lnTo>
                    <a:pt x="1380" y="401"/>
                  </a:lnTo>
                  <a:lnTo>
                    <a:pt x="1394" y="413"/>
                  </a:lnTo>
                  <a:lnTo>
                    <a:pt x="1408" y="425"/>
                  </a:lnTo>
                  <a:lnTo>
                    <a:pt x="1423" y="437"/>
                  </a:lnTo>
                  <a:lnTo>
                    <a:pt x="1438" y="443"/>
                  </a:lnTo>
                  <a:lnTo>
                    <a:pt x="1464" y="450"/>
                  </a:lnTo>
                  <a:lnTo>
                    <a:pt x="1479" y="456"/>
                  </a:lnTo>
                  <a:lnTo>
                    <a:pt x="1497" y="476"/>
                  </a:lnTo>
                  <a:lnTo>
                    <a:pt x="1519" y="473"/>
                  </a:lnTo>
                  <a:lnTo>
                    <a:pt x="1540" y="465"/>
                  </a:lnTo>
                  <a:lnTo>
                    <a:pt x="1549" y="480"/>
                  </a:lnTo>
                  <a:lnTo>
                    <a:pt x="1551" y="501"/>
                  </a:lnTo>
                  <a:lnTo>
                    <a:pt x="1555" y="522"/>
                  </a:lnTo>
                  <a:lnTo>
                    <a:pt x="1536" y="519"/>
                  </a:lnTo>
                  <a:lnTo>
                    <a:pt x="1533" y="528"/>
                  </a:lnTo>
                  <a:lnTo>
                    <a:pt x="1543" y="544"/>
                  </a:lnTo>
                  <a:lnTo>
                    <a:pt x="1552" y="560"/>
                  </a:lnTo>
                  <a:lnTo>
                    <a:pt x="1546" y="564"/>
                  </a:lnTo>
                  <a:lnTo>
                    <a:pt x="1550" y="569"/>
                  </a:lnTo>
                  <a:lnTo>
                    <a:pt x="1554" y="572"/>
                  </a:lnTo>
                  <a:lnTo>
                    <a:pt x="1551" y="566"/>
                  </a:lnTo>
                  <a:lnTo>
                    <a:pt x="1554" y="566"/>
                  </a:lnTo>
                  <a:lnTo>
                    <a:pt x="1561" y="555"/>
                  </a:lnTo>
                  <a:lnTo>
                    <a:pt x="1566" y="554"/>
                  </a:lnTo>
                  <a:lnTo>
                    <a:pt x="1570" y="561"/>
                  </a:lnTo>
                  <a:lnTo>
                    <a:pt x="1581" y="562"/>
                  </a:lnTo>
                  <a:lnTo>
                    <a:pt x="1598" y="556"/>
                  </a:lnTo>
                  <a:lnTo>
                    <a:pt x="1603" y="544"/>
                  </a:lnTo>
                  <a:lnTo>
                    <a:pt x="1608" y="532"/>
                  </a:lnTo>
                  <a:lnTo>
                    <a:pt x="1610" y="515"/>
                  </a:lnTo>
                  <a:lnTo>
                    <a:pt x="1611" y="498"/>
                  </a:lnTo>
                  <a:lnTo>
                    <a:pt x="1614" y="482"/>
                  </a:lnTo>
                  <a:lnTo>
                    <a:pt x="1615" y="465"/>
                  </a:lnTo>
                  <a:lnTo>
                    <a:pt x="1608" y="450"/>
                  </a:lnTo>
                  <a:lnTo>
                    <a:pt x="1600" y="436"/>
                  </a:lnTo>
                  <a:lnTo>
                    <a:pt x="1592" y="426"/>
                  </a:lnTo>
                  <a:lnTo>
                    <a:pt x="1588" y="414"/>
                  </a:lnTo>
                  <a:lnTo>
                    <a:pt x="1584" y="404"/>
                  </a:lnTo>
                  <a:lnTo>
                    <a:pt x="1574" y="392"/>
                  </a:lnTo>
                  <a:lnTo>
                    <a:pt x="1558" y="382"/>
                  </a:lnTo>
                  <a:lnTo>
                    <a:pt x="1567" y="382"/>
                  </a:lnTo>
                  <a:lnTo>
                    <a:pt x="1532" y="364"/>
                  </a:lnTo>
                  <a:lnTo>
                    <a:pt x="1514" y="362"/>
                  </a:lnTo>
                  <a:lnTo>
                    <a:pt x="1519" y="369"/>
                  </a:lnTo>
                  <a:lnTo>
                    <a:pt x="1507" y="375"/>
                  </a:lnTo>
                  <a:lnTo>
                    <a:pt x="1507" y="369"/>
                  </a:lnTo>
                  <a:lnTo>
                    <a:pt x="1498" y="366"/>
                  </a:lnTo>
                  <a:lnTo>
                    <a:pt x="1497" y="369"/>
                  </a:lnTo>
                  <a:lnTo>
                    <a:pt x="1485" y="358"/>
                  </a:lnTo>
                  <a:lnTo>
                    <a:pt x="1462" y="354"/>
                  </a:lnTo>
                  <a:lnTo>
                    <a:pt x="1467" y="340"/>
                  </a:lnTo>
                  <a:lnTo>
                    <a:pt x="1472" y="324"/>
                  </a:lnTo>
                  <a:lnTo>
                    <a:pt x="1477" y="314"/>
                  </a:lnTo>
                  <a:lnTo>
                    <a:pt x="1480" y="304"/>
                  </a:lnTo>
                  <a:lnTo>
                    <a:pt x="1477" y="296"/>
                  </a:lnTo>
                  <a:lnTo>
                    <a:pt x="1483" y="281"/>
                  </a:lnTo>
                  <a:lnTo>
                    <a:pt x="1500" y="279"/>
                  </a:lnTo>
                  <a:lnTo>
                    <a:pt x="1516" y="275"/>
                  </a:lnTo>
                  <a:lnTo>
                    <a:pt x="1521" y="275"/>
                  </a:lnTo>
                  <a:lnTo>
                    <a:pt x="1528" y="279"/>
                  </a:lnTo>
                  <a:lnTo>
                    <a:pt x="1531" y="276"/>
                  </a:lnTo>
                  <a:lnTo>
                    <a:pt x="1563" y="279"/>
                  </a:lnTo>
                  <a:lnTo>
                    <a:pt x="1563" y="275"/>
                  </a:lnTo>
                  <a:lnTo>
                    <a:pt x="1561" y="272"/>
                  </a:lnTo>
                  <a:lnTo>
                    <a:pt x="1586" y="273"/>
                  </a:lnTo>
                  <a:lnTo>
                    <a:pt x="1605" y="278"/>
                  </a:lnTo>
                  <a:lnTo>
                    <a:pt x="1599" y="280"/>
                  </a:lnTo>
                  <a:lnTo>
                    <a:pt x="1604" y="286"/>
                  </a:lnTo>
                  <a:lnTo>
                    <a:pt x="1617" y="284"/>
                  </a:lnTo>
                  <a:lnTo>
                    <a:pt x="1628" y="280"/>
                  </a:lnTo>
                  <a:lnTo>
                    <a:pt x="1647" y="280"/>
                  </a:lnTo>
                  <a:lnTo>
                    <a:pt x="1644" y="276"/>
                  </a:lnTo>
                  <a:lnTo>
                    <a:pt x="1630" y="275"/>
                  </a:lnTo>
                  <a:lnTo>
                    <a:pt x="1626" y="270"/>
                  </a:lnTo>
                  <a:lnTo>
                    <a:pt x="1626" y="255"/>
                  </a:lnTo>
                  <a:lnTo>
                    <a:pt x="1624" y="238"/>
                  </a:lnTo>
                  <a:lnTo>
                    <a:pt x="1652" y="238"/>
                  </a:lnTo>
                  <a:lnTo>
                    <a:pt x="1658" y="236"/>
                  </a:lnTo>
                  <a:lnTo>
                    <a:pt x="1672" y="251"/>
                  </a:lnTo>
                  <a:lnTo>
                    <a:pt x="1675" y="249"/>
                  </a:lnTo>
                  <a:lnTo>
                    <a:pt x="1683" y="256"/>
                  </a:lnTo>
                  <a:lnTo>
                    <a:pt x="1690" y="240"/>
                  </a:lnTo>
                  <a:lnTo>
                    <a:pt x="1699" y="240"/>
                  </a:lnTo>
                  <a:lnTo>
                    <a:pt x="1684" y="226"/>
                  </a:lnTo>
                  <a:lnTo>
                    <a:pt x="1688" y="224"/>
                  </a:lnTo>
                  <a:lnTo>
                    <a:pt x="1711" y="226"/>
                  </a:lnTo>
                  <a:lnTo>
                    <a:pt x="1713" y="228"/>
                  </a:lnTo>
                  <a:lnTo>
                    <a:pt x="1701" y="228"/>
                  </a:lnTo>
                  <a:lnTo>
                    <a:pt x="1712" y="239"/>
                  </a:lnTo>
                  <a:lnTo>
                    <a:pt x="1722" y="251"/>
                  </a:lnTo>
                  <a:lnTo>
                    <a:pt x="1714" y="256"/>
                  </a:lnTo>
                  <a:lnTo>
                    <a:pt x="1712" y="269"/>
                  </a:lnTo>
                  <a:lnTo>
                    <a:pt x="1708" y="282"/>
                  </a:lnTo>
                  <a:lnTo>
                    <a:pt x="1707" y="299"/>
                  </a:lnTo>
                  <a:lnTo>
                    <a:pt x="1694" y="302"/>
                  </a:lnTo>
                  <a:lnTo>
                    <a:pt x="1700" y="308"/>
                  </a:lnTo>
                  <a:lnTo>
                    <a:pt x="1702" y="318"/>
                  </a:lnTo>
                  <a:lnTo>
                    <a:pt x="1713" y="333"/>
                  </a:lnTo>
                  <a:lnTo>
                    <a:pt x="1725" y="347"/>
                  </a:lnTo>
                  <a:lnTo>
                    <a:pt x="1746" y="365"/>
                  </a:lnTo>
                  <a:lnTo>
                    <a:pt x="1767" y="383"/>
                  </a:lnTo>
                  <a:lnTo>
                    <a:pt x="1788" y="401"/>
                  </a:lnTo>
                  <a:lnTo>
                    <a:pt x="1808" y="418"/>
                  </a:lnTo>
                  <a:lnTo>
                    <a:pt x="1814" y="407"/>
                  </a:lnTo>
                  <a:lnTo>
                    <a:pt x="1802" y="384"/>
                  </a:lnTo>
                  <a:lnTo>
                    <a:pt x="1807" y="381"/>
                  </a:lnTo>
                  <a:lnTo>
                    <a:pt x="1818" y="382"/>
                  </a:lnTo>
                  <a:lnTo>
                    <a:pt x="1814" y="380"/>
                  </a:lnTo>
                  <a:lnTo>
                    <a:pt x="1802" y="363"/>
                  </a:lnTo>
                  <a:lnTo>
                    <a:pt x="1818" y="356"/>
                  </a:lnTo>
                  <a:lnTo>
                    <a:pt x="1796" y="338"/>
                  </a:lnTo>
                  <a:lnTo>
                    <a:pt x="1796" y="328"/>
                  </a:lnTo>
                  <a:lnTo>
                    <a:pt x="1797" y="326"/>
                  </a:lnTo>
                  <a:lnTo>
                    <a:pt x="1797" y="329"/>
                  </a:lnTo>
                  <a:lnTo>
                    <a:pt x="1807" y="333"/>
                  </a:lnTo>
                  <a:lnTo>
                    <a:pt x="1796" y="321"/>
                  </a:lnTo>
                  <a:lnTo>
                    <a:pt x="1789" y="320"/>
                  </a:lnTo>
                  <a:lnTo>
                    <a:pt x="1774" y="302"/>
                  </a:lnTo>
                  <a:lnTo>
                    <a:pt x="1767" y="303"/>
                  </a:lnTo>
                  <a:lnTo>
                    <a:pt x="1754" y="298"/>
                  </a:lnTo>
                  <a:lnTo>
                    <a:pt x="1747" y="280"/>
                  </a:lnTo>
                  <a:lnTo>
                    <a:pt x="1740" y="269"/>
                  </a:lnTo>
                  <a:lnTo>
                    <a:pt x="1748" y="266"/>
                  </a:lnTo>
                  <a:lnTo>
                    <a:pt x="1759" y="269"/>
                  </a:lnTo>
                  <a:lnTo>
                    <a:pt x="1756" y="264"/>
                  </a:lnTo>
                  <a:lnTo>
                    <a:pt x="1762" y="258"/>
                  </a:lnTo>
                  <a:lnTo>
                    <a:pt x="1774" y="269"/>
                  </a:lnTo>
                  <a:lnTo>
                    <a:pt x="1776" y="262"/>
                  </a:lnTo>
                  <a:lnTo>
                    <a:pt x="1798" y="256"/>
                  </a:lnTo>
                  <a:lnTo>
                    <a:pt x="1821" y="266"/>
                  </a:lnTo>
                  <a:lnTo>
                    <a:pt x="1821" y="262"/>
                  </a:lnTo>
                  <a:lnTo>
                    <a:pt x="1827" y="250"/>
                  </a:lnTo>
                  <a:lnTo>
                    <a:pt x="1828" y="249"/>
                  </a:lnTo>
                  <a:lnTo>
                    <a:pt x="1827" y="244"/>
                  </a:lnTo>
                  <a:lnTo>
                    <a:pt x="1830" y="242"/>
                  </a:lnTo>
                  <a:lnTo>
                    <a:pt x="1843" y="233"/>
                  </a:lnTo>
                  <a:lnTo>
                    <a:pt x="1856" y="225"/>
                  </a:lnTo>
                  <a:lnTo>
                    <a:pt x="1849" y="222"/>
                  </a:lnTo>
                  <a:lnTo>
                    <a:pt x="1854" y="222"/>
                  </a:lnTo>
                  <a:lnTo>
                    <a:pt x="1882" y="228"/>
                  </a:lnTo>
                  <a:lnTo>
                    <a:pt x="1884" y="225"/>
                  </a:lnTo>
                  <a:lnTo>
                    <a:pt x="1870" y="218"/>
                  </a:lnTo>
                  <a:lnTo>
                    <a:pt x="1856" y="210"/>
                  </a:lnTo>
                  <a:lnTo>
                    <a:pt x="1849" y="208"/>
                  </a:lnTo>
                  <a:lnTo>
                    <a:pt x="1827" y="195"/>
                  </a:lnTo>
                  <a:lnTo>
                    <a:pt x="1826" y="197"/>
                  </a:lnTo>
                  <a:lnTo>
                    <a:pt x="1810" y="189"/>
                  </a:lnTo>
                  <a:lnTo>
                    <a:pt x="1820" y="190"/>
                  </a:lnTo>
                  <a:lnTo>
                    <a:pt x="1833" y="189"/>
                  </a:lnTo>
                  <a:lnTo>
                    <a:pt x="1810" y="172"/>
                  </a:lnTo>
                  <a:lnTo>
                    <a:pt x="1788" y="156"/>
                  </a:lnTo>
                  <a:lnTo>
                    <a:pt x="1765" y="140"/>
                  </a:lnTo>
                  <a:lnTo>
                    <a:pt x="1741" y="1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2" name="Freeform 351"/>
            <p:cNvSpPr>
              <a:spLocks/>
            </p:cNvSpPr>
            <p:nvPr/>
          </p:nvSpPr>
          <p:spPr bwMode="auto">
            <a:xfrm>
              <a:off x="134" y="1368"/>
              <a:ext cx="151" cy="80"/>
            </a:xfrm>
            <a:custGeom>
              <a:avLst/>
              <a:gdLst/>
              <a:ahLst/>
              <a:cxnLst>
                <a:cxn ang="0">
                  <a:pos x="136" y="43"/>
                </a:cxn>
                <a:cxn ang="0">
                  <a:pos x="132" y="37"/>
                </a:cxn>
                <a:cxn ang="0">
                  <a:pos x="125" y="30"/>
                </a:cxn>
                <a:cxn ang="0">
                  <a:pos x="118" y="29"/>
                </a:cxn>
                <a:cxn ang="0">
                  <a:pos x="118" y="31"/>
                </a:cxn>
                <a:cxn ang="0">
                  <a:pos x="114" y="29"/>
                </a:cxn>
                <a:cxn ang="0">
                  <a:pos x="102" y="30"/>
                </a:cxn>
                <a:cxn ang="0">
                  <a:pos x="94" y="36"/>
                </a:cxn>
                <a:cxn ang="0">
                  <a:pos x="93" y="40"/>
                </a:cxn>
                <a:cxn ang="0">
                  <a:pos x="87" y="40"/>
                </a:cxn>
                <a:cxn ang="0">
                  <a:pos x="92" y="34"/>
                </a:cxn>
                <a:cxn ang="0">
                  <a:pos x="101" y="24"/>
                </a:cxn>
                <a:cxn ang="0">
                  <a:pos x="101" y="16"/>
                </a:cxn>
                <a:cxn ang="0">
                  <a:pos x="90" y="6"/>
                </a:cxn>
                <a:cxn ang="0">
                  <a:pos x="90" y="9"/>
                </a:cxn>
                <a:cxn ang="0">
                  <a:pos x="83" y="0"/>
                </a:cxn>
                <a:cxn ang="0">
                  <a:pos x="63" y="15"/>
                </a:cxn>
                <a:cxn ang="0">
                  <a:pos x="41" y="28"/>
                </a:cxn>
                <a:cxn ang="0">
                  <a:pos x="21" y="42"/>
                </a:cxn>
                <a:cxn ang="0">
                  <a:pos x="0" y="57"/>
                </a:cxn>
                <a:cxn ang="0">
                  <a:pos x="10" y="48"/>
                </a:cxn>
                <a:cxn ang="0">
                  <a:pos x="20" y="43"/>
                </a:cxn>
                <a:cxn ang="0">
                  <a:pos x="26" y="42"/>
                </a:cxn>
                <a:cxn ang="0">
                  <a:pos x="32" y="39"/>
                </a:cxn>
                <a:cxn ang="0">
                  <a:pos x="32" y="42"/>
                </a:cxn>
                <a:cxn ang="0">
                  <a:pos x="35" y="41"/>
                </a:cxn>
                <a:cxn ang="0">
                  <a:pos x="23" y="47"/>
                </a:cxn>
                <a:cxn ang="0">
                  <a:pos x="22" y="53"/>
                </a:cxn>
                <a:cxn ang="0">
                  <a:pos x="46" y="53"/>
                </a:cxn>
                <a:cxn ang="0">
                  <a:pos x="39" y="64"/>
                </a:cxn>
                <a:cxn ang="0">
                  <a:pos x="50" y="67"/>
                </a:cxn>
                <a:cxn ang="0">
                  <a:pos x="58" y="69"/>
                </a:cxn>
                <a:cxn ang="0">
                  <a:pos x="54" y="72"/>
                </a:cxn>
                <a:cxn ang="0">
                  <a:pos x="64" y="70"/>
                </a:cxn>
                <a:cxn ang="0">
                  <a:pos x="70" y="67"/>
                </a:cxn>
                <a:cxn ang="0">
                  <a:pos x="69" y="65"/>
                </a:cxn>
                <a:cxn ang="0">
                  <a:pos x="86" y="57"/>
                </a:cxn>
                <a:cxn ang="0">
                  <a:pos x="92" y="54"/>
                </a:cxn>
                <a:cxn ang="0">
                  <a:pos x="94" y="49"/>
                </a:cxn>
                <a:cxn ang="0">
                  <a:pos x="95" y="53"/>
                </a:cxn>
                <a:cxn ang="0">
                  <a:pos x="104" y="52"/>
                </a:cxn>
                <a:cxn ang="0">
                  <a:pos x="108" y="49"/>
                </a:cxn>
                <a:cxn ang="0">
                  <a:pos x="119" y="49"/>
                </a:cxn>
                <a:cxn ang="0">
                  <a:pos x="136" y="43"/>
                </a:cxn>
              </a:cxnLst>
              <a:rect l="0" t="0" r="r" b="b"/>
              <a:pathLst>
                <a:path w="136" h="72">
                  <a:moveTo>
                    <a:pt x="136" y="43"/>
                  </a:moveTo>
                  <a:lnTo>
                    <a:pt x="132" y="37"/>
                  </a:lnTo>
                  <a:lnTo>
                    <a:pt x="125" y="30"/>
                  </a:lnTo>
                  <a:lnTo>
                    <a:pt x="118" y="29"/>
                  </a:lnTo>
                  <a:lnTo>
                    <a:pt x="118" y="31"/>
                  </a:lnTo>
                  <a:lnTo>
                    <a:pt x="114" y="29"/>
                  </a:lnTo>
                  <a:lnTo>
                    <a:pt x="102" y="30"/>
                  </a:lnTo>
                  <a:lnTo>
                    <a:pt x="94" y="36"/>
                  </a:lnTo>
                  <a:lnTo>
                    <a:pt x="93" y="40"/>
                  </a:lnTo>
                  <a:lnTo>
                    <a:pt x="87" y="40"/>
                  </a:lnTo>
                  <a:lnTo>
                    <a:pt x="92" y="34"/>
                  </a:lnTo>
                  <a:lnTo>
                    <a:pt x="101" y="24"/>
                  </a:lnTo>
                  <a:lnTo>
                    <a:pt x="101" y="16"/>
                  </a:lnTo>
                  <a:lnTo>
                    <a:pt x="90" y="6"/>
                  </a:lnTo>
                  <a:lnTo>
                    <a:pt x="90" y="9"/>
                  </a:lnTo>
                  <a:lnTo>
                    <a:pt x="83" y="0"/>
                  </a:lnTo>
                  <a:lnTo>
                    <a:pt x="63" y="15"/>
                  </a:lnTo>
                  <a:lnTo>
                    <a:pt x="41" y="28"/>
                  </a:lnTo>
                  <a:lnTo>
                    <a:pt x="21" y="42"/>
                  </a:lnTo>
                  <a:lnTo>
                    <a:pt x="0" y="57"/>
                  </a:lnTo>
                  <a:lnTo>
                    <a:pt x="10" y="48"/>
                  </a:lnTo>
                  <a:lnTo>
                    <a:pt x="20" y="43"/>
                  </a:lnTo>
                  <a:lnTo>
                    <a:pt x="26" y="42"/>
                  </a:lnTo>
                  <a:lnTo>
                    <a:pt x="32" y="39"/>
                  </a:lnTo>
                  <a:lnTo>
                    <a:pt x="32" y="42"/>
                  </a:lnTo>
                  <a:lnTo>
                    <a:pt x="35" y="41"/>
                  </a:lnTo>
                  <a:lnTo>
                    <a:pt x="23" y="47"/>
                  </a:lnTo>
                  <a:lnTo>
                    <a:pt x="22" y="53"/>
                  </a:lnTo>
                  <a:lnTo>
                    <a:pt x="46" y="53"/>
                  </a:lnTo>
                  <a:lnTo>
                    <a:pt x="39" y="64"/>
                  </a:lnTo>
                  <a:lnTo>
                    <a:pt x="50" y="67"/>
                  </a:lnTo>
                  <a:lnTo>
                    <a:pt x="58" y="69"/>
                  </a:lnTo>
                  <a:lnTo>
                    <a:pt x="54" y="72"/>
                  </a:lnTo>
                  <a:lnTo>
                    <a:pt x="64" y="70"/>
                  </a:lnTo>
                  <a:lnTo>
                    <a:pt x="70" y="67"/>
                  </a:lnTo>
                  <a:lnTo>
                    <a:pt x="69" y="65"/>
                  </a:lnTo>
                  <a:lnTo>
                    <a:pt x="86" y="57"/>
                  </a:lnTo>
                  <a:lnTo>
                    <a:pt x="92" y="54"/>
                  </a:lnTo>
                  <a:lnTo>
                    <a:pt x="94" y="49"/>
                  </a:lnTo>
                  <a:lnTo>
                    <a:pt x="95" y="53"/>
                  </a:lnTo>
                  <a:lnTo>
                    <a:pt x="104" y="52"/>
                  </a:lnTo>
                  <a:lnTo>
                    <a:pt x="108" y="49"/>
                  </a:lnTo>
                  <a:lnTo>
                    <a:pt x="119" y="49"/>
                  </a:lnTo>
                  <a:lnTo>
                    <a:pt x="136" y="4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3" name="Freeform 352"/>
            <p:cNvSpPr>
              <a:spLocks/>
            </p:cNvSpPr>
            <p:nvPr/>
          </p:nvSpPr>
          <p:spPr bwMode="auto">
            <a:xfrm>
              <a:off x="4637" y="1628"/>
              <a:ext cx="145" cy="162"/>
            </a:xfrm>
            <a:custGeom>
              <a:avLst/>
              <a:gdLst/>
              <a:ahLst/>
              <a:cxnLst>
                <a:cxn ang="0">
                  <a:pos x="115" y="101"/>
                </a:cxn>
                <a:cxn ang="0">
                  <a:pos x="98" y="85"/>
                </a:cxn>
                <a:cxn ang="0">
                  <a:pos x="80" y="70"/>
                </a:cxn>
                <a:cxn ang="0">
                  <a:pos x="62" y="55"/>
                </a:cxn>
                <a:cxn ang="0">
                  <a:pos x="43" y="40"/>
                </a:cxn>
                <a:cxn ang="0">
                  <a:pos x="40" y="34"/>
                </a:cxn>
                <a:cxn ang="0">
                  <a:pos x="22" y="17"/>
                </a:cxn>
                <a:cxn ang="0">
                  <a:pos x="4" y="0"/>
                </a:cxn>
                <a:cxn ang="0">
                  <a:pos x="0" y="3"/>
                </a:cxn>
                <a:cxn ang="0">
                  <a:pos x="13" y="12"/>
                </a:cxn>
                <a:cxn ang="0">
                  <a:pos x="13" y="18"/>
                </a:cxn>
                <a:cxn ang="0">
                  <a:pos x="6" y="18"/>
                </a:cxn>
                <a:cxn ang="0">
                  <a:pos x="20" y="34"/>
                </a:cxn>
                <a:cxn ang="0">
                  <a:pos x="35" y="49"/>
                </a:cxn>
                <a:cxn ang="0">
                  <a:pos x="49" y="64"/>
                </a:cxn>
                <a:cxn ang="0">
                  <a:pos x="62" y="81"/>
                </a:cxn>
                <a:cxn ang="0">
                  <a:pos x="73" y="99"/>
                </a:cxn>
                <a:cxn ang="0">
                  <a:pos x="85" y="113"/>
                </a:cxn>
                <a:cxn ang="0">
                  <a:pos x="97" y="127"/>
                </a:cxn>
                <a:cxn ang="0">
                  <a:pos x="109" y="145"/>
                </a:cxn>
                <a:cxn ang="0">
                  <a:pos x="113" y="145"/>
                </a:cxn>
                <a:cxn ang="0">
                  <a:pos x="112" y="133"/>
                </a:cxn>
                <a:cxn ang="0">
                  <a:pos x="125" y="139"/>
                </a:cxn>
                <a:cxn ang="0">
                  <a:pos x="131" y="147"/>
                </a:cxn>
                <a:cxn ang="0">
                  <a:pos x="120" y="133"/>
                </a:cxn>
                <a:cxn ang="0">
                  <a:pos x="92" y="112"/>
                </a:cxn>
                <a:cxn ang="0">
                  <a:pos x="86" y="89"/>
                </a:cxn>
                <a:cxn ang="0">
                  <a:pos x="91" y="89"/>
                </a:cxn>
                <a:cxn ang="0">
                  <a:pos x="108" y="95"/>
                </a:cxn>
                <a:cxn ang="0">
                  <a:pos x="115" y="101"/>
                </a:cxn>
              </a:cxnLst>
              <a:rect l="0" t="0" r="r" b="b"/>
              <a:pathLst>
                <a:path w="131" h="147">
                  <a:moveTo>
                    <a:pt x="115" y="101"/>
                  </a:moveTo>
                  <a:lnTo>
                    <a:pt x="98" y="85"/>
                  </a:lnTo>
                  <a:lnTo>
                    <a:pt x="80" y="70"/>
                  </a:lnTo>
                  <a:lnTo>
                    <a:pt x="62" y="55"/>
                  </a:lnTo>
                  <a:lnTo>
                    <a:pt x="43" y="40"/>
                  </a:lnTo>
                  <a:lnTo>
                    <a:pt x="40" y="34"/>
                  </a:lnTo>
                  <a:lnTo>
                    <a:pt x="22" y="17"/>
                  </a:lnTo>
                  <a:lnTo>
                    <a:pt x="4" y="0"/>
                  </a:lnTo>
                  <a:lnTo>
                    <a:pt x="0" y="3"/>
                  </a:lnTo>
                  <a:lnTo>
                    <a:pt x="13" y="12"/>
                  </a:lnTo>
                  <a:lnTo>
                    <a:pt x="13" y="18"/>
                  </a:lnTo>
                  <a:lnTo>
                    <a:pt x="6" y="18"/>
                  </a:lnTo>
                  <a:lnTo>
                    <a:pt x="20" y="34"/>
                  </a:lnTo>
                  <a:lnTo>
                    <a:pt x="35" y="49"/>
                  </a:lnTo>
                  <a:lnTo>
                    <a:pt x="49" y="64"/>
                  </a:lnTo>
                  <a:lnTo>
                    <a:pt x="62" y="81"/>
                  </a:lnTo>
                  <a:lnTo>
                    <a:pt x="73" y="99"/>
                  </a:lnTo>
                  <a:lnTo>
                    <a:pt x="85" y="113"/>
                  </a:lnTo>
                  <a:lnTo>
                    <a:pt x="97" y="127"/>
                  </a:lnTo>
                  <a:lnTo>
                    <a:pt x="109" y="145"/>
                  </a:lnTo>
                  <a:lnTo>
                    <a:pt x="113" y="145"/>
                  </a:lnTo>
                  <a:lnTo>
                    <a:pt x="112" y="133"/>
                  </a:lnTo>
                  <a:lnTo>
                    <a:pt x="125" y="139"/>
                  </a:lnTo>
                  <a:lnTo>
                    <a:pt x="131" y="147"/>
                  </a:lnTo>
                  <a:lnTo>
                    <a:pt x="120" y="133"/>
                  </a:lnTo>
                  <a:lnTo>
                    <a:pt x="92" y="112"/>
                  </a:lnTo>
                  <a:lnTo>
                    <a:pt x="86" y="89"/>
                  </a:lnTo>
                  <a:lnTo>
                    <a:pt x="91" y="89"/>
                  </a:lnTo>
                  <a:lnTo>
                    <a:pt x="108" y="95"/>
                  </a:lnTo>
                  <a:lnTo>
                    <a:pt x="115" y="10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4" name="Freeform 353"/>
            <p:cNvSpPr>
              <a:spLocks/>
            </p:cNvSpPr>
            <p:nvPr/>
          </p:nvSpPr>
          <p:spPr bwMode="auto">
            <a:xfrm>
              <a:off x="3180" y="1239"/>
              <a:ext cx="149" cy="55"/>
            </a:xfrm>
            <a:custGeom>
              <a:avLst/>
              <a:gdLst/>
              <a:ahLst/>
              <a:cxnLst>
                <a:cxn ang="0">
                  <a:pos x="135" y="4"/>
                </a:cxn>
                <a:cxn ang="0">
                  <a:pos x="125" y="10"/>
                </a:cxn>
                <a:cxn ang="0">
                  <a:pos x="95" y="17"/>
                </a:cxn>
                <a:cxn ang="0">
                  <a:pos x="65" y="24"/>
                </a:cxn>
                <a:cxn ang="0">
                  <a:pos x="58" y="25"/>
                </a:cxn>
                <a:cxn ang="0">
                  <a:pos x="61" y="28"/>
                </a:cxn>
                <a:cxn ang="0">
                  <a:pos x="59" y="30"/>
                </a:cxn>
                <a:cxn ang="0">
                  <a:pos x="53" y="31"/>
                </a:cxn>
                <a:cxn ang="0">
                  <a:pos x="54" y="34"/>
                </a:cxn>
                <a:cxn ang="0">
                  <a:pos x="42" y="32"/>
                </a:cxn>
                <a:cxn ang="0">
                  <a:pos x="46" y="37"/>
                </a:cxn>
                <a:cxn ang="0">
                  <a:pos x="41" y="40"/>
                </a:cxn>
                <a:cxn ang="0">
                  <a:pos x="45" y="44"/>
                </a:cxn>
                <a:cxn ang="0">
                  <a:pos x="30" y="42"/>
                </a:cxn>
                <a:cxn ang="0">
                  <a:pos x="43" y="46"/>
                </a:cxn>
                <a:cxn ang="0">
                  <a:pos x="36" y="46"/>
                </a:cxn>
                <a:cxn ang="0">
                  <a:pos x="39" y="50"/>
                </a:cxn>
                <a:cxn ang="0">
                  <a:pos x="7" y="48"/>
                </a:cxn>
                <a:cxn ang="0">
                  <a:pos x="13" y="44"/>
                </a:cxn>
                <a:cxn ang="0">
                  <a:pos x="0" y="44"/>
                </a:cxn>
                <a:cxn ang="0">
                  <a:pos x="13" y="37"/>
                </a:cxn>
                <a:cxn ang="0">
                  <a:pos x="17" y="37"/>
                </a:cxn>
                <a:cxn ang="0">
                  <a:pos x="12" y="35"/>
                </a:cxn>
                <a:cxn ang="0">
                  <a:pos x="15" y="32"/>
                </a:cxn>
                <a:cxn ang="0">
                  <a:pos x="22" y="29"/>
                </a:cxn>
                <a:cxn ang="0">
                  <a:pos x="17" y="28"/>
                </a:cxn>
                <a:cxn ang="0">
                  <a:pos x="19" y="25"/>
                </a:cxn>
                <a:cxn ang="0">
                  <a:pos x="12" y="25"/>
                </a:cxn>
                <a:cxn ang="0">
                  <a:pos x="21" y="22"/>
                </a:cxn>
                <a:cxn ang="0">
                  <a:pos x="28" y="19"/>
                </a:cxn>
                <a:cxn ang="0">
                  <a:pos x="53" y="12"/>
                </a:cxn>
                <a:cxn ang="0">
                  <a:pos x="57" y="10"/>
                </a:cxn>
                <a:cxn ang="0">
                  <a:pos x="103" y="4"/>
                </a:cxn>
                <a:cxn ang="0">
                  <a:pos x="123" y="0"/>
                </a:cxn>
                <a:cxn ang="0">
                  <a:pos x="135" y="4"/>
                </a:cxn>
              </a:cxnLst>
              <a:rect l="0" t="0" r="r" b="b"/>
              <a:pathLst>
                <a:path w="135" h="50">
                  <a:moveTo>
                    <a:pt x="135" y="4"/>
                  </a:moveTo>
                  <a:lnTo>
                    <a:pt x="125" y="10"/>
                  </a:lnTo>
                  <a:lnTo>
                    <a:pt x="95" y="17"/>
                  </a:lnTo>
                  <a:lnTo>
                    <a:pt x="65" y="24"/>
                  </a:lnTo>
                  <a:lnTo>
                    <a:pt x="58" y="25"/>
                  </a:lnTo>
                  <a:lnTo>
                    <a:pt x="61" y="28"/>
                  </a:lnTo>
                  <a:lnTo>
                    <a:pt x="59" y="30"/>
                  </a:lnTo>
                  <a:lnTo>
                    <a:pt x="53" y="31"/>
                  </a:lnTo>
                  <a:lnTo>
                    <a:pt x="54" y="34"/>
                  </a:lnTo>
                  <a:lnTo>
                    <a:pt x="42" y="32"/>
                  </a:lnTo>
                  <a:lnTo>
                    <a:pt x="46" y="37"/>
                  </a:lnTo>
                  <a:lnTo>
                    <a:pt x="41" y="40"/>
                  </a:lnTo>
                  <a:lnTo>
                    <a:pt x="45" y="44"/>
                  </a:lnTo>
                  <a:lnTo>
                    <a:pt x="30" y="42"/>
                  </a:lnTo>
                  <a:lnTo>
                    <a:pt x="43" y="46"/>
                  </a:lnTo>
                  <a:lnTo>
                    <a:pt x="36" y="46"/>
                  </a:lnTo>
                  <a:lnTo>
                    <a:pt x="39" y="50"/>
                  </a:lnTo>
                  <a:lnTo>
                    <a:pt x="7" y="48"/>
                  </a:lnTo>
                  <a:lnTo>
                    <a:pt x="13" y="44"/>
                  </a:lnTo>
                  <a:lnTo>
                    <a:pt x="0" y="44"/>
                  </a:lnTo>
                  <a:lnTo>
                    <a:pt x="13" y="37"/>
                  </a:lnTo>
                  <a:lnTo>
                    <a:pt x="17" y="37"/>
                  </a:lnTo>
                  <a:lnTo>
                    <a:pt x="12" y="35"/>
                  </a:lnTo>
                  <a:lnTo>
                    <a:pt x="15" y="32"/>
                  </a:lnTo>
                  <a:lnTo>
                    <a:pt x="22" y="29"/>
                  </a:lnTo>
                  <a:lnTo>
                    <a:pt x="17" y="28"/>
                  </a:lnTo>
                  <a:lnTo>
                    <a:pt x="19" y="25"/>
                  </a:lnTo>
                  <a:lnTo>
                    <a:pt x="12" y="25"/>
                  </a:lnTo>
                  <a:lnTo>
                    <a:pt x="21" y="22"/>
                  </a:lnTo>
                  <a:lnTo>
                    <a:pt x="28" y="19"/>
                  </a:lnTo>
                  <a:lnTo>
                    <a:pt x="53" y="12"/>
                  </a:lnTo>
                  <a:lnTo>
                    <a:pt x="57" y="10"/>
                  </a:lnTo>
                  <a:lnTo>
                    <a:pt x="103" y="4"/>
                  </a:lnTo>
                  <a:lnTo>
                    <a:pt x="123" y="0"/>
                  </a:lnTo>
                  <a:lnTo>
                    <a:pt x="13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5" name="Freeform 354"/>
            <p:cNvSpPr>
              <a:spLocks/>
            </p:cNvSpPr>
            <p:nvPr/>
          </p:nvSpPr>
          <p:spPr bwMode="auto">
            <a:xfrm>
              <a:off x="3167" y="1294"/>
              <a:ext cx="88" cy="42"/>
            </a:xfrm>
            <a:custGeom>
              <a:avLst/>
              <a:gdLst/>
              <a:ahLst/>
              <a:cxnLst>
                <a:cxn ang="0">
                  <a:pos x="80" y="38"/>
                </a:cxn>
                <a:cxn ang="0">
                  <a:pos x="50" y="26"/>
                </a:cxn>
                <a:cxn ang="0">
                  <a:pos x="41" y="10"/>
                </a:cxn>
                <a:cxn ang="0">
                  <a:pos x="41" y="8"/>
                </a:cxn>
                <a:cxn ang="0">
                  <a:pos x="42" y="5"/>
                </a:cxn>
                <a:cxn ang="0">
                  <a:pos x="45" y="2"/>
                </a:cxn>
                <a:cxn ang="0">
                  <a:pos x="16" y="0"/>
                </a:cxn>
                <a:cxn ang="0">
                  <a:pos x="11" y="5"/>
                </a:cxn>
                <a:cxn ang="0">
                  <a:pos x="8" y="10"/>
                </a:cxn>
                <a:cxn ang="0">
                  <a:pos x="11" y="11"/>
                </a:cxn>
                <a:cxn ang="0">
                  <a:pos x="6" y="18"/>
                </a:cxn>
                <a:cxn ang="0">
                  <a:pos x="0" y="21"/>
                </a:cxn>
                <a:cxn ang="0">
                  <a:pos x="8" y="27"/>
                </a:cxn>
                <a:cxn ang="0">
                  <a:pos x="17" y="27"/>
                </a:cxn>
                <a:cxn ang="0">
                  <a:pos x="24" y="27"/>
                </a:cxn>
                <a:cxn ang="0">
                  <a:pos x="29" y="28"/>
                </a:cxn>
                <a:cxn ang="0">
                  <a:pos x="35" y="33"/>
                </a:cxn>
                <a:cxn ang="0">
                  <a:pos x="34" y="34"/>
                </a:cxn>
                <a:cxn ang="0">
                  <a:pos x="45" y="38"/>
                </a:cxn>
                <a:cxn ang="0">
                  <a:pos x="53" y="38"/>
                </a:cxn>
                <a:cxn ang="0">
                  <a:pos x="64" y="39"/>
                </a:cxn>
                <a:cxn ang="0">
                  <a:pos x="75" y="39"/>
                </a:cxn>
                <a:cxn ang="0">
                  <a:pos x="80" y="38"/>
                </a:cxn>
              </a:cxnLst>
              <a:rect l="0" t="0" r="r" b="b"/>
              <a:pathLst>
                <a:path w="80" h="39">
                  <a:moveTo>
                    <a:pt x="80" y="38"/>
                  </a:moveTo>
                  <a:lnTo>
                    <a:pt x="50" y="26"/>
                  </a:lnTo>
                  <a:lnTo>
                    <a:pt x="41" y="10"/>
                  </a:lnTo>
                  <a:lnTo>
                    <a:pt x="41" y="8"/>
                  </a:lnTo>
                  <a:lnTo>
                    <a:pt x="42" y="5"/>
                  </a:lnTo>
                  <a:lnTo>
                    <a:pt x="45" y="2"/>
                  </a:lnTo>
                  <a:lnTo>
                    <a:pt x="16" y="0"/>
                  </a:lnTo>
                  <a:lnTo>
                    <a:pt x="11" y="5"/>
                  </a:lnTo>
                  <a:lnTo>
                    <a:pt x="8" y="10"/>
                  </a:lnTo>
                  <a:lnTo>
                    <a:pt x="11" y="11"/>
                  </a:lnTo>
                  <a:lnTo>
                    <a:pt x="6" y="18"/>
                  </a:lnTo>
                  <a:lnTo>
                    <a:pt x="0" y="21"/>
                  </a:lnTo>
                  <a:lnTo>
                    <a:pt x="8" y="27"/>
                  </a:lnTo>
                  <a:lnTo>
                    <a:pt x="17" y="27"/>
                  </a:lnTo>
                  <a:lnTo>
                    <a:pt x="24" y="27"/>
                  </a:lnTo>
                  <a:lnTo>
                    <a:pt x="29" y="28"/>
                  </a:lnTo>
                  <a:lnTo>
                    <a:pt x="35" y="33"/>
                  </a:lnTo>
                  <a:lnTo>
                    <a:pt x="34" y="34"/>
                  </a:lnTo>
                  <a:lnTo>
                    <a:pt x="45" y="38"/>
                  </a:lnTo>
                  <a:lnTo>
                    <a:pt x="53" y="38"/>
                  </a:lnTo>
                  <a:lnTo>
                    <a:pt x="64" y="39"/>
                  </a:lnTo>
                  <a:lnTo>
                    <a:pt x="75" y="39"/>
                  </a:lnTo>
                  <a:lnTo>
                    <a:pt x="80"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6" name="Freeform 355"/>
            <p:cNvSpPr>
              <a:spLocks/>
            </p:cNvSpPr>
            <p:nvPr/>
          </p:nvSpPr>
          <p:spPr bwMode="auto">
            <a:xfrm>
              <a:off x="4140" y="1250"/>
              <a:ext cx="102" cy="24"/>
            </a:xfrm>
            <a:custGeom>
              <a:avLst/>
              <a:gdLst/>
              <a:ahLst/>
              <a:cxnLst>
                <a:cxn ang="0">
                  <a:pos x="94" y="9"/>
                </a:cxn>
                <a:cxn ang="0">
                  <a:pos x="35" y="0"/>
                </a:cxn>
                <a:cxn ang="0">
                  <a:pos x="42" y="2"/>
                </a:cxn>
                <a:cxn ang="0">
                  <a:pos x="35" y="2"/>
                </a:cxn>
                <a:cxn ang="0">
                  <a:pos x="41" y="6"/>
                </a:cxn>
                <a:cxn ang="0">
                  <a:pos x="12" y="1"/>
                </a:cxn>
                <a:cxn ang="0">
                  <a:pos x="1" y="4"/>
                </a:cxn>
                <a:cxn ang="0">
                  <a:pos x="0" y="6"/>
                </a:cxn>
                <a:cxn ang="0">
                  <a:pos x="6" y="9"/>
                </a:cxn>
                <a:cxn ang="0">
                  <a:pos x="10" y="12"/>
                </a:cxn>
                <a:cxn ang="0">
                  <a:pos x="46" y="21"/>
                </a:cxn>
                <a:cxn ang="0">
                  <a:pos x="47" y="18"/>
                </a:cxn>
                <a:cxn ang="0">
                  <a:pos x="76" y="16"/>
                </a:cxn>
                <a:cxn ang="0">
                  <a:pos x="89" y="16"/>
                </a:cxn>
                <a:cxn ang="0">
                  <a:pos x="83" y="15"/>
                </a:cxn>
                <a:cxn ang="0">
                  <a:pos x="93" y="13"/>
                </a:cxn>
                <a:cxn ang="0">
                  <a:pos x="94" y="9"/>
                </a:cxn>
              </a:cxnLst>
              <a:rect l="0" t="0" r="r" b="b"/>
              <a:pathLst>
                <a:path w="94" h="21">
                  <a:moveTo>
                    <a:pt x="94" y="9"/>
                  </a:moveTo>
                  <a:lnTo>
                    <a:pt x="35" y="0"/>
                  </a:lnTo>
                  <a:lnTo>
                    <a:pt x="42" y="2"/>
                  </a:lnTo>
                  <a:lnTo>
                    <a:pt x="35" y="2"/>
                  </a:lnTo>
                  <a:lnTo>
                    <a:pt x="41" y="6"/>
                  </a:lnTo>
                  <a:lnTo>
                    <a:pt x="12" y="1"/>
                  </a:lnTo>
                  <a:lnTo>
                    <a:pt x="1" y="4"/>
                  </a:lnTo>
                  <a:lnTo>
                    <a:pt x="0" y="6"/>
                  </a:lnTo>
                  <a:lnTo>
                    <a:pt x="6" y="9"/>
                  </a:lnTo>
                  <a:lnTo>
                    <a:pt x="10" y="12"/>
                  </a:lnTo>
                  <a:lnTo>
                    <a:pt x="46" y="21"/>
                  </a:lnTo>
                  <a:lnTo>
                    <a:pt x="47" y="18"/>
                  </a:lnTo>
                  <a:lnTo>
                    <a:pt x="76" y="16"/>
                  </a:lnTo>
                  <a:lnTo>
                    <a:pt x="89" y="16"/>
                  </a:lnTo>
                  <a:lnTo>
                    <a:pt x="83" y="15"/>
                  </a:lnTo>
                  <a:lnTo>
                    <a:pt x="93" y="13"/>
                  </a:lnTo>
                  <a:lnTo>
                    <a:pt x="94"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7" name="Freeform 356"/>
            <p:cNvSpPr>
              <a:spLocks/>
            </p:cNvSpPr>
            <p:nvPr/>
          </p:nvSpPr>
          <p:spPr bwMode="auto">
            <a:xfrm>
              <a:off x="3562" y="1192"/>
              <a:ext cx="80" cy="18"/>
            </a:xfrm>
            <a:custGeom>
              <a:avLst/>
              <a:gdLst/>
              <a:ahLst/>
              <a:cxnLst>
                <a:cxn ang="0">
                  <a:pos x="61" y="5"/>
                </a:cxn>
                <a:cxn ang="0">
                  <a:pos x="43" y="2"/>
                </a:cxn>
                <a:cxn ang="0">
                  <a:pos x="36" y="4"/>
                </a:cxn>
                <a:cxn ang="0">
                  <a:pos x="30" y="0"/>
                </a:cxn>
                <a:cxn ang="0">
                  <a:pos x="3" y="2"/>
                </a:cxn>
                <a:cxn ang="0">
                  <a:pos x="0" y="8"/>
                </a:cxn>
                <a:cxn ang="0">
                  <a:pos x="9" y="8"/>
                </a:cxn>
                <a:cxn ang="0">
                  <a:pos x="24" y="14"/>
                </a:cxn>
                <a:cxn ang="0">
                  <a:pos x="72" y="17"/>
                </a:cxn>
                <a:cxn ang="0">
                  <a:pos x="67" y="12"/>
                </a:cxn>
                <a:cxn ang="0">
                  <a:pos x="61" y="5"/>
                </a:cxn>
              </a:cxnLst>
              <a:rect l="0" t="0" r="r" b="b"/>
              <a:pathLst>
                <a:path w="72" h="17">
                  <a:moveTo>
                    <a:pt x="61" y="5"/>
                  </a:moveTo>
                  <a:lnTo>
                    <a:pt x="43" y="2"/>
                  </a:lnTo>
                  <a:lnTo>
                    <a:pt x="36" y="4"/>
                  </a:lnTo>
                  <a:lnTo>
                    <a:pt x="30" y="0"/>
                  </a:lnTo>
                  <a:lnTo>
                    <a:pt x="3" y="2"/>
                  </a:lnTo>
                  <a:lnTo>
                    <a:pt x="0" y="8"/>
                  </a:lnTo>
                  <a:lnTo>
                    <a:pt x="9" y="8"/>
                  </a:lnTo>
                  <a:lnTo>
                    <a:pt x="24" y="14"/>
                  </a:lnTo>
                  <a:lnTo>
                    <a:pt x="72" y="17"/>
                  </a:lnTo>
                  <a:lnTo>
                    <a:pt x="67" y="12"/>
                  </a:lnTo>
                  <a:lnTo>
                    <a:pt x="61"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8" name="Freeform 357"/>
            <p:cNvSpPr>
              <a:spLocks/>
            </p:cNvSpPr>
            <p:nvPr/>
          </p:nvSpPr>
          <p:spPr bwMode="auto">
            <a:xfrm>
              <a:off x="3653" y="1203"/>
              <a:ext cx="60" cy="20"/>
            </a:xfrm>
            <a:custGeom>
              <a:avLst/>
              <a:gdLst/>
              <a:ahLst/>
              <a:cxnLst>
                <a:cxn ang="0">
                  <a:pos x="53" y="10"/>
                </a:cxn>
                <a:cxn ang="0">
                  <a:pos x="26" y="2"/>
                </a:cxn>
                <a:cxn ang="0">
                  <a:pos x="20" y="7"/>
                </a:cxn>
                <a:cxn ang="0">
                  <a:pos x="15" y="0"/>
                </a:cxn>
                <a:cxn ang="0">
                  <a:pos x="8" y="0"/>
                </a:cxn>
                <a:cxn ang="0">
                  <a:pos x="11" y="2"/>
                </a:cxn>
                <a:cxn ang="0">
                  <a:pos x="0" y="2"/>
                </a:cxn>
                <a:cxn ang="0">
                  <a:pos x="3" y="4"/>
                </a:cxn>
                <a:cxn ang="0">
                  <a:pos x="9" y="8"/>
                </a:cxn>
                <a:cxn ang="0">
                  <a:pos x="2" y="10"/>
                </a:cxn>
                <a:cxn ang="0">
                  <a:pos x="6" y="19"/>
                </a:cxn>
                <a:cxn ang="0">
                  <a:pos x="54" y="12"/>
                </a:cxn>
                <a:cxn ang="0">
                  <a:pos x="53" y="10"/>
                </a:cxn>
              </a:cxnLst>
              <a:rect l="0" t="0" r="r" b="b"/>
              <a:pathLst>
                <a:path w="54" h="19">
                  <a:moveTo>
                    <a:pt x="53" y="10"/>
                  </a:moveTo>
                  <a:lnTo>
                    <a:pt x="26" y="2"/>
                  </a:lnTo>
                  <a:lnTo>
                    <a:pt x="20" y="7"/>
                  </a:lnTo>
                  <a:lnTo>
                    <a:pt x="15" y="0"/>
                  </a:lnTo>
                  <a:lnTo>
                    <a:pt x="8" y="0"/>
                  </a:lnTo>
                  <a:lnTo>
                    <a:pt x="11" y="2"/>
                  </a:lnTo>
                  <a:lnTo>
                    <a:pt x="0" y="2"/>
                  </a:lnTo>
                  <a:lnTo>
                    <a:pt x="3" y="4"/>
                  </a:lnTo>
                  <a:lnTo>
                    <a:pt x="9" y="8"/>
                  </a:lnTo>
                  <a:lnTo>
                    <a:pt x="2" y="10"/>
                  </a:lnTo>
                  <a:lnTo>
                    <a:pt x="6" y="19"/>
                  </a:lnTo>
                  <a:lnTo>
                    <a:pt x="54" y="12"/>
                  </a:lnTo>
                  <a:lnTo>
                    <a:pt x="53"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9" name="Freeform 358"/>
            <p:cNvSpPr>
              <a:spLocks/>
            </p:cNvSpPr>
            <p:nvPr/>
          </p:nvSpPr>
          <p:spPr bwMode="auto">
            <a:xfrm>
              <a:off x="3529" y="1181"/>
              <a:ext cx="64" cy="11"/>
            </a:xfrm>
            <a:custGeom>
              <a:avLst/>
              <a:gdLst/>
              <a:ahLst/>
              <a:cxnLst>
                <a:cxn ang="0">
                  <a:pos x="56" y="5"/>
                </a:cxn>
                <a:cxn ang="0">
                  <a:pos x="31" y="0"/>
                </a:cxn>
                <a:cxn ang="0">
                  <a:pos x="2" y="3"/>
                </a:cxn>
                <a:cxn ang="0">
                  <a:pos x="9" y="4"/>
                </a:cxn>
                <a:cxn ang="0">
                  <a:pos x="8" y="7"/>
                </a:cxn>
                <a:cxn ang="0">
                  <a:pos x="0" y="9"/>
                </a:cxn>
                <a:cxn ang="0">
                  <a:pos x="17" y="9"/>
                </a:cxn>
                <a:cxn ang="0">
                  <a:pos x="12" y="11"/>
                </a:cxn>
                <a:cxn ang="0">
                  <a:pos x="56" y="10"/>
                </a:cxn>
                <a:cxn ang="0">
                  <a:pos x="50" y="7"/>
                </a:cxn>
                <a:cxn ang="0">
                  <a:pos x="56" y="5"/>
                </a:cxn>
              </a:cxnLst>
              <a:rect l="0" t="0" r="r" b="b"/>
              <a:pathLst>
                <a:path w="56" h="11">
                  <a:moveTo>
                    <a:pt x="56" y="5"/>
                  </a:moveTo>
                  <a:lnTo>
                    <a:pt x="31" y="0"/>
                  </a:lnTo>
                  <a:lnTo>
                    <a:pt x="2" y="3"/>
                  </a:lnTo>
                  <a:lnTo>
                    <a:pt x="9" y="4"/>
                  </a:lnTo>
                  <a:lnTo>
                    <a:pt x="8" y="7"/>
                  </a:lnTo>
                  <a:lnTo>
                    <a:pt x="0" y="9"/>
                  </a:lnTo>
                  <a:lnTo>
                    <a:pt x="17" y="9"/>
                  </a:lnTo>
                  <a:lnTo>
                    <a:pt x="12" y="11"/>
                  </a:lnTo>
                  <a:lnTo>
                    <a:pt x="56" y="10"/>
                  </a:lnTo>
                  <a:lnTo>
                    <a:pt x="50" y="7"/>
                  </a:lnTo>
                  <a:lnTo>
                    <a:pt x="56"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0" name="Freeform 359"/>
            <p:cNvSpPr>
              <a:spLocks/>
            </p:cNvSpPr>
            <p:nvPr/>
          </p:nvSpPr>
          <p:spPr bwMode="auto">
            <a:xfrm>
              <a:off x="4253" y="1259"/>
              <a:ext cx="67" cy="11"/>
            </a:xfrm>
            <a:custGeom>
              <a:avLst/>
              <a:gdLst/>
              <a:ahLst/>
              <a:cxnLst>
                <a:cxn ang="0">
                  <a:pos x="59" y="6"/>
                </a:cxn>
                <a:cxn ang="0">
                  <a:pos x="14" y="2"/>
                </a:cxn>
                <a:cxn ang="0">
                  <a:pos x="0" y="0"/>
                </a:cxn>
                <a:cxn ang="0">
                  <a:pos x="5" y="5"/>
                </a:cxn>
                <a:cxn ang="0">
                  <a:pos x="54" y="11"/>
                </a:cxn>
                <a:cxn ang="0">
                  <a:pos x="59" y="6"/>
                </a:cxn>
              </a:cxnLst>
              <a:rect l="0" t="0" r="r" b="b"/>
              <a:pathLst>
                <a:path w="59" h="11">
                  <a:moveTo>
                    <a:pt x="59" y="6"/>
                  </a:moveTo>
                  <a:lnTo>
                    <a:pt x="14" y="2"/>
                  </a:lnTo>
                  <a:lnTo>
                    <a:pt x="0" y="0"/>
                  </a:lnTo>
                  <a:lnTo>
                    <a:pt x="5" y="5"/>
                  </a:lnTo>
                  <a:lnTo>
                    <a:pt x="54" y="11"/>
                  </a:lnTo>
                  <a:lnTo>
                    <a:pt x="5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1" name="Freeform 360"/>
            <p:cNvSpPr>
              <a:spLocks/>
            </p:cNvSpPr>
            <p:nvPr/>
          </p:nvSpPr>
          <p:spPr bwMode="auto">
            <a:xfrm>
              <a:off x="2831" y="1616"/>
              <a:ext cx="31" cy="14"/>
            </a:xfrm>
            <a:custGeom>
              <a:avLst/>
              <a:gdLst/>
              <a:ahLst/>
              <a:cxnLst>
                <a:cxn ang="0">
                  <a:pos x="8" y="0"/>
                </a:cxn>
                <a:cxn ang="0">
                  <a:pos x="7" y="3"/>
                </a:cxn>
                <a:cxn ang="0">
                  <a:pos x="0" y="2"/>
                </a:cxn>
                <a:cxn ang="0">
                  <a:pos x="0" y="3"/>
                </a:cxn>
                <a:cxn ang="0">
                  <a:pos x="1" y="5"/>
                </a:cxn>
                <a:cxn ang="0">
                  <a:pos x="2" y="5"/>
                </a:cxn>
                <a:cxn ang="0">
                  <a:pos x="0" y="6"/>
                </a:cxn>
                <a:cxn ang="0">
                  <a:pos x="0" y="8"/>
                </a:cxn>
                <a:cxn ang="0">
                  <a:pos x="6" y="9"/>
                </a:cxn>
                <a:cxn ang="0">
                  <a:pos x="29" y="11"/>
                </a:cxn>
                <a:cxn ang="0">
                  <a:pos x="29" y="3"/>
                </a:cxn>
                <a:cxn ang="0">
                  <a:pos x="17" y="2"/>
                </a:cxn>
                <a:cxn ang="0">
                  <a:pos x="8" y="0"/>
                </a:cxn>
              </a:cxnLst>
              <a:rect l="0" t="0" r="r" b="b"/>
              <a:pathLst>
                <a:path w="29" h="11">
                  <a:moveTo>
                    <a:pt x="8" y="0"/>
                  </a:moveTo>
                  <a:lnTo>
                    <a:pt x="7" y="3"/>
                  </a:lnTo>
                  <a:lnTo>
                    <a:pt x="0" y="2"/>
                  </a:lnTo>
                  <a:lnTo>
                    <a:pt x="0" y="3"/>
                  </a:lnTo>
                  <a:lnTo>
                    <a:pt x="1" y="5"/>
                  </a:lnTo>
                  <a:lnTo>
                    <a:pt x="2" y="5"/>
                  </a:lnTo>
                  <a:lnTo>
                    <a:pt x="0" y="6"/>
                  </a:lnTo>
                  <a:lnTo>
                    <a:pt x="0" y="8"/>
                  </a:lnTo>
                  <a:lnTo>
                    <a:pt x="6" y="9"/>
                  </a:lnTo>
                  <a:lnTo>
                    <a:pt x="29" y="11"/>
                  </a:lnTo>
                  <a:lnTo>
                    <a:pt x="29" y="3"/>
                  </a:lnTo>
                  <a:lnTo>
                    <a:pt x="17" y="2"/>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2" name="Freeform 361"/>
            <p:cNvSpPr>
              <a:spLocks/>
            </p:cNvSpPr>
            <p:nvPr/>
          </p:nvSpPr>
          <p:spPr bwMode="auto">
            <a:xfrm>
              <a:off x="4224" y="1285"/>
              <a:ext cx="51" cy="11"/>
            </a:xfrm>
            <a:custGeom>
              <a:avLst/>
              <a:gdLst/>
              <a:ahLst/>
              <a:cxnLst>
                <a:cxn ang="0">
                  <a:pos x="46" y="10"/>
                </a:cxn>
                <a:cxn ang="0">
                  <a:pos x="0" y="6"/>
                </a:cxn>
                <a:cxn ang="0">
                  <a:pos x="16" y="0"/>
                </a:cxn>
                <a:cxn ang="0">
                  <a:pos x="41" y="7"/>
                </a:cxn>
                <a:cxn ang="0">
                  <a:pos x="46" y="10"/>
                </a:cxn>
              </a:cxnLst>
              <a:rect l="0" t="0" r="r" b="b"/>
              <a:pathLst>
                <a:path w="46" h="10">
                  <a:moveTo>
                    <a:pt x="46" y="10"/>
                  </a:moveTo>
                  <a:lnTo>
                    <a:pt x="0" y="6"/>
                  </a:lnTo>
                  <a:lnTo>
                    <a:pt x="16" y="0"/>
                  </a:lnTo>
                  <a:lnTo>
                    <a:pt x="41" y="7"/>
                  </a:lnTo>
                  <a:lnTo>
                    <a:pt x="46"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3" name="Freeform 362"/>
            <p:cNvSpPr>
              <a:spLocks/>
            </p:cNvSpPr>
            <p:nvPr/>
          </p:nvSpPr>
          <p:spPr bwMode="auto">
            <a:xfrm>
              <a:off x="3149" y="1356"/>
              <a:ext cx="27" cy="14"/>
            </a:xfrm>
            <a:custGeom>
              <a:avLst/>
              <a:gdLst/>
              <a:ahLst/>
              <a:cxnLst>
                <a:cxn ang="0">
                  <a:pos x="24" y="6"/>
                </a:cxn>
                <a:cxn ang="0">
                  <a:pos x="6" y="12"/>
                </a:cxn>
                <a:cxn ang="0">
                  <a:pos x="0" y="4"/>
                </a:cxn>
                <a:cxn ang="0">
                  <a:pos x="6" y="0"/>
                </a:cxn>
                <a:cxn ang="0">
                  <a:pos x="24" y="6"/>
                </a:cxn>
              </a:cxnLst>
              <a:rect l="0" t="0" r="r" b="b"/>
              <a:pathLst>
                <a:path w="24" h="12">
                  <a:moveTo>
                    <a:pt x="24" y="6"/>
                  </a:moveTo>
                  <a:lnTo>
                    <a:pt x="6" y="12"/>
                  </a:lnTo>
                  <a:lnTo>
                    <a:pt x="0" y="4"/>
                  </a:lnTo>
                  <a:lnTo>
                    <a:pt x="6" y="0"/>
                  </a:lnTo>
                  <a:lnTo>
                    <a:pt x="2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4" name="Freeform 363"/>
            <p:cNvSpPr>
              <a:spLocks/>
            </p:cNvSpPr>
            <p:nvPr/>
          </p:nvSpPr>
          <p:spPr bwMode="auto">
            <a:xfrm>
              <a:off x="280" y="1323"/>
              <a:ext cx="40" cy="9"/>
            </a:xfrm>
            <a:custGeom>
              <a:avLst/>
              <a:gdLst/>
              <a:ahLst/>
              <a:cxnLst>
                <a:cxn ang="0">
                  <a:pos x="33" y="6"/>
                </a:cxn>
                <a:cxn ang="0">
                  <a:pos x="0" y="8"/>
                </a:cxn>
                <a:cxn ang="0">
                  <a:pos x="18" y="0"/>
                </a:cxn>
                <a:cxn ang="0">
                  <a:pos x="35" y="3"/>
                </a:cxn>
                <a:cxn ang="0">
                  <a:pos x="33" y="6"/>
                </a:cxn>
              </a:cxnLst>
              <a:rect l="0" t="0" r="r" b="b"/>
              <a:pathLst>
                <a:path w="35" h="8">
                  <a:moveTo>
                    <a:pt x="33" y="6"/>
                  </a:moveTo>
                  <a:lnTo>
                    <a:pt x="0" y="8"/>
                  </a:lnTo>
                  <a:lnTo>
                    <a:pt x="18" y="0"/>
                  </a:lnTo>
                  <a:lnTo>
                    <a:pt x="35" y="3"/>
                  </a:lnTo>
                  <a:lnTo>
                    <a:pt x="33"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5" name="Freeform 364"/>
            <p:cNvSpPr>
              <a:spLocks/>
            </p:cNvSpPr>
            <p:nvPr/>
          </p:nvSpPr>
          <p:spPr bwMode="auto">
            <a:xfrm>
              <a:off x="3042" y="1183"/>
              <a:ext cx="49" cy="9"/>
            </a:xfrm>
            <a:custGeom>
              <a:avLst/>
              <a:gdLst/>
              <a:ahLst/>
              <a:cxnLst>
                <a:cxn ang="0">
                  <a:pos x="43" y="1"/>
                </a:cxn>
                <a:cxn ang="0">
                  <a:pos x="17" y="5"/>
                </a:cxn>
                <a:cxn ang="0">
                  <a:pos x="8" y="7"/>
                </a:cxn>
                <a:cxn ang="0">
                  <a:pos x="0" y="7"/>
                </a:cxn>
                <a:cxn ang="0">
                  <a:pos x="8" y="5"/>
                </a:cxn>
                <a:cxn ang="0">
                  <a:pos x="24" y="1"/>
                </a:cxn>
                <a:cxn ang="0">
                  <a:pos x="36" y="0"/>
                </a:cxn>
                <a:cxn ang="0">
                  <a:pos x="43" y="1"/>
                </a:cxn>
              </a:cxnLst>
              <a:rect l="0" t="0" r="r" b="b"/>
              <a:pathLst>
                <a:path w="43" h="7">
                  <a:moveTo>
                    <a:pt x="43" y="1"/>
                  </a:moveTo>
                  <a:lnTo>
                    <a:pt x="17" y="5"/>
                  </a:lnTo>
                  <a:lnTo>
                    <a:pt x="8" y="7"/>
                  </a:lnTo>
                  <a:lnTo>
                    <a:pt x="0" y="7"/>
                  </a:lnTo>
                  <a:lnTo>
                    <a:pt x="8" y="5"/>
                  </a:lnTo>
                  <a:lnTo>
                    <a:pt x="24" y="1"/>
                  </a:lnTo>
                  <a:lnTo>
                    <a:pt x="36" y="0"/>
                  </a:lnTo>
                  <a:lnTo>
                    <a:pt x="4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6" name="Freeform 365"/>
            <p:cNvSpPr>
              <a:spLocks/>
            </p:cNvSpPr>
            <p:nvPr/>
          </p:nvSpPr>
          <p:spPr bwMode="auto">
            <a:xfrm>
              <a:off x="4860" y="1801"/>
              <a:ext cx="15" cy="20"/>
            </a:xfrm>
            <a:custGeom>
              <a:avLst/>
              <a:gdLst/>
              <a:ahLst/>
              <a:cxnLst>
                <a:cxn ang="0">
                  <a:pos x="15" y="0"/>
                </a:cxn>
                <a:cxn ang="0">
                  <a:pos x="3" y="5"/>
                </a:cxn>
                <a:cxn ang="0">
                  <a:pos x="0" y="18"/>
                </a:cxn>
                <a:cxn ang="0">
                  <a:pos x="6" y="11"/>
                </a:cxn>
                <a:cxn ang="0">
                  <a:pos x="12" y="3"/>
                </a:cxn>
                <a:cxn ang="0">
                  <a:pos x="15" y="0"/>
                </a:cxn>
              </a:cxnLst>
              <a:rect l="0" t="0" r="r" b="b"/>
              <a:pathLst>
                <a:path w="15" h="18">
                  <a:moveTo>
                    <a:pt x="15" y="0"/>
                  </a:moveTo>
                  <a:lnTo>
                    <a:pt x="3" y="5"/>
                  </a:lnTo>
                  <a:lnTo>
                    <a:pt x="0" y="18"/>
                  </a:lnTo>
                  <a:lnTo>
                    <a:pt x="6" y="11"/>
                  </a:lnTo>
                  <a:lnTo>
                    <a:pt x="12" y="3"/>
                  </a:lnTo>
                  <a:lnTo>
                    <a:pt x="1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7" name="Freeform 366"/>
            <p:cNvSpPr>
              <a:spLocks/>
            </p:cNvSpPr>
            <p:nvPr/>
          </p:nvSpPr>
          <p:spPr bwMode="auto">
            <a:xfrm>
              <a:off x="4762" y="1323"/>
              <a:ext cx="20" cy="11"/>
            </a:xfrm>
            <a:custGeom>
              <a:avLst/>
              <a:gdLst/>
              <a:ahLst/>
              <a:cxnLst>
                <a:cxn ang="0">
                  <a:pos x="3" y="0"/>
                </a:cxn>
                <a:cxn ang="0">
                  <a:pos x="0" y="6"/>
                </a:cxn>
                <a:cxn ang="0">
                  <a:pos x="9" y="10"/>
                </a:cxn>
                <a:cxn ang="0">
                  <a:pos x="17" y="9"/>
                </a:cxn>
                <a:cxn ang="0">
                  <a:pos x="3" y="0"/>
                </a:cxn>
              </a:cxnLst>
              <a:rect l="0" t="0" r="r" b="b"/>
              <a:pathLst>
                <a:path w="17" h="10">
                  <a:moveTo>
                    <a:pt x="3" y="0"/>
                  </a:moveTo>
                  <a:lnTo>
                    <a:pt x="0" y="6"/>
                  </a:lnTo>
                  <a:lnTo>
                    <a:pt x="9" y="10"/>
                  </a:lnTo>
                  <a:lnTo>
                    <a:pt x="17" y="9"/>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8" name="Freeform 367"/>
            <p:cNvSpPr>
              <a:spLocks/>
            </p:cNvSpPr>
            <p:nvPr/>
          </p:nvSpPr>
          <p:spPr bwMode="auto">
            <a:xfrm>
              <a:off x="3269" y="1341"/>
              <a:ext cx="31" cy="9"/>
            </a:xfrm>
            <a:custGeom>
              <a:avLst/>
              <a:gdLst/>
              <a:ahLst/>
              <a:cxnLst>
                <a:cxn ang="0">
                  <a:pos x="28" y="9"/>
                </a:cxn>
                <a:cxn ang="0">
                  <a:pos x="3" y="0"/>
                </a:cxn>
                <a:cxn ang="0">
                  <a:pos x="0" y="3"/>
                </a:cxn>
                <a:cxn ang="0">
                  <a:pos x="18" y="9"/>
                </a:cxn>
                <a:cxn ang="0">
                  <a:pos x="28" y="9"/>
                </a:cxn>
              </a:cxnLst>
              <a:rect l="0" t="0" r="r" b="b"/>
              <a:pathLst>
                <a:path w="28" h="9">
                  <a:moveTo>
                    <a:pt x="28" y="9"/>
                  </a:moveTo>
                  <a:lnTo>
                    <a:pt x="3" y="0"/>
                  </a:lnTo>
                  <a:lnTo>
                    <a:pt x="0" y="3"/>
                  </a:lnTo>
                  <a:lnTo>
                    <a:pt x="18" y="9"/>
                  </a:lnTo>
                  <a:lnTo>
                    <a:pt x="28"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9" name="Freeform 368"/>
            <p:cNvSpPr>
              <a:spLocks/>
            </p:cNvSpPr>
            <p:nvPr/>
          </p:nvSpPr>
          <p:spPr bwMode="auto">
            <a:xfrm>
              <a:off x="2847" y="1550"/>
              <a:ext cx="17" cy="9"/>
            </a:xfrm>
            <a:custGeom>
              <a:avLst/>
              <a:gdLst/>
              <a:ahLst/>
              <a:cxnLst>
                <a:cxn ang="0">
                  <a:pos x="16" y="1"/>
                </a:cxn>
                <a:cxn ang="0">
                  <a:pos x="2" y="7"/>
                </a:cxn>
                <a:cxn ang="0">
                  <a:pos x="0" y="1"/>
                </a:cxn>
                <a:cxn ang="0">
                  <a:pos x="14" y="0"/>
                </a:cxn>
                <a:cxn ang="0">
                  <a:pos x="16" y="1"/>
                </a:cxn>
              </a:cxnLst>
              <a:rect l="0" t="0" r="r" b="b"/>
              <a:pathLst>
                <a:path w="16" h="7">
                  <a:moveTo>
                    <a:pt x="16" y="1"/>
                  </a:moveTo>
                  <a:lnTo>
                    <a:pt x="2" y="7"/>
                  </a:lnTo>
                  <a:lnTo>
                    <a:pt x="0" y="1"/>
                  </a:lnTo>
                  <a:lnTo>
                    <a:pt x="14" y="0"/>
                  </a:lnTo>
                  <a:lnTo>
                    <a:pt x="1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0" name="Freeform 369"/>
            <p:cNvSpPr>
              <a:spLocks/>
            </p:cNvSpPr>
            <p:nvPr/>
          </p:nvSpPr>
          <p:spPr bwMode="auto">
            <a:xfrm>
              <a:off x="4860" y="1536"/>
              <a:ext cx="11" cy="14"/>
            </a:xfrm>
            <a:custGeom>
              <a:avLst/>
              <a:gdLst/>
              <a:ahLst/>
              <a:cxnLst>
                <a:cxn ang="0">
                  <a:pos x="11" y="3"/>
                </a:cxn>
                <a:cxn ang="0">
                  <a:pos x="5" y="11"/>
                </a:cxn>
                <a:cxn ang="0">
                  <a:pos x="0" y="5"/>
                </a:cxn>
                <a:cxn ang="0">
                  <a:pos x="5" y="0"/>
                </a:cxn>
                <a:cxn ang="0">
                  <a:pos x="11" y="3"/>
                </a:cxn>
              </a:cxnLst>
              <a:rect l="0" t="0" r="r" b="b"/>
              <a:pathLst>
                <a:path w="11" h="11">
                  <a:moveTo>
                    <a:pt x="11" y="3"/>
                  </a:moveTo>
                  <a:lnTo>
                    <a:pt x="5" y="11"/>
                  </a:lnTo>
                  <a:lnTo>
                    <a:pt x="0" y="5"/>
                  </a:lnTo>
                  <a:lnTo>
                    <a:pt x="5" y="0"/>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1" name="Freeform 370"/>
            <p:cNvSpPr>
              <a:spLocks/>
            </p:cNvSpPr>
            <p:nvPr/>
          </p:nvSpPr>
          <p:spPr bwMode="auto">
            <a:xfrm>
              <a:off x="4660" y="1350"/>
              <a:ext cx="22" cy="4"/>
            </a:xfrm>
            <a:custGeom>
              <a:avLst/>
              <a:gdLst/>
              <a:ahLst/>
              <a:cxnLst>
                <a:cxn ang="0">
                  <a:pos x="21" y="1"/>
                </a:cxn>
                <a:cxn ang="0">
                  <a:pos x="18" y="3"/>
                </a:cxn>
                <a:cxn ang="0">
                  <a:pos x="0" y="0"/>
                </a:cxn>
                <a:cxn ang="0">
                  <a:pos x="18" y="0"/>
                </a:cxn>
                <a:cxn ang="0">
                  <a:pos x="21" y="1"/>
                </a:cxn>
              </a:cxnLst>
              <a:rect l="0" t="0" r="r" b="b"/>
              <a:pathLst>
                <a:path w="21" h="3">
                  <a:moveTo>
                    <a:pt x="21" y="1"/>
                  </a:moveTo>
                  <a:lnTo>
                    <a:pt x="18" y="3"/>
                  </a:lnTo>
                  <a:lnTo>
                    <a:pt x="0" y="0"/>
                  </a:lnTo>
                  <a:lnTo>
                    <a:pt x="18" y="0"/>
                  </a:lnTo>
                  <a:lnTo>
                    <a:pt x="2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2" name="Freeform 371"/>
            <p:cNvSpPr>
              <a:spLocks/>
            </p:cNvSpPr>
            <p:nvPr/>
          </p:nvSpPr>
          <p:spPr bwMode="auto">
            <a:xfrm>
              <a:off x="3382" y="1292"/>
              <a:ext cx="20" cy="4"/>
            </a:xfrm>
            <a:custGeom>
              <a:avLst/>
              <a:gdLst/>
              <a:ahLst/>
              <a:cxnLst>
                <a:cxn ang="0">
                  <a:pos x="19" y="4"/>
                </a:cxn>
                <a:cxn ang="0">
                  <a:pos x="0" y="5"/>
                </a:cxn>
                <a:cxn ang="0">
                  <a:pos x="2" y="0"/>
                </a:cxn>
                <a:cxn ang="0">
                  <a:pos x="10" y="2"/>
                </a:cxn>
                <a:cxn ang="0">
                  <a:pos x="19" y="4"/>
                </a:cxn>
              </a:cxnLst>
              <a:rect l="0" t="0" r="r" b="b"/>
              <a:pathLst>
                <a:path w="19" h="5">
                  <a:moveTo>
                    <a:pt x="19" y="4"/>
                  </a:moveTo>
                  <a:lnTo>
                    <a:pt x="0" y="5"/>
                  </a:lnTo>
                  <a:lnTo>
                    <a:pt x="2" y="0"/>
                  </a:lnTo>
                  <a:lnTo>
                    <a:pt x="10" y="2"/>
                  </a:lnTo>
                  <a:lnTo>
                    <a:pt x="19"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3" name="Freeform 372"/>
            <p:cNvSpPr>
              <a:spLocks/>
            </p:cNvSpPr>
            <p:nvPr/>
          </p:nvSpPr>
          <p:spPr bwMode="auto">
            <a:xfrm>
              <a:off x="3173" y="1183"/>
              <a:ext cx="34" cy="5"/>
            </a:xfrm>
            <a:custGeom>
              <a:avLst/>
              <a:gdLst/>
              <a:ahLst/>
              <a:cxnLst>
                <a:cxn ang="0">
                  <a:pos x="29" y="0"/>
                </a:cxn>
                <a:cxn ang="0">
                  <a:pos x="0" y="1"/>
                </a:cxn>
                <a:cxn ang="0">
                  <a:pos x="16" y="3"/>
                </a:cxn>
                <a:cxn ang="0">
                  <a:pos x="29" y="0"/>
                </a:cxn>
              </a:cxnLst>
              <a:rect l="0" t="0" r="r" b="b"/>
              <a:pathLst>
                <a:path w="29" h="3">
                  <a:moveTo>
                    <a:pt x="29" y="0"/>
                  </a:moveTo>
                  <a:lnTo>
                    <a:pt x="0" y="1"/>
                  </a:lnTo>
                  <a:lnTo>
                    <a:pt x="16" y="3"/>
                  </a:lnTo>
                  <a:lnTo>
                    <a:pt x="2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4" name="Freeform 373"/>
            <p:cNvSpPr>
              <a:spLocks/>
            </p:cNvSpPr>
            <p:nvPr/>
          </p:nvSpPr>
          <p:spPr bwMode="auto">
            <a:xfrm>
              <a:off x="3207" y="1181"/>
              <a:ext cx="31" cy="2"/>
            </a:xfrm>
            <a:custGeom>
              <a:avLst/>
              <a:gdLst/>
              <a:ahLst/>
              <a:cxnLst>
                <a:cxn ang="0">
                  <a:pos x="28" y="3"/>
                </a:cxn>
                <a:cxn ang="0">
                  <a:pos x="0" y="4"/>
                </a:cxn>
                <a:cxn ang="0">
                  <a:pos x="23" y="0"/>
                </a:cxn>
                <a:cxn ang="0">
                  <a:pos x="28" y="3"/>
                </a:cxn>
              </a:cxnLst>
              <a:rect l="0" t="0" r="r" b="b"/>
              <a:pathLst>
                <a:path w="28" h="4">
                  <a:moveTo>
                    <a:pt x="28" y="3"/>
                  </a:moveTo>
                  <a:lnTo>
                    <a:pt x="0" y="4"/>
                  </a:lnTo>
                  <a:lnTo>
                    <a:pt x="23" y="0"/>
                  </a:lnTo>
                  <a:lnTo>
                    <a:pt x="28"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5" name="Freeform 374"/>
            <p:cNvSpPr>
              <a:spLocks/>
            </p:cNvSpPr>
            <p:nvPr/>
          </p:nvSpPr>
          <p:spPr bwMode="auto">
            <a:xfrm>
              <a:off x="3867" y="1276"/>
              <a:ext cx="22" cy="5"/>
            </a:xfrm>
            <a:custGeom>
              <a:avLst/>
              <a:gdLst/>
              <a:ahLst/>
              <a:cxnLst>
                <a:cxn ang="0">
                  <a:pos x="19" y="0"/>
                </a:cxn>
                <a:cxn ang="0">
                  <a:pos x="0" y="1"/>
                </a:cxn>
                <a:cxn ang="0">
                  <a:pos x="21" y="3"/>
                </a:cxn>
                <a:cxn ang="0">
                  <a:pos x="19" y="0"/>
                </a:cxn>
              </a:cxnLst>
              <a:rect l="0" t="0" r="r" b="b"/>
              <a:pathLst>
                <a:path w="21" h="3">
                  <a:moveTo>
                    <a:pt x="19" y="0"/>
                  </a:moveTo>
                  <a:lnTo>
                    <a:pt x="0" y="1"/>
                  </a:lnTo>
                  <a:lnTo>
                    <a:pt x="21" y="3"/>
                  </a:lnTo>
                  <a:lnTo>
                    <a:pt x="1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6" name="Freeform 375"/>
            <p:cNvSpPr>
              <a:spLocks/>
            </p:cNvSpPr>
            <p:nvPr/>
          </p:nvSpPr>
          <p:spPr bwMode="auto">
            <a:xfrm>
              <a:off x="4904" y="1699"/>
              <a:ext cx="5" cy="11"/>
            </a:xfrm>
            <a:custGeom>
              <a:avLst/>
              <a:gdLst/>
              <a:ahLst/>
              <a:cxnLst>
                <a:cxn ang="0">
                  <a:pos x="5" y="1"/>
                </a:cxn>
                <a:cxn ang="0">
                  <a:pos x="1" y="11"/>
                </a:cxn>
                <a:cxn ang="0">
                  <a:pos x="0" y="0"/>
                </a:cxn>
                <a:cxn ang="0">
                  <a:pos x="5" y="1"/>
                </a:cxn>
              </a:cxnLst>
              <a:rect l="0" t="0" r="r" b="b"/>
              <a:pathLst>
                <a:path w="5" h="11">
                  <a:moveTo>
                    <a:pt x="5" y="1"/>
                  </a:moveTo>
                  <a:lnTo>
                    <a:pt x="1" y="11"/>
                  </a:lnTo>
                  <a:lnTo>
                    <a:pt x="0" y="0"/>
                  </a:lnTo>
                  <a:lnTo>
                    <a:pt x="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7" name="Freeform 376"/>
            <p:cNvSpPr>
              <a:spLocks/>
            </p:cNvSpPr>
            <p:nvPr/>
          </p:nvSpPr>
          <p:spPr bwMode="auto">
            <a:xfrm>
              <a:off x="4846" y="1821"/>
              <a:ext cx="7" cy="11"/>
            </a:xfrm>
            <a:custGeom>
              <a:avLst/>
              <a:gdLst/>
              <a:ahLst/>
              <a:cxnLst>
                <a:cxn ang="0">
                  <a:pos x="6" y="0"/>
                </a:cxn>
                <a:cxn ang="0">
                  <a:pos x="0" y="11"/>
                </a:cxn>
                <a:cxn ang="0">
                  <a:pos x="0" y="3"/>
                </a:cxn>
                <a:cxn ang="0">
                  <a:pos x="6" y="0"/>
                </a:cxn>
              </a:cxnLst>
              <a:rect l="0" t="0" r="r" b="b"/>
              <a:pathLst>
                <a:path w="6" h="11">
                  <a:moveTo>
                    <a:pt x="6" y="0"/>
                  </a:moveTo>
                  <a:lnTo>
                    <a:pt x="0" y="11"/>
                  </a:lnTo>
                  <a:lnTo>
                    <a:pt x="0" y="3"/>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8" name="Freeform 377"/>
            <p:cNvSpPr>
              <a:spLocks/>
            </p:cNvSpPr>
            <p:nvPr/>
          </p:nvSpPr>
          <p:spPr bwMode="auto">
            <a:xfrm>
              <a:off x="4213" y="1281"/>
              <a:ext cx="9" cy="4"/>
            </a:xfrm>
            <a:custGeom>
              <a:avLst/>
              <a:gdLst/>
              <a:ahLst/>
              <a:cxnLst>
                <a:cxn ang="0">
                  <a:pos x="10" y="0"/>
                </a:cxn>
                <a:cxn ang="0">
                  <a:pos x="0" y="0"/>
                </a:cxn>
                <a:cxn ang="0">
                  <a:pos x="10" y="5"/>
                </a:cxn>
                <a:cxn ang="0">
                  <a:pos x="10" y="0"/>
                </a:cxn>
              </a:cxnLst>
              <a:rect l="0" t="0" r="r" b="b"/>
              <a:pathLst>
                <a:path w="10" h="5">
                  <a:moveTo>
                    <a:pt x="10" y="0"/>
                  </a:moveTo>
                  <a:lnTo>
                    <a:pt x="0" y="0"/>
                  </a:lnTo>
                  <a:lnTo>
                    <a:pt x="10" y="5"/>
                  </a:lnTo>
                  <a:lnTo>
                    <a:pt x="1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9" name="Freeform 378"/>
            <p:cNvSpPr>
              <a:spLocks/>
            </p:cNvSpPr>
            <p:nvPr/>
          </p:nvSpPr>
          <p:spPr bwMode="auto">
            <a:xfrm>
              <a:off x="3029" y="1185"/>
              <a:ext cx="31" cy="3"/>
            </a:xfrm>
            <a:custGeom>
              <a:avLst/>
              <a:gdLst/>
              <a:ahLst/>
              <a:cxnLst>
                <a:cxn ang="0">
                  <a:pos x="27" y="0"/>
                </a:cxn>
                <a:cxn ang="0">
                  <a:pos x="0" y="1"/>
                </a:cxn>
                <a:cxn ang="0">
                  <a:pos x="6" y="0"/>
                </a:cxn>
                <a:cxn ang="0">
                  <a:pos x="27" y="0"/>
                </a:cxn>
              </a:cxnLst>
              <a:rect l="0" t="0" r="r" b="b"/>
              <a:pathLst>
                <a:path w="27" h="1">
                  <a:moveTo>
                    <a:pt x="27" y="0"/>
                  </a:moveTo>
                  <a:lnTo>
                    <a:pt x="0" y="1"/>
                  </a:lnTo>
                  <a:lnTo>
                    <a:pt x="6" y="0"/>
                  </a:lnTo>
                  <a:lnTo>
                    <a:pt x="27"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0" name="Freeform 379"/>
            <p:cNvSpPr>
              <a:spLocks/>
            </p:cNvSpPr>
            <p:nvPr/>
          </p:nvSpPr>
          <p:spPr bwMode="auto">
            <a:xfrm>
              <a:off x="3480" y="1308"/>
              <a:ext cx="13" cy="2"/>
            </a:xfrm>
            <a:custGeom>
              <a:avLst/>
              <a:gdLst/>
              <a:ahLst/>
              <a:cxnLst>
                <a:cxn ang="0">
                  <a:pos x="13" y="0"/>
                </a:cxn>
                <a:cxn ang="0">
                  <a:pos x="1" y="3"/>
                </a:cxn>
                <a:cxn ang="0">
                  <a:pos x="0" y="0"/>
                </a:cxn>
                <a:cxn ang="0">
                  <a:pos x="13" y="0"/>
                </a:cxn>
              </a:cxnLst>
              <a:rect l="0" t="0" r="r" b="b"/>
              <a:pathLst>
                <a:path w="13" h="3">
                  <a:moveTo>
                    <a:pt x="13" y="0"/>
                  </a:moveTo>
                  <a:lnTo>
                    <a:pt x="1" y="3"/>
                  </a:lnTo>
                  <a:lnTo>
                    <a:pt x="0" y="0"/>
                  </a:lnTo>
                  <a:lnTo>
                    <a:pt x="1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1" name="Freeform 380"/>
            <p:cNvSpPr>
              <a:spLocks/>
            </p:cNvSpPr>
            <p:nvPr/>
          </p:nvSpPr>
          <p:spPr bwMode="auto">
            <a:xfrm>
              <a:off x="3156" y="1190"/>
              <a:ext cx="22" cy="2"/>
            </a:xfrm>
            <a:custGeom>
              <a:avLst/>
              <a:gdLst/>
              <a:ahLst/>
              <a:cxnLst>
                <a:cxn ang="0">
                  <a:pos x="20" y="0"/>
                </a:cxn>
                <a:cxn ang="0">
                  <a:pos x="0" y="0"/>
                </a:cxn>
                <a:cxn ang="0">
                  <a:pos x="9" y="2"/>
                </a:cxn>
                <a:cxn ang="0">
                  <a:pos x="20" y="0"/>
                </a:cxn>
              </a:cxnLst>
              <a:rect l="0" t="0" r="r" b="b"/>
              <a:pathLst>
                <a:path w="20" h="2">
                  <a:moveTo>
                    <a:pt x="20" y="0"/>
                  </a:moveTo>
                  <a:lnTo>
                    <a:pt x="0" y="0"/>
                  </a:lnTo>
                  <a:lnTo>
                    <a:pt x="9" y="2"/>
                  </a:lnTo>
                  <a:lnTo>
                    <a:pt x="2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2" name="Freeform 381"/>
            <p:cNvSpPr>
              <a:spLocks/>
            </p:cNvSpPr>
            <p:nvPr/>
          </p:nvSpPr>
          <p:spPr bwMode="auto">
            <a:xfrm>
              <a:off x="4966" y="1610"/>
              <a:ext cx="25" cy="13"/>
            </a:xfrm>
            <a:custGeom>
              <a:avLst/>
              <a:gdLst/>
              <a:ahLst/>
              <a:cxnLst>
                <a:cxn ang="0">
                  <a:pos x="23" y="12"/>
                </a:cxn>
                <a:cxn ang="0">
                  <a:pos x="0" y="0"/>
                </a:cxn>
                <a:cxn ang="0">
                  <a:pos x="19" y="8"/>
                </a:cxn>
                <a:cxn ang="0">
                  <a:pos x="23" y="12"/>
                </a:cxn>
              </a:cxnLst>
              <a:rect l="0" t="0" r="r" b="b"/>
              <a:pathLst>
                <a:path w="23" h="12">
                  <a:moveTo>
                    <a:pt x="23" y="12"/>
                  </a:moveTo>
                  <a:lnTo>
                    <a:pt x="0" y="0"/>
                  </a:lnTo>
                  <a:lnTo>
                    <a:pt x="19" y="8"/>
                  </a:lnTo>
                  <a:lnTo>
                    <a:pt x="23"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3" name="Freeform 382"/>
            <p:cNvSpPr>
              <a:spLocks/>
            </p:cNvSpPr>
            <p:nvPr/>
          </p:nvSpPr>
          <p:spPr bwMode="auto">
            <a:xfrm>
              <a:off x="4120" y="1254"/>
              <a:ext cx="13" cy="7"/>
            </a:xfrm>
            <a:custGeom>
              <a:avLst/>
              <a:gdLst/>
              <a:ahLst/>
              <a:cxnLst>
                <a:cxn ang="0">
                  <a:pos x="11" y="4"/>
                </a:cxn>
                <a:cxn ang="0">
                  <a:pos x="0" y="0"/>
                </a:cxn>
                <a:cxn ang="0">
                  <a:pos x="12" y="6"/>
                </a:cxn>
                <a:cxn ang="0">
                  <a:pos x="11" y="4"/>
                </a:cxn>
              </a:cxnLst>
              <a:rect l="0" t="0" r="r" b="b"/>
              <a:pathLst>
                <a:path w="12" h="6">
                  <a:moveTo>
                    <a:pt x="11" y="4"/>
                  </a:moveTo>
                  <a:lnTo>
                    <a:pt x="0" y="0"/>
                  </a:lnTo>
                  <a:lnTo>
                    <a:pt x="12" y="6"/>
                  </a:lnTo>
                  <a:lnTo>
                    <a:pt x="1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4" name="Freeform 383"/>
            <p:cNvSpPr>
              <a:spLocks/>
            </p:cNvSpPr>
            <p:nvPr/>
          </p:nvSpPr>
          <p:spPr bwMode="auto">
            <a:xfrm>
              <a:off x="2847" y="1543"/>
              <a:ext cx="13" cy="2"/>
            </a:xfrm>
            <a:custGeom>
              <a:avLst/>
              <a:gdLst/>
              <a:ahLst/>
              <a:cxnLst>
                <a:cxn ang="0">
                  <a:pos x="11" y="1"/>
                </a:cxn>
                <a:cxn ang="0">
                  <a:pos x="0" y="1"/>
                </a:cxn>
                <a:cxn ang="0">
                  <a:pos x="4" y="0"/>
                </a:cxn>
                <a:cxn ang="0">
                  <a:pos x="11" y="1"/>
                </a:cxn>
              </a:cxnLst>
              <a:rect l="0" t="0" r="r" b="b"/>
              <a:pathLst>
                <a:path w="11" h="1">
                  <a:moveTo>
                    <a:pt x="11" y="1"/>
                  </a:moveTo>
                  <a:lnTo>
                    <a:pt x="0" y="1"/>
                  </a:lnTo>
                  <a:lnTo>
                    <a:pt x="4" y="0"/>
                  </a:lnTo>
                  <a:lnTo>
                    <a:pt x="1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5" name="Rectangle 384"/>
            <p:cNvSpPr>
              <a:spLocks noChangeArrowheads="1"/>
            </p:cNvSpPr>
            <p:nvPr/>
          </p:nvSpPr>
          <p:spPr bwMode="auto">
            <a:xfrm>
              <a:off x="2729" y="1830"/>
              <a:ext cx="0" cy="0"/>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386" name="Freeform 385"/>
            <p:cNvSpPr>
              <a:spLocks/>
            </p:cNvSpPr>
            <p:nvPr/>
          </p:nvSpPr>
          <p:spPr bwMode="auto">
            <a:xfrm>
              <a:off x="2787" y="1721"/>
              <a:ext cx="91" cy="33"/>
            </a:xfrm>
            <a:custGeom>
              <a:avLst/>
              <a:gdLst/>
              <a:ahLst/>
              <a:cxnLst>
                <a:cxn ang="0">
                  <a:pos x="30" y="0"/>
                </a:cxn>
                <a:cxn ang="0">
                  <a:pos x="30" y="1"/>
                </a:cxn>
                <a:cxn ang="0">
                  <a:pos x="26" y="5"/>
                </a:cxn>
                <a:cxn ang="0">
                  <a:pos x="22" y="7"/>
                </a:cxn>
                <a:cxn ang="0">
                  <a:pos x="22" y="9"/>
                </a:cxn>
                <a:cxn ang="0">
                  <a:pos x="17" y="13"/>
                </a:cxn>
                <a:cxn ang="0">
                  <a:pos x="10" y="15"/>
                </a:cxn>
                <a:cxn ang="0">
                  <a:pos x="5" y="15"/>
                </a:cxn>
                <a:cxn ang="0">
                  <a:pos x="0" y="15"/>
                </a:cxn>
                <a:cxn ang="0">
                  <a:pos x="10" y="28"/>
                </a:cxn>
                <a:cxn ang="0">
                  <a:pos x="14" y="29"/>
                </a:cxn>
                <a:cxn ang="0">
                  <a:pos x="32" y="30"/>
                </a:cxn>
                <a:cxn ang="0">
                  <a:pos x="54" y="19"/>
                </a:cxn>
                <a:cxn ang="0">
                  <a:pos x="78" y="21"/>
                </a:cxn>
                <a:cxn ang="0">
                  <a:pos x="82" y="9"/>
                </a:cxn>
                <a:cxn ang="0">
                  <a:pos x="60" y="4"/>
                </a:cxn>
                <a:cxn ang="0">
                  <a:pos x="48" y="5"/>
                </a:cxn>
                <a:cxn ang="0">
                  <a:pos x="46" y="1"/>
                </a:cxn>
                <a:cxn ang="0">
                  <a:pos x="30" y="0"/>
                </a:cxn>
              </a:cxnLst>
              <a:rect l="0" t="0" r="r" b="b"/>
              <a:pathLst>
                <a:path w="82" h="30">
                  <a:moveTo>
                    <a:pt x="30" y="0"/>
                  </a:moveTo>
                  <a:lnTo>
                    <a:pt x="30" y="1"/>
                  </a:lnTo>
                  <a:lnTo>
                    <a:pt x="26" y="5"/>
                  </a:lnTo>
                  <a:lnTo>
                    <a:pt x="22" y="7"/>
                  </a:lnTo>
                  <a:lnTo>
                    <a:pt x="22" y="9"/>
                  </a:lnTo>
                  <a:lnTo>
                    <a:pt x="17" y="13"/>
                  </a:lnTo>
                  <a:lnTo>
                    <a:pt x="10" y="15"/>
                  </a:lnTo>
                  <a:lnTo>
                    <a:pt x="5" y="15"/>
                  </a:lnTo>
                  <a:lnTo>
                    <a:pt x="0" y="15"/>
                  </a:lnTo>
                  <a:lnTo>
                    <a:pt x="10" y="28"/>
                  </a:lnTo>
                  <a:lnTo>
                    <a:pt x="14" y="29"/>
                  </a:lnTo>
                  <a:lnTo>
                    <a:pt x="32" y="30"/>
                  </a:lnTo>
                  <a:lnTo>
                    <a:pt x="54" y="19"/>
                  </a:lnTo>
                  <a:lnTo>
                    <a:pt x="78" y="21"/>
                  </a:lnTo>
                  <a:lnTo>
                    <a:pt x="82" y="9"/>
                  </a:lnTo>
                  <a:lnTo>
                    <a:pt x="60" y="4"/>
                  </a:lnTo>
                  <a:lnTo>
                    <a:pt x="48" y="5"/>
                  </a:lnTo>
                  <a:lnTo>
                    <a:pt x="46" y="1"/>
                  </a:lnTo>
                  <a:lnTo>
                    <a:pt x="3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7" name="Freeform 386"/>
            <p:cNvSpPr>
              <a:spLocks/>
            </p:cNvSpPr>
            <p:nvPr/>
          </p:nvSpPr>
          <p:spPr bwMode="auto">
            <a:xfrm>
              <a:off x="2742" y="1772"/>
              <a:ext cx="47" cy="29"/>
            </a:xfrm>
            <a:custGeom>
              <a:avLst/>
              <a:gdLst/>
              <a:ahLst/>
              <a:cxnLst>
                <a:cxn ang="0">
                  <a:pos x="7" y="25"/>
                </a:cxn>
                <a:cxn ang="0">
                  <a:pos x="13" y="25"/>
                </a:cxn>
                <a:cxn ang="0">
                  <a:pos x="15" y="22"/>
                </a:cxn>
                <a:cxn ang="0">
                  <a:pos x="18" y="24"/>
                </a:cxn>
                <a:cxn ang="0">
                  <a:pos x="19" y="23"/>
                </a:cxn>
                <a:cxn ang="0">
                  <a:pos x="23" y="25"/>
                </a:cxn>
                <a:cxn ang="0">
                  <a:pos x="26" y="25"/>
                </a:cxn>
                <a:cxn ang="0">
                  <a:pos x="25" y="22"/>
                </a:cxn>
                <a:cxn ang="0">
                  <a:pos x="25" y="20"/>
                </a:cxn>
                <a:cxn ang="0">
                  <a:pos x="30" y="18"/>
                </a:cxn>
                <a:cxn ang="0">
                  <a:pos x="32" y="18"/>
                </a:cxn>
                <a:cxn ang="0">
                  <a:pos x="30" y="16"/>
                </a:cxn>
                <a:cxn ang="0">
                  <a:pos x="30" y="14"/>
                </a:cxn>
                <a:cxn ang="0">
                  <a:pos x="29" y="11"/>
                </a:cxn>
                <a:cxn ang="0">
                  <a:pos x="33" y="10"/>
                </a:cxn>
                <a:cxn ang="0">
                  <a:pos x="35" y="8"/>
                </a:cxn>
                <a:cxn ang="0">
                  <a:pos x="39" y="8"/>
                </a:cxn>
                <a:cxn ang="0">
                  <a:pos x="39" y="7"/>
                </a:cxn>
                <a:cxn ang="0">
                  <a:pos x="41" y="6"/>
                </a:cxn>
                <a:cxn ang="0">
                  <a:pos x="42" y="5"/>
                </a:cxn>
                <a:cxn ang="0">
                  <a:pos x="37" y="2"/>
                </a:cxn>
                <a:cxn ang="0">
                  <a:pos x="36" y="0"/>
                </a:cxn>
                <a:cxn ang="0">
                  <a:pos x="8" y="7"/>
                </a:cxn>
                <a:cxn ang="0">
                  <a:pos x="2" y="6"/>
                </a:cxn>
                <a:cxn ang="0">
                  <a:pos x="0" y="12"/>
                </a:cxn>
                <a:cxn ang="0">
                  <a:pos x="3" y="23"/>
                </a:cxn>
                <a:cxn ang="0">
                  <a:pos x="7" y="25"/>
                </a:cxn>
              </a:cxnLst>
              <a:rect l="0" t="0" r="r" b="b"/>
              <a:pathLst>
                <a:path w="42" h="25">
                  <a:moveTo>
                    <a:pt x="7" y="25"/>
                  </a:moveTo>
                  <a:lnTo>
                    <a:pt x="13" y="25"/>
                  </a:lnTo>
                  <a:lnTo>
                    <a:pt x="15" y="22"/>
                  </a:lnTo>
                  <a:lnTo>
                    <a:pt x="18" y="24"/>
                  </a:lnTo>
                  <a:lnTo>
                    <a:pt x="19" y="23"/>
                  </a:lnTo>
                  <a:lnTo>
                    <a:pt x="23" y="25"/>
                  </a:lnTo>
                  <a:lnTo>
                    <a:pt x="26" y="25"/>
                  </a:lnTo>
                  <a:lnTo>
                    <a:pt x="25" y="22"/>
                  </a:lnTo>
                  <a:lnTo>
                    <a:pt x="25" y="20"/>
                  </a:lnTo>
                  <a:lnTo>
                    <a:pt x="30" y="18"/>
                  </a:lnTo>
                  <a:lnTo>
                    <a:pt x="32" y="18"/>
                  </a:lnTo>
                  <a:lnTo>
                    <a:pt x="30" y="16"/>
                  </a:lnTo>
                  <a:lnTo>
                    <a:pt x="30" y="14"/>
                  </a:lnTo>
                  <a:lnTo>
                    <a:pt x="29" y="11"/>
                  </a:lnTo>
                  <a:lnTo>
                    <a:pt x="33" y="10"/>
                  </a:lnTo>
                  <a:lnTo>
                    <a:pt x="35" y="8"/>
                  </a:lnTo>
                  <a:lnTo>
                    <a:pt x="39" y="8"/>
                  </a:lnTo>
                  <a:lnTo>
                    <a:pt x="39" y="7"/>
                  </a:lnTo>
                  <a:lnTo>
                    <a:pt x="41" y="6"/>
                  </a:lnTo>
                  <a:lnTo>
                    <a:pt x="42" y="5"/>
                  </a:lnTo>
                  <a:lnTo>
                    <a:pt x="37" y="2"/>
                  </a:lnTo>
                  <a:lnTo>
                    <a:pt x="36" y="0"/>
                  </a:lnTo>
                  <a:lnTo>
                    <a:pt x="8" y="7"/>
                  </a:lnTo>
                  <a:lnTo>
                    <a:pt x="2" y="6"/>
                  </a:lnTo>
                  <a:lnTo>
                    <a:pt x="0" y="12"/>
                  </a:lnTo>
                  <a:lnTo>
                    <a:pt x="3" y="23"/>
                  </a:lnTo>
                  <a:lnTo>
                    <a:pt x="7" y="2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8" name="Freeform 387"/>
            <p:cNvSpPr>
              <a:spLocks/>
            </p:cNvSpPr>
            <p:nvPr/>
          </p:nvSpPr>
          <p:spPr bwMode="auto">
            <a:xfrm>
              <a:off x="2691" y="1363"/>
              <a:ext cx="162" cy="247"/>
            </a:xfrm>
            <a:custGeom>
              <a:avLst/>
              <a:gdLst/>
              <a:ahLst/>
              <a:cxnLst>
                <a:cxn ang="0">
                  <a:pos x="101" y="85"/>
                </a:cxn>
                <a:cxn ang="0">
                  <a:pos x="84" y="95"/>
                </a:cxn>
                <a:cxn ang="0">
                  <a:pos x="74" y="103"/>
                </a:cxn>
                <a:cxn ang="0">
                  <a:pos x="71" y="115"/>
                </a:cxn>
                <a:cxn ang="0">
                  <a:pos x="90" y="139"/>
                </a:cxn>
                <a:cxn ang="0">
                  <a:pos x="83" y="153"/>
                </a:cxn>
                <a:cxn ang="0">
                  <a:pos x="79" y="151"/>
                </a:cxn>
                <a:cxn ang="0">
                  <a:pos x="91" y="155"/>
                </a:cxn>
                <a:cxn ang="0">
                  <a:pos x="82" y="158"/>
                </a:cxn>
                <a:cxn ang="0">
                  <a:pos x="67" y="165"/>
                </a:cxn>
                <a:cxn ang="0">
                  <a:pos x="71" y="170"/>
                </a:cxn>
                <a:cxn ang="0">
                  <a:pos x="72" y="181"/>
                </a:cxn>
                <a:cxn ang="0">
                  <a:pos x="68" y="193"/>
                </a:cxn>
                <a:cxn ang="0">
                  <a:pos x="44" y="211"/>
                </a:cxn>
                <a:cxn ang="0">
                  <a:pos x="28" y="219"/>
                </a:cxn>
                <a:cxn ang="0">
                  <a:pos x="20" y="195"/>
                </a:cxn>
                <a:cxn ang="0">
                  <a:pos x="8" y="173"/>
                </a:cxn>
                <a:cxn ang="0">
                  <a:pos x="4" y="171"/>
                </a:cxn>
                <a:cxn ang="0">
                  <a:pos x="2" y="161"/>
                </a:cxn>
                <a:cxn ang="0">
                  <a:pos x="12" y="131"/>
                </a:cxn>
                <a:cxn ang="0">
                  <a:pos x="17" y="121"/>
                </a:cxn>
                <a:cxn ang="0">
                  <a:pos x="7" y="99"/>
                </a:cxn>
                <a:cxn ang="0">
                  <a:pos x="17" y="77"/>
                </a:cxn>
                <a:cxn ang="0">
                  <a:pos x="22" y="69"/>
                </a:cxn>
                <a:cxn ang="0">
                  <a:pos x="29" y="45"/>
                </a:cxn>
                <a:cxn ang="0">
                  <a:pos x="46" y="33"/>
                </a:cxn>
                <a:cxn ang="0">
                  <a:pos x="67" y="13"/>
                </a:cxn>
                <a:cxn ang="0">
                  <a:pos x="89" y="8"/>
                </a:cxn>
                <a:cxn ang="0">
                  <a:pos x="94" y="0"/>
                </a:cxn>
                <a:cxn ang="0">
                  <a:pos x="139" y="35"/>
                </a:cxn>
                <a:cxn ang="0">
                  <a:pos x="128" y="49"/>
                </a:cxn>
                <a:cxn ang="0">
                  <a:pos x="122" y="54"/>
                </a:cxn>
                <a:cxn ang="0">
                  <a:pos x="114" y="57"/>
                </a:cxn>
                <a:cxn ang="0">
                  <a:pos x="115" y="73"/>
                </a:cxn>
              </a:cxnLst>
              <a:rect l="0" t="0" r="r" b="b"/>
              <a:pathLst>
                <a:path w="145" h="221">
                  <a:moveTo>
                    <a:pt x="115" y="73"/>
                  </a:moveTo>
                  <a:lnTo>
                    <a:pt x="101" y="85"/>
                  </a:lnTo>
                  <a:lnTo>
                    <a:pt x="90" y="91"/>
                  </a:lnTo>
                  <a:lnTo>
                    <a:pt x="84" y="95"/>
                  </a:lnTo>
                  <a:lnTo>
                    <a:pt x="77" y="96"/>
                  </a:lnTo>
                  <a:lnTo>
                    <a:pt x="74" y="103"/>
                  </a:lnTo>
                  <a:lnTo>
                    <a:pt x="72" y="105"/>
                  </a:lnTo>
                  <a:lnTo>
                    <a:pt x="71" y="115"/>
                  </a:lnTo>
                  <a:lnTo>
                    <a:pt x="76" y="133"/>
                  </a:lnTo>
                  <a:lnTo>
                    <a:pt x="90" y="139"/>
                  </a:lnTo>
                  <a:lnTo>
                    <a:pt x="96" y="146"/>
                  </a:lnTo>
                  <a:lnTo>
                    <a:pt x="83" y="153"/>
                  </a:lnTo>
                  <a:lnTo>
                    <a:pt x="78" y="149"/>
                  </a:lnTo>
                  <a:lnTo>
                    <a:pt x="79" y="151"/>
                  </a:lnTo>
                  <a:lnTo>
                    <a:pt x="62" y="152"/>
                  </a:lnTo>
                  <a:lnTo>
                    <a:pt x="91" y="155"/>
                  </a:lnTo>
                  <a:lnTo>
                    <a:pt x="83" y="161"/>
                  </a:lnTo>
                  <a:lnTo>
                    <a:pt x="82" y="158"/>
                  </a:lnTo>
                  <a:lnTo>
                    <a:pt x="73" y="167"/>
                  </a:lnTo>
                  <a:lnTo>
                    <a:pt x="67" y="165"/>
                  </a:lnTo>
                  <a:lnTo>
                    <a:pt x="72" y="169"/>
                  </a:lnTo>
                  <a:lnTo>
                    <a:pt x="71" y="170"/>
                  </a:lnTo>
                  <a:lnTo>
                    <a:pt x="70" y="176"/>
                  </a:lnTo>
                  <a:lnTo>
                    <a:pt x="72" y="181"/>
                  </a:lnTo>
                  <a:lnTo>
                    <a:pt x="71" y="180"/>
                  </a:lnTo>
                  <a:lnTo>
                    <a:pt x="68" y="193"/>
                  </a:lnTo>
                  <a:lnTo>
                    <a:pt x="66" y="206"/>
                  </a:lnTo>
                  <a:lnTo>
                    <a:pt x="44" y="211"/>
                  </a:lnTo>
                  <a:lnTo>
                    <a:pt x="42" y="221"/>
                  </a:lnTo>
                  <a:lnTo>
                    <a:pt x="28" y="219"/>
                  </a:lnTo>
                  <a:lnTo>
                    <a:pt x="23" y="206"/>
                  </a:lnTo>
                  <a:lnTo>
                    <a:pt x="20" y="195"/>
                  </a:lnTo>
                  <a:lnTo>
                    <a:pt x="7" y="177"/>
                  </a:lnTo>
                  <a:lnTo>
                    <a:pt x="8" y="173"/>
                  </a:lnTo>
                  <a:lnTo>
                    <a:pt x="5" y="171"/>
                  </a:lnTo>
                  <a:lnTo>
                    <a:pt x="4" y="171"/>
                  </a:lnTo>
                  <a:lnTo>
                    <a:pt x="0" y="162"/>
                  </a:lnTo>
                  <a:lnTo>
                    <a:pt x="2" y="161"/>
                  </a:lnTo>
                  <a:lnTo>
                    <a:pt x="10" y="145"/>
                  </a:lnTo>
                  <a:lnTo>
                    <a:pt x="12" y="131"/>
                  </a:lnTo>
                  <a:lnTo>
                    <a:pt x="12" y="126"/>
                  </a:lnTo>
                  <a:lnTo>
                    <a:pt x="17" y="121"/>
                  </a:lnTo>
                  <a:lnTo>
                    <a:pt x="7" y="115"/>
                  </a:lnTo>
                  <a:lnTo>
                    <a:pt x="7" y="99"/>
                  </a:lnTo>
                  <a:lnTo>
                    <a:pt x="6" y="84"/>
                  </a:lnTo>
                  <a:lnTo>
                    <a:pt x="17" y="77"/>
                  </a:lnTo>
                  <a:lnTo>
                    <a:pt x="28" y="75"/>
                  </a:lnTo>
                  <a:lnTo>
                    <a:pt x="22" y="69"/>
                  </a:lnTo>
                  <a:lnTo>
                    <a:pt x="31" y="49"/>
                  </a:lnTo>
                  <a:lnTo>
                    <a:pt x="29" y="45"/>
                  </a:lnTo>
                  <a:lnTo>
                    <a:pt x="40" y="43"/>
                  </a:lnTo>
                  <a:lnTo>
                    <a:pt x="46" y="33"/>
                  </a:lnTo>
                  <a:lnTo>
                    <a:pt x="52" y="18"/>
                  </a:lnTo>
                  <a:lnTo>
                    <a:pt x="67" y="13"/>
                  </a:lnTo>
                  <a:lnTo>
                    <a:pt x="68" y="8"/>
                  </a:lnTo>
                  <a:lnTo>
                    <a:pt x="89" y="8"/>
                  </a:lnTo>
                  <a:lnTo>
                    <a:pt x="88" y="0"/>
                  </a:lnTo>
                  <a:lnTo>
                    <a:pt x="94" y="0"/>
                  </a:lnTo>
                  <a:lnTo>
                    <a:pt x="127" y="14"/>
                  </a:lnTo>
                  <a:lnTo>
                    <a:pt x="139" y="35"/>
                  </a:lnTo>
                  <a:lnTo>
                    <a:pt x="145" y="50"/>
                  </a:lnTo>
                  <a:lnTo>
                    <a:pt x="128" y="49"/>
                  </a:lnTo>
                  <a:lnTo>
                    <a:pt x="124" y="51"/>
                  </a:lnTo>
                  <a:lnTo>
                    <a:pt x="122" y="54"/>
                  </a:lnTo>
                  <a:lnTo>
                    <a:pt x="120" y="53"/>
                  </a:lnTo>
                  <a:lnTo>
                    <a:pt x="114" y="57"/>
                  </a:lnTo>
                  <a:lnTo>
                    <a:pt x="112" y="66"/>
                  </a:lnTo>
                  <a:lnTo>
                    <a:pt x="115"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9" name="Freeform 388"/>
            <p:cNvSpPr>
              <a:spLocks/>
            </p:cNvSpPr>
            <p:nvPr/>
          </p:nvSpPr>
          <p:spPr bwMode="auto">
            <a:xfrm>
              <a:off x="2793" y="1563"/>
              <a:ext cx="9" cy="16"/>
            </a:xfrm>
            <a:custGeom>
              <a:avLst/>
              <a:gdLst/>
              <a:ahLst/>
              <a:cxnLst>
                <a:cxn ang="0">
                  <a:pos x="8" y="0"/>
                </a:cxn>
                <a:cxn ang="0">
                  <a:pos x="8" y="3"/>
                </a:cxn>
                <a:cxn ang="0">
                  <a:pos x="4" y="12"/>
                </a:cxn>
                <a:cxn ang="0">
                  <a:pos x="3" y="13"/>
                </a:cxn>
                <a:cxn ang="0">
                  <a:pos x="0" y="7"/>
                </a:cxn>
                <a:cxn ang="0">
                  <a:pos x="8" y="0"/>
                </a:cxn>
              </a:cxnLst>
              <a:rect l="0" t="0" r="r" b="b"/>
              <a:pathLst>
                <a:path w="8" h="13">
                  <a:moveTo>
                    <a:pt x="8" y="0"/>
                  </a:moveTo>
                  <a:lnTo>
                    <a:pt x="8" y="3"/>
                  </a:lnTo>
                  <a:lnTo>
                    <a:pt x="4" y="12"/>
                  </a:lnTo>
                  <a:lnTo>
                    <a:pt x="3" y="13"/>
                  </a:lnTo>
                  <a:lnTo>
                    <a:pt x="0" y="7"/>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0" name="Freeform 389"/>
            <p:cNvSpPr>
              <a:spLocks/>
            </p:cNvSpPr>
            <p:nvPr/>
          </p:nvSpPr>
          <p:spPr bwMode="auto">
            <a:xfrm>
              <a:off x="2627" y="1756"/>
              <a:ext cx="69" cy="34"/>
            </a:xfrm>
            <a:custGeom>
              <a:avLst/>
              <a:gdLst/>
              <a:ahLst/>
              <a:cxnLst>
                <a:cxn ang="0">
                  <a:pos x="58" y="18"/>
                </a:cxn>
                <a:cxn ang="0">
                  <a:pos x="56" y="23"/>
                </a:cxn>
                <a:cxn ang="0">
                  <a:pos x="45" y="23"/>
                </a:cxn>
                <a:cxn ang="0">
                  <a:pos x="40" y="30"/>
                </a:cxn>
                <a:cxn ang="0">
                  <a:pos x="30" y="23"/>
                </a:cxn>
                <a:cxn ang="0">
                  <a:pos x="22" y="29"/>
                </a:cxn>
                <a:cxn ang="0">
                  <a:pos x="14" y="30"/>
                </a:cxn>
                <a:cxn ang="0">
                  <a:pos x="5" y="20"/>
                </a:cxn>
                <a:cxn ang="0">
                  <a:pos x="0" y="24"/>
                </a:cxn>
                <a:cxn ang="0">
                  <a:pos x="12" y="6"/>
                </a:cxn>
                <a:cxn ang="0">
                  <a:pos x="16" y="3"/>
                </a:cxn>
                <a:cxn ang="0">
                  <a:pos x="21" y="1"/>
                </a:cxn>
                <a:cxn ang="0">
                  <a:pos x="34" y="0"/>
                </a:cxn>
                <a:cxn ang="0">
                  <a:pos x="48" y="2"/>
                </a:cxn>
                <a:cxn ang="0">
                  <a:pos x="47" y="6"/>
                </a:cxn>
                <a:cxn ang="0">
                  <a:pos x="47" y="8"/>
                </a:cxn>
                <a:cxn ang="0">
                  <a:pos x="47" y="9"/>
                </a:cxn>
                <a:cxn ang="0">
                  <a:pos x="50" y="9"/>
                </a:cxn>
                <a:cxn ang="0">
                  <a:pos x="62" y="13"/>
                </a:cxn>
                <a:cxn ang="0">
                  <a:pos x="62" y="14"/>
                </a:cxn>
                <a:cxn ang="0">
                  <a:pos x="58" y="18"/>
                </a:cxn>
              </a:cxnLst>
              <a:rect l="0" t="0" r="r" b="b"/>
              <a:pathLst>
                <a:path w="62" h="30">
                  <a:moveTo>
                    <a:pt x="58" y="18"/>
                  </a:moveTo>
                  <a:lnTo>
                    <a:pt x="56" y="23"/>
                  </a:lnTo>
                  <a:lnTo>
                    <a:pt x="45" y="23"/>
                  </a:lnTo>
                  <a:lnTo>
                    <a:pt x="40" y="30"/>
                  </a:lnTo>
                  <a:lnTo>
                    <a:pt x="30" y="23"/>
                  </a:lnTo>
                  <a:lnTo>
                    <a:pt x="22" y="29"/>
                  </a:lnTo>
                  <a:lnTo>
                    <a:pt x="14" y="30"/>
                  </a:lnTo>
                  <a:lnTo>
                    <a:pt x="5" y="20"/>
                  </a:lnTo>
                  <a:lnTo>
                    <a:pt x="0" y="24"/>
                  </a:lnTo>
                  <a:lnTo>
                    <a:pt x="12" y="6"/>
                  </a:lnTo>
                  <a:lnTo>
                    <a:pt x="16" y="3"/>
                  </a:lnTo>
                  <a:lnTo>
                    <a:pt x="21" y="1"/>
                  </a:lnTo>
                  <a:lnTo>
                    <a:pt x="34" y="0"/>
                  </a:lnTo>
                  <a:lnTo>
                    <a:pt x="48" y="2"/>
                  </a:lnTo>
                  <a:lnTo>
                    <a:pt x="47" y="6"/>
                  </a:lnTo>
                  <a:lnTo>
                    <a:pt x="47" y="8"/>
                  </a:lnTo>
                  <a:lnTo>
                    <a:pt x="47" y="9"/>
                  </a:lnTo>
                  <a:lnTo>
                    <a:pt x="50" y="9"/>
                  </a:lnTo>
                  <a:lnTo>
                    <a:pt x="62" y="13"/>
                  </a:lnTo>
                  <a:lnTo>
                    <a:pt x="62" y="14"/>
                  </a:lnTo>
                  <a:lnTo>
                    <a:pt x="58"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1" name="Freeform 390"/>
            <p:cNvSpPr>
              <a:spLocks/>
            </p:cNvSpPr>
            <p:nvPr/>
          </p:nvSpPr>
          <p:spPr bwMode="auto">
            <a:xfrm>
              <a:off x="2873" y="1663"/>
              <a:ext cx="285" cy="158"/>
            </a:xfrm>
            <a:custGeom>
              <a:avLst/>
              <a:gdLst/>
              <a:ahLst/>
              <a:cxnLst>
                <a:cxn ang="0">
                  <a:pos x="135" y="0"/>
                </a:cxn>
                <a:cxn ang="0">
                  <a:pos x="124" y="3"/>
                </a:cxn>
                <a:cxn ang="0">
                  <a:pos x="107" y="12"/>
                </a:cxn>
                <a:cxn ang="0">
                  <a:pos x="108" y="19"/>
                </a:cxn>
                <a:cxn ang="0">
                  <a:pos x="84" y="14"/>
                </a:cxn>
                <a:cxn ang="0">
                  <a:pos x="60" y="9"/>
                </a:cxn>
                <a:cxn ang="0">
                  <a:pos x="38" y="9"/>
                </a:cxn>
                <a:cxn ang="0">
                  <a:pos x="14" y="9"/>
                </a:cxn>
                <a:cxn ang="0">
                  <a:pos x="21" y="28"/>
                </a:cxn>
                <a:cxn ang="0">
                  <a:pos x="20" y="37"/>
                </a:cxn>
                <a:cxn ang="0">
                  <a:pos x="6" y="55"/>
                </a:cxn>
                <a:cxn ang="0">
                  <a:pos x="4" y="60"/>
                </a:cxn>
                <a:cxn ang="0">
                  <a:pos x="0" y="72"/>
                </a:cxn>
                <a:cxn ang="0">
                  <a:pos x="11" y="80"/>
                </a:cxn>
                <a:cxn ang="0">
                  <a:pos x="12" y="79"/>
                </a:cxn>
                <a:cxn ang="0">
                  <a:pos x="39" y="81"/>
                </a:cxn>
                <a:cxn ang="0">
                  <a:pos x="63" y="74"/>
                </a:cxn>
                <a:cxn ang="0">
                  <a:pos x="75" y="64"/>
                </a:cxn>
                <a:cxn ang="0">
                  <a:pos x="80" y="66"/>
                </a:cxn>
                <a:cxn ang="0">
                  <a:pos x="90" y="76"/>
                </a:cxn>
                <a:cxn ang="0">
                  <a:pos x="101" y="87"/>
                </a:cxn>
                <a:cxn ang="0">
                  <a:pos x="113" y="97"/>
                </a:cxn>
                <a:cxn ang="0">
                  <a:pos x="124" y="108"/>
                </a:cxn>
                <a:cxn ang="0">
                  <a:pos x="136" y="100"/>
                </a:cxn>
                <a:cxn ang="0">
                  <a:pos x="140" y="103"/>
                </a:cxn>
                <a:cxn ang="0">
                  <a:pos x="138" y="94"/>
                </a:cxn>
                <a:cxn ang="0">
                  <a:pos x="141" y="100"/>
                </a:cxn>
                <a:cxn ang="0">
                  <a:pos x="152" y="103"/>
                </a:cxn>
                <a:cxn ang="0">
                  <a:pos x="137" y="104"/>
                </a:cxn>
                <a:cxn ang="0">
                  <a:pos x="143" y="108"/>
                </a:cxn>
                <a:cxn ang="0">
                  <a:pos x="155" y="111"/>
                </a:cxn>
                <a:cxn ang="0">
                  <a:pos x="167" y="114"/>
                </a:cxn>
                <a:cxn ang="0">
                  <a:pos x="153" y="123"/>
                </a:cxn>
                <a:cxn ang="0">
                  <a:pos x="164" y="128"/>
                </a:cxn>
                <a:cxn ang="0">
                  <a:pos x="170" y="134"/>
                </a:cxn>
                <a:cxn ang="0">
                  <a:pos x="172" y="141"/>
                </a:cxn>
                <a:cxn ang="0">
                  <a:pos x="192" y="133"/>
                </a:cxn>
                <a:cxn ang="0">
                  <a:pos x="202" y="132"/>
                </a:cxn>
                <a:cxn ang="0">
                  <a:pos x="210" y="126"/>
                </a:cxn>
                <a:cxn ang="0">
                  <a:pos x="198" y="126"/>
                </a:cxn>
                <a:cxn ang="0">
                  <a:pos x="185" y="115"/>
                </a:cxn>
                <a:cxn ang="0">
                  <a:pos x="189" y="106"/>
                </a:cxn>
                <a:cxn ang="0">
                  <a:pos x="186" y="111"/>
                </a:cxn>
                <a:cxn ang="0">
                  <a:pos x="191" y="108"/>
                </a:cxn>
                <a:cxn ang="0">
                  <a:pos x="210" y="100"/>
                </a:cxn>
                <a:cxn ang="0">
                  <a:pos x="232" y="92"/>
                </a:cxn>
                <a:cxn ang="0">
                  <a:pos x="240" y="91"/>
                </a:cxn>
                <a:cxn ang="0">
                  <a:pos x="245" y="81"/>
                </a:cxn>
                <a:cxn ang="0">
                  <a:pos x="256" y="75"/>
                </a:cxn>
                <a:cxn ang="0">
                  <a:pos x="248" y="51"/>
                </a:cxn>
                <a:cxn ang="0">
                  <a:pos x="226" y="44"/>
                </a:cxn>
                <a:cxn ang="0">
                  <a:pos x="206" y="38"/>
                </a:cxn>
                <a:cxn ang="0">
                  <a:pos x="196" y="39"/>
                </a:cxn>
                <a:cxn ang="0">
                  <a:pos x="178" y="24"/>
                </a:cxn>
                <a:cxn ang="0">
                  <a:pos x="160" y="8"/>
                </a:cxn>
                <a:cxn ang="0">
                  <a:pos x="158" y="2"/>
                </a:cxn>
                <a:cxn ang="0">
                  <a:pos x="135" y="0"/>
                </a:cxn>
              </a:cxnLst>
              <a:rect l="0" t="0" r="r" b="b"/>
              <a:pathLst>
                <a:path w="256" h="141">
                  <a:moveTo>
                    <a:pt x="135" y="0"/>
                  </a:moveTo>
                  <a:lnTo>
                    <a:pt x="124" y="3"/>
                  </a:lnTo>
                  <a:lnTo>
                    <a:pt x="107" y="12"/>
                  </a:lnTo>
                  <a:lnTo>
                    <a:pt x="108" y="19"/>
                  </a:lnTo>
                  <a:lnTo>
                    <a:pt x="84" y="14"/>
                  </a:lnTo>
                  <a:lnTo>
                    <a:pt x="60" y="9"/>
                  </a:lnTo>
                  <a:lnTo>
                    <a:pt x="38" y="9"/>
                  </a:lnTo>
                  <a:lnTo>
                    <a:pt x="14" y="9"/>
                  </a:lnTo>
                  <a:lnTo>
                    <a:pt x="21" y="28"/>
                  </a:lnTo>
                  <a:lnTo>
                    <a:pt x="20" y="37"/>
                  </a:lnTo>
                  <a:lnTo>
                    <a:pt x="6" y="55"/>
                  </a:lnTo>
                  <a:lnTo>
                    <a:pt x="4" y="60"/>
                  </a:lnTo>
                  <a:lnTo>
                    <a:pt x="0" y="72"/>
                  </a:lnTo>
                  <a:lnTo>
                    <a:pt x="11" y="80"/>
                  </a:lnTo>
                  <a:lnTo>
                    <a:pt x="12" y="79"/>
                  </a:lnTo>
                  <a:lnTo>
                    <a:pt x="39" y="81"/>
                  </a:lnTo>
                  <a:lnTo>
                    <a:pt x="63" y="74"/>
                  </a:lnTo>
                  <a:lnTo>
                    <a:pt x="75" y="64"/>
                  </a:lnTo>
                  <a:lnTo>
                    <a:pt x="80" y="66"/>
                  </a:lnTo>
                  <a:lnTo>
                    <a:pt x="90" y="76"/>
                  </a:lnTo>
                  <a:lnTo>
                    <a:pt x="101" y="87"/>
                  </a:lnTo>
                  <a:lnTo>
                    <a:pt x="113" y="97"/>
                  </a:lnTo>
                  <a:lnTo>
                    <a:pt x="124" y="108"/>
                  </a:lnTo>
                  <a:lnTo>
                    <a:pt x="136" y="100"/>
                  </a:lnTo>
                  <a:lnTo>
                    <a:pt x="140" y="103"/>
                  </a:lnTo>
                  <a:lnTo>
                    <a:pt x="138" y="94"/>
                  </a:lnTo>
                  <a:lnTo>
                    <a:pt x="141" y="100"/>
                  </a:lnTo>
                  <a:lnTo>
                    <a:pt x="152" y="103"/>
                  </a:lnTo>
                  <a:lnTo>
                    <a:pt x="137" y="104"/>
                  </a:lnTo>
                  <a:lnTo>
                    <a:pt x="143" y="108"/>
                  </a:lnTo>
                  <a:lnTo>
                    <a:pt x="155" y="111"/>
                  </a:lnTo>
                  <a:lnTo>
                    <a:pt x="167" y="114"/>
                  </a:lnTo>
                  <a:lnTo>
                    <a:pt x="153" y="123"/>
                  </a:lnTo>
                  <a:lnTo>
                    <a:pt x="164" y="128"/>
                  </a:lnTo>
                  <a:lnTo>
                    <a:pt x="170" y="134"/>
                  </a:lnTo>
                  <a:lnTo>
                    <a:pt x="172" y="141"/>
                  </a:lnTo>
                  <a:lnTo>
                    <a:pt x="192" y="133"/>
                  </a:lnTo>
                  <a:lnTo>
                    <a:pt x="202" y="132"/>
                  </a:lnTo>
                  <a:lnTo>
                    <a:pt x="210" y="126"/>
                  </a:lnTo>
                  <a:lnTo>
                    <a:pt x="198" y="126"/>
                  </a:lnTo>
                  <a:lnTo>
                    <a:pt x="185" y="115"/>
                  </a:lnTo>
                  <a:lnTo>
                    <a:pt x="189" y="106"/>
                  </a:lnTo>
                  <a:lnTo>
                    <a:pt x="186" y="111"/>
                  </a:lnTo>
                  <a:lnTo>
                    <a:pt x="191" y="108"/>
                  </a:lnTo>
                  <a:lnTo>
                    <a:pt x="210" y="100"/>
                  </a:lnTo>
                  <a:lnTo>
                    <a:pt x="232" y="92"/>
                  </a:lnTo>
                  <a:lnTo>
                    <a:pt x="240" y="91"/>
                  </a:lnTo>
                  <a:lnTo>
                    <a:pt x="245" y="81"/>
                  </a:lnTo>
                  <a:lnTo>
                    <a:pt x="256" y="75"/>
                  </a:lnTo>
                  <a:lnTo>
                    <a:pt x="248" y="51"/>
                  </a:lnTo>
                  <a:lnTo>
                    <a:pt x="226" y="44"/>
                  </a:lnTo>
                  <a:lnTo>
                    <a:pt x="206" y="38"/>
                  </a:lnTo>
                  <a:lnTo>
                    <a:pt x="196" y="39"/>
                  </a:lnTo>
                  <a:lnTo>
                    <a:pt x="178" y="24"/>
                  </a:lnTo>
                  <a:lnTo>
                    <a:pt x="160" y="8"/>
                  </a:lnTo>
                  <a:lnTo>
                    <a:pt x="158" y="2"/>
                  </a:lnTo>
                  <a:lnTo>
                    <a:pt x="13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2" name="Freeform 391"/>
            <p:cNvSpPr>
              <a:spLocks/>
            </p:cNvSpPr>
            <p:nvPr/>
          </p:nvSpPr>
          <p:spPr bwMode="auto">
            <a:xfrm>
              <a:off x="2827" y="1788"/>
              <a:ext cx="69" cy="82"/>
            </a:xfrm>
            <a:custGeom>
              <a:avLst/>
              <a:gdLst/>
              <a:ahLst/>
              <a:cxnLst>
                <a:cxn ang="0">
                  <a:pos x="11" y="16"/>
                </a:cxn>
                <a:cxn ang="0">
                  <a:pos x="11" y="17"/>
                </a:cxn>
                <a:cxn ang="0">
                  <a:pos x="7" y="18"/>
                </a:cxn>
                <a:cxn ang="0">
                  <a:pos x="6" y="22"/>
                </a:cxn>
                <a:cxn ang="0">
                  <a:pos x="10" y="22"/>
                </a:cxn>
                <a:cxn ang="0">
                  <a:pos x="11" y="24"/>
                </a:cxn>
                <a:cxn ang="0">
                  <a:pos x="10" y="27"/>
                </a:cxn>
                <a:cxn ang="0">
                  <a:pos x="7" y="30"/>
                </a:cxn>
                <a:cxn ang="0">
                  <a:pos x="7" y="31"/>
                </a:cxn>
                <a:cxn ang="0">
                  <a:pos x="10" y="34"/>
                </a:cxn>
                <a:cxn ang="0">
                  <a:pos x="16" y="37"/>
                </a:cxn>
                <a:cxn ang="0">
                  <a:pos x="11" y="40"/>
                </a:cxn>
                <a:cxn ang="0">
                  <a:pos x="15" y="42"/>
                </a:cxn>
                <a:cxn ang="0">
                  <a:pos x="15" y="46"/>
                </a:cxn>
                <a:cxn ang="0">
                  <a:pos x="6" y="47"/>
                </a:cxn>
                <a:cxn ang="0">
                  <a:pos x="10" y="51"/>
                </a:cxn>
                <a:cxn ang="0">
                  <a:pos x="9" y="52"/>
                </a:cxn>
                <a:cxn ang="0">
                  <a:pos x="6" y="51"/>
                </a:cxn>
                <a:cxn ang="0">
                  <a:pos x="3" y="55"/>
                </a:cxn>
                <a:cxn ang="0">
                  <a:pos x="0" y="57"/>
                </a:cxn>
                <a:cxn ang="0">
                  <a:pos x="4" y="61"/>
                </a:cxn>
                <a:cxn ang="0">
                  <a:pos x="0" y="63"/>
                </a:cxn>
                <a:cxn ang="0">
                  <a:pos x="0" y="64"/>
                </a:cxn>
                <a:cxn ang="0">
                  <a:pos x="0" y="66"/>
                </a:cxn>
                <a:cxn ang="0">
                  <a:pos x="10" y="71"/>
                </a:cxn>
                <a:cxn ang="0">
                  <a:pos x="16" y="76"/>
                </a:cxn>
                <a:cxn ang="0">
                  <a:pos x="18" y="64"/>
                </a:cxn>
                <a:cxn ang="0">
                  <a:pos x="27" y="66"/>
                </a:cxn>
                <a:cxn ang="0">
                  <a:pos x="31" y="76"/>
                </a:cxn>
                <a:cxn ang="0">
                  <a:pos x="34" y="75"/>
                </a:cxn>
                <a:cxn ang="0">
                  <a:pos x="34" y="72"/>
                </a:cxn>
                <a:cxn ang="0">
                  <a:pos x="39" y="71"/>
                </a:cxn>
                <a:cxn ang="0">
                  <a:pos x="42" y="72"/>
                </a:cxn>
                <a:cxn ang="0">
                  <a:pos x="45" y="69"/>
                </a:cxn>
                <a:cxn ang="0">
                  <a:pos x="47" y="70"/>
                </a:cxn>
                <a:cxn ang="0">
                  <a:pos x="49" y="70"/>
                </a:cxn>
                <a:cxn ang="0">
                  <a:pos x="52" y="69"/>
                </a:cxn>
                <a:cxn ang="0">
                  <a:pos x="57" y="67"/>
                </a:cxn>
                <a:cxn ang="0">
                  <a:pos x="60" y="71"/>
                </a:cxn>
                <a:cxn ang="0">
                  <a:pos x="63" y="70"/>
                </a:cxn>
                <a:cxn ang="0">
                  <a:pos x="58" y="64"/>
                </a:cxn>
                <a:cxn ang="0">
                  <a:pos x="64" y="54"/>
                </a:cxn>
                <a:cxn ang="0">
                  <a:pos x="58" y="45"/>
                </a:cxn>
                <a:cxn ang="0">
                  <a:pos x="59" y="34"/>
                </a:cxn>
                <a:cxn ang="0">
                  <a:pos x="58" y="28"/>
                </a:cxn>
                <a:cxn ang="0">
                  <a:pos x="53" y="27"/>
                </a:cxn>
                <a:cxn ang="0">
                  <a:pos x="48" y="25"/>
                </a:cxn>
                <a:cxn ang="0">
                  <a:pos x="42" y="22"/>
                </a:cxn>
                <a:cxn ang="0">
                  <a:pos x="22" y="0"/>
                </a:cxn>
                <a:cxn ang="0">
                  <a:pos x="1" y="5"/>
                </a:cxn>
                <a:cxn ang="0">
                  <a:pos x="5" y="11"/>
                </a:cxn>
                <a:cxn ang="0">
                  <a:pos x="6" y="11"/>
                </a:cxn>
                <a:cxn ang="0">
                  <a:pos x="5" y="13"/>
                </a:cxn>
                <a:cxn ang="0">
                  <a:pos x="6" y="15"/>
                </a:cxn>
                <a:cxn ang="0">
                  <a:pos x="11" y="16"/>
                </a:cxn>
              </a:cxnLst>
              <a:rect l="0" t="0" r="r" b="b"/>
              <a:pathLst>
                <a:path w="64" h="76">
                  <a:moveTo>
                    <a:pt x="11" y="16"/>
                  </a:moveTo>
                  <a:lnTo>
                    <a:pt x="11" y="17"/>
                  </a:lnTo>
                  <a:lnTo>
                    <a:pt x="7" y="18"/>
                  </a:lnTo>
                  <a:lnTo>
                    <a:pt x="6" y="22"/>
                  </a:lnTo>
                  <a:lnTo>
                    <a:pt x="10" y="22"/>
                  </a:lnTo>
                  <a:lnTo>
                    <a:pt x="11" y="24"/>
                  </a:lnTo>
                  <a:lnTo>
                    <a:pt x="10" y="27"/>
                  </a:lnTo>
                  <a:lnTo>
                    <a:pt x="7" y="30"/>
                  </a:lnTo>
                  <a:lnTo>
                    <a:pt x="7" y="31"/>
                  </a:lnTo>
                  <a:lnTo>
                    <a:pt x="10" y="34"/>
                  </a:lnTo>
                  <a:lnTo>
                    <a:pt x="16" y="37"/>
                  </a:lnTo>
                  <a:lnTo>
                    <a:pt x="11" y="40"/>
                  </a:lnTo>
                  <a:lnTo>
                    <a:pt x="15" y="42"/>
                  </a:lnTo>
                  <a:lnTo>
                    <a:pt x="15" y="46"/>
                  </a:lnTo>
                  <a:lnTo>
                    <a:pt x="6" y="47"/>
                  </a:lnTo>
                  <a:lnTo>
                    <a:pt x="10" y="51"/>
                  </a:lnTo>
                  <a:lnTo>
                    <a:pt x="9" y="52"/>
                  </a:lnTo>
                  <a:lnTo>
                    <a:pt x="6" y="51"/>
                  </a:lnTo>
                  <a:lnTo>
                    <a:pt x="3" y="55"/>
                  </a:lnTo>
                  <a:lnTo>
                    <a:pt x="0" y="57"/>
                  </a:lnTo>
                  <a:lnTo>
                    <a:pt x="4" y="61"/>
                  </a:lnTo>
                  <a:lnTo>
                    <a:pt x="0" y="63"/>
                  </a:lnTo>
                  <a:lnTo>
                    <a:pt x="0" y="64"/>
                  </a:lnTo>
                  <a:lnTo>
                    <a:pt x="0" y="66"/>
                  </a:lnTo>
                  <a:lnTo>
                    <a:pt x="10" y="71"/>
                  </a:lnTo>
                  <a:lnTo>
                    <a:pt x="16" y="76"/>
                  </a:lnTo>
                  <a:lnTo>
                    <a:pt x="18" y="64"/>
                  </a:lnTo>
                  <a:lnTo>
                    <a:pt x="27" y="66"/>
                  </a:lnTo>
                  <a:lnTo>
                    <a:pt x="31" y="76"/>
                  </a:lnTo>
                  <a:lnTo>
                    <a:pt x="34" y="75"/>
                  </a:lnTo>
                  <a:lnTo>
                    <a:pt x="34" y="72"/>
                  </a:lnTo>
                  <a:lnTo>
                    <a:pt x="39" y="71"/>
                  </a:lnTo>
                  <a:lnTo>
                    <a:pt x="42" y="72"/>
                  </a:lnTo>
                  <a:lnTo>
                    <a:pt x="45" y="69"/>
                  </a:lnTo>
                  <a:lnTo>
                    <a:pt x="47" y="70"/>
                  </a:lnTo>
                  <a:lnTo>
                    <a:pt x="49" y="70"/>
                  </a:lnTo>
                  <a:lnTo>
                    <a:pt x="52" y="69"/>
                  </a:lnTo>
                  <a:lnTo>
                    <a:pt x="57" y="67"/>
                  </a:lnTo>
                  <a:lnTo>
                    <a:pt x="60" y="71"/>
                  </a:lnTo>
                  <a:lnTo>
                    <a:pt x="63" y="70"/>
                  </a:lnTo>
                  <a:lnTo>
                    <a:pt x="58" y="64"/>
                  </a:lnTo>
                  <a:lnTo>
                    <a:pt x="64" y="54"/>
                  </a:lnTo>
                  <a:lnTo>
                    <a:pt x="58" y="45"/>
                  </a:lnTo>
                  <a:lnTo>
                    <a:pt x="59" y="34"/>
                  </a:lnTo>
                  <a:lnTo>
                    <a:pt x="58" y="28"/>
                  </a:lnTo>
                  <a:lnTo>
                    <a:pt x="53" y="27"/>
                  </a:lnTo>
                  <a:lnTo>
                    <a:pt x="48" y="25"/>
                  </a:lnTo>
                  <a:lnTo>
                    <a:pt x="42" y="22"/>
                  </a:lnTo>
                  <a:lnTo>
                    <a:pt x="22" y="0"/>
                  </a:lnTo>
                  <a:lnTo>
                    <a:pt x="1" y="5"/>
                  </a:lnTo>
                  <a:lnTo>
                    <a:pt x="5" y="11"/>
                  </a:lnTo>
                  <a:lnTo>
                    <a:pt x="6" y="11"/>
                  </a:lnTo>
                  <a:lnTo>
                    <a:pt x="5" y="13"/>
                  </a:lnTo>
                  <a:lnTo>
                    <a:pt x="6" y="15"/>
                  </a:lnTo>
                  <a:lnTo>
                    <a:pt x="11"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3" name="Freeform 392"/>
            <p:cNvSpPr>
              <a:spLocks/>
            </p:cNvSpPr>
            <p:nvPr/>
          </p:nvSpPr>
          <p:spPr bwMode="auto">
            <a:xfrm>
              <a:off x="554" y="1316"/>
              <a:ext cx="1144" cy="558"/>
            </a:xfrm>
            <a:custGeom>
              <a:avLst/>
              <a:gdLst/>
              <a:ahLst/>
              <a:cxnLst>
                <a:cxn ang="0">
                  <a:pos x="793" y="84"/>
                </a:cxn>
                <a:cxn ang="0">
                  <a:pos x="839" y="34"/>
                </a:cxn>
                <a:cxn ang="0">
                  <a:pos x="756" y="56"/>
                </a:cxn>
                <a:cxn ang="0">
                  <a:pos x="723" y="32"/>
                </a:cxn>
                <a:cxn ang="0">
                  <a:pos x="721" y="2"/>
                </a:cxn>
                <a:cxn ang="0">
                  <a:pos x="709" y="38"/>
                </a:cxn>
                <a:cxn ang="0">
                  <a:pos x="655" y="75"/>
                </a:cxn>
                <a:cxn ang="0">
                  <a:pos x="666" y="55"/>
                </a:cxn>
                <a:cxn ang="0">
                  <a:pos x="627" y="63"/>
                </a:cxn>
                <a:cxn ang="0">
                  <a:pos x="544" y="52"/>
                </a:cxn>
                <a:cxn ang="0">
                  <a:pos x="509" y="64"/>
                </a:cxn>
                <a:cxn ang="0">
                  <a:pos x="437" y="45"/>
                </a:cxn>
                <a:cxn ang="0">
                  <a:pos x="346" y="36"/>
                </a:cxn>
                <a:cxn ang="0">
                  <a:pos x="288" y="28"/>
                </a:cxn>
                <a:cxn ang="0">
                  <a:pos x="124" y="69"/>
                </a:cxn>
                <a:cxn ang="0">
                  <a:pos x="22" y="188"/>
                </a:cxn>
                <a:cxn ang="0">
                  <a:pos x="72" y="254"/>
                </a:cxn>
                <a:cxn ang="0">
                  <a:pos x="47" y="277"/>
                </a:cxn>
                <a:cxn ang="0">
                  <a:pos x="61" y="298"/>
                </a:cxn>
                <a:cxn ang="0">
                  <a:pos x="63" y="321"/>
                </a:cxn>
                <a:cxn ang="0">
                  <a:pos x="37" y="337"/>
                </a:cxn>
                <a:cxn ang="0">
                  <a:pos x="59" y="344"/>
                </a:cxn>
                <a:cxn ang="0">
                  <a:pos x="70" y="358"/>
                </a:cxn>
                <a:cxn ang="0">
                  <a:pos x="75" y="370"/>
                </a:cxn>
                <a:cxn ang="0">
                  <a:pos x="271" y="373"/>
                </a:cxn>
                <a:cxn ang="0">
                  <a:pos x="468" y="367"/>
                </a:cxn>
                <a:cxn ang="0">
                  <a:pos x="582" y="409"/>
                </a:cxn>
                <a:cxn ang="0">
                  <a:pos x="579" y="495"/>
                </a:cxn>
                <a:cxn ang="0">
                  <a:pos x="695" y="457"/>
                </a:cxn>
                <a:cxn ang="0">
                  <a:pos x="820" y="403"/>
                </a:cxn>
                <a:cxn ang="0">
                  <a:pos x="868" y="428"/>
                </a:cxn>
                <a:cxn ang="0">
                  <a:pos x="841" y="451"/>
                </a:cxn>
                <a:cxn ang="0">
                  <a:pos x="913" y="439"/>
                </a:cxn>
                <a:cxn ang="0">
                  <a:pos x="865" y="408"/>
                </a:cxn>
                <a:cxn ang="0">
                  <a:pos x="891" y="378"/>
                </a:cxn>
                <a:cxn ang="0">
                  <a:pos x="809" y="388"/>
                </a:cxn>
                <a:cxn ang="0">
                  <a:pos x="978" y="337"/>
                </a:cxn>
                <a:cxn ang="0">
                  <a:pos x="1031" y="297"/>
                </a:cxn>
                <a:cxn ang="0">
                  <a:pos x="976" y="295"/>
                </a:cxn>
                <a:cxn ang="0">
                  <a:pos x="987" y="272"/>
                </a:cxn>
                <a:cxn ang="0">
                  <a:pos x="981" y="260"/>
                </a:cxn>
                <a:cxn ang="0">
                  <a:pos x="966" y="238"/>
                </a:cxn>
                <a:cxn ang="0">
                  <a:pos x="966" y="218"/>
                </a:cxn>
                <a:cxn ang="0">
                  <a:pos x="965" y="188"/>
                </a:cxn>
                <a:cxn ang="0">
                  <a:pos x="942" y="201"/>
                </a:cxn>
                <a:cxn ang="0">
                  <a:pos x="899" y="219"/>
                </a:cxn>
                <a:cxn ang="0">
                  <a:pos x="893" y="194"/>
                </a:cxn>
                <a:cxn ang="0">
                  <a:pos x="883" y="160"/>
                </a:cxn>
                <a:cxn ang="0">
                  <a:pos x="810" y="163"/>
                </a:cxn>
                <a:cxn ang="0">
                  <a:pos x="772" y="254"/>
                </a:cxn>
                <a:cxn ang="0">
                  <a:pos x="702" y="327"/>
                </a:cxn>
                <a:cxn ang="0">
                  <a:pos x="682" y="284"/>
                </a:cxn>
                <a:cxn ang="0">
                  <a:pos x="599" y="231"/>
                </a:cxn>
                <a:cxn ang="0">
                  <a:pos x="570" y="201"/>
                </a:cxn>
                <a:cxn ang="0">
                  <a:pos x="647" y="140"/>
                </a:cxn>
                <a:cxn ang="0">
                  <a:pos x="685" y="122"/>
                </a:cxn>
                <a:cxn ang="0">
                  <a:pos x="723" y="96"/>
                </a:cxn>
              </a:cxnLst>
              <a:rect l="0" t="0" r="r" b="b"/>
              <a:pathLst>
                <a:path w="1031" h="502">
                  <a:moveTo>
                    <a:pt x="759" y="87"/>
                  </a:moveTo>
                  <a:lnTo>
                    <a:pt x="753" y="81"/>
                  </a:lnTo>
                  <a:lnTo>
                    <a:pt x="769" y="82"/>
                  </a:lnTo>
                  <a:lnTo>
                    <a:pt x="777" y="86"/>
                  </a:lnTo>
                  <a:lnTo>
                    <a:pt x="785" y="85"/>
                  </a:lnTo>
                  <a:lnTo>
                    <a:pt x="779" y="76"/>
                  </a:lnTo>
                  <a:lnTo>
                    <a:pt x="785" y="78"/>
                  </a:lnTo>
                  <a:lnTo>
                    <a:pt x="789" y="79"/>
                  </a:lnTo>
                  <a:lnTo>
                    <a:pt x="793" y="84"/>
                  </a:lnTo>
                  <a:lnTo>
                    <a:pt x="822" y="73"/>
                  </a:lnTo>
                  <a:lnTo>
                    <a:pt x="827" y="66"/>
                  </a:lnTo>
                  <a:lnTo>
                    <a:pt x="826" y="57"/>
                  </a:lnTo>
                  <a:lnTo>
                    <a:pt x="827" y="52"/>
                  </a:lnTo>
                  <a:lnTo>
                    <a:pt x="841" y="48"/>
                  </a:lnTo>
                  <a:lnTo>
                    <a:pt x="833" y="45"/>
                  </a:lnTo>
                  <a:lnTo>
                    <a:pt x="845" y="40"/>
                  </a:lnTo>
                  <a:lnTo>
                    <a:pt x="826" y="36"/>
                  </a:lnTo>
                  <a:lnTo>
                    <a:pt x="839" y="34"/>
                  </a:lnTo>
                  <a:lnTo>
                    <a:pt x="804" y="33"/>
                  </a:lnTo>
                  <a:lnTo>
                    <a:pt x="801" y="42"/>
                  </a:lnTo>
                  <a:lnTo>
                    <a:pt x="802" y="45"/>
                  </a:lnTo>
                  <a:lnTo>
                    <a:pt x="801" y="48"/>
                  </a:lnTo>
                  <a:lnTo>
                    <a:pt x="790" y="48"/>
                  </a:lnTo>
                  <a:lnTo>
                    <a:pt x="763" y="69"/>
                  </a:lnTo>
                  <a:lnTo>
                    <a:pt x="754" y="70"/>
                  </a:lnTo>
                  <a:lnTo>
                    <a:pt x="751" y="58"/>
                  </a:lnTo>
                  <a:lnTo>
                    <a:pt x="756" y="56"/>
                  </a:lnTo>
                  <a:lnTo>
                    <a:pt x="763" y="45"/>
                  </a:lnTo>
                  <a:lnTo>
                    <a:pt x="753" y="40"/>
                  </a:lnTo>
                  <a:lnTo>
                    <a:pt x="731" y="56"/>
                  </a:lnTo>
                  <a:lnTo>
                    <a:pt x="737" y="43"/>
                  </a:lnTo>
                  <a:lnTo>
                    <a:pt x="732" y="39"/>
                  </a:lnTo>
                  <a:lnTo>
                    <a:pt x="744" y="37"/>
                  </a:lnTo>
                  <a:lnTo>
                    <a:pt x="737" y="34"/>
                  </a:lnTo>
                  <a:lnTo>
                    <a:pt x="724" y="33"/>
                  </a:lnTo>
                  <a:lnTo>
                    <a:pt x="723" y="32"/>
                  </a:lnTo>
                  <a:lnTo>
                    <a:pt x="732" y="27"/>
                  </a:lnTo>
                  <a:lnTo>
                    <a:pt x="732" y="25"/>
                  </a:lnTo>
                  <a:lnTo>
                    <a:pt x="738" y="25"/>
                  </a:lnTo>
                  <a:lnTo>
                    <a:pt x="733" y="16"/>
                  </a:lnTo>
                  <a:lnTo>
                    <a:pt x="738" y="7"/>
                  </a:lnTo>
                  <a:lnTo>
                    <a:pt x="731" y="2"/>
                  </a:lnTo>
                  <a:lnTo>
                    <a:pt x="726" y="2"/>
                  </a:lnTo>
                  <a:lnTo>
                    <a:pt x="730" y="0"/>
                  </a:lnTo>
                  <a:lnTo>
                    <a:pt x="721" y="2"/>
                  </a:lnTo>
                  <a:lnTo>
                    <a:pt x="726" y="2"/>
                  </a:lnTo>
                  <a:lnTo>
                    <a:pt x="708" y="6"/>
                  </a:lnTo>
                  <a:lnTo>
                    <a:pt x="711" y="9"/>
                  </a:lnTo>
                  <a:lnTo>
                    <a:pt x="699" y="9"/>
                  </a:lnTo>
                  <a:lnTo>
                    <a:pt x="694" y="19"/>
                  </a:lnTo>
                  <a:lnTo>
                    <a:pt x="696" y="20"/>
                  </a:lnTo>
                  <a:lnTo>
                    <a:pt x="688" y="22"/>
                  </a:lnTo>
                  <a:lnTo>
                    <a:pt x="683" y="31"/>
                  </a:lnTo>
                  <a:lnTo>
                    <a:pt x="709" y="38"/>
                  </a:lnTo>
                  <a:lnTo>
                    <a:pt x="701" y="40"/>
                  </a:lnTo>
                  <a:lnTo>
                    <a:pt x="702" y="38"/>
                  </a:lnTo>
                  <a:lnTo>
                    <a:pt x="696" y="42"/>
                  </a:lnTo>
                  <a:lnTo>
                    <a:pt x="689" y="48"/>
                  </a:lnTo>
                  <a:lnTo>
                    <a:pt x="701" y="44"/>
                  </a:lnTo>
                  <a:lnTo>
                    <a:pt x="695" y="50"/>
                  </a:lnTo>
                  <a:lnTo>
                    <a:pt x="671" y="58"/>
                  </a:lnTo>
                  <a:lnTo>
                    <a:pt x="661" y="69"/>
                  </a:lnTo>
                  <a:lnTo>
                    <a:pt x="655" y="75"/>
                  </a:lnTo>
                  <a:lnTo>
                    <a:pt x="647" y="75"/>
                  </a:lnTo>
                  <a:lnTo>
                    <a:pt x="648" y="79"/>
                  </a:lnTo>
                  <a:lnTo>
                    <a:pt x="647" y="75"/>
                  </a:lnTo>
                  <a:lnTo>
                    <a:pt x="648" y="75"/>
                  </a:lnTo>
                  <a:lnTo>
                    <a:pt x="657" y="74"/>
                  </a:lnTo>
                  <a:lnTo>
                    <a:pt x="653" y="72"/>
                  </a:lnTo>
                  <a:lnTo>
                    <a:pt x="657" y="68"/>
                  </a:lnTo>
                  <a:lnTo>
                    <a:pt x="651" y="69"/>
                  </a:lnTo>
                  <a:lnTo>
                    <a:pt x="666" y="55"/>
                  </a:lnTo>
                  <a:lnTo>
                    <a:pt x="655" y="57"/>
                  </a:lnTo>
                  <a:lnTo>
                    <a:pt x="658" y="55"/>
                  </a:lnTo>
                  <a:lnTo>
                    <a:pt x="645" y="52"/>
                  </a:lnTo>
                  <a:lnTo>
                    <a:pt x="635" y="56"/>
                  </a:lnTo>
                  <a:lnTo>
                    <a:pt x="637" y="61"/>
                  </a:lnTo>
                  <a:lnTo>
                    <a:pt x="646" y="62"/>
                  </a:lnTo>
                  <a:lnTo>
                    <a:pt x="634" y="63"/>
                  </a:lnTo>
                  <a:lnTo>
                    <a:pt x="630" y="58"/>
                  </a:lnTo>
                  <a:lnTo>
                    <a:pt x="627" y="63"/>
                  </a:lnTo>
                  <a:lnTo>
                    <a:pt x="603" y="62"/>
                  </a:lnTo>
                  <a:lnTo>
                    <a:pt x="580" y="62"/>
                  </a:lnTo>
                  <a:lnTo>
                    <a:pt x="573" y="58"/>
                  </a:lnTo>
                  <a:lnTo>
                    <a:pt x="563" y="57"/>
                  </a:lnTo>
                  <a:lnTo>
                    <a:pt x="559" y="51"/>
                  </a:lnTo>
                  <a:lnTo>
                    <a:pt x="556" y="45"/>
                  </a:lnTo>
                  <a:lnTo>
                    <a:pt x="519" y="54"/>
                  </a:lnTo>
                  <a:lnTo>
                    <a:pt x="526" y="56"/>
                  </a:lnTo>
                  <a:lnTo>
                    <a:pt x="544" y="52"/>
                  </a:lnTo>
                  <a:lnTo>
                    <a:pt x="556" y="51"/>
                  </a:lnTo>
                  <a:lnTo>
                    <a:pt x="533" y="58"/>
                  </a:lnTo>
                  <a:lnTo>
                    <a:pt x="522" y="60"/>
                  </a:lnTo>
                  <a:lnTo>
                    <a:pt x="515" y="78"/>
                  </a:lnTo>
                  <a:lnTo>
                    <a:pt x="510" y="74"/>
                  </a:lnTo>
                  <a:lnTo>
                    <a:pt x="508" y="85"/>
                  </a:lnTo>
                  <a:lnTo>
                    <a:pt x="503" y="73"/>
                  </a:lnTo>
                  <a:lnTo>
                    <a:pt x="511" y="73"/>
                  </a:lnTo>
                  <a:lnTo>
                    <a:pt x="509" y="64"/>
                  </a:lnTo>
                  <a:lnTo>
                    <a:pt x="502" y="68"/>
                  </a:lnTo>
                  <a:lnTo>
                    <a:pt x="502" y="63"/>
                  </a:lnTo>
                  <a:lnTo>
                    <a:pt x="493" y="60"/>
                  </a:lnTo>
                  <a:lnTo>
                    <a:pt x="449" y="64"/>
                  </a:lnTo>
                  <a:lnTo>
                    <a:pt x="432" y="60"/>
                  </a:lnTo>
                  <a:lnTo>
                    <a:pt x="450" y="55"/>
                  </a:lnTo>
                  <a:lnTo>
                    <a:pt x="456" y="54"/>
                  </a:lnTo>
                  <a:lnTo>
                    <a:pt x="444" y="44"/>
                  </a:lnTo>
                  <a:lnTo>
                    <a:pt x="437" y="45"/>
                  </a:lnTo>
                  <a:lnTo>
                    <a:pt x="406" y="38"/>
                  </a:lnTo>
                  <a:lnTo>
                    <a:pt x="377" y="31"/>
                  </a:lnTo>
                  <a:lnTo>
                    <a:pt x="360" y="38"/>
                  </a:lnTo>
                  <a:lnTo>
                    <a:pt x="354" y="37"/>
                  </a:lnTo>
                  <a:lnTo>
                    <a:pt x="359" y="33"/>
                  </a:lnTo>
                  <a:lnTo>
                    <a:pt x="363" y="26"/>
                  </a:lnTo>
                  <a:lnTo>
                    <a:pt x="358" y="28"/>
                  </a:lnTo>
                  <a:lnTo>
                    <a:pt x="353" y="33"/>
                  </a:lnTo>
                  <a:lnTo>
                    <a:pt x="346" y="36"/>
                  </a:lnTo>
                  <a:lnTo>
                    <a:pt x="340" y="39"/>
                  </a:lnTo>
                  <a:lnTo>
                    <a:pt x="335" y="28"/>
                  </a:lnTo>
                  <a:lnTo>
                    <a:pt x="330" y="21"/>
                  </a:lnTo>
                  <a:lnTo>
                    <a:pt x="331" y="25"/>
                  </a:lnTo>
                  <a:lnTo>
                    <a:pt x="306" y="33"/>
                  </a:lnTo>
                  <a:lnTo>
                    <a:pt x="307" y="31"/>
                  </a:lnTo>
                  <a:lnTo>
                    <a:pt x="281" y="34"/>
                  </a:lnTo>
                  <a:lnTo>
                    <a:pt x="307" y="26"/>
                  </a:lnTo>
                  <a:lnTo>
                    <a:pt x="288" y="28"/>
                  </a:lnTo>
                  <a:lnTo>
                    <a:pt x="259" y="36"/>
                  </a:lnTo>
                  <a:lnTo>
                    <a:pt x="229" y="44"/>
                  </a:lnTo>
                  <a:lnTo>
                    <a:pt x="226" y="48"/>
                  </a:lnTo>
                  <a:lnTo>
                    <a:pt x="216" y="46"/>
                  </a:lnTo>
                  <a:lnTo>
                    <a:pt x="214" y="49"/>
                  </a:lnTo>
                  <a:lnTo>
                    <a:pt x="190" y="42"/>
                  </a:lnTo>
                  <a:lnTo>
                    <a:pt x="167" y="33"/>
                  </a:lnTo>
                  <a:lnTo>
                    <a:pt x="145" y="51"/>
                  </a:lnTo>
                  <a:lnTo>
                    <a:pt x="124" y="69"/>
                  </a:lnTo>
                  <a:lnTo>
                    <a:pt x="102" y="87"/>
                  </a:lnTo>
                  <a:lnTo>
                    <a:pt x="81" y="105"/>
                  </a:lnTo>
                  <a:lnTo>
                    <a:pt x="61" y="124"/>
                  </a:lnTo>
                  <a:lnTo>
                    <a:pt x="41" y="144"/>
                  </a:lnTo>
                  <a:lnTo>
                    <a:pt x="21" y="163"/>
                  </a:lnTo>
                  <a:lnTo>
                    <a:pt x="0" y="181"/>
                  </a:lnTo>
                  <a:lnTo>
                    <a:pt x="25" y="181"/>
                  </a:lnTo>
                  <a:lnTo>
                    <a:pt x="19" y="184"/>
                  </a:lnTo>
                  <a:lnTo>
                    <a:pt x="22" y="188"/>
                  </a:lnTo>
                  <a:lnTo>
                    <a:pt x="22" y="205"/>
                  </a:lnTo>
                  <a:lnTo>
                    <a:pt x="34" y="200"/>
                  </a:lnTo>
                  <a:lnTo>
                    <a:pt x="43" y="195"/>
                  </a:lnTo>
                  <a:lnTo>
                    <a:pt x="61" y="189"/>
                  </a:lnTo>
                  <a:lnTo>
                    <a:pt x="66" y="207"/>
                  </a:lnTo>
                  <a:lnTo>
                    <a:pt x="63" y="223"/>
                  </a:lnTo>
                  <a:lnTo>
                    <a:pt x="59" y="238"/>
                  </a:lnTo>
                  <a:lnTo>
                    <a:pt x="66" y="247"/>
                  </a:lnTo>
                  <a:lnTo>
                    <a:pt x="72" y="254"/>
                  </a:lnTo>
                  <a:lnTo>
                    <a:pt x="58" y="270"/>
                  </a:lnTo>
                  <a:lnTo>
                    <a:pt x="71" y="259"/>
                  </a:lnTo>
                  <a:lnTo>
                    <a:pt x="71" y="262"/>
                  </a:lnTo>
                  <a:lnTo>
                    <a:pt x="59" y="270"/>
                  </a:lnTo>
                  <a:lnTo>
                    <a:pt x="61" y="270"/>
                  </a:lnTo>
                  <a:lnTo>
                    <a:pt x="54" y="276"/>
                  </a:lnTo>
                  <a:lnTo>
                    <a:pt x="49" y="276"/>
                  </a:lnTo>
                  <a:lnTo>
                    <a:pt x="49" y="282"/>
                  </a:lnTo>
                  <a:lnTo>
                    <a:pt x="47" y="277"/>
                  </a:lnTo>
                  <a:lnTo>
                    <a:pt x="46" y="284"/>
                  </a:lnTo>
                  <a:lnTo>
                    <a:pt x="53" y="284"/>
                  </a:lnTo>
                  <a:lnTo>
                    <a:pt x="48" y="284"/>
                  </a:lnTo>
                  <a:lnTo>
                    <a:pt x="48" y="288"/>
                  </a:lnTo>
                  <a:lnTo>
                    <a:pt x="45" y="285"/>
                  </a:lnTo>
                  <a:lnTo>
                    <a:pt x="47" y="297"/>
                  </a:lnTo>
                  <a:lnTo>
                    <a:pt x="65" y="286"/>
                  </a:lnTo>
                  <a:lnTo>
                    <a:pt x="58" y="296"/>
                  </a:lnTo>
                  <a:lnTo>
                    <a:pt x="61" y="298"/>
                  </a:lnTo>
                  <a:lnTo>
                    <a:pt x="54" y="296"/>
                  </a:lnTo>
                  <a:lnTo>
                    <a:pt x="52" y="307"/>
                  </a:lnTo>
                  <a:lnTo>
                    <a:pt x="55" y="306"/>
                  </a:lnTo>
                  <a:lnTo>
                    <a:pt x="45" y="316"/>
                  </a:lnTo>
                  <a:lnTo>
                    <a:pt x="51" y="313"/>
                  </a:lnTo>
                  <a:lnTo>
                    <a:pt x="49" y="318"/>
                  </a:lnTo>
                  <a:lnTo>
                    <a:pt x="70" y="307"/>
                  </a:lnTo>
                  <a:lnTo>
                    <a:pt x="64" y="315"/>
                  </a:lnTo>
                  <a:lnTo>
                    <a:pt x="63" y="321"/>
                  </a:lnTo>
                  <a:lnTo>
                    <a:pt x="60" y="315"/>
                  </a:lnTo>
                  <a:lnTo>
                    <a:pt x="45" y="325"/>
                  </a:lnTo>
                  <a:lnTo>
                    <a:pt x="45" y="328"/>
                  </a:lnTo>
                  <a:lnTo>
                    <a:pt x="49" y="326"/>
                  </a:lnTo>
                  <a:lnTo>
                    <a:pt x="59" y="327"/>
                  </a:lnTo>
                  <a:lnTo>
                    <a:pt x="43" y="331"/>
                  </a:lnTo>
                  <a:lnTo>
                    <a:pt x="40" y="332"/>
                  </a:lnTo>
                  <a:lnTo>
                    <a:pt x="46" y="333"/>
                  </a:lnTo>
                  <a:lnTo>
                    <a:pt x="37" y="337"/>
                  </a:lnTo>
                  <a:lnTo>
                    <a:pt x="48" y="340"/>
                  </a:lnTo>
                  <a:lnTo>
                    <a:pt x="52" y="338"/>
                  </a:lnTo>
                  <a:lnTo>
                    <a:pt x="55" y="339"/>
                  </a:lnTo>
                  <a:lnTo>
                    <a:pt x="51" y="342"/>
                  </a:lnTo>
                  <a:lnTo>
                    <a:pt x="57" y="342"/>
                  </a:lnTo>
                  <a:lnTo>
                    <a:pt x="52" y="344"/>
                  </a:lnTo>
                  <a:lnTo>
                    <a:pt x="64" y="340"/>
                  </a:lnTo>
                  <a:lnTo>
                    <a:pt x="66" y="338"/>
                  </a:lnTo>
                  <a:lnTo>
                    <a:pt x="59" y="344"/>
                  </a:lnTo>
                  <a:lnTo>
                    <a:pt x="53" y="344"/>
                  </a:lnTo>
                  <a:lnTo>
                    <a:pt x="52" y="348"/>
                  </a:lnTo>
                  <a:lnTo>
                    <a:pt x="61" y="344"/>
                  </a:lnTo>
                  <a:lnTo>
                    <a:pt x="61" y="348"/>
                  </a:lnTo>
                  <a:lnTo>
                    <a:pt x="71" y="342"/>
                  </a:lnTo>
                  <a:lnTo>
                    <a:pt x="66" y="350"/>
                  </a:lnTo>
                  <a:lnTo>
                    <a:pt x="76" y="346"/>
                  </a:lnTo>
                  <a:lnTo>
                    <a:pt x="63" y="355"/>
                  </a:lnTo>
                  <a:lnTo>
                    <a:pt x="70" y="358"/>
                  </a:lnTo>
                  <a:lnTo>
                    <a:pt x="77" y="351"/>
                  </a:lnTo>
                  <a:lnTo>
                    <a:pt x="72" y="362"/>
                  </a:lnTo>
                  <a:lnTo>
                    <a:pt x="75" y="362"/>
                  </a:lnTo>
                  <a:lnTo>
                    <a:pt x="69" y="362"/>
                  </a:lnTo>
                  <a:lnTo>
                    <a:pt x="75" y="364"/>
                  </a:lnTo>
                  <a:lnTo>
                    <a:pt x="81" y="362"/>
                  </a:lnTo>
                  <a:lnTo>
                    <a:pt x="76" y="367"/>
                  </a:lnTo>
                  <a:lnTo>
                    <a:pt x="81" y="368"/>
                  </a:lnTo>
                  <a:lnTo>
                    <a:pt x="75" y="370"/>
                  </a:lnTo>
                  <a:lnTo>
                    <a:pt x="79" y="373"/>
                  </a:lnTo>
                  <a:lnTo>
                    <a:pt x="103" y="373"/>
                  </a:lnTo>
                  <a:lnTo>
                    <a:pt x="127" y="373"/>
                  </a:lnTo>
                  <a:lnTo>
                    <a:pt x="151" y="373"/>
                  </a:lnTo>
                  <a:lnTo>
                    <a:pt x="175" y="373"/>
                  </a:lnTo>
                  <a:lnTo>
                    <a:pt x="199" y="373"/>
                  </a:lnTo>
                  <a:lnTo>
                    <a:pt x="223" y="373"/>
                  </a:lnTo>
                  <a:lnTo>
                    <a:pt x="247" y="373"/>
                  </a:lnTo>
                  <a:lnTo>
                    <a:pt x="271" y="373"/>
                  </a:lnTo>
                  <a:lnTo>
                    <a:pt x="295" y="373"/>
                  </a:lnTo>
                  <a:lnTo>
                    <a:pt x="319" y="373"/>
                  </a:lnTo>
                  <a:lnTo>
                    <a:pt x="342" y="373"/>
                  </a:lnTo>
                  <a:lnTo>
                    <a:pt x="366" y="373"/>
                  </a:lnTo>
                  <a:lnTo>
                    <a:pt x="390" y="373"/>
                  </a:lnTo>
                  <a:lnTo>
                    <a:pt x="414" y="373"/>
                  </a:lnTo>
                  <a:lnTo>
                    <a:pt x="438" y="373"/>
                  </a:lnTo>
                  <a:lnTo>
                    <a:pt x="462" y="373"/>
                  </a:lnTo>
                  <a:lnTo>
                    <a:pt x="468" y="367"/>
                  </a:lnTo>
                  <a:lnTo>
                    <a:pt x="467" y="376"/>
                  </a:lnTo>
                  <a:lnTo>
                    <a:pt x="483" y="380"/>
                  </a:lnTo>
                  <a:lnTo>
                    <a:pt x="503" y="388"/>
                  </a:lnTo>
                  <a:lnTo>
                    <a:pt x="515" y="386"/>
                  </a:lnTo>
                  <a:lnTo>
                    <a:pt x="527" y="391"/>
                  </a:lnTo>
                  <a:lnTo>
                    <a:pt x="546" y="386"/>
                  </a:lnTo>
                  <a:lnTo>
                    <a:pt x="558" y="394"/>
                  </a:lnTo>
                  <a:lnTo>
                    <a:pt x="570" y="402"/>
                  </a:lnTo>
                  <a:lnTo>
                    <a:pt x="582" y="409"/>
                  </a:lnTo>
                  <a:lnTo>
                    <a:pt x="594" y="417"/>
                  </a:lnTo>
                  <a:lnTo>
                    <a:pt x="595" y="424"/>
                  </a:lnTo>
                  <a:lnTo>
                    <a:pt x="600" y="423"/>
                  </a:lnTo>
                  <a:lnTo>
                    <a:pt x="599" y="428"/>
                  </a:lnTo>
                  <a:lnTo>
                    <a:pt x="610" y="436"/>
                  </a:lnTo>
                  <a:lnTo>
                    <a:pt x="606" y="452"/>
                  </a:lnTo>
                  <a:lnTo>
                    <a:pt x="604" y="469"/>
                  </a:lnTo>
                  <a:lnTo>
                    <a:pt x="597" y="478"/>
                  </a:lnTo>
                  <a:lnTo>
                    <a:pt x="579" y="495"/>
                  </a:lnTo>
                  <a:lnTo>
                    <a:pt x="583" y="502"/>
                  </a:lnTo>
                  <a:lnTo>
                    <a:pt x="599" y="496"/>
                  </a:lnTo>
                  <a:lnTo>
                    <a:pt x="613" y="492"/>
                  </a:lnTo>
                  <a:lnTo>
                    <a:pt x="629" y="487"/>
                  </a:lnTo>
                  <a:lnTo>
                    <a:pt x="645" y="482"/>
                  </a:lnTo>
                  <a:lnTo>
                    <a:pt x="646" y="470"/>
                  </a:lnTo>
                  <a:lnTo>
                    <a:pt x="663" y="469"/>
                  </a:lnTo>
                  <a:lnTo>
                    <a:pt x="681" y="468"/>
                  </a:lnTo>
                  <a:lnTo>
                    <a:pt x="695" y="457"/>
                  </a:lnTo>
                  <a:lnTo>
                    <a:pt x="709" y="446"/>
                  </a:lnTo>
                  <a:lnTo>
                    <a:pt x="737" y="445"/>
                  </a:lnTo>
                  <a:lnTo>
                    <a:pt x="765" y="442"/>
                  </a:lnTo>
                  <a:lnTo>
                    <a:pt x="774" y="436"/>
                  </a:lnTo>
                  <a:lnTo>
                    <a:pt x="787" y="426"/>
                  </a:lnTo>
                  <a:lnTo>
                    <a:pt x="799" y="412"/>
                  </a:lnTo>
                  <a:lnTo>
                    <a:pt x="813" y="400"/>
                  </a:lnTo>
                  <a:lnTo>
                    <a:pt x="814" y="403"/>
                  </a:lnTo>
                  <a:lnTo>
                    <a:pt x="820" y="403"/>
                  </a:lnTo>
                  <a:lnTo>
                    <a:pt x="829" y="406"/>
                  </a:lnTo>
                  <a:lnTo>
                    <a:pt x="823" y="428"/>
                  </a:lnTo>
                  <a:lnTo>
                    <a:pt x="827" y="440"/>
                  </a:lnTo>
                  <a:lnTo>
                    <a:pt x="831" y="442"/>
                  </a:lnTo>
                  <a:lnTo>
                    <a:pt x="844" y="436"/>
                  </a:lnTo>
                  <a:lnTo>
                    <a:pt x="843" y="438"/>
                  </a:lnTo>
                  <a:lnTo>
                    <a:pt x="863" y="432"/>
                  </a:lnTo>
                  <a:lnTo>
                    <a:pt x="867" y="424"/>
                  </a:lnTo>
                  <a:lnTo>
                    <a:pt x="868" y="428"/>
                  </a:lnTo>
                  <a:lnTo>
                    <a:pt x="871" y="428"/>
                  </a:lnTo>
                  <a:lnTo>
                    <a:pt x="861" y="435"/>
                  </a:lnTo>
                  <a:lnTo>
                    <a:pt x="882" y="436"/>
                  </a:lnTo>
                  <a:lnTo>
                    <a:pt x="869" y="441"/>
                  </a:lnTo>
                  <a:lnTo>
                    <a:pt x="868" y="438"/>
                  </a:lnTo>
                  <a:lnTo>
                    <a:pt x="846" y="448"/>
                  </a:lnTo>
                  <a:lnTo>
                    <a:pt x="850" y="447"/>
                  </a:lnTo>
                  <a:lnTo>
                    <a:pt x="837" y="453"/>
                  </a:lnTo>
                  <a:lnTo>
                    <a:pt x="841" y="451"/>
                  </a:lnTo>
                  <a:lnTo>
                    <a:pt x="834" y="459"/>
                  </a:lnTo>
                  <a:lnTo>
                    <a:pt x="839" y="469"/>
                  </a:lnTo>
                  <a:lnTo>
                    <a:pt x="847" y="466"/>
                  </a:lnTo>
                  <a:lnTo>
                    <a:pt x="868" y="450"/>
                  </a:lnTo>
                  <a:lnTo>
                    <a:pt x="870" y="452"/>
                  </a:lnTo>
                  <a:lnTo>
                    <a:pt x="875" y="450"/>
                  </a:lnTo>
                  <a:lnTo>
                    <a:pt x="877" y="451"/>
                  </a:lnTo>
                  <a:lnTo>
                    <a:pt x="895" y="445"/>
                  </a:lnTo>
                  <a:lnTo>
                    <a:pt x="913" y="439"/>
                  </a:lnTo>
                  <a:lnTo>
                    <a:pt x="909" y="436"/>
                  </a:lnTo>
                  <a:lnTo>
                    <a:pt x="913" y="435"/>
                  </a:lnTo>
                  <a:lnTo>
                    <a:pt x="906" y="428"/>
                  </a:lnTo>
                  <a:lnTo>
                    <a:pt x="900" y="430"/>
                  </a:lnTo>
                  <a:lnTo>
                    <a:pt x="888" y="429"/>
                  </a:lnTo>
                  <a:lnTo>
                    <a:pt x="879" y="424"/>
                  </a:lnTo>
                  <a:lnTo>
                    <a:pt x="871" y="422"/>
                  </a:lnTo>
                  <a:lnTo>
                    <a:pt x="871" y="409"/>
                  </a:lnTo>
                  <a:lnTo>
                    <a:pt x="865" y="408"/>
                  </a:lnTo>
                  <a:lnTo>
                    <a:pt x="876" y="396"/>
                  </a:lnTo>
                  <a:lnTo>
                    <a:pt x="864" y="397"/>
                  </a:lnTo>
                  <a:lnTo>
                    <a:pt x="863" y="393"/>
                  </a:lnTo>
                  <a:lnTo>
                    <a:pt x="850" y="391"/>
                  </a:lnTo>
                  <a:lnTo>
                    <a:pt x="853" y="390"/>
                  </a:lnTo>
                  <a:lnTo>
                    <a:pt x="868" y="390"/>
                  </a:lnTo>
                  <a:lnTo>
                    <a:pt x="886" y="384"/>
                  </a:lnTo>
                  <a:lnTo>
                    <a:pt x="887" y="378"/>
                  </a:lnTo>
                  <a:lnTo>
                    <a:pt x="891" y="378"/>
                  </a:lnTo>
                  <a:lnTo>
                    <a:pt x="889" y="374"/>
                  </a:lnTo>
                  <a:lnTo>
                    <a:pt x="874" y="368"/>
                  </a:lnTo>
                  <a:lnTo>
                    <a:pt x="853" y="374"/>
                  </a:lnTo>
                  <a:lnTo>
                    <a:pt x="833" y="380"/>
                  </a:lnTo>
                  <a:lnTo>
                    <a:pt x="819" y="390"/>
                  </a:lnTo>
                  <a:lnTo>
                    <a:pt x="803" y="399"/>
                  </a:lnTo>
                  <a:lnTo>
                    <a:pt x="781" y="411"/>
                  </a:lnTo>
                  <a:lnTo>
                    <a:pt x="796" y="399"/>
                  </a:lnTo>
                  <a:lnTo>
                    <a:pt x="809" y="388"/>
                  </a:lnTo>
                  <a:lnTo>
                    <a:pt x="793" y="382"/>
                  </a:lnTo>
                  <a:lnTo>
                    <a:pt x="808" y="388"/>
                  </a:lnTo>
                  <a:lnTo>
                    <a:pt x="828" y="374"/>
                  </a:lnTo>
                  <a:lnTo>
                    <a:pt x="850" y="367"/>
                  </a:lnTo>
                  <a:lnTo>
                    <a:pt x="865" y="352"/>
                  </a:lnTo>
                  <a:lnTo>
                    <a:pt x="895" y="352"/>
                  </a:lnTo>
                  <a:lnTo>
                    <a:pt x="925" y="351"/>
                  </a:lnTo>
                  <a:lnTo>
                    <a:pt x="953" y="351"/>
                  </a:lnTo>
                  <a:lnTo>
                    <a:pt x="978" y="337"/>
                  </a:lnTo>
                  <a:lnTo>
                    <a:pt x="1002" y="331"/>
                  </a:lnTo>
                  <a:lnTo>
                    <a:pt x="1029" y="318"/>
                  </a:lnTo>
                  <a:lnTo>
                    <a:pt x="1021" y="314"/>
                  </a:lnTo>
                  <a:lnTo>
                    <a:pt x="1029" y="313"/>
                  </a:lnTo>
                  <a:lnTo>
                    <a:pt x="1019" y="310"/>
                  </a:lnTo>
                  <a:lnTo>
                    <a:pt x="1026" y="309"/>
                  </a:lnTo>
                  <a:lnTo>
                    <a:pt x="1026" y="307"/>
                  </a:lnTo>
                  <a:lnTo>
                    <a:pt x="1029" y="302"/>
                  </a:lnTo>
                  <a:lnTo>
                    <a:pt x="1031" y="297"/>
                  </a:lnTo>
                  <a:lnTo>
                    <a:pt x="1021" y="292"/>
                  </a:lnTo>
                  <a:lnTo>
                    <a:pt x="1023" y="291"/>
                  </a:lnTo>
                  <a:lnTo>
                    <a:pt x="1013" y="294"/>
                  </a:lnTo>
                  <a:lnTo>
                    <a:pt x="1015" y="284"/>
                  </a:lnTo>
                  <a:lnTo>
                    <a:pt x="1003" y="285"/>
                  </a:lnTo>
                  <a:lnTo>
                    <a:pt x="1009" y="285"/>
                  </a:lnTo>
                  <a:lnTo>
                    <a:pt x="988" y="292"/>
                  </a:lnTo>
                  <a:lnTo>
                    <a:pt x="970" y="298"/>
                  </a:lnTo>
                  <a:lnTo>
                    <a:pt x="976" y="295"/>
                  </a:lnTo>
                  <a:lnTo>
                    <a:pt x="969" y="291"/>
                  </a:lnTo>
                  <a:lnTo>
                    <a:pt x="978" y="292"/>
                  </a:lnTo>
                  <a:lnTo>
                    <a:pt x="1003" y="283"/>
                  </a:lnTo>
                  <a:lnTo>
                    <a:pt x="987" y="286"/>
                  </a:lnTo>
                  <a:lnTo>
                    <a:pt x="1018" y="277"/>
                  </a:lnTo>
                  <a:lnTo>
                    <a:pt x="999" y="270"/>
                  </a:lnTo>
                  <a:lnTo>
                    <a:pt x="994" y="270"/>
                  </a:lnTo>
                  <a:lnTo>
                    <a:pt x="999" y="266"/>
                  </a:lnTo>
                  <a:lnTo>
                    <a:pt x="987" y="272"/>
                  </a:lnTo>
                  <a:lnTo>
                    <a:pt x="993" y="267"/>
                  </a:lnTo>
                  <a:lnTo>
                    <a:pt x="991" y="266"/>
                  </a:lnTo>
                  <a:lnTo>
                    <a:pt x="984" y="268"/>
                  </a:lnTo>
                  <a:lnTo>
                    <a:pt x="987" y="265"/>
                  </a:lnTo>
                  <a:lnTo>
                    <a:pt x="978" y="268"/>
                  </a:lnTo>
                  <a:lnTo>
                    <a:pt x="982" y="266"/>
                  </a:lnTo>
                  <a:lnTo>
                    <a:pt x="984" y="262"/>
                  </a:lnTo>
                  <a:lnTo>
                    <a:pt x="985" y="256"/>
                  </a:lnTo>
                  <a:lnTo>
                    <a:pt x="981" y="260"/>
                  </a:lnTo>
                  <a:lnTo>
                    <a:pt x="982" y="258"/>
                  </a:lnTo>
                  <a:lnTo>
                    <a:pt x="976" y="250"/>
                  </a:lnTo>
                  <a:lnTo>
                    <a:pt x="967" y="248"/>
                  </a:lnTo>
                  <a:lnTo>
                    <a:pt x="975" y="248"/>
                  </a:lnTo>
                  <a:lnTo>
                    <a:pt x="970" y="244"/>
                  </a:lnTo>
                  <a:lnTo>
                    <a:pt x="973" y="243"/>
                  </a:lnTo>
                  <a:lnTo>
                    <a:pt x="969" y="242"/>
                  </a:lnTo>
                  <a:lnTo>
                    <a:pt x="972" y="242"/>
                  </a:lnTo>
                  <a:lnTo>
                    <a:pt x="966" y="238"/>
                  </a:lnTo>
                  <a:lnTo>
                    <a:pt x="969" y="238"/>
                  </a:lnTo>
                  <a:lnTo>
                    <a:pt x="973" y="241"/>
                  </a:lnTo>
                  <a:lnTo>
                    <a:pt x="983" y="235"/>
                  </a:lnTo>
                  <a:lnTo>
                    <a:pt x="978" y="230"/>
                  </a:lnTo>
                  <a:lnTo>
                    <a:pt x="975" y="228"/>
                  </a:lnTo>
                  <a:lnTo>
                    <a:pt x="979" y="223"/>
                  </a:lnTo>
                  <a:lnTo>
                    <a:pt x="975" y="219"/>
                  </a:lnTo>
                  <a:lnTo>
                    <a:pt x="973" y="217"/>
                  </a:lnTo>
                  <a:lnTo>
                    <a:pt x="966" y="218"/>
                  </a:lnTo>
                  <a:lnTo>
                    <a:pt x="976" y="214"/>
                  </a:lnTo>
                  <a:lnTo>
                    <a:pt x="975" y="211"/>
                  </a:lnTo>
                  <a:lnTo>
                    <a:pt x="963" y="214"/>
                  </a:lnTo>
                  <a:lnTo>
                    <a:pt x="976" y="206"/>
                  </a:lnTo>
                  <a:lnTo>
                    <a:pt x="971" y="202"/>
                  </a:lnTo>
                  <a:lnTo>
                    <a:pt x="966" y="202"/>
                  </a:lnTo>
                  <a:lnTo>
                    <a:pt x="971" y="198"/>
                  </a:lnTo>
                  <a:lnTo>
                    <a:pt x="969" y="195"/>
                  </a:lnTo>
                  <a:lnTo>
                    <a:pt x="965" y="188"/>
                  </a:lnTo>
                  <a:lnTo>
                    <a:pt x="965" y="184"/>
                  </a:lnTo>
                  <a:lnTo>
                    <a:pt x="960" y="186"/>
                  </a:lnTo>
                  <a:lnTo>
                    <a:pt x="964" y="182"/>
                  </a:lnTo>
                  <a:lnTo>
                    <a:pt x="955" y="186"/>
                  </a:lnTo>
                  <a:lnTo>
                    <a:pt x="955" y="190"/>
                  </a:lnTo>
                  <a:lnTo>
                    <a:pt x="948" y="190"/>
                  </a:lnTo>
                  <a:lnTo>
                    <a:pt x="952" y="195"/>
                  </a:lnTo>
                  <a:lnTo>
                    <a:pt x="947" y="198"/>
                  </a:lnTo>
                  <a:lnTo>
                    <a:pt x="942" y="201"/>
                  </a:lnTo>
                  <a:lnTo>
                    <a:pt x="935" y="208"/>
                  </a:lnTo>
                  <a:lnTo>
                    <a:pt x="933" y="213"/>
                  </a:lnTo>
                  <a:lnTo>
                    <a:pt x="930" y="206"/>
                  </a:lnTo>
                  <a:lnTo>
                    <a:pt x="917" y="213"/>
                  </a:lnTo>
                  <a:lnTo>
                    <a:pt x="907" y="220"/>
                  </a:lnTo>
                  <a:lnTo>
                    <a:pt x="909" y="214"/>
                  </a:lnTo>
                  <a:lnTo>
                    <a:pt x="904" y="217"/>
                  </a:lnTo>
                  <a:lnTo>
                    <a:pt x="906" y="211"/>
                  </a:lnTo>
                  <a:lnTo>
                    <a:pt x="899" y="219"/>
                  </a:lnTo>
                  <a:lnTo>
                    <a:pt x="885" y="223"/>
                  </a:lnTo>
                  <a:lnTo>
                    <a:pt x="904" y="214"/>
                  </a:lnTo>
                  <a:lnTo>
                    <a:pt x="901" y="204"/>
                  </a:lnTo>
                  <a:lnTo>
                    <a:pt x="885" y="207"/>
                  </a:lnTo>
                  <a:lnTo>
                    <a:pt x="881" y="207"/>
                  </a:lnTo>
                  <a:lnTo>
                    <a:pt x="887" y="204"/>
                  </a:lnTo>
                  <a:lnTo>
                    <a:pt x="892" y="205"/>
                  </a:lnTo>
                  <a:lnTo>
                    <a:pt x="897" y="196"/>
                  </a:lnTo>
                  <a:lnTo>
                    <a:pt x="893" y="194"/>
                  </a:lnTo>
                  <a:lnTo>
                    <a:pt x="898" y="187"/>
                  </a:lnTo>
                  <a:lnTo>
                    <a:pt x="882" y="184"/>
                  </a:lnTo>
                  <a:lnTo>
                    <a:pt x="901" y="183"/>
                  </a:lnTo>
                  <a:lnTo>
                    <a:pt x="904" y="175"/>
                  </a:lnTo>
                  <a:lnTo>
                    <a:pt x="906" y="171"/>
                  </a:lnTo>
                  <a:lnTo>
                    <a:pt x="901" y="171"/>
                  </a:lnTo>
                  <a:lnTo>
                    <a:pt x="883" y="164"/>
                  </a:lnTo>
                  <a:lnTo>
                    <a:pt x="888" y="159"/>
                  </a:lnTo>
                  <a:lnTo>
                    <a:pt x="883" y="160"/>
                  </a:lnTo>
                  <a:lnTo>
                    <a:pt x="879" y="154"/>
                  </a:lnTo>
                  <a:lnTo>
                    <a:pt x="880" y="152"/>
                  </a:lnTo>
                  <a:lnTo>
                    <a:pt x="868" y="146"/>
                  </a:lnTo>
                  <a:lnTo>
                    <a:pt x="853" y="151"/>
                  </a:lnTo>
                  <a:lnTo>
                    <a:pt x="839" y="151"/>
                  </a:lnTo>
                  <a:lnTo>
                    <a:pt x="844" y="150"/>
                  </a:lnTo>
                  <a:lnTo>
                    <a:pt x="820" y="146"/>
                  </a:lnTo>
                  <a:lnTo>
                    <a:pt x="809" y="158"/>
                  </a:lnTo>
                  <a:lnTo>
                    <a:pt x="810" y="163"/>
                  </a:lnTo>
                  <a:lnTo>
                    <a:pt x="802" y="174"/>
                  </a:lnTo>
                  <a:lnTo>
                    <a:pt x="805" y="174"/>
                  </a:lnTo>
                  <a:lnTo>
                    <a:pt x="802" y="186"/>
                  </a:lnTo>
                  <a:lnTo>
                    <a:pt x="796" y="192"/>
                  </a:lnTo>
                  <a:lnTo>
                    <a:pt x="793" y="193"/>
                  </a:lnTo>
                  <a:lnTo>
                    <a:pt x="773" y="210"/>
                  </a:lnTo>
                  <a:lnTo>
                    <a:pt x="787" y="225"/>
                  </a:lnTo>
                  <a:lnTo>
                    <a:pt x="779" y="240"/>
                  </a:lnTo>
                  <a:lnTo>
                    <a:pt x="772" y="254"/>
                  </a:lnTo>
                  <a:lnTo>
                    <a:pt x="753" y="264"/>
                  </a:lnTo>
                  <a:lnTo>
                    <a:pt x="733" y="272"/>
                  </a:lnTo>
                  <a:lnTo>
                    <a:pt x="724" y="276"/>
                  </a:lnTo>
                  <a:lnTo>
                    <a:pt x="725" y="288"/>
                  </a:lnTo>
                  <a:lnTo>
                    <a:pt x="720" y="312"/>
                  </a:lnTo>
                  <a:lnTo>
                    <a:pt x="713" y="321"/>
                  </a:lnTo>
                  <a:lnTo>
                    <a:pt x="708" y="330"/>
                  </a:lnTo>
                  <a:lnTo>
                    <a:pt x="705" y="333"/>
                  </a:lnTo>
                  <a:lnTo>
                    <a:pt x="702" y="327"/>
                  </a:lnTo>
                  <a:lnTo>
                    <a:pt x="693" y="338"/>
                  </a:lnTo>
                  <a:lnTo>
                    <a:pt x="695" y="343"/>
                  </a:lnTo>
                  <a:lnTo>
                    <a:pt x="685" y="332"/>
                  </a:lnTo>
                  <a:lnTo>
                    <a:pt x="675" y="338"/>
                  </a:lnTo>
                  <a:lnTo>
                    <a:pt x="685" y="330"/>
                  </a:lnTo>
                  <a:lnTo>
                    <a:pt x="675" y="318"/>
                  </a:lnTo>
                  <a:lnTo>
                    <a:pt x="677" y="313"/>
                  </a:lnTo>
                  <a:lnTo>
                    <a:pt x="676" y="301"/>
                  </a:lnTo>
                  <a:lnTo>
                    <a:pt x="682" y="284"/>
                  </a:lnTo>
                  <a:lnTo>
                    <a:pt x="689" y="267"/>
                  </a:lnTo>
                  <a:lnTo>
                    <a:pt x="672" y="266"/>
                  </a:lnTo>
                  <a:lnTo>
                    <a:pt x="655" y="266"/>
                  </a:lnTo>
                  <a:lnTo>
                    <a:pt x="651" y="268"/>
                  </a:lnTo>
                  <a:lnTo>
                    <a:pt x="657" y="264"/>
                  </a:lnTo>
                  <a:lnTo>
                    <a:pt x="645" y="258"/>
                  </a:lnTo>
                  <a:lnTo>
                    <a:pt x="631" y="252"/>
                  </a:lnTo>
                  <a:lnTo>
                    <a:pt x="617" y="237"/>
                  </a:lnTo>
                  <a:lnTo>
                    <a:pt x="599" y="231"/>
                  </a:lnTo>
                  <a:lnTo>
                    <a:pt x="576" y="237"/>
                  </a:lnTo>
                  <a:lnTo>
                    <a:pt x="577" y="236"/>
                  </a:lnTo>
                  <a:lnTo>
                    <a:pt x="574" y="237"/>
                  </a:lnTo>
                  <a:lnTo>
                    <a:pt x="585" y="217"/>
                  </a:lnTo>
                  <a:lnTo>
                    <a:pt x="583" y="207"/>
                  </a:lnTo>
                  <a:lnTo>
                    <a:pt x="571" y="210"/>
                  </a:lnTo>
                  <a:lnTo>
                    <a:pt x="567" y="216"/>
                  </a:lnTo>
                  <a:lnTo>
                    <a:pt x="571" y="207"/>
                  </a:lnTo>
                  <a:lnTo>
                    <a:pt x="570" y="201"/>
                  </a:lnTo>
                  <a:lnTo>
                    <a:pt x="588" y="177"/>
                  </a:lnTo>
                  <a:lnTo>
                    <a:pt x="616" y="159"/>
                  </a:lnTo>
                  <a:lnTo>
                    <a:pt x="617" y="154"/>
                  </a:lnTo>
                  <a:lnTo>
                    <a:pt x="630" y="150"/>
                  </a:lnTo>
                  <a:lnTo>
                    <a:pt x="628" y="148"/>
                  </a:lnTo>
                  <a:lnTo>
                    <a:pt x="633" y="150"/>
                  </a:lnTo>
                  <a:lnTo>
                    <a:pt x="639" y="145"/>
                  </a:lnTo>
                  <a:lnTo>
                    <a:pt x="646" y="144"/>
                  </a:lnTo>
                  <a:lnTo>
                    <a:pt x="647" y="140"/>
                  </a:lnTo>
                  <a:lnTo>
                    <a:pt x="667" y="136"/>
                  </a:lnTo>
                  <a:lnTo>
                    <a:pt x="669" y="132"/>
                  </a:lnTo>
                  <a:lnTo>
                    <a:pt x="654" y="128"/>
                  </a:lnTo>
                  <a:lnTo>
                    <a:pt x="657" y="127"/>
                  </a:lnTo>
                  <a:lnTo>
                    <a:pt x="642" y="124"/>
                  </a:lnTo>
                  <a:lnTo>
                    <a:pt x="642" y="120"/>
                  </a:lnTo>
                  <a:lnTo>
                    <a:pt x="660" y="123"/>
                  </a:lnTo>
                  <a:lnTo>
                    <a:pt x="679" y="127"/>
                  </a:lnTo>
                  <a:lnTo>
                    <a:pt x="685" y="122"/>
                  </a:lnTo>
                  <a:lnTo>
                    <a:pt x="689" y="120"/>
                  </a:lnTo>
                  <a:lnTo>
                    <a:pt x="696" y="122"/>
                  </a:lnTo>
                  <a:lnTo>
                    <a:pt x="696" y="118"/>
                  </a:lnTo>
                  <a:lnTo>
                    <a:pt x="703" y="121"/>
                  </a:lnTo>
                  <a:lnTo>
                    <a:pt x="731" y="106"/>
                  </a:lnTo>
                  <a:lnTo>
                    <a:pt x="735" y="102"/>
                  </a:lnTo>
                  <a:lnTo>
                    <a:pt x="709" y="98"/>
                  </a:lnTo>
                  <a:lnTo>
                    <a:pt x="694" y="91"/>
                  </a:lnTo>
                  <a:lnTo>
                    <a:pt x="723" y="96"/>
                  </a:lnTo>
                  <a:lnTo>
                    <a:pt x="731" y="100"/>
                  </a:lnTo>
                  <a:lnTo>
                    <a:pt x="759"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4" name="Freeform 393"/>
            <p:cNvSpPr>
              <a:spLocks/>
            </p:cNvSpPr>
            <p:nvPr/>
          </p:nvSpPr>
          <p:spPr bwMode="auto">
            <a:xfrm>
              <a:off x="1414" y="1288"/>
              <a:ext cx="313" cy="202"/>
            </a:xfrm>
            <a:custGeom>
              <a:avLst/>
              <a:gdLst/>
              <a:ahLst/>
              <a:cxnLst>
                <a:cxn ang="0">
                  <a:pos x="205" y="41"/>
                </a:cxn>
                <a:cxn ang="0">
                  <a:pos x="195" y="33"/>
                </a:cxn>
                <a:cxn ang="0">
                  <a:pos x="183" y="33"/>
                </a:cxn>
                <a:cxn ang="0">
                  <a:pos x="163" y="39"/>
                </a:cxn>
                <a:cxn ang="0">
                  <a:pos x="168" y="27"/>
                </a:cxn>
                <a:cxn ang="0">
                  <a:pos x="177" y="22"/>
                </a:cxn>
                <a:cxn ang="0">
                  <a:pos x="133" y="23"/>
                </a:cxn>
                <a:cxn ang="0">
                  <a:pos x="130" y="25"/>
                </a:cxn>
                <a:cxn ang="0">
                  <a:pos x="120" y="23"/>
                </a:cxn>
                <a:cxn ang="0">
                  <a:pos x="109" y="22"/>
                </a:cxn>
                <a:cxn ang="0">
                  <a:pos x="94" y="6"/>
                </a:cxn>
                <a:cxn ang="0">
                  <a:pos x="75" y="12"/>
                </a:cxn>
                <a:cxn ang="0">
                  <a:pos x="69" y="21"/>
                </a:cxn>
                <a:cxn ang="0">
                  <a:pos x="61" y="34"/>
                </a:cxn>
                <a:cxn ang="0">
                  <a:pos x="47" y="27"/>
                </a:cxn>
                <a:cxn ang="0">
                  <a:pos x="24" y="15"/>
                </a:cxn>
                <a:cxn ang="0">
                  <a:pos x="5" y="48"/>
                </a:cxn>
                <a:cxn ang="0">
                  <a:pos x="31" y="55"/>
                </a:cxn>
                <a:cxn ang="0">
                  <a:pos x="76" y="53"/>
                </a:cxn>
                <a:cxn ang="0">
                  <a:pos x="115" y="51"/>
                </a:cxn>
                <a:cxn ang="0">
                  <a:pos x="126" y="61"/>
                </a:cxn>
                <a:cxn ang="0">
                  <a:pos x="123" y="76"/>
                </a:cxn>
                <a:cxn ang="0">
                  <a:pos x="153" y="75"/>
                </a:cxn>
                <a:cxn ang="0">
                  <a:pos x="144" y="106"/>
                </a:cxn>
                <a:cxn ang="0">
                  <a:pos x="178" y="114"/>
                </a:cxn>
                <a:cxn ang="0">
                  <a:pos x="137" y="108"/>
                </a:cxn>
                <a:cxn ang="0">
                  <a:pos x="99" y="133"/>
                </a:cxn>
                <a:cxn ang="0">
                  <a:pos x="61" y="139"/>
                </a:cxn>
                <a:cxn ang="0">
                  <a:pos x="103" y="139"/>
                </a:cxn>
                <a:cxn ang="0">
                  <a:pos x="117" y="138"/>
                </a:cxn>
                <a:cxn ang="0">
                  <a:pos x="127" y="154"/>
                </a:cxn>
                <a:cxn ang="0">
                  <a:pos x="148" y="169"/>
                </a:cxn>
                <a:cxn ang="0">
                  <a:pos x="175" y="163"/>
                </a:cxn>
                <a:cxn ang="0">
                  <a:pos x="189" y="163"/>
                </a:cxn>
                <a:cxn ang="0">
                  <a:pos x="205" y="171"/>
                </a:cxn>
                <a:cxn ang="0">
                  <a:pos x="215" y="157"/>
                </a:cxn>
                <a:cxn ang="0">
                  <a:pos x="214" y="144"/>
                </a:cxn>
                <a:cxn ang="0">
                  <a:pos x="208" y="136"/>
                </a:cxn>
                <a:cxn ang="0">
                  <a:pos x="201" y="131"/>
                </a:cxn>
                <a:cxn ang="0">
                  <a:pos x="196" y="120"/>
                </a:cxn>
                <a:cxn ang="0">
                  <a:pos x="205" y="115"/>
                </a:cxn>
                <a:cxn ang="0">
                  <a:pos x="215" y="109"/>
                </a:cxn>
                <a:cxn ang="0">
                  <a:pos x="243" y="112"/>
                </a:cxn>
                <a:cxn ang="0">
                  <a:pos x="226" y="126"/>
                </a:cxn>
                <a:cxn ang="0">
                  <a:pos x="237" y="131"/>
                </a:cxn>
                <a:cxn ang="0">
                  <a:pos x="250" y="118"/>
                </a:cxn>
                <a:cxn ang="0">
                  <a:pos x="259" y="117"/>
                </a:cxn>
                <a:cxn ang="0">
                  <a:pos x="276" y="111"/>
                </a:cxn>
                <a:cxn ang="0">
                  <a:pos x="273" y="102"/>
                </a:cxn>
                <a:cxn ang="0">
                  <a:pos x="257" y="106"/>
                </a:cxn>
                <a:cxn ang="0">
                  <a:pos x="246" y="100"/>
                </a:cxn>
                <a:cxn ang="0">
                  <a:pos x="246" y="96"/>
                </a:cxn>
                <a:cxn ang="0">
                  <a:pos x="246" y="90"/>
                </a:cxn>
                <a:cxn ang="0">
                  <a:pos x="235" y="89"/>
                </a:cxn>
                <a:cxn ang="0">
                  <a:pos x="229" y="84"/>
                </a:cxn>
                <a:cxn ang="0">
                  <a:pos x="210" y="76"/>
                </a:cxn>
                <a:cxn ang="0">
                  <a:pos x="219" y="72"/>
                </a:cxn>
                <a:cxn ang="0">
                  <a:pos x="214" y="67"/>
                </a:cxn>
                <a:cxn ang="0">
                  <a:pos x="221" y="61"/>
                </a:cxn>
                <a:cxn ang="0">
                  <a:pos x="215" y="58"/>
                </a:cxn>
                <a:cxn ang="0">
                  <a:pos x="234" y="47"/>
                </a:cxn>
                <a:cxn ang="0">
                  <a:pos x="202" y="48"/>
                </a:cxn>
              </a:cxnLst>
              <a:rect l="0" t="0" r="r" b="b"/>
              <a:pathLst>
                <a:path w="282" h="183">
                  <a:moveTo>
                    <a:pt x="197" y="48"/>
                  </a:moveTo>
                  <a:lnTo>
                    <a:pt x="193" y="48"/>
                  </a:lnTo>
                  <a:lnTo>
                    <a:pt x="213" y="42"/>
                  </a:lnTo>
                  <a:lnTo>
                    <a:pt x="205" y="41"/>
                  </a:lnTo>
                  <a:lnTo>
                    <a:pt x="190" y="45"/>
                  </a:lnTo>
                  <a:lnTo>
                    <a:pt x="199" y="39"/>
                  </a:lnTo>
                  <a:lnTo>
                    <a:pt x="209" y="37"/>
                  </a:lnTo>
                  <a:lnTo>
                    <a:pt x="195" y="33"/>
                  </a:lnTo>
                  <a:lnTo>
                    <a:pt x="183" y="40"/>
                  </a:lnTo>
                  <a:lnTo>
                    <a:pt x="184" y="36"/>
                  </a:lnTo>
                  <a:lnTo>
                    <a:pt x="178" y="40"/>
                  </a:lnTo>
                  <a:lnTo>
                    <a:pt x="183" y="33"/>
                  </a:lnTo>
                  <a:lnTo>
                    <a:pt x="177" y="36"/>
                  </a:lnTo>
                  <a:lnTo>
                    <a:pt x="183" y="30"/>
                  </a:lnTo>
                  <a:lnTo>
                    <a:pt x="180" y="31"/>
                  </a:lnTo>
                  <a:lnTo>
                    <a:pt x="163" y="39"/>
                  </a:lnTo>
                  <a:lnTo>
                    <a:pt x="171" y="33"/>
                  </a:lnTo>
                  <a:lnTo>
                    <a:pt x="166" y="33"/>
                  </a:lnTo>
                  <a:lnTo>
                    <a:pt x="183" y="27"/>
                  </a:lnTo>
                  <a:lnTo>
                    <a:pt x="168" y="27"/>
                  </a:lnTo>
                  <a:lnTo>
                    <a:pt x="162" y="30"/>
                  </a:lnTo>
                  <a:lnTo>
                    <a:pt x="168" y="24"/>
                  </a:lnTo>
                  <a:lnTo>
                    <a:pt x="157" y="29"/>
                  </a:lnTo>
                  <a:lnTo>
                    <a:pt x="177" y="22"/>
                  </a:lnTo>
                  <a:lnTo>
                    <a:pt x="169" y="18"/>
                  </a:lnTo>
                  <a:lnTo>
                    <a:pt x="142" y="18"/>
                  </a:lnTo>
                  <a:lnTo>
                    <a:pt x="150" y="23"/>
                  </a:lnTo>
                  <a:lnTo>
                    <a:pt x="133" y="23"/>
                  </a:lnTo>
                  <a:lnTo>
                    <a:pt x="138" y="29"/>
                  </a:lnTo>
                  <a:lnTo>
                    <a:pt x="130" y="27"/>
                  </a:lnTo>
                  <a:lnTo>
                    <a:pt x="131" y="28"/>
                  </a:lnTo>
                  <a:lnTo>
                    <a:pt x="130" y="25"/>
                  </a:lnTo>
                  <a:lnTo>
                    <a:pt x="130" y="21"/>
                  </a:lnTo>
                  <a:lnTo>
                    <a:pt x="126" y="22"/>
                  </a:lnTo>
                  <a:lnTo>
                    <a:pt x="120" y="22"/>
                  </a:lnTo>
                  <a:lnTo>
                    <a:pt x="120" y="23"/>
                  </a:lnTo>
                  <a:lnTo>
                    <a:pt x="115" y="23"/>
                  </a:lnTo>
                  <a:lnTo>
                    <a:pt x="109" y="25"/>
                  </a:lnTo>
                  <a:lnTo>
                    <a:pt x="113" y="19"/>
                  </a:lnTo>
                  <a:lnTo>
                    <a:pt x="109" y="22"/>
                  </a:lnTo>
                  <a:lnTo>
                    <a:pt x="124" y="15"/>
                  </a:lnTo>
                  <a:lnTo>
                    <a:pt x="121" y="1"/>
                  </a:lnTo>
                  <a:lnTo>
                    <a:pt x="91" y="4"/>
                  </a:lnTo>
                  <a:lnTo>
                    <a:pt x="94" y="6"/>
                  </a:lnTo>
                  <a:lnTo>
                    <a:pt x="83" y="7"/>
                  </a:lnTo>
                  <a:lnTo>
                    <a:pt x="76" y="9"/>
                  </a:lnTo>
                  <a:lnTo>
                    <a:pt x="88" y="11"/>
                  </a:lnTo>
                  <a:lnTo>
                    <a:pt x="75" y="12"/>
                  </a:lnTo>
                  <a:lnTo>
                    <a:pt x="83" y="16"/>
                  </a:lnTo>
                  <a:lnTo>
                    <a:pt x="66" y="13"/>
                  </a:lnTo>
                  <a:lnTo>
                    <a:pt x="65" y="21"/>
                  </a:lnTo>
                  <a:lnTo>
                    <a:pt x="69" y="21"/>
                  </a:lnTo>
                  <a:lnTo>
                    <a:pt x="71" y="27"/>
                  </a:lnTo>
                  <a:lnTo>
                    <a:pt x="58" y="24"/>
                  </a:lnTo>
                  <a:lnTo>
                    <a:pt x="55" y="28"/>
                  </a:lnTo>
                  <a:lnTo>
                    <a:pt x="61" y="34"/>
                  </a:lnTo>
                  <a:lnTo>
                    <a:pt x="52" y="40"/>
                  </a:lnTo>
                  <a:lnTo>
                    <a:pt x="35" y="40"/>
                  </a:lnTo>
                  <a:lnTo>
                    <a:pt x="57" y="35"/>
                  </a:lnTo>
                  <a:lnTo>
                    <a:pt x="47" y="27"/>
                  </a:lnTo>
                  <a:lnTo>
                    <a:pt x="66" y="9"/>
                  </a:lnTo>
                  <a:lnTo>
                    <a:pt x="84" y="0"/>
                  </a:lnTo>
                  <a:lnTo>
                    <a:pt x="46" y="4"/>
                  </a:lnTo>
                  <a:lnTo>
                    <a:pt x="24" y="15"/>
                  </a:lnTo>
                  <a:lnTo>
                    <a:pt x="0" y="35"/>
                  </a:lnTo>
                  <a:lnTo>
                    <a:pt x="25" y="41"/>
                  </a:lnTo>
                  <a:lnTo>
                    <a:pt x="3" y="41"/>
                  </a:lnTo>
                  <a:lnTo>
                    <a:pt x="5" y="48"/>
                  </a:lnTo>
                  <a:lnTo>
                    <a:pt x="19" y="51"/>
                  </a:lnTo>
                  <a:lnTo>
                    <a:pt x="21" y="51"/>
                  </a:lnTo>
                  <a:lnTo>
                    <a:pt x="25" y="49"/>
                  </a:lnTo>
                  <a:lnTo>
                    <a:pt x="31" y="55"/>
                  </a:lnTo>
                  <a:lnTo>
                    <a:pt x="75" y="57"/>
                  </a:lnTo>
                  <a:lnTo>
                    <a:pt x="64" y="51"/>
                  </a:lnTo>
                  <a:lnTo>
                    <a:pt x="84" y="59"/>
                  </a:lnTo>
                  <a:lnTo>
                    <a:pt x="76" y="53"/>
                  </a:lnTo>
                  <a:lnTo>
                    <a:pt x="109" y="57"/>
                  </a:lnTo>
                  <a:lnTo>
                    <a:pt x="107" y="49"/>
                  </a:lnTo>
                  <a:lnTo>
                    <a:pt x="115" y="46"/>
                  </a:lnTo>
                  <a:lnTo>
                    <a:pt x="115" y="51"/>
                  </a:lnTo>
                  <a:lnTo>
                    <a:pt x="124" y="53"/>
                  </a:lnTo>
                  <a:lnTo>
                    <a:pt x="120" y="58"/>
                  </a:lnTo>
                  <a:lnTo>
                    <a:pt x="130" y="59"/>
                  </a:lnTo>
                  <a:lnTo>
                    <a:pt x="126" y="61"/>
                  </a:lnTo>
                  <a:lnTo>
                    <a:pt x="132" y="60"/>
                  </a:lnTo>
                  <a:lnTo>
                    <a:pt x="135" y="70"/>
                  </a:lnTo>
                  <a:lnTo>
                    <a:pt x="124" y="72"/>
                  </a:lnTo>
                  <a:lnTo>
                    <a:pt x="123" y="76"/>
                  </a:lnTo>
                  <a:lnTo>
                    <a:pt x="137" y="71"/>
                  </a:lnTo>
                  <a:lnTo>
                    <a:pt x="143" y="72"/>
                  </a:lnTo>
                  <a:lnTo>
                    <a:pt x="149" y="78"/>
                  </a:lnTo>
                  <a:lnTo>
                    <a:pt x="153" y="75"/>
                  </a:lnTo>
                  <a:lnTo>
                    <a:pt x="150" y="82"/>
                  </a:lnTo>
                  <a:lnTo>
                    <a:pt x="157" y="83"/>
                  </a:lnTo>
                  <a:lnTo>
                    <a:pt x="155" y="100"/>
                  </a:lnTo>
                  <a:lnTo>
                    <a:pt x="144" y="106"/>
                  </a:lnTo>
                  <a:lnTo>
                    <a:pt x="162" y="107"/>
                  </a:lnTo>
                  <a:lnTo>
                    <a:pt x="171" y="101"/>
                  </a:lnTo>
                  <a:lnTo>
                    <a:pt x="183" y="109"/>
                  </a:lnTo>
                  <a:lnTo>
                    <a:pt x="178" y="114"/>
                  </a:lnTo>
                  <a:lnTo>
                    <a:pt x="165" y="114"/>
                  </a:lnTo>
                  <a:lnTo>
                    <a:pt x="159" y="115"/>
                  </a:lnTo>
                  <a:lnTo>
                    <a:pt x="162" y="109"/>
                  </a:lnTo>
                  <a:lnTo>
                    <a:pt x="137" y="108"/>
                  </a:lnTo>
                  <a:lnTo>
                    <a:pt x="120" y="115"/>
                  </a:lnTo>
                  <a:lnTo>
                    <a:pt x="124" y="124"/>
                  </a:lnTo>
                  <a:lnTo>
                    <a:pt x="96" y="130"/>
                  </a:lnTo>
                  <a:lnTo>
                    <a:pt x="99" y="133"/>
                  </a:lnTo>
                  <a:lnTo>
                    <a:pt x="96" y="136"/>
                  </a:lnTo>
                  <a:lnTo>
                    <a:pt x="96" y="129"/>
                  </a:lnTo>
                  <a:lnTo>
                    <a:pt x="76" y="127"/>
                  </a:lnTo>
                  <a:lnTo>
                    <a:pt x="61" y="139"/>
                  </a:lnTo>
                  <a:lnTo>
                    <a:pt x="76" y="144"/>
                  </a:lnTo>
                  <a:lnTo>
                    <a:pt x="90" y="142"/>
                  </a:lnTo>
                  <a:lnTo>
                    <a:pt x="93" y="139"/>
                  </a:lnTo>
                  <a:lnTo>
                    <a:pt x="103" y="139"/>
                  </a:lnTo>
                  <a:lnTo>
                    <a:pt x="106" y="133"/>
                  </a:lnTo>
                  <a:lnTo>
                    <a:pt x="109" y="138"/>
                  </a:lnTo>
                  <a:lnTo>
                    <a:pt x="109" y="143"/>
                  </a:lnTo>
                  <a:lnTo>
                    <a:pt x="117" y="138"/>
                  </a:lnTo>
                  <a:lnTo>
                    <a:pt x="121" y="139"/>
                  </a:lnTo>
                  <a:lnTo>
                    <a:pt x="119" y="145"/>
                  </a:lnTo>
                  <a:lnTo>
                    <a:pt x="126" y="150"/>
                  </a:lnTo>
                  <a:lnTo>
                    <a:pt x="127" y="154"/>
                  </a:lnTo>
                  <a:lnTo>
                    <a:pt x="136" y="155"/>
                  </a:lnTo>
                  <a:lnTo>
                    <a:pt x="127" y="159"/>
                  </a:lnTo>
                  <a:lnTo>
                    <a:pt x="133" y="163"/>
                  </a:lnTo>
                  <a:lnTo>
                    <a:pt x="148" y="169"/>
                  </a:lnTo>
                  <a:lnTo>
                    <a:pt x="167" y="177"/>
                  </a:lnTo>
                  <a:lnTo>
                    <a:pt x="186" y="183"/>
                  </a:lnTo>
                  <a:lnTo>
                    <a:pt x="186" y="175"/>
                  </a:lnTo>
                  <a:lnTo>
                    <a:pt x="175" y="163"/>
                  </a:lnTo>
                  <a:lnTo>
                    <a:pt x="165" y="153"/>
                  </a:lnTo>
                  <a:lnTo>
                    <a:pt x="178" y="159"/>
                  </a:lnTo>
                  <a:lnTo>
                    <a:pt x="180" y="154"/>
                  </a:lnTo>
                  <a:lnTo>
                    <a:pt x="189" y="163"/>
                  </a:lnTo>
                  <a:lnTo>
                    <a:pt x="190" y="161"/>
                  </a:lnTo>
                  <a:lnTo>
                    <a:pt x="195" y="165"/>
                  </a:lnTo>
                  <a:lnTo>
                    <a:pt x="203" y="168"/>
                  </a:lnTo>
                  <a:lnTo>
                    <a:pt x="205" y="171"/>
                  </a:lnTo>
                  <a:lnTo>
                    <a:pt x="207" y="166"/>
                  </a:lnTo>
                  <a:lnTo>
                    <a:pt x="210" y="165"/>
                  </a:lnTo>
                  <a:lnTo>
                    <a:pt x="213" y="154"/>
                  </a:lnTo>
                  <a:lnTo>
                    <a:pt x="215" y="157"/>
                  </a:lnTo>
                  <a:lnTo>
                    <a:pt x="217" y="153"/>
                  </a:lnTo>
                  <a:lnTo>
                    <a:pt x="219" y="148"/>
                  </a:lnTo>
                  <a:lnTo>
                    <a:pt x="215" y="147"/>
                  </a:lnTo>
                  <a:lnTo>
                    <a:pt x="214" y="144"/>
                  </a:lnTo>
                  <a:lnTo>
                    <a:pt x="215" y="141"/>
                  </a:lnTo>
                  <a:lnTo>
                    <a:pt x="214" y="138"/>
                  </a:lnTo>
                  <a:lnTo>
                    <a:pt x="210" y="137"/>
                  </a:lnTo>
                  <a:lnTo>
                    <a:pt x="208" y="136"/>
                  </a:lnTo>
                  <a:lnTo>
                    <a:pt x="204" y="132"/>
                  </a:lnTo>
                  <a:lnTo>
                    <a:pt x="202" y="133"/>
                  </a:lnTo>
                  <a:lnTo>
                    <a:pt x="204" y="130"/>
                  </a:lnTo>
                  <a:lnTo>
                    <a:pt x="201" y="131"/>
                  </a:lnTo>
                  <a:lnTo>
                    <a:pt x="202" y="126"/>
                  </a:lnTo>
                  <a:lnTo>
                    <a:pt x="202" y="123"/>
                  </a:lnTo>
                  <a:lnTo>
                    <a:pt x="193" y="123"/>
                  </a:lnTo>
                  <a:lnTo>
                    <a:pt x="196" y="120"/>
                  </a:lnTo>
                  <a:lnTo>
                    <a:pt x="195" y="117"/>
                  </a:lnTo>
                  <a:lnTo>
                    <a:pt x="192" y="112"/>
                  </a:lnTo>
                  <a:lnTo>
                    <a:pt x="202" y="119"/>
                  </a:lnTo>
                  <a:lnTo>
                    <a:pt x="205" y="115"/>
                  </a:lnTo>
                  <a:lnTo>
                    <a:pt x="204" y="111"/>
                  </a:lnTo>
                  <a:lnTo>
                    <a:pt x="210" y="109"/>
                  </a:lnTo>
                  <a:lnTo>
                    <a:pt x="209" y="108"/>
                  </a:lnTo>
                  <a:lnTo>
                    <a:pt x="215" y="109"/>
                  </a:lnTo>
                  <a:lnTo>
                    <a:pt x="226" y="114"/>
                  </a:lnTo>
                  <a:lnTo>
                    <a:pt x="229" y="112"/>
                  </a:lnTo>
                  <a:lnTo>
                    <a:pt x="221" y="118"/>
                  </a:lnTo>
                  <a:lnTo>
                    <a:pt x="243" y="112"/>
                  </a:lnTo>
                  <a:lnTo>
                    <a:pt x="233" y="117"/>
                  </a:lnTo>
                  <a:lnTo>
                    <a:pt x="223" y="123"/>
                  </a:lnTo>
                  <a:lnTo>
                    <a:pt x="227" y="123"/>
                  </a:lnTo>
                  <a:lnTo>
                    <a:pt x="226" y="126"/>
                  </a:lnTo>
                  <a:lnTo>
                    <a:pt x="232" y="126"/>
                  </a:lnTo>
                  <a:lnTo>
                    <a:pt x="229" y="131"/>
                  </a:lnTo>
                  <a:lnTo>
                    <a:pt x="233" y="127"/>
                  </a:lnTo>
                  <a:lnTo>
                    <a:pt x="237" y="131"/>
                  </a:lnTo>
                  <a:lnTo>
                    <a:pt x="244" y="132"/>
                  </a:lnTo>
                  <a:lnTo>
                    <a:pt x="244" y="125"/>
                  </a:lnTo>
                  <a:lnTo>
                    <a:pt x="245" y="124"/>
                  </a:lnTo>
                  <a:lnTo>
                    <a:pt x="250" y="118"/>
                  </a:lnTo>
                  <a:lnTo>
                    <a:pt x="255" y="123"/>
                  </a:lnTo>
                  <a:lnTo>
                    <a:pt x="257" y="119"/>
                  </a:lnTo>
                  <a:lnTo>
                    <a:pt x="263" y="118"/>
                  </a:lnTo>
                  <a:lnTo>
                    <a:pt x="259" y="117"/>
                  </a:lnTo>
                  <a:lnTo>
                    <a:pt x="268" y="115"/>
                  </a:lnTo>
                  <a:lnTo>
                    <a:pt x="262" y="113"/>
                  </a:lnTo>
                  <a:lnTo>
                    <a:pt x="268" y="111"/>
                  </a:lnTo>
                  <a:lnTo>
                    <a:pt x="276" y="111"/>
                  </a:lnTo>
                  <a:lnTo>
                    <a:pt x="276" y="109"/>
                  </a:lnTo>
                  <a:lnTo>
                    <a:pt x="275" y="107"/>
                  </a:lnTo>
                  <a:lnTo>
                    <a:pt x="282" y="107"/>
                  </a:lnTo>
                  <a:lnTo>
                    <a:pt x="273" y="102"/>
                  </a:lnTo>
                  <a:lnTo>
                    <a:pt x="269" y="105"/>
                  </a:lnTo>
                  <a:lnTo>
                    <a:pt x="265" y="105"/>
                  </a:lnTo>
                  <a:lnTo>
                    <a:pt x="265" y="102"/>
                  </a:lnTo>
                  <a:lnTo>
                    <a:pt x="257" y="106"/>
                  </a:lnTo>
                  <a:lnTo>
                    <a:pt x="256" y="105"/>
                  </a:lnTo>
                  <a:lnTo>
                    <a:pt x="263" y="97"/>
                  </a:lnTo>
                  <a:lnTo>
                    <a:pt x="258" y="100"/>
                  </a:lnTo>
                  <a:lnTo>
                    <a:pt x="246" y="100"/>
                  </a:lnTo>
                  <a:lnTo>
                    <a:pt x="255" y="97"/>
                  </a:lnTo>
                  <a:lnTo>
                    <a:pt x="245" y="99"/>
                  </a:lnTo>
                  <a:lnTo>
                    <a:pt x="252" y="97"/>
                  </a:lnTo>
                  <a:lnTo>
                    <a:pt x="246" y="96"/>
                  </a:lnTo>
                  <a:lnTo>
                    <a:pt x="256" y="94"/>
                  </a:lnTo>
                  <a:lnTo>
                    <a:pt x="256" y="93"/>
                  </a:lnTo>
                  <a:lnTo>
                    <a:pt x="249" y="90"/>
                  </a:lnTo>
                  <a:lnTo>
                    <a:pt x="246" y="90"/>
                  </a:lnTo>
                  <a:lnTo>
                    <a:pt x="250" y="85"/>
                  </a:lnTo>
                  <a:lnTo>
                    <a:pt x="243" y="90"/>
                  </a:lnTo>
                  <a:lnTo>
                    <a:pt x="240" y="87"/>
                  </a:lnTo>
                  <a:lnTo>
                    <a:pt x="235" y="89"/>
                  </a:lnTo>
                  <a:lnTo>
                    <a:pt x="238" y="85"/>
                  </a:lnTo>
                  <a:lnTo>
                    <a:pt x="231" y="89"/>
                  </a:lnTo>
                  <a:lnTo>
                    <a:pt x="235" y="84"/>
                  </a:lnTo>
                  <a:lnTo>
                    <a:pt x="229" y="84"/>
                  </a:lnTo>
                  <a:lnTo>
                    <a:pt x="225" y="82"/>
                  </a:lnTo>
                  <a:lnTo>
                    <a:pt x="219" y="82"/>
                  </a:lnTo>
                  <a:lnTo>
                    <a:pt x="228" y="79"/>
                  </a:lnTo>
                  <a:lnTo>
                    <a:pt x="210" y="76"/>
                  </a:lnTo>
                  <a:lnTo>
                    <a:pt x="220" y="76"/>
                  </a:lnTo>
                  <a:lnTo>
                    <a:pt x="210" y="73"/>
                  </a:lnTo>
                  <a:lnTo>
                    <a:pt x="223" y="75"/>
                  </a:lnTo>
                  <a:lnTo>
                    <a:pt x="219" y="72"/>
                  </a:lnTo>
                  <a:lnTo>
                    <a:pt x="227" y="71"/>
                  </a:lnTo>
                  <a:lnTo>
                    <a:pt x="214" y="70"/>
                  </a:lnTo>
                  <a:lnTo>
                    <a:pt x="219" y="67"/>
                  </a:lnTo>
                  <a:lnTo>
                    <a:pt x="214" y="67"/>
                  </a:lnTo>
                  <a:lnTo>
                    <a:pt x="223" y="66"/>
                  </a:lnTo>
                  <a:lnTo>
                    <a:pt x="215" y="65"/>
                  </a:lnTo>
                  <a:lnTo>
                    <a:pt x="240" y="67"/>
                  </a:lnTo>
                  <a:lnTo>
                    <a:pt x="221" y="61"/>
                  </a:lnTo>
                  <a:lnTo>
                    <a:pt x="207" y="61"/>
                  </a:lnTo>
                  <a:lnTo>
                    <a:pt x="239" y="59"/>
                  </a:lnTo>
                  <a:lnTo>
                    <a:pt x="233" y="51"/>
                  </a:lnTo>
                  <a:lnTo>
                    <a:pt x="215" y="58"/>
                  </a:lnTo>
                  <a:lnTo>
                    <a:pt x="205" y="60"/>
                  </a:lnTo>
                  <a:lnTo>
                    <a:pt x="226" y="52"/>
                  </a:lnTo>
                  <a:lnTo>
                    <a:pt x="207" y="55"/>
                  </a:lnTo>
                  <a:lnTo>
                    <a:pt x="234" y="47"/>
                  </a:lnTo>
                  <a:lnTo>
                    <a:pt x="219" y="45"/>
                  </a:lnTo>
                  <a:lnTo>
                    <a:pt x="213" y="46"/>
                  </a:lnTo>
                  <a:lnTo>
                    <a:pt x="220" y="42"/>
                  </a:lnTo>
                  <a:lnTo>
                    <a:pt x="202" y="48"/>
                  </a:lnTo>
                  <a:lnTo>
                    <a:pt x="192" y="55"/>
                  </a:lnTo>
                  <a:lnTo>
                    <a:pt x="197" y="4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5" name="Freeform 394"/>
            <p:cNvSpPr>
              <a:spLocks/>
            </p:cNvSpPr>
            <p:nvPr/>
          </p:nvSpPr>
          <p:spPr bwMode="auto">
            <a:xfrm>
              <a:off x="1505" y="1159"/>
              <a:ext cx="382" cy="86"/>
            </a:xfrm>
            <a:custGeom>
              <a:avLst/>
              <a:gdLst/>
              <a:ahLst/>
              <a:cxnLst>
                <a:cxn ang="0">
                  <a:pos x="85" y="56"/>
                </a:cxn>
                <a:cxn ang="0">
                  <a:pos x="64" y="65"/>
                </a:cxn>
                <a:cxn ang="0">
                  <a:pos x="52" y="59"/>
                </a:cxn>
                <a:cxn ang="0">
                  <a:pos x="62" y="55"/>
                </a:cxn>
                <a:cxn ang="0">
                  <a:pos x="42" y="52"/>
                </a:cxn>
                <a:cxn ang="0">
                  <a:pos x="95" y="46"/>
                </a:cxn>
                <a:cxn ang="0">
                  <a:pos x="71" y="30"/>
                </a:cxn>
                <a:cxn ang="0">
                  <a:pos x="103" y="29"/>
                </a:cxn>
                <a:cxn ang="0">
                  <a:pos x="116" y="35"/>
                </a:cxn>
                <a:cxn ang="0">
                  <a:pos x="108" y="28"/>
                </a:cxn>
                <a:cxn ang="0">
                  <a:pos x="157" y="22"/>
                </a:cxn>
                <a:cxn ang="0">
                  <a:pos x="182" y="16"/>
                </a:cxn>
                <a:cxn ang="0">
                  <a:pos x="131" y="20"/>
                </a:cxn>
                <a:cxn ang="0">
                  <a:pos x="78" y="24"/>
                </a:cxn>
                <a:cxn ang="0">
                  <a:pos x="124" y="19"/>
                </a:cxn>
                <a:cxn ang="0">
                  <a:pos x="71" y="25"/>
                </a:cxn>
                <a:cxn ang="0">
                  <a:pos x="55" y="22"/>
                </a:cxn>
                <a:cxn ang="0">
                  <a:pos x="104" y="18"/>
                </a:cxn>
                <a:cxn ang="0">
                  <a:pos x="52" y="18"/>
                </a:cxn>
                <a:cxn ang="0">
                  <a:pos x="84" y="16"/>
                </a:cxn>
                <a:cxn ang="0">
                  <a:pos x="43" y="13"/>
                </a:cxn>
                <a:cxn ang="0">
                  <a:pos x="97" y="8"/>
                </a:cxn>
                <a:cxn ang="0">
                  <a:pos x="164" y="12"/>
                </a:cxn>
                <a:cxn ang="0">
                  <a:pos x="156" y="1"/>
                </a:cxn>
                <a:cxn ang="0">
                  <a:pos x="210" y="4"/>
                </a:cxn>
                <a:cxn ang="0">
                  <a:pos x="198" y="0"/>
                </a:cxn>
                <a:cxn ang="0">
                  <a:pos x="270" y="4"/>
                </a:cxn>
                <a:cxn ang="0">
                  <a:pos x="344" y="7"/>
                </a:cxn>
                <a:cxn ang="0">
                  <a:pos x="295" y="13"/>
                </a:cxn>
                <a:cxn ang="0">
                  <a:pos x="246" y="19"/>
                </a:cxn>
                <a:cxn ang="0">
                  <a:pos x="304" y="16"/>
                </a:cxn>
                <a:cxn ang="0">
                  <a:pos x="251" y="25"/>
                </a:cxn>
                <a:cxn ang="0">
                  <a:pos x="198" y="35"/>
                </a:cxn>
                <a:cxn ang="0">
                  <a:pos x="149" y="40"/>
                </a:cxn>
                <a:cxn ang="0">
                  <a:pos x="176" y="44"/>
                </a:cxn>
                <a:cxn ang="0">
                  <a:pos x="138" y="47"/>
                </a:cxn>
                <a:cxn ang="0">
                  <a:pos x="169" y="49"/>
                </a:cxn>
                <a:cxn ang="0">
                  <a:pos x="126" y="59"/>
                </a:cxn>
                <a:cxn ang="0">
                  <a:pos x="122" y="65"/>
                </a:cxn>
                <a:cxn ang="0">
                  <a:pos x="86" y="67"/>
                </a:cxn>
                <a:cxn ang="0">
                  <a:pos x="115" y="76"/>
                </a:cxn>
                <a:cxn ang="0">
                  <a:pos x="79" y="78"/>
                </a:cxn>
                <a:cxn ang="0">
                  <a:pos x="40" y="78"/>
                </a:cxn>
                <a:cxn ang="0">
                  <a:pos x="0" y="77"/>
                </a:cxn>
                <a:cxn ang="0">
                  <a:pos x="28" y="67"/>
                </a:cxn>
                <a:cxn ang="0">
                  <a:pos x="22" y="61"/>
                </a:cxn>
                <a:cxn ang="0">
                  <a:pos x="64" y="66"/>
                </a:cxn>
                <a:cxn ang="0">
                  <a:pos x="85" y="56"/>
                </a:cxn>
              </a:cxnLst>
              <a:rect l="0" t="0" r="r" b="b"/>
              <a:pathLst>
                <a:path w="344" h="78">
                  <a:moveTo>
                    <a:pt x="85" y="56"/>
                  </a:moveTo>
                  <a:lnTo>
                    <a:pt x="64" y="65"/>
                  </a:lnTo>
                  <a:lnTo>
                    <a:pt x="52" y="59"/>
                  </a:lnTo>
                  <a:lnTo>
                    <a:pt x="62" y="55"/>
                  </a:lnTo>
                  <a:lnTo>
                    <a:pt x="42" y="52"/>
                  </a:lnTo>
                  <a:lnTo>
                    <a:pt x="95" y="46"/>
                  </a:lnTo>
                  <a:lnTo>
                    <a:pt x="71" y="30"/>
                  </a:lnTo>
                  <a:lnTo>
                    <a:pt x="103" y="29"/>
                  </a:lnTo>
                  <a:lnTo>
                    <a:pt x="116" y="35"/>
                  </a:lnTo>
                  <a:lnTo>
                    <a:pt x="108" y="28"/>
                  </a:lnTo>
                  <a:lnTo>
                    <a:pt x="157" y="22"/>
                  </a:lnTo>
                  <a:lnTo>
                    <a:pt x="182" y="16"/>
                  </a:lnTo>
                  <a:lnTo>
                    <a:pt x="131" y="20"/>
                  </a:lnTo>
                  <a:lnTo>
                    <a:pt x="78" y="24"/>
                  </a:lnTo>
                  <a:lnTo>
                    <a:pt x="124" y="19"/>
                  </a:lnTo>
                  <a:lnTo>
                    <a:pt x="71" y="25"/>
                  </a:lnTo>
                  <a:lnTo>
                    <a:pt x="55" y="22"/>
                  </a:lnTo>
                  <a:lnTo>
                    <a:pt x="104" y="18"/>
                  </a:lnTo>
                  <a:lnTo>
                    <a:pt x="52" y="18"/>
                  </a:lnTo>
                  <a:lnTo>
                    <a:pt x="84" y="16"/>
                  </a:lnTo>
                  <a:lnTo>
                    <a:pt x="43" y="13"/>
                  </a:lnTo>
                  <a:lnTo>
                    <a:pt x="97" y="8"/>
                  </a:lnTo>
                  <a:lnTo>
                    <a:pt x="164" y="12"/>
                  </a:lnTo>
                  <a:lnTo>
                    <a:pt x="156" y="1"/>
                  </a:lnTo>
                  <a:lnTo>
                    <a:pt x="210" y="4"/>
                  </a:lnTo>
                  <a:lnTo>
                    <a:pt x="198" y="0"/>
                  </a:lnTo>
                  <a:lnTo>
                    <a:pt x="270" y="4"/>
                  </a:lnTo>
                  <a:lnTo>
                    <a:pt x="344" y="7"/>
                  </a:lnTo>
                  <a:lnTo>
                    <a:pt x="295" y="13"/>
                  </a:lnTo>
                  <a:lnTo>
                    <a:pt x="246" y="19"/>
                  </a:lnTo>
                  <a:lnTo>
                    <a:pt x="304" y="16"/>
                  </a:lnTo>
                  <a:lnTo>
                    <a:pt x="251" y="25"/>
                  </a:lnTo>
                  <a:lnTo>
                    <a:pt x="198" y="35"/>
                  </a:lnTo>
                  <a:lnTo>
                    <a:pt x="149" y="40"/>
                  </a:lnTo>
                  <a:lnTo>
                    <a:pt x="176" y="44"/>
                  </a:lnTo>
                  <a:lnTo>
                    <a:pt x="138" y="47"/>
                  </a:lnTo>
                  <a:lnTo>
                    <a:pt x="169" y="49"/>
                  </a:lnTo>
                  <a:lnTo>
                    <a:pt x="126" y="59"/>
                  </a:lnTo>
                  <a:lnTo>
                    <a:pt x="122" y="65"/>
                  </a:lnTo>
                  <a:lnTo>
                    <a:pt x="86" y="67"/>
                  </a:lnTo>
                  <a:lnTo>
                    <a:pt x="115" y="76"/>
                  </a:lnTo>
                  <a:lnTo>
                    <a:pt x="79" y="78"/>
                  </a:lnTo>
                  <a:lnTo>
                    <a:pt x="40" y="78"/>
                  </a:lnTo>
                  <a:lnTo>
                    <a:pt x="0" y="77"/>
                  </a:lnTo>
                  <a:lnTo>
                    <a:pt x="28" y="67"/>
                  </a:lnTo>
                  <a:lnTo>
                    <a:pt x="22" y="61"/>
                  </a:lnTo>
                  <a:lnTo>
                    <a:pt x="64" y="66"/>
                  </a:lnTo>
                  <a:lnTo>
                    <a:pt x="85"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6" name="Freeform 395"/>
            <p:cNvSpPr>
              <a:spLocks/>
            </p:cNvSpPr>
            <p:nvPr/>
          </p:nvSpPr>
          <p:spPr bwMode="auto">
            <a:xfrm>
              <a:off x="1043" y="1294"/>
              <a:ext cx="213" cy="80"/>
            </a:xfrm>
            <a:custGeom>
              <a:avLst/>
              <a:gdLst/>
              <a:ahLst/>
              <a:cxnLst>
                <a:cxn ang="0">
                  <a:pos x="125" y="65"/>
                </a:cxn>
                <a:cxn ang="0">
                  <a:pos x="117" y="60"/>
                </a:cxn>
                <a:cxn ang="0">
                  <a:pos x="114" y="59"/>
                </a:cxn>
                <a:cxn ang="0">
                  <a:pos x="93" y="66"/>
                </a:cxn>
                <a:cxn ang="0">
                  <a:pos x="61" y="69"/>
                </a:cxn>
                <a:cxn ang="0">
                  <a:pos x="29" y="72"/>
                </a:cxn>
                <a:cxn ang="0">
                  <a:pos x="30" y="64"/>
                </a:cxn>
                <a:cxn ang="0">
                  <a:pos x="0" y="55"/>
                </a:cxn>
                <a:cxn ang="0">
                  <a:pos x="6" y="47"/>
                </a:cxn>
                <a:cxn ang="0">
                  <a:pos x="39" y="46"/>
                </a:cxn>
                <a:cxn ang="0">
                  <a:pos x="73" y="45"/>
                </a:cxn>
                <a:cxn ang="0">
                  <a:pos x="42" y="40"/>
                </a:cxn>
                <a:cxn ang="0">
                  <a:pos x="9" y="39"/>
                </a:cxn>
                <a:cxn ang="0">
                  <a:pos x="6" y="35"/>
                </a:cxn>
                <a:cxn ang="0">
                  <a:pos x="48" y="27"/>
                </a:cxn>
                <a:cxn ang="0">
                  <a:pos x="17" y="28"/>
                </a:cxn>
                <a:cxn ang="0">
                  <a:pos x="25" y="25"/>
                </a:cxn>
                <a:cxn ang="0">
                  <a:pos x="11" y="25"/>
                </a:cxn>
                <a:cxn ang="0">
                  <a:pos x="32" y="16"/>
                </a:cxn>
                <a:cxn ang="0">
                  <a:pos x="30" y="13"/>
                </a:cxn>
                <a:cxn ang="0">
                  <a:pos x="60" y="6"/>
                </a:cxn>
                <a:cxn ang="0">
                  <a:pos x="89" y="0"/>
                </a:cxn>
                <a:cxn ang="0">
                  <a:pos x="91" y="4"/>
                </a:cxn>
                <a:cxn ang="0">
                  <a:pos x="78" y="11"/>
                </a:cxn>
                <a:cxn ang="0">
                  <a:pos x="89" y="10"/>
                </a:cxn>
                <a:cxn ang="0">
                  <a:pos x="99" y="5"/>
                </a:cxn>
                <a:cxn ang="0">
                  <a:pos x="111" y="12"/>
                </a:cxn>
                <a:cxn ang="0">
                  <a:pos x="104" y="16"/>
                </a:cxn>
                <a:cxn ang="0">
                  <a:pos x="109" y="15"/>
                </a:cxn>
                <a:cxn ang="0">
                  <a:pos x="125" y="13"/>
                </a:cxn>
                <a:cxn ang="0">
                  <a:pos x="126" y="10"/>
                </a:cxn>
                <a:cxn ang="0">
                  <a:pos x="128" y="5"/>
                </a:cxn>
                <a:cxn ang="0">
                  <a:pos x="140" y="12"/>
                </a:cxn>
                <a:cxn ang="0">
                  <a:pos x="133" y="25"/>
                </a:cxn>
                <a:cxn ang="0">
                  <a:pos x="145" y="21"/>
                </a:cxn>
                <a:cxn ang="0">
                  <a:pos x="156" y="3"/>
                </a:cxn>
                <a:cxn ang="0">
                  <a:pos x="175" y="3"/>
                </a:cxn>
                <a:cxn ang="0">
                  <a:pos x="177" y="12"/>
                </a:cxn>
                <a:cxn ang="0">
                  <a:pos x="167" y="31"/>
                </a:cxn>
                <a:cxn ang="0">
                  <a:pos x="168" y="41"/>
                </a:cxn>
                <a:cxn ang="0">
                  <a:pos x="171" y="41"/>
                </a:cxn>
                <a:cxn ang="0">
                  <a:pos x="191" y="47"/>
                </a:cxn>
                <a:cxn ang="0">
                  <a:pos x="188" y="51"/>
                </a:cxn>
                <a:cxn ang="0">
                  <a:pos x="180" y="54"/>
                </a:cxn>
                <a:cxn ang="0">
                  <a:pos x="181" y="51"/>
                </a:cxn>
                <a:cxn ang="0">
                  <a:pos x="174" y="53"/>
                </a:cxn>
                <a:cxn ang="0">
                  <a:pos x="169" y="53"/>
                </a:cxn>
                <a:cxn ang="0">
                  <a:pos x="161" y="57"/>
                </a:cxn>
                <a:cxn ang="0">
                  <a:pos x="156" y="57"/>
                </a:cxn>
                <a:cxn ang="0">
                  <a:pos x="151" y="63"/>
                </a:cxn>
                <a:cxn ang="0">
                  <a:pos x="169" y="58"/>
                </a:cxn>
                <a:cxn ang="0">
                  <a:pos x="167" y="60"/>
                </a:cxn>
                <a:cxn ang="0">
                  <a:pos x="161" y="65"/>
                </a:cxn>
                <a:cxn ang="0">
                  <a:pos x="125" y="65"/>
                </a:cxn>
              </a:cxnLst>
              <a:rect l="0" t="0" r="r" b="b"/>
              <a:pathLst>
                <a:path w="191" h="72">
                  <a:moveTo>
                    <a:pt x="125" y="65"/>
                  </a:moveTo>
                  <a:lnTo>
                    <a:pt x="117" y="60"/>
                  </a:lnTo>
                  <a:lnTo>
                    <a:pt x="114" y="59"/>
                  </a:lnTo>
                  <a:lnTo>
                    <a:pt x="93" y="66"/>
                  </a:lnTo>
                  <a:lnTo>
                    <a:pt x="61" y="69"/>
                  </a:lnTo>
                  <a:lnTo>
                    <a:pt x="29" y="72"/>
                  </a:lnTo>
                  <a:lnTo>
                    <a:pt x="30" y="64"/>
                  </a:lnTo>
                  <a:lnTo>
                    <a:pt x="0" y="55"/>
                  </a:lnTo>
                  <a:lnTo>
                    <a:pt x="6" y="47"/>
                  </a:lnTo>
                  <a:lnTo>
                    <a:pt x="39" y="46"/>
                  </a:lnTo>
                  <a:lnTo>
                    <a:pt x="73" y="45"/>
                  </a:lnTo>
                  <a:lnTo>
                    <a:pt x="42" y="40"/>
                  </a:lnTo>
                  <a:lnTo>
                    <a:pt x="9" y="39"/>
                  </a:lnTo>
                  <a:lnTo>
                    <a:pt x="6" y="35"/>
                  </a:lnTo>
                  <a:lnTo>
                    <a:pt x="48" y="27"/>
                  </a:lnTo>
                  <a:lnTo>
                    <a:pt x="17" y="28"/>
                  </a:lnTo>
                  <a:lnTo>
                    <a:pt x="25" y="25"/>
                  </a:lnTo>
                  <a:lnTo>
                    <a:pt x="11" y="25"/>
                  </a:lnTo>
                  <a:lnTo>
                    <a:pt x="32" y="16"/>
                  </a:lnTo>
                  <a:lnTo>
                    <a:pt x="30" y="13"/>
                  </a:lnTo>
                  <a:lnTo>
                    <a:pt x="60" y="6"/>
                  </a:lnTo>
                  <a:lnTo>
                    <a:pt x="89" y="0"/>
                  </a:lnTo>
                  <a:lnTo>
                    <a:pt x="91" y="4"/>
                  </a:lnTo>
                  <a:lnTo>
                    <a:pt x="78" y="11"/>
                  </a:lnTo>
                  <a:lnTo>
                    <a:pt x="89" y="10"/>
                  </a:lnTo>
                  <a:lnTo>
                    <a:pt x="99" y="5"/>
                  </a:lnTo>
                  <a:lnTo>
                    <a:pt x="111" y="12"/>
                  </a:lnTo>
                  <a:lnTo>
                    <a:pt x="104" y="16"/>
                  </a:lnTo>
                  <a:lnTo>
                    <a:pt x="109" y="15"/>
                  </a:lnTo>
                  <a:lnTo>
                    <a:pt x="125" y="13"/>
                  </a:lnTo>
                  <a:lnTo>
                    <a:pt x="126" y="10"/>
                  </a:lnTo>
                  <a:lnTo>
                    <a:pt x="128" y="5"/>
                  </a:lnTo>
                  <a:lnTo>
                    <a:pt x="140" y="12"/>
                  </a:lnTo>
                  <a:lnTo>
                    <a:pt x="133" y="25"/>
                  </a:lnTo>
                  <a:lnTo>
                    <a:pt x="145" y="21"/>
                  </a:lnTo>
                  <a:lnTo>
                    <a:pt x="156" y="3"/>
                  </a:lnTo>
                  <a:lnTo>
                    <a:pt x="175" y="3"/>
                  </a:lnTo>
                  <a:lnTo>
                    <a:pt x="177" y="12"/>
                  </a:lnTo>
                  <a:lnTo>
                    <a:pt x="167" y="31"/>
                  </a:lnTo>
                  <a:lnTo>
                    <a:pt x="168" y="41"/>
                  </a:lnTo>
                  <a:lnTo>
                    <a:pt x="171" y="41"/>
                  </a:lnTo>
                  <a:lnTo>
                    <a:pt x="191" y="47"/>
                  </a:lnTo>
                  <a:lnTo>
                    <a:pt x="188" y="51"/>
                  </a:lnTo>
                  <a:lnTo>
                    <a:pt x="180" y="54"/>
                  </a:lnTo>
                  <a:lnTo>
                    <a:pt x="181" y="51"/>
                  </a:lnTo>
                  <a:lnTo>
                    <a:pt x="174" y="53"/>
                  </a:lnTo>
                  <a:lnTo>
                    <a:pt x="169" y="53"/>
                  </a:lnTo>
                  <a:lnTo>
                    <a:pt x="161" y="57"/>
                  </a:lnTo>
                  <a:lnTo>
                    <a:pt x="156" y="57"/>
                  </a:lnTo>
                  <a:lnTo>
                    <a:pt x="151" y="63"/>
                  </a:lnTo>
                  <a:lnTo>
                    <a:pt x="169" y="58"/>
                  </a:lnTo>
                  <a:lnTo>
                    <a:pt x="167" y="60"/>
                  </a:lnTo>
                  <a:lnTo>
                    <a:pt x="161" y="65"/>
                  </a:lnTo>
                  <a:lnTo>
                    <a:pt x="125" y="6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7" name="Freeform 396"/>
            <p:cNvSpPr>
              <a:spLocks/>
            </p:cNvSpPr>
            <p:nvPr/>
          </p:nvSpPr>
          <p:spPr bwMode="auto">
            <a:xfrm>
              <a:off x="980" y="1276"/>
              <a:ext cx="156" cy="54"/>
            </a:xfrm>
            <a:custGeom>
              <a:avLst/>
              <a:gdLst/>
              <a:ahLst/>
              <a:cxnLst>
                <a:cxn ang="0">
                  <a:pos x="64" y="33"/>
                </a:cxn>
                <a:cxn ang="0">
                  <a:pos x="42" y="44"/>
                </a:cxn>
                <a:cxn ang="0">
                  <a:pos x="11" y="49"/>
                </a:cxn>
                <a:cxn ang="0">
                  <a:pos x="6" y="38"/>
                </a:cxn>
                <a:cxn ang="0">
                  <a:pos x="0" y="33"/>
                </a:cxn>
                <a:cxn ang="0">
                  <a:pos x="21" y="25"/>
                </a:cxn>
                <a:cxn ang="0">
                  <a:pos x="28" y="20"/>
                </a:cxn>
                <a:cxn ang="0">
                  <a:pos x="52" y="9"/>
                </a:cxn>
                <a:cxn ang="0">
                  <a:pos x="51" y="2"/>
                </a:cxn>
                <a:cxn ang="0">
                  <a:pos x="94" y="0"/>
                </a:cxn>
                <a:cxn ang="0">
                  <a:pos x="104" y="3"/>
                </a:cxn>
                <a:cxn ang="0">
                  <a:pos x="107" y="6"/>
                </a:cxn>
                <a:cxn ang="0">
                  <a:pos x="129" y="3"/>
                </a:cxn>
                <a:cxn ang="0">
                  <a:pos x="140" y="14"/>
                </a:cxn>
                <a:cxn ang="0">
                  <a:pos x="108" y="21"/>
                </a:cxn>
                <a:cxn ang="0">
                  <a:pos x="77" y="28"/>
                </a:cxn>
                <a:cxn ang="0">
                  <a:pos x="64" y="33"/>
                </a:cxn>
              </a:cxnLst>
              <a:rect l="0" t="0" r="r" b="b"/>
              <a:pathLst>
                <a:path w="140" h="49">
                  <a:moveTo>
                    <a:pt x="64" y="33"/>
                  </a:moveTo>
                  <a:lnTo>
                    <a:pt x="42" y="44"/>
                  </a:lnTo>
                  <a:lnTo>
                    <a:pt x="11" y="49"/>
                  </a:lnTo>
                  <a:lnTo>
                    <a:pt x="6" y="38"/>
                  </a:lnTo>
                  <a:lnTo>
                    <a:pt x="0" y="33"/>
                  </a:lnTo>
                  <a:lnTo>
                    <a:pt x="21" y="25"/>
                  </a:lnTo>
                  <a:lnTo>
                    <a:pt x="28" y="20"/>
                  </a:lnTo>
                  <a:lnTo>
                    <a:pt x="52" y="9"/>
                  </a:lnTo>
                  <a:lnTo>
                    <a:pt x="51" y="2"/>
                  </a:lnTo>
                  <a:lnTo>
                    <a:pt x="94" y="0"/>
                  </a:lnTo>
                  <a:lnTo>
                    <a:pt x="104" y="3"/>
                  </a:lnTo>
                  <a:lnTo>
                    <a:pt x="107" y="6"/>
                  </a:lnTo>
                  <a:lnTo>
                    <a:pt x="129" y="3"/>
                  </a:lnTo>
                  <a:lnTo>
                    <a:pt x="140" y="14"/>
                  </a:lnTo>
                  <a:lnTo>
                    <a:pt x="108" y="21"/>
                  </a:lnTo>
                  <a:lnTo>
                    <a:pt x="77" y="28"/>
                  </a:lnTo>
                  <a:lnTo>
                    <a:pt x="64" y="3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8" name="Freeform 397"/>
            <p:cNvSpPr>
              <a:spLocks/>
            </p:cNvSpPr>
            <p:nvPr/>
          </p:nvSpPr>
          <p:spPr bwMode="auto">
            <a:xfrm>
              <a:off x="1611" y="1683"/>
              <a:ext cx="103" cy="93"/>
            </a:xfrm>
            <a:custGeom>
              <a:avLst/>
              <a:gdLst/>
              <a:ahLst/>
              <a:cxnLst>
                <a:cxn ang="0">
                  <a:pos x="47" y="67"/>
                </a:cxn>
                <a:cxn ang="0">
                  <a:pos x="48" y="64"/>
                </a:cxn>
                <a:cxn ang="0">
                  <a:pos x="22" y="68"/>
                </a:cxn>
                <a:cxn ang="0">
                  <a:pos x="0" y="66"/>
                </a:cxn>
                <a:cxn ang="0">
                  <a:pos x="5" y="58"/>
                </a:cxn>
                <a:cxn ang="0">
                  <a:pos x="16" y="51"/>
                </a:cxn>
                <a:cxn ang="0">
                  <a:pos x="5" y="51"/>
                </a:cxn>
                <a:cxn ang="0">
                  <a:pos x="10" y="49"/>
                </a:cxn>
                <a:cxn ang="0">
                  <a:pos x="23" y="42"/>
                </a:cxn>
                <a:cxn ang="0">
                  <a:pos x="24" y="43"/>
                </a:cxn>
                <a:cxn ang="0">
                  <a:pos x="26" y="39"/>
                </a:cxn>
                <a:cxn ang="0">
                  <a:pos x="23" y="36"/>
                </a:cxn>
                <a:cxn ang="0">
                  <a:pos x="29" y="33"/>
                </a:cxn>
                <a:cxn ang="0">
                  <a:pos x="43" y="14"/>
                </a:cxn>
                <a:cxn ang="0">
                  <a:pos x="60" y="1"/>
                </a:cxn>
                <a:cxn ang="0">
                  <a:pos x="67" y="0"/>
                </a:cxn>
                <a:cxn ang="0">
                  <a:pos x="73" y="0"/>
                </a:cxn>
                <a:cxn ang="0">
                  <a:pos x="64" y="4"/>
                </a:cxn>
                <a:cxn ang="0">
                  <a:pos x="66" y="7"/>
                </a:cxn>
                <a:cxn ang="0">
                  <a:pos x="60" y="13"/>
                </a:cxn>
                <a:cxn ang="0">
                  <a:pos x="43" y="33"/>
                </a:cxn>
                <a:cxn ang="0">
                  <a:pos x="56" y="24"/>
                </a:cxn>
                <a:cxn ang="0">
                  <a:pos x="54" y="27"/>
                </a:cxn>
                <a:cxn ang="0">
                  <a:pos x="64" y="26"/>
                </a:cxn>
                <a:cxn ang="0">
                  <a:pos x="55" y="31"/>
                </a:cxn>
                <a:cxn ang="0">
                  <a:pos x="55" y="34"/>
                </a:cxn>
                <a:cxn ang="0">
                  <a:pos x="65" y="37"/>
                </a:cxn>
                <a:cxn ang="0">
                  <a:pos x="62" y="40"/>
                </a:cxn>
                <a:cxn ang="0">
                  <a:pos x="76" y="34"/>
                </a:cxn>
                <a:cxn ang="0">
                  <a:pos x="74" y="38"/>
                </a:cxn>
                <a:cxn ang="0">
                  <a:pos x="88" y="37"/>
                </a:cxn>
                <a:cxn ang="0">
                  <a:pos x="78" y="46"/>
                </a:cxn>
                <a:cxn ang="0">
                  <a:pos x="80" y="50"/>
                </a:cxn>
                <a:cxn ang="0">
                  <a:pos x="76" y="54"/>
                </a:cxn>
                <a:cxn ang="0">
                  <a:pos x="92" y="50"/>
                </a:cxn>
                <a:cxn ang="0">
                  <a:pos x="77" y="60"/>
                </a:cxn>
                <a:cxn ang="0">
                  <a:pos x="78" y="62"/>
                </a:cxn>
                <a:cxn ang="0">
                  <a:pos x="77" y="62"/>
                </a:cxn>
                <a:cxn ang="0">
                  <a:pos x="77" y="68"/>
                </a:cxn>
                <a:cxn ang="0">
                  <a:pos x="91" y="57"/>
                </a:cxn>
                <a:cxn ang="0">
                  <a:pos x="84" y="68"/>
                </a:cxn>
                <a:cxn ang="0">
                  <a:pos x="91" y="64"/>
                </a:cxn>
                <a:cxn ang="0">
                  <a:pos x="92" y="69"/>
                </a:cxn>
                <a:cxn ang="0">
                  <a:pos x="80" y="85"/>
                </a:cxn>
                <a:cxn ang="0">
                  <a:pos x="74" y="82"/>
                </a:cxn>
                <a:cxn ang="0">
                  <a:pos x="74" y="76"/>
                </a:cxn>
                <a:cxn ang="0">
                  <a:pos x="67" y="80"/>
                </a:cxn>
                <a:cxn ang="0">
                  <a:pos x="74" y="68"/>
                </a:cxn>
                <a:cxn ang="0">
                  <a:pos x="71" y="63"/>
                </a:cxn>
                <a:cxn ang="0">
                  <a:pos x="64" y="72"/>
                </a:cxn>
                <a:cxn ang="0">
                  <a:pos x="67" y="68"/>
                </a:cxn>
                <a:cxn ang="0">
                  <a:pos x="44" y="81"/>
                </a:cxn>
                <a:cxn ang="0">
                  <a:pos x="44" y="76"/>
                </a:cxn>
                <a:cxn ang="0">
                  <a:pos x="62" y="67"/>
                </a:cxn>
                <a:cxn ang="0">
                  <a:pos x="58" y="68"/>
                </a:cxn>
                <a:cxn ang="0">
                  <a:pos x="61" y="64"/>
                </a:cxn>
                <a:cxn ang="0">
                  <a:pos x="54" y="67"/>
                </a:cxn>
                <a:cxn ang="0">
                  <a:pos x="48" y="70"/>
                </a:cxn>
                <a:cxn ang="0">
                  <a:pos x="42" y="69"/>
                </a:cxn>
                <a:cxn ang="0">
                  <a:pos x="47" y="67"/>
                </a:cxn>
              </a:cxnLst>
              <a:rect l="0" t="0" r="r" b="b"/>
              <a:pathLst>
                <a:path w="92" h="85">
                  <a:moveTo>
                    <a:pt x="47" y="67"/>
                  </a:moveTo>
                  <a:lnTo>
                    <a:pt x="48" y="64"/>
                  </a:lnTo>
                  <a:lnTo>
                    <a:pt x="22" y="68"/>
                  </a:lnTo>
                  <a:lnTo>
                    <a:pt x="0" y="66"/>
                  </a:lnTo>
                  <a:lnTo>
                    <a:pt x="5" y="58"/>
                  </a:lnTo>
                  <a:lnTo>
                    <a:pt x="16" y="51"/>
                  </a:lnTo>
                  <a:lnTo>
                    <a:pt x="5" y="51"/>
                  </a:lnTo>
                  <a:lnTo>
                    <a:pt x="10" y="49"/>
                  </a:lnTo>
                  <a:lnTo>
                    <a:pt x="23" y="42"/>
                  </a:lnTo>
                  <a:lnTo>
                    <a:pt x="24" y="43"/>
                  </a:lnTo>
                  <a:lnTo>
                    <a:pt x="26" y="39"/>
                  </a:lnTo>
                  <a:lnTo>
                    <a:pt x="23" y="36"/>
                  </a:lnTo>
                  <a:lnTo>
                    <a:pt x="29" y="33"/>
                  </a:lnTo>
                  <a:lnTo>
                    <a:pt x="43" y="14"/>
                  </a:lnTo>
                  <a:lnTo>
                    <a:pt x="60" y="1"/>
                  </a:lnTo>
                  <a:lnTo>
                    <a:pt x="67" y="0"/>
                  </a:lnTo>
                  <a:lnTo>
                    <a:pt x="73" y="0"/>
                  </a:lnTo>
                  <a:lnTo>
                    <a:pt x="64" y="4"/>
                  </a:lnTo>
                  <a:lnTo>
                    <a:pt x="66" y="7"/>
                  </a:lnTo>
                  <a:lnTo>
                    <a:pt x="60" y="13"/>
                  </a:lnTo>
                  <a:lnTo>
                    <a:pt x="43" y="33"/>
                  </a:lnTo>
                  <a:lnTo>
                    <a:pt x="56" y="24"/>
                  </a:lnTo>
                  <a:lnTo>
                    <a:pt x="54" y="27"/>
                  </a:lnTo>
                  <a:lnTo>
                    <a:pt x="64" y="26"/>
                  </a:lnTo>
                  <a:lnTo>
                    <a:pt x="55" y="31"/>
                  </a:lnTo>
                  <a:lnTo>
                    <a:pt x="55" y="34"/>
                  </a:lnTo>
                  <a:lnTo>
                    <a:pt x="65" y="37"/>
                  </a:lnTo>
                  <a:lnTo>
                    <a:pt x="62" y="40"/>
                  </a:lnTo>
                  <a:lnTo>
                    <a:pt x="76" y="34"/>
                  </a:lnTo>
                  <a:lnTo>
                    <a:pt x="74" y="38"/>
                  </a:lnTo>
                  <a:lnTo>
                    <a:pt x="88" y="37"/>
                  </a:lnTo>
                  <a:lnTo>
                    <a:pt x="78" y="46"/>
                  </a:lnTo>
                  <a:lnTo>
                    <a:pt x="80" y="50"/>
                  </a:lnTo>
                  <a:lnTo>
                    <a:pt x="76" y="54"/>
                  </a:lnTo>
                  <a:lnTo>
                    <a:pt x="92" y="50"/>
                  </a:lnTo>
                  <a:lnTo>
                    <a:pt x="77" y="60"/>
                  </a:lnTo>
                  <a:lnTo>
                    <a:pt x="78" y="62"/>
                  </a:lnTo>
                  <a:lnTo>
                    <a:pt x="77" y="62"/>
                  </a:lnTo>
                  <a:lnTo>
                    <a:pt x="77" y="68"/>
                  </a:lnTo>
                  <a:lnTo>
                    <a:pt x="91" y="57"/>
                  </a:lnTo>
                  <a:lnTo>
                    <a:pt x="84" y="68"/>
                  </a:lnTo>
                  <a:lnTo>
                    <a:pt x="91" y="64"/>
                  </a:lnTo>
                  <a:lnTo>
                    <a:pt x="92" y="69"/>
                  </a:lnTo>
                  <a:lnTo>
                    <a:pt x="80" y="85"/>
                  </a:lnTo>
                  <a:lnTo>
                    <a:pt x="74" y="82"/>
                  </a:lnTo>
                  <a:lnTo>
                    <a:pt x="74" y="76"/>
                  </a:lnTo>
                  <a:lnTo>
                    <a:pt x="67" y="80"/>
                  </a:lnTo>
                  <a:lnTo>
                    <a:pt x="74" y="68"/>
                  </a:lnTo>
                  <a:lnTo>
                    <a:pt x="71" y="63"/>
                  </a:lnTo>
                  <a:lnTo>
                    <a:pt x="64" y="72"/>
                  </a:lnTo>
                  <a:lnTo>
                    <a:pt x="67" y="68"/>
                  </a:lnTo>
                  <a:lnTo>
                    <a:pt x="44" y="81"/>
                  </a:lnTo>
                  <a:lnTo>
                    <a:pt x="44" y="76"/>
                  </a:lnTo>
                  <a:lnTo>
                    <a:pt x="62" y="67"/>
                  </a:lnTo>
                  <a:lnTo>
                    <a:pt x="58" y="68"/>
                  </a:lnTo>
                  <a:lnTo>
                    <a:pt x="61" y="64"/>
                  </a:lnTo>
                  <a:lnTo>
                    <a:pt x="54" y="67"/>
                  </a:lnTo>
                  <a:lnTo>
                    <a:pt x="48" y="70"/>
                  </a:lnTo>
                  <a:lnTo>
                    <a:pt x="42" y="69"/>
                  </a:lnTo>
                  <a:lnTo>
                    <a:pt x="47" y="6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9" name="Freeform 398"/>
            <p:cNvSpPr>
              <a:spLocks/>
            </p:cNvSpPr>
            <p:nvPr/>
          </p:nvSpPr>
          <p:spPr bwMode="auto">
            <a:xfrm>
              <a:off x="1414" y="1241"/>
              <a:ext cx="180" cy="31"/>
            </a:xfrm>
            <a:custGeom>
              <a:avLst/>
              <a:gdLst/>
              <a:ahLst/>
              <a:cxnLst>
                <a:cxn ang="0">
                  <a:pos x="65" y="15"/>
                </a:cxn>
                <a:cxn ang="0">
                  <a:pos x="48" y="9"/>
                </a:cxn>
                <a:cxn ang="0">
                  <a:pos x="72" y="9"/>
                </a:cxn>
                <a:cxn ang="0">
                  <a:pos x="29" y="6"/>
                </a:cxn>
                <a:cxn ang="0">
                  <a:pos x="37" y="0"/>
                </a:cxn>
                <a:cxn ang="0">
                  <a:pos x="0" y="1"/>
                </a:cxn>
                <a:cxn ang="0">
                  <a:pos x="34" y="6"/>
                </a:cxn>
                <a:cxn ang="0">
                  <a:pos x="28" y="17"/>
                </a:cxn>
                <a:cxn ang="0">
                  <a:pos x="22" y="29"/>
                </a:cxn>
                <a:cxn ang="0">
                  <a:pos x="57" y="28"/>
                </a:cxn>
                <a:cxn ang="0">
                  <a:pos x="90" y="28"/>
                </a:cxn>
                <a:cxn ang="0">
                  <a:pos x="125" y="27"/>
                </a:cxn>
                <a:cxn ang="0">
                  <a:pos x="159" y="27"/>
                </a:cxn>
                <a:cxn ang="0">
                  <a:pos x="163" y="19"/>
                </a:cxn>
                <a:cxn ang="0">
                  <a:pos x="137" y="13"/>
                </a:cxn>
                <a:cxn ang="0">
                  <a:pos x="101" y="15"/>
                </a:cxn>
                <a:cxn ang="0">
                  <a:pos x="65" y="15"/>
                </a:cxn>
              </a:cxnLst>
              <a:rect l="0" t="0" r="r" b="b"/>
              <a:pathLst>
                <a:path w="163" h="29">
                  <a:moveTo>
                    <a:pt x="65" y="15"/>
                  </a:moveTo>
                  <a:lnTo>
                    <a:pt x="48" y="9"/>
                  </a:lnTo>
                  <a:lnTo>
                    <a:pt x="72" y="9"/>
                  </a:lnTo>
                  <a:lnTo>
                    <a:pt x="29" y="6"/>
                  </a:lnTo>
                  <a:lnTo>
                    <a:pt x="37" y="0"/>
                  </a:lnTo>
                  <a:lnTo>
                    <a:pt x="0" y="1"/>
                  </a:lnTo>
                  <a:lnTo>
                    <a:pt x="34" y="6"/>
                  </a:lnTo>
                  <a:lnTo>
                    <a:pt x="28" y="17"/>
                  </a:lnTo>
                  <a:lnTo>
                    <a:pt x="22" y="29"/>
                  </a:lnTo>
                  <a:lnTo>
                    <a:pt x="57" y="28"/>
                  </a:lnTo>
                  <a:lnTo>
                    <a:pt x="90" y="28"/>
                  </a:lnTo>
                  <a:lnTo>
                    <a:pt x="125" y="27"/>
                  </a:lnTo>
                  <a:lnTo>
                    <a:pt x="159" y="27"/>
                  </a:lnTo>
                  <a:lnTo>
                    <a:pt x="163" y="19"/>
                  </a:lnTo>
                  <a:lnTo>
                    <a:pt x="137" y="13"/>
                  </a:lnTo>
                  <a:lnTo>
                    <a:pt x="101" y="15"/>
                  </a:lnTo>
                  <a:lnTo>
                    <a:pt x="65"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0" name="Freeform 399"/>
            <p:cNvSpPr>
              <a:spLocks/>
            </p:cNvSpPr>
            <p:nvPr/>
          </p:nvSpPr>
          <p:spPr bwMode="auto">
            <a:xfrm>
              <a:off x="1476" y="1181"/>
              <a:ext cx="113" cy="40"/>
            </a:xfrm>
            <a:custGeom>
              <a:avLst/>
              <a:gdLst/>
              <a:ahLst/>
              <a:cxnLst>
                <a:cxn ang="0">
                  <a:pos x="21" y="11"/>
                </a:cxn>
                <a:cxn ang="0">
                  <a:pos x="13" y="6"/>
                </a:cxn>
                <a:cxn ang="0">
                  <a:pos x="48" y="0"/>
                </a:cxn>
                <a:cxn ang="0">
                  <a:pos x="92" y="9"/>
                </a:cxn>
                <a:cxn ang="0">
                  <a:pos x="81" y="18"/>
                </a:cxn>
                <a:cxn ang="0">
                  <a:pos x="103" y="22"/>
                </a:cxn>
                <a:cxn ang="0">
                  <a:pos x="66" y="29"/>
                </a:cxn>
                <a:cxn ang="0">
                  <a:pos x="49" y="36"/>
                </a:cxn>
                <a:cxn ang="0">
                  <a:pos x="43" y="31"/>
                </a:cxn>
                <a:cxn ang="0">
                  <a:pos x="42" y="36"/>
                </a:cxn>
                <a:cxn ang="0">
                  <a:pos x="6" y="27"/>
                </a:cxn>
                <a:cxn ang="0">
                  <a:pos x="48" y="22"/>
                </a:cxn>
                <a:cxn ang="0">
                  <a:pos x="0" y="17"/>
                </a:cxn>
                <a:cxn ang="0">
                  <a:pos x="21" y="11"/>
                </a:cxn>
              </a:cxnLst>
              <a:rect l="0" t="0" r="r" b="b"/>
              <a:pathLst>
                <a:path w="103" h="36">
                  <a:moveTo>
                    <a:pt x="21" y="11"/>
                  </a:moveTo>
                  <a:lnTo>
                    <a:pt x="13" y="6"/>
                  </a:lnTo>
                  <a:lnTo>
                    <a:pt x="48" y="0"/>
                  </a:lnTo>
                  <a:lnTo>
                    <a:pt x="92" y="9"/>
                  </a:lnTo>
                  <a:lnTo>
                    <a:pt x="81" y="18"/>
                  </a:lnTo>
                  <a:lnTo>
                    <a:pt x="103" y="22"/>
                  </a:lnTo>
                  <a:lnTo>
                    <a:pt x="66" y="29"/>
                  </a:lnTo>
                  <a:lnTo>
                    <a:pt x="49" y="36"/>
                  </a:lnTo>
                  <a:lnTo>
                    <a:pt x="43" y="31"/>
                  </a:lnTo>
                  <a:lnTo>
                    <a:pt x="42" y="36"/>
                  </a:lnTo>
                  <a:lnTo>
                    <a:pt x="6" y="27"/>
                  </a:lnTo>
                  <a:lnTo>
                    <a:pt x="48" y="22"/>
                  </a:lnTo>
                  <a:lnTo>
                    <a:pt x="0" y="17"/>
                  </a:lnTo>
                  <a:lnTo>
                    <a:pt x="21"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1" name="Freeform 400"/>
            <p:cNvSpPr>
              <a:spLocks/>
            </p:cNvSpPr>
            <p:nvPr/>
          </p:nvSpPr>
          <p:spPr bwMode="auto">
            <a:xfrm>
              <a:off x="1142" y="1241"/>
              <a:ext cx="154" cy="35"/>
            </a:xfrm>
            <a:custGeom>
              <a:avLst/>
              <a:gdLst/>
              <a:ahLst/>
              <a:cxnLst>
                <a:cxn ang="0">
                  <a:pos x="37" y="34"/>
                </a:cxn>
                <a:cxn ang="0">
                  <a:pos x="22" y="29"/>
                </a:cxn>
                <a:cxn ang="0">
                  <a:pos x="68" y="22"/>
                </a:cxn>
                <a:cxn ang="0">
                  <a:pos x="33" y="21"/>
                </a:cxn>
                <a:cxn ang="0">
                  <a:pos x="0" y="21"/>
                </a:cxn>
                <a:cxn ang="0">
                  <a:pos x="32" y="16"/>
                </a:cxn>
                <a:cxn ang="0">
                  <a:pos x="18" y="15"/>
                </a:cxn>
                <a:cxn ang="0">
                  <a:pos x="39" y="12"/>
                </a:cxn>
                <a:cxn ang="0">
                  <a:pos x="30" y="9"/>
                </a:cxn>
                <a:cxn ang="0">
                  <a:pos x="69" y="11"/>
                </a:cxn>
                <a:cxn ang="0">
                  <a:pos x="96" y="18"/>
                </a:cxn>
                <a:cxn ang="0">
                  <a:pos x="97" y="6"/>
                </a:cxn>
                <a:cxn ang="0">
                  <a:pos x="121" y="0"/>
                </a:cxn>
                <a:cxn ang="0">
                  <a:pos x="112" y="15"/>
                </a:cxn>
                <a:cxn ang="0">
                  <a:pos x="139" y="13"/>
                </a:cxn>
                <a:cxn ang="0">
                  <a:pos x="117" y="24"/>
                </a:cxn>
                <a:cxn ang="0">
                  <a:pos x="100" y="23"/>
                </a:cxn>
                <a:cxn ang="0">
                  <a:pos x="69" y="28"/>
                </a:cxn>
                <a:cxn ang="0">
                  <a:pos x="37" y="34"/>
                </a:cxn>
              </a:cxnLst>
              <a:rect l="0" t="0" r="r" b="b"/>
              <a:pathLst>
                <a:path w="139" h="34">
                  <a:moveTo>
                    <a:pt x="37" y="34"/>
                  </a:moveTo>
                  <a:lnTo>
                    <a:pt x="22" y="29"/>
                  </a:lnTo>
                  <a:lnTo>
                    <a:pt x="68" y="22"/>
                  </a:lnTo>
                  <a:lnTo>
                    <a:pt x="33" y="21"/>
                  </a:lnTo>
                  <a:lnTo>
                    <a:pt x="0" y="21"/>
                  </a:lnTo>
                  <a:lnTo>
                    <a:pt x="32" y="16"/>
                  </a:lnTo>
                  <a:lnTo>
                    <a:pt x="18" y="15"/>
                  </a:lnTo>
                  <a:lnTo>
                    <a:pt x="39" y="12"/>
                  </a:lnTo>
                  <a:lnTo>
                    <a:pt x="30" y="9"/>
                  </a:lnTo>
                  <a:lnTo>
                    <a:pt x="69" y="11"/>
                  </a:lnTo>
                  <a:lnTo>
                    <a:pt x="96" y="18"/>
                  </a:lnTo>
                  <a:lnTo>
                    <a:pt x="97" y="6"/>
                  </a:lnTo>
                  <a:lnTo>
                    <a:pt x="121" y="0"/>
                  </a:lnTo>
                  <a:lnTo>
                    <a:pt x="112" y="15"/>
                  </a:lnTo>
                  <a:lnTo>
                    <a:pt x="139" y="13"/>
                  </a:lnTo>
                  <a:lnTo>
                    <a:pt x="117" y="24"/>
                  </a:lnTo>
                  <a:lnTo>
                    <a:pt x="100" y="23"/>
                  </a:lnTo>
                  <a:lnTo>
                    <a:pt x="69" y="28"/>
                  </a:lnTo>
                  <a:lnTo>
                    <a:pt x="37"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2" name="Freeform 401"/>
            <p:cNvSpPr>
              <a:spLocks/>
            </p:cNvSpPr>
            <p:nvPr/>
          </p:nvSpPr>
          <p:spPr bwMode="auto">
            <a:xfrm>
              <a:off x="1347" y="1419"/>
              <a:ext cx="95" cy="49"/>
            </a:xfrm>
            <a:custGeom>
              <a:avLst/>
              <a:gdLst/>
              <a:ahLst/>
              <a:cxnLst>
                <a:cxn ang="0">
                  <a:pos x="62" y="32"/>
                </a:cxn>
                <a:cxn ang="0">
                  <a:pos x="53" y="30"/>
                </a:cxn>
                <a:cxn ang="0">
                  <a:pos x="54" y="28"/>
                </a:cxn>
                <a:cxn ang="0">
                  <a:pos x="47" y="30"/>
                </a:cxn>
                <a:cxn ang="0">
                  <a:pos x="18" y="43"/>
                </a:cxn>
                <a:cxn ang="0">
                  <a:pos x="18" y="35"/>
                </a:cxn>
                <a:cxn ang="0">
                  <a:pos x="0" y="35"/>
                </a:cxn>
                <a:cxn ang="0">
                  <a:pos x="18" y="26"/>
                </a:cxn>
                <a:cxn ang="0">
                  <a:pos x="29" y="13"/>
                </a:cxn>
                <a:cxn ang="0">
                  <a:pos x="41" y="0"/>
                </a:cxn>
                <a:cxn ang="0">
                  <a:pos x="48" y="4"/>
                </a:cxn>
                <a:cxn ang="0">
                  <a:pos x="46" y="10"/>
                </a:cxn>
                <a:cxn ang="0">
                  <a:pos x="53" y="7"/>
                </a:cxn>
                <a:cxn ang="0">
                  <a:pos x="76" y="22"/>
                </a:cxn>
                <a:cxn ang="0">
                  <a:pos x="68" y="30"/>
                </a:cxn>
                <a:cxn ang="0">
                  <a:pos x="86" y="30"/>
                </a:cxn>
                <a:cxn ang="0">
                  <a:pos x="87" y="34"/>
                </a:cxn>
                <a:cxn ang="0">
                  <a:pos x="72" y="38"/>
                </a:cxn>
                <a:cxn ang="0">
                  <a:pos x="62" y="32"/>
                </a:cxn>
              </a:cxnLst>
              <a:rect l="0" t="0" r="r" b="b"/>
              <a:pathLst>
                <a:path w="87" h="43">
                  <a:moveTo>
                    <a:pt x="62" y="32"/>
                  </a:moveTo>
                  <a:lnTo>
                    <a:pt x="53" y="30"/>
                  </a:lnTo>
                  <a:lnTo>
                    <a:pt x="54" y="28"/>
                  </a:lnTo>
                  <a:lnTo>
                    <a:pt x="47" y="30"/>
                  </a:lnTo>
                  <a:lnTo>
                    <a:pt x="18" y="43"/>
                  </a:lnTo>
                  <a:lnTo>
                    <a:pt x="18" y="35"/>
                  </a:lnTo>
                  <a:lnTo>
                    <a:pt x="0" y="35"/>
                  </a:lnTo>
                  <a:lnTo>
                    <a:pt x="18" y="26"/>
                  </a:lnTo>
                  <a:lnTo>
                    <a:pt x="29" y="13"/>
                  </a:lnTo>
                  <a:lnTo>
                    <a:pt x="41" y="0"/>
                  </a:lnTo>
                  <a:lnTo>
                    <a:pt x="48" y="4"/>
                  </a:lnTo>
                  <a:lnTo>
                    <a:pt x="46" y="10"/>
                  </a:lnTo>
                  <a:lnTo>
                    <a:pt x="53" y="7"/>
                  </a:lnTo>
                  <a:lnTo>
                    <a:pt x="76" y="22"/>
                  </a:lnTo>
                  <a:lnTo>
                    <a:pt x="68" y="30"/>
                  </a:lnTo>
                  <a:lnTo>
                    <a:pt x="86" y="30"/>
                  </a:lnTo>
                  <a:lnTo>
                    <a:pt x="87" y="34"/>
                  </a:lnTo>
                  <a:lnTo>
                    <a:pt x="72" y="38"/>
                  </a:lnTo>
                  <a:lnTo>
                    <a:pt x="62" y="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3" name="Freeform 402"/>
            <p:cNvSpPr>
              <a:spLocks/>
            </p:cNvSpPr>
            <p:nvPr/>
          </p:nvSpPr>
          <p:spPr bwMode="auto">
            <a:xfrm>
              <a:off x="1276" y="1288"/>
              <a:ext cx="84" cy="35"/>
            </a:xfrm>
            <a:custGeom>
              <a:avLst/>
              <a:gdLst/>
              <a:ahLst/>
              <a:cxnLst>
                <a:cxn ang="0">
                  <a:pos x="76" y="0"/>
                </a:cxn>
                <a:cxn ang="0">
                  <a:pos x="32" y="0"/>
                </a:cxn>
                <a:cxn ang="0">
                  <a:pos x="37" y="8"/>
                </a:cxn>
                <a:cxn ang="0">
                  <a:pos x="27" y="14"/>
                </a:cxn>
                <a:cxn ang="0">
                  <a:pos x="0" y="14"/>
                </a:cxn>
                <a:cxn ang="0">
                  <a:pos x="15" y="23"/>
                </a:cxn>
                <a:cxn ang="0">
                  <a:pos x="32" y="33"/>
                </a:cxn>
                <a:cxn ang="0">
                  <a:pos x="36" y="28"/>
                </a:cxn>
                <a:cxn ang="0">
                  <a:pos x="56" y="27"/>
                </a:cxn>
                <a:cxn ang="0">
                  <a:pos x="66" y="14"/>
                </a:cxn>
                <a:cxn ang="0">
                  <a:pos x="76" y="0"/>
                </a:cxn>
              </a:cxnLst>
              <a:rect l="0" t="0" r="r" b="b"/>
              <a:pathLst>
                <a:path w="76" h="33">
                  <a:moveTo>
                    <a:pt x="76" y="0"/>
                  </a:moveTo>
                  <a:lnTo>
                    <a:pt x="32" y="0"/>
                  </a:lnTo>
                  <a:lnTo>
                    <a:pt x="37" y="8"/>
                  </a:lnTo>
                  <a:lnTo>
                    <a:pt x="27" y="14"/>
                  </a:lnTo>
                  <a:lnTo>
                    <a:pt x="0" y="14"/>
                  </a:lnTo>
                  <a:lnTo>
                    <a:pt x="15" y="23"/>
                  </a:lnTo>
                  <a:lnTo>
                    <a:pt x="32" y="33"/>
                  </a:lnTo>
                  <a:lnTo>
                    <a:pt x="36" y="28"/>
                  </a:lnTo>
                  <a:lnTo>
                    <a:pt x="56" y="27"/>
                  </a:lnTo>
                  <a:lnTo>
                    <a:pt x="66" y="14"/>
                  </a:lnTo>
                  <a:lnTo>
                    <a:pt x="7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4" name="Freeform 403"/>
            <p:cNvSpPr>
              <a:spLocks/>
            </p:cNvSpPr>
            <p:nvPr/>
          </p:nvSpPr>
          <p:spPr bwMode="auto">
            <a:xfrm>
              <a:off x="1356" y="1281"/>
              <a:ext cx="89" cy="35"/>
            </a:xfrm>
            <a:custGeom>
              <a:avLst/>
              <a:gdLst/>
              <a:ahLst/>
              <a:cxnLst>
                <a:cxn ang="0">
                  <a:pos x="49" y="18"/>
                </a:cxn>
                <a:cxn ang="0">
                  <a:pos x="22" y="20"/>
                </a:cxn>
                <a:cxn ang="0">
                  <a:pos x="26" y="23"/>
                </a:cxn>
                <a:cxn ang="0">
                  <a:pos x="14" y="30"/>
                </a:cxn>
                <a:cxn ang="0">
                  <a:pos x="0" y="32"/>
                </a:cxn>
                <a:cxn ang="0">
                  <a:pos x="2" y="29"/>
                </a:cxn>
                <a:cxn ang="0">
                  <a:pos x="16" y="9"/>
                </a:cxn>
                <a:cxn ang="0">
                  <a:pos x="26" y="8"/>
                </a:cxn>
                <a:cxn ang="0">
                  <a:pos x="25" y="4"/>
                </a:cxn>
                <a:cxn ang="0">
                  <a:pos x="34" y="0"/>
                </a:cxn>
                <a:cxn ang="0">
                  <a:pos x="80" y="4"/>
                </a:cxn>
                <a:cxn ang="0">
                  <a:pos x="68" y="9"/>
                </a:cxn>
                <a:cxn ang="0">
                  <a:pos x="49" y="18"/>
                </a:cxn>
              </a:cxnLst>
              <a:rect l="0" t="0" r="r" b="b"/>
              <a:pathLst>
                <a:path w="80" h="32">
                  <a:moveTo>
                    <a:pt x="49" y="18"/>
                  </a:moveTo>
                  <a:lnTo>
                    <a:pt x="22" y="20"/>
                  </a:lnTo>
                  <a:lnTo>
                    <a:pt x="26" y="23"/>
                  </a:lnTo>
                  <a:lnTo>
                    <a:pt x="14" y="30"/>
                  </a:lnTo>
                  <a:lnTo>
                    <a:pt x="0" y="32"/>
                  </a:lnTo>
                  <a:lnTo>
                    <a:pt x="2" y="29"/>
                  </a:lnTo>
                  <a:lnTo>
                    <a:pt x="16" y="9"/>
                  </a:lnTo>
                  <a:lnTo>
                    <a:pt x="26" y="8"/>
                  </a:lnTo>
                  <a:lnTo>
                    <a:pt x="25" y="4"/>
                  </a:lnTo>
                  <a:lnTo>
                    <a:pt x="34" y="0"/>
                  </a:lnTo>
                  <a:lnTo>
                    <a:pt x="80" y="4"/>
                  </a:lnTo>
                  <a:lnTo>
                    <a:pt x="68" y="9"/>
                  </a:lnTo>
                  <a:lnTo>
                    <a:pt x="4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5" name="Freeform 404"/>
            <p:cNvSpPr>
              <a:spLocks/>
            </p:cNvSpPr>
            <p:nvPr/>
          </p:nvSpPr>
          <p:spPr bwMode="auto">
            <a:xfrm>
              <a:off x="578" y="1696"/>
              <a:ext cx="49" cy="47"/>
            </a:xfrm>
            <a:custGeom>
              <a:avLst/>
              <a:gdLst/>
              <a:ahLst/>
              <a:cxnLst>
                <a:cxn ang="0">
                  <a:pos x="30" y="27"/>
                </a:cxn>
                <a:cxn ang="0">
                  <a:pos x="28" y="30"/>
                </a:cxn>
                <a:cxn ang="0">
                  <a:pos x="16" y="29"/>
                </a:cxn>
                <a:cxn ang="0">
                  <a:pos x="19" y="26"/>
                </a:cxn>
                <a:cxn ang="0">
                  <a:pos x="14" y="25"/>
                </a:cxn>
                <a:cxn ang="0">
                  <a:pos x="8" y="23"/>
                </a:cxn>
                <a:cxn ang="0">
                  <a:pos x="18" y="19"/>
                </a:cxn>
                <a:cxn ang="0">
                  <a:pos x="8" y="15"/>
                </a:cxn>
                <a:cxn ang="0">
                  <a:pos x="8" y="12"/>
                </a:cxn>
                <a:cxn ang="0">
                  <a:pos x="2" y="11"/>
                </a:cxn>
                <a:cxn ang="0">
                  <a:pos x="1" y="8"/>
                </a:cxn>
                <a:cxn ang="0">
                  <a:pos x="8" y="3"/>
                </a:cxn>
                <a:cxn ang="0">
                  <a:pos x="5" y="5"/>
                </a:cxn>
                <a:cxn ang="0">
                  <a:pos x="0" y="0"/>
                </a:cxn>
                <a:cxn ang="0">
                  <a:pos x="14" y="2"/>
                </a:cxn>
                <a:cxn ang="0">
                  <a:pos x="30" y="6"/>
                </a:cxn>
                <a:cxn ang="0">
                  <a:pos x="34" y="14"/>
                </a:cxn>
                <a:cxn ang="0">
                  <a:pos x="41" y="25"/>
                </a:cxn>
                <a:cxn ang="0">
                  <a:pos x="42" y="37"/>
                </a:cxn>
                <a:cxn ang="0">
                  <a:pos x="43" y="41"/>
                </a:cxn>
                <a:cxn ang="0">
                  <a:pos x="22" y="35"/>
                </a:cxn>
                <a:cxn ang="0">
                  <a:pos x="30" y="27"/>
                </a:cxn>
              </a:cxnLst>
              <a:rect l="0" t="0" r="r" b="b"/>
              <a:pathLst>
                <a:path w="43" h="41">
                  <a:moveTo>
                    <a:pt x="30" y="27"/>
                  </a:moveTo>
                  <a:lnTo>
                    <a:pt x="28" y="30"/>
                  </a:lnTo>
                  <a:lnTo>
                    <a:pt x="16" y="29"/>
                  </a:lnTo>
                  <a:lnTo>
                    <a:pt x="19" y="26"/>
                  </a:lnTo>
                  <a:lnTo>
                    <a:pt x="14" y="25"/>
                  </a:lnTo>
                  <a:lnTo>
                    <a:pt x="8" y="23"/>
                  </a:lnTo>
                  <a:lnTo>
                    <a:pt x="18" y="19"/>
                  </a:lnTo>
                  <a:lnTo>
                    <a:pt x="8" y="15"/>
                  </a:lnTo>
                  <a:lnTo>
                    <a:pt x="8" y="12"/>
                  </a:lnTo>
                  <a:lnTo>
                    <a:pt x="2" y="11"/>
                  </a:lnTo>
                  <a:lnTo>
                    <a:pt x="1" y="8"/>
                  </a:lnTo>
                  <a:lnTo>
                    <a:pt x="8" y="3"/>
                  </a:lnTo>
                  <a:lnTo>
                    <a:pt x="5" y="5"/>
                  </a:lnTo>
                  <a:lnTo>
                    <a:pt x="0" y="0"/>
                  </a:lnTo>
                  <a:lnTo>
                    <a:pt x="14" y="2"/>
                  </a:lnTo>
                  <a:lnTo>
                    <a:pt x="30" y="6"/>
                  </a:lnTo>
                  <a:lnTo>
                    <a:pt x="34" y="14"/>
                  </a:lnTo>
                  <a:lnTo>
                    <a:pt x="41" y="25"/>
                  </a:lnTo>
                  <a:lnTo>
                    <a:pt x="42" y="37"/>
                  </a:lnTo>
                  <a:lnTo>
                    <a:pt x="43" y="41"/>
                  </a:lnTo>
                  <a:lnTo>
                    <a:pt x="22" y="35"/>
                  </a:lnTo>
                  <a:lnTo>
                    <a:pt x="3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6" name="Freeform 405"/>
            <p:cNvSpPr>
              <a:spLocks/>
            </p:cNvSpPr>
            <p:nvPr/>
          </p:nvSpPr>
          <p:spPr bwMode="auto">
            <a:xfrm>
              <a:off x="1100" y="1230"/>
              <a:ext cx="111" cy="24"/>
            </a:xfrm>
            <a:custGeom>
              <a:avLst/>
              <a:gdLst/>
              <a:ahLst/>
              <a:cxnLst>
                <a:cxn ang="0">
                  <a:pos x="60" y="12"/>
                </a:cxn>
                <a:cxn ang="0">
                  <a:pos x="63" y="9"/>
                </a:cxn>
                <a:cxn ang="0">
                  <a:pos x="49" y="13"/>
                </a:cxn>
                <a:cxn ang="0">
                  <a:pos x="39" y="17"/>
                </a:cxn>
                <a:cxn ang="0">
                  <a:pos x="36" y="15"/>
                </a:cxn>
                <a:cxn ang="0">
                  <a:pos x="29" y="20"/>
                </a:cxn>
                <a:cxn ang="0">
                  <a:pos x="19" y="21"/>
                </a:cxn>
                <a:cxn ang="0">
                  <a:pos x="19" y="18"/>
                </a:cxn>
                <a:cxn ang="0">
                  <a:pos x="11" y="20"/>
                </a:cxn>
                <a:cxn ang="0">
                  <a:pos x="0" y="19"/>
                </a:cxn>
                <a:cxn ang="0">
                  <a:pos x="6" y="15"/>
                </a:cxn>
                <a:cxn ang="0">
                  <a:pos x="43" y="7"/>
                </a:cxn>
                <a:cxn ang="0">
                  <a:pos x="69" y="1"/>
                </a:cxn>
                <a:cxn ang="0">
                  <a:pos x="85" y="0"/>
                </a:cxn>
                <a:cxn ang="0">
                  <a:pos x="101" y="2"/>
                </a:cxn>
                <a:cxn ang="0">
                  <a:pos x="87" y="6"/>
                </a:cxn>
                <a:cxn ang="0">
                  <a:pos x="89" y="7"/>
                </a:cxn>
                <a:cxn ang="0">
                  <a:pos x="85" y="8"/>
                </a:cxn>
                <a:cxn ang="0">
                  <a:pos x="69" y="12"/>
                </a:cxn>
                <a:cxn ang="0">
                  <a:pos x="60" y="17"/>
                </a:cxn>
                <a:cxn ang="0">
                  <a:pos x="60" y="12"/>
                </a:cxn>
              </a:cxnLst>
              <a:rect l="0" t="0" r="r" b="b"/>
              <a:pathLst>
                <a:path w="101" h="21">
                  <a:moveTo>
                    <a:pt x="60" y="12"/>
                  </a:moveTo>
                  <a:lnTo>
                    <a:pt x="63" y="9"/>
                  </a:lnTo>
                  <a:lnTo>
                    <a:pt x="49" y="13"/>
                  </a:lnTo>
                  <a:lnTo>
                    <a:pt x="39" y="17"/>
                  </a:lnTo>
                  <a:lnTo>
                    <a:pt x="36" y="15"/>
                  </a:lnTo>
                  <a:lnTo>
                    <a:pt x="29" y="20"/>
                  </a:lnTo>
                  <a:lnTo>
                    <a:pt x="19" y="21"/>
                  </a:lnTo>
                  <a:lnTo>
                    <a:pt x="19" y="18"/>
                  </a:lnTo>
                  <a:lnTo>
                    <a:pt x="11" y="20"/>
                  </a:lnTo>
                  <a:lnTo>
                    <a:pt x="0" y="19"/>
                  </a:lnTo>
                  <a:lnTo>
                    <a:pt x="6" y="15"/>
                  </a:lnTo>
                  <a:lnTo>
                    <a:pt x="43" y="7"/>
                  </a:lnTo>
                  <a:lnTo>
                    <a:pt x="69" y="1"/>
                  </a:lnTo>
                  <a:lnTo>
                    <a:pt x="85" y="0"/>
                  </a:lnTo>
                  <a:lnTo>
                    <a:pt x="101" y="2"/>
                  </a:lnTo>
                  <a:lnTo>
                    <a:pt x="87" y="6"/>
                  </a:lnTo>
                  <a:lnTo>
                    <a:pt x="89" y="7"/>
                  </a:lnTo>
                  <a:lnTo>
                    <a:pt x="85" y="8"/>
                  </a:lnTo>
                  <a:lnTo>
                    <a:pt x="69" y="12"/>
                  </a:lnTo>
                  <a:lnTo>
                    <a:pt x="60" y="17"/>
                  </a:lnTo>
                  <a:lnTo>
                    <a:pt x="6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7" name="Freeform 406"/>
            <p:cNvSpPr>
              <a:spLocks/>
            </p:cNvSpPr>
            <p:nvPr/>
          </p:nvSpPr>
          <p:spPr bwMode="auto">
            <a:xfrm>
              <a:off x="1327" y="1243"/>
              <a:ext cx="67" cy="25"/>
            </a:xfrm>
            <a:custGeom>
              <a:avLst/>
              <a:gdLst/>
              <a:ahLst/>
              <a:cxnLst>
                <a:cxn ang="0">
                  <a:pos x="29" y="7"/>
                </a:cxn>
                <a:cxn ang="0">
                  <a:pos x="19" y="4"/>
                </a:cxn>
                <a:cxn ang="0">
                  <a:pos x="23" y="6"/>
                </a:cxn>
                <a:cxn ang="0">
                  <a:pos x="16" y="7"/>
                </a:cxn>
                <a:cxn ang="0">
                  <a:pos x="16" y="9"/>
                </a:cxn>
                <a:cxn ang="0">
                  <a:pos x="15" y="10"/>
                </a:cxn>
                <a:cxn ang="0">
                  <a:pos x="0" y="13"/>
                </a:cxn>
                <a:cxn ang="0">
                  <a:pos x="40" y="13"/>
                </a:cxn>
                <a:cxn ang="0">
                  <a:pos x="16" y="18"/>
                </a:cxn>
                <a:cxn ang="0">
                  <a:pos x="15" y="19"/>
                </a:cxn>
                <a:cxn ang="0">
                  <a:pos x="39" y="21"/>
                </a:cxn>
                <a:cxn ang="0">
                  <a:pos x="41" y="19"/>
                </a:cxn>
                <a:cxn ang="0">
                  <a:pos x="45" y="16"/>
                </a:cxn>
                <a:cxn ang="0">
                  <a:pos x="53" y="16"/>
                </a:cxn>
                <a:cxn ang="0">
                  <a:pos x="55" y="13"/>
                </a:cxn>
                <a:cxn ang="0">
                  <a:pos x="51" y="12"/>
                </a:cxn>
                <a:cxn ang="0">
                  <a:pos x="61" y="4"/>
                </a:cxn>
                <a:cxn ang="0">
                  <a:pos x="59" y="0"/>
                </a:cxn>
                <a:cxn ang="0">
                  <a:pos x="49" y="2"/>
                </a:cxn>
                <a:cxn ang="0">
                  <a:pos x="31" y="2"/>
                </a:cxn>
                <a:cxn ang="0">
                  <a:pos x="39" y="7"/>
                </a:cxn>
                <a:cxn ang="0">
                  <a:pos x="33" y="8"/>
                </a:cxn>
                <a:cxn ang="0">
                  <a:pos x="29" y="7"/>
                </a:cxn>
              </a:cxnLst>
              <a:rect l="0" t="0" r="r" b="b"/>
              <a:pathLst>
                <a:path w="61" h="21">
                  <a:moveTo>
                    <a:pt x="29" y="7"/>
                  </a:moveTo>
                  <a:lnTo>
                    <a:pt x="19" y="4"/>
                  </a:lnTo>
                  <a:lnTo>
                    <a:pt x="23" y="6"/>
                  </a:lnTo>
                  <a:lnTo>
                    <a:pt x="16" y="7"/>
                  </a:lnTo>
                  <a:lnTo>
                    <a:pt x="16" y="9"/>
                  </a:lnTo>
                  <a:lnTo>
                    <a:pt x="15" y="10"/>
                  </a:lnTo>
                  <a:lnTo>
                    <a:pt x="0" y="13"/>
                  </a:lnTo>
                  <a:lnTo>
                    <a:pt x="40" y="13"/>
                  </a:lnTo>
                  <a:lnTo>
                    <a:pt x="16" y="18"/>
                  </a:lnTo>
                  <a:lnTo>
                    <a:pt x="15" y="19"/>
                  </a:lnTo>
                  <a:lnTo>
                    <a:pt x="39" y="21"/>
                  </a:lnTo>
                  <a:lnTo>
                    <a:pt x="41" y="19"/>
                  </a:lnTo>
                  <a:lnTo>
                    <a:pt x="45" y="16"/>
                  </a:lnTo>
                  <a:lnTo>
                    <a:pt x="53" y="16"/>
                  </a:lnTo>
                  <a:lnTo>
                    <a:pt x="55" y="13"/>
                  </a:lnTo>
                  <a:lnTo>
                    <a:pt x="51" y="12"/>
                  </a:lnTo>
                  <a:lnTo>
                    <a:pt x="61" y="4"/>
                  </a:lnTo>
                  <a:lnTo>
                    <a:pt x="59" y="0"/>
                  </a:lnTo>
                  <a:lnTo>
                    <a:pt x="49" y="2"/>
                  </a:lnTo>
                  <a:lnTo>
                    <a:pt x="31" y="2"/>
                  </a:lnTo>
                  <a:lnTo>
                    <a:pt x="39" y="7"/>
                  </a:lnTo>
                  <a:lnTo>
                    <a:pt x="33" y="8"/>
                  </a:lnTo>
                  <a:lnTo>
                    <a:pt x="29"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8" name="Freeform 407"/>
            <p:cNvSpPr>
              <a:spLocks/>
            </p:cNvSpPr>
            <p:nvPr/>
          </p:nvSpPr>
          <p:spPr bwMode="auto">
            <a:xfrm>
              <a:off x="1351" y="1205"/>
              <a:ext cx="63" cy="23"/>
            </a:xfrm>
            <a:custGeom>
              <a:avLst/>
              <a:gdLst/>
              <a:ahLst/>
              <a:cxnLst>
                <a:cxn ang="0">
                  <a:pos x="35" y="4"/>
                </a:cxn>
                <a:cxn ang="0">
                  <a:pos x="36" y="2"/>
                </a:cxn>
                <a:cxn ang="0">
                  <a:pos x="49" y="4"/>
                </a:cxn>
                <a:cxn ang="0">
                  <a:pos x="54" y="5"/>
                </a:cxn>
                <a:cxn ang="0">
                  <a:pos x="52" y="10"/>
                </a:cxn>
                <a:cxn ang="0">
                  <a:pos x="55" y="16"/>
                </a:cxn>
                <a:cxn ang="0">
                  <a:pos x="41" y="19"/>
                </a:cxn>
                <a:cxn ang="0">
                  <a:pos x="26" y="12"/>
                </a:cxn>
                <a:cxn ang="0">
                  <a:pos x="0" y="11"/>
                </a:cxn>
                <a:cxn ang="0">
                  <a:pos x="6" y="8"/>
                </a:cxn>
                <a:cxn ang="0">
                  <a:pos x="19" y="7"/>
                </a:cxn>
                <a:cxn ang="0">
                  <a:pos x="18" y="4"/>
                </a:cxn>
                <a:cxn ang="0">
                  <a:pos x="10" y="4"/>
                </a:cxn>
                <a:cxn ang="0">
                  <a:pos x="6" y="0"/>
                </a:cxn>
                <a:cxn ang="0">
                  <a:pos x="35" y="0"/>
                </a:cxn>
                <a:cxn ang="0">
                  <a:pos x="35" y="4"/>
                </a:cxn>
              </a:cxnLst>
              <a:rect l="0" t="0" r="r" b="b"/>
              <a:pathLst>
                <a:path w="55" h="19">
                  <a:moveTo>
                    <a:pt x="35" y="4"/>
                  </a:moveTo>
                  <a:lnTo>
                    <a:pt x="36" y="2"/>
                  </a:lnTo>
                  <a:lnTo>
                    <a:pt x="49" y="4"/>
                  </a:lnTo>
                  <a:lnTo>
                    <a:pt x="54" y="5"/>
                  </a:lnTo>
                  <a:lnTo>
                    <a:pt x="52" y="10"/>
                  </a:lnTo>
                  <a:lnTo>
                    <a:pt x="55" y="16"/>
                  </a:lnTo>
                  <a:lnTo>
                    <a:pt x="41" y="19"/>
                  </a:lnTo>
                  <a:lnTo>
                    <a:pt x="26" y="12"/>
                  </a:lnTo>
                  <a:lnTo>
                    <a:pt x="0" y="11"/>
                  </a:lnTo>
                  <a:lnTo>
                    <a:pt x="6" y="8"/>
                  </a:lnTo>
                  <a:lnTo>
                    <a:pt x="19" y="7"/>
                  </a:lnTo>
                  <a:lnTo>
                    <a:pt x="18" y="4"/>
                  </a:lnTo>
                  <a:lnTo>
                    <a:pt x="10" y="4"/>
                  </a:lnTo>
                  <a:lnTo>
                    <a:pt x="6" y="0"/>
                  </a:lnTo>
                  <a:lnTo>
                    <a:pt x="35" y="0"/>
                  </a:lnTo>
                  <a:lnTo>
                    <a:pt x="3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9" name="Freeform 408"/>
            <p:cNvSpPr>
              <a:spLocks/>
            </p:cNvSpPr>
            <p:nvPr/>
          </p:nvSpPr>
          <p:spPr bwMode="auto">
            <a:xfrm>
              <a:off x="1256" y="1350"/>
              <a:ext cx="53" cy="24"/>
            </a:xfrm>
            <a:custGeom>
              <a:avLst/>
              <a:gdLst/>
              <a:ahLst/>
              <a:cxnLst>
                <a:cxn ang="0">
                  <a:pos x="42" y="12"/>
                </a:cxn>
                <a:cxn ang="0">
                  <a:pos x="43" y="9"/>
                </a:cxn>
                <a:cxn ang="0">
                  <a:pos x="30" y="0"/>
                </a:cxn>
                <a:cxn ang="0">
                  <a:pos x="22" y="6"/>
                </a:cxn>
                <a:cxn ang="0">
                  <a:pos x="21" y="4"/>
                </a:cxn>
                <a:cxn ang="0">
                  <a:pos x="18" y="9"/>
                </a:cxn>
                <a:cxn ang="0">
                  <a:pos x="0" y="14"/>
                </a:cxn>
                <a:cxn ang="0">
                  <a:pos x="28" y="22"/>
                </a:cxn>
                <a:cxn ang="0">
                  <a:pos x="49" y="16"/>
                </a:cxn>
                <a:cxn ang="0">
                  <a:pos x="43" y="16"/>
                </a:cxn>
                <a:cxn ang="0">
                  <a:pos x="42" y="12"/>
                </a:cxn>
              </a:cxnLst>
              <a:rect l="0" t="0" r="r" b="b"/>
              <a:pathLst>
                <a:path w="49" h="22">
                  <a:moveTo>
                    <a:pt x="42" y="12"/>
                  </a:moveTo>
                  <a:lnTo>
                    <a:pt x="43" y="9"/>
                  </a:lnTo>
                  <a:lnTo>
                    <a:pt x="30" y="0"/>
                  </a:lnTo>
                  <a:lnTo>
                    <a:pt x="22" y="6"/>
                  </a:lnTo>
                  <a:lnTo>
                    <a:pt x="21" y="4"/>
                  </a:lnTo>
                  <a:lnTo>
                    <a:pt x="18" y="9"/>
                  </a:lnTo>
                  <a:lnTo>
                    <a:pt x="0" y="14"/>
                  </a:lnTo>
                  <a:lnTo>
                    <a:pt x="28" y="22"/>
                  </a:lnTo>
                  <a:lnTo>
                    <a:pt x="49" y="16"/>
                  </a:lnTo>
                  <a:lnTo>
                    <a:pt x="43" y="16"/>
                  </a:lnTo>
                  <a:lnTo>
                    <a:pt x="42"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0" name="Freeform 409"/>
            <p:cNvSpPr>
              <a:spLocks/>
            </p:cNvSpPr>
            <p:nvPr/>
          </p:nvSpPr>
          <p:spPr bwMode="auto">
            <a:xfrm>
              <a:off x="1549" y="1290"/>
              <a:ext cx="53" cy="13"/>
            </a:xfrm>
            <a:custGeom>
              <a:avLst/>
              <a:gdLst/>
              <a:ahLst/>
              <a:cxnLst>
                <a:cxn ang="0">
                  <a:pos x="33" y="0"/>
                </a:cxn>
                <a:cxn ang="0">
                  <a:pos x="2" y="0"/>
                </a:cxn>
                <a:cxn ang="0">
                  <a:pos x="0" y="4"/>
                </a:cxn>
                <a:cxn ang="0">
                  <a:pos x="5" y="8"/>
                </a:cxn>
                <a:cxn ang="0">
                  <a:pos x="9" y="13"/>
                </a:cxn>
                <a:cxn ang="0">
                  <a:pos x="48" y="10"/>
                </a:cxn>
                <a:cxn ang="0">
                  <a:pos x="33" y="0"/>
                </a:cxn>
              </a:cxnLst>
              <a:rect l="0" t="0" r="r" b="b"/>
              <a:pathLst>
                <a:path w="48" h="13">
                  <a:moveTo>
                    <a:pt x="33" y="0"/>
                  </a:moveTo>
                  <a:lnTo>
                    <a:pt x="2" y="0"/>
                  </a:lnTo>
                  <a:lnTo>
                    <a:pt x="0" y="4"/>
                  </a:lnTo>
                  <a:lnTo>
                    <a:pt x="5" y="8"/>
                  </a:lnTo>
                  <a:lnTo>
                    <a:pt x="9" y="13"/>
                  </a:lnTo>
                  <a:lnTo>
                    <a:pt x="48" y="10"/>
                  </a:lnTo>
                  <a:lnTo>
                    <a:pt x="3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1" name="Freeform 410"/>
            <p:cNvSpPr>
              <a:spLocks/>
            </p:cNvSpPr>
            <p:nvPr/>
          </p:nvSpPr>
          <p:spPr bwMode="auto">
            <a:xfrm>
              <a:off x="1527" y="1376"/>
              <a:ext cx="33" cy="20"/>
            </a:xfrm>
            <a:custGeom>
              <a:avLst/>
              <a:gdLst/>
              <a:ahLst/>
              <a:cxnLst>
                <a:cxn ang="0">
                  <a:pos x="27" y="11"/>
                </a:cxn>
                <a:cxn ang="0">
                  <a:pos x="4" y="17"/>
                </a:cxn>
                <a:cxn ang="0">
                  <a:pos x="0" y="8"/>
                </a:cxn>
                <a:cxn ang="0">
                  <a:pos x="19" y="0"/>
                </a:cxn>
                <a:cxn ang="0">
                  <a:pos x="30" y="3"/>
                </a:cxn>
                <a:cxn ang="0">
                  <a:pos x="27" y="11"/>
                </a:cxn>
              </a:cxnLst>
              <a:rect l="0" t="0" r="r" b="b"/>
              <a:pathLst>
                <a:path w="30" h="17">
                  <a:moveTo>
                    <a:pt x="27" y="11"/>
                  </a:moveTo>
                  <a:lnTo>
                    <a:pt x="4" y="17"/>
                  </a:lnTo>
                  <a:lnTo>
                    <a:pt x="0" y="8"/>
                  </a:lnTo>
                  <a:lnTo>
                    <a:pt x="19" y="0"/>
                  </a:lnTo>
                  <a:lnTo>
                    <a:pt x="30" y="3"/>
                  </a:lnTo>
                  <a:lnTo>
                    <a:pt x="27"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2" name="Freeform 411"/>
            <p:cNvSpPr>
              <a:spLocks/>
            </p:cNvSpPr>
            <p:nvPr/>
          </p:nvSpPr>
          <p:spPr bwMode="auto">
            <a:xfrm>
              <a:off x="1427" y="1212"/>
              <a:ext cx="38" cy="16"/>
            </a:xfrm>
            <a:custGeom>
              <a:avLst/>
              <a:gdLst/>
              <a:ahLst/>
              <a:cxnLst>
                <a:cxn ang="0">
                  <a:pos x="0" y="6"/>
                </a:cxn>
                <a:cxn ang="0">
                  <a:pos x="4" y="0"/>
                </a:cxn>
                <a:cxn ang="0">
                  <a:pos x="34" y="5"/>
                </a:cxn>
                <a:cxn ang="0">
                  <a:pos x="29" y="8"/>
                </a:cxn>
                <a:cxn ang="0">
                  <a:pos x="4" y="13"/>
                </a:cxn>
                <a:cxn ang="0">
                  <a:pos x="0" y="8"/>
                </a:cxn>
                <a:cxn ang="0">
                  <a:pos x="0" y="6"/>
                </a:cxn>
              </a:cxnLst>
              <a:rect l="0" t="0" r="r" b="b"/>
              <a:pathLst>
                <a:path w="34" h="13">
                  <a:moveTo>
                    <a:pt x="0" y="6"/>
                  </a:moveTo>
                  <a:lnTo>
                    <a:pt x="4" y="0"/>
                  </a:lnTo>
                  <a:lnTo>
                    <a:pt x="34" y="5"/>
                  </a:lnTo>
                  <a:lnTo>
                    <a:pt x="29" y="8"/>
                  </a:lnTo>
                  <a:lnTo>
                    <a:pt x="4" y="13"/>
                  </a:lnTo>
                  <a:lnTo>
                    <a:pt x="0" y="8"/>
                  </a:lnTo>
                  <a:lnTo>
                    <a:pt x="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3" name="Freeform 412"/>
            <p:cNvSpPr>
              <a:spLocks/>
            </p:cNvSpPr>
            <p:nvPr/>
          </p:nvSpPr>
          <p:spPr bwMode="auto">
            <a:xfrm>
              <a:off x="1385" y="1259"/>
              <a:ext cx="37" cy="11"/>
            </a:xfrm>
            <a:custGeom>
              <a:avLst/>
              <a:gdLst/>
              <a:ahLst/>
              <a:cxnLst>
                <a:cxn ang="0">
                  <a:pos x="10" y="11"/>
                </a:cxn>
                <a:cxn ang="0">
                  <a:pos x="0" y="8"/>
                </a:cxn>
                <a:cxn ang="0">
                  <a:pos x="26" y="0"/>
                </a:cxn>
                <a:cxn ang="0">
                  <a:pos x="35" y="7"/>
                </a:cxn>
                <a:cxn ang="0">
                  <a:pos x="31" y="11"/>
                </a:cxn>
                <a:cxn ang="0">
                  <a:pos x="10" y="11"/>
                </a:cxn>
              </a:cxnLst>
              <a:rect l="0" t="0" r="r" b="b"/>
              <a:pathLst>
                <a:path w="35" h="11">
                  <a:moveTo>
                    <a:pt x="10" y="11"/>
                  </a:moveTo>
                  <a:lnTo>
                    <a:pt x="0" y="8"/>
                  </a:lnTo>
                  <a:lnTo>
                    <a:pt x="26" y="0"/>
                  </a:lnTo>
                  <a:lnTo>
                    <a:pt x="35" y="7"/>
                  </a:lnTo>
                  <a:lnTo>
                    <a:pt x="31" y="11"/>
                  </a:lnTo>
                  <a:lnTo>
                    <a:pt x="10"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4" name="Freeform 413"/>
            <p:cNvSpPr>
              <a:spLocks/>
            </p:cNvSpPr>
            <p:nvPr/>
          </p:nvSpPr>
          <p:spPr bwMode="auto">
            <a:xfrm>
              <a:off x="1236" y="1288"/>
              <a:ext cx="31" cy="13"/>
            </a:xfrm>
            <a:custGeom>
              <a:avLst/>
              <a:gdLst/>
              <a:ahLst/>
              <a:cxnLst>
                <a:cxn ang="0">
                  <a:pos x="8" y="12"/>
                </a:cxn>
                <a:cxn ang="0">
                  <a:pos x="0" y="4"/>
                </a:cxn>
                <a:cxn ang="0">
                  <a:pos x="24" y="0"/>
                </a:cxn>
                <a:cxn ang="0">
                  <a:pos x="28" y="3"/>
                </a:cxn>
                <a:cxn ang="0">
                  <a:pos x="8" y="12"/>
                </a:cxn>
              </a:cxnLst>
              <a:rect l="0" t="0" r="r" b="b"/>
              <a:pathLst>
                <a:path w="28" h="12">
                  <a:moveTo>
                    <a:pt x="8" y="12"/>
                  </a:moveTo>
                  <a:lnTo>
                    <a:pt x="0" y="4"/>
                  </a:lnTo>
                  <a:lnTo>
                    <a:pt x="24" y="0"/>
                  </a:lnTo>
                  <a:lnTo>
                    <a:pt x="28" y="3"/>
                  </a:lnTo>
                  <a:lnTo>
                    <a:pt x="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5" name="Freeform 414"/>
            <p:cNvSpPr>
              <a:spLocks/>
            </p:cNvSpPr>
            <p:nvPr/>
          </p:nvSpPr>
          <p:spPr bwMode="auto">
            <a:xfrm>
              <a:off x="1711" y="1152"/>
              <a:ext cx="691" cy="371"/>
            </a:xfrm>
            <a:custGeom>
              <a:avLst/>
              <a:gdLst/>
              <a:ahLst/>
              <a:cxnLst>
                <a:cxn ang="0">
                  <a:pos x="106" y="264"/>
                </a:cxn>
                <a:cxn ang="0">
                  <a:pos x="126" y="259"/>
                </a:cxn>
                <a:cxn ang="0">
                  <a:pos x="110" y="276"/>
                </a:cxn>
                <a:cxn ang="0">
                  <a:pos x="119" y="287"/>
                </a:cxn>
                <a:cxn ang="0">
                  <a:pos x="126" y="304"/>
                </a:cxn>
                <a:cxn ang="0">
                  <a:pos x="131" y="311"/>
                </a:cxn>
                <a:cxn ang="0">
                  <a:pos x="140" y="320"/>
                </a:cxn>
                <a:cxn ang="0">
                  <a:pos x="162" y="324"/>
                </a:cxn>
                <a:cxn ang="0">
                  <a:pos x="170" y="334"/>
                </a:cxn>
                <a:cxn ang="0">
                  <a:pos x="197" y="324"/>
                </a:cxn>
                <a:cxn ang="0">
                  <a:pos x="202" y="314"/>
                </a:cxn>
                <a:cxn ang="0">
                  <a:pos x="214" y="300"/>
                </a:cxn>
                <a:cxn ang="0">
                  <a:pos x="223" y="282"/>
                </a:cxn>
                <a:cxn ang="0">
                  <a:pos x="234" y="272"/>
                </a:cxn>
                <a:cxn ang="0">
                  <a:pos x="257" y="246"/>
                </a:cxn>
                <a:cxn ang="0">
                  <a:pos x="288" y="239"/>
                </a:cxn>
                <a:cxn ang="0">
                  <a:pos x="343" y="217"/>
                </a:cxn>
                <a:cxn ang="0">
                  <a:pos x="394" y="204"/>
                </a:cxn>
                <a:cxn ang="0">
                  <a:pos x="482" y="175"/>
                </a:cxn>
                <a:cxn ang="0">
                  <a:pos x="424" y="162"/>
                </a:cxn>
                <a:cxn ang="0">
                  <a:pos x="424" y="146"/>
                </a:cxn>
                <a:cxn ang="0">
                  <a:pos x="492" y="168"/>
                </a:cxn>
                <a:cxn ang="0">
                  <a:pos x="486" y="148"/>
                </a:cxn>
                <a:cxn ang="0">
                  <a:pos x="440" y="136"/>
                </a:cxn>
                <a:cxn ang="0">
                  <a:pos x="460" y="127"/>
                </a:cxn>
                <a:cxn ang="0">
                  <a:pos x="499" y="128"/>
                </a:cxn>
                <a:cxn ang="0">
                  <a:pos x="532" y="113"/>
                </a:cxn>
                <a:cxn ang="0">
                  <a:pos x="505" y="95"/>
                </a:cxn>
                <a:cxn ang="0">
                  <a:pos x="509" y="85"/>
                </a:cxn>
                <a:cxn ang="0">
                  <a:pos x="544" y="68"/>
                </a:cxn>
                <a:cxn ang="0">
                  <a:pos x="540" y="48"/>
                </a:cxn>
                <a:cxn ang="0">
                  <a:pos x="580" y="31"/>
                </a:cxn>
                <a:cxn ang="0">
                  <a:pos x="545" y="22"/>
                </a:cxn>
                <a:cxn ang="0">
                  <a:pos x="479" y="23"/>
                </a:cxn>
                <a:cxn ang="0">
                  <a:pos x="503" y="7"/>
                </a:cxn>
                <a:cxn ang="0">
                  <a:pos x="383" y="4"/>
                </a:cxn>
                <a:cxn ang="0">
                  <a:pos x="342" y="7"/>
                </a:cxn>
                <a:cxn ang="0">
                  <a:pos x="314" y="16"/>
                </a:cxn>
                <a:cxn ang="0">
                  <a:pos x="221" y="20"/>
                </a:cxn>
                <a:cxn ang="0">
                  <a:pos x="148" y="24"/>
                </a:cxn>
                <a:cxn ang="0">
                  <a:pos x="95" y="41"/>
                </a:cxn>
                <a:cxn ang="0">
                  <a:pos x="19" y="68"/>
                </a:cxn>
                <a:cxn ang="0">
                  <a:pos x="38" y="74"/>
                </a:cxn>
                <a:cxn ang="0">
                  <a:pos x="42" y="89"/>
                </a:cxn>
                <a:cxn ang="0">
                  <a:pos x="132" y="109"/>
                </a:cxn>
                <a:cxn ang="0">
                  <a:pos x="136" y="132"/>
                </a:cxn>
                <a:cxn ang="0">
                  <a:pos x="136" y="152"/>
                </a:cxn>
                <a:cxn ang="0">
                  <a:pos x="160" y="155"/>
                </a:cxn>
                <a:cxn ang="0">
                  <a:pos x="162" y="164"/>
                </a:cxn>
                <a:cxn ang="0">
                  <a:pos x="158" y="184"/>
                </a:cxn>
                <a:cxn ang="0">
                  <a:pos x="152" y="194"/>
                </a:cxn>
                <a:cxn ang="0">
                  <a:pos x="125" y="204"/>
                </a:cxn>
                <a:cxn ang="0">
                  <a:pos x="137" y="210"/>
                </a:cxn>
                <a:cxn ang="0">
                  <a:pos x="126" y="211"/>
                </a:cxn>
                <a:cxn ang="0">
                  <a:pos x="119" y="223"/>
                </a:cxn>
                <a:cxn ang="0">
                  <a:pos x="124" y="228"/>
                </a:cxn>
                <a:cxn ang="0">
                  <a:pos x="104" y="241"/>
                </a:cxn>
              </a:cxnLst>
              <a:rect l="0" t="0" r="r" b="b"/>
              <a:pathLst>
                <a:path w="622" h="334">
                  <a:moveTo>
                    <a:pt x="131" y="242"/>
                  </a:moveTo>
                  <a:lnTo>
                    <a:pt x="115" y="246"/>
                  </a:lnTo>
                  <a:lnTo>
                    <a:pt x="109" y="251"/>
                  </a:lnTo>
                  <a:lnTo>
                    <a:pt x="108" y="254"/>
                  </a:lnTo>
                  <a:lnTo>
                    <a:pt x="119" y="253"/>
                  </a:lnTo>
                  <a:lnTo>
                    <a:pt x="113" y="256"/>
                  </a:lnTo>
                  <a:lnTo>
                    <a:pt x="106" y="264"/>
                  </a:lnTo>
                  <a:lnTo>
                    <a:pt x="115" y="262"/>
                  </a:lnTo>
                  <a:lnTo>
                    <a:pt x="122" y="258"/>
                  </a:lnTo>
                  <a:lnTo>
                    <a:pt x="125" y="250"/>
                  </a:lnTo>
                  <a:lnTo>
                    <a:pt x="127" y="254"/>
                  </a:lnTo>
                  <a:lnTo>
                    <a:pt x="132" y="256"/>
                  </a:lnTo>
                  <a:lnTo>
                    <a:pt x="134" y="263"/>
                  </a:lnTo>
                  <a:lnTo>
                    <a:pt x="126" y="259"/>
                  </a:lnTo>
                  <a:lnTo>
                    <a:pt x="127" y="263"/>
                  </a:lnTo>
                  <a:lnTo>
                    <a:pt x="113" y="266"/>
                  </a:lnTo>
                  <a:lnTo>
                    <a:pt x="125" y="265"/>
                  </a:lnTo>
                  <a:lnTo>
                    <a:pt x="128" y="265"/>
                  </a:lnTo>
                  <a:lnTo>
                    <a:pt x="109" y="269"/>
                  </a:lnTo>
                  <a:lnTo>
                    <a:pt x="115" y="271"/>
                  </a:lnTo>
                  <a:lnTo>
                    <a:pt x="110" y="276"/>
                  </a:lnTo>
                  <a:lnTo>
                    <a:pt x="116" y="275"/>
                  </a:lnTo>
                  <a:lnTo>
                    <a:pt x="113" y="277"/>
                  </a:lnTo>
                  <a:lnTo>
                    <a:pt x="112" y="278"/>
                  </a:lnTo>
                  <a:lnTo>
                    <a:pt x="119" y="280"/>
                  </a:lnTo>
                  <a:lnTo>
                    <a:pt x="112" y="281"/>
                  </a:lnTo>
                  <a:lnTo>
                    <a:pt x="120" y="283"/>
                  </a:lnTo>
                  <a:lnTo>
                    <a:pt x="119" y="287"/>
                  </a:lnTo>
                  <a:lnTo>
                    <a:pt x="124" y="286"/>
                  </a:lnTo>
                  <a:lnTo>
                    <a:pt x="120" y="289"/>
                  </a:lnTo>
                  <a:lnTo>
                    <a:pt x="118" y="292"/>
                  </a:lnTo>
                  <a:lnTo>
                    <a:pt x="124" y="298"/>
                  </a:lnTo>
                  <a:lnTo>
                    <a:pt x="122" y="300"/>
                  </a:lnTo>
                  <a:lnTo>
                    <a:pt x="128" y="300"/>
                  </a:lnTo>
                  <a:lnTo>
                    <a:pt x="126" y="304"/>
                  </a:lnTo>
                  <a:lnTo>
                    <a:pt x="130" y="302"/>
                  </a:lnTo>
                  <a:lnTo>
                    <a:pt x="128" y="306"/>
                  </a:lnTo>
                  <a:lnTo>
                    <a:pt x="131" y="307"/>
                  </a:lnTo>
                  <a:lnTo>
                    <a:pt x="126" y="308"/>
                  </a:lnTo>
                  <a:lnTo>
                    <a:pt x="132" y="308"/>
                  </a:lnTo>
                  <a:lnTo>
                    <a:pt x="130" y="311"/>
                  </a:lnTo>
                  <a:lnTo>
                    <a:pt x="131" y="311"/>
                  </a:lnTo>
                  <a:lnTo>
                    <a:pt x="130" y="314"/>
                  </a:lnTo>
                  <a:lnTo>
                    <a:pt x="136" y="313"/>
                  </a:lnTo>
                  <a:lnTo>
                    <a:pt x="137" y="317"/>
                  </a:lnTo>
                  <a:lnTo>
                    <a:pt x="134" y="318"/>
                  </a:lnTo>
                  <a:lnTo>
                    <a:pt x="136" y="318"/>
                  </a:lnTo>
                  <a:lnTo>
                    <a:pt x="136" y="319"/>
                  </a:lnTo>
                  <a:lnTo>
                    <a:pt x="140" y="320"/>
                  </a:lnTo>
                  <a:lnTo>
                    <a:pt x="149" y="319"/>
                  </a:lnTo>
                  <a:lnTo>
                    <a:pt x="163" y="314"/>
                  </a:lnTo>
                  <a:lnTo>
                    <a:pt x="163" y="317"/>
                  </a:lnTo>
                  <a:lnTo>
                    <a:pt x="169" y="314"/>
                  </a:lnTo>
                  <a:lnTo>
                    <a:pt x="161" y="320"/>
                  </a:lnTo>
                  <a:lnTo>
                    <a:pt x="167" y="319"/>
                  </a:lnTo>
                  <a:lnTo>
                    <a:pt x="162" y="324"/>
                  </a:lnTo>
                  <a:lnTo>
                    <a:pt x="169" y="323"/>
                  </a:lnTo>
                  <a:lnTo>
                    <a:pt x="168" y="325"/>
                  </a:lnTo>
                  <a:lnTo>
                    <a:pt x="173" y="324"/>
                  </a:lnTo>
                  <a:lnTo>
                    <a:pt x="168" y="330"/>
                  </a:lnTo>
                  <a:lnTo>
                    <a:pt x="175" y="326"/>
                  </a:lnTo>
                  <a:lnTo>
                    <a:pt x="168" y="331"/>
                  </a:lnTo>
                  <a:lnTo>
                    <a:pt x="170" y="334"/>
                  </a:lnTo>
                  <a:lnTo>
                    <a:pt x="181" y="329"/>
                  </a:lnTo>
                  <a:lnTo>
                    <a:pt x="191" y="332"/>
                  </a:lnTo>
                  <a:lnTo>
                    <a:pt x="192" y="330"/>
                  </a:lnTo>
                  <a:lnTo>
                    <a:pt x="190" y="328"/>
                  </a:lnTo>
                  <a:lnTo>
                    <a:pt x="181" y="324"/>
                  </a:lnTo>
                  <a:lnTo>
                    <a:pt x="194" y="325"/>
                  </a:lnTo>
                  <a:lnTo>
                    <a:pt x="197" y="324"/>
                  </a:lnTo>
                  <a:lnTo>
                    <a:pt x="194" y="322"/>
                  </a:lnTo>
                  <a:lnTo>
                    <a:pt x="196" y="320"/>
                  </a:lnTo>
                  <a:lnTo>
                    <a:pt x="194" y="319"/>
                  </a:lnTo>
                  <a:lnTo>
                    <a:pt x="202" y="319"/>
                  </a:lnTo>
                  <a:lnTo>
                    <a:pt x="194" y="317"/>
                  </a:lnTo>
                  <a:lnTo>
                    <a:pt x="202" y="317"/>
                  </a:lnTo>
                  <a:lnTo>
                    <a:pt x="202" y="314"/>
                  </a:lnTo>
                  <a:lnTo>
                    <a:pt x="202" y="313"/>
                  </a:lnTo>
                  <a:lnTo>
                    <a:pt x="205" y="312"/>
                  </a:lnTo>
                  <a:lnTo>
                    <a:pt x="203" y="310"/>
                  </a:lnTo>
                  <a:lnTo>
                    <a:pt x="209" y="308"/>
                  </a:lnTo>
                  <a:lnTo>
                    <a:pt x="208" y="306"/>
                  </a:lnTo>
                  <a:lnTo>
                    <a:pt x="212" y="301"/>
                  </a:lnTo>
                  <a:lnTo>
                    <a:pt x="214" y="300"/>
                  </a:lnTo>
                  <a:lnTo>
                    <a:pt x="210" y="295"/>
                  </a:lnTo>
                  <a:lnTo>
                    <a:pt x="212" y="295"/>
                  </a:lnTo>
                  <a:lnTo>
                    <a:pt x="208" y="290"/>
                  </a:lnTo>
                  <a:lnTo>
                    <a:pt x="217" y="287"/>
                  </a:lnTo>
                  <a:lnTo>
                    <a:pt x="226" y="286"/>
                  </a:lnTo>
                  <a:lnTo>
                    <a:pt x="223" y="284"/>
                  </a:lnTo>
                  <a:lnTo>
                    <a:pt x="223" y="282"/>
                  </a:lnTo>
                  <a:lnTo>
                    <a:pt x="228" y="282"/>
                  </a:lnTo>
                  <a:lnTo>
                    <a:pt x="229" y="278"/>
                  </a:lnTo>
                  <a:lnTo>
                    <a:pt x="233" y="280"/>
                  </a:lnTo>
                  <a:lnTo>
                    <a:pt x="230" y="278"/>
                  </a:lnTo>
                  <a:lnTo>
                    <a:pt x="234" y="277"/>
                  </a:lnTo>
                  <a:lnTo>
                    <a:pt x="239" y="275"/>
                  </a:lnTo>
                  <a:lnTo>
                    <a:pt x="234" y="272"/>
                  </a:lnTo>
                  <a:lnTo>
                    <a:pt x="244" y="272"/>
                  </a:lnTo>
                  <a:lnTo>
                    <a:pt x="241" y="266"/>
                  </a:lnTo>
                  <a:lnTo>
                    <a:pt x="234" y="264"/>
                  </a:lnTo>
                  <a:lnTo>
                    <a:pt x="246" y="262"/>
                  </a:lnTo>
                  <a:lnTo>
                    <a:pt x="246" y="252"/>
                  </a:lnTo>
                  <a:lnTo>
                    <a:pt x="258" y="251"/>
                  </a:lnTo>
                  <a:lnTo>
                    <a:pt x="257" y="246"/>
                  </a:lnTo>
                  <a:lnTo>
                    <a:pt x="265" y="245"/>
                  </a:lnTo>
                  <a:lnTo>
                    <a:pt x="270" y="244"/>
                  </a:lnTo>
                  <a:lnTo>
                    <a:pt x="283" y="241"/>
                  </a:lnTo>
                  <a:lnTo>
                    <a:pt x="281" y="240"/>
                  </a:lnTo>
                  <a:lnTo>
                    <a:pt x="289" y="233"/>
                  </a:lnTo>
                  <a:lnTo>
                    <a:pt x="295" y="234"/>
                  </a:lnTo>
                  <a:lnTo>
                    <a:pt x="288" y="239"/>
                  </a:lnTo>
                  <a:lnTo>
                    <a:pt x="295" y="240"/>
                  </a:lnTo>
                  <a:lnTo>
                    <a:pt x="313" y="235"/>
                  </a:lnTo>
                  <a:lnTo>
                    <a:pt x="314" y="232"/>
                  </a:lnTo>
                  <a:lnTo>
                    <a:pt x="319" y="233"/>
                  </a:lnTo>
                  <a:lnTo>
                    <a:pt x="330" y="229"/>
                  </a:lnTo>
                  <a:lnTo>
                    <a:pt x="332" y="227"/>
                  </a:lnTo>
                  <a:lnTo>
                    <a:pt x="343" y="217"/>
                  </a:lnTo>
                  <a:lnTo>
                    <a:pt x="361" y="209"/>
                  </a:lnTo>
                  <a:lnTo>
                    <a:pt x="361" y="204"/>
                  </a:lnTo>
                  <a:lnTo>
                    <a:pt x="364" y="199"/>
                  </a:lnTo>
                  <a:lnTo>
                    <a:pt x="377" y="206"/>
                  </a:lnTo>
                  <a:lnTo>
                    <a:pt x="384" y="204"/>
                  </a:lnTo>
                  <a:lnTo>
                    <a:pt x="390" y="203"/>
                  </a:lnTo>
                  <a:lnTo>
                    <a:pt x="394" y="204"/>
                  </a:lnTo>
                  <a:lnTo>
                    <a:pt x="419" y="198"/>
                  </a:lnTo>
                  <a:lnTo>
                    <a:pt x="444" y="192"/>
                  </a:lnTo>
                  <a:lnTo>
                    <a:pt x="452" y="188"/>
                  </a:lnTo>
                  <a:lnTo>
                    <a:pt x="462" y="184"/>
                  </a:lnTo>
                  <a:lnTo>
                    <a:pt x="467" y="181"/>
                  </a:lnTo>
                  <a:lnTo>
                    <a:pt x="474" y="178"/>
                  </a:lnTo>
                  <a:lnTo>
                    <a:pt x="482" y="175"/>
                  </a:lnTo>
                  <a:lnTo>
                    <a:pt x="448" y="172"/>
                  </a:lnTo>
                  <a:lnTo>
                    <a:pt x="419" y="176"/>
                  </a:lnTo>
                  <a:lnTo>
                    <a:pt x="418" y="174"/>
                  </a:lnTo>
                  <a:lnTo>
                    <a:pt x="438" y="169"/>
                  </a:lnTo>
                  <a:lnTo>
                    <a:pt x="409" y="169"/>
                  </a:lnTo>
                  <a:lnTo>
                    <a:pt x="424" y="163"/>
                  </a:lnTo>
                  <a:lnTo>
                    <a:pt x="424" y="162"/>
                  </a:lnTo>
                  <a:lnTo>
                    <a:pt x="425" y="161"/>
                  </a:lnTo>
                  <a:lnTo>
                    <a:pt x="451" y="160"/>
                  </a:lnTo>
                  <a:lnTo>
                    <a:pt x="450" y="155"/>
                  </a:lnTo>
                  <a:lnTo>
                    <a:pt x="449" y="155"/>
                  </a:lnTo>
                  <a:lnTo>
                    <a:pt x="426" y="154"/>
                  </a:lnTo>
                  <a:lnTo>
                    <a:pt x="433" y="151"/>
                  </a:lnTo>
                  <a:lnTo>
                    <a:pt x="424" y="146"/>
                  </a:lnTo>
                  <a:lnTo>
                    <a:pt x="446" y="154"/>
                  </a:lnTo>
                  <a:lnTo>
                    <a:pt x="466" y="161"/>
                  </a:lnTo>
                  <a:lnTo>
                    <a:pt x="473" y="170"/>
                  </a:lnTo>
                  <a:lnTo>
                    <a:pt x="482" y="168"/>
                  </a:lnTo>
                  <a:lnTo>
                    <a:pt x="485" y="164"/>
                  </a:lnTo>
                  <a:lnTo>
                    <a:pt x="486" y="169"/>
                  </a:lnTo>
                  <a:lnTo>
                    <a:pt x="492" y="168"/>
                  </a:lnTo>
                  <a:lnTo>
                    <a:pt x="492" y="162"/>
                  </a:lnTo>
                  <a:lnTo>
                    <a:pt x="493" y="155"/>
                  </a:lnTo>
                  <a:lnTo>
                    <a:pt x="486" y="156"/>
                  </a:lnTo>
                  <a:lnTo>
                    <a:pt x="490" y="152"/>
                  </a:lnTo>
                  <a:lnTo>
                    <a:pt x="485" y="152"/>
                  </a:lnTo>
                  <a:lnTo>
                    <a:pt x="482" y="151"/>
                  </a:lnTo>
                  <a:lnTo>
                    <a:pt x="486" y="148"/>
                  </a:lnTo>
                  <a:lnTo>
                    <a:pt x="460" y="142"/>
                  </a:lnTo>
                  <a:lnTo>
                    <a:pt x="456" y="144"/>
                  </a:lnTo>
                  <a:lnTo>
                    <a:pt x="456" y="140"/>
                  </a:lnTo>
                  <a:lnTo>
                    <a:pt x="466" y="138"/>
                  </a:lnTo>
                  <a:lnTo>
                    <a:pt x="450" y="137"/>
                  </a:lnTo>
                  <a:lnTo>
                    <a:pt x="443" y="137"/>
                  </a:lnTo>
                  <a:lnTo>
                    <a:pt x="440" y="136"/>
                  </a:lnTo>
                  <a:lnTo>
                    <a:pt x="463" y="132"/>
                  </a:lnTo>
                  <a:lnTo>
                    <a:pt x="439" y="131"/>
                  </a:lnTo>
                  <a:lnTo>
                    <a:pt x="438" y="133"/>
                  </a:lnTo>
                  <a:lnTo>
                    <a:pt x="438" y="131"/>
                  </a:lnTo>
                  <a:lnTo>
                    <a:pt x="445" y="128"/>
                  </a:lnTo>
                  <a:lnTo>
                    <a:pt x="443" y="126"/>
                  </a:lnTo>
                  <a:lnTo>
                    <a:pt x="460" y="127"/>
                  </a:lnTo>
                  <a:lnTo>
                    <a:pt x="466" y="124"/>
                  </a:lnTo>
                  <a:lnTo>
                    <a:pt x="463" y="121"/>
                  </a:lnTo>
                  <a:lnTo>
                    <a:pt x="472" y="124"/>
                  </a:lnTo>
                  <a:lnTo>
                    <a:pt x="482" y="122"/>
                  </a:lnTo>
                  <a:lnTo>
                    <a:pt x="491" y="125"/>
                  </a:lnTo>
                  <a:lnTo>
                    <a:pt x="478" y="124"/>
                  </a:lnTo>
                  <a:lnTo>
                    <a:pt x="499" y="128"/>
                  </a:lnTo>
                  <a:lnTo>
                    <a:pt x="516" y="124"/>
                  </a:lnTo>
                  <a:lnTo>
                    <a:pt x="517" y="120"/>
                  </a:lnTo>
                  <a:lnTo>
                    <a:pt x="502" y="120"/>
                  </a:lnTo>
                  <a:lnTo>
                    <a:pt x="500" y="121"/>
                  </a:lnTo>
                  <a:lnTo>
                    <a:pt x="497" y="115"/>
                  </a:lnTo>
                  <a:lnTo>
                    <a:pt x="503" y="110"/>
                  </a:lnTo>
                  <a:lnTo>
                    <a:pt x="532" y="113"/>
                  </a:lnTo>
                  <a:lnTo>
                    <a:pt x="529" y="108"/>
                  </a:lnTo>
                  <a:lnTo>
                    <a:pt x="517" y="108"/>
                  </a:lnTo>
                  <a:lnTo>
                    <a:pt x="515" y="103"/>
                  </a:lnTo>
                  <a:lnTo>
                    <a:pt x="504" y="103"/>
                  </a:lnTo>
                  <a:lnTo>
                    <a:pt x="516" y="101"/>
                  </a:lnTo>
                  <a:lnTo>
                    <a:pt x="504" y="97"/>
                  </a:lnTo>
                  <a:lnTo>
                    <a:pt x="505" y="95"/>
                  </a:lnTo>
                  <a:lnTo>
                    <a:pt x="530" y="101"/>
                  </a:lnTo>
                  <a:lnTo>
                    <a:pt x="529" y="91"/>
                  </a:lnTo>
                  <a:lnTo>
                    <a:pt x="510" y="91"/>
                  </a:lnTo>
                  <a:lnTo>
                    <a:pt x="532" y="89"/>
                  </a:lnTo>
                  <a:lnTo>
                    <a:pt x="520" y="88"/>
                  </a:lnTo>
                  <a:lnTo>
                    <a:pt x="512" y="85"/>
                  </a:lnTo>
                  <a:lnTo>
                    <a:pt x="509" y="85"/>
                  </a:lnTo>
                  <a:lnTo>
                    <a:pt x="503" y="80"/>
                  </a:lnTo>
                  <a:lnTo>
                    <a:pt x="520" y="79"/>
                  </a:lnTo>
                  <a:lnTo>
                    <a:pt x="550" y="79"/>
                  </a:lnTo>
                  <a:lnTo>
                    <a:pt x="548" y="72"/>
                  </a:lnTo>
                  <a:lnTo>
                    <a:pt x="532" y="72"/>
                  </a:lnTo>
                  <a:lnTo>
                    <a:pt x="524" y="68"/>
                  </a:lnTo>
                  <a:lnTo>
                    <a:pt x="544" y="68"/>
                  </a:lnTo>
                  <a:lnTo>
                    <a:pt x="523" y="65"/>
                  </a:lnTo>
                  <a:lnTo>
                    <a:pt x="518" y="68"/>
                  </a:lnTo>
                  <a:lnTo>
                    <a:pt x="515" y="66"/>
                  </a:lnTo>
                  <a:lnTo>
                    <a:pt x="523" y="55"/>
                  </a:lnTo>
                  <a:lnTo>
                    <a:pt x="539" y="52"/>
                  </a:lnTo>
                  <a:lnTo>
                    <a:pt x="546" y="47"/>
                  </a:lnTo>
                  <a:lnTo>
                    <a:pt x="540" y="48"/>
                  </a:lnTo>
                  <a:lnTo>
                    <a:pt x="548" y="41"/>
                  </a:lnTo>
                  <a:lnTo>
                    <a:pt x="560" y="40"/>
                  </a:lnTo>
                  <a:lnTo>
                    <a:pt x="562" y="36"/>
                  </a:lnTo>
                  <a:lnTo>
                    <a:pt x="539" y="40"/>
                  </a:lnTo>
                  <a:lnTo>
                    <a:pt x="535" y="37"/>
                  </a:lnTo>
                  <a:lnTo>
                    <a:pt x="557" y="35"/>
                  </a:lnTo>
                  <a:lnTo>
                    <a:pt x="580" y="31"/>
                  </a:lnTo>
                  <a:lnTo>
                    <a:pt x="538" y="31"/>
                  </a:lnTo>
                  <a:lnTo>
                    <a:pt x="596" y="28"/>
                  </a:lnTo>
                  <a:lnTo>
                    <a:pt x="594" y="25"/>
                  </a:lnTo>
                  <a:lnTo>
                    <a:pt x="622" y="20"/>
                  </a:lnTo>
                  <a:lnTo>
                    <a:pt x="586" y="17"/>
                  </a:lnTo>
                  <a:lnTo>
                    <a:pt x="566" y="20"/>
                  </a:lnTo>
                  <a:lnTo>
                    <a:pt x="545" y="22"/>
                  </a:lnTo>
                  <a:lnTo>
                    <a:pt x="544" y="20"/>
                  </a:lnTo>
                  <a:lnTo>
                    <a:pt x="504" y="31"/>
                  </a:lnTo>
                  <a:lnTo>
                    <a:pt x="518" y="24"/>
                  </a:lnTo>
                  <a:lnTo>
                    <a:pt x="528" y="17"/>
                  </a:lnTo>
                  <a:lnTo>
                    <a:pt x="512" y="16"/>
                  </a:lnTo>
                  <a:lnTo>
                    <a:pt x="508" y="18"/>
                  </a:lnTo>
                  <a:lnTo>
                    <a:pt x="479" y="23"/>
                  </a:lnTo>
                  <a:lnTo>
                    <a:pt x="493" y="19"/>
                  </a:lnTo>
                  <a:lnTo>
                    <a:pt x="497" y="16"/>
                  </a:lnTo>
                  <a:lnTo>
                    <a:pt x="428" y="19"/>
                  </a:lnTo>
                  <a:lnTo>
                    <a:pt x="449" y="14"/>
                  </a:lnTo>
                  <a:lnTo>
                    <a:pt x="488" y="14"/>
                  </a:lnTo>
                  <a:lnTo>
                    <a:pt x="535" y="11"/>
                  </a:lnTo>
                  <a:lnTo>
                    <a:pt x="503" y="7"/>
                  </a:lnTo>
                  <a:lnTo>
                    <a:pt x="504" y="5"/>
                  </a:lnTo>
                  <a:lnTo>
                    <a:pt x="410" y="6"/>
                  </a:lnTo>
                  <a:lnTo>
                    <a:pt x="422" y="6"/>
                  </a:lnTo>
                  <a:lnTo>
                    <a:pt x="494" y="4"/>
                  </a:lnTo>
                  <a:lnTo>
                    <a:pt x="466" y="0"/>
                  </a:lnTo>
                  <a:lnTo>
                    <a:pt x="377" y="1"/>
                  </a:lnTo>
                  <a:lnTo>
                    <a:pt x="383" y="4"/>
                  </a:lnTo>
                  <a:lnTo>
                    <a:pt x="376" y="5"/>
                  </a:lnTo>
                  <a:lnTo>
                    <a:pt x="373" y="6"/>
                  </a:lnTo>
                  <a:lnTo>
                    <a:pt x="350" y="5"/>
                  </a:lnTo>
                  <a:lnTo>
                    <a:pt x="319" y="4"/>
                  </a:lnTo>
                  <a:lnTo>
                    <a:pt x="324" y="6"/>
                  </a:lnTo>
                  <a:lnTo>
                    <a:pt x="301" y="5"/>
                  </a:lnTo>
                  <a:lnTo>
                    <a:pt x="342" y="7"/>
                  </a:lnTo>
                  <a:lnTo>
                    <a:pt x="361" y="11"/>
                  </a:lnTo>
                  <a:lnTo>
                    <a:pt x="343" y="8"/>
                  </a:lnTo>
                  <a:lnTo>
                    <a:pt x="343" y="10"/>
                  </a:lnTo>
                  <a:lnTo>
                    <a:pt x="314" y="8"/>
                  </a:lnTo>
                  <a:lnTo>
                    <a:pt x="326" y="13"/>
                  </a:lnTo>
                  <a:lnTo>
                    <a:pt x="317" y="13"/>
                  </a:lnTo>
                  <a:lnTo>
                    <a:pt x="314" y="16"/>
                  </a:lnTo>
                  <a:lnTo>
                    <a:pt x="314" y="18"/>
                  </a:lnTo>
                  <a:lnTo>
                    <a:pt x="262" y="11"/>
                  </a:lnTo>
                  <a:lnTo>
                    <a:pt x="258" y="17"/>
                  </a:lnTo>
                  <a:lnTo>
                    <a:pt x="258" y="19"/>
                  </a:lnTo>
                  <a:lnTo>
                    <a:pt x="235" y="16"/>
                  </a:lnTo>
                  <a:lnTo>
                    <a:pt x="224" y="20"/>
                  </a:lnTo>
                  <a:lnTo>
                    <a:pt x="221" y="20"/>
                  </a:lnTo>
                  <a:lnTo>
                    <a:pt x="224" y="13"/>
                  </a:lnTo>
                  <a:lnTo>
                    <a:pt x="173" y="16"/>
                  </a:lnTo>
                  <a:lnTo>
                    <a:pt x="188" y="22"/>
                  </a:lnTo>
                  <a:lnTo>
                    <a:pt x="175" y="19"/>
                  </a:lnTo>
                  <a:lnTo>
                    <a:pt x="151" y="18"/>
                  </a:lnTo>
                  <a:lnTo>
                    <a:pt x="151" y="20"/>
                  </a:lnTo>
                  <a:lnTo>
                    <a:pt x="148" y="24"/>
                  </a:lnTo>
                  <a:lnTo>
                    <a:pt x="128" y="24"/>
                  </a:lnTo>
                  <a:lnTo>
                    <a:pt x="126" y="28"/>
                  </a:lnTo>
                  <a:lnTo>
                    <a:pt x="124" y="25"/>
                  </a:lnTo>
                  <a:lnTo>
                    <a:pt x="74" y="35"/>
                  </a:lnTo>
                  <a:lnTo>
                    <a:pt x="106" y="36"/>
                  </a:lnTo>
                  <a:lnTo>
                    <a:pt x="97" y="37"/>
                  </a:lnTo>
                  <a:lnTo>
                    <a:pt x="95" y="41"/>
                  </a:lnTo>
                  <a:lnTo>
                    <a:pt x="84" y="47"/>
                  </a:lnTo>
                  <a:lnTo>
                    <a:pt x="46" y="52"/>
                  </a:lnTo>
                  <a:lnTo>
                    <a:pt x="5" y="58"/>
                  </a:lnTo>
                  <a:lnTo>
                    <a:pt x="1" y="60"/>
                  </a:lnTo>
                  <a:lnTo>
                    <a:pt x="1" y="64"/>
                  </a:lnTo>
                  <a:lnTo>
                    <a:pt x="23" y="66"/>
                  </a:lnTo>
                  <a:lnTo>
                    <a:pt x="19" y="68"/>
                  </a:lnTo>
                  <a:lnTo>
                    <a:pt x="18" y="70"/>
                  </a:lnTo>
                  <a:lnTo>
                    <a:pt x="34" y="71"/>
                  </a:lnTo>
                  <a:lnTo>
                    <a:pt x="56" y="68"/>
                  </a:lnTo>
                  <a:lnTo>
                    <a:pt x="53" y="73"/>
                  </a:lnTo>
                  <a:lnTo>
                    <a:pt x="26" y="73"/>
                  </a:lnTo>
                  <a:lnTo>
                    <a:pt x="47" y="76"/>
                  </a:lnTo>
                  <a:lnTo>
                    <a:pt x="38" y="74"/>
                  </a:lnTo>
                  <a:lnTo>
                    <a:pt x="0" y="77"/>
                  </a:lnTo>
                  <a:lnTo>
                    <a:pt x="13" y="78"/>
                  </a:lnTo>
                  <a:lnTo>
                    <a:pt x="24" y="82"/>
                  </a:lnTo>
                  <a:lnTo>
                    <a:pt x="12" y="85"/>
                  </a:lnTo>
                  <a:lnTo>
                    <a:pt x="38" y="91"/>
                  </a:lnTo>
                  <a:lnTo>
                    <a:pt x="35" y="89"/>
                  </a:lnTo>
                  <a:lnTo>
                    <a:pt x="42" y="89"/>
                  </a:lnTo>
                  <a:lnTo>
                    <a:pt x="48" y="89"/>
                  </a:lnTo>
                  <a:lnTo>
                    <a:pt x="66" y="86"/>
                  </a:lnTo>
                  <a:lnTo>
                    <a:pt x="74" y="86"/>
                  </a:lnTo>
                  <a:lnTo>
                    <a:pt x="121" y="95"/>
                  </a:lnTo>
                  <a:lnTo>
                    <a:pt x="118" y="100"/>
                  </a:lnTo>
                  <a:lnTo>
                    <a:pt x="128" y="106"/>
                  </a:lnTo>
                  <a:lnTo>
                    <a:pt x="132" y="109"/>
                  </a:lnTo>
                  <a:lnTo>
                    <a:pt x="128" y="113"/>
                  </a:lnTo>
                  <a:lnTo>
                    <a:pt x="124" y="115"/>
                  </a:lnTo>
                  <a:lnTo>
                    <a:pt x="132" y="115"/>
                  </a:lnTo>
                  <a:lnTo>
                    <a:pt x="132" y="121"/>
                  </a:lnTo>
                  <a:lnTo>
                    <a:pt x="133" y="126"/>
                  </a:lnTo>
                  <a:lnTo>
                    <a:pt x="132" y="130"/>
                  </a:lnTo>
                  <a:lnTo>
                    <a:pt x="136" y="132"/>
                  </a:lnTo>
                  <a:lnTo>
                    <a:pt x="133" y="139"/>
                  </a:lnTo>
                  <a:lnTo>
                    <a:pt x="127" y="142"/>
                  </a:lnTo>
                  <a:lnTo>
                    <a:pt x="124" y="146"/>
                  </a:lnTo>
                  <a:lnTo>
                    <a:pt x="131" y="146"/>
                  </a:lnTo>
                  <a:lnTo>
                    <a:pt x="116" y="151"/>
                  </a:lnTo>
                  <a:lnTo>
                    <a:pt x="122" y="156"/>
                  </a:lnTo>
                  <a:lnTo>
                    <a:pt x="136" y="152"/>
                  </a:lnTo>
                  <a:lnTo>
                    <a:pt x="143" y="142"/>
                  </a:lnTo>
                  <a:lnTo>
                    <a:pt x="144" y="150"/>
                  </a:lnTo>
                  <a:lnTo>
                    <a:pt x="151" y="148"/>
                  </a:lnTo>
                  <a:lnTo>
                    <a:pt x="149" y="150"/>
                  </a:lnTo>
                  <a:lnTo>
                    <a:pt x="160" y="152"/>
                  </a:lnTo>
                  <a:lnTo>
                    <a:pt x="149" y="155"/>
                  </a:lnTo>
                  <a:lnTo>
                    <a:pt x="160" y="155"/>
                  </a:lnTo>
                  <a:lnTo>
                    <a:pt x="151" y="158"/>
                  </a:lnTo>
                  <a:lnTo>
                    <a:pt x="157" y="157"/>
                  </a:lnTo>
                  <a:lnTo>
                    <a:pt x="154" y="158"/>
                  </a:lnTo>
                  <a:lnTo>
                    <a:pt x="162" y="162"/>
                  </a:lnTo>
                  <a:lnTo>
                    <a:pt x="155" y="161"/>
                  </a:lnTo>
                  <a:lnTo>
                    <a:pt x="163" y="164"/>
                  </a:lnTo>
                  <a:lnTo>
                    <a:pt x="162" y="164"/>
                  </a:lnTo>
                  <a:lnTo>
                    <a:pt x="162" y="168"/>
                  </a:lnTo>
                  <a:lnTo>
                    <a:pt x="163" y="170"/>
                  </a:lnTo>
                  <a:lnTo>
                    <a:pt x="127" y="164"/>
                  </a:lnTo>
                  <a:lnTo>
                    <a:pt x="125" y="169"/>
                  </a:lnTo>
                  <a:lnTo>
                    <a:pt x="163" y="178"/>
                  </a:lnTo>
                  <a:lnTo>
                    <a:pt x="157" y="181"/>
                  </a:lnTo>
                  <a:lnTo>
                    <a:pt x="158" y="184"/>
                  </a:lnTo>
                  <a:lnTo>
                    <a:pt x="154" y="186"/>
                  </a:lnTo>
                  <a:lnTo>
                    <a:pt x="156" y="188"/>
                  </a:lnTo>
                  <a:lnTo>
                    <a:pt x="160" y="190"/>
                  </a:lnTo>
                  <a:lnTo>
                    <a:pt x="160" y="192"/>
                  </a:lnTo>
                  <a:lnTo>
                    <a:pt x="154" y="190"/>
                  </a:lnTo>
                  <a:lnTo>
                    <a:pt x="148" y="193"/>
                  </a:lnTo>
                  <a:lnTo>
                    <a:pt x="152" y="194"/>
                  </a:lnTo>
                  <a:lnTo>
                    <a:pt x="122" y="202"/>
                  </a:lnTo>
                  <a:lnTo>
                    <a:pt x="125" y="204"/>
                  </a:lnTo>
                  <a:lnTo>
                    <a:pt x="143" y="202"/>
                  </a:lnTo>
                  <a:lnTo>
                    <a:pt x="149" y="199"/>
                  </a:lnTo>
                  <a:lnTo>
                    <a:pt x="144" y="204"/>
                  </a:lnTo>
                  <a:lnTo>
                    <a:pt x="149" y="208"/>
                  </a:lnTo>
                  <a:lnTo>
                    <a:pt x="125" y="204"/>
                  </a:lnTo>
                  <a:lnTo>
                    <a:pt x="120" y="204"/>
                  </a:lnTo>
                  <a:lnTo>
                    <a:pt x="130" y="208"/>
                  </a:lnTo>
                  <a:lnTo>
                    <a:pt x="118" y="206"/>
                  </a:lnTo>
                  <a:lnTo>
                    <a:pt x="109" y="212"/>
                  </a:lnTo>
                  <a:lnTo>
                    <a:pt x="132" y="209"/>
                  </a:lnTo>
                  <a:lnTo>
                    <a:pt x="130" y="209"/>
                  </a:lnTo>
                  <a:lnTo>
                    <a:pt x="137" y="210"/>
                  </a:lnTo>
                  <a:lnTo>
                    <a:pt x="143" y="209"/>
                  </a:lnTo>
                  <a:lnTo>
                    <a:pt x="148" y="209"/>
                  </a:lnTo>
                  <a:lnTo>
                    <a:pt x="142" y="211"/>
                  </a:lnTo>
                  <a:lnTo>
                    <a:pt x="150" y="211"/>
                  </a:lnTo>
                  <a:lnTo>
                    <a:pt x="145" y="212"/>
                  </a:lnTo>
                  <a:lnTo>
                    <a:pt x="148" y="215"/>
                  </a:lnTo>
                  <a:lnTo>
                    <a:pt x="126" y="211"/>
                  </a:lnTo>
                  <a:lnTo>
                    <a:pt x="106" y="217"/>
                  </a:lnTo>
                  <a:lnTo>
                    <a:pt x="133" y="217"/>
                  </a:lnTo>
                  <a:lnTo>
                    <a:pt x="140" y="220"/>
                  </a:lnTo>
                  <a:lnTo>
                    <a:pt x="133" y="218"/>
                  </a:lnTo>
                  <a:lnTo>
                    <a:pt x="104" y="220"/>
                  </a:lnTo>
                  <a:lnTo>
                    <a:pt x="108" y="222"/>
                  </a:lnTo>
                  <a:lnTo>
                    <a:pt x="119" y="223"/>
                  </a:lnTo>
                  <a:lnTo>
                    <a:pt x="113" y="226"/>
                  </a:lnTo>
                  <a:lnTo>
                    <a:pt x="112" y="227"/>
                  </a:lnTo>
                  <a:lnTo>
                    <a:pt x="108" y="227"/>
                  </a:lnTo>
                  <a:lnTo>
                    <a:pt x="115" y="229"/>
                  </a:lnTo>
                  <a:lnTo>
                    <a:pt x="104" y="230"/>
                  </a:lnTo>
                  <a:lnTo>
                    <a:pt x="102" y="234"/>
                  </a:lnTo>
                  <a:lnTo>
                    <a:pt x="124" y="228"/>
                  </a:lnTo>
                  <a:lnTo>
                    <a:pt x="145" y="222"/>
                  </a:lnTo>
                  <a:lnTo>
                    <a:pt x="139" y="224"/>
                  </a:lnTo>
                  <a:lnTo>
                    <a:pt x="102" y="238"/>
                  </a:lnTo>
                  <a:lnTo>
                    <a:pt x="107" y="238"/>
                  </a:lnTo>
                  <a:lnTo>
                    <a:pt x="102" y="239"/>
                  </a:lnTo>
                  <a:lnTo>
                    <a:pt x="121" y="236"/>
                  </a:lnTo>
                  <a:lnTo>
                    <a:pt x="104" y="241"/>
                  </a:lnTo>
                  <a:lnTo>
                    <a:pt x="106" y="244"/>
                  </a:lnTo>
                  <a:lnTo>
                    <a:pt x="108" y="245"/>
                  </a:lnTo>
                  <a:lnTo>
                    <a:pt x="116" y="245"/>
                  </a:lnTo>
                  <a:lnTo>
                    <a:pt x="131" y="2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6" name="Freeform 415"/>
            <p:cNvSpPr>
              <a:spLocks/>
            </p:cNvSpPr>
            <p:nvPr/>
          </p:nvSpPr>
          <p:spPr bwMode="auto">
            <a:xfrm>
              <a:off x="1838" y="1343"/>
              <a:ext cx="35" cy="18"/>
            </a:xfrm>
            <a:custGeom>
              <a:avLst/>
              <a:gdLst/>
              <a:ahLst/>
              <a:cxnLst>
                <a:cxn ang="0">
                  <a:pos x="31" y="10"/>
                </a:cxn>
                <a:cxn ang="0">
                  <a:pos x="7" y="0"/>
                </a:cxn>
                <a:cxn ang="0">
                  <a:pos x="0" y="4"/>
                </a:cxn>
                <a:cxn ang="0">
                  <a:pos x="1" y="4"/>
                </a:cxn>
                <a:cxn ang="0">
                  <a:pos x="0" y="8"/>
                </a:cxn>
                <a:cxn ang="0">
                  <a:pos x="2" y="10"/>
                </a:cxn>
                <a:cxn ang="0">
                  <a:pos x="8" y="13"/>
                </a:cxn>
                <a:cxn ang="0">
                  <a:pos x="5" y="15"/>
                </a:cxn>
                <a:cxn ang="0">
                  <a:pos x="31" y="10"/>
                </a:cxn>
              </a:cxnLst>
              <a:rect l="0" t="0" r="r" b="b"/>
              <a:pathLst>
                <a:path w="31" h="15">
                  <a:moveTo>
                    <a:pt x="31" y="10"/>
                  </a:moveTo>
                  <a:lnTo>
                    <a:pt x="7" y="0"/>
                  </a:lnTo>
                  <a:lnTo>
                    <a:pt x="0" y="4"/>
                  </a:lnTo>
                  <a:lnTo>
                    <a:pt x="1" y="4"/>
                  </a:lnTo>
                  <a:lnTo>
                    <a:pt x="0" y="8"/>
                  </a:lnTo>
                  <a:lnTo>
                    <a:pt x="2" y="10"/>
                  </a:lnTo>
                  <a:lnTo>
                    <a:pt x="8" y="13"/>
                  </a:lnTo>
                  <a:lnTo>
                    <a:pt x="5" y="15"/>
                  </a:lnTo>
                  <a:lnTo>
                    <a:pt x="31"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7" name="Freeform 416"/>
            <p:cNvSpPr>
              <a:spLocks/>
            </p:cNvSpPr>
            <p:nvPr/>
          </p:nvSpPr>
          <p:spPr bwMode="auto">
            <a:xfrm>
              <a:off x="2207" y="1408"/>
              <a:ext cx="142" cy="53"/>
            </a:xfrm>
            <a:custGeom>
              <a:avLst/>
              <a:gdLst/>
              <a:ahLst/>
              <a:cxnLst>
                <a:cxn ang="0">
                  <a:pos x="99" y="0"/>
                </a:cxn>
                <a:cxn ang="0">
                  <a:pos x="96" y="4"/>
                </a:cxn>
                <a:cxn ang="0">
                  <a:pos x="86" y="8"/>
                </a:cxn>
                <a:cxn ang="0">
                  <a:pos x="77" y="5"/>
                </a:cxn>
                <a:cxn ang="0">
                  <a:pos x="76" y="12"/>
                </a:cxn>
                <a:cxn ang="0">
                  <a:pos x="75" y="10"/>
                </a:cxn>
                <a:cxn ang="0">
                  <a:pos x="64" y="6"/>
                </a:cxn>
                <a:cxn ang="0">
                  <a:pos x="60" y="10"/>
                </a:cxn>
                <a:cxn ang="0">
                  <a:pos x="53" y="6"/>
                </a:cxn>
                <a:cxn ang="0">
                  <a:pos x="46" y="15"/>
                </a:cxn>
                <a:cxn ang="0">
                  <a:pos x="39" y="18"/>
                </a:cxn>
                <a:cxn ang="0">
                  <a:pos x="34" y="14"/>
                </a:cxn>
                <a:cxn ang="0">
                  <a:pos x="38" y="10"/>
                </a:cxn>
                <a:cxn ang="0">
                  <a:pos x="21" y="0"/>
                </a:cxn>
                <a:cxn ang="0">
                  <a:pos x="23" y="4"/>
                </a:cxn>
                <a:cxn ang="0">
                  <a:pos x="26" y="10"/>
                </a:cxn>
                <a:cxn ang="0">
                  <a:pos x="16" y="5"/>
                </a:cxn>
                <a:cxn ang="0">
                  <a:pos x="12" y="8"/>
                </a:cxn>
                <a:cxn ang="0">
                  <a:pos x="12" y="10"/>
                </a:cxn>
                <a:cxn ang="0">
                  <a:pos x="15" y="11"/>
                </a:cxn>
                <a:cxn ang="0">
                  <a:pos x="14" y="11"/>
                </a:cxn>
                <a:cxn ang="0">
                  <a:pos x="4" y="11"/>
                </a:cxn>
                <a:cxn ang="0">
                  <a:pos x="8" y="14"/>
                </a:cxn>
                <a:cxn ang="0">
                  <a:pos x="0" y="15"/>
                </a:cxn>
                <a:cxn ang="0">
                  <a:pos x="28" y="16"/>
                </a:cxn>
                <a:cxn ang="0">
                  <a:pos x="23" y="20"/>
                </a:cxn>
                <a:cxn ang="0">
                  <a:pos x="27" y="22"/>
                </a:cxn>
                <a:cxn ang="0">
                  <a:pos x="3" y="24"/>
                </a:cxn>
                <a:cxn ang="0">
                  <a:pos x="22" y="29"/>
                </a:cxn>
                <a:cxn ang="0">
                  <a:pos x="28" y="30"/>
                </a:cxn>
                <a:cxn ang="0">
                  <a:pos x="24" y="33"/>
                </a:cxn>
                <a:cxn ang="0">
                  <a:pos x="28" y="33"/>
                </a:cxn>
                <a:cxn ang="0">
                  <a:pos x="26" y="35"/>
                </a:cxn>
                <a:cxn ang="0">
                  <a:pos x="15" y="40"/>
                </a:cxn>
                <a:cxn ang="0">
                  <a:pos x="24" y="42"/>
                </a:cxn>
                <a:cxn ang="0">
                  <a:pos x="41" y="44"/>
                </a:cxn>
                <a:cxn ang="0">
                  <a:pos x="69" y="48"/>
                </a:cxn>
                <a:cxn ang="0">
                  <a:pos x="88" y="41"/>
                </a:cxn>
                <a:cxn ang="0">
                  <a:pos x="107" y="35"/>
                </a:cxn>
                <a:cxn ang="0">
                  <a:pos x="119" y="28"/>
                </a:cxn>
                <a:cxn ang="0">
                  <a:pos x="125" y="24"/>
                </a:cxn>
                <a:cxn ang="0">
                  <a:pos x="129" y="23"/>
                </a:cxn>
                <a:cxn ang="0">
                  <a:pos x="123" y="21"/>
                </a:cxn>
                <a:cxn ang="0">
                  <a:pos x="129" y="18"/>
                </a:cxn>
                <a:cxn ang="0">
                  <a:pos x="129" y="16"/>
                </a:cxn>
                <a:cxn ang="0">
                  <a:pos x="118" y="16"/>
                </a:cxn>
                <a:cxn ang="0">
                  <a:pos x="120" y="14"/>
                </a:cxn>
                <a:cxn ang="0">
                  <a:pos x="114" y="12"/>
                </a:cxn>
                <a:cxn ang="0">
                  <a:pos x="114" y="8"/>
                </a:cxn>
                <a:cxn ang="0">
                  <a:pos x="119" y="2"/>
                </a:cxn>
                <a:cxn ang="0">
                  <a:pos x="110" y="4"/>
                </a:cxn>
                <a:cxn ang="0">
                  <a:pos x="99" y="0"/>
                </a:cxn>
              </a:cxnLst>
              <a:rect l="0" t="0" r="r" b="b"/>
              <a:pathLst>
                <a:path w="129" h="48">
                  <a:moveTo>
                    <a:pt x="99" y="0"/>
                  </a:moveTo>
                  <a:lnTo>
                    <a:pt x="96" y="4"/>
                  </a:lnTo>
                  <a:lnTo>
                    <a:pt x="86" y="8"/>
                  </a:lnTo>
                  <a:lnTo>
                    <a:pt x="77" y="5"/>
                  </a:lnTo>
                  <a:lnTo>
                    <a:pt x="76" y="12"/>
                  </a:lnTo>
                  <a:lnTo>
                    <a:pt x="75" y="10"/>
                  </a:lnTo>
                  <a:lnTo>
                    <a:pt x="64" y="6"/>
                  </a:lnTo>
                  <a:lnTo>
                    <a:pt x="60" y="10"/>
                  </a:lnTo>
                  <a:lnTo>
                    <a:pt x="53" y="6"/>
                  </a:lnTo>
                  <a:lnTo>
                    <a:pt x="46" y="15"/>
                  </a:lnTo>
                  <a:lnTo>
                    <a:pt x="39" y="18"/>
                  </a:lnTo>
                  <a:lnTo>
                    <a:pt x="34" y="14"/>
                  </a:lnTo>
                  <a:lnTo>
                    <a:pt x="38" y="10"/>
                  </a:lnTo>
                  <a:lnTo>
                    <a:pt x="21" y="0"/>
                  </a:lnTo>
                  <a:lnTo>
                    <a:pt x="23" y="4"/>
                  </a:lnTo>
                  <a:lnTo>
                    <a:pt x="26" y="10"/>
                  </a:lnTo>
                  <a:lnTo>
                    <a:pt x="16" y="5"/>
                  </a:lnTo>
                  <a:lnTo>
                    <a:pt x="12" y="8"/>
                  </a:lnTo>
                  <a:lnTo>
                    <a:pt x="12" y="10"/>
                  </a:lnTo>
                  <a:lnTo>
                    <a:pt x="15" y="11"/>
                  </a:lnTo>
                  <a:lnTo>
                    <a:pt x="14" y="11"/>
                  </a:lnTo>
                  <a:lnTo>
                    <a:pt x="4" y="11"/>
                  </a:lnTo>
                  <a:lnTo>
                    <a:pt x="8" y="14"/>
                  </a:lnTo>
                  <a:lnTo>
                    <a:pt x="0" y="15"/>
                  </a:lnTo>
                  <a:lnTo>
                    <a:pt x="28" y="16"/>
                  </a:lnTo>
                  <a:lnTo>
                    <a:pt x="23" y="20"/>
                  </a:lnTo>
                  <a:lnTo>
                    <a:pt x="27" y="22"/>
                  </a:lnTo>
                  <a:lnTo>
                    <a:pt x="3" y="24"/>
                  </a:lnTo>
                  <a:lnTo>
                    <a:pt x="22" y="29"/>
                  </a:lnTo>
                  <a:lnTo>
                    <a:pt x="28" y="30"/>
                  </a:lnTo>
                  <a:lnTo>
                    <a:pt x="24" y="33"/>
                  </a:lnTo>
                  <a:lnTo>
                    <a:pt x="28" y="33"/>
                  </a:lnTo>
                  <a:lnTo>
                    <a:pt x="26" y="35"/>
                  </a:lnTo>
                  <a:lnTo>
                    <a:pt x="15" y="40"/>
                  </a:lnTo>
                  <a:lnTo>
                    <a:pt x="24" y="42"/>
                  </a:lnTo>
                  <a:lnTo>
                    <a:pt x="41" y="44"/>
                  </a:lnTo>
                  <a:lnTo>
                    <a:pt x="69" y="48"/>
                  </a:lnTo>
                  <a:lnTo>
                    <a:pt x="88" y="41"/>
                  </a:lnTo>
                  <a:lnTo>
                    <a:pt x="107" y="35"/>
                  </a:lnTo>
                  <a:lnTo>
                    <a:pt x="119" y="28"/>
                  </a:lnTo>
                  <a:lnTo>
                    <a:pt x="125" y="24"/>
                  </a:lnTo>
                  <a:lnTo>
                    <a:pt x="129" y="23"/>
                  </a:lnTo>
                  <a:lnTo>
                    <a:pt x="123" y="21"/>
                  </a:lnTo>
                  <a:lnTo>
                    <a:pt x="129" y="18"/>
                  </a:lnTo>
                  <a:lnTo>
                    <a:pt x="129" y="16"/>
                  </a:lnTo>
                  <a:lnTo>
                    <a:pt x="118" y="16"/>
                  </a:lnTo>
                  <a:lnTo>
                    <a:pt x="120" y="14"/>
                  </a:lnTo>
                  <a:lnTo>
                    <a:pt x="114" y="12"/>
                  </a:lnTo>
                  <a:lnTo>
                    <a:pt x="114" y="8"/>
                  </a:lnTo>
                  <a:lnTo>
                    <a:pt x="119" y="2"/>
                  </a:lnTo>
                  <a:lnTo>
                    <a:pt x="110" y="4"/>
                  </a:lnTo>
                  <a:lnTo>
                    <a:pt x="9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8" name="Freeform 417"/>
            <p:cNvSpPr>
              <a:spLocks/>
            </p:cNvSpPr>
            <p:nvPr/>
          </p:nvSpPr>
          <p:spPr bwMode="auto">
            <a:xfrm>
              <a:off x="2376" y="1610"/>
              <a:ext cx="62" cy="71"/>
            </a:xfrm>
            <a:custGeom>
              <a:avLst/>
              <a:gdLst/>
              <a:ahLst/>
              <a:cxnLst>
                <a:cxn ang="0">
                  <a:pos x="55" y="47"/>
                </a:cxn>
                <a:cxn ang="0">
                  <a:pos x="55" y="33"/>
                </a:cxn>
                <a:cxn ang="0">
                  <a:pos x="55" y="20"/>
                </a:cxn>
                <a:cxn ang="0">
                  <a:pos x="48" y="17"/>
                </a:cxn>
                <a:cxn ang="0">
                  <a:pos x="44" y="18"/>
                </a:cxn>
                <a:cxn ang="0">
                  <a:pos x="33" y="15"/>
                </a:cxn>
                <a:cxn ang="0">
                  <a:pos x="43" y="3"/>
                </a:cxn>
                <a:cxn ang="0">
                  <a:pos x="45" y="0"/>
                </a:cxn>
                <a:cxn ang="0">
                  <a:pos x="39" y="2"/>
                </a:cxn>
                <a:cxn ang="0">
                  <a:pos x="35" y="2"/>
                </a:cxn>
                <a:cxn ang="0">
                  <a:pos x="24" y="8"/>
                </a:cxn>
                <a:cxn ang="0">
                  <a:pos x="29" y="11"/>
                </a:cxn>
                <a:cxn ang="0">
                  <a:pos x="24" y="17"/>
                </a:cxn>
                <a:cxn ang="0">
                  <a:pos x="7" y="18"/>
                </a:cxn>
                <a:cxn ang="0">
                  <a:pos x="8" y="24"/>
                </a:cxn>
                <a:cxn ang="0">
                  <a:pos x="2" y="30"/>
                </a:cxn>
                <a:cxn ang="0">
                  <a:pos x="18" y="35"/>
                </a:cxn>
                <a:cxn ang="0">
                  <a:pos x="7" y="45"/>
                </a:cxn>
                <a:cxn ang="0">
                  <a:pos x="18" y="43"/>
                </a:cxn>
                <a:cxn ang="0">
                  <a:pos x="6" y="49"/>
                </a:cxn>
                <a:cxn ang="0">
                  <a:pos x="0" y="53"/>
                </a:cxn>
                <a:cxn ang="0">
                  <a:pos x="3" y="54"/>
                </a:cxn>
                <a:cxn ang="0">
                  <a:pos x="0" y="57"/>
                </a:cxn>
                <a:cxn ang="0">
                  <a:pos x="6" y="60"/>
                </a:cxn>
                <a:cxn ang="0">
                  <a:pos x="3" y="61"/>
                </a:cxn>
                <a:cxn ang="0">
                  <a:pos x="8" y="61"/>
                </a:cxn>
                <a:cxn ang="0">
                  <a:pos x="8" y="63"/>
                </a:cxn>
                <a:cxn ang="0">
                  <a:pos x="23" y="62"/>
                </a:cxn>
                <a:cxn ang="0">
                  <a:pos x="36" y="55"/>
                </a:cxn>
                <a:cxn ang="0">
                  <a:pos x="50" y="54"/>
                </a:cxn>
                <a:cxn ang="0">
                  <a:pos x="55" y="47"/>
                </a:cxn>
              </a:cxnLst>
              <a:rect l="0" t="0" r="r" b="b"/>
              <a:pathLst>
                <a:path w="55" h="63">
                  <a:moveTo>
                    <a:pt x="55" y="47"/>
                  </a:moveTo>
                  <a:lnTo>
                    <a:pt x="55" y="33"/>
                  </a:lnTo>
                  <a:lnTo>
                    <a:pt x="55" y="20"/>
                  </a:lnTo>
                  <a:lnTo>
                    <a:pt x="48" y="17"/>
                  </a:lnTo>
                  <a:lnTo>
                    <a:pt x="44" y="18"/>
                  </a:lnTo>
                  <a:lnTo>
                    <a:pt x="33" y="15"/>
                  </a:lnTo>
                  <a:lnTo>
                    <a:pt x="43" y="3"/>
                  </a:lnTo>
                  <a:lnTo>
                    <a:pt x="45" y="0"/>
                  </a:lnTo>
                  <a:lnTo>
                    <a:pt x="39" y="2"/>
                  </a:lnTo>
                  <a:lnTo>
                    <a:pt x="35" y="2"/>
                  </a:lnTo>
                  <a:lnTo>
                    <a:pt x="24" y="8"/>
                  </a:lnTo>
                  <a:lnTo>
                    <a:pt x="29" y="11"/>
                  </a:lnTo>
                  <a:lnTo>
                    <a:pt x="24" y="17"/>
                  </a:lnTo>
                  <a:lnTo>
                    <a:pt x="7" y="18"/>
                  </a:lnTo>
                  <a:lnTo>
                    <a:pt x="8" y="24"/>
                  </a:lnTo>
                  <a:lnTo>
                    <a:pt x="2" y="30"/>
                  </a:lnTo>
                  <a:lnTo>
                    <a:pt x="18" y="35"/>
                  </a:lnTo>
                  <a:lnTo>
                    <a:pt x="7" y="45"/>
                  </a:lnTo>
                  <a:lnTo>
                    <a:pt x="18" y="43"/>
                  </a:lnTo>
                  <a:lnTo>
                    <a:pt x="6" y="49"/>
                  </a:lnTo>
                  <a:lnTo>
                    <a:pt x="0" y="53"/>
                  </a:lnTo>
                  <a:lnTo>
                    <a:pt x="3" y="54"/>
                  </a:lnTo>
                  <a:lnTo>
                    <a:pt x="0" y="57"/>
                  </a:lnTo>
                  <a:lnTo>
                    <a:pt x="6" y="60"/>
                  </a:lnTo>
                  <a:lnTo>
                    <a:pt x="3" y="61"/>
                  </a:lnTo>
                  <a:lnTo>
                    <a:pt x="8" y="61"/>
                  </a:lnTo>
                  <a:lnTo>
                    <a:pt x="8" y="63"/>
                  </a:lnTo>
                  <a:lnTo>
                    <a:pt x="23" y="62"/>
                  </a:lnTo>
                  <a:lnTo>
                    <a:pt x="36" y="55"/>
                  </a:lnTo>
                  <a:lnTo>
                    <a:pt x="50" y="54"/>
                  </a:lnTo>
                  <a:lnTo>
                    <a:pt x="55" y="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9" name="Freeform 418"/>
            <p:cNvSpPr>
              <a:spLocks/>
            </p:cNvSpPr>
            <p:nvPr/>
          </p:nvSpPr>
          <p:spPr bwMode="auto">
            <a:xfrm>
              <a:off x="2445" y="1550"/>
              <a:ext cx="113" cy="160"/>
            </a:xfrm>
            <a:custGeom>
              <a:avLst/>
              <a:gdLst/>
              <a:ahLst/>
              <a:cxnLst>
                <a:cxn ang="0">
                  <a:pos x="8" y="43"/>
                </a:cxn>
                <a:cxn ang="0">
                  <a:pos x="16" y="44"/>
                </a:cxn>
                <a:cxn ang="0">
                  <a:pos x="12" y="57"/>
                </a:cxn>
                <a:cxn ang="0">
                  <a:pos x="20" y="63"/>
                </a:cxn>
                <a:cxn ang="0">
                  <a:pos x="31" y="66"/>
                </a:cxn>
                <a:cxn ang="0">
                  <a:pos x="38" y="87"/>
                </a:cxn>
                <a:cxn ang="0">
                  <a:pos x="16" y="96"/>
                </a:cxn>
                <a:cxn ang="0">
                  <a:pos x="23" y="102"/>
                </a:cxn>
                <a:cxn ang="0">
                  <a:pos x="8" y="115"/>
                </a:cxn>
                <a:cxn ang="0">
                  <a:pos x="29" y="121"/>
                </a:cxn>
                <a:cxn ang="0">
                  <a:pos x="38" y="122"/>
                </a:cxn>
                <a:cxn ang="0">
                  <a:pos x="13" y="134"/>
                </a:cxn>
                <a:cxn ang="0">
                  <a:pos x="5" y="144"/>
                </a:cxn>
                <a:cxn ang="0">
                  <a:pos x="25" y="141"/>
                </a:cxn>
                <a:cxn ang="0">
                  <a:pos x="42" y="134"/>
                </a:cxn>
                <a:cxn ang="0">
                  <a:pos x="82" y="133"/>
                </a:cxn>
                <a:cxn ang="0">
                  <a:pos x="85" y="120"/>
                </a:cxn>
                <a:cxn ang="0">
                  <a:pos x="102" y="103"/>
                </a:cxn>
                <a:cxn ang="0">
                  <a:pos x="82" y="97"/>
                </a:cxn>
                <a:cxn ang="0">
                  <a:pos x="72" y="82"/>
                </a:cxn>
                <a:cxn ang="0">
                  <a:pos x="76" y="76"/>
                </a:cxn>
                <a:cxn ang="0">
                  <a:pos x="50" y="45"/>
                </a:cxn>
                <a:cxn ang="0">
                  <a:pos x="43" y="39"/>
                </a:cxn>
                <a:cxn ang="0">
                  <a:pos x="41" y="36"/>
                </a:cxn>
                <a:cxn ang="0">
                  <a:pos x="29" y="16"/>
                </a:cxn>
                <a:cxn ang="0">
                  <a:pos x="28" y="13"/>
                </a:cxn>
                <a:cxn ang="0">
                  <a:pos x="17" y="0"/>
                </a:cxn>
                <a:cxn ang="0">
                  <a:pos x="11" y="10"/>
                </a:cxn>
                <a:cxn ang="0">
                  <a:pos x="5" y="18"/>
                </a:cxn>
                <a:cxn ang="0">
                  <a:pos x="5" y="22"/>
                </a:cxn>
                <a:cxn ang="0">
                  <a:pos x="2" y="32"/>
                </a:cxn>
                <a:cxn ang="0">
                  <a:pos x="10" y="31"/>
                </a:cxn>
                <a:cxn ang="0">
                  <a:pos x="1" y="55"/>
                </a:cxn>
              </a:cxnLst>
              <a:rect l="0" t="0" r="r" b="b"/>
              <a:pathLst>
                <a:path w="102" h="144">
                  <a:moveTo>
                    <a:pt x="1" y="55"/>
                  </a:moveTo>
                  <a:lnTo>
                    <a:pt x="8" y="43"/>
                  </a:lnTo>
                  <a:lnTo>
                    <a:pt x="13" y="43"/>
                  </a:lnTo>
                  <a:lnTo>
                    <a:pt x="16" y="44"/>
                  </a:lnTo>
                  <a:lnTo>
                    <a:pt x="14" y="49"/>
                  </a:lnTo>
                  <a:lnTo>
                    <a:pt x="12" y="57"/>
                  </a:lnTo>
                  <a:lnTo>
                    <a:pt x="13" y="66"/>
                  </a:lnTo>
                  <a:lnTo>
                    <a:pt x="20" y="63"/>
                  </a:lnTo>
                  <a:lnTo>
                    <a:pt x="35" y="60"/>
                  </a:lnTo>
                  <a:lnTo>
                    <a:pt x="31" y="66"/>
                  </a:lnTo>
                  <a:lnTo>
                    <a:pt x="37" y="73"/>
                  </a:lnTo>
                  <a:lnTo>
                    <a:pt x="38" y="87"/>
                  </a:lnTo>
                  <a:lnTo>
                    <a:pt x="34" y="88"/>
                  </a:lnTo>
                  <a:lnTo>
                    <a:pt x="16" y="96"/>
                  </a:lnTo>
                  <a:lnTo>
                    <a:pt x="19" y="96"/>
                  </a:lnTo>
                  <a:lnTo>
                    <a:pt x="23" y="102"/>
                  </a:lnTo>
                  <a:lnTo>
                    <a:pt x="11" y="111"/>
                  </a:lnTo>
                  <a:lnTo>
                    <a:pt x="8" y="115"/>
                  </a:lnTo>
                  <a:lnTo>
                    <a:pt x="23" y="117"/>
                  </a:lnTo>
                  <a:lnTo>
                    <a:pt x="29" y="121"/>
                  </a:lnTo>
                  <a:lnTo>
                    <a:pt x="44" y="116"/>
                  </a:lnTo>
                  <a:lnTo>
                    <a:pt x="38" y="122"/>
                  </a:lnTo>
                  <a:lnTo>
                    <a:pt x="26" y="124"/>
                  </a:lnTo>
                  <a:lnTo>
                    <a:pt x="13" y="134"/>
                  </a:lnTo>
                  <a:lnTo>
                    <a:pt x="0" y="142"/>
                  </a:lnTo>
                  <a:lnTo>
                    <a:pt x="5" y="144"/>
                  </a:lnTo>
                  <a:lnTo>
                    <a:pt x="8" y="144"/>
                  </a:lnTo>
                  <a:lnTo>
                    <a:pt x="25" y="141"/>
                  </a:lnTo>
                  <a:lnTo>
                    <a:pt x="30" y="136"/>
                  </a:lnTo>
                  <a:lnTo>
                    <a:pt x="42" y="134"/>
                  </a:lnTo>
                  <a:lnTo>
                    <a:pt x="58" y="133"/>
                  </a:lnTo>
                  <a:lnTo>
                    <a:pt x="82" y="133"/>
                  </a:lnTo>
                  <a:lnTo>
                    <a:pt x="97" y="123"/>
                  </a:lnTo>
                  <a:lnTo>
                    <a:pt x="85" y="120"/>
                  </a:lnTo>
                  <a:lnTo>
                    <a:pt x="90" y="116"/>
                  </a:lnTo>
                  <a:lnTo>
                    <a:pt x="102" y="103"/>
                  </a:lnTo>
                  <a:lnTo>
                    <a:pt x="97" y="97"/>
                  </a:lnTo>
                  <a:lnTo>
                    <a:pt x="82" y="97"/>
                  </a:lnTo>
                  <a:lnTo>
                    <a:pt x="83" y="92"/>
                  </a:lnTo>
                  <a:lnTo>
                    <a:pt x="72" y="82"/>
                  </a:lnTo>
                  <a:lnTo>
                    <a:pt x="77" y="84"/>
                  </a:lnTo>
                  <a:lnTo>
                    <a:pt x="76" y="76"/>
                  </a:lnTo>
                  <a:lnTo>
                    <a:pt x="65" y="67"/>
                  </a:lnTo>
                  <a:lnTo>
                    <a:pt x="50" y="45"/>
                  </a:lnTo>
                  <a:lnTo>
                    <a:pt x="32" y="43"/>
                  </a:lnTo>
                  <a:lnTo>
                    <a:pt x="43" y="39"/>
                  </a:lnTo>
                  <a:lnTo>
                    <a:pt x="36" y="37"/>
                  </a:lnTo>
                  <a:lnTo>
                    <a:pt x="41" y="36"/>
                  </a:lnTo>
                  <a:lnTo>
                    <a:pt x="55" y="16"/>
                  </a:lnTo>
                  <a:lnTo>
                    <a:pt x="29" y="16"/>
                  </a:lnTo>
                  <a:lnTo>
                    <a:pt x="23" y="15"/>
                  </a:lnTo>
                  <a:lnTo>
                    <a:pt x="28" y="13"/>
                  </a:lnTo>
                  <a:lnTo>
                    <a:pt x="38" y="1"/>
                  </a:lnTo>
                  <a:lnTo>
                    <a:pt x="17" y="0"/>
                  </a:lnTo>
                  <a:lnTo>
                    <a:pt x="12" y="4"/>
                  </a:lnTo>
                  <a:lnTo>
                    <a:pt x="11" y="10"/>
                  </a:lnTo>
                  <a:lnTo>
                    <a:pt x="6" y="12"/>
                  </a:lnTo>
                  <a:lnTo>
                    <a:pt x="5" y="18"/>
                  </a:lnTo>
                  <a:lnTo>
                    <a:pt x="5" y="20"/>
                  </a:lnTo>
                  <a:lnTo>
                    <a:pt x="5" y="22"/>
                  </a:lnTo>
                  <a:lnTo>
                    <a:pt x="0" y="30"/>
                  </a:lnTo>
                  <a:lnTo>
                    <a:pt x="2" y="32"/>
                  </a:lnTo>
                  <a:lnTo>
                    <a:pt x="0" y="33"/>
                  </a:lnTo>
                  <a:lnTo>
                    <a:pt x="10" y="31"/>
                  </a:lnTo>
                  <a:lnTo>
                    <a:pt x="8" y="32"/>
                  </a:lnTo>
                  <a:lnTo>
                    <a:pt x="1" y="5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0" name="Freeform 419"/>
            <p:cNvSpPr>
              <a:spLocks/>
            </p:cNvSpPr>
            <p:nvPr/>
          </p:nvSpPr>
          <p:spPr bwMode="auto">
            <a:xfrm>
              <a:off x="2413" y="1612"/>
              <a:ext cx="36" cy="22"/>
            </a:xfrm>
            <a:custGeom>
              <a:avLst/>
              <a:gdLst/>
              <a:ahLst/>
              <a:cxnLst>
                <a:cxn ang="0">
                  <a:pos x="32" y="13"/>
                </a:cxn>
                <a:cxn ang="0">
                  <a:pos x="29" y="10"/>
                </a:cxn>
                <a:cxn ang="0">
                  <a:pos x="21" y="0"/>
                </a:cxn>
                <a:cxn ang="0">
                  <a:pos x="10" y="2"/>
                </a:cxn>
                <a:cxn ang="0">
                  <a:pos x="0" y="14"/>
                </a:cxn>
                <a:cxn ang="0">
                  <a:pos x="11" y="17"/>
                </a:cxn>
                <a:cxn ang="0">
                  <a:pos x="15" y="16"/>
                </a:cxn>
                <a:cxn ang="0">
                  <a:pos x="22" y="19"/>
                </a:cxn>
                <a:cxn ang="0">
                  <a:pos x="32" y="13"/>
                </a:cxn>
              </a:cxnLst>
              <a:rect l="0" t="0" r="r" b="b"/>
              <a:pathLst>
                <a:path w="32" h="19">
                  <a:moveTo>
                    <a:pt x="32" y="13"/>
                  </a:moveTo>
                  <a:lnTo>
                    <a:pt x="29" y="10"/>
                  </a:lnTo>
                  <a:lnTo>
                    <a:pt x="21" y="0"/>
                  </a:lnTo>
                  <a:lnTo>
                    <a:pt x="10" y="2"/>
                  </a:lnTo>
                  <a:lnTo>
                    <a:pt x="0" y="14"/>
                  </a:lnTo>
                  <a:lnTo>
                    <a:pt x="11" y="17"/>
                  </a:lnTo>
                  <a:lnTo>
                    <a:pt x="15" y="16"/>
                  </a:lnTo>
                  <a:lnTo>
                    <a:pt x="22" y="19"/>
                  </a:lnTo>
                  <a:lnTo>
                    <a:pt x="32"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1" name="Freeform 420"/>
            <p:cNvSpPr>
              <a:spLocks/>
            </p:cNvSpPr>
            <p:nvPr/>
          </p:nvSpPr>
          <p:spPr bwMode="auto">
            <a:xfrm>
              <a:off x="2436" y="1568"/>
              <a:ext cx="13" cy="8"/>
            </a:xfrm>
            <a:custGeom>
              <a:avLst/>
              <a:gdLst/>
              <a:ahLst/>
              <a:cxnLst>
                <a:cxn ang="0">
                  <a:pos x="7" y="2"/>
                </a:cxn>
                <a:cxn ang="0">
                  <a:pos x="3" y="0"/>
                </a:cxn>
                <a:cxn ang="0">
                  <a:pos x="0" y="4"/>
                </a:cxn>
                <a:cxn ang="0">
                  <a:pos x="10" y="9"/>
                </a:cxn>
                <a:cxn ang="0">
                  <a:pos x="13" y="6"/>
                </a:cxn>
                <a:cxn ang="0">
                  <a:pos x="7" y="2"/>
                </a:cxn>
              </a:cxnLst>
              <a:rect l="0" t="0" r="r" b="b"/>
              <a:pathLst>
                <a:path w="13" h="9">
                  <a:moveTo>
                    <a:pt x="7" y="2"/>
                  </a:moveTo>
                  <a:lnTo>
                    <a:pt x="3" y="0"/>
                  </a:lnTo>
                  <a:lnTo>
                    <a:pt x="0" y="4"/>
                  </a:lnTo>
                  <a:lnTo>
                    <a:pt x="10" y="9"/>
                  </a:lnTo>
                  <a:lnTo>
                    <a:pt x="13" y="6"/>
                  </a:lnTo>
                  <a:lnTo>
                    <a:pt x="7"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2" name="Freeform 421"/>
            <p:cNvSpPr>
              <a:spLocks/>
            </p:cNvSpPr>
            <p:nvPr/>
          </p:nvSpPr>
          <p:spPr bwMode="auto">
            <a:xfrm>
              <a:off x="2431" y="1554"/>
              <a:ext cx="11" cy="9"/>
            </a:xfrm>
            <a:custGeom>
              <a:avLst/>
              <a:gdLst/>
              <a:ahLst/>
              <a:cxnLst>
                <a:cxn ang="0">
                  <a:pos x="11" y="3"/>
                </a:cxn>
                <a:cxn ang="0">
                  <a:pos x="11" y="0"/>
                </a:cxn>
                <a:cxn ang="0">
                  <a:pos x="2" y="4"/>
                </a:cxn>
                <a:cxn ang="0">
                  <a:pos x="0" y="9"/>
                </a:cxn>
                <a:cxn ang="0">
                  <a:pos x="11" y="3"/>
                </a:cxn>
              </a:cxnLst>
              <a:rect l="0" t="0" r="r" b="b"/>
              <a:pathLst>
                <a:path w="11" h="9">
                  <a:moveTo>
                    <a:pt x="11" y="3"/>
                  </a:moveTo>
                  <a:lnTo>
                    <a:pt x="11" y="0"/>
                  </a:lnTo>
                  <a:lnTo>
                    <a:pt x="2" y="4"/>
                  </a:lnTo>
                  <a:lnTo>
                    <a:pt x="0" y="9"/>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3" name="Freeform 422"/>
            <p:cNvSpPr>
              <a:spLocks/>
            </p:cNvSpPr>
            <p:nvPr/>
          </p:nvSpPr>
          <p:spPr bwMode="auto">
            <a:xfrm>
              <a:off x="2511" y="1514"/>
              <a:ext cx="5" cy="9"/>
            </a:xfrm>
            <a:custGeom>
              <a:avLst/>
              <a:gdLst/>
              <a:ahLst/>
              <a:cxnLst>
                <a:cxn ang="0">
                  <a:pos x="1" y="0"/>
                </a:cxn>
                <a:cxn ang="0">
                  <a:pos x="1" y="3"/>
                </a:cxn>
                <a:cxn ang="0">
                  <a:pos x="0" y="5"/>
                </a:cxn>
                <a:cxn ang="0">
                  <a:pos x="1" y="8"/>
                </a:cxn>
                <a:cxn ang="0">
                  <a:pos x="5" y="0"/>
                </a:cxn>
                <a:cxn ang="0">
                  <a:pos x="1" y="0"/>
                </a:cxn>
              </a:cxnLst>
              <a:rect l="0" t="0" r="r" b="b"/>
              <a:pathLst>
                <a:path w="5" h="8">
                  <a:moveTo>
                    <a:pt x="1" y="0"/>
                  </a:moveTo>
                  <a:lnTo>
                    <a:pt x="1" y="3"/>
                  </a:lnTo>
                  <a:lnTo>
                    <a:pt x="0" y="5"/>
                  </a:lnTo>
                  <a:lnTo>
                    <a:pt x="1" y="8"/>
                  </a:lnTo>
                  <a:lnTo>
                    <a:pt x="5"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4" name="Freeform 423"/>
            <p:cNvSpPr>
              <a:spLocks/>
            </p:cNvSpPr>
            <p:nvPr/>
          </p:nvSpPr>
          <p:spPr bwMode="auto">
            <a:xfrm>
              <a:off x="2442" y="1588"/>
              <a:ext cx="7" cy="4"/>
            </a:xfrm>
            <a:custGeom>
              <a:avLst/>
              <a:gdLst/>
              <a:ahLst/>
              <a:cxnLst>
                <a:cxn ang="0">
                  <a:pos x="0" y="4"/>
                </a:cxn>
                <a:cxn ang="0">
                  <a:pos x="7" y="2"/>
                </a:cxn>
                <a:cxn ang="0">
                  <a:pos x="0" y="0"/>
                </a:cxn>
                <a:cxn ang="0">
                  <a:pos x="0" y="4"/>
                </a:cxn>
              </a:cxnLst>
              <a:rect l="0" t="0" r="r" b="b"/>
              <a:pathLst>
                <a:path w="7" h="4">
                  <a:moveTo>
                    <a:pt x="0" y="4"/>
                  </a:moveTo>
                  <a:lnTo>
                    <a:pt x="7" y="2"/>
                  </a:lnTo>
                  <a:lnTo>
                    <a:pt x="0" y="0"/>
                  </a:lnTo>
                  <a:lnTo>
                    <a:pt x="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5" name="Freeform 424"/>
            <p:cNvSpPr>
              <a:spLocks/>
            </p:cNvSpPr>
            <p:nvPr/>
          </p:nvSpPr>
          <p:spPr bwMode="auto">
            <a:xfrm>
              <a:off x="2465" y="1648"/>
              <a:ext cx="4" cy="2"/>
            </a:xfrm>
            <a:custGeom>
              <a:avLst/>
              <a:gdLst/>
              <a:ahLst/>
              <a:cxnLst>
                <a:cxn ang="0">
                  <a:pos x="5" y="3"/>
                </a:cxn>
                <a:cxn ang="0">
                  <a:pos x="1" y="0"/>
                </a:cxn>
                <a:cxn ang="0">
                  <a:pos x="0" y="4"/>
                </a:cxn>
                <a:cxn ang="0">
                  <a:pos x="5" y="3"/>
                </a:cxn>
              </a:cxnLst>
              <a:rect l="0" t="0" r="r" b="b"/>
              <a:pathLst>
                <a:path w="5" h="4">
                  <a:moveTo>
                    <a:pt x="5" y="3"/>
                  </a:moveTo>
                  <a:lnTo>
                    <a:pt x="1" y="0"/>
                  </a:lnTo>
                  <a:lnTo>
                    <a:pt x="0" y="4"/>
                  </a:lnTo>
                  <a:lnTo>
                    <a:pt x="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6" name="Freeform 425"/>
            <p:cNvSpPr>
              <a:spLocks/>
            </p:cNvSpPr>
            <p:nvPr/>
          </p:nvSpPr>
          <p:spPr bwMode="auto">
            <a:xfrm>
              <a:off x="2556" y="1856"/>
              <a:ext cx="4" cy="3"/>
            </a:xfrm>
            <a:custGeom>
              <a:avLst/>
              <a:gdLst/>
              <a:ahLst/>
              <a:cxnLst>
                <a:cxn ang="0">
                  <a:pos x="4" y="0"/>
                </a:cxn>
                <a:cxn ang="0">
                  <a:pos x="0" y="0"/>
                </a:cxn>
                <a:cxn ang="0">
                  <a:pos x="0" y="1"/>
                </a:cxn>
                <a:cxn ang="0">
                  <a:pos x="3" y="2"/>
                </a:cxn>
                <a:cxn ang="0">
                  <a:pos x="4" y="0"/>
                </a:cxn>
              </a:cxnLst>
              <a:rect l="0" t="0" r="r" b="b"/>
              <a:pathLst>
                <a:path w="4" h="2">
                  <a:moveTo>
                    <a:pt x="4" y="0"/>
                  </a:moveTo>
                  <a:lnTo>
                    <a:pt x="0" y="0"/>
                  </a:lnTo>
                  <a:lnTo>
                    <a:pt x="0" y="1"/>
                  </a:lnTo>
                  <a:lnTo>
                    <a:pt x="3" y="2"/>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7" name="Freeform 426"/>
            <p:cNvSpPr>
              <a:spLocks/>
            </p:cNvSpPr>
            <p:nvPr/>
          </p:nvSpPr>
          <p:spPr bwMode="auto">
            <a:xfrm>
              <a:off x="1442" y="2059"/>
              <a:ext cx="5" cy="2"/>
            </a:xfrm>
            <a:custGeom>
              <a:avLst/>
              <a:gdLst/>
              <a:ahLst/>
              <a:cxnLst>
                <a:cxn ang="0">
                  <a:pos x="2" y="0"/>
                </a:cxn>
                <a:cxn ang="0">
                  <a:pos x="1" y="1"/>
                </a:cxn>
                <a:cxn ang="0">
                  <a:pos x="1" y="2"/>
                </a:cxn>
                <a:cxn ang="0">
                  <a:pos x="0" y="2"/>
                </a:cxn>
                <a:cxn ang="0">
                  <a:pos x="1" y="2"/>
                </a:cxn>
                <a:cxn ang="0">
                  <a:pos x="2" y="1"/>
                </a:cxn>
                <a:cxn ang="0">
                  <a:pos x="2" y="0"/>
                </a:cxn>
              </a:cxnLst>
              <a:rect l="0" t="0" r="r" b="b"/>
              <a:pathLst>
                <a:path w="2" h="2">
                  <a:moveTo>
                    <a:pt x="2" y="0"/>
                  </a:moveTo>
                  <a:lnTo>
                    <a:pt x="1" y="1"/>
                  </a:lnTo>
                  <a:lnTo>
                    <a:pt x="1" y="2"/>
                  </a:lnTo>
                  <a:lnTo>
                    <a:pt x="0" y="2"/>
                  </a:lnTo>
                  <a:lnTo>
                    <a:pt x="1" y="2"/>
                  </a:lnTo>
                  <a:lnTo>
                    <a:pt x="2" y="1"/>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8" name="Freeform 427"/>
            <p:cNvSpPr>
              <a:spLocks/>
            </p:cNvSpPr>
            <p:nvPr/>
          </p:nvSpPr>
          <p:spPr bwMode="auto">
            <a:xfrm>
              <a:off x="2376" y="1867"/>
              <a:ext cx="53" cy="100"/>
            </a:xfrm>
            <a:custGeom>
              <a:avLst/>
              <a:gdLst/>
              <a:ahLst/>
              <a:cxnLst>
                <a:cxn ang="0">
                  <a:pos x="21" y="0"/>
                </a:cxn>
                <a:cxn ang="0">
                  <a:pos x="13" y="0"/>
                </a:cxn>
                <a:cxn ang="0">
                  <a:pos x="13" y="22"/>
                </a:cxn>
                <a:cxn ang="0">
                  <a:pos x="8" y="34"/>
                </a:cxn>
                <a:cxn ang="0">
                  <a:pos x="2" y="47"/>
                </a:cxn>
                <a:cxn ang="0">
                  <a:pos x="0" y="59"/>
                </a:cxn>
                <a:cxn ang="0">
                  <a:pos x="7" y="63"/>
                </a:cxn>
                <a:cxn ang="0">
                  <a:pos x="9" y="64"/>
                </a:cxn>
                <a:cxn ang="0">
                  <a:pos x="8" y="89"/>
                </a:cxn>
                <a:cxn ang="0">
                  <a:pos x="30" y="87"/>
                </a:cxn>
                <a:cxn ang="0">
                  <a:pos x="29" y="82"/>
                </a:cxn>
                <a:cxn ang="0">
                  <a:pos x="35" y="71"/>
                </a:cxn>
                <a:cxn ang="0">
                  <a:pos x="33" y="66"/>
                </a:cxn>
                <a:cxn ang="0">
                  <a:pos x="35" y="57"/>
                </a:cxn>
                <a:cxn ang="0">
                  <a:pos x="29" y="42"/>
                </a:cxn>
                <a:cxn ang="0">
                  <a:pos x="35" y="41"/>
                </a:cxn>
                <a:cxn ang="0">
                  <a:pos x="39" y="20"/>
                </a:cxn>
                <a:cxn ang="0">
                  <a:pos x="48" y="11"/>
                </a:cxn>
                <a:cxn ang="0">
                  <a:pos x="45" y="3"/>
                </a:cxn>
                <a:cxn ang="0">
                  <a:pos x="26" y="2"/>
                </a:cxn>
                <a:cxn ang="0">
                  <a:pos x="21" y="0"/>
                </a:cxn>
              </a:cxnLst>
              <a:rect l="0" t="0" r="r" b="b"/>
              <a:pathLst>
                <a:path w="48" h="89">
                  <a:moveTo>
                    <a:pt x="21" y="0"/>
                  </a:moveTo>
                  <a:lnTo>
                    <a:pt x="13" y="0"/>
                  </a:lnTo>
                  <a:lnTo>
                    <a:pt x="13" y="22"/>
                  </a:lnTo>
                  <a:lnTo>
                    <a:pt x="8" y="34"/>
                  </a:lnTo>
                  <a:lnTo>
                    <a:pt x="2" y="47"/>
                  </a:lnTo>
                  <a:lnTo>
                    <a:pt x="0" y="59"/>
                  </a:lnTo>
                  <a:lnTo>
                    <a:pt x="7" y="63"/>
                  </a:lnTo>
                  <a:lnTo>
                    <a:pt x="9" y="64"/>
                  </a:lnTo>
                  <a:lnTo>
                    <a:pt x="8" y="89"/>
                  </a:lnTo>
                  <a:lnTo>
                    <a:pt x="30" y="87"/>
                  </a:lnTo>
                  <a:lnTo>
                    <a:pt x="29" y="82"/>
                  </a:lnTo>
                  <a:lnTo>
                    <a:pt x="35" y="71"/>
                  </a:lnTo>
                  <a:lnTo>
                    <a:pt x="33" y="66"/>
                  </a:lnTo>
                  <a:lnTo>
                    <a:pt x="35" y="57"/>
                  </a:lnTo>
                  <a:lnTo>
                    <a:pt x="29" y="42"/>
                  </a:lnTo>
                  <a:lnTo>
                    <a:pt x="35" y="41"/>
                  </a:lnTo>
                  <a:lnTo>
                    <a:pt x="39" y="20"/>
                  </a:lnTo>
                  <a:lnTo>
                    <a:pt x="48" y="11"/>
                  </a:lnTo>
                  <a:lnTo>
                    <a:pt x="45" y="3"/>
                  </a:lnTo>
                  <a:lnTo>
                    <a:pt x="26" y="2"/>
                  </a:lnTo>
                  <a:lnTo>
                    <a:pt x="2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9" name="Freeform 428"/>
            <p:cNvSpPr>
              <a:spLocks/>
            </p:cNvSpPr>
            <p:nvPr/>
          </p:nvSpPr>
          <p:spPr bwMode="auto">
            <a:xfrm>
              <a:off x="2387" y="1834"/>
              <a:ext cx="195" cy="149"/>
            </a:xfrm>
            <a:custGeom>
              <a:avLst/>
              <a:gdLst/>
              <a:ahLst/>
              <a:cxnLst>
                <a:cxn ang="0">
                  <a:pos x="36" y="34"/>
                </a:cxn>
                <a:cxn ang="0">
                  <a:pos x="17" y="33"/>
                </a:cxn>
                <a:cxn ang="0">
                  <a:pos x="12" y="31"/>
                </a:cxn>
                <a:cxn ang="0">
                  <a:pos x="4" y="31"/>
                </a:cxn>
                <a:cxn ang="0">
                  <a:pos x="3" y="27"/>
                </a:cxn>
                <a:cxn ang="0">
                  <a:pos x="2" y="23"/>
                </a:cxn>
                <a:cxn ang="0">
                  <a:pos x="2" y="21"/>
                </a:cxn>
                <a:cxn ang="0">
                  <a:pos x="0" y="17"/>
                </a:cxn>
                <a:cxn ang="0">
                  <a:pos x="0" y="10"/>
                </a:cxn>
                <a:cxn ang="0">
                  <a:pos x="22" y="0"/>
                </a:cxn>
                <a:cxn ang="0">
                  <a:pos x="40" y="3"/>
                </a:cxn>
                <a:cxn ang="0">
                  <a:pos x="56" y="4"/>
                </a:cxn>
                <a:cxn ang="0">
                  <a:pos x="72" y="5"/>
                </a:cxn>
                <a:cxn ang="0">
                  <a:pos x="88" y="5"/>
                </a:cxn>
                <a:cxn ang="0">
                  <a:pos x="105" y="6"/>
                </a:cxn>
                <a:cxn ang="0">
                  <a:pos x="112" y="12"/>
                </a:cxn>
                <a:cxn ang="0">
                  <a:pos x="152" y="21"/>
                </a:cxn>
                <a:cxn ang="0">
                  <a:pos x="152" y="22"/>
                </a:cxn>
                <a:cxn ang="0">
                  <a:pos x="155" y="23"/>
                </a:cxn>
                <a:cxn ang="0">
                  <a:pos x="177" y="23"/>
                </a:cxn>
                <a:cxn ang="0">
                  <a:pos x="173" y="36"/>
                </a:cxn>
                <a:cxn ang="0">
                  <a:pos x="158" y="45"/>
                </a:cxn>
                <a:cxn ang="0">
                  <a:pos x="142" y="53"/>
                </a:cxn>
                <a:cxn ang="0">
                  <a:pos x="134" y="65"/>
                </a:cxn>
                <a:cxn ang="0">
                  <a:pos x="125" y="78"/>
                </a:cxn>
                <a:cxn ang="0">
                  <a:pos x="131" y="91"/>
                </a:cxn>
                <a:cxn ang="0">
                  <a:pos x="119" y="106"/>
                </a:cxn>
                <a:cxn ang="0">
                  <a:pos x="116" y="111"/>
                </a:cxn>
                <a:cxn ang="0">
                  <a:pos x="104" y="117"/>
                </a:cxn>
                <a:cxn ang="0">
                  <a:pos x="96" y="124"/>
                </a:cxn>
                <a:cxn ang="0">
                  <a:pos x="80" y="126"/>
                </a:cxn>
                <a:cxn ang="0">
                  <a:pos x="62" y="129"/>
                </a:cxn>
                <a:cxn ang="0">
                  <a:pos x="51" y="136"/>
                </a:cxn>
                <a:cxn ang="0">
                  <a:pos x="50" y="136"/>
                </a:cxn>
                <a:cxn ang="0">
                  <a:pos x="40" y="135"/>
                </a:cxn>
                <a:cxn ang="0">
                  <a:pos x="36" y="123"/>
                </a:cxn>
                <a:cxn ang="0">
                  <a:pos x="26" y="117"/>
                </a:cxn>
                <a:cxn ang="0">
                  <a:pos x="21" y="118"/>
                </a:cxn>
                <a:cxn ang="0">
                  <a:pos x="20" y="113"/>
                </a:cxn>
                <a:cxn ang="0">
                  <a:pos x="26" y="102"/>
                </a:cxn>
                <a:cxn ang="0">
                  <a:pos x="24" y="97"/>
                </a:cxn>
                <a:cxn ang="0">
                  <a:pos x="26" y="88"/>
                </a:cxn>
                <a:cxn ang="0">
                  <a:pos x="20" y="73"/>
                </a:cxn>
                <a:cxn ang="0">
                  <a:pos x="26" y="72"/>
                </a:cxn>
                <a:cxn ang="0">
                  <a:pos x="30" y="51"/>
                </a:cxn>
                <a:cxn ang="0">
                  <a:pos x="39" y="42"/>
                </a:cxn>
                <a:cxn ang="0">
                  <a:pos x="36" y="34"/>
                </a:cxn>
              </a:cxnLst>
              <a:rect l="0" t="0" r="r" b="b"/>
              <a:pathLst>
                <a:path w="177" h="136">
                  <a:moveTo>
                    <a:pt x="36" y="34"/>
                  </a:moveTo>
                  <a:lnTo>
                    <a:pt x="17" y="33"/>
                  </a:lnTo>
                  <a:lnTo>
                    <a:pt x="12" y="31"/>
                  </a:lnTo>
                  <a:lnTo>
                    <a:pt x="4" y="31"/>
                  </a:lnTo>
                  <a:lnTo>
                    <a:pt x="3" y="27"/>
                  </a:lnTo>
                  <a:lnTo>
                    <a:pt x="2" y="23"/>
                  </a:lnTo>
                  <a:lnTo>
                    <a:pt x="2" y="21"/>
                  </a:lnTo>
                  <a:lnTo>
                    <a:pt x="0" y="17"/>
                  </a:lnTo>
                  <a:lnTo>
                    <a:pt x="0" y="10"/>
                  </a:lnTo>
                  <a:lnTo>
                    <a:pt x="22" y="0"/>
                  </a:lnTo>
                  <a:lnTo>
                    <a:pt x="40" y="3"/>
                  </a:lnTo>
                  <a:lnTo>
                    <a:pt x="56" y="4"/>
                  </a:lnTo>
                  <a:lnTo>
                    <a:pt x="72" y="5"/>
                  </a:lnTo>
                  <a:lnTo>
                    <a:pt x="88" y="5"/>
                  </a:lnTo>
                  <a:lnTo>
                    <a:pt x="105" y="6"/>
                  </a:lnTo>
                  <a:lnTo>
                    <a:pt x="112" y="12"/>
                  </a:lnTo>
                  <a:lnTo>
                    <a:pt x="152" y="21"/>
                  </a:lnTo>
                  <a:lnTo>
                    <a:pt x="152" y="22"/>
                  </a:lnTo>
                  <a:lnTo>
                    <a:pt x="155" y="23"/>
                  </a:lnTo>
                  <a:lnTo>
                    <a:pt x="177" y="23"/>
                  </a:lnTo>
                  <a:lnTo>
                    <a:pt x="173" y="36"/>
                  </a:lnTo>
                  <a:lnTo>
                    <a:pt x="158" y="45"/>
                  </a:lnTo>
                  <a:lnTo>
                    <a:pt x="142" y="53"/>
                  </a:lnTo>
                  <a:lnTo>
                    <a:pt x="134" y="65"/>
                  </a:lnTo>
                  <a:lnTo>
                    <a:pt x="125" y="78"/>
                  </a:lnTo>
                  <a:lnTo>
                    <a:pt x="131" y="91"/>
                  </a:lnTo>
                  <a:lnTo>
                    <a:pt x="119" y="106"/>
                  </a:lnTo>
                  <a:lnTo>
                    <a:pt x="116" y="111"/>
                  </a:lnTo>
                  <a:lnTo>
                    <a:pt x="104" y="117"/>
                  </a:lnTo>
                  <a:lnTo>
                    <a:pt x="96" y="124"/>
                  </a:lnTo>
                  <a:lnTo>
                    <a:pt x="80" y="126"/>
                  </a:lnTo>
                  <a:lnTo>
                    <a:pt x="62" y="129"/>
                  </a:lnTo>
                  <a:lnTo>
                    <a:pt x="51" y="136"/>
                  </a:lnTo>
                  <a:lnTo>
                    <a:pt x="50" y="136"/>
                  </a:lnTo>
                  <a:lnTo>
                    <a:pt x="40" y="135"/>
                  </a:lnTo>
                  <a:lnTo>
                    <a:pt x="36" y="123"/>
                  </a:lnTo>
                  <a:lnTo>
                    <a:pt x="26" y="117"/>
                  </a:lnTo>
                  <a:lnTo>
                    <a:pt x="21" y="118"/>
                  </a:lnTo>
                  <a:lnTo>
                    <a:pt x="20" y="113"/>
                  </a:lnTo>
                  <a:lnTo>
                    <a:pt x="26" y="102"/>
                  </a:lnTo>
                  <a:lnTo>
                    <a:pt x="24" y="97"/>
                  </a:lnTo>
                  <a:lnTo>
                    <a:pt x="26" y="88"/>
                  </a:lnTo>
                  <a:lnTo>
                    <a:pt x="20" y="73"/>
                  </a:lnTo>
                  <a:lnTo>
                    <a:pt x="26" y="72"/>
                  </a:lnTo>
                  <a:lnTo>
                    <a:pt x="30" y="51"/>
                  </a:lnTo>
                  <a:lnTo>
                    <a:pt x="39" y="42"/>
                  </a:lnTo>
                  <a:lnTo>
                    <a:pt x="36"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0" name="Freeform 429"/>
            <p:cNvSpPr>
              <a:spLocks/>
            </p:cNvSpPr>
            <p:nvPr/>
          </p:nvSpPr>
          <p:spPr bwMode="auto">
            <a:xfrm>
              <a:off x="2571" y="1910"/>
              <a:ext cx="18" cy="11"/>
            </a:xfrm>
            <a:custGeom>
              <a:avLst/>
              <a:gdLst/>
              <a:ahLst/>
              <a:cxnLst>
                <a:cxn ang="0">
                  <a:pos x="16" y="2"/>
                </a:cxn>
                <a:cxn ang="0">
                  <a:pos x="7" y="8"/>
                </a:cxn>
                <a:cxn ang="0">
                  <a:pos x="0" y="2"/>
                </a:cxn>
                <a:cxn ang="0">
                  <a:pos x="10" y="0"/>
                </a:cxn>
                <a:cxn ang="0">
                  <a:pos x="16" y="2"/>
                </a:cxn>
              </a:cxnLst>
              <a:rect l="0" t="0" r="r" b="b"/>
              <a:pathLst>
                <a:path w="16" h="8">
                  <a:moveTo>
                    <a:pt x="16" y="2"/>
                  </a:moveTo>
                  <a:lnTo>
                    <a:pt x="7" y="8"/>
                  </a:lnTo>
                  <a:lnTo>
                    <a:pt x="0" y="2"/>
                  </a:lnTo>
                  <a:lnTo>
                    <a:pt x="10" y="0"/>
                  </a:lnTo>
                  <a:lnTo>
                    <a:pt x="1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1" name="Freeform 430"/>
            <p:cNvSpPr>
              <a:spLocks/>
            </p:cNvSpPr>
            <p:nvPr/>
          </p:nvSpPr>
          <p:spPr bwMode="auto">
            <a:xfrm>
              <a:off x="514" y="1723"/>
              <a:ext cx="960" cy="480"/>
            </a:xfrm>
            <a:custGeom>
              <a:avLst/>
              <a:gdLst/>
              <a:ahLst/>
              <a:cxnLst>
                <a:cxn ang="0">
                  <a:pos x="855" y="36"/>
                </a:cxn>
                <a:cxn ang="0">
                  <a:pos x="809" y="69"/>
                </a:cxn>
                <a:cxn ang="0">
                  <a:pos x="716" y="101"/>
                </a:cxn>
                <a:cxn ang="0">
                  <a:pos x="648" y="125"/>
                </a:cxn>
                <a:cxn ang="0">
                  <a:pos x="639" y="102"/>
                </a:cxn>
                <a:cxn ang="0">
                  <a:pos x="630" y="57"/>
                </a:cxn>
                <a:cxn ang="0">
                  <a:pos x="581" y="19"/>
                </a:cxn>
                <a:cxn ang="0">
                  <a:pos x="502" y="9"/>
                </a:cxn>
                <a:cxn ang="0">
                  <a:pos x="425" y="6"/>
                </a:cxn>
                <a:cxn ang="0">
                  <a:pos x="306" y="6"/>
                </a:cxn>
                <a:cxn ang="0">
                  <a:pos x="186" y="6"/>
                </a:cxn>
                <a:cxn ang="0">
                  <a:pos x="102" y="35"/>
                </a:cxn>
                <a:cxn ang="0">
                  <a:pos x="93" y="35"/>
                </a:cxn>
                <a:cxn ang="0">
                  <a:pos x="76" y="41"/>
                </a:cxn>
                <a:cxn ang="0">
                  <a:pos x="66" y="54"/>
                </a:cxn>
                <a:cxn ang="0">
                  <a:pos x="27" y="111"/>
                </a:cxn>
                <a:cxn ang="0">
                  <a:pos x="0" y="176"/>
                </a:cxn>
                <a:cxn ang="0">
                  <a:pos x="10" y="200"/>
                </a:cxn>
                <a:cxn ang="0">
                  <a:pos x="10" y="219"/>
                </a:cxn>
                <a:cxn ang="0">
                  <a:pos x="17" y="264"/>
                </a:cxn>
                <a:cxn ang="0">
                  <a:pos x="86" y="296"/>
                </a:cxn>
                <a:cxn ang="0">
                  <a:pos x="154" y="320"/>
                </a:cxn>
                <a:cxn ang="0">
                  <a:pos x="222" y="348"/>
                </a:cxn>
                <a:cxn ang="0">
                  <a:pos x="280" y="367"/>
                </a:cxn>
                <a:cxn ang="0">
                  <a:pos x="320" y="396"/>
                </a:cxn>
                <a:cxn ang="0">
                  <a:pos x="328" y="380"/>
                </a:cxn>
                <a:cxn ang="0">
                  <a:pos x="345" y="372"/>
                </a:cxn>
                <a:cxn ang="0">
                  <a:pos x="374" y="353"/>
                </a:cxn>
                <a:cxn ang="0">
                  <a:pos x="412" y="350"/>
                </a:cxn>
                <a:cxn ang="0">
                  <a:pos x="441" y="351"/>
                </a:cxn>
                <a:cxn ang="0">
                  <a:pos x="454" y="345"/>
                </a:cxn>
                <a:cxn ang="0">
                  <a:pos x="476" y="338"/>
                </a:cxn>
                <a:cxn ang="0">
                  <a:pos x="490" y="338"/>
                </a:cxn>
                <a:cxn ang="0">
                  <a:pos x="515" y="344"/>
                </a:cxn>
                <a:cxn ang="0">
                  <a:pos x="552" y="366"/>
                </a:cxn>
                <a:cxn ang="0">
                  <a:pos x="550" y="392"/>
                </a:cxn>
                <a:cxn ang="0">
                  <a:pos x="557" y="408"/>
                </a:cxn>
                <a:cxn ang="0">
                  <a:pos x="586" y="399"/>
                </a:cxn>
                <a:cxn ang="0">
                  <a:pos x="581" y="354"/>
                </a:cxn>
                <a:cxn ang="0">
                  <a:pos x="591" y="311"/>
                </a:cxn>
                <a:cxn ang="0">
                  <a:pos x="624" y="285"/>
                </a:cxn>
                <a:cxn ang="0">
                  <a:pos x="664" y="252"/>
                </a:cxn>
                <a:cxn ang="0">
                  <a:pos x="687" y="237"/>
                </a:cxn>
                <a:cxn ang="0">
                  <a:pos x="681" y="235"/>
                </a:cxn>
                <a:cxn ang="0">
                  <a:pos x="686" y="219"/>
                </a:cxn>
                <a:cxn ang="0">
                  <a:pos x="687" y="213"/>
                </a:cxn>
                <a:cxn ang="0">
                  <a:pos x="684" y="186"/>
                </a:cxn>
                <a:cxn ang="0">
                  <a:pos x="694" y="179"/>
                </a:cxn>
                <a:cxn ang="0">
                  <a:pos x="699" y="197"/>
                </a:cxn>
                <a:cxn ang="0">
                  <a:pos x="710" y="193"/>
                </a:cxn>
                <a:cxn ang="0">
                  <a:pos x="714" y="183"/>
                </a:cxn>
                <a:cxn ang="0">
                  <a:pos x="741" y="150"/>
                </a:cxn>
                <a:cxn ang="0">
                  <a:pos x="784" y="135"/>
                </a:cxn>
                <a:cxn ang="0">
                  <a:pos x="803" y="133"/>
                </a:cxn>
                <a:cxn ang="0">
                  <a:pos x="819" y="96"/>
                </a:cxn>
                <a:cxn ang="0">
                  <a:pos x="845" y="87"/>
                </a:cxn>
              </a:cxnLst>
              <a:rect l="0" t="0" r="r" b="b"/>
              <a:pathLst>
                <a:path w="864" h="431">
                  <a:moveTo>
                    <a:pt x="863" y="79"/>
                  </a:moveTo>
                  <a:lnTo>
                    <a:pt x="862" y="73"/>
                  </a:lnTo>
                  <a:lnTo>
                    <a:pt x="858" y="61"/>
                  </a:lnTo>
                  <a:lnTo>
                    <a:pt x="864" y="39"/>
                  </a:lnTo>
                  <a:lnTo>
                    <a:pt x="855" y="36"/>
                  </a:lnTo>
                  <a:lnTo>
                    <a:pt x="849" y="36"/>
                  </a:lnTo>
                  <a:lnTo>
                    <a:pt x="848" y="33"/>
                  </a:lnTo>
                  <a:lnTo>
                    <a:pt x="834" y="45"/>
                  </a:lnTo>
                  <a:lnTo>
                    <a:pt x="822" y="59"/>
                  </a:lnTo>
                  <a:lnTo>
                    <a:pt x="809" y="69"/>
                  </a:lnTo>
                  <a:lnTo>
                    <a:pt x="800" y="75"/>
                  </a:lnTo>
                  <a:lnTo>
                    <a:pt x="772" y="78"/>
                  </a:lnTo>
                  <a:lnTo>
                    <a:pt x="744" y="79"/>
                  </a:lnTo>
                  <a:lnTo>
                    <a:pt x="730" y="90"/>
                  </a:lnTo>
                  <a:lnTo>
                    <a:pt x="716" y="101"/>
                  </a:lnTo>
                  <a:lnTo>
                    <a:pt x="698" y="102"/>
                  </a:lnTo>
                  <a:lnTo>
                    <a:pt x="681" y="103"/>
                  </a:lnTo>
                  <a:lnTo>
                    <a:pt x="680" y="115"/>
                  </a:lnTo>
                  <a:lnTo>
                    <a:pt x="664" y="120"/>
                  </a:lnTo>
                  <a:lnTo>
                    <a:pt x="648" y="125"/>
                  </a:lnTo>
                  <a:lnTo>
                    <a:pt x="634" y="129"/>
                  </a:lnTo>
                  <a:lnTo>
                    <a:pt x="618" y="135"/>
                  </a:lnTo>
                  <a:lnTo>
                    <a:pt x="614" y="128"/>
                  </a:lnTo>
                  <a:lnTo>
                    <a:pt x="632" y="111"/>
                  </a:lnTo>
                  <a:lnTo>
                    <a:pt x="639" y="102"/>
                  </a:lnTo>
                  <a:lnTo>
                    <a:pt x="641" y="85"/>
                  </a:lnTo>
                  <a:lnTo>
                    <a:pt x="645" y="69"/>
                  </a:lnTo>
                  <a:lnTo>
                    <a:pt x="634" y="61"/>
                  </a:lnTo>
                  <a:lnTo>
                    <a:pt x="635" y="56"/>
                  </a:lnTo>
                  <a:lnTo>
                    <a:pt x="630" y="57"/>
                  </a:lnTo>
                  <a:lnTo>
                    <a:pt x="629" y="50"/>
                  </a:lnTo>
                  <a:lnTo>
                    <a:pt x="617" y="42"/>
                  </a:lnTo>
                  <a:lnTo>
                    <a:pt x="605" y="35"/>
                  </a:lnTo>
                  <a:lnTo>
                    <a:pt x="593" y="27"/>
                  </a:lnTo>
                  <a:lnTo>
                    <a:pt x="581" y="19"/>
                  </a:lnTo>
                  <a:lnTo>
                    <a:pt x="562" y="24"/>
                  </a:lnTo>
                  <a:lnTo>
                    <a:pt x="550" y="19"/>
                  </a:lnTo>
                  <a:lnTo>
                    <a:pt x="538" y="21"/>
                  </a:lnTo>
                  <a:lnTo>
                    <a:pt x="518" y="13"/>
                  </a:lnTo>
                  <a:lnTo>
                    <a:pt x="502" y="9"/>
                  </a:lnTo>
                  <a:lnTo>
                    <a:pt x="503" y="0"/>
                  </a:lnTo>
                  <a:lnTo>
                    <a:pt x="497" y="6"/>
                  </a:lnTo>
                  <a:lnTo>
                    <a:pt x="473" y="6"/>
                  </a:lnTo>
                  <a:lnTo>
                    <a:pt x="449" y="6"/>
                  </a:lnTo>
                  <a:lnTo>
                    <a:pt x="425" y="6"/>
                  </a:lnTo>
                  <a:lnTo>
                    <a:pt x="401" y="6"/>
                  </a:lnTo>
                  <a:lnTo>
                    <a:pt x="377" y="6"/>
                  </a:lnTo>
                  <a:lnTo>
                    <a:pt x="354" y="6"/>
                  </a:lnTo>
                  <a:lnTo>
                    <a:pt x="330" y="6"/>
                  </a:lnTo>
                  <a:lnTo>
                    <a:pt x="306" y="6"/>
                  </a:lnTo>
                  <a:lnTo>
                    <a:pt x="282" y="6"/>
                  </a:lnTo>
                  <a:lnTo>
                    <a:pt x="258" y="6"/>
                  </a:lnTo>
                  <a:lnTo>
                    <a:pt x="234" y="6"/>
                  </a:lnTo>
                  <a:lnTo>
                    <a:pt x="210" y="6"/>
                  </a:lnTo>
                  <a:lnTo>
                    <a:pt x="186" y="6"/>
                  </a:lnTo>
                  <a:lnTo>
                    <a:pt x="162" y="6"/>
                  </a:lnTo>
                  <a:lnTo>
                    <a:pt x="138" y="6"/>
                  </a:lnTo>
                  <a:lnTo>
                    <a:pt x="114" y="6"/>
                  </a:lnTo>
                  <a:lnTo>
                    <a:pt x="110" y="20"/>
                  </a:lnTo>
                  <a:lnTo>
                    <a:pt x="102" y="35"/>
                  </a:lnTo>
                  <a:lnTo>
                    <a:pt x="92" y="39"/>
                  </a:lnTo>
                  <a:lnTo>
                    <a:pt x="94" y="36"/>
                  </a:lnTo>
                  <a:lnTo>
                    <a:pt x="95" y="38"/>
                  </a:lnTo>
                  <a:lnTo>
                    <a:pt x="106" y="25"/>
                  </a:lnTo>
                  <a:lnTo>
                    <a:pt x="93" y="35"/>
                  </a:lnTo>
                  <a:lnTo>
                    <a:pt x="92" y="35"/>
                  </a:lnTo>
                  <a:lnTo>
                    <a:pt x="100" y="27"/>
                  </a:lnTo>
                  <a:lnTo>
                    <a:pt x="105" y="21"/>
                  </a:lnTo>
                  <a:lnTo>
                    <a:pt x="83" y="17"/>
                  </a:lnTo>
                  <a:lnTo>
                    <a:pt x="76" y="41"/>
                  </a:lnTo>
                  <a:lnTo>
                    <a:pt x="74" y="43"/>
                  </a:lnTo>
                  <a:lnTo>
                    <a:pt x="72" y="47"/>
                  </a:lnTo>
                  <a:lnTo>
                    <a:pt x="71" y="49"/>
                  </a:lnTo>
                  <a:lnTo>
                    <a:pt x="70" y="47"/>
                  </a:lnTo>
                  <a:lnTo>
                    <a:pt x="66" y="54"/>
                  </a:lnTo>
                  <a:lnTo>
                    <a:pt x="76" y="56"/>
                  </a:lnTo>
                  <a:lnTo>
                    <a:pt x="69" y="56"/>
                  </a:lnTo>
                  <a:lnTo>
                    <a:pt x="62" y="65"/>
                  </a:lnTo>
                  <a:lnTo>
                    <a:pt x="44" y="87"/>
                  </a:lnTo>
                  <a:lnTo>
                    <a:pt x="27" y="111"/>
                  </a:lnTo>
                  <a:lnTo>
                    <a:pt x="22" y="126"/>
                  </a:lnTo>
                  <a:lnTo>
                    <a:pt x="17" y="140"/>
                  </a:lnTo>
                  <a:lnTo>
                    <a:pt x="2" y="157"/>
                  </a:lnTo>
                  <a:lnTo>
                    <a:pt x="3" y="163"/>
                  </a:lnTo>
                  <a:lnTo>
                    <a:pt x="0" y="176"/>
                  </a:lnTo>
                  <a:lnTo>
                    <a:pt x="3" y="188"/>
                  </a:lnTo>
                  <a:lnTo>
                    <a:pt x="5" y="199"/>
                  </a:lnTo>
                  <a:lnTo>
                    <a:pt x="4" y="197"/>
                  </a:lnTo>
                  <a:lnTo>
                    <a:pt x="3" y="200"/>
                  </a:lnTo>
                  <a:lnTo>
                    <a:pt x="10" y="200"/>
                  </a:lnTo>
                  <a:lnTo>
                    <a:pt x="14" y="200"/>
                  </a:lnTo>
                  <a:lnTo>
                    <a:pt x="11" y="210"/>
                  </a:lnTo>
                  <a:lnTo>
                    <a:pt x="8" y="207"/>
                  </a:lnTo>
                  <a:lnTo>
                    <a:pt x="5" y="210"/>
                  </a:lnTo>
                  <a:lnTo>
                    <a:pt x="10" y="219"/>
                  </a:lnTo>
                  <a:lnTo>
                    <a:pt x="5" y="227"/>
                  </a:lnTo>
                  <a:lnTo>
                    <a:pt x="9" y="236"/>
                  </a:lnTo>
                  <a:lnTo>
                    <a:pt x="12" y="247"/>
                  </a:lnTo>
                  <a:lnTo>
                    <a:pt x="9" y="263"/>
                  </a:lnTo>
                  <a:lnTo>
                    <a:pt x="17" y="264"/>
                  </a:lnTo>
                  <a:lnTo>
                    <a:pt x="33" y="272"/>
                  </a:lnTo>
                  <a:lnTo>
                    <a:pt x="48" y="284"/>
                  </a:lnTo>
                  <a:lnTo>
                    <a:pt x="48" y="299"/>
                  </a:lnTo>
                  <a:lnTo>
                    <a:pt x="66" y="297"/>
                  </a:lnTo>
                  <a:lnTo>
                    <a:pt x="86" y="296"/>
                  </a:lnTo>
                  <a:lnTo>
                    <a:pt x="96" y="302"/>
                  </a:lnTo>
                  <a:lnTo>
                    <a:pt x="108" y="308"/>
                  </a:lnTo>
                  <a:lnTo>
                    <a:pt x="120" y="314"/>
                  </a:lnTo>
                  <a:lnTo>
                    <a:pt x="132" y="320"/>
                  </a:lnTo>
                  <a:lnTo>
                    <a:pt x="154" y="320"/>
                  </a:lnTo>
                  <a:lnTo>
                    <a:pt x="176" y="320"/>
                  </a:lnTo>
                  <a:lnTo>
                    <a:pt x="179" y="312"/>
                  </a:lnTo>
                  <a:lnTo>
                    <a:pt x="204" y="312"/>
                  </a:lnTo>
                  <a:lnTo>
                    <a:pt x="218" y="330"/>
                  </a:lnTo>
                  <a:lnTo>
                    <a:pt x="222" y="348"/>
                  </a:lnTo>
                  <a:lnTo>
                    <a:pt x="231" y="355"/>
                  </a:lnTo>
                  <a:lnTo>
                    <a:pt x="240" y="362"/>
                  </a:lnTo>
                  <a:lnTo>
                    <a:pt x="251" y="349"/>
                  </a:lnTo>
                  <a:lnTo>
                    <a:pt x="273" y="351"/>
                  </a:lnTo>
                  <a:lnTo>
                    <a:pt x="280" y="367"/>
                  </a:lnTo>
                  <a:lnTo>
                    <a:pt x="286" y="384"/>
                  </a:lnTo>
                  <a:lnTo>
                    <a:pt x="292" y="405"/>
                  </a:lnTo>
                  <a:lnTo>
                    <a:pt x="302" y="414"/>
                  </a:lnTo>
                  <a:lnTo>
                    <a:pt x="321" y="416"/>
                  </a:lnTo>
                  <a:lnTo>
                    <a:pt x="320" y="396"/>
                  </a:lnTo>
                  <a:lnTo>
                    <a:pt x="318" y="393"/>
                  </a:lnTo>
                  <a:lnTo>
                    <a:pt x="317" y="390"/>
                  </a:lnTo>
                  <a:lnTo>
                    <a:pt x="322" y="392"/>
                  </a:lnTo>
                  <a:lnTo>
                    <a:pt x="324" y="383"/>
                  </a:lnTo>
                  <a:lnTo>
                    <a:pt x="328" y="380"/>
                  </a:lnTo>
                  <a:lnTo>
                    <a:pt x="336" y="374"/>
                  </a:lnTo>
                  <a:lnTo>
                    <a:pt x="341" y="371"/>
                  </a:lnTo>
                  <a:lnTo>
                    <a:pt x="341" y="368"/>
                  </a:lnTo>
                  <a:lnTo>
                    <a:pt x="348" y="368"/>
                  </a:lnTo>
                  <a:lnTo>
                    <a:pt x="345" y="372"/>
                  </a:lnTo>
                  <a:lnTo>
                    <a:pt x="353" y="367"/>
                  </a:lnTo>
                  <a:lnTo>
                    <a:pt x="350" y="367"/>
                  </a:lnTo>
                  <a:lnTo>
                    <a:pt x="368" y="355"/>
                  </a:lnTo>
                  <a:lnTo>
                    <a:pt x="370" y="350"/>
                  </a:lnTo>
                  <a:lnTo>
                    <a:pt x="374" y="353"/>
                  </a:lnTo>
                  <a:lnTo>
                    <a:pt x="372" y="354"/>
                  </a:lnTo>
                  <a:lnTo>
                    <a:pt x="384" y="347"/>
                  </a:lnTo>
                  <a:lnTo>
                    <a:pt x="387" y="347"/>
                  </a:lnTo>
                  <a:lnTo>
                    <a:pt x="399" y="349"/>
                  </a:lnTo>
                  <a:lnTo>
                    <a:pt x="412" y="350"/>
                  </a:lnTo>
                  <a:lnTo>
                    <a:pt x="419" y="349"/>
                  </a:lnTo>
                  <a:lnTo>
                    <a:pt x="424" y="355"/>
                  </a:lnTo>
                  <a:lnTo>
                    <a:pt x="434" y="357"/>
                  </a:lnTo>
                  <a:lnTo>
                    <a:pt x="442" y="359"/>
                  </a:lnTo>
                  <a:lnTo>
                    <a:pt x="441" y="351"/>
                  </a:lnTo>
                  <a:lnTo>
                    <a:pt x="453" y="360"/>
                  </a:lnTo>
                  <a:lnTo>
                    <a:pt x="450" y="363"/>
                  </a:lnTo>
                  <a:lnTo>
                    <a:pt x="455" y="357"/>
                  </a:lnTo>
                  <a:lnTo>
                    <a:pt x="449" y="349"/>
                  </a:lnTo>
                  <a:lnTo>
                    <a:pt x="454" y="345"/>
                  </a:lnTo>
                  <a:lnTo>
                    <a:pt x="452" y="344"/>
                  </a:lnTo>
                  <a:lnTo>
                    <a:pt x="450" y="343"/>
                  </a:lnTo>
                  <a:lnTo>
                    <a:pt x="440" y="341"/>
                  </a:lnTo>
                  <a:lnTo>
                    <a:pt x="450" y="341"/>
                  </a:lnTo>
                  <a:lnTo>
                    <a:pt x="476" y="338"/>
                  </a:lnTo>
                  <a:lnTo>
                    <a:pt x="479" y="331"/>
                  </a:lnTo>
                  <a:lnTo>
                    <a:pt x="478" y="339"/>
                  </a:lnTo>
                  <a:lnTo>
                    <a:pt x="485" y="338"/>
                  </a:lnTo>
                  <a:lnTo>
                    <a:pt x="494" y="336"/>
                  </a:lnTo>
                  <a:lnTo>
                    <a:pt x="490" y="338"/>
                  </a:lnTo>
                  <a:lnTo>
                    <a:pt x="504" y="337"/>
                  </a:lnTo>
                  <a:lnTo>
                    <a:pt x="501" y="337"/>
                  </a:lnTo>
                  <a:lnTo>
                    <a:pt x="509" y="339"/>
                  </a:lnTo>
                  <a:lnTo>
                    <a:pt x="513" y="339"/>
                  </a:lnTo>
                  <a:lnTo>
                    <a:pt x="515" y="344"/>
                  </a:lnTo>
                  <a:lnTo>
                    <a:pt x="512" y="342"/>
                  </a:lnTo>
                  <a:lnTo>
                    <a:pt x="515" y="350"/>
                  </a:lnTo>
                  <a:lnTo>
                    <a:pt x="537" y="343"/>
                  </a:lnTo>
                  <a:lnTo>
                    <a:pt x="545" y="354"/>
                  </a:lnTo>
                  <a:lnTo>
                    <a:pt x="552" y="366"/>
                  </a:lnTo>
                  <a:lnTo>
                    <a:pt x="549" y="386"/>
                  </a:lnTo>
                  <a:lnTo>
                    <a:pt x="548" y="383"/>
                  </a:lnTo>
                  <a:lnTo>
                    <a:pt x="549" y="386"/>
                  </a:lnTo>
                  <a:lnTo>
                    <a:pt x="552" y="381"/>
                  </a:lnTo>
                  <a:lnTo>
                    <a:pt x="550" y="392"/>
                  </a:lnTo>
                  <a:lnTo>
                    <a:pt x="554" y="399"/>
                  </a:lnTo>
                  <a:lnTo>
                    <a:pt x="556" y="401"/>
                  </a:lnTo>
                  <a:lnTo>
                    <a:pt x="556" y="407"/>
                  </a:lnTo>
                  <a:lnTo>
                    <a:pt x="560" y="403"/>
                  </a:lnTo>
                  <a:lnTo>
                    <a:pt x="557" y="408"/>
                  </a:lnTo>
                  <a:lnTo>
                    <a:pt x="560" y="417"/>
                  </a:lnTo>
                  <a:lnTo>
                    <a:pt x="567" y="431"/>
                  </a:lnTo>
                  <a:lnTo>
                    <a:pt x="576" y="428"/>
                  </a:lnTo>
                  <a:lnTo>
                    <a:pt x="581" y="414"/>
                  </a:lnTo>
                  <a:lnTo>
                    <a:pt x="586" y="399"/>
                  </a:lnTo>
                  <a:lnTo>
                    <a:pt x="584" y="384"/>
                  </a:lnTo>
                  <a:lnTo>
                    <a:pt x="581" y="368"/>
                  </a:lnTo>
                  <a:lnTo>
                    <a:pt x="584" y="383"/>
                  </a:lnTo>
                  <a:lnTo>
                    <a:pt x="582" y="368"/>
                  </a:lnTo>
                  <a:lnTo>
                    <a:pt x="581" y="354"/>
                  </a:lnTo>
                  <a:lnTo>
                    <a:pt x="580" y="339"/>
                  </a:lnTo>
                  <a:lnTo>
                    <a:pt x="579" y="325"/>
                  </a:lnTo>
                  <a:lnTo>
                    <a:pt x="584" y="321"/>
                  </a:lnTo>
                  <a:lnTo>
                    <a:pt x="585" y="319"/>
                  </a:lnTo>
                  <a:lnTo>
                    <a:pt x="591" y="311"/>
                  </a:lnTo>
                  <a:lnTo>
                    <a:pt x="596" y="302"/>
                  </a:lnTo>
                  <a:lnTo>
                    <a:pt x="597" y="301"/>
                  </a:lnTo>
                  <a:lnTo>
                    <a:pt x="602" y="300"/>
                  </a:lnTo>
                  <a:lnTo>
                    <a:pt x="622" y="285"/>
                  </a:lnTo>
                  <a:lnTo>
                    <a:pt x="624" y="285"/>
                  </a:lnTo>
                  <a:lnTo>
                    <a:pt x="640" y="275"/>
                  </a:lnTo>
                  <a:lnTo>
                    <a:pt x="646" y="272"/>
                  </a:lnTo>
                  <a:lnTo>
                    <a:pt x="657" y="261"/>
                  </a:lnTo>
                  <a:lnTo>
                    <a:pt x="675" y="255"/>
                  </a:lnTo>
                  <a:lnTo>
                    <a:pt x="664" y="252"/>
                  </a:lnTo>
                  <a:lnTo>
                    <a:pt x="671" y="253"/>
                  </a:lnTo>
                  <a:lnTo>
                    <a:pt x="674" y="249"/>
                  </a:lnTo>
                  <a:lnTo>
                    <a:pt x="666" y="245"/>
                  </a:lnTo>
                  <a:lnTo>
                    <a:pt x="682" y="246"/>
                  </a:lnTo>
                  <a:lnTo>
                    <a:pt x="687" y="237"/>
                  </a:lnTo>
                  <a:lnTo>
                    <a:pt x="683" y="240"/>
                  </a:lnTo>
                  <a:lnTo>
                    <a:pt x="678" y="236"/>
                  </a:lnTo>
                  <a:lnTo>
                    <a:pt x="674" y="234"/>
                  </a:lnTo>
                  <a:lnTo>
                    <a:pt x="675" y="234"/>
                  </a:lnTo>
                  <a:lnTo>
                    <a:pt x="681" y="235"/>
                  </a:lnTo>
                  <a:lnTo>
                    <a:pt x="686" y="234"/>
                  </a:lnTo>
                  <a:lnTo>
                    <a:pt x="688" y="235"/>
                  </a:lnTo>
                  <a:lnTo>
                    <a:pt x="689" y="224"/>
                  </a:lnTo>
                  <a:lnTo>
                    <a:pt x="690" y="240"/>
                  </a:lnTo>
                  <a:lnTo>
                    <a:pt x="686" y="219"/>
                  </a:lnTo>
                  <a:lnTo>
                    <a:pt x="680" y="218"/>
                  </a:lnTo>
                  <a:lnTo>
                    <a:pt x="675" y="212"/>
                  </a:lnTo>
                  <a:lnTo>
                    <a:pt x="686" y="217"/>
                  </a:lnTo>
                  <a:lnTo>
                    <a:pt x="681" y="209"/>
                  </a:lnTo>
                  <a:lnTo>
                    <a:pt x="687" y="213"/>
                  </a:lnTo>
                  <a:lnTo>
                    <a:pt x="680" y="199"/>
                  </a:lnTo>
                  <a:lnTo>
                    <a:pt x="689" y="205"/>
                  </a:lnTo>
                  <a:lnTo>
                    <a:pt x="682" y="193"/>
                  </a:lnTo>
                  <a:lnTo>
                    <a:pt x="677" y="193"/>
                  </a:lnTo>
                  <a:lnTo>
                    <a:pt x="684" y="186"/>
                  </a:lnTo>
                  <a:lnTo>
                    <a:pt x="682" y="193"/>
                  </a:lnTo>
                  <a:lnTo>
                    <a:pt x="690" y="198"/>
                  </a:lnTo>
                  <a:lnTo>
                    <a:pt x="688" y="188"/>
                  </a:lnTo>
                  <a:lnTo>
                    <a:pt x="692" y="194"/>
                  </a:lnTo>
                  <a:lnTo>
                    <a:pt x="694" y="179"/>
                  </a:lnTo>
                  <a:lnTo>
                    <a:pt x="704" y="175"/>
                  </a:lnTo>
                  <a:lnTo>
                    <a:pt x="698" y="185"/>
                  </a:lnTo>
                  <a:lnTo>
                    <a:pt x="695" y="189"/>
                  </a:lnTo>
                  <a:lnTo>
                    <a:pt x="694" y="194"/>
                  </a:lnTo>
                  <a:lnTo>
                    <a:pt x="699" y="197"/>
                  </a:lnTo>
                  <a:lnTo>
                    <a:pt x="696" y="201"/>
                  </a:lnTo>
                  <a:lnTo>
                    <a:pt x="698" y="205"/>
                  </a:lnTo>
                  <a:lnTo>
                    <a:pt x="694" y="207"/>
                  </a:lnTo>
                  <a:lnTo>
                    <a:pt x="690" y="213"/>
                  </a:lnTo>
                  <a:lnTo>
                    <a:pt x="710" y="193"/>
                  </a:lnTo>
                  <a:lnTo>
                    <a:pt x="708" y="175"/>
                  </a:lnTo>
                  <a:lnTo>
                    <a:pt x="717" y="167"/>
                  </a:lnTo>
                  <a:lnTo>
                    <a:pt x="710" y="171"/>
                  </a:lnTo>
                  <a:lnTo>
                    <a:pt x="716" y="179"/>
                  </a:lnTo>
                  <a:lnTo>
                    <a:pt x="714" y="183"/>
                  </a:lnTo>
                  <a:lnTo>
                    <a:pt x="732" y="167"/>
                  </a:lnTo>
                  <a:lnTo>
                    <a:pt x="732" y="169"/>
                  </a:lnTo>
                  <a:lnTo>
                    <a:pt x="735" y="157"/>
                  </a:lnTo>
                  <a:lnTo>
                    <a:pt x="742" y="144"/>
                  </a:lnTo>
                  <a:lnTo>
                    <a:pt x="741" y="150"/>
                  </a:lnTo>
                  <a:lnTo>
                    <a:pt x="746" y="147"/>
                  </a:lnTo>
                  <a:lnTo>
                    <a:pt x="762" y="144"/>
                  </a:lnTo>
                  <a:lnTo>
                    <a:pt x="778" y="140"/>
                  </a:lnTo>
                  <a:lnTo>
                    <a:pt x="782" y="135"/>
                  </a:lnTo>
                  <a:lnTo>
                    <a:pt x="784" y="135"/>
                  </a:lnTo>
                  <a:lnTo>
                    <a:pt x="790" y="139"/>
                  </a:lnTo>
                  <a:lnTo>
                    <a:pt x="794" y="140"/>
                  </a:lnTo>
                  <a:lnTo>
                    <a:pt x="803" y="135"/>
                  </a:lnTo>
                  <a:lnTo>
                    <a:pt x="802" y="128"/>
                  </a:lnTo>
                  <a:lnTo>
                    <a:pt x="803" y="133"/>
                  </a:lnTo>
                  <a:lnTo>
                    <a:pt x="795" y="129"/>
                  </a:lnTo>
                  <a:lnTo>
                    <a:pt x="796" y="120"/>
                  </a:lnTo>
                  <a:lnTo>
                    <a:pt x="797" y="116"/>
                  </a:lnTo>
                  <a:lnTo>
                    <a:pt x="814" y="98"/>
                  </a:lnTo>
                  <a:lnTo>
                    <a:pt x="819" y="96"/>
                  </a:lnTo>
                  <a:lnTo>
                    <a:pt x="821" y="97"/>
                  </a:lnTo>
                  <a:lnTo>
                    <a:pt x="834" y="85"/>
                  </a:lnTo>
                  <a:lnTo>
                    <a:pt x="834" y="86"/>
                  </a:lnTo>
                  <a:lnTo>
                    <a:pt x="838" y="86"/>
                  </a:lnTo>
                  <a:lnTo>
                    <a:pt x="845" y="87"/>
                  </a:lnTo>
                  <a:lnTo>
                    <a:pt x="863" y="7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2" name="Freeform 431"/>
            <p:cNvSpPr>
              <a:spLocks/>
            </p:cNvSpPr>
            <p:nvPr/>
          </p:nvSpPr>
          <p:spPr bwMode="auto">
            <a:xfrm>
              <a:off x="127" y="1328"/>
              <a:ext cx="611" cy="293"/>
            </a:xfrm>
            <a:custGeom>
              <a:avLst/>
              <a:gdLst/>
              <a:ahLst/>
              <a:cxnLst>
                <a:cxn ang="0">
                  <a:pos x="442" y="229"/>
                </a:cxn>
                <a:cxn ang="0">
                  <a:pos x="426" y="186"/>
                </a:cxn>
                <a:cxn ang="0">
                  <a:pos x="402" y="175"/>
                </a:cxn>
                <a:cxn ang="0">
                  <a:pos x="424" y="135"/>
                </a:cxn>
                <a:cxn ang="0">
                  <a:pos x="507" y="60"/>
                </a:cxn>
                <a:cxn ang="0">
                  <a:pos x="500" y="16"/>
                </a:cxn>
                <a:cxn ang="0">
                  <a:pos x="429" y="6"/>
                </a:cxn>
                <a:cxn ang="0">
                  <a:pos x="413" y="1"/>
                </a:cxn>
                <a:cxn ang="0">
                  <a:pos x="356" y="10"/>
                </a:cxn>
                <a:cxn ang="0">
                  <a:pos x="324" y="16"/>
                </a:cxn>
                <a:cxn ang="0">
                  <a:pos x="230" y="45"/>
                </a:cxn>
                <a:cxn ang="0">
                  <a:pos x="250" y="72"/>
                </a:cxn>
                <a:cxn ang="0">
                  <a:pos x="242" y="76"/>
                </a:cxn>
                <a:cxn ang="0">
                  <a:pos x="222" y="72"/>
                </a:cxn>
                <a:cxn ang="0">
                  <a:pos x="155" y="94"/>
                </a:cxn>
                <a:cxn ang="0">
                  <a:pos x="220" y="97"/>
                </a:cxn>
                <a:cxn ang="0">
                  <a:pos x="180" y="121"/>
                </a:cxn>
                <a:cxn ang="0">
                  <a:pos x="129" y="135"/>
                </a:cxn>
                <a:cxn ang="0">
                  <a:pos x="96" y="148"/>
                </a:cxn>
                <a:cxn ang="0">
                  <a:pos x="108" y="151"/>
                </a:cxn>
                <a:cxn ang="0">
                  <a:pos x="105" y="163"/>
                </a:cxn>
                <a:cxn ang="0">
                  <a:pos x="81" y="169"/>
                </a:cxn>
                <a:cxn ang="0">
                  <a:pos x="110" y="177"/>
                </a:cxn>
                <a:cxn ang="0">
                  <a:pos x="88" y="199"/>
                </a:cxn>
                <a:cxn ang="0">
                  <a:pos x="137" y="193"/>
                </a:cxn>
                <a:cxn ang="0">
                  <a:pos x="159" y="193"/>
                </a:cxn>
                <a:cxn ang="0">
                  <a:pos x="124" y="217"/>
                </a:cxn>
                <a:cxn ang="0">
                  <a:pos x="57" y="246"/>
                </a:cxn>
                <a:cxn ang="0">
                  <a:pos x="38" y="246"/>
                </a:cxn>
                <a:cxn ang="0">
                  <a:pos x="14" y="258"/>
                </a:cxn>
                <a:cxn ang="0">
                  <a:pos x="34" y="252"/>
                </a:cxn>
                <a:cxn ang="0">
                  <a:pos x="81" y="244"/>
                </a:cxn>
                <a:cxn ang="0">
                  <a:pos x="168" y="210"/>
                </a:cxn>
                <a:cxn ang="0">
                  <a:pos x="228" y="179"/>
                </a:cxn>
                <a:cxn ang="0">
                  <a:pos x="297" y="153"/>
                </a:cxn>
                <a:cxn ang="0">
                  <a:pos x="258" y="166"/>
                </a:cxn>
                <a:cxn ang="0">
                  <a:pos x="238" y="190"/>
                </a:cxn>
                <a:cxn ang="0">
                  <a:pos x="261" y="183"/>
                </a:cxn>
                <a:cxn ang="0">
                  <a:pos x="280" y="178"/>
                </a:cxn>
                <a:cxn ang="0">
                  <a:pos x="294" y="165"/>
                </a:cxn>
                <a:cxn ang="0">
                  <a:pos x="312" y="161"/>
                </a:cxn>
                <a:cxn ang="0">
                  <a:pos x="324" y="163"/>
                </a:cxn>
                <a:cxn ang="0">
                  <a:pos x="323" y="169"/>
                </a:cxn>
                <a:cxn ang="0">
                  <a:pos x="340" y="174"/>
                </a:cxn>
                <a:cxn ang="0">
                  <a:pos x="393" y="178"/>
                </a:cxn>
                <a:cxn ang="0">
                  <a:pos x="389" y="184"/>
                </a:cxn>
                <a:cxn ang="0">
                  <a:pos x="411" y="195"/>
                </a:cxn>
                <a:cxn ang="0">
                  <a:pos x="420" y="201"/>
                </a:cxn>
                <a:cxn ang="0">
                  <a:pos x="434" y="199"/>
                </a:cxn>
                <a:cxn ang="0">
                  <a:pos x="436" y="211"/>
                </a:cxn>
                <a:cxn ang="0">
                  <a:pos x="435" y="215"/>
                </a:cxn>
                <a:cxn ang="0">
                  <a:pos x="435" y="232"/>
                </a:cxn>
                <a:cxn ang="0">
                  <a:pos x="428" y="249"/>
                </a:cxn>
                <a:cxn ang="0">
                  <a:pos x="441" y="255"/>
                </a:cxn>
              </a:cxnLst>
              <a:rect l="0" t="0" r="r" b="b"/>
              <a:pathLst>
                <a:path w="550" h="264">
                  <a:moveTo>
                    <a:pt x="447" y="256"/>
                  </a:moveTo>
                  <a:lnTo>
                    <a:pt x="455" y="245"/>
                  </a:lnTo>
                  <a:lnTo>
                    <a:pt x="449" y="238"/>
                  </a:lnTo>
                  <a:lnTo>
                    <a:pt x="442" y="229"/>
                  </a:lnTo>
                  <a:lnTo>
                    <a:pt x="446" y="214"/>
                  </a:lnTo>
                  <a:lnTo>
                    <a:pt x="449" y="198"/>
                  </a:lnTo>
                  <a:lnTo>
                    <a:pt x="444" y="180"/>
                  </a:lnTo>
                  <a:lnTo>
                    <a:pt x="426" y="186"/>
                  </a:lnTo>
                  <a:lnTo>
                    <a:pt x="417" y="191"/>
                  </a:lnTo>
                  <a:lnTo>
                    <a:pt x="405" y="196"/>
                  </a:lnTo>
                  <a:lnTo>
                    <a:pt x="405" y="179"/>
                  </a:lnTo>
                  <a:lnTo>
                    <a:pt x="402" y="175"/>
                  </a:lnTo>
                  <a:lnTo>
                    <a:pt x="408" y="172"/>
                  </a:lnTo>
                  <a:lnTo>
                    <a:pt x="383" y="172"/>
                  </a:lnTo>
                  <a:lnTo>
                    <a:pt x="404" y="154"/>
                  </a:lnTo>
                  <a:lnTo>
                    <a:pt x="424" y="135"/>
                  </a:lnTo>
                  <a:lnTo>
                    <a:pt x="444" y="115"/>
                  </a:lnTo>
                  <a:lnTo>
                    <a:pt x="464" y="96"/>
                  </a:lnTo>
                  <a:lnTo>
                    <a:pt x="485" y="78"/>
                  </a:lnTo>
                  <a:lnTo>
                    <a:pt x="507" y="60"/>
                  </a:lnTo>
                  <a:lnTo>
                    <a:pt x="528" y="42"/>
                  </a:lnTo>
                  <a:lnTo>
                    <a:pt x="550" y="24"/>
                  </a:lnTo>
                  <a:lnTo>
                    <a:pt x="524" y="18"/>
                  </a:lnTo>
                  <a:lnTo>
                    <a:pt x="500" y="16"/>
                  </a:lnTo>
                  <a:lnTo>
                    <a:pt x="474" y="13"/>
                  </a:lnTo>
                  <a:lnTo>
                    <a:pt x="443" y="11"/>
                  </a:lnTo>
                  <a:lnTo>
                    <a:pt x="441" y="9"/>
                  </a:lnTo>
                  <a:lnTo>
                    <a:pt x="429" y="6"/>
                  </a:lnTo>
                  <a:lnTo>
                    <a:pt x="422" y="6"/>
                  </a:lnTo>
                  <a:lnTo>
                    <a:pt x="418" y="4"/>
                  </a:lnTo>
                  <a:lnTo>
                    <a:pt x="406" y="6"/>
                  </a:lnTo>
                  <a:lnTo>
                    <a:pt x="413" y="1"/>
                  </a:lnTo>
                  <a:lnTo>
                    <a:pt x="406" y="0"/>
                  </a:lnTo>
                  <a:lnTo>
                    <a:pt x="372" y="7"/>
                  </a:lnTo>
                  <a:lnTo>
                    <a:pt x="366" y="7"/>
                  </a:lnTo>
                  <a:lnTo>
                    <a:pt x="356" y="10"/>
                  </a:lnTo>
                  <a:lnTo>
                    <a:pt x="354" y="12"/>
                  </a:lnTo>
                  <a:lnTo>
                    <a:pt x="347" y="16"/>
                  </a:lnTo>
                  <a:lnTo>
                    <a:pt x="352" y="11"/>
                  </a:lnTo>
                  <a:lnTo>
                    <a:pt x="324" y="16"/>
                  </a:lnTo>
                  <a:lnTo>
                    <a:pt x="296" y="25"/>
                  </a:lnTo>
                  <a:lnTo>
                    <a:pt x="268" y="36"/>
                  </a:lnTo>
                  <a:lnTo>
                    <a:pt x="244" y="36"/>
                  </a:lnTo>
                  <a:lnTo>
                    <a:pt x="230" y="45"/>
                  </a:lnTo>
                  <a:lnTo>
                    <a:pt x="240" y="60"/>
                  </a:lnTo>
                  <a:lnTo>
                    <a:pt x="236" y="64"/>
                  </a:lnTo>
                  <a:lnTo>
                    <a:pt x="255" y="66"/>
                  </a:lnTo>
                  <a:lnTo>
                    <a:pt x="250" y="72"/>
                  </a:lnTo>
                  <a:lnTo>
                    <a:pt x="264" y="73"/>
                  </a:lnTo>
                  <a:lnTo>
                    <a:pt x="245" y="72"/>
                  </a:lnTo>
                  <a:lnTo>
                    <a:pt x="244" y="67"/>
                  </a:lnTo>
                  <a:lnTo>
                    <a:pt x="242" y="76"/>
                  </a:lnTo>
                  <a:lnTo>
                    <a:pt x="246" y="79"/>
                  </a:lnTo>
                  <a:lnTo>
                    <a:pt x="238" y="79"/>
                  </a:lnTo>
                  <a:lnTo>
                    <a:pt x="210" y="78"/>
                  </a:lnTo>
                  <a:lnTo>
                    <a:pt x="222" y="72"/>
                  </a:lnTo>
                  <a:lnTo>
                    <a:pt x="191" y="77"/>
                  </a:lnTo>
                  <a:lnTo>
                    <a:pt x="152" y="88"/>
                  </a:lnTo>
                  <a:lnTo>
                    <a:pt x="165" y="93"/>
                  </a:lnTo>
                  <a:lnTo>
                    <a:pt x="155" y="94"/>
                  </a:lnTo>
                  <a:lnTo>
                    <a:pt x="153" y="103"/>
                  </a:lnTo>
                  <a:lnTo>
                    <a:pt x="186" y="103"/>
                  </a:lnTo>
                  <a:lnTo>
                    <a:pt x="191" y="106"/>
                  </a:lnTo>
                  <a:lnTo>
                    <a:pt x="220" y="97"/>
                  </a:lnTo>
                  <a:lnTo>
                    <a:pt x="214" y="105"/>
                  </a:lnTo>
                  <a:lnTo>
                    <a:pt x="208" y="106"/>
                  </a:lnTo>
                  <a:lnTo>
                    <a:pt x="202" y="115"/>
                  </a:lnTo>
                  <a:lnTo>
                    <a:pt x="180" y="121"/>
                  </a:lnTo>
                  <a:lnTo>
                    <a:pt x="149" y="129"/>
                  </a:lnTo>
                  <a:lnTo>
                    <a:pt x="155" y="125"/>
                  </a:lnTo>
                  <a:lnTo>
                    <a:pt x="143" y="127"/>
                  </a:lnTo>
                  <a:lnTo>
                    <a:pt x="129" y="135"/>
                  </a:lnTo>
                  <a:lnTo>
                    <a:pt x="131" y="135"/>
                  </a:lnTo>
                  <a:lnTo>
                    <a:pt x="125" y="137"/>
                  </a:lnTo>
                  <a:lnTo>
                    <a:pt x="104" y="147"/>
                  </a:lnTo>
                  <a:lnTo>
                    <a:pt x="96" y="148"/>
                  </a:lnTo>
                  <a:lnTo>
                    <a:pt x="99" y="150"/>
                  </a:lnTo>
                  <a:lnTo>
                    <a:pt x="90" y="153"/>
                  </a:lnTo>
                  <a:lnTo>
                    <a:pt x="93" y="157"/>
                  </a:lnTo>
                  <a:lnTo>
                    <a:pt x="108" y="151"/>
                  </a:lnTo>
                  <a:lnTo>
                    <a:pt x="94" y="159"/>
                  </a:lnTo>
                  <a:lnTo>
                    <a:pt x="95" y="161"/>
                  </a:lnTo>
                  <a:lnTo>
                    <a:pt x="110" y="162"/>
                  </a:lnTo>
                  <a:lnTo>
                    <a:pt x="105" y="163"/>
                  </a:lnTo>
                  <a:lnTo>
                    <a:pt x="107" y="166"/>
                  </a:lnTo>
                  <a:lnTo>
                    <a:pt x="98" y="166"/>
                  </a:lnTo>
                  <a:lnTo>
                    <a:pt x="92" y="163"/>
                  </a:lnTo>
                  <a:lnTo>
                    <a:pt x="81" y="169"/>
                  </a:lnTo>
                  <a:lnTo>
                    <a:pt x="87" y="180"/>
                  </a:lnTo>
                  <a:lnTo>
                    <a:pt x="110" y="174"/>
                  </a:lnTo>
                  <a:lnTo>
                    <a:pt x="124" y="167"/>
                  </a:lnTo>
                  <a:lnTo>
                    <a:pt x="110" y="177"/>
                  </a:lnTo>
                  <a:lnTo>
                    <a:pt x="100" y="187"/>
                  </a:lnTo>
                  <a:lnTo>
                    <a:pt x="96" y="192"/>
                  </a:lnTo>
                  <a:lnTo>
                    <a:pt x="96" y="193"/>
                  </a:lnTo>
                  <a:lnTo>
                    <a:pt x="88" y="199"/>
                  </a:lnTo>
                  <a:lnTo>
                    <a:pt x="114" y="195"/>
                  </a:lnTo>
                  <a:lnTo>
                    <a:pt x="122" y="196"/>
                  </a:lnTo>
                  <a:lnTo>
                    <a:pt x="122" y="204"/>
                  </a:lnTo>
                  <a:lnTo>
                    <a:pt x="137" y="193"/>
                  </a:lnTo>
                  <a:lnTo>
                    <a:pt x="142" y="193"/>
                  </a:lnTo>
                  <a:lnTo>
                    <a:pt x="132" y="197"/>
                  </a:lnTo>
                  <a:lnTo>
                    <a:pt x="135" y="201"/>
                  </a:lnTo>
                  <a:lnTo>
                    <a:pt x="159" y="193"/>
                  </a:lnTo>
                  <a:lnTo>
                    <a:pt x="136" y="207"/>
                  </a:lnTo>
                  <a:lnTo>
                    <a:pt x="140" y="207"/>
                  </a:lnTo>
                  <a:lnTo>
                    <a:pt x="137" y="207"/>
                  </a:lnTo>
                  <a:lnTo>
                    <a:pt x="124" y="217"/>
                  </a:lnTo>
                  <a:lnTo>
                    <a:pt x="117" y="219"/>
                  </a:lnTo>
                  <a:lnTo>
                    <a:pt x="95" y="231"/>
                  </a:lnTo>
                  <a:lnTo>
                    <a:pt x="60" y="241"/>
                  </a:lnTo>
                  <a:lnTo>
                    <a:pt x="57" y="246"/>
                  </a:lnTo>
                  <a:lnTo>
                    <a:pt x="51" y="246"/>
                  </a:lnTo>
                  <a:lnTo>
                    <a:pt x="48" y="249"/>
                  </a:lnTo>
                  <a:lnTo>
                    <a:pt x="48" y="246"/>
                  </a:lnTo>
                  <a:lnTo>
                    <a:pt x="38" y="246"/>
                  </a:lnTo>
                  <a:lnTo>
                    <a:pt x="0" y="262"/>
                  </a:lnTo>
                  <a:lnTo>
                    <a:pt x="3" y="261"/>
                  </a:lnTo>
                  <a:lnTo>
                    <a:pt x="5" y="262"/>
                  </a:lnTo>
                  <a:lnTo>
                    <a:pt x="14" y="258"/>
                  </a:lnTo>
                  <a:lnTo>
                    <a:pt x="15" y="259"/>
                  </a:lnTo>
                  <a:lnTo>
                    <a:pt x="32" y="252"/>
                  </a:lnTo>
                  <a:lnTo>
                    <a:pt x="39" y="252"/>
                  </a:lnTo>
                  <a:lnTo>
                    <a:pt x="34" y="252"/>
                  </a:lnTo>
                  <a:lnTo>
                    <a:pt x="51" y="250"/>
                  </a:lnTo>
                  <a:lnTo>
                    <a:pt x="62" y="249"/>
                  </a:lnTo>
                  <a:lnTo>
                    <a:pt x="65" y="247"/>
                  </a:lnTo>
                  <a:lnTo>
                    <a:pt x="81" y="244"/>
                  </a:lnTo>
                  <a:lnTo>
                    <a:pt x="86" y="243"/>
                  </a:lnTo>
                  <a:lnTo>
                    <a:pt x="89" y="239"/>
                  </a:lnTo>
                  <a:lnTo>
                    <a:pt x="131" y="223"/>
                  </a:lnTo>
                  <a:lnTo>
                    <a:pt x="168" y="210"/>
                  </a:lnTo>
                  <a:lnTo>
                    <a:pt x="201" y="196"/>
                  </a:lnTo>
                  <a:lnTo>
                    <a:pt x="194" y="192"/>
                  </a:lnTo>
                  <a:lnTo>
                    <a:pt x="222" y="180"/>
                  </a:lnTo>
                  <a:lnTo>
                    <a:pt x="228" y="179"/>
                  </a:lnTo>
                  <a:lnTo>
                    <a:pt x="232" y="173"/>
                  </a:lnTo>
                  <a:lnTo>
                    <a:pt x="256" y="163"/>
                  </a:lnTo>
                  <a:lnTo>
                    <a:pt x="280" y="156"/>
                  </a:lnTo>
                  <a:lnTo>
                    <a:pt x="297" y="153"/>
                  </a:lnTo>
                  <a:lnTo>
                    <a:pt x="286" y="157"/>
                  </a:lnTo>
                  <a:lnTo>
                    <a:pt x="290" y="162"/>
                  </a:lnTo>
                  <a:lnTo>
                    <a:pt x="284" y="161"/>
                  </a:lnTo>
                  <a:lnTo>
                    <a:pt x="258" y="166"/>
                  </a:lnTo>
                  <a:lnTo>
                    <a:pt x="236" y="183"/>
                  </a:lnTo>
                  <a:lnTo>
                    <a:pt x="248" y="180"/>
                  </a:lnTo>
                  <a:lnTo>
                    <a:pt x="230" y="187"/>
                  </a:lnTo>
                  <a:lnTo>
                    <a:pt x="238" y="190"/>
                  </a:lnTo>
                  <a:lnTo>
                    <a:pt x="256" y="181"/>
                  </a:lnTo>
                  <a:lnTo>
                    <a:pt x="251" y="185"/>
                  </a:lnTo>
                  <a:lnTo>
                    <a:pt x="257" y="183"/>
                  </a:lnTo>
                  <a:lnTo>
                    <a:pt x="261" y="183"/>
                  </a:lnTo>
                  <a:lnTo>
                    <a:pt x="263" y="179"/>
                  </a:lnTo>
                  <a:lnTo>
                    <a:pt x="264" y="181"/>
                  </a:lnTo>
                  <a:lnTo>
                    <a:pt x="272" y="177"/>
                  </a:lnTo>
                  <a:lnTo>
                    <a:pt x="280" y="178"/>
                  </a:lnTo>
                  <a:lnTo>
                    <a:pt x="296" y="171"/>
                  </a:lnTo>
                  <a:lnTo>
                    <a:pt x="293" y="169"/>
                  </a:lnTo>
                  <a:lnTo>
                    <a:pt x="298" y="167"/>
                  </a:lnTo>
                  <a:lnTo>
                    <a:pt x="294" y="165"/>
                  </a:lnTo>
                  <a:lnTo>
                    <a:pt x="303" y="162"/>
                  </a:lnTo>
                  <a:lnTo>
                    <a:pt x="316" y="156"/>
                  </a:lnTo>
                  <a:lnTo>
                    <a:pt x="305" y="162"/>
                  </a:lnTo>
                  <a:lnTo>
                    <a:pt x="312" y="161"/>
                  </a:lnTo>
                  <a:lnTo>
                    <a:pt x="311" y="162"/>
                  </a:lnTo>
                  <a:lnTo>
                    <a:pt x="330" y="159"/>
                  </a:lnTo>
                  <a:lnTo>
                    <a:pt x="326" y="160"/>
                  </a:lnTo>
                  <a:lnTo>
                    <a:pt x="324" y="163"/>
                  </a:lnTo>
                  <a:lnTo>
                    <a:pt x="321" y="165"/>
                  </a:lnTo>
                  <a:lnTo>
                    <a:pt x="327" y="165"/>
                  </a:lnTo>
                  <a:lnTo>
                    <a:pt x="328" y="166"/>
                  </a:lnTo>
                  <a:lnTo>
                    <a:pt x="323" y="169"/>
                  </a:lnTo>
                  <a:lnTo>
                    <a:pt x="328" y="172"/>
                  </a:lnTo>
                  <a:lnTo>
                    <a:pt x="341" y="167"/>
                  </a:lnTo>
                  <a:lnTo>
                    <a:pt x="336" y="171"/>
                  </a:lnTo>
                  <a:lnTo>
                    <a:pt x="340" y="174"/>
                  </a:lnTo>
                  <a:lnTo>
                    <a:pt x="357" y="175"/>
                  </a:lnTo>
                  <a:lnTo>
                    <a:pt x="375" y="177"/>
                  </a:lnTo>
                  <a:lnTo>
                    <a:pt x="375" y="181"/>
                  </a:lnTo>
                  <a:lnTo>
                    <a:pt x="393" y="178"/>
                  </a:lnTo>
                  <a:lnTo>
                    <a:pt x="400" y="180"/>
                  </a:lnTo>
                  <a:lnTo>
                    <a:pt x="394" y="183"/>
                  </a:lnTo>
                  <a:lnTo>
                    <a:pt x="398" y="178"/>
                  </a:lnTo>
                  <a:lnTo>
                    <a:pt x="389" y="184"/>
                  </a:lnTo>
                  <a:lnTo>
                    <a:pt x="398" y="195"/>
                  </a:lnTo>
                  <a:lnTo>
                    <a:pt x="407" y="205"/>
                  </a:lnTo>
                  <a:lnTo>
                    <a:pt x="413" y="205"/>
                  </a:lnTo>
                  <a:lnTo>
                    <a:pt x="411" y="195"/>
                  </a:lnTo>
                  <a:lnTo>
                    <a:pt x="417" y="197"/>
                  </a:lnTo>
                  <a:lnTo>
                    <a:pt x="423" y="195"/>
                  </a:lnTo>
                  <a:lnTo>
                    <a:pt x="424" y="196"/>
                  </a:lnTo>
                  <a:lnTo>
                    <a:pt x="420" y="201"/>
                  </a:lnTo>
                  <a:lnTo>
                    <a:pt x="420" y="203"/>
                  </a:lnTo>
                  <a:lnTo>
                    <a:pt x="422" y="207"/>
                  </a:lnTo>
                  <a:lnTo>
                    <a:pt x="436" y="190"/>
                  </a:lnTo>
                  <a:lnTo>
                    <a:pt x="434" y="199"/>
                  </a:lnTo>
                  <a:lnTo>
                    <a:pt x="436" y="207"/>
                  </a:lnTo>
                  <a:lnTo>
                    <a:pt x="440" y="205"/>
                  </a:lnTo>
                  <a:lnTo>
                    <a:pt x="441" y="209"/>
                  </a:lnTo>
                  <a:lnTo>
                    <a:pt x="436" y="211"/>
                  </a:lnTo>
                  <a:lnTo>
                    <a:pt x="444" y="213"/>
                  </a:lnTo>
                  <a:lnTo>
                    <a:pt x="440" y="213"/>
                  </a:lnTo>
                  <a:lnTo>
                    <a:pt x="440" y="217"/>
                  </a:lnTo>
                  <a:lnTo>
                    <a:pt x="435" y="215"/>
                  </a:lnTo>
                  <a:lnTo>
                    <a:pt x="436" y="221"/>
                  </a:lnTo>
                  <a:lnTo>
                    <a:pt x="431" y="222"/>
                  </a:lnTo>
                  <a:lnTo>
                    <a:pt x="432" y="225"/>
                  </a:lnTo>
                  <a:lnTo>
                    <a:pt x="435" y="232"/>
                  </a:lnTo>
                  <a:lnTo>
                    <a:pt x="441" y="240"/>
                  </a:lnTo>
                  <a:lnTo>
                    <a:pt x="435" y="240"/>
                  </a:lnTo>
                  <a:lnTo>
                    <a:pt x="422" y="251"/>
                  </a:lnTo>
                  <a:lnTo>
                    <a:pt x="428" y="249"/>
                  </a:lnTo>
                  <a:lnTo>
                    <a:pt x="446" y="243"/>
                  </a:lnTo>
                  <a:lnTo>
                    <a:pt x="435" y="256"/>
                  </a:lnTo>
                  <a:lnTo>
                    <a:pt x="430" y="257"/>
                  </a:lnTo>
                  <a:lnTo>
                    <a:pt x="441" y="255"/>
                  </a:lnTo>
                  <a:lnTo>
                    <a:pt x="434" y="259"/>
                  </a:lnTo>
                  <a:lnTo>
                    <a:pt x="430" y="264"/>
                  </a:lnTo>
                  <a:lnTo>
                    <a:pt x="447" y="2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3" name="Freeform 432"/>
            <p:cNvSpPr>
              <a:spLocks/>
            </p:cNvSpPr>
            <p:nvPr/>
          </p:nvSpPr>
          <p:spPr bwMode="auto">
            <a:xfrm>
              <a:off x="300" y="1561"/>
              <a:ext cx="43" cy="22"/>
            </a:xfrm>
            <a:custGeom>
              <a:avLst/>
              <a:gdLst/>
              <a:ahLst/>
              <a:cxnLst>
                <a:cxn ang="0">
                  <a:pos x="40" y="6"/>
                </a:cxn>
                <a:cxn ang="0">
                  <a:pos x="36" y="5"/>
                </a:cxn>
                <a:cxn ang="0">
                  <a:pos x="37" y="3"/>
                </a:cxn>
                <a:cxn ang="0">
                  <a:pos x="35" y="3"/>
                </a:cxn>
                <a:cxn ang="0">
                  <a:pos x="31" y="0"/>
                </a:cxn>
                <a:cxn ang="0">
                  <a:pos x="29" y="4"/>
                </a:cxn>
                <a:cxn ang="0">
                  <a:pos x="24" y="4"/>
                </a:cxn>
                <a:cxn ang="0">
                  <a:pos x="18" y="5"/>
                </a:cxn>
                <a:cxn ang="0">
                  <a:pos x="13" y="12"/>
                </a:cxn>
                <a:cxn ang="0">
                  <a:pos x="12" y="6"/>
                </a:cxn>
                <a:cxn ang="0">
                  <a:pos x="1" y="12"/>
                </a:cxn>
                <a:cxn ang="0">
                  <a:pos x="1" y="18"/>
                </a:cxn>
                <a:cxn ang="0">
                  <a:pos x="3" y="16"/>
                </a:cxn>
                <a:cxn ang="0">
                  <a:pos x="7" y="16"/>
                </a:cxn>
                <a:cxn ang="0">
                  <a:pos x="0" y="22"/>
                </a:cxn>
                <a:cxn ang="0">
                  <a:pos x="9" y="16"/>
                </a:cxn>
                <a:cxn ang="0">
                  <a:pos x="25" y="11"/>
                </a:cxn>
                <a:cxn ang="0">
                  <a:pos x="28" y="10"/>
                </a:cxn>
                <a:cxn ang="0">
                  <a:pos x="40" y="6"/>
                </a:cxn>
              </a:cxnLst>
              <a:rect l="0" t="0" r="r" b="b"/>
              <a:pathLst>
                <a:path w="40" h="22">
                  <a:moveTo>
                    <a:pt x="40" y="6"/>
                  </a:moveTo>
                  <a:lnTo>
                    <a:pt x="36" y="5"/>
                  </a:lnTo>
                  <a:lnTo>
                    <a:pt x="37" y="3"/>
                  </a:lnTo>
                  <a:lnTo>
                    <a:pt x="35" y="3"/>
                  </a:lnTo>
                  <a:lnTo>
                    <a:pt x="31" y="0"/>
                  </a:lnTo>
                  <a:lnTo>
                    <a:pt x="29" y="4"/>
                  </a:lnTo>
                  <a:lnTo>
                    <a:pt x="24" y="4"/>
                  </a:lnTo>
                  <a:lnTo>
                    <a:pt x="18" y="5"/>
                  </a:lnTo>
                  <a:lnTo>
                    <a:pt x="13" y="12"/>
                  </a:lnTo>
                  <a:lnTo>
                    <a:pt x="12" y="6"/>
                  </a:lnTo>
                  <a:lnTo>
                    <a:pt x="1" y="12"/>
                  </a:lnTo>
                  <a:lnTo>
                    <a:pt x="1" y="18"/>
                  </a:lnTo>
                  <a:lnTo>
                    <a:pt x="3" y="16"/>
                  </a:lnTo>
                  <a:lnTo>
                    <a:pt x="7" y="16"/>
                  </a:lnTo>
                  <a:lnTo>
                    <a:pt x="0" y="22"/>
                  </a:lnTo>
                  <a:lnTo>
                    <a:pt x="9" y="16"/>
                  </a:lnTo>
                  <a:lnTo>
                    <a:pt x="25" y="11"/>
                  </a:lnTo>
                  <a:lnTo>
                    <a:pt x="28" y="10"/>
                  </a:lnTo>
                  <a:lnTo>
                    <a:pt x="4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4" name="Freeform 433"/>
            <p:cNvSpPr>
              <a:spLocks/>
            </p:cNvSpPr>
            <p:nvPr/>
          </p:nvSpPr>
          <p:spPr bwMode="auto">
            <a:xfrm>
              <a:off x="196" y="1456"/>
              <a:ext cx="38" cy="14"/>
            </a:xfrm>
            <a:custGeom>
              <a:avLst/>
              <a:gdLst/>
              <a:ahLst/>
              <a:cxnLst>
                <a:cxn ang="0">
                  <a:pos x="33" y="6"/>
                </a:cxn>
                <a:cxn ang="0">
                  <a:pos x="16" y="11"/>
                </a:cxn>
                <a:cxn ang="0">
                  <a:pos x="10" y="3"/>
                </a:cxn>
                <a:cxn ang="0">
                  <a:pos x="13" y="7"/>
                </a:cxn>
                <a:cxn ang="0">
                  <a:pos x="0" y="6"/>
                </a:cxn>
                <a:cxn ang="0">
                  <a:pos x="4" y="0"/>
                </a:cxn>
                <a:cxn ang="0">
                  <a:pos x="18" y="0"/>
                </a:cxn>
                <a:cxn ang="0">
                  <a:pos x="33" y="6"/>
                </a:cxn>
              </a:cxnLst>
              <a:rect l="0" t="0" r="r" b="b"/>
              <a:pathLst>
                <a:path w="33" h="11">
                  <a:moveTo>
                    <a:pt x="33" y="6"/>
                  </a:moveTo>
                  <a:lnTo>
                    <a:pt x="16" y="11"/>
                  </a:lnTo>
                  <a:lnTo>
                    <a:pt x="10" y="3"/>
                  </a:lnTo>
                  <a:lnTo>
                    <a:pt x="13" y="7"/>
                  </a:lnTo>
                  <a:lnTo>
                    <a:pt x="0" y="6"/>
                  </a:lnTo>
                  <a:lnTo>
                    <a:pt x="4" y="0"/>
                  </a:lnTo>
                  <a:lnTo>
                    <a:pt x="18" y="0"/>
                  </a:lnTo>
                  <a:lnTo>
                    <a:pt x="33"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5" name="Freeform 434"/>
            <p:cNvSpPr>
              <a:spLocks/>
            </p:cNvSpPr>
            <p:nvPr/>
          </p:nvSpPr>
          <p:spPr bwMode="auto">
            <a:xfrm>
              <a:off x="576" y="1590"/>
              <a:ext cx="18" cy="33"/>
            </a:xfrm>
            <a:custGeom>
              <a:avLst/>
              <a:gdLst/>
              <a:ahLst/>
              <a:cxnLst>
                <a:cxn ang="0">
                  <a:pos x="9" y="26"/>
                </a:cxn>
                <a:cxn ang="0">
                  <a:pos x="7" y="29"/>
                </a:cxn>
                <a:cxn ang="0">
                  <a:pos x="6" y="21"/>
                </a:cxn>
                <a:cxn ang="0">
                  <a:pos x="0" y="18"/>
                </a:cxn>
                <a:cxn ang="0">
                  <a:pos x="6" y="17"/>
                </a:cxn>
                <a:cxn ang="0">
                  <a:pos x="9" y="12"/>
                </a:cxn>
                <a:cxn ang="0">
                  <a:pos x="3" y="13"/>
                </a:cxn>
                <a:cxn ang="0">
                  <a:pos x="10" y="8"/>
                </a:cxn>
                <a:cxn ang="0">
                  <a:pos x="9" y="2"/>
                </a:cxn>
                <a:cxn ang="0">
                  <a:pos x="14" y="0"/>
                </a:cxn>
                <a:cxn ang="0">
                  <a:pos x="16" y="14"/>
                </a:cxn>
                <a:cxn ang="0">
                  <a:pos x="14" y="12"/>
                </a:cxn>
                <a:cxn ang="0">
                  <a:pos x="13" y="15"/>
                </a:cxn>
                <a:cxn ang="0">
                  <a:pos x="9" y="26"/>
                </a:cxn>
              </a:cxnLst>
              <a:rect l="0" t="0" r="r" b="b"/>
              <a:pathLst>
                <a:path w="16" h="29">
                  <a:moveTo>
                    <a:pt x="9" y="26"/>
                  </a:moveTo>
                  <a:lnTo>
                    <a:pt x="7" y="29"/>
                  </a:lnTo>
                  <a:lnTo>
                    <a:pt x="6" y="21"/>
                  </a:lnTo>
                  <a:lnTo>
                    <a:pt x="0" y="18"/>
                  </a:lnTo>
                  <a:lnTo>
                    <a:pt x="6" y="17"/>
                  </a:lnTo>
                  <a:lnTo>
                    <a:pt x="9" y="12"/>
                  </a:lnTo>
                  <a:lnTo>
                    <a:pt x="3" y="13"/>
                  </a:lnTo>
                  <a:lnTo>
                    <a:pt x="10" y="8"/>
                  </a:lnTo>
                  <a:lnTo>
                    <a:pt x="9" y="2"/>
                  </a:lnTo>
                  <a:lnTo>
                    <a:pt x="14" y="0"/>
                  </a:lnTo>
                  <a:lnTo>
                    <a:pt x="16" y="14"/>
                  </a:lnTo>
                  <a:lnTo>
                    <a:pt x="14" y="12"/>
                  </a:lnTo>
                  <a:lnTo>
                    <a:pt x="13" y="15"/>
                  </a:lnTo>
                  <a:lnTo>
                    <a:pt x="9" y="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6" name="Freeform 435"/>
            <p:cNvSpPr>
              <a:spLocks/>
            </p:cNvSpPr>
            <p:nvPr/>
          </p:nvSpPr>
          <p:spPr bwMode="auto">
            <a:xfrm>
              <a:off x="587" y="1556"/>
              <a:ext cx="20" cy="23"/>
            </a:xfrm>
            <a:custGeom>
              <a:avLst/>
              <a:gdLst/>
              <a:ahLst/>
              <a:cxnLst>
                <a:cxn ang="0">
                  <a:pos x="17" y="10"/>
                </a:cxn>
                <a:cxn ang="0">
                  <a:pos x="12" y="12"/>
                </a:cxn>
                <a:cxn ang="0">
                  <a:pos x="0" y="20"/>
                </a:cxn>
                <a:cxn ang="0">
                  <a:pos x="3" y="15"/>
                </a:cxn>
                <a:cxn ang="0">
                  <a:pos x="14" y="0"/>
                </a:cxn>
                <a:cxn ang="0">
                  <a:pos x="18" y="1"/>
                </a:cxn>
                <a:cxn ang="0">
                  <a:pos x="17" y="10"/>
                </a:cxn>
              </a:cxnLst>
              <a:rect l="0" t="0" r="r" b="b"/>
              <a:pathLst>
                <a:path w="18" h="20">
                  <a:moveTo>
                    <a:pt x="17" y="10"/>
                  </a:moveTo>
                  <a:lnTo>
                    <a:pt x="12" y="12"/>
                  </a:lnTo>
                  <a:lnTo>
                    <a:pt x="0" y="20"/>
                  </a:lnTo>
                  <a:lnTo>
                    <a:pt x="3" y="15"/>
                  </a:lnTo>
                  <a:lnTo>
                    <a:pt x="14" y="0"/>
                  </a:lnTo>
                  <a:lnTo>
                    <a:pt x="18" y="1"/>
                  </a:lnTo>
                  <a:lnTo>
                    <a:pt x="17"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7" name="Freeform 436"/>
            <p:cNvSpPr>
              <a:spLocks/>
            </p:cNvSpPr>
            <p:nvPr/>
          </p:nvSpPr>
          <p:spPr bwMode="auto">
            <a:xfrm>
              <a:off x="96" y="1616"/>
              <a:ext cx="29" cy="9"/>
            </a:xfrm>
            <a:custGeom>
              <a:avLst/>
              <a:gdLst/>
              <a:ahLst/>
              <a:cxnLst>
                <a:cxn ang="0">
                  <a:pos x="26" y="6"/>
                </a:cxn>
                <a:cxn ang="0">
                  <a:pos x="21" y="0"/>
                </a:cxn>
                <a:cxn ang="0">
                  <a:pos x="0" y="7"/>
                </a:cxn>
                <a:cxn ang="0">
                  <a:pos x="6" y="8"/>
                </a:cxn>
                <a:cxn ang="0">
                  <a:pos x="26" y="6"/>
                </a:cxn>
              </a:cxnLst>
              <a:rect l="0" t="0" r="r" b="b"/>
              <a:pathLst>
                <a:path w="26" h="8">
                  <a:moveTo>
                    <a:pt x="26" y="6"/>
                  </a:moveTo>
                  <a:lnTo>
                    <a:pt x="21" y="0"/>
                  </a:lnTo>
                  <a:lnTo>
                    <a:pt x="0" y="7"/>
                  </a:lnTo>
                  <a:lnTo>
                    <a:pt x="6" y="8"/>
                  </a:lnTo>
                  <a:lnTo>
                    <a:pt x="2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8" name="Freeform 437"/>
            <p:cNvSpPr>
              <a:spLocks/>
            </p:cNvSpPr>
            <p:nvPr/>
          </p:nvSpPr>
          <p:spPr bwMode="auto">
            <a:xfrm>
              <a:off x="180" y="1516"/>
              <a:ext cx="20" cy="9"/>
            </a:xfrm>
            <a:custGeom>
              <a:avLst/>
              <a:gdLst/>
              <a:ahLst/>
              <a:cxnLst>
                <a:cxn ang="0">
                  <a:pos x="19" y="7"/>
                </a:cxn>
                <a:cxn ang="0">
                  <a:pos x="12" y="8"/>
                </a:cxn>
                <a:cxn ang="0">
                  <a:pos x="0" y="4"/>
                </a:cxn>
                <a:cxn ang="0">
                  <a:pos x="19" y="0"/>
                </a:cxn>
                <a:cxn ang="0">
                  <a:pos x="19" y="7"/>
                </a:cxn>
              </a:cxnLst>
              <a:rect l="0" t="0" r="r" b="b"/>
              <a:pathLst>
                <a:path w="19" h="8">
                  <a:moveTo>
                    <a:pt x="19" y="7"/>
                  </a:moveTo>
                  <a:lnTo>
                    <a:pt x="12" y="8"/>
                  </a:lnTo>
                  <a:lnTo>
                    <a:pt x="0" y="4"/>
                  </a:lnTo>
                  <a:lnTo>
                    <a:pt x="19" y="0"/>
                  </a:lnTo>
                  <a:lnTo>
                    <a:pt x="19"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9" name="Freeform 438"/>
            <p:cNvSpPr>
              <a:spLocks/>
            </p:cNvSpPr>
            <p:nvPr/>
          </p:nvSpPr>
          <p:spPr bwMode="auto">
            <a:xfrm>
              <a:off x="574" y="1554"/>
              <a:ext cx="20" cy="16"/>
            </a:xfrm>
            <a:custGeom>
              <a:avLst/>
              <a:gdLst/>
              <a:ahLst/>
              <a:cxnLst>
                <a:cxn ang="0">
                  <a:pos x="15" y="14"/>
                </a:cxn>
                <a:cxn ang="0">
                  <a:pos x="12" y="10"/>
                </a:cxn>
                <a:cxn ang="0">
                  <a:pos x="9" y="5"/>
                </a:cxn>
                <a:cxn ang="0">
                  <a:pos x="18" y="9"/>
                </a:cxn>
                <a:cxn ang="0">
                  <a:pos x="17" y="6"/>
                </a:cxn>
                <a:cxn ang="0">
                  <a:pos x="12" y="5"/>
                </a:cxn>
                <a:cxn ang="0">
                  <a:pos x="15" y="0"/>
                </a:cxn>
                <a:cxn ang="0">
                  <a:pos x="6" y="4"/>
                </a:cxn>
                <a:cxn ang="0">
                  <a:pos x="5" y="8"/>
                </a:cxn>
                <a:cxn ang="0">
                  <a:pos x="0" y="9"/>
                </a:cxn>
                <a:cxn ang="0">
                  <a:pos x="4" y="15"/>
                </a:cxn>
                <a:cxn ang="0">
                  <a:pos x="6" y="9"/>
                </a:cxn>
                <a:cxn ang="0">
                  <a:pos x="15" y="14"/>
                </a:cxn>
              </a:cxnLst>
              <a:rect l="0" t="0" r="r" b="b"/>
              <a:pathLst>
                <a:path w="18" h="15">
                  <a:moveTo>
                    <a:pt x="15" y="14"/>
                  </a:moveTo>
                  <a:lnTo>
                    <a:pt x="12" y="10"/>
                  </a:lnTo>
                  <a:lnTo>
                    <a:pt x="9" y="5"/>
                  </a:lnTo>
                  <a:lnTo>
                    <a:pt x="18" y="9"/>
                  </a:lnTo>
                  <a:lnTo>
                    <a:pt x="17" y="6"/>
                  </a:lnTo>
                  <a:lnTo>
                    <a:pt x="12" y="5"/>
                  </a:lnTo>
                  <a:lnTo>
                    <a:pt x="15" y="0"/>
                  </a:lnTo>
                  <a:lnTo>
                    <a:pt x="6" y="4"/>
                  </a:lnTo>
                  <a:lnTo>
                    <a:pt x="5" y="8"/>
                  </a:lnTo>
                  <a:lnTo>
                    <a:pt x="0" y="9"/>
                  </a:lnTo>
                  <a:lnTo>
                    <a:pt x="4" y="15"/>
                  </a:lnTo>
                  <a:lnTo>
                    <a:pt x="6" y="9"/>
                  </a:lnTo>
                  <a:lnTo>
                    <a:pt x="15" y="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0" name="Freeform 439"/>
            <p:cNvSpPr>
              <a:spLocks/>
            </p:cNvSpPr>
            <p:nvPr/>
          </p:nvSpPr>
          <p:spPr bwMode="auto">
            <a:xfrm>
              <a:off x="571" y="1570"/>
              <a:ext cx="14" cy="24"/>
            </a:xfrm>
            <a:custGeom>
              <a:avLst/>
              <a:gdLst/>
              <a:ahLst/>
              <a:cxnLst>
                <a:cxn ang="0">
                  <a:pos x="0" y="21"/>
                </a:cxn>
                <a:cxn ang="0">
                  <a:pos x="12" y="0"/>
                </a:cxn>
                <a:cxn ang="0">
                  <a:pos x="4" y="4"/>
                </a:cxn>
                <a:cxn ang="0">
                  <a:pos x="0" y="21"/>
                </a:cxn>
              </a:cxnLst>
              <a:rect l="0" t="0" r="r" b="b"/>
              <a:pathLst>
                <a:path w="12" h="21">
                  <a:moveTo>
                    <a:pt x="0" y="21"/>
                  </a:moveTo>
                  <a:lnTo>
                    <a:pt x="12" y="0"/>
                  </a:lnTo>
                  <a:lnTo>
                    <a:pt x="4" y="4"/>
                  </a:lnTo>
                  <a:lnTo>
                    <a:pt x="0" y="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1" name="Freeform 440"/>
            <p:cNvSpPr>
              <a:spLocks/>
            </p:cNvSpPr>
            <p:nvPr/>
          </p:nvSpPr>
          <p:spPr bwMode="auto">
            <a:xfrm>
              <a:off x="591" y="1576"/>
              <a:ext cx="14" cy="14"/>
            </a:xfrm>
            <a:custGeom>
              <a:avLst/>
              <a:gdLst/>
              <a:ahLst/>
              <a:cxnLst>
                <a:cxn ang="0">
                  <a:pos x="11" y="7"/>
                </a:cxn>
                <a:cxn ang="0">
                  <a:pos x="12" y="5"/>
                </a:cxn>
                <a:cxn ang="0">
                  <a:pos x="5" y="0"/>
                </a:cxn>
                <a:cxn ang="0">
                  <a:pos x="0" y="8"/>
                </a:cxn>
                <a:cxn ang="0">
                  <a:pos x="5" y="11"/>
                </a:cxn>
                <a:cxn ang="0">
                  <a:pos x="7" y="6"/>
                </a:cxn>
                <a:cxn ang="0">
                  <a:pos x="11" y="7"/>
                </a:cxn>
              </a:cxnLst>
              <a:rect l="0" t="0" r="r" b="b"/>
              <a:pathLst>
                <a:path w="12" h="11">
                  <a:moveTo>
                    <a:pt x="11" y="7"/>
                  </a:moveTo>
                  <a:lnTo>
                    <a:pt x="12" y="5"/>
                  </a:lnTo>
                  <a:lnTo>
                    <a:pt x="5" y="0"/>
                  </a:lnTo>
                  <a:lnTo>
                    <a:pt x="0" y="8"/>
                  </a:lnTo>
                  <a:lnTo>
                    <a:pt x="5" y="11"/>
                  </a:lnTo>
                  <a:lnTo>
                    <a:pt x="7" y="6"/>
                  </a:lnTo>
                  <a:lnTo>
                    <a:pt x="11"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2" name="Freeform 441"/>
            <p:cNvSpPr>
              <a:spLocks/>
            </p:cNvSpPr>
            <p:nvPr/>
          </p:nvSpPr>
          <p:spPr bwMode="auto">
            <a:xfrm>
              <a:off x="578" y="1581"/>
              <a:ext cx="13" cy="13"/>
            </a:xfrm>
            <a:custGeom>
              <a:avLst/>
              <a:gdLst/>
              <a:ahLst/>
              <a:cxnLst>
                <a:cxn ang="0">
                  <a:pos x="12" y="4"/>
                </a:cxn>
                <a:cxn ang="0">
                  <a:pos x="0" y="12"/>
                </a:cxn>
                <a:cxn ang="0">
                  <a:pos x="6" y="0"/>
                </a:cxn>
                <a:cxn ang="0">
                  <a:pos x="12" y="4"/>
                </a:cxn>
              </a:cxnLst>
              <a:rect l="0" t="0" r="r" b="b"/>
              <a:pathLst>
                <a:path w="12" h="12">
                  <a:moveTo>
                    <a:pt x="12" y="4"/>
                  </a:moveTo>
                  <a:lnTo>
                    <a:pt x="0" y="12"/>
                  </a:lnTo>
                  <a:lnTo>
                    <a:pt x="6" y="0"/>
                  </a:lnTo>
                  <a:lnTo>
                    <a:pt x="1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3" name="Freeform 442"/>
            <p:cNvSpPr>
              <a:spLocks/>
            </p:cNvSpPr>
            <p:nvPr/>
          </p:nvSpPr>
          <p:spPr bwMode="auto">
            <a:xfrm>
              <a:off x="1334" y="1885"/>
              <a:ext cx="37" cy="9"/>
            </a:xfrm>
            <a:custGeom>
              <a:avLst/>
              <a:gdLst/>
              <a:ahLst/>
              <a:cxnLst>
                <a:cxn ang="0">
                  <a:pos x="35" y="1"/>
                </a:cxn>
                <a:cxn ang="0">
                  <a:pos x="25" y="4"/>
                </a:cxn>
                <a:cxn ang="0">
                  <a:pos x="27" y="0"/>
                </a:cxn>
                <a:cxn ang="0">
                  <a:pos x="0" y="8"/>
                </a:cxn>
                <a:cxn ang="0">
                  <a:pos x="17" y="5"/>
                </a:cxn>
                <a:cxn ang="0">
                  <a:pos x="35" y="1"/>
                </a:cxn>
              </a:cxnLst>
              <a:rect l="0" t="0" r="r" b="b"/>
              <a:pathLst>
                <a:path w="35" h="8">
                  <a:moveTo>
                    <a:pt x="35" y="1"/>
                  </a:moveTo>
                  <a:lnTo>
                    <a:pt x="25" y="4"/>
                  </a:lnTo>
                  <a:lnTo>
                    <a:pt x="27" y="0"/>
                  </a:lnTo>
                  <a:lnTo>
                    <a:pt x="0" y="8"/>
                  </a:lnTo>
                  <a:lnTo>
                    <a:pt x="17" y="5"/>
                  </a:lnTo>
                  <a:lnTo>
                    <a:pt x="3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4" name="Freeform 443"/>
            <p:cNvSpPr>
              <a:spLocks/>
            </p:cNvSpPr>
            <p:nvPr/>
          </p:nvSpPr>
          <p:spPr bwMode="auto">
            <a:xfrm>
              <a:off x="2236" y="2154"/>
              <a:ext cx="146" cy="136"/>
            </a:xfrm>
            <a:custGeom>
              <a:avLst/>
              <a:gdLst/>
              <a:ahLst/>
              <a:cxnLst>
                <a:cxn ang="0">
                  <a:pos x="2" y="114"/>
                </a:cxn>
                <a:cxn ang="0">
                  <a:pos x="0" y="124"/>
                </a:cxn>
                <a:cxn ang="0">
                  <a:pos x="0" y="114"/>
                </a:cxn>
                <a:cxn ang="0">
                  <a:pos x="11" y="91"/>
                </a:cxn>
                <a:cxn ang="0">
                  <a:pos x="21" y="70"/>
                </a:cxn>
                <a:cxn ang="0">
                  <a:pos x="18" y="72"/>
                </a:cxn>
                <a:cxn ang="0">
                  <a:pos x="31" y="58"/>
                </a:cxn>
                <a:cxn ang="0">
                  <a:pos x="36" y="43"/>
                </a:cxn>
                <a:cxn ang="0">
                  <a:pos x="42" y="30"/>
                </a:cxn>
                <a:cxn ang="0">
                  <a:pos x="54" y="18"/>
                </a:cxn>
                <a:cxn ang="0">
                  <a:pos x="63" y="0"/>
                </a:cxn>
                <a:cxn ang="0">
                  <a:pos x="80" y="0"/>
                </a:cxn>
                <a:cxn ang="0">
                  <a:pos x="98" y="0"/>
                </a:cxn>
                <a:cxn ang="0">
                  <a:pos x="115" y="0"/>
                </a:cxn>
                <a:cxn ang="0">
                  <a:pos x="132" y="0"/>
                </a:cxn>
                <a:cxn ang="0">
                  <a:pos x="132" y="7"/>
                </a:cxn>
                <a:cxn ang="0">
                  <a:pos x="132" y="30"/>
                </a:cxn>
                <a:cxn ang="0">
                  <a:pos x="119" y="30"/>
                </a:cxn>
                <a:cxn ang="0">
                  <a:pos x="107" y="30"/>
                </a:cxn>
                <a:cxn ang="0">
                  <a:pos x="93" y="30"/>
                </a:cxn>
                <a:cxn ang="0">
                  <a:pos x="80" y="30"/>
                </a:cxn>
                <a:cxn ang="0">
                  <a:pos x="80" y="53"/>
                </a:cxn>
                <a:cxn ang="0">
                  <a:pos x="79" y="76"/>
                </a:cxn>
                <a:cxn ang="0">
                  <a:pos x="63" y="84"/>
                </a:cxn>
                <a:cxn ang="0">
                  <a:pos x="63" y="99"/>
                </a:cxn>
                <a:cxn ang="0">
                  <a:pos x="63" y="114"/>
                </a:cxn>
                <a:cxn ang="0">
                  <a:pos x="48" y="114"/>
                </a:cxn>
                <a:cxn ang="0">
                  <a:pos x="32" y="114"/>
                </a:cxn>
                <a:cxn ang="0">
                  <a:pos x="17" y="114"/>
                </a:cxn>
                <a:cxn ang="0">
                  <a:pos x="2" y="114"/>
                </a:cxn>
              </a:cxnLst>
              <a:rect l="0" t="0" r="r" b="b"/>
              <a:pathLst>
                <a:path w="132" h="124">
                  <a:moveTo>
                    <a:pt x="2" y="114"/>
                  </a:moveTo>
                  <a:lnTo>
                    <a:pt x="0" y="124"/>
                  </a:lnTo>
                  <a:lnTo>
                    <a:pt x="0" y="114"/>
                  </a:lnTo>
                  <a:lnTo>
                    <a:pt x="11" y="91"/>
                  </a:lnTo>
                  <a:lnTo>
                    <a:pt x="21" y="70"/>
                  </a:lnTo>
                  <a:lnTo>
                    <a:pt x="18" y="72"/>
                  </a:lnTo>
                  <a:lnTo>
                    <a:pt x="31" y="58"/>
                  </a:lnTo>
                  <a:lnTo>
                    <a:pt x="36" y="43"/>
                  </a:lnTo>
                  <a:lnTo>
                    <a:pt x="42" y="30"/>
                  </a:lnTo>
                  <a:lnTo>
                    <a:pt x="54" y="18"/>
                  </a:lnTo>
                  <a:lnTo>
                    <a:pt x="63" y="0"/>
                  </a:lnTo>
                  <a:lnTo>
                    <a:pt x="80" y="0"/>
                  </a:lnTo>
                  <a:lnTo>
                    <a:pt x="98" y="0"/>
                  </a:lnTo>
                  <a:lnTo>
                    <a:pt x="115" y="0"/>
                  </a:lnTo>
                  <a:lnTo>
                    <a:pt x="132" y="0"/>
                  </a:lnTo>
                  <a:lnTo>
                    <a:pt x="132" y="7"/>
                  </a:lnTo>
                  <a:lnTo>
                    <a:pt x="132" y="30"/>
                  </a:lnTo>
                  <a:lnTo>
                    <a:pt x="119" y="30"/>
                  </a:lnTo>
                  <a:lnTo>
                    <a:pt x="107" y="30"/>
                  </a:lnTo>
                  <a:lnTo>
                    <a:pt x="93" y="30"/>
                  </a:lnTo>
                  <a:lnTo>
                    <a:pt x="80" y="30"/>
                  </a:lnTo>
                  <a:lnTo>
                    <a:pt x="80" y="53"/>
                  </a:lnTo>
                  <a:lnTo>
                    <a:pt x="79" y="76"/>
                  </a:lnTo>
                  <a:lnTo>
                    <a:pt x="63" y="84"/>
                  </a:lnTo>
                  <a:lnTo>
                    <a:pt x="63" y="99"/>
                  </a:lnTo>
                  <a:lnTo>
                    <a:pt x="63" y="114"/>
                  </a:lnTo>
                  <a:lnTo>
                    <a:pt x="48" y="114"/>
                  </a:lnTo>
                  <a:lnTo>
                    <a:pt x="32" y="114"/>
                  </a:lnTo>
                  <a:lnTo>
                    <a:pt x="17" y="114"/>
                  </a:lnTo>
                  <a:lnTo>
                    <a:pt x="2" y="1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grpSp>
      <p:sp>
        <p:nvSpPr>
          <p:cNvPr id="445" name="TextBox 599"/>
          <p:cNvSpPr txBox="1"/>
          <p:nvPr/>
        </p:nvSpPr>
        <p:spPr>
          <a:xfrm>
            <a:off x="7495627" y="3948025"/>
            <a:ext cx="4222761" cy="2113259"/>
          </a:xfrm>
          <a:prstGeom prst="roundRect">
            <a:avLst/>
          </a:prstGeom>
          <a:noFill/>
          <a:ln w="28575">
            <a:solidFill>
              <a:schemeClr val="accent1"/>
            </a:solidFill>
            <a:prstDash val="dashDot"/>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endParaRPr lang="en-GB" sz="1869" dirty="0">
              <a:solidFill>
                <a:prstClr val="black"/>
              </a:solidFill>
            </a:endParaRPr>
          </a:p>
        </p:txBody>
      </p:sp>
      <p:grpSp>
        <p:nvGrpSpPr>
          <p:cNvPr id="446" name="Group 445"/>
          <p:cNvGrpSpPr/>
          <p:nvPr/>
        </p:nvGrpSpPr>
        <p:grpSpPr>
          <a:xfrm>
            <a:off x="381805" y="1763278"/>
            <a:ext cx="3779722" cy="4065458"/>
            <a:chOff x="458769" y="1327309"/>
            <a:chExt cx="3847119" cy="4137950"/>
          </a:xfrm>
        </p:grpSpPr>
        <p:sp>
          <p:nvSpPr>
            <p:cNvPr id="447" name="Freeform 446"/>
            <p:cNvSpPr/>
            <p:nvPr/>
          </p:nvSpPr>
          <p:spPr>
            <a:xfrm rot="21365595" flipH="1" flipV="1">
              <a:off x="1361005" y="2521249"/>
              <a:ext cx="1883228" cy="608646"/>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48" name="Freeform 447"/>
            <p:cNvSpPr/>
            <p:nvPr/>
          </p:nvSpPr>
          <p:spPr>
            <a:xfrm rot="21287480" flipH="1" flipV="1">
              <a:off x="1322362" y="4080518"/>
              <a:ext cx="1970135" cy="334088"/>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grpSp>
          <p:nvGrpSpPr>
            <p:cNvPr id="449" name="Group 448"/>
            <p:cNvGrpSpPr/>
            <p:nvPr/>
          </p:nvGrpSpPr>
          <p:grpSpPr>
            <a:xfrm rot="10800000" flipH="1">
              <a:off x="458769" y="1327309"/>
              <a:ext cx="3847119" cy="4137950"/>
              <a:chOff x="3474598" y="1219201"/>
              <a:chExt cx="3702490" cy="4807347"/>
            </a:xfrm>
          </p:grpSpPr>
          <p:sp>
            <p:nvSpPr>
              <p:cNvPr id="450" name="Freeform 449"/>
              <p:cNvSpPr/>
              <p:nvPr/>
            </p:nvSpPr>
            <p:spPr>
              <a:xfrm>
                <a:off x="3494041" y="4040150"/>
                <a:ext cx="886981" cy="484968"/>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1" name="Freeform 450"/>
              <p:cNvSpPr/>
              <p:nvPr/>
            </p:nvSpPr>
            <p:spPr>
              <a:xfrm>
                <a:off x="3483565" y="2413795"/>
                <a:ext cx="873329" cy="516731"/>
              </a:xfrm>
              <a:custGeom>
                <a:avLst/>
                <a:gdLst>
                  <a:gd name="connsiteX0" fmla="*/ 0 w 819150"/>
                  <a:gd name="connsiteY0" fmla="*/ 523875 h 523875"/>
                  <a:gd name="connsiteX1" fmla="*/ 806450 w 819150"/>
                  <a:gd name="connsiteY1" fmla="*/ 339725 h 523875"/>
                  <a:gd name="connsiteX2" fmla="*/ 819150 w 819150"/>
                  <a:gd name="connsiteY2" fmla="*/ 0 h 523875"/>
                  <a:gd name="connsiteX3" fmla="*/ 6350 w 819150"/>
                  <a:gd name="connsiteY3" fmla="*/ 241300 h 523875"/>
                  <a:gd name="connsiteX4" fmla="*/ 0 w 819150"/>
                  <a:gd name="connsiteY4" fmla="*/ 523875 h 523875"/>
                  <a:gd name="connsiteX0" fmla="*/ 0 w 812006"/>
                  <a:gd name="connsiteY0" fmla="*/ 516731 h 516731"/>
                  <a:gd name="connsiteX1" fmla="*/ 806450 w 812006"/>
                  <a:gd name="connsiteY1" fmla="*/ 332581 h 516731"/>
                  <a:gd name="connsiteX2" fmla="*/ 812006 w 812006"/>
                  <a:gd name="connsiteY2" fmla="*/ 0 h 516731"/>
                  <a:gd name="connsiteX3" fmla="*/ 6350 w 812006"/>
                  <a:gd name="connsiteY3" fmla="*/ 234156 h 516731"/>
                  <a:gd name="connsiteX4" fmla="*/ 0 w 812006"/>
                  <a:gd name="connsiteY4" fmla="*/ 516731 h 516731"/>
                  <a:gd name="connsiteX0" fmla="*/ 0 w 813594"/>
                  <a:gd name="connsiteY0" fmla="*/ 516731 h 516731"/>
                  <a:gd name="connsiteX1" fmla="*/ 813594 w 813594"/>
                  <a:gd name="connsiteY1" fmla="*/ 330199 h 516731"/>
                  <a:gd name="connsiteX2" fmla="*/ 812006 w 813594"/>
                  <a:gd name="connsiteY2" fmla="*/ 0 h 516731"/>
                  <a:gd name="connsiteX3" fmla="*/ 6350 w 813594"/>
                  <a:gd name="connsiteY3" fmla="*/ 234156 h 516731"/>
                  <a:gd name="connsiteX4" fmla="*/ 0 w 813594"/>
                  <a:gd name="connsiteY4" fmla="*/ 516731 h 51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94" h="516731">
                    <a:moveTo>
                      <a:pt x="0" y="516731"/>
                    </a:moveTo>
                    <a:lnTo>
                      <a:pt x="813594" y="330199"/>
                    </a:lnTo>
                    <a:cubicBezTo>
                      <a:pt x="813065" y="220133"/>
                      <a:pt x="812535" y="110066"/>
                      <a:pt x="812006" y="0"/>
                    </a:cubicBezTo>
                    <a:lnTo>
                      <a:pt x="6350" y="234156"/>
                    </a:lnTo>
                    <a:cubicBezTo>
                      <a:pt x="5292" y="331523"/>
                      <a:pt x="4233" y="428889"/>
                      <a:pt x="0" y="5167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2" name="Freeform 451"/>
              <p:cNvSpPr/>
              <p:nvPr/>
            </p:nvSpPr>
            <p:spPr>
              <a:xfrm>
                <a:off x="4310063" y="2743200"/>
                <a:ext cx="2376487" cy="1376386"/>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354137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2368550"/>
                  <a:gd name="connsiteY0" fmla="*/ 0 h 1354137"/>
                  <a:gd name="connsiteX1" fmla="*/ 0 w 2368550"/>
                  <a:gd name="connsiteY1" fmla="*/ 1354137 h 1354137"/>
                  <a:gd name="connsiteX2" fmla="*/ 2368550 w 2368550"/>
                  <a:gd name="connsiteY2" fmla="*/ 1320800 h 1354137"/>
                  <a:gd name="connsiteX3" fmla="*/ 1816100 w 2368550"/>
                  <a:gd name="connsiteY3" fmla="*/ 469900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8550" h="1354137">
                    <a:moveTo>
                      <a:pt x="6350" y="0"/>
                    </a:moveTo>
                    <a:cubicBezTo>
                      <a:pt x="4233" y="389467"/>
                      <a:pt x="2117" y="964670"/>
                      <a:pt x="0" y="1354137"/>
                    </a:cubicBezTo>
                    <a:lnTo>
                      <a:pt x="2368550" y="1320800"/>
                    </a:lnTo>
                    <a:lnTo>
                      <a:pt x="2354262" y="379412"/>
                    </a:lnTo>
                    <a:cubicBezTo>
                      <a:pt x="2345266" y="281780"/>
                      <a:pt x="2331508" y="203993"/>
                      <a:pt x="2193925" y="169862"/>
                    </a:cubicBezTo>
                    <a:lnTo>
                      <a:pt x="6350" y="0"/>
                    </a:lnTo>
                    <a:close/>
                  </a:path>
                </a:pathLst>
              </a:custGeom>
              <a:solidFill>
                <a:schemeClr val="accent1">
                  <a:lumMod val="20000"/>
                  <a:lumOff val="8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3" name="Freeform 452"/>
              <p:cNvSpPr/>
              <p:nvPr/>
            </p:nvSpPr>
            <p:spPr>
              <a:xfrm>
                <a:off x="4322764" y="4356465"/>
                <a:ext cx="2854324" cy="1670050"/>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354137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2368550"/>
                  <a:gd name="connsiteY0" fmla="*/ 0 h 1354137"/>
                  <a:gd name="connsiteX1" fmla="*/ 0 w 2368550"/>
                  <a:gd name="connsiteY1" fmla="*/ 1354137 h 1354137"/>
                  <a:gd name="connsiteX2" fmla="*/ 2368550 w 2368550"/>
                  <a:gd name="connsiteY2" fmla="*/ 1320800 h 1354137"/>
                  <a:gd name="connsiteX3" fmla="*/ 1816100 w 2368550"/>
                  <a:gd name="connsiteY3" fmla="*/ 469900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11112 w 2373312"/>
                  <a:gd name="connsiteY0" fmla="*/ 0 h 1520824"/>
                  <a:gd name="connsiteX1" fmla="*/ 0 w 2373312"/>
                  <a:gd name="connsiteY1" fmla="*/ 1520824 h 1520824"/>
                  <a:gd name="connsiteX2" fmla="*/ 2373312 w 2373312"/>
                  <a:gd name="connsiteY2" fmla="*/ 1320800 h 1520824"/>
                  <a:gd name="connsiteX3" fmla="*/ 2359024 w 2373312"/>
                  <a:gd name="connsiteY3" fmla="*/ 379412 h 1520824"/>
                  <a:gd name="connsiteX4" fmla="*/ 2198687 w 2373312"/>
                  <a:gd name="connsiteY4" fmla="*/ 169862 h 1520824"/>
                  <a:gd name="connsiteX5" fmla="*/ 11112 w 2373312"/>
                  <a:gd name="connsiteY5" fmla="*/ 0 h 1520824"/>
                  <a:gd name="connsiteX0" fmla="*/ 1587 w 2363787"/>
                  <a:gd name="connsiteY0" fmla="*/ 0 h 1516062"/>
                  <a:gd name="connsiteX1" fmla="*/ 0 w 2363787"/>
                  <a:gd name="connsiteY1" fmla="*/ 1516062 h 1516062"/>
                  <a:gd name="connsiteX2" fmla="*/ 2363787 w 2363787"/>
                  <a:gd name="connsiteY2" fmla="*/ 1320800 h 1516062"/>
                  <a:gd name="connsiteX3" fmla="*/ 2349499 w 2363787"/>
                  <a:gd name="connsiteY3" fmla="*/ 379412 h 1516062"/>
                  <a:gd name="connsiteX4" fmla="*/ 2189162 w 2363787"/>
                  <a:gd name="connsiteY4" fmla="*/ 169862 h 1516062"/>
                  <a:gd name="connsiteX5" fmla="*/ 1587 w 2363787"/>
                  <a:gd name="connsiteY5" fmla="*/ 0 h 1516062"/>
                  <a:gd name="connsiteX0" fmla="*/ 1587 w 2844799"/>
                  <a:gd name="connsiteY0" fmla="*/ 0 h 1516062"/>
                  <a:gd name="connsiteX1" fmla="*/ 0 w 2844799"/>
                  <a:gd name="connsiteY1" fmla="*/ 1516062 h 1516062"/>
                  <a:gd name="connsiteX2" fmla="*/ 2844799 w 2844799"/>
                  <a:gd name="connsiteY2" fmla="*/ 1063625 h 1516062"/>
                  <a:gd name="connsiteX3" fmla="*/ 2349499 w 2844799"/>
                  <a:gd name="connsiteY3" fmla="*/ 379412 h 1516062"/>
                  <a:gd name="connsiteX4" fmla="*/ 2189162 w 2844799"/>
                  <a:gd name="connsiteY4" fmla="*/ 169862 h 1516062"/>
                  <a:gd name="connsiteX5" fmla="*/ 1587 w 2844799"/>
                  <a:gd name="connsiteY5" fmla="*/ 0 h 1516062"/>
                  <a:gd name="connsiteX0" fmla="*/ 1587 w 2844799"/>
                  <a:gd name="connsiteY0" fmla="*/ 153988 h 1670050"/>
                  <a:gd name="connsiteX1" fmla="*/ 0 w 2844799"/>
                  <a:gd name="connsiteY1" fmla="*/ 1670050 h 1670050"/>
                  <a:gd name="connsiteX2" fmla="*/ 2844799 w 2844799"/>
                  <a:gd name="connsiteY2" fmla="*/ 1217613 h 1670050"/>
                  <a:gd name="connsiteX3" fmla="*/ 2349499 w 2844799"/>
                  <a:gd name="connsiteY3" fmla="*/ 533400 h 1670050"/>
                  <a:gd name="connsiteX4" fmla="*/ 2651124 w 2844799"/>
                  <a:gd name="connsiteY4" fmla="*/ 0 h 1670050"/>
                  <a:gd name="connsiteX5" fmla="*/ 1587 w 2844799"/>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9561 w 2854324"/>
                  <a:gd name="connsiteY2" fmla="*/ 1208088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49226 h 1670050"/>
                  <a:gd name="connsiteX1" fmla="*/ 0 w 2854324"/>
                  <a:gd name="connsiteY1" fmla="*/ 1670050 h 1670050"/>
                  <a:gd name="connsiteX2" fmla="*/ 2849561 w 2854324"/>
                  <a:gd name="connsiteY2" fmla="*/ 1208088 h 1670050"/>
                  <a:gd name="connsiteX3" fmla="*/ 2854324 w 2854324"/>
                  <a:gd name="connsiteY3" fmla="*/ 304800 h 1670050"/>
                  <a:gd name="connsiteX4" fmla="*/ 2651124 w 2854324"/>
                  <a:gd name="connsiteY4" fmla="*/ 0 h 1670050"/>
                  <a:gd name="connsiteX5" fmla="*/ 1587 w 2854324"/>
                  <a:gd name="connsiteY5" fmla="*/ 149226 h 167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4324" h="1670050">
                    <a:moveTo>
                      <a:pt x="1587" y="149226"/>
                    </a:moveTo>
                    <a:cubicBezTo>
                      <a:pt x="-530" y="538693"/>
                      <a:pt x="2117" y="1280583"/>
                      <a:pt x="0" y="1670050"/>
                    </a:cubicBezTo>
                    <a:lnTo>
                      <a:pt x="2849561" y="1208088"/>
                    </a:lnTo>
                    <a:cubicBezTo>
                      <a:pt x="2851149" y="906992"/>
                      <a:pt x="2852736" y="605896"/>
                      <a:pt x="2854324" y="304800"/>
                    </a:cubicBezTo>
                    <a:cubicBezTo>
                      <a:pt x="2850090" y="159543"/>
                      <a:pt x="2826807" y="29368"/>
                      <a:pt x="2651124" y="0"/>
                    </a:cubicBezTo>
                    <a:lnTo>
                      <a:pt x="1587" y="149226"/>
                    </a:lnTo>
                    <a:close/>
                  </a:path>
                </a:pathLst>
              </a:custGeom>
              <a:solidFill>
                <a:schemeClr val="accent1">
                  <a:lumMod val="20000"/>
                  <a:lumOff val="8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4" name="Freeform 453"/>
              <p:cNvSpPr/>
              <p:nvPr/>
            </p:nvSpPr>
            <p:spPr>
              <a:xfrm>
                <a:off x="4318000" y="1219201"/>
                <a:ext cx="1889449" cy="1379224"/>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16100" h="1358900">
                    <a:moveTo>
                      <a:pt x="6350" y="0"/>
                    </a:moveTo>
                    <a:cubicBezTo>
                      <a:pt x="4233" y="389467"/>
                      <a:pt x="2117" y="778933"/>
                      <a:pt x="0" y="1168400"/>
                    </a:cubicBezTo>
                    <a:lnTo>
                      <a:pt x="1816100" y="1358900"/>
                    </a:lnTo>
                    <a:lnTo>
                      <a:pt x="1816100" y="469900"/>
                    </a:lnTo>
                    <a:cubicBezTo>
                      <a:pt x="1797579" y="378618"/>
                      <a:pt x="1750483" y="342106"/>
                      <a:pt x="1689100" y="317500"/>
                    </a:cubicBezTo>
                    <a:lnTo>
                      <a:pt x="6350" y="0"/>
                    </a:lnTo>
                    <a:close/>
                  </a:path>
                </a:pathLst>
              </a:custGeom>
              <a:solidFill>
                <a:schemeClr val="accent1">
                  <a:lumMod val="20000"/>
                  <a:lumOff val="8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5" name="Parallelogram 4"/>
              <p:cNvSpPr/>
              <p:nvPr/>
            </p:nvSpPr>
            <p:spPr>
              <a:xfrm>
                <a:off x="3474598" y="1222375"/>
                <a:ext cx="851609" cy="1461294"/>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4616 w 851468"/>
                  <a:gd name="connsiteY0" fmla="*/ 1422234 h 1422234"/>
                  <a:gd name="connsiteX1" fmla="*/ 0 w 851468"/>
                  <a:gd name="connsiteY1" fmla="*/ 463091 h 1422234"/>
                  <a:gd name="connsiteX2" fmla="*/ 851339 w 851468"/>
                  <a:gd name="connsiteY2" fmla="*/ 0 h 1422234"/>
                  <a:gd name="connsiteX3" fmla="*/ 841668 w 851468"/>
                  <a:gd name="connsiteY3" fmla="*/ 1174584 h 1422234"/>
                  <a:gd name="connsiteX4" fmla="*/ 4616 w 851468"/>
                  <a:gd name="connsiteY4" fmla="*/ 1422234 h 1422234"/>
                  <a:gd name="connsiteX0" fmla="*/ 4616 w 851767"/>
                  <a:gd name="connsiteY0" fmla="*/ 1422234 h 1422234"/>
                  <a:gd name="connsiteX1" fmla="*/ 0 w 851767"/>
                  <a:gd name="connsiteY1" fmla="*/ 463091 h 1422234"/>
                  <a:gd name="connsiteX2" fmla="*/ 851339 w 851767"/>
                  <a:gd name="connsiteY2" fmla="*/ 0 h 1422234"/>
                  <a:gd name="connsiteX3" fmla="*/ 851193 w 851767"/>
                  <a:gd name="connsiteY3" fmla="*/ 1160641 h 1422234"/>
                  <a:gd name="connsiteX4" fmla="*/ 4616 w 851767"/>
                  <a:gd name="connsiteY4" fmla="*/ 1422234 h 1422234"/>
                  <a:gd name="connsiteX0" fmla="*/ 4616 w 851609"/>
                  <a:gd name="connsiteY0" fmla="*/ 1422234 h 1422234"/>
                  <a:gd name="connsiteX1" fmla="*/ 0 w 851609"/>
                  <a:gd name="connsiteY1" fmla="*/ 463091 h 1422234"/>
                  <a:gd name="connsiteX2" fmla="*/ 851339 w 851609"/>
                  <a:gd name="connsiteY2" fmla="*/ 0 h 1422234"/>
                  <a:gd name="connsiteX3" fmla="*/ 848812 w 851609"/>
                  <a:gd name="connsiteY3" fmla="*/ 1169937 h 1422234"/>
                  <a:gd name="connsiteX4" fmla="*/ 4616 w 851609"/>
                  <a:gd name="connsiteY4" fmla="*/ 1422234 h 1422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609" h="1422234">
                    <a:moveTo>
                      <a:pt x="4616" y="1422234"/>
                    </a:moveTo>
                    <a:cubicBezTo>
                      <a:pt x="3077" y="1102520"/>
                      <a:pt x="1539" y="782805"/>
                      <a:pt x="0" y="463091"/>
                    </a:cubicBezTo>
                    <a:lnTo>
                      <a:pt x="851339" y="0"/>
                    </a:lnTo>
                    <a:cubicBezTo>
                      <a:pt x="852878" y="385331"/>
                      <a:pt x="847273" y="784606"/>
                      <a:pt x="848812" y="1169937"/>
                    </a:cubicBezTo>
                    <a:lnTo>
                      <a:pt x="4616" y="1422234"/>
                    </a:lnTo>
                    <a:close/>
                  </a:path>
                </a:pathLst>
              </a:custGeom>
              <a:solidFill>
                <a:schemeClr val="accent1">
                  <a:lumMod val="40000"/>
                  <a:lumOff val="6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6" name="Parallelogram 4"/>
              <p:cNvSpPr/>
              <p:nvPr/>
            </p:nvSpPr>
            <p:spPr>
              <a:xfrm>
                <a:off x="3486583" y="4382399"/>
                <a:ext cx="842465" cy="1644149"/>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155993 h 1403643"/>
                  <a:gd name="connsiteX4" fmla="*/ 252 w 837304"/>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384593 h 1403643"/>
                  <a:gd name="connsiteX4" fmla="*/ 252 w 837304"/>
                  <a:gd name="connsiteY4" fmla="*/ 1403643 h 1403643"/>
                  <a:gd name="connsiteX0" fmla="*/ 252 w 837304"/>
                  <a:gd name="connsiteY0" fmla="*/ 1304583 h 1384593"/>
                  <a:gd name="connsiteX1" fmla="*/ 3256 w 837304"/>
                  <a:gd name="connsiteY1" fmla="*/ 193040 h 1384593"/>
                  <a:gd name="connsiteX2" fmla="*/ 832688 w 837304"/>
                  <a:gd name="connsiteY2" fmla="*/ 0 h 1384593"/>
                  <a:gd name="connsiteX3" fmla="*/ 837304 w 837304"/>
                  <a:gd name="connsiteY3" fmla="*/ 1384593 h 1384593"/>
                  <a:gd name="connsiteX4" fmla="*/ 252 w 837304"/>
                  <a:gd name="connsiteY4" fmla="*/ 1304583 h 138459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44924"/>
                  <a:gd name="connsiteY0" fmla="*/ 1304583 h 1338873"/>
                  <a:gd name="connsiteX1" fmla="*/ 3256 w 844924"/>
                  <a:gd name="connsiteY1" fmla="*/ 193040 h 1338873"/>
                  <a:gd name="connsiteX2" fmla="*/ 832688 w 844924"/>
                  <a:gd name="connsiteY2" fmla="*/ 0 h 1338873"/>
                  <a:gd name="connsiteX3" fmla="*/ 844924 w 844924"/>
                  <a:gd name="connsiteY3" fmla="*/ 1338873 h 1338873"/>
                  <a:gd name="connsiteX4" fmla="*/ 252 w 844924"/>
                  <a:gd name="connsiteY4" fmla="*/ 1304583 h 133887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28172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28172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1223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12236 w 829683"/>
                  <a:gd name="connsiteY4" fmla="*/ 1296963 h 1354113"/>
                  <a:gd name="connsiteX0" fmla="*/ 461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296963 h 1354113"/>
                  <a:gd name="connsiteX0" fmla="*/ 73196 w 829683"/>
                  <a:gd name="connsiteY0" fmla="*/ 1350303 h 1354113"/>
                  <a:gd name="connsiteX1" fmla="*/ 0 w 829683"/>
                  <a:gd name="connsiteY1" fmla="*/ 193040 h 1354113"/>
                  <a:gd name="connsiteX2" fmla="*/ 829432 w 829683"/>
                  <a:gd name="connsiteY2" fmla="*/ 0 h 1354113"/>
                  <a:gd name="connsiteX3" fmla="*/ 826428 w 829683"/>
                  <a:gd name="connsiteY3" fmla="*/ 1354113 h 1354113"/>
                  <a:gd name="connsiteX4" fmla="*/ 73196 w 829683"/>
                  <a:gd name="connsiteY4" fmla="*/ 1350303 h 1354113"/>
                  <a:gd name="connsiteX0" fmla="*/ 4616 w 829683"/>
                  <a:gd name="connsiteY0" fmla="*/ 131982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319823 h 1354113"/>
                  <a:gd name="connsiteX0" fmla="*/ 121 w 825188"/>
                  <a:gd name="connsiteY0" fmla="*/ 1319823 h 1354113"/>
                  <a:gd name="connsiteX1" fmla="*/ 10745 w 825188"/>
                  <a:gd name="connsiteY1" fmla="*/ 78740 h 1354113"/>
                  <a:gd name="connsiteX2" fmla="*/ 824937 w 825188"/>
                  <a:gd name="connsiteY2" fmla="*/ 0 h 1354113"/>
                  <a:gd name="connsiteX3" fmla="*/ 821933 w 825188"/>
                  <a:gd name="connsiteY3" fmla="*/ 1354113 h 1354113"/>
                  <a:gd name="connsiteX4" fmla="*/ 121 w 825188"/>
                  <a:gd name="connsiteY4" fmla="*/ 1319823 h 1354113"/>
                  <a:gd name="connsiteX0" fmla="*/ 121 w 825188"/>
                  <a:gd name="connsiteY0" fmla="*/ 1241083 h 1275373"/>
                  <a:gd name="connsiteX1" fmla="*/ 10745 w 825188"/>
                  <a:gd name="connsiteY1" fmla="*/ 0 h 1275373"/>
                  <a:gd name="connsiteX2" fmla="*/ 824937 w 825188"/>
                  <a:gd name="connsiteY2" fmla="*/ 104140 h 1275373"/>
                  <a:gd name="connsiteX3" fmla="*/ 821933 w 825188"/>
                  <a:gd name="connsiteY3" fmla="*/ 1275373 h 1275373"/>
                  <a:gd name="connsiteX4" fmla="*/ 121 w 825188"/>
                  <a:gd name="connsiteY4" fmla="*/ 1241083 h 1275373"/>
                  <a:gd name="connsiteX0" fmla="*/ 121 w 825188"/>
                  <a:gd name="connsiteY0" fmla="*/ 1241083 h 1641133"/>
                  <a:gd name="connsiteX1" fmla="*/ 10745 w 825188"/>
                  <a:gd name="connsiteY1" fmla="*/ 0 h 1641133"/>
                  <a:gd name="connsiteX2" fmla="*/ 824937 w 825188"/>
                  <a:gd name="connsiteY2" fmla="*/ 104140 h 1641133"/>
                  <a:gd name="connsiteX3" fmla="*/ 821933 w 825188"/>
                  <a:gd name="connsiteY3" fmla="*/ 1641133 h 1641133"/>
                  <a:gd name="connsiteX4" fmla="*/ 121 w 825188"/>
                  <a:gd name="connsiteY4" fmla="*/ 1241083 h 1641133"/>
                  <a:gd name="connsiteX0" fmla="*/ 121 w 825188"/>
                  <a:gd name="connsiteY0" fmla="*/ 1225843 h 1641133"/>
                  <a:gd name="connsiteX1" fmla="*/ 10745 w 825188"/>
                  <a:gd name="connsiteY1" fmla="*/ 0 h 1641133"/>
                  <a:gd name="connsiteX2" fmla="*/ 824937 w 825188"/>
                  <a:gd name="connsiteY2" fmla="*/ 104140 h 1641133"/>
                  <a:gd name="connsiteX3" fmla="*/ 821933 w 825188"/>
                  <a:gd name="connsiteY3" fmla="*/ 1641133 h 1641133"/>
                  <a:gd name="connsiteX4" fmla="*/ 121 w 825188"/>
                  <a:gd name="connsiteY4" fmla="*/ 1225843 h 1641133"/>
                  <a:gd name="connsiteX0" fmla="*/ 251 w 825318"/>
                  <a:gd name="connsiteY0" fmla="*/ 1210603 h 1625893"/>
                  <a:gd name="connsiteX1" fmla="*/ 3255 w 825318"/>
                  <a:gd name="connsiteY1" fmla="*/ 0 h 1625893"/>
                  <a:gd name="connsiteX2" fmla="*/ 825067 w 825318"/>
                  <a:gd name="connsiteY2" fmla="*/ 88900 h 1625893"/>
                  <a:gd name="connsiteX3" fmla="*/ 822063 w 825318"/>
                  <a:gd name="connsiteY3" fmla="*/ 1625893 h 1625893"/>
                  <a:gd name="connsiteX4" fmla="*/ 251 w 825318"/>
                  <a:gd name="connsiteY4" fmla="*/ 1210603 h 1625893"/>
                  <a:gd name="connsiteX0" fmla="*/ 251 w 825318"/>
                  <a:gd name="connsiteY0" fmla="*/ 1245528 h 1660818"/>
                  <a:gd name="connsiteX1" fmla="*/ 3255 w 825318"/>
                  <a:gd name="connsiteY1" fmla="*/ 0 h 1660818"/>
                  <a:gd name="connsiteX2" fmla="*/ 825067 w 825318"/>
                  <a:gd name="connsiteY2" fmla="*/ 123825 h 1660818"/>
                  <a:gd name="connsiteX3" fmla="*/ 822063 w 825318"/>
                  <a:gd name="connsiteY3" fmla="*/ 1660818 h 1660818"/>
                  <a:gd name="connsiteX4" fmla="*/ 251 w 825318"/>
                  <a:gd name="connsiteY4" fmla="*/ 1245528 h 1660818"/>
                  <a:gd name="connsiteX0" fmla="*/ 251 w 825255"/>
                  <a:gd name="connsiteY0" fmla="*/ 1245528 h 1644149"/>
                  <a:gd name="connsiteX1" fmla="*/ 3255 w 825255"/>
                  <a:gd name="connsiteY1" fmla="*/ 0 h 1644149"/>
                  <a:gd name="connsiteX2" fmla="*/ 825067 w 825255"/>
                  <a:gd name="connsiteY2" fmla="*/ 123825 h 1644149"/>
                  <a:gd name="connsiteX3" fmla="*/ 819731 w 825255"/>
                  <a:gd name="connsiteY3" fmla="*/ 1644149 h 1644149"/>
                  <a:gd name="connsiteX4" fmla="*/ 251 w 825255"/>
                  <a:gd name="connsiteY4" fmla="*/ 1245528 h 164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55" h="1644149">
                    <a:moveTo>
                      <a:pt x="251" y="1245528"/>
                    </a:moveTo>
                    <a:cubicBezTo>
                      <a:pt x="-1288" y="925814"/>
                      <a:pt x="4794" y="319714"/>
                      <a:pt x="3255" y="0"/>
                    </a:cubicBezTo>
                    <a:lnTo>
                      <a:pt x="825067" y="123825"/>
                    </a:lnTo>
                    <a:cubicBezTo>
                      <a:pt x="826606" y="509156"/>
                      <a:pt x="818192" y="1258818"/>
                      <a:pt x="819731" y="1644149"/>
                    </a:cubicBezTo>
                    <a:lnTo>
                      <a:pt x="251" y="1245528"/>
                    </a:lnTo>
                    <a:close/>
                  </a:path>
                </a:pathLst>
              </a:custGeom>
              <a:solidFill>
                <a:schemeClr val="accent1">
                  <a:lumMod val="40000"/>
                  <a:lumOff val="60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7" name="Parallelogram 4"/>
              <p:cNvSpPr/>
              <p:nvPr/>
            </p:nvSpPr>
            <p:spPr>
              <a:xfrm>
                <a:off x="3485393" y="2745581"/>
                <a:ext cx="836575" cy="1373982"/>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155993 h 1403643"/>
                  <a:gd name="connsiteX4" fmla="*/ 252 w 837304"/>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384593 h 1403643"/>
                  <a:gd name="connsiteX4" fmla="*/ 252 w 837304"/>
                  <a:gd name="connsiteY4" fmla="*/ 1403643 h 1403643"/>
                  <a:gd name="connsiteX0" fmla="*/ 252 w 837304"/>
                  <a:gd name="connsiteY0" fmla="*/ 1304583 h 1384593"/>
                  <a:gd name="connsiteX1" fmla="*/ 3256 w 837304"/>
                  <a:gd name="connsiteY1" fmla="*/ 193040 h 1384593"/>
                  <a:gd name="connsiteX2" fmla="*/ 832688 w 837304"/>
                  <a:gd name="connsiteY2" fmla="*/ 0 h 1384593"/>
                  <a:gd name="connsiteX3" fmla="*/ 837304 w 837304"/>
                  <a:gd name="connsiteY3" fmla="*/ 1384593 h 1384593"/>
                  <a:gd name="connsiteX4" fmla="*/ 252 w 837304"/>
                  <a:gd name="connsiteY4" fmla="*/ 1304583 h 138459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44924"/>
                  <a:gd name="connsiteY0" fmla="*/ 1304583 h 1338873"/>
                  <a:gd name="connsiteX1" fmla="*/ 3256 w 844924"/>
                  <a:gd name="connsiteY1" fmla="*/ 193040 h 1338873"/>
                  <a:gd name="connsiteX2" fmla="*/ 832688 w 844924"/>
                  <a:gd name="connsiteY2" fmla="*/ 0 h 1338873"/>
                  <a:gd name="connsiteX3" fmla="*/ 844924 w 844924"/>
                  <a:gd name="connsiteY3" fmla="*/ 1338873 h 1338873"/>
                  <a:gd name="connsiteX4" fmla="*/ 252 w 844924"/>
                  <a:gd name="connsiteY4" fmla="*/ 1304583 h 133887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28172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28172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1223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12236 w 829683"/>
                  <a:gd name="connsiteY4" fmla="*/ 1296963 h 1354113"/>
                  <a:gd name="connsiteX0" fmla="*/ 461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296963 h 1354113"/>
                  <a:gd name="connsiteX0" fmla="*/ 4616 w 829683"/>
                  <a:gd name="connsiteY0" fmla="*/ 1319188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319188 h 1354113"/>
                  <a:gd name="connsiteX0" fmla="*/ 1441 w 826508"/>
                  <a:gd name="connsiteY0" fmla="*/ 1319188 h 1354113"/>
                  <a:gd name="connsiteX1" fmla="*/ 0 w 826508"/>
                  <a:gd name="connsiteY1" fmla="*/ 196215 h 1354113"/>
                  <a:gd name="connsiteX2" fmla="*/ 826257 w 826508"/>
                  <a:gd name="connsiteY2" fmla="*/ 0 h 1354113"/>
                  <a:gd name="connsiteX3" fmla="*/ 823253 w 826508"/>
                  <a:gd name="connsiteY3" fmla="*/ 1354113 h 1354113"/>
                  <a:gd name="connsiteX4" fmla="*/ 1441 w 826508"/>
                  <a:gd name="connsiteY4" fmla="*/ 1319188 h 1354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08" h="1354113">
                    <a:moveTo>
                      <a:pt x="1441" y="1319188"/>
                    </a:moveTo>
                    <a:cubicBezTo>
                      <a:pt x="-98" y="999474"/>
                      <a:pt x="1539" y="515929"/>
                      <a:pt x="0" y="196215"/>
                    </a:cubicBezTo>
                    <a:lnTo>
                      <a:pt x="826257" y="0"/>
                    </a:lnTo>
                    <a:cubicBezTo>
                      <a:pt x="827796" y="385331"/>
                      <a:pt x="821714" y="968782"/>
                      <a:pt x="823253" y="1354113"/>
                    </a:cubicBezTo>
                    <a:lnTo>
                      <a:pt x="1441" y="1319188"/>
                    </a:lnTo>
                    <a:close/>
                  </a:path>
                </a:pathLst>
              </a:custGeom>
              <a:solidFill>
                <a:schemeClr val="accent1">
                  <a:lumMod val="40000"/>
                  <a:lumOff val="6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8" name="Down Arrow 457"/>
              <p:cNvSpPr/>
              <p:nvPr/>
            </p:nvSpPr>
            <p:spPr>
              <a:xfrm rot="10635248" flipV="1">
                <a:off x="3513231" y="2021116"/>
                <a:ext cx="269982" cy="375120"/>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pic>
            <p:nvPicPr>
              <p:cNvPr id="459" name="Picture 458"/>
              <p:cNvPicPr>
                <a:picLocks noChangeAspect="1"/>
              </p:cNvPicPr>
              <p:nvPr/>
            </p:nvPicPr>
            <p:blipFill>
              <a:blip r:embed="rId2" cstate="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10800000">
                <a:off x="5656110" y="1876644"/>
                <a:ext cx="566776" cy="566777"/>
              </a:xfrm>
              <a:prstGeom prst="rect">
                <a:avLst/>
              </a:prstGeom>
            </p:spPr>
          </p:pic>
          <p:pic>
            <p:nvPicPr>
              <p:cNvPr id="460" name="Picture 459"/>
              <p:cNvPicPr>
                <a:picLocks noChangeAspect="1"/>
              </p:cNvPicPr>
              <p:nvPr/>
            </p:nvPicPr>
            <p:blipFill>
              <a:blip r:embed="rId3" cstate="print">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5905013" y="3112482"/>
                <a:ext cx="685800" cy="685800"/>
              </a:xfrm>
              <a:prstGeom prst="rect">
                <a:avLst/>
              </a:prstGeom>
            </p:spPr>
          </p:pic>
          <p:pic>
            <p:nvPicPr>
              <p:cNvPr id="461" name="Picture 460"/>
              <p:cNvPicPr>
                <a:picLocks noChangeAspect="1"/>
              </p:cNvPicPr>
              <p:nvPr/>
            </p:nvPicPr>
            <p:blipFill>
              <a:blip r:embed="rId4" cstate="print">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rot="10800000" flipH="1">
                <a:off x="6328896" y="4715851"/>
                <a:ext cx="703089" cy="703089"/>
              </a:xfrm>
              <a:prstGeom prst="rect">
                <a:avLst/>
              </a:prstGeom>
            </p:spPr>
          </p:pic>
          <p:sp>
            <p:nvSpPr>
              <p:cNvPr id="462" name="Down Arrow 461"/>
              <p:cNvSpPr/>
              <p:nvPr/>
            </p:nvSpPr>
            <p:spPr>
              <a:xfrm>
                <a:off x="3533774" y="3627089"/>
                <a:ext cx="211701" cy="413058"/>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63" name="Down Arrow 462"/>
              <p:cNvSpPr/>
              <p:nvPr/>
            </p:nvSpPr>
            <p:spPr>
              <a:xfrm>
                <a:off x="3533775" y="5114189"/>
                <a:ext cx="243131" cy="418271"/>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grpSp>
      </p:grpSp>
      <p:sp>
        <p:nvSpPr>
          <p:cNvPr id="464" name="TextBox 127"/>
          <p:cNvSpPr txBox="1"/>
          <p:nvPr/>
        </p:nvSpPr>
        <p:spPr>
          <a:xfrm>
            <a:off x="467605" y="2544751"/>
            <a:ext cx="716566" cy="332623"/>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2034F</a:t>
            </a:r>
          </a:p>
        </p:txBody>
      </p:sp>
      <p:sp>
        <p:nvSpPr>
          <p:cNvPr id="465" name="TextBox 128"/>
          <p:cNvSpPr txBox="1"/>
          <p:nvPr/>
        </p:nvSpPr>
        <p:spPr>
          <a:xfrm>
            <a:off x="152400" y="1131579"/>
            <a:ext cx="5791200" cy="502920"/>
          </a:xfrm>
          <a:prstGeom prst="rect">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pPr algn="ctr"/>
            <a:r>
              <a:rPr lang="en-GB" sz="1376" b="1" dirty="0">
                <a:solidFill>
                  <a:prstClr val="black"/>
                </a:solidFill>
              </a:rPr>
              <a:t>Latin America WXYZ Market Value (US$ </a:t>
            </a:r>
            <a:r>
              <a:rPr lang="en-GB" sz="1376" b="1" dirty="0" err="1">
                <a:solidFill>
                  <a:prstClr val="black"/>
                </a:solidFill>
              </a:rPr>
              <a:t>Mn</a:t>
            </a:r>
            <a:r>
              <a:rPr lang="en-GB" sz="1376" b="1" dirty="0">
                <a:solidFill>
                  <a:prstClr val="black"/>
                </a:solidFill>
              </a:rPr>
              <a:t>)</a:t>
            </a:r>
          </a:p>
        </p:txBody>
      </p:sp>
      <p:sp>
        <p:nvSpPr>
          <p:cNvPr id="466" name="TextBox 129"/>
          <p:cNvSpPr txBox="1"/>
          <p:nvPr/>
        </p:nvSpPr>
        <p:spPr>
          <a:xfrm>
            <a:off x="467605" y="3945797"/>
            <a:ext cx="716566" cy="334259"/>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2029F</a:t>
            </a:r>
          </a:p>
        </p:txBody>
      </p:sp>
      <p:sp>
        <p:nvSpPr>
          <p:cNvPr id="467" name="TextBox 130"/>
          <p:cNvSpPr txBox="1"/>
          <p:nvPr/>
        </p:nvSpPr>
        <p:spPr>
          <a:xfrm>
            <a:off x="467605" y="5165028"/>
            <a:ext cx="716566" cy="332623"/>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2024E</a:t>
            </a:r>
          </a:p>
        </p:txBody>
      </p:sp>
      <p:sp>
        <p:nvSpPr>
          <p:cNvPr id="468" name="TextBox 131"/>
          <p:cNvSpPr txBox="1"/>
          <p:nvPr/>
        </p:nvSpPr>
        <p:spPr>
          <a:xfrm>
            <a:off x="1269734" y="2205145"/>
            <a:ext cx="1593183"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solidFill>
                <a:prstClr val="black"/>
              </a:solidFill>
            </a:endParaRPr>
          </a:p>
          <a:p>
            <a:pPr algn="ctr"/>
            <a:r>
              <a:rPr lang="en-US" sz="1800" b="1" dirty="0" err="1">
                <a:solidFill>
                  <a:prstClr val="black"/>
                </a:solidFill>
              </a:rPr>
              <a:t>Mn</a:t>
            </a:r>
            <a:endParaRPr lang="en-US" sz="1800" b="1" dirty="0">
              <a:solidFill>
                <a:prstClr val="black"/>
              </a:solidFill>
            </a:endParaRPr>
          </a:p>
        </p:txBody>
      </p:sp>
      <p:sp>
        <p:nvSpPr>
          <p:cNvPr id="469" name="TextBox 132"/>
          <p:cNvSpPr txBox="1"/>
          <p:nvPr/>
        </p:nvSpPr>
        <p:spPr>
          <a:xfrm>
            <a:off x="1269734" y="3667727"/>
            <a:ext cx="1368961"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p>
          <a:p>
            <a:pPr algn="ctr"/>
            <a:r>
              <a:rPr lang="en-US" sz="1800" b="1" dirty="0" err="1">
                <a:solidFill>
                  <a:prstClr val="black"/>
                </a:solidFill>
              </a:rPr>
              <a:t>Mn</a:t>
            </a:r>
            <a:endParaRPr lang="en-US" sz="1800" b="1" dirty="0">
              <a:solidFill>
                <a:prstClr val="black"/>
              </a:solidFill>
            </a:endParaRPr>
          </a:p>
        </p:txBody>
      </p:sp>
      <p:sp>
        <p:nvSpPr>
          <p:cNvPr id="470" name="TextBox 133"/>
          <p:cNvSpPr txBox="1"/>
          <p:nvPr/>
        </p:nvSpPr>
        <p:spPr>
          <a:xfrm>
            <a:off x="1269734" y="4940208"/>
            <a:ext cx="1368961"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p>
          <a:p>
            <a:pPr algn="ctr"/>
            <a:r>
              <a:rPr lang="en-US" sz="1800" b="1" dirty="0" err="1">
                <a:solidFill>
                  <a:prstClr val="black"/>
                </a:solidFill>
              </a:rPr>
              <a:t>Mn</a:t>
            </a:r>
            <a:endParaRPr lang="en-US" sz="1800" b="1" dirty="0">
              <a:solidFill>
                <a:prstClr val="black"/>
              </a:solidFill>
            </a:endParaRPr>
          </a:p>
        </p:txBody>
      </p:sp>
      <p:cxnSp>
        <p:nvCxnSpPr>
          <p:cNvPr id="471" name="Straight Connector 470"/>
          <p:cNvCxnSpPr/>
          <p:nvPr/>
        </p:nvCxnSpPr>
        <p:spPr>
          <a:xfrm>
            <a:off x="3485260" y="4612987"/>
            <a:ext cx="0" cy="1284684"/>
          </a:xfrm>
          <a:prstGeom prst="line">
            <a:avLst/>
          </a:prstGeom>
          <a:ln w="28575">
            <a:solidFill>
              <a:srgbClr val="A6A6A6"/>
            </a:solidFill>
          </a:ln>
        </p:spPr>
        <p:style>
          <a:lnRef idx="1">
            <a:schemeClr val="accent1"/>
          </a:lnRef>
          <a:fillRef idx="0">
            <a:schemeClr val="accent1"/>
          </a:fillRef>
          <a:effectRef idx="0">
            <a:schemeClr val="accent1"/>
          </a:effectRef>
          <a:fontRef idx="minor">
            <a:schemeClr val="tx1"/>
          </a:fontRef>
        </p:style>
      </p:cxnSp>
      <p:sp>
        <p:nvSpPr>
          <p:cNvPr id="472" name="Chevron 471"/>
          <p:cNvSpPr/>
          <p:nvPr/>
        </p:nvSpPr>
        <p:spPr>
          <a:xfrm>
            <a:off x="3389976" y="5190091"/>
            <a:ext cx="190568" cy="145196"/>
          </a:xfrm>
          <a:prstGeom prst="chevron">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black"/>
              </a:solidFill>
            </a:endParaRPr>
          </a:p>
        </p:txBody>
      </p:sp>
      <p:sp>
        <p:nvSpPr>
          <p:cNvPr id="473" name="TextBox 142"/>
          <p:cNvSpPr txBox="1"/>
          <p:nvPr/>
        </p:nvSpPr>
        <p:spPr>
          <a:xfrm>
            <a:off x="4195599" y="4864062"/>
            <a:ext cx="2768961" cy="1309461"/>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751" b="1" dirty="0">
                <a:solidFill>
                  <a:prstClr val="black"/>
                </a:solidFill>
              </a:rPr>
              <a:t>US$ </a:t>
            </a:r>
            <a:r>
              <a:rPr lang="en-US" sz="2800" b="1" dirty="0"/>
              <a:t>xx</a:t>
            </a:r>
          </a:p>
          <a:p>
            <a:pPr algn="ctr"/>
            <a:r>
              <a:rPr lang="en-US" sz="2751" b="1" dirty="0" err="1">
                <a:solidFill>
                  <a:prstClr val="black"/>
                </a:solidFill>
              </a:rPr>
              <a:t>Mn</a:t>
            </a:r>
            <a:endParaRPr lang="en-US" sz="2751" b="1" dirty="0">
              <a:solidFill>
                <a:prstClr val="black"/>
              </a:solidFill>
            </a:endParaRPr>
          </a:p>
          <a:p>
            <a:pPr algn="ctr"/>
            <a:r>
              <a:rPr lang="en-US" sz="1179" b="1" dirty="0">
                <a:solidFill>
                  <a:prstClr val="black"/>
                </a:solidFill>
              </a:rPr>
              <a:t>Incremental $ Opportunity</a:t>
            </a:r>
          </a:p>
          <a:p>
            <a:pPr algn="ctr"/>
            <a:r>
              <a:rPr lang="en-US" sz="1179" b="1" dirty="0">
                <a:solidFill>
                  <a:prstClr val="black"/>
                </a:solidFill>
              </a:rPr>
              <a:t>2023 - 2033</a:t>
            </a:r>
          </a:p>
        </p:txBody>
      </p:sp>
      <p:sp>
        <p:nvSpPr>
          <p:cNvPr id="474" name="TextBox 292"/>
          <p:cNvSpPr txBox="1"/>
          <p:nvPr/>
        </p:nvSpPr>
        <p:spPr>
          <a:xfrm>
            <a:off x="7228567" y="3995932"/>
            <a:ext cx="55868" cy="2144824"/>
          </a:xfrm>
          <a:prstGeom prst="rect">
            <a:avLst/>
          </a:prstGeom>
          <a:solidFill>
            <a:schemeClr val="accent1"/>
          </a:solidFill>
          <a:effectLst/>
        </p:spPr>
        <p:style>
          <a:lnRef idx="0">
            <a:schemeClr val="accent2"/>
          </a:lnRef>
          <a:fillRef idx="3">
            <a:schemeClr val="accent2"/>
          </a:fillRef>
          <a:effectRef idx="3">
            <a:schemeClr val="accent2"/>
          </a:effectRef>
          <a:fontRef idx="minor">
            <a:schemeClr val="lt1"/>
          </a:fontRef>
        </p:style>
        <p:txBody>
          <a:bodyPr wrap="square" rtlCol="0" anchor="ctr">
            <a:noAutofit/>
          </a:bodyP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GB" sz="982" b="1" dirty="0">
              <a:solidFill>
                <a:sysClr val="windowText" lastClr="000000"/>
              </a:solidFill>
            </a:endParaRPr>
          </a:p>
        </p:txBody>
      </p:sp>
      <p:sp>
        <p:nvSpPr>
          <p:cNvPr id="475" name="TextBox 145"/>
          <p:cNvSpPr txBox="1"/>
          <p:nvPr/>
        </p:nvSpPr>
        <p:spPr>
          <a:xfrm>
            <a:off x="4593421" y="3713072"/>
            <a:ext cx="1291742" cy="947695"/>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3200" b="1" dirty="0"/>
              <a:t>XX</a:t>
            </a:r>
            <a:endParaRPr lang="en-US" sz="3144" b="1" dirty="0">
              <a:solidFill>
                <a:prstClr val="black"/>
              </a:solidFill>
            </a:endParaRPr>
          </a:p>
          <a:p>
            <a:pPr algn="ctr"/>
            <a:r>
              <a:rPr lang="en-US" sz="1179" b="1" dirty="0">
                <a:solidFill>
                  <a:prstClr val="black"/>
                </a:solidFill>
              </a:rPr>
              <a:t>Growth</a:t>
            </a:r>
          </a:p>
          <a:p>
            <a:pPr algn="ctr"/>
            <a:r>
              <a:rPr lang="en-US" sz="1179" b="1" dirty="0">
                <a:solidFill>
                  <a:prstClr val="black"/>
                </a:solidFill>
              </a:rPr>
              <a:t>2023 - 2033</a:t>
            </a:r>
          </a:p>
        </p:txBody>
      </p:sp>
      <p:sp>
        <p:nvSpPr>
          <p:cNvPr id="476" name="TextBox 146"/>
          <p:cNvSpPr txBox="1"/>
          <p:nvPr/>
        </p:nvSpPr>
        <p:spPr>
          <a:xfrm>
            <a:off x="7628974" y="5360012"/>
            <a:ext cx="2768961" cy="400110"/>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IN" sz="2000" b="1" dirty="0"/>
              <a:t>Xx </a:t>
            </a:r>
            <a:r>
              <a:rPr lang="en-US" sz="1572" b="1" dirty="0">
                <a:solidFill>
                  <a:prstClr val="black"/>
                </a:solidFill>
              </a:rPr>
              <a:t>(2034F)</a:t>
            </a:r>
          </a:p>
        </p:txBody>
      </p:sp>
      <p:sp>
        <p:nvSpPr>
          <p:cNvPr id="477" name="TextBox 147"/>
          <p:cNvSpPr txBox="1"/>
          <p:nvPr/>
        </p:nvSpPr>
        <p:spPr>
          <a:xfrm>
            <a:off x="7631502" y="4869943"/>
            <a:ext cx="2288398" cy="400110"/>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IN" sz="2000" b="1" dirty="0"/>
              <a:t>Xx </a:t>
            </a:r>
            <a:r>
              <a:rPr lang="en-US" sz="1572" b="1" dirty="0">
                <a:solidFill>
                  <a:prstClr val="black"/>
                </a:solidFill>
              </a:rPr>
              <a:t>(2024E)</a:t>
            </a:r>
          </a:p>
        </p:txBody>
      </p:sp>
      <p:sp>
        <p:nvSpPr>
          <p:cNvPr id="478" name="TextBox 151"/>
          <p:cNvSpPr txBox="1"/>
          <p:nvPr/>
        </p:nvSpPr>
        <p:spPr>
          <a:xfrm>
            <a:off x="7763358" y="4088829"/>
            <a:ext cx="3699179" cy="334259"/>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GB" sz="1572" b="1" dirty="0">
                <a:solidFill>
                  <a:prstClr val="black"/>
                </a:solidFill>
              </a:rPr>
              <a:t>WXYZ Market </a:t>
            </a:r>
            <a:r>
              <a:rPr lang="en-US" sz="1572" b="1" dirty="0">
                <a:solidFill>
                  <a:prstClr val="black"/>
                </a:solidFill>
              </a:rPr>
              <a:t>Volume (Tons)</a:t>
            </a:r>
          </a:p>
        </p:txBody>
      </p:sp>
      <p:pic>
        <p:nvPicPr>
          <p:cNvPr id="479" name="Picture 478"/>
          <p:cNvPicPr>
            <a:picLocks noChangeAspect="1"/>
          </p:cNvPicPr>
          <p:nvPr/>
        </p:nvPicPr>
        <p:blipFill>
          <a:blip r:embed="rId4"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5790291" y="3885195"/>
            <a:ext cx="573333" cy="581624"/>
          </a:xfrm>
          <a:prstGeom prst="rect">
            <a:avLst/>
          </a:prstGeom>
        </p:spPr>
      </p:pic>
      <p:grpSp>
        <p:nvGrpSpPr>
          <p:cNvPr id="480" name="Group 479"/>
          <p:cNvGrpSpPr/>
          <p:nvPr/>
        </p:nvGrpSpPr>
        <p:grpSpPr>
          <a:xfrm>
            <a:off x="10255825" y="4603620"/>
            <a:ext cx="1005448" cy="1132827"/>
            <a:chOff x="6615292" y="2096313"/>
            <a:chExt cx="1023376" cy="1153027"/>
          </a:xfrm>
        </p:grpSpPr>
        <p:sp>
          <p:nvSpPr>
            <p:cNvPr id="481" name="TextBox 594"/>
            <p:cNvSpPr txBox="1"/>
            <p:nvPr/>
          </p:nvSpPr>
          <p:spPr>
            <a:xfrm>
              <a:off x="6615292" y="2330852"/>
              <a:ext cx="959125" cy="407244"/>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000" b="1" spc="-147" dirty="0">
                  <a:solidFill>
                    <a:srgbClr val="2A5F8F">
                      <a:lumMod val="50000"/>
                    </a:srgbClr>
                  </a:solidFill>
                  <a:cs typeface="FrankRuehl" panose="020E0503060101010101" pitchFamily="34" charset="-79"/>
                </a:rPr>
                <a:t>CAGR </a:t>
              </a:r>
            </a:p>
          </p:txBody>
        </p:sp>
        <p:sp>
          <p:nvSpPr>
            <p:cNvPr id="482" name="TextBox 595"/>
            <p:cNvSpPr txBox="1"/>
            <p:nvPr/>
          </p:nvSpPr>
          <p:spPr>
            <a:xfrm>
              <a:off x="6667912" y="2716790"/>
              <a:ext cx="970756" cy="532550"/>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800" b="1" dirty="0">
                  <a:solidFill>
                    <a:srgbClr val="2A5F8F">
                      <a:lumMod val="50000"/>
                    </a:srgbClr>
                  </a:solidFill>
                  <a:latin typeface="Agency FB" panose="020B0503020202020204" pitchFamily="34" charset="0"/>
                </a:rPr>
                <a:t>xx%</a:t>
              </a:r>
            </a:p>
          </p:txBody>
        </p:sp>
        <p:sp>
          <p:nvSpPr>
            <p:cNvPr id="483" name="TextBox 596"/>
            <p:cNvSpPr txBox="1"/>
            <p:nvPr/>
          </p:nvSpPr>
          <p:spPr>
            <a:xfrm>
              <a:off x="6732162" y="2096313"/>
              <a:ext cx="858124" cy="212931"/>
            </a:xfrm>
            <a:prstGeom prst="rect">
              <a:avLst/>
            </a:prstGeom>
            <a:noFill/>
          </p:spPr>
          <p:txBody>
            <a:bodyPr wrap="square" lIns="0" tIns="0" rIns="0" bIns="0" rtlCol="0">
              <a:no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defTabSz="898398">
                <a:defRPr/>
              </a:pPr>
              <a:r>
                <a:rPr lang="en-GB" sz="1800" b="1" kern="0" dirty="0">
                  <a:solidFill>
                    <a:srgbClr val="2A5F8F">
                      <a:lumMod val="50000"/>
                    </a:srgbClr>
                  </a:solidFill>
                </a:rPr>
                <a:t>Volume</a:t>
              </a:r>
            </a:p>
          </p:txBody>
        </p:sp>
      </p:grpSp>
      <p:grpSp>
        <p:nvGrpSpPr>
          <p:cNvPr id="484" name="Group 483"/>
          <p:cNvGrpSpPr/>
          <p:nvPr/>
        </p:nvGrpSpPr>
        <p:grpSpPr>
          <a:xfrm>
            <a:off x="10896939" y="1965146"/>
            <a:ext cx="1295061" cy="1132827"/>
            <a:chOff x="6615292" y="2096313"/>
            <a:chExt cx="1023376" cy="1153027"/>
          </a:xfrm>
        </p:grpSpPr>
        <p:sp>
          <p:nvSpPr>
            <p:cNvPr id="485" name="TextBox 604"/>
            <p:cNvSpPr txBox="1"/>
            <p:nvPr/>
          </p:nvSpPr>
          <p:spPr>
            <a:xfrm>
              <a:off x="6615292" y="2330852"/>
              <a:ext cx="959125" cy="407245"/>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000" b="1" spc="-147" dirty="0">
                  <a:solidFill>
                    <a:srgbClr val="2A5F8F">
                      <a:lumMod val="50000"/>
                    </a:srgbClr>
                  </a:solidFill>
                  <a:cs typeface="FrankRuehl" panose="020E0503060101010101" pitchFamily="34" charset="-79"/>
                </a:rPr>
                <a:t>CAGR </a:t>
              </a:r>
            </a:p>
          </p:txBody>
        </p:sp>
        <p:sp>
          <p:nvSpPr>
            <p:cNvPr id="486" name="TextBox 605"/>
            <p:cNvSpPr txBox="1"/>
            <p:nvPr/>
          </p:nvSpPr>
          <p:spPr>
            <a:xfrm>
              <a:off x="6667912" y="2716790"/>
              <a:ext cx="970756" cy="532550"/>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800" b="1" dirty="0">
                  <a:solidFill>
                    <a:srgbClr val="2A5F8F">
                      <a:lumMod val="50000"/>
                    </a:srgbClr>
                  </a:solidFill>
                  <a:latin typeface="Agency FB" panose="020B0503020202020204" pitchFamily="34" charset="0"/>
                </a:rPr>
                <a:t>xx%</a:t>
              </a:r>
            </a:p>
          </p:txBody>
        </p:sp>
        <p:sp>
          <p:nvSpPr>
            <p:cNvPr id="487" name="TextBox 606"/>
            <p:cNvSpPr txBox="1"/>
            <p:nvPr/>
          </p:nvSpPr>
          <p:spPr>
            <a:xfrm>
              <a:off x="6732162" y="2096313"/>
              <a:ext cx="725385" cy="248712"/>
            </a:xfrm>
            <a:prstGeom prst="rect">
              <a:avLst/>
            </a:prstGeom>
            <a:noFill/>
          </p:spPr>
          <p:txBody>
            <a:bodyPr wrap="square" lIns="0" tIns="0" rIns="0" bIns="0" rtlCol="0">
              <a:no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defTabSz="898398">
                <a:defRPr/>
              </a:pPr>
              <a:r>
                <a:rPr lang="en-GB" sz="1800" b="1" kern="0" dirty="0">
                  <a:solidFill>
                    <a:srgbClr val="2A5F8F">
                      <a:lumMod val="50000"/>
                    </a:srgbClr>
                  </a:solidFill>
                </a:rPr>
                <a:t>Value</a:t>
              </a:r>
            </a:p>
          </p:txBody>
        </p:sp>
      </p:grpSp>
      <p:sp>
        <p:nvSpPr>
          <p:cNvPr id="488" name="TextBox 597"/>
          <p:cNvSpPr txBox="1"/>
          <p:nvPr/>
        </p:nvSpPr>
        <p:spPr>
          <a:xfrm>
            <a:off x="6248400" y="1131672"/>
            <a:ext cx="5791200" cy="502920"/>
          </a:xfrm>
          <a:prstGeom prst="rect">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pPr algn="ctr"/>
            <a:r>
              <a:rPr lang="en-GB" sz="1376" b="1" dirty="0">
                <a:solidFill>
                  <a:prstClr val="black"/>
                </a:solidFill>
              </a:rPr>
              <a:t>Latin America WXYZ Market Incremental $ Opportunity, 2019 and 2023-2034</a:t>
            </a:r>
          </a:p>
        </p:txBody>
      </p:sp>
      <p:cxnSp>
        <p:nvCxnSpPr>
          <p:cNvPr id="489" name="Straight Connector 488"/>
          <p:cNvCxnSpPr/>
          <p:nvPr/>
        </p:nvCxnSpPr>
        <p:spPr>
          <a:xfrm>
            <a:off x="7714740" y="5300649"/>
            <a:ext cx="1848801" cy="0"/>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491" name="Content Placeholder 13"/>
          <p:cNvGraphicFramePr>
            <a:graphicFrameLocks/>
          </p:cNvGraphicFramePr>
          <p:nvPr/>
        </p:nvGraphicFramePr>
        <p:xfrm>
          <a:off x="6512366" y="1694610"/>
          <a:ext cx="4585089" cy="1920875"/>
        </p:xfrm>
        <a:graphic>
          <a:graphicData uri="http://schemas.openxmlformats.org/drawingml/2006/chart">
            <c:chart xmlns:c="http://schemas.openxmlformats.org/drawingml/2006/chart" xmlns:r="http://schemas.openxmlformats.org/officeDocument/2006/relationships" r:id="rId5"/>
          </a:graphicData>
        </a:graphic>
      </p:graphicFrame>
      <p:sp>
        <p:nvSpPr>
          <p:cNvPr id="493" name="TextBox 49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213</a:t>
            </a:fld>
            <a:endParaRPr lang="en-GB" dirty="0"/>
          </a:p>
        </p:txBody>
      </p:sp>
    </p:spTree>
    <p:extLst>
      <p:ext uri="{BB962C8B-B14F-4D97-AF65-F5344CB8AC3E}">
        <p14:creationId xmlns:p14="http://schemas.microsoft.com/office/powerpoint/2010/main" val="53083435"/>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Latin America WXYZ Market Analysis By Country</a:t>
            </a:r>
          </a:p>
        </p:txBody>
      </p:sp>
      <p:sp>
        <p:nvSpPr>
          <p:cNvPr id="7" name="Text Placeholder 6"/>
          <p:cNvSpPr>
            <a:spLocks noGrp="1"/>
          </p:cNvSpPr>
          <p:nvPr>
            <p:ph type="body" idx="12"/>
          </p:nvPr>
        </p:nvSpPr>
        <p:spPr/>
        <p:txBody>
          <a:bodyPr/>
          <a:lstStyle/>
          <a:p>
            <a:r>
              <a:rPr lang="en-US" sz="1100" dirty="0"/>
              <a:t>Figure XX: Latin America WXYZ Market Share and BPS Analysis By Country, 2024 &amp; 2034</a:t>
            </a:r>
          </a:p>
        </p:txBody>
      </p:sp>
      <p:sp>
        <p:nvSpPr>
          <p:cNvPr id="9" name="Text Placeholder 8"/>
          <p:cNvSpPr>
            <a:spLocks noGrp="1"/>
          </p:cNvSpPr>
          <p:nvPr>
            <p:ph type="body" idx="14"/>
          </p:nvPr>
        </p:nvSpPr>
        <p:spPr/>
        <p:txBody>
          <a:bodyPr/>
          <a:lstStyle/>
          <a:p>
            <a:r>
              <a:rPr lang="en-US" sz="1100" dirty="0"/>
              <a:t>Figure XX: Latin America WXYZ Market Y-o-Y Growth Projections By Country, 2024 – 2034</a:t>
            </a:r>
          </a:p>
        </p:txBody>
      </p:sp>
      <p:sp>
        <p:nvSpPr>
          <p:cNvPr id="11" name="Text Placeholder 10"/>
          <p:cNvSpPr>
            <a:spLocks noGrp="1"/>
          </p:cNvSpPr>
          <p:nvPr>
            <p:ph type="body" idx="16"/>
          </p:nvPr>
        </p:nvSpPr>
        <p:spPr/>
        <p:txBody>
          <a:bodyPr/>
          <a:lstStyle/>
          <a:p>
            <a:r>
              <a:rPr lang="en-US" dirty="0"/>
              <a:t>Figure XX: Latin America WXYZ Market Attractiveness Analysis By Country, 2024 – 2034</a:t>
            </a:r>
          </a:p>
        </p:txBody>
      </p:sp>
      <p:sp>
        <p:nvSpPr>
          <p:cNvPr id="13" name="TextBox 1"/>
          <p:cNvSpPr txBox="1"/>
          <p:nvPr/>
        </p:nvSpPr>
        <p:spPr>
          <a:xfrm>
            <a:off x="790887" y="1664288"/>
            <a:ext cx="71013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XX </a:t>
            </a:r>
            <a:r>
              <a:rPr lang="en-US" sz="1200" b="1" dirty="0" err="1"/>
              <a:t>Mn</a:t>
            </a:r>
            <a:endParaRPr lang="en-US" sz="1200" b="1" dirty="0"/>
          </a:p>
        </p:txBody>
      </p:sp>
      <p:sp>
        <p:nvSpPr>
          <p:cNvPr id="14" name="TextBox 9"/>
          <p:cNvSpPr txBox="1"/>
          <p:nvPr/>
        </p:nvSpPr>
        <p:spPr>
          <a:xfrm>
            <a:off x="2652075" y="1664288"/>
            <a:ext cx="71013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XX </a:t>
            </a:r>
            <a:r>
              <a:rPr lang="en-US" sz="1200" b="1" dirty="0" err="1"/>
              <a:t>Mn</a:t>
            </a:r>
            <a:endParaRPr lang="en-US" sz="1200" b="1" dirty="0"/>
          </a:p>
        </p:txBody>
      </p:sp>
      <p:graphicFrame>
        <p:nvGraphicFramePr>
          <p:cNvPr id="22" name="Content Placeholder 17"/>
          <p:cNvGraphicFramePr>
            <a:graphicFrameLocks noGrp="1"/>
          </p:cNvGraphicFramePr>
          <p:nvPr>
            <p:ph idx="13"/>
            <p:extLst>
              <p:ext uri="{D42A27DB-BD31-4B8C-83A1-F6EECF244321}">
                <p14:modId xmlns:p14="http://schemas.microsoft.com/office/powerpoint/2010/main" val="2834539099"/>
              </p:ext>
            </p:extLst>
          </p:nvPr>
        </p:nvGraphicFramePr>
        <p:xfrm>
          <a:off x="4513263" y="1612901"/>
          <a:ext cx="3109912" cy="4594225"/>
        </p:xfrm>
        <a:graphic>
          <a:graphicData uri="http://schemas.openxmlformats.org/drawingml/2006/chart">
            <c:chart xmlns:c="http://schemas.openxmlformats.org/drawingml/2006/chart" xmlns:r="http://schemas.openxmlformats.org/officeDocument/2006/relationships" r:id="rId2"/>
          </a:graphicData>
        </a:graphic>
      </p:graphicFrame>
      <p:sp>
        <p:nvSpPr>
          <p:cNvPr id="12" name="TextBox 1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5" name="Content Placeholder 19"/>
          <p:cNvGraphicFramePr>
            <a:graphicFrameLocks noGrp="1"/>
          </p:cNvGraphicFramePr>
          <p:nvPr>
            <p:ph idx="15"/>
            <p:extLst>
              <p:ext uri="{D42A27DB-BD31-4B8C-83A1-F6EECF244321}">
                <p14:modId xmlns:p14="http://schemas.microsoft.com/office/powerpoint/2010/main" val="3163685795"/>
              </p:ext>
            </p:extLst>
          </p:nvPr>
        </p:nvGraphicFramePr>
        <p:xfrm>
          <a:off x="8274050" y="1612900"/>
          <a:ext cx="3768725" cy="459422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Content Placeholder 14"/>
          <p:cNvGraphicFramePr>
            <a:graphicFrameLocks noGrp="1"/>
          </p:cNvGraphicFramePr>
          <p:nvPr>
            <p:ph idx="1"/>
            <p:extLst>
              <p:ext uri="{D42A27DB-BD31-4B8C-83A1-F6EECF244321}">
                <p14:modId xmlns:p14="http://schemas.microsoft.com/office/powerpoint/2010/main" val="3486894074"/>
              </p:ext>
            </p:extLst>
          </p:nvPr>
        </p:nvGraphicFramePr>
        <p:xfrm>
          <a:off x="152400" y="1612900"/>
          <a:ext cx="3768725" cy="4594225"/>
        </p:xfrm>
        <a:graphic>
          <a:graphicData uri="http://schemas.openxmlformats.org/drawingml/2006/chart">
            <c:chart xmlns:c="http://schemas.openxmlformats.org/drawingml/2006/chart" xmlns:r="http://schemas.openxmlformats.org/officeDocument/2006/relationships" r:id="rId4"/>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214</a:t>
            </a:fld>
            <a:endParaRPr lang="en-GB" dirty="0"/>
          </a:p>
        </p:txBody>
      </p:sp>
    </p:spTree>
    <p:extLst>
      <p:ext uri="{BB962C8B-B14F-4D97-AF65-F5344CB8AC3E}">
        <p14:creationId xmlns:p14="http://schemas.microsoft.com/office/powerpoint/2010/main" val="4109428599"/>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dirty="0"/>
              <a:t>Latin America WXYZ Market Analysis By Country</a:t>
            </a:r>
          </a:p>
        </p:txBody>
      </p:sp>
      <p:sp>
        <p:nvSpPr>
          <p:cNvPr id="11" name="Text Placeholder 10"/>
          <p:cNvSpPr>
            <a:spLocks noGrp="1"/>
          </p:cNvSpPr>
          <p:nvPr>
            <p:ph type="body" idx="12"/>
          </p:nvPr>
        </p:nvSpPr>
        <p:spPr/>
        <p:txBody>
          <a:bodyPr/>
          <a:lstStyle/>
          <a:p>
            <a:r>
              <a:rPr lang="en-US" sz="1400" dirty="0"/>
              <a:t>Table 05: Latin America WXYZ Market Size (US$ </a:t>
            </a:r>
            <a:r>
              <a:rPr lang="en-US" sz="1400" dirty="0" err="1"/>
              <a:t>Mn</a:t>
            </a:r>
            <a:r>
              <a:rPr lang="en-US" sz="1400" dirty="0"/>
              <a:t>) and Volume (Tons) Analysis and Forecast By Country, 2019 – 2034</a:t>
            </a:r>
          </a:p>
        </p:txBody>
      </p:sp>
      <p:graphicFrame>
        <p:nvGraphicFramePr>
          <p:cNvPr id="12" name="Content Placeholder 9"/>
          <p:cNvGraphicFramePr>
            <a:graphicFrameLocks/>
          </p:cNvGraphicFramePr>
          <p:nvPr>
            <p:extLst>
              <p:ext uri="{D42A27DB-BD31-4B8C-83A1-F6EECF244321}">
                <p14:modId xmlns:p14="http://schemas.microsoft.com/office/powerpoint/2010/main" val="3528435983"/>
              </p:ext>
            </p:extLst>
          </p:nvPr>
        </p:nvGraphicFramePr>
        <p:xfrm>
          <a:off x="152399" y="1668459"/>
          <a:ext cx="11887207" cy="3812475"/>
        </p:xfrm>
        <a:graphic>
          <a:graphicData uri="http://schemas.openxmlformats.org/drawingml/2006/table">
            <a:tbl>
              <a:tblPr firstRow="1" bandRow="1">
                <a:tableStyleId>{5C22544A-7EE6-4342-B048-85BDC9FD1C3A}</a:tableStyleId>
              </a:tblPr>
              <a:tblGrid>
                <a:gridCol w="897220">
                  <a:extLst>
                    <a:ext uri="{9D8B030D-6E8A-4147-A177-3AD203B41FA5}">
                      <a16:colId xmlns:a16="http://schemas.microsoft.com/office/drawing/2014/main" val="20000"/>
                    </a:ext>
                  </a:extLst>
                </a:gridCol>
                <a:gridCol w="360618">
                  <a:extLst>
                    <a:ext uri="{9D8B030D-6E8A-4147-A177-3AD203B41FA5}">
                      <a16:colId xmlns:a16="http://schemas.microsoft.com/office/drawing/2014/main" val="20018"/>
                    </a:ext>
                  </a:extLst>
                </a:gridCol>
                <a:gridCol w="625257">
                  <a:extLst>
                    <a:ext uri="{9D8B030D-6E8A-4147-A177-3AD203B41FA5}">
                      <a16:colId xmlns:a16="http://schemas.microsoft.com/office/drawing/2014/main" val="20001"/>
                    </a:ext>
                  </a:extLst>
                </a:gridCol>
                <a:gridCol w="625257">
                  <a:extLst>
                    <a:ext uri="{9D8B030D-6E8A-4147-A177-3AD203B41FA5}">
                      <a16:colId xmlns:a16="http://schemas.microsoft.com/office/drawing/2014/main" val="20002"/>
                    </a:ext>
                  </a:extLst>
                </a:gridCol>
                <a:gridCol w="625257">
                  <a:extLst>
                    <a:ext uri="{9D8B030D-6E8A-4147-A177-3AD203B41FA5}">
                      <a16:colId xmlns:a16="http://schemas.microsoft.com/office/drawing/2014/main" val="20003"/>
                    </a:ext>
                  </a:extLst>
                </a:gridCol>
                <a:gridCol w="625257">
                  <a:extLst>
                    <a:ext uri="{9D8B030D-6E8A-4147-A177-3AD203B41FA5}">
                      <a16:colId xmlns:a16="http://schemas.microsoft.com/office/drawing/2014/main" val="20004"/>
                    </a:ext>
                  </a:extLst>
                </a:gridCol>
                <a:gridCol w="625257">
                  <a:extLst>
                    <a:ext uri="{9D8B030D-6E8A-4147-A177-3AD203B41FA5}">
                      <a16:colId xmlns:a16="http://schemas.microsoft.com/office/drawing/2014/main" val="20005"/>
                    </a:ext>
                  </a:extLst>
                </a:gridCol>
                <a:gridCol w="625257">
                  <a:extLst>
                    <a:ext uri="{9D8B030D-6E8A-4147-A177-3AD203B41FA5}">
                      <a16:colId xmlns:a16="http://schemas.microsoft.com/office/drawing/2014/main" val="20006"/>
                    </a:ext>
                  </a:extLst>
                </a:gridCol>
                <a:gridCol w="625257">
                  <a:extLst>
                    <a:ext uri="{9D8B030D-6E8A-4147-A177-3AD203B41FA5}">
                      <a16:colId xmlns:a16="http://schemas.microsoft.com/office/drawing/2014/main" val="20007"/>
                    </a:ext>
                  </a:extLst>
                </a:gridCol>
                <a:gridCol w="625257">
                  <a:extLst>
                    <a:ext uri="{9D8B030D-6E8A-4147-A177-3AD203B41FA5}">
                      <a16:colId xmlns:a16="http://schemas.microsoft.com/office/drawing/2014/main" val="20008"/>
                    </a:ext>
                  </a:extLst>
                </a:gridCol>
                <a:gridCol w="625257">
                  <a:extLst>
                    <a:ext uri="{9D8B030D-6E8A-4147-A177-3AD203B41FA5}">
                      <a16:colId xmlns:a16="http://schemas.microsoft.com/office/drawing/2014/main" val="20009"/>
                    </a:ext>
                  </a:extLst>
                </a:gridCol>
                <a:gridCol w="625257">
                  <a:extLst>
                    <a:ext uri="{9D8B030D-6E8A-4147-A177-3AD203B41FA5}">
                      <a16:colId xmlns:a16="http://schemas.microsoft.com/office/drawing/2014/main" val="20010"/>
                    </a:ext>
                  </a:extLst>
                </a:gridCol>
                <a:gridCol w="625257">
                  <a:extLst>
                    <a:ext uri="{9D8B030D-6E8A-4147-A177-3AD203B41FA5}">
                      <a16:colId xmlns:a16="http://schemas.microsoft.com/office/drawing/2014/main" val="20011"/>
                    </a:ext>
                  </a:extLst>
                </a:gridCol>
                <a:gridCol w="625257">
                  <a:extLst>
                    <a:ext uri="{9D8B030D-6E8A-4147-A177-3AD203B41FA5}">
                      <a16:colId xmlns:a16="http://schemas.microsoft.com/office/drawing/2014/main" val="20012"/>
                    </a:ext>
                  </a:extLst>
                </a:gridCol>
                <a:gridCol w="625257">
                  <a:extLst>
                    <a:ext uri="{9D8B030D-6E8A-4147-A177-3AD203B41FA5}">
                      <a16:colId xmlns:a16="http://schemas.microsoft.com/office/drawing/2014/main" val="20013"/>
                    </a:ext>
                  </a:extLst>
                </a:gridCol>
                <a:gridCol w="625257">
                  <a:extLst>
                    <a:ext uri="{9D8B030D-6E8A-4147-A177-3AD203B41FA5}">
                      <a16:colId xmlns:a16="http://schemas.microsoft.com/office/drawing/2014/main" val="20014"/>
                    </a:ext>
                  </a:extLst>
                </a:gridCol>
                <a:gridCol w="625257">
                  <a:extLst>
                    <a:ext uri="{9D8B030D-6E8A-4147-A177-3AD203B41FA5}">
                      <a16:colId xmlns:a16="http://schemas.microsoft.com/office/drawing/2014/main" val="20015"/>
                    </a:ext>
                  </a:extLst>
                </a:gridCol>
                <a:gridCol w="625257">
                  <a:extLst>
                    <a:ext uri="{9D8B030D-6E8A-4147-A177-3AD203B41FA5}">
                      <a16:colId xmlns:a16="http://schemas.microsoft.com/office/drawing/2014/main" val="20016"/>
                    </a:ext>
                  </a:extLst>
                </a:gridCol>
                <a:gridCol w="625257">
                  <a:extLst>
                    <a:ext uri="{9D8B030D-6E8A-4147-A177-3AD203B41FA5}">
                      <a16:colId xmlns:a16="http://schemas.microsoft.com/office/drawing/2014/main" val="20017"/>
                    </a:ext>
                  </a:extLst>
                </a:gridCol>
              </a:tblGrid>
              <a:tr h="976267">
                <a:tc gridSpan="2">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dirty="0"/>
                        <a:t>Country</a:t>
                      </a:r>
                      <a:endParaRPr lang="en-US" sz="1100" b="1" i="0" baseline="0" dirty="0">
                        <a:solidFill>
                          <a:schemeClr val="tx1"/>
                        </a:solidFill>
                        <a:latin typeface="+mn-lt"/>
                      </a:endParaRPr>
                    </a:p>
                  </a:txBody>
                  <a:tcPr marR="0" marT="0" marB="0" anchor="ctr"/>
                </a:tc>
                <a:tc hMerge="1">
                  <a:txBody>
                    <a:bodyPr/>
                    <a:lstStyle/>
                    <a:p>
                      <a:pPr algn="ctr"/>
                      <a:endParaRPr lang="en-US" sz="10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354526">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algn="l" defTabSz="914400" rtl="0" eaLnBrk="1" latinLnBrk="0" hangingPunct="1"/>
                      <a:r>
                        <a:rPr lang="en-US" sz="1100" b="1" i="0" kern="1200" baseline="0" dirty="0">
                          <a:solidFill>
                            <a:prstClr val="black"/>
                          </a:solidFill>
                          <a:latin typeface="Calibri" panose="020F0502020204030204"/>
                          <a:ea typeface="Malgun Gothic" panose="020B0503020000020004" pitchFamily="34" charset="-127"/>
                          <a:cs typeface=""/>
                        </a:rPr>
                        <a:t>Brazil</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354526">
                <a:tc vMerge="1">
                  <a:txBody>
                    <a:bodyPr/>
                    <a:lstStyle/>
                    <a:p>
                      <a:endParaRPr lang="en-US" dirty="0"/>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354526">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100" b="1" i="0" kern="1200" baseline="0" dirty="0">
                          <a:solidFill>
                            <a:prstClr val="black"/>
                          </a:solidFill>
                          <a:latin typeface="+mn-lt"/>
                          <a:ea typeface="Malgun Gothic" panose="020B0503020000020004" pitchFamily="34" charset="-127"/>
                          <a:cs typeface=""/>
                        </a:rPr>
                        <a:t>Chile</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354526">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354526">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100" b="1" i="0" kern="1200" baseline="0" dirty="0">
                          <a:solidFill>
                            <a:prstClr val="black"/>
                          </a:solidFill>
                          <a:latin typeface="+mn-lt"/>
                          <a:ea typeface="Malgun Gothic" panose="020B0503020000020004" pitchFamily="34" charset="-127"/>
                          <a:cs typeface=""/>
                        </a:rPr>
                        <a:t>Rest of LATAM</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305825266"/>
                  </a:ext>
                </a:extLst>
              </a:tr>
              <a:tr h="354526">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100" b="1" i="0" kern="1200" baseline="0" dirty="0">
                        <a:solidFill>
                          <a:prstClr val="black"/>
                        </a:solidFill>
                        <a:latin typeface="+mn-lt"/>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523335598"/>
                  </a:ext>
                </a:extLst>
              </a:tr>
              <a:tr h="354526">
                <a:tc rowSpan="2">
                  <a:txBody>
                    <a:bodyPr/>
                    <a:lstStyle/>
                    <a:p>
                      <a:pPr algn="l"/>
                      <a:r>
                        <a:rPr lang="en-IN" sz="1100" b="1" i="0" baseline="0" dirty="0">
                          <a:latin typeface="+mn-lt"/>
                        </a:rPr>
                        <a:t>Total</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5"/>
                  </a:ext>
                </a:extLst>
              </a:tr>
              <a:tr h="354526">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bl>
          </a:graphicData>
        </a:graphic>
      </p:graphicFrame>
      <p:sp>
        <p:nvSpPr>
          <p:cNvPr id="6" name="TextBox 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215</a:t>
            </a:fld>
            <a:endParaRPr lang="en-GB" dirty="0"/>
          </a:p>
        </p:txBody>
      </p:sp>
    </p:spTree>
    <p:extLst>
      <p:ext uri="{BB962C8B-B14F-4D97-AF65-F5344CB8AC3E}">
        <p14:creationId xmlns:p14="http://schemas.microsoft.com/office/powerpoint/2010/main" val="3349548326"/>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Latin America WXYZ Market Absolute $ Opportunity Analysis By Country</a:t>
            </a:r>
            <a:endParaRPr lang="en-IN" dirty="0"/>
          </a:p>
        </p:txBody>
      </p:sp>
      <p:sp>
        <p:nvSpPr>
          <p:cNvPr id="5" name="Text Placeholder 4"/>
          <p:cNvSpPr>
            <a:spLocks noGrp="1"/>
          </p:cNvSpPr>
          <p:nvPr>
            <p:ph type="body" idx="12"/>
          </p:nvPr>
        </p:nvSpPr>
        <p:spPr>
          <a:noFill/>
        </p:spPr>
        <p:txBody>
          <a:bodyPr anchor="ctr"/>
          <a:lstStyle/>
          <a:p>
            <a:r>
              <a:rPr lang="en-US" dirty="0"/>
              <a:t>FIG: Latin America Incremental $ Opportunity By Country, 2024-2034</a:t>
            </a:r>
          </a:p>
        </p:txBody>
      </p:sp>
      <p:sp>
        <p:nvSpPr>
          <p:cNvPr id="6" name="Text Placeholder 5"/>
          <p:cNvSpPr>
            <a:spLocks noGrp="1"/>
          </p:cNvSpPr>
          <p:nvPr>
            <p:ph type="body" idx="14"/>
          </p:nvPr>
        </p:nvSpPr>
        <p:spPr>
          <a:noFill/>
        </p:spPr>
        <p:txBody>
          <a:bodyPr vert="horz" lIns="91440" tIns="91440" rIns="91440" bIns="91440" rtlCol="0" anchor="ctr">
            <a:noAutofit/>
          </a:bodyPr>
          <a:lstStyle/>
          <a:p>
            <a:pPr algn="ctr"/>
            <a:r>
              <a:rPr lang="en-US" dirty="0"/>
              <a:t>Key Takeaways</a:t>
            </a:r>
          </a:p>
        </p:txBody>
      </p:sp>
      <p:pic>
        <p:nvPicPr>
          <p:cNvPr id="3" name="Picture 2"/>
          <p:cNvPicPr>
            <a:picLocks noChangeAspect="1"/>
          </p:cNvPicPr>
          <p:nvPr/>
        </p:nvPicPr>
        <p:blipFill>
          <a:blip r:embed="rId2"/>
          <a:stretch>
            <a:fillRect/>
          </a:stretch>
        </p:blipFill>
        <p:spPr>
          <a:xfrm>
            <a:off x="6277857" y="1612797"/>
            <a:ext cx="5761743" cy="4399280"/>
          </a:xfrm>
          <a:prstGeom prst="rect">
            <a:avLst/>
          </a:prstGeom>
        </p:spPr>
      </p:pic>
      <p:graphicFrame>
        <p:nvGraphicFramePr>
          <p:cNvPr id="10" name="Content Placeholder 13"/>
          <p:cNvGraphicFramePr>
            <a:graphicFrameLocks noGrp="1"/>
          </p:cNvGraphicFramePr>
          <p:nvPr>
            <p:ph idx="1"/>
            <p:extLst>
              <p:ext uri="{D42A27DB-BD31-4B8C-83A1-F6EECF244321}">
                <p14:modId xmlns:p14="http://schemas.microsoft.com/office/powerpoint/2010/main" val="1122778847"/>
              </p:ext>
            </p:extLst>
          </p:nvPr>
        </p:nvGraphicFramePr>
        <p:xfrm>
          <a:off x="152400" y="1612900"/>
          <a:ext cx="5764213" cy="4594225"/>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216</a:t>
            </a:fld>
            <a:endParaRPr lang="en-GB" dirty="0"/>
          </a:p>
        </p:txBody>
      </p:sp>
    </p:spTree>
    <p:extLst>
      <p:ext uri="{BB962C8B-B14F-4D97-AF65-F5344CB8AC3E}">
        <p14:creationId xmlns:p14="http://schemas.microsoft.com/office/powerpoint/2010/main" val="2475970619"/>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217</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217</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East Asia WXYZ Market Analysis 2019 – 2023 and Forecast, 2024 – 2034</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217</a:t>
            </a:r>
          </a:p>
        </p:txBody>
      </p:sp>
    </p:spTree>
    <p:extLst>
      <p:ext uri="{BB962C8B-B14F-4D97-AF65-F5344CB8AC3E}">
        <p14:creationId xmlns:p14="http://schemas.microsoft.com/office/powerpoint/2010/main" val="930607681"/>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Introduction</a:t>
            </a:r>
          </a:p>
        </p:txBody>
      </p:sp>
      <p:grpSp>
        <p:nvGrpSpPr>
          <p:cNvPr id="6" name="Group 5"/>
          <p:cNvGrpSpPr>
            <a:grpSpLocks/>
          </p:cNvGrpSpPr>
          <p:nvPr/>
        </p:nvGrpSpPr>
        <p:grpSpPr bwMode="auto">
          <a:xfrm>
            <a:off x="4199256" y="3530036"/>
            <a:ext cx="7519132" cy="2513907"/>
            <a:chOff x="96" y="1152"/>
            <a:chExt cx="5568" cy="2642"/>
          </a:xfrm>
          <a:solidFill>
            <a:srgbClr val="EBF2F9"/>
          </a:solidFill>
        </p:grpSpPr>
        <p:sp>
          <p:nvSpPr>
            <p:cNvPr id="7" name="Freeform 6"/>
            <p:cNvSpPr>
              <a:spLocks/>
            </p:cNvSpPr>
            <p:nvPr/>
          </p:nvSpPr>
          <p:spPr bwMode="auto">
            <a:xfrm>
              <a:off x="4358" y="2676"/>
              <a:ext cx="6" cy="5"/>
            </a:xfrm>
            <a:custGeom>
              <a:avLst/>
              <a:gdLst/>
              <a:ahLst/>
              <a:cxnLst>
                <a:cxn ang="0">
                  <a:pos x="6" y="1"/>
                </a:cxn>
                <a:cxn ang="0">
                  <a:pos x="0" y="2"/>
                </a:cxn>
                <a:cxn ang="0">
                  <a:pos x="0" y="0"/>
                </a:cxn>
                <a:cxn ang="0">
                  <a:pos x="6" y="1"/>
                </a:cxn>
              </a:cxnLst>
              <a:rect l="0" t="0" r="r" b="b"/>
              <a:pathLst>
                <a:path w="6" h="2">
                  <a:moveTo>
                    <a:pt x="6" y="1"/>
                  </a:moveTo>
                  <a:lnTo>
                    <a:pt x="0" y="2"/>
                  </a:lnTo>
                  <a:lnTo>
                    <a:pt x="0" y="0"/>
                  </a:lnTo>
                  <a:lnTo>
                    <a:pt x="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 name="Freeform 7"/>
            <p:cNvSpPr>
              <a:spLocks/>
            </p:cNvSpPr>
            <p:nvPr/>
          </p:nvSpPr>
          <p:spPr bwMode="auto">
            <a:xfrm>
              <a:off x="4451" y="2619"/>
              <a:ext cx="175" cy="166"/>
            </a:xfrm>
            <a:custGeom>
              <a:avLst/>
              <a:gdLst/>
              <a:ahLst/>
              <a:cxnLst>
                <a:cxn ang="0">
                  <a:pos x="158" y="62"/>
                </a:cxn>
                <a:cxn ang="0">
                  <a:pos x="144" y="61"/>
                </a:cxn>
                <a:cxn ang="0">
                  <a:pos x="143" y="60"/>
                </a:cxn>
                <a:cxn ang="0">
                  <a:pos x="136" y="84"/>
                </a:cxn>
                <a:cxn ang="0">
                  <a:pos x="138" y="85"/>
                </a:cxn>
                <a:cxn ang="0">
                  <a:pos x="134" y="94"/>
                </a:cxn>
                <a:cxn ang="0">
                  <a:pos x="125" y="98"/>
                </a:cxn>
                <a:cxn ang="0">
                  <a:pos x="118" y="110"/>
                </a:cxn>
                <a:cxn ang="0">
                  <a:pos x="118" y="118"/>
                </a:cxn>
                <a:cxn ang="0">
                  <a:pos x="121" y="118"/>
                </a:cxn>
                <a:cxn ang="0">
                  <a:pos x="116" y="124"/>
                </a:cxn>
                <a:cxn ang="0">
                  <a:pos x="114" y="130"/>
                </a:cxn>
                <a:cxn ang="0">
                  <a:pos x="110" y="143"/>
                </a:cxn>
                <a:cxn ang="0">
                  <a:pos x="89" y="150"/>
                </a:cxn>
                <a:cxn ang="0">
                  <a:pos x="86" y="140"/>
                </a:cxn>
                <a:cxn ang="0">
                  <a:pos x="84" y="138"/>
                </a:cxn>
                <a:cxn ang="0">
                  <a:pos x="73" y="138"/>
                </a:cxn>
                <a:cxn ang="0">
                  <a:pos x="64" y="133"/>
                </a:cxn>
                <a:cxn ang="0">
                  <a:pos x="54" y="138"/>
                </a:cxn>
                <a:cxn ang="0">
                  <a:pos x="46" y="139"/>
                </a:cxn>
                <a:cxn ang="0">
                  <a:pos x="42" y="130"/>
                </a:cxn>
                <a:cxn ang="0">
                  <a:pos x="29" y="132"/>
                </a:cxn>
                <a:cxn ang="0">
                  <a:pos x="30" y="131"/>
                </a:cxn>
                <a:cxn ang="0">
                  <a:pos x="26" y="132"/>
                </a:cxn>
                <a:cxn ang="0">
                  <a:pos x="19" y="130"/>
                </a:cxn>
                <a:cxn ang="0">
                  <a:pos x="16" y="112"/>
                </a:cxn>
                <a:cxn ang="0">
                  <a:pos x="16" y="98"/>
                </a:cxn>
                <a:cxn ang="0">
                  <a:pos x="6" y="90"/>
                </a:cxn>
                <a:cxn ang="0">
                  <a:pos x="7" y="90"/>
                </a:cxn>
                <a:cxn ang="0">
                  <a:pos x="4" y="82"/>
                </a:cxn>
                <a:cxn ang="0">
                  <a:pos x="4" y="77"/>
                </a:cxn>
                <a:cxn ang="0">
                  <a:pos x="0" y="62"/>
                </a:cxn>
                <a:cxn ang="0">
                  <a:pos x="5" y="53"/>
                </a:cxn>
                <a:cxn ang="0">
                  <a:pos x="2" y="54"/>
                </a:cxn>
                <a:cxn ang="0">
                  <a:pos x="11" y="41"/>
                </a:cxn>
                <a:cxn ang="0">
                  <a:pos x="14" y="53"/>
                </a:cxn>
                <a:cxn ang="0">
                  <a:pos x="30" y="62"/>
                </a:cxn>
                <a:cxn ang="0">
                  <a:pos x="50" y="58"/>
                </a:cxn>
                <a:cxn ang="0">
                  <a:pos x="56" y="50"/>
                </a:cxn>
                <a:cxn ang="0">
                  <a:pos x="77" y="55"/>
                </a:cxn>
                <a:cxn ang="0">
                  <a:pos x="90" y="49"/>
                </a:cxn>
                <a:cxn ang="0">
                  <a:pos x="97" y="34"/>
                </a:cxn>
                <a:cxn ang="0">
                  <a:pos x="101" y="25"/>
                </a:cxn>
                <a:cxn ang="0">
                  <a:pos x="104" y="12"/>
                </a:cxn>
                <a:cxn ang="0">
                  <a:pos x="108" y="0"/>
                </a:cxn>
                <a:cxn ang="0">
                  <a:pos x="122" y="1"/>
                </a:cxn>
                <a:cxn ang="0">
                  <a:pos x="136" y="4"/>
                </a:cxn>
                <a:cxn ang="0">
                  <a:pos x="134" y="6"/>
                </a:cxn>
                <a:cxn ang="0">
                  <a:pos x="134" y="7"/>
                </a:cxn>
                <a:cxn ang="0">
                  <a:pos x="138" y="13"/>
                </a:cxn>
                <a:cxn ang="0">
                  <a:pos x="134" y="12"/>
                </a:cxn>
                <a:cxn ang="0">
                  <a:pos x="130" y="13"/>
                </a:cxn>
                <a:cxn ang="0">
                  <a:pos x="132" y="20"/>
                </a:cxn>
                <a:cxn ang="0">
                  <a:pos x="144" y="38"/>
                </a:cxn>
                <a:cxn ang="0">
                  <a:pos x="142" y="44"/>
                </a:cxn>
                <a:cxn ang="0">
                  <a:pos x="150" y="53"/>
                </a:cxn>
                <a:cxn ang="0">
                  <a:pos x="158" y="62"/>
                </a:cxn>
              </a:cxnLst>
              <a:rect l="0" t="0" r="r" b="b"/>
              <a:pathLst>
                <a:path w="158" h="150">
                  <a:moveTo>
                    <a:pt x="158" y="62"/>
                  </a:moveTo>
                  <a:lnTo>
                    <a:pt x="144" y="61"/>
                  </a:lnTo>
                  <a:lnTo>
                    <a:pt x="143" y="60"/>
                  </a:lnTo>
                  <a:lnTo>
                    <a:pt x="136" y="84"/>
                  </a:lnTo>
                  <a:lnTo>
                    <a:pt x="138" y="85"/>
                  </a:lnTo>
                  <a:lnTo>
                    <a:pt x="134" y="94"/>
                  </a:lnTo>
                  <a:lnTo>
                    <a:pt x="125" y="98"/>
                  </a:lnTo>
                  <a:lnTo>
                    <a:pt x="118" y="110"/>
                  </a:lnTo>
                  <a:lnTo>
                    <a:pt x="118" y="118"/>
                  </a:lnTo>
                  <a:lnTo>
                    <a:pt x="121" y="118"/>
                  </a:lnTo>
                  <a:lnTo>
                    <a:pt x="116" y="124"/>
                  </a:lnTo>
                  <a:lnTo>
                    <a:pt x="114" y="130"/>
                  </a:lnTo>
                  <a:lnTo>
                    <a:pt x="110" y="143"/>
                  </a:lnTo>
                  <a:lnTo>
                    <a:pt x="89" y="150"/>
                  </a:lnTo>
                  <a:lnTo>
                    <a:pt x="86" y="140"/>
                  </a:lnTo>
                  <a:lnTo>
                    <a:pt x="84" y="138"/>
                  </a:lnTo>
                  <a:lnTo>
                    <a:pt x="73" y="138"/>
                  </a:lnTo>
                  <a:lnTo>
                    <a:pt x="64" y="133"/>
                  </a:lnTo>
                  <a:lnTo>
                    <a:pt x="54" y="138"/>
                  </a:lnTo>
                  <a:lnTo>
                    <a:pt x="46" y="139"/>
                  </a:lnTo>
                  <a:lnTo>
                    <a:pt x="42" y="130"/>
                  </a:lnTo>
                  <a:lnTo>
                    <a:pt x="29" y="132"/>
                  </a:lnTo>
                  <a:lnTo>
                    <a:pt x="30" y="131"/>
                  </a:lnTo>
                  <a:lnTo>
                    <a:pt x="26" y="132"/>
                  </a:lnTo>
                  <a:lnTo>
                    <a:pt x="19" y="130"/>
                  </a:lnTo>
                  <a:lnTo>
                    <a:pt x="16" y="112"/>
                  </a:lnTo>
                  <a:lnTo>
                    <a:pt x="16" y="98"/>
                  </a:lnTo>
                  <a:lnTo>
                    <a:pt x="6" y="90"/>
                  </a:lnTo>
                  <a:lnTo>
                    <a:pt x="7" y="90"/>
                  </a:lnTo>
                  <a:lnTo>
                    <a:pt x="4" y="82"/>
                  </a:lnTo>
                  <a:lnTo>
                    <a:pt x="4" y="77"/>
                  </a:lnTo>
                  <a:lnTo>
                    <a:pt x="0" y="62"/>
                  </a:lnTo>
                  <a:lnTo>
                    <a:pt x="5" y="53"/>
                  </a:lnTo>
                  <a:lnTo>
                    <a:pt x="2" y="54"/>
                  </a:lnTo>
                  <a:lnTo>
                    <a:pt x="11" y="41"/>
                  </a:lnTo>
                  <a:lnTo>
                    <a:pt x="14" y="53"/>
                  </a:lnTo>
                  <a:lnTo>
                    <a:pt x="30" y="62"/>
                  </a:lnTo>
                  <a:lnTo>
                    <a:pt x="50" y="58"/>
                  </a:lnTo>
                  <a:lnTo>
                    <a:pt x="56" y="50"/>
                  </a:lnTo>
                  <a:lnTo>
                    <a:pt x="77" y="55"/>
                  </a:lnTo>
                  <a:lnTo>
                    <a:pt x="90" y="49"/>
                  </a:lnTo>
                  <a:lnTo>
                    <a:pt x="97" y="34"/>
                  </a:lnTo>
                  <a:lnTo>
                    <a:pt x="101" y="25"/>
                  </a:lnTo>
                  <a:lnTo>
                    <a:pt x="104" y="12"/>
                  </a:lnTo>
                  <a:lnTo>
                    <a:pt x="108" y="0"/>
                  </a:lnTo>
                  <a:lnTo>
                    <a:pt x="122" y="1"/>
                  </a:lnTo>
                  <a:lnTo>
                    <a:pt x="136" y="4"/>
                  </a:lnTo>
                  <a:lnTo>
                    <a:pt x="134" y="6"/>
                  </a:lnTo>
                  <a:lnTo>
                    <a:pt x="134" y="7"/>
                  </a:lnTo>
                  <a:lnTo>
                    <a:pt x="138" y="13"/>
                  </a:lnTo>
                  <a:lnTo>
                    <a:pt x="134" y="12"/>
                  </a:lnTo>
                  <a:lnTo>
                    <a:pt x="130" y="13"/>
                  </a:lnTo>
                  <a:lnTo>
                    <a:pt x="132" y="20"/>
                  </a:lnTo>
                  <a:lnTo>
                    <a:pt x="144" y="38"/>
                  </a:lnTo>
                  <a:lnTo>
                    <a:pt x="142" y="44"/>
                  </a:lnTo>
                  <a:lnTo>
                    <a:pt x="150" y="53"/>
                  </a:lnTo>
                  <a:lnTo>
                    <a:pt x="158" y="6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 name="Freeform 8"/>
            <p:cNvSpPr>
              <a:spLocks/>
            </p:cNvSpPr>
            <p:nvPr/>
          </p:nvSpPr>
          <p:spPr bwMode="auto">
            <a:xfrm>
              <a:off x="4206" y="2594"/>
              <a:ext cx="194" cy="227"/>
            </a:xfrm>
            <a:custGeom>
              <a:avLst/>
              <a:gdLst/>
              <a:ahLst/>
              <a:cxnLst>
                <a:cxn ang="0">
                  <a:pos x="173" y="158"/>
                </a:cxn>
                <a:cxn ang="0">
                  <a:pos x="172" y="160"/>
                </a:cxn>
                <a:cxn ang="0">
                  <a:pos x="170" y="182"/>
                </a:cxn>
                <a:cxn ang="0">
                  <a:pos x="167" y="204"/>
                </a:cxn>
                <a:cxn ang="0">
                  <a:pos x="160" y="198"/>
                </a:cxn>
                <a:cxn ang="0">
                  <a:pos x="159" y="202"/>
                </a:cxn>
                <a:cxn ang="0">
                  <a:pos x="150" y="200"/>
                </a:cxn>
                <a:cxn ang="0">
                  <a:pos x="150" y="204"/>
                </a:cxn>
                <a:cxn ang="0">
                  <a:pos x="135" y="189"/>
                </a:cxn>
                <a:cxn ang="0">
                  <a:pos x="126" y="180"/>
                </a:cxn>
                <a:cxn ang="0">
                  <a:pos x="118" y="172"/>
                </a:cxn>
                <a:cxn ang="0">
                  <a:pos x="110" y="164"/>
                </a:cxn>
                <a:cxn ang="0">
                  <a:pos x="101" y="154"/>
                </a:cxn>
                <a:cxn ang="0">
                  <a:pos x="94" y="140"/>
                </a:cxn>
                <a:cxn ang="0">
                  <a:pos x="87" y="125"/>
                </a:cxn>
                <a:cxn ang="0">
                  <a:pos x="84" y="123"/>
                </a:cxn>
                <a:cxn ang="0">
                  <a:pos x="76" y="110"/>
                </a:cxn>
                <a:cxn ang="0">
                  <a:pos x="68" y="96"/>
                </a:cxn>
                <a:cxn ang="0">
                  <a:pos x="63" y="84"/>
                </a:cxn>
                <a:cxn ang="0">
                  <a:pos x="58" y="72"/>
                </a:cxn>
                <a:cxn ang="0">
                  <a:pos x="45" y="59"/>
                </a:cxn>
                <a:cxn ang="0">
                  <a:pos x="35" y="45"/>
                </a:cxn>
                <a:cxn ang="0">
                  <a:pos x="23" y="33"/>
                </a:cxn>
                <a:cxn ang="0">
                  <a:pos x="11" y="21"/>
                </a:cxn>
                <a:cxn ang="0">
                  <a:pos x="0" y="0"/>
                </a:cxn>
                <a:cxn ang="0">
                  <a:pos x="11" y="2"/>
                </a:cxn>
                <a:cxn ang="0">
                  <a:pos x="23" y="4"/>
                </a:cxn>
                <a:cxn ang="0">
                  <a:pos x="35" y="6"/>
                </a:cxn>
                <a:cxn ang="0">
                  <a:pos x="50" y="23"/>
                </a:cxn>
                <a:cxn ang="0">
                  <a:pos x="51" y="27"/>
                </a:cxn>
                <a:cxn ang="0">
                  <a:pos x="65" y="40"/>
                </a:cxn>
                <a:cxn ang="0">
                  <a:pos x="80" y="52"/>
                </a:cxn>
                <a:cxn ang="0">
                  <a:pos x="92" y="65"/>
                </a:cxn>
                <a:cxn ang="0">
                  <a:pos x="90" y="59"/>
                </a:cxn>
                <a:cxn ang="0">
                  <a:pos x="105" y="70"/>
                </a:cxn>
                <a:cxn ang="0">
                  <a:pos x="113" y="81"/>
                </a:cxn>
                <a:cxn ang="0">
                  <a:pos x="128" y="90"/>
                </a:cxn>
                <a:cxn ang="0">
                  <a:pos x="130" y="92"/>
                </a:cxn>
                <a:cxn ang="0">
                  <a:pos x="140" y="100"/>
                </a:cxn>
                <a:cxn ang="0">
                  <a:pos x="132" y="104"/>
                </a:cxn>
                <a:cxn ang="0">
                  <a:pos x="134" y="107"/>
                </a:cxn>
                <a:cxn ang="0">
                  <a:pos x="132" y="110"/>
                </a:cxn>
                <a:cxn ang="0">
                  <a:pos x="135" y="116"/>
                </a:cxn>
                <a:cxn ang="0">
                  <a:pos x="147" y="118"/>
                </a:cxn>
                <a:cxn ang="0">
                  <a:pos x="150" y="131"/>
                </a:cxn>
                <a:cxn ang="0">
                  <a:pos x="153" y="136"/>
                </a:cxn>
                <a:cxn ang="0">
                  <a:pos x="153" y="143"/>
                </a:cxn>
                <a:cxn ang="0">
                  <a:pos x="166" y="143"/>
                </a:cxn>
                <a:cxn ang="0">
                  <a:pos x="173" y="158"/>
                </a:cxn>
              </a:cxnLst>
              <a:rect l="0" t="0" r="r" b="b"/>
              <a:pathLst>
                <a:path w="173" h="204">
                  <a:moveTo>
                    <a:pt x="173" y="158"/>
                  </a:moveTo>
                  <a:lnTo>
                    <a:pt x="172" y="160"/>
                  </a:lnTo>
                  <a:lnTo>
                    <a:pt x="170" y="182"/>
                  </a:lnTo>
                  <a:lnTo>
                    <a:pt x="167" y="204"/>
                  </a:lnTo>
                  <a:lnTo>
                    <a:pt x="160" y="198"/>
                  </a:lnTo>
                  <a:lnTo>
                    <a:pt x="159" y="202"/>
                  </a:lnTo>
                  <a:lnTo>
                    <a:pt x="150" y="200"/>
                  </a:lnTo>
                  <a:lnTo>
                    <a:pt x="150" y="204"/>
                  </a:lnTo>
                  <a:lnTo>
                    <a:pt x="135" y="189"/>
                  </a:lnTo>
                  <a:lnTo>
                    <a:pt x="126" y="180"/>
                  </a:lnTo>
                  <a:lnTo>
                    <a:pt x="118" y="172"/>
                  </a:lnTo>
                  <a:lnTo>
                    <a:pt x="110" y="164"/>
                  </a:lnTo>
                  <a:lnTo>
                    <a:pt x="101" y="154"/>
                  </a:lnTo>
                  <a:lnTo>
                    <a:pt x="94" y="140"/>
                  </a:lnTo>
                  <a:lnTo>
                    <a:pt x="87" y="125"/>
                  </a:lnTo>
                  <a:lnTo>
                    <a:pt x="84" y="123"/>
                  </a:lnTo>
                  <a:lnTo>
                    <a:pt x="76" y="110"/>
                  </a:lnTo>
                  <a:lnTo>
                    <a:pt x="68" y="96"/>
                  </a:lnTo>
                  <a:lnTo>
                    <a:pt x="63" y="84"/>
                  </a:lnTo>
                  <a:lnTo>
                    <a:pt x="58" y="72"/>
                  </a:lnTo>
                  <a:lnTo>
                    <a:pt x="45" y="59"/>
                  </a:lnTo>
                  <a:lnTo>
                    <a:pt x="35" y="45"/>
                  </a:lnTo>
                  <a:lnTo>
                    <a:pt x="23" y="33"/>
                  </a:lnTo>
                  <a:lnTo>
                    <a:pt x="11" y="21"/>
                  </a:lnTo>
                  <a:lnTo>
                    <a:pt x="0" y="0"/>
                  </a:lnTo>
                  <a:lnTo>
                    <a:pt x="11" y="2"/>
                  </a:lnTo>
                  <a:lnTo>
                    <a:pt x="23" y="4"/>
                  </a:lnTo>
                  <a:lnTo>
                    <a:pt x="35" y="6"/>
                  </a:lnTo>
                  <a:lnTo>
                    <a:pt x="50" y="23"/>
                  </a:lnTo>
                  <a:lnTo>
                    <a:pt x="51" y="27"/>
                  </a:lnTo>
                  <a:lnTo>
                    <a:pt x="65" y="40"/>
                  </a:lnTo>
                  <a:lnTo>
                    <a:pt x="80" y="52"/>
                  </a:lnTo>
                  <a:lnTo>
                    <a:pt x="92" y="65"/>
                  </a:lnTo>
                  <a:lnTo>
                    <a:pt x="90" y="59"/>
                  </a:lnTo>
                  <a:lnTo>
                    <a:pt x="105" y="70"/>
                  </a:lnTo>
                  <a:lnTo>
                    <a:pt x="113" y="81"/>
                  </a:lnTo>
                  <a:lnTo>
                    <a:pt x="128" y="90"/>
                  </a:lnTo>
                  <a:lnTo>
                    <a:pt x="130" y="92"/>
                  </a:lnTo>
                  <a:lnTo>
                    <a:pt x="140" y="100"/>
                  </a:lnTo>
                  <a:lnTo>
                    <a:pt x="132" y="104"/>
                  </a:lnTo>
                  <a:lnTo>
                    <a:pt x="134" y="107"/>
                  </a:lnTo>
                  <a:lnTo>
                    <a:pt x="132" y="110"/>
                  </a:lnTo>
                  <a:lnTo>
                    <a:pt x="135" y="116"/>
                  </a:lnTo>
                  <a:lnTo>
                    <a:pt x="147" y="118"/>
                  </a:lnTo>
                  <a:lnTo>
                    <a:pt x="150" y="131"/>
                  </a:lnTo>
                  <a:lnTo>
                    <a:pt x="153" y="136"/>
                  </a:lnTo>
                  <a:lnTo>
                    <a:pt x="153" y="143"/>
                  </a:lnTo>
                  <a:lnTo>
                    <a:pt x="166" y="143"/>
                  </a:lnTo>
                  <a:lnTo>
                    <a:pt x="173" y="15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 name="Freeform 9"/>
            <p:cNvSpPr>
              <a:spLocks/>
            </p:cNvSpPr>
            <p:nvPr/>
          </p:nvSpPr>
          <p:spPr bwMode="auto">
            <a:xfrm>
              <a:off x="4842" y="2714"/>
              <a:ext cx="173" cy="173"/>
            </a:xfrm>
            <a:custGeom>
              <a:avLst/>
              <a:gdLst/>
              <a:ahLst/>
              <a:cxnLst>
                <a:cxn ang="0">
                  <a:pos x="118" y="132"/>
                </a:cxn>
                <a:cxn ang="0">
                  <a:pos x="122" y="138"/>
                </a:cxn>
                <a:cxn ang="0">
                  <a:pos x="139" y="147"/>
                </a:cxn>
                <a:cxn ang="0">
                  <a:pos x="150" y="142"/>
                </a:cxn>
                <a:cxn ang="0">
                  <a:pos x="152" y="113"/>
                </a:cxn>
                <a:cxn ang="0">
                  <a:pos x="154" y="84"/>
                </a:cxn>
                <a:cxn ang="0">
                  <a:pos x="156" y="54"/>
                </a:cxn>
                <a:cxn ang="0">
                  <a:pos x="145" y="37"/>
                </a:cxn>
                <a:cxn ang="0">
                  <a:pos x="106" y="19"/>
                </a:cxn>
                <a:cxn ang="0">
                  <a:pos x="81" y="36"/>
                </a:cxn>
                <a:cxn ang="0">
                  <a:pos x="58" y="47"/>
                </a:cxn>
                <a:cxn ang="0">
                  <a:pos x="51" y="42"/>
                </a:cxn>
                <a:cxn ang="0">
                  <a:pos x="48" y="13"/>
                </a:cxn>
                <a:cxn ang="0">
                  <a:pos x="31" y="4"/>
                </a:cxn>
                <a:cxn ang="0">
                  <a:pos x="2" y="10"/>
                </a:cxn>
                <a:cxn ang="0">
                  <a:pos x="12" y="23"/>
                </a:cxn>
                <a:cxn ang="0">
                  <a:pos x="31" y="34"/>
                </a:cxn>
                <a:cxn ang="0">
                  <a:pos x="42" y="36"/>
                </a:cxn>
                <a:cxn ang="0">
                  <a:pos x="39" y="39"/>
                </a:cxn>
                <a:cxn ang="0">
                  <a:pos x="20" y="42"/>
                </a:cxn>
                <a:cxn ang="0">
                  <a:pos x="27" y="57"/>
                </a:cxn>
                <a:cxn ang="0">
                  <a:pos x="33" y="65"/>
                </a:cxn>
                <a:cxn ang="0">
                  <a:pos x="40" y="59"/>
                </a:cxn>
                <a:cxn ang="0">
                  <a:pos x="57" y="64"/>
                </a:cxn>
                <a:cxn ang="0">
                  <a:pos x="68" y="73"/>
                </a:cxn>
                <a:cxn ang="0">
                  <a:pos x="92" y="83"/>
                </a:cxn>
                <a:cxn ang="0">
                  <a:pos x="109" y="95"/>
                </a:cxn>
                <a:cxn ang="0">
                  <a:pos x="122" y="119"/>
                </a:cxn>
                <a:cxn ang="0">
                  <a:pos x="122" y="123"/>
                </a:cxn>
                <a:cxn ang="0">
                  <a:pos x="117" y="129"/>
                </a:cxn>
                <a:cxn ang="0">
                  <a:pos x="97" y="144"/>
                </a:cxn>
                <a:cxn ang="0">
                  <a:pos x="118" y="131"/>
                </a:cxn>
              </a:cxnLst>
              <a:rect l="0" t="0" r="r" b="b"/>
              <a:pathLst>
                <a:path w="156" h="157">
                  <a:moveTo>
                    <a:pt x="118" y="131"/>
                  </a:moveTo>
                  <a:lnTo>
                    <a:pt x="118" y="132"/>
                  </a:lnTo>
                  <a:lnTo>
                    <a:pt x="117" y="141"/>
                  </a:lnTo>
                  <a:lnTo>
                    <a:pt x="122" y="138"/>
                  </a:lnTo>
                  <a:lnTo>
                    <a:pt x="135" y="136"/>
                  </a:lnTo>
                  <a:lnTo>
                    <a:pt x="139" y="147"/>
                  </a:lnTo>
                  <a:lnTo>
                    <a:pt x="148" y="157"/>
                  </a:lnTo>
                  <a:lnTo>
                    <a:pt x="150" y="142"/>
                  </a:lnTo>
                  <a:lnTo>
                    <a:pt x="151" y="127"/>
                  </a:lnTo>
                  <a:lnTo>
                    <a:pt x="152" y="113"/>
                  </a:lnTo>
                  <a:lnTo>
                    <a:pt x="153" y="99"/>
                  </a:lnTo>
                  <a:lnTo>
                    <a:pt x="154" y="84"/>
                  </a:lnTo>
                  <a:lnTo>
                    <a:pt x="154" y="69"/>
                  </a:lnTo>
                  <a:lnTo>
                    <a:pt x="156" y="54"/>
                  </a:lnTo>
                  <a:lnTo>
                    <a:pt x="156" y="40"/>
                  </a:lnTo>
                  <a:lnTo>
                    <a:pt x="145" y="37"/>
                  </a:lnTo>
                  <a:lnTo>
                    <a:pt x="126" y="28"/>
                  </a:lnTo>
                  <a:lnTo>
                    <a:pt x="106" y="19"/>
                  </a:lnTo>
                  <a:lnTo>
                    <a:pt x="96" y="28"/>
                  </a:lnTo>
                  <a:lnTo>
                    <a:pt x="81" y="36"/>
                  </a:lnTo>
                  <a:lnTo>
                    <a:pt x="64" y="53"/>
                  </a:lnTo>
                  <a:lnTo>
                    <a:pt x="58" y="47"/>
                  </a:lnTo>
                  <a:lnTo>
                    <a:pt x="52" y="39"/>
                  </a:lnTo>
                  <a:lnTo>
                    <a:pt x="51" y="42"/>
                  </a:lnTo>
                  <a:lnTo>
                    <a:pt x="48" y="23"/>
                  </a:lnTo>
                  <a:lnTo>
                    <a:pt x="48" y="13"/>
                  </a:lnTo>
                  <a:lnTo>
                    <a:pt x="46" y="6"/>
                  </a:lnTo>
                  <a:lnTo>
                    <a:pt x="31" y="4"/>
                  </a:lnTo>
                  <a:lnTo>
                    <a:pt x="16" y="0"/>
                  </a:lnTo>
                  <a:lnTo>
                    <a:pt x="2" y="10"/>
                  </a:lnTo>
                  <a:lnTo>
                    <a:pt x="0" y="19"/>
                  </a:lnTo>
                  <a:lnTo>
                    <a:pt x="12" y="23"/>
                  </a:lnTo>
                  <a:lnTo>
                    <a:pt x="20" y="34"/>
                  </a:lnTo>
                  <a:lnTo>
                    <a:pt x="31" y="34"/>
                  </a:lnTo>
                  <a:lnTo>
                    <a:pt x="43" y="33"/>
                  </a:lnTo>
                  <a:lnTo>
                    <a:pt x="42" y="36"/>
                  </a:lnTo>
                  <a:lnTo>
                    <a:pt x="40" y="39"/>
                  </a:lnTo>
                  <a:lnTo>
                    <a:pt x="39" y="39"/>
                  </a:lnTo>
                  <a:lnTo>
                    <a:pt x="34" y="39"/>
                  </a:lnTo>
                  <a:lnTo>
                    <a:pt x="20" y="42"/>
                  </a:lnTo>
                  <a:lnTo>
                    <a:pt x="14" y="46"/>
                  </a:lnTo>
                  <a:lnTo>
                    <a:pt x="27" y="57"/>
                  </a:lnTo>
                  <a:lnTo>
                    <a:pt x="25" y="64"/>
                  </a:lnTo>
                  <a:lnTo>
                    <a:pt x="33" y="65"/>
                  </a:lnTo>
                  <a:lnTo>
                    <a:pt x="43" y="48"/>
                  </a:lnTo>
                  <a:lnTo>
                    <a:pt x="40" y="59"/>
                  </a:lnTo>
                  <a:lnTo>
                    <a:pt x="54" y="64"/>
                  </a:lnTo>
                  <a:lnTo>
                    <a:pt x="57" y="64"/>
                  </a:lnTo>
                  <a:lnTo>
                    <a:pt x="56" y="70"/>
                  </a:lnTo>
                  <a:lnTo>
                    <a:pt x="68" y="73"/>
                  </a:lnTo>
                  <a:lnTo>
                    <a:pt x="80" y="78"/>
                  </a:lnTo>
                  <a:lnTo>
                    <a:pt x="92" y="83"/>
                  </a:lnTo>
                  <a:lnTo>
                    <a:pt x="103" y="88"/>
                  </a:lnTo>
                  <a:lnTo>
                    <a:pt x="109" y="95"/>
                  </a:lnTo>
                  <a:lnTo>
                    <a:pt x="117" y="115"/>
                  </a:lnTo>
                  <a:lnTo>
                    <a:pt x="122" y="119"/>
                  </a:lnTo>
                  <a:lnTo>
                    <a:pt x="114" y="119"/>
                  </a:lnTo>
                  <a:lnTo>
                    <a:pt x="122" y="123"/>
                  </a:lnTo>
                  <a:lnTo>
                    <a:pt x="115" y="124"/>
                  </a:lnTo>
                  <a:lnTo>
                    <a:pt x="117" y="129"/>
                  </a:lnTo>
                  <a:lnTo>
                    <a:pt x="106" y="127"/>
                  </a:lnTo>
                  <a:lnTo>
                    <a:pt x="97" y="144"/>
                  </a:lnTo>
                  <a:lnTo>
                    <a:pt x="111" y="141"/>
                  </a:lnTo>
                  <a:lnTo>
                    <a:pt x="118" y="1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 name="Freeform 10"/>
            <p:cNvSpPr>
              <a:spLocks/>
            </p:cNvSpPr>
            <p:nvPr/>
          </p:nvSpPr>
          <p:spPr bwMode="auto">
            <a:xfrm>
              <a:off x="4626" y="2672"/>
              <a:ext cx="111" cy="147"/>
            </a:xfrm>
            <a:custGeom>
              <a:avLst/>
              <a:gdLst/>
              <a:ahLst/>
              <a:cxnLst>
                <a:cxn ang="0">
                  <a:pos x="101" y="4"/>
                </a:cxn>
                <a:cxn ang="0">
                  <a:pos x="96" y="0"/>
                </a:cxn>
                <a:cxn ang="0">
                  <a:pos x="82" y="16"/>
                </a:cxn>
                <a:cxn ang="0">
                  <a:pos x="61" y="12"/>
                </a:cxn>
                <a:cxn ang="0">
                  <a:pos x="41" y="8"/>
                </a:cxn>
                <a:cxn ang="0">
                  <a:pos x="31" y="8"/>
                </a:cxn>
                <a:cxn ang="0">
                  <a:pos x="25" y="16"/>
                </a:cxn>
                <a:cxn ang="0">
                  <a:pos x="22" y="16"/>
                </a:cxn>
                <a:cxn ang="0">
                  <a:pos x="15" y="30"/>
                </a:cxn>
                <a:cxn ang="0">
                  <a:pos x="16" y="46"/>
                </a:cxn>
                <a:cxn ang="0">
                  <a:pos x="13" y="43"/>
                </a:cxn>
                <a:cxn ang="0">
                  <a:pos x="7" y="60"/>
                </a:cxn>
                <a:cxn ang="0">
                  <a:pos x="0" y="78"/>
                </a:cxn>
                <a:cxn ang="0">
                  <a:pos x="1" y="94"/>
                </a:cxn>
                <a:cxn ang="0">
                  <a:pos x="9" y="95"/>
                </a:cxn>
                <a:cxn ang="0">
                  <a:pos x="9" y="108"/>
                </a:cxn>
                <a:cxn ang="0">
                  <a:pos x="7" y="121"/>
                </a:cxn>
                <a:cxn ang="0">
                  <a:pos x="9" y="132"/>
                </a:cxn>
                <a:cxn ang="0">
                  <a:pos x="23" y="128"/>
                </a:cxn>
                <a:cxn ang="0">
                  <a:pos x="22" y="107"/>
                </a:cxn>
                <a:cxn ang="0">
                  <a:pos x="22" y="85"/>
                </a:cxn>
                <a:cxn ang="0">
                  <a:pos x="31" y="78"/>
                </a:cxn>
                <a:cxn ang="0">
                  <a:pos x="33" y="89"/>
                </a:cxn>
                <a:cxn ang="0">
                  <a:pos x="34" y="96"/>
                </a:cxn>
                <a:cxn ang="0">
                  <a:pos x="41" y="106"/>
                </a:cxn>
                <a:cxn ang="0">
                  <a:pos x="43" y="116"/>
                </a:cxn>
                <a:cxn ang="0">
                  <a:pos x="48" y="114"/>
                </a:cxn>
                <a:cxn ang="0">
                  <a:pos x="59" y="108"/>
                </a:cxn>
                <a:cxn ang="0">
                  <a:pos x="63" y="106"/>
                </a:cxn>
                <a:cxn ang="0">
                  <a:pos x="53" y="91"/>
                </a:cxn>
                <a:cxn ang="0">
                  <a:pos x="55" y="86"/>
                </a:cxn>
                <a:cxn ang="0">
                  <a:pos x="47" y="74"/>
                </a:cxn>
                <a:cxn ang="0">
                  <a:pos x="40" y="62"/>
                </a:cxn>
                <a:cxn ang="0">
                  <a:pos x="46" y="64"/>
                </a:cxn>
                <a:cxn ang="0">
                  <a:pos x="57" y="54"/>
                </a:cxn>
                <a:cxn ang="0">
                  <a:pos x="69" y="46"/>
                </a:cxn>
                <a:cxn ang="0">
                  <a:pos x="72" y="46"/>
                </a:cxn>
                <a:cxn ang="0">
                  <a:pos x="70" y="40"/>
                </a:cxn>
                <a:cxn ang="0">
                  <a:pos x="64" y="42"/>
                </a:cxn>
                <a:cxn ang="0">
                  <a:pos x="45" y="46"/>
                </a:cxn>
                <a:cxn ang="0">
                  <a:pos x="31" y="54"/>
                </a:cxn>
                <a:cxn ang="0">
                  <a:pos x="19" y="37"/>
                </a:cxn>
                <a:cxn ang="0">
                  <a:pos x="25" y="22"/>
                </a:cxn>
                <a:cxn ang="0">
                  <a:pos x="47" y="23"/>
                </a:cxn>
                <a:cxn ang="0">
                  <a:pos x="70" y="24"/>
                </a:cxn>
                <a:cxn ang="0">
                  <a:pos x="91" y="19"/>
                </a:cxn>
                <a:cxn ang="0">
                  <a:pos x="101" y="4"/>
                </a:cxn>
              </a:cxnLst>
              <a:rect l="0" t="0" r="r" b="b"/>
              <a:pathLst>
                <a:path w="101" h="132">
                  <a:moveTo>
                    <a:pt x="101" y="4"/>
                  </a:moveTo>
                  <a:lnTo>
                    <a:pt x="96" y="0"/>
                  </a:lnTo>
                  <a:lnTo>
                    <a:pt x="82" y="16"/>
                  </a:lnTo>
                  <a:lnTo>
                    <a:pt x="61" y="12"/>
                  </a:lnTo>
                  <a:lnTo>
                    <a:pt x="41" y="8"/>
                  </a:lnTo>
                  <a:lnTo>
                    <a:pt x="31" y="8"/>
                  </a:lnTo>
                  <a:lnTo>
                    <a:pt x="25" y="16"/>
                  </a:lnTo>
                  <a:lnTo>
                    <a:pt x="22" y="16"/>
                  </a:lnTo>
                  <a:lnTo>
                    <a:pt x="15" y="30"/>
                  </a:lnTo>
                  <a:lnTo>
                    <a:pt x="16" y="46"/>
                  </a:lnTo>
                  <a:lnTo>
                    <a:pt x="13" y="43"/>
                  </a:lnTo>
                  <a:lnTo>
                    <a:pt x="7" y="60"/>
                  </a:lnTo>
                  <a:lnTo>
                    <a:pt x="0" y="78"/>
                  </a:lnTo>
                  <a:lnTo>
                    <a:pt x="1" y="94"/>
                  </a:lnTo>
                  <a:lnTo>
                    <a:pt x="9" y="95"/>
                  </a:lnTo>
                  <a:lnTo>
                    <a:pt x="9" y="108"/>
                  </a:lnTo>
                  <a:lnTo>
                    <a:pt x="7" y="121"/>
                  </a:lnTo>
                  <a:lnTo>
                    <a:pt x="9" y="132"/>
                  </a:lnTo>
                  <a:lnTo>
                    <a:pt x="23" y="128"/>
                  </a:lnTo>
                  <a:lnTo>
                    <a:pt x="22" y="107"/>
                  </a:lnTo>
                  <a:lnTo>
                    <a:pt x="22" y="85"/>
                  </a:lnTo>
                  <a:lnTo>
                    <a:pt x="31" y="78"/>
                  </a:lnTo>
                  <a:lnTo>
                    <a:pt x="33" y="89"/>
                  </a:lnTo>
                  <a:lnTo>
                    <a:pt x="34" y="96"/>
                  </a:lnTo>
                  <a:lnTo>
                    <a:pt x="41" y="106"/>
                  </a:lnTo>
                  <a:lnTo>
                    <a:pt x="43" y="116"/>
                  </a:lnTo>
                  <a:lnTo>
                    <a:pt x="48" y="114"/>
                  </a:lnTo>
                  <a:lnTo>
                    <a:pt x="59" y="108"/>
                  </a:lnTo>
                  <a:lnTo>
                    <a:pt x="63" y="106"/>
                  </a:lnTo>
                  <a:lnTo>
                    <a:pt x="53" y="91"/>
                  </a:lnTo>
                  <a:lnTo>
                    <a:pt x="55" y="86"/>
                  </a:lnTo>
                  <a:lnTo>
                    <a:pt x="47" y="74"/>
                  </a:lnTo>
                  <a:lnTo>
                    <a:pt x="40" y="62"/>
                  </a:lnTo>
                  <a:lnTo>
                    <a:pt x="46" y="64"/>
                  </a:lnTo>
                  <a:lnTo>
                    <a:pt x="57" y="54"/>
                  </a:lnTo>
                  <a:lnTo>
                    <a:pt x="69" y="46"/>
                  </a:lnTo>
                  <a:lnTo>
                    <a:pt x="72" y="46"/>
                  </a:lnTo>
                  <a:lnTo>
                    <a:pt x="70" y="40"/>
                  </a:lnTo>
                  <a:lnTo>
                    <a:pt x="64" y="42"/>
                  </a:lnTo>
                  <a:lnTo>
                    <a:pt x="45" y="46"/>
                  </a:lnTo>
                  <a:lnTo>
                    <a:pt x="31" y="54"/>
                  </a:lnTo>
                  <a:lnTo>
                    <a:pt x="19" y="37"/>
                  </a:lnTo>
                  <a:lnTo>
                    <a:pt x="25" y="22"/>
                  </a:lnTo>
                  <a:lnTo>
                    <a:pt x="47" y="23"/>
                  </a:lnTo>
                  <a:lnTo>
                    <a:pt x="70" y="24"/>
                  </a:lnTo>
                  <a:lnTo>
                    <a:pt x="91" y="19"/>
                  </a:lnTo>
                  <a:lnTo>
                    <a:pt x="10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 name="Freeform 11"/>
            <p:cNvSpPr>
              <a:spLocks/>
            </p:cNvSpPr>
            <p:nvPr/>
          </p:nvSpPr>
          <p:spPr bwMode="auto">
            <a:xfrm>
              <a:off x="4382" y="2825"/>
              <a:ext cx="162" cy="56"/>
            </a:xfrm>
            <a:custGeom>
              <a:avLst/>
              <a:gdLst/>
              <a:ahLst/>
              <a:cxnLst>
                <a:cxn ang="0">
                  <a:pos x="145" y="49"/>
                </a:cxn>
                <a:cxn ang="0">
                  <a:pos x="143" y="47"/>
                </a:cxn>
                <a:cxn ang="0">
                  <a:pos x="144" y="32"/>
                </a:cxn>
                <a:cxn ang="0">
                  <a:pos x="132" y="31"/>
                </a:cxn>
                <a:cxn ang="0">
                  <a:pos x="120" y="29"/>
                </a:cxn>
                <a:cxn ang="0">
                  <a:pos x="116" y="19"/>
                </a:cxn>
                <a:cxn ang="0">
                  <a:pos x="97" y="12"/>
                </a:cxn>
                <a:cxn ang="0">
                  <a:pos x="90" y="7"/>
                </a:cxn>
                <a:cxn ang="0">
                  <a:pos x="83" y="16"/>
                </a:cxn>
                <a:cxn ang="0">
                  <a:pos x="71" y="16"/>
                </a:cxn>
                <a:cxn ang="0">
                  <a:pos x="57" y="16"/>
                </a:cxn>
                <a:cxn ang="0">
                  <a:pos x="51" y="8"/>
                </a:cxn>
                <a:cxn ang="0">
                  <a:pos x="33" y="0"/>
                </a:cxn>
                <a:cxn ang="0">
                  <a:pos x="13" y="0"/>
                </a:cxn>
                <a:cxn ang="0">
                  <a:pos x="5" y="11"/>
                </a:cxn>
                <a:cxn ang="0">
                  <a:pos x="0" y="13"/>
                </a:cxn>
                <a:cxn ang="0">
                  <a:pos x="17" y="18"/>
                </a:cxn>
                <a:cxn ang="0">
                  <a:pos x="17" y="22"/>
                </a:cxn>
                <a:cxn ang="0">
                  <a:pos x="32" y="26"/>
                </a:cxn>
                <a:cxn ang="0">
                  <a:pos x="49" y="30"/>
                </a:cxn>
                <a:cxn ang="0">
                  <a:pos x="63" y="34"/>
                </a:cxn>
                <a:cxn ang="0">
                  <a:pos x="79" y="37"/>
                </a:cxn>
                <a:cxn ang="0">
                  <a:pos x="99" y="40"/>
                </a:cxn>
                <a:cxn ang="0">
                  <a:pos x="119" y="42"/>
                </a:cxn>
                <a:cxn ang="0">
                  <a:pos x="132" y="46"/>
                </a:cxn>
                <a:cxn ang="0">
                  <a:pos x="145" y="49"/>
                </a:cxn>
              </a:cxnLst>
              <a:rect l="0" t="0" r="r" b="b"/>
              <a:pathLst>
                <a:path w="145" h="49">
                  <a:moveTo>
                    <a:pt x="145" y="49"/>
                  </a:moveTo>
                  <a:lnTo>
                    <a:pt x="143" y="47"/>
                  </a:lnTo>
                  <a:lnTo>
                    <a:pt x="144" y="32"/>
                  </a:lnTo>
                  <a:lnTo>
                    <a:pt x="132" y="31"/>
                  </a:lnTo>
                  <a:lnTo>
                    <a:pt x="120" y="29"/>
                  </a:lnTo>
                  <a:lnTo>
                    <a:pt x="116" y="19"/>
                  </a:lnTo>
                  <a:lnTo>
                    <a:pt x="97" y="12"/>
                  </a:lnTo>
                  <a:lnTo>
                    <a:pt x="90" y="7"/>
                  </a:lnTo>
                  <a:lnTo>
                    <a:pt x="83" y="16"/>
                  </a:lnTo>
                  <a:lnTo>
                    <a:pt x="71" y="16"/>
                  </a:lnTo>
                  <a:lnTo>
                    <a:pt x="57" y="16"/>
                  </a:lnTo>
                  <a:lnTo>
                    <a:pt x="51" y="8"/>
                  </a:lnTo>
                  <a:lnTo>
                    <a:pt x="33" y="0"/>
                  </a:lnTo>
                  <a:lnTo>
                    <a:pt x="13" y="0"/>
                  </a:lnTo>
                  <a:lnTo>
                    <a:pt x="5" y="11"/>
                  </a:lnTo>
                  <a:lnTo>
                    <a:pt x="0" y="13"/>
                  </a:lnTo>
                  <a:lnTo>
                    <a:pt x="17" y="18"/>
                  </a:lnTo>
                  <a:lnTo>
                    <a:pt x="17" y="22"/>
                  </a:lnTo>
                  <a:lnTo>
                    <a:pt x="32" y="26"/>
                  </a:lnTo>
                  <a:lnTo>
                    <a:pt x="49" y="30"/>
                  </a:lnTo>
                  <a:lnTo>
                    <a:pt x="63" y="34"/>
                  </a:lnTo>
                  <a:lnTo>
                    <a:pt x="79" y="37"/>
                  </a:lnTo>
                  <a:lnTo>
                    <a:pt x="99" y="40"/>
                  </a:lnTo>
                  <a:lnTo>
                    <a:pt x="119" y="42"/>
                  </a:lnTo>
                  <a:lnTo>
                    <a:pt x="132" y="46"/>
                  </a:lnTo>
                  <a:lnTo>
                    <a:pt x="145"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 name="Freeform 12"/>
            <p:cNvSpPr>
              <a:spLocks/>
            </p:cNvSpPr>
            <p:nvPr/>
          </p:nvSpPr>
          <p:spPr bwMode="auto">
            <a:xfrm>
              <a:off x="4700" y="2874"/>
              <a:ext cx="66" cy="38"/>
            </a:xfrm>
            <a:custGeom>
              <a:avLst/>
              <a:gdLst/>
              <a:ahLst/>
              <a:cxnLst>
                <a:cxn ang="0">
                  <a:pos x="61" y="0"/>
                </a:cxn>
                <a:cxn ang="0">
                  <a:pos x="39" y="1"/>
                </a:cxn>
                <a:cxn ang="0">
                  <a:pos x="23" y="9"/>
                </a:cxn>
                <a:cxn ang="0">
                  <a:pos x="9" y="17"/>
                </a:cxn>
                <a:cxn ang="0">
                  <a:pos x="1" y="30"/>
                </a:cxn>
                <a:cxn ang="0">
                  <a:pos x="0" y="31"/>
                </a:cxn>
                <a:cxn ang="0">
                  <a:pos x="1" y="35"/>
                </a:cxn>
                <a:cxn ang="0">
                  <a:pos x="22" y="24"/>
                </a:cxn>
                <a:cxn ang="0">
                  <a:pos x="41" y="12"/>
                </a:cxn>
                <a:cxn ang="0">
                  <a:pos x="61" y="0"/>
                </a:cxn>
              </a:cxnLst>
              <a:rect l="0" t="0" r="r" b="b"/>
              <a:pathLst>
                <a:path w="61" h="35">
                  <a:moveTo>
                    <a:pt x="61" y="0"/>
                  </a:moveTo>
                  <a:lnTo>
                    <a:pt x="39" y="1"/>
                  </a:lnTo>
                  <a:lnTo>
                    <a:pt x="23" y="9"/>
                  </a:lnTo>
                  <a:lnTo>
                    <a:pt x="9" y="17"/>
                  </a:lnTo>
                  <a:lnTo>
                    <a:pt x="1" y="30"/>
                  </a:lnTo>
                  <a:lnTo>
                    <a:pt x="0" y="31"/>
                  </a:lnTo>
                  <a:lnTo>
                    <a:pt x="1" y="35"/>
                  </a:lnTo>
                  <a:lnTo>
                    <a:pt x="22" y="24"/>
                  </a:lnTo>
                  <a:lnTo>
                    <a:pt x="41" y="12"/>
                  </a:lnTo>
                  <a:lnTo>
                    <a:pt x="6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 name="Freeform 13"/>
            <p:cNvSpPr>
              <a:spLocks/>
            </p:cNvSpPr>
            <p:nvPr/>
          </p:nvSpPr>
          <p:spPr bwMode="auto">
            <a:xfrm>
              <a:off x="4777" y="2663"/>
              <a:ext cx="25" cy="60"/>
            </a:xfrm>
            <a:custGeom>
              <a:avLst/>
              <a:gdLst/>
              <a:ahLst/>
              <a:cxnLst>
                <a:cxn ang="0">
                  <a:pos x="23" y="34"/>
                </a:cxn>
                <a:cxn ang="0">
                  <a:pos x="13" y="22"/>
                </a:cxn>
                <a:cxn ang="0">
                  <a:pos x="20" y="14"/>
                </a:cxn>
                <a:cxn ang="0">
                  <a:pos x="16" y="10"/>
                </a:cxn>
                <a:cxn ang="0">
                  <a:pos x="11" y="15"/>
                </a:cxn>
                <a:cxn ang="0">
                  <a:pos x="5" y="24"/>
                </a:cxn>
                <a:cxn ang="0">
                  <a:pos x="5" y="19"/>
                </a:cxn>
                <a:cxn ang="0">
                  <a:pos x="8" y="7"/>
                </a:cxn>
                <a:cxn ang="0">
                  <a:pos x="8" y="0"/>
                </a:cxn>
                <a:cxn ang="0">
                  <a:pos x="0" y="13"/>
                </a:cxn>
                <a:cxn ang="0">
                  <a:pos x="2" y="25"/>
                </a:cxn>
                <a:cxn ang="0">
                  <a:pos x="4" y="38"/>
                </a:cxn>
                <a:cxn ang="0">
                  <a:pos x="13" y="54"/>
                </a:cxn>
                <a:cxn ang="0">
                  <a:pos x="7" y="32"/>
                </a:cxn>
                <a:cxn ang="0">
                  <a:pos x="23" y="34"/>
                </a:cxn>
              </a:cxnLst>
              <a:rect l="0" t="0" r="r" b="b"/>
              <a:pathLst>
                <a:path w="23" h="54">
                  <a:moveTo>
                    <a:pt x="23" y="34"/>
                  </a:moveTo>
                  <a:lnTo>
                    <a:pt x="13" y="22"/>
                  </a:lnTo>
                  <a:lnTo>
                    <a:pt x="20" y="14"/>
                  </a:lnTo>
                  <a:lnTo>
                    <a:pt x="16" y="10"/>
                  </a:lnTo>
                  <a:lnTo>
                    <a:pt x="11" y="15"/>
                  </a:lnTo>
                  <a:lnTo>
                    <a:pt x="5" y="24"/>
                  </a:lnTo>
                  <a:lnTo>
                    <a:pt x="5" y="19"/>
                  </a:lnTo>
                  <a:lnTo>
                    <a:pt x="8" y="7"/>
                  </a:lnTo>
                  <a:lnTo>
                    <a:pt x="8" y="0"/>
                  </a:lnTo>
                  <a:lnTo>
                    <a:pt x="0" y="13"/>
                  </a:lnTo>
                  <a:lnTo>
                    <a:pt x="2" y="25"/>
                  </a:lnTo>
                  <a:lnTo>
                    <a:pt x="4" y="38"/>
                  </a:lnTo>
                  <a:lnTo>
                    <a:pt x="13" y="54"/>
                  </a:lnTo>
                  <a:lnTo>
                    <a:pt x="7" y="32"/>
                  </a:lnTo>
                  <a:lnTo>
                    <a:pt x="23"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 name="Freeform 14"/>
            <p:cNvSpPr>
              <a:spLocks/>
            </p:cNvSpPr>
            <p:nvPr/>
          </p:nvSpPr>
          <p:spPr bwMode="auto">
            <a:xfrm>
              <a:off x="4784" y="2763"/>
              <a:ext cx="51" cy="18"/>
            </a:xfrm>
            <a:custGeom>
              <a:avLst/>
              <a:gdLst/>
              <a:ahLst/>
              <a:cxnLst>
                <a:cxn ang="0">
                  <a:pos x="47" y="13"/>
                </a:cxn>
                <a:cxn ang="0">
                  <a:pos x="44" y="16"/>
                </a:cxn>
                <a:cxn ang="0">
                  <a:pos x="25" y="8"/>
                </a:cxn>
                <a:cxn ang="0">
                  <a:pos x="12" y="9"/>
                </a:cxn>
                <a:cxn ang="0">
                  <a:pos x="2" y="6"/>
                </a:cxn>
                <a:cxn ang="0">
                  <a:pos x="0" y="9"/>
                </a:cxn>
                <a:cxn ang="0">
                  <a:pos x="1" y="3"/>
                </a:cxn>
                <a:cxn ang="0">
                  <a:pos x="11" y="0"/>
                </a:cxn>
                <a:cxn ang="0">
                  <a:pos x="25" y="1"/>
                </a:cxn>
                <a:cxn ang="0">
                  <a:pos x="38" y="2"/>
                </a:cxn>
                <a:cxn ang="0">
                  <a:pos x="47" y="13"/>
                </a:cxn>
              </a:cxnLst>
              <a:rect l="0" t="0" r="r" b="b"/>
              <a:pathLst>
                <a:path w="47" h="16">
                  <a:moveTo>
                    <a:pt x="47" y="13"/>
                  </a:moveTo>
                  <a:lnTo>
                    <a:pt x="44" y="16"/>
                  </a:lnTo>
                  <a:lnTo>
                    <a:pt x="25" y="8"/>
                  </a:lnTo>
                  <a:lnTo>
                    <a:pt x="12" y="9"/>
                  </a:lnTo>
                  <a:lnTo>
                    <a:pt x="2" y="6"/>
                  </a:lnTo>
                  <a:lnTo>
                    <a:pt x="0" y="9"/>
                  </a:lnTo>
                  <a:lnTo>
                    <a:pt x="1" y="3"/>
                  </a:lnTo>
                  <a:lnTo>
                    <a:pt x="11" y="0"/>
                  </a:lnTo>
                  <a:lnTo>
                    <a:pt x="25" y="1"/>
                  </a:lnTo>
                  <a:lnTo>
                    <a:pt x="38" y="2"/>
                  </a:lnTo>
                  <a:lnTo>
                    <a:pt x="4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 name="Freeform 15"/>
            <p:cNvSpPr>
              <a:spLocks/>
            </p:cNvSpPr>
            <p:nvPr/>
          </p:nvSpPr>
          <p:spPr bwMode="auto">
            <a:xfrm>
              <a:off x="4635" y="2870"/>
              <a:ext cx="58" cy="11"/>
            </a:xfrm>
            <a:custGeom>
              <a:avLst/>
              <a:gdLst/>
              <a:ahLst/>
              <a:cxnLst>
                <a:cxn ang="0">
                  <a:pos x="51" y="1"/>
                </a:cxn>
                <a:cxn ang="0">
                  <a:pos x="51" y="0"/>
                </a:cxn>
                <a:cxn ang="0">
                  <a:pos x="48" y="0"/>
                </a:cxn>
                <a:cxn ang="0">
                  <a:pos x="43" y="4"/>
                </a:cxn>
                <a:cxn ang="0">
                  <a:pos x="33" y="4"/>
                </a:cxn>
                <a:cxn ang="0">
                  <a:pos x="21" y="2"/>
                </a:cxn>
                <a:cxn ang="0">
                  <a:pos x="8" y="1"/>
                </a:cxn>
                <a:cxn ang="0">
                  <a:pos x="0" y="8"/>
                </a:cxn>
                <a:cxn ang="0">
                  <a:pos x="7" y="10"/>
                </a:cxn>
                <a:cxn ang="0">
                  <a:pos x="22" y="10"/>
                </a:cxn>
                <a:cxn ang="0">
                  <a:pos x="38" y="9"/>
                </a:cxn>
                <a:cxn ang="0">
                  <a:pos x="51" y="1"/>
                </a:cxn>
              </a:cxnLst>
              <a:rect l="0" t="0" r="r" b="b"/>
              <a:pathLst>
                <a:path w="51" h="10">
                  <a:moveTo>
                    <a:pt x="51" y="1"/>
                  </a:moveTo>
                  <a:lnTo>
                    <a:pt x="51" y="0"/>
                  </a:lnTo>
                  <a:lnTo>
                    <a:pt x="48" y="0"/>
                  </a:lnTo>
                  <a:lnTo>
                    <a:pt x="43" y="4"/>
                  </a:lnTo>
                  <a:lnTo>
                    <a:pt x="33" y="4"/>
                  </a:lnTo>
                  <a:lnTo>
                    <a:pt x="21" y="2"/>
                  </a:lnTo>
                  <a:lnTo>
                    <a:pt x="8" y="1"/>
                  </a:lnTo>
                  <a:lnTo>
                    <a:pt x="0" y="8"/>
                  </a:lnTo>
                  <a:lnTo>
                    <a:pt x="7" y="10"/>
                  </a:lnTo>
                  <a:lnTo>
                    <a:pt x="22" y="10"/>
                  </a:lnTo>
                  <a:lnTo>
                    <a:pt x="38" y="9"/>
                  </a:lnTo>
                  <a:lnTo>
                    <a:pt x="5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 name="Freeform 16"/>
            <p:cNvSpPr>
              <a:spLocks/>
            </p:cNvSpPr>
            <p:nvPr/>
          </p:nvSpPr>
          <p:spPr bwMode="auto">
            <a:xfrm>
              <a:off x="4384" y="2736"/>
              <a:ext cx="29" cy="31"/>
            </a:xfrm>
            <a:custGeom>
              <a:avLst/>
              <a:gdLst/>
              <a:ahLst/>
              <a:cxnLst>
                <a:cxn ang="0">
                  <a:pos x="26" y="19"/>
                </a:cxn>
                <a:cxn ang="0">
                  <a:pos x="24" y="27"/>
                </a:cxn>
                <a:cxn ang="0">
                  <a:pos x="11" y="19"/>
                </a:cxn>
                <a:cxn ang="0">
                  <a:pos x="6" y="9"/>
                </a:cxn>
                <a:cxn ang="0">
                  <a:pos x="0" y="7"/>
                </a:cxn>
                <a:cxn ang="0">
                  <a:pos x="7" y="1"/>
                </a:cxn>
                <a:cxn ang="0">
                  <a:pos x="11" y="0"/>
                </a:cxn>
                <a:cxn ang="0">
                  <a:pos x="17" y="14"/>
                </a:cxn>
                <a:cxn ang="0">
                  <a:pos x="26" y="19"/>
                </a:cxn>
              </a:cxnLst>
              <a:rect l="0" t="0" r="r" b="b"/>
              <a:pathLst>
                <a:path w="26" h="27">
                  <a:moveTo>
                    <a:pt x="26" y="19"/>
                  </a:moveTo>
                  <a:lnTo>
                    <a:pt x="24" y="27"/>
                  </a:lnTo>
                  <a:lnTo>
                    <a:pt x="11" y="19"/>
                  </a:lnTo>
                  <a:lnTo>
                    <a:pt x="6" y="9"/>
                  </a:lnTo>
                  <a:lnTo>
                    <a:pt x="0" y="7"/>
                  </a:lnTo>
                  <a:lnTo>
                    <a:pt x="7" y="1"/>
                  </a:lnTo>
                  <a:lnTo>
                    <a:pt x="11" y="0"/>
                  </a:lnTo>
                  <a:lnTo>
                    <a:pt x="17" y="14"/>
                  </a:lnTo>
                  <a:lnTo>
                    <a:pt x="26"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 name="Freeform 17"/>
            <p:cNvSpPr>
              <a:spLocks/>
            </p:cNvSpPr>
            <p:nvPr/>
          </p:nvSpPr>
          <p:spPr bwMode="auto">
            <a:xfrm>
              <a:off x="4582" y="2867"/>
              <a:ext cx="42" cy="18"/>
            </a:xfrm>
            <a:custGeom>
              <a:avLst/>
              <a:gdLst/>
              <a:ahLst/>
              <a:cxnLst>
                <a:cxn ang="0">
                  <a:pos x="38" y="10"/>
                </a:cxn>
                <a:cxn ang="0">
                  <a:pos x="36" y="5"/>
                </a:cxn>
                <a:cxn ang="0">
                  <a:pos x="31" y="6"/>
                </a:cxn>
                <a:cxn ang="0">
                  <a:pos x="16" y="0"/>
                </a:cxn>
                <a:cxn ang="0">
                  <a:pos x="24" y="10"/>
                </a:cxn>
                <a:cxn ang="0">
                  <a:pos x="15" y="9"/>
                </a:cxn>
                <a:cxn ang="0">
                  <a:pos x="3" y="7"/>
                </a:cxn>
                <a:cxn ang="0">
                  <a:pos x="0" y="17"/>
                </a:cxn>
                <a:cxn ang="0">
                  <a:pos x="13" y="15"/>
                </a:cxn>
                <a:cxn ang="0">
                  <a:pos x="26" y="12"/>
                </a:cxn>
                <a:cxn ang="0">
                  <a:pos x="32" y="13"/>
                </a:cxn>
                <a:cxn ang="0">
                  <a:pos x="31" y="12"/>
                </a:cxn>
                <a:cxn ang="0">
                  <a:pos x="38" y="10"/>
                </a:cxn>
              </a:cxnLst>
              <a:rect l="0" t="0" r="r" b="b"/>
              <a:pathLst>
                <a:path w="38" h="17">
                  <a:moveTo>
                    <a:pt x="38" y="10"/>
                  </a:moveTo>
                  <a:lnTo>
                    <a:pt x="36" y="5"/>
                  </a:lnTo>
                  <a:lnTo>
                    <a:pt x="31" y="6"/>
                  </a:lnTo>
                  <a:lnTo>
                    <a:pt x="16" y="0"/>
                  </a:lnTo>
                  <a:lnTo>
                    <a:pt x="24" y="10"/>
                  </a:lnTo>
                  <a:lnTo>
                    <a:pt x="15" y="9"/>
                  </a:lnTo>
                  <a:lnTo>
                    <a:pt x="3" y="7"/>
                  </a:lnTo>
                  <a:lnTo>
                    <a:pt x="0" y="17"/>
                  </a:lnTo>
                  <a:lnTo>
                    <a:pt x="13" y="15"/>
                  </a:lnTo>
                  <a:lnTo>
                    <a:pt x="26" y="12"/>
                  </a:lnTo>
                  <a:lnTo>
                    <a:pt x="32" y="13"/>
                  </a:lnTo>
                  <a:lnTo>
                    <a:pt x="31" y="12"/>
                  </a:lnTo>
                  <a:lnTo>
                    <a:pt x="38"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 name="Freeform 18"/>
            <p:cNvSpPr>
              <a:spLocks/>
            </p:cNvSpPr>
            <p:nvPr/>
          </p:nvSpPr>
          <p:spPr bwMode="auto">
            <a:xfrm>
              <a:off x="4620" y="2894"/>
              <a:ext cx="31" cy="16"/>
            </a:xfrm>
            <a:custGeom>
              <a:avLst/>
              <a:gdLst/>
              <a:ahLst/>
              <a:cxnLst>
                <a:cxn ang="0">
                  <a:pos x="28" y="12"/>
                </a:cxn>
                <a:cxn ang="0">
                  <a:pos x="17" y="15"/>
                </a:cxn>
                <a:cxn ang="0">
                  <a:pos x="4" y="6"/>
                </a:cxn>
                <a:cxn ang="0">
                  <a:pos x="0" y="0"/>
                </a:cxn>
                <a:cxn ang="0">
                  <a:pos x="17" y="0"/>
                </a:cxn>
                <a:cxn ang="0">
                  <a:pos x="28" y="12"/>
                </a:cxn>
              </a:cxnLst>
              <a:rect l="0" t="0" r="r" b="b"/>
              <a:pathLst>
                <a:path w="28" h="15">
                  <a:moveTo>
                    <a:pt x="28" y="12"/>
                  </a:moveTo>
                  <a:lnTo>
                    <a:pt x="17" y="15"/>
                  </a:lnTo>
                  <a:lnTo>
                    <a:pt x="4" y="6"/>
                  </a:lnTo>
                  <a:lnTo>
                    <a:pt x="0" y="0"/>
                  </a:lnTo>
                  <a:lnTo>
                    <a:pt x="17" y="0"/>
                  </a:lnTo>
                  <a:lnTo>
                    <a:pt x="2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 name="Freeform 19"/>
            <p:cNvSpPr>
              <a:spLocks/>
            </p:cNvSpPr>
            <p:nvPr/>
          </p:nvSpPr>
          <p:spPr bwMode="auto">
            <a:xfrm>
              <a:off x="4751" y="2767"/>
              <a:ext cx="22" cy="14"/>
            </a:xfrm>
            <a:custGeom>
              <a:avLst/>
              <a:gdLst/>
              <a:ahLst/>
              <a:cxnLst>
                <a:cxn ang="0">
                  <a:pos x="19" y="6"/>
                </a:cxn>
                <a:cxn ang="0">
                  <a:pos x="12" y="13"/>
                </a:cxn>
                <a:cxn ang="0">
                  <a:pos x="0" y="5"/>
                </a:cxn>
                <a:cxn ang="0">
                  <a:pos x="6" y="0"/>
                </a:cxn>
                <a:cxn ang="0">
                  <a:pos x="19" y="6"/>
                </a:cxn>
              </a:cxnLst>
              <a:rect l="0" t="0" r="r" b="b"/>
              <a:pathLst>
                <a:path w="19" h="13">
                  <a:moveTo>
                    <a:pt x="19" y="6"/>
                  </a:moveTo>
                  <a:lnTo>
                    <a:pt x="12" y="13"/>
                  </a:lnTo>
                  <a:lnTo>
                    <a:pt x="0" y="5"/>
                  </a:lnTo>
                  <a:lnTo>
                    <a:pt x="6" y="0"/>
                  </a:lnTo>
                  <a:lnTo>
                    <a:pt x="1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 name="Freeform 20"/>
            <p:cNvSpPr>
              <a:spLocks/>
            </p:cNvSpPr>
            <p:nvPr/>
          </p:nvSpPr>
          <p:spPr bwMode="auto">
            <a:xfrm>
              <a:off x="4544" y="2867"/>
              <a:ext cx="20" cy="12"/>
            </a:xfrm>
            <a:custGeom>
              <a:avLst/>
              <a:gdLst/>
              <a:ahLst/>
              <a:cxnLst>
                <a:cxn ang="0">
                  <a:pos x="18" y="5"/>
                </a:cxn>
                <a:cxn ang="0">
                  <a:pos x="16" y="2"/>
                </a:cxn>
                <a:cxn ang="0">
                  <a:pos x="0" y="0"/>
                </a:cxn>
                <a:cxn ang="0">
                  <a:pos x="8" y="10"/>
                </a:cxn>
                <a:cxn ang="0">
                  <a:pos x="18" y="5"/>
                </a:cxn>
              </a:cxnLst>
              <a:rect l="0" t="0" r="r" b="b"/>
              <a:pathLst>
                <a:path w="18" h="10">
                  <a:moveTo>
                    <a:pt x="18" y="5"/>
                  </a:moveTo>
                  <a:lnTo>
                    <a:pt x="16" y="2"/>
                  </a:lnTo>
                  <a:lnTo>
                    <a:pt x="0" y="0"/>
                  </a:lnTo>
                  <a:lnTo>
                    <a:pt x="8" y="10"/>
                  </a:lnTo>
                  <a:lnTo>
                    <a:pt x="18"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 name="Freeform 21"/>
            <p:cNvSpPr>
              <a:spLocks/>
            </p:cNvSpPr>
            <p:nvPr/>
          </p:nvSpPr>
          <p:spPr bwMode="auto">
            <a:xfrm>
              <a:off x="4242" y="2676"/>
              <a:ext cx="16" cy="18"/>
            </a:xfrm>
            <a:custGeom>
              <a:avLst/>
              <a:gdLst/>
              <a:ahLst/>
              <a:cxnLst>
                <a:cxn ang="0">
                  <a:pos x="14" y="9"/>
                </a:cxn>
                <a:cxn ang="0">
                  <a:pos x="12" y="16"/>
                </a:cxn>
                <a:cxn ang="0">
                  <a:pos x="0" y="1"/>
                </a:cxn>
                <a:cxn ang="0">
                  <a:pos x="4" y="0"/>
                </a:cxn>
                <a:cxn ang="0">
                  <a:pos x="14" y="9"/>
                </a:cxn>
              </a:cxnLst>
              <a:rect l="0" t="0" r="r" b="b"/>
              <a:pathLst>
                <a:path w="14" h="16">
                  <a:moveTo>
                    <a:pt x="14" y="9"/>
                  </a:moveTo>
                  <a:lnTo>
                    <a:pt x="12" y="16"/>
                  </a:lnTo>
                  <a:lnTo>
                    <a:pt x="0" y="1"/>
                  </a:lnTo>
                  <a:lnTo>
                    <a:pt x="4" y="0"/>
                  </a:lnTo>
                  <a:lnTo>
                    <a:pt x="14"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 name="Freeform 22"/>
            <p:cNvSpPr>
              <a:spLocks/>
            </p:cNvSpPr>
            <p:nvPr/>
          </p:nvSpPr>
          <p:spPr bwMode="auto">
            <a:xfrm>
              <a:off x="4569" y="2870"/>
              <a:ext cx="13" cy="13"/>
            </a:xfrm>
            <a:custGeom>
              <a:avLst/>
              <a:gdLst/>
              <a:ahLst/>
              <a:cxnLst>
                <a:cxn ang="0">
                  <a:pos x="12" y="3"/>
                </a:cxn>
                <a:cxn ang="0">
                  <a:pos x="8" y="0"/>
                </a:cxn>
                <a:cxn ang="0">
                  <a:pos x="0" y="9"/>
                </a:cxn>
                <a:cxn ang="0">
                  <a:pos x="6" y="12"/>
                </a:cxn>
                <a:cxn ang="0">
                  <a:pos x="12" y="3"/>
                </a:cxn>
              </a:cxnLst>
              <a:rect l="0" t="0" r="r" b="b"/>
              <a:pathLst>
                <a:path w="12" h="12">
                  <a:moveTo>
                    <a:pt x="12" y="3"/>
                  </a:moveTo>
                  <a:lnTo>
                    <a:pt x="8" y="0"/>
                  </a:lnTo>
                  <a:lnTo>
                    <a:pt x="0" y="9"/>
                  </a:lnTo>
                  <a:lnTo>
                    <a:pt x="6" y="12"/>
                  </a:lnTo>
                  <a:lnTo>
                    <a:pt x="12"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 name="Freeform 23"/>
            <p:cNvSpPr>
              <a:spLocks/>
            </p:cNvSpPr>
            <p:nvPr/>
          </p:nvSpPr>
          <p:spPr bwMode="auto">
            <a:xfrm>
              <a:off x="4426" y="2756"/>
              <a:ext cx="14" cy="14"/>
            </a:xfrm>
            <a:custGeom>
              <a:avLst/>
              <a:gdLst/>
              <a:ahLst/>
              <a:cxnLst>
                <a:cxn ang="0">
                  <a:pos x="11" y="5"/>
                </a:cxn>
                <a:cxn ang="0">
                  <a:pos x="5" y="9"/>
                </a:cxn>
                <a:cxn ang="0">
                  <a:pos x="0" y="11"/>
                </a:cxn>
                <a:cxn ang="0">
                  <a:pos x="0" y="0"/>
                </a:cxn>
                <a:cxn ang="0">
                  <a:pos x="11" y="5"/>
                </a:cxn>
              </a:cxnLst>
              <a:rect l="0" t="0" r="r" b="b"/>
              <a:pathLst>
                <a:path w="11" h="11">
                  <a:moveTo>
                    <a:pt x="11" y="5"/>
                  </a:moveTo>
                  <a:lnTo>
                    <a:pt x="5" y="9"/>
                  </a:lnTo>
                  <a:lnTo>
                    <a:pt x="0" y="11"/>
                  </a:lnTo>
                  <a:lnTo>
                    <a:pt x="0" y="0"/>
                  </a:lnTo>
                  <a:lnTo>
                    <a:pt x="11"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 name="Freeform 24"/>
            <p:cNvSpPr>
              <a:spLocks/>
            </p:cNvSpPr>
            <p:nvPr/>
          </p:nvSpPr>
          <p:spPr bwMode="auto">
            <a:xfrm>
              <a:off x="4689" y="2794"/>
              <a:ext cx="11" cy="25"/>
            </a:xfrm>
            <a:custGeom>
              <a:avLst/>
              <a:gdLst/>
              <a:ahLst/>
              <a:cxnLst>
                <a:cxn ang="0">
                  <a:pos x="9" y="15"/>
                </a:cxn>
                <a:cxn ang="0">
                  <a:pos x="7" y="14"/>
                </a:cxn>
                <a:cxn ang="0">
                  <a:pos x="7" y="5"/>
                </a:cxn>
                <a:cxn ang="0">
                  <a:pos x="7" y="0"/>
                </a:cxn>
                <a:cxn ang="0">
                  <a:pos x="0" y="22"/>
                </a:cxn>
                <a:cxn ang="0">
                  <a:pos x="9" y="15"/>
                </a:cxn>
              </a:cxnLst>
              <a:rect l="0" t="0" r="r" b="b"/>
              <a:pathLst>
                <a:path w="9" h="22">
                  <a:moveTo>
                    <a:pt x="9" y="15"/>
                  </a:moveTo>
                  <a:lnTo>
                    <a:pt x="7" y="14"/>
                  </a:lnTo>
                  <a:lnTo>
                    <a:pt x="7" y="5"/>
                  </a:lnTo>
                  <a:lnTo>
                    <a:pt x="7" y="0"/>
                  </a:lnTo>
                  <a:lnTo>
                    <a:pt x="0" y="22"/>
                  </a:lnTo>
                  <a:lnTo>
                    <a:pt x="9"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 name="Freeform 25"/>
            <p:cNvSpPr>
              <a:spLocks/>
            </p:cNvSpPr>
            <p:nvPr/>
          </p:nvSpPr>
          <p:spPr bwMode="auto">
            <a:xfrm>
              <a:off x="4895" y="2816"/>
              <a:ext cx="7" cy="14"/>
            </a:xfrm>
            <a:custGeom>
              <a:avLst/>
              <a:gdLst/>
              <a:ahLst/>
              <a:cxnLst>
                <a:cxn ang="0">
                  <a:pos x="6" y="10"/>
                </a:cxn>
                <a:cxn ang="0">
                  <a:pos x="6" y="0"/>
                </a:cxn>
                <a:cxn ang="0">
                  <a:pos x="0" y="2"/>
                </a:cxn>
                <a:cxn ang="0">
                  <a:pos x="0" y="13"/>
                </a:cxn>
                <a:cxn ang="0">
                  <a:pos x="6" y="10"/>
                </a:cxn>
              </a:cxnLst>
              <a:rect l="0" t="0" r="r" b="b"/>
              <a:pathLst>
                <a:path w="6" h="13">
                  <a:moveTo>
                    <a:pt x="6" y="10"/>
                  </a:moveTo>
                  <a:lnTo>
                    <a:pt x="6" y="0"/>
                  </a:lnTo>
                  <a:lnTo>
                    <a:pt x="0" y="2"/>
                  </a:lnTo>
                  <a:lnTo>
                    <a:pt x="0" y="13"/>
                  </a:lnTo>
                  <a:lnTo>
                    <a:pt x="6"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 name="Freeform 26"/>
            <p:cNvSpPr>
              <a:spLocks/>
            </p:cNvSpPr>
            <p:nvPr/>
          </p:nvSpPr>
          <p:spPr bwMode="auto">
            <a:xfrm>
              <a:off x="4271" y="2723"/>
              <a:ext cx="9" cy="16"/>
            </a:xfrm>
            <a:custGeom>
              <a:avLst/>
              <a:gdLst/>
              <a:ahLst/>
              <a:cxnLst>
                <a:cxn ang="0">
                  <a:pos x="8" y="13"/>
                </a:cxn>
                <a:cxn ang="0">
                  <a:pos x="2" y="13"/>
                </a:cxn>
                <a:cxn ang="0">
                  <a:pos x="0" y="0"/>
                </a:cxn>
                <a:cxn ang="0">
                  <a:pos x="8" y="13"/>
                </a:cxn>
              </a:cxnLst>
              <a:rect l="0" t="0" r="r" b="b"/>
              <a:pathLst>
                <a:path w="8" h="13">
                  <a:moveTo>
                    <a:pt x="8" y="13"/>
                  </a:moveTo>
                  <a:lnTo>
                    <a:pt x="2" y="13"/>
                  </a:lnTo>
                  <a:lnTo>
                    <a:pt x="0" y="0"/>
                  </a:lnTo>
                  <a:lnTo>
                    <a:pt x="8"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 name="Freeform 27"/>
            <p:cNvSpPr>
              <a:spLocks/>
            </p:cNvSpPr>
            <p:nvPr/>
          </p:nvSpPr>
          <p:spPr bwMode="auto">
            <a:xfrm>
              <a:off x="4686" y="2799"/>
              <a:ext cx="7" cy="13"/>
            </a:xfrm>
            <a:custGeom>
              <a:avLst/>
              <a:gdLst/>
              <a:ahLst/>
              <a:cxnLst>
                <a:cxn ang="0">
                  <a:pos x="6" y="5"/>
                </a:cxn>
                <a:cxn ang="0">
                  <a:pos x="6" y="0"/>
                </a:cxn>
                <a:cxn ang="0">
                  <a:pos x="3" y="1"/>
                </a:cxn>
                <a:cxn ang="0">
                  <a:pos x="0" y="12"/>
                </a:cxn>
                <a:cxn ang="0">
                  <a:pos x="6" y="5"/>
                </a:cxn>
              </a:cxnLst>
              <a:rect l="0" t="0" r="r" b="b"/>
              <a:pathLst>
                <a:path w="6" h="12">
                  <a:moveTo>
                    <a:pt x="6" y="5"/>
                  </a:moveTo>
                  <a:lnTo>
                    <a:pt x="6" y="0"/>
                  </a:lnTo>
                  <a:lnTo>
                    <a:pt x="3" y="1"/>
                  </a:lnTo>
                  <a:lnTo>
                    <a:pt x="0" y="12"/>
                  </a:lnTo>
                  <a:lnTo>
                    <a:pt x="6"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 name="Freeform 28"/>
            <p:cNvSpPr>
              <a:spLocks/>
            </p:cNvSpPr>
            <p:nvPr/>
          </p:nvSpPr>
          <p:spPr bwMode="auto">
            <a:xfrm>
              <a:off x="4722" y="2739"/>
              <a:ext cx="18" cy="4"/>
            </a:xfrm>
            <a:custGeom>
              <a:avLst/>
              <a:gdLst/>
              <a:ahLst/>
              <a:cxnLst>
                <a:cxn ang="0">
                  <a:pos x="15" y="4"/>
                </a:cxn>
                <a:cxn ang="0">
                  <a:pos x="7" y="0"/>
                </a:cxn>
                <a:cxn ang="0">
                  <a:pos x="0" y="4"/>
                </a:cxn>
                <a:cxn ang="0">
                  <a:pos x="15" y="4"/>
                </a:cxn>
              </a:cxnLst>
              <a:rect l="0" t="0" r="r" b="b"/>
              <a:pathLst>
                <a:path w="15" h="4">
                  <a:moveTo>
                    <a:pt x="15" y="4"/>
                  </a:moveTo>
                  <a:lnTo>
                    <a:pt x="7" y="0"/>
                  </a:lnTo>
                  <a:lnTo>
                    <a:pt x="0" y="4"/>
                  </a:lnTo>
                  <a:lnTo>
                    <a:pt x="1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 name="Freeform 29"/>
            <p:cNvSpPr>
              <a:spLocks/>
            </p:cNvSpPr>
            <p:nvPr/>
          </p:nvSpPr>
          <p:spPr bwMode="auto">
            <a:xfrm>
              <a:off x="4889" y="2830"/>
              <a:ext cx="6" cy="13"/>
            </a:xfrm>
            <a:custGeom>
              <a:avLst/>
              <a:gdLst/>
              <a:ahLst/>
              <a:cxnLst>
                <a:cxn ang="0">
                  <a:pos x="6" y="6"/>
                </a:cxn>
                <a:cxn ang="0">
                  <a:pos x="1" y="11"/>
                </a:cxn>
                <a:cxn ang="0">
                  <a:pos x="0" y="0"/>
                </a:cxn>
                <a:cxn ang="0">
                  <a:pos x="6" y="6"/>
                </a:cxn>
              </a:cxnLst>
              <a:rect l="0" t="0" r="r" b="b"/>
              <a:pathLst>
                <a:path w="6" h="11">
                  <a:moveTo>
                    <a:pt x="6" y="6"/>
                  </a:moveTo>
                  <a:lnTo>
                    <a:pt x="1" y="11"/>
                  </a:lnTo>
                  <a:lnTo>
                    <a:pt x="0" y="0"/>
                  </a:lnTo>
                  <a:lnTo>
                    <a:pt x="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 name="Freeform 30"/>
            <p:cNvSpPr>
              <a:spLocks/>
            </p:cNvSpPr>
            <p:nvPr/>
          </p:nvSpPr>
          <p:spPr bwMode="auto">
            <a:xfrm>
              <a:off x="4513" y="2845"/>
              <a:ext cx="25" cy="2"/>
            </a:xfrm>
            <a:custGeom>
              <a:avLst/>
              <a:gdLst/>
              <a:ahLst/>
              <a:cxnLst>
                <a:cxn ang="0">
                  <a:pos x="22" y="0"/>
                </a:cxn>
                <a:cxn ang="0">
                  <a:pos x="6" y="2"/>
                </a:cxn>
                <a:cxn ang="0">
                  <a:pos x="0" y="0"/>
                </a:cxn>
                <a:cxn ang="0">
                  <a:pos x="22" y="0"/>
                </a:cxn>
              </a:cxnLst>
              <a:rect l="0" t="0" r="r" b="b"/>
              <a:pathLst>
                <a:path w="22" h="2">
                  <a:moveTo>
                    <a:pt x="22" y="0"/>
                  </a:moveTo>
                  <a:lnTo>
                    <a:pt x="6" y="2"/>
                  </a:lnTo>
                  <a:lnTo>
                    <a:pt x="0" y="0"/>
                  </a:lnTo>
                  <a:lnTo>
                    <a:pt x="2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 name="Freeform 31"/>
            <p:cNvSpPr>
              <a:spLocks/>
            </p:cNvSpPr>
            <p:nvPr/>
          </p:nvSpPr>
          <p:spPr bwMode="auto">
            <a:xfrm>
              <a:off x="4540" y="2607"/>
              <a:ext cx="15" cy="16"/>
            </a:xfrm>
            <a:custGeom>
              <a:avLst/>
              <a:gdLst/>
              <a:ahLst/>
              <a:cxnLst>
                <a:cxn ang="0">
                  <a:pos x="9" y="16"/>
                </a:cxn>
                <a:cxn ang="0">
                  <a:pos x="0" y="6"/>
                </a:cxn>
                <a:cxn ang="0">
                  <a:pos x="15" y="0"/>
                </a:cxn>
                <a:cxn ang="0">
                  <a:pos x="15" y="1"/>
                </a:cxn>
                <a:cxn ang="0">
                  <a:pos x="12" y="10"/>
                </a:cxn>
                <a:cxn ang="0">
                  <a:pos x="9" y="16"/>
                </a:cxn>
              </a:cxnLst>
              <a:rect l="0" t="0" r="r" b="b"/>
              <a:pathLst>
                <a:path w="15" h="16">
                  <a:moveTo>
                    <a:pt x="9" y="16"/>
                  </a:moveTo>
                  <a:lnTo>
                    <a:pt x="0" y="6"/>
                  </a:lnTo>
                  <a:lnTo>
                    <a:pt x="15" y="0"/>
                  </a:lnTo>
                  <a:lnTo>
                    <a:pt x="15" y="1"/>
                  </a:lnTo>
                  <a:lnTo>
                    <a:pt x="12" y="10"/>
                  </a:lnTo>
                  <a:lnTo>
                    <a:pt x="9"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 name="Freeform 32"/>
            <p:cNvSpPr>
              <a:spLocks/>
            </p:cNvSpPr>
            <p:nvPr/>
          </p:nvSpPr>
          <p:spPr bwMode="auto">
            <a:xfrm>
              <a:off x="4462" y="2567"/>
              <a:ext cx="169" cy="120"/>
            </a:xfrm>
            <a:custGeom>
              <a:avLst/>
              <a:gdLst/>
              <a:ahLst/>
              <a:cxnLst>
                <a:cxn ang="0">
                  <a:pos x="113" y="0"/>
                </a:cxn>
                <a:cxn ang="0">
                  <a:pos x="122" y="7"/>
                </a:cxn>
                <a:cxn ang="0">
                  <a:pos x="122" y="19"/>
                </a:cxn>
                <a:cxn ang="0">
                  <a:pos x="129" y="16"/>
                </a:cxn>
                <a:cxn ang="0">
                  <a:pos x="129" y="21"/>
                </a:cxn>
                <a:cxn ang="0">
                  <a:pos x="132" y="22"/>
                </a:cxn>
                <a:cxn ang="0">
                  <a:pos x="151" y="30"/>
                </a:cxn>
                <a:cxn ang="0">
                  <a:pos x="134" y="35"/>
                </a:cxn>
                <a:cxn ang="0">
                  <a:pos x="139" y="45"/>
                </a:cxn>
                <a:cxn ang="0">
                  <a:pos x="128" y="47"/>
                </a:cxn>
                <a:cxn ang="0">
                  <a:pos x="125" y="51"/>
                </a:cxn>
                <a:cxn ang="0">
                  <a:pos x="111" y="48"/>
                </a:cxn>
                <a:cxn ang="0">
                  <a:pos x="97" y="47"/>
                </a:cxn>
                <a:cxn ang="0">
                  <a:pos x="93" y="59"/>
                </a:cxn>
                <a:cxn ang="0">
                  <a:pos x="90" y="72"/>
                </a:cxn>
                <a:cxn ang="0">
                  <a:pos x="86" y="81"/>
                </a:cxn>
                <a:cxn ang="0">
                  <a:pos x="79" y="96"/>
                </a:cxn>
                <a:cxn ang="0">
                  <a:pos x="66" y="102"/>
                </a:cxn>
                <a:cxn ang="0">
                  <a:pos x="45" y="97"/>
                </a:cxn>
                <a:cxn ang="0">
                  <a:pos x="39" y="105"/>
                </a:cxn>
                <a:cxn ang="0">
                  <a:pos x="19" y="109"/>
                </a:cxn>
                <a:cxn ang="0">
                  <a:pos x="3" y="100"/>
                </a:cxn>
                <a:cxn ang="0">
                  <a:pos x="0" y="88"/>
                </a:cxn>
                <a:cxn ang="0">
                  <a:pos x="1" y="89"/>
                </a:cxn>
                <a:cxn ang="0">
                  <a:pos x="13" y="96"/>
                </a:cxn>
                <a:cxn ang="0">
                  <a:pos x="25" y="100"/>
                </a:cxn>
                <a:cxn ang="0">
                  <a:pos x="23" y="99"/>
                </a:cxn>
                <a:cxn ang="0">
                  <a:pos x="25" y="95"/>
                </a:cxn>
                <a:cxn ang="0">
                  <a:pos x="26" y="87"/>
                </a:cxn>
                <a:cxn ang="0">
                  <a:pos x="26" y="83"/>
                </a:cxn>
                <a:cxn ang="0">
                  <a:pos x="29" y="77"/>
                </a:cxn>
                <a:cxn ang="0">
                  <a:pos x="39" y="73"/>
                </a:cxn>
                <a:cxn ang="0">
                  <a:pos x="50" y="70"/>
                </a:cxn>
                <a:cxn ang="0">
                  <a:pos x="60" y="57"/>
                </a:cxn>
                <a:cxn ang="0">
                  <a:pos x="69" y="42"/>
                </a:cxn>
                <a:cxn ang="0">
                  <a:pos x="78" y="52"/>
                </a:cxn>
                <a:cxn ang="0">
                  <a:pos x="81" y="46"/>
                </a:cxn>
                <a:cxn ang="0">
                  <a:pos x="84" y="37"/>
                </a:cxn>
                <a:cxn ang="0">
                  <a:pos x="87" y="47"/>
                </a:cxn>
                <a:cxn ang="0">
                  <a:pos x="87" y="40"/>
                </a:cxn>
                <a:cxn ang="0">
                  <a:pos x="91" y="35"/>
                </a:cxn>
                <a:cxn ang="0">
                  <a:pos x="90" y="30"/>
                </a:cxn>
                <a:cxn ang="0">
                  <a:pos x="93" y="25"/>
                </a:cxn>
                <a:cxn ang="0">
                  <a:pos x="101" y="13"/>
                </a:cxn>
                <a:cxn ang="0">
                  <a:pos x="108" y="0"/>
                </a:cxn>
                <a:cxn ang="0">
                  <a:pos x="109" y="5"/>
                </a:cxn>
                <a:cxn ang="0">
                  <a:pos x="113" y="0"/>
                </a:cxn>
              </a:cxnLst>
              <a:rect l="0" t="0" r="r" b="b"/>
              <a:pathLst>
                <a:path w="151" h="109">
                  <a:moveTo>
                    <a:pt x="113" y="0"/>
                  </a:moveTo>
                  <a:lnTo>
                    <a:pt x="122" y="7"/>
                  </a:lnTo>
                  <a:lnTo>
                    <a:pt x="122" y="19"/>
                  </a:lnTo>
                  <a:lnTo>
                    <a:pt x="129" y="16"/>
                  </a:lnTo>
                  <a:lnTo>
                    <a:pt x="129" y="21"/>
                  </a:lnTo>
                  <a:lnTo>
                    <a:pt x="132" y="22"/>
                  </a:lnTo>
                  <a:lnTo>
                    <a:pt x="151" y="30"/>
                  </a:lnTo>
                  <a:lnTo>
                    <a:pt x="134" y="35"/>
                  </a:lnTo>
                  <a:lnTo>
                    <a:pt x="139" y="45"/>
                  </a:lnTo>
                  <a:lnTo>
                    <a:pt x="128" y="47"/>
                  </a:lnTo>
                  <a:lnTo>
                    <a:pt x="125" y="51"/>
                  </a:lnTo>
                  <a:lnTo>
                    <a:pt x="111" y="48"/>
                  </a:lnTo>
                  <a:lnTo>
                    <a:pt x="97" y="47"/>
                  </a:lnTo>
                  <a:lnTo>
                    <a:pt x="93" y="59"/>
                  </a:lnTo>
                  <a:lnTo>
                    <a:pt x="90" y="72"/>
                  </a:lnTo>
                  <a:lnTo>
                    <a:pt x="86" y="81"/>
                  </a:lnTo>
                  <a:lnTo>
                    <a:pt x="79" y="96"/>
                  </a:lnTo>
                  <a:lnTo>
                    <a:pt x="66" y="102"/>
                  </a:lnTo>
                  <a:lnTo>
                    <a:pt x="45" y="97"/>
                  </a:lnTo>
                  <a:lnTo>
                    <a:pt x="39" y="105"/>
                  </a:lnTo>
                  <a:lnTo>
                    <a:pt x="19" y="109"/>
                  </a:lnTo>
                  <a:lnTo>
                    <a:pt x="3" y="100"/>
                  </a:lnTo>
                  <a:lnTo>
                    <a:pt x="0" y="88"/>
                  </a:lnTo>
                  <a:lnTo>
                    <a:pt x="1" y="89"/>
                  </a:lnTo>
                  <a:lnTo>
                    <a:pt x="13" y="96"/>
                  </a:lnTo>
                  <a:lnTo>
                    <a:pt x="25" y="100"/>
                  </a:lnTo>
                  <a:lnTo>
                    <a:pt x="23" y="99"/>
                  </a:lnTo>
                  <a:lnTo>
                    <a:pt x="25" y="95"/>
                  </a:lnTo>
                  <a:lnTo>
                    <a:pt x="26" y="87"/>
                  </a:lnTo>
                  <a:lnTo>
                    <a:pt x="26" y="83"/>
                  </a:lnTo>
                  <a:lnTo>
                    <a:pt x="29" y="77"/>
                  </a:lnTo>
                  <a:lnTo>
                    <a:pt x="39" y="73"/>
                  </a:lnTo>
                  <a:lnTo>
                    <a:pt x="50" y="70"/>
                  </a:lnTo>
                  <a:lnTo>
                    <a:pt x="60" y="57"/>
                  </a:lnTo>
                  <a:lnTo>
                    <a:pt x="69" y="42"/>
                  </a:lnTo>
                  <a:lnTo>
                    <a:pt x="78" y="52"/>
                  </a:lnTo>
                  <a:lnTo>
                    <a:pt x="81" y="46"/>
                  </a:lnTo>
                  <a:lnTo>
                    <a:pt x="84" y="37"/>
                  </a:lnTo>
                  <a:lnTo>
                    <a:pt x="87" y="47"/>
                  </a:lnTo>
                  <a:lnTo>
                    <a:pt x="87" y="40"/>
                  </a:lnTo>
                  <a:lnTo>
                    <a:pt x="91" y="35"/>
                  </a:lnTo>
                  <a:lnTo>
                    <a:pt x="90" y="30"/>
                  </a:lnTo>
                  <a:lnTo>
                    <a:pt x="93" y="25"/>
                  </a:lnTo>
                  <a:lnTo>
                    <a:pt x="101" y="13"/>
                  </a:lnTo>
                  <a:lnTo>
                    <a:pt x="108" y="0"/>
                  </a:lnTo>
                  <a:lnTo>
                    <a:pt x="109" y="5"/>
                  </a:lnTo>
                  <a:lnTo>
                    <a:pt x="11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 name="Freeform 33"/>
            <p:cNvSpPr>
              <a:spLocks/>
            </p:cNvSpPr>
            <p:nvPr/>
          </p:nvSpPr>
          <p:spPr bwMode="auto">
            <a:xfrm>
              <a:off x="4293" y="2574"/>
              <a:ext cx="76" cy="102"/>
            </a:xfrm>
            <a:custGeom>
              <a:avLst/>
              <a:gdLst/>
              <a:ahLst/>
              <a:cxnLst>
                <a:cxn ang="0">
                  <a:pos x="59" y="93"/>
                </a:cxn>
                <a:cxn ang="0">
                  <a:pos x="40" y="80"/>
                </a:cxn>
                <a:cxn ang="0">
                  <a:pos x="21" y="66"/>
                </a:cxn>
                <a:cxn ang="0">
                  <a:pos x="12" y="46"/>
                </a:cxn>
                <a:cxn ang="0">
                  <a:pos x="6" y="24"/>
                </a:cxn>
                <a:cxn ang="0">
                  <a:pos x="0" y="3"/>
                </a:cxn>
                <a:cxn ang="0">
                  <a:pos x="1" y="0"/>
                </a:cxn>
                <a:cxn ang="0">
                  <a:pos x="13" y="6"/>
                </a:cxn>
                <a:cxn ang="0">
                  <a:pos x="15" y="14"/>
                </a:cxn>
                <a:cxn ang="0">
                  <a:pos x="25" y="14"/>
                </a:cxn>
                <a:cxn ang="0">
                  <a:pos x="31" y="6"/>
                </a:cxn>
                <a:cxn ang="0">
                  <a:pos x="41" y="16"/>
                </a:cxn>
                <a:cxn ang="0">
                  <a:pos x="52" y="27"/>
                </a:cxn>
                <a:cxn ang="0">
                  <a:pos x="53" y="44"/>
                </a:cxn>
                <a:cxn ang="0">
                  <a:pos x="55" y="60"/>
                </a:cxn>
                <a:cxn ang="0">
                  <a:pos x="63" y="76"/>
                </a:cxn>
                <a:cxn ang="0">
                  <a:pos x="70" y="92"/>
                </a:cxn>
                <a:cxn ang="0">
                  <a:pos x="64" y="89"/>
                </a:cxn>
                <a:cxn ang="0">
                  <a:pos x="59" y="93"/>
                </a:cxn>
              </a:cxnLst>
              <a:rect l="0" t="0" r="r" b="b"/>
              <a:pathLst>
                <a:path w="70" h="93">
                  <a:moveTo>
                    <a:pt x="59" y="93"/>
                  </a:moveTo>
                  <a:lnTo>
                    <a:pt x="40" y="80"/>
                  </a:lnTo>
                  <a:lnTo>
                    <a:pt x="21" y="66"/>
                  </a:lnTo>
                  <a:lnTo>
                    <a:pt x="12" y="46"/>
                  </a:lnTo>
                  <a:lnTo>
                    <a:pt x="6" y="24"/>
                  </a:lnTo>
                  <a:lnTo>
                    <a:pt x="0" y="3"/>
                  </a:lnTo>
                  <a:lnTo>
                    <a:pt x="1" y="0"/>
                  </a:lnTo>
                  <a:lnTo>
                    <a:pt x="13" y="6"/>
                  </a:lnTo>
                  <a:lnTo>
                    <a:pt x="15" y="14"/>
                  </a:lnTo>
                  <a:lnTo>
                    <a:pt x="25" y="14"/>
                  </a:lnTo>
                  <a:lnTo>
                    <a:pt x="31" y="6"/>
                  </a:lnTo>
                  <a:lnTo>
                    <a:pt x="41" y="16"/>
                  </a:lnTo>
                  <a:lnTo>
                    <a:pt x="52" y="27"/>
                  </a:lnTo>
                  <a:lnTo>
                    <a:pt x="53" y="44"/>
                  </a:lnTo>
                  <a:lnTo>
                    <a:pt x="55" y="60"/>
                  </a:lnTo>
                  <a:lnTo>
                    <a:pt x="63" y="76"/>
                  </a:lnTo>
                  <a:lnTo>
                    <a:pt x="70" y="92"/>
                  </a:lnTo>
                  <a:lnTo>
                    <a:pt x="64" y="89"/>
                  </a:lnTo>
                  <a:lnTo>
                    <a:pt x="59" y="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 name="Freeform 34"/>
            <p:cNvSpPr>
              <a:spLocks/>
            </p:cNvSpPr>
            <p:nvPr/>
          </p:nvSpPr>
          <p:spPr bwMode="auto">
            <a:xfrm>
              <a:off x="5473" y="2714"/>
              <a:ext cx="2" cy="2"/>
            </a:xfrm>
            <a:custGeom>
              <a:avLst/>
              <a:gdLst/>
              <a:ahLst/>
              <a:cxnLst>
                <a:cxn ang="0">
                  <a:pos x="0" y="2"/>
                </a:cxn>
                <a:cxn ang="0">
                  <a:pos x="0" y="0"/>
                </a:cxn>
                <a:cxn ang="0">
                  <a:pos x="0" y="2"/>
                </a:cxn>
              </a:cxnLst>
              <a:rect l="0" t="0" r="r" b="b"/>
              <a:pathLst>
                <a:path h="2">
                  <a:moveTo>
                    <a:pt x="0" y="2"/>
                  </a:moveTo>
                  <a:lnTo>
                    <a:pt x="0" y="0"/>
                  </a:lnTo>
                  <a:lnTo>
                    <a:pt x="0"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 name="Freeform 35"/>
            <p:cNvSpPr>
              <a:spLocks/>
            </p:cNvSpPr>
            <p:nvPr/>
          </p:nvSpPr>
          <p:spPr bwMode="auto">
            <a:xfrm>
              <a:off x="5006" y="2756"/>
              <a:ext cx="171" cy="160"/>
            </a:xfrm>
            <a:custGeom>
              <a:avLst/>
              <a:gdLst/>
              <a:ahLst/>
              <a:cxnLst>
                <a:cxn ang="0">
                  <a:pos x="154" y="137"/>
                </a:cxn>
                <a:cxn ang="0">
                  <a:pos x="148" y="140"/>
                </a:cxn>
                <a:cxn ang="0">
                  <a:pos x="148" y="144"/>
                </a:cxn>
                <a:cxn ang="0">
                  <a:pos x="140" y="141"/>
                </a:cxn>
                <a:cxn ang="0">
                  <a:pos x="124" y="139"/>
                </a:cxn>
                <a:cxn ang="0">
                  <a:pos x="110" y="135"/>
                </a:cxn>
                <a:cxn ang="0">
                  <a:pos x="101" y="126"/>
                </a:cxn>
                <a:cxn ang="0">
                  <a:pos x="93" y="117"/>
                </a:cxn>
                <a:cxn ang="0">
                  <a:pos x="84" y="107"/>
                </a:cxn>
                <a:cxn ang="0">
                  <a:pos x="77" y="96"/>
                </a:cxn>
                <a:cxn ang="0">
                  <a:pos x="57" y="89"/>
                </a:cxn>
                <a:cxn ang="0">
                  <a:pos x="56" y="92"/>
                </a:cxn>
                <a:cxn ang="0">
                  <a:pos x="46" y="89"/>
                </a:cxn>
                <a:cxn ang="0">
                  <a:pos x="47" y="97"/>
                </a:cxn>
                <a:cxn ang="0">
                  <a:pos x="41" y="97"/>
                </a:cxn>
                <a:cxn ang="0">
                  <a:pos x="42" y="101"/>
                </a:cxn>
                <a:cxn ang="0">
                  <a:pos x="21" y="101"/>
                </a:cxn>
                <a:cxn ang="0">
                  <a:pos x="39" y="110"/>
                </a:cxn>
                <a:cxn ang="0">
                  <a:pos x="30" y="117"/>
                </a:cxn>
                <a:cxn ang="0">
                  <a:pos x="16" y="117"/>
                </a:cxn>
                <a:cxn ang="0">
                  <a:pos x="0" y="117"/>
                </a:cxn>
                <a:cxn ang="0">
                  <a:pos x="2" y="102"/>
                </a:cxn>
                <a:cxn ang="0">
                  <a:pos x="3" y="87"/>
                </a:cxn>
                <a:cxn ang="0">
                  <a:pos x="4" y="73"/>
                </a:cxn>
                <a:cxn ang="0">
                  <a:pos x="5" y="59"/>
                </a:cxn>
                <a:cxn ang="0">
                  <a:pos x="6" y="44"/>
                </a:cxn>
                <a:cxn ang="0">
                  <a:pos x="6" y="29"/>
                </a:cxn>
                <a:cxn ang="0">
                  <a:pos x="8" y="14"/>
                </a:cxn>
                <a:cxn ang="0">
                  <a:pos x="8" y="0"/>
                </a:cxn>
                <a:cxn ang="0">
                  <a:pos x="23" y="7"/>
                </a:cxn>
                <a:cxn ang="0">
                  <a:pos x="38" y="13"/>
                </a:cxn>
                <a:cxn ang="0">
                  <a:pos x="53" y="20"/>
                </a:cxn>
                <a:cxn ang="0">
                  <a:pos x="69" y="27"/>
                </a:cxn>
                <a:cxn ang="0">
                  <a:pos x="82" y="44"/>
                </a:cxn>
                <a:cxn ang="0">
                  <a:pos x="83" y="53"/>
                </a:cxn>
                <a:cxn ang="0">
                  <a:pos x="96" y="59"/>
                </a:cxn>
                <a:cxn ang="0">
                  <a:pos x="111" y="65"/>
                </a:cxn>
                <a:cxn ang="0">
                  <a:pos x="112" y="74"/>
                </a:cxn>
                <a:cxn ang="0">
                  <a:pos x="98" y="75"/>
                </a:cxn>
                <a:cxn ang="0">
                  <a:pos x="105" y="91"/>
                </a:cxn>
                <a:cxn ang="0">
                  <a:pos x="116" y="101"/>
                </a:cxn>
                <a:cxn ang="0">
                  <a:pos x="123" y="116"/>
                </a:cxn>
                <a:cxn ang="0">
                  <a:pos x="132" y="117"/>
                </a:cxn>
                <a:cxn ang="0">
                  <a:pos x="131" y="123"/>
                </a:cxn>
                <a:cxn ang="0">
                  <a:pos x="140" y="128"/>
                </a:cxn>
                <a:cxn ang="0">
                  <a:pos x="138" y="132"/>
                </a:cxn>
                <a:cxn ang="0">
                  <a:pos x="154" y="137"/>
                </a:cxn>
              </a:cxnLst>
              <a:rect l="0" t="0" r="r" b="b"/>
              <a:pathLst>
                <a:path w="154" h="144">
                  <a:moveTo>
                    <a:pt x="154" y="137"/>
                  </a:moveTo>
                  <a:lnTo>
                    <a:pt x="148" y="140"/>
                  </a:lnTo>
                  <a:lnTo>
                    <a:pt x="148" y="144"/>
                  </a:lnTo>
                  <a:lnTo>
                    <a:pt x="140" y="141"/>
                  </a:lnTo>
                  <a:lnTo>
                    <a:pt x="124" y="139"/>
                  </a:lnTo>
                  <a:lnTo>
                    <a:pt x="110" y="135"/>
                  </a:lnTo>
                  <a:lnTo>
                    <a:pt x="101" y="126"/>
                  </a:lnTo>
                  <a:lnTo>
                    <a:pt x="93" y="117"/>
                  </a:lnTo>
                  <a:lnTo>
                    <a:pt x="84" y="107"/>
                  </a:lnTo>
                  <a:lnTo>
                    <a:pt x="77" y="96"/>
                  </a:lnTo>
                  <a:lnTo>
                    <a:pt x="57" y="89"/>
                  </a:lnTo>
                  <a:lnTo>
                    <a:pt x="56" y="92"/>
                  </a:lnTo>
                  <a:lnTo>
                    <a:pt x="46" y="89"/>
                  </a:lnTo>
                  <a:lnTo>
                    <a:pt x="47" y="97"/>
                  </a:lnTo>
                  <a:lnTo>
                    <a:pt x="41" y="97"/>
                  </a:lnTo>
                  <a:lnTo>
                    <a:pt x="42" y="101"/>
                  </a:lnTo>
                  <a:lnTo>
                    <a:pt x="21" y="101"/>
                  </a:lnTo>
                  <a:lnTo>
                    <a:pt x="39" y="110"/>
                  </a:lnTo>
                  <a:lnTo>
                    <a:pt x="30" y="117"/>
                  </a:lnTo>
                  <a:lnTo>
                    <a:pt x="16" y="117"/>
                  </a:lnTo>
                  <a:lnTo>
                    <a:pt x="0" y="117"/>
                  </a:lnTo>
                  <a:lnTo>
                    <a:pt x="2" y="102"/>
                  </a:lnTo>
                  <a:lnTo>
                    <a:pt x="3" y="87"/>
                  </a:lnTo>
                  <a:lnTo>
                    <a:pt x="4" y="73"/>
                  </a:lnTo>
                  <a:lnTo>
                    <a:pt x="5" y="59"/>
                  </a:lnTo>
                  <a:lnTo>
                    <a:pt x="6" y="44"/>
                  </a:lnTo>
                  <a:lnTo>
                    <a:pt x="6" y="29"/>
                  </a:lnTo>
                  <a:lnTo>
                    <a:pt x="8" y="14"/>
                  </a:lnTo>
                  <a:lnTo>
                    <a:pt x="8" y="0"/>
                  </a:lnTo>
                  <a:lnTo>
                    <a:pt x="23" y="7"/>
                  </a:lnTo>
                  <a:lnTo>
                    <a:pt x="38" y="13"/>
                  </a:lnTo>
                  <a:lnTo>
                    <a:pt x="53" y="20"/>
                  </a:lnTo>
                  <a:lnTo>
                    <a:pt x="69" y="27"/>
                  </a:lnTo>
                  <a:lnTo>
                    <a:pt x="82" y="44"/>
                  </a:lnTo>
                  <a:lnTo>
                    <a:pt x="83" y="53"/>
                  </a:lnTo>
                  <a:lnTo>
                    <a:pt x="96" y="59"/>
                  </a:lnTo>
                  <a:lnTo>
                    <a:pt x="111" y="65"/>
                  </a:lnTo>
                  <a:lnTo>
                    <a:pt x="112" y="74"/>
                  </a:lnTo>
                  <a:lnTo>
                    <a:pt x="98" y="75"/>
                  </a:lnTo>
                  <a:lnTo>
                    <a:pt x="105" y="91"/>
                  </a:lnTo>
                  <a:lnTo>
                    <a:pt x="116" y="101"/>
                  </a:lnTo>
                  <a:lnTo>
                    <a:pt x="123" y="116"/>
                  </a:lnTo>
                  <a:lnTo>
                    <a:pt x="132" y="117"/>
                  </a:lnTo>
                  <a:lnTo>
                    <a:pt x="131" y="123"/>
                  </a:lnTo>
                  <a:lnTo>
                    <a:pt x="140" y="128"/>
                  </a:lnTo>
                  <a:lnTo>
                    <a:pt x="138" y="132"/>
                  </a:lnTo>
                  <a:lnTo>
                    <a:pt x="154"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 name="Freeform 36"/>
            <p:cNvSpPr>
              <a:spLocks/>
            </p:cNvSpPr>
            <p:nvPr/>
          </p:nvSpPr>
          <p:spPr bwMode="auto">
            <a:xfrm>
              <a:off x="5142" y="2790"/>
              <a:ext cx="73" cy="40"/>
            </a:xfrm>
            <a:custGeom>
              <a:avLst/>
              <a:gdLst/>
              <a:ahLst/>
              <a:cxnLst>
                <a:cxn ang="0">
                  <a:pos x="66" y="1"/>
                </a:cxn>
                <a:cxn ang="0">
                  <a:pos x="61" y="13"/>
                </a:cxn>
                <a:cxn ang="0">
                  <a:pos x="57" y="15"/>
                </a:cxn>
                <a:cxn ang="0">
                  <a:pos x="58" y="21"/>
                </a:cxn>
                <a:cxn ang="0">
                  <a:pos x="48" y="26"/>
                </a:cxn>
                <a:cxn ang="0">
                  <a:pos x="26" y="36"/>
                </a:cxn>
                <a:cxn ang="0">
                  <a:pos x="13" y="32"/>
                </a:cxn>
                <a:cxn ang="0">
                  <a:pos x="3" y="27"/>
                </a:cxn>
                <a:cxn ang="0">
                  <a:pos x="0" y="21"/>
                </a:cxn>
                <a:cxn ang="0">
                  <a:pos x="21" y="23"/>
                </a:cxn>
                <a:cxn ang="0">
                  <a:pos x="27" y="13"/>
                </a:cxn>
                <a:cxn ang="0">
                  <a:pos x="27" y="19"/>
                </a:cxn>
                <a:cxn ang="0">
                  <a:pos x="36" y="23"/>
                </a:cxn>
                <a:cxn ang="0">
                  <a:pos x="51" y="12"/>
                </a:cxn>
                <a:cxn ang="0">
                  <a:pos x="51" y="1"/>
                </a:cxn>
                <a:cxn ang="0">
                  <a:pos x="60" y="0"/>
                </a:cxn>
                <a:cxn ang="0">
                  <a:pos x="66" y="1"/>
                </a:cxn>
              </a:cxnLst>
              <a:rect l="0" t="0" r="r" b="b"/>
              <a:pathLst>
                <a:path w="66" h="36">
                  <a:moveTo>
                    <a:pt x="66" y="1"/>
                  </a:moveTo>
                  <a:lnTo>
                    <a:pt x="61" y="13"/>
                  </a:lnTo>
                  <a:lnTo>
                    <a:pt x="57" y="15"/>
                  </a:lnTo>
                  <a:lnTo>
                    <a:pt x="58" y="21"/>
                  </a:lnTo>
                  <a:lnTo>
                    <a:pt x="48" y="26"/>
                  </a:lnTo>
                  <a:lnTo>
                    <a:pt x="26" y="36"/>
                  </a:lnTo>
                  <a:lnTo>
                    <a:pt x="13" y="32"/>
                  </a:lnTo>
                  <a:lnTo>
                    <a:pt x="3" y="27"/>
                  </a:lnTo>
                  <a:lnTo>
                    <a:pt x="0" y="21"/>
                  </a:lnTo>
                  <a:lnTo>
                    <a:pt x="21" y="23"/>
                  </a:lnTo>
                  <a:lnTo>
                    <a:pt x="27" y="13"/>
                  </a:lnTo>
                  <a:lnTo>
                    <a:pt x="27" y="19"/>
                  </a:lnTo>
                  <a:lnTo>
                    <a:pt x="36" y="23"/>
                  </a:lnTo>
                  <a:lnTo>
                    <a:pt x="51" y="12"/>
                  </a:lnTo>
                  <a:lnTo>
                    <a:pt x="51" y="1"/>
                  </a:lnTo>
                  <a:lnTo>
                    <a:pt x="60" y="0"/>
                  </a:lnTo>
                  <a:lnTo>
                    <a:pt x="6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 name="Freeform 37"/>
            <p:cNvSpPr>
              <a:spLocks/>
            </p:cNvSpPr>
            <p:nvPr/>
          </p:nvSpPr>
          <p:spPr bwMode="auto">
            <a:xfrm>
              <a:off x="5253" y="2814"/>
              <a:ext cx="20" cy="29"/>
            </a:xfrm>
            <a:custGeom>
              <a:avLst/>
              <a:gdLst/>
              <a:ahLst/>
              <a:cxnLst>
                <a:cxn ang="0">
                  <a:pos x="18" y="24"/>
                </a:cxn>
                <a:cxn ang="0">
                  <a:pos x="14" y="27"/>
                </a:cxn>
                <a:cxn ang="0">
                  <a:pos x="4" y="15"/>
                </a:cxn>
                <a:cxn ang="0">
                  <a:pos x="0" y="0"/>
                </a:cxn>
                <a:cxn ang="0">
                  <a:pos x="10" y="12"/>
                </a:cxn>
                <a:cxn ang="0">
                  <a:pos x="18" y="24"/>
                </a:cxn>
              </a:cxnLst>
              <a:rect l="0" t="0" r="r" b="b"/>
              <a:pathLst>
                <a:path w="18" h="27">
                  <a:moveTo>
                    <a:pt x="18" y="24"/>
                  </a:moveTo>
                  <a:lnTo>
                    <a:pt x="14" y="27"/>
                  </a:lnTo>
                  <a:lnTo>
                    <a:pt x="4" y="15"/>
                  </a:lnTo>
                  <a:lnTo>
                    <a:pt x="0" y="0"/>
                  </a:lnTo>
                  <a:lnTo>
                    <a:pt x="10" y="12"/>
                  </a:lnTo>
                  <a:lnTo>
                    <a:pt x="18"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 name="Freeform 38"/>
            <p:cNvSpPr>
              <a:spLocks/>
            </p:cNvSpPr>
            <p:nvPr/>
          </p:nvSpPr>
          <p:spPr bwMode="auto">
            <a:xfrm>
              <a:off x="5189" y="2759"/>
              <a:ext cx="37" cy="42"/>
            </a:xfrm>
            <a:custGeom>
              <a:avLst/>
              <a:gdLst/>
              <a:ahLst/>
              <a:cxnLst>
                <a:cxn ang="0">
                  <a:pos x="33" y="31"/>
                </a:cxn>
                <a:cxn ang="0">
                  <a:pos x="29" y="37"/>
                </a:cxn>
                <a:cxn ang="0">
                  <a:pos x="18" y="16"/>
                </a:cxn>
                <a:cxn ang="0">
                  <a:pos x="9" y="8"/>
                </a:cxn>
                <a:cxn ang="0">
                  <a:pos x="0" y="1"/>
                </a:cxn>
                <a:cxn ang="0">
                  <a:pos x="0" y="0"/>
                </a:cxn>
                <a:cxn ang="0">
                  <a:pos x="12" y="10"/>
                </a:cxn>
                <a:cxn ang="0">
                  <a:pos x="25" y="19"/>
                </a:cxn>
                <a:cxn ang="0">
                  <a:pos x="33" y="31"/>
                </a:cxn>
              </a:cxnLst>
              <a:rect l="0" t="0" r="r" b="b"/>
              <a:pathLst>
                <a:path w="33" h="37">
                  <a:moveTo>
                    <a:pt x="33" y="31"/>
                  </a:moveTo>
                  <a:lnTo>
                    <a:pt x="29" y="37"/>
                  </a:lnTo>
                  <a:lnTo>
                    <a:pt x="18" y="16"/>
                  </a:lnTo>
                  <a:lnTo>
                    <a:pt x="9" y="8"/>
                  </a:lnTo>
                  <a:lnTo>
                    <a:pt x="0" y="1"/>
                  </a:lnTo>
                  <a:lnTo>
                    <a:pt x="0" y="0"/>
                  </a:lnTo>
                  <a:lnTo>
                    <a:pt x="12" y="10"/>
                  </a:lnTo>
                  <a:lnTo>
                    <a:pt x="25" y="19"/>
                  </a:lnTo>
                  <a:lnTo>
                    <a:pt x="33" y="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 name="Freeform 39"/>
            <p:cNvSpPr>
              <a:spLocks/>
            </p:cNvSpPr>
            <p:nvPr/>
          </p:nvSpPr>
          <p:spPr bwMode="auto">
            <a:xfrm>
              <a:off x="5180" y="2901"/>
              <a:ext cx="6" cy="6"/>
            </a:xfrm>
            <a:custGeom>
              <a:avLst/>
              <a:gdLst/>
              <a:ahLst/>
              <a:cxnLst>
                <a:cxn ang="0">
                  <a:pos x="6" y="3"/>
                </a:cxn>
                <a:cxn ang="0">
                  <a:pos x="3" y="5"/>
                </a:cxn>
                <a:cxn ang="0">
                  <a:pos x="0" y="0"/>
                </a:cxn>
                <a:cxn ang="0">
                  <a:pos x="6" y="3"/>
                </a:cxn>
              </a:cxnLst>
              <a:rect l="0" t="0" r="r" b="b"/>
              <a:pathLst>
                <a:path w="6" h="5">
                  <a:moveTo>
                    <a:pt x="6" y="3"/>
                  </a:moveTo>
                  <a:lnTo>
                    <a:pt x="3" y="5"/>
                  </a:lnTo>
                  <a:lnTo>
                    <a:pt x="0" y="0"/>
                  </a:lnTo>
                  <a:lnTo>
                    <a:pt x="6"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 name="Freeform 40"/>
            <p:cNvSpPr>
              <a:spLocks/>
            </p:cNvSpPr>
            <p:nvPr/>
          </p:nvSpPr>
          <p:spPr bwMode="auto">
            <a:xfrm>
              <a:off x="4042" y="2176"/>
              <a:ext cx="87" cy="111"/>
            </a:xfrm>
            <a:custGeom>
              <a:avLst/>
              <a:gdLst/>
              <a:ahLst/>
              <a:cxnLst>
                <a:cxn ang="0">
                  <a:pos x="28" y="84"/>
                </a:cxn>
                <a:cxn ang="0">
                  <a:pos x="27" y="85"/>
                </a:cxn>
                <a:cxn ang="0">
                  <a:pos x="24" y="80"/>
                </a:cxn>
                <a:cxn ang="0">
                  <a:pos x="24" y="82"/>
                </a:cxn>
                <a:cxn ang="0">
                  <a:pos x="19" y="68"/>
                </a:cxn>
                <a:cxn ang="0">
                  <a:pos x="14" y="55"/>
                </a:cxn>
                <a:cxn ang="0">
                  <a:pos x="13" y="44"/>
                </a:cxn>
                <a:cxn ang="0">
                  <a:pos x="1" y="34"/>
                </a:cxn>
                <a:cxn ang="0">
                  <a:pos x="6" y="27"/>
                </a:cxn>
                <a:cxn ang="0">
                  <a:pos x="12" y="24"/>
                </a:cxn>
                <a:cxn ang="0">
                  <a:pos x="0" y="13"/>
                </a:cxn>
                <a:cxn ang="0">
                  <a:pos x="0" y="0"/>
                </a:cxn>
                <a:cxn ang="0">
                  <a:pos x="10" y="3"/>
                </a:cxn>
                <a:cxn ang="0">
                  <a:pos x="15" y="9"/>
                </a:cxn>
                <a:cxn ang="0">
                  <a:pos x="19" y="6"/>
                </a:cxn>
                <a:cxn ang="0">
                  <a:pos x="25" y="20"/>
                </a:cxn>
                <a:cxn ang="0">
                  <a:pos x="42" y="22"/>
                </a:cxn>
                <a:cxn ang="0">
                  <a:pos x="58" y="24"/>
                </a:cxn>
                <a:cxn ang="0">
                  <a:pos x="67" y="30"/>
                </a:cxn>
                <a:cxn ang="0">
                  <a:pos x="64" y="37"/>
                </a:cxn>
                <a:cxn ang="0">
                  <a:pos x="52" y="45"/>
                </a:cxn>
                <a:cxn ang="0">
                  <a:pos x="56" y="60"/>
                </a:cxn>
                <a:cxn ang="0">
                  <a:pos x="58" y="63"/>
                </a:cxn>
                <a:cxn ang="0">
                  <a:pos x="66" y="50"/>
                </a:cxn>
                <a:cxn ang="0">
                  <a:pos x="72" y="66"/>
                </a:cxn>
                <a:cxn ang="0">
                  <a:pos x="78" y="81"/>
                </a:cxn>
                <a:cxn ang="0">
                  <a:pos x="79" y="92"/>
                </a:cxn>
                <a:cxn ang="0">
                  <a:pos x="74" y="96"/>
                </a:cxn>
                <a:cxn ang="0">
                  <a:pos x="76" y="100"/>
                </a:cxn>
                <a:cxn ang="0">
                  <a:pos x="67" y="84"/>
                </a:cxn>
                <a:cxn ang="0">
                  <a:pos x="58" y="67"/>
                </a:cxn>
                <a:cxn ang="0">
                  <a:pos x="48" y="66"/>
                </a:cxn>
                <a:cxn ang="0">
                  <a:pos x="43" y="55"/>
                </a:cxn>
                <a:cxn ang="0">
                  <a:pos x="27" y="45"/>
                </a:cxn>
                <a:cxn ang="0">
                  <a:pos x="22" y="46"/>
                </a:cxn>
                <a:cxn ang="0">
                  <a:pos x="39" y="56"/>
                </a:cxn>
                <a:cxn ang="0">
                  <a:pos x="44" y="67"/>
                </a:cxn>
                <a:cxn ang="0">
                  <a:pos x="45" y="70"/>
                </a:cxn>
                <a:cxn ang="0">
                  <a:pos x="42" y="85"/>
                </a:cxn>
                <a:cxn ang="0">
                  <a:pos x="38" y="80"/>
                </a:cxn>
                <a:cxn ang="0">
                  <a:pos x="36" y="80"/>
                </a:cxn>
                <a:cxn ang="0">
                  <a:pos x="32" y="84"/>
                </a:cxn>
                <a:cxn ang="0">
                  <a:pos x="28" y="84"/>
                </a:cxn>
              </a:cxnLst>
              <a:rect l="0" t="0" r="r" b="b"/>
              <a:pathLst>
                <a:path w="79" h="100">
                  <a:moveTo>
                    <a:pt x="28" y="84"/>
                  </a:moveTo>
                  <a:lnTo>
                    <a:pt x="27" y="85"/>
                  </a:lnTo>
                  <a:lnTo>
                    <a:pt x="24" y="80"/>
                  </a:lnTo>
                  <a:lnTo>
                    <a:pt x="24" y="82"/>
                  </a:lnTo>
                  <a:lnTo>
                    <a:pt x="19" y="68"/>
                  </a:lnTo>
                  <a:lnTo>
                    <a:pt x="14" y="55"/>
                  </a:lnTo>
                  <a:lnTo>
                    <a:pt x="13" y="44"/>
                  </a:lnTo>
                  <a:lnTo>
                    <a:pt x="1" y="34"/>
                  </a:lnTo>
                  <a:lnTo>
                    <a:pt x="6" y="27"/>
                  </a:lnTo>
                  <a:lnTo>
                    <a:pt x="12" y="24"/>
                  </a:lnTo>
                  <a:lnTo>
                    <a:pt x="0" y="13"/>
                  </a:lnTo>
                  <a:lnTo>
                    <a:pt x="0" y="0"/>
                  </a:lnTo>
                  <a:lnTo>
                    <a:pt x="10" y="3"/>
                  </a:lnTo>
                  <a:lnTo>
                    <a:pt x="15" y="9"/>
                  </a:lnTo>
                  <a:lnTo>
                    <a:pt x="19" y="6"/>
                  </a:lnTo>
                  <a:lnTo>
                    <a:pt x="25" y="20"/>
                  </a:lnTo>
                  <a:lnTo>
                    <a:pt x="42" y="22"/>
                  </a:lnTo>
                  <a:lnTo>
                    <a:pt x="58" y="24"/>
                  </a:lnTo>
                  <a:lnTo>
                    <a:pt x="67" y="30"/>
                  </a:lnTo>
                  <a:lnTo>
                    <a:pt x="64" y="37"/>
                  </a:lnTo>
                  <a:lnTo>
                    <a:pt x="52" y="45"/>
                  </a:lnTo>
                  <a:lnTo>
                    <a:pt x="56" y="60"/>
                  </a:lnTo>
                  <a:lnTo>
                    <a:pt x="58" y="63"/>
                  </a:lnTo>
                  <a:lnTo>
                    <a:pt x="66" y="50"/>
                  </a:lnTo>
                  <a:lnTo>
                    <a:pt x="72" y="66"/>
                  </a:lnTo>
                  <a:lnTo>
                    <a:pt x="78" y="81"/>
                  </a:lnTo>
                  <a:lnTo>
                    <a:pt x="79" y="92"/>
                  </a:lnTo>
                  <a:lnTo>
                    <a:pt x="74" y="96"/>
                  </a:lnTo>
                  <a:lnTo>
                    <a:pt x="76" y="100"/>
                  </a:lnTo>
                  <a:lnTo>
                    <a:pt x="67" y="84"/>
                  </a:lnTo>
                  <a:lnTo>
                    <a:pt x="58" y="67"/>
                  </a:lnTo>
                  <a:lnTo>
                    <a:pt x="48" y="66"/>
                  </a:lnTo>
                  <a:lnTo>
                    <a:pt x="43" y="55"/>
                  </a:lnTo>
                  <a:lnTo>
                    <a:pt x="27" y="45"/>
                  </a:lnTo>
                  <a:lnTo>
                    <a:pt x="22" y="46"/>
                  </a:lnTo>
                  <a:lnTo>
                    <a:pt x="39" y="56"/>
                  </a:lnTo>
                  <a:lnTo>
                    <a:pt x="44" y="67"/>
                  </a:lnTo>
                  <a:lnTo>
                    <a:pt x="45" y="70"/>
                  </a:lnTo>
                  <a:lnTo>
                    <a:pt x="42" y="85"/>
                  </a:lnTo>
                  <a:lnTo>
                    <a:pt x="38" y="80"/>
                  </a:lnTo>
                  <a:lnTo>
                    <a:pt x="36" y="80"/>
                  </a:lnTo>
                  <a:lnTo>
                    <a:pt x="32" y="84"/>
                  </a:lnTo>
                  <a:lnTo>
                    <a:pt x="28" y="8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 name="Freeform 41"/>
            <p:cNvSpPr>
              <a:spLocks/>
            </p:cNvSpPr>
            <p:nvPr/>
          </p:nvSpPr>
          <p:spPr bwMode="auto">
            <a:xfrm>
              <a:off x="4046" y="2143"/>
              <a:ext cx="56" cy="27"/>
            </a:xfrm>
            <a:custGeom>
              <a:avLst/>
              <a:gdLst/>
              <a:ahLst/>
              <a:cxnLst>
                <a:cxn ang="0">
                  <a:pos x="33" y="2"/>
                </a:cxn>
                <a:cxn ang="0">
                  <a:pos x="11" y="0"/>
                </a:cxn>
                <a:cxn ang="0">
                  <a:pos x="0" y="15"/>
                </a:cxn>
                <a:cxn ang="0">
                  <a:pos x="3" y="22"/>
                </a:cxn>
                <a:cxn ang="0">
                  <a:pos x="22" y="25"/>
                </a:cxn>
                <a:cxn ang="0">
                  <a:pos x="36" y="24"/>
                </a:cxn>
                <a:cxn ang="0">
                  <a:pos x="51" y="22"/>
                </a:cxn>
                <a:cxn ang="0">
                  <a:pos x="45" y="13"/>
                </a:cxn>
                <a:cxn ang="0">
                  <a:pos x="40" y="7"/>
                </a:cxn>
                <a:cxn ang="0">
                  <a:pos x="33" y="2"/>
                </a:cxn>
              </a:cxnLst>
              <a:rect l="0" t="0" r="r" b="b"/>
              <a:pathLst>
                <a:path w="51" h="25">
                  <a:moveTo>
                    <a:pt x="33" y="2"/>
                  </a:moveTo>
                  <a:lnTo>
                    <a:pt x="11" y="0"/>
                  </a:lnTo>
                  <a:lnTo>
                    <a:pt x="0" y="15"/>
                  </a:lnTo>
                  <a:lnTo>
                    <a:pt x="3" y="22"/>
                  </a:lnTo>
                  <a:lnTo>
                    <a:pt x="22" y="25"/>
                  </a:lnTo>
                  <a:lnTo>
                    <a:pt x="36" y="24"/>
                  </a:lnTo>
                  <a:lnTo>
                    <a:pt x="51" y="22"/>
                  </a:lnTo>
                  <a:lnTo>
                    <a:pt x="45" y="13"/>
                  </a:lnTo>
                  <a:lnTo>
                    <a:pt x="40" y="7"/>
                  </a:lnTo>
                  <a:lnTo>
                    <a:pt x="3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 name="Freeform 42"/>
            <p:cNvSpPr>
              <a:spLocks/>
            </p:cNvSpPr>
            <p:nvPr/>
          </p:nvSpPr>
          <p:spPr bwMode="auto">
            <a:xfrm>
              <a:off x="4320" y="2412"/>
              <a:ext cx="93" cy="84"/>
            </a:xfrm>
            <a:custGeom>
              <a:avLst/>
              <a:gdLst/>
              <a:ahLst/>
              <a:cxnLst>
                <a:cxn ang="0">
                  <a:pos x="59" y="56"/>
                </a:cxn>
                <a:cxn ang="0">
                  <a:pos x="64" y="70"/>
                </a:cxn>
                <a:cxn ang="0">
                  <a:pos x="52" y="68"/>
                </a:cxn>
                <a:cxn ang="0">
                  <a:pos x="48" y="71"/>
                </a:cxn>
                <a:cxn ang="0">
                  <a:pos x="39" y="77"/>
                </a:cxn>
                <a:cxn ang="0">
                  <a:pos x="29" y="74"/>
                </a:cxn>
                <a:cxn ang="0">
                  <a:pos x="24" y="72"/>
                </a:cxn>
                <a:cxn ang="0">
                  <a:pos x="22" y="64"/>
                </a:cxn>
                <a:cxn ang="0">
                  <a:pos x="17" y="68"/>
                </a:cxn>
                <a:cxn ang="0">
                  <a:pos x="14" y="56"/>
                </a:cxn>
                <a:cxn ang="0">
                  <a:pos x="12" y="55"/>
                </a:cxn>
                <a:cxn ang="0">
                  <a:pos x="6" y="41"/>
                </a:cxn>
                <a:cxn ang="0">
                  <a:pos x="0" y="25"/>
                </a:cxn>
                <a:cxn ang="0">
                  <a:pos x="11" y="7"/>
                </a:cxn>
                <a:cxn ang="0">
                  <a:pos x="27" y="7"/>
                </a:cxn>
                <a:cxn ang="0">
                  <a:pos x="44" y="6"/>
                </a:cxn>
                <a:cxn ang="0">
                  <a:pos x="57" y="13"/>
                </a:cxn>
                <a:cxn ang="0">
                  <a:pos x="57" y="8"/>
                </a:cxn>
                <a:cxn ang="0">
                  <a:pos x="63" y="4"/>
                </a:cxn>
                <a:cxn ang="0">
                  <a:pos x="69" y="6"/>
                </a:cxn>
                <a:cxn ang="0">
                  <a:pos x="80" y="0"/>
                </a:cxn>
                <a:cxn ang="0">
                  <a:pos x="81" y="16"/>
                </a:cxn>
                <a:cxn ang="0">
                  <a:pos x="82" y="30"/>
                </a:cxn>
                <a:cxn ang="0">
                  <a:pos x="83" y="44"/>
                </a:cxn>
                <a:cxn ang="0">
                  <a:pos x="68" y="52"/>
                </a:cxn>
                <a:cxn ang="0">
                  <a:pos x="59" y="56"/>
                </a:cxn>
              </a:cxnLst>
              <a:rect l="0" t="0" r="r" b="b"/>
              <a:pathLst>
                <a:path w="83" h="77">
                  <a:moveTo>
                    <a:pt x="59" y="56"/>
                  </a:moveTo>
                  <a:lnTo>
                    <a:pt x="64" y="70"/>
                  </a:lnTo>
                  <a:lnTo>
                    <a:pt x="52" y="68"/>
                  </a:lnTo>
                  <a:lnTo>
                    <a:pt x="48" y="71"/>
                  </a:lnTo>
                  <a:lnTo>
                    <a:pt x="39" y="77"/>
                  </a:lnTo>
                  <a:lnTo>
                    <a:pt x="29" y="74"/>
                  </a:lnTo>
                  <a:lnTo>
                    <a:pt x="24" y="72"/>
                  </a:lnTo>
                  <a:lnTo>
                    <a:pt x="22" y="64"/>
                  </a:lnTo>
                  <a:lnTo>
                    <a:pt x="17" y="68"/>
                  </a:lnTo>
                  <a:lnTo>
                    <a:pt x="14" y="56"/>
                  </a:lnTo>
                  <a:lnTo>
                    <a:pt x="12" y="55"/>
                  </a:lnTo>
                  <a:lnTo>
                    <a:pt x="6" y="41"/>
                  </a:lnTo>
                  <a:lnTo>
                    <a:pt x="0" y="25"/>
                  </a:lnTo>
                  <a:lnTo>
                    <a:pt x="11" y="7"/>
                  </a:lnTo>
                  <a:lnTo>
                    <a:pt x="27" y="7"/>
                  </a:lnTo>
                  <a:lnTo>
                    <a:pt x="44" y="6"/>
                  </a:lnTo>
                  <a:lnTo>
                    <a:pt x="57" y="13"/>
                  </a:lnTo>
                  <a:lnTo>
                    <a:pt x="57" y="8"/>
                  </a:lnTo>
                  <a:lnTo>
                    <a:pt x="63" y="4"/>
                  </a:lnTo>
                  <a:lnTo>
                    <a:pt x="69" y="6"/>
                  </a:lnTo>
                  <a:lnTo>
                    <a:pt x="80" y="0"/>
                  </a:lnTo>
                  <a:lnTo>
                    <a:pt x="81" y="16"/>
                  </a:lnTo>
                  <a:lnTo>
                    <a:pt x="82" y="30"/>
                  </a:lnTo>
                  <a:lnTo>
                    <a:pt x="83" y="44"/>
                  </a:lnTo>
                  <a:lnTo>
                    <a:pt x="68" y="52"/>
                  </a:lnTo>
                  <a:lnTo>
                    <a:pt x="59"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 name="Freeform 43"/>
            <p:cNvSpPr>
              <a:spLocks/>
            </p:cNvSpPr>
            <p:nvPr/>
          </p:nvSpPr>
          <p:spPr bwMode="auto">
            <a:xfrm>
              <a:off x="4493" y="2261"/>
              <a:ext cx="5" cy="2"/>
            </a:xfrm>
            <a:custGeom>
              <a:avLst/>
              <a:gdLst/>
              <a:ahLst/>
              <a:cxnLst>
                <a:cxn ang="0">
                  <a:pos x="4" y="0"/>
                </a:cxn>
                <a:cxn ang="0">
                  <a:pos x="3" y="1"/>
                </a:cxn>
                <a:cxn ang="0">
                  <a:pos x="0" y="1"/>
                </a:cxn>
                <a:cxn ang="0">
                  <a:pos x="4" y="0"/>
                </a:cxn>
              </a:cxnLst>
              <a:rect l="0" t="0" r="r" b="b"/>
              <a:pathLst>
                <a:path w="4" h="1">
                  <a:moveTo>
                    <a:pt x="4" y="0"/>
                  </a:moveTo>
                  <a:lnTo>
                    <a:pt x="3" y="1"/>
                  </a:lnTo>
                  <a:lnTo>
                    <a:pt x="0" y="1"/>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5" name="Freeform 44"/>
            <p:cNvSpPr>
              <a:spLocks/>
            </p:cNvSpPr>
            <p:nvPr/>
          </p:nvSpPr>
          <p:spPr bwMode="auto">
            <a:xfrm>
              <a:off x="4262" y="2259"/>
              <a:ext cx="147" cy="168"/>
            </a:xfrm>
            <a:custGeom>
              <a:avLst/>
              <a:gdLst/>
              <a:ahLst/>
              <a:cxnLst>
                <a:cxn ang="0">
                  <a:pos x="74" y="38"/>
                </a:cxn>
                <a:cxn ang="0">
                  <a:pos x="69" y="34"/>
                </a:cxn>
                <a:cxn ang="0">
                  <a:pos x="60" y="25"/>
                </a:cxn>
                <a:cxn ang="0">
                  <a:pos x="53" y="29"/>
                </a:cxn>
                <a:cxn ang="0">
                  <a:pos x="41" y="19"/>
                </a:cxn>
                <a:cxn ang="0">
                  <a:pos x="38" y="12"/>
                </a:cxn>
                <a:cxn ang="0">
                  <a:pos x="26" y="0"/>
                </a:cxn>
                <a:cxn ang="0">
                  <a:pos x="18" y="0"/>
                </a:cxn>
                <a:cxn ang="0">
                  <a:pos x="21" y="22"/>
                </a:cxn>
                <a:cxn ang="0">
                  <a:pos x="15" y="18"/>
                </a:cxn>
                <a:cxn ang="0">
                  <a:pos x="13" y="14"/>
                </a:cxn>
                <a:cxn ang="0">
                  <a:pos x="6" y="28"/>
                </a:cxn>
                <a:cxn ang="0">
                  <a:pos x="0" y="36"/>
                </a:cxn>
                <a:cxn ang="0">
                  <a:pos x="6" y="38"/>
                </a:cxn>
                <a:cxn ang="0">
                  <a:pos x="7" y="49"/>
                </a:cxn>
                <a:cxn ang="0">
                  <a:pos x="19" y="50"/>
                </a:cxn>
                <a:cxn ang="0">
                  <a:pos x="20" y="68"/>
                </a:cxn>
                <a:cxn ang="0">
                  <a:pos x="21" y="86"/>
                </a:cxn>
                <a:cxn ang="0">
                  <a:pos x="36" y="76"/>
                </a:cxn>
                <a:cxn ang="0">
                  <a:pos x="45" y="79"/>
                </a:cxn>
                <a:cxn ang="0">
                  <a:pos x="53" y="77"/>
                </a:cxn>
                <a:cxn ang="0">
                  <a:pos x="60" y="72"/>
                </a:cxn>
                <a:cxn ang="0">
                  <a:pos x="79" y="88"/>
                </a:cxn>
                <a:cxn ang="0">
                  <a:pos x="81" y="101"/>
                </a:cxn>
                <a:cxn ang="0">
                  <a:pos x="96" y="119"/>
                </a:cxn>
                <a:cxn ang="0">
                  <a:pos x="99" y="134"/>
                </a:cxn>
                <a:cxn ang="0">
                  <a:pos x="95" y="144"/>
                </a:cxn>
                <a:cxn ang="0">
                  <a:pos x="108" y="151"/>
                </a:cxn>
                <a:cxn ang="0">
                  <a:pos x="108" y="146"/>
                </a:cxn>
                <a:cxn ang="0">
                  <a:pos x="114" y="142"/>
                </a:cxn>
                <a:cxn ang="0">
                  <a:pos x="120" y="144"/>
                </a:cxn>
                <a:cxn ang="0">
                  <a:pos x="131" y="138"/>
                </a:cxn>
                <a:cxn ang="0">
                  <a:pos x="128" y="124"/>
                </a:cxn>
                <a:cxn ang="0">
                  <a:pos x="123" y="118"/>
                </a:cxn>
                <a:cxn ang="0">
                  <a:pos x="125" y="114"/>
                </a:cxn>
                <a:cxn ang="0">
                  <a:pos x="110" y="102"/>
                </a:cxn>
                <a:cxn ang="0">
                  <a:pos x="103" y="92"/>
                </a:cxn>
                <a:cxn ang="0">
                  <a:pos x="93" y="80"/>
                </a:cxn>
                <a:cxn ang="0">
                  <a:pos x="84" y="68"/>
                </a:cxn>
                <a:cxn ang="0">
                  <a:pos x="63" y="53"/>
                </a:cxn>
                <a:cxn ang="0">
                  <a:pos x="67" y="48"/>
                </a:cxn>
                <a:cxn ang="0">
                  <a:pos x="75" y="46"/>
                </a:cxn>
                <a:cxn ang="0">
                  <a:pos x="74" y="38"/>
                </a:cxn>
              </a:cxnLst>
              <a:rect l="0" t="0" r="r" b="b"/>
              <a:pathLst>
                <a:path w="131" h="151">
                  <a:moveTo>
                    <a:pt x="74" y="38"/>
                  </a:moveTo>
                  <a:lnTo>
                    <a:pt x="69" y="34"/>
                  </a:lnTo>
                  <a:lnTo>
                    <a:pt x="60" y="25"/>
                  </a:lnTo>
                  <a:lnTo>
                    <a:pt x="53" y="29"/>
                  </a:lnTo>
                  <a:lnTo>
                    <a:pt x="41" y="19"/>
                  </a:lnTo>
                  <a:lnTo>
                    <a:pt x="38" y="12"/>
                  </a:lnTo>
                  <a:lnTo>
                    <a:pt x="26" y="0"/>
                  </a:lnTo>
                  <a:lnTo>
                    <a:pt x="18" y="0"/>
                  </a:lnTo>
                  <a:lnTo>
                    <a:pt x="21" y="22"/>
                  </a:lnTo>
                  <a:lnTo>
                    <a:pt x="15" y="18"/>
                  </a:lnTo>
                  <a:lnTo>
                    <a:pt x="13" y="14"/>
                  </a:lnTo>
                  <a:lnTo>
                    <a:pt x="6" y="28"/>
                  </a:lnTo>
                  <a:lnTo>
                    <a:pt x="0" y="36"/>
                  </a:lnTo>
                  <a:lnTo>
                    <a:pt x="6" y="38"/>
                  </a:lnTo>
                  <a:lnTo>
                    <a:pt x="7" y="49"/>
                  </a:lnTo>
                  <a:lnTo>
                    <a:pt x="19" y="50"/>
                  </a:lnTo>
                  <a:lnTo>
                    <a:pt x="20" y="68"/>
                  </a:lnTo>
                  <a:lnTo>
                    <a:pt x="21" y="86"/>
                  </a:lnTo>
                  <a:lnTo>
                    <a:pt x="36" y="76"/>
                  </a:lnTo>
                  <a:lnTo>
                    <a:pt x="45" y="79"/>
                  </a:lnTo>
                  <a:lnTo>
                    <a:pt x="53" y="77"/>
                  </a:lnTo>
                  <a:lnTo>
                    <a:pt x="60" y="72"/>
                  </a:lnTo>
                  <a:lnTo>
                    <a:pt x="79" y="88"/>
                  </a:lnTo>
                  <a:lnTo>
                    <a:pt x="81" y="101"/>
                  </a:lnTo>
                  <a:lnTo>
                    <a:pt x="96" y="119"/>
                  </a:lnTo>
                  <a:lnTo>
                    <a:pt x="99" y="134"/>
                  </a:lnTo>
                  <a:lnTo>
                    <a:pt x="95" y="144"/>
                  </a:lnTo>
                  <a:lnTo>
                    <a:pt x="108" y="151"/>
                  </a:lnTo>
                  <a:lnTo>
                    <a:pt x="108" y="146"/>
                  </a:lnTo>
                  <a:lnTo>
                    <a:pt x="114" y="142"/>
                  </a:lnTo>
                  <a:lnTo>
                    <a:pt x="120" y="144"/>
                  </a:lnTo>
                  <a:lnTo>
                    <a:pt x="131" y="138"/>
                  </a:lnTo>
                  <a:lnTo>
                    <a:pt x="128" y="124"/>
                  </a:lnTo>
                  <a:lnTo>
                    <a:pt x="123" y="118"/>
                  </a:lnTo>
                  <a:lnTo>
                    <a:pt x="125" y="114"/>
                  </a:lnTo>
                  <a:lnTo>
                    <a:pt x="110" y="102"/>
                  </a:lnTo>
                  <a:lnTo>
                    <a:pt x="103" y="92"/>
                  </a:lnTo>
                  <a:lnTo>
                    <a:pt x="93" y="80"/>
                  </a:lnTo>
                  <a:lnTo>
                    <a:pt x="84" y="68"/>
                  </a:lnTo>
                  <a:lnTo>
                    <a:pt x="63" y="53"/>
                  </a:lnTo>
                  <a:lnTo>
                    <a:pt x="67" y="48"/>
                  </a:lnTo>
                  <a:lnTo>
                    <a:pt x="75" y="46"/>
                  </a:lnTo>
                  <a:lnTo>
                    <a:pt x="74"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6" name="Freeform 45"/>
            <p:cNvSpPr>
              <a:spLocks/>
            </p:cNvSpPr>
            <p:nvPr/>
          </p:nvSpPr>
          <p:spPr bwMode="auto">
            <a:xfrm>
              <a:off x="4124" y="2136"/>
              <a:ext cx="154" cy="367"/>
            </a:xfrm>
            <a:custGeom>
              <a:avLst/>
              <a:gdLst/>
              <a:ahLst/>
              <a:cxnLst>
                <a:cxn ang="0">
                  <a:pos x="76" y="81"/>
                </a:cxn>
                <a:cxn ang="0">
                  <a:pos x="74" y="66"/>
                </a:cxn>
                <a:cxn ang="0">
                  <a:pos x="84" y="45"/>
                </a:cxn>
                <a:cxn ang="0">
                  <a:pos x="78" y="16"/>
                </a:cxn>
                <a:cxn ang="0">
                  <a:pos x="58" y="0"/>
                </a:cxn>
                <a:cxn ang="0">
                  <a:pos x="54" y="14"/>
                </a:cxn>
                <a:cxn ang="0">
                  <a:pos x="55" y="25"/>
                </a:cxn>
                <a:cxn ang="0">
                  <a:pos x="29" y="38"/>
                </a:cxn>
                <a:cxn ang="0">
                  <a:pos x="28" y="61"/>
                </a:cxn>
                <a:cxn ang="0">
                  <a:pos x="11" y="82"/>
                </a:cxn>
                <a:cxn ang="0">
                  <a:pos x="10" y="117"/>
                </a:cxn>
                <a:cxn ang="0">
                  <a:pos x="4" y="117"/>
                </a:cxn>
                <a:cxn ang="0">
                  <a:pos x="0" y="132"/>
                </a:cxn>
                <a:cxn ang="0">
                  <a:pos x="11" y="148"/>
                </a:cxn>
                <a:cxn ang="0">
                  <a:pos x="18" y="156"/>
                </a:cxn>
                <a:cxn ang="0">
                  <a:pos x="26" y="156"/>
                </a:cxn>
                <a:cxn ang="0">
                  <a:pos x="26" y="165"/>
                </a:cxn>
                <a:cxn ang="0">
                  <a:pos x="34" y="165"/>
                </a:cxn>
                <a:cxn ang="0">
                  <a:pos x="44" y="194"/>
                </a:cxn>
                <a:cxn ang="0">
                  <a:pos x="43" y="224"/>
                </a:cxn>
                <a:cxn ang="0">
                  <a:pos x="52" y="225"/>
                </a:cxn>
                <a:cxn ang="0">
                  <a:pos x="58" y="226"/>
                </a:cxn>
                <a:cxn ang="0">
                  <a:pos x="61" y="228"/>
                </a:cxn>
                <a:cxn ang="0">
                  <a:pos x="74" y="213"/>
                </a:cxn>
                <a:cxn ang="0">
                  <a:pos x="83" y="201"/>
                </a:cxn>
                <a:cxn ang="0">
                  <a:pos x="96" y="216"/>
                </a:cxn>
                <a:cxn ang="0">
                  <a:pos x="109" y="266"/>
                </a:cxn>
                <a:cxn ang="0">
                  <a:pos x="115" y="274"/>
                </a:cxn>
                <a:cxn ang="0">
                  <a:pos x="122" y="301"/>
                </a:cxn>
                <a:cxn ang="0">
                  <a:pos x="121" y="330"/>
                </a:cxn>
                <a:cxn ang="0">
                  <a:pos x="131" y="314"/>
                </a:cxn>
                <a:cxn ang="0">
                  <a:pos x="131" y="285"/>
                </a:cxn>
                <a:cxn ang="0">
                  <a:pos x="119" y="259"/>
                </a:cxn>
                <a:cxn ang="0">
                  <a:pos x="110" y="237"/>
                </a:cxn>
                <a:cxn ang="0">
                  <a:pos x="116" y="219"/>
                </a:cxn>
                <a:cxn ang="0">
                  <a:pos x="100" y="199"/>
                </a:cxn>
                <a:cxn ang="0">
                  <a:pos x="91" y="180"/>
                </a:cxn>
                <a:cxn ang="0">
                  <a:pos x="109" y="157"/>
                </a:cxn>
                <a:cxn ang="0">
                  <a:pos x="125" y="146"/>
                </a:cxn>
                <a:cxn ang="0">
                  <a:pos x="138" y="124"/>
                </a:cxn>
                <a:cxn ang="0">
                  <a:pos x="122" y="126"/>
                </a:cxn>
                <a:cxn ang="0">
                  <a:pos x="106" y="112"/>
                </a:cxn>
                <a:cxn ang="0">
                  <a:pos x="97" y="93"/>
                </a:cxn>
                <a:cxn ang="0">
                  <a:pos x="92" y="79"/>
                </a:cxn>
              </a:cxnLst>
              <a:rect l="0" t="0" r="r" b="b"/>
              <a:pathLst>
                <a:path w="138" h="330">
                  <a:moveTo>
                    <a:pt x="92" y="79"/>
                  </a:moveTo>
                  <a:lnTo>
                    <a:pt x="76" y="81"/>
                  </a:lnTo>
                  <a:lnTo>
                    <a:pt x="76" y="73"/>
                  </a:lnTo>
                  <a:lnTo>
                    <a:pt x="74" y="66"/>
                  </a:lnTo>
                  <a:lnTo>
                    <a:pt x="82" y="54"/>
                  </a:lnTo>
                  <a:lnTo>
                    <a:pt x="84" y="45"/>
                  </a:lnTo>
                  <a:lnTo>
                    <a:pt x="80" y="31"/>
                  </a:lnTo>
                  <a:lnTo>
                    <a:pt x="78" y="16"/>
                  </a:lnTo>
                  <a:lnTo>
                    <a:pt x="71" y="13"/>
                  </a:lnTo>
                  <a:lnTo>
                    <a:pt x="58" y="0"/>
                  </a:lnTo>
                  <a:lnTo>
                    <a:pt x="56" y="6"/>
                  </a:lnTo>
                  <a:lnTo>
                    <a:pt x="54" y="14"/>
                  </a:lnTo>
                  <a:lnTo>
                    <a:pt x="53" y="19"/>
                  </a:lnTo>
                  <a:lnTo>
                    <a:pt x="55" y="25"/>
                  </a:lnTo>
                  <a:lnTo>
                    <a:pt x="43" y="22"/>
                  </a:lnTo>
                  <a:lnTo>
                    <a:pt x="29" y="38"/>
                  </a:lnTo>
                  <a:lnTo>
                    <a:pt x="29" y="52"/>
                  </a:lnTo>
                  <a:lnTo>
                    <a:pt x="28" y="61"/>
                  </a:lnTo>
                  <a:lnTo>
                    <a:pt x="20" y="82"/>
                  </a:lnTo>
                  <a:lnTo>
                    <a:pt x="11" y="82"/>
                  </a:lnTo>
                  <a:lnTo>
                    <a:pt x="11" y="98"/>
                  </a:lnTo>
                  <a:lnTo>
                    <a:pt x="10" y="117"/>
                  </a:lnTo>
                  <a:lnTo>
                    <a:pt x="5" y="116"/>
                  </a:lnTo>
                  <a:lnTo>
                    <a:pt x="4" y="117"/>
                  </a:lnTo>
                  <a:lnTo>
                    <a:pt x="5" y="128"/>
                  </a:lnTo>
                  <a:lnTo>
                    <a:pt x="0" y="132"/>
                  </a:lnTo>
                  <a:lnTo>
                    <a:pt x="11" y="147"/>
                  </a:lnTo>
                  <a:lnTo>
                    <a:pt x="11" y="148"/>
                  </a:lnTo>
                  <a:lnTo>
                    <a:pt x="14" y="145"/>
                  </a:lnTo>
                  <a:lnTo>
                    <a:pt x="18" y="156"/>
                  </a:lnTo>
                  <a:lnTo>
                    <a:pt x="19" y="156"/>
                  </a:lnTo>
                  <a:lnTo>
                    <a:pt x="26" y="156"/>
                  </a:lnTo>
                  <a:lnTo>
                    <a:pt x="31" y="163"/>
                  </a:lnTo>
                  <a:lnTo>
                    <a:pt x="26" y="165"/>
                  </a:lnTo>
                  <a:lnTo>
                    <a:pt x="31" y="172"/>
                  </a:lnTo>
                  <a:lnTo>
                    <a:pt x="34" y="165"/>
                  </a:lnTo>
                  <a:lnTo>
                    <a:pt x="40" y="180"/>
                  </a:lnTo>
                  <a:lnTo>
                    <a:pt x="44" y="194"/>
                  </a:lnTo>
                  <a:lnTo>
                    <a:pt x="44" y="208"/>
                  </a:lnTo>
                  <a:lnTo>
                    <a:pt x="43" y="224"/>
                  </a:lnTo>
                  <a:lnTo>
                    <a:pt x="49" y="216"/>
                  </a:lnTo>
                  <a:lnTo>
                    <a:pt x="52" y="225"/>
                  </a:lnTo>
                  <a:lnTo>
                    <a:pt x="54" y="228"/>
                  </a:lnTo>
                  <a:lnTo>
                    <a:pt x="58" y="226"/>
                  </a:lnTo>
                  <a:lnTo>
                    <a:pt x="61" y="225"/>
                  </a:lnTo>
                  <a:lnTo>
                    <a:pt x="61" y="228"/>
                  </a:lnTo>
                  <a:lnTo>
                    <a:pt x="72" y="218"/>
                  </a:lnTo>
                  <a:lnTo>
                    <a:pt x="74" y="213"/>
                  </a:lnTo>
                  <a:lnTo>
                    <a:pt x="78" y="216"/>
                  </a:lnTo>
                  <a:lnTo>
                    <a:pt x="83" y="201"/>
                  </a:lnTo>
                  <a:lnTo>
                    <a:pt x="89" y="210"/>
                  </a:lnTo>
                  <a:lnTo>
                    <a:pt x="96" y="216"/>
                  </a:lnTo>
                  <a:lnTo>
                    <a:pt x="103" y="241"/>
                  </a:lnTo>
                  <a:lnTo>
                    <a:pt x="109" y="266"/>
                  </a:lnTo>
                  <a:lnTo>
                    <a:pt x="110" y="261"/>
                  </a:lnTo>
                  <a:lnTo>
                    <a:pt x="115" y="274"/>
                  </a:lnTo>
                  <a:lnTo>
                    <a:pt x="120" y="288"/>
                  </a:lnTo>
                  <a:lnTo>
                    <a:pt x="122" y="301"/>
                  </a:lnTo>
                  <a:lnTo>
                    <a:pt x="122" y="316"/>
                  </a:lnTo>
                  <a:lnTo>
                    <a:pt x="121" y="330"/>
                  </a:lnTo>
                  <a:lnTo>
                    <a:pt x="125" y="326"/>
                  </a:lnTo>
                  <a:lnTo>
                    <a:pt x="131" y="314"/>
                  </a:lnTo>
                  <a:lnTo>
                    <a:pt x="136" y="303"/>
                  </a:lnTo>
                  <a:lnTo>
                    <a:pt x="131" y="285"/>
                  </a:lnTo>
                  <a:lnTo>
                    <a:pt x="127" y="270"/>
                  </a:lnTo>
                  <a:lnTo>
                    <a:pt x="119" y="259"/>
                  </a:lnTo>
                  <a:lnTo>
                    <a:pt x="110" y="248"/>
                  </a:lnTo>
                  <a:lnTo>
                    <a:pt x="110" y="237"/>
                  </a:lnTo>
                  <a:lnTo>
                    <a:pt x="113" y="230"/>
                  </a:lnTo>
                  <a:lnTo>
                    <a:pt x="116" y="219"/>
                  </a:lnTo>
                  <a:lnTo>
                    <a:pt x="113" y="218"/>
                  </a:lnTo>
                  <a:lnTo>
                    <a:pt x="100" y="199"/>
                  </a:lnTo>
                  <a:lnTo>
                    <a:pt x="86" y="178"/>
                  </a:lnTo>
                  <a:lnTo>
                    <a:pt x="91" y="180"/>
                  </a:lnTo>
                  <a:lnTo>
                    <a:pt x="95" y="159"/>
                  </a:lnTo>
                  <a:lnTo>
                    <a:pt x="109" y="157"/>
                  </a:lnTo>
                  <a:lnTo>
                    <a:pt x="116" y="148"/>
                  </a:lnTo>
                  <a:lnTo>
                    <a:pt x="125" y="146"/>
                  </a:lnTo>
                  <a:lnTo>
                    <a:pt x="131" y="138"/>
                  </a:lnTo>
                  <a:lnTo>
                    <a:pt x="138" y="124"/>
                  </a:lnTo>
                  <a:lnTo>
                    <a:pt x="133" y="122"/>
                  </a:lnTo>
                  <a:lnTo>
                    <a:pt x="122" y="126"/>
                  </a:lnTo>
                  <a:lnTo>
                    <a:pt x="114" y="116"/>
                  </a:lnTo>
                  <a:lnTo>
                    <a:pt x="106" y="112"/>
                  </a:lnTo>
                  <a:lnTo>
                    <a:pt x="108" y="98"/>
                  </a:lnTo>
                  <a:lnTo>
                    <a:pt x="97" y="93"/>
                  </a:lnTo>
                  <a:lnTo>
                    <a:pt x="94" y="81"/>
                  </a:lnTo>
                  <a:lnTo>
                    <a:pt x="92" y="7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7" name="Freeform 46"/>
            <p:cNvSpPr>
              <a:spLocks/>
            </p:cNvSpPr>
            <p:nvPr/>
          </p:nvSpPr>
          <p:spPr bwMode="auto">
            <a:xfrm>
              <a:off x="4620" y="2334"/>
              <a:ext cx="82" cy="120"/>
            </a:xfrm>
            <a:custGeom>
              <a:avLst/>
              <a:gdLst/>
              <a:ahLst/>
              <a:cxnLst>
                <a:cxn ang="0">
                  <a:pos x="15" y="69"/>
                </a:cxn>
                <a:cxn ang="0">
                  <a:pos x="15" y="76"/>
                </a:cxn>
                <a:cxn ang="0">
                  <a:pos x="4" y="58"/>
                </a:cxn>
                <a:cxn ang="0">
                  <a:pos x="0" y="43"/>
                </a:cxn>
                <a:cxn ang="0">
                  <a:pos x="9" y="45"/>
                </a:cxn>
                <a:cxn ang="0">
                  <a:pos x="6" y="27"/>
                </a:cxn>
                <a:cxn ang="0">
                  <a:pos x="5" y="7"/>
                </a:cxn>
                <a:cxn ang="0">
                  <a:pos x="9" y="0"/>
                </a:cxn>
                <a:cxn ang="0">
                  <a:pos x="29" y="5"/>
                </a:cxn>
                <a:cxn ang="0">
                  <a:pos x="31" y="9"/>
                </a:cxn>
                <a:cxn ang="0">
                  <a:pos x="36" y="23"/>
                </a:cxn>
                <a:cxn ang="0">
                  <a:pos x="39" y="34"/>
                </a:cxn>
                <a:cxn ang="0">
                  <a:pos x="35" y="45"/>
                </a:cxn>
                <a:cxn ang="0">
                  <a:pos x="29" y="52"/>
                </a:cxn>
                <a:cxn ang="0">
                  <a:pos x="29" y="65"/>
                </a:cxn>
                <a:cxn ang="0">
                  <a:pos x="39" y="84"/>
                </a:cxn>
                <a:cxn ang="0">
                  <a:pos x="43" y="83"/>
                </a:cxn>
                <a:cxn ang="0">
                  <a:pos x="45" y="81"/>
                </a:cxn>
                <a:cxn ang="0">
                  <a:pos x="53" y="78"/>
                </a:cxn>
                <a:cxn ang="0">
                  <a:pos x="60" y="88"/>
                </a:cxn>
                <a:cxn ang="0">
                  <a:pos x="61" y="84"/>
                </a:cxn>
                <a:cxn ang="0">
                  <a:pos x="69" y="89"/>
                </a:cxn>
                <a:cxn ang="0">
                  <a:pos x="65" y="91"/>
                </a:cxn>
                <a:cxn ang="0">
                  <a:pos x="72" y="100"/>
                </a:cxn>
                <a:cxn ang="0">
                  <a:pos x="76" y="101"/>
                </a:cxn>
                <a:cxn ang="0">
                  <a:pos x="72" y="108"/>
                </a:cxn>
                <a:cxn ang="0">
                  <a:pos x="72" y="103"/>
                </a:cxn>
                <a:cxn ang="0">
                  <a:pos x="61" y="97"/>
                </a:cxn>
                <a:cxn ang="0">
                  <a:pos x="54" y="89"/>
                </a:cxn>
                <a:cxn ang="0">
                  <a:pos x="48" y="87"/>
                </a:cxn>
                <a:cxn ang="0">
                  <a:pos x="51" y="99"/>
                </a:cxn>
                <a:cxn ang="0">
                  <a:pos x="35" y="85"/>
                </a:cxn>
                <a:cxn ang="0">
                  <a:pos x="25" y="90"/>
                </a:cxn>
                <a:cxn ang="0">
                  <a:pos x="18" y="87"/>
                </a:cxn>
                <a:cxn ang="0">
                  <a:pos x="18" y="78"/>
                </a:cxn>
                <a:cxn ang="0">
                  <a:pos x="21" y="71"/>
                </a:cxn>
                <a:cxn ang="0">
                  <a:pos x="15" y="69"/>
                </a:cxn>
              </a:cxnLst>
              <a:rect l="0" t="0" r="r" b="b"/>
              <a:pathLst>
                <a:path w="76" h="108">
                  <a:moveTo>
                    <a:pt x="15" y="69"/>
                  </a:moveTo>
                  <a:lnTo>
                    <a:pt x="15" y="76"/>
                  </a:lnTo>
                  <a:lnTo>
                    <a:pt x="4" y="58"/>
                  </a:lnTo>
                  <a:lnTo>
                    <a:pt x="0" y="43"/>
                  </a:lnTo>
                  <a:lnTo>
                    <a:pt x="9" y="45"/>
                  </a:lnTo>
                  <a:lnTo>
                    <a:pt x="6" y="27"/>
                  </a:lnTo>
                  <a:lnTo>
                    <a:pt x="5" y="7"/>
                  </a:lnTo>
                  <a:lnTo>
                    <a:pt x="9" y="0"/>
                  </a:lnTo>
                  <a:lnTo>
                    <a:pt x="29" y="5"/>
                  </a:lnTo>
                  <a:lnTo>
                    <a:pt x="31" y="9"/>
                  </a:lnTo>
                  <a:lnTo>
                    <a:pt x="36" y="23"/>
                  </a:lnTo>
                  <a:lnTo>
                    <a:pt x="39" y="34"/>
                  </a:lnTo>
                  <a:lnTo>
                    <a:pt x="35" y="45"/>
                  </a:lnTo>
                  <a:lnTo>
                    <a:pt x="29" y="52"/>
                  </a:lnTo>
                  <a:lnTo>
                    <a:pt x="29" y="65"/>
                  </a:lnTo>
                  <a:lnTo>
                    <a:pt x="39" y="84"/>
                  </a:lnTo>
                  <a:lnTo>
                    <a:pt x="43" y="83"/>
                  </a:lnTo>
                  <a:lnTo>
                    <a:pt x="45" y="81"/>
                  </a:lnTo>
                  <a:lnTo>
                    <a:pt x="53" y="78"/>
                  </a:lnTo>
                  <a:lnTo>
                    <a:pt x="60" y="88"/>
                  </a:lnTo>
                  <a:lnTo>
                    <a:pt x="61" y="84"/>
                  </a:lnTo>
                  <a:lnTo>
                    <a:pt x="69" y="89"/>
                  </a:lnTo>
                  <a:lnTo>
                    <a:pt x="65" y="91"/>
                  </a:lnTo>
                  <a:lnTo>
                    <a:pt x="72" y="100"/>
                  </a:lnTo>
                  <a:lnTo>
                    <a:pt x="76" y="101"/>
                  </a:lnTo>
                  <a:lnTo>
                    <a:pt x="72" y="108"/>
                  </a:lnTo>
                  <a:lnTo>
                    <a:pt x="72" y="103"/>
                  </a:lnTo>
                  <a:lnTo>
                    <a:pt x="61" y="97"/>
                  </a:lnTo>
                  <a:lnTo>
                    <a:pt x="54" y="89"/>
                  </a:lnTo>
                  <a:lnTo>
                    <a:pt x="48" y="87"/>
                  </a:lnTo>
                  <a:lnTo>
                    <a:pt x="51" y="99"/>
                  </a:lnTo>
                  <a:lnTo>
                    <a:pt x="35" y="85"/>
                  </a:lnTo>
                  <a:lnTo>
                    <a:pt x="25" y="90"/>
                  </a:lnTo>
                  <a:lnTo>
                    <a:pt x="18" y="87"/>
                  </a:lnTo>
                  <a:lnTo>
                    <a:pt x="18" y="78"/>
                  </a:lnTo>
                  <a:lnTo>
                    <a:pt x="21" y="71"/>
                  </a:lnTo>
                  <a:lnTo>
                    <a:pt x="15"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8" name="Freeform 47"/>
            <p:cNvSpPr>
              <a:spLocks/>
            </p:cNvSpPr>
            <p:nvPr/>
          </p:nvSpPr>
          <p:spPr bwMode="auto">
            <a:xfrm>
              <a:off x="4675" y="2512"/>
              <a:ext cx="80" cy="82"/>
            </a:xfrm>
            <a:custGeom>
              <a:avLst/>
              <a:gdLst/>
              <a:ahLst/>
              <a:cxnLst>
                <a:cxn ang="0">
                  <a:pos x="56" y="73"/>
                </a:cxn>
                <a:cxn ang="0">
                  <a:pos x="54" y="66"/>
                </a:cxn>
                <a:cxn ang="0">
                  <a:pos x="51" y="68"/>
                </a:cxn>
                <a:cxn ang="0">
                  <a:pos x="33" y="58"/>
                </a:cxn>
                <a:cxn ang="0">
                  <a:pos x="36" y="43"/>
                </a:cxn>
                <a:cxn ang="0">
                  <a:pos x="26" y="34"/>
                </a:cxn>
                <a:cxn ang="0">
                  <a:pos x="22" y="38"/>
                </a:cxn>
                <a:cxn ang="0">
                  <a:pos x="19" y="37"/>
                </a:cxn>
                <a:cxn ang="0">
                  <a:pos x="16" y="40"/>
                </a:cxn>
                <a:cxn ang="0">
                  <a:pos x="12" y="35"/>
                </a:cxn>
                <a:cxn ang="0">
                  <a:pos x="4" y="44"/>
                </a:cxn>
                <a:cxn ang="0">
                  <a:pos x="0" y="49"/>
                </a:cxn>
                <a:cxn ang="0">
                  <a:pos x="2" y="36"/>
                </a:cxn>
                <a:cxn ang="0">
                  <a:pos x="14" y="25"/>
                </a:cxn>
                <a:cxn ang="0">
                  <a:pos x="24" y="19"/>
                </a:cxn>
                <a:cxn ang="0">
                  <a:pos x="27" y="29"/>
                </a:cxn>
                <a:cxn ang="0">
                  <a:pos x="34" y="25"/>
                </a:cxn>
                <a:cxn ang="0">
                  <a:pos x="39" y="22"/>
                </a:cxn>
                <a:cxn ang="0">
                  <a:pos x="42" y="13"/>
                </a:cxn>
                <a:cxn ang="0">
                  <a:pos x="49" y="13"/>
                </a:cxn>
                <a:cxn ang="0">
                  <a:pos x="52" y="13"/>
                </a:cxn>
                <a:cxn ang="0">
                  <a:pos x="51" y="0"/>
                </a:cxn>
                <a:cxn ang="0">
                  <a:pos x="63" y="8"/>
                </a:cxn>
                <a:cxn ang="0">
                  <a:pos x="66" y="22"/>
                </a:cxn>
                <a:cxn ang="0">
                  <a:pos x="73" y="43"/>
                </a:cxn>
                <a:cxn ang="0">
                  <a:pos x="69" y="52"/>
                </a:cxn>
                <a:cxn ang="0">
                  <a:pos x="68" y="59"/>
                </a:cxn>
                <a:cxn ang="0">
                  <a:pos x="61" y="44"/>
                </a:cxn>
                <a:cxn ang="0">
                  <a:pos x="56" y="48"/>
                </a:cxn>
                <a:cxn ang="0">
                  <a:pos x="58" y="60"/>
                </a:cxn>
                <a:cxn ang="0">
                  <a:pos x="56" y="73"/>
                </a:cxn>
              </a:cxnLst>
              <a:rect l="0" t="0" r="r" b="b"/>
              <a:pathLst>
                <a:path w="73" h="73">
                  <a:moveTo>
                    <a:pt x="56" y="73"/>
                  </a:moveTo>
                  <a:lnTo>
                    <a:pt x="54" y="66"/>
                  </a:lnTo>
                  <a:lnTo>
                    <a:pt x="51" y="68"/>
                  </a:lnTo>
                  <a:lnTo>
                    <a:pt x="33" y="58"/>
                  </a:lnTo>
                  <a:lnTo>
                    <a:pt x="36" y="43"/>
                  </a:lnTo>
                  <a:lnTo>
                    <a:pt x="26" y="34"/>
                  </a:lnTo>
                  <a:lnTo>
                    <a:pt x="22" y="38"/>
                  </a:lnTo>
                  <a:lnTo>
                    <a:pt x="19" y="37"/>
                  </a:lnTo>
                  <a:lnTo>
                    <a:pt x="16" y="40"/>
                  </a:lnTo>
                  <a:lnTo>
                    <a:pt x="12" y="35"/>
                  </a:lnTo>
                  <a:lnTo>
                    <a:pt x="4" y="44"/>
                  </a:lnTo>
                  <a:lnTo>
                    <a:pt x="0" y="49"/>
                  </a:lnTo>
                  <a:lnTo>
                    <a:pt x="2" y="36"/>
                  </a:lnTo>
                  <a:lnTo>
                    <a:pt x="14" y="25"/>
                  </a:lnTo>
                  <a:lnTo>
                    <a:pt x="24" y="19"/>
                  </a:lnTo>
                  <a:lnTo>
                    <a:pt x="27" y="29"/>
                  </a:lnTo>
                  <a:lnTo>
                    <a:pt x="34" y="25"/>
                  </a:lnTo>
                  <a:lnTo>
                    <a:pt x="39" y="22"/>
                  </a:lnTo>
                  <a:lnTo>
                    <a:pt x="42" y="13"/>
                  </a:lnTo>
                  <a:lnTo>
                    <a:pt x="49" y="13"/>
                  </a:lnTo>
                  <a:lnTo>
                    <a:pt x="52" y="13"/>
                  </a:lnTo>
                  <a:lnTo>
                    <a:pt x="51" y="0"/>
                  </a:lnTo>
                  <a:lnTo>
                    <a:pt x="63" y="8"/>
                  </a:lnTo>
                  <a:lnTo>
                    <a:pt x="66" y="22"/>
                  </a:lnTo>
                  <a:lnTo>
                    <a:pt x="73" y="43"/>
                  </a:lnTo>
                  <a:lnTo>
                    <a:pt x="69" y="52"/>
                  </a:lnTo>
                  <a:lnTo>
                    <a:pt x="68" y="59"/>
                  </a:lnTo>
                  <a:lnTo>
                    <a:pt x="61" y="44"/>
                  </a:lnTo>
                  <a:lnTo>
                    <a:pt x="56" y="48"/>
                  </a:lnTo>
                  <a:lnTo>
                    <a:pt x="58" y="60"/>
                  </a:lnTo>
                  <a:lnTo>
                    <a:pt x="56"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9" name="Freeform 48"/>
            <p:cNvSpPr>
              <a:spLocks/>
            </p:cNvSpPr>
            <p:nvPr/>
          </p:nvSpPr>
          <p:spPr bwMode="auto">
            <a:xfrm>
              <a:off x="4680" y="2490"/>
              <a:ext cx="17" cy="33"/>
            </a:xfrm>
            <a:custGeom>
              <a:avLst/>
              <a:gdLst/>
              <a:ahLst/>
              <a:cxnLst>
                <a:cxn ang="0">
                  <a:pos x="16" y="0"/>
                </a:cxn>
                <a:cxn ang="0">
                  <a:pos x="12" y="22"/>
                </a:cxn>
                <a:cxn ang="0">
                  <a:pos x="12" y="31"/>
                </a:cxn>
                <a:cxn ang="0">
                  <a:pos x="0" y="20"/>
                </a:cxn>
                <a:cxn ang="0">
                  <a:pos x="4" y="15"/>
                </a:cxn>
                <a:cxn ang="0">
                  <a:pos x="6" y="0"/>
                </a:cxn>
                <a:cxn ang="0">
                  <a:pos x="16" y="0"/>
                </a:cxn>
              </a:cxnLst>
              <a:rect l="0" t="0" r="r" b="b"/>
              <a:pathLst>
                <a:path w="16" h="31">
                  <a:moveTo>
                    <a:pt x="16" y="0"/>
                  </a:moveTo>
                  <a:lnTo>
                    <a:pt x="12" y="22"/>
                  </a:lnTo>
                  <a:lnTo>
                    <a:pt x="12" y="31"/>
                  </a:lnTo>
                  <a:lnTo>
                    <a:pt x="0" y="20"/>
                  </a:lnTo>
                  <a:lnTo>
                    <a:pt x="4" y="15"/>
                  </a:lnTo>
                  <a:lnTo>
                    <a:pt x="6" y="0"/>
                  </a:lnTo>
                  <a:lnTo>
                    <a:pt x="1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0" name="Freeform 49"/>
            <p:cNvSpPr>
              <a:spLocks/>
            </p:cNvSpPr>
            <p:nvPr/>
          </p:nvSpPr>
          <p:spPr bwMode="auto">
            <a:xfrm>
              <a:off x="4706" y="2454"/>
              <a:ext cx="29" cy="31"/>
            </a:xfrm>
            <a:custGeom>
              <a:avLst/>
              <a:gdLst/>
              <a:ahLst/>
              <a:cxnLst>
                <a:cxn ang="0">
                  <a:pos x="20" y="27"/>
                </a:cxn>
                <a:cxn ang="0">
                  <a:pos x="12" y="18"/>
                </a:cxn>
                <a:cxn ang="0">
                  <a:pos x="0" y="3"/>
                </a:cxn>
                <a:cxn ang="0">
                  <a:pos x="14" y="0"/>
                </a:cxn>
                <a:cxn ang="0">
                  <a:pos x="20" y="11"/>
                </a:cxn>
                <a:cxn ang="0">
                  <a:pos x="27" y="28"/>
                </a:cxn>
                <a:cxn ang="0">
                  <a:pos x="20" y="27"/>
                </a:cxn>
              </a:cxnLst>
              <a:rect l="0" t="0" r="r" b="b"/>
              <a:pathLst>
                <a:path w="27" h="28">
                  <a:moveTo>
                    <a:pt x="20" y="27"/>
                  </a:moveTo>
                  <a:lnTo>
                    <a:pt x="12" y="18"/>
                  </a:lnTo>
                  <a:lnTo>
                    <a:pt x="0" y="3"/>
                  </a:lnTo>
                  <a:lnTo>
                    <a:pt x="14" y="0"/>
                  </a:lnTo>
                  <a:lnTo>
                    <a:pt x="20" y="11"/>
                  </a:lnTo>
                  <a:lnTo>
                    <a:pt x="27" y="28"/>
                  </a:lnTo>
                  <a:lnTo>
                    <a:pt x="2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1" name="Freeform 50"/>
            <p:cNvSpPr>
              <a:spLocks/>
            </p:cNvSpPr>
            <p:nvPr/>
          </p:nvSpPr>
          <p:spPr bwMode="auto">
            <a:xfrm>
              <a:off x="4666" y="2470"/>
              <a:ext cx="23" cy="26"/>
            </a:xfrm>
            <a:custGeom>
              <a:avLst/>
              <a:gdLst/>
              <a:ahLst/>
              <a:cxnLst>
                <a:cxn ang="0">
                  <a:pos x="20" y="4"/>
                </a:cxn>
                <a:cxn ang="0">
                  <a:pos x="3" y="0"/>
                </a:cxn>
                <a:cxn ang="0">
                  <a:pos x="0" y="1"/>
                </a:cxn>
                <a:cxn ang="0">
                  <a:pos x="5" y="24"/>
                </a:cxn>
                <a:cxn ang="0">
                  <a:pos x="20" y="9"/>
                </a:cxn>
                <a:cxn ang="0">
                  <a:pos x="21" y="8"/>
                </a:cxn>
                <a:cxn ang="0">
                  <a:pos x="20" y="4"/>
                </a:cxn>
              </a:cxnLst>
              <a:rect l="0" t="0" r="r" b="b"/>
              <a:pathLst>
                <a:path w="21" h="24">
                  <a:moveTo>
                    <a:pt x="20" y="4"/>
                  </a:moveTo>
                  <a:lnTo>
                    <a:pt x="3" y="0"/>
                  </a:lnTo>
                  <a:lnTo>
                    <a:pt x="0" y="1"/>
                  </a:lnTo>
                  <a:lnTo>
                    <a:pt x="5" y="24"/>
                  </a:lnTo>
                  <a:lnTo>
                    <a:pt x="20" y="9"/>
                  </a:lnTo>
                  <a:lnTo>
                    <a:pt x="21" y="8"/>
                  </a:lnTo>
                  <a:lnTo>
                    <a:pt x="2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2" name="Freeform 51"/>
            <p:cNvSpPr>
              <a:spLocks/>
            </p:cNvSpPr>
            <p:nvPr/>
          </p:nvSpPr>
          <p:spPr bwMode="auto">
            <a:xfrm>
              <a:off x="4589" y="2481"/>
              <a:ext cx="42" cy="55"/>
            </a:xfrm>
            <a:custGeom>
              <a:avLst/>
              <a:gdLst/>
              <a:ahLst/>
              <a:cxnLst>
                <a:cxn ang="0">
                  <a:pos x="37" y="15"/>
                </a:cxn>
                <a:cxn ang="0">
                  <a:pos x="23" y="29"/>
                </a:cxn>
                <a:cxn ang="0">
                  <a:pos x="12" y="40"/>
                </a:cxn>
                <a:cxn ang="0">
                  <a:pos x="0" y="52"/>
                </a:cxn>
                <a:cxn ang="0">
                  <a:pos x="1" y="48"/>
                </a:cxn>
                <a:cxn ang="0">
                  <a:pos x="13" y="34"/>
                </a:cxn>
                <a:cxn ang="0">
                  <a:pos x="24" y="21"/>
                </a:cxn>
                <a:cxn ang="0">
                  <a:pos x="29" y="9"/>
                </a:cxn>
                <a:cxn ang="0">
                  <a:pos x="30" y="9"/>
                </a:cxn>
                <a:cxn ang="0">
                  <a:pos x="31" y="0"/>
                </a:cxn>
                <a:cxn ang="0">
                  <a:pos x="37" y="15"/>
                </a:cxn>
              </a:cxnLst>
              <a:rect l="0" t="0" r="r" b="b"/>
              <a:pathLst>
                <a:path w="37" h="52">
                  <a:moveTo>
                    <a:pt x="37" y="15"/>
                  </a:moveTo>
                  <a:lnTo>
                    <a:pt x="23" y="29"/>
                  </a:lnTo>
                  <a:lnTo>
                    <a:pt x="12" y="40"/>
                  </a:lnTo>
                  <a:lnTo>
                    <a:pt x="0" y="52"/>
                  </a:lnTo>
                  <a:lnTo>
                    <a:pt x="1" y="48"/>
                  </a:lnTo>
                  <a:lnTo>
                    <a:pt x="13" y="34"/>
                  </a:lnTo>
                  <a:lnTo>
                    <a:pt x="24" y="21"/>
                  </a:lnTo>
                  <a:lnTo>
                    <a:pt x="29" y="9"/>
                  </a:lnTo>
                  <a:lnTo>
                    <a:pt x="30" y="9"/>
                  </a:lnTo>
                  <a:lnTo>
                    <a:pt x="31" y="0"/>
                  </a:lnTo>
                  <a:lnTo>
                    <a:pt x="37"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3" name="Freeform 52"/>
            <p:cNvSpPr>
              <a:spLocks/>
            </p:cNvSpPr>
            <p:nvPr/>
          </p:nvSpPr>
          <p:spPr bwMode="auto">
            <a:xfrm>
              <a:off x="4633" y="2436"/>
              <a:ext cx="24" cy="25"/>
            </a:xfrm>
            <a:custGeom>
              <a:avLst/>
              <a:gdLst/>
              <a:ahLst/>
              <a:cxnLst>
                <a:cxn ang="0">
                  <a:pos x="22" y="14"/>
                </a:cxn>
                <a:cxn ang="0">
                  <a:pos x="18" y="20"/>
                </a:cxn>
                <a:cxn ang="0">
                  <a:pos x="10" y="11"/>
                </a:cxn>
                <a:cxn ang="0">
                  <a:pos x="0" y="0"/>
                </a:cxn>
                <a:cxn ang="0">
                  <a:pos x="17" y="2"/>
                </a:cxn>
                <a:cxn ang="0">
                  <a:pos x="22" y="14"/>
                </a:cxn>
              </a:cxnLst>
              <a:rect l="0" t="0" r="r" b="b"/>
              <a:pathLst>
                <a:path w="22" h="20">
                  <a:moveTo>
                    <a:pt x="22" y="14"/>
                  </a:moveTo>
                  <a:lnTo>
                    <a:pt x="18" y="20"/>
                  </a:lnTo>
                  <a:lnTo>
                    <a:pt x="10" y="11"/>
                  </a:lnTo>
                  <a:lnTo>
                    <a:pt x="0" y="0"/>
                  </a:lnTo>
                  <a:lnTo>
                    <a:pt x="17" y="2"/>
                  </a:lnTo>
                  <a:lnTo>
                    <a:pt x="22" y="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4" name="Freeform 53"/>
            <p:cNvSpPr>
              <a:spLocks/>
            </p:cNvSpPr>
            <p:nvPr/>
          </p:nvSpPr>
          <p:spPr bwMode="auto">
            <a:xfrm>
              <a:off x="4711" y="2476"/>
              <a:ext cx="18" cy="27"/>
            </a:xfrm>
            <a:custGeom>
              <a:avLst/>
              <a:gdLst/>
              <a:ahLst/>
              <a:cxnLst>
                <a:cxn ang="0">
                  <a:pos x="10" y="4"/>
                </a:cxn>
                <a:cxn ang="0">
                  <a:pos x="16" y="21"/>
                </a:cxn>
                <a:cxn ang="0">
                  <a:pos x="12" y="22"/>
                </a:cxn>
                <a:cxn ang="0">
                  <a:pos x="11" y="25"/>
                </a:cxn>
                <a:cxn ang="0">
                  <a:pos x="4" y="10"/>
                </a:cxn>
                <a:cxn ang="0">
                  <a:pos x="0" y="0"/>
                </a:cxn>
                <a:cxn ang="0">
                  <a:pos x="10" y="4"/>
                </a:cxn>
              </a:cxnLst>
              <a:rect l="0" t="0" r="r" b="b"/>
              <a:pathLst>
                <a:path w="16" h="25">
                  <a:moveTo>
                    <a:pt x="10" y="4"/>
                  </a:moveTo>
                  <a:lnTo>
                    <a:pt x="16" y="21"/>
                  </a:lnTo>
                  <a:lnTo>
                    <a:pt x="12" y="22"/>
                  </a:lnTo>
                  <a:lnTo>
                    <a:pt x="11" y="25"/>
                  </a:lnTo>
                  <a:lnTo>
                    <a:pt x="4" y="10"/>
                  </a:lnTo>
                  <a:lnTo>
                    <a:pt x="0" y="0"/>
                  </a:lnTo>
                  <a:lnTo>
                    <a:pt x="1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5" name="Freeform 54"/>
            <p:cNvSpPr>
              <a:spLocks/>
            </p:cNvSpPr>
            <p:nvPr/>
          </p:nvSpPr>
          <p:spPr bwMode="auto">
            <a:xfrm>
              <a:off x="4689" y="2456"/>
              <a:ext cx="15" cy="16"/>
            </a:xfrm>
            <a:custGeom>
              <a:avLst/>
              <a:gdLst/>
              <a:ahLst/>
              <a:cxnLst>
                <a:cxn ang="0">
                  <a:pos x="14" y="13"/>
                </a:cxn>
                <a:cxn ang="0">
                  <a:pos x="2" y="6"/>
                </a:cxn>
                <a:cxn ang="0">
                  <a:pos x="0" y="7"/>
                </a:cxn>
                <a:cxn ang="0">
                  <a:pos x="1" y="0"/>
                </a:cxn>
                <a:cxn ang="0">
                  <a:pos x="14" y="11"/>
                </a:cxn>
                <a:cxn ang="0">
                  <a:pos x="14" y="13"/>
                </a:cxn>
              </a:cxnLst>
              <a:rect l="0" t="0" r="r" b="b"/>
              <a:pathLst>
                <a:path w="14" h="13">
                  <a:moveTo>
                    <a:pt x="14" y="13"/>
                  </a:moveTo>
                  <a:lnTo>
                    <a:pt x="2" y="6"/>
                  </a:lnTo>
                  <a:lnTo>
                    <a:pt x="0" y="7"/>
                  </a:lnTo>
                  <a:lnTo>
                    <a:pt x="1" y="0"/>
                  </a:lnTo>
                  <a:lnTo>
                    <a:pt x="14" y="11"/>
                  </a:lnTo>
                  <a:lnTo>
                    <a:pt x="14"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6" name="Freeform 55"/>
            <p:cNvSpPr>
              <a:spLocks/>
            </p:cNvSpPr>
            <p:nvPr/>
          </p:nvSpPr>
          <p:spPr bwMode="auto">
            <a:xfrm>
              <a:off x="4704" y="2503"/>
              <a:ext cx="13" cy="7"/>
            </a:xfrm>
            <a:custGeom>
              <a:avLst/>
              <a:gdLst/>
              <a:ahLst/>
              <a:cxnLst>
                <a:cxn ang="0">
                  <a:pos x="12" y="6"/>
                </a:cxn>
                <a:cxn ang="0">
                  <a:pos x="10" y="0"/>
                </a:cxn>
                <a:cxn ang="0">
                  <a:pos x="0" y="6"/>
                </a:cxn>
                <a:cxn ang="0">
                  <a:pos x="12" y="6"/>
                </a:cxn>
              </a:cxnLst>
              <a:rect l="0" t="0" r="r" b="b"/>
              <a:pathLst>
                <a:path w="12" h="6">
                  <a:moveTo>
                    <a:pt x="12" y="6"/>
                  </a:moveTo>
                  <a:lnTo>
                    <a:pt x="10" y="0"/>
                  </a:lnTo>
                  <a:lnTo>
                    <a:pt x="0" y="6"/>
                  </a:lnTo>
                  <a:lnTo>
                    <a:pt x="12"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7" name="Freeform 56"/>
            <p:cNvSpPr>
              <a:spLocks/>
            </p:cNvSpPr>
            <p:nvPr/>
          </p:nvSpPr>
          <p:spPr bwMode="auto">
            <a:xfrm>
              <a:off x="4695" y="2481"/>
              <a:ext cx="11" cy="35"/>
            </a:xfrm>
            <a:custGeom>
              <a:avLst/>
              <a:gdLst/>
              <a:ahLst/>
              <a:cxnLst>
                <a:cxn ang="0">
                  <a:pos x="8" y="0"/>
                </a:cxn>
                <a:cxn ang="0">
                  <a:pos x="8" y="9"/>
                </a:cxn>
                <a:cxn ang="0">
                  <a:pos x="5" y="21"/>
                </a:cxn>
                <a:cxn ang="0">
                  <a:pos x="0" y="33"/>
                </a:cxn>
                <a:cxn ang="0">
                  <a:pos x="5" y="16"/>
                </a:cxn>
                <a:cxn ang="0">
                  <a:pos x="8" y="0"/>
                </a:cxn>
              </a:cxnLst>
              <a:rect l="0" t="0" r="r" b="b"/>
              <a:pathLst>
                <a:path w="8" h="33">
                  <a:moveTo>
                    <a:pt x="8" y="0"/>
                  </a:moveTo>
                  <a:lnTo>
                    <a:pt x="8" y="9"/>
                  </a:lnTo>
                  <a:lnTo>
                    <a:pt x="5" y="21"/>
                  </a:lnTo>
                  <a:lnTo>
                    <a:pt x="0" y="33"/>
                  </a:lnTo>
                  <a:lnTo>
                    <a:pt x="5" y="16"/>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8" name="Freeform 57"/>
            <p:cNvSpPr>
              <a:spLocks/>
            </p:cNvSpPr>
            <p:nvPr/>
          </p:nvSpPr>
          <p:spPr bwMode="auto">
            <a:xfrm>
              <a:off x="4220" y="2299"/>
              <a:ext cx="153" cy="291"/>
            </a:xfrm>
            <a:custGeom>
              <a:avLst/>
              <a:gdLst/>
              <a:ahLst/>
              <a:cxnLst>
                <a:cxn ang="0">
                  <a:pos x="46" y="187"/>
                </a:cxn>
                <a:cxn ang="0">
                  <a:pos x="53" y="155"/>
                </a:cxn>
                <a:cxn ang="0">
                  <a:pos x="54" y="126"/>
                </a:cxn>
                <a:cxn ang="0">
                  <a:pos x="69" y="137"/>
                </a:cxn>
                <a:cxn ang="0">
                  <a:pos x="96" y="150"/>
                </a:cxn>
                <a:cxn ang="0">
                  <a:pos x="96" y="143"/>
                </a:cxn>
                <a:cxn ang="0">
                  <a:pos x="101" y="109"/>
                </a:cxn>
                <a:cxn ang="0">
                  <a:pos x="134" y="108"/>
                </a:cxn>
                <a:cxn ang="0">
                  <a:pos x="135" y="83"/>
                </a:cxn>
                <a:cxn ang="0">
                  <a:pos x="118" y="52"/>
                </a:cxn>
                <a:cxn ang="0">
                  <a:pos x="92" y="41"/>
                </a:cxn>
                <a:cxn ang="0">
                  <a:pos x="75" y="40"/>
                </a:cxn>
                <a:cxn ang="0">
                  <a:pos x="59" y="32"/>
                </a:cxn>
                <a:cxn ang="0">
                  <a:pos x="46" y="13"/>
                </a:cxn>
                <a:cxn ang="0">
                  <a:pos x="39" y="0"/>
                </a:cxn>
                <a:cxn ang="0">
                  <a:pos x="23" y="11"/>
                </a:cxn>
                <a:cxn ang="0">
                  <a:pos x="5" y="34"/>
                </a:cxn>
                <a:cxn ang="0">
                  <a:pos x="14" y="53"/>
                </a:cxn>
                <a:cxn ang="0">
                  <a:pos x="30" y="73"/>
                </a:cxn>
                <a:cxn ang="0">
                  <a:pos x="24" y="91"/>
                </a:cxn>
                <a:cxn ang="0">
                  <a:pos x="33" y="113"/>
                </a:cxn>
                <a:cxn ang="0">
                  <a:pos x="45" y="139"/>
                </a:cxn>
                <a:cxn ang="0">
                  <a:pos x="45" y="168"/>
                </a:cxn>
                <a:cxn ang="0">
                  <a:pos x="39" y="184"/>
                </a:cxn>
                <a:cxn ang="0">
                  <a:pos x="34" y="218"/>
                </a:cxn>
                <a:cxn ang="0">
                  <a:pos x="45" y="226"/>
                </a:cxn>
                <a:cxn ang="0">
                  <a:pos x="58" y="240"/>
                </a:cxn>
                <a:cxn ang="0">
                  <a:pos x="66" y="248"/>
                </a:cxn>
                <a:cxn ang="0">
                  <a:pos x="80" y="262"/>
                </a:cxn>
                <a:cxn ang="0">
                  <a:pos x="96" y="254"/>
                </a:cxn>
                <a:cxn ang="0">
                  <a:pos x="76" y="241"/>
                </a:cxn>
                <a:cxn ang="0">
                  <a:pos x="64" y="218"/>
                </a:cxn>
                <a:cxn ang="0">
                  <a:pos x="51" y="200"/>
                </a:cxn>
              </a:cxnLst>
              <a:rect l="0" t="0" r="r" b="b"/>
              <a:pathLst>
                <a:path w="138" h="262">
                  <a:moveTo>
                    <a:pt x="51" y="200"/>
                  </a:moveTo>
                  <a:lnTo>
                    <a:pt x="46" y="187"/>
                  </a:lnTo>
                  <a:lnTo>
                    <a:pt x="50" y="170"/>
                  </a:lnTo>
                  <a:lnTo>
                    <a:pt x="53" y="155"/>
                  </a:lnTo>
                  <a:lnTo>
                    <a:pt x="53" y="140"/>
                  </a:lnTo>
                  <a:lnTo>
                    <a:pt x="54" y="126"/>
                  </a:lnTo>
                  <a:lnTo>
                    <a:pt x="68" y="124"/>
                  </a:lnTo>
                  <a:lnTo>
                    <a:pt x="69" y="137"/>
                  </a:lnTo>
                  <a:lnTo>
                    <a:pt x="81" y="139"/>
                  </a:lnTo>
                  <a:lnTo>
                    <a:pt x="96" y="150"/>
                  </a:lnTo>
                  <a:lnTo>
                    <a:pt x="102" y="157"/>
                  </a:lnTo>
                  <a:lnTo>
                    <a:pt x="96" y="143"/>
                  </a:lnTo>
                  <a:lnTo>
                    <a:pt x="90" y="127"/>
                  </a:lnTo>
                  <a:lnTo>
                    <a:pt x="101" y="109"/>
                  </a:lnTo>
                  <a:lnTo>
                    <a:pt x="117" y="109"/>
                  </a:lnTo>
                  <a:lnTo>
                    <a:pt x="134" y="108"/>
                  </a:lnTo>
                  <a:lnTo>
                    <a:pt x="138" y="98"/>
                  </a:lnTo>
                  <a:lnTo>
                    <a:pt x="135" y="83"/>
                  </a:lnTo>
                  <a:lnTo>
                    <a:pt x="120" y="65"/>
                  </a:lnTo>
                  <a:lnTo>
                    <a:pt x="118" y="52"/>
                  </a:lnTo>
                  <a:lnTo>
                    <a:pt x="99" y="36"/>
                  </a:lnTo>
                  <a:lnTo>
                    <a:pt x="92" y="41"/>
                  </a:lnTo>
                  <a:lnTo>
                    <a:pt x="84" y="43"/>
                  </a:lnTo>
                  <a:lnTo>
                    <a:pt x="75" y="40"/>
                  </a:lnTo>
                  <a:lnTo>
                    <a:pt x="60" y="50"/>
                  </a:lnTo>
                  <a:lnTo>
                    <a:pt x="59" y="32"/>
                  </a:lnTo>
                  <a:lnTo>
                    <a:pt x="58" y="14"/>
                  </a:lnTo>
                  <a:lnTo>
                    <a:pt x="46" y="13"/>
                  </a:lnTo>
                  <a:lnTo>
                    <a:pt x="45" y="2"/>
                  </a:lnTo>
                  <a:lnTo>
                    <a:pt x="39" y="0"/>
                  </a:lnTo>
                  <a:lnTo>
                    <a:pt x="30" y="2"/>
                  </a:lnTo>
                  <a:lnTo>
                    <a:pt x="23" y="11"/>
                  </a:lnTo>
                  <a:lnTo>
                    <a:pt x="9" y="13"/>
                  </a:lnTo>
                  <a:lnTo>
                    <a:pt x="5" y="34"/>
                  </a:lnTo>
                  <a:lnTo>
                    <a:pt x="0" y="32"/>
                  </a:lnTo>
                  <a:lnTo>
                    <a:pt x="14" y="53"/>
                  </a:lnTo>
                  <a:lnTo>
                    <a:pt x="27" y="72"/>
                  </a:lnTo>
                  <a:lnTo>
                    <a:pt x="30" y="73"/>
                  </a:lnTo>
                  <a:lnTo>
                    <a:pt x="27" y="84"/>
                  </a:lnTo>
                  <a:lnTo>
                    <a:pt x="24" y="91"/>
                  </a:lnTo>
                  <a:lnTo>
                    <a:pt x="24" y="102"/>
                  </a:lnTo>
                  <a:lnTo>
                    <a:pt x="33" y="113"/>
                  </a:lnTo>
                  <a:lnTo>
                    <a:pt x="41" y="124"/>
                  </a:lnTo>
                  <a:lnTo>
                    <a:pt x="45" y="139"/>
                  </a:lnTo>
                  <a:lnTo>
                    <a:pt x="50" y="157"/>
                  </a:lnTo>
                  <a:lnTo>
                    <a:pt x="45" y="168"/>
                  </a:lnTo>
                  <a:lnTo>
                    <a:pt x="39" y="180"/>
                  </a:lnTo>
                  <a:lnTo>
                    <a:pt x="39" y="184"/>
                  </a:lnTo>
                  <a:lnTo>
                    <a:pt x="36" y="200"/>
                  </a:lnTo>
                  <a:lnTo>
                    <a:pt x="34" y="218"/>
                  </a:lnTo>
                  <a:lnTo>
                    <a:pt x="36" y="216"/>
                  </a:lnTo>
                  <a:lnTo>
                    <a:pt x="45" y="226"/>
                  </a:lnTo>
                  <a:lnTo>
                    <a:pt x="53" y="235"/>
                  </a:lnTo>
                  <a:lnTo>
                    <a:pt x="58" y="240"/>
                  </a:lnTo>
                  <a:lnTo>
                    <a:pt x="65" y="251"/>
                  </a:lnTo>
                  <a:lnTo>
                    <a:pt x="66" y="248"/>
                  </a:lnTo>
                  <a:lnTo>
                    <a:pt x="78" y="254"/>
                  </a:lnTo>
                  <a:lnTo>
                    <a:pt x="80" y="262"/>
                  </a:lnTo>
                  <a:lnTo>
                    <a:pt x="90" y="262"/>
                  </a:lnTo>
                  <a:lnTo>
                    <a:pt x="96" y="254"/>
                  </a:lnTo>
                  <a:lnTo>
                    <a:pt x="88" y="244"/>
                  </a:lnTo>
                  <a:lnTo>
                    <a:pt x="76" y="241"/>
                  </a:lnTo>
                  <a:lnTo>
                    <a:pt x="68" y="232"/>
                  </a:lnTo>
                  <a:lnTo>
                    <a:pt x="64" y="218"/>
                  </a:lnTo>
                  <a:lnTo>
                    <a:pt x="58" y="202"/>
                  </a:lnTo>
                  <a:lnTo>
                    <a:pt x="51" y="20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9" name="Freeform 58"/>
            <p:cNvSpPr>
              <a:spLocks/>
            </p:cNvSpPr>
            <p:nvPr/>
          </p:nvSpPr>
          <p:spPr bwMode="auto">
            <a:xfrm>
              <a:off x="4293" y="2241"/>
              <a:ext cx="153" cy="291"/>
            </a:xfrm>
            <a:custGeom>
              <a:avLst/>
              <a:gdLst/>
              <a:ahLst/>
              <a:cxnLst>
                <a:cxn ang="0">
                  <a:pos x="43" y="50"/>
                </a:cxn>
                <a:cxn ang="0">
                  <a:pos x="27" y="45"/>
                </a:cxn>
                <a:cxn ang="0">
                  <a:pos x="12" y="28"/>
                </a:cxn>
                <a:cxn ang="0">
                  <a:pos x="4" y="11"/>
                </a:cxn>
                <a:cxn ang="0">
                  <a:pos x="15" y="11"/>
                </a:cxn>
                <a:cxn ang="0">
                  <a:pos x="25" y="12"/>
                </a:cxn>
                <a:cxn ang="0">
                  <a:pos x="34" y="11"/>
                </a:cxn>
                <a:cxn ang="0">
                  <a:pos x="49" y="2"/>
                </a:cxn>
                <a:cxn ang="0">
                  <a:pos x="71" y="20"/>
                </a:cxn>
                <a:cxn ang="0">
                  <a:pos x="93" y="30"/>
                </a:cxn>
                <a:cxn ang="0">
                  <a:pos x="76" y="42"/>
                </a:cxn>
                <a:cxn ang="0">
                  <a:pos x="70" y="59"/>
                </a:cxn>
                <a:cxn ang="0">
                  <a:pos x="76" y="90"/>
                </a:cxn>
                <a:cxn ang="0">
                  <a:pos x="89" y="110"/>
                </a:cxn>
                <a:cxn ang="0">
                  <a:pos x="113" y="130"/>
                </a:cxn>
                <a:cxn ang="0">
                  <a:pos x="131" y="166"/>
                </a:cxn>
                <a:cxn ang="0">
                  <a:pos x="137" y="196"/>
                </a:cxn>
                <a:cxn ang="0">
                  <a:pos x="135" y="210"/>
                </a:cxn>
                <a:cxn ang="0">
                  <a:pos x="112" y="230"/>
                </a:cxn>
                <a:cxn ang="0">
                  <a:pos x="101" y="232"/>
                </a:cxn>
                <a:cxn ang="0">
                  <a:pos x="99" y="239"/>
                </a:cxn>
                <a:cxn ang="0">
                  <a:pos x="93" y="246"/>
                </a:cxn>
                <a:cxn ang="0">
                  <a:pos x="72" y="262"/>
                </a:cxn>
                <a:cxn ang="0">
                  <a:pos x="64" y="231"/>
                </a:cxn>
                <a:cxn ang="0">
                  <a:pos x="77" y="222"/>
                </a:cxn>
                <a:cxn ang="0">
                  <a:pos x="84" y="210"/>
                </a:cxn>
                <a:cxn ang="0">
                  <a:pos x="108" y="198"/>
                </a:cxn>
                <a:cxn ang="0">
                  <a:pos x="106" y="170"/>
                </a:cxn>
                <a:cxn ang="0">
                  <a:pos x="102" y="140"/>
                </a:cxn>
                <a:cxn ang="0">
                  <a:pos x="99" y="130"/>
                </a:cxn>
                <a:cxn ang="0">
                  <a:pos x="77" y="108"/>
                </a:cxn>
                <a:cxn ang="0">
                  <a:pos x="58" y="84"/>
                </a:cxn>
                <a:cxn ang="0">
                  <a:pos x="41" y="64"/>
                </a:cxn>
                <a:cxn ang="0">
                  <a:pos x="48" y="54"/>
                </a:cxn>
              </a:cxnLst>
              <a:rect l="0" t="0" r="r" b="b"/>
              <a:pathLst>
                <a:path w="138" h="262">
                  <a:moveTo>
                    <a:pt x="48" y="54"/>
                  </a:moveTo>
                  <a:lnTo>
                    <a:pt x="43" y="50"/>
                  </a:lnTo>
                  <a:lnTo>
                    <a:pt x="34" y="41"/>
                  </a:lnTo>
                  <a:lnTo>
                    <a:pt x="27" y="45"/>
                  </a:lnTo>
                  <a:lnTo>
                    <a:pt x="15" y="35"/>
                  </a:lnTo>
                  <a:lnTo>
                    <a:pt x="12" y="28"/>
                  </a:lnTo>
                  <a:lnTo>
                    <a:pt x="0" y="16"/>
                  </a:lnTo>
                  <a:lnTo>
                    <a:pt x="4" y="11"/>
                  </a:lnTo>
                  <a:lnTo>
                    <a:pt x="12" y="14"/>
                  </a:lnTo>
                  <a:lnTo>
                    <a:pt x="15" y="11"/>
                  </a:lnTo>
                  <a:lnTo>
                    <a:pt x="22" y="11"/>
                  </a:lnTo>
                  <a:lnTo>
                    <a:pt x="25" y="12"/>
                  </a:lnTo>
                  <a:lnTo>
                    <a:pt x="28" y="11"/>
                  </a:lnTo>
                  <a:lnTo>
                    <a:pt x="34" y="11"/>
                  </a:lnTo>
                  <a:lnTo>
                    <a:pt x="42" y="0"/>
                  </a:lnTo>
                  <a:lnTo>
                    <a:pt x="49" y="2"/>
                  </a:lnTo>
                  <a:lnTo>
                    <a:pt x="69" y="8"/>
                  </a:lnTo>
                  <a:lnTo>
                    <a:pt x="71" y="20"/>
                  </a:lnTo>
                  <a:lnTo>
                    <a:pt x="77" y="24"/>
                  </a:lnTo>
                  <a:lnTo>
                    <a:pt x="93" y="30"/>
                  </a:lnTo>
                  <a:lnTo>
                    <a:pt x="84" y="38"/>
                  </a:lnTo>
                  <a:lnTo>
                    <a:pt x="76" y="42"/>
                  </a:lnTo>
                  <a:lnTo>
                    <a:pt x="76" y="44"/>
                  </a:lnTo>
                  <a:lnTo>
                    <a:pt x="70" y="59"/>
                  </a:lnTo>
                  <a:lnTo>
                    <a:pt x="64" y="75"/>
                  </a:lnTo>
                  <a:lnTo>
                    <a:pt x="76" y="90"/>
                  </a:lnTo>
                  <a:lnTo>
                    <a:pt x="79" y="100"/>
                  </a:lnTo>
                  <a:lnTo>
                    <a:pt x="89" y="110"/>
                  </a:lnTo>
                  <a:lnTo>
                    <a:pt x="100" y="119"/>
                  </a:lnTo>
                  <a:lnTo>
                    <a:pt x="113" y="130"/>
                  </a:lnTo>
                  <a:lnTo>
                    <a:pt x="124" y="142"/>
                  </a:lnTo>
                  <a:lnTo>
                    <a:pt x="131" y="166"/>
                  </a:lnTo>
                  <a:lnTo>
                    <a:pt x="138" y="190"/>
                  </a:lnTo>
                  <a:lnTo>
                    <a:pt x="137" y="196"/>
                  </a:lnTo>
                  <a:lnTo>
                    <a:pt x="137" y="203"/>
                  </a:lnTo>
                  <a:lnTo>
                    <a:pt x="135" y="210"/>
                  </a:lnTo>
                  <a:lnTo>
                    <a:pt x="124" y="220"/>
                  </a:lnTo>
                  <a:lnTo>
                    <a:pt x="112" y="230"/>
                  </a:lnTo>
                  <a:lnTo>
                    <a:pt x="101" y="227"/>
                  </a:lnTo>
                  <a:lnTo>
                    <a:pt x="101" y="232"/>
                  </a:lnTo>
                  <a:lnTo>
                    <a:pt x="101" y="237"/>
                  </a:lnTo>
                  <a:lnTo>
                    <a:pt x="99" y="239"/>
                  </a:lnTo>
                  <a:lnTo>
                    <a:pt x="99" y="246"/>
                  </a:lnTo>
                  <a:lnTo>
                    <a:pt x="93" y="246"/>
                  </a:lnTo>
                  <a:lnTo>
                    <a:pt x="81" y="260"/>
                  </a:lnTo>
                  <a:lnTo>
                    <a:pt x="72" y="262"/>
                  </a:lnTo>
                  <a:lnTo>
                    <a:pt x="75" y="240"/>
                  </a:lnTo>
                  <a:lnTo>
                    <a:pt x="64" y="231"/>
                  </a:lnTo>
                  <a:lnTo>
                    <a:pt x="73" y="225"/>
                  </a:lnTo>
                  <a:lnTo>
                    <a:pt x="77" y="222"/>
                  </a:lnTo>
                  <a:lnTo>
                    <a:pt x="89" y="224"/>
                  </a:lnTo>
                  <a:lnTo>
                    <a:pt x="84" y="210"/>
                  </a:lnTo>
                  <a:lnTo>
                    <a:pt x="93" y="206"/>
                  </a:lnTo>
                  <a:lnTo>
                    <a:pt x="108" y="198"/>
                  </a:lnTo>
                  <a:lnTo>
                    <a:pt x="107" y="184"/>
                  </a:lnTo>
                  <a:lnTo>
                    <a:pt x="106" y="170"/>
                  </a:lnTo>
                  <a:lnTo>
                    <a:pt x="105" y="154"/>
                  </a:lnTo>
                  <a:lnTo>
                    <a:pt x="102" y="140"/>
                  </a:lnTo>
                  <a:lnTo>
                    <a:pt x="97" y="134"/>
                  </a:lnTo>
                  <a:lnTo>
                    <a:pt x="99" y="130"/>
                  </a:lnTo>
                  <a:lnTo>
                    <a:pt x="84" y="118"/>
                  </a:lnTo>
                  <a:lnTo>
                    <a:pt x="77" y="108"/>
                  </a:lnTo>
                  <a:lnTo>
                    <a:pt x="67" y="96"/>
                  </a:lnTo>
                  <a:lnTo>
                    <a:pt x="58" y="84"/>
                  </a:lnTo>
                  <a:lnTo>
                    <a:pt x="37" y="69"/>
                  </a:lnTo>
                  <a:lnTo>
                    <a:pt x="41" y="64"/>
                  </a:lnTo>
                  <a:lnTo>
                    <a:pt x="49" y="62"/>
                  </a:lnTo>
                  <a:lnTo>
                    <a:pt x="48" y="5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0" name="Freeform 59"/>
            <p:cNvSpPr>
              <a:spLocks/>
            </p:cNvSpPr>
            <p:nvPr/>
          </p:nvSpPr>
          <p:spPr bwMode="auto">
            <a:xfrm>
              <a:off x="3402" y="2183"/>
              <a:ext cx="13" cy="33"/>
            </a:xfrm>
            <a:custGeom>
              <a:avLst/>
              <a:gdLst/>
              <a:ahLst/>
              <a:cxnLst>
                <a:cxn ang="0">
                  <a:pos x="7" y="27"/>
                </a:cxn>
                <a:cxn ang="0">
                  <a:pos x="5" y="29"/>
                </a:cxn>
                <a:cxn ang="0">
                  <a:pos x="0" y="25"/>
                </a:cxn>
                <a:cxn ang="0">
                  <a:pos x="0" y="8"/>
                </a:cxn>
                <a:cxn ang="0">
                  <a:pos x="6" y="0"/>
                </a:cxn>
                <a:cxn ang="0">
                  <a:pos x="11" y="15"/>
                </a:cxn>
                <a:cxn ang="0">
                  <a:pos x="7" y="27"/>
                </a:cxn>
              </a:cxnLst>
              <a:rect l="0" t="0" r="r" b="b"/>
              <a:pathLst>
                <a:path w="11" h="29">
                  <a:moveTo>
                    <a:pt x="7" y="27"/>
                  </a:moveTo>
                  <a:lnTo>
                    <a:pt x="5" y="29"/>
                  </a:lnTo>
                  <a:lnTo>
                    <a:pt x="0" y="25"/>
                  </a:lnTo>
                  <a:lnTo>
                    <a:pt x="0" y="8"/>
                  </a:lnTo>
                  <a:lnTo>
                    <a:pt x="6" y="0"/>
                  </a:lnTo>
                  <a:lnTo>
                    <a:pt x="11" y="15"/>
                  </a:lnTo>
                  <a:lnTo>
                    <a:pt x="7"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1" name="Freeform 60"/>
            <p:cNvSpPr>
              <a:spLocks/>
            </p:cNvSpPr>
            <p:nvPr/>
          </p:nvSpPr>
          <p:spPr bwMode="auto">
            <a:xfrm>
              <a:off x="3253" y="1914"/>
              <a:ext cx="356" cy="289"/>
            </a:xfrm>
            <a:custGeom>
              <a:avLst/>
              <a:gdLst/>
              <a:ahLst/>
              <a:cxnLst>
                <a:cxn ang="0">
                  <a:pos x="36" y="106"/>
                </a:cxn>
                <a:cxn ang="0">
                  <a:pos x="40" y="79"/>
                </a:cxn>
                <a:cxn ang="0">
                  <a:pos x="29" y="66"/>
                </a:cxn>
                <a:cxn ang="0">
                  <a:pos x="5" y="33"/>
                </a:cxn>
                <a:cxn ang="0">
                  <a:pos x="0" y="5"/>
                </a:cxn>
                <a:cxn ang="0">
                  <a:pos x="7" y="1"/>
                </a:cxn>
                <a:cxn ang="0">
                  <a:pos x="28" y="15"/>
                </a:cxn>
                <a:cxn ang="0">
                  <a:pos x="54" y="0"/>
                </a:cxn>
                <a:cxn ang="0">
                  <a:pos x="58" y="13"/>
                </a:cxn>
                <a:cxn ang="0">
                  <a:pos x="79" y="39"/>
                </a:cxn>
                <a:cxn ang="0">
                  <a:pos x="111" y="51"/>
                </a:cxn>
                <a:cxn ang="0">
                  <a:pos x="138" y="53"/>
                </a:cxn>
                <a:cxn ang="0">
                  <a:pos x="151" y="48"/>
                </a:cxn>
                <a:cxn ang="0">
                  <a:pos x="154" y="42"/>
                </a:cxn>
                <a:cxn ang="0">
                  <a:pos x="181" y="29"/>
                </a:cxn>
                <a:cxn ang="0">
                  <a:pos x="220" y="36"/>
                </a:cxn>
                <a:cxn ang="0">
                  <a:pos x="246" y="53"/>
                </a:cxn>
                <a:cxn ang="0">
                  <a:pos x="265" y="73"/>
                </a:cxn>
                <a:cxn ang="0">
                  <a:pos x="261" y="96"/>
                </a:cxn>
                <a:cxn ang="0">
                  <a:pos x="267" y="111"/>
                </a:cxn>
                <a:cxn ang="0">
                  <a:pos x="269" y="129"/>
                </a:cxn>
                <a:cxn ang="0">
                  <a:pos x="287" y="149"/>
                </a:cxn>
                <a:cxn ang="0">
                  <a:pos x="279" y="177"/>
                </a:cxn>
                <a:cxn ang="0">
                  <a:pos x="300" y="201"/>
                </a:cxn>
                <a:cxn ang="0">
                  <a:pos x="317" y="225"/>
                </a:cxn>
                <a:cxn ang="0">
                  <a:pos x="322" y="234"/>
                </a:cxn>
                <a:cxn ang="0">
                  <a:pos x="303" y="246"/>
                </a:cxn>
                <a:cxn ang="0">
                  <a:pos x="285" y="258"/>
                </a:cxn>
                <a:cxn ang="0">
                  <a:pos x="251" y="252"/>
                </a:cxn>
                <a:cxn ang="0">
                  <a:pos x="228" y="238"/>
                </a:cxn>
                <a:cxn ang="0">
                  <a:pos x="209" y="231"/>
                </a:cxn>
                <a:cxn ang="0">
                  <a:pos x="172" y="231"/>
                </a:cxn>
                <a:cxn ang="0">
                  <a:pos x="144" y="213"/>
                </a:cxn>
                <a:cxn ang="0">
                  <a:pos x="125" y="190"/>
                </a:cxn>
                <a:cxn ang="0">
                  <a:pos x="105" y="172"/>
                </a:cxn>
                <a:cxn ang="0">
                  <a:pos x="97" y="166"/>
                </a:cxn>
                <a:cxn ang="0">
                  <a:pos x="90" y="174"/>
                </a:cxn>
                <a:cxn ang="0">
                  <a:pos x="81" y="156"/>
                </a:cxn>
                <a:cxn ang="0">
                  <a:pos x="76" y="142"/>
                </a:cxn>
                <a:cxn ang="0">
                  <a:pos x="57" y="126"/>
                </a:cxn>
              </a:cxnLst>
              <a:rect l="0" t="0" r="r" b="b"/>
              <a:pathLst>
                <a:path w="322" h="261">
                  <a:moveTo>
                    <a:pt x="45" y="118"/>
                  </a:moveTo>
                  <a:lnTo>
                    <a:pt x="36" y="106"/>
                  </a:lnTo>
                  <a:lnTo>
                    <a:pt x="35" y="96"/>
                  </a:lnTo>
                  <a:lnTo>
                    <a:pt x="40" y="79"/>
                  </a:lnTo>
                  <a:lnTo>
                    <a:pt x="40" y="71"/>
                  </a:lnTo>
                  <a:lnTo>
                    <a:pt x="29" y="66"/>
                  </a:lnTo>
                  <a:lnTo>
                    <a:pt x="15" y="46"/>
                  </a:lnTo>
                  <a:lnTo>
                    <a:pt x="5" y="33"/>
                  </a:lnTo>
                  <a:lnTo>
                    <a:pt x="1" y="15"/>
                  </a:lnTo>
                  <a:lnTo>
                    <a:pt x="0" y="5"/>
                  </a:lnTo>
                  <a:lnTo>
                    <a:pt x="6" y="0"/>
                  </a:lnTo>
                  <a:lnTo>
                    <a:pt x="7" y="1"/>
                  </a:lnTo>
                  <a:lnTo>
                    <a:pt x="10" y="5"/>
                  </a:lnTo>
                  <a:lnTo>
                    <a:pt x="28" y="15"/>
                  </a:lnTo>
                  <a:lnTo>
                    <a:pt x="40" y="10"/>
                  </a:lnTo>
                  <a:lnTo>
                    <a:pt x="54" y="0"/>
                  </a:lnTo>
                  <a:lnTo>
                    <a:pt x="59" y="10"/>
                  </a:lnTo>
                  <a:lnTo>
                    <a:pt x="58" y="13"/>
                  </a:lnTo>
                  <a:lnTo>
                    <a:pt x="71" y="23"/>
                  </a:lnTo>
                  <a:lnTo>
                    <a:pt x="79" y="39"/>
                  </a:lnTo>
                  <a:lnTo>
                    <a:pt x="96" y="46"/>
                  </a:lnTo>
                  <a:lnTo>
                    <a:pt x="111" y="51"/>
                  </a:lnTo>
                  <a:lnTo>
                    <a:pt x="125" y="55"/>
                  </a:lnTo>
                  <a:lnTo>
                    <a:pt x="138" y="53"/>
                  </a:lnTo>
                  <a:lnTo>
                    <a:pt x="149" y="51"/>
                  </a:lnTo>
                  <a:lnTo>
                    <a:pt x="151" y="48"/>
                  </a:lnTo>
                  <a:lnTo>
                    <a:pt x="149" y="42"/>
                  </a:lnTo>
                  <a:lnTo>
                    <a:pt x="154" y="42"/>
                  </a:lnTo>
                  <a:lnTo>
                    <a:pt x="165" y="31"/>
                  </a:lnTo>
                  <a:lnTo>
                    <a:pt x="181" y="29"/>
                  </a:lnTo>
                  <a:lnTo>
                    <a:pt x="196" y="28"/>
                  </a:lnTo>
                  <a:lnTo>
                    <a:pt x="220" y="36"/>
                  </a:lnTo>
                  <a:lnTo>
                    <a:pt x="233" y="45"/>
                  </a:lnTo>
                  <a:lnTo>
                    <a:pt x="246" y="53"/>
                  </a:lnTo>
                  <a:lnTo>
                    <a:pt x="259" y="55"/>
                  </a:lnTo>
                  <a:lnTo>
                    <a:pt x="265" y="73"/>
                  </a:lnTo>
                  <a:lnTo>
                    <a:pt x="262" y="94"/>
                  </a:lnTo>
                  <a:lnTo>
                    <a:pt x="261" y="96"/>
                  </a:lnTo>
                  <a:lnTo>
                    <a:pt x="261" y="106"/>
                  </a:lnTo>
                  <a:lnTo>
                    <a:pt x="267" y="111"/>
                  </a:lnTo>
                  <a:lnTo>
                    <a:pt x="265" y="114"/>
                  </a:lnTo>
                  <a:lnTo>
                    <a:pt x="269" y="129"/>
                  </a:lnTo>
                  <a:lnTo>
                    <a:pt x="271" y="144"/>
                  </a:lnTo>
                  <a:lnTo>
                    <a:pt x="287" y="149"/>
                  </a:lnTo>
                  <a:lnTo>
                    <a:pt x="289" y="156"/>
                  </a:lnTo>
                  <a:lnTo>
                    <a:pt x="279" y="177"/>
                  </a:lnTo>
                  <a:lnTo>
                    <a:pt x="289" y="189"/>
                  </a:lnTo>
                  <a:lnTo>
                    <a:pt x="300" y="201"/>
                  </a:lnTo>
                  <a:lnTo>
                    <a:pt x="312" y="207"/>
                  </a:lnTo>
                  <a:lnTo>
                    <a:pt x="317" y="225"/>
                  </a:lnTo>
                  <a:lnTo>
                    <a:pt x="322" y="227"/>
                  </a:lnTo>
                  <a:lnTo>
                    <a:pt x="322" y="234"/>
                  </a:lnTo>
                  <a:lnTo>
                    <a:pt x="309" y="240"/>
                  </a:lnTo>
                  <a:lnTo>
                    <a:pt x="303" y="246"/>
                  </a:lnTo>
                  <a:lnTo>
                    <a:pt x="301" y="261"/>
                  </a:lnTo>
                  <a:lnTo>
                    <a:pt x="285" y="258"/>
                  </a:lnTo>
                  <a:lnTo>
                    <a:pt x="268" y="255"/>
                  </a:lnTo>
                  <a:lnTo>
                    <a:pt x="251" y="252"/>
                  </a:lnTo>
                  <a:lnTo>
                    <a:pt x="234" y="250"/>
                  </a:lnTo>
                  <a:lnTo>
                    <a:pt x="228" y="238"/>
                  </a:lnTo>
                  <a:lnTo>
                    <a:pt x="221" y="226"/>
                  </a:lnTo>
                  <a:lnTo>
                    <a:pt x="209" y="231"/>
                  </a:lnTo>
                  <a:lnTo>
                    <a:pt x="196" y="235"/>
                  </a:lnTo>
                  <a:lnTo>
                    <a:pt x="172" y="231"/>
                  </a:lnTo>
                  <a:lnTo>
                    <a:pt x="159" y="221"/>
                  </a:lnTo>
                  <a:lnTo>
                    <a:pt x="144" y="213"/>
                  </a:lnTo>
                  <a:lnTo>
                    <a:pt x="132" y="201"/>
                  </a:lnTo>
                  <a:lnTo>
                    <a:pt x="125" y="190"/>
                  </a:lnTo>
                  <a:lnTo>
                    <a:pt x="111" y="171"/>
                  </a:lnTo>
                  <a:lnTo>
                    <a:pt x="105" y="172"/>
                  </a:lnTo>
                  <a:lnTo>
                    <a:pt x="97" y="167"/>
                  </a:lnTo>
                  <a:lnTo>
                    <a:pt x="97" y="166"/>
                  </a:lnTo>
                  <a:lnTo>
                    <a:pt x="93" y="174"/>
                  </a:lnTo>
                  <a:lnTo>
                    <a:pt x="90" y="174"/>
                  </a:lnTo>
                  <a:lnTo>
                    <a:pt x="85" y="168"/>
                  </a:lnTo>
                  <a:lnTo>
                    <a:pt x="81" y="156"/>
                  </a:lnTo>
                  <a:lnTo>
                    <a:pt x="75" y="156"/>
                  </a:lnTo>
                  <a:lnTo>
                    <a:pt x="76" y="142"/>
                  </a:lnTo>
                  <a:lnTo>
                    <a:pt x="70" y="135"/>
                  </a:lnTo>
                  <a:lnTo>
                    <a:pt x="57" y="126"/>
                  </a:lnTo>
                  <a:lnTo>
                    <a:pt x="45" y="1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2" name="Freeform 61"/>
            <p:cNvSpPr>
              <a:spLocks/>
            </p:cNvSpPr>
            <p:nvPr/>
          </p:nvSpPr>
          <p:spPr bwMode="auto">
            <a:xfrm>
              <a:off x="3180" y="1961"/>
              <a:ext cx="173" cy="162"/>
            </a:xfrm>
            <a:custGeom>
              <a:avLst/>
              <a:gdLst/>
              <a:ahLst/>
              <a:cxnLst>
                <a:cxn ang="0">
                  <a:pos x="101" y="63"/>
                </a:cxn>
                <a:cxn ang="0">
                  <a:pos x="100" y="53"/>
                </a:cxn>
                <a:cxn ang="0">
                  <a:pos x="105" y="36"/>
                </a:cxn>
                <a:cxn ang="0">
                  <a:pos x="105" y="28"/>
                </a:cxn>
                <a:cxn ang="0">
                  <a:pos x="94" y="23"/>
                </a:cxn>
                <a:cxn ang="0">
                  <a:pos x="80" y="3"/>
                </a:cxn>
                <a:cxn ang="0">
                  <a:pos x="71" y="4"/>
                </a:cxn>
                <a:cxn ang="0">
                  <a:pos x="68" y="0"/>
                </a:cxn>
                <a:cxn ang="0">
                  <a:pos x="47" y="0"/>
                </a:cxn>
                <a:cxn ang="0">
                  <a:pos x="44" y="4"/>
                </a:cxn>
                <a:cxn ang="0">
                  <a:pos x="30" y="17"/>
                </a:cxn>
                <a:cxn ang="0">
                  <a:pos x="30" y="34"/>
                </a:cxn>
                <a:cxn ang="0">
                  <a:pos x="30" y="52"/>
                </a:cxn>
                <a:cxn ang="0">
                  <a:pos x="15" y="62"/>
                </a:cxn>
                <a:cxn ang="0">
                  <a:pos x="0" y="70"/>
                </a:cxn>
                <a:cxn ang="0">
                  <a:pos x="10" y="92"/>
                </a:cxn>
                <a:cxn ang="0">
                  <a:pos x="24" y="98"/>
                </a:cxn>
                <a:cxn ang="0">
                  <a:pos x="40" y="105"/>
                </a:cxn>
                <a:cxn ang="0">
                  <a:pos x="54" y="111"/>
                </a:cxn>
                <a:cxn ang="0">
                  <a:pos x="69" y="118"/>
                </a:cxn>
                <a:cxn ang="0">
                  <a:pos x="83" y="131"/>
                </a:cxn>
                <a:cxn ang="0">
                  <a:pos x="99" y="146"/>
                </a:cxn>
                <a:cxn ang="0">
                  <a:pos x="126" y="147"/>
                </a:cxn>
                <a:cxn ang="0">
                  <a:pos x="134" y="132"/>
                </a:cxn>
                <a:cxn ang="0">
                  <a:pos x="147" y="131"/>
                </a:cxn>
                <a:cxn ang="0">
                  <a:pos x="155" y="131"/>
                </a:cxn>
                <a:cxn ang="0">
                  <a:pos x="150" y="125"/>
                </a:cxn>
                <a:cxn ang="0">
                  <a:pos x="146" y="113"/>
                </a:cxn>
                <a:cxn ang="0">
                  <a:pos x="140" y="113"/>
                </a:cxn>
                <a:cxn ang="0">
                  <a:pos x="141" y="99"/>
                </a:cxn>
                <a:cxn ang="0">
                  <a:pos x="135" y="92"/>
                </a:cxn>
                <a:cxn ang="0">
                  <a:pos x="122" y="83"/>
                </a:cxn>
                <a:cxn ang="0">
                  <a:pos x="110" y="75"/>
                </a:cxn>
                <a:cxn ang="0">
                  <a:pos x="101" y="63"/>
                </a:cxn>
              </a:cxnLst>
              <a:rect l="0" t="0" r="r" b="b"/>
              <a:pathLst>
                <a:path w="155" h="147">
                  <a:moveTo>
                    <a:pt x="101" y="63"/>
                  </a:moveTo>
                  <a:lnTo>
                    <a:pt x="100" y="53"/>
                  </a:lnTo>
                  <a:lnTo>
                    <a:pt x="105" y="36"/>
                  </a:lnTo>
                  <a:lnTo>
                    <a:pt x="105" y="28"/>
                  </a:lnTo>
                  <a:lnTo>
                    <a:pt x="94" y="23"/>
                  </a:lnTo>
                  <a:lnTo>
                    <a:pt x="80" y="3"/>
                  </a:lnTo>
                  <a:lnTo>
                    <a:pt x="71" y="4"/>
                  </a:lnTo>
                  <a:lnTo>
                    <a:pt x="68" y="0"/>
                  </a:lnTo>
                  <a:lnTo>
                    <a:pt x="47" y="0"/>
                  </a:lnTo>
                  <a:lnTo>
                    <a:pt x="44" y="4"/>
                  </a:lnTo>
                  <a:lnTo>
                    <a:pt x="30" y="17"/>
                  </a:lnTo>
                  <a:lnTo>
                    <a:pt x="30" y="34"/>
                  </a:lnTo>
                  <a:lnTo>
                    <a:pt x="30" y="52"/>
                  </a:lnTo>
                  <a:lnTo>
                    <a:pt x="15" y="62"/>
                  </a:lnTo>
                  <a:lnTo>
                    <a:pt x="0" y="70"/>
                  </a:lnTo>
                  <a:lnTo>
                    <a:pt x="10" y="92"/>
                  </a:lnTo>
                  <a:lnTo>
                    <a:pt x="24" y="98"/>
                  </a:lnTo>
                  <a:lnTo>
                    <a:pt x="40" y="105"/>
                  </a:lnTo>
                  <a:lnTo>
                    <a:pt x="54" y="111"/>
                  </a:lnTo>
                  <a:lnTo>
                    <a:pt x="69" y="118"/>
                  </a:lnTo>
                  <a:lnTo>
                    <a:pt x="83" y="131"/>
                  </a:lnTo>
                  <a:lnTo>
                    <a:pt x="99" y="146"/>
                  </a:lnTo>
                  <a:lnTo>
                    <a:pt x="126" y="147"/>
                  </a:lnTo>
                  <a:lnTo>
                    <a:pt x="134" y="132"/>
                  </a:lnTo>
                  <a:lnTo>
                    <a:pt x="147" y="131"/>
                  </a:lnTo>
                  <a:lnTo>
                    <a:pt x="155" y="131"/>
                  </a:lnTo>
                  <a:lnTo>
                    <a:pt x="150" y="125"/>
                  </a:lnTo>
                  <a:lnTo>
                    <a:pt x="146" y="113"/>
                  </a:lnTo>
                  <a:lnTo>
                    <a:pt x="140" y="113"/>
                  </a:lnTo>
                  <a:lnTo>
                    <a:pt x="141" y="99"/>
                  </a:lnTo>
                  <a:lnTo>
                    <a:pt x="135" y="92"/>
                  </a:lnTo>
                  <a:lnTo>
                    <a:pt x="122" y="83"/>
                  </a:lnTo>
                  <a:lnTo>
                    <a:pt x="110" y="75"/>
                  </a:lnTo>
                  <a:lnTo>
                    <a:pt x="101" y="6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3" name="Freeform 62"/>
            <p:cNvSpPr>
              <a:spLocks/>
            </p:cNvSpPr>
            <p:nvPr/>
          </p:nvSpPr>
          <p:spPr bwMode="auto">
            <a:xfrm>
              <a:off x="3320" y="2107"/>
              <a:ext cx="33" cy="29"/>
            </a:xfrm>
            <a:custGeom>
              <a:avLst/>
              <a:gdLst/>
              <a:ahLst/>
              <a:cxnLst>
                <a:cxn ang="0">
                  <a:pos x="24" y="7"/>
                </a:cxn>
                <a:cxn ang="0">
                  <a:pos x="20" y="9"/>
                </a:cxn>
                <a:cxn ang="0">
                  <a:pos x="21" y="12"/>
                </a:cxn>
                <a:cxn ang="0">
                  <a:pos x="30" y="27"/>
                </a:cxn>
                <a:cxn ang="0">
                  <a:pos x="17" y="23"/>
                </a:cxn>
                <a:cxn ang="0">
                  <a:pos x="15" y="18"/>
                </a:cxn>
                <a:cxn ang="0">
                  <a:pos x="0" y="16"/>
                </a:cxn>
                <a:cxn ang="0">
                  <a:pos x="8" y="1"/>
                </a:cxn>
                <a:cxn ang="0">
                  <a:pos x="21" y="0"/>
                </a:cxn>
                <a:cxn ang="0">
                  <a:pos x="24" y="7"/>
                </a:cxn>
              </a:cxnLst>
              <a:rect l="0" t="0" r="r" b="b"/>
              <a:pathLst>
                <a:path w="30" h="27">
                  <a:moveTo>
                    <a:pt x="24" y="7"/>
                  </a:moveTo>
                  <a:lnTo>
                    <a:pt x="20" y="9"/>
                  </a:lnTo>
                  <a:lnTo>
                    <a:pt x="21" y="12"/>
                  </a:lnTo>
                  <a:lnTo>
                    <a:pt x="30" y="27"/>
                  </a:lnTo>
                  <a:lnTo>
                    <a:pt x="17" y="23"/>
                  </a:lnTo>
                  <a:lnTo>
                    <a:pt x="15" y="18"/>
                  </a:lnTo>
                  <a:lnTo>
                    <a:pt x="0" y="16"/>
                  </a:lnTo>
                  <a:lnTo>
                    <a:pt x="8" y="1"/>
                  </a:lnTo>
                  <a:lnTo>
                    <a:pt x="21" y="0"/>
                  </a:lnTo>
                  <a:lnTo>
                    <a:pt x="24"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4" name="Freeform 63"/>
            <p:cNvSpPr>
              <a:spLocks/>
            </p:cNvSpPr>
            <p:nvPr/>
          </p:nvSpPr>
          <p:spPr bwMode="auto">
            <a:xfrm>
              <a:off x="3893" y="2096"/>
              <a:ext cx="142" cy="80"/>
            </a:xfrm>
            <a:custGeom>
              <a:avLst/>
              <a:gdLst/>
              <a:ahLst/>
              <a:cxnLst>
                <a:cxn ang="0">
                  <a:pos x="73" y="56"/>
                </a:cxn>
                <a:cxn ang="0">
                  <a:pos x="54" y="54"/>
                </a:cxn>
                <a:cxn ang="0">
                  <a:pos x="39" y="50"/>
                </a:cxn>
                <a:cxn ang="0">
                  <a:pos x="19" y="41"/>
                </a:cxn>
                <a:cxn ang="0">
                  <a:pos x="0" y="30"/>
                </a:cxn>
                <a:cxn ang="0">
                  <a:pos x="0" y="19"/>
                </a:cxn>
                <a:cxn ang="0">
                  <a:pos x="9" y="5"/>
                </a:cxn>
                <a:cxn ang="0">
                  <a:pos x="10" y="6"/>
                </a:cxn>
                <a:cxn ang="0">
                  <a:pos x="16" y="0"/>
                </a:cxn>
                <a:cxn ang="0">
                  <a:pos x="29" y="8"/>
                </a:cxn>
                <a:cxn ang="0">
                  <a:pos x="49" y="23"/>
                </a:cxn>
                <a:cxn ang="0">
                  <a:pos x="55" y="20"/>
                </a:cxn>
                <a:cxn ang="0">
                  <a:pos x="60" y="26"/>
                </a:cxn>
                <a:cxn ang="0">
                  <a:pos x="75" y="32"/>
                </a:cxn>
                <a:cxn ang="0">
                  <a:pos x="77" y="36"/>
                </a:cxn>
                <a:cxn ang="0">
                  <a:pos x="93" y="43"/>
                </a:cxn>
                <a:cxn ang="0">
                  <a:pos x="107" y="44"/>
                </a:cxn>
                <a:cxn ang="0">
                  <a:pos x="125" y="47"/>
                </a:cxn>
                <a:cxn ang="0">
                  <a:pos x="130" y="72"/>
                </a:cxn>
                <a:cxn ang="0">
                  <a:pos x="113" y="71"/>
                </a:cxn>
                <a:cxn ang="0">
                  <a:pos x="93" y="68"/>
                </a:cxn>
                <a:cxn ang="0">
                  <a:pos x="82" y="65"/>
                </a:cxn>
                <a:cxn ang="0">
                  <a:pos x="73" y="56"/>
                </a:cxn>
              </a:cxnLst>
              <a:rect l="0" t="0" r="r" b="b"/>
              <a:pathLst>
                <a:path w="130" h="72">
                  <a:moveTo>
                    <a:pt x="73" y="56"/>
                  </a:moveTo>
                  <a:lnTo>
                    <a:pt x="54" y="54"/>
                  </a:lnTo>
                  <a:lnTo>
                    <a:pt x="39" y="50"/>
                  </a:lnTo>
                  <a:lnTo>
                    <a:pt x="19" y="41"/>
                  </a:lnTo>
                  <a:lnTo>
                    <a:pt x="0" y="30"/>
                  </a:lnTo>
                  <a:lnTo>
                    <a:pt x="0" y="19"/>
                  </a:lnTo>
                  <a:lnTo>
                    <a:pt x="9" y="5"/>
                  </a:lnTo>
                  <a:lnTo>
                    <a:pt x="10" y="6"/>
                  </a:lnTo>
                  <a:lnTo>
                    <a:pt x="16" y="0"/>
                  </a:lnTo>
                  <a:lnTo>
                    <a:pt x="29" y="8"/>
                  </a:lnTo>
                  <a:lnTo>
                    <a:pt x="49" y="23"/>
                  </a:lnTo>
                  <a:lnTo>
                    <a:pt x="55" y="20"/>
                  </a:lnTo>
                  <a:lnTo>
                    <a:pt x="60" y="26"/>
                  </a:lnTo>
                  <a:lnTo>
                    <a:pt x="75" y="32"/>
                  </a:lnTo>
                  <a:lnTo>
                    <a:pt x="77" y="36"/>
                  </a:lnTo>
                  <a:lnTo>
                    <a:pt x="93" y="43"/>
                  </a:lnTo>
                  <a:lnTo>
                    <a:pt x="107" y="44"/>
                  </a:lnTo>
                  <a:lnTo>
                    <a:pt x="125" y="47"/>
                  </a:lnTo>
                  <a:lnTo>
                    <a:pt x="130" y="72"/>
                  </a:lnTo>
                  <a:lnTo>
                    <a:pt x="113" y="71"/>
                  </a:lnTo>
                  <a:lnTo>
                    <a:pt x="93" y="68"/>
                  </a:lnTo>
                  <a:lnTo>
                    <a:pt x="82" y="65"/>
                  </a:lnTo>
                  <a:lnTo>
                    <a:pt x="73"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5" name="Freeform 64"/>
            <p:cNvSpPr>
              <a:spLocks/>
            </p:cNvSpPr>
            <p:nvPr/>
          </p:nvSpPr>
          <p:spPr bwMode="auto">
            <a:xfrm>
              <a:off x="3562" y="1967"/>
              <a:ext cx="260" cy="263"/>
            </a:xfrm>
            <a:custGeom>
              <a:avLst/>
              <a:gdLst/>
              <a:ahLst/>
              <a:cxnLst>
                <a:cxn ang="0">
                  <a:pos x="102" y="217"/>
                </a:cxn>
                <a:cxn ang="0">
                  <a:pos x="116" y="233"/>
                </a:cxn>
                <a:cxn ang="0">
                  <a:pos x="135" y="234"/>
                </a:cxn>
                <a:cxn ang="0">
                  <a:pos x="148" y="229"/>
                </a:cxn>
                <a:cxn ang="0">
                  <a:pos x="169" y="227"/>
                </a:cxn>
                <a:cxn ang="0">
                  <a:pos x="156" y="203"/>
                </a:cxn>
                <a:cxn ang="0">
                  <a:pos x="140" y="185"/>
                </a:cxn>
                <a:cxn ang="0">
                  <a:pos x="154" y="165"/>
                </a:cxn>
                <a:cxn ang="0">
                  <a:pos x="180" y="149"/>
                </a:cxn>
                <a:cxn ang="0">
                  <a:pos x="196" y="120"/>
                </a:cxn>
                <a:cxn ang="0">
                  <a:pos x="200" y="95"/>
                </a:cxn>
                <a:cxn ang="0">
                  <a:pos x="204" y="82"/>
                </a:cxn>
                <a:cxn ang="0">
                  <a:pos x="190" y="71"/>
                </a:cxn>
                <a:cxn ang="0">
                  <a:pos x="187" y="57"/>
                </a:cxn>
                <a:cxn ang="0">
                  <a:pos x="180" y="42"/>
                </a:cxn>
                <a:cxn ang="0">
                  <a:pos x="219" y="40"/>
                </a:cxn>
                <a:cxn ang="0">
                  <a:pos x="213" y="22"/>
                </a:cxn>
                <a:cxn ang="0">
                  <a:pos x="195" y="5"/>
                </a:cxn>
                <a:cxn ang="0">
                  <a:pos x="159" y="4"/>
                </a:cxn>
                <a:cxn ang="0">
                  <a:pos x="134" y="19"/>
                </a:cxn>
                <a:cxn ang="0">
                  <a:pos x="138" y="47"/>
                </a:cxn>
                <a:cxn ang="0">
                  <a:pos x="122" y="57"/>
                </a:cxn>
                <a:cxn ang="0">
                  <a:pos x="118" y="77"/>
                </a:cxn>
                <a:cxn ang="0">
                  <a:pos x="103" y="96"/>
                </a:cxn>
                <a:cxn ang="0">
                  <a:pos x="84" y="107"/>
                </a:cxn>
                <a:cxn ang="0">
                  <a:pos x="81" y="129"/>
                </a:cxn>
                <a:cxn ang="0">
                  <a:pos x="49" y="136"/>
                </a:cxn>
                <a:cxn ang="0">
                  <a:pos x="13" y="132"/>
                </a:cxn>
                <a:cxn ang="0">
                  <a:pos x="10" y="141"/>
                </a:cxn>
                <a:cxn ang="0">
                  <a:pos x="33" y="159"/>
                </a:cxn>
                <a:cxn ang="0">
                  <a:pos x="43" y="179"/>
                </a:cxn>
                <a:cxn ang="0">
                  <a:pos x="30" y="192"/>
                </a:cxn>
                <a:cxn ang="0">
                  <a:pos x="22" y="213"/>
                </a:cxn>
                <a:cxn ang="0">
                  <a:pos x="51" y="211"/>
                </a:cxn>
                <a:cxn ang="0">
                  <a:pos x="80" y="209"/>
                </a:cxn>
              </a:cxnLst>
              <a:rect l="0" t="0" r="r" b="b"/>
              <a:pathLst>
                <a:path w="234" h="238">
                  <a:moveTo>
                    <a:pt x="96" y="208"/>
                  </a:moveTo>
                  <a:lnTo>
                    <a:pt x="102" y="217"/>
                  </a:lnTo>
                  <a:lnTo>
                    <a:pt x="108" y="220"/>
                  </a:lnTo>
                  <a:lnTo>
                    <a:pt x="116" y="233"/>
                  </a:lnTo>
                  <a:lnTo>
                    <a:pt x="128" y="238"/>
                  </a:lnTo>
                  <a:lnTo>
                    <a:pt x="135" y="234"/>
                  </a:lnTo>
                  <a:lnTo>
                    <a:pt x="135" y="228"/>
                  </a:lnTo>
                  <a:lnTo>
                    <a:pt x="148" y="229"/>
                  </a:lnTo>
                  <a:lnTo>
                    <a:pt x="163" y="227"/>
                  </a:lnTo>
                  <a:lnTo>
                    <a:pt x="169" y="227"/>
                  </a:lnTo>
                  <a:lnTo>
                    <a:pt x="162" y="204"/>
                  </a:lnTo>
                  <a:lnTo>
                    <a:pt x="156" y="203"/>
                  </a:lnTo>
                  <a:lnTo>
                    <a:pt x="152" y="191"/>
                  </a:lnTo>
                  <a:lnTo>
                    <a:pt x="140" y="185"/>
                  </a:lnTo>
                  <a:lnTo>
                    <a:pt x="148" y="163"/>
                  </a:lnTo>
                  <a:lnTo>
                    <a:pt x="154" y="165"/>
                  </a:lnTo>
                  <a:lnTo>
                    <a:pt x="170" y="165"/>
                  </a:lnTo>
                  <a:lnTo>
                    <a:pt x="180" y="149"/>
                  </a:lnTo>
                  <a:lnTo>
                    <a:pt x="189" y="133"/>
                  </a:lnTo>
                  <a:lnTo>
                    <a:pt x="196" y="120"/>
                  </a:lnTo>
                  <a:lnTo>
                    <a:pt x="204" y="108"/>
                  </a:lnTo>
                  <a:lnTo>
                    <a:pt x="200" y="95"/>
                  </a:lnTo>
                  <a:lnTo>
                    <a:pt x="211" y="88"/>
                  </a:lnTo>
                  <a:lnTo>
                    <a:pt x="204" y="82"/>
                  </a:lnTo>
                  <a:lnTo>
                    <a:pt x="198" y="76"/>
                  </a:lnTo>
                  <a:lnTo>
                    <a:pt x="190" y="71"/>
                  </a:lnTo>
                  <a:lnTo>
                    <a:pt x="187" y="61"/>
                  </a:lnTo>
                  <a:lnTo>
                    <a:pt x="187" y="57"/>
                  </a:lnTo>
                  <a:lnTo>
                    <a:pt x="180" y="48"/>
                  </a:lnTo>
                  <a:lnTo>
                    <a:pt x="180" y="42"/>
                  </a:lnTo>
                  <a:lnTo>
                    <a:pt x="202" y="46"/>
                  </a:lnTo>
                  <a:lnTo>
                    <a:pt x="219" y="40"/>
                  </a:lnTo>
                  <a:lnTo>
                    <a:pt x="234" y="28"/>
                  </a:lnTo>
                  <a:lnTo>
                    <a:pt x="213" y="22"/>
                  </a:lnTo>
                  <a:lnTo>
                    <a:pt x="202" y="17"/>
                  </a:lnTo>
                  <a:lnTo>
                    <a:pt x="195" y="5"/>
                  </a:lnTo>
                  <a:lnTo>
                    <a:pt x="177" y="0"/>
                  </a:lnTo>
                  <a:lnTo>
                    <a:pt x="159" y="4"/>
                  </a:lnTo>
                  <a:lnTo>
                    <a:pt x="141" y="9"/>
                  </a:lnTo>
                  <a:lnTo>
                    <a:pt x="134" y="19"/>
                  </a:lnTo>
                  <a:lnTo>
                    <a:pt x="142" y="34"/>
                  </a:lnTo>
                  <a:lnTo>
                    <a:pt x="138" y="47"/>
                  </a:lnTo>
                  <a:lnTo>
                    <a:pt x="135" y="55"/>
                  </a:lnTo>
                  <a:lnTo>
                    <a:pt x="122" y="57"/>
                  </a:lnTo>
                  <a:lnTo>
                    <a:pt x="130" y="66"/>
                  </a:lnTo>
                  <a:lnTo>
                    <a:pt x="118" y="77"/>
                  </a:lnTo>
                  <a:lnTo>
                    <a:pt x="117" y="96"/>
                  </a:lnTo>
                  <a:lnTo>
                    <a:pt x="103" y="96"/>
                  </a:lnTo>
                  <a:lnTo>
                    <a:pt x="98" y="101"/>
                  </a:lnTo>
                  <a:lnTo>
                    <a:pt x="84" y="107"/>
                  </a:lnTo>
                  <a:lnTo>
                    <a:pt x="81" y="121"/>
                  </a:lnTo>
                  <a:lnTo>
                    <a:pt x="81" y="129"/>
                  </a:lnTo>
                  <a:lnTo>
                    <a:pt x="66" y="132"/>
                  </a:lnTo>
                  <a:lnTo>
                    <a:pt x="49" y="136"/>
                  </a:lnTo>
                  <a:lnTo>
                    <a:pt x="25" y="137"/>
                  </a:lnTo>
                  <a:lnTo>
                    <a:pt x="13" y="132"/>
                  </a:lnTo>
                  <a:lnTo>
                    <a:pt x="0" y="129"/>
                  </a:lnTo>
                  <a:lnTo>
                    <a:pt x="10" y="141"/>
                  </a:lnTo>
                  <a:lnTo>
                    <a:pt x="21" y="153"/>
                  </a:lnTo>
                  <a:lnTo>
                    <a:pt x="33" y="159"/>
                  </a:lnTo>
                  <a:lnTo>
                    <a:pt x="38" y="177"/>
                  </a:lnTo>
                  <a:lnTo>
                    <a:pt x="43" y="179"/>
                  </a:lnTo>
                  <a:lnTo>
                    <a:pt x="43" y="186"/>
                  </a:lnTo>
                  <a:lnTo>
                    <a:pt x="30" y="192"/>
                  </a:lnTo>
                  <a:lnTo>
                    <a:pt x="24" y="198"/>
                  </a:lnTo>
                  <a:lnTo>
                    <a:pt x="22" y="213"/>
                  </a:lnTo>
                  <a:lnTo>
                    <a:pt x="37" y="211"/>
                  </a:lnTo>
                  <a:lnTo>
                    <a:pt x="51" y="211"/>
                  </a:lnTo>
                  <a:lnTo>
                    <a:pt x="63" y="210"/>
                  </a:lnTo>
                  <a:lnTo>
                    <a:pt x="80" y="209"/>
                  </a:lnTo>
                  <a:lnTo>
                    <a:pt x="96" y="2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6" name="Freeform 65"/>
            <p:cNvSpPr>
              <a:spLocks/>
            </p:cNvSpPr>
            <p:nvPr/>
          </p:nvSpPr>
          <p:spPr bwMode="auto">
            <a:xfrm>
              <a:off x="2951" y="2074"/>
              <a:ext cx="196" cy="196"/>
            </a:xfrm>
            <a:custGeom>
              <a:avLst/>
              <a:gdLst/>
              <a:ahLst/>
              <a:cxnLst>
                <a:cxn ang="0">
                  <a:pos x="139" y="66"/>
                </a:cxn>
                <a:cxn ang="0">
                  <a:pos x="130" y="49"/>
                </a:cxn>
                <a:cxn ang="0">
                  <a:pos x="119" y="33"/>
                </a:cxn>
                <a:cxn ang="0">
                  <a:pos x="116" y="34"/>
                </a:cxn>
                <a:cxn ang="0">
                  <a:pos x="122" y="48"/>
                </a:cxn>
                <a:cxn ang="0">
                  <a:pos x="130" y="61"/>
                </a:cxn>
                <a:cxn ang="0">
                  <a:pos x="137" y="75"/>
                </a:cxn>
                <a:cxn ang="0">
                  <a:pos x="143" y="88"/>
                </a:cxn>
                <a:cxn ang="0">
                  <a:pos x="150" y="100"/>
                </a:cxn>
                <a:cxn ang="0">
                  <a:pos x="157" y="113"/>
                </a:cxn>
                <a:cxn ang="0">
                  <a:pos x="166" y="125"/>
                </a:cxn>
                <a:cxn ang="0">
                  <a:pos x="175" y="138"/>
                </a:cxn>
                <a:cxn ang="0">
                  <a:pos x="173" y="139"/>
                </a:cxn>
                <a:cxn ang="0">
                  <a:pos x="174" y="154"/>
                </a:cxn>
                <a:cxn ang="0">
                  <a:pos x="168" y="160"/>
                </a:cxn>
                <a:cxn ang="0">
                  <a:pos x="164" y="159"/>
                </a:cxn>
                <a:cxn ang="0">
                  <a:pos x="161" y="168"/>
                </a:cxn>
                <a:cxn ang="0">
                  <a:pos x="152" y="171"/>
                </a:cxn>
                <a:cxn ang="0">
                  <a:pos x="149" y="178"/>
                </a:cxn>
                <a:cxn ang="0">
                  <a:pos x="130" y="177"/>
                </a:cxn>
                <a:cxn ang="0">
                  <a:pos x="110" y="174"/>
                </a:cxn>
                <a:cxn ang="0">
                  <a:pos x="109" y="169"/>
                </a:cxn>
                <a:cxn ang="0">
                  <a:pos x="108" y="174"/>
                </a:cxn>
                <a:cxn ang="0">
                  <a:pos x="96" y="174"/>
                </a:cxn>
                <a:cxn ang="0">
                  <a:pos x="83" y="174"/>
                </a:cxn>
                <a:cxn ang="0">
                  <a:pos x="71" y="174"/>
                </a:cxn>
                <a:cxn ang="0">
                  <a:pos x="59" y="174"/>
                </a:cxn>
                <a:cxn ang="0">
                  <a:pos x="47" y="174"/>
                </a:cxn>
                <a:cxn ang="0">
                  <a:pos x="35" y="174"/>
                </a:cxn>
                <a:cxn ang="0">
                  <a:pos x="23" y="174"/>
                </a:cxn>
                <a:cxn ang="0">
                  <a:pos x="11" y="174"/>
                </a:cxn>
                <a:cxn ang="0">
                  <a:pos x="10" y="157"/>
                </a:cxn>
                <a:cxn ang="0">
                  <a:pos x="8" y="141"/>
                </a:cxn>
                <a:cxn ang="0">
                  <a:pos x="7" y="124"/>
                </a:cxn>
                <a:cxn ang="0">
                  <a:pos x="6" y="107"/>
                </a:cxn>
                <a:cxn ang="0">
                  <a:pos x="5" y="90"/>
                </a:cxn>
                <a:cxn ang="0">
                  <a:pos x="4" y="73"/>
                </a:cxn>
                <a:cxn ang="0">
                  <a:pos x="2" y="57"/>
                </a:cxn>
                <a:cxn ang="0">
                  <a:pos x="1" y="39"/>
                </a:cxn>
                <a:cxn ang="0">
                  <a:pos x="1" y="25"/>
                </a:cxn>
                <a:cxn ang="0">
                  <a:pos x="0" y="12"/>
                </a:cxn>
                <a:cxn ang="0">
                  <a:pos x="2" y="0"/>
                </a:cxn>
                <a:cxn ang="0">
                  <a:pos x="13" y="1"/>
                </a:cxn>
                <a:cxn ang="0">
                  <a:pos x="36" y="7"/>
                </a:cxn>
                <a:cxn ang="0">
                  <a:pos x="60" y="15"/>
                </a:cxn>
                <a:cxn ang="0">
                  <a:pos x="80" y="7"/>
                </a:cxn>
                <a:cxn ang="0">
                  <a:pos x="91" y="1"/>
                </a:cxn>
                <a:cxn ang="0">
                  <a:pos x="86" y="5"/>
                </a:cxn>
                <a:cxn ang="0">
                  <a:pos x="94" y="3"/>
                </a:cxn>
                <a:cxn ang="0">
                  <a:pos x="107" y="6"/>
                </a:cxn>
                <a:cxn ang="0">
                  <a:pos x="112" y="10"/>
                </a:cxn>
                <a:cxn ang="0">
                  <a:pos x="119" y="11"/>
                </a:cxn>
                <a:cxn ang="0">
                  <a:pos x="140" y="6"/>
                </a:cxn>
                <a:cxn ang="0">
                  <a:pos x="148" y="23"/>
                </a:cxn>
                <a:cxn ang="0">
                  <a:pos x="155" y="40"/>
                </a:cxn>
                <a:cxn ang="0">
                  <a:pos x="151" y="54"/>
                </a:cxn>
                <a:cxn ang="0">
                  <a:pos x="148" y="69"/>
                </a:cxn>
                <a:cxn ang="0">
                  <a:pos x="139" y="66"/>
                </a:cxn>
              </a:cxnLst>
              <a:rect l="0" t="0" r="r" b="b"/>
              <a:pathLst>
                <a:path w="175" h="178">
                  <a:moveTo>
                    <a:pt x="139" y="66"/>
                  </a:moveTo>
                  <a:lnTo>
                    <a:pt x="130" y="49"/>
                  </a:lnTo>
                  <a:lnTo>
                    <a:pt x="119" y="33"/>
                  </a:lnTo>
                  <a:lnTo>
                    <a:pt x="116" y="34"/>
                  </a:lnTo>
                  <a:lnTo>
                    <a:pt x="122" y="48"/>
                  </a:lnTo>
                  <a:lnTo>
                    <a:pt x="130" y="61"/>
                  </a:lnTo>
                  <a:lnTo>
                    <a:pt x="137" y="75"/>
                  </a:lnTo>
                  <a:lnTo>
                    <a:pt x="143" y="88"/>
                  </a:lnTo>
                  <a:lnTo>
                    <a:pt x="150" y="100"/>
                  </a:lnTo>
                  <a:lnTo>
                    <a:pt x="157" y="113"/>
                  </a:lnTo>
                  <a:lnTo>
                    <a:pt x="166" y="125"/>
                  </a:lnTo>
                  <a:lnTo>
                    <a:pt x="175" y="138"/>
                  </a:lnTo>
                  <a:lnTo>
                    <a:pt x="173" y="139"/>
                  </a:lnTo>
                  <a:lnTo>
                    <a:pt x="174" y="154"/>
                  </a:lnTo>
                  <a:lnTo>
                    <a:pt x="168" y="160"/>
                  </a:lnTo>
                  <a:lnTo>
                    <a:pt x="164" y="159"/>
                  </a:lnTo>
                  <a:lnTo>
                    <a:pt x="161" y="168"/>
                  </a:lnTo>
                  <a:lnTo>
                    <a:pt x="152" y="171"/>
                  </a:lnTo>
                  <a:lnTo>
                    <a:pt x="149" y="178"/>
                  </a:lnTo>
                  <a:lnTo>
                    <a:pt x="130" y="177"/>
                  </a:lnTo>
                  <a:lnTo>
                    <a:pt x="110" y="174"/>
                  </a:lnTo>
                  <a:lnTo>
                    <a:pt x="109" y="169"/>
                  </a:lnTo>
                  <a:lnTo>
                    <a:pt x="108" y="174"/>
                  </a:lnTo>
                  <a:lnTo>
                    <a:pt x="96" y="174"/>
                  </a:lnTo>
                  <a:lnTo>
                    <a:pt x="83" y="174"/>
                  </a:lnTo>
                  <a:lnTo>
                    <a:pt x="71" y="174"/>
                  </a:lnTo>
                  <a:lnTo>
                    <a:pt x="59" y="174"/>
                  </a:lnTo>
                  <a:lnTo>
                    <a:pt x="47" y="174"/>
                  </a:lnTo>
                  <a:lnTo>
                    <a:pt x="35" y="174"/>
                  </a:lnTo>
                  <a:lnTo>
                    <a:pt x="23" y="174"/>
                  </a:lnTo>
                  <a:lnTo>
                    <a:pt x="11" y="174"/>
                  </a:lnTo>
                  <a:lnTo>
                    <a:pt x="10" y="157"/>
                  </a:lnTo>
                  <a:lnTo>
                    <a:pt x="8" y="141"/>
                  </a:lnTo>
                  <a:lnTo>
                    <a:pt x="7" y="124"/>
                  </a:lnTo>
                  <a:lnTo>
                    <a:pt x="6" y="107"/>
                  </a:lnTo>
                  <a:lnTo>
                    <a:pt x="5" y="90"/>
                  </a:lnTo>
                  <a:lnTo>
                    <a:pt x="4" y="73"/>
                  </a:lnTo>
                  <a:lnTo>
                    <a:pt x="2" y="57"/>
                  </a:lnTo>
                  <a:lnTo>
                    <a:pt x="1" y="39"/>
                  </a:lnTo>
                  <a:lnTo>
                    <a:pt x="1" y="25"/>
                  </a:lnTo>
                  <a:lnTo>
                    <a:pt x="0" y="12"/>
                  </a:lnTo>
                  <a:lnTo>
                    <a:pt x="2" y="0"/>
                  </a:lnTo>
                  <a:lnTo>
                    <a:pt x="13" y="1"/>
                  </a:lnTo>
                  <a:lnTo>
                    <a:pt x="36" y="7"/>
                  </a:lnTo>
                  <a:lnTo>
                    <a:pt x="60" y="15"/>
                  </a:lnTo>
                  <a:lnTo>
                    <a:pt x="80" y="7"/>
                  </a:lnTo>
                  <a:lnTo>
                    <a:pt x="91" y="1"/>
                  </a:lnTo>
                  <a:lnTo>
                    <a:pt x="86" y="5"/>
                  </a:lnTo>
                  <a:lnTo>
                    <a:pt x="94" y="3"/>
                  </a:lnTo>
                  <a:lnTo>
                    <a:pt x="107" y="6"/>
                  </a:lnTo>
                  <a:lnTo>
                    <a:pt x="112" y="10"/>
                  </a:lnTo>
                  <a:lnTo>
                    <a:pt x="119" y="11"/>
                  </a:lnTo>
                  <a:lnTo>
                    <a:pt x="140" y="6"/>
                  </a:lnTo>
                  <a:lnTo>
                    <a:pt x="148" y="23"/>
                  </a:lnTo>
                  <a:lnTo>
                    <a:pt x="155" y="40"/>
                  </a:lnTo>
                  <a:lnTo>
                    <a:pt x="151" y="54"/>
                  </a:lnTo>
                  <a:lnTo>
                    <a:pt x="148" y="69"/>
                  </a:lnTo>
                  <a:lnTo>
                    <a:pt x="139" y="6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7" name="Freeform 66"/>
            <p:cNvSpPr>
              <a:spLocks/>
            </p:cNvSpPr>
            <p:nvPr/>
          </p:nvSpPr>
          <p:spPr bwMode="auto">
            <a:xfrm>
              <a:off x="3704" y="1996"/>
              <a:ext cx="482" cy="547"/>
            </a:xfrm>
            <a:custGeom>
              <a:avLst/>
              <a:gdLst/>
              <a:ahLst/>
              <a:cxnLst>
                <a:cxn ang="0">
                  <a:pos x="74" y="18"/>
                </a:cxn>
                <a:cxn ang="0">
                  <a:pos x="59" y="29"/>
                </a:cxn>
                <a:cxn ang="0">
                  <a:pos x="70" y="48"/>
                </a:cxn>
                <a:cxn ang="0">
                  <a:pos x="72" y="67"/>
                </a:cxn>
                <a:cxn ang="0">
                  <a:pos x="61" y="105"/>
                </a:cxn>
                <a:cxn ang="0">
                  <a:pos x="26" y="137"/>
                </a:cxn>
                <a:cxn ang="0">
                  <a:pos x="24" y="163"/>
                </a:cxn>
                <a:cxn ang="0">
                  <a:pos x="41" y="199"/>
                </a:cxn>
                <a:cxn ang="0">
                  <a:pos x="7" y="200"/>
                </a:cxn>
                <a:cxn ang="0">
                  <a:pos x="0" y="211"/>
                </a:cxn>
                <a:cxn ang="0">
                  <a:pos x="17" y="227"/>
                </a:cxn>
                <a:cxn ang="0">
                  <a:pos x="23" y="235"/>
                </a:cxn>
                <a:cxn ang="0">
                  <a:pos x="42" y="264"/>
                </a:cxn>
                <a:cxn ang="0">
                  <a:pos x="66" y="237"/>
                </a:cxn>
                <a:cxn ang="0">
                  <a:pos x="71" y="246"/>
                </a:cxn>
                <a:cxn ang="0">
                  <a:pos x="77" y="260"/>
                </a:cxn>
                <a:cxn ang="0">
                  <a:pos x="83" y="295"/>
                </a:cxn>
                <a:cxn ang="0">
                  <a:pos x="95" y="339"/>
                </a:cxn>
                <a:cxn ang="0">
                  <a:pos x="113" y="381"/>
                </a:cxn>
                <a:cxn ang="0">
                  <a:pos x="136" y="432"/>
                </a:cxn>
                <a:cxn ang="0">
                  <a:pos x="155" y="473"/>
                </a:cxn>
                <a:cxn ang="0">
                  <a:pos x="179" y="482"/>
                </a:cxn>
                <a:cxn ang="0">
                  <a:pos x="192" y="464"/>
                </a:cxn>
                <a:cxn ang="0">
                  <a:pos x="204" y="438"/>
                </a:cxn>
                <a:cxn ang="0">
                  <a:pos x="208" y="396"/>
                </a:cxn>
                <a:cxn ang="0">
                  <a:pos x="211" y="353"/>
                </a:cxn>
                <a:cxn ang="0">
                  <a:pos x="221" y="343"/>
                </a:cxn>
                <a:cxn ang="0">
                  <a:pos x="251" y="312"/>
                </a:cxn>
                <a:cxn ang="0">
                  <a:pos x="288" y="277"/>
                </a:cxn>
                <a:cxn ang="0">
                  <a:pos x="312" y="241"/>
                </a:cxn>
                <a:cxn ang="0">
                  <a:pos x="324" y="247"/>
                </a:cxn>
                <a:cxn ang="0">
                  <a:pos x="323" y="229"/>
                </a:cxn>
                <a:cxn ang="0">
                  <a:pos x="305" y="195"/>
                </a:cxn>
                <a:cxn ang="0">
                  <a:pos x="304" y="174"/>
                </a:cxn>
                <a:cxn ang="0">
                  <a:pos x="319" y="170"/>
                </a:cxn>
                <a:cxn ang="0">
                  <a:pos x="346" y="183"/>
                </a:cxn>
                <a:cxn ang="0">
                  <a:pos x="368" y="198"/>
                </a:cxn>
                <a:cxn ang="0">
                  <a:pos x="362" y="224"/>
                </a:cxn>
                <a:cxn ang="0">
                  <a:pos x="382" y="242"/>
                </a:cxn>
                <a:cxn ang="0">
                  <a:pos x="389" y="223"/>
                </a:cxn>
                <a:cxn ang="0">
                  <a:pos x="406" y="186"/>
                </a:cxn>
                <a:cxn ang="0">
                  <a:pos x="421" y="147"/>
                </a:cxn>
                <a:cxn ang="0">
                  <a:pos x="432" y="139"/>
                </a:cxn>
                <a:cxn ang="0">
                  <a:pos x="418" y="116"/>
                </a:cxn>
                <a:cxn ang="0">
                  <a:pos x="407" y="109"/>
                </a:cxn>
                <a:cxn ang="0">
                  <a:pos x="374" y="122"/>
                </a:cxn>
                <a:cxn ang="0">
                  <a:pos x="348" y="138"/>
                </a:cxn>
                <a:cxn ang="0">
                  <a:pos x="344" y="155"/>
                </a:cxn>
                <a:cxn ang="0">
                  <a:pos x="308" y="146"/>
                </a:cxn>
                <a:cxn ang="0">
                  <a:pos x="299" y="162"/>
                </a:cxn>
                <a:cxn ang="0">
                  <a:pos x="251" y="155"/>
                </a:cxn>
                <a:cxn ang="0">
                  <a:pos x="208" y="140"/>
                </a:cxn>
                <a:cxn ang="0">
                  <a:pos x="169" y="109"/>
                </a:cxn>
                <a:cxn ang="0">
                  <a:pos x="144" y="74"/>
                </a:cxn>
                <a:cxn ang="0">
                  <a:pos x="139" y="54"/>
                </a:cxn>
                <a:cxn ang="0">
                  <a:pos x="132" y="26"/>
                </a:cxn>
                <a:cxn ang="0">
                  <a:pos x="127" y="19"/>
                </a:cxn>
                <a:cxn ang="0">
                  <a:pos x="122" y="6"/>
                </a:cxn>
                <a:cxn ang="0">
                  <a:pos x="106" y="0"/>
                </a:cxn>
              </a:cxnLst>
              <a:rect l="0" t="0" r="r" b="b"/>
              <a:pathLst>
                <a:path w="434" h="491">
                  <a:moveTo>
                    <a:pt x="106" y="0"/>
                  </a:moveTo>
                  <a:lnTo>
                    <a:pt x="91" y="12"/>
                  </a:lnTo>
                  <a:lnTo>
                    <a:pt x="74" y="18"/>
                  </a:lnTo>
                  <a:lnTo>
                    <a:pt x="52" y="14"/>
                  </a:lnTo>
                  <a:lnTo>
                    <a:pt x="52" y="20"/>
                  </a:lnTo>
                  <a:lnTo>
                    <a:pt x="59" y="29"/>
                  </a:lnTo>
                  <a:lnTo>
                    <a:pt x="59" y="33"/>
                  </a:lnTo>
                  <a:lnTo>
                    <a:pt x="62" y="43"/>
                  </a:lnTo>
                  <a:lnTo>
                    <a:pt x="70" y="48"/>
                  </a:lnTo>
                  <a:lnTo>
                    <a:pt x="76" y="54"/>
                  </a:lnTo>
                  <a:lnTo>
                    <a:pt x="83" y="60"/>
                  </a:lnTo>
                  <a:lnTo>
                    <a:pt x="72" y="67"/>
                  </a:lnTo>
                  <a:lnTo>
                    <a:pt x="76" y="80"/>
                  </a:lnTo>
                  <a:lnTo>
                    <a:pt x="68" y="92"/>
                  </a:lnTo>
                  <a:lnTo>
                    <a:pt x="61" y="105"/>
                  </a:lnTo>
                  <a:lnTo>
                    <a:pt x="52" y="121"/>
                  </a:lnTo>
                  <a:lnTo>
                    <a:pt x="42" y="137"/>
                  </a:lnTo>
                  <a:lnTo>
                    <a:pt x="26" y="137"/>
                  </a:lnTo>
                  <a:lnTo>
                    <a:pt x="20" y="135"/>
                  </a:lnTo>
                  <a:lnTo>
                    <a:pt x="12" y="157"/>
                  </a:lnTo>
                  <a:lnTo>
                    <a:pt x="24" y="163"/>
                  </a:lnTo>
                  <a:lnTo>
                    <a:pt x="28" y="175"/>
                  </a:lnTo>
                  <a:lnTo>
                    <a:pt x="34" y="176"/>
                  </a:lnTo>
                  <a:lnTo>
                    <a:pt x="41" y="199"/>
                  </a:lnTo>
                  <a:lnTo>
                    <a:pt x="35" y="199"/>
                  </a:lnTo>
                  <a:lnTo>
                    <a:pt x="20" y="201"/>
                  </a:lnTo>
                  <a:lnTo>
                    <a:pt x="7" y="200"/>
                  </a:lnTo>
                  <a:lnTo>
                    <a:pt x="7" y="206"/>
                  </a:lnTo>
                  <a:lnTo>
                    <a:pt x="0" y="210"/>
                  </a:lnTo>
                  <a:lnTo>
                    <a:pt x="0" y="211"/>
                  </a:lnTo>
                  <a:lnTo>
                    <a:pt x="6" y="209"/>
                  </a:lnTo>
                  <a:lnTo>
                    <a:pt x="4" y="213"/>
                  </a:lnTo>
                  <a:lnTo>
                    <a:pt x="17" y="227"/>
                  </a:lnTo>
                  <a:lnTo>
                    <a:pt x="35" y="224"/>
                  </a:lnTo>
                  <a:lnTo>
                    <a:pt x="34" y="228"/>
                  </a:lnTo>
                  <a:lnTo>
                    <a:pt x="23" y="235"/>
                  </a:lnTo>
                  <a:lnTo>
                    <a:pt x="14" y="234"/>
                  </a:lnTo>
                  <a:lnTo>
                    <a:pt x="29" y="248"/>
                  </a:lnTo>
                  <a:lnTo>
                    <a:pt x="42" y="264"/>
                  </a:lnTo>
                  <a:lnTo>
                    <a:pt x="64" y="258"/>
                  </a:lnTo>
                  <a:lnTo>
                    <a:pt x="65" y="246"/>
                  </a:lnTo>
                  <a:lnTo>
                    <a:pt x="66" y="237"/>
                  </a:lnTo>
                  <a:lnTo>
                    <a:pt x="74" y="237"/>
                  </a:lnTo>
                  <a:lnTo>
                    <a:pt x="72" y="242"/>
                  </a:lnTo>
                  <a:lnTo>
                    <a:pt x="71" y="246"/>
                  </a:lnTo>
                  <a:lnTo>
                    <a:pt x="79" y="246"/>
                  </a:lnTo>
                  <a:lnTo>
                    <a:pt x="74" y="252"/>
                  </a:lnTo>
                  <a:lnTo>
                    <a:pt x="77" y="260"/>
                  </a:lnTo>
                  <a:lnTo>
                    <a:pt x="77" y="272"/>
                  </a:lnTo>
                  <a:lnTo>
                    <a:pt x="82" y="290"/>
                  </a:lnTo>
                  <a:lnTo>
                    <a:pt x="83" y="295"/>
                  </a:lnTo>
                  <a:lnTo>
                    <a:pt x="84" y="300"/>
                  </a:lnTo>
                  <a:lnTo>
                    <a:pt x="89" y="321"/>
                  </a:lnTo>
                  <a:lnTo>
                    <a:pt x="95" y="339"/>
                  </a:lnTo>
                  <a:lnTo>
                    <a:pt x="101" y="356"/>
                  </a:lnTo>
                  <a:lnTo>
                    <a:pt x="104" y="361"/>
                  </a:lnTo>
                  <a:lnTo>
                    <a:pt x="113" y="381"/>
                  </a:lnTo>
                  <a:lnTo>
                    <a:pt x="121" y="402"/>
                  </a:lnTo>
                  <a:lnTo>
                    <a:pt x="128" y="416"/>
                  </a:lnTo>
                  <a:lnTo>
                    <a:pt x="136" y="432"/>
                  </a:lnTo>
                  <a:lnTo>
                    <a:pt x="143" y="446"/>
                  </a:lnTo>
                  <a:lnTo>
                    <a:pt x="148" y="458"/>
                  </a:lnTo>
                  <a:lnTo>
                    <a:pt x="155" y="473"/>
                  </a:lnTo>
                  <a:lnTo>
                    <a:pt x="161" y="486"/>
                  </a:lnTo>
                  <a:lnTo>
                    <a:pt x="170" y="491"/>
                  </a:lnTo>
                  <a:lnTo>
                    <a:pt x="179" y="482"/>
                  </a:lnTo>
                  <a:lnTo>
                    <a:pt x="188" y="473"/>
                  </a:lnTo>
                  <a:lnTo>
                    <a:pt x="198" y="471"/>
                  </a:lnTo>
                  <a:lnTo>
                    <a:pt x="192" y="464"/>
                  </a:lnTo>
                  <a:lnTo>
                    <a:pt x="200" y="451"/>
                  </a:lnTo>
                  <a:lnTo>
                    <a:pt x="205" y="451"/>
                  </a:lnTo>
                  <a:lnTo>
                    <a:pt x="204" y="438"/>
                  </a:lnTo>
                  <a:lnTo>
                    <a:pt x="202" y="425"/>
                  </a:lnTo>
                  <a:lnTo>
                    <a:pt x="205" y="410"/>
                  </a:lnTo>
                  <a:lnTo>
                    <a:pt x="208" y="396"/>
                  </a:lnTo>
                  <a:lnTo>
                    <a:pt x="204" y="379"/>
                  </a:lnTo>
                  <a:lnTo>
                    <a:pt x="203" y="359"/>
                  </a:lnTo>
                  <a:lnTo>
                    <a:pt x="211" y="353"/>
                  </a:lnTo>
                  <a:lnTo>
                    <a:pt x="214" y="351"/>
                  </a:lnTo>
                  <a:lnTo>
                    <a:pt x="217" y="350"/>
                  </a:lnTo>
                  <a:lnTo>
                    <a:pt x="221" y="343"/>
                  </a:lnTo>
                  <a:lnTo>
                    <a:pt x="234" y="338"/>
                  </a:lnTo>
                  <a:lnTo>
                    <a:pt x="236" y="327"/>
                  </a:lnTo>
                  <a:lnTo>
                    <a:pt x="251" y="312"/>
                  </a:lnTo>
                  <a:lnTo>
                    <a:pt x="266" y="296"/>
                  </a:lnTo>
                  <a:lnTo>
                    <a:pt x="278" y="283"/>
                  </a:lnTo>
                  <a:lnTo>
                    <a:pt x="288" y="277"/>
                  </a:lnTo>
                  <a:lnTo>
                    <a:pt x="296" y="264"/>
                  </a:lnTo>
                  <a:lnTo>
                    <a:pt x="298" y="251"/>
                  </a:lnTo>
                  <a:lnTo>
                    <a:pt x="312" y="241"/>
                  </a:lnTo>
                  <a:lnTo>
                    <a:pt x="316" y="248"/>
                  </a:lnTo>
                  <a:lnTo>
                    <a:pt x="320" y="248"/>
                  </a:lnTo>
                  <a:lnTo>
                    <a:pt x="324" y="247"/>
                  </a:lnTo>
                  <a:lnTo>
                    <a:pt x="328" y="248"/>
                  </a:lnTo>
                  <a:lnTo>
                    <a:pt x="328" y="243"/>
                  </a:lnTo>
                  <a:lnTo>
                    <a:pt x="323" y="229"/>
                  </a:lnTo>
                  <a:lnTo>
                    <a:pt x="318" y="216"/>
                  </a:lnTo>
                  <a:lnTo>
                    <a:pt x="317" y="205"/>
                  </a:lnTo>
                  <a:lnTo>
                    <a:pt x="305" y="195"/>
                  </a:lnTo>
                  <a:lnTo>
                    <a:pt x="310" y="188"/>
                  </a:lnTo>
                  <a:lnTo>
                    <a:pt x="316" y="185"/>
                  </a:lnTo>
                  <a:lnTo>
                    <a:pt x="304" y="174"/>
                  </a:lnTo>
                  <a:lnTo>
                    <a:pt x="304" y="161"/>
                  </a:lnTo>
                  <a:lnTo>
                    <a:pt x="314" y="164"/>
                  </a:lnTo>
                  <a:lnTo>
                    <a:pt x="319" y="170"/>
                  </a:lnTo>
                  <a:lnTo>
                    <a:pt x="323" y="167"/>
                  </a:lnTo>
                  <a:lnTo>
                    <a:pt x="329" y="181"/>
                  </a:lnTo>
                  <a:lnTo>
                    <a:pt x="346" y="183"/>
                  </a:lnTo>
                  <a:lnTo>
                    <a:pt x="362" y="185"/>
                  </a:lnTo>
                  <a:lnTo>
                    <a:pt x="371" y="191"/>
                  </a:lnTo>
                  <a:lnTo>
                    <a:pt x="368" y="198"/>
                  </a:lnTo>
                  <a:lnTo>
                    <a:pt x="356" y="206"/>
                  </a:lnTo>
                  <a:lnTo>
                    <a:pt x="360" y="221"/>
                  </a:lnTo>
                  <a:lnTo>
                    <a:pt x="362" y="224"/>
                  </a:lnTo>
                  <a:lnTo>
                    <a:pt x="370" y="211"/>
                  </a:lnTo>
                  <a:lnTo>
                    <a:pt x="376" y="227"/>
                  </a:lnTo>
                  <a:lnTo>
                    <a:pt x="382" y="242"/>
                  </a:lnTo>
                  <a:lnTo>
                    <a:pt x="383" y="241"/>
                  </a:lnTo>
                  <a:lnTo>
                    <a:pt x="388" y="242"/>
                  </a:lnTo>
                  <a:lnTo>
                    <a:pt x="389" y="223"/>
                  </a:lnTo>
                  <a:lnTo>
                    <a:pt x="389" y="207"/>
                  </a:lnTo>
                  <a:lnTo>
                    <a:pt x="398" y="207"/>
                  </a:lnTo>
                  <a:lnTo>
                    <a:pt x="406" y="186"/>
                  </a:lnTo>
                  <a:lnTo>
                    <a:pt x="407" y="177"/>
                  </a:lnTo>
                  <a:lnTo>
                    <a:pt x="407" y="163"/>
                  </a:lnTo>
                  <a:lnTo>
                    <a:pt x="421" y="147"/>
                  </a:lnTo>
                  <a:lnTo>
                    <a:pt x="433" y="150"/>
                  </a:lnTo>
                  <a:lnTo>
                    <a:pt x="431" y="144"/>
                  </a:lnTo>
                  <a:lnTo>
                    <a:pt x="432" y="139"/>
                  </a:lnTo>
                  <a:lnTo>
                    <a:pt x="434" y="131"/>
                  </a:lnTo>
                  <a:lnTo>
                    <a:pt x="418" y="125"/>
                  </a:lnTo>
                  <a:lnTo>
                    <a:pt x="418" y="116"/>
                  </a:lnTo>
                  <a:lnTo>
                    <a:pt x="412" y="115"/>
                  </a:lnTo>
                  <a:lnTo>
                    <a:pt x="413" y="111"/>
                  </a:lnTo>
                  <a:lnTo>
                    <a:pt x="407" y="109"/>
                  </a:lnTo>
                  <a:lnTo>
                    <a:pt x="398" y="114"/>
                  </a:lnTo>
                  <a:lnTo>
                    <a:pt x="385" y="113"/>
                  </a:lnTo>
                  <a:lnTo>
                    <a:pt x="374" y="122"/>
                  </a:lnTo>
                  <a:lnTo>
                    <a:pt x="362" y="133"/>
                  </a:lnTo>
                  <a:lnTo>
                    <a:pt x="349" y="138"/>
                  </a:lnTo>
                  <a:lnTo>
                    <a:pt x="348" y="138"/>
                  </a:lnTo>
                  <a:lnTo>
                    <a:pt x="353" y="144"/>
                  </a:lnTo>
                  <a:lnTo>
                    <a:pt x="359" y="153"/>
                  </a:lnTo>
                  <a:lnTo>
                    <a:pt x="344" y="155"/>
                  </a:lnTo>
                  <a:lnTo>
                    <a:pt x="330" y="156"/>
                  </a:lnTo>
                  <a:lnTo>
                    <a:pt x="311" y="153"/>
                  </a:lnTo>
                  <a:lnTo>
                    <a:pt x="308" y="146"/>
                  </a:lnTo>
                  <a:lnTo>
                    <a:pt x="301" y="132"/>
                  </a:lnTo>
                  <a:lnTo>
                    <a:pt x="294" y="137"/>
                  </a:lnTo>
                  <a:lnTo>
                    <a:pt x="299" y="162"/>
                  </a:lnTo>
                  <a:lnTo>
                    <a:pt x="282" y="161"/>
                  </a:lnTo>
                  <a:lnTo>
                    <a:pt x="262" y="158"/>
                  </a:lnTo>
                  <a:lnTo>
                    <a:pt x="251" y="155"/>
                  </a:lnTo>
                  <a:lnTo>
                    <a:pt x="242" y="146"/>
                  </a:lnTo>
                  <a:lnTo>
                    <a:pt x="223" y="144"/>
                  </a:lnTo>
                  <a:lnTo>
                    <a:pt x="208" y="140"/>
                  </a:lnTo>
                  <a:lnTo>
                    <a:pt x="188" y="131"/>
                  </a:lnTo>
                  <a:lnTo>
                    <a:pt x="169" y="120"/>
                  </a:lnTo>
                  <a:lnTo>
                    <a:pt x="169" y="109"/>
                  </a:lnTo>
                  <a:lnTo>
                    <a:pt x="178" y="95"/>
                  </a:lnTo>
                  <a:lnTo>
                    <a:pt x="163" y="85"/>
                  </a:lnTo>
                  <a:lnTo>
                    <a:pt x="144" y="74"/>
                  </a:lnTo>
                  <a:lnTo>
                    <a:pt x="137" y="72"/>
                  </a:lnTo>
                  <a:lnTo>
                    <a:pt x="130" y="53"/>
                  </a:lnTo>
                  <a:lnTo>
                    <a:pt x="139" y="54"/>
                  </a:lnTo>
                  <a:lnTo>
                    <a:pt x="142" y="47"/>
                  </a:lnTo>
                  <a:lnTo>
                    <a:pt x="132" y="33"/>
                  </a:lnTo>
                  <a:lnTo>
                    <a:pt x="132" y="26"/>
                  </a:lnTo>
                  <a:lnTo>
                    <a:pt x="131" y="25"/>
                  </a:lnTo>
                  <a:lnTo>
                    <a:pt x="131" y="21"/>
                  </a:lnTo>
                  <a:lnTo>
                    <a:pt x="127" y="19"/>
                  </a:lnTo>
                  <a:lnTo>
                    <a:pt x="125" y="15"/>
                  </a:lnTo>
                  <a:lnTo>
                    <a:pt x="124" y="11"/>
                  </a:lnTo>
                  <a:lnTo>
                    <a:pt x="122" y="6"/>
                  </a:lnTo>
                  <a:lnTo>
                    <a:pt x="118" y="5"/>
                  </a:lnTo>
                  <a:lnTo>
                    <a:pt x="110" y="1"/>
                  </a:lnTo>
                  <a:lnTo>
                    <a:pt x="10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8" name="Freeform 67"/>
            <p:cNvSpPr>
              <a:spLocks/>
            </p:cNvSpPr>
            <p:nvPr/>
          </p:nvSpPr>
          <p:spPr bwMode="auto">
            <a:xfrm>
              <a:off x="3107" y="2041"/>
              <a:ext cx="22" cy="75"/>
            </a:xfrm>
            <a:custGeom>
              <a:avLst/>
              <a:gdLst/>
              <a:ahLst/>
              <a:cxnLst>
                <a:cxn ang="0">
                  <a:pos x="15" y="69"/>
                </a:cxn>
                <a:cxn ang="0">
                  <a:pos x="8" y="52"/>
                </a:cxn>
                <a:cxn ang="0">
                  <a:pos x="0" y="35"/>
                </a:cxn>
                <a:cxn ang="0">
                  <a:pos x="6" y="20"/>
                </a:cxn>
                <a:cxn ang="0">
                  <a:pos x="11" y="4"/>
                </a:cxn>
                <a:cxn ang="0">
                  <a:pos x="18" y="0"/>
                </a:cxn>
                <a:cxn ang="0">
                  <a:pos x="20" y="10"/>
                </a:cxn>
                <a:cxn ang="0">
                  <a:pos x="18" y="24"/>
                </a:cxn>
                <a:cxn ang="0">
                  <a:pos x="17" y="39"/>
                </a:cxn>
                <a:cxn ang="0">
                  <a:pos x="17" y="53"/>
                </a:cxn>
                <a:cxn ang="0">
                  <a:pos x="15" y="68"/>
                </a:cxn>
                <a:cxn ang="0">
                  <a:pos x="15" y="69"/>
                </a:cxn>
              </a:cxnLst>
              <a:rect l="0" t="0" r="r" b="b"/>
              <a:pathLst>
                <a:path w="20" h="69">
                  <a:moveTo>
                    <a:pt x="15" y="69"/>
                  </a:moveTo>
                  <a:lnTo>
                    <a:pt x="8" y="52"/>
                  </a:lnTo>
                  <a:lnTo>
                    <a:pt x="0" y="35"/>
                  </a:lnTo>
                  <a:lnTo>
                    <a:pt x="6" y="20"/>
                  </a:lnTo>
                  <a:lnTo>
                    <a:pt x="11" y="4"/>
                  </a:lnTo>
                  <a:lnTo>
                    <a:pt x="18" y="0"/>
                  </a:lnTo>
                  <a:lnTo>
                    <a:pt x="20" y="10"/>
                  </a:lnTo>
                  <a:lnTo>
                    <a:pt x="18" y="24"/>
                  </a:lnTo>
                  <a:lnTo>
                    <a:pt x="17" y="39"/>
                  </a:lnTo>
                  <a:lnTo>
                    <a:pt x="17" y="53"/>
                  </a:lnTo>
                  <a:lnTo>
                    <a:pt x="15" y="68"/>
                  </a:lnTo>
                  <a:lnTo>
                    <a:pt x="15"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9" name="Freeform 68"/>
            <p:cNvSpPr>
              <a:spLocks/>
            </p:cNvSpPr>
            <p:nvPr/>
          </p:nvSpPr>
          <p:spPr bwMode="auto">
            <a:xfrm>
              <a:off x="3122" y="2039"/>
              <a:ext cx="69" cy="84"/>
            </a:xfrm>
            <a:custGeom>
              <a:avLst/>
              <a:gdLst/>
              <a:ahLst/>
              <a:cxnLst>
                <a:cxn ang="0">
                  <a:pos x="24" y="19"/>
                </a:cxn>
                <a:cxn ang="0">
                  <a:pos x="5" y="12"/>
                </a:cxn>
                <a:cxn ang="0">
                  <a:pos x="3" y="26"/>
                </a:cxn>
                <a:cxn ang="0">
                  <a:pos x="2" y="41"/>
                </a:cxn>
                <a:cxn ang="0">
                  <a:pos x="2" y="55"/>
                </a:cxn>
                <a:cxn ang="0">
                  <a:pos x="0" y="70"/>
                </a:cxn>
                <a:cxn ang="0">
                  <a:pos x="1" y="72"/>
                </a:cxn>
                <a:cxn ang="0">
                  <a:pos x="18" y="76"/>
                </a:cxn>
                <a:cxn ang="0">
                  <a:pos x="27" y="64"/>
                </a:cxn>
                <a:cxn ang="0">
                  <a:pos x="38" y="61"/>
                </a:cxn>
                <a:cxn ang="0">
                  <a:pos x="45" y="53"/>
                </a:cxn>
                <a:cxn ang="0">
                  <a:pos x="27" y="35"/>
                </a:cxn>
                <a:cxn ang="0">
                  <a:pos x="44" y="28"/>
                </a:cxn>
                <a:cxn ang="0">
                  <a:pos x="61" y="22"/>
                </a:cxn>
                <a:cxn ang="0">
                  <a:pos x="51" y="0"/>
                </a:cxn>
                <a:cxn ang="0">
                  <a:pos x="37" y="10"/>
                </a:cxn>
                <a:cxn ang="0">
                  <a:pos x="24" y="19"/>
                </a:cxn>
              </a:cxnLst>
              <a:rect l="0" t="0" r="r" b="b"/>
              <a:pathLst>
                <a:path w="61" h="76">
                  <a:moveTo>
                    <a:pt x="24" y="19"/>
                  </a:moveTo>
                  <a:lnTo>
                    <a:pt x="5" y="12"/>
                  </a:lnTo>
                  <a:lnTo>
                    <a:pt x="3" y="26"/>
                  </a:lnTo>
                  <a:lnTo>
                    <a:pt x="2" y="41"/>
                  </a:lnTo>
                  <a:lnTo>
                    <a:pt x="2" y="55"/>
                  </a:lnTo>
                  <a:lnTo>
                    <a:pt x="0" y="70"/>
                  </a:lnTo>
                  <a:lnTo>
                    <a:pt x="1" y="72"/>
                  </a:lnTo>
                  <a:lnTo>
                    <a:pt x="18" y="76"/>
                  </a:lnTo>
                  <a:lnTo>
                    <a:pt x="27" y="64"/>
                  </a:lnTo>
                  <a:lnTo>
                    <a:pt x="38" y="61"/>
                  </a:lnTo>
                  <a:lnTo>
                    <a:pt x="45" y="53"/>
                  </a:lnTo>
                  <a:lnTo>
                    <a:pt x="27" y="35"/>
                  </a:lnTo>
                  <a:lnTo>
                    <a:pt x="44" y="28"/>
                  </a:lnTo>
                  <a:lnTo>
                    <a:pt x="61" y="22"/>
                  </a:lnTo>
                  <a:lnTo>
                    <a:pt x="51" y="0"/>
                  </a:lnTo>
                  <a:lnTo>
                    <a:pt x="37" y="10"/>
                  </a:lnTo>
                  <a:lnTo>
                    <a:pt x="24"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0" name="Freeform 69"/>
            <p:cNvSpPr>
              <a:spLocks/>
            </p:cNvSpPr>
            <p:nvPr/>
          </p:nvSpPr>
          <p:spPr bwMode="auto">
            <a:xfrm>
              <a:off x="3431" y="2207"/>
              <a:ext cx="131" cy="167"/>
            </a:xfrm>
            <a:custGeom>
              <a:avLst/>
              <a:gdLst/>
              <a:ahLst/>
              <a:cxnLst>
                <a:cxn ang="0">
                  <a:pos x="119" y="46"/>
                </a:cxn>
                <a:cxn ang="0">
                  <a:pos x="107" y="35"/>
                </a:cxn>
                <a:cxn ang="0">
                  <a:pos x="95" y="25"/>
                </a:cxn>
                <a:cxn ang="0">
                  <a:pos x="82" y="19"/>
                </a:cxn>
                <a:cxn ang="0">
                  <a:pos x="68" y="13"/>
                </a:cxn>
                <a:cxn ang="0">
                  <a:pos x="61" y="0"/>
                </a:cxn>
                <a:cxn ang="0">
                  <a:pos x="56" y="4"/>
                </a:cxn>
                <a:cxn ang="0">
                  <a:pos x="54" y="0"/>
                </a:cxn>
                <a:cxn ang="0">
                  <a:pos x="56" y="17"/>
                </a:cxn>
                <a:cxn ang="0">
                  <a:pos x="49" y="19"/>
                </a:cxn>
                <a:cxn ang="0">
                  <a:pos x="46" y="41"/>
                </a:cxn>
                <a:cxn ang="0">
                  <a:pos x="54" y="54"/>
                </a:cxn>
                <a:cxn ang="0">
                  <a:pos x="50" y="72"/>
                </a:cxn>
                <a:cxn ang="0">
                  <a:pos x="47" y="90"/>
                </a:cxn>
                <a:cxn ang="0">
                  <a:pos x="36" y="94"/>
                </a:cxn>
                <a:cxn ang="0">
                  <a:pos x="24" y="99"/>
                </a:cxn>
                <a:cxn ang="0">
                  <a:pos x="13" y="103"/>
                </a:cxn>
                <a:cxn ang="0">
                  <a:pos x="2" y="108"/>
                </a:cxn>
                <a:cxn ang="0">
                  <a:pos x="0" y="115"/>
                </a:cxn>
                <a:cxn ang="0">
                  <a:pos x="11" y="133"/>
                </a:cxn>
                <a:cxn ang="0">
                  <a:pos x="22" y="150"/>
                </a:cxn>
                <a:cxn ang="0">
                  <a:pos x="35" y="148"/>
                </a:cxn>
                <a:cxn ang="0">
                  <a:pos x="47" y="144"/>
                </a:cxn>
                <a:cxn ang="0">
                  <a:pos x="55" y="137"/>
                </a:cxn>
                <a:cxn ang="0">
                  <a:pos x="60" y="127"/>
                </a:cxn>
                <a:cxn ang="0">
                  <a:pos x="74" y="124"/>
                </a:cxn>
                <a:cxn ang="0">
                  <a:pos x="80" y="111"/>
                </a:cxn>
                <a:cxn ang="0">
                  <a:pos x="92" y="105"/>
                </a:cxn>
                <a:cxn ang="0">
                  <a:pos x="91" y="85"/>
                </a:cxn>
                <a:cxn ang="0">
                  <a:pos x="97" y="81"/>
                </a:cxn>
                <a:cxn ang="0">
                  <a:pos x="101" y="81"/>
                </a:cxn>
                <a:cxn ang="0">
                  <a:pos x="110" y="64"/>
                </a:cxn>
                <a:cxn ang="0">
                  <a:pos x="119" y="46"/>
                </a:cxn>
              </a:cxnLst>
              <a:rect l="0" t="0" r="r" b="b"/>
              <a:pathLst>
                <a:path w="119" h="150">
                  <a:moveTo>
                    <a:pt x="119" y="46"/>
                  </a:moveTo>
                  <a:lnTo>
                    <a:pt x="107" y="35"/>
                  </a:lnTo>
                  <a:lnTo>
                    <a:pt x="95" y="25"/>
                  </a:lnTo>
                  <a:lnTo>
                    <a:pt x="82" y="19"/>
                  </a:lnTo>
                  <a:lnTo>
                    <a:pt x="68" y="13"/>
                  </a:lnTo>
                  <a:lnTo>
                    <a:pt x="61" y="0"/>
                  </a:lnTo>
                  <a:lnTo>
                    <a:pt x="56" y="4"/>
                  </a:lnTo>
                  <a:lnTo>
                    <a:pt x="54" y="0"/>
                  </a:lnTo>
                  <a:lnTo>
                    <a:pt x="56" y="17"/>
                  </a:lnTo>
                  <a:lnTo>
                    <a:pt x="49" y="19"/>
                  </a:lnTo>
                  <a:lnTo>
                    <a:pt x="46" y="41"/>
                  </a:lnTo>
                  <a:lnTo>
                    <a:pt x="54" y="54"/>
                  </a:lnTo>
                  <a:lnTo>
                    <a:pt x="50" y="72"/>
                  </a:lnTo>
                  <a:lnTo>
                    <a:pt x="47" y="90"/>
                  </a:lnTo>
                  <a:lnTo>
                    <a:pt x="36" y="94"/>
                  </a:lnTo>
                  <a:lnTo>
                    <a:pt x="24" y="99"/>
                  </a:lnTo>
                  <a:lnTo>
                    <a:pt x="13" y="103"/>
                  </a:lnTo>
                  <a:lnTo>
                    <a:pt x="2" y="108"/>
                  </a:lnTo>
                  <a:lnTo>
                    <a:pt x="0" y="115"/>
                  </a:lnTo>
                  <a:lnTo>
                    <a:pt x="11" y="133"/>
                  </a:lnTo>
                  <a:lnTo>
                    <a:pt x="22" y="150"/>
                  </a:lnTo>
                  <a:lnTo>
                    <a:pt x="35" y="148"/>
                  </a:lnTo>
                  <a:lnTo>
                    <a:pt x="47" y="144"/>
                  </a:lnTo>
                  <a:lnTo>
                    <a:pt x="55" y="137"/>
                  </a:lnTo>
                  <a:lnTo>
                    <a:pt x="60" y="127"/>
                  </a:lnTo>
                  <a:lnTo>
                    <a:pt x="74" y="124"/>
                  </a:lnTo>
                  <a:lnTo>
                    <a:pt x="80" y="111"/>
                  </a:lnTo>
                  <a:lnTo>
                    <a:pt x="92" y="105"/>
                  </a:lnTo>
                  <a:lnTo>
                    <a:pt x="91" y="85"/>
                  </a:lnTo>
                  <a:lnTo>
                    <a:pt x="97" y="81"/>
                  </a:lnTo>
                  <a:lnTo>
                    <a:pt x="101" y="81"/>
                  </a:lnTo>
                  <a:lnTo>
                    <a:pt x="110" y="64"/>
                  </a:lnTo>
                  <a:lnTo>
                    <a:pt x="119"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1" name="Freeform 70"/>
            <p:cNvSpPr>
              <a:spLocks/>
            </p:cNvSpPr>
            <p:nvPr/>
          </p:nvSpPr>
          <p:spPr bwMode="auto">
            <a:xfrm>
              <a:off x="3489" y="2181"/>
              <a:ext cx="6" cy="11"/>
            </a:xfrm>
            <a:custGeom>
              <a:avLst/>
              <a:gdLst/>
              <a:ahLst/>
              <a:cxnLst>
                <a:cxn ang="0">
                  <a:pos x="5" y="0"/>
                </a:cxn>
                <a:cxn ang="0">
                  <a:pos x="0" y="8"/>
                </a:cxn>
                <a:cxn ang="0">
                  <a:pos x="5" y="10"/>
                </a:cxn>
                <a:cxn ang="0">
                  <a:pos x="5" y="0"/>
                </a:cxn>
              </a:cxnLst>
              <a:rect l="0" t="0" r="r" b="b"/>
              <a:pathLst>
                <a:path w="5" h="10">
                  <a:moveTo>
                    <a:pt x="5" y="0"/>
                  </a:moveTo>
                  <a:lnTo>
                    <a:pt x="0" y="8"/>
                  </a:lnTo>
                  <a:lnTo>
                    <a:pt x="5" y="10"/>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2" name="Freeform 71"/>
            <p:cNvSpPr>
              <a:spLocks/>
            </p:cNvSpPr>
            <p:nvPr/>
          </p:nvSpPr>
          <p:spPr bwMode="auto">
            <a:xfrm>
              <a:off x="3120" y="2063"/>
              <a:ext cx="371" cy="331"/>
            </a:xfrm>
            <a:custGeom>
              <a:avLst/>
              <a:gdLst/>
              <a:ahLst/>
              <a:cxnLst>
                <a:cxn ang="0">
                  <a:pos x="76" y="178"/>
                </a:cxn>
                <a:cxn ang="0">
                  <a:pos x="65" y="151"/>
                </a:cxn>
                <a:cxn ang="0">
                  <a:pos x="45" y="134"/>
                </a:cxn>
                <a:cxn ang="0">
                  <a:pos x="21" y="94"/>
                </a:cxn>
                <a:cxn ang="0">
                  <a:pos x="0" y="72"/>
                </a:cxn>
                <a:cxn ang="0">
                  <a:pos x="21" y="54"/>
                </a:cxn>
                <a:cxn ang="0">
                  <a:pos x="41" y="39"/>
                </a:cxn>
                <a:cxn ang="0">
                  <a:pos x="30" y="13"/>
                </a:cxn>
                <a:cxn ang="0">
                  <a:pos x="64" y="0"/>
                </a:cxn>
                <a:cxn ang="0">
                  <a:pos x="94" y="13"/>
                </a:cxn>
                <a:cxn ang="0">
                  <a:pos x="123" y="26"/>
                </a:cxn>
                <a:cxn ang="0">
                  <a:pos x="153" y="54"/>
                </a:cxn>
                <a:cxn ang="0">
                  <a:pos x="195" y="57"/>
                </a:cxn>
                <a:cxn ang="0">
                  <a:pos x="210" y="66"/>
                </a:cxn>
                <a:cxn ang="0">
                  <a:pos x="226" y="85"/>
                </a:cxn>
                <a:cxn ang="0">
                  <a:pos x="242" y="109"/>
                </a:cxn>
                <a:cxn ang="0">
                  <a:pos x="255" y="134"/>
                </a:cxn>
                <a:cxn ang="0">
                  <a:pos x="262" y="136"/>
                </a:cxn>
                <a:cxn ang="0">
                  <a:pos x="264" y="141"/>
                </a:cxn>
                <a:cxn ang="0">
                  <a:pos x="266" y="146"/>
                </a:cxn>
                <a:cxn ang="0">
                  <a:pos x="276" y="165"/>
                </a:cxn>
                <a:cxn ang="0">
                  <a:pos x="323" y="174"/>
                </a:cxn>
                <a:cxn ang="0">
                  <a:pos x="334" y="183"/>
                </a:cxn>
                <a:cxn ang="0">
                  <a:pos x="327" y="219"/>
                </a:cxn>
                <a:cxn ang="0">
                  <a:pos x="304" y="228"/>
                </a:cxn>
                <a:cxn ang="0">
                  <a:pos x="282" y="237"/>
                </a:cxn>
                <a:cxn ang="0">
                  <a:pos x="257" y="243"/>
                </a:cxn>
                <a:cxn ang="0">
                  <a:pos x="232" y="250"/>
                </a:cxn>
                <a:cxn ang="0">
                  <a:pos x="215" y="273"/>
                </a:cxn>
                <a:cxn ang="0">
                  <a:pos x="197" y="297"/>
                </a:cxn>
                <a:cxn ang="0">
                  <a:pos x="182" y="272"/>
                </a:cxn>
                <a:cxn ang="0">
                  <a:pos x="149" y="264"/>
                </a:cxn>
                <a:cxn ang="0">
                  <a:pos x="141" y="284"/>
                </a:cxn>
                <a:cxn ang="0">
                  <a:pos x="125" y="258"/>
                </a:cxn>
                <a:cxn ang="0">
                  <a:pos x="100" y="218"/>
                </a:cxn>
              </a:cxnLst>
              <a:rect l="0" t="0" r="r" b="b"/>
              <a:pathLst>
                <a:path w="334" h="297">
                  <a:moveTo>
                    <a:pt x="82" y="202"/>
                  </a:moveTo>
                  <a:lnTo>
                    <a:pt x="76" y="178"/>
                  </a:lnTo>
                  <a:lnTo>
                    <a:pt x="70" y="165"/>
                  </a:lnTo>
                  <a:lnTo>
                    <a:pt x="65" y="151"/>
                  </a:lnTo>
                  <a:lnTo>
                    <a:pt x="54" y="142"/>
                  </a:lnTo>
                  <a:lnTo>
                    <a:pt x="45" y="134"/>
                  </a:lnTo>
                  <a:lnTo>
                    <a:pt x="36" y="115"/>
                  </a:lnTo>
                  <a:lnTo>
                    <a:pt x="21" y="94"/>
                  </a:lnTo>
                  <a:lnTo>
                    <a:pt x="5" y="73"/>
                  </a:lnTo>
                  <a:lnTo>
                    <a:pt x="0" y="72"/>
                  </a:lnTo>
                  <a:lnTo>
                    <a:pt x="4" y="50"/>
                  </a:lnTo>
                  <a:lnTo>
                    <a:pt x="21" y="54"/>
                  </a:lnTo>
                  <a:lnTo>
                    <a:pt x="30" y="42"/>
                  </a:lnTo>
                  <a:lnTo>
                    <a:pt x="41" y="39"/>
                  </a:lnTo>
                  <a:lnTo>
                    <a:pt x="48" y="31"/>
                  </a:lnTo>
                  <a:lnTo>
                    <a:pt x="30" y="13"/>
                  </a:lnTo>
                  <a:lnTo>
                    <a:pt x="47" y="6"/>
                  </a:lnTo>
                  <a:lnTo>
                    <a:pt x="64" y="0"/>
                  </a:lnTo>
                  <a:lnTo>
                    <a:pt x="78" y="6"/>
                  </a:lnTo>
                  <a:lnTo>
                    <a:pt x="94" y="13"/>
                  </a:lnTo>
                  <a:lnTo>
                    <a:pt x="108" y="19"/>
                  </a:lnTo>
                  <a:lnTo>
                    <a:pt x="123" y="26"/>
                  </a:lnTo>
                  <a:lnTo>
                    <a:pt x="137" y="39"/>
                  </a:lnTo>
                  <a:lnTo>
                    <a:pt x="153" y="54"/>
                  </a:lnTo>
                  <a:lnTo>
                    <a:pt x="180" y="55"/>
                  </a:lnTo>
                  <a:lnTo>
                    <a:pt x="195" y="57"/>
                  </a:lnTo>
                  <a:lnTo>
                    <a:pt x="197" y="62"/>
                  </a:lnTo>
                  <a:lnTo>
                    <a:pt x="210" y="66"/>
                  </a:lnTo>
                  <a:lnTo>
                    <a:pt x="219" y="79"/>
                  </a:lnTo>
                  <a:lnTo>
                    <a:pt x="226" y="85"/>
                  </a:lnTo>
                  <a:lnTo>
                    <a:pt x="240" y="99"/>
                  </a:lnTo>
                  <a:lnTo>
                    <a:pt x="242" y="109"/>
                  </a:lnTo>
                  <a:lnTo>
                    <a:pt x="249" y="121"/>
                  </a:lnTo>
                  <a:lnTo>
                    <a:pt x="255" y="134"/>
                  </a:lnTo>
                  <a:lnTo>
                    <a:pt x="260" y="138"/>
                  </a:lnTo>
                  <a:lnTo>
                    <a:pt x="262" y="136"/>
                  </a:lnTo>
                  <a:lnTo>
                    <a:pt x="264" y="136"/>
                  </a:lnTo>
                  <a:lnTo>
                    <a:pt x="264" y="141"/>
                  </a:lnTo>
                  <a:lnTo>
                    <a:pt x="266" y="142"/>
                  </a:lnTo>
                  <a:lnTo>
                    <a:pt x="266" y="146"/>
                  </a:lnTo>
                  <a:lnTo>
                    <a:pt x="270" y="150"/>
                  </a:lnTo>
                  <a:lnTo>
                    <a:pt x="276" y="165"/>
                  </a:lnTo>
                  <a:lnTo>
                    <a:pt x="299" y="170"/>
                  </a:lnTo>
                  <a:lnTo>
                    <a:pt x="323" y="174"/>
                  </a:lnTo>
                  <a:lnTo>
                    <a:pt x="326" y="170"/>
                  </a:lnTo>
                  <a:lnTo>
                    <a:pt x="334" y="183"/>
                  </a:lnTo>
                  <a:lnTo>
                    <a:pt x="330" y="201"/>
                  </a:lnTo>
                  <a:lnTo>
                    <a:pt x="327" y="219"/>
                  </a:lnTo>
                  <a:lnTo>
                    <a:pt x="316" y="223"/>
                  </a:lnTo>
                  <a:lnTo>
                    <a:pt x="304" y="228"/>
                  </a:lnTo>
                  <a:lnTo>
                    <a:pt x="293" y="232"/>
                  </a:lnTo>
                  <a:lnTo>
                    <a:pt x="282" y="237"/>
                  </a:lnTo>
                  <a:lnTo>
                    <a:pt x="269" y="240"/>
                  </a:lnTo>
                  <a:lnTo>
                    <a:pt x="257" y="243"/>
                  </a:lnTo>
                  <a:lnTo>
                    <a:pt x="244" y="247"/>
                  </a:lnTo>
                  <a:lnTo>
                    <a:pt x="232" y="250"/>
                  </a:lnTo>
                  <a:lnTo>
                    <a:pt x="224" y="262"/>
                  </a:lnTo>
                  <a:lnTo>
                    <a:pt x="215" y="273"/>
                  </a:lnTo>
                  <a:lnTo>
                    <a:pt x="206" y="285"/>
                  </a:lnTo>
                  <a:lnTo>
                    <a:pt x="197" y="297"/>
                  </a:lnTo>
                  <a:lnTo>
                    <a:pt x="196" y="279"/>
                  </a:lnTo>
                  <a:lnTo>
                    <a:pt x="182" y="272"/>
                  </a:lnTo>
                  <a:lnTo>
                    <a:pt x="166" y="266"/>
                  </a:lnTo>
                  <a:lnTo>
                    <a:pt x="149" y="264"/>
                  </a:lnTo>
                  <a:lnTo>
                    <a:pt x="146" y="278"/>
                  </a:lnTo>
                  <a:lnTo>
                    <a:pt x="141" y="284"/>
                  </a:lnTo>
                  <a:lnTo>
                    <a:pt x="132" y="271"/>
                  </a:lnTo>
                  <a:lnTo>
                    <a:pt x="125" y="258"/>
                  </a:lnTo>
                  <a:lnTo>
                    <a:pt x="112" y="238"/>
                  </a:lnTo>
                  <a:lnTo>
                    <a:pt x="100" y="218"/>
                  </a:lnTo>
                  <a:lnTo>
                    <a:pt x="82" y="20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3" name="Freeform 72"/>
            <p:cNvSpPr>
              <a:spLocks/>
            </p:cNvSpPr>
            <p:nvPr/>
          </p:nvSpPr>
          <p:spPr bwMode="auto">
            <a:xfrm>
              <a:off x="3415" y="2190"/>
              <a:ext cx="85" cy="66"/>
            </a:xfrm>
            <a:custGeom>
              <a:avLst/>
              <a:gdLst/>
              <a:ahLst/>
              <a:cxnLst>
                <a:cxn ang="0">
                  <a:pos x="0" y="32"/>
                </a:cxn>
                <a:cxn ang="0">
                  <a:pos x="4" y="36"/>
                </a:cxn>
                <a:cxn ang="0">
                  <a:pos x="10" y="51"/>
                </a:cxn>
                <a:cxn ang="0">
                  <a:pos x="33" y="56"/>
                </a:cxn>
                <a:cxn ang="0">
                  <a:pos x="57" y="60"/>
                </a:cxn>
                <a:cxn ang="0">
                  <a:pos x="60" y="56"/>
                </a:cxn>
                <a:cxn ang="0">
                  <a:pos x="63" y="34"/>
                </a:cxn>
                <a:cxn ang="0">
                  <a:pos x="70" y="32"/>
                </a:cxn>
                <a:cxn ang="0">
                  <a:pos x="68" y="15"/>
                </a:cxn>
                <a:cxn ang="0">
                  <a:pos x="70" y="19"/>
                </a:cxn>
                <a:cxn ang="0">
                  <a:pos x="75" y="15"/>
                </a:cxn>
                <a:cxn ang="0">
                  <a:pos x="72" y="2"/>
                </a:cxn>
                <a:cxn ang="0">
                  <a:pos x="67" y="0"/>
                </a:cxn>
                <a:cxn ang="0">
                  <a:pos x="54" y="15"/>
                </a:cxn>
                <a:cxn ang="0">
                  <a:pos x="38" y="31"/>
                </a:cxn>
                <a:cxn ang="0">
                  <a:pos x="14" y="32"/>
                </a:cxn>
                <a:cxn ang="0">
                  <a:pos x="4" y="31"/>
                </a:cxn>
                <a:cxn ang="0">
                  <a:pos x="0" y="28"/>
                </a:cxn>
                <a:cxn ang="0">
                  <a:pos x="0" y="32"/>
                </a:cxn>
              </a:cxnLst>
              <a:rect l="0" t="0" r="r" b="b"/>
              <a:pathLst>
                <a:path w="75" h="60">
                  <a:moveTo>
                    <a:pt x="0" y="32"/>
                  </a:moveTo>
                  <a:lnTo>
                    <a:pt x="4" y="36"/>
                  </a:lnTo>
                  <a:lnTo>
                    <a:pt x="10" y="51"/>
                  </a:lnTo>
                  <a:lnTo>
                    <a:pt x="33" y="56"/>
                  </a:lnTo>
                  <a:lnTo>
                    <a:pt x="57" y="60"/>
                  </a:lnTo>
                  <a:lnTo>
                    <a:pt x="60" y="56"/>
                  </a:lnTo>
                  <a:lnTo>
                    <a:pt x="63" y="34"/>
                  </a:lnTo>
                  <a:lnTo>
                    <a:pt x="70" y="32"/>
                  </a:lnTo>
                  <a:lnTo>
                    <a:pt x="68" y="15"/>
                  </a:lnTo>
                  <a:lnTo>
                    <a:pt x="70" y="19"/>
                  </a:lnTo>
                  <a:lnTo>
                    <a:pt x="75" y="15"/>
                  </a:lnTo>
                  <a:lnTo>
                    <a:pt x="72" y="2"/>
                  </a:lnTo>
                  <a:lnTo>
                    <a:pt x="67" y="0"/>
                  </a:lnTo>
                  <a:lnTo>
                    <a:pt x="54" y="15"/>
                  </a:lnTo>
                  <a:lnTo>
                    <a:pt x="38" y="31"/>
                  </a:lnTo>
                  <a:lnTo>
                    <a:pt x="14" y="32"/>
                  </a:lnTo>
                  <a:lnTo>
                    <a:pt x="4" y="31"/>
                  </a:lnTo>
                  <a:lnTo>
                    <a:pt x="0" y="28"/>
                  </a:lnTo>
                  <a:lnTo>
                    <a:pt x="0" y="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4" name="Freeform 73"/>
            <p:cNvSpPr>
              <a:spLocks/>
            </p:cNvSpPr>
            <p:nvPr/>
          </p:nvSpPr>
          <p:spPr bwMode="auto">
            <a:xfrm>
              <a:off x="3275" y="2327"/>
              <a:ext cx="180" cy="125"/>
            </a:xfrm>
            <a:custGeom>
              <a:avLst/>
              <a:gdLst/>
              <a:ahLst/>
              <a:cxnLst>
                <a:cxn ang="0">
                  <a:pos x="5" y="41"/>
                </a:cxn>
                <a:cxn ang="0">
                  <a:pos x="0" y="47"/>
                </a:cxn>
                <a:cxn ang="0">
                  <a:pos x="0" y="69"/>
                </a:cxn>
                <a:cxn ang="0">
                  <a:pos x="7" y="90"/>
                </a:cxn>
                <a:cxn ang="0">
                  <a:pos x="14" y="113"/>
                </a:cxn>
                <a:cxn ang="0">
                  <a:pos x="33" y="112"/>
                </a:cxn>
                <a:cxn ang="0">
                  <a:pos x="54" y="100"/>
                </a:cxn>
                <a:cxn ang="0">
                  <a:pos x="69" y="95"/>
                </a:cxn>
                <a:cxn ang="0">
                  <a:pos x="86" y="89"/>
                </a:cxn>
                <a:cxn ang="0">
                  <a:pos x="98" y="84"/>
                </a:cxn>
                <a:cxn ang="0">
                  <a:pos x="110" y="78"/>
                </a:cxn>
                <a:cxn ang="0">
                  <a:pos x="122" y="72"/>
                </a:cxn>
                <a:cxn ang="0">
                  <a:pos x="134" y="67"/>
                </a:cxn>
                <a:cxn ang="0">
                  <a:pos x="146" y="61"/>
                </a:cxn>
                <a:cxn ang="0">
                  <a:pos x="147" y="54"/>
                </a:cxn>
                <a:cxn ang="0">
                  <a:pos x="161" y="42"/>
                </a:cxn>
                <a:cxn ang="0">
                  <a:pos x="150" y="25"/>
                </a:cxn>
                <a:cxn ang="0">
                  <a:pos x="139" y="7"/>
                </a:cxn>
                <a:cxn ang="0">
                  <a:pos x="141" y="0"/>
                </a:cxn>
                <a:cxn ang="0">
                  <a:pos x="128" y="3"/>
                </a:cxn>
                <a:cxn ang="0">
                  <a:pos x="116" y="6"/>
                </a:cxn>
                <a:cxn ang="0">
                  <a:pos x="103" y="10"/>
                </a:cxn>
                <a:cxn ang="0">
                  <a:pos x="91" y="13"/>
                </a:cxn>
                <a:cxn ang="0">
                  <a:pos x="83" y="25"/>
                </a:cxn>
                <a:cxn ang="0">
                  <a:pos x="74" y="36"/>
                </a:cxn>
                <a:cxn ang="0">
                  <a:pos x="65" y="48"/>
                </a:cxn>
                <a:cxn ang="0">
                  <a:pos x="56" y="60"/>
                </a:cxn>
                <a:cxn ang="0">
                  <a:pos x="55" y="42"/>
                </a:cxn>
                <a:cxn ang="0">
                  <a:pos x="41" y="35"/>
                </a:cxn>
                <a:cxn ang="0">
                  <a:pos x="25" y="29"/>
                </a:cxn>
                <a:cxn ang="0">
                  <a:pos x="8" y="27"/>
                </a:cxn>
                <a:cxn ang="0">
                  <a:pos x="5" y="41"/>
                </a:cxn>
              </a:cxnLst>
              <a:rect l="0" t="0" r="r" b="b"/>
              <a:pathLst>
                <a:path w="161" h="113">
                  <a:moveTo>
                    <a:pt x="5" y="41"/>
                  </a:moveTo>
                  <a:lnTo>
                    <a:pt x="0" y="47"/>
                  </a:lnTo>
                  <a:lnTo>
                    <a:pt x="0" y="69"/>
                  </a:lnTo>
                  <a:lnTo>
                    <a:pt x="7" y="90"/>
                  </a:lnTo>
                  <a:lnTo>
                    <a:pt x="14" y="113"/>
                  </a:lnTo>
                  <a:lnTo>
                    <a:pt x="33" y="112"/>
                  </a:lnTo>
                  <a:lnTo>
                    <a:pt x="54" y="100"/>
                  </a:lnTo>
                  <a:lnTo>
                    <a:pt x="69" y="95"/>
                  </a:lnTo>
                  <a:lnTo>
                    <a:pt x="86" y="89"/>
                  </a:lnTo>
                  <a:lnTo>
                    <a:pt x="98" y="84"/>
                  </a:lnTo>
                  <a:lnTo>
                    <a:pt x="110" y="78"/>
                  </a:lnTo>
                  <a:lnTo>
                    <a:pt x="122" y="72"/>
                  </a:lnTo>
                  <a:lnTo>
                    <a:pt x="134" y="67"/>
                  </a:lnTo>
                  <a:lnTo>
                    <a:pt x="146" y="61"/>
                  </a:lnTo>
                  <a:lnTo>
                    <a:pt x="147" y="54"/>
                  </a:lnTo>
                  <a:lnTo>
                    <a:pt x="161" y="42"/>
                  </a:lnTo>
                  <a:lnTo>
                    <a:pt x="150" y="25"/>
                  </a:lnTo>
                  <a:lnTo>
                    <a:pt x="139" y="7"/>
                  </a:lnTo>
                  <a:lnTo>
                    <a:pt x="141" y="0"/>
                  </a:lnTo>
                  <a:lnTo>
                    <a:pt x="128" y="3"/>
                  </a:lnTo>
                  <a:lnTo>
                    <a:pt x="116" y="6"/>
                  </a:lnTo>
                  <a:lnTo>
                    <a:pt x="103" y="10"/>
                  </a:lnTo>
                  <a:lnTo>
                    <a:pt x="91" y="13"/>
                  </a:lnTo>
                  <a:lnTo>
                    <a:pt x="83" y="25"/>
                  </a:lnTo>
                  <a:lnTo>
                    <a:pt x="74" y="36"/>
                  </a:lnTo>
                  <a:lnTo>
                    <a:pt x="65" y="48"/>
                  </a:lnTo>
                  <a:lnTo>
                    <a:pt x="56" y="60"/>
                  </a:lnTo>
                  <a:lnTo>
                    <a:pt x="55" y="42"/>
                  </a:lnTo>
                  <a:lnTo>
                    <a:pt x="41" y="35"/>
                  </a:lnTo>
                  <a:lnTo>
                    <a:pt x="25" y="29"/>
                  </a:lnTo>
                  <a:lnTo>
                    <a:pt x="8" y="27"/>
                  </a:lnTo>
                  <a:lnTo>
                    <a:pt x="5" y="4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5" name="Freeform 74"/>
            <p:cNvSpPr>
              <a:spLocks/>
            </p:cNvSpPr>
            <p:nvPr/>
          </p:nvSpPr>
          <p:spPr bwMode="auto">
            <a:xfrm>
              <a:off x="3933" y="2510"/>
              <a:ext cx="38" cy="77"/>
            </a:xfrm>
            <a:custGeom>
              <a:avLst/>
              <a:gdLst/>
              <a:ahLst/>
              <a:cxnLst>
                <a:cxn ang="0">
                  <a:pos x="9" y="2"/>
                </a:cxn>
                <a:cxn ang="0">
                  <a:pos x="15" y="12"/>
                </a:cxn>
                <a:cxn ang="0">
                  <a:pos x="22" y="22"/>
                </a:cxn>
                <a:cxn ang="0">
                  <a:pos x="29" y="37"/>
                </a:cxn>
                <a:cxn ang="0">
                  <a:pos x="35" y="50"/>
                </a:cxn>
                <a:cxn ang="0">
                  <a:pos x="27" y="64"/>
                </a:cxn>
                <a:cxn ang="0">
                  <a:pos x="11" y="69"/>
                </a:cxn>
                <a:cxn ang="0">
                  <a:pos x="3" y="45"/>
                </a:cxn>
                <a:cxn ang="0">
                  <a:pos x="0" y="28"/>
                </a:cxn>
                <a:cxn ang="0">
                  <a:pos x="1" y="30"/>
                </a:cxn>
                <a:cxn ang="0">
                  <a:pos x="4" y="18"/>
                </a:cxn>
                <a:cxn ang="0">
                  <a:pos x="6" y="4"/>
                </a:cxn>
                <a:cxn ang="0">
                  <a:pos x="6" y="3"/>
                </a:cxn>
                <a:cxn ang="0">
                  <a:pos x="3" y="0"/>
                </a:cxn>
                <a:cxn ang="0">
                  <a:pos x="9" y="2"/>
                </a:cxn>
              </a:cxnLst>
              <a:rect l="0" t="0" r="r" b="b"/>
              <a:pathLst>
                <a:path w="35" h="69">
                  <a:moveTo>
                    <a:pt x="9" y="2"/>
                  </a:moveTo>
                  <a:lnTo>
                    <a:pt x="15" y="12"/>
                  </a:lnTo>
                  <a:lnTo>
                    <a:pt x="22" y="22"/>
                  </a:lnTo>
                  <a:lnTo>
                    <a:pt x="29" y="37"/>
                  </a:lnTo>
                  <a:lnTo>
                    <a:pt x="35" y="50"/>
                  </a:lnTo>
                  <a:lnTo>
                    <a:pt x="27" y="64"/>
                  </a:lnTo>
                  <a:lnTo>
                    <a:pt x="11" y="69"/>
                  </a:lnTo>
                  <a:lnTo>
                    <a:pt x="3" y="45"/>
                  </a:lnTo>
                  <a:lnTo>
                    <a:pt x="0" y="28"/>
                  </a:lnTo>
                  <a:lnTo>
                    <a:pt x="1" y="30"/>
                  </a:lnTo>
                  <a:lnTo>
                    <a:pt x="4" y="18"/>
                  </a:lnTo>
                  <a:lnTo>
                    <a:pt x="6" y="4"/>
                  </a:lnTo>
                  <a:lnTo>
                    <a:pt x="6" y="3"/>
                  </a:lnTo>
                  <a:lnTo>
                    <a:pt x="3" y="0"/>
                  </a:lnTo>
                  <a:lnTo>
                    <a:pt x="9"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6" name="Freeform 75"/>
            <p:cNvSpPr>
              <a:spLocks/>
            </p:cNvSpPr>
            <p:nvPr/>
          </p:nvSpPr>
          <p:spPr bwMode="auto">
            <a:xfrm>
              <a:off x="3040" y="2727"/>
              <a:ext cx="36" cy="32"/>
            </a:xfrm>
            <a:custGeom>
              <a:avLst/>
              <a:gdLst/>
              <a:ahLst/>
              <a:cxnLst>
                <a:cxn ang="0">
                  <a:pos x="11" y="6"/>
                </a:cxn>
                <a:cxn ang="0">
                  <a:pos x="5" y="18"/>
                </a:cxn>
                <a:cxn ang="0">
                  <a:pos x="0" y="29"/>
                </a:cxn>
                <a:cxn ang="0">
                  <a:pos x="2" y="29"/>
                </a:cxn>
                <a:cxn ang="0">
                  <a:pos x="3" y="29"/>
                </a:cxn>
                <a:cxn ang="0">
                  <a:pos x="16" y="29"/>
                </a:cxn>
                <a:cxn ang="0">
                  <a:pos x="18" y="23"/>
                </a:cxn>
                <a:cxn ang="0">
                  <a:pos x="27" y="24"/>
                </a:cxn>
                <a:cxn ang="0">
                  <a:pos x="32" y="22"/>
                </a:cxn>
                <a:cxn ang="0">
                  <a:pos x="26" y="0"/>
                </a:cxn>
                <a:cxn ang="0">
                  <a:pos x="16" y="6"/>
                </a:cxn>
                <a:cxn ang="0">
                  <a:pos x="11" y="6"/>
                </a:cxn>
              </a:cxnLst>
              <a:rect l="0" t="0" r="r" b="b"/>
              <a:pathLst>
                <a:path w="32" h="29">
                  <a:moveTo>
                    <a:pt x="11" y="6"/>
                  </a:moveTo>
                  <a:lnTo>
                    <a:pt x="5" y="18"/>
                  </a:lnTo>
                  <a:lnTo>
                    <a:pt x="0" y="29"/>
                  </a:lnTo>
                  <a:lnTo>
                    <a:pt x="2" y="29"/>
                  </a:lnTo>
                  <a:lnTo>
                    <a:pt x="3" y="29"/>
                  </a:lnTo>
                  <a:lnTo>
                    <a:pt x="16" y="29"/>
                  </a:lnTo>
                  <a:lnTo>
                    <a:pt x="18" y="23"/>
                  </a:lnTo>
                  <a:lnTo>
                    <a:pt x="27" y="24"/>
                  </a:lnTo>
                  <a:lnTo>
                    <a:pt x="32" y="22"/>
                  </a:lnTo>
                  <a:lnTo>
                    <a:pt x="26" y="0"/>
                  </a:lnTo>
                  <a:lnTo>
                    <a:pt x="16" y="6"/>
                  </a:lnTo>
                  <a:lnTo>
                    <a:pt x="1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7" name="Freeform 76"/>
            <p:cNvSpPr>
              <a:spLocks/>
            </p:cNvSpPr>
            <p:nvPr/>
          </p:nvSpPr>
          <p:spPr bwMode="auto">
            <a:xfrm>
              <a:off x="3827" y="2667"/>
              <a:ext cx="2" cy="3"/>
            </a:xfrm>
            <a:custGeom>
              <a:avLst/>
              <a:gdLst/>
              <a:ahLst/>
              <a:cxnLst>
                <a:cxn ang="0">
                  <a:pos x="2" y="1"/>
                </a:cxn>
                <a:cxn ang="0">
                  <a:pos x="0" y="1"/>
                </a:cxn>
                <a:cxn ang="0">
                  <a:pos x="2" y="0"/>
                </a:cxn>
                <a:cxn ang="0">
                  <a:pos x="2" y="1"/>
                </a:cxn>
              </a:cxnLst>
              <a:rect l="0" t="0" r="r" b="b"/>
              <a:pathLst>
                <a:path w="2" h="1">
                  <a:moveTo>
                    <a:pt x="2" y="1"/>
                  </a:moveTo>
                  <a:lnTo>
                    <a:pt x="0" y="1"/>
                  </a:lnTo>
                  <a:lnTo>
                    <a:pt x="2" y="0"/>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8" name="Freeform 77"/>
            <p:cNvSpPr>
              <a:spLocks/>
            </p:cNvSpPr>
            <p:nvPr/>
          </p:nvSpPr>
          <p:spPr bwMode="auto">
            <a:xfrm>
              <a:off x="3833" y="2712"/>
              <a:ext cx="2" cy="2"/>
            </a:xfrm>
            <a:custGeom>
              <a:avLst/>
              <a:gdLst/>
              <a:ahLst/>
              <a:cxnLst>
                <a:cxn ang="0">
                  <a:pos x="0" y="0"/>
                </a:cxn>
                <a:cxn ang="0">
                  <a:pos x="1" y="1"/>
                </a:cxn>
                <a:cxn ang="0">
                  <a:pos x="0" y="2"/>
                </a:cxn>
                <a:cxn ang="0">
                  <a:pos x="0" y="0"/>
                </a:cxn>
              </a:cxnLst>
              <a:rect l="0" t="0" r="r" b="b"/>
              <a:pathLst>
                <a:path w="1" h="2">
                  <a:moveTo>
                    <a:pt x="0" y="0"/>
                  </a:moveTo>
                  <a:lnTo>
                    <a:pt x="1" y="1"/>
                  </a:lnTo>
                  <a:lnTo>
                    <a:pt x="0" y="2"/>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9" name="Freeform 78"/>
            <p:cNvSpPr>
              <a:spLocks/>
            </p:cNvSpPr>
            <p:nvPr/>
          </p:nvSpPr>
          <p:spPr bwMode="auto">
            <a:xfrm>
              <a:off x="3829" y="2703"/>
              <a:ext cx="2" cy="2"/>
            </a:xfrm>
            <a:custGeom>
              <a:avLst/>
              <a:gdLst/>
              <a:ahLst/>
              <a:cxnLst>
                <a:cxn ang="0">
                  <a:pos x="1" y="0"/>
                </a:cxn>
                <a:cxn ang="0">
                  <a:pos x="1" y="1"/>
                </a:cxn>
                <a:cxn ang="0">
                  <a:pos x="0" y="0"/>
                </a:cxn>
                <a:cxn ang="0">
                  <a:pos x="1" y="0"/>
                </a:cxn>
              </a:cxnLst>
              <a:rect l="0" t="0" r="r" b="b"/>
              <a:pathLst>
                <a:path w="1" h="1">
                  <a:moveTo>
                    <a:pt x="1" y="0"/>
                  </a:moveTo>
                  <a:lnTo>
                    <a:pt x="1"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0" name="Freeform 79"/>
            <p:cNvSpPr>
              <a:spLocks/>
            </p:cNvSpPr>
            <p:nvPr/>
          </p:nvSpPr>
          <p:spPr bwMode="auto">
            <a:xfrm>
              <a:off x="3822" y="2719"/>
              <a:ext cx="2" cy="2"/>
            </a:xfrm>
            <a:custGeom>
              <a:avLst/>
              <a:gdLst/>
              <a:ahLst/>
              <a:cxnLst>
                <a:cxn ang="0">
                  <a:pos x="1" y="0"/>
                </a:cxn>
                <a:cxn ang="0">
                  <a:pos x="0" y="1"/>
                </a:cxn>
                <a:cxn ang="0">
                  <a:pos x="0" y="0"/>
                </a:cxn>
                <a:cxn ang="0">
                  <a:pos x="1" y="0"/>
                </a:cxn>
              </a:cxnLst>
              <a:rect l="0" t="0" r="r" b="b"/>
              <a:pathLst>
                <a:path w="1" h="1">
                  <a:moveTo>
                    <a:pt x="1" y="0"/>
                  </a:moveTo>
                  <a:lnTo>
                    <a:pt x="0"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1" name="Freeform 80"/>
            <p:cNvSpPr>
              <a:spLocks/>
            </p:cNvSpPr>
            <p:nvPr/>
          </p:nvSpPr>
          <p:spPr bwMode="auto">
            <a:xfrm>
              <a:off x="3822" y="2721"/>
              <a:ext cx="2" cy="2"/>
            </a:xfrm>
            <a:custGeom>
              <a:avLst/>
              <a:gdLst/>
              <a:ahLst/>
              <a:cxnLst>
                <a:cxn ang="0">
                  <a:pos x="1" y="2"/>
                </a:cxn>
                <a:cxn ang="0">
                  <a:pos x="1" y="0"/>
                </a:cxn>
                <a:cxn ang="0">
                  <a:pos x="0" y="2"/>
                </a:cxn>
                <a:cxn ang="0">
                  <a:pos x="1" y="2"/>
                </a:cxn>
              </a:cxnLst>
              <a:rect l="0" t="0" r="r" b="b"/>
              <a:pathLst>
                <a:path w="1" h="2">
                  <a:moveTo>
                    <a:pt x="1" y="2"/>
                  </a:moveTo>
                  <a:lnTo>
                    <a:pt x="1" y="0"/>
                  </a:lnTo>
                  <a:lnTo>
                    <a:pt x="0" y="2"/>
                  </a:lnTo>
                  <a:lnTo>
                    <a:pt x="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2" name="Freeform 81"/>
            <p:cNvSpPr>
              <a:spLocks/>
            </p:cNvSpPr>
            <p:nvPr/>
          </p:nvSpPr>
          <p:spPr bwMode="auto">
            <a:xfrm>
              <a:off x="3822" y="2592"/>
              <a:ext cx="2" cy="2"/>
            </a:xfrm>
            <a:custGeom>
              <a:avLst/>
              <a:gdLst/>
              <a:ahLst/>
              <a:cxnLst>
                <a:cxn ang="0">
                  <a:pos x="1" y="1"/>
                </a:cxn>
                <a:cxn ang="0">
                  <a:pos x="0" y="0"/>
                </a:cxn>
                <a:cxn ang="0">
                  <a:pos x="0" y="1"/>
                </a:cxn>
                <a:cxn ang="0">
                  <a:pos x="1" y="1"/>
                </a:cxn>
              </a:cxnLst>
              <a:rect l="0" t="0" r="r" b="b"/>
              <a:pathLst>
                <a:path w="1" h="1">
                  <a:moveTo>
                    <a:pt x="1" y="1"/>
                  </a:moveTo>
                  <a:lnTo>
                    <a:pt x="0" y="0"/>
                  </a:lnTo>
                  <a:lnTo>
                    <a:pt x="0" y="1"/>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3" name="Freeform 82"/>
            <p:cNvSpPr>
              <a:spLocks/>
            </p:cNvSpPr>
            <p:nvPr/>
          </p:nvSpPr>
          <p:spPr bwMode="auto">
            <a:xfrm>
              <a:off x="3827" y="2719"/>
              <a:ext cx="2" cy="2"/>
            </a:xfrm>
            <a:custGeom>
              <a:avLst/>
              <a:gdLst/>
              <a:ahLst/>
              <a:cxnLst>
                <a:cxn ang="0">
                  <a:pos x="0" y="1"/>
                </a:cxn>
                <a:cxn ang="0">
                  <a:pos x="0" y="0"/>
                </a:cxn>
                <a:cxn ang="0">
                  <a:pos x="0" y="1"/>
                </a:cxn>
              </a:cxnLst>
              <a:rect l="0" t="0" r="r" b="b"/>
              <a:pathLst>
                <a:path h="1">
                  <a:moveTo>
                    <a:pt x="0" y="1"/>
                  </a:moveTo>
                  <a:lnTo>
                    <a:pt x="0" y="0"/>
                  </a:lnTo>
                  <a:lnTo>
                    <a:pt x="0"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4" name="Freeform 83"/>
            <p:cNvSpPr>
              <a:spLocks/>
            </p:cNvSpPr>
            <p:nvPr/>
          </p:nvSpPr>
          <p:spPr bwMode="auto">
            <a:xfrm>
              <a:off x="3833" y="2663"/>
              <a:ext cx="2" cy="2"/>
            </a:xfrm>
            <a:custGeom>
              <a:avLst/>
              <a:gdLst/>
              <a:ahLst/>
              <a:cxnLst>
                <a:cxn ang="0">
                  <a:pos x="1" y="0"/>
                </a:cxn>
                <a:cxn ang="0">
                  <a:pos x="0" y="0"/>
                </a:cxn>
                <a:cxn ang="0">
                  <a:pos x="0" y="1"/>
                </a:cxn>
                <a:cxn ang="0">
                  <a:pos x="1" y="0"/>
                </a:cxn>
              </a:cxnLst>
              <a:rect l="0" t="0" r="r" b="b"/>
              <a:pathLst>
                <a:path w="1" h="1">
                  <a:moveTo>
                    <a:pt x="1" y="0"/>
                  </a:moveTo>
                  <a:lnTo>
                    <a:pt x="0" y="0"/>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5" name="Freeform 84"/>
            <p:cNvSpPr>
              <a:spLocks/>
            </p:cNvSpPr>
            <p:nvPr/>
          </p:nvSpPr>
          <p:spPr bwMode="auto">
            <a:xfrm>
              <a:off x="3820" y="2565"/>
              <a:ext cx="2" cy="2"/>
            </a:xfrm>
            <a:custGeom>
              <a:avLst/>
              <a:gdLst/>
              <a:ahLst/>
              <a:cxnLst>
                <a:cxn ang="0">
                  <a:pos x="1" y="0"/>
                </a:cxn>
                <a:cxn ang="0">
                  <a:pos x="0" y="0"/>
                </a:cxn>
                <a:cxn ang="0">
                  <a:pos x="0" y="2"/>
                </a:cxn>
                <a:cxn ang="0">
                  <a:pos x="1" y="0"/>
                </a:cxn>
              </a:cxnLst>
              <a:rect l="0" t="0" r="r" b="b"/>
              <a:pathLst>
                <a:path w="1" h="2">
                  <a:moveTo>
                    <a:pt x="1" y="0"/>
                  </a:moveTo>
                  <a:lnTo>
                    <a:pt x="0" y="0"/>
                  </a:lnTo>
                  <a:lnTo>
                    <a:pt x="0" y="2"/>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6" name="Freeform 85"/>
            <p:cNvSpPr>
              <a:spLocks/>
            </p:cNvSpPr>
            <p:nvPr/>
          </p:nvSpPr>
          <p:spPr bwMode="auto">
            <a:xfrm>
              <a:off x="3827" y="2670"/>
              <a:ext cx="2" cy="2"/>
            </a:xfrm>
            <a:custGeom>
              <a:avLst/>
              <a:gdLst/>
              <a:ahLst/>
              <a:cxnLst>
                <a:cxn ang="0">
                  <a:pos x="1" y="1"/>
                </a:cxn>
                <a:cxn ang="0">
                  <a:pos x="0" y="0"/>
                </a:cxn>
                <a:cxn ang="0">
                  <a:pos x="0" y="2"/>
                </a:cxn>
                <a:cxn ang="0">
                  <a:pos x="1" y="1"/>
                </a:cxn>
              </a:cxnLst>
              <a:rect l="0" t="0" r="r" b="b"/>
              <a:pathLst>
                <a:path w="1" h="2">
                  <a:moveTo>
                    <a:pt x="1" y="1"/>
                  </a:moveTo>
                  <a:lnTo>
                    <a:pt x="0" y="0"/>
                  </a:lnTo>
                  <a:lnTo>
                    <a:pt x="0" y="2"/>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7" name="Freeform 86"/>
            <p:cNvSpPr>
              <a:spLocks/>
            </p:cNvSpPr>
            <p:nvPr/>
          </p:nvSpPr>
          <p:spPr bwMode="auto">
            <a:xfrm>
              <a:off x="3829" y="2659"/>
              <a:ext cx="2" cy="2"/>
            </a:xfrm>
            <a:custGeom>
              <a:avLst/>
              <a:gdLst/>
              <a:ahLst/>
              <a:cxnLst>
                <a:cxn ang="0">
                  <a:pos x="1" y="0"/>
                </a:cxn>
                <a:cxn ang="0">
                  <a:pos x="0" y="0"/>
                </a:cxn>
                <a:cxn ang="0">
                  <a:pos x="0" y="1"/>
                </a:cxn>
                <a:cxn ang="0">
                  <a:pos x="1" y="0"/>
                </a:cxn>
              </a:cxnLst>
              <a:rect l="0" t="0" r="r" b="b"/>
              <a:pathLst>
                <a:path w="1" h="1">
                  <a:moveTo>
                    <a:pt x="1" y="0"/>
                  </a:moveTo>
                  <a:lnTo>
                    <a:pt x="0" y="0"/>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8" name="Freeform 87"/>
            <p:cNvSpPr>
              <a:spLocks/>
            </p:cNvSpPr>
            <p:nvPr/>
          </p:nvSpPr>
          <p:spPr bwMode="auto">
            <a:xfrm>
              <a:off x="3827" y="2592"/>
              <a:ext cx="2" cy="2"/>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9" name="Freeform 88"/>
            <p:cNvSpPr>
              <a:spLocks/>
            </p:cNvSpPr>
            <p:nvPr/>
          </p:nvSpPr>
          <p:spPr bwMode="auto">
            <a:xfrm>
              <a:off x="3818" y="2572"/>
              <a:ext cx="2" cy="2"/>
            </a:xfrm>
            <a:custGeom>
              <a:avLst/>
              <a:gdLst/>
              <a:ahLst/>
              <a:cxnLst>
                <a:cxn ang="0">
                  <a:pos x="2" y="0"/>
                </a:cxn>
                <a:cxn ang="0">
                  <a:pos x="1" y="0"/>
                </a:cxn>
                <a:cxn ang="0">
                  <a:pos x="0" y="0"/>
                </a:cxn>
                <a:cxn ang="0">
                  <a:pos x="2" y="0"/>
                </a:cxn>
              </a:cxnLst>
              <a:rect l="0" t="0" r="r" b="b"/>
              <a:pathLst>
                <a:path w="2">
                  <a:moveTo>
                    <a:pt x="2" y="0"/>
                  </a:moveTo>
                  <a:lnTo>
                    <a:pt x="1" y="0"/>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0" name="Freeform 89"/>
            <p:cNvSpPr>
              <a:spLocks/>
            </p:cNvSpPr>
            <p:nvPr/>
          </p:nvSpPr>
          <p:spPr bwMode="auto">
            <a:xfrm>
              <a:off x="3813" y="2650"/>
              <a:ext cx="2" cy="2"/>
            </a:xfrm>
            <a:custGeom>
              <a:avLst/>
              <a:gdLst/>
              <a:ahLst/>
              <a:cxnLst>
                <a:cxn ang="0">
                  <a:pos x="2" y="1"/>
                </a:cxn>
                <a:cxn ang="0">
                  <a:pos x="2" y="0"/>
                </a:cxn>
                <a:cxn ang="0">
                  <a:pos x="0" y="0"/>
                </a:cxn>
                <a:cxn ang="0">
                  <a:pos x="2" y="1"/>
                </a:cxn>
              </a:cxnLst>
              <a:rect l="0" t="0" r="r" b="b"/>
              <a:pathLst>
                <a:path w="2" h="1">
                  <a:moveTo>
                    <a:pt x="2" y="1"/>
                  </a:moveTo>
                  <a:lnTo>
                    <a:pt x="2" y="0"/>
                  </a:lnTo>
                  <a:lnTo>
                    <a:pt x="0" y="0"/>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1" name="Freeform 90"/>
            <p:cNvSpPr>
              <a:spLocks/>
            </p:cNvSpPr>
            <p:nvPr/>
          </p:nvSpPr>
          <p:spPr bwMode="auto">
            <a:xfrm>
              <a:off x="3815" y="2563"/>
              <a:ext cx="3" cy="2"/>
            </a:xfrm>
            <a:custGeom>
              <a:avLst/>
              <a:gdLst/>
              <a:ahLst/>
              <a:cxnLst>
                <a:cxn ang="0">
                  <a:pos x="1" y="1"/>
                </a:cxn>
                <a:cxn ang="0">
                  <a:pos x="1" y="0"/>
                </a:cxn>
                <a:cxn ang="0">
                  <a:pos x="0" y="0"/>
                </a:cxn>
                <a:cxn ang="0">
                  <a:pos x="1" y="1"/>
                </a:cxn>
              </a:cxnLst>
              <a:rect l="0" t="0" r="r" b="b"/>
              <a:pathLst>
                <a:path w="1" h="1">
                  <a:moveTo>
                    <a:pt x="1" y="1"/>
                  </a:moveTo>
                  <a:lnTo>
                    <a:pt x="1" y="0"/>
                  </a:ln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2" name="Freeform 91"/>
            <p:cNvSpPr>
              <a:spLocks/>
            </p:cNvSpPr>
            <p:nvPr/>
          </p:nvSpPr>
          <p:spPr bwMode="auto">
            <a:xfrm>
              <a:off x="3827" y="2645"/>
              <a:ext cx="2" cy="2"/>
            </a:xfrm>
            <a:custGeom>
              <a:avLst/>
              <a:gdLst/>
              <a:ahLst/>
              <a:cxnLst>
                <a:cxn ang="0">
                  <a:pos x="1" y="1"/>
                </a:cxn>
                <a:cxn ang="0">
                  <a:pos x="1" y="0"/>
                </a:cxn>
                <a:cxn ang="0">
                  <a:pos x="0" y="0"/>
                </a:cxn>
                <a:cxn ang="0">
                  <a:pos x="1" y="1"/>
                </a:cxn>
              </a:cxnLst>
              <a:rect l="0" t="0" r="r" b="b"/>
              <a:pathLst>
                <a:path w="1" h="1">
                  <a:moveTo>
                    <a:pt x="1" y="1"/>
                  </a:moveTo>
                  <a:lnTo>
                    <a:pt x="1" y="0"/>
                  </a:ln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3" name="Freeform 92"/>
            <p:cNvSpPr>
              <a:spLocks/>
            </p:cNvSpPr>
            <p:nvPr/>
          </p:nvSpPr>
          <p:spPr bwMode="auto">
            <a:xfrm>
              <a:off x="3829" y="2694"/>
              <a:ext cx="2" cy="2"/>
            </a:xfrm>
            <a:custGeom>
              <a:avLst/>
              <a:gdLst/>
              <a:ahLst/>
              <a:cxnLst>
                <a:cxn ang="0">
                  <a:pos x="1" y="0"/>
                </a:cxn>
                <a:cxn ang="0">
                  <a:pos x="1" y="1"/>
                </a:cxn>
                <a:cxn ang="0">
                  <a:pos x="0" y="1"/>
                </a:cxn>
                <a:cxn ang="0">
                  <a:pos x="1" y="0"/>
                </a:cxn>
              </a:cxnLst>
              <a:rect l="0" t="0" r="r" b="b"/>
              <a:pathLst>
                <a:path w="1" h="1">
                  <a:moveTo>
                    <a:pt x="1" y="0"/>
                  </a:moveTo>
                  <a:lnTo>
                    <a:pt x="1" y="1"/>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4" name="Freeform 93"/>
            <p:cNvSpPr>
              <a:spLocks/>
            </p:cNvSpPr>
            <p:nvPr/>
          </p:nvSpPr>
          <p:spPr bwMode="auto">
            <a:xfrm>
              <a:off x="3815" y="2567"/>
              <a:ext cx="3" cy="3"/>
            </a:xfrm>
            <a:custGeom>
              <a:avLst/>
              <a:gdLst/>
              <a:ahLst/>
              <a:cxnLst>
                <a:cxn ang="0">
                  <a:pos x="1" y="0"/>
                </a:cxn>
                <a:cxn ang="0">
                  <a:pos x="1" y="1"/>
                </a:cxn>
                <a:cxn ang="0">
                  <a:pos x="0" y="3"/>
                </a:cxn>
                <a:cxn ang="0">
                  <a:pos x="1" y="0"/>
                </a:cxn>
              </a:cxnLst>
              <a:rect l="0" t="0" r="r" b="b"/>
              <a:pathLst>
                <a:path w="1" h="3">
                  <a:moveTo>
                    <a:pt x="1" y="0"/>
                  </a:moveTo>
                  <a:lnTo>
                    <a:pt x="1" y="1"/>
                  </a:lnTo>
                  <a:lnTo>
                    <a:pt x="0" y="3"/>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5" name="Freeform 94"/>
            <p:cNvSpPr>
              <a:spLocks/>
            </p:cNvSpPr>
            <p:nvPr/>
          </p:nvSpPr>
          <p:spPr bwMode="auto">
            <a:xfrm>
              <a:off x="3827" y="2654"/>
              <a:ext cx="2" cy="2"/>
            </a:xfrm>
            <a:custGeom>
              <a:avLst/>
              <a:gdLst/>
              <a:ahLst/>
              <a:cxnLst>
                <a:cxn ang="0">
                  <a:pos x="2" y="0"/>
                </a:cxn>
                <a:cxn ang="0">
                  <a:pos x="2" y="2"/>
                </a:cxn>
                <a:cxn ang="0">
                  <a:pos x="0" y="0"/>
                </a:cxn>
                <a:cxn ang="0">
                  <a:pos x="2" y="0"/>
                </a:cxn>
              </a:cxnLst>
              <a:rect l="0" t="0" r="r" b="b"/>
              <a:pathLst>
                <a:path w="2" h="2">
                  <a:moveTo>
                    <a:pt x="2" y="0"/>
                  </a:moveTo>
                  <a:lnTo>
                    <a:pt x="2" y="2"/>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6" name="Freeform 95"/>
            <p:cNvSpPr>
              <a:spLocks/>
            </p:cNvSpPr>
            <p:nvPr/>
          </p:nvSpPr>
          <p:spPr bwMode="auto">
            <a:xfrm>
              <a:off x="3827" y="2614"/>
              <a:ext cx="2" cy="2"/>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7" name="Freeform 96"/>
            <p:cNvSpPr>
              <a:spLocks/>
            </p:cNvSpPr>
            <p:nvPr/>
          </p:nvSpPr>
          <p:spPr bwMode="auto">
            <a:xfrm>
              <a:off x="3342" y="2892"/>
              <a:ext cx="7" cy="2"/>
            </a:xfrm>
            <a:custGeom>
              <a:avLst/>
              <a:gdLst/>
              <a:ahLst/>
              <a:cxnLst>
                <a:cxn ang="0">
                  <a:pos x="6" y="0"/>
                </a:cxn>
                <a:cxn ang="0">
                  <a:pos x="4" y="0"/>
                </a:cxn>
                <a:cxn ang="0">
                  <a:pos x="0" y="1"/>
                </a:cxn>
                <a:cxn ang="0">
                  <a:pos x="6" y="0"/>
                </a:cxn>
              </a:cxnLst>
              <a:rect l="0" t="0" r="r" b="b"/>
              <a:pathLst>
                <a:path w="6" h="1">
                  <a:moveTo>
                    <a:pt x="6" y="0"/>
                  </a:moveTo>
                  <a:lnTo>
                    <a:pt x="4" y="0"/>
                  </a:lnTo>
                  <a:lnTo>
                    <a:pt x="0" y="1"/>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8" name="Freeform 97"/>
            <p:cNvSpPr>
              <a:spLocks/>
            </p:cNvSpPr>
            <p:nvPr/>
          </p:nvSpPr>
          <p:spPr bwMode="auto">
            <a:xfrm>
              <a:off x="3395" y="2183"/>
              <a:ext cx="3" cy="4"/>
            </a:xfrm>
            <a:custGeom>
              <a:avLst/>
              <a:gdLst/>
              <a:ahLst/>
              <a:cxnLst>
                <a:cxn ang="0">
                  <a:pos x="0" y="0"/>
                </a:cxn>
                <a:cxn ang="0">
                  <a:pos x="0" y="3"/>
                </a:cxn>
                <a:cxn ang="0">
                  <a:pos x="1" y="1"/>
                </a:cxn>
                <a:cxn ang="0">
                  <a:pos x="0" y="0"/>
                </a:cxn>
              </a:cxnLst>
              <a:rect l="0" t="0" r="r" b="b"/>
              <a:pathLst>
                <a:path w="1" h="3">
                  <a:moveTo>
                    <a:pt x="0" y="0"/>
                  </a:moveTo>
                  <a:lnTo>
                    <a:pt x="0" y="3"/>
                  </a:lnTo>
                  <a:lnTo>
                    <a:pt x="1"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9" name="Freeform 98"/>
            <p:cNvSpPr>
              <a:spLocks/>
            </p:cNvSpPr>
            <p:nvPr/>
          </p:nvSpPr>
          <p:spPr bwMode="auto">
            <a:xfrm>
              <a:off x="2769" y="2236"/>
              <a:ext cx="180" cy="318"/>
            </a:xfrm>
            <a:custGeom>
              <a:avLst/>
              <a:gdLst/>
              <a:ahLst/>
              <a:cxnLst>
                <a:cxn ang="0">
                  <a:pos x="160" y="72"/>
                </a:cxn>
                <a:cxn ang="0">
                  <a:pos x="145" y="63"/>
                </a:cxn>
                <a:cxn ang="0">
                  <a:pos x="129" y="54"/>
                </a:cxn>
                <a:cxn ang="0">
                  <a:pos x="112" y="45"/>
                </a:cxn>
                <a:cxn ang="0">
                  <a:pos x="97" y="36"/>
                </a:cxn>
                <a:cxn ang="0">
                  <a:pos x="81" y="27"/>
                </a:cxn>
                <a:cxn ang="0">
                  <a:pos x="66" y="18"/>
                </a:cxn>
                <a:cxn ang="0">
                  <a:pos x="50" y="9"/>
                </a:cxn>
                <a:cxn ang="0">
                  <a:pos x="34" y="0"/>
                </a:cxn>
                <a:cxn ang="0">
                  <a:pos x="19" y="9"/>
                </a:cxn>
                <a:cxn ang="0">
                  <a:pos x="20" y="22"/>
                </a:cxn>
                <a:cxn ang="0">
                  <a:pos x="22" y="36"/>
                </a:cxn>
                <a:cxn ang="0">
                  <a:pos x="36" y="56"/>
                </a:cxn>
                <a:cxn ang="0">
                  <a:pos x="32" y="64"/>
                </a:cxn>
                <a:cxn ang="0">
                  <a:pos x="31" y="78"/>
                </a:cxn>
                <a:cxn ang="0">
                  <a:pos x="30" y="91"/>
                </a:cxn>
                <a:cxn ang="0">
                  <a:pos x="30" y="105"/>
                </a:cxn>
                <a:cxn ang="0">
                  <a:pos x="28" y="118"/>
                </a:cxn>
                <a:cxn ang="0">
                  <a:pos x="21" y="129"/>
                </a:cxn>
                <a:cxn ang="0">
                  <a:pos x="14" y="140"/>
                </a:cxn>
                <a:cxn ang="0">
                  <a:pos x="7" y="151"/>
                </a:cxn>
                <a:cxn ang="0">
                  <a:pos x="0" y="162"/>
                </a:cxn>
                <a:cxn ang="0">
                  <a:pos x="1" y="176"/>
                </a:cxn>
                <a:cxn ang="0">
                  <a:pos x="8" y="187"/>
                </a:cxn>
                <a:cxn ang="0">
                  <a:pos x="14" y="187"/>
                </a:cxn>
                <a:cxn ang="0">
                  <a:pos x="21" y="205"/>
                </a:cxn>
                <a:cxn ang="0">
                  <a:pos x="24" y="225"/>
                </a:cxn>
                <a:cxn ang="0">
                  <a:pos x="34" y="243"/>
                </a:cxn>
                <a:cxn ang="0">
                  <a:pos x="15" y="243"/>
                </a:cxn>
                <a:cxn ang="0">
                  <a:pos x="8" y="247"/>
                </a:cxn>
                <a:cxn ang="0">
                  <a:pos x="21" y="264"/>
                </a:cxn>
                <a:cxn ang="0">
                  <a:pos x="31" y="286"/>
                </a:cxn>
                <a:cxn ang="0">
                  <a:pos x="46" y="282"/>
                </a:cxn>
                <a:cxn ang="0">
                  <a:pos x="49" y="284"/>
                </a:cxn>
                <a:cxn ang="0">
                  <a:pos x="58" y="283"/>
                </a:cxn>
                <a:cxn ang="0">
                  <a:pos x="80" y="278"/>
                </a:cxn>
                <a:cxn ang="0">
                  <a:pos x="87" y="268"/>
                </a:cxn>
                <a:cxn ang="0">
                  <a:pos x="85" y="264"/>
                </a:cxn>
                <a:cxn ang="0">
                  <a:pos x="108" y="259"/>
                </a:cxn>
                <a:cxn ang="0">
                  <a:pos x="120" y="244"/>
                </a:cxn>
                <a:cxn ang="0">
                  <a:pos x="132" y="230"/>
                </a:cxn>
                <a:cxn ang="0">
                  <a:pos x="147" y="226"/>
                </a:cxn>
                <a:cxn ang="0">
                  <a:pos x="146" y="216"/>
                </a:cxn>
                <a:cxn ang="0">
                  <a:pos x="142" y="206"/>
                </a:cxn>
                <a:cxn ang="0">
                  <a:pos x="136" y="193"/>
                </a:cxn>
                <a:cxn ang="0">
                  <a:pos x="130" y="192"/>
                </a:cxn>
                <a:cxn ang="0">
                  <a:pos x="135" y="178"/>
                </a:cxn>
                <a:cxn ang="0">
                  <a:pos x="138" y="170"/>
                </a:cxn>
                <a:cxn ang="0">
                  <a:pos x="139" y="165"/>
                </a:cxn>
                <a:cxn ang="0">
                  <a:pos x="139" y="159"/>
                </a:cxn>
                <a:cxn ang="0">
                  <a:pos x="147" y="145"/>
                </a:cxn>
                <a:cxn ang="0">
                  <a:pos x="152" y="140"/>
                </a:cxn>
                <a:cxn ang="0">
                  <a:pos x="163" y="140"/>
                </a:cxn>
                <a:cxn ang="0">
                  <a:pos x="162" y="123"/>
                </a:cxn>
                <a:cxn ang="0">
                  <a:pos x="162" y="106"/>
                </a:cxn>
                <a:cxn ang="0">
                  <a:pos x="160" y="88"/>
                </a:cxn>
                <a:cxn ang="0">
                  <a:pos x="160" y="72"/>
                </a:cxn>
              </a:cxnLst>
              <a:rect l="0" t="0" r="r" b="b"/>
              <a:pathLst>
                <a:path w="163" h="286">
                  <a:moveTo>
                    <a:pt x="160" y="72"/>
                  </a:moveTo>
                  <a:lnTo>
                    <a:pt x="145" y="63"/>
                  </a:lnTo>
                  <a:lnTo>
                    <a:pt x="129" y="54"/>
                  </a:lnTo>
                  <a:lnTo>
                    <a:pt x="112" y="45"/>
                  </a:lnTo>
                  <a:lnTo>
                    <a:pt x="97" y="36"/>
                  </a:lnTo>
                  <a:lnTo>
                    <a:pt x="81" y="27"/>
                  </a:lnTo>
                  <a:lnTo>
                    <a:pt x="66" y="18"/>
                  </a:lnTo>
                  <a:lnTo>
                    <a:pt x="50" y="9"/>
                  </a:lnTo>
                  <a:lnTo>
                    <a:pt x="34" y="0"/>
                  </a:lnTo>
                  <a:lnTo>
                    <a:pt x="19" y="9"/>
                  </a:lnTo>
                  <a:lnTo>
                    <a:pt x="20" y="22"/>
                  </a:lnTo>
                  <a:lnTo>
                    <a:pt x="22" y="36"/>
                  </a:lnTo>
                  <a:lnTo>
                    <a:pt x="36" y="56"/>
                  </a:lnTo>
                  <a:lnTo>
                    <a:pt x="32" y="64"/>
                  </a:lnTo>
                  <a:lnTo>
                    <a:pt x="31" y="78"/>
                  </a:lnTo>
                  <a:lnTo>
                    <a:pt x="30" y="91"/>
                  </a:lnTo>
                  <a:lnTo>
                    <a:pt x="30" y="105"/>
                  </a:lnTo>
                  <a:lnTo>
                    <a:pt x="28" y="118"/>
                  </a:lnTo>
                  <a:lnTo>
                    <a:pt x="21" y="129"/>
                  </a:lnTo>
                  <a:lnTo>
                    <a:pt x="14" y="140"/>
                  </a:lnTo>
                  <a:lnTo>
                    <a:pt x="7" y="151"/>
                  </a:lnTo>
                  <a:lnTo>
                    <a:pt x="0" y="162"/>
                  </a:lnTo>
                  <a:lnTo>
                    <a:pt x="1" y="176"/>
                  </a:lnTo>
                  <a:lnTo>
                    <a:pt x="8" y="187"/>
                  </a:lnTo>
                  <a:lnTo>
                    <a:pt x="14" y="187"/>
                  </a:lnTo>
                  <a:lnTo>
                    <a:pt x="21" y="205"/>
                  </a:lnTo>
                  <a:lnTo>
                    <a:pt x="24" y="225"/>
                  </a:lnTo>
                  <a:lnTo>
                    <a:pt x="34" y="243"/>
                  </a:lnTo>
                  <a:lnTo>
                    <a:pt x="15" y="243"/>
                  </a:lnTo>
                  <a:lnTo>
                    <a:pt x="8" y="247"/>
                  </a:lnTo>
                  <a:lnTo>
                    <a:pt x="21" y="264"/>
                  </a:lnTo>
                  <a:lnTo>
                    <a:pt x="31" y="286"/>
                  </a:lnTo>
                  <a:lnTo>
                    <a:pt x="46" y="282"/>
                  </a:lnTo>
                  <a:lnTo>
                    <a:pt x="49" y="284"/>
                  </a:lnTo>
                  <a:lnTo>
                    <a:pt x="58" y="283"/>
                  </a:lnTo>
                  <a:lnTo>
                    <a:pt x="80" y="278"/>
                  </a:lnTo>
                  <a:lnTo>
                    <a:pt x="87" y="268"/>
                  </a:lnTo>
                  <a:lnTo>
                    <a:pt x="85" y="264"/>
                  </a:lnTo>
                  <a:lnTo>
                    <a:pt x="108" y="259"/>
                  </a:lnTo>
                  <a:lnTo>
                    <a:pt x="120" y="244"/>
                  </a:lnTo>
                  <a:lnTo>
                    <a:pt x="132" y="230"/>
                  </a:lnTo>
                  <a:lnTo>
                    <a:pt x="147" y="226"/>
                  </a:lnTo>
                  <a:lnTo>
                    <a:pt x="146" y="216"/>
                  </a:lnTo>
                  <a:lnTo>
                    <a:pt x="142" y="206"/>
                  </a:lnTo>
                  <a:lnTo>
                    <a:pt x="136" y="193"/>
                  </a:lnTo>
                  <a:lnTo>
                    <a:pt x="130" y="192"/>
                  </a:lnTo>
                  <a:lnTo>
                    <a:pt x="135" y="178"/>
                  </a:lnTo>
                  <a:lnTo>
                    <a:pt x="138" y="170"/>
                  </a:lnTo>
                  <a:lnTo>
                    <a:pt x="139" y="165"/>
                  </a:lnTo>
                  <a:lnTo>
                    <a:pt x="139" y="159"/>
                  </a:lnTo>
                  <a:lnTo>
                    <a:pt x="147" y="145"/>
                  </a:lnTo>
                  <a:lnTo>
                    <a:pt x="152" y="140"/>
                  </a:lnTo>
                  <a:lnTo>
                    <a:pt x="163" y="140"/>
                  </a:lnTo>
                  <a:lnTo>
                    <a:pt x="162" y="123"/>
                  </a:lnTo>
                  <a:lnTo>
                    <a:pt x="162" y="106"/>
                  </a:lnTo>
                  <a:lnTo>
                    <a:pt x="160" y="88"/>
                  </a:lnTo>
                  <a:lnTo>
                    <a:pt x="160" y="7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0" name="Freeform 99"/>
            <p:cNvSpPr>
              <a:spLocks/>
            </p:cNvSpPr>
            <p:nvPr/>
          </p:nvSpPr>
          <p:spPr bwMode="auto">
            <a:xfrm>
              <a:off x="3264" y="2454"/>
              <a:ext cx="25" cy="31"/>
            </a:xfrm>
            <a:custGeom>
              <a:avLst/>
              <a:gdLst/>
              <a:ahLst/>
              <a:cxnLst>
                <a:cxn ang="0">
                  <a:pos x="0" y="28"/>
                </a:cxn>
                <a:cxn ang="0">
                  <a:pos x="18" y="28"/>
                </a:cxn>
                <a:cxn ang="0">
                  <a:pos x="22" y="20"/>
                </a:cxn>
                <a:cxn ang="0">
                  <a:pos x="16" y="0"/>
                </a:cxn>
                <a:cxn ang="0">
                  <a:pos x="10" y="2"/>
                </a:cxn>
                <a:cxn ang="0">
                  <a:pos x="0" y="28"/>
                </a:cxn>
              </a:cxnLst>
              <a:rect l="0" t="0" r="r" b="b"/>
              <a:pathLst>
                <a:path w="22" h="28">
                  <a:moveTo>
                    <a:pt x="0" y="28"/>
                  </a:moveTo>
                  <a:lnTo>
                    <a:pt x="18" y="28"/>
                  </a:lnTo>
                  <a:lnTo>
                    <a:pt x="22" y="20"/>
                  </a:lnTo>
                  <a:lnTo>
                    <a:pt x="16" y="0"/>
                  </a:lnTo>
                  <a:lnTo>
                    <a:pt x="10" y="2"/>
                  </a:lnTo>
                  <a:lnTo>
                    <a:pt x="0"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1" name="Freeform 100"/>
            <p:cNvSpPr>
              <a:spLocks/>
            </p:cNvSpPr>
            <p:nvPr/>
          </p:nvSpPr>
          <p:spPr bwMode="auto">
            <a:xfrm>
              <a:off x="3167" y="2347"/>
              <a:ext cx="115" cy="114"/>
            </a:xfrm>
            <a:custGeom>
              <a:avLst/>
              <a:gdLst/>
              <a:ahLst/>
              <a:cxnLst>
                <a:cxn ang="0">
                  <a:pos x="0" y="78"/>
                </a:cxn>
                <a:cxn ang="0">
                  <a:pos x="2" y="65"/>
                </a:cxn>
                <a:cxn ang="0">
                  <a:pos x="4" y="40"/>
                </a:cxn>
                <a:cxn ang="0">
                  <a:pos x="10" y="17"/>
                </a:cxn>
                <a:cxn ang="0">
                  <a:pos x="20" y="10"/>
                </a:cxn>
                <a:cxn ang="0">
                  <a:pos x="29" y="3"/>
                </a:cxn>
                <a:cxn ang="0">
                  <a:pos x="32" y="0"/>
                </a:cxn>
                <a:cxn ang="0">
                  <a:pos x="36" y="12"/>
                </a:cxn>
                <a:cxn ang="0">
                  <a:pos x="41" y="25"/>
                </a:cxn>
                <a:cxn ang="0">
                  <a:pos x="46" y="39"/>
                </a:cxn>
                <a:cxn ang="0">
                  <a:pos x="52" y="52"/>
                </a:cxn>
                <a:cxn ang="0">
                  <a:pos x="52" y="47"/>
                </a:cxn>
                <a:cxn ang="0">
                  <a:pos x="57" y="49"/>
                </a:cxn>
                <a:cxn ang="0">
                  <a:pos x="70" y="59"/>
                </a:cxn>
                <a:cxn ang="0">
                  <a:pos x="87" y="76"/>
                </a:cxn>
                <a:cxn ang="0">
                  <a:pos x="104" y="93"/>
                </a:cxn>
                <a:cxn ang="0">
                  <a:pos x="105" y="96"/>
                </a:cxn>
                <a:cxn ang="0">
                  <a:pos x="104" y="97"/>
                </a:cxn>
                <a:cxn ang="0">
                  <a:pos x="98" y="99"/>
                </a:cxn>
                <a:cxn ang="0">
                  <a:pos x="90" y="102"/>
                </a:cxn>
                <a:cxn ang="0">
                  <a:pos x="89" y="99"/>
                </a:cxn>
                <a:cxn ang="0">
                  <a:pos x="75" y="94"/>
                </a:cxn>
                <a:cxn ang="0">
                  <a:pos x="65" y="83"/>
                </a:cxn>
                <a:cxn ang="0">
                  <a:pos x="60" y="77"/>
                </a:cxn>
                <a:cxn ang="0">
                  <a:pos x="51" y="72"/>
                </a:cxn>
                <a:cxn ang="0">
                  <a:pos x="42" y="70"/>
                </a:cxn>
                <a:cxn ang="0">
                  <a:pos x="33" y="71"/>
                </a:cxn>
                <a:cxn ang="0">
                  <a:pos x="24" y="63"/>
                </a:cxn>
                <a:cxn ang="0">
                  <a:pos x="22" y="77"/>
                </a:cxn>
                <a:cxn ang="0">
                  <a:pos x="15" y="71"/>
                </a:cxn>
                <a:cxn ang="0">
                  <a:pos x="8" y="79"/>
                </a:cxn>
                <a:cxn ang="0">
                  <a:pos x="0" y="78"/>
                </a:cxn>
              </a:cxnLst>
              <a:rect l="0" t="0" r="r" b="b"/>
              <a:pathLst>
                <a:path w="105" h="102">
                  <a:moveTo>
                    <a:pt x="0" y="78"/>
                  </a:moveTo>
                  <a:lnTo>
                    <a:pt x="2" y="65"/>
                  </a:lnTo>
                  <a:lnTo>
                    <a:pt x="4" y="40"/>
                  </a:lnTo>
                  <a:lnTo>
                    <a:pt x="10" y="17"/>
                  </a:lnTo>
                  <a:lnTo>
                    <a:pt x="20" y="10"/>
                  </a:lnTo>
                  <a:lnTo>
                    <a:pt x="29" y="3"/>
                  </a:lnTo>
                  <a:lnTo>
                    <a:pt x="32" y="0"/>
                  </a:lnTo>
                  <a:lnTo>
                    <a:pt x="36" y="12"/>
                  </a:lnTo>
                  <a:lnTo>
                    <a:pt x="41" y="25"/>
                  </a:lnTo>
                  <a:lnTo>
                    <a:pt x="46" y="39"/>
                  </a:lnTo>
                  <a:lnTo>
                    <a:pt x="52" y="52"/>
                  </a:lnTo>
                  <a:lnTo>
                    <a:pt x="52" y="47"/>
                  </a:lnTo>
                  <a:lnTo>
                    <a:pt x="57" y="49"/>
                  </a:lnTo>
                  <a:lnTo>
                    <a:pt x="70" y="59"/>
                  </a:lnTo>
                  <a:lnTo>
                    <a:pt x="87" y="76"/>
                  </a:lnTo>
                  <a:lnTo>
                    <a:pt x="104" y="93"/>
                  </a:lnTo>
                  <a:lnTo>
                    <a:pt x="105" y="96"/>
                  </a:lnTo>
                  <a:lnTo>
                    <a:pt x="104" y="97"/>
                  </a:lnTo>
                  <a:lnTo>
                    <a:pt x="98" y="99"/>
                  </a:lnTo>
                  <a:lnTo>
                    <a:pt x="90" y="102"/>
                  </a:lnTo>
                  <a:lnTo>
                    <a:pt x="89" y="99"/>
                  </a:lnTo>
                  <a:lnTo>
                    <a:pt x="75" y="94"/>
                  </a:lnTo>
                  <a:lnTo>
                    <a:pt x="65" y="83"/>
                  </a:lnTo>
                  <a:lnTo>
                    <a:pt x="60" y="77"/>
                  </a:lnTo>
                  <a:lnTo>
                    <a:pt x="51" y="72"/>
                  </a:lnTo>
                  <a:lnTo>
                    <a:pt x="42" y="70"/>
                  </a:lnTo>
                  <a:lnTo>
                    <a:pt x="33" y="71"/>
                  </a:lnTo>
                  <a:lnTo>
                    <a:pt x="24" y="63"/>
                  </a:lnTo>
                  <a:lnTo>
                    <a:pt x="22" y="77"/>
                  </a:lnTo>
                  <a:lnTo>
                    <a:pt x="15" y="71"/>
                  </a:lnTo>
                  <a:lnTo>
                    <a:pt x="8" y="79"/>
                  </a:lnTo>
                  <a:lnTo>
                    <a:pt x="0" y="7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2" name="Freeform 101"/>
            <p:cNvSpPr>
              <a:spLocks/>
            </p:cNvSpPr>
            <p:nvPr/>
          </p:nvSpPr>
          <p:spPr bwMode="auto">
            <a:xfrm>
              <a:off x="3111" y="2416"/>
              <a:ext cx="262" cy="220"/>
            </a:xfrm>
            <a:custGeom>
              <a:avLst/>
              <a:gdLst/>
              <a:ahLst/>
              <a:cxnLst>
                <a:cxn ang="0">
                  <a:pos x="80" y="193"/>
                </a:cxn>
                <a:cxn ang="0">
                  <a:pos x="61" y="180"/>
                </a:cxn>
                <a:cxn ang="0">
                  <a:pos x="48" y="177"/>
                </a:cxn>
                <a:cxn ang="0">
                  <a:pos x="43" y="163"/>
                </a:cxn>
                <a:cxn ang="0">
                  <a:pos x="34" y="159"/>
                </a:cxn>
                <a:cxn ang="0">
                  <a:pos x="28" y="147"/>
                </a:cxn>
                <a:cxn ang="0">
                  <a:pos x="22" y="135"/>
                </a:cxn>
                <a:cxn ang="0">
                  <a:pos x="6" y="121"/>
                </a:cxn>
                <a:cxn ang="0">
                  <a:pos x="0" y="116"/>
                </a:cxn>
                <a:cxn ang="0">
                  <a:pos x="6" y="109"/>
                </a:cxn>
                <a:cxn ang="0">
                  <a:pos x="18" y="106"/>
                </a:cxn>
                <a:cxn ang="0">
                  <a:pos x="19" y="86"/>
                </a:cxn>
                <a:cxn ang="0">
                  <a:pos x="22" y="67"/>
                </a:cxn>
                <a:cxn ang="0">
                  <a:pos x="30" y="64"/>
                </a:cxn>
                <a:cxn ang="0">
                  <a:pos x="34" y="45"/>
                </a:cxn>
                <a:cxn ang="0">
                  <a:pos x="50" y="15"/>
                </a:cxn>
                <a:cxn ang="0">
                  <a:pos x="58" y="16"/>
                </a:cxn>
                <a:cxn ang="0">
                  <a:pos x="65" y="8"/>
                </a:cxn>
                <a:cxn ang="0">
                  <a:pos x="72" y="14"/>
                </a:cxn>
                <a:cxn ang="0">
                  <a:pos x="74" y="0"/>
                </a:cxn>
                <a:cxn ang="0">
                  <a:pos x="83" y="8"/>
                </a:cxn>
                <a:cxn ang="0">
                  <a:pos x="92" y="7"/>
                </a:cxn>
                <a:cxn ang="0">
                  <a:pos x="101" y="9"/>
                </a:cxn>
                <a:cxn ang="0">
                  <a:pos x="110" y="14"/>
                </a:cxn>
                <a:cxn ang="0">
                  <a:pos x="115" y="20"/>
                </a:cxn>
                <a:cxn ang="0">
                  <a:pos x="125" y="31"/>
                </a:cxn>
                <a:cxn ang="0">
                  <a:pos x="139" y="36"/>
                </a:cxn>
                <a:cxn ang="0">
                  <a:pos x="140" y="39"/>
                </a:cxn>
                <a:cxn ang="0">
                  <a:pos x="148" y="36"/>
                </a:cxn>
                <a:cxn ang="0">
                  <a:pos x="138" y="62"/>
                </a:cxn>
                <a:cxn ang="0">
                  <a:pos x="156" y="62"/>
                </a:cxn>
                <a:cxn ang="0">
                  <a:pos x="154" y="73"/>
                </a:cxn>
                <a:cxn ang="0">
                  <a:pos x="163" y="85"/>
                </a:cxn>
                <a:cxn ang="0">
                  <a:pos x="174" y="98"/>
                </a:cxn>
                <a:cxn ang="0">
                  <a:pos x="186" y="103"/>
                </a:cxn>
                <a:cxn ang="0">
                  <a:pos x="198" y="108"/>
                </a:cxn>
                <a:cxn ang="0">
                  <a:pos x="210" y="112"/>
                </a:cxn>
                <a:cxn ang="0">
                  <a:pos x="221" y="116"/>
                </a:cxn>
                <a:cxn ang="0">
                  <a:pos x="236" y="116"/>
                </a:cxn>
                <a:cxn ang="0">
                  <a:pos x="226" y="130"/>
                </a:cxn>
                <a:cxn ang="0">
                  <a:pos x="214" y="144"/>
                </a:cxn>
                <a:cxn ang="0">
                  <a:pos x="202" y="158"/>
                </a:cxn>
                <a:cxn ang="0">
                  <a:pos x="191" y="172"/>
                </a:cxn>
                <a:cxn ang="0">
                  <a:pos x="178" y="174"/>
                </a:cxn>
                <a:cxn ang="0">
                  <a:pos x="166" y="175"/>
                </a:cxn>
                <a:cxn ang="0">
                  <a:pos x="150" y="184"/>
                </a:cxn>
                <a:cxn ang="0">
                  <a:pos x="143" y="189"/>
                </a:cxn>
                <a:cxn ang="0">
                  <a:pos x="126" y="186"/>
                </a:cxn>
                <a:cxn ang="0">
                  <a:pos x="110" y="190"/>
                </a:cxn>
                <a:cxn ang="0">
                  <a:pos x="102" y="198"/>
                </a:cxn>
                <a:cxn ang="0">
                  <a:pos x="80" y="193"/>
                </a:cxn>
              </a:cxnLst>
              <a:rect l="0" t="0" r="r" b="b"/>
              <a:pathLst>
                <a:path w="236" h="198">
                  <a:moveTo>
                    <a:pt x="80" y="193"/>
                  </a:moveTo>
                  <a:lnTo>
                    <a:pt x="61" y="180"/>
                  </a:lnTo>
                  <a:lnTo>
                    <a:pt x="48" y="177"/>
                  </a:lnTo>
                  <a:lnTo>
                    <a:pt x="43" y="163"/>
                  </a:lnTo>
                  <a:lnTo>
                    <a:pt x="34" y="159"/>
                  </a:lnTo>
                  <a:lnTo>
                    <a:pt x="28" y="147"/>
                  </a:lnTo>
                  <a:lnTo>
                    <a:pt x="22" y="135"/>
                  </a:lnTo>
                  <a:lnTo>
                    <a:pt x="6" y="121"/>
                  </a:lnTo>
                  <a:lnTo>
                    <a:pt x="0" y="116"/>
                  </a:lnTo>
                  <a:lnTo>
                    <a:pt x="6" y="109"/>
                  </a:lnTo>
                  <a:lnTo>
                    <a:pt x="18" y="106"/>
                  </a:lnTo>
                  <a:lnTo>
                    <a:pt x="19" y="86"/>
                  </a:lnTo>
                  <a:lnTo>
                    <a:pt x="22" y="67"/>
                  </a:lnTo>
                  <a:lnTo>
                    <a:pt x="30" y="64"/>
                  </a:lnTo>
                  <a:lnTo>
                    <a:pt x="34" y="45"/>
                  </a:lnTo>
                  <a:lnTo>
                    <a:pt x="50" y="15"/>
                  </a:lnTo>
                  <a:lnTo>
                    <a:pt x="58" y="16"/>
                  </a:lnTo>
                  <a:lnTo>
                    <a:pt x="65" y="8"/>
                  </a:lnTo>
                  <a:lnTo>
                    <a:pt x="72" y="14"/>
                  </a:lnTo>
                  <a:lnTo>
                    <a:pt x="74" y="0"/>
                  </a:lnTo>
                  <a:lnTo>
                    <a:pt x="83" y="8"/>
                  </a:lnTo>
                  <a:lnTo>
                    <a:pt x="92" y="7"/>
                  </a:lnTo>
                  <a:lnTo>
                    <a:pt x="101" y="9"/>
                  </a:lnTo>
                  <a:lnTo>
                    <a:pt x="110" y="14"/>
                  </a:lnTo>
                  <a:lnTo>
                    <a:pt x="115" y="20"/>
                  </a:lnTo>
                  <a:lnTo>
                    <a:pt x="125" y="31"/>
                  </a:lnTo>
                  <a:lnTo>
                    <a:pt x="139" y="36"/>
                  </a:lnTo>
                  <a:lnTo>
                    <a:pt x="140" y="39"/>
                  </a:lnTo>
                  <a:lnTo>
                    <a:pt x="148" y="36"/>
                  </a:lnTo>
                  <a:lnTo>
                    <a:pt x="138" y="62"/>
                  </a:lnTo>
                  <a:lnTo>
                    <a:pt x="156" y="62"/>
                  </a:lnTo>
                  <a:lnTo>
                    <a:pt x="154" y="73"/>
                  </a:lnTo>
                  <a:lnTo>
                    <a:pt x="163" y="85"/>
                  </a:lnTo>
                  <a:lnTo>
                    <a:pt x="174" y="98"/>
                  </a:lnTo>
                  <a:lnTo>
                    <a:pt x="186" y="103"/>
                  </a:lnTo>
                  <a:lnTo>
                    <a:pt x="198" y="108"/>
                  </a:lnTo>
                  <a:lnTo>
                    <a:pt x="210" y="112"/>
                  </a:lnTo>
                  <a:lnTo>
                    <a:pt x="221" y="116"/>
                  </a:lnTo>
                  <a:lnTo>
                    <a:pt x="236" y="116"/>
                  </a:lnTo>
                  <a:lnTo>
                    <a:pt x="226" y="130"/>
                  </a:lnTo>
                  <a:lnTo>
                    <a:pt x="214" y="144"/>
                  </a:lnTo>
                  <a:lnTo>
                    <a:pt x="202" y="158"/>
                  </a:lnTo>
                  <a:lnTo>
                    <a:pt x="191" y="172"/>
                  </a:lnTo>
                  <a:lnTo>
                    <a:pt x="178" y="174"/>
                  </a:lnTo>
                  <a:lnTo>
                    <a:pt x="166" y="175"/>
                  </a:lnTo>
                  <a:lnTo>
                    <a:pt x="150" y="184"/>
                  </a:lnTo>
                  <a:lnTo>
                    <a:pt x="143" y="189"/>
                  </a:lnTo>
                  <a:lnTo>
                    <a:pt x="126" y="186"/>
                  </a:lnTo>
                  <a:lnTo>
                    <a:pt x="110" y="190"/>
                  </a:lnTo>
                  <a:lnTo>
                    <a:pt x="102" y="198"/>
                  </a:lnTo>
                  <a:lnTo>
                    <a:pt x="80" y="1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3" name="Freeform 102"/>
            <p:cNvSpPr>
              <a:spLocks/>
            </p:cNvSpPr>
            <p:nvPr/>
          </p:nvSpPr>
          <p:spPr bwMode="auto">
            <a:xfrm>
              <a:off x="3253" y="2467"/>
              <a:ext cx="176" cy="272"/>
            </a:xfrm>
            <a:custGeom>
              <a:avLst/>
              <a:gdLst/>
              <a:ahLst/>
              <a:cxnLst>
                <a:cxn ang="0">
                  <a:pos x="154" y="34"/>
                </a:cxn>
                <a:cxn ang="0">
                  <a:pos x="149" y="54"/>
                </a:cxn>
                <a:cxn ang="0">
                  <a:pos x="138" y="76"/>
                </a:cxn>
                <a:cxn ang="0">
                  <a:pos x="128" y="96"/>
                </a:cxn>
                <a:cxn ang="0">
                  <a:pos x="117" y="118"/>
                </a:cxn>
                <a:cxn ang="0">
                  <a:pos x="106" y="139"/>
                </a:cxn>
                <a:cxn ang="0">
                  <a:pos x="96" y="150"/>
                </a:cxn>
                <a:cxn ang="0">
                  <a:pos x="87" y="160"/>
                </a:cxn>
                <a:cxn ang="0">
                  <a:pos x="77" y="169"/>
                </a:cxn>
                <a:cxn ang="0">
                  <a:pos x="69" y="179"/>
                </a:cxn>
                <a:cxn ang="0">
                  <a:pos x="57" y="190"/>
                </a:cxn>
                <a:cxn ang="0">
                  <a:pos x="46" y="201"/>
                </a:cxn>
                <a:cxn ang="0">
                  <a:pos x="35" y="211"/>
                </a:cxn>
                <a:cxn ang="0">
                  <a:pos x="24" y="222"/>
                </a:cxn>
                <a:cxn ang="0">
                  <a:pos x="16" y="234"/>
                </a:cxn>
                <a:cxn ang="0">
                  <a:pos x="9" y="245"/>
                </a:cxn>
                <a:cxn ang="0">
                  <a:pos x="0" y="231"/>
                </a:cxn>
                <a:cxn ang="0">
                  <a:pos x="0" y="214"/>
                </a:cxn>
                <a:cxn ang="0">
                  <a:pos x="0" y="197"/>
                </a:cxn>
                <a:cxn ang="0">
                  <a:pos x="0" y="180"/>
                </a:cxn>
                <a:cxn ang="0">
                  <a:pos x="0" y="165"/>
                </a:cxn>
                <a:cxn ang="0">
                  <a:pos x="8" y="154"/>
                </a:cxn>
                <a:cxn ang="0">
                  <a:pos x="15" y="144"/>
                </a:cxn>
                <a:cxn ang="0">
                  <a:pos x="22" y="139"/>
                </a:cxn>
                <a:cxn ang="0">
                  <a:pos x="38" y="130"/>
                </a:cxn>
                <a:cxn ang="0">
                  <a:pos x="50" y="129"/>
                </a:cxn>
                <a:cxn ang="0">
                  <a:pos x="63" y="127"/>
                </a:cxn>
                <a:cxn ang="0">
                  <a:pos x="74" y="113"/>
                </a:cxn>
                <a:cxn ang="0">
                  <a:pos x="86" y="99"/>
                </a:cxn>
                <a:cxn ang="0">
                  <a:pos x="98" y="85"/>
                </a:cxn>
                <a:cxn ang="0">
                  <a:pos x="108" y="71"/>
                </a:cxn>
                <a:cxn ang="0">
                  <a:pos x="93" y="71"/>
                </a:cxn>
                <a:cxn ang="0">
                  <a:pos x="82" y="67"/>
                </a:cxn>
                <a:cxn ang="0">
                  <a:pos x="70" y="63"/>
                </a:cxn>
                <a:cxn ang="0">
                  <a:pos x="58" y="58"/>
                </a:cxn>
                <a:cxn ang="0">
                  <a:pos x="46" y="53"/>
                </a:cxn>
                <a:cxn ang="0">
                  <a:pos x="35" y="40"/>
                </a:cxn>
                <a:cxn ang="0">
                  <a:pos x="26" y="28"/>
                </a:cxn>
                <a:cxn ang="0">
                  <a:pos x="28" y="17"/>
                </a:cxn>
                <a:cxn ang="0">
                  <a:pos x="32" y="9"/>
                </a:cxn>
                <a:cxn ang="0">
                  <a:pos x="42" y="18"/>
                </a:cxn>
                <a:cxn ang="0">
                  <a:pos x="52" y="28"/>
                </a:cxn>
                <a:cxn ang="0">
                  <a:pos x="71" y="21"/>
                </a:cxn>
                <a:cxn ang="0">
                  <a:pos x="87" y="22"/>
                </a:cxn>
                <a:cxn ang="0">
                  <a:pos x="101" y="15"/>
                </a:cxn>
                <a:cxn ang="0">
                  <a:pos x="123" y="10"/>
                </a:cxn>
                <a:cxn ang="0">
                  <a:pos x="146" y="5"/>
                </a:cxn>
                <a:cxn ang="0">
                  <a:pos x="153" y="0"/>
                </a:cxn>
                <a:cxn ang="0">
                  <a:pos x="158" y="5"/>
                </a:cxn>
                <a:cxn ang="0">
                  <a:pos x="156" y="28"/>
                </a:cxn>
                <a:cxn ang="0">
                  <a:pos x="159" y="28"/>
                </a:cxn>
                <a:cxn ang="0">
                  <a:pos x="154" y="34"/>
                </a:cxn>
              </a:cxnLst>
              <a:rect l="0" t="0" r="r" b="b"/>
              <a:pathLst>
                <a:path w="159" h="245">
                  <a:moveTo>
                    <a:pt x="154" y="34"/>
                  </a:moveTo>
                  <a:lnTo>
                    <a:pt x="149" y="54"/>
                  </a:lnTo>
                  <a:lnTo>
                    <a:pt x="138" y="76"/>
                  </a:lnTo>
                  <a:lnTo>
                    <a:pt x="128" y="96"/>
                  </a:lnTo>
                  <a:lnTo>
                    <a:pt x="117" y="118"/>
                  </a:lnTo>
                  <a:lnTo>
                    <a:pt x="106" y="139"/>
                  </a:lnTo>
                  <a:lnTo>
                    <a:pt x="96" y="150"/>
                  </a:lnTo>
                  <a:lnTo>
                    <a:pt x="87" y="160"/>
                  </a:lnTo>
                  <a:lnTo>
                    <a:pt x="77" y="169"/>
                  </a:lnTo>
                  <a:lnTo>
                    <a:pt x="69" y="179"/>
                  </a:lnTo>
                  <a:lnTo>
                    <a:pt x="57" y="190"/>
                  </a:lnTo>
                  <a:lnTo>
                    <a:pt x="46" y="201"/>
                  </a:lnTo>
                  <a:lnTo>
                    <a:pt x="35" y="211"/>
                  </a:lnTo>
                  <a:lnTo>
                    <a:pt x="24" y="222"/>
                  </a:lnTo>
                  <a:lnTo>
                    <a:pt x="16" y="234"/>
                  </a:lnTo>
                  <a:lnTo>
                    <a:pt x="9" y="245"/>
                  </a:lnTo>
                  <a:lnTo>
                    <a:pt x="0" y="231"/>
                  </a:lnTo>
                  <a:lnTo>
                    <a:pt x="0" y="214"/>
                  </a:lnTo>
                  <a:lnTo>
                    <a:pt x="0" y="197"/>
                  </a:lnTo>
                  <a:lnTo>
                    <a:pt x="0" y="180"/>
                  </a:lnTo>
                  <a:lnTo>
                    <a:pt x="0" y="165"/>
                  </a:lnTo>
                  <a:lnTo>
                    <a:pt x="8" y="154"/>
                  </a:lnTo>
                  <a:lnTo>
                    <a:pt x="15" y="144"/>
                  </a:lnTo>
                  <a:lnTo>
                    <a:pt x="22" y="139"/>
                  </a:lnTo>
                  <a:lnTo>
                    <a:pt x="38" y="130"/>
                  </a:lnTo>
                  <a:lnTo>
                    <a:pt x="50" y="129"/>
                  </a:lnTo>
                  <a:lnTo>
                    <a:pt x="63" y="127"/>
                  </a:lnTo>
                  <a:lnTo>
                    <a:pt x="74" y="113"/>
                  </a:lnTo>
                  <a:lnTo>
                    <a:pt x="86" y="99"/>
                  </a:lnTo>
                  <a:lnTo>
                    <a:pt x="98" y="85"/>
                  </a:lnTo>
                  <a:lnTo>
                    <a:pt x="108" y="71"/>
                  </a:lnTo>
                  <a:lnTo>
                    <a:pt x="93" y="71"/>
                  </a:lnTo>
                  <a:lnTo>
                    <a:pt x="82" y="67"/>
                  </a:lnTo>
                  <a:lnTo>
                    <a:pt x="70" y="63"/>
                  </a:lnTo>
                  <a:lnTo>
                    <a:pt x="58" y="58"/>
                  </a:lnTo>
                  <a:lnTo>
                    <a:pt x="46" y="53"/>
                  </a:lnTo>
                  <a:lnTo>
                    <a:pt x="35" y="40"/>
                  </a:lnTo>
                  <a:lnTo>
                    <a:pt x="26" y="28"/>
                  </a:lnTo>
                  <a:lnTo>
                    <a:pt x="28" y="17"/>
                  </a:lnTo>
                  <a:lnTo>
                    <a:pt x="32" y="9"/>
                  </a:lnTo>
                  <a:lnTo>
                    <a:pt x="42" y="18"/>
                  </a:lnTo>
                  <a:lnTo>
                    <a:pt x="52" y="28"/>
                  </a:lnTo>
                  <a:lnTo>
                    <a:pt x="71" y="21"/>
                  </a:lnTo>
                  <a:lnTo>
                    <a:pt x="87" y="22"/>
                  </a:lnTo>
                  <a:lnTo>
                    <a:pt x="101" y="15"/>
                  </a:lnTo>
                  <a:lnTo>
                    <a:pt x="123" y="10"/>
                  </a:lnTo>
                  <a:lnTo>
                    <a:pt x="146" y="5"/>
                  </a:lnTo>
                  <a:lnTo>
                    <a:pt x="153" y="0"/>
                  </a:lnTo>
                  <a:lnTo>
                    <a:pt x="158" y="5"/>
                  </a:lnTo>
                  <a:lnTo>
                    <a:pt x="156" y="28"/>
                  </a:lnTo>
                  <a:lnTo>
                    <a:pt x="159" y="28"/>
                  </a:lnTo>
                  <a:lnTo>
                    <a:pt x="154"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4" name="Freeform 103"/>
            <p:cNvSpPr>
              <a:spLocks/>
            </p:cNvSpPr>
            <p:nvPr/>
          </p:nvSpPr>
          <p:spPr bwMode="auto">
            <a:xfrm>
              <a:off x="2913" y="2243"/>
              <a:ext cx="287" cy="393"/>
            </a:xfrm>
            <a:custGeom>
              <a:avLst/>
              <a:gdLst/>
              <a:ahLst/>
              <a:cxnLst>
                <a:cxn ang="0">
                  <a:pos x="30" y="56"/>
                </a:cxn>
                <a:cxn ang="0">
                  <a:pos x="45" y="38"/>
                </a:cxn>
                <a:cxn ang="0">
                  <a:pos x="57" y="20"/>
                </a:cxn>
                <a:cxn ang="0">
                  <a:pos x="81" y="20"/>
                </a:cxn>
                <a:cxn ang="0">
                  <a:pos x="105" y="20"/>
                </a:cxn>
                <a:cxn ang="0">
                  <a:pos x="130" y="20"/>
                </a:cxn>
                <a:cxn ang="0">
                  <a:pos x="143" y="15"/>
                </a:cxn>
                <a:cxn ang="0">
                  <a:pos x="164" y="23"/>
                </a:cxn>
                <a:cxn ang="0">
                  <a:pos x="186" y="17"/>
                </a:cxn>
                <a:cxn ang="0">
                  <a:pos x="198" y="5"/>
                </a:cxn>
                <a:cxn ang="0">
                  <a:pos x="208" y="0"/>
                </a:cxn>
                <a:cxn ang="0">
                  <a:pos x="228" y="23"/>
                </a:cxn>
                <a:cxn ang="0">
                  <a:pos x="238" y="57"/>
                </a:cxn>
                <a:cxn ang="0">
                  <a:pos x="257" y="95"/>
                </a:cxn>
                <a:cxn ang="0">
                  <a:pos x="238" y="109"/>
                </a:cxn>
                <a:cxn ang="0">
                  <a:pos x="230" y="157"/>
                </a:cxn>
                <a:cxn ang="0">
                  <a:pos x="212" y="200"/>
                </a:cxn>
                <a:cxn ang="0">
                  <a:pos x="200" y="222"/>
                </a:cxn>
                <a:cxn ang="0">
                  <a:pos x="196" y="261"/>
                </a:cxn>
                <a:cxn ang="0">
                  <a:pos x="178" y="271"/>
                </a:cxn>
                <a:cxn ang="0">
                  <a:pos x="200" y="290"/>
                </a:cxn>
                <a:cxn ang="0">
                  <a:pos x="212" y="314"/>
                </a:cxn>
                <a:cxn ang="0">
                  <a:pos x="226" y="332"/>
                </a:cxn>
                <a:cxn ang="0">
                  <a:pos x="201" y="332"/>
                </a:cxn>
                <a:cxn ang="0">
                  <a:pos x="188" y="348"/>
                </a:cxn>
                <a:cxn ang="0">
                  <a:pos x="162" y="350"/>
                </a:cxn>
                <a:cxn ang="0">
                  <a:pos x="147" y="349"/>
                </a:cxn>
                <a:cxn ang="0">
                  <a:pos x="134" y="342"/>
                </a:cxn>
                <a:cxn ang="0">
                  <a:pos x="117" y="336"/>
                </a:cxn>
                <a:cxn ang="0">
                  <a:pos x="95" y="329"/>
                </a:cxn>
                <a:cxn ang="0">
                  <a:pos x="89" y="319"/>
                </a:cxn>
                <a:cxn ang="0">
                  <a:pos x="74" y="297"/>
                </a:cxn>
                <a:cxn ang="0">
                  <a:pos x="57" y="277"/>
                </a:cxn>
                <a:cxn ang="0">
                  <a:pos x="39" y="261"/>
                </a:cxn>
                <a:cxn ang="0">
                  <a:pos x="30" y="241"/>
                </a:cxn>
                <a:cxn ang="0">
                  <a:pos x="17" y="219"/>
                </a:cxn>
                <a:cxn ang="0">
                  <a:pos x="12" y="199"/>
                </a:cxn>
                <a:cxn ang="0">
                  <a:pos x="0" y="185"/>
                </a:cxn>
                <a:cxn ang="0">
                  <a:pos x="8" y="163"/>
                </a:cxn>
                <a:cxn ang="0">
                  <a:pos x="9" y="152"/>
                </a:cxn>
                <a:cxn ang="0">
                  <a:pos x="22" y="133"/>
                </a:cxn>
                <a:cxn ang="0">
                  <a:pos x="32" y="116"/>
                </a:cxn>
                <a:cxn ang="0">
                  <a:pos x="30" y="81"/>
                </a:cxn>
              </a:cxnLst>
              <a:rect l="0" t="0" r="r" b="b"/>
              <a:pathLst>
                <a:path w="257" h="353">
                  <a:moveTo>
                    <a:pt x="30" y="65"/>
                  </a:moveTo>
                  <a:lnTo>
                    <a:pt x="30" y="56"/>
                  </a:lnTo>
                  <a:lnTo>
                    <a:pt x="46" y="56"/>
                  </a:lnTo>
                  <a:lnTo>
                    <a:pt x="45" y="38"/>
                  </a:lnTo>
                  <a:lnTo>
                    <a:pt x="45" y="20"/>
                  </a:lnTo>
                  <a:lnTo>
                    <a:pt x="57" y="20"/>
                  </a:lnTo>
                  <a:lnTo>
                    <a:pt x="69" y="20"/>
                  </a:lnTo>
                  <a:lnTo>
                    <a:pt x="81" y="20"/>
                  </a:lnTo>
                  <a:lnTo>
                    <a:pt x="93" y="20"/>
                  </a:lnTo>
                  <a:lnTo>
                    <a:pt x="105" y="20"/>
                  </a:lnTo>
                  <a:lnTo>
                    <a:pt x="117" y="20"/>
                  </a:lnTo>
                  <a:lnTo>
                    <a:pt x="130" y="20"/>
                  </a:lnTo>
                  <a:lnTo>
                    <a:pt x="142" y="20"/>
                  </a:lnTo>
                  <a:lnTo>
                    <a:pt x="143" y="15"/>
                  </a:lnTo>
                  <a:lnTo>
                    <a:pt x="144" y="20"/>
                  </a:lnTo>
                  <a:lnTo>
                    <a:pt x="164" y="23"/>
                  </a:lnTo>
                  <a:lnTo>
                    <a:pt x="183" y="24"/>
                  </a:lnTo>
                  <a:lnTo>
                    <a:pt x="186" y="17"/>
                  </a:lnTo>
                  <a:lnTo>
                    <a:pt x="195" y="14"/>
                  </a:lnTo>
                  <a:lnTo>
                    <a:pt x="198" y="5"/>
                  </a:lnTo>
                  <a:lnTo>
                    <a:pt x="202" y="6"/>
                  </a:lnTo>
                  <a:lnTo>
                    <a:pt x="208" y="0"/>
                  </a:lnTo>
                  <a:lnTo>
                    <a:pt x="219" y="11"/>
                  </a:lnTo>
                  <a:lnTo>
                    <a:pt x="228" y="23"/>
                  </a:lnTo>
                  <a:lnTo>
                    <a:pt x="234" y="36"/>
                  </a:lnTo>
                  <a:lnTo>
                    <a:pt x="238" y="57"/>
                  </a:lnTo>
                  <a:lnTo>
                    <a:pt x="243" y="78"/>
                  </a:lnTo>
                  <a:lnTo>
                    <a:pt x="257" y="95"/>
                  </a:lnTo>
                  <a:lnTo>
                    <a:pt x="248" y="102"/>
                  </a:lnTo>
                  <a:lnTo>
                    <a:pt x="238" y="109"/>
                  </a:lnTo>
                  <a:lnTo>
                    <a:pt x="232" y="132"/>
                  </a:lnTo>
                  <a:lnTo>
                    <a:pt x="230" y="157"/>
                  </a:lnTo>
                  <a:lnTo>
                    <a:pt x="228" y="170"/>
                  </a:lnTo>
                  <a:lnTo>
                    <a:pt x="212" y="200"/>
                  </a:lnTo>
                  <a:lnTo>
                    <a:pt x="208" y="219"/>
                  </a:lnTo>
                  <a:lnTo>
                    <a:pt x="200" y="222"/>
                  </a:lnTo>
                  <a:lnTo>
                    <a:pt x="197" y="241"/>
                  </a:lnTo>
                  <a:lnTo>
                    <a:pt x="196" y="261"/>
                  </a:lnTo>
                  <a:lnTo>
                    <a:pt x="184" y="264"/>
                  </a:lnTo>
                  <a:lnTo>
                    <a:pt x="178" y="271"/>
                  </a:lnTo>
                  <a:lnTo>
                    <a:pt x="184" y="276"/>
                  </a:lnTo>
                  <a:lnTo>
                    <a:pt x="200" y="290"/>
                  </a:lnTo>
                  <a:lnTo>
                    <a:pt x="206" y="302"/>
                  </a:lnTo>
                  <a:lnTo>
                    <a:pt x="212" y="314"/>
                  </a:lnTo>
                  <a:lnTo>
                    <a:pt x="221" y="318"/>
                  </a:lnTo>
                  <a:lnTo>
                    <a:pt x="226" y="332"/>
                  </a:lnTo>
                  <a:lnTo>
                    <a:pt x="213" y="332"/>
                  </a:lnTo>
                  <a:lnTo>
                    <a:pt x="201" y="332"/>
                  </a:lnTo>
                  <a:lnTo>
                    <a:pt x="195" y="339"/>
                  </a:lnTo>
                  <a:lnTo>
                    <a:pt x="188" y="348"/>
                  </a:lnTo>
                  <a:lnTo>
                    <a:pt x="170" y="348"/>
                  </a:lnTo>
                  <a:lnTo>
                    <a:pt x="162" y="350"/>
                  </a:lnTo>
                  <a:lnTo>
                    <a:pt x="159" y="348"/>
                  </a:lnTo>
                  <a:lnTo>
                    <a:pt x="147" y="349"/>
                  </a:lnTo>
                  <a:lnTo>
                    <a:pt x="146" y="353"/>
                  </a:lnTo>
                  <a:lnTo>
                    <a:pt x="134" y="342"/>
                  </a:lnTo>
                  <a:lnTo>
                    <a:pt x="123" y="331"/>
                  </a:lnTo>
                  <a:lnTo>
                    <a:pt x="117" y="336"/>
                  </a:lnTo>
                  <a:lnTo>
                    <a:pt x="107" y="337"/>
                  </a:lnTo>
                  <a:lnTo>
                    <a:pt x="95" y="329"/>
                  </a:lnTo>
                  <a:lnTo>
                    <a:pt x="92" y="325"/>
                  </a:lnTo>
                  <a:lnTo>
                    <a:pt x="89" y="319"/>
                  </a:lnTo>
                  <a:lnTo>
                    <a:pt x="80" y="307"/>
                  </a:lnTo>
                  <a:lnTo>
                    <a:pt x="74" y="297"/>
                  </a:lnTo>
                  <a:lnTo>
                    <a:pt x="59" y="284"/>
                  </a:lnTo>
                  <a:lnTo>
                    <a:pt x="57" y="277"/>
                  </a:lnTo>
                  <a:lnTo>
                    <a:pt x="42" y="266"/>
                  </a:lnTo>
                  <a:lnTo>
                    <a:pt x="39" y="261"/>
                  </a:lnTo>
                  <a:lnTo>
                    <a:pt x="28" y="259"/>
                  </a:lnTo>
                  <a:lnTo>
                    <a:pt x="30" y="241"/>
                  </a:lnTo>
                  <a:lnTo>
                    <a:pt x="23" y="230"/>
                  </a:lnTo>
                  <a:lnTo>
                    <a:pt x="17" y="219"/>
                  </a:lnTo>
                  <a:lnTo>
                    <a:pt x="16" y="209"/>
                  </a:lnTo>
                  <a:lnTo>
                    <a:pt x="12" y="199"/>
                  </a:lnTo>
                  <a:lnTo>
                    <a:pt x="6" y="186"/>
                  </a:lnTo>
                  <a:lnTo>
                    <a:pt x="0" y="185"/>
                  </a:lnTo>
                  <a:lnTo>
                    <a:pt x="5" y="171"/>
                  </a:lnTo>
                  <a:lnTo>
                    <a:pt x="8" y="163"/>
                  </a:lnTo>
                  <a:lnTo>
                    <a:pt x="9" y="158"/>
                  </a:lnTo>
                  <a:lnTo>
                    <a:pt x="9" y="152"/>
                  </a:lnTo>
                  <a:lnTo>
                    <a:pt x="17" y="138"/>
                  </a:lnTo>
                  <a:lnTo>
                    <a:pt x="22" y="133"/>
                  </a:lnTo>
                  <a:lnTo>
                    <a:pt x="33" y="133"/>
                  </a:lnTo>
                  <a:lnTo>
                    <a:pt x="32" y="116"/>
                  </a:lnTo>
                  <a:lnTo>
                    <a:pt x="32" y="99"/>
                  </a:lnTo>
                  <a:lnTo>
                    <a:pt x="30" y="81"/>
                  </a:lnTo>
                  <a:lnTo>
                    <a:pt x="30" y="6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5" name="Freeform 104"/>
            <p:cNvSpPr>
              <a:spLocks/>
            </p:cNvSpPr>
            <p:nvPr/>
          </p:nvSpPr>
          <p:spPr bwMode="auto">
            <a:xfrm>
              <a:off x="3042" y="2752"/>
              <a:ext cx="31" cy="42"/>
            </a:xfrm>
            <a:custGeom>
              <a:avLst/>
              <a:gdLst/>
              <a:ahLst/>
              <a:cxnLst>
                <a:cxn ang="0">
                  <a:pos x="25" y="10"/>
                </a:cxn>
                <a:cxn ang="0">
                  <a:pos x="25" y="1"/>
                </a:cxn>
                <a:cxn ang="0">
                  <a:pos x="16" y="0"/>
                </a:cxn>
                <a:cxn ang="0">
                  <a:pos x="14" y="6"/>
                </a:cxn>
                <a:cxn ang="0">
                  <a:pos x="1" y="6"/>
                </a:cxn>
                <a:cxn ang="0">
                  <a:pos x="0" y="7"/>
                </a:cxn>
                <a:cxn ang="0">
                  <a:pos x="1" y="8"/>
                </a:cxn>
                <a:cxn ang="0">
                  <a:pos x="3" y="23"/>
                </a:cxn>
                <a:cxn ang="0">
                  <a:pos x="7" y="38"/>
                </a:cxn>
                <a:cxn ang="0">
                  <a:pos x="10" y="38"/>
                </a:cxn>
                <a:cxn ang="0">
                  <a:pos x="19" y="26"/>
                </a:cxn>
                <a:cxn ang="0">
                  <a:pos x="28" y="16"/>
                </a:cxn>
                <a:cxn ang="0">
                  <a:pos x="25" y="10"/>
                </a:cxn>
              </a:cxnLst>
              <a:rect l="0" t="0" r="r" b="b"/>
              <a:pathLst>
                <a:path w="28" h="38">
                  <a:moveTo>
                    <a:pt x="25" y="10"/>
                  </a:moveTo>
                  <a:lnTo>
                    <a:pt x="25" y="1"/>
                  </a:lnTo>
                  <a:lnTo>
                    <a:pt x="16" y="0"/>
                  </a:lnTo>
                  <a:lnTo>
                    <a:pt x="14" y="6"/>
                  </a:lnTo>
                  <a:lnTo>
                    <a:pt x="1" y="6"/>
                  </a:lnTo>
                  <a:lnTo>
                    <a:pt x="0" y="7"/>
                  </a:lnTo>
                  <a:lnTo>
                    <a:pt x="1" y="8"/>
                  </a:lnTo>
                  <a:lnTo>
                    <a:pt x="3" y="23"/>
                  </a:lnTo>
                  <a:lnTo>
                    <a:pt x="7" y="38"/>
                  </a:lnTo>
                  <a:lnTo>
                    <a:pt x="10" y="38"/>
                  </a:lnTo>
                  <a:lnTo>
                    <a:pt x="19" y="26"/>
                  </a:lnTo>
                  <a:lnTo>
                    <a:pt x="28" y="16"/>
                  </a:lnTo>
                  <a:lnTo>
                    <a:pt x="25"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6" name="Freeform 105"/>
            <p:cNvSpPr>
              <a:spLocks/>
            </p:cNvSpPr>
            <p:nvPr/>
          </p:nvSpPr>
          <p:spPr bwMode="auto">
            <a:xfrm>
              <a:off x="2729" y="2634"/>
              <a:ext cx="131" cy="171"/>
            </a:xfrm>
            <a:custGeom>
              <a:avLst/>
              <a:gdLst/>
              <a:ahLst/>
              <a:cxnLst>
                <a:cxn ang="0">
                  <a:pos x="20" y="108"/>
                </a:cxn>
                <a:cxn ang="0">
                  <a:pos x="6" y="109"/>
                </a:cxn>
                <a:cxn ang="0">
                  <a:pos x="7" y="115"/>
                </a:cxn>
                <a:cxn ang="0">
                  <a:pos x="8" y="120"/>
                </a:cxn>
                <a:cxn ang="0">
                  <a:pos x="12" y="127"/>
                </a:cxn>
                <a:cxn ang="0">
                  <a:pos x="8" y="131"/>
                </a:cxn>
                <a:cxn ang="0">
                  <a:pos x="4" y="129"/>
                </a:cxn>
                <a:cxn ang="0">
                  <a:pos x="0" y="136"/>
                </a:cxn>
                <a:cxn ang="0">
                  <a:pos x="13" y="155"/>
                </a:cxn>
                <a:cxn ang="0">
                  <a:pos x="24" y="145"/>
                </a:cxn>
                <a:cxn ang="0">
                  <a:pos x="30" y="148"/>
                </a:cxn>
                <a:cxn ang="0">
                  <a:pos x="38" y="151"/>
                </a:cxn>
                <a:cxn ang="0">
                  <a:pos x="42" y="145"/>
                </a:cxn>
                <a:cxn ang="0">
                  <a:pos x="51" y="144"/>
                </a:cxn>
                <a:cxn ang="0">
                  <a:pos x="54" y="153"/>
                </a:cxn>
                <a:cxn ang="0">
                  <a:pos x="66" y="141"/>
                </a:cxn>
                <a:cxn ang="0">
                  <a:pos x="78" y="129"/>
                </a:cxn>
                <a:cxn ang="0">
                  <a:pos x="80" y="115"/>
                </a:cxn>
                <a:cxn ang="0">
                  <a:pos x="81" y="101"/>
                </a:cxn>
                <a:cxn ang="0">
                  <a:pos x="93" y="87"/>
                </a:cxn>
                <a:cxn ang="0">
                  <a:pos x="104" y="72"/>
                </a:cxn>
                <a:cxn ang="0">
                  <a:pos x="106" y="59"/>
                </a:cxn>
                <a:cxn ang="0">
                  <a:pos x="109" y="45"/>
                </a:cxn>
                <a:cxn ang="0">
                  <a:pos x="111" y="31"/>
                </a:cxn>
                <a:cxn ang="0">
                  <a:pos x="114" y="18"/>
                </a:cxn>
                <a:cxn ang="0">
                  <a:pos x="117" y="3"/>
                </a:cxn>
                <a:cxn ang="0">
                  <a:pos x="105" y="1"/>
                </a:cxn>
                <a:cxn ang="0">
                  <a:pos x="93" y="0"/>
                </a:cxn>
                <a:cxn ang="0">
                  <a:pos x="85" y="6"/>
                </a:cxn>
                <a:cxn ang="0">
                  <a:pos x="79" y="25"/>
                </a:cxn>
                <a:cxn ang="0">
                  <a:pos x="76" y="34"/>
                </a:cxn>
                <a:cxn ang="0">
                  <a:pos x="62" y="30"/>
                </a:cxn>
                <a:cxn ang="0">
                  <a:pos x="49" y="27"/>
                </a:cxn>
                <a:cxn ang="0">
                  <a:pos x="33" y="27"/>
                </a:cxn>
                <a:cxn ang="0">
                  <a:pos x="32" y="43"/>
                </a:cxn>
                <a:cxn ang="0">
                  <a:pos x="49" y="42"/>
                </a:cxn>
                <a:cxn ang="0">
                  <a:pos x="50" y="54"/>
                </a:cxn>
                <a:cxn ang="0">
                  <a:pos x="43" y="64"/>
                </a:cxn>
                <a:cxn ang="0">
                  <a:pos x="52" y="79"/>
                </a:cxn>
                <a:cxn ang="0">
                  <a:pos x="48" y="105"/>
                </a:cxn>
                <a:cxn ang="0">
                  <a:pos x="43" y="109"/>
                </a:cxn>
                <a:cxn ang="0">
                  <a:pos x="40" y="105"/>
                </a:cxn>
                <a:cxn ang="0">
                  <a:pos x="31" y="108"/>
                </a:cxn>
                <a:cxn ang="0">
                  <a:pos x="21" y="97"/>
                </a:cxn>
                <a:cxn ang="0">
                  <a:pos x="20" y="108"/>
                </a:cxn>
              </a:cxnLst>
              <a:rect l="0" t="0" r="r" b="b"/>
              <a:pathLst>
                <a:path w="117" h="155">
                  <a:moveTo>
                    <a:pt x="20" y="108"/>
                  </a:moveTo>
                  <a:lnTo>
                    <a:pt x="6" y="109"/>
                  </a:lnTo>
                  <a:lnTo>
                    <a:pt x="7" y="115"/>
                  </a:lnTo>
                  <a:lnTo>
                    <a:pt x="8" y="120"/>
                  </a:lnTo>
                  <a:lnTo>
                    <a:pt x="12" y="127"/>
                  </a:lnTo>
                  <a:lnTo>
                    <a:pt x="8" y="131"/>
                  </a:lnTo>
                  <a:lnTo>
                    <a:pt x="4" y="129"/>
                  </a:lnTo>
                  <a:lnTo>
                    <a:pt x="0" y="136"/>
                  </a:lnTo>
                  <a:lnTo>
                    <a:pt x="13" y="155"/>
                  </a:lnTo>
                  <a:lnTo>
                    <a:pt x="24" y="145"/>
                  </a:lnTo>
                  <a:lnTo>
                    <a:pt x="30" y="148"/>
                  </a:lnTo>
                  <a:lnTo>
                    <a:pt x="38" y="151"/>
                  </a:lnTo>
                  <a:lnTo>
                    <a:pt x="42" y="145"/>
                  </a:lnTo>
                  <a:lnTo>
                    <a:pt x="51" y="144"/>
                  </a:lnTo>
                  <a:lnTo>
                    <a:pt x="54" y="153"/>
                  </a:lnTo>
                  <a:lnTo>
                    <a:pt x="66" y="141"/>
                  </a:lnTo>
                  <a:lnTo>
                    <a:pt x="78" y="129"/>
                  </a:lnTo>
                  <a:lnTo>
                    <a:pt x="80" y="115"/>
                  </a:lnTo>
                  <a:lnTo>
                    <a:pt x="81" y="101"/>
                  </a:lnTo>
                  <a:lnTo>
                    <a:pt x="93" y="87"/>
                  </a:lnTo>
                  <a:lnTo>
                    <a:pt x="104" y="72"/>
                  </a:lnTo>
                  <a:lnTo>
                    <a:pt x="106" y="59"/>
                  </a:lnTo>
                  <a:lnTo>
                    <a:pt x="109" y="45"/>
                  </a:lnTo>
                  <a:lnTo>
                    <a:pt x="111" y="31"/>
                  </a:lnTo>
                  <a:lnTo>
                    <a:pt x="114" y="18"/>
                  </a:lnTo>
                  <a:lnTo>
                    <a:pt x="117" y="3"/>
                  </a:lnTo>
                  <a:lnTo>
                    <a:pt x="105" y="1"/>
                  </a:lnTo>
                  <a:lnTo>
                    <a:pt x="93" y="0"/>
                  </a:lnTo>
                  <a:lnTo>
                    <a:pt x="85" y="6"/>
                  </a:lnTo>
                  <a:lnTo>
                    <a:pt x="79" y="25"/>
                  </a:lnTo>
                  <a:lnTo>
                    <a:pt x="76" y="34"/>
                  </a:lnTo>
                  <a:lnTo>
                    <a:pt x="62" y="30"/>
                  </a:lnTo>
                  <a:lnTo>
                    <a:pt x="49" y="27"/>
                  </a:lnTo>
                  <a:lnTo>
                    <a:pt x="33" y="27"/>
                  </a:lnTo>
                  <a:lnTo>
                    <a:pt x="32" y="43"/>
                  </a:lnTo>
                  <a:lnTo>
                    <a:pt x="49" y="42"/>
                  </a:lnTo>
                  <a:lnTo>
                    <a:pt x="50" y="54"/>
                  </a:lnTo>
                  <a:lnTo>
                    <a:pt x="43" y="64"/>
                  </a:lnTo>
                  <a:lnTo>
                    <a:pt x="52" y="79"/>
                  </a:lnTo>
                  <a:lnTo>
                    <a:pt x="48" y="105"/>
                  </a:lnTo>
                  <a:lnTo>
                    <a:pt x="43" y="109"/>
                  </a:lnTo>
                  <a:lnTo>
                    <a:pt x="40" y="105"/>
                  </a:lnTo>
                  <a:lnTo>
                    <a:pt x="31" y="108"/>
                  </a:lnTo>
                  <a:lnTo>
                    <a:pt x="21" y="97"/>
                  </a:lnTo>
                  <a:lnTo>
                    <a:pt x="20" y="1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7" name="Freeform 106"/>
            <p:cNvSpPr>
              <a:spLocks/>
            </p:cNvSpPr>
            <p:nvPr/>
          </p:nvSpPr>
          <p:spPr bwMode="auto">
            <a:xfrm>
              <a:off x="3129" y="2614"/>
              <a:ext cx="140" cy="185"/>
            </a:xfrm>
            <a:custGeom>
              <a:avLst/>
              <a:gdLst/>
              <a:ahLst/>
              <a:cxnLst>
                <a:cxn ang="0">
                  <a:pos x="58" y="137"/>
                </a:cxn>
                <a:cxn ang="0">
                  <a:pos x="44" y="127"/>
                </a:cxn>
                <a:cxn ang="0">
                  <a:pos x="30" y="119"/>
                </a:cxn>
                <a:cxn ang="0">
                  <a:pos x="15" y="109"/>
                </a:cxn>
                <a:cxn ang="0">
                  <a:pos x="0" y="101"/>
                </a:cxn>
                <a:cxn ang="0">
                  <a:pos x="0" y="82"/>
                </a:cxn>
                <a:cxn ang="0">
                  <a:pos x="10" y="64"/>
                </a:cxn>
                <a:cxn ang="0">
                  <a:pos x="18" y="49"/>
                </a:cxn>
                <a:cxn ang="0">
                  <a:pos x="13" y="35"/>
                </a:cxn>
                <a:cxn ang="0">
                  <a:pos x="8" y="22"/>
                </a:cxn>
                <a:cxn ang="0">
                  <a:pos x="1" y="7"/>
                </a:cxn>
                <a:cxn ang="0">
                  <a:pos x="7" y="0"/>
                </a:cxn>
                <a:cxn ang="0">
                  <a:pos x="19" y="0"/>
                </a:cxn>
                <a:cxn ang="0">
                  <a:pos x="32" y="0"/>
                </a:cxn>
                <a:cxn ang="0">
                  <a:pos x="45" y="3"/>
                </a:cxn>
                <a:cxn ang="0">
                  <a:pos x="64" y="16"/>
                </a:cxn>
                <a:cxn ang="0">
                  <a:pos x="86" y="21"/>
                </a:cxn>
                <a:cxn ang="0">
                  <a:pos x="94" y="13"/>
                </a:cxn>
                <a:cxn ang="0">
                  <a:pos x="110" y="9"/>
                </a:cxn>
                <a:cxn ang="0">
                  <a:pos x="127" y="12"/>
                </a:cxn>
                <a:cxn ang="0">
                  <a:pos x="120" y="22"/>
                </a:cxn>
                <a:cxn ang="0">
                  <a:pos x="112" y="33"/>
                </a:cxn>
                <a:cxn ang="0">
                  <a:pos x="112" y="48"/>
                </a:cxn>
                <a:cxn ang="0">
                  <a:pos x="112" y="65"/>
                </a:cxn>
                <a:cxn ang="0">
                  <a:pos x="112" y="82"/>
                </a:cxn>
                <a:cxn ang="0">
                  <a:pos x="112" y="99"/>
                </a:cxn>
                <a:cxn ang="0">
                  <a:pos x="121" y="113"/>
                </a:cxn>
                <a:cxn ang="0">
                  <a:pos x="112" y="118"/>
                </a:cxn>
                <a:cxn ang="0">
                  <a:pos x="106" y="129"/>
                </a:cxn>
                <a:cxn ang="0">
                  <a:pos x="99" y="136"/>
                </a:cxn>
                <a:cxn ang="0">
                  <a:pos x="92" y="150"/>
                </a:cxn>
                <a:cxn ang="0">
                  <a:pos x="85" y="166"/>
                </a:cxn>
                <a:cxn ang="0">
                  <a:pos x="84" y="167"/>
                </a:cxn>
                <a:cxn ang="0">
                  <a:pos x="72" y="155"/>
                </a:cxn>
                <a:cxn ang="0">
                  <a:pos x="60" y="143"/>
                </a:cxn>
                <a:cxn ang="0">
                  <a:pos x="58" y="137"/>
                </a:cxn>
              </a:cxnLst>
              <a:rect l="0" t="0" r="r" b="b"/>
              <a:pathLst>
                <a:path w="127" h="167">
                  <a:moveTo>
                    <a:pt x="58" y="137"/>
                  </a:moveTo>
                  <a:lnTo>
                    <a:pt x="44" y="127"/>
                  </a:lnTo>
                  <a:lnTo>
                    <a:pt x="30" y="119"/>
                  </a:lnTo>
                  <a:lnTo>
                    <a:pt x="15" y="109"/>
                  </a:lnTo>
                  <a:lnTo>
                    <a:pt x="0" y="101"/>
                  </a:lnTo>
                  <a:lnTo>
                    <a:pt x="0" y="82"/>
                  </a:lnTo>
                  <a:lnTo>
                    <a:pt x="10" y="64"/>
                  </a:lnTo>
                  <a:lnTo>
                    <a:pt x="18" y="49"/>
                  </a:lnTo>
                  <a:lnTo>
                    <a:pt x="13" y="35"/>
                  </a:lnTo>
                  <a:lnTo>
                    <a:pt x="8" y="22"/>
                  </a:lnTo>
                  <a:lnTo>
                    <a:pt x="1" y="7"/>
                  </a:lnTo>
                  <a:lnTo>
                    <a:pt x="7" y="0"/>
                  </a:lnTo>
                  <a:lnTo>
                    <a:pt x="19" y="0"/>
                  </a:lnTo>
                  <a:lnTo>
                    <a:pt x="32" y="0"/>
                  </a:lnTo>
                  <a:lnTo>
                    <a:pt x="45" y="3"/>
                  </a:lnTo>
                  <a:lnTo>
                    <a:pt x="64" y="16"/>
                  </a:lnTo>
                  <a:lnTo>
                    <a:pt x="86" y="21"/>
                  </a:lnTo>
                  <a:lnTo>
                    <a:pt x="94" y="13"/>
                  </a:lnTo>
                  <a:lnTo>
                    <a:pt x="110" y="9"/>
                  </a:lnTo>
                  <a:lnTo>
                    <a:pt x="127" y="12"/>
                  </a:lnTo>
                  <a:lnTo>
                    <a:pt x="120" y="22"/>
                  </a:lnTo>
                  <a:lnTo>
                    <a:pt x="112" y="33"/>
                  </a:lnTo>
                  <a:lnTo>
                    <a:pt x="112" y="48"/>
                  </a:lnTo>
                  <a:lnTo>
                    <a:pt x="112" y="65"/>
                  </a:lnTo>
                  <a:lnTo>
                    <a:pt x="112" y="82"/>
                  </a:lnTo>
                  <a:lnTo>
                    <a:pt x="112" y="99"/>
                  </a:lnTo>
                  <a:lnTo>
                    <a:pt x="121" y="113"/>
                  </a:lnTo>
                  <a:lnTo>
                    <a:pt x="112" y="118"/>
                  </a:lnTo>
                  <a:lnTo>
                    <a:pt x="106" y="129"/>
                  </a:lnTo>
                  <a:lnTo>
                    <a:pt x="99" y="136"/>
                  </a:lnTo>
                  <a:lnTo>
                    <a:pt x="92" y="150"/>
                  </a:lnTo>
                  <a:lnTo>
                    <a:pt x="85" y="166"/>
                  </a:lnTo>
                  <a:lnTo>
                    <a:pt x="84" y="167"/>
                  </a:lnTo>
                  <a:lnTo>
                    <a:pt x="72" y="155"/>
                  </a:lnTo>
                  <a:lnTo>
                    <a:pt x="60" y="143"/>
                  </a:lnTo>
                  <a:lnTo>
                    <a:pt x="58"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8" name="Freeform 107"/>
            <p:cNvSpPr>
              <a:spLocks/>
            </p:cNvSpPr>
            <p:nvPr/>
          </p:nvSpPr>
          <p:spPr bwMode="auto">
            <a:xfrm>
              <a:off x="5573" y="2643"/>
              <a:ext cx="2" cy="2"/>
            </a:xfrm>
            <a:custGeom>
              <a:avLst/>
              <a:gdLst/>
              <a:ahLst/>
              <a:cxnLst>
                <a:cxn ang="0">
                  <a:pos x="3" y="0"/>
                </a:cxn>
                <a:cxn ang="0">
                  <a:pos x="2" y="1"/>
                </a:cxn>
                <a:cxn ang="0">
                  <a:pos x="0" y="1"/>
                </a:cxn>
                <a:cxn ang="0">
                  <a:pos x="2" y="0"/>
                </a:cxn>
                <a:cxn ang="0">
                  <a:pos x="3" y="0"/>
                </a:cxn>
              </a:cxnLst>
              <a:rect l="0" t="0" r="r" b="b"/>
              <a:pathLst>
                <a:path w="3" h="1">
                  <a:moveTo>
                    <a:pt x="3" y="0"/>
                  </a:moveTo>
                  <a:lnTo>
                    <a:pt x="2" y="1"/>
                  </a:lnTo>
                  <a:lnTo>
                    <a:pt x="0" y="1"/>
                  </a:lnTo>
                  <a:lnTo>
                    <a:pt x="2" y="0"/>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9" name="Freeform 108"/>
            <p:cNvSpPr>
              <a:spLocks/>
            </p:cNvSpPr>
            <p:nvPr/>
          </p:nvSpPr>
          <p:spPr bwMode="auto">
            <a:xfrm>
              <a:off x="5577" y="2667"/>
              <a:ext cx="3" cy="3"/>
            </a:xfrm>
            <a:custGeom>
              <a:avLst/>
              <a:gdLst/>
              <a:ahLst/>
              <a:cxnLst>
                <a:cxn ang="0">
                  <a:pos x="2" y="4"/>
                </a:cxn>
                <a:cxn ang="0">
                  <a:pos x="1" y="4"/>
                </a:cxn>
                <a:cxn ang="0">
                  <a:pos x="2" y="4"/>
                </a:cxn>
                <a:cxn ang="0">
                  <a:pos x="2" y="3"/>
                </a:cxn>
                <a:cxn ang="0">
                  <a:pos x="0" y="0"/>
                </a:cxn>
                <a:cxn ang="0">
                  <a:pos x="1" y="0"/>
                </a:cxn>
                <a:cxn ang="0">
                  <a:pos x="2" y="3"/>
                </a:cxn>
                <a:cxn ang="0">
                  <a:pos x="2" y="4"/>
                </a:cxn>
              </a:cxnLst>
              <a:rect l="0" t="0" r="r" b="b"/>
              <a:pathLst>
                <a:path w="2" h="4">
                  <a:moveTo>
                    <a:pt x="2" y="4"/>
                  </a:moveTo>
                  <a:lnTo>
                    <a:pt x="1" y="4"/>
                  </a:lnTo>
                  <a:lnTo>
                    <a:pt x="2" y="4"/>
                  </a:lnTo>
                  <a:lnTo>
                    <a:pt x="2" y="3"/>
                  </a:lnTo>
                  <a:lnTo>
                    <a:pt x="0" y="0"/>
                  </a:lnTo>
                  <a:lnTo>
                    <a:pt x="1" y="0"/>
                  </a:lnTo>
                  <a:lnTo>
                    <a:pt x="2" y="3"/>
                  </a:lnTo>
                  <a:lnTo>
                    <a:pt x="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0" name="Freeform 109"/>
            <p:cNvSpPr>
              <a:spLocks/>
            </p:cNvSpPr>
            <p:nvPr/>
          </p:nvSpPr>
          <p:spPr bwMode="auto">
            <a:xfrm>
              <a:off x="5584" y="2667"/>
              <a:ext cx="2" cy="3"/>
            </a:xfrm>
            <a:custGeom>
              <a:avLst/>
              <a:gdLst/>
              <a:ahLst/>
              <a:cxnLst>
                <a:cxn ang="0">
                  <a:pos x="1" y="0"/>
                </a:cxn>
                <a:cxn ang="0">
                  <a:pos x="0" y="0"/>
                </a:cxn>
                <a:cxn ang="0">
                  <a:pos x="1" y="0"/>
                </a:cxn>
              </a:cxnLst>
              <a:rect l="0" t="0" r="r" b="b"/>
              <a:pathLst>
                <a:path w="1">
                  <a:moveTo>
                    <a:pt x="1" y="0"/>
                  </a:move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1" name="Freeform 110"/>
            <p:cNvSpPr>
              <a:spLocks/>
            </p:cNvSpPr>
            <p:nvPr/>
          </p:nvSpPr>
          <p:spPr bwMode="auto">
            <a:xfrm>
              <a:off x="5580" y="2674"/>
              <a:ext cx="2" cy="2"/>
            </a:xfrm>
            <a:custGeom>
              <a:avLst/>
              <a:gdLst/>
              <a:ahLst/>
              <a:cxnLst>
                <a:cxn ang="0">
                  <a:pos x="0" y="1"/>
                </a:cxn>
                <a:cxn ang="0">
                  <a:pos x="0" y="0"/>
                </a:cxn>
                <a:cxn ang="0">
                  <a:pos x="0" y="1"/>
                </a:cxn>
              </a:cxnLst>
              <a:rect l="0" t="0" r="r" b="b"/>
              <a:pathLst>
                <a:path h="1">
                  <a:moveTo>
                    <a:pt x="0" y="1"/>
                  </a:moveTo>
                  <a:lnTo>
                    <a:pt x="0" y="0"/>
                  </a:lnTo>
                  <a:lnTo>
                    <a:pt x="0"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2" name="Freeform 111"/>
            <p:cNvSpPr>
              <a:spLocks/>
            </p:cNvSpPr>
            <p:nvPr/>
          </p:nvSpPr>
          <p:spPr bwMode="auto">
            <a:xfrm>
              <a:off x="2580" y="2430"/>
              <a:ext cx="209" cy="189"/>
            </a:xfrm>
            <a:custGeom>
              <a:avLst/>
              <a:gdLst/>
              <a:ahLst/>
              <a:cxnLst>
                <a:cxn ang="0">
                  <a:pos x="124" y="121"/>
                </a:cxn>
                <a:cxn ang="0">
                  <a:pos x="112" y="125"/>
                </a:cxn>
                <a:cxn ang="0">
                  <a:pos x="105" y="135"/>
                </a:cxn>
                <a:cxn ang="0">
                  <a:pos x="99" y="146"/>
                </a:cxn>
                <a:cxn ang="0">
                  <a:pos x="94" y="161"/>
                </a:cxn>
                <a:cxn ang="0">
                  <a:pos x="88" y="159"/>
                </a:cxn>
                <a:cxn ang="0">
                  <a:pos x="89" y="165"/>
                </a:cxn>
                <a:cxn ang="0">
                  <a:pos x="73" y="165"/>
                </a:cxn>
                <a:cxn ang="0">
                  <a:pos x="71" y="164"/>
                </a:cxn>
                <a:cxn ang="0">
                  <a:pos x="69" y="164"/>
                </a:cxn>
                <a:cxn ang="0">
                  <a:pos x="66" y="167"/>
                </a:cxn>
                <a:cxn ang="0">
                  <a:pos x="64" y="162"/>
                </a:cxn>
                <a:cxn ang="0">
                  <a:pos x="64" y="169"/>
                </a:cxn>
                <a:cxn ang="0">
                  <a:pos x="64" y="165"/>
                </a:cxn>
                <a:cxn ang="0">
                  <a:pos x="61" y="167"/>
                </a:cxn>
                <a:cxn ang="0">
                  <a:pos x="57" y="167"/>
                </a:cxn>
                <a:cxn ang="0">
                  <a:pos x="49" y="168"/>
                </a:cxn>
                <a:cxn ang="0">
                  <a:pos x="43" y="151"/>
                </a:cxn>
                <a:cxn ang="0">
                  <a:pos x="45" y="150"/>
                </a:cxn>
                <a:cxn ang="0">
                  <a:pos x="41" y="146"/>
                </a:cxn>
                <a:cxn ang="0">
                  <a:pos x="42" y="146"/>
                </a:cxn>
                <a:cxn ang="0">
                  <a:pos x="39" y="143"/>
                </a:cxn>
                <a:cxn ang="0">
                  <a:pos x="22" y="132"/>
                </a:cxn>
                <a:cxn ang="0">
                  <a:pos x="13" y="131"/>
                </a:cxn>
                <a:cxn ang="0">
                  <a:pos x="16" y="128"/>
                </a:cxn>
                <a:cxn ang="0">
                  <a:pos x="0" y="133"/>
                </a:cxn>
                <a:cxn ang="0">
                  <a:pos x="1" y="108"/>
                </a:cxn>
                <a:cxn ang="0">
                  <a:pos x="3" y="84"/>
                </a:cxn>
                <a:cxn ang="0">
                  <a:pos x="15" y="63"/>
                </a:cxn>
                <a:cxn ang="0">
                  <a:pos x="16" y="48"/>
                </a:cxn>
                <a:cxn ang="0">
                  <a:pos x="13" y="38"/>
                </a:cxn>
                <a:cxn ang="0">
                  <a:pos x="13" y="37"/>
                </a:cxn>
                <a:cxn ang="0">
                  <a:pos x="15" y="30"/>
                </a:cxn>
                <a:cxn ang="0">
                  <a:pos x="19" y="18"/>
                </a:cxn>
                <a:cxn ang="0">
                  <a:pos x="23" y="5"/>
                </a:cxn>
                <a:cxn ang="0">
                  <a:pos x="37" y="0"/>
                </a:cxn>
                <a:cxn ang="0">
                  <a:pos x="53" y="1"/>
                </a:cxn>
                <a:cxn ang="0">
                  <a:pos x="64" y="12"/>
                </a:cxn>
                <a:cxn ang="0">
                  <a:pos x="81" y="7"/>
                </a:cxn>
                <a:cxn ang="0">
                  <a:pos x="93" y="12"/>
                </a:cxn>
                <a:cxn ang="0">
                  <a:pos x="103" y="17"/>
                </a:cxn>
                <a:cxn ang="0">
                  <a:pos x="121" y="8"/>
                </a:cxn>
                <a:cxn ang="0">
                  <a:pos x="138" y="9"/>
                </a:cxn>
                <a:cxn ang="0">
                  <a:pos x="154" y="11"/>
                </a:cxn>
                <a:cxn ang="0">
                  <a:pos x="172" y="1"/>
                </a:cxn>
                <a:cxn ang="0">
                  <a:pos x="179" y="12"/>
                </a:cxn>
                <a:cxn ang="0">
                  <a:pos x="181" y="25"/>
                </a:cxn>
                <a:cxn ang="0">
                  <a:pos x="189" y="32"/>
                </a:cxn>
                <a:cxn ang="0">
                  <a:pos x="184" y="42"/>
                </a:cxn>
                <a:cxn ang="0">
                  <a:pos x="173" y="53"/>
                </a:cxn>
                <a:cxn ang="0">
                  <a:pos x="167" y="65"/>
                </a:cxn>
                <a:cxn ang="0">
                  <a:pos x="162" y="78"/>
                </a:cxn>
                <a:cxn ang="0">
                  <a:pos x="156" y="92"/>
                </a:cxn>
                <a:cxn ang="0">
                  <a:pos x="150" y="102"/>
                </a:cxn>
                <a:cxn ang="0">
                  <a:pos x="144" y="117"/>
                </a:cxn>
                <a:cxn ang="0">
                  <a:pos x="135" y="132"/>
                </a:cxn>
                <a:cxn ang="0">
                  <a:pos x="124" y="121"/>
                </a:cxn>
              </a:cxnLst>
              <a:rect l="0" t="0" r="r" b="b"/>
              <a:pathLst>
                <a:path w="189" h="169">
                  <a:moveTo>
                    <a:pt x="124" y="121"/>
                  </a:moveTo>
                  <a:lnTo>
                    <a:pt x="112" y="125"/>
                  </a:lnTo>
                  <a:lnTo>
                    <a:pt x="105" y="135"/>
                  </a:lnTo>
                  <a:lnTo>
                    <a:pt x="99" y="146"/>
                  </a:lnTo>
                  <a:lnTo>
                    <a:pt x="94" y="161"/>
                  </a:lnTo>
                  <a:lnTo>
                    <a:pt x="88" y="159"/>
                  </a:lnTo>
                  <a:lnTo>
                    <a:pt x="89" y="165"/>
                  </a:lnTo>
                  <a:lnTo>
                    <a:pt x="73" y="165"/>
                  </a:lnTo>
                  <a:lnTo>
                    <a:pt x="71" y="164"/>
                  </a:lnTo>
                  <a:lnTo>
                    <a:pt x="69" y="164"/>
                  </a:lnTo>
                  <a:lnTo>
                    <a:pt x="66" y="167"/>
                  </a:lnTo>
                  <a:lnTo>
                    <a:pt x="64" y="162"/>
                  </a:lnTo>
                  <a:lnTo>
                    <a:pt x="64" y="169"/>
                  </a:lnTo>
                  <a:lnTo>
                    <a:pt x="64" y="165"/>
                  </a:lnTo>
                  <a:lnTo>
                    <a:pt x="61" y="167"/>
                  </a:lnTo>
                  <a:lnTo>
                    <a:pt x="57" y="167"/>
                  </a:lnTo>
                  <a:lnTo>
                    <a:pt x="49" y="168"/>
                  </a:lnTo>
                  <a:lnTo>
                    <a:pt x="43" y="151"/>
                  </a:lnTo>
                  <a:lnTo>
                    <a:pt x="45" y="150"/>
                  </a:lnTo>
                  <a:lnTo>
                    <a:pt x="41" y="146"/>
                  </a:lnTo>
                  <a:lnTo>
                    <a:pt x="42" y="146"/>
                  </a:lnTo>
                  <a:lnTo>
                    <a:pt x="39" y="143"/>
                  </a:lnTo>
                  <a:lnTo>
                    <a:pt x="22" y="132"/>
                  </a:lnTo>
                  <a:lnTo>
                    <a:pt x="13" y="131"/>
                  </a:lnTo>
                  <a:lnTo>
                    <a:pt x="16" y="128"/>
                  </a:lnTo>
                  <a:lnTo>
                    <a:pt x="0" y="133"/>
                  </a:lnTo>
                  <a:lnTo>
                    <a:pt x="1" y="108"/>
                  </a:lnTo>
                  <a:lnTo>
                    <a:pt x="3" y="84"/>
                  </a:lnTo>
                  <a:lnTo>
                    <a:pt x="15" y="63"/>
                  </a:lnTo>
                  <a:lnTo>
                    <a:pt x="16" y="48"/>
                  </a:lnTo>
                  <a:lnTo>
                    <a:pt x="13" y="38"/>
                  </a:lnTo>
                  <a:lnTo>
                    <a:pt x="13" y="37"/>
                  </a:lnTo>
                  <a:lnTo>
                    <a:pt x="15" y="30"/>
                  </a:lnTo>
                  <a:lnTo>
                    <a:pt x="19" y="18"/>
                  </a:lnTo>
                  <a:lnTo>
                    <a:pt x="23" y="5"/>
                  </a:lnTo>
                  <a:lnTo>
                    <a:pt x="37" y="0"/>
                  </a:lnTo>
                  <a:lnTo>
                    <a:pt x="53" y="1"/>
                  </a:lnTo>
                  <a:lnTo>
                    <a:pt x="64" y="12"/>
                  </a:lnTo>
                  <a:lnTo>
                    <a:pt x="81" y="7"/>
                  </a:lnTo>
                  <a:lnTo>
                    <a:pt x="93" y="12"/>
                  </a:lnTo>
                  <a:lnTo>
                    <a:pt x="103" y="17"/>
                  </a:lnTo>
                  <a:lnTo>
                    <a:pt x="121" y="8"/>
                  </a:lnTo>
                  <a:lnTo>
                    <a:pt x="138" y="9"/>
                  </a:lnTo>
                  <a:lnTo>
                    <a:pt x="154" y="11"/>
                  </a:lnTo>
                  <a:lnTo>
                    <a:pt x="172" y="1"/>
                  </a:lnTo>
                  <a:lnTo>
                    <a:pt x="179" y="12"/>
                  </a:lnTo>
                  <a:lnTo>
                    <a:pt x="181" y="25"/>
                  </a:lnTo>
                  <a:lnTo>
                    <a:pt x="189" y="32"/>
                  </a:lnTo>
                  <a:lnTo>
                    <a:pt x="184" y="42"/>
                  </a:lnTo>
                  <a:lnTo>
                    <a:pt x="173" y="53"/>
                  </a:lnTo>
                  <a:lnTo>
                    <a:pt x="167" y="65"/>
                  </a:lnTo>
                  <a:lnTo>
                    <a:pt x="162" y="78"/>
                  </a:lnTo>
                  <a:lnTo>
                    <a:pt x="156" y="92"/>
                  </a:lnTo>
                  <a:lnTo>
                    <a:pt x="150" y="102"/>
                  </a:lnTo>
                  <a:lnTo>
                    <a:pt x="144" y="117"/>
                  </a:lnTo>
                  <a:lnTo>
                    <a:pt x="135" y="132"/>
                  </a:lnTo>
                  <a:lnTo>
                    <a:pt x="124" y="1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3" name="Freeform 112"/>
            <p:cNvSpPr>
              <a:spLocks/>
            </p:cNvSpPr>
            <p:nvPr/>
          </p:nvSpPr>
          <p:spPr bwMode="auto">
            <a:xfrm>
              <a:off x="2547" y="2459"/>
              <a:ext cx="49" cy="122"/>
            </a:xfrm>
            <a:custGeom>
              <a:avLst/>
              <a:gdLst/>
              <a:ahLst/>
              <a:cxnLst>
                <a:cxn ang="0">
                  <a:pos x="3" y="24"/>
                </a:cxn>
                <a:cxn ang="0">
                  <a:pos x="1" y="24"/>
                </a:cxn>
                <a:cxn ang="0">
                  <a:pos x="0" y="32"/>
                </a:cxn>
                <a:cxn ang="0">
                  <a:pos x="9" y="42"/>
                </a:cxn>
                <a:cxn ang="0">
                  <a:pos x="11" y="56"/>
                </a:cxn>
                <a:cxn ang="0">
                  <a:pos x="11" y="70"/>
                </a:cxn>
                <a:cxn ang="0">
                  <a:pos x="12" y="84"/>
                </a:cxn>
                <a:cxn ang="0">
                  <a:pos x="12" y="97"/>
                </a:cxn>
                <a:cxn ang="0">
                  <a:pos x="13" y="110"/>
                </a:cxn>
                <a:cxn ang="0">
                  <a:pos x="30" y="108"/>
                </a:cxn>
                <a:cxn ang="0">
                  <a:pos x="31" y="83"/>
                </a:cxn>
                <a:cxn ang="0">
                  <a:pos x="33" y="59"/>
                </a:cxn>
                <a:cxn ang="0">
                  <a:pos x="45" y="38"/>
                </a:cxn>
                <a:cxn ang="0">
                  <a:pos x="46" y="23"/>
                </a:cxn>
                <a:cxn ang="0">
                  <a:pos x="43" y="13"/>
                </a:cxn>
                <a:cxn ang="0">
                  <a:pos x="43" y="12"/>
                </a:cxn>
                <a:cxn ang="0">
                  <a:pos x="30" y="0"/>
                </a:cxn>
                <a:cxn ang="0">
                  <a:pos x="25" y="6"/>
                </a:cxn>
                <a:cxn ang="0">
                  <a:pos x="25" y="8"/>
                </a:cxn>
                <a:cxn ang="0">
                  <a:pos x="24" y="11"/>
                </a:cxn>
                <a:cxn ang="0">
                  <a:pos x="12" y="18"/>
                </a:cxn>
                <a:cxn ang="0">
                  <a:pos x="3" y="24"/>
                </a:cxn>
              </a:cxnLst>
              <a:rect l="0" t="0" r="r" b="b"/>
              <a:pathLst>
                <a:path w="46" h="110">
                  <a:moveTo>
                    <a:pt x="3" y="24"/>
                  </a:moveTo>
                  <a:lnTo>
                    <a:pt x="1" y="24"/>
                  </a:lnTo>
                  <a:lnTo>
                    <a:pt x="0" y="32"/>
                  </a:lnTo>
                  <a:lnTo>
                    <a:pt x="9" y="42"/>
                  </a:lnTo>
                  <a:lnTo>
                    <a:pt x="11" y="56"/>
                  </a:lnTo>
                  <a:lnTo>
                    <a:pt x="11" y="70"/>
                  </a:lnTo>
                  <a:lnTo>
                    <a:pt x="12" y="84"/>
                  </a:lnTo>
                  <a:lnTo>
                    <a:pt x="12" y="97"/>
                  </a:lnTo>
                  <a:lnTo>
                    <a:pt x="13" y="110"/>
                  </a:lnTo>
                  <a:lnTo>
                    <a:pt x="30" y="108"/>
                  </a:lnTo>
                  <a:lnTo>
                    <a:pt x="31" y="83"/>
                  </a:lnTo>
                  <a:lnTo>
                    <a:pt x="33" y="59"/>
                  </a:lnTo>
                  <a:lnTo>
                    <a:pt x="45" y="38"/>
                  </a:lnTo>
                  <a:lnTo>
                    <a:pt x="46" y="23"/>
                  </a:lnTo>
                  <a:lnTo>
                    <a:pt x="43" y="13"/>
                  </a:lnTo>
                  <a:lnTo>
                    <a:pt x="43" y="12"/>
                  </a:lnTo>
                  <a:lnTo>
                    <a:pt x="30" y="0"/>
                  </a:lnTo>
                  <a:lnTo>
                    <a:pt x="25" y="6"/>
                  </a:lnTo>
                  <a:lnTo>
                    <a:pt x="25" y="8"/>
                  </a:lnTo>
                  <a:lnTo>
                    <a:pt x="24" y="11"/>
                  </a:lnTo>
                  <a:lnTo>
                    <a:pt x="12" y="18"/>
                  </a:lnTo>
                  <a:lnTo>
                    <a:pt x="3"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4" name="Freeform 113"/>
            <p:cNvSpPr>
              <a:spLocks/>
            </p:cNvSpPr>
            <p:nvPr/>
          </p:nvSpPr>
          <p:spPr bwMode="auto">
            <a:xfrm>
              <a:off x="2436" y="2403"/>
              <a:ext cx="137" cy="113"/>
            </a:xfrm>
            <a:custGeom>
              <a:avLst/>
              <a:gdLst/>
              <a:ahLst/>
              <a:cxnLst>
                <a:cxn ang="0">
                  <a:pos x="102" y="73"/>
                </a:cxn>
                <a:cxn ang="0">
                  <a:pos x="97" y="73"/>
                </a:cxn>
                <a:cxn ang="0">
                  <a:pos x="84" y="71"/>
                </a:cxn>
                <a:cxn ang="0">
                  <a:pos x="79" y="72"/>
                </a:cxn>
                <a:cxn ang="0">
                  <a:pos x="61" y="73"/>
                </a:cxn>
                <a:cxn ang="0">
                  <a:pos x="42" y="73"/>
                </a:cxn>
                <a:cxn ang="0">
                  <a:pos x="43" y="87"/>
                </a:cxn>
                <a:cxn ang="0">
                  <a:pos x="44" y="101"/>
                </a:cxn>
                <a:cxn ang="0">
                  <a:pos x="30" y="92"/>
                </a:cxn>
                <a:cxn ang="0">
                  <a:pos x="15" y="97"/>
                </a:cxn>
                <a:cxn ang="0">
                  <a:pos x="6" y="86"/>
                </a:cxn>
                <a:cxn ang="0">
                  <a:pos x="0" y="84"/>
                </a:cxn>
                <a:cxn ang="0">
                  <a:pos x="3" y="60"/>
                </a:cxn>
                <a:cxn ang="0">
                  <a:pos x="8" y="56"/>
                </a:cxn>
                <a:cxn ang="0">
                  <a:pos x="16" y="48"/>
                </a:cxn>
                <a:cxn ang="0">
                  <a:pos x="20" y="41"/>
                </a:cxn>
                <a:cxn ang="0">
                  <a:pos x="22" y="30"/>
                </a:cxn>
                <a:cxn ang="0">
                  <a:pos x="32" y="35"/>
                </a:cxn>
                <a:cxn ang="0">
                  <a:pos x="34" y="27"/>
                </a:cxn>
                <a:cxn ang="0">
                  <a:pos x="38" y="26"/>
                </a:cxn>
                <a:cxn ang="0">
                  <a:pos x="44" y="17"/>
                </a:cxn>
                <a:cxn ang="0">
                  <a:pos x="54" y="17"/>
                </a:cxn>
                <a:cxn ang="0">
                  <a:pos x="55" y="9"/>
                </a:cxn>
                <a:cxn ang="0">
                  <a:pos x="75" y="0"/>
                </a:cxn>
                <a:cxn ang="0">
                  <a:pos x="90" y="2"/>
                </a:cxn>
                <a:cxn ang="0">
                  <a:pos x="92" y="17"/>
                </a:cxn>
                <a:cxn ang="0">
                  <a:pos x="104" y="30"/>
                </a:cxn>
                <a:cxn ang="0">
                  <a:pos x="102" y="31"/>
                </a:cxn>
                <a:cxn ang="0">
                  <a:pos x="102" y="37"/>
                </a:cxn>
                <a:cxn ang="0">
                  <a:pos x="111" y="44"/>
                </a:cxn>
                <a:cxn ang="0">
                  <a:pos x="117" y="43"/>
                </a:cxn>
                <a:cxn ang="0">
                  <a:pos x="121" y="48"/>
                </a:cxn>
                <a:cxn ang="0">
                  <a:pos x="124" y="57"/>
                </a:cxn>
                <a:cxn ang="0">
                  <a:pos x="123" y="60"/>
                </a:cxn>
                <a:cxn ang="0">
                  <a:pos x="111" y="67"/>
                </a:cxn>
                <a:cxn ang="0">
                  <a:pos x="102" y="73"/>
                </a:cxn>
              </a:cxnLst>
              <a:rect l="0" t="0" r="r" b="b"/>
              <a:pathLst>
                <a:path w="124" h="101">
                  <a:moveTo>
                    <a:pt x="102" y="73"/>
                  </a:moveTo>
                  <a:lnTo>
                    <a:pt x="97" y="73"/>
                  </a:lnTo>
                  <a:lnTo>
                    <a:pt x="84" y="71"/>
                  </a:lnTo>
                  <a:lnTo>
                    <a:pt x="79" y="72"/>
                  </a:lnTo>
                  <a:lnTo>
                    <a:pt x="61" y="73"/>
                  </a:lnTo>
                  <a:lnTo>
                    <a:pt x="42" y="73"/>
                  </a:lnTo>
                  <a:lnTo>
                    <a:pt x="43" y="87"/>
                  </a:lnTo>
                  <a:lnTo>
                    <a:pt x="44" y="101"/>
                  </a:lnTo>
                  <a:lnTo>
                    <a:pt x="30" y="92"/>
                  </a:lnTo>
                  <a:lnTo>
                    <a:pt x="15" y="97"/>
                  </a:lnTo>
                  <a:lnTo>
                    <a:pt x="6" y="86"/>
                  </a:lnTo>
                  <a:lnTo>
                    <a:pt x="0" y="84"/>
                  </a:lnTo>
                  <a:lnTo>
                    <a:pt x="3" y="60"/>
                  </a:lnTo>
                  <a:lnTo>
                    <a:pt x="8" y="56"/>
                  </a:lnTo>
                  <a:lnTo>
                    <a:pt x="16" y="48"/>
                  </a:lnTo>
                  <a:lnTo>
                    <a:pt x="20" y="41"/>
                  </a:lnTo>
                  <a:lnTo>
                    <a:pt x="22" y="30"/>
                  </a:lnTo>
                  <a:lnTo>
                    <a:pt x="32" y="35"/>
                  </a:lnTo>
                  <a:lnTo>
                    <a:pt x="34" y="27"/>
                  </a:lnTo>
                  <a:lnTo>
                    <a:pt x="38" y="26"/>
                  </a:lnTo>
                  <a:lnTo>
                    <a:pt x="44" y="17"/>
                  </a:lnTo>
                  <a:lnTo>
                    <a:pt x="54" y="17"/>
                  </a:lnTo>
                  <a:lnTo>
                    <a:pt x="55" y="9"/>
                  </a:lnTo>
                  <a:lnTo>
                    <a:pt x="75" y="0"/>
                  </a:lnTo>
                  <a:lnTo>
                    <a:pt x="90" y="2"/>
                  </a:lnTo>
                  <a:lnTo>
                    <a:pt x="92" y="17"/>
                  </a:lnTo>
                  <a:lnTo>
                    <a:pt x="104" y="30"/>
                  </a:lnTo>
                  <a:lnTo>
                    <a:pt x="102" y="31"/>
                  </a:lnTo>
                  <a:lnTo>
                    <a:pt x="102" y="37"/>
                  </a:lnTo>
                  <a:lnTo>
                    <a:pt x="111" y="44"/>
                  </a:lnTo>
                  <a:lnTo>
                    <a:pt x="117" y="43"/>
                  </a:lnTo>
                  <a:lnTo>
                    <a:pt x="121" y="48"/>
                  </a:lnTo>
                  <a:lnTo>
                    <a:pt x="124" y="57"/>
                  </a:lnTo>
                  <a:lnTo>
                    <a:pt x="123" y="60"/>
                  </a:lnTo>
                  <a:lnTo>
                    <a:pt x="111" y="67"/>
                  </a:lnTo>
                  <a:lnTo>
                    <a:pt x="102"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5" name="Freeform 114"/>
            <p:cNvSpPr>
              <a:spLocks/>
            </p:cNvSpPr>
            <p:nvPr/>
          </p:nvSpPr>
          <p:spPr bwMode="auto">
            <a:xfrm>
              <a:off x="2682" y="2443"/>
              <a:ext cx="134" cy="227"/>
            </a:xfrm>
            <a:custGeom>
              <a:avLst/>
              <a:gdLst/>
              <a:ahLst/>
              <a:cxnLst>
                <a:cxn ang="0">
                  <a:pos x="112" y="56"/>
                </a:cxn>
                <a:cxn ang="0">
                  <a:pos x="93" y="56"/>
                </a:cxn>
                <a:cxn ang="0">
                  <a:pos x="86" y="60"/>
                </a:cxn>
                <a:cxn ang="0">
                  <a:pos x="99" y="77"/>
                </a:cxn>
                <a:cxn ang="0">
                  <a:pos x="109" y="99"/>
                </a:cxn>
                <a:cxn ang="0">
                  <a:pos x="102" y="114"/>
                </a:cxn>
                <a:cxn ang="0">
                  <a:pos x="93" y="128"/>
                </a:cxn>
                <a:cxn ang="0">
                  <a:pos x="99" y="153"/>
                </a:cxn>
                <a:cxn ang="0">
                  <a:pos x="108" y="167"/>
                </a:cxn>
                <a:cxn ang="0">
                  <a:pos x="116" y="179"/>
                </a:cxn>
                <a:cxn ang="0">
                  <a:pos x="121" y="195"/>
                </a:cxn>
                <a:cxn ang="0">
                  <a:pos x="118" y="204"/>
                </a:cxn>
                <a:cxn ang="0">
                  <a:pos x="104" y="200"/>
                </a:cxn>
                <a:cxn ang="0">
                  <a:pos x="91" y="197"/>
                </a:cxn>
                <a:cxn ang="0">
                  <a:pos x="75" y="197"/>
                </a:cxn>
                <a:cxn ang="0">
                  <a:pos x="60" y="197"/>
                </a:cxn>
                <a:cxn ang="0">
                  <a:pos x="44" y="197"/>
                </a:cxn>
                <a:cxn ang="0">
                  <a:pos x="32" y="194"/>
                </a:cxn>
                <a:cxn ang="0">
                  <a:pos x="20" y="193"/>
                </a:cxn>
                <a:cxn ang="0">
                  <a:pos x="20" y="174"/>
                </a:cxn>
                <a:cxn ang="0">
                  <a:pos x="18" y="165"/>
                </a:cxn>
                <a:cxn ang="0">
                  <a:pos x="16" y="163"/>
                </a:cxn>
                <a:cxn ang="0">
                  <a:pos x="7" y="162"/>
                </a:cxn>
                <a:cxn ang="0">
                  <a:pos x="2" y="151"/>
                </a:cxn>
                <a:cxn ang="0">
                  <a:pos x="0" y="152"/>
                </a:cxn>
                <a:cxn ang="0">
                  <a:pos x="1" y="149"/>
                </a:cxn>
                <a:cxn ang="0">
                  <a:pos x="6" y="134"/>
                </a:cxn>
                <a:cxn ang="0">
                  <a:pos x="12" y="123"/>
                </a:cxn>
                <a:cxn ang="0">
                  <a:pos x="19" y="113"/>
                </a:cxn>
                <a:cxn ang="0">
                  <a:pos x="31" y="109"/>
                </a:cxn>
                <a:cxn ang="0">
                  <a:pos x="42" y="120"/>
                </a:cxn>
                <a:cxn ang="0">
                  <a:pos x="51" y="105"/>
                </a:cxn>
                <a:cxn ang="0">
                  <a:pos x="57" y="90"/>
                </a:cxn>
                <a:cxn ang="0">
                  <a:pos x="63" y="80"/>
                </a:cxn>
                <a:cxn ang="0">
                  <a:pos x="69" y="66"/>
                </a:cxn>
                <a:cxn ang="0">
                  <a:pos x="74" y="53"/>
                </a:cxn>
                <a:cxn ang="0">
                  <a:pos x="80" y="41"/>
                </a:cxn>
                <a:cxn ang="0">
                  <a:pos x="91" y="30"/>
                </a:cxn>
                <a:cxn ang="0">
                  <a:pos x="96" y="20"/>
                </a:cxn>
                <a:cxn ang="0">
                  <a:pos x="88" y="13"/>
                </a:cxn>
                <a:cxn ang="0">
                  <a:pos x="86" y="0"/>
                </a:cxn>
                <a:cxn ang="0">
                  <a:pos x="92" y="0"/>
                </a:cxn>
                <a:cxn ang="0">
                  <a:pos x="99" y="18"/>
                </a:cxn>
                <a:cxn ang="0">
                  <a:pos x="102" y="38"/>
                </a:cxn>
                <a:cxn ang="0">
                  <a:pos x="112" y="56"/>
                </a:cxn>
              </a:cxnLst>
              <a:rect l="0" t="0" r="r" b="b"/>
              <a:pathLst>
                <a:path w="121" h="204">
                  <a:moveTo>
                    <a:pt x="112" y="56"/>
                  </a:moveTo>
                  <a:lnTo>
                    <a:pt x="93" y="56"/>
                  </a:lnTo>
                  <a:lnTo>
                    <a:pt x="86" y="60"/>
                  </a:lnTo>
                  <a:lnTo>
                    <a:pt x="99" y="77"/>
                  </a:lnTo>
                  <a:lnTo>
                    <a:pt x="109" y="99"/>
                  </a:lnTo>
                  <a:lnTo>
                    <a:pt x="102" y="114"/>
                  </a:lnTo>
                  <a:lnTo>
                    <a:pt x="93" y="128"/>
                  </a:lnTo>
                  <a:lnTo>
                    <a:pt x="99" y="153"/>
                  </a:lnTo>
                  <a:lnTo>
                    <a:pt x="108" y="167"/>
                  </a:lnTo>
                  <a:lnTo>
                    <a:pt x="116" y="179"/>
                  </a:lnTo>
                  <a:lnTo>
                    <a:pt x="121" y="195"/>
                  </a:lnTo>
                  <a:lnTo>
                    <a:pt x="118" y="204"/>
                  </a:lnTo>
                  <a:lnTo>
                    <a:pt x="104" y="200"/>
                  </a:lnTo>
                  <a:lnTo>
                    <a:pt x="91" y="197"/>
                  </a:lnTo>
                  <a:lnTo>
                    <a:pt x="75" y="197"/>
                  </a:lnTo>
                  <a:lnTo>
                    <a:pt x="60" y="197"/>
                  </a:lnTo>
                  <a:lnTo>
                    <a:pt x="44" y="197"/>
                  </a:lnTo>
                  <a:lnTo>
                    <a:pt x="32" y="194"/>
                  </a:lnTo>
                  <a:lnTo>
                    <a:pt x="20" y="193"/>
                  </a:lnTo>
                  <a:lnTo>
                    <a:pt x="20" y="174"/>
                  </a:lnTo>
                  <a:lnTo>
                    <a:pt x="18" y="165"/>
                  </a:lnTo>
                  <a:lnTo>
                    <a:pt x="16" y="163"/>
                  </a:lnTo>
                  <a:lnTo>
                    <a:pt x="7" y="162"/>
                  </a:lnTo>
                  <a:lnTo>
                    <a:pt x="2" y="151"/>
                  </a:lnTo>
                  <a:lnTo>
                    <a:pt x="0" y="152"/>
                  </a:lnTo>
                  <a:lnTo>
                    <a:pt x="1" y="149"/>
                  </a:lnTo>
                  <a:lnTo>
                    <a:pt x="6" y="134"/>
                  </a:lnTo>
                  <a:lnTo>
                    <a:pt x="12" y="123"/>
                  </a:lnTo>
                  <a:lnTo>
                    <a:pt x="19" y="113"/>
                  </a:lnTo>
                  <a:lnTo>
                    <a:pt x="31" y="109"/>
                  </a:lnTo>
                  <a:lnTo>
                    <a:pt x="42" y="120"/>
                  </a:lnTo>
                  <a:lnTo>
                    <a:pt x="51" y="105"/>
                  </a:lnTo>
                  <a:lnTo>
                    <a:pt x="57" y="90"/>
                  </a:lnTo>
                  <a:lnTo>
                    <a:pt x="63" y="80"/>
                  </a:lnTo>
                  <a:lnTo>
                    <a:pt x="69" y="66"/>
                  </a:lnTo>
                  <a:lnTo>
                    <a:pt x="74" y="53"/>
                  </a:lnTo>
                  <a:lnTo>
                    <a:pt x="80" y="41"/>
                  </a:lnTo>
                  <a:lnTo>
                    <a:pt x="91" y="30"/>
                  </a:lnTo>
                  <a:lnTo>
                    <a:pt x="96" y="20"/>
                  </a:lnTo>
                  <a:lnTo>
                    <a:pt x="88" y="13"/>
                  </a:lnTo>
                  <a:lnTo>
                    <a:pt x="86" y="0"/>
                  </a:lnTo>
                  <a:lnTo>
                    <a:pt x="92" y="0"/>
                  </a:lnTo>
                  <a:lnTo>
                    <a:pt x="99" y="18"/>
                  </a:lnTo>
                  <a:lnTo>
                    <a:pt x="102" y="38"/>
                  </a:lnTo>
                  <a:lnTo>
                    <a:pt x="112"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6" name="Freeform 115"/>
            <p:cNvSpPr>
              <a:spLocks/>
            </p:cNvSpPr>
            <p:nvPr/>
          </p:nvSpPr>
          <p:spPr bwMode="auto">
            <a:xfrm>
              <a:off x="2787" y="2487"/>
              <a:ext cx="229" cy="174"/>
            </a:xfrm>
            <a:custGeom>
              <a:avLst/>
              <a:gdLst/>
              <a:ahLst/>
              <a:cxnLst>
                <a:cxn ang="0">
                  <a:pos x="72" y="42"/>
                </a:cxn>
                <a:cxn ang="0">
                  <a:pos x="70" y="38"/>
                </a:cxn>
                <a:cxn ang="0">
                  <a:pos x="93" y="33"/>
                </a:cxn>
                <a:cxn ang="0">
                  <a:pos x="105" y="18"/>
                </a:cxn>
                <a:cxn ang="0">
                  <a:pos x="117" y="4"/>
                </a:cxn>
                <a:cxn ang="0">
                  <a:pos x="132" y="0"/>
                </a:cxn>
                <a:cxn ang="0">
                  <a:pos x="138" y="11"/>
                </a:cxn>
                <a:cxn ang="0">
                  <a:pos x="145" y="22"/>
                </a:cxn>
                <a:cxn ang="0">
                  <a:pos x="143" y="40"/>
                </a:cxn>
                <a:cxn ang="0">
                  <a:pos x="154" y="42"/>
                </a:cxn>
                <a:cxn ang="0">
                  <a:pos x="157" y="47"/>
                </a:cxn>
                <a:cxn ang="0">
                  <a:pos x="172" y="58"/>
                </a:cxn>
                <a:cxn ang="0">
                  <a:pos x="174" y="65"/>
                </a:cxn>
                <a:cxn ang="0">
                  <a:pos x="189" y="78"/>
                </a:cxn>
                <a:cxn ang="0">
                  <a:pos x="195" y="88"/>
                </a:cxn>
                <a:cxn ang="0">
                  <a:pos x="204" y="100"/>
                </a:cxn>
                <a:cxn ang="0">
                  <a:pos x="207" y="106"/>
                </a:cxn>
                <a:cxn ang="0">
                  <a:pos x="198" y="104"/>
                </a:cxn>
                <a:cxn ang="0">
                  <a:pos x="185" y="102"/>
                </a:cxn>
                <a:cxn ang="0">
                  <a:pos x="173" y="101"/>
                </a:cxn>
                <a:cxn ang="0">
                  <a:pos x="167" y="106"/>
                </a:cxn>
                <a:cxn ang="0">
                  <a:pos x="155" y="106"/>
                </a:cxn>
                <a:cxn ang="0">
                  <a:pos x="139" y="112"/>
                </a:cxn>
                <a:cxn ang="0">
                  <a:pos x="132" y="111"/>
                </a:cxn>
                <a:cxn ang="0">
                  <a:pos x="125" y="122"/>
                </a:cxn>
                <a:cxn ang="0">
                  <a:pos x="111" y="118"/>
                </a:cxn>
                <a:cxn ang="0">
                  <a:pos x="95" y="113"/>
                </a:cxn>
                <a:cxn ang="0">
                  <a:pos x="78" y="104"/>
                </a:cxn>
                <a:cxn ang="0">
                  <a:pos x="66" y="120"/>
                </a:cxn>
                <a:cxn ang="0">
                  <a:pos x="66" y="134"/>
                </a:cxn>
                <a:cxn ang="0">
                  <a:pos x="54" y="132"/>
                </a:cxn>
                <a:cxn ang="0">
                  <a:pos x="42" y="131"/>
                </a:cxn>
                <a:cxn ang="0">
                  <a:pos x="34" y="137"/>
                </a:cxn>
                <a:cxn ang="0">
                  <a:pos x="28" y="156"/>
                </a:cxn>
                <a:cxn ang="0">
                  <a:pos x="23" y="140"/>
                </a:cxn>
                <a:cxn ang="0">
                  <a:pos x="15" y="128"/>
                </a:cxn>
                <a:cxn ang="0">
                  <a:pos x="6" y="114"/>
                </a:cxn>
                <a:cxn ang="0">
                  <a:pos x="0" y="89"/>
                </a:cxn>
                <a:cxn ang="0">
                  <a:pos x="9" y="75"/>
                </a:cxn>
                <a:cxn ang="0">
                  <a:pos x="16" y="60"/>
                </a:cxn>
                <a:cxn ang="0">
                  <a:pos x="31" y="56"/>
                </a:cxn>
                <a:cxn ang="0">
                  <a:pos x="34" y="58"/>
                </a:cxn>
                <a:cxn ang="0">
                  <a:pos x="43" y="57"/>
                </a:cxn>
                <a:cxn ang="0">
                  <a:pos x="65" y="52"/>
                </a:cxn>
                <a:cxn ang="0">
                  <a:pos x="72" y="42"/>
                </a:cxn>
              </a:cxnLst>
              <a:rect l="0" t="0" r="r" b="b"/>
              <a:pathLst>
                <a:path w="207" h="156">
                  <a:moveTo>
                    <a:pt x="72" y="42"/>
                  </a:moveTo>
                  <a:lnTo>
                    <a:pt x="70" y="38"/>
                  </a:lnTo>
                  <a:lnTo>
                    <a:pt x="93" y="33"/>
                  </a:lnTo>
                  <a:lnTo>
                    <a:pt x="105" y="18"/>
                  </a:lnTo>
                  <a:lnTo>
                    <a:pt x="117" y="4"/>
                  </a:lnTo>
                  <a:lnTo>
                    <a:pt x="132" y="0"/>
                  </a:lnTo>
                  <a:lnTo>
                    <a:pt x="138" y="11"/>
                  </a:lnTo>
                  <a:lnTo>
                    <a:pt x="145" y="22"/>
                  </a:lnTo>
                  <a:lnTo>
                    <a:pt x="143" y="40"/>
                  </a:lnTo>
                  <a:lnTo>
                    <a:pt x="154" y="42"/>
                  </a:lnTo>
                  <a:lnTo>
                    <a:pt x="157" y="47"/>
                  </a:lnTo>
                  <a:lnTo>
                    <a:pt x="172" y="58"/>
                  </a:lnTo>
                  <a:lnTo>
                    <a:pt x="174" y="65"/>
                  </a:lnTo>
                  <a:lnTo>
                    <a:pt x="189" y="78"/>
                  </a:lnTo>
                  <a:lnTo>
                    <a:pt x="195" y="88"/>
                  </a:lnTo>
                  <a:lnTo>
                    <a:pt x="204" y="100"/>
                  </a:lnTo>
                  <a:lnTo>
                    <a:pt x="207" y="106"/>
                  </a:lnTo>
                  <a:lnTo>
                    <a:pt x="198" y="104"/>
                  </a:lnTo>
                  <a:lnTo>
                    <a:pt x="185" y="102"/>
                  </a:lnTo>
                  <a:lnTo>
                    <a:pt x="173" y="101"/>
                  </a:lnTo>
                  <a:lnTo>
                    <a:pt x="167" y="106"/>
                  </a:lnTo>
                  <a:lnTo>
                    <a:pt x="155" y="106"/>
                  </a:lnTo>
                  <a:lnTo>
                    <a:pt x="139" y="112"/>
                  </a:lnTo>
                  <a:lnTo>
                    <a:pt x="132" y="111"/>
                  </a:lnTo>
                  <a:lnTo>
                    <a:pt x="125" y="122"/>
                  </a:lnTo>
                  <a:lnTo>
                    <a:pt x="111" y="118"/>
                  </a:lnTo>
                  <a:lnTo>
                    <a:pt x="95" y="113"/>
                  </a:lnTo>
                  <a:lnTo>
                    <a:pt x="78" y="104"/>
                  </a:lnTo>
                  <a:lnTo>
                    <a:pt x="66" y="120"/>
                  </a:lnTo>
                  <a:lnTo>
                    <a:pt x="66" y="134"/>
                  </a:lnTo>
                  <a:lnTo>
                    <a:pt x="54" y="132"/>
                  </a:lnTo>
                  <a:lnTo>
                    <a:pt x="42" y="131"/>
                  </a:lnTo>
                  <a:lnTo>
                    <a:pt x="34" y="137"/>
                  </a:lnTo>
                  <a:lnTo>
                    <a:pt x="28" y="156"/>
                  </a:lnTo>
                  <a:lnTo>
                    <a:pt x="23" y="140"/>
                  </a:lnTo>
                  <a:lnTo>
                    <a:pt x="15" y="128"/>
                  </a:lnTo>
                  <a:lnTo>
                    <a:pt x="6" y="114"/>
                  </a:lnTo>
                  <a:lnTo>
                    <a:pt x="0" y="89"/>
                  </a:lnTo>
                  <a:lnTo>
                    <a:pt x="9" y="75"/>
                  </a:lnTo>
                  <a:lnTo>
                    <a:pt x="16" y="60"/>
                  </a:lnTo>
                  <a:lnTo>
                    <a:pt x="31" y="56"/>
                  </a:lnTo>
                  <a:lnTo>
                    <a:pt x="34" y="58"/>
                  </a:lnTo>
                  <a:lnTo>
                    <a:pt x="43" y="57"/>
                  </a:lnTo>
                  <a:lnTo>
                    <a:pt x="65" y="52"/>
                  </a:lnTo>
                  <a:lnTo>
                    <a:pt x="72"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7" name="Freeform 116"/>
            <p:cNvSpPr>
              <a:spLocks/>
            </p:cNvSpPr>
            <p:nvPr/>
          </p:nvSpPr>
          <p:spPr bwMode="auto">
            <a:xfrm>
              <a:off x="2238" y="2430"/>
              <a:ext cx="51" cy="13"/>
            </a:xfrm>
            <a:custGeom>
              <a:avLst/>
              <a:gdLst/>
              <a:ahLst/>
              <a:cxnLst>
                <a:cxn ang="0">
                  <a:pos x="2" y="5"/>
                </a:cxn>
                <a:cxn ang="0">
                  <a:pos x="0" y="12"/>
                </a:cxn>
                <a:cxn ang="0">
                  <a:pos x="13" y="8"/>
                </a:cxn>
                <a:cxn ang="0">
                  <a:pos x="25" y="3"/>
                </a:cxn>
                <a:cxn ang="0">
                  <a:pos x="46" y="8"/>
                </a:cxn>
                <a:cxn ang="0">
                  <a:pos x="42" y="3"/>
                </a:cxn>
                <a:cxn ang="0">
                  <a:pos x="23" y="0"/>
                </a:cxn>
                <a:cxn ang="0">
                  <a:pos x="20" y="3"/>
                </a:cxn>
                <a:cxn ang="0">
                  <a:pos x="4" y="3"/>
                </a:cxn>
                <a:cxn ang="0">
                  <a:pos x="4" y="5"/>
                </a:cxn>
                <a:cxn ang="0">
                  <a:pos x="18" y="5"/>
                </a:cxn>
                <a:cxn ang="0">
                  <a:pos x="10" y="8"/>
                </a:cxn>
                <a:cxn ang="0">
                  <a:pos x="2" y="5"/>
                </a:cxn>
              </a:cxnLst>
              <a:rect l="0" t="0" r="r" b="b"/>
              <a:pathLst>
                <a:path w="46" h="12">
                  <a:moveTo>
                    <a:pt x="2" y="5"/>
                  </a:moveTo>
                  <a:lnTo>
                    <a:pt x="0" y="12"/>
                  </a:lnTo>
                  <a:lnTo>
                    <a:pt x="13" y="8"/>
                  </a:lnTo>
                  <a:lnTo>
                    <a:pt x="25" y="3"/>
                  </a:lnTo>
                  <a:lnTo>
                    <a:pt x="46" y="8"/>
                  </a:lnTo>
                  <a:lnTo>
                    <a:pt x="42" y="3"/>
                  </a:lnTo>
                  <a:lnTo>
                    <a:pt x="23" y="0"/>
                  </a:lnTo>
                  <a:lnTo>
                    <a:pt x="20" y="3"/>
                  </a:lnTo>
                  <a:lnTo>
                    <a:pt x="4" y="3"/>
                  </a:lnTo>
                  <a:lnTo>
                    <a:pt x="4" y="5"/>
                  </a:lnTo>
                  <a:lnTo>
                    <a:pt x="18" y="5"/>
                  </a:lnTo>
                  <a:lnTo>
                    <a:pt x="10" y="8"/>
                  </a:lnTo>
                  <a:lnTo>
                    <a:pt x="2"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8" name="Freeform 117"/>
            <p:cNvSpPr>
              <a:spLocks/>
            </p:cNvSpPr>
            <p:nvPr/>
          </p:nvSpPr>
          <p:spPr bwMode="auto">
            <a:xfrm>
              <a:off x="2476" y="2483"/>
              <a:ext cx="77" cy="127"/>
            </a:xfrm>
            <a:custGeom>
              <a:avLst/>
              <a:gdLst/>
              <a:ahLst/>
              <a:cxnLst>
                <a:cxn ang="0">
                  <a:pos x="61" y="97"/>
                </a:cxn>
                <a:cxn ang="0">
                  <a:pos x="50" y="100"/>
                </a:cxn>
                <a:cxn ang="0">
                  <a:pos x="38" y="105"/>
                </a:cxn>
                <a:cxn ang="0">
                  <a:pos x="27" y="110"/>
                </a:cxn>
                <a:cxn ang="0">
                  <a:pos x="16" y="114"/>
                </a:cxn>
                <a:cxn ang="0">
                  <a:pos x="1" y="109"/>
                </a:cxn>
                <a:cxn ang="0">
                  <a:pos x="6" y="105"/>
                </a:cxn>
                <a:cxn ang="0">
                  <a:pos x="3" y="91"/>
                </a:cxn>
                <a:cxn ang="0">
                  <a:pos x="0" y="78"/>
                </a:cxn>
                <a:cxn ang="0">
                  <a:pos x="6" y="66"/>
                </a:cxn>
                <a:cxn ang="0">
                  <a:pos x="10" y="52"/>
                </a:cxn>
                <a:cxn ang="0">
                  <a:pos x="8" y="30"/>
                </a:cxn>
                <a:cxn ang="0">
                  <a:pos x="7" y="16"/>
                </a:cxn>
                <a:cxn ang="0">
                  <a:pos x="6" y="2"/>
                </a:cxn>
                <a:cxn ang="0">
                  <a:pos x="25" y="2"/>
                </a:cxn>
                <a:cxn ang="0">
                  <a:pos x="43" y="1"/>
                </a:cxn>
                <a:cxn ang="0">
                  <a:pos x="48" y="0"/>
                </a:cxn>
                <a:cxn ang="0">
                  <a:pos x="50" y="6"/>
                </a:cxn>
                <a:cxn ang="0">
                  <a:pos x="56" y="21"/>
                </a:cxn>
                <a:cxn ang="0">
                  <a:pos x="56" y="30"/>
                </a:cxn>
                <a:cxn ang="0">
                  <a:pos x="57" y="42"/>
                </a:cxn>
                <a:cxn ang="0">
                  <a:pos x="60" y="54"/>
                </a:cxn>
                <a:cxn ang="0">
                  <a:pos x="61" y="68"/>
                </a:cxn>
                <a:cxn ang="0">
                  <a:pos x="61" y="81"/>
                </a:cxn>
                <a:cxn ang="0">
                  <a:pos x="69" y="91"/>
                </a:cxn>
                <a:cxn ang="0">
                  <a:pos x="61" y="97"/>
                </a:cxn>
                <a:cxn ang="0">
                  <a:pos x="55" y="92"/>
                </a:cxn>
                <a:cxn ang="0">
                  <a:pos x="61" y="97"/>
                </a:cxn>
              </a:cxnLst>
              <a:rect l="0" t="0" r="r" b="b"/>
              <a:pathLst>
                <a:path w="69" h="114">
                  <a:moveTo>
                    <a:pt x="61" y="97"/>
                  </a:moveTo>
                  <a:lnTo>
                    <a:pt x="50" y="100"/>
                  </a:lnTo>
                  <a:lnTo>
                    <a:pt x="38" y="105"/>
                  </a:lnTo>
                  <a:lnTo>
                    <a:pt x="27" y="110"/>
                  </a:lnTo>
                  <a:lnTo>
                    <a:pt x="16" y="114"/>
                  </a:lnTo>
                  <a:lnTo>
                    <a:pt x="1" y="109"/>
                  </a:lnTo>
                  <a:lnTo>
                    <a:pt x="6" y="105"/>
                  </a:lnTo>
                  <a:lnTo>
                    <a:pt x="3" y="91"/>
                  </a:lnTo>
                  <a:lnTo>
                    <a:pt x="0" y="78"/>
                  </a:lnTo>
                  <a:lnTo>
                    <a:pt x="6" y="66"/>
                  </a:lnTo>
                  <a:lnTo>
                    <a:pt x="10" y="52"/>
                  </a:lnTo>
                  <a:lnTo>
                    <a:pt x="8" y="30"/>
                  </a:lnTo>
                  <a:lnTo>
                    <a:pt x="7" y="16"/>
                  </a:lnTo>
                  <a:lnTo>
                    <a:pt x="6" y="2"/>
                  </a:lnTo>
                  <a:lnTo>
                    <a:pt x="25" y="2"/>
                  </a:lnTo>
                  <a:lnTo>
                    <a:pt x="43" y="1"/>
                  </a:lnTo>
                  <a:lnTo>
                    <a:pt x="48" y="0"/>
                  </a:lnTo>
                  <a:lnTo>
                    <a:pt x="50" y="6"/>
                  </a:lnTo>
                  <a:lnTo>
                    <a:pt x="56" y="21"/>
                  </a:lnTo>
                  <a:lnTo>
                    <a:pt x="56" y="30"/>
                  </a:lnTo>
                  <a:lnTo>
                    <a:pt x="57" y="42"/>
                  </a:lnTo>
                  <a:lnTo>
                    <a:pt x="60" y="54"/>
                  </a:lnTo>
                  <a:lnTo>
                    <a:pt x="61" y="68"/>
                  </a:lnTo>
                  <a:lnTo>
                    <a:pt x="61" y="81"/>
                  </a:lnTo>
                  <a:lnTo>
                    <a:pt x="69" y="91"/>
                  </a:lnTo>
                  <a:lnTo>
                    <a:pt x="61" y="97"/>
                  </a:lnTo>
                  <a:lnTo>
                    <a:pt x="55" y="92"/>
                  </a:lnTo>
                  <a:lnTo>
                    <a:pt x="61" y="9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9" name="Freeform 118"/>
            <p:cNvSpPr>
              <a:spLocks/>
            </p:cNvSpPr>
            <p:nvPr/>
          </p:nvSpPr>
          <p:spPr bwMode="auto">
            <a:xfrm>
              <a:off x="2267" y="2452"/>
              <a:ext cx="129" cy="109"/>
            </a:xfrm>
            <a:custGeom>
              <a:avLst/>
              <a:gdLst/>
              <a:ahLst/>
              <a:cxnLst>
                <a:cxn ang="0">
                  <a:pos x="105" y="23"/>
                </a:cxn>
                <a:cxn ang="0">
                  <a:pos x="102" y="29"/>
                </a:cxn>
                <a:cxn ang="0">
                  <a:pos x="105" y="29"/>
                </a:cxn>
                <a:cxn ang="0">
                  <a:pos x="112" y="46"/>
                </a:cxn>
                <a:cxn ang="0">
                  <a:pos x="111" y="59"/>
                </a:cxn>
                <a:cxn ang="0">
                  <a:pos x="113" y="62"/>
                </a:cxn>
                <a:cxn ang="0">
                  <a:pos x="114" y="66"/>
                </a:cxn>
                <a:cxn ang="0">
                  <a:pos x="116" y="72"/>
                </a:cxn>
                <a:cxn ang="0">
                  <a:pos x="116" y="77"/>
                </a:cxn>
                <a:cxn ang="0">
                  <a:pos x="108" y="78"/>
                </a:cxn>
                <a:cxn ang="0">
                  <a:pos x="111" y="85"/>
                </a:cxn>
                <a:cxn ang="0">
                  <a:pos x="106" y="91"/>
                </a:cxn>
                <a:cxn ang="0">
                  <a:pos x="105" y="92"/>
                </a:cxn>
                <a:cxn ang="0">
                  <a:pos x="100" y="92"/>
                </a:cxn>
                <a:cxn ang="0">
                  <a:pos x="93" y="97"/>
                </a:cxn>
                <a:cxn ang="0">
                  <a:pos x="89" y="94"/>
                </a:cxn>
                <a:cxn ang="0">
                  <a:pos x="84" y="76"/>
                </a:cxn>
                <a:cxn ang="0">
                  <a:pos x="76" y="76"/>
                </a:cxn>
                <a:cxn ang="0">
                  <a:pos x="70" y="77"/>
                </a:cxn>
                <a:cxn ang="0">
                  <a:pos x="71" y="65"/>
                </a:cxn>
                <a:cxn ang="0">
                  <a:pos x="62" y="48"/>
                </a:cxn>
                <a:cxn ang="0">
                  <a:pos x="40" y="54"/>
                </a:cxn>
                <a:cxn ang="0">
                  <a:pos x="28" y="66"/>
                </a:cxn>
                <a:cxn ang="0">
                  <a:pos x="27" y="60"/>
                </a:cxn>
                <a:cxn ang="0">
                  <a:pos x="23" y="55"/>
                </a:cxn>
                <a:cxn ang="0">
                  <a:pos x="21" y="52"/>
                </a:cxn>
                <a:cxn ang="0">
                  <a:pos x="16" y="47"/>
                </a:cxn>
                <a:cxn ang="0">
                  <a:pos x="8" y="37"/>
                </a:cxn>
                <a:cxn ang="0">
                  <a:pos x="8" y="34"/>
                </a:cxn>
                <a:cxn ang="0">
                  <a:pos x="6" y="35"/>
                </a:cxn>
                <a:cxn ang="0">
                  <a:pos x="5" y="30"/>
                </a:cxn>
                <a:cxn ang="0">
                  <a:pos x="0" y="32"/>
                </a:cxn>
                <a:cxn ang="0">
                  <a:pos x="2" y="31"/>
                </a:cxn>
                <a:cxn ang="0">
                  <a:pos x="5" y="24"/>
                </a:cxn>
                <a:cxn ang="0">
                  <a:pos x="20" y="18"/>
                </a:cxn>
                <a:cxn ang="0">
                  <a:pos x="20" y="8"/>
                </a:cxn>
                <a:cxn ang="0">
                  <a:pos x="22" y="0"/>
                </a:cxn>
                <a:cxn ang="0">
                  <a:pos x="36" y="4"/>
                </a:cxn>
                <a:cxn ang="0">
                  <a:pos x="59" y="5"/>
                </a:cxn>
                <a:cxn ang="0">
                  <a:pos x="57" y="10"/>
                </a:cxn>
                <a:cxn ang="0">
                  <a:pos x="66" y="10"/>
                </a:cxn>
                <a:cxn ang="0">
                  <a:pos x="71" y="12"/>
                </a:cxn>
                <a:cxn ang="0">
                  <a:pos x="81" y="11"/>
                </a:cxn>
                <a:cxn ang="0">
                  <a:pos x="92" y="7"/>
                </a:cxn>
                <a:cxn ang="0">
                  <a:pos x="94" y="4"/>
                </a:cxn>
                <a:cxn ang="0">
                  <a:pos x="99" y="18"/>
                </a:cxn>
                <a:cxn ang="0">
                  <a:pos x="105" y="23"/>
                </a:cxn>
              </a:cxnLst>
              <a:rect l="0" t="0" r="r" b="b"/>
              <a:pathLst>
                <a:path w="116" h="97">
                  <a:moveTo>
                    <a:pt x="105" y="23"/>
                  </a:moveTo>
                  <a:lnTo>
                    <a:pt x="102" y="29"/>
                  </a:lnTo>
                  <a:lnTo>
                    <a:pt x="105" y="29"/>
                  </a:lnTo>
                  <a:lnTo>
                    <a:pt x="112" y="46"/>
                  </a:lnTo>
                  <a:lnTo>
                    <a:pt x="111" y="59"/>
                  </a:lnTo>
                  <a:lnTo>
                    <a:pt x="113" y="62"/>
                  </a:lnTo>
                  <a:lnTo>
                    <a:pt x="114" y="66"/>
                  </a:lnTo>
                  <a:lnTo>
                    <a:pt x="116" y="72"/>
                  </a:lnTo>
                  <a:lnTo>
                    <a:pt x="116" y="77"/>
                  </a:lnTo>
                  <a:lnTo>
                    <a:pt x="108" y="78"/>
                  </a:lnTo>
                  <a:lnTo>
                    <a:pt x="111" y="85"/>
                  </a:lnTo>
                  <a:lnTo>
                    <a:pt x="106" y="91"/>
                  </a:lnTo>
                  <a:lnTo>
                    <a:pt x="105" y="92"/>
                  </a:lnTo>
                  <a:lnTo>
                    <a:pt x="100" y="92"/>
                  </a:lnTo>
                  <a:lnTo>
                    <a:pt x="93" y="97"/>
                  </a:lnTo>
                  <a:lnTo>
                    <a:pt x="89" y="94"/>
                  </a:lnTo>
                  <a:lnTo>
                    <a:pt x="84" y="76"/>
                  </a:lnTo>
                  <a:lnTo>
                    <a:pt x="76" y="76"/>
                  </a:lnTo>
                  <a:lnTo>
                    <a:pt x="70" y="77"/>
                  </a:lnTo>
                  <a:lnTo>
                    <a:pt x="71" y="65"/>
                  </a:lnTo>
                  <a:lnTo>
                    <a:pt x="62" y="48"/>
                  </a:lnTo>
                  <a:lnTo>
                    <a:pt x="40" y="54"/>
                  </a:lnTo>
                  <a:lnTo>
                    <a:pt x="28" y="66"/>
                  </a:lnTo>
                  <a:lnTo>
                    <a:pt x="27" y="60"/>
                  </a:lnTo>
                  <a:lnTo>
                    <a:pt x="23" y="55"/>
                  </a:lnTo>
                  <a:lnTo>
                    <a:pt x="21" y="52"/>
                  </a:lnTo>
                  <a:lnTo>
                    <a:pt x="16" y="47"/>
                  </a:lnTo>
                  <a:lnTo>
                    <a:pt x="8" y="37"/>
                  </a:lnTo>
                  <a:lnTo>
                    <a:pt x="8" y="34"/>
                  </a:lnTo>
                  <a:lnTo>
                    <a:pt x="6" y="35"/>
                  </a:lnTo>
                  <a:lnTo>
                    <a:pt x="5" y="30"/>
                  </a:lnTo>
                  <a:lnTo>
                    <a:pt x="0" y="32"/>
                  </a:lnTo>
                  <a:lnTo>
                    <a:pt x="2" y="31"/>
                  </a:lnTo>
                  <a:lnTo>
                    <a:pt x="5" y="24"/>
                  </a:lnTo>
                  <a:lnTo>
                    <a:pt x="20" y="18"/>
                  </a:lnTo>
                  <a:lnTo>
                    <a:pt x="20" y="8"/>
                  </a:lnTo>
                  <a:lnTo>
                    <a:pt x="22" y="0"/>
                  </a:lnTo>
                  <a:lnTo>
                    <a:pt x="36" y="4"/>
                  </a:lnTo>
                  <a:lnTo>
                    <a:pt x="59" y="5"/>
                  </a:lnTo>
                  <a:lnTo>
                    <a:pt x="57" y="10"/>
                  </a:lnTo>
                  <a:lnTo>
                    <a:pt x="66" y="10"/>
                  </a:lnTo>
                  <a:lnTo>
                    <a:pt x="71" y="12"/>
                  </a:lnTo>
                  <a:lnTo>
                    <a:pt x="81" y="11"/>
                  </a:lnTo>
                  <a:lnTo>
                    <a:pt x="92" y="7"/>
                  </a:lnTo>
                  <a:lnTo>
                    <a:pt x="94" y="4"/>
                  </a:lnTo>
                  <a:lnTo>
                    <a:pt x="99" y="18"/>
                  </a:lnTo>
                  <a:lnTo>
                    <a:pt x="105" y="2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0" name="Freeform 119"/>
            <p:cNvSpPr>
              <a:spLocks/>
            </p:cNvSpPr>
            <p:nvPr/>
          </p:nvSpPr>
          <p:spPr bwMode="auto">
            <a:xfrm>
              <a:off x="2240" y="2452"/>
              <a:ext cx="51" cy="35"/>
            </a:xfrm>
            <a:custGeom>
              <a:avLst/>
              <a:gdLst/>
              <a:ahLst/>
              <a:cxnLst>
                <a:cxn ang="0">
                  <a:pos x="24" y="19"/>
                </a:cxn>
                <a:cxn ang="0">
                  <a:pos x="22" y="24"/>
                </a:cxn>
                <a:cxn ang="0">
                  <a:pos x="24" y="29"/>
                </a:cxn>
                <a:cxn ang="0">
                  <a:pos x="27" y="31"/>
                </a:cxn>
                <a:cxn ang="0">
                  <a:pos x="30" y="24"/>
                </a:cxn>
                <a:cxn ang="0">
                  <a:pos x="45" y="18"/>
                </a:cxn>
                <a:cxn ang="0">
                  <a:pos x="45" y="8"/>
                </a:cxn>
                <a:cxn ang="0">
                  <a:pos x="47" y="0"/>
                </a:cxn>
                <a:cxn ang="0">
                  <a:pos x="34" y="1"/>
                </a:cxn>
                <a:cxn ang="0">
                  <a:pos x="21" y="2"/>
                </a:cxn>
                <a:cxn ang="0">
                  <a:pos x="0" y="7"/>
                </a:cxn>
                <a:cxn ang="0">
                  <a:pos x="7" y="7"/>
                </a:cxn>
                <a:cxn ang="0">
                  <a:pos x="5" y="11"/>
                </a:cxn>
                <a:cxn ang="0">
                  <a:pos x="13" y="12"/>
                </a:cxn>
                <a:cxn ang="0">
                  <a:pos x="12" y="14"/>
                </a:cxn>
                <a:cxn ang="0">
                  <a:pos x="23" y="14"/>
                </a:cxn>
                <a:cxn ang="0">
                  <a:pos x="27" y="17"/>
                </a:cxn>
                <a:cxn ang="0">
                  <a:pos x="18" y="18"/>
                </a:cxn>
                <a:cxn ang="0">
                  <a:pos x="24" y="19"/>
                </a:cxn>
              </a:cxnLst>
              <a:rect l="0" t="0" r="r" b="b"/>
              <a:pathLst>
                <a:path w="47" h="31">
                  <a:moveTo>
                    <a:pt x="24" y="19"/>
                  </a:moveTo>
                  <a:lnTo>
                    <a:pt x="22" y="24"/>
                  </a:lnTo>
                  <a:lnTo>
                    <a:pt x="24" y="29"/>
                  </a:lnTo>
                  <a:lnTo>
                    <a:pt x="27" y="31"/>
                  </a:lnTo>
                  <a:lnTo>
                    <a:pt x="30" y="24"/>
                  </a:lnTo>
                  <a:lnTo>
                    <a:pt x="45" y="18"/>
                  </a:lnTo>
                  <a:lnTo>
                    <a:pt x="45" y="8"/>
                  </a:lnTo>
                  <a:lnTo>
                    <a:pt x="47" y="0"/>
                  </a:lnTo>
                  <a:lnTo>
                    <a:pt x="34" y="1"/>
                  </a:lnTo>
                  <a:lnTo>
                    <a:pt x="21" y="2"/>
                  </a:lnTo>
                  <a:lnTo>
                    <a:pt x="0" y="7"/>
                  </a:lnTo>
                  <a:lnTo>
                    <a:pt x="7" y="7"/>
                  </a:lnTo>
                  <a:lnTo>
                    <a:pt x="5" y="11"/>
                  </a:lnTo>
                  <a:lnTo>
                    <a:pt x="13" y="12"/>
                  </a:lnTo>
                  <a:lnTo>
                    <a:pt x="12" y="14"/>
                  </a:lnTo>
                  <a:lnTo>
                    <a:pt x="23" y="14"/>
                  </a:lnTo>
                  <a:lnTo>
                    <a:pt x="27" y="17"/>
                  </a:lnTo>
                  <a:lnTo>
                    <a:pt x="18" y="18"/>
                  </a:lnTo>
                  <a:lnTo>
                    <a:pt x="24"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1" name="Freeform 120"/>
            <p:cNvSpPr>
              <a:spLocks/>
            </p:cNvSpPr>
            <p:nvPr/>
          </p:nvSpPr>
          <p:spPr bwMode="auto">
            <a:xfrm>
              <a:off x="2382" y="2492"/>
              <a:ext cx="105" cy="127"/>
            </a:xfrm>
            <a:custGeom>
              <a:avLst/>
              <a:gdLst/>
              <a:ahLst/>
              <a:cxnLst>
                <a:cxn ang="0">
                  <a:pos x="53" y="7"/>
                </a:cxn>
                <a:cxn ang="0">
                  <a:pos x="47" y="5"/>
                </a:cxn>
                <a:cxn ang="0">
                  <a:pos x="36" y="7"/>
                </a:cxn>
                <a:cxn ang="0">
                  <a:pos x="33" y="0"/>
                </a:cxn>
                <a:cxn ang="0">
                  <a:pos x="27" y="4"/>
                </a:cxn>
                <a:cxn ang="0">
                  <a:pos x="20" y="8"/>
                </a:cxn>
                <a:cxn ang="0">
                  <a:pos x="11" y="6"/>
                </a:cxn>
                <a:cxn ang="0">
                  <a:pos x="7" y="10"/>
                </a:cxn>
                <a:cxn ang="0">
                  <a:pos x="6" y="23"/>
                </a:cxn>
                <a:cxn ang="0">
                  <a:pos x="8" y="26"/>
                </a:cxn>
                <a:cxn ang="0">
                  <a:pos x="9" y="30"/>
                </a:cxn>
                <a:cxn ang="0">
                  <a:pos x="11" y="36"/>
                </a:cxn>
                <a:cxn ang="0">
                  <a:pos x="11" y="41"/>
                </a:cxn>
                <a:cxn ang="0">
                  <a:pos x="3" y="42"/>
                </a:cxn>
                <a:cxn ang="0">
                  <a:pos x="6" y="49"/>
                </a:cxn>
                <a:cxn ang="0">
                  <a:pos x="1" y="55"/>
                </a:cxn>
                <a:cxn ang="0">
                  <a:pos x="0" y="56"/>
                </a:cxn>
                <a:cxn ang="0">
                  <a:pos x="0" y="72"/>
                </a:cxn>
                <a:cxn ang="0">
                  <a:pos x="0" y="76"/>
                </a:cxn>
                <a:cxn ang="0">
                  <a:pos x="9" y="84"/>
                </a:cxn>
                <a:cxn ang="0">
                  <a:pos x="17" y="92"/>
                </a:cxn>
                <a:cxn ang="0">
                  <a:pos x="14" y="114"/>
                </a:cxn>
                <a:cxn ang="0">
                  <a:pos x="35" y="107"/>
                </a:cxn>
                <a:cxn ang="0">
                  <a:pos x="54" y="100"/>
                </a:cxn>
                <a:cxn ang="0">
                  <a:pos x="49" y="100"/>
                </a:cxn>
                <a:cxn ang="0">
                  <a:pos x="69" y="98"/>
                </a:cxn>
                <a:cxn ang="0">
                  <a:pos x="60" y="98"/>
                </a:cxn>
                <a:cxn ang="0">
                  <a:pos x="72" y="97"/>
                </a:cxn>
                <a:cxn ang="0">
                  <a:pos x="81" y="98"/>
                </a:cxn>
                <a:cxn ang="0">
                  <a:pos x="84" y="101"/>
                </a:cxn>
                <a:cxn ang="0">
                  <a:pos x="89" y="97"/>
                </a:cxn>
                <a:cxn ang="0">
                  <a:pos x="86" y="83"/>
                </a:cxn>
                <a:cxn ang="0">
                  <a:pos x="83" y="70"/>
                </a:cxn>
                <a:cxn ang="0">
                  <a:pos x="89" y="58"/>
                </a:cxn>
                <a:cxn ang="0">
                  <a:pos x="93" y="44"/>
                </a:cxn>
                <a:cxn ang="0">
                  <a:pos x="91" y="22"/>
                </a:cxn>
                <a:cxn ang="0">
                  <a:pos x="77" y="13"/>
                </a:cxn>
                <a:cxn ang="0">
                  <a:pos x="62" y="18"/>
                </a:cxn>
                <a:cxn ang="0">
                  <a:pos x="53" y="7"/>
                </a:cxn>
              </a:cxnLst>
              <a:rect l="0" t="0" r="r" b="b"/>
              <a:pathLst>
                <a:path w="93" h="114">
                  <a:moveTo>
                    <a:pt x="53" y="7"/>
                  </a:moveTo>
                  <a:lnTo>
                    <a:pt x="47" y="5"/>
                  </a:lnTo>
                  <a:lnTo>
                    <a:pt x="36" y="7"/>
                  </a:lnTo>
                  <a:lnTo>
                    <a:pt x="33" y="0"/>
                  </a:lnTo>
                  <a:lnTo>
                    <a:pt x="27" y="4"/>
                  </a:lnTo>
                  <a:lnTo>
                    <a:pt x="20" y="8"/>
                  </a:lnTo>
                  <a:lnTo>
                    <a:pt x="11" y="6"/>
                  </a:lnTo>
                  <a:lnTo>
                    <a:pt x="7" y="10"/>
                  </a:lnTo>
                  <a:lnTo>
                    <a:pt x="6" y="23"/>
                  </a:lnTo>
                  <a:lnTo>
                    <a:pt x="8" y="26"/>
                  </a:lnTo>
                  <a:lnTo>
                    <a:pt x="9" y="30"/>
                  </a:lnTo>
                  <a:lnTo>
                    <a:pt x="11" y="36"/>
                  </a:lnTo>
                  <a:lnTo>
                    <a:pt x="11" y="41"/>
                  </a:lnTo>
                  <a:lnTo>
                    <a:pt x="3" y="42"/>
                  </a:lnTo>
                  <a:lnTo>
                    <a:pt x="6" y="49"/>
                  </a:lnTo>
                  <a:lnTo>
                    <a:pt x="1" y="55"/>
                  </a:lnTo>
                  <a:lnTo>
                    <a:pt x="0" y="56"/>
                  </a:lnTo>
                  <a:lnTo>
                    <a:pt x="0" y="72"/>
                  </a:lnTo>
                  <a:lnTo>
                    <a:pt x="0" y="76"/>
                  </a:lnTo>
                  <a:lnTo>
                    <a:pt x="9" y="84"/>
                  </a:lnTo>
                  <a:lnTo>
                    <a:pt x="17" y="92"/>
                  </a:lnTo>
                  <a:lnTo>
                    <a:pt x="14" y="114"/>
                  </a:lnTo>
                  <a:lnTo>
                    <a:pt x="35" y="107"/>
                  </a:lnTo>
                  <a:lnTo>
                    <a:pt x="54" y="100"/>
                  </a:lnTo>
                  <a:lnTo>
                    <a:pt x="49" y="100"/>
                  </a:lnTo>
                  <a:lnTo>
                    <a:pt x="69" y="98"/>
                  </a:lnTo>
                  <a:lnTo>
                    <a:pt x="60" y="98"/>
                  </a:lnTo>
                  <a:lnTo>
                    <a:pt x="72" y="97"/>
                  </a:lnTo>
                  <a:lnTo>
                    <a:pt x="81" y="98"/>
                  </a:lnTo>
                  <a:lnTo>
                    <a:pt x="84" y="101"/>
                  </a:lnTo>
                  <a:lnTo>
                    <a:pt x="89" y="97"/>
                  </a:lnTo>
                  <a:lnTo>
                    <a:pt x="86" y="83"/>
                  </a:lnTo>
                  <a:lnTo>
                    <a:pt x="83" y="70"/>
                  </a:lnTo>
                  <a:lnTo>
                    <a:pt x="89" y="58"/>
                  </a:lnTo>
                  <a:lnTo>
                    <a:pt x="93" y="44"/>
                  </a:lnTo>
                  <a:lnTo>
                    <a:pt x="91" y="22"/>
                  </a:lnTo>
                  <a:lnTo>
                    <a:pt x="77" y="13"/>
                  </a:lnTo>
                  <a:lnTo>
                    <a:pt x="62" y="18"/>
                  </a:lnTo>
                  <a:lnTo>
                    <a:pt x="53"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2" name="Freeform 121"/>
            <p:cNvSpPr>
              <a:spLocks/>
            </p:cNvSpPr>
            <p:nvPr/>
          </p:nvSpPr>
          <p:spPr bwMode="auto">
            <a:xfrm>
              <a:off x="2298" y="2505"/>
              <a:ext cx="53" cy="62"/>
            </a:xfrm>
            <a:custGeom>
              <a:avLst/>
              <a:gdLst/>
              <a:ahLst/>
              <a:cxnLst>
                <a:cxn ang="0">
                  <a:pos x="48" y="28"/>
                </a:cxn>
                <a:cxn ang="0">
                  <a:pos x="41" y="38"/>
                </a:cxn>
                <a:cxn ang="0">
                  <a:pos x="34" y="49"/>
                </a:cxn>
                <a:cxn ang="0">
                  <a:pos x="29" y="55"/>
                </a:cxn>
                <a:cxn ang="0">
                  <a:pos x="12" y="47"/>
                </a:cxn>
                <a:cxn ang="0">
                  <a:pos x="16" y="44"/>
                </a:cxn>
                <a:cxn ang="0">
                  <a:pos x="12" y="42"/>
                </a:cxn>
                <a:cxn ang="0">
                  <a:pos x="1" y="30"/>
                </a:cxn>
                <a:cxn ang="0">
                  <a:pos x="6" y="26"/>
                </a:cxn>
                <a:cxn ang="0">
                  <a:pos x="1" y="24"/>
                </a:cxn>
                <a:cxn ang="0">
                  <a:pos x="5" y="22"/>
                </a:cxn>
                <a:cxn ang="0">
                  <a:pos x="0" y="18"/>
                </a:cxn>
                <a:cxn ang="0">
                  <a:pos x="12" y="6"/>
                </a:cxn>
                <a:cxn ang="0">
                  <a:pos x="34" y="0"/>
                </a:cxn>
                <a:cxn ang="0">
                  <a:pos x="43" y="17"/>
                </a:cxn>
                <a:cxn ang="0">
                  <a:pos x="42" y="29"/>
                </a:cxn>
                <a:cxn ang="0">
                  <a:pos x="48" y="28"/>
                </a:cxn>
              </a:cxnLst>
              <a:rect l="0" t="0" r="r" b="b"/>
              <a:pathLst>
                <a:path w="48" h="55">
                  <a:moveTo>
                    <a:pt x="48" y="28"/>
                  </a:moveTo>
                  <a:lnTo>
                    <a:pt x="41" y="38"/>
                  </a:lnTo>
                  <a:lnTo>
                    <a:pt x="34" y="49"/>
                  </a:lnTo>
                  <a:lnTo>
                    <a:pt x="29" y="55"/>
                  </a:lnTo>
                  <a:lnTo>
                    <a:pt x="12" y="47"/>
                  </a:lnTo>
                  <a:lnTo>
                    <a:pt x="16" y="44"/>
                  </a:lnTo>
                  <a:lnTo>
                    <a:pt x="12" y="42"/>
                  </a:lnTo>
                  <a:lnTo>
                    <a:pt x="1" y="30"/>
                  </a:lnTo>
                  <a:lnTo>
                    <a:pt x="6" y="26"/>
                  </a:lnTo>
                  <a:lnTo>
                    <a:pt x="1" y="24"/>
                  </a:lnTo>
                  <a:lnTo>
                    <a:pt x="5" y="22"/>
                  </a:lnTo>
                  <a:lnTo>
                    <a:pt x="0" y="18"/>
                  </a:lnTo>
                  <a:lnTo>
                    <a:pt x="12" y="6"/>
                  </a:lnTo>
                  <a:lnTo>
                    <a:pt x="34" y="0"/>
                  </a:lnTo>
                  <a:lnTo>
                    <a:pt x="43" y="17"/>
                  </a:lnTo>
                  <a:lnTo>
                    <a:pt x="42" y="29"/>
                  </a:lnTo>
                  <a:lnTo>
                    <a:pt x="48"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3" name="Freeform 122"/>
            <p:cNvSpPr>
              <a:spLocks/>
            </p:cNvSpPr>
            <p:nvPr/>
          </p:nvSpPr>
          <p:spPr bwMode="auto">
            <a:xfrm>
              <a:off x="2529" y="2483"/>
              <a:ext cx="31" cy="100"/>
            </a:xfrm>
            <a:custGeom>
              <a:avLst/>
              <a:gdLst/>
              <a:ahLst/>
              <a:cxnLst>
                <a:cxn ang="0">
                  <a:pos x="13" y="2"/>
                </a:cxn>
                <a:cxn ang="0">
                  <a:pos x="0" y="0"/>
                </a:cxn>
                <a:cxn ang="0">
                  <a:pos x="2" y="6"/>
                </a:cxn>
                <a:cxn ang="0">
                  <a:pos x="8" y="21"/>
                </a:cxn>
                <a:cxn ang="0">
                  <a:pos x="8" y="30"/>
                </a:cxn>
                <a:cxn ang="0">
                  <a:pos x="9" y="42"/>
                </a:cxn>
                <a:cxn ang="0">
                  <a:pos x="12" y="54"/>
                </a:cxn>
                <a:cxn ang="0">
                  <a:pos x="13" y="68"/>
                </a:cxn>
                <a:cxn ang="0">
                  <a:pos x="13" y="81"/>
                </a:cxn>
                <a:cxn ang="0">
                  <a:pos x="21" y="91"/>
                </a:cxn>
                <a:cxn ang="0">
                  <a:pos x="28" y="88"/>
                </a:cxn>
                <a:cxn ang="0">
                  <a:pos x="27" y="75"/>
                </a:cxn>
                <a:cxn ang="0">
                  <a:pos x="27" y="62"/>
                </a:cxn>
                <a:cxn ang="0">
                  <a:pos x="26" y="48"/>
                </a:cxn>
                <a:cxn ang="0">
                  <a:pos x="26" y="34"/>
                </a:cxn>
                <a:cxn ang="0">
                  <a:pos x="24" y="20"/>
                </a:cxn>
                <a:cxn ang="0">
                  <a:pos x="15" y="10"/>
                </a:cxn>
                <a:cxn ang="0">
                  <a:pos x="16" y="2"/>
                </a:cxn>
                <a:cxn ang="0">
                  <a:pos x="13" y="2"/>
                </a:cxn>
              </a:cxnLst>
              <a:rect l="0" t="0" r="r" b="b"/>
              <a:pathLst>
                <a:path w="28" h="91">
                  <a:moveTo>
                    <a:pt x="13" y="2"/>
                  </a:moveTo>
                  <a:lnTo>
                    <a:pt x="0" y="0"/>
                  </a:lnTo>
                  <a:lnTo>
                    <a:pt x="2" y="6"/>
                  </a:lnTo>
                  <a:lnTo>
                    <a:pt x="8" y="21"/>
                  </a:lnTo>
                  <a:lnTo>
                    <a:pt x="8" y="30"/>
                  </a:lnTo>
                  <a:lnTo>
                    <a:pt x="9" y="42"/>
                  </a:lnTo>
                  <a:lnTo>
                    <a:pt x="12" y="54"/>
                  </a:lnTo>
                  <a:lnTo>
                    <a:pt x="13" y="68"/>
                  </a:lnTo>
                  <a:lnTo>
                    <a:pt x="13" y="81"/>
                  </a:lnTo>
                  <a:lnTo>
                    <a:pt x="21" y="91"/>
                  </a:lnTo>
                  <a:lnTo>
                    <a:pt x="28" y="88"/>
                  </a:lnTo>
                  <a:lnTo>
                    <a:pt x="27" y="75"/>
                  </a:lnTo>
                  <a:lnTo>
                    <a:pt x="27" y="62"/>
                  </a:lnTo>
                  <a:lnTo>
                    <a:pt x="26" y="48"/>
                  </a:lnTo>
                  <a:lnTo>
                    <a:pt x="26" y="34"/>
                  </a:lnTo>
                  <a:lnTo>
                    <a:pt x="24" y="20"/>
                  </a:lnTo>
                  <a:lnTo>
                    <a:pt x="15" y="10"/>
                  </a:lnTo>
                  <a:lnTo>
                    <a:pt x="16" y="2"/>
                  </a:lnTo>
                  <a:lnTo>
                    <a:pt x="1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4" name="Freeform 123"/>
            <p:cNvSpPr>
              <a:spLocks/>
            </p:cNvSpPr>
            <p:nvPr/>
          </p:nvSpPr>
          <p:spPr bwMode="auto">
            <a:xfrm>
              <a:off x="2382" y="1970"/>
              <a:ext cx="356" cy="353"/>
            </a:xfrm>
            <a:custGeom>
              <a:avLst/>
              <a:gdLst/>
              <a:ahLst/>
              <a:cxnLst>
                <a:cxn ang="0">
                  <a:pos x="0" y="165"/>
                </a:cxn>
                <a:cxn ang="0">
                  <a:pos x="15" y="182"/>
                </a:cxn>
                <a:cxn ang="0">
                  <a:pos x="44" y="202"/>
                </a:cxn>
                <a:cxn ang="0">
                  <a:pos x="71" y="222"/>
                </a:cxn>
                <a:cxn ang="0">
                  <a:pos x="93" y="240"/>
                </a:cxn>
                <a:cxn ang="0">
                  <a:pos x="116" y="256"/>
                </a:cxn>
                <a:cxn ang="0">
                  <a:pos x="140" y="274"/>
                </a:cxn>
                <a:cxn ang="0">
                  <a:pos x="151" y="289"/>
                </a:cxn>
                <a:cxn ang="0">
                  <a:pos x="181" y="304"/>
                </a:cxn>
                <a:cxn ang="0">
                  <a:pos x="199" y="318"/>
                </a:cxn>
                <a:cxn ang="0">
                  <a:pos x="224" y="313"/>
                </a:cxn>
                <a:cxn ang="0">
                  <a:pos x="249" y="288"/>
                </a:cxn>
                <a:cxn ang="0">
                  <a:pos x="284" y="264"/>
                </a:cxn>
                <a:cxn ang="0">
                  <a:pos x="319" y="240"/>
                </a:cxn>
                <a:cxn ang="0">
                  <a:pos x="294" y="223"/>
                </a:cxn>
                <a:cxn ang="0">
                  <a:pos x="278" y="193"/>
                </a:cxn>
                <a:cxn ang="0">
                  <a:pos x="284" y="165"/>
                </a:cxn>
                <a:cxn ang="0">
                  <a:pos x="277" y="123"/>
                </a:cxn>
                <a:cxn ang="0">
                  <a:pos x="275" y="103"/>
                </a:cxn>
                <a:cxn ang="0">
                  <a:pos x="258" y="73"/>
                </a:cxn>
                <a:cxn ang="0">
                  <a:pos x="253" y="42"/>
                </a:cxn>
                <a:cxn ang="0">
                  <a:pos x="258" y="4"/>
                </a:cxn>
                <a:cxn ang="0">
                  <a:pos x="237" y="0"/>
                </a:cxn>
                <a:cxn ang="0">
                  <a:pos x="209" y="2"/>
                </a:cxn>
                <a:cxn ang="0">
                  <a:pos x="175" y="2"/>
                </a:cxn>
                <a:cxn ang="0">
                  <a:pos x="137" y="14"/>
                </a:cxn>
                <a:cxn ang="0">
                  <a:pos x="114" y="25"/>
                </a:cxn>
                <a:cxn ang="0">
                  <a:pos x="104" y="36"/>
                </a:cxn>
                <a:cxn ang="0">
                  <a:pos x="108" y="62"/>
                </a:cxn>
                <a:cxn ang="0">
                  <a:pos x="114" y="84"/>
                </a:cxn>
                <a:cxn ang="0">
                  <a:pos x="78" y="92"/>
                </a:cxn>
                <a:cxn ang="0">
                  <a:pos x="67" y="111"/>
                </a:cxn>
                <a:cxn ang="0">
                  <a:pos x="42" y="124"/>
                </a:cxn>
                <a:cxn ang="0">
                  <a:pos x="17" y="138"/>
                </a:cxn>
              </a:cxnLst>
              <a:rect l="0" t="0" r="r" b="b"/>
              <a:pathLst>
                <a:path w="319" h="318">
                  <a:moveTo>
                    <a:pt x="3" y="144"/>
                  </a:moveTo>
                  <a:lnTo>
                    <a:pt x="0" y="165"/>
                  </a:lnTo>
                  <a:lnTo>
                    <a:pt x="0" y="172"/>
                  </a:lnTo>
                  <a:lnTo>
                    <a:pt x="15" y="182"/>
                  </a:lnTo>
                  <a:lnTo>
                    <a:pt x="30" y="193"/>
                  </a:lnTo>
                  <a:lnTo>
                    <a:pt x="44" y="202"/>
                  </a:lnTo>
                  <a:lnTo>
                    <a:pt x="59" y="213"/>
                  </a:lnTo>
                  <a:lnTo>
                    <a:pt x="71" y="222"/>
                  </a:lnTo>
                  <a:lnTo>
                    <a:pt x="81" y="230"/>
                  </a:lnTo>
                  <a:lnTo>
                    <a:pt x="93" y="240"/>
                  </a:lnTo>
                  <a:lnTo>
                    <a:pt x="105" y="248"/>
                  </a:lnTo>
                  <a:lnTo>
                    <a:pt x="116" y="256"/>
                  </a:lnTo>
                  <a:lnTo>
                    <a:pt x="128" y="266"/>
                  </a:lnTo>
                  <a:lnTo>
                    <a:pt x="140" y="274"/>
                  </a:lnTo>
                  <a:lnTo>
                    <a:pt x="151" y="283"/>
                  </a:lnTo>
                  <a:lnTo>
                    <a:pt x="151" y="289"/>
                  </a:lnTo>
                  <a:lnTo>
                    <a:pt x="159" y="295"/>
                  </a:lnTo>
                  <a:lnTo>
                    <a:pt x="181" y="304"/>
                  </a:lnTo>
                  <a:lnTo>
                    <a:pt x="182" y="318"/>
                  </a:lnTo>
                  <a:lnTo>
                    <a:pt x="199" y="318"/>
                  </a:lnTo>
                  <a:lnTo>
                    <a:pt x="212" y="315"/>
                  </a:lnTo>
                  <a:lnTo>
                    <a:pt x="224" y="313"/>
                  </a:lnTo>
                  <a:lnTo>
                    <a:pt x="236" y="300"/>
                  </a:lnTo>
                  <a:lnTo>
                    <a:pt x="249" y="288"/>
                  </a:lnTo>
                  <a:lnTo>
                    <a:pt x="266" y="276"/>
                  </a:lnTo>
                  <a:lnTo>
                    <a:pt x="284" y="264"/>
                  </a:lnTo>
                  <a:lnTo>
                    <a:pt x="301" y="252"/>
                  </a:lnTo>
                  <a:lnTo>
                    <a:pt x="319" y="240"/>
                  </a:lnTo>
                  <a:lnTo>
                    <a:pt x="312" y="225"/>
                  </a:lnTo>
                  <a:lnTo>
                    <a:pt x="294" y="223"/>
                  </a:lnTo>
                  <a:lnTo>
                    <a:pt x="288" y="207"/>
                  </a:lnTo>
                  <a:lnTo>
                    <a:pt x="278" y="193"/>
                  </a:lnTo>
                  <a:lnTo>
                    <a:pt x="285" y="186"/>
                  </a:lnTo>
                  <a:lnTo>
                    <a:pt x="284" y="165"/>
                  </a:lnTo>
                  <a:lnTo>
                    <a:pt x="284" y="145"/>
                  </a:lnTo>
                  <a:lnTo>
                    <a:pt x="277" y="123"/>
                  </a:lnTo>
                  <a:lnTo>
                    <a:pt x="278" y="120"/>
                  </a:lnTo>
                  <a:lnTo>
                    <a:pt x="275" y="103"/>
                  </a:lnTo>
                  <a:lnTo>
                    <a:pt x="270" y="86"/>
                  </a:lnTo>
                  <a:lnTo>
                    <a:pt x="258" y="73"/>
                  </a:lnTo>
                  <a:lnTo>
                    <a:pt x="246" y="55"/>
                  </a:lnTo>
                  <a:lnTo>
                    <a:pt x="253" y="42"/>
                  </a:lnTo>
                  <a:lnTo>
                    <a:pt x="259" y="28"/>
                  </a:lnTo>
                  <a:lnTo>
                    <a:pt x="258" y="4"/>
                  </a:lnTo>
                  <a:lnTo>
                    <a:pt x="261" y="0"/>
                  </a:lnTo>
                  <a:lnTo>
                    <a:pt x="237" y="0"/>
                  </a:lnTo>
                  <a:lnTo>
                    <a:pt x="225" y="0"/>
                  </a:lnTo>
                  <a:lnTo>
                    <a:pt x="209" y="2"/>
                  </a:lnTo>
                  <a:lnTo>
                    <a:pt x="192" y="2"/>
                  </a:lnTo>
                  <a:lnTo>
                    <a:pt x="175" y="2"/>
                  </a:lnTo>
                  <a:lnTo>
                    <a:pt x="156" y="8"/>
                  </a:lnTo>
                  <a:lnTo>
                    <a:pt x="137" y="14"/>
                  </a:lnTo>
                  <a:lnTo>
                    <a:pt x="128" y="18"/>
                  </a:lnTo>
                  <a:lnTo>
                    <a:pt x="114" y="25"/>
                  </a:lnTo>
                  <a:lnTo>
                    <a:pt x="101" y="32"/>
                  </a:lnTo>
                  <a:lnTo>
                    <a:pt x="104" y="36"/>
                  </a:lnTo>
                  <a:lnTo>
                    <a:pt x="105" y="49"/>
                  </a:lnTo>
                  <a:lnTo>
                    <a:pt x="108" y="62"/>
                  </a:lnTo>
                  <a:lnTo>
                    <a:pt x="117" y="79"/>
                  </a:lnTo>
                  <a:lnTo>
                    <a:pt x="114" y="84"/>
                  </a:lnTo>
                  <a:lnTo>
                    <a:pt x="98" y="85"/>
                  </a:lnTo>
                  <a:lnTo>
                    <a:pt x="78" y="92"/>
                  </a:lnTo>
                  <a:lnTo>
                    <a:pt x="78" y="103"/>
                  </a:lnTo>
                  <a:lnTo>
                    <a:pt x="67" y="111"/>
                  </a:lnTo>
                  <a:lnTo>
                    <a:pt x="56" y="118"/>
                  </a:lnTo>
                  <a:lnTo>
                    <a:pt x="42" y="124"/>
                  </a:lnTo>
                  <a:lnTo>
                    <a:pt x="29" y="130"/>
                  </a:lnTo>
                  <a:lnTo>
                    <a:pt x="17" y="138"/>
                  </a:lnTo>
                  <a:lnTo>
                    <a:pt x="3" y="1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5" name="Freeform 124"/>
            <p:cNvSpPr>
              <a:spLocks/>
            </p:cNvSpPr>
            <p:nvPr/>
          </p:nvSpPr>
          <p:spPr bwMode="auto">
            <a:xfrm>
              <a:off x="2289" y="2130"/>
              <a:ext cx="11" cy="11"/>
            </a:xfrm>
            <a:custGeom>
              <a:avLst/>
              <a:gdLst/>
              <a:ahLst/>
              <a:cxnLst>
                <a:cxn ang="0">
                  <a:pos x="9" y="0"/>
                </a:cxn>
                <a:cxn ang="0">
                  <a:pos x="8" y="7"/>
                </a:cxn>
                <a:cxn ang="0">
                  <a:pos x="0" y="9"/>
                </a:cxn>
                <a:cxn ang="0">
                  <a:pos x="9" y="0"/>
                </a:cxn>
              </a:cxnLst>
              <a:rect l="0" t="0" r="r" b="b"/>
              <a:pathLst>
                <a:path w="9" h="9">
                  <a:moveTo>
                    <a:pt x="9" y="0"/>
                  </a:moveTo>
                  <a:lnTo>
                    <a:pt x="8" y="7"/>
                  </a:lnTo>
                  <a:lnTo>
                    <a:pt x="0" y="9"/>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6" name="Freeform 125"/>
            <p:cNvSpPr>
              <a:spLocks/>
            </p:cNvSpPr>
            <p:nvPr/>
          </p:nvSpPr>
          <p:spPr bwMode="auto">
            <a:xfrm>
              <a:off x="2247" y="2136"/>
              <a:ext cx="9" cy="9"/>
            </a:xfrm>
            <a:custGeom>
              <a:avLst/>
              <a:gdLst/>
              <a:ahLst/>
              <a:cxnLst>
                <a:cxn ang="0">
                  <a:pos x="8" y="0"/>
                </a:cxn>
                <a:cxn ang="0">
                  <a:pos x="0" y="7"/>
                </a:cxn>
                <a:cxn ang="0">
                  <a:pos x="0" y="1"/>
                </a:cxn>
                <a:cxn ang="0">
                  <a:pos x="8" y="0"/>
                </a:cxn>
              </a:cxnLst>
              <a:rect l="0" t="0" r="r" b="b"/>
              <a:pathLst>
                <a:path w="8" h="7">
                  <a:moveTo>
                    <a:pt x="8" y="0"/>
                  </a:moveTo>
                  <a:lnTo>
                    <a:pt x="0" y="7"/>
                  </a:lnTo>
                  <a:lnTo>
                    <a:pt x="0" y="1"/>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7" name="Freeform 126"/>
            <p:cNvSpPr>
              <a:spLocks/>
            </p:cNvSpPr>
            <p:nvPr/>
          </p:nvSpPr>
          <p:spPr bwMode="auto">
            <a:xfrm>
              <a:off x="2262" y="2147"/>
              <a:ext cx="7" cy="3"/>
            </a:xfrm>
            <a:custGeom>
              <a:avLst/>
              <a:gdLst/>
              <a:ahLst/>
              <a:cxnLst>
                <a:cxn ang="0">
                  <a:pos x="6" y="0"/>
                </a:cxn>
                <a:cxn ang="0">
                  <a:pos x="5" y="4"/>
                </a:cxn>
                <a:cxn ang="0">
                  <a:pos x="0" y="0"/>
                </a:cxn>
                <a:cxn ang="0">
                  <a:pos x="6" y="0"/>
                </a:cxn>
              </a:cxnLst>
              <a:rect l="0" t="0" r="r" b="b"/>
              <a:pathLst>
                <a:path w="6" h="4">
                  <a:moveTo>
                    <a:pt x="6" y="0"/>
                  </a:moveTo>
                  <a:lnTo>
                    <a:pt x="5" y="4"/>
                  </a:lnTo>
                  <a:lnTo>
                    <a:pt x="0" y="0"/>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8" name="Freeform 127"/>
            <p:cNvSpPr>
              <a:spLocks/>
            </p:cNvSpPr>
            <p:nvPr/>
          </p:nvSpPr>
          <p:spPr bwMode="auto">
            <a:xfrm>
              <a:off x="2300" y="2121"/>
              <a:ext cx="7" cy="2"/>
            </a:xfrm>
            <a:custGeom>
              <a:avLst/>
              <a:gdLst/>
              <a:ahLst/>
              <a:cxnLst>
                <a:cxn ang="0">
                  <a:pos x="4" y="3"/>
                </a:cxn>
                <a:cxn ang="0">
                  <a:pos x="6" y="0"/>
                </a:cxn>
                <a:cxn ang="0">
                  <a:pos x="0" y="3"/>
                </a:cxn>
                <a:cxn ang="0">
                  <a:pos x="4" y="3"/>
                </a:cxn>
              </a:cxnLst>
              <a:rect l="0" t="0" r="r" b="b"/>
              <a:pathLst>
                <a:path w="6" h="3">
                  <a:moveTo>
                    <a:pt x="4" y="3"/>
                  </a:moveTo>
                  <a:lnTo>
                    <a:pt x="6" y="0"/>
                  </a:lnTo>
                  <a:lnTo>
                    <a:pt x="0" y="3"/>
                  </a:lnTo>
                  <a:lnTo>
                    <a:pt x="4"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9" name="Freeform 128"/>
            <p:cNvSpPr>
              <a:spLocks/>
            </p:cNvSpPr>
            <p:nvPr/>
          </p:nvSpPr>
          <p:spPr bwMode="auto">
            <a:xfrm>
              <a:off x="2109" y="2374"/>
              <a:ext cx="4" cy="2"/>
            </a:xfrm>
            <a:custGeom>
              <a:avLst/>
              <a:gdLst/>
              <a:ahLst/>
              <a:cxnLst>
                <a:cxn ang="0">
                  <a:pos x="3" y="1"/>
                </a:cxn>
                <a:cxn ang="0">
                  <a:pos x="1" y="1"/>
                </a:cxn>
                <a:cxn ang="0">
                  <a:pos x="0" y="0"/>
                </a:cxn>
                <a:cxn ang="0">
                  <a:pos x="3" y="1"/>
                </a:cxn>
              </a:cxnLst>
              <a:rect l="0" t="0" r="r" b="b"/>
              <a:pathLst>
                <a:path w="3" h="1">
                  <a:moveTo>
                    <a:pt x="3" y="1"/>
                  </a:moveTo>
                  <a:lnTo>
                    <a:pt x="1" y="1"/>
                  </a:lnTo>
                  <a:lnTo>
                    <a:pt x="0" y="0"/>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0" name="Rectangle 129"/>
            <p:cNvSpPr>
              <a:spLocks noChangeArrowheads="1"/>
            </p:cNvSpPr>
            <p:nvPr/>
          </p:nvSpPr>
          <p:spPr bwMode="auto">
            <a:xfrm>
              <a:off x="2442" y="1983"/>
              <a:ext cx="0" cy="2"/>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131" name="Freeform 130"/>
            <p:cNvSpPr>
              <a:spLocks/>
            </p:cNvSpPr>
            <p:nvPr/>
          </p:nvSpPr>
          <p:spPr bwMode="auto">
            <a:xfrm>
              <a:off x="2691" y="2043"/>
              <a:ext cx="273" cy="273"/>
            </a:xfrm>
            <a:custGeom>
              <a:avLst/>
              <a:gdLst/>
              <a:ahLst/>
              <a:cxnLst>
                <a:cxn ang="0">
                  <a:pos x="230" y="245"/>
                </a:cxn>
                <a:cxn ang="0">
                  <a:pos x="230" y="236"/>
                </a:cxn>
                <a:cxn ang="0">
                  <a:pos x="246" y="236"/>
                </a:cxn>
                <a:cxn ang="0">
                  <a:pos x="245" y="218"/>
                </a:cxn>
                <a:cxn ang="0">
                  <a:pos x="245" y="200"/>
                </a:cxn>
                <a:cxn ang="0">
                  <a:pos x="244" y="183"/>
                </a:cxn>
                <a:cxn ang="0">
                  <a:pos x="242" y="167"/>
                </a:cxn>
                <a:cxn ang="0">
                  <a:pos x="241" y="150"/>
                </a:cxn>
                <a:cxn ang="0">
                  <a:pos x="240" y="133"/>
                </a:cxn>
                <a:cxn ang="0">
                  <a:pos x="239" y="116"/>
                </a:cxn>
                <a:cxn ang="0">
                  <a:pos x="238" y="99"/>
                </a:cxn>
                <a:cxn ang="0">
                  <a:pos x="236" y="83"/>
                </a:cxn>
                <a:cxn ang="0">
                  <a:pos x="235" y="65"/>
                </a:cxn>
                <a:cxn ang="0">
                  <a:pos x="235" y="51"/>
                </a:cxn>
                <a:cxn ang="0">
                  <a:pos x="234" y="38"/>
                </a:cxn>
                <a:cxn ang="0">
                  <a:pos x="236" y="26"/>
                </a:cxn>
                <a:cxn ang="0">
                  <a:pos x="228" y="20"/>
                </a:cxn>
                <a:cxn ang="0">
                  <a:pos x="205" y="14"/>
                </a:cxn>
                <a:cxn ang="0">
                  <a:pos x="202" y="8"/>
                </a:cxn>
                <a:cxn ang="0">
                  <a:pos x="182" y="3"/>
                </a:cxn>
                <a:cxn ang="0">
                  <a:pos x="170" y="11"/>
                </a:cxn>
                <a:cxn ang="0">
                  <a:pos x="160" y="18"/>
                </a:cxn>
                <a:cxn ang="0">
                  <a:pos x="161" y="42"/>
                </a:cxn>
                <a:cxn ang="0">
                  <a:pos x="145" y="51"/>
                </a:cxn>
                <a:cxn ang="0">
                  <a:pos x="127" y="43"/>
                </a:cxn>
                <a:cxn ang="0">
                  <a:pos x="110" y="35"/>
                </a:cxn>
                <a:cxn ang="0">
                  <a:pos x="92" y="30"/>
                </a:cxn>
                <a:cxn ang="0">
                  <a:pos x="85" y="13"/>
                </a:cxn>
                <a:cxn ang="0">
                  <a:pos x="68" y="9"/>
                </a:cxn>
                <a:cxn ang="0">
                  <a:pos x="52" y="5"/>
                </a:cxn>
                <a:cxn ang="0">
                  <a:pos x="30" y="0"/>
                </a:cxn>
                <a:cxn ang="0">
                  <a:pos x="29" y="14"/>
                </a:cxn>
                <a:cxn ang="0">
                  <a:pos x="19" y="23"/>
                </a:cxn>
                <a:cxn ang="0">
                  <a:pos x="10" y="31"/>
                </a:cxn>
                <a:cxn ang="0">
                  <a:pos x="10" y="45"/>
                </a:cxn>
                <a:cxn ang="0">
                  <a:pos x="1" y="53"/>
                </a:cxn>
                <a:cxn ang="0">
                  <a:pos x="0" y="56"/>
                </a:cxn>
                <a:cxn ang="0">
                  <a:pos x="7" y="78"/>
                </a:cxn>
                <a:cxn ang="0">
                  <a:pos x="7" y="98"/>
                </a:cxn>
                <a:cxn ang="0">
                  <a:pos x="8" y="119"/>
                </a:cxn>
                <a:cxn ang="0">
                  <a:pos x="1" y="126"/>
                </a:cxn>
                <a:cxn ang="0">
                  <a:pos x="11" y="140"/>
                </a:cxn>
                <a:cxn ang="0">
                  <a:pos x="17" y="156"/>
                </a:cxn>
                <a:cxn ang="0">
                  <a:pos x="35" y="158"/>
                </a:cxn>
                <a:cxn ang="0">
                  <a:pos x="42" y="173"/>
                </a:cxn>
                <a:cxn ang="0">
                  <a:pos x="64" y="179"/>
                </a:cxn>
                <a:cxn ang="0">
                  <a:pos x="77" y="189"/>
                </a:cxn>
                <a:cxn ang="0">
                  <a:pos x="88" y="182"/>
                </a:cxn>
                <a:cxn ang="0">
                  <a:pos x="104" y="173"/>
                </a:cxn>
                <a:cxn ang="0">
                  <a:pos x="120" y="182"/>
                </a:cxn>
                <a:cxn ang="0">
                  <a:pos x="136" y="191"/>
                </a:cxn>
                <a:cxn ang="0">
                  <a:pos x="151" y="200"/>
                </a:cxn>
                <a:cxn ang="0">
                  <a:pos x="167" y="209"/>
                </a:cxn>
                <a:cxn ang="0">
                  <a:pos x="182" y="218"/>
                </a:cxn>
                <a:cxn ang="0">
                  <a:pos x="199" y="227"/>
                </a:cxn>
                <a:cxn ang="0">
                  <a:pos x="215" y="236"/>
                </a:cxn>
                <a:cxn ang="0">
                  <a:pos x="230" y="245"/>
                </a:cxn>
              </a:cxnLst>
              <a:rect l="0" t="0" r="r" b="b"/>
              <a:pathLst>
                <a:path w="246" h="245">
                  <a:moveTo>
                    <a:pt x="230" y="245"/>
                  </a:moveTo>
                  <a:lnTo>
                    <a:pt x="230" y="236"/>
                  </a:lnTo>
                  <a:lnTo>
                    <a:pt x="246" y="236"/>
                  </a:lnTo>
                  <a:lnTo>
                    <a:pt x="245" y="218"/>
                  </a:lnTo>
                  <a:lnTo>
                    <a:pt x="245" y="200"/>
                  </a:lnTo>
                  <a:lnTo>
                    <a:pt x="244" y="183"/>
                  </a:lnTo>
                  <a:lnTo>
                    <a:pt x="242" y="167"/>
                  </a:lnTo>
                  <a:lnTo>
                    <a:pt x="241" y="150"/>
                  </a:lnTo>
                  <a:lnTo>
                    <a:pt x="240" y="133"/>
                  </a:lnTo>
                  <a:lnTo>
                    <a:pt x="239" y="116"/>
                  </a:lnTo>
                  <a:lnTo>
                    <a:pt x="238" y="99"/>
                  </a:lnTo>
                  <a:lnTo>
                    <a:pt x="236" y="83"/>
                  </a:lnTo>
                  <a:lnTo>
                    <a:pt x="235" y="65"/>
                  </a:lnTo>
                  <a:lnTo>
                    <a:pt x="235" y="51"/>
                  </a:lnTo>
                  <a:lnTo>
                    <a:pt x="234" y="38"/>
                  </a:lnTo>
                  <a:lnTo>
                    <a:pt x="236" y="26"/>
                  </a:lnTo>
                  <a:lnTo>
                    <a:pt x="228" y="20"/>
                  </a:lnTo>
                  <a:lnTo>
                    <a:pt x="205" y="14"/>
                  </a:lnTo>
                  <a:lnTo>
                    <a:pt x="202" y="8"/>
                  </a:lnTo>
                  <a:lnTo>
                    <a:pt x="182" y="3"/>
                  </a:lnTo>
                  <a:lnTo>
                    <a:pt x="170" y="11"/>
                  </a:lnTo>
                  <a:lnTo>
                    <a:pt x="160" y="18"/>
                  </a:lnTo>
                  <a:lnTo>
                    <a:pt x="161" y="42"/>
                  </a:lnTo>
                  <a:lnTo>
                    <a:pt x="145" y="51"/>
                  </a:lnTo>
                  <a:lnTo>
                    <a:pt x="127" y="43"/>
                  </a:lnTo>
                  <a:lnTo>
                    <a:pt x="110" y="35"/>
                  </a:lnTo>
                  <a:lnTo>
                    <a:pt x="92" y="30"/>
                  </a:lnTo>
                  <a:lnTo>
                    <a:pt x="85" y="13"/>
                  </a:lnTo>
                  <a:lnTo>
                    <a:pt x="68" y="9"/>
                  </a:lnTo>
                  <a:lnTo>
                    <a:pt x="52" y="5"/>
                  </a:lnTo>
                  <a:lnTo>
                    <a:pt x="30" y="0"/>
                  </a:lnTo>
                  <a:lnTo>
                    <a:pt x="29" y="14"/>
                  </a:lnTo>
                  <a:lnTo>
                    <a:pt x="19" y="23"/>
                  </a:lnTo>
                  <a:lnTo>
                    <a:pt x="10" y="31"/>
                  </a:lnTo>
                  <a:lnTo>
                    <a:pt x="10" y="45"/>
                  </a:lnTo>
                  <a:lnTo>
                    <a:pt x="1" y="53"/>
                  </a:lnTo>
                  <a:lnTo>
                    <a:pt x="0" y="56"/>
                  </a:lnTo>
                  <a:lnTo>
                    <a:pt x="7" y="78"/>
                  </a:lnTo>
                  <a:lnTo>
                    <a:pt x="7" y="98"/>
                  </a:lnTo>
                  <a:lnTo>
                    <a:pt x="8" y="119"/>
                  </a:lnTo>
                  <a:lnTo>
                    <a:pt x="1" y="126"/>
                  </a:lnTo>
                  <a:lnTo>
                    <a:pt x="11" y="140"/>
                  </a:lnTo>
                  <a:lnTo>
                    <a:pt x="17" y="156"/>
                  </a:lnTo>
                  <a:lnTo>
                    <a:pt x="35" y="158"/>
                  </a:lnTo>
                  <a:lnTo>
                    <a:pt x="42" y="173"/>
                  </a:lnTo>
                  <a:lnTo>
                    <a:pt x="64" y="179"/>
                  </a:lnTo>
                  <a:lnTo>
                    <a:pt x="77" y="189"/>
                  </a:lnTo>
                  <a:lnTo>
                    <a:pt x="88" y="182"/>
                  </a:lnTo>
                  <a:lnTo>
                    <a:pt x="104" y="173"/>
                  </a:lnTo>
                  <a:lnTo>
                    <a:pt x="120" y="182"/>
                  </a:lnTo>
                  <a:lnTo>
                    <a:pt x="136" y="191"/>
                  </a:lnTo>
                  <a:lnTo>
                    <a:pt x="151" y="200"/>
                  </a:lnTo>
                  <a:lnTo>
                    <a:pt x="167" y="209"/>
                  </a:lnTo>
                  <a:lnTo>
                    <a:pt x="182" y="218"/>
                  </a:lnTo>
                  <a:lnTo>
                    <a:pt x="199" y="227"/>
                  </a:lnTo>
                  <a:lnTo>
                    <a:pt x="215" y="236"/>
                  </a:lnTo>
                  <a:lnTo>
                    <a:pt x="230" y="2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2" name="Freeform 131"/>
            <p:cNvSpPr>
              <a:spLocks/>
            </p:cNvSpPr>
            <p:nvPr/>
          </p:nvSpPr>
          <p:spPr bwMode="auto">
            <a:xfrm>
              <a:off x="2318" y="2207"/>
              <a:ext cx="286" cy="296"/>
            </a:xfrm>
            <a:custGeom>
              <a:avLst/>
              <a:gdLst/>
              <a:ahLst/>
              <a:cxnLst>
                <a:cxn ang="0">
                  <a:pos x="56" y="250"/>
                </a:cxn>
                <a:cxn ang="0">
                  <a:pos x="66" y="267"/>
                </a:cxn>
                <a:cxn ang="0">
                  <a:pos x="79" y="265"/>
                </a:cxn>
                <a:cxn ang="0">
                  <a:pos x="92" y="257"/>
                </a:cxn>
                <a:cxn ang="0">
                  <a:pos x="106" y="262"/>
                </a:cxn>
                <a:cxn ang="0">
                  <a:pos x="114" y="234"/>
                </a:cxn>
                <a:cxn ang="0">
                  <a:pos x="126" y="219"/>
                </a:cxn>
                <a:cxn ang="0">
                  <a:pos x="138" y="213"/>
                </a:cxn>
                <a:cxn ang="0">
                  <a:pos x="144" y="204"/>
                </a:cxn>
                <a:cxn ang="0">
                  <a:pos x="160" y="195"/>
                </a:cxn>
                <a:cxn ang="0">
                  <a:pos x="181" y="178"/>
                </a:cxn>
                <a:cxn ang="0">
                  <a:pos x="198" y="180"/>
                </a:cxn>
                <a:cxn ang="0">
                  <a:pos x="230" y="174"/>
                </a:cxn>
                <a:cxn ang="0">
                  <a:pos x="256" y="157"/>
                </a:cxn>
                <a:cxn ang="0">
                  <a:pos x="257" y="131"/>
                </a:cxn>
                <a:cxn ang="0">
                  <a:pos x="258" y="105"/>
                </a:cxn>
                <a:cxn ang="0">
                  <a:pos x="240" y="91"/>
                </a:cxn>
                <a:cxn ang="0">
                  <a:pos x="210" y="76"/>
                </a:cxn>
                <a:cxn ang="0">
                  <a:pos x="199" y="61"/>
                </a:cxn>
                <a:cxn ang="0">
                  <a:pos x="175" y="43"/>
                </a:cxn>
                <a:cxn ang="0">
                  <a:pos x="152" y="27"/>
                </a:cxn>
                <a:cxn ang="0">
                  <a:pos x="130" y="9"/>
                </a:cxn>
                <a:cxn ang="0">
                  <a:pos x="104" y="0"/>
                </a:cxn>
                <a:cxn ang="0">
                  <a:pos x="92" y="19"/>
                </a:cxn>
                <a:cxn ang="0">
                  <a:pos x="96" y="58"/>
                </a:cxn>
                <a:cxn ang="0">
                  <a:pos x="100" y="95"/>
                </a:cxn>
                <a:cxn ang="0">
                  <a:pos x="102" y="133"/>
                </a:cxn>
                <a:cxn ang="0">
                  <a:pos x="108" y="156"/>
                </a:cxn>
                <a:cxn ang="0">
                  <a:pos x="91" y="171"/>
                </a:cxn>
                <a:cxn ang="0">
                  <a:pos x="61" y="171"/>
                </a:cxn>
                <a:cxn ang="0">
                  <a:pos x="44" y="169"/>
                </a:cxn>
                <a:cxn ang="0">
                  <a:pos x="19" y="175"/>
                </a:cxn>
                <a:cxn ang="0">
                  <a:pos x="2" y="185"/>
                </a:cxn>
                <a:cxn ang="0">
                  <a:pos x="4" y="202"/>
                </a:cxn>
                <a:cxn ang="0">
                  <a:pos x="13" y="226"/>
                </a:cxn>
                <a:cxn ang="0">
                  <a:pos x="20" y="231"/>
                </a:cxn>
                <a:cxn ang="0">
                  <a:pos x="35" y="232"/>
                </a:cxn>
                <a:cxn ang="0">
                  <a:pos x="48" y="225"/>
                </a:cxn>
                <a:cxn ang="0">
                  <a:pos x="59" y="244"/>
                </a:cxn>
              </a:cxnLst>
              <a:rect l="0" t="0" r="r" b="b"/>
              <a:pathLst>
                <a:path w="258" h="267">
                  <a:moveTo>
                    <a:pt x="59" y="244"/>
                  </a:moveTo>
                  <a:lnTo>
                    <a:pt x="56" y="250"/>
                  </a:lnTo>
                  <a:lnTo>
                    <a:pt x="59" y="250"/>
                  </a:lnTo>
                  <a:lnTo>
                    <a:pt x="66" y="267"/>
                  </a:lnTo>
                  <a:lnTo>
                    <a:pt x="70" y="263"/>
                  </a:lnTo>
                  <a:lnTo>
                    <a:pt x="79" y="265"/>
                  </a:lnTo>
                  <a:lnTo>
                    <a:pt x="86" y="261"/>
                  </a:lnTo>
                  <a:lnTo>
                    <a:pt x="92" y="257"/>
                  </a:lnTo>
                  <a:lnTo>
                    <a:pt x="95" y="264"/>
                  </a:lnTo>
                  <a:lnTo>
                    <a:pt x="106" y="262"/>
                  </a:lnTo>
                  <a:lnTo>
                    <a:pt x="109" y="238"/>
                  </a:lnTo>
                  <a:lnTo>
                    <a:pt x="114" y="234"/>
                  </a:lnTo>
                  <a:lnTo>
                    <a:pt x="122" y="226"/>
                  </a:lnTo>
                  <a:lnTo>
                    <a:pt x="126" y="219"/>
                  </a:lnTo>
                  <a:lnTo>
                    <a:pt x="128" y="208"/>
                  </a:lnTo>
                  <a:lnTo>
                    <a:pt x="138" y="213"/>
                  </a:lnTo>
                  <a:lnTo>
                    <a:pt x="140" y="205"/>
                  </a:lnTo>
                  <a:lnTo>
                    <a:pt x="144" y="204"/>
                  </a:lnTo>
                  <a:lnTo>
                    <a:pt x="150" y="195"/>
                  </a:lnTo>
                  <a:lnTo>
                    <a:pt x="160" y="195"/>
                  </a:lnTo>
                  <a:lnTo>
                    <a:pt x="161" y="187"/>
                  </a:lnTo>
                  <a:lnTo>
                    <a:pt x="181" y="178"/>
                  </a:lnTo>
                  <a:lnTo>
                    <a:pt x="196" y="180"/>
                  </a:lnTo>
                  <a:lnTo>
                    <a:pt x="198" y="180"/>
                  </a:lnTo>
                  <a:lnTo>
                    <a:pt x="212" y="174"/>
                  </a:lnTo>
                  <a:lnTo>
                    <a:pt x="230" y="174"/>
                  </a:lnTo>
                  <a:lnTo>
                    <a:pt x="247" y="173"/>
                  </a:lnTo>
                  <a:lnTo>
                    <a:pt x="256" y="157"/>
                  </a:lnTo>
                  <a:lnTo>
                    <a:pt x="257" y="144"/>
                  </a:lnTo>
                  <a:lnTo>
                    <a:pt x="257" y="131"/>
                  </a:lnTo>
                  <a:lnTo>
                    <a:pt x="258" y="118"/>
                  </a:lnTo>
                  <a:lnTo>
                    <a:pt x="258" y="105"/>
                  </a:lnTo>
                  <a:lnTo>
                    <a:pt x="241" y="105"/>
                  </a:lnTo>
                  <a:lnTo>
                    <a:pt x="240" y="91"/>
                  </a:lnTo>
                  <a:lnTo>
                    <a:pt x="218" y="82"/>
                  </a:lnTo>
                  <a:lnTo>
                    <a:pt x="210" y="76"/>
                  </a:lnTo>
                  <a:lnTo>
                    <a:pt x="210" y="70"/>
                  </a:lnTo>
                  <a:lnTo>
                    <a:pt x="199" y="61"/>
                  </a:lnTo>
                  <a:lnTo>
                    <a:pt x="187" y="53"/>
                  </a:lnTo>
                  <a:lnTo>
                    <a:pt x="175" y="43"/>
                  </a:lnTo>
                  <a:lnTo>
                    <a:pt x="164" y="35"/>
                  </a:lnTo>
                  <a:lnTo>
                    <a:pt x="152" y="27"/>
                  </a:lnTo>
                  <a:lnTo>
                    <a:pt x="140" y="17"/>
                  </a:lnTo>
                  <a:lnTo>
                    <a:pt x="130" y="9"/>
                  </a:lnTo>
                  <a:lnTo>
                    <a:pt x="118" y="0"/>
                  </a:lnTo>
                  <a:lnTo>
                    <a:pt x="104" y="0"/>
                  </a:lnTo>
                  <a:lnTo>
                    <a:pt x="90" y="0"/>
                  </a:lnTo>
                  <a:lnTo>
                    <a:pt x="92" y="19"/>
                  </a:lnTo>
                  <a:lnTo>
                    <a:pt x="94" y="39"/>
                  </a:lnTo>
                  <a:lnTo>
                    <a:pt x="96" y="58"/>
                  </a:lnTo>
                  <a:lnTo>
                    <a:pt x="97" y="76"/>
                  </a:lnTo>
                  <a:lnTo>
                    <a:pt x="100" y="95"/>
                  </a:lnTo>
                  <a:lnTo>
                    <a:pt x="101" y="114"/>
                  </a:lnTo>
                  <a:lnTo>
                    <a:pt x="102" y="133"/>
                  </a:lnTo>
                  <a:lnTo>
                    <a:pt x="104" y="153"/>
                  </a:lnTo>
                  <a:lnTo>
                    <a:pt x="108" y="156"/>
                  </a:lnTo>
                  <a:lnTo>
                    <a:pt x="106" y="171"/>
                  </a:lnTo>
                  <a:lnTo>
                    <a:pt x="91" y="171"/>
                  </a:lnTo>
                  <a:lnTo>
                    <a:pt x="76" y="171"/>
                  </a:lnTo>
                  <a:lnTo>
                    <a:pt x="61" y="171"/>
                  </a:lnTo>
                  <a:lnTo>
                    <a:pt x="46" y="171"/>
                  </a:lnTo>
                  <a:lnTo>
                    <a:pt x="44" y="169"/>
                  </a:lnTo>
                  <a:lnTo>
                    <a:pt x="22" y="174"/>
                  </a:lnTo>
                  <a:lnTo>
                    <a:pt x="19" y="175"/>
                  </a:lnTo>
                  <a:lnTo>
                    <a:pt x="10" y="169"/>
                  </a:lnTo>
                  <a:lnTo>
                    <a:pt x="2" y="185"/>
                  </a:lnTo>
                  <a:lnTo>
                    <a:pt x="0" y="184"/>
                  </a:lnTo>
                  <a:lnTo>
                    <a:pt x="4" y="202"/>
                  </a:lnTo>
                  <a:lnTo>
                    <a:pt x="8" y="209"/>
                  </a:lnTo>
                  <a:lnTo>
                    <a:pt x="13" y="226"/>
                  </a:lnTo>
                  <a:lnTo>
                    <a:pt x="11" y="231"/>
                  </a:lnTo>
                  <a:lnTo>
                    <a:pt x="20" y="231"/>
                  </a:lnTo>
                  <a:lnTo>
                    <a:pt x="25" y="233"/>
                  </a:lnTo>
                  <a:lnTo>
                    <a:pt x="35" y="232"/>
                  </a:lnTo>
                  <a:lnTo>
                    <a:pt x="46" y="228"/>
                  </a:lnTo>
                  <a:lnTo>
                    <a:pt x="48" y="225"/>
                  </a:lnTo>
                  <a:lnTo>
                    <a:pt x="53" y="239"/>
                  </a:lnTo>
                  <a:lnTo>
                    <a:pt x="59" y="2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3" name="Freeform 132"/>
            <p:cNvSpPr>
              <a:spLocks/>
            </p:cNvSpPr>
            <p:nvPr/>
          </p:nvSpPr>
          <p:spPr bwMode="auto">
            <a:xfrm>
              <a:off x="2769" y="1987"/>
              <a:ext cx="4" cy="3"/>
            </a:xfrm>
            <a:custGeom>
              <a:avLst/>
              <a:gdLst/>
              <a:ahLst/>
              <a:cxnLst>
                <a:cxn ang="0">
                  <a:pos x="3" y="2"/>
                </a:cxn>
                <a:cxn ang="0">
                  <a:pos x="2" y="3"/>
                </a:cxn>
                <a:cxn ang="0">
                  <a:pos x="0" y="0"/>
                </a:cxn>
                <a:cxn ang="0">
                  <a:pos x="3" y="2"/>
                </a:cxn>
              </a:cxnLst>
              <a:rect l="0" t="0" r="r" b="b"/>
              <a:pathLst>
                <a:path w="3" h="3">
                  <a:moveTo>
                    <a:pt x="3" y="2"/>
                  </a:moveTo>
                  <a:lnTo>
                    <a:pt x="2" y="3"/>
                  </a:lnTo>
                  <a:lnTo>
                    <a:pt x="0" y="0"/>
                  </a:lnTo>
                  <a:lnTo>
                    <a:pt x="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4" name="Freeform 133"/>
            <p:cNvSpPr>
              <a:spLocks/>
            </p:cNvSpPr>
            <p:nvPr/>
          </p:nvSpPr>
          <p:spPr bwMode="auto">
            <a:xfrm>
              <a:off x="2236" y="2161"/>
              <a:ext cx="213" cy="251"/>
            </a:xfrm>
            <a:custGeom>
              <a:avLst/>
              <a:gdLst/>
              <a:ahLst/>
              <a:cxnLst>
                <a:cxn ang="0">
                  <a:pos x="9" y="195"/>
                </a:cxn>
                <a:cxn ang="0">
                  <a:pos x="6" y="202"/>
                </a:cxn>
                <a:cxn ang="0">
                  <a:pos x="11" y="180"/>
                </a:cxn>
                <a:cxn ang="0">
                  <a:pos x="14" y="159"/>
                </a:cxn>
                <a:cxn ang="0">
                  <a:pos x="9" y="142"/>
                </a:cxn>
                <a:cxn ang="0">
                  <a:pos x="11" y="123"/>
                </a:cxn>
                <a:cxn ang="0">
                  <a:pos x="1" y="112"/>
                </a:cxn>
                <a:cxn ang="0">
                  <a:pos x="0" y="117"/>
                </a:cxn>
                <a:cxn ang="0">
                  <a:pos x="2" y="107"/>
                </a:cxn>
                <a:cxn ang="0">
                  <a:pos x="17" y="107"/>
                </a:cxn>
                <a:cxn ang="0">
                  <a:pos x="32" y="107"/>
                </a:cxn>
                <a:cxn ang="0">
                  <a:pos x="48" y="107"/>
                </a:cxn>
                <a:cxn ang="0">
                  <a:pos x="63" y="107"/>
                </a:cxn>
                <a:cxn ang="0">
                  <a:pos x="63" y="92"/>
                </a:cxn>
                <a:cxn ang="0">
                  <a:pos x="63" y="77"/>
                </a:cxn>
                <a:cxn ang="0">
                  <a:pos x="79" y="69"/>
                </a:cxn>
                <a:cxn ang="0">
                  <a:pos x="80" y="46"/>
                </a:cxn>
                <a:cxn ang="0">
                  <a:pos x="80" y="23"/>
                </a:cxn>
                <a:cxn ang="0">
                  <a:pos x="93" y="23"/>
                </a:cxn>
                <a:cxn ang="0">
                  <a:pos x="107" y="23"/>
                </a:cxn>
                <a:cxn ang="0">
                  <a:pos x="119" y="23"/>
                </a:cxn>
                <a:cxn ang="0">
                  <a:pos x="132" y="23"/>
                </a:cxn>
                <a:cxn ang="0">
                  <a:pos x="132" y="0"/>
                </a:cxn>
                <a:cxn ang="0">
                  <a:pos x="147" y="10"/>
                </a:cxn>
                <a:cxn ang="0">
                  <a:pos x="162" y="21"/>
                </a:cxn>
                <a:cxn ang="0">
                  <a:pos x="176" y="30"/>
                </a:cxn>
                <a:cxn ang="0">
                  <a:pos x="191" y="41"/>
                </a:cxn>
                <a:cxn ang="0">
                  <a:pos x="177" y="41"/>
                </a:cxn>
                <a:cxn ang="0">
                  <a:pos x="163" y="41"/>
                </a:cxn>
                <a:cxn ang="0">
                  <a:pos x="165" y="60"/>
                </a:cxn>
                <a:cxn ang="0">
                  <a:pos x="167" y="80"/>
                </a:cxn>
                <a:cxn ang="0">
                  <a:pos x="169" y="99"/>
                </a:cxn>
                <a:cxn ang="0">
                  <a:pos x="170" y="117"/>
                </a:cxn>
                <a:cxn ang="0">
                  <a:pos x="173" y="136"/>
                </a:cxn>
                <a:cxn ang="0">
                  <a:pos x="174" y="155"/>
                </a:cxn>
                <a:cxn ang="0">
                  <a:pos x="175" y="174"/>
                </a:cxn>
                <a:cxn ang="0">
                  <a:pos x="177" y="194"/>
                </a:cxn>
                <a:cxn ang="0">
                  <a:pos x="181" y="197"/>
                </a:cxn>
                <a:cxn ang="0">
                  <a:pos x="179" y="212"/>
                </a:cxn>
                <a:cxn ang="0">
                  <a:pos x="164" y="212"/>
                </a:cxn>
                <a:cxn ang="0">
                  <a:pos x="149" y="212"/>
                </a:cxn>
                <a:cxn ang="0">
                  <a:pos x="134" y="212"/>
                </a:cxn>
                <a:cxn ang="0">
                  <a:pos x="119" y="212"/>
                </a:cxn>
                <a:cxn ang="0">
                  <a:pos x="117" y="210"/>
                </a:cxn>
                <a:cxn ang="0">
                  <a:pos x="95" y="215"/>
                </a:cxn>
                <a:cxn ang="0">
                  <a:pos x="92" y="216"/>
                </a:cxn>
                <a:cxn ang="0">
                  <a:pos x="83" y="210"/>
                </a:cxn>
                <a:cxn ang="0">
                  <a:pos x="75" y="226"/>
                </a:cxn>
                <a:cxn ang="0">
                  <a:pos x="73" y="225"/>
                </a:cxn>
                <a:cxn ang="0">
                  <a:pos x="61" y="213"/>
                </a:cxn>
                <a:cxn ang="0">
                  <a:pos x="49" y="200"/>
                </a:cxn>
                <a:cxn ang="0">
                  <a:pos x="35" y="191"/>
                </a:cxn>
                <a:cxn ang="0">
                  <a:pos x="23" y="192"/>
                </a:cxn>
                <a:cxn ang="0">
                  <a:pos x="9" y="195"/>
                </a:cxn>
              </a:cxnLst>
              <a:rect l="0" t="0" r="r" b="b"/>
              <a:pathLst>
                <a:path w="191" h="226">
                  <a:moveTo>
                    <a:pt x="9" y="195"/>
                  </a:moveTo>
                  <a:lnTo>
                    <a:pt x="6" y="202"/>
                  </a:lnTo>
                  <a:lnTo>
                    <a:pt x="11" y="180"/>
                  </a:lnTo>
                  <a:lnTo>
                    <a:pt x="14" y="159"/>
                  </a:lnTo>
                  <a:lnTo>
                    <a:pt x="9" y="142"/>
                  </a:lnTo>
                  <a:lnTo>
                    <a:pt x="11" y="123"/>
                  </a:lnTo>
                  <a:lnTo>
                    <a:pt x="1" y="112"/>
                  </a:lnTo>
                  <a:lnTo>
                    <a:pt x="0" y="117"/>
                  </a:lnTo>
                  <a:lnTo>
                    <a:pt x="2" y="107"/>
                  </a:lnTo>
                  <a:lnTo>
                    <a:pt x="17" y="107"/>
                  </a:lnTo>
                  <a:lnTo>
                    <a:pt x="32" y="107"/>
                  </a:lnTo>
                  <a:lnTo>
                    <a:pt x="48" y="107"/>
                  </a:lnTo>
                  <a:lnTo>
                    <a:pt x="63" y="107"/>
                  </a:lnTo>
                  <a:lnTo>
                    <a:pt x="63" y="92"/>
                  </a:lnTo>
                  <a:lnTo>
                    <a:pt x="63" y="77"/>
                  </a:lnTo>
                  <a:lnTo>
                    <a:pt x="79" y="69"/>
                  </a:lnTo>
                  <a:lnTo>
                    <a:pt x="80" y="46"/>
                  </a:lnTo>
                  <a:lnTo>
                    <a:pt x="80" y="23"/>
                  </a:lnTo>
                  <a:lnTo>
                    <a:pt x="93" y="23"/>
                  </a:lnTo>
                  <a:lnTo>
                    <a:pt x="107" y="23"/>
                  </a:lnTo>
                  <a:lnTo>
                    <a:pt x="119" y="23"/>
                  </a:lnTo>
                  <a:lnTo>
                    <a:pt x="132" y="23"/>
                  </a:lnTo>
                  <a:lnTo>
                    <a:pt x="132" y="0"/>
                  </a:lnTo>
                  <a:lnTo>
                    <a:pt x="147" y="10"/>
                  </a:lnTo>
                  <a:lnTo>
                    <a:pt x="162" y="21"/>
                  </a:lnTo>
                  <a:lnTo>
                    <a:pt x="176" y="30"/>
                  </a:lnTo>
                  <a:lnTo>
                    <a:pt x="191" y="41"/>
                  </a:lnTo>
                  <a:lnTo>
                    <a:pt x="177" y="41"/>
                  </a:lnTo>
                  <a:lnTo>
                    <a:pt x="163" y="41"/>
                  </a:lnTo>
                  <a:lnTo>
                    <a:pt x="165" y="60"/>
                  </a:lnTo>
                  <a:lnTo>
                    <a:pt x="167" y="80"/>
                  </a:lnTo>
                  <a:lnTo>
                    <a:pt x="169" y="99"/>
                  </a:lnTo>
                  <a:lnTo>
                    <a:pt x="170" y="117"/>
                  </a:lnTo>
                  <a:lnTo>
                    <a:pt x="173" y="136"/>
                  </a:lnTo>
                  <a:lnTo>
                    <a:pt x="174" y="155"/>
                  </a:lnTo>
                  <a:lnTo>
                    <a:pt x="175" y="174"/>
                  </a:lnTo>
                  <a:lnTo>
                    <a:pt x="177" y="194"/>
                  </a:lnTo>
                  <a:lnTo>
                    <a:pt x="181" y="197"/>
                  </a:lnTo>
                  <a:lnTo>
                    <a:pt x="179" y="212"/>
                  </a:lnTo>
                  <a:lnTo>
                    <a:pt x="164" y="212"/>
                  </a:lnTo>
                  <a:lnTo>
                    <a:pt x="149" y="212"/>
                  </a:lnTo>
                  <a:lnTo>
                    <a:pt x="134" y="212"/>
                  </a:lnTo>
                  <a:lnTo>
                    <a:pt x="119" y="212"/>
                  </a:lnTo>
                  <a:lnTo>
                    <a:pt x="117" y="210"/>
                  </a:lnTo>
                  <a:lnTo>
                    <a:pt x="95" y="215"/>
                  </a:lnTo>
                  <a:lnTo>
                    <a:pt x="92" y="216"/>
                  </a:lnTo>
                  <a:lnTo>
                    <a:pt x="83" y="210"/>
                  </a:lnTo>
                  <a:lnTo>
                    <a:pt x="75" y="226"/>
                  </a:lnTo>
                  <a:lnTo>
                    <a:pt x="73" y="225"/>
                  </a:lnTo>
                  <a:lnTo>
                    <a:pt x="61" y="213"/>
                  </a:lnTo>
                  <a:lnTo>
                    <a:pt x="49" y="200"/>
                  </a:lnTo>
                  <a:lnTo>
                    <a:pt x="35" y="191"/>
                  </a:lnTo>
                  <a:lnTo>
                    <a:pt x="23" y="192"/>
                  </a:lnTo>
                  <a:lnTo>
                    <a:pt x="9" y="19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5" name="Freeform 134"/>
            <p:cNvSpPr>
              <a:spLocks/>
            </p:cNvSpPr>
            <p:nvPr/>
          </p:nvSpPr>
          <p:spPr bwMode="auto">
            <a:xfrm>
              <a:off x="2307" y="1990"/>
              <a:ext cx="206" cy="164"/>
            </a:xfrm>
            <a:custGeom>
              <a:avLst/>
              <a:gdLst/>
              <a:ahLst/>
              <a:cxnLst>
                <a:cxn ang="0">
                  <a:pos x="96" y="36"/>
                </a:cxn>
                <a:cxn ang="0">
                  <a:pos x="82" y="45"/>
                </a:cxn>
                <a:cxn ang="0">
                  <a:pos x="69" y="54"/>
                </a:cxn>
                <a:cxn ang="0">
                  <a:pos x="60" y="68"/>
                </a:cxn>
                <a:cxn ang="0">
                  <a:pos x="53" y="81"/>
                </a:cxn>
                <a:cxn ang="0">
                  <a:pos x="56" y="98"/>
                </a:cxn>
                <a:cxn ang="0">
                  <a:pos x="48" y="110"/>
                </a:cxn>
                <a:cxn ang="0">
                  <a:pos x="41" y="123"/>
                </a:cxn>
                <a:cxn ang="0">
                  <a:pos x="29" y="132"/>
                </a:cxn>
                <a:cxn ang="0">
                  <a:pos x="17" y="140"/>
                </a:cxn>
                <a:cxn ang="0">
                  <a:pos x="0" y="147"/>
                </a:cxn>
                <a:cxn ang="0">
                  <a:pos x="17" y="147"/>
                </a:cxn>
                <a:cxn ang="0">
                  <a:pos x="35" y="147"/>
                </a:cxn>
                <a:cxn ang="0">
                  <a:pos x="52" y="147"/>
                </a:cxn>
                <a:cxn ang="0">
                  <a:pos x="69" y="147"/>
                </a:cxn>
                <a:cxn ang="0">
                  <a:pos x="72" y="126"/>
                </a:cxn>
                <a:cxn ang="0">
                  <a:pos x="86" y="120"/>
                </a:cxn>
                <a:cxn ang="0">
                  <a:pos x="98" y="112"/>
                </a:cxn>
                <a:cxn ang="0">
                  <a:pos x="111" y="106"/>
                </a:cxn>
                <a:cxn ang="0">
                  <a:pos x="125" y="100"/>
                </a:cxn>
                <a:cxn ang="0">
                  <a:pos x="136" y="93"/>
                </a:cxn>
                <a:cxn ang="0">
                  <a:pos x="147" y="85"/>
                </a:cxn>
                <a:cxn ang="0">
                  <a:pos x="147" y="74"/>
                </a:cxn>
                <a:cxn ang="0">
                  <a:pos x="167" y="67"/>
                </a:cxn>
                <a:cxn ang="0">
                  <a:pos x="183" y="66"/>
                </a:cxn>
                <a:cxn ang="0">
                  <a:pos x="186" y="61"/>
                </a:cxn>
                <a:cxn ang="0">
                  <a:pos x="177" y="44"/>
                </a:cxn>
                <a:cxn ang="0">
                  <a:pos x="174" y="31"/>
                </a:cxn>
                <a:cxn ang="0">
                  <a:pos x="173" y="18"/>
                </a:cxn>
                <a:cxn ang="0">
                  <a:pos x="170" y="14"/>
                </a:cxn>
                <a:cxn ang="0">
                  <a:pos x="159" y="10"/>
                </a:cxn>
                <a:cxn ang="0">
                  <a:pos x="154" y="12"/>
                </a:cxn>
                <a:cxn ang="0">
                  <a:pos x="129" y="9"/>
                </a:cxn>
                <a:cxn ang="0">
                  <a:pos x="120" y="0"/>
                </a:cxn>
                <a:cxn ang="0">
                  <a:pos x="112" y="7"/>
                </a:cxn>
                <a:cxn ang="0">
                  <a:pos x="105" y="21"/>
                </a:cxn>
                <a:cxn ang="0">
                  <a:pos x="96" y="36"/>
                </a:cxn>
              </a:cxnLst>
              <a:rect l="0" t="0" r="r" b="b"/>
              <a:pathLst>
                <a:path w="186" h="147">
                  <a:moveTo>
                    <a:pt x="96" y="36"/>
                  </a:moveTo>
                  <a:lnTo>
                    <a:pt x="82" y="45"/>
                  </a:lnTo>
                  <a:lnTo>
                    <a:pt x="69" y="54"/>
                  </a:lnTo>
                  <a:lnTo>
                    <a:pt x="60" y="68"/>
                  </a:lnTo>
                  <a:lnTo>
                    <a:pt x="53" y="81"/>
                  </a:lnTo>
                  <a:lnTo>
                    <a:pt x="56" y="98"/>
                  </a:lnTo>
                  <a:lnTo>
                    <a:pt x="48" y="110"/>
                  </a:lnTo>
                  <a:lnTo>
                    <a:pt x="41" y="123"/>
                  </a:lnTo>
                  <a:lnTo>
                    <a:pt x="29" y="132"/>
                  </a:lnTo>
                  <a:lnTo>
                    <a:pt x="17" y="140"/>
                  </a:lnTo>
                  <a:lnTo>
                    <a:pt x="0" y="147"/>
                  </a:lnTo>
                  <a:lnTo>
                    <a:pt x="17" y="147"/>
                  </a:lnTo>
                  <a:lnTo>
                    <a:pt x="35" y="147"/>
                  </a:lnTo>
                  <a:lnTo>
                    <a:pt x="52" y="147"/>
                  </a:lnTo>
                  <a:lnTo>
                    <a:pt x="69" y="147"/>
                  </a:lnTo>
                  <a:lnTo>
                    <a:pt x="72" y="126"/>
                  </a:lnTo>
                  <a:lnTo>
                    <a:pt x="86" y="120"/>
                  </a:lnTo>
                  <a:lnTo>
                    <a:pt x="98" y="112"/>
                  </a:lnTo>
                  <a:lnTo>
                    <a:pt x="111" y="106"/>
                  </a:lnTo>
                  <a:lnTo>
                    <a:pt x="125" y="100"/>
                  </a:lnTo>
                  <a:lnTo>
                    <a:pt x="136" y="93"/>
                  </a:lnTo>
                  <a:lnTo>
                    <a:pt x="147" y="85"/>
                  </a:lnTo>
                  <a:lnTo>
                    <a:pt x="147" y="74"/>
                  </a:lnTo>
                  <a:lnTo>
                    <a:pt x="167" y="67"/>
                  </a:lnTo>
                  <a:lnTo>
                    <a:pt x="183" y="66"/>
                  </a:lnTo>
                  <a:lnTo>
                    <a:pt x="186" y="61"/>
                  </a:lnTo>
                  <a:lnTo>
                    <a:pt x="177" y="44"/>
                  </a:lnTo>
                  <a:lnTo>
                    <a:pt x="174" y="31"/>
                  </a:lnTo>
                  <a:lnTo>
                    <a:pt x="173" y="18"/>
                  </a:lnTo>
                  <a:lnTo>
                    <a:pt x="170" y="14"/>
                  </a:lnTo>
                  <a:lnTo>
                    <a:pt x="159" y="10"/>
                  </a:lnTo>
                  <a:lnTo>
                    <a:pt x="154" y="12"/>
                  </a:lnTo>
                  <a:lnTo>
                    <a:pt x="129" y="9"/>
                  </a:lnTo>
                  <a:lnTo>
                    <a:pt x="120" y="0"/>
                  </a:lnTo>
                  <a:lnTo>
                    <a:pt x="112" y="7"/>
                  </a:lnTo>
                  <a:lnTo>
                    <a:pt x="105" y="21"/>
                  </a:lnTo>
                  <a:lnTo>
                    <a:pt x="96"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6" name="Freeform 135"/>
            <p:cNvSpPr>
              <a:spLocks/>
            </p:cNvSpPr>
            <p:nvPr/>
          </p:nvSpPr>
          <p:spPr bwMode="auto">
            <a:xfrm>
              <a:off x="2536" y="2236"/>
              <a:ext cx="273" cy="236"/>
            </a:xfrm>
            <a:custGeom>
              <a:avLst/>
              <a:gdLst/>
              <a:ahLst/>
              <a:cxnLst>
                <a:cxn ang="0">
                  <a:pos x="27" y="194"/>
                </a:cxn>
                <a:cxn ang="0">
                  <a:pos x="21" y="195"/>
                </a:cxn>
                <a:cxn ang="0">
                  <a:pos x="12" y="188"/>
                </a:cxn>
                <a:cxn ang="0">
                  <a:pos x="12" y="182"/>
                </a:cxn>
                <a:cxn ang="0">
                  <a:pos x="14" y="181"/>
                </a:cxn>
                <a:cxn ang="0">
                  <a:pos x="2" y="168"/>
                </a:cxn>
                <a:cxn ang="0">
                  <a:pos x="0" y="153"/>
                </a:cxn>
                <a:cxn ang="0">
                  <a:pos x="2" y="153"/>
                </a:cxn>
                <a:cxn ang="0">
                  <a:pos x="16" y="147"/>
                </a:cxn>
                <a:cxn ang="0">
                  <a:pos x="34" y="147"/>
                </a:cxn>
                <a:cxn ang="0">
                  <a:pos x="51" y="146"/>
                </a:cxn>
                <a:cxn ang="0">
                  <a:pos x="60" y="130"/>
                </a:cxn>
                <a:cxn ang="0">
                  <a:pos x="61" y="117"/>
                </a:cxn>
                <a:cxn ang="0">
                  <a:pos x="61" y="104"/>
                </a:cxn>
                <a:cxn ang="0">
                  <a:pos x="62" y="91"/>
                </a:cxn>
                <a:cxn ang="0">
                  <a:pos x="62" y="78"/>
                </a:cxn>
                <a:cxn ang="0">
                  <a:pos x="75" y="75"/>
                </a:cxn>
                <a:cxn ang="0">
                  <a:pos x="87" y="73"/>
                </a:cxn>
                <a:cxn ang="0">
                  <a:pos x="99" y="60"/>
                </a:cxn>
                <a:cxn ang="0">
                  <a:pos x="112" y="48"/>
                </a:cxn>
                <a:cxn ang="0">
                  <a:pos x="129" y="36"/>
                </a:cxn>
                <a:cxn ang="0">
                  <a:pos x="147" y="24"/>
                </a:cxn>
                <a:cxn ang="0">
                  <a:pos x="164" y="12"/>
                </a:cxn>
                <a:cxn ang="0">
                  <a:pos x="182" y="0"/>
                </a:cxn>
                <a:cxn ang="0">
                  <a:pos x="204" y="6"/>
                </a:cxn>
                <a:cxn ang="0">
                  <a:pos x="217" y="16"/>
                </a:cxn>
                <a:cxn ang="0">
                  <a:pos x="228" y="9"/>
                </a:cxn>
                <a:cxn ang="0">
                  <a:pos x="229" y="9"/>
                </a:cxn>
                <a:cxn ang="0">
                  <a:pos x="230" y="22"/>
                </a:cxn>
                <a:cxn ang="0">
                  <a:pos x="232" y="36"/>
                </a:cxn>
                <a:cxn ang="0">
                  <a:pos x="246" y="56"/>
                </a:cxn>
                <a:cxn ang="0">
                  <a:pos x="242" y="64"/>
                </a:cxn>
                <a:cxn ang="0">
                  <a:pos x="241" y="78"/>
                </a:cxn>
                <a:cxn ang="0">
                  <a:pos x="240" y="91"/>
                </a:cxn>
                <a:cxn ang="0">
                  <a:pos x="240" y="105"/>
                </a:cxn>
                <a:cxn ang="0">
                  <a:pos x="238" y="118"/>
                </a:cxn>
                <a:cxn ang="0">
                  <a:pos x="231" y="129"/>
                </a:cxn>
                <a:cxn ang="0">
                  <a:pos x="224" y="140"/>
                </a:cxn>
                <a:cxn ang="0">
                  <a:pos x="217" y="151"/>
                </a:cxn>
                <a:cxn ang="0">
                  <a:pos x="210" y="162"/>
                </a:cxn>
                <a:cxn ang="0">
                  <a:pos x="211" y="176"/>
                </a:cxn>
                <a:cxn ang="0">
                  <a:pos x="193" y="186"/>
                </a:cxn>
                <a:cxn ang="0">
                  <a:pos x="177" y="184"/>
                </a:cxn>
                <a:cxn ang="0">
                  <a:pos x="160" y="183"/>
                </a:cxn>
                <a:cxn ang="0">
                  <a:pos x="142" y="192"/>
                </a:cxn>
                <a:cxn ang="0">
                  <a:pos x="132" y="187"/>
                </a:cxn>
                <a:cxn ang="0">
                  <a:pos x="120" y="182"/>
                </a:cxn>
                <a:cxn ang="0">
                  <a:pos x="103" y="187"/>
                </a:cxn>
                <a:cxn ang="0">
                  <a:pos x="92" y="176"/>
                </a:cxn>
                <a:cxn ang="0">
                  <a:pos x="76" y="175"/>
                </a:cxn>
                <a:cxn ang="0">
                  <a:pos x="62" y="180"/>
                </a:cxn>
                <a:cxn ang="0">
                  <a:pos x="58" y="193"/>
                </a:cxn>
                <a:cxn ang="0">
                  <a:pos x="54" y="205"/>
                </a:cxn>
                <a:cxn ang="0">
                  <a:pos x="52" y="212"/>
                </a:cxn>
                <a:cxn ang="0">
                  <a:pos x="39" y="200"/>
                </a:cxn>
                <a:cxn ang="0">
                  <a:pos x="34" y="206"/>
                </a:cxn>
                <a:cxn ang="0">
                  <a:pos x="34" y="208"/>
                </a:cxn>
                <a:cxn ang="0">
                  <a:pos x="31" y="199"/>
                </a:cxn>
                <a:cxn ang="0">
                  <a:pos x="27" y="194"/>
                </a:cxn>
              </a:cxnLst>
              <a:rect l="0" t="0" r="r" b="b"/>
              <a:pathLst>
                <a:path w="246" h="212">
                  <a:moveTo>
                    <a:pt x="27" y="194"/>
                  </a:moveTo>
                  <a:lnTo>
                    <a:pt x="21" y="195"/>
                  </a:lnTo>
                  <a:lnTo>
                    <a:pt x="12" y="188"/>
                  </a:lnTo>
                  <a:lnTo>
                    <a:pt x="12" y="182"/>
                  </a:lnTo>
                  <a:lnTo>
                    <a:pt x="14" y="181"/>
                  </a:lnTo>
                  <a:lnTo>
                    <a:pt x="2" y="168"/>
                  </a:lnTo>
                  <a:lnTo>
                    <a:pt x="0" y="153"/>
                  </a:lnTo>
                  <a:lnTo>
                    <a:pt x="2" y="153"/>
                  </a:lnTo>
                  <a:lnTo>
                    <a:pt x="16" y="147"/>
                  </a:lnTo>
                  <a:lnTo>
                    <a:pt x="34" y="147"/>
                  </a:lnTo>
                  <a:lnTo>
                    <a:pt x="51" y="146"/>
                  </a:lnTo>
                  <a:lnTo>
                    <a:pt x="60" y="130"/>
                  </a:lnTo>
                  <a:lnTo>
                    <a:pt x="61" y="117"/>
                  </a:lnTo>
                  <a:lnTo>
                    <a:pt x="61" y="104"/>
                  </a:lnTo>
                  <a:lnTo>
                    <a:pt x="62" y="91"/>
                  </a:lnTo>
                  <a:lnTo>
                    <a:pt x="62" y="78"/>
                  </a:lnTo>
                  <a:lnTo>
                    <a:pt x="75" y="75"/>
                  </a:lnTo>
                  <a:lnTo>
                    <a:pt x="87" y="73"/>
                  </a:lnTo>
                  <a:lnTo>
                    <a:pt x="99" y="60"/>
                  </a:lnTo>
                  <a:lnTo>
                    <a:pt x="112" y="48"/>
                  </a:lnTo>
                  <a:lnTo>
                    <a:pt x="129" y="36"/>
                  </a:lnTo>
                  <a:lnTo>
                    <a:pt x="147" y="24"/>
                  </a:lnTo>
                  <a:lnTo>
                    <a:pt x="164" y="12"/>
                  </a:lnTo>
                  <a:lnTo>
                    <a:pt x="182" y="0"/>
                  </a:lnTo>
                  <a:lnTo>
                    <a:pt x="204" y="6"/>
                  </a:lnTo>
                  <a:lnTo>
                    <a:pt x="217" y="16"/>
                  </a:lnTo>
                  <a:lnTo>
                    <a:pt x="228" y="9"/>
                  </a:lnTo>
                  <a:lnTo>
                    <a:pt x="229" y="9"/>
                  </a:lnTo>
                  <a:lnTo>
                    <a:pt x="230" y="22"/>
                  </a:lnTo>
                  <a:lnTo>
                    <a:pt x="232" y="36"/>
                  </a:lnTo>
                  <a:lnTo>
                    <a:pt x="246" y="56"/>
                  </a:lnTo>
                  <a:lnTo>
                    <a:pt x="242" y="64"/>
                  </a:lnTo>
                  <a:lnTo>
                    <a:pt x="241" y="78"/>
                  </a:lnTo>
                  <a:lnTo>
                    <a:pt x="240" y="91"/>
                  </a:lnTo>
                  <a:lnTo>
                    <a:pt x="240" y="105"/>
                  </a:lnTo>
                  <a:lnTo>
                    <a:pt x="238" y="118"/>
                  </a:lnTo>
                  <a:lnTo>
                    <a:pt x="231" y="129"/>
                  </a:lnTo>
                  <a:lnTo>
                    <a:pt x="224" y="140"/>
                  </a:lnTo>
                  <a:lnTo>
                    <a:pt x="217" y="151"/>
                  </a:lnTo>
                  <a:lnTo>
                    <a:pt x="210" y="162"/>
                  </a:lnTo>
                  <a:lnTo>
                    <a:pt x="211" y="176"/>
                  </a:lnTo>
                  <a:lnTo>
                    <a:pt x="193" y="186"/>
                  </a:lnTo>
                  <a:lnTo>
                    <a:pt x="177" y="184"/>
                  </a:lnTo>
                  <a:lnTo>
                    <a:pt x="160" y="183"/>
                  </a:lnTo>
                  <a:lnTo>
                    <a:pt x="142" y="192"/>
                  </a:lnTo>
                  <a:lnTo>
                    <a:pt x="132" y="187"/>
                  </a:lnTo>
                  <a:lnTo>
                    <a:pt x="120" y="182"/>
                  </a:lnTo>
                  <a:lnTo>
                    <a:pt x="103" y="187"/>
                  </a:lnTo>
                  <a:lnTo>
                    <a:pt x="92" y="176"/>
                  </a:lnTo>
                  <a:lnTo>
                    <a:pt x="76" y="175"/>
                  </a:lnTo>
                  <a:lnTo>
                    <a:pt x="62" y="180"/>
                  </a:lnTo>
                  <a:lnTo>
                    <a:pt x="58" y="193"/>
                  </a:lnTo>
                  <a:lnTo>
                    <a:pt x="54" y="205"/>
                  </a:lnTo>
                  <a:lnTo>
                    <a:pt x="52" y="212"/>
                  </a:lnTo>
                  <a:lnTo>
                    <a:pt x="39" y="200"/>
                  </a:lnTo>
                  <a:lnTo>
                    <a:pt x="34" y="206"/>
                  </a:lnTo>
                  <a:lnTo>
                    <a:pt x="34" y="208"/>
                  </a:lnTo>
                  <a:lnTo>
                    <a:pt x="31" y="199"/>
                  </a:lnTo>
                  <a:lnTo>
                    <a:pt x="27" y="19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7" name="Freeform 136"/>
            <p:cNvSpPr>
              <a:spLocks/>
            </p:cNvSpPr>
            <p:nvPr/>
          </p:nvSpPr>
          <p:spPr bwMode="auto">
            <a:xfrm>
              <a:off x="2227" y="2374"/>
              <a:ext cx="106" cy="87"/>
            </a:xfrm>
            <a:custGeom>
              <a:avLst/>
              <a:gdLst/>
              <a:ahLst/>
              <a:cxnLst>
                <a:cxn ang="0">
                  <a:pos x="18" y="4"/>
                </a:cxn>
                <a:cxn ang="0">
                  <a:pos x="15" y="11"/>
                </a:cxn>
                <a:cxn ang="0">
                  <a:pos x="8" y="23"/>
                </a:cxn>
                <a:cxn ang="0">
                  <a:pos x="0" y="35"/>
                </a:cxn>
                <a:cxn ang="0">
                  <a:pos x="10" y="48"/>
                </a:cxn>
                <a:cxn ang="0">
                  <a:pos x="15" y="45"/>
                </a:cxn>
                <a:cxn ang="0">
                  <a:pos x="11" y="48"/>
                </a:cxn>
                <a:cxn ang="0">
                  <a:pos x="14" y="49"/>
                </a:cxn>
                <a:cxn ang="0">
                  <a:pos x="14" y="55"/>
                </a:cxn>
                <a:cxn ang="0">
                  <a:pos x="30" y="55"/>
                </a:cxn>
                <a:cxn ang="0">
                  <a:pos x="33" y="52"/>
                </a:cxn>
                <a:cxn ang="0">
                  <a:pos x="52" y="55"/>
                </a:cxn>
                <a:cxn ang="0">
                  <a:pos x="56" y="60"/>
                </a:cxn>
                <a:cxn ang="0">
                  <a:pos x="35" y="55"/>
                </a:cxn>
                <a:cxn ang="0">
                  <a:pos x="23" y="60"/>
                </a:cxn>
                <a:cxn ang="0">
                  <a:pos x="10" y="64"/>
                </a:cxn>
                <a:cxn ang="0">
                  <a:pos x="12" y="72"/>
                </a:cxn>
                <a:cxn ang="0">
                  <a:pos x="23" y="71"/>
                </a:cxn>
                <a:cxn ang="0">
                  <a:pos x="29" y="69"/>
                </a:cxn>
                <a:cxn ang="0">
                  <a:pos x="29" y="71"/>
                </a:cxn>
                <a:cxn ang="0">
                  <a:pos x="15" y="72"/>
                </a:cxn>
                <a:cxn ang="0">
                  <a:pos x="11" y="78"/>
                </a:cxn>
                <a:cxn ang="0">
                  <a:pos x="32" y="73"/>
                </a:cxn>
                <a:cxn ang="0">
                  <a:pos x="45" y="72"/>
                </a:cxn>
                <a:cxn ang="0">
                  <a:pos x="58" y="71"/>
                </a:cxn>
                <a:cxn ang="0">
                  <a:pos x="72" y="75"/>
                </a:cxn>
                <a:cxn ang="0">
                  <a:pos x="95" y="76"/>
                </a:cxn>
                <a:cxn ang="0">
                  <a:pos x="90" y="59"/>
                </a:cxn>
                <a:cxn ang="0">
                  <a:pos x="86" y="52"/>
                </a:cxn>
                <a:cxn ang="0">
                  <a:pos x="82" y="34"/>
                </a:cxn>
                <a:cxn ang="0">
                  <a:pos x="70" y="22"/>
                </a:cxn>
                <a:cxn ang="0">
                  <a:pos x="58" y="9"/>
                </a:cxn>
                <a:cxn ang="0">
                  <a:pos x="44" y="0"/>
                </a:cxn>
                <a:cxn ang="0">
                  <a:pos x="32" y="1"/>
                </a:cxn>
                <a:cxn ang="0">
                  <a:pos x="18" y="4"/>
                </a:cxn>
              </a:cxnLst>
              <a:rect l="0" t="0" r="r" b="b"/>
              <a:pathLst>
                <a:path w="95" h="78">
                  <a:moveTo>
                    <a:pt x="18" y="4"/>
                  </a:moveTo>
                  <a:lnTo>
                    <a:pt x="15" y="11"/>
                  </a:lnTo>
                  <a:lnTo>
                    <a:pt x="8" y="23"/>
                  </a:lnTo>
                  <a:lnTo>
                    <a:pt x="0" y="35"/>
                  </a:lnTo>
                  <a:lnTo>
                    <a:pt x="10" y="48"/>
                  </a:lnTo>
                  <a:lnTo>
                    <a:pt x="15" y="45"/>
                  </a:lnTo>
                  <a:lnTo>
                    <a:pt x="11" y="48"/>
                  </a:lnTo>
                  <a:lnTo>
                    <a:pt x="14" y="49"/>
                  </a:lnTo>
                  <a:lnTo>
                    <a:pt x="14" y="55"/>
                  </a:lnTo>
                  <a:lnTo>
                    <a:pt x="30" y="55"/>
                  </a:lnTo>
                  <a:lnTo>
                    <a:pt x="33" y="52"/>
                  </a:lnTo>
                  <a:lnTo>
                    <a:pt x="52" y="55"/>
                  </a:lnTo>
                  <a:lnTo>
                    <a:pt x="56" y="60"/>
                  </a:lnTo>
                  <a:lnTo>
                    <a:pt x="35" y="55"/>
                  </a:lnTo>
                  <a:lnTo>
                    <a:pt x="23" y="60"/>
                  </a:lnTo>
                  <a:lnTo>
                    <a:pt x="10" y="64"/>
                  </a:lnTo>
                  <a:lnTo>
                    <a:pt x="12" y="72"/>
                  </a:lnTo>
                  <a:lnTo>
                    <a:pt x="23" y="71"/>
                  </a:lnTo>
                  <a:lnTo>
                    <a:pt x="29" y="69"/>
                  </a:lnTo>
                  <a:lnTo>
                    <a:pt x="29" y="71"/>
                  </a:lnTo>
                  <a:lnTo>
                    <a:pt x="15" y="72"/>
                  </a:lnTo>
                  <a:lnTo>
                    <a:pt x="11" y="78"/>
                  </a:lnTo>
                  <a:lnTo>
                    <a:pt x="32" y="73"/>
                  </a:lnTo>
                  <a:lnTo>
                    <a:pt x="45" y="72"/>
                  </a:lnTo>
                  <a:lnTo>
                    <a:pt x="58" y="71"/>
                  </a:lnTo>
                  <a:lnTo>
                    <a:pt x="72" y="75"/>
                  </a:lnTo>
                  <a:lnTo>
                    <a:pt x="95" y="76"/>
                  </a:lnTo>
                  <a:lnTo>
                    <a:pt x="90" y="59"/>
                  </a:lnTo>
                  <a:lnTo>
                    <a:pt x="86" y="52"/>
                  </a:lnTo>
                  <a:lnTo>
                    <a:pt x="82" y="34"/>
                  </a:lnTo>
                  <a:lnTo>
                    <a:pt x="70" y="22"/>
                  </a:lnTo>
                  <a:lnTo>
                    <a:pt x="58" y="9"/>
                  </a:lnTo>
                  <a:lnTo>
                    <a:pt x="44" y="0"/>
                  </a:lnTo>
                  <a:lnTo>
                    <a:pt x="32" y="1"/>
                  </a:lnTo>
                  <a:lnTo>
                    <a:pt x="18"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8" name="Freeform 137"/>
            <p:cNvSpPr>
              <a:spLocks/>
            </p:cNvSpPr>
            <p:nvPr/>
          </p:nvSpPr>
          <p:spPr bwMode="auto">
            <a:xfrm>
              <a:off x="2656" y="1963"/>
              <a:ext cx="68" cy="140"/>
            </a:xfrm>
            <a:custGeom>
              <a:avLst/>
              <a:gdLst/>
              <a:ahLst/>
              <a:cxnLst>
                <a:cxn ang="0">
                  <a:pos x="41" y="118"/>
                </a:cxn>
                <a:cxn ang="0">
                  <a:pos x="32" y="126"/>
                </a:cxn>
                <a:cxn ang="0">
                  <a:pos x="29" y="109"/>
                </a:cxn>
                <a:cxn ang="0">
                  <a:pos x="24" y="92"/>
                </a:cxn>
                <a:cxn ang="0">
                  <a:pos x="12" y="79"/>
                </a:cxn>
                <a:cxn ang="0">
                  <a:pos x="0" y="61"/>
                </a:cxn>
                <a:cxn ang="0">
                  <a:pos x="7" y="48"/>
                </a:cxn>
                <a:cxn ang="0">
                  <a:pos x="13" y="34"/>
                </a:cxn>
                <a:cxn ang="0">
                  <a:pos x="12" y="10"/>
                </a:cxn>
                <a:cxn ang="0">
                  <a:pos x="15" y="6"/>
                </a:cxn>
                <a:cxn ang="0">
                  <a:pos x="32" y="0"/>
                </a:cxn>
                <a:cxn ang="0">
                  <a:pos x="38" y="3"/>
                </a:cxn>
                <a:cxn ang="0">
                  <a:pos x="42" y="9"/>
                </a:cxn>
                <a:cxn ang="0">
                  <a:pos x="51" y="3"/>
                </a:cxn>
                <a:cxn ang="0">
                  <a:pos x="44" y="22"/>
                </a:cxn>
                <a:cxn ang="0">
                  <a:pos x="54" y="36"/>
                </a:cxn>
                <a:cxn ang="0">
                  <a:pos x="45" y="46"/>
                </a:cxn>
                <a:cxn ang="0">
                  <a:pos x="38" y="57"/>
                </a:cxn>
                <a:cxn ang="0">
                  <a:pos x="51" y="66"/>
                </a:cxn>
                <a:cxn ang="0">
                  <a:pos x="61" y="73"/>
                </a:cxn>
                <a:cxn ang="0">
                  <a:pos x="60" y="87"/>
                </a:cxn>
                <a:cxn ang="0">
                  <a:pos x="50" y="96"/>
                </a:cxn>
                <a:cxn ang="0">
                  <a:pos x="41" y="104"/>
                </a:cxn>
                <a:cxn ang="0">
                  <a:pos x="41" y="118"/>
                </a:cxn>
              </a:cxnLst>
              <a:rect l="0" t="0" r="r" b="b"/>
              <a:pathLst>
                <a:path w="61" h="126">
                  <a:moveTo>
                    <a:pt x="41" y="118"/>
                  </a:moveTo>
                  <a:lnTo>
                    <a:pt x="32" y="126"/>
                  </a:lnTo>
                  <a:lnTo>
                    <a:pt x="29" y="109"/>
                  </a:lnTo>
                  <a:lnTo>
                    <a:pt x="24" y="92"/>
                  </a:lnTo>
                  <a:lnTo>
                    <a:pt x="12" y="79"/>
                  </a:lnTo>
                  <a:lnTo>
                    <a:pt x="0" y="61"/>
                  </a:lnTo>
                  <a:lnTo>
                    <a:pt x="7" y="48"/>
                  </a:lnTo>
                  <a:lnTo>
                    <a:pt x="13" y="34"/>
                  </a:lnTo>
                  <a:lnTo>
                    <a:pt x="12" y="10"/>
                  </a:lnTo>
                  <a:lnTo>
                    <a:pt x="15" y="6"/>
                  </a:lnTo>
                  <a:lnTo>
                    <a:pt x="32" y="0"/>
                  </a:lnTo>
                  <a:lnTo>
                    <a:pt x="38" y="3"/>
                  </a:lnTo>
                  <a:lnTo>
                    <a:pt x="42" y="9"/>
                  </a:lnTo>
                  <a:lnTo>
                    <a:pt x="51" y="3"/>
                  </a:lnTo>
                  <a:lnTo>
                    <a:pt x="44" y="22"/>
                  </a:lnTo>
                  <a:lnTo>
                    <a:pt x="54" y="36"/>
                  </a:lnTo>
                  <a:lnTo>
                    <a:pt x="45" y="46"/>
                  </a:lnTo>
                  <a:lnTo>
                    <a:pt x="38" y="57"/>
                  </a:lnTo>
                  <a:lnTo>
                    <a:pt x="51" y="66"/>
                  </a:lnTo>
                  <a:lnTo>
                    <a:pt x="61" y="73"/>
                  </a:lnTo>
                  <a:lnTo>
                    <a:pt x="60" y="87"/>
                  </a:lnTo>
                  <a:lnTo>
                    <a:pt x="50" y="96"/>
                  </a:lnTo>
                  <a:lnTo>
                    <a:pt x="41" y="104"/>
                  </a:lnTo>
                  <a:lnTo>
                    <a:pt x="41" y="1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9" name="Freeform 138"/>
            <p:cNvSpPr>
              <a:spLocks/>
            </p:cNvSpPr>
            <p:nvPr/>
          </p:nvSpPr>
          <p:spPr bwMode="auto">
            <a:xfrm>
              <a:off x="2329" y="2536"/>
              <a:ext cx="73" cy="83"/>
            </a:xfrm>
            <a:custGeom>
              <a:avLst/>
              <a:gdLst/>
              <a:ahLst/>
              <a:cxnLst>
                <a:cxn ang="0">
                  <a:pos x="62" y="74"/>
                </a:cxn>
                <a:cxn ang="0">
                  <a:pos x="45" y="63"/>
                </a:cxn>
                <a:cxn ang="0">
                  <a:pos x="29" y="54"/>
                </a:cxn>
                <a:cxn ang="0">
                  <a:pos x="14" y="40"/>
                </a:cxn>
                <a:cxn ang="0">
                  <a:pos x="0" y="27"/>
                </a:cxn>
                <a:cxn ang="0">
                  <a:pos x="5" y="21"/>
                </a:cxn>
                <a:cxn ang="0">
                  <a:pos x="12" y="10"/>
                </a:cxn>
                <a:cxn ang="0">
                  <a:pos x="19" y="0"/>
                </a:cxn>
                <a:cxn ang="0">
                  <a:pos x="27" y="0"/>
                </a:cxn>
                <a:cxn ang="0">
                  <a:pos x="32" y="18"/>
                </a:cxn>
                <a:cxn ang="0">
                  <a:pos x="36" y="21"/>
                </a:cxn>
                <a:cxn ang="0">
                  <a:pos x="43" y="16"/>
                </a:cxn>
                <a:cxn ang="0">
                  <a:pos x="48" y="16"/>
                </a:cxn>
                <a:cxn ang="0">
                  <a:pos x="48" y="32"/>
                </a:cxn>
                <a:cxn ang="0">
                  <a:pos x="48" y="36"/>
                </a:cxn>
                <a:cxn ang="0">
                  <a:pos x="57" y="44"/>
                </a:cxn>
                <a:cxn ang="0">
                  <a:pos x="65" y="52"/>
                </a:cxn>
                <a:cxn ang="0">
                  <a:pos x="62" y="74"/>
                </a:cxn>
              </a:cxnLst>
              <a:rect l="0" t="0" r="r" b="b"/>
              <a:pathLst>
                <a:path w="65" h="74">
                  <a:moveTo>
                    <a:pt x="62" y="74"/>
                  </a:moveTo>
                  <a:lnTo>
                    <a:pt x="45" y="63"/>
                  </a:lnTo>
                  <a:lnTo>
                    <a:pt x="29" y="54"/>
                  </a:lnTo>
                  <a:lnTo>
                    <a:pt x="14" y="40"/>
                  </a:lnTo>
                  <a:lnTo>
                    <a:pt x="0" y="27"/>
                  </a:lnTo>
                  <a:lnTo>
                    <a:pt x="5" y="21"/>
                  </a:lnTo>
                  <a:lnTo>
                    <a:pt x="12" y="10"/>
                  </a:lnTo>
                  <a:lnTo>
                    <a:pt x="19" y="0"/>
                  </a:lnTo>
                  <a:lnTo>
                    <a:pt x="27" y="0"/>
                  </a:lnTo>
                  <a:lnTo>
                    <a:pt x="32" y="18"/>
                  </a:lnTo>
                  <a:lnTo>
                    <a:pt x="36" y="21"/>
                  </a:lnTo>
                  <a:lnTo>
                    <a:pt x="43" y="16"/>
                  </a:lnTo>
                  <a:lnTo>
                    <a:pt x="48" y="16"/>
                  </a:lnTo>
                  <a:lnTo>
                    <a:pt x="48" y="32"/>
                  </a:lnTo>
                  <a:lnTo>
                    <a:pt x="48" y="36"/>
                  </a:lnTo>
                  <a:lnTo>
                    <a:pt x="57" y="44"/>
                  </a:lnTo>
                  <a:lnTo>
                    <a:pt x="65" y="52"/>
                  </a:lnTo>
                  <a:lnTo>
                    <a:pt x="62" y="7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0" name="Freeform 139"/>
            <p:cNvSpPr>
              <a:spLocks/>
            </p:cNvSpPr>
            <p:nvPr/>
          </p:nvSpPr>
          <p:spPr bwMode="auto">
            <a:xfrm>
              <a:off x="1076" y="2514"/>
              <a:ext cx="55" cy="47"/>
            </a:xfrm>
            <a:custGeom>
              <a:avLst/>
              <a:gdLst/>
              <a:ahLst/>
              <a:cxnLst>
                <a:cxn ang="0">
                  <a:pos x="0" y="28"/>
                </a:cxn>
                <a:cxn ang="0">
                  <a:pos x="1" y="14"/>
                </a:cxn>
                <a:cxn ang="0">
                  <a:pos x="0" y="2"/>
                </a:cxn>
                <a:cxn ang="0">
                  <a:pos x="6" y="0"/>
                </a:cxn>
                <a:cxn ang="0">
                  <a:pos x="10" y="8"/>
                </a:cxn>
                <a:cxn ang="0">
                  <a:pos x="18" y="10"/>
                </a:cxn>
                <a:cxn ang="0">
                  <a:pos x="22" y="15"/>
                </a:cxn>
                <a:cxn ang="0">
                  <a:pos x="44" y="6"/>
                </a:cxn>
                <a:cxn ang="0">
                  <a:pos x="46" y="9"/>
                </a:cxn>
                <a:cxn ang="0">
                  <a:pos x="50" y="14"/>
                </a:cxn>
                <a:cxn ang="0">
                  <a:pos x="38" y="24"/>
                </a:cxn>
                <a:cxn ang="0">
                  <a:pos x="45" y="36"/>
                </a:cxn>
                <a:cxn ang="0">
                  <a:pos x="31" y="42"/>
                </a:cxn>
                <a:cxn ang="0">
                  <a:pos x="28" y="32"/>
                </a:cxn>
                <a:cxn ang="0">
                  <a:pos x="26" y="35"/>
                </a:cxn>
                <a:cxn ang="0">
                  <a:pos x="19" y="28"/>
                </a:cxn>
                <a:cxn ang="0">
                  <a:pos x="3" y="23"/>
                </a:cxn>
                <a:cxn ang="0">
                  <a:pos x="0" y="28"/>
                </a:cxn>
              </a:cxnLst>
              <a:rect l="0" t="0" r="r" b="b"/>
              <a:pathLst>
                <a:path w="50" h="42">
                  <a:moveTo>
                    <a:pt x="0" y="28"/>
                  </a:moveTo>
                  <a:lnTo>
                    <a:pt x="1" y="14"/>
                  </a:lnTo>
                  <a:lnTo>
                    <a:pt x="0" y="2"/>
                  </a:lnTo>
                  <a:lnTo>
                    <a:pt x="6" y="0"/>
                  </a:lnTo>
                  <a:lnTo>
                    <a:pt x="10" y="8"/>
                  </a:lnTo>
                  <a:lnTo>
                    <a:pt x="18" y="10"/>
                  </a:lnTo>
                  <a:lnTo>
                    <a:pt x="22" y="15"/>
                  </a:lnTo>
                  <a:lnTo>
                    <a:pt x="44" y="6"/>
                  </a:lnTo>
                  <a:lnTo>
                    <a:pt x="46" y="9"/>
                  </a:lnTo>
                  <a:lnTo>
                    <a:pt x="50" y="14"/>
                  </a:lnTo>
                  <a:lnTo>
                    <a:pt x="38" y="24"/>
                  </a:lnTo>
                  <a:lnTo>
                    <a:pt x="45" y="36"/>
                  </a:lnTo>
                  <a:lnTo>
                    <a:pt x="31" y="42"/>
                  </a:lnTo>
                  <a:lnTo>
                    <a:pt x="28" y="32"/>
                  </a:lnTo>
                  <a:lnTo>
                    <a:pt x="26" y="35"/>
                  </a:lnTo>
                  <a:lnTo>
                    <a:pt x="19" y="28"/>
                  </a:lnTo>
                  <a:lnTo>
                    <a:pt x="3" y="23"/>
                  </a:lnTo>
                  <a:lnTo>
                    <a:pt x="0"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1" name="Freeform 140"/>
            <p:cNvSpPr>
              <a:spLocks/>
            </p:cNvSpPr>
            <p:nvPr/>
          </p:nvSpPr>
          <p:spPr bwMode="auto">
            <a:xfrm>
              <a:off x="1067" y="2243"/>
              <a:ext cx="182" cy="64"/>
            </a:xfrm>
            <a:custGeom>
              <a:avLst/>
              <a:gdLst/>
              <a:ahLst/>
              <a:cxnLst>
                <a:cxn ang="0">
                  <a:pos x="116" y="23"/>
                </a:cxn>
                <a:cxn ang="0">
                  <a:pos x="116" y="24"/>
                </a:cxn>
                <a:cxn ang="0">
                  <a:pos x="100" y="17"/>
                </a:cxn>
                <a:cxn ang="0">
                  <a:pos x="83" y="8"/>
                </a:cxn>
                <a:cxn ang="0">
                  <a:pos x="71" y="3"/>
                </a:cxn>
                <a:cxn ang="0">
                  <a:pos x="60" y="0"/>
                </a:cxn>
                <a:cxn ang="0">
                  <a:pos x="54" y="0"/>
                </a:cxn>
                <a:cxn ang="0">
                  <a:pos x="35" y="3"/>
                </a:cxn>
                <a:cxn ang="0">
                  <a:pos x="17" y="7"/>
                </a:cxn>
                <a:cxn ang="0">
                  <a:pos x="9" y="18"/>
                </a:cxn>
                <a:cxn ang="0">
                  <a:pos x="0" y="23"/>
                </a:cxn>
                <a:cxn ang="0">
                  <a:pos x="6" y="21"/>
                </a:cxn>
                <a:cxn ang="0">
                  <a:pos x="20" y="15"/>
                </a:cxn>
                <a:cxn ang="0">
                  <a:pos x="32" y="9"/>
                </a:cxn>
                <a:cxn ang="0">
                  <a:pos x="52" y="9"/>
                </a:cxn>
                <a:cxn ang="0">
                  <a:pos x="45" y="12"/>
                </a:cxn>
                <a:cxn ang="0">
                  <a:pos x="58" y="17"/>
                </a:cxn>
                <a:cxn ang="0">
                  <a:pos x="66" y="19"/>
                </a:cxn>
                <a:cxn ang="0">
                  <a:pos x="71" y="21"/>
                </a:cxn>
                <a:cxn ang="0">
                  <a:pos x="93" y="26"/>
                </a:cxn>
                <a:cxn ang="0">
                  <a:pos x="98" y="37"/>
                </a:cxn>
                <a:cxn ang="0">
                  <a:pos x="117" y="47"/>
                </a:cxn>
                <a:cxn ang="0">
                  <a:pos x="107" y="57"/>
                </a:cxn>
                <a:cxn ang="0">
                  <a:pos x="123" y="57"/>
                </a:cxn>
                <a:cxn ang="0">
                  <a:pos x="138" y="56"/>
                </a:cxn>
                <a:cxn ang="0">
                  <a:pos x="150" y="55"/>
                </a:cxn>
                <a:cxn ang="0">
                  <a:pos x="164" y="53"/>
                </a:cxn>
                <a:cxn ang="0">
                  <a:pos x="152" y="47"/>
                </a:cxn>
                <a:cxn ang="0">
                  <a:pos x="141" y="41"/>
                </a:cxn>
                <a:cxn ang="0">
                  <a:pos x="140" y="36"/>
                </a:cxn>
                <a:cxn ang="0">
                  <a:pos x="129" y="31"/>
                </a:cxn>
                <a:cxn ang="0">
                  <a:pos x="117" y="27"/>
                </a:cxn>
                <a:cxn ang="0">
                  <a:pos x="116" y="23"/>
                </a:cxn>
              </a:cxnLst>
              <a:rect l="0" t="0" r="r" b="b"/>
              <a:pathLst>
                <a:path w="164" h="57">
                  <a:moveTo>
                    <a:pt x="116" y="23"/>
                  </a:moveTo>
                  <a:lnTo>
                    <a:pt x="116" y="24"/>
                  </a:lnTo>
                  <a:lnTo>
                    <a:pt x="100" y="17"/>
                  </a:lnTo>
                  <a:lnTo>
                    <a:pt x="83" y="8"/>
                  </a:lnTo>
                  <a:lnTo>
                    <a:pt x="71" y="3"/>
                  </a:lnTo>
                  <a:lnTo>
                    <a:pt x="60" y="0"/>
                  </a:lnTo>
                  <a:lnTo>
                    <a:pt x="54" y="0"/>
                  </a:lnTo>
                  <a:lnTo>
                    <a:pt x="35" y="3"/>
                  </a:lnTo>
                  <a:lnTo>
                    <a:pt x="17" y="7"/>
                  </a:lnTo>
                  <a:lnTo>
                    <a:pt x="9" y="18"/>
                  </a:lnTo>
                  <a:lnTo>
                    <a:pt x="0" y="23"/>
                  </a:lnTo>
                  <a:lnTo>
                    <a:pt x="6" y="21"/>
                  </a:lnTo>
                  <a:lnTo>
                    <a:pt x="20" y="15"/>
                  </a:lnTo>
                  <a:lnTo>
                    <a:pt x="32" y="9"/>
                  </a:lnTo>
                  <a:lnTo>
                    <a:pt x="52" y="9"/>
                  </a:lnTo>
                  <a:lnTo>
                    <a:pt x="45" y="12"/>
                  </a:lnTo>
                  <a:lnTo>
                    <a:pt x="58" y="17"/>
                  </a:lnTo>
                  <a:lnTo>
                    <a:pt x="66" y="19"/>
                  </a:lnTo>
                  <a:lnTo>
                    <a:pt x="71" y="21"/>
                  </a:lnTo>
                  <a:lnTo>
                    <a:pt x="93" y="26"/>
                  </a:lnTo>
                  <a:lnTo>
                    <a:pt x="98" y="37"/>
                  </a:lnTo>
                  <a:lnTo>
                    <a:pt x="117" y="47"/>
                  </a:lnTo>
                  <a:lnTo>
                    <a:pt x="107" y="57"/>
                  </a:lnTo>
                  <a:lnTo>
                    <a:pt x="123" y="57"/>
                  </a:lnTo>
                  <a:lnTo>
                    <a:pt x="138" y="56"/>
                  </a:lnTo>
                  <a:lnTo>
                    <a:pt x="150" y="55"/>
                  </a:lnTo>
                  <a:lnTo>
                    <a:pt x="164" y="53"/>
                  </a:lnTo>
                  <a:lnTo>
                    <a:pt x="152" y="47"/>
                  </a:lnTo>
                  <a:lnTo>
                    <a:pt x="141" y="41"/>
                  </a:lnTo>
                  <a:lnTo>
                    <a:pt x="140" y="36"/>
                  </a:lnTo>
                  <a:lnTo>
                    <a:pt x="129" y="31"/>
                  </a:lnTo>
                  <a:lnTo>
                    <a:pt x="117" y="27"/>
                  </a:lnTo>
                  <a:lnTo>
                    <a:pt x="116" y="2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2" name="Freeform 141"/>
            <p:cNvSpPr>
              <a:spLocks/>
            </p:cNvSpPr>
            <p:nvPr/>
          </p:nvSpPr>
          <p:spPr bwMode="auto">
            <a:xfrm>
              <a:off x="1096" y="2267"/>
              <a:ext cx="11" cy="9"/>
            </a:xfrm>
            <a:custGeom>
              <a:avLst/>
              <a:gdLst/>
              <a:ahLst/>
              <a:cxnLst>
                <a:cxn ang="0">
                  <a:pos x="0" y="9"/>
                </a:cxn>
                <a:cxn ang="0">
                  <a:pos x="8" y="7"/>
                </a:cxn>
                <a:cxn ang="0">
                  <a:pos x="2" y="0"/>
                </a:cxn>
                <a:cxn ang="0">
                  <a:pos x="0" y="9"/>
                </a:cxn>
              </a:cxnLst>
              <a:rect l="0" t="0" r="r" b="b"/>
              <a:pathLst>
                <a:path w="8" h="9">
                  <a:moveTo>
                    <a:pt x="0" y="9"/>
                  </a:moveTo>
                  <a:lnTo>
                    <a:pt x="8" y="7"/>
                  </a:lnTo>
                  <a:lnTo>
                    <a:pt x="2" y="0"/>
                  </a:lnTo>
                  <a:lnTo>
                    <a:pt x="0"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3" name="Freeform 142"/>
            <p:cNvSpPr>
              <a:spLocks/>
            </p:cNvSpPr>
            <p:nvPr/>
          </p:nvSpPr>
          <p:spPr bwMode="auto">
            <a:xfrm>
              <a:off x="1120" y="2319"/>
              <a:ext cx="7" cy="2"/>
            </a:xfrm>
            <a:custGeom>
              <a:avLst/>
              <a:gdLst/>
              <a:ahLst/>
              <a:cxnLst>
                <a:cxn ang="0">
                  <a:pos x="5" y="1"/>
                </a:cxn>
                <a:cxn ang="0">
                  <a:pos x="5" y="0"/>
                </a:cxn>
                <a:cxn ang="0">
                  <a:pos x="4" y="0"/>
                </a:cxn>
                <a:cxn ang="0">
                  <a:pos x="3" y="0"/>
                </a:cxn>
                <a:cxn ang="0">
                  <a:pos x="2" y="0"/>
                </a:cxn>
                <a:cxn ang="0">
                  <a:pos x="3" y="0"/>
                </a:cxn>
                <a:cxn ang="0">
                  <a:pos x="3" y="1"/>
                </a:cxn>
                <a:cxn ang="0">
                  <a:pos x="2" y="1"/>
                </a:cxn>
                <a:cxn ang="0">
                  <a:pos x="0" y="1"/>
                </a:cxn>
                <a:cxn ang="0">
                  <a:pos x="0" y="0"/>
                </a:cxn>
                <a:cxn ang="0">
                  <a:pos x="0" y="1"/>
                </a:cxn>
                <a:cxn ang="0">
                  <a:pos x="0" y="2"/>
                </a:cxn>
                <a:cxn ang="0">
                  <a:pos x="0" y="1"/>
                </a:cxn>
                <a:cxn ang="0">
                  <a:pos x="2" y="1"/>
                </a:cxn>
                <a:cxn ang="0">
                  <a:pos x="2" y="2"/>
                </a:cxn>
                <a:cxn ang="0">
                  <a:pos x="3" y="2"/>
                </a:cxn>
                <a:cxn ang="0">
                  <a:pos x="3" y="1"/>
                </a:cxn>
                <a:cxn ang="0">
                  <a:pos x="4" y="1"/>
                </a:cxn>
                <a:cxn ang="0">
                  <a:pos x="5" y="1"/>
                </a:cxn>
              </a:cxnLst>
              <a:rect l="0" t="0" r="r" b="b"/>
              <a:pathLst>
                <a:path w="5" h="2">
                  <a:moveTo>
                    <a:pt x="5" y="1"/>
                  </a:moveTo>
                  <a:lnTo>
                    <a:pt x="5" y="0"/>
                  </a:lnTo>
                  <a:lnTo>
                    <a:pt x="4" y="0"/>
                  </a:lnTo>
                  <a:lnTo>
                    <a:pt x="3" y="0"/>
                  </a:lnTo>
                  <a:lnTo>
                    <a:pt x="2" y="0"/>
                  </a:lnTo>
                  <a:lnTo>
                    <a:pt x="3" y="0"/>
                  </a:lnTo>
                  <a:lnTo>
                    <a:pt x="3" y="1"/>
                  </a:lnTo>
                  <a:lnTo>
                    <a:pt x="2" y="1"/>
                  </a:lnTo>
                  <a:lnTo>
                    <a:pt x="0" y="1"/>
                  </a:lnTo>
                  <a:lnTo>
                    <a:pt x="0" y="0"/>
                  </a:lnTo>
                  <a:lnTo>
                    <a:pt x="0" y="1"/>
                  </a:lnTo>
                  <a:lnTo>
                    <a:pt x="0" y="2"/>
                  </a:lnTo>
                  <a:lnTo>
                    <a:pt x="0" y="1"/>
                  </a:lnTo>
                  <a:lnTo>
                    <a:pt x="2" y="1"/>
                  </a:lnTo>
                  <a:lnTo>
                    <a:pt x="2" y="2"/>
                  </a:lnTo>
                  <a:lnTo>
                    <a:pt x="3" y="2"/>
                  </a:lnTo>
                  <a:lnTo>
                    <a:pt x="3" y="1"/>
                  </a:lnTo>
                  <a:lnTo>
                    <a:pt x="4" y="1"/>
                  </a:lnTo>
                  <a:lnTo>
                    <a:pt x="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4" name="Freeform 143"/>
            <p:cNvSpPr>
              <a:spLocks/>
            </p:cNvSpPr>
            <p:nvPr/>
          </p:nvSpPr>
          <p:spPr bwMode="auto">
            <a:xfrm>
              <a:off x="1147" y="2310"/>
              <a:ext cx="2" cy="2"/>
            </a:xfrm>
            <a:custGeom>
              <a:avLst/>
              <a:gdLst/>
              <a:ahLst/>
              <a:cxnLst>
                <a:cxn ang="0">
                  <a:pos x="3" y="0"/>
                </a:cxn>
                <a:cxn ang="0">
                  <a:pos x="2" y="1"/>
                </a:cxn>
                <a:cxn ang="0">
                  <a:pos x="0" y="1"/>
                </a:cxn>
                <a:cxn ang="0">
                  <a:pos x="2" y="1"/>
                </a:cxn>
                <a:cxn ang="0">
                  <a:pos x="3" y="1"/>
                </a:cxn>
                <a:cxn ang="0">
                  <a:pos x="3" y="0"/>
                </a:cxn>
              </a:cxnLst>
              <a:rect l="0" t="0" r="r" b="b"/>
              <a:pathLst>
                <a:path w="3" h="1">
                  <a:moveTo>
                    <a:pt x="3" y="0"/>
                  </a:moveTo>
                  <a:lnTo>
                    <a:pt x="2" y="1"/>
                  </a:lnTo>
                  <a:lnTo>
                    <a:pt x="0" y="1"/>
                  </a:lnTo>
                  <a:lnTo>
                    <a:pt x="2" y="1"/>
                  </a:lnTo>
                  <a:lnTo>
                    <a:pt x="3" y="1"/>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5" name="Freeform 144"/>
            <p:cNvSpPr>
              <a:spLocks/>
            </p:cNvSpPr>
            <p:nvPr/>
          </p:nvSpPr>
          <p:spPr bwMode="auto">
            <a:xfrm>
              <a:off x="1142" y="2312"/>
              <a:ext cx="5" cy="2"/>
            </a:xfrm>
            <a:custGeom>
              <a:avLst/>
              <a:gdLst/>
              <a:ahLst/>
              <a:cxnLst>
                <a:cxn ang="0">
                  <a:pos x="2" y="0"/>
                </a:cxn>
                <a:cxn ang="0">
                  <a:pos x="1" y="0"/>
                </a:cxn>
                <a:cxn ang="0">
                  <a:pos x="0" y="0"/>
                </a:cxn>
                <a:cxn ang="0">
                  <a:pos x="0" y="1"/>
                </a:cxn>
                <a:cxn ang="0">
                  <a:pos x="1" y="1"/>
                </a:cxn>
                <a:cxn ang="0">
                  <a:pos x="1" y="0"/>
                </a:cxn>
                <a:cxn ang="0">
                  <a:pos x="2" y="0"/>
                </a:cxn>
              </a:cxnLst>
              <a:rect l="0" t="0" r="r" b="b"/>
              <a:pathLst>
                <a:path w="2" h="1">
                  <a:moveTo>
                    <a:pt x="2" y="0"/>
                  </a:moveTo>
                  <a:lnTo>
                    <a:pt x="1" y="0"/>
                  </a:lnTo>
                  <a:lnTo>
                    <a:pt x="0" y="0"/>
                  </a:lnTo>
                  <a:lnTo>
                    <a:pt x="0" y="1"/>
                  </a:lnTo>
                  <a:lnTo>
                    <a:pt x="1" y="1"/>
                  </a:lnTo>
                  <a:lnTo>
                    <a:pt x="1"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6" name="Freeform 145"/>
            <p:cNvSpPr>
              <a:spLocks/>
            </p:cNvSpPr>
            <p:nvPr/>
          </p:nvSpPr>
          <p:spPr bwMode="auto">
            <a:xfrm>
              <a:off x="1409" y="2336"/>
              <a:ext cx="2" cy="3"/>
            </a:xfrm>
            <a:custGeom>
              <a:avLst/>
              <a:gdLst/>
              <a:ahLst/>
              <a:cxnLst>
                <a:cxn ang="0">
                  <a:pos x="2" y="0"/>
                </a:cxn>
                <a:cxn ang="0">
                  <a:pos x="1" y="0"/>
                </a:cxn>
                <a:cxn ang="0">
                  <a:pos x="0" y="0"/>
                </a:cxn>
                <a:cxn ang="0">
                  <a:pos x="0" y="1"/>
                </a:cxn>
                <a:cxn ang="0">
                  <a:pos x="1" y="1"/>
                </a:cxn>
                <a:cxn ang="0">
                  <a:pos x="1" y="0"/>
                </a:cxn>
                <a:cxn ang="0">
                  <a:pos x="2" y="0"/>
                </a:cxn>
              </a:cxnLst>
              <a:rect l="0" t="0" r="r" b="b"/>
              <a:pathLst>
                <a:path w="2" h="1">
                  <a:moveTo>
                    <a:pt x="2" y="0"/>
                  </a:moveTo>
                  <a:lnTo>
                    <a:pt x="1" y="0"/>
                  </a:lnTo>
                  <a:lnTo>
                    <a:pt x="0" y="0"/>
                  </a:lnTo>
                  <a:lnTo>
                    <a:pt x="0" y="1"/>
                  </a:lnTo>
                  <a:lnTo>
                    <a:pt x="1" y="1"/>
                  </a:lnTo>
                  <a:lnTo>
                    <a:pt x="1"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7" name="Freeform 146"/>
            <p:cNvSpPr>
              <a:spLocks/>
            </p:cNvSpPr>
            <p:nvPr/>
          </p:nvSpPr>
          <p:spPr bwMode="auto">
            <a:xfrm>
              <a:off x="1414" y="2330"/>
              <a:ext cx="2" cy="2"/>
            </a:xfrm>
            <a:custGeom>
              <a:avLst/>
              <a:gdLst/>
              <a:ahLst/>
              <a:cxnLst>
                <a:cxn ang="0">
                  <a:pos x="3" y="1"/>
                </a:cxn>
                <a:cxn ang="0">
                  <a:pos x="2" y="1"/>
                </a:cxn>
                <a:cxn ang="0">
                  <a:pos x="2" y="0"/>
                </a:cxn>
                <a:cxn ang="0">
                  <a:pos x="0" y="0"/>
                </a:cxn>
                <a:cxn ang="0">
                  <a:pos x="0" y="1"/>
                </a:cxn>
                <a:cxn ang="0">
                  <a:pos x="0" y="0"/>
                </a:cxn>
                <a:cxn ang="0">
                  <a:pos x="0" y="1"/>
                </a:cxn>
                <a:cxn ang="0">
                  <a:pos x="2" y="1"/>
                </a:cxn>
                <a:cxn ang="0">
                  <a:pos x="3" y="1"/>
                </a:cxn>
              </a:cxnLst>
              <a:rect l="0" t="0" r="r" b="b"/>
              <a:pathLst>
                <a:path w="3" h="1">
                  <a:moveTo>
                    <a:pt x="3" y="1"/>
                  </a:moveTo>
                  <a:lnTo>
                    <a:pt x="2" y="1"/>
                  </a:lnTo>
                  <a:lnTo>
                    <a:pt x="2" y="0"/>
                  </a:lnTo>
                  <a:lnTo>
                    <a:pt x="0" y="0"/>
                  </a:lnTo>
                  <a:lnTo>
                    <a:pt x="0" y="1"/>
                  </a:lnTo>
                  <a:lnTo>
                    <a:pt x="0" y="0"/>
                  </a:lnTo>
                  <a:lnTo>
                    <a:pt x="0" y="1"/>
                  </a:lnTo>
                  <a:lnTo>
                    <a:pt x="2" y="1"/>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8" name="Freeform 147"/>
            <p:cNvSpPr>
              <a:spLocks/>
            </p:cNvSpPr>
            <p:nvPr/>
          </p:nvSpPr>
          <p:spPr bwMode="auto">
            <a:xfrm>
              <a:off x="1414" y="2336"/>
              <a:ext cx="2" cy="3"/>
            </a:xfrm>
            <a:custGeom>
              <a:avLst/>
              <a:gdLst/>
              <a:ahLst/>
              <a:cxnLst>
                <a:cxn ang="0">
                  <a:pos x="3" y="0"/>
                </a:cxn>
                <a:cxn ang="0">
                  <a:pos x="1" y="0"/>
                </a:cxn>
                <a:cxn ang="0">
                  <a:pos x="1" y="1"/>
                </a:cxn>
                <a:cxn ang="0">
                  <a:pos x="0" y="1"/>
                </a:cxn>
                <a:cxn ang="0">
                  <a:pos x="1" y="1"/>
                </a:cxn>
                <a:cxn ang="0">
                  <a:pos x="1" y="0"/>
                </a:cxn>
                <a:cxn ang="0">
                  <a:pos x="3" y="0"/>
                </a:cxn>
              </a:cxnLst>
              <a:rect l="0" t="0" r="r" b="b"/>
              <a:pathLst>
                <a:path w="3" h="1">
                  <a:moveTo>
                    <a:pt x="3" y="0"/>
                  </a:moveTo>
                  <a:lnTo>
                    <a:pt x="1" y="0"/>
                  </a:lnTo>
                  <a:lnTo>
                    <a:pt x="1" y="1"/>
                  </a:lnTo>
                  <a:lnTo>
                    <a:pt x="0" y="1"/>
                  </a:lnTo>
                  <a:lnTo>
                    <a:pt x="1" y="1"/>
                  </a:lnTo>
                  <a:lnTo>
                    <a:pt x="1" y="0"/>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9" name="Freeform 148"/>
            <p:cNvSpPr>
              <a:spLocks/>
            </p:cNvSpPr>
            <p:nvPr/>
          </p:nvSpPr>
          <p:spPr bwMode="auto">
            <a:xfrm>
              <a:off x="1409" y="2339"/>
              <a:ext cx="2" cy="2"/>
            </a:xfrm>
            <a:custGeom>
              <a:avLst/>
              <a:gdLst/>
              <a:ahLst/>
              <a:cxnLst>
                <a:cxn ang="0">
                  <a:pos x="1" y="0"/>
                </a:cxn>
                <a:cxn ang="0">
                  <a:pos x="0" y="0"/>
                </a:cxn>
                <a:cxn ang="0">
                  <a:pos x="0" y="1"/>
                </a:cxn>
                <a:cxn ang="0">
                  <a:pos x="0" y="0"/>
                </a:cxn>
                <a:cxn ang="0">
                  <a:pos x="1" y="0"/>
                </a:cxn>
              </a:cxnLst>
              <a:rect l="0" t="0" r="r" b="b"/>
              <a:pathLst>
                <a:path w="1" h="1">
                  <a:moveTo>
                    <a:pt x="1" y="0"/>
                  </a:moveTo>
                  <a:lnTo>
                    <a:pt x="0" y="0"/>
                  </a:lnTo>
                  <a:lnTo>
                    <a:pt x="0"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0" name="Freeform 149"/>
            <p:cNvSpPr>
              <a:spLocks/>
            </p:cNvSpPr>
            <p:nvPr/>
          </p:nvSpPr>
          <p:spPr bwMode="auto">
            <a:xfrm>
              <a:off x="1282" y="2310"/>
              <a:ext cx="65" cy="44"/>
            </a:xfrm>
            <a:custGeom>
              <a:avLst/>
              <a:gdLst/>
              <a:ahLst/>
              <a:cxnLst>
                <a:cxn ang="0">
                  <a:pos x="5" y="2"/>
                </a:cxn>
                <a:cxn ang="0">
                  <a:pos x="2" y="15"/>
                </a:cxn>
                <a:cxn ang="0">
                  <a:pos x="0" y="21"/>
                </a:cxn>
                <a:cxn ang="0">
                  <a:pos x="1" y="32"/>
                </a:cxn>
                <a:cxn ang="0">
                  <a:pos x="6" y="40"/>
                </a:cxn>
                <a:cxn ang="0">
                  <a:pos x="13" y="30"/>
                </a:cxn>
                <a:cxn ang="0">
                  <a:pos x="20" y="26"/>
                </a:cxn>
                <a:cxn ang="0">
                  <a:pos x="29" y="27"/>
                </a:cxn>
                <a:cxn ang="0">
                  <a:pos x="49" y="28"/>
                </a:cxn>
                <a:cxn ang="0">
                  <a:pos x="56" y="21"/>
                </a:cxn>
                <a:cxn ang="0">
                  <a:pos x="38" y="13"/>
                </a:cxn>
                <a:cxn ang="0">
                  <a:pos x="42" y="9"/>
                </a:cxn>
                <a:cxn ang="0">
                  <a:pos x="33" y="6"/>
                </a:cxn>
                <a:cxn ang="0">
                  <a:pos x="12" y="0"/>
                </a:cxn>
                <a:cxn ang="0">
                  <a:pos x="5" y="2"/>
                </a:cxn>
              </a:cxnLst>
              <a:rect l="0" t="0" r="r" b="b"/>
              <a:pathLst>
                <a:path w="56" h="40">
                  <a:moveTo>
                    <a:pt x="5" y="2"/>
                  </a:moveTo>
                  <a:lnTo>
                    <a:pt x="2" y="15"/>
                  </a:lnTo>
                  <a:lnTo>
                    <a:pt x="0" y="21"/>
                  </a:lnTo>
                  <a:lnTo>
                    <a:pt x="1" y="32"/>
                  </a:lnTo>
                  <a:lnTo>
                    <a:pt x="6" y="40"/>
                  </a:lnTo>
                  <a:lnTo>
                    <a:pt x="13" y="30"/>
                  </a:lnTo>
                  <a:lnTo>
                    <a:pt x="20" y="26"/>
                  </a:lnTo>
                  <a:lnTo>
                    <a:pt x="29" y="27"/>
                  </a:lnTo>
                  <a:lnTo>
                    <a:pt x="49" y="28"/>
                  </a:lnTo>
                  <a:lnTo>
                    <a:pt x="56" y="21"/>
                  </a:lnTo>
                  <a:lnTo>
                    <a:pt x="38" y="13"/>
                  </a:lnTo>
                  <a:lnTo>
                    <a:pt x="42" y="9"/>
                  </a:lnTo>
                  <a:lnTo>
                    <a:pt x="33" y="6"/>
                  </a:lnTo>
                  <a:lnTo>
                    <a:pt x="12"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1" name="Freeform 150"/>
            <p:cNvSpPr>
              <a:spLocks/>
            </p:cNvSpPr>
            <p:nvPr/>
          </p:nvSpPr>
          <p:spPr bwMode="auto">
            <a:xfrm>
              <a:off x="1238" y="2310"/>
              <a:ext cx="51" cy="35"/>
            </a:xfrm>
            <a:custGeom>
              <a:avLst/>
              <a:gdLst/>
              <a:ahLst/>
              <a:cxnLst>
                <a:cxn ang="0">
                  <a:pos x="46" y="2"/>
                </a:cxn>
                <a:cxn ang="0">
                  <a:pos x="43" y="15"/>
                </a:cxn>
                <a:cxn ang="0">
                  <a:pos x="41" y="21"/>
                </a:cxn>
                <a:cxn ang="0">
                  <a:pos x="42" y="32"/>
                </a:cxn>
                <a:cxn ang="0">
                  <a:pos x="26" y="31"/>
                </a:cxn>
                <a:cxn ang="0">
                  <a:pos x="10" y="31"/>
                </a:cxn>
                <a:cxn ang="0">
                  <a:pos x="0" y="25"/>
                </a:cxn>
                <a:cxn ang="0">
                  <a:pos x="8" y="22"/>
                </a:cxn>
                <a:cxn ang="0">
                  <a:pos x="22" y="22"/>
                </a:cxn>
                <a:cxn ang="0">
                  <a:pos x="34" y="24"/>
                </a:cxn>
                <a:cxn ang="0">
                  <a:pos x="29" y="9"/>
                </a:cxn>
                <a:cxn ang="0">
                  <a:pos x="23" y="3"/>
                </a:cxn>
                <a:cxn ang="0">
                  <a:pos x="20" y="0"/>
                </a:cxn>
                <a:cxn ang="0">
                  <a:pos x="36" y="1"/>
                </a:cxn>
                <a:cxn ang="0">
                  <a:pos x="46" y="2"/>
                </a:cxn>
              </a:cxnLst>
              <a:rect l="0" t="0" r="r" b="b"/>
              <a:pathLst>
                <a:path w="46" h="32">
                  <a:moveTo>
                    <a:pt x="46" y="2"/>
                  </a:moveTo>
                  <a:lnTo>
                    <a:pt x="43" y="15"/>
                  </a:lnTo>
                  <a:lnTo>
                    <a:pt x="41" y="21"/>
                  </a:lnTo>
                  <a:lnTo>
                    <a:pt x="42" y="32"/>
                  </a:lnTo>
                  <a:lnTo>
                    <a:pt x="26" y="31"/>
                  </a:lnTo>
                  <a:lnTo>
                    <a:pt x="10" y="31"/>
                  </a:lnTo>
                  <a:lnTo>
                    <a:pt x="0" y="25"/>
                  </a:lnTo>
                  <a:lnTo>
                    <a:pt x="8" y="22"/>
                  </a:lnTo>
                  <a:lnTo>
                    <a:pt x="22" y="22"/>
                  </a:lnTo>
                  <a:lnTo>
                    <a:pt x="34" y="24"/>
                  </a:lnTo>
                  <a:lnTo>
                    <a:pt x="29" y="9"/>
                  </a:lnTo>
                  <a:lnTo>
                    <a:pt x="23" y="3"/>
                  </a:lnTo>
                  <a:lnTo>
                    <a:pt x="20" y="0"/>
                  </a:lnTo>
                  <a:lnTo>
                    <a:pt x="36" y="1"/>
                  </a:lnTo>
                  <a:lnTo>
                    <a:pt x="4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2" name="Freeform 151"/>
            <p:cNvSpPr>
              <a:spLocks/>
            </p:cNvSpPr>
            <p:nvPr/>
          </p:nvSpPr>
          <p:spPr bwMode="auto">
            <a:xfrm>
              <a:off x="1282" y="2270"/>
              <a:ext cx="5" cy="2"/>
            </a:xfrm>
            <a:custGeom>
              <a:avLst/>
              <a:gdLst/>
              <a:ahLst/>
              <a:cxnLst>
                <a:cxn ang="0">
                  <a:pos x="2" y="1"/>
                </a:cxn>
                <a:cxn ang="0">
                  <a:pos x="0" y="1"/>
                </a:cxn>
                <a:cxn ang="0">
                  <a:pos x="0" y="0"/>
                </a:cxn>
                <a:cxn ang="0">
                  <a:pos x="3" y="1"/>
                </a:cxn>
                <a:cxn ang="0">
                  <a:pos x="2" y="1"/>
                </a:cxn>
              </a:cxnLst>
              <a:rect l="0" t="0" r="r" b="b"/>
              <a:pathLst>
                <a:path w="3" h="1">
                  <a:moveTo>
                    <a:pt x="2" y="1"/>
                  </a:moveTo>
                  <a:lnTo>
                    <a:pt x="0" y="1"/>
                  </a:lnTo>
                  <a:lnTo>
                    <a:pt x="0" y="0"/>
                  </a:lnTo>
                  <a:lnTo>
                    <a:pt x="3" y="1"/>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3" name="Freeform 152"/>
            <p:cNvSpPr>
              <a:spLocks/>
            </p:cNvSpPr>
            <p:nvPr/>
          </p:nvSpPr>
          <p:spPr bwMode="auto">
            <a:xfrm>
              <a:off x="1291" y="2270"/>
              <a:ext cx="5" cy="2"/>
            </a:xfrm>
            <a:custGeom>
              <a:avLst/>
              <a:gdLst/>
              <a:ahLst/>
              <a:cxnLst>
                <a:cxn ang="0">
                  <a:pos x="4" y="1"/>
                </a:cxn>
                <a:cxn ang="0">
                  <a:pos x="0" y="0"/>
                </a:cxn>
                <a:cxn ang="0">
                  <a:pos x="4" y="1"/>
                </a:cxn>
              </a:cxnLst>
              <a:rect l="0" t="0" r="r" b="b"/>
              <a:pathLst>
                <a:path w="4" h="1">
                  <a:moveTo>
                    <a:pt x="4" y="1"/>
                  </a:moveTo>
                  <a:lnTo>
                    <a:pt x="0" y="0"/>
                  </a:lnTo>
                  <a:lnTo>
                    <a:pt x="4"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4" name="Freeform 153"/>
            <p:cNvSpPr>
              <a:spLocks/>
            </p:cNvSpPr>
            <p:nvPr/>
          </p:nvSpPr>
          <p:spPr bwMode="auto">
            <a:xfrm>
              <a:off x="1465" y="2425"/>
              <a:ext cx="2" cy="7"/>
            </a:xfrm>
            <a:custGeom>
              <a:avLst/>
              <a:gdLst/>
              <a:ahLst/>
              <a:cxnLst>
                <a:cxn ang="0">
                  <a:pos x="1" y="6"/>
                </a:cxn>
                <a:cxn ang="0">
                  <a:pos x="0" y="2"/>
                </a:cxn>
                <a:cxn ang="0">
                  <a:pos x="2" y="0"/>
                </a:cxn>
                <a:cxn ang="0">
                  <a:pos x="1" y="6"/>
                </a:cxn>
              </a:cxnLst>
              <a:rect l="0" t="0" r="r" b="b"/>
              <a:pathLst>
                <a:path w="2" h="6">
                  <a:moveTo>
                    <a:pt x="1" y="6"/>
                  </a:moveTo>
                  <a:lnTo>
                    <a:pt x="0" y="2"/>
                  </a:lnTo>
                  <a:lnTo>
                    <a:pt x="2" y="0"/>
                  </a:lnTo>
                  <a:lnTo>
                    <a:pt x="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5" name="Freeform 154"/>
            <p:cNvSpPr>
              <a:spLocks/>
            </p:cNvSpPr>
            <p:nvPr/>
          </p:nvSpPr>
          <p:spPr bwMode="auto">
            <a:xfrm>
              <a:off x="1025" y="2483"/>
              <a:ext cx="58" cy="62"/>
            </a:xfrm>
            <a:custGeom>
              <a:avLst/>
              <a:gdLst/>
              <a:ahLst/>
              <a:cxnLst>
                <a:cxn ang="0">
                  <a:pos x="12" y="27"/>
                </a:cxn>
                <a:cxn ang="0">
                  <a:pos x="0" y="13"/>
                </a:cxn>
                <a:cxn ang="0">
                  <a:pos x="2" y="5"/>
                </a:cxn>
                <a:cxn ang="0">
                  <a:pos x="2" y="2"/>
                </a:cxn>
                <a:cxn ang="0">
                  <a:pos x="5" y="0"/>
                </a:cxn>
                <a:cxn ang="0">
                  <a:pos x="26" y="5"/>
                </a:cxn>
                <a:cxn ang="0">
                  <a:pos x="36" y="3"/>
                </a:cxn>
                <a:cxn ang="0">
                  <a:pos x="44" y="15"/>
                </a:cxn>
                <a:cxn ang="0">
                  <a:pos x="52" y="27"/>
                </a:cxn>
                <a:cxn ang="0">
                  <a:pos x="46" y="29"/>
                </a:cxn>
                <a:cxn ang="0">
                  <a:pos x="47" y="41"/>
                </a:cxn>
                <a:cxn ang="0">
                  <a:pos x="46" y="55"/>
                </a:cxn>
                <a:cxn ang="0">
                  <a:pos x="37" y="43"/>
                </a:cxn>
                <a:cxn ang="0">
                  <a:pos x="37" y="48"/>
                </a:cxn>
                <a:cxn ang="0">
                  <a:pos x="35" y="42"/>
                </a:cxn>
                <a:cxn ang="0">
                  <a:pos x="30" y="32"/>
                </a:cxn>
                <a:cxn ang="0">
                  <a:pos x="19" y="24"/>
                </a:cxn>
                <a:cxn ang="0">
                  <a:pos x="10" y="15"/>
                </a:cxn>
                <a:cxn ang="0">
                  <a:pos x="13" y="24"/>
                </a:cxn>
                <a:cxn ang="0">
                  <a:pos x="12" y="27"/>
                </a:cxn>
              </a:cxnLst>
              <a:rect l="0" t="0" r="r" b="b"/>
              <a:pathLst>
                <a:path w="52" h="55">
                  <a:moveTo>
                    <a:pt x="12" y="27"/>
                  </a:moveTo>
                  <a:lnTo>
                    <a:pt x="0" y="13"/>
                  </a:lnTo>
                  <a:lnTo>
                    <a:pt x="2" y="5"/>
                  </a:lnTo>
                  <a:lnTo>
                    <a:pt x="2" y="2"/>
                  </a:lnTo>
                  <a:lnTo>
                    <a:pt x="5" y="0"/>
                  </a:lnTo>
                  <a:lnTo>
                    <a:pt x="26" y="5"/>
                  </a:lnTo>
                  <a:lnTo>
                    <a:pt x="36" y="3"/>
                  </a:lnTo>
                  <a:lnTo>
                    <a:pt x="44" y="15"/>
                  </a:lnTo>
                  <a:lnTo>
                    <a:pt x="52" y="27"/>
                  </a:lnTo>
                  <a:lnTo>
                    <a:pt x="46" y="29"/>
                  </a:lnTo>
                  <a:lnTo>
                    <a:pt x="47" y="41"/>
                  </a:lnTo>
                  <a:lnTo>
                    <a:pt x="46" y="55"/>
                  </a:lnTo>
                  <a:lnTo>
                    <a:pt x="37" y="43"/>
                  </a:lnTo>
                  <a:lnTo>
                    <a:pt x="37" y="48"/>
                  </a:lnTo>
                  <a:lnTo>
                    <a:pt x="35" y="42"/>
                  </a:lnTo>
                  <a:lnTo>
                    <a:pt x="30" y="32"/>
                  </a:lnTo>
                  <a:lnTo>
                    <a:pt x="19" y="24"/>
                  </a:lnTo>
                  <a:lnTo>
                    <a:pt x="10" y="15"/>
                  </a:lnTo>
                  <a:lnTo>
                    <a:pt x="13" y="24"/>
                  </a:lnTo>
                  <a:lnTo>
                    <a:pt x="12"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6" name="Freeform 155"/>
            <p:cNvSpPr>
              <a:spLocks/>
            </p:cNvSpPr>
            <p:nvPr/>
          </p:nvSpPr>
          <p:spPr bwMode="auto">
            <a:xfrm>
              <a:off x="1489" y="2441"/>
              <a:ext cx="5" cy="2"/>
            </a:xfrm>
            <a:custGeom>
              <a:avLst/>
              <a:gdLst/>
              <a:ahLst/>
              <a:cxnLst>
                <a:cxn ang="0">
                  <a:pos x="3" y="4"/>
                </a:cxn>
                <a:cxn ang="0">
                  <a:pos x="1" y="4"/>
                </a:cxn>
                <a:cxn ang="0">
                  <a:pos x="0" y="0"/>
                </a:cxn>
                <a:cxn ang="0">
                  <a:pos x="3" y="3"/>
                </a:cxn>
                <a:cxn ang="0">
                  <a:pos x="3" y="4"/>
                </a:cxn>
              </a:cxnLst>
              <a:rect l="0" t="0" r="r" b="b"/>
              <a:pathLst>
                <a:path w="3" h="4">
                  <a:moveTo>
                    <a:pt x="3" y="4"/>
                  </a:moveTo>
                  <a:lnTo>
                    <a:pt x="1" y="4"/>
                  </a:lnTo>
                  <a:lnTo>
                    <a:pt x="0" y="0"/>
                  </a:lnTo>
                  <a:lnTo>
                    <a:pt x="3" y="3"/>
                  </a:lnTo>
                  <a:lnTo>
                    <a:pt x="3"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7" name="Freeform 156"/>
            <p:cNvSpPr>
              <a:spLocks/>
            </p:cNvSpPr>
            <p:nvPr/>
          </p:nvSpPr>
          <p:spPr bwMode="auto">
            <a:xfrm>
              <a:off x="1460" y="2394"/>
              <a:ext cx="2" cy="9"/>
            </a:xfrm>
            <a:custGeom>
              <a:avLst/>
              <a:gdLst/>
              <a:ahLst/>
              <a:cxnLst>
                <a:cxn ang="0">
                  <a:pos x="4" y="5"/>
                </a:cxn>
                <a:cxn ang="0">
                  <a:pos x="1" y="8"/>
                </a:cxn>
                <a:cxn ang="0">
                  <a:pos x="0" y="0"/>
                </a:cxn>
                <a:cxn ang="0">
                  <a:pos x="3" y="0"/>
                </a:cxn>
                <a:cxn ang="0">
                  <a:pos x="4" y="5"/>
                </a:cxn>
              </a:cxnLst>
              <a:rect l="0" t="0" r="r" b="b"/>
              <a:pathLst>
                <a:path w="4" h="8">
                  <a:moveTo>
                    <a:pt x="4" y="5"/>
                  </a:moveTo>
                  <a:lnTo>
                    <a:pt x="1" y="8"/>
                  </a:lnTo>
                  <a:lnTo>
                    <a:pt x="0" y="0"/>
                  </a:lnTo>
                  <a:lnTo>
                    <a:pt x="3" y="0"/>
                  </a:lnTo>
                  <a:lnTo>
                    <a:pt x="4"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8" name="Freeform 157"/>
            <p:cNvSpPr>
              <a:spLocks/>
            </p:cNvSpPr>
            <p:nvPr/>
          </p:nvSpPr>
          <p:spPr bwMode="auto">
            <a:xfrm>
              <a:off x="956" y="2416"/>
              <a:ext cx="40" cy="27"/>
            </a:xfrm>
            <a:custGeom>
              <a:avLst/>
              <a:gdLst/>
              <a:ahLst/>
              <a:cxnLst>
                <a:cxn ang="0">
                  <a:pos x="35" y="18"/>
                </a:cxn>
                <a:cxn ang="0">
                  <a:pos x="31" y="23"/>
                </a:cxn>
                <a:cxn ang="0">
                  <a:pos x="23" y="20"/>
                </a:cxn>
                <a:cxn ang="0">
                  <a:pos x="12" y="17"/>
                </a:cxn>
                <a:cxn ang="0">
                  <a:pos x="0" y="12"/>
                </a:cxn>
                <a:cxn ang="0">
                  <a:pos x="13" y="0"/>
                </a:cxn>
                <a:cxn ang="0">
                  <a:pos x="23" y="7"/>
                </a:cxn>
                <a:cxn ang="0">
                  <a:pos x="36" y="9"/>
                </a:cxn>
                <a:cxn ang="0">
                  <a:pos x="35" y="18"/>
                </a:cxn>
              </a:cxnLst>
              <a:rect l="0" t="0" r="r" b="b"/>
              <a:pathLst>
                <a:path w="36" h="23">
                  <a:moveTo>
                    <a:pt x="35" y="18"/>
                  </a:moveTo>
                  <a:lnTo>
                    <a:pt x="31" y="23"/>
                  </a:lnTo>
                  <a:lnTo>
                    <a:pt x="23" y="20"/>
                  </a:lnTo>
                  <a:lnTo>
                    <a:pt x="12" y="17"/>
                  </a:lnTo>
                  <a:lnTo>
                    <a:pt x="0" y="12"/>
                  </a:lnTo>
                  <a:lnTo>
                    <a:pt x="13" y="0"/>
                  </a:lnTo>
                  <a:lnTo>
                    <a:pt x="23" y="7"/>
                  </a:lnTo>
                  <a:lnTo>
                    <a:pt x="36" y="9"/>
                  </a:lnTo>
                  <a:lnTo>
                    <a:pt x="35"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9" name="Freeform 158"/>
            <p:cNvSpPr>
              <a:spLocks/>
            </p:cNvSpPr>
            <p:nvPr/>
          </p:nvSpPr>
          <p:spPr bwMode="auto">
            <a:xfrm>
              <a:off x="971" y="2387"/>
              <a:ext cx="109" cy="60"/>
            </a:xfrm>
            <a:custGeom>
              <a:avLst/>
              <a:gdLst/>
              <a:ahLst/>
              <a:cxnLst>
                <a:cxn ang="0">
                  <a:pos x="53" y="36"/>
                </a:cxn>
                <a:cxn ang="0">
                  <a:pos x="47" y="38"/>
                </a:cxn>
                <a:cxn ang="0">
                  <a:pos x="40" y="42"/>
                </a:cxn>
                <a:cxn ang="0">
                  <a:pos x="34" y="53"/>
                </a:cxn>
                <a:cxn ang="0">
                  <a:pos x="30" y="53"/>
                </a:cxn>
                <a:cxn ang="0">
                  <a:pos x="28" y="46"/>
                </a:cxn>
                <a:cxn ang="0">
                  <a:pos x="22" y="45"/>
                </a:cxn>
                <a:cxn ang="0">
                  <a:pos x="23" y="36"/>
                </a:cxn>
                <a:cxn ang="0">
                  <a:pos x="10" y="34"/>
                </a:cxn>
                <a:cxn ang="0">
                  <a:pos x="0" y="27"/>
                </a:cxn>
                <a:cxn ang="0">
                  <a:pos x="10" y="12"/>
                </a:cxn>
                <a:cxn ang="0">
                  <a:pos x="20" y="4"/>
                </a:cxn>
                <a:cxn ang="0">
                  <a:pos x="22" y="4"/>
                </a:cxn>
                <a:cxn ang="0">
                  <a:pos x="37" y="2"/>
                </a:cxn>
                <a:cxn ang="0">
                  <a:pos x="53" y="0"/>
                </a:cxn>
                <a:cxn ang="0">
                  <a:pos x="65" y="2"/>
                </a:cxn>
                <a:cxn ang="0">
                  <a:pos x="78" y="2"/>
                </a:cxn>
                <a:cxn ang="0">
                  <a:pos x="88" y="9"/>
                </a:cxn>
                <a:cxn ang="0">
                  <a:pos x="85" y="8"/>
                </a:cxn>
                <a:cxn ang="0">
                  <a:pos x="86" y="11"/>
                </a:cxn>
                <a:cxn ang="0">
                  <a:pos x="92" y="11"/>
                </a:cxn>
                <a:cxn ang="0">
                  <a:pos x="98" y="17"/>
                </a:cxn>
                <a:cxn ang="0">
                  <a:pos x="85" y="18"/>
                </a:cxn>
                <a:cxn ang="0">
                  <a:pos x="72" y="21"/>
                </a:cxn>
                <a:cxn ang="0">
                  <a:pos x="53" y="36"/>
                </a:cxn>
              </a:cxnLst>
              <a:rect l="0" t="0" r="r" b="b"/>
              <a:pathLst>
                <a:path w="98" h="53">
                  <a:moveTo>
                    <a:pt x="53" y="36"/>
                  </a:moveTo>
                  <a:lnTo>
                    <a:pt x="47" y="38"/>
                  </a:lnTo>
                  <a:lnTo>
                    <a:pt x="40" y="42"/>
                  </a:lnTo>
                  <a:lnTo>
                    <a:pt x="34" y="53"/>
                  </a:lnTo>
                  <a:lnTo>
                    <a:pt x="30" y="53"/>
                  </a:lnTo>
                  <a:lnTo>
                    <a:pt x="28" y="46"/>
                  </a:lnTo>
                  <a:lnTo>
                    <a:pt x="22" y="45"/>
                  </a:lnTo>
                  <a:lnTo>
                    <a:pt x="23" y="36"/>
                  </a:lnTo>
                  <a:lnTo>
                    <a:pt x="10" y="34"/>
                  </a:lnTo>
                  <a:lnTo>
                    <a:pt x="0" y="27"/>
                  </a:lnTo>
                  <a:lnTo>
                    <a:pt x="10" y="12"/>
                  </a:lnTo>
                  <a:lnTo>
                    <a:pt x="20" y="4"/>
                  </a:lnTo>
                  <a:lnTo>
                    <a:pt x="22" y="4"/>
                  </a:lnTo>
                  <a:lnTo>
                    <a:pt x="37" y="2"/>
                  </a:lnTo>
                  <a:lnTo>
                    <a:pt x="53" y="0"/>
                  </a:lnTo>
                  <a:lnTo>
                    <a:pt x="65" y="2"/>
                  </a:lnTo>
                  <a:lnTo>
                    <a:pt x="78" y="2"/>
                  </a:lnTo>
                  <a:lnTo>
                    <a:pt x="88" y="9"/>
                  </a:lnTo>
                  <a:lnTo>
                    <a:pt x="85" y="8"/>
                  </a:lnTo>
                  <a:lnTo>
                    <a:pt x="86" y="11"/>
                  </a:lnTo>
                  <a:lnTo>
                    <a:pt x="92" y="11"/>
                  </a:lnTo>
                  <a:lnTo>
                    <a:pt x="98" y="17"/>
                  </a:lnTo>
                  <a:lnTo>
                    <a:pt x="85" y="18"/>
                  </a:lnTo>
                  <a:lnTo>
                    <a:pt x="72" y="21"/>
                  </a:lnTo>
                  <a:lnTo>
                    <a:pt x="53"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0" name="Freeform 159"/>
            <p:cNvSpPr>
              <a:spLocks/>
            </p:cNvSpPr>
            <p:nvPr/>
          </p:nvSpPr>
          <p:spPr bwMode="auto">
            <a:xfrm>
              <a:off x="1462" y="2410"/>
              <a:ext cx="7" cy="6"/>
            </a:xfrm>
            <a:custGeom>
              <a:avLst/>
              <a:gdLst/>
              <a:ahLst/>
              <a:cxnLst>
                <a:cxn ang="0">
                  <a:pos x="6" y="6"/>
                </a:cxn>
                <a:cxn ang="0">
                  <a:pos x="0" y="0"/>
                </a:cxn>
                <a:cxn ang="0">
                  <a:pos x="7" y="6"/>
                </a:cxn>
                <a:cxn ang="0">
                  <a:pos x="6" y="6"/>
                </a:cxn>
              </a:cxnLst>
              <a:rect l="0" t="0" r="r" b="b"/>
              <a:pathLst>
                <a:path w="7" h="6">
                  <a:moveTo>
                    <a:pt x="6" y="6"/>
                  </a:moveTo>
                  <a:lnTo>
                    <a:pt x="0" y="0"/>
                  </a:lnTo>
                  <a:lnTo>
                    <a:pt x="7" y="6"/>
                  </a:lnTo>
                  <a:lnTo>
                    <a:pt x="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1" name="Freeform 160"/>
            <p:cNvSpPr>
              <a:spLocks/>
            </p:cNvSpPr>
            <p:nvPr/>
          </p:nvSpPr>
          <p:spPr bwMode="auto">
            <a:xfrm>
              <a:off x="998" y="2407"/>
              <a:ext cx="82" cy="83"/>
            </a:xfrm>
            <a:custGeom>
              <a:avLst/>
              <a:gdLst/>
              <a:ahLst/>
              <a:cxnLst>
                <a:cxn ang="0">
                  <a:pos x="29" y="19"/>
                </a:cxn>
                <a:cxn ang="0">
                  <a:pos x="23" y="21"/>
                </a:cxn>
                <a:cxn ang="0">
                  <a:pos x="16" y="25"/>
                </a:cxn>
                <a:cxn ang="0">
                  <a:pos x="10" y="36"/>
                </a:cxn>
                <a:cxn ang="0">
                  <a:pos x="6" y="36"/>
                </a:cxn>
                <a:cxn ang="0">
                  <a:pos x="0" y="37"/>
                </a:cxn>
                <a:cxn ang="0">
                  <a:pos x="14" y="54"/>
                </a:cxn>
                <a:cxn ang="0">
                  <a:pos x="29" y="70"/>
                </a:cxn>
                <a:cxn ang="0">
                  <a:pos x="50" y="75"/>
                </a:cxn>
                <a:cxn ang="0">
                  <a:pos x="60" y="73"/>
                </a:cxn>
                <a:cxn ang="0">
                  <a:pos x="60" y="61"/>
                </a:cxn>
                <a:cxn ang="0">
                  <a:pos x="61" y="52"/>
                </a:cxn>
                <a:cxn ang="0">
                  <a:pos x="64" y="41"/>
                </a:cxn>
                <a:cxn ang="0">
                  <a:pos x="65" y="45"/>
                </a:cxn>
                <a:cxn ang="0">
                  <a:pos x="67" y="31"/>
                </a:cxn>
                <a:cxn ang="0">
                  <a:pos x="70" y="17"/>
                </a:cxn>
                <a:cxn ang="0">
                  <a:pos x="70" y="3"/>
                </a:cxn>
                <a:cxn ang="0">
                  <a:pos x="74" y="0"/>
                </a:cxn>
                <a:cxn ang="0">
                  <a:pos x="61" y="1"/>
                </a:cxn>
                <a:cxn ang="0">
                  <a:pos x="48" y="4"/>
                </a:cxn>
                <a:cxn ang="0">
                  <a:pos x="29" y="19"/>
                </a:cxn>
              </a:cxnLst>
              <a:rect l="0" t="0" r="r" b="b"/>
              <a:pathLst>
                <a:path w="74" h="75">
                  <a:moveTo>
                    <a:pt x="29" y="19"/>
                  </a:moveTo>
                  <a:lnTo>
                    <a:pt x="23" y="21"/>
                  </a:lnTo>
                  <a:lnTo>
                    <a:pt x="16" y="25"/>
                  </a:lnTo>
                  <a:lnTo>
                    <a:pt x="10" y="36"/>
                  </a:lnTo>
                  <a:lnTo>
                    <a:pt x="6" y="36"/>
                  </a:lnTo>
                  <a:lnTo>
                    <a:pt x="0" y="37"/>
                  </a:lnTo>
                  <a:lnTo>
                    <a:pt x="14" y="54"/>
                  </a:lnTo>
                  <a:lnTo>
                    <a:pt x="29" y="70"/>
                  </a:lnTo>
                  <a:lnTo>
                    <a:pt x="50" y="75"/>
                  </a:lnTo>
                  <a:lnTo>
                    <a:pt x="60" y="73"/>
                  </a:lnTo>
                  <a:lnTo>
                    <a:pt x="60" y="61"/>
                  </a:lnTo>
                  <a:lnTo>
                    <a:pt x="61" y="52"/>
                  </a:lnTo>
                  <a:lnTo>
                    <a:pt x="64" y="41"/>
                  </a:lnTo>
                  <a:lnTo>
                    <a:pt x="65" y="45"/>
                  </a:lnTo>
                  <a:lnTo>
                    <a:pt x="67" y="31"/>
                  </a:lnTo>
                  <a:lnTo>
                    <a:pt x="70" y="17"/>
                  </a:lnTo>
                  <a:lnTo>
                    <a:pt x="70" y="3"/>
                  </a:lnTo>
                  <a:lnTo>
                    <a:pt x="74" y="0"/>
                  </a:lnTo>
                  <a:lnTo>
                    <a:pt x="61" y="1"/>
                  </a:lnTo>
                  <a:lnTo>
                    <a:pt x="48" y="4"/>
                  </a:lnTo>
                  <a:lnTo>
                    <a:pt x="29"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2" name="Freeform 161"/>
            <p:cNvSpPr>
              <a:spLocks/>
            </p:cNvSpPr>
            <p:nvPr/>
          </p:nvSpPr>
          <p:spPr bwMode="auto">
            <a:xfrm>
              <a:off x="1460" y="2439"/>
              <a:ext cx="2" cy="4"/>
            </a:xfrm>
            <a:custGeom>
              <a:avLst/>
              <a:gdLst/>
              <a:ahLst/>
              <a:cxnLst>
                <a:cxn ang="0">
                  <a:pos x="2" y="4"/>
                </a:cxn>
                <a:cxn ang="0">
                  <a:pos x="2" y="0"/>
                </a:cxn>
                <a:cxn ang="0">
                  <a:pos x="0" y="2"/>
                </a:cxn>
                <a:cxn ang="0">
                  <a:pos x="2" y="4"/>
                </a:cxn>
              </a:cxnLst>
              <a:rect l="0" t="0" r="r" b="b"/>
              <a:pathLst>
                <a:path w="2" h="4">
                  <a:moveTo>
                    <a:pt x="2" y="4"/>
                  </a:moveTo>
                  <a:lnTo>
                    <a:pt x="2" y="0"/>
                  </a:lnTo>
                  <a:lnTo>
                    <a:pt x="0" y="2"/>
                  </a:lnTo>
                  <a:lnTo>
                    <a:pt x="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3" name="Freeform 162"/>
            <p:cNvSpPr>
              <a:spLocks/>
            </p:cNvSpPr>
            <p:nvPr/>
          </p:nvSpPr>
          <p:spPr bwMode="auto">
            <a:xfrm>
              <a:off x="1442" y="2363"/>
              <a:ext cx="3" cy="2"/>
            </a:xfrm>
            <a:custGeom>
              <a:avLst/>
              <a:gdLst/>
              <a:ahLst/>
              <a:cxnLst>
                <a:cxn ang="0">
                  <a:pos x="1" y="1"/>
                </a:cxn>
                <a:cxn ang="0">
                  <a:pos x="0" y="0"/>
                </a:cxn>
                <a:cxn ang="0">
                  <a:pos x="1" y="1"/>
                </a:cxn>
              </a:cxnLst>
              <a:rect l="0" t="0" r="r" b="b"/>
              <a:pathLst>
                <a:path w="1" h="1">
                  <a:moveTo>
                    <a:pt x="1" y="1"/>
                  </a:move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4" name="Freeform 163"/>
            <p:cNvSpPr>
              <a:spLocks/>
            </p:cNvSpPr>
            <p:nvPr/>
          </p:nvSpPr>
          <p:spPr bwMode="auto">
            <a:xfrm>
              <a:off x="1438" y="2359"/>
              <a:ext cx="4" cy="2"/>
            </a:xfrm>
            <a:custGeom>
              <a:avLst/>
              <a:gdLst/>
              <a:ahLst/>
              <a:cxnLst>
                <a:cxn ang="0">
                  <a:pos x="4" y="2"/>
                </a:cxn>
                <a:cxn ang="0">
                  <a:pos x="0" y="0"/>
                </a:cxn>
                <a:cxn ang="0">
                  <a:pos x="4" y="2"/>
                </a:cxn>
              </a:cxnLst>
              <a:rect l="0" t="0" r="r" b="b"/>
              <a:pathLst>
                <a:path w="4" h="2">
                  <a:moveTo>
                    <a:pt x="4" y="2"/>
                  </a:moveTo>
                  <a:lnTo>
                    <a:pt x="0" y="0"/>
                  </a:lnTo>
                  <a:lnTo>
                    <a:pt x="4"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5" name="Freeform 164"/>
            <p:cNvSpPr>
              <a:spLocks/>
            </p:cNvSpPr>
            <p:nvPr/>
          </p:nvSpPr>
          <p:spPr bwMode="auto">
            <a:xfrm>
              <a:off x="1456" y="2381"/>
              <a:ext cx="4" cy="4"/>
            </a:xfrm>
            <a:custGeom>
              <a:avLst/>
              <a:gdLst/>
              <a:ahLst/>
              <a:cxnLst>
                <a:cxn ang="0">
                  <a:pos x="2" y="0"/>
                </a:cxn>
                <a:cxn ang="0">
                  <a:pos x="3" y="1"/>
                </a:cxn>
                <a:cxn ang="0">
                  <a:pos x="0" y="5"/>
                </a:cxn>
                <a:cxn ang="0">
                  <a:pos x="2" y="0"/>
                </a:cxn>
              </a:cxnLst>
              <a:rect l="0" t="0" r="r" b="b"/>
              <a:pathLst>
                <a:path w="3" h="5">
                  <a:moveTo>
                    <a:pt x="2" y="0"/>
                  </a:moveTo>
                  <a:lnTo>
                    <a:pt x="3" y="1"/>
                  </a:lnTo>
                  <a:lnTo>
                    <a:pt x="0" y="5"/>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6" name="Freeform 165"/>
            <p:cNvSpPr>
              <a:spLocks/>
            </p:cNvSpPr>
            <p:nvPr/>
          </p:nvSpPr>
          <p:spPr bwMode="auto">
            <a:xfrm>
              <a:off x="1434" y="2341"/>
              <a:ext cx="4" cy="2"/>
            </a:xfrm>
            <a:custGeom>
              <a:avLst/>
              <a:gdLst/>
              <a:ahLst/>
              <a:cxnLst>
                <a:cxn ang="0">
                  <a:pos x="4" y="1"/>
                </a:cxn>
                <a:cxn ang="0">
                  <a:pos x="4" y="0"/>
                </a:cxn>
                <a:cxn ang="0">
                  <a:pos x="4" y="1"/>
                </a:cxn>
                <a:cxn ang="0">
                  <a:pos x="3" y="1"/>
                </a:cxn>
                <a:cxn ang="0">
                  <a:pos x="2" y="1"/>
                </a:cxn>
                <a:cxn ang="0">
                  <a:pos x="2" y="3"/>
                </a:cxn>
                <a:cxn ang="0">
                  <a:pos x="0" y="3"/>
                </a:cxn>
                <a:cxn ang="0">
                  <a:pos x="2" y="3"/>
                </a:cxn>
                <a:cxn ang="0">
                  <a:pos x="3" y="3"/>
                </a:cxn>
                <a:cxn ang="0">
                  <a:pos x="3" y="1"/>
                </a:cxn>
                <a:cxn ang="0">
                  <a:pos x="4" y="1"/>
                </a:cxn>
              </a:cxnLst>
              <a:rect l="0" t="0" r="r" b="b"/>
              <a:pathLst>
                <a:path w="4" h="3">
                  <a:moveTo>
                    <a:pt x="4" y="1"/>
                  </a:moveTo>
                  <a:lnTo>
                    <a:pt x="4" y="0"/>
                  </a:lnTo>
                  <a:lnTo>
                    <a:pt x="4" y="1"/>
                  </a:lnTo>
                  <a:lnTo>
                    <a:pt x="3" y="1"/>
                  </a:lnTo>
                  <a:lnTo>
                    <a:pt x="2" y="1"/>
                  </a:lnTo>
                  <a:lnTo>
                    <a:pt x="2" y="3"/>
                  </a:lnTo>
                  <a:lnTo>
                    <a:pt x="0" y="3"/>
                  </a:lnTo>
                  <a:lnTo>
                    <a:pt x="2" y="3"/>
                  </a:lnTo>
                  <a:lnTo>
                    <a:pt x="3" y="3"/>
                  </a:lnTo>
                  <a:lnTo>
                    <a:pt x="3" y="1"/>
                  </a:lnTo>
                  <a:lnTo>
                    <a:pt x="4"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7" name="Freeform 166"/>
            <p:cNvSpPr>
              <a:spLocks/>
            </p:cNvSpPr>
            <p:nvPr/>
          </p:nvSpPr>
          <p:spPr bwMode="auto">
            <a:xfrm>
              <a:off x="1456" y="2363"/>
              <a:ext cx="4" cy="2"/>
            </a:xfrm>
            <a:custGeom>
              <a:avLst/>
              <a:gdLst/>
              <a:ahLst/>
              <a:cxnLst>
                <a:cxn ang="0">
                  <a:pos x="1" y="0"/>
                </a:cxn>
                <a:cxn ang="0">
                  <a:pos x="0" y="1"/>
                </a:cxn>
                <a:cxn ang="0">
                  <a:pos x="0" y="2"/>
                </a:cxn>
                <a:cxn ang="0">
                  <a:pos x="3" y="2"/>
                </a:cxn>
                <a:cxn ang="0">
                  <a:pos x="1" y="0"/>
                </a:cxn>
              </a:cxnLst>
              <a:rect l="0" t="0" r="r" b="b"/>
              <a:pathLst>
                <a:path w="3" h="2">
                  <a:moveTo>
                    <a:pt x="1" y="0"/>
                  </a:moveTo>
                  <a:lnTo>
                    <a:pt x="0" y="1"/>
                  </a:lnTo>
                  <a:lnTo>
                    <a:pt x="0" y="2"/>
                  </a:lnTo>
                  <a:lnTo>
                    <a:pt x="3" y="2"/>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8" name="Freeform 167"/>
            <p:cNvSpPr>
              <a:spLocks/>
            </p:cNvSpPr>
            <p:nvPr/>
          </p:nvSpPr>
          <p:spPr bwMode="auto">
            <a:xfrm>
              <a:off x="1456" y="2352"/>
              <a:ext cx="2" cy="2"/>
            </a:xfrm>
            <a:custGeom>
              <a:avLst/>
              <a:gdLst/>
              <a:ahLst/>
              <a:cxnLst>
                <a:cxn ang="0">
                  <a:pos x="1" y="2"/>
                </a:cxn>
                <a:cxn ang="0">
                  <a:pos x="0" y="1"/>
                </a:cxn>
                <a:cxn ang="0">
                  <a:pos x="0" y="0"/>
                </a:cxn>
                <a:cxn ang="0">
                  <a:pos x="1" y="1"/>
                </a:cxn>
                <a:cxn ang="0">
                  <a:pos x="1" y="2"/>
                </a:cxn>
              </a:cxnLst>
              <a:rect l="0" t="0" r="r" b="b"/>
              <a:pathLst>
                <a:path w="1" h="2">
                  <a:moveTo>
                    <a:pt x="1" y="2"/>
                  </a:moveTo>
                  <a:lnTo>
                    <a:pt x="0" y="1"/>
                  </a:lnTo>
                  <a:lnTo>
                    <a:pt x="0" y="0"/>
                  </a:lnTo>
                  <a:lnTo>
                    <a:pt x="1" y="1"/>
                  </a:lnTo>
                  <a:lnTo>
                    <a:pt x="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9" name="Freeform 168"/>
            <p:cNvSpPr>
              <a:spLocks/>
            </p:cNvSpPr>
            <p:nvPr/>
          </p:nvSpPr>
          <p:spPr bwMode="auto">
            <a:xfrm>
              <a:off x="976" y="2336"/>
              <a:ext cx="24" cy="51"/>
            </a:xfrm>
            <a:custGeom>
              <a:avLst/>
              <a:gdLst/>
              <a:ahLst/>
              <a:cxnLst>
                <a:cxn ang="0">
                  <a:pos x="13" y="38"/>
                </a:cxn>
                <a:cxn ang="0">
                  <a:pos x="5" y="46"/>
                </a:cxn>
                <a:cxn ang="0">
                  <a:pos x="0" y="46"/>
                </a:cxn>
                <a:cxn ang="0">
                  <a:pos x="2" y="30"/>
                </a:cxn>
                <a:cxn ang="0">
                  <a:pos x="6" y="12"/>
                </a:cxn>
                <a:cxn ang="0">
                  <a:pos x="20" y="0"/>
                </a:cxn>
                <a:cxn ang="0">
                  <a:pos x="21" y="3"/>
                </a:cxn>
                <a:cxn ang="0">
                  <a:pos x="17" y="20"/>
                </a:cxn>
                <a:cxn ang="0">
                  <a:pos x="13" y="38"/>
                </a:cxn>
              </a:cxnLst>
              <a:rect l="0" t="0" r="r" b="b"/>
              <a:pathLst>
                <a:path w="21" h="46">
                  <a:moveTo>
                    <a:pt x="13" y="38"/>
                  </a:moveTo>
                  <a:lnTo>
                    <a:pt x="5" y="46"/>
                  </a:lnTo>
                  <a:lnTo>
                    <a:pt x="0" y="46"/>
                  </a:lnTo>
                  <a:lnTo>
                    <a:pt x="2" y="30"/>
                  </a:lnTo>
                  <a:lnTo>
                    <a:pt x="6" y="12"/>
                  </a:lnTo>
                  <a:lnTo>
                    <a:pt x="20" y="0"/>
                  </a:lnTo>
                  <a:lnTo>
                    <a:pt x="21" y="3"/>
                  </a:lnTo>
                  <a:lnTo>
                    <a:pt x="17" y="20"/>
                  </a:lnTo>
                  <a:lnTo>
                    <a:pt x="13"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0" name="Freeform 169"/>
            <p:cNvSpPr>
              <a:spLocks/>
            </p:cNvSpPr>
            <p:nvPr/>
          </p:nvSpPr>
          <p:spPr bwMode="auto">
            <a:xfrm>
              <a:off x="920" y="2350"/>
              <a:ext cx="74" cy="80"/>
            </a:xfrm>
            <a:custGeom>
              <a:avLst/>
              <a:gdLst/>
              <a:ahLst/>
              <a:cxnLst>
                <a:cxn ang="0">
                  <a:pos x="6" y="64"/>
                </a:cxn>
                <a:cxn ang="0">
                  <a:pos x="0" y="58"/>
                </a:cxn>
                <a:cxn ang="0">
                  <a:pos x="3" y="46"/>
                </a:cxn>
                <a:cxn ang="0">
                  <a:pos x="11" y="32"/>
                </a:cxn>
                <a:cxn ang="0">
                  <a:pos x="33" y="28"/>
                </a:cxn>
                <a:cxn ang="0">
                  <a:pos x="21" y="12"/>
                </a:cxn>
                <a:cxn ang="0">
                  <a:pos x="26" y="10"/>
                </a:cxn>
                <a:cxn ang="0">
                  <a:pos x="27" y="0"/>
                </a:cxn>
                <a:cxn ang="0">
                  <a:pos x="42" y="0"/>
                </a:cxn>
                <a:cxn ang="0">
                  <a:pos x="57" y="0"/>
                </a:cxn>
                <a:cxn ang="0">
                  <a:pos x="53" y="18"/>
                </a:cxn>
                <a:cxn ang="0">
                  <a:pos x="51" y="34"/>
                </a:cxn>
                <a:cxn ang="0">
                  <a:pos x="56" y="34"/>
                </a:cxn>
                <a:cxn ang="0">
                  <a:pos x="62" y="36"/>
                </a:cxn>
                <a:cxn ang="0">
                  <a:pos x="66" y="38"/>
                </a:cxn>
                <a:cxn ang="0">
                  <a:pos x="56" y="46"/>
                </a:cxn>
                <a:cxn ang="0">
                  <a:pos x="46" y="61"/>
                </a:cxn>
                <a:cxn ang="0">
                  <a:pos x="33" y="73"/>
                </a:cxn>
                <a:cxn ang="0">
                  <a:pos x="20" y="69"/>
                </a:cxn>
                <a:cxn ang="0">
                  <a:pos x="6" y="64"/>
                </a:cxn>
              </a:cxnLst>
              <a:rect l="0" t="0" r="r" b="b"/>
              <a:pathLst>
                <a:path w="66" h="73">
                  <a:moveTo>
                    <a:pt x="6" y="64"/>
                  </a:moveTo>
                  <a:lnTo>
                    <a:pt x="0" y="58"/>
                  </a:lnTo>
                  <a:lnTo>
                    <a:pt x="3" y="46"/>
                  </a:lnTo>
                  <a:lnTo>
                    <a:pt x="11" y="32"/>
                  </a:lnTo>
                  <a:lnTo>
                    <a:pt x="33" y="28"/>
                  </a:lnTo>
                  <a:lnTo>
                    <a:pt x="21" y="12"/>
                  </a:lnTo>
                  <a:lnTo>
                    <a:pt x="26" y="10"/>
                  </a:lnTo>
                  <a:lnTo>
                    <a:pt x="27" y="0"/>
                  </a:lnTo>
                  <a:lnTo>
                    <a:pt x="42" y="0"/>
                  </a:lnTo>
                  <a:lnTo>
                    <a:pt x="57" y="0"/>
                  </a:lnTo>
                  <a:lnTo>
                    <a:pt x="53" y="18"/>
                  </a:lnTo>
                  <a:lnTo>
                    <a:pt x="51" y="34"/>
                  </a:lnTo>
                  <a:lnTo>
                    <a:pt x="56" y="34"/>
                  </a:lnTo>
                  <a:lnTo>
                    <a:pt x="62" y="36"/>
                  </a:lnTo>
                  <a:lnTo>
                    <a:pt x="66" y="38"/>
                  </a:lnTo>
                  <a:lnTo>
                    <a:pt x="56" y="46"/>
                  </a:lnTo>
                  <a:lnTo>
                    <a:pt x="46" y="61"/>
                  </a:lnTo>
                  <a:lnTo>
                    <a:pt x="33" y="73"/>
                  </a:lnTo>
                  <a:lnTo>
                    <a:pt x="20" y="69"/>
                  </a:lnTo>
                  <a:lnTo>
                    <a:pt x="6" y="6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1" name="Freeform 170"/>
            <p:cNvSpPr>
              <a:spLocks/>
            </p:cNvSpPr>
            <p:nvPr/>
          </p:nvSpPr>
          <p:spPr bwMode="auto">
            <a:xfrm>
              <a:off x="1171" y="2336"/>
              <a:ext cx="36" cy="14"/>
            </a:xfrm>
            <a:custGeom>
              <a:avLst/>
              <a:gdLst/>
              <a:ahLst/>
              <a:cxnLst>
                <a:cxn ang="0">
                  <a:pos x="12" y="0"/>
                </a:cxn>
                <a:cxn ang="0">
                  <a:pos x="0" y="4"/>
                </a:cxn>
                <a:cxn ang="0">
                  <a:pos x="18" y="13"/>
                </a:cxn>
                <a:cxn ang="0">
                  <a:pos x="32" y="10"/>
                </a:cxn>
                <a:cxn ang="0">
                  <a:pos x="12" y="0"/>
                </a:cxn>
              </a:cxnLst>
              <a:rect l="0" t="0" r="r" b="b"/>
              <a:pathLst>
                <a:path w="32" h="13">
                  <a:moveTo>
                    <a:pt x="12" y="0"/>
                  </a:moveTo>
                  <a:lnTo>
                    <a:pt x="0" y="4"/>
                  </a:lnTo>
                  <a:lnTo>
                    <a:pt x="18" y="13"/>
                  </a:lnTo>
                  <a:lnTo>
                    <a:pt x="32" y="10"/>
                  </a:lnTo>
                  <a:lnTo>
                    <a:pt x="1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2" name="Freeform 171"/>
            <p:cNvSpPr>
              <a:spLocks/>
            </p:cNvSpPr>
            <p:nvPr/>
          </p:nvSpPr>
          <p:spPr bwMode="auto">
            <a:xfrm>
              <a:off x="1365" y="2336"/>
              <a:ext cx="29" cy="11"/>
            </a:xfrm>
            <a:custGeom>
              <a:avLst/>
              <a:gdLst/>
              <a:ahLst/>
              <a:cxnLst>
                <a:cxn ang="0">
                  <a:pos x="25" y="4"/>
                </a:cxn>
                <a:cxn ang="0">
                  <a:pos x="23" y="6"/>
                </a:cxn>
                <a:cxn ang="0">
                  <a:pos x="7" y="9"/>
                </a:cxn>
                <a:cxn ang="0">
                  <a:pos x="0" y="7"/>
                </a:cxn>
                <a:cxn ang="0">
                  <a:pos x="2" y="0"/>
                </a:cxn>
                <a:cxn ang="0">
                  <a:pos x="25" y="4"/>
                </a:cxn>
              </a:cxnLst>
              <a:rect l="0" t="0" r="r" b="b"/>
              <a:pathLst>
                <a:path w="25" h="9">
                  <a:moveTo>
                    <a:pt x="25" y="4"/>
                  </a:moveTo>
                  <a:lnTo>
                    <a:pt x="23" y="6"/>
                  </a:lnTo>
                  <a:lnTo>
                    <a:pt x="7" y="9"/>
                  </a:lnTo>
                  <a:lnTo>
                    <a:pt x="0" y="7"/>
                  </a:lnTo>
                  <a:lnTo>
                    <a:pt x="2" y="0"/>
                  </a:lnTo>
                  <a:lnTo>
                    <a:pt x="2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3" name="Freeform 172"/>
            <p:cNvSpPr>
              <a:spLocks/>
            </p:cNvSpPr>
            <p:nvPr/>
          </p:nvSpPr>
          <p:spPr bwMode="auto">
            <a:xfrm>
              <a:off x="1402" y="2350"/>
              <a:ext cx="7" cy="2"/>
            </a:xfrm>
            <a:custGeom>
              <a:avLst/>
              <a:gdLst/>
              <a:ahLst/>
              <a:cxnLst>
                <a:cxn ang="0">
                  <a:pos x="6" y="0"/>
                </a:cxn>
                <a:cxn ang="0">
                  <a:pos x="2" y="0"/>
                </a:cxn>
                <a:cxn ang="0">
                  <a:pos x="0" y="1"/>
                </a:cxn>
                <a:cxn ang="0">
                  <a:pos x="6" y="0"/>
                </a:cxn>
              </a:cxnLst>
              <a:rect l="0" t="0" r="r" b="b"/>
              <a:pathLst>
                <a:path w="6" h="1">
                  <a:moveTo>
                    <a:pt x="6" y="0"/>
                  </a:moveTo>
                  <a:lnTo>
                    <a:pt x="2" y="0"/>
                  </a:lnTo>
                  <a:lnTo>
                    <a:pt x="0" y="1"/>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4" name="Freeform 173"/>
            <p:cNvSpPr>
              <a:spLocks/>
            </p:cNvSpPr>
            <p:nvPr/>
          </p:nvSpPr>
          <p:spPr bwMode="auto">
            <a:xfrm>
              <a:off x="567" y="2054"/>
              <a:ext cx="467" cy="360"/>
            </a:xfrm>
            <a:custGeom>
              <a:avLst/>
              <a:gdLst/>
              <a:ahLst/>
              <a:cxnLst>
                <a:cxn ang="0">
                  <a:pos x="53" y="157"/>
                </a:cxn>
                <a:cxn ang="0">
                  <a:pos x="35" y="114"/>
                </a:cxn>
                <a:cxn ang="0">
                  <a:pos x="14" y="95"/>
                </a:cxn>
                <a:cxn ang="0">
                  <a:pos x="22" y="71"/>
                </a:cxn>
                <a:cxn ang="0">
                  <a:pos x="3" y="25"/>
                </a:cxn>
                <a:cxn ang="0">
                  <a:pos x="38" y="0"/>
                </a:cxn>
                <a:cxn ang="0">
                  <a:pos x="72" y="18"/>
                </a:cxn>
                <a:cxn ang="0">
                  <a:pos x="128" y="24"/>
                </a:cxn>
                <a:cxn ang="0">
                  <a:pos x="170" y="34"/>
                </a:cxn>
                <a:cxn ang="0">
                  <a:pos x="192" y="66"/>
                </a:cxn>
                <a:cxn ang="0">
                  <a:pos x="232" y="71"/>
                </a:cxn>
                <a:cxn ang="0">
                  <a:pos x="254" y="118"/>
                </a:cxn>
                <a:cxn ang="0">
                  <a:pos x="254" y="168"/>
                </a:cxn>
                <a:cxn ang="0">
                  <a:pos x="262" y="226"/>
                </a:cxn>
                <a:cxn ang="0">
                  <a:pos x="273" y="250"/>
                </a:cxn>
                <a:cxn ang="0">
                  <a:pos x="321" y="253"/>
                </a:cxn>
                <a:cxn ang="0">
                  <a:pos x="344" y="251"/>
                </a:cxn>
                <a:cxn ang="0">
                  <a:pos x="362" y="213"/>
                </a:cxn>
                <a:cxn ang="0">
                  <a:pos x="408" y="201"/>
                </a:cxn>
                <a:cxn ang="0">
                  <a:pos x="419" y="207"/>
                </a:cxn>
                <a:cxn ang="0">
                  <a:pos x="402" y="238"/>
                </a:cxn>
                <a:cxn ang="0">
                  <a:pos x="392" y="251"/>
                </a:cxn>
                <a:cxn ang="0">
                  <a:pos x="360" y="267"/>
                </a:cxn>
                <a:cxn ang="0">
                  <a:pos x="339" y="279"/>
                </a:cxn>
                <a:cxn ang="0">
                  <a:pos x="321" y="313"/>
                </a:cxn>
                <a:cxn ang="0">
                  <a:pos x="288" y="294"/>
                </a:cxn>
                <a:cxn ang="0">
                  <a:pos x="278" y="295"/>
                </a:cxn>
                <a:cxn ang="0">
                  <a:pos x="250" y="305"/>
                </a:cxn>
                <a:cxn ang="0">
                  <a:pos x="198" y="280"/>
                </a:cxn>
                <a:cxn ang="0">
                  <a:pos x="160" y="259"/>
                </a:cxn>
                <a:cxn ang="0">
                  <a:pos x="126" y="232"/>
                </a:cxn>
                <a:cxn ang="0">
                  <a:pos x="128" y="211"/>
                </a:cxn>
                <a:cxn ang="0">
                  <a:pos x="122" y="173"/>
                </a:cxn>
                <a:cxn ang="0">
                  <a:pos x="107" y="149"/>
                </a:cxn>
                <a:cxn ang="0">
                  <a:pos x="99" y="136"/>
                </a:cxn>
                <a:cxn ang="0">
                  <a:pos x="84" y="125"/>
                </a:cxn>
                <a:cxn ang="0">
                  <a:pos x="72" y="90"/>
                </a:cxn>
                <a:cxn ang="0">
                  <a:pos x="57" y="63"/>
                </a:cxn>
                <a:cxn ang="0">
                  <a:pos x="41" y="22"/>
                </a:cxn>
                <a:cxn ang="0">
                  <a:pos x="26" y="52"/>
                </a:cxn>
                <a:cxn ang="0">
                  <a:pos x="46" y="95"/>
                </a:cxn>
                <a:cxn ang="0">
                  <a:pos x="54" y="126"/>
                </a:cxn>
                <a:cxn ang="0">
                  <a:pos x="70" y="161"/>
                </a:cxn>
              </a:cxnLst>
              <a:rect l="0" t="0" r="r" b="b"/>
              <a:pathLst>
                <a:path w="419" h="325">
                  <a:moveTo>
                    <a:pt x="74" y="169"/>
                  </a:moveTo>
                  <a:lnTo>
                    <a:pt x="63" y="174"/>
                  </a:lnTo>
                  <a:lnTo>
                    <a:pt x="53" y="157"/>
                  </a:lnTo>
                  <a:lnTo>
                    <a:pt x="39" y="142"/>
                  </a:lnTo>
                  <a:lnTo>
                    <a:pt x="40" y="127"/>
                  </a:lnTo>
                  <a:lnTo>
                    <a:pt x="35" y="114"/>
                  </a:lnTo>
                  <a:lnTo>
                    <a:pt x="30" y="105"/>
                  </a:lnTo>
                  <a:lnTo>
                    <a:pt x="21" y="103"/>
                  </a:lnTo>
                  <a:lnTo>
                    <a:pt x="14" y="95"/>
                  </a:lnTo>
                  <a:lnTo>
                    <a:pt x="6" y="87"/>
                  </a:lnTo>
                  <a:lnTo>
                    <a:pt x="18" y="89"/>
                  </a:lnTo>
                  <a:lnTo>
                    <a:pt x="22" y="71"/>
                  </a:lnTo>
                  <a:lnTo>
                    <a:pt x="14" y="59"/>
                  </a:lnTo>
                  <a:lnTo>
                    <a:pt x="5" y="47"/>
                  </a:lnTo>
                  <a:lnTo>
                    <a:pt x="3" y="25"/>
                  </a:lnTo>
                  <a:lnTo>
                    <a:pt x="0" y="3"/>
                  </a:lnTo>
                  <a:lnTo>
                    <a:pt x="18" y="1"/>
                  </a:lnTo>
                  <a:lnTo>
                    <a:pt x="38" y="0"/>
                  </a:lnTo>
                  <a:lnTo>
                    <a:pt x="48" y="6"/>
                  </a:lnTo>
                  <a:lnTo>
                    <a:pt x="60" y="12"/>
                  </a:lnTo>
                  <a:lnTo>
                    <a:pt x="72" y="18"/>
                  </a:lnTo>
                  <a:lnTo>
                    <a:pt x="84" y="24"/>
                  </a:lnTo>
                  <a:lnTo>
                    <a:pt x="106" y="24"/>
                  </a:lnTo>
                  <a:lnTo>
                    <a:pt x="128" y="24"/>
                  </a:lnTo>
                  <a:lnTo>
                    <a:pt x="131" y="16"/>
                  </a:lnTo>
                  <a:lnTo>
                    <a:pt x="156" y="16"/>
                  </a:lnTo>
                  <a:lnTo>
                    <a:pt x="170" y="34"/>
                  </a:lnTo>
                  <a:lnTo>
                    <a:pt x="174" y="52"/>
                  </a:lnTo>
                  <a:lnTo>
                    <a:pt x="183" y="59"/>
                  </a:lnTo>
                  <a:lnTo>
                    <a:pt x="192" y="66"/>
                  </a:lnTo>
                  <a:lnTo>
                    <a:pt x="203" y="53"/>
                  </a:lnTo>
                  <a:lnTo>
                    <a:pt x="225" y="55"/>
                  </a:lnTo>
                  <a:lnTo>
                    <a:pt x="232" y="71"/>
                  </a:lnTo>
                  <a:lnTo>
                    <a:pt x="238" y="88"/>
                  </a:lnTo>
                  <a:lnTo>
                    <a:pt x="244" y="109"/>
                  </a:lnTo>
                  <a:lnTo>
                    <a:pt x="254" y="118"/>
                  </a:lnTo>
                  <a:lnTo>
                    <a:pt x="273" y="120"/>
                  </a:lnTo>
                  <a:lnTo>
                    <a:pt x="263" y="144"/>
                  </a:lnTo>
                  <a:lnTo>
                    <a:pt x="254" y="168"/>
                  </a:lnTo>
                  <a:lnTo>
                    <a:pt x="251" y="192"/>
                  </a:lnTo>
                  <a:lnTo>
                    <a:pt x="256" y="210"/>
                  </a:lnTo>
                  <a:lnTo>
                    <a:pt x="262" y="226"/>
                  </a:lnTo>
                  <a:lnTo>
                    <a:pt x="267" y="238"/>
                  </a:lnTo>
                  <a:lnTo>
                    <a:pt x="272" y="249"/>
                  </a:lnTo>
                  <a:lnTo>
                    <a:pt x="273" y="250"/>
                  </a:lnTo>
                  <a:lnTo>
                    <a:pt x="290" y="258"/>
                  </a:lnTo>
                  <a:lnTo>
                    <a:pt x="304" y="257"/>
                  </a:lnTo>
                  <a:lnTo>
                    <a:pt x="321" y="253"/>
                  </a:lnTo>
                  <a:lnTo>
                    <a:pt x="332" y="253"/>
                  </a:lnTo>
                  <a:lnTo>
                    <a:pt x="339" y="255"/>
                  </a:lnTo>
                  <a:lnTo>
                    <a:pt x="344" y="251"/>
                  </a:lnTo>
                  <a:lnTo>
                    <a:pt x="341" y="247"/>
                  </a:lnTo>
                  <a:lnTo>
                    <a:pt x="354" y="234"/>
                  </a:lnTo>
                  <a:lnTo>
                    <a:pt x="362" y="213"/>
                  </a:lnTo>
                  <a:lnTo>
                    <a:pt x="378" y="204"/>
                  </a:lnTo>
                  <a:lnTo>
                    <a:pt x="393" y="202"/>
                  </a:lnTo>
                  <a:lnTo>
                    <a:pt x="408" y="201"/>
                  </a:lnTo>
                  <a:lnTo>
                    <a:pt x="412" y="201"/>
                  </a:lnTo>
                  <a:lnTo>
                    <a:pt x="418" y="204"/>
                  </a:lnTo>
                  <a:lnTo>
                    <a:pt x="419" y="207"/>
                  </a:lnTo>
                  <a:lnTo>
                    <a:pt x="405" y="229"/>
                  </a:lnTo>
                  <a:lnTo>
                    <a:pt x="402" y="235"/>
                  </a:lnTo>
                  <a:lnTo>
                    <a:pt x="402" y="238"/>
                  </a:lnTo>
                  <a:lnTo>
                    <a:pt x="402" y="240"/>
                  </a:lnTo>
                  <a:lnTo>
                    <a:pt x="395" y="257"/>
                  </a:lnTo>
                  <a:lnTo>
                    <a:pt x="392" y="251"/>
                  </a:lnTo>
                  <a:lnTo>
                    <a:pt x="389" y="255"/>
                  </a:lnTo>
                  <a:lnTo>
                    <a:pt x="375" y="267"/>
                  </a:lnTo>
                  <a:lnTo>
                    <a:pt x="360" y="267"/>
                  </a:lnTo>
                  <a:lnTo>
                    <a:pt x="345" y="267"/>
                  </a:lnTo>
                  <a:lnTo>
                    <a:pt x="344" y="277"/>
                  </a:lnTo>
                  <a:lnTo>
                    <a:pt x="339" y="279"/>
                  </a:lnTo>
                  <a:lnTo>
                    <a:pt x="351" y="295"/>
                  </a:lnTo>
                  <a:lnTo>
                    <a:pt x="329" y="299"/>
                  </a:lnTo>
                  <a:lnTo>
                    <a:pt x="321" y="313"/>
                  </a:lnTo>
                  <a:lnTo>
                    <a:pt x="318" y="325"/>
                  </a:lnTo>
                  <a:lnTo>
                    <a:pt x="303" y="310"/>
                  </a:lnTo>
                  <a:lnTo>
                    <a:pt x="288" y="294"/>
                  </a:lnTo>
                  <a:lnTo>
                    <a:pt x="294" y="300"/>
                  </a:lnTo>
                  <a:lnTo>
                    <a:pt x="286" y="294"/>
                  </a:lnTo>
                  <a:lnTo>
                    <a:pt x="278" y="295"/>
                  </a:lnTo>
                  <a:lnTo>
                    <a:pt x="281" y="295"/>
                  </a:lnTo>
                  <a:lnTo>
                    <a:pt x="266" y="300"/>
                  </a:lnTo>
                  <a:lnTo>
                    <a:pt x="250" y="305"/>
                  </a:lnTo>
                  <a:lnTo>
                    <a:pt x="233" y="297"/>
                  </a:lnTo>
                  <a:lnTo>
                    <a:pt x="215" y="288"/>
                  </a:lnTo>
                  <a:lnTo>
                    <a:pt x="198" y="280"/>
                  </a:lnTo>
                  <a:lnTo>
                    <a:pt x="180" y="273"/>
                  </a:lnTo>
                  <a:lnTo>
                    <a:pt x="171" y="265"/>
                  </a:lnTo>
                  <a:lnTo>
                    <a:pt x="160" y="259"/>
                  </a:lnTo>
                  <a:lnTo>
                    <a:pt x="148" y="253"/>
                  </a:lnTo>
                  <a:lnTo>
                    <a:pt x="137" y="243"/>
                  </a:lnTo>
                  <a:lnTo>
                    <a:pt x="126" y="232"/>
                  </a:lnTo>
                  <a:lnTo>
                    <a:pt x="124" y="219"/>
                  </a:lnTo>
                  <a:lnTo>
                    <a:pt x="130" y="216"/>
                  </a:lnTo>
                  <a:lnTo>
                    <a:pt x="128" y="211"/>
                  </a:lnTo>
                  <a:lnTo>
                    <a:pt x="132" y="201"/>
                  </a:lnTo>
                  <a:lnTo>
                    <a:pt x="126" y="186"/>
                  </a:lnTo>
                  <a:lnTo>
                    <a:pt x="122" y="173"/>
                  </a:lnTo>
                  <a:lnTo>
                    <a:pt x="112" y="160"/>
                  </a:lnTo>
                  <a:lnTo>
                    <a:pt x="102" y="148"/>
                  </a:lnTo>
                  <a:lnTo>
                    <a:pt x="107" y="149"/>
                  </a:lnTo>
                  <a:lnTo>
                    <a:pt x="100" y="139"/>
                  </a:lnTo>
                  <a:lnTo>
                    <a:pt x="98" y="137"/>
                  </a:lnTo>
                  <a:lnTo>
                    <a:pt x="99" y="136"/>
                  </a:lnTo>
                  <a:lnTo>
                    <a:pt x="88" y="130"/>
                  </a:lnTo>
                  <a:lnTo>
                    <a:pt x="90" y="125"/>
                  </a:lnTo>
                  <a:lnTo>
                    <a:pt x="84" y="125"/>
                  </a:lnTo>
                  <a:lnTo>
                    <a:pt x="89" y="114"/>
                  </a:lnTo>
                  <a:lnTo>
                    <a:pt x="83" y="108"/>
                  </a:lnTo>
                  <a:lnTo>
                    <a:pt x="72" y="90"/>
                  </a:lnTo>
                  <a:lnTo>
                    <a:pt x="72" y="85"/>
                  </a:lnTo>
                  <a:lnTo>
                    <a:pt x="63" y="78"/>
                  </a:lnTo>
                  <a:lnTo>
                    <a:pt x="57" y="63"/>
                  </a:lnTo>
                  <a:lnTo>
                    <a:pt x="51" y="47"/>
                  </a:lnTo>
                  <a:lnTo>
                    <a:pt x="51" y="27"/>
                  </a:lnTo>
                  <a:lnTo>
                    <a:pt x="41" y="22"/>
                  </a:lnTo>
                  <a:lnTo>
                    <a:pt x="29" y="15"/>
                  </a:lnTo>
                  <a:lnTo>
                    <a:pt x="27" y="33"/>
                  </a:lnTo>
                  <a:lnTo>
                    <a:pt x="26" y="52"/>
                  </a:lnTo>
                  <a:lnTo>
                    <a:pt x="33" y="66"/>
                  </a:lnTo>
                  <a:lnTo>
                    <a:pt x="41" y="82"/>
                  </a:lnTo>
                  <a:lnTo>
                    <a:pt x="46" y="95"/>
                  </a:lnTo>
                  <a:lnTo>
                    <a:pt x="50" y="107"/>
                  </a:lnTo>
                  <a:lnTo>
                    <a:pt x="52" y="106"/>
                  </a:lnTo>
                  <a:lnTo>
                    <a:pt x="54" y="126"/>
                  </a:lnTo>
                  <a:lnTo>
                    <a:pt x="58" y="148"/>
                  </a:lnTo>
                  <a:lnTo>
                    <a:pt x="63" y="151"/>
                  </a:lnTo>
                  <a:lnTo>
                    <a:pt x="70" y="161"/>
                  </a:lnTo>
                  <a:lnTo>
                    <a:pt x="74" y="1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5" name="Freeform 174"/>
            <p:cNvSpPr>
              <a:spLocks/>
            </p:cNvSpPr>
            <p:nvPr/>
          </p:nvSpPr>
          <p:spPr bwMode="auto">
            <a:xfrm>
              <a:off x="1187" y="2203"/>
              <a:ext cx="9" cy="16"/>
            </a:xfrm>
            <a:custGeom>
              <a:avLst/>
              <a:gdLst/>
              <a:ahLst/>
              <a:cxnLst>
                <a:cxn ang="0">
                  <a:pos x="9" y="13"/>
                </a:cxn>
                <a:cxn ang="0">
                  <a:pos x="6" y="0"/>
                </a:cxn>
                <a:cxn ang="0">
                  <a:pos x="0" y="10"/>
                </a:cxn>
                <a:cxn ang="0">
                  <a:pos x="3" y="14"/>
                </a:cxn>
                <a:cxn ang="0">
                  <a:pos x="9" y="13"/>
                </a:cxn>
              </a:cxnLst>
              <a:rect l="0" t="0" r="r" b="b"/>
              <a:pathLst>
                <a:path w="9" h="14">
                  <a:moveTo>
                    <a:pt x="9" y="13"/>
                  </a:moveTo>
                  <a:lnTo>
                    <a:pt x="6" y="0"/>
                  </a:lnTo>
                  <a:lnTo>
                    <a:pt x="0" y="10"/>
                  </a:lnTo>
                  <a:lnTo>
                    <a:pt x="3" y="14"/>
                  </a:lnTo>
                  <a:lnTo>
                    <a:pt x="9"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6" name="Freeform 175"/>
            <p:cNvSpPr>
              <a:spLocks/>
            </p:cNvSpPr>
            <p:nvPr/>
          </p:nvSpPr>
          <p:spPr bwMode="auto">
            <a:xfrm>
              <a:off x="1202" y="2167"/>
              <a:ext cx="14" cy="20"/>
            </a:xfrm>
            <a:custGeom>
              <a:avLst/>
              <a:gdLst/>
              <a:ahLst/>
              <a:cxnLst>
                <a:cxn ang="0">
                  <a:pos x="5" y="17"/>
                </a:cxn>
                <a:cxn ang="0">
                  <a:pos x="7" y="10"/>
                </a:cxn>
                <a:cxn ang="0">
                  <a:pos x="0" y="0"/>
                </a:cxn>
                <a:cxn ang="0">
                  <a:pos x="11" y="11"/>
                </a:cxn>
                <a:cxn ang="0">
                  <a:pos x="5" y="17"/>
                </a:cxn>
              </a:cxnLst>
              <a:rect l="0" t="0" r="r" b="b"/>
              <a:pathLst>
                <a:path w="11" h="17">
                  <a:moveTo>
                    <a:pt x="5" y="17"/>
                  </a:moveTo>
                  <a:lnTo>
                    <a:pt x="7" y="10"/>
                  </a:lnTo>
                  <a:lnTo>
                    <a:pt x="0" y="0"/>
                  </a:lnTo>
                  <a:lnTo>
                    <a:pt x="11" y="11"/>
                  </a:lnTo>
                  <a:lnTo>
                    <a:pt x="5"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7" name="Freeform 176"/>
            <p:cNvSpPr>
              <a:spLocks/>
            </p:cNvSpPr>
            <p:nvPr/>
          </p:nvSpPr>
          <p:spPr bwMode="auto">
            <a:xfrm>
              <a:off x="1218" y="2196"/>
              <a:ext cx="9" cy="16"/>
            </a:xfrm>
            <a:custGeom>
              <a:avLst/>
              <a:gdLst/>
              <a:ahLst/>
              <a:cxnLst>
                <a:cxn ang="0">
                  <a:pos x="5" y="13"/>
                </a:cxn>
                <a:cxn ang="0">
                  <a:pos x="7" y="7"/>
                </a:cxn>
                <a:cxn ang="0">
                  <a:pos x="0" y="0"/>
                </a:cxn>
                <a:cxn ang="0">
                  <a:pos x="4" y="5"/>
                </a:cxn>
                <a:cxn ang="0">
                  <a:pos x="6" y="7"/>
                </a:cxn>
                <a:cxn ang="0">
                  <a:pos x="4" y="12"/>
                </a:cxn>
                <a:cxn ang="0">
                  <a:pos x="5" y="13"/>
                </a:cxn>
              </a:cxnLst>
              <a:rect l="0" t="0" r="r" b="b"/>
              <a:pathLst>
                <a:path w="7" h="13">
                  <a:moveTo>
                    <a:pt x="5" y="13"/>
                  </a:moveTo>
                  <a:lnTo>
                    <a:pt x="7" y="7"/>
                  </a:lnTo>
                  <a:lnTo>
                    <a:pt x="0" y="0"/>
                  </a:lnTo>
                  <a:lnTo>
                    <a:pt x="4" y="5"/>
                  </a:lnTo>
                  <a:lnTo>
                    <a:pt x="6" y="7"/>
                  </a:lnTo>
                  <a:lnTo>
                    <a:pt x="4" y="12"/>
                  </a:lnTo>
                  <a:lnTo>
                    <a:pt x="5"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8" name="Freeform 177"/>
            <p:cNvSpPr>
              <a:spLocks/>
            </p:cNvSpPr>
            <p:nvPr/>
          </p:nvSpPr>
          <p:spPr bwMode="auto">
            <a:xfrm>
              <a:off x="1260" y="2281"/>
              <a:ext cx="9" cy="6"/>
            </a:xfrm>
            <a:custGeom>
              <a:avLst/>
              <a:gdLst/>
              <a:ahLst/>
              <a:cxnLst>
                <a:cxn ang="0">
                  <a:pos x="10" y="0"/>
                </a:cxn>
                <a:cxn ang="0">
                  <a:pos x="10" y="3"/>
                </a:cxn>
                <a:cxn ang="0">
                  <a:pos x="0" y="6"/>
                </a:cxn>
                <a:cxn ang="0">
                  <a:pos x="10" y="0"/>
                </a:cxn>
              </a:cxnLst>
              <a:rect l="0" t="0" r="r" b="b"/>
              <a:pathLst>
                <a:path w="10" h="6">
                  <a:moveTo>
                    <a:pt x="10" y="0"/>
                  </a:moveTo>
                  <a:lnTo>
                    <a:pt x="10" y="3"/>
                  </a:lnTo>
                  <a:lnTo>
                    <a:pt x="0" y="6"/>
                  </a:lnTo>
                  <a:lnTo>
                    <a:pt x="1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9" name="Freeform 178"/>
            <p:cNvSpPr>
              <a:spLocks/>
            </p:cNvSpPr>
            <p:nvPr/>
          </p:nvSpPr>
          <p:spPr bwMode="auto">
            <a:xfrm>
              <a:off x="1254" y="2254"/>
              <a:ext cx="6" cy="7"/>
            </a:xfrm>
            <a:custGeom>
              <a:avLst/>
              <a:gdLst/>
              <a:ahLst/>
              <a:cxnLst>
                <a:cxn ang="0">
                  <a:pos x="6" y="2"/>
                </a:cxn>
                <a:cxn ang="0">
                  <a:pos x="4" y="0"/>
                </a:cxn>
                <a:cxn ang="0">
                  <a:pos x="0" y="5"/>
                </a:cxn>
                <a:cxn ang="0">
                  <a:pos x="6" y="2"/>
                </a:cxn>
              </a:cxnLst>
              <a:rect l="0" t="0" r="r" b="b"/>
              <a:pathLst>
                <a:path w="6" h="5">
                  <a:moveTo>
                    <a:pt x="6" y="2"/>
                  </a:moveTo>
                  <a:lnTo>
                    <a:pt x="4" y="0"/>
                  </a:lnTo>
                  <a:lnTo>
                    <a:pt x="0" y="5"/>
                  </a:lnTo>
                  <a:lnTo>
                    <a:pt x="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0" name="Freeform 179"/>
            <p:cNvSpPr>
              <a:spLocks/>
            </p:cNvSpPr>
            <p:nvPr/>
          </p:nvSpPr>
          <p:spPr bwMode="auto">
            <a:xfrm>
              <a:off x="1182" y="2174"/>
              <a:ext cx="18" cy="2"/>
            </a:xfrm>
            <a:custGeom>
              <a:avLst/>
              <a:gdLst/>
              <a:ahLst/>
              <a:cxnLst>
                <a:cxn ang="0">
                  <a:pos x="5" y="0"/>
                </a:cxn>
                <a:cxn ang="0">
                  <a:pos x="15" y="0"/>
                </a:cxn>
                <a:cxn ang="0">
                  <a:pos x="9" y="1"/>
                </a:cxn>
                <a:cxn ang="0">
                  <a:pos x="0" y="0"/>
                </a:cxn>
                <a:cxn ang="0">
                  <a:pos x="5" y="0"/>
                </a:cxn>
              </a:cxnLst>
              <a:rect l="0" t="0" r="r" b="b"/>
              <a:pathLst>
                <a:path w="15" h="1">
                  <a:moveTo>
                    <a:pt x="5" y="0"/>
                  </a:moveTo>
                  <a:lnTo>
                    <a:pt x="15" y="0"/>
                  </a:lnTo>
                  <a:lnTo>
                    <a:pt x="9" y="1"/>
                  </a:lnTo>
                  <a:lnTo>
                    <a:pt x="0" y="0"/>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1" name="Freeform 180"/>
            <p:cNvSpPr>
              <a:spLocks/>
            </p:cNvSpPr>
            <p:nvPr/>
          </p:nvSpPr>
          <p:spPr bwMode="auto">
            <a:xfrm>
              <a:off x="1194" y="2223"/>
              <a:ext cx="6" cy="7"/>
            </a:xfrm>
            <a:custGeom>
              <a:avLst/>
              <a:gdLst/>
              <a:ahLst/>
              <a:cxnLst>
                <a:cxn ang="0">
                  <a:pos x="5" y="4"/>
                </a:cxn>
                <a:cxn ang="0">
                  <a:pos x="3" y="1"/>
                </a:cxn>
                <a:cxn ang="0">
                  <a:pos x="0" y="0"/>
                </a:cxn>
                <a:cxn ang="0">
                  <a:pos x="3" y="6"/>
                </a:cxn>
                <a:cxn ang="0">
                  <a:pos x="5" y="4"/>
                </a:cxn>
              </a:cxnLst>
              <a:rect l="0" t="0" r="r" b="b"/>
              <a:pathLst>
                <a:path w="5" h="6">
                  <a:moveTo>
                    <a:pt x="5" y="4"/>
                  </a:moveTo>
                  <a:lnTo>
                    <a:pt x="3" y="1"/>
                  </a:lnTo>
                  <a:lnTo>
                    <a:pt x="0" y="0"/>
                  </a:lnTo>
                  <a:lnTo>
                    <a:pt x="3" y="6"/>
                  </a:lnTo>
                  <a:lnTo>
                    <a:pt x="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2" name="Freeform 181"/>
            <p:cNvSpPr>
              <a:spLocks/>
            </p:cNvSpPr>
            <p:nvPr/>
          </p:nvSpPr>
          <p:spPr bwMode="auto">
            <a:xfrm>
              <a:off x="4449" y="2921"/>
              <a:ext cx="700" cy="562"/>
            </a:xfrm>
            <a:custGeom>
              <a:avLst/>
              <a:gdLst/>
              <a:ahLst/>
              <a:cxnLst>
                <a:cxn ang="0">
                  <a:pos x="356" y="12"/>
                </a:cxn>
                <a:cxn ang="0">
                  <a:pos x="361" y="25"/>
                </a:cxn>
                <a:cxn ang="0">
                  <a:pos x="333" y="34"/>
                </a:cxn>
                <a:cxn ang="0">
                  <a:pos x="320" y="48"/>
                </a:cxn>
                <a:cxn ang="0">
                  <a:pos x="314" y="72"/>
                </a:cxn>
                <a:cxn ang="0">
                  <a:pos x="301" y="78"/>
                </a:cxn>
                <a:cxn ang="0">
                  <a:pos x="282" y="85"/>
                </a:cxn>
                <a:cxn ang="0">
                  <a:pos x="269" y="58"/>
                </a:cxn>
                <a:cxn ang="0">
                  <a:pos x="254" y="60"/>
                </a:cxn>
                <a:cxn ang="0">
                  <a:pos x="241" y="79"/>
                </a:cxn>
                <a:cxn ang="0">
                  <a:pos x="225" y="90"/>
                </a:cxn>
                <a:cxn ang="0">
                  <a:pos x="224" y="100"/>
                </a:cxn>
                <a:cxn ang="0">
                  <a:pos x="212" y="100"/>
                </a:cxn>
                <a:cxn ang="0">
                  <a:pos x="209" y="129"/>
                </a:cxn>
                <a:cxn ang="0">
                  <a:pos x="183" y="121"/>
                </a:cxn>
                <a:cxn ang="0">
                  <a:pos x="144" y="165"/>
                </a:cxn>
                <a:cxn ang="0">
                  <a:pos x="92" y="175"/>
                </a:cxn>
                <a:cxn ang="0">
                  <a:pos x="44" y="199"/>
                </a:cxn>
                <a:cxn ang="0">
                  <a:pos x="29" y="264"/>
                </a:cxn>
                <a:cxn ang="0">
                  <a:pos x="21" y="267"/>
                </a:cxn>
                <a:cxn ang="0">
                  <a:pos x="19" y="293"/>
                </a:cxn>
                <a:cxn ang="0">
                  <a:pos x="24" y="354"/>
                </a:cxn>
                <a:cxn ang="0">
                  <a:pos x="8" y="411"/>
                </a:cxn>
                <a:cxn ang="0">
                  <a:pos x="21" y="437"/>
                </a:cxn>
                <a:cxn ang="0">
                  <a:pos x="72" y="418"/>
                </a:cxn>
                <a:cxn ang="0">
                  <a:pos x="141" y="402"/>
                </a:cxn>
                <a:cxn ang="0">
                  <a:pos x="219" y="379"/>
                </a:cxn>
                <a:cxn ang="0">
                  <a:pos x="290" y="385"/>
                </a:cxn>
                <a:cxn ang="0">
                  <a:pos x="300" y="414"/>
                </a:cxn>
                <a:cxn ang="0">
                  <a:pos x="308" y="431"/>
                </a:cxn>
                <a:cxn ang="0">
                  <a:pos x="348" y="406"/>
                </a:cxn>
                <a:cxn ang="0">
                  <a:pos x="330" y="439"/>
                </a:cxn>
                <a:cxn ang="0">
                  <a:pos x="343" y="445"/>
                </a:cxn>
                <a:cxn ang="0">
                  <a:pos x="345" y="489"/>
                </a:cxn>
                <a:cxn ang="0">
                  <a:pos x="403" y="495"/>
                </a:cxn>
                <a:cxn ang="0">
                  <a:pos x="410" y="497"/>
                </a:cxn>
                <a:cxn ang="0">
                  <a:pos x="426" y="502"/>
                </a:cxn>
                <a:cxn ang="0">
                  <a:pos x="495" y="471"/>
                </a:cxn>
                <a:cxn ang="0">
                  <a:pos x="549" y="409"/>
                </a:cxn>
                <a:cxn ang="0">
                  <a:pos x="599" y="358"/>
                </a:cxn>
                <a:cxn ang="0">
                  <a:pos x="621" y="299"/>
                </a:cxn>
                <a:cxn ang="0">
                  <a:pos x="623" y="250"/>
                </a:cxn>
                <a:cxn ang="0">
                  <a:pos x="608" y="213"/>
                </a:cxn>
                <a:cxn ang="0">
                  <a:pos x="594" y="193"/>
                </a:cxn>
                <a:cxn ang="0">
                  <a:pos x="575" y="157"/>
                </a:cxn>
                <a:cxn ang="0">
                  <a:pos x="553" y="97"/>
                </a:cxn>
                <a:cxn ang="0">
                  <a:pos x="533" y="65"/>
                </a:cxn>
                <a:cxn ang="0">
                  <a:pos x="525" y="13"/>
                </a:cxn>
                <a:cxn ang="0">
                  <a:pos x="509" y="23"/>
                </a:cxn>
                <a:cxn ang="0">
                  <a:pos x="503" y="43"/>
                </a:cxn>
                <a:cxn ang="0">
                  <a:pos x="497" y="81"/>
                </a:cxn>
                <a:cxn ang="0">
                  <a:pos x="451" y="114"/>
                </a:cxn>
                <a:cxn ang="0">
                  <a:pos x="401" y="72"/>
                </a:cxn>
                <a:cxn ang="0">
                  <a:pos x="422" y="40"/>
                </a:cxn>
                <a:cxn ang="0">
                  <a:pos x="415" y="27"/>
                </a:cxn>
                <a:cxn ang="0">
                  <a:pos x="387" y="24"/>
                </a:cxn>
              </a:cxnLst>
              <a:rect l="0" t="0" r="r" b="b"/>
              <a:pathLst>
                <a:path w="630" h="508">
                  <a:moveTo>
                    <a:pt x="369" y="12"/>
                  </a:moveTo>
                  <a:lnTo>
                    <a:pt x="362" y="11"/>
                  </a:lnTo>
                  <a:lnTo>
                    <a:pt x="357" y="10"/>
                  </a:lnTo>
                  <a:lnTo>
                    <a:pt x="356" y="12"/>
                  </a:lnTo>
                  <a:lnTo>
                    <a:pt x="351" y="10"/>
                  </a:lnTo>
                  <a:lnTo>
                    <a:pt x="357" y="13"/>
                  </a:lnTo>
                  <a:lnTo>
                    <a:pt x="365" y="18"/>
                  </a:lnTo>
                  <a:lnTo>
                    <a:pt x="361" y="25"/>
                  </a:lnTo>
                  <a:lnTo>
                    <a:pt x="356" y="28"/>
                  </a:lnTo>
                  <a:lnTo>
                    <a:pt x="343" y="25"/>
                  </a:lnTo>
                  <a:lnTo>
                    <a:pt x="337" y="28"/>
                  </a:lnTo>
                  <a:lnTo>
                    <a:pt x="333" y="34"/>
                  </a:lnTo>
                  <a:lnTo>
                    <a:pt x="330" y="31"/>
                  </a:lnTo>
                  <a:lnTo>
                    <a:pt x="327" y="35"/>
                  </a:lnTo>
                  <a:lnTo>
                    <a:pt x="321" y="45"/>
                  </a:lnTo>
                  <a:lnTo>
                    <a:pt x="320" y="48"/>
                  </a:lnTo>
                  <a:lnTo>
                    <a:pt x="314" y="54"/>
                  </a:lnTo>
                  <a:lnTo>
                    <a:pt x="307" y="67"/>
                  </a:lnTo>
                  <a:lnTo>
                    <a:pt x="312" y="70"/>
                  </a:lnTo>
                  <a:lnTo>
                    <a:pt x="314" y="72"/>
                  </a:lnTo>
                  <a:lnTo>
                    <a:pt x="309" y="78"/>
                  </a:lnTo>
                  <a:lnTo>
                    <a:pt x="315" y="84"/>
                  </a:lnTo>
                  <a:lnTo>
                    <a:pt x="303" y="75"/>
                  </a:lnTo>
                  <a:lnTo>
                    <a:pt x="301" y="78"/>
                  </a:lnTo>
                  <a:lnTo>
                    <a:pt x="290" y="73"/>
                  </a:lnTo>
                  <a:lnTo>
                    <a:pt x="288" y="82"/>
                  </a:lnTo>
                  <a:lnTo>
                    <a:pt x="284" y="82"/>
                  </a:lnTo>
                  <a:lnTo>
                    <a:pt x="282" y="85"/>
                  </a:lnTo>
                  <a:lnTo>
                    <a:pt x="282" y="81"/>
                  </a:lnTo>
                  <a:lnTo>
                    <a:pt x="285" y="70"/>
                  </a:lnTo>
                  <a:lnTo>
                    <a:pt x="270" y="54"/>
                  </a:lnTo>
                  <a:lnTo>
                    <a:pt x="269" y="58"/>
                  </a:lnTo>
                  <a:lnTo>
                    <a:pt x="261" y="60"/>
                  </a:lnTo>
                  <a:lnTo>
                    <a:pt x="260" y="58"/>
                  </a:lnTo>
                  <a:lnTo>
                    <a:pt x="258" y="60"/>
                  </a:lnTo>
                  <a:lnTo>
                    <a:pt x="254" y="60"/>
                  </a:lnTo>
                  <a:lnTo>
                    <a:pt x="251" y="70"/>
                  </a:lnTo>
                  <a:lnTo>
                    <a:pt x="248" y="65"/>
                  </a:lnTo>
                  <a:lnTo>
                    <a:pt x="240" y="73"/>
                  </a:lnTo>
                  <a:lnTo>
                    <a:pt x="241" y="79"/>
                  </a:lnTo>
                  <a:lnTo>
                    <a:pt x="235" y="78"/>
                  </a:lnTo>
                  <a:lnTo>
                    <a:pt x="237" y="87"/>
                  </a:lnTo>
                  <a:lnTo>
                    <a:pt x="230" y="83"/>
                  </a:lnTo>
                  <a:lnTo>
                    <a:pt x="225" y="90"/>
                  </a:lnTo>
                  <a:lnTo>
                    <a:pt x="227" y="91"/>
                  </a:lnTo>
                  <a:lnTo>
                    <a:pt x="229" y="91"/>
                  </a:lnTo>
                  <a:lnTo>
                    <a:pt x="224" y="95"/>
                  </a:lnTo>
                  <a:lnTo>
                    <a:pt x="224" y="100"/>
                  </a:lnTo>
                  <a:lnTo>
                    <a:pt x="228" y="101"/>
                  </a:lnTo>
                  <a:lnTo>
                    <a:pt x="219" y="101"/>
                  </a:lnTo>
                  <a:lnTo>
                    <a:pt x="216" y="101"/>
                  </a:lnTo>
                  <a:lnTo>
                    <a:pt x="212" y="100"/>
                  </a:lnTo>
                  <a:lnTo>
                    <a:pt x="210" y="103"/>
                  </a:lnTo>
                  <a:lnTo>
                    <a:pt x="212" y="112"/>
                  </a:lnTo>
                  <a:lnTo>
                    <a:pt x="209" y="114"/>
                  </a:lnTo>
                  <a:lnTo>
                    <a:pt x="209" y="129"/>
                  </a:lnTo>
                  <a:lnTo>
                    <a:pt x="204" y="115"/>
                  </a:lnTo>
                  <a:lnTo>
                    <a:pt x="199" y="102"/>
                  </a:lnTo>
                  <a:lnTo>
                    <a:pt x="194" y="107"/>
                  </a:lnTo>
                  <a:lnTo>
                    <a:pt x="183" y="121"/>
                  </a:lnTo>
                  <a:lnTo>
                    <a:pt x="183" y="133"/>
                  </a:lnTo>
                  <a:lnTo>
                    <a:pt x="168" y="150"/>
                  </a:lnTo>
                  <a:lnTo>
                    <a:pt x="156" y="157"/>
                  </a:lnTo>
                  <a:lnTo>
                    <a:pt x="144" y="165"/>
                  </a:lnTo>
                  <a:lnTo>
                    <a:pt x="126" y="168"/>
                  </a:lnTo>
                  <a:lnTo>
                    <a:pt x="111" y="173"/>
                  </a:lnTo>
                  <a:lnTo>
                    <a:pt x="97" y="178"/>
                  </a:lnTo>
                  <a:lnTo>
                    <a:pt x="92" y="175"/>
                  </a:lnTo>
                  <a:lnTo>
                    <a:pt x="71" y="190"/>
                  </a:lnTo>
                  <a:lnTo>
                    <a:pt x="50" y="204"/>
                  </a:lnTo>
                  <a:lnTo>
                    <a:pt x="43" y="210"/>
                  </a:lnTo>
                  <a:lnTo>
                    <a:pt x="44" y="199"/>
                  </a:lnTo>
                  <a:lnTo>
                    <a:pt x="37" y="216"/>
                  </a:lnTo>
                  <a:lnTo>
                    <a:pt x="29" y="235"/>
                  </a:lnTo>
                  <a:lnTo>
                    <a:pt x="27" y="251"/>
                  </a:lnTo>
                  <a:lnTo>
                    <a:pt x="29" y="264"/>
                  </a:lnTo>
                  <a:lnTo>
                    <a:pt x="30" y="276"/>
                  </a:lnTo>
                  <a:lnTo>
                    <a:pt x="26" y="280"/>
                  </a:lnTo>
                  <a:lnTo>
                    <a:pt x="26" y="275"/>
                  </a:lnTo>
                  <a:lnTo>
                    <a:pt x="21" y="267"/>
                  </a:lnTo>
                  <a:lnTo>
                    <a:pt x="21" y="285"/>
                  </a:lnTo>
                  <a:lnTo>
                    <a:pt x="18" y="277"/>
                  </a:lnTo>
                  <a:lnTo>
                    <a:pt x="17" y="276"/>
                  </a:lnTo>
                  <a:lnTo>
                    <a:pt x="19" y="293"/>
                  </a:lnTo>
                  <a:lnTo>
                    <a:pt x="21" y="310"/>
                  </a:lnTo>
                  <a:lnTo>
                    <a:pt x="23" y="325"/>
                  </a:lnTo>
                  <a:lnTo>
                    <a:pt x="25" y="341"/>
                  </a:lnTo>
                  <a:lnTo>
                    <a:pt x="24" y="354"/>
                  </a:lnTo>
                  <a:lnTo>
                    <a:pt x="23" y="367"/>
                  </a:lnTo>
                  <a:lnTo>
                    <a:pt x="20" y="381"/>
                  </a:lnTo>
                  <a:lnTo>
                    <a:pt x="19" y="393"/>
                  </a:lnTo>
                  <a:lnTo>
                    <a:pt x="8" y="411"/>
                  </a:lnTo>
                  <a:lnTo>
                    <a:pt x="1" y="413"/>
                  </a:lnTo>
                  <a:lnTo>
                    <a:pt x="0" y="424"/>
                  </a:lnTo>
                  <a:lnTo>
                    <a:pt x="11" y="430"/>
                  </a:lnTo>
                  <a:lnTo>
                    <a:pt x="21" y="437"/>
                  </a:lnTo>
                  <a:lnTo>
                    <a:pt x="41" y="435"/>
                  </a:lnTo>
                  <a:lnTo>
                    <a:pt x="60" y="427"/>
                  </a:lnTo>
                  <a:lnTo>
                    <a:pt x="62" y="425"/>
                  </a:lnTo>
                  <a:lnTo>
                    <a:pt x="72" y="418"/>
                  </a:lnTo>
                  <a:lnTo>
                    <a:pt x="89" y="418"/>
                  </a:lnTo>
                  <a:lnTo>
                    <a:pt x="105" y="418"/>
                  </a:lnTo>
                  <a:lnTo>
                    <a:pt x="127" y="417"/>
                  </a:lnTo>
                  <a:lnTo>
                    <a:pt x="141" y="402"/>
                  </a:lnTo>
                  <a:lnTo>
                    <a:pt x="162" y="395"/>
                  </a:lnTo>
                  <a:lnTo>
                    <a:pt x="181" y="387"/>
                  </a:lnTo>
                  <a:lnTo>
                    <a:pt x="200" y="383"/>
                  </a:lnTo>
                  <a:lnTo>
                    <a:pt x="219" y="379"/>
                  </a:lnTo>
                  <a:lnTo>
                    <a:pt x="239" y="377"/>
                  </a:lnTo>
                  <a:lnTo>
                    <a:pt x="258" y="373"/>
                  </a:lnTo>
                  <a:lnTo>
                    <a:pt x="269" y="377"/>
                  </a:lnTo>
                  <a:lnTo>
                    <a:pt x="290" y="385"/>
                  </a:lnTo>
                  <a:lnTo>
                    <a:pt x="294" y="390"/>
                  </a:lnTo>
                  <a:lnTo>
                    <a:pt x="296" y="395"/>
                  </a:lnTo>
                  <a:lnTo>
                    <a:pt x="299" y="402"/>
                  </a:lnTo>
                  <a:lnTo>
                    <a:pt x="300" y="414"/>
                  </a:lnTo>
                  <a:lnTo>
                    <a:pt x="301" y="426"/>
                  </a:lnTo>
                  <a:lnTo>
                    <a:pt x="299" y="426"/>
                  </a:lnTo>
                  <a:lnTo>
                    <a:pt x="306" y="433"/>
                  </a:lnTo>
                  <a:lnTo>
                    <a:pt x="308" y="431"/>
                  </a:lnTo>
                  <a:lnTo>
                    <a:pt x="326" y="415"/>
                  </a:lnTo>
                  <a:lnTo>
                    <a:pt x="344" y="401"/>
                  </a:lnTo>
                  <a:lnTo>
                    <a:pt x="351" y="393"/>
                  </a:lnTo>
                  <a:lnTo>
                    <a:pt x="348" y="406"/>
                  </a:lnTo>
                  <a:lnTo>
                    <a:pt x="337" y="420"/>
                  </a:lnTo>
                  <a:lnTo>
                    <a:pt x="326" y="435"/>
                  </a:lnTo>
                  <a:lnTo>
                    <a:pt x="319" y="439"/>
                  </a:lnTo>
                  <a:lnTo>
                    <a:pt x="330" y="439"/>
                  </a:lnTo>
                  <a:lnTo>
                    <a:pt x="343" y="423"/>
                  </a:lnTo>
                  <a:lnTo>
                    <a:pt x="347" y="431"/>
                  </a:lnTo>
                  <a:lnTo>
                    <a:pt x="335" y="445"/>
                  </a:lnTo>
                  <a:lnTo>
                    <a:pt x="343" y="445"/>
                  </a:lnTo>
                  <a:lnTo>
                    <a:pt x="347" y="447"/>
                  </a:lnTo>
                  <a:lnTo>
                    <a:pt x="350" y="454"/>
                  </a:lnTo>
                  <a:lnTo>
                    <a:pt x="344" y="471"/>
                  </a:lnTo>
                  <a:lnTo>
                    <a:pt x="345" y="489"/>
                  </a:lnTo>
                  <a:lnTo>
                    <a:pt x="360" y="495"/>
                  </a:lnTo>
                  <a:lnTo>
                    <a:pt x="371" y="499"/>
                  </a:lnTo>
                  <a:lnTo>
                    <a:pt x="381" y="503"/>
                  </a:lnTo>
                  <a:lnTo>
                    <a:pt x="403" y="495"/>
                  </a:lnTo>
                  <a:lnTo>
                    <a:pt x="403" y="492"/>
                  </a:lnTo>
                  <a:lnTo>
                    <a:pt x="413" y="489"/>
                  </a:lnTo>
                  <a:lnTo>
                    <a:pt x="407" y="496"/>
                  </a:lnTo>
                  <a:lnTo>
                    <a:pt x="410" y="497"/>
                  </a:lnTo>
                  <a:lnTo>
                    <a:pt x="416" y="497"/>
                  </a:lnTo>
                  <a:lnTo>
                    <a:pt x="419" y="505"/>
                  </a:lnTo>
                  <a:lnTo>
                    <a:pt x="422" y="508"/>
                  </a:lnTo>
                  <a:lnTo>
                    <a:pt x="426" y="502"/>
                  </a:lnTo>
                  <a:lnTo>
                    <a:pt x="455" y="487"/>
                  </a:lnTo>
                  <a:lnTo>
                    <a:pt x="469" y="486"/>
                  </a:lnTo>
                  <a:lnTo>
                    <a:pt x="488" y="480"/>
                  </a:lnTo>
                  <a:lnTo>
                    <a:pt x="495" y="471"/>
                  </a:lnTo>
                  <a:lnTo>
                    <a:pt x="512" y="453"/>
                  </a:lnTo>
                  <a:lnTo>
                    <a:pt x="529" y="435"/>
                  </a:lnTo>
                  <a:lnTo>
                    <a:pt x="543" y="415"/>
                  </a:lnTo>
                  <a:lnTo>
                    <a:pt x="549" y="409"/>
                  </a:lnTo>
                  <a:lnTo>
                    <a:pt x="567" y="395"/>
                  </a:lnTo>
                  <a:lnTo>
                    <a:pt x="573" y="390"/>
                  </a:lnTo>
                  <a:lnTo>
                    <a:pt x="587" y="375"/>
                  </a:lnTo>
                  <a:lnTo>
                    <a:pt x="599" y="358"/>
                  </a:lnTo>
                  <a:lnTo>
                    <a:pt x="611" y="341"/>
                  </a:lnTo>
                  <a:lnTo>
                    <a:pt x="620" y="324"/>
                  </a:lnTo>
                  <a:lnTo>
                    <a:pt x="621" y="311"/>
                  </a:lnTo>
                  <a:lnTo>
                    <a:pt x="621" y="299"/>
                  </a:lnTo>
                  <a:lnTo>
                    <a:pt x="626" y="285"/>
                  </a:lnTo>
                  <a:lnTo>
                    <a:pt x="630" y="270"/>
                  </a:lnTo>
                  <a:lnTo>
                    <a:pt x="629" y="259"/>
                  </a:lnTo>
                  <a:lnTo>
                    <a:pt x="623" y="250"/>
                  </a:lnTo>
                  <a:lnTo>
                    <a:pt x="617" y="240"/>
                  </a:lnTo>
                  <a:lnTo>
                    <a:pt x="607" y="229"/>
                  </a:lnTo>
                  <a:lnTo>
                    <a:pt x="611" y="208"/>
                  </a:lnTo>
                  <a:lnTo>
                    <a:pt x="608" y="213"/>
                  </a:lnTo>
                  <a:lnTo>
                    <a:pt x="601" y="205"/>
                  </a:lnTo>
                  <a:lnTo>
                    <a:pt x="599" y="213"/>
                  </a:lnTo>
                  <a:lnTo>
                    <a:pt x="594" y="208"/>
                  </a:lnTo>
                  <a:lnTo>
                    <a:pt x="594" y="193"/>
                  </a:lnTo>
                  <a:lnTo>
                    <a:pt x="588" y="179"/>
                  </a:lnTo>
                  <a:lnTo>
                    <a:pt x="590" y="174"/>
                  </a:lnTo>
                  <a:lnTo>
                    <a:pt x="585" y="169"/>
                  </a:lnTo>
                  <a:lnTo>
                    <a:pt x="575" y="157"/>
                  </a:lnTo>
                  <a:lnTo>
                    <a:pt x="557" y="144"/>
                  </a:lnTo>
                  <a:lnTo>
                    <a:pt x="557" y="127"/>
                  </a:lnTo>
                  <a:lnTo>
                    <a:pt x="557" y="111"/>
                  </a:lnTo>
                  <a:lnTo>
                    <a:pt x="553" y="97"/>
                  </a:lnTo>
                  <a:lnTo>
                    <a:pt x="555" y="81"/>
                  </a:lnTo>
                  <a:lnTo>
                    <a:pt x="552" y="73"/>
                  </a:lnTo>
                  <a:lnTo>
                    <a:pt x="543" y="64"/>
                  </a:lnTo>
                  <a:lnTo>
                    <a:pt x="533" y="65"/>
                  </a:lnTo>
                  <a:lnTo>
                    <a:pt x="531" y="53"/>
                  </a:lnTo>
                  <a:lnTo>
                    <a:pt x="530" y="40"/>
                  </a:lnTo>
                  <a:lnTo>
                    <a:pt x="529" y="24"/>
                  </a:lnTo>
                  <a:lnTo>
                    <a:pt x="525" y="13"/>
                  </a:lnTo>
                  <a:lnTo>
                    <a:pt x="522" y="5"/>
                  </a:lnTo>
                  <a:lnTo>
                    <a:pt x="521" y="0"/>
                  </a:lnTo>
                  <a:lnTo>
                    <a:pt x="512" y="16"/>
                  </a:lnTo>
                  <a:lnTo>
                    <a:pt x="509" y="23"/>
                  </a:lnTo>
                  <a:lnTo>
                    <a:pt x="505" y="33"/>
                  </a:lnTo>
                  <a:lnTo>
                    <a:pt x="507" y="34"/>
                  </a:lnTo>
                  <a:lnTo>
                    <a:pt x="507" y="36"/>
                  </a:lnTo>
                  <a:lnTo>
                    <a:pt x="503" y="43"/>
                  </a:lnTo>
                  <a:lnTo>
                    <a:pt x="501" y="51"/>
                  </a:lnTo>
                  <a:lnTo>
                    <a:pt x="499" y="51"/>
                  </a:lnTo>
                  <a:lnTo>
                    <a:pt x="498" y="66"/>
                  </a:lnTo>
                  <a:lnTo>
                    <a:pt x="497" y="81"/>
                  </a:lnTo>
                  <a:lnTo>
                    <a:pt x="485" y="101"/>
                  </a:lnTo>
                  <a:lnTo>
                    <a:pt x="474" y="121"/>
                  </a:lnTo>
                  <a:lnTo>
                    <a:pt x="462" y="124"/>
                  </a:lnTo>
                  <a:lnTo>
                    <a:pt x="451" y="114"/>
                  </a:lnTo>
                  <a:lnTo>
                    <a:pt x="435" y="103"/>
                  </a:lnTo>
                  <a:lnTo>
                    <a:pt x="419" y="93"/>
                  </a:lnTo>
                  <a:lnTo>
                    <a:pt x="410" y="82"/>
                  </a:lnTo>
                  <a:lnTo>
                    <a:pt x="401" y="72"/>
                  </a:lnTo>
                  <a:lnTo>
                    <a:pt x="411" y="54"/>
                  </a:lnTo>
                  <a:lnTo>
                    <a:pt x="416" y="43"/>
                  </a:lnTo>
                  <a:lnTo>
                    <a:pt x="419" y="46"/>
                  </a:lnTo>
                  <a:lnTo>
                    <a:pt x="422" y="40"/>
                  </a:lnTo>
                  <a:lnTo>
                    <a:pt x="429" y="29"/>
                  </a:lnTo>
                  <a:lnTo>
                    <a:pt x="422" y="23"/>
                  </a:lnTo>
                  <a:lnTo>
                    <a:pt x="416" y="31"/>
                  </a:lnTo>
                  <a:lnTo>
                    <a:pt x="415" y="27"/>
                  </a:lnTo>
                  <a:lnTo>
                    <a:pt x="410" y="27"/>
                  </a:lnTo>
                  <a:lnTo>
                    <a:pt x="413" y="23"/>
                  </a:lnTo>
                  <a:lnTo>
                    <a:pt x="398" y="27"/>
                  </a:lnTo>
                  <a:lnTo>
                    <a:pt x="387" y="24"/>
                  </a:lnTo>
                  <a:lnTo>
                    <a:pt x="380" y="19"/>
                  </a:lnTo>
                  <a:lnTo>
                    <a:pt x="369"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3" name="Freeform 182"/>
            <p:cNvSpPr>
              <a:spLocks/>
            </p:cNvSpPr>
            <p:nvPr/>
          </p:nvSpPr>
          <p:spPr bwMode="auto">
            <a:xfrm>
              <a:off x="4860" y="3518"/>
              <a:ext cx="69" cy="56"/>
            </a:xfrm>
            <a:custGeom>
              <a:avLst/>
              <a:gdLst/>
              <a:ahLst/>
              <a:cxnLst>
                <a:cxn ang="0">
                  <a:pos x="25" y="38"/>
                </a:cxn>
                <a:cxn ang="0">
                  <a:pos x="7" y="50"/>
                </a:cxn>
                <a:cxn ang="0">
                  <a:pos x="0" y="46"/>
                </a:cxn>
                <a:cxn ang="0">
                  <a:pos x="1" y="44"/>
                </a:cxn>
                <a:cxn ang="0">
                  <a:pos x="1" y="29"/>
                </a:cxn>
                <a:cxn ang="0">
                  <a:pos x="4" y="26"/>
                </a:cxn>
                <a:cxn ang="0">
                  <a:pos x="5" y="28"/>
                </a:cxn>
                <a:cxn ang="0">
                  <a:pos x="7" y="16"/>
                </a:cxn>
                <a:cxn ang="0">
                  <a:pos x="9" y="2"/>
                </a:cxn>
                <a:cxn ang="0">
                  <a:pos x="13" y="0"/>
                </a:cxn>
                <a:cxn ang="0">
                  <a:pos x="27" y="5"/>
                </a:cxn>
                <a:cxn ang="0">
                  <a:pos x="40" y="11"/>
                </a:cxn>
                <a:cxn ang="0">
                  <a:pos x="43" y="4"/>
                </a:cxn>
                <a:cxn ang="0">
                  <a:pos x="63" y="2"/>
                </a:cxn>
                <a:cxn ang="0">
                  <a:pos x="48" y="25"/>
                </a:cxn>
                <a:cxn ang="0">
                  <a:pos x="46" y="24"/>
                </a:cxn>
                <a:cxn ang="0">
                  <a:pos x="28" y="43"/>
                </a:cxn>
                <a:cxn ang="0">
                  <a:pos x="30" y="40"/>
                </a:cxn>
                <a:cxn ang="0">
                  <a:pos x="27" y="40"/>
                </a:cxn>
                <a:cxn ang="0">
                  <a:pos x="25" y="38"/>
                </a:cxn>
              </a:cxnLst>
              <a:rect l="0" t="0" r="r" b="b"/>
              <a:pathLst>
                <a:path w="63" h="50">
                  <a:moveTo>
                    <a:pt x="25" y="38"/>
                  </a:moveTo>
                  <a:lnTo>
                    <a:pt x="7" y="50"/>
                  </a:lnTo>
                  <a:lnTo>
                    <a:pt x="0" y="46"/>
                  </a:lnTo>
                  <a:lnTo>
                    <a:pt x="1" y="44"/>
                  </a:lnTo>
                  <a:lnTo>
                    <a:pt x="1" y="29"/>
                  </a:lnTo>
                  <a:lnTo>
                    <a:pt x="4" y="26"/>
                  </a:lnTo>
                  <a:lnTo>
                    <a:pt x="5" y="28"/>
                  </a:lnTo>
                  <a:lnTo>
                    <a:pt x="7" y="16"/>
                  </a:lnTo>
                  <a:lnTo>
                    <a:pt x="9" y="2"/>
                  </a:lnTo>
                  <a:lnTo>
                    <a:pt x="13" y="0"/>
                  </a:lnTo>
                  <a:lnTo>
                    <a:pt x="27" y="5"/>
                  </a:lnTo>
                  <a:lnTo>
                    <a:pt x="40" y="11"/>
                  </a:lnTo>
                  <a:lnTo>
                    <a:pt x="43" y="4"/>
                  </a:lnTo>
                  <a:lnTo>
                    <a:pt x="63" y="2"/>
                  </a:lnTo>
                  <a:lnTo>
                    <a:pt x="48" y="25"/>
                  </a:lnTo>
                  <a:lnTo>
                    <a:pt x="46" y="24"/>
                  </a:lnTo>
                  <a:lnTo>
                    <a:pt x="28" y="43"/>
                  </a:lnTo>
                  <a:lnTo>
                    <a:pt x="30" y="40"/>
                  </a:lnTo>
                  <a:lnTo>
                    <a:pt x="27" y="40"/>
                  </a:lnTo>
                  <a:lnTo>
                    <a:pt x="25"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4" name="Freeform 183"/>
            <p:cNvSpPr>
              <a:spLocks/>
            </p:cNvSpPr>
            <p:nvPr/>
          </p:nvSpPr>
          <p:spPr bwMode="auto">
            <a:xfrm>
              <a:off x="5613" y="3052"/>
              <a:ext cx="22" cy="15"/>
            </a:xfrm>
            <a:custGeom>
              <a:avLst/>
              <a:gdLst/>
              <a:ahLst/>
              <a:cxnLst>
                <a:cxn ang="0">
                  <a:pos x="21" y="13"/>
                </a:cxn>
                <a:cxn ang="0">
                  <a:pos x="0" y="14"/>
                </a:cxn>
                <a:cxn ang="0">
                  <a:pos x="1" y="7"/>
                </a:cxn>
                <a:cxn ang="0">
                  <a:pos x="16" y="0"/>
                </a:cxn>
                <a:cxn ang="0">
                  <a:pos x="21" y="12"/>
                </a:cxn>
                <a:cxn ang="0">
                  <a:pos x="21" y="13"/>
                </a:cxn>
              </a:cxnLst>
              <a:rect l="0" t="0" r="r" b="b"/>
              <a:pathLst>
                <a:path w="21" h="14">
                  <a:moveTo>
                    <a:pt x="21" y="13"/>
                  </a:moveTo>
                  <a:lnTo>
                    <a:pt x="0" y="14"/>
                  </a:lnTo>
                  <a:lnTo>
                    <a:pt x="1" y="7"/>
                  </a:lnTo>
                  <a:lnTo>
                    <a:pt x="16" y="0"/>
                  </a:lnTo>
                  <a:lnTo>
                    <a:pt x="21" y="12"/>
                  </a:lnTo>
                  <a:lnTo>
                    <a:pt x="21"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5" name="Freeform 184"/>
            <p:cNvSpPr>
              <a:spLocks/>
            </p:cNvSpPr>
            <p:nvPr/>
          </p:nvSpPr>
          <p:spPr bwMode="auto">
            <a:xfrm>
              <a:off x="5640" y="3030"/>
              <a:ext cx="24" cy="13"/>
            </a:xfrm>
            <a:custGeom>
              <a:avLst/>
              <a:gdLst/>
              <a:ahLst/>
              <a:cxnLst>
                <a:cxn ang="0">
                  <a:pos x="16" y="8"/>
                </a:cxn>
                <a:cxn ang="0">
                  <a:pos x="22" y="0"/>
                </a:cxn>
                <a:cxn ang="0">
                  <a:pos x="0" y="7"/>
                </a:cxn>
                <a:cxn ang="0">
                  <a:pos x="0" y="12"/>
                </a:cxn>
                <a:cxn ang="0">
                  <a:pos x="16" y="8"/>
                </a:cxn>
              </a:cxnLst>
              <a:rect l="0" t="0" r="r" b="b"/>
              <a:pathLst>
                <a:path w="22" h="12">
                  <a:moveTo>
                    <a:pt x="16" y="8"/>
                  </a:moveTo>
                  <a:lnTo>
                    <a:pt x="22" y="0"/>
                  </a:lnTo>
                  <a:lnTo>
                    <a:pt x="0" y="7"/>
                  </a:lnTo>
                  <a:lnTo>
                    <a:pt x="0" y="12"/>
                  </a:lnTo>
                  <a:lnTo>
                    <a:pt x="16" y="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6" name="Freeform 185"/>
            <p:cNvSpPr>
              <a:spLocks/>
            </p:cNvSpPr>
            <p:nvPr/>
          </p:nvSpPr>
          <p:spPr bwMode="auto">
            <a:xfrm>
              <a:off x="5373" y="3107"/>
              <a:ext cx="38" cy="43"/>
            </a:xfrm>
            <a:custGeom>
              <a:avLst/>
              <a:gdLst/>
              <a:ahLst/>
              <a:cxnLst>
                <a:cxn ang="0">
                  <a:pos x="35" y="38"/>
                </a:cxn>
                <a:cxn ang="0">
                  <a:pos x="27" y="36"/>
                </a:cxn>
                <a:cxn ang="0">
                  <a:pos x="13" y="24"/>
                </a:cxn>
                <a:cxn ang="0">
                  <a:pos x="1" y="11"/>
                </a:cxn>
                <a:cxn ang="0">
                  <a:pos x="0" y="0"/>
                </a:cxn>
                <a:cxn ang="0">
                  <a:pos x="9" y="10"/>
                </a:cxn>
                <a:cxn ang="0">
                  <a:pos x="18" y="18"/>
                </a:cxn>
                <a:cxn ang="0">
                  <a:pos x="27" y="28"/>
                </a:cxn>
                <a:cxn ang="0">
                  <a:pos x="35" y="38"/>
                </a:cxn>
              </a:cxnLst>
              <a:rect l="0" t="0" r="r" b="b"/>
              <a:pathLst>
                <a:path w="35" h="38">
                  <a:moveTo>
                    <a:pt x="35" y="38"/>
                  </a:moveTo>
                  <a:lnTo>
                    <a:pt x="27" y="36"/>
                  </a:lnTo>
                  <a:lnTo>
                    <a:pt x="13" y="24"/>
                  </a:lnTo>
                  <a:lnTo>
                    <a:pt x="1" y="11"/>
                  </a:lnTo>
                  <a:lnTo>
                    <a:pt x="0" y="0"/>
                  </a:lnTo>
                  <a:lnTo>
                    <a:pt x="9" y="10"/>
                  </a:lnTo>
                  <a:lnTo>
                    <a:pt x="18" y="18"/>
                  </a:lnTo>
                  <a:lnTo>
                    <a:pt x="27" y="28"/>
                  </a:lnTo>
                  <a:lnTo>
                    <a:pt x="35"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7" name="Freeform 186"/>
            <p:cNvSpPr>
              <a:spLocks/>
            </p:cNvSpPr>
            <p:nvPr/>
          </p:nvSpPr>
          <p:spPr bwMode="auto">
            <a:xfrm>
              <a:off x="5146" y="3514"/>
              <a:ext cx="198" cy="120"/>
            </a:xfrm>
            <a:custGeom>
              <a:avLst/>
              <a:gdLst/>
              <a:ahLst/>
              <a:cxnLst>
                <a:cxn ang="0">
                  <a:pos x="117" y="59"/>
                </a:cxn>
                <a:cxn ang="0">
                  <a:pos x="111" y="48"/>
                </a:cxn>
                <a:cxn ang="0">
                  <a:pos x="109" y="48"/>
                </a:cxn>
                <a:cxn ang="0">
                  <a:pos x="105" y="51"/>
                </a:cxn>
                <a:cxn ang="0">
                  <a:pos x="111" y="60"/>
                </a:cxn>
                <a:cxn ang="0">
                  <a:pos x="99" y="64"/>
                </a:cxn>
                <a:cxn ang="0">
                  <a:pos x="90" y="65"/>
                </a:cxn>
                <a:cxn ang="0">
                  <a:pos x="88" y="72"/>
                </a:cxn>
                <a:cxn ang="0">
                  <a:pos x="82" y="78"/>
                </a:cxn>
                <a:cxn ang="0">
                  <a:pos x="82" y="79"/>
                </a:cxn>
                <a:cxn ang="0">
                  <a:pos x="61" y="95"/>
                </a:cxn>
                <a:cxn ang="0">
                  <a:pos x="27" y="109"/>
                </a:cxn>
                <a:cxn ang="0">
                  <a:pos x="19" y="106"/>
                </a:cxn>
                <a:cxn ang="0">
                  <a:pos x="6" y="102"/>
                </a:cxn>
                <a:cxn ang="0">
                  <a:pos x="1" y="100"/>
                </a:cxn>
                <a:cxn ang="0">
                  <a:pos x="3" y="99"/>
                </a:cxn>
                <a:cxn ang="0">
                  <a:pos x="0" y="97"/>
                </a:cxn>
                <a:cxn ang="0">
                  <a:pos x="9" y="91"/>
                </a:cxn>
                <a:cxn ang="0">
                  <a:pos x="12" y="89"/>
                </a:cxn>
                <a:cxn ang="0">
                  <a:pos x="17" y="85"/>
                </a:cxn>
                <a:cxn ang="0">
                  <a:pos x="18" y="87"/>
                </a:cxn>
                <a:cxn ang="0">
                  <a:pos x="24" y="79"/>
                </a:cxn>
                <a:cxn ang="0">
                  <a:pos x="30" y="77"/>
                </a:cxn>
                <a:cxn ang="0">
                  <a:pos x="40" y="73"/>
                </a:cxn>
                <a:cxn ang="0">
                  <a:pos x="59" y="63"/>
                </a:cxn>
                <a:cxn ang="0">
                  <a:pos x="67" y="60"/>
                </a:cxn>
                <a:cxn ang="0">
                  <a:pos x="95" y="47"/>
                </a:cxn>
                <a:cxn ang="0">
                  <a:pos x="108" y="41"/>
                </a:cxn>
                <a:cxn ang="0">
                  <a:pos x="125" y="31"/>
                </a:cxn>
                <a:cxn ang="0">
                  <a:pos x="120" y="31"/>
                </a:cxn>
                <a:cxn ang="0">
                  <a:pos x="132" y="23"/>
                </a:cxn>
                <a:cxn ang="0">
                  <a:pos x="162" y="3"/>
                </a:cxn>
                <a:cxn ang="0">
                  <a:pos x="169" y="0"/>
                </a:cxn>
                <a:cxn ang="0">
                  <a:pos x="162" y="4"/>
                </a:cxn>
                <a:cxn ang="0">
                  <a:pos x="161" y="12"/>
                </a:cxn>
                <a:cxn ang="0">
                  <a:pos x="175" y="7"/>
                </a:cxn>
                <a:cxn ang="0">
                  <a:pos x="173" y="11"/>
                </a:cxn>
                <a:cxn ang="0">
                  <a:pos x="175" y="12"/>
                </a:cxn>
                <a:cxn ang="0">
                  <a:pos x="174" y="13"/>
                </a:cxn>
                <a:cxn ang="0">
                  <a:pos x="179" y="12"/>
                </a:cxn>
                <a:cxn ang="0">
                  <a:pos x="171" y="21"/>
                </a:cxn>
                <a:cxn ang="0">
                  <a:pos x="151" y="34"/>
                </a:cxn>
                <a:cxn ang="0">
                  <a:pos x="132" y="46"/>
                </a:cxn>
                <a:cxn ang="0">
                  <a:pos x="124" y="49"/>
                </a:cxn>
                <a:cxn ang="0">
                  <a:pos x="123" y="52"/>
                </a:cxn>
                <a:cxn ang="0">
                  <a:pos x="117" y="52"/>
                </a:cxn>
                <a:cxn ang="0">
                  <a:pos x="123" y="55"/>
                </a:cxn>
                <a:cxn ang="0">
                  <a:pos x="124" y="60"/>
                </a:cxn>
                <a:cxn ang="0">
                  <a:pos x="117" y="59"/>
                </a:cxn>
              </a:cxnLst>
              <a:rect l="0" t="0" r="r" b="b"/>
              <a:pathLst>
                <a:path w="179" h="109">
                  <a:moveTo>
                    <a:pt x="117" y="59"/>
                  </a:moveTo>
                  <a:lnTo>
                    <a:pt x="111" y="48"/>
                  </a:lnTo>
                  <a:lnTo>
                    <a:pt x="109" y="48"/>
                  </a:lnTo>
                  <a:lnTo>
                    <a:pt x="105" y="51"/>
                  </a:lnTo>
                  <a:lnTo>
                    <a:pt x="111" y="60"/>
                  </a:lnTo>
                  <a:lnTo>
                    <a:pt x="99" y="64"/>
                  </a:lnTo>
                  <a:lnTo>
                    <a:pt x="90" y="65"/>
                  </a:lnTo>
                  <a:lnTo>
                    <a:pt x="88" y="72"/>
                  </a:lnTo>
                  <a:lnTo>
                    <a:pt x="82" y="78"/>
                  </a:lnTo>
                  <a:lnTo>
                    <a:pt x="82" y="79"/>
                  </a:lnTo>
                  <a:lnTo>
                    <a:pt x="61" y="95"/>
                  </a:lnTo>
                  <a:lnTo>
                    <a:pt x="27" y="109"/>
                  </a:lnTo>
                  <a:lnTo>
                    <a:pt x="19" y="106"/>
                  </a:lnTo>
                  <a:lnTo>
                    <a:pt x="6" y="102"/>
                  </a:lnTo>
                  <a:lnTo>
                    <a:pt x="1" y="100"/>
                  </a:lnTo>
                  <a:lnTo>
                    <a:pt x="3" y="99"/>
                  </a:lnTo>
                  <a:lnTo>
                    <a:pt x="0" y="97"/>
                  </a:lnTo>
                  <a:lnTo>
                    <a:pt x="9" y="91"/>
                  </a:lnTo>
                  <a:lnTo>
                    <a:pt x="12" y="89"/>
                  </a:lnTo>
                  <a:lnTo>
                    <a:pt x="17" y="85"/>
                  </a:lnTo>
                  <a:lnTo>
                    <a:pt x="18" y="87"/>
                  </a:lnTo>
                  <a:lnTo>
                    <a:pt x="24" y="79"/>
                  </a:lnTo>
                  <a:lnTo>
                    <a:pt x="30" y="77"/>
                  </a:lnTo>
                  <a:lnTo>
                    <a:pt x="40" y="73"/>
                  </a:lnTo>
                  <a:lnTo>
                    <a:pt x="59" y="63"/>
                  </a:lnTo>
                  <a:lnTo>
                    <a:pt x="67" y="60"/>
                  </a:lnTo>
                  <a:lnTo>
                    <a:pt x="95" y="47"/>
                  </a:lnTo>
                  <a:lnTo>
                    <a:pt x="108" y="41"/>
                  </a:lnTo>
                  <a:lnTo>
                    <a:pt x="125" y="31"/>
                  </a:lnTo>
                  <a:lnTo>
                    <a:pt x="120" y="31"/>
                  </a:lnTo>
                  <a:lnTo>
                    <a:pt x="132" y="23"/>
                  </a:lnTo>
                  <a:lnTo>
                    <a:pt x="162" y="3"/>
                  </a:lnTo>
                  <a:lnTo>
                    <a:pt x="169" y="0"/>
                  </a:lnTo>
                  <a:lnTo>
                    <a:pt x="162" y="4"/>
                  </a:lnTo>
                  <a:lnTo>
                    <a:pt x="161" y="12"/>
                  </a:lnTo>
                  <a:lnTo>
                    <a:pt x="175" y="7"/>
                  </a:lnTo>
                  <a:lnTo>
                    <a:pt x="173" y="11"/>
                  </a:lnTo>
                  <a:lnTo>
                    <a:pt x="175" y="12"/>
                  </a:lnTo>
                  <a:lnTo>
                    <a:pt x="174" y="13"/>
                  </a:lnTo>
                  <a:lnTo>
                    <a:pt x="179" y="12"/>
                  </a:lnTo>
                  <a:lnTo>
                    <a:pt x="171" y="21"/>
                  </a:lnTo>
                  <a:lnTo>
                    <a:pt x="151" y="34"/>
                  </a:lnTo>
                  <a:lnTo>
                    <a:pt x="132" y="46"/>
                  </a:lnTo>
                  <a:lnTo>
                    <a:pt x="124" y="49"/>
                  </a:lnTo>
                  <a:lnTo>
                    <a:pt x="123" y="52"/>
                  </a:lnTo>
                  <a:lnTo>
                    <a:pt x="117" y="52"/>
                  </a:lnTo>
                  <a:lnTo>
                    <a:pt x="123" y="55"/>
                  </a:lnTo>
                  <a:lnTo>
                    <a:pt x="124" y="60"/>
                  </a:lnTo>
                  <a:lnTo>
                    <a:pt x="117" y="5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8" name="Freeform 187"/>
            <p:cNvSpPr>
              <a:spLocks/>
            </p:cNvSpPr>
            <p:nvPr/>
          </p:nvSpPr>
          <p:spPr bwMode="auto">
            <a:xfrm>
              <a:off x="5348" y="3394"/>
              <a:ext cx="114" cy="140"/>
            </a:xfrm>
            <a:custGeom>
              <a:avLst/>
              <a:gdLst/>
              <a:ahLst/>
              <a:cxnLst>
                <a:cxn ang="0">
                  <a:pos x="12" y="85"/>
                </a:cxn>
                <a:cxn ang="0">
                  <a:pos x="18" y="94"/>
                </a:cxn>
                <a:cxn ang="0">
                  <a:pos x="23" y="102"/>
                </a:cxn>
                <a:cxn ang="0">
                  <a:pos x="0" y="123"/>
                </a:cxn>
                <a:cxn ang="0">
                  <a:pos x="3" y="127"/>
                </a:cxn>
                <a:cxn ang="0">
                  <a:pos x="25" y="114"/>
                </a:cxn>
                <a:cxn ang="0">
                  <a:pos x="48" y="101"/>
                </a:cxn>
                <a:cxn ang="0">
                  <a:pos x="59" y="88"/>
                </a:cxn>
                <a:cxn ang="0">
                  <a:pos x="74" y="83"/>
                </a:cxn>
                <a:cxn ang="0">
                  <a:pos x="81" y="76"/>
                </a:cxn>
                <a:cxn ang="0">
                  <a:pos x="102" y="58"/>
                </a:cxn>
                <a:cxn ang="0">
                  <a:pos x="99" y="57"/>
                </a:cxn>
                <a:cxn ang="0">
                  <a:pos x="83" y="63"/>
                </a:cxn>
                <a:cxn ang="0">
                  <a:pos x="66" y="54"/>
                </a:cxn>
                <a:cxn ang="0">
                  <a:pos x="71" y="36"/>
                </a:cxn>
                <a:cxn ang="0">
                  <a:pos x="65" y="47"/>
                </a:cxn>
                <a:cxn ang="0">
                  <a:pos x="56" y="42"/>
                </a:cxn>
                <a:cxn ang="0">
                  <a:pos x="59" y="36"/>
                </a:cxn>
                <a:cxn ang="0">
                  <a:pos x="63" y="23"/>
                </a:cxn>
                <a:cxn ang="0">
                  <a:pos x="67" y="16"/>
                </a:cxn>
                <a:cxn ang="0">
                  <a:pos x="65" y="16"/>
                </a:cxn>
                <a:cxn ang="0">
                  <a:pos x="57" y="7"/>
                </a:cxn>
                <a:cxn ang="0">
                  <a:pos x="54" y="1"/>
                </a:cxn>
                <a:cxn ang="0">
                  <a:pos x="54" y="0"/>
                </a:cxn>
                <a:cxn ang="0">
                  <a:pos x="51" y="12"/>
                </a:cxn>
                <a:cxn ang="0">
                  <a:pos x="54" y="17"/>
                </a:cxn>
                <a:cxn ang="0">
                  <a:pos x="50" y="34"/>
                </a:cxn>
                <a:cxn ang="0">
                  <a:pos x="53" y="27"/>
                </a:cxn>
                <a:cxn ang="0">
                  <a:pos x="55" y="30"/>
                </a:cxn>
                <a:cxn ang="0">
                  <a:pos x="55" y="33"/>
                </a:cxn>
                <a:cxn ang="0">
                  <a:pos x="53" y="37"/>
                </a:cxn>
                <a:cxn ang="0">
                  <a:pos x="49" y="46"/>
                </a:cxn>
                <a:cxn ang="0">
                  <a:pos x="55" y="45"/>
                </a:cxn>
                <a:cxn ang="0">
                  <a:pos x="51" y="48"/>
                </a:cxn>
                <a:cxn ang="0">
                  <a:pos x="47" y="57"/>
                </a:cxn>
                <a:cxn ang="0">
                  <a:pos x="32" y="76"/>
                </a:cxn>
                <a:cxn ang="0">
                  <a:pos x="12" y="85"/>
                </a:cxn>
              </a:cxnLst>
              <a:rect l="0" t="0" r="r" b="b"/>
              <a:pathLst>
                <a:path w="102" h="127">
                  <a:moveTo>
                    <a:pt x="12" y="85"/>
                  </a:moveTo>
                  <a:lnTo>
                    <a:pt x="18" y="94"/>
                  </a:lnTo>
                  <a:lnTo>
                    <a:pt x="23" y="102"/>
                  </a:lnTo>
                  <a:lnTo>
                    <a:pt x="0" y="123"/>
                  </a:lnTo>
                  <a:lnTo>
                    <a:pt x="3" y="127"/>
                  </a:lnTo>
                  <a:lnTo>
                    <a:pt x="25" y="114"/>
                  </a:lnTo>
                  <a:lnTo>
                    <a:pt x="48" y="101"/>
                  </a:lnTo>
                  <a:lnTo>
                    <a:pt x="59" y="88"/>
                  </a:lnTo>
                  <a:lnTo>
                    <a:pt x="74" y="83"/>
                  </a:lnTo>
                  <a:lnTo>
                    <a:pt x="81" y="76"/>
                  </a:lnTo>
                  <a:lnTo>
                    <a:pt x="102" y="58"/>
                  </a:lnTo>
                  <a:lnTo>
                    <a:pt x="99" y="57"/>
                  </a:lnTo>
                  <a:lnTo>
                    <a:pt x="83" y="63"/>
                  </a:lnTo>
                  <a:lnTo>
                    <a:pt x="66" y="54"/>
                  </a:lnTo>
                  <a:lnTo>
                    <a:pt x="71" y="36"/>
                  </a:lnTo>
                  <a:lnTo>
                    <a:pt x="65" y="47"/>
                  </a:lnTo>
                  <a:lnTo>
                    <a:pt x="56" y="42"/>
                  </a:lnTo>
                  <a:lnTo>
                    <a:pt x="59" y="36"/>
                  </a:lnTo>
                  <a:lnTo>
                    <a:pt x="63" y="23"/>
                  </a:lnTo>
                  <a:lnTo>
                    <a:pt x="67" y="16"/>
                  </a:lnTo>
                  <a:lnTo>
                    <a:pt x="65" y="16"/>
                  </a:lnTo>
                  <a:lnTo>
                    <a:pt x="57" y="7"/>
                  </a:lnTo>
                  <a:lnTo>
                    <a:pt x="54" y="1"/>
                  </a:lnTo>
                  <a:lnTo>
                    <a:pt x="54" y="0"/>
                  </a:lnTo>
                  <a:lnTo>
                    <a:pt x="51" y="12"/>
                  </a:lnTo>
                  <a:lnTo>
                    <a:pt x="54" y="17"/>
                  </a:lnTo>
                  <a:lnTo>
                    <a:pt x="50" y="34"/>
                  </a:lnTo>
                  <a:lnTo>
                    <a:pt x="53" y="27"/>
                  </a:lnTo>
                  <a:lnTo>
                    <a:pt x="55" y="30"/>
                  </a:lnTo>
                  <a:lnTo>
                    <a:pt x="55" y="33"/>
                  </a:lnTo>
                  <a:lnTo>
                    <a:pt x="53" y="37"/>
                  </a:lnTo>
                  <a:lnTo>
                    <a:pt x="49" y="46"/>
                  </a:lnTo>
                  <a:lnTo>
                    <a:pt x="55" y="45"/>
                  </a:lnTo>
                  <a:lnTo>
                    <a:pt x="51" y="48"/>
                  </a:lnTo>
                  <a:lnTo>
                    <a:pt x="47" y="57"/>
                  </a:lnTo>
                  <a:lnTo>
                    <a:pt x="32" y="76"/>
                  </a:lnTo>
                  <a:lnTo>
                    <a:pt x="12" y="8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9" name="Freeform 188"/>
            <p:cNvSpPr>
              <a:spLocks/>
            </p:cNvSpPr>
            <p:nvPr/>
          </p:nvSpPr>
          <p:spPr bwMode="auto">
            <a:xfrm>
              <a:off x="5144" y="3636"/>
              <a:ext cx="11" cy="7"/>
            </a:xfrm>
            <a:custGeom>
              <a:avLst/>
              <a:gdLst/>
              <a:ahLst/>
              <a:cxnLst>
                <a:cxn ang="0">
                  <a:pos x="11" y="3"/>
                </a:cxn>
                <a:cxn ang="0">
                  <a:pos x="11" y="1"/>
                </a:cxn>
                <a:cxn ang="0">
                  <a:pos x="6" y="0"/>
                </a:cxn>
                <a:cxn ang="0">
                  <a:pos x="0" y="6"/>
                </a:cxn>
                <a:cxn ang="0">
                  <a:pos x="11" y="3"/>
                </a:cxn>
              </a:cxnLst>
              <a:rect l="0" t="0" r="r" b="b"/>
              <a:pathLst>
                <a:path w="11" h="6">
                  <a:moveTo>
                    <a:pt x="11" y="3"/>
                  </a:moveTo>
                  <a:lnTo>
                    <a:pt x="11" y="1"/>
                  </a:lnTo>
                  <a:lnTo>
                    <a:pt x="6" y="0"/>
                  </a:lnTo>
                  <a:lnTo>
                    <a:pt x="0" y="6"/>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0" name="Freeform 189"/>
            <p:cNvSpPr>
              <a:spLocks/>
            </p:cNvSpPr>
            <p:nvPr/>
          </p:nvSpPr>
          <p:spPr bwMode="auto">
            <a:xfrm>
              <a:off x="5333" y="2890"/>
              <a:ext cx="20" cy="13"/>
            </a:xfrm>
            <a:custGeom>
              <a:avLst/>
              <a:gdLst/>
              <a:ahLst/>
              <a:cxnLst>
                <a:cxn ang="0">
                  <a:pos x="17" y="11"/>
                </a:cxn>
                <a:cxn ang="0">
                  <a:pos x="18" y="9"/>
                </a:cxn>
                <a:cxn ang="0">
                  <a:pos x="3" y="0"/>
                </a:cxn>
                <a:cxn ang="0">
                  <a:pos x="0" y="5"/>
                </a:cxn>
                <a:cxn ang="0">
                  <a:pos x="17" y="11"/>
                </a:cxn>
              </a:cxnLst>
              <a:rect l="0" t="0" r="r" b="b"/>
              <a:pathLst>
                <a:path w="18" h="11">
                  <a:moveTo>
                    <a:pt x="17" y="11"/>
                  </a:moveTo>
                  <a:lnTo>
                    <a:pt x="18" y="9"/>
                  </a:lnTo>
                  <a:lnTo>
                    <a:pt x="3" y="0"/>
                  </a:lnTo>
                  <a:lnTo>
                    <a:pt x="0" y="5"/>
                  </a:lnTo>
                  <a:lnTo>
                    <a:pt x="17"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1" name="Freeform 190"/>
            <p:cNvSpPr>
              <a:spLocks/>
            </p:cNvSpPr>
            <p:nvPr/>
          </p:nvSpPr>
          <p:spPr bwMode="auto">
            <a:xfrm>
              <a:off x="5284" y="2839"/>
              <a:ext cx="16" cy="15"/>
            </a:xfrm>
            <a:custGeom>
              <a:avLst/>
              <a:gdLst/>
              <a:ahLst/>
              <a:cxnLst>
                <a:cxn ang="0">
                  <a:pos x="0" y="0"/>
                </a:cxn>
                <a:cxn ang="0">
                  <a:pos x="14" y="13"/>
                </a:cxn>
                <a:cxn ang="0">
                  <a:pos x="5" y="10"/>
                </a:cxn>
                <a:cxn ang="0">
                  <a:pos x="0" y="0"/>
                </a:cxn>
              </a:cxnLst>
              <a:rect l="0" t="0" r="r" b="b"/>
              <a:pathLst>
                <a:path w="14" h="13">
                  <a:moveTo>
                    <a:pt x="0" y="0"/>
                  </a:moveTo>
                  <a:lnTo>
                    <a:pt x="14" y="13"/>
                  </a:lnTo>
                  <a:lnTo>
                    <a:pt x="5" y="10"/>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2" name="Freeform 191"/>
            <p:cNvSpPr>
              <a:spLocks/>
            </p:cNvSpPr>
            <p:nvPr/>
          </p:nvSpPr>
          <p:spPr bwMode="auto">
            <a:xfrm>
              <a:off x="5362" y="2910"/>
              <a:ext cx="13" cy="11"/>
            </a:xfrm>
            <a:custGeom>
              <a:avLst/>
              <a:gdLst/>
              <a:ahLst/>
              <a:cxnLst>
                <a:cxn ang="0">
                  <a:pos x="13" y="10"/>
                </a:cxn>
                <a:cxn ang="0">
                  <a:pos x="1" y="3"/>
                </a:cxn>
                <a:cxn ang="0">
                  <a:pos x="0" y="0"/>
                </a:cxn>
                <a:cxn ang="0">
                  <a:pos x="13" y="8"/>
                </a:cxn>
                <a:cxn ang="0">
                  <a:pos x="13" y="10"/>
                </a:cxn>
              </a:cxnLst>
              <a:rect l="0" t="0" r="r" b="b"/>
              <a:pathLst>
                <a:path w="13" h="10">
                  <a:moveTo>
                    <a:pt x="13" y="10"/>
                  </a:moveTo>
                  <a:lnTo>
                    <a:pt x="1" y="3"/>
                  </a:lnTo>
                  <a:lnTo>
                    <a:pt x="0" y="0"/>
                  </a:lnTo>
                  <a:lnTo>
                    <a:pt x="13" y="8"/>
                  </a:lnTo>
                  <a:lnTo>
                    <a:pt x="13"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3" name="Freeform 192"/>
            <p:cNvSpPr>
              <a:spLocks/>
            </p:cNvSpPr>
            <p:nvPr/>
          </p:nvSpPr>
          <p:spPr bwMode="auto">
            <a:xfrm>
              <a:off x="5295" y="2865"/>
              <a:ext cx="9" cy="11"/>
            </a:xfrm>
            <a:custGeom>
              <a:avLst/>
              <a:gdLst/>
              <a:ahLst/>
              <a:cxnLst>
                <a:cxn ang="0">
                  <a:pos x="8" y="10"/>
                </a:cxn>
                <a:cxn ang="0">
                  <a:pos x="4" y="0"/>
                </a:cxn>
                <a:cxn ang="0">
                  <a:pos x="0" y="4"/>
                </a:cxn>
                <a:cxn ang="0">
                  <a:pos x="3" y="4"/>
                </a:cxn>
                <a:cxn ang="0">
                  <a:pos x="8" y="10"/>
                </a:cxn>
              </a:cxnLst>
              <a:rect l="0" t="0" r="r" b="b"/>
              <a:pathLst>
                <a:path w="8" h="10">
                  <a:moveTo>
                    <a:pt x="8" y="10"/>
                  </a:moveTo>
                  <a:lnTo>
                    <a:pt x="4" y="0"/>
                  </a:lnTo>
                  <a:lnTo>
                    <a:pt x="0" y="4"/>
                  </a:lnTo>
                  <a:lnTo>
                    <a:pt x="3" y="4"/>
                  </a:lnTo>
                  <a:lnTo>
                    <a:pt x="8"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4" name="Freeform 193"/>
            <p:cNvSpPr>
              <a:spLocks/>
            </p:cNvSpPr>
            <p:nvPr/>
          </p:nvSpPr>
          <p:spPr bwMode="auto">
            <a:xfrm>
              <a:off x="5353" y="2870"/>
              <a:ext cx="9" cy="26"/>
            </a:xfrm>
            <a:custGeom>
              <a:avLst/>
              <a:gdLst/>
              <a:ahLst/>
              <a:cxnLst>
                <a:cxn ang="0">
                  <a:pos x="2" y="0"/>
                </a:cxn>
                <a:cxn ang="0">
                  <a:pos x="9" y="23"/>
                </a:cxn>
                <a:cxn ang="0">
                  <a:pos x="0" y="5"/>
                </a:cxn>
                <a:cxn ang="0">
                  <a:pos x="2" y="0"/>
                </a:cxn>
              </a:cxnLst>
              <a:rect l="0" t="0" r="r" b="b"/>
              <a:pathLst>
                <a:path w="9" h="23">
                  <a:moveTo>
                    <a:pt x="2" y="0"/>
                  </a:moveTo>
                  <a:lnTo>
                    <a:pt x="9" y="23"/>
                  </a:lnTo>
                  <a:lnTo>
                    <a:pt x="0" y="5"/>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5" name="Freeform 194"/>
            <p:cNvSpPr>
              <a:spLocks/>
            </p:cNvSpPr>
            <p:nvPr/>
          </p:nvSpPr>
          <p:spPr bwMode="auto">
            <a:xfrm>
              <a:off x="5320" y="2856"/>
              <a:ext cx="20" cy="20"/>
            </a:xfrm>
            <a:custGeom>
              <a:avLst/>
              <a:gdLst/>
              <a:ahLst/>
              <a:cxnLst>
                <a:cxn ang="0">
                  <a:pos x="17" y="18"/>
                </a:cxn>
                <a:cxn ang="0">
                  <a:pos x="19" y="18"/>
                </a:cxn>
                <a:cxn ang="0">
                  <a:pos x="10" y="9"/>
                </a:cxn>
                <a:cxn ang="0">
                  <a:pos x="0" y="0"/>
                </a:cxn>
                <a:cxn ang="0">
                  <a:pos x="9" y="9"/>
                </a:cxn>
                <a:cxn ang="0">
                  <a:pos x="17" y="18"/>
                </a:cxn>
              </a:cxnLst>
              <a:rect l="0" t="0" r="r" b="b"/>
              <a:pathLst>
                <a:path w="19" h="18">
                  <a:moveTo>
                    <a:pt x="17" y="18"/>
                  </a:moveTo>
                  <a:lnTo>
                    <a:pt x="19" y="18"/>
                  </a:lnTo>
                  <a:lnTo>
                    <a:pt x="10" y="9"/>
                  </a:lnTo>
                  <a:lnTo>
                    <a:pt x="0" y="0"/>
                  </a:lnTo>
                  <a:lnTo>
                    <a:pt x="9" y="9"/>
                  </a:lnTo>
                  <a:lnTo>
                    <a:pt x="17"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6" name="Freeform 195"/>
            <p:cNvSpPr>
              <a:spLocks/>
            </p:cNvSpPr>
            <p:nvPr/>
          </p:nvSpPr>
          <p:spPr bwMode="auto">
            <a:xfrm>
              <a:off x="5628" y="2954"/>
              <a:ext cx="3" cy="2"/>
            </a:xfrm>
            <a:custGeom>
              <a:avLst/>
              <a:gdLst/>
              <a:ahLst/>
              <a:cxnLst>
                <a:cxn ang="0">
                  <a:pos x="2" y="0"/>
                </a:cxn>
                <a:cxn ang="0">
                  <a:pos x="1" y="0"/>
                </a:cxn>
                <a:cxn ang="0">
                  <a:pos x="0" y="0"/>
                </a:cxn>
                <a:cxn ang="0">
                  <a:pos x="2" y="0"/>
                </a:cxn>
              </a:cxnLst>
              <a:rect l="0" t="0" r="r" b="b"/>
              <a:pathLst>
                <a:path w="2">
                  <a:moveTo>
                    <a:pt x="2" y="0"/>
                  </a:moveTo>
                  <a:lnTo>
                    <a:pt x="1" y="0"/>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7" name="Freeform 196"/>
            <p:cNvSpPr>
              <a:spLocks/>
            </p:cNvSpPr>
            <p:nvPr/>
          </p:nvSpPr>
          <p:spPr bwMode="auto">
            <a:xfrm>
              <a:off x="5437" y="3001"/>
              <a:ext cx="9" cy="13"/>
            </a:xfrm>
            <a:custGeom>
              <a:avLst/>
              <a:gdLst/>
              <a:ahLst/>
              <a:cxnLst>
                <a:cxn ang="0">
                  <a:pos x="7" y="13"/>
                </a:cxn>
                <a:cxn ang="0">
                  <a:pos x="8" y="5"/>
                </a:cxn>
                <a:cxn ang="0">
                  <a:pos x="6" y="6"/>
                </a:cxn>
                <a:cxn ang="0">
                  <a:pos x="2" y="0"/>
                </a:cxn>
                <a:cxn ang="0">
                  <a:pos x="0" y="13"/>
                </a:cxn>
                <a:cxn ang="0">
                  <a:pos x="7" y="13"/>
                </a:cxn>
              </a:cxnLst>
              <a:rect l="0" t="0" r="r" b="b"/>
              <a:pathLst>
                <a:path w="8" h="13">
                  <a:moveTo>
                    <a:pt x="7" y="13"/>
                  </a:moveTo>
                  <a:lnTo>
                    <a:pt x="8" y="5"/>
                  </a:lnTo>
                  <a:lnTo>
                    <a:pt x="6" y="6"/>
                  </a:lnTo>
                  <a:lnTo>
                    <a:pt x="2" y="0"/>
                  </a:lnTo>
                  <a:lnTo>
                    <a:pt x="0" y="13"/>
                  </a:lnTo>
                  <a:lnTo>
                    <a:pt x="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8" name="Freeform 197"/>
            <p:cNvSpPr>
              <a:spLocks/>
            </p:cNvSpPr>
            <p:nvPr/>
          </p:nvSpPr>
          <p:spPr bwMode="auto">
            <a:xfrm>
              <a:off x="5446" y="3021"/>
              <a:ext cx="7" cy="13"/>
            </a:xfrm>
            <a:custGeom>
              <a:avLst/>
              <a:gdLst/>
              <a:ahLst/>
              <a:cxnLst>
                <a:cxn ang="0">
                  <a:pos x="6" y="12"/>
                </a:cxn>
                <a:cxn ang="0">
                  <a:pos x="0" y="11"/>
                </a:cxn>
                <a:cxn ang="0">
                  <a:pos x="0" y="0"/>
                </a:cxn>
                <a:cxn ang="0">
                  <a:pos x="6" y="12"/>
                </a:cxn>
              </a:cxnLst>
              <a:rect l="0" t="0" r="r" b="b"/>
              <a:pathLst>
                <a:path w="6" h="12">
                  <a:moveTo>
                    <a:pt x="6" y="12"/>
                  </a:moveTo>
                  <a:lnTo>
                    <a:pt x="0" y="11"/>
                  </a:lnTo>
                  <a:lnTo>
                    <a:pt x="0" y="0"/>
                  </a:lnTo>
                  <a:lnTo>
                    <a:pt x="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9" name="Freeform 198"/>
            <p:cNvSpPr>
              <a:spLocks/>
            </p:cNvSpPr>
            <p:nvPr/>
          </p:nvSpPr>
          <p:spPr bwMode="auto">
            <a:xfrm>
              <a:off x="5457" y="3027"/>
              <a:ext cx="5" cy="5"/>
            </a:xfrm>
            <a:custGeom>
              <a:avLst/>
              <a:gdLst/>
              <a:ahLst/>
              <a:cxnLst>
                <a:cxn ang="0">
                  <a:pos x="4" y="0"/>
                </a:cxn>
                <a:cxn ang="0">
                  <a:pos x="1" y="5"/>
                </a:cxn>
                <a:cxn ang="0">
                  <a:pos x="0" y="4"/>
                </a:cxn>
                <a:cxn ang="0">
                  <a:pos x="4" y="0"/>
                </a:cxn>
              </a:cxnLst>
              <a:rect l="0" t="0" r="r" b="b"/>
              <a:pathLst>
                <a:path w="4" h="5">
                  <a:moveTo>
                    <a:pt x="4" y="0"/>
                  </a:moveTo>
                  <a:lnTo>
                    <a:pt x="1" y="5"/>
                  </a:lnTo>
                  <a:lnTo>
                    <a:pt x="0" y="4"/>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0" name="Freeform 199"/>
            <p:cNvSpPr>
              <a:spLocks/>
            </p:cNvSpPr>
            <p:nvPr/>
          </p:nvSpPr>
          <p:spPr bwMode="auto">
            <a:xfrm>
              <a:off x="5464" y="3079"/>
              <a:ext cx="2" cy="4"/>
            </a:xfrm>
            <a:custGeom>
              <a:avLst/>
              <a:gdLst/>
              <a:ahLst/>
              <a:cxnLst>
                <a:cxn ang="0">
                  <a:pos x="2" y="1"/>
                </a:cxn>
                <a:cxn ang="0">
                  <a:pos x="2" y="0"/>
                </a:cxn>
                <a:cxn ang="0">
                  <a:pos x="0" y="5"/>
                </a:cxn>
                <a:cxn ang="0">
                  <a:pos x="2" y="1"/>
                </a:cxn>
              </a:cxnLst>
              <a:rect l="0" t="0" r="r" b="b"/>
              <a:pathLst>
                <a:path w="2" h="5">
                  <a:moveTo>
                    <a:pt x="2" y="1"/>
                  </a:moveTo>
                  <a:lnTo>
                    <a:pt x="2" y="0"/>
                  </a:lnTo>
                  <a:lnTo>
                    <a:pt x="0" y="5"/>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1" name="Freeform 200"/>
            <p:cNvSpPr>
              <a:spLocks/>
            </p:cNvSpPr>
            <p:nvPr/>
          </p:nvSpPr>
          <p:spPr bwMode="auto">
            <a:xfrm>
              <a:off x="2736" y="3043"/>
              <a:ext cx="233" cy="238"/>
            </a:xfrm>
            <a:custGeom>
              <a:avLst/>
              <a:gdLst/>
              <a:ahLst/>
              <a:cxnLst>
                <a:cxn ang="0">
                  <a:pos x="124" y="140"/>
                </a:cxn>
                <a:cxn ang="0">
                  <a:pos x="126" y="115"/>
                </a:cxn>
                <a:cxn ang="0">
                  <a:pos x="127" y="90"/>
                </a:cxn>
                <a:cxn ang="0">
                  <a:pos x="142" y="90"/>
                </a:cxn>
                <a:cxn ang="0">
                  <a:pos x="142" y="73"/>
                </a:cxn>
                <a:cxn ang="0">
                  <a:pos x="144" y="57"/>
                </a:cxn>
                <a:cxn ang="0">
                  <a:pos x="144" y="41"/>
                </a:cxn>
                <a:cxn ang="0">
                  <a:pos x="145" y="24"/>
                </a:cxn>
                <a:cxn ang="0">
                  <a:pos x="163" y="21"/>
                </a:cxn>
                <a:cxn ang="0">
                  <a:pos x="181" y="20"/>
                </a:cxn>
                <a:cxn ang="0">
                  <a:pos x="187" y="26"/>
                </a:cxn>
                <a:cxn ang="0">
                  <a:pos x="199" y="19"/>
                </a:cxn>
                <a:cxn ang="0">
                  <a:pos x="211" y="14"/>
                </a:cxn>
                <a:cxn ang="0">
                  <a:pos x="194" y="9"/>
                </a:cxn>
                <a:cxn ang="0">
                  <a:pos x="183" y="12"/>
                </a:cxn>
                <a:cxn ang="0">
                  <a:pos x="159" y="14"/>
                </a:cxn>
                <a:cxn ang="0">
                  <a:pos x="136" y="18"/>
                </a:cxn>
                <a:cxn ang="0">
                  <a:pos x="121" y="14"/>
                </a:cxn>
                <a:cxn ang="0">
                  <a:pos x="106" y="11"/>
                </a:cxn>
                <a:cxn ang="0">
                  <a:pos x="104" y="7"/>
                </a:cxn>
                <a:cxn ang="0">
                  <a:pos x="86" y="7"/>
                </a:cxn>
                <a:cxn ang="0">
                  <a:pos x="68" y="6"/>
                </a:cxn>
                <a:cxn ang="0">
                  <a:pos x="50" y="6"/>
                </a:cxn>
                <a:cxn ang="0">
                  <a:pos x="31" y="5"/>
                </a:cxn>
                <a:cxn ang="0">
                  <a:pos x="20" y="0"/>
                </a:cxn>
                <a:cxn ang="0">
                  <a:pos x="1" y="5"/>
                </a:cxn>
                <a:cxn ang="0">
                  <a:pos x="0" y="15"/>
                </a:cxn>
                <a:cxn ang="0">
                  <a:pos x="10" y="37"/>
                </a:cxn>
                <a:cxn ang="0">
                  <a:pos x="21" y="59"/>
                </a:cxn>
                <a:cxn ang="0">
                  <a:pos x="31" y="80"/>
                </a:cxn>
                <a:cxn ang="0">
                  <a:pos x="42" y="102"/>
                </a:cxn>
                <a:cxn ang="0">
                  <a:pos x="43" y="111"/>
                </a:cxn>
                <a:cxn ang="0">
                  <a:pos x="40" y="110"/>
                </a:cxn>
                <a:cxn ang="0">
                  <a:pos x="43" y="129"/>
                </a:cxn>
                <a:cxn ang="0">
                  <a:pos x="45" y="147"/>
                </a:cxn>
                <a:cxn ang="0">
                  <a:pos x="48" y="165"/>
                </a:cxn>
                <a:cxn ang="0">
                  <a:pos x="50" y="183"/>
                </a:cxn>
                <a:cxn ang="0">
                  <a:pos x="60" y="197"/>
                </a:cxn>
                <a:cxn ang="0">
                  <a:pos x="68" y="209"/>
                </a:cxn>
                <a:cxn ang="0">
                  <a:pos x="76" y="199"/>
                </a:cxn>
                <a:cxn ang="0">
                  <a:pos x="82" y="210"/>
                </a:cxn>
                <a:cxn ang="0">
                  <a:pos x="105" y="213"/>
                </a:cxn>
                <a:cxn ang="0">
                  <a:pos x="118" y="207"/>
                </a:cxn>
                <a:cxn ang="0">
                  <a:pos x="121" y="191"/>
                </a:cxn>
                <a:cxn ang="0">
                  <a:pos x="122" y="174"/>
                </a:cxn>
                <a:cxn ang="0">
                  <a:pos x="123" y="157"/>
                </a:cxn>
                <a:cxn ang="0">
                  <a:pos x="124" y="140"/>
                </a:cxn>
              </a:cxnLst>
              <a:rect l="0" t="0" r="r" b="b"/>
              <a:pathLst>
                <a:path w="211" h="213">
                  <a:moveTo>
                    <a:pt x="124" y="140"/>
                  </a:moveTo>
                  <a:lnTo>
                    <a:pt x="126" y="115"/>
                  </a:lnTo>
                  <a:lnTo>
                    <a:pt x="127" y="90"/>
                  </a:lnTo>
                  <a:lnTo>
                    <a:pt x="142" y="90"/>
                  </a:lnTo>
                  <a:lnTo>
                    <a:pt x="142" y="73"/>
                  </a:lnTo>
                  <a:lnTo>
                    <a:pt x="144" y="57"/>
                  </a:lnTo>
                  <a:lnTo>
                    <a:pt x="144" y="41"/>
                  </a:lnTo>
                  <a:lnTo>
                    <a:pt x="145" y="24"/>
                  </a:lnTo>
                  <a:lnTo>
                    <a:pt x="163" y="21"/>
                  </a:lnTo>
                  <a:lnTo>
                    <a:pt x="181" y="20"/>
                  </a:lnTo>
                  <a:lnTo>
                    <a:pt x="187" y="26"/>
                  </a:lnTo>
                  <a:lnTo>
                    <a:pt x="199" y="19"/>
                  </a:lnTo>
                  <a:lnTo>
                    <a:pt x="211" y="14"/>
                  </a:lnTo>
                  <a:lnTo>
                    <a:pt x="194" y="9"/>
                  </a:lnTo>
                  <a:lnTo>
                    <a:pt x="183" y="12"/>
                  </a:lnTo>
                  <a:lnTo>
                    <a:pt x="159" y="14"/>
                  </a:lnTo>
                  <a:lnTo>
                    <a:pt x="136" y="18"/>
                  </a:lnTo>
                  <a:lnTo>
                    <a:pt x="121" y="14"/>
                  </a:lnTo>
                  <a:lnTo>
                    <a:pt x="106" y="11"/>
                  </a:lnTo>
                  <a:lnTo>
                    <a:pt x="104" y="7"/>
                  </a:lnTo>
                  <a:lnTo>
                    <a:pt x="86" y="7"/>
                  </a:lnTo>
                  <a:lnTo>
                    <a:pt x="68" y="6"/>
                  </a:lnTo>
                  <a:lnTo>
                    <a:pt x="50" y="6"/>
                  </a:lnTo>
                  <a:lnTo>
                    <a:pt x="31" y="5"/>
                  </a:lnTo>
                  <a:lnTo>
                    <a:pt x="20" y="0"/>
                  </a:lnTo>
                  <a:lnTo>
                    <a:pt x="1" y="5"/>
                  </a:lnTo>
                  <a:lnTo>
                    <a:pt x="0" y="15"/>
                  </a:lnTo>
                  <a:lnTo>
                    <a:pt x="10" y="37"/>
                  </a:lnTo>
                  <a:lnTo>
                    <a:pt x="21" y="59"/>
                  </a:lnTo>
                  <a:lnTo>
                    <a:pt x="31" y="80"/>
                  </a:lnTo>
                  <a:lnTo>
                    <a:pt x="42" y="102"/>
                  </a:lnTo>
                  <a:lnTo>
                    <a:pt x="43" y="111"/>
                  </a:lnTo>
                  <a:lnTo>
                    <a:pt x="40" y="110"/>
                  </a:lnTo>
                  <a:lnTo>
                    <a:pt x="43" y="129"/>
                  </a:lnTo>
                  <a:lnTo>
                    <a:pt x="45" y="147"/>
                  </a:lnTo>
                  <a:lnTo>
                    <a:pt x="48" y="165"/>
                  </a:lnTo>
                  <a:lnTo>
                    <a:pt x="50" y="183"/>
                  </a:lnTo>
                  <a:lnTo>
                    <a:pt x="60" y="197"/>
                  </a:lnTo>
                  <a:lnTo>
                    <a:pt x="68" y="209"/>
                  </a:lnTo>
                  <a:lnTo>
                    <a:pt x="76" y="199"/>
                  </a:lnTo>
                  <a:lnTo>
                    <a:pt x="82" y="210"/>
                  </a:lnTo>
                  <a:lnTo>
                    <a:pt x="105" y="213"/>
                  </a:lnTo>
                  <a:lnTo>
                    <a:pt x="118" y="207"/>
                  </a:lnTo>
                  <a:lnTo>
                    <a:pt x="121" y="191"/>
                  </a:lnTo>
                  <a:lnTo>
                    <a:pt x="122" y="174"/>
                  </a:lnTo>
                  <a:lnTo>
                    <a:pt x="123" y="157"/>
                  </a:lnTo>
                  <a:lnTo>
                    <a:pt x="124" y="14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2" name="Freeform 201"/>
            <p:cNvSpPr>
              <a:spLocks/>
            </p:cNvSpPr>
            <p:nvPr/>
          </p:nvSpPr>
          <p:spPr bwMode="auto">
            <a:xfrm>
              <a:off x="2873" y="3061"/>
              <a:ext cx="163" cy="180"/>
            </a:xfrm>
            <a:custGeom>
              <a:avLst/>
              <a:gdLst/>
              <a:ahLst/>
              <a:cxnLst>
                <a:cxn ang="0">
                  <a:pos x="0" y="126"/>
                </a:cxn>
                <a:cxn ang="0">
                  <a:pos x="2" y="101"/>
                </a:cxn>
                <a:cxn ang="0">
                  <a:pos x="3" y="76"/>
                </a:cxn>
                <a:cxn ang="0">
                  <a:pos x="18" y="76"/>
                </a:cxn>
                <a:cxn ang="0">
                  <a:pos x="18" y="59"/>
                </a:cxn>
                <a:cxn ang="0">
                  <a:pos x="20" y="43"/>
                </a:cxn>
                <a:cxn ang="0">
                  <a:pos x="20" y="27"/>
                </a:cxn>
                <a:cxn ang="0">
                  <a:pos x="21" y="10"/>
                </a:cxn>
                <a:cxn ang="0">
                  <a:pos x="39" y="7"/>
                </a:cxn>
                <a:cxn ang="0">
                  <a:pos x="57" y="6"/>
                </a:cxn>
                <a:cxn ang="0">
                  <a:pos x="63" y="12"/>
                </a:cxn>
                <a:cxn ang="0">
                  <a:pos x="75" y="5"/>
                </a:cxn>
                <a:cxn ang="0">
                  <a:pos x="87" y="0"/>
                </a:cxn>
                <a:cxn ang="0">
                  <a:pos x="96" y="18"/>
                </a:cxn>
                <a:cxn ang="0">
                  <a:pos x="106" y="36"/>
                </a:cxn>
                <a:cxn ang="0">
                  <a:pos x="117" y="45"/>
                </a:cxn>
                <a:cxn ang="0">
                  <a:pos x="120" y="48"/>
                </a:cxn>
                <a:cxn ang="0">
                  <a:pos x="124" y="54"/>
                </a:cxn>
                <a:cxn ang="0">
                  <a:pos x="129" y="69"/>
                </a:cxn>
                <a:cxn ang="0">
                  <a:pos x="143" y="75"/>
                </a:cxn>
                <a:cxn ang="0">
                  <a:pos x="147" y="78"/>
                </a:cxn>
                <a:cxn ang="0">
                  <a:pos x="146" y="79"/>
                </a:cxn>
                <a:cxn ang="0">
                  <a:pos x="125" y="93"/>
                </a:cxn>
                <a:cxn ang="0">
                  <a:pos x="110" y="107"/>
                </a:cxn>
                <a:cxn ang="0">
                  <a:pos x="101" y="123"/>
                </a:cxn>
                <a:cxn ang="0">
                  <a:pos x="92" y="129"/>
                </a:cxn>
                <a:cxn ang="0">
                  <a:pos x="83" y="143"/>
                </a:cxn>
                <a:cxn ang="0">
                  <a:pos x="59" y="141"/>
                </a:cxn>
                <a:cxn ang="0">
                  <a:pos x="47" y="136"/>
                </a:cxn>
                <a:cxn ang="0">
                  <a:pos x="39" y="148"/>
                </a:cxn>
                <a:cxn ang="0">
                  <a:pos x="32" y="160"/>
                </a:cxn>
                <a:cxn ang="0">
                  <a:pos x="15" y="162"/>
                </a:cxn>
                <a:cxn ang="0">
                  <a:pos x="9" y="160"/>
                </a:cxn>
                <a:cxn ang="0">
                  <a:pos x="11" y="143"/>
                </a:cxn>
                <a:cxn ang="0">
                  <a:pos x="0" y="126"/>
                </a:cxn>
              </a:cxnLst>
              <a:rect l="0" t="0" r="r" b="b"/>
              <a:pathLst>
                <a:path w="147" h="162">
                  <a:moveTo>
                    <a:pt x="0" y="126"/>
                  </a:moveTo>
                  <a:lnTo>
                    <a:pt x="2" y="101"/>
                  </a:lnTo>
                  <a:lnTo>
                    <a:pt x="3" y="76"/>
                  </a:lnTo>
                  <a:lnTo>
                    <a:pt x="18" y="76"/>
                  </a:lnTo>
                  <a:lnTo>
                    <a:pt x="18" y="59"/>
                  </a:lnTo>
                  <a:lnTo>
                    <a:pt x="20" y="43"/>
                  </a:lnTo>
                  <a:lnTo>
                    <a:pt x="20" y="27"/>
                  </a:lnTo>
                  <a:lnTo>
                    <a:pt x="21" y="10"/>
                  </a:lnTo>
                  <a:lnTo>
                    <a:pt x="39" y="7"/>
                  </a:lnTo>
                  <a:lnTo>
                    <a:pt x="57" y="6"/>
                  </a:lnTo>
                  <a:lnTo>
                    <a:pt x="63" y="12"/>
                  </a:lnTo>
                  <a:lnTo>
                    <a:pt x="75" y="5"/>
                  </a:lnTo>
                  <a:lnTo>
                    <a:pt x="87" y="0"/>
                  </a:lnTo>
                  <a:lnTo>
                    <a:pt x="96" y="18"/>
                  </a:lnTo>
                  <a:lnTo>
                    <a:pt x="106" y="36"/>
                  </a:lnTo>
                  <a:lnTo>
                    <a:pt x="117" y="45"/>
                  </a:lnTo>
                  <a:lnTo>
                    <a:pt x="120" y="48"/>
                  </a:lnTo>
                  <a:lnTo>
                    <a:pt x="124" y="54"/>
                  </a:lnTo>
                  <a:lnTo>
                    <a:pt x="129" y="69"/>
                  </a:lnTo>
                  <a:lnTo>
                    <a:pt x="143" y="75"/>
                  </a:lnTo>
                  <a:lnTo>
                    <a:pt x="147" y="78"/>
                  </a:lnTo>
                  <a:lnTo>
                    <a:pt x="146" y="79"/>
                  </a:lnTo>
                  <a:lnTo>
                    <a:pt x="125" y="93"/>
                  </a:lnTo>
                  <a:lnTo>
                    <a:pt x="110" y="107"/>
                  </a:lnTo>
                  <a:lnTo>
                    <a:pt x="101" y="123"/>
                  </a:lnTo>
                  <a:lnTo>
                    <a:pt x="92" y="129"/>
                  </a:lnTo>
                  <a:lnTo>
                    <a:pt x="83" y="143"/>
                  </a:lnTo>
                  <a:lnTo>
                    <a:pt x="59" y="141"/>
                  </a:lnTo>
                  <a:lnTo>
                    <a:pt x="47" y="136"/>
                  </a:lnTo>
                  <a:lnTo>
                    <a:pt x="39" y="148"/>
                  </a:lnTo>
                  <a:lnTo>
                    <a:pt x="32" y="160"/>
                  </a:lnTo>
                  <a:lnTo>
                    <a:pt x="15" y="162"/>
                  </a:lnTo>
                  <a:lnTo>
                    <a:pt x="9" y="160"/>
                  </a:lnTo>
                  <a:lnTo>
                    <a:pt x="11" y="143"/>
                  </a:lnTo>
                  <a:lnTo>
                    <a:pt x="0" y="1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3" name="Freeform 202"/>
            <p:cNvSpPr>
              <a:spLocks/>
            </p:cNvSpPr>
            <p:nvPr/>
          </p:nvSpPr>
          <p:spPr bwMode="auto">
            <a:xfrm>
              <a:off x="3289" y="2934"/>
              <a:ext cx="4" cy="9"/>
            </a:xfrm>
            <a:custGeom>
              <a:avLst/>
              <a:gdLst/>
              <a:ahLst/>
              <a:cxnLst>
                <a:cxn ang="0">
                  <a:pos x="3" y="9"/>
                </a:cxn>
                <a:cxn ang="0">
                  <a:pos x="3" y="7"/>
                </a:cxn>
                <a:cxn ang="0">
                  <a:pos x="0" y="0"/>
                </a:cxn>
                <a:cxn ang="0">
                  <a:pos x="3" y="9"/>
                </a:cxn>
              </a:cxnLst>
              <a:rect l="0" t="0" r="r" b="b"/>
              <a:pathLst>
                <a:path w="3" h="9">
                  <a:moveTo>
                    <a:pt x="3" y="9"/>
                  </a:moveTo>
                  <a:lnTo>
                    <a:pt x="3" y="7"/>
                  </a:lnTo>
                  <a:lnTo>
                    <a:pt x="0" y="0"/>
                  </a:lnTo>
                  <a:lnTo>
                    <a:pt x="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4" name="Freeform 203"/>
            <p:cNvSpPr>
              <a:spLocks/>
            </p:cNvSpPr>
            <p:nvPr/>
          </p:nvSpPr>
          <p:spPr bwMode="auto">
            <a:xfrm>
              <a:off x="2989" y="3276"/>
              <a:ext cx="40" cy="40"/>
            </a:xfrm>
            <a:custGeom>
              <a:avLst/>
              <a:gdLst/>
              <a:ahLst/>
              <a:cxnLst>
                <a:cxn ang="0">
                  <a:pos x="15" y="3"/>
                </a:cxn>
                <a:cxn ang="0">
                  <a:pos x="0" y="19"/>
                </a:cxn>
                <a:cxn ang="0">
                  <a:pos x="11" y="35"/>
                </a:cxn>
                <a:cxn ang="0">
                  <a:pos x="17" y="30"/>
                </a:cxn>
                <a:cxn ang="0">
                  <a:pos x="32" y="19"/>
                </a:cxn>
                <a:cxn ang="0">
                  <a:pos x="35" y="7"/>
                </a:cxn>
                <a:cxn ang="0">
                  <a:pos x="21" y="0"/>
                </a:cxn>
                <a:cxn ang="0">
                  <a:pos x="15" y="3"/>
                </a:cxn>
              </a:cxnLst>
              <a:rect l="0" t="0" r="r" b="b"/>
              <a:pathLst>
                <a:path w="35" h="35">
                  <a:moveTo>
                    <a:pt x="15" y="3"/>
                  </a:moveTo>
                  <a:lnTo>
                    <a:pt x="0" y="19"/>
                  </a:lnTo>
                  <a:lnTo>
                    <a:pt x="11" y="35"/>
                  </a:lnTo>
                  <a:lnTo>
                    <a:pt x="17" y="30"/>
                  </a:lnTo>
                  <a:lnTo>
                    <a:pt x="32" y="19"/>
                  </a:lnTo>
                  <a:lnTo>
                    <a:pt x="35" y="7"/>
                  </a:lnTo>
                  <a:lnTo>
                    <a:pt x="21" y="0"/>
                  </a:lnTo>
                  <a:lnTo>
                    <a:pt x="1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5" name="Freeform 204"/>
            <p:cNvSpPr>
              <a:spLocks/>
            </p:cNvSpPr>
            <p:nvPr/>
          </p:nvSpPr>
          <p:spPr bwMode="auto">
            <a:xfrm>
              <a:off x="3278" y="2947"/>
              <a:ext cx="135" cy="267"/>
            </a:xfrm>
            <a:custGeom>
              <a:avLst/>
              <a:gdLst/>
              <a:ahLst/>
              <a:cxnLst>
                <a:cxn ang="0">
                  <a:pos x="44" y="69"/>
                </a:cxn>
                <a:cxn ang="0">
                  <a:pos x="38" y="70"/>
                </a:cxn>
                <a:cxn ang="0">
                  <a:pos x="24" y="77"/>
                </a:cxn>
                <a:cxn ang="0">
                  <a:pos x="20" y="91"/>
                </a:cxn>
                <a:cxn ang="0">
                  <a:pos x="17" y="106"/>
                </a:cxn>
                <a:cxn ang="0">
                  <a:pos x="19" y="124"/>
                </a:cxn>
                <a:cxn ang="0">
                  <a:pos x="22" y="142"/>
                </a:cxn>
                <a:cxn ang="0">
                  <a:pos x="13" y="154"/>
                </a:cxn>
                <a:cxn ang="0">
                  <a:pos x="5" y="166"/>
                </a:cxn>
                <a:cxn ang="0">
                  <a:pos x="0" y="190"/>
                </a:cxn>
                <a:cxn ang="0">
                  <a:pos x="4" y="210"/>
                </a:cxn>
                <a:cxn ang="0">
                  <a:pos x="10" y="233"/>
                </a:cxn>
                <a:cxn ang="0">
                  <a:pos x="30" y="241"/>
                </a:cxn>
                <a:cxn ang="0">
                  <a:pos x="43" y="235"/>
                </a:cxn>
                <a:cxn ang="0">
                  <a:pos x="58" y="228"/>
                </a:cxn>
                <a:cxn ang="0">
                  <a:pos x="62" y="211"/>
                </a:cxn>
                <a:cxn ang="0">
                  <a:pos x="68" y="195"/>
                </a:cxn>
                <a:cxn ang="0">
                  <a:pos x="74" y="179"/>
                </a:cxn>
                <a:cxn ang="0">
                  <a:pos x="80" y="162"/>
                </a:cxn>
                <a:cxn ang="0">
                  <a:pos x="85" y="147"/>
                </a:cxn>
                <a:cxn ang="0">
                  <a:pos x="91" y="130"/>
                </a:cxn>
                <a:cxn ang="0">
                  <a:pos x="97" y="113"/>
                </a:cxn>
                <a:cxn ang="0">
                  <a:pos x="102" y="97"/>
                </a:cxn>
                <a:cxn ang="0">
                  <a:pos x="109" y="85"/>
                </a:cxn>
                <a:cxn ang="0">
                  <a:pos x="108" y="60"/>
                </a:cxn>
                <a:cxn ang="0">
                  <a:pos x="118" y="67"/>
                </a:cxn>
                <a:cxn ang="0">
                  <a:pos x="121" y="58"/>
                </a:cxn>
                <a:cxn ang="0">
                  <a:pos x="116" y="35"/>
                </a:cxn>
                <a:cxn ang="0">
                  <a:pos x="110" y="13"/>
                </a:cxn>
                <a:cxn ang="0">
                  <a:pos x="106" y="0"/>
                </a:cxn>
                <a:cxn ang="0">
                  <a:pos x="102" y="0"/>
                </a:cxn>
                <a:cxn ang="0">
                  <a:pos x="98" y="6"/>
                </a:cxn>
                <a:cxn ang="0">
                  <a:pos x="95" y="24"/>
                </a:cxn>
                <a:cxn ang="0">
                  <a:pos x="89" y="28"/>
                </a:cxn>
                <a:cxn ang="0">
                  <a:pos x="86" y="30"/>
                </a:cxn>
                <a:cxn ang="0">
                  <a:pos x="82" y="28"/>
                </a:cxn>
                <a:cxn ang="0">
                  <a:pos x="83" y="37"/>
                </a:cxn>
                <a:cxn ang="0">
                  <a:pos x="79" y="45"/>
                </a:cxn>
                <a:cxn ang="0">
                  <a:pos x="82" y="47"/>
                </a:cxn>
                <a:cxn ang="0">
                  <a:pos x="73" y="52"/>
                </a:cxn>
                <a:cxn ang="0">
                  <a:pos x="73" y="47"/>
                </a:cxn>
                <a:cxn ang="0">
                  <a:pos x="68" y="59"/>
                </a:cxn>
                <a:cxn ang="0">
                  <a:pos x="66" y="59"/>
                </a:cxn>
                <a:cxn ang="0">
                  <a:pos x="62" y="58"/>
                </a:cxn>
                <a:cxn ang="0">
                  <a:pos x="56" y="67"/>
                </a:cxn>
                <a:cxn ang="0">
                  <a:pos x="44" y="69"/>
                </a:cxn>
              </a:cxnLst>
              <a:rect l="0" t="0" r="r" b="b"/>
              <a:pathLst>
                <a:path w="121" h="241">
                  <a:moveTo>
                    <a:pt x="44" y="69"/>
                  </a:moveTo>
                  <a:lnTo>
                    <a:pt x="38" y="70"/>
                  </a:lnTo>
                  <a:lnTo>
                    <a:pt x="24" y="77"/>
                  </a:lnTo>
                  <a:lnTo>
                    <a:pt x="20" y="91"/>
                  </a:lnTo>
                  <a:lnTo>
                    <a:pt x="17" y="106"/>
                  </a:lnTo>
                  <a:lnTo>
                    <a:pt x="19" y="124"/>
                  </a:lnTo>
                  <a:lnTo>
                    <a:pt x="22" y="142"/>
                  </a:lnTo>
                  <a:lnTo>
                    <a:pt x="13" y="154"/>
                  </a:lnTo>
                  <a:lnTo>
                    <a:pt x="5" y="166"/>
                  </a:lnTo>
                  <a:lnTo>
                    <a:pt x="0" y="190"/>
                  </a:lnTo>
                  <a:lnTo>
                    <a:pt x="4" y="210"/>
                  </a:lnTo>
                  <a:lnTo>
                    <a:pt x="10" y="233"/>
                  </a:lnTo>
                  <a:lnTo>
                    <a:pt x="30" y="241"/>
                  </a:lnTo>
                  <a:lnTo>
                    <a:pt x="43" y="235"/>
                  </a:lnTo>
                  <a:lnTo>
                    <a:pt x="58" y="228"/>
                  </a:lnTo>
                  <a:lnTo>
                    <a:pt x="62" y="211"/>
                  </a:lnTo>
                  <a:lnTo>
                    <a:pt x="68" y="195"/>
                  </a:lnTo>
                  <a:lnTo>
                    <a:pt x="74" y="179"/>
                  </a:lnTo>
                  <a:lnTo>
                    <a:pt x="80" y="162"/>
                  </a:lnTo>
                  <a:lnTo>
                    <a:pt x="85" y="147"/>
                  </a:lnTo>
                  <a:lnTo>
                    <a:pt x="91" y="130"/>
                  </a:lnTo>
                  <a:lnTo>
                    <a:pt x="97" y="113"/>
                  </a:lnTo>
                  <a:lnTo>
                    <a:pt x="102" y="97"/>
                  </a:lnTo>
                  <a:lnTo>
                    <a:pt x="109" y="85"/>
                  </a:lnTo>
                  <a:lnTo>
                    <a:pt x="108" y="60"/>
                  </a:lnTo>
                  <a:lnTo>
                    <a:pt x="118" y="67"/>
                  </a:lnTo>
                  <a:lnTo>
                    <a:pt x="121" y="58"/>
                  </a:lnTo>
                  <a:lnTo>
                    <a:pt x="116" y="35"/>
                  </a:lnTo>
                  <a:lnTo>
                    <a:pt x="110" y="13"/>
                  </a:lnTo>
                  <a:lnTo>
                    <a:pt x="106" y="0"/>
                  </a:lnTo>
                  <a:lnTo>
                    <a:pt x="102" y="0"/>
                  </a:lnTo>
                  <a:lnTo>
                    <a:pt x="98" y="6"/>
                  </a:lnTo>
                  <a:lnTo>
                    <a:pt x="95" y="24"/>
                  </a:lnTo>
                  <a:lnTo>
                    <a:pt x="89" y="28"/>
                  </a:lnTo>
                  <a:lnTo>
                    <a:pt x="86" y="30"/>
                  </a:lnTo>
                  <a:lnTo>
                    <a:pt x="82" y="28"/>
                  </a:lnTo>
                  <a:lnTo>
                    <a:pt x="83" y="37"/>
                  </a:lnTo>
                  <a:lnTo>
                    <a:pt x="79" y="45"/>
                  </a:lnTo>
                  <a:lnTo>
                    <a:pt x="82" y="47"/>
                  </a:lnTo>
                  <a:lnTo>
                    <a:pt x="73" y="52"/>
                  </a:lnTo>
                  <a:lnTo>
                    <a:pt x="73" y="47"/>
                  </a:lnTo>
                  <a:lnTo>
                    <a:pt x="68" y="59"/>
                  </a:lnTo>
                  <a:lnTo>
                    <a:pt x="66" y="59"/>
                  </a:lnTo>
                  <a:lnTo>
                    <a:pt x="62" y="58"/>
                  </a:lnTo>
                  <a:lnTo>
                    <a:pt x="56" y="67"/>
                  </a:lnTo>
                  <a:lnTo>
                    <a:pt x="44"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6" name="Freeform 205"/>
            <p:cNvSpPr>
              <a:spLocks/>
            </p:cNvSpPr>
            <p:nvPr/>
          </p:nvSpPr>
          <p:spPr bwMode="auto">
            <a:xfrm>
              <a:off x="3102" y="2894"/>
              <a:ext cx="56" cy="153"/>
            </a:xfrm>
            <a:custGeom>
              <a:avLst/>
              <a:gdLst/>
              <a:ahLst/>
              <a:cxnLst>
                <a:cxn ang="0">
                  <a:pos x="29" y="97"/>
                </a:cxn>
                <a:cxn ang="0">
                  <a:pos x="23" y="115"/>
                </a:cxn>
                <a:cxn ang="0">
                  <a:pos x="30" y="127"/>
                </a:cxn>
                <a:cxn ang="0">
                  <a:pos x="37" y="138"/>
                </a:cxn>
                <a:cxn ang="0">
                  <a:pos x="36" y="129"/>
                </a:cxn>
                <a:cxn ang="0">
                  <a:pos x="44" y="120"/>
                </a:cxn>
                <a:cxn ang="0">
                  <a:pos x="47" y="107"/>
                </a:cxn>
                <a:cxn ang="0">
                  <a:pos x="49" y="94"/>
                </a:cxn>
                <a:cxn ang="0">
                  <a:pos x="39" y="84"/>
                </a:cxn>
                <a:cxn ang="0">
                  <a:pos x="30" y="73"/>
                </a:cxn>
                <a:cxn ang="0">
                  <a:pos x="27" y="55"/>
                </a:cxn>
                <a:cxn ang="0">
                  <a:pos x="31" y="42"/>
                </a:cxn>
                <a:cxn ang="0">
                  <a:pos x="36" y="39"/>
                </a:cxn>
                <a:cxn ang="0">
                  <a:pos x="37" y="39"/>
                </a:cxn>
                <a:cxn ang="0">
                  <a:pos x="32" y="24"/>
                </a:cxn>
                <a:cxn ang="0">
                  <a:pos x="27" y="6"/>
                </a:cxn>
                <a:cxn ang="0">
                  <a:pos x="21" y="3"/>
                </a:cxn>
                <a:cxn ang="0">
                  <a:pos x="6" y="0"/>
                </a:cxn>
                <a:cxn ang="0">
                  <a:pos x="7" y="4"/>
                </a:cxn>
                <a:cxn ang="0">
                  <a:pos x="17" y="18"/>
                </a:cxn>
                <a:cxn ang="0">
                  <a:pos x="13" y="25"/>
                </a:cxn>
                <a:cxn ang="0">
                  <a:pos x="12" y="39"/>
                </a:cxn>
                <a:cxn ang="0">
                  <a:pos x="11" y="53"/>
                </a:cxn>
                <a:cxn ang="0">
                  <a:pos x="8" y="58"/>
                </a:cxn>
                <a:cxn ang="0">
                  <a:pos x="0" y="75"/>
                </a:cxn>
                <a:cxn ang="0">
                  <a:pos x="7" y="83"/>
                </a:cxn>
                <a:cxn ang="0">
                  <a:pos x="13" y="90"/>
                </a:cxn>
                <a:cxn ang="0">
                  <a:pos x="23" y="90"/>
                </a:cxn>
                <a:cxn ang="0">
                  <a:pos x="29" y="97"/>
                </a:cxn>
              </a:cxnLst>
              <a:rect l="0" t="0" r="r" b="b"/>
              <a:pathLst>
                <a:path w="49" h="138">
                  <a:moveTo>
                    <a:pt x="29" y="97"/>
                  </a:moveTo>
                  <a:lnTo>
                    <a:pt x="23" y="115"/>
                  </a:lnTo>
                  <a:lnTo>
                    <a:pt x="30" y="127"/>
                  </a:lnTo>
                  <a:lnTo>
                    <a:pt x="37" y="138"/>
                  </a:lnTo>
                  <a:lnTo>
                    <a:pt x="36" y="129"/>
                  </a:lnTo>
                  <a:lnTo>
                    <a:pt x="44" y="120"/>
                  </a:lnTo>
                  <a:lnTo>
                    <a:pt x="47" y="107"/>
                  </a:lnTo>
                  <a:lnTo>
                    <a:pt x="49" y="94"/>
                  </a:lnTo>
                  <a:lnTo>
                    <a:pt x="39" y="84"/>
                  </a:lnTo>
                  <a:lnTo>
                    <a:pt x="30" y="73"/>
                  </a:lnTo>
                  <a:lnTo>
                    <a:pt x="27" y="55"/>
                  </a:lnTo>
                  <a:lnTo>
                    <a:pt x="31" y="42"/>
                  </a:lnTo>
                  <a:lnTo>
                    <a:pt x="36" y="39"/>
                  </a:lnTo>
                  <a:lnTo>
                    <a:pt x="37" y="39"/>
                  </a:lnTo>
                  <a:lnTo>
                    <a:pt x="32" y="24"/>
                  </a:lnTo>
                  <a:lnTo>
                    <a:pt x="27" y="6"/>
                  </a:lnTo>
                  <a:lnTo>
                    <a:pt x="21" y="3"/>
                  </a:lnTo>
                  <a:lnTo>
                    <a:pt x="6" y="0"/>
                  </a:lnTo>
                  <a:lnTo>
                    <a:pt x="7" y="4"/>
                  </a:lnTo>
                  <a:lnTo>
                    <a:pt x="17" y="18"/>
                  </a:lnTo>
                  <a:lnTo>
                    <a:pt x="13" y="25"/>
                  </a:lnTo>
                  <a:lnTo>
                    <a:pt x="12" y="39"/>
                  </a:lnTo>
                  <a:lnTo>
                    <a:pt x="11" y="53"/>
                  </a:lnTo>
                  <a:lnTo>
                    <a:pt x="8" y="58"/>
                  </a:lnTo>
                  <a:lnTo>
                    <a:pt x="0" y="75"/>
                  </a:lnTo>
                  <a:lnTo>
                    <a:pt x="7" y="83"/>
                  </a:lnTo>
                  <a:lnTo>
                    <a:pt x="13" y="90"/>
                  </a:lnTo>
                  <a:lnTo>
                    <a:pt x="23" y="90"/>
                  </a:lnTo>
                  <a:lnTo>
                    <a:pt x="29" y="9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7" name="Freeform 206"/>
            <p:cNvSpPr>
              <a:spLocks/>
            </p:cNvSpPr>
            <p:nvPr/>
          </p:nvSpPr>
          <p:spPr bwMode="auto">
            <a:xfrm>
              <a:off x="3060" y="2914"/>
              <a:ext cx="182" cy="327"/>
            </a:xfrm>
            <a:custGeom>
              <a:avLst/>
              <a:gdLst/>
              <a:ahLst/>
              <a:cxnLst>
                <a:cxn ang="0">
                  <a:pos x="66" y="172"/>
                </a:cxn>
                <a:cxn ang="0">
                  <a:pos x="72" y="166"/>
                </a:cxn>
                <a:cxn ang="0">
                  <a:pos x="102" y="136"/>
                </a:cxn>
                <a:cxn ang="0">
                  <a:pos x="130" y="119"/>
                </a:cxn>
                <a:cxn ang="0">
                  <a:pos x="162" y="84"/>
                </a:cxn>
                <a:cxn ang="0">
                  <a:pos x="165" y="71"/>
                </a:cxn>
                <a:cxn ang="0">
                  <a:pos x="165" y="38"/>
                </a:cxn>
                <a:cxn ang="0">
                  <a:pos x="165" y="0"/>
                </a:cxn>
                <a:cxn ang="0">
                  <a:pos x="147" y="9"/>
                </a:cxn>
                <a:cxn ang="0">
                  <a:pos x="123" y="17"/>
                </a:cxn>
                <a:cxn ang="0">
                  <a:pos x="93" y="18"/>
                </a:cxn>
                <a:cxn ang="0">
                  <a:pos x="76" y="20"/>
                </a:cxn>
                <a:cxn ang="0">
                  <a:pos x="67" y="36"/>
                </a:cxn>
                <a:cxn ang="0">
                  <a:pos x="79" y="65"/>
                </a:cxn>
                <a:cxn ang="0">
                  <a:pos x="87" y="88"/>
                </a:cxn>
                <a:cxn ang="0">
                  <a:pos x="76" y="110"/>
                </a:cxn>
                <a:cxn ang="0">
                  <a:pos x="70" y="108"/>
                </a:cxn>
                <a:cxn ang="0">
                  <a:pos x="69" y="78"/>
                </a:cxn>
                <a:cxn ang="0">
                  <a:pos x="53" y="71"/>
                </a:cxn>
                <a:cxn ang="0">
                  <a:pos x="35" y="69"/>
                </a:cxn>
                <a:cxn ang="0">
                  <a:pos x="12" y="78"/>
                </a:cxn>
                <a:cxn ang="0">
                  <a:pos x="3" y="93"/>
                </a:cxn>
                <a:cxn ang="0">
                  <a:pos x="10" y="99"/>
                </a:cxn>
                <a:cxn ang="0">
                  <a:pos x="41" y="112"/>
                </a:cxn>
                <a:cxn ang="0">
                  <a:pos x="37" y="149"/>
                </a:cxn>
                <a:cxn ang="0">
                  <a:pos x="34" y="182"/>
                </a:cxn>
                <a:cxn ang="0">
                  <a:pos x="21" y="206"/>
                </a:cxn>
                <a:cxn ang="0">
                  <a:pos x="13" y="227"/>
                </a:cxn>
                <a:cxn ang="0">
                  <a:pos x="17" y="260"/>
                </a:cxn>
                <a:cxn ang="0">
                  <a:pos x="19" y="294"/>
                </a:cxn>
                <a:cxn ang="0">
                  <a:pos x="31" y="282"/>
                </a:cxn>
                <a:cxn ang="0">
                  <a:pos x="46" y="263"/>
                </a:cxn>
                <a:cxn ang="0">
                  <a:pos x="72" y="248"/>
                </a:cxn>
                <a:cxn ang="0">
                  <a:pos x="75" y="225"/>
                </a:cxn>
                <a:cxn ang="0">
                  <a:pos x="73" y="214"/>
                </a:cxn>
                <a:cxn ang="0">
                  <a:pos x="69" y="184"/>
                </a:cxn>
              </a:cxnLst>
              <a:rect l="0" t="0" r="r" b="b"/>
              <a:pathLst>
                <a:path w="166" h="294">
                  <a:moveTo>
                    <a:pt x="69" y="184"/>
                  </a:moveTo>
                  <a:lnTo>
                    <a:pt x="66" y="172"/>
                  </a:lnTo>
                  <a:lnTo>
                    <a:pt x="66" y="166"/>
                  </a:lnTo>
                  <a:lnTo>
                    <a:pt x="72" y="166"/>
                  </a:lnTo>
                  <a:lnTo>
                    <a:pt x="90" y="152"/>
                  </a:lnTo>
                  <a:lnTo>
                    <a:pt x="102" y="136"/>
                  </a:lnTo>
                  <a:lnTo>
                    <a:pt x="115" y="128"/>
                  </a:lnTo>
                  <a:lnTo>
                    <a:pt x="130" y="119"/>
                  </a:lnTo>
                  <a:lnTo>
                    <a:pt x="149" y="107"/>
                  </a:lnTo>
                  <a:lnTo>
                    <a:pt x="162" y="84"/>
                  </a:lnTo>
                  <a:lnTo>
                    <a:pt x="166" y="71"/>
                  </a:lnTo>
                  <a:lnTo>
                    <a:pt x="165" y="71"/>
                  </a:lnTo>
                  <a:lnTo>
                    <a:pt x="162" y="46"/>
                  </a:lnTo>
                  <a:lnTo>
                    <a:pt x="165" y="38"/>
                  </a:lnTo>
                  <a:lnTo>
                    <a:pt x="163" y="12"/>
                  </a:lnTo>
                  <a:lnTo>
                    <a:pt x="165" y="0"/>
                  </a:lnTo>
                  <a:lnTo>
                    <a:pt x="163" y="0"/>
                  </a:lnTo>
                  <a:lnTo>
                    <a:pt x="147" y="9"/>
                  </a:lnTo>
                  <a:lnTo>
                    <a:pt x="131" y="16"/>
                  </a:lnTo>
                  <a:lnTo>
                    <a:pt x="123" y="17"/>
                  </a:lnTo>
                  <a:lnTo>
                    <a:pt x="111" y="22"/>
                  </a:lnTo>
                  <a:lnTo>
                    <a:pt x="93" y="18"/>
                  </a:lnTo>
                  <a:lnTo>
                    <a:pt x="83" y="20"/>
                  </a:lnTo>
                  <a:lnTo>
                    <a:pt x="76" y="20"/>
                  </a:lnTo>
                  <a:lnTo>
                    <a:pt x="71" y="23"/>
                  </a:lnTo>
                  <a:lnTo>
                    <a:pt x="67" y="36"/>
                  </a:lnTo>
                  <a:lnTo>
                    <a:pt x="70" y="54"/>
                  </a:lnTo>
                  <a:lnTo>
                    <a:pt x="79" y="65"/>
                  </a:lnTo>
                  <a:lnTo>
                    <a:pt x="89" y="75"/>
                  </a:lnTo>
                  <a:lnTo>
                    <a:pt x="87" y="88"/>
                  </a:lnTo>
                  <a:lnTo>
                    <a:pt x="84" y="101"/>
                  </a:lnTo>
                  <a:lnTo>
                    <a:pt x="76" y="110"/>
                  </a:lnTo>
                  <a:lnTo>
                    <a:pt x="77" y="119"/>
                  </a:lnTo>
                  <a:lnTo>
                    <a:pt x="70" y="108"/>
                  </a:lnTo>
                  <a:lnTo>
                    <a:pt x="63" y="96"/>
                  </a:lnTo>
                  <a:lnTo>
                    <a:pt x="69" y="78"/>
                  </a:lnTo>
                  <a:lnTo>
                    <a:pt x="63" y="71"/>
                  </a:lnTo>
                  <a:lnTo>
                    <a:pt x="53" y="71"/>
                  </a:lnTo>
                  <a:lnTo>
                    <a:pt x="47" y="64"/>
                  </a:lnTo>
                  <a:lnTo>
                    <a:pt x="35" y="69"/>
                  </a:lnTo>
                  <a:lnTo>
                    <a:pt x="23" y="74"/>
                  </a:lnTo>
                  <a:lnTo>
                    <a:pt x="12" y="78"/>
                  </a:lnTo>
                  <a:lnTo>
                    <a:pt x="0" y="83"/>
                  </a:lnTo>
                  <a:lnTo>
                    <a:pt x="3" y="93"/>
                  </a:lnTo>
                  <a:lnTo>
                    <a:pt x="3" y="100"/>
                  </a:lnTo>
                  <a:lnTo>
                    <a:pt x="10" y="99"/>
                  </a:lnTo>
                  <a:lnTo>
                    <a:pt x="25" y="106"/>
                  </a:lnTo>
                  <a:lnTo>
                    <a:pt x="41" y="112"/>
                  </a:lnTo>
                  <a:lnTo>
                    <a:pt x="41" y="134"/>
                  </a:lnTo>
                  <a:lnTo>
                    <a:pt x="37" y="149"/>
                  </a:lnTo>
                  <a:lnTo>
                    <a:pt x="40" y="166"/>
                  </a:lnTo>
                  <a:lnTo>
                    <a:pt x="34" y="182"/>
                  </a:lnTo>
                  <a:lnTo>
                    <a:pt x="30" y="196"/>
                  </a:lnTo>
                  <a:lnTo>
                    <a:pt x="21" y="206"/>
                  </a:lnTo>
                  <a:lnTo>
                    <a:pt x="11" y="215"/>
                  </a:lnTo>
                  <a:lnTo>
                    <a:pt x="13" y="227"/>
                  </a:lnTo>
                  <a:lnTo>
                    <a:pt x="17" y="240"/>
                  </a:lnTo>
                  <a:lnTo>
                    <a:pt x="17" y="260"/>
                  </a:lnTo>
                  <a:lnTo>
                    <a:pt x="17" y="278"/>
                  </a:lnTo>
                  <a:lnTo>
                    <a:pt x="19" y="294"/>
                  </a:lnTo>
                  <a:lnTo>
                    <a:pt x="30" y="294"/>
                  </a:lnTo>
                  <a:lnTo>
                    <a:pt x="31" y="282"/>
                  </a:lnTo>
                  <a:lnTo>
                    <a:pt x="27" y="279"/>
                  </a:lnTo>
                  <a:lnTo>
                    <a:pt x="46" y="263"/>
                  </a:lnTo>
                  <a:lnTo>
                    <a:pt x="59" y="256"/>
                  </a:lnTo>
                  <a:lnTo>
                    <a:pt x="72" y="248"/>
                  </a:lnTo>
                  <a:lnTo>
                    <a:pt x="72" y="240"/>
                  </a:lnTo>
                  <a:lnTo>
                    <a:pt x="75" y="225"/>
                  </a:lnTo>
                  <a:lnTo>
                    <a:pt x="76" y="209"/>
                  </a:lnTo>
                  <a:lnTo>
                    <a:pt x="73" y="214"/>
                  </a:lnTo>
                  <a:lnTo>
                    <a:pt x="70" y="200"/>
                  </a:lnTo>
                  <a:lnTo>
                    <a:pt x="69" y="18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8" name="Freeform 207"/>
            <p:cNvSpPr>
              <a:spLocks/>
            </p:cNvSpPr>
            <p:nvPr/>
          </p:nvSpPr>
          <p:spPr bwMode="auto">
            <a:xfrm>
              <a:off x="2811" y="3147"/>
              <a:ext cx="282" cy="251"/>
            </a:xfrm>
            <a:custGeom>
              <a:avLst/>
              <a:gdLst/>
              <a:ahLst/>
              <a:cxnLst>
                <a:cxn ang="0">
                  <a:pos x="55" y="64"/>
                </a:cxn>
                <a:cxn ang="0">
                  <a:pos x="53" y="98"/>
                </a:cxn>
                <a:cxn ang="0">
                  <a:pos x="37" y="120"/>
                </a:cxn>
                <a:cxn ang="0">
                  <a:pos x="8" y="106"/>
                </a:cxn>
                <a:cxn ang="0">
                  <a:pos x="7" y="132"/>
                </a:cxn>
                <a:cxn ang="0">
                  <a:pos x="19" y="165"/>
                </a:cxn>
                <a:cxn ang="0">
                  <a:pos x="19" y="190"/>
                </a:cxn>
                <a:cxn ang="0">
                  <a:pos x="25" y="216"/>
                </a:cxn>
                <a:cxn ang="0">
                  <a:pos x="38" y="221"/>
                </a:cxn>
                <a:cxn ang="0">
                  <a:pos x="64" y="221"/>
                </a:cxn>
                <a:cxn ang="0">
                  <a:pos x="96" y="215"/>
                </a:cxn>
                <a:cxn ang="0">
                  <a:pos x="133" y="212"/>
                </a:cxn>
                <a:cxn ang="0">
                  <a:pos x="160" y="198"/>
                </a:cxn>
                <a:cxn ang="0">
                  <a:pos x="186" y="179"/>
                </a:cxn>
                <a:cxn ang="0">
                  <a:pos x="205" y="158"/>
                </a:cxn>
                <a:cxn ang="0">
                  <a:pos x="227" y="134"/>
                </a:cxn>
                <a:cxn ang="0">
                  <a:pos x="246" y="101"/>
                </a:cxn>
                <a:cxn ang="0">
                  <a:pos x="242" y="84"/>
                </a:cxn>
                <a:cxn ang="0">
                  <a:pos x="223" y="87"/>
                </a:cxn>
                <a:cxn ang="0">
                  <a:pos x="232" y="64"/>
                </a:cxn>
                <a:cxn ang="0">
                  <a:pos x="240" y="50"/>
                </a:cxn>
                <a:cxn ang="0">
                  <a:pos x="236" y="17"/>
                </a:cxn>
                <a:cxn ang="0">
                  <a:pos x="218" y="3"/>
                </a:cxn>
                <a:cxn ang="0">
                  <a:pos x="202" y="0"/>
                </a:cxn>
                <a:cxn ang="0">
                  <a:pos x="166" y="28"/>
                </a:cxn>
                <a:cxn ang="0">
                  <a:pos x="148" y="50"/>
                </a:cxn>
                <a:cxn ang="0">
                  <a:pos x="115" y="62"/>
                </a:cxn>
                <a:cxn ang="0">
                  <a:pos x="95" y="69"/>
                </a:cxn>
                <a:cxn ang="0">
                  <a:pos x="71" y="83"/>
                </a:cxn>
                <a:cxn ang="0">
                  <a:pos x="67" y="64"/>
                </a:cxn>
                <a:cxn ang="0">
                  <a:pos x="176" y="120"/>
                </a:cxn>
                <a:cxn ang="0">
                  <a:pos x="172" y="152"/>
                </a:cxn>
                <a:cxn ang="0">
                  <a:pos x="193" y="136"/>
                </a:cxn>
                <a:cxn ang="0">
                  <a:pos x="182" y="117"/>
                </a:cxn>
                <a:cxn ang="0">
                  <a:pos x="56" y="47"/>
                </a:cxn>
              </a:cxnLst>
              <a:rect l="0" t="0" r="r" b="b"/>
              <a:pathLst>
                <a:path w="253" h="226">
                  <a:moveTo>
                    <a:pt x="56" y="47"/>
                  </a:moveTo>
                  <a:lnTo>
                    <a:pt x="55" y="64"/>
                  </a:lnTo>
                  <a:lnTo>
                    <a:pt x="54" y="81"/>
                  </a:lnTo>
                  <a:lnTo>
                    <a:pt x="53" y="98"/>
                  </a:lnTo>
                  <a:lnTo>
                    <a:pt x="50" y="114"/>
                  </a:lnTo>
                  <a:lnTo>
                    <a:pt x="37" y="120"/>
                  </a:lnTo>
                  <a:lnTo>
                    <a:pt x="14" y="117"/>
                  </a:lnTo>
                  <a:lnTo>
                    <a:pt x="8" y="106"/>
                  </a:lnTo>
                  <a:lnTo>
                    <a:pt x="0" y="116"/>
                  </a:lnTo>
                  <a:lnTo>
                    <a:pt x="7" y="132"/>
                  </a:lnTo>
                  <a:lnTo>
                    <a:pt x="13" y="148"/>
                  </a:lnTo>
                  <a:lnTo>
                    <a:pt x="19" y="165"/>
                  </a:lnTo>
                  <a:lnTo>
                    <a:pt x="25" y="182"/>
                  </a:lnTo>
                  <a:lnTo>
                    <a:pt x="19" y="190"/>
                  </a:lnTo>
                  <a:lnTo>
                    <a:pt x="20" y="198"/>
                  </a:lnTo>
                  <a:lnTo>
                    <a:pt x="25" y="216"/>
                  </a:lnTo>
                  <a:lnTo>
                    <a:pt x="30" y="216"/>
                  </a:lnTo>
                  <a:lnTo>
                    <a:pt x="38" y="221"/>
                  </a:lnTo>
                  <a:lnTo>
                    <a:pt x="48" y="226"/>
                  </a:lnTo>
                  <a:lnTo>
                    <a:pt x="64" y="221"/>
                  </a:lnTo>
                  <a:lnTo>
                    <a:pt x="80" y="215"/>
                  </a:lnTo>
                  <a:lnTo>
                    <a:pt x="96" y="215"/>
                  </a:lnTo>
                  <a:lnTo>
                    <a:pt x="113" y="214"/>
                  </a:lnTo>
                  <a:lnTo>
                    <a:pt x="133" y="212"/>
                  </a:lnTo>
                  <a:lnTo>
                    <a:pt x="143" y="208"/>
                  </a:lnTo>
                  <a:lnTo>
                    <a:pt x="160" y="198"/>
                  </a:lnTo>
                  <a:lnTo>
                    <a:pt x="176" y="189"/>
                  </a:lnTo>
                  <a:lnTo>
                    <a:pt x="186" y="179"/>
                  </a:lnTo>
                  <a:lnTo>
                    <a:pt x="196" y="168"/>
                  </a:lnTo>
                  <a:lnTo>
                    <a:pt x="205" y="158"/>
                  </a:lnTo>
                  <a:lnTo>
                    <a:pt x="216" y="147"/>
                  </a:lnTo>
                  <a:lnTo>
                    <a:pt x="227" y="134"/>
                  </a:lnTo>
                  <a:lnTo>
                    <a:pt x="239" y="119"/>
                  </a:lnTo>
                  <a:lnTo>
                    <a:pt x="246" y="101"/>
                  </a:lnTo>
                  <a:lnTo>
                    <a:pt x="253" y="84"/>
                  </a:lnTo>
                  <a:lnTo>
                    <a:pt x="242" y="84"/>
                  </a:lnTo>
                  <a:lnTo>
                    <a:pt x="239" y="92"/>
                  </a:lnTo>
                  <a:lnTo>
                    <a:pt x="223" y="87"/>
                  </a:lnTo>
                  <a:lnTo>
                    <a:pt x="224" y="74"/>
                  </a:lnTo>
                  <a:lnTo>
                    <a:pt x="232" y="64"/>
                  </a:lnTo>
                  <a:lnTo>
                    <a:pt x="240" y="68"/>
                  </a:lnTo>
                  <a:lnTo>
                    <a:pt x="240" y="50"/>
                  </a:lnTo>
                  <a:lnTo>
                    <a:pt x="240" y="30"/>
                  </a:lnTo>
                  <a:lnTo>
                    <a:pt x="236" y="17"/>
                  </a:lnTo>
                  <a:lnTo>
                    <a:pt x="234" y="5"/>
                  </a:lnTo>
                  <a:lnTo>
                    <a:pt x="218" y="3"/>
                  </a:lnTo>
                  <a:lnTo>
                    <a:pt x="204" y="0"/>
                  </a:lnTo>
                  <a:lnTo>
                    <a:pt x="202" y="0"/>
                  </a:lnTo>
                  <a:lnTo>
                    <a:pt x="181" y="14"/>
                  </a:lnTo>
                  <a:lnTo>
                    <a:pt x="166" y="28"/>
                  </a:lnTo>
                  <a:lnTo>
                    <a:pt x="157" y="44"/>
                  </a:lnTo>
                  <a:lnTo>
                    <a:pt x="148" y="50"/>
                  </a:lnTo>
                  <a:lnTo>
                    <a:pt x="139" y="64"/>
                  </a:lnTo>
                  <a:lnTo>
                    <a:pt x="115" y="62"/>
                  </a:lnTo>
                  <a:lnTo>
                    <a:pt x="103" y="57"/>
                  </a:lnTo>
                  <a:lnTo>
                    <a:pt x="95" y="69"/>
                  </a:lnTo>
                  <a:lnTo>
                    <a:pt x="88" y="81"/>
                  </a:lnTo>
                  <a:lnTo>
                    <a:pt x="71" y="83"/>
                  </a:lnTo>
                  <a:lnTo>
                    <a:pt x="65" y="81"/>
                  </a:lnTo>
                  <a:lnTo>
                    <a:pt x="67" y="64"/>
                  </a:lnTo>
                  <a:lnTo>
                    <a:pt x="56" y="47"/>
                  </a:lnTo>
                  <a:lnTo>
                    <a:pt x="176" y="120"/>
                  </a:lnTo>
                  <a:lnTo>
                    <a:pt x="161" y="136"/>
                  </a:lnTo>
                  <a:lnTo>
                    <a:pt x="172" y="152"/>
                  </a:lnTo>
                  <a:lnTo>
                    <a:pt x="178" y="147"/>
                  </a:lnTo>
                  <a:lnTo>
                    <a:pt x="193" y="136"/>
                  </a:lnTo>
                  <a:lnTo>
                    <a:pt x="196" y="124"/>
                  </a:lnTo>
                  <a:lnTo>
                    <a:pt x="182" y="117"/>
                  </a:lnTo>
                  <a:lnTo>
                    <a:pt x="176" y="120"/>
                  </a:lnTo>
                  <a:lnTo>
                    <a:pt x="56" y="47"/>
                  </a:lnTo>
                  <a:close/>
                </a:path>
              </a:pathLst>
            </a:custGeom>
            <a:grpFill/>
            <a:ln w="3175" cmpd="sng">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9" name="Freeform 208"/>
            <p:cNvSpPr>
              <a:spLocks/>
            </p:cNvSpPr>
            <p:nvPr/>
          </p:nvSpPr>
          <p:spPr bwMode="auto">
            <a:xfrm>
              <a:off x="2811" y="3147"/>
              <a:ext cx="282" cy="251"/>
            </a:xfrm>
            <a:custGeom>
              <a:avLst/>
              <a:gdLst/>
              <a:ahLst/>
              <a:cxnLst>
                <a:cxn ang="0">
                  <a:pos x="56" y="47"/>
                </a:cxn>
                <a:cxn ang="0">
                  <a:pos x="55" y="64"/>
                </a:cxn>
                <a:cxn ang="0">
                  <a:pos x="54" y="81"/>
                </a:cxn>
                <a:cxn ang="0">
                  <a:pos x="53" y="98"/>
                </a:cxn>
                <a:cxn ang="0">
                  <a:pos x="50" y="114"/>
                </a:cxn>
                <a:cxn ang="0">
                  <a:pos x="37" y="120"/>
                </a:cxn>
                <a:cxn ang="0">
                  <a:pos x="14" y="117"/>
                </a:cxn>
                <a:cxn ang="0">
                  <a:pos x="8" y="106"/>
                </a:cxn>
                <a:cxn ang="0">
                  <a:pos x="0" y="116"/>
                </a:cxn>
                <a:cxn ang="0">
                  <a:pos x="7" y="132"/>
                </a:cxn>
                <a:cxn ang="0">
                  <a:pos x="13" y="148"/>
                </a:cxn>
                <a:cxn ang="0">
                  <a:pos x="19" y="165"/>
                </a:cxn>
                <a:cxn ang="0">
                  <a:pos x="25" y="182"/>
                </a:cxn>
                <a:cxn ang="0">
                  <a:pos x="19" y="190"/>
                </a:cxn>
                <a:cxn ang="0">
                  <a:pos x="20" y="198"/>
                </a:cxn>
                <a:cxn ang="0">
                  <a:pos x="25" y="216"/>
                </a:cxn>
                <a:cxn ang="0">
                  <a:pos x="30" y="216"/>
                </a:cxn>
                <a:cxn ang="0">
                  <a:pos x="38" y="221"/>
                </a:cxn>
                <a:cxn ang="0">
                  <a:pos x="48" y="226"/>
                </a:cxn>
                <a:cxn ang="0">
                  <a:pos x="64" y="221"/>
                </a:cxn>
                <a:cxn ang="0">
                  <a:pos x="80" y="215"/>
                </a:cxn>
                <a:cxn ang="0">
                  <a:pos x="96" y="215"/>
                </a:cxn>
                <a:cxn ang="0">
                  <a:pos x="113" y="214"/>
                </a:cxn>
                <a:cxn ang="0">
                  <a:pos x="133" y="212"/>
                </a:cxn>
                <a:cxn ang="0">
                  <a:pos x="143" y="208"/>
                </a:cxn>
                <a:cxn ang="0">
                  <a:pos x="160" y="198"/>
                </a:cxn>
                <a:cxn ang="0">
                  <a:pos x="176" y="189"/>
                </a:cxn>
                <a:cxn ang="0">
                  <a:pos x="186" y="179"/>
                </a:cxn>
                <a:cxn ang="0">
                  <a:pos x="196" y="168"/>
                </a:cxn>
                <a:cxn ang="0">
                  <a:pos x="205" y="158"/>
                </a:cxn>
                <a:cxn ang="0">
                  <a:pos x="216" y="147"/>
                </a:cxn>
                <a:cxn ang="0">
                  <a:pos x="227" y="134"/>
                </a:cxn>
                <a:cxn ang="0">
                  <a:pos x="239" y="119"/>
                </a:cxn>
                <a:cxn ang="0">
                  <a:pos x="246" y="101"/>
                </a:cxn>
                <a:cxn ang="0">
                  <a:pos x="253" y="84"/>
                </a:cxn>
                <a:cxn ang="0">
                  <a:pos x="242" y="84"/>
                </a:cxn>
                <a:cxn ang="0">
                  <a:pos x="239" y="92"/>
                </a:cxn>
                <a:cxn ang="0">
                  <a:pos x="223" y="87"/>
                </a:cxn>
                <a:cxn ang="0">
                  <a:pos x="224" y="74"/>
                </a:cxn>
                <a:cxn ang="0">
                  <a:pos x="232" y="64"/>
                </a:cxn>
                <a:cxn ang="0">
                  <a:pos x="240" y="68"/>
                </a:cxn>
                <a:cxn ang="0">
                  <a:pos x="240" y="50"/>
                </a:cxn>
                <a:cxn ang="0">
                  <a:pos x="240" y="30"/>
                </a:cxn>
                <a:cxn ang="0">
                  <a:pos x="236" y="17"/>
                </a:cxn>
                <a:cxn ang="0">
                  <a:pos x="234" y="5"/>
                </a:cxn>
                <a:cxn ang="0">
                  <a:pos x="218" y="3"/>
                </a:cxn>
                <a:cxn ang="0">
                  <a:pos x="204" y="0"/>
                </a:cxn>
                <a:cxn ang="0">
                  <a:pos x="202" y="0"/>
                </a:cxn>
                <a:cxn ang="0">
                  <a:pos x="181" y="14"/>
                </a:cxn>
                <a:cxn ang="0">
                  <a:pos x="166" y="28"/>
                </a:cxn>
                <a:cxn ang="0">
                  <a:pos x="157" y="44"/>
                </a:cxn>
                <a:cxn ang="0">
                  <a:pos x="148" y="50"/>
                </a:cxn>
                <a:cxn ang="0">
                  <a:pos x="139" y="64"/>
                </a:cxn>
                <a:cxn ang="0">
                  <a:pos x="115" y="62"/>
                </a:cxn>
                <a:cxn ang="0">
                  <a:pos x="103" y="57"/>
                </a:cxn>
                <a:cxn ang="0">
                  <a:pos x="95" y="69"/>
                </a:cxn>
                <a:cxn ang="0">
                  <a:pos x="88" y="81"/>
                </a:cxn>
                <a:cxn ang="0">
                  <a:pos x="71" y="83"/>
                </a:cxn>
                <a:cxn ang="0">
                  <a:pos x="65" y="81"/>
                </a:cxn>
                <a:cxn ang="0">
                  <a:pos x="67" y="64"/>
                </a:cxn>
                <a:cxn ang="0">
                  <a:pos x="56" y="47"/>
                </a:cxn>
              </a:cxnLst>
              <a:rect l="0" t="0" r="r" b="b"/>
              <a:pathLst>
                <a:path w="253" h="226">
                  <a:moveTo>
                    <a:pt x="56" y="47"/>
                  </a:moveTo>
                  <a:lnTo>
                    <a:pt x="55" y="64"/>
                  </a:lnTo>
                  <a:lnTo>
                    <a:pt x="54" y="81"/>
                  </a:lnTo>
                  <a:lnTo>
                    <a:pt x="53" y="98"/>
                  </a:lnTo>
                  <a:lnTo>
                    <a:pt x="50" y="114"/>
                  </a:lnTo>
                  <a:lnTo>
                    <a:pt x="37" y="120"/>
                  </a:lnTo>
                  <a:lnTo>
                    <a:pt x="14" y="117"/>
                  </a:lnTo>
                  <a:lnTo>
                    <a:pt x="8" y="106"/>
                  </a:lnTo>
                  <a:lnTo>
                    <a:pt x="0" y="116"/>
                  </a:lnTo>
                  <a:lnTo>
                    <a:pt x="7" y="132"/>
                  </a:lnTo>
                  <a:lnTo>
                    <a:pt x="13" y="148"/>
                  </a:lnTo>
                  <a:lnTo>
                    <a:pt x="19" y="165"/>
                  </a:lnTo>
                  <a:lnTo>
                    <a:pt x="25" y="182"/>
                  </a:lnTo>
                  <a:lnTo>
                    <a:pt x="19" y="190"/>
                  </a:lnTo>
                  <a:lnTo>
                    <a:pt x="20" y="198"/>
                  </a:lnTo>
                  <a:lnTo>
                    <a:pt x="25" y="216"/>
                  </a:lnTo>
                  <a:lnTo>
                    <a:pt x="30" y="216"/>
                  </a:lnTo>
                  <a:lnTo>
                    <a:pt x="38" y="221"/>
                  </a:lnTo>
                  <a:lnTo>
                    <a:pt x="48" y="226"/>
                  </a:lnTo>
                  <a:lnTo>
                    <a:pt x="64" y="221"/>
                  </a:lnTo>
                  <a:lnTo>
                    <a:pt x="80" y="215"/>
                  </a:lnTo>
                  <a:lnTo>
                    <a:pt x="96" y="215"/>
                  </a:lnTo>
                  <a:lnTo>
                    <a:pt x="113" y="214"/>
                  </a:lnTo>
                  <a:lnTo>
                    <a:pt x="133" y="212"/>
                  </a:lnTo>
                  <a:lnTo>
                    <a:pt x="143" y="208"/>
                  </a:lnTo>
                  <a:lnTo>
                    <a:pt x="160" y="198"/>
                  </a:lnTo>
                  <a:lnTo>
                    <a:pt x="176" y="189"/>
                  </a:lnTo>
                  <a:lnTo>
                    <a:pt x="186" y="179"/>
                  </a:lnTo>
                  <a:lnTo>
                    <a:pt x="196" y="168"/>
                  </a:lnTo>
                  <a:lnTo>
                    <a:pt x="205" y="158"/>
                  </a:lnTo>
                  <a:lnTo>
                    <a:pt x="216" y="147"/>
                  </a:lnTo>
                  <a:lnTo>
                    <a:pt x="227" y="134"/>
                  </a:lnTo>
                  <a:lnTo>
                    <a:pt x="239" y="119"/>
                  </a:lnTo>
                  <a:lnTo>
                    <a:pt x="246" y="101"/>
                  </a:lnTo>
                  <a:lnTo>
                    <a:pt x="253" y="84"/>
                  </a:lnTo>
                  <a:lnTo>
                    <a:pt x="242" y="84"/>
                  </a:lnTo>
                  <a:lnTo>
                    <a:pt x="239" y="92"/>
                  </a:lnTo>
                  <a:lnTo>
                    <a:pt x="223" y="87"/>
                  </a:lnTo>
                  <a:lnTo>
                    <a:pt x="224" y="74"/>
                  </a:lnTo>
                  <a:lnTo>
                    <a:pt x="232" y="64"/>
                  </a:lnTo>
                  <a:lnTo>
                    <a:pt x="240" y="68"/>
                  </a:lnTo>
                  <a:lnTo>
                    <a:pt x="240" y="50"/>
                  </a:lnTo>
                  <a:lnTo>
                    <a:pt x="240" y="30"/>
                  </a:lnTo>
                  <a:lnTo>
                    <a:pt x="236" y="17"/>
                  </a:lnTo>
                  <a:lnTo>
                    <a:pt x="234" y="5"/>
                  </a:lnTo>
                  <a:lnTo>
                    <a:pt x="218" y="3"/>
                  </a:lnTo>
                  <a:lnTo>
                    <a:pt x="204" y="0"/>
                  </a:lnTo>
                  <a:lnTo>
                    <a:pt x="202" y="0"/>
                  </a:lnTo>
                  <a:lnTo>
                    <a:pt x="181" y="14"/>
                  </a:lnTo>
                  <a:lnTo>
                    <a:pt x="166" y="28"/>
                  </a:lnTo>
                  <a:lnTo>
                    <a:pt x="157" y="44"/>
                  </a:lnTo>
                  <a:lnTo>
                    <a:pt x="148" y="50"/>
                  </a:lnTo>
                  <a:lnTo>
                    <a:pt x="139" y="64"/>
                  </a:lnTo>
                  <a:lnTo>
                    <a:pt x="115" y="62"/>
                  </a:lnTo>
                  <a:lnTo>
                    <a:pt x="103" y="57"/>
                  </a:lnTo>
                  <a:lnTo>
                    <a:pt x="95" y="69"/>
                  </a:lnTo>
                  <a:lnTo>
                    <a:pt x="88" y="81"/>
                  </a:lnTo>
                  <a:lnTo>
                    <a:pt x="71" y="83"/>
                  </a:lnTo>
                  <a:lnTo>
                    <a:pt x="65" y="81"/>
                  </a:lnTo>
                  <a:lnTo>
                    <a:pt x="67" y="64"/>
                  </a:lnTo>
                  <a:lnTo>
                    <a:pt x="56" y="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0" name="Freeform 209"/>
            <p:cNvSpPr>
              <a:spLocks/>
            </p:cNvSpPr>
            <p:nvPr/>
          </p:nvSpPr>
          <p:spPr bwMode="auto">
            <a:xfrm>
              <a:off x="2989" y="3276"/>
              <a:ext cx="40" cy="40"/>
            </a:xfrm>
            <a:custGeom>
              <a:avLst/>
              <a:gdLst/>
              <a:ahLst/>
              <a:cxnLst>
                <a:cxn ang="0">
                  <a:pos x="15" y="3"/>
                </a:cxn>
                <a:cxn ang="0">
                  <a:pos x="0" y="19"/>
                </a:cxn>
                <a:cxn ang="0">
                  <a:pos x="11" y="35"/>
                </a:cxn>
                <a:cxn ang="0">
                  <a:pos x="17" y="30"/>
                </a:cxn>
                <a:cxn ang="0">
                  <a:pos x="32" y="19"/>
                </a:cxn>
                <a:cxn ang="0">
                  <a:pos x="35" y="7"/>
                </a:cxn>
                <a:cxn ang="0">
                  <a:pos x="21" y="0"/>
                </a:cxn>
                <a:cxn ang="0">
                  <a:pos x="15" y="3"/>
                </a:cxn>
              </a:cxnLst>
              <a:rect l="0" t="0" r="r" b="b"/>
              <a:pathLst>
                <a:path w="35" h="35">
                  <a:moveTo>
                    <a:pt x="15" y="3"/>
                  </a:moveTo>
                  <a:lnTo>
                    <a:pt x="0" y="19"/>
                  </a:lnTo>
                  <a:lnTo>
                    <a:pt x="11" y="35"/>
                  </a:lnTo>
                  <a:lnTo>
                    <a:pt x="17" y="30"/>
                  </a:lnTo>
                  <a:lnTo>
                    <a:pt x="32" y="19"/>
                  </a:lnTo>
                  <a:lnTo>
                    <a:pt x="35" y="7"/>
                  </a:lnTo>
                  <a:lnTo>
                    <a:pt x="21" y="0"/>
                  </a:lnTo>
                  <a:lnTo>
                    <a:pt x="1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1" name="Freeform 210"/>
            <p:cNvSpPr>
              <a:spLocks/>
            </p:cNvSpPr>
            <p:nvPr/>
          </p:nvSpPr>
          <p:spPr bwMode="auto">
            <a:xfrm>
              <a:off x="2780" y="3156"/>
              <a:ext cx="2" cy="11"/>
            </a:xfrm>
            <a:custGeom>
              <a:avLst/>
              <a:gdLst/>
              <a:ahLst/>
              <a:cxnLst>
                <a:cxn ang="0">
                  <a:pos x="3" y="9"/>
                </a:cxn>
                <a:cxn ang="0">
                  <a:pos x="0" y="8"/>
                </a:cxn>
                <a:cxn ang="0">
                  <a:pos x="2" y="0"/>
                </a:cxn>
                <a:cxn ang="0">
                  <a:pos x="3" y="9"/>
                </a:cxn>
              </a:cxnLst>
              <a:rect l="0" t="0" r="r" b="b"/>
              <a:pathLst>
                <a:path w="3" h="9">
                  <a:moveTo>
                    <a:pt x="3" y="9"/>
                  </a:moveTo>
                  <a:lnTo>
                    <a:pt x="0" y="8"/>
                  </a:lnTo>
                  <a:lnTo>
                    <a:pt x="2" y="0"/>
                  </a:lnTo>
                  <a:lnTo>
                    <a:pt x="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2" name="Freeform 211"/>
            <p:cNvSpPr>
              <a:spLocks/>
            </p:cNvSpPr>
            <p:nvPr/>
          </p:nvSpPr>
          <p:spPr bwMode="auto">
            <a:xfrm>
              <a:off x="3060" y="3218"/>
              <a:ext cx="20" cy="32"/>
            </a:xfrm>
            <a:custGeom>
              <a:avLst/>
              <a:gdLst/>
              <a:ahLst/>
              <a:cxnLst>
                <a:cxn ang="0">
                  <a:pos x="9" y="0"/>
                </a:cxn>
                <a:cxn ang="0">
                  <a:pos x="1" y="10"/>
                </a:cxn>
                <a:cxn ang="0">
                  <a:pos x="0" y="23"/>
                </a:cxn>
                <a:cxn ang="0">
                  <a:pos x="16" y="28"/>
                </a:cxn>
                <a:cxn ang="0">
                  <a:pos x="19" y="20"/>
                </a:cxn>
                <a:cxn ang="0">
                  <a:pos x="17" y="4"/>
                </a:cxn>
                <a:cxn ang="0">
                  <a:pos x="9" y="0"/>
                </a:cxn>
              </a:cxnLst>
              <a:rect l="0" t="0" r="r" b="b"/>
              <a:pathLst>
                <a:path w="19" h="28">
                  <a:moveTo>
                    <a:pt x="9" y="0"/>
                  </a:moveTo>
                  <a:lnTo>
                    <a:pt x="1" y="10"/>
                  </a:lnTo>
                  <a:lnTo>
                    <a:pt x="0" y="23"/>
                  </a:lnTo>
                  <a:lnTo>
                    <a:pt x="16" y="28"/>
                  </a:lnTo>
                  <a:lnTo>
                    <a:pt x="19" y="20"/>
                  </a:lnTo>
                  <a:lnTo>
                    <a:pt x="17" y="4"/>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3" name="Freeform 212"/>
            <p:cNvSpPr>
              <a:spLocks/>
            </p:cNvSpPr>
            <p:nvPr/>
          </p:nvSpPr>
          <p:spPr bwMode="auto">
            <a:xfrm>
              <a:off x="2736" y="2823"/>
              <a:ext cx="215" cy="240"/>
            </a:xfrm>
            <a:custGeom>
              <a:avLst/>
              <a:gdLst/>
              <a:ahLst/>
              <a:cxnLst>
                <a:cxn ang="0">
                  <a:pos x="193" y="127"/>
                </a:cxn>
                <a:cxn ang="0">
                  <a:pos x="177" y="127"/>
                </a:cxn>
                <a:cxn ang="0">
                  <a:pos x="162" y="128"/>
                </a:cxn>
                <a:cxn ang="0">
                  <a:pos x="161" y="141"/>
                </a:cxn>
                <a:cxn ang="0">
                  <a:pos x="161" y="156"/>
                </a:cxn>
                <a:cxn ang="0">
                  <a:pos x="161" y="170"/>
                </a:cxn>
                <a:cxn ang="0">
                  <a:pos x="161" y="184"/>
                </a:cxn>
                <a:cxn ang="0">
                  <a:pos x="171" y="198"/>
                </a:cxn>
                <a:cxn ang="0">
                  <a:pos x="182" y="211"/>
                </a:cxn>
                <a:cxn ang="0">
                  <a:pos x="158" y="213"/>
                </a:cxn>
                <a:cxn ang="0">
                  <a:pos x="135" y="217"/>
                </a:cxn>
                <a:cxn ang="0">
                  <a:pos x="120" y="213"/>
                </a:cxn>
                <a:cxn ang="0">
                  <a:pos x="105" y="210"/>
                </a:cxn>
                <a:cxn ang="0">
                  <a:pos x="103" y="206"/>
                </a:cxn>
                <a:cxn ang="0">
                  <a:pos x="85" y="206"/>
                </a:cxn>
                <a:cxn ang="0">
                  <a:pos x="67" y="205"/>
                </a:cxn>
                <a:cxn ang="0">
                  <a:pos x="49" y="205"/>
                </a:cxn>
                <a:cxn ang="0">
                  <a:pos x="30" y="204"/>
                </a:cxn>
                <a:cxn ang="0">
                  <a:pos x="19" y="199"/>
                </a:cxn>
                <a:cxn ang="0">
                  <a:pos x="0" y="204"/>
                </a:cxn>
                <a:cxn ang="0">
                  <a:pos x="1" y="189"/>
                </a:cxn>
                <a:cxn ang="0">
                  <a:pos x="2" y="175"/>
                </a:cxn>
                <a:cxn ang="0">
                  <a:pos x="9" y="153"/>
                </a:cxn>
                <a:cxn ang="0">
                  <a:pos x="17" y="130"/>
                </a:cxn>
                <a:cxn ang="0">
                  <a:pos x="25" y="118"/>
                </a:cxn>
                <a:cxn ang="0">
                  <a:pos x="32" y="106"/>
                </a:cxn>
                <a:cxn ang="0">
                  <a:pos x="30" y="82"/>
                </a:cxn>
                <a:cxn ang="0">
                  <a:pos x="25" y="68"/>
                </a:cxn>
                <a:cxn ang="0">
                  <a:pos x="21" y="55"/>
                </a:cxn>
                <a:cxn ang="0">
                  <a:pos x="26" y="46"/>
                </a:cxn>
                <a:cxn ang="0">
                  <a:pos x="19" y="25"/>
                </a:cxn>
                <a:cxn ang="0">
                  <a:pos x="11" y="3"/>
                </a:cxn>
                <a:cxn ang="0">
                  <a:pos x="24" y="0"/>
                </a:cxn>
                <a:cxn ang="0">
                  <a:pos x="37" y="0"/>
                </a:cxn>
                <a:cxn ang="0">
                  <a:pos x="51" y="1"/>
                </a:cxn>
                <a:cxn ang="0">
                  <a:pos x="65" y="1"/>
                </a:cxn>
                <a:cxn ang="0">
                  <a:pos x="78" y="2"/>
                </a:cxn>
                <a:cxn ang="0">
                  <a:pos x="84" y="19"/>
                </a:cxn>
                <a:cxn ang="0">
                  <a:pos x="91" y="36"/>
                </a:cxn>
                <a:cxn ang="0">
                  <a:pos x="102" y="39"/>
                </a:cxn>
                <a:cxn ang="0">
                  <a:pos x="121" y="36"/>
                </a:cxn>
                <a:cxn ang="0">
                  <a:pos x="125" y="20"/>
                </a:cxn>
                <a:cxn ang="0">
                  <a:pos x="140" y="21"/>
                </a:cxn>
                <a:cxn ang="0">
                  <a:pos x="140" y="25"/>
                </a:cxn>
                <a:cxn ang="0">
                  <a:pos x="161" y="28"/>
                </a:cxn>
                <a:cxn ang="0">
                  <a:pos x="162" y="49"/>
                </a:cxn>
                <a:cxn ang="0">
                  <a:pos x="162" y="69"/>
                </a:cxn>
                <a:cxn ang="0">
                  <a:pos x="167" y="87"/>
                </a:cxn>
                <a:cxn ang="0">
                  <a:pos x="168" y="94"/>
                </a:cxn>
                <a:cxn ang="0">
                  <a:pos x="181" y="92"/>
                </a:cxn>
                <a:cxn ang="0">
                  <a:pos x="193" y="90"/>
                </a:cxn>
                <a:cxn ang="0">
                  <a:pos x="193" y="108"/>
                </a:cxn>
                <a:cxn ang="0">
                  <a:pos x="193" y="127"/>
                </a:cxn>
              </a:cxnLst>
              <a:rect l="0" t="0" r="r" b="b"/>
              <a:pathLst>
                <a:path w="193" h="217">
                  <a:moveTo>
                    <a:pt x="193" y="127"/>
                  </a:moveTo>
                  <a:lnTo>
                    <a:pt x="177" y="127"/>
                  </a:lnTo>
                  <a:lnTo>
                    <a:pt x="162" y="128"/>
                  </a:lnTo>
                  <a:lnTo>
                    <a:pt x="161" y="141"/>
                  </a:lnTo>
                  <a:lnTo>
                    <a:pt x="161" y="156"/>
                  </a:lnTo>
                  <a:lnTo>
                    <a:pt x="161" y="170"/>
                  </a:lnTo>
                  <a:lnTo>
                    <a:pt x="161" y="184"/>
                  </a:lnTo>
                  <a:lnTo>
                    <a:pt x="171" y="198"/>
                  </a:lnTo>
                  <a:lnTo>
                    <a:pt x="182" y="211"/>
                  </a:lnTo>
                  <a:lnTo>
                    <a:pt x="158" y="213"/>
                  </a:lnTo>
                  <a:lnTo>
                    <a:pt x="135" y="217"/>
                  </a:lnTo>
                  <a:lnTo>
                    <a:pt x="120" y="213"/>
                  </a:lnTo>
                  <a:lnTo>
                    <a:pt x="105" y="210"/>
                  </a:lnTo>
                  <a:lnTo>
                    <a:pt x="103" y="206"/>
                  </a:lnTo>
                  <a:lnTo>
                    <a:pt x="85" y="206"/>
                  </a:lnTo>
                  <a:lnTo>
                    <a:pt x="67" y="205"/>
                  </a:lnTo>
                  <a:lnTo>
                    <a:pt x="49" y="205"/>
                  </a:lnTo>
                  <a:lnTo>
                    <a:pt x="30" y="204"/>
                  </a:lnTo>
                  <a:lnTo>
                    <a:pt x="19" y="199"/>
                  </a:lnTo>
                  <a:lnTo>
                    <a:pt x="0" y="204"/>
                  </a:lnTo>
                  <a:lnTo>
                    <a:pt x="1" y="189"/>
                  </a:lnTo>
                  <a:lnTo>
                    <a:pt x="2" y="175"/>
                  </a:lnTo>
                  <a:lnTo>
                    <a:pt x="9" y="153"/>
                  </a:lnTo>
                  <a:lnTo>
                    <a:pt x="17" y="130"/>
                  </a:lnTo>
                  <a:lnTo>
                    <a:pt x="25" y="118"/>
                  </a:lnTo>
                  <a:lnTo>
                    <a:pt x="32" y="106"/>
                  </a:lnTo>
                  <a:lnTo>
                    <a:pt x="30" y="82"/>
                  </a:lnTo>
                  <a:lnTo>
                    <a:pt x="25" y="68"/>
                  </a:lnTo>
                  <a:lnTo>
                    <a:pt x="21" y="55"/>
                  </a:lnTo>
                  <a:lnTo>
                    <a:pt x="26" y="46"/>
                  </a:lnTo>
                  <a:lnTo>
                    <a:pt x="19" y="25"/>
                  </a:lnTo>
                  <a:lnTo>
                    <a:pt x="11" y="3"/>
                  </a:lnTo>
                  <a:lnTo>
                    <a:pt x="24" y="0"/>
                  </a:lnTo>
                  <a:lnTo>
                    <a:pt x="37" y="0"/>
                  </a:lnTo>
                  <a:lnTo>
                    <a:pt x="51" y="1"/>
                  </a:lnTo>
                  <a:lnTo>
                    <a:pt x="65" y="1"/>
                  </a:lnTo>
                  <a:lnTo>
                    <a:pt x="78" y="2"/>
                  </a:lnTo>
                  <a:lnTo>
                    <a:pt x="84" y="19"/>
                  </a:lnTo>
                  <a:lnTo>
                    <a:pt x="91" y="36"/>
                  </a:lnTo>
                  <a:lnTo>
                    <a:pt x="102" y="39"/>
                  </a:lnTo>
                  <a:lnTo>
                    <a:pt x="121" y="36"/>
                  </a:lnTo>
                  <a:lnTo>
                    <a:pt x="125" y="20"/>
                  </a:lnTo>
                  <a:lnTo>
                    <a:pt x="140" y="21"/>
                  </a:lnTo>
                  <a:lnTo>
                    <a:pt x="140" y="25"/>
                  </a:lnTo>
                  <a:lnTo>
                    <a:pt x="161" y="28"/>
                  </a:lnTo>
                  <a:lnTo>
                    <a:pt x="162" y="49"/>
                  </a:lnTo>
                  <a:lnTo>
                    <a:pt x="162" y="69"/>
                  </a:lnTo>
                  <a:lnTo>
                    <a:pt x="167" y="87"/>
                  </a:lnTo>
                  <a:lnTo>
                    <a:pt x="168" y="94"/>
                  </a:lnTo>
                  <a:lnTo>
                    <a:pt x="181" y="92"/>
                  </a:lnTo>
                  <a:lnTo>
                    <a:pt x="193" y="90"/>
                  </a:lnTo>
                  <a:lnTo>
                    <a:pt x="193" y="108"/>
                  </a:lnTo>
                  <a:lnTo>
                    <a:pt x="193" y="1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4" name="Freeform 213"/>
            <p:cNvSpPr>
              <a:spLocks/>
            </p:cNvSpPr>
            <p:nvPr/>
          </p:nvSpPr>
          <p:spPr bwMode="auto">
            <a:xfrm>
              <a:off x="2742" y="2794"/>
              <a:ext cx="20" cy="27"/>
            </a:xfrm>
            <a:custGeom>
              <a:avLst/>
              <a:gdLst/>
              <a:ahLst/>
              <a:cxnLst>
                <a:cxn ang="0">
                  <a:pos x="2" y="24"/>
                </a:cxn>
                <a:cxn ang="0">
                  <a:pos x="0" y="10"/>
                </a:cxn>
                <a:cxn ang="0">
                  <a:pos x="11" y="0"/>
                </a:cxn>
                <a:cxn ang="0">
                  <a:pos x="17" y="3"/>
                </a:cxn>
                <a:cxn ang="0">
                  <a:pos x="9" y="9"/>
                </a:cxn>
                <a:cxn ang="0">
                  <a:pos x="8" y="23"/>
                </a:cxn>
                <a:cxn ang="0">
                  <a:pos x="2" y="24"/>
                </a:cxn>
              </a:cxnLst>
              <a:rect l="0" t="0" r="r" b="b"/>
              <a:pathLst>
                <a:path w="17" h="24">
                  <a:moveTo>
                    <a:pt x="2" y="24"/>
                  </a:moveTo>
                  <a:lnTo>
                    <a:pt x="0" y="10"/>
                  </a:lnTo>
                  <a:lnTo>
                    <a:pt x="11" y="0"/>
                  </a:lnTo>
                  <a:lnTo>
                    <a:pt x="17" y="3"/>
                  </a:lnTo>
                  <a:lnTo>
                    <a:pt x="9" y="9"/>
                  </a:lnTo>
                  <a:lnTo>
                    <a:pt x="8" y="23"/>
                  </a:lnTo>
                  <a:lnTo>
                    <a:pt x="2"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5" name="Freeform 214"/>
            <p:cNvSpPr>
              <a:spLocks/>
            </p:cNvSpPr>
            <p:nvPr/>
          </p:nvSpPr>
          <p:spPr bwMode="auto">
            <a:xfrm>
              <a:off x="2698" y="2659"/>
              <a:ext cx="33" cy="26"/>
            </a:xfrm>
            <a:custGeom>
              <a:avLst/>
              <a:gdLst/>
              <a:ahLst/>
              <a:cxnLst>
                <a:cxn ang="0">
                  <a:pos x="6" y="24"/>
                </a:cxn>
                <a:cxn ang="0">
                  <a:pos x="0" y="22"/>
                </a:cxn>
                <a:cxn ang="0">
                  <a:pos x="2" y="16"/>
                </a:cxn>
                <a:cxn ang="0">
                  <a:pos x="6" y="0"/>
                </a:cxn>
                <a:cxn ang="0">
                  <a:pos x="18" y="1"/>
                </a:cxn>
                <a:cxn ang="0">
                  <a:pos x="30" y="4"/>
                </a:cxn>
                <a:cxn ang="0">
                  <a:pos x="30" y="24"/>
                </a:cxn>
                <a:cxn ang="0">
                  <a:pos x="18" y="24"/>
                </a:cxn>
                <a:cxn ang="0">
                  <a:pos x="6" y="24"/>
                </a:cxn>
              </a:cxnLst>
              <a:rect l="0" t="0" r="r" b="b"/>
              <a:pathLst>
                <a:path w="30" h="24">
                  <a:moveTo>
                    <a:pt x="6" y="24"/>
                  </a:moveTo>
                  <a:lnTo>
                    <a:pt x="0" y="22"/>
                  </a:lnTo>
                  <a:lnTo>
                    <a:pt x="2" y="16"/>
                  </a:lnTo>
                  <a:lnTo>
                    <a:pt x="6" y="0"/>
                  </a:lnTo>
                  <a:lnTo>
                    <a:pt x="18" y="1"/>
                  </a:lnTo>
                  <a:lnTo>
                    <a:pt x="30" y="4"/>
                  </a:lnTo>
                  <a:lnTo>
                    <a:pt x="30" y="24"/>
                  </a:lnTo>
                  <a:lnTo>
                    <a:pt x="18" y="24"/>
                  </a:lnTo>
                  <a:lnTo>
                    <a:pt x="6"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6" name="Freeform 215"/>
            <p:cNvSpPr>
              <a:spLocks/>
            </p:cNvSpPr>
            <p:nvPr/>
          </p:nvSpPr>
          <p:spPr bwMode="auto">
            <a:xfrm>
              <a:off x="2680" y="2630"/>
              <a:ext cx="9" cy="11"/>
            </a:xfrm>
            <a:custGeom>
              <a:avLst/>
              <a:gdLst/>
              <a:ahLst/>
              <a:cxnLst>
                <a:cxn ang="0">
                  <a:pos x="9" y="1"/>
                </a:cxn>
                <a:cxn ang="0">
                  <a:pos x="6" y="0"/>
                </a:cxn>
                <a:cxn ang="0">
                  <a:pos x="0" y="8"/>
                </a:cxn>
                <a:cxn ang="0">
                  <a:pos x="9" y="1"/>
                </a:cxn>
              </a:cxnLst>
              <a:rect l="0" t="0" r="r" b="b"/>
              <a:pathLst>
                <a:path w="9" h="8">
                  <a:moveTo>
                    <a:pt x="9" y="1"/>
                  </a:moveTo>
                  <a:lnTo>
                    <a:pt x="6" y="0"/>
                  </a:lnTo>
                  <a:lnTo>
                    <a:pt x="0" y="8"/>
                  </a:lnTo>
                  <a:lnTo>
                    <a:pt x="9"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7" name="Freeform 216"/>
            <p:cNvSpPr>
              <a:spLocks/>
            </p:cNvSpPr>
            <p:nvPr/>
          </p:nvSpPr>
          <p:spPr bwMode="auto">
            <a:xfrm>
              <a:off x="2687" y="2663"/>
              <a:ext cx="100" cy="120"/>
            </a:xfrm>
            <a:custGeom>
              <a:avLst/>
              <a:gdLst/>
              <a:ahLst/>
              <a:cxnLst>
                <a:cxn ang="0">
                  <a:pos x="16" y="20"/>
                </a:cxn>
                <a:cxn ang="0">
                  <a:pos x="13" y="27"/>
                </a:cxn>
                <a:cxn ang="0">
                  <a:pos x="9" y="27"/>
                </a:cxn>
                <a:cxn ang="0">
                  <a:pos x="19" y="36"/>
                </a:cxn>
                <a:cxn ang="0">
                  <a:pos x="10" y="34"/>
                </a:cxn>
                <a:cxn ang="0">
                  <a:pos x="5" y="51"/>
                </a:cxn>
                <a:cxn ang="0">
                  <a:pos x="0" y="51"/>
                </a:cxn>
                <a:cxn ang="0">
                  <a:pos x="7" y="63"/>
                </a:cxn>
                <a:cxn ang="0">
                  <a:pos x="11" y="67"/>
                </a:cxn>
                <a:cxn ang="0">
                  <a:pos x="5" y="62"/>
                </a:cxn>
                <a:cxn ang="0">
                  <a:pos x="12" y="73"/>
                </a:cxn>
                <a:cxn ang="0">
                  <a:pos x="10" y="73"/>
                </a:cxn>
                <a:cxn ang="0">
                  <a:pos x="19" y="84"/>
                </a:cxn>
                <a:cxn ang="0">
                  <a:pos x="17" y="82"/>
                </a:cxn>
                <a:cxn ang="0">
                  <a:pos x="28" y="96"/>
                </a:cxn>
                <a:cxn ang="0">
                  <a:pos x="39" y="109"/>
                </a:cxn>
                <a:cxn ang="0">
                  <a:pos x="43" y="102"/>
                </a:cxn>
                <a:cxn ang="0">
                  <a:pos x="47" y="104"/>
                </a:cxn>
                <a:cxn ang="0">
                  <a:pos x="51" y="100"/>
                </a:cxn>
                <a:cxn ang="0">
                  <a:pos x="47" y="93"/>
                </a:cxn>
                <a:cxn ang="0">
                  <a:pos x="46" y="88"/>
                </a:cxn>
                <a:cxn ang="0">
                  <a:pos x="45" y="82"/>
                </a:cxn>
                <a:cxn ang="0">
                  <a:pos x="59" y="81"/>
                </a:cxn>
                <a:cxn ang="0">
                  <a:pos x="60" y="70"/>
                </a:cxn>
                <a:cxn ang="0">
                  <a:pos x="70" y="81"/>
                </a:cxn>
                <a:cxn ang="0">
                  <a:pos x="79" y="78"/>
                </a:cxn>
                <a:cxn ang="0">
                  <a:pos x="82" y="82"/>
                </a:cxn>
                <a:cxn ang="0">
                  <a:pos x="87" y="78"/>
                </a:cxn>
                <a:cxn ang="0">
                  <a:pos x="91" y="52"/>
                </a:cxn>
                <a:cxn ang="0">
                  <a:pos x="82" y="37"/>
                </a:cxn>
                <a:cxn ang="0">
                  <a:pos x="89" y="27"/>
                </a:cxn>
                <a:cxn ang="0">
                  <a:pos x="88" y="15"/>
                </a:cxn>
                <a:cxn ang="0">
                  <a:pos x="71" y="16"/>
                </a:cxn>
                <a:cxn ang="0">
                  <a:pos x="72" y="0"/>
                </a:cxn>
                <a:cxn ang="0">
                  <a:pos x="57" y="0"/>
                </a:cxn>
                <a:cxn ang="0">
                  <a:pos x="41" y="0"/>
                </a:cxn>
                <a:cxn ang="0">
                  <a:pos x="41" y="20"/>
                </a:cxn>
                <a:cxn ang="0">
                  <a:pos x="29" y="20"/>
                </a:cxn>
                <a:cxn ang="0">
                  <a:pos x="17" y="20"/>
                </a:cxn>
                <a:cxn ang="0">
                  <a:pos x="16" y="20"/>
                </a:cxn>
              </a:cxnLst>
              <a:rect l="0" t="0" r="r" b="b"/>
              <a:pathLst>
                <a:path w="91" h="109">
                  <a:moveTo>
                    <a:pt x="16" y="20"/>
                  </a:moveTo>
                  <a:lnTo>
                    <a:pt x="13" y="27"/>
                  </a:lnTo>
                  <a:lnTo>
                    <a:pt x="9" y="27"/>
                  </a:lnTo>
                  <a:lnTo>
                    <a:pt x="19" y="36"/>
                  </a:lnTo>
                  <a:lnTo>
                    <a:pt x="10" y="34"/>
                  </a:lnTo>
                  <a:lnTo>
                    <a:pt x="5" y="51"/>
                  </a:lnTo>
                  <a:lnTo>
                    <a:pt x="0" y="51"/>
                  </a:lnTo>
                  <a:lnTo>
                    <a:pt x="7" y="63"/>
                  </a:lnTo>
                  <a:lnTo>
                    <a:pt x="11" y="67"/>
                  </a:lnTo>
                  <a:lnTo>
                    <a:pt x="5" y="62"/>
                  </a:lnTo>
                  <a:lnTo>
                    <a:pt x="12" y="73"/>
                  </a:lnTo>
                  <a:lnTo>
                    <a:pt x="10" y="73"/>
                  </a:lnTo>
                  <a:lnTo>
                    <a:pt x="19" y="84"/>
                  </a:lnTo>
                  <a:lnTo>
                    <a:pt x="17" y="82"/>
                  </a:lnTo>
                  <a:lnTo>
                    <a:pt x="28" y="96"/>
                  </a:lnTo>
                  <a:lnTo>
                    <a:pt x="39" y="109"/>
                  </a:lnTo>
                  <a:lnTo>
                    <a:pt x="43" y="102"/>
                  </a:lnTo>
                  <a:lnTo>
                    <a:pt x="47" y="104"/>
                  </a:lnTo>
                  <a:lnTo>
                    <a:pt x="51" y="100"/>
                  </a:lnTo>
                  <a:lnTo>
                    <a:pt x="47" y="93"/>
                  </a:lnTo>
                  <a:lnTo>
                    <a:pt x="46" y="88"/>
                  </a:lnTo>
                  <a:lnTo>
                    <a:pt x="45" y="82"/>
                  </a:lnTo>
                  <a:lnTo>
                    <a:pt x="59" y="81"/>
                  </a:lnTo>
                  <a:lnTo>
                    <a:pt x="60" y="70"/>
                  </a:lnTo>
                  <a:lnTo>
                    <a:pt x="70" y="81"/>
                  </a:lnTo>
                  <a:lnTo>
                    <a:pt x="79" y="78"/>
                  </a:lnTo>
                  <a:lnTo>
                    <a:pt x="82" y="82"/>
                  </a:lnTo>
                  <a:lnTo>
                    <a:pt x="87" y="78"/>
                  </a:lnTo>
                  <a:lnTo>
                    <a:pt x="91" y="52"/>
                  </a:lnTo>
                  <a:lnTo>
                    <a:pt x="82" y="37"/>
                  </a:lnTo>
                  <a:lnTo>
                    <a:pt x="89" y="27"/>
                  </a:lnTo>
                  <a:lnTo>
                    <a:pt x="88" y="15"/>
                  </a:lnTo>
                  <a:lnTo>
                    <a:pt x="71" y="16"/>
                  </a:lnTo>
                  <a:lnTo>
                    <a:pt x="72" y="0"/>
                  </a:lnTo>
                  <a:lnTo>
                    <a:pt x="57" y="0"/>
                  </a:lnTo>
                  <a:lnTo>
                    <a:pt x="41" y="0"/>
                  </a:lnTo>
                  <a:lnTo>
                    <a:pt x="41" y="20"/>
                  </a:lnTo>
                  <a:lnTo>
                    <a:pt x="29" y="20"/>
                  </a:lnTo>
                  <a:lnTo>
                    <a:pt x="17" y="20"/>
                  </a:lnTo>
                  <a:lnTo>
                    <a:pt x="16" y="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8" name="Freeform 217"/>
            <p:cNvSpPr>
              <a:spLocks/>
            </p:cNvSpPr>
            <p:nvPr/>
          </p:nvSpPr>
          <p:spPr bwMode="auto">
            <a:xfrm>
              <a:off x="2647" y="2696"/>
              <a:ext cx="4" cy="9"/>
            </a:xfrm>
            <a:custGeom>
              <a:avLst/>
              <a:gdLst/>
              <a:ahLst/>
              <a:cxnLst>
                <a:cxn ang="0">
                  <a:pos x="5" y="2"/>
                </a:cxn>
                <a:cxn ang="0">
                  <a:pos x="1" y="7"/>
                </a:cxn>
                <a:cxn ang="0">
                  <a:pos x="0" y="3"/>
                </a:cxn>
                <a:cxn ang="0">
                  <a:pos x="3" y="0"/>
                </a:cxn>
                <a:cxn ang="0">
                  <a:pos x="5" y="2"/>
                </a:cxn>
              </a:cxnLst>
              <a:rect l="0" t="0" r="r" b="b"/>
              <a:pathLst>
                <a:path w="5" h="7">
                  <a:moveTo>
                    <a:pt x="5" y="2"/>
                  </a:moveTo>
                  <a:lnTo>
                    <a:pt x="1" y="7"/>
                  </a:lnTo>
                  <a:lnTo>
                    <a:pt x="0" y="3"/>
                  </a:lnTo>
                  <a:lnTo>
                    <a:pt x="3"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9" name="Freeform 218"/>
            <p:cNvSpPr>
              <a:spLocks/>
            </p:cNvSpPr>
            <p:nvPr/>
          </p:nvSpPr>
          <p:spPr bwMode="auto">
            <a:xfrm>
              <a:off x="2660" y="2672"/>
              <a:ext cx="2" cy="2"/>
            </a:xfrm>
            <a:custGeom>
              <a:avLst/>
              <a:gdLst/>
              <a:ahLst/>
              <a:cxnLst>
                <a:cxn ang="0">
                  <a:pos x="2" y="2"/>
                </a:cxn>
                <a:cxn ang="0">
                  <a:pos x="0" y="0"/>
                </a:cxn>
                <a:cxn ang="0">
                  <a:pos x="3" y="0"/>
                </a:cxn>
                <a:cxn ang="0">
                  <a:pos x="2" y="2"/>
                </a:cxn>
              </a:cxnLst>
              <a:rect l="0" t="0" r="r" b="b"/>
              <a:pathLst>
                <a:path w="3" h="2">
                  <a:moveTo>
                    <a:pt x="2" y="2"/>
                  </a:moveTo>
                  <a:lnTo>
                    <a:pt x="0" y="0"/>
                  </a:lnTo>
                  <a:lnTo>
                    <a:pt x="3" y="0"/>
                  </a:lnTo>
                  <a:lnTo>
                    <a:pt x="2"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0" name="Freeform 219"/>
            <p:cNvSpPr>
              <a:spLocks/>
            </p:cNvSpPr>
            <p:nvPr/>
          </p:nvSpPr>
          <p:spPr bwMode="auto">
            <a:xfrm>
              <a:off x="3049" y="2725"/>
              <a:ext cx="191" cy="214"/>
            </a:xfrm>
            <a:custGeom>
              <a:avLst/>
              <a:gdLst/>
              <a:ahLst/>
              <a:cxnLst>
                <a:cxn ang="0">
                  <a:pos x="131" y="42"/>
                </a:cxn>
                <a:cxn ang="0">
                  <a:pos x="129" y="36"/>
                </a:cxn>
                <a:cxn ang="0">
                  <a:pos x="115" y="26"/>
                </a:cxn>
                <a:cxn ang="0">
                  <a:pos x="101" y="18"/>
                </a:cxn>
                <a:cxn ang="0">
                  <a:pos x="86" y="8"/>
                </a:cxn>
                <a:cxn ang="0">
                  <a:pos x="71" y="0"/>
                </a:cxn>
                <a:cxn ang="0">
                  <a:pos x="57" y="0"/>
                </a:cxn>
                <a:cxn ang="0">
                  <a:pos x="44" y="0"/>
                </a:cxn>
                <a:cxn ang="0">
                  <a:pos x="30" y="1"/>
                </a:cxn>
                <a:cxn ang="0">
                  <a:pos x="17" y="1"/>
                </a:cxn>
                <a:cxn ang="0">
                  <a:pos x="23" y="23"/>
                </a:cxn>
                <a:cxn ang="0">
                  <a:pos x="18" y="25"/>
                </a:cxn>
                <a:cxn ang="0">
                  <a:pos x="18" y="34"/>
                </a:cxn>
                <a:cxn ang="0">
                  <a:pos x="21" y="40"/>
                </a:cxn>
                <a:cxn ang="0">
                  <a:pos x="12" y="50"/>
                </a:cxn>
                <a:cxn ang="0">
                  <a:pos x="3" y="62"/>
                </a:cxn>
                <a:cxn ang="0">
                  <a:pos x="0" y="62"/>
                </a:cxn>
                <a:cxn ang="0">
                  <a:pos x="0" y="76"/>
                </a:cxn>
                <a:cxn ang="0">
                  <a:pos x="1" y="89"/>
                </a:cxn>
                <a:cxn ang="0">
                  <a:pos x="6" y="103"/>
                </a:cxn>
                <a:cxn ang="0">
                  <a:pos x="13" y="116"/>
                </a:cxn>
                <a:cxn ang="0">
                  <a:pos x="20" y="128"/>
                </a:cxn>
                <a:cxn ang="0">
                  <a:pos x="20" y="132"/>
                </a:cxn>
                <a:cxn ang="0">
                  <a:pos x="37" y="142"/>
                </a:cxn>
                <a:cxn ang="0">
                  <a:pos x="54" y="151"/>
                </a:cxn>
                <a:cxn ang="0">
                  <a:pos x="69" y="154"/>
                </a:cxn>
                <a:cxn ang="0">
                  <a:pos x="75" y="157"/>
                </a:cxn>
                <a:cxn ang="0">
                  <a:pos x="80" y="175"/>
                </a:cxn>
                <a:cxn ang="0">
                  <a:pos x="85" y="190"/>
                </a:cxn>
                <a:cxn ang="0">
                  <a:pos x="91" y="190"/>
                </a:cxn>
                <a:cxn ang="0">
                  <a:pos x="101" y="188"/>
                </a:cxn>
                <a:cxn ang="0">
                  <a:pos x="119" y="192"/>
                </a:cxn>
                <a:cxn ang="0">
                  <a:pos x="131" y="187"/>
                </a:cxn>
                <a:cxn ang="0">
                  <a:pos x="139" y="186"/>
                </a:cxn>
                <a:cxn ang="0">
                  <a:pos x="155" y="179"/>
                </a:cxn>
                <a:cxn ang="0">
                  <a:pos x="171" y="170"/>
                </a:cxn>
                <a:cxn ang="0">
                  <a:pos x="161" y="160"/>
                </a:cxn>
                <a:cxn ang="0">
                  <a:pos x="158" y="142"/>
                </a:cxn>
                <a:cxn ang="0">
                  <a:pos x="156" y="128"/>
                </a:cxn>
                <a:cxn ang="0">
                  <a:pos x="155" y="122"/>
                </a:cxn>
                <a:cxn ang="0">
                  <a:pos x="158" y="106"/>
                </a:cxn>
                <a:cxn ang="0">
                  <a:pos x="147" y="90"/>
                </a:cxn>
                <a:cxn ang="0">
                  <a:pos x="155" y="66"/>
                </a:cxn>
                <a:cxn ang="0">
                  <a:pos x="143" y="54"/>
                </a:cxn>
                <a:cxn ang="0">
                  <a:pos x="131" y="42"/>
                </a:cxn>
              </a:cxnLst>
              <a:rect l="0" t="0" r="r" b="b"/>
              <a:pathLst>
                <a:path w="171" h="192">
                  <a:moveTo>
                    <a:pt x="131" y="42"/>
                  </a:moveTo>
                  <a:lnTo>
                    <a:pt x="129" y="36"/>
                  </a:lnTo>
                  <a:lnTo>
                    <a:pt x="115" y="26"/>
                  </a:lnTo>
                  <a:lnTo>
                    <a:pt x="101" y="18"/>
                  </a:lnTo>
                  <a:lnTo>
                    <a:pt x="86" y="8"/>
                  </a:lnTo>
                  <a:lnTo>
                    <a:pt x="71" y="0"/>
                  </a:lnTo>
                  <a:lnTo>
                    <a:pt x="57" y="0"/>
                  </a:lnTo>
                  <a:lnTo>
                    <a:pt x="44" y="0"/>
                  </a:lnTo>
                  <a:lnTo>
                    <a:pt x="30" y="1"/>
                  </a:lnTo>
                  <a:lnTo>
                    <a:pt x="17" y="1"/>
                  </a:lnTo>
                  <a:lnTo>
                    <a:pt x="23" y="23"/>
                  </a:lnTo>
                  <a:lnTo>
                    <a:pt x="18" y="25"/>
                  </a:lnTo>
                  <a:lnTo>
                    <a:pt x="18" y="34"/>
                  </a:lnTo>
                  <a:lnTo>
                    <a:pt x="21" y="40"/>
                  </a:lnTo>
                  <a:lnTo>
                    <a:pt x="12" y="50"/>
                  </a:lnTo>
                  <a:lnTo>
                    <a:pt x="3" y="62"/>
                  </a:lnTo>
                  <a:lnTo>
                    <a:pt x="0" y="62"/>
                  </a:lnTo>
                  <a:lnTo>
                    <a:pt x="0" y="76"/>
                  </a:lnTo>
                  <a:lnTo>
                    <a:pt x="1" y="89"/>
                  </a:lnTo>
                  <a:lnTo>
                    <a:pt x="6" y="103"/>
                  </a:lnTo>
                  <a:lnTo>
                    <a:pt x="13" y="116"/>
                  </a:lnTo>
                  <a:lnTo>
                    <a:pt x="20" y="128"/>
                  </a:lnTo>
                  <a:lnTo>
                    <a:pt x="20" y="132"/>
                  </a:lnTo>
                  <a:lnTo>
                    <a:pt x="37" y="142"/>
                  </a:lnTo>
                  <a:lnTo>
                    <a:pt x="54" y="151"/>
                  </a:lnTo>
                  <a:lnTo>
                    <a:pt x="69" y="154"/>
                  </a:lnTo>
                  <a:lnTo>
                    <a:pt x="75" y="157"/>
                  </a:lnTo>
                  <a:lnTo>
                    <a:pt x="80" y="175"/>
                  </a:lnTo>
                  <a:lnTo>
                    <a:pt x="85" y="190"/>
                  </a:lnTo>
                  <a:lnTo>
                    <a:pt x="91" y="190"/>
                  </a:lnTo>
                  <a:lnTo>
                    <a:pt x="101" y="188"/>
                  </a:lnTo>
                  <a:lnTo>
                    <a:pt x="119" y="192"/>
                  </a:lnTo>
                  <a:lnTo>
                    <a:pt x="131" y="187"/>
                  </a:lnTo>
                  <a:lnTo>
                    <a:pt x="139" y="186"/>
                  </a:lnTo>
                  <a:lnTo>
                    <a:pt x="155" y="179"/>
                  </a:lnTo>
                  <a:lnTo>
                    <a:pt x="171" y="170"/>
                  </a:lnTo>
                  <a:lnTo>
                    <a:pt x="161" y="160"/>
                  </a:lnTo>
                  <a:lnTo>
                    <a:pt x="158" y="142"/>
                  </a:lnTo>
                  <a:lnTo>
                    <a:pt x="156" y="128"/>
                  </a:lnTo>
                  <a:lnTo>
                    <a:pt x="155" y="122"/>
                  </a:lnTo>
                  <a:lnTo>
                    <a:pt x="158" y="106"/>
                  </a:lnTo>
                  <a:lnTo>
                    <a:pt x="147" y="90"/>
                  </a:lnTo>
                  <a:lnTo>
                    <a:pt x="155" y="66"/>
                  </a:lnTo>
                  <a:lnTo>
                    <a:pt x="143" y="54"/>
                  </a:lnTo>
                  <a:lnTo>
                    <a:pt x="131"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1" name="Freeform 220"/>
            <p:cNvSpPr>
              <a:spLocks/>
            </p:cNvSpPr>
            <p:nvPr/>
          </p:nvSpPr>
          <p:spPr bwMode="auto">
            <a:xfrm>
              <a:off x="3220" y="2821"/>
              <a:ext cx="7" cy="13"/>
            </a:xfrm>
            <a:custGeom>
              <a:avLst/>
              <a:gdLst/>
              <a:ahLst/>
              <a:cxnLst>
                <a:cxn ang="0">
                  <a:pos x="6" y="12"/>
                </a:cxn>
                <a:cxn ang="0">
                  <a:pos x="4" y="0"/>
                </a:cxn>
                <a:cxn ang="0">
                  <a:pos x="0" y="4"/>
                </a:cxn>
                <a:cxn ang="0">
                  <a:pos x="6" y="12"/>
                </a:cxn>
              </a:cxnLst>
              <a:rect l="0" t="0" r="r" b="b"/>
              <a:pathLst>
                <a:path w="6" h="12">
                  <a:moveTo>
                    <a:pt x="6" y="12"/>
                  </a:moveTo>
                  <a:lnTo>
                    <a:pt x="4" y="0"/>
                  </a:lnTo>
                  <a:lnTo>
                    <a:pt x="0" y="4"/>
                  </a:lnTo>
                  <a:lnTo>
                    <a:pt x="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2" name="Freeform 221"/>
            <p:cNvSpPr>
              <a:spLocks/>
            </p:cNvSpPr>
            <p:nvPr/>
          </p:nvSpPr>
          <p:spPr bwMode="auto">
            <a:xfrm>
              <a:off x="3053" y="2621"/>
              <a:ext cx="96" cy="113"/>
            </a:xfrm>
            <a:custGeom>
              <a:avLst/>
              <a:gdLst/>
              <a:ahLst/>
              <a:cxnLst>
                <a:cxn ang="0">
                  <a:pos x="77" y="15"/>
                </a:cxn>
                <a:cxn ang="0">
                  <a:pos x="70" y="0"/>
                </a:cxn>
                <a:cxn ang="0">
                  <a:pos x="63" y="9"/>
                </a:cxn>
                <a:cxn ang="0">
                  <a:pos x="45" y="9"/>
                </a:cxn>
                <a:cxn ang="0">
                  <a:pos x="37" y="11"/>
                </a:cxn>
                <a:cxn ang="0">
                  <a:pos x="34" y="9"/>
                </a:cxn>
                <a:cxn ang="0">
                  <a:pos x="22" y="10"/>
                </a:cxn>
                <a:cxn ang="0">
                  <a:pos x="21" y="14"/>
                </a:cxn>
                <a:cxn ang="0">
                  <a:pos x="19" y="29"/>
                </a:cxn>
                <a:cxn ang="0">
                  <a:pos x="28" y="38"/>
                </a:cxn>
                <a:cxn ang="0">
                  <a:pos x="17" y="48"/>
                </a:cxn>
                <a:cxn ang="0">
                  <a:pos x="7" y="60"/>
                </a:cxn>
                <a:cxn ang="0">
                  <a:pos x="4" y="81"/>
                </a:cxn>
                <a:cxn ang="0">
                  <a:pos x="0" y="101"/>
                </a:cxn>
                <a:cxn ang="0">
                  <a:pos x="5" y="101"/>
                </a:cxn>
                <a:cxn ang="0">
                  <a:pos x="15" y="95"/>
                </a:cxn>
                <a:cxn ang="0">
                  <a:pos x="28" y="95"/>
                </a:cxn>
                <a:cxn ang="0">
                  <a:pos x="42" y="94"/>
                </a:cxn>
                <a:cxn ang="0">
                  <a:pos x="55" y="94"/>
                </a:cxn>
                <a:cxn ang="0">
                  <a:pos x="69" y="94"/>
                </a:cxn>
                <a:cxn ang="0">
                  <a:pos x="69" y="75"/>
                </a:cxn>
                <a:cxn ang="0">
                  <a:pos x="79" y="57"/>
                </a:cxn>
                <a:cxn ang="0">
                  <a:pos x="87" y="42"/>
                </a:cxn>
                <a:cxn ang="0">
                  <a:pos x="82" y="28"/>
                </a:cxn>
                <a:cxn ang="0">
                  <a:pos x="77" y="15"/>
                </a:cxn>
              </a:cxnLst>
              <a:rect l="0" t="0" r="r" b="b"/>
              <a:pathLst>
                <a:path w="87" h="101">
                  <a:moveTo>
                    <a:pt x="77" y="15"/>
                  </a:moveTo>
                  <a:lnTo>
                    <a:pt x="70" y="0"/>
                  </a:lnTo>
                  <a:lnTo>
                    <a:pt x="63" y="9"/>
                  </a:lnTo>
                  <a:lnTo>
                    <a:pt x="45" y="9"/>
                  </a:lnTo>
                  <a:lnTo>
                    <a:pt x="37" y="11"/>
                  </a:lnTo>
                  <a:lnTo>
                    <a:pt x="34" y="9"/>
                  </a:lnTo>
                  <a:lnTo>
                    <a:pt x="22" y="10"/>
                  </a:lnTo>
                  <a:lnTo>
                    <a:pt x="21" y="14"/>
                  </a:lnTo>
                  <a:lnTo>
                    <a:pt x="19" y="29"/>
                  </a:lnTo>
                  <a:lnTo>
                    <a:pt x="28" y="38"/>
                  </a:lnTo>
                  <a:lnTo>
                    <a:pt x="17" y="48"/>
                  </a:lnTo>
                  <a:lnTo>
                    <a:pt x="7" y="60"/>
                  </a:lnTo>
                  <a:lnTo>
                    <a:pt x="4" y="81"/>
                  </a:lnTo>
                  <a:lnTo>
                    <a:pt x="0" y="101"/>
                  </a:lnTo>
                  <a:lnTo>
                    <a:pt x="5" y="101"/>
                  </a:lnTo>
                  <a:lnTo>
                    <a:pt x="15" y="95"/>
                  </a:lnTo>
                  <a:lnTo>
                    <a:pt x="28" y="95"/>
                  </a:lnTo>
                  <a:lnTo>
                    <a:pt x="42" y="94"/>
                  </a:lnTo>
                  <a:lnTo>
                    <a:pt x="55" y="94"/>
                  </a:lnTo>
                  <a:lnTo>
                    <a:pt x="69" y="94"/>
                  </a:lnTo>
                  <a:lnTo>
                    <a:pt x="69" y="75"/>
                  </a:lnTo>
                  <a:lnTo>
                    <a:pt x="79" y="57"/>
                  </a:lnTo>
                  <a:lnTo>
                    <a:pt x="87" y="42"/>
                  </a:lnTo>
                  <a:lnTo>
                    <a:pt x="82" y="28"/>
                  </a:lnTo>
                  <a:lnTo>
                    <a:pt x="77"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3" name="Freeform 222"/>
            <p:cNvSpPr>
              <a:spLocks/>
            </p:cNvSpPr>
            <p:nvPr/>
          </p:nvSpPr>
          <p:spPr bwMode="auto">
            <a:xfrm>
              <a:off x="2747" y="2601"/>
              <a:ext cx="335" cy="373"/>
            </a:xfrm>
            <a:custGeom>
              <a:avLst/>
              <a:gdLst/>
              <a:ahLst/>
              <a:cxnLst>
                <a:cxn ang="0">
                  <a:pos x="270" y="132"/>
                </a:cxn>
                <a:cxn ang="0">
                  <a:pos x="267" y="143"/>
                </a:cxn>
                <a:cxn ang="0">
                  <a:pos x="268" y="145"/>
                </a:cxn>
                <a:cxn ang="0">
                  <a:pos x="274" y="175"/>
                </a:cxn>
                <a:cxn ang="0">
                  <a:pos x="275" y="202"/>
                </a:cxn>
                <a:cxn ang="0">
                  <a:pos x="287" y="229"/>
                </a:cxn>
                <a:cxn ang="0">
                  <a:pos x="279" y="245"/>
                </a:cxn>
                <a:cxn ang="0">
                  <a:pos x="256" y="262"/>
                </a:cxn>
                <a:cxn ang="0">
                  <a:pos x="258" y="293"/>
                </a:cxn>
                <a:cxn ang="0">
                  <a:pos x="271" y="319"/>
                </a:cxn>
                <a:cxn ang="0">
                  <a:pos x="274" y="336"/>
                </a:cxn>
                <a:cxn ang="0">
                  <a:pos x="263" y="335"/>
                </a:cxn>
                <a:cxn ang="0">
                  <a:pos x="240" y="310"/>
                </a:cxn>
                <a:cxn ang="0">
                  <a:pos x="227" y="310"/>
                </a:cxn>
                <a:cxn ang="0">
                  <a:pos x="204" y="297"/>
                </a:cxn>
                <a:cxn ang="0">
                  <a:pos x="185" y="291"/>
                </a:cxn>
                <a:cxn ang="0">
                  <a:pos x="160" y="295"/>
                </a:cxn>
                <a:cxn ang="0">
                  <a:pos x="154" y="270"/>
                </a:cxn>
                <a:cxn ang="0">
                  <a:pos x="153" y="229"/>
                </a:cxn>
                <a:cxn ang="0">
                  <a:pos x="132" y="222"/>
                </a:cxn>
                <a:cxn ang="0">
                  <a:pos x="113" y="237"/>
                </a:cxn>
                <a:cxn ang="0">
                  <a:pos x="83" y="237"/>
                </a:cxn>
                <a:cxn ang="0">
                  <a:pos x="70" y="203"/>
                </a:cxn>
                <a:cxn ang="0">
                  <a:pos x="43" y="202"/>
                </a:cxn>
                <a:cxn ang="0">
                  <a:pos x="16" y="201"/>
                </a:cxn>
                <a:cxn ang="0">
                  <a:pos x="0" y="199"/>
                </a:cxn>
                <a:cxn ang="0">
                  <a:pos x="7" y="184"/>
                </a:cxn>
                <a:cxn ang="0">
                  <a:pos x="23" y="181"/>
                </a:cxn>
                <a:cxn ang="0">
                  <a:pos x="36" y="174"/>
                </a:cxn>
                <a:cxn ang="0">
                  <a:pos x="51" y="171"/>
                </a:cxn>
                <a:cxn ang="0">
                  <a:pos x="65" y="145"/>
                </a:cxn>
                <a:cxn ang="0">
                  <a:pos x="78" y="117"/>
                </a:cxn>
                <a:cxn ang="0">
                  <a:pos x="91" y="89"/>
                </a:cxn>
                <a:cxn ang="0">
                  <a:pos x="96" y="61"/>
                </a:cxn>
                <a:cxn ang="0">
                  <a:pos x="102" y="33"/>
                </a:cxn>
                <a:cxn ang="0">
                  <a:pos x="114" y="3"/>
                </a:cxn>
                <a:cxn ang="0">
                  <a:pos x="147" y="17"/>
                </a:cxn>
                <a:cxn ang="0">
                  <a:pos x="168" y="10"/>
                </a:cxn>
                <a:cxn ang="0">
                  <a:pos x="191" y="5"/>
                </a:cxn>
                <a:cxn ang="0">
                  <a:pos x="209" y="0"/>
                </a:cxn>
                <a:cxn ang="0">
                  <a:pos x="234" y="3"/>
                </a:cxn>
                <a:cxn ang="0">
                  <a:pos x="246" y="9"/>
                </a:cxn>
                <a:cxn ang="0">
                  <a:pos x="268" y="16"/>
                </a:cxn>
                <a:cxn ang="0">
                  <a:pos x="285" y="22"/>
                </a:cxn>
                <a:cxn ang="0">
                  <a:pos x="295" y="48"/>
                </a:cxn>
                <a:cxn ang="0">
                  <a:pos x="293" y="67"/>
                </a:cxn>
                <a:cxn ang="0">
                  <a:pos x="280" y="100"/>
                </a:cxn>
              </a:cxnLst>
              <a:rect l="0" t="0" r="r" b="b"/>
              <a:pathLst>
                <a:path w="304" h="336">
                  <a:moveTo>
                    <a:pt x="276" y="120"/>
                  </a:moveTo>
                  <a:lnTo>
                    <a:pt x="270" y="132"/>
                  </a:lnTo>
                  <a:lnTo>
                    <a:pt x="265" y="143"/>
                  </a:lnTo>
                  <a:lnTo>
                    <a:pt x="267" y="143"/>
                  </a:lnTo>
                  <a:lnTo>
                    <a:pt x="267" y="144"/>
                  </a:lnTo>
                  <a:lnTo>
                    <a:pt x="268" y="145"/>
                  </a:lnTo>
                  <a:lnTo>
                    <a:pt x="270" y="160"/>
                  </a:lnTo>
                  <a:lnTo>
                    <a:pt x="274" y="175"/>
                  </a:lnTo>
                  <a:lnTo>
                    <a:pt x="274" y="189"/>
                  </a:lnTo>
                  <a:lnTo>
                    <a:pt x="275" y="202"/>
                  </a:lnTo>
                  <a:lnTo>
                    <a:pt x="280" y="216"/>
                  </a:lnTo>
                  <a:lnTo>
                    <a:pt x="287" y="229"/>
                  </a:lnTo>
                  <a:lnTo>
                    <a:pt x="294" y="241"/>
                  </a:lnTo>
                  <a:lnTo>
                    <a:pt x="279" y="245"/>
                  </a:lnTo>
                  <a:lnTo>
                    <a:pt x="264" y="249"/>
                  </a:lnTo>
                  <a:lnTo>
                    <a:pt x="256" y="262"/>
                  </a:lnTo>
                  <a:lnTo>
                    <a:pt x="259" y="277"/>
                  </a:lnTo>
                  <a:lnTo>
                    <a:pt x="258" y="293"/>
                  </a:lnTo>
                  <a:lnTo>
                    <a:pt x="256" y="309"/>
                  </a:lnTo>
                  <a:lnTo>
                    <a:pt x="271" y="319"/>
                  </a:lnTo>
                  <a:lnTo>
                    <a:pt x="276" y="313"/>
                  </a:lnTo>
                  <a:lnTo>
                    <a:pt x="274" y="336"/>
                  </a:lnTo>
                  <a:lnTo>
                    <a:pt x="269" y="335"/>
                  </a:lnTo>
                  <a:lnTo>
                    <a:pt x="263" y="335"/>
                  </a:lnTo>
                  <a:lnTo>
                    <a:pt x="250" y="317"/>
                  </a:lnTo>
                  <a:lnTo>
                    <a:pt x="240" y="310"/>
                  </a:lnTo>
                  <a:lnTo>
                    <a:pt x="233" y="304"/>
                  </a:lnTo>
                  <a:lnTo>
                    <a:pt x="227" y="310"/>
                  </a:lnTo>
                  <a:lnTo>
                    <a:pt x="207" y="303"/>
                  </a:lnTo>
                  <a:lnTo>
                    <a:pt x="204" y="297"/>
                  </a:lnTo>
                  <a:lnTo>
                    <a:pt x="191" y="299"/>
                  </a:lnTo>
                  <a:lnTo>
                    <a:pt x="185" y="291"/>
                  </a:lnTo>
                  <a:lnTo>
                    <a:pt x="173" y="293"/>
                  </a:lnTo>
                  <a:lnTo>
                    <a:pt x="160" y="295"/>
                  </a:lnTo>
                  <a:lnTo>
                    <a:pt x="159" y="288"/>
                  </a:lnTo>
                  <a:lnTo>
                    <a:pt x="154" y="270"/>
                  </a:lnTo>
                  <a:lnTo>
                    <a:pt x="154" y="250"/>
                  </a:lnTo>
                  <a:lnTo>
                    <a:pt x="153" y="229"/>
                  </a:lnTo>
                  <a:lnTo>
                    <a:pt x="132" y="226"/>
                  </a:lnTo>
                  <a:lnTo>
                    <a:pt x="132" y="222"/>
                  </a:lnTo>
                  <a:lnTo>
                    <a:pt x="117" y="221"/>
                  </a:lnTo>
                  <a:lnTo>
                    <a:pt x="113" y="237"/>
                  </a:lnTo>
                  <a:lnTo>
                    <a:pt x="94" y="240"/>
                  </a:lnTo>
                  <a:lnTo>
                    <a:pt x="83" y="237"/>
                  </a:lnTo>
                  <a:lnTo>
                    <a:pt x="76" y="220"/>
                  </a:lnTo>
                  <a:lnTo>
                    <a:pt x="70" y="203"/>
                  </a:lnTo>
                  <a:lnTo>
                    <a:pt x="57" y="202"/>
                  </a:lnTo>
                  <a:lnTo>
                    <a:pt x="43" y="202"/>
                  </a:lnTo>
                  <a:lnTo>
                    <a:pt x="29" y="201"/>
                  </a:lnTo>
                  <a:lnTo>
                    <a:pt x="16" y="201"/>
                  </a:lnTo>
                  <a:lnTo>
                    <a:pt x="3" y="202"/>
                  </a:lnTo>
                  <a:lnTo>
                    <a:pt x="0" y="199"/>
                  </a:lnTo>
                  <a:lnTo>
                    <a:pt x="6" y="198"/>
                  </a:lnTo>
                  <a:lnTo>
                    <a:pt x="7" y="184"/>
                  </a:lnTo>
                  <a:lnTo>
                    <a:pt x="15" y="178"/>
                  </a:lnTo>
                  <a:lnTo>
                    <a:pt x="23" y="181"/>
                  </a:lnTo>
                  <a:lnTo>
                    <a:pt x="27" y="175"/>
                  </a:lnTo>
                  <a:lnTo>
                    <a:pt x="36" y="174"/>
                  </a:lnTo>
                  <a:lnTo>
                    <a:pt x="39" y="183"/>
                  </a:lnTo>
                  <a:lnTo>
                    <a:pt x="51" y="171"/>
                  </a:lnTo>
                  <a:lnTo>
                    <a:pt x="63" y="159"/>
                  </a:lnTo>
                  <a:lnTo>
                    <a:pt x="65" y="145"/>
                  </a:lnTo>
                  <a:lnTo>
                    <a:pt x="66" y="131"/>
                  </a:lnTo>
                  <a:lnTo>
                    <a:pt x="78" y="117"/>
                  </a:lnTo>
                  <a:lnTo>
                    <a:pt x="89" y="102"/>
                  </a:lnTo>
                  <a:lnTo>
                    <a:pt x="91" y="89"/>
                  </a:lnTo>
                  <a:lnTo>
                    <a:pt x="94" y="75"/>
                  </a:lnTo>
                  <a:lnTo>
                    <a:pt x="96" y="61"/>
                  </a:lnTo>
                  <a:lnTo>
                    <a:pt x="99" y="48"/>
                  </a:lnTo>
                  <a:lnTo>
                    <a:pt x="102" y="33"/>
                  </a:lnTo>
                  <a:lnTo>
                    <a:pt x="102" y="19"/>
                  </a:lnTo>
                  <a:lnTo>
                    <a:pt x="114" y="3"/>
                  </a:lnTo>
                  <a:lnTo>
                    <a:pt x="131" y="12"/>
                  </a:lnTo>
                  <a:lnTo>
                    <a:pt x="147" y="17"/>
                  </a:lnTo>
                  <a:lnTo>
                    <a:pt x="161" y="21"/>
                  </a:lnTo>
                  <a:lnTo>
                    <a:pt x="168" y="10"/>
                  </a:lnTo>
                  <a:lnTo>
                    <a:pt x="175" y="11"/>
                  </a:lnTo>
                  <a:lnTo>
                    <a:pt x="191" y="5"/>
                  </a:lnTo>
                  <a:lnTo>
                    <a:pt x="203" y="5"/>
                  </a:lnTo>
                  <a:lnTo>
                    <a:pt x="209" y="0"/>
                  </a:lnTo>
                  <a:lnTo>
                    <a:pt x="221" y="1"/>
                  </a:lnTo>
                  <a:lnTo>
                    <a:pt x="234" y="3"/>
                  </a:lnTo>
                  <a:lnTo>
                    <a:pt x="243" y="5"/>
                  </a:lnTo>
                  <a:lnTo>
                    <a:pt x="246" y="9"/>
                  </a:lnTo>
                  <a:lnTo>
                    <a:pt x="258" y="17"/>
                  </a:lnTo>
                  <a:lnTo>
                    <a:pt x="268" y="16"/>
                  </a:lnTo>
                  <a:lnTo>
                    <a:pt x="274" y="11"/>
                  </a:lnTo>
                  <a:lnTo>
                    <a:pt x="285" y="22"/>
                  </a:lnTo>
                  <a:lnTo>
                    <a:pt x="297" y="33"/>
                  </a:lnTo>
                  <a:lnTo>
                    <a:pt x="295" y="48"/>
                  </a:lnTo>
                  <a:lnTo>
                    <a:pt x="304" y="57"/>
                  </a:lnTo>
                  <a:lnTo>
                    <a:pt x="293" y="67"/>
                  </a:lnTo>
                  <a:lnTo>
                    <a:pt x="283" y="79"/>
                  </a:lnTo>
                  <a:lnTo>
                    <a:pt x="280" y="100"/>
                  </a:lnTo>
                  <a:lnTo>
                    <a:pt x="276" y="1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4" name="Freeform 223"/>
            <p:cNvSpPr>
              <a:spLocks/>
            </p:cNvSpPr>
            <p:nvPr/>
          </p:nvSpPr>
          <p:spPr bwMode="auto">
            <a:xfrm>
              <a:off x="2916" y="2867"/>
              <a:ext cx="206" cy="200"/>
            </a:xfrm>
            <a:custGeom>
              <a:avLst/>
              <a:gdLst/>
              <a:ahLst/>
              <a:cxnLst>
                <a:cxn ang="0">
                  <a:pos x="32" y="87"/>
                </a:cxn>
                <a:cxn ang="0">
                  <a:pos x="16" y="87"/>
                </a:cxn>
                <a:cxn ang="0">
                  <a:pos x="1" y="88"/>
                </a:cxn>
                <a:cxn ang="0">
                  <a:pos x="0" y="101"/>
                </a:cxn>
                <a:cxn ang="0">
                  <a:pos x="0" y="116"/>
                </a:cxn>
                <a:cxn ang="0">
                  <a:pos x="0" y="130"/>
                </a:cxn>
                <a:cxn ang="0">
                  <a:pos x="0" y="144"/>
                </a:cxn>
                <a:cxn ang="0">
                  <a:pos x="10" y="158"/>
                </a:cxn>
                <a:cxn ang="0">
                  <a:pos x="21" y="171"/>
                </a:cxn>
                <a:cxn ang="0">
                  <a:pos x="32" y="168"/>
                </a:cxn>
                <a:cxn ang="0">
                  <a:pos x="49" y="173"/>
                </a:cxn>
                <a:cxn ang="0">
                  <a:pos x="72" y="179"/>
                </a:cxn>
                <a:cxn ang="0">
                  <a:pos x="86" y="165"/>
                </a:cxn>
                <a:cxn ang="0">
                  <a:pos x="103" y="152"/>
                </a:cxn>
                <a:cxn ang="0">
                  <a:pos x="108" y="141"/>
                </a:cxn>
                <a:cxn ang="0">
                  <a:pos x="120" y="137"/>
                </a:cxn>
                <a:cxn ang="0">
                  <a:pos x="132" y="135"/>
                </a:cxn>
                <a:cxn ang="0">
                  <a:pos x="129" y="125"/>
                </a:cxn>
                <a:cxn ang="0">
                  <a:pos x="141" y="120"/>
                </a:cxn>
                <a:cxn ang="0">
                  <a:pos x="152" y="116"/>
                </a:cxn>
                <a:cxn ang="0">
                  <a:pos x="164" y="111"/>
                </a:cxn>
                <a:cxn ang="0">
                  <a:pos x="176" y="106"/>
                </a:cxn>
                <a:cxn ang="0">
                  <a:pos x="169" y="98"/>
                </a:cxn>
                <a:cxn ang="0">
                  <a:pos x="177" y="81"/>
                </a:cxn>
                <a:cxn ang="0">
                  <a:pos x="180" y="76"/>
                </a:cxn>
                <a:cxn ang="0">
                  <a:pos x="181" y="62"/>
                </a:cxn>
                <a:cxn ang="0">
                  <a:pos x="182" y="48"/>
                </a:cxn>
                <a:cxn ang="0">
                  <a:pos x="186" y="41"/>
                </a:cxn>
                <a:cxn ang="0">
                  <a:pos x="176" y="27"/>
                </a:cxn>
                <a:cxn ang="0">
                  <a:pos x="175" y="23"/>
                </a:cxn>
                <a:cxn ang="0">
                  <a:pos x="158" y="14"/>
                </a:cxn>
                <a:cxn ang="0">
                  <a:pos x="141" y="4"/>
                </a:cxn>
                <a:cxn ang="0">
                  <a:pos x="141" y="0"/>
                </a:cxn>
                <a:cxn ang="0">
                  <a:pos x="126" y="4"/>
                </a:cxn>
                <a:cxn ang="0">
                  <a:pos x="111" y="8"/>
                </a:cxn>
                <a:cxn ang="0">
                  <a:pos x="103" y="21"/>
                </a:cxn>
                <a:cxn ang="0">
                  <a:pos x="106" y="36"/>
                </a:cxn>
                <a:cxn ang="0">
                  <a:pos x="105" y="52"/>
                </a:cxn>
                <a:cxn ang="0">
                  <a:pos x="103" y="68"/>
                </a:cxn>
                <a:cxn ang="0">
                  <a:pos x="118" y="78"/>
                </a:cxn>
                <a:cxn ang="0">
                  <a:pos x="123" y="72"/>
                </a:cxn>
                <a:cxn ang="0">
                  <a:pos x="121" y="95"/>
                </a:cxn>
                <a:cxn ang="0">
                  <a:pos x="116" y="94"/>
                </a:cxn>
                <a:cxn ang="0">
                  <a:pos x="110" y="94"/>
                </a:cxn>
                <a:cxn ang="0">
                  <a:pos x="97" y="76"/>
                </a:cxn>
                <a:cxn ang="0">
                  <a:pos x="87" y="69"/>
                </a:cxn>
                <a:cxn ang="0">
                  <a:pos x="80" y="63"/>
                </a:cxn>
                <a:cxn ang="0">
                  <a:pos x="74" y="69"/>
                </a:cxn>
                <a:cxn ang="0">
                  <a:pos x="54" y="62"/>
                </a:cxn>
                <a:cxn ang="0">
                  <a:pos x="51" y="56"/>
                </a:cxn>
                <a:cxn ang="0">
                  <a:pos x="38" y="58"/>
                </a:cxn>
                <a:cxn ang="0">
                  <a:pos x="32" y="50"/>
                </a:cxn>
                <a:cxn ang="0">
                  <a:pos x="32" y="68"/>
                </a:cxn>
                <a:cxn ang="0">
                  <a:pos x="32" y="87"/>
                </a:cxn>
              </a:cxnLst>
              <a:rect l="0" t="0" r="r" b="b"/>
              <a:pathLst>
                <a:path w="186" h="179">
                  <a:moveTo>
                    <a:pt x="32" y="87"/>
                  </a:moveTo>
                  <a:lnTo>
                    <a:pt x="16" y="87"/>
                  </a:lnTo>
                  <a:lnTo>
                    <a:pt x="1" y="88"/>
                  </a:lnTo>
                  <a:lnTo>
                    <a:pt x="0" y="101"/>
                  </a:lnTo>
                  <a:lnTo>
                    <a:pt x="0" y="116"/>
                  </a:lnTo>
                  <a:lnTo>
                    <a:pt x="0" y="130"/>
                  </a:lnTo>
                  <a:lnTo>
                    <a:pt x="0" y="144"/>
                  </a:lnTo>
                  <a:lnTo>
                    <a:pt x="10" y="158"/>
                  </a:lnTo>
                  <a:lnTo>
                    <a:pt x="21" y="171"/>
                  </a:lnTo>
                  <a:lnTo>
                    <a:pt x="32" y="168"/>
                  </a:lnTo>
                  <a:lnTo>
                    <a:pt x="49" y="173"/>
                  </a:lnTo>
                  <a:lnTo>
                    <a:pt x="72" y="179"/>
                  </a:lnTo>
                  <a:lnTo>
                    <a:pt x="86" y="165"/>
                  </a:lnTo>
                  <a:lnTo>
                    <a:pt x="103" y="152"/>
                  </a:lnTo>
                  <a:lnTo>
                    <a:pt x="108" y="141"/>
                  </a:lnTo>
                  <a:lnTo>
                    <a:pt x="120" y="137"/>
                  </a:lnTo>
                  <a:lnTo>
                    <a:pt x="132" y="135"/>
                  </a:lnTo>
                  <a:lnTo>
                    <a:pt x="129" y="125"/>
                  </a:lnTo>
                  <a:lnTo>
                    <a:pt x="141" y="120"/>
                  </a:lnTo>
                  <a:lnTo>
                    <a:pt x="152" y="116"/>
                  </a:lnTo>
                  <a:lnTo>
                    <a:pt x="164" y="111"/>
                  </a:lnTo>
                  <a:lnTo>
                    <a:pt x="176" y="106"/>
                  </a:lnTo>
                  <a:lnTo>
                    <a:pt x="169" y="98"/>
                  </a:lnTo>
                  <a:lnTo>
                    <a:pt x="177" y="81"/>
                  </a:lnTo>
                  <a:lnTo>
                    <a:pt x="180" y="76"/>
                  </a:lnTo>
                  <a:lnTo>
                    <a:pt x="181" y="62"/>
                  </a:lnTo>
                  <a:lnTo>
                    <a:pt x="182" y="48"/>
                  </a:lnTo>
                  <a:lnTo>
                    <a:pt x="186" y="41"/>
                  </a:lnTo>
                  <a:lnTo>
                    <a:pt x="176" y="27"/>
                  </a:lnTo>
                  <a:lnTo>
                    <a:pt x="175" y="23"/>
                  </a:lnTo>
                  <a:lnTo>
                    <a:pt x="158" y="14"/>
                  </a:lnTo>
                  <a:lnTo>
                    <a:pt x="141" y="4"/>
                  </a:lnTo>
                  <a:lnTo>
                    <a:pt x="141" y="0"/>
                  </a:lnTo>
                  <a:lnTo>
                    <a:pt x="126" y="4"/>
                  </a:lnTo>
                  <a:lnTo>
                    <a:pt x="111" y="8"/>
                  </a:lnTo>
                  <a:lnTo>
                    <a:pt x="103" y="21"/>
                  </a:lnTo>
                  <a:lnTo>
                    <a:pt x="106" y="36"/>
                  </a:lnTo>
                  <a:lnTo>
                    <a:pt x="105" y="52"/>
                  </a:lnTo>
                  <a:lnTo>
                    <a:pt x="103" y="68"/>
                  </a:lnTo>
                  <a:lnTo>
                    <a:pt x="118" y="78"/>
                  </a:lnTo>
                  <a:lnTo>
                    <a:pt x="123" y="72"/>
                  </a:lnTo>
                  <a:lnTo>
                    <a:pt x="121" y="95"/>
                  </a:lnTo>
                  <a:lnTo>
                    <a:pt x="116" y="94"/>
                  </a:lnTo>
                  <a:lnTo>
                    <a:pt x="110" y="94"/>
                  </a:lnTo>
                  <a:lnTo>
                    <a:pt x="97" y="76"/>
                  </a:lnTo>
                  <a:lnTo>
                    <a:pt x="87" y="69"/>
                  </a:lnTo>
                  <a:lnTo>
                    <a:pt x="80" y="63"/>
                  </a:lnTo>
                  <a:lnTo>
                    <a:pt x="74" y="69"/>
                  </a:lnTo>
                  <a:lnTo>
                    <a:pt x="54" y="62"/>
                  </a:lnTo>
                  <a:lnTo>
                    <a:pt x="51" y="56"/>
                  </a:lnTo>
                  <a:lnTo>
                    <a:pt x="38" y="58"/>
                  </a:lnTo>
                  <a:lnTo>
                    <a:pt x="32" y="50"/>
                  </a:lnTo>
                  <a:lnTo>
                    <a:pt x="32" y="68"/>
                  </a:lnTo>
                  <a:lnTo>
                    <a:pt x="32"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5" name="Freeform 224"/>
            <p:cNvSpPr>
              <a:spLocks/>
            </p:cNvSpPr>
            <p:nvPr/>
          </p:nvSpPr>
          <p:spPr bwMode="auto">
            <a:xfrm>
              <a:off x="2969" y="3016"/>
              <a:ext cx="135" cy="138"/>
            </a:xfrm>
            <a:custGeom>
              <a:avLst/>
              <a:gdLst/>
              <a:ahLst/>
              <a:cxnLst>
                <a:cxn ang="0">
                  <a:pos x="60" y="116"/>
                </a:cxn>
                <a:cxn ang="0">
                  <a:pos x="56" y="113"/>
                </a:cxn>
                <a:cxn ang="0">
                  <a:pos x="42" y="107"/>
                </a:cxn>
                <a:cxn ang="0">
                  <a:pos x="37" y="92"/>
                </a:cxn>
                <a:cxn ang="0">
                  <a:pos x="33" y="86"/>
                </a:cxn>
                <a:cxn ang="0">
                  <a:pos x="30" y="83"/>
                </a:cxn>
                <a:cxn ang="0">
                  <a:pos x="19" y="74"/>
                </a:cxn>
                <a:cxn ang="0">
                  <a:pos x="9" y="56"/>
                </a:cxn>
                <a:cxn ang="0">
                  <a:pos x="0" y="38"/>
                </a:cxn>
                <a:cxn ang="0">
                  <a:pos x="23" y="44"/>
                </a:cxn>
                <a:cxn ang="0">
                  <a:pos x="37" y="30"/>
                </a:cxn>
                <a:cxn ang="0">
                  <a:pos x="54" y="17"/>
                </a:cxn>
                <a:cxn ang="0">
                  <a:pos x="59" y="6"/>
                </a:cxn>
                <a:cxn ang="0">
                  <a:pos x="71" y="2"/>
                </a:cxn>
                <a:cxn ang="0">
                  <a:pos x="83" y="0"/>
                </a:cxn>
                <a:cxn ang="0">
                  <a:pos x="83" y="7"/>
                </a:cxn>
                <a:cxn ang="0">
                  <a:pos x="90" y="6"/>
                </a:cxn>
                <a:cxn ang="0">
                  <a:pos x="105" y="13"/>
                </a:cxn>
                <a:cxn ang="0">
                  <a:pos x="121" y="19"/>
                </a:cxn>
                <a:cxn ang="0">
                  <a:pos x="121" y="41"/>
                </a:cxn>
                <a:cxn ang="0">
                  <a:pos x="117" y="56"/>
                </a:cxn>
                <a:cxn ang="0">
                  <a:pos x="120" y="73"/>
                </a:cxn>
                <a:cxn ang="0">
                  <a:pos x="114" y="89"/>
                </a:cxn>
                <a:cxn ang="0">
                  <a:pos x="110" y="103"/>
                </a:cxn>
                <a:cxn ang="0">
                  <a:pos x="101" y="113"/>
                </a:cxn>
                <a:cxn ang="0">
                  <a:pos x="91" y="122"/>
                </a:cxn>
                <a:cxn ang="0">
                  <a:pos x="75" y="120"/>
                </a:cxn>
                <a:cxn ang="0">
                  <a:pos x="61" y="117"/>
                </a:cxn>
                <a:cxn ang="0">
                  <a:pos x="60" y="116"/>
                </a:cxn>
              </a:cxnLst>
              <a:rect l="0" t="0" r="r" b="b"/>
              <a:pathLst>
                <a:path w="121" h="122">
                  <a:moveTo>
                    <a:pt x="60" y="116"/>
                  </a:moveTo>
                  <a:lnTo>
                    <a:pt x="56" y="113"/>
                  </a:lnTo>
                  <a:lnTo>
                    <a:pt x="42" y="107"/>
                  </a:lnTo>
                  <a:lnTo>
                    <a:pt x="37" y="92"/>
                  </a:lnTo>
                  <a:lnTo>
                    <a:pt x="33" y="86"/>
                  </a:lnTo>
                  <a:lnTo>
                    <a:pt x="30" y="83"/>
                  </a:lnTo>
                  <a:lnTo>
                    <a:pt x="19" y="74"/>
                  </a:lnTo>
                  <a:lnTo>
                    <a:pt x="9" y="56"/>
                  </a:lnTo>
                  <a:lnTo>
                    <a:pt x="0" y="38"/>
                  </a:lnTo>
                  <a:lnTo>
                    <a:pt x="23" y="44"/>
                  </a:lnTo>
                  <a:lnTo>
                    <a:pt x="37" y="30"/>
                  </a:lnTo>
                  <a:lnTo>
                    <a:pt x="54" y="17"/>
                  </a:lnTo>
                  <a:lnTo>
                    <a:pt x="59" y="6"/>
                  </a:lnTo>
                  <a:lnTo>
                    <a:pt x="71" y="2"/>
                  </a:lnTo>
                  <a:lnTo>
                    <a:pt x="83" y="0"/>
                  </a:lnTo>
                  <a:lnTo>
                    <a:pt x="83" y="7"/>
                  </a:lnTo>
                  <a:lnTo>
                    <a:pt x="90" y="6"/>
                  </a:lnTo>
                  <a:lnTo>
                    <a:pt x="105" y="13"/>
                  </a:lnTo>
                  <a:lnTo>
                    <a:pt x="121" y="19"/>
                  </a:lnTo>
                  <a:lnTo>
                    <a:pt x="121" y="41"/>
                  </a:lnTo>
                  <a:lnTo>
                    <a:pt x="117" y="56"/>
                  </a:lnTo>
                  <a:lnTo>
                    <a:pt x="120" y="73"/>
                  </a:lnTo>
                  <a:lnTo>
                    <a:pt x="114" y="89"/>
                  </a:lnTo>
                  <a:lnTo>
                    <a:pt x="110" y="103"/>
                  </a:lnTo>
                  <a:lnTo>
                    <a:pt x="101" y="113"/>
                  </a:lnTo>
                  <a:lnTo>
                    <a:pt x="91" y="122"/>
                  </a:lnTo>
                  <a:lnTo>
                    <a:pt x="75" y="120"/>
                  </a:lnTo>
                  <a:lnTo>
                    <a:pt x="61" y="117"/>
                  </a:lnTo>
                  <a:lnTo>
                    <a:pt x="60" y="1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6" name="Freeform 225"/>
            <p:cNvSpPr>
              <a:spLocks/>
            </p:cNvSpPr>
            <p:nvPr/>
          </p:nvSpPr>
          <p:spPr bwMode="auto">
            <a:xfrm>
              <a:off x="920" y="2705"/>
              <a:ext cx="9" cy="18"/>
            </a:xfrm>
            <a:custGeom>
              <a:avLst/>
              <a:gdLst/>
              <a:ahLst/>
              <a:cxnLst>
                <a:cxn ang="0">
                  <a:pos x="0" y="0"/>
                </a:cxn>
                <a:cxn ang="0">
                  <a:pos x="5" y="10"/>
                </a:cxn>
                <a:cxn ang="0">
                  <a:pos x="0" y="16"/>
                </a:cxn>
                <a:cxn ang="0">
                  <a:pos x="10" y="17"/>
                </a:cxn>
                <a:cxn ang="0">
                  <a:pos x="4" y="0"/>
                </a:cxn>
                <a:cxn ang="0">
                  <a:pos x="0" y="0"/>
                </a:cxn>
              </a:cxnLst>
              <a:rect l="0" t="0" r="r" b="b"/>
              <a:pathLst>
                <a:path w="10" h="17">
                  <a:moveTo>
                    <a:pt x="0" y="0"/>
                  </a:moveTo>
                  <a:lnTo>
                    <a:pt x="5" y="10"/>
                  </a:lnTo>
                  <a:lnTo>
                    <a:pt x="0" y="16"/>
                  </a:lnTo>
                  <a:lnTo>
                    <a:pt x="10" y="17"/>
                  </a:lnTo>
                  <a:lnTo>
                    <a:pt x="4" y="0"/>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7" name="Freeform 226"/>
            <p:cNvSpPr>
              <a:spLocks/>
            </p:cNvSpPr>
            <p:nvPr/>
          </p:nvSpPr>
          <p:spPr bwMode="auto">
            <a:xfrm>
              <a:off x="936" y="2716"/>
              <a:ext cx="7" cy="3"/>
            </a:xfrm>
            <a:custGeom>
              <a:avLst/>
              <a:gdLst/>
              <a:ahLst/>
              <a:cxnLst>
                <a:cxn ang="0">
                  <a:pos x="6" y="1"/>
                </a:cxn>
                <a:cxn ang="0">
                  <a:pos x="4" y="1"/>
                </a:cxn>
                <a:cxn ang="0">
                  <a:pos x="0" y="0"/>
                </a:cxn>
                <a:cxn ang="0">
                  <a:pos x="6" y="1"/>
                </a:cxn>
              </a:cxnLst>
              <a:rect l="0" t="0" r="r" b="b"/>
              <a:pathLst>
                <a:path w="6" h="1">
                  <a:moveTo>
                    <a:pt x="6" y="1"/>
                  </a:moveTo>
                  <a:lnTo>
                    <a:pt x="4" y="1"/>
                  </a:lnTo>
                  <a:lnTo>
                    <a:pt x="0" y="0"/>
                  </a:lnTo>
                  <a:lnTo>
                    <a:pt x="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8" name="Freeform 227"/>
            <p:cNvSpPr>
              <a:spLocks/>
            </p:cNvSpPr>
            <p:nvPr/>
          </p:nvSpPr>
          <p:spPr bwMode="auto">
            <a:xfrm>
              <a:off x="1134" y="2516"/>
              <a:ext cx="40" cy="45"/>
            </a:xfrm>
            <a:custGeom>
              <a:avLst/>
              <a:gdLst/>
              <a:ahLst/>
              <a:cxnLst>
                <a:cxn ang="0">
                  <a:pos x="21" y="22"/>
                </a:cxn>
                <a:cxn ang="0">
                  <a:pos x="27" y="22"/>
                </a:cxn>
                <a:cxn ang="0">
                  <a:pos x="25" y="19"/>
                </a:cxn>
                <a:cxn ang="0">
                  <a:pos x="21" y="18"/>
                </a:cxn>
                <a:cxn ang="0">
                  <a:pos x="16" y="13"/>
                </a:cxn>
                <a:cxn ang="0">
                  <a:pos x="5" y="8"/>
                </a:cxn>
                <a:cxn ang="0">
                  <a:pos x="0" y="4"/>
                </a:cxn>
                <a:cxn ang="0">
                  <a:pos x="0" y="0"/>
                </a:cxn>
                <a:cxn ang="0">
                  <a:pos x="15" y="1"/>
                </a:cxn>
                <a:cxn ang="0">
                  <a:pos x="25" y="8"/>
                </a:cxn>
                <a:cxn ang="0">
                  <a:pos x="36" y="14"/>
                </a:cxn>
                <a:cxn ang="0">
                  <a:pos x="36" y="28"/>
                </a:cxn>
                <a:cxn ang="0">
                  <a:pos x="30" y="33"/>
                </a:cxn>
                <a:cxn ang="0">
                  <a:pos x="27" y="40"/>
                </a:cxn>
                <a:cxn ang="0">
                  <a:pos x="23" y="34"/>
                </a:cxn>
                <a:cxn ang="0">
                  <a:pos x="21" y="22"/>
                </a:cxn>
              </a:cxnLst>
              <a:rect l="0" t="0" r="r" b="b"/>
              <a:pathLst>
                <a:path w="36" h="40">
                  <a:moveTo>
                    <a:pt x="21" y="22"/>
                  </a:moveTo>
                  <a:lnTo>
                    <a:pt x="27" y="22"/>
                  </a:lnTo>
                  <a:lnTo>
                    <a:pt x="25" y="19"/>
                  </a:lnTo>
                  <a:lnTo>
                    <a:pt x="21" y="18"/>
                  </a:lnTo>
                  <a:lnTo>
                    <a:pt x="16" y="13"/>
                  </a:lnTo>
                  <a:lnTo>
                    <a:pt x="5" y="8"/>
                  </a:lnTo>
                  <a:lnTo>
                    <a:pt x="0" y="4"/>
                  </a:lnTo>
                  <a:lnTo>
                    <a:pt x="0" y="0"/>
                  </a:lnTo>
                  <a:lnTo>
                    <a:pt x="15" y="1"/>
                  </a:lnTo>
                  <a:lnTo>
                    <a:pt x="25" y="8"/>
                  </a:lnTo>
                  <a:lnTo>
                    <a:pt x="36" y="14"/>
                  </a:lnTo>
                  <a:lnTo>
                    <a:pt x="36" y="28"/>
                  </a:lnTo>
                  <a:lnTo>
                    <a:pt x="30" y="33"/>
                  </a:lnTo>
                  <a:lnTo>
                    <a:pt x="27" y="40"/>
                  </a:lnTo>
                  <a:lnTo>
                    <a:pt x="23" y="34"/>
                  </a:lnTo>
                  <a:lnTo>
                    <a:pt x="21" y="2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9" name="Freeform 228"/>
            <p:cNvSpPr>
              <a:spLocks/>
            </p:cNvSpPr>
            <p:nvPr/>
          </p:nvSpPr>
          <p:spPr bwMode="auto">
            <a:xfrm>
              <a:off x="1569" y="2590"/>
              <a:ext cx="53" cy="73"/>
            </a:xfrm>
            <a:custGeom>
              <a:avLst/>
              <a:gdLst/>
              <a:ahLst/>
              <a:cxnLst>
                <a:cxn ang="0">
                  <a:pos x="36" y="18"/>
                </a:cxn>
                <a:cxn ang="0">
                  <a:pos x="21" y="3"/>
                </a:cxn>
                <a:cxn ang="0">
                  <a:pos x="11" y="0"/>
                </a:cxn>
                <a:cxn ang="0">
                  <a:pos x="7" y="7"/>
                </a:cxn>
                <a:cxn ang="0">
                  <a:pos x="2" y="21"/>
                </a:cxn>
                <a:cxn ang="0">
                  <a:pos x="8" y="44"/>
                </a:cxn>
                <a:cxn ang="0">
                  <a:pos x="0" y="61"/>
                </a:cxn>
                <a:cxn ang="0">
                  <a:pos x="9" y="63"/>
                </a:cxn>
                <a:cxn ang="0">
                  <a:pos x="25" y="65"/>
                </a:cxn>
                <a:cxn ang="0">
                  <a:pos x="36" y="48"/>
                </a:cxn>
                <a:cxn ang="0">
                  <a:pos x="47" y="31"/>
                </a:cxn>
                <a:cxn ang="0">
                  <a:pos x="42" y="20"/>
                </a:cxn>
                <a:cxn ang="0">
                  <a:pos x="42" y="24"/>
                </a:cxn>
                <a:cxn ang="0">
                  <a:pos x="36" y="18"/>
                </a:cxn>
              </a:cxnLst>
              <a:rect l="0" t="0" r="r" b="b"/>
              <a:pathLst>
                <a:path w="47" h="65">
                  <a:moveTo>
                    <a:pt x="36" y="18"/>
                  </a:moveTo>
                  <a:lnTo>
                    <a:pt x="21" y="3"/>
                  </a:lnTo>
                  <a:lnTo>
                    <a:pt x="11" y="0"/>
                  </a:lnTo>
                  <a:lnTo>
                    <a:pt x="7" y="7"/>
                  </a:lnTo>
                  <a:lnTo>
                    <a:pt x="2" y="21"/>
                  </a:lnTo>
                  <a:lnTo>
                    <a:pt x="8" y="44"/>
                  </a:lnTo>
                  <a:lnTo>
                    <a:pt x="0" y="61"/>
                  </a:lnTo>
                  <a:lnTo>
                    <a:pt x="9" y="63"/>
                  </a:lnTo>
                  <a:lnTo>
                    <a:pt x="25" y="65"/>
                  </a:lnTo>
                  <a:lnTo>
                    <a:pt x="36" y="48"/>
                  </a:lnTo>
                  <a:lnTo>
                    <a:pt x="47" y="31"/>
                  </a:lnTo>
                  <a:lnTo>
                    <a:pt x="42" y="20"/>
                  </a:lnTo>
                  <a:lnTo>
                    <a:pt x="42" y="24"/>
                  </a:lnTo>
                  <a:lnTo>
                    <a:pt x="36"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0" name="Freeform 229"/>
            <p:cNvSpPr>
              <a:spLocks/>
            </p:cNvSpPr>
            <p:nvPr/>
          </p:nvSpPr>
          <p:spPr bwMode="auto">
            <a:xfrm>
              <a:off x="1140" y="2459"/>
              <a:ext cx="214" cy="331"/>
            </a:xfrm>
            <a:custGeom>
              <a:avLst/>
              <a:gdLst/>
              <a:ahLst/>
              <a:cxnLst>
                <a:cxn ang="0">
                  <a:pos x="76" y="28"/>
                </a:cxn>
                <a:cxn ang="0">
                  <a:pos x="69" y="25"/>
                </a:cxn>
                <a:cxn ang="0">
                  <a:pos x="56" y="53"/>
                </a:cxn>
                <a:cxn ang="0">
                  <a:pos x="35" y="79"/>
                </a:cxn>
                <a:cxn ang="0">
                  <a:pos x="29" y="66"/>
                </a:cxn>
                <a:cxn ang="0">
                  <a:pos x="23" y="85"/>
                </a:cxn>
                <a:cxn ang="0">
                  <a:pos x="24" y="100"/>
                </a:cxn>
                <a:cxn ang="0">
                  <a:pos x="24" y="124"/>
                </a:cxn>
                <a:cxn ang="0">
                  <a:pos x="27" y="150"/>
                </a:cxn>
                <a:cxn ang="0">
                  <a:pos x="18" y="173"/>
                </a:cxn>
                <a:cxn ang="0">
                  <a:pos x="5" y="187"/>
                </a:cxn>
                <a:cxn ang="0">
                  <a:pos x="2" y="197"/>
                </a:cxn>
                <a:cxn ang="0">
                  <a:pos x="24" y="215"/>
                </a:cxn>
                <a:cxn ang="0">
                  <a:pos x="58" y="224"/>
                </a:cxn>
                <a:cxn ang="0">
                  <a:pos x="68" y="232"/>
                </a:cxn>
                <a:cxn ang="0">
                  <a:pos x="89" y="254"/>
                </a:cxn>
                <a:cxn ang="0">
                  <a:pos x="112" y="263"/>
                </a:cxn>
                <a:cxn ang="0">
                  <a:pos x="140" y="269"/>
                </a:cxn>
                <a:cxn ang="0">
                  <a:pos x="143" y="298"/>
                </a:cxn>
                <a:cxn ang="0">
                  <a:pos x="150" y="247"/>
                </a:cxn>
                <a:cxn ang="0">
                  <a:pos x="141" y="211"/>
                </a:cxn>
                <a:cxn ang="0">
                  <a:pos x="155" y="206"/>
                </a:cxn>
                <a:cxn ang="0">
                  <a:pos x="144" y="191"/>
                </a:cxn>
                <a:cxn ang="0">
                  <a:pos x="171" y="191"/>
                </a:cxn>
                <a:cxn ang="0">
                  <a:pos x="173" y="191"/>
                </a:cxn>
                <a:cxn ang="0">
                  <a:pos x="188" y="199"/>
                </a:cxn>
                <a:cxn ang="0">
                  <a:pos x="188" y="186"/>
                </a:cxn>
                <a:cxn ang="0">
                  <a:pos x="184" y="163"/>
                </a:cxn>
                <a:cxn ang="0">
                  <a:pos x="180" y="126"/>
                </a:cxn>
                <a:cxn ang="0">
                  <a:pos x="171" y="112"/>
                </a:cxn>
                <a:cxn ang="0">
                  <a:pos x="143" y="96"/>
                </a:cxn>
                <a:cxn ang="0">
                  <a:pos x="118" y="95"/>
                </a:cxn>
                <a:cxn ang="0">
                  <a:pos x="107" y="78"/>
                </a:cxn>
                <a:cxn ang="0">
                  <a:pos x="93" y="58"/>
                </a:cxn>
                <a:cxn ang="0">
                  <a:pos x="108" y="28"/>
                </a:cxn>
                <a:cxn ang="0">
                  <a:pos x="128" y="10"/>
                </a:cxn>
                <a:cxn ang="0">
                  <a:pos x="119" y="1"/>
                </a:cxn>
                <a:cxn ang="0">
                  <a:pos x="90" y="19"/>
                </a:cxn>
              </a:cxnLst>
              <a:rect l="0" t="0" r="r" b="b"/>
              <a:pathLst>
                <a:path w="191" h="298">
                  <a:moveTo>
                    <a:pt x="81" y="20"/>
                  </a:moveTo>
                  <a:lnTo>
                    <a:pt x="76" y="28"/>
                  </a:lnTo>
                  <a:lnTo>
                    <a:pt x="77" y="25"/>
                  </a:lnTo>
                  <a:lnTo>
                    <a:pt x="69" y="25"/>
                  </a:lnTo>
                  <a:lnTo>
                    <a:pt x="57" y="40"/>
                  </a:lnTo>
                  <a:lnTo>
                    <a:pt x="56" y="53"/>
                  </a:lnTo>
                  <a:lnTo>
                    <a:pt x="38" y="70"/>
                  </a:lnTo>
                  <a:lnTo>
                    <a:pt x="35" y="79"/>
                  </a:lnTo>
                  <a:lnTo>
                    <a:pt x="33" y="71"/>
                  </a:lnTo>
                  <a:lnTo>
                    <a:pt x="29" y="66"/>
                  </a:lnTo>
                  <a:lnTo>
                    <a:pt x="29" y="80"/>
                  </a:lnTo>
                  <a:lnTo>
                    <a:pt x="23" y="85"/>
                  </a:lnTo>
                  <a:lnTo>
                    <a:pt x="20" y="92"/>
                  </a:lnTo>
                  <a:lnTo>
                    <a:pt x="24" y="100"/>
                  </a:lnTo>
                  <a:lnTo>
                    <a:pt x="28" y="116"/>
                  </a:lnTo>
                  <a:lnTo>
                    <a:pt x="24" y="124"/>
                  </a:lnTo>
                  <a:lnTo>
                    <a:pt x="26" y="137"/>
                  </a:lnTo>
                  <a:lnTo>
                    <a:pt x="27" y="150"/>
                  </a:lnTo>
                  <a:lnTo>
                    <a:pt x="29" y="152"/>
                  </a:lnTo>
                  <a:lnTo>
                    <a:pt x="18" y="173"/>
                  </a:lnTo>
                  <a:lnTo>
                    <a:pt x="9" y="178"/>
                  </a:lnTo>
                  <a:lnTo>
                    <a:pt x="5" y="187"/>
                  </a:lnTo>
                  <a:lnTo>
                    <a:pt x="0" y="190"/>
                  </a:lnTo>
                  <a:lnTo>
                    <a:pt x="2" y="197"/>
                  </a:lnTo>
                  <a:lnTo>
                    <a:pt x="15" y="206"/>
                  </a:lnTo>
                  <a:lnTo>
                    <a:pt x="24" y="215"/>
                  </a:lnTo>
                  <a:lnTo>
                    <a:pt x="40" y="215"/>
                  </a:lnTo>
                  <a:lnTo>
                    <a:pt x="58" y="224"/>
                  </a:lnTo>
                  <a:lnTo>
                    <a:pt x="59" y="223"/>
                  </a:lnTo>
                  <a:lnTo>
                    <a:pt x="68" y="232"/>
                  </a:lnTo>
                  <a:lnTo>
                    <a:pt x="77" y="240"/>
                  </a:lnTo>
                  <a:lnTo>
                    <a:pt x="89" y="254"/>
                  </a:lnTo>
                  <a:lnTo>
                    <a:pt x="92" y="263"/>
                  </a:lnTo>
                  <a:lnTo>
                    <a:pt x="112" y="263"/>
                  </a:lnTo>
                  <a:lnTo>
                    <a:pt x="124" y="264"/>
                  </a:lnTo>
                  <a:lnTo>
                    <a:pt x="140" y="269"/>
                  </a:lnTo>
                  <a:lnTo>
                    <a:pt x="134" y="290"/>
                  </a:lnTo>
                  <a:lnTo>
                    <a:pt x="143" y="298"/>
                  </a:lnTo>
                  <a:lnTo>
                    <a:pt x="147" y="272"/>
                  </a:lnTo>
                  <a:lnTo>
                    <a:pt x="150" y="247"/>
                  </a:lnTo>
                  <a:lnTo>
                    <a:pt x="144" y="228"/>
                  </a:lnTo>
                  <a:lnTo>
                    <a:pt x="141" y="211"/>
                  </a:lnTo>
                  <a:lnTo>
                    <a:pt x="152" y="211"/>
                  </a:lnTo>
                  <a:lnTo>
                    <a:pt x="155" y="206"/>
                  </a:lnTo>
                  <a:lnTo>
                    <a:pt x="147" y="203"/>
                  </a:lnTo>
                  <a:lnTo>
                    <a:pt x="144" y="191"/>
                  </a:lnTo>
                  <a:lnTo>
                    <a:pt x="158" y="191"/>
                  </a:lnTo>
                  <a:lnTo>
                    <a:pt x="171" y="191"/>
                  </a:lnTo>
                  <a:lnTo>
                    <a:pt x="170" y="188"/>
                  </a:lnTo>
                  <a:lnTo>
                    <a:pt x="173" y="191"/>
                  </a:lnTo>
                  <a:lnTo>
                    <a:pt x="183" y="184"/>
                  </a:lnTo>
                  <a:lnTo>
                    <a:pt x="188" y="199"/>
                  </a:lnTo>
                  <a:lnTo>
                    <a:pt x="191" y="200"/>
                  </a:lnTo>
                  <a:lnTo>
                    <a:pt x="188" y="186"/>
                  </a:lnTo>
                  <a:lnTo>
                    <a:pt x="179" y="172"/>
                  </a:lnTo>
                  <a:lnTo>
                    <a:pt x="184" y="163"/>
                  </a:lnTo>
                  <a:lnTo>
                    <a:pt x="177" y="140"/>
                  </a:lnTo>
                  <a:lnTo>
                    <a:pt x="180" y="126"/>
                  </a:lnTo>
                  <a:lnTo>
                    <a:pt x="184" y="110"/>
                  </a:lnTo>
                  <a:lnTo>
                    <a:pt x="171" y="112"/>
                  </a:lnTo>
                  <a:lnTo>
                    <a:pt x="156" y="113"/>
                  </a:lnTo>
                  <a:lnTo>
                    <a:pt x="143" y="96"/>
                  </a:lnTo>
                  <a:lnTo>
                    <a:pt x="130" y="96"/>
                  </a:lnTo>
                  <a:lnTo>
                    <a:pt x="118" y="95"/>
                  </a:lnTo>
                  <a:lnTo>
                    <a:pt x="107" y="89"/>
                  </a:lnTo>
                  <a:lnTo>
                    <a:pt x="107" y="78"/>
                  </a:lnTo>
                  <a:lnTo>
                    <a:pt x="99" y="58"/>
                  </a:lnTo>
                  <a:lnTo>
                    <a:pt x="93" y="58"/>
                  </a:lnTo>
                  <a:lnTo>
                    <a:pt x="100" y="42"/>
                  </a:lnTo>
                  <a:lnTo>
                    <a:pt x="108" y="28"/>
                  </a:lnTo>
                  <a:lnTo>
                    <a:pt x="117" y="12"/>
                  </a:lnTo>
                  <a:lnTo>
                    <a:pt x="128" y="10"/>
                  </a:lnTo>
                  <a:lnTo>
                    <a:pt x="130" y="0"/>
                  </a:lnTo>
                  <a:lnTo>
                    <a:pt x="119" y="1"/>
                  </a:lnTo>
                  <a:lnTo>
                    <a:pt x="105" y="11"/>
                  </a:lnTo>
                  <a:lnTo>
                    <a:pt x="90" y="19"/>
                  </a:lnTo>
                  <a:lnTo>
                    <a:pt x="81" y="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1" name="Freeform 230"/>
            <p:cNvSpPr>
              <a:spLocks/>
            </p:cNvSpPr>
            <p:nvPr/>
          </p:nvSpPr>
          <p:spPr bwMode="auto">
            <a:xfrm>
              <a:off x="1454" y="2534"/>
              <a:ext cx="82" cy="145"/>
            </a:xfrm>
            <a:custGeom>
              <a:avLst/>
              <a:gdLst/>
              <a:ahLst/>
              <a:cxnLst>
                <a:cxn ang="0">
                  <a:pos x="60" y="94"/>
                </a:cxn>
                <a:cxn ang="0">
                  <a:pos x="53" y="84"/>
                </a:cxn>
                <a:cxn ang="0">
                  <a:pos x="54" y="69"/>
                </a:cxn>
                <a:cxn ang="0">
                  <a:pos x="61" y="64"/>
                </a:cxn>
                <a:cxn ang="0">
                  <a:pos x="64" y="56"/>
                </a:cxn>
                <a:cxn ang="0">
                  <a:pos x="64" y="41"/>
                </a:cxn>
                <a:cxn ang="0">
                  <a:pos x="47" y="30"/>
                </a:cxn>
                <a:cxn ang="0">
                  <a:pos x="43" y="38"/>
                </a:cxn>
                <a:cxn ang="0">
                  <a:pos x="45" y="20"/>
                </a:cxn>
                <a:cxn ang="0">
                  <a:pos x="35" y="12"/>
                </a:cxn>
                <a:cxn ang="0">
                  <a:pos x="27" y="4"/>
                </a:cxn>
                <a:cxn ang="0">
                  <a:pos x="30" y="6"/>
                </a:cxn>
                <a:cxn ang="0">
                  <a:pos x="23" y="0"/>
                </a:cxn>
                <a:cxn ang="0">
                  <a:pos x="25" y="5"/>
                </a:cxn>
                <a:cxn ang="0">
                  <a:pos x="11" y="18"/>
                </a:cxn>
                <a:cxn ang="0">
                  <a:pos x="17" y="26"/>
                </a:cxn>
                <a:cxn ang="0">
                  <a:pos x="6" y="33"/>
                </a:cxn>
                <a:cxn ang="0">
                  <a:pos x="0" y="46"/>
                </a:cxn>
                <a:cxn ang="0">
                  <a:pos x="9" y="60"/>
                </a:cxn>
                <a:cxn ang="0">
                  <a:pos x="18" y="60"/>
                </a:cxn>
                <a:cxn ang="0">
                  <a:pos x="19" y="70"/>
                </a:cxn>
                <a:cxn ang="0">
                  <a:pos x="27" y="80"/>
                </a:cxn>
                <a:cxn ang="0">
                  <a:pos x="22" y="95"/>
                </a:cxn>
                <a:cxn ang="0">
                  <a:pos x="24" y="117"/>
                </a:cxn>
                <a:cxn ang="0">
                  <a:pos x="34" y="130"/>
                </a:cxn>
                <a:cxn ang="0">
                  <a:pos x="43" y="130"/>
                </a:cxn>
                <a:cxn ang="0">
                  <a:pos x="59" y="122"/>
                </a:cxn>
                <a:cxn ang="0">
                  <a:pos x="76" y="119"/>
                </a:cxn>
                <a:cxn ang="0">
                  <a:pos x="69" y="106"/>
                </a:cxn>
                <a:cxn ang="0">
                  <a:pos x="60" y="94"/>
                </a:cxn>
              </a:cxnLst>
              <a:rect l="0" t="0" r="r" b="b"/>
              <a:pathLst>
                <a:path w="76" h="130">
                  <a:moveTo>
                    <a:pt x="60" y="94"/>
                  </a:moveTo>
                  <a:lnTo>
                    <a:pt x="53" y="84"/>
                  </a:lnTo>
                  <a:lnTo>
                    <a:pt x="54" y="69"/>
                  </a:lnTo>
                  <a:lnTo>
                    <a:pt x="61" y="64"/>
                  </a:lnTo>
                  <a:lnTo>
                    <a:pt x="64" y="56"/>
                  </a:lnTo>
                  <a:lnTo>
                    <a:pt x="64" y="41"/>
                  </a:lnTo>
                  <a:lnTo>
                    <a:pt x="47" y="30"/>
                  </a:lnTo>
                  <a:lnTo>
                    <a:pt x="43" y="38"/>
                  </a:lnTo>
                  <a:lnTo>
                    <a:pt x="45" y="20"/>
                  </a:lnTo>
                  <a:lnTo>
                    <a:pt x="35" y="12"/>
                  </a:lnTo>
                  <a:lnTo>
                    <a:pt x="27" y="4"/>
                  </a:lnTo>
                  <a:lnTo>
                    <a:pt x="30" y="6"/>
                  </a:lnTo>
                  <a:lnTo>
                    <a:pt x="23" y="0"/>
                  </a:lnTo>
                  <a:lnTo>
                    <a:pt x="25" y="5"/>
                  </a:lnTo>
                  <a:lnTo>
                    <a:pt x="11" y="18"/>
                  </a:lnTo>
                  <a:lnTo>
                    <a:pt x="17" y="26"/>
                  </a:lnTo>
                  <a:lnTo>
                    <a:pt x="6" y="33"/>
                  </a:lnTo>
                  <a:lnTo>
                    <a:pt x="0" y="46"/>
                  </a:lnTo>
                  <a:lnTo>
                    <a:pt x="9" y="60"/>
                  </a:lnTo>
                  <a:lnTo>
                    <a:pt x="18" y="60"/>
                  </a:lnTo>
                  <a:lnTo>
                    <a:pt x="19" y="70"/>
                  </a:lnTo>
                  <a:lnTo>
                    <a:pt x="27" y="80"/>
                  </a:lnTo>
                  <a:lnTo>
                    <a:pt x="22" y="95"/>
                  </a:lnTo>
                  <a:lnTo>
                    <a:pt x="24" y="117"/>
                  </a:lnTo>
                  <a:lnTo>
                    <a:pt x="34" y="130"/>
                  </a:lnTo>
                  <a:lnTo>
                    <a:pt x="43" y="130"/>
                  </a:lnTo>
                  <a:lnTo>
                    <a:pt x="59" y="122"/>
                  </a:lnTo>
                  <a:lnTo>
                    <a:pt x="76" y="119"/>
                  </a:lnTo>
                  <a:lnTo>
                    <a:pt x="69" y="106"/>
                  </a:lnTo>
                  <a:lnTo>
                    <a:pt x="60" y="9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2" name="Freeform 231"/>
            <p:cNvSpPr>
              <a:spLocks/>
            </p:cNvSpPr>
            <p:nvPr/>
          </p:nvSpPr>
          <p:spPr bwMode="auto">
            <a:xfrm>
              <a:off x="1511" y="2587"/>
              <a:ext cx="69" cy="83"/>
            </a:xfrm>
            <a:custGeom>
              <a:avLst/>
              <a:gdLst/>
              <a:ahLst/>
              <a:cxnLst>
                <a:cxn ang="0">
                  <a:pos x="7" y="46"/>
                </a:cxn>
                <a:cxn ang="0">
                  <a:pos x="0" y="36"/>
                </a:cxn>
                <a:cxn ang="0">
                  <a:pos x="1" y="21"/>
                </a:cxn>
                <a:cxn ang="0">
                  <a:pos x="8" y="16"/>
                </a:cxn>
                <a:cxn ang="0">
                  <a:pos x="11" y="8"/>
                </a:cxn>
                <a:cxn ang="0">
                  <a:pos x="14" y="0"/>
                </a:cxn>
                <a:cxn ang="0">
                  <a:pos x="32" y="2"/>
                </a:cxn>
                <a:cxn ang="0">
                  <a:pos x="47" y="0"/>
                </a:cxn>
                <a:cxn ang="0">
                  <a:pos x="61" y="2"/>
                </a:cxn>
                <a:cxn ang="0">
                  <a:pos x="60" y="10"/>
                </a:cxn>
                <a:cxn ang="0">
                  <a:pos x="55" y="24"/>
                </a:cxn>
                <a:cxn ang="0">
                  <a:pos x="61" y="47"/>
                </a:cxn>
                <a:cxn ang="0">
                  <a:pos x="53" y="64"/>
                </a:cxn>
                <a:cxn ang="0">
                  <a:pos x="43" y="60"/>
                </a:cxn>
                <a:cxn ang="0">
                  <a:pos x="29" y="64"/>
                </a:cxn>
                <a:cxn ang="0">
                  <a:pos x="30" y="74"/>
                </a:cxn>
                <a:cxn ang="0">
                  <a:pos x="23" y="71"/>
                </a:cxn>
                <a:cxn ang="0">
                  <a:pos x="16" y="58"/>
                </a:cxn>
                <a:cxn ang="0">
                  <a:pos x="7" y="46"/>
                </a:cxn>
              </a:cxnLst>
              <a:rect l="0" t="0" r="r" b="b"/>
              <a:pathLst>
                <a:path w="61" h="74">
                  <a:moveTo>
                    <a:pt x="7" y="46"/>
                  </a:moveTo>
                  <a:lnTo>
                    <a:pt x="0" y="36"/>
                  </a:lnTo>
                  <a:lnTo>
                    <a:pt x="1" y="21"/>
                  </a:lnTo>
                  <a:lnTo>
                    <a:pt x="8" y="16"/>
                  </a:lnTo>
                  <a:lnTo>
                    <a:pt x="11" y="8"/>
                  </a:lnTo>
                  <a:lnTo>
                    <a:pt x="14" y="0"/>
                  </a:lnTo>
                  <a:lnTo>
                    <a:pt x="32" y="2"/>
                  </a:lnTo>
                  <a:lnTo>
                    <a:pt x="47" y="0"/>
                  </a:lnTo>
                  <a:lnTo>
                    <a:pt x="61" y="2"/>
                  </a:lnTo>
                  <a:lnTo>
                    <a:pt x="60" y="10"/>
                  </a:lnTo>
                  <a:lnTo>
                    <a:pt x="55" y="24"/>
                  </a:lnTo>
                  <a:lnTo>
                    <a:pt x="61" y="47"/>
                  </a:lnTo>
                  <a:lnTo>
                    <a:pt x="53" y="64"/>
                  </a:lnTo>
                  <a:lnTo>
                    <a:pt x="43" y="60"/>
                  </a:lnTo>
                  <a:lnTo>
                    <a:pt x="29" y="64"/>
                  </a:lnTo>
                  <a:lnTo>
                    <a:pt x="30" y="74"/>
                  </a:lnTo>
                  <a:lnTo>
                    <a:pt x="23" y="71"/>
                  </a:lnTo>
                  <a:lnTo>
                    <a:pt x="16" y="58"/>
                  </a:lnTo>
                  <a:lnTo>
                    <a:pt x="7"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3" name="Freeform 232"/>
            <p:cNvSpPr>
              <a:spLocks/>
            </p:cNvSpPr>
            <p:nvPr/>
          </p:nvSpPr>
          <p:spPr bwMode="auto">
            <a:xfrm>
              <a:off x="1447" y="2490"/>
              <a:ext cx="15" cy="13"/>
            </a:xfrm>
            <a:custGeom>
              <a:avLst/>
              <a:gdLst/>
              <a:ahLst/>
              <a:cxnLst>
                <a:cxn ang="0">
                  <a:pos x="4" y="0"/>
                </a:cxn>
                <a:cxn ang="0">
                  <a:pos x="15" y="0"/>
                </a:cxn>
                <a:cxn ang="0">
                  <a:pos x="10" y="12"/>
                </a:cxn>
                <a:cxn ang="0">
                  <a:pos x="0" y="11"/>
                </a:cxn>
                <a:cxn ang="0">
                  <a:pos x="6" y="3"/>
                </a:cxn>
                <a:cxn ang="0">
                  <a:pos x="4" y="0"/>
                </a:cxn>
              </a:cxnLst>
              <a:rect l="0" t="0" r="r" b="b"/>
              <a:pathLst>
                <a:path w="15" h="12">
                  <a:moveTo>
                    <a:pt x="4" y="0"/>
                  </a:moveTo>
                  <a:lnTo>
                    <a:pt x="15" y="0"/>
                  </a:lnTo>
                  <a:lnTo>
                    <a:pt x="10" y="12"/>
                  </a:lnTo>
                  <a:lnTo>
                    <a:pt x="0" y="11"/>
                  </a:lnTo>
                  <a:lnTo>
                    <a:pt x="6" y="3"/>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4" name="Freeform 233"/>
            <p:cNvSpPr>
              <a:spLocks/>
            </p:cNvSpPr>
            <p:nvPr/>
          </p:nvSpPr>
          <p:spPr bwMode="auto">
            <a:xfrm>
              <a:off x="1242" y="2463"/>
              <a:ext cx="238" cy="227"/>
            </a:xfrm>
            <a:custGeom>
              <a:avLst/>
              <a:gdLst/>
              <a:ahLst/>
              <a:cxnLst>
                <a:cxn ang="0">
                  <a:pos x="176" y="42"/>
                </a:cxn>
                <a:cxn ang="0">
                  <a:pos x="167" y="38"/>
                </a:cxn>
                <a:cxn ang="0">
                  <a:pos x="165" y="32"/>
                </a:cxn>
                <a:cxn ang="0">
                  <a:pos x="164" y="27"/>
                </a:cxn>
                <a:cxn ang="0">
                  <a:pos x="153" y="30"/>
                </a:cxn>
                <a:cxn ang="0">
                  <a:pos x="115" y="30"/>
                </a:cxn>
                <a:cxn ang="0">
                  <a:pos x="86" y="30"/>
                </a:cxn>
                <a:cxn ang="0">
                  <a:pos x="63" y="12"/>
                </a:cxn>
                <a:cxn ang="0">
                  <a:pos x="53" y="7"/>
                </a:cxn>
                <a:cxn ang="0">
                  <a:pos x="56" y="12"/>
                </a:cxn>
                <a:cxn ang="0">
                  <a:pos x="32" y="24"/>
                </a:cxn>
                <a:cxn ang="0">
                  <a:pos x="30" y="56"/>
                </a:cxn>
                <a:cxn ang="0">
                  <a:pos x="29" y="28"/>
                </a:cxn>
                <a:cxn ang="0">
                  <a:pos x="35" y="6"/>
                </a:cxn>
                <a:cxn ang="0">
                  <a:pos x="15" y="24"/>
                </a:cxn>
                <a:cxn ang="0">
                  <a:pos x="0" y="54"/>
                </a:cxn>
                <a:cxn ang="0">
                  <a:pos x="14" y="74"/>
                </a:cxn>
                <a:cxn ang="0">
                  <a:pos x="25" y="91"/>
                </a:cxn>
                <a:cxn ang="0">
                  <a:pos x="50" y="92"/>
                </a:cxn>
                <a:cxn ang="0">
                  <a:pos x="78" y="108"/>
                </a:cxn>
                <a:cxn ang="0">
                  <a:pos x="87" y="122"/>
                </a:cxn>
                <a:cxn ang="0">
                  <a:pos x="91" y="159"/>
                </a:cxn>
                <a:cxn ang="0">
                  <a:pos x="95" y="182"/>
                </a:cxn>
                <a:cxn ang="0">
                  <a:pos x="111" y="204"/>
                </a:cxn>
                <a:cxn ang="0">
                  <a:pos x="122" y="205"/>
                </a:cxn>
                <a:cxn ang="0">
                  <a:pos x="152" y="180"/>
                </a:cxn>
                <a:cxn ang="0">
                  <a:pos x="145" y="171"/>
                </a:cxn>
                <a:cxn ang="0">
                  <a:pos x="134" y="141"/>
                </a:cxn>
                <a:cxn ang="0">
                  <a:pos x="165" y="152"/>
                </a:cxn>
                <a:cxn ang="0">
                  <a:pos x="181" y="140"/>
                </a:cxn>
                <a:cxn ang="0">
                  <a:pos x="198" y="124"/>
                </a:cxn>
                <a:cxn ang="0">
                  <a:pos x="188" y="110"/>
                </a:cxn>
                <a:cxn ang="0">
                  <a:pos x="205" y="90"/>
                </a:cxn>
                <a:cxn ang="0">
                  <a:pos x="213" y="69"/>
                </a:cxn>
                <a:cxn ang="0">
                  <a:pos x="195" y="64"/>
                </a:cxn>
                <a:cxn ang="0">
                  <a:pos x="189" y="63"/>
                </a:cxn>
                <a:cxn ang="0">
                  <a:pos x="198" y="51"/>
                </a:cxn>
                <a:cxn ang="0">
                  <a:pos x="182" y="43"/>
                </a:cxn>
                <a:cxn ang="0">
                  <a:pos x="177" y="44"/>
                </a:cxn>
              </a:cxnLst>
              <a:rect l="0" t="0" r="r" b="b"/>
              <a:pathLst>
                <a:path w="213" h="205">
                  <a:moveTo>
                    <a:pt x="177" y="44"/>
                  </a:moveTo>
                  <a:lnTo>
                    <a:pt x="176" y="42"/>
                  </a:lnTo>
                  <a:lnTo>
                    <a:pt x="173" y="37"/>
                  </a:lnTo>
                  <a:lnTo>
                    <a:pt x="167" y="38"/>
                  </a:lnTo>
                  <a:lnTo>
                    <a:pt x="170" y="37"/>
                  </a:lnTo>
                  <a:lnTo>
                    <a:pt x="165" y="32"/>
                  </a:lnTo>
                  <a:lnTo>
                    <a:pt x="181" y="27"/>
                  </a:lnTo>
                  <a:lnTo>
                    <a:pt x="164" y="27"/>
                  </a:lnTo>
                  <a:lnTo>
                    <a:pt x="147" y="27"/>
                  </a:lnTo>
                  <a:lnTo>
                    <a:pt x="153" y="30"/>
                  </a:lnTo>
                  <a:lnTo>
                    <a:pt x="137" y="37"/>
                  </a:lnTo>
                  <a:lnTo>
                    <a:pt x="115" y="30"/>
                  </a:lnTo>
                  <a:lnTo>
                    <a:pt x="101" y="30"/>
                  </a:lnTo>
                  <a:lnTo>
                    <a:pt x="86" y="30"/>
                  </a:lnTo>
                  <a:lnTo>
                    <a:pt x="80" y="19"/>
                  </a:lnTo>
                  <a:lnTo>
                    <a:pt x="63" y="12"/>
                  </a:lnTo>
                  <a:lnTo>
                    <a:pt x="56" y="0"/>
                  </a:lnTo>
                  <a:lnTo>
                    <a:pt x="53" y="7"/>
                  </a:lnTo>
                  <a:lnTo>
                    <a:pt x="60" y="12"/>
                  </a:lnTo>
                  <a:lnTo>
                    <a:pt x="56" y="12"/>
                  </a:lnTo>
                  <a:lnTo>
                    <a:pt x="35" y="20"/>
                  </a:lnTo>
                  <a:lnTo>
                    <a:pt x="32" y="24"/>
                  </a:lnTo>
                  <a:lnTo>
                    <a:pt x="36" y="46"/>
                  </a:lnTo>
                  <a:lnTo>
                    <a:pt x="30" y="56"/>
                  </a:lnTo>
                  <a:lnTo>
                    <a:pt x="20" y="43"/>
                  </a:lnTo>
                  <a:lnTo>
                    <a:pt x="29" y="28"/>
                  </a:lnTo>
                  <a:lnTo>
                    <a:pt x="25" y="13"/>
                  </a:lnTo>
                  <a:lnTo>
                    <a:pt x="35" y="6"/>
                  </a:lnTo>
                  <a:lnTo>
                    <a:pt x="24" y="8"/>
                  </a:lnTo>
                  <a:lnTo>
                    <a:pt x="15" y="24"/>
                  </a:lnTo>
                  <a:lnTo>
                    <a:pt x="7" y="38"/>
                  </a:lnTo>
                  <a:lnTo>
                    <a:pt x="0" y="54"/>
                  </a:lnTo>
                  <a:lnTo>
                    <a:pt x="6" y="54"/>
                  </a:lnTo>
                  <a:lnTo>
                    <a:pt x="14" y="74"/>
                  </a:lnTo>
                  <a:lnTo>
                    <a:pt x="14" y="85"/>
                  </a:lnTo>
                  <a:lnTo>
                    <a:pt x="25" y="91"/>
                  </a:lnTo>
                  <a:lnTo>
                    <a:pt x="37" y="92"/>
                  </a:lnTo>
                  <a:lnTo>
                    <a:pt x="50" y="92"/>
                  </a:lnTo>
                  <a:lnTo>
                    <a:pt x="63" y="109"/>
                  </a:lnTo>
                  <a:lnTo>
                    <a:pt x="78" y="108"/>
                  </a:lnTo>
                  <a:lnTo>
                    <a:pt x="91" y="106"/>
                  </a:lnTo>
                  <a:lnTo>
                    <a:pt x="87" y="122"/>
                  </a:lnTo>
                  <a:lnTo>
                    <a:pt x="84" y="136"/>
                  </a:lnTo>
                  <a:lnTo>
                    <a:pt x="91" y="159"/>
                  </a:lnTo>
                  <a:lnTo>
                    <a:pt x="86" y="168"/>
                  </a:lnTo>
                  <a:lnTo>
                    <a:pt x="95" y="182"/>
                  </a:lnTo>
                  <a:lnTo>
                    <a:pt x="98" y="196"/>
                  </a:lnTo>
                  <a:lnTo>
                    <a:pt x="111" y="204"/>
                  </a:lnTo>
                  <a:lnTo>
                    <a:pt x="120" y="204"/>
                  </a:lnTo>
                  <a:lnTo>
                    <a:pt x="122" y="205"/>
                  </a:lnTo>
                  <a:lnTo>
                    <a:pt x="138" y="193"/>
                  </a:lnTo>
                  <a:lnTo>
                    <a:pt x="152" y="180"/>
                  </a:lnTo>
                  <a:lnTo>
                    <a:pt x="155" y="175"/>
                  </a:lnTo>
                  <a:lnTo>
                    <a:pt x="145" y="171"/>
                  </a:lnTo>
                  <a:lnTo>
                    <a:pt x="140" y="151"/>
                  </a:lnTo>
                  <a:lnTo>
                    <a:pt x="134" y="141"/>
                  </a:lnTo>
                  <a:lnTo>
                    <a:pt x="150" y="147"/>
                  </a:lnTo>
                  <a:lnTo>
                    <a:pt x="165" y="152"/>
                  </a:lnTo>
                  <a:lnTo>
                    <a:pt x="168" y="146"/>
                  </a:lnTo>
                  <a:lnTo>
                    <a:pt x="181" y="140"/>
                  </a:lnTo>
                  <a:lnTo>
                    <a:pt x="194" y="134"/>
                  </a:lnTo>
                  <a:lnTo>
                    <a:pt x="198" y="124"/>
                  </a:lnTo>
                  <a:lnTo>
                    <a:pt x="197" y="124"/>
                  </a:lnTo>
                  <a:lnTo>
                    <a:pt x="188" y="110"/>
                  </a:lnTo>
                  <a:lnTo>
                    <a:pt x="194" y="97"/>
                  </a:lnTo>
                  <a:lnTo>
                    <a:pt x="205" y="90"/>
                  </a:lnTo>
                  <a:lnTo>
                    <a:pt x="199" y="82"/>
                  </a:lnTo>
                  <a:lnTo>
                    <a:pt x="213" y="69"/>
                  </a:lnTo>
                  <a:lnTo>
                    <a:pt x="211" y="64"/>
                  </a:lnTo>
                  <a:lnTo>
                    <a:pt x="195" y="64"/>
                  </a:lnTo>
                  <a:lnTo>
                    <a:pt x="185" y="64"/>
                  </a:lnTo>
                  <a:lnTo>
                    <a:pt x="189" y="63"/>
                  </a:lnTo>
                  <a:lnTo>
                    <a:pt x="194" y="55"/>
                  </a:lnTo>
                  <a:lnTo>
                    <a:pt x="198" y="51"/>
                  </a:lnTo>
                  <a:lnTo>
                    <a:pt x="188" y="43"/>
                  </a:lnTo>
                  <a:lnTo>
                    <a:pt x="182" y="43"/>
                  </a:lnTo>
                  <a:lnTo>
                    <a:pt x="176" y="39"/>
                  </a:lnTo>
                  <a:lnTo>
                    <a:pt x="177" y="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5" name="Freeform 234"/>
            <p:cNvSpPr>
              <a:spLocks/>
            </p:cNvSpPr>
            <p:nvPr/>
          </p:nvSpPr>
          <p:spPr bwMode="auto">
            <a:xfrm>
              <a:off x="1405" y="2483"/>
              <a:ext cx="9" cy="4"/>
            </a:xfrm>
            <a:custGeom>
              <a:avLst/>
              <a:gdLst/>
              <a:ahLst/>
              <a:cxnLst>
                <a:cxn ang="0">
                  <a:pos x="8" y="2"/>
                </a:cxn>
                <a:cxn ang="0">
                  <a:pos x="0" y="0"/>
                </a:cxn>
                <a:cxn ang="0">
                  <a:pos x="8" y="2"/>
                </a:cxn>
              </a:cxnLst>
              <a:rect l="0" t="0" r="r" b="b"/>
              <a:pathLst>
                <a:path w="8" h="2">
                  <a:moveTo>
                    <a:pt x="8" y="2"/>
                  </a:moveTo>
                  <a:lnTo>
                    <a:pt x="0" y="0"/>
                  </a:lnTo>
                  <a:lnTo>
                    <a:pt x="8"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6" name="Freeform 235"/>
            <p:cNvSpPr>
              <a:spLocks/>
            </p:cNvSpPr>
            <p:nvPr/>
          </p:nvSpPr>
          <p:spPr bwMode="auto">
            <a:xfrm>
              <a:off x="1307" y="2454"/>
              <a:ext cx="2" cy="2"/>
            </a:xfrm>
            <a:custGeom>
              <a:avLst/>
              <a:gdLst/>
              <a:ahLst/>
              <a:cxnLst>
                <a:cxn ang="0">
                  <a:pos x="0" y="0"/>
                </a:cxn>
                <a:cxn ang="0">
                  <a:pos x="0" y="1"/>
                </a:cxn>
                <a:cxn ang="0">
                  <a:pos x="3" y="4"/>
                </a:cxn>
                <a:cxn ang="0">
                  <a:pos x="0" y="0"/>
                </a:cxn>
              </a:cxnLst>
              <a:rect l="0" t="0" r="r" b="b"/>
              <a:pathLst>
                <a:path w="3" h="4">
                  <a:moveTo>
                    <a:pt x="0" y="0"/>
                  </a:moveTo>
                  <a:lnTo>
                    <a:pt x="0" y="1"/>
                  </a:lnTo>
                  <a:lnTo>
                    <a:pt x="3" y="4"/>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7" name="Freeform 236"/>
            <p:cNvSpPr>
              <a:spLocks/>
            </p:cNvSpPr>
            <p:nvPr/>
          </p:nvSpPr>
          <p:spPr bwMode="auto">
            <a:xfrm>
              <a:off x="1449" y="2461"/>
              <a:ext cx="5" cy="4"/>
            </a:xfrm>
            <a:custGeom>
              <a:avLst/>
              <a:gdLst/>
              <a:ahLst/>
              <a:cxnLst>
                <a:cxn ang="0">
                  <a:pos x="2" y="3"/>
                </a:cxn>
                <a:cxn ang="0">
                  <a:pos x="2" y="2"/>
                </a:cxn>
                <a:cxn ang="0">
                  <a:pos x="2" y="0"/>
                </a:cxn>
                <a:cxn ang="0">
                  <a:pos x="1" y="0"/>
                </a:cxn>
                <a:cxn ang="0">
                  <a:pos x="1" y="2"/>
                </a:cxn>
                <a:cxn ang="0">
                  <a:pos x="0" y="2"/>
                </a:cxn>
                <a:cxn ang="0">
                  <a:pos x="0" y="3"/>
                </a:cxn>
                <a:cxn ang="0">
                  <a:pos x="0" y="4"/>
                </a:cxn>
                <a:cxn ang="0">
                  <a:pos x="1" y="4"/>
                </a:cxn>
                <a:cxn ang="0">
                  <a:pos x="2" y="4"/>
                </a:cxn>
                <a:cxn ang="0">
                  <a:pos x="2" y="3"/>
                </a:cxn>
              </a:cxnLst>
              <a:rect l="0" t="0" r="r" b="b"/>
              <a:pathLst>
                <a:path w="2" h="4">
                  <a:moveTo>
                    <a:pt x="2" y="3"/>
                  </a:moveTo>
                  <a:lnTo>
                    <a:pt x="2" y="2"/>
                  </a:lnTo>
                  <a:lnTo>
                    <a:pt x="2" y="0"/>
                  </a:lnTo>
                  <a:lnTo>
                    <a:pt x="1" y="0"/>
                  </a:lnTo>
                  <a:lnTo>
                    <a:pt x="1" y="2"/>
                  </a:lnTo>
                  <a:lnTo>
                    <a:pt x="0" y="2"/>
                  </a:lnTo>
                  <a:lnTo>
                    <a:pt x="0" y="3"/>
                  </a:lnTo>
                  <a:lnTo>
                    <a:pt x="0" y="4"/>
                  </a:lnTo>
                  <a:lnTo>
                    <a:pt x="1" y="4"/>
                  </a:lnTo>
                  <a:lnTo>
                    <a:pt x="2" y="4"/>
                  </a:lnTo>
                  <a:lnTo>
                    <a:pt x="2"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8" name="Freeform 237"/>
            <p:cNvSpPr>
              <a:spLocks/>
            </p:cNvSpPr>
            <p:nvPr/>
          </p:nvSpPr>
          <p:spPr bwMode="auto">
            <a:xfrm>
              <a:off x="1634" y="3723"/>
              <a:ext cx="26" cy="20"/>
            </a:xfrm>
            <a:custGeom>
              <a:avLst/>
              <a:gdLst/>
              <a:ahLst/>
              <a:cxnLst>
                <a:cxn ang="0">
                  <a:pos x="23" y="7"/>
                </a:cxn>
                <a:cxn ang="0">
                  <a:pos x="18" y="3"/>
                </a:cxn>
                <a:cxn ang="0">
                  <a:pos x="14" y="3"/>
                </a:cxn>
                <a:cxn ang="0">
                  <a:pos x="11" y="2"/>
                </a:cxn>
                <a:cxn ang="0">
                  <a:pos x="5" y="0"/>
                </a:cxn>
                <a:cxn ang="0">
                  <a:pos x="5" y="6"/>
                </a:cxn>
                <a:cxn ang="0">
                  <a:pos x="0" y="12"/>
                </a:cxn>
                <a:cxn ang="0">
                  <a:pos x="5" y="17"/>
                </a:cxn>
                <a:cxn ang="0">
                  <a:pos x="8" y="14"/>
                </a:cxn>
                <a:cxn ang="0">
                  <a:pos x="10" y="13"/>
                </a:cxn>
                <a:cxn ang="0">
                  <a:pos x="10" y="11"/>
                </a:cxn>
                <a:cxn ang="0">
                  <a:pos x="23" y="7"/>
                </a:cxn>
              </a:cxnLst>
              <a:rect l="0" t="0" r="r" b="b"/>
              <a:pathLst>
                <a:path w="23" h="17">
                  <a:moveTo>
                    <a:pt x="23" y="7"/>
                  </a:moveTo>
                  <a:lnTo>
                    <a:pt x="18" y="3"/>
                  </a:lnTo>
                  <a:lnTo>
                    <a:pt x="14" y="3"/>
                  </a:lnTo>
                  <a:lnTo>
                    <a:pt x="11" y="2"/>
                  </a:lnTo>
                  <a:lnTo>
                    <a:pt x="5" y="0"/>
                  </a:lnTo>
                  <a:lnTo>
                    <a:pt x="5" y="6"/>
                  </a:lnTo>
                  <a:lnTo>
                    <a:pt x="0" y="12"/>
                  </a:lnTo>
                  <a:lnTo>
                    <a:pt x="5" y="17"/>
                  </a:lnTo>
                  <a:lnTo>
                    <a:pt x="8" y="14"/>
                  </a:lnTo>
                  <a:lnTo>
                    <a:pt x="10" y="13"/>
                  </a:lnTo>
                  <a:lnTo>
                    <a:pt x="10" y="11"/>
                  </a:lnTo>
                  <a:lnTo>
                    <a:pt x="23"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9" name="Freeform 238"/>
            <p:cNvSpPr>
              <a:spLocks/>
            </p:cNvSpPr>
            <p:nvPr/>
          </p:nvSpPr>
          <p:spPr bwMode="auto">
            <a:xfrm>
              <a:off x="1616" y="3725"/>
              <a:ext cx="20" cy="16"/>
            </a:xfrm>
            <a:custGeom>
              <a:avLst/>
              <a:gdLst/>
              <a:ahLst/>
              <a:cxnLst>
                <a:cxn ang="0">
                  <a:pos x="4" y="6"/>
                </a:cxn>
                <a:cxn ang="0">
                  <a:pos x="1" y="1"/>
                </a:cxn>
                <a:cxn ang="0">
                  <a:pos x="18" y="0"/>
                </a:cxn>
                <a:cxn ang="0">
                  <a:pos x="9" y="10"/>
                </a:cxn>
                <a:cxn ang="0">
                  <a:pos x="0" y="13"/>
                </a:cxn>
                <a:cxn ang="0">
                  <a:pos x="4" y="8"/>
                </a:cxn>
                <a:cxn ang="0">
                  <a:pos x="2" y="6"/>
                </a:cxn>
                <a:cxn ang="0">
                  <a:pos x="4" y="6"/>
                </a:cxn>
              </a:cxnLst>
              <a:rect l="0" t="0" r="r" b="b"/>
              <a:pathLst>
                <a:path w="18" h="13">
                  <a:moveTo>
                    <a:pt x="4" y="6"/>
                  </a:moveTo>
                  <a:lnTo>
                    <a:pt x="1" y="1"/>
                  </a:lnTo>
                  <a:lnTo>
                    <a:pt x="18" y="0"/>
                  </a:lnTo>
                  <a:lnTo>
                    <a:pt x="9" y="10"/>
                  </a:lnTo>
                  <a:lnTo>
                    <a:pt x="0" y="13"/>
                  </a:lnTo>
                  <a:lnTo>
                    <a:pt x="4" y="8"/>
                  </a:lnTo>
                  <a:lnTo>
                    <a:pt x="2" y="6"/>
                  </a:lnTo>
                  <a:lnTo>
                    <a:pt x="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0" name="Freeform 239"/>
            <p:cNvSpPr>
              <a:spLocks/>
            </p:cNvSpPr>
            <p:nvPr/>
          </p:nvSpPr>
          <p:spPr bwMode="auto">
            <a:xfrm>
              <a:off x="1314" y="2901"/>
              <a:ext cx="220" cy="260"/>
            </a:xfrm>
            <a:custGeom>
              <a:avLst/>
              <a:gdLst/>
              <a:ahLst/>
              <a:cxnLst>
                <a:cxn ang="0">
                  <a:pos x="132" y="186"/>
                </a:cxn>
                <a:cxn ang="0">
                  <a:pos x="129" y="205"/>
                </a:cxn>
                <a:cxn ang="0">
                  <a:pos x="125" y="225"/>
                </a:cxn>
                <a:cxn ang="0">
                  <a:pos x="121" y="220"/>
                </a:cxn>
                <a:cxn ang="0">
                  <a:pos x="103" y="223"/>
                </a:cxn>
                <a:cxn ang="0">
                  <a:pos x="99" y="233"/>
                </a:cxn>
                <a:cxn ang="0">
                  <a:pos x="91" y="222"/>
                </a:cxn>
                <a:cxn ang="0">
                  <a:pos x="72" y="219"/>
                </a:cxn>
                <a:cxn ang="0">
                  <a:pos x="69" y="216"/>
                </a:cxn>
                <a:cxn ang="0">
                  <a:pos x="55" y="234"/>
                </a:cxn>
                <a:cxn ang="0">
                  <a:pos x="45" y="233"/>
                </a:cxn>
                <a:cxn ang="0">
                  <a:pos x="39" y="217"/>
                </a:cxn>
                <a:cxn ang="0">
                  <a:pos x="31" y="201"/>
                </a:cxn>
                <a:cxn ang="0">
                  <a:pos x="27" y="185"/>
                </a:cxn>
                <a:cxn ang="0">
                  <a:pos x="28" y="172"/>
                </a:cxn>
                <a:cxn ang="0">
                  <a:pos x="19" y="160"/>
                </a:cxn>
                <a:cxn ang="0">
                  <a:pos x="15" y="148"/>
                </a:cxn>
                <a:cxn ang="0">
                  <a:pos x="10" y="139"/>
                </a:cxn>
                <a:cxn ang="0">
                  <a:pos x="10" y="132"/>
                </a:cxn>
                <a:cxn ang="0">
                  <a:pos x="17" y="117"/>
                </a:cxn>
                <a:cxn ang="0">
                  <a:pos x="12" y="115"/>
                </a:cxn>
                <a:cxn ang="0">
                  <a:pos x="10" y="100"/>
                </a:cxn>
                <a:cxn ang="0">
                  <a:pos x="10" y="85"/>
                </a:cxn>
                <a:cxn ang="0">
                  <a:pos x="13" y="76"/>
                </a:cxn>
                <a:cxn ang="0">
                  <a:pos x="13" y="54"/>
                </a:cxn>
                <a:cxn ang="0">
                  <a:pos x="16" y="49"/>
                </a:cxn>
                <a:cxn ang="0">
                  <a:pos x="7" y="35"/>
                </a:cxn>
                <a:cxn ang="0">
                  <a:pos x="0" y="22"/>
                </a:cxn>
                <a:cxn ang="0">
                  <a:pos x="19" y="22"/>
                </a:cxn>
                <a:cxn ang="0">
                  <a:pos x="27" y="17"/>
                </a:cxn>
                <a:cxn ang="0">
                  <a:pos x="40" y="9"/>
                </a:cxn>
                <a:cxn ang="0">
                  <a:pos x="53" y="0"/>
                </a:cxn>
                <a:cxn ang="0">
                  <a:pos x="66" y="1"/>
                </a:cxn>
                <a:cxn ang="0">
                  <a:pos x="67" y="17"/>
                </a:cxn>
                <a:cxn ang="0">
                  <a:pos x="69" y="31"/>
                </a:cxn>
                <a:cxn ang="0">
                  <a:pos x="81" y="45"/>
                </a:cxn>
                <a:cxn ang="0">
                  <a:pos x="93" y="49"/>
                </a:cxn>
                <a:cxn ang="0">
                  <a:pos x="106" y="55"/>
                </a:cxn>
                <a:cxn ang="0">
                  <a:pos x="124" y="67"/>
                </a:cxn>
                <a:cxn ang="0">
                  <a:pos x="142" y="71"/>
                </a:cxn>
                <a:cxn ang="0">
                  <a:pos x="147" y="78"/>
                </a:cxn>
                <a:cxn ang="0">
                  <a:pos x="149" y="96"/>
                </a:cxn>
                <a:cxn ang="0">
                  <a:pos x="145" y="96"/>
                </a:cxn>
                <a:cxn ang="0">
                  <a:pos x="151" y="103"/>
                </a:cxn>
                <a:cxn ang="0">
                  <a:pos x="154" y="117"/>
                </a:cxn>
                <a:cxn ang="0">
                  <a:pos x="168" y="119"/>
                </a:cxn>
                <a:cxn ang="0">
                  <a:pos x="183" y="120"/>
                </a:cxn>
                <a:cxn ang="0">
                  <a:pos x="185" y="136"/>
                </a:cxn>
                <a:cxn ang="0">
                  <a:pos x="195" y="145"/>
                </a:cxn>
                <a:cxn ang="0">
                  <a:pos x="198" y="153"/>
                </a:cxn>
                <a:cxn ang="0">
                  <a:pos x="195" y="166"/>
                </a:cxn>
                <a:cxn ang="0">
                  <a:pos x="191" y="179"/>
                </a:cxn>
                <a:cxn ang="0">
                  <a:pos x="193" y="185"/>
                </a:cxn>
                <a:cxn ang="0">
                  <a:pos x="191" y="187"/>
                </a:cxn>
                <a:cxn ang="0">
                  <a:pos x="191" y="184"/>
                </a:cxn>
                <a:cxn ang="0">
                  <a:pos x="175" y="173"/>
                </a:cxn>
                <a:cxn ang="0">
                  <a:pos x="155" y="175"/>
                </a:cxn>
                <a:cxn ang="0">
                  <a:pos x="135" y="178"/>
                </a:cxn>
                <a:cxn ang="0">
                  <a:pos x="132" y="186"/>
                </a:cxn>
              </a:cxnLst>
              <a:rect l="0" t="0" r="r" b="b"/>
              <a:pathLst>
                <a:path w="198" h="234">
                  <a:moveTo>
                    <a:pt x="132" y="186"/>
                  </a:moveTo>
                  <a:lnTo>
                    <a:pt x="129" y="205"/>
                  </a:lnTo>
                  <a:lnTo>
                    <a:pt x="125" y="225"/>
                  </a:lnTo>
                  <a:lnTo>
                    <a:pt x="121" y="220"/>
                  </a:lnTo>
                  <a:lnTo>
                    <a:pt x="103" y="223"/>
                  </a:lnTo>
                  <a:lnTo>
                    <a:pt x="99" y="233"/>
                  </a:lnTo>
                  <a:lnTo>
                    <a:pt x="91" y="222"/>
                  </a:lnTo>
                  <a:lnTo>
                    <a:pt x="72" y="219"/>
                  </a:lnTo>
                  <a:lnTo>
                    <a:pt x="69" y="216"/>
                  </a:lnTo>
                  <a:lnTo>
                    <a:pt x="55" y="234"/>
                  </a:lnTo>
                  <a:lnTo>
                    <a:pt x="45" y="233"/>
                  </a:lnTo>
                  <a:lnTo>
                    <a:pt x="39" y="217"/>
                  </a:lnTo>
                  <a:lnTo>
                    <a:pt x="31" y="201"/>
                  </a:lnTo>
                  <a:lnTo>
                    <a:pt x="27" y="185"/>
                  </a:lnTo>
                  <a:lnTo>
                    <a:pt x="28" y="172"/>
                  </a:lnTo>
                  <a:lnTo>
                    <a:pt x="19" y="160"/>
                  </a:lnTo>
                  <a:lnTo>
                    <a:pt x="15" y="148"/>
                  </a:lnTo>
                  <a:lnTo>
                    <a:pt x="10" y="139"/>
                  </a:lnTo>
                  <a:lnTo>
                    <a:pt x="10" y="132"/>
                  </a:lnTo>
                  <a:lnTo>
                    <a:pt x="17" y="117"/>
                  </a:lnTo>
                  <a:lnTo>
                    <a:pt x="12" y="115"/>
                  </a:lnTo>
                  <a:lnTo>
                    <a:pt x="10" y="100"/>
                  </a:lnTo>
                  <a:lnTo>
                    <a:pt x="10" y="85"/>
                  </a:lnTo>
                  <a:lnTo>
                    <a:pt x="13" y="76"/>
                  </a:lnTo>
                  <a:lnTo>
                    <a:pt x="13" y="54"/>
                  </a:lnTo>
                  <a:lnTo>
                    <a:pt x="16" y="49"/>
                  </a:lnTo>
                  <a:lnTo>
                    <a:pt x="7" y="35"/>
                  </a:lnTo>
                  <a:lnTo>
                    <a:pt x="0" y="22"/>
                  </a:lnTo>
                  <a:lnTo>
                    <a:pt x="19" y="22"/>
                  </a:lnTo>
                  <a:lnTo>
                    <a:pt x="27" y="17"/>
                  </a:lnTo>
                  <a:lnTo>
                    <a:pt x="40" y="9"/>
                  </a:lnTo>
                  <a:lnTo>
                    <a:pt x="53" y="0"/>
                  </a:lnTo>
                  <a:lnTo>
                    <a:pt x="66" y="1"/>
                  </a:lnTo>
                  <a:lnTo>
                    <a:pt x="67" y="17"/>
                  </a:lnTo>
                  <a:lnTo>
                    <a:pt x="69" y="31"/>
                  </a:lnTo>
                  <a:lnTo>
                    <a:pt x="81" y="45"/>
                  </a:lnTo>
                  <a:lnTo>
                    <a:pt x="93" y="49"/>
                  </a:lnTo>
                  <a:lnTo>
                    <a:pt x="106" y="55"/>
                  </a:lnTo>
                  <a:lnTo>
                    <a:pt x="124" y="67"/>
                  </a:lnTo>
                  <a:lnTo>
                    <a:pt x="142" y="71"/>
                  </a:lnTo>
                  <a:lnTo>
                    <a:pt x="147" y="78"/>
                  </a:lnTo>
                  <a:lnTo>
                    <a:pt x="149" y="96"/>
                  </a:lnTo>
                  <a:lnTo>
                    <a:pt x="145" y="96"/>
                  </a:lnTo>
                  <a:lnTo>
                    <a:pt x="151" y="103"/>
                  </a:lnTo>
                  <a:lnTo>
                    <a:pt x="154" y="117"/>
                  </a:lnTo>
                  <a:lnTo>
                    <a:pt x="168" y="119"/>
                  </a:lnTo>
                  <a:lnTo>
                    <a:pt x="183" y="120"/>
                  </a:lnTo>
                  <a:lnTo>
                    <a:pt x="185" y="136"/>
                  </a:lnTo>
                  <a:lnTo>
                    <a:pt x="195" y="145"/>
                  </a:lnTo>
                  <a:lnTo>
                    <a:pt x="198" y="153"/>
                  </a:lnTo>
                  <a:lnTo>
                    <a:pt x="195" y="166"/>
                  </a:lnTo>
                  <a:lnTo>
                    <a:pt x="191" y="179"/>
                  </a:lnTo>
                  <a:lnTo>
                    <a:pt x="193" y="185"/>
                  </a:lnTo>
                  <a:lnTo>
                    <a:pt x="191" y="187"/>
                  </a:lnTo>
                  <a:lnTo>
                    <a:pt x="191" y="184"/>
                  </a:lnTo>
                  <a:lnTo>
                    <a:pt x="175" y="173"/>
                  </a:lnTo>
                  <a:lnTo>
                    <a:pt x="155" y="175"/>
                  </a:lnTo>
                  <a:lnTo>
                    <a:pt x="135" y="178"/>
                  </a:lnTo>
                  <a:lnTo>
                    <a:pt x="132" y="18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1" name="Freeform 240"/>
            <p:cNvSpPr>
              <a:spLocks/>
            </p:cNvSpPr>
            <p:nvPr/>
          </p:nvSpPr>
          <p:spPr bwMode="auto">
            <a:xfrm>
              <a:off x="1234" y="2601"/>
              <a:ext cx="686" cy="777"/>
            </a:xfrm>
            <a:custGeom>
              <a:avLst/>
              <a:gdLst/>
              <a:ahLst/>
              <a:cxnLst>
                <a:cxn ang="0">
                  <a:pos x="465" y="137"/>
                </a:cxn>
                <a:cxn ang="0">
                  <a:pos x="456" y="122"/>
                </a:cxn>
                <a:cxn ang="0">
                  <a:pos x="436" y="113"/>
                </a:cxn>
                <a:cxn ang="0">
                  <a:pos x="415" y="107"/>
                </a:cxn>
                <a:cxn ang="0">
                  <a:pos x="394" y="125"/>
                </a:cxn>
                <a:cxn ang="0">
                  <a:pos x="373" y="129"/>
                </a:cxn>
                <a:cxn ang="0">
                  <a:pos x="341" y="123"/>
                </a:cxn>
                <a:cxn ang="0">
                  <a:pos x="367" y="83"/>
                </a:cxn>
                <a:cxn ang="0">
                  <a:pos x="363" y="40"/>
                </a:cxn>
                <a:cxn ang="0">
                  <a:pos x="353" y="21"/>
                </a:cxn>
                <a:cxn ang="0">
                  <a:pos x="329" y="56"/>
                </a:cxn>
                <a:cxn ang="0">
                  <a:pos x="280" y="52"/>
                </a:cxn>
                <a:cxn ang="0">
                  <a:pos x="241" y="70"/>
                </a:cxn>
                <a:cxn ang="0">
                  <a:pos x="225" y="20"/>
                </a:cxn>
                <a:cxn ang="0">
                  <a:pos x="208" y="0"/>
                </a:cxn>
                <a:cxn ang="0">
                  <a:pos x="175" y="28"/>
                </a:cxn>
                <a:cxn ang="0">
                  <a:pos x="155" y="47"/>
                </a:cxn>
                <a:cxn ang="0">
                  <a:pos x="132" y="81"/>
                </a:cxn>
                <a:cxn ang="0">
                  <a:pos x="105" y="71"/>
                </a:cxn>
                <a:cxn ang="0">
                  <a:pos x="88" y="63"/>
                </a:cxn>
                <a:cxn ang="0">
                  <a:pos x="72" y="78"/>
                </a:cxn>
                <a:cxn ang="0">
                  <a:pos x="67" y="119"/>
                </a:cxn>
                <a:cxn ang="0">
                  <a:pos x="42" y="173"/>
                </a:cxn>
                <a:cxn ang="0">
                  <a:pos x="9" y="213"/>
                </a:cxn>
                <a:cxn ang="0">
                  <a:pos x="13" y="262"/>
                </a:cxn>
                <a:cxn ang="0">
                  <a:pos x="53" y="264"/>
                </a:cxn>
                <a:cxn ang="0">
                  <a:pos x="91" y="291"/>
                </a:cxn>
                <a:cxn ang="0">
                  <a:pos x="138" y="270"/>
                </a:cxn>
                <a:cxn ang="0">
                  <a:pos x="165" y="318"/>
                </a:cxn>
                <a:cxn ang="0">
                  <a:pos x="219" y="347"/>
                </a:cxn>
                <a:cxn ang="0">
                  <a:pos x="226" y="386"/>
                </a:cxn>
                <a:cxn ang="0">
                  <a:pos x="267" y="414"/>
                </a:cxn>
                <a:cxn ang="0">
                  <a:pos x="265" y="454"/>
                </a:cxn>
                <a:cxn ang="0">
                  <a:pos x="291" y="492"/>
                </a:cxn>
                <a:cxn ang="0">
                  <a:pos x="321" y="524"/>
                </a:cxn>
                <a:cxn ang="0">
                  <a:pos x="337" y="554"/>
                </a:cxn>
                <a:cxn ang="0">
                  <a:pos x="317" y="605"/>
                </a:cxn>
                <a:cxn ang="0">
                  <a:pos x="300" y="635"/>
                </a:cxn>
                <a:cxn ang="0">
                  <a:pos x="349" y="668"/>
                </a:cxn>
                <a:cxn ang="0">
                  <a:pos x="373" y="689"/>
                </a:cxn>
                <a:cxn ang="0">
                  <a:pos x="390" y="647"/>
                </a:cxn>
                <a:cxn ang="0">
                  <a:pos x="394" y="652"/>
                </a:cxn>
                <a:cxn ang="0">
                  <a:pos x="394" y="656"/>
                </a:cxn>
                <a:cxn ang="0">
                  <a:pos x="421" y="604"/>
                </a:cxn>
                <a:cxn ang="0">
                  <a:pos x="419" y="564"/>
                </a:cxn>
                <a:cxn ang="0">
                  <a:pos x="425" y="550"/>
                </a:cxn>
                <a:cxn ang="0">
                  <a:pos x="478" y="512"/>
                </a:cxn>
                <a:cxn ang="0">
                  <a:pos x="499" y="504"/>
                </a:cxn>
                <a:cxn ang="0">
                  <a:pos x="533" y="489"/>
                </a:cxn>
                <a:cxn ang="0">
                  <a:pos x="552" y="417"/>
                </a:cxn>
                <a:cxn ang="0">
                  <a:pos x="557" y="359"/>
                </a:cxn>
                <a:cxn ang="0">
                  <a:pos x="562" y="322"/>
                </a:cxn>
                <a:cxn ang="0">
                  <a:pos x="580" y="298"/>
                </a:cxn>
                <a:cxn ang="0">
                  <a:pos x="616" y="248"/>
                </a:cxn>
                <a:cxn ang="0">
                  <a:pos x="592" y="184"/>
                </a:cxn>
                <a:cxn ang="0">
                  <a:pos x="523" y="144"/>
                </a:cxn>
                <a:cxn ang="0">
                  <a:pos x="468" y="143"/>
                </a:cxn>
              </a:cxnLst>
              <a:rect l="0" t="0" r="r" b="b"/>
              <a:pathLst>
                <a:path w="618" h="700">
                  <a:moveTo>
                    <a:pt x="469" y="137"/>
                  </a:moveTo>
                  <a:lnTo>
                    <a:pt x="467" y="140"/>
                  </a:lnTo>
                  <a:lnTo>
                    <a:pt x="460" y="152"/>
                  </a:lnTo>
                  <a:lnTo>
                    <a:pt x="465" y="137"/>
                  </a:lnTo>
                  <a:lnTo>
                    <a:pt x="462" y="134"/>
                  </a:lnTo>
                  <a:lnTo>
                    <a:pt x="461" y="135"/>
                  </a:lnTo>
                  <a:lnTo>
                    <a:pt x="462" y="126"/>
                  </a:lnTo>
                  <a:lnTo>
                    <a:pt x="456" y="122"/>
                  </a:lnTo>
                  <a:lnTo>
                    <a:pt x="450" y="122"/>
                  </a:lnTo>
                  <a:lnTo>
                    <a:pt x="449" y="119"/>
                  </a:lnTo>
                  <a:lnTo>
                    <a:pt x="443" y="117"/>
                  </a:lnTo>
                  <a:lnTo>
                    <a:pt x="436" y="113"/>
                  </a:lnTo>
                  <a:lnTo>
                    <a:pt x="430" y="111"/>
                  </a:lnTo>
                  <a:lnTo>
                    <a:pt x="425" y="110"/>
                  </a:lnTo>
                  <a:lnTo>
                    <a:pt x="417" y="105"/>
                  </a:lnTo>
                  <a:lnTo>
                    <a:pt x="415" y="107"/>
                  </a:lnTo>
                  <a:lnTo>
                    <a:pt x="406" y="110"/>
                  </a:lnTo>
                  <a:lnTo>
                    <a:pt x="400" y="120"/>
                  </a:lnTo>
                  <a:lnTo>
                    <a:pt x="400" y="123"/>
                  </a:lnTo>
                  <a:lnTo>
                    <a:pt x="394" y="125"/>
                  </a:lnTo>
                  <a:lnTo>
                    <a:pt x="383" y="141"/>
                  </a:lnTo>
                  <a:lnTo>
                    <a:pt x="384" y="128"/>
                  </a:lnTo>
                  <a:lnTo>
                    <a:pt x="379" y="131"/>
                  </a:lnTo>
                  <a:lnTo>
                    <a:pt x="373" y="129"/>
                  </a:lnTo>
                  <a:lnTo>
                    <a:pt x="369" y="129"/>
                  </a:lnTo>
                  <a:lnTo>
                    <a:pt x="363" y="111"/>
                  </a:lnTo>
                  <a:lnTo>
                    <a:pt x="352" y="117"/>
                  </a:lnTo>
                  <a:lnTo>
                    <a:pt x="341" y="123"/>
                  </a:lnTo>
                  <a:lnTo>
                    <a:pt x="335" y="122"/>
                  </a:lnTo>
                  <a:lnTo>
                    <a:pt x="347" y="114"/>
                  </a:lnTo>
                  <a:lnTo>
                    <a:pt x="357" y="95"/>
                  </a:lnTo>
                  <a:lnTo>
                    <a:pt x="367" y="83"/>
                  </a:lnTo>
                  <a:lnTo>
                    <a:pt x="377" y="71"/>
                  </a:lnTo>
                  <a:lnTo>
                    <a:pt x="373" y="62"/>
                  </a:lnTo>
                  <a:lnTo>
                    <a:pt x="365" y="56"/>
                  </a:lnTo>
                  <a:lnTo>
                    <a:pt x="363" y="40"/>
                  </a:lnTo>
                  <a:lnTo>
                    <a:pt x="359" y="24"/>
                  </a:lnTo>
                  <a:lnTo>
                    <a:pt x="358" y="26"/>
                  </a:lnTo>
                  <a:lnTo>
                    <a:pt x="352" y="17"/>
                  </a:lnTo>
                  <a:lnTo>
                    <a:pt x="353" y="21"/>
                  </a:lnTo>
                  <a:lnTo>
                    <a:pt x="351" y="21"/>
                  </a:lnTo>
                  <a:lnTo>
                    <a:pt x="351" y="22"/>
                  </a:lnTo>
                  <a:lnTo>
                    <a:pt x="340" y="39"/>
                  </a:lnTo>
                  <a:lnTo>
                    <a:pt x="329" y="56"/>
                  </a:lnTo>
                  <a:lnTo>
                    <a:pt x="313" y="54"/>
                  </a:lnTo>
                  <a:lnTo>
                    <a:pt x="304" y="52"/>
                  </a:lnTo>
                  <a:lnTo>
                    <a:pt x="294" y="48"/>
                  </a:lnTo>
                  <a:lnTo>
                    <a:pt x="280" y="52"/>
                  </a:lnTo>
                  <a:lnTo>
                    <a:pt x="281" y="62"/>
                  </a:lnTo>
                  <a:lnTo>
                    <a:pt x="274" y="59"/>
                  </a:lnTo>
                  <a:lnTo>
                    <a:pt x="257" y="62"/>
                  </a:lnTo>
                  <a:lnTo>
                    <a:pt x="241" y="70"/>
                  </a:lnTo>
                  <a:lnTo>
                    <a:pt x="232" y="70"/>
                  </a:lnTo>
                  <a:lnTo>
                    <a:pt x="222" y="57"/>
                  </a:lnTo>
                  <a:lnTo>
                    <a:pt x="220" y="35"/>
                  </a:lnTo>
                  <a:lnTo>
                    <a:pt x="225" y="20"/>
                  </a:lnTo>
                  <a:lnTo>
                    <a:pt x="217" y="10"/>
                  </a:lnTo>
                  <a:lnTo>
                    <a:pt x="216" y="0"/>
                  </a:lnTo>
                  <a:lnTo>
                    <a:pt x="207" y="0"/>
                  </a:lnTo>
                  <a:lnTo>
                    <a:pt x="208" y="0"/>
                  </a:lnTo>
                  <a:lnTo>
                    <a:pt x="204" y="10"/>
                  </a:lnTo>
                  <a:lnTo>
                    <a:pt x="191" y="16"/>
                  </a:lnTo>
                  <a:lnTo>
                    <a:pt x="178" y="22"/>
                  </a:lnTo>
                  <a:lnTo>
                    <a:pt x="175" y="28"/>
                  </a:lnTo>
                  <a:lnTo>
                    <a:pt x="160" y="23"/>
                  </a:lnTo>
                  <a:lnTo>
                    <a:pt x="144" y="17"/>
                  </a:lnTo>
                  <a:lnTo>
                    <a:pt x="150" y="27"/>
                  </a:lnTo>
                  <a:lnTo>
                    <a:pt x="155" y="47"/>
                  </a:lnTo>
                  <a:lnTo>
                    <a:pt x="165" y="51"/>
                  </a:lnTo>
                  <a:lnTo>
                    <a:pt x="162" y="56"/>
                  </a:lnTo>
                  <a:lnTo>
                    <a:pt x="148" y="69"/>
                  </a:lnTo>
                  <a:lnTo>
                    <a:pt x="132" y="81"/>
                  </a:lnTo>
                  <a:lnTo>
                    <a:pt x="130" y="80"/>
                  </a:lnTo>
                  <a:lnTo>
                    <a:pt x="121" y="80"/>
                  </a:lnTo>
                  <a:lnTo>
                    <a:pt x="108" y="72"/>
                  </a:lnTo>
                  <a:lnTo>
                    <a:pt x="105" y="71"/>
                  </a:lnTo>
                  <a:lnTo>
                    <a:pt x="100" y="56"/>
                  </a:lnTo>
                  <a:lnTo>
                    <a:pt x="90" y="63"/>
                  </a:lnTo>
                  <a:lnTo>
                    <a:pt x="87" y="60"/>
                  </a:lnTo>
                  <a:lnTo>
                    <a:pt x="88" y="63"/>
                  </a:lnTo>
                  <a:lnTo>
                    <a:pt x="75" y="63"/>
                  </a:lnTo>
                  <a:lnTo>
                    <a:pt x="61" y="63"/>
                  </a:lnTo>
                  <a:lnTo>
                    <a:pt x="64" y="75"/>
                  </a:lnTo>
                  <a:lnTo>
                    <a:pt x="72" y="78"/>
                  </a:lnTo>
                  <a:lnTo>
                    <a:pt x="69" y="83"/>
                  </a:lnTo>
                  <a:lnTo>
                    <a:pt x="58" y="83"/>
                  </a:lnTo>
                  <a:lnTo>
                    <a:pt x="61" y="100"/>
                  </a:lnTo>
                  <a:lnTo>
                    <a:pt x="67" y="119"/>
                  </a:lnTo>
                  <a:lnTo>
                    <a:pt x="64" y="144"/>
                  </a:lnTo>
                  <a:lnTo>
                    <a:pt x="60" y="170"/>
                  </a:lnTo>
                  <a:lnTo>
                    <a:pt x="55" y="170"/>
                  </a:lnTo>
                  <a:lnTo>
                    <a:pt x="42" y="173"/>
                  </a:lnTo>
                  <a:lnTo>
                    <a:pt x="29" y="179"/>
                  </a:lnTo>
                  <a:lnTo>
                    <a:pt x="17" y="185"/>
                  </a:lnTo>
                  <a:lnTo>
                    <a:pt x="12" y="198"/>
                  </a:lnTo>
                  <a:lnTo>
                    <a:pt x="9" y="213"/>
                  </a:lnTo>
                  <a:lnTo>
                    <a:pt x="0" y="227"/>
                  </a:lnTo>
                  <a:lnTo>
                    <a:pt x="7" y="240"/>
                  </a:lnTo>
                  <a:lnTo>
                    <a:pt x="15" y="254"/>
                  </a:lnTo>
                  <a:lnTo>
                    <a:pt x="13" y="262"/>
                  </a:lnTo>
                  <a:lnTo>
                    <a:pt x="21" y="263"/>
                  </a:lnTo>
                  <a:lnTo>
                    <a:pt x="29" y="270"/>
                  </a:lnTo>
                  <a:lnTo>
                    <a:pt x="42" y="274"/>
                  </a:lnTo>
                  <a:lnTo>
                    <a:pt x="53" y="264"/>
                  </a:lnTo>
                  <a:lnTo>
                    <a:pt x="54" y="279"/>
                  </a:lnTo>
                  <a:lnTo>
                    <a:pt x="55" y="292"/>
                  </a:lnTo>
                  <a:lnTo>
                    <a:pt x="72" y="291"/>
                  </a:lnTo>
                  <a:lnTo>
                    <a:pt x="91" y="291"/>
                  </a:lnTo>
                  <a:lnTo>
                    <a:pt x="99" y="286"/>
                  </a:lnTo>
                  <a:lnTo>
                    <a:pt x="112" y="278"/>
                  </a:lnTo>
                  <a:lnTo>
                    <a:pt x="125" y="269"/>
                  </a:lnTo>
                  <a:lnTo>
                    <a:pt x="138" y="270"/>
                  </a:lnTo>
                  <a:lnTo>
                    <a:pt x="139" y="286"/>
                  </a:lnTo>
                  <a:lnTo>
                    <a:pt x="141" y="300"/>
                  </a:lnTo>
                  <a:lnTo>
                    <a:pt x="153" y="314"/>
                  </a:lnTo>
                  <a:lnTo>
                    <a:pt x="165" y="318"/>
                  </a:lnTo>
                  <a:lnTo>
                    <a:pt x="178" y="324"/>
                  </a:lnTo>
                  <a:lnTo>
                    <a:pt x="196" y="336"/>
                  </a:lnTo>
                  <a:lnTo>
                    <a:pt x="214" y="340"/>
                  </a:lnTo>
                  <a:lnTo>
                    <a:pt x="219" y="347"/>
                  </a:lnTo>
                  <a:lnTo>
                    <a:pt x="221" y="365"/>
                  </a:lnTo>
                  <a:lnTo>
                    <a:pt x="217" y="365"/>
                  </a:lnTo>
                  <a:lnTo>
                    <a:pt x="223" y="372"/>
                  </a:lnTo>
                  <a:lnTo>
                    <a:pt x="226" y="386"/>
                  </a:lnTo>
                  <a:lnTo>
                    <a:pt x="240" y="388"/>
                  </a:lnTo>
                  <a:lnTo>
                    <a:pt x="255" y="389"/>
                  </a:lnTo>
                  <a:lnTo>
                    <a:pt x="257" y="405"/>
                  </a:lnTo>
                  <a:lnTo>
                    <a:pt x="267" y="414"/>
                  </a:lnTo>
                  <a:lnTo>
                    <a:pt x="270" y="422"/>
                  </a:lnTo>
                  <a:lnTo>
                    <a:pt x="267" y="435"/>
                  </a:lnTo>
                  <a:lnTo>
                    <a:pt x="263" y="448"/>
                  </a:lnTo>
                  <a:lnTo>
                    <a:pt x="265" y="454"/>
                  </a:lnTo>
                  <a:lnTo>
                    <a:pt x="263" y="456"/>
                  </a:lnTo>
                  <a:lnTo>
                    <a:pt x="267" y="465"/>
                  </a:lnTo>
                  <a:lnTo>
                    <a:pt x="269" y="490"/>
                  </a:lnTo>
                  <a:lnTo>
                    <a:pt x="291" y="492"/>
                  </a:lnTo>
                  <a:lnTo>
                    <a:pt x="303" y="495"/>
                  </a:lnTo>
                  <a:lnTo>
                    <a:pt x="307" y="509"/>
                  </a:lnTo>
                  <a:lnTo>
                    <a:pt x="312" y="524"/>
                  </a:lnTo>
                  <a:lnTo>
                    <a:pt x="321" y="524"/>
                  </a:lnTo>
                  <a:lnTo>
                    <a:pt x="329" y="525"/>
                  </a:lnTo>
                  <a:lnTo>
                    <a:pt x="328" y="539"/>
                  </a:lnTo>
                  <a:lnTo>
                    <a:pt x="328" y="554"/>
                  </a:lnTo>
                  <a:lnTo>
                    <a:pt x="337" y="554"/>
                  </a:lnTo>
                  <a:lnTo>
                    <a:pt x="345" y="576"/>
                  </a:lnTo>
                  <a:lnTo>
                    <a:pt x="335" y="586"/>
                  </a:lnTo>
                  <a:lnTo>
                    <a:pt x="325" y="594"/>
                  </a:lnTo>
                  <a:lnTo>
                    <a:pt x="317" y="605"/>
                  </a:lnTo>
                  <a:lnTo>
                    <a:pt x="309" y="615"/>
                  </a:lnTo>
                  <a:lnTo>
                    <a:pt x="300" y="626"/>
                  </a:lnTo>
                  <a:lnTo>
                    <a:pt x="292" y="636"/>
                  </a:lnTo>
                  <a:lnTo>
                    <a:pt x="300" y="635"/>
                  </a:lnTo>
                  <a:lnTo>
                    <a:pt x="319" y="650"/>
                  </a:lnTo>
                  <a:lnTo>
                    <a:pt x="323" y="650"/>
                  </a:lnTo>
                  <a:lnTo>
                    <a:pt x="333" y="656"/>
                  </a:lnTo>
                  <a:lnTo>
                    <a:pt x="349" y="668"/>
                  </a:lnTo>
                  <a:lnTo>
                    <a:pt x="365" y="680"/>
                  </a:lnTo>
                  <a:lnTo>
                    <a:pt x="364" y="688"/>
                  </a:lnTo>
                  <a:lnTo>
                    <a:pt x="367" y="700"/>
                  </a:lnTo>
                  <a:lnTo>
                    <a:pt x="373" y="689"/>
                  </a:lnTo>
                  <a:lnTo>
                    <a:pt x="378" y="677"/>
                  </a:lnTo>
                  <a:lnTo>
                    <a:pt x="379" y="666"/>
                  </a:lnTo>
                  <a:lnTo>
                    <a:pt x="384" y="656"/>
                  </a:lnTo>
                  <a:lnTo>
                    <a:pt x="390" y="647"/>
                  </a:lnTo>
                  <a:lnTo>
                    <a:pt x="389" y="636"/>
                  </a:lnTo>
                  <a:lnTo>
                    <a:pt x="396" y="639"/>
                  </a:lnTo>
                  <a:lnTo>
                    <a:pt x="400" y="639"/>
                  </a:lnTo>
                  <a:lnTo>
                    <a:pt x="394" y="652"/>
                  </a:lnTo>
                  <a:lnTo>
                    <a:pt x="387" y="665"/>
                  </a:lnTo>
                  <a:lnTo>
                    <a:pt x="382" y="669"/>
                  </a:lnTo>
                  <a:lnTo>
                    <a:pt x="383" y="670"/>
                  </a:lnTo>
                  <a:lnTo>
                    <a:pt x="394" y="656"/>
                  </a:lnTo>
                  <a:lnTo>
                    <a:pt x="405" y="641"/>
                  </a:lnTo>
                  <a:lnTo>
                    <a:pt x="411" y="627"/>
                  </a:lnTo>
                  <a:lnTo>
                    <a:pt x="417" y="612"/>
                  </a:lnTo>
                  <a:lnTo>
                    <a:pt x="421" y="604"/>
                  </a:lnTo>
                  <a:lnTo>
                    <a:pt x="423" y="604"/>
                  </a:lnTo>
                  <a:lnTo>
                    <a:pt x="423" y="590"/>
                  </a:lnTo>
                  <a:lnTo>
                    <a:pt x="423" y="575"/>
                  </a:lnTo>
                  <a:lnTo>
                    <a:pt x="419" y="564"/>
                  </a:lnTo>
                  <a:lnTo>
                    <a:pt x="419" y="558"/>
                  </a:lnTo>
                  <a:lnTo>
                    <a:pt x="421" y="552"/>
                  </a:lnTo>
                  <a:lnTo>
                    <a:pt x="419" y="551"/>
                  </a:lnTo>
                  <a:lnTo>
                    <a:pt x="425" y="550"/>
                  </a:lnTo>
                  <a:lnTo>
                    <a:pt x="439" y="537"/>
                  </a:lnTo>
                  <a:lnTo>
                    <a:pt x="453" y="524"/>
                  </a:lnTo>
                  <a:lnTo>
                    <a:pt x="466" y="520"/>
                  </a:lnTo>
                  <a:lnTo>
                    <a:pt x="478" y="512"/>
                  </a:lnTo>
                  <a:lnTo>
                    <a:pt x="483" y="507"/>
                  </a:lnTo>
                  <a:lnTo>
                    <a:pt x="493" y="507"/>
                  </a:lnTo>
                  <a:lnTo>
                    <a:pt x="489" y="508"/>
                  </a:lnTo>
                  <a:lnTo>
                    <a:pt x="499" y="504"/>
                  </a:lnTo>
                  <a:lnTo>
                    <a:pt x="502" y="503"/>
                  </a:lnTo>
                  <a:lnTo>
                    <a:pt x="519" y="503"/>
                  </a:lnTo>
                  <a:lnTo>
                    <a:pt x="523" y="494"/>
                  </a:lnTo>
                  <a:lnTo>
                    <a:pt x="533" y="489"/>
                  </a:lnTo>
                  <a:lnTo>
                    <a:pt x="535" y="468"/>
                  </a:lnTo>
                  <a:lnTo>
                    <a:pt x="543" y="454"/>
                  </a:lnTo>
                  <a:lnTo>
                    <a:pt x="550" y="441"/>
                  </a:lnTo>
                  <a:lnTo>
                    <a:pt x="552" y="417"/>
                  </a:lnTo>
                  <a:lnTo>
                    <a:pt x="556" y="407"/>
                  </a:lnTo>
                  <a:lnTo>
                    <a:pt x="557" y="390"/>
                  </a:lnTo>
                  <a:lnTo>
                    <a:pt x="558" y="372"/>
                  </a:lnTo>
                  <a:lnTo>
                    <a:pt x="557" y="359"/>
                  </a:lnTo>
                  <a:lnTo>
                    <a:pt x="557" y="346"/>
                  </a:lnTo>
                  <a:lnTo>
                    <a:pt x="555" y="341"/>
                  </a:lnTo>
                  <a:lnTo>
                    <a:pt x="557" y="324"/>
                  </a:lnTo>
                  <a:lnTo>
                    <a:pt x="562" y="322"/>
                  </a:lnTo>
                  <a:lnTo>
                    <a:pt x="563" y="328"/>
                  </a:lnTo>
                  <a:lnTo>
                    <a:pt x="571" y="314"/>
                  </a:lnTo>
                  <a:lnTo>
                    <a:pt x="580" y="299"/>
                  </a:lnTo>
                  <a:lnTo>
                    <a:pt x="580" y="298"/>
                  </a:lnTo>
                  <a:lnTo>
                    <a:pt x="583" y="293"/>
                  </a:lnTo>
                  <a:lnTo>
                    <a:pt x="593" y="281"/>
                  </a:lnTo>
                  <a:lnTo>
                    <a:pt x="603" y="268"/>
                  </a:lnTo>
                  <a:lnTo>
                    <a:pt x="616" y="248"/>
                  </a:lnTo>
                  <a:lnTo>
                    <a:pt x="618" y="222"/>
                  </a:lnTo>
                  <a:lnTo>
                    <a:pt x="612" y="204"/>
                  </a:lnTo>
                  <a:lnTo>
                    <a:pt x="605" y="186"/>
                  </a:lnTo>
                  <a:lnTo>
                    <a:pt x="592" y="184"/>
                  </a:lnTo>
                  <a:lnTo>
                    <a:pt x="580" y="182"/>
                  </a:lnTo>
                  <a:lnTo>
                    <a:pt x="563" y="166"/>
                  </a:lnTo>
                  <a:lnTo>
                    <a:pt x="545" y="152"/>
                  </a:lnTo>
                  <a:lnTo>
                    <a:pt x="523" y="144"/>
                  </a:lnTo>
                  <a:lnTo>
                    <a:pt x="508" y="146"/>
                  </a:lnTo>
                  <a:lnTo>
                    <a:pt x="495" y="142"/>
                  </a:lnTo>
                  <a:lnTo>
                    <a:pt x="480" y="138"/>
                  </a:lnTo>
                  <a:lnTo>
                    <a:pt x="468" y="143"/>
                  </a:lnTo>
                  <a:lnTo>
                    <a:pt x="469"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2" name="Freeform 241"/>
            <p:cNvSpPr>
              <a:spLocks/>
            </p:cNvSpPr>
            <p:nvPr/>
          </p:nvSpPr>
          <p:spPr bwMode="auto">
            <a:xfrm>
              <a:off x="1636" y="2707"/>
              <a:ext cx="44" cy="34"/>
            </a:xfrm>
            <a:custGeom>
              <a:avLst/>
              <a:gdLst/>
              <a:ahLst/>
              <a:cxnLst>
                <a:cxn ang="0">
                  <a:pos x="19" y="28"/>
                </a:cxn>
                <a:cxn ang="0">
                  <a:pos x="17" y="29"/>
                </a:cxn>
                <a:cxn ang="0">
                  <a:pos x="8" y="26"/>
                </a:cxn>
                <a:cxn ang="0">
                  <a:pos x="5" y="30"/>
                </a:cxn>
                <a:cxn ang="0">
                  <a:pos x="0" y="17"/>
                </a:cxn>
                <a:cxn ang="0">
                  <a:pos x="2" y="17"/>
                </a:cxn>
                <a:cxn ang="0">
                  <a:pos x="1" y="10"/>
                </a:cxn>
                <a:cxn ang="0">
                  <a:pos x="6" y="0"/>
                </a:cxn>
                <a:cxn ang="0">
                  <a:pos x="21" y="2"/>
                </a:cxn>
                <a:cxn ang="0">
                  <a:pos x="38" y="4"/>
                </a:cxn>
                <a:cxn ang="0">
                  <a:pos x="30" y="20"/>
                </a:cxn>
                <a:cxn ang="0">
                  <a:pos x="29" y="21"/>
                </a:cxn>
                <a:cxn ang="0">
                  <a:pos x="27" y="26"/>
                </a:cxn>
                <a:cxn ang="0">
                  <a:pos x="25" y="26"/>
                </a:cxn>
                <a:cxn ang="0">
                  <a:pos x="19" y="28"/>
                </a:cxn>
              </a:cxnLst>
              <a:rect l="0" t="0" r="r" b="b"/>
              <a:pathLst>
                <a:path w="38" h="30">
                  <a:moveTo>
                    <a:pt x="19" y="28"/>
                  </a:moveTo>
                  <a:lnTo>
                    <a:pt x="17" y="29"/>
                  </a:lnTo>
                  <a:lnTo>
                    <a:pt x="8" y="26"/>
                  </a:lnTo>
                  <a:lnTo>
                    <a:pt x="5" y="30"/>
                  </a:lnTo>
                  <a:lnTo>
                    <a:pt x="0" y="17"/>
                  </a:lnTo>
                  <a:lnTo>
                    <a:pt x="2" y="17"/>
                  </a:lnTo>
                  <a:lnTo>
                    <a:pt x="1" y="10"/>
                  </a:lnTo>
                  <a:lnTo>
                    <a:pt x="6" y="0"/>
                  </a:lnTo>
                  <a:lnTo>
                    <a:pt x="21" y="2"/>
                  </a:lnTo>
                  <a:lnTo>
                    <a:pt x="38" y="4"/>
                  </a:lnTo>
                  <a:lnTo>
                    <a:pt x="30" y="20"/>
                  </a:lnTo>
                  <a:lnTo>
                    <a:pt x="29" y="21"/>
                  </a:lnTo>
                  <a:lnTo>
                    <a:pt x="27" y="26"/>
                  </a:lnTo>
                  <a:lnTo>
                    <a:pt x="25" y="26"/>
                  </a:lnTo>
                  <a:lnTo>
                    <a:pt x="19"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3" name="Freeform 242"/>
            <p:cNvSpPr>
              <a:spLocks/>
            </p:cNvSpPr>
            <p:nvPr/>
          </p:nvSpPr>
          <p:spPr bwMode="auto">
            <a:xfrm>
              <a:off x="1451" y="3092"/>
              <a:ext cx="147" cy="162"/>
            </a:xfrm>
            <a:custGeom>
              <a:avLst/>
              <a:gdLst/>
              <a:ahLst/>
              <a:cxnLst>
                <a:cxn ang="0">
                  <a:pos x="7" y="13"/>
                </a:cxn>
                <a:cxn ang="0">
                  <a:pos x="4" y="32"/>
                </a:cxn>
                <a:cxn ang="0">
                  <a:pos x="0" y="52"/>
                </a:cxn>
                <a:cxn ang="0">
                  <a:pos x="16" y="66"/>
                </a:cxn>
                <a:cxn ang="0">
                  <a:pos x="31" y="80"/>
                </a:cxn>
                <a:cxn ang="0">
                  <a:pos x="43" y="86"/>
                </a:cxn>
                <a:cxn ang="0">
                  <a:pos x="56" y="92"/>
                </a:cxn>
                <a:cxn ang="0">
                  <a:pos x="71" y="101"/>
                </a:cxn>
                <a:cxn ang="0">
                  <a:pos x="85" y="109"/>
                </a:cxn>
                <a:cxn ang="0">
                  <a:pos x="79" y="126"/>
                </a:cxn>
                <a:cxn ang="0">
                  <a:pos x="73" y="143"/>
                </a:cxn>
                <a:cxn ang="0">
                  <a:pos x="91" y="144"/>
                </a:cxn>
                <a:cxn ang="0">
                  <a:pos x="109" y="145"/>
                </a:cxn>
                <a:cxn ang="0">
                  <a:pos x="120" y="142"/>
                </a:cxn>
                <a:cxn ang="0">
                  <a:pos x="132" y="122"/>
                </a:cxn>
                <a:cxn ang="0">
                  <a:pos x="131" y="112"/>
                </a:cxn>
                <a:cxn ang="0">
                  <a:pos x="131" y="97"/>
                </a:cxn>
                <a:cxn ang="0">
                  <a:pos x="132" y="83"/>
                </a:cxn>
                <a:cxn ang="0">
                  <a:pos x="124" y="82"/>
                </a:cxn>
                <a:cxn ang="0">
                  <a:pos x="115" y="82"/>
                </a:cxn>
                <a:cxn ang="0">
                  <a:pos x="110" y="67"/>
                </a:cxn>
                <a:cxn ang="0">
                  <a:pos x="106" y="53"/>
                </a:cxn>
                <a:cxn ang="0">
                  <a:pos x="94" y="50"/>
                </a:cxn>
                <a:cxn ang="0">
                  <a:pos x="72" y="48"/>
                </a:cxn>
                <a:cxn ang="0">
                  <a:pos x="70" y="23"/>
                </a:cxn>
                <a:cxn ang="0">
                  <a:pos x="66" y="14"/>
                </a:cxn>
                <a:cxn ang="0">
                  <a:pos x="66" y="11"/>
                </a:cxn>
                <a:cxn ang="0">
                  <a:pos x="50" y="0"/>
                </a:cxn>
                <a:cxn ang="0">
                  <a:pos x="30" y="2"/>
                </a:cxn>
                <a:cxn ang="0">
                  <a:pos x="10" y="5"/>
                </a:cxn>
                <a:cxn ang="0">
                  <a:pos x="7" y="13"/>
                </a:cxn>
              </a:cxnLst>
              <a:rect l="0" t="0" r="r" b="b"/>
              <a:pathLst>
                <a:path w="132" h="145">
                  <a:moveTo>
                    <a:pt x="7" y="13"/>
                  </a:moveTo>
                  <a:lnTo>
                    <a:pt x="4" y="32"/>
                  </a:lnTo>
                  <a:lnTo>
                    <a:pt x="0" y="52"/>
                  </a:lnTo>
                  <a:lnTo>
                    <a:pt x="16" y="66"/>
                  </a:lnTo>
                  <a:lnTo>
                    <a:pt x="31" y="80"/>
                  </a:lnTo>
                  <a:lnTo>
                    <a:pt x="43" y="86"/>
                  </a:lnTo>
                  <a:lnTo>
                    <a:pt x="56" y="92"/>
                  </a:lnTo>
                  <a:lnTo>
                    <a:pt x="71" y="101"/>
                  </a:lnTo>
                  <a:lnTo>
                    <a:pt x="85" y="109"/>
                  </a:lnTo>
                  <a:lnTo>
                    <a:pt x="79" y="126"/>
                  </a:lnTo>
                  <a:lnTo>
                    <a:pt x="73" y="143"/>
                  </a:lnTo>
                  <a:lnTo>
                    <a:pt x="91" y="144"/>
                  </a:lnTo>
                  <a:lnTo>
                    <a:pt x="109" y="145"/>
                  </a:lnTo>
                  <a:lnTo>
                    <a:pt x="120" y="142"/>
                  </a:lnTo>
                  <a:lnTo>
                    <a:pt x="132" y="122"/>
                  </a:lnTo>
                  <a:lnTo>
                    <a:pt x="131" y="112"/>
                  </a:lnTo>
                  <a:lnTo>
                    <a:pt x="131" y="97"/>
                  </a:lnTo>
                  <a:lnTo>
                    <a:pt x="132" y="83"/>
                  </a:lnTo>
                  <a:lnTo>
                    <a:pt x="124" y="82"/>
                  </a:lnTo>
                  <a:lnTo>
                    <a:pt x="115" y="82"/>
                  </a:lnTo>
                  <a:lnTo>
                    <a:pt x="110" y="67"/>
                  </a:lnTo>
                  <a:lnTo>
                    <a:pt x="106" y="53"/>
                  </a:lnTo>
                  <a:lnTo>
                    <a:pt x="94" y="50"/>
                  </a:lnTo>
                  <a:lnTo>
                    <a:pt x="72" y="48"/>
                  </a:lnTo>
                  <a:lnTo>
                    <a:pt x="70" y="23"/>
                  </a:lnTo>
                  <a:lnTo>
                    <a:pt x="66" y="14"/>
                  </a:lnTo>
                  <a:lnTo>
                    <a:pt x="66" y="11"/>
                  </a:lnTo>
                  <a:lnTo>
                    <a:pt x="50" y="0"/>
                  </a:lnTo>
                  <a:lnTo>
                    <a:pt x="30" y="2"/>
                  </a:lnTo>
                  <a:lnTo>
                    <a:pt x="10" y="5"/>
                  </a:lnTo>
                  <a:lnTo>
                    <a:pt x="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4" name="Freeform 243"/>
            <p:cNvSpPr>
              <a:spLocks/>
            </p:cNvSpPr>
            <p:nvPr/>
          </p:nvSpPr>
          <p:spPr bwMode="auto">
            <a:xfrm>
              <a:off x="1556" y="3307"/>
              <a:ext cx="84" cy="94"/>
            </a:xfrm>
            <a:custGeom>
              <a:avLst/>
              <a:gdLst/>
              <a:ahLst/>
              <a:cxnLst>
                <a:cxn ang="0">
                  <a:pos x="74" y="45"/>
                </a:cxn>
                <a:cxn ang="0">
                  <a:pos x="58" y="33"/>
                </a:cxn>
                <a:cxn ang="0">
                  <a:pos x="42" y="21"/>
                </a:cxn>
                <a:cxn ang="0">
                  <a:pos x="32" y="15"/>
                </a:cxn>
                <a:cxn ang="0">
                  <a:pos x="28" y="15"/>
                </a:cxn>
                <a:cxn ang="0">
                  <a:pos x="9" y="0"/>
                </a:cxn>
                <a:cxn ang="0">
                  <a:pos x="1" y="1"/>
                </a:cxn>
                <a:cxn ang="0">
                  <a:pos x="1" y="3"/>
                </a:cxn>
                <a:cxn ang="0">
                  <a:pos x="1" y="22"/>
                </a:cxn>
                <a:cxn ang="0">
                  <a:pos x="0" y="42"/>
                </a:cxn>
                <a:cxn ang="0">
                  <a:pos x="1" y="45"/>
                </a:cxn>
                <a:cxn ang="0">
                  <a:pos x="0" y="59"/>
                </a:cxn>
                <a:cxn ang="0">
                  <a:pos x="7" y="73"/>
                </a:cxn>
                <a:cxn ang="0">
                  <a:pos x="26" y="82"/>
                </a:cxn>
                <a:cxn ang="0">
                  <a:pos x="51" y="85"/>
                </a:cxn>
                <a:cxn ang="0">
                  <a:pos x="66" y="81"/>
                </a:cxn>
                <a:cxn ang="0">
                  <a:pos x="76" y="65"/>
                </a:cxn>
                <a:cxn ang="0">
                  <a:pos x="73" y="53"/>
                </a:cxn>
                <a:cxn ang="0">
                  <a:pos x="74" y="45"/>
                </a:cxn>
              </a:cxnLst>
              <a:rect l="0" t="0" r="r" b="b"/>
              <a:pathLst>
                <a:path w="76" h="85">
                  <a:moveTo>
                    <a:pt x="74" y="45"/>
                  </a:moveTo>
                  <a:lnTo>
                    <a:pt x="58" y="33"/>
                  </a:lnTo>
                  <a:lnTo>
                    <a:pt x="42" y="21"/>
                  </a:lnTo>
                  <a:lnTo>
                    <a:pt x="32" y="15"/>
                  </a:lnTo>
                  <a:lnTo>
                    <a:pt x="28" y="15"/>
                  </a:lnTo>
                  <a:lnTo>
                    <a:pt x="9" y="0"/>
                  </a:lnTo>
                  <a:lnTo>
                    <a:pt x="1" y="1"/>
                  </a:lnTo>
                  <a:lnTo>
                    <a:pt x="1" y="3"/>
                  </a:lnTo>
                  <a:lnTo>
                    <a:pt x="1" y="22"/>
                  </a:lnTo>
                  <a:lnTo>
                    <a:pt x="0" y="42"/>
                  </a:lnTo>
                  <a:lnTo>
                    <a:pt x="1" y="45"/>
                  </a:lnTo>
                  <a:lnTo>
                    <a:pt x="0" y="59"/>
                  </a:lnTo>
                  <a:lnTo>
                    <a:pt x="7" y="73"/>
                  </a:lnTo>
                  <a:lnTo>
                    <a:pt x="26" y="82"/>
                  </a:lnTo>
                  <a:lnTo>
                    <a:pt x="51" y="85"/>
                  </a:lnTo>
                  <a:lnTo>
                    <a:pt x="66" y="81"/>
                  </a:lnTo>
                  <a:lnTo>
                    <a:pt x="76" y="65"/>
                  </a:lnTo>
                  <a:lnTo>
                    <a:pt x="73" y="53"/>
                  </a:lnTo>
                  <a:lnTo>
                    <a:pt x="74" y="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5" name="Freeform 244"/>
            <p:cNvSpPr>
              <a:spLocks/>
            </p:cNvSpPr>
            <p:nvPr/>
          </p:nvSpPr>
          <p:spPr bwMode="auto">
            <a:xfrm>
              <a:off x="1345" y="3141"/>
              <a:ext cx="271" cy="604"/>
            </a:xfrm>
            <a:custGeom>
              <a:avLst/>
              <a:gdLst/>
              <a:ahLst/>
              <a:cxnLst>
                <a:cxn ang="0">
                  <a:pos x="136" y="345"/>
                </a:cxn>
                <a:cxn ang="0">
                  <a:pos x="132" y="366"/>
                </a:cxn>
                <a:cxn ang="0">
                  <a:pos x="143" y="367"/>
                </a:cxn>
                <a:cxn ang="0">
                  <a:pos x="151" y="377"/>
                </a:cxn>
                <a:cxn ang="0">
                  <a:pos x="132" y="375"/>
                </a:cxn>
                <a:cxn ang="0">
                  <a:pos x="133" y="394"/>
                </a:cxn>
                <a:cxn ang="0">
                  <a:pos x="132" y="417"/>
                </a:cxn>
                <a:cxn ang="0">
                  <a:pos x="116" y="441"/>
                </a:cxn>
                <a:cxn ang="0">
                  <a:pos x="148" y="457"/>
                </a:cxn>
                <a:cxn ang="0">
                  <a:pos x="148" y="468"/>
                </a:cxn>
                <a:cxn ang="0">
                  <a:pos x="132" y="491"/>
                </a:cxn>
                <a:cxn ang="0">
                  <a:pos x="124" y="502"/>
                </a:cxn>
                <a:cxn ang="0">
                  <a:pos x="127" y="507"/>
                </a:cxn>
                <a:cxn ang="0">
                  <a:pos x="121" y="521"/>
                </a:cxn>
                <a:cxn ang="0">
                  <a:pos x="125" y="531"/>
                </a:cxn>
                <a:cxn ang="0">
                  <a:pos x="143" y="545"/>
                </a:cxn>
                <a:cxn ang="0">
                  <a:pos x="91" y="535"/>
                </a:cxn>
                <a:cxn ang="0">
                  <a:pos x="74" y="514"/>
                </a:cxn>
                <a:cxn ang="0">
                  <a:pos x="52" y="491"/>
                </a:cxn>
                <a:cxn ang="0">
                  <a:pos x="59" y="457"/>
                </a:cxn>
                <a:cxn ang="0">
                  <a:pos x="54" y="424"/>
                </a:cxn>
                <a:cxn ang="0">
                  <a:pos x="44" y="412"/>
                </a:cxn>
                <a:cxn ang="0">
                  <a:pos x="42" y="402"/>
                </a:cxn>
                <a:cxn ang="0">
                  <a:pos x="29" y="373"/>
                </a:cxn>
                <a:cxn ang="0">
                  <a:pos x="22" y="335"/>
                </a:cxn>
                <a:cxn ang="0">
                  <a:pos x="23" y="305"/>
                </a:cxn>
                <a:cxn ang="0">
                  <a:pos x="17" y="280"/>
                </a:cxn>
                <a:cxn ang="0">
                  <a:pos x="20" y="252"/>
                </a:cxn>
                <a:cxn ang="0">
                  <a:pos x="19" y="217"/>
                </a:cxn>
                <a:cxn ang="0">
                  <a:pos x="7" y="192"/>
                </a:cxn>
                <a:cxn ang="0">
                  <a:pos x="1" y="166"/>
                </a:cxn>
                <a:cxn ang="0">
                  <a:pos x="2" y="142"/>
                </a:cxn>
                <a:cxn ang="0">
                  <a:pos x="8" y="113"/>
                </a:cxn>
                <a:cxn ang="0">
                  <a:pos x="19" y="91"/>
                </a:cxn>
                <a:cxn ang="0">
                  <a:pos x="11" y="57"/>
                </a:cxn>
                <a:cxn ang="0">
                  <a:pos x="26" y="40"/>
                </a:cxn>
                <a:cxn ang="0">
                  <a:pos x="26" y="18"/>
                </a:cxn>
                <a:cxn ang="0">
                  <a:pos x="43" y="3"/>
                </a:cxn>
                <a:cxn ang="0">
                  <a:pos x="70" y="17"/>
                </a:cxn>
                <a:cxn ang="0">
                  <a:pos x="92" y="4"/>
                </a:cxn>
                <a:cxn ang="0">
                  <a:pos x="112" y="23"/>
                </a:cxn>
                <a:cxn ang="0">
                  <a:pos x="139" y="43"/>
                </a:cxn>
                <a:cxn ang="0">
                  <a:pos x="167" y="58"/>
                </a:cxn>
                <a:cxn ang="0">
                  <a:pos x="175" y="83"/>
                </a:cxn>
                <a:cxn ang="0">
                  <a:pos x="187" y="101"/>
                </a:cxn>
                <a:cxn ang="0">
                  <a:pos x="216" y="99"/>
                </a:cxn>
                <a:cxn ang="0">
                  <a:pos x="227" y="69"/>
                </a:cxn>
                <a:cxn ang="0">
                  <a:pos x="244" y="91"/>
                </a:cxn>
                <a:cxn ang="0">
                  <a:pos x="224" y="109"/>
                </a:cxn>
                <a:cxn ang="0">
                  <a:pos x="208" y="130"/>
                </a:cxn>
                <a:cxn ang="0">
                  <a:pos x="191" y="151"/>
                </a:cxn>
                <a:cxn ang="0">
                  <a:pos x="191" y="172"/>
                </a:cxn>
                <a:cxn ang="0">
                  <a:pos x="192" y="203"/>
                </a:cxn>
                <a:cxn ang="0">
                  <a:pos x="194" y="232"/>
                </a:cxn>
                <a:cxn ang="0">
                  <a:pos x="217" y="258"/>
                </a:cxn>
                <a:cxn ang="0">
                  <a:pos x="221" y="281"/>
                </a:cxn>
                <a:cxn ang="0">
                  <a:pos x="202" y="300"/>
                </a:cxn>
                <a:cxn ang="0">
                  <a:pos x="176" y="306"/>
                </a:cxn>
                <a:cxn ang="0">
                  <a:pos x="152" y="309"/>
                </a:cxn>
                <a:cxn ang="0">
                  <a:pos x="160" y="337"/>
                </a:cxn>
              </a:cxnLst>
              <a:rect l="0" t="0" r="r" b="b"/>
              <a:pathLst>
                <a:path w="244" h="545">
                  <a:moveTo>
                    <a:pt x="156" y="346"/>
                  </a:moveTo>
                  <a:lnTo>
                    <a:pt x="136" y="345"/>
                  </a:lnTo>
                  <a:lnTo>
                    <a:pt x="120" y="342"/>
                  </a:lnTo>
                  <a:lnTo>
                    <a:pt x="132" y="366"/>
                  </a:lnTo>
                  <a:lnTo>
                    <a:pt x="137" y="369"/>
                  </a:lnTo>
                  <a:lnTo>
                    <a:pt x="143" y="367"/>
                  </a:lnTo>
                  <a:lnTo>
                    <a:pt x="146" y="364"/>
                  </a:lnTo>
                  <a:lnTo>
                    <a:pt x="151" y="377"/>
                  </a:lnTo>
                  <a:lnTo>
                    <a:pt x="143" y="375"/>
                  </a:lnTo>
                  <a:lnTo>
                    <a:pt x="132" y="375"/>
                  </a:lnTo>
                  <a:lnTo>
                    <a:pt x="144" y="381"/>
                  </a:lnTo>
                  <a:lnTo>
                    <a:pt x="133" y="394"/>
                  </a:lnTo>
                  <a:lnTo>
                    <a:pt x="134" y="408"/>
                  </a:lnTo>
                  <a:lnTo>
                    <a:pt x="132" y="417"/>
                  </a:lnTo>
                  <a:lnTo>
                    <a:pt x="116" y="424"/>
                  </a:lnTo>
                  <a:lnTo>
                    <a:pt x="116" y="441"/>
                  </a:lnTo>
                  <a:lnTo>
                    <a:pt x="139" y="453"/>
                  </a:lnTo>
                  <a:lnTo>
                    <a:pt x="148" y="457"/>
                  </a:lnTo>
                  <a:lnTo>
                    <a:pt x="143" y="466"/>
                  </a:lnTo>
                  <a:lnTo>
                    <a:pt x="148" y="468"/>
                  </a:lnTo>
                  <a:lnTo>
                    <a:pt x="140" y="479"/>
                  </a:lnTo>
                  <a:lnTo>
                    <a:pt x="132" y="491"/>
                  </a:lnTo>
                  <a:lnTo>
                    <a:pt x="131" y="504"/>
                  </a:lnTo>
                  <a:lnTo>
                    <a:pt x="124" y="502"/>
                  </a:lnTo>
                  <a:lnTo>
                    <a:pt x="120" y="503"/>
                  </a:lnTo>
                  <a:lnTo>
                    <a:pt x="127" y="507"/>
                  </a:lnTo>
                  <a:lnTo>
                    <a:pt x="121" y="516"/>
                  </a:lnTo>
                  <a:lnTo>
                    <a:pt x="121" y="521"/>
                  </a:lnTo>
                  <a:lnTo>
                    <a:pt x="128" y="532"/>
                  </a:lnTo>
                  <a:lnTo>
                    <a:pt x="125" y="531"/>
                  </a:lnTo>
                  <a:lnTo>
                    <a:pt x="134" y="535"/>
                  </a:lnTo>
                  <a:lnTo>
                    <a:pt x="143" y="545"/>
                  </a:lnTo>
                  <a:lnTo>
                    <a:pt x="119" y="538"/>
                  </a:lnTo>
                  <a:lnTo>
                    <a:pt x="91" y="535"/>
                  </a:lnTo>
                  <a:lnTo>
                    <a:pt x="83" y="527"/>
                  </a:lnTo>
                  <a:lnTo>
                    <a:pt x="74" y="514"/>
                  </a:lnTo>
                  <a:lnTo>
                    <a:pt x="66" y="515"/>
                  </a:lnTo>
                  <a:lnTo>
                    <a:pt x="52" y="491"/>
                  </a:lnTo>
                  <a:lnTo>
                    <a:pt x="61" y="481"/>
                  </a:lnTo>
                  <a:lnTo>
                    <a:pt x="59" y="457"/>
                  </a:lnTo>
                  <a:lnTo>
                    <a:pt x="55" y="437"/>
                  </a:lnTo>
                  <a:lnTo>
                    <a:pt x="54" y="424"/>
                  </a:lnTo>
                  <a:lnTo>
                    <a:pt x="50" y="415"/>
                  </a:lnTo>
                  <a:lnTo>
                    <a:pt x="44" y="412"/>
                  </a:lnTo>
                  <a:lnTo>
                    <a:pt x="54" y="408"/>
                  </a:lnTo>
                  <a:lnTo>
                    <a:pt x="42" y="402"/>
                  </a:lnTo>
                  <a:lnTo>
                    <a:pt x="36" y="383"/>
                  </a:lnTo>
                  <a:lnTo>
                    <a:pt x="29" y="373"/>
                  </a:lnTo>
                  <a:lnTo>
                    <a:pt x="28" y="359"/>
                  </a:lnTo>
                  <a:lnTo>
                    <a:pt x="22" y="335"/>
                  </a:lnTo>
                  <a:lnTo>
                    <a:pt x="20" y="316"/>
                  </a:lnTo>
                  <a:lnTo>
                    <a:pt x="23" y="305"/>
                  </a:lnTo>
                  <a:lnTo>
                    <a:pt x="22" y="294"/>
                  </a:lnTo>
                  <a:lnTo>
                    <a:pt x="17" y="280"/>
                  </a:lnTo>
                  <a:lnTo>
                    <a:pt x="13" y="264"/>
                  </a:lnTo>
                  <a:lnTo>
                    <a:pt x="20" y="252"/>
                  </a:lnTo>
                  <a:lnTo>
                    <a:pt x="17" y="240"/>
                  </a:lnTo>
                  <a:lnTo>
                    <a:pt x="19" y="217"/>
                  </a:lnTo>
                  <a:lnTo>
                    <a:pt x="14" y="207"/>
                  </a:lnTo>
                  <a:lnTo>
                    <a:pt x="7" y="192"/>
                  </a:lnTo>
                  <a:lnTo>
                    <a:pt x="0" y="178"/>
                  </a:lnTo>
                  <a:lnTo>
                    <a:pt x="1" y="166"/>
                  </a:lnTo>
                  <a:lnTo>
                    <a:pt x="4" y="155"/>
                  </a:lnTo>
                  <a:lnTo>
                    <a:pt x="2" y="142"/>
                  </a:lnTo>
                  <a:lnTo>
                    <a:pt x="2" y="129"/>
                  </a:lnTo>
                  <a:lnTo>
                    <a:pt x="8" y="113"/>
                  </a:lnTo>
                  <a:lnTo>
                    <a:pt x="14" y="96"/>
                  </a:lnTo>
                  <a:lnTo>
                    <a:pt x="19" y="91"/>
                  </a:lnTo>
                  <a:lnTo>
                    <a:pt x="13" y="82"/>
                  </a:lnTo>
                  <a:lnTo>
                    <a:pt x="11" y="57"/>
                  </a:lnTo>
                  <a:lnTo>
                    <a:pt x="13" y="47"/>
                  </a:lnTo>
                  <a:lnTo>
                    <a:pt x="26" y="40"/>
                  </a:lnTo>
                  <a:lnTo>
                    <a:pt x="30" y="22"/>
                  </a:lnTo>
                  <a:lnTo>
                    <a:pt x="26" y="18"/>
                  </a:lnTo>
                  <a:lnTo>
                    <a:pt x="40" y="0"/>
                  </a:lnTo>
                  <a:lnTo>
                    <a:pt x="43" y="3"/>
                  </a:lnTo>
                  <a:lnTo>
                    <a:pt x="62" y="6"/>
                  </a:lnTo>
                  <a:lnTo>
                    <a:pt x="70" y="17"/>
                  </a:lnTo>
                  <a:lnTo>
                    <a:pt x="74" y="7"/>
                  </a:lnTo>
                  <a:lnTo>
                    <a:pt x="92" y="4"/>
                  </a:lnTo>
                  <a:lnTo>
                    <a:pt x="96" y="9"/>
                  </a:lnTo>
                  <a:lnTo>
                    <a:pt x="112" y="23"/>
                  </a:lnTo>
                  <a:lnTo>
                    <a:pt x="127" y="37"/>
                  </a:lnTo>
                  <a:lnTo>
                    <a:pt x="139" y="43"/>
                  </a:lnTo>
                  <a:lnTo>
                    <a:pt x="152" y="49"/>
                  </a:lnTo>
                  <a:lnTo>
                    <a:pt x="167" y="58"/>
                  </a:lnTo>
                  <a:lnTo>
                    <a:pt x="181" y="66"/>
                  </a:lnTo>
                  <a:lnTo>
                    <a:pt x="175" y="83"/>
                  </a:lnTo>
                  <a:lnTo>
                    <a:pt x="169" y="100"/>
                  </a:lnTo>
                  <a:lnTo>
                    <a:pt x="187" y="101"/>
                  </a:lnTo>
                  <a:lnTo>
                    <a:pt x="205" y="102"/>
                  </a:lnTo>
                  <a:lnTo>
                    <a:pt x="216" y="99"/>
                  </a:lnTo>
                  <a:lnTo>
                    <a:pt x="228" y="79"/>
                  </a:lnTo>
                  <a:lnTo>
                    <a:pt x="227" y="69"/>
                  </a:lnTo>
                  <a:lnTo>
                    <a:pt x="236" y="69"/>
                  </a:lnTo>
                  <a:lnTo>
                    <a:pt x="244" y="91"/>
                  </a:lnTo>
                  <a:lnTo>
                    <a:pt x="234" y="101"/>
                  </a:lnTo>
                  <a:lnTo>
                    <a:pt x="224" y="109"/>
                  </a:lnTo>
                  <a:lnTo>
                    <a:pt x="216" y="120"/>
                  </a:lnTo>
                  <a:lnTo>
                    <a:pt x="208" y="130"/>
                  </a:lnTo>
                  <a:lnTo>
                    <a:pt x="199" y="141"/>
                  </a:lnTo>
                  <a:lnTo>
                    <a:pt x="191" y="151"/>
                  </a:lnTo>
                  <a:lnTo>
                    <a:pt x="191" y="153"/>
                  </a:lnTo>
                  <a:lnTo>
                    <a:pt x="191" y="172"/>
                  </a:lnTo>
                  <a:lnTo>
                    <a:pt x="190" y="192"/>
                  </a:lnTo>
                  <a:lnTo>
                    <a:pt x="192" y="203"/>
                  </a:lnTo>
                  <a:lnTo>
                    <a:pt x="188" y="211"/>
                  </a:lnTo>
                  <a:lnTo>
                    <a:pt x="194" y="232"/>
                  </a:lnTo>
                  <a:lnTo>
                    <a:pt x="215" y="246"/>
                  </a:lnTo>
                  <a:lnTo>
                    <a:pt x="217" y="258"/>
                  </a:lnTo>
                  <a:lnTo>
                    <a:pt x="227" y="265"/>
                  </a:lnTo>
                  <a:lnTo>
                    <a:pt x="221" y="281"/>
                  </a:lnTo>
                  <a:lnTo>
                    <a:pt x="215" y="297"/>
                  </a:lnTo>
                  <a:lnTo>
                    <a:pt x="202" y="300"/>
                  </a:lnTo>
                  <a:lnTo>
                    <a:pt x="190" y="304"/>
                  </a:lnTo>
                  <a:lnTo>
                    <a:pt x="176" y="306"/>
                  </a:lnTo>
                  <a:lnTo>
                    <a:pt x="164" y="310"/>
                  </a:lnTo>
                  <a:lnTo>
                    <a:pt x="152" y="309"/>
                  </a:lnTo>
                  <a:lnTo>
                    <a:pt x="156" y="315"/>
                  </a:lnTo>
                  <a:lnTo>
                    <a:pt x="160" y="337"/>
                  </a:lnTo>
                  <a:lnTo>
                    <a:pt x="156" y="3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6" name="Freeform 245"/>
            <p:cNvSpPr>
              <a:spLocks/>
            </p:cNvSpPr>
            <p:nvPr/>
          </p:nvSpPr>
          <p:spPr bwMode="auto">
            <a:xfrm>
              <a:off x="1502" y="3750"/>
              <a:ext cx="67" cy="44"/>
            </a:xfrm>
            <a:custGeom>
              <a:avLst/>
              <a:gdLst/>
              <a:ahLst/>
              <a:cxnLst>
                <a:cxn ang="0">
                  <a:pos x="5" y="8"/>
                </a:cxn>
                <a:cxn ang="0">
                  <a:pos x="0" y="0"/>
                </a:cxn>
                <a:cxn ang="0">
                  <a:pos x="7" y="19"/>
                </a:cxn>
                <a:cxn ang="0">
                  <a:pos x="15" y="38"/>
                </a:cxn>
                <a:cxn ang="0">
                  <a:pos x="37" y="38"/>
                </a:cxn>
                <a:cxn ang="0">
                  <a:pos x="59" y="39"/>
                </a:cxn>
                <a:cxn ang="0">
                  <a:pos x="57" y="34"/>
                </a:cxn>
                <a:cxn ang="0">
                  <a:pos x="26" y="24"/>
                </a:cxn>
                <a:cxn ang="0">
                  <a:pos x="5" y="8"/>
                </a:cxn>
              </a:cxnLst>
              <a:rect l="0" t="0" r="r" b="b"/>
              <a:pathLst>
                <a:path w="59" h="39">
                  <a:moveTo>
                    <a:pt x="5" y="8"/>
                  </a:moveTo>
                  <a:lnTo>
                    <a:pt x="0" y="0"/>
                  </a:lnTo>
                  <a:lnTo>
                    <a:pt x="7" y="19"/>
                  </a:lnTo>
                  <a:lnTo>
                    <a:pt x="15" y="38"/>
                  </a:lnTo>
                  <a:lnTo>
                    <a:pt x="37" y="38"/>
                  </a:lnTo>
                  <a:lnTo>
                    <a:pt x="59" y="39"/>
                  </a:lnTo>
                  <a:lnTo>
                    <a:pt x="57" y="34"/>
                  </a:lnTo>
                  <a:lnTo>
                    <a:pt x="26" y="24"/>
                  </a:lnTo>
                  <a:lnTo>
                    <a:pt x="5" y="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7" name="Freeform 246"/>
            <p:cNvSpPr>
              <a:spLocks/>
            </p:cNvSpPr>
            <p:nvPr/>
          </p:nvSpPr>
          <p:spPr bwMode="auto">
            <a:xfrm>
              <a:off x="1309" y="3054"/>
              <a:ext cx="193" cy="720"/>
            </a:xfrm>
            <a:custGeom>
              <a:avLst/>
              <a:gdLst/>
              <a:ahLst/>
              <a:cxnLst>
                <a:cxn ang="0">
                  <a:pos x="18" y="257"/>
                </a:cxn>
                <a:cxn ang="0">
                  <a:pos x="20" y="300"/>
                </a:cxn>
                <a:cxn ang="0">
                  <a:pos x="15" y="348"/>
                </a:cxn>
                <a:cxn ang="0">
                  <a:pos x="22" y="384"/>
                </a:cxn>
                <a:cxn ang="0">
                  <a:pos x="33" y="432"/>
                </a:cxn>
                <a:cxn ang="0">
                  <a:pos x="46" y="432"/>
                </a:cxn>
                <a:cxn ang="0">
                  <a:pos x="54" y="444"/>
                </a:cxn>
                <a:cxn ang="0">
                  <a:pos x="54" y="459"/>
                </a:cxn>
                <a:cxn ang="0">
                  <a:pos x="63" y="484"/>
                </a:cxn>
                <a:cxn ang="0">
                  <a:pos x="61" y="500"/>
                </a:cxn>
                <a:cxn ang="0">
                  <a:pos x="62" y="514"/>
                </a:cxn>
                <a:cxn ang="0">
                  <a:pos x="57" y="515"/>
                </a:cxn>
                <a:cxn ang="0">
                  <a:pos x="49" y="509"/>
                </a:cxn>
                <a:cxn ang="0">
                  <a:pos x="39" y="524"/>
                </a:cxn>
                <a:cxn ang="0">
                  <a:pos x="63" y="532"/>
                </a:cxn>
                <a:cxn ang="0">
                  <a:pos x="56" y="542"/>
                </a:cxn>
                <a:cxn ang="0">
                  <a:pos x="75" y="545"/>
                </a:cxn>
                <a:cxn ang="0">
                  <a:pos x="61" y="546"/>
                </a:cxn>
                <a:cxn ang="0">
                  <a:pos x="75" y="576"/>
                </a:cxn>
                <a:cxn ang="0">
                  <a:pos x="84" y="588"/>
                </a:cxn>
                <a:cxn ang="0">
                  <a:pos x="96" y="604"/>
                </a:cxn>
                <a:cxn ang="0">
                  <a:pos x="102" y="614"/>
                </a:cxn>
                <a:cxn ang="0">
                  <a:pos x="111" y="629"/>
                </a:cxn>
                <a:cxn ang="0">
                  <a:pos x="118" y="636"/>
                </a:cxn>
                <a:cxn ang="0">
                  <a:pos x="148" y="626"/>
                </a:cxn>
                <a:cxn ang="0">
                  <a:pos x="151" y="615"/>
                </a:cxn>
                <a:cxn ang="0">
                  <a:pos x="106" y="591"/>
                </a:cxn>
                <a:cxn ang="0">
                  <a:pos x="93" y="558"/>
                </a:cxn>
                <a:cxn ang="0">
                  <a:pos x="86" y="501"/>
                </a:cxn>
                <a:cxn ang="0">
                  <a:pos x="86" y="485"/>
                </a:cxn>
                <a:cxn ang="0">
                  <a:pos x="61" y="450"/>
                </a:cxn>
                <a:cxn ang="0">
                  <a:pos x="52" y="393"/>
                </a:cxn>
                <a:cxn ang="0">
                  <a:pos x="49" y="357"/>
                </a:cxn>
                <a:cxn ang="0">
                  <a:pos x="49" y="317"/>
                </a:cxn>
                <a:cxn ang="0">
                  <a:pos x="39" y="269"/>
                </a:cxn>
                <a:cxn ang="0">
                  <a:pos x="36" y="232"/>
                </a:cxn>
                <a:cxn ang="0">
                  <a:pos x="40" y="190"/>
                </a:cxn>
                <a:cxn ang="0">
                  <a:pos x="45" y="159"/>
                </a:cxn>
                <a:cxn ang="0">
                  <a:pos x="58" y="117"/>
                </a:cxn>
                <a:cxn ang="0">
                  <a:pos x="48" y="94"/>
                </a:cxn>
                <a:cxn ang="0">
                  <a:pos x="30" y="46"/>
                </a:cxn>
                <a:cxn ang="0">
                  <a:pos x="18" y="9"/>
                </a:cxn>
                <a:cxn ang="0">
                  <a:pos x="3" y="15"/>
                </a:cxn>
                <a:cxn ang="0">
                  <a:pos x="9" y="62"/>
                </a:cxn>
                <a:cxn ang="0">
                  <a:pos x="8" y="108"/>
                </a:cxn>
                <a:cxn ang="0">
                  <a:pos x="10" y="176"/>
                </a:cxn>
                <a:cxn ang="0">
                  <a:pos x="12" y="230"/>
                </a:cxn>
              </a:cxnLst>
              <a:rect l="0" t="0" r="r" b="b"/>
              <a:pathLst>
                <a:path w="175" h="647">
                  <a:moveTo>
                    <a:pt x="12" y="230"/>
                  </a:moveTo>
                  <a:lnTo>
                    <a:pt x="15" y="244"/>
                  </a:lnTo>
                  <a:lnTo>
                    <a:pt x="18" y="257"/>
                  </a:lnTo>
                  <a:lnTo>
                    <a:pt x="20" y="270"/>
                  </a:lnTo>
                  <a:lnTo>
                    <a:pt x="21" y="284"/>
                  </a:lnTo>
                  <a:lnTo>
                    <a:pt x="20" y="300"/>
                  </a:lnTo>
                  <a:lnTo>
                    <a:pt x="18" y="316"/>
                  </a:lnTo>
                  <a:lnTo>
                    <a:pt x="16" y="332"/>
                  </a:lnTo>
                  <a:lnTo>
                    <a:pt x="15" y="348"/>
                  </a:lnTo>
                  <a:lnTo>
                    <a:pt x="12" y="354"/>
                  </a:lnTo>
                  <a:lnTo>
                    <a:pt x="16" y="369"/>
                  </a:lnTo>
                  <a:lnTo>
                    <a:pt x="22" y="384"/>
                  </a:lnTo>
                  <a:lnTo>
                    <a:pt x="26" y="401"/>
                  </a:lnTo>
                  <a:lnTo>
                    <a:pt x="24" y="418"/>
                  </a:lnTo>
                  <a:lnTo>
                    <a:pt x="33" y="432"/>
                  </a:lnTo>
                  <a:lnTo>
                    <a:pt x="34" y="436"/>
                  </a:lnTo>
                  <a:lnTo>
                    <a:pt x="40" y="432"/>
                  </a:lnTo>
                  <a:lnTo>
                    <a:pt x="46" y="432"/>
                  </a:lnTo>
                  <a:lnTo>
                    <a:pt x="51" y="430"/>
                  </a:lnTo>
                  <a:lnTo>
                    <a:pt x="49" y="440"/>
                  </a:lnTo>
                  <a:lnTo>
                    <a:pt x="54" y="444"/>
                  </a:lnTo>
                  <a:lnTo>
                    <a:pt x="51" y="443"/>
                  </a:lnTo>
                  <a:lnTo>
                    <a:pt x="52" y="448"/>
                  </a:lnTo>
                  <a:lnTo>
                    <a:pt x="54" y="459"/>
                  </a:lnTo>
                  <a:lnTo>
                    <a:pt x="55" y="471"/>
                  </a:lnTo>
                  <a:lnTo>
                    <a:pt x="55" y="477"/>
                  </a:lnTo>
                  <a:lnTo>
                    <a:pt x="63" y="484"/>
                  </a:lnTo>
                  <a:lnTo>
                    <a:pt x="58" y="496"/>
                  </a:lnTo>
                  <a:lnTo>
                    <a:pt x="64" y="500"/>
                  </a:lnTo>
                  <a:lnTo>
                    <a:pt x="61" y="500"/>
                  </a:lnTo>
                  <a:lnTo>
                    <a:pt x="61" y="504"/>
                  </a:lnTo>
                  <a:lnTo>
                    <a:pt x="61" y="506"/>
                  </a:lnTo>
                  <a:lnTo>
                    <a:pt x="62" y="514"/>
                  </a:lnTo>
                  <a:lnTo>
                    <a:pt x="63" y="513"/>
                  </a:lnTo>
                  <a:lnTo>
                    <a:pt x="58" y="520"/>
                  </a:lnTo>
                  <a:lnTo>
                    <a:pt x="57" y="515"/>
                  </a:lnTo>
                  <a:lnTo>
                    <a:pt x="51" y="515"/>
                  </a:lnTo>
                  <a:lnTo>
                    <a:pt x="52" y="509"/>
                  </a:lnTo>
                  <a:lnTo>
                    <a:pt x="49" y="509"/>
                  </a:lnTo>
                  <a:lnTo>
                    <a:pt x="44" y="510"/>
                  </a:lnTo>
                  <a:lnTo>
                    <a:pt x="37" y="525"/>
                  </a:lnTo>
                  <a:lnTo>
                    <a:pt x="39" y="524"/>
                  </a:lnTo>
                  <a:lnTo>
                    <a:pt x="44" y="521"/>
                  </a:lnTo>
                  <a:lnTo>
                    <a:pt x="52" y="524"/>
                  </a:lnTo>
                  <a:lnTo>
                    <a:pt x="63" y="532"/>
                  </a:lnTo>
                  <a:lnTo>
                    <a:pt x="58" y="536"/>
                  </a:lnTo>
                  <a:lnTo>
                    <a:pt x="63" y="539"/>
                  </a:lnTo>
                  <a:lnTo>
                    <a:pt x="56" y="542"/>
                  </a:lnTo>
                  <a:lnTo>
                    <a:pt x="69" y="540"/>
                  </a:lnTo>
                  <a:lnTo>
                    <a:pt x="70" y="539"/>
                  </a:lnTo>
                  <a:lnTo>
                    <a:pt x="75" y="545"/>
                  </a:lnTo>
                  <a:lnTo>
                    <a:pt x="75" y="550"/>
                  </a:lnTo>
                  <a:lnTo>
                    <a:pt x="66" y="548"/>
                  </a:lnTo>
                  <a:lnTo>
                    <a:pt x="61" y="546"/>
                  </a:lnTo>
                  <a:lnTo>
                    <a:pt x="68" y="557"/>
                  </a:lnTo>
                  <a:lnTo>
                    <a:pt x="75" y="569"/>
                  </a:lnTo>
                  <a:lnTo>
                    <a:pt x="75" y="576"/>
                  </a:lnTo>
                  <a:lnTo>
                    <a:pt x="79" y="582"/>
                  </a:lnTo>
                  <a:lnTo>
                    <a:pt x="75" y="585"/>
                  </a:lnTo>
                  <a:lnTo>
                    <a:pt x="84" y="588"/>
                  </a:lnTo>
                  <a:lnTo>
                    <a:pt x="88" y="596"/>
                  </a:lnTo>
                  <a:lnTo>
                    <a:pt x="88" y="599"/>
                  </a:lnTo>
                  <a:lnTo>
                    <a:pt x="96" y="604"/>
                  </a:lnTo>
                  <a:lnTo>
                    <a:pt x="99" y="609"/>
                  </a:lnTo>
                  <a:lnTo>
                    <a:pt x="94" y="606"/>
                  </a:lnTo>
                  <a:lnTo>
                    <a:pt x="102" y="614"/>
                  </a:lnTo>
                  <a:lnTo>
                    <a:pt x="103" y="617"/>
                  </a:lnTo>
                  <a:lnTo>
                    <a:pt x="109" y="626"/>
                  </a:lnTo>
                  <a:lnTo>
                    <a:pt x="111" y="629"/>
                  </a:lnTo>
                  <a:lnTo>
                    <a:pt x="118" y="633"/>
                  </a:lnTo>
                  <a:lnTo>
                    <a:pt x="121" y="635"/>
                  </a:lnTo>
                  <a:lnTo>
                    <a:pt x="118" y="636"/>
                  </a:lnTo>
                  <a:lnTo>
                    <a:pt x="127" y="639"/>
                  </a:lnTo>
                  <a:lnTo>
                    <a:pt x="147" y="647"/>
                  </a:lnTo>
                  <a:lnTo>
                    <a:pt x="148" y="626"/>
                  </a:lnTo>
                  <a:lnTo>
                    <a:pt x="160" y="620"/>
                  </a:lnTo>
                  <a:lnTo>
                    <a:pt x="175" y="622"/>
                  </a:lnTo>
                  <a:lnTo>
                    <a:pt x="151" y="615"/>
                  </a:lnTo>
                  <a:lnTo>
                    <a:pt x="123" y="612"/>
                  </a:lnTo>
                  <a:lnTo>
                    <a:pt x="115" y="604"/>
                  </a:lnTo>
                  <a:lnTo>
                    <a:pt x="106" y="591"/>
                  </a:lnTo>
                  <a:lnTo>
                    <a:pt x="98" y="592"/>
                  </a:lnTo>
                  <a:lnTo>
                    <a:pt x="84" y="568"/>
                  </a:lnTo>
                  <a:lnTo>
                    <a:pt x="93" y="558"/>
                  </a:lnTo>
                  <a:lnTo>
                    <a:pt x="91" y="534"/>
                  </a:lnTo>
                  <a:lnTo>
                    <a:pt x="87" y="514"/>
                  </a:lnTo>
                  <a:lnTo>
                    <a:pt x="86" y="501"/>
                  </a:lnTo>
                  <a:lnTo>
                    <a:pt x="82" y="492"/>
                  </a:lnTo>
                  <a:lnTo>
                    <a:pt x="76" y="489"/>
                  </a:lnTo>
                  <a:lnTo>
                    <a:pt x="86" y="485"/>
                  </a:lnTo>
                  <a:lnTo>
                    <a:pt x="74" y="479"/>
                  </a:lnTo>
                  <a:lnTo>
                    <a:pt x="68" y="460"/>
                  </a:lnTo>
                  <a:lnTo>
                    <a:pt x="61" y="450"/>
                  </a:lnTo>
                  <a:lnTo>
                    <a:pt x="60" y="436"/>
                  </a:lnTo>
                  <a:lnTo>
                    <a:pt x="54" y="412"/>
                  </a:lnTo>
                  <a:lnTo>
                    <a:pt x="52" y="393"/>
                  </a:lnTo>
                  <a:lnTo>
                    <a:pt x="55" y="382"/>
                  </a:lnTo>
                  <a:lnTo>
                    <a:pt x="54" y="371"/>
                  </a:lnTo>
                  <a:lnTo>
                    <a:pt x="49" y="357"/>
                  </a:lnTo>
                  <a:lnTo>
                    <a:pt x="45" y="341"/>
                  </a:lnTo>
                  <a:lnTo>
                    <a:pt x="52" y="329"/>
                  </a:lnTo>
                  <a:lnTo>
                    <a:pt x="49" y="317"/>
                  </a:lnTo>
                  <a:lnTo>
                    <a:pt x="51" y="294"/>
                  </a:lnTo>
                  <a:lnTo>
                    <a:pt x="46" y="284"/>
                  </a:lnTo>
                  <a:lnTo>
                    <a:pt x="39" y="269"/>
                  </a:lnTo>
                  <a:lnTo>
                    <a:pt x="32" y="255"/>
                  </a:lnTo>
                  <a:lnTo>
                    <a:pt x="33" y="243"/>
                  </a:lnTo>
                  <a:lnTo>
                    <a:pt x="36" y="232"/>
                  </a:lnTo>
                  <a:lnTo>
                    <a:pt x="34" y="219"/>
                  </a:lnTo>
                  <a:lnTo>
                    <a:pt x="34" y="206"/>
                  </a:lnTo>
                  <a:lnTo>
                    <a:pt x="40" y="190"/>
                  </a:lnTo>
                  <a:lnTo>
                    <a:pt x="46" y="173"/>
                  </a:lnTo>
                  <a:lnTo>
                    <a:pt x="51" y="168"/>
                  </a:lnTo>
                  <a:lnTo>
                    <a:pt x="45" y="159"/>
                  </a:lnTo>
                  <a:lnTo>
                    <a:pt x="43" y="134"/>
                  </a:lnTo>
                  <a:lnTo>
                    <a:pt x="45" y="124"/>
                  </a:lnTo>
                  <a:lnTo>
                    <a:pt x="58" y="117"/>
                  </a:lnTo>
                  <a:lnTo>
                    <a:pt x="62" y="99"/>
                  </a:lnTo>
                  <a:lnTo>
                    <a:pt x="58" y="95"/>
                  </a:lnTo>
                  <a:lnTo>
                    <a:pt x="48" y="94"/>
                  </a:lnTo>
                  <a:lnTo>
                    <a:pt x="42" y="78"/>
                  </a:lnTo>
                  <a:lnTo>
                    <a:pt x="34" y="62"/>
                  </a:lnTo>
                  <a:lnTo>
                    <a:pt x="30" y="46"/>
                  </a:lnTo>
                  <a:lnTo>
                    <a:pt x="31" y="33"/>
                  </a:lnTo>
                  <a:lnTo>
                    <a:pt x="22" y="21"/>
                  </a:lnTo>
                  <a:lnTo>
                    <a:pt x="18" y="9"/>
                  </a:lnTo>
                  <a:lnTo>
                    <a:pt x="13" y="0"/>
                  </a:lnTo>
                  <a:lnTo>
                    <a:pt x="9" y="8"/>
                  </a:lnTo>
                  <a:lnTo>
                    <a:pt x="3" y="15"/>
                  </a:lnTo>
                  <a:lnTo>
                    <a:pt x="0" y="16"/>
                  </a:lnTo>
                  <a:lnTo>
                    <a:pt x="4" y="39"/>
                  </a:lnTo>
                  <a:lnTo>
                    <a:pt x="9" y="62"/>
                  </a:lnTo>
                  <a:lnTo>
                    <a:pt x="9" y="81"/>
                  </a:lnTo>
                  <a:lnTo>
                    <a:pt x="8" y="100"/>
                  </a:lnTo>
                  <a:lnTo>
                    <a:pt x="8" y="108"/>
                  </a:lnTo>
                  <a:lnTo>
                    <a:pt x="10" y="131"/>
                  </a:lnTo>
                  <a:lnTo>
                    <a:pt x="12" y="150"/>
                  </a:lnTo>
                  <a:lnTo>
                    <a:pt x="10" y="176"/>
                  </a:lnTo>
                  <a:lnTo>
                    <a:pt x="10" y="201"/>
                  </a:lnTo>
                  <a:lnTo>
                    <a:pt x="12" y="213"/>
                  </a:lnTo>
                  <a:lnTo>
                    <a:pt x="12" y="23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8" name="Freeform 247"/>
            <p:cNvSpPr>
              <a:spLocks/>
            </p:cNvSpPr>
            <p:nvPr/>
          </p:nvSpPr>
          <p:spPr bwMode="auto">
            <a:xfrm>
              <a:off x="1469" y="3747"/>
              <a:ext cx="51" cy="45"/>
            </a:xfrm>
            <a:custGeom>
              <a:avLst/>
              <a:gdLst/>
              <a:ahLst/>
              <a:cxnLst>
                <a:cxn ang="0">
                  <a:pos x="31" y="2"/>
                </a:cxn>
                <a:cxn ang="0">
                  <a:pos x="38" y="21"/>
                </a:cxn>
                <a:cxn ang="0">
                  <a:pos x="46" y="40"/>
                </a:cxn>
                <a:cxn ang="0">
                  <a:pos x="42" y="39"/>
                </a:cxn>
                <a:cxn ang="0">
                  <a:pos x="34" y="40"/>
                </a:cxn>
                <a:cxn ang="0">
                  <a:pos x="19" y="38"/>
                </a:cxn>
                <a:cxn ang="0">
                  <a:pos x="13" y="38"/>
                </a:cxn>
                <a:cxn ang="0">
                  <a:pos x="0" y="36"/>
                </a:cxn>
                <a:cxn ang="0">
                  <a:pos x="3" y="34"/>
                </a:cxn>
                <a:cxn ang="0">
                  <a:pos x="12" y="32"/>
                </a:cxn>
                <a:cxn ang="0">
                  <a:pos x="16" y="34"/>
                </a:cxn>
                <a:cxn ang="0">
                  <a:pos x="20" y="34"/>
                </a:cxn>
                <a:cxn ang="0">
                  <a:pos x="13" y="30"/>
                </a:cxn>
                <a:cxn ang="0">
                  <a:pos x="22" y="32"/>
                </a:cxn>
                <a:cxn ang="0">
                  <a:pos x="27" y="33"/>
                </a:cxn>
                <a:cxn ang="0">
                  <a:pos x="34" y="34"/>
                </a:cxn>
                <a:cxn ang="0">
                  <a:pos x="37" y="35"/>
                </a:cxn>
                <a:cxn ang="0">
                  <a:pos x="19" y="24"/>
                </a:cxn>
                <a:cxn ang="0">
                  <a:pos x="26" y="16"/>
                </a:cxn>
                <a:cxn ang="0">
                  <a:pos x="15" y="16"/>
                </a:cxn>
                <a:cxn ang="0">
                  <a:pos x="10" y="3"/>
                </a:cxn>
                <a:cxn ang="0">
                  <a:pos x="16" y="0"/>
                </a:cxn>
                <a:cxn ang="0">
                  <a:pos x="31" y="2"/>
                </a:cxn>
              </a:cxnLst>
              <a:rect l="0" t="0" r="r" b="b"/>
              <a:pathLst>
                <a:path w="46" h="40">
                  <a:moveTo>
                    <a:pt x="31" y="2"/>
                  </a:moveTo>
                  <a:lnTo>
                    <a:pt x="38" y="21"/>
                  </a:lnTo>
                  <a:lnTo>
                    <a:pt x="46" y="40"/>
                  </a:lnTo>
                  <a:lnTo>
                    <a:pt x="42" y="39"/>
                  </a:lnTo>
                  <a:lnTo>
                    <a:pt x="34" y="40"/>
                  </a:lnTo>
                  <a:lnTo>
                    <a:pt x="19" y="38"/>
                  </a:lnTo>
                  <a:lnTo>
                    <a:pt x="13" y="38"/>
                  </a:lnTo>
                  <a:lnTo>
                    <a:pt x="0" y="36"/>
                  </a:lnTo>
                  <a:lnTo>
                    <a:pt x="3" y="34"/>
                  </a:lnTo>
                  <a:lnTo>
                    <a:pt x="12" y="32"/>
                  </a:lnTo>
                  <a:lnTo>
                    <a:pt x="16" y="34"/>
                  </a:lnTo>
                  <a:lnTo>
                    <a:pt x="20" y="34"/>
                  </a:lnTo>
                  <a:lnTo>
                    <a:pt x="13" y="30"/>
                  </a:lnTo>
                  <a:lnTo>
                    <a:pt x="22" y="32"/>
                  </a:lnTo>
                  <a:lnTo>
                    <a:pt x="27" y="33"/>
                  </a:lnTo>
                  <a:lnTo>
                    <a:pt x="34" y="34"/>
                  </a:lnTo>
                  <a:lnTo>
                    <a:pt x="37" y="35"/>
                  </a:lnTo>
                  <a:lnTo>
                    <a:pt x="19" y="24"/>
                  </a:lnTo>
                  <a:lnTo>
                    <a:pt x="26" y="16"/>
                  </a:lnTo>
                  <a:lnTo>
                    <a:pt x="15" y="16"/>
                  </a:lnTo>
                  <a:lnTo>
                    <a:pt x="10" y="3"/>
                  </a:lnTo>
                  <a:lnTo>
                    <a:pt x="16" y="0"/>
                  </a:lnTo>
                  <a:lnTo>
                    <a:pt x="3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9" name="Freeform 248"/>
            <p:cNvSpPr>
              <a:spLocks/>
            </p:cNvSpPr>
            <p:nvPr/>
          </p:nvSpPr>
          <p:spPr bwMode="auto">
            <a:xfrm>
              <a:off x="1340" y="3538"/>
              <a:ext cx="16" cy="32"/>
            </a:xfrm>
            <a:custGeom>
              <a:avLst/>
              <a:gdLst/>
              <a:ahLst/>
              <a:cxnLst>
                <a:cxn ang="0">
                  <a:pos x="5" y="0"/>
                </a:cxn>
                <a:cxn ang="0">
                  <a:pos x="0" y="4"/>
                </a:cxn>
                <a:cxn ang="0">
                  <a:pos x="6" y="28"/>
                </a:cxn>
                <a:cxn ang="0">
                  <a:pos x="12" y="25"/>
                </a:cxn>
                <a:cxn ang="0">
                  <a:pos x="14" y="20"/>
                </a:cxn>
                <a:cxn ang="0">
                  <a:pos x="10" y="10"/>
                </a:cxn>
                <a:cxn ang="0">
                  <a:pos x="12" y="8"/>
                </a:cxn>
                <a:cxn ang="0">
                  <a:pos x="5" y="0"/>
                </a:cxn>
              </a:cxnLst>
              <a:rect l="0" t="0" r="r" b="b"/>
              <a:pathLst>
                <a:path w="14" h="28">
                  <a:moveTo>
                    <a:pt x="5" y="0"/>
                  </a:moveTo>
                  <a:lnTo>
                    <a:pt x="0" y="4"/>
                  </a:lnTo>
                  <a:lnTo>
                    <a:pt x="6" y="28"/>
                  </a:lnTo>
                  <a:lnTo>
                    <a:pt x="12" y="25"/>
                  </a:lnTo>
                  <a:lnTo>
                    <a:pt x="14" y="20"/>
                  </a:lnTo>
                  <a:lnTo>
                    <a:pt x="10" y="10"/>
                  </a:lnTo>
                  <a:lnTo>
                    <a:pt x="12" y="8"/>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0" name="Freeform 249"/>
            <p:cNvSpPr>
              <a:spLocks/>
            </p:cNvSpPr>
            <p:nvPr/>
          </p:nvSpPr>
          <p:spPr bwMode="auto">
            <a:xfrm>
              <a:off x="1374" y="3676"/>
              <a:ext cx="15" cy="25"/>
            </a:xfrm>
            <a:custGeom>
              <a:avLst/>
              <a:gdLst/>
              <a:ahLst/>
              <a:cxnLst>
                <a:cxn ang="0">
                  <a:pos x="7" y="0"/>
                </a:cxn>
                <a:cxn ang="0">
                  <a:pos x="0" y="8"/>
                </a:cxn>
                <a:cxn ang="0">
                  <a:pos x="9" y="18"/>
                </a:cxn>
                <a:cxn ang="0">
                  <a:pos x="13" y="21"/>
                </a:cxn>
                <a:cxn ang="0">
                  <a:pos x="15" y="14"/>
                </a:cxn>
                <a:cxn ang="0">
                  <a:pos x="7" y="0"/>
                </a:cxn>
              </a:cxnLst>
              <a:rect l="0" t="0" r="r" b="b"/>
              <a:pathLst>
                <a:path w="15" h="21">
                  <a:moveTo>
                    <a:pt x="7" y="0"/>
                  </a:moveTo>
                  <a:lnTo>
                    <a:pt x="0" y="8"/>
                  </a:lnTo>
                  <a:lnTo>
                    <a:pt x="9" y="18"/>
                  </a:lnTo>
                  <a:lnTo>
                    <a:pt x="13" y="21"/>
                  </a:lnTo>
                  <a:lnTo>
                    <a:pt x="15" y="14"/>
                  </a:lnTo>
                  <a:lnTo>
                    <a:pt x="7"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1" name="Freeform 250"/>
            <p:cNvSpPr>
              <a:spLocks/>
            </p:cNvSpPr>
            <p:nvPr/>
          </p:nvSpPr>
          <p:spPr bwMode="auto">
            <a:xfrm>
              <a:off x="1107" y="2676"/>
              <a:ext cx="100" cy="129"/>
            </a:xfrm>
            <a:custGeom>
              <a:avLst/>
              <a:gdLst/>
              <a:ahLst/>
              <a:cxnLst>
                <a:cxn ang="0">
                  <a:pos x="0" y="45"/>
                </a:cxn>
                <a:cxn ang="0">
                  <a:pos x="3" y="63"/>
                </a:cxn>
                <a:cxn ang="0">
                  <a:pos x="0" y="67"/>
                </a:cxn>
                <a:cxn ang="0">
                  <a:pos x="11" y="72"/>
                </a:cxn>
                <a:cxn ang="0">
                  <a:pos x="15" y="67"/>
                </a:cxn>
                <a:cxn ang="0">
                  <a:pos x="16" y="71"/>
                </a:cxn>
                <a:cxn ang="0">
                  <a:pos x="16" y="83"/>
                </a:cxn>
                <a:cxn ang="0">
                  <a:pos x="10" y="85"/>
                </a:cxn>
                <a:cxn ang="0">
                  <a:pos x="11" y="96"/>
                </a:cxn>
                <a:cxn ang="0">
                  <a:pos x="7" y="104"/>
                </a:cxn>
                <a:cxn ang="0">
                  <a:pos x="13" y="102"/>
                </a:cxn>
                <a:cxn ang="0">
                  <a:pos x="30" y="115"/>
                </a:cxn>
                <a:cxn ang="0">
                  <a:pos x="35" y="108"/>
                </a:cxn>
                <a:cxn ang="0">
                  <a:pos x="37" y="101"/>
                </a:cxn>
                <a:cxn ang="0">
                  <a:pos x="41" y="95"/>
                </a:cxn>
                <a:cxn ang="0">
                  <a:pos x="43" y="84"/>
                </a:cxn>
                <a:cxn ang="0">
                  <a:pos x="45" y="84"/>
                </a:cxn>
                <a:cxn ang="0">
                  <a:pos x="46" y="86"/>
                </a:cxn>
                <a:cxn ang="0">
                  <a:pos x="48" y="86"/>
                </a:cxn>
                <a:cxn ang="0">
                  <a:pos x="47" y="83"/>
                </a:cxn>
                <a:cxn ang="0">
                  <a:pos x="51" y="79"/>
                </a:cxn>
                <a:cxn ang="0">
                  <a:pos x="60" y="74"/>
                </a:cxn>
                <a:cxn ang="0">
                  <a:pos x="77" y="63"/>
                </a:cxn>
                <a:cxn ang="0">
                  <a:pos x="87" y="42"/>
                </a:cxn>
                <a:cxn ang="0">
                  <a:pos x="90" y="43"/>
                </a:cxn>
                <a:cxn ang="0">
                  <a:pos x="84" y="29"/>
                </a:cxn>
                <a:cxn ang="0">
                  <a:pos x="89" y="27"/>
                </a:cxn>
                <a:cxn ang="0">
                  <a:pos x="71" y="18"/>
                </a:cxn>
                <a:cxn ang="0">
                  <a:pos x="55" y="18"/>
                </a:cxn>
                <a:cxn ang="0">
                  <a:pos x="46" y="9"/>
                </a:cxn>
                <a:cxn ang="0">
                  <a:pos x="33" y="0"/>
                </a:cxn>
                <a:cxn ang="0">
                  <a:pos x="27" y="6"/>
                </a:cxn>
                <a:cxn ang="0">
                  <a:pos x="12" y="13"/>
                </a:cxn>
                <a:cxn ang="0">
                  <a:pos x="9" y="27"/>
                </a:cxn>
                <a:cxn ang="0">
                  <a:pos x="7" y="36"/>
                </a:cxn>
                <a:cxn ang="0">
                  <a:pos x="0" y="45"/>
                </a:cxn>
              </a:cxnLst>
              <a:rect l="0" t="0" r="r" b="b"/>
              <a:pathLst>
                <a:path w="90" h="115">
                  <a:moveTo>
                    <a:pt x="0" y="45"/>
                  </a:moveTo>
                  <a:lnTo>
                    <a:pt x="3" y="63"/>
                  </a:lnTo>
                  <a:lnTo>
                    <a:pt x="0" y="67"/>
                  </a:lnTo>
                  <a:lnTo>
                    <a:pt x="11" y="72"/>
                  </a:lnTo>
                  <a:lnTo>
                    <a:pt x="15" y="67"/>
                  </a:lnTo>
                  <a:lnTo>
                    <a:pt x="16" y="71"/>
                  </a:lnTo>
                  <a:lnTo>
                    <a:pt x="16" y="83"/>
                  </a:lnTo>
                  <a:lnTo>
                    <a:pt x="10" y="85"/>
                  </a:lnTo>
                  <a:lnTo>
                    <a:pt x="11" y="96"/>
                  </a:lnTo>
                  <a:lnTo>
                    <a:pt x="7" y="104"/>
                  </a:lnTo>
                  <a:lnTo>
                    <a:pt x="13" y="102"/>
                  </a:lnTo>
                  <a:lnTo>
                    <a:pt x="30" y="115"/>
                  </a:lnTo>
                  <a:lnTo>
                    <a:pt x="35" y="108"/>
                  </a:lnTo>
                  <a:lnTo>
                    <a:pt x="37" y="101"/>
                  </a:lnTo>
                  <a:lnTo>
                    <a:pt x="41" y="95"/>
                  </a:lnTo>
                  <a:lnTo>
                    <a:pt x="43" y="84"/>
                  </a:lnTo>
                  <a:lnTo>
                    <a:pt x="45" y="84"/>
                  </a:lnTo>
                  <a:lnTo>
                    <a:pt x="46" y="86"/>
                  </a:lnTo>
                  <a:lnTo>
                    <a:pt x="48" y="86"/>
                  </a:lnTo>
                  <a:lnTo>
                    <a:pt x="47" y="83"/>
                  </a:lnTo>
                  <a:lnTo>
                    <a:pt x="51" y="79"/>
                  </a:lnTo>
                  <a:lnTo>
                    <a:pt x="60" y="74"/>
                  </a:lnTo>
                  <a:lnTo>
                    <a:pt x="77" y="63"/>
                  </a:lnTo>
                  <a:lnTo>
                    <a:pt x="87" y="42"/>
                  </a:lnTo>
                  <a:lnTo>
                    <a:pt x="90" y="43"/>
                  </a:lnTo>
                  <a:lnTo>
                    <a:pt x="84" y="29"/>
                  </a:lnTo>
                  <a:lnTo>
                    <a:pt x="89" y="27"/>
                  </a:lnTo>
                  <a:lnTo>
                    <a:pt x="71" y="18"/>
                  </a:lnTo>
                  <a:lnTo>
                    <a:pt x="55" y="18"/>
                  </a:lnTo>
                  <a:lnTo>
                    <a:pt x="46" y="9"/>
                  </a:lnTo>
                  <a:lnTo>
                    <a:pt x="33" y="0"/>
                  </a:lnTo>
                  <a:lnTo>
                    <a:pt x="27" y="6"/>
                  </a:lnTo>
                  <a:lnTo>
                    <a:pt x="12" y="13"/>
                  </a:lnTo>
                  <a:lnTo>
                    <a:pt x="9" y="27"/>
                  </a:lnTo>
                  <a:lnTo>
                    <a:pt x="7" y="36"/>
                  </a:lnTo>
                  <a:lnTo>
                    <a:pt x="0" y="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2" name="Freeform 251"/>
            <p:cNvSpPr>
              <a:spLocks/>
            </p:cNvSpPr>
            <p:nvPr/>
          </p:nvSpPr>
          <p:spPr bwMode="auto">
            <a:xfrm>
              <a:off x="1120" y="2761"/>
              <a:ext cx="3" cy="2"/>
            </a:xfrm>
            <a:custGeom>
              <a:avLst/>
              <a:gdLst/>
              <a:ahLst/>
              <a:cxnLst>
                <a:cxn ang="0">
                  <a:pos x="4" y="0"/>
                </a:cxn>
                <a:cxn ang="0">
                  <a:pos x="1" y="3"/>
                </a:cxn>
                <a:cxn ang="0">
                  <a:pos x="0" y="0"/>
                </a:cxn>
                <a:cxn ang="0">
                  <a:pos x="4" y="0"/>
                </a:cxn>
              </a:cxnLst>
              <a:rect l="0" t="0" r="r" b="b"/>
              <a:pathLst>
                <a:path w="4" h="3">
                  <a:moveTo>
                    <a:pt x="4" y="0"/>
                  </a:moveTo>
                  <a:lnTo>
                    <a:pt x="1" y="3"/>
                  </a:lnTo>
                  <a:lnTo>
                    <a:pt x="0" y="0"/>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3" name="Freeform 252"/>
            <p:cNvSpPr>
              <a:spLocks/>
            </p:cNvSpPr>
            <p:nvPr/>
          </p:nvSpPr>
          <p:spPr bwMode="auto">
            <a:xfrm>
              <a:off x="1100" y="2707"/>
              <a:ext cx="231" cy="365"/>
            </a:xfrm>
            <a:custGeom>
              <a:avLst/>
              <a:gdLst/>
              <a:ahLst/>
              <a:cxnLst>
                <a:cxn ang="0">
                  <a:pos x="201" y="259"/>
                </a:cxn>
                <a:cxn ang="0">
                  <a:pos x="203" y="289"/>
                </a:cxn>
                <a:cxn ang="0">
                  <a:pos x="201" y="306"/>
                </a:cxn>
                <a:cxn ang="0">
                  <a:pos x="197" y="321"/>
                </a:cxn>
                <a:cxn ang="0">
                  <a:pos x="188" y="329"/>
                </a:cxn>
                <a:cxn ang="0">
                  <a:pos x="171" y="311"/>
                </a:cxn>
                <a:cxn ang="0">
                  <a:pos x="143" y="295"/>
                </a:cxn>
                <a:cxn ang="0">
                  <a:pos x="117" y="280"/>
                </a:cxn>
                <a:cxn ang="0">
                  <a:pos x="89" y="253"/>
                </a:cxn>
                <a:cxn ang="0">
                  <a:pos x="78" y="225"/>
                </a:cxn>
                <a:cxn ang="0">
                  <a:pos x="60" y="192"/>
                </a:cxn>
                <a:cxn ang="0">
                  <a:pos x="47" y="167"/>
                </a:cxn>
                <a:cxn ang="0">
                  <a:pos x="34" y="141"/>
                </a:cxn>
                <a:cxn ang="0">
                  <a:pos x="16" y="118"/>
                </a:cxn>
                <a:cxn ang="0">
                  <a:pos x="5" y="105"/>
                </a:cxn>
                <a:cxn ang="0">
                  <a:pos x="8" y="70"/>
                </a:cxn>
                <a:cxn ang="0">
                  <a:pos x="16" y="70"/>
                </a:cxn>
                <a:cxn ang="0">
                  <a:pos x="18" y="76"/>
                </a:cxn>
                <a:cxn ang="0">
                  <a:pos x="40" y="82"/>
                </a:cxn>
                <a:cxn ang="0">
                  <a:pos x="46" y="69"/>
                </a:cxn>
                <a:cxn ang="0">
                  <a:pos x="50" y="58"/>
                </a:cxn>
                <a:cxn ang="0">
                  <a:pos x="53" y="60"/>
                </a:cxn>
                <a:cxn ang="0">
                  <a:pos x="56" y="53"/>
                </a:cxn>
                <a:cxn ang="0">
                  <a:pos x="82" y="37"/>
                </a:cxn>
                <a:cxn ang="0">
                  <a:pos x="95" y="17"/>
                </a:cxn>
                <a:cxn ang="0">
                  <a:pos x="94" y="1"/>
                </a:cxn>
                <a:cxn ang="0">
                  <a:pos x="104" y="9"/>
                </a:cxn>
                <a:cxn ang="0">
                  <a:pos x="125" y="31"/>
                </a:cxn>
                <a:cxn ang="0">
                  <a:pos x="148" y="40"/>
                </a:cxn>
                <a:cxn ang="0">
                  <a:pos x="176" y="46"/>
                </a:cxn>
                <a:cxn ang="0">
                  <a:pos x="179" y="75"/>
                </a:cxn>
                <a:cxn ang="0">
                  <a:pos x="161" y="78"/>
                </a:cxn>
                <a:cxn ang="0">
                  <a:pos x="136" y="90"/>
                </a:cxn>
                <a:cxn ang="0">
                  <a:pos x="128" y="118"/>
                </a:cxn>
                <a:cxn ang="0">
                  <a:pos x="126" y="145"/>
                </a:cxn>
                <a:cxn ang="0">
                  <a:pos x="132" y="167"/>
                </a:cxn>
                <a:cxn ang="0">
                  <a:pos x="148" y="175"/>
                </a:cxn>
                <a:cxn ang="0">
                  <a:pos x="172" y="169"/>
                </a:cxn>
                <a:cxn ang="0">
                  <a:pos x="174" y="197"/>
                </a:cxn>
                <a:cxn ang="0">
                  <a:pos x="198" y="209"/>
                </a:cxn>
                <a:cxn ang="0">
                  <a:pos x="204" y="228"/>
                </a:cxn>
              </a:cxnLst>
              <a:rect l="0" t="0" r="r" b="b"/>
              <a:pathLst>
                <a:path w="208" h="329">
                  <a:moveTo>
                    <a:pt x="204" y="250"/>
                  </a:moveTo>
                  <a:lnTo>
                    <a:pt x="201" y="259"/>
                  </a:lnTo>
                  <a:lnTo>
                    <a:pt x="201" y="274"/>
                  </a:lnTo>
                  <a:lnTo>
                    <a:pt x="203" y="289"/>
                  </a:lnTo>
                  <a:lnTo>
                    <a:pt x="208" y="291"/>
                  </a:lnTo>
                  <a:lnTo>
                    <a:pt x="201" y="306"/>
                  </a:lnTo>
                  <a:lnTo>
                    <a:pt x="201" y="313"/>
                  </a:lnTo>
                  <a:lnTo>
                    <a:pt x="197" y="321"/>
                  </a:lnTo>
                  <a:lnTo>
                    <a:pt x="191" y="328"/>
                  </a:lnTo>
                  <a:lnTo>
                    <a:pt x="188" y="329"/>
                  </a:lnTo>
                  <a:lnTo>
                    <a:pt x="178" y="321"/>
                  </a:lnTo>
                  <a:lnTo>
                    <a:pt x="171" y="311"/>
                  </a:lnTo>
                  <a:lnTo>
                    <a:pt x="158" y="304"/>
                  </a:lnTo>
                  <a:lnTo>
                    <a:pt x="143" y="295"/>
                  </a:lnTo>
                  <a:lnTo>
                    <a:pt x="130" y="288"/>
                  </a:lnTo>
                  <a:lnTo>
                    <a:pt x="117" y="280"/>
                  </a:lnTo>
                  <a:lnTo>
                    <a:pt x="102" y="267"/>
                  </a:lnTo>
                  <a:lnTo>
                    <a:pt x="89" y="253"/>
                  </a:lnTo>
                  <a:lnTo>
                    <a:pt x="89" y="244"/>
                  </a:lnTo>
                  <a:lnTo>
                    <a:pt x="78" y="225"/>
                  </a:lnTo>
                  <a:lnTo>
                    <a:pt x="69" y="204"/>
                  </a:lnTo>
                  <a:lnTo>
                    <a:pt x="60" y="192"/>
                  </a:lnTo>
                  <a:lnTo>
                    <a:pt x="53" y="180"/>
                  </a:lnTo>
                  <a:lnTo>
                    <a:pt x="47" y="167"/>
                  </a:lnTo>
                  <a:lnTo>
                    <a:pt x="40" y="154"/>
                  </a:lnTo>
                  <a:lnTo>
                    <a:pt x="34" y="141"/>
                  </a:lnTo>
                  <a:lnTo>
                    <a:pt x="27" y="127"/>
                  </a:lnTo>
                  <a:lnTo>
                    <a:pt x="16" y="118"/>
                  </a:lnTo>
                  <a:lnTo>
                    <a:pt x="4" y="109"/>
                  </a:lnTo>
                  <a:lnTo>
                    <a:pt x="5" y="105"/>
                  </a:lnTo>
                  <a:lnTo>
                    <a:pt x="0" y="81"/>
                  </a:lnTo>
                  <a:lnTo>
                    <a:pt x="8" y="70"/>
                  </a:lnTo>
                  <a:lnTo>
                    <a:pt x="15" y="59"/>
                  </a:lnTo>
                  <a:lnTo>
                    <a:pt x="16" y="70"/>
                  </a:lnTo>
                  <a:lnTo>
                    <a:pt x="12" y="78"/>
                  </a:lnTo>
                  <a:lnTo>
                    <a:pt x="18" y="76"/>
                  </a:lnTo>
                  <a:lnTo>
                    <a:pt x="35" y="89"/>
                  </a:lnTo>
                  <a:lnTo>
                    <a:pt x="40" y="82"/>
                  </a:lnTo>
                  <a:lnTo>
                    <a:pt x="42" y="75"/>
                  </a:lnTo>
                  <a:lnTo>
                    <a:pt x="46" y="69"/>
                  </a:lnTo>
                  <a:lnTo>
                    <a:pt x="48" y="58"/>
                  </a:lnTo>
                  <a:lnTo>
                    <a:pt x="50" y="58"/>
                  </a:lnTo>
                  <a:lnTo>
                    <a:pt x="51" y="60"/>
                  </a:lnTo>
                  <a:lnTo>
                    <a:pt x="53" y="60"/>
                  </a:lnTo>
                  <a:lnTo>
                    <a:pt x="52" y="57"/>
                  </a:lnTo>
                  <a:lnTo>
                    <a:pt x="56" y="53"/>
                  </a:lnTo>
                  <a:lnTo>
                    <a:pt x="65" y="48"/>
                  </a:lnTo>
                  <a:lnTo>
                    <a:pt x="82" y="37"/>
                  </a:lnTo>
                  <a:lnTo>
                    <a:pt x="92" y="16"/>
                  </a:lnTo>
                  <a:lnTo>
                    <a:pt x="95" y="17"/>
                  </a:lnTo>
                  <a:lnTo>
                    <a:pt x="89" y="3"/>
                  </a:lnTo>
                  <a:lnTo>
                    <a:pt x="94" y="1"/>
                  </a:lnTo>
                  <a:lnTo>
                    <a:pt x="95" y="0"/>
                  </a:lnTo>
                  <a:lnTo>
                    <a:pt x="104" y="9"/>
                  </a:lnTo>
                  <a:lnTo>
                    <a:pt x="113" y="17"/>
                  </a:lnTo>
                  <a:lnTo>
                    <a:pt x="125" y="31"/>
                  </a:lnTo>
                  <a:lnTo>
                    <a:pt x="128" y="40"/>
                  </a:lnTo>
                  <a:lnTo>
                    <a:pt x="148" y="40"/>
                  </a:lnTo>
                  <a:lnTo>
                    <a:pt x="160" y="41"/>
                  </a:lnTo>
                  <a:lnTo>
                    <a:pt x="176" y="46"/>
                  </a:lnTo>
                  <a:lnTo>
                    <a:pt x="170" y="67"/>
                  </a:lnTo>
                  <a:lnTo>
                    <a:pt x="179" y="75"/>
                  </a:lnTo>
                  <a:lnTo>
                    <a:pt x="174" y="75"/>
                  </a:lnTo>
                  <a:lnTo>
                    <a:pt x="161" y="78"/>
                  </a:lnTo>
                  <a:lnTo>
                    <a:pt x="148" y="84"/>
                  </a:lnTo>
                  <a:lnTo>
                    <a:pt x="136" y="90"/>
                  </a:lnTo>
                  <a:lnTo>
                    <a:pt x="131" y="103"/>
                  </a:lnTo>
                  <a:lnTo>
                    <a:pt x="128" y="118"/>
                  </a:lnTo>
                  <a:lnTo>
                    <a:pt x="119" y="132"/>
                  </a:lnTo>
                  <a:lnTo>
                    <a:pt x="126" y="145"/>
                  </a:lnTo>
                  <a:lnTo>
                    <a:pt x="134" y="159"/>
                  </a:lnTo>
                  <a:lnTo>
                    <a:pt x="132" y="167"/>
                  </a:lnTo>
                  <a:lnTo>
                    <a:pt x="140" y="168"/>
                  </a:lnTo>
                  <a:lnTo>
                    <a:pt x="148" y="175"/>
                  </a:lnTo>
                  <a:lnTo>
                    <a:pt x="161" y="179"/>
                  </a:lnTo>
                  <a:lnTo>
                    <a:pt x="172" y="169"/>
                  </a:lnTo>
                  <a:lnTo>
                    <a:pt x="173" y="184"/>
                  </a:lnTo>
                  <a:lnTo>
                    <a:pt x="174" y="197"/>
                  </a:lnTo>
                  <a:lnTo>
                    <a:pt x="191" y="196"/>
                  </a:lnTo>
                  <a:lnTo>
                    <a:pt x="198" y="209"/>
                  </a:lnTo>
                  <a:lnTo>
                    <a:pt x="207" y="223"/>
                  </a:lnTo>
                  <a:lnTo>
                    <a:pt x="204" y="228"/>
                  </a:lnTo>
                  <a:lnTo>
                    <a:pt x="204" y="25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4" name="Freeform 253"/>
            <p:cNvSpPr>
              <a:spLocks/>
            </p:cNvSpPr>
            <p:nvPr/>
          </p:nvSpPr>
          <p:spPr bwMode="auto">
            <a:xfrm>
              <a:off x="3731" y="1648"/>
              <a:ext cx="898" cy="653"/>
            </a:xfrm>
            <a:custGeom>
              <a:avLst/>
              <a:gdLst/>
              <a:ahLst/>
              <a:cxnLst>
                <a:cxn ang="0">
                  <a:pos x="324" y="454"/>
                </a:cxn>
                <a:cxn ang="0">
                  <a:pos x="270" y="453"/>
                </a:cxn>
                <a:cxn ang="0">
                  <a:pos x="205" y="432"/>
                </a:cxn>
                <a:cxn ang="0">
                  <a:pos x="155" y="412"/>
                </a:cxn>
                <a:cxn ang="0">
                  <a:pos x="106" y="369"/>
                </a:cxn>
                <a:cxn ang="0">
                  <a:pos x="107" y="337"/>
                </a:cxn>
                <a:cxn ang="0">
                  <a:pos x="94" y="321"/>
                </a:cxn>
                <a:cxn ang="0">
                  <a:pos x="43" y="293"/>
                </a:cxn>
                <a:cxn ang="0">
                  <a:pos x="31" y="283"/>
                </a:cxn>
                <a:cxn ang="0">
                  <a:pos x="17" y="227"/>
                </a:cxn>
                <a:cxn ang="0">
                  <a:pos x="68" y="204"/>
                </a:cxn>
                <a:cxn ang="0">
                  <a:pos x="72" y="166"/>
                </a:cxn>
                <a:cxn ang="0">
                  <a:pos x="88" y="137"/>
                </a:cxn>
                <a:cxn ang="0">
                  <a:pos x="113" y="91"/>
                </a:cxn>
                <a:cxn ang="0">
                  <a:pos x="144" y="82"/>
                </a:cxn>
                <a:cxn ang="0">
                  <a:pos x="208" y="141"/>
                </a:cxn>
                <a:cxn ang="0">
                  <a:pos x="295" y="173"/>
                </a:cxn>
                <a:cxn ang="0">
                  <a:pos x="389" y="191"/>
                </a:cxn>
                <a:cxn ang="0">
                  <a:pos x="452" y="201"/>
                </a:cxn>
                <a:cxn ang="0">
                  <a:pos x="523" y="169"/>
                </a:cxn>
                <a:cxn ang="0">
                  <a:pos x="560" y="138"/>
                </a:cxn>
                <a:cxn ang="0">
                  <a:pos x="569" y="93"/>
                </a:cxn>
                <a:cxn ang="0">
                  <a:pos x="533" y="89"/>
                </a:cxn>
                <a:cxn ang="0">
                  <a:pos x="556" y="41"/>
                </a:cxn>
                <a:cxn ang="0">
                  <a:pos x="566" y="0"/>
                </a:cxn>
                <a:cxn ang="0">
                  <a:pos x="662" y="48"/>
                </a:cxn>
                <a:cxn ang="0">
                  <a:pos x="751" y="99"/>
                </a:cxn>
                <a:cxn ang="0">
                  <a:pos x="809" y="145"/>
                </a:cxn>
                <a:cxn ang="0">
                  <a:pos x="800" y="187"/>
                </a:cxn>
                <a:cxn ang="0">
                  <a:pos x="773" y="201"/>
                </a:cxn>
                <a:cxn ang="0">
                  <a:pos x="738" y="233"/>
                </a:cxn>
                <a:cxn ang="0">
                  <a:pos x="707" y="246"/>
                </a:cxn>
                <a:cxn ang="0">
                  <a:pos x="676" y="233"/>
                </a:cxn>
                <a:cxn ang="0">
                  <a:pos x="676" y="270"/>
                </a:cxn>
                <a:cxn ang="0">
                  <a:pos x="734" y="283"/>
                </a:cxn>
                <a:cxn ang="0">
                  <a:pos x="708" y="311"/>
                </a:cxn>
                <a:cxn ang="0">
                  <a:pos x="764" y="384"/>
                </a:cxn>
                <a:cxn ang="0">
                  <a:pos x="756" y="407"/>
                </a:cxn>
                <a:cxn ang="0">
                  <a:pos x="774" y="424"/>
                </a:cxn>
                <a:cxn ang="0">
                  <a:pos x="778" y="437"/>
                </a:cxn>
                <a:cxn ang="0">
                  <a:pos x="770" y="455"/>
                </a:cxn>
                <a:cxn ang="0">
                  <a:pos x="756" y="485"/>
                </a:cxn>
                <a:cxn ang="0">
                  <a:pos x="758" y="499"/>
                </a:cxn>
                <a:cxn ang="0">
                  <a:pos x="743" y="515"/>
                </a:cxn>
                <a:cxn ang="0">
                  <a:pos x="721" y="540"/>
                </a:cxn>
                <a:cxn ang="0">
                  <a:pos x="700" y="545"/>
                </a:cxn>
                <a:cxn ang="0">
                  <a:pos x="677" y="543"/>
                </a:cxn>
                <a:cxn ang="0">
                  <a:pos x="668" y="562"/>
                </a:cxn>
                <a:cxn ang="0">
                  <a:pos x="640" y="569"/>
                </a:cxn>
                <a:cxn ang="0">
                  <a:pos x="628" y="569"/>
                </a:cxn>
                <a:cxn ang="0">
                  <a:pos x="604" y="563"/>
                </a:cxn>
                <a:cxn ang="0">
                  <a:pos x="554" y="537"/>
                </a:cxn>
                <a:cxn ang="0">
                  <a:pos x="527" y="546"/>
                </a:cxn>
                <a:cxn ang="0">
                  <a:pos x="497" y="551"/>
                </a:cxn>
                <a:cxn ang="0">
                  <a:pos x="476" y="567"/>
                </a:cxn>
                <a:cxn ang="0">
                  <a:pos x="448" y="522"/>
                </a:cxn>
                <a:cxn ang="0">
                  <a:pos x="436" y="495"/>
                </a:cxn>
                <a:cxn ang="0">
                  <a:pos x="412" y="441"/>
                </a:cxn>
                <a:cxn ang="0">
                  <a:pos x="389" y="427"/>
                </a:cxn>
              </a:cxnLst>
              <a:rect l="0" t="0" r="r" b="b"/>
              <a:pathLst>
                <a:path w="809" h="588">
                  <a:moveTo>
                    <a:pt x="361" y="429"/>
                  </a:moveTo>
                  <a:lnTo>
                    <a:pt x="350" y="438"/>
                  </a:lnTo>
                  <a:lnTo>
                    <a:pt x="338" y="449"/>
                  </a:lnTo>
                  <a:lnTo>
                    <a:pt x="325" y="454"/>
                  </a:lnTo>
                  <a:lnTo>
                    <a:pt x="324" y="454"/>
                  </a:lnTo>
                  <a:lnTo>
                    <a:pt x="317" y="449"/>
                  </a:lnTo>
                  <a:lnTo>
                    <a:pt x="295" y="447"/>
                  </a:lnTo>
                  <a:lnTo>
                    <a:pt x="284" y="462"/>
                  </a:lnTo>
                  <a:lnTo>
                    <a:pt x="277" y="448"/>
                  </a:lnTo>
                  <a:lnTo>
                    <a:pt x="270" y="453"/>
                  </a:lnTo>
                  <a:lnTo>
                    <a:pt x="252" y="450"/>
                  </a:lnTo>
                  <a:lnTo>
                    <a:pt x="238" y="449"/>
                  </a:lnTo>
                  <a:lnTo>
                    <a:pt x="222" y="442"/>
                  </a:lnTo>
                  <a:lnTo>
                    <a:pt x="220" y="438"/>
                  </a:lnTo>
                  <a:lnTo>
                    <a:pt x="205" y="432"/>
                  </a:lnTo>
                  <a:lnTo>
                    <a:pt x="200" y="426"/>
                  </a:lnTo>
                  <a:lnTo>
                    <a:pt x="194" y="429"/>
                  </a:lnTo>
                  <a:lnTo>
                    <a:pt x="174" y="414"/>
                  </a:lnTo>
                  <a:lnTo>
                    <a:pt x="161" y="406"/>
                  </a:lnTo>
                  <a:lnTo>
                    <a:pt x="155" y="412"/>
                  </a:lnTo>
                  <a:lnTo>
                    <a:pt x="154" y="411"/>
                  </a:lnTo>
                  <a:lnTo>
                    <a:pt x="139" y="401"/>
                  </a:lnTo>
                  <a:lnTo>
                    <a:pt x="120" y="390"/>
                  </a:lnTo>
                  <a:lnTo>
                    <a:pt x="113" y="388"/>
                  </a:lnTo>
                  <a:lnTo>
                    <a:pt x="106" y="369"/>
                  </a:lnTo>
                  <a:lnTo>
                    <a:pt x="115" y="370"/>
                  </a:lnTo>
                  <a:lnTo>
                    <a:pt x="118" y="363"/>
                  </a:lnTo>
                  <a:lnTo>
                    <a:pt x="108" y="349"/>
                  </a:lnTo>
                  <a:lnTo>
                    <a:pt x="108" y="342"/>
                  </a:lnTo>
                  <a:lnTo>
                    <a:pt x="107" y="337"/>
                  </a:lnTo>
                  <a:lnTo>
                    <a:pt x="103" y="335"/>
                  </a:lnTo>
                  <a:lnTo>
                    <a:pt x="101" y="331"/>
                  </a:lnTo>
                  <a:lnTo>
                    <a:pt x="100" y="327"/>
                  </a:lnTo>
                  <a:lnTo>
                    <a:pt x="98" y="322"/>
                  </a:lnTo>
                  <a:lnTo>
                    <a:pt x="94" y="321"/>
                  </a:lnTo>
                  <a:lnTo>
                    <a:pt x="86" y="317"/>
                  </a:lnTo>
                  <a:lnTo>
                    <a:pt x="82" y="316"/>
                  </a:lnTo>
                  <a:lnTo>
                    <a:pt x="61" y="310"/>
                  </a:lnTo>
                  <a:lnTo>
                    <a:pt x="50" y="305"/>
                  </a:lnTo>
                  <a:lnTo>
                    <a:pt x="43" y="293"/>
                  </a:lnTo>
                  <a:lnTo>
                    <a:pt x="25" y="288"/>
                  </a:lnTo>
                  <a:lnTo>
                    <a:pt x="25" y="285"/>
                  </a:lnTo>
                  <a:lnTo>
                    <a:pt x="29" y="285"/>
                  </a:lnTo>
                  <a:lnTo>
                    <a:pt x="30" y="285"/>
                  </a:lnTo>
                  <a:lnTo>
                    <a:pt x="31" y="283"/>
                  </a:lnTo>
                  <a:lnTo>
                    <a:pt x="23" y="262"/>
                  </a:lnTo>
                  <a:lnTo>
                    <a:pt x="8" y="261"/>
                  </a:lnTo>
                  <a:lnTo>
                    <a:pt x="0" y="246"/>
                  </a:lnTo>
                  <a:lnTo>
                    <a:pt x="6" y="233"/>
                  </a:lnTo>
                  <a:lnTo>
                    <a:pt x="17" y="227"/>
                  </a:lnTo>
                  <a:lnTo>
                    <a:pt x="24" y="226"/>
                  </a:lnTo>
                  <a:lnTo>
                    <a:pt x="32" y="228"/>
                  </a:lnTo>
                  <a:lnTo>
                    <a:pt x="42" y="217"/>
                  </a:lnTo>
                  <a:lnTo>
                    <a:pt x="58" y="213"/>
                  </a:lnTo>
                  <a:lnTo>
                    <a:pt x="68" y="204"/>
                  </a:lnTo>
                  <a:lnTo>
                    <a:pt x="79" y="195"/>
                  </a:lnTo>
                  <a:lnTo>
                    <a:pt x="76" y="186"/>
                  </a:lnTo>
                  <a:lnTo>
                    <a:pt x="79" y="183"/>
                  </a:lnTo>
                  <a:lnTo>
                    <a:pt x="79" y="179"/>
                  </a:lnTo>
                  <a:lnTo>
                    <a:pt x="72" y="166"/>
                  </a:lnTo>
                  <a:lnTo>
                    <a:pt x="66" y="153"/>
                  </a:lnTo>
                  <a:lnTo>
                    <a:pt x="56" y="149"/>
                  </a:lnTo>
                  <a:lnTo>
                    <a:pt x="73" y="142"/>
                  </a:lnTo>
                  <a:lnTo>
                    <a:pt x="94" y="144"/>
                  </a:lnTo>
                  <a:lnTo>
                    <a:pt x="88" y="137"/>
                  </a:lnTo>
                  <a:lnTo>
                    <a:pt x="86" y="123"/>
                  </a:lnTo>
                  <a:lnTo>
                    <a:pt x="84" y="107"/>
                  </a:lnTo>
                  <a:lnTo>
                    <a:pt x="107" y="112"/>
                  </a:lnTo>
                  <a:lnTo>
                    <a:pt x="120" y="109"/>
                  </a:lnTo>
                  <a:lnTo>
                    <a:pt x="113" y="91"/>
                  </a:lnTo>
                  <a:lnTo>
                    <a:pt x="120" y="87"/>
                  </a:lnTo>
                  <a:lnTo>
                    <a:pt x="126" y="75"/>
                  </a:lnTo>
                  <a:lnTo>
                    <a:pt x="137" y="73"/>
                  </a:lnTo>
                  <a:lnTo>
                    <a:pt x="138" y="76"/>
                  </a:lnTo>
                  <a:lnTo>
                    <a:pt x="144" y="82"/>
                  </a:lnTo>
                  <a:lnTo>
                    <a:pt x="164" y="95"/>
                  </a:lnTo>
                  <a:lnTo>
                    <a:pt x="175" y="97"/>
                  </a:lnTo>
                  <a:lnTo>
                    <a:pt x="197" y="112"/>
                  </a:lnTo>
                  <a:lnTo>
                    <a:pt x="202" y="126"/>
                  </a:lnTo>
                  <a:lnTo>
                    <a:pt x="208" y="141"/>
                  </a:lnTo>
                  <a:lnTo>
                    <a:pt x="224" y="143"/>
                  </a:lnTo>
                  <a:lnTo>
                    <a:pt x="241" y="147"/>
                  </a:lnTo>
                  <a:lnTo>
                    <a:pt x="262" y="153"/>
                  </a:lnTo>
                  <a:lnTo>
                    <a:pt x="282" y="159"/>
                  </a:lnTo>
                  <a:lnTo>
                    <a:pt x="295" y="173"/>
                  </a:lnTo>
                  <a:lnTo>
                    <a:pt x="308" y="186"/>
                  </a:lnTo>
                  <a:lnTo>
                    <a:pt x="329" y="187"/>
                  </a:lnTo>
                  <a:lnTo>
                    <a:pt x="348" y="189"/>
                  </a:lnTo>
                  <a:lnTo>
                    <a:pt x="368" y="190"/>
                  </a:lnTo>
                  <a:lnTo>
                    <a:pt x="389" y="191"/>
                  </a:lnTo>
                  <a:lnTo>
                    <a:pt x="395" y="196"/>
                  </a:lnTo>
                  <a:lnTo>
                    <a:pt x="413" y="199"/>
                  </a:lnTo>
                  <a:lnTo>
                    <a:pt x="431" y="203"/>
                  </a:lnTo>
                  <a:lnTo>
                    <a:pt x="442" y="208"/>
                  </a:lnTo>
                  <a:lnTo>
                    <a:pt x="452" y="201"/>
                  </a:lnTo>
                  <a:lnTo>
                    <a:pt x="462" y="195"/>
                  </a:lnTo>
                  <a:lnTo>
                    <a:pt x="480" y="193"/>
                  </a:lnTo>
                  <a:lnTo>
                    <a:pt x="497" y="192"/>
                  </a:lnTo>
                  <a:lnTo>
                    <a:pt x="510" y="180"/>
                  </a:lnTo>
                  <a:lnTo>
                    <a:pt x="523" y="169"/>
                  </a:lnTo>
                  <a:lnTo>
                    <a:pt x="514" y="161"/>
                  </a:lnTo>
                  <a:lnTo>
                    <a:pt x="511" y="144"/>
                  </a:lnTo>
                  <a:lnTo>
                    <a:pt x="533" y="150"/>
                  </a:lnTo>
                  <a:lnTo>
                    <a:pt x="546" y="142"/>
                  </a:lnTo>
                  <a:lnTo>
                    <a:pt x="560" y="138"/>
                  </a:lnTo>
                  <a:lnTo>
                    <a:pt x="563" y="126"/>
                  </a:lnTo>
                  <a:lnTo>
                    <a:pt x="580" y="118"/>
                  </a:lnTo>
                  <a:lnTo>
                    <a:pt x="604" y="118"/>
                  </a:lnTo>
                  <a:lnTo>
                    <a:pt x="600" y="109"/>
                  </a:lnTo>
                  <a:lnTo>
                    <a:pt x="569" y="93"/>
                  </a:lnTo>
                  <a:lnTo>
                    <a:pt x="562" y="100"/>
                  </a:lnTo>
                  <a:lnTo>
                    <a:pt x="557" y="97"/>
                  </a:lnTo>
                  <a:lnTo>
                    <a:pt x="541" y="97"/>
                  </a:lnTo>
                  <a:lnTo>
                    <a:pt x="529" y="90"/>
                  </a:lnTo>
                  <a:lnTo>
                    <a:pt x="533" y="89"/>
                  </a:lnTo>
                  <a:lnTo>
                    <a:pt x="532" y="75"/>
                  </a:lnTo>
                  <a:lnTo>
                    <a:pt x="529" y="61"/>
                  </a:lnTo>
                  <a:lnTo>
                    <a:pt x="550" y="65"/>
                  </a:lnTo>
                  <a:lnTo>
                    <a:pt x="560" y="54"/>
                  </a:lnTo>
                  <a:lnTo>
                    <a:pt x="556" y="41"/>
                  </a:lnTo>
                  <a:lnTo>
                    <a:pt x="554" y="21"/>
                  </a:lnTo>
                  <a:lnTo>
                    <a:pt x="545" y="13"/>
                  </a:lnTo>
                  <a:lnTo>
                    <a:pt x="539" y="11"/>
                  </a:lnTo>
                  <a:lnTo>
                    <a:pt x="548" y="1"/>
                  </a:lnTo>
                  <a:lnTo>
                    <a:pt x="566" y="0"/>
                  </a:lnTo>
                  <a:lnTo>
                    <a:pt x="584" y="0"/>
                  </a:lnTo>
                  <a:lnTo>
                    <a:pt x="619" y="11"/>
                  </a:lnTo>
                  <a:lnTo>
                    <a:pt x="634" y="24"/>
                  </a:lnTo>
                  <a:lnTo>
                    <a:pt x="648" y="36"/>
                  </a:lnTo>
                  <a:lnTo>
                    <a:pt x="662" y="48"/>
                  </a:lnTo>
                  <a:lnTo>
                    <a:pt x="677" y="60"/>
                  </a:lnTo>
                  <a:lnTo>
                    <a:pt x="692" y="66"/>
                  </a:lnTo>
                  <a:lnTo>
                    <a:pt x="718" y="73"/>
                  </a:lnTo>
                  <a:lnTo>
                    <a:pt x="733" y="79"/>
                  </a:lnTo>
                  <a:lnTo>
                    <a:pt x="751" y="99"/>
                  </a:lnTo>
                  <a:lnTo>
                    <a:pt x="773" y="96"/>
                  </a:lnTo>
                  <a:lnTo>
                    <a:pt x="794" y="88"/>
                  </a:lnTo>
                  <a:lnTo>
                    <a:pt x="803" y="103"/>
                  </a:lnTo>
                  <a:lnTo>
                    <a:pt x="805" y="124"/>
                  </a:lnTo>
                  <a:lnTo>
                    <a:pt x="809" y="145"/>
                  </a:lnTo>
                  <a:lnTo>
                    <a:pt x="790" y="142"/>
                  </a:lnTo>
                  <a:lnTo>
                    <a:pt x="787" y="151"/>
                  </a:lnTo>
                  <a:lnTo>
                    <a:pt x="797" y="167"/>
                  </a:lnTo>
                  <a:lnTo>
                    <a:pt x="806" y="183"/>
                  </a:lnTo>
                  <a:lnTo>
                    <a:pt x="800" y="187"/>
                  </a:lnTo>
                  <a:lnTo>
                    <a:pt x="804" y="192"/>
                  </a:lnTo>
                  <a:lnTo>
                    <a:pt x="787" y="183"/>
                  </a:lnTo>
                  <a:lnTo>
                    <a:pt x="787" y="192"/>
                  </a:lnTo>
                  <a:lnTo>
                    <a:pt x="778" y="199"/>
                  </a:lnTo>
                  <a:lnTo>
                    <a:pt x="773" y="201"/>
                  </a:lnTo>
                  <a:lnTo>
                    <a:pt x="779" y="210"/>
                  </a:lnTo>
                  <a:lnTo>
                    <a:pt x="761" y="205"/>
                  </a:lnTo>
                  <a:lnTo>
                    <a:pt x="755" y="208"/>
                  </a:lnTo>
                  <a:lnTo>
                    <a:pt x="746" y="223"/>
                  </a:lnTo>
                  <a:lnTo>
                    <a:pt x="738" y="233"/>
                  </a:lnTo>
                  <a:lnTo>
                    <a:pt x="731" y="238"/>
                  </a:lnTo>
                  <a:lnTo>
                    <a:pt x="721" y="245"/>
                  </a:lnTo>
                  <a:lnTo>
                    <a:pt x="712" y="251"/>
                  </a:lnTo>
                  <a:lnTo>
                    <a:pt x="701" y="256"/>
                  </a:lnTo>
                  <a:lnTo>
                    <a:pt x="707" y="246"/>
                  </a:lnTo>
                  <a:lnTo>
                    <a:pt x="697" y="243"/>
                  </a:lnTo>
                  <a:lnTo>
                    <a:pt x="701" y="225"/>
                  </a:lnTo>
                  <a:lnTo>
                    <a:pt x="692" y="220"/>
                  </a:lnTo>
                  <a:lnTo>
                    <a:pt x="683" y="222"/>
                  </a:lnTo>
                  <a:lnTo>
                    <a:pt x="676" y="233"/>
                  </a:lnTo>
                  <a:lnTo>
                    <a:pt x="668" y="245"/>
                  </a:lnTo>
                  <a:lnTo>
                    <a:pt x="658" y="251"/>
                  </a:lnTo>
                  <a:lnTo>
                    <a:pt x="649" y="252"/>
                  </a:lnTo>
                  <a:lnTo>
                    <a:pt x="654" y="264"/>
                  </a:lnTo>
                  <a:lnTo>
                    <a:pt x="676" y="270"/>
                  </a:lnTo>
                  <a:lnTo>
                    <a:pt x="683" y="285"/>
                  </a:lnTo>
                  <a:lnTo>
                    <a:pt x="694" y="282"/>
                  </a:lnTo>
                  <a:lnTo>
                    <a:pt x="706" y="274"/>
                  </a:lnTo>
                  <a:lnTo>
                    <a:pt x="725" y="281"/>
                  </a:lnTo>
                  <a:lnTo>
                    <a:pt x="734" y="283"/>
                  </a:lnTo>
                  <a:lnTo>
                    <a:pt x="734" y="292"/>
                  </a:lnTo>
                  <a:lnTo>
                    <a:pt x="726" y="291"/>
                  </a:lnTo>
                  <a:lnTo>
                    <a:pt x="716" y="297"/>
                  </a:lnTo>
                  <a:lnTo>
                    <a:pt x="710" y="305"/>
                  </a:lnTo>
                  <a:lnTo>
                    <a:pt x="708" y="311"/>
                  </a:lnTo>
                  <a:lnTo>
                    <a:pt x="706" y="329"/>
                  </a:lnTo>
                  <a:lnTo>
                    <a:pt x="727" y="342"/>
                  </a:lnTo>
                  <a:lnTo>
                    <a:pt x="738" y="355"/>
                  </a:lnTo>
                  <a:lnTo>
                    <a:pt x="748" y="370"/>
                  </a:lnTo>
                  <a:lnTo>
                    <a:pt x="764" y="384"/>
                  </a:lnTo>
                  <a:lnTo>
                    <a:pt x="740" y="377"/>
                  </a:lnTo>
                  <a:lnTo>
                    <a:pt x="742" y="378"/>
                  </a:lnTo>
                  <a:lnTo>
                    <a:pt x="756" y="388"/>
                  </a:lnTo>
                  <a:lnTo>
                    <a:pt x="770" y="397"/>
                  </a:lnTo>
                  <a:lnTo>
                    <a:pt x="756" y="407"/>
                  </a:lnTo>
                  <a:lnTo>
                    <a:pt x="751" y="411"/>
                  </a:lnTo>
                  <a:lnTo>
                    <a:pt x="760" y="412"/>
                  </a:lnTo>
                  <a:lnTo>
                    <a:pt x="769" y="411"/>
                  </a:lnTo>
                  <a:lnTo>
                    <a:pt x="780" y="417"/>
                  </a:lnTo>
                  <a:lnTo>
                    <a:pt x="774" y="424"/>
                  </a:lnTo>
                  <a:lnTo>
                    <a:pt x="780" y="424"/>
                  </a:lnTo>
                  <a:lnTo>
                    <a:pt x="779" y="426"/>
                  </a:lnTo>
                  <a:lnTo>
                    <a:pt x="775" y="430"/>
                  </a:lnTo>
                  <a:lnTo>
                    <a:pt x="776" y="433"/>
                  </a:lnTo>
                  <a:lnTo>
                    <a:pt x="778" y="437"/>
                  </a:lnTo>
                  <a:lnTo>
                    <a:pt x="775" y="437"/>
                  </a:lnTo>
                  <a:lnTo>
                    <a:pt x="779" y="444"/>
                  </a:lnTo>
                  <a:lnTo>
                    <a:pt x="775" y="445"/>
                  </a:lnTo>
                  <a:lnTo>
                    <a:pt x="767" y="449"/>
                  </a:lnTo>
                  <a:lnTo>
                    <a:pt x="770" y="455"/>
                  </a:lnTo>
                  <a:lnTo>
                    <a:pt x="768" y="463"/>
                  </a:lnTo>
                  <a:lnTo>
                    <a:pt x="762" y="477"/>
                  </a:lnTo>
                  <a:lnTo>
                    <a:pt x="760" y="478"/>
                  </a:lnTo>
                  <a:lnTo>
                    <a:pt x="763" y="481"/>
                  </a:lnTo>
                  <a:lnTo>
                    <a:pt x="756" y="485"/>
                  </a:lnTo>
                  <a:lnTo>
                    <a:pt x="755" y="485"/>
                  </a:lnTo>
                  <a:lnTo>
                    <a:pt x="762" y="487"/>
                  </a:lnTo>
                  <a:lnTo>
                    <a:pt x="763" y="497"/>
                  </a:lnTo>
                  <a:lnTo>
                    <a:pt x="758" y="496"/>
                  </a:lnTo>
                  <a:lnTo>
                    <a:pt x="758" y="499"/>
                  </a:lnTo>
                  <a:lnTo>
                    <a:pt x="755" y="503"/>
                  </a:lnTo>
                  <a:lnTo>
                    <a:pt x="754" y="505"/>
                  </a:lnTo>
                  <a:lnTo>
                    <a:pt x="752" y="511"/>
                  </a:lnTo>
                  <a:lnTo>
                    <a:pt x="744" y="513"/>
                  </a:lnTo>
                  <a:lnTo>
                    <a:pt x="743" y="515"/>
                  </a:lnTo>
                  <a:lnTo>
                    <a:pt x="744" y="519"/>
                  </a:lnTo>
                  <a:lnTo>
                    <a:pt x="739" y="525"/>
                  </a:lnTo>
                  <a:lnTo>
                    <a:pt x="726" y="534"/>
                  </a:lnTo>
                  <a:lnTo>
                    <a:pt x="727" y="535"/>
                  </a:lnTo>
                  <a:lnTo>
                    <a:pt x="721" y="540"/>
                  </a:lnTo>
                  <a:lnTo>
                    <a:pt x="713" y="543"/>
                  </a:lnTo>
                  <a:lnTo>
                    <a:pt x="712" y="543"/>
                  </a:lnTo>
                  <a:lnTo>
                    <a:pt x="709" y="545"/>
                  </a:lnTo>
                  <a:lnTo>
                    <a:pt x="702" y="546"/>
                  </a:lnTo>
                  <a:lnTo>
                    <a:pt x="700" y="545"/>
                  </a:lnTo>
                  <a:lnTo>
                    <a:pt x="696" y="547"/>
                  </a:lnTo>
                  <a:lnTo>
                    <a:pt x="694" y="550"/>
                  </a:lnTo>
                  <a:lnTo>
                    <a:pt x="689" y="550"/>
                  </a:lnTo>
                  <a:lnTo>
                    <a:pt x="680" y="538"/>
                  </a:lnTo>
                  <a:lnTo>
                    <a:pt x="677" y="543"/>
                  </a:lnTo>
                  <a:lnTo>
                    <a:pt x="680" y="555"/>
                  </a:lnTo>
                  <a:lnTo>
                    <a:pt x="677" y="550"/>
                  </a:lnTo>
                  <a:lnTo>
                    <a:pt x="677" y="557"/>
                  </a:lnTo>
                  <a:lnTo>
                    <a:pt x="674" y="556"/>
                  </a:lnTo>
                  <a:lnTo>
                    <a:pt x="668" y="562"/>
                  </a:lnTo>
                  <a:lnTo>
                    <a:pt x="665" y="558"/>
                  </a:lnTo>
                  <a:lnTo>
                    <a:pt x="662" y="562"/>
                  </a:lnTo>
                  <a:lnTo>
                    <a:pt x="658" y="561"/>
                  </a:lnTo>
                  <a:lnTo>
                    <a:pt x="648" y="567"/>
                  </a:lnTo>
                  <a:lnTo>
                    <a:pt x="640" y="569"/>
                  </a:lnTo>
                  <a:lnTo>
                    <a:pt x="637" y="570"/>
                  </a:lnTo>
                  <a:lnTo>
                    <a:pt x="636" y="579"/>
                  </a:lnTo>
                  <a:lnTo>
                    <a:pt x="640" y="588"/>
                  </a:lnTo>
                  <a:lnTo>
                    <a:pt x="631" y="587"/>
                  </a:lnTo>
                  <a:lnTo>
                    <a:pt x="628" y="569"/>
                  </a:lnTo>
                  <a:lnTo>
                    <a:pt x="623" y="565"/>
                  </a:lnTo>
                  <a:lnTo>
                    <a:pt x="617" y="567"/>
                  </a:lnTo>
                  <a:lnTo>
                    <a:pt x="611" y="564"/>
                  </a:lnTo>
                  <a:lnTo>
                    <a:pt x="605" y="561"/>
                  </a:lnTo>
                  <a:lnTo>
                    <a:pt x="604" y="563"/>
                  </a:lnTo>
                  <a:lnTo>
                    <a:pt x="598" y="565"/>
                  </a:lnTo>
                  <a:lnTo>
                    <a:pt x="582" y="559"/>
                  </a:lnTo>
                  <a:lnTo>
                    <a:pt x="576" y="555"/>
                  </a:lnTo>
                  <a:lnTo>
                    <a:pt x="574" y="543"/>
                  </a:lnTo>
                  <a:lnTo>
                    <a:pt x="554" y="537"/>
                  </a:lnTo>
                  <a:lnTo>
                    <a:pt x="547" y="535"/>
                  </a:lnTo>
                  <a:lnTo>
                    <a:pt x="539" y="546"/>
                  </a:lnTo>
                  <a:lnTo>
                    <a:pt x="533" y="546"/>
                  </a:lnTo>
                  <a:lnTo>
                    <a:pt x="530" y="547"/>
                  </a:lnTo>
                  <a:lnTo>
                    <a:pt x="527" y="546"/>
                  </a:lnTo>
                  <a:lnTo>
                    <a:pt x="520" y="546"/>
                  </a:lnTo>
                  <a:lnTo>
                    <a:pt x="517" y="549"/>
                  </a:lnTo>
                  <a:lnTo>
                    <a:pt x="509" y="546"/>
                  </a:lnTo>
                  <a:lnTo>
                    <a:pt x="505" y="551"/>
                  </a:lnTo>
                  <a:lnTo>
                    <a:pt x="497" y="551"/>
                  </a:lnTo>
                  <a:lnTo>
                    <a:pt x="500" y="573"/>
                  </a:lnTo>
                  <a:lnTo>
                    <a:pt x="494" y="569"/>
                  </a:lnTo>
                  <a:lnTo>
                    <a:pt x="492" y="565"/>
                  </a:lnTo>
                  <a:lnTo>
                    <a:pt x="487" y="563"/>
                  </a:lnTo>
                  <a:lnTo>
                    <a:pt x="476" y="567"/>
                  </a:lnTo>
                  <a:lnTo>
                    <a:pt x="468" y="557"/>
                  </a:lnTo>
                  <a:lnTo>
                    <a:pt x="460" y="553"/>
                  </a:lnTo>
                  <a:lnTo>
                    <a:pt x="462" y="539"/>
                  </a:lnTo>
                  <a:lnTo>
                    <a:pt x="451" y="534"/>
                  </a:lnTo>
                  <a:lnTo>
                    <a:pt x="448" y="522"/>
                  </a:lnTo>
                  <a:lnTo>
                    <a:pt x="446" y="520"/>
                  </a:lnTo>
                  <a:lnTo>
                    <a:pt x="430" y="522"/>
                  </a:lnTo>
                  <a:lnTo>
                    <a:pt x="430" y="514"/>
                  </a:lnTo>
                  <a:lnTo>
                    <a:pt x="428" y="507"/>
                  </a:lnTo>
                  <a:lnTo>
                    <a:pt x="436" y="495"/>
                  </a:lnTo>
                  <a:lnTo>
                    <a:pt x="438" y="486"/>
                  </a:lnTo>
                  <a:lnTo>
                    <a:pt x="434" y="472"/>
                  </a:lnTo>
                  <a:lnTo>
                    <a:pt x="432" y="457"/>
                  </a:lnTo>
                  <a:lnTo>
                    <a:pt x="425" y="454"/>
                  </a:lnTo>
                  <a:lnTo>
                    <a:pt x="412" y="441"/>
                  </a:lnTo>
                  <a:lnTo>
                    <a:pt x="410" y="447"/>
                  </a:lnTo>
                  <a:lnTo>
                    <a:pt x="394" y="441"/>
                  </a:lnTo>
                  <a:lnTo>
                    <a:pt x="394" y="432"/>
                  </a:lnTo>
                  <a:lnTo>
                    <a:pt x="388" y="431"/>
                  </a:lnTo>
                  <a:lnTo>
                    <a:pt x="389" y="427"/>
                  </a:lnTo>
                  <a:lnTo>
                    <a:pt x="383" y="425"/>
                  </a:lnTo>
                  <a:lnTo>
                    <a:pt x="374" y="430"/>
                  </a:lnTo>
                  <a:lnTo>
                    <a:pt x="361" y="42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5" name="Freeform 254"/>
            <p:cNvSpPr>
              <a:spLocks/>
            </p:cNvSpPr>
            <p:nvPr/>
          </p:nvSpPr>
          <p:spPr bwMode="auto">
            <a:xfrm>
              <a:off x="4415" y="2307"/>
              <a:ext cx="40" cy="34"/>
            </a:xfrm>
            <a:custGeom>
              <a:avLst/>
              <a:gdLst/>
              <a:ahLst/>
              <a:cxnLst>
                <a:cxn ang="0">
                  <a:pos x="26" y="0"/>
                </a:cxn>
                <a:cxn ang="0">
                  <a:pos x="11" y="3"/>
                </a:cxn>
                <a:cxn ang="0">
                  <a:pos x="0" y="10"/>
                </a:cxn>
                <a:cxn ang="0">
                  <a:pos x="1" y="24"/>
                </a:cxn>
                <a:cxn ang="0">
                  <a:pos x="13" y="30"/>
                </a:cxn>
                <a:cxn ang="0">
                  <a:pos x="19" y="29"/>
                </a:cxn>
                <a:cxn ang="0">
                  <a:pos x="29" y="18"/>
                </a:cxn>
                <a:cxn ang="0">
                  <a:pos x="35" y="6"/>
                </a:cxn>
                <a:cxn ang="0">
                  <a:pos x="32" y="0"/>
                </a:cxn>
                <a:cxn ang="0">
                  <a:pos x="26" y="0"/>
                </a:cxn>
              </a:cxnLst>
              <a:rect l="0" t="0" r="r" b="b"/>
              <a:pathLst>
                <a:path w="35" h="30">
                  <a:moveTo>
                    <a:pt x="26" y="0"/>
                  </a:moveTo>
                  <a:lnTo>
                    <a:pt x="11" y="3"/>
                  </a:lnTo>
                  <a:lnTo>
                    <a:pt x="0" y="10"/>
                  </a:lnTo>
                  <a:lnTo>
                    <a:pt x="1" y="24"/>
                  </a:lnTo>
                  <a:lnTo>
                    <a:pt x="13" y="30"/>
                  </a:lnTo>
                  <a:lnTo>
                    <a:pt x="19" y="29"/>
                  </a:lnTo>
                  <a:lnTo>
                    <a:pt x="29" y="18"/>
                  </a:lnTo>
                  <a:lnTo>
                    <a:pt x="35" y="6"/>
                  </a:lnTo>
                  <a:lnTo>
                    <a:pt x="32" y="0"/>
                  </a:lnTo>
                  <a:lnTo>
                    <a:pt x="2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6" name="Freeform 255"/>
            <p:cNvSpPr>
              <a:spLocks/>
            </p:cNvSpPr>
            <p:nvPr/>
          </p:nvSpPr>
          <p:spPr bwMode="auto">
            <a:xfrm>
              <a:off x="4713" y="1879"/>
              <a:ext cx="149" cy="157"/>
            </a:xfrm>
            <a:custGeom>
              <a:avLst/>
              <a:gdLst/>
              <a:ahLst/>
              <a:cxnLst>
                <a:cxn ang="0">
                  <a:pos x="125" y="108"/>
                </a:cxn>
                <a:cxn ang="0">
                  <a:pos x="122" y="103"/>
                </a:cxn>
                <a:cxn ang="0">
                  <a:pos x="123" y="112"/>
                </a:cxn>
                <a:cxn ang="0">
                  <a:pos x="116" y="114"/>
                </a:cxn>
                <a:cxn ang="0">
                  <a:pos x="114" y="121"/>
                </a:cxn>
                <a:cxn ang="0">
                  <a:pos x="111" y="113"/>
                </a:cxn>
                <a:cxn ang="0">
                  <a:pos x="107" y="122"/>
                </a:cxn>
                <a:cxn ang="0">
                  <a:pos x="90" y="121"/>
                </a:cxn>
                <a:cxn ang="0">
                  <a:pos x="86" y="119"/>
                </a:cxn>
                <a:cxn ang="0">
                  <a:pos x="81" y="115"/>
                </a:cxn>
                <a:cxn ang="0">
                  <a:pos x="83" y="124"/>
                </a:cxn>
                <a:cxn ang="0">
                  <a:pos x="87" y="128"/>
                </a:cxn>
                <a:cxn ang="0">
                  <a:pos x="81" y="136"/>
                </a:cxn>
                <a:cxn ang="0">
                  <a:pos x="78" y="143"/>
                </a:cxn>
                <a:cxn ang="0">
                  <a:pos x="64" y="132"/>
                </a:cxn>
                <a:cxn ang="0">
                  <a:pos x="63" y="120"/>
                </a:cxn>
                <a:cxn ang="0">
                  <a:pos x="44" y="122"/>
                </a:cxn>
                <a:cxn ang="0">
                  <a:pos x="23" y="127"/>
                </a:cxn>
                <a:cxn ang="0">
                  <a:pos x="17" y="134"/>
                </a:cxn>
                <a:cxn ang="0">
                  <a:pos x="0" y="132"/>
                </a:cxn>
                <a:cxn ang="0">
                  <a:pos x="3" y="126"/>
                </a:cxn>
                <a:cxn ang="0">
                  <a:pos x="14" y="115"/>
                </a:cxn>
                <a:cxn ang="0">
                  <a:pos x="23" y="106"/>
                </a:cxn>
                <a:cxn ang="0">
                  <a:pos x="38" y="104"/>
                </a:cxn>
                <a:cxn ang="0">
                  <a:pos x="53" y="103"/>
                </a:cxn>
                <a:cxn ang="0">
                  <a:pos x="57" y="106"/>
                </a:cxn>
                <a:cxn ang="0">
                  <a:pos x="65" y="101"/>
                </a:cxn>
                <a:cxn ang="0">
                  <a:pos x="63" y="91"/>
                </a:cxn>
                <a:cxn ang="0">
                  <a:pos x="62" y="77"/>
                </a:cxn>
                <a:cxn ang="0">
                  <a:pos x="68" y="73"/>
                </a:cxn>
                <a:cxn ang="0">
                  <a:pos x="66" y="78"/>
                </a:cxn>
                <a:cxn ang="0">
                  <a:pos x="72" y="84"/>
                </a:cxn>
                <a:cxn ang="0">
                  <a:pos x="80" y="77"/>
                </a:cxn>
                <a:cxn ang="0">
                  <a:pos x="87" y="70"/>
                </a:cxn>
                <a:cxn ang="0">
                  <a:pos x="89" y="56"/>
                </a:cxn>
                <a:cxn ang="0">
                  <a:pos x="90" y="42"/>
                </a:cxn>
                <a:cxn ang="0">
                  <a:pos x="82" y="29"/>
                </a:cxn>
                <a:cxn ang="0">
                  <a:pos x="76" y="13"/>
                </a:cxn>
                <a:cxn ang="0">
                  <a:pos x="77" y="5"/>
                </a:cxn>
                <a:cxn ang="0">
                  <a:pos x="86" y="10"/>
                </a:cxn>
                <a:cxn ang="0">
                  <a:pos x="89" y="7"/>
                </a:cxn>
                <a:cxn ang="0">
                  <a:pos x="87" y="4"/>
                </a:cxn>
                <a:cxn ang="0">
                  <a:pos x="81" y="4"/>
                </a:cxn>
                <a:cxn ang="0">
                  <a:pos x="82" y="0"/>
                </a:cxn>
                <a:cxn ang="0">
                  <a:pos x="89" y="2"/>
                </a:cxn>
                <a:cxn ang="0">
                  <a:pos x="102" y="18"/>
                </a:cxn>
                <a:cxn ang="0">
                  <a:pos x="118" y="34"/>
                </a:cxn>
                <a:cxn ang="0">
                  <a:pos x="119" y="55"/>
                </a:cxn>
                <a:cxn ang="0">
                  <a:pos x="116" y="61"/>
                </a:cxn>
                <a:cxn ang="0">
                  <a:pos x="124" y="84"/>
                </a:cxn>
                <a:cxn ang="0">
                  <a:pos x="135" y="101"/>
                </a:cxn>
                <a:cxn ang="0">
                  <a:pos x="129" y="118"/>
                </a:cxn>
                <a:cxn ang="0">
                  <a:pos x="125" y="108"/>
                </a:cxn>
              </a:cxnLst>
              <a:rect l="0" t="0" r="r" b="b"/>
              <a:pathLst>
                <a:path w="135" h="143">
                  <a:moveTo>
                    <a:pt x="125" y="108"/>
                  </a:moveTo>
                  <a:lnTo>
                    <a:pt x="122" y="103"/>
                  </a:lnTo>
                  <a:lnTo>
                    <a:pt x="123" y="112"/>
                  </a:lnTo>
                  <a:lnTo>
                    <a:pt x="116" y="114"/>
                  </a:lnTo>
                  <a:lnTo>
                    <a:pt x="114" y="121"/>
                  </a:lnTo>
                  <a:lnTo>
                    <a:pt x="111" y="113"/>
                  </a:lnTo>
                  <a:lnTo>
                    <a:pt x="107" y="122"/>
                  </a:lnTo>
                  <a:lnTo>
                    <a:pt x="90" y="121"/>
                  </a:lnTo>
                  <a:lnTo>
                    <a:pt x="86" y="119"/>
                  </a:lnTo>
                  <a:lnTo>
                    <a:pt x="81" y="115"/>
                  </a:lnTo>
                  <a:lnTo>
                    <a:pt x="83" y="124"/>
                  </a:lnTo>
                  <a:lnTo>
                    <a:pt x="87" y="128"/>
                  </a:lnTo>
                  <a:lnTo>
                    <a:pt x="81" y="136"/>
                  </a:lnTo>
                  <a:lnTo>
                    <a:pt x="78" y="143"/>
                  </a:lnTo>
                  <a:lnTo>
                    <a:pt x="64" y="132"/>
                  </a:lnTo>
                  <a:lnTo>
                    <a:pt x="63" y="120"/>
                  </a:lnTo>
                  <a:lnTo>
                    <a:pt x="44" y="122"/>
                  </a:lnTo>
                  <a:lnTo>
                    <a:pt x="23" y="127"/>
                  </a:lnTo>
                  <a:lnTo>
                    <a:pt x="17" y="134"/>
                  </a:lnTo>
                  <a:lnTo>
                    <a:pt x="0" y="132"/>
                  </a:lnTo>
                  <a:lnTo>
                    <a:pt x="3" y="126"/>
                  </a:lnTo>
                  <a:lnTo>
                    <a:pt x="14" y="115"/>
                  </a:lnTo>
                  <a:lnTo>
                    <a:pt x="23" y="106"/>
                  </a:lnTo>
                  <a:lnTo>
                    <a:pt x="38" y="104"/>
                  </a:lnTo>
                  <a:lnTo>
                    <a:pt x="53" y="103"/>
                  </a:lnTo>
                  <a:lnTo>
                    <a:pt x="57" y="106"/>
                  </a:lnTo>
                  <a:lnTo>
                    <a:pt x="65" y="101"/>
                  </a:lnTo>
                  <a:lnTo>
                    <a:pt x="63" y="91"/>
                  </a:lnTo>
                  <a:lnTo>
                    <a:pt x="62" y="77"/>
                  </a:lnTo>
                  <a:lnTo>
                    <a:pt x="68" y="73"/>
                  </a:lnTo>
                  <a:lnTo>
                    <a:pt x="66" y="78"/>
                  </a:lnTo>
                  <a:lnTo>
                    <a:pt x="72" y="84"/>
                  </a:lnTo>
                  <a:lnTo>
                    <a:pt x="80" y="77"/>
                  </a:lnTo>
                  <a:lnTo>
                    <a:pt x="87" y="70"/>
                  </a:lnTo>
                  <a:lnTo>
                    <a:pt x="89" y="56"/>
                  </a:lnTo>
                  <a:lnTo>
                    <a:pt x="90" y="42"/>
                  </a:lnTo>
                  <a:lnTo>
                    <a:pt x="82" y="29"/>
                  </a:lnTo>
                  <a:lnTo>
                    <a:pt x="76" y="13"/>
                  </a:lnTo>
                  <a:lnTo>
                    <a:pt x="77" y="5"/>
                  </a:lnTo>
                  <a:lnTo>
                    <a:pt x="86" y="10"/>
                  </a:lnTo>
                  <a:lnTo>
                    <a:pt x="89" y="7"/>
                  </a:lnTo>
                  <a:lnTo>
                    <a:pt x="87" y="4"/>
                  </a:lnTo>
                  <a:lnTo>
                    <a:pt x="81" y="4"/>
                  </a:lnTo>
                  <a:lnTo>
                    <a:pt x="82" y="0"/>
                  </a:lnTo>
                  <a:lnTo>
                    <a:pt x="89" y="2"/>
                  </a:lnTo>
                  <a:lnTo>
                    <a:pt x="102" y="18"/>
                  </a:lnTo>
                  <a:lnTo>
                    <a:pt x="118" y="34"/>
                  </a:lnTo>
                  <a:lnTo>
                    <a:pt x="119" y="55"/>
                  </a:lnTo>
                  <a:lnTo>
                    <a:pt x="116" y="61"/>
                  </a:lnTo>
                  <a:lnTo>
                    <a:pt x="124" y="84"/>
                  </a:lnTo>
                  <a:lnTo>
                    <a:pt x="135" y="101"/>
                  </a:lnTo>
                  <a:lnTo>
                    <a:pt x="129" y="118"/>
                  </a:lnTo>
                  <a:lnTo>
                    <a:pt x="125" y="1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7" name="Freeform 256"/>
            <p:cNvSpPr>
              <a:spLocks/>
            </p:cNvSpPr>
            <p:nvPr/>
          </p:nvSpPr>
          <p:spPr bwMode="auto">
            <a:xfrm>
              <a:off x="4766" y="1799"/>
              <a:ext cx="87" cy="80"/>
            </a:xfrm>
            <a:custGeom>
              <a:avLst/>
              <a:gdLst/>
              <a:ahLst/>
              <a:cxnLst>
                <a:cxn ang="0">
                  <a:pos x="61" y="28"/>
                </a:cxn>
                <a:cxn ang="0">
                  <a:pos x="47" y="24"/>
                </a:cxn>
                <a:cxn ang="0">
                  <a:pos x="24" y="12"/>
                </a:cxn>
                <a:cxn ang="0">
                  <a:pos x="0" y="0"/>
                </a:cxn>
                <a:cxn ang="0">
                  <a:pos x="5" y="10"/>
                </a:cxn>
                <a:cxn ang="0">
                  <a:pos x="12" y="25"/>
                </a:cxn>
                <a:cxn ang="0">
                  <a:pos x="19" y="40"/>
                </a:cxn>
                <a:cxn ang="0">
                  <a:pos x="9" y="40"/>
                </a:cxn>
                <a:cxn ang="0">
                  <a:pos x="6" y="42"/>
                </a:cxn>
                <a:cxn ang="0">
                  <a:pos x="7" y="49"/>
                </a:cxn>
                <a:cxn ang="0">
                  <a:pos x="10" y="59"/>
                </a:cxn>
                <a:cxn ang="0">
                  <a:pos x="21" y="72"/>
                </a:cxn>
                <a:cxn ang="0">
                  <a:pos x="24" y="68"/>
                </a:cxn>
                <a:cxn ang="0">
                  <a:pos x="31" y="67"/>
                </a:cxn>
                <a:cxn ang="0">
                  <a:pos x="13" y="55"/>
                </a:cxn>
                <a:cxn ang="0">
                  <a:pos x="22" y="55"/>
                </a:cxn>
                <a:cxn ang="0">
                  <a:pos x="28" y="53"/>
                </a:cxn>
                <a:cxn ang="0">
                  <a:pos x="58" y="61"/>
                </a:cxn>
                <a:cxn ang="0">
                  <a:pos x="59" y="58"/>
                </a:cxn>
                <a:cxn ang="0">
                  <a:pos x="66" y="46"/>
                </a:cxn>
                <a:cxn ang="0">
                  <a:pos x="78" y="40"/>
                </a:cxn>
                <a:cxn ang="0">
                  <a:pos x="71" y="35"/>
                </a:cxn>
                <a:cxn ang="0">
                  <a:pos x="65" y="22"/>
                </a:cxn>
                <a:cxn ang="0">
                  <a:pos x="61" y="28"/>
                </a:cxn>
              </a:cxnLst>
              <a:rect l="0" t="0" r="r" b="b"/>
              <a:pathLst>
                <a:path w="78" h="72">
                  <a:moveTo>
                    <a:pt x="61" y="28"/>
                  </a:moveTo>
                  <a:lnTo>
                    <a:pt x="47" y="24"/>
                  </a:lnTo>
                  <a:lnTo>
                    <a:pt x="24" y="12"/>
                  </a:lnTo>
                  <a:lnTo>
                    <a:pt x="0" y="0"/>
                  </a:lnTo>
                  <a:lnTo>
                    <a:pt x="5" y="10"/>
                  </a:lnTo>
                  <a:lnTo>
                    <a:pt x="12" y="25"/>
                  </a:lnTo>
                  <a:lnTo>
                    <a:pt x="19" y="40"/>
                  </a:lnTo>
                  <a:lnTo>
                    <a:pt x="9" y="40"/>
                  </a:lnTo>
                  <a:lnTo>
                    <a:pt x="6" y="42"/>
                  </a:lnTo>
                  <a:lnTo>
                    <a:pt x="7" y="49"/>
                  </a:lnTo>
                  <a:lnTo>
                    <a:pt x="10" y="59"/>
                  </a:lnTo>
                  <a:lnTo>
                    <a:pt x="21" y="72"/>
                  </a:lnTo>
                  <a:lnTo>
                    <a:pt x="24" y="68"/>
                  </a:lnTo>
                  <a:lnTo>
                    <a:pt x="31" y="67"/>
                  </a:lnTo>
                  <a:lnTo>
                    <a:pt x="13" y="55"/>
                  </a:lnTo>
                  <a:lnTo>
                    <a:pt x="22" y="55"/>
                  </a:lnTo>
                  <a:lnTo>
                    <a:pt x="28" y="53"/>
                  </a:lnTo>
                  <a:lnTo>
                    <a:pt x="58" y="61"/>
                  </a:lnTo>
                  <a:lnTo>
                    <a:pt x="59" y="58"/>
                  </a:lnTo>
                  <a:lnTo>
                    <a:pt x="66" y="46"/>
                  </a:lnTo>
                  <a:lnTo>
                    <a:pt x="78" y="40"/>
                  </a:lnTo>
                  <a:lnTo>
                    <a:pt x="71" y="35"/>
                  </a:lnTo>
                  <a:lnTo>
                    <a:pt x="65" y="22"/>
                  </a:lnTo>
                  <a:lnTo>
                    <a:pt x="61"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8" name="Freeform 257"/>
            <p:cNvSpPr>
              <a:spLocks/>
            </p:cNvSpPr>
            <p:nvPr/>
          </p:nvSpPr>
          <p:spPr bwMode="auto">
            <a:xfrm>
              <a:off x="4700" y="2030"/>
              <a:ext cx="42" cy="53"/>
            </a:xfrm>
            <a:custGeom>
              <a:avLst/>
              <a:gdLst/>
              <a:ahLst/>
              <a:cxnLst>
                <a:cxn ang="0">
                  <a:pos x="40" y="16"/>
                </a:cxn>
                <a:cxn ang="0">
                  <a:pos x="39" y="30"/>
                </a:cxn>
                <a:cxn ang="0">
                  <a:pos x="37" y="43"/>
                </a:cxn>
                <a:cxn ang="0">
                  <a:pos x="33" y="49"/>
                </a:cxn>
                <a:cxn ang="0">
                  <a:pos x="27" y="39"/>
                </a:cxn>
                <a:cxn ang="0">
                  <a:pos x="28" y="48"/>
                </a:cxn>
                <a:cxn ang="0">
                  <a:pos x="23" y="43"/>
                </a:cxn>
                <a:cxn ang="0">
                  <a:pos x="19" y="30"/>
                </a:cxn>
                <a:cxn ang="0">
                  <a:pos x="19" y="22"/>
                </a:cxn>
                <a:cxn ang="0">
                  <a:pos x="10" y="13"/>
                </a:cxn>
                <a:cxn ang="0">
                  <a:pos x="15" y="22"/>
                </a:cxn>
                <a:cxn ang="0">
                  <a:pos x="9" y="22"/>
                </a:cxn>
                <a:cxn ang="0">
                  <a:pos x="5" y="15"/>
                </a:cxn>
                <a:cxn ang="0">
                  <a:pos x="7" y="15"/>
                </a:cxn>
                <a:cxn ang="0">
                  <a:pos x="0" y="9"/>
                </a:cxn>
                <a:cxn ang="0">
                  <a:pos x="16" y="0"/>
                </a:cxn>
                <a:cxn ang="0">
                  <a:pos x="25" y="4"/>
                </a:cxn>
                <a:cxn ang="0">
                  <a:pos x="30" y="8"/>
                </a:cxn>
                <a:cxn ang="0">
                  <a:pos x="31" y="10"/>
                </a:cxn>
                <a:cxn ang="0">
                  <a:pos x="40" y="16"/>
                </a:cxn>
              </a:cxnLst>
              <a:rect l="0" t="0" r="r" b="b"/>
              <a:pathLst>
                <a:path w="40" h="49">
                  <a:moveTo>
                    <a:pt x="40" y="16"/>
                  </a:moveTo>
                  <a:lnTo>
                    <a:pt x="39" y="30"/>
                  </a:lnTo>
                  <a:lnTo>
                    <a:pt x="37" y="43"/>
                  </a:lnTo>
                  <a:lnTo>
                    <a:pt x="33" y="49"/>
                  </a:lnTo>
                  <a:lnTo>
                    <a:pt x="27" y="39"/>
                  </a:lnTo>
                  <a:lnTo>
                    <a:pt x="28" y="48"/>
                  </a:lnTo>
                  <a:lnTo>
                    <a:pt x="23" y="43"/>
                  </a:lnTo>
                  <a:lnTo>
                    <a:pt x="19" y="30"/>
                  </a:lnTo>
                  <a:lnTo>
                    <a:pt x="19" y="22"/>
                  </a:lnTo>
                  <a:lnTo>
                    <a:pt x="10" y="13"/>
                  </a:lnTo>
                  <a:lnTo>
                    <a:pt x="15" y="22"/>
                  </a:lnTo>
                  <a:lnTo>
                    <a:pt x="9" y="22"/>
                  </a:lnTo>
                  <a:lnTo>
                    <a:pt x="5" y="15"/>
                  </a:lnTo>
                  <a:lnTo>
                    <a:pt x="7" y="15"/>
                  </a:lnTo>
                  <a:lnTo>
                    <a:pt x="0" y="9"/>
                  </a:lnTo>
                  <a:lnTo>
                    <a:pt x="16" y="0"/>
                  </a:lnTo>
                  <a:lnTo>
                    <a:pt x="25" y="4"/>
                  </a:lnTo>
                  <a:lnTo>
                    <a:pt x="30" y="8"/>
                  </a:lnTo>
                  <a:lnTo>
                    <a:pt x="31" y="10"/>
                  </a:lnTo>
                  <a:lnTo>
                    <a:pt x="40"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9" name="Freeform 258"/>
            <p:cNvSpPr>
              <a:spLocks/>
            </p:cNvSpPr>
            <p:nvPr/>
          </p:nvSpPr>
          <p:spPr bwMode="auto">
            <a:xfrm>
              <a:off x="4740" y="2021"/>
              <a:ext cx="40" cy="31"/>
            </a:xfrm>
            <a:custGeom>
              <a:avLst/>
              <a:gdLst/>
              <a:ahLst/>
              <a:cxnLst>
                <a:cxn ang="0">
                  <a:pos x="29" y="18"/>
                </a:cxn>
                <a:cxn ang="0">
                  <a:pos x="17" y="18"/>
                </a:cxn>
                <a:cxn ang="0">
                  <a:pos x="16" y="29"/>
                </a:cxn>
                <a:cxn ang="0">
                  <a:pos x="6" y="22"/>
                </a:cxn>
                <a:cxn ang="0">
                  <a:pos x="3" y="16"/>
                </a:cxn>
                <a:cxn ang="0">
                  <a:pos x="0" y="17"/>
                </a:cxn>
                <a:cxn ang="0">
                  <a:pos x="9" y="6"/>
                </a:cxn>
                <a:cxn ang="0">
                  <a:pos x="17" y="5"/>
                </a:cxn>
                <a:cxn ang="0">
                  <a:pos x="26" y="0"/>
                </a:cxn>
                <a:cxn ang="0">
                  <a:pos x="33" y="5"/>
                </a:cxn>
                <a:cxn ang="0">
                  <a:pos x="36" y="10"/>
                </a:cxn>
                <a:cxn ang="0">
                  <a:pos x="29" y="18"/>
                </a:cxn>
              </a:cxnLst>
              <a:rect l="0" t="0" r="r" b="b"/>
              <a:pathLst>
                <a:path w="36" h="29">
                  <a:moveTo>
                    <a:pt x="29" y="18"/>
                  </a:moveTo>
                  <a:lnTo>
                    <a:pt x="17" y="18"/>
                  </a:lnTo>
                  <a:lnTo>
                    <a:pt x="16" y="29"/>
                  </a:lnTo>
                  <a:lnTo>
                    <a:pt x="6" y="22"/>
                  </a:lnTo>
                  <a:lnTo>
                    <a:pt x="3" y="16"/>
                  </a:lnTo>
                  <a:lnTo>
                    <a:pt x="0" y="17"/>
                  </a:lnTo>
                  <a:lnTo>
                    <a:pt x="9" y="6"/>
                  </a:lnTo>
                  <a:lnTo>
                    <a:pt x="17" y="5"/>
                  </a:lnTo>
                  <a:lnTo>
                    <a:pt x="26" y="0"/>
                  </a:lnTo>
                  <a:lnTo>
                    <a:pt x="33" y="5"/>
                  </a:lnTo>
                  <a:lnTo>
                    <a:pt x="36" y="10"/>
                  </a:lnTo>
                  <a:lnTo>
                    <a:pt x="2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0" name="Freeform 259"/>
            <p:cNvSpPr>
              <a:spLocks/>
            </p:cNvSpPr>
            <p:nvPr/>
          </p:nvSpPr>
          <p:spPr bwMode="auto">
            <a:xfrm>
              <a:off x="4713" y="2170"/>
              <a:ext cx="9" cy="13"/>
            </a:xfrm>
            <a:custGeom>
              <a:avLst/>
              <a:gdLst/>
              <a:ahLst/>
              <a:cxnLst>
                <a:cxn ang="0">
                  <a:pos x="0" y="12"/>
                </a:cxn>
                <a:cxn ang="0">
                  <a:pos x="8" y="1"/>
                </a:cxn>
                <a:cxn ang="0">
                  <a:pos x="6" y="0"/>
                </a:cxn>
                <a:cxn ang="0">
                  <a:pos x="0" y="12"/>
                </a:cxn>
              </a:cxnLst>
              <a:rect l="0" t="0" r="r" b="b"/>
              <a:pathLst>
                <a:path w="8" h="12">
                  <a:moveTo>
                    <a:pt x="0" y="12"/>
                  </a:moveTo>
                  <a:lnTo>
                    <a:pt x="8" y="1"/>
                  </a:lnTo>
                  <a:lnTo>
                    <a:pt x="6" y="0"/>
                  </a:lnTo>
                  <a:lnTo>
                    <a:pt x="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1" name="Freeform 260"/>
            <p:cNvSpPr>
              <a:spLocks/>
            </p:cNvSpPr>
            <p:nvPr/>
          </p:nvSpPr>
          <p:spPr bwMode="auto">
            <a:xfrm>
              <a:off x="4800" y="1941"/>
              <a:ext cx="2" cy="6"/>
            </a:xfrm>
            <a:custGeom>
              <a:avLst/>
              <a:gdLst/>
              <a:ahLst/>
              <a:cxnLst>
                <a:cxn ang="0">
                  <a:pos x="4" y="6"/>
                </a:cxn>
                <a:cxn ang="0">
                  <a:pos x="0" y="0"/>
                </a:cxn>
                <a:cxn ang="0">
                  <a:pos x="0" y="6"/>
                </a:cxn>
                <a:cxn ang="0">
                  <a:pos x="4" y="6"/>
                </a:cxn>
              </a:cxnLst>
              <a:rect l="0" t="0" r="r" b="b"/>
              <a:pathLst>
                <a:path w="4" h="6">
                  <a:moveTo>
                    <a:pt x="4" y="6"/>
                  </a:moveTo>
                  <a:lnTo>
                    <a:pt x="0" y="0"/>
                  </a:lnTo>
                  <a:lnTo>
                    <a:pt x="0" y="6"/>
                  </a:lnTo>
                  <a:lnTo>
                    <a:pt x="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2" name="Freeform 261"/>
            <p:cNvSpPr>
              <a:spLocks/>
            </p:cNvSpPr>
            <p:nvPr/>
          </p:nvSpPr>
          <p:spPr bwMode="auto">
            <a:xfrm>
              <a:off x="4713" y="2056"/>
              <a:ext cx="2" cy="5"/>
            </a:xfrm>
            <a:custGeom>
              <a:avLst/>
              <a:gdLst/>
              <a:ahLst/>
              <a:cxnLst>
                <a:cxn ang="0">
                  <a:pos x="3" y="0"/>
                </a:cxn>
                <a:cxn ang="0">
                  <a:pos x="4" y="2"/>
                </a:cxn>
                <a:cxn ang="0">
                  <a:pos x="0" y="2"/>
                </a:cxn>
                <a:cxn ang="0">
                  <a:pos x="3" y="0"/>
                </a:cxn>
              </a:cxnLst>
              <a:rect l="0" t="0" r="r" b="b"/>
              <a:pathLst>
                <a:path w="4" h="2">
                  <a:moveTo>
                    <a:pt x="3" y="0"/>
                  </a:moveTo>
                  <a:lnTo>
                    <a:pt x="4" y="2"/>
                  </a:lnTo>
                  <a:lnTo>
                    <a:pt x="0" y="2"/>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3" name="Freeform 262"/>
            <p:cNvSpPr>
              <a:spLocks/>
            </p:cNvSpPr>
            <p:nvPr/>
          </p:nvSpPr>
          <p:spPr bwMode="auto">
            <a:xfrm>
              <a:off x="4551" y="1850"/>
              <a:ext cx="78" cy="100"/>
            </a:xfrm>
            <a:custGeom>
              <a:avLst/>
              <a:gdLst/>
              <a:ahLst/>
              <a:cxnLst>
                <a:cxn ang="0">
                  <a:pos x="18" y="61"/>
                </a:cxn>
                <a:cxn ang="0">
                  <a:pos x="8" y="58"/>
                </a:cxn>
                <a:cxn ang="0">
                  <a:pos x="0" y="50"/>
                </a:cxn>
                <a:cxn ang="0">
                  <a:pos x="8" y="40"/>
                </a:cxn>
                <a:cxn ang="0">
                  <a:pos x="17" y="25"/>
                </a:cxn>
                <a:cxn ang="0">
                  <a:pos x="23" y="22"/>
                </a:cxn>
                <a:cxn ang="0">
                  <a:pos x="41" y="27"/>
                </a:cxn>
                <a:cxn ang="0">
                  <a:pos x="35" y="18"/>
                </a:cxn>
                <a:cxn ang="0">
                  <a:pos x="40" y="16"/>
                </a:cxn>
                <a:cxn ang="0">
                  <a:pos x="49" y="9"/>
                </a:cxn>
                <a:cxn ang="0">
                  <a:pos x="49" y="0"/>
                </a:cxn>
                <a:cxn ang="0">
                  <a:pos x="66" y="9"/>
                </a:cxn>
                <a:cxn ang="0">
                  <a:pos x="70" y="12"/>
                </a:cxn>
                <a:cxn ang="0">
                  <a:pos x="61" y="21"/>
                </a:cxn>
                <a:cxn ang="0">
                  <a:pos x="67" y="38"/>
                </a:cxn>
                <a:cxn ang="0">
                  <a:pos x="60" y="49"/>
                </a:cxn>
                <a:cxn ang="0">
                  <a:pos x="52" y="60"/>
                </a:cxn>
                <a:cxn ang="0">
                  <a:pos x="54" y="67"/>
                </a:cxn>
                <a:cxn ang="0">
                  <a:pos x="71" y="76"/>
                </a:cxn>
                <a:cxn ang="0">
                  <a:pos x="65" y="81"/>
                </a:cxn>
                <a:cxn ang="0">
                  <a:pos x="53" y="87"/>
                </a:cxn>
                <a:cxn ang="0">
                  <a:pos x="53" y="91"/>
                </a:cxn>
                <a:cxn ang="0">
                  <a:pos x="38" y="88"/>
                </a:cxn>
                <a:cxn ang="0">
                  <a:pos x="35" y="91"/>
                </a:cxn>
                <a:cxn ang="0">
                  <a:pos x="28" y="87"/>
                </a:cxn>
                <a:cxn ang="0">
                  <a:pos x="23" y="85"/>
                </a:cxn>
                <a:cxn ang="0">
                  <a:pos x="26" y="75"/>
                </a:cxn>
                <a:cxn ang="0">
                  <a:pos x="28" y="75"/>
                </a:cxn>
                <a:cxn ang="0">
                  <a:pos x="22" y="70"/>
                </a:cxn>
                <a:cxn ang="0">
                  <a:pos x="18" y="61"/>
                </a:cxn>
              </a:cxnLst>
              <a:rect l="0" t="0" r="r" b="b"/>
              <a:pathLst>
                <a:path w="71" h="91">
                  <a:moveTo>
                    <a:pt x="18" y="61"/>
                  </a:moveTo>
                  <a:lnTo>
                    <a:pt x="8" y="58"/>
                  </a:lnTo>
                  <a:lnTo>
                    <a:pt x="0" y="50"/>
                  </a:lnTo>
                  <a:lnTo>
                    <a:pt x="8" y="40"/>
                  </a:lnTo>
                  <a:lnTo>
                    <a:pt x="17" y="25"/>
                  </a:lnTo>
                  <a:lnTo>
                    <a:pt x="23" y="22"/>
                  </a:lnTo>
                  <a:lnTo>
                    <a:pt x="41" y="27"/>
                  </a:lnTo>
                  <a:lnTo>
                    <a:pt x="35" y="18"/>
                  </a:lnTo>
                  <a:lnTo>
                    <a:pt x="40" y="16"/>
                  </a:lnTo>
                  <a:lnTo>
                    <a:pt x="49" y="9"/>
                  </a:lnTo>
                  <a:lnTo>
                    <a:pt x="49" y="0"/>
                  </a:lnTo>
                  <a:lnTo>
                    <a:pt x="66" y="9"/>
                  </a:lnTo>
                  <a:lnTo>
                    <a:pt x="70" y="12"/>
                  </a:lnTo>
                  <a:lnTo>
                    <a:pt x="61" y="21"/>
                  </a:lnTo>
                  <a:lnTo>
                    <a:pt x="67" y="38"/>
                  </a:lnTo>
                  <a:lnTo>
                    <a:pt x="60" y="49"/>
                  </a:lnTo>
                  <a:lnTo>
                    <a:pt x="52" y="60"/>
                  </a:lnTo>
                  <a:lnTo>
                    <a:pt x="54" y="67"/>
                  </a:lnTo>
                  <a:lnTo>
                    <a:pt x="71" y="76"/>
                  </a:lnTo>
                  <a:lnTo>
                    <a:pt x="65" y="81"/>
                  </a:lnTo>
                  <a:lnTo>
                    <a:pt x="53" y="87"/>
                  </a:lnTo>
                  <a:lnTo>
                    <a:pt x="53" y="91"/>
                  </a:lnTo>
                  <a:lnTo>
                    <a:pt x="38" y="88"/>
                  </a:lnTo>
                  <a:lnTo>
                    <a:pt x="35" y="91"/>
                  </a:lnTo>
                  <a:lnTo>
                    <a:pt x="28" y="87"/>
                  </a:lnTo>
                  <a:lnTo>
                    <a:pt x="23" y="85"/>
                  </a:lnTo>
                  <a:lnTo>
                    <a:pt x="26" y="75"/>
                  </a:lnTo>
                  <a:lnTo>
                    <a:pt x="28" y="75"/>
                  </a:lnTo>
                  <a:lnTo>
                    <a:pt x="22" y="70"/>
                  </a:lnTo>
                  <a:lnTo>
                    <a:pt x="18" y="6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4" name="Freeform 263"/>
            <p:cNvSpPr>
              <a:spLocks/>
            </p:cNvSpPr>
            <p:nvPr/>
          </p:nvSpPr>
          <p:spPr bwMode="auto">
            <a:xfrm>
              <a:off x="4609" y="1934"/>
              <a:ext cx="66" cy="85"/>
            </a:xfrm>
            <a:custGeom>
              <a:avLst/>
              <a:gdLst/>
              <a:ahLst/>
              <a:cxnLst>
                <a:cxn ang="0">
                  <a:pos x="35" y="74"/>
                </a:cxn>
                <a:cxn ang="0">
                  <a:pos x="33" y="71"/>
                </a:cxn>
                <a:cxn ang="0">
                  <a:pos x="29" y="74"/>
                </a:cxn>
                <a:cxn ang="0">
                  <a:pos x="25" y="76"/>
                </a:cxn>
                <a:cxn ang="0">
                  <a:pos x="23" y="72"/>
                </a:cxn>
                <a:cxn ang="0">
                  <a:pos x="23" y="70"/>
                </a:cxn>
                <a:cxn ang="0">
                  <a:pos x="23" y="69"/>
                </a:cxn>
                <a:cxn ang="0">
                  <a:pos x="19" y="65"/>
                </a:cxn>
                <a:cxn ang="0">
                  <a:pos x="17" y="54"/>
                </a:cxn>
                <a:cxn ang="0">
                  <a:pos x="15" y="50"/>
                </a:cxn>
                <a:cxn ang="0">
                  <a:pos x="15" y="47"/>
                </a:cxn>
                <a:cxn ang="0">
                  <a:pos x="6" y="36"/>
                </a:cxn>
                <a:cxn ang="0">
                  <a:pos x="2" y="33"/>
                </a:cxn>
                <a:cxn ang="0">
                  <a:pos x="5" y="32"/>
                </a:cxn>
                <a:cxn ang="0">
                  <a:pos x="12" y="34"/>
                </a:cxn>
                <a:cxn ang="0">
                  <a:pos x="11" y="32"/>
                </a:cxn>
                <a:cxn ang="0">
                  <a:pos x="1" y="17"/>
                </a:cxn>
                <a:cxn ang="0">
                  <a:pos x="0" y="15"/>
                </a:cxn>
                <a:cxn ang="0">
                  <a:pos x="0" y="11"/>
                </a:cxn>
                <a:cxn ang="0">
                  <a:pos x="12" y="5"/>
                </a:cxn>
                <a:cxn ang="0">
                  <a:pos x="18" y="0"/>
                </a:cxn>
                <a:cxn ang="0">
                  <a:pos x="35" y="18"/>
                </a:cxn>
                <a:cxn ang="0">
                  <a:pos x="51" y="35"/>
                </a:cxn>
                <a:cxn ang="0">
                  <a:pos x="60" y="60"/>
                </a:cxn>
                <a:cxn ang="0">
                  <a:pos x="54" y="64"/>
                </a:cxn>
                <a:cxn ang="0">
                  <a:pos x="47" y="68"/>
                </a:cxn>
                <a:cxn ang="0">
                  <a:pos x="43" y="66"/>
                </a:cxn>
                <a:cxn ang="0">
                  <a:pos x="41" y="69"/>
                </a:cxn>
                <a:cxn ang="0">
                  <a:pos x="39" y="70"/>
                </a:cxn>
                <a:cxn ang="0">
                  <a:pos x="37" y="71"/>
                </a:cxn>
                <a:cxn ang="0">
                  <a:pos x="35" y="74"/>
                </a:cxn>
              </a:cxnLst>
              <a:rect l="0" t="0" r="r" b="b"/>
              <a:pathLst>
                <a:path w="60" h="76">
                  <a:moveTo>
                    <a:pt x="35" y="74"/>
                  </a:moveTo>
                  <a:lnTo>
                    <a:pt x="33" y="71"/>
                  </a:lnTo>
                  <a:lnTo>
                    <a:pt x="29" y="74"/>
                  </a:lnTo>
                  <a:lnTo>
                    <a:pt x="25" y="76"/>
                  </a:lnTo>
                  <a:lnTo>
                    <a:pt x="23" y="72"/>
                  </a:lnTo>
                  <a:lnTo>
                    <a:pt x="23" y="70"/>
                  </a:lnTo>
                  <a:lnTo>
                    <a:pt x="23" y="69"/>
                  </a:lnTo>
                  <a:lnTo>
                    <a:pt x="19" y="65"/>
                  </a:lnTo>
                  <a:lnTo>
                    <a:pt x="17" y="54"/>
                  </a:lnTo>
                  <a:lnTo>
                    <a:pt x="15" y="50"/>
                  </a:lnTo>
                  <a:lnTo>
                    <a:pt x="15" y="47"/>
                  </a:lnTo>
                  <a:lnTo>
                    <a:pt x="6" y="36"/>
                  </a:lnTo>
                  <a:lnTo>
                    <a:pt x="2" y="33"/>
                  </a:lnTo>
                  <a:lnTo>
                    <a:pt x="5" y="32"/>
                  </a:lnTo>
                  <a:lnTo>
                    <a:pt x="12" y="34"/>
                  </a:lnTo>
                  <a:lnTo>
                    <a:pt x="11" y="32"/>
                  </a:lnTo>
                  <a:lnTo>
                    <a:pt x="1" y="17"/>
                  </a:lnTo>
                  <a:lnTo>
                    <a:pt x="0" y="15"/>
                  </a:lnTo>
                  <a:lnTo>
                    <a:pt x="0" y="11"/>
                  </a:lnTo>
                  <a:lnTo>
                    <a:pt x="12" y="5"/>
                  </a:lnTo>
                  <a:lnTo>
                    <a:pt x="18" y="0"/>
                  </a:lnTo>
                  <a:lnTo>
                    <a:pt x="35" y="18"/>
                  </a:lnTo>
                  <a:lnTo>
                    <a:pt x="51" y="35"/>
                  </a:lnTo>
                  <a:lnTo>
                    <a:pt x="60" y="60"/>
                  </a:lnTo>
                  <a:lnTo>
                    <a:pt x="54" y="64"/>
                  </a:lnTo>
                  <a:lnTo>
                    <a:pt x="47" y="68"/>
                  </a:lnTo>
                  <a:lnTo>
                    <a:pt x="43" y="66"/>
                  </a:lnTo>
                  <a:lnTo>
                    <a:pt x="41" y="69"/>
                  </a:lnTo>
                  <a:lnTo>
                    <a:pt x="39" y="70"/>
                  </a:lnTo>
                  <a:lnTo>
                    <a:pt x="37" y="71"/>
                  </a:lnTo>
                  <a:lnTo>
                    <a:pt x="35" y="7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5" name="Freeform 264"/>
            <p:cNvSpPr>
              <a:spLocks/>
            </p:cNvSpPr>
            <p:nvPr/>
          </p:nvSpPr>
          <p:spPr bwMode="auto">
            <a:xfrm>
              <a:off x="4600" y="2203"/>
              <a:ext cx="24" cy="64"/>
            </a:xfrm>
            <a:custGeom>
              <a:avLst/>
              <a:gdLst/>
              <a:ahLst/>
              <a:cxnLst>
                <a:cxn ang="0">
                  <a:pos x="16" y="57"/>
                </a:cxn>
                <a:cxn ang="0">
                  <a:pos x="3" y="43"/>
                </a:cxn>
                <a:cxn ang="0">
                  <a:pos x="0" y="22"/>
                </a:cxn>
                <a:cxn ang="0">
                  <a:pos x="6" y="12"/>
                </a:cxn>
                <a:cxn ang="0">
                  <a:pos x="12" y="0"/>
                </a:cxn>
                <a:cxn ang="0">
                  <a:pos x="23" y="3"/>
                </a:cxn>
                <a:cxn ang="0">
                  <a:pos x="21" y="16"/>
                </a:cxn>
                <a:cxn ang="0">
                  <a:pos x="19" y="30"/>
                </a:cxn>
                <a:cxn ang="0">
                  <a:pos x="17" y="44"/>
                </a:cxn>
                <a:cxn ang="0">
                  <a:pos x="16" y="57"/>
                </a:cxn>
              </a:cxnLst>
              <a:rect l="0" t="0" r="r" b="b"/>
              <a:pathLst>
                <a:path w="23" h="57">
                  <a:moveTo>
                    <a:pt x="16" y="57"/>
                  </a:moveTo>
                  <a:lnTo>
                    <a:pt x="3" y="43"/>
                  </a:lnTo>
                  <a:lnTo>
                    <a:pt x="0" y="22"/>
                  </a:lnTo>
                  <a:lnTo>
                    <a:pt x="6" y="12"/>
                  </a:lnTo>
                  <a:lnTo>
                    <a:pt x="12" y="0"/>
                  </a:lnTo>
                  <a:lnTo>
                    <a:pt x="23" y="3"/>
                  </a:lnTo>
                  <a:lnTo>
                    <a:pt x="21" y="16"/>
                  </a:lnTo>
                  <a:lnTo>
                    <a:pt x="19" y="30"/>
                  </a:lnTo>
                  <a:lnTo>
                    <a:pt x="17" y="44"/>
                  </a:lnTo>
                  <a:lnTo>
                    <a:pt x="16" y="5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6" name="Freeform 265"/>
            <p:cNvSpPr>
              <a:spLocks/>
            </p:cNvSpPr>
            <p:nvPr/>
          </p:nvSpPr>
          <p:spPr bwMode="auto">
            <a:xfrm>
              <a:off x="3882" y="1672"/>
              <a:ext cx="520" cy="204"/>
            </a:xfrm>
            <a:custGeom>
              <a:avLst/>
              <a:gdLst/>
              <a:ahLst/>
              <a:cxnLst>
                <a:cxn ang="0">
                  <a:pos x="276" y="176"/>
                </a:cxn>
                <a:cxn ang="0">
                  <a:pos x="252" y="168"/>
                </a:cxn>
                <a:cxn ang="0">
                  <a:pos x="211" y="166"/>
                </a:cxn>
                <a:cxn ang="0">
                  <a:pos x="171" y="163"/>
                </a:cxn>
                <a:cxn ang="0">
                  <a:pos x="145" y="136"/>
                </a:cxn>
                <a:cxn ang="0">
                  <a:pos x="104" y="124"/>
                </a:cxn>
                <a:cxn ang="0">
                  <a:pos x="71" y="118"/>
                </a:cxn>
                <a:cxn ang="0">
                  <a:pos x="60" y="89"/>
                </a:cxn>
                <a:cxn ang="0">
                  <a:pos x="27" y="72"/>
                </a:cxn>
                <a:cxn ang="0">
                  <a:pos x="1" y="53"/>
                </a:cxn>
                <a:cxn ang="0">
                  <a:pos x="7" y="44"/>
                </a:cxn>
                <a:cxn ang="0">
                  <a:pos x="33" y="31"/>
                </a:cxn>
                <a:cxn ang="0">
                  <a:pos x="75" y="25"/>
                </a:cxn>
                <a:cxn ang="0">
                  <a:pos x="102" y="35"/>
                </a:cxn>
                <a:cxn ang="0">
                  <a:pos x="133" y="30"/>
                </a:cxn>
                <a:cxn ang="0">
                  <a:pos x="123" y="0"/>
                </a:cxn>
                <a:cxn ang="0">
                  <a:pos x="171" y="11"/>
                </a:cxn>
                <a:cxn ang="0">
                  <a:pos x="204" y="32"/>
                </a:cxn>
                <a:cxn ang="0">
                  <a:pos x="247" y="31"/>
                </a:cxn>
                <a:cxn ang="0">
                  <a:pos x="275" y="42"/>
                </a:cxn>
                <a:cxn ang="0">
                  <a:pos x="320" y="47"/>
                </a:cxn>
                <a:cxn ang="0">
                  <a:pos x="353" y="31"/>
                </a:cxn>
                <a:cxn ang="0">
                  <a:pos x="392" y="38"/>
                </a:cxn>
                <a:cxn ang="0">
                  <a:pos x="396" y="66"/>
                </a:cxn>
                <a:cxn ang="0">
                  <a:pos x="404" y="74"/>
                </a:cxn>
                <a:cxn ang="0">
                  <a:pos x="425" y="77"/>
                </a:cxn>
                <a:cxn ang="0">
                  <a:pos x="463" y="86"/>
                </a:cxn>
                <a:cxn ang="0">
                  <a:pos x="443" y="95"/>
                </a:cxn>
                <a:cxn ang="0">
                  <a:pos x="423" y="115"/>
                </a:cxn>
                <a:cxn ang="0">
                  <a:pos x="396" y="127"/>
                </a:cxn>
                <a:cxn ang="0">
                  <a:pos x="377" y="138"/>
                </a:cxn>
                <a:cxn ang="0">
                  <a:pos x="373" y="157"/>
                </a:cxn>
                <a:cxn ang="0">
                  <a:pos x="343" y="170"/>
                </a:cxn>
                <a:cxn ang="0">
                  <a:pos x="315" y="178"/>
                </a:cxn>
                <a:cxn ang="0">
                  <a:pos x="294" y="180"/>
                </a:cxn>
              </a:cxnLst>
              <a:rect l="0" t="0" r="r" b="b"/>
              <a:pathLst>
                <a:path w="467" h="185">
                  <a:moveTo>
                    <a:pt x="294" y="180"/>
                  </a:moveTo>
                  <a:lnTo>
                    <a:pt x="276" y="176"/>
                  </a:lnTo>
                  <a:lnTo>
                    <a:pt x="258" y="173"/>
                  </a:lnTo>
                  <a:lnTo>
                    <a:pt x="252" y="168"/>
                  </a:lnTo>
                  <a:lnTo>
                    <a:pt x="231" y="167"/>
                  </a:lnTo>
                  <a:lnTo>
                    <a:pt x="211" y="166"/>
                  </a:lnTo>
                  <a:lnTo>
                    <a:pt x="192" y="164"/>
                  </a:lnTo>
                  <a:lnTo>
                    <a:pt x="171" y="163"/>
                  </a:lnTo>
                  <a:lnTo>
                    <a:pt x="158" y="150"/>
                  </a:lnTo>
                  <a:lnTo>
                    <a:pt x="145" y="136"/>
                  </a:lnTo>
                  <a:lnTo>
                    <a:pt x="125" y="130"/>
                  </a:lnTo>
                  <a:lnTo>
                    <a:pt x="104" y="124"/>
                  </a:lnTo>
                  <a:lnTo>
                    <a:pt x="87" y="120"/>
                  </a:lnTo>
                  <a:lnTo>
                    <a:pt x="71" y="118"/>
                  </a:lnTo>
                  <a:lnTo>
                    <a:pt x="65" y="103"/>
                  </a:lnTo>
                  <a:lnTo>
                    <a:pt x="60" y="89"/>
                  </a:lnTo>
                  <a:lnTo>
                    <a:pt x="38" y="74"/>
                  </a:lnTo>
                  <a:lnTo>
                    <a:pt x="27" y="72"/>
                  </a:lnTo>
                  <a:lnTo>
                    <a:pt x="7" y="59"/>
                  </a:lnTo>
                  <a:lnTo>
                    <a:pt x="1" y="53"/>
                  </a:lnTo>
                  <a:lnTo>
                    <a:pt x="0" y="50"/>
                  </a:lnTo>
                  <a:lnTo>
                    <a:pt x="7" y="44"/>
                  </a:lnTo>
                  <a:lnTo>
                    <a:pt x="19" y="38"/>
                  </a:lnTo>
                  <a:lnTo>
                    <a:pt x="33" y="31"/>
                  </a:lnTo>
                  <a:lnTo>
                    <a:pt x="47" y="23"/>
                  </a:lnTo>
                  <a:lnTo>
                    <a:pt x="75" y="25"/>
                  </a:lnTo>
                  <a:lnTo>
                    <a:pt x="80" y="31"/>
                  </a:lnTo>
                  <a:lnTo>
                    <a:pt x="102" y="35"/>
                  </a:lnTo>
                  <a:lnTo>
                    <a:pt x="122" y="38"/>
                  </a:lnTo>
                  <a:lnTo>
                    <a:pt x="133" y="30"/>
                  </a:lnTo>
                  <a:lnTo>
                    <a:pt x="120" y="18"/>
                  </a:lnTo>
                  <a:lnTo>
                    <a:pt x="123" y="0"/>
                  </a:lnTo>
                  <a:lnTo>
                    <a:pt x="147" y="6"/>
                  </a:lnTo>
                  <a:lnTo>
                    <a:pt x="171" y="11"/>
                  </a:lnTo>
                  <a:lnTo>
                    <a:pt x="182" y="22"/>
                  </a:lnTo>
                  <a:lnTo>
                    <a:pt x="204" y="32"/>
                  </a:lnTo>
                  <a:lnTo>
                    <a:pt x="228" y="28"/>
                  </a:lnTo>
                  <a:lnTo>
                    <a:pt x="247" y="31"/>
                  </a:lnTo>
                  <a:lnTo>
                    <a:pt x="267" y="36"/>
                  </a:lnTo>
                  <a:lnTo>
                    <a:pt x="275" y="42"/>
                  </a:lnTo>
                  <a:lnTo>
                    <a:pt x="303" y="49"/>
                  </a:lnTo>
                  <a:lnTo>
                    <a:pt x="320" y="47"/>
                  </a:lnTo>
                  <a:lnTo>
                    <a:pt x="337" y="43"/>
                  </a:lnTo>
                  <a:lnTo>
                    <a:pt x="353" y="31"/>
                  </a:lnTo>
                  <a:lnTo>
                    <a:pt x="379" y="37"/>
                  </a:lnTo>
                  <a:lnTo>
                    <a:pt x="392" y="38"/>
                  </a:lnTo>
                  <a:lnTo>
                    <a:pt x="395" y="52"/>
                  </a:lnTo>
                  <a:lnTo>
                    <a:pt x="396" y="66"/>
                  </a:lnTo>
                  <a:lnTo>
                    <a:pt x="392" y="67"/>
                  </a:lnTo>
                  <a:lnTo>
                    <a:pt x="404" y="74"/>
                  </a:lnTo>
                  <a:lnTo>
                    <a:pt x="420" y="74"/>
                  </a:lnTo>
                  <a:lnTo>
                    <a:pt x="425" y="77"/>
                  </a:lnTo>
                  <a:lnTo>
                    <a:pt x="432" y="70"/>
                  </a:lnTo>
                  <a:lnTo>
                    <a:pt x="463" y="86"/>
                  </a:lnTo>
                  <a:lnTo>
                    <a:pt x="467" y="95"/>
                  </a:lnTo>
                  <a:lnTo>
                    <a:pt x="443" y="95"/>
                  </a:lnTo>
                  <a:lnTo>
                    <a:pt x="426" y="103"/>
                  </a:lnTo>
                  <a:lnTo>
                    <a:pt x="423" y="115"/>
                  </a:lnTo>
                  <a:lnTo>
                    <a:pt x="409" y="119"/>
                  </a:lnTo>
                  <a:lnTo>
                    <a:pt x="396" y="127"/>
                  </a:lnTo>
                  <a:lnTo>
                    <a:pt x="374" y="121"/>
                  </a:lnTo>
                  <a:lnTo>
                    <a:pt x="377" y="138"/>
                  </a:lnTo>
                  <a:lnTo>
                    <a:pt x="386" y="146"/>
                  </a:lnTo>
                  <a:lnTo>
                    <a:pt x="373" y="157"/>
                  </a:lnTo>
                  <a:lnTo>
                    <a:pt x="360" y="169"/>
                  </a:lnTo>
                  <a:lnTo>
                    <a:pt x="343" y="170"/>
                  </a:lnTo>
                  <a:lnTo>
                    <a:pt x="325" y="172"/>
                  </a:lnTo>
                  <a:lnTo>
                    <a:pt x="315" y="178"/>
                  </a:lnTo>
                  <a:lnTo>
                    <a:pt x="305" y="185"/>
                  </a:lnTo>
                  <a:lnTo>
                    <a:pt x="294" y="18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7" name="Freeform 266"/>
            <p:cNvSpPr>
              <a:spLocks/>
            </p:cNvSpPr>
            <p:nvPr/>
          </p:nvSpPr>
          <p:spPr bwMode="auto">
            <a:xfrm>
              <a:off x="3253" y="1608"/>
              <a:ext cx="618" cy="273"/>
            </a:xfrm>
            <a:custGeom>
              <a:avLst/>
              <a:gdLst/>
              <a:ahLst/>
              <a:cxnLst>
                <a:cxn ang="0">
                  <a:pos x="65" y="146"/>
                </a:cxn>
                <a:cxn ang="0">
                  <a:pos x="45" y="155"/>
                </a:cxn>
                <a:cxn ang="0">
                  <a:pos x="17" y="125"/>
                </a:cxn>
                <a:cxn ang="0">
                  <a:pos x="3" y="93"/>
                </a:cxn>
                <a:cxn ang="0">
                  <a:pos x="22" y="81"/>
                </a:cxn>
                <a:cxn ang="0">
                  <a:pos x="35" y="65"/>
                </a:cxn>
                <a:cxn ang="0">
                  <a:pos x="65" y="57"/>
                </a:cxn>
                <a:cxn ang="0">
                  <a:pos x="103" y="74"/>
                </a:cxn>
                <a:cxn ang="0">
                  <a:pos x="151" y="72"/>
                </a:cxn>
                <a:cxn ang="0">
                  <a:pos x="180" y="71"/>
                </a:cxn>
                <a:cxn ang="0">
                  <a:pos x="172" y="34"/>
                </a:cxn>
                <a:cxn ang="0">
                  <a:pos x="168" y="27"/>
                </a:cxn>
                <a:cxn ang="0">
                  <a:pos x="204" y="21"/>
                </a:cxn>
                <a:cxn ang="0">
                  <a:pos x="238" y="11"/>
                </a:cxn>
                <a:cxn ang="0">
                  <a:pos x="270" y="2"/>
                </a:cxn>
                <a:cxn ang="0">
                  <a:pos x="293" y="11"/>
                </a:cxn>
                <a:cxn ang="0">
                  <a:pos x="330" y="26"/>
                </a:cxn>
                <a:cxn ang="0">
                  <a:pos x="359" y="21"/>
                </a:cxn>
                <a:cxn ang="0">
                  <a:pos x="379" y="17"/>
                </a:cxn>
                <a:cxn ang="0">
                  <a:pos x="396" y="39"/>
                </a:cxn>
                <a:cxn ang="0">
                  <a:pos x="433" y="64"/>
                </a:cxn>
                <a:cxn ang="0">
                  <a:pos x="456" y="72"/>
                </a:cxn>
                <a:cxn ang="0">
                  <a:pos x="484" y="74"/>
                </a:cxn>
                <a:cxn ang="0">
                  <a:pos x="522" y="96"/>
                </a:cxn>
                <a:cxn ang="0">
                  <a:pos x="557" y="110"/>
                </a:cxn>
                <a:cxn ang="0">
                  <a:pos x="544" y="126"/>
                </a:cxn>
                <a:cxn ang="0">
                  <a:pos x="538" y="147"/>
                </a:cxn>
                <a:cxn ang="0">
                  <a:pos x="517" y="158"/>
                </a:cxn>
                <a:cxn ang="0">
                  <a:pos x="525" y="179"/>
                </a:cxn>
                <a:cxn ang="0">
                  <a:pos x="487" y="184"/>
                </a:cxn>
                <a:cxn ang="0">
                  <a:pos x="503" y="201"/>
                </a:cxn>
                <a:cxn ang="0">
                  <a:pos x="510" y="218"/>
                </a:cxn>
                <a:cxn ang="0">
                  <a:pos x="489" y="210"/>
                </a:cxn>
                <a:cxn ang="0">
                  <a:pos x="450" y="214"/>
                </a:cxn>
                <a:cxn ang="0">
                  <a:pos x="417" y="213"/>
                </a:cxn>
                <a:cxn ang="0">
                  <a:pos x="394" y="221"/>
                </a:cxn>
                <a:cxn ang="0">
                  <a:pos x="369" y="226"/>
                </a:cxn>
                <a:cxn ang="0">
                  <a:pos x="341" y="246"/>
                </a:cxn>
                <a:cxn ang="0">
                  <a:pos x="313" y="232"/>
                </a:cxn>
                <a:cxn ang="0">
                  <a:pos x="297" y="207"/>
                </a:cxn>
                <a:cxn ang="0">
                  <a:pos x="265" y="204"/>
                </a:cxn>
                <a:cxn ang="0">
                  <a:pos x="235" y="202"/>
                </a:cxn>
                <a:cxn ang="0">
                  <a:pos x="202" y="176"/>
                </a:cxn>
                <a:cxn ang="0">
                  <a:pos x="166" y="172"/>
                </a:cxn>
                <a:cxn ang="0">
                  <a:pos x="151" y="195"/>
                </a:cxn>
                <a:cxn ang="0">
                  <a:pos x="160" y="226"/>
                </a:cxn>
                <a:cxn ang="0">
                  <a:pos x="147" y="237"/>
                </a:cxn>
                <a:cxn ang="0">
                  <a:pos x="131" y="220"/>
                </a:cxn>
                <a:cxn ang="0">
                  <a:pos x="94" y="215"/>
                </a:cxn>
                <a:cxn ang="0">
                  <a:pos x="75" y="194"/>
                </a:cxn>
                <a:cxn ang="0">
                  <a:pos x="84" y="188"/>
                </a:cxn>
                <a:cxn ang="0">
                  <a:pos x="85" y="174"/>
                </a:cxn>
                <a:cxn ang="0">
                  <a:pos x="100" y="167"/>
                </a:cxn>
                <a:cxn ang="0">
                  <a:pos x="77" y="147"/>
                </a:cxn>
              </a:cxnLst>
              <a:rect l="0" t="0" r="r" b="b"/>
              <a:pathLst>
                <a:path w="557" h="246">
                  <a:moveTo>
                    <a:pt x="77" y="147"/>
                  </a:moveTo>
                  <a:lnTo>
                    <a:pt x="65" y="146"/>
                  </a:lnTo>
                  <a:lnTo>
                    <a:pt x="47" y="154"/>
                  </a:lnTo>
                  <a:lnTo>
                    <a:pt x="45" y="155"/>
                  </a:lnTo>
                  <a:lnTo>
                    <a:pt x="34" y="138"/>
                  </a:lnTo>
                  <a:lnTo>
                    <a:pt x="17" y="125"/>
                  </a:lnTo>
                  <a:lnTo>
                    <a:pt x="0" y="112"/>
                  </a:lnTo>
                  <a:lnTo>
                    <a:pt x="3" y="93"/>
                  </a:lnTo>
                  <a:lnTo>
                    <a:pt x="5" y="74"/>
                  </a:lnTo>
                  <a:lnTo>
                    <a:pt x="22" y="81"/>
                  </a:lnTo>
                  <a:lnTo>
                    <a:pt x="24" y="74"/>
                  </a:lnTo>
                  <a:lnTo>
                    <a:pt x="35" y="65"/>
                  </a:lnTo>
                  <a:lnTo>
                    <a:pt x="46" y="58"/>
                  </a:lnTo>
                  <a:lnTo>
                    <a:pt x="65" y="57"/>
                  </a:lnTo>
                  <a:lnTo>
                    <a:pt x="84" y="65"/>
                  </a:lnTo>
                  <a:lnTo>
                    <a:pt x="103" y="74"/>
                  </a:lnTo>
                  <a:lnTo>
                    <a:pt x="124" y="72"/>
                  </a:lnTo>
                  <a:lnTo>
                    <a:pt x="151" y="72"/>
                  </a:lnTo>
                  <a:lnTo>
                    <a:pt x="178" y="76"/>
                  </a:lnTo>
                  <a:lnTo>
                    <a:pt x="180" y="71"/>
                  </a:lnTo>
                  <a:lnTo>
                    <a:pt x="166" y="54"/>
                  </a:lnTo>
                  <a:lnTo>
                    <a:pt x="172" y="34"/>
                  </a:lnTo>
                  <a:lnTo>
                    <a:pt x="185" y="35"/>
                  </a:lnTo>
                  <a:lnTo>
                    <a:pt x="168" y="27"/>
                  </a:lnTo>
                  <a:lnTo>
                    <a:pt x="186" y="23"/>
                  </a:lnTo>
                  <a:lnTo>
                    <a:pt x="204" y="21"/>
                  </a:lnTo>
                  <a:lnTo>
                    <a:pt x="221" y="16"/>
                  </a:lnTo>
                  <a:lnTo>
                    <a:pt x="238" y="11"/>
                  </a:lnTo>
                  <a:lnTo>
                    <a:pt x="253" y="6"/>
                  </a:lnTo>
                  <a:lnTo>
                    <a:pt x="270" y="2"/>
                  </a:lnTo>
                  <a:lnTo>
                    <a:pt x="283" y="0"/>
                  </a:lnTo>
                  <a:lnTo>
                    <a:pt x="293" y="11"/>
                  </a:lnTo>
                  <a:lnTo>
                    <a:pt x="319" y="21"/>
                  </a:lnTo>
                  <a:lnTo>
                    <a:pt x="330" y="26"/>
                  </a:lnTo>
                  <a:lnTo>
                    <a:pt x="341" y="28"/>
                  </a:lnTo>
                  <a:lnTo>
                    <a:pt x="359" y="21"/>
                  </a:lnTo>
                  <a:lnTo>
                    <a:pt x="376" y="15"/>
                  </a:lnTo>
                  <a:lnTo>
                    <a:pt x="379" y="17"/>
                  </a:lnTo>
                  <a:lnTo>
                    <a:pt x="377" y="26"/>
                  </a:lnTo>
                  <a:lnTo>
                    <a:pt x="396" y="39"/>
                  </a:lnTo>
                  <a:lnTo>
                    <a:pt x="414" y="51"/>
                  </a:lnTo>
                  <a:lnTo>
                    <a:pt x="433" y="64"/>
                  </a:lnTo>
                  <a:lnTo>
                    <a:pt x="453" y="77"/>
                  </a:lnTo>
                  <a:lnTo>
                    <a:pt x="456" y="72"/>
                  </a:lnTo>
                  <a:lnTo>
                    <a:pt x="466" y="76"/>
                  </a:lnTo>
                  <a:lnTo>
                    <a:pt x="484" y="74"/>
                  </a:lnTo>
                  <a:lnTo>
                    <a:pt x="503" y="86"/>
                  </a:lnTo>
                  <a:lnTo>
                    <a:pt x="522" y="96"/>
                  </a:lnTo>
                  <a:lnTo>
                    <a:pt x="540" y="93"/>
                  </a:lnTo>
                  <a:lnTo>
                    <a:pt x="557" y="110"/>
                  </a:lnTo>
                  <a:lnTo>
                    <a:pt x="551" y="122"/>
                  </a:lnTo>
                  <a:lnTo>
                    <a:pt x="544" y="126"/>
                  </a:lnTo>
                  <a:lnTo>
                    <a:pt x="551" y="144"/>
                  </a:lnTo>
                  <a:lnTo>
                    <a:pt x="538" y="147"/>
                  </a:lnTo>
                  <a:lnTo>
                    <a:pt x="515" y="142"/>
                  </a:lnTo>
                  <a:lnTo>
                    <a:pt x="517" y="158"/>
                  </a:lnTo>
                  <a:lnTo>
                    <a:pt x="519" y="172"/>
                  </a:lnTo>
                  <a:lnTo>
                    <a:pt x="525" y="179"/>
                  </a:lnTo>
                  <a:lnTo>
                    <a:pt x="504" y="177"/>
                  </a:lnTo>
                  <a:lnTo>
                    <a:pt x="487" y="184"/>
                  </a:lnTo>
                  <a:lnTo>
                    <a:pt x="497" y="188"/>
                  </a:lnTo>
                  <a:lnTo>
                    <a:pt x="503" y="201"/>
                  </a:lnTo>
                  <a:lnTo>
                    <a:pt x="510" y="214"/>
                  </a:lnTo>
                  <a:lnTo>
                    <a:pt x="510" y="218"/>
                  </a:lnTo>
                  <a:lnTo>
                    <a:pt x="507" y="221"/>
                  </a:lnTo>
                  <a:lnTo>
                    <a:pt x="489" y="210"/>
                  </a:lnTo>
                  <a:lnTo>
                    <a:pt x="469" y="212"/>
                  </a:lnTo>
                  <a:lnTo>
                    <a:pt x="450" y="214"/>
                  </a:lnTo>
                  <a:lnTo>
                    <a:pt x="430" y="214"/>
                  </a:lnTo>
                  <a:lnTo>
                    <a:pt x="417" y="213"/>
                  </a:lnTo>
                  <a:lnTo>
                    <a:pt x="408" y="222"/>
                  </a:lnTo>
                  <a:lnTo>
                    <a:pt x="394" y="221"/>
                  </a:lnTo>
                  <a:lnTo>
                    <a:pt x="378" y="219"/>
                  </a:lnTo>
                  <a:lnTo>
                    <a:pt x="369" y="226"/>
                  </a:lnTo>
                  <a:lnTo>
                    <a:pt x="355" y="237"/>
                  </a:lnTo>
                  <a:lnTo>
                    <a:pt x="341" y="246"/>
                  </a:lnTo>
                  <a:lnTo>
                    <a:pt x="328" y="239"/>
                  </a:lnTo>
                  <a:lnTo>
                    <a:pt x="313" y="232"/>
                  </a:lnTo>
                  <a:lnTo>
                    <a:pt x="312" y="218"/>
                  </a:lnTo>
                  <a:lnTo>
                    <a:pt x="297" y="207"/>
                  </a:lnTo>
                  <a:lnTo>
                    <a:pt x="281" y="206"/>
                  </a:lnTo>
                  <a:lnTo>
                    <a:pt x="265" y="204"/>
                  </a:lnTo>
                  <a:lnTo>
                    <a:pt x="251" y="203"/>
                  </a:lnTo>
                  <a:lnTo>
                    <a:pt x="235" y="202"/>
                  </a:lnTo>
                  <a:lnTo>
                    <a:pt x="221" y="185"/>
                  </a:lnTo>
                  <a:lnTo>
                    <a:pt x="202" y="176"/>
                  </a:lnTo>
                  <a:lnTo>
                    <a:pt x="183" y="165"/>
                  </a:lnTo>
                  <a:lnTo>
                    <a:pt x="166" y="172"/>
                  </a:lnTo>
                  <a:lnTo>
                    <a:pt x="148" y="178"/>
                  </a:lnTo>
                  <a:lnTo>
                    <a:pt x="151" y="195"/>
                  </a:lnTo>
                  <a:lnTo>
                    <a:pt x="155" y="210"/>
                  </a:lnTo>
                  <a:lnTo>
                    <a:pt x="160" y="226"/>
                  </a:lnTo>
                  <a:lnTo>
                    <a:pt x="163" y="243"/>
                  </a:lnTo>
                  <a:lnTo>
                    <a:pt x="147" y="237"/>
                  </a:lnTo>
                  <a:lnTo>
                    <a:pt x="130" y="232"/>
                  </a:lnTo>
                  <a:lnTo>
                    <a:pt x="131" y="220"/>
                  </a:lnTo>
                  <a:lnTo>
                    <a:pt x="106" y="220"/>
                  </a:lnTo>
                  <a:lnTo>
                    <a:pt x="94" y="215"/>
                  </a:lnTo>
                  <a:lnTo>
                    <a:pt x="88" y="212"/>
                  </a:lnTo>
                  <a:lnTo>
                    <a:pt x="75" y="194"/>
                  </a:lnTo>
                  <a:lnTo>
                    <a:pt x="67" y="189"/>
                  </a:lnTo>
                  <a:lnTo>
                    <a:pt x="84" y="188"/>
                  </a:lnTo>
                  <a:lnTo>
                    <a:pt x="77" y="182"/>
                  </a:lnTo>
                  <a:lnTo>
                    <a:pt x="85" y="174"/>
                  </a:lnTo>
                  <a:lnTo>
                    <a:pt x="103" y="174"/>
                  </a:lnTo>
                  <a:lnTo>
                    <a:pt x="100" y="167"/>
                  </a:lnTo>
                  <a:lnTo>
                    <a:pt x="96" y="148"/>
                  </a:lnTo>
                  <a:lnTo>
                    <a:pt x="77" y="1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8" name="Freeform 267"/>
            <p:cNvSpPr>
              <a:spLocks/>
            </p:cNvSpPr>
            <p:nvPr/>
          </p:nvSpPr>
          <p:spPr bwMode="auto">
            <a:xfrm>
              <a:off x="3156" y="1827"/>
              <a:ext cx="133" cy="52"/>
            </a:xfrm>
            <a:custGeom>
              <a:avLst/>
              <a:gdLst/>
              <a:ahLst/>
              <a:cxnLst>
                <a:cxn ang="0">
                  <a:pos x="24" y="17"/>
                </a:cxn>
                <a:cxn ang="0">
                  <a:pos x="0" y="3"/>
                </a:cxn>
                <a:cxn ang="0">
                  <a:pos x="1" y="0"/>
                </a:cxn>
                <a:cxn ang="0">
                  <a:pos x="17" y="2"/>
                </a:cxn>
                <a:cxn ang="0">
                  <a:pos x="33" y="3"/>
                </a:cxn>
                <a:cxn ang="0">
                  <a:pos x="55" y="12"/>
                </a:cxn>
                <a:cxn ang="0">
                  <a:pos x="77" y="21"/>
                </a:cxn>
                <a:cxn ang="0">
                  <a:pos x="98" y="29"/>
                </a:cxn>
                <a:cxn ang="0">
                  <a:pos x="120" y="38"/>
                </a:cxn>
                <a:cxn ang="0">
                  <a:pos x="115" y="46"/>
                </a:cxn>
                <a:cxn ang="0">
                  <a:pos x="101" y="45"/>
                </a:cxn>
                <a:cxn ang="0">
                  <a:pos x="79" y="44"/>
                </a:cxn>
                <a:cxn ang="0">
                  <a:pos x="57" y="44"/>
                </a:cxn>
                <a:cxn ang="0">
                  <a:pos x="39" y="45"/>
                </a:cxn>
                <a:cxn ang="0">
                  <a:pos x="38" y="32"/>
                </a:cxn>
                <a:cxn ang="0">
                  <a:pos x="24" y="17"/>
                </a:cxn>
              </a:cxnLst>
              <a:rect l="0" t="0" r="r" b="b"/>
              <a:pathLst>
                <a:path w="120" h="46">
                  <a:moveTo>
                    <a:pt x="24" y="17"/>
                  </a:moveTo>
                  <a:lnTo>
                    <a:pt x="0" y="3"/>
                  </a:lnTo>
                  <a:lnTo>
                    <a:pt x="1" y="0"/>
                  </a:lnTo>
                  <a:lnTo>
                    <a:pt x="17" y="2"/>
                  </a:lnTo>
                  <a:lnTo>
                    <a:pt x="33" y="3"/>
                  </a:lnTo>
                  <a:lnTo>
                    <a:pt x="55" y="12"/>
                  </a:lnTo>
                  <a:lnTo>
                    <a:pt x="77" y="21"/>
                  </a:lnTo>
                  <a:lnTo>
                    <a:pt x="98" y="29"/>
                  </a:lnTo>
                  <a:lnTo>
                    <a:pt x="120" y="38"/>
                  </a:lnTo>
                  <a:lnTo>
                    <a:pt x="115" y="46"/>
                  </a:lnTo>
                  <a:lnTo>
                    <a:pt x="101" y="45"/>
                  </a:lnTo>
                  <a:lnTo>
                    <a:pt x="79" y="44"/>
                  </a:lnTo>
                  <a:lnTo>
                    <a:pt x="57" y="44"/>
                  </a:lnTo>
                  <a:lnTo>
                    <a:pt x="39" y="45"/>
                  </a:lnTo>
                  <a:lnTo>
                    <a:pt x="38" y="32"/>
                  </a:lnTo>
                  <a:lnTo>
                    <a:pt x="24"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9" name="Freeform 268"/>
            <p:cNvSpPr>
              <a:spLocks/>
            </p:cNvSpPr>
            <p:nvPr/>
          </p:nvSpPr>
          <p:spPr bwMode="auto">
            <a:xfrm>
              <a:off x="3662" y="1841"/>
              <a:ext cx="158" cy="80"/>
            </a:xfrm>
            <a:custGeom>
              <a:avLst/>
              <a:gdLst/>
              <a:ahLst/>
              <a:cxnLst>
                <a:cxn ang="0">
                  <a:pos x="46" y="41"/>
                </a:cxn>
                <a:cxn ang="0">
                  <a:pos x="31" y="32"/>
                </a:cxn>
                <a:cxn ang="0">
                  <a:pos x="10" y="29"/>
                </a:cxn>
                <a:cxn ang="0">
                  <a:pos x="0" y="16"/>
                </a:cxn>
                <a:cxn ang="0">
                  <a:pos x="9" y="9"/>
                </a:cxn>
                <a:cxn ang="0">
                  <a:pos x="25" y="11"/>
                </a:cxn>
                <a:cxn ang="0">
                  <a:pos x="39" y="12"/>
                </a:cxn>
                <a:cxn ang="0">
                  <a:pos x="48" y="3"/>
                </a:cxn>
                <a:cxn ang="0">
                  <a:pos x="61" y="4"/>
                </a:cxn>
                <a:cxn ang="0">
                  <a:pos x="81" y="4"/>
                </a:cxn>
                <a:cxn ang="0">
                  <a:pos x="100" y="2"/>
                </a:cxn>
                <a:cxn ang="0">
                  <a:pos x="120" y="0"/>
                </a:cxn>
                <a:cxn ang="0">
                  <a:pos x="138" y="11"/>
                </a:cxn>
                <a:cxn ang="0">
                  <a:pos x="141" y="20"/>
                </a:cxn>
                <a:cxn ang="0">
                  <a:pos x="130" y="29"/>
                </a:cxn>
                <a:cxn ang="0">
                  <a:pos x="120" y="38"/>
                </a:cxn>
                <a:cxn ang="0">
                  <a:pos x="104" y="42"/>
                </a:cxn>
                <a:cxn ang="0">
                  <a:pos x="94" y="53"/>
                </a:cxn>
                <a:cxn ang="0">
                  <a:pos x="86" y="51"/>
                </a:cxn>
                <a:cxn ang="0">
                  <a:pos x="79" y="52"/>
                </a:cxn>
                <a:cxn ang="0">
                  <a:pos x="68" y="58"/>
                </a:cxn>
                <a:cxn ang="0">
                  <a:pos x="62" y="71"/>
                </a:cxn>
                <a:cxn ang="0">
                  <a:pos x="37" y="69"/>
                </a:cxn>
                <a:cxn ang="0">
                  <a:pos x="12" y="65"/>
                </a:cxn>
                <a:cxn ang="0">
                  <a:pos x="10" y="53"/>
                </a:cxn>
                <a:cxn ang="0">
                  <a:pos x="28" y="47"/>
                </a:cxn>
                <a:cxn ang="0">
                  <a:pos x="46" y="41"/>
                </a:cxn>
              </a:cxnLst>
              <a:rect l="0" t="0" r="r" b="b"/>
              <a:pathLst>
                <a:path w="141" h="71">
                  <a:moveTo>
                    <a:pt x="46" y="41"/>
                  </a:moveTo>
                  <a:lnTo>
                    <a:pt x="31" y="32"/>
                  </a:lnTo>
                  <a:lnTo>
                    <a:pt x="10" y="29"/>
                  </a:lnTo>
                  <a:lnTo>
                    <a:pt x="0" y="16"/>
                  </a:lnTo>
                  <a:lnTo>
                    <a:pt x="9" y="9"/>
                  </a:lnTo>
                  <a:lnTo>
                    <a:pt x="25" y="11"/>
                  </a:lnTo>
                  <a:lnTo>
                    <a:pt x="39" y="12"/>
                  </a:lnTo>
                  <a:lnTo>
                    <a:pt x="48" y="3"/>
                  </a:lnTo>
                  <a:lnTo>
                    <a:pt x="61" y="4"/>
                  </a:lnTo>
                  <a:lnTo>
                    <a:pt x="81" y="4"/>
                  </a:lnTo>
                  <a:lnTo>
                    <a:pt x="100" y="2"/>
                  </a:lnTo>
                  <a:lnTo>
                    <a:pt x="120" y="0"/>
                  </a:lnTo>
                  <a:lnTo>
                    <a:pt x="138" y="11"/>
                  </a:lnTo>
                  <a:lnTo>
                    <a:pt x="141" y="20"/>
                  </a:lnTo>
                  <a:lnTo>
                    <a:pt x="130" y="29"/>
                  </a:lnTo>
                  <a:lnTo>
                    <a:pt x="120" y="38"/>
                  </a:lnTo>
                  <a:lnTo>
                    <a:pt x="104" y="42"/>
                  </a:lnTo>
                  <a:lnTo>
                    <a:pt x="94" y="53"/>
                  </a:lnTo>
                  <a:lnTo>
                    <a:pt x="86" y="51"/>
                  </a:lnTo>
                  <a:lnTo>
                    <a:pt x="79" y="52"/>
                  </a:lnTo>
                  <a:lnTo>
                    <a:pt x="68" y="58"/>
                  </a:lnTo>
                  <a:lnTo>
                    <a:pt x="62" y="71"/>
                  </a:lnTo>
                  <a:lnTo>
                    <a:pt x="37" y="69"/>
                  </a:lnTo>
                  <a:lnTo>
                    <a:pt x="12" y="65"/>
                  </a:lnTo>
                  <a:lnTo>
                    <a:pt x="10" y="53"/>
                  </a:lnTo>
                  <a:lnTo>
                    <a:pt x="28" y="47"/>
                  </a:lnTo>
                  <a:lnTo>
                    <a:pt x="46" y="4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0" name="Freeform 269"/>
            <p:cNvSpPr>
              <a:spLocks/>
            </p:cNvSpPr>
            <p:nvPr/>
          </p:nvSpPr>
          <p:spPr bwMode="auto">
            <a:xfrm>
              <a:off x="3369" y="1852"/>
              <a:ext cx="242" cy="149"/>
            </a:xfrm>
            <a:custGeom>
              <a:avLst/>
              <a:gdLst/>
              <a:ahLst/>
              <a:cxnLst>
                <a:cxn ang="0">
                  <a:pos x="206" y="104"/>
                </a:cxn>
                <a:cxn ang="0">
                  <a:pos x="200" y="119"/>
                </a:cxn>
                <a:cxn ang="0">
                  <a:pos x="187" y="126"/>
                </a:cxn>
                <a:cxn ang="0">
                  <a:pos x="182" y="134"/>
                </a:cxn>
                <a:cxn ang="0">
                  <a:pos x="174" y="133"/>
                </a:cxn>
                <a:cxn ang="0">
                  <a:pos x="159" y="128"/>
                </a:cxn>
                <a:cxn ang="0">
                  <a:pos x="153" y="110"/>
                </a:cxn>
                <a:cxn ang="0">
                  <a:pos x="140" y="108"/>
                </a:cxn>
                <a:cxn ang="0">
                  <a:pos x="127" y="100"/>
                </a:cxn>
                <a:cxn ang="0">
                  <a:pos x="114" y="91"/>
                </a:cxn>
                <a:cxn ang="0">
                  <a:pos x="90" y="83"/>
                </a:cxn>
                <a:cxn ang="0">
                  <a:pos x="75" y="84"/>
                </a:cxn>
                <a:cxn ang="0">
                  <a:pos x="59" y="86"/>
                </a:cxn>
                <a:cxn ang="0">
                  <a:pos x="48" y="97"/>
                </a:cxn>
                <a:cxn ang="0">
                  <a:pos x="43" y="97"/>
                </a:cxn>
                <a:cxn ang="0">
                  <a:pos x="39" y="83"/>
                </a:cxn>
                <a:cxn ang="0">
                  <a:pos x="35" y="67"/>
                </a:cxn>
                <a:cxn ang="0">
                  <a:pos x="26" y="61"/>
                </a:cxn>
                <a:cxn ang="0">
                  <a:pos x="25" y="62"/>
                </a:cxn>
                <a:cxn ang="0">
                  <a:pos x="27" y="59"/>
                </a:cxn>
                <a:cxn ang="0">
                  <a:pos x="30" y="56"/>
                </a:cxn>
                <a:cxn ang="0">
                  <a:pos x="26" y="50"/>
                </a:cxn>
                <a:cxn ang="0">
                  <a:pos x="19" y="52"/>
                </a:cxn>
                <a:cxn ang="0">
                  <a:pos x="19" y="53"/>
                </a:cxn>
                <a:cxn ang="0">
                  <a:pos x="14" y="35"/>
                </a:cxn>
                <a:cxn ang="0">
                  <a:pos x="17" y="34"/>
                </a:cxn>
                <a:cxn ang="0">
                  <a:pos x="25" y="34"/>
                </a:cxn>
                <a:cxn ang="0">
                  <a:pos x="32" y="38"/>
                </a:cxn>
                <a:cxn ang="0">
                  <a:pos x="36" y="37"/>
                </a:cxn>
                <a:cxn ang="0">
                  <a:pos x="37" y="35"/>
                </a:cxn>
                <a:cxn ang="0">
                  <a:pos x="39" y="30"/>
                </a:cxn>
                <a:cxn ang="0">
                  <a:pos x="25" y="14"/>
                </a:cxn>
                <a:cxn ang="0">
                  <a:pos x="12" y="13"/>
                </a:cxn>
                <a:cxn ang="0">
                  <a:pos x="13" y="28"/>
                </a:cxn>
                <a:cxn ang="0">
                  <a:pos x="13" y="30"/>
                </a:cxn>
                <a:cxn ang="0">
                  <a:pos x="3" y="11"/>
                </a:cxn>
                <a:cxn ang="0">
                  <a:pos x="5" y="2"/>
                </a:cxn>
                <a:cxn ang="0">
                  <a:pos x="0" y="0"/>
                </a:cxn>
                <a:cxn ang="0">
                  <a:pos x="25" y="0"/>
                </a:cxn>
                <a:cxn ang="0">
                  <a:pos x="24" y="12"/>
                </a:cxn>
                <a:cxn ang="0">
                  <a:pos x="41" y="17"/>
                </a:cxn>
                <a:cxn ang="0">
                  <a:pos x="57" y="23"/>
                </a:cxn>
                <a:cxn ang="0">
                  <a:pos x="78" y="26"/>
                </a:cxn>
                <a:cxn ang="0">
                  <a:pos x="74" y="17"/>
                </a:cxn>
                <a:cxn ang="0">
                  <a:pos x="81" y="13"/>
                </a:cxn>
                <a:cxn ang="0">
                  <a:pos x="93" y="0"/>
                </a:cxn>
                <a:cxn ang="0">
                  <a:pos x="113" y="13"/>
                </a:cxn>
                <a:cxn ang="0">
                  <a:pos x="125" y="31"/>
                </a:cxn>
                <a:cxn ang="0">
                  <a:pos x="144" y="38"/>
                </a:cxn>
                <a:cxn ang="0">
                  <a:pos x="157" y="46"/>
                </a:cxn>
                <a:cxn ang="0">
                  <a:pos x="182" y="61"/>
                </a:cxn>
                <a:cxn ang="0">
                  <a:pos x="207" y="77"/>
                </a:cxn>
                <a:cxn ang="0">
                  <a:pos x="217" y="95"/>
                </a:cxn>
                <a:cxn ang="0">
                  <a:pos x="211" y="100"/>
                </a:cxn>
                <a:cxn ang="0">
                  <a:pos x="206" y="104"/>
                </a:cxn>
              </a:cxnLst>
              <a:rect l="0" t="0" r="r" b="b"/>
              <a:pathLst>
                <a:path w="217" h="134">
                  <a:moveTo>
                    <a:pt x="206" y="104"/>
                  </a:moveTo>
                  <a:lnTo>
                    <a:pt x="200" y="119"/>
                  </a:lnTo>
                  <a:lnTo>
                    <a:pt x="187" y="126"/>
                  </a:lnTo>
                  <a:lnTo>
                    <a:pt x="182" y="134"/>
                  </a:lnTo>
                  <a:lnTo>
                    <a:pt x="174" y="133"/>
                  </a:lnTo>
                  <a:lnTo>
                    <a:pt x="159" y="128"/>
                  </a:lnTo>
                  <a:lnTo>
                    <a:pt x="153" y="110"/>
                  </a:lnTo>
                  <a:lnTo>
                    <a:pt x="140" y="108"/>
                  </a:lnTo>
                  <a:lnTo>
                    <a:pt x="127" y="100"/>
                  </a:lnTo>
                  <a:lnTo>
                    <a:pt x="114" y="91"/>
                  </a:lnTo>
                  <a:lnTo>
                    <a:pt x="90" y="83"/>
                  </a:lnTo>
                  <a:lnTo>
                    <a:pt x="75" y="84"/>
                  </a:lnTo>
                  <a:lnTo>
                    <a:pt x="59" y="86"/>
                  </a:lnTo>
                  <a:lnTo>
                    <a:pt x="48" y="97"/>
                  </a:lnTo>
                  <a:lnTo>
                    <a:pt x="43" y="97"/>
                  </a:lnTo>
                  <a:lnTo>
                    <a:pt x="39" y="83"/>
                  </a:lnTo>
                  <a:lnTo>
                    <a:pt x="35" y="67"/>
                  </a:lnTo>
                  <a:lnTo>
                    <a:pt x="26" y="61"/>
                  </a:lnTo>
                  <a:lnTo>
                    <a:pt x="25" y="62"/>
                  </a:lnTo>
                  <a:lnTo>
                    <a:pt x="27" y="59"/>
                  </a:lnTo>
                  <a:lnTo>
                    <a:pt x="30" y="56"/>
                  </a:lnTo>
                  <a:lnTo>
                    <a:pt x="26" y="50"/>
                  </a:lnTo>
                  <a:lnTo>
                    <a:pt x="19" y="52"/>
                  </a:lnTo>
                  <a:lnTo>
                    <a:pt x="19" y="53"/>
                  </a:lnTo>
                  <a:lnTo>
                    <a:pt x="14" y="35"/>
                  </a:lnTo>
                  <a:lnTo>
                    <a:pt x="17" y="34"/>
                  </a:lnTo>
                  <a:lnTo>
                    <a:pt x="25" y="34"/>
                  </a:lnTo>
                  <a:lnTo>
                    <a:pt x="32" y="38"/>
                  </a:lnTo>
                  <a:lnTo>
                    <a:pt x="36" y="37"/>
                  </a:lnTo>
                  <a:lnTo>
                    <a:pt x="37" y="35"/>
                  </a:lnTo>
                  <a:lnTo>
                    <a:pt x="39" y="30"/>
                  </a:lnTo>
                  <a:lnTo>
                    <a:pt x="25" y="14"/>
                  </a:lnTo>
                  <a:lnTo>
                    <a:pt x="12" y="13"/>
                  </a:lnTo>
                  <a:lnTo>
                    <a:pt x="13" y="28"/>
                  </a:lnTo>
                  <a:lnTo>
                    <a:pt x="13" y="30"/>
                  </a:lnTo>
                  <a:lnTo>
                    <a:pt x="3" y="11"/>
                  </a:lnTo>
                  <a:lnTo>
                    <a:pt x="5" y="2"/>
                  </a:lnTo>
                  <a:lnTo>
                    <a:pt x="0" y="0"/>
                  </a:lnTo>
                  <a:lnTo>
                    <a:pt x="25" y="0"/>
                  </a:lnTo>
                  <a:lnTo>
                    <a:pt x="24" y="12"/>
                  </a:lnTo>
                  <a:lnTo>
                    <a:pt x="41" y="17"/>
                  </a:lnTo>
                  <a:lnTo>
                    <a:pt x="57" y="23"/>
                  </a:lnTo>
                  <a:lnTo>
                    <a:pt x="78" y="26"/>
                  </a:lnTo>
                  <a:lnTo>
                    <a:pt x="74" y="17"/>
                  </a:lnTo>
                  <a:lnTo>
                    <a:pt x="81" y="13"/>
                  </a:lnTo>
                  <a:lnTo>
                    <a:pt x="93" y="0"/>
                  </a:lnTo>
                  <a:lnTo>
                    <a:pt x="113" y="13"/>
                  </a:lnTo>
                  <a:lnTo>
                    <a:pt x="125" y="31"/>
                  </a:lnTo>
                  <a:lnTo>
                    <a:pt x="144" y="38"/>
                  </a:lnTo>
                  <a:lnTo>
                    <a:pt x="157" y="46"/>
                  </a:lnTo>
                  <a:lnTo>
                    <a:pt x="182" y="61"/>
                  </a:lnTo>
                  <a:lnTo>
                    <a:pt x="207" y="77"/>
                  </a:lnTo>
                  <a:lnTo>
                    <a:pt x="217" y="95"/>
                  </a:lnTo>
                  <a:lnTo>
                    <a:pt x="211" y="100"/>
                  </a:lnTo>
                  <a:lnTo>
                    <a:pt x="206" y="10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1" name="Freeform 270"/>
            <p:cNvSpPr>
              <a:spLocks/>
            </p:cNvSpPr>
            <p:nvPr/>
          </p:nvSpPr>
          <p:spPr bwMode="auto">
            <a:xfrm>
              <a:off x="3542" y="1939"/>
              <a:ext cx="222" cy="180"/>
            </a:xfrm>
            <a:custGeom>
              <a:avLst/>
              <a:gdLst/>
              <a:ahLst/>
              <a:cxnLst>
                <a:cxn ang="0">
                  <a:pos x="1" y="71"/>
                </a:cxn>
                <a:cxn ang="0">
                  <a:pos x="0" y="73"/>
                </a:cxn>
                <a:cxn ang="0">
                  <a:pos x="0" y="83"/>
                </a:cxn>
                <a:cxn ang="0">
                  <a:pos x="6" y="88"/>
                </a:cxn>
                <a:cxn ang="0">
                  <a:pos x="4" y="91"/>
                </a:cxn>
                <a:cxn ang="0">
                  <a:pos x="8" y="106"/>
                </a:cxn>
                <a:cxn ang="0">
                  <a:pos x="10" y="121"/>
                </a:cxn>
                <a:cxn ang="0">
                  <a:pos x="26" y="126"/>
                </a:cxn>
                <a:cxn ang="0">
                  <a:pos x="28" y="133"/>
                </a:cxn>
                <a:cxn ang="0">
                  <a:pos x="18" y="154"/>
                </a:cxn>
                <a:cxn ang="0">
                  <a:pos x="31" y="157"/>
                </a:cxn>
                <a:cxn ang="0">
                  <a:pos x="43" y="162"/>
                </a:cxn>
                <a:cxn ang="0">
                  <a:pos x="67" y="161"/>
                </a:cxn>
                <a:cxn ang="0">
                  <a:pos x="84" y="157"/>
                </a:cxn>
                <a:cxn ang="0">
                  <a:pos x="99" y="154"/>
                </a:cxn>
                <a:cxn ang="0">
                  <a:pos x="99" y="146"/>
                </a:cxn>
                <a:cxn ang="0">
                  <a:pos x="102" y="132"/>
                </a:cxn>
                <a:cxn ang="0">
                  <a:pos x="116" y="126"/>
                </a:cxn>
                <a:cxn ang="0">
                  <a:pos x="121" y="121"/>
                </a:cxn>
                <a:cxn ang="0">
                  <a:pos x="135" y="121"/>
                </a:cxn>
                <a:cxn ang="0">
                  <a:pos x="136" y="102"/>
                </a:cxn>
                <a:cxn ang="0">
                  <a:pos x="148" y="91"/>
                </a:cxn>
                <a:cxn ang="0">
                  <a:pos x="140" y="82"/>
                </a:cxn>
                <a:cxn ang="0">
                  <a:pos x="153" y="80"/>
                </a:cxn>
                <a:cxn ang="0">
                  <a:pos x="156" y="72"/>
                </a:cxn>
                <a:cxn ang="0">
                  <a:pos x="160" y="59"/>
                </a:cxn>
                <a:cxn ang="0">
                  <a:pos x="152" y="44"/>
                </a:cxn>
                <a:cxn ang="0">
                  <a:pos x="159" y="34"/>
                </a:cxn>
                <a:cxn ang="0">
                  <a:pos x="177" y="29"/>
                </a:cxn>
                <a:cxn ang="0">
                  <a:pos x="195" y="25"/>
                </a:cxn>
                <a:cxn ang="0">
                  <a:pos x="195" y="22"/>
                </a:cxn>
                <a:cxn ang="0">
                  <a:pos x="199" y="22"/>
                </a:cxn>
                <a:cxn ang="0">
                  <a:pos x="200" y="22"/>
                </a:cxn>
                <a:cxn ang="0">
                  <a:pos x="187" y="20"/>
                </a:cxn>
                <a:cxn ang="0">
                  <a:pos x="182" y="19"/>
                </a:cxn>
                <a:cxn ang="0">
                  <a:pos x="170" y="20"/>
                </a:cxn>
                <a:cxn ang="0">
                  <a:pos x="152" y="30"/>
                </a:cxn>
                <a:cxn ang="0">
                  <a:pos x="146" y="8"/>
                </a:cxn>
                <a:cxn ang="0">
                  <a:pos x="142" y="8"/>
                </a:cxn>
                <a:cxn ang="0">
                  <a:pos x="138" y="0"/>
                </a:cxn>
                <a:cxn ang="0">
                  <a:pos x="130" y="4"/>
                </a:cxn>
                <a:cxn ang="0">
                  <a:pos x="128" y="14"/>
                </a:cxn>
                <a:cxn ang="0">
                  <a:pos x="117" y="19"/>
                </a:cxn>
                <a:cxn ang="0">
                  <a:pos x="114" y="23"/>
                </a:cxn>
                <a:cxn ang="0">
                  <a:pos x="104" y="23"/>
                </a:cxn>
                <a:cxn ang="0">
                  <a:pos x="96" y="24"/>
                </a:cxn>
                <a:cxn ang="0">
                  <a:pos x="91" y="22"/>
                </a:cxn>
                <a:cxn ang="0">
                  <a:pos x="76" y="19"/>
                </a:cxn>
                <a:cxn ang="0">
                  <a:pos x="62" y="17"/>
                </a:cxn>
                <a:cxn ang="0">
                  <a:pos x="56" y="22"/>
                </a:cxn>
                <a:cxn ang="0">
                  <a:pos x="51" y="26"/>
                </a:cxn>
                <a:cxn ang="0">
                  <a:pos x="45" y="41"/>
                </a:cxn>
                <a:cxn ang="0">
                  <a:pos x="32" y="48"/>
                </a:cxn>
                <a:cxn ang="0">
                  <a:pos x="27" y="56"/>
                </a:cxn>
                <a:cxn ang="0">
                  <a:pos x="19" y="55"/>
                </a:cxn>
                <a:cxn ang="0">
                  <a:pos x="4" y="50"/>
                </a:cxn>
                <a:cxn ang="0">
                  <a:pos x="1" y="71"/>
                </a:cxn>
              </a:cxnLst>
              <a:rect l="0" t="0" r="r" b="b"/>
              <a:pathLst>
                <a:path w="200" h="162">
                  <a:moveTo>
                    <a:pt x="1" y="71"/>
                  </a:moveTo>
                  <a:lnTo>
                    <a:pt x="0" y="73"/>
                  </a:lnTo>
                  <a:lnTo>
                    <a:pt x="0" y="83"/>
                  </a:lnTo>
                  <a:lnTo>
                    <a:pt x="6" y="88"/>
                  </a:lnTo>
                  <a:lnTo>
                    <a:pt x="4" y="91"/>
                  </a:lnTo>
                  <a:lnTo>
                    <a:pt x="8" y="106"/>
                  </a:lnTo>
                  <a:lnTo>
                    <a:pt x="10" y="121"/>
                  </a:lnTo>
                  <a:lnTo>
                    <a:pt x="26" y="126"/>
                  </a:lnTo>
                  <a:lnTo>
                    <a:pt x="28" y="133"/>
                  </a:lnTo>
                  <a:lnTo>
                    <a:pt x="18" y="154"/>
                  </a:lnTo>
                  <a:lnTo>
                    <a:pt x="31" y="157"/>
                  </a:lnTo>
                  <a:lnTo>
                    <a:pt x="43" y="162"/>
                  </a:lnTo>
                  <a:lnTo>
                    <a:pt x="67" y="161"/>
                  </a:lnTo>
                  <a:lnTo>
                    <a:pt x="84" y="157"/>
                  </a:lnTo>
                  <a:lnTo>
                    <a:pt x="99" y="154"/>
                  </a:lnTo>
                  <a:lnTo>
                    <a:pt x="99" y="146"/>
                  </a:lnTo>
                  <a:lnTo>
                    <a:pt x="102" y="132"/>
                  </a:lnTo>
                  <a:lnTo>
                    <a:pt x="116" y="126"/>
                  </a:lnTo>
                  <a:lnTo>
                    <a:pt x="121" y="121"/>
                  </a:lnTo>
                  <a:lnTo>
                    <a:pt x="135" y="121"/>
                  </a:lnTo>
                  <a:lnTo>
                    <a:pt x="136" y="102"/>
                  </a:lnTo>
                  <a:lnTo>
                    <a:pt x="148" y="91"/>
                  </a:lnTo>
                  <a:lnTo>
                    <a:pt x="140" y="82"/>
                  </a:lnTo>
                  <a:lnTo>
                    <a:pt x="153" y="80"/>
                  </a:lnTo>
                  <a:lnTo>
                    <a:pt x="156" y="72"/>
                  </a:lnTo>
                  <a:lnTo>
                    <a:pt x="160" y="59"/>
                  </a:lnTo>
                  <a:lnTo>
                    <a:pt x="152" y="44"/>
                  </a:lnTo>
                  <a:lnTo>
                    <a:pt x="159" y="34"/>
                  </a:lnTo>
                  <a:lnTo>
                    <a:pt x="177" y="29"/>
                  </a:lnTo>
                  <a:lnTo>
                    <a:pt x="195" y="25"/>
                  </a:lnTo>
                  <a:lnTo>
                    <a:pt x="195" y="22"/>
                  </a:lnTo>
                  <a:lnTo>
                    <a:pt x="199" y="22"/>
                  </a:lnTo>
                  <a:lnTo>
                    <a:pt x="200" y="22"/>
                  </a:lnTo>
                  <a:lnTo>
                    <a:pt x="187" y="20"/>
                  </a:lnTo>
                  <a:lnTo>
                    <a:pt x="182" y="19"/>
                  </a:lnTo>
                  <a:lnTo>
                    <a:pt x="170" y="20"/>
                  </a:lnTo>
                  <a:lnTo>
                    <a:pt x="152" y="30"/>
                  </a:lnTo>
                  <a:lnTo>
                    <a:pt x="146" y="8"/>
                  </a:lnTo>
                  <a:lnTo>
                    <a:pt x="142" y="8"/>
                  </a:lnTo>
                  <a:lnTo>
                    <a:pt x="138" y="0"/>
                  </a:lnTo>
                  <a:lnTo>
                    <a:pt x="130" y="4"/>
                  </a:lnTo>
                  <a:lnTo>
                    <a:pt x="128" y="14"/>
                  </a:lnTo>
                  <a:lnTo>
                    <a:pt x="117" y="19"/>
                  </a:lnTo>
                  <a:lnTo>
                    <a:pt x="114" y="23"/>
                  </a:lnTo>
                  <a:lnTo>
                    <a:pt x="104" y="23"/>
                  </a:lnTo>
                  <a:lnTo>
                    <a:pt x="96" y="24"/>
                  </a:lnTo>
                  <a:lnTo>
                    <a:pt x="91" y="22"/>
                  </a:lnTo>
                  <a:lnTo>
                    <a:pt x="76" y="19"/>
                  </a:lnTo>
                  <a:lnTo>
                    <a:pt x="62" y="17"/>
                  </a:lnTo>
                  <a:lnTo>
                    <a:pt x="56" y="22"/>
                  </a:lnTo>
                  <a:lnTo>
                    <a:pt x="51" y="26"/>
                  </a:lnTo>
                  <a:lnTo>
                    <a:pt x="45" y="41"/>
                  </a:lnTo>
                  <a:lnTo>
                    <a:pt x="32" y="48"/>
                  </a:lnTo>
                  <a:lnTo>
                    <a:pt x="27" y="56"/>
                  </a:lnTo>
                  <a:lnTo>
                    <a:pt x="19" y="55"/>
                  </a:lnTo>
                  <a:lnTo>
                    <a:pt x="4" y="50"/>
                  </a:lnTo>
                  <a:lnTo>
                    <a:pt x="1" y="7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2" name="Freeform 271"/>
            <p:cNvSpPr>
              <a:spLocks/>
            </p:cNvSpPr>
            <p:nvPr/>
          </p:nvSpPr>
          <p:spPr bwMode="auto">
            <a:xfrm>
              <a:off x="3069" y="1994"/>
              <a:ext cx="35" cy="20"/>
            </a:xfrm>
            <a:custGeom>
              <a:avLst/>
              <a:gdLst/>
              <a:ahLst/>
              <a:cxnLst>
                <a:cxn ang="0">
                  <a:pos x="31" y="0"/>
                </a:cxn>
                <a:cxn ang="0">
                  <a:pos x="12" y="6"/>
                </a:cxn>
                <a:cxn ang="0">
                  <a:pos x="0" y="11"/>
                </a:cxn>
                <a:cxn ang="0">
                  <a:pos x="5" y="19"/>
                </a:cxn>
                <a:cxn ang="0">
                  <a:pos x="23" y="13"/>
                </a:cxn>
                <a:cxn ang="0">
                  <a:pos x="21" y="10"/>
                </a:cxn>
                <a:cxn ang="0">
                  <a:pos x="31" y="0"/>
                </a:cxn>
              </a:cxnLst>
              <a:rect l="0" t="0" r="r" b="b"/>
              <a:pathLst>
                <a:path w="31" h="19">
                  <a:moveTo>
                    <a:pt x="31" y="0"/>
                  </a:moveTo>
                  <a:lnTo>
                    <a:pt x="12" y="6"/>
                  </a:lnTo>
                  <a:lnTo>
                    <a:pt x="0" y="11"/>
                  </a:lnTo>
                  <a:lnTo>
                    <a:pt x="5" y="19"/>
                  </a:lnTo>
                  <a:lnTo>
                    <a:pt x="23" y="13"/>
                  </a:lnTo>
                  <a:lnTo>
                    <a:pt x="21" y="10"/>
                  </a:lnTo>
                  <a:lnTo>
                    <a:pt x="3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3" name="Line 271"/>
            <p:cNvSpPr>
              <a:spLocks noChangeShapeType="1"/>
            </p:cNvSpPr>
            <p:nvPr/>
          </p:nvSpPr>
          <p:spPr bwMode="auto">
            <a:xfrm>
              <a:off x="3753" y="1967"/>
              <a:ext cx="2" cy="5"/>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4" name="Line 272"/>
            <p:cNvSpPr>
              <a:spLocks noChangeShapeType="1"/>
            </p:cNvSpPr>
            <p:nvPr/>
          </p:nvSpPr>
          <p:spPr bwMode="auto">
            <a:xfrm>
              <a:off x="3755" y="1970"/>
              <a:ext cx="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5" name="Line 273"/>
            <p:cNvSpPr>
              <a:spLocks noChangeShapeType="1"/>
            </p:cNvSpPr>
            <p:nvPr/>
          </p:nvSpPr>
          <p:spPr bwMode="auto">
            <a:xfrm flipH="1">
              <a:off x="3749" y="1974"/>
              <a:ext cx="6"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6" name="Line 274"/>
            <p:cNvSpPr>
              <a:spLocks noChangeShapeType="1"/>
            </p:cNvSpPr>
            <p:nvPr/>
          </p:nvSpPr>
          <p:spPr bwMode="auto">
            <a:xfrm flipH="1">
              <a:off x="3747" y="1976"/>
              <a:ext cx="4" cy="5"/>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7" name="Line 275"/>
            <p:cNvSpPr>
              <a:spLocks noChangeShapeType="1"/>
            </p:cNvSpPr>
            <p:nvPr/>
          </p:nvSpPr>
          <p:spPr bwMode="auto">
            <a:xfrm flipH="1">
              <a:off x="3742" y="1981"/>
              <a:ext cx="5"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8" name="Line 276"/>
            <p:cNvSpPr>
              <a:spLocks noChangeShapeType="1"/>
            </p:cNvSpPr>
            <p:nvPr/>
          </p:nvSpPr>
          <p:spPr bwMode="auto">
            <a:xfrm flipH="1">
              <a:off x="3740" y="1981"/>
              <a:ext cx="2" cy="6"/>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9" name="Line 277"/>
            <p:cNvSpPr>
              <a:spLocks noChangeShapeType="1"/>
            </p:cNvSpPr>
            <p:nvPr/>
          </p:nvSpPr>
          <p:spPr bwMode="auto">
            <a:xfrm>
              <a:off x="3740" y="1985"/>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0" name="Line 278"/>
            <p:cNvSpPr>
              <a:spLocks noChangeShapeType="1"/>
            </p:cNvSpPr>
            <p:nvPr/>
          </p:nvSpPr>
          <p:spPr bwMode="auto">
            <a:xfrm>
              <a:off x="3740" y="1990"/>
              <a:ext cx="2" cy="9"/>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1" name="Line 279"/>
            <p:cNvSpPr>
              <a:spLocks noChangeShapeType="1"/>
            </p:cNvSpPr>
            <p:nvPr/>
          </p:nvSpPr>
          <p:spPr bwMode="auto">
            <a:xfrm>
              <a:off x="3742" y="1996"/>
              <a:ext cx="5"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2" name="Line 280"/>
            <p:cNvSpPr>
              <a:spLocks noChangeShapeType="1"/>
            </p:cNvSpPr>
            <p:nvPr/>
          </p:nvSpPr>
          <p:spPr bwMode="auto">
            <a:xfrm>
              <a:off x="3744" y="2001"/>
              <a:ext cx="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3" name="Line 281"/>
            <p:cNvSpPr>
              <a:spLocks noChangeShapeType="1"/>
            </p:cNvSpPr>
            <p:nvPr/>
          </p:nvSpPr>
          <p:spPr bwMode="auto">
            <a:xfrm>
              <a:off x="3755" y="2027"/>
              <a:ext cx="3" cy="3"/>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4" name="Line 282"/>
            <p:cNvSpPr>
              <a:spLocks noChangeShapeType="1"/>
            </p:cNvSpPr>
            <p:nvPr/>
          </p:nvSpPr>
          <p:spPr bwMode="auto">
            <a:xfrm>
              <a:off x="3755" y="2027"/>
              <a:ext cx="9"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5" name="Line 283"/>
            <p:cNvSpPr>
              <a:spLocks noChangeShapeType="1"/>
            </p:cNvSpPr>
            <p:nvPr/>
          </p:nvSpPr>
          <p:spPr bwMode="auto">
            <a:xfrm>
              <a:off x="3762" y="2032"/>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6" name="Line 284"/>
            <p:cNvSpPr>
              <a:spLocks noChangeShapeType="1"/>
            </p:cNvSpPr>
            <p:nvPr/>
          </p:nvSpPr>
          <p:spPr bwMode="auto">
            <a:xfrm>
              <a:off x="3762" y="2036"/>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7" name="Line 285"/>
            <p:cNvSpPr>
              <a:spLocks noChangeShapeType="1"/>
            </p:cNvSpPr>
            <p:nvPr/>
          </p:nvSpPr>
          <p:spPr bwMode="auto">
            <a:xfrm>
              <a:off x="3764" y="2043"/>
              <a:ext cx="7"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8" name="Line 286"/>
            <p:cNvSpPr>
              <a:spLocks noChangeShapeType="1"/>
            </p:cNvSpPr>
            <p:nvPr/>
          </p:nvSpPr>
          <p:spPr bwMode="auto">
            <a:xfrm>
              <a:off x="3769" y="2045"/>
              <a:ext cx="6"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9" name="Line 287"/>
            <p:cNvSpPr>
              <a:spLocks noChangeShapeType="1"/>
            </p:cNvSpPr>
            <p:nvPr/>
          </p:nvSpPr>
          <p:spPr bwMode="auto">
            <a:xfrm flipV="1">
              <a:off x="3851" y="2021"/>
              <a:ext cx="9" cy="6"/>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0" name="Line 288"/>
            <p:cNvSpPr>
              <a:spLocks noChangeShapeType="1"/>
            </p:cNvSpPr>
            <p:nvPr/>
          </p:nvSpPr>
          <p:spPr bwMode="auto">
            <a:xfrm flipV="1">
              <a:off x="3858" y="2012"/>
              <a:ext cx="2" cy="11"/>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1" name="Line 289"/>
            <p:cNvSpPr>
              <a:spLocks noChangeShapeType="1"/>
            </p:cNvSpPr>
            <p:nvPr/>
          </p:nvSpPr>
          <p:spPr bwMode="auto">
            <a:xfrm flipV="1">
              <a:off x="3860" y="1996"/>
              <a:ext cx="2" cy="18"/>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2" name="Line 290"/>
            <p:cNvSpPr>
              <a:spLocks noChangeShapeType="1"/>
            </p:cNvSpPr>
            <p:nvPr/>
          </p:nvSpPr>
          <p:spPr bwMode="auto">
            <a:xfrm flipH="1" flipV="1">
              <a:off x="3849" y="1992"/>
              <a:ext cx="1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3" name="Line 291"/>
            <p:cNvSpPr>
              <a:spLocks noChangeShapeType="1"/>
            </p:cNvSpPr>
            <p:nvPr/>
          </p:nvSpPr>
          <p:spPr bwMode="auto">
            <a:xfrm flipH="1" flipV="1">
              <a:off x="3847" y="1990"/>
              <a:ext cx="2"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4" name="Line 292"/>
            <p:cNvSpPr>
              <a:spLocks noChangeShapeType="1"/>
            </p:cNvSpPr>
            <p:nvPr/>
          </p:nvSpPr>
          <p:spPr bwMode="auto">
            <a:xfrm flipH="1">
              <a:off x="3820" y="1996"/>
              <a:ext cx="2" cy="3"/>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5" name="Freeform 294"/>
            <p:cNvSpPr>
              <a:spLocks/>
            </p:cNvSpPr>
            <p:nvPr/>
          </p:nvSpPr>
          <p:spPr bwMode="auto">
            <a:xfrm>
              <a:off x="3120" y="2014"/>
              <a:ext cx="20" cy="31"/>
            </a:xfrm>
            <a:custGeom>
              <a:avLst/>
              <a:gdLst/>
              <a:ahLst/>
              <a:cxnLst>
                <a:cxn ang="0">
                  <a:pos x="17" y="16"/>
                </a:cxn>
                <a:cxn ang="0">
                  <a:pos x="7" y="25"/>
                </a:cxn>
                <a:cxn ang="0">
                  <a:pos x="0" y="29"/>
                </a:cxn>
                <a:cxn ang="0">
                  <a:pos x="5" y="15"/>
                </a:cxn>
                <a:cxn ang="0">
                  <a:pos x="10" y="0"/>
                </a:cxn>
                <a:cxn ang="0">
                  <a:pos x="19" y="5"/>
                </a:cxn>
                <a:cxn ang="0">
                  <a:pos x="17" y="16"/>
                </a:cxn>
              </a:cxnLst>
              <a:rect l="0" t="0" r="r" b="b"/>
              <a:pathLst>
                <a:path w="19" h="29">
                  <a:moveTo>
                    <a:pt x="17" y="16"/>
                  </a:moveTo>
                  <a:lnTo>
                    <a:pt x="7" y="25"/>
                  </a:lnTo>
                  <a:lnTo>
                    <a:pt x="0" y="29"/>
                  </a:lnTo>
                  <a:lnTo>
                    <a:pt x="5" y="15"/>
                  </a:lnTo>
                  <a:lnTo>
                    <a:pt x="10" y="0"/>
                  </a:lnTo>
                  <a:lnTo>
                    <a:pt x="19" y="5"/>
                  </a:lnTo>
                  <a:lnTo>
                    <a:pt x="17"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6" name="Freeform 295"/>
            <p:cNvSpPr>
              <a:spLocks/>
            </p:cNvSpPr>
            <p:nvPr/>
          </p:nvSpPr>
          <p:spPr bwMode="auto">
            <a:xfrm>
              <a:off x="3127" y="1963"/>
              <a:ext cx="102" cy="98"/>
            </a:xfrm>
            <a:custGeom>
              <a:avLst/>
              <a:gdLst/>
              <a:ahLst/>
              <a:cxnLst>
                <a:cxn ang="0">
                  <a:pos x="59" y="6"/>
                </a:cxn>
                <a:cxn ang="0">
                  <a:pos x="36" y="6"/>
                </a:cxn>
                <a:cxn ang="0">
                  <a:pos x="13" y="7"/>
                </a:cxn>
                <a:cxn ang="0">
                  <a:pos x="9" y="9"/>
                </a:cxn>
                <a:cxn ang="0">
                  <a:pos x="7" y="17"/>
                </a:cxn>
                <a:cxn ang="0">
                  <a:pos x="1" y="23"/>
                </a:cxn>
                <a:cxn ang="0">
                  <a:pos x="0" y="21"/>
                </a:cxn>
                <a:cxn ang="0">
                  <a:pos x="4" y="44"/>
                </a:cxn>
                <a:cxn ang="0">
                  <a:pos x="13" y="49"/>
                </a:cxn>
                <a:cxn ang="0">
                  <a:pos x="11" y="60"/>
                </a:cxn>
                <a:cxn ang="0">
                  <a:pos x="1" y="69"/>
                </a:cxn>
                <a:cxn ang="0">
                  <a:pos x="3" y="79"/>
                </a:cxn>
                <a:cxn ang="0">
                  <a:pos x="22" y="86"/>
                </a:cxn>
                <a:cxn ang="0">
                  <a:pos x="35" y="77"/>
                </a:cxn>
                <a:cxn ang="0">
                  <a:pos x="49" y="67"/>
                </a:cxn>
                <a:cxn ang="0">
                  <a:pos x="64" y="59"/>
                </a:cxn>
                <a:cxn ang="0">
                  <a:pos x="79" y="49"/>
                </a:cxn>
                <a:cxn ang="0">
                  <a:pos x="79" y="31"/>
                </a:cxn>
                <a:cxn ang="0">
                  <a:pos x="79" y="14"/>
                </a:cxn>
                <a:cxn ang="0">
                  <a:pos x="93" y="1"/>
                </a:cxn>
                <a:cxn ang="0">
                  <a:pos x="88" y="0"/>
                </a:cxn>
                <a:cxn ang="0">
                  <a:pos x="73" y="2"/>
                </a:cxn>
                <a:cxn ang="0">
                  <a:pos x="59" y="6"/>
                </a:cxn>
              </a:cxnLst>
              <a:rect l="0" t="0" r="r" b="b"/>
              <a:pathLst>
                <a:path w="93" h="86">
                  <a:moveTo>
                    <a:pt x="59" y="6"/>
                  </a:moveTo>
                  <a:lnTo>
                    <a:pt x="36" y="6"/>
                  </a:lnTo>
                  <a:lnTo>
                    <a:pt x="13" y="7"/>
                  </a:lnTo>
                  <a:lnTo>
                    <a:pt x="9" y="9"/>
                  </a:lnTo>
                  <a:lnTo>
                    <a:pt x="7" y="17"/>
                  </a:lnTo>
                  <a:lnTo>
                    <a:pt x="1" y="23"/>
                  </a:lnTo>
                  <a:lnTo>
                    <a:pt x="0" y="21"/>
                  </a:lnTo>
                  <a:lnTo>
                    <a:pt x="4" y="44"/>
                  </a:lnTo>
                  <a:lnTo>
                    <a:pt x="13" y="49"/>
                  </a:lnTo>
                  <a:lnTo>
                    <a:pt x="11" y="60"/>
                  </a:lnTo>
                  <a:lnTo>
                    <a:pt x="1" y="69"/>
                  </a:lnTo>
                  <a:lnTo>
                    <a:pt x="3" y="79"/>
                  </a:lnTo>
                  <a:lnTo>
                    <a:pt x="22" y="86"/>
                  </a:lnTo>
                  <a:lnTo>
                    <a:pt x="35" y="77"/>
                  </a:lnTo>
                  <a:lnTo>
                    <a:pt x="49" y="67"/>
                  </a:lnTo>
                  <a:lnTo>
                    <a:pt x="64" y="59"/>
                  </a:lnTo>
                  <a:lnTo>
                    <a:pt x="79" y="49"/>
                  </a:lnTo>
                  <a:lnTo>
                    <a:pt x="79" y="31"/>
                  </a:lnTo>
                  <a:lnTo>
                    <a:pt x="79" y="14"/>
                  </a:lnTo>
                  <a:lnTo>
                    <a:pt x="93" y="1"/>
                  </a:lnTo>
                  <a:lnTo>
                    <a:pt x="88" y="0"/>
                  </a:lnTo>
                  <a:lnTo>
                    <a:pt x="73" y="2"/>
                  </a:lnTo>
                  <a:lnTo>
                    <a:pt x="5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7" name="Freeform 296"/>
            <p:cNvSpPr>
              <a:spLocks/>
            </p:cNvSpPr>
            <p:nvPr/>
          </p:nvSpPr>
          <p:spPr bwMode="auto">
            <a:xfrm>
              <a:off x="3629" y="1874"/>
              <a:ext cx="138" cy="98"/>
            </a:xfrm>
            <a:custGeom>
              <a:avLst/>
              <a:gdLst/>
              <a:ahLst/>
              <a:cxnLst>
                <a:cxn ang="0">
                  <a:pos x="104" y="78"/>
                </a:cxn>
                <a:cxn ang="0">
                  <a:pos x="92" y="79"/>
                </a:cxn>
                <a:cxn ang="0">
                  <a:pos x="74" y="89"/>
                </a:cxn>
                <a:cxn ang="0">
                  <a:pos x="68" y="67"/>
                </a:cxn>
                <a:cxn ang="0">
                  <a:pos x="64" y="67"/>
                </a:cxn>
                <a:cxn ang="0">
                  <a:pos x="60" y="59"/>
                </a:cxn>
                <a:cxn ang="0">
                  <a:pos x="52" y="63"/>
                </a:cxn>
                <a:cxn ang="0">
                  <a:pos x="50" y="73"/>
                </a:cxn>
                <a:cxn ang="0">
                  <a:pos x="39" y="78"/>
                </a:cxn>
                <a:cxn ang="0">
                  <a:pos x="36" y="82"/>
                </a:cxn>
                <a:cxn ang="0">
                  <a:pos x="26" y="82"/>
                </a:cxn>
                <a:cxn ang="0">
                  <a:pos x="18" y="83"/>
                </a:cxn>
                <a:cxn ang="0">
                  <a:pos x="13" y="81"/>
                </a:cxn>
                <a:cxn ang="0">
                  <a:pos x="16" y="69"/>
                </a:cxn>
                <a:cxn ang="0">
                  <a:pos x="20" y="57"/>
                </a:cxn>
                <a:cxn ang="0">
                  <a:pos x="16" y="51"/>
                </a:cxn>
                <a:cxn ang="0">
                  <a:pos x="6" y="45"/>
                </a:cxn>
                <a:cxn ang="0">
                  <a:pos x="0" y="37"/>
                </a:cxn>
                <a:cxn ang="0">
                  <a:pos x="14" y="23"/>
                </a:cxn>
                <a:cxn ang="0">
                  <a:pos x="30" y="10"/>
                </a:cxn>
                <a:cxn ang="0">
                  <a:pos x="40" y="0"/>
                </a:cxn>
                <a:cxn ang="0">
                  <a:pos x="61" y="3"/>
                </a:cxn>
                <a:cxn ang="0">
                  <a:pos x="76" y="12"/>
                </a:cxn>
                <a:cxn ang="0">
                  <a:pos x="58" y="18"/>
                </a:cxn>
                <a:cxn ang="0">
                  <a:pos x="40" y="24"/>
                </a:cxn>
                <a:cxn ang="0">
                  <a:pos x="42" y="36"/>
                </a:cxn>
                <a:cxn ang="0">
                  <a:pos x="67" y="40"/>
                </a:cxn>
                <a:cxn ang="0">
                  <a:pos x="92" y="42"/>
                </a:cxn>
                <a:cxn ang="0">
                  <a:pos x="100" y="57"/>
                </a:cxn>
                <a:cxn ang="0">
                  <a:pos x="115" y="58"/>
                </a:cxn>
                <a:cxn ang="0">
                  <a:pos x="123" y="79"/>
                </a:cxn>
                <a:cxn ang="0">
                  <a:pos x="122" y="81"/>
                </a:cxn>
                <a:cxn ang="0">
                  <a:pos x="109" y="79"/>
                </a:cxn>
                <a:cxn ang="0">
                  <a:pos x="104" y="78"/>
                </a:cxn>
              </a:cxnLst>
              <a:rect l="0" t="0" r="r" b="b"/>
              <a:pathLst>
                <a:path w="123" h="89">
                  <a:moveTo>
                    <a:pt x="104" y="78"/>
                  </a:moveTo>
                  <a:lnTo>
                    <a:pt x="92" y="79"/>
                  </a:lnTo>
                  <a:lnTo>
                    <a:pt x="74" y="89"/>
                  </a:lnTo>
                  <a:lnTo>
                    <a:pt x="68" y="67"/>
                  </a:lnTo>
                  <a:lnTo>
                    <a:pt x="64" y="67"/>
                  </a:lnTo>
                  <a:lnTo>
                    <a:pt x="60" y="59"/>
                  </a:lnTo>
                  <a:lnTo>
                    <a:pt x="52" y="63"/>
                  </a:lnTo>
                  <a:lnTo>
                    <a:pt x="50" y="73"/>
                  </a:lnTo>
                  <a:lnTo>
                    <a:pt x="39" y="78"/>
                  </a:lnTo>
                  <a:lnTo>
                    <a:pt x="36" y="82"/>
                  </a:lnTo>
                  <a:lnTo>
                    <a:pt x="26" y="82"/>
                  </a:lnTo>
                  <a:lnTo>
                    <a:pt x="18" y="83"/>
                  </a:lnTo>
                  <a:lnTo>
                    <a:pt x="13" y="81"/>
                  </a:lnTo>
                  <a:lnTo>
                    <a:pt x="16" y="69"/>
                  </a:lnTo>
                  <a:lnTo>
                    <a:pt x="20" y="57"/>
                  </a:lnTo>
                  <a:lnTo>
                    <a:pt x="16" y="51"/>
                  </a:lnTo>
                  <a:lnTo>
                    <a:pt x="6" y="45"/>
                  </a:lnTo>
                  <a:lnTo>
                    <a:pt x="0" y="37"/>
                  </a:lnTo>
                  <a:lnTo>
                    <a:pt x="14" y="23"/>
                  </a:lnTo>
                  <a:lnTo>
                    <a:pt x="30" y="10"/>
                  </a:lnTo>
                  <a:lnTo>
                    <a:pt x="40" y="0"/>
                  </a:lnTo>
                  <a:lnTo>
                    <a:pt x="61" y="3"/>
                  </a:lnTo>
                  <a:lnTo>
                    <a:pt x="76" y="12"/>
                  </a:lnTo>
                  <a:lnTo>
                    <a:pt x="58" y="18"/>
                  </a:lnTo>
                  <a:lnTo>
                    <a:pt x="40" y="24"/>
                  </a:lnTo>
                  <a:lnTo>
                    <a:pt x="42" y="36"/>
                  </a:lnTo>
                  <a:lnTo>
                    <a:pt x="67" y="40"/>
                  </a:lnTo>
                  <a:lnTo>
                    <a:pt x="92" y="42"/>
                  </a:lnTo>
                  <a:lnTo>
                    <a:pt x="100" y="57"/>
                  </a:lnTo>
                  <a:lnTo>
                    <a:pt x="115" y="58"/>
                  </a:lnTo>
                  <a:lnTo>
                    <a:pt x="123" y="79"/>
                  </a:lnTo>
                  <a:lnTo>
                    <a:pt x="122" y="81"/>
                  </a:lnTo>
                  <a:lnTo>
                    <a:pt x="109" y="79"/>
                  </a:lnTo>
                  <a:lnTo>
                    <a:pt x="104" y="7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8" name="Freeform 297"/>
            <p:cNvSpPr>
              <a:spLocks/>
            </p:cNvSpPr>
            <p:nvPr/>
          </p:nvSpPr>
          <p:spPr bwMode="auto">
            <a:xfrm>
              <a:off x="3415" y="1790"/>
              <a:ext cx="258" cy="173"/>
            </a:xfrm>
            <a:custGeom>
              <a:avLst/>
              <a:gdLst/>
              <a:ahLst/>
              <a:cxnLst>
                <a:cxn ang="0">
                  <a:pos x="165" y="132"/>
                </a:cxn>
                <a:cxn ang="0">
                  <a:pos x="140" y="116"/>
                </a:cxn>
                <a:cxn ang="0">
                  <a:pos x="115" y="101"/>
                </a:cxn>
                <a:cxn ang="0">
                  <a:pos x="102" y="93"/>
                </a:cxn>
                <a:cxn ang="0">
                  <a:pos x="83" y="86"/>
                </a:cxn>
                <a:cxn ang="0">
                  <a:pos x="71" y="68"/>
                </a:cxn>
                <a:cxn ang="0">
                  <a:pos x="51" y="55"/>
                </a:cxn>
                <a:cxn ang="0">
                  <a:pos x="39" y="68"/>
                </a:cxn>
                <a:cxn ang="0">
                  <a:pos x="32" y="72"/>
                </a:cxn>
                <a:cxn ang="0">
                  <a:pos x="36" y="81"/>
                </a:cxn>
                <a:cxn ang="0">
                  <a:pos x="15" y="78"/>
                </a:cxn>
                <a:cxn ang="0">
                  <a:pos x="12" y="61"/>
                </a:cxn>
                <a:cxn ang="0">
                  <a:pos x="7" y="45"/>
                </a:cxn>
                <a:cxn ang="0">
                  <a:pos x="3" y="30"/>
                </a:cxn>
                <a:cxn ang="0">
                  <a:pos x="0" y="13"/>
                </a:cxn>
                <a:cxn ang="0">
                  <a:pos x="18" y="7"/>
                </a:cxn>
                <a:cxn ang="0">
                  <a:pos x="35" y="0"/>
                </a:cxn>
                <a:cxn ang="0">
                  <a:pos x="54" y="11"/>
                </a:cxn>
                <a:cxn ang="0">
                  <a:pos x="73" y="20"/>
                </a:cxn>
                <a:cxn ang="0">
                  <a:pos x="87" y="37"/>
                </a:cxn>
                <a:cxn ang="0">
                  <a:pos x="103" y="38"/>
                </a:cxn>
                <a:cxn ang="0">
                  <a:pos x="117" y="39"/>
                </a:cxn>
                <a:cxn ang="0">
                  <a:pos x="133" y="41"/>
                </a:cxn>
                <a:cxn ang="0">
                  <a:pos x="149" y="42"/>
                </a:cxn>
                <a:cxn ang="0">
                  <a:pos x="164" y="53"/>
                </a:cxn>
                <a:cxn ang="0">
                  <a:pos x="165" y="67"/>
                </a:cxn>
                <a:cxn ang="0">
                  <a:pos x="180" y="74"/>
                </a:cxn>
                <a:cxn ang="0">
                  <a:pos x="193" y="81"/>
                </a:cxn>
                <a:cxn ang="0">
                  <a:pos x="207" y="72"/>
                </a:cxn>
                <a:cxn ang="0">
                  <a:pos x="221" y="61"/>
                </a:cxn>
                <a:cxn ang="0">
                  <a:pos x="231" y="74"/>
                </a:cxn>
                <a:cxn ang="0">
                  <a:pos x="221" y="84"/>
                </a:cxn>
                <a:cxn ang="0">
                  <a:pos x="205" y="97"/>
                </a:cxn>
                <a:cxn ang="0">
                  <a:pos x="191" y="111"/>
                </a:cxn>
                <a:cxn ang="0">
                  <a:pos x="197" y="119"/>
                </a:cxn>
                <a:cxn ang="0">
                  <a:pos x="207" y="125"/>
                </a:cxn>
                <a:cxn ang="0">
                  <a:pos x="211" y="131"/>
                </a:cxn>
                <a:cxn ang="0">
                  <a:pos x="207" y="143"/>
                </a:cxn>
                <a:cxn ang="0">
                  <a:pos x="204" y="155"/>
                </a:cxn>
                <a:cxn ang="0">
                  <a:pos x="189" y="152"/>
                </a:cxn>
                <a:cxn ang="0">
                  <a:pos x="175" y="150"/>
                </a:cxn>
                <a:cxn ang="0">
                  <a:pos x="165" y="132"/>
                </a:cxn>
              </a:cxnLst>
              <a:rect l="0" t="0" r="r" b="b"/>
              <a:pathLst>
                <a:path w="231" h="155">
                  <a:moveTo>
                    <a:pt x="165" y="132"/>
                  </a:moveTo>
                  <a:lnTo>
                    <a:pt x="140" y="116"/>
                  </a:lnTo>
                  <a:lnTo>
                    <a:pt x="115" y="101"/>
                  </a:lnTo>
                  <a:lnTo>
                    <a:pt x="102" y="93"/>
                  </a:lnTo>
                  <a:lnTo>
                    <a:pt x="83" y="86"/>
                  </a:lnTo>
                  <a:lnTo>
                    <a:pt x="71" y="68"/>
                  </a:lnTo>
                  <a:lnTo>
                    <a:pt x="51" y="55"/>
                  </a:lnTo>
                  <a:lnTo>
                    <a:pt x="39" y="68"/>
                  </a:lnTo>
                  <a:lnTo>
                    <a:pt x="32" y="72"/>
                  </a:lnTo>
                  <a:lnTo>
                    <a:pt x="36" y="81"/>
                  </a:lnTo>
                  <a:lnTo>
                    <a:pt x="15" y="78"/>
                  </a:lnTo>
                  <a:lnTo>
                    <a:pt x="12" y="61"/>
                  </a:lnTo>
                  <a:lnTo>
                    <a:pt x="7" y="45"/>
                  </a:lnTo>
                  <a:lnTo>
                    <a:pt x="3" y="30"/>
                  </a:lnTo>
                  <a:lnTo>
                    <a:pt x="0" y="13"/>
                  </a:lnTo>
                  <a:lnTo>
                    <a:pt x="18" y="7"/>
                  </a:lnTo>
                  <a:lnTo>
                    <a:pt x="35" y="0"/>
                  </a:lnTo>
                  <a:lnTo>
                    <a:pt x="54" y="11"/>
                  </a:lnTo>
                  <a:lnTo>
                    <a:pt x="73" y="20"/>
                  </a:lnTo>
                  <a:lnTo>
                    <a:pt x="87" y="37"/>
                  </a:lnTo>
                  <a:lnTo>
                    <a:pt x="103" y="38"/>
                  </a:lnTo>
                  <a:lnTo>
                    <a:pt x="117" y="39"/>
                  </a:lnTo>
                  <a:lnTo>
                    <a:pt x="133" y="41"/>
                  </a:lnTo>
                  <a:lnTo>
                    <a:pt x="149" y="42"/>
                  </a:lnTo>
                  <a:lnTo>
                    <a:pt x="164" y="53"/>
                  </a:lnTo>
                  <a:lnTo>
                    <a:pt x="165" y="67"/>
                  </a:lnTo>
                  <a:lnTo>
                    <a:pt x="180" y="74"/>
                  </a:lnTo>
                  <a:lnTo>
                    <a:pt x="193" y="81"/>
                  </a:lnTo>
                  <a:lnTo>
                    <a:pt x="207" y="72"/>
                  </a:lnTo>
                  <a:lnTo>
                    <a:pt x="221" y="61"/>
                  </a:lnTo>
                  <a:lnTo>
                    <a:pt x="231" y="74"/>
                  </a:lnTo>
                  <a:lnTo>
                    <a:pt x="221" y="84"/>
                  </a:lnTo>
                  <a:lnTo>
                    <a:pt x="205" y="97"/>
                  </a:lnTo>
                  <a:lnTo>
                    <a:pt x="191" y="111"/>
                  </a:lnTo>
                  <a:lnTo>
                    <a:pt x="197" y="119"/>
                  </a:lnTo>
                  <a:lnTo>
                    <a:pt x="207" y="125"/>
                  </a:lnTo>
                  <a:lnTo>
                    <a:pt x="211" y="131"/>
                  </a:lnTo>
                  <a:lnTo>
                    <a:pt x="207" y="143"/>
                  </a:lnTo>
                  <a:lnTo>
                    <a:pt x="204" y="155"/>
                  </a:lnTo>
                  <a:lnTo>
                    <a:pt x="189" y="152"/>
                  </a:lnTo>
                  <a:lnTo>
                    <a:pt x="175" y="150"/>
                  </a:lnTo>
                  <a:lnTo>
                    <a:pt x="165" y="1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9" name="Freeform 298"/>
            <p:cNvSpPr>
              <a:spLocks/>
            </p:cNvSpPr>
            <p:nvPr/>
          </p:nvSpPr>
          <p:spPr bwMode="auto">
            <a:xfrm>
              <a:off x="2860" y="1861"/>
              <a:ext cx="40" cy="29"/>
            </a:xfrm>
            <a:custGeom>
              <a:avLst/>
              <a:gdLst/>
              <a:ahLst/>
              <a:cxnLst>
                <a:cxn ang="0">
                  <a:pos x="10" y="27"/>
                </a:cxn>
                <a:cxn ang="0">
                  <a:pos x="0" y="9"/>
                </a:cxn>
                <a:cxn ang="0">
                  <a:pos x="3" y="8"/>
                </a:cxn>
                <a:cxn ang="0">
                  <a:pos x="3" y="5"/>
                </a:cxn>
                <a:cxn ang="0">
                  <a:pos x="8" y="4"/>
                </a:cxn>
                <a:cxn ang="0">
                  <a:pos x="11" y="5"/>
                </a:cxn>
                <a:cxn ang="0">
                  <a:pos x="14" y="2"/>
                </a:cxn>
                <a:cxn ang="0">
                  <a:pos x="16" y="3"/>
                </a:cxn>
                <a:cxn ang="0">
                  <a:pos x="18" y="3"/>
                </a:cxn>
                <a:cxn ang="0">
                  <a:pos x="21" y="2"/>
                </a:cxn>
                <a:cxn ang="0">
                  <a:pos x="26" y="0"/>
                </a:cxn>
                <a:cxn ang="0">
                  <a:pos x="29" y="4"/>
                </a:cxn>
                <a:cxn ang="0">
                  <a:pos x="32" y="3"/>
                </a:cxn>
                <a:cxn ang="0">
                  <a:pos x="34" y="5"/>
                </a:cxn>
                <a:cxn ang="0">
                  <a:pos x="36" y="18"/>
                </a:cxn>
                <a:cxn ang="0">
                  <a:pos x="10" y="27"/>
                </a:cxn>
              </a:cxnLst>
              <a:rect l="0" t="0" r="r" b="b"/>
              <a:pathLst>
                <a:path w="36" h="27">
                  <a:moveTo>
                    <a:pt x="10" y="27"/>
                  </a:moveTo>
                  <a:lnTo>
                    <a:pt x="0" y="9"/>
                  </a:lnTo>
                  <a:lnTo>
                    <a:pt x="3" y="8"/>
                  </a:lnTo>
                  <a:lnTo>
                    <a:pt x="3" y="5"/>
                  </a:lnTo>
                  <a:lnTo>
                    <a:pt x="8" y="4"/>
                  </a:lnTo>
                  <a:lnTo>
                    <a:pt x="11" y="5"/>
                  </a:lnTo>
                  <a:lnTo>
                    <a:pt x="14" y="2"/>
                  </a:lnTo>
                  <a:lnTo>
                    <a:pt x="16" y="3"/>
                  </a:lnTo>
                  <a:lnTo>
                    <a:pt x="18" y="3"/>
                  </a:lnTo>
                  <a:lnTo>
                    <a:pt x="21" y="2"/>
                  </a:lnTo>
                  <a:lnTo>
                    <a:pt x="26" y="0"/>
                  </a:lnTo>
                  <a:lnTo>
                    <a:pt x="29" y="4"/>
                  </a:lnTo>
                  <a:lnTo>
                    <a:pt x="32" y="3"/>
                  </a:lnTo>
                  <a:lnTo>
                    <a:pt x="34" y="5"/>
                  </a:lnTo>
                  <a:lnTo>
                    <a:pt x="36" y="18"/>
                  </a:lnTo>
                  <a:lnTo>
                    <a:pt x="1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0" name="Freeform 299"/>
            <p:cNvSpPr>
              <a:spLocks/>
            </p:cNvSpPr>
            <p:nvPr/>
          </p:nvSpPr>
          <p:spPr bwMode="auto">
            <a:xfrm>
              <a:off x="2889" y="1823"/>
              <a:ext cx="98" cy="58"/>
            </a:xfrm>
            <a:custGeom>
              <a:avLst/>
              <a:gdLst/>
              <a:ahLst/>
              <a:cxnLst>
                <a:cxn ang="0">
                  <a:pos x="5" y="5"/>
                </a:cxn>
                <a:cxn ang="0">
                  <a:pos x="1" y="0"/>
                </a:cxn>
                <a:cxn ang="0">
                  <a:pos x="0" y="11"/>
                </a:cxn>
                <a:cxn ang="0">
                  <a:pos x="6" y="20"/>
                </a:cxn>
                <a:cxn ang="0">
                  <a:pos x="0" y="30"/>
                </a:cxn>
                <a:cxn ang="0">
                  <a:pos x="5" y="36"/>
                </a:cxn>
                <a:cxn ang="0">
                  <a:pos x="7" y="38"/>
                </a:cxn>
                <a:cxn ang="0">
                  <a:pos x="9" y="51"/>
                </a:cxn>
                <a:cxn ang="0">
                  <a:pos x="25" y="49"/>
                </a:cxn>
                <a:cxn ang="0">
                  <a:pos x="50" y="51"/>
                </a:cxn>
                <a:cxn ang="0">
                  <a:pos x="56" y="47"/>
                </a:cxn>
                <a:cxn ang="0">
                  <a:pos x="59" y="44"/>
                </a:cxn>
                <a:cxn ang="0">
                  <a:pos x="61" y="41"/>
                </a:cxn>
                <a:cxn ang="0">
                  <a:pos x="83" y="39"/>
                </a:cxn>
                <a:cxn ang="0">
                  <a:pos x="77" y="32"/>
                </a:cxn>
                <a:cxn ang="0">
                  <a:pos x="79" y="25"/>
                </a:cxn>
                <a:cxn ang="0">
                  <a:pos x="83" y="14"/>
                </a:cxn>
                <a:cxn ang="0">
                  <a:pos x="86" y="8"/>
                </a:cxn>
                <a:cxn ang="0">
                  <a:pos x="59" y="2"/>
                </a:cxn>
                <a:cxn ang="0">
                  <a:pos x="37" y="9"/>
                </a:cxn>
                <a:cxn ang="0">
                  <a:pos x="20" y="7"/>
                </a:cxn>
                <a:cxn ang="0">
                  <a:pos x="5" y="5"/>
                </a:cxn>
              </a:cxnLst>
              <a:rect l="0" t="0" r="r" b="b"/>
              <a:pathLst>
                <a:path w="86" h="51">
                  <a:moveTo>
                    <a:pt x="5" y="5"/>
                  </a:moveTo>
                  <a:lnTo>
                    <a:pt x="1" y="0"/>
                  </a:lnTo>
                  <a:lnTo>
                    <a:pt x="0" y="11"/>
                  </a:lnTo>
                  <a:lnTo>
                    <a:pt x="6" y="20"/>
                  </a:lnTo>
                  <a:lnTo>
                    <a:pt x="0" y="30"/>
                  </a:lnTo>
                  <a:lnTo>
                    <a:pt x="5" y="36"/>
                  </a:lnTo>
                  <a:lnTo>
                    <a:pt x="7" y="38"/>
                  </a:lnTo>
                  <a:lnTo>
                    <a:pt x="9" y="51"/>
                  </a:lnTo>
                  <a:lnTo>
                    <a:pt x="25" y="49"/>
                  </a:lnTo>
                  <a:lnTo>
                    <a:pt x="50" y="51"/>
                  </a:lnTo>
                  <a:lnTo>
                    <a:pt x="56" y="47"/>
                  </a:lnTo>
                  <a:lnTo>
                    <a:pt x="59" y="44"/>
                  </a:lnTo>
                  <a:lnTo>
                    <a:pt x="61" y="41"/>
                  </a:lnTo>
                  <a:lnTo>
                    <a:pt x="83" y="39"/>
                  </a:lnTo>
                  <a:lnTo>
                    <a:pt x="77" y="32"/>
                  </a:lnTo>
                  <a:lnTo>
                    <a:pt x="79" y="25"/>
                  </a:lnTo>
                  <a:lnTo>
                    <a:pt x="83" y="14"/>
                  </a:lnTo>
                  <a:lnTo>
                    <a:pt x="86" y="8"/>
                  </a:lnTo>
                  <a:lnTo>
                    <a:pt x="59" y="2"/>
                  </a:lnTo>
                  <a:lnTo>
                    <a:pt x="37" y="9"/>
                  </a:lnTo>
                  <a:lnTo>
                    <a:pt x="20" y="7"/>
                  </a:lnTo>
                  <a:lnTo>
                    <a:pt x="5"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1" name="Freeform 300"/>
            <p:cNvSpPr>
              <a:spLocks/>
            </p:cNvSpPr>
            <p:nvPr/>
          </p:nvSpPr>
          <p:spPr bwMode="auto">
            <a:xfrm>
              <a:off x="2842" y="1856"/>
              <a:ext cx="29" cy="58"/>
            </a:xfrm>
            <a:custGeom>
              <a:avLst/>
              <a:gdLst/>
              <a:ahLst/>
              <a:cxnLst>
                <a:cxn ang="0">
                  <a:pos x="0" y="12"/>
                </a:cxn>
                <a:cxn ang="0">
                  <a:pos x="2" y="36"/>
                </a:cxn>
                <a:cxn ang="0">
                  <a:pos x="13" y="50"/>
                </a:cxn>
                <a:cxn ang="0">
                  <a:pos x="17" y="45"/>
                </a:cxn>
                <a:cxn ang="0">
                  <a:pos x="25" y="31"/>
                </a:cxn>
                <a:cxn ang="0">
                  <a:pos x="25" y="30"/>
                </a:cxn>
                <a:cxn ang="0">
                  <a:pos x="15" y="12"/>
                </a:cxn>
                <a:cxn ang="0">
                  <a:pos x="11" y="2"/>
                </a:cxn>
                <a:cxn ang="0">
                  <a:pos x="2" y="0"/>
                </a:cxn>
                <a:cxn ang="0">
                  <a:pos x="0" y="12"/>
                </a:cxn>
              </a:cxnLst>
              <a:rect l="0" t="0" r="r" b="b"/>
              <a:pathLst>
                <a:path w="25" h="50">
                  <a:moveTo>
                    <a:pt x="0" y="12"/>
                  </a:moveTo>
                  <a:lnTo>
                    <a:pt x="2" y="36"/>
                  </a:lnTo>
                  <a:lnTo>
                    <a:pt x="13" y="50"/>
                  </a:lnTo>
                  <a:lnTo>
                    <a:pt x="17" y="45"/>
                  </a:lnTo>
                  <a:lnTo>
                    <a:pt x="25" y="31"/>
                  </a:lnTo>
                  <a:lnTo>
                    <a:pt x="25" y="30"/>
                  </a:lnTo>
                  <a:lnTo>
                    <a:pt x="15" y="12"/>
                  </a:lnTo>
                  <a:lnTo>
                    <a:pt x="11" y="2"/>
                  </a:lnTo>
                  <a:lnTo>
                    <a:pt x="2" y="0"/>
                  </a:lnTo>
                  <a:lnTo>
                    <a:pt x="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2" name="Freeform 301"/>
            <p:cNvSpPr>
              <a:spLocks/>
            </p:cNvSpPr>
            <p:nvPr/>
          </p:nvSpPr>
          <p:spPr bwMode="auto">
            <a:xfrm>
              <a:off x="3220" y="1876"/>
              <a:ext cx="75" cy="51"/>
            </a:xfrm>
            <a:custGeom>
              <a:avLst/>
              <a:gdLst/>
              <a:ahLst/>
              <a:cxnLst>
                <a:cxn ang="0">
                  <a:pos x="10" y="7"/>
                </a:cxn>
                <a:cxn ang="0">
                  <a:pos x="0" y="0"/>
                </a:cxn>
                <a:cxn ang="0">
                  <a:pos x="22" y="0"/>
                </a:cxn>
                <a:cxn ang="0">
                  <a:pos x="44" y="1"/>
                </a:cxn>
                <a:cxn ang="0">
                  <a:pos x="58" y="2"/>
                </a:cxn>
                <a:cxn ang="0">
                  <a:pos x="57" y="19"/>
                </a:cxn>
                <a:cxn ang="0">
                  <a:pos x="63" y="21"/>
                </a:cxn>
                <a:cxn ang="0">
                  <a:pos x="58" y="27"/>
                </a:cxn>
                <a:cxn ang="0">
                  <a:pos x="69" y="43"/>
                </a:cxn>
                <a:cxn ang="0">
                  <a:pos x="63" y="45"/>
                </a:cxn>
                <a:cxn ang="0">
                  <a:pos x="58" y="42"/>
                </a:cxn>
                <a:cxn ang="0">
                  <a:pos x="57" y="39"/>
                </a:cxn>
                <a:cxn ang="0">
                  <a:pos x="53" y="37"/>
                </a:cxn>
                <a:cxn ang="0">
                  <a:pos x="50" y="37"/>
                </a:cxn>
                <a:cxn ang="0">
                  <a:pos x="46" y="36"/>
                </a:cxn>
                <a:cxn ang="0">
                  <a:pos x="41" y="33"/>
                </a:cxn>
                <a:cxn ang="0">
                  <a:pos x="35" y="33"/>
                </a:cxn>
                <a:cxn ang="0">
                  <a:pos x="22" y="27"/>
                </a:cxn>
                <a:cxn ang="0">
                  <a:pos x="16" y="18"/>
                </a:cxn>
                <a:cxn ang="0">
                  <a:pos x="10" y="7"/>
                </a:cxn>
              </a:cxnLst>
              <a:rect l="0" t="0" r="r" b="b"/>
              <a:pathLst>
                <a:path w="69" h="45">
                  <a:moveTo>
                    <a:pt x="10" y="7"/>
                  </a:moveTo>
                  <a:lnTo>
                    <a:pt x="0" y="0"/>
                  </a:lnTo>
                  <a:lnTo>
                    <a:pt x="22" y="0"/>
                  </a:lnTo>
                  <a:lnTo>
                    <a:pt x="44" y="1"/>
                  </a:lnTo>
                  <a:lnTo>
                    <a:pt x="58" y="2"/>
                  </a:lnTo>
                  <a:lnTo>
                    <a:pt x="57" y="19"/>
                  </a:lnTo>
                  <a:lnTo>
                    <a:pt x="63" y="21"/>
                  </a:lnTo>
                  <a:lnTo>
                    <a:pt x="58" y="27"/>
                  </a:lnTo>
                  <a:lnTo>
                    <a:pt x="69" y="43"/>
                  </a:lnTo>
                  <a:lnTo>
                    <a:pt x="63" y="45"/>
                  </a:lnTo>
                  <a:lnTo>
                    <a:pt x="58" y="42"/>
                  </a:lnTo>
                  <a:lnTo>
                    <a:pt x="57" y="39"/>
                  </a:lnTo>
                  <a:lnTo>
                    <a:pt x="53" y="37"/>
                  </a:lnTo>
                  <a:lnTo>
                    <a:pt x="50" y="37"/>
                  </a:lnTo>
                  <a:lnTo>
                    <a:pt x="46" y="36"/>
                  </a:lnTo>
                  <a:lnTo>
                    <a:pt x="41" y="33"/>
                  </a:lnTo>
                  <a:lnTo>
                    <a:pt x="35" y="33"/>
                  </a:lnTo>
                  <a:lnTo>
                    <a:pt x="22" y="27"/>
                  </a:lnTo>
                  <a:lnTo>
                    <a:pt x="16" y="18"/>
                  </a:lnTo>
                  <a:lnTo>
                    <a:pt x="10"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3" name="Freeform 302"/>
            <p:cNvSpPr>
              <a:spLocks/>
            </p:cNvSpPr>
            <p:nvPr/>
          </p:nvSpPr>
          <p:spPr bwMode="auto">
            <a:xfrm>
              <a:off x="3282" y="1870"/>
              <a:ext cx="67" cy="69"/>
            </a:xfrm>
            <a:custGeom>
              <a:avLst/>
              <a:gdLst/>
              <a:ahLst/>
              <a:cxnLst>
                <a:cxn ang="0">
                  <a:pos x="12" y="49"/>
                </a:cxn>
                <a:cxn ang="0">
                  <a:pos x="1" y="33"/>
                </a:cxn>
                <a:cxn ang="0">
                  <a:pos x="6" y="27"/>
                </a:cxn>
                <a:cxn ang="0">
                  <a:pos x="0" y="25"/>
                </a:cxn>
                <a:cxn ang="0">
                  <a:pos x="1" y="8"/>
                </a:cxn>
                <a:cxn ang="0">
                  <a:pos x="6" y="0"/>
                </a:cxn>
                <a:cxn ang="0">
                  <a:pos x="30" y="4"/>
                </a:cxn>
                <a:cxn ang="0">
                  <a:pos x="38" y="15"/>
                </a:cxn>
                <a:cxn ang="0">
                  <a:pos x="59" y="27"/>
                </a:cxn>
                <a:cxn ang="0">
                  <a:pos x="49" y="30"/>
                </a:cxn>
                <a:cxn ang="0">
                  <a:pos x="44" y="50"/>
                </a:cxn>
                <a:cxn ang="0">
                  <a:pos x="43" y="62"/>
                </a:cxn>
                <a:cxn ang="0">
                  <a:pos x="30" y="52"/>
                </a:cxn>
                <a:cxn ang="0">
                  <a:pos x="31" y="49"/>
                </a:cxn>
                <a:cxn ang="0">
                  <a:pos x="26" y="39"/>
                </a:cxn>
                <a:cxn ang="0">
                  <a:pos x="12" y="49"/>
                </a:cxn>
              </a:cxnLst>
              <a:rect l="0" t="0" r="r" b="b"/>
              <a:pathLst>
                <a:path w="59" h="62">
                  <a:moveTo>
                    <a:pt x="12" y="49"/>
                  </a:moveTo>
                  <a:lnTo>
                    <a:pt x="1" y="33"/>
                  </a:lnTo>
                  <a:lnTo>
                    <a:pt x="6" y="27"/>
                  </a:lnTo>
                  <a:lnTo>
                    <a:pt x="0" y="25"/>
                  </a:lnTo>
                  <a:lnTo>
                    <a:pt x="1" y="8"/>
                  </a:lnTo>
                  <a:lnTo>
                    <a:pt x="6" y="0"/>
                  </a:lnTo>
                  <a:lnTo>
                    <a:pt x="30" y="4"/>
                  </a:lnTo>
                  <a:lnTo>
                    <a:pt x="38" y="15"/>
                  </a:lnTo>
                  <a:lnTo>
                    <a:pt x="59" y="27"/>
                  </a:lnTo>
                  <a:lnTo>
                    <a:pt x="49" y="30"/>
                  </a:lnTo>
                  <a:lnTo>
                    <a:pt x="44" y="50"/>
                  </a:lnTo>
                  <a:lnTo>
                    <a:pt x="43" y="62"/>
                  </a:lnTo>
                  <a:lnTo>
                    <a:pt x="30" y="52"/>
                  </a:lnTo>
                  <a:lnTo>
                    <a:pt x="31" y="49"/>
                  </a:lnTo>
                  <a:lnTo>
                    <a:pt x="26" y="39"/>
                  </a:lnTo>
                  <a:lnTo>
                    <a:pt x="12"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4" name="Freeform 303"/>
            <p:cNvSpPr>
              <a:spLocks/>
            </p:cNvSpPr>
            <p:nvPr/>
          </p:nvSpPr>
          <p:spPr bwMode="auto">
            <a:xfrm>
              <a:off x="3260" y="1914"/>
              <a:ext cx="29" cy="16"/>
            </a:xfrm>
            <a:custGeom>
              <a:avLst/>
              <a:gdLst/>
              <a:ahLst/>
              <a:cxnLst>
                <a:cxn ang="0">
                  <a:pos x="28" y="12"/>
                </a:cxn>
                <a:cxn ang="0">
                  <a:pos x="22" y="15"/>
                </a:cxn>
                <a:cxn ang="0">
                  <a:pos x="4" y="5"/>
                </a:cxn>
                <a:cxn ang="0">
                  <a:pos x="1" y="1"/>
                </a:cxn>
                <a:cxn ang="0">
                  <a:pos x="0" y="0"/>
                </a:cxn>
                <a:cxn ang="0">
                  <a:pos x="6" y="0"/>
                </a:cxn>
                <a:cxn ang="0">
                  <a:pos x="11" y="3"/>
                </a:cxn>
                <a:cxn ang="0">
                  <a:pos x="15" y="4"/>
                </a:cxn>
                <a:cxn ang="0">
                  <a:pos x="18" y="4"/>
                </a:cxn>
                <a:cxn ang="0">
                  <a:pos x="22" y="6"/>
                </a:cxn>
                <a:cxn ang="0">
                  <a:pos x="23" y="9"/>
                </a:cxn>
                <a:cxn ang="0">
                  <a:pos x="28" y="12"/>
                </a:cxn>
              </a:cxnLst>
              <a:rect l="0" t="0" r="r" b="b"/>
              <a:pathLst>
                <a:path w="28" h="15">
                  <a:moveTo>
                    <a:pt x="28" y="12"/>
                  </a:moveTo>
                  <a:lnTo>
                    <a:pt x="22" y="15"/>
                  </a:lnTo>
                  <a:lnTo>
                    <a:pt x="4" y="5"/>
                  </a:lnTo>
                  <a:lnTo>
                    <a:pt x="1" y="1"/>
                  </a:lnTo>
                  <a:lnTo>
                    <a:pt x="0" y="0"/>
                  </a:lnTo>
                  <a:lnTo>
                    <a:pt x="6" y="0"/>
                  </a:lnTo>
                  <a:lnTo>
                    <a:pt x="11" y="3"/>
                  </a:lnTo>
                  <a:lnTo>
                    <a:pt x="15" y="4"/>
                  </a:lnTo>
                  <a:lnTo>
                    <a:pt x="18" y="4"/>
                  </a:lnTo>
                  <a:lnTo>
                    <a:pt x="22" y="6"/>
                  </a:lnTo>
                  <a:lnTo>
                    <a:pt x="23" y="9"/>
                  </a:lnTo>
                  <a:lnTo>
                    <a:pt x="2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5" name="Freeform 304"/>
            <p:cNvSpPr>
              <a:spLocks/>
            </p:cNvSpPr>
            <p:nvPr/>
          </p:nvSpPr>
          <p:spPr bwMode="auto">
            <a:xfrm>
              <a:off x="2858" y="1874"/>
              <a:ext cx="102" cy="102"/>
            </a:xfrm>
            <a:custGeom>
              <a:avLst/>
              <a:gdLst/>
              <a:ahLst/>
              <a:cxnLst>
                <a:cxn ang="0">
                  <a:pos x="17" y="49"/>
                </a:cxn>
                <a:cxn ang="0">
                  <a:pos x="7" y="45"/>
                </a:cxn>
                <a:cxn ang="0">
                  <a:pos x="0" y="36"/>
                </a:cxn>
                <a:cxn ang="0">
                  <a:pos x="4" y="31"/>
                </a:cxn>
                <a:cxn ang="0">
                  <a:pos x="12" y="17"/>
                </a:cxn>
                <a:cxn ang="0">
                  <a:pos x="12" y="16"/>
                </a:cxn>
                <a:cxn ang="0">
                  <a:pos x="38" y="7"/>
                </a:cxn>
                <a:cxn ang="0">
                  <a:pos x="54" y="5"/>
                </a:cxn>
                <a:cxn ang="0">
                  <a:pos x="79" y="7"/>
                </a:cxn>
                <a:cxn ang="0">
                  <a:pos x="85" y="3"/>
                </a:cxn>
                <a:cxn ang="0">
                  <a:pos x="88" y="0"/>
                </a:cxn>
                <a:cxn ang="0">
                  <a:pos x="91" y="7"/>
                </a:cxn>
                <a:cxn ang="0">
                  <a:pos x="85" y="18"/>
                </a:cxn>
                <a:cxn ang="0">
                  <a:pos x="68" y="15"/>
                </a:cxn>
                <a:cxn ang="0">
                  <a:pos x="53" y="19"/>
                </a:cxn>
                <a:cxn ang="0">
                  <a:pos x="60" y="27"/>
                </a:cxn>
                <a:cxn ang="0">
                  <a:pos x="53" y="28"/>
                </a:cxn>
                <a:cxn ang="0">
                  <a:pos x="54" y="30"/>
                </a:cxn>
                <a:cxn ang="0">
                  <a:pos x="48" y="29"/>
                </a:cxn>
                <a:cxn ang="0">
                  <a:pos x="52" y="33"/>
                </a:cxn>
                <a:cxn ang="0">
                  <a:pos x="41" y="22"/>
                </a:cxn>
                <a:cxn ang="0">
                  <a:pos x="37" y="24"/>
                </a:cxn>
                <a:cxn ang="0">
                  <a:pos x="43" y="40"/>
                </a:cxn>
                <a:cxn ang="0">
                  <a:pos x="47" y="47"/>
                </a:cxn>
                <a:cxn ang="0">
                  <a:pos x="41" y="45"/>
                </a:cxn>
                <a:cxn ang="0">
                  <a:pos x="43" y="51"/>
                </a:cxn>
                <a:cxn ang="0">
                  <a:pos x="40" y="52"/>
                </a:cxn>
                <a:cxn ang="0">
                  <a:pos x="60" y="65"/>
                </a:cxn>
                <a:cxn ang="0">
                  <a:pos x="59" y="71"/>
                </a:cxn>
                <a:cxn ang="0">
                  <a:pos x="52" y="67"/>
                </a:cxn>
                <a:cxn ang="0">
                  <a:pos x="48" y="70"/>
                </a:cxn>
                <a:cxn ang="0">
                  <a:pos x="52" y="77"/>
                </a:cxn>
                <a:cxn ang="0">
                  <a:pos x="43" y="77"/>
                </a:cxn>
                <a:cxn ang="0">
                  <a:pos x="48" y="94"/>
                </a:cxn>
                <a:cxn ang="0">
                  <a:pos x="41" y="90"/>
                </a:cxn>
                <a:cxn ang="0">
                  <a:pos x="38" y="94"/>
                </a:cxn>
                <a:cxn ang="0">
                  <a:pos x="31" y="85"/>
                </a:cxn>
                <a:cxn ang="0">
                  <a:pos x="29" y="89"/>
                </a:cxn>
                <a:cxn ang="0">
                  <a:pos x="22" y="73"/>
                </a:cxn>
                <a:cxn ang="0">
                  <a:pos x="20" y="66"/>
                </a:cxn>
                <a:cxn ang="0">
                  <a:pos x="32" y="63"/>
                </a:cxn>
                <a:cxn ang="0">
                  <a:pos x="46" y="66"/>
                </a:cxn>
                <a:cxn ang="0">
                  <a:pos x="46" y="63"/>
                </a:cxn>
                <a:cxn ang="0">
                  <a:pos x="37" y="59"/>
                </a:cxn>
                <a:cxn ang="0">
                  <a:pos x="20" y="58"/>
                </a:cxn>
                <a:cxn ang="0">
                  <a:pos x="17" y="59"/>
                </a:cxn>
                <a:cxn ang="0">
                  <a:pos x="13" y="51"/>
                </a:cxn>
                <a:cxn ang="0">
                  <a:pos x="17" y="49"/>
                </a:cxn>
              </a:cxnLst>
              <a:rect l="0" t="0" r="r" b="b"/>
              <a:pathLst>
                <a:path w="91" h="94">
                  <a:moveTo>
                    <a:pt x="17" y="49"/>
                  </a:moveTo>
                  <a:lnTo>
                    <a:pt x="7" y="45"/>
                  </a:lnTo>
                  <a:lnTo>
                    <a:pt x="0" y="36"/>
                  </a:lnTo>
                  <a:lnTo>
                    <a:pt x="4" y="31"/>
                  </a:lnTo>
                  <a:lnTo>
                    <a:pt x="12" y="17"/>
                  </a:lnTo>
                  <a:lnTo>
                    <a:pt x="12" y="16"/>
                  </a:lnTo>
                  <a:lnTo>
                    <a:pt x="38" y="7"/>
                  </a:lnTo>
                  <a:lnTo>
                    <a:pt x="54" y="5"/>
                  </a:lnTo>
                  <a:lnTo>
                    <a:pt x="79" y="7"/>
                  </a:lnTo>
                  <a:lnTo>
                    <a:pt x="85" y="3"/>
                  </a:lnTo>
                  <a:lnTo>
                    <a:pt x="88" y="0"/>
                  </a:lnTo>
                  <a:lnTo>
                    <a:pt x="91" y="7"/>
                  </a:lnTo>
                  <a:lnTo>
                    <a:pt x="85" y="18"/>
                  </a:lnTo>
                  <a:lnTo>
                    <a:pt x="68" y="15"/>
                  </a:lnTo>
                  <a:lnTo>
                    <a:pt x="53" y="19"/>
                  </a:lnTo>
                  <a:lnTo>
                    <a:pt x="60" y="27"/>
                  </a:lnTo>
                  <a:lnTo>
                    <a:pt x="53" y="28"/>
                  </a:lnTo>
                  <a:lnTo>
                    <a:pt x="54" y="30"/>
                  </a:lnTo>
                  <a:lnTo>
                    <a:pt x="48" y="29"/>
                  </a:lnTo>
                  <a:lnTo>
                    <a:pt x="52" y="33"/>
                  </a:lnTo>
                  <a:lnTo>
                    <a:pt x="41" y="22"/>
                  </a:lnTo>
                  <a:lnTo>
                    <a:pt x="37" y="24"/>
                  </a:lnTo>
                  <a:lnTo>
                    <a:pt x="43" y="40"/>
                  </a:lnTo>
                  <a:lnTo>
                    <a:pt x="47" y="47"/>
                  </a:lnTo>
                  <a:lnTo>
                    <a:pt x="41" y="45"/>
                  </a:lnTo>
                  <a:lnTo>
                    <a:pt x="43" y="51"/>
                  </a:lnTo>
                  <a:lnTo>
                    <a:pt x="40" y="52"/>
                  </a:lnTo>
                  <a:lnTo>
                    <a:pt x="60" y="65"/>
                  </a:lnTo>
                  <a:lnTo>
                    <a:pt x="59" y="71"/>
                  </a:lnTo>
                  <a:lnTo>
                    <a:pt x="52" y="67"/>
                  </a:lnTo>
                  <a:lnTo>
                    <a:pt x="48" y="70"/>
                  </a:lnTo>
                  <a:lnTo>
                    <a:pt x="52" y="77"/>
                  </a:lnTo>
                  <a:lnTo>
                    <a:pt x="43" y="77"/>
                  </a:lnTo>
                  <a:lnTo>
                    <a:pt x="48" y="94"/>
                  </a:lnTo>
                  <a:lnTo>
                    <a:pt x="41" y="90"/>
                  </a:lnTo>
                  <a:lnTo>
                    <a:pt x="38" y="94"/>
                  </a:lnTo>
                  <a:lnTo>
                    <a:pt x="31" y="85"/>
                  </a:lnTo>
                  <a:lnTo>
                    <a:pt x="29" y="89"/>
                  </a:lnTo>
                  <a:lnTo>
                    <a:pt x="22" y="73"/>
                  </a:lnTo>
                  <a:lnTo>
                    <a:pt x="20" y="66"/>
                  </a:lnTo>
                  <a:lnTo>
                    <a:pt x="32" y="63"/>
                  </a:lnTo>
                  <a:lnTo>
                    <a:pt x="46" y="66"/>
                  </a:lnTo>
                  <a:lnTo>
                    <a:pt x="46" y="63"/>
                  </a:lnTo>
                  <a:lnTo>
                    <a:pt x="37" y="59"/>
                  </a:lnTo>
                  <a:lnTo>
                    <a:pt x="20" y="58"/>
                  </a:lnTo>
                  <a:lnTo>
                    <a:pt x="17" y="59"/>
                  </a:lnTo>
                  <a:lnTo>
                    <a:pt x="13" y="51"/>
                  </a:lnTo>
                  <a:lnTo>
                    <a:pt x="17"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6" name="Freeform 305"/>
            <p:cNvSpPr>
              <a:spLocks/>
            </p:cNvSpPr>
            <p:nvPr/>
          </p:nvSpPr>
          <p:spPr bwMode="auto">
            <a:xfrm>
              <a:off x="2922" y="1996"/>
              <a:ext cx="47" cy="11"/>
            </a:xfrm>
            <a:custGeom>
              <a:avLst/>
              <a:gdLst/>
              <a:ahLst/>
              <a:cxnLst>
                <a:cxn ang="0">
                  <a:pos x="31" y="4"/>
                </a:cxn>
                <a:cxn ang="0">
                  <a:pos x="8" y="0"/>
                </a:cxn>
                <a:cxn ang="0">
                  <a:pos x="1" y="0"/>
                </a:cxn>
                <a:cxn ang="0">
                  <a:pos x="0" y="6"/>
                </a:cxn>
                <a:cxn ang="0">
                  <a:pos x="14" y="8"/>
                </a:cxn>
                <a:cxn ang="0">
                  <a:pos x="29" y="9"/>
                </a:cxn>
                <a:cxn ang="0">
                  <a:pos x="41" y="6"/>
                </a:cxn>
                <a:cxn ang="0">
                  <a:pos x="31" y="4"/>
                </a:cxn>
              </a:cxnLst>
              <a:rect l="0" t="0" r="r" b="b"/>
              <a:pathLst>
                <a:path w="41" h="9">
                  <a:moveTo>
                    <a:pt x="31" y="4"/>
                  </a:moveTo>
                  <a:lnTo>
                    <a:pt x="8" y="0"/>
                  </a:lnTo>
                  <a:lnTo>
                    <a:pt x="1" y="0"/>
                  </a:lnTo>
                  <a:lnTo>
                    <a:pt x="0" y="6"/>
                  </a:lnTo>
                  <a:lnTo>
                    <a:pt x="14" y="8"/>
                  </a:lnTo>
                  <a:lnTo>
                    <a:pt x="29" y="9"/>
                  </a:lnTo>
                  <a:lnTo>
                    <a:pt x="41" y="6"/>
                  </a:lnTo>
                  <a:lnTo>
                    <a:pt x="3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7" name="Freeform 306"/>
            <p:cNvSpPr>
              <a:spLocks/>
            </p:cNvSpPr>
            <p:nvPr/>
          </p:nvSpPr>
          <p:spPr bwMode="auto">
            <a:xfrm>
              <a:off x="2907" y="1927"/>
              <a:ext cx="26" cy="18"/>
            </a:xfrm>
            <a:custGeom>
              <a:avLst/>
              <a:gdLst/>
              <a:ahLst/>
              <a:cxnLst>
                <a:cxn ang="0">
                  <a:pos x="24" y="16"/>
                </a:cxn>
                <a:cxn ang="0">
                  <a:pos x="11" y="4"/>
                </a:cxn>
                <a:cxn ang="0">
                  <a:pos x="0" y="0"/>
                </a:cxn>
                <a:cxn ang="0">
                  <a:pos x="12" y="8"/>
                </a:cxn>
                <a:cxn ang="0">
                  <a:pos x="24" y="16"/>
                </a:cxn>
              </a:cxnLst>
              <a:rect l="0" t="0" r="r" b="b"/>
              <a:pathLst>
                <a:path w="24" h="16">
                  <a:moveTo>
                    <a:pt x="24" y="16"/>
                  </a:moveTo>
                  <a:lnTo>
                    <a:pt x="11" y="4"/>
                  </a:lnTo>
                  <a:lnTo>
                    <a:pt x="0" y="0"/>
                  </a:lnTo>
                  <a:lnTo>
                    <a:pt x="12" y="8"/>
                  </a:lnTo>
                  <a:lnTo>
                    <a:pt x="24"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8" name="Freeform 307"/>
            <p:cNvSpPr>
              <a:spLocks/>
            </p:cNvSpPr>
            <p:nvPr/>
          </p:nvSpPr>
          <p:spPr bwMode="auto">
            <a:xfrm>
              <a:off x="2953" y="1921"/>
              <a:ext cx="11" cy="4"/>
            </a:xfrm>
            <a:custGeom>
              <a:avLst/>
              <a:gdLst/>
              <a:ahLst/>
              <a:cxnLst>
                <a:cxn ang="0">
                  <a:pos x="10" y="4"/>
                </a:cxn>
                <a:cxn ang="0">
                  <a:pos x="4" y="3"/>
                </a:cxn>
                <a:cxn ang="0">
                  <a:pos x="0" y="0"/>
                </a:cxn>
                <a:cxn ang="0">
                  <a:pos x="9" y="2"/>
                </a:cxn>
                <a:cxn ang="0">
                  <a:pos x="10" y="4"/>
                </a:cxn>
              </a:cxnLst>
              <a:rect l="0" t="0" r="r" b="b"/>
              <a:pathLst>
                <a:path w="10" h="4">
                  <a:moveTo>
                    <a:pt x="10" y="4"/>
                  </a:moveTo>
                  <a:lnTo>
                    <a:pt x="4" y="3"/>
                  </a:lnTo>
                  <a:lnTo>
                    <a:pt x="0" y="0"/>
                  </a:lnTo>
                  <a:lnTo>
                    <a:pt x="9" y="2"/>
                  </a:lnTo>
                  <a:lnTo>
                    <a:pt x="1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9" name="Freeform 308"/>
            <p:cNvSpPr>
              <a:spLocks/>
            </p:cNvSpPr>
            <p:nvPr/>
          </p:nvSpPr>
          <p:spPr bwMode="auto">
            <a:xfrm>
              <a:off x="2867" y="1941"/>
              <a:ext cx="4" cy="2"/>
            </a:xfrm>
            <a:custGeom>
              <a:avLst/>
              <a:gdLst/>
              <a:ahLst/>
              <a:cxnLst>
                <a:cxn ang="0">
                  <a:pos x="0" y="0"/>
                </a:cxn>
                <a:cxn ang="0">
                  <a:pos x="5" y="4"/>
                </a:cxn>
                <a:cxn ang="0">
                  <a:pos x="1" y="4"/>
                </a:cxn>
                <a:cxn ang="0">
                  <a:pos x="0" y="0"/>
                </a:cxn>
              </a:cxnLst>
              <a:rect l="0" t="0" r="r" b="b"/>
              <a:pathLst>
                <a:path w="5" h="4">
                  <a:moveTo>
                    <a:pt x="0" y="0"/>
                  </a:moveTo>
                  <a:lnTo>
                    <a:pt x="5" y="4"/>
                  </a:lnTo>
                  <a:lnTo>
                    <a:pt x="1" y="4"/>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0" name="Freeform 309"/>
            <p:cNvSpPr>
              <a:spLocks/>
            </p:cNvSpPr>
            <p:nvPr/>
          </p:nvSpPr>
          <p:spPr bwMode="auto">
            <a:xfrm>
              <a:off x="2956" y="1936"/>
              <a:ext cx="4" cy="5"/>
            </a:xfrm>
            <a:custGeom>
              <a:avLst/>
              <a:gdLst/>
              <a:ahLst/>
              <a:cxnLst>
                <a:cxn ang="0">
                  <a:pos x="3" y="0"/>
                </a:cxn>
                <a:cxn ang="0">
                  <a:pos x="2" y="4"/>
                </a:cxn>
                <a:cxn ang="0">
                  <a:pos x="0" y="1"/>
                </a:cxn>
                <a:cxn ang="0">
                  <a:pos x="3" y="0"/>
                </a:cxn>
              </a:cxnLst>
              <a:rect l="0" t="0" r="r" b="b"/>
              <a:pathLst>
                <a:path w="3" h="4">
                  <a:moveTo>
                    <a:pt x="3" y="0"/>
                  </a:moveTo>
                  <a:lnTo>
                    <a:pt x="2" y="4"/>
                  </a:lnTo>
                  <a:lnTo>
                    <a:pt x="0" y="1"/>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1" name="Freeform 310"/>
            <p:cNvSpPr>
              <a:spLocks/>
            </p:cNvSpPr>
            <p:nvPr/>
          </p:nvSpPr>
          <p:spPr bwMode="auto">
            <a:xfrm>
              <a:off x="2640" y="1770"/>
              <a:ext cx="189" cy="180"/>
            </a:xfrm>
            <a:custGeom>
              <a:avLst/>
              <a:gdLst/>
              <a:ahLst/>
              <a:cxnLst>
                <a:cxn ang="0">
                  <a:pos x="96" y="7"/>
                </a:cxn>
                <a:cxn ang="0">
                  <a:pos x="75" y="0"/>
                </a:cxn>
                <a:cxn ang="0">
                  <a:pos x="59" y="2"/>
                </a:cxn>
                <a:cxn ang="0">
                  <a:pos x="51" y="1"/>
                </a:cxn>
                <a:cxn ang="0">
                  <a:pos x="51" y="2"/>
                </a:cxn>
                <a:cxn ang="0">
                  <a:pos x="47" y="6"/>
                </a:cxn>
                <a:cxn ang="0">
                  <a:pos x="45" y="11"/>
                </a:cxn>
                <a:cxn ang="0">
                  <a:pos x="34" y="11"/>
                </a:cxn>
                <a:cxn ang="0">
                  <a:pos x="29" y="18"/>
                </a:cxn>
                <a:cxn ang="0">
                  <a:pos x="19" y="11"/>
                </a:cxn>
                <a:cxn ang="0">
                  <a:pos x="11" y="17"/>
                </a:cxn>
                <a:cxn ang="0">
                  <a:pos x="3" y="18"/>
                </a:cxn>
                <a:cxn ang="0">
                  <a:pos x="3" y="25"/>
                </a:cxn>
                <a:cxn ang="0">
                  <a:pos x="0" y="32"/>
                </a:cxn>
                <a:cxn ang="0">
                  <a:pos x="0" y="37"/>
                </a:cxn>
                <a:cxn ang="0">
                  <a:pos x="1" y="43"/>
                </a:cxn>
                <a:cxn ang="0">
                  <a:pos x="11" y="49"/>
                </a:cxn>
                <a:cxn ang="0">
                  <a:pos x="11" y="56"/>
                </a:cxn>
                <a:cxn ang="0">
                  <a:pos x="24" y="47"/>
                </a:cxn>
                <a:cxn ang="0">
                  <a:pos x="43" y="50"/>
                </a:cxn>
                <a:cxn ang="0">
                  <a:pos x="54" y="68"/>
                </a:cxn>
                <a:cxn ang="0">
                  <a:pos x="67" y="80"/>
                </a:cxn>
                <a:cxn ang="0">
                  <a:pos x="81" y="92"/>
                </a:cxn>
                <a:cxn ang="0">
                  <a:pos x="84" y="95"/>
                </a:cxn>
                <a:cxn ang="0">
                  <a:pos x="85" y="95"/>
                </a:cxn>
                <a:cxn ang="0">
                  <a:pos x="96" y="99"/>
                </a:cxn>
                <a:cxn ang="0">
                  <a:pos x="114" y="111"/>
                </a:cxn>
                <a:cxn ang="0">
                  <a:pos x="123" y="116"/>
                </a:cxn>
                <a:cxn ang="0">
                  <a:pos x="130" y="122"/>
                </a:cxn>
                <a:cxn ang="0">
                  <a:pos x="139" y="140"/>
                </a:cxn>
                <a:cxn ang="0">
                  <a:pos x="133" y="156"/>
                </a:cxn>
                <a:cxn ang="0">
                  <a:pos x="141" y="161"/>
                </a:cxn>
                <a:cxn ang="0">
                  <a:pos x="147" y="149"/>
                </a:cxn>
                <a:cxn ang="0">
                  <a:pos x="153" y="141"/>
                </a:cxn>
                <a:cxn ang="0">
                  <a:pos x="155" y="138"/>
                </a:cxn>
                <a:cxn ang="0">
                  <a:pos x="147" y="129"/>
                </a:cxn>
                <a:cxn ang="0">
                  <a:pos x="150" y="115"/>
                </a:cxn>
                <a:cxn ang="0">
                  <a:pos x="159" y="117"/>
                </a:cxn>
                <a:cxn ang="0">
                  <a:pos x="169" y="126"/>
                </a:cxn>
                <a:cxn ang="0">
                  <a:pos x="172" y="117"/>
                </a:cxn>
                <a:cxn ang="0">
                  <a:pos x="154" y="108"/>
                </a:cxn>
                <a:cxn ang="0">
                  <a:pos x="135" y="97"/>
                </a:cxn>
                <a:cxn ang="0">
                  <a:pos x="137" y="91"/>
                </a:cxn>
                <a:cxn ang="0">
                  <a:pos x="132" y="89"/>
                </a:cxn>
                <a:cxn ang="0">
                  <a:pos x="113" y="84"/>
                </a:cxn>
                <a:cxn ang="0">
                  <a:pos x="106" y="72"/>
                </a:cxn>
                <a:cxn ang="0">
                  <a:pos x="99" y="61"/>
                </a:cxn>
                <a:cxn ang="0">
                  <a:pos x="84" y="53"/>
                </a:cxn>
                <a:cxn ang="0">
                  <a:pos x="79" y="38"/>
                </a:cxn>
                <a:cxn ang="0">
                  <a:pos x="77" y="30"/>
                </a:cxn>
                <a:cxn ang="0">
                  <a:pos x="89" y="21"/>
                </a:cxn>
                <a:cxn ang="0">
                  <a:pos x="97" y="24"/>
                </a:cxn>
                <a:cxn ang="0">
                  <a:pos x="94" y="13"/>
                </a:cxn>
                <a:cxn ang="0">
                  <a:pos x="96" y="7"/>
                </a:cxn>
                <a:cxn ang="0">
                  <a:pos x="82" y="53"/>
                </a:cxn>
                <a:cxn ang="0">
                  <a:pos x="81" y="53"/>
                </a:cxn>
                <a:cxn ang="0">
                  <a:pos x="81" y="54"/>
                </a:cxn>
                <a:cxn ang="0">
                  <a:pos x="82" y="54"/>
                </a:cxn>
                <a:cxn ang="0">
                  <a:pos x="82" y="53"/>
                </a:cxn>
                <a:cxn ang="0">
                  <a:pos x="96" y="7"/>
                </a:cxn>
                <a:cxn ang="0">
                  <a:pos x="85" y="93"/>
                </a:cxn>
                <a:cxn ang="0">
                  <a:pos x="96" y="7"/>
                </a:cxn>
              </a:cxnLst>
              <a:rect l="0" t="0" r="r" b="b"/>
              <a:pathLst>
                <a:path w="172" h="161">
                  <a:moveTo>
                    <a:pt x="96" y="7"/>
                  </a:moveTo>
                  <a:lnTo>
                    <a:pt x="75" y="0"/>
                  </a:lnTo>
                  <a:lnTo>
                    <a:pt x="59" y="2"/>
                  </a:lnTo>
                  <a:lnTo>
                    <a:pt x="51" y="1"/>
                  </a:lnTo>
                  <a:lnTo>
                    <a:pt x="51" y="2"/>
                  </a:lnTo>
                  <a:lnTo>
                    <a:pt x="47" y="6"/>
                  </a:lnTo>
                  <a:lnTo>
                    <a:pt x="45" y="11"/>
                  </a:lnTo>
                  <a:lnTo>
                    <a:pt x="34" y="11"/>
                  </a:lnTo>
                  <a:lnTo>
                    <a:pt x="29" y="18"/>
                  </a:lnTo>
                  <a:lnTo>
                    <a:pt x="19" y="11"/>
                  </a:lnTo>
                  <a:lnTo>
                    <a:pt x="11" y="17"/>
                  </a:lnTo>
                  <a:lnTo>
                    <a:pt x="3" y="18"/>
                  </a:lnTo>
                  <a:lnTo>
                    <a:pt x="3" y="25"/>
                  </a:lnTo>
                  <a:lnTo>
                    <a:pt x="0" y="32"/>
                  </a:lnTo>
                  <a:lnTo>
                    <a:pt x="0" y="37"/>
                  </a:lnTo>
                  <a:lnTo>
                    <a:pt x="1" y="43"/>
                  </a:lnTo>
                  <a:lnTo>
                    <a:pt x="11" y="49"/>
                  </a:lnTo>
                  <a:lnTo>
                    <a:pt x="11" y="56"/>
                  </a:lnTo>
                  <a:lnTo>
                    <a:pt x="24" y="47"/>
                  </a:lnTo>
                  <a:lnTo>
                    <a:pt x="43" y="50"/>
                  </a:lnTo>
                  <a:lnTo>
                    <a:pt x="54" y="68"/>
                  </a:lnTo>
                  <a:lnTo>
                    <a:pt x="67" y="80"/>
                  </a:lnTo>
                  <a:lnTo>
                    <a:pt x="81" y="92"/>
                  </a:lnTo>
                  <a:lnTo>
                    <a:pt x="84" y="95"/>
                  </a:lnTo>
                  <a:lnTo>
                    <a:pt x="85" y="95"/>
                  </a:lnTo>
                  <a:lnTo>
                    <a:pt x="96" y="99"/>
                  </a:lnTo>
                  <a:lnTo>
                    <a:pt x="114" y="111"/>
                  </a:lnTo>
                  <a:lnTo>
                    <a:pt x="123" y="116"/>
                  </a:lnTo>
                  <a:lnTo>
                    <a:pt x="130" y="122"/>
                  </a:lnTo>
                  <a:lnTo>
                    <a:pt x="139" y="140"/>
                  </a:lnTo>
                  <a:lnTo>
                    <a:pt x="133" y="156"/>
                  </a:lnTo>
                  <a:lnTo>
                    <a:pt x="141" y="161"/>
                  </a:lnTo>
                  <a:lnTo>
                    <a:pt x="147" y="149"/>
                  </a:lnTo>
                  <a:lnTo>
                    <a:pt x="153" y="141"/>
                  </a:lnTo>
                  <a:lnTo>
                    <a:pt x="155" y="138"/>
                  </a:lnTo>
                  <a:lnTo>
                    <a:pt x="147" y="129"/>
                  </a:lnTo>
                  <a:lnTo>
                    <a:pt x="150" y="115"/>
                  </a:lnTo>
                  <a:lnTo>
                    <a:pt x="159" y="117"/>
                  </a:lnTo>
                  <a:lnTo>
                    <a:pt x="169" y="126"/>
                  </a:lnTo>
                  <a:lnTo>
                    <a:pt x="172" y="117"/>
                  </a:lnTo>
                  <a:lnTo>
                    <a:pt x="154" y="108"/>
                  </a:lnTo>
                  <a:lnTo>
                    <a:pt x="135" y="97"/>
                  </a:lnTo>
                  <a:lnTo>
                    <a:pt x="137" y="91"/>
                  </a:lnTo>
                  <a:lnTo>
                    <a:pt x="132" y="89"/>
                  </a:lnTo>
                  <a:lnTo>
                    <a:pt x="113" y="84"/>
                  </a:lnTo>
                  <a:lnTo>
                    <a:pt x="106" y="72"/>
                  </a:lnTo>
                  <a:lnTo>
                    <a:pt x="99" y="61"/>
                  </a:lnTo>
                  <a:lnTo>
                    <a:pt x="84" y="53"/>
                  </a:lnTo>
                  <a:lnTo>
                    <a:pt x="79" y="38"/>
                  </a:lnTo>
                  <a:lnTo>
                    <a:pt x="77" y="30"/>
                  </a:lnTo>
                  <a:lnTo>
                    <a:pt x="89" y="21"/>
                  </a:lnTo>
                  <a:lnTo>
                    <a:pt x="97" y="24"/>
                  </a:lnTo>
                  <a:lnTo>
                    <a:pt x="94" y="13"/>
                  </a:lnTo>
                  <a:lnTo>
                    <a:pt x="96" y="7"/>
                  </a:lnTo>
                  <a:lnTo>
                    <a:pt x="82" y="53"/>
                  </a:lnTo>
                  <a:lnTo>
                    <a:pt x="81" y="53"/>
                  </a:lnTo>
                  <a:lnTo>
                    <a:pt x="81" y="54"/>
                  </a:lnTo>
                  <a:lnTo>
                    <a:pt x="82" y="54"/>
                  </a:lnTo>
                  <a:lnTo>
                    <a:pt x="82" y="53"/>
                  </a:lnTo>
                  <a:lnTo>
                    <a:pt x="96" y="7"/>
                  </a:lnTo>
                  <a:lnTo>
                    <a:pt x="85" y="93"/>
                  </a:lnTo>
                  <a:lnTo>
                    <a:pt x="96" y="7"/>
                  </a:lnTo>
                  <a:close/>
                </a:path>
              </a:pathLst>
            </a:custGeom>
            <a:grpFill/>
            <a:ln w="3175" cmpd="sng">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2" name="Freeform 311"/>
            <p:cNvSpPr>
              <a:spLocks/>
            </p:cNvSpPr>
            <p:nvPr/>
          </p:nvSpPr>
          <p:spPr bwMode="auto">
            <a:xfrm>
              <a:off x="2640" y="1770"/>
              <a:ext cx="189" cy="180"/>
            </a:xfrm>
            <a:custGeom>
              <a:avLst/>
              <a:gdLst/>
              <a:ahLst/>
              <a:cxnLst>
                <a:cxn ang="0">
                  <a:pos x="96" y="7"/>
                </a:cxn>
                <a:cxn ang="0">
                  <a:pos x="75" y="0"/>
                </a:cxn>
                <a:cxn ang="0">
                  <a:pos x="59" y="2"/>
                </a:cxn>
                <a:cxn ang="0">
                  <a:pos x="51" y="1"/>
                </a:cxn>
                <a:cxn ang="0">
                  <a:pos x="51" y="2"/>
                </a:cxn>
                <a:cxn ang="0">
                  <a:pos x="47" y="6"/>
                </a:cxn>
                <a:cxn ang="0">
                  <a:pos x="45" y="11"/>
                </a:cxn>
                <a:cxn ang="0">
                  <a:pos x="34" y="11"/>
                </a:cxn>
                <a:cxn ang="0">
                  <a:pos x="29" y="18"/>
                </a:cxn>
                <a:cxn ang="0">
                  <a:pos x="19" y="11"/>
                </a:cxn>
                <a:cxn ang="0">
                  <a:pos x="11" y="17"/>
                </a:cxn>
                <a:cxn ang="0">
                  <a:pos x="3" y="18"/>
                </a:cxn>
                <a:cxn ang="0">
                  <a:pos x="3" y="25"/>
                </a:cxn>
                <a:cxn ang="0">
                  <a:pos x="0" y="32"/>
                </a:cxn>
                <a:cxn ang="0">
                  <a:pos x="0" y="37"/>
                </a:cxn>
                <a:cxn ang="0">
                  <a:pos x="1" y="43"/>
                </a:cxn>
                <a:cxn ang="0">
                  <a:pos x="11" y="49"/>
                </a:cxn>
                <a:cxn ang="0">
                  <a:pos x="11" y="56"/>
                </a:cxn>
                <a:cxn ang="0">
                  <a:pos x="24" y="47"/>
                </a:cxn>
                <a:cxn ang="0">
                  <a:pos x="43" y="50"/>
                </a:cxn>
                <a:cxn ang="0">
                  <a:pos x="54" y="68"/>
                </a:cxn>
                <a:cxn ang="0">
                  <a:pos x="67" y="80"/>
                </a:cxn>
                <a:cxn ang="0">
                  <a:pos x="81" y="92"/>
                </a:cxn>
                <a:cxn ang="0">
                  <a:pos x="84" y="95"/>
                </a:cxn>
                <a:cxn ang="0">
                  <a:pos x="85" y="95"/>
                </a:cxn>
                <a:cxn ang="0">
                  <a:pos x="96" y="99"/>
                </a:cxn>
                <a:cxn ang="0">
                  <a:pos x="114" y="111"/>
                </a:cxn>
                <a:cxn ang="0">
                  <a:pos x="123" y="116"/>
                </a:cxn>
                <a:cxn ang="0">
                  <a:pos x="130" y="122"/>
                </a:cxn>
                <a:cxn ang="0">
                  <a:pos x="139" y="140"/>
                </a:cxn>
                <a:cxn ang="0">
                  <a:pos x="133" y="156"/>
                </a:cxn>
                <a:cxn ang="0">
                  <a:pos x="141" y="161"/>
                </a:cxn>
                <a:cxn ang="0">
                  <a:pos x="147" y="149"/>
                </a:cxn>
                <a:cxn ang="0">
                  <a:pos x="153" y="141"/>
                </a:cxn>
                <a:cxn ang="0">
                  <a:pos x="155" y="138"/>
                </a:cxn>
                <a:cxn ang="0">
                  <a:pos x="147" y="129"/>
                </a:cxn>
                <a:cxn ang="0">
                  <a:pos x="150" y="115"/>
                </a:cxn>
                <a:cxn ang="0">
                  <a:pos x="159" y="117"/>
                </a:cxn>
                <a:cxn ang="0">
                  <a:pos x="169" y="126"/>
                </a:cxn>
                <a:cxn ang="0">
                  <a:pos x="172" y="117"/>
                </a:cxn>
                <a:cxn ang="0">
                  <a:pos x="154" y="108"/>
                </a:cxn>
                <a:cxn ang="0">
                  <a:pos x="135" y="97"/>
                </a:cxn>
                <a:cxn ang="0">
                  <a:pos x="137" y="91"/>
                </a:cxn>
                <a:cxn ang="0">
                  <a:pos x="132" y="89"/>
                </a:cxn>
                <a:cxn ang="0">
                  <a:pos x="113" y="84"/>
                </a:cxn>
                <a:cxn ang="0">
                  <a:pos x="106" y="72"/>
                </a:cxn>
                <a:cxn ang="0">
                  <a:pos x="99" y="61"/>
                </a:cxn>
                <a:cxn ang="0">
                  <a:pos x="84" y="53"/>
                </a:cxn>
                <a:cxn ang="0">
                  <a:pos x="79" y="38"/>
                </a:cxn>
                <a:cxn ang="0">
                  <a:pos x="77" y="30"/>
                </a:cxn>
                <a:cxn ang="0">
                  <a:pos x="89" y="21"/>
                </a:cxn>
                <a:cxn ang="0">
                  <a:pos x="97" y="24"/>
                </a:cxn>
                <a:cxn ang="0">
                  <a:pos x="94" y="13"/>
                </a:cxn>
                <a:cxn ang="0">
                  <a:pos x="96" y="7"/>
                </a:cxn>
              </a:cxnLst>
              <a:rect l="0" t="0" r="r" b="b"/>
              <a:pathLst>
                <a:path w="172" h="161">
                  <a:moveTo>
                    <a:pt x="96" y="7"/>
                  </a:moveTo>
                  <a:lnTo>
                    <a:pt x="75" y="0"/>
                  </a:lnTo>
                  <a:lnTo>
                    <a:pt x="59" y="2"/>
                  </a:lnTo>
                  <a:lnTo>
                    <a:pt x="51" y="1"/>
                  </a:lnTo>
                  <a:lnTo>
                    <a:pt x="51" y="2"/>
                  </a:lnTo>
                  <a:lnTo>
                    <a:pt x="47" y="6"/>
                  </a:lnTo>
                  <a:lnTo>
                    <a:pt x="45" y="11"/>
                  </a:lnTo>
                  <a:lnTo>
                    <a:pt x="34" y="11"/>
                  </a:lnTo>
                  <a:lnTo>
                    <a:pt x="29" y="18"/>
                  </a:lnTo>
                  <a:lnTo>
                    <a:pt x="19" y="11"/>
                  </a:lnTo>
                  <a:lnTo>
                    <a:pt x="11" y="17"/>
                  </a:lnTo>
                  <a:lnTo>
                    <a:pt x="3" y="18"/>
                  </a:lnTo>
                  <a:lnTo>
                    <a:pt x="3" y="25"/>
                  </a:lnTo>
                  <a:lnTo>
                    <a:pt x="0" y="32"/>
                  </a:lnTo>
                  <a:lnTo>
                    <a:pt x="0" y="37"/>
                  </a:lnTo>
                  <a:lnTo>
                    <a:pt x="1" y="43"/>
                  </a:lnTo>
                  <a:lnTo>
                    <a:pt x="11" y="49"/>
                  </a:lnTo>
                  <a:lnTo>
                    <a:pt x="11" y="56"/>
                  </a:lnTo>
                  <a:lnTo>
                    <a:pt x="24" y="47"/>
                  </a:lnTo>
                  <a:lnTo>
                    <a:pt x="43" y="50"/>
                  </a:lnTo>
                  <a:lnTo>
                    <a:pt x="54" y="68"/>
                  </a:lnTo>
                  <a:lnTo>
                    <a:pt x="67" y="80"/>
                  </a:lnTo>
                  <a:lnTo>
                    <a:pt x="81" y="92"/>
                  </a:lnTo>
                  <a:lnTo>
                    <a:pt x="84" y="95"/>
                  </a:lnTo>
                  <a:lnTo>
                    <a:pt x="85" y="95"/>
                  </a:lnTo>
                  <a:lnTo>
                    <a:pt x="96" y="99"/>
                  </a:lnTo>
                  <a:lnTo>
                    <a:pt x="114" y="111"/>
                  </a:lnTo>
                  <a:lnTo>
                    <a:pt x="123" y="116"/>
                  </a:lnTo>
                  <a:lnTo>
                    <a:pt x="130" y="122"/>
                  </a:lnTo>
                  <a:lnTo>
                    <a:pt x="139" y="140"/>
                  </a:lnTo>
                  <a:lnTo>
                    <a:pt x="133" y="156"/>
                  </a:lnTo>
                  <a:lnTo>
                    <a:pt x="141" y="161"/>
                  </a:lnTo>
                  <a:lnTo>
                    <a:pt x="147" y="149"/>
                  </a:lnTo>
                  <a:lnTo>
                    <a:pt x="153" y="141"/>
                  </a:lnTo>
                  <a:lnTo>
                    <a:pt x="155" y="138"/>
                  </a:lnTo>
                  <a:lnTo>
                    <a:pt x="147" y="129"/>
                  </a:lnTo>
                  <a:lnTo>
                    <a:pt x="150" y="115"/>
                  </a:lnTo>
                  <a:lnTo>
                    <a:pt x="159" y="117"/>
                  </a:lnTo>
                  <a:lnTo>
                    <a:pt x="169" y="126"/>
                  </a:lnTo>
                  <a:lnTo>
                    <a:pt x="172" y="117"/>
                  </a:lnTo>
                  <a:lnTo>
                    <a:pt x="154" y="108"/>
                  </a:lnTo>
                  <a:lnTo>
                    <a:pt x="135" y="97"/>
                  </a:lnTo>
                  <a:lnTo>
                    <a:pt x="137" y="91"/>
                  </a:lnTo>
                  <a:lnTo>
                    <a:pt x="132" y="89"/>
                  </a:lnTo>
                  <a:lnTo>
                    <a:pt x="113" y="84"/>
                  </a:lnTo>
                  <a:lnTo>
                    <a:pt x="106" y="72"/>
                  </a:lnTo>
                  <a:lnTo>
                    <a:pt x="99" y="61"/>
                  </a:lnTo>
                  <a:lnTo>
                    <a:pt x="84" y="53"/>
                  </a:lnTo>
                  <a:lnTo>
                    <a:pt x="79" y="38"/>
                  </a:lnTo>
                  <a:lnTo>
                    <a:pt x="77" y="30"/>
                  </a:lnTo>
                  <a:lnTo>
                    <a:pt x="89" y="21"/>
                  </a:lnTo>
                  <a:lnTo>
                    <a:pt x="97" y="24"/>
                  </a:lnTo>
                  <a:lnTo>
                    <a:pt x="94" y="13"/>
                  </a:lnTo>
                  <a:lnTo>
                    <a:pt x="96"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3" name="Rectangle 312"/>
            <p:cNvSpPr>
              <a:spLocks noChangeArrowheads="1"/>
            </p:cNvSpPr>
            <p:nvPr/>
          </p:nvSpPr>
          <p:spPr bwMode="auto">
            <a:xfrm>
              <a:off x="2729" y="1830"/>
              <a:ext cx="0" cy="0"/>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314" name="Freeform 313"/>
            <p:cNvSpPr>
              <a:spLocks/>
            </p:cNvSpPr>
            <p:nvPr/>
          </p:nvSpPr>
          <p:spPr bwMode="auto">
            <a:xfrm>
              <a:off x="2736" y="1941"/>
              <a:ext cx="51" cy="33"/>
            </a:xfrm>
            <a:custGeom>
              <a:avLst/>
              <a:gdLst/>
              <a:ahLst/>
              <a:cxnLst>
                <a:cxn ang="0">
                  <a:pos x="39" y="18"/>
                </a:cxn>
                <a:cxn ang="0">
                  <a:pos x="39" y="29"/>
                </a:cxn>
                <a:cxn ang="0">
                  <a:pos x="21" y="22"/>
                </a:cxn>
                <a:cxn ang="0">
                  <a:pos x="3" y="14"/>
                </a:cxn>
                <a:cxn ang="0">
                  <a:pos x="0" y="5"/>
                </a:cxn>
                <a:cxn ang="0">
                  <a:pos x="13" y="4"/>
                </a:cxn>
                <a:cxn ang="0">
                  <a:pos x="29" y="3"/>
                </a:cxn>
                <a:cxn ang="0">
                  <a:pos x="45" y="0"/>
                </a:cxn>
                <a:cxn ang="0">
                  <a:pos x="39" y="18"/>
                </a:cxn>
              </a:cxnLst>
              <a:rect l="0" t="0" r="r" b="b"/>
              <a:pathLst>
                <a:path w="45" h="29">
                  <a:moveTo>
                    <a:pt x="39" y="18"/>
                  </a:moveTo>
                  <a:lnTo>
                    <a:pt x="39" y="29"/>
                  </a:lnTo>
                  <a:lnTo>
                    <a:pt x="21" y="22"/>
                  </a:lnTo>
                  <a:lnTo>
                    <a:pt x="3" y="14"/>
                  </a:lnTo>
                  <a:lnTo>
                    <a:pt x="0" y="5"/>
                  </a:lnTo>
                  <a:lnTo>
                    <a:pt x="13" y="4"/>
                  </a:lnTo>
                  <a:lnTo>
                    <a:pt x="29" y="3"/>
                  </a:lnTo>
                  <a:lnTo>
                    <a:pt x="45" y="0"/>
                  </a:lnTo>
                  <a:lnTo>
                    <a:pt x="3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5" name="Freeform 314"/>
            <p:cNvSpPr>
              <a:spLocks/>
            </p:cNvSpPr>
            <p:nvPr/>
          </p:nvSpPr>
          <p:spPr bwMode="auto">
            <a:xfrm>
              <a:off x="2664" y="1883"/>
              <a:ext cx="27" cy="47"/>
            </a:xfrm>
            <a:custGeom>
              <a:avLst/>
              <a:gdLst/>
              <a:ahLst/>
              <a:cxnLst>
                <a:cxn ang="0">
                  <a:pos x="13" y="36"/>
                </a:cxn>
                <a:cxn ang="0">
                  <a:pos x="7" y="42"/>
                </a:cxn>
                <a:cxn ang="0">
                  <a:pos x="4" y="32"/>
                </a:cxn>
                <a:cxn ang="0">
                  <a:pos x="1" y="19"/>
                </a:cxn>
                <a:cxn ang="0">
                  <a:pos x="0" y="6"/>
                </a:cxn>
                <a:cxn ang="0">
                  <a:pos x="14" y="0"/>
                </a:cxn>
                <a:cxn ang="0">
                  <a:pos x="24" y="13"/>
                </a:cxn>
                <a:cxn ang="0">
                  <a:pos x="20" y="34"/>
                </a:cxn>
                <a:cxn ang="0">
                  <a:pos x="13" y="36"/>
                </a:cxn>
              </a:cxnLst>
              <a:rect l="0" t="0" r="r" b="b"/>
              <a:pathLst>
                <a:path w="24" h="42">
                  <a:moveTo>
                    <a:pt x="13" y="36"/>
                  </a:moveTo>
                  <a:lnTo>
                    <a:pt x="7" y="42"/>
                  </a:lnTo>
                  <a:lnTo>
                    <a:pt x="4" y="32"/>
                  </a:lnTo>
                  <a:lnTo>
                    <a:pt x="1" y="19"/>
                  </a:lnTo>
                  <a:lnTo>
                    <a:pt x="0" y="6"/>
                  </a:lnTo>
                  <a:lnTo>
                    <a:pt x="14" y="0"/>
                  </a:lnTo>
                  <a:lnTo>
                    <a:pt x="24" y="13"/>
                  </a:lnTo>
                  <a:lnTo>
                    <a:pt x="20" y="34"/>
                  </a:lnTo>
                  <a:lnTo>
                    <a:pt x="13"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6" name="Freeform 315"/>
            <p:cNvSpPr>
              <a:spLocks/>
            </p:cNvSpPr>
            <p:nvPr/>
          </p:nvSpPr>
          <p:spPr bwMode="auto">
            <a:xfrm>
              <a:off x="2649" y="1834"/>
              <a:ext cx="2" cy="2"/>
            </a:xfrm>
            <a:custGeom>
              <a:avLst/>
              <a:gdLst/>
              <a:ahLst/>
              <a:cxnLst>
                <a:cxn ang="0">
                  <a:pos x="1" y="0"/>
                </a:cxn>
                <a:cxn ang="0">
                  <a:pos x="0" y="0"/>
                </a:cxn>
                <a:cxn ang="0">
                  <a:pos x="1" y="0"/>
                </a:cxn>
              </a:cxnLst>
              <a:rect l="0" t="0" r="r" b="b"/>
              <a:pathLst>
                <a:path w="1">
                  <a:moveTo>
                    <a:pt x="1" y="0"/>
                  </a:move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7" name="Freeform 316"/>
            <p:cNvSpPr>
              <a:spLocks/>
            </p:cNvSpPr>
            <p:nvPr/>
          </p:nvSpPr>
          <p:spPr bwMode="auto">
            <a:xfrm>
              <a:off x="2960" y="1867"/>
              <a:ext cx="309" cy="123"/>
            </a:xfrm>
            <a:custGeom>
              <a:avLst/>
              <a:gdLst/>
              <a:ahLst/>
              <a:cxnLst>
                <a:cxn ang="0">
                  <a:pos x="186" y="93"/>
                </a:cxn>
                <a:cxn ang="0">
                  <a:pos x="159" y="96"/>
                </a:cxn>
                <a:cxn ang="0">
                  <a:pos x="151" y="110"/>
                </a:cxn>
                <a:cxn ang="0">
                  <a:pos x="150" y="106"/>
                </a:cxn>
                <a:cxn ang="0">
                  <a:pos x="144" y="95"/>
                </a:cxn>
                <a:cxn ang="0">
                  <a:pos x="123" y="99"/>
                </a:cxn>
                <a:cxn ang="0">
                  <a:pos x="95" y="102"/>
                </a:cxn>
                <a:cxn ang="0">
                  <a:pos x="69" y="100"/>
                </a:cxn>
                <a:cxn ang="0">
                  <a:pos x="47" y="99"/>
                </a:cxn>
                <a:cxn ang="0">
                  <a:pos x="31" y="95"/>
                </a:cxn>
                <a:cxn ang="0">
                  <a:pos x="33" y="90"/>
                </a:cxn>
                <a:cxn ang="0">
                  <a:pos x="23" y="84"/>
                </a:cxn>
                <a:cxn ang="0">
                  <a:pos x="18" y="75"/>
                </a:cxn>
                <a:cxn ang="0">
                  <a:pos x="4" y="63"/>
                </a:cxn>
                <a:cxn ang="0">
                  <a:pos x="12" y="65"/>
                </a:cxn>
                <a:cxn ang="0">
                  <a:pos x="10" y="56"/>
                </a:cxn>
                <a:cxn ang="0">
                  <a:pos x="0" y="45"/>
                </a:cxn>
                <a:cxn ang="0">
                  <a:pos x="16" y="30"/>
                </a:cxn>
                <a:cxn ang="0">
                  <a:pos x="39" y="28"/>
                </a:cxn>
                <a:cxn ang="0">
                  <a:pos x="45" y="22"/>
                </a:cxn>
                <a:cxn ang="0">
                  <a:pos x="65" y="17"/>
                </a:cxn>
                <a:cxn ang="0">
                  <a:pos x="100" y="3"/>
                </a:cxn>
                <a:cxn ang="0">
                  <a:pos x="123" y="2"/>
                </a:cxn>
                <a:cxn ang="0">
                  <a:pos x="139" y="10"/>
                </a:cxn>
                <a:cxn ang="0">
                  <a:pos x="177" y="18"/>
                </a:cxn>
                <a:cxn ang="0">
                  <a:pos x="217" y="9"/>
                </a:cxn>
                <a:cxn ang="0">
                  <a:pos x="245" y="15"/>
                </a:cxn>
                <a:cxn ang="0">
                  <a:pos x="257" y="35"/>
                </a:cxn>
                <a:cxn ang="0">
                  <a:pos x="264" y="46"/>
                </a:cxn>
                <a:cxn ang="0">
                  <a:pos x="269" y="74"/>
                </a:cxn>
                <a:cxn ang="0">
                  <a:pos x="270" y="88"/>
                </a:cxn>
                <a:cxn ang="0">
                  <a:pos x="246" y="84"/>
                </a:cxn>
                <a:cxn ang="0">
                  <a:pos x="238" y="87"/>
                </a:cxn>
                <a:cxn ang="0">
                  <a:pos x="209" y="93"/>
                </a:cxn>
              </a:cxnLst>
              <a:rect l="0" t="0" r="r" b="b"/>
              <a:pathLst>
                <a:path w="279" h="110">
                  <a:moveTo>
                    <a:pt x="209" y="93"/>
                  </a:moveTo>
                  <a:lnTo>
                    <a:pt x="186" y="93"/>
                  </a:lnTo>
                  <a:lnTo>
                    <a:pt x="163" y="94"/>
                  </a:lnTo>
                  <a:lnTo>
                    <a:pt x="159" y="96"/>
                  </a:lnTo>
                  <a:lnTo>
                    <a:pt x="157" y="104"/>
                  </a:lnTo>
                  <a:lnTo>
                    <a:pt x="151" y="110"/>
                  </a:lnTo>
                  <a:lnTo>
                    <a:pt x="150" y="108"/>
                  </a:lnTo>
                  <a:lnTo>
                    <a:pt x="150" y="106"/>
                  </a:lnTo>
                  <a:lnTo>
                    <a:pt x="151" y="92"/>
                  </a:lnTo>
                  <a:lnTo>
                    <a:pt x="144" y="95"/>
                  </a:lnTo>
                  <a:lnTo>
                    <a:pt x="135" y="95"/>
                  </a:lnTo>
                  <a:lnTo>
                    <a:pt x="123" y="99"/>
                  </a:lnTo>
                  <a:lnTo>
                    <a:pt x="107" y="106"/>
                  </a:lnTo>
                  <a:lnTo>
                    <a:pt x="95" y="102"/>
                  </a:lnTo>
                  <a:lnTo>
                    <a:pt x="71" y="93"/>
                  </a:lnTo>
                  <a:lnTo>
                    <a:pt x="69" y="100"/>
                  </a:lnTo>
                  <a:lnTo>
                    <a:pt x="61" y="104"/>
                  </a:lnTo>
                  <a:lnTo>
                    <a:pt x="47" y="99"/>
                  </a:lnTo>
                  <a:lnTo>
                    <a:pt x="40" y="94"/>
                  </a:lnTo>
                  <a:lnTo>
                    <a:pt x="31" y="95"/>
                  </a:lnTo>
                  <a:lnTo>
                    <a:pt x="24" y="95"/>
                  </a:lnTo>
                  <a:lnTo>
                    <a:pt x="33" y="90"/>
                  </a:lnTo>
                  <a:lnTo>
                    <a:pt x="22" y="89"/>
                  </a:lnTo>
                  <a:lnTo>
                    <a:pt x="23" y="84"/>
                  </a:lnTo>
                  <a:lnTo>
                    <a:pt x="16" y="78"/>
                  </a:lnTo>
                  <a:lnTo>
                    <a:pt x="18" y="75"/>
                  </a:lnTo>
                  <a:lnTo>
                    <a:pt x="5" y="69"/>
                  </a:lnTo>
                  <a:lnTo>
                    <a:pt x="4" y="63"/>
                  </a:lnTo>
                  <a:lnTo>
                    <a:pt x="7" y="63"/>
                  </a:lnTo>
                  <a:lnTo>
                    <a:pt x="12" y="65"/>
                  </a:lnTo>
                  <a:lnTo>
                    <a:pt x="10" y="58"/>
                  </a:lnTo>
                  <a:lnTo>
                    <a:pt x="10" y="56"/>
                  </a:lnTo>
                  <a:lnTo>
                    <a:pt x="9" y="46"/>
                  </a:lnTo>
                  <a:lnTo>
                    <a:pt x="0" y="45"/>
                  </a:lnTo>
                  <a:lnTo>
                    <a:pt x="1" y="33"/>
                  </a:lnTo>
                  <a:lnTo>
                    <a:pt x="16" y="30"/>
                  </a:lnTo>
                  <a:lnTo>
                    <a:pt x="21" y="27"/>
                  </a:lnTo>
                  <a:lnTo>
                    <a:pt x="39" y="28"/>
                  </a:lnTo>
                  <a:lnTo>
                    <a:pt x="49" y="23"/>
                  </a:lnTo>
                  <a:lnTo>
                    <a:pt x="45" y="22"/>
                  </a:lnTo>
                  <a:lnTo>
                    <a:pt x="37" y="16"/>
                  </a:lnTo>
                  <a:lnTo>
                    <a:pt x="65" y="17"/>
                  </a:lnTo>
                  <a:lnTo>
                    <a:pt x="85" y="4"/>
                  </a:lnTo>
                  <a:lnTo>
                    <a:pt x="100" y="3"/>
                  </a:lnTo>
                  <a:lnTo>
                    <a:pt x="114" y="0"/>
                  </a:lnTo>
                  <a:lnTo>
                    <a:pt x="123" y="2"/>
                  </a:lnTo>
                  <a:lnTo>
                    <a:pt x="133" y="6"/>
                  </a:lnTo>
                  <a:lnTo>
                    <a:pt x="139" y="10"/>
                  </a:lnTo>
                  <a:lnTo>
                    <a:pt x="159" y="15"/>
                  </a:lnTo>
                  <a:lnTo>
                    <a:pt x="177" y="18"/>
                  </a:lnTo>
                  <a:lnTo>
                    <a:pt x="196" y="20"/>
                  </a:lnTo>
                  <a:lnTo>
                    <a:pt x="217" y="9"/>
                  </a:lnTo>
                  <a:lnTo>
                    <a:pt x="235" y="8"/>
                  </a:lnTo>
                  <a:lnTo>
                    <a:pt x="245" y="15"/>
                  </a:lnTo>
                  <a:lnTo>
                    <a:pt x="251" y="26"/>
                  </a:lnTo>
                  <a:lnTo>
                    <a:pt x="257" y="35"/>
                  </a:lnTo>
                  <a:lnTo>
                    <a:pt x="270" y="41"/>
                  </a:lnTo>
                  <a:lnTo>
                    <a:pt x="264" y="46"/>
                  </a:lnTo>
                  <a:lnTo>
                    <a:pt x="265" y="56"/>
                  </a:lnTo>
                  <a:lnTo>
                    <a:pt x="269" y="74"/>
                  </a:lnTo>
                  <a:lnTo>
                    <a:pt x="279" y="87"/>
                  </a:lnTo>
                  <a:lnTo>
                    <a:pt x="270" y="88"/>
                  </a:lnTo>
                  <a:lnTo>
                    <a:pt x="267" y="84"/>
                  </a:lnTo>
                  <a:lnTo>
                    <a:pt x="246" y="84"/>
                  </a:lnTo>
                  <a:lnTo>
                    <a:pt x="243" y="88"/>
                  </a:lnTo>
                  <a:lnTo>
                    <a:pt x="238" y="87"/>
                  </a:lnTo>
                  <a:lnTo>
                    <a:pt x="223" y="89"/>
                  </a:lnTo>
                  <a:lnTo>
                    <a:pt x="209" y="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8" name="Freeform 317"/>
            <p:cNvSpPr>
              <a:spLocks/>
            </p:cNvSpPr>
            <p:nvPr/>
          </p:nvSpPr>
          <p:spPr bwMode="auto">
            <a:xfrm>
              <a:off x="2953" y="1867"/>
              <a:ext cx="47" cy="36"/>
            </a:xfrm>
            <a:custGeom>
              <a:avLst/>
              <a:gdLst/>
              <a:ahLst/>
              <a:cxnLst>
                <a:cxn ang="0">
                  <a:pos x="5" y="2"/>
                </a:cxn>
                <a:cxn ang="0">
                  <a:pos x="3" y="5"/>
                </a:cxn>
                <a:cxn ang="0">
                  <a:pos x="6" y="12"/>
                </a:cxn>
                <a:cxn ang="0">
                  <a:pos x="0" y="23"/>
                </a:cxn>
                <a:cxn ang="0">
                  <a:pos x="10" y="24"/>
                </a:cxn>
                <a:cxn ang="0">
                  <a:pos x="5" y="33"/>
                </a:cxn>
                <a:cxn ang="0">
                  <a:pos x="21" y="21"/>
                </a:cxn>
                <a:cxn ang="0">
                  <a:pos x="43" y="17"/>
                </a:cxn>
                <a:cxn ang="0">
                  <a:pos x="36" y="12"/>
                </a:cxn>
                <a:cxn ang="0">
                  <a:pos x="27" y="0"/>
                </a:cxn>
                <a:cxn ang="0">
                  <a:pos x="5" y="2"/>
                </a:cxn>
              </a:cxnLst>
              <a:rect l="0" t="0" r="r" b="b"/>
              <a:pathLst>
                <a:path w="43" h="33">
                  <a:moveTo>
                    <a:pt x="5" y="2"/>
                  </a:moveTo>
                  <a:lnTo>
                    <a:pt x="3" y="5"/>
                  </a:lnTo>
                  <a:lnTo>
                    <a:pt x="6" y="12"/>
                  </a:lnTo>
                  <a:lnTo>
                    <a:pt x="0" y="23"/>
                  </a:lnTo>
                  <a:lnTo>
                    <a:pt x="10" y="24"/>
                  </a:lnTo>
                  <a:lnTo>
                    <a:pt x="5" y="33"/>
                  </a:lnTo>
                  <a:lnTo>
                    <a:pt x="21" y="21"/>
                  </a:lnTo>
                  <a:lnTo>
                    <a:pt x="43" y="17"/>
                  </a:lnTo>
                  <a:lnTo>
                    <a:pt x="36" y="12"/>
                  </a:lnTo>
                  <a:lnTo>
                    <a:pt x="27"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9" name="Freeform 318"/>
            <p:cNvSpPr>
              <a:spLocks/>
            </p:cNvSpPr>
            <p:nvPr/>
          </p:nvSpPr>
          <p:spPr bwMode="auto">
            <a:xfrm>
              <a:off x="2876" y="1596"/>
              <a:ext cx="137" cy="87"/>
            </a:xfrm>
            <a:custGeom>
              <a:avLst/>
              <a:gdLst/>
              <a:ahLst/>
              <a:cxnLst>
                <a:cxn ang="0">
                  <a:pos x="122" y="42"/>
                </a:cxn>
                <a:cxn ang="0">
                  <a:pos x="117" y="47"/>
                </a:cxn>
                <a:cxn ang="0">
                  <a:pos x="121" y="62"/>
                </a:cxn>
                <a:cxn ang="0">
                  <a:pos x="104" y="71"/>
                </a:cxn>
                <a:cxn ang="0">
                  <a:pos x="105" y="78"/>
                </a:cxn>
                <a:cxn ang="0">
                  <a:pos x="81" y="73"/>
                </a:cxn>
                <a:cxn ang="0">
                  <a:pos x="57" y="68"/>
                </a:cxn>
                <a:cxn ang="0">
                  <a:pos x="35" y="68"/>
                </a:cxn>
                <a:cxn ang="0">
                  <a:pos x="11" y="68"/>
                </a:cxn>
                <a:cxn ang="0">
                  <a:pos x="2" y="63"/>
                </a:cxn>
                <a:cxn ang="0">
                  <a:pos x="12" y="51"/>
                </a:cxn>
                <a:cxn ang="0">
                  <a:pos x="0" y="30"/>
                </a:cxn>
                <a:cxn ang="0">
                  <a:pos x="21" y="15"/>
                </a:cxn>
                <a:cxn ang="0">
                  <a:pos x="41" y="2"/>
                </a:cxn>
                <a:cxn ang="0">
                  <a:pos x="60" y="0"/>
                </a:cxn>
                <a:cxn ang="0">
                  <a:pos x="80" y="3"/>
                </a:cxn>
                <a:cxn ang="0">
                  <a:pos x="102" y="7"/>
                </a:cxn>
                <a:cxn ang="0">
                  <a:pos x="104" y="26"/>
                </a:cxn>
                <a:cxn ang="0">
                  <a:pos x="122" y="42"/>
                </a:cxn>
              </a:cxnLst>
              <a:rect l="0" t="0" r="r" b="b"/>
              <a:pathLst>
                <a:path w="122" h="78">
                  <a:moveTo>
                    <a:pt x="122" y="42"/>
                  </a:moveTo>
                  <a:lnTo>
                    <a:pt x="117" y="47"/>
                  </a:lnTo>
                  <a:lnTo>
                    <a:pt x="121" y="62"/>
                  </a:lnTo>
                  <a:lnTo>
                    <a:pt x="104" y="71"/>
                  </a:lnTo>
                  <a:lnTo>
                    <a:pt x="105" y="78"/>
                  </a:lnTo>
                  <a:lnTo>
                    <a:pt x="81" y="73"/>
                  </a:lnTo>
                  <a:lnTo>
                    <a:pt x="57" y="68"/>
                  </a:lnTo>
                  <a:lnTo>
                    <a:pt x="35" y="68"/>
                  </a:lnTo>
                  <a:lnTo>
                    <a:pt x="11" y="68"/>
                  </a:lnTo>
                  <a:lnTo>
                    <a:pt x="2" y="63"/>
                  </a:lnTo>
                  <a:lnTo>
                    <a:pt x="12" y="51"/>
                  </a:lnTo>
                  <a:lnTo>
                    <a:pt x="0" y="30"/>
                  </a:lnTo>
                  <a:lnTo>
                    <a:pt x="21" y="15"/>
                  </a:lnTo>
                  <a:lnTo>
                    <a:pt x="41" y="2"/>
                  </a:lnTo>
                  <a:lnTo>
                    <a:pt x="60" y="0"/>
                  </a:lnTo>
                  <a:lnTo>
                    <a:pt x="80" y="3"/>
                  </a:lnTo>
                  <a:lnTo>
                    <a:pt x="102" y="7"/>
                  </a:lnTo>
                  <a:lnTo>
                    <a:pt x="104" y="26"/>
                  </a:lnTo>
                  <a:lnTo>
                    <a:pt x="122"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0" name="Freeform 319"/>
            <p:cNvSpPr>
              <a:spLocks/>
            </p:cNvSpPr>
            <p:nvPr/>
          </p:nvSpPr>
          <p:spPr bwMode="auto">
            <a:xfrm>
              <a:off x="2653" y="1581"/>
              <a:ext cx="34" cy="40"/>
            </a:xfrm>
            <a:custGeom>
              <a:avLst/>
              <a:gdLst/>
              <a:ahLst/>
              <a:cxnLst>
                <a:cxn ang="0">
                  <a:pos x="18" y="31"/>
                </a:cxn>
                <a:cxn ang="0">
                  <a:pos x="17" y="36"/>
                </a:cxn>
                <a:cxn ang="0">
                  <a:pos x="6" y="34"/>
                </a:cxn>
                <a:cxn ang="0">
                  <a:pos x="4" y="31"/>
                </a:cxn>
                <a:cxn ang="0">
                  <a:pos x="0" y="23"/>
                </a:cxn>
                <a:cxn ang="0">
                  <a:pos x="0" y="6"/>
                </a:cxn>
                <a:cxn ang="0">
                  <a:pos x="7" y="5"/>
                </a:cxn>
                <a:cxn ang="0">
                  <a:pos x="10" y="6"/>
                </a:cxn>
                <a:cxn ang="0">
                  <a:pos x="11" y="3"/>
                </a:cxn>
                <a:cxn ang="0">
                  <a:pos x="21" y="0"/>
                </a:cxn>
                <a:cxn ang="0">
                  <a:pos x="24" y="6"/>
                </a:cxn>
                <a:cxn ang="0">
                  <a:pos x="31" y="7"/>
                </a:cxn>
                <a:cxn ang="0">
                  <a:pos x="29" y="13"/>
                </a:cxn>
                <a:cxn ang="0">
                  <a:pos x="19" y="21"/>
                </a:cxn>
                <a:cxn ang="0">
                  <a:pos x="19" y="23"/>
                </a:cxn>
                <a:cxn ang="0">
                  <a:pos x="18" y="31"/>
                </a:cxn>
              </a:cxnLst>
              <a:rect l="0" t="0" r="r" b="b"/>
              <a:pathLst>
                <a:path w="31" h="36">
                  <a:moveTo>
                    <a:pt x="18" y="31"/>
                  </a:moveTo>
                  <a:lnTo>
                    <a:pt x="17" y="36"/>
                  </a:lnTo>
                  <a:lnTo>
                    <a:pt x="6" y="34"/>
                  </a:lnTo>
                  <a:lnTo>
                    <a:pt x="4" y="31"/>
                  </a:lnTo>
                  <a:lnTo>
                    <a:pt x="0" y="23"/>
                  </a:lnTo>
                  <a:lnTo>
                    <a:pt x="0" y="6"/>
                  </a:lnTo>
                  <a:lnTo>
                    <a:pt x="7" y="5"/>
                  </a:lnTo>
                  <a:lnTo>
                    <a:pt x="10" y="6"/>
                  </a:lnTo>
                  <a:lnTo>
                    <a:pt x="11" y="3"/>
                  </a:lnTo>
                  <a:lnTo>
                    <a:pt x="21" y="0"/>
                  </a:lnTo>
                  <a:lnTo>
                    <a:pt x="24" y="6"/>
                  </a:lnTo>
                  <a:lnTo>
                    <a:pt x="31" y="7"/>
                  </a:lnTo>
                  <a:lnTo>
                    <a:pt x="29" y="13"/>
                  </a:lnTo>
                  <a:lnTo>
                    <a:pt x="19" y="21"/>
                  </a:lnTo>
                  <a:lnTo>
                    <a:pt x="19" y="23"/>
                  </a:lnTo>
                  <a:lnTo>
                    <a:pt x="18" y="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1" name="Freeform 320"/>
            <p:cNvSpPr>
              <a:spLocks/>
            </p:cNvSpPr>
            <p:nvPr/>
          </p:nvSpPr>
          <p:spPr bwMode="auto">
            <a:xfrm>
              <a:off x="2693" y="1596"/>
              <a:ext cx="23" cy="20"/>
            </a:xfrm>
            <a:custGeom>
              <a:avLst/>
              <a:gdLst/>
              <a:ahLst/>
              <a:cxnLst>
                <a:cxn ang="0">
                  <a:pos x="20" y="6"/>
                </a:cxn>
                <a:cxn ang="0">
                  <a:pos x="18" y="2"/>
                </a:cxn>
                <a:cxn ang="0">
                  <a:pos x="14" y="0"/>
                </a:cxn>
                <a:cxn ang="0">
                  <a:pos x="12" y="6"/>
                </a:cxn>
                <a:cxn ang="0">
                  <a:pos x="9" y="4"/>
                </a:cxn>
                <a:cxn ang="0">
                  <a:pos x="3" y="2"/>
                </a:cxn>
                <a:cxn ang="0">
                  <a:pos x="0" y="6"/>
                </a:cxn>
                <a:cxn ang="0">
                  <a:pos x="0" y="9"/>
                </a:cxn>
                <a:cxn ang="0">
                  <a:pos x="11" y="18"/>
                </a:cxn>
                <a:cxn ang="0">
                  <a:pos x="15" y="14"/>
                </a:cxn>
                <a:cxn ang="0">
                  <a:pos x="15" y="10"/>
                </a:cxn>
                <a:cxn ang="0">
                  <a:pos x="20" y="6"/>
                </a:cxn>
              </a:cxnLst>
              <a:rect l="0" t="0" r="r" b="b"/>
              <a:pathLst>
                <a:path w="20" h="18">
                  <a:moveTo>
                    <a:pt x="20" y="6"/>
                  </a:moveTo>
                  <a:lnTo>
                    <a:pt x="18" y="2"/>
                  </a:lnTo>
                  <a:lnTo>
                    <a:pt x="14" y="0"/>
                  </a:lnTo>
                  <a:lnTo>
                    <a:pt x="12" y="6"/>
                  </a:lnTo>
                  <a:lnTo>
                    <a:pt x="9" y="4"/>
                  </a:lnTo>
                  <a:lnTo>
                    <a:pt x="3" y="2"/>
                  </a:lnTo>
                  <a:lnTo>
                    <a:pt x="0" y="6"/>
                  </a:lnTo>
                  <a:lnTo>
                    <a:pt x="0" y="9"/>
                  </a:lnTo>
                  <a:lnTo>
                    <a:pt x="11" y="18"/>
                  </a:lnTo>
                  <a:lnTo>
                    <a:pt x="15" y="14"/>
                  </a:lnTo>
                  <a:lnTo>
                    <a:pt x="15" y="10"/>
                  </a:lnTo>
                  <a:lnTo>
                    <a:pt x="2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2" name="Freeform 321"/>
            <p:cNvSpPr>
              <a:spLocks/>
            </p:cNvSpPr>
            <p:nvPr/>
          </p:nvSpPr>
          <p:spPr bwMode="auto">
            <a:xfrm>
              <a:off x="2653" y="1565"/>
              <a:ext cx="31" cy="20"/>
            </a:xfrm>
            <a:custGeom>
              <a:avLst/>
              <a:gdLst/>
              <a:ahLst/>
              <a:cxnLst>
                <a:cxn ang="0">
                  <a:pos x="23" y="12"/>
                </a:cxn>
                <a:cxn ang="0">
                  <a:pos x="3" y="13"/>
                </a:cxn>
                <a:cxn ang="0">
                  <a:pos x="0" y="18"/>
                </a:cxn>
                <a:cxn ang="0">
                  <a:pos x="2" y="11"/>
                </a:cxn>
                <a:cxn ang="0">
                  <a:pos x="15" y="8"/>
                </a:cxn>
                <a:cxn ang="0">
                  <a:pos x="28" y="0"/>
                </a:cxn>
                <a:cxn ang="0">
                  <a:pos x="23" y="12"/>
                </a:cxn>
              </a:cxnLst>
              <a:rect l="0" t="0" r="r" b="b"/>
              <a:pathLst>
                <a:path w="28" h="18">
                  <a:moveTo>
                    <a:pt x="23" y="12"/>
                  </a:moveTo>
                  <a:lnTo>
                    <a:pt x="3" y="13"/>
                  </a:lnTo>
                  <a:lnTo>
                    <a:pt x="0" y="18"/>
                  </a:lnTo>
                  <a:lnTo>
                    <a:pt x="2" y="11"/>
                  </a:lnTo>
                  <a:lnTo>
                    <a:pt x="15" y="8"/>
                  </a:lnTo>
                  <a:lnTo>
                    <a:pt x="28" y="0"/>
                  </a:lnTo>
                  <a:lnTo>
                    <a:pt x="23"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3" name="Freeform 322"/>
            <p:cNvSpPr>
              <a:spLocks/>
            </p:cNvSpPr>
            <p:nvPr/>
          </p:nvSpPr>
          <p:spPr bwMode="auto">
            <a:xfrm>
              <a:off x="2676" y="1608"/>
              <a:ext cx="13" cy="8"/>
            </a:xfrm>
            <a:custGeom>
              <a:avLst/>
              <a:gdLst/>
              <a:ahLst/>
              <a:cxnLst>
                <a:cxn ang="0">
                  <a:pos x="13" y="4"/>
                </a:cxn>
                <a:cxn ang="0">
                  <a:pos x="9" y="0"/>
                </a:cxn>
                <a:cxn ang="0">
                  <a:pos x="0" y="1"/>
                </a:cxn>
                <a:cxn ang="0">
                  <a:pos x="9" y="9"/>
                </a:cxn>
                <a:cxn ang="0">
                  <a:pos x="13" y="4"/>
                </a:cxn>
              </a:cxnLst>
              <a:rect l="0" t="0" r="r" b="b"/>
              <a:pathLst>
                <a:path w="13" h="9">
                  <a:moveTo>
                    <a:pt x="13" y="4"/>
                  </a:moveTo>
                  <a:lnTo>
                    <a:pt x="9" y="0"/>
                  </a:lnTo>
                  <a:lnTo>
                    <a:pt x="0" y="1"/>
                  </a:lnTo>
                  <a:lnTo>
                    <a:pt x="9" y="9"/>
                  </a:lnTo>
                  <a:lnTo>
                    <a:pt x="13"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4" name="Freeform 323"/>
            <p:cNvSpPr>
              <a:spLocks/>
            </p:cNvSpPr>
            <p:nvPr/>
          </p:nvSpPr>
          <p:spPr bwMode="auto">
            <a:xfrm>
              <a:off x="2707" y="1616"/>
              <a:ext cx="2" cy="5"/>
            </a:xfrm>
            <a:custGeom>
              <a:avLst/>
              <a:gdLst/>
              <a:ahLst/>
              <a:cxnLst>
                <a:cxn ang="0">
                  <a:pos x="3" y="1"/>
                </a:cxn>
                <a:cxn ang="0">
                  <a:pos x="0" y="0"/>
                </a:cxn>
                <a:cxn ang="0">
                  <a:pos x="0" y="3"/>
                </a:cxn>
                <a:cxn ang="0">
                  <a:pos x="3" y="1"/>
                </a:cxn>
              </a:cxnLst>
              <a:rect l="0" t="0" r="r" b="b"/>
              <a:pathLst>
                <a:path w="3" h="3">
                  <a:moveTo>
                    <a:pt x="3" y="1"/>
                  </a:moveTo>
                  <a:lnTo>
                    <a:pt x="0" y="0"/>
                  </a:lnTo>
                  <a:lnTo>
                    <a:pt x="0" y="3"/>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5" name="Freeform 324"/>
            <p:cNvSpPr>
              <a:spLocks/>
            </p:cNvSpPr>
            <p:nvPr/>
          </p:nvSpPr>
          <p:spPr bwMode="auto">
            <a:xfrm>
              <a:off x="2864" y="1532"/>
              <a:ext cx="65" cy="31"/>
            </a:xfrm>
            <a:custGeom>
              <a:avLst/>
              <a:gdLst/>
              <a:ahLst/>
              <a:cxnLst>
                <a:cxn ang="0">
                  <a:pos x="59" y="17"/>
                </a:cxn>
                <a:cxn ang="0">
                  <a:pos x="55" y="2"/>
                </a:cxn>
                <a:cxn ang="0">
                  <a:pos x="24" y="0"/>
                </a:cxn>
                <a:cxn ang="0">
                  <a:pos x="0" y="6"/>
                </a:cxn>
                <a:cxn ang="0">
                  <a:pos x="2" y="12"/>
                </a:cxn>
                <a:cxn ang="0">
                  <a:pos x="11" y="22"/>
                </a:cxn>
                <a:cxn ang="0">
                  <a:pos x="16" y="22"/>
                </a:cxn>
                <a:cxn ang="0">
                  <a:pos x="34" y="24"/>
                </a:cxn>
                <a:cxn ang="0">
                  <a:pos x="53" y="28"/>
                </a:cxn>
                <a:cxn ang="0">
                  <a:pos x="59" y="17"/>
                </a:cxn>
              </a:cxnLst>
              <a:rect l="0" t="0" r="r" b="b"/>
              <a:pathLst>
                <a:path w="59" h="28">
                  <a:moveTo>
                    <a:pt x="59" y="17"/>
                  </a:moveTo>
                  <a:lnTo>
                    <a:pt x="55" y="2"/>
                  </a:lnTo>
                  <a:lnTo>
                    <a:pt x="24" y="0"/>
                  </a:lnTo>
                  <a:lnTo>
                    <a:pt x="0" y="6"/>
                  </a:lnTo>
                  <a:lnTo>
                    <a:pt x="2" y="12"/>
                  </a:lnTo>
                  <a:lnTo>
                    <a:pt x="11" y="22"/>
                  </a:lnTo>
                  <a:lnTo>
                    <a:pt x="16" y="22"/>
                  </a:lnTo>
                  <a:lnTo>
                    <a:pt x="34" y="24"/>
                  </a:lnTo>
                  <a:lnTo>
                    <a:pt x="53" y="28"/>
                  </a:lnTo>
                  <a:lnTo>
                    <a:pt x="59"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6" name="Freeform 325"/>
            <p:cNvSpPr>
              <a:spLocks/>
            </p:cNvSpPr>
            <p:nvPr/>
          </p:nvSpPr>
          <p:spPr bwMode="auto">
            <a:xfrm>
              <a:off x="2836" y="1556"/>
              <a:ext cx="106" cy="45"/>
            </a:xfrm>
            <a:custGeom>
              <a:avLst/>
              <a:gdLst/>
              <a:ahLst/>
              <a:cxnLst>
                <a:cxn ang="0">
                  <a:pos x="49" y="26"/>
                </a:cxn>
                <a:cxn ang="0">
                  <a:pos x="26" y="30"/>
                </a:cxn>
                <a:cxn ang="0">
                  <a:pos x="5" y="32"/>
                </a:cxn>
                <a:cxn ang="0">
                  <a:pos x="0" y="33"/>
                </a:cxn>
                <a:cxn ang="0">
                  <a:pos x="7" y="10"/>
                </a:cxn>
                <a:cxn ang="0">
                  <a:pos x="18" y="10"/>
                </a:cxn>
                <a:cxn ang="0">
                  <a:pos x="35" y="21"/>
                </a:cxn>
                <a:cxn ang="0">
                  <a:pos x="42" y="14"/>
                </a:cxn>
                <a:cxn ang="0">
                  <a:pos x="41" y="0"/>
                </a:cxn>
                <a:cxn ang="0">
                  <a:pos x="59" y="2"/>
                </a:cxn>
                <a:cxn ang="0">
                  <a:pos x="78" y="6"/>
                </a:cxn>
                <a:cxn ang="0">
                  <a:pos x="86" y="18"/>
                </a:cxn>
                <a:cxn ang="0">
                  <a:pos x="96" y="37"/>
                </a:cxn>
                <a:cxn ang="0">
                  <a:pos x="77" y="39"/>
                </a:cxn>
                <a:cxn ang="0">
                  <a:pos x="49" y="26"/>
                </a:cxn>
              </a:cxnLst>
              <a:rect l="0" t="0" r="r" b="b"/>
              <a:pathLst>
                <a:path w="96" h="39">
                  <a:moveTo>
                    <a:pt x="49" y="26"/>
                  </a:moveTo>
                  <a:lnTo>
                    <a:pt x="26" y="30"/>
                  </a:lnTo>
                  <a:lnTo>
                    <a:pt x="5" y="32"/>
                  </a:lnTo>
                  <a:lnTo>
                    <a:pt x="0" y="33"/>
                  </a:lnTo>
                  <a:lnTo>
                    <a:pt x="7" y="10"/>
                  </a:lnTo>
                  <a:lnTo>
                    <a:pt x="18" y="10"/>
                  </a:lnTo>
                  <a:lnTo>
                    <a:pt x="35" y="21"/>
                  </a:lnTo>
                  <a:lnTo>
                    <a:pt x="42" y="14"/>
                  </a:lnTo>
                  <a:lnTo>
                    <a:pt x="41" y="0"/>
                  </a:lnTo>
                  <a:lnTo>
                    <a:pt x="59" y="2"/>
                  </a:lnTo>
                  <a:lnTo>
                    <a:pt x="78" y="6"/>
                  </a:lnTo>
                  <a:lnTo>
                    <a:pt x="86" y="18"/>
                  </a:lnTo>
                  <a:lnTo>
                    <a:pt x="96" y="37"/>
                  </a:lnTo>
                  <a:lnTo>
                    <a:pt x="77" y="39"/>
                  </a:lnTo>
                  <a:lnTo>
                    <a:pt x="49" y="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7" name="Freeform 326"/>
            <p:cNvSpPr>
              <a:spLocks/>
            </p:cNvSpPr>
            <p:nvPr/>
          </p:nvSpPr>
          <p:spPr bwMode="auto">
            <a:xfrm>
              <a:off x="2836" y="1585"/>
              <a:ext cx="86" cy="45"/>
            </a:xfrm>
            <a:custGeom>
              <a:avLst/>
              <a:gdLst/>
              <a:ahLst/>
              <a:cxnLst>
                <a:cxn ang="0">
                  <a:pos x="3" y="29"/>
                </a:cxn>
                <a:cxn ang="0">
                  <a:pos x="0" y="7"/>
                </a:cxn>
                <a:cxn ang="0">
                  <a:pos x="5" y="6"/>
                </a:cxn>
                <a:cxn ang="0">
                  <a:pos x="26" y="4"/>
                </a:cxn>
                <a:cxn ang="0">
                  <a:pos x="49" y="0"/>
                </a:cxn>
                <a:cxn ang="0">
                  <a:pos x="77" y="13"/>
                </a:cxn>
                <a:cxn ang="0">
                  <a:pos x="57" y="26"/>
                </a:cxn>
                <a:cxn ang="0">
                  <a:pos x="36" y="41"/>
                </a:cxn>
                <a:cxn ang="0">
                  <a:pos x="24" y="40"/>
                </a:cxn>
                <a:cxn ang="0">
                  <a:pos x="24" y="32"/>
                </a:cxn>
                <a:cxn ang="0">
                  <a:pos x="12" y="31"/>
                </a:cxn>
                <a:cxn ang="0">
                  <a:pos x="3" y="29"/>
                </a:cxn>
              </a:cxnLst>
              <a:rect l="0" t="0" r="r" b="b"/>
              <a:pathLst>
                <a:path w="77" h="41">
                  <a:moveTo>
                    <a:pt x="3" y="29"/>
                  </a:moveTo>
                  <a:lnTo>
                    <a:pt x="0" y="7"/>
                  </a:lnTo>
                  <a:lnTo>
                    <a:pt x="5" y="6"/>
                  </a:lnTo>
                  <a:lnTo>
                    <a:pt x="26" y="4"/>
                  </a:lnTo>
                  <a:lnTo>
                    <a:pt x="49" y="0"/>
                  </a:lnTo>
                  <a:lnTo>
                    <a:pt x="77" y="13"/>
                  </a:lnTo>
                  <a:lnTo>
                    <a:pt x="57" y="26"/>
                  </a:lnTo>
                  <a:lnTo>
                    <a:pt x="36" y="41"/>
                  </a:lnTo>
                  <a:lnTo>
                    <a:pt x="24" y="40"/>
                  </a:lnTo>
                  <a:lnTo>
                    <a:pt x="24" y="32"/>
                  </a:lnTo>
                  <a:lnTo>
                    <a:pt x="12" y="31"/>
                  </a:lnTo>
                  <a:lnTo>
                    <a:pt x="3" y="2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8" name="Freeform 327"/>
            <p:cNvSpPr>
              <a:spLocks/>
            </p:cNvSpPr>
            <p:nvPr/>
          </p:nvSpPr>
          <p:spPr bwMode="auto">
            <a:xfrm>
              <a:off x="2582" y="1648"/>
              <a:ext cx="58" cy="48"/>
            </a:xfrm>
            <a:custGeom>
              <a:avLst/>
              <a:gdLst/>
              <a:ahLst/>
              <a:cxnLst>
                <a:cxn ang="0">
                  <a:pos x="38" y="27"/>
                </a:cxn>
                <a:cxn ang="0">
                  <a:pos x="50" y="21"/>
                </a:cxn>
                <a:cxn ang="0">
                  <a:pos x="45" y="13"/>
                </a:cxn>
                <a:cxn ang="0">
                  <a:pos x="51" y="3"/>
                </a:cxn>
                <a:cxn ang="0">
                  <a:pos x="34" y="0"/>
                </a:cxn>
                <a:cxn ang="0">
                  <a:pos x="16" y="11"/>
                </a:cxn>
                <a:cxn ang="0">
                  <a:pos x="4" y="29"/>
                </a:cxn>
                <a:cxn ang="0">
                  <a:pos x="0" y="35"/>
                </a:cxn>
                <a:cxn ang="0">
                  <a:pos x="12" y="35"/>
                </a:cxn>
                <a:cxn ang="0">
                  <a:pos x="30" y="36"/>
                </a:cxn>
                <a:cxn ang="0">
                  <a:pos x="32" y="42"/>
                </a:cxn>
                <a:cxn ang="0">
                  <a:pos x="37" y="46"/>
                </a:cxn>
                <a:cxn ang="0">
                  <a:pos x="38" y="27"/>
                </a:cxn>
              </a:cxnLst>
              <a:rect l="0" t="0" r="r" b="b"/>
              <a:pathLst>
                <a:path w="51" h="46">
                  <a:moveTo>
                    <a:pt x="38" y="27"/>
                  </a:moveTo>
                  <a:lnTo>
                    <a:pt x="50" y="21"/>
                  </a:lnTo>
                  <a:lnTo>
                    <a:pt x="45" y="13"/>
                  </a:lnTo>
                  <a:lnTo>
                    <a:pt x="51" y="3"/>
                  </a:lnTo>
                  <a:lnTo>
                    <a:pt x="34" y="0"/>
                  </a:lnTo>
                  <a:lnTo>
                    <a:pt x="16" y="11"/>
                  </a:lnTo>
                  <a:lnTo>
                    <a:pt x="4" y="29"/>
                  </a:lnTo>
                  <a:lnTo>
                    <a:pt x="0" y="35"/>
                  </a:lnTo>
                  <a:lnTo>
                    <a:pt x="12" y="35"/>
                  </a:lnTo>
                  <a:lnTo>
                    <a:pt x="30" y="36"/>
                  </a:lnTo>
                  <a:lnTo>
                    <a:pt x="32" y="42"/>
                  </a:lnTo>
                  <a:lnTo>
                    <a:pt x="37" y="46"/>
                  </a:lnTo>
                  <a:lnTo>
                    <a:pt x="38"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9" name="Freeform 328"/>
            <p:cNvSpPr>
              <a:spLocks/>
            </p:cNvSpPr>
            <p:nvPr/>
          </p:nvSpPr>
          <p:spPr bwMode="auto">
            <a:xfrm>
              <a:off x="2742" y="1621"/>
              <a:ext cx="154" cy="109"/>
            </a:xfrm>
            <a:custGeom>
              <a:avLst/>
              <a:gdLst/>
              <a:ahLst/>
              <a:cxnLst>
                <a:cxn ang="0">
                  <a:pos x="57" y="5"/>
                </a:cxn>
                <a:cxn ang="0">
                  <a:pos x="55" y="0"/>
                </a:cxn>
                <a:cxn ang="0">
                  <a:pos x="37" y="2"/>
                </a:cxn>
                <a:cxn ang="0">
                  <a:pos x="19" y="8"/>
                </a:cxn>
                <a:cxn ang="0">
                  <a:pos x="0" y="11"/>
                </a:cxn>
                <a:cxn ang="0">
                  <a:pos x="6" y="17"/>
                </a:cxn>
                <a:cxn ang="0">
                  <a:pos x="1" y="18"/>
                </a:cxn>
                <a:cxn ang="0">
                  <a:pos x="3" y="34"/>
                </a:cxn>
                <a:cxn ang="0">
                  <a:pos x="10" y="53"/>
                </a:cxn>
                <a:cxn ang="0">
                  <a:pos x="13" y="66"/>
                </a:cxn>
                <a:cxn ang="0">
                  <a:pos x="15" y="66"/>
                </a:cxn>
                <a:cxn ang="0">
                  <a:pos x="33" y="72"/>
                </a:cxn>
                <a:cxn ang="0">
                  <a:pos x="37" y="77"/>
                </a:cxn>
                <a:cxn ang="0">
                  <a:pos x="44" y="77"/>
                </a:cxn>
                <a:cxn ang="0">
                  <a:pos x="54" y="77"/>
                </a:cxn>
                <a:cxn ang="0">
                  <a:pos x="70" y="89"/>
                </a:cxn>
                <a:cxn ang="0">
                  <a:pos x="86" y="90"/>
                </a:cxn>
                <a:cxn ang="0">
                  <a:pos x="88" y="94"/>
                </a:cxn>
                <a:cxn ang="0">
                  <a:pos x="100" y="93"/>
                </a:cxn>
                <a:cxn ang="0">
                  <a:pos x="122" y="98"/>
                </a:cxn>
                <a:cxn ang="0">
                  <a:pos x="124" y="93"/>
                </a:cxn>
                <a:cxn ang="0">
                  <a:pos x="138" y="75"/>
                </a:cxn>
                <a:cxn ang="0">
                  <a:pos x="139" y="66"/>
                </a:cxn>
                <a:cxn ang="0">
                  <a:pos x="132" y="47"/>
                </a:cxn>
                <a:cxn ang="0">
                  <a:pos x="123" y="42"/>
                </a:cxn>
                <a:cxn ang="0">
                  <a:pos x="133" y="30"/>
                </a:cxn>
                <a:cxn ang="0">
                  <a:pos x="121" y="9"/>
                </a:cxn>
                <a:cxn ang="0">
                  <a:pos x="96" y="6"/>
                </a:cxn>
                <a:cxn ang="0">
                  <a:pos x="72" y="5"/>
                </a:cxn>
                <a:cxn ang="0">
                  <a:pos x="57" y="5"/>
                </a:cxn>
              </a:cxnLst>
              <a:rect l="0" t="0" r="r" b="b"/>
              <a:pathLst>
                <a:path w="139" h="98">
                  <a:moveTo>
                    <a:pt x="57" y="5"/>
                  </a:moveTo>
                  <a:lnTo>
                    <a:pt x="55" y="0"/>
                  </a:lnTo>
                  <a:lnTo>
                    <a:pt x="37" y="2"/>
                  </a:lnTo>
                  <a:lnTo>
                    <a:pt x="19" y="8"/>
                  </a:lnTo>
                  <a:lnTo>
                    <a:pt x="0" y="11"/>
                  </a:lnTo>
                  <a:lnTo>
                    <a:pt x="6" y="17"/>
                  </a:lnTo>
                  <a:lnTo>
                    <a:pt x="1" y="18"/>
                  </a:lnTo>
                  <a:lnTo>
                    <a:pt x="3" y="34"/>
                  </a:lnTo>
                  <a:lnTo>
                    <a:pt x="10" y="53"/>
                  </a:lnTo>
                  <a:lnTo>
                    <a:pt x="13" y="66"/>
                  </a:lnTo>
                  <a:lnTo>
                    <a:pt x="15" y="66"/>
                  </a:lnTo>
                  <a:lnTo>
                    <a:pt x="33" y="72"/>
                  </a:lnTo>
                  <a:lnTo>
                    <a:pt x="37" y="77"/>
                  </a:lnTo>
                  <a:lnTo>
                    <a:pt x="44" y="77"/>
                  </a:lnTo>
                  <a:lnTo>
                    <a:pt x="54" y="77"/>
                  </a:lnTo>
                  <a:lnTo>
                    <a:pt x="70" y="89"/>
                  </a:lnTo>
                  <a:lnTo>
                    <a:pt x="86" y="90"/>
                  </a:lnTo>
                  <a:lnTo>
                    <a:pt x="88" y="94"/>
                  </a:lnTo>
                  <a:lnTo>
                    <a:pt x="100" y="93"/>
                  </a:lnTo>
                  <a:lnTo>
                    <a:pt x="122" y="98"/>
                  </a:lnTo>
                  <a:lnTo>
                    <a:pt x="124" y="93"/>
                  </a:lnTo>
                  <a:lnTo>
                    <a:pt x="138" y="75"/>
                  </a:lnTo>
                  <a:lnTo>
                    <a:pt x="139" y="66"/>
                  </a:lnTo>
                  <a:lnTo>
                    <a:pt x="132" y="47"/>
                  </a:lnTo>
                  <a:lnTo>
                    <a:pt x="123" y="42"/>
                  </a:lnTo>
                  <a:lnTo>
                    <a:pt x="133" y="30"/>
                  </a:lnTo>
                  <a:lnTo>
                    <a:pt x="121" y="9"/>
                  </a:lnTo>
                  <a:lnTo>
                    <a:pt x="96" y="6"/>
                  </a:lnTo>
                  <a:lnTo>
                    <a:pt x="72" y="5"/>
                  </a:lnTo>
                  <a:lnTo>
                    <a:pt x="57"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0" name="Freeform 329"/>
            <p:cNvSpPr>
              <a:spLocks/>
            </p:cNvSpPr>
            <p:nvPr/>
          </p:nvSpPr>
          <p:spPr bwMode="auto">
            <a:xfrm>
              <a:off x="2849" y="1745"/>
              <a:ext cx="151" cy="89"/>
            </a:xfrm>
            <a:custGeom>
              <a:avLst/>
              <a:gdLst/>
              <a:ahLst/>
              <a:cxnLst>
                <a:cxn ang="0">
                  <a:pos x="123" y="66"/>
                </a:cxn>
                <a:cxn ang="0">
                  <a:pos x="122" y="79"/>
                </a:cxn>
                <a:cxn ang="0">
                  <a:pos x="95" y="73"/>
                </a:cxn>
                <a:cxn ang="0">
                  <a:pos x="73" y="80"/>
                </a:cxn>
                <a:cxn ang="0">
                  <a:pos x="56" y="78"/>
                </a:cxn>
                <a:cxn ang="0">
                  <a:pos x="41" y="76"/>
                </a:cxn>
                <a:cxn ang="0">
                  <a:pos x="37" y="71"/>
                </a:cxn>
                <a:cxn ang="0">
                  <a:pos x="36" y="65"/>
                </a:cxn>
                <a:cxn ang="0">
                  <a:pos x="31" y="64"/>
                </a:cxn>
                <a:cxn ang="0">
                  <a:pos x="26" y="62"/>
                </a:cxn>
                <a:cxn ang="0">
                  <a:pos x="20" y="59"/>
                </a:cxn>
                <a:cxn ang="0">
                  <a:pos x="0" y="37"/>
                </a:cxn>
                <a:cxn ang="0">
                  <a:pos x="7" y="35"/>
                </a:cxn>
                <a:cxn ang="0">
                  <a:pos x="19" y="19"/>
                </a:cxn>
                <a:cxn ang="0">
                  <a:pos x="32" y="6"/>
                </a:cxn>
                <a:cxn ang="0">
                  <a:pos x="33" y="5"/>
                </a:cxn>
                <a:cxn ang="0">
                  <a:pos x="60" y="7"/>
                </a:cxn>
                <a:cxn ang="0">
                  <a:pos x="84" y="0"/>
                </a:cxn>
                <a:cxn ang="0">
                  <a:pos x="85" y="0"/>
                </a:cxn>
                <a:cxn ang="0">
                  <a:pos x="95" y="11"/>
                </a:cxn>
                <a:cxn ang="0">
                  <a:pos x="105" y="20"/>
                </a:cxn>
                <a:cxn ang="0">
                  <a:pos x="110" y="36"/>
                </a:cxn>
                <a:cxn ang="0">
                  <a:pos x="114" y="50"/>
                </a:cxn>
                <a:cxn ang="0">
                  <a:pos x="126" y="50"/>
                </a:cxn>
                <a:cxn ang="0">
                  <a:pos x="134" y="53"/>
                </a:cxn>
                <a:cxn ang="0">
                  <a:pos x="134" y="58"/>
                </a:cxn>
                <a:cxn ang="0">
                  <a:pos x="128" y="61"/>
                </a:cxn>
                <a:cxn ang="0">
                  <a:pos x="127" y="60"/>
                </a:cxn>
                <a:cxn ang="0">
                  <a:pos x="123" y="66"/>
                </a:cxn>
              </a:cxnLst>
              <a:rect l="0" t="0" r="r" b="b"/>
              <a:pathLst>
                <a:path w="134" h="80">
                  <a:moveTo>
                    <a:pt x="123" y="66"/>
                  </a:moveTo>
                  <a:lnTo>
                    <a:pt x="122" y="79"/>
                  </a:lnTo>
                  <a:lnTo>
                    <a:pt x="95" y="73"/>
                  </a:lnTo>
                  <a:lnTo>
                    <a:pt x="73" y="80"/>
                  </a:lnTo>
                  <a:lnTo>
                    <a:pt x="56" y="78"/>
                  </a:lnTo>
                  <a:lnTo>
                    <a:pt x="41" y="76"/>
                  </a:lnTo>
                  <a:lnTo>
                    <a:pt x="37" y="71"/>
                  </a:lnTo>
                  <a:lnTo>
                    <a:pt x="36" y="65"/>
                  </a:lnTo>
                  <a:lnTo>
                    <a:pt x="31" y="64"/>
                  </a:lnTo>
                  <a:lnTo>
                    <a:pt x="26" y="62"/>
                  </a:lnTo>
                  <a:lnTo>
                    <a:pt x="20" y="59"/>
                  </a:lnTo>
                  <a:lnTo>
                    <a:pt x="0" y="37"/>
                  </a:lnTo>
                  <a:lnTo>
                    <a:pt x="7" y="35"/>
                  </a:lnTo>
                  <a:lnTo>
                    <a:pt x="19" y="19"/>
                  </a:lnTo>
                  <a:lnTo>
                    <a:pt x="32" y="6"/>
                  </a:lnTo>
                  <a:lnTo>
                    <a:pt x="33" y="5"/>
                  </a:lnTo>
                  <a:lnTo>
                    <a:pt x="60" y="7"/>
                  </a:lnTo>
                  <a:lnTo>
                    <a:pt x="84" y="0"/>
                  </a:lnTo>
                  <a:lnTo>
                    <a:pt x="85" y="0"/>
                  </a:lnTo>
                  <a:lnTo>
                    <a:pt x="95" y="11"/>
                  </a:lnTo>
                  <a:lnTo>
                    <a:pt x="105" y="20"/>
                  </a:lnTo>
                  <a:lnTo>
                    <a:pt x="110" y="36"/>
                  </a:lnTo>
                  <a:lnTo>
                    <a:pt x="114" y="50"/>
                  </a:lnTo>
                  <a:lnTo>
                    <a:pt x="126" y="50"/>
                  </a:lnTo>
                  <a:lnTo>
                    <a:pt x="134" y="53"/>
                  </a:lnTo>
                  <a:lnTo>
                    <a:pt x="134" y="58"/>
                  </a:lnTo>
                  <a:lnTo>
                    <a:pt x="128" y="61"/>
                  </a:lnTo>
                  <a:lnTo>
                    <a:pt x="127" y="60"/>
                  </a:lnTo>
                  <a:lnTo>
                    <a:pt x="123" y="6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1" name="Freeform 330"/>
            <p:cNvSpPr>
              <a:spLocks/>
            </p:cNvSpPr>
            <p:nvPr/>
          </p:nvSpPr>
          <p:spPr bwMode="auto">
            <a:xfrm>
              <a:off x="2718" y="1694"/>
              <a:ext cx="102" cy="47"/>
            </a:xfrm>
            <a:custGeom>
              <a:avLst/>
              <a:gdLst/>
              <a:ahLst/>
              <a:cxnLst>
                <a:cxn ang="0">
                  <a:pos x="76" y="12"/>
                </a:cxn>
                <a:cxn ang="0">
                  <a:pos x="92" y="24"/>
                </a:cxn>
                <a:cxn ang="0">
                  <a:pos x="92" y="25"/>
                </a:cxn>
                <a:cxn ang="0">
                  <a:pos x="88" y="29"/>
                </a:cxn>
                <a:cxn ang="0">
                  <a:pos x="84" y="31"/>
                </a:cxn>
                <a:cxn ang="0">
                  <a:pos x="84" y="33"/>
                </a:cxn>
                <a:cxn ang="0">
                  <a:pos x="79" y="37"/>
                </a:cxn>
                <a:cxn ang="0">
                  <a:pos x="72" y="39"/>
                </a:cxn>
                <a:cxn ang="0">
                  <a:pos x="67" y="39"/>
                </a:cxn>
                <a:cxn ang="0">
                  <a:pos x="62" y="39"/>
                </a:cxn>
                <a:cxn ang="0">
                  <a:pos x="40" y="35"/>
                </a:cxn>
                <a:cxn ang="0">
                  <a:pos x="32" y="42"/>
                </a:cxn>
                <a:cxn ang="0">
                  <a:pos x="24" y="39"/>
                </a:cxn>
                <a:cxn ang="0">
                  <a:pos x="4" y="19"/>
                </a:cxn>
                <a:cxn ang="0">
                  <a:pos x="0" y="13"/>
                </a:cxn>
                <a:cxn ang="0">
                  <a:pos x="31" y="0"/>
                </a:cxn>
                <a:cxn ang="0">
                  <a:pos x="35" y="1"/>
                </a:cxn>
                <a:cxn ang="0">
                  <a:pos x="37" y="1"/>
                </a:cxn>
                <a:cxn ang="0">
                  <a:pos x="55" y="7"/>
                </a:cxn>
                <a:cxn ang="0">
                  <a:pos x="59" y="12"/>
                </a:cxn>
                <a:cxn ang="0">
                  <a:pos x="66" y="12"/>
                </a:cxn>
                <a:cxn ang="0">
                  <a:pos x="76" y="12"/>
                </a:cxn>
              </a:cxnLst>
              <a:rect l="0" t="0" r="r" b="b"/>
              <a:pathLst>
                <a:path w="92" h="42">
                  <a:moveTo>
                    <a:pt x="76" y="12"/>
                  </a:moveTo>
                  <a:lnTo>
                    <a:pt x="92" y="24"/>
                  </a:lnTo>
                  <a:lnTo>
                    <a:pt x="92" y="25"/>
                  </a:lnTo>
                  <a:lnTo>
                    <a:pt x="88" y="29"/>
                  </a:lnTo>
                  <a:lnTo>
                    <a:pt x="84" y="31"/>
                  </a:lnTo>
                  <a:lnTo>
                    <a:pt x="84" y="33"/>
                  </a:lnTo>
                  <a:lnTo>
                    <a:pt x="79" y="37"/>
                  </a:lnTo>
                  <a:lnTo>
                    <a:pt x="72" y="39"/>
                  </a:lnTo>
                  <a:lnTo>
                    <a:pt x="67" y="39"/>
                  </a:lnTo>
                  <a:lnTo>
                    <a:pt x="62" y="39"/>
                  </a:lnTo>
                  <a:lnTo>
                    <a:pt x="40" y="35"/>
                  </a:lnTo>
                  <a:lnTo>
                    <a:pt x="32" y="42"/>
                  </a:lnTo>
                  <a:lnTo>
                    <a:pt x="24" y="39"/>
                  </a:lnTo>
                  <a:lnTo>
                    <a:pt x="4" y="19"/>
                  </a:lnTo>
                  <a:lnTo>
                    <a:pt x="0" y="13"/>
                  </a:lnTo>
                  <a:lnTo>
                    <a:pt x="31" y="0"/>
                  </a:lnTo>
                  <a:lnTo>
                    <a:pt x="35" y="1"/>
                  </a:lnTo>
                  <a:lnTo>
                    <a:pt x="37" y="1"/>
                  </a:lnTo>
                  <a:lnTo>
                    <a:pt x="55" y="7"/>
                  </a:lnTo>
                  <a:lnTo>
                    <a:pt x="59" y="12"/>
                  </a:lnTo>
                  <a:lnTo>
                    <a:pt x="66" y="12"/>
                  </a:lnTo>
                  <a:lnTo>
                    <a:pt x="7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2" name="Freeform 331"/>
            <p:cNvSpPr>
              <a:spLocks/>
            </p:cNvSpPr>
            <p:nvPr/>
          </p:nvSpPr>
          <p:spPr bwMode="auto">
            <a:xfrm>
              <a:off x="2569" y="1685"/>
              <a:ext cx="58" cy="36"/>
            </a:xfrm>
            <a:custGeom>
              <a:avLst/>
              <a:gdLst/>
              <a:ahLst/>
              <a:cxnLst>
                <a:cxn ang="0">
                  <a:pos x="11" y="0"/>
                </a:cxn>
                <a:cxn ang="0">
                  <a:pos x="0" y="5"/>
                </a:cxn>
                <a:cxn ang="0">
                  <a:pos x="6" y="11"/>
                </a:cxn>
                <a:cxn ang="0">
                  <a:pos x="24" y="23"/>
                </a:cxn>
                <a:cxn ang="0">
                  <a:pos x="30" y="22"/>
                </a:cxn>
                <a:cxn ang="0">
                  <a:pos x="31" y="24"/>
                </a:cxn>
                <a:cxn ang="0">
                  <a:pos x="45" y="31"/>
                </a:cxn>
                <a:cxn ang="0">
                  <a:pos x="45" y="29"/>
                </a:cxn>
                <a:cxn ang="0">
                  <a:pos x="49" y="22"/>
                </a:cxn>
                <a:cxn ang="0">
                  <a:pos x="50" y="12"/>
                </a:cxn>
                <a:cxn ang="0">
                  <a:pos x="48" y="11"/>
                </a:cxn>
                <a:cxn ang="0">
                  <a:pos x="43" y="7"/>
                </a:cxn>
                <a:cxn ang="0">
                  <a:pos x="41" y="1"/>
                </a:cxn>
                <a:cxn ang="0">
                  <a:pos x="23" y="0"/>
                </a:cxn>
                <a:cxn ang="0">
                  <a:pos x="11" y="0"/>
                </a:cxn>
              </a:cxnLst>
              <a:rect l="0" t="0" r="r" b="b"/>
              <a:pathLst>
                <a:path w="50" h="31">
                  <a:moveTo>
                    <a:pt x="11" y="0"/>
                  </a:moveTo>
                  <a:lnTo>
                    <a:pt x="0" y="5"/>
                  </a:lnTo>
                  <a:lnTo>
                    <a:pt x="6" y="11"/>
                  </a:lnTo>
                  <a:lnTo>
                    <a:pt x="24" y="23"/>
                  </a:lnTo>
                  <a:lnTo>
                    <a:pt x="30" y="22"/>
                  </a:lnTo>
                  <a:lnTo>
                    <a:pt x="31" y="24"/>
                  </a:lnTo>
                  <a:lnTo>
                    <a:pt x="45" y="31"/>
                  </a:lnTo>
                  <a:lnTo>
                    <a:pt x="45" y="29"/>
                  </a:lnTo>
                  <a:lnTo>
                    <a:pt x="49" y="22"/>
                  </a:lnTo>
                  <a:lnTo>
                    <a:pt x="50" y="12"/>
                  </a:lnTo>
                  <a:lnTo>
                    <a:pt x="48" y="11"/>
                  </a:lnTo>
                  <a:lnTo>
                    <a:pt x="43" y="7"/>
                  </a:lnTo>
                  <a:lnTo>
                    <a:pt x="41" y="1"/>
                  </a:lnTo>
                  <a:lnTo>
                    <a:pt x="23" y="0"/>
                  </a:lnTo>
                  <a:lnTo>
                    <a:pt x="1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3" name="Freeform 332"/>
            <p:cNvSpPr>
              <a:spLocks/>
            </p:cNvSpPr>
            <p:nvPr/>
          </p:nvSpPr>
          <p:spPr bwMode="auto">
            <a:xfrm>
              <a:off x="2622" y="1616"/>
              <a:ext cx="134" cy="147"/>
            </a:xfrm>
            <a:custGeom>
              <a:avLst/>
              <a:gdLst/>
              <a:ahLst/>
              <a:cxnLst>
                <a:cxn ang="0">
                  <a:pos x="29" y="24"/>
                </a:cxn>
                <a:cxn ang="0">
                  <a:pos x="31" y="25"/>
                </a:cxn>
                <a:cxn ang="0">
                  <a:pos x="31" y="21"/>
                </a:cxn>
                <a:cxn ang="0">
                  <a:pos x="36" y="19"/>
                </a:cxn>
                <a:cxn ang="0">
                  <a:pos x="45" y="23"/>
                </a:cxn>
                <a:cxn ang="0">
                  <a:pos x="41" y="18"/>
                </a:cxn>
                <a:cxn ang="0">
                  <a:pos x="36" y="11"/>
                </a:cxn>
                <a:cxn ang="0">
                  <a:pos x="35" y="9"/>
                </a:cxn>
                <a:cxn ang="0">
                  <a:pos x="32" y="0"/>
                </a:cxn>
                <a:cxn ang="0">
                  <a:pos x="43" y="2"/>
                </a:cxn>
                <a:cxn ang="0">
                  <a:pos x="47" y="2"/>
                </a:cxn>
                <a:cxn ang="0">
                  <a:pos x="48" y="7"/>
                </a:cxn>
                <a:cxn ang="0">
                  <a:pos x="62" y="9"/>
                </a:cxn>
                <a:cxn ang="0">
                  <a:pos x="62" y="14"/>
                </a:cxn>
                <a:cxn ang="0">
                  <a:pos x="67" y="17"/>
                </a:cxn>
                <a:cxn ang="0">
                  <a:pos x="85" y="8"/>
                </a:cxn>
                <a:cxn ang="0">
                  <a:pos x="85" y="9"/>
                </a:cxn>
                <a:cxn ang="0">
                  <a:pos x="101" y="15"/>
                </a:cxn>
                <a:cxn ang="0">
                  <a:pos x="107" y="14"/>
                </a:cxn>
                <a:cxn ang="0">
                  <a:pos x="113" y="20"/>
                </a:cxn>
                <a:cxn ang="0">
                  <a:pos x="108" y="21"/>
                </a:cxn>
                <a:cxn ang="0">
                  <a:pos x="110" y="37"/>
                </a:cxn>
                <a:cxn ang="0">
                  <a:pos x="117" y="56"/>
                </a:cxn>
                <a:cxn ang="0">
                  <a:pos x="120" y="69"/>
                </a:cxn>
                <a:cxn ang="0">
                  <a:pos x="116" y="68"/>
                </a:cxn>
                <a:cxn ang="0">
                  <a:pos x="85" y="81"/>
                </a:cxn>
                <a:cxn ang="0">
                  <a:pos x="89" y="87"/>
                </a:cxn>
                <a:cxn ang="0">
                  <a:pos x="109" y="107"/>
                </a:cxn>
                <a:cxn ang="0">
                  <a:pos x="98" y="116"/>
                </a:cxn>
                <a:cxn ang="0">
                  <a:pos x="101" y="125"/>
                </a:cxn>
                <a:cxn ang="0">
                  <a:pos x="96" y="127"/>
                </a:cxn>
                <a:cxn ang="0">
                  <a:pos x="79" y="127"/>
                </a:cxn>
                <a:cxn ang="0">
                  <a:pos x="67" y="127"/>
                </a:cxn>
                <a:cxn ang="0">
                  <a:pos x="63" y="131"/>
                </a:cxn>
                <a:cxn ang="0">
                  <a:pos x="51" y="128"/>
                </a:cxn>
                <a:cxn ang="0">
                  <a:pos x="37" y="126"/>
                </a:cxn>
                <a:cxn ang="0">
                  <a:pos x="24" y="127"/>
                </a:cxn>
                <a:cxn ang="0">
                  <a:pos x="30" y="102"/>
                </a:cxn>
                <a:cxn ang="0">
                  <a:pos x="7" y="95"/>
                </a:cxn>
                <a:cxn ang="0">
                  <a:pos x="5" y="93"/>
                </a:cxn>
                <a:cxn ang="0">
                  <a:pos x="5" y="92"/>
                </a:cxn>
                <a:cxn ang="0">
                  <a:pos x="1" y="83"/>
                </a:cxn>
                <a:cxn ang="0">
                  <a:pos x="2" y="73"/>
                </a:cxn>
                <a:cxn ang="0">
                  <a:pos x="0" y="72"/>
                </a:cxn>
                <a:cxn ang="0">
                  <a:pos x="1" y="53"/>
                </a:cxn>
                <a:cxn ang="0">
                  <a:pos x="13" y="47"/>
                </a:cxn>
                <a:cxn ang="0">
                  <a:pos x="8" y="39"/>
                </a:cxn>
                <a:cxn ang="0">
                  <a:pos x="14" y="29"/>
                </a:cxn>
                <a:cxn ang="0">
                  <a:pos x="12" y="27"/>
                </a:cxn>
                <a:cxn ang="0">
                  <a:pos x="14" y="21"/>
                </a:cxn>
                <a:cxn ang="0">
                  <a:pos x="29" y="24"/>
                </a:cxn>
              </a:cxnLst>
              <a:rect l="0" t="0" r="r" b="b"/>
              <a:pathLst>
                <a:path w="120" h="131">
                  <a:moveTo>
                    <a:pt x="29" y="24"/>
                  </a:moveTo>
                  <a:lnTo>
                    <a:pt x="31" y="25"/>
                  </a:lnTo>
                  <a:lnTo>
                    <a:pt x="31" y="21"/>
                  </a:lnTo>
                  <a:lnTo>
                    <a:pt x="36" y="19"/>
                  </a:lnTo>
                  <a:lnTo>
                    <a:pt x="45" y="23"/>
                  </a:lnTo>
                  <a:lnTo>
                    <a:pt x="41" y="18"/>
                  </a:lnTo>
                  <a:lnTo>
                    <a:pt x="36" y="11"/>
                  </a:lnTo>
                  <a:lnTo>
                    <a:pt x="35" y="9"/>
                  </a:lnTo>
                  <a:lnTo>
                    <a:pt x="32" y="0"/>
                  </a:lnTo>
                  <a:lnTo>
                    <a:pt x="43" y="2"/>
                  </a:lnTo>
                  <a:lnTo>
                    <a:pt x="47" y="2"/>
                  </a:lnTo>
                  <a:lnTo>
                    <a:pt x="48" y="7"/>
                  </a:lnTo>
                  <a:lnTo>
                    <a:pt x="62" y="9"/>
                  </a:lnTo>
                  <a:lnTo>
                    <a:pt x="62" y="14"/>
                  </a:lnTo>
                  <a:lnTo>
                    <a:pt x="67" y="17"/>
                  </a:lnTo>
                  <a:lnTo>
                    <a:pt x="85" y="8"/>
                  </a:lnTo>
                  <a:lnTo>
                    <a:pt x="85" y="9"/>
                  </a:lnTo>
                  <a:lnTo>
                    <a:pt x="101" y="15"/>
                  </a:lnTo>
                  <a:lnTo>
                    <a:pt x="107" y="14"/>
                  </a:lnTo>
                  <a:lnTo>
                    <a:pt x="113" y="20"/>
                  </a:lnTo>
                  <a:lnTo>
                    <a:pt x="108" y="21"/>
                  </a:lnTo>
                  <a:lnTo>
                    <a:pt x="110" y="37"/>
                  </a:lnTo>
                  <a:lnTo>
                    <a:pt x="117" y="56"/>
                  </a:lnTo>
                  <a:lnTo>
                    <a:pt x="120" y="69"/>
                  </a:lnTo>
                  <a:lnTo>
                    <a:pt x="116" y="68"/>
                  </a:lnTo>
                  <a:lnTo>
                    <a:pt x="85" y="81"/>
                  </a:lnTo>
                  <a:lnTo>
                    <a:pt x="89" y="87"/>
                  </a:lnTo>
                  <a:lnTo>
                    <a:pt x="109" y="107"/>
                  </a:lnTo>
                  <a:lnTo>
                    <a:pt x="98" y="116"/>
                  </a:lnTo>
                  <a:lnTo>
                    <a:pt x="101" y="125"/>
                  </a:lnTo>
                  <a:lnTo>
                    <a:pt x="96" y="127"/>
                  </a:lnTo>
                  <a:lnTo>
                    <a:pt x="79" y="127"/>
                  </a:lnTo>
                  <a:lnTo>
                    <a:pt x="67" y="127"/>
                  </a:lnTo>
                  <a:lnTo>
                    <a:pt x="63" y="131"/>
                  </a:lnTo>
                  <a:lnTo>
                    <a:pt x="51" y="128"/>
                  </a:lnTo>
                  <a:lnTo>
                    <a:pt x="37" y="126"/>
                  </a:lnTo>
                  <a:lnTo>
                    <a:pt x="24" y="127"/>
                  </a:lnTo>
                  <a:lnTo>
                    <a:pt x="30" y="102"/>
                  </a:lnTo>
                  <a:lnTo>
                    <a:pt x="7" y="95"/>
                  </a:lnTo>
                  <a:lnTo>
                    <a:pt x="5" y="93"/>
                  </a:lnTo>
                  <a:lnTo>
                    <a:pt x="5" y="92"/>
                  </a:lnTo>
                  <a:lnTo>
                    <a:pt x="1" y="83"/>
                  </a:lnTo>
                  <a:lnTo>
                    <a:pt x="2" y="73"/>
                  </a:lnTo>
                  <a:lnTo>
                    <a:pt x="0" y="72"/>
                  </a:lnTo>
                  <a:lnTo>
                    <a:pt x="1" y="53"/>
                  </a:lnTo>
                  <a:lnTo>
                    <a:pt x="13" y="47"/>
                  </a:lnTo>
                  <a:lnTo>
                    <a:pt x="8" y="39"/>
                  </a:lnTo>
                  <a:lnTo>
                    <a:pt x="14" y="29"/>
                  </a:lnTo>
                  <a:lnTo>
                    <a:pt x="12" y="27"/>
                  </a:lnTo>
                  <a:lnTo>
                    <a:pt x="14" y="21"/>
                  </a:lnTo>
                  <a:lnTo>
                    <a:pt x="29"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4" name="Freeform 333"/>
            <p:cNvSpPr>
              <a:spLocks/>
            </p:cNvSpPr>
            <p:nvPr/>
          </p:nvSpPr>
          <p:spPr bwMode="auto">
            <a:xfrm>
              <a:off x="2727" y="1623"/>
              <a:ext cx="9" cy="7"/>
            </a:xfrm>
            <a:custGeom>
              <a:avLst/>
              <a:gdLst/>
              <a:ahLst/>
              <a:cxnLst>
                <a:cxn ang="0">
                  <a:pos x="0" y="5"/>
                </a:cxn>
                <a:cxn ang="0">
                  <a:pos x="9" y="5"/>
                </a:cxn>
                <a:cxn ang="0">
                  <a:pos x="4" y="0"/>
                </a:cxn>
                <a:cxn ang="0">
                  <a:pos x="0" y="5"/>
                </a:cxn>
              </a:cxnLst>
              <a:rect l="0" t="0" r="r" b="b"/>
              <a:pathLst>
                <a:path w="9" h="5">
                  <a:moveTo>
                    <a:pt x="0" y="5"/>
                  </a:moveTo>
                  <a:lnTo>
                    <a:pt x="9" y="5"/>
                  </a:lnTo>
                  <a:lnTo>
                    <a:pt x="4" y="0"/>
                  </a:lnTo>
                  <a:lnTo>
                    <a:pt x="0"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5" name="Freeform 334"/>
            <p:cNvSpPr>
              <a:spLocks/>
            </p:cNvSpPr>
            <p:nvPr/>
          </p:nvSpPr>
          <p:spPr bwMode="auto">
            <a:xfrm>
              <a:off x="2620" y="1710"/>
              <a:ext cx="9" cy="11"/>
            </a:xfrm>
            <a:custGeom>
              <a:avLst/>
              <a:gdLst/>
              <a:ahLst/>
              <a:cxnLst>
                <a:cxn ang="0">
                  <a:pos x="4" y="0"/>
                </a:cxn>
                <a:cxn ang="0">
                  <a:pos x="0" y="7"/>
                </a:cxn>
                <a:cxn ang="0">
                  <a:pos x="0" y="9"/>
                </a:cxn>
                <a:cxn ang="0">
                  <a:pos x="8" y="10"/>
                </a:cxn>
                <a:cxn ang="0">
                  <a:pos x="8" y="9"/>
                </a:cxn>
                <a:cxn ang="0">
                  <a:pos x="4" y="0"/>
                </a:cxn>
              </a:cxnLst>
              <a:rect l="0" t="0" r="r" b="b"/>
              <a:pathLst>
                <a:path w="8" h="10">
                  <a:moveTo>
                    <a:pt x="4" y="0"/>
                  </a:moveTo>
                  <a:lnTo>
                    <a:pt x="0" y="7"/>
                  </a:lnTo>
                  <a:lnTo>
                    <a:pt x="0" y="9"/>
                  </a:lnTo>
                  <a:lnTo>
                    <a:pt x="8" y="10"/>
                  </a:lnTo>
                  <a:lnTo>
                    <a:pt x="8" y="9"/>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6" name="Freeform 335"/>
            <p:cNvSpPr>
              <a:spLocks/>
            </p:cNvSpPr>
            <p:nvPr/>
          </p:nvSpPr>
          <p:spPr bwMode="auto">
            <a:xfrm>
              <a:off x="2942" y="1734"/>
              <a:ext cx="69" cy="69"/>
            </a:xfrm>
            <a:custGeom>
              <a:avLst/>
              <a:gdLst/>
              <a:ahLst/>
              <a:cxnLst>
                <a:cxn ang="0">
                  <a:pos x="12" y="0"/>
                </a:cxn>
                <a:cxn ang="0">
                  <a:pos x="0" y="10"/>
                </a:cxn>
                <a:cxn ang="0">
                  <a:pos x="1" y="10"/>
                </a:cxn>
                <a:cxn ang="0">
                  <a:pos x="11" y="21"/>
                </a:cxn>
                <a:cxn ang="0">
                  <a:pos x="21" y="30"/>
                </a:cxn>
                <a:cxn ang="0">
                  <a:pos x="26" y="46"/>
                </a:cxn>
                <a:cxn ang="0">
                  <a:pos x="30" y="60"/>
                </a:cxn>
                <a:cxn ang="0">
                  <a:pos x="42" y="60"/>
                </a:cxn>
                <a:cxn ang="0">
                  <a:pos x="50" y="63"/>
                </a:cxn>
                <a:cxn ang="0">
                  <a:pos x="49" y="54"/>
                </a:cxn>
                <a:cxn ang="0">
                  <a:pos x="61" y="44"/>
                </a:cxn>
                <a:cxn ang="0">
                  <a:pos x="50" y="33"/>
                </a:cxn>
                <a:cxn ang="0">
                  <a:pos x="38" y="23"/>
                </a:cxn>
                <a:cxn ang="0">
                  <a:pos x="27" y="12"/>
                </a:cxn>
                <a:cxn ang="0">
                  <a:pos x="17" y="2"/>
                </a:cxn>
                <a:cxn ang="0">
                  <a:pos x="12" y="0"/>
                </a:cxn>
              </a:cxnLst>
              <a:rect l="0" t="0" r="r" b="b"/>
              <a:pathLst>
                <a:path w="61" h="63">
                  <a:moveTo>
                    <a:pt x="12" y="0"/>
                  </a:moveTo>
                  <a:lnTo>
                    <a:pt x="0" y="10"/>
                  </a:lnTo>
                  <a:lnTo>
                    <a:pt x="1" y="10"/>
                  </a:lnTo>
                  <a:lnTo>
                    <a:pt x="11" y="21"/>
                  </a:lnTo>
                  <a:lnTo>
                    <a:pt x="21" y="30"/>
                  </a:lnTo>
                  <a:lnTo>
                    <a:pt x="26" y="46"/>
                  </a:lnTo>
                  <a:lnTo>
                    <a:pt x="30" y="60"/>
                  </a:lnTo>
                  <a:lnTo>
                    <a:pt x="42" y="60"/>
                  </a:lnTo>
                  <a:lnTo>
                    <a:pt x="50" y="63"/>
                  </a:lnTo>
                  <a:lnTo>
                    <a:pt x="49" y="54"/>
                  </a:lnTo>
                  <a:lnTo>
                    <a:pt x="61" y="44"/>
                  </a:lnTo>
                  <a:lnTo>
                    <a:pt x="50" y="33"/>
                  </a:lnTo>
                  <a:lnTo>
                    <a:pt x="38" y="23"/>
                  </a:lnTo>
                  <a:lnTo>
                    <a:pt x="27" y="12"/>
                  </a:lnTo>
                  <a:lnTo>
                    <a:pt x="17" y="2"/>
                  </a:lnTo>
                  <a:lnTo>
                    <a:pt x="1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7" name="Freeform 336"/>
            <p:cNvSpPr>
              <a:spLocks/>
            </p:cNvSpPr>
            <p:nvPr/>
          </p:nvSpPr>
          <p:spPr bwMode="auto">
            <a:xfrm>
              <a:off x="2602" y="1330"/>
              <a:ext cx="320" cy="229"/>
            </a:xfrm>
            <a:custGeom>
              <a:avLst/>
              <a:gdLst/>
              <a:ahLst/>
              <a:cxnLst>
                <a:cxn ang="0">
                  <a:pos x="166" y="17"/>
                </a:cxn>
                <a:cxn ang="0">
                  <a:pos x="159" y="18"/>
                </a:cxn>
                <a:cxn ang="0">
                  <a:pos x="150" y="24"/>
                </a:cxn>
                <a:cxn ang="0">
                  <a:pos x="141" y="29"/>
                </a:cxn>
                <a:cxn ang="0">
                  <a:pos x="127" y="38"/>
                </a:cxn>
                <a:cxn ang="0">
                  <a:pos x="129" y="42"/>
                </a:cxn>
                <a:cxn ang="0">
                  <a:pos x="126" y="48"/>
                </a:cxn>
                <a:cxn ang="0">
                  <a:pos x="110" y="51"/>
                </a:cxn>
                <a:cxn ang="0">
                  <a:pos x="120" y="55"/>
                </a:cxn>
                <a:cxn ang="0">
                  <a:pos x="110" y="57"/>
                </a:cxn>
                <a:cxn ang="0">
                  <a:pos x="99" y="65"/>
                </a:cxn>
                <a:cxn ang="0">
                  <a:pos x="91" y="72"/>
                </a:cxn>
                <a:cxn ang="0">
                  <a:pos x="90" y="77"/>
                </a:cxn>
                <a:cxn ang="0">
                  <a:pos x="87" y="89"/>
                </a:cxn>
                <a:cxn ang="0">
                  <a:pos x="75" y="96"/>
                </a:cxn>
                <a:cxn ang="0">
                  <a:pos x="72" y="101"/>
                </a:cxn>
                <a:cxn ang="0">
                  <a:pos x="56" y="113"/>
                </a:cxn>
                <a:cxn ang="0">
                  <a:pos x="73" y="109"/>
                </a:cxn>
                <a:cxn ang="0">
                  <a:pos x="58" y="117"/>
                </a:cxn>
                <a:cxn ang="0">
                  <a:pos x="42" y="121"/>
                </a:cxn>
                <a:cxn ang="0">
                  <a:pos x="37" y="126"/>
                </a:cxn>
                <a:cxn ang="0">
                  <a:pos x="22" y="129"/>
                </a:cxn>
                <a:cxn ang="0">
                  <a:pos x="27" y="131"/>
                </a:cxn>
                <a:cxn ang="0">
                  <a:pos x="24" y="138"/>
                </a:cxn>
                <a:cxn ang="0">
                  <a:pos x="9" y="138"/>
                </a:cxn>
                <a:cxn ang="0">
                  <a:pos x="1" y="139"/>
                </a:cxn>
                <a:cxn ang="0">
                  <a:pos x="0" y="145"/>
                </a:cxn>
                <a:cxn ang="0">
                  <a:pos x="3" y="151"/>
                </a:cxn>
                <a:cxn ang="0">
                  <a:pos x="27" y="152"/>
                </a:cxn>
                <a:cxn ang="0">
                  <a:pos x="26" y="158"/>
                </a:cxn>
                <a:cxn ang="0">
                  <a:pos x="2" y="161"/>
                </a:cxn>
                <a:cxn ang="0">
                  <a:pos x="8" y="163"/>
                </a:cxn>
                <a:cxn ang="0">
                  <a:pos x="8" y="169"/>
                </a:cxn>
                <a:cxn ang="0">
                  <a:pos x="22" y="165"/>
                </a:cxn>
                <a:cxn ang="0">
                  <a:pos x="12" y="176"/>
                </a:cxn>
                <a:cxn ang="0">
                  <a:pos x="6" y="185"/>
                </a:cxn>
                <a:cxn ang="0">
                  <a:pos x="16" y="185"/>
                </a:cxn>
                <a:cxn ang="0">
                  <a:pos x="10" y="198"/>
                </a:cxn>
                <a:cxn ang="0">
                  <a:pos x="60" y="188"/>
                </a:cxn>
                <a:cxn ang="0">
                  <a:pos x="73" y="176"/>
                </a:cxn>
                <a:cxn ang="0">
                  <a:pos x="90" y="175"/>
                </a:cxn>
                <a:cxn ang="0">
                  <a:pos x="97" y="151"/>
                </a:cxn>
                <a:cxn ang="0">
                  <a:pos x="86" y="114"/>
                </a:cxn>
                <a:cxn ang="0">
                  <a:pos x="102" y="99"/>
                </a:cxn>
                <a:cxn ang="0">
                  <a:pos x="120" y="73"/>
                </a:cxn>
                <a:cxn ang="0">
                  <a:pos x="147" y="43"/>
                </a:cxn>
                <a:cxn ang="0">
                  <a:pos x="168" y="30"/>
                </a:cxn>
                <a:cxn ang="0">
                  <a:pos x="194" y="33"/>
                </a:cxn>
                <a:cxn ang="0">
                  <a:pos x="230" y="32"/>
                </a:cxn>
                <a:cxn ang="0">
                  <a:pos x="270" y="20"/>
                </a:cxn>
                <a:cxn ang="0">
                  <a:pos x="289" y="23"/>
                </a:cxn>
                <a:cxn ang="0">
                  <a:pos x="276" y="19"/>
                </a:cxn>
                <a:cxn ang="0">
                  <a:pos x="278" y="6"/>
                </a:cxn>
                <a:cxn ang="0">
                  <a:pos x="256" y="13"/>
                </a:cxn>
                <a:cxn ang="0">
                  <a:pos x="253" y="5"/>
                </a:cxn>
                <a:cxn ang="0">
                  <a:pos x="237" y="11"/>
                </a:cxn>
                <a:cxn ang="0">
                  <a:pos x="225" y="5"/>
                </a:cxn>
                <a:cxn ang="0">
                  <a:pos x="213" y="6"/>
                </a:cxn>
                <a:cxn ang="0">
                  <a:pos x="193" y="12"/>
                </a:cxn>
                <a:cxn ang="0">
                  <a:pos x="186" y="18"/>
                </a:cxn>
              </a:cxnLst>
              <a:rect l="0" t="0" r="r" b="b"/>
              <a:pathLst>
                <a:path w="289" h="205">
                  <a:moveTo>
                    <a:pt x="171" y="21"/>
                  </a:moveTo>
                  <a:lnTo>
                    <a:pt x="166" y="26"/>
                  </a:lnTo>
                  <a:lnTo>
                    <a:pt x="166" y="17"/>
                  </a:lnTo>
                  <a:lnTo>
                    <a:pt x="165" y="21"/>
                  </a:lnTo>
                  <a:lnTo>
                    <a:pt x="162" y="23"/>
                  </a:lnTo>
                  <a:lnTo>
                    <a:pt x="159" y="18"/>
                  </a:lnTo>
                  <a:lnTo>
                    <a:pt x="157" y="21"/>
                  </a:lnTo>
                  <a:lnTo>
                    <a:pt x="158" y="25"/>
                  </a:lnTo>
                  <a:lnTo>
                    <a:pt x="150" y="24"/>
                  </a:lnTo>
                  <a:lnTo>
                    <a:pt x="151" y="26"/>
                  </a:lnTo>
                  <a:lnTo>
                    <a:pt x="145" y="25"/>
                  </a:lnTo>
                  <a:lnTo>
                    <a:pt x="141" y="29"/>
                  </a:lnTo>
                  <a:lnTo>
                    <a:pt x="142" y="35"/>
                  </a:lnTo>
                  <a:lnTo>
                    <a:pt x="140" y="36"/>
                  </a:lnTo>
                  <a:lnTo>
                    <a:pt x="127" y="38"/>
                  </a:lnTo>
                  <a:lnTo>
                    <a:pt x="140" y="39"/>
                  </a:lnTo>
                  <a:lnTo>
                    <a:pt x="138" y="43"/>
                  </a:lnTo>
                  <a:lnTo>
                    <a:pt x="129" y="42"/>
                  </a:lnTo>
                  <a:lnTo>
                    <a:pt x="128" y="43"/>
                  </a:lnTo>
                  <a:lnTo>
                    <a:pt x="126" y="47"/>
                  </a:lnTo>
                  <a:lnTo>
                    <a:pt x="126" y="48"/>
                  </a:lnTo>
                  <a:lnTo>
                    <a:pt x="122" y="44"/>
                  </a:lnTo>
                  <a:lnTo>
                    <a:pt x="118" y="45"/>
                  </a:lnTo>
                  <a:lnTo>
                    <a:pt x="110" y="51"/>
                  </a:lnTo>
                  <a:lnTo>
                    <a:pt x="121" y="50"/>
                  </a:lnTo>
                  <a:lnTo>
                    <a:pt x="117" y="53"/>
                  </a:lnTo>
                  <a:lnTo>
                    <a:pt x="120" y="55"/>
                  </a:lnTo>
                  <a:lnTo>
                    <a:pt x="118" y="55"/>
                  </a:lnTo>
                  <a:lnTo>
                    <a:pt x="111" y="55"/>
                  </a:lnTo>
                  <a:lnTo>
                    <a:pt x="110" y="57"/>
                  </a:lnTo>
                  <a:lnTo>
                    <a:pt x="118" y="61"/>
                  </a:lnTo>
                  <a:lnTo>
                    <a:pt x="109" y="61"/>
                  </a:lnTo>
                  <a:lnTo>
                    <a:pt x="99" y="65"/>
                  </a:lnTo>
                  <a:lnTo>
                    <a:pt x="93" y="68"/>
                  </a:lnTo>
                  <a:lnTo>
                    <a:pt x="94" y="68"/>
                  </a:lnTo>
                  <a:lnTo>
                    <a:pt x="91" y="72"/>
                  </a:lnTo>
                  <a:lnTo>
                    <a:pt x="93" y="73"/>
                  </a:lnTo>
                  <a:lnTo>
                    <a:pt x="100" y="73"/>
                  </a:lnTo>
                  <a:lnTo>
                    <a:pt x="90" y="77"/>
                  </a:lnTo>
                  <a:lnTo>
                    <a:pt x="87" y="81"/>
                  </a:lnTo>
                  <a:lnTo>
                    <a:pt x="87" y="85"/>
                  </a:lnTo>
                  <a:lnTo>
                    <a:pt x="87" y="89"/>
                  </a:lnTo>
                  <a:lnTo>
                    <a:pt x="90" y="90"/>
                  </a:lnTo>
                  <a:lnTo>
                    <a:pt x="75" y="95"/>
                  </a:lnTo>
                  <a:lnTo>
                    <a:pt x="75" y="96"/>
                  </a:lnTo>
                  <a:lnTo>
                    <a:pt x="81" y="93"/>
                  </a:lnTo>
                  <a:lnTo>
                    <a:pt x="78" y="98"/>
                  </a:lnTo>
                  <a:lnTo>
                    <a:pt x="72" y="101"/>
                  </a:lnTo>
                  <a:lnTo>
                    <a:pt x="67" y="102"/>
                  </a:lnTo>
                  <a:lnTo>
                    <a:pt x="60" y="109"/>
                  </a:lnTo>
                  <a:lnTo>
                    <a:pt x="56" y="113"/>
                  </a:lnTo>
                  <a:lnTo>
                    <a:pt x="61" y="116"/>
                  </a:lnTo>
                  <a:lnTo>
                    <a:pt x="68" y="111"/>
                  </a:lnTo>
                  <a:lnTo>
                    <a:pt x="73" y="109"/>
                  </a:lnTo>
                  <a:lnTo>
                    <a:pt x="73" y="114"/>
                  </a:lnTo>
                  <a:lnTo>
                    <a:pt x="63" y="117"/>
                  </a:lnTo>
                  <a:lnTo>
                    <a:pt x="58" y="117"/>
                  </a:lnTo>
                  <a:lnTo>
                    <a:pt x="49" y="116"/>
                  </a:lnTo>
                  <a:lnTo>
                    <a:pt x="48" y="117"/>
                  </a:lnTo>
                  <a:lnTo>
                    <a:pt x="42" y="121"/>
                  </a:lnTo>
                  <a:lnTo>
                    <a:pt x="38" y="125"/>
                  </a:lnTo>
                  <a:lnTo>
                    <a:pt x="39" y="127"/>
                  </a:lnTo>
                  <a:lnTo>
                    <a:pt x="37" y="126"/>
                  </a:lnTo>
                  <a:lnTo>
                    <a:pt x="40" y="129"/>
                  </a:lnTo>
                  <a:lnTo>
                    <a:pt x="24" y="125"/>
                  </a:lnTo>
                  <a:lnTo>
                    <a:pt x="22" y="129"/>
                  </a:lnTo>
                  <a:lnTo>
                    <a:pt x="27" y="129"/>
                  </a:lnTo>
                  <a:lnTo>
                    <a:pt x="32" y="129"/>
                  </a:lnTo>
                  <a:lnTo>
                    <a:pt x="27" y="131"/>
                  </a:lnTo>
                  <a:lnTo>
                    <a:pt x="16" y="133"/>
                  </a:lnTo>
                  <a:lnTo>
                    <a:pt x="25" y="137"/>
                  </a:lnTo>
                  <a:lnTo>
                    <a:pt x="24" y="138"/>
                  </a:lnTo>
                  <a:lnTo>
                    <a:pt x="15" y="134"/>
                  </a:lnTo>
                  <a:lnTo>
                    <a:pt x="16" y="137"/>
                  </a:lnTo>
                  <a:lnTo>
                    <a:pt x="9" y="138"/>
                  </a:lnTo>
                  <a:lnTo>
                    <a:pt x="12" y="139"/>
                  </a:lnTo>
                  <a:lnTo>
                    <a:pt x="4" y="140"/>
                  </a:lnTo>
                  <a:lnTo>
                    <a:pt x="1" y="139"/>
                  </a:lnTo>
                  <a:lnTo>
                    <a:pt x="1" y="143"/>
                  </a:lnTo>
                  <a:lnTo>
                    <a:pt x="18" y="144"/>
                  </a:lnTo>
                  <a:lnTo>
                    <a:pt x="0" y="145"/>
                  </a:lnTo>
                  <a:lnTo>
                    <a:pt x="6" y="150"/>
                  </a:lnTo>
                  <a:lnTo>
                    <a:pt x="2" y="151"/>
                  </a:lnTo>
                  <a:lnTo>
                    <a:pt x="3" y="151"/>
                  </a:lnTo>
                  <a:lnTo>
                    <a:pt x="1" y="155"/>
                  </a:lnTo>
                  <a:lnTo>
                    <a:pt x="19" y="152"/>
                  </a:lnTo>
                  <a:lnTo>
                    <a:pt x="27" y="152"/>
                  </a:lnTo>
                  <a:lnTo>
                    <a:pt x="28" y="151"/>
                  </a:lnTo>
                  <a:lnTo>
                    <a:pt x="30" y="156"/>
                  </a:lnTo>
                  <a:lnTo>
                    <a:pt x="26" y="158"/>
                  </a:lnTo>
                  <a:lnTo>
                    <a:pt x="16" y="156"/>
                  </a:lnTo>
                  <a:lnTo>
                    <a:pt x="0" y="158"/>
                  </a:lnTo>
                  <a:lnTo>
                    <a:pt x="2" y="161"/>
                  </a:lnTo>
                  <a:lnTo>
                    <a:pt x="3" y="162"/>
                  </a:lnTo>
                  <a:lnTo>
                    <a:pt x="0" y="162"/>
                  </a:lnTo>
                  <a:lnTo>
                    <a:pt x="8" y="163"/>
                  </a:lnTo>
                  <a:lnTo>
                    <a:pt x="6" y="167"/>
                  </a:lnTo>
                  <a:lnTo>
                    <a:pt x="2" y="170"/>
                  </a:lnTo>
                  <a:lnTo>
                    <a:pt x="8" y="169"/>
                  </a:lnTo>
                  <a:lnTo>
                    <a:pt x="10" y="173"/>
                  </a:lnTo>
                  <a:lnTo>
                    <a:pt x="16" y="167"/>
                  </a:lnTo>
                  <a:lnTo>
                    <a:pt x="22" y="165"/>
                  </a:lnTo>
                  <a:lnTo>
                    <a:pt x="19" y="171"/>
                  </a:lnTo>
                  <a:lnTo>
                    <a:pt x="18" y="167"/>
                  </a:lnTo>
                  <a:lnTo>
                    <a:pt x="12" y="176"/>
                  </a:lnTo>
                  <a:lnTo>
                    <a:pt x="13" y="177"/>
                  </a:lnTo>
                  <a:lnTo>
                    <a:pt x="6" y="180"/>
                  </a:lnTo>
                  <a:lnTo>
                    <a:pt x="6" y="185"/>
                  </a:lnTo>
                  <a:lnTo>
                    <a:pt x="12" y="182"/>
                  </a:lnTo>
                  <a:lnTo>
                    <a:pt x="15" y="181"/>
                  </a:lnTo>
                  <a:lnTo>
                    <a:pt x="16" y="185"/>
                  </a:lnTo>
                  <a:lnTo>
                    <a:pt x="15" y="189"/>
                  </a:lnTo>
                  <a:lnTo>
                    <a:pt x="9" y="191"/>
                  </a:lnTo>
                  <a:lnTo>
                    <a:pt x="10" y="198"/>
                  </a:lnTo>
                  <a:lnTo>
                    <a:pt x="21" y="204"/>
                  </a:lnTo>
                  <a:lnTo>
                    <a:pt x="39" y="205"/>
                  </a:lnTo>
                  <a:lnTo>
                    <a:pt x="60" y="188"/>
                  </a:lnTo>
                  <a:lnTo>
                    <a:pt x="68" y="188"/>
                  </a:lnTo>
                  <a:lnTo>
                    <a:pt x="68" y="179"/>
                  </a:lnTo>
                  <a:lnTo>
                    <a:pt x="73" y="176"/>
                  </a:lnTo>
                  <a:lnTo>
                    <a:pt x="76" y="187"/>
                  </a:lnTo>
                  <a:lnTo>
                    <a:pt x="82" y="191"/>
                  </a:lnTo>
                  <a:lnTo>
                    <a:pt x="90" y="175"/>
                  </a:lnTo>
                  <a:lnTo>
                    <a:pt x="92" y="161"/>
                  </a:lnTo>
                  <a:lnTo>
                    <a:pt x="92" y="156"/>
                  </a:lnTo>
                  <a:lnTo>
                    <a:pt x="97" y="151"/>
                  </a:lnTo>
                  <a:lnTo>
                    <a:pt x="87" y="145"/>
                  </a:lnTo>
                  <a:lnTo>
                    <a:pt x="87" y="129"/>
                  </a:lnTo>
                  <a:lnTo>
                    <a:pt x="86" y="114"/>
                  </a:lnTo>
                  <a:lnTo>
                    <a:pt x="97" y="107"/>
                  </a:lnTo>
                  <a:lnTo>
                    <a:pt x="108" y="105"/>
                  </a:lnTo>
                  <a:lnTo>
                    <a:pt x="102" y="99"/>
                  </a:lnTo>
                  <a:lnTo>
                    <a:pt x="111" y="79"/>
                  </a:lnTo>
                  <a:lnTo>
                    <a:pt x="109" y="75"/>
                  </a:lnTo>
                  <a:lnTo>
                    <a:pt x="120" y="73"/>
                  </a:lnTo>
                  <a:lnTo>
                    <a:pt x="126" y="63"/>
                  </a:lnTo>
                  <a:lnTo>
                    <a:pt x="132" y="48"/>
                  </a:lnTo>
                  <a:lnTo>
                    <a:pt x="147" y="43"/>
                  </a:lnTo>
                  <a:lnTo>
                    <a:pt x="148" y="38"/>
                  </a:lnTo>
                  <a:lnTo>
                    <a:pt x="169" y="38"/>
                  </a:lnTo>
                  <a:lnTo>
                    <a:pt x="168" y="30"/>
                  </a:lnTo>
                  <a:lnTo>
                    <a:pt x="174" y="30"/>
                  </a:lnTo>
                  <a:lnTo>
                    <a:pt x="181" y="25"/>
                  </a:lnTo>
                  <a:lnTo>
                    <a:pt x="194" y="33"/>
                  </a:lnTo>
                  <a:lnTo>
                    <a:pt x="207" y="36"/>
                  </a:lnTo>
                  <a:lnTo>
                    <a:pt x="223" y="36"/>
                  </a:lnTo>
                  <a:lnTo>
                    <a:pt x="230" y="32"/>
                  </a:lnTo>
                  <a:lnTo>
                    <a:pt x="234" y="21"/>
                  </a:lnTo>
                  <a:lnTo>
                    <a:pt x="250" y="14"/>
                  </a:lnTo>
                  <a:lnTo>
                    <a:pt x="270" y="20"/>
                  </a:lnTo>
                  <a:lnTo>
                    <a:pt x="270" y="30"/>
                  </a:lnTo>
                  <a:lnTo>
                    <a:pt x="282" y="23"/>
                  </a:lnTo>
                  <a:lnTo>
                    <a:pt x="289" y="23"/>
                  </a:lnTo>
                  <a:lnTo>
                    <a:pt x="289" y="18"/>
                  </a:lnTo>
                  <a:lnTo>
                    <a:pt x="282" y="18"/>
                  </a:lnTo>
                  <a:lnTo>
                    <a:pt x="276" y="19"/>
                  </a:lnTo>
                  <a:lnTo>
                    <a:pt x="266" y="13"/>
                  </a:lnTo>
                  <a:lnTo>
                    <a:pt x="289" y="11"/>
                  </a:lnTo>
                  <a:lnTo>
                    <a:pt x="278" y="6"/>
                  </a:lnTo>
                  <a:lnTo>
                    <a:pt x="266" y="3"/>
                  </a:lnTo>
                  <a:lnTo>
                    <a:pt x="259" y="6"/>
                  </a:lnTo>
                  <a:lnTo>
                    <a:pt x="256" y="13"/>
                  </a:lnTo>
                  <a:lnTo>
                    <a:pt x="255" y="8"/>
                  </a:lnTo>
                  <a:lnTo>
                    <a:pt x="254" y="6"/>
                  </a:lnTo>
                  <a:lnTo>
                    <a:pt x="253" y="5"/>
                  </a:lnTo>
                  <a:lnTo>
                    <a:pt x="252" y="0"/>
                  </a:lnTo>
                  <a:lnTo>
                    <a:pt x="244" y="2"/>
                  </a:lnTo>
                  <a:lnTo>
                    <a:pt x="237" y="11"/>
                  </a:lnTo>
                  <a:lnTo>
                    <a:pt x="234" y="2"/>
                  </a:lnTo>
                  <a:lnTo>
                    <a:pt x="220" y="14"/>
                  </a:lnTo>
                  <a:lnTo>
                    <a:pt x="225" y="5"/>
                  </a:lnTo>
                  <a:lnTo>
                    <a:pt x="222" y="3"/>
                  </a:lnTo>
                  <a:lnTo>
                    <a:pt x="213" y="3"/>
                  </a:lnTo>
                  <a:lnTo>
                    <a:pt x="213" y="6"/>
                  </a:lnTo>
                  <a:lnTo>
                    <a:pt x="200" y="14"/>
                  </a:lnTo>
                  <a:lnTo>
                    <a:pt x="192" y="14"/>
                  </a:lnTo>
                  <a:lnTo>
                    <a:pt x="193" y="12"/>
                  </a:lnTo>
                  <a:lnTo>
                    <a:pt x="180" y="13"/>
                  </a:lnTo>
                  <a:lnTo>
                    <a:pt x="188" y="15"/>
                  </a:lnTo>
                  <a:lnTo>
                    <a:pt x="186" y="18"/>
                  </a:lnTo>
                  <a:lnTo>
                    <a:pt x="178" y="18"/>
                  </a:lnTo>
                  <a:lnTo>
                    <a:pt x="171" y="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8" name="Freeform 337"/>
            <p:cNvSpPr>
              <a:spLocks/>
            </p:cNvSpPr>
            <p:nvPr/>
          </p:nvSpPr>
          <p:spPr bwMode="auto">
            <a:xfrm>
              <a:off x="2653" y="1194"/>
              <a:ext cx="120" cy="49"/>
            </a:xfrm>
            <a:custGeom>
              <a:avLst/>
              <a:gdLst/>
              <a:ahLst/>
              <a:cxnLst>
                <a:cxn ang="0">
                  <a:pos x="27" y="4"/>
                </a:cxn>
                <a:cxn ang="0">
                  <a:pos x="12" y="4"/>
                </a:cxn>
                <a:cxn ang="0">
                  <a:pos x="0" y="5"/>
                </a:cxn>
                <a:cxn ang="0">
                  <a:pos x="3" y="11"/>
                </a:cxn>
                <a:cxn ang="0">
                  <a:pos x="11" y="10"/>
                </a:cxn>
                <a:cxn ang="0">
                  <a:pos x="12" y="13"/>
                </a:cxn>
                <a:cxn ang="0">
                  <a:pos x="5" y="15"/>
                </a:cxn>
                <a:cxn ang="0">
                  <a:pos x="18" y="21"/>
                </a:cxn>
                <a:cxn ang="0">
                  <a:pos x="29" y="24"/>
                </a:cxn>
                <a:cxn ang="0">
                  <a:pos x="36" y="21"/>
                </a:cxn>
                <a:cxn ang="0">
                  <a:pos x="45" y="17"/>
                </a:cxn>
                <a:cxn ang="0">
                  <a:pos x="46" y="19"/>
                </a:cxn>
                <a:cxn ang="0">
                  <a:pos x="58" y="17"/>
                </a:cxn>
                <a:cxn ang="0">
                  <a:pos x="59" y="21"/>
                </a:cxn>
                <a:cxn ang="0">
                  <a:pos x="34" y="25"/>
                </a:cxn>
                <a:cxn ang="0">
                  <a:pos x="30" y="29"/>
                </a:cxn>
                <a:cxn ang="0">
                  <a:pos x="61" y="29"/>
                </a:cxn>
                <a:cxn ang="0">
                  <a:pos x="49" y="30"/>
                </a:cxn>
                <a:cxn ang="0">
                  <a:pos x="54" y="33"/>
                </a:cxn>
                <a:cxn ang="0">
                  <a:pos x="35" y="34"/>
                </a:cxn>
                <a:cxn ang="0">
                  <a:pos x="57" y="41"/>
                </a:cxn>
                <a:cxn ang="0">
                  <a:pos x="64" y="46"/>
                </a:cxn>
                <a:cxn ang="0">
                  <a:pos x="67" y="43"/>
                </a:cxn>
                <a:cxn ang="0">
                  <a:pos x="76" y="34"/>
                </a:cxn>
                <a:cxn ang="0">
                  <a:pos x="82" y="27"/>
                </a:cxn>
                <a:cxn ang="0">
                  <a:pos x="84" y="22"/>
                </a:cxn>
                <a:cxn ang="0">
                  <a:pos x="108" y="17"/>
                </a:cxn>
                <a:cxn ang="0">
                  <a:pos x="81" y="11"/>
                </a:cxn>
                <a:cxn ang="0">
                  <a:pos x="77" y="6"/>
                </a:cxn>
                <a:cxn ang="0">
                  <a:pos x="70" y="9"/>
                </a:cxn>
                <a:cxn ang="0">
                  <a:pos x="69" y="5"/>
                </a:cxn>
                <a:cxn ang="0">
                  <a:pos x="54" y="0"/>
                </a:cxn>
                <a:cxn ang="0">
                  <a:pos x="57" y="15"/>
                </a:cxn>
                <a:cxn ang="0">
                  <a:pos x="39" y="4"/>
                </a:cxn>
                <a:cxn ang="0">
                  <a:pos x="31" y="9"/>
                </a:cxn>
                <a:cxn ang="0">
                  <a:pos x="23" y="6"/>
                </a:cxn>
                <a:cxn ang="0">
                  <a:pos x="27" y="4"/>
                </a:cxn>
              </a:cxnLst>
              <a:rect l="0" t="0" r="r" b="b"/>
              <a:pathLst>
                <a:path w="108" h="46">
                  <a:moveTo>
                    <a:pt x="27" y="4"/>
                  </a:moveTo>
                  <a:lnTo>
                    <a:pt x="12" y="4"/>
                  </a:lnTo>
                  <a:lnTo>
                    <a:pt x="0" y="5"/>
                  </a:lnTo>
                  <a:lnTo>
                    <a:pt x="3" y="11"/>
                  </a:lnTo>
                  <a:lnTo>
                    <a:pt x="11" y="10"/>
                  </a:lnTo>
                  <a:lnTo>
                    <a:pt x="12" y="13"/>
                  </a:lnTo>
                  <a:lnTo>
                    <a:pt x="5" y="15"/>
                  </a:lnTo>
                  <a:lnTo>
                    <a:pt x="18" y="21"/>
                  </a:lnTo>
                  <a:lnTo>
                    <a:pt x="29" y="24"/>
                  </a:lnTo>
                  <a:lnTo>
                    <a:pt x="36" y="21"/>
                  </a:lnTo>
                  <a:lnTo>
                    <a:pt x="45" y="17"/>
                  </a:lnTo>
                  <a:lnTo>
                    <a:pt x="46" y="19"/>
                  </a:lnTo>
                  <a:lnTo>
                    <a:pt x="58" y="17"/>
                  </a:lnTo>
                  <a:lnTo>
                    <a:pt x="59" y="21"/>
                  </a:lnTo>
                  <a:lnTo>
                    <a:pt x="34" y="25"/>
                  </a:lnTo>
                  <a:lnTo>
                    <a:pt x="30" y="29"/>
                  </a:lnTo>
                  <a:lnTo>
                    <a:pt x="61" y="29"/>
                  </a:lnTo>
                  <a:lnTo>
                    <a:pt x="49" y="30"/>
                  </a:lnTo>
                  <a:lnTo>
                    <a:pt x="54" y="33"/>
                  </a:lnTo>
                  <a:lnTo>
                    <a:pt x="35" y="34"/>
                  </a:lnTo>
                  <a:lnTo>
                    <a:pt x="57" y="41"/>
                  </a:lnTo>
                  <a:lnTo>
                    <a:pt x="64" y="46"/>
                  </a:lnTo>
                  <a:lnTo>
                    <a:pt x="67" y="43"/>
                  </a:lnTo>
                  <a:lnTo>
                    <a:pt x="76" y="34"/>
                  </a:lnTo>
                  <a:lnTo>
                    <a:pt x="82" y="27"/>
                  </a:lnTo>
                  <a:lnTo>
                    <a:pt x="84" y="22"/>
                  </a:lnTo>
                  <a:lnTo>
                    <a:pt x="108" y="17"/>
                  </a:lnTo>
                  <a:lnTo>
                    <a:pt x="81" y="11"/>
                  </a:lnTo>
                  <a:lnTo>
                    <a:pt x="77" y="6"/>
                  </a:lnTo>
                  <a:lnTo>
                    <a:pt x="70" y="9"/>
                  </a:lnTo>
                  <a:lnTo>
                    <a:pt x="69" y="5"/>
                  </a:lnTo>
                  <a:lnTo>
                    <a:pt x="54" y="0"/>
                  </a:lnTo>
                  <a:lnTo>
                    <a:pt x="57" y="15"/>
                  </a:lnTo>
                  <a:lnTo>
                    <a:pt x="39" y="4"/>
                  </a:lnTo>
                  <a:lnTo>
                    <a:pt x="31" y="9"/>
                  </a:lnTo>
                  <a:lnTo>
                    <a:pt x="23" y="6"/>
                  </a:lnTo>
                  <a:lnTo>
                    <a:pt x="27"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9" name="Freeform 338"/>
            <p:cNvSpPr>
              <a:spLocks/>
            </p:cNvSpPr>
            <p:nvPr/>
          </p:nvSpPr>
          <p:spPr bwMode="auto">
            <a:xfrm>
              <a:off x="2731" y="1188"/>
              <a:ext cx="98" cy="15"/>
            </a:xfrm>
            <a:custGeom>
              <a:avLst/>
              <a:gdLst/>
              <a:ahLst/>
              <a:cxnLst>
                <a:cxn ang="0">
                  <a:pos x="40" y="5"/>
                </a:cxn>
                <a:cxn ang="0">
                  <a:pos x="14" y="2"/>
                </a:cxn>
                <a:cxn ang="0">
                  <a:pos x="10" y="3"/>
                </a:cxn>
                <a:cxn ang="0">
                  <a:pos x="0" y="5"/>
                </a:cxn>
                <a:cxn ang="0">
                  <a:pos x="0" y="6"/>
                </a:cxn>
                <a:cxn ang="0">
                  <a:pos x="36" y="9"/>
                </a:cxn>
                <a:cxn ang="0">
                  <a:pos x="19" y="11"/>
                </a:cxn>
                <a:cxn ang="0">
                  <a:pos x="47" y="15"/>
                </a:cxn>
                <a:cxn ang="0">
                  <a:pos x="77" y="14"/>
                </a:cxn>
                <a:cxn ang="0">
                  <a:pos x="89" y="6"/>
                </a:cxn>
                <a:cxn ang="0">
                  <a:pos x="82" y="4"/>
                </a:cxn>
                <a:cxn ang="0">
                  <a:pos x="53" y="3"/>
                </a:cxn>
                <a:cxn ang="0">
                  <a:pos x="49" y="3"/>
                </a:cxn>
                <a:cxn ang="0">
                  <a:pos x="43" y="0"/>
                </a:cxn>
                <a:cxn ang="0">
                  <a:pos x="41" y="3"/>
                </a:cxn>
                <a:cxn ang="0">
                  <a:pos x="40" y="5"/>
                </a:cxn>
              </a:cxnLst>
              <a:rect l="0" t="0" r="r" b="b"/>
              <a:pathLst>
                <a:path w="89" h="15">
                  <a:moveTo>
                    <a:pt x="40" y="5"/>
                  </a:moveTo>
                  <a:lnTo>
                    <a:pt x="14" y="2"/>
                  </a:lnTo>
                  <a:lnTo>
                    <a:pt x="10" y="3"/>
                  </a:lnTo>
                  <a:lnTo>
                    <a:pt x="0" y="5"/>
                  </a:lnTo>
                  <a:lnTo>
                    <a:pt x="0" y="6"/>
                  </a:lnTo>
                  <a:lnTo>
                    <a:pt x="36" y="9"/>
                  </a:lnTo>
                  <a:lnTo>
                    <a:pt x="19" y="11"/>
                  </a:lnTo>
                  <a:lnTo>
                    <a:pt x="47" y="15"/>
                  </a:lnTo>
                  <a:lnTo>
                    <a:pt x="77" y="14"/>
                  </a:lnTo>
                  <a:lnTo>
                    <a:pt x="89" y="6"/>
                  </a:lnTo>
                  <a:lnTo>
                    <a:pt x="82" y="4"/>
                  </a:lnTo>
                  <a:lnTo>
                    <a:pt x="53" y="3"/>
                  </a:lnTo>
                  <a:lnTo>
                    <a:pt x="49" y="3"/>
                  </a:lnTo>
                  <a:lnTo>
                    <a:pt x="43" y="0"/>
                  </a:lnTo>
                  <a:lnTo>
                    <a:pt x="41" y="3"/>
                  </a:lnTo>
                  <a:lnTo>
                    <a:pt x="40"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0" name="Freeform 339"/>
            <p:cNvSpPr>
              <a:spLocks/>
            </p:cNvSpPr>
            <p:nvPr/>
          </p:nvSpPr>
          <p:spPr bwMode="auto">
            <a:xfrm>
              <a:off x="2767" y="1221"/>
              <a:ext cx="46" cy="11"/>
            </a:xfrm>
            <a:custGeom>
              <a:avLst/>
              <a:gdLst/>
              <a:ahLst/>
              <a:cxnLst>
                <a:cxn ang="0">
                  <a:pos x="33" y="9"/>
                </a:cxn>
                <a:cxn ang="0">
                  <a:pos x="18" y="10"/>
                </a:cxn>
                <a:cxn ang="0">
                  <a:pos x="5" y="10"/>
                </a:cxn>
                <a:cxn ang="0">
                  <a:pos x="9" y="4"/>
                </a:cxn>
                <a:cxn ang="0">
                  <a:pos x="0" y="0"/>
                </a:cxn>
                <a:cxn ang="0">
                  <a:pos x="26" y="0"/>
                </a:cxn>
                <a:cxn ang="0">
                  <a:pos x="42" y="5"/>
                </a:cxn>
                <a:cxn ang="0">
                  <a:pos x="33" y="9"/>
                </a:cxn>
              </a:cxnLst>
              <a:rect l="0" t="0" r="r" b="b"/>
              <a:pathLst>
                <a:path w="42" h="10">
                  <a:moveTo>
                    <a:pt x="33" y="9"/>
                  </a:moveTo>
                  <a:lnTo>
                    <a:pt x="18" y="10"/>
                  </a:lnTo>
                  <a:lnTo>
                    <a:pt x="5" y="10"/>
                  </a:lnTo>
                  <a:lnTo>
                    <a:pt x="9" y="4"/>
                  </a:lnTo>
                  <a:lnTo>
                    <a:pt x="0" y="0"/>
                  </a:lnTo>
                  <a:lnTo>
                    <a:pt x="26" y="0"/>
                  </a:lnTo>
                  <a:lnTo>
                    <a:pt x="42" y="5"/>
                  </a:lnTo>
                  <a:lnTo>
                    <a:pt x="3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1" name="Freeform 340"/>
            <p:cNvSpPr>
              <a:spLocks/>
            </p:cNvSpPr>
            <p:nvPr/>
          </p:nvSpPr>
          <p:spPr bwMode="auto">
            <a:xfrm>
              <a:off x="2727" y="1368"/>
              <a:ext cx="15" cy="8"/>
            </a:xfrm>
            <a:custGeom>
              <a:avLst/>
              <a:gdLst/>
              <a:ahLst/>
              <a:cxnLst>
                <a:cxn ang="0">
                  <a:pos x="9" y="0"/>
                </a:cxn>
                <a:cxn ang="0">
                  <a:pos x="4" y="7"/>
                </a:cxn>
                <a:cxn ang="0">
                  <a:pos x="0" y="9"/>
                </a:cxn>
                <a:cxn ang="0">
                  <a:pos x="6" y="7"/>
                </a:cxn>
                <a:cxn ang="0">
                  <a:pos x="10" y="9"/>
                </a:cxn>
                <a:cxn ang="0">
                  <a:pos x="16" y="3"/>
                </a:cxn>
                <a:cxn ang="0">
                  <a:pos x="10" y="4"/>
                </a:cxn>
                <a:cxn ang="0">
                  <a:pos x="9" y="0"/>
                </a:cxn>
              </a:cxnLst>
              <a:rect l="0" t="0" r="r" b="b"/>
              <a:pathLst>
                <a:path w="16" h="9">
                  <a:moveTo>
                    <a:pt x="9" y="0"/>
                  </a:moveTo>
                  <a:lnTo>
                    <a:pt x="4" y="7"/>
                  </a:lnTo>
                  <a:lnTo>
                    <a:pt x="0" y="9"/>
                  </a:lnTo>
                  <a:lnTo>
                    <a:pt x="6" y="7"/>
                  </a:lnTo>
                  <a:lnTo>
                    <a:pt x="10" y="9"/>
                  </a:lnTo>
                  <a:lnTo>
                    <a:pt x="16" y="3"/>
                  </a:lnTo>
                  <a:lnTo>
                    <a:pt x="10" y="4"/>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2" name="Freeform 341"/>
            <p:cNvSpPr>
              <a:spLocks/>
            </p:cNvSpPr>
            <p:nvPr/>
          </p:nvSpPr>
          <p:spPr bwMode="auto">
            <a:xfrm>
              <a:off x="2796" y="1348"/>
              <a:ext cx="166" cy="177"/>
            </a:xfrm>
            <a:custGeom>
              <a:avLst/>
              <a:gdLst/>
              <a:ahLst/>
              <a:cxnLst>
                <a:cxn ang="0">
                  <a:pos x="127" y="87"/>
                </a:cxn>
                <a:cxn ang="0">
                  <a:pos x="122" y="82"/>
                </a:cxn>
                <a:cxn ang="0">
                  <a:pos x="121" y="67"/>
                </a:cxn>
                <a:cxn ang="0">
                  <a:pos x="106" y="51"/>
                </a:cxn>
                <a:cxn ang="0">
                  <a:pos x="114" y="39"/>
                </a:cxn>
                <a:cxn ang="0">
                  <a:pos x="96" y="29"/>
                </a:cxn>
                <a:cxn ang="0">
                  <a:pos x="96" y="19"/>
                </a:cxn>
                <a:cxn ang="0">
                  <a:pos x="96" y="16"/>
                </a:cxn>
                <a:cxn ang="0">
                  <a:pos x="96" y="6"/>
                </a:cxn>
                <a:cxn ang="0">
                  <a:pos x="76" y="0"/>
                </a:cxn>
                <a:cxn ang="0">
                  <a:pos x="60" y="7"/>
                </a:cxn>
                <a:cxn ang="0">
                  <a:pos x="56" y="18"/>
                </a:cxn>
                <a:cxn ang="0">
                  <a:pos x="49" y="22"/>
                </a:cxn>
                <a:cxn ang="0">
                  <a:pos x="33" y="22"/>
                </a:cxn>
                <a:cxn ang="0">
                  <a:pos x="20" y="19"/>
                </a:cxn>
                <a:cxn ang="0">
                  <a:pos x="7" y="11"/>
                </a:cxn>
                <a:cxn ang="0">
                  <a:pos x="0" y="16"/>
                </a:cxn>
                <a:cxn ang="0">
                  <a:pos x="33" y="30"/>
                </a:cxn>
                <a:cxn ang="0">
                  <a:pos x="45" y="51"/>
                </a:cxn>
                <a:cxn ang="0">
                  <a:pos x="51" y="66"/>
                </a:cxn>
                <a:cxn ang="0">
                  <a:pos x="56" y="65"/>
                </a:cxn>
                <a:cxn ang="0">
                  <a:pos x="62" y="69"/>
                </a:cxn>
                <a:cxn ang="0">
                  <a:pos x="66" y="81"/>
                </a:cxn>
                <a:cxn ang="0">
                  <a:pos x="44" y="96"/>
                </a:cxn>
                <a:cxn ang="0">
                  <a:pos x="36" y="105"/>
                </a:cxn>
                <a:cxn ang="0">
                  <a:pos x="26" y="109"/>
                </a:cxn>
                <a:cxn ang="0">
                  <a:pos x="28" y="127"/>
                </a:cxn>
                <a:cxn ang="0">
                  <a:pos x="32" y="148"/>
                </a:cxn>
                <a:cxn ang="0">
                  <a:pos x="45" y="153"/>
                </a:cxn>
                <a:cxn ang="0">
                  <a:pos x="46" y="155"/>
                </a:cxn>
                <a:cxn ang="0">
                  <a:pos x="51" y="154"/>
                </a:cxn>
                <a:cxn ang="0">
                  <a:pos x="56" y="161"/>
                </a:cxn>
                <a:cxn ang="0">
                  <a:pos x="60" y="159"/>
                </a:cxn>
                <a:cxn ang="0">
                  <a:pos x="91" y="153"/>
                </a:cxn>
                <a:cxn ang="0">
                  <a:pos x="97" y="150"/>
                </a:cxn>
                <a:cxn ang="0">
                  <a:pos x="114" y="150"/>
                </a:cxn>
                <a:cxn ang="0">
                  <a:pos x="123" y="141"/>
                </a:cxn>
                <a:cxn ang="0">
                  <a:pos x="133" y="131"/>
                </a:cxn>
                <a:cxn ang="0">
                  <a:pos x="141" y="121"/>
                </a:cxn>
                <a:cxn ang="0">
                  <a:pos x="151" y="112"/>
                </a:cxn>
                <a:cxn ang="0">
                  <a:pos x="128" y="99"/>
                </a:cxn>
                <a:cxn ang="0">
                  <a:pos x="134" y="94"/>
                </a:cxn>
                <a:cxn ang="0">
                  <a:pos x="127" y="87"/>
                </a:cxn>
              </a:cxnLst>
              <a:rect l="0" t="0" r="r" b="b"/>
              <a:pathLst>
                <a:path w="151" h="161">
                  <a:moveTo>
                    <a:pt x="127" y="87"/>
                  </a:moveTo>
                  <a:lnTo>
                    <a:pt x="122" y="82"/>
                  </a:lnTo>
                  <a:lnTo>
                    <a:pt x="121" y="67"/>
                  </a:lnTo>
                  <a:lnTo>
                    <a:pt x="106" y="51"/>
                  </a:lnTo>
                  <a:lnTo>
                    <a:pt x="114" y="39"/>
                  </a:lnTo>
                  <a:lnTo>
                    <a:pt x="96" y="29"/>
                  </a:lnTo>
                  <a:lnTo>
                    <a:pt x="96" y="19"/>
                  </a:lnTo>
                  <a:lnTo>
                    <a:pt x="96" y="16"/>
                  </a:lnTo>
                  <a:lnTo>
                    <a:pt x="96" y="6"/>
                  </a:lnTo>
                  <a:lnTo>
                    <a:pt x="76" y="0"/>
                  </a:lnTo>
                  <a:lnTo>
                    <a:pt x="60" y="7"/>
                  </a:lnTo>
                  <a:lnTo>
                    <a:pt x="56" y="18"/>
                  </a:lnTo>
                  <a:lnTo>
                    <a:pt x="49" y="22"/>
                  </a:lnTo>
                  <a:lnTo>
                    <a:pt x="33" y="22"/>
                  </a:lnTo>
                  <a:lnTo>
                    <a:pt x="20" y="19"/>
                  </a:lnTo>
                  <a:lnTo>
                    <a:pt x="7" y="11"/>
                  </a:lnTo>
                  <a:lnTo>
                    <a:pt x="0" y="16"/>
                  </a:lnTo>
                  <a:lnTo>
                    <a:pt x="33" y="30"/>
                  </a:lnTo>
                  <a:lnTo>
                    <a:pt x="45" y="51"/>
                  </a:lnTo>
                  <a:lnTo>
                    <a:pt x="51" y="66"/>
                  </a:lnTo>
                  <a:lnTo>
                    <a:pt x="56" y="65"/>
                  </a:lnTo>
                  <a:lnTo>
                    <a:pt x="62" y="69"/>
                  </a:lnTo>
                  <a:lnTo>
                    <a:pt x="66" y="81"/>
                  </a:lnTo>
                  <a:lnTo>
                    <a:pt x="44" y="96"/>
                  </a:lnTo>
                  <a:lnTo>
                    <a:pt x="36" y="105"/>
                  </a:lnTo>
                  <a:lnTo>
                    <a:pt x="26" y="109"/>
                  </a:lnTo>
                  <a:lnTo>
                    <a:pt x="28" y="127"/>
                  </a:lnTo>
                  <a:lnTo>
                    <a:pt x="32" y="148"/>
                  </a:lnTo>
                  <a:lnTo>
                    <a:pt x="45" y="153"/>
                  </a:lnTo>
                  <a:lnTo>
                    <a:pt x="46" y="155"/>
                  </a:lnTo>
                  <a:lnTo>
                    <a:pt x="51" y="154"/>
                  </a:lnTo>
                  <a:lnTo>
                    <a:pt x="56" y="161"/>
                  </a:lnTo>
                  <a:lnTo>
                    <a:pt x="60" y="159"/>
                  </a:lnTo>
                  <a:lnTo>
                    <a:pt x="91" y="153"/>
                  </a:lnTo>
                  <a:lnTo>
                    <a:pt x="97" y="150"/>
                  </a:lnTo>
                  <a:lnTo>
                    <a:pt x="114" y="150"/>
                  </a:lnTo>
                  <a:lnTo>
                    <a:pt x="123" y="141"/>
                  </a:lnTo>
                  <a:lnTo>
                    <a:pt x="133" y="131"/>
                  </a:lnTo>
                  <a:lnTo>
                    <a:pt x="141" y="121"/>
                  </a:lnTo>
                  <a:lnTo>
                    <a:pt x="151" y="112"/>
                  </a:lnTo>
                  <a:lnTo>
                    <a:pt x="128" y="99"/>
                  </a:lnTo>
                  <a:lnTo>
                    <a:pt x="134" y="94"/>
                  </a:lnTo>
                  <a:lnTo>
                    <a:pt x="127"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3" name="Freeform 342"/>
            <p:cNvSpPr>
              <a:spLocks/>
            </p:cNvSpPr>
            <p:nvPr/>
          </p:nvSpPr>
          <p:spPr bwMode="auto">
            <a:xfrm>
              <a:off x="2680" y="1763"/>
              <a:ext cx="2" cy="5"/>
            </a:xfrm>
            <a:custGeom>
              <a:avLst/>
              <a:gdLst/>
              <a:ahLst/>
              <a:cxnLst>
                <a:cxn ang="0">
                  <a:pos x="0" y="0"/>
                </a:cxn>
                <a:cxn ang="0">
                  <a:pos x="0" y="3"/>
                </a:cxn>
                <a:cxn ang="0">
                  <a:pos x="1" y="3"/>
                </a:cxn>
                <a:cxn ang="0">
                  <a:pos x="0" y="0"/>
                </a:cxn>
              </a:cxnLst>
              <a:rect l="0" t="0" r="r" b="b"/>
              <a:pathLst>
                <a:path w="1" h="3">
                  <a:moveTo>
                    <a:pt x="0" y="0"/>
                  </a:moveTo>
                  <a:lnTo>
                    <a:pt x="0" y="3"/>
                  </a:lnTo>
                  <a:lnTo>
                    <a:pt x="1" y="3"/>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4" name="Freeform 343"/>
            <p:cNvSpPr>
              <a:spLocks/>
            </p:cNvSpPr>
            <p:nvPr/>
          </p:nvSpPr>
          <p:spPr bwMode="auto">
            <a:xfrm>
              <a:off x="2680" y="1732"/>
              <a:ext cx="118" cy="49"/>
            </a:xfrm>
            <a:custGeom>
              <a:avLst/>
              <a:gdLst/>
              <a:ahLst/>
              <a:cxnLst>
                <a:cxn ang="0">
                  <a:pos x="39" y="35"/>
                </a:cxn>
                <a:cxn ang="0">
                  <a:pos x="23" y="37"/>
                </a:cxn>
                <a:cxn ang="0">
                  <a:pos x="15" y="36"/>
                </a:cxn>
                <a:cxn ang="0">
                  <a:pos x="3" y="32"/>
                </a:cxn>
                <a:cxn ang="0">
                  <a:pos x="1" y="32"/>
                </a:cxn>
                <a:cxn ang="0">
                  <a:pos x="0" y="29"/>
                </a:cxn>
                <a:cxn ang="0">
                  <a:pos x="1" y="25"/>
                </a:cxn>
                <a:cxn ang="0">
                  <a:pos x="11" y="26"/>
                </a:cxn>
                <a:cxn ang="0">
                  <a:pos x="13" y="28"/>
                </a:cxn>
                <a:cxn ang="0">
                  <a:pos x="17" y="24"/>
                </a:cxn>
                <a:cxn ang="0">
                  <a:pos x="29" y="24"/>
                </a:cxn>
                <a:cxn ang="0">
                  <a:pos x="46" y="24"/>
                </a:cxn>
                <a:cxn ang="0">
                  <a:pos x="51" y="22"/>
                </a:cxn>
                <a:cxn ang="0">
                  <a:pos x="48" y="13"/>
                </a:cxn>
                <a:cxn ang="0">
                  <a:pos x="59" y="4"/>
                </a:cxn>
                <a:cxn ang="0">
                  <a:pos x="67" y="7"/>
                </a:cxn>
                <a:cxn ang="0">
                  <a:pos x="75" y="0"/>
                </a:cxn>
                <a:cxn ang="0">
                  <a:pos x="97" y="4"/>
                </a:cxn>
                <a:cxn ang="0">
                  <a:pos x="107" y="17"/>
                </a:cxn>
                <a:cxn ang="0">
                  <a:pos x="101" y="22"/>
                </a:cxn>
                <a:cxn ang="0">
                  <a:pos x="100" y="23"/>
                </a:cxn>
                <a:cxn ang="0">
                  <a:pos x="95" y="35"/>
                </a:cxn>
                <a:cxn ang="0">
                  <a:pos x="94" y="36"/>
                </a:cxn>
                <a:cxn ang="0">
                  <a:pos x="66" y="43"/>
                </a:cxn>
                <a:cxn ang="0">
                  <a:pos x="60" y="42"/>
                </a:cxn>
                <a:cxn ang="0">
                  <a:pos x="39" y="35"/>
                </a:cxn>
              </a:cxnLst>
              <a:rect l="0" t="0" r="r" b="b"/>
              <a:pathLst>
                <a:path w="107" h="43">
                  <a:moveTo>
                    <a:pt x="39" y="35"/>
                  </a:moveTo>
                  <a:lnTo>
                    <a:pt x="23" y="37"/>
                  </a:lnTo>
                  <a:lnTo>
                    <a:pt x="15" y="36"/>
                  </a:lnTo>
                  <a:lnTo>
                    <a:pt x="3" y="32"/>
                  </a:lnTo>
                  <a:lnTo>
                    <a:pt x="1" y="32"/>
                  </a:lnTo>
                  <a:lnTo>
                    <a:pt x="0" y="29"/>
                  </a:lnTo>
                  <a:lnTo>
                    <a:pt x="1" y="25"/>
                  </a:lnTo>
                  <a:lnTo>
                    <a:pt x="11" y="26"/>
                  </a:lnTo>
                  <a:lnTo>
                    <a:pt x="13" y="28"/>
                  </a:lnTo>
                  <a:lnTo>
                    <a:pt x="17" y="24"/>
                  </a:lnTo>
                  <a:lnTo>
                    <a:pt x="29" y="24"/>
                  </a:lnTo>
                  <a:lnTo>
                    <a:pt x="46" y="24"/>
                  </a:lnTo>
                  <a:lnTo>
                    <a:pt x="51" y="22"/>
                  </a:lnTo>
                  <a:lnTo>
                    <a:pt x="48" y="13"/>
                  </a:lnTo>
                  <a:lnTo>
                    <a:pt x="59" y="4"/>
                  </a:lnTo>
                  <a:lnTo>
                    <a:pt x="67" y="7"/>
                  </a:lnTo>
                  <a:lnTo>
                    <a:pt x="75" y="0"/>
                  </a:lnTo>
                  <a:lnTo>
                    <a:pt x="97" y="4"/>
                  </a:lnTo>
                  <a:lnTo>
                    <a:pt x="107" y="17"/>
                  </a:lnTo>
                  <a:lnTo>
                    <a:pt x="101" y="22"/>
                  </a:lnTo>
                  <a:lnTo>
                    <a:pt x="100" y="23"/>
                  </a:lnTo>
                  <a:lnTo>
                    <a:pt x="95" y="35"/>
                  </a:lnTo>
                  <a:lnTo>
                    <a:pt x="94" y="36"/>
                  </a:lnTo>
                  <a:lnTo>
                    <a:pt x="66" y="43"/>
                  </a:lnTo>
                  <a:lnTo>
                    <a:pt x="60" y="42"/>
                  </a:lnTo>
                  <a:lnTo>
                    <a:pt x="39" y="3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5" name="Freeform 344"/>
            <p:cNvSpPr>
              <a:spLocks/>
            </p:cNvSpPr>
            <p:nvPr/>
          </p:nvSpPr>
          <p:spPr bwMode="auto">
            <a:xfrm>
              <a:off x="2780" y="1803"/>
              <a:ext cx="62" cy="53"/>
            </a:xfrm>
            <a:custGeom>
              <a:avLst/>
              <a:gdLst/>
              <a:ahLst/>
              <a:cxnLst>
                <a:cxn ang="0">
                  <a:pos x="51" y="6"/>
                </a:cxn>
                <a:cxn ang="0">
                  <a:pos x="52" y="8"/>
                </a:cxn>
                <a:cxn ang="0">
                  <a:pos x="51" y="11"/>
                </a:cxn>
                <a:cxn ang="0">
                  <a:pos x="48" y="14"/>
                </a:cxn>
                <a:cxn ang="0">
                  <a:pos x="48" y="15"/>
                </a:cxn>
                <a:cxn ang="0">
                  <a:pos x="51" y="18"/>
                </a:cxn>
                <a:cxn ang="0">
                  <a:pos x="57" y="21"/>
                </a:cxn>
                <a:cxn ang="0">
                  <a:pos x="52" y="24"/>
                </a:cxn>
                <a:cxn ang="0">
                  <a:pos x="56" y="26"/>
                </a:cxn>
                <a:cxn ang="0">
                  <a:pos x="56" y="30"/>
                </a:cxn>
                <a:cxn ang="0">
                  <a:pos x="47" y="31"/>
                </a:cxn>
                <a:cxn ang="0">
                  <a:pos x="51" y="35"/>
                </a:cxn>
                <a:cxn ang="0">
                  <a:pos x="50" y="36"/>
                </a:cxn>
                <a:cxn ang="0">
                  <a:pos x="47" y="35"/>
                </a:cxn>
                <a:cxn ang="0">
                  <a:pos x="44" y="39"/>
                </a:cxn>
                <a:cxn ang="0">
                  <a:pos x="41" y="41"/>
                </a:cxn>
                <a:cxn ang="0">
                  <a:pos x="45" y="45"/>
                </a:cxn>
                <a:cxn ang="0">
                  <a:pos x="41" y="47"/>
                </a:cxn>
                <a:cxn ang="0">
                  <a:pos x="39" y="45"/>
                </a:cxn>
                <a:cxn ang="0">
                  <a:pos x="34" y="43"/>
                </a:cxn>
                <a:cxn ang="0">
                  <a:pos x="30" y="41"/>
                </a:cxn>
                <a:cxn ang="0">
                  <a:pos x="30" y="39"/>
                </a:cxn>
                <a:cxn ang="0">
                  <a:pos x="24" y="35"/>
                </a:cxn>
                <a:cxn ang="0">
                  <a:pos x="23" y="32"/>
                </a:cxn>
                <a:cxn ang="0">
                  <a:pos x="20" y="30"/>
                </a:cxn>
                <a:cxn ang="0">
                  <a:pos x="9" y="20"/>
                </a:cxn>
                <a:cxn ang="0">
                  <a:pos x="9" y="19"/>
                </a:cxn>
                <a:cxn ang="0">
                  <a:pos x="6" y="18"/>
                </a:cxn>
                <a:cxn ang="0">
                  <a:pos x="4" y="11"/>
                </a:cxn>
                <a:cxn ang="0">
                  <a:pos x="0" y="8"/>
                </a:cxn>
                <a:cxn ang="0">
                  <a:pos x="0" y="1"/>
                </a:cxn>
                <a:cxn ang="0">
                  <a:pos x="4" y="0"/>
                </a:cxn>
                <a:cxn ang="0">
                  <a:pos x="8" y="5"/>
                </a:cxn>
                <a:cxn ang="0">
                  <a:pos x="11" y="0"/>
                </a:cxn>
                <a:cxn ang="0">
                  <a:pos x="16" y="0"/>
                </a:cxn>
                <a:cxn ang="0">
                  <a:pos x="20" y="1"/>
                </a:cxn>
                <a:cxn ang="0">
                  <a:pos x="30" y="3"/>
                </a:cxn>
                <a:cxn ang="0">
                  <a:pos x="32" y="1"/>
                </a:cxn>
                <a:cxn ang="0">
                  <a:pos x="34" y="2"/>
                </a:cxn>
                <a:cxn ang="0">
                  <a:pos x="35" y="2"/>
                </a:cxn>
                <a:cxn ang="0">
                  <a:pos x="39" y="2"/>
                </a:cxn>
                <a:cxn ang="0">
                  <a:pos x="41" y="2"/>
                </a:cxn>
                <a:cxn ang="0">
                  <a:pos x="44" y="6"/>
                </a:cxn>
                <a:cxn ang="0">
                  <a:pos x="47" y="6"/>
                </a:cxn>
                <a:cxn ang="0">
                  <a:pos x="51" y="6"/>
                </a:cxn>
              </a:cxnLst>
              <a:rect l="0" t="0" r="r" b="b"/>
              <a:pathLst>
                <a:path w="57" h="47">
                  <a:moveTo>
                    <a:pt x="51" y="6"/>
                  </a:moveTo>
                  <a:lnTo>
                    <a:pt x="52" y="8"/>
                  </a:lnTo>
                  <a:lnTo>
                    <a:pt x="51" y="11"/>
                  </a:lnTo>
                  <a:lnTo>
                    <a:pt x="48" y="14"/>
                  </a:lnTo>
                  <a:lnTo>
                    <a:pt x="48" y="15"/>
                  </a:lnTo>
                  <a:lnTo>
                    <a:pt x="51" y="18"/>
                  </a:lnTo>
                  <a:lnTo>
                    <a:pt x="57" y="21"/>
                  </a:lnTo>
                  <a:lnTo>
                    <a:pt x="52" y="24"/>
                  </a:lnTo>
                  <a:lnTo>
                    <a:pt x="56" y="26"/>
                  </a:lnTo>
                  <a:lnTo>
                    <a:pt x="56" y="30"/>
                  </a:lnTo>
                  <a:lnTo>
                    <a:pt x="47" y="31"/>
                  </a:lnTo>
                  <a:lnTo>
                    <a:pt x="51" y="35"/>
                  </a:lnTo>
                  <a:lnTo>
                    <a:pt x="50" y="36"/>
                  </a:lnTo>
                  <a:lnTo>
                    <a:pt x="47" y="35"/>
                  </a:lnTo>
                  <a:lnTo>
                    <a:pt x="44" y="39"/>
                  </a:lnTo>
                  <a:lnTo>
                    <a:pt x="41" y="41"/>
                  </a:lnTo>
                  <a:lnTo>
                    <a:pt x="45" y="45"/>
                  </a:lnTo>
                  <a:lnTo>
                    <a:pt x="41" y="47"/>
                  </a:lnTo>
                  <a:lnTo>
                    <a:pt x="39" y="45"/>
                  </a:lnTo>
                  <a:lnTo>
                    <a:pt x="34" y="43"/>
                  </a:lnTo>
                  <a:lnTo>
                    <a:pt x="30" y="41"/>
                  </a:lnTo>
                  <a:lnTo>
                    <a:pt x="30" y="39"/>
                  </a:lnTo>
                  <a:lnTo>
                    <a:pt x="24" y="35"/>
                  </a:lnTo>
                  <a:lnTo>
                    <a:pt x="23" y="32"/>
                  </a:lnTo>
                  <a:lnTo>
                    <a:pt x="20" y="30"/>
                  </a:lnTo>
                  <a:lnTo>
                    <a:pt x="9" y="20"/>
                  </a:lnTo>
                  <a:lnTo>
                    <a:pt x="9" y="19"/>
                  </a:lnTo>
                  <a:lnTo>
                    <a:pt x="6" y="18"/>
                  </a:lnTo>
                  <a:lnTo>
                    <a:pt x="4" y="11"/>
                  </a:lnTo>
                  <a:lnTo>
                    <a:pt x="0" y="8"/>
                  </a:lnTo>
                  <a:lnTo>
                    <a:pt x="0" y="1"/>
                  </a:lnTo>
                  <a:lnTo>
                    <a:pt x="4" y="0"/>
                  </a:lnTo>
                  <a:lnTo>
                    <a:pt x="8" y="5"/>
                  </a:lnTo>
                  <a:lnTo>
                    <a:pt x="11" y="0"/>
                  </a:lnTo>
                  <a:lnTo>
                    <a:pt x="16" y="0"/>
                  </a:lnTo>
                  <a:lnTo>
                    <a:pt x="20" y="1"/>
                  </a:lnTo>
                  <a:lnTo>
                    <a:pt x="30" y="3"/>
                  </a:lnTo>
                  <a:lnTo>
                    <a:pt x="32" y="1"/>
                  </a:lnTo>
                  <a:lnTo>
                    <a:pt x="34" y="2"/>
                  </a:lnTo>
                  <a:lnTo>
                    <a:pt x="35" y="2"/>
                  </a:lnTo>
                  <a:lnTo>
                    <a:pt x="39" y="2"/>
                  </a:lnTo>
                  <a:lnTo>
                    <a:pt x="41" y="2"/>
                  </a:lnTo>
                  <a:lnTo>
                    <a:pt x="44" y="6"/>
                  </a:lnTo>
                  <a:lnTo>
                    <a:pt x="47" y="6"/>
                  </a:lnTo>
                  <a:lnTo>
                    <a:pt x="5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6" name="Freeform 345"/>
            <p:cNvSpPr>
              <a:spLocks/>
            </p:cNvSpPr>
            <p:nvPr/>
          </p:nvSpPr>
          <p:spPr bwMode="auto">
            <a:xfrm>
              <a:off x="2747" y="1776"/>
              <a:ext cx="91" cy="74"/>
            </a:xfrm>
            <a:custGeom>
              <a:avLst/>
              <a:gdLst/>
              <a:ahLst/>
              <a:cxnLst>
                <a:cxn ang="0">
                  <a:pos x="74" y="30"/>
                </a:cxn>
                <a:cxn ang="0">
                  <a:pos x="77" y="30"/>
                </a:cxn>
                <a:cxn ang="0">
                  <a:pos x="78" y="26"/>
                </a:cxn>
                <a:cxn ang="0">
                  <a:pos x="82" y="25"/>
                </a:cxn>
                <a:cxn ang="0">
                  <a:pos x="82" y="24"/>
                </a:cxn>
                <a:cxn ang="0">
                  <a:pos x="77" y="23"/>
                </a:cxn>
                <a:cxn ang="0">
                  <a:pos x="76" y="21"/>
                </a:cxn>
                <a:cxn ang="0">
                  <a:pos x="77" y="19"/>
                </a:cxn>
                <a:cxn ang="0">
                  <a:pos x="76" y="19"/>
                </a:cxn>
                <a:cxn ang="0">
                  <a:pos x="72" y="13"/>
                </a:cxn>
                <a:cxn ang="0">
                  <a:pos x="51" y="11"/>
                </a:cxn>
                <a:cxn ang="0">
                  <a:pos x="39" y="0"/>
                </a:cxn>
                <a:cxn ang="0">
                  <a:pos x="38" y="1"/>
                </a:cxn>
                <a:cxn ang="0">
                  <a:pos x="36" y="2"/>
                </a:cxn>
                <a:cxn ang="0">
                  <a:pos x="36" y="3"/>
                </a:cxn>
                <a:cxn ang="0">
                  <a:pos x="32" y="3"/>
                </a:cxn>
                <a:cxn ang="0">
                  <a:pos x="30" y="5"/>
                </a:cxn>
                <a:cxn ang="0">
                  <a:pos x="26" y="6"/>
                </a:cxn>
                <a:cxn ang="0">
                  <a:pos x="27" y="9"/>
                </a:cxn>
                <a:cxn ang="0">
                  <a:pos x="27" y="11"/>
                </a:cxn>
                <a:cxn ang="0">
                  <a:pos x="29" y="13"/>
                </a:cxn>
                <a:cxn ang="0">
                  <a:pos x="27" y="13"/>
                </a:cxn>
                <a:cxn ang="0">
                  <a:pos x="22" y="15"/>
                </a:cxn>
                <a:cxn ang="0">
                  <a:pos x="22" y="17"/>
                </a:cxn>
                <a:cxn ang="0">
                  <a:pos x="23" y="20"/>
                </a:cxn>
                <a:cxn ang="0">
                  <a:pos x="20" y="20"/>
                </a:cxn>
                <a:cxn ang="0">
                  <a:pos x="16" y="18"/>
                </a:cxn>
                <a:cxn ang="0">
                  <a:pos x="15" y="19"/>
                </a:cxn>
                <a:cxn ang="0">
                  <a:pos x="12" y="17"/>
                </a:cxn>
                <a:cxn ang="0">
                  <a:pos x="10" y="20"/>
                </a:cxn>
                <a:cxn ang="0">
                  <a:pos x="4" y="20"/>
                </a:cxn>
                <a:cxn ang="0">
                  <a:pos x="0" y="18"/>
                </a:cxn>
                <a:cxn ang="0">
                  <a:pos x="3" y="24"/>
                </a:cxn>
                <a:cxn ang="0">
                  <a:pos x="6" y="29"/>
                </a:cxn>
                <a:cxn ang="0">
                  <a:pos x="10" y="25"/>
                </a:cxn>
                <a:cxn ang="0">
                  <a:pos x="21" y="42"/>
                </a:cxn>
                <a:cxn ang="0">
                  <a:pos x="26" y="47"/>
                </a:cxn>
                <a:cxn ang="0">
                  <a:pos x="39" y="55"/>
                </a:cxn>
                <a:cxn ang="0">
                  <a:pos x="57" y="65"/>
                </a:cxn>
                <a:cxn ang="0">
                  <a:pos x="59" y="65"/>
                </a:cxn>
                <a:cxn ang="0">
                  <a:pos x="60" y="65"/>
                </a:cxn>
                <a:cxn ang="0">
                  <a:pos x="60" y="63"/>
                </a:cxn>
                <a:cxn ang="0">
                  <a:pos x="54" y="59"/>
                </a:cxn>
                <a:cxn ang="0">
                  <a:pos x="53" y="56"/>
                </a:cxn>
                <a:cxn ang="0">
                  <a:pos x="50" y="54"/>
                </a:cxn>
                <a:cxn ang="0">
                  <a:pos x="39" y="44"/>
                </a:cxn>
                <a:cxn ang="0">
                  <a:pos x="39" y="43"/>
                </a:cxn>
                <a:cxn ang="0">
                  <a:pos x="36" y="42"/>
                </a:cxn>
                <a:cxn ang="0">
                  <a:pos x="34" y="35"/>
                </a:cxn>
                <a:cxn ang="0">
                  <a:pos x="30" y="32"/>
                </a:cxn>
                <a:cxn ang="0">
                  <a:pos x="30" y="25"/>
                </a:cxn>
                <a:cxn ang="0">
                  <a:pos x="34" y="24"/>
                </a:cxn>
                <a:cxn ang="0">
                  <a:pos x="38" y="29"/>
                </a:cxn>
                <a:cxn ang="0">
                  <a:pos x="41" y="24"/>
                </a:cxn>
                <a:cxn ang="0">
                  <a:pos x="46" y="24"/>
                </a:cxn>
                <a:cxn ang="0">
                  <a:pos x="50" y="25"/>
                </a:cxn>
                <a:cxn ang="0">
                  <a:pos x="60" y="27"/>
                </a:cxn>
                <a:cxn ang="0">
                  <a:pos x="62" y="25"/>
                </a:cxn>
                <a:cxn ang="0">
                  <a:pos x="64" y="26"/>
                </a:cxn>
                <a:cxn ang="0">
                  <a:pos x="65" y="26"/>
                </a:cxn>
                <a:cxn ang="0">
                  <a:pos x="69" y="26"/>
                </a:cxn>
                <a:cxn ang="0">
                  <a:pos x="71" y="26"/>
                </a:cxn>
                <a:cxn ang="0">
                  <a:pos x="74" y="30"/>
                </a:cxn>
              </a:cxnLst>
              <a:rect l="0" t="0" r="r" b="b"/>
              <a:pathLst>
                <a:path w="82" h="65">
                  <a:moveTo>
                    <a:pt x="74" y="30"/>
                  </a:moveTo>
                  <a:lnTo>
                    <a:pt x="77" y="30"/>
                  </a:lnTo>
                  <a:lnTo>
                    <a:pt x="78" y="26"/>
                  </a:lnTo>
                  <a:lnTo>
                    <a:pt x="82" y="25"/>
                  </a:lnTo>
                  <a:lnTo>
                    <a:pt x="82" y="24"/>
                  </a:lnTo>
                  <a:lnTo>
                    <a:pt x="77" y="23"/>
                  </a:lnTo>
                  <a:lnTo>
                    <a:pt x="76" y="21"/>
                  </a:lnTo>
                  <a:lnTo>
                    <a:pt x="77" y="19"/>
                  </a:lnTo>
                  <a:lnTo>
                    <a:pt x="76" y="19"/>
                  </a:lnTo>
                  <a:lnTo>
                    <a:pt x="72" y="13"/>
                  </a:lnTo>
                  <a:lnTo>
                    <a:pt x="51" y="11"/>
                  </a:lnTo>
                  <a:lnTo>
                    <a:pt x="39" y="0"/>
                  </a:lnTo>
                  <a:lnTo>
                    <a:pt x="38" y="1"/>
                  </a:lnTo>
                  <a:lnTo>
                    <a:pt x="36" y="2"/>
                  </a:lnTo>
                  <a:lnTo>
                    <a:pt x="36" y="3"/>
                  </a:lnTo>
                  <a:lnTo>
                    <a:pt x="32" y="3"/>
                  </a:lnTo>
                  <a:lnTo>
                    <a:pt x="30" y="5"/>
                  </a:lnTo>
                  <a:lnTo>
                    <a:pt x="26" y="6"/>
                  </a:lnTo>
                  <a:lnTo>
                    <a:pt x="27" y="9"/>
                  </a:lnTo>
                  <a:lnTo>
                    <a:pt x="27" y="11"/>
                  </a:lnTo>
                  <a:lnTo>
                    <a:pt x="29" y="13"/>
                  </a:lnTo>
                  <a:lnTo>
                    <a:pt x="27" y="13"/>
                  </a:lnTo>
                  <a:lnTo>
                    <a:pt x="22" y="15"/>
                  </a:lnTo>
                  <a:lnTo>
                    <a:pt x="22" y="17"/>
                  </a:lnTo>
                  <a:lnTo>
                    <a:pt x="23" y="20"/>
                  </a:lnTo>
                  <a:lnTo>
                    <a:pt x="20" y="20"/>
                  </a:lnTo>
                  <a:lnTo>
                    <a:pt x="16" y="18"/>
                  </a:lnTo>
                  <a:lnTo>
                    <a:pt x="15" y="19"/>
                  </a:lnTo>
                  <a:lnTo>
                    <a:pt x="12" y="17"/>
                  </a:lnTo>
                  <a:lnTo>
                    <a:pt x="10" y="20"/>
                  </a:lnTo>
                  <a:lnTo>
                    <a:pt x="4" y="20"/>
                  </a:lnTo>
                  <a:lnTo>
                    <a:pt x="0" y="18"/>
                  </a:lnTo>
                  <a:lnTo>
                    <a:pt x="3" y="24"/>
                  </a:lnTo>
                  <a:lnTo>
                    <a:pt x="6" y="29"/>
                  </a:lnTo>
                  <a:lnTo>
                    <a:pt x="10" y="25"/>
                  </a:lnTo>
                  <a:lnTo>
                    <a:pt x="21" y="42"/>
                  </a:lnTo>
                  <a:lnTo>
                    <a:pt x="26" y="47"/>
                  </a:lnTo>
                  <a:lnTo>
                    <a:pt x="39" y="55"/>
                  </a:lnTo>
                  <a:lnTo>
                    <a:pt x="57" y="65"/>
                  </a:lnTo>
                  <a:lnTo>
                    <a:pt x="59" y="65"/>
                  </a:lnTo>
                  <a:lnTo>
                    <a:pt x="60" y="65"/>
                  </a:lnTo>
                  <a:lnTo>
                    <a:pt x="60" y="63"/>
                  </a:lnTo>
                  <a:lnTo>
                    <a:pt x="54" y="59"/>
                  </a:lnTo>
                  <a:lnTo>
                    <a:pt x="53" y="56"/>
                  </a:lnTo>
                  <a:lnTo>
                    <a:pt x="50" y="54"/>
                  </a:lnTo>
                  <a:lnTo>
                    <a:pt x="39" y="44"/>
                  </a:lnTo>
                  <a:lnTo>
                    <a:pt x="39" y="43"/>
                  </a:lnTo>
                  <a:lnTo>
                    <a:pt x="36" y="42"/>
                  </a:lnTo>
                  <a:lnTo>
                    <a:pt x="34" y="35"/>
                  </a:lnTo>
                  <a:lnTo>
                    <a:pt x="30" y="32"/>
                  </a:lnTo>
                  <a:lnTo>
                    <a:pt x="30" y="25"/>
                  </a:lnTo>
                  <a:lnTo>
                    <a:pt x="34" y="24"/>
                  </a:lnTo>
                  <a:lnTo>
                    <a:pt x="38" y="29"/>
                  </a:lnTo>
                  <a:lnTo>
                    <a:pt x="41" y="24"/>
                  </a:lnTo>
                  <a:lnTo>
                    <a:pt x="46" y="24"/>
                  </a:lnTo>
                  <a:lnTo>
                    <a:pt x="50" y="25"/>
                  </a:lnTo>
                  <a:lnTo>
                    <a:pt x="60" y="27"/>
                  </a:lnTo>
                  <a:lnTo>
                    <a:pt x="62" y="25"/>
                  </a:lnTo>
                  <a:lnTo>
                    <a:pt x="64" y="26"/>
                  </a:lnTo>
                  <a:lnTo>
                    <a:pt x="65" y="26"/>
                  </a:lnTo>
                  <a:lnTo>
                    <a:pt x="69" y="26"/>
                  </a:lnTo>
                  <a:lnTo>
                    <a:pt x="71" y="26"/>
                  </a:lnTo>
                  <a:lnTo>
                    <a:pt x="74" y="3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7" name="Freeform 346"/>
            <p:cNvSpPr>
              <a:spLocks/>
            </p:cNvSpPr>
            <p:nvPr/>
          </p:nvSpPr>
          <p:spPr bwMode="auto">
            <a:xfrm>
              <a:off x="2802" y="1850"/>
              <a:ext cx="25" cy="11"/>
            </a:xfrm>
            <a:custGeom>
              <a:avLst/>
              <a:gdLst/>
              <a:ahLst/>
              <a:cxnLst>
                <a:cxn ang="0">
                  <a:pos x="21" y="9"/>
                </a:cxn>
                <a:cxn ang="0">
                  <a:pos x="21" y="7"/>
                </a:cxn>
                <a:cxn ang="0">
                  <a:pos x="21" y="6"/>
                </a:cxn>
                <a:cxn ang="0">
                  <a:pos x="19" y="4"/>
                </a:cxn>
                <a:cxn ang="0">
                  <a:pos x="14" y="2"/>
                </a:cxn>
                <a:cxn ang="0">
                  <a:pos x="10" y="0"/>
                </a:cxn>
                <a:cxn ang="0">
                  <a:pos x="9" y="1"/>
                </a:cxn>
                <a:cxn ang="0">
                  <a:pos x="0" y="0"/>
                </a:cxn>
                <a:cxn ang="0">
                  <a:pos x="21" y="9"/>
                </a:cxn>
              </a:cxnLst>
              <a:rect l="0" t="0" r="r" b="b"/>
              <a:pathLst>
                <a:path w="21" h="9">
                  <a:moveTo>
                    <a:pt x="21" y="9"/>
                  </a:moveTo>
                  <a:lnTo>
                    <a:pt x="21" y="7"/>
                  </a:lnTo>
                  <a:lnTo>
                    <a:pt x="21" y="6"/>
                  </a:lnTo>
                  <a:lnTo>
                    <a:pt x="19" y="4"/>
                  </a:lnTo>
                  <a:lnTo>
                    <a:pt x="14" y="2"/>
                  </a:lnTo>
                  <a:lnTo>
                    <a:pt x="10" y="0"/>
                  </a:lnTo>
                  <a:lnTo>
                    <a:pt x="9" y="1"/>
                  </a:lnTo>
                  <a:lnTo>
                    <a:pt x="0" y="0"/>
                  </a:lnTo>
                  <a:lnTo>
                    <a:pt x="21"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8" name="Freeform 347"/>
            <p:cNvSpPr>
              <a:spLocks/>
            </p:cNvSpPr>
            <p:nvPr/>
          </p:nvSpPr>
          <p:spPr bwMode="auto">
            <a:xfrm>
              <a:off x="2458" y="1690"/>
              <a:ext cx="198" cy="169"/>
            </a:xfrm>
            <a:custGeom>
              <a:avLst/>
              <a:gdLst/>
              <a:ahLst/>
              <a:cxnLst>
                <a:cxn ang="0">
                  <a:pos x="174" y="121"/>
                </a:cxn>
                <a:cxn ang="0">
                  <a:pos x="174" y="128"/>
                </a:cxn>
                <a:cxn ang="0">
                  <a:pos x="173" y="128"/>
                </a:cxn>
                <a:cxn ang="0">
                  <a:pos x="172" y="128"/>
                </a:cxn>
                <a:cxn ang="0">
                  <a:pos x="157" y="140"/>
                </a:cxn>
                <a:cxn ang="0">
                  <a:pos x="139" y="134"/>
                </a:cxn>
                <a:cxn ang="0">
                  <a:pos x="134" y="133"/>
                </a:cxn>
                <a:cxn ang="0">
                  <a:pos x="132" y="134"/>
                </a:cxn>
                <a:cxn ang="0">
                  <a:pos x="120" y="134"/>
                </a:cxn>
                <a:cxn ang="0">
                  <a:pos x="112" y="140"/>
                </a:cxn>
                <a:cxn ang="0">
                  <a:pos x="113" y="151"/>
                </a:cxn>
                <a:cxn ang="0">
                  <a:pos x="91" y="151"/>
                </a:cxn>
                <a:cxn ang="0">
                  <a:pos x="92" y="149"/>
                </a:cxn>
                <a:cxn ang="0">
                  <a:pos x="88" y="149"/>
                </a:cxn>
                <a:cxn ang="0">
                  <a:pos x="48" y="140"/>
                </a:cxn>
                <a:cxn ang="0">
                  <a:pos x="41" y="134"/>
                </a:cxn>
                <a:cxn ang="0">
                  <a:pos x="47" y="126"/>
                </a:cxn>
                <a:cxn ang="0">
                  <a:pos x="48" y="111"/>
                </a:cxn>
                <a:cxn ang="0">
                  <a:pos x="50" y="98"/>
                </a:cxn>
                <a:cxn ang="0">
                  <a:pos x="56" y="105"/>
                </a:cxn>
                <a:cxn ang="0">
                  <a:pos x="50" y="92"/>
                </a:cxn>
                <a:cxn ang="0">
                  <a:pos x="50" y="87"/>
                </a:cxn>
                <a:cxn ang="0">
                  <a:pos x="43" y="81"/>
                </a:cxn>
                <a:cxn ang="0">
                  <a:pos x="37" y="69"/>
                </a:cxn>
                <a:cxn ang="0">
                  <a:pos x="38" y="66"/>
                </a:cxn>
                <a:cxn ang="0">
                  <a:pos x="31" y="63"/>
                </a:cxn>
                <a:cxn ang="0">
                  <a:pos x="23" y="61"/>
                </a:cxn>
                <a:cxn ang="0">
                  <a:pos x="11" y="56"/>
                </a:cxn>
                <a:cxn ang="0">
                  <a:pos x="2" y="54"/>
                </a:cxn>
                <a:cxn ang="0">
                  <a:pos x="5" y="49"/>
                </a:cxn>
                <a:cxn ang="0">
                  <a:pos x="6" y="48"/>
                </a:cxn>
                <a:cxn ang="0">
                  <a:pos x="0" y="47"/>
                </a:cxn>
                <a:cxn ang="0">
                  <a:pos x="17" y="41"/>
                </a:cxn>
                <a:cxn ang="0">
                  <a:pos x="28" y="42"/>
                </a:cxn>
                <a:cxn ang="0">
                  <a:pos x="44" y="43"/>
                </a:cxn>
                <a:cxn ang="0">
                  <a:pos x="41" y="26"/>
                </a:cxn>
                <a:cxn ang="0">
                  <a:pos x="46" y="24"/>
                </a:cxn>
                <a:cxn ang="0">
                  <a:pos x="50" y="29"/>
                </a:cxn>
                <a:cxn ang="0">
                  <a:pos x="72" y="29"/>
                </a:cxn>
                <a:cxn ang="0">
                  <a:pos x="67" y="27"/>
                </a:cxn>
                <a:cxn ang="0">
                  <a:pos x="86" y="17"/>
                </a:cxn>
                <a:cxn ang="0">
                  <a:pos x="88" y="5"/>
                </a:cxn>
                <a:cxn ang="0">
                  <a:pos x="101" y="0"/>
                </a:cxn>
                <a:cxn ang="0">
                  <a:pos x="107" y="6"/>
                </a:cxn>
                <a:cxn ang="0">
                  <a:pos x="125" y="18"/>
                </a:cxn>
                <a:cxn ang="0">
                  <a:pos x="131" y="17"/>
                </a:cxn>
                <a:cxn ang="0">
                  <a:pos x="132" y="19"/>
                </a:cxn>
                <a:cxn ang="0">
                  <a:pos x="146" y="26"/>
                </a:cxn>
                <a:cxn ang="0">
                  <a:pos x="154" y="27"/>
                </a:cxn>
                <a:cxn ang="0">
                  <a:pos x="156" y="29"/>
                </a:cxn>
                <a:cxn ang="0">
                  <a:pos x="179" y="36"/>
                </a:cxn>
                <a:cxn ang="0">
                  <a:pos x="173" y="61"/>
                </a:cxn>
                <a:cxn ang="0">
                  <a:pos x="168" y="63"/>
                </a:cxn>
                <a:cxn ang="0">
                  <a:pos x="164" y="66"/>
                </a:cxn>
                <a:cxn ang="0">
                  <a:pos x="152" y="84"/>
                </a:cxn>
                <a:cxn ang="0">
                  <a:pos x="157" y="80"/>
                </a:cxn>
                <a:cxn ang="0">
                  <a:pos x="166" y="90"/>
                </a:cxn>
                <a:cxn ang="0">
                  <a:pos x="166" y="97"/>
                </a:cxn>
                <a:cxn ang="0">
                  <a:pos x="163" y="104"/>
                </a:cxn>
                <a:cxn ang="0">
                  <a:pos x="163" y="109"/>
                </a:cxn>
                <a:cxn ang="0">
                  <a:pos x="164" y="115"/>
                </a:cxn>
                <a:cxn ang="0">
                  <a:pos x="174" y="121"/>
                </a:cxn>
              </a:cxnLst>
              <a:rect l="0" t="0" r="r" b="b"/>
              <a:pathLst>
                <a:path w="179" h="151">
                  <a:moveTo>
                    <a:pt x="174" y="121"/>
                  </a:moveTo>
                  <a:lnTo>
                    <a:pt x="174" y="128"/>
                  </a:lnTo>
                  <a:lnTo>
                    <a:pt x="173" y="128"/>
                  </a:lnTo>
                  <a:lnTo>
                    <a:pt x="172" y="128"/>
                  </a:lnTo>
                  <a:lnTo>
                    <a:pt x="157" y="140"/>
                  </a:lnTo>
                  <a:lnTo>
                    <a:pt x="139" y="134"/>
                  </a:lnTo>
                  <a:lnTo>
                    <a:pt x="134" y="133"/>
                  </a:lnTo>
                  <a:lnTo>
                    <a:pt x="132" y="134"/>
                  </a:lnTo>
                  <a:lnTo>
                    <a:pt x="120" y="134"/>
                  </a:lnTo>
                  <a:lnTo>
                    <a:pt x="112" y="140"/>
                  </a:lnTo>
                  <a:lnTo>
                    <a:pt x="113" y="151"/>
                  </a:lnTo>
                  <a:lnTo>
                    <a:pt x="91" y="151"/>
                  </a:lnTo>
                  <a:lnTo>
                    <a:pt x="92" y="149"/>
                  </a:lnTo>
                  <a:lnTo>
                    <a:pt x="88" y="149"/>
                  </a:lnTo>
                  <a:lnTo>
                    <a:pt x="48" y="140"/>
                  </a:lnTo>
                  <a:lnTo>
                    <a:pt x="41" y="134"/>
                  </a:lnTo>
                  <a:lnTo>
                    <a:pt x="47" y="126"/>
                  </a:lnTo>
                  <a:lnTo>
                    <a:pt x="48" y="111"/>
                  </a:lnTo>
                  <a:lnTo>
                    <a:pt x="50" y="98"/>
                  </a:lnTo>
                  <a:lnTo>
                    <a:pt x="56" y="105"/>
                  </a:lnTo>
                  <a:lnTo>
                    <a:pt x="50" y="92"/>
                  </a:lnTo>
                  <a:lnTo>
                    <a:pt x="50" y="87"/>
                  </a:lnTo>
                  <a:lnTo>
                    <a:pt x="43" y="81"/>
                  </a:lnTo>
                  <a:lnTo>
                    <a:pt x="37" y="69"/>
                  </a:lnTo>
                  <a:lnTo>
                    <a:pt x="38" y="66"/>
                  </a:lnTo>
                  <a:lnTo>
                    <a:pt x="31" y="63"/>
                  </a:lnTo>
                  <a:lnTo>
                    <a:pt x="23" y="61"/>
                  </a:lnTo>
                  <a:lnTo>
                    <a:pt x="11" y="56"/>
                  </a:lnTo>
                  <a:lnTo>
                    <a:pt x="2" y="54"/>
                  </a:lnTo>
                  <a:lnTo>
                    <a:pt x="5" y="49"/>
                  </a:lnTo>
                  <a:lnTo>
                    <a:pt x="6" y="48"/>
                  </a:lnTo>
                  <a:lnTo>
                    <a:pt x="0" y="47"/>
                  </a:lnTo>
                  <a:lnTo>
                    <a:pt x="17" y="41"/>
                  </a:lnTo>
                  <a:lnTo>
                    <a:pt x="28" y="42"/>
                  </a:lnTo>
                  <a:lnTo>
                    <a:pt x="44" y="43"/>
                  </a:lnTo>
                  <a:lnTo>
                    <a:pt x="41" y="26"/>
                  </a:lnTo>
                  <a:lnTo>
                    <a:pt x="46" y="24"/>
                  </a:lnTo>
                  <a:lnTo>
                    <a:pt x="50" y="29"/>
                  </a:lnTo>
                  <a:lnTo>
                    <a:pt x="72" y="29"/>
                  </a:lnTo>
                  <a:lnTo>
                    <a:pt x="67" y="27"/>
                  </a:lnTo>
                  <a:lnTo>
                    <a:pt x="86" y="17"/>
                  </a:lnTo>
                  <a:lnTo>
                    <a:pt x="88" y="5"/>
                  </a:lnTo>
                  <a:lnTo>
                    <a:pt x="101" y="0"/>
                  </a:lnTo>
                  <a:lnTo>
                    <a:pt x="107" y="6"/>
                  </a:lnTo>
                  <a:lnTo>
                    <a:pt x="125" y="18"/>
                  </a:lnTo>
                  <a:lnTo>
                    <a:pt x="131" y="17"/>
                  </a:lnTo>
                  <a:lnTo>
                    <a:pt x="132" y="19"/>
                  </a:lnTo>
                  <a:lnTo>
                    <a:pt x="146" y="26"/>
                  </a:lnTo>
                  <a:lnTo>
                    <a:pt x="154" y="27"/>
                  </a:lnTo>
                  <a:lnTo>
                    <a:pt x="156" y="29"/>
                  </a:lnTo>
                  <a:lnTo>
                    <a:pt x="179" y="36"/>
                  </a:lnTo>
                  <a:lnTo>
                    <a:pt x="173" y="61"/>
                  </a:lnTo>
                  <a:lnTo>
                    <a:pt x="168" y="63"/>
                  </a:lnTo>
                  <a:lnTo>
                    <a:pt x="164" y="66"/>
                  </a:lnTo>
                  <a:lnTo>
                    <a:pt x="152" y="84"/>
                  </a:lnTo>
                  <a:lnTo>
                    <a:pt x="157" y="80"/>
                  </a:lnTo>
                  <a:lnTo>
                    <a:pt x="166" y="90"/>
                  </a:lnTo>
                  <a:lnTo>
                    <a:pt x="166" y="97"/>
                  </a:lnTo>
                  <a:lnTo>
                    <a:pt x="163" y="104"/>
                  </a:lnTo>
                  <a:lnTo>
                    <a:pt x="163" y="109"/>
                  </a:lnTo>
                  <a:lnTo>
                    <a:pt x="164" y="115"/>
                  </a:lnTo>
                  <a:lnTo>
                    <a:pt x="174" y="1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9" name="Freeform 348"/>
            <p:cNvSpPr>
              <a:spLocks/>
            </p:cNvSpPr>
            <p:nvPr/>
          </p:nvSpPr>
          <p:spPr bwMode="auto">
            <a:xfrm>
              <a:off x="2669" y="1850"/>
              <a:ext cx="15" cy="26"/>
            </a:xfrm>
            <a:custGeom>
              <a:avLst/>
              <a:gdLst/>
              <a:ahLst/>
              <a:cxnLst>
                <a:cxn ang="0">
                  <a:pos x="9" y="24"/>
                </a:cxn>
                <a:cxn ang="0">
                  <a:pos x="3" y="20"/>
                </a:cxn>
                <a:cxn ang="0">
                  <a:pos x="0" y="11"/>
                </a:cxn>
                <a:cxn ang="0">
                  <a:pos x="9" y="0"/>
                </a:cxn>
                <a:cxn ang="0">
                  <a:pos x="13" y="11"/>
                </a:cxn>
                <a:cxn ang="0">
                  <a:pos x="9" y="24"/>
                </a:cxn>
              </a:cxnLst>
              <a:rect l="0" t="0" r="r" b="b"/>
              <a:pathLst>
                <a:path w="13" h="24">
                  <a:moveTo>
                    <a:pt x="9" y="24"/>
                  </a:moveTo>
                  <a:lnTo>
                    <a:pt x="3" y="20"/>
                  </a:lnTo>
                  <a:lnTo>
                    <a:pt x="0" y="11"/>
                  </a:lnTo>
                  <a:lnTo>
                    <a:pt x="9" y="0"/>
                  </a:lnTo>
                  <a:lnTo>
                    <a:pt x="13" y="11"/>
                  </a:lnTo>
                  <a:lnTo>
                    <a:pt x="9"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0" name="Freeform 349"/>
            <p:cNvSpPr>
              <a:spLocks/>
            </p:cNvSpPr>
            <p:nvPr/>
          </p:nvSpPr>
          <p:spPr bwMode="auto">
            <a:xfrm>
              <a:off x="2782" y="1741"/>
              <a:ext cx="105" cy="51"/>
            </a:xfrm>
            <a:custGeom>
              <a:avLst/>
              <a:gdLst/>
              <a:ahLst/>
              <a:cxnLst>
                <a:cxn ang="0">
                  <a:pos x="39" y="46"/>
                </a:cxn>
                <a:cxn ang="0">
                  <a:pos x="18" y="44"/>
                </a:cxn>
                <a:cxn ang="0">
                  <a:pos x="6" y="33"/>
                </a:cxn>
                <a:cxn ang="0">
                  <a:pos x="1" y="30"/>
                </a:cxn>
                <a:cxn ang="0">
                  <a:pos x="0" y="28"/>
                </a:cxn>
                <a:cxn ang="0">
                  <a:pos x="1" y="27"/>
                </a:cxn>
                <a:cxn ang="0">
                  <a:pos x="6" y="15"/>
                </a:cxn>
                <a:cxn ang="0">
                  <a:pos x="7" y="14"/>
                </a:cxn>
                <a:cxn ang="0">
                  <a:pos x="13" y="9"/>
                </a:cxn>
                <a:cxn ang="0">
                  <a:pos x="17" y="10"/>
                </a:cxn>
                <a:cxn ang="0">
                  <a:pos x="35" y="11"/>
                </a:cxn>
                <a:cxn ang="0">
                  <a:pos x="57" y="0"/>
                </a:cxn>
                <a:cxn ang="0">
                  <a:pos x="81" y="2"/>
                </a:cxn>
                <a:cxn ang="0">
                  <a:pos x="92" y="10"/>
                </a:cxn>
                <a:cxn ang="0">
                  <a:pos x="79" y="23"/>
                </a:cxn>
                <a:cxn ang="0">
                  <a:pos x="67" y="39"/>
                </a:cxn>
                <a:cxn ang="0">
                  <a:pos x="60" y="41"/>
                </a:cxn>
                <a:cxn ang="0">
                  <a:pos x="39" y="46"/>
                </a:cxn>
              </a:cxnLst>
              <a:rect l="0" t="0" r="r" b="b"/>
              <a:pathLst>
                <a:path w="92" h="46">
                  <a:moveTo>
                    <a:pt x="39" y="46"/>
                  </a:moveTo>
                  <a:lnTo>
                    <a:pt x="18" y="44"/>
                  </a:lnTo>
                  <a:lnTo>
                    <a:pt x="6" y="33"/>
                  </a:lnTo>
                  <a:lnTo>
                    <a:pt x="1" y="30"/>
                  </a:lnTo>
                  <a:lnTo>
                    <a:pt x="0" y="28"/>
                  </a:lnTo>
                  <a:lnTo>
                    <a:pt x="1" y="27"/>
                  </a:lnTo>
                  <a:lnTo>
                    <a:pt x="6" y="15"/>
                  </a:lnTo>
                  <a:lnTo>
                    <a:pt x="7" y="14"/>
                  </a:lnTo>
                  <a:lnTo>
                    <a:pt x="13" y="9"/>
                  </a:lnTo>
                  <a:lnTo>
                    <a:pt x="17" y="10"/>
                  </a:lnTo>
                  <a:lnTo>
                    <a:pt x="35" y="11"/>
                  </a:lnTo>
                  <a:lnTo>
                    <a:pt x="57" y="0"/>
                  </a:lnTo>
                  <a:lnTo>
                    <a:pt x="81" y="2"/>
                  </a:lnTo>
                  <a:lnTo>
                    <a:pt x="92" y="10"/>
                  </a:lnTo>
                  <a:lnTo>
                    <a:pt x="79" y="23"/>
                  </a:lnTo>
                  <a:lnTo>
                    <a:pt x="67" y="39"/>
                  </a:lnTo>
                  <a:lnTo>
                    <a:pt x="60" y="41"/>
                  </a:lnTo>
                  <a:lnTo>
                    <a:pt x="39"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1" name="Freeform 350"/>
            <p:cNvSpPr>
              <a:spLocks/>
            </p:cNvSpPr>
            <p:nvPr/>
          </p:nvSpPr>
          <p:spPr bwMode="auto">
            <a:xfrm>
              <a:off x="2902" y="1228"/>
              <a:ext cx="2093" cy="646"/>
            </a:xfrm>
            <a:custGeom>
              <a:avLst/>
              <a:gdLst/>
              <a:ahLst/>
              <a:cxnLst>
                <a:cxn ang="0">
                  <a:pos x="1624" y="126"/>
                </a:cxn>
                <a:cxn ang="0">
                  <a:pos x="1471" y="99"/>
                </a:cxn>
                <a:cxn ang="0">
                  <a:pos x="1329" y="83"/>
                </a:cxn>
                <a:cxn ang="0">
                  <a:pos x="1222" y="71"/>
                </a:cxn>
                <a:cxn ang="0">
                  <a:pos x="1183" y="84"/>
                </a:cxn>
                <a:cxn ang="0">
                  <a:pos x="1071" y="75"/>
                </a:cxn>
                <a:cxn ang="0">
                  <a:pos x="890" y="52"/>
                </a:cxn>
                <a:cxn ang="0">
                  <a:pos x="873" y="30"/>
                </a:cxn>
                <a:cxn ang="0">
                  <a:pos x="777" y="15"/>
                </a:cxn>
                <a:cxn ang="0">
                  <a:pos x="702" y="18"/>
                </a:cxn>
                <a:cxn ang="0">
                  <a:pos x="597" y="41"/>
                </a:cxn>
                <a:cxn ang="0">
                  <a:pos x="564" y="74"/>
                </a:cxn>
                <a:cxn ang="0">
                  <a:pos x="596" y="84"/>
                </a:cxn>
                <a:cxn ang="0">
                  <a:pos x="511" y="87"/>
                </a:cxn>
                <a:cxn ang="0">
                  <a:pos x="548" y="122"/>
                </a:cxn>
                <a:cxn ang="0">
                  <a:pos x="541" y="144"/>
                </a:cxn>
                <a:cxn ang="0">
                  <a:pos x="511" y="155"/>
                </a:cxn>
                <a:cxn ang="0">
                  <a:pos x="428" y="68"/>
                </a:cxn>
                <a:cxn ang="0">
                  <a:pos x="464" y="125"/>
                </a:cxn>
                <a:cxn ang="0">
                  <a:pos x="360" y="134"/>
                </a:cxn>
                <a:cxn ang="0">
                  <a:pos x="296" y="124"/>
                </a:cxn>
                <a:cxn ang="0">
                  <a:pos x="194" y="147"/>
                </a:cxn>
                <a:cxn ang="0">
                  <a:pos x="180" y="164"/>
                </a:cxn>
                <a:cxn ang="0">
                  <a:pos x="129" y="201"/>
                </a:cxn>
                <a:cxn ang="0">
                  <a:pos x="54" y="155"/>
                </a:cxn>
                <a:cxn ang="0">
                  <a:pos x="46" y="123"/>
                </a:cxn>
                <a:cxn ang="0">
                  <a:pos x="12" y="116"/>
                </a:cxn>
                <a:cxn ang="0">
                  <a:pos x="38" y="201"/>
                </a:cxn>
                <a:cxn ang="0">
                  <a:pos x="27" y="260"/>
                </a:cxn>
                <a:cxn ang="0">
                  <a:pos x="57" y="336"/>
                </a:cxn>
                <a:cxn ang="0">
                  <a:pos x="152" y="416"/>
                </a:cxn>
                <a:cxn ang="0">
                  <a:pos x="206" y="492"/>
                </a:cxn>
                <a:cxn ang="0">
                  <a:pos x="207" y="531"/>
                </a:cxn>
                <a:cxn ang="0">
                  <a:pos x="373" y="582"/>
                </a:cxn>
                <a:cxn ang="0">
                  <a:pos x="362" y="501"/>
                </a:cxn>
                <a:cxn ang="0">
                  <a:pos x="350" y="407"/>
                </a:cxn>
                <a:cxn ang="0">
                  <a:pos x="481" y="396"/>
                </a:cxn>
                <a:cxn ang="0">
                  <a:pos x="585" y="344"/>
                </a:cxn>
                <a:cxn ang="0">
                  <a:pos x="692" y="368"/>
                </a:cxn>
                <a:cxn ang="0">
                  <a:pos x="837" y="438"/>
                </a:cxn>
                <a:cxn ang="0">
                  <a:pos x="963" y="431"/>
                </a:cxn>
                <a:cxn ang="0">
                  <a:pos x="1087" y="432"/>
                </a:cxn>
                <a:cxn ang="0">
                  <a:pos x="1262" y="437"/>
                </a:cxn>
                <a:cxn ang="0">
                  <a:pos x="1312" y="377"/>
                </a:cxn>
                <a:cxn ang="0">
                  <a:pos x="1479" y="456"/>
                </a:cxn>
                <a:cxn ang="0">
                  <a:pos x="1543" y="544"/>
                </a:cxn>
                <a:cxn ang="0">
                  <a:pos x="1570" y="561"/>
                </a:cxn>
                <a:cxn ang="0">
                  <a:pos x="1608" y="450"/>
                </a:cxn>
                <a:cxn ang="0">
                  <a:pos x="1514" y="362"/>
                </a:cxn>
                <a:cxn ang="0">
                  <a:pos x="1472" y="324"/>
                </a:cxn>
                <a:cxn ang="0">
                  <a:pos x="1531" y="276"/>
                </a:cxn>
                <a:cxn ang="0">
                  <a:pos x="1628" y="280"/>
                </a:cxn>
                <a:cxn ang="0">
                  <a:pos x="1672" y="251"/>
                </a:cxn>
                <a:cxn ang="0">
                  <a:pos x="1701" y="228"/>
                </a:cxn>
                <a:cxn ang="0">
                  <a:pos x="1702" y="318"/>
                </a:cxn>
                <a:cxn ang="0">
                  <a:pos x="1807" y="381"/>
                </a:cxn>
                <a:cxn ang="0">
                  <a:pos x="1807" y="333"/>
                </a:cxn>
                <a:cxn ang="0">
                  <a:pos x="1759" y="269"/>
                </a:cxn>
                <a:cxn ang="0">
                  <a:pos x="1828" y="249"/>
                </a:cxn>
                <a:cxn ang="0">
                  <a:pos x="1870" y="218"/>
                </a:cxn>
                <a:cxn ang="0">
                  <a:pos x="1788" y="156"/>
                </a:cxn>
              </a:cxnLst>
              <a:rect l="0" t="0" r="r" b="b"/>
              <a:pathLst>
                <a:path w="1884" h="582">
                  <a:moveTo>
                    <a:pt x="1741" y="124"/>
                  </a:moveTo>
                  <a:lnTo>
                    <a:pt x="1706" y="117"/>
                  </a:lnTo>
                  <a:lnTo>
                    <a:pt x="1670" y="110"/>
                  </a:lnTo>
                  <a:lnTo>
                    <a:pt x="1639" y="110"/>
                  </a:lnTo>
                  <a:lnTo>
                    <a:pt x="1609" y="107"/>
                  </a:lnTo>
                  <a:lnTo>
                    <a:pt x="1620" y="114"/>
                  </a:lnTo>
                  <a:lnTo>
                    <a:pt x="1638" y="124"/>
                  </a:lnTo>
                  <a:lnTo>
                    <a:pt x="1635" y="126"/>
                  </a:lnTo>
                  <a:lnTo>
                    <a:pt x="1624" y="126"/>
                  </a:lnTo>
                  <a:lnTo>
                    <a:pt x="1608" y="120"/>
                  </a:lnTo>
                  <a:lnTo>
                    <a:pt x="1602" y="120"/>
                  </a:lnTo>
                  <a:lnTo>
                    <a:pt x="1584" y="112"/>
                  </a:lnTo>
                  <a:lnTo>
                    <a:pt x="1570" y="116"/>
                  </a:lnTo>
                  <a:lnTo>
                    <a:pt x="1524" y="113"/>
                  </a:lnTo>
                  <a:lnTo>
                    <a:pt x="1522" y="120"/>
                  </a:lnTo>
                  <a:lnTo>
                    <a:pt x="1507" y="113"/>
                  </a:lnTo>
                  <a:lnTo>
                    <a:pt x="1489" y="110"/>
                  </a:lnTo>
                  <a:lnTo>
                    <a:pt x="1471" y="99"/>
                  </a:lnTo>
                  <a:lnTo>
                    <a:pt x="1443" y="93"/>
                  </a:lnTo>
                  <a:lnTo>
                    <a:pt x="1414" y="94"/>
                  </a:lnTo>
                  <a:lnTo>
                    <a:pt x="1387" y="96"/>
                  </a:lnTo>
                  <a:lnTo>
                    <a:pt x="1380" y="94"/>
                  </a:lnTo>
                  <a:lnTo>
                    <a:pt x="1358" y="88"/>
                  </a:lnTo>
                  <a:lnTo>
                    <a:pt x="1351" y="90"/>
                  </a:lnTo>
                  <a:lnTo>
                    <a:pt x="1351" y="87"/>
                  </a:lnTo>
                  <a:lnTo>
                    <a:pt x="1344" y="86"/>
                  </a:lnTo>
                  <a:lnTo>
                    <a:pt x="1329" y="83"/>
                  </a:lnTo>
                  <a:lnTo>
                    <a:pt x="1336" y="81"/>
                  </a:lnTo>
                  <a:lnTo>
                    <a:pt x="1310" y="75"/>
                  </a:lnTo>
                  <a:lnTo>
                    <a:pt x="1294" y="78"/>
                  </a:lnTo>
                  <a:lnTo>
                    <a:pt x="1290" y="78"/>
                  </a:lnTo>
                  <a:lnTo>
                    <a:pt x="1292" y="75"/>
                  </a:lnTo>
                  <a:lnTo>
                    <a:pt x="1291" y="74"/>
                  </a:lnTo>
                  <a:lnTo>
                    <a:pt x="1252" y="71"/>
                  </a:lnTo>
                  <a:lnTo>
                    <a:pt x="1213" y="68"/>
                  </a:lnTo>
                  <a:lnTo>
                    <a:pt x="1222" y="71"/>
                  </a:lnTo>
                  <a:lnTo>
                    <a:pt x="1206" y="75"/>
                  </a:lnTo>
                  <a:lnTo>
                    <a:pt x="1213" y="76"/>
                  </a:lnTo>
                  <a:lnTo>
                    <a:pt x="1218" y="77"/>
                  </a:lnTo>
                  <a:lnTo>
                    <a:pt x="1222" y="82"/>
                  </a:lnTo>
                  <a:lnTo>
                    <a:pt x="1230" y="87"/>
                  </a:lnTo>
                  <a:lnTo>
                    <a:pt x="1209" y="86"/>
                  </a:lnTo>
                  <a:lnTo>
                    <a:pt x="1213" y="89"/>
                  </a:lnTo>
                  <a:lnTo>
                    <a:pt x="1215" y="92"/>
                  </a:lnTo>
                  <a:lnTo>
                    <a:pt x="1183" y="84"/>
                  </a:lnTo>
                  <a:lnTo>
                    <a:pt x="1172" y="88"/>
                  </a:lnTo>
                  <a:lnTo>
                    <a:pt x="1146" y="83"/>
                  </a:lnTo>
                  <a:lnTo>
                    <a:pt x="1141" y="81"/>
                  </a:lnTo>
                  <a:lnTo>
                    <a:pt x="1148" y="90"/>
                  </a:lnTo>
                  <a:lnTo>
                    <a:pt x="1144" y="98"/>
                  </a:lnTo>
                  <a:lnTo>
                    <a:pt x="1126" y="93"/>
                  </a:lnTo>
                  <a:lnTo>
                    <a:pt x="1104" y="83"/>
                  </a:lnTo>
                  <a:lnTo>
                    <a:pt x="1078" y="74"/>
                  </a:lnTo>
                  <a:lnTo>
                    <a:pt x="1071" y="75"/>
                  </a:lnTo>
                  <a:lnTo>
                    <a:pt x="1090" y="88"/>
                  </a:lnTo>
                  <a:lnTo>
                    <a:pt x="1064" y="74"/>
                  </a:lnTo>
                  <a:lnTo>
                    <a:pt x="1022" y="69"/>
                  </a:lnTo>
                  <a:lnTo>
                    <a:pt x="980" y="64"/>
                  </a:lnTo>
                  <a:lnTo>
                    <a:pt x="957" y="59"/>
                  </a:lnTo>
                  <a:lnTo>
                    <a:pt x="961" y="57"/>
                  </a:lnTo>
                  <a:lnTo>
                    <a:pt x="943" y="57"/>
                  </a:lnTo>
                  <a:lnTo>
                    <a:pt x="903" y="58"/>
                  </a:lnTo>
                  <a:lnTo>
                    <a:pt x="890" y="52"/>
                  </a:lnTo>
                  <a:lnTo>
                    <a:pt x="873" y="52"/>
                  </a:lnTo>
                  <a:lnTo>
                    <a:pt x="873" y="50"/>
                  </a:lnTo>
                  <a:lnTo>
                    <a:pt x="854" y="53"/>
                  </a:lnTo>
                  <a:lnTo>
                    <a:pt x="872" y="54"/>
                  </a:lnTo>
                  <a:lnTo>
                    <a:pt x="850" y="60"/>
                  </a:lnTo>
                  <a:lnTo>
                    <a:pt x="829" y="63"/>
                  </a:lnTo>
                  <a:lnTo>
                    <a:pt x="830" y="60"/>
                  </a:lnTo>
                  <a:lnTo>
                    <a:pt x="852" y="46"/>
                  </a:lnTo>
                  <a:lnTo>
                    <a:pt x="873" y="30"/>
                  </a:lnTo>
                  <a:lnTo>
                    <a:pt x="864" y="28"/>
                  </a:lnTo>
                  <a:lnTo>
                    <a:pt x="853" y="24"/>
                  </a:lnTo>
                  <a:lnTo>
                    <a:pt x="870" y="28"/>
                  </a:lnTo>
                  <a:lnTo>
                    <a:pt x="855" y="20"/>
                  </a:lnTo>
                  <a:lnTo>
                    <a:pt x="853" y="21"/>
                  </a:lnTo>
                  <a:lnTo>
                    <a:pt x="844" y="20"/>
                  </a:lnTo>
                  <a:lnTo>
                    <a:pt x="826" y="15"/>
                  </a:lnTo>
                  <a:lnTo>
                    <a:pt x="790" y="14"/>
                  </a:lnTo>
                  <a:lnTo>
                    <a:pt x="777" y="15"/>
                  </a:lnTo>
                  <a:lnTo>
                    <a:pt x="776" y="9"/>
                  </a:lnTo>
                  <a:lnTo>
                    <a:pt x="760" y="8"/>
                  </a:lnTo>
                  <a:lnTo>
                    <a:pt x="742" y="8"/>
                  </a:lnTo>
                  <a:lnTo>
                    <a:pt x="756" y="4"/>
                  </a:lnTo>
                  <a:lnTo>
                    <a:pt x="728" y="0"/>
                  </a:lnTo>
                  <a:lnTo>
                    <a:pt x="711" y="10"/>
                  </a:lnTo>
                  <a:lnTo>
                    <a:pt x="718" y="15"/>
                  </a:lnTo>
                  <a:lnTo>
                    <a:pt x="728" y="16"/>
                  </a:lnTo>
                  <a:lnTo>
                    <a:pt x="702" y="18"/>
                  </a:lnTo>
                  <a:lnTo>
                    <a:pt x="711" y="21"/>
                  </a:lnTo>
                  <a:lnTo>
                    <a:pt x="693" y="22"/>
                  </a:lnTo>
                  <a:lnTo>
                    <a:pt x="676" y="23"/>
                  </a:lnTo>
                  <a:lnTo>
                    <a:pt x="644" y="23"/>
                  </a:lnTo>
                  <a:lnTo>
                    <a:pt x="657" y="23"/>
                  </a:lnTo>
                  <a:lnTo>
                    <a:pt x="632" y="28"/>
                  </a:lnTo>
                  <a:lnTo>
                    <a:pt x="606" y="33"/>
                  </a:lnTo>
                  <a:lnTo>
                    <a:pt x="597" y="35"/>
                  </a:lnTo>
                  <a:lnTo>
                    <a:pt x="597" y="41"/>
                  </a:lnTo>
                  <a:lnTo>
                    <a:pt x="588" y="40"/>
                  </a:lnTo>
                  <a:lnTo>
                    <a:pt x="603" y="45"/>
                  </a:lnTo>
                  <a:lnTo>
                    <a:pt x="594" y="46"/>
                  </a:lnTo>
                  <a:lnTo>
                    <a:pt x="607" y="50"/>
                  </a:lnTo>
                  <a:lnTo>
                    <a:pt x="607" y="52"/>
                  </a:lnTo>
                  <a:lnTo>
                    <a:pt x="576" y="54"/>
                  </a:lnTo>
                  <a:lnTo>
                    <a:pt x="546" y="58"/>
                  </a:lnTo>
                  <a:lnTo>
                    <a:pt x="550" y="64"/>
                  </a:lnTo>
                  <a:lnTo>
                    <a:pt x="564" y="74"/>
                  </a:lnTo>
                  <a:lnTo>
                    <a:pt x="579" y="77"/>
                  </a:lnTo>
                  <a:lnTo>
                    <a:pt x="601" y="84"/>
                  </a:lnTo>
                  <a:lnTo>
                    <a:pt x="610" y="98"/>
                  </a:lnTo>
                  <a:lnTo>
                    <a:pt x="614" y="104"/>
                  </a:lnTo>
                  <a:lnTo>
                    <a:pt x="608" y="104"/>
                  </a:lnTo>
                  <a:lnTo>
                    <a:pt x="598" y="94"/>
                  </a:lnTo>
                  <a:lnTo>
                    <a:pt x="596" y="100"/>
                  </a:lnTo>
                  <a:lnTo>
                    <a:pt x="589" y="90"/>
                  </a:lnTo>
                  <a:lnTo>
                    <a:pt x="596" y="84"/>
                  </a:lnTo>
                  <a:lnTo>
                    <a:pt x="571" y="82"/>
                  </a:lnTo>
                  <a:lnTo>
                    <a:pt x="546" y="74"/>
                  </a:lnTo>
                  <a:lnTo>
                    <a:pt x="525" y="77"/>
                  </a:lnTo>
                  <a:lnTo>
                    <a:pt x="535" y="81"/>
                  </a:lnTo>
                  <a:lnTo>
                    <a:pt x="512" y="81"/>
                  </a:lnTo>
                  <a:lnTo>
                    <a:pt x="518" y="86"/>
                  </a:lnTo>
                  <a:lnTo>
                    <a:pt x="546" y="90"/>
                  </a:lnTo>
                  <a:lnTo>
                    <a:pt x="552" y="94"/>
                  </a:lnTo>
                  <a:lnTo>
                    <a:pt x="511" y="87"/>
                  </a:lnTo>
                  <a:lnTo>
                    <a:pt x="498" y="69"/>
                  </a:lnTo>
                  <a:lnTo>
                    <a:pt x="488" y="68"/>
                  </a:lnTo>
                  <a:lnTo>
                    <a:pt x="498" y="77"/>
                  </a:lnTo>
                  <a:lnTo>
                    <a:pt x="487" y="84"/>
                  </a:lnTo>
                  <a:lnTo>
                    <a:pt x="492" y="90"/>
                  </a:lnTo>
                  <a:lnTo>
                    <a:pt x="508" y="100"/>
                  </a:lnTo>
                  <a:lnTo>
                    <a:pt x="507" y="112"/>
                  </a:lnTo>
                  <a:lnTo>
                    <a:pt x="518" y="123"/>
                  </a:lnTo>
                  <a:lnTo>
                    <a:pt x="548" y="122"/>
                  </a:lnTo>
                  <a:lnTo>
                    <a:pt x="564" y="125"/>
                  </a:lnTo>
                  <a:lnTo>
                    <a:pt x="571" y="136"/>
                  </a:lnTo>
                  <a:lnTo>
                    <a:pt x="576" y="142"/>
                  </a:lnTo>
                  <a:lnTo>
                    <a:pt x="592" y="146"/>
                  </a:lnTo>
                  <a:lnTo>
                    <a:pt x="567" y="142"/>
                  </a:lnTo>
                  <a:lnTo>
                    <a:pt x="558" y="129"/>
                  </a:lnTo>
                  <a:lnTo>
                    <a:pt x="549" y="124"/>
                  </a:lnTo>
                  <a:lnTo>
                    <a:pt x="528" y="128"/>
                  </a:lnTo>
                  <a:lnTo>
                    <a:pt x="541" y="144"/>
                  </a:lnTo>
                  <a:lnTo>
                    <a:pt x="530" y="160"/>
                  </a:lnTo>
                  <a:lnTo>
                    <a:pt x="525" y="162"/>
                  </a:lnTo>
                  <a:lnTo>
                    <a:pt x="518" y="165"/>
                  </a:lnTo>
                  <a:lnTo>
                    <a:pt x="484" y="161"/>
                  </a:lnTo>
                  <a:lnTo>
                    <a:pt x="481" y="158"/>
                  </a:lnTo>
                  <a:lnTo>
                    <a:pt x="502" y="159"/>
                  </a:lnTo>
                  <a:lnTo>
                    <a:pt x="499" y="160"/>
                  </a:lnTo>
                  <a:lnTo>
                    <a:pt x="513" y="159"/>
                  </a:lnTo>
                  <a:lnTo>
                    <a:pt x="511" y="155"/>
                  </a:lnTo>
                  <a:lnTo>
                    <a:pt x="520" y="140"/>
                  </a:lnTo>
                  <a:lnTo>
                    <a:pt x="520" y="132"/>
                  </a:lnTo>
                  <a:lnTo>
                    <a:pt x="500" y="120"/>
                  </a:lnTo>
                  <a:lnTo>
                    <a:pt x="492" y="106"/>
                  </a:lnTo>
                  <a:lnTo>
                    <a:pt x="482" y="92"/>
                  </a:lnTo>
                  <a:lnTo>
                    <a:pt x="470" y="86"/>
                  </a:lnTo>
                  <a:lnTo>
                    <a:pt x="470" y="71"/>
                  </a:lnTo>
                  <a:lnTo>
                    <a:pt x="452" y="66"/>
                  </a:lnTo>
                  <a:lnTo>
                    <a:pt x="428" y="68"/>
                  </a:lnTo>
                  <a:lnTo>
                    <a:pt x="426" y="87"/>
                  </a:lnTo>
                  <a:lnTo>
                    <a:pt x="416" y="94"/>
                  </a:lnTo>
                  <a:lnTo>
                    <a:pt x="420" y="98"/>
                  </a:lnTo>
                  <a:lnTo>
                    <a:pt x="427" y="98"/>
                  </a:lnTo>
                  <a:lnTo>
                    <a:pt x="429" y="107"/>
                  </a:lnTo>
                  <a:lnTo>
                    <a:pt x="433" y="113"/>
                  </a:lnTo>
                  <a:lnTo>
                    <a:pt x="448" y="118"/>
                  </a:lnTo>
                  <a:lnTo>
                    <a:pt x="458" y="125"/>
                  </a:lnTo>
                  <a:lnTo>
                    <a:pt x="464" y="125"/>
                  </a:lnTo>
                  <a:lnTo>
                    <a:pt x="459" y="136"/>
                  </a:lnTo>
                  <a:lnTo>
                    <a:pt x="441" y="126"/>
                  </a:lnTo>
                  <a:lnTo>
                    <a:pt x="412" y="119"/>
                  </a:lnTo>
                  <a:lnTo>
                    <a:pt x="386" y="114"/>
                  </a:lnTo>
                  <a:lnTo>
                    <a:pt x="360" y="111"/>
                  </a:lnTo>
                  <a:lnTo>
                    <a:pt x="355" y="114"/>
                  </a:lnTo>
                  <a:lnTo>
                    <a:pt x="368" y="125"/>
                  </a:lnTo>
                  <a:lnTo>
                    <a:pt x="360" y="130"/>
                  </a:lnTo>
                  <a:lnTo>
                    <a:pt x="360" y="134"/>
                  </a:lnTo>
                  <a:lnTo>
                    <a:pt x="351" y="132"/>
                  </a:lnTo>
                  <a:lnTo>
                    <a:pt x="349" y="125"/>
                  </a:lnTo>
                  <a:lnTo>
                    <a:pt x="332" y="128"/>
                  </a:lnTo>
                  <a:lnTo>
                    <a:pt x="319" y="130"/>
                  </a:lnTo>
                  <a:lnTo>
                    <a:pt x="304" y="135"/>
                  </a:lnTo>
                  <a:lnTo>
                    <a:pt x="285" y="134"/>
                  </a:lnTo>
                  <a:lnTo>
                    <a:pt x="291" y="131"/>
                  </a:lnTo>
                  <a:lnTo>
                    <a:pt x="286" y="126"/>
                  </a:lnTo>
                  <a:lnTo>
                    <a:pt x="296" y="124"/>
                  </a:lnTo>
                  <a:lnTo>
                    <a:pt x="274" y="130"/>
                  </a:lnTo>
                  <a:lnTo>
                    <a:pt x="273" y="132"/>
                  </a:lnTo>
                  <a:lnTo>
                    <a:pt x="249" y="137"/>
                  </a:lnTo>
                  <a:lnTo>
                    <a:pt x="236" y="142"/>
                  </a:lnTo>
                  <a:lnTo>
                    <a:pt x="237" y="144"/>
                  </a:lnTo>
                  <a:lnTo>
                    <a:pt x="226" y="146"/>
                  </a:lnTo>
                  <a:lnTo>
                    <a:pt x="225" y="155"/>
                  </a:lnTo>
                  <a:lnTo>
                    <a:pt x="207" y="156"/>
                  </a:lnTo>
                  <a:lnTo>
                    <a:pt x="194" y="147"/>
                  </a:lnTo>
                  <a:lnTo>
                    <a:pt x="212" y="141"/>
                  </a:lnTo>
                  <a:lnTo>
                    <a:pt x="190" y="130"/>
                  </a:lnTo>
                  <a:lnTo>
                    <a:pt x="166" y="129"/>
                  </a:lnTo>
                  <a:lnTo>
                    <a:pt x="181" y="135"/>
                  </a:lnTo>
                  <a:lnTo>
                    <a:pt x="186" y="152"/>
                  </a:lnTo>
                  <a:lnTo>
                    <a:pt x="192" y="162"/>
                  </a:lnTo>
                  <a:lnTo>
                    <a:pt x="190" y="170"/>
                  </a:lnTo>
                  <a:lnTo>
                    <a:pt x="184" y="170"/>
                  </a:lnTo>
                  <a:lnTo>
                    <a:pt x="180" y="164"/>
                  </a:lnTo>
                  <a:lnTo>
                    <a:pt x="166" y="161"/>
                  </a:lnTo>
                  <a:lnTo>
                    <a:pt x="154" y="171"/>
                  </a:lnTo>
                  <a:lnTo>
                    <a:pt x="142" y="179"/>
                  </a:lnTo>
                  <a:lnTo>
                    <a:pt x="154" y="192"/>
                  </a:lnTo>
                  <a:lnTo>
                    <a:pt x="127" y="189"/>
                  </a:lnTo>
                  <a:lnTo>
                    <a:pt x="109" y="183"/>
                  </a:lnTo>
                  <a:lnTo>
                    <a:pt x="110" y="190"/>
                  </a:lnTo>
                  <a:lnTo>
                    <a:pt x="123" y="196"/>
                  </a:lnTo>
                  <a:lnTo>
                    <a:pt x="129" y="201"/>
                  </a:lnTo>
                  <a:lnTo>
                    <a:pt x="114" y="203"/>
                  </a:lnTo>
                  <a:lnTo>
                    <a:pt x="90" y="191"/>
                  </a:lnTo>
                  <a:lnTo>
                    <a:pt x="81" y="178"/>
                  </a:lnTo>
                  <a:lnTo>
                    <a:pt x="80" y="173"/>
                  </a:lnTo>
                  <a:lnTo>
                    <a:pt x="82" y="173"/>
                  </a:lnTo>
                  <a:lnTo>
                    <a:pt x="66" y="165"/>
                  </a:lnTo>
                  <a:lnTo>
                    <a:pt x="60" y="161"/>
                  </a:lnTo>
                  <a:lnTo>
                    <a:pt x="44" y="153"/>
                  </a:lnTo>
                  <a:lnTo>
                    <a:pt x="54" y="155"/>
                  </a:lnTo>
                  <a:lnTo>
                    <a:pt x="86" y="161"/>
                  </a:lnTo>
                  <a:lnTo>
                    <a:pt x="118" y="168"/>
                  </a:lnTo>
                  <a:lnTo>
                    <a:pt x="148" y="161"/>
                  </a:lnTo>
                  <a:lnTo>
                    <a:pt x="152" y="150"/>
                  </a:lnTo>
                  <a:lnTo>
                    <a:pt x="140" y="142"/>
                  </a:lnTo>
                  <a:lnTo>
                    <a:pt x="106" y="131"/>
                  </a:lnTo>
                  <a:lnTo>
                    <a:pt x="72" y="120"/>
                  </a:lnTo>
                  <a:lnTo>
                    <a:pt x="52" y="122"/>
                  </a:lnTo>
                  <a:lnTo>
                    <a:pt x="46" y="123"/>
                  </a:lnTo>
                  <a:lnTo>
                    <a:pt x="51" y="117"/>
                  </a:lnTo>
                  <a:lnTo>
                    <a:pt x="43" y="118"/>
                  </a:lnTo>
                  <a:lnTo>
                    <a:pt x="33" y="113"/>
                  </a:lnTo>
                  <a:lnTo>
                    <a:pt x="45" y="112"/>
                  </a:lnTo>
                  <a:lnTo>
                    <a:pt x="31" y="110"/>
                  </a:lnTo>
                  <a:lnTo>
                    <a:pt x="25" y="113"/>
                  </a:lnTo>
                  <a:lnTo>
                    <a:pt x="19" y="111"/>
                  </a:lnTo>
                  <a:lnTo>
                    <a:pt x="19" y="116"/>
                  </a:lnTo>
                  <a:lnTo>
                    <a:pt x="12" y="116"/>
                  </a:lnTo>
                  <a:lnTo>
                    <a:pt x="0" y="123"/>
                  </a:lnTo>
                  <a:lnTo>
                    <a:pt x="0" y="126"/>
                  </a:lnTo>
                  <a:lnTo>
                    <a:pt x="0" y="136"/>
                  </a:lnTo>
                  <a:lnTo>
                    <a:pt x="18" y="146"/>
                  </a:lnTo>
                  <a:lnTo>
                    <a:pt x="10" y="158"/>
                  </a:lnTo>
                  <a:lnTo>
                    <a:pt x="25" y="174"/>
                  </a:lnTo>
                  <a:lnTo>
                    <a:pt x="26" y="189"/>
                  </a:lnTo>
                  <a:lnTo>
                    <a:pt x="31" y="194"/>
                  </a:lnTo>
                  <a:lnTo>
                    <a:pt x="38" y="201"/>
                  </a:lnTo>
                  <a:lnTo>
                    <a:pt x="32" y="206"/>
                  </a:lnTo>
                  <a:lnTo>
                    <a:pt x="55" y="219"/>
                  </a:lnTo>
                  <a:lnTo>
                    <a:pt x="45" y="228"/>
                  </a:lnTo>
                  <a:lnTo>
                    <a:pt x="37" y="238"/>
                  </a:lnTo>
                  <a:lnTo>
                    <a:pt x="27" y="248"/>
                  </a:lnTo>
                  <a:lnTo>
                    <a:pt x="18" y="257"/>
                  </a:lnTo>
                  <a:lnTo>
                    <a:pt x="26" y="257"/>
                  </a:lnTo>
                  <a:lnTo>
                    <a:pt x="25" y="257"/>
                  </a:lnTo>
                  <a:lnTo>
                    <a:pt x="27" y="260"/>
                  </a:lnTo>
                  <a:lnTo>
                    <a:pt x="50" y="267"/>
                  </a:lnTo>
                  <a:lnTo>
                    <a:pt x="36" y="266"/>
                  </a:lnTo>
                  <a:lnTo>
                    <a:pt x="25" y="272"/>
                  </a:lnTo>
                  <a:lnTo>
                    <a:pt x="21" y="276"/>
                  </a:lnTo>
                  <a:lnTo>
                    <a:pt x="25" y="291"/>
                  </a:lnTo>
                  <a:lnTo>
                    <a:pt x="19" y="302"/>
                  </a:lnTo>
                  <a:lnTo>
                    <a:pt x="27" y="314"/>
                  </a:lnTo>
                  <a:lnTo>
                    <a:pt x="37" y="333"/>
                  </a:lnTo>
                  <a:lnTo>
                    <a:pt x="57" y="336"/>
                  </a:lnTo>
                  <a:lnTo>
                    <a:pt x="79" y="340"/>
                  </a:lnTo>
                  <a:lnTo>
                    <a:pt x="81" y="359"/>
                  </a:lnTo>
                  <a:lnTo>
                    <a:pt x="99" y="375"/>
                  </a:lnTo>
                  <a:lnTo>
                    <a:pt x="94" y="380"/>
                  </a:lnTo>
                  <a:lnTo>
                    <a:pt x="98" y="395"/>
                  </a:lnTo>
                  <a:lnTo>
                    <a:pt x="109" y="392"/>
                  </a:lnTo>
                  <a:lnTo>
                    <a:pt x="132" y="394"/>
                  </a:lnTo>
                  <a:lnTo>
                    <a:pt x="134" y="400"/>
                  </a:lnTo>
                  <a:lnTo>
                    <a:pt x="152" y="416"/>
                  </a:lnTo>
                  <a:lnTo>
                    <a:pt x="170" y="431"/>
                  </a:lnTo>
                  <a:lnTo>
                    <a:pt x="180" y="430"/>
                  </a:lnTo>
                  <a:lnTo>
                    <a:pt x="200" y="436"/>
                  </a:lnTo>
                  <a:lnTo>
                    <a:pt x="222" y="443"/>
                  </a:lnTo>
                  <a:lnTo>
                    <a:pt x="230" y="467"/>
                  </a:lnTo>
                  <a:lnTo>
                    <a:pt x="219" y="473"/>
                  </a:lnTo>
                  <a:lnTo>
                    <a:pt x="214" y="483"/>
                  </a:lnTo>
                  <a:lnTo>
                    <a:pt x="217" y="486"/>
                  </a:lnTo>
                  <a:lnTo>
                    <a:pt x="206" y="492"/>
                  </a:lnTo>
                  <a:lnTo>
                    <a:pt x="199" y="495"/>
                  </a:lnTo>
                  <a:lnTo>
                    <a:pt x="211" y="504"/>
                  </a:lnTo>
                  <a:lnTo>
                    <a:pt x="206" y="503"/>
                  </a:lnTo>
                  <a:lnTo>
                    <a:pt x="205" y="509"/>
                  </a:lnTo>
                  <a:lnTo>
                    <a:pt x="202" y="504"/>
                  </a:lnTo>
                  <a:lnTo>
                    <a:pt x="201" y="515"/>
                  </a:lnTo>
                  <a:lnTo>
                    <a:pt x="189" y="516"/>
                  </a:lnTo>
                  <a:lnTo>
                    <a:pt x="186" y="520"/>
                  </a:lnTo>
                  <a:lnTo>
                    <a:pt x="207" y="531"/>
                  </a:lnTo>
                  <a:lnTo>
                    <a:pt x="229" y="543"/>
                  </a:lnTo>
                  <a:lnTo>
                    <a:pt x="230" y="540"/>
                  </a:lnTo>
                  <a:lnTo>
                    <a:pt x="246" y="542"/>
                  </a:lnTo>
                  <a:lnTo>
                    <a:pt x="262" y="543"/>
                  </a:lnTo>
                  <a:lnTo>
                    <a:pt x="284" y="552"/>
                  </a:lnTo>
                  <a:lnTo>
                    <a:pt x="306" y="561"/>
                  </a:lnTo>
                  <a:lnTo>
                    <a:pt x="327" y="569"/>
                  </a:lnTo>
                  <a:lnTo>
                    <a:pt x="349" y="578"/>
                  </a:lnTo>
                  <a:lnTo>
                    <a:pt x="373" y="582"/>
                  </a:lnTo>
                  <a:lnTo>
                    <a:pt x="361" y="568"/>
                  </a:lnTo>
                  <a:lnTo>
                    <a:pt x="348" y="555"/>
                  </a:lnTo>
                  <a:lnTo>
                    <a:pt x="346" y="543"/>
                  </a:lnTo>
                  <a:lnTo>
                    <a:pt x="345" y="548"/>
                  </a:lnTo>
                  <a:lnTo>
                    <a:pt x="337" y="534"/>
                  </a:lnTo>
                  <a:lnTo>
                    <a:pt x="332" y="530"/>
                  </a:lnTo>
                  <a:lnTo>
                    <a:pt x="339" y="512"/>
                  </a:lnTo>
                  <a:lnTo>
                    <a:pt x="355" y="506"/>
                  </a:lnTo>
                  <a:lnTo>
                    <a:pt x="362" y="501"/>
                  </a:lnTo>
                  <a:lnTo>
                    <a:pt x="360" y="497"/>
                  </a:lnTo>
                  <a:lnTo>
                    <a:pt x="349" y="480"/>
                  </a:lnTo>
                  <a:lnTo>
                    <a:pt x="332" y="467"/>
                  </a:lnTo>
                  <a:lnTo>
                    <a:pt x="315" y="454"/>
                  </a:lnTo>
                  <a:lnTo>
                    <a:pt x="318" y="435"/>
                  </a:lnTo>
                  <a:lnTo>
                    <a:pt x="320" y="416"/>
                  </a:lnTo>
                  <a:lnTo>
                    <a:pt x="337" y="423"/>
                  </a:lnTo>
                  <a:lnTo>
                    <a:pt x="339" y="416"/>
                  </a:lnTo>
                  <a:lnTo>
                    <a:pt x="350" y="407"/>
                  </a:lnTo>
                  <a:lnTo>
                    <a:pt x="361" y="400"/>
                  </a:lnTo>
                  <a:lnTo>
                    <a:pt x="380" y="399"/>
                  </a:lnTo>
                  <a:lnTo>
                    <a:pt x="399" y="407"/>
                  </a:lnTo>
                  <a:lnTo>
                    <a:pt x="418" y="416"/>
                  </a:lnTo>
                  <a:lnTo>
                    <a:pt x="439" y="414"/>
                  </a:lnTo>
                  <a:lnTo>
                    <a:pt x="466" y="414"/>
                  </a:lnTo>
                  <a:lnTo>
                    <a:pt x="493" y="418"/>
                  </a:lnTo>
                  <a:lnTo>
                    <a:pt x="495" y="413"/>
                  </a:lnTo>
                  <a:lnTo>
                    <a:pt x="481" y="396"/>
                  </a:lnTo>
                  <a:lnTo>
                    <a:pt x="487" y="376"/>
                  </a:lnTo>
                  <a:lnTo>
                    <a:pt x="500" y="377"/>
                  </a:lnTo>
                  <a:lnTo>
                    <a:pt x="483" y="369"/>
                  </a:lnTo>
                  <a:lnTo>
                    <a:pt x="501" y="365"/>
                  </a:lnTo>
                  <a:lnTo>
                    <a:pt x="519" y="363"/>
                  </a:lnTo>
                  <a:lnTo>
                    <a:pt x="536" y="358"/>
                  </a:lnTo>
                  <a:lnTo>
                    <a:pt x="553" y="353"/>
                  </a:lnTo>
                  <a:lnTo>
                    <a:pt x="568" y="348"/>
                  </a:lnTo>
                  <a:lnTo>
                    <a:pt x="585" y="344"/>
                  </a:lnTo>
                  <a:lnTo>
                    <a:pt x="598" y="342"/>
                  </a:lnTo>
                  <a:lnTo>
                    <a:pt x="608" y="353"/>
                  </a:lnTo>
                  <a:lnTo>
                    <a:pt x="634" y="363"/>
                  </a:lnTo>
                  <a:lnTo>
                    <a:pt x="645" y="368"/>
                  </a:lnTo>
                  <a:lnTo>
                    <a:pt x="656" y="370"/>
                  </a:lnTo>
                  <a:lnTo>
                    <a:pt x="674" y="363"/>
                  </a:lnTo>
                  <a:lnTo>
                    <a:pt x="691" y="357"/>
                  </a:lnTo>
                  <a:lnTo>
                    <a:pt x="694" y="359"/>
                  </a:lnTo>
                  <a:lnTo>
                    <a:pt x="692" y="368"/>
                  </a:lnTo>
                  <a:lnTo>
                    <a:pt x="711" y="381"/>
                  </a:lnTo>
                  <a:lnTo>
                    <a:pt x="729" y="393"/>
                  </a:lnTo>
                  <a:lnTo>
                    <a:pt x="748" y="406"/>
                  </a:lnTo>
                  <a:lnTo>
                    <a:pt x="768" y="419"/>
                  </a:lnTo>
                  <a:lnTo>
                    <a:pt x="771" y="414"/>
                  </a:lnTo>
                  <a:lnTo>
                    <a:pt x="781" y="418"/>
                  </a:lnTo>
                  <a:lnTo>
                    <a:pt x="799" y="416"/>
                  </a:lnTo>
                  <a:lnTo>
                    <a:pt x="818" y="428"/>
                  </a:lnTo>
                  <a:lnTo>
                    <a:pt x="837" y="438"/>
                  </a:lnTo>
                  <a:lnTo>
                    <a:pt x="855" y="435"/>
                  </a:lnTo>
                  <a:lnTo>
                    <a:pt x="872" y="452"/>
                  </a:lnTo>
                  <a:lnTo>
                    <a:pt x="883" y="450"/>
                  </a:lnTo>
                  <a:lnTo>
                    <a:pt x="890" y="444"/>
                  </a:lnTo>
                  <a:lnTo>
                    <a:pt x="902" y="438"/>
                  </a:lnTo>
                  <a:lnTo>
                    <a:pt x="916" y="431"/>
                  </a:lnTo>
                  <a:lnTo>
                    <a:pt x="930" y="423"/>
                  </a:lnTo>
                  <a:lnTo>
                    <a:pt x="958" y="425"/>
                  </a:lnTo>
                  <a:lnTo>
                    <a:pt x="963" y="431"/>
                  </a:lnTo>
                  <a:lnTo>
                    <a:pt x="985" y="435"/>
                  </a:lnTo>
                  <a:lnTo>
                    <a:pt x="1005" y="438"/>
                  </a:lnTo>
                  <a:lnTo>
                    <a:pt x="1016" y="430"/>
                  </a:lnTo>
                  <a:lnTo>
                    <a:pt x="1003" y="418"/>
                  </a:lnTo>
                  <a:lnTo>
                    <a:pt x="1006" y="400"/>
                  </a:lnTo>
                  <a:lnTo>
                    <a:pt x="1030" y="406"/>
                  </a:lnTo>
                  <a:lnTo>
                    <a:pt x="1054" y="411"/>
                  </a:lnTo>
                  <a:lnTo>
                    <a:pt x="1065" y="422"/>
                  </a:lnTo>
                  <a:lnTo>
                    <a:pt x="1087" y="432"/>
                  </a:lnTo>
                  <a:lnTo>
                    <a:pt x="1111" y="428"/>
                  </a:lnTo>
                  <a:lnTo>
                    <a:pt x="1130" y="431"/>
                  </a:lnTo>
                  <a:lnTo>
                    <a:pt x="1150" y="436"/>
                  </a:lnTo>
                  <a:lnTo>
                    <a:pt x="1158" y="442"/>
                  </a:lnTo>
                  <a:lnTo>
                    <a:pt x="1186" y="449"/>
                  </a:lnTo>
                  <a:lnTo>
                    <a:pt x="1203" y="447"/>
                  </a:lnTo>
                  <a:lnTo>
                    <a:pt x="1220" y="443"/>
                  </a:lnTo>
                  <a:lnTo>
                    <a:pt x="1236" y="431"/>
                  </a:lnTo>
                  <a:lnTo>
                    <a:pt x="1262" y="437"/>
                  </a:lnTo>
                  <a:lnTo>
                    <a:pt x="1275" y="438"/>
                  </a:lnTo>
                  <a:lnTo>
                    <a:pt x="1296" y="442"/>
                  </a:lnTo>
                  <a:lnTo>
                    <a:pt x="1306" y="431"/>
                  </a:lnTo>
                  <a:lnTo>
                    <a:pt x="1302" y="418"/>
                  </a:lnTo>
                  <a:lnTo>
                    <a:pt x="1300" y="398"/>
                  </a:lnTo>
                  <a:lnTo>
                    <a:pt x="1291" y="390"/>
                  </a:lnTo>
                  <a:lnTo>
                    <a:pt x="1285" y="388"/>
                  </a:lnTo>
                  <a:lnTo>
                    <a:pt x="1294" y="378"/>
                  </a:lnTo>
                  <a:lnTo>
                    <a:pt x="1312" y="377"/>
                  </a:lnTo>
                  <a:lnTo>
                    <a:pt x="1330" y="377"/>
                  </a:lnTo>
                  <a:lnTo>
                    <a:pt x="1365" y="388"/>
                  </a:lnTo>
                  <a:lnTo>
                    <a:pt x="1380" y="401"/>
                  </a:lnTo>
                  <a:lnTo>
                    <a:pt x="1394" y="413"/>
                  </a:lnTo>
                  <a:lnTo>
                    <a:pt x="1408" y="425"/>
                  </a:lnTo>
                  <a:lnTo>
                    <a:pt x="1423" y="437"/>
                  </a:lnTo>
                  <a:lnTo>
                    <a:pt x="1438" y="443"/>
                  </a:lnTo>
                  <a:lnTo>
                    <a:pt x="1464" y="450"/>
                  </a:lnTo>
                  <a:lnTo>
                    <a:pt x="1479" y="456"/>
                  </a:lnTo>
                  <a:lnTo>
                    <a:pt x="1497" y="476"/>
                  </a:lnTo>
                  <a:lnTo>
                    <a:pt x="1519" y="473"/>
                  </a:lnTo>
                  <a:lnTo>
                    <a:pt x="1540" y="465"/>
                  </a:lnTo>
                  <a:lnTo>
                    <a:pt x="1549" y="480"/>
                  </a:lnTo>
                  <a:lnTo>
                    <a:pt x="1551" y="501"/>
                  </a:lnTo>
                  <a:lnTo>
                    <a:pt x="1555" y="522"/>
                  </a:lnTo>
                  <a:lnTo>
                    <a:pt x="1536" y="519"/>
                  </a:lnTo>
                  <a:lnTo>
                    <a:pt x="1533" y="528"/>
                  </a:lnTo>
                  <a:lnTo>
                    <a:pt x="1543" y="544"/>
                  </a:lnTo>
                  <a:lnTo>
                    <a:pt x="1552" y="560"/>
                  </a:lnTo>
                  <a:lnTo>
                    <a:pt x="1546" y="564"/>
                  </a:lnTo>
                  <a:lnTo>
                    <a:pt x="1550" y="569"/>
                  </a:lnTo>
                  <a:lnTo>
                    <a:pt x="1554" y="572"/>
                  </a:lnTo>
                  <a:lnTo>
                    <a:pt x="1551" y="566"/>
                  </a:lnTo>
                  <a:lnTo>
                    <a:pt x="1554" y="566"/>
                  </a:lnTo>
                  <a:lnTo>
                    <a:pt x="1561" y="555"/>
                  </a:lnTo>
                  <a:lnTo>
                    <a:pt x="1566" y="554"/>
                  </a:lnTo>
                  <a:lnTo>
                    <a:pt x="1570" y="561"/>
                  </a:lnTo>
                  <a:lnTo>
                    <a:pt x="1581" y="562"/>
                  </a:lnTo>
                  <a:lnTo>
                    <a:pt x="1598" y="556"/>
                  </a:lnTo>
                  <a:lnTo>
                    <a:pt x="1603" y="544"/>
                  </a:lnTo>
                  <a:lnTo>
                    <a:pt x="1608" y="532"/>
                  </a:lnTo>
                  <a:lnTo>
                    <a:pt x="1610" y="515"/>
                  </a:lnTo>
                  <a:lnTo>
                    <a:pt x="1611" y="498"/>
                  </a:lnTo>
                  <a:lnTo>
                    <a:pt x="1614" y="482"/>
                  </a:lnTo>
                  <a:lnTo>
                    <a:pt x="1615" y="465"/>
                  </a:lnTo>
                  <a:lnTo>
                    <a:pt x="1608" y="450"/>
                  </a:lnTo>
                  <a:lnTo>
                    <a:pt x="1600" y="436"/>
                  </a:lnTo>
                  <a:lnTo>
                    <a:pt x="1592" y="426"/>
                  </a:lnTo>
                  <a:lnTo>
                    <a:pt x="1588" y="414"/>
                  </a:lnTo>
                  <a:lnTo>
                    <a:pt x="1584" y="404"/>
                  </a:lnTo>
                  <a:lnTo>
                    <a:pt x="1574" y="392"/>
                  </a:lnTo>
                  <a:lnTo>
                    <a:pt x="1558" y="382"/>
                  </a:lnTo>
                  <a:lnTo>
                    <a:pt x="1567" y="382"/>
                  </a:lnTo>
                  <a:lnTo>
                    <a:pt x="1532" y="364"/>
                  </a:lnTo>
                  <a:lnTo>
                    <a:pt x="1514" y="362"/>
                  </a:lnTo>
                  <a:lnTo>
                    <a:pt x="1519" y="369"/>
                  </a:lnTo>
                  <a:lnTo>
                    <a:pt x="1507" y="375"/>
                  </a:lnTo>
                  <a:lnTo>
                    <a:pt x="1507" y="369"/>
                  </a:lnTo>
                  <a:lnTo>
                    <a:pt x="1498" y="366"/>
                  </a:lnTo>
                  <a:lnTo>
                    <a:pt x="1497" y="369"/>
                  </a:lnTo>
                  <a:lnTo>
                    <a:pt x="1485" y="358"/>
                  </a:lnTo>
                  <a:lnTo>
                    <a:pt x="1462" y="354"/>
                  </a:lnTo>
                  <a:lnTo>
                    <a:pt x="1467" y="340"/>
                  </a:lnTo>
                  <a:lnTo>
                    <a:pt x="1472" y="324"/>
                  </a:lnTo>
                  <a:lnTo>
                    <a:pt x="1477" y="314"/>
                  </a:lnTo>
                  <a:lnTo>
                    <a:pt x="1480" y="304"/>
                  </a:lnTo>
                  <a:lnTo>
                    <a:pt x="1477" y="296"/>
                  </a:lnTo>
                  <a:lnTo>
                    <a:pt x="1483" y="281"/>
                  </a:lnTo>
                  <a:lnTo>
                    <a:pt x="1500" y="279"/>
                  </a:lnTo>
                  <a:lnTo>
                    <a:pt x="1516" y="275"/>
                  </a:lnTo>
                  <a:lnTo>
                    <a:pt x="1521" y="275"/>
                  </a:lnTo>
                  <a:lnTo>
                    <a:pt x="1528" y="279"/>
                  </a:lnTo>
                  <a:lnTo>
                    <a:pt x="1531" y="276"/>
                  </a:lnTo>
                  <a:lnTo>
                    <a:pt x="1563" y="279"/>
                  </a:lnTo>
                  <a:lnTo>
                    <a:pt x="1563" y="275"/>
                  </a:lnTo>
                  <a:lnTo>
                    <a:pt x="1561" y="272"/>
                  </a:lnTo>
                  <a:lnTo>
                    <a:pt x="1586" y="273"/>
                  </a:lnTo>
                  <a:lnTo>
                    <a:pt x="1605" y="278"/>
                  </a:lnTo>
                  <a:lnTo>
                    <a:pt x="1599" y="280"/>
                  </a:lnTo>
                  <a:lnTo>
                    <a:pt x="1604" y="286"/>
                  </a:lnTo>
                  <a:lnTo>
                    <a:pt x="1617" y="284"/>
                  </a:lnTo>
                  <a:lnTo>
                    <a:pt x="1628" y="280"/>
                  </a:lnTo>
                  <a:lnTo>
                    <a:pt x="1647" y="280"/>
                  </a:lnTo>
                  <a:lnTo>
                    <a:pt x="1644" y="276"/>
                  </a:lnTo>
                  <a:lnTo>
                    <a:pt x="1630" y="275"/>
                  </a:lnTo>
                  <a:lnTo>
                    <a:pt x="1626" y="270"/>
                  </a:lnTo>
                  <a:lnTo>
                    <a:pt x="1626" y="255"/>
                  </a:lnTo>
                  <a:lnTo>
                    <a:pt x="1624" y="238"/>
                  </a:lnTo>
                  <a:lnTo>
                    <a:pt x="1652" y="238"/>
                  </a:lnTo>
                  <a:lnTo>
                    <a:pt x="1658" y="236"/>
                  </a:lnTo>
                  <a:lnTo>
                    <a:pt x="1672" y="251"/>
                  </a:lnTo>
                  <a:lnTo>
                    <a:pt x="1675" y="249"/>
                  </a:lnTo>
                  <a:lnTo>
                    <a:pt x="1683" y="256"/>
                  </a:lnTo>
                  <a:lnTo>
                    <a:pt x="1690" y="240"/>
                  </a:lnTo>
                  <a:lnTo>
                    <a:pt x="1699" y="240"/>
                  </a:lnTo>
                  <a:lnTo>
                    <a:pt x="1684" y="226"/>
                  </a:lnTo>
                  <a:lnTo>
                    <a:pt x="1688" y="224"/>
                  </a:lnTo>
                  <a:lnTo>
                    <a:pt x="1711" y="226"/>
                  </a:lnTo>
                  <a:lnTo>
                    <a:pt x="1713" y="228"/>
                  </a:lnTo>
                  <a:lnTo>
                    <a:pt x="1701" y="228"/>
                  </a:lnTo>
                  <a:lnTo>
                    <a:pt x="1712" y="239"/>
                  </a:lnTo>
                  <a:lnTo>
                    <a:pt x="1722" y="251"/>
                  </a:lnTo>
                  <a:lnTo>
                    <a:pt x="1714" y="256"/>
                  </a:lnTo>
                  <a:lnTo>
                    <a:pt x="1712" y="269"/>
                  </a:lnTo>
                  <a:lnTo>
                    <a:pt x="1708" y="282"/>
                  </a:lnTo>
                  <a:lnTo>
                    <a:pt x="1707" y="299"/>
                  </a:lnTo>
                  <a:lnTo>
                    <a:pt x="1694" y="302"/>
                  </a:lnTo>
                  <a:lnTo>
                    <a:pt x="1700" y="308"/>
                  </a:lnTo>
                  <a:lnTo>
                    <a:pt x="1702" y="318"/>
                  </a:lnTo>
                  <a:lnTo>
                    <a:pt x="1713" y="333"/>
                  </a:lnTo>
                  <a:lnTo>
                    <a:pt x="1725" y="347"/>
                  </a:lnTo>
                  <a:lnTo>
                    <a:pt x="1746" y="365"/>
                  </a:lnTo>
                  <a:lnTo>
                    <a:pt x="1767" y="383"/>
                  </a:lnTo>
                  <a:lnTo>
                    <a:pt x="1788" y="401"/>
                  </a:lnTo>
                  <a:lnTo>
                    <a:pt x="1808" y="418"/>
                  </a:lnTo>
                  <a:lnTo>
                    <a:pt x="1814" y="407"/>
                  </a:lnTo>
                  <a:lnTo>
                    <a:pt x="1802" y="384"/>
                  </a:lnTo>
                  <a:lnTo>
                    <a:pt x="1807" y="381"/>
                  </a:lnTo>
                  <a:lnTo>
                    <a:pt x="1818" y="382"/>
                  </a:lnTo>
                  <a:lnTo>
                    <a:pt x="1814" y="380"/>
                  </a:lnTo>
                  <a:lnTo>
                    <a:pt x="1802" y="363"/>
                  </a:lnTo>
                  <a:lnTo>
                    <a:pt x="1818" y="356"/>
                  </a:lnTo>
                  <a:lnTo>
                    <a:pt x="1796" y="338"/>
                  </a:lnTo>
                  <a:lnTo>
                    <a:pt x="1796" y="328"/>
                  </a:lnTo>
                  <a:lnTo>
                    <a:pt x="1797" y="326"/>
                  </a:lnTo>
                  <a:lnTo>
                    <a:pt x="1797" y="329"/>
                  </a:lnTo>
                  <a:lnTo>
                    <a:pt x="1807" y="333"/>
                  </a:lnTo>
                  <a:lnTo>
                    <a:pt x="1796" y="321"/>
                  </a:lnTo>
                  <a:lnTo>
                    <a:pt x="1789" y="320"/>
                  </a:lnTo>
                  <a:lnTo>
                    <a:pt x="1774" y="302"/>
                  </a:lnTo>
                  <a:lnTo>
                    <a:pt x="1767" y="303"/>
                  </a:lnTo>
                  <a:lnTo>
                    <a:pt x="1754" y="298"/>
                  </a:lnTo>
                  <a:lnTo>
                    <a:pt x="1747" y="280"/>
                  </a:lnTo>
                  <a:lnTo>
                    <a:pt x="1740" y="269"/>
                  </a:lnTo>
                  <a:lnTo>
                    <a:pt x="1748" y="266"/>
                  </a:lnTo>
                  <a:lnTo>
                    <a:pt x="1759" y="269"/>
                  </a:lnTo>
                  <a:lnTo>
                    <a:pt x="1756" y="264"/>
                  </a:lnTo>
                  <a:lnTo>
                    <a:pt x="1762" y="258"/>
                  </a:lnTo>
                  <a:lnTo>
                    <a:pt x="1774" y="269"/>
                  </a:lnTo>
                  <a:lnTo>
                    <a:pt x="1776" y="262"/>
                  </a:lnTo>
                  <a:lnTo>
                    <a:pt x="1798" y="256"/>
                  </a:lnTo>
                  <a:lnTo>
                    <a:pt x="1821" y="266"/>
                  </a:lnTo>
                  <a:lnTo>
                    <a:pt x="1821" y="262"/>
                  </a:lnTo>
                  <a:lnTo>
                    <a:pt x="1827" y="250"/>
                  </a:lnTo>
                  <a:lnTo>
                    <a:pt x="1828" y="249"/>
                  </a:lnTo>
                  <a:lnTo>
                    <a:pt x="1827" y="244"/>
                  </a:lnTo>
                  <a:lnTo>
                    <a:pt x="1830" y="242"/>
                  </a:lnTo>
                  <a:lnTo>
                    <a:pt x="1843" y="233"/>
                  </a:lnTo>
                  <a:lnTo>
                    <a:pt x="1856" y="225"/>
                  </a:lnTo>
                  <a:lnTo>
                    <a:pt x="1849" y="222"/>
                  </a:lnTo>
                  <a:lnTo>
                    <a:pt x="1854" y="222"/>
                  </a:lnTo>
                  <a:lnTo>
                    <a:pt x="1882" y="228"/>
                  </a:lnTo>
                  <a:lnTo>
                    <a:pt x="1884" y="225"/>
                  </a:lnTo>
                  <a:lnTo>
                    <a:pt x="1870" y="218"/>
                  </a:lnTo>
                  <a:lnTo>
                    <a:pt x="1856" y="210"/>
                  </a:lnTo>
                  <a:lnTo>
                    <a:pt x="1849" y="208"/>
                  </a:lnTo>
                  <a:lnTo>
                    <a:pt x="1827" y="195"/>
                  </a:lnTo>
                  <a:lnTo>
                    <a:pt x="1826" y="197"/>
                  </a:lnTo>
                  <a:lnTo>
                    <a:pt x="1810" y="189"/>
                  </a:lnTo>
                  <a:lnTo>
                    <a:pt x="1820" y="190"/>
                  </a:lnTo>
                  <a:lnTo>
                    <a:pt x="1833" y="189"/>
                  </a:lnTo>
                  <a:lnTo>
                    <a:pt x="1810" y="172"/>
                  </a:lnTo>
                  <a:lnTo>
                    <a:pt x="1788" y="156"/>
                  </a:lnTo>
                  <a:lnTo>
                    <a:pt x="1765" y="140"/>
                  </a:lnTo>
                  <a:lnTo>
                    <a:pt x="1741" y="1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2" name="Freeform 351"/>
            <p:cNvSpPr>
              <a:spLocks/>
            </p:cNvSpPr>
            <p:nvPr/>
          </p:nvSpPr>
          <p:spPr bwMode="auto">
            <a:xfrm>
              <a:off x="134" y="1368"/>
              <a:ext cx="151" cy="80"/>
            </a:xfrm>
            <a:custGeom>
              <a:avLst/>
              <a:gdLst/>
              <a:ahLst/>
              <a:cxnLst>
                <a:cxn ang="0">
                  <a:pos x="136" y="43"/>
                </a:cxn>
                <a:cxn ang="0">
                  <a:pos x="132" y="37"/>
                </a:cxn>
                <a:cxn ang="0">
                  <a:pos x="125" y="30"/>
                </a:cxn>
                <a:cxn ang="0">
                  <a:pos x="118" y="29"/>
                </a:cxn>
                <a:cxn ang="0">
                  <a:pos x="118" y="31"/>
                </a:cxn>
                <a:cxn ang="0">
                  <a:pos x="114" y="29"/>
                </a:cxn>
                <a:cxn ang="0">
                  <a:pos x="102" y="30"/>
                </a:cxn>
                <a:cxn ang="0">
                  <a:pos x="94" y="36"/>
                </a:cxn>
                <a:cxn ang="0">
                  <a:pos x="93" y="40"/>
                </a:cxn>
                <a:cxn ang="0">
                  <a:pos x="87" y="40"/>
                </a:cxn>
                <a:cxn ang="0">
                  <a:pos x="92" y="34"/>
                </a:cxn>
                <a:cxn ang="0">
                  <a:pos x="101" y="24"/>
                </a:cxn>
                <a:cxn ang="0">
                  <a:pos x="101" y="16"/>
                </a:cxn>
                <a:cxn ang="0">
                  <a:pos x="90" y="6"/>
                </a:cxn>
                <a:cxn ang="0">
                  <a:pos x="90" y="9"/>
                </a:cxn>
                <a:cxn ang="0">
                  <a:pos x="83" y="0"/>
                </a:cxn>
                <a:cxn ang="0">
                  <a:pos x="63" y="15"/>
                </a:cxn>
                <a:cxn ang="0">
                  <a:pos x="41" y="28"/>
                </a:cxn>
                <a:cxn ang="0">
                  <a:pos x="21" y="42"/>
                </a:cxn>
                <a:cxn ang="0">
                  <a:pos x="0" y="57"/>
                </a:cxn>
                <a:cxn ang="0">
                  <a:pos x="10" y="48"/>
                </a:cxn>
                <a:cxn ang="0">
                  <a:pos x="20" y="43"/>
                </a:cxn>
                <a:cxn ang="0">
                  <a:pos x="26" y="42"/>
                </a:cxn>
                <a:cxn ang="0">
                  <a:pos x="32" y="39"/>
                </a:cxn>
                <a:cxn ang="0">
                  <a:pos x="32" y="42"/>
                </a:cxn>
                <a:cxn ang="0">
                  <a:pos x="35" y="41"/>
                </a:cxn>
                <a:cxn ang="0">
                  <a:pos x="23" y="47"/>
                </a:cxn>
                <a:cxn ang="0">
                  <a:pos x="22" y="53"/>
                </a:cxn>
                <a:cxn ang="0">
                  <a:pos x="46" y="53"/>
                </a:cxn>
                <a:cxn ang="0">
                  <a:pos x="39" y="64"/>
                </a:cxn>
                <a:cxn ang="0">
                  <a:pos x="50" y="67"/>
                </a:cxn>
                <a:cxn ang="0">
                  <a:pos x="58" y="69"/>
                </a:cxn>
                <a:cxn ang="0">
                  <a:pos x="54" y="72"/>
                </a:cxn>
                <a:cxn ang="0">
                  <a:pos x="64" y="70"/>
                </a:cxn>
                <a:cxn ang="0">
                  <a:pos x="70" y="67"/>
                </a:cxn>
                <a:cxn ang="0">
                  <a:pos x="69" y="65"/>
                </a:cxn>
                <a:cxn ang="0">
                  <a:pos x="86" y="57"/>
                </a:cxn>
                <a:cxn ang="0">
                  <a:pos x="92" y="54"/>
                </a:cxn>
                <a:cxn ang="0">
                  <a:pos x="94" y="49"/>
                </a:cxn>
                <a:cxn ang="0">
                  <a:pos x="95" y="53"/>
                </a:cxn>
                <a:cxn ang="0">
                  <a:pos x="104" y="52"/>
                </a:cxn>
                <a:cxn ang="0">
                  <a:pos x="108" y="49"/>
                </a:cxn>
                <a:cxn ang="0">
                  <a:pos x="119" y="49"/>
                </a:cxn>
                <a:cxn ang="0">
                  <a:pos x="136" y="43"/>
                </a:cxn>
              </a:cxnLst>
              <a:rect l="0" t="0" r="r" b="b"/>
              <a:pathLst>
                <a:path w="136" h="72">
                  <a:moveTo>
                    <a:pt x="136" y="43"/>
                  </a:moveTo>
                  <a:lnTo>
                    <a:pt x="132" y="37"/>
                  </a:lnTo>
                  <a:lnTo>
                    <a:pt x="125" y="30"/>
                  </a:lnTo>
                  <a:lnTo>
                    <a:pt x="118" y="29"/>
                  </a:lnTo>
                  <a:lnTo>
                    <a:pt x="118" y="31"/>
                  </a:lnTo>
                  <a:lnTo>
                    <a:pt x="114" y="29"/>
                  </a:lnTo>
                  <a:lnTo>
                    <a:pt x="102" y="30"/>
                  </a:lnTo>
                  <a:lnTo>
                    <a:pt x="94" y="36"/>
                  </a:lnTo>
                  <a:lnTo>
                    <a:pt x="93" y="40"/>
                  </a:lnTo>
                  <a:lnTo>
                    <a:pt x="87" y="40"/>
                  </a:lnTo>
                  <a:lnTo>
                    <a:pt x="92" y="34"/>
                  </a:lnTo>
                  <a:lnTo>
                    <a:pt x="101" y="24"/>
                  </a:lnTo>
                  <a:lnTo>
                    <a:pt x="101" y="16"/>
                  </a:lnTo>
                  <a:lnTo>
                    <a:pt x="90" y="6"/>
                  </a:lnTo>
                  <a:lnTo>
                    <a:pt x="90" y="9"/>
                  </a:lnTo>
                  <a:lnTo>
                    <a:pt x="83" y="0"/>
                  </a:lnTo>
                  <a:lnTo>
                    <a:pt x="63" y="15"/>
                  </a:lnTo>
                  <a:lnTo>
                    <a:pt x="41" y="28"/>
                  </a:lnTo>
                  <a:lnTo>
                    <a:pt x="21" y="42"/>
                  </a:lnTo>
                  <a:lnTo>
                    <a:pt x="0" y="57"/>
                  </a:lnTo>
                  <a:lnTo>
                    <a:pt x="10" y="48"/>
                  </a:lnTo>
                  <a:lnTo>
                    <a:pt x="20" y="43"/>
                  </a:lnTo>
                  <a:lnTo>
                    <a:pt x="26" y="42"/>
                  </a:lnTo>
                  <a:lnTo>
                    <a:pt x="32" y="39"/>
                  </a:lnTo>
                  <a:lnTo>
                    <a:pt x="32" y="42"/>
                  </a:lnTo>
                  <a:lnTo>
                    <a:pt x="35" y="41"/>
                  </a:lnTo>
                  <a:lnTo>
                    <a:pt x="23" y="47"/>
                  </a:lnTo>
                  <a:lnTo>
                    <a:pt x="22" y="53"/>
                  </a:lnTo>
                  <a:lnTo>
                    <a:pt x="46" y="53"/>
                  </a:lnTo>
                  <a:lnTo>
                    <a:pt x="39" y="64"/>
                  </a:lnTo>
                  <a:lnTo>
                    <a:pt x="50" y="67"/>
                  </a:lnTo>
                  <a:lnTo>
                    <a:pt x="58" y="69"/>
                  </a:lnTo>
                  <a:lnTo>
                    <a:pt x="54" y="72"/>
                  </a:lnTo>
                  <a:lnTo>
                    <a:pt x="64" y="70"/>
                  </a:lnTo>
                  <a:lnTo>
                    <a:pt x="70" y="67"/>
                  </a:lnTo>
                  <a:lnTo>
                    <a:pt x="69" y="65"/>
                  </a:lnTo>
                  <a:lnTo>
                    <a:pt x="86" y="57"/>
                  </a:lnTo>
                  <a:lnTo>
                    <a:pt x="92" y="54"/>
                  </a:lnTo>
                  <a:lnTo>
                    <a:pt x="94" y="49"/>
                  </a:lnTo>
                  <a:lnTo>
                    <a:pt x="95" y="53"/>
                  </a:lnTo>
                  <a:lnTo>
                    <a:pt x="104" y="52"/>
                  </a:lnTo>
                  <a:lnTo>
                    <a:pt x="108" y="49"/>
                  </a:lnTo>
                  <a:lnTo>
                    <a:pt x="119" y="49"/>
                  </a:lnTo>
                  <a:lnTo>
                    <a:pt x="136" y="4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3" name="Freeform 352"/>
            <p:cNvSpPr>
              <a:spLocks/>
            </p:cNvSpPr>
            <p:nvPr/>
          </p:nvSpPr>
          <p:spPr bwMode="auto">
            <a:xfrm>
              <a:off x="4637" y="1628"/>
              <a:ext cx="145" cy="162"/>
            </a:xfrm>
            <a:custGeom>
              <a:avLst/>
              <a:gdLst/>
              <a:ahLst/>
              <a:cxnLst>
                <a:cxn ang="0">
                  <a:pos x="115" y="101"/>
                </a:cxn>
                <a:cxn ang="0">
                  <a:pos x="98" y="85"/>
                </a:cxn>
                <a:cxn ang="0">
                  <a:pos x="80" y="70"/>
                </a:cxn>
                <a:cxn ang="0">
                  <a:pos x="62" y="55"/>
                </a:cxn>
                <a:cxn ang="0">
                  <a:pos x="43" y="40"/>
                </a:cxn>
                <a:cxn ang="0">
                  <a:pos x="40" y="34"/>
                </a:cxn>
                <a:cxn ang="0">
                  <a:pos x="22" y="17"/>
                </a:cxn>
                <a:cxn ang="0">
                  <a:pos x="4" y="0"/>
                </a:cxn>
                <a:cxn ang="0">
                  <a:pos x="0" y="3"/>
                </a:cxn>
                <a:cxn ang="0">
                  <a:pos x="13" y="12"/>
                </a:cxn>
                <a:cxn ang="0">
                  <a:pos x="13" y="18"/>
                </a:cxn>
                <a:cxn ang="0">
                  <a:pos x="6" y="18"/>
                </a:cxn>
                <a:cxn ang="0">
                  <a:pos x="20" y="34"/>
                </a:cxn>
                <a:cxn ang="0">
                  <a:pos x="35" y="49"/>
                </a:cxn>
                <a:cxn ang="0">
                  <a:pos x="49" y="64"/>
                </a:cxn>
                <a:cxn ang="0">
                  <a:pos x="62" y="81"/>
                </a:cxn>
                <a:cxn ang="0">
                  <a:pos x="73" y="99"/>
                </a:cxn>
                <a:cxn ang="0">
                  <a:pos x="85" y="113"/>
                </a:cxn>
                <a:cxn ang="0">
                  <a:pos x="97" y="127"/>
                </a:cxn>
                <a:cxn ang="0">
                  <a:pos x="109" y="145"/>
                </a:cxn>
                <a:cxn ang="0">
                  <a:pos x="113" y="145"/>
                </a:cxn>
                <a:cxn ang="0">
                  <a:pos x="112" y="133"/>
                </a:cxn>
                <a:cxn ang="0">
                  <a:pos x="125" y="139"/>
                </a:cxn>
                <a:cxn ang="0">
                  <a:pos x="131" y="147"/>
                </a:cxn>
                <a:cxn ang="0">
                  <a:pos x="120" y="133"/>
                </a:cxn>
                <a:cxn ang="0">
                  <a:pos x="92" y="112"/>
                </a:cxn>
                <a:cxn ang="0">
                  <a:pos x="86" y="89"/>
                </a:cxn>
                <a:cxn ang="0">
                  <a:pos x="91" y="89"/>
                </a:cxn>
                <a:cxn ang="0">
                  <a:pos x="108" y="95"/>
                </a:cxn>
                <a:cxn ang="0">
                  <a:pos x="115" y="101"/>
                </a:cxn>
              </a:cxnLst>
              <a:rect l="0" t="0" r="r" b="b"/>
              <a:pathLst>
                <a:path w="131" h="147">
                  <a:moveTo>
                    <a:pt x="115" y="101"/>
                  </a:moveTo>
                  <a:lnTo>
                    <a:pt x="98" y="85"/>
                  </a:lnTo>
                  <a:lnTo>
                    <a:pt x="80" y="70"/>
                  </a:lnTo>
                  <a:lnTo>
                    <a:pt x="62" y="55"/>
                  </a:lnTo>
                  <a:lnTo>
                    <a:pt x="43" y="40"/>
                  </a:lnTo>
                  <a:lnTo>
                    <a:pt x="40" y="34"/>
                  </a:lnTo>
                  <a:lnTo>
                    <a:pt x="22" y="17"/>
                  </a:lnTo>
                  <a:lnTo>
                    <a:pt x="4" y="0"/>
                  </a:lnTo>
                  <a:lnTo>
                    <a:pt x="0" y="3"/>
                  </a:lnTo>
                  <a:lnTo>
                    <a:pt x="13" y="12"/>
                  </a:lnTo>
                  <a:lnTo>
                    <a:pt x="13" y="18"/>
                  </a:lnTo>
                  <a:lnTo>
                    <a:pt x="6" y="18"/>
                  </a:lnTo>
                  <a:lnTo>
                    <a:pt x="20" y="34"/>
                  </a:lnTo>
                  <a:lnTo>
                    <a:pt x="35" y="49"/>
                  </a:lnTo>
                  <a:lnTo>
                    <a:pt x="49" y="64"/>
                  </a:lnTo>
                  <a:lnTo>
                    <a:pt x="62" y="81"/>
                  </a:lnTo>
                  <a:lnTo>
                    <a:pt x="73" y="99"/>
                  </a:lnTo>
                  <a:lnTo>
                    <a:pt x="85" y="113"/>
                  </a:lnTo>
                  <a:lnTo>
                    <a:pt x="97" y="127"/>
                  </a:lnTo>
                  <a:lnTo>
                    <a:pt x="109" y="145"/>
                  </a:lnTo>
                  <a:lnTo>
                    <a:pt x="113" y="145"/>
                  </a:lnTo>
                  <a:lnTo>
                    <a:pt x="112" y="133"/>
                  </a:lnTo>
                  <a:lnTo>
                    <a:pt x="125" y="139"/>
                  </a:lnTo>
                  <a:lnTo>
                    <a:pt x="131" y="147"/>
                  </a:lnTo>
                  <a:lnTo>
                    <a:pt x="120" y="133"/>
                  </a:lnTo>
                  <a:lnTo>
                    <a:pt x="92" y="112"/>
                  </a:lnTo>
                  <a:lnTo>
                    <a:pt x="86" y="89"/>
                  </a:lnTo>
                  <a:lnTo>
                    <a:pt x="91" y="89"/>
                  </a:lnTo>
                  <a:lnTo>
                    <a:pt x="108" y="95"/>
                  </a:lnTo>
                  <a:lnTo>
                    <a:pt x="115" y="10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4" name="Freeform 353"/>
            <p:cNvSpPr>
              <a:spLocks/>
            </p:cNvSpPr>
            <p:nvPr/>
          </p:nvSpPr>
          <p:spPr bwMode="auto">
            <a:xfrm>
              <a:off x="3180" y="1239"/>
              <a:ext cx="149" cy="55"/>
            </a:xfrm>
            <a:custGeom>
              <a:avLst/>
              <a:gdLst/>
              <a:ahLst/>
              <a:cxnLst>
                <a:cxn ang="0">
                  <a:pos x="135" y="4"/>
                </a:cxn>
                <a:cxn ang="0">
                  <a:pos x="125" y="10"/>
                </a:cxn>
                <a:cxn ang="0">
                  <a:pos x="95" y="17"/>
                </a:cxn>
                <a:cxn ang="0">
                  <a:pos x="65" y="24"/>
                </a:cxn>
                <a:cxn ang="0">
                  <a:pos x="58" y="25"/>
                </a:cxn>
                <a:cxn ang="0">
                  <a:pos x="61" y="28"/>
                </a:cxn>
                <a:cxn ang="0">
                  <a:pos x="59" y="30"/>
                </a:cxn>
                <a:cxn ang="0">
                  <a:pos x="53" y="31"/>
                </a:cxn>
                <a:cxn ang="0">
                  <a:pos x="54" y="34"/>
                </a:cxn>
                <a:cxn ang="0">
                  <a:pos x="42" y="32"/>
                </a:cxn>
                <a:cxn ang="0">
                  <a:pos x="46" y="37"/>
                </a:cxn>
                <a:cxn ang="0">
                  <a:pos x="41" y="40"/>
                </a:cxn>
                <a:cxn ang="0">
                  <a:pos x="45" y="44"/>
                </a:cxn>
                <a:cxn ang="0">
                  <a:pos x="30" y="42"/>
                </a:cxn>
                <a:cxn ang="0">
                  <a:pos x="43" y="46"/>
                </a:cxn>
                <a:cxn ang="0">
                  <a:pos x="36" y="46"/>
                </a:cxn>
                <a:cxn ang="0">
                  <a:pos x="39" y="50"/>
                </a:cxn>
                <a:cxn ang="0">
                  <a:pos x="7" y="48"/>
                </a:cxn>
                <a:cxn ang="0">
                  <a:pos x="13" y="44"/>
                </a:cxn>
                <a:cxn ang="0">
                  <a:pos x="0" y="44"/>
                </a:cxn>
                <a:cxn ang="0">
                  <a:pos x="13" y="37"/>
                </a:cxn>
                <a:cxn ang="0">
                  <a:pos x="17" y="37"/>
                </a:cxn>
                <a:cxn ang="0">
                  <a:pos x="12" y="35"/>
                </a:cxn>
                <a:cxn ang="0">
                  <a:pos x="15" y="32"/>
                </a:cxn>
                <a:cxn ang="0">
                  <a:pos x="22" y="29"/>
                </a:cxn>
                <a:cxn ang="0">
                  <a:pos x="17" y="28"/>
                </a:cxn>
                <a:cxn ang="0">
                  <a:pos x="19" y="25"/>
                </a:cxn>
                <a:cxn ang="0">
                  <a:pos x="12" y="25"/>
                </a:cxn>
                <a:cxn ang="0">
                  <a:pos x="21" y="22"/>
                </a:cxn>
                <a:cxn ang="0">
                  <a:pos x="28" y="19"/>
                </a:cxn>
                <a:cxn ang="0">
                  <a:pos x="53" y="12"/>
                </a:cxn>
                <a:cxn ang="0">
                  <a:pos x="57" y="10"/>
                </a:cxn>
                <a:cxn ang="0">
                  <a:pos x="103" y="4"/>
                </a:cxn>
                <a:cxn ang="0">
                  <a:pos x="123" y="0"/>
                </a:cxn>
                <a:cxn ang="0">
                  <a:pos x="135" y="4"/>
                </a:cxn>
              </a:cxnLst>
              <a:rect l="0" t="0" r="r" b="b"/>
              <a:pathLst>
                <a:path w="135" h="50">
                  <a:moveTo>
                    <a:pt x="135" y="4"/>
                  </a:moveTo>
                  <a:lnTo>
                    <a:pt x="125" y="10"/>
                  </a:lnTo>
                  <a:lnTo>
                    <a:pt x="95" y="17"/>
                  </a:lnTo>
                  <a:lnTo>
                    <a:pt x="65" y="24"/>
                  </a:lnTo>
                  <a:lnTo>
                    <a:pt x="58" y="25"/>
                  </a:lnTo>
                  <a:lnTo>
                    <a:pt x="61" y="28"/>
                  </a:lnTo>
                  <a:lnTo>
                    <a:pt x="59" y="30"/>
                  </a:lnTo>
                  <a:lnTo>
                    <a:pt x="53" y="31"/>
                  </a:lnTo>
                  <a:lnTo>
                    <a:pt x="54" y="34"/>
                  </a:lnTo>
                  <a:lnTo>
                    <a:pt x="42" y="32"/>
                  </a:lnTo>
                  <a:lnTo>
                    <a:pt x="46" y="37"/>
                  </a:lnTo>
                  <a:lnTo>
                    <a:pt x="41" y="40"/>
                  </a:lnTo>
                  <a:lnTo>
                    <a:pt x="45" y="44"/>
                  </a:lnTo>
                  <a:lnTo>
                    <a:pt x="30" y="42"/>
                  </a:lnTo>
                  <a:lnTo>
                    <a:pt x="43" y="46"/>
                  </a:lnTo>
                  <a:lnTo>
                    <a:pt x="36" y="46"/>
                  </a:lnTo>
                  <a:lnTo>
                    <a:pt x="39" y="50"/>
                  </a:lnTo>
                  <a:lnTo>
                    <a:pt x="7" y="48"/>
                  </a:lnTo>
                  <a:lnTo>
                    <a:pt x="13" y="44"/>
                  </a:lnTo>
                  <a:lnTo>
                    <a:pt x="0" y="44"/>
                  </a:lnTo>
                  <a:lnTo>
                    <a:pt x="13" y="37"/>
                  </a:lnTo>
                  <a:lnTo>
                    <a:pt x="17" y="37"/>
                  </a:lnTo>
                  <a:lnTo>
                    <a:pt x="12" y="35"/>
                  </a:lnTo>
                  <a:lnTo>
                    <a:pt x="15" y="32"/>
                  </a:lnTo>
                  <a:lnTo>
                    <a:pt x="22" y="29"/>
                  </a:lnTo>
                  <a:lnTo>
                    <a:pt x="17" y="28"/>
                  </a:lnTo>
                  <a:lnTo>
                    <a:pt x="19" y="25"/>
                  </a:lnTo>
                  <a:lnTo>
                    <a:pt x="12" y="25"/>
                  </a:lnTo>
                  <a:lnTo>
                    <a:pt x="21" y="22"/>
                  </a:lnTo>
                  <a:lnTo>
                    <a:pt x="28" y="19"/>
                  </a:lnTo>
                  <a:lnTo>
                    <a:pt x="53" y="12"/>
                  </a:lnTo>
                  <a:lnTo>
                    <a:pt x="57" y="10"/>
                  </a:lnTo>
                  <a:lnTo>
                    <a:pt x="103" y="4"/>
                  </a:lnTo>
                  <a:lnTo>
                    <a:pt x="123" y="0"/>
                  </a:lnTo>
                  <a:lnTo>
                    <a:pt x="13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5" name="Freeform 354"/>
            <p:cNvSpPr>
              <a:spLocks/>
            </p:cNvSpPr>
            <p:nvPr/>
          </p:nvSpPr>
          <p:spPr bwMode="auto">
            <a:xfrm>
              <a:off x="3167" y="1294"/>
              <a:ext cx="88" cy="42"/>
            </a:xfrm>
            <a:custGeom>
              <a:avLst/>
              <a:gdLst/>
              <a:ahLst/>
              <a:cxnLst>
                <a:cxn ang="0">
                  <a:pos x="80" y="38"/>
                </a:cxn>
                <a:cxn ang="0">
                  <a:pos x="50" y="26"/>
                </a:cxn>
                <a:cxn ang="0">
                  <a:pos x="41" y="10"/>
                </a:cxn>
                <a:cxn ang="0">
                  <a:pos x="41" y="8"/>
                </a:cxn>
                <a:cxn ang="0">
                  <a:pos x="42" y="5"/>
                </a:cxn>
                <a:cxn ang="0">
                  <a:pos x="45" y="2"/>
                </a:cxn>
                <a:cxn ang="0">
                  <a:pos x="16" y="0"/>
                </a:cxn>
                <a:cxn ang="0">
                  <a:pos x="11" y="5"/>
                </a:cxn>
                <a:cxn ang="0">
                  <a:pos x="8" y="10"/>
                </a:cxn>
                <a:cxn ang="0">
                  <a:pos x="11" y="11"/>
                </a:cxn>
                <a:cxn ang="0">
                  <a:pos x="6" y="18"/>
                </a:cxn>
                <a:cxn ang="0">
                  <a:pos x="0" y="21"/>
                </a:cxn>
                <a:cxn ang="0">
                  <a:pos x="8" y="27"/>
                </a:cxn>
                <a:cxn ang="0">
                  <a:pos x="17" y="27"/>
                </a:cxn>
                <a:cxn ang="0">
                  <a:pos x="24" y="27"/>
                </a:cxn>
                <a:cxn ang="0">
                  <a:pos x="29" y="28"/>
                </a:cxn>
                <a:cxn ang="0">
                  <a:pos x="35" y="33"/>
                </a:cxn>
                <a:cxn ang="0">
                  <a:pos x="34" y="34"/>
                </a:cxn>
                <a:cxn ang="0">
                  <a:pos x="45" y="38"/>
                </a:cxn>
                <a:cxn ang="0">
                  <a:pos x="53" y="38"/>
                </a:cxn>
                <a:cxn ang="0">
                  <a:pos x="64" y="39"/>
                </a:cxn>
                <a:cxn ang="0">
                  <a:pos x="75" y="39"/>
                </a:cxn>
                <a:cxn ang="0">
                  <a:pos x="80" y="38"/>
                </a:cxn>
              </a:cxnLst>
              <a:rect l="0" t="0" r="r" b="b"/>
              <a:pathLst>
                <a:path w="80" h="39">
                  <a:moveTo>
                    <a:pt x="80" y="38"/>
                  </a:moveTo>
                  <a:lnTo>
                    <a:pt x="50" y="26"/>
                  </a:lnTo>
                  <a:lnTo>
                    <a:pt x="41" y="10"/>
                  </a:lnTo>
                  <a:lnTo>
                    <a:pt x="41" y="8"/>
                  </a:lnTo>
                  <a:lnTo>
                    <a:pt x="42" y="5"/>
                  </a:lnTo>
                  <a:lnTo>
                    <a:pt x="45" y="2"/>
                  </a:lnTo>
                  <a:lnTo>
                    <a:pt x="16" y="0"/>
                  </a:lnTo>
                  <a:lnTo>
                    <a:pt x="11" y="5"/>
                  </a:lnTo>
                  <a:lnTo>
                    <a:pt x="8" y="10"/>
                  </a:lnTo>
                  <a:lnTo>
                    <a:pt x="11" y="11"/>
                  </a:lnTo>
                  <a:lnTo>
                    <a:pt x="6" y="18"/>
                  </a:lnTo>
                  <a:lnTo>
                    <a:pt x="0" y="21"/>
                  </a:lnTo>
                  <a:lnTo>
                    <a:pt x="8" y="27"/>
                  </a:lnTo>
                  <a:lnTo>
                    <a:pt x="17" y="27"/>
                  </a:lnTo>
                  <a:lnTo>
                    <a:pt x="24" y="27"/>
                  </a:lnTo>
                  <a:lnTo>
                    <a:pt x="29" y="28"/>
                  </a:lnTo>
                  <a:lnTo>
                    <a:pt x="35" y="33"/>
                  </a:lnTo>
                  <a:lnTo>
                    <a:pt x="34" y="34"/>
                  </a:lnTo>
                  <a:lnTo>
                    <a:pt x="45" y="38"/>
                  </a:lnTo>
                  <a:lnTo>
                    <a:pt x="53" y="38"/>
                  </a:lnTo>
                  <a:lnTo>
                    <a:pt x="64" y="39"/>
                  </a:lnTo>
                  <a:lnTo>
                    <a:pt x="75" y="39"/>
                  </a:lnTo>
                  <a:lnTo>
                    <a:pt x="80"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6" name="Freeform 355"/>
            <p:cNvSpPr>
              <a:spLocks/>
            </p:cNvSpPr>
            <p:nvPr/>
          </p:nvSpPr>
          <p:spPr bwMode="auto">
            <a:xfrm>
              <a:off x="4140" y="1250"/>
              <a:ext cx="102" cy="24"/>
            </a:xfrm>
            <a:custGeom>
              <a:avLst/>
              <a:gdLst/>
              <a:ahLst/>
              <a:cxnLst>
                <a:cxn ang="0">
                  <a:pos x="94" y="9"/>
                </a:cxn>
                <a:cxn ang="0">
                  <a:pos x="35" y="0"/>
                </a:cxn>
                <a:cxn ang="0">
                  <a:pos x="42" y="2"/>
                </a:cxn>
                <a:cxn ang="0">
                  <a:pos x="35" y="2"/>
                </a:cxn>
                <a:cxn ang="0">
                  <a:pos x="41" y="6"/>
                </a:cxn>
                <a:cxn ang="0">
                  <a:pos x="12" y="1"/>
                </a:cxn>
                <a:cxn ang="0">
                  <a:pos x="1" y="4"/>
                </a:cxn>
                <a:cxn ang="0">
                  <a:pos x="0" y="6"/>
                </a:cxn>
                <a:cxn ang="0">
                  <a:pos x="6" y="9"/>
                </a:cxn>
                <a:cxn ang="0">
                  <a:pos x="10" y="12"/>
                </a:cxn>
                <a:cxn ang="0">
                  <a:pos x="46" y="21"/>
                </a:cxn>
                <a:cxn ang="0">
                  <a:pos x="47" y="18"/>
                </a:cxn>
                <a:cxn ang="0">
                  <a:pos x="76" y="16"/>
                </a:cxn>
                <a:cxn ang="0">
                  <a:pos x="89" y="16"/>
                </a:cxn>
                <a:cxn ang="0">
                  <a:pos x="83" y="15"/>
                </a:cxn>
                <a:cxn ang="0">
                  <a:pos x="93" y="13"/>
                </a:cxn>
                <a:cxn ang="0">
                  <a:pos x="94" y="9"/>
                </a:cxn>
              </a:cxnLst>
              <a:rect l="0" t="0" r="r" b="b"/>
              <a:pathLst>
                <a:path w="94" h="21">
                  <a:moveTo>
                    <a:pt x="94" y="9"/>
                  </a:moveTo>
                  <a:lnTo>
                    <a:pt x="35" y="0"/>
                  </a:lnTo>
                  <a:lnTo>
                    <a:pt x="42" y="2"/>
                  </a:lnTo>
                  <a:lnTo>
                    <a:pt x="35" y="2"/>
                  </a:lnTo>
                  <a:lnTo>
                    <a:pt x="41" y="6"/>
                  </a:lnTo>
                  <a:lnTo>
                    <a:pt x="12" y="1"/>
                  </a:lnTo>
                  <a:lnTo>
                    <a:pt x="1" y="4"/>
                  </a:lnTo>
                  <a:lnTo>
                    <a:pt x="0" y="6"/>
                  </a:lnTo>
                  <a:lnTo>
                    <a:pt x="6" y="9"/>
                  </a:lnTo>
                  <a:lnTo>
                    <a:pt x="10" y="12"/>
                  </a:lnTo>
                  <a:lnTo>
                    <a:pt x="46" y="21"/>
                  </a:lnTo>
                  <a:lnTo>
                    <a:pt x="47" y="18"/>
                  </a:lnTo>
                  <a:lnTo>
                    <a:pt x="76" y="16"/>
                  </a:lnTo>
                  <a:lnTo>
                    <a:pt x="89" y="16"/>
                  </a:lnTo>
                  <a:lnTo>
                    <a:pt x="83" y="15"/>
                  </a:lnTo>
                  <a:lnTo>
                    <a:pt x="93" y="13"/>
                  </a:lnTo>
                  <a:lnTo>
                    <a:pt x="94"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7" name="Freeform 356"/>
            <p:cNvSpPr>
              <a:spLocks/>
            </p:cNvSpPr>
            <p:nvPr/>
          </p:nvSpPr>
          <p:spPr bwMode="auto">
            <a:xfrm>
              <a:off x="3562" y="1192"/>
              <a:ext cx="80" cy="18"/>
            </a:xfrm>
            <a:custGeom>
              <a:avLst/>
              <a:gdLst/>
              <a:ahLst/>
              <a:cxnLst>
                <a:cxn ang="0">
                  <a:pos x="61" y="5"/>
                </a:cxn>
                <a:cxn ang="0">
                  <a:pos x="43" y="2"/>
                </a:cxn>
                <a:cxn ang="0">
                  <a:pos x="36" y="4"/>
                </a:cxn>
                <a:cxn ang="0">
                  <a:pos x="30" y="0"/>
                </a:cxn>
                <a:cxn ang="0">
                  <a:pos x="3" y="2"/>
                </a:cxn>
                <a:cxn ang="0">
                  <a:pos x="0" y="8"/>
                </a:cxn>
                <a:cxn ang="0">
                  <a:pos x="9" y="8"/>
                </a:cxn>
                <a:cxn ang="0">
                  <a:pos x="24" y="14"/>
                </a:cxn>
                <a:cxn ang="0">
                  <a:pos x="72" y="17"/>
                </a:cxn>
                <a:cxn ang="0">
                  <a:pos x="67" y="12"/>
                </a:cxn>
                <a:cxn ang="0">
                  <a:pos x="61" y="5"/>
                </a:cxn>
              </a:cxnLst>
              <a:rect l="0" t="0" r="r" b="b"/>
              <a:pathLst>
                <a:path w="72" h="17">
                  <a:moveTo>
                    <a:pt x="61" y="5"/>
                  </a:moveTo>
                  <a:lnTo>
                    <a:pt x="43" y="2"/>
                  </a:lnTo>
                  <a:lnTo>
                    <a:pt x="36" y="4"/>
                  </a:lnTo>
                  <a:lnTo>
                    <a:pt x="30" y="0"/>
                  </a:lnTo>
                  <a:lnTo>
                    <a:pt x="3" y="2"/>
                  </a:lnTo>
                  <a:lnTo>
                    <a:pt x="0" y="8"/>
                  </a:lnTo>
                  <a:lnTo>
                    <a:pt x="9" y="8"/>
                  </a:lnTo>
                  <a:lnTo>
                    <a:pt x="24" y="14"/>
                  </a:lnTo>
                  <a:lnTo>
                    <a:pt x="72" y="17"/>
                  </a:lnTo>
                  <a:lnTo>
                    <a:pt x="67" y="12"/>
                  </a:lnTo>
                  <a:lnTo>
                    <a:pt x="61"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8" name="Freeform 357"/>
            <p:cNvSpPr>
              <a:spLocks/>
            </p:cNvSpPr>
            <p:nvPr/>
          </p:nvSpPr>
          <p:spPr bwMode="auto">
            <a:xfrm>
              <a:off x="3653" y="1203"/>
              <a:ext cx="60" cy="20"/>
            </a:xfrm>
            <a:custGeom>
              <a:avLst/>
              <a:gdLst/>
              <a:ahLst/>
              <a:cxnLst>
                <a:cxn ang="0">
                  <a:pos x="53" y="10"/>
                </a:cxn>
                <a:cxn ang="0">
                  <a:pos x="26" y="2"/>
                </a:cxn>
                <a:cxn ang="0">
                  <a:pos x="20" y="7"/>
                </a:cxn>
                <a:cxn ang="0">
                  <a:pos x="15" y="0"/>
                </a:cxn>
                <a:cxn ang="0">
                  <a:pos x="8" y="0"/>
                </a:cxn>
                <a:cxn ang="0">
                  <a:pos x="11" y="2"/>
                </a:cxn>
                <a:cxn ang="0">
                  <a:pos x="0" y="2"/>
                </a:cxn>
                <a:cxn ang="0">
                  <a:pos x="3" y="4"/>
                </a:cxn>
                <a:cxn ang="0">
                  <a:pos x="9" y="8"/>
                </a:cxn>
                <a:cxn ang="0">
                  <a:pos x="2" y="10"/>
                </a:cxn>
                <a:cxn ang="0">
                  <a:pos x="6" y="19"/>
                </a:cxn>
                <a:cxn ang="0">
                  <a:pos x="54" y="12"/>
                </a:cxn>
                <a:cxn ang="0">
                  <a:pos x="53" y="10"/>
                </a:cxn>
              </a:cxnLst>
              <a:rect l="0" t="0" r="r" b="b"/>
              <a:pathLst>
                <a:path w="54" h="19">
                  <a:moveTo>
                    <a:pt x="53" y="10"/>
                  </a:moveTo>
                  <a:lnTo>
                    <a:pt x="26" y="2"/>
                  </a:lnTo>
                  <a:lnTo>
                    <a:pt x="20" y="7"/>
                  </a:lnTo>
                  <a:lnTo>
                    <a:pt x="15" y="0"/>
                  </a:lnTo>
                  <a:lnTo>
                    <a:pt x="8" y="0"/>
                  </a:lnTo>
                  <a:lnTo>
                    <a:pt x="11" y="2"/>
                  </a:lnTo>
                  <a:lnTo>
                    <a:pt x="0" y="2"/>
                  </a:lnTo>
                  <a:lnTo>
                    <a:pt x="3" y="4"/>
                  </a:lnTo>
                  <a:lnTo>
                    <a:pt x="9" y="8"/>
                  </a:lnTo>
                  <a:lnTo>
                    <a:pt x="2" y="10"/>
                  </a:lnTo>
                  <a:lnTo>
                    <a:pt x="6" y="19"/>
                  </a:lnTo>
                  <a:lnTo>
                    <a:pt x="54" y="12"/>
                  </a:lnTo>
                  <a:lnTo>
                    <a:pt x="53"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9" name="Freeform 358"/>
            <p:cNvSpPr>
              <a:spLocks/>
            </p:cNvSpPr>
            <p:nvPr/>
          </p:nvSpPr>
          <p:spPr bwMode="auto">
            <a:xfrm>
              <a:off x="3529" y="1181"/>
              <a:ext cx="64" cy="11"/>
            </a:xfrm>
            <a:custGeom>
              <a:avLst/>
              <a:gdLst/>
              <a:ahLst/>
              <a:cxnLst>
                <a:cxn ang="0">
                  <a:pos x="56" y="5"/>
                </a:cxn>
                <a:cxn ang="0">
                  <a:pos x="31" y="0"/>
                </a:cxn>
                <a:cxn ang="0">
                  <a:pos x="2" y="3"/>
                </a:cxn>
                <a:cxn ang="0">
                  <a:pos x="9" y="4"/>
                </a:cxn>
                <a:cxn ang="0">
                  <a:pos x="8" y="7"/>
                </a:cxn>
                <a:cxn ang="0">
                  <a:pos x="0" y="9"/>
                </a:cxn>
                <a:cxn ang="0">
                  <a:pos x="17" y="9"/>
                </a:cxn>
                <a:cxn ang="0">
                  <a:pos x="12" y="11"/>
                </a:cxn>
                <a:cxn ang="0">
                  <a:pos x="56" y="10"/>
                </a:cxn>
                <a:cxn ang="0">
                  <a:pos x="50" y="7"/>
                </a:cxn>
                <a:cxn ang="0">
                  <a:pos x="56" y="5"/>
                </a:cxn>
              </a:cxnLst>
              <a:rect l="0" t="0" r="r" b="b"/>
              <a:pathLst>
                <a:path w="56" h="11">
                  <a:moveTo>
                    <a:pt x="56" y="5"/>
                  </a:moveTo>
                  <a:lnTo>
                    <a:pt x="31" y="0"/>
                  </a:lnTo>
                  <a:lnTo>
                    <a:pt x="2" y="3"/>
                  </a:lnTo>
                  <a:lnTo>
                    <a:pt x="9" y="4"/>
                  </a:lnTo>
                  <a:lnTo>
                    <a:pt x="8" y="7"/>
                  </a:lnTo>
                  <a:lnTo>
                    <a:pt x="0" y="9"/>
                  </a:lnTo>
                  <a:lnTo>
                    <a:pt x="17" y="9"/>
                  </a:lnTo>
                  <a:lnTo>
                    <a:pt x="12" y="11"/>
                  </a:lnTo>
                  <a:lnTo>
                    <a:pt x="56" y="10"/>
                  </a:lnTo>
                  <a:lnTo>
                    <a:pt x="50" y="7"/>
                  </a:lnTo>
                  <a:lnTo>
                    <a:pt x="56"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0" name="Freeform 359"/>
            <p:cNvSpPr>
              <a:spLocks/>
            </p:cNvSpPr>
            <p:nvPr/>
          </p:nvSpPr>
          <p:spPr bwMode="auto">
            <a:xfrm>
              <a:off x="4253" y="1259"/>
              <a:ext cx="67" cy="11"/>
            </a:xfrm>
            <a:custGeom>
              <a:avLst/>
              <a:gdLst/>
              <a:ahLst/>
              <a:cxnLst>
                <a:cxn ang="0">
                  <a:pos x="59" y="6"/>
                </a:cxn>
                <a:cxn ang="0">
                  <a:pos x="14" y="2"/>
                </a:cxn>
                <a:cxn ang="0">
                  <a:pos x="0" y="0"/>
                </a:cxn>
                <a:cxn ang="0">
                  <a:pos x="5" y="5"/>
                </a:cxn>
                <a:cxn ang="0">
                  <a:pos x="54" y="11"/>
                </a:cxn>
                <a:cxn ang="0">
                  <a:pos x="59" y="6"/>
                </a:cxn>
              </a:cxnLst>
              <a:rect l="0" t="0" r="r" b="b"/>
              <a:pathLst>
                <a:path w="59" h="11">
                  <a:moveTo>
                    <a:pt x="59" y="6"/>
                  </a:moveTo>
                  <a:lnTo>
                    <a:pt x="14" y="2"/>
                  </a:lnTo>
                  <a:lnTo>
                    <a:pt x="0" y="0"/>
                  </a:lnTo>
                  <a:lnTo>
                    <a:pt x="5" y="5"/>
                  </a:lnTo>
                  <a:lnTo>
                    <a:pt x="54" y="11"/>
                  </a:lnTo>
                  <a:lnTo>
                    <a:pt x="5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1" name="Freeform 360"/>
            <p:cNvSpPr>
              <a:spLocks/>
            </p:cNvSpPr>
            <p:nvPr/>
          </p:nvSpPr>
          <p:spPr bwMode="auto">
            <a:xfrm>
              <a:off x="2831" y="1616"/>
              <a:ext cx="31" cy="14"/>
            </a:xfrm>
            <a:custGeom>
              <a:avLst/>
              <a:gdLst/>
              <a:ahLst/>
              <a:cxnLst>
                <a:cxn ang="0">
                  <a:pos x="8" y="0"/>
                </a:cxn>
                <a:cxn ang="0">
                  <a:pos x="7" y="3"/>
                </a:cxn>
                <a:cxn ang="0">
                  <a:pos x="0" y="2"/>
                </a:cxn>
                <a:cxn ang="0">
                  <a:pos x="0" y="3"/>
                </a:cxn>
                <a:cxn ang="0">
                  <a:pos x="1" y="5"/>
                </a:cxn>
                <a:cxn ang="0">
                  <a:pos x="2" y="5"/>
                </a:cxn>
                <a:cxn ang="0">
                  <a:pos x="0" y="6"/>
                </a:cxn>
                <a:cxn ang="0">
                  <a:pos x="0" y="8"/>
                </a:cxn>
                <a:cxn ang="0">
                  <a:pos x="6" y="9"/>
                </a:cxn>
                <a:cxn ang="0">
                  <a:pos x="29" y="11"/>
                </a:cxn>
                <a:cxn ang="0">
                  <a:pos x="29" y="3"/>
                </a:cxn>
                <a:cxn ang="0">
                  <a:pos x="17" y="2"/>
                </a:cxn>
                <a:cxn ang="0">
                  <a:pos x="8" y="0"/>
                </a:cxn>
              </a:cxnLst>
              <a:rect l="0" t="0" r="r" b="b"/>
              <a:pathLst>
                <a:path w="29" h="11">
                  <a:moveTo>
                    <a:pt x="8" y="0"/>
                  </a:moveTo>
                  <a:lnTo>
                    <a:pt x="7" y="3"/>
                  </a:lnTo>
                  <a:lnTo>
                    <a:pt x="0" y="2"/>
                  </a:lnTo>
                  <a:lnTo>
                    <a:pt x="0" y="3"/>
                  </a:lnTo>
                  <a:lnTo>
                    <a:pt x="1" y="5"/>
                  </a:lnTo>
                  <a:lnTo>
                    <a:pt x="2" y="5"/>
                  </a:lnTo>
                  <a:lnTo>
                    <a:pt x="0" y="6"/>
                  </a:lnTo>
                  <a:lnTo>
                    <a:pt x="0" y="8"/>
                  </a:lnTo>
                  <a:lnTo>
                    <a:pt x="6" y="9"/>
                  </a:lnTo>
                  <a:lnTo>
                    <a:pt x="29" y="11"/>
                  </a:lnTo>
                  <a:lnTo>
                    <a:pt x="29" y="3"/>
                  </a:lnTo>
                  <a:lnTo>
                    <a:pt x="17" y="2"/>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2" name="Freeform 361"/>
            <p:cNvSpPr>
              <a:spLocks/>
            </p:cNvSpPr>
            <p:nvPr/>
          </p:nvSpPr>
          <p:spPr bwMode="auto">
            <a:xfrm>
              <a:off x="4224" y="1285"/>
              <a:ext cx="51" cy="11"/>
            </a:xfrm>
            <a:custGeom>
              <a:avLst/>
              <a:gdLst/>
              <a:ahLst/>
              <a:cxnLst>
                <a:cxn ang="0">
                  <a:pos x="46" y="10"/>
                </a:cxn>
                <a:cxn ang="0">
                  <a:pos x="0" y="6"/>
                </a:cxn>
                <a:cxn ang="0">
                  <a:pos x="16" y="0"/>
                </a:cxn>
                <a:cxn ang="0">
                  <a:pos x="41" y="7"/>
                </a:cxn>
                <a:cxn ang="0">
                  <a:pos x="46" y="10"/>
                </a:cxn>
              </a:cxnLst>
              <a:rect l="0" t="0" r="r" b="b"/>
              <a:pathLst>
                <a:path w="46" h="10">
                  <a:moveTo>
                    <a:pt x="46" y="10"/>
                  </a:moveTo>
                  <a:lnTo>
                    <a:pt x="0" y="6"/>
                  </a:lnTo>
                  <a:lnTo>
                    <a:pt x="16" y="0"/>
                  </a:lnTo>
                  <a:lnTo>
                    <a:pt x="41" y="7"/>
                  </a:lnTo>
                  <a:lnTo>
                    <a:pt x="46"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3" name="Freeform 362"/>
            <p:cNvSpPr>
              <a:spLocks/>
            </p:cNvSpPr>
            <p:nvPr/>
          </p:nvSpPr>
          <p:spPr bwMode="auto">
            <a:xfrm>
              <a:off x="3149" y="1356"/>
              <a:ext cx="27" cy="14"/>
            </a:xfrm>
            <a:custGeom>
              <a:avLst/>
              <a:gdLst/>
              <a:ahLst/>
              <a:cxnLst>
                <a:cxn ang="0">
                  <a:pos x="24" y="6"/>
                </a:cxn>
                <a:cxn ang="0">
                  <a:pos x="6" y="12"/>
                </a:cxn>
                <a:cxn ang="0">
                  <a:pos x="0" y="4"/>
                </a:cxn>
                <a:cxn ang="0">
                  <a:pos x="6" y="0"/>
                </a:cxn>
                <a:cxn ang="0">
                  <a:pos x="24" y="6"/>
                </a:cxn>
              </a:cxnLst>
              <a:rect l="0" t="0" r="r" b="b"/>
              <a:pathLst>
                <a:path w="24" h="12">
                  <a:moveTo>
                    <a:pt x="24" y="6"/>
                  </a:moveTo>
                  <a:lnTo>
                    <a:pt x="6" y="12"/>
                  </a:lnTo>
                  <a:lnTo>
                    <a:pt x="0" y="4"/>
                  </a:lnTo>
                  <a:lnTo>
                    <a:pt x="6" y="0"/>
                  </a:lnTo>
                  <a:lnTo>
                    <a:pt x="2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4" name="Freeform 363"/>
            <p:cNvSpPr>
              <a:spLocks/>
            </p:cNvSpPr>
            <p:nvPr/>
          </p:nvSpPr>
          <p:spPr bwMode="auto">
            <a:xfrm>
              <a:off x="280" y="1323"/>
              <a:ext cx="40" cy="9"/>
            </a:xfrm>
            <a:custGeom>
              <a:avLst/>
              <a:gdLst/>
              <a:ahLst/>
              <a:cxnLst>
                <a:cxn ang="0">
                  <a:pos x="33" y="6"/>
                </a:cxn>
                <a:cxn ang="0">
                  <a:pos x="0" y="8"/>
                </a:cxn>
                <a:cxn ang="0">
                  <a:pos x="18" y="0"/>
                </a:cxn>
                <a:cxn ang="0">
                  <a:pos x="35" y="3"/>
                </a:cxn>
                <a:cxn ang="0">
                  <a:pos x="33" y="6"/>
                </a:cxn>
              </a:cxnLst>
              <a:rect l="0" t="0" r="r" b="b"/>
              <a:pathLst>
                <a:path w="35" h="8">
                  <a:moveTo>
                    <a:pt x="33" y="6"/>
                  </a:moveTo>
                  <a:lnTo>
                    <a:pt x="0" y="8"/>
                  </a:lnTo>
                  <a:lnTo>
                    <a:pt x="18" y="0"/>
                  </a:lnTo>
                  <a:lnTo>
                    <a:pt x="35" y="3"/>
                  </a:lnTo>
                  <a:lnTo>
                    <a:pt x="33"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5" name="Freeform 364"/>
            <p:cNvSpPr>
              <a:spLocks/>
            </p:cNvSpPr>
            <p:nvPr/>
          </p:nvSpPr>
          <p:spPr bwMode="auto">
            <a:xfrm>
              <a:off x="3042" y="1183"/>
              <a:ext cx="49" cy="9"/>
            </a:xfrm>
            <a:custGeom>
              <a:avLst/>
              <a:gdLst/>
              <a:ahLst/>
              <a:cxnLst>
                <a:cxn ang="0">
                  <a:pos x="43" y="1"/>
                </a:cxn>
                <a:cxn ang="0">
                  <a:pos x="17" y="5"/>
                </a:cxn>
                <a:cxn ang="0">
                  <a:pos x="8" y="7"/>
                </a:cxn>
                <a:cxn ang="0">
                  <a:pos x="0" y="7"/>
                </a:cxn>
                <a:cxn ang="0">
                  <a:pos x="8" y="5"/>
                </a:cxn>
                <a:cxn ang="0">
                  <a:pos x="24" y="1"/>
                </a:cxn>
                <a:cxn ang="0">
                  <a:pos x="36" y="0"/>
                </a:cxn>
                <a:cxn ang="0">
                  <a:pos x="43" y="1"/>
                </a:cxn>
              </a:cxnLst>
              <a:rect l="0" t="0" r="r" b="b"/>
              <a:pathLst>
                <a:path w="43" h="7">
                  <a:moveTo>
                    <a:pt x="43" y="1"/>
                  </a:moveTo>
                  <a:lnTo>
                    <a:pt x="17" y="5"/>
                  </a:lnTo>
                  <a:lnTo>
                    <a:pt x="8" y="7"/>
                  </a:lnTo>
                  <a:lnTo>
                    <a:pt x="0" y="7"/>
                  </a:lnTo>
                  <a:lnTo>
                    <a:pt x="8" y="5"/>
                  </a:lnTo>
                  <a:lnTo>
                    <a:pt x="24" y="1"/>
                  </a:lnTo>
                  <a:lnTo>
                    <a:pt x="36" y="0"/>
                  </a:lnTo>
                  <a:lnTo>
                    <a:pt x="4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6" name="Freeform 365"/>
            <p:cNvSpPr>
              <a:spLocks/>
            </p:cNvSpPr>
            <p:nvPr/>
          </p:nvSpPr>
          <p:spPr bwMode="auto">
            <a:xfrm>
              <a:off x="4860" y="1801"/>
              <a:ext cx="15" cy="20"/>
            </a:xfrm>
            <a:custGeom>
              <a:avLst/>
              <a:gdLst/>
              <a:ahLst/>
              <a:cxnLst>
                <a:cxn ang="0">
                  <a:pos x="15" y="0"/>
                </a:cxn>
                <a:cxn ang="0">
                  <a:pos x="3" y="5"/>
                </a:cxn>
                <a:cxn ang="0">
                  <a:pos x="0" y="18"/>
                </a:cxn>
                <a:cxn ang="0">
                  <a:pos x="6" y="11"/>
                </a:cxn>
                <a:cxn ang="0">
                  <a:pos x="12" y="3"/>
                </a:cxn>
                <a:cxn ang="0">
                  <a:pos x="15" y="0"/>
                </a:cxn>
              </a:cxnLst>
              <a:rect l="0" t="0" r="r" b="b"/>
              <a:pathLst>
                <a:path w="15" h="18">
                  <a:moveTo>
                    <a:pt x="15" y="0"/>
                  </a:moveTo>
                  <a:lnTo>
                    <a:pt x="3" y="5"/>
                  </a:lnTo>
                  <a:lnTo>
                    <a:pt x="0" y="18"/>
                  </a:lnTo>
                  <a:lnTo>
                    <a:pt x="6" y="11"/>
                  </a:lnTo>
                  <a:lnTo>
                    <a:pt x="12" y="3"/>
                  </a:lnTo>
                  <a:lnTo>
                    <a:pt x="1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7" name="Freeform 366"/>
            <p:cNvSpPr>
              <a:spLocks/>
            </p:cNvSpPr>
            <p:nvPr/>
          </p:nvSpPr>
          <p:spPr bwMode="auto">
            <a:xfrm>
              <a:off x="4762" y="1323"/>
              <a:ext cx="20" cy="11"/>
            </a:xfrm>
            <a:custGeom>
              <a:avLst/>
              <a:gdLst/>
              <a:ahLst/>
              <a:cxnLst>
                <a:cxn ang="0">
                  <a:pos x="3" y="0"/>
                </a:cxn>
                <a:cxn ang="0">
                  <a:pos x="0" y="6"/>
                </a:cxn>
                <a:cxn ang="0">
                  <a:pos x="9" y="10"/>
                </a:cxn>
                <a:cxn ang="0">
                  <a:pos x="17" y="9"/>
                </a:cxn>
                <a:cxn ang="0">
                  <a:pos x="3" y="0"/>
                </a:cxn>
              </a:cxnLst>
              <a:rect l="0" t="0" r="r" b="b"/>
              <a:pathLst>
                <a:path w="17" h="10">
                  <a:moveTo>
                    <a:pt x="3" y="0"/>
                  </a:moveTo>
                  <a:lnTo>
                    <a:pt x="0" y="6"/>
                  </a:lnTo>
                  <a:lnTo>
                    <a:pt x="9" y="10"/>
                  </a:lnTo>
                  <a:lnTo>
                    <a:pt x="17" y="9"/>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8" name="Freeform 367"/>
            <p:cNvSpPr>
              <a:spLocks/>
            </p:cNvSpPr>
            <p:nvPr/>
          </p:nvSpPr>
          <p:spPr bwMode="auto">
            <a:xfrm>
              <a:off x="3269" y="1341"/>
              <a:ext cx="31" cy="9"/>
            </a:xfrm>
            <a:custGeom>
              <a:avLst/>
              <a:gdLst/>
              <a:ahLst/>
              <a:cxnLst>
                <a:cxn ang="0">
                  <a:pos x="28" y="9"/>
                </a:cxn>
                <a:cxn ang="0">
                  <a:pos x="3" y="0"/>
                </a:cxn>
                <a:cxn ang="0">
                  <a:pos x="0" y="3"/>
                </a:cxn>
                <a:cxn ang="0">
                  <a:pos x="18" y="9"/>
                </a:cxn>
                <a:cxn ang="0">
                  <a:pos x="28" y="9"/>
                </a:cxn>
              </a:cxnLst>
              <a:rect l="0" t="0" r="r" b="b"/>
              <a:pathLst>
                <a:path w="28" h="9">
                  <a:moveTo>
                    <a:pt x="28" y="9"/>
                  </a:moveTo>
                  <a:lnTo>
                    <a:pt x="3" y="0"/>
                  </a:lnTo>
                  <a:lnTo>
                    <a:pt x="0" y="3"/>
                  </a:lnTo>
                  <a:lnTo>
                    <a:pt x="18" y="9"/>
                  </a:lnTo>
                  <a:lnTo>
                    <a:pt x="28"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9" name="Freeform 368"/>
            <p:cNvSpPr>
              <a:spLocks/>
            </p:cNvSpPr>
            <p:nvPr/>
          </p:nvSpPr>
          <p:spPr bwMode="auto">
            <a:xfrm>
              <a:off x="2847" y="1550"/>
              <a:ext cx="17" cy="9"/>
            </a:xfrm>
            <a:custGeom>
              <a:avLst/>
              <a:gdLst/>
              <a:ahLst/>
              <a:cxnLst>
                <a:cxn ang="0">
                  <a:pos x="16" y="1"/>
                </a:cxn>
                <a:cxn ang="0">
                  <a:pos x="2" y="7"/>
                </a:cxn>
                <a:cxn ang="0">
                  <a:pos x="0" y="1"/>
                </a:cxn>
                <a:cxn ang="0">
                  <a:pos x="14" y="0"/>
                </a:cxn>
                <a:cxn ang="0">
                  <a:pos x="16" y="1"/>
                </a:cxn>
              </a:cxnLst>
              <a:rect l="0" t="0" r="r" b="b"/>
              <a:pathLst>
                <a:path w="16" h="7">
                  <a:moveTo>
                    <a:pt x="16" y="1"/>
                  </a:moveTo>
                  <a:lnTo>
                    <a:pt x="2" y="7"/>
                  </a:lnTo>
                  <a:lnTo>
                    <a:pt x="0" y="1"/>
                  </a:lnTo>
                  <a:lnTo>
                    <a:pt x="14" y="0"/>
                  </a:lnTo>
                  <a:lnTo>
                    <a:pt x="1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0" name="Freeform 369"/>
            <p:cNvSpPr>
              <a:spLocks/>
            </p:cNvSpPr>
            <p:nvPr/>
          </p:nvSpPr>
          <p:spPr bwMode="auto">
            <a:xfrm>
              <a:off x="4860" y="1536"/>
              <a:ext cx="11" cy="14"/>
            </a:xfrm>
            <a:custGeom>
              <a:avLst/>
              <a:gdLst/>
              <a:ahLst/>
              <a:cxnLst>
                <a:cxn ang="0">
                  <a:pos x="11" y="3"/>
                </a:cxn>
                <a:cxn ang="0">
                  <a:pos x="5" y="11"/>
                </a:cxn>
                <a:cxn ang="0">
                  <a:pos x="0" y="5"/>
                </a:cxn>
                <a:cxn ang="0">
                  <a:pos x="5" y="0"/>
                </a:cxn>
                <a:cxn ang="0">
                  <a:pos x="11" y="3"/>
                </a:cxn>
              </a:cxnLst>
              <a:rect l="0" t="0" r="r" b="b"/>
              <a:pathLst>
                <a:path w="11" h="11">
                  <a:moveTo>
                    <a:pt x="11" y="3"/>
                  </a:moveTo>
                  <a:lnTo>
                    <a:pt x="5" y="11"/>
                  </a:lnTo>
                  <a:lnTo>
                    <a:pt x="0" y="5"/>
                  </a:lnTo>
                  <a:lnTo>
                    <a:pt x="5" y="0"/>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1" name="Freeform 370"/>
            <p:cNvSpPr>
              <a:spLocks/>
            </p:cNvSpPr>
            <p:nvPr/>
          </p:nvSpPr>
          <p:spPr bwMode="auto">
            <a:xfrm>
              <a:off x="4660" y="1350"/>
              <a:ext cx="22" cy="4"/>
            </a:xfrm>
            <a:custGeom>
              <a:avLst/>
              <a:gdLst/>
              <a:ahLst/>
              <a:cxnLst>
                <a:cxn ang="0">
                  <a:pos x="21" y="1"/>
                </a:cxn>
                <a:cxn ang="0">
                  <a:pos x="18" y="3"/>
                </a:cxn>
                <a:cxn ang="0">
                  <a:pos x="0" y="0"/>
                </a:cxn>
                <a:cxn ang="0">
                  <a:pos x="18" y="0"/>
                </a:cxn>
                <a:cxn ang="0">
                  <a:pos x="21" y="1"/>
                </a:cxn>
              </a:cxnLst>
              <a:rect l="0" t="0" r="r" b="b"/>
              <a:pathLst>
                <a:path w="21" h="3">
                  <a:moveTo>
                    <a:pt x="21" y="1"/>
                  </a:moveTo>
                  <a:lnTo>
                    <a:pt x="18" y="3"/>
                  </a:lnTo>
                  <a:lnTo>
                    <a:pt x="0" y="0"/>
                  </a:lnTo>
                  <a:lnTo>
                    <a:pt x="18" y="0"/>
                  </a:lnTo>
                  <a:lnTo>
                    <a:pt x="2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2" name="Freeform 371"/>
            <p:cNvSpPr>
              <a:spLocks/>
            </p:cNvSpPr>
            <p:nvPr/>
          </p:nvSpPr>
          <p:spPr bwMode="auto">
            <a:xfrm>
              <a:off x="3382" y="1292"/>
              <a:ext cx="20" cy="4"/>
            </a:xfrm>
            <a:custGeom>
              <a:avLst/>
              <a:gdLst/>
              <a:ahLst/>
              <a:cxnLst>
                <a:cxn ang="0">
                  <a:pos x="19" y="4"/>
                </a:cxn>
                <a:cxn ang="0">
                  <a:pos x="0" y="5"/>
                </a:cxn>
                <a:cxn ang="0">
                  <a:pos x="2" y="0"/>
                </a:cxn>
                <a:cxn ang="0">
                  <a:pos x="10" y="2"/>
                </a:cxn>
                <a:cxn ang="0">
                  <a:pos x="19" y="4"/>
                </a:cxn>
              </a:cxnLst>
              <a:rect l="0" t="0" r="r" b="b"/>
              <a:pathLst>
                <a:path w="19" h="5">
                  <a:moveTo>
                    <a:pt x="19" y="4"/>
                  </a:moveTo>
                  <a:lnTo>
                    <a:pt x="0" y="5"/>
                  </a:lnTo>
                  <a:lnTo>
                    <a:pt x="2" y="0"/>
                  </a:lnTo>
                  <a:lnTo>
                    <a:pt x="10" y="2"/>
                  </a:lnTo>
                  <a:lnTo>
                    <a:pt x="19"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3" name="Freeform 372"/>
            <p:cNvSpPr>
              <a:spLocks/>
            </p:cNvSpPr>
            <p:nvPr/>
          </p:nvSpPr>
          <p:spPr bwMode="auto">
            <a:xfrm>
              <a:off x="3173" y="1183"/>
              <a:ext cx="34" cy="5"/>
            </a:xfrm>
            <a:custGeom>
              <a:avLst/>
              <a:gdLst/>
              <a:ahLst/>
              <a:cxnLst>
                <a:cxn ang="0">
                  <a:pos x="29" y="0"/>
                </a:cxn>
                <a:cxn ang="0">
                  <a:pos x="0" y="1"/>
                </a:cxn>
                <a:cxn ang="0">
                  <a:pos x="16" y="3"/>
                </a:cxn>
                <a:cxn ang="0">
                  <a:pos x="29" y="0"/>
                </a:cxn>
              </a:cxnLst>
              <a:rect l="0" t="0" r="r" b="b"/>
              <a:pathLst>
                <a:path w="29" h="3">
                  <a:moveTo>
                    <a:pt x="29" y="0"/>
                  </a:moveTo>
                  <a:lnTo>
                    <a:pt x="0" y="1"/>
                  </a:lnTo>
                  <a:lnTo>
                    <a:pt x="16" y="3"/>
                  </a:lnTo>
                  <a:lnTo>
                    <a:pt x="2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4" name="Freeform 373"/>
            <p:cNvSpPr>
              <a:spLocks/>
            </p:cNvSpPr>
            <p:nvPr/>
          </p:nvSpPr>
          <p:spPr bwMode="auto">
            <a:xfrm>
              <a:off x="3207" y="1181"/>
              <a:ext cx="31" cy="2"/>
            </a:xfrm>
            <a:custGeom>
              <a:avLst/>
              <a:gdLst/>
              <a:ahLst/>
              <a:cxnLst>
                <a:cxn ang="0">
                  <a:pos x="28" y="3"/>
                </a:cxn>
                <a:cxn ang="0">
                  <a:pos x="0" y="4"/>
                </a:cxn>
                <a:cxn ang="0">
                  <a:pos x="23" y="0"/>
                </a:cxn>
                <a:cxn ang="0">
                  <a:pos x="28" y="3"/>
                </a:cxn>
              </a:cxnLst>
              <a:rect l="0" t="0" r="r" b="b"/>
              <a:pathLst>
                <a:path w="28" h="4">
                  <a:moveTo>
                    <a:pt x="28" y="3"/>
                  </a:moveTo>
                  <a:lnTo>
                    <a:pt x="0" y="4"/>
                  </a:lnTo>
                  <a:lnTo>
                    <a:pt x="23" y="0"/>
                  </a:lnTo>
                  <a:lnTo>
                    <a:pt x="28"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5" name="Freeform 374"/>
            <p:cNvSpPr>
              <a:spLocks/>
            </p:cNvSpPr>
            <p:nvPr/>
          </p:nvSpPr>
          <p:spPr bwMode="auto">
            <a:xfrm>
              <a:off x="3867" y="1276"/>
              <a:ext cx="22" cy="5"/>
            </a:xfrm>
            <a:custGeom>
              <a:avLst/>
              <a:gdLst/>
              <a:ahLst/>
              <a:cxnLst>
                <a:cxn ang="0">
                  <a:pos x="19" y="0"/>
                </a:cxn>
                <a:cxn ang="0">
                  <a:pos x="0" y="1"/>
                </a:cxn>
                <a:cxn ang="0">
                  <a:pos x="21" y="3"/>
                </a:cxn>
                <a:cxn ang="0">
                  <a:pos x="19" y="0"/>
                </a:cxn>
              </a:cxnLst>
              <a:rect l="0" t="0" r="r" b="b"/>
              <a:pathLst>
                <a:path w="21" h="3">
                  <a:moveTo>
                    <a:pt x="19" y="0"/>
                  </a:moveTo>
                  <a:lnTo>
                    <a:pt x="0" y="1"/>
                  </a:lnTo>
                  <a:lnTo>
                    <a:pt x="21" y="3"/>
                  </a:lnTo>
                  <a:lnTo>
                    <a:pt x="1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6" name="Freeform 375"/>
            <p:cNvSpPr>
              <a:spLocks/>
            </p:cNvSpPr>
            <p:nvPr/>
          </p:nvSpPr>
          <p:spPr bwMode="auto">
            <a:xfrm>
              <a:off x="4904" y="1699"/>
              <a:ext cx="5" cy="11"/>
            </a:xfrm>
            <a:custGeom>
              <a:avLst/>
              <a:gdLst/>
              <a:ahLst/>
              <a:cxnLst>
                <a:cxn ang="0">
                  <a:pos x="5" y="1"/>
                </a:cxn>
                <a:cxn ang="0">
                  <a:pos x="1" y="11"/>
                </a:cxn>
                <a:cxn ang="0">
                  <a:pos x="0" y="0"/>
                </a:cxn>
                <a:cxn ang="0">
                  <a:pos x="5" y="1"/>
                </a:cxn>
              </a:cxnLst>
              <a:rect l="0" t="0" r="r" b="b"/>
              <a:pathLst>
                <a:path w="5" h="11">
                  <a:moveTo>
                    <a:pt x="5" y="1"/>
                  </a:moveTo>
                  <a:lnTo>
                    <a:pt x="1" y="11"/>
                  </a:lnTo>
                  <a:lnTo>
                    <a:pt x="0" y="0"/>
                  </a:lnTo>
                  <a:lnTo>
                    <a:pt x="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7" name="Freeform 376"/>
            <p:cNvSpPr>
              <a:spLocks/>
            </p:cNvSpPr>
            <p:nvPr/>
          </p:nvSpPr>
          <p:spPr bwMode="auto">
            <a:xfrm>
              <a:off x="4846" y="1821"/>
              <a:ext cx="7" cy="11"/>
            </a:xfrm>
            <a:custGeom>
              <a:avLst/>
              <a:gdLst/>
              <a:ahLst/>
              <a:cxnLst>
                <a:cxn ang="0">
                  <a:pos x="6" y="0"/>
                </a:cxn>
                <a:cxn ang="0">
                  <a:pos x="0" y="11"/>
                </a:cxn>
                <a:cxn ang="0">
                  <a:pos x="0" y="3"/>
                </a:cxn>
                <a:cxn ang="0">
                  <a:pos x="6" y="0"/>
                </a:cxn>
              </a:cxnLst>
              <a:rect l="0" t="0" r="r" b="b"/>
              <a:pathLst>
                <a:path w="6" h="11">
                  <a:moveTo>
                    <a:pt x="6" y="0"/>
                  </a:moveTo>
                  <a:lnTo>
                    <a:pt x="0" y="11"/>
                  </a:lnTo>
                  <a:lnTo>
                    <a:pt x="0" y="3"/>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8" name="Freeform 377"/>
            <p:cNvSpPr>
              <a:spLocks/>
            </p:cNvSpPr>
            <p:nvPr/>
          </p:nvSpPr>
          <p:spPr bwMode="auto">
            <a:xfrm>
              <a:off x="4213" y="1281"/>
              <a:ext cx="9" cy="4"/>
            </a:xfrm>
            <a:custGeom>
              <a:avLst/>
              <a:gdLst/>
              <a:ahLst/>
              <a:cxnLst>
                <a:cxn ang="0">
                  <a:pos x="10" y="0"/>
                </a:cxn>
                <a:cxn ang="0">
                  <a:pos x="0" y="0"/>
                </a:cxn>
                <a:cxn ang="0">
                  <a:pos x="10" y="5"/>
                </a:cxn>
                <a:cxn ang="0">
                  <a:pos x="10" y="0"/>
                </a:cxn>
              </a:cxnLst>
              <a:rect l="0" t="0" r="r" b="b"/>
              <a:pathLst>
                <a:path w="10" h="5">
                  <a:moveTo>
                    <a:pt x="10" y="0"/>
                  </a:moveTo>
                  <a:lnTo>
                    <a:pt x="0" y="0"/>
                  </a:lnTo>
                  <a:lnTo>
                    <a:pt x="10" y="5"/>
                  </a:lnTo>
                  <a:lnTo>
                    <a:pt x="1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9" name="Freeform 378"/>
            <p:cNvSpPr>
              <a:spLocks/>
            </p:cNvSpPr>
            <p:nvPr/>
          </p:nvSpPr>
          <p:spPr bwMode="auto">
            <a:xfrm>
              <a:off x="3029" y="1185"/>
              <a:ext cx="31" cy="3"/>
            </a:xfrm>
            <a:custGeom>
              <a:avLst/>
              <a:gdLst/>
              <a:ahLst/>
              <a:cxnLst>
                <a:cxn ang="0">
                  <a:pos x="27" y="0"/>
                </a:cxn>
                <a:cxn ang="0">
                  <a:pos x="0" y="1"/>
                </a:cxn>
                <a:cxn ang="0">
                  <a:pos x="6" y="0"/>
                </a:cxn>
                <a:cxn ang="0">
                  <a:pos x="27" y="0"/>
                </a:cxn>
              </a:cxnLst>
              <a:rect l="0" t="0" r="r" b="b"/>
              <a:pathLst>
                <a:path w="27" h="1">
                  <a:moveTo>
                    <a:pt x="27" y="0"/>
                  </a:moveTo>
                  <a:lnTo>
                    <a:pt x="0" y="1"/>
                  </a:lnTo>
                  <a:lnTo>
                    <a:pt x="6" y="0"/>
                  </a:lnTo>
                  <a:lnTo>
                    <a:pt x="27"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0" name="Freeform 379"/>
            <p:cNvSpPr>
              <a:spLocks/>
            </p:cNvSpPr>
            <p:nvPr/>
          </p:nvSpPr>
          <p:spPr bwMode="auto">
            <a:xfrm>
              <a:off x="3480" y="1308"/>
              <a:ext cx="13" cy="2"/>
            </a:xfrm>
            <a:custGeom>
              <a:avLst/>
              <a:gdLst/>
              <a:ahLst/>
              <a:cxnLst>
                <a:cxn ang="0">
                  <a:pos x="13" y="0"/>
                </a:cxn>
                <a:cxn ang="0">
                  <a:pos x="1" y="3"/>
                </a:cxn>
                <a:cxn ang="0">
                  <a:pos x="0" y="0"/>
                </a:cxn>
                <a:cxn ang="0">
                  <a:pos x="13" y="0"/>
                </a:cxn>
              </a:cxnLst>
              <a:rect l="0" t="0" r="r" b="b"/>
              <a:pathLst>
                <a:path w="13" h="3">
                  <a:moveTo>
                    <a:pt x="13" y="0"/>
                  </a:moveTo>
                  <a:lnTo>
                    <a:pt x="1" y="3"/>
                  </a:lnTo>
                  <a:lnTo>
                    <a:pt x="0" y="0"/>
                  </a:lnTo>
                  <a:lnTo>
                    <a:pt x="1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1" name="Freeform 380"/>
            <p:cNvSpPr>
              <a:spLocks/>
            </p:cNvSpPr>
            <p:nvPr/>
          </p:nvSpPr>
          <p:spPr bwMode="auto">
            <a:xfrm>
              <a:off x="3156" y="1190"/>
              <a:ext cx="22" cy="2"/>
            </a:xfrm>
            <a:custGeom>
              <a:avLst/>
              <a:gdLst/>
              <a:ahLst/>
              <a:cxnLst>
                <a:cxn ang="0">
                  <a:pos x="20" y="0"/>
                </a:cxn>
                <a:cxn ang="0">
                  <a:pos x="0" y="0"/>
                </a:cxn>
                <a:cxn ang="0">
                  <a:pos x="9" y="2"/>
                </a:cxn>
                <a:cxn ang="0">
                  <a:pos x="20" y="0"/>
                </a:cxn>
              </a:cxnLst>
              <a:rect l="0" t="0" r="r" b="b"/>
              <a:pathLst>
                <a:path w="20" h="2">
                  <a:moveTo>
                    <a:pt x="20" y="0"/>
                  </a:moveTo>
                  <a:lnTo>
                    <a:pt x="0" y="0"/>
                  </a:lnTo>
                  <a:lnTo>
                    <a:pt x="9" y="2"/>
                  </a:lnTo>
                  <a:lnTo>
                    <a:pt x="2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2" name="Freeform 381"/>
            <p:cNvSpPr>
              <a:spLocks/>
            </p:cNvSpPr>
            <p:nvPr/>
          </p:nvSpPr>
          <p:spPr bwMode="auto">
            <a:xfrm>
              <a:off x="4966" y="1610"/>
              <a:ext cx="25" cy="13"/>
            </a:xfrm>
            <a:custGeom>
              <a:avLst/>
              <a:gdLst/>
              <a:ahLst/>
              <a:cxnLst>
                <a:cxn ang="0">
                  <a:pos x="23" y="12"/>
                </a:cxn>
                <a:cxn ang="0">
                  <a:pos x="0" y="0"/>
                </a:cxn>
                <a:cxn ang="0">
                  <a:pos x="19" y="8"/>
                </a:cxn>
                <a:cxn ang="0">
                  <a:pos x="23" y="12"/>
                </a:cxn>
              </a:cxnLst>
              <a:rect l="0" t="0" r="r" b="b"/>
              <a:pathLst>
                <a:path w="23" h="12">
                  <a:moveTo>
                    <a:pt x="23" y="12"/>
                  </a:moveTo>
                  <a:lnTo>
                    <a:pt x="0" y="0"/>
                  </a:lnTo>
                  <a:lnTo>
                    <a:pt x="19" y="8"/>
                  </a:lnTo>
                  <a:lnTo>
                    <a:pt x="23"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3" name="Freeform 382"/>
            <p:cNvSpPr>
              <a:spLocks/>
            </p:cNvSpPr>
            <p:nvPr/>
          </p:nvSpPr>
          <p:spPr bwMode="auto">
            <a:xfrm>
              <a:off x="4120" y="1254"/>
              <a:ext cx="13" cy="7"/>
            </a:xfrm>
            <a:custGeom>
              <a:avLst/>
              <a:gdLst/>
              <a:ahLst/>
              <a:cxnLst>
                <a:cxn ang="0">
                  <a:pos x="11" y="4"/>
                </a:cxn>
                <a:cxn ang="0">
                  <a:pos x="0" y="0"/>
                </a:cxn>
                <a:cxn ang="0">
                  <a:pos x="12" y="6"/>
                </a:cxn>
                <a:cxn ang="0">
                  <a:pos x="11" y="4"/>
                </a:cxn>
              </a:cxnLst>
              <a:rect l="0" t="0" r="r" b="b"/>
              <a:pathLst>
                <a:path w="12" h="6">
                  <a:moveTo>
                    <a:pt x="11" y="4"/>
                  </a:moveTo>
                  <a:lnTo>
                    <a:pt x="0" y="0"/>
                  </a:lnTo>
                  <a:lnTo>
                    <a:pt x="12" y="6"/>
                  </a:lnTo>
                  <a:lnTo>
                    <a:pt x="1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4" name="Freeform 383"/>
            <p:cNvSpPr>
              <a:spLocks/>
            </p:cNvSpPr>
            <p:nvPr/>
          </p:nvSpPr>
          <p:spPr bwMode="auto">
            <a:xfrm>
              <a:off x="2847" y="1543"/>
              <a:ext cx="13" cy="2"/>
            </a:xfrm>
            <a:custGeom>
              <a:avLst/>
              <a:gdLst/>
              <a:ahLst/>
              <a:cxnLst>
                <a:cxn ang="0">
                  <a:pos x="11" y="1"/>
                </a:cxn>
                <a:cxn ang="0">
                  <a:pos x="0" y="1"/>
                </a:cxn>
                <a:cxn ang="0">
                  <a:pos x="4" y="0"/>
                </a:cxn>
                <a:cxn ang="0">
                  <a:pos x="11" y="1"/>
                </a:cxn>
              </a:cxnLst>
              <a:rect l="0" t="0" r="r" b="b"/>
              <a:pathLst>
                <a:path w="11" h="1">
                  <a:moveTo>
                    <a:pt x="11" y="1"/>
                  </a:moveTo>
                  <a:lnTo>
                    <a:pt x="0" y="1"/>
                  </a:lnTo>
                  <a:lnTo>
                    <a:pt x="4" y="0"/>
                  </a:lnTo>
                  <a:lnTo>
                    <a:pt x="1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5" name="Rectangle 384"/>
            <p:cNvSpPr>
              <a:spLocks noChangeArrowheads="1"/>
            </p:cNvSpPr>
            <p:nvPr/>
          </p:nvSpPr>
          <p:spPr bwMode="auto">
            <a:xfrm>
              <a:off x="2729" y="1830"/>
              <a:ext cx="0" cy="0"/>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386" name="Freeform 385"/>
            <p:cNvSpPr>
              <a:spLocks/>
            </p:cNvSpPr>
            <p:nvPr/>
          </p:nvSpPr>
          <p:spPr bwMode="auto">
            <a:xfrm>
              <a:off x="2787" y="1721"/>
              <a:ext cx="91" cy="33"/>
            </a:xfrm>
            <a:custGeom>
              <a:avLst/>
              <a:gdLst/>
              <a:ahLst/>
              <a:cxnLst>
                <a:cxn ang="0">
                  <a:pos x="30" y="0"/>
                </a:cxn>
                <a:cxn ang="0">
                  <a:pos x="30" y="1"/>
                </a:cxn>
                <a:cxn ang="0">
                  <a:pos x="26" y="5"/>
                </a:cxn>
                <a:cxn ang="0">
                  <a:pos x="22" y="7"/>
                </a:cxn>
                <a:cxn ang="0">
                  <a:pos x="22" y="9"/>
                </a:cxn>
                <a:cxn ang="0">
                  <a:pos x="17" y="13"/>
                </a:cxn>
                <a:cxn ang="0">
                  <a:pos x="10" y="15"/>
                </a:cxn>
                <a:cxn ang="0">
                  <a:pos x="5" y="15"/>
                </a:cxn>
                <a:cxn ang="0">
                  <a:pos x="0" y="15"/>
                </a:cxn>
                <a:cxn ang="0">
                  <a:pos x="10" y="28"/>
                </a:cxn>
                <a:cxn ang="0">
                  <a:pos x="14" y="29"/>
                </a:cxn>
                <a:cxn ang="0">
                  <a:pos x="32" y="30"/>
                </a:cxn>
                <a:cxn ang="0">
                  <a:pos x="54" y="19"/>
                </a:cxn>
                <a:cxn ang="0">
                  <a:pos x="78" y="21"/>
                </a:cxn>
                <a:cxn ang="0">
                  <a:pos x="82" y="9"/>
                </a:cxn>
                <a:cxn ang="0">
                  <a:pos x="60" y="4"/>
                </a:cxn>
                <a:cxn ang="0">
                  <a:pos x="48" y="5"/>
                </a:cxn>
                <a:cxn ang="0">
                  <a:pos x="46" y="1"/>
                </a:cxn>
                <a:cxn ang="0">
                  <a:pos x="30" y="0"/>
                </a:cxn>
              </a:cxnLst>
              <a:rect l="0" t="0" r="r" b="b"/>
              <a:pathLst>
                <a:path w="82" h="30">
                  <a:moveTo>
                    <a:pt x="30" y="0"/>
                  </a:moveTo>
                  <a:lnTo>
                    <a:pt x="30" y="1"/>
                  </a:lnTo>
                  <a:lnTo>
                    <a:pt x="26" y="5"/>
                  </a:lnTo>
                  <a:lnTo>
                    <a:pt x="22" y="7"/>
                  </a:lnTo>
                  <a:lnTo>
                    <a:pt x="22" y="9"/>
                  </a:lnTo>
                  <a:lnTo>
                    <a:pt x="17" y="13"/>
                  </a:lnTo>
                  <a:lnTo>
                    <a:pt x="10" y="15"/>
                  </a:lnTo>
                  <a:lnTo>
                    <a:pt x="5" y="15"/>
                  </a:lnTo>
                  <a:lnTo>
                    <a:pt x="0" y="15"/>
                  </a:lnTo>
                  <a:lnTo>
                    <a:pt x="10" y="28"/>
                  </a:lnTo>
                  <a:lnTo>
                    <a:pt x="14" y="29"/>
                  </a:lnTo>
                  <a:lnTo>
                    <a:pt x="32" y="30"/>
                  </a:lnTo>
                  <a:lnTo>
                    <a:pt x="54" y="19"/>
                  </a:lnTo>
                  <a:lnTo>
                    <a:pt x="78" y="21"/>
                  </a:lnTo>
                  <a:lnTo>
                    <a:pt x="82" y="9"/>
                  </a:lnTo>
                  <a:lnTo>
                    <a:pt x="60" y="4"/>
                  </a:lnTo>
                  <a:lnTo>
                    <a:pt x="48" y="5"/>
                  </a:lnTo>
                  <a:lnTo>
                    <a:pt x="46" y="1"/>
                  </a:lnTo>
                  <a:lnTo>
                    <a:pt x="3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7" name="Freeform 386"/>
            <p:cNvSpPr>
              <a:spLocks/>
            </p:cNvSpPr>
            <p:nvPr/>
          </p:nvSpPr>
          <p:spPr bwMode="auto">
            <a:xfrm>
              <a:off x="2742" y="1772"/>
              <a:ext cx="47" cy="29"/>
            </a:xfrm>
            <a:custGeom>
              <a:avLst/>
              <a:gdLst/>
              <a:ahLst/>
              <a:cxnLst>
                <a:cxn ang="0">
                  <a:pos x="7" y="25"/>
                </a:cxn>
                <a:cxn ang="0">
                  <a:pos x="13" y="25"/>
                </a:cxn>
                <a:cxn ang="0">
                  <a:pos x="15" y="22"/>
                </a:cxn>
                <a:cxn ang="0">
                  <a:pos x="18" y="24"/>
                </a:cxn>
                <a:cxn ang="0">
                  <a:pos x="19" y="23"/>
                </a:cxn>
                <a:cxn ang="0">
                  <a:pos x="23" y="25"/>
                </a:cxn>
                <a:cxn ang="0">
                  <a:pos x="26" y="25"/>
                </a:cxn>
                <a:cxn ang="0">
                  <a:pos x="25" y="22"/>
                </a:cxn>
                <a:cxn ang="0">
                  <a:pos x="25" y="20"/>
                </a:cxn>
                <a:cxn ang="0">
                  <a:pos x="30" y="18"/>
                </a:cxn>
                <a:cxn ang="0">
                  <a:pos x="32" y="18"/>
                </a:cxn>
                <a:cxn ang="0">
                  <a:pos x="30" y="16"/>
                </a:cxn>
                <a:cxn ang="0">
                  <a:pos x="30" y="14"/>
                </a:cxn>
                <a:cxn ang="0">
                  <a:pos x="29" y="11"/>
                </a:cxn>
                <a:cxn ang="0">
                  <a:pos x="33" y="10"/>
                </a:cxn>
                <a:cxn ang="0">
                  <a:pos x="35" y="8"/>
                </a:cxn>
                <a:cxn ang="0">
                  <a:pos x="39" y="8"/>
                </a:cxn>
                <a:cxn ang="0">
                  <a:pos x="39" y="7"/>
                </a:cxn>
                <a:cxn ang="0">
                  <a:pos x="41" y="6"/>
                </a:cxn>
                <a:cxn ang="0">
                  <a:pos x="42" y="5"/>
                </a:cxn>
                <a:cxn ang="0">
                  <a:pos x="37" y="2"/>
                </a:cxn>
                <a:cxn ang="0">
                  <a:pos x="36" y="0"/>
                </a:cxn>
                <a:cxn ang="0">
                  <a:pos x="8" y="7"/>
                </a:cxn>
                <a:cxn ang="0">
                  <a:pos x="2" y="6"/>
                </a:cxn>
                <a:cxn ang="0">
                  <a:pos x="0" y="12"/>
                </a:cxn>
                <a:cxn ang="0">
                  <a:pos x="3" y="23"/>
                </a:cxn>
                <a:cxn ang="0">
                  <a:pos x="7" y="25"/>
                </a:cxn>
              </a:cxnLst>
              <a:rect l="0" t="0" r="r" b="b"/>
              <a:pathLst>
                <a:path w="42" h="25">
                  <a:moveTo>
                    <a:pt x="7" y="25"/>
                  </a:moveTo>
                  <a:lnTo>
                    <a:pt x="13" y="25"/>
                  </a:lnTo>
                  <a:lnTo>
                    <a:pt x="15" y="22"/>
                  </a:lnTo>
                  <a:lnTo>
                    <a:pt x="18" y="24"/>
                  </a:lnTo>
                  <a:lnTo>
                    <a:pt x="19" y="23"/>
                  </a:lnTo>
                  <a:lnTo>
                    <a:pt x="23" y="25"/>
                  </a:lnTo>
                  <a:lnTo>
                    <a:pt x="26" y="25"/>
                  </a:lnTo>
                  <a:lnTo>
                    <a:pt x="25" y="22"/>
                  </a:lnTo>
                  <a:lnTo>
                    <a:pt x="25" y="20"/>
                  </a:lnTo>
                  <a:lnTo>
                    <a:pt x="30" y="18"/>
                  </a:lnTo>
                  <a:lnTo>
                    <a:pt x="32" y="18"/>
                  </a:lnTo>
                  <a:lnTo>
                    <a:pt x="30" y="16"/>
                  </a:lnTo>
                  <a:lnTo>
                    <a:pt x="30" y="14"/>
                  </a:lnTo>
                  <a:lnTo>
                    <a:pt x="29" y="11"/>
                  </a:lnTo>
                  <a:lnTo>
                    <a:pt x="33" y="10"/>
                  </a:lnTo>
                  <a:lnTo>
                    <a:pt x="35" y="8"/>
                  </a:lnTo>
                  <a:lnTo>
                    <a:pt x="39" y="8"/>
                  </a:lnTo>
                  <a:lnTo>
                    <a:pt x="39" y="7"/>
                  </a:lnTo>
                  <a:lnTo>
                    <a:pt x="41" y="6"/>
                  </a:lnTo>
                  <a:lnTo>
                    <a:pt x="42" y="5"/>
                  </a:lnTo>
                  <a:lnTo>
                    <a:pt x="37" y="2"/>
                  </a:lnTo>
                  <a:lnTo>
                    <a:pt x="36" y="0"/>
                  </a:lnTo>
                  <a:lnTo>
                    <a:pt x="8" y="7"/>
                  </a:lnTo>
                  <a:lnTo>
                    <a:pt x="2" y="6"/>
                  </a:lnTo>
                  <a:lnTo>
                    <a:pt x="0" y="12"/>
                  </a:lnTo>
                  <a:lnTo>
                    <a:pt x="3" y="23"/>
                  </a:lnTo>
                  <a:lnTo>
                    <a:pt x="7" y="2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8" name="Freeform 387"/>
            <p:cNvSpPr>
              <a:spLocks/>
            </p:cNvSpPr>
            <p:nvPr/>
          </p:nvSpPr>
          <p:spPr bwMode="auto">
            <a:xfrm>
              <a:off x="2691" y="1363"/>
              <a:ext cx="162" cy="247"/>
            </a:xfrm>
            <a:custGeom>
              <a:avLst/>
              <a:gdLst/>
              <a:ahLst/>
              <a:cxnLst>
                <a:cxn ang="0">
                  <a:pos x="101" y="85"/>
                </a:cxn>
                <a:cxn ang="0">
                  <a:pos x="84" y="95"/>
                </a:cxn>
                <a:cxn ang="0">
                  <a:pos x="74" y="103"/>
                </a:cxn>
                <a:cxn ang="0">
                  <a:pos x="71" y="115"/>
                </a:cxn>
                <a:cxn ang="0">
                  <a:pos x="90" y="139"/>
                </a:cxn>
                <a:cxn ang="0">
                  <a:pos x="83" y="153"/>
                </a:cxn>
                <a:cxn ang="0">
                  <a:pos x="79" y="151"/>
                </a:cxn>
                <a:cxn ang="0">
                  <a:pos x="91" y="155"/>
                </a:cxn>
                <a:cxn ang="0">
                  <a:pos x="82" y="158"/>
                </a:cxn>
                <a:cxn ang="0">
                  <a:pos x="67" y="165"/>
                </a:cxn>
                <a:cxn ang="0">
                  <a:pos x="71" y="170"/>
                </a:cxn>
                <a:cxn ang="0">
                  <a:pos x="72" y="181"/>
                </a:cxn>
                <a:cxn ang="0">
                  <a:pos x="68" y="193"/>
                </a:cxn>
                <a:cxn ang="0">
                  <a:pos x="44" y="211"/>
                </a:cxn>
                <a:cxn ang="0">
                  <a:pos x="28" y="219"/>
                </a:cxn>
                <a:cxn ang="0">
                  <a:pos x="20" y="195"/>
                </a:cxn>
                <a:cxn ang="0">
                  <a:pos x="8" y="173"/>
                </a:cxn>
                <a:cxn ang="0">
                  <a:pos x="4" y="171"/>
                </a:cxn>
                <a:cxn ang="0">
                  <a:pos x="2" y="161"/>
                </a:cxn>
                <a:cxn ang="0">
                  <a:pos x="12" y="131"/>
                </a:cxn>
                <a:cxn ang="0">
                  <a:pos x="17" y="121"/>
                </a:cxn>
                <a:cxn ang="0">
                  <a:pos x="7" y="99"/>
                </a:cxn>
                <a:cxn ang="0">
                  <a:pos x="17" y="77"/>
                </a:cxn>
                <a:cxn ang="0">
                  <a:pos x="22" y="69"/>
                </a:cxn>
                <a:cxn ang="0">
                  <a:pos x="29" y="45"/>
                </a:cxn>
                <a:cxn ang="0">
                  <a:pos x="46" y="33"/>
                </a:cxn>
                <a:cxn ang="0">
                  <a:pos x="67" y="13"/>
                </a:cxn>
                <a:cxn ang="0">
                  <a:pos x="89" y="8"/>
                </a:cxn>
                <a:cxn ang="0">
                  <a:pos x="94" y="0"/>
                </a:cxn>
                <a:cxn ang="0">
                  <a:pos x="139" y="35"/>
                </a:cxn>
                <a:cxn ang="0">
                  <a:pos x="128" y="49"/>
                </a:cxn>
                <a:cxn ang="0">
                  <a:pos x="122" y="54"/>
                </a:cxn>
                <a:cxn ang="0">
                  <a:pos x="114" y="57"/>
                </a:cxn>
                <a:cxn ang="0">
                  <a:pos x="115" y="73"/>
                </a:cxn>
              </a:cxnLst>
              <a:rect l="0" t="0" r="r" b="b"/>
              <a:pathLst>
                <a:path w="145" h="221">
                  <a:moveTo>
                    <a:pt x="115" y="73"/>
                  </a:moveTo>
                  <a:lnTo>
                    <a:pt x="101" y="85"/>
                  </a:lnTo>
                  <a:lnTo>
                    <a:pt x="90" y="91"/>
                  </a:lnTo>
                  <a:lnTo>
                    <a:pt x="84" y="95"/>
                  </a:lnTo>
                  <a:lnTo>
                    <a:pt x="77" y="96"/>
                  </a:lnTo>
                  <a:lnTo>
                    <a:pt x="74" y="103"/>
                  </a:lnTo>
                  <a:lnTo>
                    <a:pt x="72" y="105"/>
                  </a:lnTo>
                  <a:lnTo>
                    <a:pt x="71" y="115"/>
                  </a:lnTo>
                  <a:lnTo>
                    <a:pt x="76" y="133"/>
                  </a:lnTo>
                  <a:lnTo>
                    <a:pt x="90" y="139"/>
                  </a:lnTo>
                  <a:lnTo>
                    <a:pt x="96" y="146"/>
                  </a:lnTo>
                  <a:lnTo>
                    <a:pt x="83" y="153"/>
                  </a:lnTo>
                  <a:lnTo>
                    <a:pt x="78" y="149"/>
                  </a:lnTo>
                  <a:lnTo>
                    <a:pt x="79" y="151"/>
                  </a:lnTo>
                  <a:lnTo>
                    <a:pt x="62" y="152"/>
                  </a:lnTo>
                  <a:lnTo>
                    <a:pt x="91" y="155"/>
                  </a:lnTo>
                  <a:lnTo>
                    <a:pt x="83" y="161"/>
                  </a:lnTo>
                  <a:lnTo>
                    <a:pt x="82" y="158"/>
                  </a:lnTo>
                  <a:lnTo>
                    <a:pt x="73" y="167"/>
                  </a:lnTo>
                  <a:lnTo>
                    <a:pt x="67" y="165"/>
                  </a:lnTo>
                  <a:lnTo>
                    <a:pt x="72" y="169"/>
                  </a:lnTo>
                  <a:lnTo>
                    <a:pt x="71" y="170"/>
                  </a:lnTo>
                  <a:lnTo>
                    <a:pt x="70" y="176"/>
                  </a:lnTo>
                  <a:lnTo>
                    <a:pt x="72" y="181"/>
                  </a:lnTo>
                  <a:lnTo>
                    <a:pt x="71" y="180"/>
                  </a:lnTo>
                  <a:lnTo>
                    <a:pt x="68" y="193"/>
                  </a:lnTo>
                  <a:lnTo>
                    <a:pt x="66" y="206"/>
                  </a:lnTo>
                  <a:lnTo>
                    <a:pt x="44" y="211"/>
                  </a:lnTo>
                  <a:lnTo>
                    <a:pt x="42" y="221"/>
                  </a:lnTo>
                  <a:lnTo>
                    <a:pt x="28" y="219"/>
                  </a:lnTo>
                  <a:lnTo>
                    <a:pt x="23" y="206"/>
                  </a:lnTo>
                  <a:lnTo>
                    <a:pt x="20" y="195"/>
                  </a:lnTo>
                  <a:lnTo>
                    <a:pt x="7" y="177"/>
                  </a:lnTo>
                  <a:lnTo>
                    <a:pt x="8" y="173"/>
                  </a:lnTo>
                  <a:lnTo>
                    <a:pt x="5" y="171"/>
                  </a:lnTo>
                  <a:lnTo>
                    <a:pt x="4" y="171"/>
                  </a:lnTo>
                  <a:lnTo>
                    <a:pt x="0" y="162"/>
                  </a:lnTo>
                  <a:lnTo>
                    <a:pt x="2" y="161"/>
                  </a:lnTo>
                  <a:lnTo>
                    <a:pt x="10" y="145"/>
                  </a:lnTo>
                  <a:lnTo>
                    <a:pt x="12" y="131"/>
                  </a:lnTo>
                  <a:lnTo>
                    <a:pt x="12" y="126"/>
                  </a:lnTo>
                  <a:lnTo>
                    <a:pt x="17" y="121"/>
                  </a:lnTo>
                  <a:lnTo>
                    <a:pt x="7" y="115"/>
                  </a:lnTo>
                  <a:lnTo>
                    <a:pt x="7" y="99"/>
                  </a:lnTo>
                  <a:lnTo>
                    <a:pt x="6" y="84"/>
                  </a:lnTo>
                  <a:lnTo>
                    <a:pt x="17" y="77"/>
                  </a:lnTo>
                  <a:lnTo>
                    <a:pt x="28" y="75"/>
                  </a:lnTo>
                  <a:lnTo>
                    <a:pt x="22" y="69"/>
                  </a:lnTo>
                  <a:lnTo>
                    <a:pt x="31" y="49"/>
                  </a:lnTo>
                  <a:lnTo>
                    <a:pt x="29" y="45"/>
                  </a:lnTo>
                  <a:lnTo>
                    <a:pt x="40" y="43"/>
                  </a:lnTo>
                  <a:lnTo>
                    <a:pt x="46" y="33"/>
                  </a:lnTo>
                  <a:lnTo>
                    <a:pt x="52" y="18"/>
                  </a:lnTo>
                  <a:lnTo>
                    <a:pt x="67" y="13"/>
                  </a:lnTo>
                  <a:lnTo>
                    <a:pt x="68" y="8"/>
                  </a:lnTo>
                  <a:lnTo>
                    <a:pt x="89" y="8"/>
                  </a:lnTo>
                  <a:lnTo>
                    <a:pt x="88" y="0"/>
                  </a:lnTo>
                  <a:lnTo>
                    <a:pt x="94" y="0"/>
                  </a:lnTo>
                  <a:lnTo>
                    <a:pt x="127" y="14"/>
                  </a:lnTo>
                  <a:lnTo>
                    <a:pt x="139" y="35"/>
                  </a:lnTo>
                  <a:lnTo>
                    <a:pt x="145" y="50"/>
                  </a:lnTo>
                  <a:lnTo>
                    <a:pt x="128" y="49"/>
                  </a:lnTo>
                  <a:lnTo>
                    <a:pt x="124" y="51"/>
                  </a:lnTo>
                  <a:lnTo>
                    <a:pt x="122" y="54"/>
                  </a:lnTo>
                  <a:lnTo>
                    <a:pt x="120" y="53"/>
                  </a:lnTo>
                  <a:lnTo>
                    <a:pt x="114" y="57"/>
                  </a:lnTo>
                  <a:lnTo>
                    <a:pt x="112" y="66"/>
                  </a:lnTo>
                  <a:lnTo>
                    <a:pt x="115"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9" name="Freeform 388"/>
            <p:cNvSpPr>
              <a:spLocks/>
            </p:cNvSpPr>
            <p:nvPr/>
          </p:nvSpPr>
          <p:spPr bwMode="auto">
            <a:xfrm>
              <a:off x="2793" y="1563"/>
              <a:ext cx="9" cy="16"/>
            </a:xfrm>
            <a:custGeom>
              <a:avLst/>
              <a:gdLst/>
              <a:ahLst/>
              <a:cxnLst>
                <a:cxn ang="0">
                  <a:pos x="8" y="0"/>
                </a:cxn>
                <a:cxn ang="0">
                  <a:pos x="8" y="3"/>
                </a:cxn>
                <a:cxn ang="0">
                  <a:pos x="4" y="12"/>
                </a:cxn>
                <a:cxn ang="0">
                  <a:pos x="3" y="13"/>
                </a:cxn>
                <a:cxn ang="0">
                  <a:pos x="0" y="7"/>
                </a:cxn>
                <a:cxn ang="0">
                  <a:pos x="8" y="0"/>
                </a:cxn>
              </a:cxnLst>
              <a:rect l="0" t="0" r="r" b="b"/>
              <a:pathLst>
                <a:path w="8" h="13">
                  <a:moveTo>
                    <a:pt x="8" y="0"/>
                  </a:moveTo>
                  <a:lnTo>
                    <a:pt x="8" y="3"/>
                  </a:lnTo>
                  <a:lnTo>
                    <a:pt x="4" y="12"/>
                  </a:lnTo>
                  <a:lnTo>
                    <a:pt x="3" y="13"/>
                  </a:lnTo>
                  <a:lnTo>
                    <a:pt x="0" y="7"/>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0" name="Freeform 389"/>
            <p:cNvSpPr>
              <a:spLocks/>
            </p:cNvSpPr>
            <p:nvPr/>
          </p:nvSpPr>
          <p:spPr bwMode="auto">
            <a:xfrm>
              <a:off x="2627" y="1756"/>
              <a:ext cx="69" cy="34"/>
            </a:xfrm>
            <a:custGeom>
              <a:avLst/>
              <a:gdLst/>
              <a:ahLst/>
              <a:cxnLst>
                <a:cxn ang="0">
                  <a:pos x="58" y="18"/>
                </a:cxn>
                <a:cxn ang="0">
                  <a:pos x="56" y="23"/>
                </a:cxn>
                <a:cxn ang="0">
                  <a:pos x="45" y="23"/>
                </a:cxn>
                <a:cxn ang="0">
                  <a:pos x="40" y="30"/>
                </a:cxn>
                <a:cxn ang="0">
                  <a:pos x="30" y="23"/>
                </a:cxn>
                <a:cxn ang="0">
                  <a:pos x="22" y="29"/>
                </a:cxn>
                <a:cxn ang="0">
                  <a:pos x="14" y="30"/>
                </a:cxn>
                <a:cxn ang="0">
                  <a:pos x="5" y="20"/>
                </a:cxn>
                <a:cxn ang="0">
                  <a:pos x="0" y="24"/>
                </a:cxn>
                <a:cxn ang="0">
                  <a:pos x="12" y="6"/>
                </a:cxn>
                <a:cxn ang="0">
                  <a:pos x="16" y="3"/>
                </a:cxn>
                <a:cxn ang="0">
                  <a:pos x="21" y="1"/>
                </a:cxn>
                <a:cxn ang="0">
                  <a:pos x="34" y="0"/>
                </a:cxn>
                <a:cxn ang="0">
                  <a:pos x="48" y="2"/>
                </a:cxn>
                <a:cxn ang="0">
                  <a:pos x="47" y="6"/>
                </a:cxn>
                <a:cxn ang="0">
                  <a:pos x="47" y="8"/>
                </a:cxn>
                <a:cxn ang="0">
                  <a:pos x="47" y="9"/>
                </a:cxn>
                <a:cxn ang="0">
                  <a:pos x="50" y="9"/>
                </a:cxn>
                <a:cxn ang="0">
                  <a:pos x="62" y="13"/>
                </a:cxn>
                <a:cxn ang="0">
                  <a:pos x="62" y="14"/>
                </a:cxn>
                <a:cxn ang="0">
                  <a:pos x="58" y="18"/>
                </a:cxn>
              </a:cxnLst>
              <a:rect l="0" t="0" r="r" b="b"/>
              <a:pathLst>
                <a:path w="62" h="30">
                  <a:moveTo>
                    <a:pt x="58" y="18"/>
                  </a:moveTo>
                  <a:lnTo>
                    <a:pt x="56" y="23"/>
                  </a:lnTo>
                  <a:lnTo>
                    <a:pt x="45" y="23"/>
                  </a:lnTo>
                  <a:lnTo>
                    <a:pt x="40" y="30"/>
                  </a:lnTo>
                  <a:lnTo>
                    <a:pt x="30" y="23"/>
                  </a:lnTo>
                  <a:lnTo>
                    <a:pt x="22" y="29"/>
                  </a:lnTo>
                  <a:lnTo>
                    <a:pt x="14" y="30"/>
                  </a:lnTo>
                  <a:lnTo>
                    <a:pt x="5" y="20"/>
                  </a:lnTo>
                  <a:lnTo>
                    <a:pt x="0" y="24"/>
                  </a:lnTo>
                  <a:lnTo>
                    <a:pt x="12" y="6"/>
                  </a:lnTo>
                  <a:lnTo>
                    <a:pt x="16" y="3"/>
                  </a:lnTo>
                  <a:lnTo>
                    <a:pt x="21" y="1"/>
                  </a:lnTo>
                  <a:lnTo>
                    <a:pt x="34" y="0"/>
                  </a:lnTo>
                  <a:lnTo>
                    <a:pt x="48" y="2"/>
                  </a:lnTo>
                  <a:lnTo>
                    <a:pt x="47" y="6"/>
                  </a:lnTo>
                  <a:lnTo>
                    <a:pt x="47" y="8"/>
                  </a:lnTo>
                  <a:lnTo>
                    <a:pt x="47" y="9"/>
                  </a:lnTo>
                  <a:lnTo>
                    <a:pt x="50" y="9"/>
                  </a:lnTo>
                  <a:lnTo>
                    <a:pt x="62" y="13"/>
                  </a:lnTo>
                  <a:lnTo>
                    <a:pt x="62" y="14"/>
                  </a:lnTo>
                  <a:lnTo>
                    <a:pt x="58"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1" name="Freeform 390"/>
            <p:cNvSpPr>
              <a:spLocks/>
            </p:cNvSpPr>
            <p:nvPr/>
          </p:nvSpPr>
          <p:spPr bwMode="auto">
            <a:xfrm>
              <a:off x="2873" y="1663"/>
              <a:ext cx="285" cy="158"/>
            </a:xfrm>
            <a:custGeom>
              <a:avLst/>
              <a:gdLst/>
              <a:ahLst/>
              <a:cxnLst>
                <a:cxn ang="0">
                  <a:pos x="135" y="0"/>
                </a:cxn>
                <a:cxn ang="0">
                  <a:pos x="124" y="3"/>
                </a:cxn>
                <a:cxn ang="0">
                  <a:pos x="107" y="12"/>
                </a:cxn>
                <a:cxn ang="0">
                  <a:pos x="108" y="19"/>
                </a:cxn>
                <a:cxn ang="0">
                  <a:pos x="84" y="14"/>
                </a:cxn>
                <a:cxn ang="0">
                  <a:pos x="60" y="9"/>
                </a:cxn>
                <a:cxn ang="0">
                  <a:pos x="38" y="9"/>
                </a:cxn>
                <a:cxn ang="0">
                  <a:pos x="14" y="9"/>
                </a:cxn>
                <a:cxn ang="0">
                  <a:pos x="21" y="28"/>
                </a:cxn>
                <a:cxn ang="0">
                  <a:pos x="20" y="37"/>
                </a:cxn>
                <a:cxn ang="0">
                  <a:pos x="6" y="55"/>
                </a:cxn>
                <a:cxn ang="0">
                  <a:pos x="4" y="60"/>
                </a:cxn>
                <a:cxn ang="0">
                  <a:pos x="0" y="72"/>
                </a:cxn>
                <a:cxn ang="0">
                  <a:pos x="11" y="80"/>
                </a:cxn>
                <a:cxn ang="0">
                  <a:pos x="12" y="79"/>
                </a:cxn>
                <a:cxn ang="0">
                  <a:pos x="39" y="81"/>
                </a:cxn>
                <a:cxn ang="0">
                  <a:pos x="63" y="74"/>
                </a:cxn>
                <a:cxn ang="0">
                  <a:pos x="75" y="64"/>
                </a:cxn>
                <a:cxn ang="0">
                  <a:pos x="80" y="66"/>
                </a:cxn>
                <a:cxn ang="0">
                  <a:pos x="90" y="76"/>
                </a:cxn>
                <a:cxn ang="0">
                  <a:pos x="101" y="87"/>
                </a:cxn>
                <a:cxn ang="0">
                  <a:pos x="113" y="97"/>
                </a:cxn>
                <a:cxn ang="0">
                  <a:pos x="124" y="108"/>
                </a:cxn>
                <a:cxn ang="0">
                  <a:pos x="136" y="100"/>
                </a:cxn>
                <a:cxn ang="0">
                  <a:pos x="140" y="103"/>
                </a:cxn>
                <a:cxn ang="0">
                  <a:pos x="138" y="94"/>
                </a:cxn>
                <a:cxn ang="0">
                  <a:pos x="141" y="100"/>
                </a:cxn>
                <a:cxn ang="0">
                  <a:pos x="152" y="103"/>
                </a:cxn>
                <a:cxn ang="0">
                  <a:pos x="137" y="104"/>
                </a:cxn>
                <a:cxn ang="0">
                  <a:pos x="143" y="108"/>
                </a:cxn>
                <a:cxn ang="0">
                  <a:pos x="155" y="111"/>
                </a:cxn>
                <a:cxn ang="0">
                  <a:pos x="167" y="114"/>
                </a:cxn>
                <a:cxn ang="0">
                  <a:pos x="153" y="123"/>
                </a:cxn>
                <a:cxn ang="0">
                  <a:pos x="164" y="128"/>
                </a:cxn>
                <a:cxn ang="0">
                  <a:pos x="170" y="134"/>
                </a:cxn>
                <a:cxn ang="0">
                  <a:pos x="172" y="141"/>
                </a:cxn>
                <a:cxn ang="0">
                  <a:pos x="192" y="133"/>
                </a:cxn>
                <a:cxn ang="0">
                  <a:pos x="202" y="132"/>
                </a:cxn>
                <a:cxn ang="0">
                  <a:pos x="210" y="126"/>
                </a:cxn>
                <a:cxn ang="0">
                  <a:pos x="198" y="126"/>
                </a:cxn>
                <a:cxn ang="0">
                  <a:pos x="185" y="115"/>
                </a:cxn>
                <a:cxn ang="0">
                  <a:pos x="189" y="106"/>
                </a:cxn>
                <a:cxn ang="0">
                  <a:pos x="186" y="111"/>
                </a:cxn>
                <a:cxn ang="0">
                  <a:pos x="191" y="108"/>
                </a:cxn>
                <a:cxn ang="0">
                  <a:pos x="210" y="100"/>
                </a:cxn>
                <a:cxn ang="0">
                  <a:pos x="232" y="92"/>
                </a:cxn>
                <a:cxn ang="0">
                  <a:pos x="240" y="91"/>
                </a:cxn>
                <a:cxn ang="0">
                  <a:pos x="245" y="81"/>
                </a:cxn>
                <a:cxn ang="0">
                  <a:pos x="256" y="75"/>
                </a:cxn>
                <a:cxn ang="0">
                  <a:pos x="248" y="51"/>
                </a:cxn>
                <a:cxn ang="0">
                  <a:pos x="226" y="44"/>
                </a:cxn>
                <a:cxn ang="0">
                  <a:pos x="206" y="38"/>
                </a:cxn>
                <a:cxn ang="0">
                  <a:pos x="196" y="39"/>
                </a:cxn>
                <a:cxn ang="0">
                  <a:pos x="178" y="24"/>
                </a:cxn>
                <a:cxn ang="0">
                  <a:pos x="160" y="8"/>
                </a:cxn>
                <a:cxn ang="0">
                  <a:pos x="158" y="2"/>
                </a:cxn>
                <a:cxn ang="0">
                  <a:pos x="135" y="0"/>
                </a:cxn>
              </a:cxnLst>
              <a:rect l="0" t="0" r="r" b="b"/>
              <a:pathLst>
                <a:path w="256" h="141">
                  <a:moveTo>
                    <a:pt x="135" y="0"/>
                  </a:moveTo>
                  <a:lnTo>
                    <a:pt x="124" y="3"/>
                  </a:lnTo>
                  <a:lnTo>
                    <a:pt x="107" y="12"/>
                  </a:lnTo>
                  <a:lnTo>
                    <a:pt x="108" y="19"/>
                  </a:lnTo>
                  <a:lnTo>
                    <a:pt x="84" y="14"/>
                  </a:lnTo>
                  <a:lnTo>
                    <a:pt x="60" y="9"/>
                  </a:lnTo>
                  <a:lnTo>
                    <a:pt x="38" y="9"/>
                  </a:lnTo>
                  <a:lnTo>
                    <a:pt x="14" y="9"/>
                  </a:lnTo>
                  <a:lnTo>
                    <a:pt x="21" y="28"/>
                  </a:lnTo>
                  <a:lnTo>
                    <a:pt x="20" y="37"/>
                  </a:lnTo>
                  <a:lnTo>
                    <a:pt x="6" y="55"/>
                  </a:lnTo>
                  <a:lnTo>
                    <a:pt x="4" y="60"/>
                  </a:lnTo>
                  <a:lnTo>
                    <a:pt x="0" y="72"/>
                  </a:lnTo>
                  <a:lnTo>
                    <a:pt x="11" y="80"/>
                  </a:lnTo>
                  <a:lnTo>
                    <a:pt x="12" y="79"/>
                  </a:lnTo>
                  <a:lnTo>
                    <a:pt x="39" y="81"/>
                  </a:lnTo>
                  <a:lnTo>
                    <a:pt x="63" y="74"/>
                  </a:lnTo>
                  <a:lnTo>
                    <a:pt x="75" y="64"/>
                  </a:lnTo>
                  <a:lnTo>
                    <a:pt x="80" y="66"/>
                  </a:lnTo>
                  <a:lnTo>
                    <a:pt x="90" y="76"/>
                  </a:lnTo>
                  <a:lnTo>
                    <a:pt x="101" y="87"/>
                  </a:lnTo>
                  <a:lnTo>
                    <a:pt x="113" y="97"/>
                  </a:lnTo>
                  <a:lnTo>
                    <a:pt x="124" y="108"/>
                  </a:lnTo>
                  <a:lnTo>
                    <a:pt x="136" y="100"/>
                  </a:lnTo>
                  <a:lnTo>
                    <a:pt x="140" y="103"/>
                  </a:lnTo>
                  <a:lnTo>
                    <a:pt x="138" y="94"/>
                  </a:lnTo>
                  <a:lnTo>
                    <a:pt x="141" y="100"/>
                  </a:lnTo>
                  <a:lnTo>
                    <a:pt x="152" y="103"/>
                  </a:lnTo>
                  <a:lnTo>
                    <a:pt x="137" y="104"/>
                  </a:lnTo>
                  <a:lnTo>
                    <a:pt x="143" y="108"/>
                  </a:lnTo>
                  <a:lnTo>
                    <a:pt x="155" y="111"/>
                  </a:lnTo>
                  <a:lnTo>
                    <a:pt x="167" y="114"/>
                  </a:lnTo>
                  <a:lnTo>
                    <a:pt x="153" y="123"/>
                  </a:lnTo>
                  <a:lnTo>
                    <a:pt x="164" y="128"/>
                  </a:lnTo>
                  <a:lnTo>
                    <a:pt x="170" y="134"/>
                  </a:lnTo>
                  <a:lnTo>
                    <a:pt x="172" y="141"/>
                  </a:lnTo>
                  <a:lnTo>
                    <a:pt x="192" y="133"/>
                  </a:lnTo>
                  <a:lnTo>
                    <a:pt x="202" y="132"/>
                  </a:lnTo>
                  <a:lnTo>
                    <a:pt x="210" y="126"/>
                  </a:lnTo>
                  <a:lnTo>
                    <a:pt x="198" y="126"/>
                  </a:lnTo>
                  <a:lnTo>
                    <a:pt x="185" y="115"/>
                  </a:lnTo>
                  <a:lnTo>
                    <a:pt x="189" y="106"/>
                  </a:lnTo>
                  <a:lnTo>
                    <a:pt x="186" y="111"/>
                  </a:lnTo>
                  <a:lnTo>
                    <a:pt x="191" y="108"/>
                  </a:lnTo>
                  <a:lnTo>
                    <a:pt x="210" y="100"/>
                  </a:lnTo>
                  <a:lnTo>
                    <a:pt x="232" y="92"/>
                  </a:lnTo>
                  <a:lnTo>
                    <a:pt x="240" y="91"/>
                  </a:lnTo>
                  <a:lnTo>
                    <a:pt x="245" y="81"/>
                  </a:lnTo>
                  <a:lnTo>
                    <a:pt x="256" y="75"/>
                  </a:lnTo>
                  <a:lnTo>
                    <a:pt x="248" y="51"/>
                  </a:lnTo>
                  <a:lnTo>
                    <a:pt x="226" y="44"/>
                  </a:lnTo>
                  <a:lnTo>
                    <a:pt x="206" y="38"/>
                  </a:lnTo>
                  <a:lnTo>
                    <a:pt x="196" y="39"/>
                  </a:lnTo>
                  <a:lnTo>
                    <a:pt x="178" y="24"/>
                  </a:lnTo>
                  <a:lnTo>
                    <a:pt x="160" y="8"/>
                  </a:lnTo>
                  <a:lnTo>
                    <a:pt x="158" y="2"/>
                  </a:lnTo>
                  <a:lnTo>
                    <a:pt x="13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2" name="Freeform 391"/>
            <p:cNvSpPr>
              <a:spLocks/>
            </p:cNvSpPr>
            <p:nvPr/>
          </p:nvSpPr>
          <p:spPr bwMode="auto">
            <a:xfrm>
              <a:off x="2827" y="1788"/>
              <a:ext cx="69" cy="82"/>
            </a:xfrm>
            <a:custGeom>
              <a:avLst/>
              <a:gdLst/>
              <a:ahLst/>
              <a:cxnLst>
                <a:cxn ang="0">
                  <a:pos x="11" y="16"/>
                </a:cxn>
                <a:cxn ang="0">
                  <a:pos x="11" y="17"/>
                </a:cxn>
                <a:cxn ang="0">
                  <a:pos x="7" y="18"/>
                </a:cxn>
                <a:cxn ang="0">
                  <a:pos x="6" y="22"/>
                </a:cxn>
                <a:cxn ang="0">
                  <a:pos x="10" y="22"/>
                </a:cxn>
                <a:cxn ang="0">
                  <a:pos x="11" y="24"/>
                </a:cxn>
                <a:cxn ang="0">
                  <a:pos x="10" y="27"/>
                </a:cxn>
                <a:cxn ang="0">
                  <a:pos x="7" y="30"/>
                </a:cxn>
                <a:cxn ang="0">
                  <a:pos x="7" y="31"/>
                </a:cxn>
                <a:cxn ang="0">
                  <a:pos x="10" y="34"/>
                </a:cxn>
                <a:cxn ang="0">
                  <a:pos x="16" y="37"/>
                </a:cxn>
                <a:cxn ang="0">
                  <a:pos x="11" y="40"/>
                </a:cxn>
                <a:cxn ang="0">
                  <a:pos x="15" y="42"/>
                </a:cxn>
                <a:cxn ang="0">
                  <a:pos x="15" y="46"/>
                </a:cxn>
                <a:cxn ang="0">
                  <a:pos x="6" y="47"/>
                </a:cxn>
                <a:cxn ang="0">
                  <a:pos x="10" y="51"/>
                </a:cxn>
                <a:cxn ang="0">
                  <a:pos x="9" y="52"/>
                </a:cxn>
                <a:cxn ang="0">
                  <a:pos x="6" y="51"/>
                </a:cxn>
                <a:cxn ang="0">
                  <a:pos x="3" y="55"/>
                </a:cxn>
                <a:cxn ang="0">
                  <a:pos x="0" y="57"/>
                </a:cxn>
                <a:cxn ang="0">
                  <a:pos x="4" y="61"/>
                </a:cxn>
                <a:cxn ang="0">
                  <a:pos x="0" y="63"/>
                </a:cxn>
                <a:cxn ang="0">
                  <a:pos x="0" y="64"/>
                </a:cxn>
                <a:cxn ang="0">
                  <a:pos x="0" y="66"/>
                </a:cxn>
                <a:cxn ang="0">
                  <a:pos x="10" y="71"/>
                </a:cxn>
                <a:cxn ang="0">
                  <a:pos x="16" y="76"/>
                </a:cxn>
                <a:cxn ang="0">
                  <a:pos x="18" y="64"/>
                </a:cxn>
                <a:cxn ang="0">
                  <a:pos x="27" y="66"/>
                </a:cxn>
                <a:cxn ang="0">
                  <a:pos x="31" y="76"/>
                </a:cxn>
                <a:cxn ang="0">
                  <a:pos x="34" y="75"/>
                </a:cxn>
                <a:cxn ang="0">
                  <a:pos x="34" y="72"/>
                </a:cxn>
                <a:cxn ang="0">
                  <a:pos x="39" y="71"/>
                </a:cxn>
                <a:cxn ang="0">
                  <a:pos x="42" y="72"/>
                </a:cxn>
                <a:cxn ang="0">
                  <a:pos x="45" y="69"/>
                </a:cxn>
                <a:cxn ang="0">
                  <a:pos x="47" y="70"/>
                </a:cxn>
                <a:cxn ang="0">
                  <a:pos x="49" y="70"/>
                </a:cxn>
                <a:cxn ang="0">
                  <a:pos x="52" y="69"/>
                </a:cxn>
                <a:cxn ang="0">
                  <a:pos x="57" y="67"/>
                </a:cxn>
                <a:cxn ang="0">
                  <a:pos x="60" y="71"/>
                </a:cxn>
                <a:cxn ang="0">
                  <a:pos x="63" y="70"/>
                </a:cxn>
                <a:cxn ang="0">
                  <a:pos x="58" y="64"/>
                </a:cxn>
                <a:cxn ang="0">
                  <a:pos x="64" y="54"/>
                </a:cxn>
                <a:cxn ang="0">
                  <a:pos x="58" y="45"/>
                </a:cxn>
                <a:cxn ang="0">
                  <a:pos x="59" y="34"/>
                </a:cxn>
                <a:cxn ang="0">
                  <a:pos x="58" y="28"/>
                </a:cxn>
                <a:cxn ang="0">
                  <a:pos x="53" y="27"/>
                </a:cxn>
                <a:cxn ang="0">
                  <a:pos x="48" y="25"/>
                </a:cxn>
                <a:cxn ang="0">
                  <a:pos x="42" y="22"/>
                </a:cxn>
                <a:cxn ang="0">
                  <a:pos x="22" y="0"/>
                </a:cxn>
                <a:cxn ang="0">
                  <a:pos x="1" y="5"/>
                </a:cxn>
                <a:cxn ang="0">
                  <a:pos x="5" y="11"/>
                </a:cxn>
                <a:cxn ang="0">
                  <a:pos x="6" y="11"/>
                </a:cxn>
                <a:cxn ang="0">
                  <a:pos x="5" y="13"/>
                </a:cxn>
                <a:cxn ang="0">
                  <a:pos x="6" y="15"/>
                </a:cxn>
                <a:cxn ang="0">
                  <a:pos x="11" y="16"/>
                </a:cxn>
              </a:cxnLst>
              <a:rect l="0" t="0" r="r" b="b"/>
              <a:pathLst>
                <a:path w="64" h="76">
                  <a:moveTo>
                    <a:pt x="11" y="16"/>
                  </a:moveTo>
                  <a:lnTo>
                    <a:pt x="11" y="17"/>
                  </a:lnTo>
                  <a:lnTo>
                    <a:pt x="7" y="18"/>
                  </a:lnTo>
                  <a:lnTo>
                    <a:pt x="6" y="22"/>
                  </a:lnTo>
                  <a:lnTo>
                    <a:pt x="10" y="22"/>
                  </a:lnTo>
                  <a:lnTo>
                    <a:pt x="11" y="24"/>
                  </a:lnTo>
                  <a:lnTo>
                    <a:pt x="10" y="27"/>
                  </a:lnTo>
                  <a:lnTo>
                    <a:pt x="7" y="30"/>
                  </a:lnTo>
                  <a:lnTo>
                    <a:pt x="7" y="31"/>
                  </a:lnTo>
                  <a:lnTo>
                    <a:pt x="10" y="34"/>
                  </a:lnTo>
                  <a:lnTo>
                    <a:pt x="16" y="37"/>
                  </a:lnTo>
                  <a:lnTo>
                    <a:pt x="11" y="40"/>
                  </a:lnTo>
                  <a:lnTo>
                    <a:pt x="15" y="42"/>
                  </a:lnTo>
                  <a:lnTo>
                    <a:pt x="15" y="46"/>
                  </a:lnTo>
                  <a:lnTo>
                    <a:pt x="6" y="47"/>
                  </a:lnTo>
                  <a:lnTo>
                    <a:pt x="10" y="51"/>
                  </a:lnTo>
                  <a:lnTo>
                    <a:pt x="9" y="52"/>
                  </a:lnTo>
                  <a:lnTo>
                    <a:pt x="6" y="51"/>
                  </a:lnTo>
                  <a:lnTo>
                    <a:pt x="3" y="55"/>
                  </a:lnTo>
                  <a:lnTo>
                    <a:pt x="0" y="57"/>
                  </a:lnTo>
                  <a:lnTo>
                    <a:pt x="4" y="61"/>
                  </a:lnTo>
                  <a:lnTo>
                    <a:pt x="0" y="63"/>
                  </a:lnTo>
                  <a:lnTo>
                    <a:pt x="0" y="64"/>
                  </a:lnTo>
                  <a:lnTo>
                    <a:pt x="0" y="66"/>
                  </a:lnTo>
                  <a:lnTo>
                    <a:pt x="10" y="71"/>
                  </a:lnTo>
                  <a:lnTo>
                    <a:pt x="16" y="76"/>
                  </a:lnTo>
                  <a:lnTo>
                    <a:pt x="18" y="64"/>
                  </a:lnTo>
                  <a:lnTo>
                    <a:pt x="27" y="66"/>
                  </a:lnTo>
                  <a:lnTo>
                    <a:pt x="31" y="76"/>
                  </a:lnTo>
                  <a:lnTo>
                    <a:pt x="34" y="75"/>
                  </a:lnTo>
                  <a:lnTo>
                    <a:pt x="34" y="72"/>
                  </a:lnTo>
                  <a:lnTo>
                    <a:pt x="39" y="71"/>
                  </a:lnTo>
                  <a:lnTo>
                    <a:pt x="42" y="72"/>
                  </a:lnTo>
                  <a:lnTo>
                    <a:pt x="45" y="69"/>
                  </a:lnTo>
                  <a:lnTo>
                    <a:pt x="47" y="70"/>
                  </a:lnTo>
                  <a:lnTo>
                    <a:pt x="49" y="70"/>
                  </a:lnTo>
                  <a:lnTo>
                    <a:pt x="52" y="69"/>
                  </a:lnTo>
                  <a:lnTo>
                    <a:pt x="57" y="67"/>
                  </a:lnTo>
                  <a:lnTo>
                    <a:pt x="60" y="71"/>
                  </a:lnTo>
                  <a:lnTo>
                    <a:pt x="63" y="70"/>
                  </a:lnTo>
                  <a:lnTo>
                    <a:pt x="58" y="64"/>
                  </a:lnTo>
                  <a:lnTo>
                    <a:pt x="64" y="54"/>
                  </a:lnTo>
                  <a:lnTo>
                    <a:pt x="58" y="45"/>
                  </a:lnTo>
                  <a:lnTo>
                    <a:pt x="59" y="34"/>
                  </a:lnTo>
                  <a:lnTo>
                    <a:pt x="58" y="28"/>
                  </a:lnTo>
                  <a:lnTo>
                    <a:pt x="53" y="27"/>
                  </a:lnTo>
                  <a:lnTo>
                    <a:pt x="48" y="25"/>
                  </a:lnTo>
                  <a:lnTo>
                    <a:pt x="42" y="22"/>
                  </a:lnTo>
                  <a:lnTo>
                    <a:pt x="22" y="0"/>
                  </a:lnTo>
                  <a:lnTo>
                    <a:pt x="1" y="5"/>
                  </a:lnTo>
                  <a:lnTo>
                    <a:pt x="5" y="11"/>
                  </a:lnTo>
                  <a:lnTo>
                    <a:pt x="6" y="11"/>
                  </a:lnTo>
                  <a:lnTo>
                    <a:pt x="5" y="13"/>
                  </a:lnTo>
                  <a:lnTo>
                    <a:pt x="6" y="15"/>
                  </a:lnTo>
                  <a:lnTo>
                    <a:pt x="11"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3" name="Freeform 392"/>
            <p:cNvSpPr>
              <a:spLocks/>
            </p:cNvSpPr>
            <p:nvPr/>
          </p:nvSpPr>
          <p:spPr bwMode="auto">
            <a:xfrm>
              <a:off x="554" y="1316"/>
              <a:ext cx="1144" cy="558"/>
            </a:xfrm>
            <a:custGeom>
              <a:avLst/>
              <a:gdLst/>
              <a:ahLst/>
              <a:cxnLst>
                <a:cxn ang="0">
                  <a:pos x="793" y="84"/>
                </a:cxn>
                <a:cxn ang="0">
                  <a:pos x="839" y="34"/>
                </a:cxn>
                <a:cxn ang="0">
                  <a:pos x="756" y="56"/>
                </a:cxn>
                <a:cxn ang="0">
                  <a:pos x="723" y="32"/>
                </a:cxn>
                <a:cxn ang="0">
                  <a:pos x="721" y="2"/>
                </a:cxn>
                <a:cxn ang="0">
                  <a:pos x="709" y="38"/>
                </a:cxn>
                <a:cxn ang="0">
                  <a:pos x="655" y="75"/>
                </a:cxn>
                <a:cxn ang="0">
                  <a:pos x="666" y="55"/>
                </a:cxn>
                <a:cxn ang="0">
                  <a:pos x="627" y="63"/>
                </a:cxn>
                <a:cxn ang="0">
                  <a:pos x="544" y="52"/>
                </a:cxn>
                <a:cxn ang="0">
                  <a:pos x="509" y="64"/>
                </a:cxn>
                <a:cxn ang="0">
                  <a:pos x="437" y="45"/>
                </a:cxn>
                <a:cxn ang="0">
                  <a:pos x="346" y="36"/>
                </a:cxn>
                <a:cxn ang="0">
                  <a:pos x="288" y="28"/>
                </a:cxn>
                <a:cxn ang="0">
                  <a:pos x="124" y="69"/>
                </a:cxn>
                <a:cxn ang="0">
                  <a:pos x="22" y="188"/>
                </a:cxn>
                <a:cxn ang="0">
                  <a:pos x="72" y="254"/>
                </a:cxn>
                <a:cxn ang="0">
                  <a:pos x="47" y="277"/>
                </a:cxn>
                <a:cxn ang="0">
                  <a:pos x="61" y="298"/>
                </a:cxn>
                <a:cxn ang="0">
                  <a:pos x="63" y="321"/>
                </a:cxn>
                <a:cxn ang="0">
                  <a:pos x="37" y="337"/>
                </a:cxn>
                <a:cxn ang="0">
                  <a:pos x="59" y="344"/>
                </a:cxn>
                <a:cxn ang="0">
                  <a:pos x="70" y="358"/>
                </a:cxn>
                <a:cxn ang="0">
                  <a:pos x="75" y="370"/>
                </a:cxn>
                <a:cxn ang="0">
                  <a:pos x="271" y="373"/>
                </a:cxn>
                <a:cxn ang="0">
                  <a:pos x="468" y="367"/>
                </a:cxn>
                <a:cxn ang="0">
                  <a:pos x="582" y="409"/>
                </a:cxn>
                <a:cxn ang="0">
                  <a:pos x="579" y="495"/>
                </a:cxn>
                <a:cxn ang="0">
                  <a:pos x="695" y="457"/>
                </a:cxn>
                <a:cxn ang="0">
                  <a:pos x="820" y="403"/>
                </a:cxn>
                <a:cxn ang="0">
                  <a:pos x="868" y="428"/>
                </a:cxn>
                <a:cxn ang="0">
                  <a:pos x="841" y="451"/>
                </a:cxn>
                <a:cxn ang="0">
                  <a:pos x="913" y="439"/>
                </a:cxn>
                <a:cxn ang="0">
                  <a:pos x="865" y="408"/>
                </a:cxn>
                <a:cxn ang="0">
                  <a:pos x="891" y="378"/>
                </a:cxn>
                <a:cxn ang="0">
                  <a:pos x="809" y="388"/>
                </a:cxn>
                <a:cxn ang="0">
                  <a:pos x="978" y="337"/>
                </a:cxn>
                <a:cxn ang="0">
                  <a:pos x="1031" y="297"/>
                </a:cxn>
                <a:cxn ang="0">
                  <a:pos x="976" y="295"/>
                </a:cxn>
                <a:cxn ang="0">
                  <a:pos x="987" y="272"/>
                </a:cxn>
                <a:cxn ang="0">
                  <a:pos x="981" y="260"/>
                </a:cxn>
                <a:cxn ang="0">
                  <a:pos x="966" y="238"/>
                </a:cxn>
                <a:cxn ang="0">
                  <a:pos x="966" y="218"/>
                </a:cxn>
                <a:cxn ang="0">
                  <a:pos x="965" y="188"/>
                </a:cxn>
                <a:cxn ang="0">
                  <a:pos x="942" y="201"/>
                </a:cxn>
                <a:cxn ang="0">
                  <a:pos x="899" y="219"/>
                </a:cxn>
                <a:cxn ang="0">
                  <a:pos x="893" y="194"/>
                </a:cxn>
                <a:cxn ang="0">
                  <a:pos x="883" y="160"/>
                </a:cxn>
                <a:cxn ang="0">
                  <a:pos x="810" y="163"/>
                </a:cxn>
                <a:cxn ang="0">
                  <a:pos x="772" y="254"/>
                </a:cxn>
                <a:cxn ang="0">
                  <a:pos x="702" y="327"/>
                </a:cxn>
                <a:cxn ang="0">
                  <a:pos x="682" y="284"/>
                </a:cxn>
                <a:cxn ang="0">
                  <a:pos x="599" y="231"/>
                </a:cxn>
                <a:cxn ang="0">
                  <a:pos x="570" y="201"/>
                </a:cxn>
                <a:cxn ang="0">
                  <a:pos x="647" y="140"/>
                </a:cxn>
                <a:cxn ang="0">
                  <a:pos x="685" y="122"/>
                </a:cxn>
                <a:cxn ang="0">
                  <a:pos x="723" y="96"/>
                </a:cxn>
              </a:cxnLst>
              <a:rect l="0" t="0" r="r" b="b"/>
              <a:pathLst>
                <a:path w="1031" h="502">
                  <a:moveTo>
                    <a:pt x="759" y="87"/>
                  </a:moveTo>
                  <a:lnTo>
                    <a:pt x="753" y="81"/>
                  </a:lnTo>
                  <a:lnTo>
                    <a:pt x="769" y="82"/>
                  </a:lnTo>
                  <a:lnTo>
                    <a:pt x="777" y="86"/>
                  </a:lnTo>
                  <a:lnTo>
                    <a:pt x="785" y="85"/>
                  </a:lnTo>
                  <a:lnTo>
                    <a:pt x="779" y="76"/>
                  </a:lnTo>
                  <a:lnTo>
                    <a:pt x="785" y="78"/>
                  </a:lnTo>
                  <a:lnTo>
                    <a:pt x="789" y="79"/>
                  </a:lnTo>
                  <a:lnTo>
                    <a:pt x="793" y="84"/>
                  </a:lnTo>
                  <a:lnTo>
                    <a:pt x="822" y="73"/>
                  </a:lnTo>
                  <a:lnTo>
                    <a:pt x="827" y="66"/>
                  </a:lnTo>
                  <a:lnTo>
                    <a:pt x="826" y="57"/>
                  </a:lnTo>
                  <a:lnTo>
                    <a:pt x="827" y="52"/>
                  </a:lnTo>
                  <a:lnTo>
                    <a:pt x="841" y="48"/>
                  </a:lnTo>
                  <a:lnTo>
                    <a:pt x="833" y="45"/>
                  </a:lnTo>
                  <a:lnTo>
                    <a:pt x="845" y="40"/>
                  </a:lnTo>
                  <a:lnTo>
                    <a:pt x="826" y="36"/>
                  </a:lnTo>
                  <a:lnTo>
                    <a:pt x="839" y="34"/>
                  </a:lnTo>
                  <a:lnTo>
                    <a:pt x="804" y="33"/>
                  </a:lnTo>
                  <a:lnTo>
                    <a:pt x="801" y="42"/>
                  </a:lnTo>
                  <a:lnTo>
                    <a:pt x="802" y="45"/>
                  </a:lnTo>
                  <a:lnTo>
                    <a:pt x="801" y="48"/>
                  </a:lnTo>
                  <a:lnTo>
                    <a:pt x="790" y="48"/>
                  </a:lnTo>
                  <a:lnTo>
                    <a:pt x="763" y="69"/>
                  </a:lnTo>
                  <a:lnTo>
                    <a:pt x="754" y="70"/>
                  </a:lnTo>
                  <a:lnTo>
                    <a:pt x="751" y="58"/>
                  </a:lnTo>
                  <a:lnTo>
                    <a:pt x="756" y="56"/>
                  </a:lnTo>
                  <a:lnTo>
                    <a:pt x="763" y="45"/>
                  </a:lnTo>
                  <a:lnTo>
                    <a:pt x="753" y="40"/>
                  </a:lnTo>
                  <a:lnTo>
                    <a:pt x="731" y="56"/>
                  </a:lnTo>
                  <a:lnTo>
                    <a:pt x="737" y="43"/>
                  </a:lnTo>
                  <a:lnTo>
                    <a:pt x="732" y="39"/>
                  </a:lnTo>
                  <a:lnTo>
                    <a:pt x="744" y="37"/>
                  </a:lnTo>
                  <a:lnTo>
                    <a:pt x="737" y="34"/>
                  </a:lnTo>
                  <a:lnTo>
                    <a:pt x="724" y="33"/>
                  </a:lnTo>
                  <a:lnTo>
                    <a:pt x="723" y="32"/>
                  </a:lnTo>
                  <a:lnTo>
                    <a:pt x="732" y="27"/>
                  </a:lnTo>
                  <a:lnTo>
                    <a:pt x="732" y="25"/>
                  </a:lnTo>
                  <a:lnTo>
                    <a:pt x="738" y="25"/>
                  </a:lnTo>
                  <a:lnTo>
                    <a:pt x="733" y="16"/>
                  </a:lnTo>
                  <a:lnTo>
                    <a:pt x="738" y="7"/>
                  </a:lnTo>
                  <a:lnTo>
                    <a:pt x="731" y="2"/>
                  </a:lnTo>
                  <a:lnTo>
                    <a:pt x="726" y="2"/>
                  </a:lnTo>
                  <a:lnTo>
                    <a:pt x="730" y="0"/>
                  </a:lnTo>
                  <a:lnTo>
                    <a:pt x="721" y="2"/>
                  </a:lnTo>
                  <a:lnTo>
                    <a:pt x="726" y="2"/>
                  </a:lnTo>
                  <a:lnTo>
                    <a:pt x="708" y="6"/>
                  </a:lnTo>
                  <a:lnTo>
                    <a:pt x="711" y="9"/>
                  </a:lnTo>
                  <a:lnTo>
                    <a:pt x="699" y="9"/>
                  </a:lnTo>
                  <a:lnTo>
                    <a:pt x="694" y="19"/>
                  </a:lnTo>
                  <a:lnTo>
                    <a:pt x="696" y="20"/>
                  </a:lnTo>
                  <a:lnTo>
                    <a:pt x="688" y="22"/>
                  </a:lnTo>
                  <a:lnTo>
                    <a:pt x="683" y="31"/>
                  </a:lnTo>
                  <a:lnTo>
                    <a:pt x="709" y="38"/>
                  </a:lnTo>
                  <a:lnTo>
                    <a:pt x="701" y="40"/>
                  </a:lnTo>
                  <a:lnTo>
                    <a:pt x="702" y="38"/>
                  </a:lnTo>
                  <a:lnTo>
                    <a:pt x="696" y="42"/>
                  </a:lnTo>
                  <a:lnTo>
                    <a:pt x="689" y="48"/>
                  </a:lnTo>
                  <a:lnTo>
                    <a:pt x="701" y="44"/>
                  </a:lnTo>
                  <a:lnTo>
                    <a:pt x="695" y="50"/>
                  </a:lnTo>
                  <a:lnTo>
                    <a:pt x="671" y="58"/>
                  </a:lnTo>
                  <a:lnTo>
                    <a:pt x="661" y="69"/>
                  </a:lnTo>
                  <a:lnTo>
                    <a:pt x="655" y="75"/>
                  </a:lnTo>
                  <a:lnTo>
                    <a:pt x="647" y="75"/>
                  </a:lnTo>
                  <a:lnTo>
                    <a:pt x="648" y="79"/>
                  </a:lnTo>
                  <a:lnTo>
                    <a:pt x="647" y="75"/>
                  </a:lnTo>
                  <a:lnTo>
                    <a:pt x="648" y="75"/>
                  </a:lnTo>
                  <a:lnTo>
                    <a:pt x="657" y="74"/>
                  </a:lnTo>
                  <a:lnTo>
                    <a:pt x="653" y="72"/>
                  </a:lnTo>
                  <a:lnTo>
                    <a:pt x="657" y="68"/>
                  </a:lnTo>
                  <a:lnTo>
                    <a:pt x="651" y="69"/>
                  </a:lnTo>
                  <a:lnTo>
                    <a:pt x="666" y="55"/>
                  </a:lnTo>
                  <a:lnTo>
                    <a:pt x="655" y="57"/>
                  </a:lnTo>
                  <a:lnTo>
                    <a:pt x="658" y="55"/>
                  </a:lnTo>
                  <a:lnTo>
                    <a:pt x="645" y="52"/>
                  </a:lnTo>
                  <a:lnTo>
                    <a:pt x="635" y="56"/>
                  </a:lnTo>
                  <a:lnTo>
                    <a:pt x="637" y="61"/>
                  </a:lnTo>
                  <a:lnTo>
                    <a:pt x="646" y="62"/>
                  </a:lnTo>
                  <a:lnTo>
                    <a:pt x="634" y="63"/>
                  </a:lnTo>
                  <a:lnTo>
                    <a:pt x="630" y="58"/>
                  </a:lnTo>
                  <a:lnTo>
                    <a:pt x="627" y="63"/>
                  </a:lnTo>
                  <a:lnTo>
                    <a:pt x="603" y="62"/>
                  </a:lnTo>
                  <a:lnTo>
                    <a:pt x="580" y="62"/>
                  </a:lnTo>
                  <a:lnTo>
                    <a:pt x="573" y="58"/>
                  </a:lnTo>
                  <a:lnTo>
                    <a:pt x="563" y="57"/>
                  </a:lnTo>
                  <a:lnTo>
                    <a:pt x="559" y="51"/>
                  </a:lnTo>
                  <a:lnTo>
                    <a:pt x="556" y="45"/>
                  </a:lnTo>
                  <a:lnTo>
                    <a:pt x="519" y="54"/>
                  </a:lnTo>
                  <a:lnTo>
                    <a:pt x="526" y="56"/>
                  </a:lnTo>
                  <a:lnTo>
                    <a:pt x="544" y="52"/>
                  </a:lnTo>
                  <a:lnTo>
                    <a:pt x="556" y="51"/>
                  </a:lnTo>
                  <a:lnTo>
                    <a:pt x="533" y="58"/>
                  </a:lnTo>
                  <a:lnTo>
                    <a:pt x="522" y="60"/>
                  </a:lnTo>
                  <a:lnTo>
                    <a:pt x="515" y="78"/>
                  </a:lnTo>
                  <a:lnTo>
                    <a:pt x="510" y="74"/>
                  </a:lnTo>
                  <a:lnTo>
                    <a:pt x="508" y="85"/>
                  </a:lnTo>
                  <a:lnTo>
                    <a:pt x="503" y="73"/>
                  </a:lnTo>
                  <a:lnTo>
                    <a:pt x="511" y="73"/>
                  </a:lnTo>
                  <a:lnTo>
                    <a:pt x="509" y="64"/>
                  </a:lnTo>
                  <a:lnTo>
                    <a:pt x="502" y="68"/>
                  </a:lnTo>
                  <a:lnTo>
                    <a:pt x="502" y="63"/>
                  </a:lnTo>
                  <a:lnTo>
                    <a:pt x="493" y="60"/>
                  </a:lnTo>
                  <a:lnTo>
                    <a:pt x="449" y="64"/>
                  </a:lnTo>
                  <a:lnTo>
                    <a:pt x="432" y="60"/>
                  </a:lnTo>
                  <a:lnTo>
                    <a:pt x="450" y="55"/>
                  </a:lnTo>
                  <a:lnTo>
                    <a:pt x="456" y="54"/>
                  </a:lnTo>
                  <a:lnTo>
                    <a:pt x="444" y="44"/>
                  </a:lnTo>
                  <a:lnTo>
                    <a:pt x="437" y="45"/>
                  </a:lnTo>
                  <a:lnTo>
                    <a:pt x="406" y="38"/>
                  </a:lnTo>
                  <a:lnTo>
                    <a:pt x="377" y="31"/>
                  </a:lnTo>
                  <a:lnTo>
                    <a:pt x="360" y="38"/>
                  </a:lnTo>
                  <a:lnTo>
                    <a:pt x="354" y="37"/>
                  </a:lnTo>
                  <a:lnTo>
                    <a:pt x="359" y="33"/>
                  </a:lnTo>
                  <a:lnTo>
                    <a:pt x="363" y="26"/>
                  </a:lnTo>
                  <a:lnTo>
                    <a:pt x="358" y="28"/>
                  </a:lnTo>
                  <a:lnTo>
                    <a:pt x="353" y="33"/>
                  </a:lnTo>
                  <a:lnTo>
                    <a:pt x="346" y="36"/>
                  </a:lnTo>
                  <a:lnTo>
                    <a:pt x="340" y="39"/>
                  </a:lnTo>
                  <a:lnTo>
                    <a:pt x="335" y="28"/>
                  </a:lnTo>
                  <a:lnTo>
                    <a:pt x="330" y="21"/>
                  </a:lnTo>
                  <a:lnTo>
                    <a:pt x="331" y="25"/>
                  </a:lnTo>
                  <a:lnTo>
                    <a:pt x="306" y="33"/>
                  </a:lnTo>
                  <a:lnTo>
                    <a:pt x="307" y="31"/>
                  </a:lnTo>
                  <a:lnTo>
                    <a:pt x="281" y="34"/>
                  </a:lnTo>
                  <a:lnTo>
                    <a:pt x="307" y="26"/>
                  </a:lnTo>
                  <a:lnTo>
                    <a:pt x="288" y="28"/>
                  </a:lnTo>
                  <a:lnTo>
                    <a:pt x="259" y="36"/>
                  </a:lnTo>
                  <a:lnTo>
                    <a:pt x="229" y="44"/>
                  </a:lnTo>
                  <a:lnTo>
                    <a:pt x="226" y="48"/>
                  </a:lnTo>
                  <a:lnTo>
                    <a:pt x="216" y="46"/>
                  </a:lnTo>
                  <a:lnTo>
                    <a:pt x="214" y="49"/>
                  </a:lnTo>
                  <a:lnTo>
                    <a:pt x="190" y="42"/>
                  </a:lnTo>
                  <a:lnTo>
                    <a:pt x="167" y="33"/>
                  </a:lnTo>
                  <a:lnTo>
                    <a:pt x="145" y="51"/>
                  </a:lnTo>
                  <a:lnTo>
                    <a:pt x="124" y="69"/>
                  </a:lnTo>
                  <a:lnTo>
                    <a:pt x="102" y="87"/>
                  </a:lnTo>
                  <a:lnTo>
                    <a:pt x="81" y="105"/>
                  </a:lnTo>
                  <a:lnTo>
                    <a:pt x="61" y="124"/>
                  </a:lnTo>
                  <a:lnTo>
                    <a:pt x="41" y="144"/>
                  </a:lnTo>
                  <a:lnTo>
                    <a:pt x="21" y="163"/>
                  </a:lnTo>
                  <a:lnTo>
                    <a:pt x="0" y="181"/>
                  </a:lnTo>
                  <a:lnTo>
                    <a:pt x="25" y="181"/>
                  </a:lnTo>
                  <a:lnTo>
                    <a:pt x="19" y="184"/>
                  </a:lnTo>
                  <a:lnTo>
                    <a:pt x="22" y="188"/>
                  </a:lnTo>
                  <a:lnTo>
                    <a:pt x="22" y="205"/>
                  </a:lnTo>
                  <a:lnTo>
                    <a:pt x="34" y="200"/>
                  </a:lnTo>
                  <a:lnTo>
                    <a:pt x="43" y="195"/>
                  </a:lnTo>
                  <a:lnTo>
                    <a:pt x="61" y="189"/>
                  </a:lnTo>
                  <a:lnTo>
                    <a:pt x="66" y="207"/>
                  </a:lnTo>
                  <a:lnTo>
                    <a:pt x="63" y="223"/>
                  </a:lnTo>
                  <a:lnTo>
                    <a:pt x="59" y="238"/>
                  </a:lnTo>
                  <a:lnTo>
                    <a:pt x="66" y="247"/>
                  </a:lnTo>
                  <a:lnTo>
                    <a:pt x="72" y="254"/>
                  </a:lnTo>
                  <a:lnTo>
                    <a:pt x="58" y="270"/>
                  </a:lnTo>
                  <a:lnTo>
                    <a:pt x="71" y="259"/>
                  </a:lnTo>
                  <a:lnTo>
                    <a:pt x="71" y="262"/>
                  </a:lnTo>
                  <a:lnTo>
                    <a:pt x="59" y="270"/>
                  </a:lnTo>
                  <a:lnTo>
                    <a:pt x="61" y="270"/>
                  </a:lnTo>
                  <a:lnTo>
                    <a:pt x="54" y="276"/>
                  </a:lnTo>
                  <a:lnTo>
                    <a:pt x="49" y="276"/>
                  </a:lnTo>
                  <a:lnTo>
                    <a:pt x="49" y="282"/>
                  </a:lnTo>
                  <a:lnTo>
                    <a:pt x="47" y="277"/>
                  </a:lnTo>
                  <a:lnTo>
                    <a:pt x="46" y="284"/>
                  </a:lnTo>
                  <a:lnTo>
                    <a:pt x="53" y="284"/>
                  </a:lnTo>
                  <a:lnTo>
                    <a:pt x="48" y="284"/>
                  </a:lnTo>
                  <a:lnTo>
                    <a:pt x="48" y="288"/>
                  </a:lnTo>
                  <a:lnTo>
                    <a:pt x="45" y="285"/>
                  </a:lnTo>
                  <a:lnTo>
                    <a:pt x="47" y="297"/>
                  </a:lnTo>
                  <a:lnTo>
                    <a:pt x="65" y="286"/>
                  </a:lnTo>
                  <a:lnTo>
                    <a:pt x="58" y="296"/>
                  </a:lnTo>
                  <a:lnTo>
                    <a:pt x="61" y="298"/>
                  </a:lnTo>
                  <a:lnTo>
                    <a:pt x="54" y="296"/>
                  </a:lnTo>
                  <a:lnTo>
                    <a:pt x="52" y="307"/>
                  </a:lnTo>
                  <a:lnTo>
                    <a:pt x="55" y="306"/>
                  </a:lnTo>
                  <a:lnTo>
                    <a:pt x="45" y="316"/>
                  </a:lnTo>
                  <a:lnTo>
                    <a:pt x="51" y="313"/>
                  </a:lnTo>
                  <a:lnTo>
                    <a:pt x="49" y="318"/>
                  </a:lnTo>
                  <a:lnTo>
                    <a:pt x="70" y="307"/>
                  </a:lnTo>
                  <a:lnTo>
                    <a:pt x="64" y="315"/>
                  </a:lnTo>
                  <a:lnTo>
                    <a:pt x="63" y="321"/>
                  </a:lnTo>
                  <a:lnTo>
                    <a:pt x="60" y="315"/>
                  </a:lnTo>
                  <a:lnTo>
                    <a:pt x="45" y="325"/>
                  </a:lnTo>
                  <a:lnTo>
                    <a:pt x="45" y="328"/>
                  </a:lnTo>
                  <a:lnTo>
                    <a:pt x="49" y="326"/>
                  </a:lnTo>
                  <a:lnTo>
                    <a:pt x="59" y="327"/>
                  </a:lnTo>
                  <a:lnTo>
                    <a:pt x="43" y="331"/>
                  </a:lnTo>
                  <a:lnTo>
                    <a:pt x="40" y="332"/>
                  </a:lnTo>
                  <a:lnTo>
                    <a:pt x="46" y="333"/>
                  </a:lnTo>
                  <a:lnTo>
                    <a:pt x="37" y="337"/>
                  </a:lnTo>
                  <a:lnTo>
                    <a:pt x="48" y="340"/>
                  </a:lnTo>
                  <a:lnTo>
                    <a:pt x="52" y="338"/>
                  </a:lnTo>
                  <a:lnTo>
                    <a:pt x="55" y="339"/>
                  </a:lnTo>
                  <a:lnTo>
                    <a:pt x="51" y="342"/>
                  </a:lnTo>
                  <a:lnTo>
                    <a:pt x="57" y="342"/>
                  </a:lnTo>
                  <a:lnTo>
                    <a:pt x="52" y="344"/>
                  </a:lnTo>
                  <a:lnTo>
                    <a:pt x="64" y="340"/>
                  </a:lnTo>
                  <a:lnTo>
                    <a:pt x="66" y="338"/>
                  </a:lnTo>
                  <a:lnTo>
                    <a:pt x="59" y="344"/>
                  </a:lnTo>
                  <a:lnTo>
                    <a:pt x="53" y="344"/>
                  </a:lnTo>
                  <a:lnTo>
                    <a:pt x="52" y="348"/>
                  </a:lnTo>
                  <a:lnTo>
                    <a:pt x="61" y="344"/>
                  </a:lnTo>
                  <a:lnTo>
                    <a:pt x="61" y="348"/>
                  </a:lnTo>
                  <a:lnTo>
                    <a:pt x="71" y="342"/>
                  </a:lnTo>
                  <a:lnTo>
                    <a:pt x="66" y="350"/>
                  </a:lnTo>
                  <a:lnTo>
                    <a:pt x="76" y="346"/>
                  </a:lnTo>
                  <a:lnTo>
                    <a:pt x="63" y="355"/>
                  </a:lnTo>
                  <a:lnTo>
                    <a:pt x="70" y="358"/>
                  </a:lnTo>
                  <a:lnTo>
                    <a:pt x="77" y="351"/>
                  </a:lnTo>
                  <a:lnTo>
                    <a:pt x="72" y="362"/>
                  </a:lnTo>
                  <a:lnTo>
                    <a:pt x="75" y="362"/>
                  </a:lnTo>
                  <a:lnTo>
                    <a:pt x="69" y="362"/>
                  </a:lnTo>
                  <a:lnTo>
                    <a:pt x="75" y="364"/>
                  </a:lnTo>
                  <a:lnTo>
                    <a:pt x="81" y="362"/>
                  </a:lnTo>
                  <a:lnTo>
                    <a:pt x="76" y="367"/>
                  </a:lnTo>
                  <a:lnTo>
                    <a:pt x="81" y="368"/>
                  </a:lnTo>
                  <a:lnTo>
                    <a:pt x="75" y="370"/>
                  </a:lnTo>
                  <a:lnTo>
                    <a:pt x="79" y="373"/>
                  </a:lnTo>
                  <a:lnTo>
                    <a:pt x="103" y="373"/>
                  </a:lnTo>
                  <a:lnTo>
                    <a:pt x="127" y="373"/>
                  </a:lnTo>
                  <a:lnTo>
                    <a:pt x="151" y="373"/>
                  </a:lnTo>
                  <a:lnTo>
                    <a:pt x="175" y="373"/>
                  </a:lnTo>
                  <a:lnTo>
                    <a:pt x="199" y="373"/>
                  </a:lnTo>
                  <a:lnTo>
                    <a:pt x="223" y="373"/>
                  </a:lnTo>
                  <a:lnTo>
                    <a:pt x="247" y="373"/>
                  </a:lnTo>
                  <a:lnTo>
                    <a:pt x="271" y="373"/>
                  </a:lnTo>
                  <a:lnTo>
                    <a:pt x="295" y="373"/>
                  </a:lnTo>
                  <a:lnTo>
                    <a:pt x="319" y="373"/>
                  </a:lnTo>
                  <a:lnTo>
                    <a:pt x="342" y="373"/>
                  </a:lnTo>
                  <a:lnTo>
                    <a:pt x="366" y="373"/>
                  </a:lnTo>
                  <a:lnTo>
                    <a:pt x="390" y="373"/>
                  </a:lnTo>
                  <a:lnTo>
                    <a:pt x="414" y="373"/>
                  </a:lnTo>
                  <a:lnTo>
                    <a:pt x="438" y="373"/>
                  </a:lnTo>
                  <a:lnTo>
                    <a:pt x="462" y="373"/>
                  </a:lnTo>
                  <a:lnTo>
                    <a:pt x="468" y="367"/>
                  </a:lnTo>
                  <a:lnTo>
                    <a:pt x="467" y="376"/>
                  </a:lnTo>
                  <a:lnTo>
                    <a:pt x="483" y="380"/>
                  </a:lnTo>
                  <a:lnTo>
                    <a:pt x="503" y="388"/>
                  </a:lnTo>
                  <a:lnTo>
                    <a:pt x="515" y="386"/>
                  </a:lnTo>
                  <a:lnTo>
                    <a:pt x="527" y="391"/>
                  </a:lnTo>
                  <a:lnTo>
                    <a:pt x="546" y="386"/>
                  </a:lnTo>
                  <a:lnTo>
                    <a:pt x="558" y="394"/>
                  </a:lnTo>
                  <a:lnTo>
                    <a:pt x="570" y="402"/>
                  </a:lnTo>
                  <a:lnTo>
                    <a:pt x="582" y="409"/>
                  </a:lnTo>
                  <a:lnTo>
                    <a:pt x="594" y="417"/>
                  </a:lnTo>
                  <a:lnTo>
                    <a:pt x="595" y="424"/>
                  </a:lnTo>
                  <a:lnTo>
                    <a:pt x="600" y="423"/>
                  </a:lnTo>
                  <a:lnTo>
                    <a:pt x="599" y="428"/>
                  </a:lnTo>
                  <a:lnTo>
                    <a:pt x="610" y="436"/>
                  </a:lnTo>
                  <a:lnTo>
                    <a:pt x="606" y="452"/>
                  </a:lnTo>
                  <a:lnTo>
                    <a:pt x="604" y="469"/>
                  </a:lnTo>
                  <a:lnTo>
                    <a:pt x="597" y="478"/>
                  </a:lnTo>
                  <a:lnTo>
                    <a:pt x="579" y="495"/>
                  </a:lnTo>
                  <a:lnTo>
                    <a:pt x="583" y="502"/>
                  </a:lnTo>
                  <a:lnTo>
                    <a:pt x="599" y="496"/>
                  </a:lnTo>
                  <a:lnTo>
                    <a:pt x="613" y="492"/>
                  </a:lnTo>
                  <a:lnTo>
                    <a:pt x="629" y="487"/>
                  </a:lnTo>
                  <a:lnTo>
                    <a:pt x="645" y="482"/>
                  </a:lnTo>
                  <a:lnTo>
                    <a:pt x="646" y="470"/>
                  </a:lnTo>
                  <a:lnTo>
                    <a:pt x="663" y="469"/>
                  </a:lnTo>
                  <a:lnTo>
                    <a:pt x="681" y="468"/>
                  </a:lnTo>
                  <a:lnTo>
                    <a:pt x="695" y="457"/>
                  </a:lnTo>
                  <a:lnTo>
                    <a:pt x="709" y="446"/>
                  </a:lnTo>
                  <a:lnTo>
                    <a:pt x="737" y="445"/>
                  </a:lnTo>
                  <a:lnTo>
                    <a:pt x="765" y="442"/>
                  </a:lnTo>
                  <a:lnTo>
                    <a:pt x="774" y="436"/>
                  </a:lnTo>
                  <a:lnTo>
                    <a:pt x="787" y="426"/>
                  </a:lnTo>
                  <a:lnTo>
                    <a:pt x="799" y="412"/>
                  </a:lnTo>
                  <a:lnTo>
                    <a:pt x="813" y="400"/>
                  </a:lnTo>
                  <a:lnTo>
                    <a:pt x="814" y="403"/>
                  </a:lnTo>
                  <a:lnTo>
                    <a:pt x="820" y="403"/>
                  </a:lnTo>
                  <a:lnTo>
                    <a:pt x="829" y="406"/>
                  </a:lnTo>
                  <a:lnTo>
                    <a:pt x="823" y="428"/>
                  </a:lnTo>
                  <a:lnTo>
                    <a:pt x="827" y="440"/>
                  </a:lnTo>
                  <a:lnTo>
                    <a:pt x="831" y="442"/>
                  </a:lnTo>
                  <a:lnTo>
                    <a:pt x="844" y="436"/>
                  </a:lnTo>
                  <a:lnTo>
                    <a:pt x="843" y="438"/>
                  </a:lnTo>
                  <a:lnTo>
                    <a:pt x="863" y="432"/>
                  </a:lnTo>
                  <a:lnTo>
                    <a:pt x="867" y="424"/>
                  </a:lnTo>
                  <a:lnTo>
                    <a:pt x="868" y="428"/>
                  </a:lnTo>
                  <a:lnTo>
                    <a:pt x="871" y="428"/>
                  </a:lnTo>
                  <a:lnTo>
                    <a:pt x="861" y="435"/>
                  </a:lnTo>
                  <a:lnTo>
                    <a:pt x="882" y="436"/>
                  </a:lnTo>
                  <a:lnTo>
                    <a:pt x="869" y="441"/>
                  </a:lnTo>
                  <a:lnTo>
                    <a:pt x="868" y="438"/>
                  </a:lnTo>
                  <a:lnTo>
                    <a:pt x="846" y="448"/>
                  </a:lnTo>
                  <a:lnTo>
                    <a:pt x="850" y="447"/>
                  </a:lnTo>
                  <a:lnTo>
                    <a:pt x="837" y="453"/>
                  </a:lnTo>
                  <a:lnTo>
                    <a:pt x="841" y="451"/>
                  </a:lnTo>
                  <a:lnTo>
                    <a:pt x="834" y="459"/>
                  </a:lnTo>
                  <a:lnTo>
                    <a:pt x="839" y="469"/>
                  </a:lnTo>
                  <a:lnTo>
                    <a:pt x="847" y="466"/>
                  </a:lnTo>
                  <a:lnTo>
                    <a:pt x="868" y="450"/>
                  </a:lnTo>
                  <a:lnTo>
                    <a:pt x="870" y="452"/>
                  </a:lnTo>
                  <a:lnTo>
                    <a:pt x="875" y="450"/>
                  </a:lnTo>
                  <a:lnTo>
                    <a:pt x="877" y="451"/>
                  </a:lnTo>
                  <a:lnTo>
                    <a:pt x="895" y="445"/>
                  </a:lnTo>
                  <a:lnTo>
                    <a:pt x="913" y="439"/>
                  </a:lnTo>
                  <a:lnTo>
                    <a:pt x="909" y="436"/>
                  </a:lnTo>
                  <a:lnTo>
                    <a:pt x="913" y="435"/>
                  </a:lnTo>
                  <a:lnTo>
                    <a:pt x="906" y="428"/>
                  </a:lnTo>
                  <a:lnTo>
                    <a:pt x="900" y="430"/>
                  </a:lnTo>
                  <a:lnTo>
                    <a:pt x="888" y="429"/>
                  </a:lnTo>
                  <a:lnTo>
                    <a:pt x="879" y="424"/>
                  </a:lnTo>
                  <a:lnTo>
                    <a:pt x="871" y="422"/>
                  </a:lnTo>
                  <a:lnTo>
                    <a:pt x="871" y="409"/>
                  </a:lnTo>
                  <a:lnTo>
                    <a:pt x="865" y="408"/>
                  </a:lnTo>
                  <a:lnTo>
                    <a:pt x="876" y="396"/>
                  </a:lnTo>
                  <a:lnTo>
                    <a:pt x="864" y="397"/>
                  </a:lnTo>
                  <a:lnTo>
                    <a:pt x="863" y="393"/>
                  </a:lnTo>
                  <a:lnTo>
                    <a:pt x="850" y="391"/>
                  </a:lnTo>
                  <a:lnTo>
                    <a:pt x="853" y="390"/>
                  </a:lnTo>
                  <a:lnTo>
                    <a:pt x="868" y="390"/>
                  </a:lnTo>
                  <a:lnTo>
                    <a:pt x="886" y="384"/>
                  </a:lnTo>
                  <a:lnTo>
                    <a:pt x="887" y="378"/>
                  </a:lnTo>
                  <a:lnTo>
                    <a:pt x="891" y="378"/>
                  </a:lnTo>
                  <a:lnTo>
                    <a:pt x="889" y="374"/>
                  </a:lnTo>
                  <a:lnTo>
                    <a:pt x="874" y="368"/>
                  </a:lnTo>
                  <a:lnTo>
                    <a:pt x="853" y="374"/>
                  </a:lnTo>
                  <a:lnTo>
                    <a:pt x="833" y="380"/>
                  </a:lnTo>
                  <a:lnTo>
                    <a:pt x="819" y="390"/>
                  </a:lnTo>
                  <a:lnTo>
                    <a:pt x="803" y="399"/>
                  </a:lnTo>
                  <a:lnTo>
                    <a:pt x="781" y="411"/>
                  </a:lnTo>
                  <a:lnTo>
                    <a:pt x="796" y="399"/>
                  </a:lnTo>
                  <a:lnTo>
                    <a:pt x="809" y="388"/>
                  </a:lnTo>
                  <a:lnTo>
                    <a:pt x="793" y="382"/>
                  </a:lnTo>
                  <a:lnTo>
                    <a:pt x="808" y="388"/>
                  </a:lnTo>
                  <a:lnTo>
                    <a:pt x="828" y="374"/>
                  </a:lnTo>
                  <a:lnTo>
                    <a:pt x="850" y="367"/>
                  </a:lnTo>
                  <a:lnTo>
                    <a:pt x="865" y="352"/>
                  </a:lnTo>
                  <a:lnTo>
                    <a:pt x="895" y="352"/>
                  </a:lnTo>
                  <a:lnTo>
                    <a:pt x="925" y="351"/>
                  </a:lnTo>
                  <a:lnTo>
                    <a:pt x="953" y="351"/>
                  </a:lnTo>
                  <a:lnTo>
                    <a:pt x="978" y="337"/>
                  </a:lnTo>
                  <a:lnTo>
                    <a:pt x="1002" y="331"/>
                  </a:lnTo>
                  <a:lnTo>
                    <a:pt x="1029" y="318"/>
                  </a:lnTo>
                  <a:lnTo>
                    <a:pt x="1021" y="314"/>
                  </a:lnTo>
                  <a:lnTo>
                    <a:pt x="1029" y="313"/>
                  </a:lnTo>
                  <a:lnTo>
                    <a:pt x="1019" y="310"/>
                  </a:lnTo>
                  <a:lnTo>
                    <a:pt x="1026" y="309"/>
                  </a:lnTo>
                  <a:lnTo>
                    <a:pt x="1026" y="307"/>
                  </a:lnTo>
                  <a:lnTo>
                    <a:pt x="1029" y="302"/>
                  </a:lnTo>
                  <a:lnTo>
                    <a:pt x="1031" y="297"/>
                  </a:lnTo>
                  <a:lnTo>
                    <a:pt x="1021" y="292"/>
                  </a:lnTo>
                  <a:lnTo>
                    <a:pt x="1023" y="291"/>
                  </a:lnTo>
                  <a:lnTo>
                    <a:pt x="1013" y="294"/>
                  </a:lnTo>
                  <a:lnTo>
                    <a:pt x="1015" y="284"/>
                  </a:lnTo>
                  <a:lnTo>
                    <a:pt x="1003" y="285"/>
                  </a:lnTo>
                  <a:lnTo>
                    <a:pt x="1009" y="285"/>
                  </a:lnTo>
                  <a:lnTo>
                    <a:pt x="988" y="292"/>
                  </a:lnTo>
                  <a:lnTo>
                    <a:pt x="970" y="298"/>
                  </a:lnTo>
                  <a:lnTo>
                    <a:pt x="976" y="295"/>
                  </a:lnTo>
                  <a:lnTo>
                    <a:pt x="969" y="291"/>
                  </a:lnTo>
                  <a:lnTo>
                    <a:pt x="978" y="292"/>
                  </a:lnTo>
                  <a:lnTo>
                    <a:pt x="1003" y="283"/>
                  </a:lnTo>
                  <a:lnTo>
                    <a:pt x="987" y="286"/>
                  </a:lnTo>
                  <a:lnTo>
                    <a:pt x="1018" y="277"/>
                  </a:lnTo>
                  <a:lnTo>
                    <a:pt x="999" y="270"/>
                  </a:lnTo>
                  <a:lnTo>
                    <a:pt x="994" y="270"/>
                  </a:lnTo>
                  <a:lnTo>
                    <a:pt x="999" y="266"/>
                  </a:lnTo>
                  <a:lnTo>
                    <a:pt x="987" y="272"/>
                  </a:lnTo>
                  <a:lnTo>
                    <a:pt x="993" y="267"/>
                  </a:lnTo>
                  <a:lnTo>
                    <a:pt x="991" y="266"/>
                  </a:lnTo>
                  <a:lnTo>
                    <a:pt x="984" y="268"/>
                  </a:lnTo>
                  <a:lnTo>
                    <a:pt x="987" y="265"/>
                  </a:lnTo>
                  <a:lnTo>
                    <a:pt x="978" y="268"/>
                  </a:lnTo>
                  <a:lnTo>
                    <a:pt x="982" y="266"/>
                  </a:lnTo>
                  <a:lnTo>
                    <a:pt x="984" y="262"/>
                  </a:lnTo>
                  <a:lnTo>
                    <a:pt x="985" y="256"/>
                  </a:lnTo>
                  <a:lnTo>
                    <a:pt x="981" y="260"/>
                  </a:lnTo>
                  <a:lnTo>
                    <a:pt x="982" y="258"/>
                  </a:lnTo>
                  <a:lnTo>
                    <a:pt x="976" y="250"/>
                  </a:lnTo>
                  <a:lnTo>
                    <a:pt x="967" y="248"/>
                  </a:lnTo>
                  <a:lnTo>
                    <a:pt x="975" y="248"/>
                  </a:lnTo>
                  <a:lnTo>
                    <a:pt x="970" y="244"/>
                  </a:lnTo>
                  <a:lnTo>
                    <a:pt x="973" y="243"/>
                  </a:lnTo>
                  <a:lnTo>
                    <a:pt x="969" y="242"/>
                  </a:lnTo>
                  <a:lnTo>
                    <a:pt x="972" y="242"/>
                  </a:lnTo>
                  <a:lnTo>
                    <a:pt x="966" y="238"/>
                  </a:lnTo>
                  <a:lnTo>
                    <a:pt x="969" y="238"/>
                  </a:lnTo>
                  <a:lnTo>
                    <a:pt x="973" y="241"/>
                  </a:lnTo>
                  <a:lnTo>
                    <a:pt x="983" y="235"/>
                  </a:lnTo>
                  <a:lnTo>
                    <a:pt x="978" y="230"/>
                  </a:lnTo>
                  <a:lnTo>
                    <a:pt x="975" y="228"/>
                  </a:lnTo>
                  <a:lnTo>
                    <a:pt x="979" y="223"/>
                  </a:lnTo>
                  <a:lnTo>
                    <a:pt x="975" y="219"/>
                  </a:lnTo>
                  <a:lnTo>
                    <a:pt x="973" y="217"/>
                  </a:lnTo>
                  <a:lnTo>
                    <a:pt x="966" y="218"/>
                  </a:lnTo>
                  <a:lnTo>
                    <a:pt x="976" y="214"/>
                  </a:lnTo>
                  <a:lnTo>
                    <a:pt x="975" y="211"/>
                  </a:lnTo>
                  <a:lnTo>
                    <a:pt x="963" y="214"/>
                  </a:lnTo>
                  <a:lnTo>
                    <a:pt x="976" y="206"/>
                  </a:lnTo>
                  <a:lnTo>
                    <a:pt x="971" y="202"/>
                  </a:lnTo>
                  <a:lnTo>
                    <a:pt x="966" y="202"/>
                  </a:lnTo>
                  <a:lnTo>
                    <a:pt x="971" y="198"/>
                  </a:lnTo>
                  <a:lnTo>
                    <a:pt x="969" y="195"/>
                  </a:lnTo>
                  <a:lnTo>
                    <a:pt x="965" y="188"/>
                  </a:lnTo>
                  <a:lnTo>
                    <a:pt x="965" y="184"/>
                  </a:lnTo>
                  <a:lnTo>
                    <a:pt x="960" y="186"/>
                  </a:lnTo>
                  <a:lnTo>
                    <a:pt x="964" y="182"/>
                  </a:lnTo>
                  <a:lnTo>
                    <a:pt x="955" y="186"/>
                  </a:lnTo>
                  <a:lnTo>
                    <a:pt x="955" y="190"/>
                  </a:lnTo>
                  <a:lnTo>
                    <a:pt x="948" y="190"/>
                  </a:lnTo>
                  <a:lnTo>
                    <a:pt x="952" y="195"/>
                  </a:lnTo>
                  <a:lnTo>
                    <a:pt x="947" y="198"/>
                  </a:lnTo>
                  <a:lnTo>
                    <a:pt x="942" y="201"/>
                  </a:lnTo>
                  <a:lnTo>
                    <a:pt x="935" y="208"/>
                  </a:lnTo>
                  <a:lnTo>
                    <a:pt x="933" y="213"/>
                  </a:lnTo>
                  <a:lnTo>
                    <a:pt x="930" y="206"/>
                  </a:lnTo>
                  <a:lnTo>
                    <a:pt x="917" y="213"/>
                  </a:lnTo>
                  <a:lnTo>
                    <a:pt x="907" y="220"/>
                  </a:lnTo>
                  <a:lnTo>
                    <a:pt x="909" y="214"/>
                  </a:lnTo>
                  <a:lnTo>
                    <a:pt x="904" y="217"/>
                  </a:lnTo>
                  <a:lnTo>
                    <a:pt x="906" y="211"/>
                  </a:lnTo>
                  <a:lnTo>
                    <a:pt x="899" y="219"/>
                  </a:lnTo>
                  <a:lnTo>
                    <a:pt x="885" y="223"/>
                  </a:lnTo>
                  <a:lnTo>
                    <a:pt x="904" y="214"/>
                  </a:lnTo>
                  <a:lnTo>
                    <a:pt x="901" y="204"/>
                  </a:lnTo>
                  <a:lnTo>
                    <a:pt x="885" y="207"/>
                  </a:lnTo>
                  <a:lnTo>
                    <a:pt x="881" y="207"/>
                  </a:lnTo>
                  <a:lnTo>
                    <a:pt x="887" y="204"/>
                  </a:lnTo>
                  <a:lnTo>
                    <a:pt x="892" y="205"/>
                  </a:lnTo>
                  <a:lnTo>
                    <a:pt x="897" y="196"/>
                  </a:lnTo>
                  <a:lnTo>
                    <a:pt x="893" y="194"/>
                  </a:lnTo>
                  <a:lnTo>
                    <a:pt x="898" y="187"/>
                  </a:lnTo>
                  <a:lnTo>
                    <a:pt x="882" y="184"/>
                  </a:lnTo>
                  <a:lnTo>
                    <a:pt x="901" y="183"/>
                  </a:lnTo>
                  <a:lnTo>
                    <a:pt x="904" y="175"/>
                  </a:lnTo>
                  <a:lnTo>
                    <a:pt x="906" y="171"/>
                  </a:lnTo>
                  <a:lnTo>
                    <a:pt x="901" y="171"/>
                  </a:lnTo>
                  <a:lnTo>
                    <a:pt x="883" y="164"/>
                  </a:lnTo>
                  <a:lnTo>
                    <a:pt x="888" y="159"/>
                  </a:lnTo>
                  <a:lnTo>
                    <a:pt x="883" y="160"/>
                  </a:lnTo>
                  <a:lnTo>
                    <a:pt x="879" y="154"/>
                  </a:lnTo>
                  <a:lnTo>
                    <a:pt x="880" y="152"/>
                  </a:lnTo>
                  <a:lnTo>
                    <a:pt x="868" y="146"/>
                  </a:lnTo>
                  <a:lnTo>
                    <a:pt x="853" y="151"/>
                  </a:lnTo>
                  <a:lnTo>
                    <a:pt x="839" y="151"/>
                  </a:lnTo>
                  <a:lnTo>
                    <a:pt x="844" y="150"/>
                  </a:lnTo>
                  <a:lnTo>
                    <a:pt x="820" y="146"/>
                  </a:lnTo>
                  <a:lnTo>
                    <a:pt x="809" y="158"/>
                  </a:lnTo>
                  <a:lnTo>
                    <a:pt x="810" y="163"/>
                  </a:lnTo>
                  <a:lnTo>
                    <a:pt x="802" y="174"/>
                  </a:lnTo>
                  <a:lnTo>
                    <a:pt x="805" y="174"/>
                  </a:lnTo>
                  <a:lnTo>
                    <a:pt x="802" y="186"/>
                  </a:lnTo>
                  <a:lnTo>
                    <a:pt x="796" y="192"/>
                  </a:lnTo>
                  <a:lnTo>
                    <a:pt x="793" y="193"/>
                  </a:lnTo>
                  <a:lnTo>
                    <a:pt x="773" y="210"/>
                  </a:lnTo>
                  <a:lnTo>
                    <a:pt x="787" y="225"/>
                  </a:lnTo>
                  <a:lnTo>
                    <a:pt x="779" y="240"/>
                  </a:lnTo>
                  <a:lnTo>
                    <a:pt x="772" y="254"/>
                  </a:lnTo>
                  <a:lnTo>
                    <a:pt x="753" y="264"/>
                  </a:lnTo>
                  <a:lnTo>
                    <a:pt x="733" y="272"/>
                  </a:lnTo>
                  <a:lnTo>
                    <a:pt x="724" y="276"/>
                  </a:lnTo>
                  <a:lnTo>
                    <a:pt x="725" y="288"/>
                  </a:lnTo>
                  <a:lnTo>
                    <a:pt x="720" y="312"/>
                  </a:lnTo>
                  <a:lnTo>
                    <a:pt x="713" y="321"/>
                  </a:lnTo>
                  <a:lnTo>
                    <a:pt x="708" y="330"/>
                  </a:lnTo>
                  <a:lnTo>
                    <a:pt x="705" y="333"/>
                  </a:lnTo>
                  <a:lnTo>
                    <a:pt x="702" y="327"/>
                  </a:lnTo>
                  <a:lnTo>
                    <a:pt x="693" y="338"/>
                  </a:lnTo>
                  <a:lnTo>
                    <a:pt x="695" y="343"/>
                  </a:lnTo>
                  <a:lnTo>
                    <a:pt x="685" y="332"/>
                  </a:lnTo>
                  <a:lnTo>
                    <a:pt x="675" y="338"/>
                  </a:lnTo>
                  <a:lnTo>
                    <a:pt x="685" y="330"/>
                  </a:lnTo>
                  <a:lnTo>
                    <a:pt x="675" y="318"/>
                  </a:lnTo>
                  <a:lnTo>
                    <a:pt x="677" y="313"/>
                  </a:lnTo>
                  <a:lnTo>
                    <a:pt x="676" y="301"/>
                  </a:lnTo>
                  <a:lnTo>
                    <a:pt x="682" y="284"/>
                  </a:lnTo>
                  <a:lnTo>
                    <a:pt x="689" y="267"/>
                  </a:lnTo>
                  <a:lnTo>
                    <a:pt x="672" y="266"/>
                  </a:lnTo>
                  <a:lnTo>
                    <a:pt x="655" y="266"/>
                  </a:lnTo>
                  <a:lnTo>
                    <a:pt x="651" y="268"/>
                  </a:lnTo>
                  <a:lnTo>
                    <a:pt x="657" y="264"/>
                  </a:lnTo>
                  <a:lnTo>
                    <a:pt x="645" y="258"/>
                  </a:lnTo>
                  <a:lnTo>
                    <a:pt x="631" y="252"/>
                  </a:lnTo>
                  <a:lnTo>
                    <a:pt x="617" y="237"/>
                  </a:lnTo>
                  <a:lnTo>
                    <a:pt x="599" y="231"/>
                  </a:lnTo>
                  <a:lnTo>
                    <a:pt x="576" y="237"/>
                  </a:lnTo>
                  <a:lnTo>
                    <a:pt x="577" y="236"/>
                  </a:lnTo>
                  <a:lnTo>
                    <a:pt x="574" y="237"/>
                  </a:lnTo>
                  <a:lnTo>
                    <a:pt x="585" y="217"/>
                  </a:lnTo>
                  <a:lnTo>
                    <a:pt x="583" y="207"/>
                  </a:lnTo>
                  <a:lnTo>
                    <a:pt x="571" y="210"/>
                  </a:lnTo>
                  <a:lnTo>
                    <a:pt x="567" y="216"/>
                  </a:lnTo>
                  <a:lnTo>
                    <a:pt x="571" y="207"/>
                  </a:lnTo>
                  <a:lnTo>
                    <a:pt x="570" y="201"/>
                  </a:lnTo>
                  <a:lnTo>
                    <a:pt x="588" y="177"/>
                  </a:lnTo>
                  <a:lnTo>
                    <a:pt x="616" y="159"/>
                  </a:lnTo>
                  <a:lnTo>
                    <a:pt x="617" y="154"/>
                  </a:lnTo>
                  <a:lnTo>
                    <a:pt x="630" y="150"/>
                  </a:lnTo>
                  <a:lnTo>
                    <a:pt x="628" y="148"/>
                  </a:lnTo>
                  <a:lnTo>
                    <a:pt x="633" y="150"/>
                  </a:lnTo>
                  <a:lnTo>
                    <a:pt x="639" y="145"/>
                  </a:lnTo>
                  <a:lnTo>
                    <a:pt x="646" y="144"/>
                  </a:lnTo>
                  <a:lnTo>
                    <a:pt x="647" y="140"/>
                  </a:lnTo>
                  <a:lnTo>
                    <a:pt x="667" y="136"/>
                  </a:lnTo>
                  <a:lnTo>
                    <a:pt x="669" y="132"/>
                  </a:lnTo>
                  <a:lnTo>
                    <a:pt x="654" y="128"/>
                  </a:lnTo>
                  <a:lnTo>
                    <a:pt x="657" y="127"/>
                  </a:lnTo>
                  <a:lnTo>
                    <a:pt x="642" y="124"/>
                  </a:lnTo>
                  <a:lnTo>
                    <a:pt x="642" y="120"/>
                  </a:lnTo>
                  <a:lnTo>
                    <a:pt x="660" y="123"/>
                  </a:lnTo>
                  <a:lnTo>
                    <a:pt x="679" y="127"/>
                  </a:lnTo>
                  <a:lnTo>
                    <a:pt x="685" y="122"/>
                  </a:lnTo>
                  <a:lnTo>
                    <a:pt x="689" y="120"/>
                  </a:lnTo>
                  <a:lnTo>
                    <a:pt x="696" y="122"/>
                  </a:lnTo>
                  <a:lnTo>
                    <a:pt x="696" y="118"/>
                  </a:lnTo>
                  <a:lnTo>
                    <a:pt x="703" y="121"/>
                  </a:lnTo>
                  <a:lnTo>
                    <a:pt x="731" y="106"/>
                  </a:lnTo>
                  <a:lnTo>
                    <a:pt x="735" y="102"/>
                  </a:lnTo>
                  <a:lnTo>
                    <a:pt x="709" y="98"/>
                  </a:lnTo>
                  <a:lnTo>
                    <a:pt x="694" y="91"/>
                  </a:lnTo>
                  <a:lnTo>
                    <a:pt x="723" y="96"/>
                  </a:lnTo>
                  <a:lnTo>
                    <a:pt x="731" y="100"/>
                  </a:lnTo>
                  <a:lnTo>
                    <a:pt x="759"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4" name="Freeform 393"/>
            <p:cNvSpPr>
              <a:spLocks/>
            </p:cNvSpPr>
            <p:nvPr/>
          </p:nvSpPr>
          <p:spPr bwMode="auto">
            <a:xfrm>
              <a:off x="1414" y="1288"/>
              <a:ext cx="313" cy="202"/>
            </a:xfrm>
            <a:custGeom>
              <a:avLst/>
              <a:gdLst/>
              <a:ahLst/>
              <a:cxnLst>
                <a:cxn ang="0">
                  <a:pos x="205" y="41"/>
                </a:cxn>
                <a:cxn ang="0">
                  <a:pos x="195" y="33"/>
                </a:cxn>
                <a:cxn ang="0">
                  <a:pos x="183" y="33"/>
                </a:cxn>
                <a:cxn ang="0">
                  <a:pos x="163" y="39"/>
                </a:cxn>
                <a:cxn ang="0">
                  <a:pos x="168" y="27"/>
                </a:cxn>
                <a:cxn ang="0">
                  <a:pos x="177" y="22"/>
                </a:cxn>
                <a:cxn ang="0">
                  <a:pos x="133" y="23"/>
                </a:cxn>
                <a:cxn ang="0">
                  <a:pos x="130" y="25"/>
                </a:cxn>
                <a:cxn ang="0">
                  <a:pos x="120" y="23"/>
                </a:cxn>
                <a:cxn ang="0">
                  <a:pos x="109" y="22"/>
                </a:cxn>
                <a:cxn ang="0">
                  <a:pos x="94" y="6"/>
                </a:cxn>
                <a:cxn ang="0">
                  <a:pos x="75" y="12"/>
                </a:cxn>
                <a:cxn ang="0">
                  <a:pos x="69" y="21"/>
                </a:cxn>
                <a:cxn ang="0">
                  <a:pos x="61" y="34"/>
                </a:cxn>
                <a:cxn ang="0">
                  <a:pos x="47" y="27"/>
                </a:cxn>
                <a:cxn ang="0">
                  <a:pos x="24" y="15"/>
                </a:cxn>
                <a:cxn ang="0">
                  <a:pos x="5" y="48"/>
                </a:cxn>
                <a:cxn ang="0">
                  <a:pos x="31" y="55"/>
                </a:cxn>
                <a:cxn ang="0">
                  <a:pos x="76" y="53"/>
                </a:cxn>
                <a:cxn ang="0">
                  <a:pos x="115" y="51"/>
                </a:cxn>
                <a:cxn ang="0">
                  <a:pos x="126" y="61"/>
                </a:cxn>
                <a:cxn ang="0">
                  <a:pos x="123" y="76"/>
                </a:cxn>
                <a:cxn ang="0">
                  <a:pos x="153" y="75"/>
                </a:cxn>
                <a:cxn ang="0">
                  <a:pos x="144" y="106"/>
                </a:cxn>
                <a:cxn ang="0">
                  <a:pos x="178" y="114"/>
                </a:cxn>
                <a:cxn ang="0">
                  <a:pos x="137" y="108"/>
                </a:cxn>
                <a:cxn ang="0">
                  <a:pos x="99" y="133"/>
                </a:cxn>
                <a:cxn ang="0">
                  <a:pos x="61" y="139"/>
                </a:cxn>
                <a:cxn ang="0">
                  <a:pos x="103" y="139"/>
                </a:cxn>
                <a:cxn ang="0">
                  <a:pos x="117" y="138"/>
                </a:cxn>
                <a:cxn ang="0">
                  <a:pos x="127" y="154"/>
                </a:cxn>
                <a:cxn ang="0">
                  <a:pos x="148" y="169"/>
                </a:cxn>
                <a:cxn ang="0">
                  <a:pos x="175" y="163"/>
                </a:cxn>
                <a:cxn ang="0">
                  <a:pos x="189" y="163"/>
                </a:cxn>
                <a:cxn ang="0">
                  <a:pos x="205" y="171"/>
                </a:cxn>
                <a:cxn ang="0">
                  <a:pos x="215" y="157"/>
                </a:cxn>
                <a:cxn ang="0">
                  <a:pos x="214" y="144"/>
                </a:cxn>
                <a:cxn ang="0">
                  <a:pos x="208" y="136"/>
                </a:cxn>
                <a:cxn ang="0">
                  <a:pos x="201" y="131"/>
                </a:cxn>
                <a:cxn ang="0">
                  <a:pos x="196" y="120"/>
                </a:cxn>
                <a:cxn ang="0">
                  <a:pos x="205" y="115"/>
                </a:cxn>
                <a:cxn ang="0">
                  <a:pos x="215" y="109"/>
                </a:cxn>
                <a:cxn ang="0">
                  <a:pos x="243" y="112"/>
                </a:cxn>
                <a:cxn ang="0">
                  <a:pos x="226" y="126"/>
                </a:cxn>
                <a:cxn ang="0">
                  <a:pos x="237" y="131"/>
                </a:cxn>
                <a:cxn ang="0">
                  <a:pos x="250" y="118"/>
                </a:cxn>
                <a:cxn ang="0">
                  <a:pos x="259" y="117"/>
                </a:cxn>
                <a:cxn ang="0">
                  <a:pos x="276" y="111"/>
                </a:cxn>
                <a:cxn ang="0">
                  <a:pos x="273" y="102"/>
                </a:cxn>
                <a:cxn ang="0">
                  <a:pos x="257" y="106"/>
                </a:cxn>
                <a:cxn ang="0">
                  <a:pos x="246" y="100"/>
                </a:cxn>
                <a:cxn ang="0">
                  <a:pos x="246" y="96"/>
                </a:cxn>
                <a:cxn ang="0">
                  <a:pos x="246" y="90"/>
                </a:cxn>
                <a:cxn ang="0">
                  <a:pos x="235" y="89"/>
                </a:cxn>
                <a:cxn ang="0">
                  <a:pos x="229" y="84"/>
                </a:cxn>
                <a:cxn ang="0">
                  <a:pos x="210" y="76"/>
                </a:cxn>
                <a:cxn ang="0">
                  <a:pos x="219" y="72"/>
                </a:cxn>
                <a:cxn ang="0">
                  <a:pos x="214" y="67"/>
                </a:cxn>
                <a:cxn ang="0">
                  <a:pos x="221" y="61"/>
                </a:cxn>
                <a:cxn ang="0">
                  <a:pos x="215" y="58"/>
                </a:cxn>
                <a:cxn ang="0">
                  <a:pos x="234" y="47"/>
                </a:cxn>
                <a:cxn ang="0">
                  <a:pos x="202" y="48"/>
                </a:cxn>
              </a:cxnLst>
              <a:rect l="0" t="0" r="r" b="b"/>
              <a:pathLst>
                <a:path w="282" h="183">
                  <a:moveTo>
                    <a:pt x="197" y="48"/>
                  </a:moveTo>
                  <a:lnTo>
                    <a:pt x="193" y="48"/>
                  </a:lnTo>
                  <a:lnTo>
                    <a:pt x="213" y="42"/>
                  </a:lnTo>
                  <a:lnTo>
                    <a:pt x="205" y="41"/>
                  </a:lnTo>
                  <a:lnTo>
                    <a:pt x="190" y="45"/>
                  </a:lnTo>
                  <a:lnTo>
                    <a:pt x="199" y="39"/>
                  </a:lnTo>
                  <a:lnTo>
                    <a:pt x="209" y="37"/>
                  </a:lnTo>
                  <a:lnTo>
                    <a:pt x="195" y="33"/>
                  </a:lnTo>
                  <a:lnTo>
                    <a:pt x="183" y="40"/>
                  </a:lnTo>
                  <a:lnTo>
                    <a:pt x="184" y="36"/>
                  </a:lnTo>
                  <a:lnTo>
                    <a:pt x="178" y="40"/>
                  </a:lnTo>
                  <a:lnTo>
                    <a:pt x="183" y="33"/>
                  </a:lnTo>
                  <a:lnTo>
                    <a:pt x="177" y="36"/>
                  </a:lnTo>
                  <a:lnTo>
                    <a:pt x="183" y="30"/>
                  </a:lnTo>
                  <a:lnTo>
                    <a:pt x="180" y="31"/>
                  </a:lnTo>
                  <a:lnTo>
                    <a:pt x="163" y="39"/>
                  </a:lnTo>
                  <a:lnTo>
                    <a:pt x="171" y="33"/>
                  </a:lnTo>
                  <a:lnTo>
                    <a:pt x="166" y="33"/>
                  </a:lnTo>
                  <a:lnTo>
                    <a:pt x="183" y="27"/>
                  </a:lnTo>
                  <a:lnTo>
                    <a:pt x="168" y="27"/>
                  </a:lnTo>
                  <a:lnTo>
                    <a:pt x="162" y="30"/>
                  </a:lnTo>
                  <a:lnTo>
                    <a:pt x="168" y="24"/>
                  </a:lnTo>
                  <a:lnTo>
                    <a:pt x="157" y="29"/>
                  </a:lnTo>
                  <a:lnTo>
                    <a:pt x="177" y="22"/>
                  </a:lnTo>
                  <a:lnTo>
                    <a:pt x="169" y="18"/>
                  </a:lnTo>
                  <a:lnTo>
                    <a:pt x="142" y="18"/>
                  </a:lnTo>
                  <a:lnTo>
                    <a:pt x="150" y="23"/>
                  </a:lnTo>
                  <a:lnTo>
                    <a:pt x="133" y="23"/>
                  </a:lnTo>
                  <a:lnTo>
                    <a:pt x="138" y="29"/>
                  </a:lnTo>
                  <a:lnTo>
                    <a:pt x="130" y="27"/>
                  </a:lnTo>
                  <a:lnTo>
                    <a:pt x="131" y="28"/>
                  </a:lnTo>
                  <a:lnTo>
                    <a:pt x="130" y="25"/>
                  </a:lnTo>
                  <a:lnTo>
                    <a:pt x="130" y="21"/>
                  </a:lnTo>
                  <a:lnTo>
                    <a:pt x="126" y="22"/>
                  </a:lnTo>
                  <a:lnTo>
                    <a:pt x="120" y="22"/>
                  </a:lnTo>
                  <a:lnTo>
                    <a:pt x="120" y="23"/>
                  </a:lnTo>
                  <a:lnTo>
                    <a:pt x="115" y="23"/>
                  </a:lnTo>
                  <a:lnTo>
                    <a:pt x="109" y="25"/>
                  </a:lnTo>
                  <a:lnTo>
                    <a:pt x="113" y="19"/>
                  </a:lnTo>
                  <a:lnTo>
                    <a:pt x="109" y="22"/>
                  </a:lnTo>
                  <a:lnTo>
                    <a:pt x="124" y="15"/>
                  </a:lnTo>
                  <a:lnTo>
                    <a:pt x="121" y="1"/>
                  </a:lnTo>
                  <a:lnTo>
                    <a:pt x="91" y="4"/>
                  </a:lnTo>
                  <a:lnTo>
                    <a:pt x="94" y="6"/>
                  </a:lnTo>
                  <a:lnTo>
                    <a:pt x="83" y="7"/>
                  </a:lnTo>
                  <a:lnTo>
                    <a:pt x="76" y="9"/>
                  </a:lnTo>
                  <a:lnTo>
                    <a:pt x="88" y="11"/>
                  </a:lnTo>
                  <a:lnTo>
                    <a:pt x="75" y="12"/>
                  </a:lnTo>
                  <a:lnTo>
                    <a:pt x="83" y="16"/>
                  </a:lnTo>
                  <a:lnTo>
                    <a:pt x="66" y="13"/>
                  </a:lnTo>
                  <a:lnTo>
                    <a:pt x="65" y="21"/>
                  </a:lnTo>
                  <a:lnTo>
                    <a:pt x="69" y="21"/>
                  </a:lnTo>
                  <a:lnTo>
                    <a:pt x="71" y="27"/>
                  </a:lnTo>
                  <a:lnTo>
                    <a:pt x="58" y="24"/>
                  </a:lnTo>
                  <a:lnTo>
                    <a:pt x="55" y="28"/>
                  </a:lnTo>
                  <a:lnTo>
                    <a:pt x="61" y="34"/>
                  </a:lnTo>
                  <a:lnTo>
                    <a:pt x="52" y="40"/>
                  </a:lnTo>
                  <a:lnTo>
                    <a:pt x="35" y="40"/>
                  </a:lnTo>
                  <a:lnTo>
                    <a:pt x="57" y="35"/>
                  </a:lnTo>
                  <a:lnTo>
                    <a:pt x="47" y="27"/>
                  </a:lnTo>
                  <a:lnTo>
                    <a:pt x="66" y="9"/>
                  </a:lnTo>
                  <a:lnTo>
                    <a:pt x="84" y="0"/>
                  </a:lnTo>
                  <a:lnTo>
                    <a:pt x="46" y="4"/>
                  </a:lnTo>
                  <a:lnTo>
                    <a:pt x="24" y="15"/>
                  </a:lnTo>
                  <a:lnTo>
                    <a:pt x="0" y="35"/>
                  </a:lnTo>
                  <a:lnTo>
                    <a:pt x="25" y="41"/>
                  </a:lnTo>
                  <a:lnTo>
                    <a:pt x="3" y="41"/>
                  </a:lnTo>
                  <a:lnTo>
                    <a:pt x="5" y="48"/>
                  </a:lnTo>
                  <a:lnTo>
                    <a:pt x="19" y="51"/>
                  </a:lnTo>
                  <a:lnTo>
                    <a:pt x="21" y="51"/>
                  </a:lnTo>
                  <a:lnTo>
                    <a:pt x="25" y="49"/>
                  </a:lnTo>
                  <a:lnTo>
                    <a:pt x="31" y="55"/>
                  </a:lnTo>
                  <a:lnTo>
                    <a:pt x="75" y="57"/>
                  </a:lnTo>
                  <a:lnTo>
                    <a:pt x="64" y="51"/>
                  </a:lnTo>
                  <a:lnTo>
                    <a:pt x="84" y="59"/>
                  </a:lnTo>
                  <a:lnTo>
                    <a:pt x="76" y="53"/>
                  </a:lnTo>
                  <a:lnTo>
                    <a:pt x="109" y="57"/>
                  </a:lnTo>
                  <a:lnTo>
                    <a:pt x="107" y="49"/>
                  </a:lnTo>
                  <a:lnTo>
                    <a:pt x="115" y="46"/>
                  </a:lnTo>
                  <a:lnTo>
                    <a:pt x="115" y="51"/>
                  </a:lnTo>
                  <a:lnTo>
                    <a:pt x="124" y="53"/>
                  </a:lnTo>
                  <a:lnTo>
                    <a:pt x="120" y="58"/>
                  </a:lnTo>
                  <a:lnTo>
                    <a:pt x="130" y="59"/>
                  </a:lnTo>
                  <a:lnTo>
                    <a:pt x="126" y="61"/>
                  </a:lnTo>
                  <a:lnTo>
                    <a:pt x="132" y="60"/>
                  </a:lnTo>
                  <a:lnTo>
                    <a:pt x="135" y="70"/>
                  </a:lnTo>
                  <a:lnTo>
                    <a:pt x="124" y="72"/>
                  </a:lnTo>
                  <a:lnTo>
                    <a:pt x="123" y="76"/>
                  </a:lnTo>
                  <a:lnTo>
                    <a:pt x="137" y="71"/>
                  </a:lnTo>
                  <a:lnTo>
                    <a:pt x="143" y="72"/>
                  </a:lnTo>
                  <a:lnTo>
                    <a:pt x="149" y="78"/>
                  </a:lnTo>
                  <a:lnTo>
                    <a:pt x="153" y="75"/>
                  </a:lnTo>
                  <a:lnTo>
                    <a:pt x="150" y="82"/>
                  </a:lnTo>
                  <a:lnTo>
                    <a:pt x="157" y="83"/>
                  </a:lnTo>
                  <a:lnTo>
                    <a:pt x="155" y="100"/>
                  </a:lnTo>
                  <a:lnTo>
                    <a:pt x="144" y="106"/>
                  </a:lnTo>
                  <a:lnTo>
                    <a:pt x="162" y="107"/>
                  </a:lnTo>
                  <a:lnTo>
                    <a:pt x="171" y="101"/>
                  </a:lnTo>
                  <a:lnTo>
                    <a:pt x="183" y="109"/>
                  </a:lnTo>
                  <a:lnTo>
                    <a:pt x="178" y="114"/>
                  </a:lnTo>
                  <a:lnTo>
                    <a:pt x="165" y="114"/>
                  </a:lnTo>
                  <a:lnTo>
                    <a:pt x="159" y="115"/>
                  </a:lnTo>
                  <a:lnTo>
                    <a:pt x="162" y="109"/>
                  </a:lnTo>
                  <a:lnTo>
                    <a:pt x="137" y="108"/>
                  </a:lnTo>
                  <a:lnTo>
                    <a:pt x="120" y="115"/>
                  </a:lnTo>
                  <a:lnTo>
                    <a:pt x="124" y="124"/>
                  </a:lnTo>
                  <a:lnTo>
                    <a:pt x="96" y="130"/>
                  </a:lnTo>
                  <a:lnTo>
                    <a:pt x="99" y="133"/>
                  </a:lnTo>
                  <a:lnTo>
                    <a:pt x="96" y="136"/>
                  </a:lnTo>
                  <a:lnTo>
                    <a:pt x="96" y="129"/>
                  </a:lnTo>
                  <a:lnTo>
                    <a:pt x="76" y="127"/>
                  </a:lnTo>
                  <a:lnTo>
                    <a:pt x="61" y="139"/>
                  </a:lnTo>
                  <a:lnTo>
                    <a:pt x="76" y="144"/>
                  </a:lnTo>
                  <a:lnTo>
                    <a:pt x="90" y="142"/>
                  </a:lnTo>
                  <a:lnTo>
                    <a:pt x="93" y="139"/>
                  </a:lnTo>
                  <a:lnTo>
                    <a:pt x="103" y="139"/>
                  </a:lnTo>
                  <a:lnTo>
                    <a:pt x="106" y="133"/>
                  </a:lnTo>
                  <a:lnTo>
                    <a:pt x="109" y="138"/>
                  </a:lnTo>
                  <a:lnTo>
                    <a:pt x="109" y="143"/>
                  </a:lnTo>
                  <a:lnTo>
                    <a:pt x="117" y="138"/>
                  </a:lnTo>
                  <a:lnTo>
                    <a:pt x="121" y="139"/>
                  </a:lnTo>
                  <a:lnTo>
                    <a:pt x="119" y="145"/>
                  </a:lnTo>
                  <a:lnTo>
                    <a:pt x="126" y="150"/>
                  </a:lnTo>
                  <a:lnTo>
                    <a:pt x="127" y="154"/>
                  </a:lnTo>
                  <a:lnTo>
                    <a:pt x="136" y="155"/>
                  </a:lnTo>
                  <a:lnTo>
                    <a:pt x="127" y="159"/>
                  </a:lnTo>
                  <a:lnTo>
                    <a:pt x="133" y="163"/>
                  </a:lnTo>
                  <a:lnTo>
                    <a:pt x="148" y="169"/>
                  </a:lnTo>
                  <a:lnTo>
                    <a:pt x="167" y="177"/>
                  </a:lnTo>
                  <a:lnTo>
                    <a:pt x="186" y="183"/>
                  </a:lnTo>
                  <a:lnTo>
                    <a:pt x="186" y="175"/>
                  </a:lnTo>
                  <a:lnTo>
                    <a:pt x="175" y="163"/>
                  </a:lnTo>
                  <a:lnTo>
                    <a:pt x="165" y="153"/>
                  </a:lnTo>
                  <a:lnTo>
                    <a:pt x="178" y="159"/>
                  </a:lnTo>
                  <a:lnTo>
                    <a:pt x="180" y="154"/>
                  </a:lnTo>
                  <a:lnTo>
                    <a:pt x="189" y="163"/>
                  </a:lnTo>
                  <a:lnTo>
                    <a:pt x="190" y="161"/>
                  </a:lnTo>
                  <a:lnTo>
                    <a:pt x="195" y="165"/>
                  </a:lnTo>
                  <a:lnTo>
                    <a:pt x="203" y="168"/>
                  </a:lnTo>
                  <a:lnTo>
                    <a:pt x="205" y="171"/>
                  </a:lnTo>
                  <a:lnTo>
                    <a:pt x="207" y="166"/>
                  </a:lnTo>
                  <a:lnTo>
                    <a:pt x="210" y="165"/>
                  </a:lnTo>
                  <a:lnTo>
                    <a:pt x="213" y="154"/>
                  </a:lnTo>
                  <a:lnTo>
                    <a:pt x="215" y="157"/>
                  </a:lnTo>
                  <a:lnTo>
                    <a:pt x="217" y="153"/>
                  </a:lnTo>
                  <a:lnTo>
                    <a:pt x="219" y="148"/>
                  </a:lnTo>
                  <a:lnTo>
                    <a:pt x="215" y="147"/>
                  </a:lnTo>
                  <a:lnTo>
                    <a:pt x="214" y="144"/>
                  </a:lnTo>
                  <a:lnTo>
                    <a:pt x="215" y="141"/>
                  </a:lnTo>
                  <a:lnTo>
                    <a:pt x="214" y="138"/>
                  </a:lnTo>
                  <a:lnTo>
                    <a:pt x="210" y="137"/>
                  </a:lnTo>
                  <a:lnTo>
                    <a:pt x="208" y="136"/>
                  </a:lnTo>
                  <a:lnTo>
                    <a:pt x="204" y="132"/>
                  </a:lnTo>
                  <a:lnTo>
                    <a:pt x="202" y="133"/>
                  </a:lnTo>
                  <a:lnTo>
                    <a:pt x="204" y="130"/>
                  </a:lnTo>
                  <a:lnTo>
                    <a:pt x="201" y="131"/>
                  </a:lnTo>
                  <a:lnTo>
                    <a:pt x="202" y="126"/>
                  </a:lnTo>
                  <a:lnTo>
                    <a:pt x="202" y="123"/>
                  </a:lnTo>
                  <a:lnTo>
                    <a:pt x="193" y="123"/>
                  </a:lnTo>
                  <a:lnTo>
                    <a:pt x="196" y="120"/>
                  </a:lnTo>
                  <a:lnTo>
                    <a:pt x="195" y="117"/>
                  </a:lnTo>
                  <a:lnTo>
                    <a:pt x="192" y="112"/>
                  </a:lnTo>
                  <a:lnTo>
                    <a:pt x="202" y="119"/>
                  </a:lnTo>
                  <a:lnTo>
                    <a:pt x="205" y="115"/>
                  </a:lnTo>
                  <a:lnTo>
                    <a:pt x="204" y="111"/>
                  </a:lnTo>
                  <a:lnTo>
                    <a:pt x="210" y="109"/>
                  </a:lnTo>
                  <a:lnTo>
                    <a:pt x="209" y="108"/>
                  </a:lnTo>
                  <a:lnTo>
                    <a:pt x="215" y="109"/>
                  </a:lnTo>
                  <a:lnTo>
                    <a:pt x="226" y="114"/>
                  </a:lnTo>
                  <a:lnTo>
                    <a:pt x="229" y="112"/>
                  </a:lnTo>
                  <a:lnTo>
                    <a:pt x="221" y="118"/>
                  </a:lnTo>
                  <a:lnTo>
                    <a:pt x="243" y="112"/>
                  </a:lnTo>
                  <a:lnTo>
                    <a:pt x="233" y="117"/>
                  </a:lnTo>
                  <a:lnTo>
                    <a:pt x="223" y="123"/>
                  </a:lnTo>
                  <a:lnTo>
                    <a:pt x="227" y="123"/>
                  </a:lnTo>
                  <a:lnTo>
                    <a:pt x="226" y="126"/>
                  </a:lnTo>
                  <a:lnTo>
                    <a:pt x="232" y="126"/>
                  </a:lnTo>
                  <a:lnTo>
                    <a:pt x="229" y="131"/>
                  </a:lnTo>
                  <a:lnTo>
                    <a:pt x="233" y="127"/>
                  </a:lnTo>
                  <a:lnTo>
                    <a:pt x="237" y="131"/>
                  </a:lnTo>
                  <a:lnTo>
                    <a:pt x="244" y="132"/>
                  </a:lnTo>
                  <a:lnTo>
                    <a:pt x="244" y="125"/>
                  </a:lnTo>
                  <a:lnTo>
                    <a:pt x="245" y="124"/>
                  </a:lnTo>
                  <a:lnTo>
                    <a:pt x="250" y="118"/>
                  </a:lnTo>
                  <a:lnTo>
                    <a:pt x="255" y="123"/>
                  </a:lnTo>
                  <a:lnTo>
                    <a:pt x="257" y="119"/>
                  </a:lnTo>
                  <a:lnTo>
                    <a:pt x="263" y="118"/>
                  </a:lnTo>
                  <a:lnTo>
                    <a:pt x="259" y="117"/>
                  </a:lnTo>
                  <a:lnTo>
                    <a:pt x="268" y="115"/>
                  </a:lnTo>
                  <a:lnTo>
                    <a:pt x="262" y="113"/>
                  </a:lnTo>
                  <a:lnTo>
                    <a:pt x="268" y="111"/>
                  </a:lnTo>
                  <a:lnTo>
                    <a:pt x="276" y="111"/>
                  </a:lnTo>
                  <a:lnTo>
                    <a:pt x="276" y="109"/>
                  </a:lnTo>
                  <a:lnTo>
                    <a:pt x="275" y="107"/>
                  </a:lnTo>
                  <a:lnTo>
                    <a:pt x="282" y="107"/>
                  </a:lnTo>
                  <a:lnTo>
                    <a:pt x="273" y="102"/>
                  </a:lnTo>
                  <a:lnTo>
                    <a:pt x="269" y="105"/>
                  </a:lnTo>
                  <a:lnTo>
                    <a:pt x="265" y="105"/>
                  </a:lnTo>
                  <a:lnTo>
                    <a:pt x="265" y="102"/>
                  </a:lnTo>
                  <a:lnTo>
                    <a:pt x="257" y="106"/>
                  </a:lnTo>
                  <a:lnTo>
                    <a:pt x="256" y="105"/>
                  </a:lnTo>
                  <a:lnTo>
                    <a:pt x="263" y="97"/>
                  </a:lnTo>
                  <a:lnTo>
                    <a:pt x="258" y="100"/>
                  </a:lnTo>
                  <a:lnTo>
                    <a:pt x="246" y="100"/>
                  </a:lnTo>
                  <a:lnTo>
                    <a:pt x="255" y="97"/>
                  </a:lnTo>
                  <a:lnTo>
                    <a:pt x="245" y="99"/>
                  </a:lnTo>
                  <a:lnTo>
                    <a:pt x="252" y="97"/>
                  </a:lnTo>
                  <a:lnTo>
                    <a:pt x="246" y="96"/>
                  </a:lnTo>
                  <a:lnTo>
                    <a:pt x="256" y="94"/>
                  </a:lnTo>
                  <a:lnTo>
                    <a:pt x="256" y="93"/>
                  </a:lnTo>
                  <a:lnTo>
                    <a:pt x="249" y="90"/>
                  </a:lnTo>
                  <a:lnTo>
                    <a:pt x="246" y="90"/>
                  </a:lnTo>
                  <a:lnTo>
                    <a:pt x="250" y="85"/>
                  </a:lnTo>
                  <a:lnTo>
                    <a:pt x="243" y="90"/>
                  </a:lnTo>
                  <a:lnTo>
                    <a:pt x="240" y="87"/>
                  </a:lnTo>
                  <a:lnTo>
                    <a:pt x="235" y="89"/>
                  </a:lnTo>
                  <a:lnTo>
                    <a:pt x="238" y="85"/>
                  </a:lnTo>
                  <a:lnTo>
                    <a:pt x="231" y="89"/>
                  </a:lnTo>
                  <a:lnTo>
                    <a:pt x="235" y="84"/>
                  </a:lnTo>
                  <a:lnTo>
                    <a:pt x="229" y="84"/>
                  </a:lnTo>
                  <a:lnTo>
                    <a:pt x="225" y="82"/>
                  </a:lnTo>
                  <a:lnTo>
                    <a:pt x="219" y="82"/>
                  </a:lnTo>
                  <a:lnTo>
                    <a:pt x="228" y="79"/>
                  </a:lnTo>
                  <a:lnTo>
                    <a:pt x="210" y="76"/>
                  </a:lnTo>
                  <a:lnTo>
                    <a:pt x="220" y="76"/>
                  </a:lnTo>
                  <a:lnTo>
                    <a:pt x="210" y="73"/>
                  </a:lnTo>
                  <a:lnTo>
                    <a:pt x="223" y="75"/>
                  </a:lnTo>
                  <a:lnTo>
                    <a:pt x="219" y="72"/>
                  </a:lnTo>
                  <a:lnTo>
                    <a:pt x="227" y="71"/>
                  </a:lnTo>
                  <a:lnTo>
                    <a:pt x="214" y="70"/>
                  </a:lnTo>
                  <a:lnTo>
                    <a:pt x="219" y="67"/>
                  </a:lnTo>
                  <a:lnTo>
                    <a:pt x="214" y="67"/>
                  </a:lnTo>
                  <a:lnTo>
                    <a:pt x="223" y="66"/>
                  </a:lnTo>
                  <a:lnTo>
                    <a:pt x="215" y="65"/>
                  </a:lnTo>
                  <a:lnTo>
                    <a:pt x="240" y="67"/>
                  </a:lnTo>
                  <a:lnTo>
                    <a:pt x="221" y="61"/>
                  </a:lnTo>
                  <a:lnTo>
                    <a:pt x="207" y="61"/>
                  </a:lnTo>
                  <a:lnTo>
                    <a:pt x="239" y="59"/>
                  </a:lnTo>
                  <a:lnTo>
                    <a:pt x="233" y="51"/>
                  </a:lnTo>
                  <a:lnTo>
                    <a:pt x="215" y="58"/>
                  </a:lnTo>
                  <a:lnTo>
                    <a:pt x="205" y="60"/>
                  </a:lnTo>
                  <a:lnTo>
                    <a:pt x="226" y="52"/>
                  </a:lnTo>
                  <a:lnTo>
                    <a:pt x="207" y="55"/>
                  </a:lnTo>
                  <a:lnTo>
                    <a:pt x="234" y="47"/>
                  </a:lnTo>
                  <a:lnTo>
                    <a:pt x="219" y="45"/>
                  </a:lnTo>
                  <a:lnTo>
                    <a:pt x="213" y="46"/>
                  </a:lnTo>
                  <a:lnTo>
                    <a:pt x="220" y="42"/>
                  </a:lnTo>
                  <a:lnTo>
                    <a:pt x="202" y="48"/>
                  </a:lnTo>
                  <a:lnTo>
                    <a:pt x="192" y="55"/>
                  </a:lnTo>
                  <a:lnTo>
                    <a:pt x="197" y="4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5" name="Freeform 394"/>
            <p:cNvSpPr>
              <a:spLocks/>
            </p:cNvSpPr>
            <p:nvPr/>
          </p:nvSpPr>
          <p:spPr bwMode="auto">
            <a:xfrm>
              <a:off x="1505" y="1159"/>
              <a:ext cx="382" cy="86"/>
            </a:xfrm>
            <a:custGeom>
              <a:avLst/>
              <a:gdLst/>
              <a:ahLst/>
              <a:cxnLst>
                <a:cxn ang="0">
                  <a:pos x="85" y="56"/>
                </a:cxn>
                <a:cxn ang="0">
                  <a:pos x="64" y="65"/>
                </a:cxn>
                <a:cxn ang="0">
                  <a:pos x="52" y="59"/>
                </a:cxn>
                <a:cxn ang="0">
                  <a:pos x="62" y="55"/>
                </a:cxn>
                <a:cxn ang="0">
                  <a:pos x="42" y="52"/>
                </a:cxn>
                <a:cxn ang="0">
                  <a:pos x="95" y="46"/>
                </a:cxn>
                <a:cxn ang="0">
                  <a:pos x="71" y="30"/>
                </a:cxn>
                <a:cxn ang="0">
                  <a:pos x="103" y="29"/>
                </a:cxn>
                <a:cxn ang="0">
                  <a:pos x="116" y="35"/>
                </a:cxn>
                <a:cxn ang="0">
                  <a:pos x="108" y="28"/>
                </a:cxn>
                <a:cxn ang="0">
                  <a:pos x="157" y="22"/>
                </a:cxn>
                <a:cxn ang="0">
                  <a:pos x="182" y="16"/>
                </a:cxn>
                <a:cxn ang="0">
                  <a:pos x="131" y="20"/>
                </a:cxn>
                <a:cxn ang="0">
                  <a:pos x="78" y="24"/>
                </a:cxn>
                <a:cxn ang="0">
                  <a:pos x="124" y="19"/>
                </a:cxn>
                <a:cxn ang="0">
                  <a:pos x="71" y="25"/>
                </a:cxn>
                <a:cxn ang="0">
                  <a:pos x="55" y="22"/>
                </a:cxn>
                <a:cxn ang="0">
                  <a:pos x="104" y="18"/>
                </a:cxn>
                <a:cxn ang="0">
                  <a:pos x="52" y="18"/>
                </a:cxn>
                <a:cxn ang="0">
                  <a:pos x="84" y="16"/>
                </a:cxn>
                <a:cxn ang="0">
                  <a:pos x="43" y="13"/>
                </a:cxn>
                <a:cxn ang="0">
                  <a:pos x="97" y="8"/>
                </a:cxn>
                <a:cxn ang="0">
                  <a:pos x="164" y="12"/>
                </a:cxn>
                <a:cxn ang="0">
                  <a:pos x="156" y="1"/>
                </a:cxn>
                <a:cxn ang="0">
                  <a:pos x="210" y="4"/>
                </a:cxn>
                <a:cxn ang="0">
                  <a:pos x="198" y="0"/>
                </a:cxn>
                <a:cxn ang="0">
                  <a:pos x="270" y="4"/>
                </a:cxn>
                <a:cxn ang="0">
                  <a:pos x="344" y="7"/>
                </a:cxn>
                <a:cxn ang="0">
                  <a:pos x="295" y="13"/>
                </a:cxn>
                <a:cxn ang="0">
                  <a:pos x="246" y="19"/>
                </a:cxn>
                <a:cxn ang="0">
                  <a:pos x="304" y="16"/>
                </a:cxn>
                <a:cxn ang="0">
                  <a:pos x="251" y="25"/>
                </a:cxn>
                <a:cxn ang="0">
                  <a:pos x="198" y="35"/>
                </a:cxn>
                <a:cxn ang="0">
                  <a:pos x="149" y="40"/>
                </a:cxn>
                <a:cxn ang="0">
                  <a:pos x="176" y="44"/>
                </a:cxn>
                <a:cxn ang="0">
                  <a:pos x="138" y="47"/>
                </a:cxn>
                <a:cxn ang="0">
                  <a:pos x="169" y="49"/>
                </a:cxn>
                <a:cxn ang="0">
                  <a:pos x="126" y="59"/>
                </a:cxn>
                <a:cxn ang="0">
                  <a:pos x="122" y="65"/>
                </a:cxn>
                <a:cxn ang="0">
                  <a:pos x="86" y="67"/>
                </a:cxn>
                <a:cxn ang="0">
                  <a:pos x="115" y="76"/>
                </a:cxn>
                <a:cxn ang="0">
                  <a:pos x="79" y="78"/>
                </a:cxn>
                <a:cxn ang="0">
                  <a:pos x="40" y="78"/>
                </a:cxn>
                <a:cxn ang="0">
                  <a:pos x="0" y="77"/>
                </a:cxn>
                <a:cxn ang="0">
                  <a:pos x="28" y="67"/>
                </a:cxn>
                <a:cxn ang="0">
                  <a:pos x="22" y="61"/>
                </a:cxn>
                <a:cxn ang="0">
                  <a:pos x="64" y="66"/>
                </a:cxn>
                <a:cxn ang="0">
                  <a:pos x="85" y="56"/>
                </a:cxn>
              </a:cxnLst>
              <a:rect l="0" t="0" r="r" b="b"/>
              <a:pathLst>
                <a:path w="344" h="78">
                  <a:moveTo>
                    <a:pt x="85" y="56"/>
                  </a:moveTo>
                  <a:lnTo>
                    <a:pt x="64" y="65"/>
                  </a:lnTo>
                  <a:lnTo>
                    <a:pt x="52" y="59"/>
                  </a:lnTo>
                  <a:lnTo>
                    <a:pt x="62" y="55"/>
                  </a:lnTo>
                  <a:lnTo>
                    <a:pt x="42" y="52"/>
                  </a:lnTo>
                  <a:lnTo>
                    <a:pt x="95" y="46"/>
                  </a:lnTo>
                  <a:lnTo>
                    <a:pt x="71" y="30"/>
                  </a:lnTo>
                  <a:lnTo>
                    <a:pt x="103" y="29"/>
                  </a:lnTo>
                  <a:lnTo>
                    <a:pt x="116" y="35"/>
                  </a:lnTo>
                  <a:lnTo>
                    <a:pt x="108" y="28"/>
                  </a:lnTo>
                  <a:lnTo>
                    <a:pt x="157" y="22"/>
                  </a:lnTo>
                  <a:lnTo>
                    <a:pt x="182" y="16"/>
                  </a:lnTo>
                  <a:lnTo>
                    <a:pt x="131" y="20"/>
                  </a:lnTo>
                  <a:lnTo>
                    <a:pt x="78" y="24"/>
                  </a:lnTo>
                  <a:lnTo>
                    <a:pt x="124" y="19"/>
                  </a:lnTo>
                  <a:lnTo>
                    <a:pt x="71" y="25"/>
                  </a:lnTo>
                  <a:lnTo>
                    <a:pt x="55" y="22"/>
                  </a:lnTo>
                  <a:lnTo>
                    <a:pt x="104" y="18"/>
                  </a:lnTo>
                  <a:lnTo>
                    <a:pt x="52" y="18"/>
                  </a:lnTo>
                  <a:lnTo>
                    <a:pt x="84" y="16"/>
                  </a:lnTo>
                  <a:lnTo>
                    <a:pt x="43" y="13"/>
                  </a:lnTo>
                  <a:lnTo>
                    <a:pt x="97" y="8"/>
                  </a:lnTo>
                  <a:lnTo>
                    <a:pt x="164" y="12"/>
                  </a:lnTo>
                  <a:lnTo>
                    <a:pt x="156" y="1"/>
                  </a:lnTo>
                  <a:lnTo>
                    <a:pt x="210" y="4"/>
                  </a:lnTo>
                  <a:lnTo>
                    <a:pt x="198" y="0"/>
                  </a:lnTo>
                  <a:lnTo>
                    <a:pt x="270" y="4"/>
                  </a:lnTo>
                  <a:lnTo>
                    <a:pt x="344" y="7"/>
                  </a:lnTo>
                  <a:lnTo>
                    <a:pt x="295" y="13"/>
                  </a:lnTo>
                  <a:lnTo>
                    <a:pt x="246" y="19"/>
                  </a:lnTo>
                  <a:lnTo>
                    <a:pt x="304" y="16"/>
                  </a:lnTo>
                  <a:lnTo>
                    <a:pt x="251" y="25"/>
                  </a:lnTo>
                  <a:lnTo>
                    <a:pt x="198" y="35"/>
                  </a:lnTo>
                  <a:lnTo>
                    <a:pt x="149" y="40"/>
                  </a:lnTo>
                  <a:lnTo>
                    <a:pt x="176" y="44"/>
                  </a:lnTo>
                  <a:lnTo>
                    <a:pt x="138" y="47"/>
                  </a:lnTo>
                  <a:lnTo>
                    <a:pt x="169" y="49"/>
                  </a:lnTo>
                  <a:lnTo>
                    <a:pt x="126" y="59"/>
                  </a:lnTo>
                  <a:lnTo>
                    <a:pt x="122" y="65"/>
                  </a:lnTo>
                  <a:lnTo>
                    <a:pt x="86" y="67"/>
                  </a:lnTo>
                  <a:lnTo>
                    <a:pt x="115" y="76"/>
                  </a:lnTo>
                  <a:lnTo>
                    <a:pt x="79" y="78"/>
                  </a:lnTo>
                  <a:lnTo>
                    <a:pt x="40" y="78"/>
                  </a:lnTo>
                  <a:lnTo>
                    <a:pt x="0" y="77"/>
                  </a:lnTo>
                  <a:lnTo>
                    <a:pt x="28" y="67"/>
                  </a:lnTo>
                  <a:lnTo>
                    <a:pt x="22" y="61"/>
                  </a:lnTo>
                  <a:lnTo>
                    <a:pt x="64" y="66"/>
                  </a:lnTo>
                  <a:lnTo>
                    <a:pt x="85"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6" name="Freeform 395"/>
            <p:cNvSpPr>
              <a:spLocks/>
            </p:cNvSpPr>
            <p:nvPr/>
          </p:nvSpPr>
          <p:spPr bwMode="auto">
            <a:xfrm>
              <a:off x="1043" y="1294"/>
              <a:ext cx="213" cy="80"/>
            </a:xfrm>
            <a:custGeom>
              <a:avLst/>
              <a:gdLst/>
              <a:ahLst/>
              <a:cxnLst>
                <a:cxn ang="0">
                  <a:pos x="125" y="65"/>
                </a:cxn>
                <a:cxn ang="0">
                  <a:pos x="117" y="60"/>
                </a:cxn>
                <a:cxn ang="0">
                  <a:pos x="114" y="59"/>
                </a:cxn>
                <a:cxn ang="0">
                  <a:pos x="93" y="66"/>
                </a:cxn>
                <a:cxn ang="0">
                  <a:pos x="61" y="69"/>
                </a:cxn>
                <a:cxn ang="0">
                  <a:pos x="29" y="72"/>
                </a:cxn>
                <a:cxn ang="0">
                  <a:pos x="30" y="64"/>
                </a:cxn>
                <a:cxn ang="0">
                  <a:pos x="0" y="55"/>
                </a:cxn>
                <a:cxn ang="0">
                  <a:pos x="6" y="47"/>
                </a:cxn>
                <a:cxn ang="0">
                  <a:pos x="39" y="46"/>
                </a:cxn>
                <a:cxn ang="0">
                  <a:pos x="73" y="45"/>
                </a:cxn>
                <a:cxn ang="0">
                  <a:pos x="42" y="40"/>
                </a:cxn>
                <a:cxn ang="0">
                  <a:pos x="9" y="39"/>
                </a:cxn>
                <a:cxn ang="0">
                  <a:pos x="6" y="35"/>
                </a:cxn>
                <a:cxn ang="0">
                  <a:pos x="48" y="27"/>
                </a:cxn>
                <a:cxn ang="0">
                  <a:pos x="17" y="28"/>
                </a:cxn>
                <a:cxn ang="0">
                  <a:pos x="25" y="25"/>
                </a:cxn>
                <a:cxn ang="0">
                  <a:pos x="11" y="25"/>
                </a:cxn>
                <a:cxn ang="0">
                  <a:pos x="32" y="16"/>
                </a:cxn>
                <a:cxn ang="0">
                  <a:pos x="30" y="13"/>
                </a:cxn>
                <a:cxn ang="0">
                  <a:pos x="60" y="6"/>
                </a:cxn>
                <a:cxn ang="0">
                  <a:pos x="89" y="0"/>
                </a:cxn>
                <a:cxn ang="0">
                  <a:pos x="91" y="4"/>
                </a:cxn>
                <a:cxn ang="0">
                  <a:pos x="78" y="11"/>
                </a:cxn>
                <a:cxn ang="0">
                  <a:pos x="89" y="10"/>
                </a:cxn>
                <a:cxn ang="0">
                  <a:pos x="99" y="5"/>
                </a:cxn>
                <a:cxn ang="0">
                  <a:pos x="111" y="12"/>
                </a:cxn>
                <a:cxn ang="0">
                  <a:pos x="104" y="16"/>
                </a:cxn>
                <a:cxn ang="0">
                  <a:pos x="109" y="15"/>
                </a:cxn>
                <a:cxn ang="0">
                  <a:pos x="125" y="13"/>
                </a:cxn>
                <a:cxn ang="0">
                  <a:pos x="126" y="10"/>
                </a:cxn>
                <a:cxn ang="0">
                  <a:pos x="128" y="5"/>
                </a:cxn>
                <a:cxn ang="0">
                  <a:pos x="140" y="12"/>
                </a:cxn>
                <a:cxn ang="0">
                  <a:pos x="133" y="25"/>
                </a:cxn>
                <a:cxn ang="0">
                  <a:pos x="145" y="21"/>
                </a:cxn>
                <a:cxn ang="0">
                  <a:pos x="156" y="3"/>
                </a:cxn>
                <a:cxn ang="0">
                  <a:pos x="175" y="3"/>
                </a:cxn>
                <a:cxn ang="0">
                  <a:pos x="177" y="12"/>
                </a:cxn>
                <a:cxn ang="0">
                  <a:pos x="167" y="31"/>
                </a:cxn>
                <a:cxn ang="0">
                  <a:pos x="168" y="41"/>
                </a:cxn>
                <a:cxn ang="0">
                  <a:pos x="171" y="41"/>
                </a:cxn>
                <a:cxn ang="0">
                  <a:pos x="191" y="47"/>
                </a:cxn>
                <a:cxn ang="0">
                  <a:pos x="188" y="51"/>
                </a:cxn>
                <a:cxn ang="0">
                  <a:pos x="180" y="54"/>
                </a:cxn>
                <a:cxn ang="0">
                  <a:pos x="181" y="51"/>
                </a:cxn>
                <a:cxn ang="0">
                  <a:pos x="174" y="53"/>
                </a:cxn>
                <a:cxn ang="0">
                  <a:pos x="169" y="53"/>
                </a:cxn>
                <a:cxn ang="0">
                  <a:pos x="161" y="57"/>
                </a:cxn>
                <a:cxn ang="0">
                  <a:pos x="156" y="57"/>
                </a:cxn>
                <a:cxn ang="0">
                  <a:pos x="151" y="63"/>
                </a:cxn>
                <a:cxn ang="0">
                  <a:pos x="169" y="58"/>
                </a:cxn>
                <a:cxn ang="0">
                  <a:pos x="167" y="60"/>
                </a:cxn>
                <a:cxn ang="0">
                  <a:pos x="161" y="65"/>
                </a:cxn>
                <a:cxn ang="0">
                  <a:pos x="125" y="65"/>
                </a:cxn>
              </a:cxnLst>
              <a:rect l="0" t="0" r="r" b="b"/>
              <a:pathLst>
                <a:path w="191" h="72">
                  <a:moveTo>
                    <a:pt x="125" y="65"/>
                  </a:moveTo>
                  <a:lnTo>
                    <a:pt x="117" y="60"/>
                  </a:lnTo>
                  <a:lnTo>
                    <a:pt x="114" y="59"/>
                  </a:lnTo>
                  <a:lnTo>
                    <a:pt x="93" y="66"/>
                  </a:lnTo>
                  <a:lnTo>
                    <a:pt x="61" y="69"/>
                  </a:lnTo>
                  <a:lnTo>
                    <a:pt x="29" y="72"/>
                  </a:lnTo>
                  <a:lnTo>
                    <a:pt x="30" y="64"/>
                  </a:lnTo>
                  <a:lnTo>
                    <a:pt x="0" y="55"/>
                  </a:lnTo>
                  <a:lnTo>
                    <a:pt x="6" y="47"/>
                  </a:lnTo>
                  <a:lnTo>
                    <a:pt x="39" y="46"/>
                  </a:lnTo>
                  <a:lnTo>
                    <a:pt x="73" y="45"/>
                  </a:lnTo>
                  <a:lnTo>
                    <a:pt x="42" y="40"/>
                  </a:lnTo>
                  <a:lnTo>
                    <a:pt x="9" y="39"/>
                  </a:lnTo>
                  <a:lnTo>
                    <a:pt x="6" y="35"/>
                  </a:lnTo>
                  <a:lnTo>
                    <a:pt x="48" y="27"/>
                  </a:lnTo>
                  <a:lnTo>
                    <a:pt x="17" y="28"/>
                  </a:lnTo>
                  <a:lnTo>
                    <a:pt x="25" y="25"/>
                  </a:lnTo>
                  <a:lnTo>
                    <a:pt x="11" y="25"/>
                  </a:lnTo>
                  <a:lnTo>
                    <a:pt x="32" y="16"/>
                  </a:lnTo>
                  <a:lnTo>
                    <a:pt x="30" y="13"/>
                  </a:lnTo>
                  <a:lnTo>
                    <a:pt x="60" y="6"/>
                  </a:lnTo>
                  <a:lnTo>
                    <a:pt x="89" y="0"/>
                  </a:lnTo>
                  <a:lnTo>
                    <a:pt x="91" y="4"/>
                  </a:lnTo>
                  <a:lnTo>
                    <a:pt x="78" y="11"/>
                  </a:lnTo>
                  <a:lnTo>
                    <a:pt x="89" y="10"/>
                  </a:lnTo>
                  <a:lnTo>
                    <a:pt x="99" y="5"/>
                  </a:lnTo>
                  <a:lnTo>
                    <a:pt x="111" y="12"/>
                  </a:lnTo>
                  <a:lnTo>
                    <a:pt x="104" y="16"/>
                  </a:lnTo>
                  <a:lnTo>
                    <a:pt x="109" y="15"/>
                  </a:lnTo>
                  <a:lnTo>
                    <a:pt x="125" y="13"/>
                  </a:lnTo>
                  <a:lnTo>
                    <a:pt x="126" y="10"/>
                  </a:lnTo>
                  <a:lnTo>
                    <a:pt x="128" y="5"/>
                  </a:lnTo>
                  <a:lnTo>
                    <a:pt x="140" y="12"/>
                  </a:lnTo>
                  <a:lnTo>
                    <a:pt x="133" y="25"/>
                  </a:lnTo>
                  <a:lnTo>
                    <a:pt x="145" y="21"/>
                  </a:lnTo>
                  <a:lnTo>
                    <a:pt x="156" y="3"/>
                  </a:lnTo>
                  <a:lnTo>
                    <a:pt x="175" y="3"/>
                  </a:lnTo>
                  <a:lnTo>
                    <a:pt x="177" y="12"/>
                  </a:lnTo>
                  <a:lnTo>
                    <a:pt x="167" y="31"/>
                  </a:lnTo>
                  <a:lnTo>
                    <a:pt x="168" y="41"/>
                  </a:lnTo>
                  <a:lnTo>
                    <a:pt x="171" y="41"/>
                  </a:lnTo>
                  <a:lnTo>
                    <a:pt x="191" y="47"/>
                  </a:lnTo>
                  <a:lnTo>
                    <a:pt x="188" y="51"/>
                  </a:lnTo>
                  <a:lnTo>
                    <a:pt x="180" y="54"/>
                  </a:lnTo>
                  <a:lnTo>
                    <a:pt x="181" y="51"/>
                  </a:lnTo>
                  <a:lnTo>
                    <a:pt x="174" y="53"/>
                  </a:lnTo>
                  <a:lnTo>
                    <a:pt x="169" y="53"/>
                  </a:lnTo>
                  <a:lnTo>
                    <a:pt x="161" y="57"/>
                  </a:lnTo>
                  <a:lnTo>
                    <a:pt x="156" y="57"/>
                  </a:lnTo>
                  <a:lnTo>
                    <a:pt x="151" y="63"/>
                  </a:lnTo>
                  <a:lnTo>
                    <a:pt x="169" y="58"/>
                  </a:lnTo>
                  <a:lnTo>
                    <a:pt x="167" y="60"/>
                  </a:lnTo>
                  <a:lnTo>
                    <a:pt x="161" y="65"/>
                  </a:lnTo>
                  <a:lnTo>
                    <a:pt x="125" y="6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7" name="Freeform 396"/>
            <p:cNvSpPr>
              <a:spLocks/>
            </p:cNvSpPr>
            <p:nvPr/>
          </p:nvSpPr>
          <p:spPr bwMode="auto">
            <a:xfrm>
              <a:off x="980" y="1276"/>
              <a:ext cx="156" cy="54"/>
            </a:xfrm>
            <a:custGeom>
              <a:avLst/>
              <a:gdLst/>
              <a:ahLst/>
              <a:cxnLst>
                <a:cxn ang="0">
                  <a:pos x="64" y="33"/>
                </a:cxn>
                <a:cxn ang="0">
                  <a:pos x="42" y="44"/>
                </a:cxn>
                <a:cxn ang="0">
                  <a:pos x="11" y="49"/>
                </a:cxn>
                <a:cxn ang="0">
                  <a:pos x="6" y="38"/>
                </a:cxn>
                <a:cxn ang="0">
                  <a:pos x="0" y="33"/>
                </a:cxn>
                <a:cxn ang="0">
                  <a:pos x="21" y="25"/>
                </a:cxn>
                <a:cxn ang="0">
                  <a:pos x="28" y="20"/>
                </a:cxn>
                <a:cxn ang="0">
                  <a:pos x="52" y="9"/>
                </a:cxn>
                <a:cxn ang="0">
                  <a:pos x="51" y="2"/>
                </a:cxn>
                <a:cxn ang="0">
                  <a:pos x="94" y="0"/>
                </a:cxn>
                <a:cxn ang="0">
                  <a:pos x="104" y="3"/>
                </a:cxn>
                <a:cxn ang="0">
                  <a:pos x="107" y="6"/>
                </a:cxn>
                <a:cxn ang="0">
                  <a:pos x="129" y="3"/>
                </a:cxn>
                <a:cxn ang="0">
                  <a:pos x="140" y="14"/>
                </a:cxn>
                <a:cxn ang="0">
                  <a:pos x="108" y="21"/>
                </a:cxn>
                <a:cxn ang="0">
                  <a:pos x="77" y="28"/>
                </a:cxn>
                <a:cxn ang="0">
                  <a:pos x="64" y="33"/>
                </a:cxn>
              </a:cxnLst>
              <a:rect l="0" t="0" r="r" b="b"/>
              <a:pathLst>
                <a:path w="140" h="49">
                  <a:moveTo>
                    <a:pt x="64" y="33"/>
                  </a:moveTo>
                  <a:lnTo>
                    <a:pt x="42" y="44"/>
                  </a:lnTo>
                  <a:lnTo>
                    <a:pt x="11" y="49"/>
                  </a:lnTo>
                  <a:lnTo>
                    <a:pt x="6" y="38"/>
                  </a:lnTo>
                  <a:lnTo>
                    <a:pt x="0" y="33"/>
                  </a:lnTo>
                  <a:lnTo>
                    <a:pt x="21" y="25"/>
                  </a:lnTo>
                  <a:lnTo>
                    <a:pt x="28" y="20"/>
                  </a:lnTo>
                  <a:lnTo>
                    <a:pt x="52" y="9"/>
                  </a:lnTo>
                  <a:lnTo>
                    <a:pt x="51" y="2"/>
                  </a:lnTo>
                  <a:lnTo>
                    <a:pt x="94" y="0"/>
                  </a:lnTo>
                  <a:lnTo>
                    <a:pt x="104" y="3"/>
                  </a:lnTo>
                  <a:lnTo>
                    <a:pt x="107" y="6"/>
                  </a:lnTo>
                  <a:lnTo>
                    <a:pt x="129" y="3"/>
                  </a:lnTo>
                  <a:lnTo>
                    <a:pt x="140" y="14"/>
                  </a:lnTo>
                  <a:lnTo>
                    <a:pt x="108" y="21"/>
                  </a:lnTo>
                  <a:lnTo>
                    <a:pt x="77" y="28"/>
                  </a:lnTo>
                  <a:lnTo>
                    <a:pt x="64" y="3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8" name="Freeform 397"/>
            <p:cNvSpPr>
              <a:spLocks/>
            </p:cNvSpPr>
            <p:nvPr/>
          </p:nvSpPr>
          <p:spPr bwMode="auto">
            <a:xfrm>
              <a:off x="1611" y="1683"/>
              <a:ext cx="103" cy="93"/>
            </a:xfrm>
            <a:custGeom>
              <a:avLst/>
              <a:gdLst/>
              <a:ahLst/>
              <a:cxnLst>
                <a:cxn ang="0">
                  <a:pos x="47" y="67"/>
                </a:cxn>
                <a:cxn ang="0">
                  <a:pos x="48" y="64"/>
                </a:cxn>
                <a:cxn ang="0">
                  <a:pos x="22" y="68"/>
                </a:cxn>
                <a:cxn ang="0">
                  <a:pos x="0" y="66"/>
                </a:cxn>
                <a:cxn ang="0">
                  <a:pos x="5" y="58"/>
                </a:cxn>
                <a:cxn ang="0">
                  <a:pos x="16" y="51"/>
                </a:cxn>
                <a:cxn ang="0">
                  <a:pos x="5" y="51"/>
                </a:cxn>
                <a:cxn ang="0">
                  <a:pos x="10" y="49"/>
                </a:cxn>
                <a:cxn ang="0">
                  <a:pos x="23" y="42"/>
                </a:cxn>
                <a:cxn ang="0">
                  <a:pos x="24" y="43"/>
                </a:cxn>
                <a:cxn ang="0">
                  <a:pos x="26" y="39"/>
                </a:cxn>
                <a:cxn ang="0">
                  <a:pos x="23" y="36"/>
                </a:cxn>
                <a:cxn ang="0">
                  <a:pos x="29" y="33"/>
                </a:cxn>
                <a:cxn ang="0">
                  <a:pos x="43" y="14"/>
                </a:cxn>
                <a:cxn ang="0">
                  <a:pos x="60" y="1"/>
                </a:cxn>
                <a:cxn ang="0">
                  <a:pos x="67" y="0"/>
                </a:cxn>
                <a:cxn ang="0">
                  <a:pos x="73" y="0"/>
                </a:cxn>
                <a:cxn ang="0">
                  <a:pos x="64" y="4"/>
                </a:cxn>
                <a:cxn ang="0">
                  <a:pos x="66" y="7"/>
                </a:cxn>
                <a:cxn ang="0">
                  <a:pos x="60" y="13"/>
                </a:cxn>
                <a:cxn ang="0">
                  <a:pos x="43" y="33"/>
                </a:cxn>
                <a:cxn ang="0">
                  <a:pos x="56" y="24"/>
                </a:cxn>
                <a:cxn ang="0">
                  <a:pos x="54" y="27"/>
                </a:cxn>
                <a:cxn ang="0">
                  <a:pos x="64" y="26"/>
                </a:cxn>
                <a:cxn ang="0">
                  <a:pos x="55" y="31"/>
                </a:cxn>
                <a:cxn ang="0">
                  <a:pos x="55" y="34"/>
                </a:cxn>
                <a:cxn ang="0">
                  <a:pos x="65" y="37"/>
                </a:cxn>
                <a:cxn ang="0">
                  <a:pos x="62" y="40"/>
                </a:cxn>
                <a:cxn ang="0">
                  <a:pos x="76" y="34"/>
                </a:cxn>
                <a:cxn ang="0">
                  <a:pos x="74" y="38"/>
                </a:cxn>
                <a:cxn ang="0">
                  <a:pos x="88" y="37"/>
                </a:cxn>
                <a:cxn ang="0">
                  <a:pos x="78" y="46"/>
                </a:cxn>
                <a:cxn ang="0">
                  <a:pos x="80" y="50"/>
                </a:cxn>
                <a:cxn ang="0">
                  <a:pos x="76" y="54"/>
                </a:cxn>
                <a:cxn ang="0">
                  <a:pos x="92" y="50"/>
                </a:cxn>
                <a:cxn ang="0">
                  <a:pos x="77" y="60"/>
                </a:cxn>
                <a:cxn ang="0">
                  <a:pos x="78" y="62"/>
                </a:cxn>
                <a:cxn ang="0">
                  <a:pos x="77" y="62"/>
                </a:cxn>
                <a:cxn ang="0">
                  <a:pos x="77" y="68"/>
                </a:cxn>
                <a:cxn ang="0">
                  <a:pos x="91" y="57"/>
                </a:cxn>
                <a:cxn ang="0">
                  <a:pos x="84" y="68"/>
                </a:cxn>
                <a:cxn ang="0">
                  <a:pos x="91" y="64"/>
                </a:cxn>
                <a:cxn ang="0">
                  <a:pos x="92" y="69"/>
                </a:cxn>
                <a:cxn ang="0">
                  <a:pos x="80" y="85"/>
                </a:cxn>
                <a:cxn ang="0">
                  <a:pos x="74" y="82"/>
                </a:cxn>
                <a:cxn ang="0">
                  <a:pos x="74" y="76"/>
                </a:cxn>
                <a:cxn ang="0">
                  <a:pos x="67" y="80"/>
                </a:cxn>
                <a:cxn ang="0">
                  <a:pos x="74" y="68"/>
                </a:cxn>
                <a:cxn ang="0">
                  <a:pos x="71" y="63"/>
                </a:cxn>
                <a:cxn ang="0">
                  <a:pos x="64" y="72"/>
                </a:cxn>
                <a:cxn ang="0">
                  <a:pos x="67" y="68"/>
                </a:cxn>
                <a:cxn ang="0">
                  <a:pos x="44" y="81"/>
                </a:cxn>
                <a:cxn ang="0">
                  <a:pos x="44" y="76"/>
                </a:cxn>
                <a:cxn ang="0">
                  <a:pos x="62" y="67"/>
                </a:cxn>
                <a:cxn ang="0">
                  <a:pos x="58" y="68"/>
                </a:cxn>
                <a:cxn ang="0">
                  <a:pos x="61" y="64"/>
                </a:cxn>
                <a:cxn ang="0">
                  <a:pos x="54" y="67"/>
                </a:cxn>
                <a:cxn ang="0">
                  <a:pos x="48" y="70"/>
                </a:cxn>
                <a:cxn ang="0">
                  <a:pos x="42" y="69"/>
                </a:cxn>
                <a:cxn ang="0">
                  <a:pos x="47" y="67"/>
                </a:cxn>
              </a:cxnLst>
              <a:rect l="0" t="0" r="r" b="b"/>
              <a:pathLst>
                <a:path w="92" h="85">
                  <a:moveTo>
                    <a:pt x="47" y="67"/>
                  </a:moveTo>
                  <a:lnTo>
                    <a:pt x="48" y="64"/>
                  </a:lnTo>
                  <a:lnTo>
                    <a:pt x="22" y="68"/>
                  </a:lnTo>
                  <a:lnTo>
                    <a:pt x="0" y="66"/>
                  </a:lnTo>
                  <a:lnTo>
                    <a:pt x="5" y="58"/>
                  </a:lnTo>
                  <a:lnTo>
                    <a:pt x="16" y="51"/>
                  </a:lnTo>
                  <a:lnTo>
                    <a:pt x="5" y="51"/>
                  </a:lnTo>
                  <a:lnTo>
                    <a:pt x="10" y="49"/>
                  </a:lnTo>
                  <a:lnTo>
                    <a:pt x="23" y="42"/>
                  </a:lnTo>
                  <a:lnTo>
                    <a:pt x="24" y="43"/>
                  </a:lnTo>
                  <a:lnTo>
                    <a:pt x="26" y="39"/>
                  </a:lnTo>
                  <a:lnTo>
                    <a:pt x="23" y="36"/>
                  </a:lnTo>
                  <a:lnTo>
                    <a:pt x="29" y="33"/>
                  </a:lnTo>
                  <a:lnTo>
                    <a:pt x="43" y="14"/>
                  </a:lnTo>
                  <a:lnTo>
                    <a:pt x="60" y="1"/>
                  </a:lnTo>
                  <a:lnTo>
                    <a:pt x="67" y="0"/>
                  </a:lnTo>
                  <a:lnTo>
                    <a:pt x="73" y="0"/>
                  </a:lnTo>
                  <a:lnTo>
                    <a:pt x="64" y="4"/>
                  </a:lnTo>
                  <a:lnTo>
                    <a:pt x="66" y="7"/>
                  </a:lnTo>
                  <a:lnTo>
                    <a:pt x="60" y="13"/>
                  </a:lnTo>
                  <a:lnTo>
                    <a:pt x="43" y="33"/>
                  </a:lnTo>
                  <a:lnTo>
                    <a:pt x="56" y="24"/>
                  </a:lnTo>
                  <a:lnTo>
                    <a:pt x="54" y="27"/>
                  </a:lnTo>
                  <a:lnTo>
                    <a:pt x="64" y="26"/>
                  </a:lnTo>
                  <a:lnTo>
                    <a:pt x="55" y="31"/>
                  </a:lnTo>
                  <a:lnTo>
                    <a:pt x="55" y="34"/>
                  </a:lnTo>
                  <a:lnTo>
                    <a:pt x="65" y="37"/>
                  </a:lnTo>
                  <a:lnTo>
                    <a:pt x="62" y="40"/>
                  </a:lnTo>
                  <a:lnTo>
                    <a:pt x="76" y="34"/>
                  </a:lnTo>
                  <a:lnTo>
                    <a:pt x="74" y="38"/>
                  </a:lnTo>
                  <a:lnTo>
                    <a:pt x="88" y="37"/>
                  </a:lnTo>
                  <a:lnTo>
                    <a:pt x="78" y="46"/>
                  </a:lnTo>
                  <a:lnTo>
                    <a:pt x="80" y="50"/>
                  </a:lnTo>
                  <a:lnTo>
                    <a:pt x="76" y="54"/>
                  </a:lnTo>
                  <a:lnTo>
                    <a:pt x="92" y="50"/>
                  </a:lnTo>
                  <a:lnTo>
                    <a:pt x="77" y="60"/>
                  </a:lnTo>
                  <a:lnTo>
                    <a:pt x="78" y="62"/>
                  </a:lnTo>
                  <a:lnTo>
                    <a:pt x="77" y="62"/>
                  </a:lnTo>
                  <a:lnTo>
                    <a:pt x="77" y="68"/>
                  </a:lnTo>
                  <a:lnTo>
                    <a:pt x="91" y="57"/>
                  </a:lnTo>
                  <a:lnTo>
                    <a:pt x="84" y="68"/>
                  </a:lnTo>
                  <a:lnTo>
                    <a:pt x="91" y="64"/>
                  </a:lnTo>
                  <a:lnTo>
                    <a:pt x="92" y="69"/>
                  </a:lnTo>
                  <a:lnTo>
                    <a:pt x="80" y="85"/>
                  </a:lnTo>
                  <a:lnTo>
                    <a:pt x="74" y="82"/>
                  </a:lnTo>
                  <a:lnTo>
                    <a:pt x="74" y="76"/>
                  </a:lnTo>
                  <a:lnTo>
                    <a:pt x="67" y="80"/>
                  </a:lnTo>
                  <a:lnTo>
                    <a:pt x="74" y="68"/>
                  </a:lnTo>
                  <a:lnTo>
                    <a:pt x="71" y="63"/>
                  </a:lnTo>
                  <a:lnTo>
                    <a:pt x="64" y="72"/>
                  </a:lnTo>
                  <a:lnTo>
                    <a:pt x="67" y="68"/>
                  </a:lnTo>
                  <a:lnTo>
                    <a:pt x="44" y="81"/>
                  </a:lnTo>
                  <a:lnTo>
                    <a:pt x="44" y="76"/>
                  </a:lnTo>
                  <a:lnTo>
                    <a:pt x="62" y="67"/>
                  </a:lnTo>
                  <a:lnTo>
                    <a:pt x="58" y="68"/>
                  </a:lnTo>
                  <a:lnTo>
                    <a:pt x="61" y="64"/>
                  </a:lnTo>
                  <a:lnTo>
                    <a:pt x="54" y="67"/>
                  </a:lnTo>
                  <a:lnTo>
                    <a:pt x="48" y="70"/>
                  </a:lnTo>
                  <a:lnTo>
                    <a:pt x="42" y="69"/>
                  </a:lnTo>
                  <a:lnTo>
                    <a:pt x="47" y="6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9" name="Freeform 398"/>
            <p:cNvSpPr>
              <a:spLocks/>
            </p:cNvSpPr>
            <p:nvPr/>
          </p:nvSpPr>
          <p:spPr bwMode="auto">
            <a:xfrm>
              <a:off x="1414" y="1241"/>
              <a:ext cx="180" cy="31"/>
            </a:xfrm>
            <a:custGeom>
              <a:avLst/>
              <a:gdLst/>
              <a:ahLst/>
              <a:cxnLst>
                <a:cxn ang="0">
                  <a:pos x="65" y="15"/>
                </a:cxn>
                <a:cxn ang="0">
                  <a:pos x="48" y="9"/>
                </a:cxn>
                <a:cxn ang="0">
                  <a:pos x="72" y="9"/>
                </a:cxn>
                <a:cxn ang="0">
                  <a:pos x="29" y="6"/>
                </a:cxn>
                <a:cxn ang="0">
                  <a:pos x="37" y="0"/>
                </a:cxn>
                <a:cxn ang="0">
                  <a:pos x="0" y="1"/>
                </a:cxn>
                <a:cxn ang="0">
                  <a:pos x="34" y="6"/>
                </a:cxn>
                <a:cxn ang="0">
                  <a:pos x="28" y="17"/>
                </a:cxn>
                <a:cxn ang="0">
                  <a:pos x="22" y="29"/>
                </a:cxn>
                <a:cxn ang="0">
                  <a:pos x="57" y="28"/>
                </a:cxn>
                <a:cxn ang="0">
                  <a:pos x="90" y="28"/>
                </a:cxn>
                <a:cxn ang="0">
                  <a:pos x="125" y="27"/>
                </a:cxn>
                <a:cxn ang="0">
                  <a:pos x="159" y="27"/>
                </a:cxn>
                <a:cxn ang="0">
                  <a:pos x="163" y="19"/>
                </a:cxn>
                <a:cxn ang="0">
                  <a:pos x="137" y="13"/>
                </a:cxn>
                <a:cxn ang="0">
                  <a:pos x="101" y="15"/>
                </a:cxn>
                <a:cxn ang="0">
                  <a:pos x="65" y="15"/>
                </a:cxn>
              </a:cxnLst>
              <a:rect l="0" t="0" r="r" b="b"/>
              <a:pathLst>
                <a:path w="163" h="29">
                  <a:moveTo>
                    <a:pt x="65" y="15"/>
                  </a:moveTo>
                  <a:lnTo>
                    <a:pt x="48" y="9"/>
                  </a:lnTo>
                  <a:lnTo>
                    <a:pt x="72" y="9"/>
                  </a:lnTo>
                  <a:lnTo>
                    <a:pt x="29" y="6"/>
                  </a:lnTo>
                  <a:lnTo>
                    <a:pt x="37" y="0"/>
                  </a:lnTo>
                  <a:lnTo>
                    <a:pt x="0" y="1"/>
                  </a:lnTo>
                  <a:lnTo>
                    <a:pt x="34" y="6"/>
                  </a:lnTo>
                  <a:lnTo>
                    <a:pt x="28" y="17"/>
                  </a:lnTo>
                  <a:lnTo>
                    <a:pt x="22" y="29"/>
                  </a:lnTo>
                  <a:lnTo>
                    <a:pt x="57" y="28"/>
                  </a:lnTo>
                  <a:lnTo>
                    <a:pt x="90" y="28"/>
                  </a:lnTo>
                  <a:lnTo>
                    <a:pt x="125" y="27"/>
                  </a:lnTo>
                  <a:lnTo>
                    <a:pt x="159" y="27"/>
                  </a:lnTo>
                  <a:lnTo>
                    <a:pt x="163" y="19"/>
                  </a:lnTo>
                  <a:lnTo>
                    <a:pt x="137" y="13"/>
                  </a:lnTo>
                  <a:lnTo>
                    <a:pt x="101" y="15"/>
                  </a:lnTo>
                  <a:lnTo>
                    <a:pt x="65"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0" name="Freeform 399"/>
            <p:cNvSpPr>
              <a:spLocks/>
            </p:cNvSpPr>
            <p:nvPr/>
          </p:nvSpPr>
          <p:spPr bwMode="auto">
            <a:xfrm>
              <a:off x="1476" y="1181"/>
              <a:ext cx="113" cy="40"/>
            </a:xfrm>
            <a:custGeom>
              <a:avLst/>
              <a:gdLst/>
              <a:ahLst/>
              <a:cxnLst>
                <a:cxn ang="0">
                  <a:pos x="21" y="11"/>
                </a:cxn>
                <a:cxn ang="0">
                  <a:pos x="13" y="6"/>
                </a:cxn>
                <a:cxn ang="0">
                  <a:pos x="48" y="0"/>
                </a:cxn>
                <a:cxn ang="0">
                  <a:pos x="92" y="9"/>
                </a:cxn>
                <a:cxn ang="0">
                  <a:pos x="81" y="18"/>
                </a:cxn>
                <a:cxn ang="0">
                  <a:pos x="103" y="22"/>
                </a:cxn>
                <a:cxn ang="0">
                  <a:pos x="66" y="29"/>
                </a:cxn>
                <a:cxn ang="0">
                  <a:pos x="49" y="36"/>
                </a:cxn>
                <a:cxn ang="0">
                  <a:pos x="43" y="31"/>
                </a:cxn>
                <a:cxn ang="0">
                  <a:pos x="42" y="36"/>
                </a:cxn>
                <a:cxn ang="0">
                  <a:pos x="6" y="27"/>
                </a:cxn>
                <a:cxn ang="0">
                  <a:pos x="48" y="22"/>
                </a:cxn>
                <a:cxn ang="0">
                  <a:pos x="0" y="17"/>
                </a:cxn>
                <a:cxn ang="0">
                  <a:pos x="21" y="11"/>
                </a:cxn>
              </a:cxnLst>
              <a:rect l="0" t="0" r="r" b="b"/>
              <a:pathLst>
                <a:path w="103" h="36">
                  <a:moveTo>
                    <a:pt x="21" y="11"/>
                  </a:moveTo>
                  <a:lnTo>
                    <a:pt x="13" y="6"/>
                  </a:lnTo>
                  <a:lnTo>
                    <a:pt x="48" y="0"/>
                  </a:lnTo>
                  <a:lnTo>
                    <a:pt x="92" y="9"/>
                  </a:lnTo>
                  <a:lnTo>
                    <a:pt x="81" y="18"/>
                  </a:lnTo>
                  <a:lnTo>
                    <a:pt x="103" y="22"/>
                  </a:lnTo>
                  <a:lnTo>
                    <a:pt x="66" y="29"/>
                  </a:lnTo>
                  <a:lnTo>
                    <a:pt x="49" y="36"/>
                  </a:lnTo>
                  <a:lnTo>
                    <a:pt x="43" y="31"/>
                  </a:lnTo>
                  <a:lnTo>
                    <a:pt x="42" y="36"/>
                  </a:lnTo>
                  <a:lnTo>
                    <a:pt x="6" y="27"/>
                  </a:lnTo>
                  <a:lnTo>
                    <a:pt x="48" y="22"/>
                  </a:lnTo>
                  <a:lnTo>
                    <a:pt x="0" y="17"/>
                  </a:lnTo>
                  <a:lnTo>
                    <a:pt x="21"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1" name="Freeform 400"/>
            <p:cNvSpPr>
              <a:spLocks/>
            </p:cNvSpPr>
            <p:nvPr/>
          </p:nvSpPr>
          <p:spPr bwMode="auto">
            <a:xfrm>
              <a:off x="1142" y="1241"/>
              <a:ext cx="154" cy="35"/>
            </a:xfrm>
            <a:custGeom>
              <a:avLst/>
              <a:gdLst/>
              <a:ahLst/>
              <a:cxnLst>
                <a:cxn ang="0">
                  <a:pos x="37" y="34"/>
                </a:cxn>
                <a:cxn ang="0">
                  <a:pos x="22" y="29"/>
                </a:cxn>
                <a:cxn ang="0">
                  <a:pos x="68" y="22"/>
                </a:cxn>
                <a:cxn ang="0">
                  <a:pos x="33" y="21"/>
                </a:cxn>
                <a:cxn ang="0">
                  <a:pos x="0" y="21"/>
                </a:cxn>
                <a:cxn ang="0">
                  <a:pos x="32" y="16"/>
                </a:cxn>
                <a:cxn ang="0">
                  <a:pos x="18" y="15"/>
                </a:cxn>
                <a:cxn ang="0">
                  <a:pos x="39" y="12"/>
                </a:cxn>
                <a:cxn ang="0">
                  <a:pos x="30" y="9"/>
                </a:cxn>
                <a:cxn ang="0">
                  <a:pos x="69" y="11"/>
                </a:cxn>
                <a:cxn ang="0">
                  <a:pos x="96" y="18"/>
                </a:cxn>
                <a:cxn ang="0">
                  <a:pos x="97" y="6"/>
                </a:cxn>
                <a:cxn ang="0">
                  <a:pos x="121" y="0"/>
                </a:cxn>
                <a:cxn ang="0">
                  <a:pos x="112" y="15"/>
                </a:cxn>
                <a:cxn ang="0">
                  <a:pos x="139" y="13"/>
                </a:cxn>
                <a:cxn ang="0">
                  <a:pos x="117" y="24"/>
                </a:cxn>
                <a:cxn ang="0">
                  <a:pos x="100" y="23"/>
                </a:cxn>
                <a:cxn ang="0">
                  <a:pos x="69" y="28"/>
                </a:cxn>
                <a:cxn ang="0">
                  <a:pos x="37" y="34"/>
                </a:cxn>
              </a:cxnLst>
              <a:rect l="0" t="0" r="r" b="b"/>
              <a:pathLst>
                <a:path w="139" h="34">
                  <a:moveTo>
                    <a:pt x="37" y="34"/>
                  </a:moveTo>
                  <a:lnTo>
                    <a:pt x="22" y="29"/>
                  </a:lnTo>
                  <a:lnTo>
                    <a:pt x="68" y="22"/>
                  </a:lnTo>
                  <a:lnTo>
                    <a:pt x="33" y="21"/>
                  </a:lnTo>
                  <a:lnTo>
                    <a:pt x="0" y="21"/>
                  </a:lnTo>
                  <a:lnTo>
                    <a:pt x="32" y="16"/>
                  </a:lnTo>
                  <a:lnTo>
                    <a:pt x="18" y="15"/>
                  </a:lnTo>
                  <a:lnTo>
                    <a:pt x="39" y="12"/>
                  </a:lnTo>
                  <a:lnTo>
                    <a:pt x="30" y="9"/>
                  </a:lnTo>
                  <a:lnTo>
                    <a:pt x="69" y="11"/>
                  </a:lnTo>
                  <a:lnTo>
                    <a:pt x="96" y="18"/>
                  </a:lnTo>
                  <a:lnTo>
                    <a:pt x="97" y="6"/>
                  </a:lnTo>
                  <a:lnTo>
                    <a:pt x="121" y="0"/>
                  </a:lnTo>
                  <a:lnTo>
                    <a:pt x="112" y="15"/>
                  </a:lnTo>
                  <a:lnTo>
                    <a:pt x="139" y="13"/>
                  </a:lnTo>
                  <a:lnTo>
                    <a:pt x="117" y="24"/>
                  </a:lnTo>
                  <a:lnTo>
                    <a:pt x="100" y="23"/>
                  </a:lnTo>
                  <a:lnTo>
                    <a:pt x="69" y="28"/>
                  </a:lnTo>
                  <a:lnTo>
                    <a:pt x="37"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2" name="Freeform 401"/>
            <p:cNvSpPr>
              <a:spLocks/>
            </p:cNvSpPr>
            <p:nvPr/>
          </p:nvSpPr>
          <p:spPr bwMode="auto">
            <a:xfrm>
              <a:off x="1347" y="1419"/>
              <a:ext cx="95" cy="49"/>
            </a:xfrm>
            <a:custGeom>
              <a:avLst/>
              <a:gdLst/>
              <a:ahLst/>
              <a:cxnLst>
                <a:cxn ang="0">
                  <a:pos x="62" y="32"/>
                </a:cxn>
                <a:cxn ang="0">
                  <a:pos x="53" y="30"/>
                </a:cxn>
                <a:cxn ang="0">
                  <a:pos x="54" y="28"/>
                </a:cxn>
                <a:cxn ang="0">
                  <a:pos x="47" y="30"/>
                </a:cxn>
                <a:cxn ang="0">
                  <a:pos x="18" y="43"/>
                </a:cxn>
                <a:cxn ang="0">
                  <a:pos x="18" y="35"/>
                </a:cxn>
                <a:cxn ang="0">
                  <a:pos x="0" y="35"/>
                </a:cxn>
                <a:cxn ang="0">
                  <a:pos x="18" y="26"/>
                </a:cxn>
                <a:cxn ang="0">
                  <a:pos x="29" y="13"/>
                </a:cxn>
                <a:cxn ang="0">
                  <a:pos x="41" y="0"/>
                </a:cxn>
                <a:cxn ang="0">
                  <a:pos x="48" y="4"/>
                </a:cxn>
                <a:cxn ang="0">
                  <a:pos x="46" y="10"/>
                </a:cxn>
                <a:cxn ang="0">
                  <a:pos x="53" y="7"/>
                </a:cxn>
                <a:cxn ang="0">
                  <a:pos x="76" y="22"/>
                </a:cxn>
                <a:cxn ang="0">
                  <a:pos x="68" y="30"/>
                </a:cxn>
                <a:cxn ang="0">
                  <a:pos x="86" y="30"/>
                </a:cxn>
                <a:cxn ang="0">
                  <a:pos x="87" y="34"/>
                </a:cxn>
                <a:cxn ang="0">
                  <a:pos x="72" y="38"/>
                </a:cxn>
                <a:cxn ang="0">
                  <a:pos x="62" y="32"/>
                </a:cxn>
              </a:cxnLst>
              <a:rect l="0" t="0" r="r" b="b"/>
              <a:pathLst>
                <a:path w="87" h="43">
                  <a:moveTo>
                    <a:pt x="62" y="32"/>
                  </a:moveTo>
                  <a:lnTo>
                    <a:pt x="53" y="30"/>
                  </a:lnTo>
                  <a:lnTo>
                    <a:pt x="54" y="28"/>
                  </a:lnTo>
                  <a:lnTo>
                    <a:pt x="47" y="30"/>
                  </a:lnTo>
                  <a:lnTo>
                    <a:pt x="18" y="43"/>
                  </a:lnTo>
                  <a:lnTo>
                    <a:pt x="18" y="35"/>
                  </a:lnTo>
                  <a:lnTo>
                    <a:pt x="0" y="35"/>
                  </a:lnTo>
                  <a:lnTo>
                    <a:pt x="18" y="26"/>
                  </a:lnTo>
                  <a:lnTo>
                    <a:pt x="29" y="13"/>
                  </a:lnTo>
                  <a:lnTo>
                    <a:pt x="41" y="0"/>
                  </a:lnTo>
                  <a:lnTo>
                    <a:pt x="48" y="4"/>
                  </a:lnTo>
                  <a:lnTo>
                    <a:pt x="46" y="10"/>
                  </a:lnTo>
                  <a:lnTo>
                    <a:pt x="53" y="7"/>
                  </a:lnTo>
                  <a:lnTo>
                    <a:pt x="76" y="22"/>
                  </a:lnTo>
                  <a:lnTo>
                    <a:pt x="68" y="30"/>
                  </a:lnTo>
                  <a:lnTo>
                    <a:pt x="86" y="30"/>
                  </a:lnTo>
                  <a:lnTo>
                    <a:pt x="87" y="34"/>
                  </a:lnTo>
                  <a:lnTo>
                    <a:pt x="72" y="38"/>
                  </a:lnTo>
                  <a:lnTo>
                    <a:pt x="62" y="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3" name="Freeform 402"/>
            <p:cNvSpPr>
              <a:spLocks/>
            </p:cNvSpPr>
            <p:nvPr/>
          </p:nvSpPr>
          <p:spPr bwMode="auto">
            <a:xfrm>
              <a:off x="1276" y="1288"/>
              <a:ext cx="84" cy="35"/>
            </a:xfrm>
            <a:custGeom>
              <a:avLst/>
              <a:gdLst/>
              <a:ahLst/>
              <a:cxnLst>
                <a:cxn ang="0">
                  <a:pos x="76" y="0"/>
                </a:cxn>
                <a:cxn ang="0">
                  <a:pos x="32" y="0"/>
                </a:cxn>
                <a:cxn ang="0">
                  <a:pos x="37" y="8"/>
                </a:cxn>
                <a:cxn ang="0">
                  <a:pos x="27" y="14"/>
                </a:cxn>
                <a:cxn ang="0">
                  <a:pos x="0" y="14"/>
                </a:cxn>
                <a:cxn ang="0">
                  <a:pos x="15" y="23"/>
                </a:cxn>
                <a:cxn ang="0">
                  <a:pos x="32" y="33"/>
                </a:cxn>
                <a:cxn ang="0">
                  <a:pos x="36" y="28"/>
                </a:cxn>
                <a:cxn ang="0">
                  <a:pos x="56" y="27"/>
                </a:cxn>
                <a:cxn ang="0">
                  <a:pos x="66" y="14"/>
                </a:cxn>
                <a:cxn ang="0">
                  <a:pos x="76" y="0"/>
                </a:cxn>
              </a:cxnLst>
              <a:rect l="0" t="0" r="r" b="b"/>
              <a:pathLst>
                <a:path w="76" h="33">
                  <a:moveTo>
                    <a:pt x="76" y="0"/>
                  </a:moveTo>
                  <a:lnTo>
                    <a:pt x="32" y="0"/>
                  </a:lnTo>
                  <a:lnTo>
                    <a:pt x="37" y="8"/>
                  </a:lnTo>
                  <a:lnTo>
                    <a:pt x="27" y="14"/>
                  </a:lnTo>
                  <a:lnTo>
                    <a:pt x="0" y="14"/>
                  </a:lnTo>
                  <a:lnTo>
                    <a:pt x="15" y="23"/>
                  </a:lnTo>
                  <a:lnTo>
                    <a:pt x="32" y="33"/>
                  </a:lnTo>
                  <a:lnTo>
                    <a:pt x="36" y="28"/>
                  </a:lnTo>
                  <a:lnTo>
                    <a:pt x="56" y="27"/>
                  </a:lnTo>
                  <a:lnTo>
                    <a:pt x="66" y="14"/>
                  </a:lnTo>
                  <a:lnTo>
                    <a:pt x="7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4" name="Freeform 403"/>
            <p:cNvSpPr>
              <a:spLocks/>
            </p:cNvSpPr>
            <p:nvPr/>
          </p:nvSpPr>
          <p:spPr bwMode="auto">
            <a:xfrm>
              <a:off x="1356" y="1281"/>
              <a:ext cx="89" cy="35"/>
            </a:xfrm>
            <a:custGeom>
              <a:avLst/>
              <a:gdLst/>
              <a:ahLst/>
              <a:cxnLst>
                <a:cxn ang="0">
                  <a:pos x="49" y="18"/>
                </a:cxn>
                <a:cxn ang="0">
                  <a:pos x="22" y="20"/>
                </a:cxn>
                <a:cxn ang="0">
                  <a:pos x="26" y="23"/>
                </a:cxn>
                <a:cxn ang="0">
                  <a:pos x="14" y="30"/>
                </a:cxn>
                <a:cxn ang="0">
                  <a:pos x="0" y="32"/>
                </a:cxn>
                <a:cxn ang="0">
                  <a:pos x="2" y="29"/>
                </a:cxn>
                <a:cxn ang="0">
                  <a:pos x="16" y="9"/>
                </a:cxn>
                <a:cxn ang="0">
                  <a:pos x="26" y="8"/>
                </a:cxn>
                <a:cxn ang="0">
                  <a:pos x="25" y="4"/>
                </a:cxn>
                <a:cxn ang="0">
                  <a:pos x="34" y="0"/>
                </a:cxn>
                <a:cxn ang="0">
                  <a:pos x="80" y="4"/>
                </a:cxn>
                <a:cxn ang="0">
                  <a:pos x="68" y="9"/>
                </a:cxn>
                <a:cxn ang="0">
                  <a:pos x="49" y="18"/>
                </a:cxn>
              </a:cxnLst>
              <a:rect l="0" t="0" r="r" b="b"/>
              <a:pathLst>
                <a:path w="80" h="32">
                  <a:moveTo>
                    <a:pt x="49" y="18"/>
                  </a:moveTo>
                  <a:lnTo>
                    <a:pt x="22" y="20"/>
                  </a:lnTo>
                  <a:lnTo>
                    <a:pt x="26" y="23"/>
                  </a:lnTo>
                  <a:lnTo>
                    <a:pt x="14" y="30"/>
                  </a:lnTo>
                  <a:lnTo>
                    <a:pt x="0" y="32"/>
                  </a:lnTo>
                  <a:lnTo>
                    <a:pt x="2" y="29"/>
                  </a:lnTo>
                  <a:lnTo>
                    <a:pt x="16" y="9"/>
                  </a:lnTo>
                  <a:lnTo>
                    <a:pt x="26" y="8"/>
                  </a:lnTo>
                  <a:lnTo>
                    <a:pt x="25" y="4"/>
                  </a:lnTo>
                  <a:lnTo>
                    <a:pt x="34" y="0"/>
                  </a:lnTo>
                  <a:lnTo>
                    <a:pt x="80" y="4"/>
                  </a:lnTo>
                  <a:lnTo>
                    <a:pt x="68" y="9"/>
                  </a:lnTo>
                  <a:lnTo>
                    <a:pt x="4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5" name="Freeform 404"/>
            <p:cNvSpPr>
              <a:spLocks/>
            </p:cNvSpPr>
            <p:nvPr/>
          </p:nvSpPr>
          <p:spPr bwMode="auto">
            <a:xfrm>
              <a:off x="578" y="1696"/>
              <a:ext cx="49" cy="47"/>
            </a:xfrm>
            <a:custGeom>
              <a:avLst/>
              <a:gdLst/>
              <a:ahLst/>
              <a:cxnLst>
                <a:cxn ang="0">
                  <a:pos x="30" y="27"/>
                </a:cxn>
                <a:cxn ang="0">
                  <a:pos x="28" y="30"/>
                </a:cxn>
                <a:cxn ang="0">
                  <a:pos x="16" y="29"/>
                </a:cxn>
                <a:cxn ang="0">
                  <a:pos x="19" y="26"/>
                </a:cxn>
                <a:cxn ang="0">
                  <a:pos x="14" y="25"/>
                </a:cxn>
                <a:cxn ang="0">
                  <a:pos x="8" y="23"/>
                </a:cxn>
                <a:cxn ang="0">
                  <a:pos x="18" y="19"/>
                </a:cxn>
                <a:cxn ang="0">
                  <a:pos x="8" y="15"/>
                </a:cxn>
                <a:cxn ang="0">
                  <a:pos x="8" y="12"/>
                </a:cxn>
                <a:cxn ang="0">
                  <a:pos x="2" y="11"/>
                </a:cxn>
                <a:cxn ang="0">
                  <a:pos x="1" y="8"/>
                </a:cxn>
                <a:cxn ang="0">
                  <a:pos x="8" y="3"/>
                </a:cxn>
                <a:cxn ang="0">
                  <a:pos x="5" y="5"/>
                </a:cxn>
                <a:cxn ang="0">
                  <a:pos x="0" y="0"/>
                </a:cxn>
                <a:cxn ang="0">
                  <a:pos x="14" y="2"/>
                </a:cxn>
                <a:cxn ang="0">
                  <a:pos x="30" y="6"/>
                </a:cxn>
                <a:cxn ang="0">
                  <a:pos x="34" y="14"/>
                </a:cxn>
                <a:cxn ang="0">
                  <a:pos x="41" y="25"/>
                </a:cxn>
                <a:cxn ang="0">
                  <a:pos x="42" y="37"/>
                </a:cxn>
                <a:cxn ang="0">
                  <a:pos x="43" y="41"/>
                </a:cxn>
                <a:cxn ang="0">
                  <a:pos x="22" y="35"/>
                </a:cxn>
                <a:cxn ang="0">
                  <a:pos x="30" y="27"/>
                </a:cxn>
              </a:cxnLst>
              <a:rect l="0" t="0" r="r" b="b"/>
              <a:pathLst>
                <a:path w="43" h="41">
                  <a:moveTo>
                    <a:pt x="30" y="27"/>
                  </a:moveTo>
                  <a:lnTo>
                    <a:pt x="28" y="30"/>
                  </a:lnTo>
                  <a:lnTo>
                    <a:pt x="16" y="29"/>
                  </a:lnTo>
                  <a:lnTo>
                    <a:pt x="19" y="26"/>
                  </a:lnTo>
                  <a:lnTo>
                    <a:pt x="14" y="25"/>
                  </a:lnTo>
                  <a:lnTo>
                    <a:pt x="8" y="23"/>
                  </a:lnTo>
                  <a:lnTo>
                    <a:pt x="18" y="19"/>
                  </a:lnTo>
                  <a:lnTo>
                    <a:pt x="8" y="15"/>
                  </a:lnTo>
                  <a:lnTo>
                    <a:pt x="8" y="12"/>
                  </a:lnTo>
                  <a:lnTo>
                    <a:pt x="2" y="11"/>
                  </a:lnTo>
                  <a:lnTo>
                    <a:pt x="1" y="8"/>
                  </a:lnTo>
                  <a:lnTo>
                    <a:pt x="8" y="3"/>
                  </a:lnTo>
                  <a:lnTo>
                    <a:pt x="5" y="5"/>
                  </a:lnTo>
                  <a:lnTo>
                    <a:pt x="0" y="0"/>
                  </a:lnTo>
                  <a:lnTo>
                    <a:pt x="14" y="2"/>
                  </a:lnTo>
                  <a:lnTo>
                    <a:pt x="30" y="6"/>
                  </a:lnTo>
                  <a:lnTo>
                    <a:pt x="34" y="14"/>
                  </a:lnTo>
                  <a:lnTo>
                    <a:pt x="41" y="25"/>
                  </a:lnTo>
                  <a:lnTo>
                    <a:pt x="42" y="37"/>
                  </a:lnTo>
                  <a:lnTo>
                    <a:pt x="43" y="41"/>
                  </a:lnTo>
                  <a:lnTo>
                    <a:pt x="22" y="35"/>
                  </a:lnTo>
                  <a:lnTo>
                    <a:pt x="3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6" name="Freeform 405"/>
            <p:cNvSpPr>
              <a:spLocks/>
            </p:cNvSpPr>
            <p:nvPr/>
          </p:nvSpPr>
          <p:spPr bwMode="auto">
            <a:xfrm>
              <a:off x="1100" y="1230"/>
              <a:ext cx="111" cy="24"/>
            </a:xfrm>
            <a:custGeom>
              <a:avLst/>
              <a:gdLst/>
              <a:ahLst/>
              <a:cxnLst>
                <a:cxn ang="0">
                  <a:pos x="60" y="12"/>
                </a:cxn>
                <a:cxn ang="0">
                  <a:pos x="63" y="9"/>
                </a:cxn>
                <a:cxn ang="0">
                  <a:pos x="49" y="13"/>
                </a:cxn>
                <a:cxn ang="0">
                  <a:pos x="39" y="17"/>
                </a:cxn>
                <a:cxn ang="0">
                  <a:pos x="36" y="15"/>
                </a:cxn>
                <a:cxn ang="0">
                  <a:pos x="29" y="20"/>
                </a:cxn>
                <a:cxn ang="0">
                  <a:pos x="19" y="21"/>
                </a:cxn>
                <a:cxn ang="0">
                  <a:pos x="19" y="18"/>
                </a:cxn>
                <a:cxn ang="0">
                  <a:pos x="11" y="20"/>
                </a:cxn>
                <a:cxn ang="0">
                  <a:pos x="0" y="19"/>
                </a:cxn>
                <a:cxn ang="0">
                  <a:pos x="6" y="15"/>
                </a:cxn>
                <a:cxn ang="0">
                  <a:pos x="43" y="7"/>
                </a:cxn>
                <a:cxn ang="0">
                  <a:pos x="69" y="1"/>
                </a:cxn>
                <a:cxn ang="0">
                  <a:pos x="85" y="0"/>
                </a:cxn>
                <a:cxn ang="0">
                  <a:pos x="101" y="2"/>
                </a:cxn>
                <a:cxn ang="0">
                  <a:pos x="87" y="6"/>
                </a:cxn>
                <a:cxn ang="0">
                  <a:pos x="89" y="7"/>
                </a:cxn>
                <a:cxn ang="0">
                  <a:pos x="85" y="8"/>
                </a:cxn>
                <a:cxn ang="0">
                  <a:pos x="69" y="12"/>
                </a:cxn>
                <a:cxn ang="0">
                  <a:pos x="60" y="17"/>
                </a:cxn>
                <a:cxn ang="0">
                  <a:pos x="60" y="12"/>
                </a:cxn>
              </a:cxnLst>
              <a:rect l="0" t="0" r="r" b="b"/>
              <a:pathLst>
                <a:path w="101" h="21">
                  <a:moveTo>
                    <a:pt x="60" y="12"/>
                  </a:moveTo>
                  <a:lnTo>
                    <a:pt x="63" y="9"/>
                  </a:lnTo>
                  <a:lnTo>
                    <a:pt x="49" y="13"/>
                  </a:lnTo>
                  <a:lnTo>
                    <a:pt x="39" y="17"/>
                  </a:lnTo>
                  <a:lnTo>
                    <a:pt x="36" y="15"/>
                  </a:lnTo>
                  <a:lnTo>
                    <a:pt x="29" y="20"/>
                  </a:lnTo>
                  <a:lnTo>
                    <a:pt x="19" y="21"/>
                  </a:lnTo>
                  <a:lnTo>
                    <a:pt x="19" y="18"/>
                  </a:lnTo>
                  <a:lnTo>
                    <a:pt x="11" y="20"/>
                  </a:lnTo>
                  <a:lnTo>
                    <a:pt x="0" y="19"/>
                  </a:lnTo>
                  <a:lnTo>
                    <a:pt x="6" y="15"/>
                  </a:lnTo>
                  <a:lnTo>
                    <a:pt x="43" y="7"/>
                  </a:lnTo>
                  <a:lnTo>
                    <a:pt x="69" y="1"/>
                  </a:lnTo>
                  <a:lnTo>
                    <a:pt x="85" y="0"/>
                  </a:lnTo>
                  <a:lnTo>
                    <a:pt x="101" y="2"/>
                  </a:lnTo>
                  <a:lnTo>
                    <a:pt x="87" y="6"/>
                  </a:lnTo>
                  <a:lnTo>
                    <a:pt x="89" y="7"/>
                  </a:lnTo>
                  <a:lnTo>
                    <a:pt x="85" y="8"/>
                  </a:lnTo>
                  <a:lnTo>
                    <a:pt x="69" y="12"/>
                  </a:lnTo>
                  <a:lnTo>
                    <a:pt x="60" y="17"/>
                  </a:lnTo>
                  <a:lnTo>
                    <a:pt x="6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7" name="Freeform 406"/>
            <p:cNvSpPr>
              <a:spLocks/>
            </p:cNvSpPr>
            <p:nvPr/>
          </p:nvSpPr>
          <p:spPr bwMode="auto">
            <a:xfrm>
              <a:off x="1327" y="1243"/>
              <a:ext cx="67" cy="25"/>
            </a:xfrm>
            <a:custGeom>
              <a:avLst/>
              <a:gdLst/>
              <a:ahLst/>
              <a:cxnLst>
                <a:cxn ang="0">
                  <a:pos x="29" y="7"/>
                </a:cxn>
                <a:cxn ang="0">
                  <a:pos x="19" y="4"/>
                </a:cxn>
                <a:cxn ang="0">
                  <a:pos x="23" y="6"/>
                </a:cxn>
                <a:cxn ang="0">
                  <a:pos x="16" y="7"/>
                </a:cxn>
                <a:cxn ang="0">
                  <a:pos x="16" y="9"/>
                </a:cxn>
                <a:cxn ang="0">
                  <a:pos x="15" y="10"/>
                </a:cxn>
                <a:cxn ang="0">
                  <a:pos x="0" y="13"/>
                </a:cxn>
                <a:cxn ang="0">
                  <a:pos x="40" y="13"/>
                </a:cxn>
                <a:cxn ang="0">
                  <a:pos x="16" y="18"/>
                </a:cxn>
                <a:cxn ang="0">
                  <a:pos x="15" y="19"/>
                </a:cxn>
                <a:cxn ang="0">
                  <a:pos x="39" y="21"/>
                </a:cxn>
                <a:cxn ang="0">
                  <a:pos x="41" y="19"/>
                </a:cxn>
                <a:cxn ang="0">
                  <a:pos x="45" y="16"/>
                </a:cxn>
                <a:cxn ang="0">
                  <a:pos x="53" y="16"/>
                </a:cxn>
                <a:cxn ang="0">
                  <a:pos x="55" y="13"/>
                </a:cxn>
                <a:cxn ang="0">
                  <a:pos x="51" y="12"/>
                </a:cxn>
                <a:cxn ang="0">
                  <a:pos x="61" y="4"/>
                </a:cxn>
                <a:cxn ang="0">
                  <a:pos x="59" y="0"/>
                </a:cxn>
                <a:cxn ang="0">
                  <a:pos x="49" y="2"/>
                </a:cxn>
                <a:cxn ang="0">
                  <a:pos x="31" y="2"/>
                </a:cxn>
                <a:cxn ang="0">
                  <a:pos x="39" y="7"/>
                </a:cxn>
                <a:cxn ang="0">
                  <a:pos x="33" y="8"/>
                </a:cxn>
                <a:cxn ang="0">
                  <a:pos x="29" y="7"/>
                </a:cxn>
              </a:cxnLst>
              <a:rect l="0" t="0" r="r" b="b"/>
              <a:pathLst>
                <a:path w="61" h="21">
                  <a:moveTo>
                    <a:pt x="29" y="7"/>
                  </a:moveTo>
                  <a:lnTo>
                    <a:pt x="19" y="4"/>
                  </a:lnTo>
                  <a:lnTo>
                    <a:pt x="23" y="6"/>
                  </a:lnTo>
                  <a:lnTo>
                    <a:pt x="16" y="7"/>
                  </a:lnTo>
                  <a:lnTo>
                    <a:pt x="16" y="9"/>
                  </a:lnTo>
                  <a:lnTo>
                    <a:pt x="15" y="10"/>
                  </a:lnTo>
                  <a:lnTo>
                    <a:pt x="0" y="13"/>
                  </a:lnTo>
                  <a:lnTo>
                    <a:pt x="40" y="13"/>
                  </a:lnTo>
                  <a:lnTo>
                    <a:pt x="16" y="18"/>
                  </a:lnTo>
                  <a:lnTo>
                    <a:pt x="15" y="19"/>
                  </a:lnTo>
                  <a:lnTo>
                    <a:pt x="39" y="21"/>
                  </a:lnTo>
                  <a:lnTo>
                    <a:pt x="41" y="19"/>
                  </a:lnTo>
                  <a:lnTo>
                    <a:pt x="45" y="16"/>
                  </a:lnTo>
                  <a:lnTo>
                    <a:pt x="53" y="16"/>
                  </a:lnTo>
                  <a:lnTo>
                    <a:pt x="55" y="13"/>
                  </a:lnTo>
                  <a:lnTo>
                    <a:pt x="51" y="12"/>
                  </a:lnTo>
                  <a:lnTo>
                    <a:pt x="61" y="4"/>
                  </a:lnTo>
                  <a:lnTo>
                    <a:pt x="59" y="0"/>
                  </a:lnTo>
                  <a:lnTo>
                    <a:pt x="49" y="2"/>
                  </a:lnTo>
                  <a:lnTo>
                    <a:pt x="31" y="2"/>
                  </a:lnTo>
                  <a:lnTo>
                    <a:pt x="39" y="7"/>
                  </a:lnTo>
                  <a:lnTo>
                    <a:pt x="33" y="8"/>
                  </a:lnTo>
                  <a:lnTo>
                    <a:pt x="29"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8" name="Freeform 407"/>
            <p:cNvSpPr>
              <a:spLocks/>
            </p:cNvSpPr>
            <p:nvPr/>
          </p:nvSpPr>
          <p:spPr bwMode="auto">
            <a:xfrm>
              <a:off x="1351" y="1205"/>
              <a:ext cx="63" cy="23"/>
            </a:xfrm>
            <a:custGeom>
              <a:avLst/>
              <a:gdLst/>
              <a:ahLst/>
              <a:cxnLst>
                <a:cxn ang="0">
                  <a:pos x="35" y="4"/>
                </a:cxn>
                <a:cxn ang="0">
                  <a:pos x="36" y="2"/>
                </a:cxn>
                <a:cxn ang="0">
                  <a:pos x="49" y="4"/>
                </a:cxn>
                <a:cxn ang="0">
                  <a:pos x="54" y="5"/>
                </a:cxn>
                <a:cxn ang="0">
                  <a:pos x="52" y="10"/>
                </a:cxn>
                <a:cxn ang="0">
                  <a:pos x="55" y="16"/>
                </a:cxn>
                <a:cxn ang="0">
                  <a:pos x="41" y="19"/>
                </a:cxn>
                <a:cxn ang="0">
                  <a:pos x="26" y="12"/>
                </a:cxn>
                <a:cxn ang="0">
                  <a:pos x="0" y="11"/>
                </a:cxn>
                <a:cxn ang="0">
                  <a:pos x="6" y="8"/>
                </a:cxn>
                <a:cxn ang="0">
                  <a:pos x="19" y="7"/>
                </a:cxn>
                <a:cxn ang="0">
                  <a:pos x="18" y="4"/>
                </a:cxn>
                <a:cxn ang="0">
                  <a:pos x="10" y="4"/>
                </a:cxn>
                <a:cxn ang="0">
                  <a:pos x="6" y="0"/>
                </a:cxn>
                <a:cxn ang="0">
                  <a:pos x="35" y="0"/>
                </a:cxn>
                <a:cxn ang="0">
                  <a:pos x="35" y="4"/>
                </a:cxn>
              </a:cxnLst>
              <a:rect l="0" t="0" r="r" b="b"/>
              <a:pathLst>
                <a:path w="55" h="19">
                  <a:moveTo>
                    <a:pt x="35" y="4"/>
                  </a:moveTo>
                  <a:lnTo>
                    <a:pt x="36" y="2"/>
                  </a:lnTo>
                  <a:lnTo>
                    <a:pt x="49" y="4"/>
                  </a:lnTo>
                  <a:lnTo>
                    <a:pt x="54" y="5"/>
                  </a:lnTo>
                  <a:lnTo>
                    <a:pt x="52" y="10"/>
                  </a:lnTo>
                  <a:lnTo>
                    <a:pt x="55" y="16"/>
                  </a:lnTo>
                  <a:lnTo>
                    <a:pt x="41" y="19"/>
                  </a:lnTo>
                  <a:lnTo>
                    <a:pt x="26" y="12"/>
                  </a:lnTo>
                  <a:lnTo>
                    <a:pt x="0" y="11"/>
                  </a:lnTo>
                  <a:lnTo>
                    <a:pt x="6" y="8"/>
                  </a:lnTo>
                  <a:lnTo>
                    <a:pt x="19" y="7"/>
                  </a:lnTo>
                  <a:lnTo>
                    <a:pt x="18" y="4"/>
                  </a:lnTo>
                  <a:lnTo>
                    <a:pt x="10" y="4"/>
                  </a:lnTo>
                  <a:lnTo>
                    <a:pt x="6" y="0"/>
                  </a:lnTo>
                  <a:lnTo>
                    <a:pt x="35" y="0"/>
                  </a:lnTo>
                  <a:lnTo>
                    <a:pt x="3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9" name="Freeform 408"/>
            <p:cNvSpPr>
              <a:spLocks/>
            </p:cNvSpPr>
            <p:nvPr/>
          </p:nvSpPr>
          <p:spPr bwMode="auto">
            <a:xfrm>
              <a:off x="1256" y="1350"/>
              <a:ext cx="53" cy="24"/>
            </a:xfrm>
            <a:custGeom>
              <a:avLst/>
              <a:gdLst/>
              <a:ahLst/>
              <a:cxnLst>
                <a:cxn ang="0">
                  <a:pos x="42" y="12"/>
                </a:cxn>
                <a:cxn ang="0">
                  <a:pos x="43" y="9"/>
                </a:cxn>
                <a:cxn ang="0">
                  <a:pos x="30" y="0"/>
                </a:cxn>
                <a:cxn ang="0">
                  <a:pos x="22" y="6"/>
                </a:cxn>
                <a:cxn ang="0">
                  <a:pos x="21" y="4"/>
                </a:cxn>
                <a:cxn ang="0">
                  <a:pos x="18" y="9"/>
                </a:cxn>
                <a:cxn ang="0">
                  <a:pos x="0" y="14"/>
                </a:cxn>
                <a:cxn ang="0">
                  <a:pos x="28" y="22"/>
                </a:cxn>
                <a:cxn ang="0">
                  <a:pos x="49" y="16"/>
                </a:cxn>
                <a:cxn ang="0">
                  <a:pos x="43" y="16"/>
                </a:cxn>
                <a:cxn ang="0">
                  <a:pos x="42" y="12"/>
                </a:cxn>
              </a:cxnLst>
              <a:rect l="0" t="0" r="r" b="b"/>
              <a:pathLst>
                <a:path w="49" h="22">
                  <a:moveTo>
                    <a:pt x="42" y="12"/>
                  </a:moveTo>
                  <a:lnTo>
                    <a:pt x="43" y="9"/>
                  </a:lnTo>
                  <a:lnTo>
                    <a:pt x="30" y="0"/>
                  </a:lnTo>
                  <a:lnTo>
                    <a:pt x="22" y="6"/>
                  </a:lnTo>
                  <a:lnTo>
                    <a:pt x="21" y="4"/>
                  </a:lnTo>
                  <a:lnTo>
                    <a:pt x="18" y="9"/>
                  </a:lnTo>
                  <a:lnTo>
                    <a:pt x="0" y="14"/>
                  </a:lnTo>
                  <a:lnTo>
                    <a:pt x="28" y="22"/>
                  </a:lnTo>
                  <a:lnTo>
                    <a:pt x="49" y="16"/>
                  </a:lnTo>
                  <a:lnTo>
                    <a:pt x="43" y="16"/>
                  </a:lnTo>
                  <a:lnTo>
                    <a:pt x="42"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0" name="Freeform 409"/>
            <p:cNvSpPr>
              <a:spLocks/>
            </p:cNvSpPr>
            <p:nvPr/>
          </p:nvSpPr>
          <p:spPr bwMode="auto">
            <a:xfrm>
              <a:off x="1549" y="1290"/>
              <a:ext cx="53" cy="13"/>
            </a:xfrm>
            <a:custGeom>
              <a:avLst/>
              <a:gdLst/>
              <a:ahLst/>
              <a:cxnLst>
                <a:cxn ang="0">
                  <a:pos x="33" y="0"/>
                </a:cxn>
                <a:cxn ang="0">
                  <a:pos x="2" y="0"/>
                </a:cxn>
                <a:cxn ang="0">
                  <a:pos x="0" y="4"/>
                </a:cxn>
                <a:cxn ang="0">
                  <a:pos x="5" y="8"/>
                </a:cxn>
                <a:cxn ang="0">
                  <a:pos x="9" y="13"/>
                </a:cxn>
                <a:cxn ang="0">
                  <a:pos x="48" y="10"/>
                </a:cxn>
                <a:cxn ang="0">
                  <a:pos x="33" y="0"/>
                </a:cxn>
              </a:cxnLst>
              <a:rect l="0" t="0" r="r" b="b"/>
              <a:pathLst>
                <a:path w="48" h="13">
                  <a:moveTo>
                    <a:pt x="33" y="0"/>
                  </a:moveTo>
                  <a:lnTo>
                    <a:pt x="2" y="0"/>
                  </a:lnTo>
                  <a:lnTo>
                    <a:pt x="0" y="4"/>
                  </a:lnTo>
                  <a:lnTo>
                    <a:pt x="5" y="8"/>
                  </a:lnTo>
                  <a:lnTo>
                    <a:pt x="9" y="13"/>
                  </a:lnTo>
                  <a:lnTo>
                    <a:pt x="48" y="10"/>
                  </a:lnTo>
                  <a:lnTo>
                    <a:pt x="3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1" name="Freeform 410"/>
            <p:cNvSpPr>
              <a:spLocks/>
            </p:cNvSpPr>
            <p:nvPr/>
          </p:nvSpPr>
          <p:spPr bwMode="auto">
            <a:xfrm>
              <a:off x="1527" y="1376"/>
              <a:ext cx="33" cy="20"/>
            </a:xfrm>
            <a:custGeom>
              <a:avLst/>
              <a:gdLst/>
              <a:ahLst/>
              <a:cxnLst>
                <a:cxn ang="0">
                  <a:pos x="27" y="11"/>
                </a:cxn>
                <a:cxn ang="0">
                  <a:pos x="4" y="17"/>
                </a:cxn>
                <a:cxn ang="0">
                  <a:pos x="0" y="8"/>
                </a:cxn>
                <a:cxn ang="0">
                  <a:pos x="19" y="0"/>
                </a:cxn>
                <a:cxn ang="0">
                  <a:pos x="30" y="3"/>
                </a:cxn>
                <a:cxn ang="0">
                  <a:pos x="27" y="11"/>
                </a:cxn>
              </a:cxnLst>
              <a:rect l="0" t="0" r="r" b="b"/>
              <a:pathLst>
                <a:path w="30" h="17">
                  <a:moveTo>
                    <a:pt x="27" y="11"/>
                  </a:moveTo>
                  <a:lnTo>
                    <a:pt x="4" y="17"/>
                  </a:lnTo>
                  <a:lnTo>
                    <a:pt x="0" y="8"/>
                  </a:lnTo>
                  <a:lnTo>
                    <a:pt x="19" y="0"/>
                  </a:lnTo>
                  <a:lnTo>
                    <a:pt x="30" y="3"/>
                  </a:lnTo>
                  <a:lnTo>
                    <a:pt x="27"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2" name="Freeform 411"/>
            <p:cNvSpPr>
              <a:spLocks/>
            </p:cNvSpPr>
            <p:nvPr/>
          </p:nvSpPr>
          <p:spPr bwMode="auto">
            <a:xfrm>
              <a:off x="1427" y="1212"/>
              <a:ext cx="38" cy="16"/>
            </a:xfrm>
            <a:custGeom>
              <a:avLst/>
              <a:gdLst/>
              <a:ahLst/>
              <a:cxnLst>
                <a:cxn ang="0">
                  <a:pos x="0" y="6"/>
                </a:cxn>
                <a:cxn ang="0">
                  <a:pos x="4" y="0"/>
                </a:cxn>
                <a:cxn ang="0">
                  <a:pos x="34" y="5"/>
                </a:cxn>
                <a:cxn ang="0">
                  <a:pos x="29" y="8"/>
                </a:cxn>
                <a:cxn ang="0">
                  <a:pos x="4" y="13"/>
                </a:cxn>
                <a:cxn ang="0">
                  <a:pos x="0" y="8"/>
                </a:cxn>
                <a:cxn ang="0">
                  <a:pos x="0" y="6"/>
                </a:cxn>
              </a:cxnLst>
              <a:rect l="0" t="0" r="r" b="b"/>
              <a:pathLst>
                <a:path w="34" h="13">
                  <a:moveTo>
                    <a:pt x="0" y="6"/>
                  </a:moveTo>
                  <a:lnTo>
                    <a:pt x="4" y="0"/>
                  </a:lnTo>
                  <a:lnTo>
                    <a:pt x="34" y="5"/>
                  </a:lnTo>
                  <a:lnTo>
                    <a:pt x="29" y="8"/>
                  </a:lnTo>
                  <a:lnTo>
                    <a:pt x="4" y="13"/>
                  </a:lnTo>
                  <a:lnTo>
                    <a:pt x="0" y="8"/>
                  </a:lnTo>
                  <a:lnTo>
                    <a:pt x="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3" name="Freeform 412"/>
            <p:cNvSpPr>
              <a:spLocks/>
            </p:cNvSpPr>
            <p:nvPr/>
          </p:nvSpPr>
          <p:spPr bwMode="auto">
            <a:xfrm>
              <a:off x="1385" y="1259"/>
              <a:ext cx="37" cy="11"/>
            </a:xfrm>
            <a:custGeom>
              <a:avLst/>
              <a:gdLst/>
              <a:ahLst/>
              <a:cxnLst>
                <a:cxn ang="0">
                  <a:pos x="10" y="11"/>
                </a:cxn>
                <a:cxn ang="0">
                  <a:pos x="0" y="8"/>
                </a:cxn>
                <a:cxn ang="0">
                  <a:pos x="26" y="0"/>
                </a:cxn>
                <a:cxn ang="0">
                  <a:pos x="35" y="7"/>
                </a:cxn>
                <a:cxn ang="0">
                  <a:pos x="31" y="11"/>
                </a:cxn>
                <a:cxn ang="0">
                  <a:pos x="10" y="11"/>
                </a:cxn>
              </a:cxnLst>
              <a:rect l="0" t="0" r="r" b="b"/>
              <a:pathLst>
                <a:path w="35" h="11">
                  <a:moveTo>
                    <a:pt x="10" y="11"/>
                  </a:moveTo>
                  <a:lnTo>
                    <a:pt x="0" y="8"/>
                  </a:lnTo>
                  <a:lnTo>
                    <a:pt x="26" y="0"/>
                  </a:lnTo>
                  <a:lnTo>
                    <a:pt x="35" y="7"/>
                  </a:lnTo>
                  <a:lnTo>
                    <a:pt x="31" y="11"/>
                  </a:lnTo>
                  <a:lnTo>
                    <a:pt x="10"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4" name="Freeform 413"/>
            <p:cNvSpPr>
              <a:spLocks/>
            </p:cNvSpPr>
            <p:nvPr/>
          </p:nvSpPr>
          <p:spPr bwMode="auto">
            <a:xfrm>
              <a:off x="1236" y="1288"/>
              <a:ext cx="31" cy="13"/>
            </a:xfrm>
            <a:custGeom>
              <a:avLst/>
              <a:gdLst/>
              <a:ahLst/>
              <a:cxnLst>
                <a:cxn ang="0">
                  <a:pos x="8" y="12"/>
                </a:cxn>
                <a:cxn ang="0">
                  <a:pos x="0" y="4"/>
                </a:cxn>
                <a:cxn ang="0">
                  <a:pos x="24" y="0"/>
                </a:cxn>
                <a:cxn ang="0">
                  <a:pos x="28" y="3"/>
                </a:cxn>
                <a:cxn ang="0">
                  <a:pos x="8" y="12"/>
                </a:cxn>
              </a:cxnLst>
              <a:rect l="0" t="0" r="r" b="b"/>
              <a:pathLst>
                <a:path w="28" h="12">
                  <a:moveTo>
                    <a:pt x="8" y="12"/>
                  </a:moveTo>
                  <a:lnTo>
                    <a:pt x="0" y="4"/>
                  </a:lnTo>
                  <a:lnTo>
                    <a:pt x="24" y="0"/>
                  </a:lnTo>
                  <a:lnTo>
                    <a:pt x="28" y="3"/>
                  </a:lnTo>
                  <a:lnTo>
                    <a:pt x="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5" name="Freeform 414"/>
            <p:cNvSpPr>
              <a:spLocks/>
            </p:cNvSpPr>
            <p:nvPr/>
          </p:nvSpPr>
          <p:spPr bwMode="auto">
            <a:xfrm>
              <a:off x="1711" y="1152"/>
              <a:ext cx="691" cy="371"/>
            </a:xfrm>
            <a:custGeom>
              <a:avLst/>
              <a:gdLst/>
              <a:ahLst/>
              <a:cxnLst>
                <a:cxn ang="0">
                  <a:pos x="106" y="264"/>
                </a:cxn>
                <a:cxn ang="0">
                  <a:pos x="126" y="259"/>
                </a:cxn>
                <a:cxn ang="0">
                  <a:pos x="110" y="276"/>
                </a:cxn>
                <a:cxn ang="0">
                  <a:pos x="119" y="287"/>
                </a:cxn>
                <a:cxn ang="0">
                  <a:pos x="126" y="304"/>
                </a:cxn>
                <a:cxn ang="0">
                  <a:pos x="131" y="311"/>
                </a:cxn>
                <a:cxn ang="0">
                  <a:pos x="140" y="320"/>
                </a:cxn>
                <a:cxn ang="0">
                  <a:pos x="162" y="324"/>
                </a:cxn>
                <a:cxn ang="0">
                  <a:pos x="170" y="334"/>
                </a:cxn>
                <a:cxn ang="0">
                  <a:pos x="197" y="324"/>
                </a:cxn>
                <a:cxn ang="0">
                  <a:pos x="202" y="314"/>
                </a:cxn>
                <a:cxn ang="0">
                  <a:pos x="214" y="300"/>
                </a:cxn>
                <a:cxn ang="0">
                  <a:pos x="223" y="282"/>
                </a:cxn>
                <a:cxn ang="0">
                  <a:pos x="234" y="272"/>
                </a:cxn>
                <a:cxn ang="0">
                  <a:pos x="257" y="246"/>
                </a:cxn>
                <a:cxn ang="0">
                  <a:pos x="288" y="239"/>
                </a:cxn>
                <a:cxn ang="0">
                  <a:pos x="343" y="217"/>
                </a:cxn>
                <a:cxn ang="0">
                  <a:pos x="394" y="204"/>
                </a:cxn>
                <a:cxn ang="0">
                  <a:pos x="482" y="175"/>
                </a:cxn>
                <a:cxn ang="0">
                  <a:pos x="424" y="162"/>
                </a:cxn>
                <a:cxn ang="0">
                  <a:pos x="424" y="146"/>
                </a:cxn>
                <a:cxn ang="0">
                  <a:pos x="492" y="168"/>
                </a:cxn>
                <a:cxn ang="0">
                  <a:pos x="486" y="148"/>
                </a:cxn>
                <a:cxn ang="0">
                  <a:pos x="440" y="136"/>
                </a:cxn>
                <a:cxn ang="0">
                  <a:pos x="460" y="127"/>
                </a:cxn>
                <a:cxn ang="0">
                  <a:pos x="499" y="128"/>
                </a:cxn>
                <a:cxn ang="0">
                  <a:pos x="532" y="113"/>
                </a:cxn>
                <a:cxn ang="0">
                  <a:pos x="505" y="95"/>
                </a:cxn>
                <a:cxn ang="0">
                  <a:pos x="509" y="85"/>
                </a:cxn>
                <a:cxn ang="0">
                  <a:pos x="544" y="68"/>
                </a:cxn>
                <a:cxn ang="0">
                  <a:pos x="540" y="48"/>
                </a:cxn>
                <a:cxn ang="0">
                  <a:pos x="580" y="31"/>
                </a:cxn>
                <a:cxn ang="0">
                  <a:pos x="545" y="22"/>
                </a:cxn>
                <a:cxn ang="0">
                  <a:pos x="479" y="23"/>
                </a:cxn>
                <a:cxn ang="0">
                  <a:pos x="503" y="7"/>
                </a:cxn>
                <a:cxn ang="0">
                  <a:pos x="383" y="4"/>
                </a:cxn>
                <a:cxn ang="0">
                  <a:pos x="342" y="7"/>
                </a:cxn>
                <a:cxn ang="0">
                  <a:pos x="314" y="16"/>
                </a:cxn>
                <a:cxn ang="0">
                  <a:pos x="221" y="20"/>
                </a:cxn>
                <a:cxn ang="0">
                  <a:pos x="148" y="24"/>
                </a:cxn>
                <a:cxn ang="0">
                  <a:pos x="95" y="41"/>
                </a:cxn>
                <a:cxn ang="0">
                  <a:pos x="19" y="68"/>
                </a:cxn>
                <a:cxn ang="0">
                  <a:pos x="38" y="74"/>
                </a:cxn>
                <a:cxn ang="0">
                  <a:pos x="42" y="89"/>
                </a:cxn>
                <a:cxn ang="0">
                  <a:pos x="132" y="109"/>
                </a:cxn>
                <a:cxn ang="0">
                  <a:pos x="136" y="132"/>
                </a:cxn>
                <a:cxn ang="0">
                  <a:pos x="136" y="152"/>
                </a:cxn>
                <a:cxn ang="0">
                  <a:pos x="160" y="155"/>
                </a:cxn>
                <a:cxn ang="0">
                  <a:pos x="162" y="164"/>
                </a:cxn>
                <a:cxn ang="0">
                  <a:pos x="158" y="184"/>
                </a:cxn>
                <a:cxn ang="0">
                  <a:pos x="152" y="194"/>
                </a:cxn>
                <a:cxn ang="0">
                  <a:pos x="125" y="204"/>
                </a:cxn>
                <a:cxn ang="0">
                  <a:pos x="137" y="210"/>
                </a:cxn>
                <a:cxn ang="0">
                  <a:pos x="126" y="211"/>
                </a:cxn>
                <a:cxn ang="0">
                  <a:pos x="119" y="223"/>
                </a:cxn>
                <a:cxn ang="0">
                  <a:pos x="124" y="228"/>
                </a:cxn>
                <a:cxn ang="0">
                  <a:pos x="104" y="241"/>
                </a:cxn>
              </a:cxnLst>
              <a:rect l="0" t="0" r="r" b="b"/>
              <a:pathLst>
                <a:path w="622" h="334">
                  <a:moveTo>
                    <a:pt x="131" y="242"/>
                  </a:moveTo>
                  <a:lnTo>
                    <a:pt x="115" y="246"/>
                  </a:lnTo>
                  <a:lnTo>
                    <a:pt x="109" y="251"/>
                  </a:lnTo>
                  <a:lnTo>
                    <a:pt x="108" y="254"/>
                  </a:lnTo>
                  <a:lnTo>
                    <a:pt x="119" y="253"/>
                  </a:lnTo>
                  <a:lnTo>
                    <a:pt x="113" y="256"/>
                  </a:lnTo>
                  <a:lnTo>
                    <a:pt x="106" y="264"/>
                  </a:lnTo>
                  <a:lnTo>
                    <a:pt x="115" y="262"/>
                  </a:lnTo>
                  <a:lnTo>
                    <a:pt x="122" y="258"/>
                  </a:lnTo>
                  <a:lnTo>
                    <a:pt x="125" y="250"/>
                  </a:lnTo>
                  <a:lnTo>
                    <a:pt x="127" y="254"/>
                  </a:lnTo>
                  <a:lnTo>
                    <a:pt x="132" y="256"/>
                  </a:lnTo>
                  <a:lnTo>
                    <a:pt x="134" y="263"/>
                  </a:lnTo>
                  <a:lnTo>
                    <a:pt x="126" y="259"/>
                  </a:lnTo>
                  <a:lnTo>
                    <a:pt x="127" y="263"/>
                  </a:lnTo>
                  <a:lnTo>
                    <a:pt x="113" y="266"/>
                  </a:lnTo>
                  <a:lnTo>
                    <a:pt x="125" y="265"/>
                  </a:lnTo>
                  <a:lnTo>
                    <a:pt x="128" y="265"/>
                  </a:lnTo>
                  <a:lnTo>
                    <a:pt x="109" y="269"/>
                  </a:lnTo>
                  <a:lnTo>
                    <a:pt x="115" y="271"/>
                  </a:lnTo>
                  <a:lnTo>
                    <a:pt x="110" y="276"/>
                  </a:lnTo>
                  <a:lnTo>
                    <a:pt x="116" y="275"/>
                  </a:lnTo>
                  <a:lnTo>
                    <a:pt x="113" y="277"/>
                  </a:lnTo>
                  <a:lnTo>
                    <a:pt x="112" y="278"/>
                  </a:lnTo>
                  <a:lnTo>
                    <a:pt x="119" y="280"/>
                  </a:lnTo>
                  <a:lnTo>
                    <a:pt x="112" y="281"/>
                  </a:lnTo>
                  <a:lnTo>
                    <a:pt x="120" y="283"/>
                  </a:lnTo>
                  <a:lnTo>
                    <a:pt x="119" y="287"/>
                  </a:lnTo>
                  <a:lnTo>
                    <a:pt x="124" y="286"/>
                  </a:lnTo>
                  <a:lnTo>
                    <a:pt x="120" y="289"/>
                  </a:lnTo>
                  <a:lnTo>
                    <a:pt x="118" y="292"/>
                  </a:lnTo>
                  <a:lnTo>
                    <a:pt x="124" y="298"/>
                  </a:lnTo>
                  <a:lnTo>
                    <a:pt x="122" y="300"/>
                  </a:lnTo>
                  <a:lnTo>
                    <a:pt x="128" y="300"/>
                  </a:lnTo>
                  <a:lnTo>
                    <a:pt x="126" y="304"/>
                  </a:lnTo>
                  <a:lnTo>
                    <a:pt x="130" y="302"/>
                  </a:lnTo>
                  <a:lnTo>
                    <a:pt x="128" y="306"/>
                  </a:lnTo>
                  <a:lnTo>
                    <a:pt x="131" y="307"/>
                  </a:lnTo>
                  <a:lnTo>
                    <a:pt x="126" y="308"/>
                  </a:lnTo>
                  <a:lnTo>
                    <a:pt x="132" y="308"/>
                  </a:lnTo>
                  <a:lnTo>
                    <a:pt x="130" y="311"/>
                  </a:lnTo>
                  <a:lnTo>
                    <a:pt x="131" y="311"/>
                  </a:lnTo>
                  <a:lnTo>
                    <a:pt x="130" y="314"/>
                  </a:lnTo>
                  <a:lnTo>
                    <a:pt x="136" y="313"/>
                  </a:lnTo>
                  <a:lnTo>
                    <a:pt x="137" y="317"/>
                  </a:lnTo>
                  <a:lnTo>
                    <a:pt x="134" y="318"/>
                  </a:lnTo>
                  <a:lnTo>
                    <a:pt x="136" y="318"/>
                  </a:lnTo>
                  <a:lnTo>
                    <a:pt x="136" y="319"/>
                  </a:lnTo>
                  <a:lnTo>
                    <a:pt x="140" y="320"/>
                  </a:lnTo>
                  <a:lnTo>
                    <a:pt x="149" y="319"/>
                  </a:lnTo>
                  <a:lnTo>
                    <a:pt x="163" y="314"/>
                  </a:lnTo>
                  <a:lnTo>
                    <a:pt x="163" y="317"/>
                  </a:lnTo>
                  <a:lnTo>
                    <a:pt x="169" y="314"/>
                  </a:lnTo>
                  <a:lnTo>
                    <a:pt x="161" y="320"/>
                  </a:lnTo>
                  <a:lnTo>
                    <a:pt x="167" y="319"/>
                  </a:lnTo>
                  <a:lnTo>
                    <a:pt x="162" y="324"/>
                  </a:lnTo>
                  <a:lnTo>
                    <a:pt x="169" y="323"/>
                  </a:lnTo>
                  <a:lnTo>
                    <a:pt x="168" y="325"/>
                  </a:lnTo>
                  <a:lnTo>
                    <a:pt x="173" y="324"/>
                  </a:lnTo>
                  <a:lnTo>
                    <a:pt x="168" y="330"/>
                  </a:lnTo>
                  <a:lnTo>
                    <a:pt x="175" y="326"/>
                  </a:lnTo>
                  <a:lnTo>
                    <a:pt x="168" y="331"/>
                  </a:lnTo>
                  <a:lnTo>
                    <a:pt x="170" y="334"/>
                  </a:lnTo>
                  <a:lnTo>
                    <a:pt x="181" y="329"/>
                  </a:lnTo>
                  <a:lnTo>
                    <a:pt x="191" y="332"/>
                  </a:lnTo>
                  <a:lnTo>
                    <a:pt x="192" y="330"/>
                  </a:lnTo>
                  <a:lnTo>
                    <a:pt x="190" y="328"/>
                  </a:lnTo>
                  <a:lnTo>
                    <a:pt x="181" y="324"/>
                  </a:lnTo>
                  <a:lnTo>
                    <a:pt x="194" y="325"/>
                  </a:lnTo>
                  <a:lnTo>
                    <a:pt x="197" y="324"/>
                  </a:lnTo>
                  <a:lnTo>
                    <a:pt x="194" y="322"/>
                  </a:lnTo>
                  <a:lnTo>
                    <a:pt x="196" y="320"/>
                  </a:lnTo>
                  <a:lnTo>
                    <a:pt x="194" y="319"/>
                  </a:lnTo>
                  <a:lnTo>
                    <a:pt x="202" y="319"/>
                  </a:lnTo>
                  <a:lnTo>
                    <a:pt x="194" y="317"/>
                  </a:lnTo>
                  <a:lnTo>
                    <a:pt x="202" y="317"/>
                  </a:lnTo>
                  <a:lnTo>
                    <a:pt x="202" y="314"/>
                  </a:lnTo>
                  <a:lnTo>
                    <a:pt x="202" y="313"/>
                  </a:lnTo>
                  <a:lnTo>
                    <a:pt x="205" y="312"/>
                  </a:lnTo>
                  <a:lnTo>
                    <a:pt x="203" y="310"/>
                  </a:lnTo>
                  <a:lnTo>
                    <a:pt x="209" y="308"/>
                  </a:lnTo>
                  <a:lnTo>
                    <a:pt x="208" y="306"/>
                  </a:lnTo>
                  <a:lnTo>
                    <a:pt x="212" y="301"/>
                  </a:lnTo>
                  <a:lnTo>
                    <a:pt x="214" y="300"/>
                  </a:lnTo>
                  <a:lnTo>
                    <a:pt x="210" y="295"/>
                  </a:lnTo>
                  <a:lnTo>
                    <a:pt x="212" y="295"/>
                  </a:lnTo>
                  <a:lnTo>
                    <a:pt x="208" y="290"/>
                  </a:lnTo>
                  <a:lnTo>
                    <a:pt x="217" y="287"/>
                  </a:lnTo>
                  <a:lnTo>
                    <a:pt x="226" y="286"/>
                  </a:lnTo>
                  <a:lnTo>
                    <a:pt x="223" y="284"/>
                  </a:lnTo>
                  <a:lnTo>
                    <a:pt x="223" y="282"/>
                  </a:lnTo>
                  <a:lnTo>
                    <a:pt x="228" y="282"/>
                  </a:lnTo>
                  <a:lnTo>
                    <a:pt x="229" y="278"/>
                  </a:lnTo>
                  <a:lnTo>
                    <a:pt x="233" y="280"/>
                  </a:lnTo>
                  <a:lnTo>
                    <a:pt x="230" y="278"/>
                  </a:lnTo>
                  <a:lnTo>
                    <a:pt x="234" y="277"/>
                  </a:lnTo>
                  <a:lnTo>
                    <a:pt x="239" y="275"/>
                  </a:lnTo>
                  <a:lnTo>
                    <a:pt x="234" y="272"/>
                  </a:lnTo>
                  <a:lnTo>
                    <a:pt x="244" y="272"/>
                  </a:lnTo>
                  <a:lnTo>
                    <a:pt x="241" y="266"/>
                  </a:lnTo>
                  <a:lnTo>
                    <a:pt x="234" y="264"/>
                  </a:lnTo>
                  <a:lnTo>
                    <a:pt x="246" y="262"/>
                  </a:lnTo>
                  <a:lnTo>
                    <a:pt x="246" y="252"/>
                  </a:lnTo>
                  <a:lnTo>
                    <a:pt x="258" y="251"/>
                  </a:lnTo>
                  <a:lnTo>
                    <a:pt x="257" y="246"/>
                  </a:lnTo>
                  <a:lnTo>
                    <a:pt x="265" y="245"/>
                  </a:lnTo>
                  <a:lnTo>
                    <a:pt x="270" y="244"/>
                  </a:lnTo>
                  <a:lnTo>
                    <a:pt x="283" y="241"/>
                  </a:lnTo>
                  <a:lnTo>
                    <a:pt x="281" y="240"/>
                  </a:lnTo>
                  <a:lnTo>
                    <a:pt x="289" y="233"/>
                  </a:lnTo>
                  <a:lnTo>
                    <a:pt x="295" y="234"/>
                  </a:lnTo>
                  <a:lnTo>
                    <a:pt x="288" y="239"/>
                  </a:lnTo>
                  <a:lnTo>
                    <a:pt x="295" y="240"/>
                  </a:lnTo>
                  <a:lnTo>
                    <a:pt x="313" y="235"/>
                  </a:lnTo>
                  <a:lnTo>
                    <a:pt x="314" y="232"/>
                  </a:lnTo>
                  <a:lnTo>
                    <a:pt x="319" y="233"/>
                  </a:lnTo>
                  <a:lnTo>
                    <a:pt x="330" y="229"/>
                  </a:lnTo>
                  <a:lnTo>
                    <a:pt x="332" y="227"/>
                  </a:lnTo>
                  <a:lnTo>
                    <a:pt x="343" y="217"/>
                  </a:lnTo>
                  <a:lnTo>
                    <a:pt x="361" y="209"/>
                  </a:lnTo>
                  <a:lnTo>
                    <a:pt x="361" y="204"/>
                  </a:lnTo>
                  <a:lnTo>
                    <a:pt x="364" y="199"/>
                  </a:lnTo>
                  <a:lnTo>
                    <a:pt x="377" y="206"/>
                  </a:lnTo>
                  <a:lnTo>
                    <a:pt x="384" y="204"/>
                  </a:lnTo>
                  <a:lnTo>
                    <a:pt x="390" y="203"/>
                  </a:lnTo>
                  <a:lnTo>
                    <a:pt x="394" y="204"/>
                  </a:lnTo>
                  <a:lnTo>
                    <a:pt x="419" y="198"/>
                  </a:lnTo>
                  <a:lnTo>
                    <a:pt x="444" y="192"/>
                  </a:lnTo>
                  <a:lnTo>
                    <a:pt x="452" y="188"/>
                  </a:lnTo>
                  <a:lnTo>
                    <a:pt x="462" y="184"/>
                  </a:lnTo>
                  <a:lnTo>
                    <a:pt x="467" y="181"/>
                  </a:lnTo>
                  <a:lnTo>
                    <a:pt x="474" y="178"/>
                  </a:lnTo>
                  <a:lnTo>
                    <a:pt x="482" y="175"/>
                  </a:lnTo>
                  <a:lnTo>
                    <a:pt x="448" y="172"/>
                  </a:lnTo>
                  <a:lnTo>
                    <a:pt x="419" y="176"/>
                  </a:lnTo>
                  <a:lnTo>
                    <a:pt x="418" y="174"/>
                  </a:lnTo>
                  <a:lnTo>
                    <a:pt x="438" y="169"/>
                  </a:lnTo>
                  <a:lnTo>
                    <a:pt x="409" y="169"/>
                  </a:lnTo>
                  <a:lnTo>
                    <a:pt x="424" y="163"/>
                  </a:lnTo>
                  <a:lnTo>
                    <a:pt x="424" y="162"/>
                  </a:lnTo>
                  <a:lnTo>
                    <a:pt x="425" y="161"/>
                  </a:lnTo>
                  <a:lnTo>
                    <a:pt x="451" y="160"/>
                  </a:lnTo>
                  <a:lnTo>
                    <a:pt x="450" y="155"/>
                  </a:lnTo>
                  <a:lnTo>
                    <a:pt x="449" y="155"/>
                  </a:lnTo>
                  <a:lnTo>
                    <a:pt x="426" y="154"/>
                  </a:lnTo>
                  <a:lnTo>
                    <a:pt x="433" y="151"/>
                  </a:lnTo>
                  <a:lnTo>
                    <a:pt x="424" y="146"/>
                  </a:lnTo>
                  <a:lnTo>
                    <a:pt x="446" y="154"/>
                  </a:lnTo>
                  <a:lnTo>
                    <a:pt x="466" y="161"/>
                  </a:lnTo>
                  <a:lnTo>
                    <a:pt x="473" y="170"/>
                  </a:lnTo>
                  <a:lnTo>
                    <a:pt x="482" y="168"/>
                  </a:lnTo>
                  <a:lnTo>
                    <a:pt x="485" y="164"/>
                  </a:lnTo>
                  <a:lnTo>
                    <a:pt x="486" y="169"/>
                  </a:lnTo>
                  <a:lnTo>
                    <a:pt x="492" y="168"/>
                  </a:lnTo>
                  <a:lnTo>
                    <a:pt x="492" y="162"/>
                  </a:lnTo>
                  <a:lnTo>
                    <a:pt x="493" y="155"/>
                  </a:lnTo>
                  <a:lnTo>
                    <a:pt x="486" y="156"/>
                  </a:lnTo>
                  <a:lnTo>
                    <a:pt x="490" y="152"/>
                  </a:lnTo>
                  <a:lnTo>
                    <a:pt x="485" y="152"/>
                  </a:lnTo>
                  <a:lnTo>
                    <a:pt x="482" y="151"/>
                  </a:lnTo>
                  <a:lnTo>
                    <a:pt x="486" y="148"/>
                  </a:lnTo>
                  <a:lnTo>
                    <a:pt x="460" y="142"/>
                  </a:lnTo>
                  <a:lnTo>
                    <a:pt x="456" y="144"/>
                  </a:lnTo>
                  <a:lnTo>
                    <a:pt x="456" y="140"/>
                  </a:lnTo>
                  <a:lnTo>
                    <a:pt x="466" y="138"/>
                  </a:lnTo>
                  <a:lnTo>
                    <a:pt x="450" y="137"/>
                  </a:lnTo>
                  <a:lnTo>
                    <a:pt x="443" y="137"/>
                  </a:lnTo>
                  <a:lnTo>
                    <a:pt x="440" y="136"/>
                  </a:lnTo>
                  <a:lnTo>
                    <a:pt x="463" y="132"/>
                  </a:lnTo>
                  <a:lnTo>
                    <a:pt x="439" y="131"/>
                  </a:lnTo>
                  <a:lnTo>
                    <a:pt x="438" y="133"/>
                  </a:lnTo>
                  <a:lnTo>
                    <a:pt x="438" y="131"/>
                  </a:lnTo>
                  <a:lnTo>
                    <a:pt x="445" y="128"/>
                  </a:lnTo>
                  <a:lnTo>
                    <a:pt x="443" y="126"/>
                  </a:lnTo>
                  <a:lnTo>
                    <a:pt x="460" y="127"/>
                  </a:lnTo>
                  <a:lnTo>
                    <a:pt x="466" y="124"/>
                  </a:lnTo>
                  <a:lnTo>
                    <a:pt x="463" y="121"/>
                  </a:lnTo>
                  <a:lnTo>
                    <a:pt x="472" y="124"/>
                  </a:lnTo>
                  <a:lnTo>
                    <a:pt x="482" y="122"/>
                  </a:lnTo>
                  <a:lnTo>
                    <a:pt x="491" y="125"/>
                  </a:lnTo>
                  <a:lnTo>
                    <a:pt x="478" y="124"/>
                  </a:lnTo>
                  <a:lnTo>
                    <a:pt x="499" y="128"/>
                  </a:lnTo>
                  <a:lnTo>
                    <a:pt x="516" y="124"/>
                  </a:lnTo>
                  <a:lnTo>
                    <a:pt x="517" y="120"/>
                  </a:lnTo>
                  <a:lnTo>
                    <a:pt x="502" y="120"/>
                  </a:lnTo>
                  <a:lnTo>
                    <a:pt x="500" y="121"/>
                  </a:lnTo>
                  <a:lnTo>
                    <a:pt x="497" y="115"/>
                  </a:lnTo>
                  <a:lnTo>
                    <a:pt x="503" y="110"/>
                  </a:lnTo>
                  <a:lnTo>
                    <a:pt x="532" y="113"/>
                  </a:lnTo>
                  <a:lnTo>
                    <a:pt x="529" y="108"/>
                  </a:lnTo>
                  <a:lnTo>
                    <a:pt x="517" y="108"/>
                  </a:lnTo>
                  <a:lnTo>
                    <a:pt x="515" y="103"/>
                  </a:lnTo>
                  <a:lnTo>
                    <a:pt x="504" y="103"/>
                  </a:lnTo>
                  <a:lnTo>
                    <a:pt x="516" y="101"/>
                  </a:lnTo>
                  <a:lnTo>
                    <a:pt x="504" y="97"/>
                  </a:lnTo>
                  <a:lnTo>
                    <a:pt x="505" y="95"/>
                  </a:lnTo>
                  <a:lnTo>
                    <a:pt x="530" y="101"/>
                  </a:lnTo>
                  <a:lnTo>
                    <a:pt x="529" y="91"/>
                  </a:lnTo>
                  <a:lnTo>
                    <a:pt x="510" y="91"/>
                  </a:lnTo>
                  <a:lnTo>
                    <a:pt x="532" y="89"/>
                  </a:lnTo>
                  <a:lnTo>
                    <a:pt x="520" y="88"/>
                  </a:lnTo>
                  <a:lnTo>
                    <a:pt x="512" y="85"/>
                  </a:lnTo>
                  <a:lnTo>
                    <a:pt x="509" y="85"/>
                  </a:lnTo>
                  <a:lnTo>
                    <a:pt x="503" y="80"/>
                  </a:lnTo>
                  <a:lnTo>
                    <a:pt x="520" y="79"/>
                  </a:lnTo>
                  <a:lnTo>
                    <a:pt x="550" y="79"/>
                  </a:lnTo>
                  <a:lnTo>
                    <a:pt x="548" y="72"/>
                  </a:lnTo>
                  <a:lnTo>
                    <a:pt x="532" y="72"/>
                  </a:lnTo>
                  <a:lnTo>
                    <a:pt x="524" y="68"/>
                  </a:lnTo>
                  <a:lnTo>
                    <a:pt x="544" y="68"/>
                  </a:lnTo>
                  <a:lnTo>
                    <a:pt x="523" y="65"/>
                  </a:lnTo>
                  <a:lnTo>
                    <a:pt x="518" y="68"/>
                  </a:lnTo>
                  <a:lnTo>
                    <a:pt x="515" y="66"/>
                  </a:lnTo>
                  <a:lnTo>
                    <a:pt x="523" y="55"/>
                  </a:lnTo>
                  <a:lnTo>
                    <a:pt x="539" y="52"/>
                  </a:lnTo>
                  <a:lnTo>
                    <a:pt x="546" y="47"/>
                  </a:lnTo>
                  <a:lnTo>
                    <a:pt x="540" y="48"/>
                  </a:lnTo>
                  <a:lnTo>
                    <a:pt x="548" y="41"/>
                  </a:lnTo>
                  <a:lnTo>
                    <a:pt x="560" y="40"/>
                  </a:lnTo>
                  <a:lnTo>
                    <a:pt x="562" y="36"/>
                  </a:lnTo>
                  <a:lnTo>
                    <a:pt x="539" y="40"/>
                  </a:lnTo>
                  <a:lnTo>
                    <a:pt x="535" y="37"/>
                  </a:lnTo>
                  <a:lnTo>
                    <a:pt x="557" y="35"/>
                  </a:lnTo>
                  <a:lnTo>
                    <a:pt x="580" y="31"/>
                  </a:lnTo>
                  <a:lnTo>
                    <a:pt x="538" y="31"/>
                  </a:lnTo>
                  <a:lnTo>
                    <a:pt x="596" y="28"/>
                  </a:lnTo>
                  <a:lnTo>
                    <a:pt x="594" y="25"/>
                  </a:lnTo>
                  <a:lnTo>
                    <a:pt x="622" y="20"/>
                  </a:lnTo>
                  <a:lnTo>
                    <a:pt x="586" y="17"/>
                  </a:lnTo>
                  <a:lnTo>
                    <a:pt x="566" y="20"/>
                  </a:lnTo>
                  <a:lnTo>
                    <a:pt x="545" y="22"/>
                  </a:lnTo>
                  <a:lnTo>
                    <a:pt x="544" y="20"/>
                  </a:lnTo>
                  <a:lnTo>
                    <a:pt x="504" y="31"/>
                  </a:lnTo>
                  <a:lnTo>
                    <a:pt x="518" y="24"/>
                  </a:lnTo>
                  <a:lnTo>
                    <a:pt x="528" y="17"/>
                  </a:lnTo>
                  <a:lnTo>
                    <a:pt x="512" y="16"/>
                  </a:lnTo>
                  <a:lnTo>
                    <a:pt x="508" y="18"/>
                  </a:lnTo>
                  <a:lnTo>
                    <a:pt x="479" y="23"/>
                  </a:lnTo>
                  <a:lnTo>
                    <a:pt x="493" y="19"/>
                  </a:lnTo>
                  <a:lnTo>
                    <a:pt x="497" y="16"/>
                  </a:lnTo>
                  <a:lnTo>
                    <a:pt x="428" y="19"/>
                  </a:lnTo>
                  <a:lnTo>
                    <a:pt x="449" y="14"/>
                  </a:lnTo>
                  <a:lnTo>
                    <a:pt x="488" y="14"/>
                  </a:lnTo>
                  <a:lnTo>
                    <a:pt x="535" y="11"/>
                  </a:lnTo>
                  <a:lnTo>
                    <a:pt x="503" y="7"/>
                  </a:lnTo>
                  <a:lnTo>
                    <a:pt x="504" y="5"/>
                  </a:lnTo>
                  <a:lnTo>
                    <a:pt x="410" y="6"/>
                  </a:lnTo>
                  <a:lnTo>
                    <a:pt x="422" y="6"/>
                  </a:lnTo>
                  <a:lnTo>
                    <a:pt x="494" y="4"/>
                  </a:lnTo>
                  <a:lnTo>
                    <a:pt x="466" y="0"/>
                  </a:lnTo>
                  <a:lnTo>
                    <a:pt x="377" y="1"/>
                  </a:lnTo>
                  <a:lnTo>
                    <a:pt x="383" y="4"/>
                  </a:lnTo>
                  <a:lnTo>
                    <a:pt x="376" y="5"/>
                  </a:lnTo>
                  <a:lnTo>
                    <a:pt x="373" y="6"/>
                  </a:lnTo>
                  <a:lnTo>
                    <a:pt x="350" y="5"/>
                  </a:lnTo>
                  <a:lnTo>
                    <a:pt x="319" y="4"/>
                  </a:lnTo>
                  <a:lnTo>
                    <a:pt x="324" y="6"/>
                  </a:lnTo>
                  <a:lnTo>
                    <a:pt x="301" y="5"/>
                  </a:lnTo>
                  <a:lnTo>
                    <a:pt x="342" y="7"/>
                  </a:lnTo>
                  <a:lnTo>
                    <a:pt x="361" y="11"/>
                  </a:lnTo>
                  <a:lnTo>
                    <a:pt x="343" y="8"/>
                  </a:lnTo>
                  <a:lnTo>
                    <a:pt x="343" y="10"/>
                  </a:lnTo>
                  <a:lnTo>
                    <a:pt x="314" y="8"/>
                  </a:lnTo>
                  <a:lnTo>
                    <a:pt x="326" y="13"/>
                  </a:lnTo>
                  <a:lnTo>
                    <a:pt x="317" y="13"/>
                  </a:lnTo>
                  <a:lnTo>
                    <a:pt x="314" y="16"/>
                  </a:lnTo>
                  <a:lnTo>
                    <a:pt x="314" y="18"/>
                  </a:lnTo>
                  <a:lnTo>
                    <a:pt x="262" y="11"/>
                  </a:lnTo>
                  <a:lnTo>
                    <a:pt x="258" y="17"/>
                  </a:lnTo>
                  <a:lnTo>
                    <a:pt x="258" y="19"/>
                  </a:lnTo>
                  <a:lnTo>
                    <a:pt x="235" y="16"/>
                  </a:lnTo>
                  <a:lnTo>
                    <a:pt x="224" y="20"/>
                  </a:lnTo>
                  <a:lnTo>
                    <a:pt x="221" y="20"/>
                  </a:lnTo>
                  <a:lnTo>
                    <a:pt x="224" y="13"/>
                  </a:lnTo>
                  <a:lnTo>
                    <a:pt x="173" y="16"/>
                  </a:lnTo>
                  <a:lnTo>
                    <a:pt x="188" y="22"/>
                  </a:lnTo>
                  <a:lnTo>
                    <a:pt x="175" y="19"/>
                  </a:lnTo>
                  <a:lnTo>
                    <a:pt x="151" y="18"/>
                  </a:lnTo>
                  <a:lnTo>
                    <a:pt x="151" y="20"/>
                  </a:lnTo>
                  <a:lnTo>
                    <a:pt x="148" y="24"/>
                  </a:lnTo>
                  <a:lnTo>
                    <a:pt x="128" y="24"/>
                  </a:lnTo>
                  <a:lnTo>
                    <a:pt x="126" y="28"/>
                  </a:lnTo>
                  <a:lnTo>
                    <a:pt x="124" y="25"/>
                  </a:lnTo>
                  <a:lnTo>
                    <a:pt x="74" y="35"/>
                  </a:lnTo>
                  <a:lnTo>
                    <a:pt x="106" y="36"/>
                  </a:lnTo>
                  <a:lnTo>
                    <a:pt x="97" y="37"/>
                  </a:lnTo>
                  <a:lnTo>
                    <a:pt x="95" y="41"/>
                  </a:lnTo>
                  <a:lnTo>
                    <a:pt x="84" y="47"/>
                  </a:lnTo>
                  <a:lnTo>
                    <a:pt x="46" y="52"/>
                  </a:lnTo>
                  <a:lnTo>
                    <a:pt x="5" y="58"/>
                  </a:lnTo>
                  <a:lnTo>
                    <a:pt x="1" y="60"/>
                  </a:lnTo>
                  <a:lnTo>
                    <a:pt x="1" y="64"/>
                  </a:lnTo>
                  <a:lnTo>
                    <a:pt x="23" y="66"/>
                  </a:lnTo>
                  <a:lnTo>
                    <a:pt x="19" y="68"/>
                  </a:lnTo>
                  <a:lnTo>
                    <a:pt x="18" y="70"/>
                  </a:lnTo>
                  <a:lnTo>
                    <a:pt x="34" y="71"/>
                  </a:lnTo>
                  <a:lnTo>
                    <a:pt x="56" y="68"/>
                  </a:lnTo>
                  <a:lnTo>
                    <a:pt x="53" y="73"/>
                  </a:lnTo>
                  <a:lnTo>
                    <a:pt x="26" y="73"/>
                  </a:lnTo>
                  <a:lnTo>
                    <a:pt x="47" y="76"/>
                  </a:lnTo>
                  <a:lnTo>
                    <a:pt x="38" y="74"/>
                  </a:lnTo>
                  <a:lnTo>
                    <a:pt x="0" y="77"/>
                  </a:lnTo>
                  <a:lnTo>
                    <a:pt x="13" y="78"/>
                  </a:lnTo>
                  <a:lnTo>
                    <a:pt x="24" y="82"/>
                  </a:lnTo>
                  <a:lnTo>
                    <a:pt x="12" y="85"/>
                  </a:lnTo>
                  <a:lnTo>
                    <a:pt x="38" y="91"/>
                  </a:lnTo>
                  <a:lnTo>
                    <a:pt x="35" y="89"/>
                  </a:lnTo>
                  <a:lnTo>
                    <a:pt x="42" y="89"/>
                  </a:lnTo>
                  <a:lnTo>
                    <a:pt x="48" y="89"/>
                  </a:lnTo>
                  <a:lnTo>
                    <a:pt x="66" y="86"/>
                  </a:lnTo>
                  <a:lnTo>
                    <a:pt x="74" y="86"/>
                  </a:lnTo>
                  <a:lnTo>
                    <a:pt x="121" y="95"/>
                  </a:lnTo>
                  <a:lnTo>
                    <a:pt x="118" y="100"/>
                  </a:lnTo>
                  <a:lnTo>
                    <a:pt x="128" y="106"/>
                  </a:lnTo>
                  <a:lnTo>
                    <a:pt x="132" y="109"/>
                  </a:lnTo>
                  <a:lnTo>
                    <a:pt x="128" y="113"/>
                  </a:lnTo>
                  <a:lnTo>
                    <a:pt x="124" y="115"/>
                  </a:lnTo>
                  <a:lnTo>
                    <a:pt x="132" y="115"/>
                  </a:lnTo>
                  <a:lnTo>
                    <a:pt x="132" y="121"/>
                  </a:lnTo>
                  <a:lnTo>
                    <a:pt x="133" y="126"/>
                  </a:lnTo>
                  <a:lnTo>
                    <a:pt x="132" y="130"/>
                  </a:lnTo>
                  <a:lnTo>
                    <a:pt x="136" y="132"/>
                  </a:lnTo>
                  <a:lnTo>
                    <a:pt x="133" y="139"/>
                  </a:lnTo>
                  <a:lnTo>
                    <a:pt x="127" y="142"/>
                  </a:lnTo>
                  <a:lnTo>
                    <a:pt x="124" y="146"/>
                  </a:lnTo>
                  <a:lnTo>
                    <a:pt x="131" y="146"/>
                  </a:lnTo>
                  <a:lnTo>
                    <a:pt x="116" y="151"/>
                  </a:lnTo>
                  <a:lnTo>
                    <a:pt x="122" y="156"/>
                  </a:lnTo>
                  <a:lnTo>
                    <a:pt x="136" y="152"/>
                  </a:lnTo>
                  <a:lnTo>
                    <a:pt x="143" y="142"/>
                  </a:lnTo>
                  <a:lnTo>
                    <a:pt x="144" y="150"/>
                  </a:lnTo>
                  <a:lnTo>
                    <a:pt x="151" y="148"/>
                  </a:lnTo>
                  <a:lnTo>
                    <a:pt x="149" y="150"/>
                  </a:lnTo>
                  <a:lnTo>
                    <a:pt x="160" y="152"/>
                  </a:lnTo>
                  <a:lnTo>
                    <a:pt x="149" y="155"/>
                  </a:lnTo>
                  <a:lnTo>
                    <a:pt x="160" y="155"/>
                  </a:lnTo>
                  <a:lnTo>
                    <a:pt x="151" y="158"/>
                  </a:lnTo>
                  <a:lnTo>
                    <a:pt x="157" y="157"/>
                  </a:lnTo>
                  <a:lnTo>
                    <a:pt x="154" y="158"/>
                  </a:lnTo>
                  <a:lnTo>
                    <a:pt x="162" y="162"/>
                  </a:lnTo>
                  <a:lnTo>
                    <a:pt x="155" y="161"/>
                  </a:lnTo>
                  <a:lnTo>
                    <a:pt x="163" y="164"/>
                  </a:lnTo>
                  <a:lnTo>
                    <a:pt x="162" y="164"/>
                  </a:lnTo>
                  <a:lnTo>
                    <a:pt x="162" y="168"/>
                  </a:lnTo>
                  <a:lnTo>
                    <a:pt x="163" y="170"/>
                  </a:lnTo>
                  <a:lnTo>
                    <a:pt x="127" y="164"/>
                  </a:lnTo>
                  <a:lnTo>
                    <a:pt x="125" y="169"/>
                  </a:lnTo>
                  <a:lnTo>
                    <a:pt x="163" y="178"/>
                  </a:lnTo>
                  <a:lnTo>
                    <a:pt x="157" y="181"/>
                  </a:lnTo>
                  <a:lnTo>
                    <a:pt x="158" y="184"/>
                  </a:lnTo>
                  <a:lnTo>
                    <a:pt x="154" y="186"/>
                  </a:lnTo>
                  <a:lnTo>
                    <a:pt x="156" y="188"/>
                  </a:lnTo>
                  <a:lnTo>
                    <a:pt x="160" y="190"/>
                  </a:lnTo>
                  <a:lnTo>
                    <a:pt x="160" y="192"/>
                  </a:lnTo>
                  <a:lnTo>
                    <a:pt x="154" y="190"/>
                  </a:lnTo>
                  <a:lnTo>
                    <a:pt x="148" y="193"/>
                  </a:lnTo>
                  <a:lnTo>
                    <a:pt x="152" y="194"/>
                  </a:lnTo>
                  <a:lnTo>
                    <a:pt x="122" y="202"/>
                  </a:lnTo>
                  <a:lnTo>
                    <a:pt x="125" y="204"/>
                  </a:lnTo>
                  <a:lnTo>
                    <a:pt x="143" y="202"/>
                  </a:lnTo>
                  <a:lnTo>
                    <a:pt x="149" y="199"/>
                  </a:lnTo>
                  <a:lnTo>
                    <a:pt x="144" y="204"/>
                  </a:lnTo>
                  <a:lnTo>
                    <a:pt x="149" y="208"/>
                  </a:lnTo>
                  <a:lnTo>
                    <a:pt x="125" y="204"/>
                  </a:lnTo>
                  <a:lnTo>
                    <a:pt x="120" y="204"/>
                  </a:lnTo>
                  <a:lnTo>
                    <a:pt x="130" y="208"/>
                  </a:lnTo>
                  <a:lnTo>
                    <a:pt x="118" y="206"/>
                  </a:lnTo>
                  <a:lnTo>
                    <a:pt x="109" y="212"/>
                  </a:lnTo>
                  <a:lnTo>
                    <a:pt x="132" y="209"/>
                  </a:lnTo>
                  <a:lnTo>
                    <a:pt x="130" y="209"/>
                  </a:lnTo>
                  <a:lnTo>
                    <a:pt x="137" y="210"/>
                  </a:lnTo>
                  <a:lnTo>
                    <a:pt x="143" y="209"/>
                  </a:lnTo>
                  <a:lnTo>
                    <a:pt x="148" y="209"/>
                  </a:lnTo>
                  <a:lnTo>
                    <a:pt x="142" y="211"/>
                  </a:lnTo>
                  <a:lnTo>
                    <a:pt x="150" y="211"/>
                  </a:lnTo>
                  <a:lnTo>
                    <a:pt x="145" y="212"/>
                  </a:lnTo>
                  <a:lnTo>
                    <a:pt x="148" y="215"/>
                  </a:lnTo>
                  <a:lnTo>
                    <a:pt x="126" y="211"/>
                  </a:lnTo>
                  <a:lnTo>
                    <a:pt x="106" y="217"/>
                  </a:lnTo>
                  <a:lnTo>
                    <a:pt x="133" y="217"/>
                  </a:lnTo>
                  <a:lnTo>
                    <a:pt x="140" y="220"/>
                  </a:lnTo>
                  <a:lnTo>
                    <a:pt x="133" y="218"/>
                  </a:lnTo>
                  <a:lnTo>
                    <a:pt x="104" y="220"/>
                  </a:lnTo>
                  <a:lnTo>
                    <a:pt x="108" y="222"/>
                  </a:lnTo>
                  <a:lnTo>
                    <a:pt x="119" y="223"/>
                  </a:lnTo>
                  <a:lnTo>
                    <a:pt x="113" y="226"/>
                  </a:lnTo>
                  <a:lnTo>
                    <a:pt x="112" y="227"/>
                  </a:lnTo>
                  <a:lnTo>
                    <a:pt x="108" y="227"/>
                  </a:lnTo>
                  <a:lnTo>
                    <a:pt x="115" y="229"/>
                  </a:lnTo>
                  <a:lnTo>
                    <a:pt x="104" y="230"/>
                  </a:lnTo>
                  <a:lnTo>
                    <a:pt x="102" y="234"/>
                  </a:lnTo>
                  <a:lnTo>
                    <a:pt x="124" y="228"/>
                  </a:lnTo>
                  <a:lnTo>
                    <a:pt x="145" y="222"/>
                  </a:lnTo>
                  <a:lnTo>
                    <a:pt x="139" y="224"/>
                  </a:lnTo>
                  <a:lnTo>
                    <a:pt x="102" y="238"/>
                  </a:lnTo>
                  <a:lnTo>
                    <a:pt x="107" y="238"/>
                  </a:lnTo>
                  <a:lnTo>
                    <a:pt x="102" y="239"/>
                  </a:lnTo>
                  <a:lnTo>
                    <a:pt x="121" y="236"/>
                  </a:lnTo>
                  <a:lnTo>
                    <a:pt x="104" y="241"/>
                  </a:lnTo>
                  <a:lnTo>
                    <a:pt x="106" y="244"/>
                  </a:lnTo>
                  <a:lnTo>
                    <a:pt x="108" y="245"/>
                  </a:lnTo>
                  <a:lnTo>
                    <a:pt x="116" y="245"/>
                  </a:lnTo>
                  <a:lnTo>
                    <a:pt x="131" y="2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6" name="Freeform 415"/>
            <p:cNvSpPr>
              <a:spLocks/>
            </p:cNvSpPr>
            <p:nvPr/>
          </p:nvSpPr>
          <p:spPr bwMode="auto">
            <a:xfrm>
              <a:off x="1838" y="1343"/>
              <a:ext cx="35" cy="18"/>
            </a:xfrm>
            <a:custGeom>
              <a:avLst/>
              <a:gdLst/>
              <a:ahLst/>
              <a:cxnLst>
                <a:cxn ang="0">
                  <a:pos x="31" y="10"/>
                </a:cxn>
                <a:cxn ang="0">
                  <a:pos x="7" y="0"/>
                </a:cxn>
                <a:cxn ang="0">
                  <a:pos x="0" y="4"/>
                </a:cxn>
                <a:cxn ang="0">
                  <a:pos x="1" y="4"/>
                </a:cxn>
                <a:cxn ang="0">
                  <a:pos x="0" y="8"/>
                </a:cxn>
                <a:cxn ang="0">
                  <a:pos x="2" y="10"/>
                </a:cxn>
                <a:cxn ang="0">
                  <a:pos x="8" y="13"/>
                </a:cxn>
                <a:cxn ang="0">
                  <a:pos x="5" y="15"/>
                </a:cxn>
                <a:cxn ang="0">
                  <a:pos x="31" y="10"/>
                </a:cxn>
              </a:cxnLst>
              <a:rect l="0" t="0" r="r" b="b"/>
              <a:pathLst>
                <a:path w="31" h="15">
                  <a:moveTo>
                    <a:pt x="31" y="10"/>
                  </a:moveTo>
                  <a:lnTo>
                    <a:pt x="7" y="0"/>
                  </a:lnTo>
                  <a:lnTo>
                    <a:pt x="0" y="4"/>
                  </a:lnTo>
                  <a:lnTo>
                    <a:pt x="1" y="4"/>
                  </a:lnTo>
                  <a:lnTo>
                    <a:pt x="0" y="8"/>
                  </a:lnTo>
                  <a:lnTo>
                    <a:pt x="2" y="10"/>
                  </a:lnTo>
                  <a:lnTo>
                    <a:pt x="8" y="13"/>
                  </a:lnTo>
                  <a:lnTo>
                    <a:pt x="5" y="15"/>
                  </a:lnTo>
                  <a:lnTo>
                    <a:pt x="31"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7" name="Freeform 416"/>
            <p:cNvSpPr>
              <a:spLocks/>
            </p:cNvSpPr>
            <p:nvPr/>
          </p:nvSpPr>
          <p:spPr bwMode="auto">
            <a:xfrm>
              <a:off x="2207" y="1408"/>
              <a:ext cx="142" cy="53"/>
            </a:xfrm>
            <a:custGeom>
              <a:avLst/>
              <a:gdLst/>
              <a:ahLst/>
              <a:cxnLst>
                <a:cxn ang="0">
                  <a:pos x="99" y="0"/>
                </a:cxn>
                <a:cxn ang="0">
                  <a:pos x="96" y="4"/>
                </a:cxn>
                <a:cxn ang="0">
                  <a:pos x="86" y="8"/>
                </a:cxn>
                <a:cxn ang="0">
                  <a:pos x="77" y="5"/>
                </a:cxn>
                <a:cxn ang="0">
                  <a:pos x="76" y="12"/>
                </a:cxn>
                <a:cxn ang="0">
                  <a:pos x="75" y="10"/>
                </a:cxn>
                <a:cxn ang="0">
                  <a:pos x="64" y="6"/>
                </a:cxn>
                <a:cxn ang="0">
                  <a:pos x="60" y="10"/>
                </a:cxn>
                <a:cxn ang="0">
                  <a:pos x="53" y="6"/>
                </a:cxn>
                <a:cxn ang="0">
                  <a:pos x="46" y="15"/>
                </a:cxn>
                <a:cxn ang="0">
                  <a:pos x="39" y="18"/>
                </a:cxn>
                <a:cxn ang="0">
                  <a:pos x="34" y="14"/>
                </a:cxn>
                <a:cxn ang="0">
                  <a:pos x="38" y="10"/>
                </a:cxn>
                <a:cxn ang="0">
                  <a:pos x="21" y="0"/>
                </a:cxn>
                <a:cxn ang="0">
                  <a:pos x="23" y="4"/>
                </a:cxn>
                <a:cxn ang="0">
                  <a:pos x="26" y="10"/>
                </a:cxn>
                <a:cxn ang="0">
                  <a:pos x="16" y="5"/>
                </a:cxn>
                <a:cxn ang="0">
                  <a:pos x="12" y="8"/>
                </a:cxn>
                <a:cxn ang="0">
                  <a:pos x="12" y="10"/>
                </a:cxn>
                <a:cxn ang="0">
                  <a:pos x="15" y="11"/>
                </a:cxn>
                <a:cxn ang="0">
                  <a:pos x="14" y="11"/>
                </a:cxn>
                <a:cxn ang="0">
                  <a:pos x="4" y="11"/>
                </a:cxn>
                <a:cxn ang="0">
                  <a:pos x="8" y="14"/>
                </a:cxn>
                <a:cxn ang="0">
                  <a:pos x="0" y="15"/>
                </a:cxn>
                <a:cxn ang="0">
                  <a:pos x="28" y="16"/>
                </a:cxn>
                <a:cxn ang="0">
                  <a:pos x="23" y="20"/>
                </a:cxn>
                <a:cxn ang="0">
                  <a:pos x="27" y="22"/>
                </a:cxn>
                <a:cxn ang="0">
                  <a:pos x="3" y="24"/>
                </a:cxn>
                <a:cxn ang="0">
                  <a:pos x="22" y="29"/>
                </a:cxn>
                <a:cxn ang="0">
                  <a:pos x="28" y="30"/>
                </a:cxn>
                <a:cxn ang="0">
                  <a:pos x="24" y="33"/>
                </a:cxn>
                <a:cxn ang="0">
                  <a:pos x="28" y="33"/>
                </a:cxn>
                <a:cxn ang="0">
                  <a:pos x="26" y="35"/>
                </a:cxn>
                <a:cxn ang="0">
                  <a:pos x="15" y="40"/>
                </a:cxn>
                <a:cxn ang="0">
                  <a:pos x="24" y="42"/>
                </a:cxn>
                <a:cxn ang="0">
                  <a:pos x="41" y="44"/>
                </a:cxn>
                <a:cxn ang="0">
                  <a:pos x="69" y="48"/>
                </a:cxn>
                <a:cxn ang="0">
                  <a:pos x="88" y="41"/>
                </a:cxn>
                <a:cxn ang="0">
                  <a:pos x="107" y="35"/>
                </a:cxn>
                <a:cxn ang="0">
                  <a:pos x="119" y="28"/>
                </a:cxn>
                <a:cxn ang="0">
                  <a:pos x="125" y="24"/>
                </a:cxn>
                <a:cxn ang="0">
                  <a:pos x="129" y="23"/>
                </a:cxn>
                <a:cxn ang="0">
                  <a:pos x="123" y="21"/>
                </a:cxn>
                <a:cxn ang="0">
                  <a:pos x="129" y="18"/>
                </a:cxn>
                <a:cxn ang="0">
                  <a:pos x="129" y="16"/>
                </a:cxn>
                <a:cxn ang="0">
                  <a:pos x="118" y="16"/>
                </a:cxn>
                <a:cxn ang="0">
                  <a:pos x="120" y="14"/>
                </a:cxn>
                <a:cxn ang="0">
                  <a:pos x="114" y="12"/>
                </a:cxn>
                <a:cxn ang="0">
                  <a:pos x="114" y="8"/>
                </a:cxn>
                <a:cxn ang="0">
                  <a:pos x="119" y="2"/>
                </a:cxn>
                <a:cxn ang="0">
                  <a:pos x="110" y="4"/>
                </a:cxn>
                <a:cxn ang="0">
                  <a:pos x="99" y="0"/>
                </a:cxn>
              </a:cxnLst>
              <a:rect l="0" t="0" r="r" b="b"/>
              <a:pathLst>
                <a:path w="129" h="48">
                  <a:moveTo>
                    <a:pt x="99" y="0"/>
                  </a:moveTo>
                  <a:lnTo>
                    <a:pt x="96" y="4"/>
                  </a:lnTo>
                  <a:lnTo>
                    <a:pt x="86" y="8"/>
                  </a:lnTo>
                  <a:lnTo>
                    <a:pt x="77" y="5"/>
                  </a:lnTo>
                  <a:lnTo>
                    <a:pt x="76" y="12"/>
                  </a:lnTo>
                  <a:lnTo>
                    <a:pt x="75" y="10"/>
                  </a:lnTo>
                  <a:lnTo>
                    <a:pt x="64" y="6"/>
                  </a:lnTo>
                  <a:lnTo>
                    <a:pt x="60" y="10"/>
                  </a:lnTo>
                  <a:lnTo>
                    <a:pt x="53" y="6"/>
                  </a:lnTo>
                  <a:lnTo>
                    <a:pt x="46" y="15"/>
                  </a:lnTo>
                  <a:lnTo>
                    <a:pt x="39" y="18"/>
                  </a:lnTo>
                  <a:lnTo>
                    <a:pt x="34" y="14"/>
                  </a:lnTo>
                  <a:lnTo>
                    <a:pt x="38" y="10"/>
                  </a:lnTo>
                  <a:lnTo>
                    <a:pt x="21" y="0"/>
                  </a:lnTo>
                  <a:lnTo>
                    <a:pt x="23" y="4"/>
                  </a:lnTo>
                  <a:lnTo>
                    <a:pt x="26" y="10"/>
                  </a:lnTo>
                  <a:lnTo>
                    <a:pt x="16" y="5"/>
                  </a:lnTo>
                  <a:lnTo>
                    <a:pt x="12" y="8"/>
                  </a:lnTo>
                  <a:lnTo>
                    <a:pt x="12" y="10"/>
                  </a:lnTo>
                  <a:lnTo>
                    <a:pt x="15" y="11"/>
                  </a:lnTo>
                  <a:lnTo>
                    <a:pt x="14" y="11"/>
                  </a:lnTo>
                  <a:lnTo>
                    <a:pt x="4" y="11"/>
                  </a:lnTo>
                  <a:lnTo>
                    <a:pt x="8" y="14"/>
                  </a:lnTo>
                  <a:lnTo>
                    <a:pt x="0" y="15"/>
                  </a:lnTo>
                  <a:lnTo>
                    <a:pt x="28" y="16"/>
                  </a:lnTo>
                  <a:lnTo>
                    <a:pt x="23" y="20"/>
                  </a:lnTo>
                  <a:lnTo>
                    <a:pt x="27" y="22"/>
                  </a:lnTo>
                  <a:lnTo>
                    <a:pt x="3" y="24"/>
                  </a:lnTo>
                  <a:lnTo>
                    <a:pt x="22" y="29"/>
                  </a:lnTo>
                  <a:lnTo>
                    <a:pt x="28" y="30"/>
                  </a:lnTo>
                  <a:lnTo>
                    <a:pt x="24" y="33"/>
                  </a:lnTo>
                  <a:lnTo>
                    <a:pt x="28" y="33"/>
                  </a:lnTo>
                  <a:lnTo>
                    <a:pt x="26" y="35"/>
                  </a:lnTo>
                  <a:lnTo>
                    <a:pt x="15" y="40"/>
                  </a:lnTo>
                  <a:lnTo>
                    <a:pt x="24" y="42"/>
                  </a:lnTo>
                  <a:lnTo>
                    <a:pt x="41" y="44"/>
                  </a:lnTo>
                  <a:lnTo>
                    <a:pt x="69" y="48"/>
                  </a:lnTo>
                  <a:lnTo>
                    <a:pt x="88" y="41"/>
                  </a:lnTo>
                  <a:lnTo>
                    <a:pt x="107" y="35"/>
                  </a:lnTo>
                  <a:lnTo>
                    <a:pt x="119" y="28"/>
                  </a:lnTo>
                  <a:lnTo>
                    <a:pt x="125" y="24"/>
                  </a:lnTo>
                  <a:lnTo>
                    <a:pt x="129" y="23"/>
                  </a:lnTo>
                  <a:lnTo>
                    <a:pt x="123" y="21"/>
                  </a:lnTo>
                  <a:lnTo>
                    <a:pt x="129" y="18"/>
                  </a:lnTo>
                  <a:lnTo>
                    <a:pt x="129" y="16"/>
                  </a:lnTo>
                  <a:lnTo>
                    <a:pt x="118" y="16"/>
                  </a:lnTo>
                  <a:lnTo>
                    <a:pt x="120" y="14"/>
                  </a:lnTo>
                  <a:lnTo>
                    <a:pt x="114" y="12"/>
                  </a:lnTo>
                  <a:lnTo>
                    <a:pt x="114" y="8"/>
                  </a:lnTo>
                  <a:lnTo>
                    <a:pt x="119" y="2"/>
                  </a:lnTo>
                  <a:lnTo>
                    <a:pt x="110" y="4"/>
                  </a:lnTo>
                  <a:lnTo>
                    <a:pt x="9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8" name="Freeform 417"/>
            <p:cNvSpPr>
              <a:spLocks/>
            </p:cNvSpPr>
            <p:nvPr/>
          </p:nvSpPr>
          <p:spPr bwMode="auto">
            <a:xfrm>
              <a:off x="2376" y="1610"/>
              <a:ext cx="62" cy="71"/>
            </a:xfrm>
            <a:custGeom>
              <a:avLst/>
              <a:gdLst/>
              <a:ahLst/>
              <a:cxnLst>
                <a:cxn ang="0">
                  <a:pos x="55" y="47"/>
                </a:cxn>
                <a:cxn ang="0">
                  <a:pos x="55" y="33"/>
                </a:cxn>
                <a:cxn ang="0">
                  <a:pos x="55" y="20"/>
                </a:cxn>
                <a:cxn ang="0">
                  <a:pos x="48" y="17"/>
                </a:cxn>
                <a:cxn ang="0">
                  <a:pos x="44" y="18"/>
                </a:cxn>
                <a:cxn ang="0">
                  <a:pos x="33" y="15"/>
                </a:cxn>
                <a:cxn ang="0">
                  <a:pos x="43" y="3"/>
                </a:cxn>
                <a:cxn ang="0">
                  <a:pos x="45" y="0"/>
                </a:cxn>
                <a:cxn ang="0">
                  <a:pos x="39" y="2"/>
                </a:cxn>
                <a:cxn ang="0">
                  <a:pos x="35" y="2"/>
                </a:cxn>
                <a:cxn ang="0">
                  <a:pos x="24" y="8"/>
                </a:cxn>
                <a:cxn ang="0">
                  <a:pos x="29" y="11"/>
                </a:cxn>
                <a:cxn ang="0">
                  <a:pos x="24" y="17"/>
                </a:cxn>
                <a:cxn ang="0">
                  <a:pos x="7" y="18"/>
                </a:cxn>
                <a:cxn ang="0">
                  <a:pos x="8" y="24"/>
                </a:cxn>
                <a:cxn ang="0">
                  <a:pos x="2" y="30"/>
                </a:cxn>
                <a:cxn ang="0">
                  <a:pos x="18" y="35"/>
                </a:cxn>
                <a:cxn ang="0">
                  <a:pos x="7" y="45"/>
                </a:cxn>
                <a:cxn ang="0">
                  <a:pos x="18" y="43"/>
                </a:cxn>
                <a:cxn ang="0">
                  <a:pos x="6" y="49"/>
                </a:cxn>
                <a:cxn ang="0">
                  <a:pos x="0" y="53"/>
                </a:cxn>
                <a:cxn ang="0">
                  <a:pos x="3" y="54"/>
                </a:cxn>
                <a:cxn ang="0">
                  <a:pos x="0" y="57"/>
                </a:cxn>
                <a:cxn ang="0">
                  <a:pos x="6" y="60"/>
                </a:cxn>
                <a:cxn ang="0">
                  <a:pos x="3" y="61"/>
                </a:cxn>
                <a:cxn ang="0">
                  <a:pos x="8" y="61"/>
                </a:cxn>
                <a:cxn ang="0">
                  <a:pos x="8" y="63"/>
                </a:cxn>
                <a:cxn ang="0">
                  <a:pos x="23" y="62"/>
                </a:cxn>
                <a:cxn ang="0">
                  <a:pos x="36" y="55"/>
                </a:cxn>
                <a:cxn ang="0">
                  <a:pos x="50" y="54"/>
                </a:cxn>
                <a:cxn ang="0">
                  <a:pos x="55" y="47"/>
                </a:cxn>
              </a:cxnLst>
              <a:rect l="0" t="0" r="r" b="b"/>
              <a:pathLst>
                <a:path w="55" h="63">
                  <a:moveTo>
                    <a:pt x="55" y="47"/>
                  </a:moveTo>
                  <a:lnTo>
                    <a:pt x="55" y="33"/>
                  </a:lnTo>
                  <a:lnTo>
                    <a:pt x="55" y="20"/>
                  </a:lnTo>
                  <a:lnTo>
                    <a:pt x="48" y="17"/>
                  </a:lnTo>
                  <a:lnTo>
                    <a:pt x="44" y="18"/>
                  </a:lnTo>
                  <a:lnTo>
                    <a:pt x="33" y="15"/>
                  </a:lnTo>
                  <a:lnTo>
                    <a:pt x="43" y="3"/>
                  </a:lnTo>
                  <a:lnTo>
                    <a:pt x="45" y="0"/>
                  </a:lnTo>
                  <a:lnTo>
                    <a:pt x="39" y="2"/>
                  </a:lnTo>
                  <a:lnTo>
                    <a:pt x="35" y="2"/>
                  </a:lnTo>
                  <a:lnTo>
                    <a:pt x="24" y="8"/>
                  </a:lnTo>
                  <a:lnTo>
                    <a:pt x="29" y="11"/>
                  </a:lnTo>
                  <a:lnTo>
                    <a:pt x="24" y="17"/>
                  </a:lnTo>
                  <a:lnTo>
                    <a:pt x="7" y="18"/>
                  </a:lnTo>
                  <a:lnTo>
                    <a:pt x="8" y="24"/>
                  </a:lnTo>
                  <a:lnTo>
                    <a:pt x="2" y="30"/>
                  </a:lnTo>
                  <a:lnTo>
                    <a:pt x="18" y="35"/>
                  </a:lnTo>
                  <a:lnTo>
                    <a:pt x="7" y="45"/>
                  </a:lnTo>
                  <a:lnTo>
                    <a:pt x="18" y="43"/>
                  </a:lnTo>
                  <a:lnTo>
                    <a:pt x="6" y="49"/>
                  </a:lnTo>
                  <a:lnTo>
                    <a:pt x="0" y="53"/>
                  </a:lnTo>
                  <a:lnTo>
                    <a:pt x="3" y="54"/>
                  </a:lnTo>
                  <a:lnTo>
                    <a:pt x="0" y="57"/>
                  </a:lnTo>
                  <a:lnTo>
                    <a:pt x="6" y="60"/>
                  </a:lnTo>
                  <a:lnTo>
                    <a:pt x="3" y="61"/>
                  </a:lnTo>
                  <a:lnTo>
                    <a:pt x="8" y="61"/>
                  </a:lnTo>
                  <a:lnTo>
                    <a:pt x="8" y="63"/>
                  </a:lnTo>
                  <a:lnTo>
                    <a:pt x="23" y="62"/>
                  </a:lnTo>
                  <a:lnTo>
                    <a:pt x="36" y="55"/>
                  </a:lnTo>
                  <a:lnTo>
                    <a:pt x="50" y="54"/>
                  </a:lnTo>
                  <a:lnTo>
                    <a:pt x="55" y="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9" name="Freeform 418"/>
            <p:cNvSpPr>
              <a:spLocks/>
            </p:cNvSpPr>
            <p:nvPr/>
          </p:nvSpPr>
          <p:spPr bwMode="auto">
            <a:xfrm>
              <a:off x="2445" y="1550"/>
              <a:ext cx="113" cy="160"/>
            </a:xfrm>
            <a:custGeom>
              <a:avLst/>
              <a:gdLst/>
              <a:ahLst/>
              <a:cxnLst>
                <a:cxn ang="0">
                  <a:pos x="8" y="43"/>
                </a:cxn>
                <a:cxn ang="0">
                  <a:pos x="16" y="44"/>
                </a:cxn>
                <a:cxn ang="0">
                  <a:pos x="12" y="57"/>
                </a:cxn>
                <a:cxn ang="0">
                  <a:pos x="20" y="63"/>
                </a:cxn>
                <a:cxn ang="0">
                  <a:pos x="31" y="66"/>
                </a:cxn>
                <a:cxn ang="0">
                  <a:pos x="38" y="87"/>
                </a:cxn>
                <a:cxn ang="0">
                  <a:pos x="16" y="96"/>
                </a:cxn>
                <a:cxn ang="0">
                  <a:pos x="23" y="102"/>
                </a:cxn>
                <a:cxn ang="0">
                  <a:pos x="8" y="115"/>
                </a:cxn>
                <a:cxn ang="0">
                  <a:pos x="29" y="121"/>
                </a:cxn>
                <a:cxn ang="0">
                  <a:pos x="38" y="122"/>
                </a:cxn>
                <a:cxn ang="0">
                  <a:pos x="13" y="134"/>
                </a:cxn>
                <a:cxn ang="0">
                  <a:pos x="5" y="144"/>
                </a:cxn>
                <a:cxn ang="0">
                  <a:pos x="25" y="141"/>
                </a:cxn>
                <a:cxn ang="0">
                  <a:pos x="42" y="134"/>
                </a:cxn>
                <a:cxn ang="0">
                  <a:pos x="82" y="133"/>
                </a:cxn>
                <a:cxn ang="0">
                  <a:pos x="85" y="120"/>
                </a:cxn>
                <a:cxn ang="0">
                  <a:pos x="102" y="103"/>
                </a:cxn>
                <a:cxn ang="0">
                  <a:pos x="82" y="97"/>
                </a:cxn>
                <a:cxn ang="0">
                  <a:pos x="72" y="82"/>
                </a:cxn>
                <a:cxn ang="0">
                  <a:pos x="76" y="76"/>
                </a:cxn>
                <a:cxn ang="0">
                  <a:pos x="50" y="45"/>
                </a:cxn>
                <a:cxn ang="0">
                  <a:pos x="43" y="39"/>
                </a:cxn>
                <a:cxn ang="0">
                  <a:pos x="41" y="36"/>
                </a:cxn>
                <a:cxn ang="0">
                  <a:pos x="29" y="16"/>
                </a:cxn>
                <a:cxn ang="0">
                  <a:pos x="28" y="13"/>
                </a:cxn>
                <a:cxn ang="0">
                  <a:pos x="17" y="0"/>
                </a:cxn>
                <a:cxn ang="0">
                  <a:pos x="11" y="10"/>
                </a:cxn>
                <a:cxn ang="0">
                  <a:pos x="5" y="18"/>
                </a:cxn>
                <a:cxn ang="0">
                  <a:pos x="5" y="22"/>
                </a:cxn>
                <a:cxn ang="0">
                  <a:pos x="2" y="32"/>
                </a:cxn>
                <a:cxn ang="0">
                  <a:pos x="10" y="31"/>
                </a:cxn>
                <a:cxn ang="0">
                  <a:pos x="1" y="55"/>
                </a:cxn>
              </a:cxnLst>
              <a:rect l="0" t="0" r="r" b="b"/>
              <a:pathLst>
                <a:path w="102" h="144">
                  <a:moveTo>
                    <a:pt x="1" y="55"/>
                  </a:moveTo>
                  <a:lnTo>
                    <a:pt x="8" y="43"/>
                  </a:lnTo>
                  <a:lnTo>
                    <a:pt x="13" y="43"/>
                  </a:lnTo>
                  <a:lnTo>
                    <a:pt x="16" y="44"/>
                  </a:lnTo>
                  <a:lnTo>
                    <a:pt x="14" y="49"/>
                  </a:lnTo>
                  <a:lnTo>
                    <a:pt x="12" y="57"/>
                  </a:lnTo>
                  <a:lnTo>
                    <a:pt x="13" y="66"/>
                  </a:lnTo>
                  <a:lnTo>
                    <a:pt x="20" y="63"/>
                  </a:lnTo>
                  <a:lnTo>
                    <a:pt x="35" y="60"/>
                  </a:lnTo>
                  <a:lnTo>
                    <a:pt x="31" y="66"/>
                  </a:lnTo>
                  <a:lnTo>
                    <a:pt x="37" y="73"/>
                  </a:lnTo>
                  <a:lnTo>
                    <a:pt x="38" y="87"/>
                  </a:lnTo>
                  <a:lnTo>
                    <a:pt x="34" y="88"/>
                  </a:lnTo>
                  <a:lnTo>
                    <a:pt x="16" y="96"/>
                  </a:lnTo>
                  <a:lnTo>
                    <a:pt x="19" y="96"/>
                  </a:lnTo>
                  <a:lnTo>
                    <a:pt x="23" y="102"/>
                  </a:lnTo>
                  <a:lnTo>
                    <a:pt x="11" y="111"/>
                  </a:lnTo>
                  <a:lnTo>
                    <a:pt x="8" y="115"/>
                  </a:lnTo>
                  <a:lnTo>
                    <a:pt x="23" y="117"/>
                  </a:lnTo>
                  <a:lnTo>
                    <a:pt x="29" y="121"/>
                  </a:lnTo>
                  <a:lnTo>
                    <a:pt x="44" y="116"/>
                  </a:lnTo>
                  <a:lnTo>
                    <a:pt x="38" y="122"/>
                  </a:lnTo>
                  <a:lnTo>
                    <a:pt x="26" y="124"/>
                  </a:lnTo>
                  <a:lnTo>
                    <a:pt x="13" y="134"/>
                  </a:lnTo>
                  <a:lnTo>
                    <a:pt x="0" y="142"/>
                  </a:lnTo>
                  <a:lnTo>
                    <a:pt x="5" y="144"/>
                  </a:lnTo>
                  <a:lnTo>
                    <a:pt x="8" y="144"/>
                  </a:lnTo>
                  <a:lnTo>
                    <a:pt x="25" y="141"/>
                  </a:lnTo>
                  <a:lnTo>
                    <a:pt x="30" y="136"/>
                  </a:lnTo>
                  <a:lnTo>
                    <a:pt x="42" y="134"/>
                  </a:lnTo>
                  <a:lnTo>
                    <a:pt x="58" y="133"/>
                  </a:lnTo>
                  <a:lnTo>
                    <a:pt x="82" y="133"/>
                  </a:lnTo>
                  <a:lnTo>
                    <a:pt x="97" y="123"/>
                  </a:lnTo>
                  <a:lnTo>
                    <a:pt x="85" y="120"/>
                  </a:lnTo>
                  <a:lnTo>
                    <a:pt x="90" y="116"/>
                  </a:lnTo>
                  <a:lnTo>
                    <a:pt x="102" y="103"/>
                  </a:lnTo>
                  <a:lnTo>
                    <a:pt x="97" y="97"/>
                  </a:lnTo>
                  <a:lnTo>
                    <a:pt x="82" y="97"/>
                  </a:lnTo>
                  <a:lnTo>
                    <a:pt x="83" y="92"/>
                  </a:lnTo>
                  <a:lnTo>
                    <a:pt x="72" y="82"/>
                  </a:lnTo>
                  <a:lnTo>
                    <a:pt x="77" y="84"/>
                  </a:lnTo>
                  <a:lnTo>
                    <a:pt x="76" y="76"/>
                  </a:lnTo>
                  <a:lnTo>
                    <a:pt x="65" y="67"/>
                  </a:lnTo>
                  <a:lnTo>
                    <a:pt x="50" y="45"/>
                  </a:lnTo>
                  <a:lnTo>
                    <a:pt x="32" y="43"/>
                  </a:lnTo>
                  <a:lnTo>
                    <a:pt x="43" y="39"/>
                  </a:lnTo>
                  <a:lnTo>
                    <a:pt x="36" y="37"/>
                  </a:lnTo>
                  <a:lnTo>
                    <a:pt x="41" y="36"/>
                  </a:lnTo>
                  <a:lnTo>
                    <a:pt x="55" y="16"/>
                  </a:lnTo>
                  <a:lnTo>
                    <a:pt x="29" y="16"/>
                  </a:lnTo>
                  <a:lnTo>
                    <a:pt x="23" y="15"/>
                  </a:lnTo>
                  <a:lnTo>
                    <a:pt x="28" y="13"/>
                  </a:lnTo>
                  <a:lnTo>
                    <a:pt x="38" y="1"/>
                  </a:lnTo>
                  <a:lnTo>
                    <a:pt x="17" y="0"/>
                  </a:lnTo>
                  <a:lnTo>
                    <a:pt x="12" y="4"/>
                  </a:lnTo>
                  <a:lnTo>
                    <a:pt x="11" y="10"/>
                  </a:lnTo>
                  <a:lnTo>
                    <a:pt x="6" y="12"/>
                  </a:lnTo>
                  <a:lnTo>
                    <a:pt x="5" y="18"/>
                  </a:lnTo>
                  <a:lnTo>
                    <a:pt x="5" y="20"/>
                  </a:lnTo>
                  <a:lnTo>
                    <a:pt x="5" y="22"/>
                  </a:lnTo>
                  <a:lnTo>
                    <a:pt x="0" y="30"/>
                  </a:lnTo>
                  <a:lnTo>
                    <a:pt x="2" y="32"/>
                  </a:lnTo>
                  <a:lnTo>
                    <a:pt x="0" y="33"/>
                  </a:lnTo>
                  <a:lnTo>
                    <a:pt x="10" y="31"/>
                  </a:lnTo>
                  <a:lnTo>
                    <a:pt x="8" y="32"/>
                  </a:lnTo>
                  <a:lnTo>
                    <a:pt x="1" y="5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0" name="Freeform 419"/>
            <p:cNvSpPr>
              <a:spLocks/>
            </p:cNvSpPr>
            <p:nvPr/>
          </p:nvSpPr>
          <p:spPr bwMode="auto">
            <a:xfrm>
              <a:off x="2413" y="1612"/>
              <a:ext cx="36" cy="22"/>
            </a:xfrm>
            <a:custGeom>
              <a:avLst/>
              <a:gdLst/>
              <a:ahLst/>
              <a:cxnLst>
                <a:cxn ang="0">
                  <a:pos x="32" y="13"/>
                </a:cxn>
                <a:cxn ang="0">
                  <a:pos x="29" y="10"/>
                </a:cxn>
                <a:cxn ang="0">
                  <a:pos x="21" y="0"/>
                </a:cxn>
                <a:cxn ang="0">
                  <a:pos x="10" y="2"/>
                </a:cxn>
                <a:cxn ang="0">
                  <a:pos x="0" y="14"/>
                </a:cxn>
                <a:cxn ang="0">
                  <a:pos x="11" y="17"/>
                </a:cxn>
                <a:cxn ang="0">
                  <a:pos x="15" y="16"/>
                </a:cxn>
                <a:cxn ang="0">
                  <a:pos x="22" y="19"/>
                </a:cxn>
                <a:cxn ang="0">
                  <a:pos x="32" y="13"/>
                </a:cxn>
              </a:cxnLst>
              <a:rect l="0" t="0" r="r" b="b"/>
              <a:pathLst>
                <a:path w="32" h="19">
                  <a:moveTo>
                    <a:pt x="32" y="13"/>
                  </a:moveTo>
                  <a:lnTo>
                    <a:pt x="29" y="10"/>
                  </a:lnTo>
                  <a:lnTo>
                    <a:pt x="21" y="0"/>
                  </a:lnTo>
                  <a:lnTo>
                    <a:pt x="10" y="2"/>
                  </a:lnTo>
                  <a:lnTo>
                    <a:pt x="0" y="14"/>
                  </a:lnTo>
                  <a:lnTo>
                    <a:pt x="11" y="17"/>
                  </a:lnTo>
                  <a:lnTo>
                    <a:pt x="15" y="16"/>
                  </a:lnTo>
                  <a:lnTo>
                    <a:pt x="22" y="19"/>
                  </a:lnTo>
                  <a:lnTo>
                    <a:pt x="32"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1" name="Freeform 420"/>
            <p:cNvSpPr>
              <a:spLocks/>
            </p:cNvSpPr>
            <p:nvPr/>
          </p:nvSpPr>
          <p:spPr bwMode="auto">
            <a:xfrm>
              <a:off x="2436" y="1568"/>
              <a:ext cx="13" cy="8"/>
            </a:xfrm>
            <a:custGeom>
              <a:avLst/>
              <a:gdLst/>
              <a:ahLst/>
              <a:cxnLst>
                <a:cxn ang="0">
                  <a:pos x="7" y="2"/>
                </a:cxn>
                <a:cxn ang="0">
                  <a:pos x="3" y="0"/>
                </a:cxn>
                <a:cxn ang="0">
                  <a:pos x="0" y="4"/>
                </a:cxn>
                <a:cxn ang="0">
                  <a:pos x="10" y="9"/>
                </a:cxn>
                <a:cxn ang="0">
                  <a:pos x="13" y="6"/>
                </a:cxn>
                <a:cxn ang="0">
                  <a:pos x="7" y="2"/>
                </a:cxn>
              </a:cxnLst>
              <a:rect l="0" t="0" r="r" b="b"/>
              <a:pathLst>
                <a:path w="13" h="9">
                  <a:moveTo>
                    <a:pt x="7" y="2"/>
                  </a:moveTo>
                  <a:lnTo>
                    <a:pt x="3" y="0"/>
                  </a:lnTo>
                  <a:lnTo>
                    <a:pt x="0" y="4"/>
                  </a:lnTo>
                  <a:lnTo>
                    <a:pt x="10" y="9"/>
                  </a:lnTo>
                  <a:lnTo>
                    <a:pt x="13" y="6"/>
                  </a:lnTo>
                  <a:lnTo>
                    <a:pt x="7"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2" name="Freeform 421"/>
            <p:cNvSpPr>
              <a:spLocks/>
            </p:cNvSpPr>
            <p:nvPr/>
          </p:nvSpPr>
          <p:spPr bwMode="auto">
            <a:xfrm>
              <a:off x="2431" y="1554"/>
              <a:ext cx="11" cy="9"/>
            </a:xfrm>
            <a:custGeom>
              <a:avLst/>
              <a:gdLst/>
              <a:ahLst/>
              <a:cxnLst>
                <a:cxn ang="0">
                  <a:pos x="11" y="3"/>
                </a:cxn>
                <a:cxn ang="0">
                  <a:pos x="11" y="0"/>
                </a:cxn>
                <a:cxn ang="0">
                  <a:pos x="2" y="4"/>
                </a:cxn>
                <a:cxn ang="0">
                  <a:pos x="0" y="9"/>
                </a:cxn>
                <a:cxn ang="0">
                  <a:pos x="11" y="3"/>
                </a:cxn>
              </a:cxnLst>
              <a:rect l="0" t="0" r="r" b="b"/>
              <a:pathLst>
                <a:path w="11" h="9">
                  <a:moveTo>
                    <a:pt x="11" y="3"/>
                  </a:moveTo>
                  <a:lnTo>
                    <a:pt x="11" y="0"/>
                  </a:lnTo>
                  <a:lnTo>
                    <a:pt x="2" y="4"/>
                  </a:lnTo>
                  <a:lnTo>
                    <a:pt x="0" y="9"/>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3" name="Freeform 422"/>
            <p:cNvSpPr>
              <a:spLocks/>
            </p:cNvSpPr>
            <p:nvPr/>
          </p:nvSpPr>
          <p:spPr bwMode="auto">
            <a:xfrm>
              <a:off x="2511" y="1514"/>
              <a:ext cx="5" cy="9"/>
            </a:xfrm>
            <a:custGeom>
              <a:avLst/>
              <a:gdLst/>
              <a:ahLst/>
              <a:cxnLst>
                <a:cxn ang="0">
                  <a:pos x="1" y="0"/>
                </a:cxn>
                <a:cxn ang="0">
                  <a:pos x="1" y="3"/>
                </a:cxn>
                <a:cxn ang="0">
                  <a:pos x="0" y="5"/>
                </a:cxn>
                <a:cxn ang="0">
                  <a:pos x="1" y="8"/>
                </a:cxn>
                <a:cxn ang="0">
                  <a:pos x="5" y="0"/>
                </a:cxn>
                <a:cxn ang="0">
                  <a:pos x="1" y="0"/>
                </a:cxn>
              </a:cxnLst>
              <a:rect l="0" t="0" r="r" b="b"/>
              <a:pathLst>
                <a:path w="5" h="8">
                  <a:moveTo>
                    <a:pt x="1" y="0"/>
                  </a:moveTo>
                  <a:lnTo>
                    <a:pt x="1" y="3"/>
                  </a:lnTo>
                  <a:lnTo>
                    <a:pt x="0" y="5"/>
                  </a:lnTo>
                  <a:lnTo>
                    <a:pt x="1" y="8"/>
                  </a:lnTo>
                  <a:lnTo>
                    <a:pt x="5"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4" name="Freeform 423"/>
            <p:cNvSpPr>
              <a:spLocks/>
            </p:cNvSpPr>
            <p:nvPr/>
          </p:nvSpPr>
          <p:spPr bwMode="auto">
            <a:xfrm>
              <a:off x="2442" y="1588"/>
              <a:ext cx="7" cy="4"/>
            </a:xfrm>
            <a:custGeom>
              <a:avLst/>
              <a:gdLst/>
              <a:ahLst/>
              <a:cxnLst>
                <a:cxn ang="0">
                  <a:pos x="0" y="4"/>
                </a:cxn>
                <a:cxn ang="0">
                  <a:pos x="7" y="2"/>
                </a:cxn>
                <a:cxn ang="0">
                  <a:pos x="0" y="0"/>
                </a:cxn>
                <a:cxn ang="0">
                  <a:pos x="0" y="4"/>
                </a:cxn>
              </a:cxnLst>
              <a:rect l="0" t="0" r="r" b="b"/>
              <a:pathLst>
                <a:path w="7" h="4">
                  <a:moveTo>
                    <a:pt x="0" y="4"/>
                  </a:moveTo>
                  <a:lnTo>
                    <a:pt x="7" y="2"/>
                  </a:lnTo>
                  <a:lnTo>
                    <a:pt x="0" y="0"/>
                  </a:lnTo>
                  <a:lnTo>
                    <a:pt x="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5" name="Freeform 424"/>
            <p:cNvSpPr>
              <a:spLocks/>
            </p:cNvSpPr>
            <p:nvPr/>
          </p:nvSpPr>
          <p:spPr bwMode="auto">
            <a:xfrm>
              <a:off x="2465" y="1648"/>
              <a:ext cx="4" cy="2"/>
            </a:xfrm>
            <a:custGeom>
              <a:avLst/>
              <a:gdLst/>
              <a:ahLst/>
              <a:cxnLst>
                <a:cxn ang="0">
                  <a:pos x="5" y="3"/>
                </a:cxn>
                <a:cxn ang="0">
                  <a:pos x="1" y="0"/>
                </a:cxn>
                <a:cxn ang="0">
                  <a:pos x="0" y="4"/>
                </a:cxn>
                <a:cxn ang="0">
                  <a:pos x="5" y="3"/>
                </a:cxn>
              </a:cxnLst>
              <a:rect l="0" t="0" r="r" b="b"/>
              <a:pathLst>
                <a:path w="5" h="4">
                  <a:moveTo>
                    <a:pt x="5" y="3"/>
                  </a:moveTo>
                  <a:lnTo>
                    <a:pt x="1" y="0"/>
                  </a:lnTo>
                  <a:lnTo>
                    <a:pt x="0" y="4"/>
                  </a:lnTo>
                  <a:lnTo>
                    <a:pt x="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6" name="Freeform 425"/>
            <p:cNvSpPr>
              <a:spLocks/>
            </p:cNvSpPr>
            <p:nvPr/>
          </p:nvSpPr>
          <p:spPr bwMode="auto">
            <a:xfrm>
              <a:off x="2556" y="1856"/>
              <a:ext cx="4" cy="3"/>
            </a:xfrm>
            <a:custGeom>
              <a:avLst/>
              <a:gdLst/>
              <a:ahLst/>
              <a:cxnLst>
                <a:cxn ang="0">
                  <a:pos x="4" y="0"/>
                </a:cxn>
                <a:cxn ang="0">
                  <a:pos x="0" y="0"/>
                </a:cxn>
                <a:cxn ang="0">
                  <a:pos x="0" y="1"/>
                </a:cxn>
                <a:cxn ang="0">
                  <a:pos x="3" y="2"/>
                </a:cxn>
                <a:cxn ang="0">
                  <a:pos x="4" y="0"/>
                </a:cxn>
              </a:cxnLst>
              <a:rect l="0" t="0" r="r" b="b"/>
              <a:pathLst>
                <a:path w="4" h="2">
                  <a:moveTo>
                    <a:pt x="4" y="0"/>
                  </a:moveTo>
                  <a:lnTo>
                    <a:pt x="0" y="0"/>
                  </a:lnTo>
                  <a:lnTo>
                    <a:pt x="0" y="1"/>
                  </a:lnTo>
                  <a:lnTo>
                    <a:pt x="3" y="2"/>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7" name="Freeform 426"/>
            <p:cNvSpPr>
              <a:spLocks/>
            </p:cNvSpPr>
            <p:nvPr/>
          </p:nvSpPr>
          <p:spPr bwMode="auto">
            <a:xfrm>
              <a:off x="1442" y="2059"/>
              <a:ext cx="5" cy="2"/>
            </a:xfrm>
            <a:custGeom>
              <a:avLst/>
              <a:gdLst/>
              <a:ahLst/>
              <a:cxnLst>
                <a:cxn ang="0">
                  <a:pos x="2" y="0"/>
                </a:cxn>
                <a:cxn ang="0">
                  <a:pos x="1" y="1"/>
                </a:cxn>
                <a:cxn ang="0">
                  <a:pos x="1" y="2"/>
                </a:cxn>
                <a:cxn ang="0">
                  <a:pos x="0" y="2"/>
                </a:cxn>
                <a:cxn ang="0">
                  <a:pos x="1" y="2"/>
                </a:cxn>
                <a:cxn ang="0">
                  <a:pos x="2" y="1"/>
                </a:cxn>
                <a:cxn ang="0">
                  <a:pos x="2" y="0"/>
                </a:cxn>
              </a:cxnLst>
              <a:rect l="0" t="0" r="r" b="b"/>
              <a:pathLst>
                <a:path w="2" h="2">
                  <a:moveTo>
                    <a:pt x="2" y="0"/>
                  </a:moveTo>
                  <a:lnTo>
                    <a:pt x="1" y="1"/>
                  </a:lnTo>
                  <a:lnTo>
                    <a:pt x="1" y="2"/>
                  </a:lnTo>
                  <a:lnTo>
                    <a:pt x="0" y="2"/>
                  </a:lnTo>
                  <a:lnTo>
                    <a:pt x="1" y="2"/>
                  </a:lnTo>
                  <a:lnTo>
                    <a:pt x="2" y="1"/>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8" name="Freeform 427"/>
            <p:cNvSpPr>
              <a:spLocks/>
            </p:cNvSpPr>
            <p:nvPr/>
          </p:nvSpPr>
          <p:spPr bwMode="auto">
            <a:xfrm>
              <a:off x="2376" y="1867"/>
              <a:ext cx="53" cy="100"/>
            </a:xfrm>
            <a:custGeom>
              <a:avLst/>
              <a:gdLst/>
              <a:ahLst/>
              <a:cxnLst>
                <a:cxn ang="0">
                  <a:pos x="21" y="0"/>
                </a:cxn>
                <a:cxn ang="0">
                  <a:pos x="13" y="0"/>
                </a:cxn>
                <a:cxn ang="0">
                  <a:pos x="13" y="22"/>
                </a:cxn>
                <a:cxn ang="0">
                  <a:pos x="8" y="34"/>
                </a:cxn>
                <a:cxn ang="0">
                  <a:pos x="2" y="47"/>
                </a:cxn>
                <a:cxn ang="0">
                  <a:pos x="0" y="59"/>
                </a:cxn>
                <a:cxn ang="0">
                  <a:pos x="7" y="63"/>
                </a:cxn>
                <a:cxn ang="0">
                  <a:pos x="9" y="64"/>
                </a:cxn>
                <a:cxn ang="0">
                  <a:pos x="8" y="89"/>
                </a:cxn>
                <a:cxn ang="0">
                  <a:pos x="30" y="87"/>
                </a:cxn>
                <a:cxn ang="0">
                  <a:pos x="29" y="82"/>
                </a:cxn>
                <a:cxn ang="0">
                  <a:pos x="35" y="71"/>
                </a:cxn>
                <a:cxn ang="0">
                  <a:pos x="33" y="66"/>
                </a:cxn>
                <a:cxn ang="0">
                  <a:pos x="35" y="57"/>
                </a:cxn>
                <a:cxn ang="0">
                  <a:pos x="29" y="42"/>
                </a:cxn>
                <a:cxn ang="0">
                  <a:pos x="35" y="41"/>
                </a:cxn>
                <a:cxn ang="0">
                  <a:pos x="39" y="20"/>
                </a:cxn>
                <a:cxn ang="0">
                  <a:pos x="48" y="11"/>
                </a:cxn>
                <a:cxn ang="0">
                  <a:pos x="45" y="3"/>
                </a:cxn>
                <a:cxn ang="0">
                  <a:pos x="26" y="2"/>
                </a:cxn>
                <a:cxn ang="0">
                  <a:pos x="21" y="0"/>
                </a:cxn>
              </a:cxnLst>
              <a:rect l="0" t="0" r="r" b="b"/>
              <a:pathLst>
                <a:path w="48" h="89">
                  <a:moveTo>
                    <a:pt x="21" y="0"/>
                  </a:moveTo>
                  <a:lnTo>
                    <a:pt x="13" y="0"/>
                  </a:lnTo>
                  <a:lnTo>
                    <a:pt x="13" y="22"/>
                  </a:lnTo>
                  <a:lnTo>
                    <a:pt x="8" y="34"/>
                  </a:lnTo>
                  <a:lnTo>
                    <a:pt x="2" y="47"/>
                  </a:lnTo>
                  <a:lnTo>
                    <a:pt x="0" y="59"/>
                  </a:lnTo>
                  <a:lnTo>
                    <a:pt x="7" y="63"/>
                  </a:lnTo>
                  <a:lnTo>
                    <a:pt x="9" y="64"/>
                  </a:lnTo>
                  <a:lnTo>
                    <a:pt x="8" y="89"/>
                  </a:lnTo>
                  <a:lnTo>
                    <a:pt x="30" y="87"/>
                  </a:lnTo>
                  <a:lnTo>
                    <a:pt x="29" y="82"/>
                  </a:lnTo>
                  <a:lnTo>
                    <a:pt x="35" y="71"/>
                  </a:lnTo>
                  <a:lnTo>
                    <a:pt x="33" y="66"/>
                  </a:lnTo>
                  <a:lnTo>
                    <a:pt x="35" y="57"/>
                  </a:lnTo>
                  <a:lnTo>
                    <a:pt x="29" y="42"/>
                  </a:lnTo>
                  <a:lnTo>
                    <a:pt x="35" y="41"/>
                  </a:lnTo>
                  <a:lnTo>
                    <a:pt x="39" y="20"/>
                  </a:lnTo>
                  <a:lnTo>
                    <a:pt x="48" y="11"/>
                  </a:lnTo>
                  <a:lnTo>
                    <a:pt x="45" y="3"/>
                  </a:lnTo>
                  <a:lnTo>
                    <a:pt x="26" y="2"/>
                  </a:lnTo>
                  <a:lnTo>
                    <a:pt x="2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9" name="Freeform 428"/>
            <p:cNvSpPr>
              <a:spLocks/>
            </p:cNvSpPr>
            <p:nvPr/>
          </p:nvSpPr>
          <p:spPr bwMode="auto">
            <a:xfrm>
              <a:off x="2387" y="1834"/>
              <a:ext cx="195" cy="149"/>
            </a:xfrm>
            <a:custGeom>
              <a:avLst/>
              <a:gdLst/>
              <a:ahLst/>
              <a:cxnLst>
                <a:cxn ang="0">
                  <a:pos x="36" y="34"/>
                </a:cxn>
                <a:cxn ang="0">
                  <a:pos x="17" y="33"/>
                </a:cxn>
                <a:cxn ang="0">
                  <a:pos x="12" y="31"/>
                </a:cxn>
                <a:cxn ang="0">
                  <a:pos x="4" y="31"/>
                </a:cxn>
                <a:cxn ang="0">
                  <a:pos x="3" y="27"/>
                </a:cxn>
                <a:cxn ang="0">
                  <a:pos x="2" y="23"/>
                </a:cxn>
                <a:cxn ang="0">
                  <a:pos x="2" y="21"/>
                </a:cxn>
                <a:cxn ang="0">
                  <a:pos x="0" y="17"/>
                </a:cxn>
                <a:cxn ang="0">
                  <a:pos x="0" y="10"/>
                </a:cxn>
                <a:cxn ang="0">
                  <a:pos x="22" y="0"/>
                </a:cxn>
                <a:cxn ang="0">
                  <a:pos x="40" y="3"/>
                </a:cxn>
                <a:cxn ang="0">
                  <a:pos x="56" y="4"/>
                </a:cxn>
                <a:cxn ang="0">
                  <a:pos x="72" y="5"/>
                </a:cxn>
                <a:cxn ang="0">
                  <a:pos x="88" y="5"/>
                </a:cxn>
                <a:cxn ang="0">
                  <a:pos x="105" y="6"/>
                </a:cxn>
                <a:cxn ang="0">
                  <a:pos x="112" y="12"/>
                </a:cxn>
                <a:cxn ang="0">
                  <a:pos x="152" y="21"/>
                </a:cxn>
                <a:cxn ang="0">
                  <a:pos x="152" y="22"/>
                </a:cxn>
                <a:cxn ang="0">
                  <a:pos x="155" y="23"/>
                </a:cxn>
                <a:cxn ang="0">
                  <a:pos x="177" y="23"/>
                </a:cxn>
                <a:cxn ang="0">
                  <a:pos x="173" y="36"/>
                </a:cxn>
                <a:cxn ang="0">
                  <a:pos x="158" y="45"/>
                </a:cxn>
                <a:cxn ang="0">
                  <a:pos x="142" y="53"/>
                </a:cxn>
                <a:cxn ang="0">
                  <a:pos x="134" y="65"/>
                </a:cxn>
                <a:cxn ang="0">
                  <a:pos x="125" y="78"/>
                </a:cxn>
                <a:cxn ang="0">
                  <a:pos x="131" y="91"/>
                </a:cxn>
                <a:cxn ang="0">
                  <a:pos x="119" y="106"/>
                </a:cxn>
                <a:cxn ang="0">
                  <a:pos x="116" y="111"/>
                </a:cxn>
                <a:cxn ang="0">
                  <a:pos x="104" y="117"/>
                </a:cxn>
                <a:cxn ang="0">
                  <a:pos x="96" y="124"/>
                </a:cxn>
                <a:cxn ang="0">
                  <a:pos x="80" y="126"/>
                </a:cxn>
                <a:cxn ang="0">
                  <a:pos x="62" y="129"/>
                </a:cxn>
                <a:cxn ang="0">
                  <a:pos x="51" y="136"/>
                </a:cxn>
                <a:cxn ang="0">
                  <a:pos x="50" y="136"/>
                </a:cxn>
                <a:cxn ang="0">
                  <a:pos x="40" y="135"/>
                </a:cxn>
                <a:cxn ang="0">
                  <a:pos x="36" y="123"/>
                </a:cxn>
                <a:cxn ang="0">
                  <a:pos x="26" y="117"/>
                </a:cxn>
                <a:cxn ang="0">
                  <a:pos x="21" y="118"/>
                </a:cxn>
                <a:cxn ang="0">
                  <a:pos x="20" y="113"/>
                </a:cxn>
                <a:cxn ang="0">
                  <a:pos x="26" y="102"/>
                </a:cxn>
                <a:cxn ang="0">
                  <a:pos x="24" y="97"/>
                </a:cxn>
                <a:cxn ang="0">
                  <a:pos x="26" y="88"/>
                </a:cxn>
                <a:cxn ang="0">
                  <a:pos x="20" y="73"/>
                </a:cxn>
                <a:cxn ang="0">
                  <a:pos x="26" y="72"/>
                </a:cxn>
                <a:cxn ang="0">
                  <a:pos x="30" y="51"/>
                </a:cxn>
                <a:cxn ang="0">
                  <a:pos x="39" y="42"/>
                </a:cxn>
                <a:cxn ang="0">
                  <a:pos x="36" y="34"/>
                </a:cxn>
              </a:cxnLst>
              <a:rect l="0" t="0" r="r" b="b"/>
              <a:pathLst>
                <a:path w="177" h="136">
                  <a:moveTo>
                    <a:pt x="36" y="34"/>
                  </a:moveTo>
                  <a:lnTo>
                    <a:pt x="17" y="33"/>
                  </a:lnTo>
                  <a:lnTo>
                    <a:pt x="12" y="31"/>
                  </a:lnTo>
                  <a:lnTo>
                    <a:pt x="4" y="31"/>
                  </a:lnTo>
                  <a:lnTo>
                    <a:pt x="3" y="27"/>
                  </a:lnTo>
                  <a:lnTo>
                    <a:pt x="2" y="23"/>
                  </a:lnTo>
                  <a:lnTo>
                    <a:pt x="2" y="21"/>
                  </a:lnTo>
                  <a:lnTo>
                    <a:pt x="0" y="17"/>
                  </a:lnTo>
                  <a:lnTo>
                    <a:pt x="0" y="10"/>
                  </a:lnTo>
                  <a:lnTo>
                    <a:pt x="22" y="0"/>
                  </a:lnTo>
                  <a:lnTo>
                    <a:pt x="40" y="3"/>
                  </a:lnTo>
                  <a:lnTo>
                    <a:pt x="56" y="4"/>
                  </a:lnTo>
                  <a:lnTo>
                    <a:pt x="72" y="5"/>
                  </a:lnTo>
                  <a:lnTo>
                    <a:pt x="88" y="5"/>
                  </a:lnTo>
                  <a:lnTo>
                    <a:pt x="105" y="6"/>
                  </a:lnTo>
                  <a:lnTo>
                    <a:pt x="112" y="12"/>
                  </a:lnTo>
                  <a:lnTo>
                    <a:pt x="152" y="21"/>
                  </a:lnTo>
                  <a:lnTo>
                    <a:pt x="152" y="22"/>
                  </a:lnTo>
                  <a:lnTo>
                    <a:pt x="155" y="23"/>
                  </a:lnTo>
                  <a:lnTo>
                    <a:pt x="177" y="23"/>
                  </a:lnTo>
                  <a:lnTo>
                    <a:pt x="173" y="36"/>
                  </a:lnTo>
                  <a:lnTo>
                    <a:pt x="158" y="45"/>
                  </a:lnTo>
                  <a:lnTo>
                    <a:pt x="142" y="53"/>
                  </a:lnTo>
                  <a:lnTo>
                    <a:pt x="134" y="65"/>
                  </a:lnTo>
                  <a:lnTo>
                    <a:pt x="125" y="78"/>
                  </a:lnTo>
                  <a:lnTo>
                    <a:pt x="131" y="91"/>
                  </a:lnTo>
                  <a:lnTo>
                    <a:pt x="119" y="106"/>
                  </a:lnTo>
                  <a:lnTo>
                    <a:pt x="116" y="111"/>
                  </a:lnTo>
                  <a:lnTo>
                    <a:pt x="104" y="117"/>
                  </a:lnTo>
                  <a:lnTo>
                    <a:pt x="96" y="124"/>
                  </a:lnTo>
                  <a:lnTo>
                    <a:pt x="80" y="126"/>
                  </a:lnTo>
                  <a:lnTo>
                    <a:pt x="62" y="129"/>
                  </a:lnTo>
                  <a:lnTo>
                    <a:pt x="51" y="136"/>
                  </a:lnTo>
                  <a:lnTo>
                    <a:pt x="50" y="136"/>
                  </a:lnTo>
                  <a:lnTo>
                    <a:pt x="40" y="135"/>
                  </a:lnTo>
                  <a:lnTo>
                    <a:pt x="36" y="123"/>
                  </a:lnTo>
                  <a:lnTo>
                    <a:pt x="26" y="117"/>
                  </a:lnTo>
                  <a:lnTo>
                    <a:pt x="21" y="118"/>
                  </a:lnTo>
                  <a:lnTo>
                    <a:pt x="20" y="113"/>
                  </a:lnTo>
                  <a:lnTo>
                    <a:pt x="26" y="102"/>
                  </a:lnTo>
                  <a:lnTo>
                    <a:pt x="24" y="97"/>
                  </a:lnTo>
                  <a:lnTo>
                    <a:pt x="26" y="88"/>
                  </a:lnTo>
                  <a:lnTo>
                    <a:pt x="20" y="73"/>
                  </a:lnTo>
                  <a:lnTo>
                    <a:pt x="26" y="72"/>
                  </a:lnTo>
                  <a:lnTo>
                    <a:pt x="30" y="51"/>
                  </a:lnTo>
                  <a:lnTo>
                    <a:pt x="39" y="42"/>
                  </a:lnTo>
                  <a:lnTo>
                    <a:pt x="36"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0" name="Freeform 429"/>
            <p:cNvSpPr>
              <a:spLocks/>
            </p:cNvSpPr>
            <p:nvPr/>
          </p:nvSpPr>
          <p:spPr bwMode="auto">
            <a:xfrm>
              <a:off x="2571" y="1910"/>
              <a:ext cx="18" cy="11"/>
            </a:xfrm>
            <a:custGeom>
              <a:avLst/>
              <a:gdLst/>
              <a:ahLst/>
              <a:cxnLst>
                <a:cxn ang="0">
                  <a:pos x="16" y="2"/>
                </a:cxn>
                <a:cxn ang="0">
                  <a:pos x="7" y="8"/>
                </a:cxn>
                <a:cxn ang="0">
                  <a:pos x="0" y="2"/>
                </a:cxn>
                <a:cxn ang="0">
                  <a:pos x="10" y="0"/>
                </a:cxn>
                <a:cxn ang="0">
                  <a:pos x="16" y="2"/>
                </a:cxn>
              </a:cxnLst>
              <a:rect l="0" t="0" r="r" b="b"/>
              <a:pathLst>
                <a:path w="16" h="8">
                  <a:moveTo>
                    <a:pt x="16" y="2"/>
                  </a:moveTo>
                  <a:lnTo>
                    <a:pt x="7" y="8"/>
                  </a:lnTo>
                  <a:lnTo>
                    <a:pt x="0" y="2"/>
                  </a:lnTo>
                  <a:lnTo>
                    <a:pt x="10" y="0"/>
                  </a:lnTo>
                  <a:lnTo>
                    <a:pt x="1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1" name="Freeform 430"/>
            <p:cNvSpPr>
              <a:spLocks/>
            </p:cNvSpPr>
            <p:nvPr/>
          </p:nvSpPr>
          <p:spPr bwMode="auto">
            <a:xfrm>
              <a:off x="514" y="1723"/>
              <a:ext cx="960" cy="480"/>
            </a:xfrm>
            <a:custGeom>
              <a:avLst/>
              <a:gdLst/>
              <a:ahLst/>
              <a:cxnLst>
                <a:cxn ang="0">
                  <a:pos x="855" y="36"/>
                </a:cxn>
                <a:cxn ang="0">
                  <a:pos x="809" y="69"/>
                </a:cxn>
                <a:cxn ang="0">
                  <a:pos x="716" y="101"/>
                </a:cxn>
                <a:cxn ang="0">
                  <a:pos x="648" y="125"/>
                </a:cxn>
                <a:cxn ang="0">
                  <a:pos x="639" y="102"/>
                </a:cxn>
                <a:cxn ang="0">
                  <a:pos x="630" y="57"/>
                </a:cxn>
                <a:cxn ang="0">
                  <a:pos x="581" y="19"/>
                </a:cxn>
                <a:cxn ang="0">
                  <a:pos x="502" y="9"/>
                </a:cxn>
                <a:cxn ang="0">
                  <a:pos x="425" y="6"/>
                </a:cxn>
                <a:cxn ang="0">
                  <a:pos x="306" y="6"/>
                </a:cxn>
                <a:cxn ang="0">
                  <a:pos x="186" y="6"/>
                </a:cxn>
                <a:cxn ang="0">
                  <a:pos x="102" y="35"/>
                </a:cxn>
                <a:cxn ang="0">
                  <a:pos x="93" y="35"/>
                </a:cxn>
                <a:cxn ang="0">
                  <a:pos x="76" y="41"/>
                </a:cxn>
                <a:cxn ang="0">
                  <a:pos x="66" y="54"/>
                </a:cxn>
                <a:cxn ang="0">
                  <a:pos x="27" y="111"/>
                </a:cxn>
                <a:cxn ang="0">
                  <a:pos x="0" y="176"/>
                </a:cxn>
                <a:cxn ang="0">
                  <a:pos x="10" y="200"/>
                </a:cxn>
                <a:cxn ang="0">
                  <a:pos x="10" y="219"/>
                </a:cxn>
                <a:cxn ang="0">
                  <a:pos x="17" y="264"/>
                </a:cxn>
                <a:cxn ang="0">
                  <a:pos x="86" y="296"/>
                </a:cxn>
                <a:cxn ang="0">
                  <a:pos x="154" y="320"/>
                </a:cxn>
                <a:cxn ang="0">
                  <a:pos x="222" y="348"/>
                </a:cxn>
                <a:cxn ang="0">
                  <a:pos x="280" y="367"/>
                </a:cxn>
                <a:cxn ang="0">
                  <a:pos x="320" y="396"/>
                </a:cxn>
                <a:cxn ang="0">
                  <a:pos x="328" y="380"/>
                </a:cxn>
                <a:cxn ang="0">
                  <a:pos x="345" y="372"/>
                </a:cxn>
                <a:cxn ang="0">
                  <a:pos x="374" y="353"/>
                </a:cxn>
                <a:cxn ang="0">
                  <a:pos x="412" y="350"/>
                </a:cxn>
                <a:cxn ang="0">
                  <a:pos x="441" y="351"/>
                </a:cxn>
                <a:cxn ang="0">
                  <a:pos x="454" y="345"/>
                </a:cxn>
                <a:cxn ang="0">
                  <a:pos x="476" y="338"/>
                </a:cxn>
                <a:cxn ang="0">
                  <a:pos x="490" y="338"/>
                </a:cxn>
                <a:cxn ang="0">
                  <a:pos x="515" y="344"/>
                </a:cxn>
                <a:cxn ang="0">
                  <a:pos x="552" y="366"/>
                </a:cxn>
                <a:cxn ang="0">
                  <a:pos x="550" y="392"/>
                </a:cxn>
                <a:cxn ang="0">
                  <a:pos x="557" y="408"/>
                </a:cxn>
                <a:cxn ang="0">
                  <a:pos x="586" y="399"/>
                </a:cxn>
                <a:cxn ang="0">
                  <a:pos x="581" y="354"/>
                </a:cxn>
                <a:cxn ang="0">
                  <a:pos x="591" y="311"/>
                </a:cxn>
                <a:cxn ang="0">
                  <a:pos x="624" y="285"/>
                </a:cxn>
                <a:cxn ang="0">
                  <a:pos x="664" y="252"/>
                </a:cxn>
                <a:cxn ang="0">
                  <a:pos x="687" y="237"/>
                </a:cxn>
                <a:cxn ang="0">
                  <a:pos x="681" y="235"/>
                </a:cxn>
                <a:cxn ang="0">
                  <a:pos x="686" y="219"/>
                </a:cxn>
                <a:cxn ang="0">
                  <a:pos x="687" y="213"/>
                </a:cxn>
                <a:cxn ang="0">
                  <a:pos x="684" y="186"/>
                </a:cxn>
                <a:cxn ang="0">
                  <a:pos x="694" y="179"/>
                </a:cxn>
                <a:cxn ang="0">
                  <a:pos x="699" y="197"/>
                </a:cxn>
                <a:cxn ang="0">
                  <a:pos x="710" y="193"/>
                </a:cxn>
                <a:cxn ang="0">
                  <a:pos x="714" y="183"/>
                </a:cxn>
                <a:cxn ang="0">
                  <a:pos x="741" y="150"/>
                </a:cxn>
                <a:cxn ang="0">
                  <a:pos x="784" y="135"/>
                </a:cxn>
                <a:cxn ang="0">
                  <a:pos x="803" y="133"/>
                </a:cxn>
                <a:cxn ang="0">
                  <a:pos x="819" y="96"/>
                </a:cxn>
                <a:cxn ang="0">
                  <a:pos x="845" y="87"/>
                </a:cxn>
              </a:cxnLst>
              <a:rect l="0" t="0" r="r" b="b"/>
              <a:pathLst>
                <a:path w="864" h="431">
                  <a:moveTo>
                    <a:pt x="863" y="79"/>
                  </a:moveTo>
                  <a:lnTo>
                    <a:pt x="862" y="73"/>
                  </a:lnTo>
                  <a:lnTo>
                    <a:pt x="858" y="61"/>
                  </a:lnTo>
                  <a:lnTo>
                    <a:pt x="864" y="39"/>
                  </a:lnTo>
                  <a:lnTo>
                    <a:pt x="855" y="36"/>
                  </a:lnTo>
                  <a:lnTo>
                    <a:pt x="849" y="36"/>
                  </a:lnTo>
                  <a:lnTo>
                    <a:pt x="848" y="33"/>
                  </a:lnTo>
                  <a:lnTo>
                    <a:pt x="834" y="45"/>
                  </a:lnTo>
                  <a:lnTo>
                    <a:pt x="822" y="59"/>
                  </a:lnTo>
                  <a:lnTo>
                    <a:pt x="809" y="69"/>
                  </a:lnTo>
                  <a:lnTo>
                    <a:pt x="800" y="75"/>
                  </a:lnTo>
                  <a:lnTo>
                    <a:pt x="772" y="78"/>
                  </a:lnTo>
                  <a:lnTo>
                    <a:pt x="744" y="79"/>
                  </a:lnTo>
                  <a:lnTo>
                    <a:pt x="730" y="90"/>
                  </a:lnTo>
                  <a:lnTo>
                    <a:pt x="716" y="101"/>
                  </a:lnTo>
                  <a:lnTo>
                    <a:pt x="698" y="102"/>
                  </a:lnTo>
                  <a:lnTo>
                    <a:pt x="681" y="103"/>
                  </a:lnTo>
                  <a:lnTo>
                    <a:pt x="680" y="115"/>
                  </a:lnTo>
                  <a:lnTo>
                    <a:pt x="664" y="120"/>
                  </a:lnTo>
                  <a:lnTo>
                    <a:pt x="648" y="125"/>
                  </a:lnTo>
                  <a:lnTo>
                    <a:pt x="634" y="129"/>
                  </a:lnTo>
                  <a:lnTo>
                    <a:pt x="618" y="135"/>
                  </a:lnTo>
                  <a:lnTo>
                    <a:pt x="614" y="128"/>
                  </a:lnTo>
                  <a:lnTo>
                    <a:pt x="632" y="111"/>
                  </a:lnTo>
                  <a:lnTo>
                    <a:pt x="639" y="102"/>
                  </a:lnTo>
                  <a:lnTo>
                    <a:pt x="641" y="85"/>
                  </a:lnTo>
                  <a:lnTo>
                    <a:pt x="645" y="69"/>
                  </a:lnTo>
                  <a:lnTo>
                    <a:pt x="634" y="61"/>
                  </a:lnTo>
                  <a:lnTo>
                    <a:pt x="635" y="56"/>
                  </a:lnTo>
                  <a:lnTo>
                    <a:pt x="630" y="57"/>
                  </a:lnTo>
                  <a:lnTo>
                    <a:pt x="629" y="50"/>
                  </a:lnTo>
                  <a:lnTo>
                    <a:pt x="617" y="42"/>
                  </a:lnTo>
                  <a:lnTo>
                    <a:pt x="605" y="35"/>
                  </a:lnTo>
                  <a:lnTo>
                    <a:pt x="593" y="27"/>
                  </a:lnTo>
                  <a:lnTo>
                    <a:pt x="581" y="19"/>
                  </a:lnTo>
                  <a:lnTo>
                    <a:pt x="562" y="24"/>
                  </a:lnTo>
                  <a:lnTo>
                    <a:pt x="550" y="19"/>
                  </a:lnTo>
                  <a:lnTo>
                    <a:pt x="538" y="21"/>
                  </a:lnTo>
                  <a:lnTo>
                    <a:pt x="518" y="13"/>
                  </a:lnTo>
                  <a:lnTo>
                    <a:pt x="502" y="9"/>
                  </a:lnTo>
                  <a:lnTo>
                    <a:pt x="503" y="0"/>
                  </a:lnTo>
                  <a:lnTo>
                    <a:pt x="497" y="6"/>
                  </a:lnTo>
                  <a:lnTo>
                    <a:pt x="473" y="6"/>
                  </a:lnTo>
                  <a:lnTo>
                    <a:pt x="449" y="6"/>
                  </a:lnTo>
                  <a:lnTo>
                    <a:pt x="425" y="6"/>
                  </a:lnTo>
                  <a:lnTo>
                    <a:pt x="401" y="6"/>
                  </a:lnTo>
                  <a:lnTo>
                    <a:pt x="377" y="6"/>
                  </a:lnTo>
                  <a:lnTo>
                    <a:pt x="354" y="6"/>
                  </a:lnTo>
                  <a:lnTo>
                    <a:pt x="330" y="6"/>
                  </a:lnTo>
                  <a:lnTo>
                    <a:pt x="306" y="6"/>
                  </a:lnTo>
                  <a:lnTo>
                    <a:pt x="282" y="6"/>
                  </a:lnTo>
                  <a:lnTo>
                    <a:pt x="258" y="6"/>
                  </a:lnTo>
                  <a:lnTo>
                    <a:pt x="234" y="6"/>
                  </a:lnTo>
                  <a:lnTo>
                    <a:pt x="210" y="6"/>
                  </a:lnTo>
                  <a:lnTo>
                    <a:pt x="186" y="6"/>
                  </a:lnTo>
                  <a:lnTo>
                    <a:pt x="162" y="6"/>
                  </a:lnTo>
                  <a:lnTo>
                    <a:pt x="138" y="6"/>
                  </a:lnTo>
                  <a:lnTo>
                    <a:pt x="114" y="6"/>
                  </a:lnTo>
                  <a:lnTo>
                    <a:pt x="110" y="20"/>
                  </a:lnTo>
                  <a:lnTo>
                    <a:pt x="102" y="35"/>
                  </a:lnTo>
                  <a:lnTo>
                    <a:pt x="92" y="39"/>
                  </a:lnTo>
                  <a:lnTo>
                    <a:pt x="94" y="36"/>
                  </a:lnTo>
                  <a:lnTo>
                    <a:pt x="95" y="38"/>
                  </a:lnTo>
                  <a:lnTo>
                    <a:pt x="106" y="25"/>
                  </a:lnTo>
                  <a:lnTo>
                    <a:pt x="93" y="35"/>
                  </a:lnTo>
                  <a:lnTo>
                    <a:pt x="92" y="35"/>
                  </a:lnTo>
                  <a:lnTo>
                    <a:pt x="100" y="27"/>
                  </a:lnTo>
                  <a:lnTo>
                    <a:pt x="105" y="21"/>
                  </a:lnTo>
                  <a:lnTo>
                    <a:pt x="83" y="17"/>
                  </a:lnTo>
                  <a:lnTo>
                    <a:pt x="76" y="41"/>
                  </a:lnTo>
                  <a:lnTo>
                    <a:pt x="74" y="43"/>
                  </a:lnTo>
                  <a:lnTo>
                    <a:pt x="72" y="47"/>
                  </a:lnTo>
                  <a:lnTo>
                    <a:pt x="71" y="49"/>
                  </a:lnTo>
                  <a:lnTo>
                    <a:pt x="70" y="47"/>
                  </a:lnTo>
                  <a:lnTo>
                    <a:pt x="66" y="54"/>
                  </a:lnTo>
                  <a:lnTo>
                    <a:pt x="76" y="56"/>
                  </a:lnTo>
                  <a:lnTo>
                    <a:pt x="69" y="56"/>
                  </a:lnTo>
                  <a:lnTo>
                    <a:pt x="62" y="65"/>
                  </a:lnTo>
                  <a:lnTo>
                    <a:pt x="44" y="87"/>
                  </a:lnTo>
                  <a:lnTo>
                    <a:pt x="27" y="111"/>
                  </a:lnTo>
                  <a:lnTo>
                    <a:pt x="22" y="126"/>
                  </a:lnTo>
                  <a:lnTo>
                    <a:pt x="17" y="140"/>
                  </a:lnTo>
                  <a:lnTo>
                    <a:pt x="2" y="157"/>
                  </a:lnTo>
                  <a:lnTo>
                    <a:pt x="3" y="163"/>
                  </a:lnTo>
                  <a:lnTo>
                    <a:pt x="0" y="176"/>
                  </a:lnTo>
                  <a:lnTo>
                    <a:pt x="3" y="188"/>
                  </a:lnTo>
                  <a:lnTo>
                    <a:pt x="5" y="199"/>
                  </a:lnTo>
                  <a:lnTo>
                    <a:pt x="4" y="197"/>
                  </a:lnTo>
                  <a:lnTo>
                    <a:pt x="3" y="200"/>
                  </a:lnTo>
                  <a:lnTo>
                    <a:pt x="10" y="200"/>
                  </a:lnTo>
                  <a:lnTo>
                    <a:pt x="14" y="200"/>
                  </a:lnTo>
                  <a:lnTo>
                    <a:pt x="11" y="210"/>
                  </a:lnTo>
                  <a:lnTo>
                    <a:pt x="8" y="207"/>
                  </a:lnTo>
                  <a:lnTo>
                    <a:pt x="5" y="210"/>
                  </a:lnTo>
                  <a:lnTo>
                    <a:pt x="10" y="219"/>
                  </a:lnTo>
                  <a:lnTo>
                    <a:pt x="5" y="227"/>
                  </a:lnTo>
                  <a:lnTo>
                    <a:pt x="9" y="236"/>
                  </a:lnTo>
                  <a:lnTo>
                    <a:pt x="12" y="247"/>
                  </a:lnTo>
                  <a:lnTo>
                    <a:pt x="9" y="263"/>
                  </a:lnTo>
                  <a:lnTo>
                    <a:pt x="17" y="264"/>
                  </a:lnTo>
                  <a:lnTo>
                    <a:pt x="33" y="272"/>
                  </a:lnTo>
                  <a:lnTo>
                    <a:pt x="48" y="284"/>
                  </a:lnTo>
                  <a:lnTo>
                    <a:pt x="48" y="299"/>
                  </a:lnTo>
                  <a:lnTo>
                    <a:pt x="66" y="297"/>
                  </a:lnTo>
                  <a:lnTo>
                    <a:pt x="86" y="296"/>
                  </a:lnTo>
                  <a:lnTo>
                    <a:pt x="96" y="302"/>
                  </a:lnTo>
                  <a:lnTo>
                    <a:pt x="108" y="308"/>
                  </a:lnTo>
                  <a:lnTo>
                    <a:pt x="120" y="314"/>
                  </a:lnTo>
                  <a:lnTo>
                    <a:pt x="132" y="320"/>
                  </a:lnTo>
                  <a:lnTo>
                    <a:pt x="154" y="320"/>
                  </a:lnTo>
                  <a:lnTo>
                    <a:pt x="176" y="320"/>
                  </a:lnTo>
                  <a:lnTo>
                    <a:pt x="179" y="312"/>
                  </a:lnTo>
                  <a:lnTo>
                    <a:pt x="204" y="312"/>
                  </a:lnTo>
                  <a:lnTo>
                    <a:pt x="218" y="330"/>
                  </a:lnTo>
                  <a:lnTo>
                    <a:pt x="222" y="348"/>
                  </a:lnTo>
                  <a:lnTo>
                    <a:pt x="231" y="355"/>
                  </a:lnTo>
                  <a:lnTo>
                    <a:pt x="240" y="362"/>
                  </a:lnTo>
                  <a:lnTo>
                    <a:pt x="251" y="349"/>
                  </a:lnTo>
                  <a:lnTo>
                    <a:pt x="273" y="351"/>
                  </a:lnTo>
                  <a:lnTo>
                    <a:pt x="280" y="367"/>
                  </a:lnTo>
                  <a:lnTo>
                    <a:pt x="286" y="384"/>
                  </a:lnTo>
                  <a:lnTo>
                    <a:pt x="292" y="405"/>
                  </a:lnTo>
                  <a:lnTo>
                    <a:pt x="302" y="414"/>
                  </a:lnTo>
                  <a:lnTo>
                    <a:pt x="321" y="416"/>
                  </a:lnTo>
                  <a:lnTo>
                    <a:pt x="320" y="396"/>
                  </a:lnTo>
                  <a:lnTo>
                    <a:pt x="318" y="393"/>
                  </a:lnTo>
                  <a:lnTo>
                    <a:pt x="317" y="390"/>
                  </a:lnTo>
                  <a:lnTo>
                    <a:pt x="322" y="392"/>
                  </a:lnTo>
                  <a:lnTo>
                    <a:pt x="324" y="383"/>
                  </a:lnTo>
                  <a:lnTo>
                    <a:pt x="328" y="380"/>
                  </a:lnTo>
                  <a:lnTo>
                    <a:pt x="336" y="374"/>
                  </a:lnTo>
                  <a:lnTo>
                    <a:pt x="341" y="371"/>
                  </a:lnTo>
                  <a:lnTo>
                    <a:pt x="341" y="368"/>
                  </a:lnTo>
                  <a:lnTo>
                    <a:pt x="348" y="368"/>
                  </a:lnTo>
                  <a:lnTo>
                    <a:pt x="345" y="372"/>
                  </a:lnTo>
                  <a:lnTo>
                    <a:pt x="353" y="367"/>
                  </a:lnTo>
                  <a:lnTo>
                    <a:pt x="350" y="367"/>
                  </a:lnTo>
                  <a:lnTo>
                    <a:pt x="368" y="355"/>
                  </a:lnTo>
                  <a:lnTo>
                    <a:pt x="370" y="350"/>
                  </a:lnTo>
                  <a:lnTo>
                    <a:pt x="374" y="353"/>
                  </a:lnTo>
                  <a:lnTo>
                    <a:pt x="372" y="354"/>
                  </a:lnTo>
                  <a:lnTo>
                    <a:pt x="384" y="347"/>
                  </a:lnTo>
                  <a:lnTo>
                    <a:pt x="387" y="347"/>
                  </a:lnTo>
                  <a:lnTo>
                    <a:pt x="399" y="349"/>
                  </a:lnTo>
                  <a:lnTo>
                    <a:pt x="412" y="350"/>
                  </a:lnTo>
                  <a:lnTo>
                    <a:pt x="419" y="349"/>
                  </a:lnTo>
                  <a:lnTo>
                    <a:pt x="424" y="355"/>
                  </a:lnTo>
                  <a:lnTo>
                    <a:pt x="434" y="357"/>
                  </a:lnTo>
                  <a:lnTo>
                    <a:pt x="442" y="359"/>
                  </a:lnTo>
                  <a:lnTo>
                    <a:pt x="441" y="351"/>
                  </a:lnTo>
                  <a:lnTo>
                    <a:pt x="453" y="360"/>
                  </a:lnTo>
                  <a:lnTo>
                    <a:pt x="450" y="363"/>
                  </a:lnTo>
                  <a:lnTo>
                    <a:pt x="455" y="357"/>
                  </a:lnTo>
                  <a:lnTo>
                    <a:pt x="449" y="349"/>
                  </a:lnTo>
                  <a:lnTo>
                    <a:pt x="454" y="345"/>
                  </a:lnTo>
                  <a:lnTo>
                    <a:pt x="452" y="344"/>
                  </a:lnTo>
                  <a:lnTo>
                    <a:pt x="450" y="343"/>
                  </a:lnTo>
                  <a:lnTo>
                    <a:pt x="440" y="341"/>
                  </a:lnTo>
                  <a:lnTo>
                    <a:pt x="450" y="341"/>
                  </a:lnTo>
                  <a:lnTo>
                    <a:pt x="476" y="338"/>
                  </a:lnTo>
                  <a:lnTo>
                    <a:pt x="479" y="331"/>
                  </a:lnTo>
                  <a:lnTo>
                    <a:pt x="478" y="339"/>
                  </a:lnTo>
                  <a:lnTo>
                    <a:pt x="485" y="338"/>
                  </a:lnTo>
                  <a:lnTo>
                    <a:pt x="494" y="336"/>
                  </a:lnTo>
                  <a:lnTo>
                    <a:pt x="490" y="338"/>
                  </a:lnTo>
                  <a:lnTo>
                    <a:pt x="504" y="337"/>
                  </a:lnTo>
                  <a:lnTo>
                    <a:pt x="501" y="337"/>
                  </a:lnTo>
                  <a:lnTo>
                    <a:pt x="509" y="339"/>
                  </a:lnTo>
                  <a:lnTo>
                    <a:pt x="513" y="339"/>
                  </a:lnTo>
                  <a:lnTo>
                    <a:pt x="515" y="344"/>
                  </a:lnTo>
                  <a:lnTo>
                    <a:pt x="512" y="342"/>
                  </a:lnTo>
                  <a:lnTo>
                    <a:pt x="515" y="350"/>
                  </a:lnTo>
                  <a:lnTo>
                    <a:pt x="537" y="343"/>
                  </a:lnTo>
                  <a:lnTo>
                    <a:pt x="545" y="354"/>
                  </a:lnTo>
                  <a:lnTo>
                    <a:pt x="552" y="366"/>
                  </a:lnTo>
                  <a:lnTo>
                    <a:pt x="549" y="386"/>
                  </a:lnTo>
                  <a:lnTo>
                    <a:pt x="548" y="383"/>
                  </a:lnTo>
                  <a:lnTo>
                    <a:pt x="549" y="386"/>
                  </a:lnTo>
                  <a:lnTo>
                    <a:pt x="552" y="381"/>
                  </a:lnTo>
                  <a:lnTo>
                    <a:pt x="550" y="392"/>
                  </a:lnTo>
                  <a:lnTo>
                    <a:pt x="554" y="399"/>
                  </a:lnTo>
                  <a:lnTo>
                    <a:pt x="556" y="401"/>
                  </a:lnTo>
                  <a:lnTo>
                    <a:pt x="556" y="407"/>
                  </a:lnTo>
                  <a:lnTo>
                    <a:pt x="560" y="403"/>
                  </a:lnTo>
                  <a:lnTo>
                    <a:pt x="557" y="408"/>
                  </a:lnTo>
                  <a:lnTo>
                    <a:pt x="560" y="417"/>
                  </a:lnTo>
                  <a:lnTo>
                    <a:pt x="567" y="431"/>
                  </a:lnTo>
                  <a:lnTo>
                    <a:pt x="576" y="428"/>
                  </a:lnTo>
                  <a:lnTo>
                    <a:pt x="581" y="414"/>
                  </a:lnTo>
                  <a:lnTo>
                    <a:pt x="586" y="399"/>
                  </a:lnTo>
                  <a:lnTo>
                    <a:pt x="584" y="384"/>
                  </a:lnTo>
                  <a:lnTo>
                    <a:pt x="581" y="368"/>
                  </a:lnTo>
                  <a:lnTo>
                    <a:pt x="584" y="383"/>
                  </a:lnTo>
                  <a:lnTo>
                    <a:pt x="582" y="368"/>
                  </a:lnTo>
                  <a:lnTo>
                    <a:pt x="581" y="354"/>
                  </a:lnTo>
                  <a:lnTo>
                    <a:pt x="580" y="339"/>
                  </a:lnTo>
                  <a:lnTo>
                    <a:pt x="579" y="325"/>
                  </a:lnTo>
                  <a:lnTo>
                    <a:pt x="584" y="321"/>
                  </a:lnTo>
                  <a:lnTo>
                    <a:pt x="585" y="319"/>
                  </a:lnTo>
                  <a:lnTo>
                    <a:pt x="591" y="311"/>
                  </a:lnTo>
                  <a:lnTo>
                    <a:pt x="596" y="302"/>
                  </a:lnTo>
                  <a:lnTo>
                    <a:pt x="597" y="301"/>
                  </a:lnTo>
                  <a:lnTo>
                    <a:pt x="602" y="300"/>
                  </a:lnTo>
                  <a:lnTo>
                    <a:pt x="622" y="285"/>
                  </a:lnTo>
                  <a:lnTo>
                    <a:pt x="624" y="285"/>
                  </a:lnTo>
                  <a:lnTo>
                    <a:pt x="640" y="275"/>
                  </a:lnTo>
                  <a:lnTo>
                    <a:pt x="646" y="272"/>
                  </a:lnTo>
                  <a:lnTo>
                    <a:pt x="657" y="261"/>
                  </a:lnTo>
                  <a:lnTo>
                    <a:pt x="675" y="255"/>
                  </a:lnTo>
                  <a:lnTo>
                    <a:pt x="664" y="252"/>
                  </a:lnTo>
                  <a:lnTo>
                    <a:pt x="671" y="253"/>
                  </a:lnTo>
                  <a:lnTo>
                    <a:pt x="674" y="249"/>
                  </a:lnTo>
                  <a:lnTo>
                    <a:pt x="666" y="245"/>
                  </a:lnTo>
                  <a:lnTo>
                    <a:pt x="682" y="246"/>
                  </a:lnTo>
                  <a:lnTo>
                    <a:pt x="687" y="237"/>
                  </a:lnTo>
                  <a:lnTo>
                    <a:pt x="683" y="240"/>
                  </a:lnTo>
                  <a:lnTo>
                    <a:pt x="678" y="236"/>
                  </a:lnTo>
                  <a:lnTo>
                    <a:pt x="674" y="234"/>
                  </a:lnTo>
                  <a:lnTo>
                    <a:pt x="675" y="234"/>
                  </a:lnTo>
                  <a:lnTo>
                    <a:pt x="681" y="235"/>
                  </a:lnTo>
                  <a:lnTo>
                    <a:pt x="686" y="234"/>
                  </a:lnTo>
                  <a:lnTo>
                    <a:pt x="688" y="235"/>
                  </a:lnTo>
                  <a:lnTo>
                    <a:pt x="689" y="224"/>
                  </a:lnTo>
                  <a:lnTo>
                    <a:pt x="690" y="240"/>
                  </a:lnTo>
                  <a:lnTo>
                    <a:pt x="686" y="219"/>
                  </a:lnTo>
                  <a:lnTo>
                    <a:pt x="680" y="218"/>
                  </a:lnTo>
                  <a:lnTo>
                    <a:pt x="675" y="212"/>
                  </a:lnTo>
                  <a:lnTo>
                    <a:pt x="686" y="217"/>
                  </a:lnTo>
                  <a:lnTo>
                    <a:pt x="681" y="209"/>
                  </a:lnTo>
                  <a:lnTo>
                    <a:pt x="687" y="213"/>
                  </a:lnTo>
                  <a:lnTo>
                    <a:pt x="680" y="199"/>
                  </a:lnTo>
                  <a:lnTo>
                    <a:pt x="689" y="205"/>
                  </a:lnTo>
                  <a:lnTo>
                    <a:pt x="682" y="193"/>
                  </a:lnTo>
                  <a:lnTo>
                    <a:pt x="677" y="193"/>
                  </a:lnTo>
                  <a:lnTo>
                    <a:pt x="684" y="186"/>
                  </a:lnTo>
                  <a:lnTo>
                    <a:pt x="682" y="193"/>
                  </a:lnTo>
                  <a:lnTo>
                    <a:pt x="690" y="198"/>
                  </a:lnTo>
                  <a:lnTo>
                    <a:pt x="688" y="188"/>
                  </a:lnTo>
                  <a:lnTo>
                    <a:pt x="692" y="194"/>
                  </a:lnTo>
                  <a:lnTo>
                    <a:pt x="694" y="179"/>
                  </a:lnTo>
                  <a:lnTo>
                    <a:pt x="704" y="175"/>
                  </a:lnTo>
                  <a:lnTo>
                    <a:pt x="698" y="185"/>
                  </a:lnTo>
                  <a:lnTo>
                    <a:pt x="695" y="189"/>
                  </a:lnTo>
                  <a:lnTo>
                    <a:pt x="694" y="194"/>
                  </a:lnTo>
                  <a:lnTo>
                    <a:pt x="699" y="197"/>
                  </a:lnTo>
                  <a:lnTo>
                    <a:pt x="696" y="201"/>
                  </a:lnTo>
                  <a:lnTo>
                    <a:pt x="698" y="205"/>
                  </a:lnTo>
                  <a:lnTo>
                    <a:pt x="694" y="207"/>
                  </a:lnTo>
                  <a:lnTo>
                    <a:pt x="690" y="213"/>
                  </a:lnTo>
                  <a:lnTo>
                    <a:pt x="710" y="193"/>
                  </a:lnTo>
                  <a:lnTo>
                    <a:pt x="708" y="175"/>
                  </a:lnTo>
                  <a:lnTo>
                    <a:pt x="717" y="167"/>
                  </a:lnTo>
                  <a:lnTo>
                    <a:pt x="710" y="171"/>
                  </a:lnTo>
                  <a:lnTo>
                    <a:pt x="716" y="179"/>
                  </a:lnTo>
                  <a:lnTo>
                    <a:pt x="714" y="183"/>
                  </a:lnTo>
                  <a:lnTo>
                    <a:pt x="732" y="167"/>
                  </a:lnTo>
                  <a:lnTo>
                    <a:pt x="732" y="169"/>
                  </a:lnTo>
                  <a:lnTo>
                    <a:pt x="735" y="157"/>
                  </a:lnTo>
                  <a:lnTo>
                    <a:pt x="742" y="144"/>
                  </a:lnTo>
                  <a:lnTo>
                    <a:pt x="741" y="150"/>
                  </a:lnTo>
                  <a:lnTo>
                    <a:pt x="746" y="147"/>
                  </a:lnTo>
                  <a:lnTo>
                    <a:pt x="762" y="144"/>
                  </a:lnTo>
                  <a:lnTo>
                    <a:pt x="778" y="140"/>
                  </a:lnTo>
                  <a:lnTo>
                    <a:pt x="782" y="135"/>
                  </a:lnTo>
                  <a:lnTo>
                    <a:pt x="784" y="135"/>
                  </a:lnTo>
                  <a:lnTo>
                    <a:pt x="790" y="139"/>
                  </a:lnTo>
                  <a:lnTo>
                    <a:pt x="794" y="140"/>
                  </a:lnTo>
                  <a:lnTo>
                    <a:pt x="803" y="135"/>
                  </a:lnTo>
                  <a:lnTo>
                    <a:pt x="802" y="128"/>
                  </a:lnTo>
                  <a:lnTo>
                    <a:pt x="803" y="133"/>
                  </a:lnTo>
                  <a:lnTo>
                    <a:pt x="795" y="129"/>
                  </a:lnTo>
                  <a:lnTo>
                    <a:pt x="796" y="120"/>
                  </a:lnTo>
                  <a:lnTo>
                    <a:pt x="797" y="116"/>
                  </a:lnTo>
                  <a:lnTo>
                    <a:pt x="814" y="98"/>
                  </a:lnTo>
                  <a:lnTo>
                    <a:pt x="819" y="96"/>
                  </a:lnTo>
                  <a:lnTo>
                    <a:pt x="821" y="97"/>
                  </a:lnTo>
                  <a:lnTo>
                    <a:pt x="834" y="85"/>
                  </a:lnTo>
                  <a:lnTo>
                    <a:pt x="834" y="86"/>
                  </a:lnTo>
                  <a:lnTo>
                    <a:pt x="838" y="86"/>
                  </a:lnTo>
                  <a:lnTo>
                    <a:pt x="845" y="87"/>
                  </a:lnTo>
                  <a:lnTo>
                    <a:pt x="863" y="7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2" name="Freeform 431"/>
            <p:cNvSpPr>
              <a:spLocks/>
            </p:cNvSpPr>
            <p:nvPr/>
          </p:nvSpPr>
          <p:spPr bwMode="auto">
            <a:xfrm>
              <a:off x="127" y="1328"/>
              <a:ext cx="611" cy="293"/>
            </a:xfrm>
            <a:custGeom>
              <a:avLst/>
              <a:gdLst/>
              <a:ahLst/>
              <a:cxnLst>
                <a:cxn ang="0">
                  <a:pos x="442" y="229"/>
                </a:cxn>
                <a:cxn ang="0">
                  <a:pos x="426" y="186"/>
                </a:cxn>
                <a:cxn ang="0">
                  <a:pos x="402" y="175"/>
                </a:cxn>
                <a:cxn ang="0">
                  <a:pos x="424" y="135"/>
                </a:cxn>
                <a:cxn ang="0">
                  <a:pos x="507" y="60"/>
                </a:cxn>
                <a:cxn ang="0">
                  <a:pos x="500" y="16"/>
                </a:cxn>
                <a:cxn ang="0">
                  <a:pos x="429" y="6"/>
                </a:cxn>
                <a:cxn ang="0">
                  <a:pos x="413" y="1"/>
                </a:cxn>
                <a:cxn ang="0">
                  <a:pos x="356" y="10"/>
                </a:cxn>
                <a:cxn ang="0">
                  <a:pos x="324" y="16"/>
                </a:cxn>
                <a:cxn ang="0">
                  <a:pos x="230" y="45"/>
                </a:cxn>
                <a:cxn ang="0">
                  <a:pos x="250" y="72"/>
                </a:cxn>
                <a:cxn ang="0">
                  <a:pos x="242" y="76"/>
                </a:cxn>
                <a:cxn ang="0">
                  <a:pos x="222" y="72"/>
                </a:cxn>
                <a:cxn ang="0">
                  <a:pos x="155" y="94"/>
                </a:cxn>
                <a:cxn ang="0">
                  <a:pos x="220" y="97"/>
                </a:cxn>
                <a:cxn ang="0">
                  <a:pos x="180" y="121"/>
                </a:cxn>
                <a:cxn ang="0">
                  <a:pos x="129" y="135"/>
                </a:cxn>
                <a:cxn ang="0">
                  <a:pos x="96" y="148"/>
                </a:cxn>
                <a:cxn ang="0">
                  <a:pos x="108" y="151"/>
                </a:cxn>
                <a:cxn ang="0">
                  <a:pos x="105" y="163"/>
                </a:cxn>
                <a:cxn ang="0">
                  <a:pos x="81" y="169"/>
                </a:cxn>
                <a:cxn ang="0">
                  <a:pos x="110" y="177"/>
                </a:cxn>
                <a:cxn ang="0">
                  <a:pos x="88" y="199"/>
                </a:cxn>
                <a:cxn ang="0">
                  <a:pos x="137" y="193"/>
                </a:cxn>
                <a:cxn ang="0">
                  <a:pos x="159" y="193"/>
                </a:cxn>
                <a:cxn ang="0">
                  <a:pos x="124" y="217"/>
                </a:cxn>
                <a:cxn ang="0">
                  <a:pos x="57" y="246"/>
                </a:cxn>
                <a:cxn ang="0">
                  <a:pos x="38" y="246"/>
                </a:cxn>
                <a:cxn ang="0">
                  <a:pos x="14" y="258"/>
                </a:cxn>
                <a:cxn ang="0">
                  <a:pos x="34" y="252"/>
                </a:cxn>
                <a:cxn ang="0">
                  <a:pos x="81" y="244"/>
                </a:cxn>
                <a:cxn ang="0">
                  <a:pos x="168" y="210"/>
                </a:cxn>
                <a:cxn ang="0">
                  <a:pos x="228" y="179"/>
                </a:cxn>
                <a:cxn ang="0">
                  <a:pos x="297" y="153"/>
                </a:cxn>
                <a:cxn ang="0">
                  <a:pos x="258" y="166"/>
                </a:cxn>
                <a:cxn ang="0">
                  <a:pos x="238" y="190"/>
                </a:cxn>
                <a:cxn ang="0">
                  <a:pos x="261" y="183"/>
                </a:cxn>
                <a:cxn ang="0">
                  <a:pos x="280" y="178"/>
                </a:cxn>
                <a:cxn ang="0">
                  <a:pos x="294" y="165"/>
                </a:cxn>
                <a:cxn ang="0">
                  <a:pos x="312" y="161"/>
                </a:cxn>
                <a:cxn ang="0">
                  <a:pos x="324" y="163"/>
                </a:cxn>
                <a:cxn ang="0">
                  <a:pos x="323" y="169"/>
                </a:cxn>
                <a:cxn ang="0">
                  <a:pos x="340" y="174"/>
                </a:cxn>
                <a:cxn ang="0">
                  <a:pos x="393" y="178"/>
                </a:cxn>
                <a:cxn ang="0">
                  <a:pos x="389" y="184"/>
                </a:cxn>
                <a:cxn ang="0">
                  <a:pos x="411" y="195"/>
                </a:cxn>
                <a:cxn ang="0">
                  <a:pos x="420" y="201"/>
                </a:cxn>
                <a:cxn ang="0">
                  <a:pos x="434" y="199"/>
                </a:cxn>
                <a:cxn ang="0">
                  <a:pos x="436" y="211"/>
                </a:cxn>
                <a:cxn ang="0">
                  <a:pos x="435" y="215"/>
                </a:cxn>
                <a:cxn ang="0">
                  <a:pos x="435" y="232"/>
                </a:cxn>
                <a:cxn ang="0">
                  <a:pos x="428" y="249"/>
                </a:cxn>
                <a:cxn ang="0">
                  <a:pos x="441" y="255"/>
                </a:cxn>
              </a:cxnLst>
              <a:rect l="0" t="0" r="r" b="b"/>
              <a:pathLst>
                <a:path w="550" h="264">
                  <a:moveTo>
                    <a:pt x="447" y="256"/>
                  </a:moveTo>
                  <a:lnTo>
                    <a:pt x="455" y="245"/>
                  </a:lnTo>
                  <a:lnTo>
                    <a:pt x="449" y="238"/>
                  </a:lnTo>
                  <a:lnTo>
                    <a:pt x="442" y="229"/>
                  </a:lnTo>
                  <a:lnTo>
                    <a:pt x="446" y="214"/>
                  </a:lnTo>
                  <a:lnTo>
                    <a:pt x="449" y="198"/>
                  </a:lnTo>
                  <a:lnTo>
                    <a:pt x="444" y="180"/>
                  </a:lnTo>
                  <a:lnTo>
                    <a:pt x="426" y="186"/>
                  </a:lnTo>
                  <a:lnTo>
                    <a:pt x="417" y="191"/>
                  </a:lnTo>
                  <a:lnTo>
                    <a:pt x="405" y="196"/>
                  </a:lnTo>
                  <a:lnTo>
                    <a:pt x="405" y="179"/>
                  </a:lnTo>
                  <a:lnTo>
                    <a:pt x="402" y="175"/>
                  </a:lnTo>
                  <a:lnTo>
                    <a:pt x="408" y="172"/>
                  </a:lnTo>
                  <a:lnTo>
                    <a:pt x="383" y="172"/>
                  </a:lnTo>
                  <a:lnTo>
                    <a:pt x="404" y="154"/>
                  </a:lnTo>
                  <a:lnTo>
                    <a:pt x="424" y="135"/>
                  </a:lnTo>
                  <a:lnTo>
                    <a:pt x="444" y="115"/>
                  </a:lnTo>
                  <a:lnTo>
                    <a:pt x="464" y="96"/>
                  </a:lnTo>
                  <a:lnTo>
                    <a:pt x="485" y="78"/>
                  </a:lnTo>
                  <a:lnTo>
                    <a:pt x="507" y="60"/>
                  </a:lnTo>
                  <a:lnTo>
                    <a:pt x="528" y="42"/>
                  </a:lnTo>
                  <a:lnTo>
                    <a:pt x="550" y="24"/>
                  </a:lnTo>
                  <a:lnTo>
                    <a:pt x="524" y="18"/>
                  </a:lnTo>
                  <a:lnTo>
                    <a:pt x="500" y="16"/>
                  </a:lnTo>
                  <a:lnTo>
                    <a:pt x="474" y="13"/>
                  </a:lnTo>
                  <a:lnTo>
                    <a:pt x="443" y="11"/>
                  </a:lnTo>
                  <a:lnTo>
                    <a:pt x="441" y="9"/>
                  </a:lnTo>
                  <a:lnTo>
                    <a:pt x="429" y="6"/>
                  </a:lnTo>
                  <a:lnTo>
                    <a:pt x="422" y="6"/>
                  </a:lnTo>
                  <a:lnTo>
                    <a:pt x="418" y="4"/>
                  </a:lnTo>
                  <a:lnTo>
                    <a:pt x="406" y="6"/>
                  </a:lnTo>
                  <a:lnTo>
                    <a:pt x="413" y="1"/>
                  </a:lnTo>
                  <a:lnTo>
                    <a:pt x="406" y="0"/>
                  </a:lnTo>
                  <a:lnTo>
                    <a:pt x="372" y="7"/>
                  </a:lnTo>
                  <a:lnTo>
                    <a:pt x="366" y="7"/>
                  </a:lnTo>
                  <a:lnTo>
                    <a:pt x="356" y="10"/>
                  </a:lnTo>
                  <a:lnTo>
                    <a:pt x="354" y="12"/>
                  </a:lnTo>
                  <a:lnTo>
                    <a:pt x="347" y="16"/>
                  </a:lnTo>
                  <a:lnTo>
                    <a:pt x="352" y="11"/>
                  </a:lnTo>
                  <a:lnTo>
                    <a:pt x="324" y="16"/>
                  </a:lnTo>
                  <a:lnTo>
                    <a:pt x="296" y="25"/>
                  </a:lnTo>
                  <a:lnTo>
                    <a:pt x="268" y="36"/>
                  </a:lnTo>
                  <a:lnTo>
                    <a:pt x="244" y="36"/>
                  </a:lnTo>
                  <a:lnTo>
                    <a:pt x="230" y="45"/>
                  </a:lnTo>
                  <a:lnTo>
                    <a:pt x="240" y="60"/>
                  </a:lnTo>
                  <a:lnTo>
                    <a:pt x="236" y="64"/>
                  </a:lnTo>
                  <a:lnTo>
                    <a:pt x="255" y="66"/>
                  </a:lnTo>
                  <a:lnTo>
                    <a:pt x="250" y="72"/>
                  </a:lnTo>
                  <a:lnTo>
                    <a:pt x="264" y="73"/>
                  </a:lnTo>
                  <a:lnTo>
                    <a:pt x="245" y="72"/>
                  </a:lnTo>
                  <a:lnTo>
                    <a:pt x="244" y="67"/>
                  </a:lnTo>
                  <a:lnTo>
                    <a:pt x="242" y="76"/>
                  </a:lnTo>
                  <a:lnTo>
                    <a:pt x="246" y="79"/>
                  </a:lnTo>
                  <a:lnTo>
                    <a:pt x="238" y="79"/>
                  </a:lnTo>
                  <a:lnTo>
                    <a:pt x="210" y="78"/>
                  </a:lnTo>
                  <a:lnTo>
                    <a:pt x="222" y="72"/>
                  </a:lnTo>
                  <a:lnTo>
                    <a:pt x="191" y="77"/>
                  </a:lnTo>
                  <a:lnTo>
                    <a:pt x="152" y="88"/>
                  </a:lnTo>
                  <a:lnTo>
                    <a:pt x="165" y="93"/>
                  </a:lnTo>
                  <a:lnTo>
                    <a:pt x="155" y="94"/>
                  </a:lnTo>
                  <a:lnTo>
                    <a:pt x="153" y="103"/>
                  </a:lnTo>
                  <a:lnTo>
                    <a:pt x="186" y="103"/>
                  </a:lnTo>
                  <a:lnTo>
                    <a:pt x="191" y="106"/>
                  </a:lnTo>
                  <a:lnTo>
                    <a:pt x="220" y="97"/>
                  </a:lnTo>
                  <a:lnTo>
                    <a:pt x="214" y="105"/>
                  </a:lnTo>
                  <a:lnTo>
                    <a:pt x="208" y="106"/>
                  </a:lnTo>
                  <a:lnTo>
                    <a:pt x="202" y="115"/>
                  </a:lnTo>
                  <a:lnTo>
                    <a:pt x="180" y="121"/>
                  </a:lnTo>
                  <a:lnTo>
                    <a:pt x="149" y="129"/>
                  </a:lnTo>
                  <a:lnTo>
                    <a:pt x="155" y="125"/>
                  </a:lnTo>
                  <a:lnTo>
                    <a:pt x="143" y="127"/>
                  </a:lnTo>
                  <a:lnTo>
                    <a:pt x="129" y="135"/>
                  </a:lnTo>
                  <a:lnTo>
                    <a:pt x="131" y="135"/>
                  </a:lnTo>
                  <a:lnTo>
                    <a:pt x="125" y="137"/>
                  </a:lnTo>
                  <a:lnTo>
                    <a:pt x="104" y="147"/>
                  </a:lnTo>
                  <a:lnTo>
                    <a:pt x="96" y="148"/>
                  </a:lnTo>
                  <a:lnTo>
                    <a:pt x="99" y="150"/>
                  </a:lnTo>
                  <a:lnTo>
                    <a:pt x="90" y="153"/>
                  </a:lnTo>
                  <a:lnTo>
                    <a:pt x="93" y="157"/>
                  </a:lnTo>
                  <a:lnTo>
                    <a:pt x="108" y="151"/>
                  </a:lnTo>
                  <a:lnTo>
                    <a:pt x="94" y="159"/>
                  </a:lnTo>
                  <a:lnTo>
                    <a:pt x="95" y="161"/>
                  </a:lnTo>
                  <a:lnTo>
                    <a:pt x="110" y="162"/>
                  </a:lnTo>
                  <a:lnTo>
                    <a:pt x="105" y="163"/>
                  </a:lnTo>
                  <a:lnTo>
                    <a:pt x="107" y="166"/>
                  </a:lnTo>
                  <a:lnTo>
                    <a:pt x="98" y="166"/>
                  </a:lnTo>
                  <a:lnTo>
                    <a:pt x="92" y="163"/>
                  </a:lnTo>
                  <a:lnTo>
                    <a:pt x="81" y="169"/>
                  </a:lnTo>
                  <a:lnTo>
                    <a:pt x="87" y="180"/>
                  </a:lnTo>
                  <a:lnTo>
                    <a:pt x="110" y="174"/>
                  </a:lnTo>
                  <a:lnTo>
                    <a:pt x="124" y="167"/>
                  </a:lnTo>
                  <a:lnTo>
                    <a:pt x="110" y="177"/>
                  </a:lnTo>
                  <a:lnTo>
                    <a:pt x="100" y="187"/>
                  </a:lnTo>
                  <a:lnTo>
                    <a:pt x="96" y="192"/>
                  </a:lnTo>
                  <a:lnTo>
                    <a:pt x="96" y="193"/>
                  </a:lnTo>
                  <a:lnTo>
                    <a:pt x="88" y="199"/>
                  </a:lnTo>
                  <a:lnTo>
                    <a:pt x="114" y="195"/>
                  </a:lnTo>
                  <a:lnTo>
                    <a:pt x="122" y="196"/>
                  </a:lnTo>
                  <a:lnTo>
                    <a:pt x="122" y="204"/>
                  </a:lnTo>
                  <a:lnTo>
                    <a:pt x="137" y="193"/>
                  </a:lnTo>
                  <a:lnTo>
                    <a:pt x="142" y="193"/>
                  </a:lnTo>
                  <a:lnTo>
                    <a:pt x="132" y="197"/>
                  </a:lnTo>
                  <a:lnTo>
                    <a:pt x="135" y="201"/>
                  </a:lnTo>
                  <a:lnTo>
                    <a:pt x="159" y="193"/>
                  </a:lnTo>
                  <a:lnTo>
                    <a:pt x="136" y="207"/>
                  </a:lnTo>
                  <a:lnTo>
                    <a:pt x="140" y="207"/>
                  </a:lnTo>
                  <a:lnTo>
                    <a:pt x="137" y="207"/>
                  </a:lnTo>
                  <a:lnTo>
                    <a:pt x="124" y="217"/>
                  </a:lnTo>
                  <a:lnTo>
                    <a:pt x="117" y="219"/>
                  </a:lnTo>
                  <a:lnTo>
                    <a:pt x="95" y="231"/>
                  </a:lnTo>
                  <a:lnTo>
                    <a:pt x="60" y="241"/>
                  </a:lnTo>
                  <a:lnTo>
                    <a:pt x="57" y="246"/>
                  </a:lnTo>
                  <a:lnTo>
                    <a:pt x="51" y="246"/>
                  </a:lnTo>
                  <a:lnTo>
                    <a:pt x="48" y="249"/>
                  </a:lnTo>
                  <a:lnTo>
                    <a:pt x="48" y="246"/>
                  </a:lnTo>
                  <a:lnTo>
                    <a:pt x="38" y="246"/>
                  </a:lnTo>
                  <a:lnTo>
                    <a:pt x="0" y="262"/>
                  </a:lnTo>
                  <a:lnTo>
                    <a:pt x="3" y="261"/>
                  </a:lnTo>
                  <a:lnTo>
                    <a:pt x="5" y="262"/>
                  </a:lnTo>
                  <a:lnTo>
                    <a:pt x="14" y="258"/>
                  </a:lnTo>
                  <a:lnTo>
                    <a:pt x="15" y="259"/>
                  </a:lnTo>
                  <a:lnTo>
                    <a:pt x="32" y="252"/>
                  </a:lnTo>
                  <a:lnTo>
                    <a:pt x="39" y="252"/>
                  </a:lnTo>
                  <a:lnTo>
                    <a:pt x="34" y="252"/>
                  </a:lnTo>
                  <a:lnTo>
                    <a:pt x="51" y="250"/>
                  </a:lnTo>
                  <a:lnTo>
                    <a:pt x="62" y="249"/>
                  </a:lnTo>
                  <a:lnTo>
                    <a:pt x="65" y="247"/>
                  </a:lnTo>
                  <a:lnTo>
                    <a:pt x="81" y="244"/>
                  </a:lnTo>
                  <a:lnTo>
                    <a:pt x="86" y="243"/>
                  </a:lnTo>
                  <a:lnTo>
                    <a:pt x="89" y="239"/>
                  </a:lnTo>
                  <a:lnTo>
                    <a:pt x="131" y="223"/>
                  </a:lnTo>
                  <a:lnTo>
                    <a:pt x="168" y="210"/>
                  </a:lnTo>
                  <a:lnTo>
                    <a:pt x="201" y="196"/>
                  </a:lnTo>
                  <a:lnTo>
                    <a:pt x="194" y="192"/>
                  </a:lnTo>
                  <a:lnTo>
                    <a:pt x="222" y="180"/>
                  </a:lnTo>
                  <a:lnTo>
                    <a:pt x="228" y="179"/>
                  </a:lnTo>
                  <a:lnTo>
                    <a:pt x="232" y="173"/>
                  </a:lnTo>
                  <a:lnTo>
                    <a:pt x="256" y="163"/>
                  </a:lnTo>
                  <a:lnTo>
                    <a:pt x="280" y="156"/>
                  </a:lnTo>
                  <a:lnTo>
                    <a:pt x="297" y="153"/>
                  </a:lnTo>
                  <a:lnTo>
                    <a:pt x="286" y="157"/>
                  </a:lnTo>
                  <a:lnTo>
                    <a:pt x="290" y="162"/>
                  </a:lnTo>
                  <a:lnTo>
                    <a:pt x="284" y="161"/>
                  </a:lnTo>
                  <a:lnTo>
                    <a:pt x="258" y="166"/>
                  </a:lnTo>
                  <a:lnTo>
                    <a:pt x="236" y="183"/>
                  </a:lnTo>
                  <a:lnTo>
                    <a:pt x="248" y="180"/>
                  </a:lnTo>
                  <a:lnTo>
                    <a:pt x="230" y="187"/>
                  </a:lnTo>
                  <a:lnTo>
                    <a:pt x="238" y="190"/>
                  </a:lnTo>
                  <a:lnTo>
                    <a:pt x="256" y="181"/>
                  </a:lnTo>
                  <a:lnTo>
                    <a:pt x="251" y="185"/>
                  </a:lnTo>
                  <a:lnTo>
                    <a:pt x="257" y="183"/>
                  </a:lnTo>
                  <a:lnTo>
                    <a:pt x="261" y="183"/>
                  </a:lnTo>
                  <a:lnTo>
                    <a:pt x="263" y="179"/>
                  </a:lnTo>
                  <a:lnTo>
                    <a:pt x="264" y="181"/>
                  </a:lnTo>
                  <a:lnTo>
                    <a:pt x="272" y="177"/>
                  </a:lnTo>
                  <a:lnTo>
                    <a:pt x="280" y="178"/>
                  </a:lnTo>
                  <a:lnTo>
                    <a:pt x="296" y="171"/>
                  </a:lnTo>
                  <a:lnTo>
                    <a:pt x="293" y="169"/>
                  </a:lnTo>
                  <a:lnTo>
                    <a:pt x="298" y="167"/>
                  </a:lnTo>
                  <a:lnTo>
                    <a:pt x="294" y="165"/>
                  </a:lnTo>
                  <a:lnTo>
                    <a:pt x="303" y="162"/>
                  </a:lnTo>
                  <a:lnTo>
                    <a:pt x="316" y="156"/>
                  </a:lnTo>
                  <a:lnTo>
                    <a:pt x="305" y="162"/>
                  </a:lnTo>
                  <a:lnTo>
                    <a:pt x="312" y="161"/>
                  </a:lnTo>
                  <a:lnTo>
                    <a:pt x="311" y="162"/>
                  </a:lnTo>
                  <a:lnTo>
                    <a:pt x="330" y="159"/>
                  </a:lnTo>
                  <a:lnTo>
                    <a:pt x="326" y="160"/>
                  </a:lnTo>
                  <a:lnTo>
                    <a:pt x="324" y="163"/>
                  </a:lnTo>
                  <a:lnTo>
                    <a:pt x="321" y="165"/>
                  </a:lnTo>
                  <a:lnTo>
                    <a:pt x="327" y="165"/>
                  </a:lnTo>
                  <a:lnTo>
                    <a:pt x="328" y="166"/>
                  </a:lnTo>
                  <a:lnTo>
                    <a:pt x="323" y="169"/>
                  </a:lnTo>
                  <a:lnTo>
                    <a:pt x="328" y="172"/>
                  </a:lnTo>
                  <a:lnTo>
                    <a:pt x="341" y="167"/>
                  </a:lnTo>
                  <a:lnTo>
                    <a:pt x="336" y="171"/>
                  </a:lnTo>
                  <a:lnTo>
                    <a:pt x="340" y="174"/>
                  </a:lnTo>
                  <a:lnTo>
                    <a:pt x="357" y="175"/>
                  </a:lnTo>
                  <a:lnTo>
                    <a:pt x="375" y="177"/>
                  </a:lnTo>
                  <a:lnTo>
                    <a:pt x="375" y="181"/>
                  </a:lnTo>
                  <a:lnTo>
                    <a:pt x="393" y="178"/>
                  </a:lnTo>
                  <a:lnTo>
                    <a:pt x="400" y="180"/>
                  </a:lnTo>
                  <a:lnTo>
                    <a:pt x="394" y="183"/>
                  </a:lnTo>
                  <a:lnTo>
                    <a:pt x="398" y="178"/>
                  </a:lnTo>
                  <a:lnTo>
                    <a:pt x="389" y="184"/>
                  </a:lnTo>
                  <a:lnTo>
                    <a:pt x="398" y="195"/>
                  </a:lnTo>
                  <a:lnTo>
                    <a:pt x="407" y="205"/>
                  </a:lnTo>
                  <a:lnTo>
                    <a:pt x="413" y="205"/>
                  </a:lnTo>
                  <a:lnTo>
                    <a:pt x="411" y="195"/>
                  </a:lnTo>
                  <a:lnTo>
                    <a:pt x="417" y="197"/>
                  </a:lnTo>
                  <a:lnTo>
                    <a:pt x="423" y="195"/>
                  </a:lnTo>
                  <a:lnTo>
                    <a:pt x="424" y="196"/>
                  </a:lnTo>
                  <a:lnTo>
                    <a:pt x="420" y="201"/>
                  </a:lnTo>
                  <a:lnTo>
                    <a:pt x="420" y="203"/>
                  </a:lnTo>
                  <a:lnTo>
                    <a:pt x="422" y="207"/>
                  </a:lnTo>
                  <a:lnTo>
                    <a:pt x="436" y="190"/>
                  </a:lnTo>
                  <a:lnTo>
                    <a:pt x="434" y="199"/>
                  </a:lnTo>
                  <a:lnTo>
                    <a:pt x="436" y="207"/>
                  </a:lnTo>
                  <a:lnTo>
                    <a:pt x="440" y="205"/>
                  </a:lnTo>
                  <a:lnTo>
                    <a:pt x="441" y="209"/>
                  </a:lnTo>
                  <a:lnTo>
                    <a:pt x="436" y="211"/>
                  </a:lnTo>
                  <a:lnTo>
                    <a:pt x="444" y="213"/>
                  </a:lnTo>
                  <a:lnTo>
                    <a:pt x="440" y="213"/>
                  </a:lnTo>
                  <a:lnTo>
                    <a:pt x="440" y="217"/>
                  </a:lnTo>
                  <a:lnTo>
                    <a:pt x="435" y="215"/>
                  </a:lnTo>
                  <a:lnTo>
                    <a:pt x="436" y="221"/>
                  </a:lnTo>
                  <a:lnTo>
                    <a:pt x="431" y="222"/>
                  </a:lnTo>
                  <a:lnTo>
                    <a:pt x="432" y="225"/>
                  </a:lnTo>
                  <a:lnTo>
                    <a:pt x="435" y="232"/>
                  </a:lnTo>
                  <a:lnTo>
                    <a:pt x="441" y="240"/>
                  </a:lnTo>
                  <a:lnTo>
                    <a:pt x="435" y="240"/>
                  </a:lnTo>
                  <a:lnTo>
                    <a:pt x="422" y="251"/>
                  </a:lnTo>
                  <a:lnTo>
                    <a:pt x="428" y="249"/>
                  </a:lnTo>
                  <a:lnTo>
                    <a:pt x="446" y="243"/>
                  </a:lnTo>
                  <a:lnTo>
                    <a:pt x="435" y="256"/>
                  </a:lnTo>
                  <a:lnTo>
                    <a:pt x="430" y="257"/>
                  </a:lnTo>
                  <a:lnTo>
                    <a:pt x="441" y="255"/>
                  </a:lnTo>
                  <a:lnTo>
                    <a:pt x="434" y="259"/>
                  </a:lnTo>
                  <a:lnTo>
                    <a:pt x="430" y="264"/>
                  </a:lnTo>
                  <a:lnTo>
                    <a:pt x="447" y="2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3" name="Freeform 432"/>
            <p:cNvSpPr>
              <a:spLocks/>
            </p:cNvSpPr>
            <p:nvPr/>
          </p:nvSpPr>
          <p:spPr bwMode="auto">
            <a:xfrm>
              <a:off x="300" y="1561"/>
              <a:ext cx="43" cy="22"/>
            </a:xfrm>
            <a:custGeom>
              <a:avLst/>
              <a:gdLst/>
              <a:ahLst/>
              <a:cxnLst>
                <a:cxn ang="0">
                  <a:pos x="40" y="6"/>
                </a:cxn>
                <a:cxn ang="0">
                  <a:pos x="36" y="5"/>
                </a:cxn>
                <a:cxn ang="0">
                  <a:pos x="37" y="3"/>
                </a:cxn>
                <a:cxn ang="0">
                  <a:pos x="35" y="3"/>
                </a:cxn>
                <a:cxn ang="0">
                  <a:pos x="31" y="0"/>
                </a:cxn>
                <a:cxn ang="0">
                  <a:pos x="29" y="4"/>
                </a:cxn>
                <a:cxn ang="0">
                  <a:pos x="24" y="4"/>
                </a:cxn>
                <a:cxn ang="0">
                  <a:pos x="18" y="5"/>
                </a:cxn>
                <a:cxn ang="0">
                  <a:pos x="13" y="12"/>
                </a:cxn>
                <a:cxn ang="0">
                  <a:pos x="12" y="6"/>
                </a:cxn>
                <a:cxn ang="0">
                  <a:pos x="1" y="12"/>
                </a:cxn>
                <a:cxn ang="0">
                  <a:pos x="1" y="18"/>
                </a:cxn>
                <a:cxn ang="0">
                  <a:pos x="3" y="16"/>
                </a:cxn>
                <a:cxn ang="0">
                  <a:pos x="7" y="16"/>
                </a:cxn>
                <a:cxn ang="0">
                  <a:pos x="0" y="22"/>
                </a:cxn>
                <a:cxn ang="0">
                  <a:pos x="9" y="16"/>
                </a:cxn>
                <a:cxn ang="0">
                  <a:pos x="25" y="11"/>
                </a:cxn>
                <a:cxn ang="0">
                  <a:pos x="28" y="10"/>
                </a:cxn>
                <a:cxn ang="0">
                  <a:pos x="40" y="6"/>
                </a:cxn>
              </a:cxnLst>
              <a:rect l="0" t="0" r="r" b="b"/>
              <a:pathLst>
                <a:path w="40" h="22">
                  <a:moveTo>
                    <a:pt x="40" y="6"/>
                  </a:moveTo>
                  <a:lnTo>
                    <a:pt x="36" y="5"/>
                  </a:lnTo>
                  <a:lnTo>
                    <a:pt x="37" y="3"/>
                  </a:lnTo>
                  <a:lnTo>
                    <a:pt x="35" y="3"/>
                  </a:lnTo>
                  <a:lnTo>
                    <a:pt x="31" y="0"/>
                  </a:lnTo>
                  <a:lnTo>
                    <a:pt x="29" y="4"/>
                  </a:lnTo>
                  <a:lnTo>
                    <a:pt x="24" y="4"/>
                  </a:lnTo>
                  <a:lnTo>
                    <a:pt x="18" y="5"/>
                  </a:lnTo>
                  <a:lnTo>
                    <a:pt x="13" y="12"/>
                  </a:lnTo>
                  <a:lnTo>
                    <a:pt x="12" y="6"/>
                  </a:lnTo>
                  <a:lnTo>
                    <a:pt x="1" y="12"/>
                  </a:lnTo>
                  <a:lnTo>
                    <a:pt x="1" y="18"/>
                  </a:lnTo>
                  <a:lnTo>
                    <a:pt x="3" y="16"/>
                  </a:lnTo>
                  <a:lnTo>
                    <a:pt x="7" y="16"/>
                  </a:lnTo>
                  <a:lnTo>
                    <a:pt x="0" y="22"/>
                  </a:lnTo>
                  <a:lnTo>
                    <a:pt x="9" y="16"/>
                  </a:lnTo>
                  <a:lnTo>
                    <a:pt x="25" y="11"/>
                  </a:lnTo>
                  <a:lnTo>
                    <a:pt x="28" y="10"/>
                  </a:lnTo>
                  <a:lnTo>
                    <a:pt x="4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4" name="Freeform 433"/>
            <p:cNvSpPr>
              <a:spLocks/>
            </p:cNvSpPr>
            <p:nvPr/>
          </p:nvSpPr>
          <p:spPr bwMode="auto">
            <a:xfrm>
              <a:off x="196" y="1456"/>
              <a:ext cx="38" cy="14"/>
            </a:xfrm>
            <a:custGeom>
              <a:avLst/>
              <a:gdLst/>
              <a:ahLst/>
              <a:cxnLst>
                <a:cxn ang="0">
                  <a:pos x="33" y="6"/>
                </a:cxn>
                <a:cxn ang="0">
                  <a:pos x="16" y="11"/>
                </a:cxn>
                <a:cxn ang="0">
                  <a:pos x="10" y="3"/>
                </a:cxn>
                <a:cxn ang="0">
                  <a:pos x="13" y="7"/>
                </a:cxn>
                <a:cxn ang="0">
                  <a:pos x="0" y="6"/>
                </a:cxn>
                <a:cxn ang="0">
                  <a:pos x="4" y="0"/>
                </a:cxn>
                <a:cxn ang="0">
                  <a:pos x="18" y="0"/>
                </a:cxn>
                <a:cxn ang="0">
                  <a:pos x="33" y="6"/>
                </a:cxn>
              </a:cxnLst>
              <a:rect l="0" t="0" r="r" b="b"/>
              <a:pathLst>
                <a:path w="33" h="11">
                  <a:moveTo>
                    <a:pt x="33" y="6"/>
                  </a:moveTo>
                  <a:lnTo>
                    <a:pt x="16" y="11"/>
                  </a:lnTo>
                  <a:lnTo>
                    <a:pt x="10" y="3"/>
                  </a:lnTo>
                  <a:lnTo>
                    <a:pt x="13" y="7"/>
                  </a:lnTo>
                  <a:lnTo>
                    <a:pt x="0" y="6"/>
                  </a:lnTo>
                  <a:lnTo>
                    <a:pt x="4" y="0"/>
                  </a:lnTo>
                  <a:lnTo>
                    <a:pt x="18" y="0"/>
                  </a:lnTo>
                  <a:lnTo>
                    <a:pt x="33"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5" name="Freeform 434"/>
            <p:cNvSpPr>
              <a:spLocks/>
            </p:cNvSpPr>
            <p:nvPr/>
          </p:nvSpPr>
          <p:spPr bwMode="auto">
            <a:xfrm>
              <a:off x="576" y="1590"/>
              <a:ext cx="18" cy="33"/>
            </a:xfrm>
            <a:custGeom>
              <a:avLst/>
              <a:gdLst/>
              <a:ahLst/>
              <a:cxnLst>
                <a:cxn ang="0">
                  <a:pos x="9" y="26"/>
                </a:cxn>
                <a:cxn ang="0">
                  <a:pos x="7" y="29"/>
                </a:cxn>
                <a:cxn ang="0">
                  <a:pos x="6" y="21"/>
                </a:cxn>
                <a:cxn ang="0">
                  <a:pos x="0" y="18"/>
                </a:cxn>
                <a:cxn ang="0">
                  <a:pos x="6" y="17"/>
                </a:cxn>
                <a:cxn ang="0">
                  <a:pos x="9" y="12"/>
                </a:cxn>
                <a:cxn ang="0">
                  <a:pos x="3" y="13"/>
                </a:cxn>
                <a:cxn ang="0">
                  <a:pos x="10" y="8"/>
                </a:cxn>
                <a:cxn ang="0">
                  <a:pos x="9" y="2"/>
                </a:cxn>
                <a:cxn ang="0">
                  <a:pos x="14" y="0"/>
                </a:cxn>
                <a:cxn ang="0">
                  <a:pos x="16" y="14"/>
                </a:cxn>
                <a:cxn ang="0">
                  <a:pos x="14" y="12"/>
                </a:cxn>
                <a:cxn ang="0">
                  <a:pos x="13" y="15"/>
                </a:cxn>
                <a:cxn ang="0">
                  <a:pos x="9" y="26"/>
                </a:cxn>
              </a:cxnLst>
              <a:rect l="0" t="0" r="r" b="b"/>
              <a:pathLst>
                <a:path w="16" h="29">
                  <a:moveTo>
                    <a:pt x="9" y="26"/>
                  </a:moveTo>
                  <a:lnTo>
                    <a:pt x="7" y="29"/>
                  </a:lnTo>
                  <a:lnTo>
                    <a:pt x="6" y="21"/>
                  </a:lnTo>
                  <a:lnTo>
                    <a:pt x="0" y="18"/>
                  </a:lnTo>
                  <a:lnTo>
                    <a:pt x="6" y="17"/>
                  </a:lnTo>
                  <a:lnTo>
                    <a:pt x="9" y="12"/>
                  </a:lnTo>
                  <a:lnTo>
                    <a:pt x="3" y="13"/>
                  </a:lnTo>
                  <a:lnTo>
                    <a:pt x="10" y="8"/>
                  </a:lnTo>
                  <a:lnTo>
                    <a:pt x="9" y="2"/>
                  </a:lnTo>
                  <a:lnTo>
                    <a:pt x="14" y="0"/>
                  </a:lnTo>
                  <a:lnTo>
                    <a:pt x="16" y="14"/>
                  </a:lnTo>
                  <a:lnTo>
                    <a:pt x="14" y="12"/>
                  </a:lnTo>
                  <a:lnTo>
                    <a:pt x="13" y="15"/>
                  </a:lnTo>
                  <a:lnTo>
                    <a:pt x="9" y="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6" name="Freeform 435"/>
            <p:cNvSpPr>
              <a:spLocks/>
            </p:cNvSpPr>
            <p:nvPr/>
          </p:nvSpPr>
          <p:spPr bwMode="auto">
            <a:xfrm>
              <a:off x="587" y="1556"/>
              <a:ext cx="20" cy="23"/>
            </a:xfrm>
            <a:custGeom>
              <a:avLst/>
              <a:gdLst/>
              <a:ahLst/>
              <a:cxnLst>
                <a:cxn ang="0">
                  <a:pos x="17" y="10"/>
                </a:cxn>
                <a:cxn ang="0">
                  <a:pos x="12" y="12"/>
                </a:cxn>
                <a:cxn ang="0">
                  <a:pos x="0" y="20"/>
                </a:cxn>
                <a:cxn ang="0">
                  <a:pos x="3" y="15"/>
                </a:cxn>
                <a:cxn ang="0">
                  <a:pos x="14" y="0"/>
                </a:cxn>
                <a:cxn ang="0">
                  <a:pos x="18" y="1"/>
                </a:cxn>
                <a:cxn ang="0">
                  <a:pos x="17" y="10"/>
                </a:cxn>
              </a:cxnLst>
              <a:rect l="0" t="0" r="r" b="b"/>
              <a:pathLst>
                <a:path w="18" h="20">
                  <a:moveTo>
                    <a:pt x="17" y="10"/>
                  </a:moveTo>
                  <a:lnTo>
                    <a:pt x="12" y="12"/>
                  </a:lnTo>
                  <a:lnTo>
                    <a:pt x="0" y="20"/>
                  </a:lnTo>
                  <a:lnTo>
                    <a:pt x="3" y="15"/>
                  </a:lnTo>
                  <a:lnTo>
                    <a:pt x="14" y="0"/>
                  </a:lnTo>
                  <a:lnTo>
                    <a:pt x="18" y="1"/>
                  </a:lnTo>
                  <a:lnTo>
                    <a:pt x="17"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7" name="Freeform 436"/>
            <p:cNvSpPr>
              <a:spLocks/>
            </p:cNvSpPr>
            <p:nvPr/>
          </p:nvSpPr>
          <p:spPr bwMode="auto">
            <a:xfrm>
              <a:off x="96" y="1616"/>
              <a:ext cx="29" cy="9"/>
            </a:xfrm>
            <a:custGeom>
              <a:avLst/>
              <a:gdLst/>
              <a:ahLst/>
              <a:cxnLst>
                <a:cxn ang="0">
                  <a:pos x="26" y="6"/>
                </a:cxn>
                <a:cxn ang="0">
                  <a:pos x="21" y="0"/>
                </a:cxn>
                <a:cxn ang="0">
                  <a:pos x="0" y="7"/>
                </a:cxn>
                <a:cxn ang="0">
                  <a:pos x="6" y="8"/>
                </a:cxn>
                <a:cxn ang="0">
                  <a:pos x="26" y="6"/>
                </a:cxn>
              </a:cxnLst>
              <a:rect l="0" t="0" r="r" b="b"/>
              <a:pathLst>
                <a:path w="26" h="8">
                  <a:moveTo>
                    <a:pt x="26" y="6"/>
                  </a:moveTo>
                  <a:lnTo>
                    <a:pt x="21" y="0"/>
                  </a:lnTo>
                  <a:lnTo>
                    <a:pt x="0" y="7"/>
                  </a:lnTo>
                  <a:lnTo>
                    <a:pt x="6" y="8"/>
                  </a:lnTo>
                  <a:lnTo>
                    <a:pt x="2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8" name="Freeform 437"/>
            <p:cNvSpPr>
              <a:spLocks/>
            </p:cNvSpPr>
            <p:nvPr/>
          </p:nvSpPr>
          <p:spPr bwMode="auto">
            <a:xfrm>
              <a:off x="180" y="1516"/>
              <a:ext cx="20" cy="9"/>
            </a:xfrm>
            <a:custGeom>
              <a:avLst/>
              <a:gdLst/>
              <a:ahLst/>
              <a:cxnLst>
                <a:cxn ang="0">
                  <a:pos x="19" y="7"/>
                </a:cxn>
                <a:cxn ang="0">
                  <a:pos x="12" y="8"/>
                </a:cxn>
                <a:cxn ang="0">
                  <a:pos x="0" y="4"/>
                </a:cxn>
                <a:cxn ang="0">
                  <a:pos x="19" y="0"/>
                </a:cxn>
                <a:cxn ang="0">
                  <a:pos x="19" y="7"/>
                </a:cxn>
              </a:cxnLst>
              <a:rect l="0" t="0" r="r" b="b"/>
              <a:pathLst>
                <a:path w="19" h="8">
                  <a:moveTo>
                    <a:pt x="19" y="7"/>
                  </a:moveTo>
                  <a:lnTo>
                    <a:pt x="12" y="8"/>
                  </a:lnTo>
                  <a:lnTo>
                    <a:pt x="0" y="4"/>
                  </a:lnTo>
                  <a:lnTo>
                    <a:pt x="19" y="0"/>
                  </a:lnTo>
                  <a:lnTo>
                    <a:pt x="19"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9" name="Freeform 438"/>
            <p:cNvSpPr>
              <a:spLocks/>
            </p:cNvSpPr>
            <p:nvPr/>
          </p:nvSpPr>
          <p:spPr bwMode="auto">
            <a:xfrm>
              <a:off x="574" y="1554"/>
              <a:ext cx="20" cy="16"/>
            </a:xfrm>
            <a:custGeom>
              <a:avLst/>
              <a:gdLst/>
              <a:ahLst/>
              <a:cxnLst>
                <a:cxn ang="0">
                  <a:pos x="15" y="14"/>
                </a:cxn>
                <a:cxn ang="0">
                  <a:pos x="12" y="10"/>
                </a:cxn>
                <a:cxn ang="0">
                  <a:pos x="9" y="5"/>
                </a:cxn>
                <a:cxn ang="0">
                  <a:pos x="18" y="9"/>
                </a:cxn>
                <a:cxn ang="0">
                  <a:pos x="17" y="6"/>
                </a:cxn>
                <a:cxn ang="0">
                  <a:pos x="12" y="5"/>
                </a:cxn>
                <a:cxn ang="0">
                  <a:pos x="15" y="0"/>
                </a:cxn>
                <a:cxn ang="0">
                  <a:pos x="6" y="4"/>
                </a:cxn>
                <a:cxn ang="0">
                  <a:pos x="5" y="8"/>
                </a:cxn>
                <a:cxn ang="0">
                  <a:pos x="0" y="9"/>
                </a:cxn>
                <a:cxn ang="0">
                  <a:pos x="4" y="15"/>
                </a:cxn>
                <a:cxn ang="0">
                  <a:pos x="6" y="9"/>
                </a:cxn>
                <a:cxn ang="0">
                  <a:pos x="15" y="14"/>
                </a:cxn>
              </a:cxnLst>
              <a:rect l="0" t="0" r="r" b="b"/>
              <a:pathLst>
                <a:path w="18" h="15">
                  <a:moveTo>
                    <a:pt x="15" y="14"/>
                  </a:moveTo>
                  <a:lnTo>
                    <a:pt x="12" y="10"/>
                  </a:lnTo>
                  <a:lnTo>
                    <a:pt x="9" y="5"/>
                  </a:lnTo>
                  <a:lnTo>
                    <a:pt x="18" y="9"/>
                  </a:lnTo>
                  <a:lnTo>
                    <a:pt x="17" y="6"/>
                  </a:lnTo>
                  <a:lnTo>
                    <a:pt x="12" y="5"/>
                  </a:lnTo>
                  <a:lnTo>
                    <a:pt x="15" y="0"/>
                  </a:lnTo>
                  <a:lnTo>
                    <a:pt x="6" y="4"/>
                  </a:lnTo>
                  <a:lnTo>
                    <a:pt x="5" y="8"/>
                  </a:lnTo>
                  <a:lnTo>
                    <a:pt x="0" y="9"/>
                  </a:lnTo>
                  <a:lnTo>
                    <a:pt x="4" y="15"/>
                  </a:lnTo>
                  <a:lnTo>
                    <a:pt x="6" y="9"/>
                  </a:lnTo>
                  <a:lnTo>
                    <a:pt x="15" y="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0" name="Freeform 439"/>
            <p:cNvSpPr>
              <a:spLocks/>
            </p:cNvSpPr>
            <p:nvPr/>
          </p:nvSpPr>
          <p:spPr bwMode="auto">
            <a:xfrm>
              <a:off x="571" y="1570"/>
              <a:ext cx="14" cy="24"/>
            </a:xfrm>
            <a:custGeom>
              <a:avLst/>
              <a:gdLst/>
              <a:ahLst/>
              <a:cxnLst>
                <a:cxn ang="0">
                  <a:pos x="0" y="21"/>
                </a:cxn>
                <a:cxn ang="0">
                  <a:pos x="12" y="0"/>
                </a:cxn>
                <a:cxn ang="0">
                  <a:pos x="4" y="4"/>
                </a:cxn>
                <a:cxn ang="0">
                  <a:pos x="0" y="21"/>
                </a:cxn>
              </a:cxnLst>
              <a:rect l="0" t="0" r="r" b="b"/>
              <a:pathLst>
                <a:path w="12" h="21">
                  <a:moveTo>
                    <a:pt x="0" y="21"/>
                  </a:moveTo>
                  <a:lnTo>
                    <a:pt x="12" y="0"/>
                  </a:lnTo>
                  <a:lnTo>
                    <a:pt x="4" y="4"/>
                  </a:lnTo>
                  <a:lnTo>
                    <a:pt x="0" y="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1" name="Freeform 440"/>
            <p:cNvSpPr>
              <a:spLocks/>
            </p:cNvSpPr>
            <p:nvPr/>
          </p:nvSpPr>
          <p:spPr bwMode="auto">
            <a:xfrm>
              <a:off x="591" y="1576"/>
              <a:ext cx="14" cy="14"/>
            </a:xfrm>
            <a:custGeom>
              <a:avLst/>
              <a:gdLst/>
              <a:ahLst/>
              <a:cxnLst>
                <a:cxn ang="0">
                  <a:pos x="11" y="7"/>
                </a:cxn>
                <a:cxn ang="0">
                  <a:pos x="12" y="5"/>
                </a:cxn>
                <a:cxn ang="0">
                  <a:pos x="5" y="0"/>
                </a:cxn>
                <a:cxn ang="0">
                  <a:pos x="0" y="8"/>
                </a:cxn>
                <a:cxn ang="0">
                  <a:pos x="5" y="11"/>
                </a:cxn>
                <a:cxn ang="0">
                  <a:pos x="7" y="6"/>
                </a:cxn>
                <a:cxn ang="0">
                  <a:pos x="11" y="7"/>
                </a:cxn>
              </a:cxnLst>
              <a:rect l="0" t="0" r="r" b="b"/>
              <a:pathLst>
                <a:path w="12" h="11">
                  <a:moveTo>
                    <a:pt x="11" y="7"/>
                  </a:moveTo>
                  <a:lnTo>
                    <a:pt x="12" y="5"/>
                  </a:lnTo>
                  <a:lnTo>
                    <a:pt x="5" y="0"/>
                  </a:lnTo>
                  <a:lnTo>
                    <a:pt x="0" y="8"/>
                  </a:lnTo>
                  <a:lnTo>
                    <a:pt x="5" y="11"/>
                  </a:lnTo>
                  <a:lnTo>
                    <a:pt x="7" y="6"/>
                  </a:lnTo>
                  <a:lnTo>
                    <a:pt x="11"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2" name="Freeform 441"/>
            <p:cNvSpPr>
              <a:spLocks/>
            </p:cNvSpPr>
            <p:nvPr/>
          </p:nvSpPr>
          <p:spPr bwMode="auto">
            <a:xfrm>
              <a:off x="578" y="1581"/>
              <a:ext cx="13" cy="13"/>
            </a:xfrm>
            <a:custGeom>
              <a:avLst/>
              <a:gdLst/>
              <a:ahLst/>
              <a:cxnLst>
                <a:cxn ang="0">
                  <a:pos x="12" y="4"/>
                </a:cxn>
                <a:cxn ang="0">
                  <a:pos x="0" y="12"/>
                </a:cxn>
                <a:cxn ang="0">
                  <a:pos x="6" y="0"/>
                </a:cxn>
                <a:cxn ang="0">
                  <a:pos x="12" y="4"/>
                </a:cxn>
              </a:cxnLst>
              <a:rect l="0" t="0" r="r" b="b"/>
              <a:pathLst>
                <a:path w="12" h="12">
                  <a:moveTo>
                    <a:pt x="12" y="4"/>
                  </a:moveTo>
                  <a:lnTo>
                    <a:pt x="0" y="12"/>
                  </a:lnTo>
                  <a:lnTo>
                    <a:pt x="6" y="0"/>
                  </a:lnTo>
                  <a:lnTo>
                    <a:pt x="1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3" name="Freeform 442"/>
            <p:cNvSpPr>
              <a:spLocks/>
            </p:cNvSpPr>
            <p:nvPr/>
          </p:nvSpPr>
          <p:spPr bwMode="auto">
            <a:xfrm>
              <a:off x="1334" y="1885"/>
              <a:ext cx="37" cy="9"/>
            </a:xfrm>
            <a:custGeom>
              <a:avLst/>
              <a:gdLst/>
              <a:ahLst/>
              <a:cxnLst>
                <a:cxn ang="0">
                  <a:pos x="35" y="1"/>
                </a:cxn>
                <a:cxn ang="0">
                  <a:pos x="25" y="4"/>
                </a:cxn>
                <a:cxn ang="0">
                  <a:pos x="27" y="0"/>
                </a:cxn>
                <a:cxn ang="0">
                  <a:pos x="0" y="8"/>
                </a:cxn>
                <a:cxn ang="0">
                  <a:pos x="17" y="5"/>
                </a:cxn>
                <a:cxn ang="0">
                  <a:pos x="35" y="1"/>
                </a:cxn>
              </a:cxnLst>
              <a:rect l="0" t="0" r="r" b="b"/>
              <a:pathLst>
                <a:path w="35" h="8">
                  <a:moveTo>
                    <a:pt x="35" y="1"/>
                  </a:moveTo>
                  <a:lnTo>
                    <a:pt x="25" y="4"/>
                  </a:lnTo>
                  <a:lnTo>
                    <a:pt x="27" y="0"/>
                  </a:lnTo>
                  <a:lnTo>
                    <a:pt x="0" y="8"/>
                  </a:lnTo>
                  <a:lnTo>
                    <a:pt x="17" y="5"/>
                  </a:lnTo>
                  <a:lnTo>
                    <a:pt x="3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4" name="Freeform 443"/>
            <p:cNvSpPr>
              <a:spLocks/>
            </p:cNvSpPr>
            <p:nvPr/>
          </p:nvSpPr>
          <p:spPr bwMode="auto">
            <a:xfrm>
              <a:off x="2236" y="2154"/>
              <a:ext cx="146" cy="136"/>
            </a:xfrm>
            <a:custGeom>
              <a:avLst/>
              <a:gdLst/>
              <a:ahLst/>
              <a:cxnLst>
                <a:cxn ang="0">
                  <a:pos x="2" y="114"/>
                </a:cxn>
                <a:cxn ang="0">
                  <a:pos x="0" y="124"/>
                </a:cxn>
                <a:cxn ang="0">
                  <a:pos x="0" y="114"/>
                </a:cxn>
                <a:cxn ang="0">
                  <a:pos x="11" y="91"/>
                </a:cxn>
                <a:cxn ang="0">
                  <a:pos x="21" y="70"/>
                </a:cxn>
                <a:cxn ang="0">
                  <a:pos x="18" y="72"/>
                </a:cxn>
                <a:cxn ang="0">
                  <a:pos x="31" y="58"/>
                </a:cxn>
                <a:cxn ang="0">
                  <a:pos x="36" y="43"/>
                </a:cxn>
                <a:cxn ang="0">
                  <a:pos x="42" y="30"/>
                </a:cxn>
                <a:cxn ang="0">
                  <a:pos x="54" y="18"/>
                </a:cxn>
                <a:cxn ang="0">
                  <a:pos x="63" y="0"/>
                </a:cxn>
                <a:cxn ang="0">
                  <a:pos x="80" y="0"/>
                </a:cxn>
                <a:cxn ang="0">
                  <a:pos x="98" y="0"/>
                </a:cxn>
                <a:cxn ang="0">
                  <a:pos x="115" y="0"/>
                </a:cxn>
                <a:cxn ang="0">
                  <a:pos x="132" y="0"/>
                </a:cxn>
                <a:cxn ang="0">
                  <a:pos x="132" y="7"/>
                </a:cxn>
                <a:cxn ang="0">
                  <a:pos x="132" y="30"/>
                </a:cxn>
                <a:cxn ang="0">
                  <a:pos x="119" y="30"/>
                </a:cxn>
                <a:cxn ang="0">
                  <a:pos x="107" y="30"/>
                </a:cxn>
                <a:cxn ang="0">
                  <a:pos x="93" y="30"/>
                </a:cxn>
                <a:cxn ang="0">
                  <a:pos x="80" y="30"/>
                </a:cxn>
                <a:cxn ang="0">
                  <a:pos x="80" y="53"/>
                </a:cxn>
                <a:cxn ang="0">
                  <a:pos x="79" y="76"/>
                </a:cxn>
                <a:cxn ang="0">
                  <a:pos x="63" y="84"/>
                </a:cxn>
                <a:cxn ang="0">
                  <a:pos x="63" y="99"/>
                </a:cxn>
                <a:cxn ang="0">
                  <a:pos x="63" y="114"/>
                </a:cxn>
                <a:cxn ang="0">
                  <a:pos x="48" y="114"/>
                </a:cxn>
                <a:cxn ang="0">
                  <a:pos x="32" y="114"/>
                </a:cxn>
                <a:cxn ang="0">
                  <a:pos x="17" y="114"/>
                </a:cxn>
                <a:cxn ang="0">
                  <a:pos x="2" y="114"/>
                </a:cxn>
              </a:cxnLst>
              <a:rect l="0" t="0" r="r" b="b"/>
              <a:pathLst>
                <a:path w="132" h="124">
                  <a:moveTo>
                    <a:pt x="2" y="114"/>
                  </a:moveTo>
                  <a:lnTo>
                    <a:pt x="0" y="124"/>
                  </a:lnTo>
                  <a:lnTo>
                    <a:pt x="0" y="114"/>
                  </a:lnTo>
                  <a:lnTo>
                    <a:pt x="11" y="91"/>
                  </a:lnTo>
                  <a:lnTo>
                    <a:pt x="21" y="70"/>
                  </a:lnTo>
                  <a:lnTo>
                    <a:pt x="18" y="72"/>
                  </a:lnTo>
                  <a:lnTo>
                    <a:pt x="31" y="58"/>
                  </a:lnTo>
                  <a:lnTo>
                    <a:pt x="36" y="43"/>
                  </a:lnTo>
                  <a:lnTo>
                    <a:pt x="42" y="30"/>
                  </a:lnTo>
                  <a:lnTo>
                    <a:pt x="54" y="18"/>
                  </a:lnTo>
                  <a:lnTo>
                    <a:pt x="63" y="0"/>
                  </a:lnTo>
                  <a:lnTo>
                    <a:pt x="80" y="0"/>
                  </a:lnTo>
                  <a:lnTo>
                    <a:pt x="98" y="0"/>
                  </a:lnTo>
                  <a:lnTo>
                    <a:pt x="115" y="0"/>
                  </a:lnTo>
                  <a:lnTo>
                    <a:pt x="132" y="0"/>
                  </a:lnTo>
                  <a:lnTo>
                    <a:pt x="132" y="7"/>
                  </a:lnTo>
                  <a:lnTo>
                    <a:pt x="132" y="30"/>
                  </a:lnTo>
                  <a:lnTo>
                    <a:pt x="119" y="30"/>
                  </a:lnTo>
                  <a:lnTo>
                    <a:pt x="107" y="30"/>
                  </a:lnTo>
                  <a:lnTo>
                    <a:pt x="93" y="30"/>
                  </a:lnTo>
                  <a:lnTo>
                    <a:pt x="80" y="30"/>
                  </a:lnTo>
                  <a:lnTo>
                    <a:pt x="80" y="53"/>
                  </a:lnTo>
                  <a:lnTo>
                    <a:pt x="79" y="76"/>
                  </a:lnTo>
                  <a:lnTo>
                    <a:pt x="63" y="84"/>
                  </a:lnTo>
                  <a:lnTo>
                    <a:pt x="63" y="99"/>
                  </a:lnTo>
                  <a:lnTo>
                    <a:pt x="63" y="114"/>
                  </a:lnTo>
                  <a:lnTo>
                    <a:pt x="48" y="114"/>
                  </a:lnTo>
                  <a:lnTo>
                    <a:pt x="32" y="114"/>
                  </a:lnTo>
                  <a:lnTo>
                    <a:pt x="17" y="114"/>
                  </a:lnTo>
                  <a:lnTo>
                    <a:pt x="2" y="1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grpSp>
      <p:sp>
        <p:nvSpPr>
          <p:cNvPr id="445" name="TextBox 599"/>
          <p:cNvSpPr txBox="1"/>
          <p:nvPr/>
        </p:nvSpPr>
        <p:spPr>
          <a:xfrm>
            <a:off x="7495627" y="3948025"/>
            <a:ext cx="4222761" cy="2113259"/>
          </a:xfrm>
          <a:prstGeom prst="roundRect">
            <a:avLst/>
          </a:prstGeom>
          <a:noFill/>
          <a:ln w="28575">
            <a:solidFill>
              <a:schemeClr val="accent1"/>
            </a:solidFill>
            <a:prstDash val="dashDot"/>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endParaRPr lang="en-GB" sz="1869" dirty="0">
              <a:solidFill>
                <a:prstClr val="black"/>
              </a:solidFill>
            </a:endParaRPr>
          </a:p>
        </p:txBody>
      </p:sp>
      <p:grpSp>
        <p:nvGrpSpPr>
          <p:cNvPr id="446" name="Group 445"/>
          <p:cNvGrpSpPr/>
          <p:nvPr/>
        </p:nvGrpSpPr>
        <p:grpSpPr>
          <a:xfrm>
            <a:off x="381805" y="1763278"/>
            <a:ext cx="3779722" cy="4065458"/>
            <a:chOff x="458769" y="1327309"/>
            <a:chExt cx="3847119" cy="4137950"/>
          </a:xfrm>
        </p:grpSpPr>
        <p:sp>
          <p:nvSpPr>
            <p:cNvPr id="447" name="Freeform 446"/>
            <p:cNvSpPr/>
            <p:nvPr/>
          </p:nvSpPr>
          <p:spPr>
            <a:xfrm rot="21365595" flipH="1" flipV="1">
              <a:off x="1361005" y="2521249"/>
              <a:ext cx="1883228" cy="608646"/>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48" name="Freeform 447"/>
            <p:cNvSpPr/>
            <p:nvPr/>
          </p:nvSpPr>
          <p:spPr>
            <a:xfrm rot="21287480" flipH="1" flipV="1">
              <a:off x="1322362" y="4080518"/>
              <a:ext cx="1970135" cy="334088"/>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grpSp>
          <p:nvGrpSpPr>
            <p:cNvPr id="449" name="Group 448"/>
            <p:cNvGrpSpPr/>
            <p:nvPr/>
          </p:nvGrpSpPr>
          <p:grpSpPr>
            <a:xfrm rot="10800000" flipH="1">
              <a:off x="458769" y="1327309"/>
              <a:ext cx="3847119" cy="4137950"/>
              <a:chOff x="3474598" y="1219201"/>
              <a:chExt cx="3702490" cy="4807347"/>
            </a:xfrm>
          </p:grpSpPr>
          <p:sp>
            <p:nvSpPr>
              <p:cNvPr id="450" name="Freeform 449"/>
              <p:cNvSpPr/>
              <p:nvPr/>
            </p:nvSpPr>
            <p:spPr>
              <a:xfrm>
                <a:off x="3494041" y="4040150"/>
                <a:ext cx="886981" cy="484968"/>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1" name="Freeform 450"/>
              <p:cNvSpPr/>
              <p:nvPr/>
            </p:nvSpPr>
            <p:spPr>
              <a:xfrm>
                <a:off x="3483565" y="2413795"/>
                <a:ext cx="873329" cy="516731"/>
              </a:xfrm>
              <a:custGeom>
                <a:avLst/>
                <a:gdLst>
                  <a:gd name="connsiteX0" fmla="*/ 0 w 819150"/>
                  <a:gd name="connsiteY0" fmla="*/ 523875 h 523875"/>
                  <a:gd name="connsiteX1" fmla="*/ 806450 w 819150"/>
                  <a:gd name="connsiteY1" fmla="*/ 339725 h 523875"/>
                  <a:gd name="connsiteX2" fmla="*/ 819150 w 819150"/>
                  <a:gd name="connsiteY2" fmla="*/ 0 h 523875"/>
                  <a:gd name="connsiteX3" fmla="*/ 6350 w 819150"/>
                  <a:gd name="connsiteY3" fmla="*/ 241300 h 523875"/>
                  <a:gd name="connsiteX4" fmla="*/ 0 w 819150"/>
                  <a:gd name="connsiteY4" fmla="*/ 523875 h 523875"/>
                  <a:gd name="connsiteX0" fmla="*/ 0 w 812006"/>
                  <a:gd name="connsiteY0" fmla="*/ 516731 h 516731"/>
                  <a:gd name="connsiteX1" fmla="*/ 806450 w 812006"/>
                  <a:gd name="connsiteY1" fmla="*/ 332581 h 516731"/>
                  <a:gd name="connsiteX2" fmla="*/ 812006 w 812006"/>
                  <a:gd name="connsiteY2" fmla="*/ 0 h 516731"/>
                  <a:gd name="connsiteX3" fmla="*/ 6350 w 812006"/>
                  <a:gd name="connsiteY3" fmla="*/ 234156 h 516731"/>
                  <a:gd name="connsiteX4" fmla="*/ 0 w 812006"/>
                  <a:gd name="connsiteY4" fmla="*/ 516731 h 516731"/>
                  <a:gd name="connsiteX0" fmla="*/ 0 w 813594"/>
                  <a:gd name="connsiteY0" fmla="*/ 516731 h 516731"/>
                  <a:gd name="connsiteX1" fmla="*/ 813594 w 813594"/>
                  <a:gd name="connsiteY1" fmla="*/ 330199 h 516731"/>
                  <a:gd name="connsiteX2" fmla="*/ 812006 w 813594"/>
                  <a:gd name="connsiteY2" fmla="*/ 0 h 516731"/>
                  <a:gd name="connsiteX3" fmla="*/ 6350 w 813594"/>
                  <a:gd name="connsiteY3" fmla="*/ 234156 h 516731"/>
                  <a:gd name="connsiteX4" fmla="*/ 0 w 813594"/>
                  <a:gd name="connsiteY4" fmla="*/ 516731 h 51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94" h="516731">
                    <a:moveTo>
                      <a:pt x="0" y="516731"/>
                    </a:moveTo>
                    <a:lnTo>
                      <a:pt x="813594" y="330199"/>
                    </a:lnTo>
                    <a:cubicBezTo>
                      <a:pt x="813065" y="220133"/>
                      <a:pt x="812535" y="110066"/>
                      <a:pt x="812006" y="0"/>
                    </a:cubicBezTo>
                    <a:lnTo>
                      <a:pt x="6350" y="234156"/>
                    </a:lnTo>
                    <a:cubicBezTo>
                      <a:pt x="5292" y="331523"/>
                      <a:pt x="4233" y="428889"/>
                      <a:pt x="0" y="5167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2" name="Freeform 451"/>
              <p:cNvSpPr/>
              <p:nvPr/>
            </p:nvSpPr>
            <p:spPr>
              <a:xfrm>
                <a:off x="4310063" y="2743200"/>
                <a:ext cx="2376487" cy="1376386"/>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354137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2368550"/>
                  <a:gd name="connsiteY0" fmla="*/ 0 h 1354137"/>
                  <a:gd name="connsiteX1" fmla="*/ 0 w 2368550"/>
                  <a:gd name="connsiteY1" fmla="*/ 1354137 h 1354137"/>
                  <a:gd name="connsiteX2" fmla="*/ 2368550 w 2368550"/>
                  <a:gd name="connsiteY2" fmla="*/ 1320800 h 1354137"/>
                  <a:gd name="connsiteX3" fmla="*/ 1816100 w 2368550"/>
                  <a:gd name="connsiteY3" fmla="*/ 469900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8550" h="1354137">
                    <a:moveTo>
                      <a:pt x="6350" y="0"/>
                    </a:moveTo>
                    <a:cubicBezTo>
                      <a:pt x="4233" y="389467"/>
                      <a:pt x="2117" y="964670"/>
                      <a:pt x="0" y="1354137"/>
                    </a:cubicBezTo>
                    <a:lnTo>
                      <a:pt x="2368550" y="1320800"/>
                    </a:lnTo>
                    <a:lnTo>
                      <a:pt x="2354262" y="379412"/>
                    </a:lnTo>
                    <a:cubicBezTo>
                      <a:pt x="2345266" y="281780"/>
                      <a:pt x="2331508" y="203993"/>
                      <a:pt x="2193925" y="169862"/>
                    </a:cubicBezTo>
                    <a:lnTo>
                      <a:pt x="6350" y="0"/>
                    </a:lnTo>
                    <a:close/>
                  </a:path>
                </a:pathLst>
              </a:custGeom>
              <a:solidFill>
                <a:schemeClr val="accent1">
                  <a:lumMod val="20000"/>
                  <a:lumOff val="8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3" name="Freeform 452"/>
              <p:cNvSpPr/>
              <p:nvPr/>
            </p:nvSpPr>
            <p:spPr>
              <a:xfrm>
                <a:off x="4322764" y="4356465"/>
                <a:ext cx="2854324" cy="1670050"/>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354137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2368550"/>
                  <a:gd name="connsiteY0" fmla="*/ 0 h 1354137"/>
                  <a:gd name="connsiteX1" fmla="*/ 0 w 2368550"/>
                  <a:gd name="connsiteY1" fmla="*/ 1354137 h 1354137"/>
                  <a:gd name="connsiteX2" fmla="*/ 2368550 w 2368550"/>
                  <a:gd name="connsiteY2" fmla="*/ 1320800 h 1354137"/>
                  <a:gd name="connsiteX3" fmla="*/ 1816100 w 2368550"/>
                  <a:gd name="connsiteY3" fmla="*/ 469900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11112 w 2373312"/>
                  <a:gd name="connsiteY0" fmla="*/ 0 h 1520824"/>
                  <a:gd name="connsiteX1" fmla="*/ 0 w 2373312"/>
                  <a:gd name="connsiteY1" fmla="*/ 1520824 h 1520824"/>
                  <a:gd name="connsiteX2" fmla="*/ 2373312 w 2373312"/>
                  <a:gd name="connsiteY2" fmla="*/ 1320800 h 1520824"/>
                  <a:gd name="connsiteX3" fmla="*/ 2359024 w 2373312"/>
                  <a:gd name="connsiteY3" fmla="*/ 379412 h 1520824"/>
                  <a:gd name="connsiteX4" fmla="*/ 2198687 w 2373312"/>
                  <a:gd name="connsiteY4" fmla="*/ 169862 h 1520824"/>
                  <a:gd name="connsiteX5" fmla="*/ 11112 w 2373312"/>
                  <a:gd name="connsiteY5" fmla="*/ 0 h 1520824"/>
                  <a:gd name="connsiteX0" fmla="*/ 1587 w 2363787"/>
                  <a:gd name="connsiteY0" fmla="*/ 0 h 1516062"/>
                  <a:gd name="connsiteX1" fmla="*/ 0 w 2363787"/>
                  <a:gd name="connsiteY1" fmla="*/ 1516062 h 1516062"/>
                  <a:gd name="connsiteX2" fmla="*/ 2363787 w 2363787"/>
                  <a:gd name="connsiteY2" fmla="*/ 1320800 h 1516062"/>
                  <a:gd name="connsiteX3" fmla="*/ 2349499 w 2363787"/>
                  <a:gd name="connsiteY3" fmla="*/ 379412 h 1516062"/>
                  <a:gd name="connsiteX4" fmla="*/ 2189162 w 2363787"/>
                  <a:gd name="connsiteY4" fmla="*/ 169862 h 1516062"/>
                  <a:gd name="connsiteX5" fmla="*/ 1587 w 2363787"/>
                  <a:gd name="connsiteY5" fmla="*/ 0 h 1516062"/>
                  <a:gd name="connsiteX0" fmla="*/ 1587 w 2844799"/>
                  <a:gd name="connsiteY0" fmla="*/ 0 h 1516062"/>
                  <a:gd name="connsiteX1" fmla="*/ 0 w 2844799"/>
                  <a:gd name="connsiteY1" fmla="*/ 1516062 h 1516062"/>
                  <a:gd name="connsiteX2" fmla="*/ 2844799 w 2844799"/>
                  <a:gd name="connsiteY2" fmla="*/ 1063625 h 1516062"/>
                  <a:gd name="connsiteX3" fmla="*/ 2349499 w 2844799"/>
                  <a:gd name="connsiteY3" fmla="*/ 379412 h 1516062"/>
                  <a:gd name="connsiteX4" fmla="*/ 2189162 w 2844799"/>
                  <a:gd name="connsiteY4" fmla="*/ 169862 h 1516062"/>
                  <a:gd name="connsiteX5" fmla="*/ 1587 w 2844799"/>
                  <a:gd name="connsiteY5" fmla="*/ 0 h 1516062"/>
                  <a:gd name="connsiteX0" fmla="*/ 1587 w 2844799"/>
                  <a:gd name="connsiteY0" fmla="*/ 153988 h 1670050"/>
                  <a:gd name="connsiteX1" fmla="*/ 0 w 2844799"/>
                  <a:gd name="connsiteY1" fmla="*/ 1670050 h 1670050"/>
                  <a:gd name="connsiteX2" fmla="*/ 2844799 w 2844799"/>
                  <a:gd name="connsiteY2" fmla="*/ 1217613 h 1670050"/>
                  <a:gd name="connsiteX3" fmla="*/ 2349499 w 2844799"/>
                  <a:gd name="connsiteY3" fmla="*/ 533400 h 1670050"/>
                  <a:gd name="connsiteX4" fmla="*/ 2651124 w 2844799"/>
                  <a:gd name="connsiteY4" fmla="*/ 0 h 1670050"/>
                  <a:gd name="connsiteX5" fmla="*/ 1587 w 2844799"/>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9561 w 2854324"/>
                  <a:gd name="connsiteY2" fmla="*/ 1208088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49226 h 1670050"/>
                  <a:gd name="connsiteX1" fmla="*/ 0 w 2854324"/>
                  <a:gd name="connsiteY1" fmla="*/ 1670050 h 1670050"/>
                  <a:gd name="connsiteX2" fmla="*/ 2849561 w 2854324"/>
                  <a:gd name="connsiteY2" fmla="*/ 1208088 h 1670050"/>
                  <a:gd name="connsiteX3" fmla="*/ 2854324 w 2854324"/>
                  <a:gd name="connsiteY3" fmla="*/ 304800 h 1670050"/>
                  <a:gd name="connsiteX4" fmla="*/ 2651124 w 2854324"/>
                  <a:gd name="connsiteY4" fmla="*/ 0 h 1670050"/>
                  <a:gd name="connsiteX5" fmla="*/ 1587 w 2854324"/>
                  <a:gd name="connsiteY5" fmla="*/ 149226 h 167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4324" h="1670050">
                    <a:moveTo>
                      <a:pt x="1587" y="149226"/>
                    </a:moveTo>
                    <a:cubicBezTo>
                      <a:pt x="-530" y="538693"/>
                      <a:pt x="2117" y="1280583"/>
                      <a:pt x="0" y="1670050"/>
                    </a:cubicBezTo>
                    <a:lnTo>
                      <a:pt x="2849561" y="1208088"/>
                    </a:lnTo>
                    <a:cubicBezTo>
                      <a:pt x="2851149" y="906992"/>
                      <a:pt x="2852736" y="605896"/>
                      <a:pt x="2854324" y="304800"/>
                    </a:cubicBezTo>
                    <a:cubicBezTo>
                      <a:pt x="2850090" y="159543"/>
                      <a:pt x="2826807" y="29368"/>
                      <a:pt x="2651124" y="0"/>
                    </a:cubicBezTo>
                    <a:lnTo>
                      <a:pt x="1587" y="149226"/>
                    </a:lnTo>
                    <a:close/>
                  </a:path>
                </a:pathLst>
              </a:custGeom>
              <a:solidFill>
                <a:schemeClr val="accent1">
                  <a:lumMod val="20000"/>
                  <a:lumOff val="8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4" name="Freeform 453"/>
              <p:cNvSpPr/>
              <p:nvPr/>
            </p:nvSpPr>
            <p:spPr>
              <a:xfrm>
                <a:off x="4318000" y="1219201"/>
                <a:ext cx="1889449" cy="1379224"/>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16100" h="1358900">
                    <a:moveTo>
                      <a:pt x="6350" y="0"/>
                    </a:moveTo>
                    <a:cubicBezTo>
                      <a:pt x="4233" y="389467"/>
                      <a:pt x="2117" y="778933"/>
                      <a:pt x="0" y="1168400"/>
                    </a:cubicBezTo>
                    <a:lnTo>
                      <a:pt x="1816100" y="1358900"/>
                    </a:lnTo>
                    <a:lnTo>
                      <a:pt x="1816100" y="469900"/>
                    </a:lnTo>
                    <a:cubicBezTo>
                      <a:pt x="1797579" y="378618"/>
                      <a:pt x="1750483" y="342106"/>
                      <a:pt x="1689100" y="317500"/>
                    </a:cubicBezTo>
                    <a:lnTo>
                      <a:pt x="6350" y="0"/>
                    </a:lnTo>
                    <a:close/>
                  </a:path>
                </a:pathLst>
              </a:custGeom>
              <a:solidFill>
                <a:schemeClr val="accent1">
                  <a:lumMod val="20000"/>
                  <a:lumOff val="8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5" name="Parallelogram 4"/>
              <p:cNvSpPr/>
              <p:nvPr/>
            </p:nvSpPr>
            <p:spPr>
              <a:xfrm>
                <a:off x="3474598" y="1222375"/>
                <a:ext cx="851609" cy="1461294"/>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4616 w 851468"/>
                  <a:gd name="connsiteY0" fmla="*/ 1422234 h 1422234"/>
                  <a:gd name="connsiteX1" fmla="*/ 0 w 851468"/>
                  <a:gd name="connsiteY1" fmla="*/ 463091 h 1422234"/>
                  <a:gd name="connsiteX2" fmla="*/ 851339 w 851468"/>
                  <a:gd name="connsiteY2" fmla="*/ 0 h 1422234"/>
                  <a:gd name="connsiteX3" fmla="*/ 841668 w 851468"/>
                  <a:gd name="connsiteY3" fmla="*/ 1174584 h 1422234"/>
                  <a:gd name="connsiteX4" fmla="*/ 4616 w 851468"/>
                  <a:gd name="connsiteY4" fmla="*/ 1422234 h 1422234"/>
                  <a:gd name="connsiteX0" fmla="*/ 4616 w 851767"/>
                  <a:gd name="connsiteY0" fmla="*/ 1422234 h 1422234"/>
                  <a:gd name="connsiteX1" fmla="*/ 0 w 851767"/>
                  <a:gd name="connsiteY1" fmla="*/ 463091 h 1422234"/>
                  <a:gd name="connsiteX2" fmla="*/ 851339 w 851767"/>
                  <a:gd name="connsiteY2" fmla="*/ 0 h 1422234"/>
                  <a:gd name="connsiteX3" fmla="*/ 851193 w 851767"/>
                  <a:gd name="connsiteY3" fmla="*/ 1160641 h 1422234"/>
                  <a:gd name="connsiteX4" fmla="*/ 4616 w 851767"/>
                  <a:gd name="connsiteY4" fmla="*/ 1422234 h 1422234"/>
                  <a:gd name="connsiteX0" fmla="*/ 4616 w 851609"/>
                  <a:gd name="connsiteY0" fmla="*/ 1422234 h 1422234"/>
                  <a:gd name="connsiteX1" fmla="*/ 0 w 851609"/>
                  <a:gd name="connsiteY1" fmla="*/ 463091 h 1422234"/>
                  <a:gd name="connsiteX2" fmla="*/ 851339 w 851609"/>
                  <a:gd name="connsiteY2" fmla="*/ 0 h 1422234"/>
                  <a:gd name="connsiteX3" fmla="*/ 848812 w 851609"/>
                  <a:gd name="connsiteY3" fmla="*/ 1169937 h 1422234"/>
                  <a:gd name="connsiteX4" fmla="*/ 4616 w 851609"/>
                  <a:gd name="connsiteY4" fmla="*/ 1422234 h 1422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609" h="1422234">
                    <a:moveTo>
                      <a:pt x="4616" y="1422234"/>
                    </a:moveTo>
                    <a:cubicBezTo>
                      <a:pt x="3077" y="1102520"/>
                      <a:pt x="1539" y="782805"/>
                      <a:pt x="0" y="463091"/>
                    </a:cubicBezTo>
                    <a:lnTo>
                      <a:pt x="851339" y="0"/>
                    </a:lnTo>
                    <a:cubicBezTo>
                      <a:pt x="852878" y="385331"/>
                      <a:pt x="847273" y="784606"/>
                      <a:pt x="848812" y="1169937"/>
                    </a:cubicBezTo>
                    <a:lnTo>
                      <a:pt x="4616" y="1422234"/>
                    </a:lnTo>
                    <a:close/>
                  </a:path>
                </a:pathLst>
              </a:custGeom>
              <a:solidFill>
                <a:schemeClr val="accent1">
                  <a:lumMod val="40000"/>
                  <a:lumOff val="6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6" name="Parallelogram 4"/>
              <p:cNvSpPr/>
              <p:nvPr/>
            </p:nvSpPr>
            <p:spPr>
              <a:xfrm>
                <a:off x="3486583" y="4382399"/>
                <a:ext cx="842465" cy="1644149"/>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155993 h 1403643"/>
                  <a:gd name="connsiteX4" fmla="*/ 252 w 837304"/>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384593 h 1403643"/>
                  <a:gd name="connsiteX4" fmla="*/ 252 w 837304"/>
                  <a:gd name="connsiteY4" fmla="*/ 1403643 h 1403643"/>
                  <a:gd name="connsiteX0" fmla="*/ 252 w 837304"/>
                  <a:gd name="connsiteY0" fmla="*/ 1304583 h 1384593"/>
                  <a:gd name="connsiteX1" fmla="*/ 3256 w 837304"/>
                  <a:gd name="connsiteY1" fmla="*/ 193040 h 1384593"/>
                  <a:gd name="connsiteX2" fmla="*/ 832688 w 837304"/>
                  <a:gd name="connsiteY2" fmla="*/ 0 h 1384593"/>
                  <a:gd name="connsiteX3" fmla="*/ 837304 w 837304"/>
                  <a:gd name="connsiteY3" fmla="*/ 1384593 h 1384593"/>
                  <a:gd name="connsiteX4" fmla="*/ 252 w 837304"/>
                  <a:gd name="connsiteY4" fmla="*/ 1304583 h 138459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44924"/>
                  <a:gd name="connsiteY0" fmla="*/ 1304583 h 1338873"/>
                  <a:gd name="connsiteX1" fmla="*/ 3256 w 844924"/>
                  <a:gd name="connsiteY1" fmla="*/ 193040 h 1338873"/>
                  <a:gd name="connsiteX2" fmla="*/ 832688 w 844924"/>
                  <a:gd name="connsiteY2" fmla="*/ 0 h 1338873"/>
                  <a:gd name="connsiteX3" fmla="*/ 844924 w 844924"/>
                  <a:gd name="connsiteY3" fmla="*/ 1338873 h 1338873"/>
                  <a:gd name="connsiteX4" fmla="*/ 252 w 844924"/>
                  <a:gd name="connsiteY4" fmla="*/ 1304583 h 133887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28172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28172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1223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12236 w 829683"/>
                  <a:gd name="connsiteY4" fmla="*/ 1296963 h 1354113"/>
                  <a:gd name="connsiteX0" fmla="*/ 461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296963 h 1354113"/>
                  <a:gd name="connsiteX0" fmla="*/ 73196 w 829683"/>
                  <a:gd name="connsiteY0" fmla="*/ 1350303 h 1354113"/>
                  <a:gd name="connsiteX1" fmla="*/ 0 w 829683"/>
                  <a:gd name="connsiteY1" fmla="*/ 193040 h 1354113"/>
                  <a:gd name="connsiteX2" fmla="*/ 829432 w 829683"/>
                  <a:gd name="connsiteY2" fmla="*/ 0 h 1354113"/>
                  <a:gd name="connsiteX3" fmla="*/ 826428 w 829683"/>
                  <a:gd name="connsiteY3" fmla="*/ 1354113 h 1354113"/>
                  <a:gd name="connsiteX4" fmla="*/ 73196 w 829683"/>
                  <a:gd name="connsiteY4" fmla="*/ 1350303 h 1354113"/>
                  <a:gd name="connsiteX0" fmla="*/ 4616 w 829683"/>
                  <a:gd name="connsiteY0" fmla="*/ 131982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319823 h 1354113"/>
                  <a:gd name="connsiteX0" fmla="*/ 121 w 825188"/>
                  <a:gd name="connsiteY0" fmla="*/ 1319823 h 1354113"/>
                  <a:gd name="connsiteX1" fmla="*/ 10745 w 825188"/>
                  <a:gd name="connsiteY1" fmla="*/ 78740 h 1354113"/>
                  <a:gd name="connsiteX2" fmla="*/ 824937 w 825188"/>
                  <a:gd name="connsiteY2" fmla="*/ 0 h 1354113"/>
                  <a:gd name="connsiteX3" fmla="*/ 821933 w 825188"/>
                  <a:gd name="connsiteY3" fmla="*/ 1354113 h 1354113"/>
                  <a:gd name="connsiteX4" fmla="*/ 121 w 825188"/>
                  <a:gd name="connsiteY4" fmla="*/ 1319823 h 1354113"/>
                  <a:gd name="connsiteX0" fmla="*/ 121 w 825188"/>
                  <a:gd name="connsiteY0" fmla="*/ 1241083 h 1275373"/>
                  <a:gd name="connsiteX1" fmla="*/ 10745 w 825188"/>
                  <a:gd name="connsiteY1" fmla="*/ 0 h 1275373"/>
                  <a:gd name="connsiteX2" fmla="*/ 824937 w 825188"/>
                  <a:gd name="connsiteY2" fmla="*/ 104140 h 1275373"/>
                  <a:gd name="connsiteX3" fmla="*/ 821933 w 825188"/>
                  <a:gd name="connsiteY3" fmla="*/ 1275373 h 1275373"/>
                  <a:gd name="connsiteX4" fmla="*/ 121 w 825188"/>
                  <a:gd name="connsiteY4" fmla="*/ 1241083 h 1275373"/>
                  <a:gd name="connsiteX0" fmla="*/ 121 w 825188"/>
                  <a:gd name="connsiteY0" fmla="*/ 1241083 h 1641133"/>
                  <a:gd name="connsiteX1" fmla="*/ 10745 w 825188"/>
                  <a:gd name="connsiteY1" fmla="*/ 0 h 1641133"/>
                  <a:gd name="connsiteX2" fmla="*/ 824937 w 825188"/>
                  <a:gd name="connsiteY2" fmla="*/ 104140 h 1641133"/>
                  <a:gd name="connsiteX3" fmla="*/ 821933 w 825188"/>
                  <a:gd name="connsiteY3" fmla="*/ 1641133 h 1641133"/>
                  <a:gd name="connsiteX4" fmla="*/ 121 w 825188"/>
                  <a:gd name="connsiteY4" fmla="*/ 1241083 h 1641133"/>
                  <a:gd name="connsiteX0" fmla="*/ 121 w 825188"/>
                  <a:gd name="connsiteY0" fmla="*/ 1225843 h 1641133"/>
                  <a:gd name="connsiteX1" fmla="*/ 10745 w 825188"/>
                  <a:gd name="connsiteY1" fmla="*/ 0 h 1641133"/>
                  <a:gd name="connsiteX2" fmla="*/ 824937 w 825188"/>
                  <a:gd name="connsiteY2" fmla="*/ 104140 h 1641133"/>
                  <a:gd name="connsiteX3" fmla="*/ 821933 w 825188"/>
                  <a:gd name="connsiteY3" fmla="*/ 1641133 h 1641133"/>
                  <a:gd name="connsiteX4" fmla="*/ 121 w 825188"/>
                  <a:gd name="connsiteY4" fmla="*/ 1225843 h 1641133"/>
                  <a:gd name="connsiteX0" fmla="*/ 251 w 825318"/>
                  <a:gd name="connsiteY0" fmla="*/ 1210603 h 1625893"/>
                  <a:gd name="connsiteX1" fmla="*/ 3255 w 825318"/>
                  <a:gd name="connsiteY1" fmla="*/ 0 h 1625893"/>
                  <a:gd name="connsiteX2" fmla="*/ 825067 w 825318"/>
                  <a:gd name="connsiteY2" fmla="*/ 88900 h 1625893"/>
                  <a:gd name="connsiteX3" fmla="*/ 822063 w 825318"/>
                  <a:gd name="connsiteY3" fmla="*/ 1625893 h 1625893"/>
                  <a:gd name="connsiteX4" fmla="*/ 251 w 825318"/>
                  <a:gd name="connsiteY4" fmla="*/ 1210603 h 1625893"/>
                  <a:gd name="connsiteX0" fmla="*/ 251 w 825318"/>
                  <a:gd name="connsiteY0" fmla="*/ 1245528 h 1660818"/>
                  <a:gd name="connsiteX1" fmla="*/ 3255 w 825318"/>
                  <a:gd name="connsiteY1" fmla="*/ 0 h 1660818"/>
                  <a:gd name="connsiteX2" fmla="*/ 825067 w 825318"/>
                  <a:gd name="connsiteY2" fmla="*/ 123825 h 1660818"/>
                  <a:gd name="connsiteX3" fmla="*/ 822063 w 825318"/>
                  <a:gd name="connsiteY3" fmla="*/ 1660818 h 1660818"/>
                  <a:gd name="connsiteX4" fmla="*/ 251 w 825318"/>
                  <a:gd name="connsiteY4" fmla="*/ 1245528 h 1660818"/>
                  <a:gd name="connsiteX0" fmla="*/ 251 w 825255"/>
                  <a:gd name="connsiteY0" fmla="*/ 1245528 h 1644149"/>
                  <a:gd name="connsiteX1" fmla="*/ 3255 w 825255"/>
                  <a:gd name="connsiteY1" fmla="*/ 0 h 1644149"/>
                  <a:gd name="connsiteX2" fmla="*/ 825067 w 825255"/>
                  <a:gd name="connsiteY2" fmla="*/ 123825 h 1644149"/>
                  <a:gd name="connsiteX3" fmla="*/ 819731 w 825255"/>
                  <a:gd name="connsiteY3" fmla="*/ 1644149 h 1644149"/>
                  <a:gd name="connsiteX4" fmla="*/ 251 w 825255"/>
                  <a:gd name="connsiteY4" fmla="*/ 1245528 h 164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55" h="1644149">
                    <a:moveTo>
                      <a:pt x="251" y="1245528"/>
                    </a:moveTo>
                    <a:cubicBezTo>
                      <a:pt x="-1288" y="925814"/>
                      <a:pt x="4794" y="319714"/>
                      <a:pt x="3255" y="0"/>
                    </a:cubicBezTo>
                    <a:lnTo>
                      <a:pt x="825067" y="123825"/>
                    </a:lnTo>
                    <a:cubicBezTo>
                      <a:pt x="826606" y="509156"/>
                      <a:pt x="818192" y="1258818"/>
                      <a:pt x="819731" y="1644149"/>
                    </a:cubicBezTo>
                    <a:lnTo>
                      <a:pt x="251" y="1245528"/>
                    </a:lnTo>
                    <a:close/>
                  </a:path>
                </a:pathLst>
              </a:custGeom>
              <a:solidFill>
                <a:schemeClr val="accent1">
                  <a:lumMod val="40000"/>
                  <a:lumOff val="60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7" name="Parallelogram 4"/>
              <p:cNvSpPr/>
              <p:nvPr/>
            </p:nvSpPr>
            <p:spPr>
              <a:xfrm>
                <a:off x="3485393" y="2745581"/>
                <a:ext cx="836575" cy="1373982"/>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155993 h 1403643"/>
                  <a:gd name="connsiteX4" fmla="*/ 252 w 837304"/>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384593 h 1403643"/>
                  <a:gd name="connsiteX4" fmla="*/ 252 w 837304"/>
                  <a:gd name="connsiteY4" fmla="*/ 1403643 h 1403643"/>
                  <a:gd name="connsiteX0" fmla="*/ 252 w 837304"/>
                  <a:gd name="connsiteY0" fmla="*/ 1304583 h 1384593"/>
                  <a:gd name="connsiteX1" fmla="*/ 3256 w 837304"/>
                  <a:gd name="connsiteY1" fmla="*/ 193040 h 1384593"/>
                  <a:gd name="connsiteX2" fmla="*/ 832688 w 837304"/>
                  <a:gd name="connsiteY2" fmla="*/ 0 h 1384593"/>
                  <a:gd name="connsiteX3" fmla="*/ 837304 w 837304"/>
                  <a:gd name="connsiteY3" fmla="*/ 1384593 h 1384593"/>
                  <a:gd name="connsiteX4" fmla="*/ 252 w 837304"/>
                  <a:gd name="connsiteY4" fmla="*/ 1304583 h 138459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44924"/>
                  <a:gd name="connsiteY0" fmla="*/ 1304583 h 1338873"/>
                  <a:gd name="connsiteX1" fmla="*/ 3256 w 844924"/>
                  <a:gd name="connsiteY1" fmla="*/ 193040 h 1338873"/>
                  <a:gd name="connsiteX2" fmla="*/ 832688 w 844924"/>
                  <a:gd name="connsiteY2" fmla="*/ 0 h 1338873"/>
                  <a:gd name="connsiteX3" fmla="*/ 844924 w 844924"/>
                  <a:gd name="connsiteY3" fmla="*/ 1338873 h 1338873"/>
                  <a:gd name="connsiteX4" fmla="*/ 252 w 844924"/>
                  <a:gd name="connsiteY4" fmla="*/ 1304583 h 133887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28172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28172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1223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12236 w 829683"/>
                  <a:gd name="connsiteY4" fmla="*/ 1296963 h 1354113"/>
                  <a:gd name="connsiteX0" fmla="*/ 461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296963 h 1354113"/>
                  <a:gd name="connsiteX0" fmla="*/ 4616 w 829683"/>
                  <a:gd name="connsiteY0" fmla="*/ 1319188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319188 h 1354113"/>
                  <a:gd name="connsiteX0" fmla="*/ 1441 w 826508"/>
                  <a:gd name="connsiteY0" fmla="*/ 1319188 h 1354113"/>
                  <a:gd name="connsiteX1" fmla="*/ 0 w 826508"/>
                  <a:gd name="connsiteY1" fmla="*/ 196215 h 1354113"/>
                  <a:gd name="connsiteX2" fmla="*/ 826257 w 826508"/>
                  <a:gd name="connsiteY2" fmla="*/ 0 h 1354113"/>
                  <a:gd name="connsiteX3" fmla="*/ 823253 w 826508"/>
                  <a:gd name="connsiteY3" fmla="*/ 1354113 h 1354113"/>
                  <a:gd name="connsiteX4" fmla="*/ 1441 w 826508"/>
                  <a:gd name="connsiteY4" fmla="*/ 1319188 h 1354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08" h="1354113">
                    <a:moveTo>
                      <a:pt x="1441" y="1319188"/>
                    </a:moveTo>
                    <a:cubicBezTo>
                      <a:pt x="-98" y="999474"/>
                      <a:pt x="1539" y="515929"/>
                      <a:pt x="0" y="196215"/>
                    </a:cubicBezTo>
                    <a:lnTo>
                      <a:pt x="826257" y="0"/>
                    </a:lnTo>
                    <a:cubicBezTo>
                      <a:pt x="827796" y="385331"/>
                      <a:pt x="821714" y="968782"/>
                      <a:pt x="823253" y="1354113"/>
                    </a:cubicBezTo>
                    <a:lnTo>
                      <a:pt x="1441" y="1319188"/>
                    </a:lnTo>
                    <a:close/>
                  </a:path>
                </a:pathLst>
              </a:custGeom>
              <a:solidFill>
                <a:schemeClr val="accent1">
                  <a:lumMod val="40000"/>
                  <a:lumOff val="6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8" name="Down Arrow 457"/>
              <p:cNvSpPr/>
              <p:nvPr/>
            </p:nvSpPr>
            <p:spPr>
              <a:xfrm rot="10635248" flipV="1">
                <a:off x="3513231" y="2021116"/>
                <a:ext cx="269982" cy="375120"/>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pic>
            <p:nvPicPr>
              <p:cNvPr id="459" name="Picture 458"/>
              <p:cNvPicPr>
                <a:picLocks noChangeAspect="1"/>
              </p:cNvPicPr>
              <p:nvPr/>
            </p:nvPicPr>
            <p:blipFill>
              <a:blip r:embed="rId2" cstate="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10800000">
                <a:off x="5656110" y="1876644"/>
                <a:ext cx="566776" cy="566777"/>
              </a:xfrm>
              <a:prstGeom prst="rect">
                <a:avLst/>
              </a:prstGeom>
            </p:spPr>
          </p:pic>
          <p:pic>
            <p:nvPicPr>
              <p:cNvPr id="460" name="Picture 459"/>
              <p:cNvPicPr>
                <a:picLocks noChangeAspect="1"/>
              </p:cNvPicPr>
              <p:nvPr/>
            </p:nvPicPr>
            <p:blipFill>
              <a:blip r:embed="rId3" cstate="print">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5905013" y="3112482"/>
                <a:ext cx="685800" cy="685800"/>
              </a:xfrm>
              <a:prstGeom prst="rect">
                <a:avLst/>
              </a:prstGeom>
            </p:spPr>
          </p:pic>
          <p:pic>
            <p:nvPicPr>
              <p:cNvPr id="461" name="Picture 460"/>
              <p:cNvPicPr>
                <a:picLocks noChangeAspect="1"/>
              </p:cNvPicPr>
              <p:nvPr/>
            </p:nvPicPr>
            <p:blipFill>
              <a:blip r:embed="rId4" cstate="print">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rot="10800000" flipH="1">
                <a:off x="6328896" y="4715851"/>
                <a:ext cx="703089" cy="703089"/>
              </a:xfrm>
              <a:prstGeom prst="rect">
                <a:avLst/>
              </a:prstGeom>
            </p:spPr>
          </p:pic>
          <p:sp>
            <p:nvSpPr>
              <p:cNvPr id="462" name="Down Arrow 461"/>
              <p:cNvSpPr/>
              <p:nvPr/>
            </p:nvSpPr>
            <p:spPr>
              <a:xfrm>
                <a:off x="3533774" y="3627089"/>
                <a:ext cx="211701" cy="413058"/>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63" name="Down Arrow 462"/>
              <p:cNvSpPr/>
              <p:nvPr/>
            </p:nvSpPr>
            <p:spPr>
              <a:xfrm>
                <a:off x="3533775" y="5114189"/>
                <a:ext cx="243131" cy="418271"/>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grpSp>
      </p:grpSp>
      <p:sp>
        <p:nvSpPr>
          <p:cNvPr id="464" name="TextBox 127"/>
          <p:cNvSpPr txBox="1"/>
          <p:nvPr/>
        </p:nvSpPr>
        <p:spPr>
          <a:xfrm>
            <a:off x="467605" y="2544751"/>
            <a:ext cx="716566" cy="332623"/>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2034F</a:t>
            </a:r>
          </a:p>
        </p:txBody>
      </p:sp>
      <p:sp>
        <p:nvSpPr>
          <p:cNvPr id="465" name="TextBox 128"/>
          <p:cNvSpPr txBox="1"/>
          <p:nvPr/>
        </p:nvSpPr>
        <p:spPr>
          <a:xfrm>
            <a:off x="152400" y="1131579"/>
            <a:ext cx="5791200" cy="502920"/>
          </a:xfrm>
          <a:prstGeom prst="rect">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pPr algn="ctr"/>
            <a:r>
              <a:rPr lang="en-GB" sz="1376" b="1" dirty="0">
                <a:solidFill>
                  <a:prstClr val="black"/>
                </a:solidFill>
              </a:rPr>
              <a:t>East Asia WXYZ Market Value (US$ </a:t>
            </a:r>
            <a:r>
              <a:rPr lang="en-GB" sz="1376" b="1" dirty="0" err="1">
                <a:solidFill>
                  <a:prstClr val="black"/>
                </a:solidFill>
              </a:rPr>
              <a:t>Mn</a:t>
            </a:r>
            <a:r>
              <a:rPr lang="en-GB" sz="1376" b="1" dirty="0">
                <a:solidFill>
                  <a:prstClr val="black"/>
                </a:solidFill>
              </a:rPr>
              <a:t>)</a:t>
            </a:r>
          </a:p>
        </p:txBody>
      </p:sp>
      <p:sp>
        <p:nvSpPr>
          <p:cNvPr id="466" name="TextBox 129"/>
          <p:cNvSpPr txBox="1"/>
          <p:nvPr/>
        </p:nvSpPr>
        <p:spPr>
          <a:xfrm>
            <a:off x="467605" y="3945797"/>
            <a:ext cx="716566" cy="334259"/>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2029F</a:t>
            </a:r>
          </a:p>
        </p:txBody>
      </p:sp>
      <p:sp>
        <p:nvSpPr>
          <p:cNvPr id="467" name="TextBox 130"/>
          <p:cNvSpPr txBox="1"/>
          <p:nvPr/>
        </p:nvSpPr>
        <p:spPr>
          <a:xfrm>
            <a:off x="467605" y="5165028"/>
            <a:ext cx="716566" cy="332623"/>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2024E</a:t>
            </a:r>
          </a:p>
        </p:txBody>
      </p:sp>
      <p:sp>
        <p:nvSpPr>
          <p:cNvPr id="468" name="TextBox 131"/>
          <p:cNvSpPr txBox="1"/>
          <p:nvPr/>
        </p:nvSpPr>
        <p:spPr>
          <a:xfrm>
            <a:off x="1269734" y="2205145"/>
            <a:ext cx="1593183"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solidFill>
                <a:prstClr val="black"/>
              </a:solidFill>
            </a:endParaRPr>
          </a:p>
          <a:p>
            <a:pPr algn="ctr"/>
            <a:r>
              <a:rPr lang="en-US" sz="1800" b="1" dirty="0" err="1">
                <a:solidFill>
                  <a:prstClr val="black"/>
                </a:solidFill>
              </a:rPr>
              <a:t>Mn</a:t>
            </a:r>
            <a:endParaRPr lang="en-US" sz="1800" b="1" dirty="0">
              <a:solidFill>
                <a:prstClr val="black"/>
              </a:solidFill>
            </a:endParaRPr>
          </a:p>
        </p:txBody>
      </p:sp>
      <p:sp>
        <p:nvSpPr>
          <p:cNvPr id="469" name="TextBox 132"/>
          <p:cNvSpPr txBox="1"/>
          <p:nvPr/>
        </p:nvSpPr>
        <p:spPr>
          <a:xfrm>
            <a:off x="1269734" y="3667727"/>
            <a:ext cx="1368961"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p>
          <a:p>
            <a:pPr algn="ctr"/>
            <a:r>
              <a:rPr lang="en-US" sz="1800" b="1" dirty="0" err="1">
                <a:solidFill>
                  <a:prstClr val="black"/>
                </a:solidFill>
              </a:rPr>
              <a:t>Mn</a:t>
            </a:r>
            <a:endParaRPr lang="en-US" sz="1800" b="1" dirty="0">
              <a:solidFill>
                <a:prstClr val="black"/>
              </a:solidFill>
            </a:endParaRPr>
          </a:p>
        </p:txBody>
      </p:sp>
      <p:sp>
        <p:nvSpPr>
          <p:cNvPr id="470" name="TextBox 133"/>
          <p:cNvSpPr txBox="1"/>
          <p:nvPr/>
        </p:nvSpPr>
        <p:spPr>
          <a:xfrm>
            <a:off x="1269734" y="4940208"/>
            <a:ext cx="1368961"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p>
          <a:p>
            <a:pPr algn="ctr"/>
            <a:r>
              <a:rPr lang="en-US" sz="1800" b="1" dirty="0" err="1">
                <a:solidFill>
                  <a:prstClr val="black"/>
                </a:solidFill>
              </a:rPr>
              <a:t>Mn</a:t>
            </a:r>
            <a:endParaRPr lang="en-US" sz="1800" b="1" dirty="0">
              <a:solidFill>
                <a:prstClr val="black"/>
              </a:solidFill>
            </a:endParaRPr>
          </a:p>
        </p:txBody>
      </p:sp>
      <p:cxnSp>
        <p:nvCxnSpPr>
          <p:cNvPr id="471" name="Straight Connector 470"/>
          <p:cNvCxnSpPr/>
          <p:nvPr/>
        </p:nvCxnSpPr>
        <p:spPr>
          <a:xfrm>
            <a:off x="3485260" y="4612987"/>
            <a:ext cx="0" cy="1284684"/>
          </a:xfrm>
          <a:prstGeom prst="line">
            <a:avLst/>
          </a:prstGeom>
          <a:ln w="28575">
            <a:solidFill>
              <a:srgbClr val="A6A6A6"/>
            </a:solidFill>
          </a:ln>
        </p:spPr>
        <p:style>
          <a:lnRef idx="1">
            <a:schemeClr val="accent1"/>
          </a:lnRef>
          <a:fillRef idx="0">
            <a:schemeClr val="accent1"/>
          </a:fillRef>
          <a:effectRef idx="0">
            <a:schemeClr val="accent1"/>
          </a:effectRef>
          <a:fontRef idx="minor">
            <a:schemeClr val="tx1"/>
          </a:fontRef>
        </p:style>
      </p:cxnSp>
      <p:sp>
        <p:nvSpPr>
          <p:cNvPr id="472" name="Chevron 471"/>
          <p:cNvSpPr/>
          <p:nvPr/>
        </p:nvSpPr>
        <p:spPr>
          <a:xfrm>
            <a:off x="3389976" y="5190091"/>
            <a:ext cx="190568" cy="145196"/>
          </a:xfrm>
          <a:prstGeom prst="chevron">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black"/>
              </a:solidFill>
            </a:endParaRPr>
          </a:p>
        </p:txBody>
      </p:sp>
      <p:sp>
        <p:nvSpPr>
          <p:cNvPr id="473" name="TextBox 142"/>
          <p:cNvSpPr txBox="1"/>
          <p:nvPr/>
        </p:nvSpPr>
        <p:spPr>
          <a:xfrm>
            <a:off x="4195599" y="4864062"/>
            <a:ext cx="2768961" cy="1309461"/>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751" b="1" dirty="0">
                <a:solidFill>
                  <a:prstClr val="black"/>
                </a:solidFill>
              </a:rPr>
              <a:t>US$ </a:t>
            </a:r>
            <a:r>
              <a:rPr lang="en-US" sz="2800" b="1" dirty="0"/>
              <a:t>xx</a:t>
            </a:r>
          </a:p>
          <a:p>
            <a:pPr algn="ctr"/>
            <a:r>
              <a:rPr lang="en-US" sz="2751" b="1" dirty="0" err="1">
                <a:solidFill>
                  <a:prstClr val="black"/>
                </a:solidFill>
              </a:rPr>
              <a:t>Mn</a:t>
            </a:r>
            <a:endParaRPr lang="en-US" sz="2751" b="1" dirty="0">
              <a:solidFill>
                <a:prstClr val="black"/>
              </a:solidFill>
            </a:endParaRPr>
          </a:p>
          <a:p>
            <a:pPr algn="ctr"/>
            <a:r>
              <a:rPr lang="en-US" sz="1179" b="1" dirty="0">
                <a:solidFill>
                  <a:prstClr val="black"/>
                </a:solidFill>
              </a:rPr>
              <a:t>Incremental $ Opportunity</a:t>
            </a:r>
          </a:p>
          <a:p>
            <a:pPr algn="ctr"/>
            <a:r>
              <a:rPr lang="en-US" sz="1179" b="1" dirty="0">
                <a:solidFill>
                  <a:prstClr val="black"/>
                </a:solidFill>
              </a:rPr>
              <a:t>2023 - 2033</a:t>
            </a:r>
          </a:p>
        </p:txBody>
      </p:sp>
      <p:sp>
        <p:nvSpPr>
          <p:cNvPr id="474" name="TextBox 292"/>
          <p:cNvSpPr txBox="1"/>
          <p:nvPr/>
        </p:nvSpPr>
        <p:spPr>
          <a:xfrm>
            <a:off x="7228567" y="3995932"/>
            <a:ext cx="55868" cy="2144824"/>
          </a:xfrm>
          <a:prstGeom prst="rect">
            <a:avLst/>
          </a:prstGeom>
          <a:solidFill>
            <a:schemeClr val="accent1"/>
          </a:solidFill>
          <a:effectLst/>
        </p:spPr>
        <p:style>
          <a:lnRef idx="0">
            <a:schemeClr val="accent2"/>
          </a:lnRef>
          <a:fillRef idx="3">
            <a:schemeClr val="accent2"/>
          </a:fillRef>
          <a:effectRef idx="3">
            <a:schemeClr val="accent2"/>
          </a:effectRef>
          <a:fontRef idx="minor">
            <a:schemeClr val="lt1"/>
          </a:fontRef>
        </p:style>
        <p:txBody>
          <a:bodyPr wrap="square" rtlCol="0" anchor="ctr">
            <a:noAutofit/>
          </a:bodyP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GB" sz="982" b="1" dirty="0">
              <a:solidFill>
                <a:sysClr val="windowText" lastClr="000000"/>
              </a:solidFill>
            </a:endParaRPr>
          </a:p>
        </p:txBody>
      </p:sp>
      <p:sp>
        <p:nvSpPr>
          <p:cNvPr id="475" name="TextBox 145"/>
          <p:cNvSpPr txBox="1"/>
          <p:nvPr/>
        </p:nvSpPr>
        <p:spPr>
          <a:xfrm>
            <a:off x="4593421" y="3713072"/>
            <a:ext cx="1291742" cy="947695"/>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3200" b="1" dirty="0"/>
              <a:t>XX</a:t>
            </a:r>
            <a:endParaRPr lang="en-US" sz="3144" b="1" dirty="0">
              <a:solidFill>
                <a:prstClr val="black"/>
              </a:solidFill>
            </a:endParaRPr>
          </a:p>
          <a:p>
            <a:pPr algn="ctr"/>
            <a:r>
              <a:rPr lang="en-US" sz="1179" b="1" dirty="0">
                <a:solidFill>
                  <a:prstClr val="black"/>
                </a:solidFill>
              </a:rPr>
              <a:t>Growth</a:t>
            </a:r>
          </a:p>
          <a:p>
            <a:pPr algn="ctr"/>
            <a:r>
              <a:rPr lang="en-US" sz="1179" b="1" dirty="0">
                <a:solidFill>
                  <a:prstClr val="black"/>
                </a:solidFill>
              </a:rPr>
              <a:t>2023 - 2033</a:t>
            </a:r>
          </a:p>
        </p:txBody>
      </p:sp>
      <p:sp>
        <p:nvSpPr>
          <p:cNvPr id="476" name="TextBox 146"/>
          <p:cNvSpPr txBox="1"/>
          <p:nvPr/>
        </p:nvSpPr>
        <p:spPr>
          <a:xfrm>
            <a:off x="7628974" y="5360012"/>
            <a:ext cx="2768961" cy="400110"/>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IN" sz="2000" b="1" dirty="0"/>
              <a:t>Xx </a:t>
            </a:r>
            <a:r>
              <a:rPr lang="en-US" sz="1572" b="1" dirty="0">
                <a:solidFill>
                  <a:prstClr val="black"/>
                </a:solidFill>
              </a:rPr>
              <a:t>(2034F)</a:t>
            </a:r>
          </a:p>
        </p:txBody>
      </p:sp>
      <p:sp>
        <p:nvSpPr>
          <p:cNvPr id="477" name="TextBox 147"/>
          <p:cNvSpPr txBox="1"/>
          <p:nvPr/>
        </p:nvSpPr>
        <p:spPr>
          <a:xfrm>
            <a:off x="7631502" y="4869943"/>
            <a:ext cx="2288398" cy="400110"/>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IN" sz="2000" b="1" dirty="0"/>
              <a:t>Xx </a:t>
            </a:r>
            <a:r>
              <a:rPr lang="en-US" sz="1572" b="1" dirty="0">
                <a:solidFill>
                  <a:prstClr val="black"/>
                </a:solidFill>
              </a:rPr>
              <a:t>(2024E)</a:t>
            </a:r>
          </a:p>
        </p:txBody>
      </p:sp>
      <p:sp>
        <p:nvSpPr>
          <p:cNvPr id="478" name="TextBox 151"/>
          <p:cNvSpPr txBox="1"/>
          <p:nvPr/>
        </p:nvSpPr>
        <p:spPr>
          <a:xfrm>
            <a:off x="7763358" y="4088829"/>
            <a:ext cx="3699179" cy="334259"/>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GB" sz="1572" b="1" dirty="0">
                <a:solidFill>
                  <a:prstClr val="black"/>
                </a:solidFill>
              </a:rPr>
              <a:t>WXYZ Market </a:t>
            </a:r>
            <a:r>
              <a:rPr lang="en-US" sz="1572" b="1" dirty="0">
                <a:solidFill>
                  <a:prstClr val="black"/>
                </a:solidFill>
              </a:rPr>
              <a:t>Volume (Tons)</a:t>
            </a:r>
          </a:p>
        </p:txBody>
      </p:sp>
      <p:pic>
        <p:nvPicPr>
          <p:cNvPr id="479" name="Picture 478"/>
          <p:cNvPicPr>
            <a:picLocks noChangeAspect="1"/>
          </p:cNvPicPr>
          <p:nvPr/>
        </p:nvPicPr>
        <p:blipFill>
          <a:blip r:embed="rId4"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5790291" y="3885195"/>
            <a:ext cx="573333" cy="581624"/>
          </a:xfrm>
          <a:prstGeom prst="rect">
            <a:avLst/>
          </a:prstGeom>
        </p:spPr>
      </p:pic>
      <p:grpSp>
        <p:nvGrpSpPr>
          <p:cNvPr id="480" name="Group 479"/>
          <p:cNvGrpSpPr/>
          <p:nvPr/>
        </p:nvGrpSpPr>
        <p:grpSpPr>
          <a:xfrm>
            <a:off x="10255825" y="4603620"/>
            <a:ext cx="1005448" cy="1132827"/>
            <a:chOff x="6615292" y="2096313"/>
            <a:chExt cx="1023376" cy="1153027"/>
          </a:xfrm>
        </p:grpSpPr>
        <p:sp>
          <p:nvSpPr>
            <p:cNvPr id="481" name="TextBox 594"/>
            <p:cNvSpPr txBox="1"/>
            <p:nvPr/>
          </p:nvSpPr>
          <p:spPr>
            <a:xfrm>
              <a:off x="6615292" y="2330852"/>
              <a:ext cx="959125" cy="407244"/>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000" b="1" spc="-147" dirty="0">
                  <a:solidFill>
                    <a:srgbClr val="2A5F8F">
                      <a:lumMod val="50000"/>
                    </a:srgbClr>
                  </a:solidFill>
                  <a:cs typeface="FrankRuehl" panose="020E0503060101010101" pitchFamily="34" charset="-79"/>
                </a:rPr>
                <a:t>CAGR </a:t>
              </a:r>
            </a:p>
          </p:txBody>
        </p:sp>
        <p:sp>
          <p:nvSpPr>
            <p:cNvPr id="482" name="TextBox 595"/>
            <p:cNvSpPr txBox="1"/>
            <p:nvPr/>
          </p:nvSpPr>
          <p:spPr>
            <a:xfrm>
              <a:off x="6667912" y="2716790"/>
              <a:ext cx="970756" cy="532550"/>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800" b="1" dirty="0">
                  <a:solidFill>
                    <a:srgbClr val="2A5F8F">
                      <a:lumMod val="50000"/>
                    </a:srgbClr>
                  </a:solidFill>
                  <a:latin typeface="Agency FB" panose="020B0503020202020204" pitchFamily="34" charset="0"/>
                </a:rPr>
                <a:t>xx%</a:t>
              </a:r>
            </a:p>
          </p:txBody>
        </p:sp>
        <p:sp>
          <p:nvSpPr>
            <p:cNvPr id="483" name="TextBox 596"/>
            <p:cNvSpPr txBox="1"/>
            <p:nvPr/>
          </p:nvSpPr>
          <p:spPr>
            <a:xfrm>
              <a:off x="6732162" y="2096313"/>
              <a:ext cx="858124" cy="212931"/>
            </a:xfrm>
            <a:prstGeom prst="rect">
              <a:avLst/>
            </a:prstGeom>
            <a:noFill/>
          </p:spPr>
          <p:txBody>
            <a:bodyPr wrap="square" lIns="0" tIns="0" rIns="0" bIns="0" rtlCol="0">
              <a:no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defTabSz="898398">
                <a:defRPr/>
              </a:pPr>
              <a:r>
                <a:rPr lang="en-GB" sz="1800" b="1" kern="0" dirty="0">
                  <a:solidFill>
                    <a:srgbClr val="2A5F8F">
                      <a:lumMod val="50000"/>
                    </a:srgbClr>
                  </a:solidFill>
                </a:rPr>
                <a:t>Volume</a:t>
              </a:r>
            </a:p>
          </p:txBody>
        </p:sp>
      </p:grpSp>
      <p:grpSp>
        <p:nvGrpSpPr>
          <p:cNvPr id="484" name="Group 483"/>
          <p:cNvGrpSpPr/>
          <p:nvPr/>
        </p:nvGrpSpPr>
        <p:grpSpPr>
          <a:xfrm>
            <a:off x="10896939" y="1965146"/>
            <a:ext cx="1295061" cy="1132827"/>
            <a:chOff x="6615292" y="2096313"/>
            <a:chExt cx="1023376" cy="1153027"/>
          </a:xfrm>
        </p:grpSpPr>
        <p:sp>
          <p:nvSpPr>
            <p:cNvPr id="485" name="TextBox 604"/>
            <p:cNvSpPr txBox="1"/>
            <p:nvPr/>
          </p:nvSpPr>
          <p:spPr>
            <a:xfrm>
              <a:off x="6615292" y="2330852"/>
              <a:ext cx="959125" cy="407245"/>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000" b="1" spc="-147" dirty="0">
                  <a:solidFill>
                    <a:srgbClr val="2A5F8F">
                      <a:lumMod val="50000"/>
                    </a:srgbClr>
                  </a:solidFill>
                  <a:cs typeface="FrankRuehl" panose="020E0503060101010101" pitchFamily="34" charset="-79"/>
                </a:rPr>
                <a:t>CAGR </a:t>
              </a:r>
            </a:p>
          </p:txBody>
        </p:sp>
        <p:sp>
          <p:nvSpPr>
            <p:cNvPr id="486" name="TextBox 605"/>
            <p:cNvSpPr txBox="1"/>
            <p:nvPr/>
          </p:nvSpPr>
          <p:spPr>
            <a:xfrm>
              <a:off x="6667912" y="2716790"/>
              <a:ext cx="970756" cy="532550"/>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800" b="1" dirty="0">
                  <a:solidFill>
                    <a:srgbClr val="2A5F8F">
                      <a:lumMod val="50000"/>
                    </a:srgbClr>
                  </a:solidFill>
                  <a:latin typeface="Agency FB" panose="020B0503020202020204" pitchFamily="34" charset="0"/>
                </a:rPr>
                <a:t>xx%</a:t>
              </a:r>
            </a:p>
          </p:txBody>
        </p:sp>
        <p:sp>
          <p:nvSpPr>
            <p:cNvPr id="487" name="TextBox 606"/>
            <p:cNvSpPr txBox="1"/>
            <p:nvPr/>
          </p:nvSpPr>
          <p:spPr>
            <a:xfrm>
              <a:off x="6732162" y="2096313"/>
              <a:ext cx="725385" cy="248712"/>
            </a:xfrm>
            <a:prstGeom prst="rect">
              <a:avLst/>
            </a:prstGeom>
            <a:noFill/>
          </p:spPr>
          <p:txBody>
            <a:bodyPr wrap="square" lIns="0" tIns="0" rIns="0" bIns="0" rtlCol="0">
              <a:no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defTabSz="898398">
                <a:defRPr/>
              </a:pPr>
              <a:r>
                <a:rPr lang="en-GB" sz="1800" b="1" kern="0" dirty="0">
                  <a:solidFill>
                    <a:srgbClr val="2A5F8F">
                      <a:lumMod val="50000"/>
                    </a:srgbClr>
                  </a:solidFill>
                </a:rPr>
                <a:t>Value</a:t>
              </a:r>
            </a:p>
          </p:txBody>
        </p:sp>
      </p:grpSp>
      <p:sp>
        <p:nvSpPr>
          <p:cNvPr id="488" name="TextBox 597"/>
          <p:cNvSpPr txBox="1"/>
          <p:nvPr/>
        </p:nvSpPr>
        <p:spPr>
          <a:xfrm>
            <a:off x="6248400" y="1131672"/>
            <a:ext cx="5791200" cy="502920"/>
          </a:xfrm>
          <a:prstGeom prst="rect">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pPr algn="ctr"/>
            <a:r>
              <a:rPr lang="en-GB" sz="1376" b="1" dirty="0">
                <a:solidFill>
                  <a:prstClr val="black"/>
                </a:solidFill>
              </a:rPr>
              <a:t>East Asia WXYZ Market Incremental $ Opportunity, 2019 and 2023-2034</a:t>
            </a:r>
          </a:p>
        </p:txBody>
      </p:sp>
      <p:cxnSp>
        <p:nvCxnSpPr>
          <p:cNvPr id="489" name="Straight Connector 488"/>
          <p:cNvCxnSpPr/>
          <p:nvPr/>
        </p:nvCxnSpPr>
        <p:spPr>
          <a:xfrm>
            <a:off x="7714740" y="5300649"/>
            <a:ext cx="1848801" cy="0"/>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491" name="Content Placeholder 13"/>
          <p:cNvGraphicFramePr>
            <a:graphicFrameLocks/>
          </p:cNvGraphicFramePr>
          <p:nvPr/>
        </p:nvGraphicFramePr>
        <p:xfrm>
          <a:off x="6512366" y="1694610"/>
          <a:ext cx="4585089" cy="1920875"/>
        </p:xfrm>
        <a:graphic>
          <a:graphicData uri="http://schemas.openxmlformats.org/drawingml/2006/chart">
            <c:chart xmlns:c="http://schemas.openxmlformats.org/drawingml/2006/chart" xmlns:r="http://schemas.openxmlformats.org/officeDocument/2006/relationships" r:id="rId5"/>
          </a:graphicData>
        </a:graphic>
      </p:graphicFrame>
      <p:sp>
        <p:nvSpPr>
          <p:cNvPr id="493" name="TextBox 49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218</a:t>
            </a:fld>
            <a:endParaRPr lang="en-GB" dirty="0"/>
          </a:p>
        </p:txBody>
      </p:sp>
    </p:spTree>
    <p:extLst>
      <p:ext uri="{BB962C8B-B14F-4D97-AF65-F5344CB8AC3E}">
        <p14:creationId xmlns:p14="http://schemas.microsoft.com/office/powerpoint/2010/main" val="3585092027"/>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 East Asia WXYZ Market Analysis By Country</a:t>
            </a:r>
          </a:p>
        </p:txBody>
      </p:sp>
      <p:sp>
        <p:nvSpPr>
          <p:cNvPr id="7" name="Text Placeholder 6"/>
          <p:cNvSpPr>
            <a:spLocks noGrp="1"/>
          </p:cNvSpPr>
          <p:nvPr>
            <p:ph type="body" idx="12"/>
          </p:nvPr>
        </p:nvSpPr>
        <p:spPr/>
        <p:txBody>
          <a:bodyPr/>
          <a:lstStyle/>
          <a:p>
            <a:r>
              <a:rPr lang="en-US" sz="1100" dirty="0"/>
              <a:t>Figure XX:  East Asia WXYZ Market Share and BPS Analysis By Country, 2024 &amp; 2034</a:t>
            </a:r>
          </a:p>
        </p:txBody>
      </p:sp>
      <p:sp>
        <p:nvSpPr>
          <p:cNvPr id="9" name="Text Placeholder 8"/>
          <p:cNvSpPr>
            <a:spLocks noGrp="1"/>
          </p:cNvSpPr>
          <p:nvPr>
            <p:ph type="body" idx="14"/>
          </p:nvPr>
        </p:nvSpPr>
        <p:spPr/>
        <p:txBody>
          <a:bodyPr/>
          <a:lstStyle/>
          <a:p>
            <a:r>
              <a:rPr lang="en-US" sz="1100" dirty="0"/>
              <a:t>Figure XX:  East Asia WXYZ Market Y-o-Y Growth Projections By Country, 2024 – 2034</a:t>
            </a:r>
          </a:p>
        </p:txBody>
      </p:sp>
      <p:sp>
        <p:nvSpPr>
          <p:cNvPr id="11" name="Text Placeholder 10"/>
          <p:cNvSpPr>
            <a:spLocks noGrp="1"/>
          </p:cNvSpPr>
          <p:nvPr>
            <p:ph type="body" idx="16"/>
          </p:nvPr>
        </p:nvSpPr>
        <p:spPr/>
        <p:txBody>
          <a:bodyPr/>
          <a:lstStyle/>
          <a:p>
            <a:r>
              <a:rPr lang="en-US" dirty="0"/>
              <a:t>Figure XX:  East Asia WXYZ Market Attractiveness Analysis By Country, 2024 – 2034</a:t>
            </a:r>
          </a:p>
        </p:txBody>
      </p:sp>
      <p:sp>
        <p:nvSpPr>
          <p:cNvPr id="13" name="TextBox 1"/>
          <p:cNvSpPr txBox="1"/>
          <p:nvPr/>
        </p:nvSpPr>
        <p:spPr>
          <a:xfrm>
            <a:off x="994161" y="1662633"/>
            <a:ext cx="71013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XX </a:t>
            </a:r>
            <a:r>
              <a:rPr lang="en-US" sz="1200" b="1" dirty="0" err="1"/>
              <a:t>Mn</a:t>
            </a:r>
            <a:endParaRPr lang="en-US" sz="1200" b="1" dirty="0"/>
          </a:p>
        </p:txBody>
      </p:sp>
      <p:sp>
        <p:nvSpPr>
          <p:cNvPr id="14" name="TextBox 9"/>
          <p:cNvSpPr txBox="1"/>
          <p:nvPr/>
        </p:nvSpPr>
        <p:spPr>
          <a:xfrm>
            <a:off x="2553174" y="1662633"/>
            <a:ext cx="71013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XX </a:t>
            </a:r>
            <a:r>
              <a:rPr lang="en-US" sz="1200" b="1" dirty="0" err="1"/>
              <a:t>Mn</a:t>
            </a:r>
            <a:endParaRPr lang="en-US" sz="1200" b="1" dirty="0"/>
          </a:p>
        </p:txBody>
      </p:sp>
      <p:graphicFrame>
        <p:nvGraphicFramePr>
          <p:cNvPr id="22" name="Content Placeholder 17"/>
          <p:cNvGraphicFramePr>
            <a:graphicFrameLocks noGrp="1"/>
          </p:cNvGraphicFramePr>
          <p:nvPr>
            <p:ph idx="13"/>
            <p:extLst>
              <p:ext uri="{D42A27DB-BD31-4B8C-83A1-F6EECF244321}">
                <p14:modId xmlns:p14="http://schemas.microsoft.com/office/powerpoint/2010/main" val="2121989388"/>
              </p:ext>
            </p:extLst>
          </p:nvPr>
        </p:nvGraphicFramePr>
        <p:xfrm>
          <a:off x="4513263" y="1612901"/>
          <a:ext cx="3109912" cy="4594225"/>
        </p:xfrm>
        <a:graphic>
          <a:graphicData uri="http://schemas.openxmlformats.org/drawingml/2006/chart">
            <c:chart xmlns:c="http://schemas.openxmlformats.org/drawingml/2006/chart" xmlns:r="http://schemas.openxmlformats.org/officeDocument/2006/relationships" r:id="rId2"/>
          </a:graphicData>
        </a:graphic>
      </p:graphicFrame>
      <p:sp>
        <p:nvSpPr>
          <p:cNvPr id="12" name="TextBox 1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5" name="Content Placeholder 14"/>
          <p:cNvGraphicFramePr>
            <a:graphicFrameLocks noGrp="1"/>
          </p:cNvGraphicFramePr>
          <p:nvPr>
            <p:ph idx="1"/>
            <p:extLst>
              <p:ext uri="{D42A27DB-BD31-4B8C-83A1-F6EECF244321}">
                <p14:modId xmlns:p14="http://schemas.microsoft.com/office/powerpoint/2010/main" val="3925328157"/>
              </p:ext>
            </p:extLst>
          </p:nvPr>
        </p:nvGraphicFramePr>
        <p:xfrm>
          <a:off x="174625" y="1614488"/>
          <a:ext cx="3768725" cy="459422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Content Placeholder 19"/>
          <p:cNvGraphicFramePr>
            <a:graphicFrameLocks noGrp="1"/>
          </p:cNvGraphicFramePr>
          <p:nvPr>
            <p:ph idx="15"/>
            <p:extLst>
              <p:ext uri="{D42A27DB-BD31-4B8C-83A1-F6EECF244321}">
                <p14:modId xmlns:p14="http://schemas.microsoft.com/office/powerpoint/2010/main" val="3034057725"/>
              </p:ext>
            </p:extLst>
          </p:nvPr>
        </p:nvGraphicFramePr>
        <p:xfrm>
          <a:off x="8274050" y="1612900"/>
          <a:ext cx="3768725" cy="4594225"/>
        </p:xfrm>
        <a:graphic>
          <a:graphicData uri="http://schemas.openxmlformats.org/drawingml/2006/chart">
            <c:chart xmlns:c="http://schemas.openxmlformats.org/drawingml/2006/chart" xmlns:r="http://schemas.openxmlformats.org/officeDocument/2006/relationships" r:id="rId4"/>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219</a:t>
            </a:fld>
            <a:endParaRPr lang="en-GB" dirty="0"/>
          </a:p>
        </p:txBody>
      </p:sp>
    </p:spTree>
    <p:extLst>
      <p:ext uri="{BB962C8B-B14F-4D97-AF65-F5344CB8AC3E}">
        <p14:creationId xmlns:p14="http://schemas.microsoft.com/office/powerpoint/2010/main" val="3629152447"/>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East Asia WXYZ Market Analysis By Country</a:t>
            </a:r>
          </a:p>
        </p:txBody>
      </p:sp>
      <p:sp>
        <p:nvSpPr>
          <p:cNvPr id="6" name="Text Placeholder 5"/>
          <p:cNvSpPr>
            <a:spLocks noGrp="1"/>
          </p:cNvSpPr>
          <p:nvPr>
            <p:ph type="body" idx="12"/>
          </p:nvPr>
        </p:nvSpPr>
        <p:spPr/>
        <p:txBody>
          <a:bodyPr/>
          <a:lstStyle/>
          <a:p>
            <a:r>
              <a:rPr lang="en-US" sz="1400" dirty="0"/>
              <a:t>Table 13: East Asia WXYZ Market Size (US$ </a:t>
            </a:r>
            <a:r>
              <a:rPr lang="en-US" sz="1400" dirty="0" err="1"/>
              <a:t>Mn</a:t>
            </a:r>
            <a:r>
              <a:rPr lang="en-US" sz="1400" dirty="0"/>
              <a:t>) and Volume (Tons) Analysis and Forecast By Country, 2019 – 2034</a:t>
            </a:r>
          </a:p>
        </p:txBody>
      </p:sp>
      <p:graphicFrame>
        <p:nvGraphicFramePr>
          <p:cNvPr id="7" name="Content Placeholder 9"/>
          <p:cNvGraphicFramePr>
            <a:graphicFrameLocks/>
          </p:cNvGraphicFramePr>
          <p:nvPr>
            <p:extLst>
              <p:ext uri="{D42A27DB-BD31-4B8C-83A1-F6EECF244321}">
                <p14:modId xmlns:p14="http://schemas.microsoft.com/office/powerpoint/2010/main" val="3141517017"/>
              </p:ext>
            </p:extLst>
          </p:nvPr>
        </p:nvGraphicFramePr>
        <p:xfrm>
          <a:off x="152399" y="1665096"/>
          <a:ext cx="11887207" cy="4028949"/>
        </p:xfrm>
        <a:graphic>
          <a:graphicData uri="http://schemas.openxmlformats.org/drawingml/2006/table">
            <a:tbl>
              <a:tblPr firstRow="1" bandRow="1">
                <a:tableStyleId>{5C22544A-7EE6-4342-B048-85BDC9FD1C3A}</a:tableStyleId>
              </a:tblPr>
              <a:tblGrid>
                <a:gridCol w="897220">
                  <a:extLst>
                    <a:ext uri="{9D8B030D-6E8A-4147-A177-3AD203B41FA5}">
                      <a16:colId xmlns:a16="http://schemas.microsoft.com/office/drawing/2014/main" val="20000"/>
                    </a:ext>
                  </a:extLst>
                </a:gridCol>
                <a:gridCol w="360618">
                  <a:extLst>
                    <a:ext uri="{9D8B030D-6E8A-4147-A177-3AD203B41FA5}">
                      <a16:colId xmlns:a16="http://schemas.microsoft.com/office/drawing/2014/main" val="20018"/>
                    </a:ext>
                  </a:extLst>
                </a:gridCol>
                <a:gridCol w="625257">
                  <a:extLst>
                    <a:ext uri="{9D8B030D-6E8A-4147-A177-3AD203B41FA5}">
                      <a16:colId xmlns:a16="http://schemas.microsoft.com/office/drawing/2014/main" val="20001"/>
                    </a:ext>
                  </a:extLst>
                </a:gridCol>
                <a:gridCol w="625257">
                  <a:extLst>
                    <a:ext uri="{9D8B030D-6E8A-4147-A177-3AD203B41FA5}">
                      <a16:colId xmlns:a16="http://schemas.microsoft.com/office/drawing/2014/main" val="20002"/>
                    </a:ext>
                  </a:extLst>
                </a:gridCol>
                <a:gridCol w="625257">
                  <a:extLst>
                    <a:ext uri="{9D8B030D-6E8A-4147-A177-3AD203B41FA5}">
                      <a16:colId xmlns:a16="http://schemas.microsoft.com/office/drawing/2014/main" val="20003"/>
                    </a:ext>
                  </a:extLst>
                </a:gridCol>
                <a:gridCol w="625257">
                  <a:extLst>
                    <a:ext uri="{9D8B030D-6E8A-4147-A177-3AD203B41FA5}">
                      <a16:colId xmlns:a16="http://schemas.microsoft.com/office/drawing/2014/main" val="20004"/>
                    </a:ext>
                  </a:extLst>
                </a:gridCol>
                <a:gridCol w="625257">
                  <a:extLst>
                    <a:ext uri="{9D8B030D-6E8A-4147-A177-3AD203B41FA5}">
                      <a16:colId xmlns:a16="http://schemas.microsoft.com/office/drawing/2014/main" val="20005"/>
                    </a:ext>
                  </a:extLst>
                </a:gridCol>
                <a:gridCol w="625257">
                  <a:extLst>
                    <a:ext uri="{9D8B030D-6E8A-4147-A177-3AD203B41FA5}">
                      <a16:colId xmlns:a16="http://schemas.microsoft.com/office/drawing/2014/main" val="20006"/>
                    </a:ext>
                  </a:extLst>
                </a:gridCol>
                <a:gridCol w="625257">
                  <a:extLst>
                    <a:ext uri="{9D8B030D-6E8A-4147-A177-3AD203B41FA5}">
                      <a16:colId xmlns:a16="http://schemas.microsoft.com/office/drawing/2014/main" val="20007"/>
                    </a:ext>
                  </a:extLst>
                </a:gridCol>
                <a:gridCol w="625257">
                  <a:extLst>
                    <a:ext uri="{9D8B030D-6E8A-4147-A177-3AD203B41FA5}">
                      <a16:colId xmlns:a16="http://schemas.microsoft.com/office/drawing/2014/main" val="20008"/>
                    </a:ext>
                  </a:extLst>
                </a:gridCol>
                <a:gridCol w="625257">
                  <a:extLst>
                    <a:ext uri="{9D8B030D-6E8A-4147-A177-3AD203B41FA5}">
                      <a16:colId xmlns:a16="http://schemas.microsoft.com/office/drawing/2014/main" val="20009"/>
                    </a:ext>
                  </a:extLst>
                </a:gridCol>
                <a:gridCol w="625257">
                  <a:extLst>
                    <a:ext uri="{9D8B030D-6E8A-4147-A177-3AD203B41FA5}">
                      <a16:colId xmlns:a16="http://schemas.microsoft.com/office/drawing/2014/main" val="20010"/>
                    </a:ext>
                  </a:extLst>
                </a:gridCol>
                <a:gridCol w="625257">
                  <a:extLst>
                    <a:ext uri="{9D8B030D-6E8A-4147-A177-3AD203B41FA5}">
                      <a16:colId xmlns:a16="http://schemas.microsoft.com/office/drawing/2014/main" val="20011"/>
                    </a:ext>
                  </a:extLst>
                </a:gridCol>
                <a:gridCol w="625257">
                  <a:extLst>
                    <a:ext uri="{9D8B030D-6E8A-4147-A177-3AD203B41FA5}">
                      <a16:colId xmlns:a16="http://schemas.microsoft.com/office/drawing/2014/main" val="20012"/>
                    </a:ext>
                  </a:extLst>
                </a:gridCol>
                <a:gridCol w="625257">
                  <a:extLst>
                    <a:ext uri="{9D8B030D-6E8A-4147-A177-3AD203B41FA5}">
                      <a16:colId xmlns:a16="http://schemas.microsoft.com/office/drawing/2014/main" val="20013"/>
                    </a:ext>
                  </a:extLst>
                </a:gridCol>
                <a:gridCol w="625257">
                  <a:extLst>
                    <a:ext uri="{9D8B030D-6E8A-4147-A177-3AD203B41FA5}">
                      <a16:colId xmlns:a16="http://schemas.microsoft.com/office/drawing/2014/main" val="20014"/>
                    </a:ext>
                  </a:extLst>
                </a:gridCol>
                <a:gridCol w="625257">
                  <a:extLst>
                    <a:ext uri="{9D8B030D-6E8A-4147-A177-3AD203B41FA5}">
                      <a16:colId xmlns:a16="http://schemas.microsoft.com/office/drawing/2014/main" val="20015"/>
                    </a:ext>
                  </a:extLst>
                </a:gridCol>
                <a:gridCol w="625257">
                  <a:extLst>
                    <a:ext uri="{9D8B030D-6E8A-4147-A177-3AD203B41FA5}">
                      <a16:colId xmlns:a16="http://schemas.microsoft.com/office/drawing/2014/main" val="20016"/>
                    </a:ext>
                  </a:extLst>
                </a:gridCol>
                <a:gridCol w="625257">
                  <a:extLst>
                    <a:ext uri="{9D8B030D-6E8A-4147-A177-3AD203B41FA5}">
                      <a16:colId xmlns:a16="http://schemas.microsoft.com/office/drawing/2014/main" val="20017"/>
                    </a:ext>
                  </a:extLst>
                </a:gridCol>
              </a:tblGrid>
              <a:tr h="1041733">
                <a:tc gridSpan="2">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dirty="0"/>
                        <a:t>Country</a:t>
                      </a:r>
                      <a:endParaRPr lang="en-US" sz="1100" b="1" i="0" baseline="0" dirty="0">
                        <a:solidFill>
                          <a:schemeClr val="tx1"/>
                        </a:solidFill>
                        <a:latin typeface="+mn-lt"/>
                      </a:endParaRPr>
                    </a:p>
                  </a:txBody>
                  <a:tcPr marR="0" marT="0" marB="0" anchor="ctr"/>
                </a:tc>
                <a:tc hMerge="1">
                  <a:txBody>
                    <a:bodyPr/>
                    <a:lstStyle/>
                    <a:p>
                      <a:pPr algn="ctr"/>
                      <a:endParaRPr lang="en-US" sz="10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373402">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algn="l" defTabSz="914400" rtl="0" eaLnBrk="1" latinLnBrk="0" hangingPunct="1"/>
                      <a:r>
                        <a:rPr lang="en-US" sz="1100" b="1" i="0" kern="1200" baseline="0" dirty="0">
                          <a:solidFill>
                            <a:prstClr val="black"/>
                          </a:solidFill>
                          <a:latin typeface="Calibri" panose="020F0502020204030204"/>
                          <a:ea typeface="Malgun Gothic" panose="020B0503020000020004" pitchFamily="34" charset="-127"/>
                          <a:cs typeface=""/>
                        </a:rPr>
                        <a:t>China</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373402">
                <a:tc vMerge="1">
                  <a:txBody>
                    <a:bodyPr/>
                    <a:lstStyle/>
                    <a:p>
                      <a:endParaRPr lang="en-US" dirty="0"/>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373402">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IN" sz="1100" b="1" i="0" kern="1200" baseline="0" dirty="0">
                          <a:solidFill>
                            <a:prstClr val="black"/>
                          </a:solidFill>
                          <a:latin typeface="+mn-lt"/>
                          <a:ea typeface="Malgun Gothic" panose="020B0503020000020004" pitchFamily="34" charset="-127"/>
                          <a:cs typeface=""/>
                        </a:rPr>
                        <a:t>Japan</a:t>
                      </a:r>
                      <a:endParaRPr lang="en-US" sz="1100" b="1" i="0" kern="1200" baseline="0" dirty="0">
                        <a:solidFill>
                          <a:prstClr val="black"/>
                        </a:solidFill>
                        <a:latin typeface="+mn-lt"/>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373402">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373402">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algn="l"/>
                      <a:r>
                        <a:rPr lang="en-US" sz="1100" b="1" i="0" baseline="0" dirty="0">
                          <a:latin typeface="+mn-lt"/>
                        </a:rPr>
                        <a:t>South Korea</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373402">
                <a:tc vMerge="1">
                  <a:txBody>
                    <a:bodyPr/>
                    <a:lstStyle/>
                    <a:p>
                      <a:endParaRPr lang="en-US"/>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373402">
                <a:tc rowSpan="2">
                  <a:txBody>
                    <a:bodyPr/>
                    <a:lstStyle/>
                    <a:p>
                      <a:pPr algn="l"/>
                      <a:r>
                        <a:rPr lang="en-IN" sz="1100" b="1" i="0" baseline="0" dirty="0">
                          <a:latin typeface="+mn-lt"/>
                        </a:rPr>
                        <a:t>Total</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373402">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8" name="TextBox 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220</a:t>
            </a:fld>
            <a:endParaRPr lang="en-GB" dirty="0"/>
          </a:p>
        </p:txBody>
      </p:sp>
    </p:spTree>
    <p:extLst>
      <p:ext uri="{BB962C8B-B14F-4D97-AF65-F5344CB8AC3E}">
        <p14:creationId xmlns:p14="http://schemas.microsoft.com/office/powerpoint/2010/main" val="3028564802"/>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East Asia WXYZ Market Absolute $ Opportunity Analysis By Country</a:t>
            </a:r>
            <a:endParaRPr lang="en-IN" dirty="0"/>
          </a:p>
        </p:txBody>
      </p:sp>
      <p:sp>
        <p:nvSpPr>
          <p:cNvPr id="5" name="Text Placeholder 4"/>
          <p:cNvSpPr>
            <a:spLocks noGrp="1"/>
          </p:cNvSpPr>
          <p:nvPr>
            <p:ph type="body" idx="12"/>
          </p:nvPr>
        </p:nvSpPr>
        <p:spPr>
          <a:noFill/>
        </p:spPr>
        <p:txBody>
          <a:bodyPr anchor="ctr"/>
          <a:lstStyle/>
          <a:p>
            <a:r>
              <a:rPr lang="en-US" dirty="0"/>
              <a:t>FIG: East Asia Incremental $ Opportunity By Country, 2024-2034</a:t>
            </a:r>
          </a:p>
        </p:txBody>
      </p:sp>
      <p:sp>
        <p:nvSpPr>
          <p:cNvPr id="6" name="Text Placeholder 5"/>
          <p:cNvSpPr>
            <a:spLocks noGrp="1"/>
          </p:cNvSpPr>
          <p:nvPr>
            <p:ph type="body" idx="14"/>
          </p:nvPr>
        </p:nvSpPr>
        <p:spPr>
          <a:noFill/>
        </p:spPr>
        <p:txBody>
          <a:bodyPr vert="horz" lIns="91440" tIns="91440" rIns="91440" bIns="91440" rtlCol="0" anchor="ctr">
            <a:noAutofit/>
          </a:bodyPr>
          <a:lstStyle/>
          <a:p>
            <a:pPr algn="ctr"/>
            <a:r>
              <a:rPr lang="en-US" dirty="0"/>
              <a:t>Key Takeaways</a:t>
            </a:r>
          </a:p>
        </p:txBody>
      </p:sp>
      <p:pic>
        <p:nvPicPr>
          <p:cNvPr id="3" name="Picture 2"/>
          <p:cNvPicPr>
            <a:picLocks noChangeAspect="1"/>
          </p:cNvPicPr>
          <p:nvPr/>
        </p:nvPicPr>
        <p:blipFill>
          <a:blip r:embed="rId2"/>
          <a:stretch>
            <a:fillRect/>
          </a:stretch>
        </p:blipFill>
        <p:spPr>
          <a:xfrm>
            <a:off x="6277857" y="1612797"/>
            <a:ext cx="5761743" cy="4399280"/>
          </a:xfrm>
          <a:prstGeom prst="rect">
            <a:avLst/>
          </a:prstGeom>
        </p:spPr>
      </p:pic>
      <p:graphicFrame>
        <p:nvGraphicFramePr>
          <p:cNvPr id="10" name="Content Placeholder 13"/>
          <p:cNvGraphicFramePr>
            <a:graphicFrameLocks noGrp="1"/>
          </p:cNvGraphicFramePr>
          <p:nvPr>
            <p:ph idx="1"/>
            <p:extLst>
              <p:ext uri="{D42A27DB-BD31-4B8C-83A1-F6EECF244321}">
                <p14:modId xmlns:p14="http://schemas.microsoft.com/office/powerpoint/2010/main" val="122040744"/>
              </p:ext>
            </p:extLst>
          </p:nvPr>
        </p:nvGraphicFramePr>
        <p:xfrm>
          <a:off x="152400" y="1612900"/>
          <a:ext cx="5764213" cy="4594225"/>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221</a:t>
            </a:fld>
            <a:endParaRPr lang="en-GB" dirty="0"/>
          </a:p>
        </p:txBody>
      </p:sp>
    </p:spTree>
    <p:extLst>
      <p:ext uri="{BB962C8B-B14F-4D97-AF65-F5344CB8AC3E}">
        <p14:creationId xmlns:p14="http://schemas.microsoft.com/office/powerpoint/2010/main" val="1697180430"/>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222</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222</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South Asia Pacific WXYZ Market Analysis 2019 – 2023 and Forecast, 2024 – 2034</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222</a:t>
            </a:r>
          </a:p>
        </p:txBody>
      </p:sp>
    </p:spTree>
    <p:extLst>
      <p:ext uri="{BB962C8B-B14F-4D97-AF65-F5344CB8AC3E}">
        <p14:creationId xmlns:p14="http://schemas.microsoft.com/office/powerpoint/2010/main" val="771607740"/>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Introduction</a:t>
            </a:r>
          </a:p>
        </p:txBody>
      </p:sp>
      <p:grpSp>
        <p:nvGrpSpPr>
          <p:cNvPr id="6" name="Group 5"/>
          <p:cNvGrpSpPr>
            <a:grpSpLocks/>
          </p:cNvGrpSpPr>
          <p:nvPr/>
        </p:nvGrpSpPr>
        <p:grpSpPr bwMode="auto">
          <a:xfrm>
            <a:off x="4199256" y="3530036"/>
            <a:ext cx="7519132" cy="2513907"/>
            <a:chOff x="96" y="1152"/>
            <a:chExt cx="5568" cy="2642"/>
          </a:xfrm>
          <a:solidFill>
            <a:srgbClr val="EBF2F9"/>
          </a:solidFill>
        </p:grpSpPr>
        <p:sp>
          <p:nvSpPr>
            <p:cNvPr id="7" name="Freeform 6"/>
            <p:cNvSpPr>
              <a:spLocks/>
            </p:cNvSpPr>
            <p:nvPr/>
          </p:nvSpPr>
          <p:spPr bwMode="auto">
            <a:xfrm>
              <a:off x="4358" y="2676"/>
              <a:ext cx="6" cy="5"/>
            </a:xfrm>
            <a:custGeom>
              <a:avLst/>
              <a:gdLst/>
              <a:ahLst/>
              <a:cxnLst>
                <a:cxn ang="0">
                  <a:pos x="6" y="1"/>
                </a:cxn>
                <a:cxn ang="0">
                  <a:pos x="0" y="2"/>
                </a:cxn>
                <a:cxn ang="0">
                  <a:pos x="0" y="0"/>
                </a:cxn>
                <a:cxn ang="0">
                  <a:pos x="6" y="1"/>
                </a:cxn>
              </a:cxnLst>
              <a:rect l="0" t="0" r="r" b="b"/>
              <a:pathLst>
                <a:path w="6" h="2">
                  <a:moveTo>
                    <a:pt x="6" y="1"/>
                  </a:moveTo>
                  <a:lnTo>
                    <a:pt x="0" y="2"/>
                  </a:lnTo>
                  <a:lnTo>
                    <a:pt x="0" y="0"/>
                  </a:lnTo>
                  <a:lnTo>
                    <a:pt x="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 name="Freeform 7"/>
            <p:cNvSpPr>
              <a:spLocks/>
            </p:cNvSpPr>
            <p:nvPr/>
          </p:nvSpPr>
          <p:spPr bwMode="auto">
            <a:xfrm>
              <a:off x="4451" y="2619"/>
              <a:ext cx="175" cy="166"/>
            </a:xfrm>
            <a:custGeom>
              <a:avLst/>
              <a:gdLst/>
              <a:ahLst/>
              <a:cxnLst>
                <a:cxn ang="0">
                  <a:pos x="158" y="62"/>
                </a:cxn>
                <a:cxn ang="0">
                  <a:pos x="144" y="61"/>
                </a:cxn>
                <a:cxn ang="0">
                  <a:pos x="143" y="60"/>
                </a:cxn>
                <a:cxn ang="0">
                  <a:pos x="136" y="84"/>
                </a:cxn>
                <a:cxn ang="0">
                  <a:pos x="138" y="85"/>
                </a:cxn>
                <a:cxn ang="0">
                  <a:pos x="134" y="94"/>
                </a:cxn>
                <a:cxn ang="0">
                  <a:pos x="125" y="98"/>
                </a:cxn>
                <a:cxn ang="0">
                  <a:pos x="118" y="110"/>
                </a:cxn>
                <a:cxn ang="0">
                  <a:pos x="118" y="118"/>
                </a:cxn>
                <a:cxn ang="0">
                  <a:pos x="121" y="118"/>
                </a:cxn>
                <a:cxn ang="0">
                  <a:pos x="116" y="124"/>
                </a:cxn>
                <a:cxn ang="0">
                  <a:pos x="114" y="130"/>
                </a:cxn>
                <a:cxn ang="0">
                  <a:pos x="110" y="143"/>
                </a:cxn>
                <a:cxn ang="0">
                  <a:pos x="89" y="150"/>
                </a:cxn>
                <a:cxn ang="0">
                  <a:pos x="86" y="140"/>
                </a:cxn>
                <a:cxn ang="0">
                  <a:pos x="84" y="138"/>
                </a:cxn>
                <a:cxn ang="0">
                  <a:pos x="73" y="138"/>
                </a:cxn>
                <a:cxn ang="0">
                  <a:pos x="64" y="133"/>
                </a:cxn>
                <a:cxn ang="0">
                  <a:pos x="54" y="138"/>
                </a:cxn>
                <a:cxn ang="0">
                  <a:pos x="46" y="139"/>
                </a:cxn>
                <a:cxn ang="0">
                  <a:pos x="42" y="130"/>
                </a:cxn>
                <a:cxn ang="0">
                  <a:pos x="29" y="132"/>
                </a:cxn>
                <a:cxn ang="0">
                  <a:pos x="30" y="131"/>
                </a:cxn>
                <a:cxn ang="0">
                  <a:pos x="26" y="132"/>
                </a:cxn>
                <a:cxn ang="0">
                  <a:pos x="19" y="130"/>
                </a:cxn>
                <a:cxn ang="0">
                  <a:pos x="16" y="112"/>
                </a:cxn>
                <a:cxn ang="0">
                  <a:pos x="16" y="98"/>
                </a:cxn>
                <a:cxn ang="0">
                  <a:pos x="6" y="90"/>
                </a:cxn>
                <a:cxn ang="0">
                  <a:pos x="7" y="90"/>
                </a:cxn>
                <a:cxn ang="0">
                  <a:pos x="4" y="82"/>
                </a:cxn>
                <a:cxn ang="0">
                  <a:pos x="4" y="77"/>
                </a:cxn>
                <a:cxn ang="0">
                  <a:pos x="0" y="62"/>
                </a:cxn>
                <a:cxn ang="0">
                  <a:pos x="5" y="53"/>
                </a:cxn>
                <a:cxn ang="0">
                  <a:pos x="2" y="54"/>
                </a:cxn>
                <a:cxn ang="0">
                  <a:pos x="11" y="41"/>
                </a:cxn>
                <a:cxn ang="0">
                  <a:pos x="14" y="53"/>
                </a:cxn>
                <a:cxn ang="0">
                  <a:pos x="30" y="62"/>
                </a:cxn>
                <a:cxn ang="0">
                  <a:pos x="50" y="58"/>
                </a:cxn>
                <a:cxn ang="0">
                  <a:pos x="56" y="50"/>
                </a:cxn>
                <a:cxn ang="0">
                  <a:pos x="77" y="55"/>
                </a:cxn>
                <a:cxn ang="0">
                  <a:pos x="90" y="49"/>
                </a:cxn>
                <a:cxn ang="0">
                  <a:pos x="97" y="34"/>
                </a:cxn>
                <a:cxn ang="0">
                  <a:pos x="101" y="25"/>
                </a:cxn>
                <a:cxn ang="0">
                  <a:pos x="104" y="12"/>
                </a:cxn>
                <a:cxn ang="0">
                  <a:pos x="108" y="0"/>
                </a:cxn>
                <a:cxn ang="0">
                  <a:pos x="122" y="1"/>
                </a:cxn>
                <a:cxn ang="0">
                  <a:pos x="136" y="4"/>
                </a:cxn>
                <a:cxn ang="0">
                  <a:pos x="134" y="6"/>
                </a:cxn>
                <a:cxn ang="0">
                  <a:pos x="134" y="7"/>
                </a:cxn>
                <a:cxn ang="0">
                  <a:pos x="138" y="13"/>
                </a:cxn>
                <a:cxn ang="0">
                  <a:pos x="134" y="12"/>
                </a:cxn>
                <a:cxn ang="0">
                  <a:pos x="130" y="13"/>
                </a:cxn>
                <a:cxn ang="0">
                  <a:pos x="132" y="20"/>
                </a:cxn>
                <a:cxn ang="0">
                  <a:pos x="144" y="38"/>
                </a:cxn>
                <a:cxn ang="0">
                  <a:pos x="142" y="44"/>
                </a:cxn>
                <a:cxn ang="0">
                  <a:pos x="150" y="53"/>
                </a:cxn>
                <a:cxn ang="0">
                  <a:pos x="158" y="62"/>
                </a:cxn>
              </a:cxnLst>
              <a:rect l="0" t="0" r="r" b="b"/>
              <a:pathLst>
                <a:path w="158" h="150">
                  <a:moveTo>
                    <a:pt x="158" y="62"/>
                  </a:moveTo>
                  <a:lnTo>
                    <a:pt x="144" y="61"/>
                  </a:lnTo>
                  <a:lnTo>
                    <a:pt x="143" y="60"/>
                  </a:lnTo>
                  <a:lnTo>
                    <a:pt x="136" y="84"/>
                  </a:lnTo>
                  <a:lnTo>
                    <a:pt x="138" y="85"/>
                  </a:lnTo>
                  <a:lnTo>
                    <a:pt x="134" y="94"/>
                  </a:lnTo>
                  <a:lnTo>
                    <a:pt x="125" y="98"/>
                  </a:lnTo>
                  <a:lnTo>
                    <a:pt x="118" y="110"/>
                  </a:lnTo>
                  <a:lnTo>
                    <a:pt x="118" y="118"/>
                  </a:lnTo>
                  <a:lnTo>
                    <a:pt x="121" y="118"/>
                  </a:lnTo>
                  <a:lnTo>
                    <a:pt x="116" y="124"/>
                  </a:lnTo>
                  <a:lnTo>
                    <a:pt x="114" y="130"/>
                  </a:lnTo>
                  <a:lnTo>
                    <a:pt x="110" y="143"/>
                  </a:lnTo>
                  <a:lnTo>
                    <a:pt x="89" y="150"/>
                  </a:lnTo>
                  <a:lnTo>
                    <a:pt x="86" y="140"/>
                  </a:lnTo>
                  <a:lnTo>
                    <a:pt x="84" y="138"/>
                  </a:lnTo>
                  <a:lnTo>
                    <a:pt x="73" y="138"/>
                  </a:lnTo>
                  <a:lnTo>
                    <a:pt x="64" y="133"/>
                  </a:lnTo>
                  <a:lnTo>
                    <a:pt x="54" y="138"/>
                  </a:lnTo>
                  <a:lnTo>
                    <a:pt x="46" y="139"/>
                  </a:lnTo>
                  <a:lnTo>
                    <a:pt x="42" y="130"/>
                  </a:lnTo>
                  <a:lnTo>
                    <a:pt x="29" y="132"/>
                  </a:lnTo>
                  <a:lnTo>
                    <a:pt x="30" y="131"/>
                  </a:lnTo>
                  <a:lnTo>
                    <a:pt x="26" y="132"/>
                  </a:lnTo>
                  <a:lnTo>
                    <a:pt x="19" y="130"/>
                  </a:lnTo>
                  <a:lnTo>
                    <a:pt x="16" y="112"/>
                  </a:lnTo>
                  <a:lnTo>
                    <a:pt x="16" y="98"/>
                  </a:lnTo>
                  <a:lnTo>
                    <a:pt x="6" y="90"/>
                  </a:lnTo>
                  <a:lnTo>
                    <a:pt x="7" y="90"/>
                  </a:lnTo>
                  <a:lnTo>
                    <a:pt x="4" y="82"/>
                  </a:lnTo>
                  <a:lnTo>
                    <a:pt x="4" y="77"/>
                  </a:lnTo>
                  <a:lnTo>
                    <a:pt x="0" y="62"/>
                  </a:lnTo>
                  <a:lnTo>
                    <a:pt x="5" y="53"/>
                  </a:lnTo>
                  <a:lnTo>
                    <a:pt x="2" y="54"/>
                  </a:lnTo>
                  <a:lnTo>
                    <a:pt x="11" y="41"/>
                  </a:lnTo>
                  <a:lnTo>
                    <a:pt x="14" y="53"/>
                  </a:lnTo>
                  <a:lnTo>
                    <a:pt x="30" y="62"/>
                  </a:lnTo>
                  <a:lnTo>
                    <a:pt x="50" y="58"/>
                  </a:lnTo>
                  <a:lnTo>
                    <a:pt x="56" y="50"/>
                  </a:lnTo>
                  <a:lnTo>
                    <a:pt x="77" y="55"/>
                  </a:lnTo>
                  <a:lnTo>
                    <a:pt x="90" y="49"/>
                  </a:lnTo>
                  <a:lnTo>
                    <a:pt x="97" y="34"/>
                  </a:lnTo>
                  <a:lnTo>
                    <a:pt x="101" y="25"/>
                  </a:lnTo>
                  <a:lnTo>
                    <a:pt x="104" y="12"/>
                  </a:lnTo>
                  <a:lnTo>
                    <a:pt x="108" y="0"/>
                  </a:lnTo>
                  <a:lnTo>
                    <a:pt x="122" y="1"/>
                  </a:lnTo>
                  <a:lnTo>
                    <a:pt x="136" y="4"/>
                  </a:lnTo>
                  <a:lnTo>
                    <a:pt x="134" y="6"/>
                  </a:lnTo>
                  <a:lnTo>
                    <a:pt x="134" y="7"/>
                  </a:lnTo>
                  <a:lnTo>
                    <a:pt x="138" y="13"/>
                  </a:lnTo>
                  <a:lnTo>
                    <a:pt x="134" y="12"/>
                  </a:lnTo>
                  <a:lnTo>
                    <a:pt x="130" y="13"/>
                  </a:lnTo>
                  <a:lnTo>
                    <a:pt x="132" y="20"/>
                  </a:lnTo>
                  <a:lnTo>
                    <a:pt x="144" y="38"/>
                  </a:lnTo>
                  <a:lnTo>
                    <a:pt x="142" y="44"/>
                  </a:lnTo>
                  <a:lnTo>
                    <a:pt x="150" y="53"/>
                  </a:lnTo>
                  <a:lnTo>
                    <a:pt x="158" y="6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 name="Freeform 8"/>
            <p:cNvSpPr>
              <a:spLocks/>
            </p:cNvSpPr>
            <p:nvPr/>
          </p:nvSpPr>
          <p:spPr bwMode="auto">
            <a:xfrm>
              <a:off x="4206" y="2594"/>
              <a:ext cx="194" cy="227"/>
            </a:xfrm>
            <a:custGeom>
              <a:avLst/>
              <a:gdLst/>
              <a:ahLst/>
              <a:cxnLst>
                <a:cxn ang="0">
                  <a:pos x="173" y="158"/>
                </a:cxn>
                <a:cxn ang="0">
                  <a:pos x="172" y="160"/>
                </a:cxn>
                <a:cxn ang="0">
                  <a:pos x="170" y="182"/>
                </a:cxn>
                <a:cxn ang="0">
                  <a:pos x="167" y="204"/>
                </a:cxn>
                <a:cxn ang="0">
                  <a:pos x="160" y="198"/>
                </a:cxn>
                <a:cxn ang="0">
                  <a:pos x="159" y="202"/>
                </a:cxn>
                <a:cxn ang="0">
                  <a:pos x="150" y="200"/>
                </a:cxn>
                <a:cxn ang="0">
                  <a:pos x="150" y="204"/>
                </a:cxn>
                <a:cxn ang="0">
                  <a:pos x="135" y="189"/>
                </a:cxn>
                <a:cxn ang="0">
                  <a:pos x="126" y="180"/>
                </a:cxn>
                <a:cxn ang="0">
                  <a:pos x="118" y="172"/>
                </a:cxn>
                <a:cxn ang="0">
                  <a:pos x="110" y="164"/>
                </a:cxn>
                <a:cxn ang="0">
                  <a:pos x="101" y="154"/>
                </a:cxn>
                <a:cxn ang="0">
                  <a:pos x="94" y="140"/>
                </a:cxn>
                <a:cxn ang="0">
                  <a:pos x="87" y="125"/>
                </a:cxn>
                <a:cxn ang="0">
                  <a:pos x="84" y="123"/>
                </a:cxn>
                <a:cxn ang="0">
                  <a:pos x="76" y="110"/>
                </a:cxn>
                <a:cxn ang="0">
                  <a:pos x="68" y="96"/>
                </a:cxn>
                <a:cxn ang="0">
                  <a:pos x="63" y="84"/>
                </a:cxn>
                <a:cxn ang="0">
                  <a:pos x="58" y="72"/>
                </a:cxn>
                <a:cxn ang="0">
                  <a:pos x="45" y="59"/>
                </a:cxn>
                <a:cxn ang="0">
                  <a:pos x="35" y="45"/>
                </a:cxn>
                <a:cxn ang="0">
                  <a:pos x="23" y="33"/>
                </a:cxn>
                <a:cxn ang="0">
                  <a:pos x="11" y="21"/>
                </a:cxn>
                <a:cxn ang="0">
                  <a:pos x="0" y="0"/>
                </a:cxn>
                <a:cxn ang="0">
                  <a:pos x="11" y="2"/>
                </a:cxn>
                <a:cxn ang="0">
                  <a:pos x="23" y="4"/>
                </a:cxn>
                <a:cxn ang="0">
                  <a:pos x="35" y="6"/>
                </a:cxn>
                <a:cxn ang="0">
                  <a:pos x="50" y="23"/>
                </a:cxn>
                <a:cxn ang="0">
                  <a:pos x="51" y="27"/>
                </a:cxn>
                <a:cxn ang="0">
                  <a:pos x="65" y="40"/>
                </a:cxn>
                <a:cxn ang="0">
                  <a:pos x="80" y="52"/>
                </a:cxn>
                <a:cxn ang="0">
                  <a:pos x="92" y="65"/>
                </a:cxn>
                <a:cxn ang="0">
                  <a:pos x="90" y="59"/>
                </a:cxn>
                <a:cxn ang="0">
                  <a:pos x="105" y="70"/>
                </a:cxn>
                <a:cxn ang="0">
                  <a:pos x="113" y="81"/>
                </a:cxn>
                <a:cxn ang="0">
                  <a:pos x="128" y="90"/>
                </a:cxn>
                <a:cxn ang="0">
                  <a:pos x="130" y="92"/>
                </a:cxn>
                <a:cxn ang="0">
                  <a:pos x="140" y="100"/>
                </a:cxn>
                <a:cxn ang="0">
                  <a:pos x="132" y="104"/>
                </a:cxn>
                <a:cxn ang="0">
                  <a:pos x="134" y="107"/>
                </a:cxn>
                <a:cxn ang="0">
                  <a:pos x="132" y="110"/>
                </a:cxn>
                <a:cxn ang="0">
                  <a:pos x="135" y="116"/>
                </a:cxn>
                <a:cxn ang="0">
                  <a:pos x="147" y="118"/>
                </a:cxn>
                <a:cxn ang="0">
                  <a:pos x="150" y="131"/>
                </a:cxn>
                <a:cxn ang="0">
                  <a:pos x="153" y="136"/>
                </a:cxn>
                <a:cxn ang="0">
                  <a:pos x="153" y="143"/>
                </a:cxn>
                <a:cxn ang="0">
                  <a:pos x="166" y="143"/>
                </a:cxn>
                <a:cxn ang="0">
                  <a:pos x="173" y="158"/>
                </a:cxn>
              </a:cxnLst>
              <a:rect l="0" t="0" r="r" b="b"/>
              <a:pathLst>
                <a:path w="173" h="204">
                  <a:moveTo>
                    <a:pt x="173" y="158"/>
                  </a:moveTo>
                  <a:lnTo>
                    <a:pt x="172" y="160"/>
                  </a:lnTo>
                  <a:lnTo>
                    <a:pt x="170" y="182"/>
                  </a:lnTo>
                  <a:lnTo>
                    <a:pt x="167" y="204"/>
                  </a:lnTo>
                  <a:lnTo>
                    <a:pt x="160" y="198"/>
                  </a:lnTo>
                  <a:lnTo>
                    <a:pt x="159" y="202"/>
                  </a:lnTo>
                  <a:lnTo>
                    <a:pt x="150" y="200"/>
                  </a:lnTo>
                  <a:lnTo>
                    <a:pt x="150" y="204"/>
                  </a:lnTo>
                  <a:lnTo>
                    <a:pt x="135" y="189"/>
                  </a:lnTo>
                  <a:lnTo>
                    <a:pt x="126" y="180"/>
                  </a:lnTo>
                  <a:lnTo>
                    <a:pt x="118" y="172"/>
                  </a:lnTo>
                  <a:lnTo>
                    <a:pt x="110" y="164"/>
                  </a:lnTo>
                  <a:lnTo>
                    <a:pt x="101" y="154"/>
                  </a:lnTo>
                  <a:lnTo>
                    <a:pt x="94" y="140"/>
                  </a:lnTo>
                  <a:lnTo>
                    <a:pt x="87" y="125"/>
                  </a:lnTo>
                  <a:lnTo>
                    <a:pt x="84" y="123"/>
                  </a:lnTo>
                  <a:lnTo>
                    <a:pt x="76" y="110"/>
                  </a:lnTo>
                  <a:lnTo>
                    <a:pt x="68" y="96"/>
                  </a:lnTo>
                  <a:lnTo>
                    <a:pt x="63" y="84"/>
                  </a:lnTo>
                  <a:lnTo>
                    <a:pt x="58" y="72"/>
                  </a:lnTo>
                  <a:lnTo>
                    <a:pt x="45" y="59"/>
                  </a:lnTo>
                  <a:lnTo>
                    <a:pt x="35" y="45"/>
                  </a:lnTo>
                  <a:lnTo>
                    <a:pt x="23" y="33"/>
                  </a:lnTo>
                  <a:lnTo>
                    <a:pt x="11" y="21"/>
                  </a:lnTo>
                  <a:lnTo>
                    <a:pt x="0" y="0"/>
                  </a:lnTo>
                  <a:lnTo>
                    <a:pt x="11" y="2"/>
                  </a:lnTo>
                  <a:lnTo>
                    <a:pt x="23" y="4"/>
                  </a:lnTo>
                  <a:lnTo>
                    <a:pt x="35" y="6"/>
                  </a:lnTo>
                  <a:lnTo>
                    <a:pt x="50" y="23"/>
                  </a:lnTo>
                  <a:lnTo>
                    <a:pt x="51" y="27"/>
                  </a:lnTo>
                  <a:lnTo>
                    <a:pt x="65" y="40"/>
                  </a:lnTo>
                  <a:lnTo>
                    <a:pt x="80" y="52"/>
                  </a:lnTo>
                  <a:lnTo>
                    <a:pt x="92" y="65"/>
                  </a:lnTo>
                  <a:lnTo>
                    <a:pt x="90" y="59"/>
                  </a:lnTo>
                  <a:lnTo>
                    <a:pt x="105" y="70"/>
                  </a:lnTo>
                  <a:lnTo>
                    <a:pt x="113" y="81"/>
                  </a:lnTo>
                  <a:lnTo>
                    <a:pt x="128" y="90"/>
                  </a:lnTo>
                  <a:lnTo>
                    <a:pt x="130" y="92"/>
                  </a:lnTo>
                  <a:lnTo>
                    <a:pt x="140" y="100"/>
                  </a:lnTo>
                  <a:lnTo>
                    <a:pt x="132" y="104"/>
                  </a:lnTo>
                  <a:lnTo>
                    <a:pt x="134" y="107"/>
                  </a:lnTo>
                  <a:lnTo>
                    <a:pt x="132" y="110"/>
                  </a:lnTo>
                  <a:lnTo>
                    <a:pt x="135" y="116"/>
                  </a:lnTo>
                  <a:lnTo>
                    <a:pt x="147" y="118"/>
                  </a:lnTo>
                  <a:lnTo>
                    <a:pt x="150" y="131"/>
                  </a:lnTo>
                  <a:lnTo>
                    <a:pt x="153" y="136"/>
                  </a:lnTo>
                  <a:lnTo>
                    <a:pt x="153" y="143"/>
                  </a:lnTo>
                  <a:lnTo>
                    <a:pt x="166" y="143"/>
                  </a:lnTo>
                  <a:lnTo>
                    <a:pt x="173" y="15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 name="Freeform 9"/>
            <p:cNvSpPr>
              <a:spLocks/>
            </p:cNvSpPr>
            <p:nvPr/>
          </p:nvSpPr>
          <p:spPr bwMode="auto">
            <a:xfrm>
              <a:off x="4842" y="2714"/>
              <a:ext cx="173" cy="173"/>
            </a:xfrm>
            <a:custGeom>
              <a:avLst/>
              <a:gdLst/>
              <a:ahLst/>
              <a:cxnLst>
                <a:cxn ang="0">
                  <a:pos x="118" y="132"/>
                </a:cxn>
                <a:cxn ang="0">
                  <a:pos x="122" y="138"/>
                </a:cxn>
                <a:cxn ang="0">
                  <a:pos x="139" y="147"/>
                </a:cxn>
                <a:cxn ang="0">
                  <a:pos x="150" y="142"/>
                </a:cxn>
                <a:cxn ang="0">
                  <a:pos x="152" y="113"/>
                </a:cxn>
                <a:cxn ang="0">
                  <a:pos x="154" y="84"/>
                </a:cxn>
                <a:cxn ang="0">
                  <a:pos x="156" y="54"/>
                </a:cxn>
                <a:cxn ang="0">
                  <a:pos x="145" y="37"/>
                </a:cxn>
                <a:cxn ang="0">
                  <a:pos x="106" y="19"/>
                </a:cxn>
                <a:cxn ang="0">
                  <a:pos x="81" y="36"/>
                </a:cxn>
                <a:cxn ang="0">
                  <a:pos x="58" y="47"/>
                </a:cxn>
                <a:cxn ang="0">
                  <a:pos x="51" y="42"/>
                </a:cxn>
                <a:cxn ang="0">
                  <a:pos x="48" y="13"/>
                </a:cxn>
                <a:cxn ang="0">
                  <a:pos x="31" y="4"/>
                </a:cxn>
                <a:cxn ang="0">
                  <a:pos x="2" y="10"/>
                </a:cxn>
                <a:cxn ang="0">
                  <a:pos x="12" y="23"/>
                </a:cxn>
                <a:cxn ang="0">
                  <a:pos x="31" y="34"/>
                </a:cxn>
                <a:cxn ang="0">
                  <a:pos x="42" y="36"/>
                </a:cxn>
                <a:cxn ang="0">
                  <a:pos x="39" y="39"/>
                </a:cxn>
                <a:cxn ang="0">
                  <a:pos x="20" y="42"/>
                </a:cxn>
                <a:cxn ang="0">
                  <a:pos x="27" y="57"/>
                </a:cxn>
                <a:cxn ang="0">
                  <a:pos x="33" y="65"/>
                </a:cxn>
                <a:cxn ang="0">
                  <a:pos x="40" y="59"/>
                </a:cxn>
                <a:cxn ang="0">
                  <a:pos x="57" y="64"/>
                </a:cxn>
                <a:cxn ang="0">
                  <a:pos x="68" y="73"/>
                </a:cxn>
                <a:cxn ang="0">
                  <a:pos x="92" y="83"/>
                </a:cxn>
                <a:cxn ang="0">
                  <a:pos x="109" y="95"/>
                </a:cxn>
                <a:cxn ang="0">
                  <a:pos x="122" y="119"/>
                </a:cxn>
                <a:cxn ang="0">
                  <a:pos x="122" y="123"/>
                </a:cxn>
                <a:cxn ang="0">
                  <a:pos x="117" y="129"/>
                </a:cxn>
                <a:cxn ang="0">
                  <a:pos x="97" y="144"/>
                </a:cxn>
                <a:cxn ang="0">
                  <a:pos x="118" y="131"/>
                </a:cxn>
              </a:cxnLst>
              <a:rect l="0" t="0" r="r" b="b"/>
              <a:pathLst>
                <a:path w="156" h="157">
                  <a:moveTo>
                    <a:pt x="118" y="131"/>
                  </a:moveTo>
                  <a:lnTo>
                    <a:pt x="118" y="132"/>
                  </a:lnTo>
                  <a:lnTo>
                    <a:pt x="117" y="141"/>
                  </a:lnTo>
                  <a:lnTo>
                    <a:pt x="122" y="138"/>
                  </a:lnTo>
                  <a:lnTo>
                    <a:pt x="135" y="136"/>
                  </a:lnTo>
                  <a:lnTo>
                    <a:pt x="139" y="147"/>
                  </a:lnTo>
                  <a:lnTo>
                    <a:pt x="148" y="157"/>
                  </a:lnTo>
                  <a:lnTo>
                    <a:pt x="150" y="142"/>
                  </a:lnTo>
                  <a:lnTo>
                    <a:pt x="151" y="127"/>
                  </a:lnTo>
                  <a:lnTo>
                    <a:pt x="152" y="113"/>
                  </a:lnTo>
                  <a:lnTo>
                    <a:pt x="153" y="99"/>
                  </a:lnTo>
                  <a:lnTo>
                    <a:pt x="154" y="84"/>
                  </a:lnTo>
                  <a:lnTo>
                    <a:pt x="154" y="69"/>
                  </a:lnTo>
                  <a:lnTo>
                    <a:pt x="156" y="54"/>
                  </a:lnTo>
                  <a:lnTo>
                    <a:pt x="156" y="40"/>
                  </a:lnTo>
                  <a:lnTo>
                    <a:pt x="145" y="37"/>
                  </a:lnTo>
                  <a:lnTo>
                    <a:pt x="126" y="28"/>
                  </a:lnTo>
                  <a:lnTo>
                    <a:pt x="106" y="19"/>
                  </a:lnTo>
                  <a:lnTo>
                    <a:pt x="96" y="28"/>
                  </a:lnTo>
                  <a:lnTo>
                    <a:pt x="81" y="36"/>
                  </a:lnTo>
                  <a:lnTo>
                    <a:pt x="64" y="53"/>
                  </a:lnTo>
                  <a:lnTo>
                    <a:pt x="58" y="47"/>
                  </a:lnTo>
                  <a:lnTo>
                    <a:pt x="52" y="39"/>
                  </a:lnTo>
                  <a:lnTo>
                    <a:pt x="51" y="42"/>
                  </a:lnTo>
                  <a:lnTo>
                    <a:pt x="48" y="23"/>
                  </a:lnTo>
                  <a:lnTo>
                    <a:pt x="48" y="13"/>
                  </a:lnTo>
                  <a:lnTo>
                    <a:pt x="46" y="6"/>
                  </a:lnTo>
                  <a:lnTo>
                    <a:pt x="31" y="4"/>
                  </a:lnTo>
                  <a:lnTo>
                    <a:pt x="16" y="0"/>
                  </a:lnTo>
                  <a:lnTo>
                    <a:pt x="2" y="10"/>
                  </a:lnTo>
                  <a:lnTo>
                    <a:pt x="0" y="19"/>
                  </a:lnTo>
                  <a:lnTo>
                    <a:pt x="12" y="23"/>
                  </a:lnTo>
                  <a:lnTo>
                    <a:pt x="20" y="34"/>
                  </a:lnTo>
                  <a:lnTo>
                    <a:pt x="31" y="34"/>
                  </a:lnTo>
                  <a:lnTo>
                    <a:pt x="43" y="33"/>
                  </a:lnTo>
                  <a:lnTo>
                    <a:pt x="42" y="36"/>
                  </a:lnTo>
                  <a:lnTo>
                    <a:pt x="40" y="39"/>
                  </a:lnTo>
                  <a:lnTo>
                    <a:pt x="39" y="39"/>
                  </a:lnTo>
                  <a:lnTo>
                    <a:pt x="34" y="39"/>
                  </a:lnTo>
                  <a:lnTo>
                    <a:pt x="20" y="42"/>
                  </a:lnTo>
                  <a:lnTo>
                    <a:pt x="14" y="46"/>
                  </a:lnTo>
                  <a:lnTo>
                    <a:pt x="27" y="57"/>
                  </a:lnTo>
                  <a:lnTo>
                    <a:pt x="25" y="64"/>
                  </a:lnTo>
                  <a:lnTo>
                    <a:pt x="33" y="65"/>
                  </a:lnTo>
                  <a:lnTo>
                    <a:pt x="43" y="48"/>
                  </a:lnTo>
                  <a:lnTo>
                    <a:pt x="40" y="59"/>
                  </a:lnTo>
                  <a:lnTo>
                    <a:pt x="54" y="64"/>
                  </a:lnTo>
                  <a:lnTo>
                    <a:pt x="57" y="64"/>
                  </a:lnTo>
                  <a:lnTo>
                    <a:pt x="56" y="70"/>
                  </a:lnTo>
                  <a:lnTo>
                    <a:pt x="68" y="73"/>
                  </a:lnTo>
                  <a:lnTo>
                    <a:pt x="80" y="78"/>
                  </a:lnTo>
                  <a:lnTo>
                    <a:pt x="92" y="83"/>
                  </a:lnTo>
                  <a:lnTo>
                    <a:pt x="103" y="88"/>
                  </a:lnTo>
                  <a:lnTo>
                    <a:pt x="109" y="95"/>
                  </a:lnTo>
                  <a:lnTo>
                    <a:pt x="117" y="115"/>
                  </a:lnTo>
                  <a:lnTo>
                    <a:pt x="122" y="119"/>
                  </a:lnTo>
                  <a:lnTo>
                    <a:pt x="114" y="119"/>
                  </a:lnTo>
                  <a:lnTo>
                    <a:pt x="122" y="123"/>
                  </a:lnTo>
                  <a:lnTo>
                    <a:pt x="115" y="124"/>
                  </a:lnTo>
                  <a:lnTo>
                    <a:pt x="117" y="129"/>
                  </a:lnTo>
                  <a:lnTo>
                    <a:pt x="106" y="127"/>
                  </a:lnTo>
                  <a:lnTo>
                    <a:pt x="97" y="144"/>
                  </a:lnTo>
                  <a:lnTo>
                    <a:pt x="111" y="141"/>
                  </a:lnTo>
                  <a:lnTo>
                    <a:pt x="118" y="1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 name="Freeform 10"/>
            <p:cNvSpPr>
              <a:spLocks/>
            </p:cNvSpPr>
            <p:nvPr/>
          </p:nvSpPr>
          <p:spPr bwMode="auto">
            <a:xfrm>
              <a:off x="4626" y="2672"/>
              <a:ext cx="111" cy="147"/>
            </a:xfrm>
            <a:custGeom>
              <a:avLst/>
              <a:gdLst/>
              <a:ahLst/>
              <a:cxnLst>
                <a:cxn ang="0">
                  <a:pos x="101" y="4"/>
                </a:cxn>
                <a:cxn ang="0">
                  <a:pos x="96" y="0"/>
                </a:cxn>
                <a:cxn ang="0">
                  <a:pos x="82" y="16"/>
                </a:cxn>
                <a:cxn ang="0">
                  <a:pos x="61" y="12"/>
                </a:cxn>
                <a:cxn ang="0">
                  <a:pos x="41" y="8"/>
                </a:cxn>
                <a:cxn ang="0">
                  <a:pos x="31" y="8"/>
                </a:cxn>
                <a:cxn ang="0">
                  <a:pos x="25" y="16"/>
                </a:cxn>
                <a:cxn ang="0">
                  <a:pos x="22" y="16"/>
                </a:cxn>
                <a:cxn ang="0">
                  <a:pos x="15" y="30"/>
                </a:cxn>
                <a:cxn ang="0">
                  <a:pos x="16" y="46"/>
                </a:cxn>
                <a:cxn ang="0">
                  <a:pos x="13" y="43"/>
                </a:cxn>
                <a:cxn ang="0">
                  <a:pos x="7" y="60"/>
                </a:cxn>
                <a:cxn ang="0">
                  <a:pos x="0" y="78"/>
                </a:cxn>
                <a:cxn ang="0">
                  <a:pos x="1" y="94"/>
                </a:cxn>
                <a:cxn ang="0">
                  <a:pos x="9" y="95"/>
                </a:cxn>
                <a:cxn ang="0">
                  <a:pos x="9" y="108"/>
                </a:cxn>
                <a:cxn ang="0">
                  <a:pos x="7" y="121"/>
                </a:cxn>
                <a:cxn ang="0">
                  <a:pos x="9" y="132"/>
                </a:cxn>
                <a:cxn ang="0">
                  <a:pos x="23" y="128"/>
                </a:cxn>
                <a:cxn ang="0">
                  <a:pos x="22" y="107"/>
                </a:cxn>
                <a:cxn ang="0">
                  <a:pos x="22" y="85"/>
                </a:cxn>
                <a:cxn ang="0">
                  <a:pos x="31" y="78"/>
                </a:cxn>
                <a:cxn ang="0">
                  <a:pos x="33" y="89"/>
                </a:cxn>
                <a:cxn ang="0">
                  <a:pos x="34" y="96"/>
                </a:cxn>
                <a:cxn ang="0">
                  <a:pos x="41" y="106"/>
                </a:cxn>
                <a:cxn ang="0">
                  <a:pos x="43" y="116"/>
                </a:cxn>
                <a:cxn ang="0">
                  <a:pos x="48" y="114"/>
                </a:cxn>
                <a:cxn ang="0">
                  <a:pos x="59" y="108"/>
                </a:cxn>
                <a:cxn ang="0">
                  <a:pos x="63" y="106"/>
                </a:cxn>
                <a:cxn ang="0">
                  <a:pos x="53" y="91"/>
                </a:cxn>
                <a:cxn ang="0">
                  <a:pos x="55" y="86"/>
                </a:cxn>
                <a:cxn ang="0">
                  <a:pos x="47" y="74"/>
                </a:cxn>
                <a:cxn ang="0">
                  <a:pos x="40" y="62"/>
                </a:cxn>
                <a:cxn ang="0">
                  <a:pos x="46" y="64"/>
                </a:cxn>
                <a:cxn ang="0">
                  <a:pos x="57" y="54"/>
                </a:cxn>
                <a:cxn ang="0">
                  <a:pos x="69" y="46"/>
                </a:cxn>
                <a:cxn ang="0">
                  <a:pos x="72" y="46"/>
                </a:cxn>
                <a:cxn ang="0">
                  <a:pos x="70" y="40"/>
                </a:cxn>
                <a:cxn ang="0">
                  <a:pos x="64" y="42"/>
                </a:cxn>
                <a:cxn ang="0">
                  <a:pos x="45" y="46"/>
                </a:cxn>
                <a:cxn ang="0">
                  <a:pos x="31" y="54"/>
                </a:cxn>
                <a:cxn ang="0">
                  <a:pos x="19" y="37"/>
                </a:cxn>
                <a:cxn ang="0">
                  <a:pos x="25" y="22"/>
                </a:cxn>
                <a:cxn ang="0">
                  <a:pos x="47" y="23"/>
                </a:cxn>
                <a:cxn ang="0">
                  <a:pos x="70" y="24"/>
                </a:cxn>
                <a:cxn ang="0">
                  <a:pos x="91" y="19"/>
                </a:cxn>
                <a:cxn ang="0">
                  <a:pos x="101" y="4"/>
                </a:cxn>
              </a:cxnLst>
              <a:rect l="0" t="0" r="r" b="b"/>
              <a:pathLst>
                <a:path w="101" h="132">
                  <a:moveTo>
                    <a:pt x="101" y="4"/>
                  </a:moveTo>
                  <a:lnTo>
                    <a:pt x="96" y="0"/>
                  </a:lnTo>
                  <a:lnTo>
                    <a:pt x="82" y="16"/>
                  </a:lnTo>
                  <a:lnTo>
                    <a:pt x="61" y="12"/>
                  </a:lnTo>
                  <a:lnTo>
                    <a:pt x="41" y="8"/>
                  </a:lnTo>
                  <a:lnTo>
                    <a:pt x="31" y="8"/>
                  </a:lnTo>
                  <a:lnTo>
                    <a:pt x="25" y="16"/>
                  </a:lnTo>
                  <a:lnTo>
                    <a:pt x="22" y="16"/>
                  </a:lnTo>
                  <a:lnTo>
                    <a:pt x="15" y="30"/>
                  </a:lnTo>
                  <a:lnTo>
                    <a:pt x="16" y="46"/>
                  </a:lnTo>
                  <a:lnTo>
                    <a:pt x="13" y="43"/>
                  </a:lnTo>
                  <a:lnTo>
                    <a:pt x="7" y="60"/>
                  </a:lnTo>
                  <a:lnTo>
                    <a:pt x="0" y="78"/>
                  </a:lnTo>
                  <a:lnTo>
                    <a:pt x="1" y="94"/>
                  </a:lnTo>
                  <a:lnTo>
                    <a:pt x="9" y="95"/>
                  </a:lnTo>
                  <a:lnTo>
                    <a:pt x="9" y="108"/>
                  </a:lnTo>
                  <a:lnTo>
                    <a:pt x="7" y="121"/>
                  </a:lnTo>
                  <a:lnTo>
                    <a:pt x="9" y="132"/>
                  </a:lnTo>
                  <a:lnTo>
                    <a:pt x="23" y="128"/>
                  </a:lnTo>
                  <a:lnTo>
                    <a:pt x="22" y="107"/>
                  </a:lnTo>
                  <a:lnTo>
                    <a:pt x="22" y="85"/>
                  </a:lnTo>
                  <a:lnTo>
                    <a:pt x="31" y="78"/>
                  </a:lnTo>
                  <a:lnTo>
                    <a:pt x="33" y="89"/>
                  </a:lnTo>
                  <a:lnTo>
                    <a:pt x="34" y="96"/>
                  </a:lnTo>
                  <a:lnTo>
                    <a:pt x="41" y="106"/>
                  </a:lnTo>
                  <a:lnTo>
                    <a:pt x="43" y="116"/>
                  </a:lnTo>
                  <a:lnTo>
                    <a:pt x="48" y="114"/>
                  </a:lnTo>
                  <a:lnTo>
                    <a:pt x="59" y="108"/>
                  </a:lnTo>
                  <a:lnTo>
                    <a:pt x="63" y="106"/>
                  </a:lnTo>
                  <a:lnTo>
                    <a:pt x="53" y="91"/>
                  </a:lnTo>
                  <a:lnTo>
                    <a:pt x="55" y="86"/>
                  </a:lnTo>
                  <a:lnTo>
                    <a:pt x="47" y="74"/>
                  </a:lnTo>
                  <a:lnTo>
                    <a:pt x="40" y="62"/>
                  </a:lnTo>
                  <a:lnTo>
                    <a:pt x="46" y="64"/>
                  </a:lnTo>
                  <a:lnTo>
                    <a:pt x="57" y="54"/>
                  </a:lnTo>
                  <a:lnTo>
                    <a:pt x="69" y="46"/>
                  </a:lnTo>
                  <a:lnTo>
                    <a:pt x="72" y="46"/>
                  </a:lnTo>
                  <a:lnTo>
                    <a:pt x="70" y="40"/>
                  </a:lnTo>
                  <a:lnTo>
                    <a:pt x="64" y="42"/>
                  </a:lnTo>
                  <a:lnTo>
                    <a:pt x="45" y="46"/>
                  </a:lnTo>
                  <a:lnTo>
                    <a:pt x="31" y="54"/>
                  </a:lnTo>
                  <a:lnTo>
                    <a:pt x="19" y="37"/>
                  </a:lnTo>
                  <a:lnTo>
                    <a:pt x="25" y="22"/>
                  </a:lnTo>
                  <a:lnTo>
                    <a:pt x="47" y="23"/>
                  </a:lnTo>
                  <a:lnTo>
                    <a:pt x="70" y="24"/>
                  </a:lnTo>
                  <a:lnTo>
                    <a:pt x="91" y="19"/>
                  </a:lnTo>
                  <a:lnTo>
                    <a:pt x="10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 name="Freeform 11"/>
            <p:cNvSpPr>
              <a:spLocks/>
            </p:cNvSpPr>
            <p:nvPr/>
          </p:nvSpPr>
          <p:spPr bwMode="auto">
            <a:xfrm>
              <a:off x="4382" y="2825"/>
              <a:ext cx="162" cy="56"/>
            </a:xfrm>
            <a:custGeom>
              <a:avLst/>
              <a:gdLst/>
              <a:ahLst/>
              <a:cxnLst>
                <a:cxn ang="0">
                  <a:pos x="145" y="49"/>
                </a:cxn>
                <a:cxn ang="0">
                  <a:pos x="143" y="47"/>
                </a:cxn>
                <a:cxn ang="0">
                  <a:pos x="144" y="32"/>
                </a:cxn>
                <a:cxn ang="0">
                  <a:pos x="132" y="31"/>
                </a:cxn>
                <a:cxn ang="0">
                  <a:pos x="120" y="29"/>
                </a:cxn>
                <a:cxn ang="0">
                  <a:pos x="116" y="19"/>
                </a:cxn>
                <a:cxn ang="0">
                  <a:pos x="97" y="12"/>
                </a:cxn>
                <a:cxn ang="0">
                  <a:pos x="90" y="7"/>
                </a:cxn>
                <a:cxn ang="0">
                  <a:pos x="83" y="16"/>
                </a:cxn>
                <a:cxn ang="0">
                  <a:pos x="71" y="16"/>
                </a:cxn>
                <a:cxn ang="0">
                  <a:pos x="57" y="16"/>
                </a:cxn>
                <a:cxn ang="0">
                  <a:pos x="51" y="8"/>
                </a:cxn>
                <a:cxn ang="0">
                  <a:pos x="33" y="0"/>
                </a:cxn>
                <a:cxn ang="0">
                  <a:pos x="13" y="0"/>
                </a:cxn>
                <a:cxn ang="0">
                  <a:pos x="5" y="11"/>
                </a:cxn>
                <a:cxn ang="0">
                  <a:pos x="0" y="13"/>
                </a:cxn>
                <a:cxn ang="0">
                  <a:pos x="17" y="18"/>
                </a:cxn>
                <a:cxn ang="0">
                  <a:pos x="17" y="22"/>
                </a:cxn>
                <a:cxn ang="0">
                  <a:pos x="32" y="26"/>
                </a:cxn>
                <a:cxn ang="0">
                  <a:pos x="49" y="30"/>
                </a:cxn>
                <a:cxn ang="0">
                  <a:pos x="63" y="34"/>
                </a:cxn>
                <a:cxn ang="0">
                  <a:pos x="79" y="37"/>
                </a:cxn>
                <a:cxn ang="0">
                  <a:pos x="99" y="40"/>
                </a:cxn>
                <a:cxn ang="0">
                  <a:pos x="119" y="42"/>
                </a:cxn>
                <a:cxn ang="0">
                  <a:pos x="132" y="46"/>
                </a:cxn>
                <a:cxn ang="0">
                  <a:pos x="145" y="49"/>
                </a:cxn>
              </a:cxnLst>
              <a:rect l="0" t="0" r="r" b="b"/>
              <a:pathLst>
                <a:path w="145" h="49">
                  <a:moveTo>
                    <a:pt x="145" y="49"/>
                  </a:moveTo>
                  <a:lnTo>
                    <a:pt x="143" y="47"/>
                  </a:lnTo>
                  <a:lnTo>
                    <a:pt x="144" y="32"/>
                  </a:lnTo>
                  <a:lnTo>
                    <a:pt x="132" y="31"/>
                  </a:lnTo>
                  <a:lnTo>
                    <a:pt x="120" y="29"/>
                  </a:lnTo>
                  <a:lnTo>
                    <a:pt x="116" y="19"/>
                  </a:lnTo>
                  <a:lnTo>
                    <a:pt x="97" y="12"/>
                  </a:lnTo>
                  <a:lnTo>
                    <a:pt x="90" y="7"/>
                  </a:lnTo>
                  <a:lnTo>
                    <a:pt x="83" y="16"/>
                  </a:lnTo>
                  <a:lnTo>
                    <a:pt x="71" y="16"/>
                  </a:lnTo>
                  <a:lnTo>
                    <a:pt x="57" y="16"/>
                  </a:lnTo>
                  <a:lnTo>
                    <a:pt x="51" y="8"/>
                  </a:lnTo>
                  <a:lnTo>
                    <a:pt x="33" y="0"/>
                  </a:lnTo>
                  <a:lnTo>
                    <a:pt x="13" y="0"/>
                  </a:lnTo>
                  <a:lnTo>
                    <a:pt x="5" y="11"/>
                  </a:lnTo>
                  <a:lnTo>
                    <a:pt x="0" y="13"/>
                  </a:lnTo>
                  <a:lnTo>
                    <a:pt x="17" y="18"/>
                  </a:lnTo>
                  <a:lnTo>
                    <a:pt x="17" y="22"/>
                  </a:lnTo>
                  <a:lnTo>
                    <a:pt x="32" y="26"/>
                  </a:lnTo>
                  <a:lnTo>
                    <a:pt x="49" y="30"/>
                  </a:lnTo>
                  <a:lnTo>
                    <a:pt x="63" y="34"/>
                  </a:lnTo>
                  <a:lnTo>
                    <a:pt x="79" y="37"/>
                  </a:lnTo>
                  <a:lnTo>
                    <a:pt x="99" y="40"/>
                  </a:lnTo>
                  <a:lnTo>
                    <a:pt x="119" y="42"/>
                  </a:lnTo>
                  <a:lnTo>
                    <a:pt x="132" y="46"/>
                  </a:lnTo>
                  <a:lnTo>
                    <a:pt x="145"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 name="Freeform 12"/>
            <p:cNvSpPr>
              <a:spLocks/>
            </p:cNvSpPr>
            <p:nvPr/>
          </p:nvSpPr>
          <p:spPr bwMode="auto">
            <a:xfrm>
              <a:off x="4700" y="2874"/>
              <a:ext cx="66" cy="38"/>
            </a:xfrm>
            <a:custGeom>
              <a:avLst/>
              <a:gdLst/>
              <a:ahLst/>
              <a:cxnLst>
                <a:cxn ang="0">
                  <a:pos x="61" y="0"/>
                </a:cxn>
                <a:cxn ang="0">
                  <a:pos x="39" y="1"/>
                </a:cxn>
                <a:cxn ang="0">
                  <a:pos x="23" y="9"/>
                </a:cxn>
                <a:cxn ang="0">
                  <a:pos x="9" y="17"/>
                </a:cxn>
                <a:cxn ang="0">
                  <a:pos x="1" y="30"/>
                </a:cxn>
                <a:cxn ang="0">
                  <a:pos x="0" y="31"/>
                </a:cxn>
                <a:cxn ang="0">
                  <a:pos x="1" y="35"/>
                </a:cxn>
                <a:cxn ang="0">
                  <a:pos x="22" y="24"/>
                </a:cxn>
                <a:cxn ang="0">
                  <a:pos x="41" y="12"/>
                </a:cxn>
                <a:cxn ang="0">
                  <a:pos x="61" y="0"/>
                </a:cxn>
              </a:cxnLst>
              <a:rect l="0" t="0" r="r" b="b"/>
              <a:pathLst>
                <a:path w="61" h="35">
                  <a:moveTo>
                    <a:pt x="61" y="0"/>
                  </a:moveTo>
                  <a:lnTo>
                    <a:pt x="39" y="1"/>
                  </a:lnTo>
                  <a:lnTo>
                    <a:pt x="23" y="9"/>
                  </a:lnTo>
                  <a:lnTo>
                    <a:pt x="9" y="17"/>
                  </a:lnTo>
                  <a:lnTo>
                    <a:pt x="1" y="30"/>
                  </a:lnTo>
                  <a:lnTo>
                    <a:pt x="0" y="31"/>
                  </a:lnTo>
                  <a:lnTo>
                    <a:pt x="1" y="35"/>
                  </a:lnTo>
                  <a:lnTo>
                    <a:pt x="22" y="24"/>
                  </a:lnTo>
                  <a:lnTo>
                    <a:pt x="41" y="12"/>
                  </a:lnTo>
                  <a:lnTo>
                    <a:pt x="6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 name="Freeform 13"/>
            <p:cNvSpPr>
              <a:spLocks/>
            </p:cNvSpPr>
            <p:nvPr/>
          </p:nvSpPr>
          <p:spPr bwMode="auto">
            <a:xfrm>
              <a:off x="4777" y="2663"/>
              <a:ext cx="25" cy="60"/>
            </a:xfrm>
            <a:custGeom>
              <a:avLst/>
              <a:gdLst/>
              <a:ahLst/>
              <a:cxnLst>
                <a:cxn ang="0">
                  <a:pos x="23" y="34"/>
                </a:cxn>
                <a:cxn ang="0">
                  <a:pos x="13" y="22"/>
                </a:cxn>
                <a:cxn ang="0">
                  <a:pos x="20" y="14"/>
                </a:cxn>
                <a:cxn ang="0">
                  <a:pos x="16" y="10"/>
                </a:cxn>
                <a:cxn ang="0">
                  <a:pos x="11" y="15"/>
                </a:cxn>
                <a:cxn ang="0">
                  <a:pos x="5" y="24"/>
                </a:cxn>
                <a:cxn ang="0">
                  <a:pos x="5" y="19"/>
                </a:cxn>
                <a:cxn ang="0">
                  <a:pos x="8" y="7"/>
                </a:cxn>
                <a:cxn ang="0">
                  <a:pos x="8" y="0"/>
                </a:cxn>
                <a:cxn ang="0">
                  <a:pos x="0" y="13"/>
                </a:cxn>
                <a:cxn ang="0">
                  <a:pos x="2" y="25"/>
                </a:cxn>
                <a:cxn ang="0">
                  <a:pos x="4" y="38"/>
                </a:cxn>
                <a:cxn ang="0">
                  <a:pos x="13" y="54"/>
                </a:cxn>
                <a:cxn ang="0">
                  <a:pos x="7" y="32"/>
                </a:cxn>
                <a:cxn ang="0">
                  <a:pos x="23" y="34"/>
                </a:cxn>
              </a:cxnLst>
              <a:rect l="0" t="0" r="r" b="b"/>
              <a:pathLst>
                <a:path w="23" h="54">
                  <a:moveTo>
                    <a:pt x="23" y="34"/>
                  </a:moveTo>
                  <a:lnTo>
                    <a:pt x="13" y="22"/>
                  </a:lnTo>
                  <a:lnTo>
                    <a:pt x="20" y="14"/>
                  </a:lnTo>
                  <a:lnTo>
                    <a:pt x="16" y="10"/>
                  </a:lnTo>
                  <a:lnTo>
                    <a:pt x="11" y="15"/>
                  </a:lnTo>
                  <a:lnTo>
                    <a:pt x="5" y="24"/>
                  </a:lnTo>
                  <a:lnTo>
                    <a:pt x="5" y="19"/>
                  </a:lnTo>
                  <a:lnTo>
                    <a:pt x="8" y="7"/>
                  </a:lnTo>
                  <a:lnTo>
                    <a:pt x="8" y="0"/>
                  </a:lnTo>
                  <a:lnTo>
                    <a:pt x="0" y="13"/>
                  </a:lnTo>
                  <a:lnTo>
                    <a:pt x="2" y="25"/>
                  </a:lnTo>
                  <a:lnTo>
                    <a:pt x="4" y="38"/>
                  </a:lnTo>
                  <a:lnTo>
                    <a:pt x="13" y="54"/>
                  </a:lnTo>
                  <a:lnTo>
                    <a:pt x="7" y="32"/>
                  </a:lnTo>
                  <a:lnTo>
                    <a:pt x="23"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 name="Freeform 14"/>
            <p:cNvSpPr>
              <a:spLocks/>
            </p:cNvSpPr>
            <p:nvPr/>
          </p:nvSpPr>
          <p:spPr bwMode="auto">
            <a:xfrm>
              <a:off x="4784" y="2763"/>
              <a:ext cx="51" cy="18"/>
            </a:xfrm>
            <a:custGeom>
              <a:avLst/>
              <a:gdLst/>
              <a:ahLst/>
              <a:cxnLst>
                <a:cxn ang="0">
                  <a:pos x="47" y="13"/>
                </a:cxn>
                <a:cxn ang="0">
                  <a:pos x="44" y="16"/>
                </a:cxn>
                <a:cxn ang="0">
                  <a:pos x="25" y="8"/>
                </a:cxn>
                <a:cxn ang="0">
                  <a:pos x="12" y="9"/>
                </a:cxn>
                <a:cxn ang="0">
                  <a:pos x="2" y="6"/>
                </a:cxn>
                <a:cxn ang="0">
                  <a:pos x="0" y="9"/>
                </a:cxn>
                <a:cxn ang="0">
                  <a:pos x="1" y="3"/>
                </a:cxn>
                <a:cxn ang="0">
                  <a:pos x="11" y="0"/>
                </a:cxn>
                <a:cxn ang="0">
                  <a:pos x="25" y="1"/>
                </a:cxn>
                <a:cxn ang="0">
                  <a:pos x="38" y="2"/>
                </a:cxn>
                <a:cxn ang="0">
                  <a:pos x="47" y="13"/>
                </a:cxn>
              </a:cxnLst>
              <a:rect l="0" t="0" r="r" b="b"/>
              <a:pathLst>
                <a:path w="47" h="16">
                  <a:moveTo>
                    <a:pt x="47" y="13"/>
                  </a:moveTo>
                  <a:lnTo>
                    <a:pt x="44" y="16"/>
                  </a:lnTo>
                  <a:lnTo>
                    <a:pt x="25" y="8"/>
                  </a:lnTo>
                  <a:lnTo>
                    <a:pt x="12" y="9"/>
                  </a:lnTo>
                  <a:lnTo>
                    <a:pt x="2" y="6"/>
                  </a:lnTo>
                  <a:lnTo>
                    <a:pt x="0" y="9"/>
                  </a:lnTo>
                  <a:lnTo>
                    <a:pt x="1" y="3"/>
                  </a:lnTo>
                  <a:lnTo>
                    <a:pt x="11" y="0"/>
                  </a:lnTo>
                  <a:lnTo>
                    <a:pt x="25" y="1"/>
                  </a:lnTo>
                  <a:lnTo>
                    <a:pt x="38" y="2"/>
                  </a:lnTo>
                  <a:lnTo>
                    <a:pt x="4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 name="Freeform 15"/>
            <p:cNvSpPr>
              <a:spLocks/>
            </p:cNvSpPr>
            <p:nvPr/>
          </p:nvSpPr>
          <p:spPr bwMode="auto">
            <a:xfrm>
              <a:off x="4635" y="2870"/>
              <a:ext cx="58" cy="11"/>
            </a:xfrm>
            <a:custGeom>
              <a:avLst/>
              <a:gdLst/>
              <a:ahLst/>
              <a:cxnLst>
                <a:cxn ang="0">
                  <a:pos x="51" y="1"/>
                </a:cxn>
                <a:cxn ang="0">
                  <a:pos x="51" y="0"/>
                </a:cxn>
                <a:cxn ang="0">
                  <a:pos x="48" y="0"/>
                </a:cxn>
                <a:cxn ang="0">
                  <a:pos x="43" y="4"/>
                </a:cxn>
                <a:cxn ang="0">
                  <a:pos x="33" y="4"/>
                </a:cxn>
                <a:cxn ang="0">
                  <a:pos x="21" y="2"/>
                </a:cxn>
                <a:cxn ang="0">
                  <a:pos x="8" y="1"/>
                </a:cxn>
                <a:cxn ang="0">
                  <a:pos x="0" y="8"/>
                </a:cxn>
                <a:cxn ang="0">
                  <a:pos x="7" y="10"/>
                </a:cxn>
                <a:cxn ang="0">
                  <a:pos x="22" y="10"/>
                </a:cxn>
                <a:cxn ang="0">
                  <a:pos x="38" y="9"/>
                </a:cxn>
                <a:cxn ang="0">
                  <a:pos x="51" y="1"/>
                </a:cxn>
              </a:cxnLst>
              <a:rect l="0" t="0" r="r" b="b"/>
              <a:pathLst>
                <a:path w="51" h="10">
                  <a:moveTo>
                    <a:pt x="51" y="1"/>
                  </a:moveTo>
                  <a:lnTo>
                    <a:pt x="51" y="0"/>
                  </a:lnTo>
                  <a:lnTo>
                    <a:pt x="48" y="0"/>
                  </a:lnTo>
                  <a:lnTo>
                    <a:pt x="43" y="4"/>
                  </a:lnTo>
                  <a:lnTo>
                    <a:pt x="33" y="4"/>
                  </a:lnTo>
                  <a:lnTo>
                    <a:pt x="21" y="2"/>
                  </a:lnTo>
                  <a:lnTo>
                    <a:pt x="8" y="1"/>
                  </a:lnTo>
                  <a:lnTo>
                    <a:pt x="0" y="8"/>
                  </a:lnTo>
                  <a:lnTo>
                    <a:pt x="7" y="10"/>
                  </a:lnTo>
                  <a:lnTo>
                    <a:pt x="22" y="10"/>
                  </a:lnTo>
                  <a:lnTo>
                    <a:pt x="38" y="9"/>
                  </a:lnTo>
                  <a:lnTo>
                    <a:pt x="5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 name="Freeform 16"/>
            <p:cNvSpPr>
              <a:spLocks/>
            </p:cNvSpPr>
            <p:nvPr/>
          </p:nvSpPr>
          <p:spPr bwMode="auto">
            <a:xfrm>
              <a:off x="4384" y="2736"/>
              <a:ext cx="29" cy="31"/>
            </a:xfrm>
            <a:custGeom>
              <a:avLst/>
              <a:gdLst/>
              <a:ahLst/>
              <a:cxnLst>
                <a:cxn ang="0">
                  <a:pos x="26" y="19"/>
                </a:cxn>
                <a:cxn ang="0">
                  <a:pos x="24" y="27"/>
                </a:cxn>
                <a:cxn ang="0">
                  <a:pos x="11" y="19"/>
                </a:cxn>
                <a:cxn ang="0">
                  <a:pos x="6" y="9"/>
                </a:cxn>
                <a:cxn ang="0">
                  <a:pos x="0" y="7"/>
                </a:cxn>
                <a:cxn ang="0">
                  <a:pos x="7" y="1"/>
                </a:cxn>
                <a:cxn ang="0">
                  <a:pos x="11" y="0"/>
                </a:cxn>
                <a:cxn ang="0">
                  <a:pos x="17" y="14"/>
                </a:cxn>
                <a:cxn ang="0">
                  <a:pos x="26" y="19"/>
                </a:cxn>
              </a:cxnLst>
              <a:rect l="0" t="0" r="r" b="b"/>
              <a:pathLst>
                <a:path w="26" h="27">
                  <a:moveTo>
                    <a:pt x="26" y="19"/>
                  </a:moveTo>
                  <a:lnTo>
                    <a:pt x="24" y="27"/>
                  </a:lnTo>
                  <a:lnTo>
                    <a:pt x="11" y="19"/>
                  </a:lnTo>
                  <a:lnTo>
                    <a:pt x="6" y="9"/>
                  </a:lnTo>
                  <a:lnTo>
                    <a:pt x="0" y="7"/>
                  </a:lnTo>
                  <a:lnTo>
                    <a:pt x="7" y="1"/>
                  </a:lnTo>
                  <a:lnTo>
                    <a:pt x="11" y="0"/>
                  </a:lnTo>
                  <a:lnTo>
                    <a:pt x="17" y="14"/>
                  </a:lnTo>
                  <a:lnTo>
                    <a:pt x="26"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 name="Freeform 17"/>
            <p:cNvSpPr>
              <a:spLocks/>
            </p:cNvSpPr>
            <p:nvPr/>
          </p:nvSpPr>
          <p:spPr bwMode="auto">
            <a:xfrm>
              <a:off x="4582" y="2867"/>
              <a:ext cx="42" cy="18"/>
            </a:xfrm>
            <a:custGeom>
              <a:avLst/>
              <a:gdLst/>
              <a:ahLst/>
              <a:cxnLst>
                <a:cxn ang="0">
                  <a:pos x="38" y="10"/>
                </a:cxn>
                <a:cxn ang="0">
                  <a:pos x="36" y="5"/>
                </a:cxn>
                <a:cxn ang="0">
                  <a:pos x="31" y="6"/>
                </a:cxn>
                <a:cxn ang="0">
                  <a:pos x="16" y="0"/>
                </a:cxn>
                <a:cxn ang="0">
                  <a:pos x="24" y="10"/>
                </a:cxn>
                <a:cxn ang="0">
                  <a:pos x="15" y="9"/>
                </a:cxn>
                <a:cxn ang="0">
                  <a:pos x="3" y="7"/>
                </a:cxn>
                <a:cxn ang="0">
                  <a:pos x="0" y="17"/>
                </a:cxn>
                <a:cxn ang="0">
                  <a:pos x="13" y="15"/>
                </a:cxn>
                <a:cxn ang="0">
                  <a:pos x="26" y="12"/>
                </a:cxn>
                <a:cxn ang="0">
                  <a:pos x="32" y="13"/>
                </a:cxn>
                <a:cxn ang="0">
                  <a:pos x="31" y="12"/>
                </a:cxn>
                <a:cxn ang="0">
                  <a:pos x="38" y="10"/>
                </a:cxn>
              </a:cxnLst>
              <a:rect l="0" t="0" r="r" b="b"/>
              <a:pathLst>
                <a:path w="38" h="17">
                  <a:moveTo>
                    <a:pt x="38" y="10"/>
                  </a:moveTo>
                  <a:lnTo>
                    <a:pt x="36" y="5"/>
                  </a:lnTo>
                  <a:lnTo>
                    <a:pt x="31" y="6"/>
                  </a:lnTo>
                  <a:lnTo>
                    <a:pt x="16" y="0"/>
                  </a:lnTo>
                  <a:lnTo>
                    <a:pt x="24" y="10"/>
                  </a:lnTo>
                  <a:lnTo>
                    <a:pt x="15" y="9"/>
                  </a:lnTo>
                  <a:lnTo>
                    <a:pt x="3" y="7"/>
                  </a:lnTo>
                  <a:lnTo>
                    <a:pt x="0" y="17"/>
                  </a:lnTo>
                  <a:lnTo>
                    <a:pt x="13" y="15"/>
                  </a:lnTo>
                  <a:lnTo>
                    <a:pt x="26" y="12"/>
                  </a:lnTo>
                  <a:lnTo>
                    <a:pt x="32" y="13"/>
                  </a:lnTo>
                  <a:lnTo>
                    <a:pt x="31" y="12"/>
                  </a:lnTo>
                  <a:lnTo>
                    <a:pt x="38"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 name="Freeform 18"/>
            <p:cNvSpPr>
              <a:spLocks/>
            </p:cNvSpPr>
            <p:nvPr/>
          </p:nvSpPr>
          <p:spPr bwMode="auto">
            <a:xfrm>
              <a:off x="4620" y="2894"/>
              <a:ext cx="31" cy="16"/>
            </a:xfrm>
            <a:custGeom>
              <a:avLst/>
              <a:gdLst/>
              <a:ahLst/>
              <a:cxnLst>
                <a:cxn ang="0">
                  <a:pos x="28" y="12"/>
                </a:cxn>
                <a:cxn ang="0">
                  <a:pos x="17" y="15"/>
                </a:cxn>
                <a:cxn ang="0">
                  <a:pos x="4" y="6"/>
                </a:cxn>
                <a:cxn ang="0">
                  <a:pos x="0" y="0"/>
                </a:cxn>
                <a:cxn ang="0">
                  <a:pos x="17" y="0"/>
                </a:cxn>
                <a:cxn ang="0">
                  <a:pos x="28" y="12"/>
                </a:cxn>
              </a:cxnLst>
              <a:rect l="0" t="0" r="r" b="b"/>
              <a:pathLst>
                <a:path w="28" h="15">
                  <a:moveTo>
                    <a:pt x="28" y="12"/>
                  </a:moveTo>
                  <a:lnTo>
                    <a:pt x="17" y="15"/>
                  </a:lnTo>
                  <a:lnTo>
                    <a:pt x="4" y="6"/>
                  </a:lnTo>
                  <a:lnTo>
                    <a:pt x="0" y="0"/>
                  </a:lnTo>
                  <a:lnTo>
                    <a:pt x="17" y="0"/>
                  </a:lnTo>
                  <a:lnTo>
                    <a:pt x="2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 name="Freeform 19"/>
            <p:cNvSpPr>
              <a:spLocks/>
            </p:cNvSpPr>
            <p:nvPr/>
          </p:nvSpPr>
          <p:spPr bwMode="auto">
            <a:xfrm>
              <a:off x="4751" y="2767"/>
              <a:ext cx="22" cy="14"/>
            </a:xfrm>
            <a:custGeom>
              <a:avLst/>
              <a:gdLst/>
              <a:ahLst/>
              <a:cxnLst>
                <a:cxn ang="0">
                  <a:pos x="19" y="6"/>
                </a:cxn>
                <a:cxn ang="0">
                  <a:pos x="12" y="13"/>
                </a:cxn>
                <a:cxn ang="0">
                  <a:pos x="0" y="5"/>
                </a:cxn>
                <a:cxn ang="0">
                  <a:pos x="6" y="0"/>
                </a:cxn>
                <a:cxn ang="0">
                  <a:pos x="19" y="6"/>
                </a:cxn>
              </a:cxnLst>
              <a:rect l="0" t="0" r="r" b="b"/>
              <a:pathLst>
                <a:path w="19" h="13">
                  <a:moveTo>
                    <a:pt x="19" y="6"/>
                  </a:moveTo>
                  <a:lnTo>
                    <a:pt x="12" y="13"/>
                  </a:lnTo>
                  <a:lnTo>
                    <a:pt x="0" y="5"/>
                  </a:lnTo>
                  <a:lnTo>
                    <a:pt x="6" y="0"/>
                  </a:lnTo>
                  <a:lnTo>
                    <a:pt x="1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 name="Freeform 20"/>
            <p:cNvSpPr>
              <a:spLocks/>
            </p:cNvSpPr>
            <p:nvPr/>
          </p:nvSpPr>
          <p:spPr bwMode="auto">
            <a:xfrm>
              <a:off x="4544" y="2867"/>
              <a:ext cx="20" cy="12"/>
            </a:xfrm>
            <a:custGeom>
              <a:avLst/>
              <a:gdLst/>
              <a:ahLst/>
              <a:cxnLst>
                <a:cxn ang="0">
                  <a:pos x="18" y="5"/>
                </a:cxn>
                <a:cxn ang="0">
                  <a:pos x="16" y="2"/>
                </a:cxn>
                <a:cxn ang="0">
                  <a:pos x="0" y="0"/>
                </a:cxn>
                <a:cxn ang="0">
                  <a:pos x="8" y="10"/>
                </a:cxn>
                <a:cxn ang="0">
                  <a:pos x="18" y="5"/>
                </a:cxn>
              </a:cxnLst>
              <a:rect l="0" t="0" r="r" b="b"/>
              <a:pathLst>
                <a:path w="18" h="10">
                  <a:moveTo>
                    <a:pt x="18" y="5"/>
                  </a:moveTo>
                  <a:lnTo>
                    <a:pt x="16" y="2"/>
                  </a:lnTo>
                  <a:lnTo>
                    <a:pt x="0" y="0"/>
                  </a:lnTo>
                  <a:lnTo>
                    <a:pt x="8" y="10"/>
                  </a:lnTo>
                  <a:lnTo>
                    <a:pt x="18"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 name="Freeform 21"/>
            <p:cNvSpPr>
              <a:spLocks/>
            </p:cNvSpPr>
            <p:nvPr/>
          </p:nvSpPr>
          <p:spPr bwMode="auto">
            <a:xfrm>
              <a:off x="4242" y="2676"/>
              <a:ext cx="16" cy="18"/>
            </a:xfrm>
            <a:custGeom>
              <a:avLst/>
              <a:gdLst/>
              <a:ahLst/>
              <a:cxnLst>
                <a:cxn ang="0">
                  <a:pos x="14" y="9"/>
                </a:cxn>
                <a:cxn ang="0">
                  <a:pos x="12" y="16"/>
                </a:cxn>
                <a:cxn ang="0">
                  <a:pos x="0" y="1"/>
                </a:cxn>
                <a:cxn ang="0">
                  <a:pos x="4" y="0"/>
                </a:cxn>
                <a:cxn ang="0">
                  <a:pos x="14" y="9"/>
                </a:cxn>
              </a:cxnLst>
              <a:rect l="0" t="0" r="r" b="b"/>
              <a:pathLst>
                <a:path w="14" h="16">
                  <a:moveTo>
                    <a:pt x="14" y="9"/>
                  </a:moveTo>
                  <a:lnTo>
                    <a:pt x="12" y="16"/>
                  </a:lnTo>
                  <a:lnTo>
                    <a:pt x="0" y="1"/>
                  </a:lnTo>
                  <a:lnTo>
                    <a:pt x="4" y="0"/>
                  </a:lnTo>
                  <a:lnTo>
                    <a:pt x="14"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 name="Freeform 22"/>
            <p:cNvSpPr>
              <a:spLocks/>
            </p:cNvSpPr>
            <p:nvPr/>
          </p:nvSpPr>
          <p:spPr bwMode="auto">
            <a:xfrm>
              <a:off x="4569" y="2870"/>
              <a:ext cx="13" cy="13"/>
            </a:xfrm>
            <a:custGeom>
              <a:avLst/>
              <a:gdLst/>
              <a:ahLst/>
              <a:cxnLst>
                <a:cxn ang="0">
                  <a:pos x="12" y="3"/>
                </a:cxn>
                <a:cxn ang="0">
                  <a:pos x="8" y="0"/>
                </a:cxn>
                <a:cxn ang="0">
                  <a:pos x="0" y="9"/>
                </a:cxn>
                <a:cxn ang="0">
                  <a:pos x="6" y="12"/>
                </a:cxn>
                <a:cxn ang="0">
                  <a:pos x="12" y="3"/>
                </a:cxn>
              </a:cxnLst>
              <a:rect l="0" t="0" r="r" b="b"/>
              <a:pathLst>
                <a:path w="12" h="12">
                  <a:moveTo>
                    <a:pt x="12" y="3"/>
                  </a:moveTo>
                  <a:lnTo>
                    <a:pt x="8" y="0"/>
                  </a:lnTo>
                  <a:lnTo>
                    <a:pt x="0" y="9"/>
                  </a:lnTo>
                  <a:lnTo>
                    <a:pt x="6" y="12"/>
                  </a:lnTo>
                  <a:lnTo>
                    <a:pt x="12"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 name="Freeform 23"/>
            <p:cNvSpPr>
              <a:spLocks/>
            </p:cNvSpPr>
            <p:nvPr/>
          </p:nvSpPr>
          <p:spPr bwMode="auto">
            <a:xfrm>
              <a:off x="4426" y="2756"/>
              <a:ext cx="14" cy="14"/>
            </a:xfrm>
            <a:custGeom>
              <a:avLst/>
              <a:gdLst/>
              <a:ahLst/>
              <a:cxnLst>
                <a:cxn ang="0">
                  <a:pos x="11" y="5"/>
                </a:cxn>
                <a:cxn ang="0">
                  <a:pos x="5" y="9"/>
                </a:cxn>
                <a:cxn ang="0">
                  <a:pos x="0" y="11"/>
                </a:cxn>
                <a:cxn ang="0">
                  <a:pos x="0" y="0"/>
                </a:cxn>
                <a:cxn ang="0">
                  <a:pos x="11" y="5"/>
                </a:cxn>
              </a:cxnLst>
              <a:rect l="0" t="0" r="r" b="b"/>
              <a:pathLst>
                <a:path w="11" h="11">
                  <a:moveTo>
                    <a:pt x="11" y="5"/>
                  </a:moveTo>
                  <a:lnTo>
                    <a:pt x="5" y="9"/>
                  </a:lnTo>
                  <a:lnTo>
                    <a:pt x="0" y="11"/>
                  </a:lnTo>
                  <a:lnTo>
                    <a:pt x="0" y="0"/>
                  </a:lnTo>
                  <a:lnTo>
                    <a:pt x="11"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 name="Freeform 24"/>
            <p:cNvSpPr>
              <a:spLocks/>
            </p:cNvSpPr>
            <p:nvPr/>
          </p:nvSpPr>
          <p:spPr bwMode="auto">
            <a:xfrm>
              <a:off x="4689" y="2794"/>
              <a:ext cx="11" cy="25"/>
            </a:xfrm>
            <a:custGeom>
              <a:avLst/>
              <a:gdLst/>
              <a:ahLst/>
              <a:cxnLst>
                <a:cxn ang="0">
                  <a:pos x="9" y="15"/>
                </a:cxn>
                <a:cxn ang="0">
                  <a:pos x="7" y="14"/>
                </a:cxn>
                <a:cxn ang="0">
                  <a:pos x="7" y="5"/>
                </a:cxn>
                <a:cxn ang="0">
                  <a:pos x="7" y="0"/>
                </a:cxn>
                <a:cxn ang="0">
                  <a:pos x="0" y="22"/>
                </a:cxn>
                <a:cxn ang="0">
                  <a:pos x="9" y="15"/>
                </a:cxn>
              </a:cxnLst>
              <a:rect l="0" t="0" r="r" b="b"/>
              <a:pathLst>
                <a:path w="9" h="22">
                  <a:moveTo>
                    <a:pt x="9" y="15"/>
                  </a:moveTo>
                  <a:lnTo>
                    <a:pt x="7" y="14"/>
                  </a:lnTo>
                  <a:lnTo>
                    <a:pt x="7" y="5"/>
                  </a:lnTo>
                  <a:lnTo>
                    <a:pt x="7" y="0"/>
                  </a:lnTo>
                  <a:lnTo>
                    <a:pt x="0" y="22"/>
                  </a:lnTo>
                  <a:lnTo>
                    <a:pt x="9"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 name="Freeform 25"/>
            <p:cNvSpPr>
              <a:spLocks/>
            </p:cNvSpPr>
            <p:nvPr/>
          </p:nvSpPr>
          <p:spPr bwMode="auto">
            <a:xfrm>
              <a:off x="4895" y="2816"/>
              <a:ext cx="7" cy="14"/>
            </a:xfrm>
            <a:custGeom>
              <a:avLst/>
              <a:gdLst/>
              <a:ahLst/>
              <a:cxnLst>
                <a:cxn ang="0">
                  <a:pos x="6" y="10"/>
                </a:cxn>
                <a:cxn ang="0">
                  <a:pos x="6" y="0"/>
                </a:cxn>
                <a:cxn ang="0">
                  <a:pos x="0" y="2"/>
                </a:cxn>
                <a:cxn ang="0">
                  <a:pos x="0" y="13"/>
                </a:cxn>
                <a:cxn ang="0">
                  <a:pos x="6" y="10"/>
                </a:cxn>
              </a:cxnLst>
              <a:rect l="0" t="0" r="r" b="b"/>
              <a:pathLst>
                <a:path w="6" h="13">
                  <a:moveTo>
                    <a:pt x="6" y="10"/>
                  </a:moveTo>
                  <a:lnTo>
                    <a:pt x="6" y="0"/>
                  </a:lnTo>
                  <a:lnTo>
                    <a:pt x="0" y="2"/>
                  </a:lnTo>
                  <a:lnTo>
                    <a:pt x="0" y="13"/>
                  </a:lnTo>
                  <a:lnTo>
                    <a:pt x="6"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 name="Freeform 26"/>
            <p:cNvSpPr>
              <a:spLocks/>
            </p:cNvSpPr>
            <p:nvPr/>
          </p:nvSpPr>
          <p:spPr bwMode="auto">
            <a:xfrm>
              <a:off x="4271" y="2723"/>
              <a:ext cx="9" cy="16"/>
            </a:xfrm>
            <a:custGeom>
              <a:avLst/>
              <a:gdLst/>
              <a:ahLst/>
              <a:cxnLst>
                <a:cxn ang="0">
                  <a:pos x="8" y="13"/>
                </a:cxn>
                <a:cxn ang="0">
                  <a:pos x="2" y="13"/>
                </a:cxn>
                <a:cxn ang="0">
                  <a:pos x="0" y="0"/>
                </a:cxn>
                <a:cxn ang="0">
                  <a:pos x="8" y="13"/>
                </a:cxn>
              </a:cxnLst>
              <a:rect l="0" t="0" r="r" b="b"/>
              <a:pathLst>
                <a:path w="8" h="13">
                  <a:moveTo>
                    <a:pt x="8" y="13"/>
                  </a:moveTo>
                  <a:lnTo>
                    <a:pt x="2" y="13"/>
                  </a:lnTo>
                  <a:lnTo>
                    <a:pt x="0" y="0"/>
                  </a:lnTo>
                  <a:lnTo>
                    <a:pt x="8"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 name="Freeform 27"/>
            <p:cNvSpPr>
              <a:spLocks/>
            </p:cNvSpPr>
            <p:nvPr/>
          </p:nvSpPr>
          <p:spPr bwMode="auto">
            <a:xfrm>
              <a:off x="4686" y="2799"/>
              <a:ext cx="7" cy="13"/>
            </a:xfrm>
            <a:custGeom>
              <a:avLst/>
              <a:gdLst/>
              <a:ahLst/>
              <a:cxnLst>
                <a:cxn ang="0">
                  <a:pos x="6" y="5"/>
                </a:cxn>
                <a:cxn ang="0">
                  <a:pos x="6" y="0"/>
                </a:cxn>
                <a:cxn ang="0">
                  <a:pos x="3" y="1"/>
                </a:cxn>
                <a:cxn ang="0">
                  <a:pos x="0" y="12"/>
                </a:cxn>
                <a:cxn ang="0">
                  <a:pos x="6" y="5"/>
                </a:cxn>
              </a:cxnLst>
              <a:rect l="0" t="0" r="r" b="b"/>
              <a:pathLst>
                <a:path w="6" h="12">
                  <a:moveTo>
                    <a:pt x="6" y="5"/>
                  </a:moveTo>
                  <a:lnTo>
                    <a:pt x="6" y="0"/>
                  </a:lnTo>
                  <a:lnTo>
                    <a:pt x="3" y="1"/>
                  </a:lnTo>
                  <a:lnTo>
                    <a:pt x="0" y="12"/>
                  </a:lnTo>
                  <a:lnTo>
                    <a:pt x="6"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 name="Freeform 28"/>
            <p:cNvSpPr>
              <a:spLocks/>
            </p:cNvSpPr>
            <p:nvPr/>
          </p:nvSpPr>
          <p:spPr bwMode="auto">
            <a:xfrm>
              <a:off x="4722" y="2739"/>
              <a:ext cx="18" cy="4"/>
            </a:xfrm>
            <a:custGeom>
              <a:avLst/>
              <a:gdLst/>
              <a:ahLst/>
              <a:cxnLst>
                <a:cxn ang="0">
                  <a:pos x="15" y="4"/>
                </a:cxn>
                <a:cxn ang="0">
                  <a:pos x="7" y="0"/>
                </a:cxn>
                <a:cxn ang="0">
                  <a:pos x="0" y="4"/>
                </a:cxn>
                <a:cxn ang="0">
                  <a:pos x="15" y="4"/>
                </a:cxn>
              </a:cxnLst>
              <a:rect l="0" t="0" r="r" b="b"/>
              <a:pathLst>
                <a:path w="15" h="4">
                  <a:moveTo>
                    <a:pt x="15" y="4"/>
                  </a:moveTo>
                  <a:lnTo>
                    <a:pt x="7" y="0"/>
                  </a:lnTo>
                  <a:lnTo>
                    <a:pt x="0" y="4"/>
                  </a:lnTo>
                  <a:lnTo>
                    <a:pt x="1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 name="Freeform 29"/>
            <p:cNvSpPr>
              <a:spLocks/>
            </p:cNvSpPr>
            <p:nvPr/>
          </p:nvSpPr>
          <p:spPr bwMode="auto">
            <a:xfrm>
              <a:off x="4889" y="2830"/>
              <a:ext cx="6" cy="13"/>
            </a:xfrm>
            <a:custGeom>
              <a:avLst/>
              <a:gdLst/>
              <a:ahLst/>
              <a:cxnLst>
                <a:cxn ang="0">
                  <a:pos x="6" y="6"/>
                </a:cxn>
                <a:cxn ang="0">
                  <a:pos x="1" y="11"/>
                </a:cxn>
                <a:cxn ang="0">
                  <a:pos x="0" y="0"/>
                </a:cxn>
                <a:cxn ang="0">
                  <a:pos x="6" y="6"/>
                </a:cxn>
              </a:cxnLst>
              <a:rect l="0" t="0" r="r" b="b"/>
              <a:pathLst>
                <a:path w="6" h="11">
                  <a:moveTo>
                    <a:pt x="6" y="6"/>
                  </a:moveTo>
                  <a:lnTo>
                    <a:pt x="1" y="11"/>
                  </a:lnTo>
                  <a:lnTo>
                    <a:pt x="0" y="0"/>
                  </a:lnTo>
                  <a:lnTo>
                    <a:pt x="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 name="Freeform 30"/>
            <p:cNvSpPr>
              <a:spLocks/>
            </p:cNvSpPr>
            <p:nvPr/>
          </p:nvSpPr>
          <p:spPr bwMode="auto">
            <a:xfrm>
              <a:off x="4513" y="2845"/>
              <a:ext cx="25" cy="2"/>
            </a:xfrm>
            <a:custGeom>
              <a:avLst/>
              <a:gdLst/>
              <a:ahLst/>
              <a:cxnLst>
                <a:cxn ang="0">
                  <a:pos x="22" y="0"/>
                </a:cxn>
                <a:cxn ang="0">
                  <a:pos x="6" y="2"/>
                </a:cxn>
                <a:cxn ang="0">
                  <a:pos x="0" y="0"/>
                </a:cxn>
                <a:cxn ang="0">
                  <a:pos x="22" y="0"/>
                </a:cxn>
              </a:cxnLst>
              <a:rect l="0" t="0" r="r" b="b"/>
              <a:pathLst>
                <a:path w="22" h="2">
                  <a:moveTo>
                    <a:pt x="22" y="0"/>
                  </a:moveTo>
                  <a:lnTo>
                    <a:pt x="6" y="2"/>
                  </a:lnTo>
                  <a:lnTo>
                    <a:pt x="0" y="0"/>
                  </a:lnTo>
                  <a:lnTo>
                    <a:pt x="2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 name="Freeform 31"/>
            <p:cNvSpPr>
              <a:spLocks/>
            </p:cNvSpPr>
            <p:nvPr/>
          </p:nvSpPr>
          <p:spPr bwMode="auto">
            <a:xfrm>
              <a:off x="4540" y="2607"/>
              <a:ext cx="15" cy="16"/>
            </a:xfrm>
            <a:custGeom>
              <a:avLst/>
              <a:gdLst/>
              <a:ahLst/>
              <a:cxnLst>
                <a:cxn ang="0">
                  <a:pos x="9" y="16"/>
                </a:cxn>
                <a:cxn ang="0">
                  <a:pos x="0" y="6"/>
                </a:cxn>
                <a:cxn ang="0">
                  <a:pos x="15" y="0"/>
                </a:cxn>
                <a:cxn ang="0">
                  <a:pos x="15" y="1"/>
                </a:cxn>
                <a:cxn ang="0">
                  <a:pos x="12" y="10"/>
                </a:cxn>
                <a:cxn ang="0">
                  <a:pos x="9" y="16"/>
                </a:cxn>
              </a:cxnLst>
              <a:rect l="0" t="0" r="r" b="b"/>
              <a:pathLst>
                <a:path w="15" h="16">
                  <a:moveTo>
                    <a:pt x="9" y="16"/>
                  </a:moveTo>
                  <a:lnTo>
                    <a:pt x="0" y="6"/>
                  </a:lnTo>
                  <a:lnTo>
                    <a:pt x="15" y="0"/>
                  </a:lnTo>
                  <a:lnTo>
                    <a:pt x="15" y="1"/>
                  </a:lnTo>
                  <a:lnTo>
                    <a:pt x="12" y="10"/>
                  </a:lnTo>
                  <a:lnTo>
                    <a:pt x="9"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 name="Freeform 32"/>
            <p:cNvSpPr>
              <a:spLocks/>
            </p:cNvSpPr>
            <p:nvPr/>
          </p:nvSpPr>
          <p:spPr bwMode="auto">
            <a:xfrm>
              <a:off x="4462" y="2567"/>
              <a:ext cx="169" cy="120"/>
            </a:xfrm>
            <a:custGeom>
              <a:avLst/>
              <a:gdLst/>
              <a:ahLst/>
              <a:cxnLst>
                <a:cxn ang="0">
                  <a:pos x="113" y="0"/>
                </a:cxn>
                <a:cxn ang="0">
                  <a:pos x="122" y="7"/>
                </a:cxn>
                <a:cxn ang="0">
                  <a:pos x="122" y="19"/>
                </a:cxn>
                <a:cxn ang="0">
                  <a:pos x="129" y="16"/>
                </a:cxn>
                <a:cxn ang="0">
                  <a:pos x="129" y="21"/>
                </a:cxn>
                <a:cxn ang="0">
                  <a:pos x="132" y="22"/>
                </a:cxn>
                <a:cxn ang="0">
                  <a:pos x="151" y="30"/>
                </a:cxn>
                <a:cxn ang="0">
                  <a:pos x="134" y="35"/>
                </a:cxn>
                <a:cxn ang="0">
                  <a:pos x="139" y="45"/>
                </a:cxn>
                <a:cxn ang="0">
                  <a:pos x="128" y="47"/>
                </a:cxn>
                <a:cxn ang="0">
                  <a:pos x="125" y="51"/>
                </a:cxn>
                <a:cxn ang="0">
                  <a:pos x="111" y="48"/>
                </a:cxn>
                <a:cxn ang="0">
                  <a:pos x="97" y="47"/>
                </a:cxn>
                <a:cxn ang="0">
                  <a:pos x="93" y="59"/>
                </a:cxn>
                <a:cxn ang="0">
                  <a:pos x="90" y="72"/>
                </a:cxn>
                <a:cxn ang="0">
                  <a:pos x="86" y="81"/>
                </a:cxn>
                <a:cxn ang="0">
                  <a:pos x="79" y="96"/>
                </a:cxn>
                <a:cxn ang="0">
                  <a:pos x="66" y="102"/>
                </a:cxn>
                <a:cxn ang="0">
                  <a:pos x="45" y="97"/>
                </a:cxn>
                <a:cxn ang="0">
                  <a:pos x="39" y="105"/>
                </a:cxn>
                <a:cxn ang="0">
                  <a:pos x="19" y="109"/>
                </a:cxn>
                <a:cxn ang="0">
                  <a:pos x="3" y="100"/>
                </a:cxn>
                <a:cxn ang="0">
                  <a:pos x="0" y="88"/>
                </a:cxn>
                <a:cxn ang="0">
                  <a:pos x="1" y="89"/>
                </a:cxn>
                <a:cxn ang="0">
                  <a:pos x="13" y="96"/>
                </a:cxn>
                <a:cxn ang="0">
                  <a:pos x="25" y="100"/>
                </a:cxn>
                <a:cxn ang="0">
                  <a:pos x="23" y="99"/>
                </a:cxn>
                <a:cxn ang="0">
                  <a:pos x="25" y="95"/>
                </a:cxn>
                <a:cxn ang="0">
                  <a:pos x="26" y="87"/>
                </a:cxn>
                <a:cxn ang="0">
                  <a:pos x="26" y="83"/>
                </a:cxn>
                <a:cxn ang="0">
                  <a:pos x="29" y="77"/>
                </a:cxn>
                <a:cxn ang="0">
                  <a:pos x="39" y="73"/>
                </a:cxn>
                <a:cxn ang="0">
                  <a:pos x="50" y="70"/>
                </a:cxn>
                <a:cxn ang="0">
                  <a:pos x="60" y="57"/>
                </a:cxn>
                <a:cxn ang="0">
                  <a:pos x="69" y="42"/>
                </a:cxn>
                <a:cxn ang="0">
                  <a:pos x="78" y="52"/>
                </a:cxn>
                <a:cxn ang="0">
                  <a:pos x="81" y="46"/>
                </a:cxn>
                <a:cxn ang="0">
                  <a:pos x="84" y="37"/>
                </a:cxn>
                <a:cxn ang="0">
                  <a:pos x="87" y="47"/>
                </a:cxn>
                <a:cxn ang="0">
                  <a:pos x="87" y="40"/>
                </a:cxn>
                <a:cxn ang="0">
                  <a:pos x="91" y="35"/>
                </a:cxn>
                <a:cxn ang="0">
                  <a:pos x="90" y="30"/>
                </a:cxn>
                <a:cxn ang="0">
                  <a:pos x="93" y="25"/>
                </a:cxn>
                <a:cxn ang="0">
                  <a:pos x="101" y="13"/>
                </a:cxn>
                <a:cxn ang="0">
                  <a:pos x="108" y="0"/>
                </a:cxn>
                <a:cxn ang="0">
                  <a:pos x="109" y="5"/>
                </a:cxn>
                <a:cxn ang="0">
                  <a:pos x="113" y="0"/>
                </a:cxn>
              </a:cxnLst>
              <a:rect l="0" t="0" r="r" b="b"/>
              <a:pathLst>
                <a:path w="151" h="109">
                  <a:moveTo>
                    <a:pt x="113" y="0"/>
                  </a:moveTo>
                  <a:lnTo>
                    <a:pt x="122" y="7"/>
                  </a:lnTo>
                  <a:lnTo>
                    <a:pt x="122" y="19"/>
                  </a:lnTo>
                  <a:lnTo>
                    <a:pt x="129" y="16"/>
                  </a:lnTo>
                  <a:lnTo>
                    <a:pt x="129" y="21"/>
                  </a:lnTo>
                  <a:lnTo>
                    <a:pt x="132" y="22"/>
                  </a:lnTo>
                  <a:lnTo>
                    <a:pt x="151" y="30"/>
                  </a:lnTo>
                  <a:lnTo>
                    <a:pt x="134" y="35"/>
                  </a:lnTo>
                  <a:lnTo>
                    <a:pt x="139" y="45"/>
                  </a:lnTo>
                  <a:lnTo>
                    <a:pt x="128" y="47"/>
                  </a:lnTo>
                  <a:lnTo>
                    <a:pt x="125" y="51"/>
                  </a:lnTo>
                  <a:lnTo>
                    <a:pt x="111" y="48"/>
                  </a:lnTo>
                  <a:lnTo>
                    <a:pt x="97" y="47"/>
                  </a:lnTo>
                  <a:lnTo>
                    <a:pt x="93" y="59"/>
                  </a:lnTo>
                  <a:lnTo>
                    <a:pt x="90" y="72"/>
                  </a:lnTo>
                  <a:lnTo>
                    <a:pt x="86" y="81"/>
                  </a:lnTo>
                  <a:lnTo>
                    <a:pt x="79" y="96"/>
                  </a:lnTo>
                  <a:lnTo>
                    <a:pt x="66" y="102"/>
                  </a:lnTo>
                  <a:lnTo>
                    <a:pt x="45" y="97"/>
                  </a:lnTo>
                  <a:lnTo>
                    <a:pt x="39" y="105"/>
                  </a:lnTo>
                  <a:lnTo>
                    <a:pt x="19" y="109"/>
                  </a:lnTo>
                  <a:lnTo>
                    <a:pt x="3" y="100"/>
                  </a:lnTo>
                  <a:lnTo>
                    <a:pt x="0" y="88"/>
                  </a:lnTo>
                  <a:lnTo>
                    <a:pt x="1" y="89"/>
                  </a:lnTo>
                  <a:lnTo>
                    <a:pt x="13" y="96"/>
                  </a:lnTo>
                  <a:lnTo>
                    <a:pt x="25" y="100"/>
                  </a:lnTo>
                  <a:lnTo>
                    <a:pt x="23" y="99"/>
                  </a:lnTo>
                  <a:lnTo>
                    <a:pt x="25" y="95"/>
                  </a:lnTo>
                  <a:lnTo>
                    <a:pt x="26" y="87"/>
                  </a:lnTo>
                  <a:lnTo>
                    <a:pt x="26" y="83"/>
                  </a:lnTo>
                  <a:lnTo>
                    <a:pt x="29" y="77"/>
                  </a:lnTo>
                  <a:lnTo>
                    <a:pt x="39" y="73"/>
                  </a:lnTo>
                  <a:lnTo>
                    <a:pt x="50" y="70"/>
                  </a:lnTo>
                  <a:lnTo>
                    <a:pt x="60" y="57"/>
                  </a:lnTo>
                  <a:lnTo>
                    <a:pt x="69" y="42"/>
                  </a:lnTo>
                  <a:lnTo>
                    <a:pt x="78" y="52"/>
                  </a:lnTo>
                  <a:lnTo>
                    <a:pt x="81" y="46"/>
                  </a:lnTo>
                  <a:lnTo>
                    <a:pt x="84" y="37"/>
                  </a:lnTo>
                  <a:lnTo>
                    <a:pt x="87" y="47"/>
                  </a:lnTo>
                  <a:lnTo>
                    <a:pt x="87" y="40"/>
                  </a:lnTo>
                  <a:lnTo>
                    <a:pt x="91" y="35"/>
                  </a:lnTo>
                  <a:lnTo>
                    <a:pt x="90" y="30"/>
                  </a:lnTo>
                  <a:lnTo>
                    <a:pt x="93" y="25"/>
                  </a:lnTo>
                  <a:lnTo>
                    <a:pt x="101" y="13"/>
                  </a:lnTo>
                  <a:lnTo>
                    <a:pt x="108" y="0"/>
                  </a:lnTo>
                  <a:lnTo>
                    <a:pt x="109" y="5"/>
                  </a:lnTo>
                  <a:lnTo>
                    <a:pt x="11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 name="Freeform 33"/>
            <p:cNvSpPr>
              <a:spLocks/>
            </p:cNvSpPr>
            <p:nvPr/>
          </p:nvSpPr>
          <p:spPr bwMode="auto">
            <a:xfrm>
              <a:off x="4293" y="2574"/>
              <a:ext cx="76" cy="102"/>
            </a:xfrm>
            <a:custGeom>
              <a:avLst/>
              <a:gdLst/>
              <a:ahLst/>
              <a:cxnLst>
                <a:cxn ang="0">
                  <a:pos x="59" y="93"/>
                </a:cxn>
                <a:cxn ang="0">
                  <a:pos x="40" y="80"/>
                </a:cxn>
                <a:cxn ang="0">
                  <a:pos x="21" y="66"/>
                </a:cxn>
                <a:cxn ang="0">
                  <a:pos x="12" y="46"/>
                </a:cxn>
                <a:cxn ang="0">
                  <a:pos x="6" y="24"/>
                </a:cxn>
                <a:cxn ang="0">
                  <a:pos x="0" y="3"/>
                </a:cxn>
                <a:cxn ang="0">
                  <a:pos x="1" y="0"/>
                </a:cxn>
                <a:cxn ang="0">
                  <a:pos x="13" y="6"/>
                </a:cxn>
                <a:cxn ang="0">
                  <a:pos x="15" y="14"/>
                </a:cxn>
                <a:cxn ang="0">
                  <a:pos x="25" y="14"/>
                </a:cxn>
                <a:cxn ang="0">
                  <a:pos x="31" y="6"/>
                </a:cxn>
                <a:cxn ang="0">
                  <a:pos x="41" y="16"/>
                </a:cxn>
                <a:cxn ang="0">
                  <a:pos x="52" y="27"/>
                </a:cxn>
                <a:cxn ang="0">
                  <a:pos x="53" y="44"/>
                </a:cxn>
                <a:cxn ang="0">
                  <a:pos x="55" y="60"/>
                </a:cxn>
                <a:cxn ang="0">
                  <a:pos x="63" y="76"/>
                </a:cxn>
                <a:cxn ang="0">
                  <a:pos x="70" y="92"/>
                </a:cxn>
                <a:cxn ang="0">
                  <a:pos x="64" y="89"/>
                </a:cxn>
                <a:cxn ang="0">
                  <a:pos x="59" y="93"/>
                </a:cxn>
              </a:cxnLst>
              <a:rect l="0" t="0" r="r" b="b"/>
              <a:pathLst>
                <a:path w="70" h="93">
                  <a:moveTo>
                    <a:pt x="59" y="93"/>
                  </a:moveTo>
                  <a:lnTo>
                    <a:pt x="40" y="80"/>
                  </a:lnTo>
                  <a:lnTo>
                    <a:pt x="21" y="66"/>
                  </a:lnTo>
                  <a:lnTo>
                    <a:pt x="12" y="46"/>
                  </a:lnTo>
                  <a:lnTo>
                    <a:pt x="6" y="24"/>
                  </a:lnTo>
                  <a:lnTo>
                    <a:pt x="0" y="3"/>
                  </a:lnTo>
                  <a:lnTo>
                    <a:pt x="1" y="0"/>
                  </a:lnTo>
                  <a:lnTo>
                    <a:pt x="13" y="6"/>
                  </a:lnTo>
                  <a:lnTo>
                    <a:pt x="15" y="14"/>
                  </a:lnTo>
                  <a:lnTo>
                    <a:pt x="25" y="14"/>
                  </a:lnTo>
                  <a:lnTo>
                    <a:pt x="31" y="6"/>
                  </a:lnTo>
                  <a:lnTo>
                    <a:pt x="41" y="16"/>
                  </a:lnTo>
                  <a:lnTo>
                    <a:pt x="52" y="27"/>
                  </a:lnTo>
                  <a:lnTo>
                    <a:pt x="53" y="44"/>
                  </a:lnTo>
                  <a:lnTo>
                    <a:pt x="55" y="60"/>
                  </a:lnTo>
                  <a:lnTo>
                    <a:pt x="63" y="76"/>
                  </a:lnTo>
                  <a:lnTo>
                    <a:pt x="70" y="92"/>
                  </a:lnTo>
                  <a:lnTo>
                    <a:pt x="64" y="89"/>
                  </a:lnTo>
                  <a:lnTo>
                    <a:pt x="59" y="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 name="Freeform 34"/>
            <p:cNvSpPr>
              <a:spLocks/>
            </p:cNvSpPr>
            <p:nvPr/>
          </p:nvSpPr>
          <p:spPr bwMode="auto">
            <a:xfrm>
              <a:off x="5473" y="2714"/>
              <a:ext cx="2" cy="2"/>
            </a:xfrm>
            <a:custGeom>
              <a:avLst/>
              <a:gdLst/>
              <a:ahLst/>
              <a:cxnLst>
                <a:cxn ang="0">
                  <a:pos x="0" y="2"/>
                </a:cxn>
                <a:cxn ang="0">
                  <a:pos x="0" y="0"/>
                </a:cxn>
                <a:cxn ang="0">
                  <a:pos x="0" y="2"/>
                </a:cxn>
              </a:cxnLst>
              <a:rect l="0" t="0" r="r" b="b"/>
              <a:pathLst>
                <a:path h="2">
                  <a:moveTo>
                    <a:pt x="0" y="2"/>
                  </a:moveTo>
                  <a:lnTo>
                    <a:pt x="0" y="0"/>
                  </a:lnTo>
                  <a:lnTo>
                    <a:pt x="0"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 name="Freeform 35"/>
            <p:cNvSpPr>
              <a:spLocks/>
            </p:cNvSpPr>
            <p:nvPr/>
          </p:nvSpPr>
          <p:spPr bwMode="auto">
            <a:xfrm>
              <a:off x="5006" y="2756"/>
              <a:ext cx="171" cy="160"/>
            </a:xfrm>
            <a:custGeom>
              <a:avLst/>
              <a:gdLst/>
              <a:ahLst/>
              <a:cxnLst>
                <a:cxn ang="0">
                  <a:pos x="154" y="137"/>
                </a:cxn>
                <a:cxn ang="0">
                  <a:pos x="148" y="140"/>
                </a:cxn>
                <a:cxn ang="0">
                  <a:pos x="148" y="144"/>
                </a:cxn>
                <a:cxn ang="0">
                  <a:pos x="140" y="141"/>
                </a:cxn>
                <a:cxn ang="0">
                  <a:pos x="124" y="139"/>
                </a:cxn>
                <a:cxn ang="0">
                  <a:pos x="110" y="135"/>
                </a:cxn>
                <a:cxn ang="0">
                  <a:pos x="101" y="126"/>
                </a:cxn>
                <a:cxn ang="0">
                  <a:pos x="93" y="117"/>
                </a:cxn>
                <a:cxn ang="0">
                  <a:pos x="84" y="107"/>
                </a:cxn>
                <a:cxn ang="0">
                  <a:pos x="77" y="96"/>
                </a:cxn>
                <a:cxn ang="0">
                  <a:pos x="57" y="89"/>
                </a:cxn>
                <a:cxn ang="0">
                  <a:pos x="56" y="92"/>
                </a:cxn>
                <a:cxn ang="0">
                  <a:pos x="46" y="89"/>
                </a:cxn>
                <a:cxn ang="0">
                  <a:pos x="47" y="97"/>
                </a:cxn>
                <a:cxn ang="0">
                  <a:pos x="41" y="97"/>
                </a:cxn>
                <a:cxn ang="0">
                  <a:pos x="42" y="101"/>
                </a:cxn>
                <a:cxn ang="0">
                  <a:pos x="21" y="101"/>
                </a:cxn>
                <a:cxn ang="0">
                  <a:pos x="39" y="110"/>
                </a:cxn>
                <a:cxn ang="0">
                  <a:pos x="30" y="117"/>
                </a:cxn>
                <a:cxn ang="0">
                  <a:pos x="16" y="117"/>
                </a:cxn>
                <a:cxn ang="0">
                  <a:pos x="0" y="117"/>
                </a:cxn>
                <a:cxn ang="0">
                  <a:pos x="2" y="102"/>
                </a:cxn>
                <a:cxn ang="0">
                  <a:pos x="3" y="87"/>
                </a:cxn>
                <a:cxn ang="0">
                  <a:pos x="4" y="73"/>
                </a:cxn>
                <a:cxn ang="0">
                  <a:pos x="5" y="59"/>
                </a:cxn>
                <a:cxn ang="0">
                  <a:pos x="6" y="44"/>
                </a:cxn>
                <a:cxn ang="0">
                  <a:pos x="6" y="29"/>
                </a:cxn>
                <a:cxn ang="0">
                  <a:pos x="8" y="14"/>
                </a:cxn>
                <a:cxn ang="0">
                  <a:pos x="8" y="0"/>
                </a:cxn>
                <a:cxn ang="0">
                  <a:pos x="23" y="7"/>
                </a:cxn>
                <a:cxn ang="0">
                  <a:pos x="38" y="13"/>
                </a:cxn>
                <a:cxn ang="0">
                  <a:pos x="53" y="20"/>
                </a:cxn>
                <a:cxn ang="0">
                  <a:pos x="69" y="27"/>
                </a:cxn>
                <a:cxn ang="0">
                  <a:pos x="82" y="44"/>
                </a:cxn>
                <a:cxn ang="0">
                  <a:pos x="83" y="53"/>
                </a:cxn>
                <a:cxn ang="0">
                  <a:pos x="96" y="59"/>
                </a:cxn>
                <a:cxn ang="0">
                  <a:pos x="111" y="65"/>
                </a:cxn>
                <a:cxn ang="0">
                  <a:pos x="112" y="74"/>
                </a:cxn>
                <a:cxn ang="0">
                  <a:pos x="98" y="75"/>
                </a:cxn>
                <a:cxn ang="0">
                  <a:pos x="105" y="91"/>
                </a:cxn>
                <a:cxn ang="0">
                  <a:pos x="116" y="101"/>
                </a:cxn>
                <a:cxn ang="0">
                  <a:pos x="123" y="116"/>
                </a:cxn>
                <a:cxn ang="0">
                  <a:pos x="132" y="117"/>
                </a:cxn>
                <a:cxn ang="0">
                  <a:pos x="131" y="123"/>
                </a:cxn>
                <a:cxn ang="0">
                  <a:pos x="140" y="128"/>
                </a:cxn>
                <a:cxn ang="0">
                  <a:pos x="138" y="132"/>
                </a:cxn>
                <a:cxn ang="0">
                  <a:pos x="154" y="137"/>
                </a:cxn>
              </a:cxnLst>
              <a:rect l="0" t="0" r="r" b="b"/>
              <a:pathLst>
                <a:path w="154" h="144">
                  <a:moveTo>
                    <a:pt x="154" y="137"/>
                  </a:moveTo>
                  <a:lnTo>
                    <a:pt x="148" y="140"/>
                  </a:lnTo>
                  <a:lnTo>
                    <a:pt x="148" y="144"/>
                  </a:lnTo>
                  <a:lnTo>
                    <a:pt x="140" y="141"/>
                  </a:lnTo>
                  <a:lnTo>
                    <a:pt x="124" y="139"/>
                  </a:lnTo>
                  <a:lnTo>
                    <a:pt x="110" y="135"/>
                  </a:lnTo>
                  <a:lnTo>
                    <a:pt x="101" y="126"/>
                  </a:lnTo>
                  <a:lnTo>
                    <a:pt x="93" y="117"/>
                  </a:lnTo>
                  <a:lnTo>
                    <a:pt x="84" y="107"/>
                  </a:lnTo>
                  <a:lnTo>
                    <a:pt x="77" y="96"/>
                  </a:lnTo>
                  <a:lnTo>
                    <a:pt x="57" y="89"/>
                  </a:lnTo>
                  <a:lnTo>
                    <a:pt x="56" y="92"/>
                  </a:lnTo>
                  <a:lnTo>
                    <a:pt x="46" y="89"/>
                  </a:lnTo>
                  <a:lnTo>
                    <a:pt x="47" y="97"/>
                  </a:lnTo>
                  <a:lnTo>
                    <a:pt x="41" y="97"/>
                  </a:lnTo>
                  <a:lnTo>
                    <a:pt x="42" y="101"/>
                  </a:lnTo>
                  <a:lnTo>
                    <a:pt x="21" y="101"/>
                  </a:lnTo>
                  <a:lnTo>
                    <a:pt x="39" y="110"/>
                  </a:lnTo>
                  <a:lnTo>
                    <a:pt x="30" y="117"/>
                  </a:lnTo>
                  <a:lnTo>
                    <a:pt x="16" y="117"/>
                  </a:lnTo>
                  <a:lnTo>
                    <a:pt x="0" y="117"/>
                  </a:lnTo>
                  <a:lnTo>
                    <a:pt x="2" y="102"/>
                  </a:lnTo>
                  <a:lnTo>
                    <a:pt x="3" y="87"/>
                  </a:lnTo>
                  <a:lnTo>
                    <a:pt x="4" y="73"/>
                  </a:lnTo>
                  <a:lnTo>
                    <a:pt x="5" y="59"/>
                  </a:lnTo>
                  <a:lnTo>
                    <a:pt x="6" y="44"/>
                  </a:lnTo>
                  <a:lnTo>
                    <a:pt x="6" y="29"/>
                  </a:lnTo>
                  <a:lnTo>
                    <a:pt x="8" y="14"/>
                  </a:lnTo>
                  <a:lnTo>
                    <a:pt x="8" y="0"/>
                  </a:lnTo>
                  <a:lnTo>
                    <a:pt x="23" y="7"/>
                  </a:lnTo>
                  <a:lnTo>
                    <a:pt x="38" y="13"/>
                  </a:lnTo>
                  <a:lnTo>
                    <a:pt x="53" y="20"/>
                  </a:lnTo>
                  <a:lnTo>
                    <a:pt x="69" y="27"/>
                  </a:lnTo>
                  <a:lnTo>
                    <a:pt x="82" y="44"/>
                  </a:lnTo>
                  <a:lnTo>
                    <a:pt x="83" y="53"/>
                  </a:lnTo>
                  <a:lnTo>
                    <a:pt x="96" y="59"/>
                  </a:lnTo>
                  <a:lnTo>
                    <a:pt x="111" y="65"/>
                  </a:lnTo>
                  <a:lnTo>
                    <a:pt x="112" y="74"/>
                  </a:lnTo>
                  <a:lnTo>
                    <a:pt x="98" y="75"/>
                  </a:lnTo>
                  <a:lnTo>
                    <a:pt x="105" y="91"/>
                  </a:lnTo>
                  <a:lnTo>
                    <a:pt x="116" y="101"/>
                  </a:lnTo>
                  <a:lnTo>
                    <a:pt x="123" y="116"/>
                  </a:lnTo>
                  <a:lnTo>
                    <a:pt x="132" y="117"/>
                  </a:lnTo>
                  <a:lnTo>
                    <a:pt x="131" y="123"/>
                  </a:lnTo>
                  <a:lnTo>
                    <a:pt x="140" y="128"/>
                  </a:lnTo>
                  <a:lnTo>
                    <a:pt x="138" y="132"/>
                  </a:lnTo>
                  <a:lnTo>
                    <a:pt x="154"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 name="Freeform 36"/>
            <p:cNvSpPr>
              <a:spLocks/>
            </p:cNvSpPr>
            <p:nvPr/>
          </p:nvSpPr>
          <p:spPr bwMode="auto">
            <a:xfrm>
              <a:off x="5142" y="2790"/>
              <a:ext cx="73" cy="40"/>
            </a:xfrm>
            <a:custGeom>
              <a:avLst/>
              <a:gdLst/>
              <a:ahLst/>
              <a:cxnLst>
                <a:cxn ang="0">
                  <a:pos x="66" y="1"/>
                </a:cxn>
                <a:cxn ang="0">
                  <a:pos x="61" y="13"/>
                </a:cxn>
                <a:cxn ang="0">
                  <a:pos x="57" y="15"/>
                </a:cxn>
                <a:cxn ang="0">
                  <a:pos x="58" y="21"/>
                </a:cxn>
                <a:cxn ang="0">
                  <a:pos x="48" y="26"/>
                </a:cxn>
                <a:cxn ang="0">
                  <a:pos x="26" y="36"/>
                </a:cxn>
                <a:cxn ang="0">
                  <a:pos x="13" y="32"/>
                </a:cxn>
                <a:cxn ang="0">
                  <a:pos x="3" y="27"/>
                </a:cxn>
                <a:cxn ang="0">
                  <a:pos x="0" y="21"/>
                </a:cxn>
                <a:cxn ang="0">
                  <a:pos x="21" y="23"/>
                </a:cxn>
                <a:cxn ang="0">
                  <a:pos x="27" y="13"/>
                </a:cxn>
                <a:cxn ang="0">
                  <a:pos x="27" y="19"/>
                </a:cxn>
                <a:cxn ang="0">
                  <a:pos x="36" y="23"/>
                </a:cxn>
                <a:cxn ang="0">
                  <a:pos x="51" y="12"/>
                </a:cxn>
                <a:cxn ang="0">
                  <a:pos x="51" y="1"/>
                </a:cxn>
                <a:cxn ang="0">
                  <a:pos x="60" y="0"/>
                </a:cxn>
                <a:cxn ang="0">
                  <a:pos x="66" y="1"/>
                </a:cxn>
              </a:cxnLst>
              <a:rect l="0" t="0" r="r" b="b"/>
              <a:pathLst>
                <a:path w="66" h="36">
                  <a:moveTo>
                    <a:pt x="66" y="1"/>
                  </a:moveTo>
                  <a:lnTo>
                    <a:pt x="61" y="13"/>
                  </a:lnTo>
                  <a:lnTo>
                    <a:pt x="57" y="15"/>
                  </a:lnTo>
                  <a:lnTo>
                    <a:pt x="58" y="21"/>
                  </a:lnTo>
                  <a:lnTo>
                    <a:pt x="48" y="26"/>
                  </a:lnTo>
                  <a:lnTo>
                    <a:pt x="26" y="36"/>
                  </a:lnTo>
                  <a:lnTo>
                    <a:pt x="13" y="32"/>
                  </a:lnTo>
                  <a:lnTo>
                    <a:pt x="3" y="27"/>
                  </a:lnTo>
                  <a:lnTo>
                    <a:pt x="0" y="21"/>
                  </a:lnTo>
                  <a:lnTo>
                    <a:pt x="21" y="23"/>
                  </a:lnTo>
                  <a:lnTo>
                    <a:pt x="27" y="13"/>
                  </a:lnTo>
                  <a:lnTo>
                    <a:pt x="27" y="19"/>
                  </a:lnTo>
                  <a:lnTo>
                    <a:pt x="36" y="23"/>
                  </a:lnTo>
                  <a:lnTo>
                    <a:pt x="51" y="12"/>
                  </a:lnTo>
                  <a:lnTo>
                    <a:pt x="51" y="1"/>
                  </a:lnTo>
                  <a:lnTo>
                    <a:pt x="60" y="0"/>
                  </a:lnTo>
                  <a:lnTo>
                    <a:pt x="6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 name="Freeform 37"/>
            <p:cNvSpPr>
              <a:spLocks/>
            </p:cNvSpPr>
            <p:nvPr/>
          </p:nvSpPr>
          <p:spPr bwMode="auto">
            <a:xfrm>
              <a:off x="5253" y="2814"/>
              <a:ext cx="20" cy="29"/>
            </a:xfrm>
            <a:custGeom>
              <a:avLst/>
              <a:gdLst/>
              <a:ahLst/>
              <a:cxnLst>
                <a:cxn ang="0">
                  <a:pos x="18" y="24"/>
                </a:cxn>
                <a:cxn ang="0">
                  <a:pos x="14" y="27"/>
                </a:cxn>
                <a:cxn ang="0">
                  <a:pos x="4" y="15"/>
                </a:cxn>
                <a:cxn ang="0">
                  <a:pos x="0" y="0"/>
                </a:cxn>
                <a:cxn ang="0">
                  <a:pos x="10" y="12"/>
                </a:cxn>
                <a:cxn ang="0">
                  <a:pos x="18" y="24"/>
                </a:cxn>
              </a:cxnLst>
              <a:rect l="0" t="0" r="r" b="b"/>
              <a:pathLst>
                <a:path w="18" h="27">
                  <a:moveTo>
                    <a:pt x="18" y="24"/>
                  </a:moveTo>
                  <a:lnTo>
                    <a:pt x="14" y="27"/>
                  </a:lnTo>
                  <a:lnTo>
                    <a:pt x="4" y="15"/>
                  </a:lnTo>
                  <a:lnTo>
                    <a:pt x="0" y="0"/>
                  </a:lnTo>
                  <a:lnTo>
                    <a:pt x="10" y="12"/>
                  </a:lnTo>
                  <a:lnTo>
                    <a:pt x="18"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 name="Freeform 38"/>
            <p:cNvSpPr>
              <a:spLocks/>
            </p:cNvSpPr>
            <p:nvPr/>
          </p:nvSpPr>
          <p:spPr bwMode="auto">
            <a:xfrm>
              <a:off x="5189" y="2759"/>
              <a:ext cx="37" cy="42"/>
            </a:xfrm>
            <a:custGeom>
              <a:avLst/>
              <a:gdLst/>
              <a:ahLst/>
              <a:cxnLst>
                <a:cxn ang="0">
                  <a:pos x="33" y="31"/>
                </a:cxn>
                <a:cxn ang="0">
                  <a:pos x="29" y="37"/>
                </a:cxn>
                <a:cxn ang="0">
                  <a:pos x="18" y="16"/>
                </a:cxn>
                <a:cxn ang="0">
                  <a:pos x="9" y="8"/>
                </a:cxn>
                <a:cxn ang="0">
                  <a:pos x="0" y="1"/>
                </a:cxn>
                <a:cxn ang="0">
                  <a:pos x="0" y="0"/>
                </a:cxn>
                <a:cxn ang="0">
                  <a:pos x="12" y="10"/>
                </a:cxn>
                <a:cxn ang="0">
                  <a:pos x="25" y="19"/>
                </a:cxn>
                <a:cxn ang="0">
                  <a:pos x="33" y="31"/>
                </a:cxn>
              </a:cxnLst>
              <a:rect l="0" t="0" r="r" b="b"/>
              <a:pathLst>
                <a:path w="33" h="37">
                  <a:moveTo>
                    <a:pt x="33" y="31"/>
                  </a:moveTo>
                  <a:lnTo>
                    <a:pt x="29" y="37"/>
                  </a:lnTo>
                  <a:lnTo>
                    <a:pt x="18" y="16"/>
                  </a:lnTo>
                  <a:lnTo>
                    <a:pt x="9" y="8"/>
                  </a:lnTo>
                  <a:lnTo>
                    <a:pt x="0" y="1"/>
                  </a:lnTo>
                  <a:lnTo>
                    <a:pt x="0" y="0"/>
                  </a:lnTo>
                  <a:lnTo>
                    <a:pt x="12" y="10"/>
                  </a:lnTo>
                  <a:lnTo>
                    <a:pt x="25" y="19"/>
                  </a:lnTo>
                  <a:lnTo>
                    <a:pt x="33" y="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 name="Freeform 39"/>
            <p:cNvSpPr>
              <a:spLocks/>
            </p:cNvSpPr>
            <p:nvPr/>
          </p:nvSpPr>
          <p:spPr bwMode="auto">
            <a:xfrm>
              <a:off x="5180" y="2901"/>
              <a:ext cx="6" cy="6"/>
            </a:xfrm>
            <a:custGeom>
              <a:avLst/>
              <a:gdLst/>
              <a:ahLst/>
              <a:cxnLst>
                <a:cxn ang="0">
                  <a:pos x="6" y="3"/>
                </a:cxn>
                <a:cxn ang="0">
                  <a:pos x="3" y="5"/>
                </a:cxn>
                <a:cxn ang="0">
                  <a:pos x="0" y="0"/>
                </a:cxn>
                <a:cxn ang="0">
                  <a:pos x="6" y="3"/>
                </a:cxn>
              </a:cxnLst>
              <a:rect l="0" t="0" r="r" b="b"/>
              <a:pathLst>
                <a:path w="6" h="5">
                  <a:moveTo>
                    <a:pt x="6" y="3"/>
                  </a:moveTo>
                  <a:lnTo>
                    <a:pt x="3" y="5"/>
                  </a:lnTo>
                  <a:lnTo>
                    <a:pt x="0" y="0"/>
                  </a:lnTo>
                  <a:lnTo>
                    <a:pt x="6"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 name="Freeform 40"/>
            <p:cNvSpPr>
              <a:spLocks/>
            </p:cNvSpPr>
            <p:nvPr/>
          </p:nvSpPr>
          <p:spPr bwMode="auto">
            <a:xfrm>
              <a:off x="4042" y="2176"/>
              <a:ext cx="87" cy="111"/>
            </a:xfrm>
            <a:custGeom>
              <a:avLst/>
              <a:gdLst/>
              <a:ahLst/>
              <a:cxnLst>
                <a:cxn ang="0">
                  <a:pos x="28" y="84"/>
                </a:cxn>
                <a:cxn ang="0">
                  <a:pos x="27" y="85"/>
                </a:cxn>
                <a:cxn ang="0">
                  <a:pos x="24" y="80"/>
                </a:cxn>
                <a:cxn ang="0">
                  <a:pos x="24" y="82"/>
                </a:cxn>
                <a:cxn ang="0">
                  <a:pos x="19" y="68"/>
                </a:cxn>
                <a:cxn ang="0">
                  <a:pos x="14" y="55"/>
                </a:cxn>
                <a:cxn ang="0">
                  <a:pos x="13" y="44"/>
                </a:cxn>
                <a:cxn ang="0">
                  <a:pos x="1" y="34"/>
                </a:cxn>
                <a:cxn ang="0">
                  <a:pos x="6" y="27"/>
                </a:cxn>
                <a:cxn ang="0">
                  <a:pos x="12" y="24"/>
                </a:cxn>
                <a:cxn ang="0">
                  <a:pos x="0" y="13"/>
                </a:cxn>
                <a:cxn ang="0">
                  <a:pos x="0" y="0"/>
                </a:cxn>
                <a:cxn ang="0">
                  <a:pos x="10" y="3"/>
                </a:cxn>
                <a:cxn ang="0">
                  <a:pos x="15" y="9"/>
                </a:cxn>
                <a:cxn ang="0">
                  <a:pos x="19" y="6"/>
                </a:cxn>
                <a:cxn ang="0">
                  <a:pos x="25" y="20"/>
                </a:cxn>
                <a:cxn ang="0">
                  <a:pos x="42" y="22"/>
                </a:cxn>
                <a:cxn ang="0">
                  <a:pos x="58" y="24"/>
                </a:cxn>
                <a:cxn ang="0">
                  <a:pos x="67" y="30"/>
                </a:cxn>
                <a:cxn ang="0">
                  <a:pos x="64" y="37"/>
                </a:cxn>
                <a:cxn ang="0">
                  <a:pos x="52" y="45"/>
                </a:cxn>
                <a:cxn ang="0">
                  <a:pos x="56" y="60"/>
                </a:cxn>
                <a:cxn ang="0">
                  <a:pos x="58" y="63"/>
                </a:cxn>
                <a:cxn ang="0">
                  <a:pos x="66" y="50"/>
                </a:cxn>
                <a:cxn ang="0">
                  <a:pos x="72" y="66"/>
                </a:cxn>
                <a:cxn ang="0">
                  <a:pos x="78" y="81"/>
                </a:cxn>
                <a:cxn ang="0">
                  <a:pos x="79" y="92"/>
                </a:cxn>
                <a:cxn ang="0">
                  <a:pos x="74" y="96"/>
                </a:cxn>
                <a:cxn ang="0">
                  <a:pos x="76" y="100"/>
                </a:cxn>
                <a:cxn ang="0">
                  <a:pos x="67" y="84"/>
                </a:cxn>
                <a:cxn ang="0">
                  <a:pos x="58" y="67"/>
                </a:cxn>
                <a:cxn ang="0">
                  <a:pos x="48" y="66"/>
                </a:cxn>
                <a:cxn ang="0">
                  <a:pos x="43" y="55"/>
                </a:cxn>
                <a:cxn ang="0">
                  <a:pos x="27" y="45"/>
                </a:cxn>
                <a:cxn ang="0">
                  <a:pos x="22" y="46"/>
                </a:cxn>
                <a:cxn ang="0">
                  <a:pos x="39" y="56"/>
                </a:cxn>
                <a:cxn ang="0">
                  <a:pos x="44" y="67"/>
                </a:cxn>
                <a:cxn ang="0">
                  <a:pos x="45" y="70"/>
                </a:cxn>
                <a:cxn ang="0">
                  <a:pos x="42" y="85"/>
                </a:cxn>
                <a:cxn ang="0">
                  <a:pos x="38" y="80"/>
                </a:cxn>
                <a:cxn ang="0">
                  <a:pos x="36" y="80"/>
                </a:cxn>
                <a:cxn ang="0">
                  <a:pos x="32" y="84"/>
                </a:cxn>
                <a:cxn ang="0">
                  <a:pos x="28" y="84"/>
                </a:cxn>
              </a:cxnLst>
              <a:rect l="0" t="0" r="r" b="b"/>
              <a:pathLst>
                <a:path w="79" h="100">
                  <a:moveTo>
                    <a:pt x="28" y="84"/>
                  </a:moveTo>
                  <a:lnTo>
                    <a:pt x="27" y="85"/>
                  </a:lnTo>
                  <a:lnTo>
                    <a:pt x="24" y="80"/>
                  </a:lnTo>
                  <a:lnTo>
                    <a:pt x="24" y="82"/>
                  </a:lnTo>
                  <a:lnTo>
                    <a:pt x="19" y="68"/>
                  </a:lnTo>
                  <a:lnTo>
                    <a:pt x="14" y="55"/>
                  </a:lnTo>
                  <a:lnTo>
                    <a:pt x="13" y="44"/>
                  </a:lnTo>
                  <a:lnTo>
                    <a:pt x="1" y="34"/>
                  </a:lnTo>
                  <a:lnTo>
                    <a:pt x="6" y="27"/>
                  </a:lnTo>
                  <a:lnTo>
                    <a:pt x="12" y="24"/>
                  </a:lnTo>
                  <a:lnTo>
                    <a:pt x="0" y="13"/>
                  </a:lnTo>
                  <a:lnTo>
                    <a:pt x="0" y="0"/>
                  </a:lnTo>
                  <a:lnTo>
                    <a:pt x="10" y="3"/>
                  </a:lnTo>
                  <a:lnTo>
                    <a:pt x="15" y="9"/>
                  </a:lnTo>
                  <a:lnTo>
                    <a:pt x="19" y="6"/>
                  </a:lnTo>
                  <a:lnTo>
                    <a:pt x="25" y="20"/>
                  </a:lnTo>
                  <a:lnTo>
                    <a:pt x="42" y="22"/>
                  </a:lnTo>
                  <a:lnTo>
                    <a:pt x="58" y="24"/>
                  </a:lnTo>
                  <a:lnTo>
                    <a:pt x="67" y="30"/>
                  </a:lnTo>
                  <a:lnTo>
                    <a:pt x="64" y="37"/>
                  </a:lnTo>
                  <a:lnTo>
                    <a:pt x="52" y="45"/>
                  </a:lnTo>
                  <a:lnTo>
                    <a:pt x="56" y="60"/>
                  </a:lnTo>
                  <a:lnTo>
                    <a:pt x="58" y="63"/>
                  </a:lnTo>
                  <a:lnTo>
                    <a:pt x="66" y="50"/>
                  </a:lnTo>
                  <a:lnTo>
                    <a:pt x="72" y="66"/>
                  </a:lnTo>
                  <a:lnTo>
                    <a:pt x="78" y="81"/>
                  </a:lnTo>
                  <a:lnTo>
                    <a:pt x="79" y="92"/>
                  </a:lnTo>
                  <a:lnTo>
                    <a:pt x="74" y="96"/>
                  </a:lnTo>
                  <a:lnTo>
                    <a:pt x="76" y="100"/>
                  </a:lnTo>
                  <a:lnTo>
                    <a:pt x="67" y="84"/>
                  </a:lnTo>
                  <a:lnTo>
                    <a:pt x="58" y="67"/>
                  </a:lnTo>
                  <a:lnTo>
                    <a:pt x="48" y="66"/>
                  </a:lnTo>
                  <a:lnTo>
                    <a:pt x="43" y="55"/>
                  </a:lnTo>
                  <a:lnTo>
                    <a:pt x="27" y="45"/>
                  </a:lnTo>
                  <a:lnTo>
                    <a:pt x="22" y="46"/>
                  </a:lnTo>
                  <a:lnTo>
                    <a:pt x="39" y="56"/>
                  </a:lnTo>
                  <a:lnTo>
                    <a:pt x="44" y="67"/>
                  </a:lnTo>
                  <a:lnTo>
                    <a:pt x="45" y="70"/>
                  </a:lnTo>
                  <a:lnTo>
                    <a:pt x="42" y="85"/>
                  </a:lnTo>
                  <a:lnTo>
                    <a:pt x="38" y="80"/>
                  </a:lnTo>
                  <a:lnTo>
                    <a:pt x="36" y="80"/>
                  </a:lnTo>
                  <a:lnTo>
                    <a:pt x="32" y="84"/>
                  </a:lnTo>
                  <a:lnTo>
                    <a:pt x="28" y="8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 name="Freeform 41"/>
            <p:cNvSpPr>
              <a:spLocks/>
            </p:cNvSpPr>
            <p:nvPr/>
          </p:nvSpPr>
          <p:spPr bwMode="auto">
            <a:xfrm>
              <a:off x="4046" y="2143"/>
              <a:ext cx="56" cy="27"/>
            </a:xfrm>
            <a:custGeom>
              <a:avLst/>
              <a:gdLst/>
              <a:ahLst/>
              <a:cxnLst>
                <a:cxn ang="0">
                  <a:pos x="33" y="2"/>
                </a:cxn>
                <a:cxn ang="0">
                  <a:pos x="11" y="0"/>
                </a:cxn>
                <a:cxn ang="0">
                  <a:pos x="0" y="15"/>
                </a:cxn>
                <a:cxn ang="0">
                  <a:pos x="3" y="22"/>
                </a:cxn>
                <a:cxn ang="0">
                  <a:pos x="22" y="25"/>
                </a:cxn>
                <a:cxn ang="0">
                  <a:pos x="36" y="24"/>
                </a:cxn>
                <a:cxn ang="0">
                  <a:pos x="51" y="22"/>
                </a:cxn>
                <a:cxn ang="0">
                  <a:pos x="45" y="13"/>
                </a:cxn>
                <a:cxn ang="0">
                  <a:pos x="40" y="7"/>
                </a:cxn>
                <a:cxn ang="0">
                  <a:pos x="33" y="2"/>
                </a:cxn>
              </a:cxnLst>
              <a:rect l="0" t="0" r="r" b="b"/>
              <a:pathLst>
                <a:path w="51" h="25">
                  <a:moveTo>
                    <a:pt x="33" y="2"/>
                  </a:moveTo>
                  <a:lnTo>
                    <a:pt x="11" y="0"/>
                  </a:lnTo>
                  <a:lnTo>
                    <a:pt x="0" y="15"/>
                  </a:lnTo>
                  <a:lnTo>
                    <a:pt x="3" y="22"/>
                  </a:lnTo>
                  <a:lnTo>
                    <a:pt x="22" y="25"/>
                  </a:lnTo>
                  <a:lnTo>
                    <a:pt x="36" y="24"/>
                  </a:lnTo>
                  <a:lnTo>
                    <a:pt x="51" y="22"/>
                  </a:lnTo>
                  <a:lnTo>
                    <a:pt x="45" y="13"/>
                  </a:lnTo>
                  <a:lnTo>
                    <a:pt x="40" y="7"/>
                  </a:lnTo>
                  <a:lnTo>
                    <a:pt x="3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 name="Freeform 42"/>
            <p:cNvSpPr>
              <a:spLocks/>
            </p:cNvSpPr>
            <p:nvPr/>
          </p:nvSpPr>
          <p:spPr bwMode="auto">
            <a:xfrm>
              <a:off x="4320" y="2412"/>
              <a:ext cx="93" cy="84"/>
            </a:xfrm>
            <a:custGeom>
              <a:avLst/>
              <a:gdLst/>
              <a:ahLst/>
              <a:cxnLst>
                <a:cxn ang="0">
                  <a:pos x="59" y="56"/>
                </a:cxn>
                <a:cxn ang="0">
                  <a:pos x="64" y="70"/>
                </a:cxn>
                <a:cxn ang="0">
                  <a:pos x="52" y="68"/>
                </a:cxn>
                <a:cxn ang="0">
                  <a:pos x="48" y="71"/>
                </a:cxn>
                <a:cxn ang="0">
                  <a:pos x="39" y="77"/>
                </a:cxn>
                <a:cxn ang="0">
                  <a:pos x="29" y="74"/>
                </a:cxn>
                <a:cxn ang="0">
                  <a:pos x="24" y="72"/>
                </a:cxn>
                <a:cxn ang="0">
                  <a:pos x="22" y="64"/>
                </a:cxn>
                <a:cxn ang="0">
                  <a:pos x="17" y="68"/>
                </a:cxn>
                <a:cxn ang="0">
                  <a:pos x="14" y="56"/>
                </a:cxn>
                <a:cxn ang="0">
                  <a:pos x="12" y="55"/>
                </a:cxn>
                <a:cxn ang="0">
                  <a:pos x="6" y="41"/>
                </a:cxn>
                <a:cxn ang="0">
                  <a:pos x="0" y="25"/>
                </a:cxn>
                <a:cxn ang="0">
                  <a:pos x="11" y="7"/>
                </a:cxn>
                <a:cxn ang="0">
                  <a:pos x="27" y="7"/>
                </a:cxn>
                <a:cxn ang="0">
                  <a:pos x="44" y="6"/>
                </a:cxn>
                <a:cxn ang="0">
                  <a:pos x="57" y="13"/>
                </a:cxn>
                <a:cxn ang="0">
                  <a:pos x="57" y="8"/>
                </a:cxn>
                <a:cxn ang="0">
                  <a:pos x="63" y="4"/>
                </a:cxn>
                <a:cxn ang="0">
                  <a:pos x="69" y="6"/>
                </a:cxn>
                <a:cxn ang="0">
                  <a:pos x="80" y="0"/>
                </a:cxn>
                <a:cxn ang="0">
                  <a:pos x="81" y="16"/>
                </a:cxn>
                <a:cxn ang="0">
                  <a:pos x="82" y="30"/>
                </a:cxn>
                <a:cxn ang="0">
                  <a:pos x="83" y="44"/>
                </a:cxn>
                <a:cxn ang="0">
                  <a:pos x="68" y="52"/>
                </a:cxn>
                <a:cxn ang="0">
                  <a:pos x="59" y="56"/>
                </a:cxn>
              </a:cxnLst>
              <a:rect l="0" t="0" r="r" b="b"/>
              <a:pathLst>
                <a:path w="83" h="77">
                  <a:moveTo>
                    <a:pt x="59" y="56"/>
                  </a:moveTo>
                  <a:lnTo>
                    <a:pt x="64" y="70"/>
                  </a:lnTo>
                  <a:lnTo>
                    <a:pt x="52" y="68"/>
                  </a:lnTo>
                  <a:lnTo>
                    <a:pt x="48" y="71"/>
                  </a:lnTo>
                  <a:lnTo>
                    <a:pt x="39" y="77"/>
                  </a:lnTo>
                  <a:lnTo>
                    <a:pt x="29" y="74"/>
                  </a:lnTo>
                  <a:lnTo>
                    <a:pt x="24" y="72"/>
                  </a:lnTo>
                  <a:lnTo>
                    <a:pt x="22" y="64"/>
                  </a:lnTo>
                  <a:lnTo>
                    <a:pt x="17" y="68"/>
                  </a:lnTo>
                  <a:lnTo>
                    <a:pt x="14" y="56"/>
                  </a:lnTo>
                  <a:lnTo>
                    <a:pt x="12" y="55"/>
                  </a:lnTo>
                  <a:lnTo>
                    <a:pt x="6" y="41"/>
                  </a:lnTo>
                  <a:lnTo>
                    <a:pt x="0" y="25"/>
                  </a:lnTo>
                  <a:lnTo>
                    <a:pt x="11" y="7"/>
                  </a:lnTo>
                  <a:lnTo>
                    <a:pt x="27" y="7"/>
                  </a:lnTo>
                  <a:lnTo>
                    <a:pt x="44" y="6"/>
                  </a:lnTo>
                  <a:lnTo>
                    <a:pt x="57" y="13"/>
                  </a:lnTo>
                  <a:lnTo>
                    <a:pt x="57" y="8"/>
                  </a:lnTo>
                  <a:lnTo>
                    <a:pt x="63" y="4"/>
                  </a:lnTo>
                  <a:lnTo>
                    <a:pt x="69" y="6"/>
                  </a:lnTo>
                  <a:lnTo>
                    <a:pt x="80" y="0"/>
                  </a:lnTo>
                  <a:lnTo>
                    <a:pt x="81" y="16"/>
                  </a:lnTo>
                  <a:lnTo>
                    <a:pt x="82" y="30"/>
                  </a:lnTo>
                  <a:lnTo>
                    <a:pt x="83" y="44"/>
                  </a:lnTo>
                  <a:lnTo>
                    <a:pt x="68" y="52"/>
                  </a:lnTo>
                  <a:lnTo>
                    <a:pt x="59"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 name="Freeform 43"/>
            <p:cNvSpPr>
              <a:spLocks/>
            </p:cNvSpPr>
            <p:nvPr/>
          </p:nvSpPr>
          <p:spPr bwMode="auto">
            <a:xfrm>
              <a:off x="4493" y="2261"/>
              <a:ext cx="5" cy="2"/>
            </a:xfrm>
            <a:custGeom>
              <a:avLst/>
              <a:gdLst/>
              <a:ahLst/>
              <a:cxnLst>
                <a:cxn ang="0">
                  <a:pos x="4" y="0"/>
                </a:cxn>
                <a:cxn ang="0">
                  <a:pos x="3" y="1"/>
                </a:cxn>
                <a:cxn ang="0">
                  <a:pos x="0" y="1"/>
                </a:cxn>
                <a:cxn ang="0">
                  <a:pos x="4" y="0"/>
                </a:cxn>
              </a:cxnLst>
              <a:rect l="0" t="0" r="r" b="b"/>
              <a:pathLst>
                <a:path w="4" h="1">
                  <a:moveTo>
                    <a:pt x="4" y="0"/>
                  </a:moveTo>
                  <a:lnTo>
                    <a:pt x="3" y="1"/>
                  </a:lnTo>
                  <a:lnTo>
                    <a:pt x="0" y="1"/>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5" name="Freeform 44"/>
            <p:cNvSpPr>
              <a:spLocks/>
            </p:cNvSpPr>
            <p:nvPr/>
          </p:nvSpPr>
          <p:spPr bwMode="auto">
            <a:xfrm>
              <a:off x="4262" y="2259"/>
              <a:ext cx="147" cy="168"/>
            </a:xfrm>
            <a:custGeom>
              <a:avLst/>
              <a:gdLst/>
              <a:ahLst/>
              <a:cxnLst>
                <a:cxn ang="0">
                  <a:pos x="74" y="38"/>
                </a:cxn>
                <a:cxn ang="0">
                  <a:pos x="69" y="34"/>
                </a:cxn>
                <a:cxn ang="0">
                  <a:pos x="60" y="25"/>
                </a:cxn>
                <a:cxn ang="0">
                  <a:pos x="53" y="29"/>
                </a:cxn>
                <a:cxn ang="0">
                  <a:pos x="41" y="19"/>
                </a:cxn>
                <a:cxn ang="0">
                  <a:pos x="38" y="12"/>
                </a:cxn>
                <a:cxn ang="0">
                  <a:pos x="26" y="0"/>
                </a:cxn>
                <a:cxn ang="0">
                  <a:pos x="18" y="0"/>
                </a:cxn>
                <a:cxn ang="0">
                  <a:pos x="21" y="22"/>
                </a:cxn>
                <a:cxn ang="0">
                  <a:pos x="15" y="18"/>
                </a:cxn>
                <a:cxn ang="0">
                  <a:pos x="13" y="14"/>
                </a:cxn>
                <a:cxn ang="0">
                  <a:pos x="6" y="28"/>
                </a:cxn>
                <a:cxn ang="0">
                  <a:pos x="0" y="36"/>
                </a:cxn>
                <a:cxn ang="0">
                  <a:pos x="6" y="38"/>
                </a:cxn>
                <a:cxn ang="0">
                  <a:pos x="7" y="49"/>
                </a:cxn>
                <a:cxn ang="0">
                  <a:pos x="19" y="50"/>
                </a:cxn>
                <a:cxn ang="0">
                  <a:pos x="20" y="68"/>
                </a:cxn>
                <a:cxn ang="0">
                  <a:pos x="21" y="86"/>
                </a:cxn>
                <a:cxn ang="0">
                  <a:pos x="36" y="76"/>
                </a:cxn>
                <a:cxn ang="0">
                  <a:pos x="45" y="79"/>
                </a:cxn>
                <a:cxn ang="0">
                  <a:pos x="53" y="77"/>
                </a:cxn>
                <a:cxn ang="0">
                  <a:pos x="60" y="72"/>
                </a:cxn>
                <a:cxn ang="0">
                  <a:pos x="79" y="88"/>
                </a:cxn>
                <a:cxn ang="0">
                  <a:pos x="81" y="101"/>
                </a:cxn>
                <a:cxn ang="0">
                  <a:pos x="96" y="119"/>
                </a:cxn>
                <a:cxn ang="0">
                  <a:pos x="99" y="134"/>
                </a:cxn>
                <a:cxn ang="0">
                  <a:pos x="95" y="144"/>
                </a:cxn>
                <a:cxn ang="0">
                  <a:pos x="108" y="151"/>
                </a:cxn>
                <a:cxn ang="0">
                  <a:pos x="108" y="146"/>
                </a:cxn>
                <a:cxn ang="0">
                  <a:pos x="114" y="142"/>
                </a:cxn>
                <a:cxn ang="0">
                  <a:pos x="120" y="144"/>
                </a:cxn>
                <a:cxn ang="0">
                  <a:pos x="131" y="138"/>
                </a:cxn>
                <a:cxn ang="0">
                  <a:pos x="128" y="124"/>
                </a:cxn>
                <a:cxn ang="0">
                  <a:pos x="123" y="118"/>
                </a:cxn>
                <a:cxn ang="0">
                  <a:pos x="125" y="114"/>
                </a:cxn>
                <a:cxn ang="0">
                  <a:pos x="110" y="102"/>
                </a:cxn>
                <a:cxn ang="0">
                  <a:pos x="103" y="92"/>
                </a:cxn>
                <a:cxn ang="0">
                  <a:pos x="93" y="80"/>
                </a:cxn>
                <a:cxn ang="0">
                  <a:pos x="84" y="68"/>
                </a:cxn>
                <a:cxn ang="0">
                  <a:pos x="63" y="53"/>
                </a:cxn>
                <a:cxn ang="0">
                  <a:pos x="67" y="48"/>
                </a:cxn>
                <a:cxn ang="0">
                  <a:pos x="75" y="46"/>
                </a:cxn>
                <a:cxn ang="0">
                  <a:pos x="74" y="38"/>
                </a:cxn>
              </a:cxnLst>
              <a:rect l="0" t="0" r="r" b="b"/>
              <a:pathLst>
                <a:path w="131" h="151">
                  <a:moveTo>
                    <a:pt x="74" y="38"/>
                  </a:moveTo>
                  <a:lnTo>
                    <a:pt x="69" y="34"/>
                  </a:lnTo>
                  <a:lnTo>
                    <a:pt x="60" y="25"/>
                  </a:lnTo>
                  <a:lnTo>
                    <a:pt x="53" y="29"/>
                  </a:lnTo>
                  <a:lnTo>
                    <a:pt x="41" y="19"/>
                  </a:lnTo>
                  <a:lnTo>
                    <a:pt x="38" y="12"/>
                  </a:lnTo>
                  <a:lnTo>
                    <a:pt x="26" y="0"/>
                  </a:lnTo>
                  <a:lnTo>
                    <a:pt x="18" y="0"/>
                  </a:lnTo>
                  <a:lnTo>
                    <a:pt x="21" y="22"/>
                  </a:lnTo>
                  <a:lnTo>
                    <a:pt x="15" y="18"/>
                  </a:lnTo>
                  <a:lnTo>
                    <a:pt x="13" y="14"/>
                  </a:lnTo>
                  <a:lnTo>
                    <a:pt x="6" y="28"/>
                  </a:lnTo>
                  <a:lnTo>
                    <a:pt x="0" y="36"/>
                  </a:lnTo>
                  <a:lnTo>
                    <a:pt x="6" y="38"/>
                  </a:lnTo>
                  <a:lnTo>
                    <a:pt x="7" y="49"/>
                  </a:lnTo>
                  <a:lnTo>
                    <a:pt x="19" y="50"/>
                  </a:lnTo>
                  <a:lnTo>
                    <a:pt x="20" y="68"/>
                  </a:lnTo>
                  <a:lnTo>
                    <a:pt x="21" y="86"/>
                  </a:lnTo>
                  <a:lnTo>
                    <a:pt x="36" y="76"/>
                  </a:lnTo>
                  <a:lnTo>
                    <a:pt x="45" y="79"/>
                  </a:lnTo>
                  <a:lnTo>
                    <a:pt x="53" y="77"/>
                  </a:lnTo>
                  <a:lnTo>
                    <a:pt x="60" y="72"/>
                  </a:lnTo>
                  <a:lnTo>
                    <a:pt x="79" y="88"/>
                  </a:lnTo>
                  <a:lnTo>
                    <a:pt x="81" y="101"/>
                  </a:lnTo>
                  <a:lnTo>
                    <a:pt x="96" y="119"/>
                  </a:lnTo>
                  <a:lnTo>
                    <a:pt x="99" y="134"/>
                  </a:lnTo>
                  <a:lnTo>
                    <a:pt x="95" y="144"/>
                  </a:lnTo>
                  <a:lnTo>
                    <a:pt x="108" y="151"/>
                  </a:lnTo>
                  <a:lnTo>
                    <a:pt x="108" y="146"/>
                  </a:lnTo>
                  <a:lnTo>
                    <a:pt x="114" y="142"/>
                  </a:lnTo>
                  <a:lnTo>
                    <a:pt x="120" y="144"/>
                  </a:lnTo>
                  <a:lnTo>
                    <a:pt x="131" y="138"/>
                  </a:lnTo>
                  <a:lnTo>
                    <a:pt x="128" y="124"/>
                  </a:lnTo>
                  <a:lnTo>
                    <a:pt x="123" y="118"/>
                  </a:lnTo>
                  <a:lnTo>
                    <a:pt x="125" y="114"/>
                  </a:lnTo>
                  <a:lnTo>
                    <a:pt x="110" y="102"/>
                  </a:lnTo>
                  <a:lnTo>
                    <a:pt x="103" y="92"/>
                  </a:lnTo>
                  <a:lnTo>
                    <a:pt x="93" y="80"/>
                  </a:lnTo>
                  <a:lnTo>
                    <a:pt x="84" y="68"/>
                  </a:lnTo>
                  <a:lnTo>
                    <a:pt x="63" y="53"/>
                  </a:lnTo>
                  <a:lnTo>
                    <a:pt x="67" y="48"/>
                  </a:lnTo>
                  <a:lnTo>
                    <a:pt x="75" y="46"/>
                  </a:lnTo>
                  <a:lnTo>
                    <a:pt x="74"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6" name="Freeform 45"/>
            <p:cNvSpPr>
              <a:spLocks/>
            </p:cNvSpPr>
            <p:nvPr/>
          </p:nvSpPr>
          <p:spPr bwMode="auto">
            <a:xfrm>
              <a:off x="4124" y="2136"/>
              <a:ext cx="154" cy="367"/>
            </a:xfrm>
            <a:custGeom>
              <a:avLst/>
              <a:gdLst/>
              <a:ahLst/>
              <a:cxnLst>
                <a:cxn ang="0">
                  <a:pos x="76" y="81"/>
                </a:cxn>
                <a:cxn ang="0">
                  <a:pos x="74" y="66"/>
                </a:cxn>
                <a:cxn ang="0">
                  <a:pos x="84" y="45"/>
                </a:cxn>
                <a:cxn ang="0">
                  <a:pos x="78" y="16"/>
                </a:cxn>
                <a:cxn ang="0">
                  <a:pos x="58" y="0"/>
                </a:cxn>
                <a:cxn ang="0">
                  <a:pos x="54" y="14"/>
                </a:cxn>
                <a:cxn ang="0">
                  <a:pos x="55" y="25"/>
                </a:cxn>
                <a:cxn ang="0">
                  <a:pos x="29" y="38"/>
                </a:cxn>
                <a:cxn ang="0">
                  <a:pos x="28" y="61"/>
                </a:cxn>
                <a:cxn ang="0">
                  <a:pos x="11" y="82"/>
                </a:cxn>
                <a:cxn ang="0">
                  <a:pos x="10" y="117"/>
                </a:cxn>
                <a:cxn ang="0">
                  <a:pos x="4" y="117"/>
                </a:cxn>
                <a:cxn ang="0">
                  <a:pos x="0" y="132"/>
                </a:cxn>
                <a:cxn ang="0">
                  <a:pos x="11" y="148"/>
                </a:cxn>
                <a:cxn ang="0">
                  <a:pos x="18" y="156"/>
                </a:cxn>
                <a:cxn ang="0">
                  <a:pos x="26" y="156"/>
                </a:cxn>
                <a:cxn ang="0">
                  <a:pos x="26" y="165"/>
                </a:cxn>
                <a:cxn ang="0">
                  <a:pos x="34" y="165"/>
                </a:cxn>
                <a:cxn ang="0">
                  <a:pos x="44" y="194"/>
                </a:cxn>
                <a:cxn ang="0">
                  <a:pos x="43" y="224"/>
                </a:cxn>
                <a:cxn ang="0">
                  <a:pos x="52" y="225"/>
                </a:cxn>
                <a:cxn ang="0">
                  <a:pos x="58" y="226"/>
                </a:cxn>
                <a:cxn ang="0">
                  <a:pos x="61" y="228"/>
                </a:cxn>
                <a:cxn ang="0">
                  <a:pos x="74" y="213"/>
                </a:cxn>
                <a:cxn ang="0">
                  <a:pos x="83" y="201"/>
                </a:cxn>
                <a:cxn ang="0">
                  <a:pos x="96" y="216"/>
                </a:cxn>
                <a:cxn ang="0">
                  <a:pos x="109" y="266"/>
                </a:cxn>
                <a:cxn ang="0">
                  <a:pos x="115" y="274"/>
                </a:cxn>
                <a:cxn ang="0">
                  <a:pos x="122" y="301"/>
                </a:cxn>
                <a:cxn ang="0">
                  <a:pos x="121" y="330"/>
                </a:cxn>
                <a:cxn ang="0">
                  <a:pos x="131" y="314"/>
                </a:cxn>
                <a:cxn ang="0">
                  <a:pos x="131" y="285"/>
                </a:cxn>
                <a:cxn ang="0">
                  <a:pos x="119" y="259"/>
                </a:cxn>
                <a:cxn ang="0">
                  <a:pos x="110" y="237"/>
                </a:cxn>
                <a:cxn ang="0">
                  <a:pos x="116" y="219"/>
                </a:cxn>
                <a:cxn ang="0">
                  <a:pos x="100" y="199"/>
                </a:cxn>
                <a:cxn ang="0">
                  <a:pos x="91" y="180"/>
                </a:cxn>
                <a:cxn ang="0">
                  <a:pos x="109" y="157"/>
                </a:cxn>
                <a:cxn ang="0">
                  <a:pos x="125" y="146"/>
                </a:cxn>
                <a:cxn ang="0">
                  <a:pos x="138" y="124"/>
                </a:cxn>
                <a:cxn ang="0">
                  <a:pos x="122" y="126"/>
                </a:cxn>
                <a:cxn ang="0">
                  <a:pos x="106" y="112"/>
                </a:cxn>
                <a:cxn ang="0">
                  <a:pos x="97" y="93"/>
                </a:cxn>
                <a:cxn ang="0">
                  <a:pos x="92" y="79"/>
                </a:cxn>
              </a:cxnLst>
              <a:rect l="0" t="0" r="r" b="b"/>
              <a:pathLst>
                <a:path w="138" h="330">
                  <a:moveTo>
                    <a:pt x="92" y="79"/>
                  </a:moveTo>
                  <a:lnTo>
                    <a:pt x="76" y="81"/>
                  </a:lnTo>
                  <a:lnTo>
                    <a:pt x="76" y="73"/>
                  </a:lnTo>
                  <a:lnTo>
                    <a:pt x="74" y="66"/>
                  </a:lnTo>
                  <a:lnTo>
                    <a:pt x="82" y="54"/>
                  </a:lnTo>
                  <a:lnTo>
                    <a:pt x="84" y="45"/>
                  </a:lnTo>
                  <a:lnTo>
                    <a:pt x="80" y="31"/>
                  </a:lnTo>
                  <a:lnTo>
                    <a:pt x="78" y="16"/>
                  </a:lnTo>
                  <a:lnTo>
                    <a:pt x="71" y="13"/>
                  </a:lnTo>
                  <a:lnTo>
                    <a:pt x="58" y="0"/>
                  </a:lnTo>
                  <a:lnTo>
                    <a:pt x="56" y="6"/>
                  </a:lnTo>
                  <a:lnTo>
                    <a:pt x="54" y="14"/>
                  </a:lnTo>
                  <a:lnTo>
                    <a:pt x="53" y="19"/>
                  </a:lnTo>
                  <a:lnTo>
                    <a:pt x="55" y="25"/>
                  </a:lnTo>
                  <a:lnTo>
                    <a:pt x="43" y="22"/>
                  </a:lnTo>
                  <a:lnTo>
                    <a:pt x="29" y="38"/>
                  </a:lnTo>
                  <a:lnTo>
                    <a:pt x="29" y="52"/>
                  </a:lnTo>
                  <a:lnTo>
                    <a:pt x="28" y="61"/>
                  </a:lnTo>
                  <a:lnTo>
                    <a:pt x="20" y="82"/>
                  </a:lnTo>
                  <a:lnTo>
                    <a:pt x="11" y="82"/>
                  </a:lnTo>
                  <a:lnTo>
                    <a:pt x="11" y="98"/>
                  </a:lnTo>
                  <a:lnTo>
                    <a:pt x="10" y="117"/>
                  </a:lnTo>
                  <a:lnTo>
                    <a:pt x="5" y="116"/>
                  </a:lnTo>
                  <a:lnTo>
                    <a:pt x="4" y="117"/>
                  </a:lnTo>
                  <a:lnTo>
                    <a:pt x="5" y="128"/>
                  </a:lnTo>
                  <a:lnTo>
                    <a:pt x="0" y="132"/>
                  </a:lnTo>
                  <a:lnTo>
                    <a:pt x="11" y="147"/>
                  </a:lnTo>
                  <a:lnTo>
                    <a:pt x="11" y="148"/>
                  </a:lnTo>
                  <a:lnTo>
                    <a:pt x="14" y="145"/>
                  </a:lnTo>
                  <a:lnTo>
                    <a:pt x="18" y="156"/>
                  </a:lnTo>
                  <a:lnTo>
                    <a:pt x="19" y="156"/>
                  </a:lnTo>
                  <a:lnTo>
                    <a:pt x="26" y="156"/>
                  </a:lnTo>
                  <a:lnTo>
                    <a:pt x="31" y="163"/>
                  </a:lnTo>
                  <a:lnTo>
                    <a:pt x="26" y="165"/>
                  </a:lnTo>
                  <a:lnTo>
                    <a:pt x="31" y="172"/>
                  </a:lnTo>
                  <a:lnTo>
                    <a:pt x="34" y="165"/>
                  </a:lnTo>
                  <a:lnTo>
                    <a:pt x="40" y="180"/>
                  </a:lnTo>
                  <a:lnTo>
                    <a:pt x="44" y="194"/>
                  </a:lnTo>
                  <a:lnTo>
                    <a:pt x="44" y="208"/>
                  </a:lnTo>
                  <a:lnTo>
                    <a:pt x="43" y="224"/>
                  </a:lnTo>
                  <a:lnTo>
                    <a:pt x="49" y="216"/>
                  </a:lnTo>
                  <a:lnTo>
                    <a:pt x="52" y="225"/>
                  </a:lnTo>
                  <a:lnTo>
                    <a:pt x="54" y="228"/>
                  </a:lnTo>
                  <a:lnTo>
                    <a:pt x="58" y="226"/>
                  </a:lnTo>
                  <a:lnTo>
                    <a:pt x="61" y="225"/>
                  </a:lnTo>
                  <a:lnTo>
                    <a:pt x="61" y="228"/>
                  </a:lnTo>
                  <a:lnTo>
                    <a:pt x="72" y="218"/>
                  </a:lnTo>
                  <a:lnTo>
                    <a:pt x="74" y="213"/>
                  </a:lnTo>
                  <a:lnTo>
                    <a:pt x="78" y="216"/>
                  </a:lnTo>
                  <a:lnTo>
                    <a:pt x="83" y="201"/>
                  </a:lnTo>
                  <a:lnTo>
                    <a:pt x="89" y="210"/>
                  </a:lnTo>
                  <a:lnTo>
                    <a:pt x="96" y="216"/>
                  </a:lnTo>
                  <a:lnTo>
                    <a:pt x="103" y="241"/>
                  </a:lnTo>
                  <a:lnTo>
                    <a:pt x="109" y="266"/>
                  </a:lnTo>
                  <a:lnTo>
                    <a:pt x="110" y="261"/>
                  </a:lnTo>
                  <a:lnTo>
                    <a:pt x="115" y="274"/>
                  </a:lnTo>
                  <a:lnTo>
                    <a:pt x="120" y="288"/>
                  </a:lnTo>
                  <a:lnTo>
                    <a:pt x="122" y="301"/>
                  </a:lnTo>
                  <a:lnTo>
                    <a:pt x="122" y="316"/>
                  </a:lnTo>
                  <a:lnTo>
                    <a:pt x="121" y="330"/>
                  </a:lnTo>
                  <a:lnTo>
                    <a:pt x="125" y="326"/>
                  </a:lnTo>
                  <a:lnTo>
                    <a:pt x="131" y="314"/>
                  </a:lnTo>
                  <a:lnTo>
                    <a:pt x="136" y="303"/>
                  </a:lnTo>
                  <a:lnTo>
                    <a:pt x="131" y="285"/>
                  </a:lnTo>
                  <a:lnTo>
                    <a:pt x="127" y="270"/>
                  </a:lnTo>
                  <a:lnTo>
                    <a:pt x="119" y="259"/>
                  </a:lnTo>
                  <a:lnTo>
                    <a:pt x="110" y="248"/>
                  </a:lnTo>
                  <a:lnTo>
                    <a:pt x="110" y="237"/>
                  </a:lnTo>
                  <a:lnTo>
                    <a:pt x="113" y="230"/>
                  </a:lnTo>
                  <a:lnTo>
                    <a:pt x="116" y="219"/>
                  </a:lnTo>
                  <a:lnTo>
                    <a:pt x="113" y="218"/>
                  </a:lnTo>
                  <a:lnTo>
                    <a:pt x="100" y="199"/>
                  </a:lnTo>
                  <a:lnTo>
                    <a:pt x="86" y="178"/>
                  </a:lnTo>
                  <a:lnTo>
                    <a:pt x="91" y="180"/>
                  </a:lnTo>
                  <a:lnTo>
                    <a:pt x="95" y="159"/>
                  </a:lnTo>
                  <a:lnTo>
                    <a:pt x="109" y="157"/>
                  </a:lnTo>
                  <a:lnTo>
                    <a:pt x="116" y="148"/>
                  </a:lnTo>
                  <a:lnTo>
                    <a:pt x="125" y="146"/>
                  </a:lnTo>
                  <a:lnTo>
                    <a:pt x="131" y="138"/>
                  </a:lnTo>
                  <a:lnTo>
                    <a:pt x="138" y="124"/>
                  </a:lnTo>
                  <a:lnTo>
                    <a:pt x="133" y="122"/>
                  </a:lnTo>
                  <a:lnTo>
                    <a:pt x="122" y="126"/>
                  </a:lnTo>
                  <a:lnTo>
                    <a:pt x="114" y="116"/>
                  </a:lnTo>
                  <a:lnTo>
                    <a:pt x="106" y="112"/>
                  </a:lnTo>
                  <a:lnTo>
                    <a:pt x="108" y="98"/>
                  </a:lnTo>
                  <a:lnTo>
                    <a:pt x="97" y="93"/>
                  </a:lnTo>
                  <a:lnTo>
                    <a:pt x="94" y="81"/>
                  </a:lnTo>
                  <a:lnTo>
                    <a:pt x="92" y="7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7" name="Freeform 46"/>
            <p:cNvSpPr>
              <a:spLocks/>
            </p:cNvSpPr>
            <p:nvPr/>
          </p:nvSpPr>
          <p:spPr bwMode="auto">
            <a:xfrm>
              <a:off x="4620" y="2334"/>
              <a:ext cx="82" cy="120"/>
            </a:xfrm>
            <a:custGeom>
              <a:avLst/>
              <a:gdLst/>
              <a:ahLst/>
              <a:cxnLst>
                <a:cxn ang="0">
                  <a:pos x="15" y="69"/>
                </a:cxn>
                <a:cxn ang="0">
                  <a:pos x="15" y="76"/>
                </a:cxn>
                <a:cxn ang="0">
                  <a:pos x="4" y="58"/>
                </a:cxn>
                <a:cxn ang="0">
                  <a:pos x="0" y="43"/>
                </a:cxn>
                <a:cxn ang="0">
                  <a:pos x="9" y="45"/>
                </a:cxn>
                <a:cxn ang="0">
                  <a:pos x="6" y="27"/>
                </a:cxn>
                <a:cxn ang="0">
                  <a:pos x="5" y="7"/>
                </a:cxn>
                <a:cxn ang="0">
                  <a:pos x="9" y="0"/>
                </a:cxn>
                <a:cxn ang="0">
                  <a:pos x="29" y="5"/>
                </a:cxn>
                <a:cxn ang="0">
                  <a:pos x="31" y="9"/>
                </a:cxn>
                <a:cxn ang="0">
                  <a:pos x="36" y="23"/>
                </a:cxn>
                <a:cxn ang="0">
                  <a:pos x="39" y="34"/>
                </a:cxn>
                <a:cxn ang="0">
                  <a:pos x="35" y="45"/>
                </a:cxn>
                <a:cxn ang="0">
                  <a:pos x="29" y="52"/>
                </a:cxn>
                <a:cxn ang="0">
                  <a:pos x="29" y="65"/>
                </a:cxn>
                <a:cxn ang="0">
                  <a:pos x="39" y="84"/>
                </a:cxn>
                <a:cxn ang="0">
                  <a:pos x="43" y="83"/>
                </a:cxn>
                <a:cxn ang="0">
                  <a:pos x="45" y="81"/>
                </a:cxn>
                <a:cxn ang="0">
                  <a:pos x="53" y="78"/>
                </a:cxn>
                <a:cxn ang="0">
                  <a:pos x="60" y="88"/>
                </a:cxn>
                <a:cxn ang="0">
                  <a:pos x="61" y="84"/>
                </a:cxn>
                <a:cxn ang="0">
                  <a:pos x="69" y="89"/>
                </a:cxn>
                <a:cxn ang="0">
                  <a:pos x="65" y="91"/>
                </a:cxn>
                <a:cxn ang="0">
                  <a:pos x="72" y="100"/>
                </a:cxn>
                <a:cxn ang="0">
                  <a:pos x="76" y="101"/>
                </a:cxn>
                <a:cxn ang="0">
                  <a:pos x="72" y="108"/>
                </a:cxn>
                <a:cxn ang="0">
                  <a:pos x="72" y="103"/>
                </a:cxn>
                <a:cxn ang="0">
                  <a:pos x="61" y="97"/>
                </a:cxn>
                <a:cxn ang="0">
                  <a:pos x="54" y="89"/>
                </a:cxn>
                <a:cxn ang="0">
                  <a:pos x="48" y="87"/>
                </a:cxn>
                <a:cxn ang="0">
                  <a:pos x="51" y="99"/>
                </a:cxn>
                <a:cxn ang="0">
                  <a:pos x="35" y="85"/>
                </a:cxn>
                <a:cxn ang="0">
                  <a:pos x="25" y="90"/>
                </a:cxn>
                <a:cxn ang="0">
                  <a:pos x="18" y="87"/>
                </a:cxn>
                <a:cxn ang="0">
                  <a:pos x="18" y="78"/>
                </a:cxn>
                <a:cxn ang="0">
                  <a:pos x="21" y="71"/>
                </a:cxn>
                <a:cxn ang="0">
                  <a:pos x="15" y="69"/>
                </a:cxn>
              </a:cxnLst>
              <a:rect l="0" t="0" r="r" b="b"/>
              <a:pathLst>
                <a:path w="76" h="108">
                  <a:moveTo>
                    <a:pt x="15" y="69"/>
                  </a:moveTo>
                  <a:lnTo>
                    <a:pt x="15" y="76"/>
                  </a:lnTo>
                  <a:lnTo>
                    <a:pt x="4" y="58"/>
                  </a:lnTo>
                  <a:lnTo>
                    <a:pt x="0" y="43"/>
                  </a:lnTo>
                  <a:lnTo>
                    <a:pt x="9" y="45"/>
                  </a:lnTo>
                  <a:lnTo>
                    <a:pt x="6" y="27"/>
                  </a:lnTo>
                  <a:lnTo>
                    <a:pt x="5" y="7"/>
                  </a:lnTo>
                  <a:lnTo>
                    <a:pt x="9" y="0"/>
                  </a:lnTo>
                  <a:lnTo>
                    <a:pt x="29" y="5"/>
                  </a:lnTo>
                  <a:lnTo>
                    <a:pt x="31" y="9"/>
                  </a:lnTo>
                  <a:lnTo>
                    <a:pt x="36" y="23"/>
                  </a:lnTo>
                  <a:lnTo>
                    <a:pt x="39" y="34"/>
                  </a:lnTo>
                  <a:lnTo>
                    <a:pt x="35" y="45"/>
                  </a:lnTo>
                  <a:lnTo>
                    <a:pt x="29" y="52"/>
                  </a:lnTo>
                  <a:lnTo>
                    <a:pt x="29" y="65"/>
                  </a:lnTo>
                  <a:lnTo>
                    <a:pt x="39" y="84"/>
                  </a:lnTo>
                  <a:lnTo>
                    <a:pt x="43" y="83"/>
                  </a:lnTo>
                  <a:lnTo>
                    <a:pt x="45" y="81"/>
                  </a:lnTo>
                  <a:lnTo>
                    <a:pt x="53" y="78"/>
                  </a:lnTo>
                  <a:lnTo>
                    <a:pt x="60" y="88"/>
                  </a:lnTo>
                  <a:lnTo>
                    <a:pt x="61" y="84"/>
                  </a:lnTo>
                  <a:lnTo>
                    <a:pt x="69" y="89"/>
                  </a:lnTo>
                  <a:lnTo>
                    <a:pt x="65" y="91"/>
                  </a:lnTo>
                  <a:lnTo>
                    <a:pt x="72" y="100"/>
                  </a:lnTo>
                  <a:lnTo>
                    <a:pt x="76" y="101"/>
                  </a:lnTo>
                  <a:lnTo>
                    <a:pt x="72" y="108"/>
                  </a:lnTo>
                  <a:lnTo>
                    <a:pt x="72" y="103"/>
                  </a:lnTo>
                  <a:lnTo>
                    <a:pt x="61" y="97"/>
                  </a:lnTo>
                  <a:lnTo>
                    <a:pt x="54" y="89"/>
                  </a:lnTo>
                  <a:lnTo>
                    <a:pt x="48" y="87"/>
                  </a:lnTo>
                  <a:lnTo>
                    <a:pt x="51" y="99"/>
                  </a:lnTo>
                  <a:lnTo>
                    <a:pt x="35" y="85"/>
                  </a:lnTo>
                  <a:lnTo>
                    <a:pt x="25" y="90"/>
                  </a:lnTo>
                  <a:lnTo>
                    <a:pt x="18" y="87"/>
                  </a:lnTo>
                  <a:lnTo>
                    <a:pt x="18" y="78"/>
                  </a:lnTo>
                  <a:lnTo>
                    <a:pt x="21" y="71"/>
                  </a:lnTo>
                  <a:lnTo>
                    <a:pt x="15"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8" name="Freeform 47"/>
            <p:cNvSpPr>
              <a:spLocks/>
            </p:cNvSpPr>
            <p:nvPr/>
          </p:nvSpPr>
          <p:spPr bwMode="auto">
            <a:xfrm>
              <a:off x="4675" y="2512"/>
              <a:ext cx="80" cy="82"/>
            </a:xfrm>
            <a:custGeom>
              <a:avLst/>
              <a:gdLst/>
              <a:ahLst/>
              <a:cxnLst>
                <a:cxn ang="0">
                  <a:pos x="56" y="73"/>
                </a:cxn>
                <a:cxn ang="0">
                  <a:pos x="54" y="66"/>
                </a:cxn>
                <a:cxn ang="0">
                  <a:pos x="51" y="68"/>
                </a:cxn>
                <a:cxn ang="0">
                  <a:pos x="33" y="58"/>
                </a:cxn>
                <a:cxn ang="0">
                  <a:pos x="36" y="43"/>
                </a:cxn>
                <a:cxn ang="0">
                  <a:pos x="26" y="34"/>
                </a:cxn>
                <a:cxn ang="0">
                  <a:pos x="22" y="38"/>
                </a:cxn>
                <a:cxn ang="0">
                  <a:pos x="19" y="37"/>
                </a:cxn>
                <a:cxn ang="0">
                  <a:pos x="16" y="40"/>
                </a:cxn>
                <a:cxn ang="0">
                  <a:pos x="12" y="35"/>
                </a:cxn>
                <a:cxn ang="0">
                  <a:pos x="4" y="44"/>
                </a:cxn>
                <a:cxn ang="0">
                  <a:pos x="0" y="49"/>
                </a:cxn>
                <a:cxn ang="0">
                  <a:pos x="2" y="36"/>
                </a:cxn>
                <a:cxn ang="0">
                  <a:pos x="14" y="25"/>
                </a:cxn>
                <a:cxn ang="0">
                  <a:pos x="24" y="19"/>
                </a:cxn>
                <a:cxn ang="0">
                  <a:pos x="27" y="29"/>
                </a:cxn>
                <a:cxn ang="0">
                  <a:pos x="34" y="25"/>
                </a:cxn>
                <a:cxn ang="0">
                  <a:pos x="39" y="22"/>
                </a:cxn>
                <a:cxn ang="0">
                  <a:pos x="42" y="13"/>
                </a:cxn>
                <a:cxn ang="0">
                  <a:pos x="49" y="13"/>
                </a:cxn>
                <a:cxn ang="0">
                  <a:pos x="52" y="13"/>
                </a:cxn>
                <a:cxn ang="0">
                  <a:pos x="51" y="0"/>
                </a:cxn>
                <a:cxn ang="0">
                  <a:pos x="63" y="8"/>
                </a:cxn>
                <a:cxn ang="0">
                  <a:pos x="66" y="22"/>
                </a:cxn>
                <a:cxn ang="0">
                  <a:pos x="73" y="43"/>
                </a:cxn>
                <a:cxn ang="0">
                  <a:pos x="69" y="52"/>
                </a:cxn>
                <a:cxn ang="0">
                  <a:pos x="68" y="59"/>
                </a:cxn>
                <a:cxn ang="0">
                  <a:pos x="61" y="44"/>
                </a:cxn>
                <a:cxn ang="0">
                  <a:pos x="56" y="48"/>
                </a:cxn>
                <a:cxn ang="0">
                  <a:pos x="58" y="60"/>
                </a:cxn>
                <a:cxn ang="0">
                  <a:pos x="56" y="73"/>
                </a:cxn>
              </a:cxnLst>
              <a:rect l="0" t="0" r="r" b="b"/>
              <a:pathLst>
                <a:path w="73" h="73">
                  <a:moveTo>
                    <a:pt x="56" y="73"/>
                  </a:moveTo>
                  <a:lnTo>
                    <a:pt x="54" y="66"/>
                  </a:lnTo>
                  <a:lnTo>
                    <a:pt x="51" y="68"/>
                  </a:lnTo>
                  <a:lnTo>
                    <a:pt x="33" y="58"/>
                  </a:lnTo>
                  <a:lnTo>
                    <a:pt x="36" y="43"/>
                  </a:lnTo>
                  <a:lnTo>
                    <a:pt x="26" y="34"/>
                  </a:lnTo>
                  <a:lnTo>
                    <a:pt x="22" y="38"/>
                  </a:lnTo>
                  <a:lnTo>
                    <a:pt x="19" y="37"/>
                  </a:lnTo>
                  <a:lnTo>
                    <a:pt x="16" y="40"/>
                  </a:lnTo>
                  <a:lnTo>
                    <a:pt x="12" y="35"/>
                  </a:lnTo>
                  <a:lnTo>
                    <a:pt x="4" y="44"/>
                  </a:lnTo>
                  <a:lnTo>
                    <a:pt x="0" y="49"/>
                  </a:lnTo>
                  <a:lnTo>
                    <a:pt x="2" y="36"/>
                  </a:lnTo>
                  <a:lnTo>
                    <a:pt x="14" y="25"/>
                  </a:lnTo>
                  <a:lnTo>
                    <a:pt x="24" y="19"/>
                  </a:lnTo>
                  <a:lnTo>
                    <a:pt x="27" y="29"/>
                  </a:lnTo>
                  <a:lnTo>
                    <a:pt x="34" y="25"/>
                  </a:lnTo>
                  <a:lnTo>
                    <a:pt x="39" y="22"/>
                  </a:lnTo>
                  <a:lnTo>
                    <a:pt x="42" y="13"/>
                  </a:lnTo>
                  <a:lnTo>
                    <a:pt x="49" y="13"/>
                  </a:lnTo>
                  <a:lnTo>
                    <a:pt x="52" y="13"/>
                  </a:lnTo>
                  <a:lnTo>
                    <a:pt x="51" y="0"/>
                  </a:lnTo>
                  <a:lnTo>
                    <a:pt x="63" y="8"/>
                  </a:lnTo>
                  <a:lnTo>
                    <a:pt x="66" y="22"/>
                  </a:lnTo>
                  <a:lnTo>
                    <a:pt x="73" y="43"/>
                  </a:lnTo>
                  <a:lnTo>
                    <a:pt x="69" y="52"/>
                  </a:lnTo>
                  <a:lnTo>
                    <a:pt x="68" y="59"/>
                  </a:lnTo>
                  <a:lnTo>
                    <a:pt x="61" y="44"/>
                  </a:lnTo>
                  <a:lnTo>
                    <a:pt x="56" y="48"/>
                  </a:lnTo>
                  <a:lnTo>
                    <a:pt x="58" y="60"/>
                  </a:lnTo>
                  <a:lnTo>
                    <a:pt x="56"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9" name="Freeform 48"/>
            <p:cNvSpPr>
              <a:spLocks/>
            </p:cNvSpPr>
            <p:nvPr/>
          </p:nvSpPr>
          <p:spPr bwMode="auto">
            <a:xfrm>
              <a:off x="4680" y="2490"/>
              <a:ext cx="17" cy="33"/>
            </a:xfrm>
            <a:custGeom>
              <a:avLst/>
              <a:gdLst/>
              <a:ahLst/>
              <a:cxnLst>
                <a:cxn ang="0">
                  <a:pos x="16" y="0"/>
                </a:cxn>
                <a:cxn ang="0">
                  <a:pos x="12" y="22"/>
                </a:cxn>
                <a:cxn ang="0">
                  <a:pos x="12" y="31"/>
                </a:cxn>
                <a:cxn ang="0">
                  <a:pos x="0" y="20"/>
                </a:cxn>
                <a:cxn ang="0">
                  <a:pos x="4" y="15"/>
                </a:cxn>
                <a:cxn ang="0">
                  <a:pos x="6" y="0"/>
                </a:cxn>
                <a:cxn ang="0">
                  <a:pos x="16" y="0"/>
                </a:cxn>
              </a:cxnLst>
              <a:rect l="0" t="0" r="r" b="b"/>
              <a:pathLst>
                <a:path w="16" h="31">
                  <a:moveTo>
                    <a:pt x="16" y="0"/>
                  </a:moveTo>
                  <a:lnTo>
                    <a:pt x="12" y="22"/>
                  </a:lnTo>
                  <a:lnTo>
                    <a:pt x="12" y="31"/>
                  </a:lnTo>
                  <a:lnTo>
                    <a:pt x="0" y="20"/>
                  </a:lnTo>
                  <a:lnTo>
                    <a:pt x="4" y="15"/>
                  </a:lnTo>
                  <a:lnTo>
                    <a:pt x="6" y="0"/>
                  </a:lnTo>
                  <a:lnTo>
                    <a:pt x="1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0" name="Freeform 49"/>
            <p:cNvSpPr>
              <a:spLocks/>
            </p:cNvSpPr>
            <p:nvPr/>
          </p:nvSpPr>
          <p:spPr bwMode="auto">
            <a:xfrm>
              <a:off x="4706" y="2454"/>
              <a:ext cx="29" cy="31"/>
            </a:xfrm>
            <a:custGeom>
              <a:avLst/>
              <a:gdLst/>
              <a:ahLst/>
              <a:cxnLst>
                <a:cxn ang="0">
                  <a:pos x="20" y="27"/>
                </a:cxn>
                <a:cxn ang="0">
                  <a:pos x="12" y="18"/>
                </a:cxn>
                <a:cxn ang="0">
                  <a:pos x="0" y="3"/>
                </a:cxn>
                <a:cxn ang="0">
                  <a:pos x="14" y="0"/>
                </a:cxn>
                <a:cxn ang="0">
                  <a:pos x="20" y="11"/>
                </a:cxn>
                <a:cxn ang="0">
                  <a:pos x="27" y="28"/>
                </a:cxn>
                <a:cxn ang="0">
                  <a:pos x="20" y="27"/>
                </a:cxn>
              </a:cxnLst>
              <a:rect l="0" t="0" r="r" b="b"/>
              <a:pathLst>
                <a:path w="27" h="28">
                  <a:moveTo>
                    <a:pt x="20" y="27"/>
                  </a:moveTo>
                  <a:lnTo>
                    <a:pt x="12" y="18"/>
                  </a:lnTo>
                  <a:lnTo>
                    <a:pt x="0" y="3"/>
                  </a:lnTo>
                  <a:lnTo>
                    <a:pt x="14" y="0"/>
                  </a:lnTo>
                  <a:lnTo>
                    <a:pt x="20" y="11"/>
                  </a:lnTo>
                  <a:lnTo>
                    <a:pt x="27" y="28"/>
                  </a:lnTo>
                  <a:lnTo>
                    <a:pt x="2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1" name="Freeform 50"/>
            <p:cNvSpPr>
              <a:spLocks/>
            </p:cNvSpPr>
            <p:nvPr/>
          </p:nvSpPr>
          <p:spPr bwMode="auto">
            <a:xfrm>
              <a:off x="4666" y="2470"/>
              <a:ext cx="23" cy="26"/>
            </a:xfrm>
            <a:custGeom>
              <a:avLst/>
              <a:gdLst/>
              <a:ahLst/>
              <a:cxnLst>
                <a:cxn ang="0">
                  <a:pos x="20" y="4"/>
                </a:cxn>
                <a:cxn ang="0">
                  <a:pos x="3" y="0"/>
                </a:cxn>
                <a:cxn ang="0">
                  <a:pos x="0" y="1"/>
                </a:cxn>
                <a:cxn ang="0">
                  <a:pos x="5" y="24"/>
                </a:cxn>
                <a:cxn ang="0">
                  <a:pos x="20" y="9"/>
                </a:cxn>
                <a:cxn ang="0">
                  <a:pos x="21" y="8"/>
                </a:cxn>
                <a:cxn ang="0">
                  <a:pos x="20" y="4"/>
                </a:cxn>
              </a:cxnLst>
              <a:rect l="0" t="0" r="r" b="b"/>
              <a:pathLst>
                <a:path w="21" h="24">
                  <a:moveTo>
                    <a:pt x="20" y="4"/>
                  </a:moveTo>
                  <a:lnTo>
                    <a:pt x="3" y="0"/>
                  </a:lnTo>
                  <a:lnTo>
                    <a:pt x="0" y="1"/>
                  </a:lnTo>
                  <a:lnTo>
                    <a:pt x="5" y="24"/>
                  </a:lnTo>
                  <a:lnTo>
                    <a:pt x="20" y="9"/>
                  </a:lnTo>
                  <a:lnTo>
                    <a:pt x="21" y="8"/>
                  </a:lnTo>
                  <a:lnTo>
                    <a:pt x="2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2" name="Freeform 51"/>
            <p:cNvSpPr>
              <a:spLocks/>
            </p:cNvSpPr>
            <p:nvPr/>
          </p:nvSpPr>
          <p:spPr bwMode="auto">
            <a:xfrm>
              <a:off x="4589" y="2481"/>
              <a:ext cx="42" cy="55"/>
            </a:xfrm>
            <a:custGeom>
              <a:avLst/>
              <a:gdLst/>
              <a:ahLst/>
              <a:cxnLst>
                <a:cxn ang="0">
                  <a:pos x="37" y="15"/>
                </a:cxn>
                <a:cxn ang="0">
                  <a:pos x="23" y="29"/>
                </a:cxn>
                <a:cxn ang="0">
                  <a:pos x="12" y="40"/>
                </a:cxn>
                <a:cxn ang="0">
                  <a:pos x="0" y="52"/>
                </a:cxn>
                <a:cxn ang="0">
                  <a:pos x="1" y="48"/>
                </a:cxn>
                <a:cxn ang="0">
                  <a:pos x="13" y="34"/>
                </a:cxn>
                <a:cxn ang="0">
                  <a:pos x="24" y="21"/>
                </a:cxn>
                <a:cxn ang="0">
                  <a:pos x="29" y="9"/>
                </a:cxn>
                <a:cxn ang="0">
                  <a:pos x="30" y="9"/>
                </a:cxn>
                <a:cxn ang="0">
                  <a:pos x="31" y="0"/>
                </a:cxn>
                <a:cxn ang="0">
                  <a:pos x="37" y="15"/>
                </a:cxn>
              </a:cxnLst>
              <a:rect l="0" t="0" r="r" b="b"/>
              <a:pathLst>
                <a:path w="37" h="52">
                  <a:moveTo>
                    <a:pt x="37" y="15"/>
                  </a:moveTo>
                  <a:lnTo>
                    <a:pt x="23" y="29"/>
                  </a:lnTo>
                  <a:lnTo>
                    <a:pt x="12" y="40"/>
                  </a:lnTo>
                  <a:lnTo>
                    <a:pt x="0" y="52"/>
                  </a:lnTo>
                  <a:lnTo>
                    <a:pt x="1" y="48"/>
                  </a:lnTo>
                  <a:lnTo>
                    <a:pt x="13" y="34"/>
                  </a:lnTo>
                  <a:lnTo>
                    <a:pt x="24" y="21"/>
                  </a:lnTo>
                  <a:lnTo>
                    <a:pt x="29" y="9"/>
                  </a:lnTo>
                  <a:lnTo>
                    <a:pt x="30" y="9"/>
                  </a:lnTo>
                  <a:lnTo>
                    <a:pt x="31" y="0"/>
                  </a:lnTo>
                  <a:lnTo>
                    <a:pt x="37"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3" name="Freeform 52"/>
            <p:cNvSpPr>
              <a:spLocks/>
            </p:cNvSpPr>
            <p:nvPr/>
          </p:nvSpPr>
          <p:spPr bwMode="auto">
            <a:xfrm>
              <a:off x="4633" y="2436"/>
              <a:ext cx="24" cy="25"/>
            </a:xfrm>
            <a:custGeom>
              <a:avLst/>
              <a:gdLst/>
              <a:ahLst/>
              <a:cxnLst>
                <a:cxn ang="0">
                  <a:pos x="22" y="14"/>
                </a:cxn>
                <a:cxn ang="0">
                  <a:pos x="18" y="20"/>
                </a:cxn>
                <a:cxn ang="0">
                  <a:pos x="10" y="11"/>
                </a:cxn>
                <a:cxn ang="0">
                  <a:pos x="0" y="0"/>
                </a:cxn>
                <a:cxn ang="0">
                  <a:pos x="17" y="2"/>
                </a:cxn>
                <a:cxn ang="0">
                  <a:pos x="22" y="14"/>
                </a:cxn>
              </a:cxnLst>
              <a:rect l="0" t="0" r="r" b="b"/>
              <a:pathLst>
                <a:path w="22" h="20">
                  <a:moveTo>
                    <a:pt x="22" y="14"/>
                  </a:moveTo>
                  <a:lnTo>
                    <a:pt x="18" y="20"/>
                  </a:lnTo>
                  <a:lnTo>
                    <a:pt x="10" y="11"/>
                  </a:lnTo>
                  <a:lnTo>
                    <a:pt x="0" y="0"/>
                  </a:lnTo>
                  <a:lnTo>
                    <a:pt x="17" y="2"/>
                  </a:lnTo>
                  <a:lnTo>
                    <a:pt x="22" y="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4" name="Freeform 53"/>
            <p:cNvSpPr>
              <a:spLocks/>
            </p:cNvSpPr>
            <p:nvPr/>
          </p:nvSpPr>
          <p:spPr bwMode="auto">
            <a:xfrm>
              <a:off x="4711" y="2476"/>
              <a:ext cx="18" cy="27"/>
            </a:xfrm>
            <a:custGeom>
              <a:avLst/>
              <a:gdLst/>
              <a:ahLst/>
              <a:cxnLst>
                <a:cxn ang="0">
                  <a:pos x="10" y="4"/>
                </a:cxn>
                <a:cxn ang="0">
                  <a:pos x="16" y="21"/>
                </a:cxn>
                <a:cxn ang="0">
                  <a:pos x="12" y="22"/>
                </a:cxn>
                <a:cxn ang="0">
                  <a:pos x="11" y="25"/>
                </a:cxn>
                <a:cxn ang="0">
                  <a:pos x="4" y="10"/>
                </a:cxn>
                <a:cxn ang="0">
                  <a:pos x="0" y="0"/>
                </a:cxn>
                <a:cxn ang="0">
                  <a:pos x="10" y="4"/>
                </a:cxn>
              </a:cxnLst>
              <a:rect l="0" t="0" r="r" b="b"/>
              <a:pathLst>
                <a:path w="16" h="25">
                  <a:moveTo>
                    <a:pt x="10" y="4"/>
                  </a:moveTo>
                  <a:lnTo>
                    <a:pt x="16" y="21"/>
                  </a:lnTo>
                  <a:lnTo>
                    <a:pt x="12" y="22"/>
                  </a:lnTo>
                  <a:lnTo>
                    <a:pt x="11" y="25"/>
                  </a:lnTo>
                  <a:lnTo>
                    <a:pt x="4" y="10"/>
                  </a:lnTo>
                  <a:lnTo>
                    <a:pt x="0" y="0"/>
                  </a:lnTo>
                  <a:lnTo>
                    <a:pt x="1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5" name="Freeform 54"/>
            <p:cNvSpPr>
              <a:spLocks/>
            </p:cNvSpPr>
            <p:nvPr/>
          </p:nvSpPr>
          <p:spPr bwMode="auto">
            <a:xfrm>
              <a:off x="4689" y="2456"/>
              <a:ext cx="15" cy="16"/>
            </a:xfrm>
            <a:custGeom>
              <a:avLst/>
              <a:gdLst/>
              <a:ahLst/>
              <a:cxnLst>
                <a:cxn ang="0">
                  <a:pos x="14" y="13"/>
                </a:cxn>
                <a:cxn ang="0">
                  <a:pos x="2" y="6"/>
                </a:cxn>
                <a:cxn ang="0">
                  <a:pos x="0" y="7"/>
                </a:cxn>
                <a:cxn ang="0">
                  <a:pos x="1" y="0"/>
                </a:cxn>
                <a:cxn ang="0">
                  <a:pos x="14" y="11"/>
                </a:cxn>
                <a:cxn ang="0">
                  <a:pos x="14" y="13"/>
                </a:cxn>
              </a:cxnLst>
              <a:rect l="0" t="0" r="r" b="b"/>
              <a:pathLst>
                <a:path w="14" h="13">
                  <a:moveTo>
                    <a:pt x="14" y="13"/>
                  </a:moveTo>
                  <a:lnTo>
                    <a:pt x="2" y="6"/>
                  </a:lnTo>
                  <a:lnTo>
                    <a:pt x="0" y="7"/>
                  </a:lnTo>
                  <a:lnTo>
                    <a:pt x="1" y="0"/>
                  </a:lnTo>
                  <a:lnTo>
                    <a:pt x="14" y="11"/>
                  </a:lnTo>
                  <a:lnTo>
                    <a:pt x="14"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6" name="Freeform 55"/>
            <p:cNvSpPr>
              <a:spLocks/>
            </p:cNvSpPr>
            <p:nvPr/>
          </p:nvSpPr>
          <p:spPr bwMode="auto">
            <a:xfrm>
              <a:off x="4704" y="2503"/>
              <a:ext cx="13" cy="7"/>
            </a:xfrm>
            <a:custGeom>
              <a:avLst/>
              <a:gdLst/>
              <a:ahLst/>
              <a:cxnLst>
                <a:cxn ang="0">
                  <a:pos x="12" y="6"/>
                </a:cxn>
                <a:cxn ang="0">
                  <a:pos x="10" y="0"/>
                </a:cxn>
                <a:cxn ang="0">
                  <a:pos x="0" y="6"/>
                </a:cxn>
                <a:cxn ang="0">
                  <a:pos x="12" y="6"/>
                </a:cxn>
              </a:cxnLst>
              <a:rect l="0" t="0" r="r" b="b"/>
              <a:pathLst>
                <a:path w="12" h="6">
                  <a:moveTo>
                    <a:pt x="12" y="6"/>
                  </a:moveTo>
                  <a:lnTo>
                    <a:pt x="10" y="0"/>
                  </a:lnTo>
                  <a:lnTo>
                    <a:pt x="0" y="6"/>
                  </a:lnTo>
                  <a:lnTo>
                    <a:pt x="12"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7" name="Freeform 56"/>
            <p:cNvSpPr>
              <a:spLocks/>
            </p:cNvSpPr>
            <p:nvPr/>
          </p:nvSpPr>
          <p:spPr bwMode="auto">
            <a:xfrm>
              <a:off x="4695" y="2481"/>
              <a:ext cx="11" cy="35"/>
            </a:xfrm>
            <a:custGeom>
              <a:avLst/>
              <a:gdLst/>
              <a:ahLst/>
              <a:cxnLst>
                <a:cxn ang="0">
                  <a:pos x="8" y="0"/>
                </a:cxn>
                <a:cxn ang="0">
                  <a:pos x="8" y="9"/>
                </a:cxn>
                <a:cxn ang="0">
                  <a:pos x="5" y="21"/>
                </a:cxn>
                <a:cxn ang="0">
                  <a:pos x="0" y="33"/>
                </a:cxn>
                <a:cxn ang="0">
                  <a:pos x="5" y="16"/>
                </a:cxn>
                <a:cxn ang="0">
                  <a:pos x="8" y="0"/>
                </a:cxn>
              </a:cxnLst>
              <a:rect l="0" t="0" r="r" b="b"/>
              <a:pathLst>
                <a:path w="8" h="33">
                  <a:moveTo>
                    <a:pt x="8" y="0"/>
                  </a:moveTo>
                  <a:lnTo>
                    <a:pt x="8" y="9"/>
                  </a:lnTo>
                  <a:lnTo>
                    <a:pt x="5" y="21"/>
                  </a:lnTo>
                  <a:lnTo>
                    <a:pt x="0" y="33"/>
                  </a:lnTo>
                  <a:lnTo>
                    <a:pt x="5" y="16"/>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8" name="Freeform 57"/>
            <p:cNvSpPr>
              <a:spLocks/>
            </p:cNvSpPr>
            <p:nvPr/>
          </p:nvSpPr>
          <p:spPr bwMode="auto">
            <a:xfrm>
              <a:off x="4220" y="2299"/>
              <a:ext cx="153" cy="291"/>
            </a:xfrm>
            <a:custGeom>
              <a:avLst/>
              <a:gdLst/>
              <a:ahLst/>
              <a:cxnLst>
                <a:cxn ang="0">
                  <a:pos x="46" y="187"/>
                </a:cxn>
                <a:cxn ang="0">
                  <a:pos x="53" y="155"/>
                </a:cxn>
                <a:cxn ang="0">
                  <a:pos x="54" y="126"/>
                </a:cxn>
                <a:cxn ang="0">
                  <a:pos x="69" y="137"/>
                </a:cxn>
                <a:cxn ang="0">
                  <a:pos x="96" y="150"/>
                </a:cxn>
                <a:cxn ang="0">
                  <a:pos x="96" y="143"/>
                </a:cxn>
                <a:cxn ang="0">
                  <a:pos x="101" y="109"/>
                </a:cxn>
                <a:cxn ang="0">
                  <a:pos x="134" y="108"/>
                </a:cxn>
                <a:cxn ang="0">
                  <a:pos x="135" y="83"/>
                </a:cxn>
                <a:cxn ang="0">
                  <a:pos x="118" y="52"/>
                </a:cxn>
                <a:cxn ang="0">
                  <a:pos x="92" y="41"/>
                </a:cxn>
                <a:cxn ang="0">
                  <a:pos x="75" y="40"/>
                </a:cxn>
                <a:cxn ang="0">
                  <a:pos x="59" y="32"/>
                </a:cxn>
                <a:cxn ang="0">
                  <a:pos x="46" y="13"/>
                </a:cxn>
                <a:cxn ang="0">
                  <a:pos x="39" y="0"/>
                </a:cxn>
                <a:cxn ang="0">
                  <a:pos x="23" y="11"/>
                </a:cxn>
                <a:cxn ang="0">
                  <a:pos x="5" y="34"/>
                </a:cxn>
                <a:cxn ang="0">
                  <a:pos x="14" y="53"/>
                </a:cxn>
                <a:cxn ang="0">
                  <a:pos x="30" y="73"/>
                </a:cxn>
                <a:cxn ang="0">
                  <a:pos x="24" y="91"/>
                </a:cxn>
                <a:cxn ang="0">
                  <a:pos x="33" y="113"/>
                </a:cxn>
                <a:cxn ang="0">
                  <a:pos x="45" y="139"/>
                </a:cxn>
                <a:cxn ang="0">
                  <a:pos x="45" y="168"/>
                </a:cxn>
                <a:cxn ang="0">
                  <a:pos x="39" y="184"/>
                </a:cxn>
                <a:cxn ang="0">
                  <a:pos x="34" y="218"/>
                </a:cxn>
                <a:cxn ang="0">
                  <a:pos x="45" y="226"/>
                </a:cxn>
                <a:cxn ang="0">
                  <a:pos x="58" y="240"/>
                </a:cxn>
                <a:cxn ang="0">
                  <a:pos x="66" y="248"/>
                </a:cxn>
                <a:cxn ang="0">
                  <a:pos x="80" y="262"/>
                </a:cxn>
                <a:cxn ang="0">
                  <a:pos x="96" y="254"/>
                </a:cxn>
                <a:cxn ang="0">
                  <a:pos x="76" y="241"/>
                </a:cxn>
                <a:cxn ang="0">
                  <a:pos x="64" y="218"/>
                </a:cxn>
                <a:cxn ang="0">
                  <a:pos x="51" y="200"/>
                </a:cxn>
              </a:cxnLst>
              <a:rect l="0" t="0" r="r" b="b"/>
              <a:pathLst>
                <a:path w="138" h="262">
                  <a:moveTo>
                    <a:pt x="51" y="200"/>
                  </a:moveTo>
                  <a:lnTo>
                    <a:pt x="46" y="187"/>
                  </a:lnTo>
                  <a:lnTo>
                    <a:pt x="50" y="170"/>
                  </a:lnTo>
                  <a:lnTo>
                    <a:pt x="53" y="155"/>
                  </a:lnTo>
                  <a:lnTo>
                    <a:pt x="53" y="140"/>
                  </a:lnTo>
                  <a:lnTo>
                    <a:pt x="54" y="126"/>
                  </a:lnTo>
                  <a:lnTo>
                    <a:pt x="68" y="124"/>
                  </a:lnTo>
                  <a:lnTo>
                    <a:pt x="69" y="137"/>
                  </a:lnTo>
                  <a:lnTo>
                    <a:pt x="81" y="139"/>
                  </a:lnTo>
                  <a:lnTo>
                    <a:pt x="96" y="150"/>
                  </a:lnTo>
                  <a:lnTo>
                    <a:pt x="102" y="157"/>
                  </a:lnTo>
                  <a:lnTo>
                    <a:pt x="96" y="143"/>
                  </a:lnTo>
                  <a:lnTo>
                    <a:pt x="90" y="127"/>
                  </a:lnTo>
                  <a:lnTo>
                    <a:pt x="101" y="109"/>
                  </a:lnTo>
                  <a:lnTo>
                    <a:pt x="117" y="109"/>
                  </a:lnTo>
                  <a:lnTo>
                    <a:pt x="134" y="108"/>
                  </a:lnTo>
                  <a:lnTo>
                    <a:pt x="138" y="98"/>
                  </a:lnTo>
                  <a:lnTo>
                    <a:pt x="135" y="83"/>
                  </a:lnTo>
                  <a:lnTo>
                    <a:pt x="120" y="65"/>
                  </a:lnTo>
                  <a:lnTo>
                    <a:pt x="118" y="52"/>
                  </a:lnTo>
                  <a:lnTo>
                    <a:pt x="99" y="36"/>
                  </a:lnTo>
                  <a:lnTo>
                    <a:pt x="92" y="41"/>
                  </a:lnTo>
                  <a:lnTo>
                    <a:pt x="84" y="43"/>
                  </a:lnTo>
                  <a:lnTo>
                    <a:pt x="75" y="40"/>
                  </a:lnTo>
                  <a:lnTo>
                    <a:pt x="60" y="50"/>
                  </a:lnTo>
                  <a:lnTo>
                    <a:pt x="59" y="32"/>
                  </a:lnTo>
                  <a:lnTo>
                    <a:pt x="58" y="14"/>
                  </a:lnTo>
                  <a:lnTo>
                    <a:pt x="46" y="13"/>
                  </a:lnTo>
                  <a:lnTo>
                    <a:pt x="45" y="2"/>
                  </a:lnTo>
                  <a:lnTo>
                    <a:pt x="39" y="0"/>
                  </a:lnTo>
                  <a:lnTo>
                    <a:pt x="30" y="2"/>
                  </a:lnTo>
                  <a:lnTo>
                    <a:pt x="23" y="11"/>
                  </a:lnTo>
                  <a:lnTo>
                    <a:pt x="9" y="13"/>
                  </a:lnTo>
                  <a:lnTo>
                    <a:pt x="5" y="34"/>
                  </a:lnTo>
                  <a:lnTo>
                    <a:pt x="0" y="32"/>
                  </a:lnTo>
                  <a:lnTo>
                    <a:pt x="14" y="53"/>
                  </a:lnTo>
                  <a:lnTo>
                    <a:pt x="27" y="72"/>
                  </a:lnTo>
                  <a:lnTo>
                    <a:pt x="30" y="73"/>
                  </a:lnTo>
                  <a:lnTo>
                    <a:pt x="27" y="84"/>
                  </a:lnTo>
                  <a:lnTo>
                    <a:pt x="24" y="91"/>
                  </a:lnTo>
                  <a:lnTo>
                    <a:pt x="24" y="102"/>
                  </a:lnTo>
                  <a:lnTo>
                    <a:pt x="33" y="113"/>
                  </a:lnTo>
                  <a:lnTo>
                    <a:pt x="41" y="124"/>
                  </a:lnTo>
                  <a:lnTo>
                    <a:pt x="45" y="139"/>
                  </a:lnTo>
                  <a:lnTo>
                    <a:pt x="50" y="157"/>
                  </a:lnTo>
                  <a:lnTo>
                    <a:pt x="45" y="168"/>
                  </a:lnTo>
                  <a:lnTo>
                    <a:pt x="39" y="180"/>
                  </a:lnTo>
                  <a:lnTo>
                    <a:pt x="39" y="184"/>
                  </a:lnTo>
                  <a:lnTo>
                    <a:pt x="36" y="200"/>
                  </a:lnTo>
                  <a:lnTo>
                    <a:pt x="34" y="218"/>
                  </a:lnTo>
                  <a:lnTo>
                    <a:pt x="36" y="216"/>
                  </a:lnTo>
                  <a:lnTo>
                    <a:pt x="45" y="226"/>
                  </a:lnTo>
                  <a:lnTo>
                    <a:pt x="53" y="235"/>
                  </a:lnTo>
                  <a:lnTo>
                    <a:pt x="58" y="240"/>
                  </a:lnTo>
                  <a:lnTo>
                    <a:pt x="65" y="251"/>
                  </a:lnTo>
                  <a:lnTo>
                    <a:pt x="66" y="248"/>
                  </a:lnTo>
                  <a:lnTo>
                    <a:pt x="78" y="254"/>
                  </a:lnTo>
                  <a:lnTo>
                    <a:pt x="80" y="262"/>
                  </a:lnTo>
                  <a:lnTo>
                    <a:pt x="90" y="262"/>
                  </a:lnTo>
                  <a:lnTo>
                    <a:pt x="96" y="254"/>
                  </a:lnTo>
                  <a:lnTo>
                    <a:pt x="88" y="244"/>
                  </a:lnTo>
                  <a:lnTo>
                    <a:pt x="76" y="241"/>
                  </a:lnTo>
                  <a:lnTo>
                    <a:pt x="68" y="232"/>
                  </a:lnTo>
                  <a:lnTo>
                    <a:pt x="64" y="218"/>
                  </a:lnTo>
                  <a:lnTo>
                    <a:pt x="58" y="202"/>
                  </a:lnTo>
                  <a:lnTo>
                    <a:pt x="51" y="20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9" name="Freeform 58"/>
            <p:cNvSpPr>
              <a:spLocks/>
            </p:cNvSpPr>
            <p:nvPr/>
          </p:nvSpPr>
          <p:spPr bwMode="auto">
            <a:xfrm>
              <a:off x="4293" y="2241"/>
              <a:ext cx="153" cy="291"/>
            </a:xfrm>
            <a:custGeom>
              <a:avLst/>
              <a:gdLst/>
              <a:ahLst/>
              <a:cxnLst>
                <a:cxn ang="0">
                  <a:pos x="43" y="50"/>
                </a:cxn>
                <a:cxn ang="0">
                  <a:pos x="27" y="45"/>
                </a:cxn>
                <a:cxn ang="0">
                  <a:pos x="12" y="28"/>
                </a:cxn>
                <a:cxn ang="0">
                  <a:pos x="4" y="11"/>
                </a:cxn>
                <a:cxn ang="0">
                  <a:pos x="15" y="11"/>
                </a:cxn>
                <a:cxn ang="0">
                  <a:pos x="25" y="12"/>
                </a:cxn>
                <a:cxn ang="0">
                  <a:pos x="34" y="11"/>
                </a:cxn>
                <a:cxn ang="0">
                  <a:pos x="49" y="2"/>
                </a:cxn>
                <a:cxn ang="0">
                  <a:pos x="71" y="20"/>
                </a:cxn>
                <a:cxn ang="0">
                  <a:pos x="93" y="30"/>
                </a:cxn>
                <a:cxn ang="0">
                  <a:pos x="76" y="42"/>
                </a:cxn>
                <a:cxn ang="0">
                  <a:pos x="70" y="59"/>
                </a:cxn>
                <a:cxn ang="0">
                  <a:pos x="76" y="90"/>
                </a:cxn>
                <a:cxn ang="0">
                  <a:pos x="89" y="110"/>
                </a:cxn>
                <a:cxn ang="0">
                  <a:pos x="113" y="130"/>
                </a:cxn>
                <a:cxn ang="0">
                  <a:pos x="131" y="166"/>
                </a:cxn>
                <a:cxn ang="0">
                  <a:pos x="137" y="196"/>
                </a:cxn>
                <a:cxn ang="0">
                  <a:pos x="135" y="210"/>
                </a:cxn>
                <a:cxn ang="0">
                  <a:pos x="112" y="230"/>
                </a:cxn>
                <a:cxn ang="0">
                  <a:pos x="101" y="232"/>
                </a:cxn>
                <a:cxn ang="0">
                  <a:pos x="99" y="239"/>
                </a:cxn>
                <a:cxn ang="0">
                  <a:pos x="93" y="246"/>
                </a:cxn>
                <a:cxn ang="0">
                  <a:pos x="72" y="262"/>
                </a:cxn>
                <a:cxn ang="0">
                  <a:pos x="64" y="231"/>
                </a:cxn>
                <a:cxn ang="0">
                  <a:pos x="77" y="222"/>
                </a:cxn>
                <a:cxn ang="0">
                  <a:pos x="84" y="210"/>
                </a:cxn>
                <a:cxn ang="0">
                  <a:pos x="108" y="198"/>
                </a:cxn>
                <a:cxn ang="0">
                  <a:pos x="106" y="170"/>
                </a:cxn>
                <a:cxn ang="0">
                  <a:pos x="102" y="140"/>
                </a:cxn>
                <a:cxn ang="0">
                  <a:pos x="99" y="130"/>
                </a:cxn>
                <a:cxn ang="0">
                  <a:pos x="77" y="108"/>
                </a:cxn>
                <a:cxn ang="0">
                  <a:pos x="58" y="84"/>
                </a:cxn>
                <a:cxn ang="0">
                  <a:pos x="41" y="64"/>
                </a:cxn>
                <a:cxn ang="0">
                  <a:pos x="48" y="54"/>
                </a:cxn>
              </a:cxnLst>
              <a:rect l="0" t="0" r="r" b="b"/>
              <a:pathLst>
                <a:path w="138" h="262">
                  <a:moveTo>
                    <a:pt x="48" y="54"/>
                  </a:moveTo>
                  <a:lnTo>
                    <a:pt x="43" y="50"/>
                  </a:lnTo>
                  <a:lnTo>
                    <a:pt x="34" y="41"/>
                  </a:lnTo>
                  <a:lnTo>
                    <a:pt x="27" y="45"/>
                  </a:lnTo>
                  <a:lnTo>
                    <a:pt x="15" y="35"/>
                  </a:lnTo>
                  <a:lnTo>
                    <a:pt x="12" y="28"/>
                  </a:lnTo>
                  <a:lnTo>
                    <a:pt x="0" y="16"/>
                  </a:lnTo>
                  <a:lnTo>
                    <a:pt x="4" y="11"/>
                  </a:lnTo>
                  <a:lnTo>
                    <a:pt x="12" y="14"/>
                  </a:lnTo>
                  <a:lnTo>
                    <a:pt x="15" y="11"/>
                  </a:lnTo>
                  <a:lnTo>
                    <a:pt x="22" y="11"/>
                  </a:lnTo>
                  <a:lnTo>
                    <a:pt x="25" y="12"/>
                  </a:lnTo>
                  <a:lnTo>
                    <a:pt x="28" y="11"/>
                  </a:lnTo>
                  <a:lnTo>
                    <a:pt x="34" y="11"/>
                  </a:lnTo>
                  <a:lnTo>
                    <a:pt x="42" y="0"/>
                  </a:lnTo>
                  <a:lnTo>
                    <a:pt x="49" y="2"/>
                  </a:lnTo>
                  <a:lnTo>
                    <a:pt x="69" y="8"/>
                  </a:lnTo>
                  <a:lnTo>
                    <a:pt x="71" y="20"/>
                  </a:lnTo>
                  <a:lnTo>
                    <a:pt x="77" y="24"/>
                  </a:lnTo>
                  <a:lnTo>
                    <a:pt x="93" y="30"/>
                  </a:lnTo>
                  <a:lnTo>
                    <a:pt x="84" y="38"/>
                  </a:lnTo>
                  <a:lnTo>
                    <a:pt x="76" y="42"/>
                  </a:lnTo>
                  <a:lnTo>
                    <a:pt x="76" y="44"/>
                  </a:lnTo>
                  <a:lnTo>
                    <a:pt x="70" y="59"/>
                  </a:lnTo>
                  <a:lnTo>
                    <a:pt x="64" y="75"/>
                  </a:lnTo>
                  <a:lnTo>
                    <a:pt x="76" y="90"/>
                  </a:lnTo>
                  <a:lnTo>
                    <a:pt x="79" y="100"/>
                  </a:lnTo>
                  <a:lnTo>
                    <a:pt x="89" y="110"/>
                  </a:lnTo>
                  <a:lnTo>
                    <a:pt x="100" y="119"/>
                  </a:lnTo>
                  <a:lnTo>
                    <a:pt x="113" y="130"/>
                  </a:lnTo>
                  <a:lnTo>
                    <a:pt x="124" y="142"/>
                  </a:lnTo>
                  <a:lnTo>
                    <a:pt x="131" y="166"/>
                  </a:lnTo>
                  <a:lnTo>
                    <a:pt x="138" y="190"/>
                  </a:lnTo>
                  <a:lnTo>
                    <a:pt x="137" y="196"/>
                  </a:lnTo>
                  <a:lnTo>
                    <a:pt x="137" y="203"/>
                  </a:lnTo>
                  <a:lnTo>
                    <a:pt x="135" y="210"/>
                  </a:lnTo>
                  <a:lnTo>
                    <a:pt x="124" y="220"/>
                  </a:lnTo>
                  <a:lnTo>
                    <a:pt x="112" y="230"/>
                  </a:lnTo>
                  <a:lnTo>
                    <a:pt x="101" y="227"/>
                  </a:lnTo>
                  <a:lnTo>
                    <a:pt x="101" y="232"/>
                  </a:lnTo>
                  <a:lnTo>
                    <a:pt x="101" y="237"/>
                  </a:lnTo>
                  <a:lnTo>
                    <a:pt x="99" y="239"/>
                  </a:lnTo>
                  <a:lnTo>
                    <a:pt x="99" y="246"/>
                  </a:lnTo>
                  <a:lnTo>
                    <a:pt x="93" y="246"/>
                  </a:lnTo>
                  <a:lnTo>
                    <a:pt x="81" y="260"/>
                  </a:lnTo>
                  <a:lnTo>
                    <a:pt x="72" y="262"/>
                  </a:lnTo>
                  <a:lnTo>
                    <a:pt x="75" y="240"/>
                  </a:lnTo>
                  <a:lnTo>
                    <a:pt x="64" y="231"/>
                  </a:lnTo>
                  <a:lnTo>
                    <a:pt x="73" y="225"/>
                  </a:lnTo>
                  <a:lnTo>
                    <a:pt x="77" y="222"/>
                  </a:lnTo>
                  <a:lnTo>
                    <a:pt x="89" y="224"/>
                  </a:lnTo>
                  <a:lnTo>
                    <a:pt x="84" y="210"/>
                  </a:lnTo>
                  <a:lnTo>
                    <a:pt x="93" y="206"/>
                  </a:lnTo>
                  <a:lnTo>
                    <a:pt x="108" y="198"/>
                  </a:lnTo>
                  <a:lnTo>
                    <a:pt x="107" y="184"/>
                  </a:lnTo>
                  <a:lnTo>
                    <a:pt x="106" y="170"/>
                  </a:lnTo>
                  <a:lnTo>
                    <a:pt x="105" y="154"/>
                  </a:lnTo>
                  <a:lnTo>
                    <a:pt x="102" y="140"/>
                  </a:lnTo>
                  <a:lnTo>
                    <a:pt x="97" y="134"/>
                  </a:lnTo>
                  <a:lnTo>
                    <a:pt x="99" y="130"/>
                  </a:lnTo>
                  <a:lnTo>
                    <a:pt x="84" y="118"/>
                  </a:lnTo>
                  <a:lnTo>
                    <a:pt x="77" y="108"/>
                  </a:lnTo>
                  <a:lnTo>
                    <a:pt x="67" y="96"/>
                  </a:lnTo>
                  <a:lnTo>
                    <a:pt x="58" y="84"/>
                  </a:lnTo>
                  <a:lnTo>
                    <a:pt x="37" y="69"/>
                  </a:lnTo>
                  <a:lnTo>
                    <a:pt x="41" y="64"/>
                  </a:lnTo>
                  <a:lnTo>
                    <a:pt x="49" y="62"/>
                  </a:lnTo>
                  <a:lnTo>
                    <a:pt x="48" y="5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0" name="Freeform 59"/>
            <p:cNvSpPr>
              <a:spLocks/>
            </p:cNvSpPr>
            <p:nvPr/>
          </p:nvSpPr>
          <p:spPr bwMode="auto">
            <a:xfrm>
              <a:off x="3402" y="2183"/>
              <a:ext cx="13" cy="33"/>
            </a:xfrm>
            <a:custGeom>
              <a:avLst/>
              <a:gdLst/>
              <a:ahLst/>
              <a:cxnLst>
                <a:cxn ang="0">
                  <a:pos x="7" y="27"/>
                </a:cxn>
                <a:cxn ang="0">
                  <a:pos x="5" y="29"/>
                </a:cxn>
                <a:cxn ang="0">
                  <a:pos x="0" y="25"/>
                </a:cxn>
                <a:cxn ang="0">
                  <a:pos x="0" y="8"/>
                </a:cxn>
                <a:cxn ang="0">
                  <a:pos x="6" y="0"/>
                </a:cxn>
                <a:cxn ang="0">
                  <a:pos x="11" y="15"/>
                </a:cxn>
                <a:cxn ang="0">
                  <a:pos x="7" y="27"/>
                </a:cxn>
              </a:cxnLst>
              <a:rect l="0" t="0" r="r" b="b"/>
              <a:pathLst>
                <a:path w="11" h="29">
                  <a:moveTo>
                    <a:pt x="7" y="27"/>
                  </a:moveTo>
                  <a:lnTo>
                    <a:pt x="5" y="29"/>
                  </a:lnTo>
                  <a:lnTo>
                    <a:pt x="0" y="25"/>
                  </a:lnTo>
                  <a:lnTo>
                    <a:pt x="0" y="8"/>
                  </a:lnTo>
                  <a:lnTo>
                    <a:pt x="6" y="0"/>
                  </a:lnTo>
                  <a:lnTo>
                    <a:pt x="11" y="15"/>
                  </a:lnTo>
                  <a:lnTo>
                    <a:pt x="7"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1" name="Freeform 60"/>
            <p:cNvSpPr>
              <a:spLocks/>
            </p:cNvSpPr>
            <p:nvPr/>
          </p:nvSpPr>
          <p:spPr bwMode="auto">
            <a:xfrm>
              <a:off x="3253" y="1914"/>
              <a:ext cx="356" cy="289"/>
            </a:xfrm>
            <a:custGeom>
              <a:avLst/>
              <a:gdLst/>
              <a:ahLst/>
              <a:cxnLst>
                <a:cxn ang="0">
                  <a:pos x="36" y="106"/>
                </a:cxn>
                <a:cxn ang="0">
                  <a:pos x="40" y="79"/>
                </a:cxn>
                <a:cxn ang="0">
                  <a:pos x="29" y="66"/>
                </a:cxn>
                <a:cxn ang="0">
                  <a:pos x="5" y="33"/>
                </a:cxn>
                <a:cxn ang="0">
                  <a:pos x="0" y="5"/>
                </a:cxn>
                <a:cxn ang="0">
                  <a:pos x="7" y="1"/>
                </a:cxn>
                <a:cxn ang="0">
                  <a:pos x="28" y="15"/>
                </a:cxn>
                <a:cxn ang="0">
                  <a:pos x="54" y="0"/>
                </a:cxn>
                <a:cxn ang="0">
                  <a:pos x="58" y="13"/>
                </a:cxn>
                <a:cxn ang="0">
                  <a:pos x="79" y="39"/>
                </a:cxn>
                <a:cxn ang="0">
                  <a:pos x="111" y="51"/>
                </a:cxn>
                <a:cxn ang="0">
                  <a:pos x="138" y="53"/>
                </a:cxn>
                <a:cxn ang="0">
                  <a:pos x="151" y="48"/>
                </a:cxn>
                <a:cxn ang="0">
                  <a:pos x="154" y="42"/>
                </a:cxn>
                <a:cxn ang="0">
                  <a:pos x="181" y="29"/>
                </a:cxn>
                <a:cxn ang="0">
                  <a:pos x="220" y="36"/>
                </a:cxn>
                <a:cxn ang="0">
                  <a:pos x="246" y="53"/>
                </a:cxn>
                <a:cxn ang="0">
                  <a:pos x="265" y="73"/>
                </a:cxn>
                <a:cxn ang="0">
                  <a:pos x="261" y="96"/>
                </a:cxn>
                <a:cxn ang="0">
                  <a:pos x="267" y="111"/>
                </a:cxn>
                <a:cxn ang="0">
                  <a:pos x="269" y="129"/>
                </a:cxn>
                <a:cxn ang="0">
                  <a:pos x="287" y="149"/>
                </a:cxn>
                <a:cxn ang="0">
                  <a:pos x="279" y="177"/>
                </a:cxn>
                <a:cxn ang="0">
                  <a:pos x="300" y="201"/>
                </a:cxn>
                <a:cxn ang="0">
                  <a:pos x="317" y="225"/>
                </a:cxn>
                <a:cxn ang="0">
                  <a:pos x="322" y="234"/>
                </a:cxn>
                <a:cxn ang="0">
                  <a:pos x="303" y="246"/>
                </a:cxn>
                <a:cxn ang="0">
                  <a:pos x="285" y="258"/>
                </a:cxn>
                <a:cxn ang="0">
                  <a:pos x="251" y="252"/>
                </a:cxn>
                <a:cxn ang="0">
                  <a:pos x="228" y="238"/>
                </a:cxn>
                <a:cxn ang="0">
                  <a:pos x="209" y="231"/>
                </a:cxn>
                <a:cxn ang="0">
                  <a:pos x="172" y="231"/>
                </a:cxn>
                <a:cxn ang="0">
                  <a:pos x="144" y="213"/>
                </a:cxn>
                <a:cxn ang="0">
                  <a:pos x="125" y="190"/>
                </a:cxn>
                <a:cxn ang="0">
                  <a:pos x="105" y="172"/>
                </a:cxn>
                <a:cxn ang="0">
                  <a:pos x="97" y="166"/>
                </a:cxn>
                <a:cxn ang="0">
                  <a:pos x="90" y="174"/>
                </a:cxn>
                <a:cxn ang="0">
                  <a:pos x="81" y="156"/>
                </a:cxn>
                <a:cxn ang="0">
                  <a:pos x="76" y="142"/>
                </a:cxn>
                <a:cxn ang="0">
                  <a:pos x="57" y="126"/>
                </a:cxn>
              </a:cxnLst>
              <a:rect l="0" t="0" r="r" b="b"/>
              <a:pathLst>
                <a:path w="322" h="261">
                  <a:moveTo>
                    <a:pt x="45" y="118"/>
                  </a:moveTo>
                  <a:lnTo>
                    <a:pt x="36" y="106"/>
                  </a:lnTo>
                  <a:lnTo>
                    <a:pt x="35" y="96"/>
                  </a:lnTo>
                  <a:lnTo>
                    <a:pt x="40" y="79"/>
                  </a:lnTo>
                  <a:lnTo>
                    <a:pt x="40" y="71"/>
                  </a:lnTo>
                  <a:lnTo>
                    <a:pt x="29" y="66"/>
                  </a:lnTo>
                  <a:lnTo>
                    <a:pt x="15" y="46"/>
                  </a:lnTo>
                  <a:lnTo>
                    <a:pt x="5" y="33"/>
                  </a:lnTo>
                  <a:lnTo>
                    <a:pt x="1" y="15"/>
                  </a:lnTo>
                  <a:lnTo>
                    <a:pt x="0" y="5"/>
                  </a:lnTo>
                  <a:lnTo>
                    <a:pt x="6" y="0"/>
                  </a:lnTo>
                  <a:lnTo>
                    <a:pt x="7" y="1"/>
                  </a:lnTo>
                  <a:lnTo>
                    <a:pt x="10" y="5"/>
                  </a:lnTo>
                  <a:lnTo>
                    <a:pt x="28" y="15"/>
                  </a:lnTo>
                  <a:lnTo>
                    <a:pt x="40" y="10"/>
                  </a:lnTo>
                  <a:lnTo>
                    <a:pt x="54" y="0"/>
                  </a:lnTo>
                  <a:lnTo>
                    <a:pt x="59" y="10"/>
                  </a:lnTo>
                  <a:lnTo>
                    <a:pt x="58" y="13"/>
                  </a:lnTo>
                  <a:lnTo>
                    <a:pt x="71" y="23"/>
                  </a:lnTo>
                  <a:lnTo>
                    <a:pt x="79" y="39"/>
                  </a:lnTo>
                  <a:lnTo>
                    <a:pt x="96" y="46"/>
                  </a:lnTo>
                  <a:lnTo>
                    <a:pt x="111" y="51"/>
                  </a:lnTo>
                  <a:lnTo>
                    <a:pt x="125" y="55"/>
                  </a:lnTo>
                  <a:lnTo>
                    <a:pt x="138" y="53"/>
                  </a:lnTo>
                  <a:lnTo>
                    <a:pt x="149" y="51"/>
                  </a:lnTo>
                  <a:lnTo>
                    <a:pt x="151" y="48"/>
                  </a:lnTo>
                  <a:lnTo>
                    <a:pt x="149" y="42"/>
                  </a:lnTo>
                  <a:lnTo>
                    <a:pt x="154" y="42"/>
                  </a:lnTo>
                  <a:lnTo>
                    <a:pt x="165" y="31"/>
                  </a:lnTo>
                  <a:lnTo>
                    <a:pt x="181" y="29"/>
                  </a:lnTo>
                  <a:lnTo>
                    <a:pt x="196" y="28"/>
                  </a:lnTo>
                  <a:lnTo>
                    <a:pt x="220" y="36"/>
                  </a:lnTo>
                  <a:lnTo>
                    <a:pt x="233" y="45"/>
                  </a:lnTo>
                  <a:lnTo>
                    <a:pt x="246" y="53"/>
                  </a:lnTo>
                  <a:lnTo>
                    <a:pt x="259" y="55"/>
                  </a:lnTo>
                  <a:lnTo>
                    <a:pt x="265" y="73"/>
                  </a:lnTo>
                  <a:lnTo>
                    <a:pt x="262" y="94"/>
                  </a:lnTo>
                  <a:lnTo>
                    <a:pt x="261" y="96"/>
                  </a:lnTo>
                  <a:lnTo>
                    <a:pt x="261" y="106"/>
                  </a:lnTo>
                  <a:lnTo>
                    <a:pt x="267" y="111"/>
                  </a:lnTo>
                  <a:lnTo>
                    <a:pt x="265" y="114"/>
                  </a:lnTo>
                  <a:lnTo>
                    <a:pt x="269" y="129"/>
                  </a:lnTo>
                  <a:lnTo>
                    <a:pt x="271" y="144"/>
                  </a:lnTo>
                  <a:lnTo>
                    <a:pt x="287" y="149"/>
                  </a:lnTo>
                  <a:lnTo>
                    <a:pt x="289" y="156"/>
                  </a:lnTo>
                  <a:lnTo>
                    <a:pt x="279" y="177"/>
                  </a:lnTo>
                  <a:lnTo>
                    <a:pt x="289" y="189"/>
                  </a:lnTo>
                  <a:lnTo>
                    <a:pt x="300" y="201"/>
                  </a:lnTo>
                  <a:lnTo>
                    <a:pt x="312" y="207"/>
                  </a:lnTo>
                  <a:lnTo>
                    <a:pt x="317" y="225"/>
                  </a:lnTo>
                  <a:lnTo>
                    <a:pt x="322" y="227"/>
                  </a:lnTo>
                  <a:lnTo>
                    <a:pt x="322" y="234"/>
                  </a:lnTo>
                  <a:lnTo>
                    <a:pt x="309" y="240"/>
                  </a:lnTo>
                  <a:lnTo>
                    <a:pt x="303" y="246"/>
                  </a:lnTo>
                  <a:lnTo>
                    <a:pt x="301" y="261"/>
                  </a:lnTo>
                  <a:lnTo>
                    <a:pt x="285" y="258"/>
                  </a:lnTo>
                  <a:lnTo>
                    <a:pt x="268" y="255"/>
                  </a:lnTo>
                  <a:lnTo>
                    <a:pt x="251" y="252"/>
                  </a:lnTo>
                  <a:lnTo>
                    <a:pt x="234" y="250"/>
                  </a:lnTo>
                  <a:lnTo>
                    <a:pt x="228" y="238"/>
                  </a:lnTo>
                  <a:lnTo>
                    <a:pt x="221" y="226"/>
                  </a:lnTo>
                  <a:lnTo>
                    <a:pt x="209" y="231"/>
                  </a:lnTo>
                  <a:lnTo>
                    <a:pt x="196" y="235"/>
                  </a:lnTo>
                  <a:lnTo>
                    <a:pt x="172" y="231"/>
                  </a:lnTo>
                  <a:lnTo>
                    <a:pt x="159" y="221"/>
                  </a:lnTo>
                  <a:lnTo>
                    <a:pt x="144" y="213"/>
                  </a:lnTo>
                  <a:lnTo>
                    <a:pt x="132" y="201"/>
                  </a:lnTo>
                  <a:lnTo>
                    <a:pt x="125" y="190"/>
                  </a:lnTo>
                  <a:lnTo>
                    <a:pt x="111" y="171"/>
                  </a:lnTo>
                  <a:lnTo>
                    <a:pt x="105" y="172"/>
                  </a:lnTo>
                  <a:lnTo>
                    <a:pt x="97" y="167"/>
                  </a:lnTo>
                  <a:lnTo>
                    <a:pt x="97" y="166"/>
                  </a:lnTo>
                  <a:lnTo>
                    <a:pt x="93" y="174"/>
                  </a:lnTo>
                  <a:lnTo>
                    <a:pt x="90" y="174"/>
                  </a:lnTo>
                  <a:lnTo>
                    <a:pt x="85" y="168"/>
                  </a:lnTo>
                  <a:lnTo>
                    <a:pt x="81" y="156"/>
                  </a:lnTo>
                  <a:lnTo>
                    <a:pt x="75" y="156"/>
                  </a:lnTo>
                  <a:lnTo>
                    <a:pt x="76" y="142"/>
                  </a:lnTo>
                  <a:lnTo>
                    <a:pt x="70" y="135"/>
                  </a:lnTo>
                  <a:lnTo>
                    <a:pt x="57" y="126"/>
                  </a:lnTo>
                  <a:lnTo>
                    <a:pt x="45" y="1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2" name="Freeform 61"/>
            <p:cNvSpPr>
              <a:spLocks/>
            </p:cNvSpPr>
            <p:nvPr/>
          </p:nvSpPr>
          <p:spPr bwMode="auto">
            <a:xfrm>
              <a:off x="3180" y="1961"/>
              <a:ext cx="173" cy="162"/>
            </a:xfrm>
            <a:custGeom>
              <a:avLst/>
              <a:gdLst/>
              <a:ahLst/>
              <a:cxnLst>
                <a:cxn ang="0">
                  <a:pos x="101" y="63"/>
                </a:cxn>
                <a:cxn ang="0">
                  <a:pos x="100" y="53"/>
                </a:cxn>
                <a:cxn ang="0">
                  <a:pos x="105" y="36"/>
                </a:cxn>
                <a:cxn ang="0">
                  <a:pos x="105" y="28"/>
                </a:cxn>
                <a:cxn ang="0">
                  <a:pos x="94" y="23"/>
                </a:cxn>
                <a:cxn ang="0">
                  <a:pos x="80" y="3"/>
                </a:cxn>
                <a:cxn ang="0">
                  <a:pos x="71" y="4"/>
                </a:cxn>
                <a:cxn ang="0">
                  <a:pos x="68" y="0"/>
                </a:cxn>
                <a:cxn ang="0">
                  <a:pos x="47" y="0"/>
                </a:cxn>
                <a:cxn ang="0">
                  <a:pos x="44" y="4"/>
                </a:cxn>
                <a:cxn ang="0">
                  <a:pos x="30" y="17"/>
                </a:cxn>
                <a:cxn ang="0">
                  <a:pos x="30" y="34"/>
                </a:cxn>
                <a:cxn ang="0">
                  <a:pos x="30" y="52"/>
                </a:cxn>
                <a:cxn ang="0">
                  <a:pos x="15" y="62"/>
                </a:cxn>
                <a:cxn ang="0">
                  <a:pos x="0" y="70"/>
                </a:cxn>
                <a:cxn ang="0">
                  <a:pos x="10" y="92"/>
                </a:cxn>
                <a:cxn ang="0">
                  <a:pos x="24" y="98"/>
                </a:cxn>
                <a:cxn ang="0">
                  <a:pos x="40" y="105"/>
                </a:cxn>
                <a:cxn ang="0">
                  <a:pos x="54" y="111"/>
                </a:cxn>
                <a:cxn ang="0">
                  <a:pos x="69" y="118"/>
                </a:cxn>
                <a:cxn ang="0">
                  <a:pos x="83" y="131"/>
                </a:cxn>
                <a:cxn ang="0">
                  <a:pos x="99" y="146"/>
                </a:cxn>
                <a:cxn ang="0">
                  <a:pos x="126" y="147"/>
                </a:cxn>
                <a:cxn ang="0">
                  <a:pos x="134" y="132"/>
                </a:cxn>
                <a:cxn ang="0">
                  <a:pos x="147" y="131"/>
                </a:cxn>
                <a:cxn ang="0">
                  <a:pos x="155" y="131"/>
                </a:cxn>
                <a:cxn ang="0">
                  <a:pos x="150" y="125"/>
                </a:cxn>
                <a:cxn ang="0">
                  <a:pos x="146" y="113"/>
                </a:cxn>
                <a:cxn ang="0">
                  <a:pos x="140" y="113"/>
                </a:cxn>
                <a:cxn ang="0">
                  <a:pos x="141" y="99"/>
                </a:cxn>
                <a:cxn ang="0">
                  <a:pos x="135" y="92"/>
                </a:cxn>
                <a:cxn ang="0">
                  <a:pos x="122" y="83"/>
                </a:cxn>
                <a:cxn ang="0">
                  <a:pos x="110" y="75"/>
                </a:cxn>
                <a:cxn ang="0">
                  <a:pos x="101" y="63"/>
                </a:cxn>
              </a:cxnLst>
              <a:rect l="0" t="0" r="r" b="b"/>
              <a:pathLst>
                <a:path w="155" h="147">
                  <a:moveTo>
                    <a:pt x="101" y="63"/>
                  </a:moveTo>
                  <a:lnTo>
                    <a:pt x="100" y="53"/>
                  </a:lnTo>
                  <a:lnTo>
                    <a:pt x="105" y="36"/>
                  </a:lnTo>
                  <a:lnTo>
                    <a:pt x="105" y="28"/>
                  </a:lnTo>
                  <a:lnTo>
                    <a:pt x="94" y="23"/>
                  </a:lnTo>
                  <a:lnTo>
                    <a:pt x="80" y="3"/>
                  </a:lnTo>
                  <a:lnTo>
                    <a:pt x="71" y="4"/>
                  </a:lnTo>
                  <a:lnTo>
                    <a:pt x="68" y="0"/>
                  </a:lnTo>
                  <a:lnTo>
                    <a:pt x="47" y="0"/>
                  </a:lnTo>
                  <a:lnTo>
                    <a:pt x="44" y="4"/>
                  </a:lnTo>
                  <a:lnTo>
                    <a:pt x="30" y="17"/>
                  </a:lnTo>
                  <a:lnTo>
                    <a:pt x="30" y="34"/>
                  </a:lnTo>
                  <a:lnTo>
                    <a:pt x="30" y="52"/>
                  </a:lnTo>
                  <a:lnTo>
                    <a:pt x="15" y="62"/>
                  </a:lnTo>
                  <a:lnTo>
                    <a:pt x="0" y="70"/>
                  </a:lnTo>
                  <a:lnTo>
                    <a:pt x="10" y="92"/>
                  </a:lnTo>
                  <a:lnTo>
                    <a:pt x="24" y="98"/>
                  </a:lnTo>
                  <a:lnTo>
                    <a:pt x="40" y="105"/>
                  </a:lnTo>
                  <a:lnTo>
                    <a:pt x="54" y="111"/>
                  </a:lnTo>
                  <a:lnTo>
                    <a:pt x="69" y="118"/>
                  </a:lnTo>
                  <a:lnTo>
                    <a:pt x="83" y="131"/>
                  </a:lnTo>
                  <a:lnTo>
                    <a:pt x="99" y="146"/>
                  </a:lnTo>
                  <a:lnTo>
                    <a:pt x="126" y="147"/>
                  </a:lnTo>
                  <a:lnTo>
                    <a:pt x="134" y="132"/>
                  </a:lnTo>
                  <a:lnTo>
                    <a:pt x="147" y="131"/>
                  </a:lnTo>
                  <a:lnTo>
                    <a:pt x="155" y="131"/>
                  </a:lnTo>
                  <a:lnTo>
                    <a:pt x="150" y="125"/>
                  </a:lnTo>
                  <a:lnTo>
                    <a:pt x="146" y="113"/>
                  </a:lnTo>
                  <a:lnTo>
                    <a:pt x="140" y="113"/>
                  </a:lnTo>
                  <a:lnTo>
                    <a:pt x="141" y="99"/>
                  </a:lnTo>
                  <a:lnTo>
                    <a:pt x="135" y="92"/>
                  </a:lnTo>
                  <a:lnTo>
                    <a:pt x="122" y="83"/>
                  </a:lnTo>
                  <a:lnTo>
                    <a:pt x="110" y="75"/>
                  </a:lnTo>
                  <a:lnTo>
                    <a:pt x="101" y="6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3" name="Freeform 62"/>
            <p:cNvSpPr>
              <a:spLocks/>
            </p:cNvSpPr>
            <p:nvPr/>
          </p:nvSpPr>
          <p:spPr bwMode="auto">
            <a:xfrm>
              <a:off x="3320" y="2107"/>
              <a:ext cx="33" cy="29"/>
            </a:xfrm>
            <a:custGeom>
              <a:avLst/>
              <a:gdLst/>
              <a:ahLst/>
              <a:cxnLst>
                <a:cxn ang="0">
                  <a:pos x="24" y="7"/>
                </a:cxn>
                <a:cxn ang="0">
                  <a:pos x="20" y="9"/>
                </a:cxn>
                <a:cxn ang="0">
                  <a:pos x="21" y="12"/>
                </a:cxn>
                <a:cxn ang="0">
                  <a:pos x="30" y="27"/>
                </a:cxn>
                <a:cxn ang="0">
                  <a:pos x="17" y="23"/>
                </a:cxn>
                <a:cxn ang="0">
                  <a:pos x="15" y="18"/>
                </a:cxn>
                <a:cxn ang="0">
                  <a:pos x="0" y="16"/>
                </a:cxn>
                <a:cxn ang="0">
                  <a:pos x="8" y="1"/>
                </a:cxn>
                <a:cxn ang="0">
                  <a:pos x="21" y="0"/>
                </a:cxn>
                <a:cxn ang="0">
                  <a:pos x="24" y="7"/>
                </a:cxn>
              </a:cxnLst>
              <a:rect l="0" t="0" r="r" b="b"/>
              <a:pathLst>
                <a:path w="30" h="27">
                  <a:moveTo>
                    <a:pt x="24" y="7"/>
                  </a:moveTo>
                  <a:lnTo>
                    <a:pt x="20" y="9"/>
                  </a:lnTo>
                  <a:lnTo>
                    <a:pt x="21" y="12"/>
                  </a:lnTo>
                  <a:lnTo>
                    <a:pt x="30" y="27"/>
                  </a:lnTo>
                  <a:lnTo>
                    <a:pt x="17" y="23"/>
                  </a:lnTo>
                  <a:lnTo>
                    <a:pt x="15" y="18"/>
                  </a:lnTo>
                  <a:lnTo>
                    <a:pt x="0" y="16"/>
                  </a:lnTo>
                  <a:lnTo>
                    <a:pt x="8" y="1"/>
                  </a:lnTo>
                  <a:lnTo>
                    <a:pt x="21" y="0"/>
                  </a:lnTo>
                  <a:lnTo>
                    <a:pt x="24"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4" name="Freeform 63"/>
            <p:cNvSpPr>
              <a:spLocks/>
            </p:cNvSpPr>
            <p:nvPr/>
          </p:nvSpPr>
          <p:spPr bwMode="auto">
            <a:xfrm>
              <a:off x="3893" y="2096"/>
              <a:ext cx="142" cy="80"/>
            </a:xfrm>
            <a:custGeom>
              <a:avLst/>
              <a:gdLst/>
              <a:ahLst/>
              <a:cxnLst>
                <a:cxn ang="0">
                  <a:pos x="73" y="56"/>
                </a:cxn>
                <a:cxn ang="0">
                  <a:pos x="54" y="54"/>
                </a:cxn>
                <a:cxn ang="0">
                  <a:pos x="39" y="50"/>
                </a:cxn>
                <a:cxn ang="0">
                  <a:pos x="19" y="41"/>
                </a:cxn>
                <a:cxn ang="0">
                  <a:pos x="0" y="30"/>
                </a:cxn>
                <a:cxn ang="0">
                  <a:pos x="0" y="19"/>
                </a:cxn>
                <a:cxn ang="0">
                  <a:pos x="9" y="5"/>
                </a:cxn>
                <a:cxn ang="0">
                  <a:pos x="10" y="6"/>
                </a:cxn>
                <a:cxn ang="0">
                  <a:pos x="16" y="0"/>
                </a:cxn>
                <a:cxn ang="0">
                  <a:pos x="29" y="8"/>
                </a:cxn>
                <a:cxn ang="0">
                  <a:pos x="49" y="23"/>
                </a:cxn>
                <a:cxn ang="0">
                  <a:pos x="55" y="20"/>
                </a:cxn>
                <a:cxn ang="0">
                  <a:pos x="60" y="26"/>
                </a:cxn>
                <a:cxn ang="0">
                  <a:pos x="75" y="32"/>
                </a:cxn>
                <a:cxn ang="0">
                  <a:pos x="77" y="36"/>
                </a:cxn>
                <a:cxn ang="0">
                  <a:pos x="93" y="43"/>
                </a:cxn>
                <a:cxn ang="0">
                  <a:pos x="107" y="44"/>
                </a:cxn>
                <a:cxn ang="0">
                  <a:pos x="125" y="47"/>
                </a:cxn>
                <a:cxn ang="0">
                  <a:pos x="130" y="72"/>
                </a:cxn>
                <a:cxn ang="0">
                  <a:pos x="113" y="71"/>
                </a:cxn>
                <a:cxn ang="0">
                  <a:pos x="93" y="68"/>
                </a:cxn>
                <a:cxn ang="0">
                  <a:pos x="82" y="65"/>
                </a:cxn>
                <a:cxn ang="0">
                  <a:pos x="73" y="56"/>
                </a:cxn>
              </a:cxnLst>
              <a:rect l="0" t="0" r="r" b="b"/>
              <a:pathLst>
                <a:path w="130" h="72">
                  <a:moveTo>
                    <a:pt x="73" y="56"/>
                  </a:moveTo>
                  <a:lnTo>
                    <a:pt x="54" y="54"/>
                  </a:lnTo>
                  <a:lnTo>
                    <a:pt x="39" y="50"/>
                  </a:lnTo>
                  <a:lnTo>
                    <a:pt x="19" y="41"/>
                  </a:lnTo>
                  <a:lnTo>
                    <a:pt x="0" y="30"/>
                  </a:lnTo>
                  <a:lnTo>
                    <a:pt x="0" y="19"/>
                  </a:lnTo>
                  <a:lnTo>
                    <a:pt x="9" y="5"/>
                  </a:lnTo>
                  <a:lnTo>
                    <a:pt x="10" y="6"/>
                  </a:lnTo>
                  <a:lnTo>
                    <a:pt x="16" y="0"/>
                  </a:lnTo>
                  <a:lnTo>
                    <a:pt x="29" y="8"/>
                  </a:lnTo>
                  <a:lnTo>
                    <a:pt x="49" y="23"/>
                  </a:lnTo>
                  <a:lnTo>
                    <a:pt x="55" y="20"/>
                  </a:lnTo>
                  <a:lnTo>
                    <a:pt x="60" y="26"/>
                  </a:lnTo>
                  <a:lnTo>
                    <a:pt x="75" y="32"/>
                  </a:lnTo>
                  <a:lnTo>
                    <a:pt x="77" y="36"/>
                  </a:lnTo>
                  <a:lnTo>
                    <a:pt x="93" y="43"/>
                  </a:lnTo>
                  <a:lnTo>
                    <a:pt x="107" y="44"/>
                  </a:lnTo>
                  <a:lnTo>
                    <a:pt x="125" y="47"/>
                  </a:lnTo>
                  <a:lnTo>
                    <a:pt x="130" y="72"/>
                  </a:lnTo>
                  <a:lnTo>
                    <a:pt x="113" y="71"/>
                  </a:lnTo>
                  <a:lnTo>
                    <a:pt x="93" y="68"/>
                  </a:lnTo>
                  <a:lnTo>
                    <a:pt x="82" y="65"/>
                  </a:lnTo>
                  <a:lnTo>
                    <a:pt x="73"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5" name="Freeform 64"/>
            <p:cNvSpPr>
              <a:spLocks/>
            </p:cNvSpPr>
            <p:nvPr/>
          </p:nvSpPr>
          <p:spPr bwMode="auto">
            <a:xfrm>
              <a:off x="3562" y="1967"/>
              <a:ext cx="260" cy="263"/>
            </a:xfrm>
            <a:custGeom>
              <a:avLst/>
              <a:gdLst/>
              <a:ahLst/>
              <a:cxnLst>
                <a:cxn ang="0">
                  <a:pos x="102" y="217"/>
                </a:cxn>
                <a:cxn ang="0">
                  <a:pos x="116" y="233"/>
                </a:cxn>
                <a:cxn ang="0">
                  <a:pos x="135" y="234"/>
                </a:cxn>
                <a:cxn ang="0">
                  <a:pos x="148" y="229"/>
                </a:cxn>
                <a:cxn ang="0">
                  <a:pos x="169" y="227"/>
                </a:cxn>
                <a:cxn ang="0">
                  <a:pos x="156" y="203"/>
                </a:cxn>
                <a:cxn ang="0">
                  <a:pos x="140" y="185"/>
                </a:cxn>
                <a:cxn ang="0">
                  <a:pos x="154" y="165"/>
                </a:cxn>
                <a:cxn ang="0">
                  <a:pos x="180" y="149"/>
                </a:cxn>
                <a:cxn ang="0">
                  <a:pos x="196" y="120"/>
                </a:cxn>
                <a:cxn ang="0">
                  <a:pos x="200" y="95"/>
                </a:cxn>
                <a:cxn ang="0">
                  <a:pos x="204" y="82"/>
                </a:cxn>
                <a:cxn ang="0">
                  <a:pos x="190" y="71"/>
                </a:cxn>
                <a:cxn ang="0">
                  <a:pos x="187" y="57"/>
                </a:cxn>
                <a:cxn ang="0">
                  <a:pos x="180" y="42"/>
                </a:cxn>
                <a:cxn ang="0">
                  <a:pos x="219" y="40"/>
                </a:cxn>
                <a:cxn ang="0">
                  <a:pos x="213" y="22"/>
                </a:cxn>
                <a:cxn ang="0">
                  <a:pos x="195" y="5"/>
                </a:cxn>
                <a:cxn ang="0">
                  <a:pos x="159" y="4"/>
                </a:cxn>
                <a:cxn ang="0">
                  <a:pos x="134" y="19"/>
                </a:cxn>
                <a:cxn ang="0">
                  <a:pos x="138" y="47"/>
                </a:cxn>
                <a:cxn ang="0">
                  <a:pos x="122" y="57"/>
                </a:cxn>
                <a:cxn ang="0">
                  <a:pos x="118" y="77"/>
                </a:cxn>
                <a:cxn ang="0">
                  <a:pos x="103" y="96"/>
                </a:cxn>
                <a:cxn ang="0">
                  <a:pos x="84" y="107"/>
                </a:cxn>
                <a:cxn ang="0">
                  <a:pos x="81" y="129"/>
                </a:cxn>
                <a:cxn ang="0">
                  <a:pos x="49" y="136"/>
                </a:cxn>
                <a:cxn ang="0">
                  <a:pos x="13" y="132"/>
                </a:cxn>
                <a:cxn ang="0">
                  <a:pos x="10" y="141"/>
                </a:cxn>
                <a:cxn ang="0">
                  <a:pos x="33" y="159"/>
                </a:cxn>
                <a:cxn ang="0">
                  <a:pos x="43" y="179"/>
                </a:cxn>
                <a:cxn ang="0">
                  <a:pos x="30" y="192"/>
                </a:cxn>
                <a:cxn ang="0">
                  <a:pos x="22" y="213"/>
                </a:cxn>
                <a:cxn ang="0">
                  <a:pos x="51" y="211"/>
                </a:cxn>
                <a:cxn ang="0">
                  <a:pos x="80" y="209"/>
                </a:cxn>
              </a:cxnLst>
              <a:rect l="0" t="0" r="r" b="b"/>
              <a:pathLst>
                <a:path w="234" h="238">
                  <a:moveTo>
                    <a:pt x="96" y="208"/>
                  </a:moveTo>
                  <a:lnTo>
                    <a:pt x="102" y="217"/>
                  </a:lnTo>
                  <a:lnTo>
                    <a:pt x="108" y="220"/>
                  </a:lnTo>
                  <a:lnTo>
                    <a:pt x="116" y="233"/>
                  </a:lnTo>
                  <a:lnTo>
                    <a:pt x="128" y="238"/>
                  </a:lnTo>
                  <a:lnTo>
                    <a:pt x="135" y="234"/>
                  </a:lnTo>
                  <a:lnTo>
                    <a:pt x="135" y="228"/>
                  </a:lnTo>
                  <a:lnTo>
                    <a:pt x="148" y="229"/>
                  </a:lnTo>
                  <a:lnTo>
                    <a:pt x="163" y="227"/>
                  </a:lnTo>
                  <a:lnTo>
                    <a:pt x="169" y="227"/>
                  </a:lnTo>
                  <a:lnTo>
                    <a:pt x="162" y="204"/>
                  </a:lnTo>
                  <a:lnTo>
                    <a:pt x="156" y="203"/>
                  </a:lnTo>
                  <a:lnTo>
                    <a:pt x="152" y="191"/>
                  </a:lnTo>
                  <a:lnTo>
                    <a:pt x="140" y="185"/>
                  </a:lnTo>
                  <a:lnTo>
                    <a:pt x="148" y="163"/>
                  </a:lnTo>
                  <a:lnTo>
                    <a:pt x="154" y="165"/>
                  </a:lnTo>
                  <a:lnTo>
                    <a:pt x="170" y="165"/>
                  </a:lnTo>
                  <a:lnTo>
                    <a:pt x="180" y="149"/>
                  </a:lnTo>
                  <a:lnTo>
                    <a:pt x="189" y="133"/>
                  </a:lnTo>
                  <a:lnTo>
                    <a:pt x="196" y="120"/>
                  </a:lnTo>
                  <a:lnTo>
                    <a:pt x="204" y="108"/>
                  </a:lnTo>
                  <a:lnTo>
                    <a:pt x="200" y="95"/>
                  </a:lnTo>
                  <a:lnTo>
                    <a:pt x="211" y="88"/>
                  </a:lnTo>
                  <a:lnTo>
                    <a:pt x="204" y="82"/>
                  </a:lnTo>
                  <a:lnTo>
                    <a:pt x="198" y="76"/>
                  </a:lnTo>
                  <a:lnTo>
                    <a:pt x="190" y="71"/>
                  </a:lnTo>
                  <a:lnTo>
                    <a:pt x="187" y="61"/>
                  </a:lnTo>
                  <a:lnTo>
                    <a:pt x="187" y="57"/>
                  </a:lnTo>
                  <a:lnTo>
                    <a:pt x="180" y="48"/>
                  </a:lnTo>
                  <a:lnTo>
                    <a:pt x="180" y="42"/>
                  </a:lnTo>
                  <a:lnTo>
                    <a:pt x="202" y="46"/>
                  </a:lnTo>
                  <a:lnTo>
                    <a:pt x="219" y="40"/>
                  </a:lnTo>
                  <a:lnTo>
                    <a:pt x="234" y="28"/>
                  </a:lnTo>
                  <a:lnTo>
                    <a:pt x="213" y="22"/>
                  </a:lnTo>
                  <a:lnTo>
                    <a:pt x="202" y="17"/>
                  </a:lnTo>
                  <a:lnTo>
                    <a:pt x="195" y="5"/>
                  </a:lnTo>
                  <a:lnTo>
                    <a:pt x="177" y="0"/>
                  </a:lnTo>
                  <a:lnTo>
                    <a:pt x="159" y="4"/>
                  </a:lnTo>
                  <a:lnTo>
                    <a:pt x="141" y="9"/>
                  </a:lnTo>
                  <a:lnTo>
                    <a:pt x="134" y="19"/>
                  </a:lnTo>
                  <a:lnTo>
                    <a:pt x="142" y="34"/>
                  </a:lnTo>
                  <a:lnTo>
                    <a:pt x="138" y="47"/>
                  </a:lnTo>
                  <a:lnTo>
                    <a:pt x="135" y="55"/>
                  </a:lnTo>
                  <a:lnTo>
                    <a:pt x="122" y="57"/>
                  </a:lnTo>
                  <a:lnTo>
                    <a:pt x="130" y="66"/>
                  </a:lnTo>
                  <a:lnTo>
                    <a:pt x="118" y="77"/>
                  </a:lnTo>
                  <a:lnTo>
                    <a:pt x="117" y="96"/>
                  </a:lnTo>
                  <a:lnTo>
                    <a:pt x="103" y="96"/>
                  </a:lnTo>
                  <a:lnTo>
                    <a:pt x="98" y="101"/>
                  </a:lnTo>
                  <a:lnTo>
                    <a:pt x="84" y="107"/>
                  </a:lnTo>
                  <a:lnTo>
                    <a:pt x="81" y="121"/>
                  </a:lnTo>
                  <a:lnTo>
                    <a:pt x="81" y="129"/>
                  </a:lnTo>
                  <a:lnTo>
                    <a:pt x="66" y="132"/>
                  </a:lnTo>
                  <a:lnTo>
                    <a:pt x="49" y="136"/>
                  </a:lnTo>
                  <a:lnTo>
                    <a:pt x="25" y="137"/>
                  </a:lnTo>
                  <a:lnTo>
                    <a:pt x="13" y="132"/>
                  </a:lnTo>
                  <a:lnTo>
                    <a:pt x="0" y="129"/>
                  </a:lnTo>
                  <a:lnTo>
                    <a:pt x="10" y="141"/>
                  </a:lnTo>
                  <a:lnTo>
                    <a:pt x="21" y="153"/>
                  </a:lnTo>
                  <a:lnTo>
                    <a:pt x="33" y="159"/>
                  </a:lnTo>
                  <a:lnTo>
                    <a:pt x="38" y="177"/>
                  </a:lnTo>
                  <a:lnTo>
                    <a:pt x="43" y="179"/>
                  </a:lnTo>
                  <a:lnTo>
                    <a:pt x="43" y="186"/>
                  </a:lnTo>
                  <a:lnTo>
                    <a:pt x="30" y="192"/>
                  </a:lnTo>
                  <a:lnTo>
                    <a:pt x="24" y="198"/>
                  </a:lnTo>
                  <a:lnTo>
                    <a:pt x="22" y="213"/>
                  </a:lnTo>
                  <a:lnTo>
                    <a:pt x="37" y="211"/>
                  </a:lnTo>
                  <a:lnTo>
                    <a:pt x="51" y="211"/>
                  </a:lnTo>
                  <a:lnTo>
                    <a:pt x="63" y="210"/>
                  </a:lnTo>
                  <a:lnTo>
                    <a:pt x="80" y="209"/>
                  </a:lnTo>
                  <a:lnTo>
                    <a:pt x="96" y="2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6" name="Freeform 65"/>
            <p:cNvSpPr>
              <a:spLocks/>
            </p:cNvSpPr>
            <p:nvPr/>
          </p:nvSpPr>
          <p:spPr bwMode="auto">
            <a:xfrm>
              <a:off x="2951" y="2074"/>
              <a:ext cx="196" cy="196"/>
            </a:xfrm>
            <a:custGeom>
              <a:avLst/>
              <a:gdLst/>
              <a:ahLst/>
              <a:cxnLst>
                <a:cxn ang="0">
                  <a:pos x="139" y="66"/>
                </a:cxn>
                <a:cxn ang="0">
                  <a:pos x="130" y="49"/>
                </a:cxn>
                <a:cxn ang="0">
                  <a:pos x="119" y="33"/>
                </a:cxn>
                <a:cxn ang="0">
                  <a:pos x="116" y="34"/>
                </a:cxn>
                <a:cxn ang="0">
                  <a:pos x="122" y="48"/>
                </a:cxn>
                <a:cxn ang="0">
                  <a:pos x="130" y="61"/>
                </a:cxn>
                <a:cxn ang="0">
                  <a:pos x="137" y="75"/>
                </a:cxn>
                <a:cxn ang="0">
                  <a:pos x="143" y="88"/>
                </a:cxn>
                <a:cxn ang="0">
                  <a:pos x="150" y="100"/>
                </a:cxn>
                <a:cxn ang="0">
                  <a:pos x="157" y="113"/>
                </a:cxn>
                <a:cxn ang="0">
                  <a:pos x="166" y="125"/>
                </a:cxn>
                <a:cxn ang="0">
                  <a:pos x="175" y="138"/>
                </a:cxn>
                <a:cxn ang="0">
                  <a:pos x="173" y="139"/>
                </a:cxn>
                <a:cxn ang="0">
                  <a:pos x="174" y="154"/>
                </a:cxn>
                <a:cxn ang="0">
                  <a:pos x="168" y="160"/>
                </a:cxn>
                <a:cxn ang="0">
                  <a:pos x="164" y="159"/>
                </a:cxn>
                <a:cxn ang="0">
                  <a:pos x="161" y="168"/>
                </a:cxn>
                <a:cxn ang="0">
                  <a:pos x="152" y="171"/>
                </a:cxn>
                <a:cxn ang="0">
                  <a:pos x="149" y="178"/>
                </a:cxn>
                <a:cxn ang="0">
                  <a:pos x="130" y="177"/>
                </a:cxn>
                <a:cxn ang="0">
                  <a:pos x="110" y="174"/>
                </a:cxn>
                <a:cxn ang="0">
                  <a:pos x="109" y="169"/>
                </a:cxn>
                <a:cxn ang="0">
                  <a:pos x="108" y="174"/>
                </a:cxn>
                <a:cxn ang="0">
                  <a:pos x="96" y="174"/>
                </a:cxn>
                <a:cxn ang="0">
                  <a:pos x="83" y="174"/>
                </a:cxn>
                <a:cxn ang="0">
                  <a:pos x="71" y="174"/>
                </a:cxn>
                <a:cxn ang="0">
                  <a:pos x="59" y="174"/>
                </a:cxn>
                <a:cxn ang="0">
                  <a:pos x="47" y="174"/>
                </a:cxn>
                <a:cxn ang="0">
                  <a:pos x="35" y="174"/>
                </a:cxn>
                <a:cxn ang="0">
                  <a:pos x="23" y="174"/>
                </a:cxn>
                <a:cxn ang="0">
                  <a:pos x="11" y="174"/>
                </a:cxn>
                <a:cxn ang="0">
                  <a:pos x="10" y="157"/>
                </a:cxn>
                <a:cxn ang="0">
                  <a:pos x="8" y="141"/>
                </a:cxn>
                <a:cxn ang="0">
                  <a:pos x="7" y="124"/>
                </a:cxn>
                <a:cxn ang="0">
                  <a:pos x="6" y="107"/>
                </a:cxn>
                <a:cxn ang="0">
                  <a:pos x="5" y="90"/>
                </a:cxn>
                <a:cxn ang="0">
                  <a:pos x="4" y="73"/>
                </a:cxn>
                <a:cxn ang="0">
                  <a:pos x="2" y="57"/>
                </a:cxn>
                <a:cxn ang="0">
                  <a:pos x="1" y="39"/>
                </a:cxn>
                <a:cxn ang="0">
                  <a:pos x="1" y="25"/>
                </a:cxn>
                <a:cxn ang="0">
                  <a:pos x="0" y="12"/>
                </a:cxn>
                <a:cxn ang="0">
                  <a:pos x="2" y="0"/>
                </a:cxn>
                <a:cxn ang="0">
                  <a:pos x="13" y="1"/>
                </a:cxn>
                <a:cxn ang="0">
                  <a:pos x="36" y="7"/>
                </a:cxn>
                <a:cxn ang="0">
                  <a:pos x="60" y="15"/>
                </a:cxn>
                <a:cxn ang="0">
                  <a:pos x="80" y="7"/>
                </a:cxn>
                <a:cxn ang="0">
                  <a:pos x="91" y="1"/>
                </a:cxn>
                <a:cxn ang="0">
                  <a:pos x="86" y="5"/>
                </a:cxn>
                <a:cxn ang="0">
                  <a:pos x="94" y="3"/>
                </a:cxn>
                <a:cxn ang="0">
                  <a:pos x="107" y="6"/>
                </a:cxn>
                <a:cxn ang="0">
                  <a:pos x="112" y="10"/>
                </a:cxn>
                <a:cxn ang="0">
                  <a:pos x="119" y="11"/>
                </a:cxn>
                <a:cxn ang="0">
                  <a:pos x="140" y="6"/>
                </a:cxn>
                <a:cxn ang="0">
                  <a:pos x="148" y="23"/>
                </a:cxn>
                <a:cxn ang="0">
                  <a:pos x="155" y="40"/>
                </a:cxn>
                <a:cxn ang="0">
                  <a:pos x="151" y="54"/>
                </a:cxn>
                <a:cxn ang="0">
                  <a:pos x="148" y="69"/>
                </a:cxn>
                <a:cxn ang="0">
                  <a:pos x="139" y="66"/>
                </a:cxn>
              </a:cxnLst>
              <a:rect l="0" t="0" r="r" b="b"/>
              <a:pathLst>
                <a:path w="175" h="178">
                  <a:moveTo>
                    <a:pt x="139" y="66"/>
                  </a:moveTo>
                  <a:lnTo>
                    <a:pt x="130" y="49"/>
                  </a:lnTo>
                  <a:lnTo>
                    <a:pt x="119" y="33"/>
                  </a:lnTo>
                  <a:lnTo>
                    <a:pt x="116" y="34"/>
                  </a:lnTo>
                  <a:lnTo>
                    <a:pt x="122" y="48"/>
                  </a:lnTo>
                  <a:lnTo>
                    <a:pt x="130" y="61"/>
                  </a:lnTo>
                  <a:lnTo>
                    <a:pt x="137" y="75"/>
                  </a:lnTo>
                  <a:lnTo>
                    <a:pt x="143" y="88"/>
                  </a:lnTo>
                  <a:lnTo>
                    <a:pt x="150" y="100"/>
                  </a:lnTo>
                  <a:lnTo>
                    <a:pt x="157" y="113"/>
                  </a:lnTo>
                  <a:lnTo>
                    <a:pt x="166" y="125"/>
                  </a:lnTo>
                  <a:lnTo>
                    <a:pt x="175" y="138"/>
                  </a:lnTo>
                  <a:lnTo>
                    <a:pt x="173" y="139"/>
                  </a:lnTo>
                  <a:lnTo>
                    <a:pt x="174" y="154"/>
                  </a:lnTo>
                  <a:lnTo>
                    <a:pt x="168" y="160"/>
                  </a:lnTo>
                  <a:lnTo>
                    <a:pt x="164" y="159"/>
                  </a:lnTo>
                  <a:lnTo>
                    <a:pt x="161" y="168"/>
                  </a:lnTo>
                  <a:lnTo>
                    <a:pt x="152" y="171"/>
                  </a:lnTo>
                  <a:lnTo>
                    <a:pt x="149" y="178"/>
                  </a:lnTo>
                  <a:lnTo>
                    <a:pt x="130" y="177"/>
                  </a:lnTo>
                  <a:lnTo>
                    <a:pt x="110" y="174"/>
                  </a:lnTo>
                  <a:lnTo>
                    <a:pt x="109" y="169"/>
                  </a:lnTo>
                  <a:lnTo>
                    <a:pt x="108" y="174"/>
                  </a:lnTo>
                  <a:lnTo>
                    <a:pt x="96" y="174"/>
                  </a:lnTo>
                  <a:lnTo>
                    <a:pt x="83" y="174"/>
                  </a:lnTo>
                  <a:lnTo>
                    <a:pt x="71" y="174"/>
                  </a:lnTo>
                  <a:lnTo>
                    <a:pt x="59" y="174"/>
                  </a:lnTo>
                  <a:lnTo>
                    <a:pt x="47" y="174"/>
                  </a:lnTo>
                  <a:lnTo>
                    <a:pt x="35" y="174"/>
                  </a:lnTo>
                  <a:lnTo>
                    <a:pt x="23" y="174"/>
                  </a:lnTo>
                  <a:lnTo>
                    <a:pt x="11" y="174"/>
                  </a:lnTo>
                  <a:lnTo>
                    <a:pt x="10" y="157"/>
                  </a:lnTo>
                  <a:lnTo>
                    <a:pt x="8" y="141"/>
                  </a:lnTo>
                  <a:lnTo>
                    <a:pt x="7" y="124"/>
                  </a:lnTo>
                  <a:lnTo>
                    <a:pt x="6" y="107"/>
                  </a:lnTo>
                  <a:lnTo>
                    <a:pt x="5" y="90"/>
                  </a:lnTo>
                  <a:lnTo>
                    <a:pt x="4" y="73"/>
                  </a:lnTo>
                  <a:lnTo>
                    <a:pt x="2" y="57"/>
                  </a:lnTo>
                  <a:lnTo>
                    <a:pt x="1" y="39"/>
                  </a:lnTo>
                  <a:lnTo>
                    <a:pt x="1" y="25"/>
                  </a:lnTo>
                  <a:lnTo>
                    <a:pt x="0" y="12"/>
                  </a:lnTo>
                  <a:lnTo>
                    <a:pt x="2" y="0"/>
                  </a:lnTo>
                  <a:lnTo>
                    <a:pt x="13" y="1"/>
                  </a:lnTo>
                  <a:lnTo>
                    <a:pt x="36" y="7"/>
                  </a:lnTo>
                  <a:lnTo>
                    <a:pt x="60" y="15"/>
                  </a:lnTo>
                  <a:lnTo>
                    <a:pt x="80" y="7"/>
                  </a:lnTo>
                  <a:lnTo>
                    <a:pt x="91" y="1"/>
                  </a:lnTo>
                  <a:lnTo>
                    <a:pt x="86" y="5"/>
                  </a:lnTo>
                  <a:lnTo>
                    <a:pt x="94" y="3"/>
                  </a:lnTo>
                  <a:lnTo>
                    <a:pt x="107" y="6"/>
                  </a:lnTo>
                  <a:lnTo>
                    <a:pt x="112" y="10"/>
                  </a:lnTo>
                  <a:lnTo>
                    <a:pt x="119" y="11"/>
                  </a:lnTo>
                  <a:lnTo>
                    <a:pt x="140" y="6"/>
                  </a:lnTo>
                  <a:lnTo>
                    <a:pt x="148" y="23"/>
                  </a:lnTo>
                  <a:lnTo>
                    <a:pt x="155" y="40"/>
                  </a:lnTo>
                  <a:lnTo>
                    <a:pt x="151" y="54"/>
                  </a:lnTo>
                  <a:lnTo>
                    <a:pt x="148" y="69"/>
                  </a:lnTo>
                  <a:lnTo>
                    <a:pt x="139" y="6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7" name="Freeform 66"/>
            <p:cNvSpPr>
              <a:spLocks/>
            </p:cNvSpPr>
            <p:nvPr/>
          </p:nvSpPr>
          <p:spPr bwMode="auto">
            <a:xfrm>
              <a:off x="3704" y="1996"/>
              <a:ext cx="482" cy="547"/>
            </a:xfrm>
            <a:custGeom>
              <a:avLst/>
              <a:gdLst/>
              <a:ahLst/>
              <a:cxnLst>
                <a:cxn ang="0">
                  <a:pos x="74" y="18"/>
                </a:cxn>
                <a:cxn ang="0">
                  <a:pos x="59" y="29"/>
                </a:cxn>
                <a:cxn ang="0">
                  <a:pos x="70" y="48"/>
                </a:cxn>
                <a:cxn ang="0">
                  <a:pos x="72" y="67"/>
                </a:cxn>
                <a:cxn ang="0">
                  <a:pos x="61" y="105"/>
                </a:cxn>
                <a:cxn ang="0">
                  <a:pos x="26" y="137"/>
                </a:cxn>
                <a:cxn ang="0">
                  <a:pos x="24" y="163"/>
                </a:cxn>
                <a:cxn ang="0">
                  <a:pos x="41" y="199"/>
                </a:cxn>
                <a:cxn ang="0">
                  <a:pos x="7" y="200"/>
                </a:cxn>
                <a:cxn ang="0">
                  <a:pos x="0" y="211"/>
                </a:cxn>
                <a:cxn ang="0">
                  <a:pos x="17" y="227"/>
                </a:cxn>
                <a:cxn ang="0">
                  <a:pos x="23" y="235"/>
                </a:cxn>
                <a:cxn ang="0">
                  <a:pos x="42" y="264"/>
                </a:cxn>
                <a:cxn ang="0">
                  <a:pos x="66" y="237"/>
                </a:cxn>
                <a:cxn ang="0">
                  <a:pos x="71" y="246"/>
                </a:cxn>
                <a:cxn ang="0">
                  <a:pos x="77" y="260"/>
                </a:cxn>
                <a:cxn ang="0">
                  <a:pos x="83" y="295"/>
                </a:cxn>
                <a:cxn ang="0">
                  <a:pos x="95" y="339"/>
                </a:cxn>
                <a:cxn ang="0">
                  <a:pos x="113" y="381"/>
                </a:cxn>
                <a:cxn ang="0">
                  <a:pos x="136" y="432"/>
                </a:cxn>
                <a:cxn ang="0">
                  <a:pos x="155" y="473"/>
                </a:cxn>
                <a:cxn ang="0">
                  <a:pos x="179" y="482"/>
                </a:cxn>
                <a:cxn ang="0">
                  <a:pos x="192" y="464"/>
                </a:cxn>
                <a:cxn ang="0">
                  <a:pos x="204" y="438"/>
                </a:cxn>
                <a:cxn ang="0">
                  <a:pos x="208" y="396"/>
                </a:cxn>
                <a:cxn ang="0">
                  <a:pos x="211" y="353"/>
                </a:cxn>
                <a:cxn ang="0">
                  <a:pos x="221" y="343"/>
                </a:cxn>
                <a:cxn ang="0">
                  <a:pos x="251" y="312"/>
                </a:cxn>
                <a:cxn ang="0">
                  <a:pos x="288" y="277"/>
                </a:cxn>
                <a:cxn ang="0">
                  <a:pos x="312" y="241"/>
                </a:cxn>
                <a:cxn ang="0">
                  <a:pos x="324" y="247"/>
                </a:cxn>
                <a:cxn ang="0">
                  <a:pos x="323" y="229"/>
                </a:cxn>
                <a:cxn ang="0">
                  <a:pos x="305" y="195"/>
                </a:cxn>
                <a:cxn ang="0">
                  <a:pos x="304" y="174"/>
                </a:cxn>
                <a:cxn ang="0">
                  <a:pos x="319" y="170"/>
                </a:cxn>
                <a:cxn ang="0">
                  <a:pos x="346" y="183"/>
                </a:cxn>
                <a:cxn ang="0">
                  <a:pos x="368" y="198"/>
                </a:cxn>
                <a:cxn ang="0">
                  <a:pos x="362" y="224"/>
                </a:cxn>
                <a:cxn ang="0">
                  <a:pos x="382" y="242"/>
                </a:cxn>
                <a:cxn ang="0">
                  <a:pos x="389" y="223"/>
                </a:cxn>
                <a:cxn ang="0">
                  <a:pos x="406" y="186"/>
                </a:cxn>
                <a:cxn ang="0">
                  <a:pos x="421" y="147"/>
                </a:cxn>
                <a:cxn ang="0">
                  <a:pos x="432" y="139"/>
                </a:cxn>
                <a:cxn ang="0">
                  <a:pos x="418" y="116"/>
                </a:cxn>
                <a:cxn ang="0">
                  <a:pos x="407" y="109"/>
                </a:cxn>
                <a:cxn ang="0">
                  <a:pos x="374" y="122"/>
                </a:cxn>
                <a:cxn ang="0">
                  <a:pos x="348" y="138"/>
                </a:cxn>
                <a:cxn ang="0">
                  <a:pos x="344" y="155"/>
                </a:cxn>
                <a:cxn ang="0">
                  <a:pos x="308" y="146"/>
                </a:cxn>
                <a:cxn ang="0">
                  <a:pos x="299" y="162"/>
                </a:cxn>
                <a:cxn ang="0">
                  <a:pos x="251" y="155"/>
                </a:cxn>
                <a:cxn ang="0">
                  <a:pos x="208" y="140"/>
                </a:cxn>
                <a:cxn ang="0">
                  <a:pos x="169" y="109"/>
                </a:cxn>
                <a:cxn ang="0">
                  <a:pos x="144" y="74"/>
                </a:cxn>
                <a:cxn ang="0">
                  <a:pos x="139" y="54"/>
                </a:cxn>
                <a:cxn ang="0">
                  <a:pos x="132" y="26"/>
                </a:cxn>
                <a:cxn ang="0">
                  <a:pos x="127" y="19"/>
                </a:cxn>
                <a:cxn ang="0">
                  <a:pos x="122" y="6"/>
                </a:cxn>
                <a:cxn ang="0">
                  <a:pos x="106" y="0"/>
                </a:cxn>
              </a:cxnLst>
              <a:rect l="0" t="0" r="r" b="b"/>
              <a:pathLst>
                <a:path w="434" h="491">
                  <a:moveTo>
                    <a:pt x="106" y="0"/>
                  </a:moveTo>
                  <a:lnTo>
                    <a:pt x="91" y="12"/>
                  </a:lnTo>
                  <a:lnTo>
                    <a:pt x="74" y="18"/>
                  </a:lnTo>
                  <a:lnTo>
                    <a:pt x="52" y="14"/>
                  </a:lnTo>
                  <a:lnTo>
                    <a:pt x="52" y="20"/>
                  </a:lnTo>
                  <a:lnTo>
                    <a:pt x="59" y="29"/>
                  </a:lnTo>
                  <a:lnTo>
                    <a:pt x="59" y="33"/>
                  </a:lnTo>
                  <a:lnTo>
                    <a:pt x="62" y="43"/>
                  </a:lnTo>
                  <a:lnTo>
                    <a:pt x="70" y="48"/>
                  </a:lnTo>
                  <a:lnTo>
                    <a:pt x="76" y="54"/>
                  </a:lnTo>
                  <a:lnTo>
                    <a:pt x="83" y="60"/>
                  </a:lnTo>
                  <a:lnTo>
                    <a:pt x="72" y="67"/>
                  </a:lnTo>
                  <a:lnTo>
                    <a:pt x="76" y="80"/>
                  </a:lnTo>
                  <a:lnTo>
                    <a:pt x="68" y="92"/>
                  </a:lnTo>
                  <a:lnTo>
                    <a:pt x="61" y="105"/>
                  </a:lnTo>
                  <a:lnTo>
                    <a:pt x="52" y="121"/>
                  </a:lnTo>
                  <a:lnTo>
                    <a:pt x="42" y="137"/>
                  </a:lnTo>
                  <a:lnTo>
                    <a:pt x="26" y="137"/>
                  </a:lnTo>
                  <a:lnTo>
                    <a:pt x="20" y="135"/>
                  </a:lnTo>
                  <a:lnTo>
                    <a:pt x="12" y="157"/>
                  </a:lnTo>
                  <a:lnTo>
                    <a:pt x="24" y="163"/>
                  </a:lnTo>
                  <a:lnTo>
                    <a:pt x="28" y="175"/>
                  </a:lnTo>
                  <a:lnTo>
                    <a:pt x="34" y="176"/>
                  </a:lnTo>
                  <a:lnTo>
                    <a:pt x="41" y="199"/>
                  </a:lnTo>
                  <a:lnTo>
                    <a:pt x="35" y="199"/>
                  </a:lnTo>
                  <a:lnTo>
                    <a:pt x="20" y="201"/>
                  </a:lnTo>
                  <a:lnTo>
                    <a:pt x="7" y="200"/>
                  </a:lnTo>
                  <a:lnTo>
                    <a:pt x="7" y="206"/>
                  </a:lnTo>
                  <a:lnTo>
                    <a:pt x="0" y="210"/>
                  </a:lnTo>
                  <a:lnTo>
                    <a:pt x="0" y="211"/>
                  </a:lnTo>
                  <a:lnTo>
                    <a:pt x="6" y="209"/>
                  </a:lnTo>
                  <a:lnTo>
                    <a:pt x="4" y="213"/>
                  </a:lnTo>
                  <a:lnTo>
                    <a:pt x="17" y="227"/>
                  </a:lnTo>
                  <a:lnTo>
                    <a:pt x="35" y="224"/>
                  </a:lnTo>
                  <a:lnTo>
                    <a:pt x="34" y="228"/>
                  </a:lnTo>
                  <a:lnTo>
                    <a:pt x="23" y="235"/>
                  </a:lnTo>
                  <a:lnTo>
                    <a:pt x="14" y="234"/>
                  </a:lnTo>
                  <a:lnTo>
                    <a:pt x="29" y="248"/>
                  </a:lnTo>
                  <a:lnTo>
                    <a:pt x="42" y="264"/>
                  </a:lnTo>
                  <a:lnTo>
                    <a:pt x="64" y="258"/>
                  </a:lnTo>
                  <a:lnTo>
                    <a:pt x="65" y="246"/>
                  </a:lnTo>
                  <a:lnTo>
                    <a:pt x="66" y="237"/>
                  </a:lnTo>
                  <a:lnTo>
                    <a:pt x="74" y="237"/>
                  </a:lnTo>
                  <a:lnTo>
                    <a:pt x="72" y="242"/>
                  </a:lnTo>
                  <a:lnTo>
                    <a:pt x="71" y="246"/>
                  </a:lnTo>
                  <a:lnTo>
                    <a:pt x="79" y="246"/>
                  </a:lnTo>
                  <a:lnTo>
                    <a:pt x="74" y="252"/>
                  </a:lnTo>
                  <a:lnTo>
                    <a:pt x="77" y="260"/>
                  </a:lnTo>
                  <a:lnTo>
                    <a:pt x="77" y="272"/>
                  </a:lnTo>
                  <a:lnTo>
                    <a:pt x="82" y="290"/>
                  </a:lnTo>
                  <a:lnTo>
                    <a:pt x="83" y="295"/>
                  </a:lnTo>
                  <a:lnTo>
                    <a:pt x="84" y="300"/>
                  </a:lnTo>
                  <a:lnTo>
                    <a:pt x="89" y="321"/>
                  </a:lnTo>
                  <a:lnTo>
                    <a:pt x="95" y="339"/>
                  </a:lnTo>
                  <a:lnTo>
                    <a:pt x="101" y="356"/>
                  </a:lnTo>
                  <a:lnTo>
                    <a:pt x="104" y="361"/>
                  </a:lnTo>
                  <a:lnTo>
                    <a:pt x="113" y="381"/>
                  </a:lnTo>
                  <a:lnTo>
                    <a:pt x="121" y="402"/>
                  </a:lnTo>
                  <a:lnTo>
                    <a:pt x="128" y="416"/>
                  </a:lnTo>
                  <a:lnTo>
                    <a:pt x="136" y="432"/>
                  </a:lnTo>
                  <a:lnTo>
                    <a:pt x="143" y="446"/>
                  </a:lnTo>
                  <a:lnTo>
                    <a:pt x="148" y="458"/>
                  </a:lnTo>
                  <a:lnTo>
                    <a:pt x="155" y="473"/>
                  </a:lnTo>
                  <a:lnTo>
                    <a:pt x="161" y="486"/>
                  </a:lnTo>
                  <a:lnTo>
                    <a:pt x="170" y="491"/>
                  </a:lnTo>
                  <a:lnTo>
                    <a:pt x="179" y="482"/>
                  </a:lnTo>
                  <a:lnTo>
                    <a:pt x="188" y="473"/>
                  </a:lnTo>
                  <a:lnTo>
                    <a:pt x="198" y="471"/>
                  </a:lnTo>
                  <a:lnTo>
                    <a:pt x="192" y="464"/>
                  </a:lnTo>
                  <a:lnTo>
                    <a:pt x="200" y="451"/>
                  </a:lnTo>
                  <a:lnTo>
                    <a:pt x="205" y="451"/>
                  </a:lnTo>
                  <a:lnTo>
                    <a:pt x="204" y="438"/>
                  </a:lnTo>
                  <a:lnTo>
                    <a:pt x="202" y="425"/>
                  </a:lnTo>
                  <a:lnTo>
                    <a:pt x="205" y="410"/>
                  </a:lnTo>
                  <a:lnTo>
                    <a:pt x="208" y="396"/>
                  </a:lnTo>
                  <a:lnTo>
                    <a:pt x="204" y="379"/>
                  </a:lnTo>
                  <a:lnTo>
                    <a:pt x="203" y="359"/>
                  </a:lnTo>
                  <a:lnTo>
                    <a:pt x="211" y="353"/>
                  </a:lnTo>
                  <a:lnTo>
                    <a:pt x="214" y="351"/>
                  </a:lnTo>
                  <a:lnTo>
                    <a:pt x="217" y="350"/>
                  </a:lnTo>
                  <a:lnTo>
                    <a:pt x="221" y="343"/>
                  </a:lnTo>
                  <a:lnTo>
                    <a:pt x="234" y="338"/>
                  </a:lnTo>
                  <a:lnTo>
                    <a:pt x="236" y="327"/>
                  </a:lnTo>
                  <a:lnTo>
                    <a:pt x="251" y="312"/>
                  </a:lnTo>
                  <a:lnTo>
                    <a:pt x="266" y="296"/>
                  </a:lnTo>
                  <a:lnTo>
                    <a:pt x="278" y="283"/>
                  </a:lnTo>
                  <a:lnTo>
                    <a:pt x="288" y="277"/>
                  </a:lnTo>
                  <a:lnTo>
                    <a:pt x="296" y="264"/>
                  </a:lnTo>
                  <a:lnTo>
                    <a:pt x="298" y="251"/>
                  </a:lnTo>
                  <a:lnTo>
                    <a:pt x="312" y="241"/>
                  </a:lnTo>
                  <a:lnTo>
                    <a:pt x="316" y="248"/>
                  </a:lnTo>
                  <a:lnTo>
                    <a:pt x="320" y="248"/>
                  </a:lnTo>
                  <a:lnTo>
                    <a:pt x="324" y="247"/>
                  </a:lnTo>
                  <a:lnTo>
                    <a:pt x="328" y="248"/>
                  </a:lnTo>
                  <a:lnTo>
                    <a:pt x="328" y="243"/>
                  </a:lnTo>
                  <a:lnTo>
                    <a:pt x="323" y="229"/>
                  </a:lnTo>
                  <a:lnTo>
                    <a:pt x="318" y="216"/>
                  </a:lnTo>
                  <a:lnTo>
                    <a:pt x="317" y="205"/>
                  </a:lnTo>
                  <a:lnTo>
                    <a:pt x="305" y="195"/>
                  </a:lnTo>
                  <a:lnTo>
                    <a:pt x="310" y="188"/>
                  </a:lnTo>
                  <a:lnTo>
                    <a:pt x="316" y="185"/>
                  </a:lnTo>
                  <a:lnTo>
                    <a:pt x="304" y="174"/>
                  </a:lnTo>
                  <a:lnTo>
                    <a:pt x="304" y="161"/>
                  </a:lnTo>
                  <a:lnTo>
                    <a:pt x="314" y="164"/>
                  </a:lnTo>
                  <a:lnTo>
                    <a:pt x="319" y="170"/>
                  </a:lnTo>
                  <a:lnTo>
                    <a:pt x="323" y="167"/>
                  </a:lnTo>
                  <a:lnTo>
                    <a:pt x="329" y="181"/>
                  </a:lnTo>
                  <a:lnTo>
                    <a:pt x="346" y="183"/>
                  </a:lnTo>
                  <a:lnTo>
                    <a:pt x="362" y="185"/>
                  </a:lnTo>
                  <a:lnTo>
                    <a:pt x="371" y="191"/>
                  </a:lnTo>
                  <a:lnTo>
                    <a:pt x="368" y="198"/>
                  </a:lnTo>
                  <a:lnTo>
                    <a:pt x="356" y="206"/>
                  </a:lnTo>
                  <a:lnTo>
                    <a:pt x="360" y="221"/>
                  </a:lnTo>
                  <a:lnTo>
                    <a:pt x="362" y="224"/>
                  </a:lnTo>
                  <a:lnTo>
                    <a:pt x="370" y="211"/>
                  </a:lnTo>
                  <a:lnTo>
                    <a:pt x="376" y="227"/>
                  </a:lnTo>
                  <a:lnTo>
                    <a:pt x="382" y="242"/>
                  </a:lnTo>
                  <a:lnTo>
                    <a:pt x="383" y="241"/>
                  </a:lnTo>
                  <a:lnTo>
                    <a:pt x="388" y="242"/>
                  </a:lnTo>
                  <a:lnTo>
                    <a:pt x="389" y="223"/>
                  </a:lnTo>
                  <a:lnTo>
                    <a:pt x="389" y="207"/>
                  </a:lnTo>
                  <a:lnTo>
                    <a:pt x="398" y="207"/>
                  </a:lnTo>
                  <a:lnTo>
                    <a:pt x="406" y="186"/>
                  </a:lnTo>
                  <a:lnTo>
                    <a:pt x="407" y="177"/>
                  </a:lnTo>
                  <a:lnTo>
                    <a:pt x="407" y="163"/>
                  </a:lnTo>
                  <a:lnTo>
                    <a:pt x="421" y="147"/>
                  </a:lnTo>
                  <a:lnTo>
                    <a:pt x="433" y="150"/>
                  </a:lnTo>
                  <a:lnTo>
                    <a:pt x="431" y="144"/>
                  </a:lnTo>
                  <a:lnTo>
                    <a:pt x="432" y="139"/>
                  </a:lnTo>
                  <a:lnTo>
                    <a:pt x="434" y="131"/>
                  </a:lnTo>
                  <a:lnTo>
                    <a:pt x="418" y="125"/>
                  </a:lnTo>
                  <a:lnTo>
                    <a:pt x="418" y="116"/>
                  </a:lnTo>
                  <a:lnTo>
                    <a:pt x="412" y="115"/>
                  </a:lnTo>
                  <a:lnTo>
                    <a:pt x="413" y="111"/>
                  </a:lnTo>
                  <a:lnTo>
                    <a:pt x="407" y="109"/>
                  </a:lnTo>
                  <a:lnTo>
                    <a:pt x="398" y="114"/>
                  </a:lnTo>
                  <a:lnTo>
                    <a:pt x="385" y="113"/>
                  </a:lnTo>
                  <a:lnTo>
                    <a:pt x="374" y="122"/>
                  </a:lnTo>
                  <a:lnTo>
                    <a:pt x="362" y="133"/>
                  </a:lnTo>
                  <a:lnTo>
                    <a:pt x="349" y="138"/>
                  </a:lnTo>
                  <a:lnTo>
                    <a:pt x="348" y="138"/>
                  </a:lnTo>
                  <a:lnTo>
                    <a:pt x="353" y="144"/>
                  </a:lnTo>
                  <a:lnTo>
                    <a:pt x="359" y="153"/>
                  </a:lnTo>
                  <a:lnTo>
                    <a:pt x="344" y="155"/>
                  </a:lnTo>
                  <a:lnTo>
                    <a:pt x="330" y="156"/>
                  </a:lnTo>
                  <a:lnTo>
                    <a:pt x="311" y="153"/>
                  </a:lnTo>
                  <a:lnTo>
                    <a:pt x="308" y="146"/>
                  </a:lnTo>
                  <a:lnTo>
                    <a:pt x="301" y="132"/>
                  </a:lnTo>
                  <a:lnTo>
                    <a:pt x="294" y="137"/>
                  </a:lnTo>
                  <a:lnTo>
                    <a:pt x="299" y="162"/>
                  </a:lnTo>
                  <a:lnTo>
                    <a:pt x="282" y="161"/>
                  </a:lnTo>
                  <a:lnTo>
                    <a:pt x="262" y="158"/>
                  </a:lnTo>
                  <a:lnTo>
                    <a:pt x="251" y="155"/>
                  </a:lnTo>
                  <a:lnTo>
                    <a:pt x="242" y="146"/>
                  </a:lnTo>
                  <a:lnTo>
                    <a:pt x="223" y="144"/>
                  </a:lnTo>
                  <a:lnTo>
                    <a:pt x="208" y="140"/>
                  </a:lnTo>
                  <a:lnTo>
                    <a:pt x="188" y="131"/>
                  </a:lnTo>
                  <a:lnTo>
                    <a:pt x="169" y="120"/>
                  </a:lnTo>
                  <a:lnTo>
                    <a:pt x="169" y="109"/>
                  </a:lnTo>
                  <a:lnTo>
                    <a:pt x="178" y="95"/>
                  </a:lnTo>
                  <a:lnTo>
                    <a:pt x="163" y="85"/>
                  </a:lnTo>
                  <a:lnTo>
                    <a:pt x="144" y="74"/>
                  </a:lnTo>
                  <a:lnTo>
                    <a:pt x="137" y="72"/>
                  </a:lnTo>
                  <a:lnTo>
                    <a:pt x="130" y="53"/>
                  </a:lnTo>
                  <a:lnTo>
                    <a:pt x="139" y="54"/>
                  </a:lnTo>
                  <a:lnTo>
                    <a:pt x="142" y="47"/>
                  </a:lnTo>
                  <a:lnTo>
                    <a:pt x="132" y="33"/>
                  </a:lnTo>
                  <a:lnTo>
                    <a:pt x="132" y="26"/>
                  </a:lnTo>
                  <a:lnTo>
                    <a:pt x="131" y="25"/>
                  </a:lnTo>
                  <a:lnTo>
                    <a:pt x="131" y="21"/>
                  </a:lnTo>
                  <a:lnTo>
                    <a:pt x="127" y="19"/>
                  </a:lnTo>
                  <a:lnTo>
                    <a:pt x="125" y="15"/>
                  </a:lnTo>
                  <a:lnTo>
                    <a:pt x="124" y="11"/>
                  </a:lnTo>
                  <a:lnTo>
                    <a:pt x="122" y="6"/>
                  </a:lnTo>
                  <a:lnTo>
                    <a:pt x="118" y="5"/>
                  </a:lnTo>
                  <a:lnTo>
                    <a:pt x="110" y="1"/>
                  </a:lnTo>
                  <a:lnTo>
                    <a:pt x="10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8" name="Freeform 67"/>
            <p:cNvSpPr>
              <a:spLocks/>
            </p:cNvSpPr>
            <p:nvPr/>
          </p:nvSpPr>
          <p:spPr bwMode="auto">
            <a:xfrm>
              <a:off x="3107" y="2041"/>
              <a:ext cx="22" cy="75"/>
            </a:xfrm>
            <a:custGeom>
              <a:avLst/>
              <a:gdLst/>
              <a:ahLst/>
              <a:cxnLst>
                <a:cxn ang="0">
                  <a:pos x="15" y="69"/>
                </a:cxn>
                <a:cxn ang="0">
                  <a:pos x="8" y="52"/>
                </a:cxn>
                <a:cxn ang="0">
                  <a:pos x="0" y="35"/>
                </a:cxn>
                <a:cxn ang="0">
                  <a:pos x="6" y="20"/>
                </a:cxn>
                <a:cxn ang="0">
                  <a:pos x="11" y="4"/>
                </a:cxn>
                <a:cxn ang="0">
                  <a:pos x="18" y="0"/>
                </a:cxn>
                <a:cxn ang="0">
                  <a:pos x="20" y="10"/>
                </a:cxn>
                <a:cxn ang="0">
                  <a:pos x="18" y="24"/>
                </a:cxn>
                <a:cxn ang="0">
                  <a:pos x="17" y="39"/>
                </a:cxn>
                <a:cxn ang="0">
                  <a:pos x="17" y="53"/>
                </a:cxn>
                <a:cxn ang="0">
                  <a:pos x="15" y="68"/>
                </a:cxn>
                <a:cxn ang="0">
                  <a:pos x="15" y="69"/>
                </a:cxn>
              </a:cxnLst>
              <a:rect l="0" t="0" r="r" b="b"/>
              <a:pathLst>
                <a:path w="20" h="69">
                  <a:moveTo>
                    <a:pt x="15" y="69"/>
                  </a:moveTo>
                  <a:lnTo>
                    <a:pt x="8" y="52"/>
                  </a:lnTo>
                  <a:lnTo>
                    <a:pt x="0" y="35"/>
                  </a:lnTo>
                  <a:lnTo>
                    <a:pt x="6" y="20"/>
                  </a:lnTo>
                  <a:lnTo>
                    <a:pt x="11" y="4"/>
                  </a:lnTo>
                  <a:lnTo>
                    <a:pt x="18" y="0"/>
                  </a:lnTo>
                  <a:lnTo>
                    <a:pt x="20" y="10"/>
                  </a:lnTo>
                  <a:lnTo>
                    <a:pt x="18" y="24"/>
                  </a:lnTo>
                  <a:lnTo>
                    <a:pt x="17" y="39"/>
                  </a:lnTo>
                  <a:lnTo>
                    <a:pt x="17" y="53"/>
                  </a:lnTo>
                  <a:lnTo>
                    <a:pt x="15" y="68"/>
                  </a:lnTo>
                  <a:lnTo>
                    <a:pt x="15"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9" name="Freeform 68"/>
            <p:cNvSpPr>
              <a:spLocks/>
            </p:cNvSpPr>
            <p:nvPr/>
          </p:nvSpPr>
          <p:spPr bwMode="auto">
            <a:xfrm>
              <a:off x="3122" y="2039"/>
              <a:ext cx="69" cy="84"/>
            </a:xfrm>
            <a:custGeom>
              <a:avLst/>
              <a:gdLst/>
              <a:ahLst/>
              <a:cxnLst>
                <a:cxn ang="0">
                  <a:pos x="24" y="19"/>
                </a:cxn>
                <a:cxn ang="0">
                  <a:pos x="5" y="12"/>
                </a:cxn>
                <a:cxn ang="0">
                  <a:pos x="3" y="26"/>
                </a:cxn>
                <a:cxn ang="0">
                  <a:pos x="2" y="41"/>
                </a:cxn>
                <a:cxn ang="0">
                  <a:pos x="2" y="55"/>
                </a:cxn>
                <a:cxn ang="0">
                  <a:pos x="0" y="70"/>
                </a:cxn>
                <a:cxn ang="0">
                  <a:pos x="1" y="72"/>
                </a:cxn>
                <a:cxn ang="0">
                  <a:pos x="18" y="76"/>
                </a:cxn>
                <a:cxn ang="0">
                  <a:pos x="27" y="64"/>
                </a:cxn>
                <a:cxn ang="0">
                  <a:pos x="38" y="61"/>
                </a:cxn>
                <a:cxn ang="0">
                  <a:pos x="45" y="53"/>
                </a:cxn>
                <a:cxn ang="0">
                  <a:pos x="27" y="35"/>
                </a:cxn>
                <a:cxn ang="0">
                  <a:pos x="44" y="28"/>
                </a:cxn>
                <a:cxn ang="0">
                  <a:pos x="61" y="22"/>
                </a:cxn>
                <a:cxn ang="0">
                  <a:pos x="51" y="0"/>
                </a:cxn>
                <a:cxn ang="0">
                  <a:pos x="37" y="10"/>
                </a:cxn>
                <a:cxn ang="0">
                  <a:pos x="24" y="19"/>
                </a:cxn>
              </a:cxnLst>
              <a:rect l="0" t="0" r="r" b="b"/>
              <a:pathLst>
                <a:path w="61" h="76">
                  <a:moveTo>
                    <a:pt x="24" y="19"/>
                  </a:moveTo>
                  <a:lnTo>
                    <a:pt x="5" y="12"/>
                  </a:lnTo>
                  <a:lnTo>
                    <a:pt x="3" y="26"/>
                  </a:lnTo>
                  <a:lnTo>
                    <a:pt x="2" y="41"/>
                  </a:lnTo>
                  <a:lnTo>
                    <a:pt x="2" y="55"/>
                  </a:lnTo>
                  <a:lnTo>
                    <a:pt x="0" y="70"/>
                  </a:lnTo>
                  <a:lnTo>
                    <a:pt x="1" y="72"/>
                  </a:lnTo>
                  <a:lnTo>
                    <a:pt x="18" y="76"/>
                  </a:lnTo>
                  <a:lnTo>
                    <a:pt x="27" y="64"/>
                  </a:lnTo>
                  <a:lnTo>
                    <a:pt x="38" y="61"/>
                  </a:lnTo>
                  <a:lnTo>
                    <a:pt x="45" y="53"/>
                  </a:lnTo>
                  <a:lnTo>
                    <a:pt x="27" y="35"/>
                  </a:lnTo>
                  <a:lnTo>
                    <a:pt x="44" y="28"/>
                  </a:lnTo>
                  <a:lnTo>
                    <a:pt x="61" y="22"/>
                  </a:lnTo>
                  <a:lnTo>
                    <a:pt x="51" y="0"/>
                  </a:lnTo>
                  <a:lnTo>
                    <a:pt x="37" y="10"/>
                  </a:lnTo>
                  <a:lnTo>
                    <a:pt x="24"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0" name="Freeform 69"/>
            <p:cNvSpPr>
              <a:spLocks/>
            </p:cNvSpPr>
            <p:nvPr/>
          </p:nvSpPr>
          <p:spPr bwMode="auto">
            <a:xfrm>
              <a:off x="3431" y="2207"/>
              <a:ext cx="131" cy="167"/>
            </a:xfrm>
            <a:custGeom>
              <a:avLst/>
              <a:gdLst/>
              <a:ahLst/>
              <a:cxnLst>
                <a:cxn ang="0">
                  <a:pos x="119" y="46"/>
                </a:cxn>
                <a:cxn ang="0">
                  <a:pos x="107" y="35"/>
                </a:cxn>
                <a:cxn ang="0">
                  <a:pos x="95" y="25"/>
                </a:cxn>
                <a:cxn ang="0">
                  <a:pos x="82" y="19"/>
                </a:cxn>
                <a:cxn ang="0">
                  <a:pos x="68" y="13"/>
                </a:cxn>
                <a:cxn ang="0">
                  <a:pos x="61" y="0"/>
                </a:cxn>
                <a:cxn ang="0">
                  <a:pos x="56" y="4"/>
                </a:cxn>
                <a:cxn ang="0">
                  <a:pos x="54" y="0"/>
                </a:cxn>
                <a:cxn ang="0">
                  <a:pos x="56" y="17"/>
                </a:cxn>
                <a:cxn ang="0">
                  <a:pos x="49" y="19"/>
                </a:cxn>
                <a:cxn ang="0">
                  <a:pos x="46" y="41"/>
                </a:cxn>
                <a:cxn ang="0">
                  <a:pos x="54" y="54"/>
                </a:cxn>
                <a:cxn ang="0">
                  <a:pos x="50" y="72"/>
                </a:cxn>
                <a:cxn ang="0">
                  <a:pos x="47" y="90"/>
                </a:cxn>
                <a:cxn ang="0">
                  <a:pos x="36" y="94"/>
                </a:cxn>
                <a:cxn ang="0">
                  <a:pos x="24" y="99"/>
                </a:cxn>
                <a:cxn ang="0">
                  <a:pos x="13" y="103"/>
                </a:cxn>
                <a:cxn ang="0">
                  <a:pos x="2" y="108"/>
                </a:cxn>
                <a:cxn ang="0">
                  <a:pos x="0" y="115"/>
                </a:cxn>
                <a:cxn ang="0">
                  <a:pos x="11" y="133"/>
                </a:cxn>
                <a:cxn ang="0">
                  <a:pos x="22" y="150"/>
                </a:cxn>
                <a:cxn ang="0">
                  <a:pos x="35" y="148"/>
                </a:cxn>
                <a:cxn ang="0">
                  <a:pos x="47" y="144"/>
                </a:cxn>
                <a:cxn ang="0">
                  <a:pos x="55" y="137"/>
                </a:cxn>
                <a:cxn ang="0">
                  <a:pos x="60" y="127"/>
                </a:cxn>
                <a:cxn ang="0">
                  <a:pos x="74" y="124"/>
                </a:cxn>
                <a:cxn ang="0">
                  <a:pos x="80" y="111"/>
                </a:cxn>
                <a:cxn ang="0">
                  <a:pos x="92" y="105"/>
                </a:cxn>
                <a:cxn ang="0">
                  <a:pos x="91" y="85"/>
                </a:cxn>
                <a:cxn ang="0">
                  <a:pos x="97" y="81"/>
                </a:cxn>
                <a:cxn ang="0">
                  <a:pos x="101" y="81"/>
                </a:cxn>
                <a:cxn ang="0">
                  <a:pos x="110" y="64"/>
                </a:cxn>
                <a:cxn ang="0">
                  <a:pos x="119" y="46"/>
                </a:cxn>
              </a:cxnLst>
              <a:rect l="0" t="0" r="r" b="b"/>
              <a:pathLst>
                <a:path w="119" h="150">
                  <a:moveTo>
                    <a:pt x="119" y="46"/>
                  </a:moveTo>
                  <a:lnTo>
                    <a:pt x="107" y="35"/>
                  </a:lnTo>
                  <a:lnTo>
                    <a:pt x="95" y="25"/>
                  </a:lnTo>
                  <a:lnTo>
                    <a:pt x="82" y="19"/>
                  </a:lnTo>
                  <a:lnTo>
                    <a:pt x="68" y="13"/>
                  </a:lnTo>
                  <a:lnTo>
                    <a:pt x="61" y="0"/>
                  </a:lnTo>
                  <a:lnTo>
                    <a:pt x="56" y="4"/>
                  </a:lnTo>
                  <a:lnTo>
                    <a:pt x="54" y="0"/>
                  </a:lnTo>
                  <a:lnTo>
                    <a:pt x="56" y="17"/>
                  </a:lnTo>
                  <a:lnTo>
                    <a:pt x="49" y="19"/>
                  </a:lnTo>
                  <a:lnTo>
                    <a:pt x="46" y="41"/>
                  </a:lnTo>
                  <a:lnTo>
                    <a:pt x="54" y="54"/>
                  </a:lnTo>
                  <a:lnTo>
                    <a:pt x="50" y="72"/>
                  </a:lnTo>
                  <a:lnTo>
                    <a:pt x="47" y="90"/>
                  </a:lnTo>
                  <a:lnTo>
                    <a:pt x="36" y="94"/>
                  </a:lnTo>
                  <a:lnTo>
                    <a:pt x="24" y="99"/>
                  </a:lnTo>
                  <a:lnTo>
                    <a:pt x="13" y="103"/>
                  </a:lnTo>
                  <a:lnTo>
                    <a:pt x="2" y="108"/>
                  </a:lnTo>
                  <a:lnTo>
                    <a:pt x="0" y="115"/>
                  </a:lnTo>
                  <a:lnTo>
                    <a:pt x="11" y="133"/>
                  </a:lnTo>
                  <a:lnTo>
                    <a:pt x="22" y="150"/>
                  </a:lnTo>
                  <a:lnTo>
                    <a:pt x="35" y="148"/>
                  </a:lnTo>
                  <a:lnTo>
                    <a:pt x="47" y="144"/>
                  </a:lnTo>
                  <a:lnTo>
                    <a:pt x="55" y="137"/>
                  </a:lnTo>
                  <a:lnTo>
                    <a:pt x="60" y="127"/>
                  </a:lnTo>
                  <a:lnTo>
                    <a:pt x="74" y="124"/>
                  </a:lnTo>
                  <a:lnTo>
                    <a:pt x="80" y="111"/>
                  </a:lnTo>
                  <a:lnTo>
                    <a:pt x="92" y="105"/>
                  </a:lnTo>
                  <a:lnTo>
                    <a:pt x="91" y="85"/>
                  </a:lnTo>
                  <a:lnTo>
                    <a:pt x="97" y="81"/>
                  </a:lnTo>
                  <a:lnTo>
                    <a:pt x="101" y="81"/>
                  </a:lnTo>
                  <a:lnTo>
                    <a:pt x="110" y="64"/>
                  </a:lnTo>
                  <a:lnTo>
                    <a:pt x="119"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1" name="Freeform 70"/>
            <p:cNvSpPr>
              <a:spLocks/>
            </p:cNvSpPr>
            <p:nvPr/>
          </p:nvSpPr>
          <p:spPr bwMode="auto">
            <a:xfrm>
              <a:off x="3489" y="2181"/>
              <a:ext cx="6" cy="11"/>
            </a:xfrm>
            <a:custGeom>
              <a:avLst/>
              <a:gdLst/>
              <a:ahLst/>
              <a:cxnLst>
                <a:cxn ang="0">
                  <a:pos x="5" y="0"/>
                </a:cxn>
                <a:cxn ang="0">
                  <a:pos x="0" y="8"/>
                </a:cxn>
                <a:cxn ang="0">
                  <a:pos x="5" y="10"/>
                </a:cxn>
                <a:cxn ang="0">
                  <a:pos x="5" y="0"/>
                </a:cxn>
              </a:cxnLst>
              <a:rect l="0" t="0" r="r" b="b"/>
              <a:pathLst>
                <a:path w="5" h="10">
                  <a:moveTo>
                    <a:pt x="5" y="0"/>
                  </a:moveTo>
                  <a:lnTo>
                    <a:pt x="0" y="8"/>
                  </a:lnTo>
                  <a:lnTo>
                    <a:pt x="5" y="10"/>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2" name="Freeform 71"/>
            <p:cNvSpPr>
              <a:spLocks/>
            </p:cNvSpPr>
            <p:nvPr/>
          </p:nvSpPr>
          <p:spPr bwMode="auto">
            <a:xfrm>
              <a:off x="3120" y="2063"/>
              <a:ext cx="371" cy="331"/>
            </a:xfrm>
            <a:custGeom>
              <a:avLst/>
              <a:gdLst/>
              <a:ahLst/>
              <a:cxnLst>
                <a:cxn ang="0">
                  <a:pos x="76" y="178"/>
                </a:cxn>
                <a:cxn ang="0">
                  <a:pos x="65" y="151"/>
                </a:cxn>
                <a:cxn ang="0">
                  <a:pos x="45" y="134"/>
                </a:cxn>
                <a:cxn ang="0">
                  <a:pos x="21" y="94"/>
                </a:cxn>
                <a:cxn ang="0">
                  <a:pos x="0" y="72"/>
                </a:cxn>
                <a:cxn ang="0">
                  <a:pos x="21" y="54"/>
                </a:cxn>
                <a:cxn ang="0">
                  <a:pos x="41" y="39"/>
                </a:cxn>
                <a:cxn ang="0">
                  <a:pos x="30" y="13"/>
                </a:cxn>
                <a:cxn ang="0">
                  <a:pos x="64" y="0"/>
                </a:cxn>
                <a:cxn ang="0">
                  <a:pos x="94" y="13"/>
                </a:cxn>
                <a:cxn ang="0">
                  <a:pos x="123" y="26"/>
                </a:cxn>
                <a:cxn ang="0">
                  <a:pos x="153" y="54"/>
                </a:cxn>
                <a:cxn ang="0">
                  <a:pos x="195" y="57"/>
                </a:cxn>
                <a:cxn ang="0">
                  <a:pos x="210" y="66"/>
                </a:cxn>
                <a:cxn ang="0">
                  <a:pos x="226" y="85"/>
                </a:cxn>
                <a:cxn ang="0">
                  <a:pos x="242" y="109"/>
                </a:cxn>
                <a:cxn ang="0">
                  <a:pos x="255" y="134"/>
                </a:cxn>
                <a:cxn ang="0">
                  <a:pos x="262" y="136"/>
                </a:cxn>
                <a:cxn ang="0">
                  <a:pos x="264" y="141"/>
                </a:cxn>
                <a:cxn ang="0">
                  <a:pos x="266" y="146"/>
                </a:cxn>
                <a:cxn ang="0">
                  <a:pos x="276" y="165"/>
                </a:cxn>
                <a:cxn ang="0">
                  <a:pos x="323" y="174"/>
                </a:cxn>
                <a:cxn ang="0">
                  <a:pos x="334" y="183"/>
                </a:cxn>
                <a:cxn ang="0">
                  <a:pos x="327" y="219"/>
                </a:cxn>
                <a:cxn ang="0">
                  <a:pos x="304" y="228"/>
                </a:cxn>
                <a:cxn ang="0">
                  <a:pos x="282" y="237"/>
                </a:cxn>
                <a:cxn ang="0">
                  <a:pos x="257" y="243"/>
                </a:cxn>
                <a:cxn ang="0">
                  <a:pos x="232" y="250"/>
                </a:cxn>
                <a:cxn ang="0">
                  <a:pos x="215" y="273"/>
                </a:cxn>
                <a:cxn ang="0">
                  <a:pos x="197" y="297"/>
                </a:cxn>
                <a:cxn ang="0">
                  <a:pos x="182" y="272"/>
                </a:cxn>
                <a:cxn ang="0">
                  <a:pos x="149" y="264"/>
                </a:cxn>
                <a:cxn ang="0">
                  <a:pos x="141" y="284"/>
                </a:cxn>
                <a:cxn ang="0">
                  <a:pos x="125" y="258"/>
                </a:cxn>
                <a:cxn ang="0">
                  <a:pos x="100" y="218"/>
                </a:cxn>
              </a:cxnLst>
              <a:rect l="0" t="0" r="r" b="b"/>
              <a:pathLst>
                <a:path w="334" h="297">
                  <a:moveTo>
                    <a:pt x="82" y="202"/>
                  </a:moveTo>
                  <a:lnTo>
                    <a:pt x="76" y="178"/>
                  </a:lnTo>
                  <a:lnTo>
                    <a:pt x="70" y="165"/>
                  </a:lnTo>
                  <a:lnTo>
                    <a:pt x="65" y="151"/>
                  </a:lnTo>
                  <a:lnTo>
                    <a:pt x="54" y="142"/>
                  </a:lnTo>
                  <a:lnTo>
                    <a:pt x="45" y="134"/>
                  </a:lnTo>
                  <a:lnTo>
                    <a:pt x="36" y="115"/>
                  </a:lnTo>
                  <a:lnTo>
                    <a:pt x="21" y="94"/>
                  </a:lnTo>
                  <a:lnTo>
                    <a:pt x="5" y="73"/>
                  </a:lnTo>
                  <a:lnTo>
                    <a:pt x="0" y="72"/>
                  </a:lnTo>
                  <a:lnTo>
                    <a:pt x="4" y="50"/>
                  </a:lnTo>
                  <a:lnTo>
                    <a:pt x="21" y="54"/>
                  </a:lnTo>
                  <a:lnTo>
                    <a:pt x="30" y="42"/>
                  </a:lnTo>
                  <a:lnTo>
                    <a:pt x="41" y="39"/>
                  </a:lnTo>
                  <a:lnTo>
                    <a:pt x="48" y="31"/>
                  </a:lnTo>
                  <a:lnTo>
                    <a:pt x="30" y="13"/>
                  </a:lnTo>
                  <a:lnTo>
                    <a:pt x="47" y="6"/>
                  </a:lnTo>
                  <a:lnTo>
                    <a:pt x="64" y="0"/>
                  </a:lnTo>
                  <a:lnTo>
                    <a:pt x="78" y="6"/>
                  </a:lnTo>
                  <a:lnTo>
                    <a:pt x="94" y="13"/>
                  </a:lnTo>
                  <a:lnTo>
                    <a:pt x="108" y="19"/>
                  </a:lnTo>
                  <a:lnTo>
                    <a:pt x="123" y="26"/>
                  </a:lnTo>
                  <a:lnTo>
                    <a:pt x="137" y="39"/>
                  </a:lnTo>
                  <a:lnTo>
                    <a:pt x="153" y="54"/>
                  </a:lnTo>
                  <a:lnTo>
                    <a:pt x="180" y="55"/>
                  </a:lnTo>
                  <a:lnTo>
                    <a:pt x="195" y="57"/>
                  </a:lnTo>
                  <a:lnTo>
                    <a:pt x="197" y="62"/>
                  </a:lnTo>
                  <a:lnTo>
                    <a:pt x="210" y="66"/>
                  </a:lnTo>
                  <a:lnTo>
                    <a:pt x="219" y="79"/>
                  </a:lnTo>
                  <a:lnTo>
                    <a:pt x="226" y="85"/>
                  </a:lnTo>
                  <a:lnTo>
                    <a:pt x="240" y="99"/>
                  </a:lnTo>
                  <a:lnTo>
                    <a:pt x="242" y="109"/>
                  </a:lnTo>
                  <a:lnTo>
                    <a:pt x="249" y="121"/>
                  </a:lnTo>
                  <a:lnTo>
                    <a:pt x="255" y="134"/>
                  </a:lnTo>
                  <a:lnTo>
                    <a:pt x="260" y="138"/>
                  </a:lnTo>
                  <a:lnTo>
                    <a:pt x="262" y="136"/>
                  </a:lnTo>
                  <a:lnTo>
                    <a:pt x="264" y="136"/>
                  </a:lnTo>
                  <a:lnTo>
                    <a:pt x="264" y="141"/>
                  </a:lnTo>
                  <a:lnTo>
                    <a:pt x="266" y="142"/>
                  </a:lnTo>
                  <a:lnTo>
                    <a:pt x="266" y="146"/>
                  </a:lnTo>
                  <a:lnTo>
                    <a:pt x="270" y="150"/>
                  </a:lnTo>
                  <a:lnTo>
                    <a:pt x="276" y="165"/>
                  </a:lnTo>
                  <a:lnTo>
                    <a:pt x="299" y="170"/>
                  </a:lnTo>
                  <a:lnTo>
                    <a:pt x="323" y="174"/>
                  </a:lnTo>
                  <a:lnTo>
                    <a:pt x="326" y="170"/>
                  </a:lnTo>
                  <a:lnTo>
                    <a:pt x="334" y="183"/>
                  </a:lnTo>
                  <a:lnTo>
                    <a:pt x="330" y="201"/>
                  </a:lnTo>
                  <a:lnTo>
                    <a:pt x="327" y="219"/>
                  </a:lnTo>
                  <a:lnTo>
                    <a:pt x="316" y="223"/>
                  </a:lnTo>
                  <a:lnTo>
                    <a:pt x="304" y="228"/>
                  </a:lnTo>
                  <a:lnTo>
                    <a:pt x="293" y="232"/>
                  </a:lnTo>
                  <a:lnTo>
                    <a:pt x="282" y="237"/>
                  </a:lnTo>
                  <a:lnTo>
                    <a:pt x="269" y="240"/>
                  </a:lnTo>
                  <a:lnTo>
                    <a:pt x="257" y="243"/>
                  </a:lnTo>
                  <a:lnTo>
                    <a:pt x="244" y="247"/>
                  </a:lnTo>
                  <a:lnTo>
                    <a:pt x="232" y="250"/>
                  </a:lnTo>
                  <a:lnTo>
                    <a:pt x="224" y="262"/>
                  </a:lnTo>
                  <a:lnTo>
                    <a:pt x="215" y="273"/>
                  </a:lnTo>
                  <a:lnTo>
                    <a:pt x="206" y="285"/>
                  </a:lnTo>
                  <a:lnTo>
                    <a:pt x="197" y="297"/>
                  </a:lnTo>
                  <a:lnTo>
                    <a:pt x="196" y="279"/>
                  </a:lnTo>
                  <a:lnTo>
                    <a:pt x="182" y="272"/>
                  </a:lnTo>
                  <a:lnTo>
                    <a:pt x="166" y="266"/>
                  </a:lnTo>
                  <a:lnTo>
                    <a:pt x="149" y="264"/>
                  </a:lnTo>
                  <a:lnTo>
                    <a:pt x="146" y="278"/>
                  </a:lnTo>
                  <a:lnTo>
                    <a:pt x="141" y="284"/>
                  </a:lnTo>
                  <a:lnTo>
                    <a:pt x="132" y="271"/>
                  </a:lnTo>
                  <a:lnTo>
                    <a:pt x="125" y="258"/>
                  </a:lnTo>
                  <a:lnTo>
                    <a:pt x="112" y="238"/>
                  </a:lnTo>
                  <a:lnTo>
                    <a:pt x="100" y="218"/>
                  </a:lnTo>
                  <a:lnTo>
                    <a:pt x="82" y="20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3" name="Freeform 72"/>
            <p:cNvSpPr>
              <a:spLocks/>
            </p:cNvSpPr>
            <p:nvPr/>
          </p:nvSpPr>
          <p:spPr bwMode="auto">
            <a:xfrm>
              <a:off x="3415" y="2190"/>
              <a:ext cx="85" cy="66"/>
            </a:xfrm>
            <a:custGeom>
              <a:avLst/>
              <a:gdLst/>
              <a:ahLst/>
              <a:cxnLst>
                <a:cxn ang="0">
                  <a:pos x="0" y="32"/>
                </a:cxn>
                <a:cxn ang="0">
                  <a:pos x="4" y="36"/>
                </a:cxn>
                <a:cxn ang="0">
                  <a:pos x="10" y="51"/>
                </a:cxn>
                <a:cxn ang="0">
                  <a:pos x="33" y="56"/>
                </a:cxn>
                <a:cxn ang="0">
                  <a:pos x="57" y="60"/>
                </a:cxn>
                <a:cxn ang="0">
                  <a:pos x="60" y="56"/>
                </a:cxn>
                <a:cxn ang="0">
                  <a:pos x="63" y="34"/>
                </a:cxn>
                <a:cxn ang="0">
                  <a:pos x="70" y="32"/>
                </a:cxn>
                <a:cxn ang="0">
                  <a:pos x="68" y="15"/>
                </a:cxn>
                <a:cxn ang="0">
                  <a:pos x="70" y="19"/>
                </a:cxn>
                <a:cxn ang="0">
                  <a:pos x="75" y="15"/>
                </a:cxn>
                <a:cxn ang="0">
                  <a:pos x="72" y="2"/>
                </a:cxn>
                <a:cxn ang="0">
                  <a:pos x="67" y="0"/>
                </a:cxn>
                <a:cxn ang="0">
                  <a:pos x="54" y="15"/>
                </a:cxn>
                <a:cxn ang="0">
                  <a:pos x="38" y="31"/>
                </a:cxn>
                <a:cxn ang="0">
                  <a:pos x="14" y="32"/>
                </a:cxn>
                <a:cxn ang="0">
                  <a:pos x="4" y="31"/>
                </a:cxn>
                <a:cxn ang="0">
                  <a:pos x="0" y="28"/>
                </a:cxn>
                <a:cxn ang="0">
                  <a:pos x="0" y="32"/>
                </a:cxn>
              </a:cxnLst>
              <a:rect l="0" t="0" r="r" b="b"/>
              <a:pathLst>
                <a:path w="75" h="60">
                  <a:moveTo>
                    <a:pt x="0" y="32"/>
                  </a:moveTo>
                  <a:lnTo>
                    <a:pt x="4" y="36"/>
                  </a:lnTo>
                  <a:lnTo>
                    <a:pt x="10" y="51"/>
                  </a:lnTo>
                  <a:lnTo>
                    <a:pt x="33" y="56"/>
                  </a:lnTo>
                  <a:lnTo>
                    <a:pt x="57" y="60"/>
                  </a:lnTo>
                  <a:lnTo>
                    <a:pt x="60" y="56"/>
                  </a:lnTo>
                  <a:lnTo>
                    <a:pt x="63" y="34"/>
                  </a:lnTo>
                  <a:lnTo>
                    <a:pt x="70" y="32"/>
                  </a:lnTo>
                  <a:lnTo>
                    <a:pt x="68" y="15"/>
                  </a:lnTo>
                  <a:lnTo>
                    <a:pt x="70" y="19"/>
                  </a:lnTo>
                  <a:lnTo>
                    <a:pt x="75" y="15"/>
                  </a:lnTo>
                  <a:lnTo>
                    <a:pt x="72" y="2"/>
                  </a:lnTo>
                  <a:lnTo>
                    <a:pt x="67" y="0"/>
                  </a:lnTo>
                  <a:lnTo>
                    <a:pt x="54" y="15"/>
                  </a:lnTo>
                  <a:lnTo>
                    <a:pt x="38" y="31"/>
                  </a:lnTo>
                  <a:lnTo>
                    <a:pt x="14" y="32"/>
                  </a:lnTo>
                  <a:lnTo>
                    <a:pt x="4" y="31"/>
                  </a:lnTo>
                  <a:lnTo>
                    <a:pt x="0" y="28"/>
                  </a:lnTo>
                  <a:lnTo>
                    <a:pt x="0" y="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4" name="Freeform 73"/>
            <p:cNvSpPr>
              <a:spLocks/>
            </p:cNvSpPr>
            <p:nvPr/>
          </p:nvSpPr>
          <p:spPr bwMode="auto">
            <a:xfrm>
              <a:off x="3275" y="2327"/>
              <a:ext cx="180" cy="125"/>
            </a:xfrm>
            <a:custGeom>
              <a:avLst/>
              <a:gdLst/>
              <a:ahLst/>
              <a:cxnLst>
                <a:cxn ang="0">
                  <a:pos x="5" y="41"/>
                </a:cxn>
                <a:cxn ang="0">
                  <a:pos x="0" y="47"/>
                </a:cxn>
                <a:cxn ang="0">
                  <a:pos x="0" y="69"/>
                </a:cxn>
                <a:cxn ang="0">
                  <a:pos x="7" y="90"/>
                </a:cxn>
                <a:cxn ang="0">
                  <a:pos x="14" y="113"/>
                </a:cxn>
                <a:cxn ang="0">
                  <a:pos x="33" y="112"/>
                </a:cxn>
                <a:cxn ang="0">
                  <a:pos x="54" y="100"/>
                </a:cxn>
                <a:cxn ang="0">
                  <a:pos x="69" y="95"/>
                </a:cxn>
                <a:cxn ang="0">
                  <a:pos x="86" y="89"/>
                </a:cxn>
                <a:cxn ang="0">
                  <a:pos x="98" y="84"/>
                </a:cxn>
                <a:cxn ang="0">
                  <a:pos x="110" y="78"/>
                </a:cxn>
                <a:cxn ang="0">
                  <a:pos x="122" y="72"/>
                </a:cxn>
                <a:cxn ang="0">
                  <a:pos x="134" y="67"/>
                </a:cxn>
                <a:cxn ang="0">
                  <a:pos x="146" y="61"/>
                </a:cxn>
                <a:cxn ang="0">
                  <a:pos x="147" y="54"/>
                </a:cxn>
                <a:cxn ang="0">
                  <a:pos x="161" y="42"/>
                </a:cxn>
                <a:cxn ang="0">
                  <a:pos x="150" y="25"/>
                </a:cxn>
                <a:cxn ang="0">
                  <a:pos x="139" y="7"/>
                </a:cxn>
                <a:cxn ang="0">
                  <a:pos x="141" y="0"/>
                </a:cxn>
                <a:cxn ang="0">
                  <a:pos x="128" y="3"/>
                </a:cxn>
                <a:cxn ang="0">
                  <a:pos x="116" y="6"/>
                </a:cxn>
                <a:cxn ang="0">
                  <a:pos x="103" y="10"/>
                </a:cxn>
                <a:cxn ang="0">
                  <a:pos x="91" y="13"/>
                </a:cxn>
                <a:cxn ang="0">
                  <a:pos x="83" y="25"/>
                </a:cxn>
                <a:cxn ang="0">
                  <a:pos x="74" y="36"/>
                </a:cxn>
                <a:cxn ang="0">
                  <a:pos x="65" y="48"/>
                </a:cxn>
                <a:cxn ang="0">
                  <a:pos x="56" y="60"/>
                </a:cxn>
                <a:cxn ang="0">
                  <a:pos x="55" y="42"/>
                </a:cxn>
                <a:cxn ang="0">
                  <a:pos x="41" y="35"/>
                </a:cxn>
                <a:cxn ang="0">
                  <a:pos x="25" y="29"/>
                </a:cxn>
                <a:cxn ang="0">
                  <a:pos x="8" y="27"/>
                </a:cxn>
                <a:cxn ang="0">
                  <a:pos x="5" y="41"/>
                </a:cxn>
              </a:cxnLst>
              <a:rect l="0" t="0" r="r" b="b"/>
              <a:pathLst>
                <a:path w="161" h="113">
                  <a:moveTo>
                    <a:pt x="5" y="41"/>
                  </a:moveTo>
                  <a:lnTo>
                    <a:pt x="0" y="47"/>
                  </a:lnTo>
                  <a:lnTo>
                    <a:pt x="0" y="69"/>
                  </a:lnTo>
                  <a:lnTo>
                    <a:pt x="7" y="90"/>
                  </a:lnTo>
                  <a:lnTo>
                    <a:pt x="14" y="113"/>
                  </a:lnTo>
                  <a:lnTo>
                    <a:pt x="33" y="112"/>
                  </a:lnTo>
                  <a:lnTo>
                    <a:pt x="54" y="100"/>
                  </a:lnTo>
                  <a:lnTo>
                    <a:pt x="69" y="95"/>
                  </a:lnTo>
                  <a:lnTo>
                    <a:pt x="86" y="89"/>
                  </a:lnTo>
                  <a:lnTo>
                    <a:pt x="98" y="84"/>
                  </a:lnTo>
                  <a:lnTo>
                    <a:pt x="110" y="78"/>
                  </a:lnTo>
                  <a:lnTo>
                    <a:pt x="122" y="72"/>
                  </a:lnTo>
                  <a:lnTo>
                    <a:pt x="134" y="67"/>
                  </a:lnTo>
                  <a:lnTo>
                    <a:pt x="146" y="61"/>
                  </a:lnTo>
                  <a:lnTo>
                    <a:pt x="147" y="54"/>
                  </a:lnTo>
                  <a:lnTo>
                    <a:pt x="161" y="42"/>
                  </a:lnTo>
                  <a:lnTo>
                    <a:pt x="150" y="25"/>
                  </a:lnTo>
                  <a:lnTo>
                    <a:pt x="139" y="7"/>
                  </a:lnTo>
                  <a:lnTo>
                    <a:pt x="141" y="0"/>
                  </a:lnTo>
                  <a:lnTo>
                    <a:pt x="128" y="3"/>
                  </a:lnTo>
                  <a:lnTo>
                    <a:pt x="116" y="6"/>
                  </a:lnTo>
                  <a:lnTo>
                    <a:pt x="103" y="10"/>
                  </a:lnTo>
                  <a:lnTo>
                    <a:pt x="91" y="13"/>
                  </a:lnTo>
                  <a:lnTo>
                    <a:pt x="83" y="25"/>
                  </a:lnTo>
                  <a:lnTo>
                    <a:pt x="74" y="36"/>
                  </a:lnTo>
                  <a:lnTo>
                    <a:pt x="65" y="48"/>
                  </a:lnTo>
                  <a:lnTo>
                    <a:pt x="56" y="60"/>
                  </a:lnTo>
                  <a:lnTo>
                    <a:pt x="55" y="42"/>
                  </a:lnTo>
                  <a:lnTo>
                    <a:pt x="41" y="35"/>
                  </a:lnTo>
                  <a:lnTo>
                    <a:pt x="25" y="29"/>
                  </a:lnTo>
                  <a:lnTo>
                    <a:pt x="8" y="27"/>
                  </a:lnTo>
                  <a:lnTo>
                    <a:pt x="5" y="4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5" name="Freeform 74"/>
            <p:cNvSpPr>
              <a:spLocks/>
            </p:cNvSpPr>
            <p:nvPr/>
          </p:nvSpPr>
          <p:spPr bwMode="auto">
            <a:xfrm>
              <a:off x="3933" y="2510"/>
              <a:ext cx="38" cy="77"/>
            </a:xfrm>
            <a:custGeom>
              <a:avLst/>
              <a:gdLst/>
              <a:ahLst/>
              <a:cxnLst>
                <a:cxn ang="0">
                  <a:pos x="9" y="2"/>
                </a:cxn>
                <a:cxn ang="0">
                  <a:pos x="15" y="12"/>
                </a:cxn>
                <a:cxn ang="0">
                  <a:pos x="22" y="22"/>
                </a:cxn>
                <a:cxn ang="0">
                  <a:pos x="29" y="37"/>
                </a:cxn>
                <a:cxn ang="0">
                  <a:pos x="35" y="50"/>
                </a:cxn>
                <a:cxn ang="0">
                  <a:pos x="27" y="64"/>
                </a:cxn>
                <a:cxn ang="0">
                  <a:pos x="11" y="69"/>
                </a:cxn>
                <a:cxn ang="0">
                  <a:pos x="3" y="45"/>
                </a:cxn>
                <a:cxn ang="0">
                  <a:pos x="0" y="28"/>
                </a:cxn>
                <a:cxn ang="0">
                  <a:pos x="1" y="30"/>
                </a:cxn>
                <a:cxn ang="0">
                  <a:pos x="4" y="18"/>
                </a:cxn>
                <a:cxn ang="0">
                  <a:pos x="6" y="4"/>
                </a:cxn>
                <a:cxn ang="0">
                  <a:pos x="6" y="3"/>
                </a:cxn>
                <a:cxn ang="0">
                  <a:pos x="3" y="0"/>
                </a:cxn>
                <a:cxn ang="0">
                  <a:pos x="9" y="2"/>
                </a:cxn>
              </a:cxnLst>
              <a:rect l="0" t="0" r="r" b="b"/>
              <a:pathLst>
                <a:path w="35" h="69">
                  <a:moveTo>
                    <a:pt x="9" y="2"/>
                  </a:moveTo>
                  <a:lnTo>
                    <a:pt x="15" y="12"/>
                  </a:lnTo>
                  <a:lnTo>
                    <a:pt x="22" y="22"/>
                  </a:lnTo>
                  <a:lnTo>
                    <a:pt x="29" y="37"/>
                  </a:lnTo>
                  <a:lnTo>
                    <a:pt x="35" y="50"/>
                  </a:lnTo>
                  <a:lnTo>
                    <a:pt x="27" y="64"/>
                  </a:lnTo>
                  <a:lnTo>
                    <a:pt x="11" y="69"/>
                  </a:lnTo>
                  <a:lnTo>
                    <a:pt x="3" y="45"/>
                  </a:lnTo>
                  <a:lnTo>
                    <a:pt x="0" y="28"/>
                  </a:lnTo>
                  <a:lnTo>
                    <a:pt x="1" y="30"/>
                  </a:lnTo>
                  <a:lnTo>
                    <a:pt x="4" y="18"/>
                  </a:lnTo>
                  <a:lnTo>
                    <a:pt x="6" y="4"/>
                  </a:lnTo>
                  <a:lnTo>
                    <a:pt x="6" y="3"/>
                  </a:lnTo>
                  <a:lnTo>
                    <a:pt x="3" y="0"/>
                  </a:lnTo>
                  <a:lnTo>
                    <a:pt x="9"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6" name="Freeform 75"/>
            <p:cNvSpPr>
              <a:spLocks/>
            </p:cNvSpPr>
            <p:nvPr/>
          </p:nvSpPr>
          <p:spPr bwMode="auto">
            <a:xfrm>
              <a:off x="3040" y="2727"/>
              <a:ext cx="36" cy="32"/>
            </a:xfrm>
            <a:custGeom>
              <a:avLst/>
              <a:gdLst/>
              <a:ahLst/>
              <a:cxnLst>
                <a:cxn ang="0">
                  <a:pos x="11" y="6"/>
                </a:cxn>
                <a:cxn ang="0">
                  <a:pos x="5" y="18"/>
                </a:cxn>
                <a:cxn ang="0">
                  <a:pos x="0" y="29"/>
                </a:cxn>
                <a:cxn ang="0">
                  <a:pos x="2" y="29"/>
                </a:cxn>
                <a:cxn ang="0">
                  <a:pos x="3" y="29"/>
                </a:cxn>
                <a:cxn ang="0">
                  <a:pos x="16" y="29"/>
                </a:cxn>
                <a:cxn ang="0">
                  <a:pos x="18" y="23"/>
                </a:cxn>
                <a:cxn ang="0">
                  <a:pos x="27" y="24"/>
                </a:cxn>
                <a:cxn ang="0">
                  <a:pos x="32" y="22"/>
                </a:cxn>
                <a:cxn ang="0">
                  <a:pos x="26" y="0"/>
                </a:cxn>
                <a:cxn ang="0">
                  <a:pos x="16" y="6"/>
                </a:cxn>
                <a:cxn ang="0">
                  <a:pos x="11" y="6"/>
                </a:cxn>
              </a:cxnLst>
              <a:rect l="0" t="0" r="r" b="b"/>
              <a:pathLst>
                <a:path w="32" h="29">
                  <a:moveTo>
                    <a:pt x="11" y="6"/>
                  </a:moveTo>
                  <a:lnTo>
                    <a:pt x="5" y="18"/>
                  </a:lnTo>
                  <a:lnTo>
                    <a:pt x="0" y="29"/>
                  </a:lnTo>
                  <a:lnTo>
                    <a:pt x="2" y="29"/>
                  </a:lnTo>
                  <a:lnTo>
                    <a:pt x="3" y="29"/>
                  </a:lnTo>
                  <a:lnTo>
                    <a:pt x="16" y="29"/>
                  </a:lnTo>
                  <a:lnTo>
                    <a:pt x="18" y="23"/>
                  </a:lnTo>
                  <a:lnTo>
                    <a:pt x="27" y="24"/>
                  </a:lnTo>
                  <a:lnTo>
                    <a:pt x="32" y="22"/>
                  </a:lnTo>
                  <a:lnTo>
                    <a:pt x="26" y="0"/>
                  </a:lnTo>
                  <a:lnTo>
                    <a:pt x="16" y="6"/>
                  </a:lnTo>
                  <a:lnTo>
                    <a:pt x="1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7" name="Freeform 76"/>
            <p:cNvSpPr>
              <a:spLocks/>
            </p:cNvSpPr>
            <p:nvPr/>
          </p:nvSpPr>
          <p:spPr bwMode="auto">
            <a:xfrm>
              <a:off x="3827" y="2667"/>
              <a:ext cx="2" cy="3"/>
            </a:xfrm>
            <a:custGeom>
              <a:avLst/>
              <a:gdLst/>
              <a:ahLst/>
              <a:cxnLst>
                <a:cxn ang="0">
                  <a:pos x="2" y="1"/>
                </a:cxn>
                <a:cxn ang="0">
                  <a:pos x="0" y="1"/>
                </a:cxn>
                <a:cxn ang="0">
                  <a:pos x="2" y="0"/>
                </a:cxn>
                <a:cxn ang="0">
                  <a:pos x="2" y="1"/>
                </a:cxn>
              </a:cxnLst>
              <a:rect l="0" t="0" r="r" b="b"/>
              <a:pathLst>
                <a:path w="2" h="1">
                  <a:moveTo>
                    <a:pt x="2" y="1"/>
                  </a:moveTo>
                  <a:lnTo>
                    <a:pt x="0" y="1"/>
                  </a:lnTo>
                  <a:lnTo>
                    <a:pt x="2" y="0"/>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8" name="Freeform 77"/>
            <p:cNvSpPr>
              <a:spLocks/>
            </p:cNvSpPr>
            <p:nvPr/>
          </p:nvSpPr>
          <p:spPr bwMode="auto">
            <a:xfrm>
              <a:off x="3833" y="2712"/>
              <a:ext cx="2" cy="2"/>
            </a:xfrm>
            <a:custGeom>
              <a:avLst/>
              <a:gdLst/>
              <a:ahLst/>
              <a:cxnLst>
                <a:cxn ang="0">
                  <a:pos x="0" y="0"/>
                </a:cxn>
                <a:cxn ang="0">
                  <a:pos x="1" y="1"/>
                </a:cxn>
                <a:cxn ang="0">
                  <a:pos x="0" y="2"/>
                </a:cxn>
                <a:cxn ang="0">
                  <a:pos x="0" y="0"/>
                </a:cxn>
              </a:cxnLst>
              <a:rect l="0" t="0" r="r" b="b"/>
              <a:pathLst>
                <a:path w="1" h="2">
                  <a:moveTo>
                    <a:pt x="0" y="0"/>
                  </a:moveTo>
                  <a:lnTo>
                    <a:pt x="1" y="1"/>
                  </a:lnTo>
                  <a:lnTo>
                    <a:pt x="0" y="2"/>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9" name="Freeform 78"/>
            <p:cNvSpPr>
              <a:spLocks/>
            </p:cNvSpPr>
            <p:nvPr/>
          </p:nvSpPr>
          <p:spPr bwMode="auto">
            <a:xfrm>
              <a:off x="3829" y="2703"/>
              <a:ext cx="2" cy="2"/>
            </a:xfrm>
            <a:custGeom>
              <a:avLst/>
              <a:gdLst/>
              <a:ahLst/>
              <a:cxnLst>
                <a:cxn ang="0">
                  <a:pos x="1" y="0"/>
                </a:cxn>
                <a:cxn ang="0">
                  <a:pos x="1" y="1"/>
                </a:cxn>
                <a:cxn ang="0">
                  <a:pos x="0" y="0"/>
                </a:cxn>
                <a:cxn ang="0">
                  <a:pos x="1" y="0"/>
                </a:cxn>
              </a:cxnLst>
              <a:rect l="0" t="0" r="r" b="b"/>
              <a:pathLst>
                <a:path w="1" h="1">
                  <a:moveTo>
                    <a:pt x="1" y="0"/>
                  </a:moveTo>
                  <a:lnTo>
                    <a:pt x="1"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0" name="Freeform 79"/>
            <p:cNvSpPr>
              <a:spLocks/>
            </p:cNvSpPr>
            <p:nvPr/>
          </p:nvSpPr>
          <p:spPr bwMode="auto">
            <a:xfrm>
              <a:off x="3822" y="2719"/>
              <a:ext cx="2" cy="2"/>
            </a:xfrm>
            <a:custGeom>
              <a:avLst/>
              <a:gdLst/>
              <a:ahLst/>
              <a:cxnLst>
                <a:cxn ang="0">
                  <a:pos x="1" y="0"/>
                </a:cxn>
                <a:cxn ang="0">
                  <a:pos x="0" y="1"/>
                </a:cxn>
                <a:cxn ang="0">
                  <a:pos x="0" y="0"/>
                </a:cxn>
                <a:cxn ang="0">
                  <a:pos x="1" y="0"/>
                </a:cxn>
              </a:cxnLst>
              <a:rect l="0" t="0" r="r" b="b"/>
              <a:pathLst>
                <a:path w="1" h="1">
                  <a:moveTo>
                    <a:pt x="1" y="0"/>
                  </a:moveTo>
                  <a:lnTo>
                    <a:pt x="0"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1" name="Freeform 80"/>
            <p:cNvSpPr>
              <a:spLocks/>
            </p:cNvSpPr>
            <p:nvPr/>
          </p:nvSpPr>
          <p:spPr bwMode="auto">
            <a:xfrm>
              <a:off x="3822" y="2721"/>
              <a:ext cx="2" cy="2"/>
            </a:xfrm>
            <a:custGeom>
              <a:avLst/>
              <a:gdLst/>
              <a:ahLst/>
              <a:cxnLst>
                <a:cxn ang="0">
                  <a:pos x="1" y="2"/>
                </a:cxn>
                <a:cxn ang="0">
                  <a:pos x="1" y="0"/>
                </a:cxn>
                <a:cxn ang="0">
                  <a:pos x="0" y="2"/>
                </a:cxn>
                <a:cxn ang="0">
                  <a:pos x="1" y="2"/>
                </a:cxn>
              </a:cxnLst>
              <a:rect l="0" t="0" r="r" b="b"/>
              <a:pathLst>
                <a:path w="1" h="2">
                  <a:moveTo>
                    <a:pt x="1" y="2"/>
                  </a:moveTo>
                  <a:lnTo>
                    <a:pt x="1" y="0"/>
                  </a:lnTo>
                  <a:lnTo>
                    <a:pt x="0" y="2"/>
                  </a:lnTo>
                  <a:lnTo>
                    <a:pt x="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2" name="Freeform 81"/>
            <p:cNvSpPr>
              <a:spLocks/>
            </p:cNvSpPr>
            <p:nvPr/>
          </p:nvSpPr>
          <p:spPr bwMode="auto">
            <a:xfrm>
              <a:off x="3822" y="2592"/>
              <a:ext cx="2" cy="2"/>
            </a:xfrm>
            <a:custGeom>
              <a:avLst/>
              <a:gdLst/>
              <a:ahLst/>
              <a:cxnLst>
                <a:cxn ang="0">
                  <a:pos x="1" y="1"/>
                </a:cxn>
                <a:cxn ang="0">
                  <a:pos x="0" y="0"/>
                </a:cxn>
                <a:cxn ang="0">
                  <a:pos x="0" y="1"/>
                </a:cxn>
                <a:cxn ang="0">
                  <a:pos x="1" y="1"/>
                </a:cxn>
              </a:cxnLst>
              <a:rect l="0" t="0" r="r" b="b"/>
              <a:pathLst>
                <a:path w="1" h="1">
                  <a:moveTo>
                    <a:pt x="1" y="1"/>
                  </a:moveTo>
                  <a:lnTo>
                    <a:pt x="0" y="0"/>
                  </a:lnTo>
                  <a:lnTo>
                    <a:pt x="0" y="1"/>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3" name="Freeform 82"/>
            <p:cNvSpPr>
              <a:spLocks/>
            </p:cNvSpPr>
            <p:nvPr/>
          </p:nvSpPr>
          <p:spPr bwMode="auto">
            <a:xfrm>
              <a:off x="3827" y="2719"/>
              <a:ext cx="2" cy="2"/>
            </a:xfrm>
            <a:custGeom>
              <a:avLst/>
              <a:gdLst/>
              <a:ahLst/>
              <a:cxnLst>
                <a:cxn ang="0">
                  <a:pos x="0" y="1"/>
                </a:cxn>
                <a:cxn ang="0">
                  <a:pos x="0" y="0"/>
                </a:cxn>
                <a:cxn ang="0">
                  <a:pos x="0" y="1"/>
                </a:cxn>
              </a:cxnLst>
              <a:rect l="0" t="0" r="r" b="b"/>
              <a:pathLst>
                <a:path h="1">
                  <a:moveTo>
                    <a:pt x="0" y="1"/>
                  </a:moveTo>
                  <a:lnTo>
                    <a:pt x="0" y="0"/>
                  </a:lnTo>
                  <a:lnTo>
                    <a:pt x="0"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4" name="Freeform 83"/>
            <p:cNvSpPr>
              <a:spLocks/>
            </p:cNvSpPr>
            <p:nvPr/>
          </p:nvSpPr>
          <p:spPr bwMode="auto">
            <a:xfrm>
              <a:off x="3833" y="2663"/>
              <a:ext cx="2" cy="2"/>
            </a:xfrm>
            <a:custGeom>
              <a:avLst/>
              <a:gdLst/>
              <a:ahLst/>
              <a:cxnLst>
                <a:cxn ang="0">
                  <a:pos x="1" y="0"/>
                </a:cxn>
                <a:cxn ang="0">
                  <a:pos x="0" y="0"/>
                </a:cxn>
                <a:cxn ang="0">
                  <a:pos x="0" y="1"/>
                </a:cxn>
                <a:cxn ang="0">
                  <a:pos x="1" y="0"/>
                </a:cxn>
              </a:cxnLst>
              <a:rect l="0" t="0" r="r" b="b"/>
              <a:pathLst>
                <a:path w="1" h="1">
                  <a:moveTo>
                    <a:pt x="1" y="0"/>
                  </a:moveTo>
                  <a:lnTo>
                    <a:pt x="0" y="0"/>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5" name="Freeform 84"/>
            <p:cNvSpPr>
              <a:spLocks/>
            </p:cNvSpPr>
            <p:nvPr/>
          </p:nvSpPr>
          <p:spPr bwMode="auto">
            <a:xfrm>
              <a:off x="3820" y="2565"/>
              <a:ext cx="2" cy="2"/>
            </a:xfrm>
            <a:custGeom>
              <a:avLst/>
              <a:gdLst/>
              <a:ahLst/>
              <a:cxnLst>
                <a:cxn ang="0">
                  <a:pos x="1" y="0"/>
                </a:cxn>
                <a:cxn ang="0">
                  <a:pos x="0" y="0"/>
                </a:cxn>
                <a:cxn ang="0">
                  <a:pos x="0" y="2"/>
                </a:cxn>
                <a:cxn ang="0">
                  <a:pos x="1" y="0"/>
                </a:cxn>
              </a:cxnLst>
              <a:rect l="0" t="0" r="r" b="b"/>
              <a:pathLst>
                <a:path w="1" h="2">
                  <a:moveTo>
                    <a:pt x="1" y="0"/>
                  </a:moveTo>
                  <a:lnTo>
                    <a:pt x="0" y="0"/>
                  </a:lnTo>
                  <a:lnTo>
                    <a:pt x="0" y="2"/>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6" name="Freeform 85"/>
            <p:cNvSpPr>
              <a:spLocks/>
            </p:cNvSpPr>
            <p:nvPr/>
          </p:nvSpPr>
          <p:spPr bwMode="auto">
            <a:xfrm>
              <a:off x="3827" y="2670"/>
              <a:ext cx="2" cy="2"/>
            </a:xfrm>
            <a:custGeom>
              <a:avLst/>
              <a:gdLst/>
              <a:ahLst/>
              <a:cxnLst>
                <a:cxn ang="0">
                  <a:pos x="1" y="1"/>
                </a:cxn>
                <a:cxn ang="0">
                  <a:pos x="0" y="0"/>
                </a:cxn>
                <a:cxn ang="0">
                  <a:pos x="0" y="2"/>
                </a:cxn>
                <a:cxn ang="0">
                  <a:pos x="1" y="1"/>
                </a:cxn>
              </a:cxnLst>
              <a:rect l="0" t="0" r="r" b="b"/>
              <a:pathLst>
                <a:path w="1" h="2">
                  <a:moveTo>
                    <a:pt x="1" y="1"/>
                  </a:moveTo>
                  <a:lnTo>
                    <a:pt x="0" y="0"/>
                  </a:lnTo>
                  <a:lnTo>
                    <a:pt x="0" y="2"/>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7" name="Freeform 86"/>
            <p:cNvSpPr>
              <a:spLocks/>
            </p:cNvSpPr>
            <p:nvPr/>
          </p:nvSpPr>
          <p:spPr bwMode="auto">
            <a:xfrm>
              <a:off x="3829" y="2659"/>
              <a:ext cx="2" cy="2"/>
            </a:xfrm>
            <a:custGeom>
              <a:avLst/>
              <a:gdLst/>
              <a:ahLst/>
              <a:cxnLst>
                <a:cxn ang="0">
                  <a:pos x="1" y="0"/>
                </a:cxn>
                <a:cxn ang="0">
                  <a:pos x="0" y="0"/>
                </a:cxn>
                <a:cxn ang="0">
                  <a:pos x="0" y="1"/>
                </a:cxn>
                <a:cxn ang="0">
                  <a:pos x="1" y="0"/>
                </a:cxn>
              </a:cxnLst>
              <a:rect l="0" t="0" r="r" b="b"/>
              <a:pathLst>
                <a:path w="1" h="1">
                  <a:moveTo>
                    <a:pt x="1" y="0"/>
                  </a:moveTo>
                  <a:lnTo>
                    <a:pt x="0" y="0"/>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8" name="Freeform 87"/>
            <p:cNvSpPr>
              <a:spLocks/>
            </p:cNvSpPr>
            <p:nvPr/>
          </p:nvSpPr>
          <p:spPr bwMode="auto">
            <a:xfrm>
              <a:off x="3827" y="2592"/>
              <a:ext cx="2" cy="2"/>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9" name="Freeform 88"/>
            <p:cNvSpPr>
              <a:spLocks/>
            </p:cNvSpPr>
            <p:nvPr/>
          </p:nvSpPr>
          <p:spPr bwMode="auto">
            <a:xfrm>
              <a:off x="3818" y="2572"/>
              <a:ext cx="2" cy="2"/>
            </a:xfrm>
            <a:custGeom>
              <a:avLst/>
              <a:gdLst/>
              <a:ahLst/>
              <a:cxnLst>
                <a:cxn ang="0">
                  <a:pos x="2" y="0"/>
                </a:cxn>
                <a:cxn ang="0">
                  <a:pos x="1" y="0"/>
                </a:cxn>
                <a:cxn ang="0">
                  <a:pos x="0" y="0"/>
                </a:cxn>
                <a:cxn ang="0">
                  <a:pos x="2" y="0"/>
                </a:cxn>
              </a:cxnLst>
              <a:rect l="0" t="0" r="r" b="b"/>
              <a:pathLst>
                <a:path w="2">
                  <a:moveTo>
                    <a:pt x="2" y="0"/>
                  </a:moveTo>
                  <a:lnTo>
                    <a:pt x="1" y="0"/>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0" name="Freeform 89"/>
            <p:cNvSpPr>
              <a:spLocks/>
            </p:cNvSpPr>
            <p:nvPr/>
          </p:nvSpPr>
          <p:spPr bwMode="auto">
            <a:xfrm>
              <a:off x="3813" y="2650"/>
              <a:ext cx="2" cy="2"/>
            </a:xfrm>
            <a:custGeom>
              <a:avLst/>
              <a:gdLst/>
              <a:ahLst/>
              <a:cxnLst>
                <a:cxn ang="0">
                  <a:pos x="2" y="1"/>
                </a:cxn>
                <a:cxn ang="0">
                  <a:pos x="2" y="0"/>
                </a:cxn>
                <a:cxn ang="0">
                  <a:pos x="0" y="0"/>
                </a:cxn>
                <a:cxn ang="0">
                  <a:pos x="2" y="1"/>
                </a:cxn>
              </a:cxnLst>
              <a:rect l="0" t="0" r="r" b="b"/>
              <a:pathLst>
                <a:path w="2" h="1">
                  <a:moveTo>
                    <a:pt x="2" y="1"/>
                  </a:moveTo>
                  <a:lnTo>
                    <a:pt x="2" y="0"/>
                  </a:lnTo>
                  <a:lnTo>
                    <a:pt x="0" y="0"/>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1" name="Freeform 90"/>
            <p:cNvSpPr>
              <a:spLocks/>
            </p:cNvSpPr>
            <p:nvPr/>
          </p:nvSpPr>
          <p:spPr bwMode="auto">
            <a:xfrm>
              <a:off x="3815" y="2563"/>
              <a:ext cx="3" cy="2"/>
            </a:xfrm>
            <a:custGeom>
              <a:avLst/>
              <a:gdLst/>
              <a:ahLst/>
              <a:cxnLst>
                <a:cxn ang="0">
                  <a:pos x="1" y="1"/>
                </a:cxn>
                <a:cxn ang="0">
                  <a:pos x="1" y="0"/>
                </a:cxn>
                <a:cxn ang="0">
                  <a:pos x="0" y="0"/>
                </a:cxn>
                <a:cxn ang="0">
                  <a:pos x="1" y="1"/>
                </a:cxn>
              </a:cxnLst>
              <a:rect l="0" t="0" r="r" b="b"/>
              <a:pathLst>
                <a:path w="1" h="1">
                  <a:moveTo>
                    <a:pt x="1" y="1"/>
                  </a:moveTo>
                  <a:lnTo>
                    <a:pt x="1" y="0"/>
                  </a:ln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2" name="Freeform 91"/>
            <p:cNvSpPr>
              <a:spLocks/>
            </p:cNvSpPr>
            <p:nvPr/>
          </p:nvSpPr>
          <p:spPr bwMode="auto">
            <a:xfrm>
              <a:off x="3827" y="2645"/>
              <a:ext cx="2" cy="2"/>
            </a:xfrm>
            <a:custGeom>
              <a:avLst/>
              <a:gdLst/>
              <a:ahLst/>
              <a:cxnLst>
                <a:cxn ang="0">
                  <a:pos x="1" y="1"/>
                </a:cxn>
                <a:cxn ang="0">
                  <a:pos x="1" y="0"/>
                </a:cxn>
                <a:cxn ang="0">
                  <a:pos x="0" y="0"/>
                </a:cxn>
                <a:cxn ang="0">
                  <a:pos x="1" y="1"/>
                </a:cxn>
              </a:cxnLst>
              <a:rect l="0" t="0" r="r" b="b"/>
              <a:pathLst>
                <a:path w="1" h="1">
                  <a:moveTo>
                    <a:pt x="1" y="1"/>
                  </a:moveTo>
                  <a:lnTo>
                    <a:pt x="1" y="0"/>
                  </a:ln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3" name="Freeform 92"/>
            <p:cNvSpPr>
              <a:spLocks/>
            </p:cNvSpPr>
            <p:nvPr/>
          </p:nvSpPr>
          <p:spPr bwMode="auto">
            <a:xfrm>
              <a:off x="3829" y="2694"/>
              <a:ext cx="2" cy="2"/>
            </a:xfrm>
            <a:custGeom>
              <a:avLst/>
              <a:gdLst/>
              <a:ahLst/>
              <a:cxnLst>
                <a:cxn ang="0">
                  <a:pos x="1" y="0"/>
                </a:cxn>
                <a:cxn ang="0">
                  <a:pos x="1" y="1"/>
                </a:cxn>
                <a:cxn ang="0">
                  <a:pos x="0" y="1"/>
                </a:cxn>
                <a:cxn ang="0">
                  <a:pos x="1" y="0"/>
                </a:cxn>
              </a:cxnLst>
              <a:rect l="0" t="0" r="r" b="b"/>
              <a:pathLst>
                <a:path w="1" h="1">
                  <a:moveTo>
                    <a:pt x="1" y="0"/>
                  </a:moveTo>
                  <a:lnTo>
                    <a:pt x="1" y="1"/>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4" name="Freeform 93"/>
            <p:cNvSpPr>
              <a:spLocks/>
            </p:cNvSpPr>
            <p:nvPr/>
          </p:nvSpPr>
          <p:spPr bwMode="auto">
            <a:xfrm>
              <a:off x="3815" y="2567"/>
              <a:ext cx="3" cy="3"/>
            </a:xfrm>
            <a:custGeom>
              <a:avLst/>
              <a:gdLst/>
              <a:ahLst/>
              <a:cxnLst>
                <a:cxn ang="0">
                  <a:pos x="1" y="0"/>
                </a:cxn>
                <a:cxn ang="0">
                  <a:pos x="1" y="1"/>
                </a:cxn>
                <a:cxn ang="0">
                  <a:pos x="0" y="3"/>
                </a:cxn>
                <a:cxn ang="0">
                  <a:pos x="1" y="0"/>
                </a:cxn>
              </a:cxnLst>
              <a:rect l="0" t="0" r="r" b="b"/>
              <a:pathLst>
                <a:path w="1" h="3">
                  <a:moveTo>
                    <a:pt x="1" y="0"/>
                  </a:moveTo>
                  <a:lnTo>
                    <a:pt x="1" y="1"/>
                  </a:lnTo>
                  <a:lnTo>
                    <a:pt x="0" y="3"/>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5" name="Freeform 94"/>
            <p:cNvSpPr>
              <a:spLocks/>
            </p:cNvSpPr>
            <p:nvPr/>
          </p:nvSpPr>
          <p:spPr bwMode="auto">
            <a:xfrm>
              <a:off x="3827" y="2654"/>
              <a:ext cx="2" cy="2"/>
            </a:xfrm>
            <a:custGeom>
              <a:avLst/>
              <a:gdLst/>
              <a:ahLst/>
              <a:cxnLst>
                <a:cxn ang="0">
                  <a:pos x="2" y="0"/>
                </a:cxn>
                <a:cxn ang="0">
                  <a:pos x="2" y="2"/>
                </a:cxn>
                <a:cxn ang="0">
                  <a:pos x="0" y="0"/>
                </a:cxn>
                <a:cxn ang="0">
                  <a:pos x="2" y="0"/>
                </a:cxn>
              </a:cxnLst>
              <a:rect l="0" t="0" r="r" b="b"/>
              <a:pathLst>
                <a:path w="2" h="2">
                  <a:moveTo>
                    <a:pt x="2" y="0"/>
                  </a:moveTo>
                  <a:lnTo>
                    <a:pt x="2" y="2"/>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6" name="Freeform 95"/>
            <p:cNvSpPr>
              <a:spLocks/>
            </p:cNvSpPr>
            <p:nvPr/>
          </p:nvSpPr>
          <p:spPr bwMode="auto">
            <a:xfrm>
              <a:off x="3827" y="2614"/>
              <a:ext cx="2" cy="2"/>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7" name="Freeform 96"/>
            <p:cNvSpPr>
              <a:spLocks/>
            </p:cNvSpPr>
            <p:nvPr/>
          </p:nvSpPr>
          <p:spPr bwMode="auto">
            <a:xfrm>
              <a:off x="3342" y="2892"/>
              <a:ext cx="7" cy="2"/>
            </a:xfrm>
            <a:custGeom>
              <a:avLst/>
              <a:gdLst/>
              <a:ahLst/>
              <a:cxnLst>
                <a:cxn ang="0">
                  <a:pos x="6" y="0"/>
                </a:cxn>
                <a:cxn ang="0">
                  <a:pos x="4" y="0"/>
                </a:cxn>
                <a:cxn ang="0">
                  <a:pos x="0" y="1"/>
                </a:cxn>
                <a:cxn ang="0">
                  <a:pos x="6" y="0"/>
                </a:cxn>
              </a:cxnLst>
              <a:rect l="0" t="0" r="r" b="b"/>
              <a:pathLst>
                <a:path w="6" h="1">
                  <a:moveTo>
                    <a:pt x="6" y="0"/>
                  </a:moveTo>
                  <a:lnTo>
                    <a:pt x="4" y="0"/>
                  </a:lnTo>
                  <a:lnTo>
                    <a:pt x="0" y="1"/>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8" name="Freeform 97"/>
            <p:cNvSpPr>
              <a:spLocks/>
            </p:cNvSpPr>
            <p:nvPr/>
          </p:nvSpPr>
          <p:spPr bwMode="auto">
            <a:xfrm>
              <a:off x="3395" y="2183"/>
              <a:ext cx="3" cy="4"/>
            </a:xfrm>
            <a:custGeom>
              <a:avLst/>
              <a:gdLst/>
              <a:ahLst/>
              <a:cxnLst>
                <a:cxn ang="0">
                  <a:pos x="0" y="0"/>
                </a:cxn>
                <a:cxn ang="0">
                  <a:pos x="0" y="3"/>
                </a:cxn>
                <a:cxn ang="0">
                  <a:pos x="1" y="1"/>
                </a:cxn>
                <a:cxn ang="0">
                  <a:pos x="0" y="0"/>
                </a:cxn>
              </a:cxnLst>
              <a:rect l="0" t="0" r="r" b="b"/>
              <a:pathLst>
                <a:path w="1" h="3">
                  <a:moveTo>
                    <a:pt x="0" y="0"/>
                  </a:moveTo>
                  <a:lnTo>
                    <a:pt x="0" y="3"/>
                  </a:lnTo>
                  <a:lnTo>
                    <a:pt x="1"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9" name="Freeform 98"/>
            <p:cNvSpPr>
              <a:spLocks/>
            </p:cNvSpPr>
            <p:nvPr/>
          </p:nvSpPr>
          <p:spPr bwMode="auto">
            <a:xfrm>
              <a:off x="2769" y="2236"/>
              <a:ext cx="180" cy="318"/>
            </a:xfrm>
            <a:custGeom>
              <a:avLst/>
              <a:gdLst/>
              <a:ahLst/>
              <a:cxnLst>
                <a:cxn ang="0">
                  <a:pos x="160" y="72"/>
                </a:cxn>
                <a:cxn ang="0">
                  <a:pos x="145" y="63"/>
                </a:cxn>
                <a:cxn ang="0">
                  <a:pos x="129" y="54"/>
                </a:cxn>
                <a:cxn ang="0">
                  <a:pos x="112" y="45"/>
                </a:cxn>
                <a:cxn ang="0">
                  <a:pos x="97" y="36"/>
                </a:cxn>
                <a:cxn ang="0">
                  <a:pos x="81" y="27"/>
                </a:cxn>
                <a:cxn ang="0">
                  <a:pos x="66" y="18"/>
                </a:cxn>
                <a:cxn ang="0">
                  <a:pos x="50" y="9"/>
                </a:cxn>
                <a:cxn ang="0">
                  <a:pos x="34" y="0"/>
                </a:cxn>
                <a:cxn ang="0">
                  <a:pos x="19" y="9"/>
                </a:cxn>
                <a:cxn ang="0">
                  <a:pos x="20" y="22"/>
                </a:cxn>
                <a:cxn ang="0">
                  <a:pos x="22" y="36"/>
                </a:cxn>
                <a:cxn ang="0">
                  <a:pos x="36" y="56"/>
                </a:cxn>
                <a:cxn ang="0">
                  <a:pos x="32" y="64"/>
                </a:cxn>
                <a:cxn ang="0">
                  <a:pos x="31" y="78"/>
                </a:cxn>
                <a:cxn ang="0">
                  <a:pos x="30" y="91"/>
                </a:cxn>
                <a:cxn ang="0">
                  <a:pos x="30" y="105"/>
                </a:cxn>
                <a:cxn ang="0">
                  <a:pos x="28" y="118"/>
                </a:cxn>
                <a:cxn ang="0">
                  <a:pos x="21" y="129"/>
                </a:cxn>
                <a:cxn ang="0">
                  <a:pos x="14" y="140"/>
                </a:cxn>
                <a:cxn ang="0">
                  <a:pos x="7" y="151"/>
                </a:cxn>
                <a:cxn ang="0">
                  <a:pos x="0" y="162"/>
                </a:cxn>
                <a:cxn ang="0">
                  <a:pos x="1" y="176"/>
                </a:cxn>
                <a:cxn ang="0">
                  <a:pos x="8" y="187"/>
                </a:cxn>
                <a:cxn ang="0">
                  <a:pos x="14" y="187"/>
                </a:cxn>
                <a:cxn ang="0">
                  <a:pos x="21" y="205"/>
                </a:cxn>
                <a:cxn ang="0">
                  <a:pos x="24" y="225"/>
                </a:cxn>
                <a:cxn ang="0">
                  <a:pos x="34" y="243"/>
                </a:cxn>
                <a:cxn ang="0">
                  <a:pos x="15" y="243"/>
                </a:cxn>
                <a:cxn ang="0">
                  <a:pos x="8" y="247"/>
                </a:cxn>
                <a:cxn ang="0">
                  <a:pos x="21" y="264"/>
                </a:cxn>
                <a:cxn ang="0">
                  <a:pos x="31" y="286"/>
                </a:cxn>
                <a:cxn ang="0">
                  <a:pos x="46" y="282"/>
                </a:cxn>
                <a:cxn ang="0">
                  <a:pos x="49" y="284"/>
                </a:cxn>
                <a:cxn ang="0">
                  <a:pos x="58" y="283"/>
                </a:cxn>
                <a:cxn ang="0">
                  <a:pos x="80" y="278"/>
                </a:cxn>
                <a:cxn ang="0">
                  <a:pos x="87" y="268"/>
                </a:cxn>
                <a:cxn ang="0">
                  <a:pos x="85" y="264"/>
                </a:cxn>
                <a:cxn ang="0">
                  <a:pos x="108" y="259"/>
                </a:cxn>
                <a:cxn ang="0">
                  <a:pos x="120" y="244"/>
                </a:cxn>
                <a:cxn ang="0">
                  <a:pos x="132" y="230"/>
                </a:cxn>
                <a:cxn ang="0">
                  <a:pos x="147" y="226"/>
                </a:cxn>
                <a:cxn ang="0">
                  <a:pos x="146" y="216"/>
                </a:cxn>
                <a:cxn ang="0">
                  <a:pos x="142" y="206"/>
                </a:cxn>
                <a:cxn ang="0">
                  <a:pos x="136" y="193"/>
                </a:cxn>
                <a:cxn ang="0">
                  <a:pos x="130" y="192"/>
                </a:cxn>
                <a:cxn ang="0">
                  <a:pos x="135" y="178"/>
                </a:cxn>
                <a:cxn ang="0">
                  <a:pos x="138" y="170"/>
                </a:cxn>
                <a:cxn ang="0">
                  <a:pos x="139" y="165"/>
                </a:cxn>
                <a:cxn ang="0">
                  <a:pos x="139" y="159"/>
                </a:cxn>
                <a:cxn ang="0">
                  <a:pos x="147" y="145"/>
                </a:cxn>
                <a:cxn ang="0">
                  <a:pos x="152" y="140"/>
                </a:cxn>
                <a:cxn ang="0">
                  <a:pos x="163" y="140"/>
                </a:cxn>
                <a:cxn ang="0">
                  <a:pos x="162" y="123"/>
                </a:cxn>
                <a:cxn ang="0">
                  <a:pos x="162" y="106"/>
                </a:cxn>
                <a:cxn ang="0">
                  <a:pos x="160" y="88"/>
                </a:cxn>
                <a:cxn ang="0">
                  <a:pos x="160" y="72"/>
                </a:cxn>
              </a:cxnLst>
              <a:rect l="0" t="0" r="r" b="b"/>
              <a:pathLst>
                <a:path w="163" h="286">
                  <a:moveTo>
                    <a:pt x="160" y="72"/>
                  </a:moveTo>
                  <a:lnTo>
                    <a:pt x="145" y="63"/>
                  </a:lnTo>
                  <a:lnTo>
                    <a:pt x="129" y="54"/>
                  </a:lnTo>
                  <a:lnTo>
                    <a:pt x="112" y="45"/>
                  </a:lnTo>
                  <a:lnTo>
                    <a:pt x="97" y="36"/>
                  </a:lnTo>
                  <a:lnTo>
                    <a:pt x="81" y="27"/>
                  </a:lnTo>
                  <a:lnTo>
                    <a:pt x="66" y="18"/>
                  </a:lnTo>
                  <a:lnTo>
                    <a:pt x="50" y="9"/>
                  </a:lnTo>
                  <a:lnTo>
                    <a:pt x="34" y="0"/>
                  </a:lnTo>
                  <a:lnTo>
                    <a:pt x="19" y="9"/>
                  </a:lnTo>
                  <a:lnTo>
                    <a:pt x="20" y="22"/>
                  </a:lnTo>
                  <a:lnTo>
                    <a:pt x="22" y="36"/>
                  </a:lnTo>
                  <a:lnTo>
                    <a:pt x="36" y="56"/>
                  </a:lnTo>
                  <a:lnTo>
                    <a:pt x="32" y="64"/>
                  </a:lnTo>
                  <a:lnTo>
                    <a:pt x="31" y="78"/>
                  </a:lnTo>
                  <a:lnTo>
                    <a:pt x="30" y="91"/>
                  </a:lnTo>
                  <a:lnTo>
                    <a:pt x="30" y="105"/>
                  </a:lnTo>
                  <a:lnTo>
                    <a:pt x="28" y="118"/>
                  </a:lnTo>
                  <a:lnTo>
                    <a:pt x="21" y="129"/>
                  </a:lnTo>
                  <a:lnTo>
                    <a:pt x="14" y="140"/>
                  </a:lnTo>
                  <a:lnTo>
                    <a:pt x="7" y="151"/>
                  </a:lnTo>
                  <a:lnTo>
                    <a:pt x="0" y="162"/>
                  </a:lnTo>
                  <a:lnTo>
                    <a:pt x="1" y="176"/>
                  </a:lnTo>
                  <a:lnTo>
                    <a:pt x="8" y="187"/>
                  </a:lnTo>
                  <a:lnTo>
                    <a:pt x="14" y="187"/>
                  </a:lnTo>
                  <a:lnTo>
                    <a:pt x="21" y="205"/>
                  </a:lnTo>
                  <a:lnTo>
                    <a:pt x="24" y="225"/>
                  </a:lnTo>
                  <a:lnTo>
                    <a:pt x="34" y="243"/>
                  </a:lnTo>
                  <a:lnTo>
                    <a:pt x="15" y="243"/>
                  </a:lnTo>
                  <a:lnTo>
                    <a:pt x="8" y="247"/>
                  </a:lnTo>
                  <a:lnTo>
                    <a:pt x="21" y="264"/>
                  </a:lnTo>
                  <a:lnTo>
                    <a:pt x="31" y="286"/>
                  </a:lnTo>
                  <a:lnTo>
                    <a:pt x="46" y="282"/>
                  </a:lnTo>
                  <a:lnTo>
                    <a:pt x="49" y="284"/>
                  </a:lnTo>
                  <a:lnTo>
                    <a:pt x="58" y="283"/>
                  </a:lnTo>
                  <a:lnTo>
                    <a:pt x="80" y="278"/>
                  </a:lnTo>
                  <a:lnTo>
                    <a:pt x="87" y="268"/>
                  </a:lnTo>
                  <a:lnTo>
                    <a:pt x="85" y="264"/>
                  </a:lnTo>
                  <a:lnTo>
                    <a:pt x="108" y="259"/>
                  </a:lnTo>
                  <a:lnTo>
                    <a:pt x="120" y="244"/>
                  </a:lnTo>
                  <a:lnTo>
                    <a:pt x="132" y="230"/>
                  </a:lnTo>
                  <a:lnTo>
                    <a:pt x="147" y="226"/>
                  </a:lnTo>
                  <a:lnTo>
                    <a:pt x="146" y="216"/>
                  </a:lnTo>
                  <a:lnTo>
                    <a:pt x="142" y="206"/>
                  </a:lnTo>
                  <a:lnTo>
                    <a:pt x="136" y="193"/>
                  </a:lnTo>
                  <a:lnTo>
                    <a:pt x="130" y="192"/>
                  </a:lnTo>
                  <a:lnTo>
                    <a:pt x="135" y="178"/>
                  </a:lnTo>
                  <a:lnTo>
                    <a:pt x="138" y="170"/>
                  </a:lnTo>
                  <a:lnTo>
                    <a:pt x="139" y="165"/>
                  </a:lnTo>
                  <a:lnTo>
                    <a:pt x="139" y="159"/>
                  </a:lnTo>
                  <a:lnTo>
                    <a:pt x="147" y="145"/>
                  </a:lnTo>
                  <a:lnTo>
                    <a:pt x="152" y="140"/>
                  </a:lnTo>
                  <a:lnTo>
                    <a:pt x="163" y="140"/>
                  </a:lnTo>
                  <a:lnTo>
                    <a:pt x="162" y="123"/>
                  </a:lnTo>
                  <a:lnTo>
                    <a:pt x="162" y="106"/>
                  </a:lnTo>
                  <a:lnTo>
                    <a:pt x="160" y="88"/>
                  </a:lnTo>
                  <a:lnTo>
                    <a:pt x="160" y="7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0" name="Freeform 99"/>
            <p:cNvSpPr>
              <a:spLocks/>
            </p:cNvSpPr>
            <p:nvPr/>
          </p:nvSpPr>
          <p:spPr bwMode="auto">
            <a:xfrm>
              <a:off x="3264" y="2454"/>
              <a:ext cx="25" cy="31"/>
            </a:xfrm>
            <a:custGeom>
              <a:avLst/>
              <a:gdLst/>
              <a:ahLst/>
              <a:cxnLst>
                <a:cxn ang="0">
                  <a:pos x="0" y="28"/>
                </a:cxn>
                <a:cxn ang="0">
                  <a:pos x="18" y="28"/>
                </a:cxn>
                <a:cxn ang="0">
                  <a:pos x="22" y="20"/>
                </a:cxn>
                <a:cxn ang="0">
                  <a:pos x="16" y="0"/>
                </a:cxn>
                <a:cxn ang="0">
                  <a:pos x="10" y="2"/>
                </a:cxn>
                <a:cxn ang="0">
                  <a:pos x="0" y="28"/>
                </a:cxn>
              </a:cxnLst>
              <a:rect l="0" t="0" r="r" b="b"/>
              <a:pathLst>
                <a:path w="22" h="28">
                  <a:moveTo>
                    <a:pt x="0" y="28"/>
                  </a:moveTo>
                  <a:lnTo>
                    <a:pt x="18" y="28"/>
                  </a:lnTo>
                  <a:lnTo>
                    <a:pt x="22" y="20"/>
                  </a:lnTo>
                  <a:lnTo>
                    <a:pt x="16" y="0"/>
                  </a:lnTo>
                  <a:lnTo>
                    <a:pt x="10" y="2"/>
                  </a:lnTo>
                  <a:lnTo>
                    <a:pt x="0"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1" name="Freeform 100"/>
            <p:cNvSpPr>
              <a:spLocks/>
            </p:cNvSpPr>
            <p:nvPr/>
          </p:nvSpPr>
          <p:spPr bwMode="auto">
            <a:xfrm>
              <a:off x="3167" y="2347"/>
              <a:ext cx="115" cy="114"/>
            </a:xfrm>
            <a:custGeom>
              <a:avLst/>
              <a:gdLst/>
              <a:ahLst/>
              <a:cxnLst>
                <a:cxn ang="0">
                  <a:pos x="0" y="78"/>
                </a:cxn>
                <a:cxn ang="0">
                  <a:pos x="2" y="65"/>
                </a:cxn>
                <a:cxn ang="0">
                  <a:pos x="4" y="40"/>
                </a:cxn>
                <a:cxn ang="0">
                  <a:pos x="10" y="17"/>
                </a:cxn>
                <a:cxn ang="0">
                  <a:pos x="20" y="10"/>
                </a:cxn>
                <a:cxn ang="0">
                  <a:pos x="29" y="3"/>
                </a:cxn>
                <a:cxn ang="0">
                  <a:pos x="32" y="0"/>
                </a:cxn>
                <a:cxn ang="0">
                  <a:pos x="36" y="12"/>
                </a:cxn>
                <a:cxn ang="0">
                  <a:pos x="41" y="25"/>
                </a:cxn>
                <a:cxn ang="0">
                  <a:pos x="46" y="39"/>
                </a:cxn>
                <a:cxn ang="0">
                  <a:pos x="52" y="52"/>
                </a:cxn>
                <a:cxn ang="0">
                  <a:pos x="52" y="47"/>
                </a:cxn>
                <a:cxn ang="0">
                  <a:pos x="57" y="49"/>
                </a:cxn>
                <a:cxn ang="0">
                  <a:pos x="70" y="59"/>
                </a:cxn>
                <a:cxn ang="0">
                  <a:pos x="87" y="76"/>
                </a:cxn>
                <a:cxn ang="0">
                  <a:pos x="104" y="93"/>
                </a:cxn>
                <a:cxn ang="0">
                  <a:pos x="105" y="96"/>
                </a:cxn>
                <a:cxn ang="0">
                  <a:pos x="104" y="97"/>
                </a:cxn>
                <a:cxn ang="0">
                  <a:pos x="98" y="99"/>
                </a:cxn>
                <a:cxn ang="0">
                  <a:pos x="90" y="102"/>
                </a:cxn>
                <a:cxn ang="0">
                  <a:pos x="89" y="99"/>
                </a:cxn>
                <a:cxn ang="0">
                  <a:pos x="75" y="94"/>
                </a:cxn>
                <a:cxn ang="0">
                  <a:pos x="65" y="83"/>
                </a:cxn>
                <a:cxn ang="0">
                  <a:pos x="60" y="77"/>
                </a:cxn>
                <a:cxn ang="0">
                  <a:pos x="51" y="72"/>
                </a:cxn>
                <a:cxn ang="0">
                  <a:pos x="42" y="70"/>
                </a:cxn>
                <a:cxn ang="0">
                  <a:pos x="33" y="71"/>
                </a:cxn>
                <a:cxn ang="0">
                  <a:pos x="24" y="63"/>
                </a:cxn>
                <a:cxn ang="0">
                  <a:pos x="22" y="77"/>
                </a:cxn>
                <a:cxn ang="0">
                  <a:pos x="15" y="71"/>
                </a:cxn>
                <a:cxn ang="0">
                  <a:pos x="8" y="79"/>
                </a:cxn>
                <a:cxn ang="0">
                  <a:pos x="0" y="78"/>
                </a:cxn>
              </a:cxnLst>
              <a:rect l="0" t="0" r="r" b="b"/>
              <a:pathLst>
                <a:path w="105" h="102">
                  <a:moveTo>
                    <a:pt x="0" y="78"/>
                  </a:moveTo>
                  <a:lnTo>
                    <a:pt x="2" y="65"/>
                  </a:lnTo>
                  <a:lnTo>
                    <a:pt x="4" y="40"/>
                  </a:lnTo>
                  <a:lnTo>
                    <a:pt x="10" y="17"/>
                  </a:lnTo>
                  <a:lnTo>
                    <a:pt x="20" y="10"/>
                  </a:lnTo>
                  <a:lnTo>
                    <a:pt x="29" y="3"/>
                  </a:lnTo>
                  <a:lnTo>
                    <a:pt x="32" y="0"/>
                  </a:lnTo>
                  <a:lnTo>
                    <a:pt x="36" y="12"/>
                  </a:lnTo>
                  <a:lnTo>
                    <a:pt x="41" y="25"/>
                  </a:lnTo>
                  <a:lnTo>
                    <a:pt x="46" y="39"/>
                  </a:lnTo>
                  <a:lnTo>
                    <a:pt x="52" y="52"/>
                  </a:lnTo>
                  <a:lnTo>
                    <a:pt x="52" y="47"/>
                  </a:lnTo>
                  <a:lnTo>
                    <a:pt x="57" y="49"/>
                  </a:lnTo>
                  <a:lnTo>
                    <a:pt x="70" y="59"/>
                  </a:lnTo>
                  <a:lnTo>
                    <a:pt x="87" y="76"/>
                  </a:lnTo>
                  <a:lnTo>
                    <a:pt x="104" y="93"/>
                  </a:lnTo>
                  <a:lnTo>
                    <a:pt x="105" y="96"/>
                  </a:lnTo>
                  <a:lnTo>
                    <a:pt x="104" y="97"/>
                  </a:lnTo>
                  <a:lnTo>
                    <a:pt x="98" y="99"/>
                  </a:lnTo>
                  <a:lnTo>
                    <a:pt x="90" y="102"/>
                  </a:lnTo>
                  <a:lnTo>
                    <a:pt x="89" y="99"/>
                  </a:lnTo>
                  <a:lnTo>
                    <a:pt x="75" y="94"/>
                  </a:lnTo>
                  <a:lnTo>
                    <a:pt x="65" y="83"/>
                  </a:lnTo>
                  <a:lnTo>
                    <a:pt x="60" y="77"/>
                  </a:lnTo>
                  <a:lnTo>
                    <a:pt x="51" y="72"/>
                  </a:lnTo>
                  <a:lnTo>
                    <a:pt x="42" y="70"/>
                  </a:lnTo>
                  <a:lnTo>
                    <a:pt x="33" y="71"/>
                  </a:lnTo>
                  <a:lnTo>
                    <a:pt x="24" y="63"/>
                  </a:lnTo>
                  <a:lnTo>
                    <a:pt x="22" y="77"/>
                  </a:lnTo>
                  <a:lnTo>
                    <a:pt x="15" y="71"/>
                  </a:lnTo>
                  <a:lnTo>
                    <a:pt x="8" y="79"/>
                  </a:lnTo>
                  <a:lnTo>
                    <a:pt x="0" y="7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2" name="Freeform 101"/>
            <p:cNvSpPr>
              <a:spLocks/>
            </p:cNvSpPr>
            <p:nvPr/>
          </p:nvSpPr>
          <p:spPr bwMode="auto">
            <a:xfrm>
              <a:off x="3111" y="2416"/>
              <a:ext cx="262" cy="220"/>
            </a:xfrm>
            <a:custGeom>
              <a:avLst/>
              <a:gdLst/>
              <a:ahLst/>
              <a:cxnLst>
                <a:cxn ang="0">
                  <a:pos x="80" y="193"/>
                </a:cxn>
                <a:cxn ang="0">
                  <a:pos x="61" y="180"/>
                </a:cxn>
                <a:cxn ang="0">
                  <a:pos x="48" y="177"/>
                </a:cxn>
                <a:cxn ang="0">
                  <a:pos x="43" y="163"/>
                </a:cxn>
                <a:cxn ang="0">
                  <a:pos x="34" y="159"/>
                </a:cxn>
                <a:cxn ang="0">
                  <a:pos x="28" y="147"/>
                </a:cxn>
                <a:cxn ang="0">
                  <a:pos x="22" y="135"/>
                </a:cxn>
                <a:cxn ang="0">
                  <a:pos x="6" y="121"/>
                </a:cxn>
                <a:cxn ang="0">
                  <a:pos x="0" y="116"/>
                </a:cxn>
                <a:cxn ang="0">
                  <a:pos x="6" y="109"/>
                </a:cxn>
                <a:cxn ang="0">
                  <a:pos x="18" y="106"/>
                </a:cxn>
                <a:cxn ang="0">
                  <a:pos x="19" y="86"/>
                </a:cxn>
                <a:cxn ang="0">
                  <a:pos x="22" y="67"/>
                </a:cxn>
                <a:cxn ang="0">
                  <a:pos x="30" y="64"/>
                </a:cxn>
                <a:cxn ang="0">
                  <a:pos x="34" y="45"/>
                </a:cxn>
                <a:cxn ang="0">
                  <a:pos x="50" y="15"/>
                </a:cxn>
                <a:cxn ang="0">
                  <a:pos x="58" y="16"/>
                </a:cxn>
                <a:cxn ang="0">
                  <a:pos x="65" y="8"/>
                </a:cxn>
                <a:cxn ang="0">
                  <a:pos x="72" y="14"/>
                </a:cxn>
                <a:cxn ang="0">
                  <a:pos x="74" y="0"/>
                </a:cxn>
                <a:cxn ang="0">
                  <a:pos x="83" y="8"/>
                </a:cxn>
                <a:cxn ang="0">
                  <a:pos x="92" y="7"/>
                </a:cxn>
                <a:cxn ang="0">
                  <a:pos x="101" y="9"/>
                </a:cxn>
                <a:cxn ang="0">
                  <a:pos x="110" y="14"/>
                </a:cxn>
                <a:cxn ang="0">
                  <a:pos x="115" y="20"/>
                </a:cxn>
                <a:cxn ang="0">
                  <a:pos x="125" y="31"/>
                </a:cxn>
                <a:cxn ang="0">
                  <a:pos x="139" y="36"/>
                </a:cxn>
                <a:cxn ang="0">
                  <a:pos x="140" y="39"/>
                </a:cxn>
                <a:cxn ang="0">
                  <a:pos x="148" y="36"/>
                </a:cxn>
                <a:cxn ang="0">
                  <a:pos x="138" y="62"/>
                </a:cxn>
                <a:cxn ang="0">
                  <a:pos x="156" y="62"/>
                </a:cxn>
                <a:cxn ang="0">
                  <a:pos x="154" y="73"/>
                </a:cxn>
                <a:cxn ang="0">
                  <a:pos x="163" y="85"/>
                </a:cxn>
                <a:cxn ang="0">
                  <a:pos x="174" y="98"/>
                </a:cxn>
                <a:cxn ang="0">
                  <a:pos x="186" y="103"/>
                </a:cxn>
                <a:cxn ang="0">
                  <a:pos x="198" y="108"/>
                </a:cxn>
                <a:cxn ang="0">
                  <a:pos x="210" y="112"/>
                </a:cxn>
                <a:cxn ang="0">
                  <a:pos x="221" y="116"/>
                </a:cxn>
                <a:cxn ang="0">
                  <a:pos x="236" y="116"/>
                </a:cxn>
                <a:cxn ang="0">
                  <a:pos x="226" y="130"/>
                </a:cxn>
                <a:cxn ang="0">
                  <a:pos x="214" y="144"/>
                </a:cxn>
                <a:cxn ang="0">
                  <a:pos x="202" y="158"/>
                </a:cxn>
                <a:cxn ang="0">
                  <a:pos x="191" y="172"/>
                </a:cxn>
                <a:cxn ang="0">
                  <a:pos x="178" y="174"/>
                </a:cxn>
                <a:cxn ang="0">
                  <a:pos x="166" y="175"/>
                </a:cxn>
                <a:cxn ang="0">
                  <a:pos x="150" y="184"/>
                </a:cxn>
                <a:cxn ang="0">
                  <a:pos x="143" y="189"/>
                </a:cxn>
                <a:cxn ang="0">
                  <a:pos x="126" y="186"/>
                </a:cxn>
                <a:cxn ang="0">
                  <a:pos x="110" y="190"/>
                </a:cxn>
                <a:cxn ang="0">
                  <a:pos x="102" y="198"/>
                </a:cxn>
                <a:cxn ang="0">
                  <a:pos x="80" y="193"/>
                </a:cxn>
              </a:cxnLst>
              <a:rect l="0" t="0" r="r" b="b"/>
              <a:pathLst>
                <a:path w="236" h="198">
                  <a:moveTo>
                    <a:pt x="80" y="193"/>
                  </a:moveTo>
                  <a:lnTo>
                    <a:pt x="61" y="180"/>
                  </a:lnTo>
                  <a:lnTo>
                    <a:pt x="48" y="177"/>
                  </a:lnTo>
                  <a:lnTo>
                    <a:pt x="43" y="163"/>
                  </a:lnTo>
                  <a:lnTo>
                    <a:pt x="34" y="159"/>
                  </a:lnTo>
                  <a:lnTo>
                    <a:pt x="28" y="147"/>
                  </a:lnTo>
                  <a:lnTo>
                    <a:pt x="22" y="135"/>
                  </a:lnTo>
                  <a:lnTo>
                    <a:pt x="6" y="121"/>
                  </a:lnTo>
                  <a:lnTo>
                    <a:pt x="0" y="116"/>
                  </a:lnTo>
                  <a:lnTo>
                    <a:pt x="6" y="109"/>
                  </a:lnTo>
                  <a:lnTo>
                    <a:pt x="18" y="106"/>
                  </a:lnTo>
                  <a:lnTo>
                    <a:pt x="19" y="86"/>
                  </a:lnTo>
                  <a:lnTo>
                    <a:pt x="22" y="67"/>
                  </a:lnTo>
                  <a:lnTo>
                    <a:pt x="30" y="64"/>
                  </a:lnTo>
                  <a:lnTo>
                    <a:pt x="34" y="45"/>
                  </a:lnTo>
                  <a:lnTo>
                    <a:pt x="50" y="15"/>
                  </a:lnTo>
                  <a:lnTo>
                    <a:pt x="58" y="16"/>
                  </a:lnTo>
                  <a:lnTo>
                    <a:pt x="65" y="8"/>
                  </a:lnTo>
                  <a:lnTo>
                    <a:pt x="72" y="14"/>
                  </a:lnTo>
                  <a:lnTo>
                    <a:pt x="74" y="0"/>
                  </a:lnTo>
                  <a:lnTo>
                    <a:pt x="83" y="8"/>
                  </a:lnTo>
                  <a:lnTo>
                    <a:pt x="92" y="7"/>
                  </a:lnTo>
                  <a:lnTo>
                    <a:pt x="101" y="9"/>
                  </a:lnTo>
                  <a:lnTo>
                    <a:pt x="110" y="14"/>
                  </a:lnTo>
                  <a:lnTo>
                    <a:pt x="115" y="20"/>
                  </a:lnTo>
                  <a:lnTo>
                    <a:pt x="125" y="31"/>
                  </a:lnTo>
                  <a:lnTo>
                    <a:pt x="139" y="36"/>
                  </a:lnTo>
                  <a:lnTo>
                    <a:pt x="140" y="39"/>
                  </a:lnTo>
                  <a:lnTo>
                    <a:pt x="148" y="36"/>
                  </a:lnTo>
                  <a:lnTo>
                    <a:pt x="138" y="62"/>
                  </a:lnTo>
                  <a:lnTo>
                    <a:pt x="156" y="62"/>
                  </a:lnTo>
                  <a:lnTo>
                    <a:pt x="154" y="73"/>
                  </a:lnTo>
                  <a:lnTo>
                    <a:pt x="163" y="85"/>
                  </a:lnTo>
                  <a:lnTo>
                    <a:pt x="174" y="98"/>
                  </a:lnTo>
                  <a:lnTo>
                    <a:pt x="186" y="103"/>
                  </a:lnTo>
                  <a:lnTo>
                    <a:pt x="198" y="108"/>
                  </a:lnTo>
                  <a:lnTo>
                    <a:pt x="210" y="112"/>
                  </a:lnTo>
                  <a:lnTo>
                    <a:pt x="221" y="116"/>
                  </a:lnTo>
                  <a:lnTo>
                    <a:pt x="236" y="116"/>
                  </a:lnTo>
                  <a:lnTo>
                    <a:pt x="226" y="130"/>
                  </a:lnTo>
                  <a:lnTo>
                    <a:pt x="214" y="144"/>
                  </a:lnTo>
                  <a:lnTo>
                    <a:pt x="202" y="158"/>
                  </a:lnTo>
                  <a:lnTo>
                    <a:pt x="191" y="172"/>
                  </a:lnTo>
                  <a:lnTo>
                    <a:pt x="178" y="174"/>
                  </a:lnTo>
                  <a:lnTo>
                    <a:pt x="166" y="175"/>
                  </a:lnTo>
                  <a:lnTo>
                    <a:pt x="150" y="184"/>
                  </a:lnTo>
                  <a:lnTo>
                    <a:pt x="143" y="189"/>
                  </a:lnTo>
                  <a:lnTo>
                    <a:pt x="126" y="186"/>
                  </a:lnTo>
                  <a:lnTo>
                    <a:pt x="110" y="190"/>
                  </a:lnTo>
                  <a:lnTo>
                    <a:pt x="102" y="198"/>
                  </a:lnTo>
                  <a:lnTo>
                    <a:pt x="80" y="1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3" name="Freeform 102"/>
            <p:cNvSpPr>
              <a:spLocks/>
            </p:cNvSpPr>
            <p:nvPr/>
          </p:nvSpPr>
          <p:spPr bwMode="auto">
            <a:xfrm>
              <a:off x="3253" y="2467"/>
              <a:ext cx="176" cy="272"/>
            </a:xfrm>
            <a:custGeom>
              <a:avLst/>
              <a:gdLst/>
              <a:ahLst/>
              <a:cxnLst>
                <a:cxn ang="0">
                  <a:pos x="154" y="34"/>
                </a:cxn>
                <a:cxn ang="0">
                  <a:pos x="149" y="54"/>
                </a:cxn>
                <a:cxn ang="0">
                  <a:pos x="138" y="76"/>
                </a:cxn>
                <a:cxn ang="0">
                  <a:pos x="128" y="96"/>
                </a:cxn>
                <a:cxn ang="0">
                  <a:pos x="117" y="118"/>
                </a:cxn>
                <a:cxn ang="0">
                  <a:pos x="106" y="139"/>
                </a:cxn>
                <a:cxn ang="0">
                  <a:pos x="96" y="150"/>
                </a:cxn>
                <a:cxn ang="0">
                  <a:pos x="87" y="160"/>
                </a:cxn>
                <a:cxn ang="0">
                  <a:pos x="77" y="169"/>
                </a:cxn>
                <a:cxn ang="0">
                  <a:pos x="69" y="179"/>
                </a:cxn>
                <a:cxn ang="0">
                  <a:pos x="57" y="190"/>
                </a:cxn>
                <a:cxn ang="0">
                  <a:pos x="46" y="201"/>
                </a:cxn>
                <a:cxn ang="0">
                  <a:pos x="35" y="211"/>
                </a:cxn>
                <a:cxn ang="0">
                  <a:pos x="24" y="222"/>
                </a:cxn>
                <a:cxn ang="0">
                  <a:pos x="16" y="234"/>
                </a:cxn>
                <a:cxn ang="0">
                  <a:pos x="9" y="245"/>
                </a:cxn>
                <a:cxn ang="0">
                  <a:pos x="0" y="231"/>
                </a:cxn>
                <a:cxn ang="0">
                  <a:pos x="0" y="214"/>
                </a:cxn>
                <a:cxn ang="0">
                  <a:pos x="0" y="197"/>
                </a:cxn>
                <a:cxn ang="0">
                  <a:pos x="0" y="180"/>
                </a:cxn>
                <a:cxn ang="0">
                  <a:pos x="0" y="165"/>
                </a:cxn>
                <a:cxn ang="0">
                  <a:pos x="8" y="154"/>
                </a:cxn>
                <a:cxn ang="0">
                  <a:pos x="15" y="144"/>
                </a:cxn>
                <a:cxn ang="0">
                  <a:pos x="22" y="139"/>
                </a:cxn>
                <a:cxn ang="0">
                  <a:pos x="38" y="130"/>
                </a:cxn>
                <a:cxn ang="0">
                  <a:pos x="50" y="129"/>
                </a:cxn>
                <a:cxn ang="0">
                  <a:pos x="63" y="127"/>
                </a:cxn>
                <a:cxn ang="0">
                  <a:pos x="74" y="113"/>
                </a:cxn>
                <a:cxn ang="0">
                  <a:pos x="86" y="99"/>
                </a:cxn>
                <a:cxn ang="0">
                  <a:pos x="98" y="85"/>
                </a:cxn>
                <a:cxn ang="0">
                  <a:pos x="108" y="71"/>
                </a:cxn>
                <a:cxn ang="0">
                  <a:pos x="93" y="71"/>
                </a:cxn>
                <a:cxn ang="0">
                  <a:pos x="82" y="67"/>
                </a:cxn>
                <a:cxn ang="0">
                  <a:pos x="70" y="63"/>
                </a:cxn>
                <a:cxn ang="0">
                  <a:pos x="58" y="58"/>
                </a:cxn>
                <a:cxn ang="0">
                  <a:pos x="46" y="53"/>
                </a:cxn>
                <a:cxn ang="0">
                  <a:pos x="35" y="40"/>
                </a:cxn>
                <a:cxn ang="0">
                  <a:pos x="26" y="28"/>
                </a:cxn>
                <a:cxn ang="0">
                  <a:pos x="28" y="17"/>
                </a:cxn>
                <a:cxn ang="0">
                  <a:pos x="32" y="9"/>
                </a:cxn>
                <a:cxn ang="0">
                  <a:pos x="42" y="18"/>
                </a:cxn>
                <a:cxn ang="0">
                  <a:pos x="52" y="28"/>
                </a:cxn>
                <a:cxn ang="0">
                  <a:pos x="71" y="21"/>
                </a:cxn>
                <a:cxn ang="0">
                  <a:pos x="87" y="22"/>
                </a:cxn>
                <a:cxn ang="0">
                  <a:pos x="101" y="15"/>
                </a:cxn>
                <a:cxn ang="0">
                  <a:pos x="123" y="10"/>
                </a:cxn>
                <a:cxn ang="0">
                  <a:pos x="146" y="5"/>
                </a:cxn>
                <a:cxn ang="0">
                  <a:pos x="153" y="0"/>
                </a:cxn>
                <a:cxn ang="0">
                  <a:pos x="158" y="5"/>
                </a:cxn>
                <a:cxn ang="0">
                  <a:pos x="156" y="28"/>
                </a:cxn>
                <a:cxn ang="0">
                  <a:pos x="159" y="28"/>
                </a:cxn>
                <a:cxn ang="0">
                  <a:pos x="154" y="34"/>
                </a:cxn>
              </a:cxnLst>
              <a:rect l="0" t="0" r="r" b="b"/>
              <a:pathLst>
                <a:path w="159" h="245">
                  <a:moveTo>
                    <a:pt x="154" y="34"/>
                  </a:moveTo>
                  <a:lnTo>
                    <a:pt x="149" y="54"/>
                  </a:lnTo>
                  <a:lnTo>
                    <a:pt x="138" y="76"/>
                  </a:lnTo>
                  <a:lnTo>
                    <a:pt x="128" y="96"/>
                  </a:lnTo>
                  <a:lnTo>
                    <a:pt x="117" y="118"/>
                  </a:lnTo>
                  <a:lnTo>
                    <a:pt x="106" y="139"/>
                  </a:lnTo>
                  <a:lnTo>
                    <a:pt x="96" y="150"/>
                  </a:lnTo>
                  <a:lnTo>
                    <a:pt x="87" y="160"/>
                  </a:lnTo>
                  <a:lnTo>
                    <a:pt x="77" y="169"/>
                  </a:lnTo>
                  <a:lnTo>
                    <a:pt x="69" y="179"/>
                  </a:lnTo>
                  <a:lnTo>
                    <a:pt x="57" y="190"/>
                  </a:lnTo>
                  <a:lnTo>
                    <a:pt x="46" y="201"/>
                  </a:lnTo>
                  <a:lnTo>
                    <a:pt x="35" y="211"/>
                  </a:lnTo>
                  <a:lnTo>
                    <a:pt x="24" y="222"/>
                  </a:lnTo>
                  <a:lnTo>
                    <a:pt x="16" y="234"/>
                  </a:lnTo>
                  <a:lnTo>
                    <a:pt x="9" y="245"/>
                  </a:lnTo>
                  <a:lnTo>
                    <a:pt x="0" y="231"/>
                  </a:lnTo>
                  <a:lnTo>
                    <a:pt x="0" y="214"/>
                  </a:lnTo>
                  <a:lnTo>
                    <a:pt x="0" y="197"/>
                  </a:lnTo>
                  <a:lnTo>
                    <a:pt x="0" y="180"/>
                  </a:lnTo>
                  <a:lnTo>
                    <a:pt x="0" y="165"/>
                  </a:lnTo>
                  <a:lnTo>
                    <a:pt x="8" y="154"/>
                  </a:lnTo>
                  <a:lnTo>
                    <a:pt x="15" y="144"/>
                  </a:lnTo>
                  <a:lnTo>
                    <a:pt x="22" y="139"/>
                  </a:lnTo>
                  <a:lnTo>
                    <a:pt x="38" y="130"/>
                  </a:lnTo>
                  <a:lnTo>
                    <a:pt x="50" y="129"/>
                  </a:lnTo>
                  <a:lnTo>
                    <a:pt x="63" y="127"/>
                  </a:lnTo>
                  <a:lnTo>
                    <a:pt x="74" y="113"/>
                  </a:lnTo>
                  <a:lnTo>
                    <a:pt x="86" y="99"/>
                  </a:lnTo>
                  <a:lnTo>
                    <a:pt x="98" y="85"/>
                  </a:lnTo>
                  <a:lnTo>
                    <a:pt x="108" y="71"/>
                  </a:lnTo>
                  <a:lnTo>
                    <a:pt x="93" y="71"/>
                  </a:lnTo>
                  <a:lnTo>
                    <a:pt x="82" y="67"/>
                  </a:lnTo>
                  <a:lnTo>
                    <a:pt x="70" y="63"/>
                  </a:lnTo>
                  <a:lnTo>
                    <a:pt x="58" y="58"/>
                  </a:lnTo>
                  <a:lnTo>
                    <a:pt x="46" y="53"/>
                  </a:lnTo>
                  <a:lnTo>
                    <a:pt x="35" y="40"/>
                  </a:lnTo>
                  <a:lnTo>
                    <a:pt x="26" y="28"/>
                  </a:lnTo>
                  <a:lnTo>
                    <a:pt x="28" y="17"/>
                  </a:lnTo>
                  <a:lnTo>
                    <a:pt x="32" y="9"/>
                  </a:lnTo>
                  <a:lnTo>
                    <a:pt x="42" y="18"/>
                  </a:lnTo>
                  <a:lnTo>
                    <a:pt x="52" y="28"/>
                  </a:lnTo>
                  <a:lnTo>
                    <a:pt x="71" y="21"/>
                  </a:lnTo>
                  <a:lnTo>
                    <a:pt x="87" y="22"/>
                  </a:lnTo>
                  <a:lnTo>
                    <a:pt x="101" y="15"/>
                  </a:lnTo>
                  <a:lnTo>
                    <a:pt x="123" y="10"/>
                  </a:lnTo>
                  <a:lnTo>
                    <a:pt x="146" y="5"/>
                  </a:lnTo>
                  <a:lnTo>
                    <a:pt x="153" y="0"/>
                  </a:lnTo>
                  <a:lnTo>
                    <a:pt x="158" y="5"/>
                  </a:lnTo>
                  <a:lnTo>
                    <a:pt x="156" y="28"/>
                  </a:lnTo>
                  <a:lnTo>
                    <a:pt x="159" y="28"/>
                  </a:lnTo>
                  <a:lnTo>
                    <a:pt x="154"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4" name="Freeform 103"/>
            <p:cNvSpPr>
              <a:spLocks/>
            </p:cNvSpPr>
            <p:nvPr/>
          </p:nvSpPr>
          <p:spPr bwMode="auto">
            <a:xfrm>
              <a:off x="2913" y="2243"/>
              <a:ext cx="287" cy="393"/>
            </a:xfrm>
            <a:custGeom>
              <a:avLst/>
              <a:gdLst/>
              <a:ahLst/>
              <a:cxnLst>
                <a:cxn ang="0">
                  <a:pos x="30" y="56"/>
                </a:cxn>
                <a:cxn ang="0">
                  <a:pos x="45" y="38"/>
                </a:cxn>
                <a:cxn ang="0">
                  <a:pos x="57" y="20"/>
                </a:cxn>
                <a:cxn ang="0">
                  <a:pos x="81" y="20"/>
                </a:cxn>
                <a:cxn ang="0">
                  <a:pos x="105" y="20"/>
                </a:cxn>
                <a:cxn ang="0">
                  <a:pos x="130" y="20"/>
                </a:cxn>
                <a:cxn ang="0">
                  <a:pos x="143" y="15"/>
                </a:cxn>
                <a:cxn ang="0">
                  <a:pos x="164" y="23"/>
                </a:cxn>
                <a:cxn ang="0">
                  <a:pos x="186" y="17"/>
                </a:cxn>
                <a:cxn ang="0">
                  <a:pos x="198" y="5"/>
                </a:cxn>
                <a:cxn ang="0">
                  <a:pos x="208" y="0"/>
                </a:cxn>
                <a:cxn ang="0">
                  <a:pos x="228" y="23"/>
                </a:cxn>
                <a:cxn ang="0">
                  <a:pos x="238" y="57"/>
                </a:cxn>
                <a:cxn ang="0">
                  <a:pos x="257" y="95"/>
                </a:cxn>
                <a:cxn ang="0">
                  <a:pos x="238" y="109"/>
                </a:cxn>
                <a:cxn ang="0">
                  <a:pos x="230" y="157"/>
                </a:cxn>
                <a:cxn ang="0">
                  <a:pos x="212" y="200"/>
                </a:cxn>
                <a:cxn ang="0">
                  <a:pos x="200" y="222"/>
                </a:cxn>
                <a:cxn ang="0">
                  <a:pos x="196" y="261"/>
                </a:cxn>
                <a:cxn ang="0">
                  <a:pos x="178" y="271"/>
                </a:cxn>
                <a:cxn ang="0">
                  <a:pos x="200" y="290"/>
                </a:cxn>
                <a:cxn ang="0">
                  <a:pos x="212" y="314"/>
                </a:cxn>
                <a:cxn ang="0">
                  <a:pos x="226" y="332"/>
                </a:cxn>
                <a:cxn ang="0">
                  <a:pos x="201" y="332"/>
                </a:cxn>
                <a:cxn ang="0">
                  <a:pos x="188" y="348"/>
                </a:cxn>
                <a:cxn ang="0">
                  <a:pos x="162" y="350"/>
                </a:cxn>
                <a:cxn ang="0">
                  <a:pos x="147" y="349"/>
                </a:cxn>
                <a:cxn ang="0">
                  <a:pos x="134" y="342"/>
                </a:cxn>
                <a:cxn ang="0">
                  <a:pos x="117" y="336"/>
                </a:cxn>
                <a:cxn ang="0">
                  <a:pos x="95" y="329"/>
                </a:cxn>
                <a:cxn ang="0">
                  <a:pos x="89" y="319"/>
                </a:cxn>
                <a:cxn ang="0">
                  <a:pos x="74" y="297"/>
                </a:cxn>
                <a:cxn ang="0">
                  <a:pos x="57" y="277"/>
                </a:cxn>
                <a:cxn ang="0">
                  <a:pos x="39" y="261"/>
                </a:cxn>
                <a:cxn ang="0">
                  <a:pos x="30" y="241"/>
                </a:cxn>
                <a:cxn ang="0">
                  <a:pos x="17" y="219"/>
                </a:cxn>
                <a:cxn ang="0">
                  <a:pos x="12" y="199"/>
                </a:cxn>
                <a:cxn ang="0">
                  <a:pos x="0" y="185"/>
                </a:cxn>
                <a:cxn ang="0">
                  <a:pos x="8" y="163"/>
                </a:cxn>
                <a:cxn ang="0">
                  <a:pos x="9" y="152"/>
                </a:cxn>
                <a:cxn ang="0">
                  <a:pos x="22" y="133"/>
                </a:cxn>
                <a:cxn ang="0">
                  <a:pos x="32" y="116"/>
                </a:cxn>
                <a:cxn ang="0">
                  <a:pos x="30" y="81"/>
                </a:cxn>
              </a:cxnLst>
              <a:rect l="0" t="0" r="r" b="b"/>
              <a:pathLst>
                <a:path w="257" h="353">
                  <a:moveTo>
                    <a:pt x="30" y="65"/>
                  </a:moveTo>
                  <a:lnTo>
                    <a:pt x="30" y="56"/>
                  </a:lnTo>
                  <a:lnTo>
                    <a:pt x="46" y="56"/>
                  </a:lnTo>
                  <a:lnTo>
                    <a:pt x="45" y="38"/>
                  </a:lnTo>
                  <a:lnTo>
                    <a:pt x="45" y="20"/>
                  </a:lnTo>
                  <a:lnTo>
                    <a:pt x="57" y="20"/>
                  </a:lnTo>
                  <a:lnTo>
                    <a:pt x="69" y="20"/>
                  </a:lnTo>
                  <a:lnTo>
                    <a:pt x="81" y="20"/>
                  </a:lnTo>
                  <a:lnTo>
                    <a:pt x="93" y="20"/>
                  </a:lnTo>
                  <a:lnTo>
                    <a:pt x="105" y="20"/>
                  </a:lnTo>
                  <a:lnTo>
                    <a:pt x="117" y="20"/>
                  </a:lnTo>
                  <a:lnTo>
                    <a:pt x="130" y="20"/>
                  </a:lnTo>
                  <a:lnTo>
                    <a:pt x="142" y="20"/>
                  </a:lnTo>
                  <a:lnTo>
                    <a:pt x="143" y="15"/>
                  </a:lnTo>
                  <a:lnTo>
                    <a:pt x="144" y="20"/>
                  </a:lnTo>
                  <a:lnTo>
                    <a:pt x="164" y="23"/>
                  </a:lnTo>
                  <a:lnTo>
                    <a:pt x="183" y="24"/>
                  </a:lnTo>
                  <a:lnTo>
                    <a:pt x="186" y="17"/>
                  </a:lnTo>
                  <a:lnTo>
                    <a:pt x="195" y="14"/>
                  </a:lnTo>
                  <a:lnTo>
                    <a:pt x="198" y="5"/>
                  </a:lnTo>
                  <a:lnTo>
                    <a:pt x="202" y="6"/>
                  </a:lnTo>
                  <a:lnTo>
                    <a:pt x="208" y="0"/>
                  </a:lnTo>
                  <a:lnTo>
                    <a:pt x="219" y="11"/>
                  </a:lnTo>
                  <a:lnTo>
                    <a:pt x="228" y="23"/>
                  </a:lnTo>
                  <a:lnTo>
                    <a:pt x="234" y="36"/>
                  </a:lnTo>
                  <a:lnTo>
                    <a:pt x="238" y="57"/>
                  </a:lnTo>
                  <a:lnTo>
                    <a:pt x="243" y="78"/>
                  </a:lnTo>
                  <a:lnTo>
                    <a:pt x="257" y="95"/>
                  </a:lnTo>
                  <a:lnTo>
                    <a:pt x="248" y="102"/>
                  </a:lnTo>
                  <a:lnTo>
                    <a:pt x="238" y="109"/>
                  </a:lnTo>
                  <a:lnTo>
                    <a:pt x="232" y="132"/>
                  </a:lnTo>
                  <a:lnTo>
                    <a:pt x="230" y="157"/>
                  </a:lnTo>
                  <a:lnTo>
                    <a:pt x="228" y="170"/>
                  </a:lnTo>
                  <a:lnTo>
                    <a:pt x="212" y="200"/>
                  </a:lnTo>
                  <a:lnTo>
                    <a:pt x="208" y="219"/>
                  </a:lnTo>
                  <a:lnTo>
                    <a:pt x="200" y="222"/>
                  </a:lnTo>
                  <a:lnTo>
                    <a:pt x="197" y="241"/>
                  </a:lnTo>
                  <a:lnTo>
                    <a:pt x="196" y="261"/>
                  </a:lnTo>
                  <a:lnTo>
                    <a:pt x="184" y="264"/>
                  </a:lnTo>
                  <a:lnTo>
                    <a:pt x="178" y="271"/>
                  </a:lnTo>
                  <a:lnTo>
                    <a:pt x="184" y="276"/>
                  </a:lnTo>
                  <a:lnTo>
                    <a:pt x="200" y="290"/>
                  </a:lnTo>
                  <a:lnTo>
                    <a:pt x="206" y="302"/>
                  </a:lnTo>
                  <a:lnTo>
                    <a:pt x="212" y="314"/>
                  </a:lnTo>
                  <a:lnTo>
                    <a:pt x="221" y="318"/>
                  </a:lnTo>
                  <a:lnTo>
                    <a:pt x="226" y="332"/>
                  </a:lnTo>
                  <a:lnTo>
                    <a:pt x="213" y="332"/>
                  </a:lnTo>
                  <a:lnTo>
                    <a:pt x="201" y="332"/>
                  </a:lnTo>
                  <a:lnTo>
                    <a:pt x="195" y="339"/>
                  </a:lnTo>
                  <a:lnTo>
                    <a:pt x="188" y="348"/>
                  </a:lnTo>
                  <a:lnTo>
                    <a:pt x="170" y="348"/>
                  </a:lnTo>
                  <a:lnTo>
                    <a:pt x="162" y="350"/>
                  </a:lnTo>
                  <a:lnTo>
                    <a:pt x="159" y="348"/>
                  </a:lnTo>
                  <a:lnTo>
                    <a:pt x="147" y="349"/>
                  </a:lnTo>
                  <a:lnTo>
                    <a:pt x="146" y="353"/>
                  </a:lnTo>
                  <a:lnTo>
                    <a:pt x="134" y="342"/>
                  </a:lnTo>
                  <a:lnTo>
                    <a:pt x="123" y="331"/>
                  </a:lnTo>
                  <a:lnTo>
                    <a:pt x="117" y="336"/>
                  </a:lnTo>
                  <a:lnTo>
                    <a:pt x="107" y="337"/>
                  </a:lnTo>
                  <a:lnTo>
                    <a:pt x="95" y="329"/>
                  </a:lnTo>
                  <a:lnTo>
                    <a:pt x="92" y="325"/>
                  </a:lnTo>
                  <a:lnTo>
                    <a:pt x="89" y="319"/>
                  </a:lnTo>
                  <a:lnTo>
                    <a:pt x="80" y="307"/>
                  </a:lnTo>
                  <a:lnTo>
                    <a:pt x="74" y="297"/>
                  </a:lnTo>
                  <a:lnTo>
                    <a:pt x="59" y="284"/>
                  </a:lnTo>
                  <a:lnTo>
                    <a:pt x="57" y="277"/>
                  </a:lnTo>
                  <a:lnTo>
                    <a:pt x="42" y="266"/>
                  </a:lnTo>
                  <a:lnTo>
                    <a:pt x="39" y="261"/>
                  </a:lnTo>
                  <a:lnTo>
                    <a:pt x="28" y="259"/>
                  </a:lnTo>
                  <a:lnTo>
                    <a:pt x="30" y="241"/>
                  </a:lnTo>
                  <a:lnTo>
                    <a:pt x="23" y="230"/>
                  </a:lnTo>
                  <a:lnTo>
                    <a:pt x="17" y="219"/>
                  </a:lnTo>
                  <a:lnTo>
                    <a:pt x="16" y="209"/>
                  </a:lnTo>
                  <a:lnTo>
                    <a:pt x="12" y="199"/>
                  </a:lnTo>
                  <a:lnTo>
                    <a:pt x="6" y="186"/>
                  </a:lnTo>
                  <a:lnTo>
                    <a:pt x="0" y="185"/>
                  </a:lnTo>
                  <a:lnTo>
                    <a:pt x="5" y="171"/>
                  </a:lnTo>
                  <a:lnTo>
                    <a:pt x="8" y="163"/>
                  </a:lnTo>
                  <a:lnTo>
                    <a:pt x="9" y="158"/>
                  </a:lnTo>
                  <a:lnTo>
                    <a:pt x="9" y="152"/>
                  </a:lnTo>
                  <a:lnTo>
                    <a:pt x="17" y="138"/>
                  </a:lnTo>
                  <a:lnTo>
                    <a:pt x="22" y="133"/>
                  </a:lnTo>
                  <a:lnTo>
                    <a:pt x="33" y="133"/>
                  </a:lnTo>
                  <a:lnTo>
                    <a:pt x="32" y="116"/>
                  </a:lnTo>
                  <a:lnTo>
                    <a:pt x="32" y="99"/>
                  </a:lnTo>
                  <a:lnTo>
                    <a:pt x="30" y="81"/>
                  </a:lnTo>
                  <a:lnTo>
                    <a:pt x="30" y="6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5" name="Freeform 104"/>
            <p:cNvSpPr>
              <a:spLocks/>
            </p:cNvSpPr>
            <p:nvPr/>
          </p:nvSpPr>
          <p:spPr bwMode="auto">
            <a:xfrm>
              <a:off x="3042" y="2752"/>
              <a:ext cx="31" cy="42"/>
            </a:xfrm>
            <a:custGeom>
              <a:avLst/>
              <a:gdLst/>
              <a:ahLst/>
              <a:cxnLst>
                <a:cxn ang="0">
                  <a:pos x="25" y="10"/>
                </a:cxn>
                <a:cxn ang="0">
                  <a:pos x="25" y="1"/>
                </a:cxn>
                <a:cxn ang="0">
                  <a:pos x="16" y="0"/>
                </a:cxn>
                <a:cxn ang="0">
                  <a:pos x="14" y="6"/>
                </a:cxn>
                <a:cxn ang="0">
                  <a:pos x="1" y="6"/>
                </a:cxn>
                <a:cxn ang="0">
                  <a:pos x="0" y="7"/>
                </a:cxn>
                <a:cxn ang="0">
                  <a:pos x="1" y="8"/>
                </a:cxn>
                <a:cxn ang="0">
                  <a:pos x="3" y="23"/>
                </a:cxn>
                <a:cxn ang="0">
                  <a:pos x="7" y="38"/>
                </a:cxn>
                <a:cxn ang="0">
                  <a:pos x="10" y="38"/>
                </a:cxn>
                <a:cxn ang="0">
                  <a:pos x="19" y="26"/>
                </a:cxn>
                <a:cxn ang="0">
                  <a:pos x="28" y="16"/>
                </a:cxn>
                <a:cxn ang="0">
                  <a:pos x="25" y="10"/>
                </a:cxn>
              </a:cxnLst>
              <a:rect l="0" t="0" r="r" b="b"/>
              <a:pathLst>
                <a:path w="28" h="38">
                  <a:moveTo>
                    <a:pt x="25" y="10"/>
                  </a:moveTo>
                  <a:lnTo>
                    <a:pt x="25" y="1"/>
                  </a:lnTo>
                  <a:lnTo>
                    <a:pt x="16" y="0"/>
                  </a:lnTo>
                  <a:lnTo>
                    <a:pt x="14" y="6"/>
                  </a:lnTo>
                  <a:lnTo>
                    <a:pt x="1" y="6"/>
                  </a:lnTo>
                  <a:lnTo>
                    <a:pt x="0" y="7"/>
                  </a:lnTo>
                  <a:lnTo>
                    <a:pt x="1" y="8"/>
                  </a:lnTo>
                  <a:lnTo>
                    <a:pt x="3" y="23"/>
                  </a:lnTo>
                  <a:lnTo>
                    <a:pt x="7" y="38"/>
                  </a:lnTo>
                  <a:lnTo>
                    <a:pt x="10" y="38"/>
                  </a:lnTo>
                  <a:lnTo>
                    <a:pt x="19" y="26"/>
                  </a:lnTo>
                  <a:lnTo>
                    <a:pt x="28" y="16"/>
                  </a:lnTo>
                  <a:lnTo>
                    <a:pt x="25"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6" name="Freeform 105"/>
            <p:cNvSpPr>
              <a:spLocks/>
            </p:cNvSpPr>
            <p:nvPr/>
          </p:nvSpPr>
          <p:spPr bwMode="auto">
            <a:xfrm>
              <a:off x="2729" y="2634"/>
              <a:ext cx="131" cy="171"/>
            </a:xfrm>
            <a:custGeom>
              <a:avLst/>
              <a:gdLst/>
              <a:ahLst/>
              <a:cxnLst>
                <a:cxn ang="0">
                  <a:pos x="20" y="108"/>
                </a:cxn>
                <a:cxn ang="0">
                  <a:pos x="6" y="109"/>
                </a:cxn>
                <a:cxn ang="0">
                  <a:pos x="7" y="115"/>
                </a:cxn>
                <a:cxn ang="0">
                  <a:pos x="8" y="120"/>
                </a:cxn>
                <a:cxn ang="0">
                  <a:pos x="12" y="127"/>
                </a:cxn>
                <a:cxn ang="0">
                  <a:pos x="8" y="131"/>
                </a:cxn>
                <a:cxn ang="0">
                  <a:pos x="4" y="129"/>
                </a:cxn>
                <a:cxn ang="0">
                  <a:pos x="0" y="136"/>
                </a:cxn>
                <a:cxn ang="0">
                  <a:pos x="13" y="155"/>
                </a:cxn>
                <a:cxn ang="0">
                  <a:pos x="24" y="145"/>
                </a:cxn>
                <a:cxn ang="0">
                  <a:pos x="30" y="148"/>
                </a:cxn>
                <a:cxn ang="0">
                  <a:pos x="38" y="151"/>
                </a:cxn>
                <a:cxn ang="0">
                  <a:pos x="42" y="145"/>
                </a:cxn>
                <a:cxn ang="0">
                  <a:pos x="51" y="144"/>
                </a:cxn>
                <a:cxn ang="0">
                  <a:pos x="54" y="153"/>
                </a:cxn>
                <a:cxn ang="0">
                  <a:pos x="66" y="141"/>
                </a:cxn>
                <a:cxn ang="0">
                  <a:pos x="78" y="129"/>
                </a:cxn>
                <a:cxn ang="0">
                  <a:pos x="80" y="115"/>
                </a:cxn>
                <a:cxn ang="0">
                  <a:pos x="81" y="101"/>
                </a:cxn>
                <a:cxn ang="0">
                  <a:pos x="93" y="87"/>
                </a:cxn>
                <a:cxn ang="0">
                  <a:pos x="104" y="72"/>
                </a:cxn>
                <a:cxn ang="0">
                  <a:pos x="106" y="59"/>
                </a:cxn>
                <a:cxn ang="0">
                  <a:pos x="109" y="45"/>
                </a:cxn>
                <a:cxn ang="0">
                  <a:pos x="111" y="31"/>
                </a:cxn>
                <a:cxn ang="0">
                  <a:pos x="114" y="18"/>
                </a:cxn>
                <a:cxn ang="0">
                  <a:pos x="117" y="3"/>
                </a:cxn>
                <a:cxn ang="0">
                  <a:pos x="105" y="1"/>
                </a:cxn>
                <a:cxn ang="0">
                  <a:pos x="93" y="0"/>
                </a:cxn>
                <a:cxn ang="0">
                  <a:pos x="85" y="6"/>
                </a:cxn>
                <a:cxn ang="0">
                  <a:pos x="79" y="25"/>
                </a:cxn>
                <a:cxn ang="0">
                  <a:pos x="76" y="34"/>
                </a:cxn>
                <a:cxn ang="0">
                  <a:pos x="62" y="30"/>
                </a:cxn>
                <a:cxn ang="0">
                  <a:pos x="49" y="27"/>
                </a:cxn>
                <a:cxn ang="0">
                  <a:pos x="33" y="27"/>
                </a:cxn>
                <a:cxn ang="0">
                  <a:pos x="32" y="43"/>
                </a:cxn>
                <a:cxn ang="0">
                  <a:pos x="49" y="42"/>
                </a:cxn>
                <a:cxn ang="0">
                  <a:pos x="50" y="54"/>
                </a:cxn>
                <a:cxn ang="0">
                  <a:pos x="43" y="64"/>
                </a:cxn>
                <a:cxn ang="0">
                  <a:pos x="52" y="79"/>
                </a:cxn>
                <a:cxn ang="0">
                  <a:pos x="48" y="105"/>
                </a:cxn>
                <a:cxn ang="0">
                  <a:pos x="43" y="109"/>
                </a:cxn>
                <a:cxn ang="0">
                  <a:pos x="40" y="105"/>
                </a:cxn>
                <a:cxn ang="0">
                  <a:pos x="31" y="108"/>
                </a:cxn>
                <a:cxn ang="0">
                  <a:pos x="21" y="97"/>
                </a:cxn>
                <a:cxn ang="0">
                  <a:pos x="20" y="108"/>
                </a:cxn>
              </a:cxnLst>
              <a:rect l="0" t="0" r="r" b="b"/>
              <a:pathLst>
                <a:path w="117" h="155">
                  <a:moveTo>
                    <a:pt x="20" y="108"/>
                  </a:moveTo>
                  <a:lnTo>
                    <a:pt x="6" y="109"/>
                  </a:lnTo>
                  <a:lnTo>
                    <a:pt x="7" y="115"/>
                  </a:lnTo>
                  <a:lnTo>
                    <a:pt x="8" y="120"/>
                  </a:lnTo>
                  <a:lnTo>
                    <a:pt x="12" y="127"/>
                  </a:lnTo>
                  <a:lnTo>
                    <a:pt x="8" y="131"/>
                  </a:lnTo>
                  <a:lnTo>
                    <a:pt x="4" y="129"/>
                  </a:lnTo>
                  <a:lnTo>
                    <a:pt x="0" y="136"/>
                  </a:lnTo>
                  <a:lnTo>
                    <a:pt x="13" y="155"/>
                  </a:lnTo>
                  <a:lnTo>
                    <a:pt x="24" y="145"/>
                  </a:lnTo>
                  <a:lnTo>
                    <a:pt x="30" y="148"/>
                  </a:lnTo>
                  <a:lnTo>
                    <a:pt x="38" y="151"/>
                  </a:lnTo>
                  <a:lnTo>
                    <a:pt x="42" y="145"/>
                  </a:lnTo>
                  <a:lnTo>
                    <a:pt x="51" y="144"/>
                  </a:lnTo>
                  <a:lnTo>
                    <a:pt x="54" y="153"/>
                  </a:lnTo>
                  <a:lnTo>
                    <a:pt x="66" y="141"/>
                  </a:lnTo>
                  <a:lnTo>
                    <a:pt x="78" y="129"/>
                  </a:lnTo>
                  <a:lnTo>
                    <a:pt x="80" y="115"/>
                  </a:lnTo>
                  <a:lnTo>
                    <a:pt x="81" y="101"/>
                  </a:lnTo>
                  <a:lnTo>
                    <a:pt x="93" y="87"/>
                  </a:lnTo>
                  <a:lnTo>
                    <a:pt x="104" y="72"/>
                  </a:lnTo>
                  <a:lnTo>
                    <a:pt x="106" y="59"/>
                  </a:lnTo>
                  <a:lnTo>
                    <a:pt x="109" y="45"/>
                  </a:lnTo>
                  <a:lnTo>
                    <a:pt x="111" y="31"/>
                  </a:lnTo>
                  <a:lnTo>
                    <a:pt x="114" y="18"/>
                  </a:lnTo>
                  <a:lnTo>
                    <a:pt x="117" y="3"/>
                  </a:lnTo>
                  <a:lnTo>
                    <a:pt x="105" y="1"/>
                  </a:lnTo>
                  <a:lnTo>
                    <a:pt x="93" y="0"/>
                  </a:lnTo>
                  <a:lnTo>
                    <a:pt x="85" y="6"/>
                  </a:lnTo>
                  <a:lnTo>
                    <a:pt x="79" y="25"/>
                  </a:lnTo>
                  <a:lnTo>
                    <a:pt x="76" y="34"/>
                  </a:lnTo>
                  <a:lnTo>
                    <a:pt x="62" y="30"/>
                  </a:lnTo>
                  <a:lnTo>
                    <a:pt x="49" y="27"/>
                  </a:lnTo>
                  <a:lnTo>
                    <a:pt x="33" y="27"/>
                  </a:lnTo>
                  <a:lnTo>
                    <a:pt x="32" y="43"/>
                  </a:lnTo>
                  <a:lnTo>
                    <a:pt x="49" y="42"/>
                  </a:lnTo>
                  <a:lnTo>
                    <a:pt x="50" y="54"/>
                  </a:lnTo>
                  <a:lnTo>
                    <a:pt x="43" y="64"/>
                  </a:lnTo>
                  <a:lnTo>
                    <a:pt x="52" y="79"/>
                  </a:lnTo>
                  <a:lnTo>
                    <a:pt x="48" y="105"/>
                  </a:lnTo>
                  <a:lnTo>
                    <a:pt x="43" y="109"/>
                  </a:lnTo>
                  <a:lnTo>
                    <a:pt x="40" y="105"/>
                  </a:lnTo>
                  <a:lnTo>
                    <a:pt x="31" y="108"/>
                  </a:lnTo>
                  <a:lnTo>
                    <a:pt x="21" y="97"/>
                  </a:lnTo>
                  <a:lnTo>
                    <a:pt x="20" y="1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7" name="Freeform 106"/>
            <p:cNvSpPr>
              <a:spLocks/>
            </p:cNvSpPr>
            <p:nvPr/>
          </p:nvSpPr>
          <p:spPr bwMode="auto">
            <a:xfrm>
              <a:off x="3129" y="2614"/>
              <a:ext cx="140" cy="185"/>
            </a:xfrm>
            <a:custGeom>
              <a:avLst/>
              <a:gdLst/>
              <a:ahLst/>
              <a:cxnLst>
                <a:cxn ang="0">
                  <a:pos x="58" y="137"/>
                </a:cxn>
                <a:cxn ang="0">
                  <a:pos x="44" y="127"/>
                </a:cxn>
                <a:cxn ang="0">
                  <a:pos x="30" y="119"/>
                </a:cxn>
                <a:cxn ang="0">
                  <a:pos x="15" y="109"/>
                </a:cxn>
                <a:cxn ang="0">
                  <a:pos x="0" y="101"/>
                </a:cxn>
                <a:cxn ang="0">
                  <a:pos x="0" y="82"/>
                </a:cxn>
                <a:cxn ang="0">
                  <a:pos x="10" y="64"/>
                </a:cxn>
                <a:cxn ang="0">
                  <a:pos x="18" y="49"/>
                </a:cxn>
                <a:cxn ang="0">
                  <a:pos x="13" y="35"/>
                </a:cxn>
                <a:cxn ang="0">
                  <a:pos x="8" y="22"/>
                </a:cxn>
                <a:cxn ang="0">
                  <a:pos x="1" y="7"/>
                </a:cxn>
                <a:cxn ang="0">
                  <a:pos x="7" y="0"/>
                </a:cxn>
                <a:cxn ang="0">
                  <a:pos x="19" y="0"/>
                </a:cxn>
                <a:cxn ang="0">
                  <a:pos x="32" y="0"/>
                </a:cxn>
                <a:cxn ang="0">
                  <a:pos x="45" y="3"/>
                </a:cxn>
                <a:cxn ang="0">
                  <a:pos x="64" y="16"/>
                </a:cxn>
                <a:cxn ang="0">
                  <a:pos x="86" y="21"/>
                </a:cxn>
                <a:cxn ang="0">
                  <a:pos x="94" y="13"/>
                </a:cxn>
                <a:cxn ang="0">
                  <a:pos x="110" y="9"/>
                </a:cxn>
                <a:cxn ang="0">
                  <a:pos x="127" y="12"/>
                </a:cxn>
                <a:cxn ang="0">
                  <a:pos x="120" y="22"/>
                </a:cxn>
                <a:cxn ang="0">
                  <a:pos x="112" y="33"/>
                </a:cxn>
                <a:cxn ang="0">
                  <a:pos x="112" y="48"/>
                </a:cxn>
                <a:cxn ang="0">
                  <a:pos x="112" y="65"/>
                </a:cxn>
                <a:cxn ang="0">
                  <a:pos x="112" y="82"/>
                </a:cxn>
                <a:cxn ang="0">
                  <a:pos x="112" y="99"/>
                </a:cxn>
                <a:cxn ang="0">
                  <a:pos x="121" y="113"/>
                </a:cxn>
                <a:cxn ang="0">
                  <a:pos x="112" y="118"/>
                </a:cxn>
                <a:cxn ang="0">
                  <a:pos x="106" y="129"/>
                </a:cxn>
                <a:cxn ang="0">
                  <a:pos x="99" y="136"/>
                </a:cxn>
                <a:cxn ang="0">
                  <a:pos x="92" y="150"/>
                </a:cxn>
                <a:cxn ang="0">
                  <a:pos x="85" y="166"/>
                </a:cxn>
                <a:cxn ang="0">
                  <a:pos x="84" y="167"/>
                </a:cxn>
                <a:cxn ang="0">
                  <a:pos x="72" y="155"/>
                </a:cxn>
                <a:cxn ang="0">
                  <a:pos x="60" y="143"/>
                </a:cxn>
                <a:cxn ang="0">
                  <a:pos x="58" y="137"/>
                </a:cxn>
              </a:cxnLst>
              <a:rect l="0" t="0" r="r" b="b"/>
              <a:pathLst>
                <a:path w="127" h="167">
                  <a:moveTo>
                    <a:pt x="58" y="137"/>
                  </a:moveTo>
                  <a:lnTo>
                    <a:pt x="44" y="127"/>
                  </a:lnTo>
                  <a:lnTo>
                    <a:pt x="30" y="119"/>
                  </a:lnTo>
                  <a:lnTo>
                    <a:pt x="15" y="109"/>
                  </a:lnTo>
                  <a:lnTo>
                    <a:pt x="0" y="101"/>
                  </a:lnTo>
                  <a:lnTo>
                    <a:pt x="0" y="82"/>
                  </a:lnTo>
                  <a:lnTo>
                    <a:pt x="10" y="64"/>
                  </a:lnTo>
                  <a:lnTo>
                    <a:pt x="18" y="49"/>
                  </a:lnTo>
                  <a:lnTo>
                    <a:pt x="13" y="35"/>
                  </a:lnTo>
                  <a:lnTo>
                    <a:pt x="8" y="22"/>
                  </a:lnTo>
                  <a:lnTo>
                    <a:pt x="1" y="7"/>
                  </a:lnTo>
                  <a:lnTo>
                    <a:pt x="7" y="0"/>
                  </a:lnTo>
                  <a:lnTo>
                    <a:pt x="19" y="0"/>
                  </a:lnTo>
                  <a:lnTo>
                    <a:pt x="32" y="0"/>
                  </a:lnTo>
                  <a:lnTo>
                    <a:pt x="45" y="3"/>
                  </a:lnTo>
                  <a:lnTo>
                    <a:pt x="64" y="16"/>
                  </a:lnTo>
                  <a:lnTo>
                    <a:pt x="86" y="21"/>
                  </a:lnTo>
                  <a:lnTo>
                    <a:pt x="94" y="13"/>
                  </a:lnTo>
                  <a:lnTo>
                    <a:pt x="110" y="9"/>
                  </a:lnTo>
                  <a:lnTo>
                    <a:pt x="127" y="12"/>
                  </a:lnTo>
                  <a:lnTo>
                    <a:pt x="120" y="22"/>
                  </a:lnTo>
                  <a:lnTo>
                    <a:pt x="112" y="33"/>
                  </a:lnTo>
                  <a:lnTo>
                    <a:pt x="112" y="48"/>
                  </a:lnTo>
                  <a:lnTo>
                    <a:pt x="112" y="65"/>
                  </a:lnTo>
                  <a:lnTo>
                    <a:pt x="112" y="82"/>
                  </a:lnTo>
                  <a:lnTo>
                    <a:pt x="112" y="99"/>
                  </a:lnTo>
                  <a:lnTo>
                    <a:pt x="121" y="113"/>
                  </a:lnTo>
                  <a:lnTo>
                    <a:pt x="112" y="118"/>
                  </a:lnTo>
                  <a:lnTo>
                    <a:pt x="106" y="129"/>
                  </a:lnTo>
                  <a:lnTo>
                    <a:pt x="99" y="136"/>
                  </a:lnTo>
                  <a:lnTo>
                    <a:pt x="92" y="150"/>
                  </a:lnTo>
                  <a:lnTo>
                    <a:pt x="85" y="166"/>
                  </a:lnTo>
                  <a:lnTo>
                    <a:pt x="84" y="167"/>
                  </a:lnTo>
                  <a:lnTo>
                    <a:pt x="72" y="155"/>
                  </a:lnTo>
                  <a:lnTo>
                    <a:pt x="60" y="143"/>
                  </a:lnTo>
                  <a:lnTo>
                    <a:pt x="58"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8" name="Freeform 107"/>
            <p:cNvSpPr>
              <a:spLocks/>
            </p:cNvSpPr>
            <p:nvPr/>
          </p:nvSpPr>
          <p:spPr bwMode="auto">
            <a:xfrm>
              <a:off x="5573" y="2643"/>
              <a:ext cx="2" cy="2"/>
            </a:xfrm>
            <a:custGeom>
              <a:avLst/>
              <a:gdLst/>
              <a:ahLst/>
              <a:cxnLst>
                <a:cxn ang="0">
                  <a:pos x="3" y="0"/>
                </a:cxn>
                <a:cxn ang="0">
                  <a:pos x="2" y="1"/>
                </a:cxn>
                <a:cxn ang="0">
                  <a:pos x="0" y="1"/>
                </a:cxn>
                <a:cxn ang="0">
                  <a:pos x="2" y="0"/>
                </a:cxn>
                <a:cxn ang="0">
                  <a:pos x="3" y="0"/>
                </a:cxn>
              </a:cxnLst>
              <a:rect l="0" t="0" r="r" b="b"/>
              <a:pathLst>
                <a:path w="3" h="1">
                  <a:moveTo>
                    <a:pt x="3" y="0"/>
                  </a:moveTo>
                  <a:lnTo>
                    <a:pt x="2" y="1"/>
                  </a:lnTo>
                  <a:lnTo>
                    <a:pt x="0" y="1"/>
                  </a:lnTo>
                  <a:lnTo>
                    <a:pt x="2" y="0"/>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9" name="Freeform 108"/>
            <p:cNvSpPr>
              <a:spLocks/>
            </p:cNvSpPr>
            <p:nvPr/>
          </p:nvSpPr>
          <p:spPr bwMode="auto">
            <a:xfrm>
              <a:off x="5577" y="2667"/>
              <a:ext cx="3" cy="3"/>
            </a:xfrm>
            <a:custGeom>
              <a:avLst/>
              <a:gdLst/>
              <a:ahLst/>
              <a:cxnLst>
                <a:cxn ang="0">
                  <a:pos x="2" y="4"/>
                </a:cxn>
                <a:cxn ang="0">
                  <a:pos x="1" y="4"/>
                </a:cxn>
                <a:cxn ang="0">
                  <a:pos x="2" y="4"/>
                </a:cxn>
                <a:cxn ang="0">
                  <a:pos x="2" y="3"/>
                </a:cxn>
                <a:cxn ang="0">
                  <a:pos x="0" y="0"/>
                </a:cxn>
                <a:cxn ang="0">
                  <a:pos x="1" y="0"/>
                </a:cxn>
                <a:cxn ang="0">
                  <a:pos x="2" y="3"/>
                </a:cxn>
                <a:cxn ang="0">
                  <a:pos x="2" y="4"/>
                </a:cxn>
              </a:cxnLst>
              <a:rect l="0" t="0" r="r" b="b"/>
              <a:pathLst>
                <a:path w="2" h="4">
                  <a:moveTo>
                    <a:pt x="2" y="4"/>
                  </a:moveTo>
                  <a:lnTo>
                    <a:pt x="1" y="4"/>
                  </a:lnTo>
                  <a:lnTo>
                    <a:pt x="2" y="4"/>
                  </a:lnTo>
                  <a:lnTo>
                    <a:pt x="2" y="3"/>
                  </a:lnTo>
                  <a:lnTo>
                    <a:pt x="0" y="0"/>
                  </a:lnTo>
                  <a:lnTo>
                    <a:pt x="1" y="0"/>
                  </a:lnTo>
                  <a:lnTo>
                    <a:pt x="2" y="3"/>
                  </a:lnTo>
                  <a:lnTo>
                    <a:pt x="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0" name="Freeform 109"/>
            <p:cNvSpPr>
              <a:spLocks/>
            </p:cNvSpPr>
            <p:nvPr/>
          </p:nvSpPr>
          <p:spPr bwMode="auto">
            <a:xfrm>
              <a:off x="5584" y="2667"/>
              <a:ext cx="2" cy="3"/>
            </a:xfrm>
            <a:custGeom>
              <a:avLst/>
              <a:gdLst/>
              <a:ahLst/>
              <a:cxnLst>
                <a:cxn ang="0">
                  <a:pos x="1" y="0"/>
                </a:cxn>
                <a:cxn ang="0">
                  <a:pos x="0" y="0"/>
                </a:cxn>
                <a:cxn ang="0">
                  <a:pos x="1" y="0"/>
                </a:cxn>
              </a:cxnLst>
              <a:rect l="0" t="0" r="r" b="b"/>
              <a:pathLst>
                <a:path w="1">
                  <a:moveTo>
                    <a:pt x="1" y="0"/>
                  </a:move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1" name="Freeform 110"/>
            <p:cNvSpPr>
              <a:spLocks/>
            </p:cNvSpPr>
            <p:nvPr/>
          </p:nvSpPr>
          <p:spPr bwMode="auto">
            <a:xfrm>
              <a:off x="5580" y="2674"/>
              <a:ext cx="2" cy="2"/>
            </a:xfrm>
            <a:custGeom>
              <a:avLst/>
              <a:gdLst/>
              <a:ahLst/>
              <a:cxnLst>
                <a:cxn ang="0">
                  <a:pos x="0" y="1"/>
                </a:cxn>
                <a:cxn ang="0">
                  <a:pos x="0" y="0"/>
                </a:cxn>
                <a:cxn ang="0">
                  <a:pos x="0" y="1"/>
                </a:cxn>
              </a:cxnLst>
              <a:rect l="0" t="0" r="r" b="b"/>
              <a:pathLst>
                <a:path h="1">
                  <a:moveTo>
                    <a:pt x="0" y="1"/>
                  </a:moveTo>
                  <a:lnTo>
                    <a:pt x="0" y="0"/>
                  </a:lnTo>
                  <a:lnTo>
                    <a:pt x="0"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2" name="Freeform 111"/>
            <p:cNvSpPr>
              <a:spLocks/>
            </p:cNvSpPr>
            <p:nvPr/>
          </p:nvSpPr>
          <p:spPr bwMode="auto">
            <a:xfrm>
              <a:off x="2580" y="2430"/>
              <a:ext cx="209" cy="189"/>
            </a:xfrm>
            <a:custGeom>
              <a:avLst/>
              <a:gdLst/>
              <a:ahLst/>
              <a:cxnLst>
                <a:cxn ang="0">
                  <a:pos x="124" y="121"/>
                </a:cxn>
                <a:cxn ang="0">
                  <a:pos x="112" y="125"/>
                </a:cxn>
                <a:cxn ang="0">
                  <a:pos x="105" y="135"/>
                </a:cxn>
                <a:cxn ang="0">
                  <a:pos x="99" y="146"/>
                </a:cxn>
                <a:cxn ang="0">
                  <a:pos x="94" y="161"/>
                </a:cxn>
                <a:cxn ang="0">
                  <a:pos x="88" y="159"/>
                </a:cxn>
                <a:cxn ang="0">
                  <a:pos x="89" y="165"/>
                </a:cxn>
                <a:cxn ang="0">
                  <a:pos x="73" y="165"/>
                </a:cxn>
                <a:cxn ang="0">
                  <a:pos x="71" y="164"/>
                </a:cxn>
                <a:cxn ang="0">
                  <a:pos x="69" y="164"/>
                </a:cxn>
                <a:cxn ang="0">
                  <a:pos x="66" y="167"/>
                </a:cxn>
                <a:cxn ang="0">
                  <a:pos x="64" y="162"/>
                </a:cxn>
                <a:cxn ang="0">
                  <a:pos x="64" y="169"/>
                </a:cxn>
                <a:cxn ang="0">
                  <a:pos x="64" y="165"/>
                </a:cxn>
                <a:cxn ang="0">
                  <a:pos x="61" y="167"/>
                </a:cxn>
                <a:cxn ang="0">
                  <a:pos x="57" y="167"/>
                </a:cxn>
                <a:cxn ang="0">
                  <a:pos x="49" y="168"/>
                </a:cxn>
                <a:cxn ang="0">
                  <a:pos x="43" y="151"/>
                </a:cxn>
                <a:cxn ang="0">
                  <a:pos x="45" y="150"/>
                </a:cxn>
                <a:cxn ang="0">
                  <a:pos x="41" y="146"/>
                </a:cxn>
                <a:cxn ang="0">
                  <a:pos x="42" y="146"/>
                </a:cxn>
                <a:cxn ang="0">
                  <a:pos x="39" y="143"/>
                </a:cxn>
                <a:cxn ang="0">
                  <a:pos x="22" y="132"/>
                </a:cxn>
                <a:cxn ang="0">
                  <a:pos x="13" y="131"/>
                </a:cxn>
                <a:cxn ang="0">
                  <a:pos x="16" y="128"/>
                </a:cxn>
                <a:cxn ang="0">
                  <a:pos x="0" y="133"/>
                </a:cxn>
                <a:cxn ang="0">
                  <a:pos x="1" y="108"/>
                </a:cxn>
                <a:cxn ang="0">
                  <a:pos x="3" y="84"/>
                </a:cxn>
                <a:cxn ang="0">
                  <a:pos x="15" y="63"/>
                </a:cxn>
                <a:cxn ang="0">
                  <a:pos x="16" y="48"/>
                </a:cxn>
                <a:cxn ang="0">
                  <a:pos x="13" y="38"/>
                </a:cxn>
                <a:cxn ang="0">
                  <a:pos x="13" y="37"/>
                </a:cxn>
                <a:cxn ang="0">
                  <a:pos x="15" y="30"/>
                </a:cxn>
                <a:cxn ang="0">
                  <a:pos x="19" y="18"/>
                </a:cxn>
                <a:cxn ang="0">
                  <a:pos x="23" y="5"/>
                </a:cxn>
                <a:cxn ang="0">
                  <a:pos x="37" y="0"/>
                </a:cxn>
                <a:cxn ang="0">
                  <a:pos x="53" y="1"/>
                </a:cxn>
                <a:cxn ang="0">
                  <a:pos x="64" y="12"/>
                </a:cxn>
                <a:cxn ang="0">
                  <a:pos x="81" y="7"/>
                </a:cxn>
                <a:cxn ang="0">
                  <a:pos x="93" y="12"/>
                </a:cxn>
                <a:cxn ang="0">
                  <a:pos x="103" y="17"/>
                </a:cxn>
                <a:cxn ang="0">
                  <a:pos x="121" y="8"/>
                </a:cxn>
                <a:cxn ang="0">
                  <a:pos x="138" y="9"/>
                </a:cxn>
                <a:cxn ang="0">
                  <a:pos x="154" y="11"/>
                </a:cxn>
                <a:cxn ang="0">
                  <a:pos x="172" y="1"/>
                </a:cxn>
                <a:cxn ang="0">
                  <a:pos x="179" y="12"/>
                </a:cxn>
                <a:cxn ang="0">
                  <a:pos x="181" y="25"/>
                </a:cxn>
                <a:cxn ang="0">
                  <a:pos x="189" y="32"/>
                </a:cxn>
                <a:cxn ang="0">
                  <a:pos x="184" y="42"/>
                </a:cxn>
                <a:cxn ang="0">
                  <a:pos x="173" y="53"/>
                </a:cxn>
                <a:cxn ang="0">
                  <a:pos x="167" y="65"/>
                </a:cxn>
                <a:cxn ang="0">
                  <a:pos x="162" y="78"/>
                </a:cxn>
                <a:cxn ang="0">
                  <a:pos x="156" y="92"/>
                </a:cxn>
                <a:cxn ang="0">
                  <a:pos x="150" y="102"/>
                </a:cxn>
                <a:cxn ang="0">
                  <a:pos x="144" y="117"/>
                </a:cxn>
                <a:cxn ang="0">
                  <a:pos x="135" y="132"/>
                </a:cxn>
                <a:cxn ang="0">
                  <a:pos x="124" y="121"/>
                </a:cxn>
              </a:cxnLst>
              <a:rect l="0" t="0" r="r" b="b"/>
              <a:pathLst>
                <a:path w="189" h="169">
                  <a:moveTo>
                    <a:pt x="124" y="121"/>
                  </a:moveTo>
                  <a:lnTo>
                    <a:pt x="112" y="125"/>
                  </a:lnTo>
                  <a:lnTo>
                    <a:pt x="105" y="135"/>
                  </a:lnTo>
                  <a:lnTo>
                    <a:pt x="99" y="146"/>
                  </a:lnTo>
                  <a:lnTo>
                    <a:pt x="94" y="161"/>
                  </a:lnTo>
                  <a:lnTo>
                    <a:pt x="88" y="159"/>
                  </a:lnTo>
                  <a:lnTo>
                    <a:pt x="89" y="165"/>
                  </a:lnTo>
                  <a:lnTo>
                    <a:pt x="73" y="165"/>
                  </a:lnTo>
                  <a:lnTo>
                    <a:pt x="71" y="164"/>
                  </a:lnTo>
                  <a:lnTo>
                    <a:pt x="69" y="164"/>
                  </a:lnTo>
                  <a:lnTo>
                    <a:pt x="66" y="167"/>
                  </a:lnTo>
                  <a:lnTo>
                    <a:pt x="64" y="162"/>
                  </a:lnTo>
                  <a:lnTo>
                    <a:pt x="64" y="169"/>
                  </a:lnTo>
                  <a:lnTo>
                    <a:pt x="64" y="165"/>
                  </a:lnTo>
                  <a:lnTo>
                    <a:pt x="61" y="167"/>
                  </a:lnTo>
                  <a:lnTo>
                    <a:pt x="57" y="167"/>
                  </a:lnTo>
                  <a:lnTo>
                    <a:pt x="49" y="168"/>
                  </a:lnTo>
                  <a:lnTo>
                    <a:pt x="43" y="151"/>
                  </a:lnTo>
                  <a:lnTo>
                    <a:pt x="45" y="150"/>
                  </a:lnTo>
                  <a:lnTo>
                    <a:pt x="41" y="146"/>
                  </a:lnTo>
                  <a:lnTo>
                    <a:pt x="42" y="146"/>
                  </a:lnTo>
                  <a:lnTo>
                    <a:pt x="39" y="143"/>
                  </a:lnTo>
                  <a:lnTo>
                    <a:pt x="22" y="132"/>
                  </a:lnTo>
                  <a:lnTo>
                    <a:pt x="13" y="131"/>
                  </a:lnTo>
                  <a:lnTo>
                    <a:pt x="16" y="128"/>
                  </a:lnTo>
                  <a:lnTo>
                    <a:pt x="0" y="133"/>
                  </a:lnTo>
                  <a:lnTo>
                    <a:pt x="1" y="108"/>
                  </a:lnTo>
                  <a:lnTo>
                    <a:pt x="3" y="84"/>
                  </a:lnTo>
                  <a:lnTo>
                    <a:pt x="15" y="63"/>
                  </a:lnTo>
                  <a:lnTo>
                    <a:pt x="16" y="48"/>
                  </a:lnTo>
                  <a:lnTo>
                    <a:pt x="13" y="38"/>
                  </a:lnTo>
                  <a:lnTo>
                    <a:pt x="13" y="37"/>
                  </a:lnTo>
                  <a:lnTo>
                    <a:pt x="15" y="30"/>
                  </a:lnTo>
                  <a:lnTo>
                    <a:pt x="19" y="18"/>
                  </a:lnTo>
                  <a:lnTo>
                    <a:pt x="23" y="5"/>
                  </a:lnTo>
                  <a:lnTo>
                    <a:pt x="37" y="0"/>
                  </a:lnTo>
                  <a:lnTo>
                    <a:pt x="53" y="1"/>
                  </a:lnTo>
                  <a:lnTo>
                    <a:pt x="64" y="12"/>
                  </a:lnTo>
                  <a:lnTo>
                    <a:pt x="81" y="7"/>
                  </a:lnTo>
                  <a:lnTo>
                    <a:pt x="93" y="12"/>
                  </a:lnTo>
                  <a:lnTo>
                    <a:pt x="103" y="17"/>
                  </a:lnTo>
                  <a:lnTo>
                    <a:pt x="121" y="8"/>
                  </a:lnTo>
                  <a:lnTo>
                    <a:pt x="138" y="9"/>
                  </a:lnTo>
                  <a:lnTo>
                    <a:pt x="154" y="11"/>
                  </a:lnTo>
                  <a:lnTo>
                    <a:pt x="172" y="1"/>
                  </a:lnTo>
                  <a:lnTo>
                    <a:pt x="179" y="12"/>
                  </a:lnTo>
                  <a:lnTo>
                    <a:pt x="181" y="25"/>
                  </a:lnTo>
                  <a:lnTo>
                    <a:pt x="189" y="32"/>
                  </a:lnTo>
                  <a:lnTo>
                    <a:pt x="184" y="42"/>
                  </a:lnTo>
                  <a:lnTo>
                    <a:pt x="173" y="53"/>
                  </a:lnTo>
                  <a:lnTo>
                    <a:pt x="167" y="65"/>
                  </a:lnTo>
                  <a:lnTo>
                    <a:pt x="162" y="78"/>
                  </a:lnTo>
                  <a:lnTo>
                    <a:pt x="156" y="92"/>
                  </a:lnTo>
                  <a:lnTo>
                    <a:pt x="150" y="102"/>
                  </a:lnTo>
                  <a:lnTo>
                    <a:pt x="144" y="117"/>
                  </a:lnTo>
                  <a:lnTo>
                    <a:pt x="135" y="132"/>
                  </a:lnTo>
                  <a:lnTo>
                    <a:pt x="124" y="1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3" name="Freeform 112"/>
            <p:cNvSpPr>
              <a:spLocks/>
            </p:cNvSpPr>
            <p:nvPr/>
          </p:nvSpPr>
          <p:spPr bwMode="auto">
            <a:xfrm>
              <a:off x="2547" y="2459"/>
              <a:ext cx="49" cy="122"/>
            </a:xfrm>
            <a:custGeom>
              <a:avLst/>
              <a:gdLst/>
              <a:ahLst/>
              <a:cxnLst>
                <a:cxn ang="0">
                  <a:pos x="3" y="24"/>
                </a:cxn>
                <a:cxn ang="0">
                  <a:pos x="1" y="24"/>
                </a:cxn>
                <a:cxn ang="0">
                  <a:pos x="0" y="32"/>
                </a:cxn>
                <a:cxn ang="0">
                  <a:pos x="9" y="42"/>
                </a:cxn>
                <a:cxn ang="0">
                  <a:pos x="11" y="56"/>
                </a:cxn>
                <a:cxn ang="0">
                  <a:pos x="11" y="70"/>
                </a:cxn>
                <a:cxn ang="0">
                  <a:pos x="12" y="84"/>
                </a:cxn>
                <a:cxn ang="0">
                  <a:pos x="12" y="97"/>
                </a:cxn>
                <a:cxn ang="0">
                  <a:pos x="13" y="110"/>
                </a:cxn>
                <a:cxn ang="0">
                  <a:pos x="30" y="108"/>
                </a:cxn>
                <a:cxn ang="0">
                  <a:pos x="31" y="83"/>
                </a:cxn>
                <a:cxn ang="0">
                  <a:pos x="33" y="59"/>
                </a:cxn>
                <a:cxn ang="0">
                  <a:pos x="45" y="38"/>
                </a:cxn>
                <a:cxn ang="0">
                  <a:pos x="46" y="23"/>
                </a:cxn>
                <a:cxn ang="0">
                  <a:pos x="43" y="13"/>
                </a:cxn>
                <a:cxn ang="0">
                  <a:pos x="43" y="12"/>
                </a:cxn>
                <a:cxn ang="0">
                  <a:pos x="30" y="0"/>
                </a:cxn>
                <a:cxn ang="0">
                  <a:pos x="25" y="6"/>
                </a:cxn>
                <a:cxn ang="0">
                  <a:pos x="25" y="8"/>
                </a:cxn>
                <a:cxn ang="0">
                  <a:pos x="24" y="11"/>
                </a:cxn>
                <a:cxn ang="0">
                  <a:pos x="12" y="18"/>
                </a:cxn>
                <a:cxn ang="0">
                  <a:pos x="3" y="24"/>
                </a:cxn>
              </a:cxnLst>
              <a:rect l="0" t="0" r="r" b="b"/>
              <a:pathLst>
                <a:path w="46" h="110">
                  <a:moveTo>
                    <a:pt x="3" y="24"/>
                  </a:moveTo>
                  <a:lnTo>
                    <a:pt x="1" y="24"/>
                  </a:lnTo>
                  <a:lnTo>
                    <a:pt x="0" y="32"/>
                  </a:lnTo>
                  <a:lnTo>
                    <a:pt x="9" y="42"/>
                  </a:lnTo>
                  <a:lnTo>
                    <a:pt x="11" y="56"/>
                  </a:lnTo>
                  <a:lnTo>
                    <a:pt x="11" y="70"/>
                  </a:lnTo>
                  <a:lnTo>
                    <a:pt x="12" y="84"/>
                  </a:lnTo>
                  <a:lnTo>
                    <a:pt x="12" y="97"/>
                  </a:lnTo>
                  <a:lnTo>
                    <a:pt x="13" y="110"/>
                  </a:lnTo>
                  <a:lnTo>
                    <a:pt x="30" y="108"/>
                  </a:lnTo>
                  <a:lnTo>
                    <a:pt x="31" y="83"/>
                  </a:lnTo>
                  <a:lnTo>
                    <a:pt x="33" y="59"/>
                  </a:lnTo>
                  <a:lnTo>
                    <a:pt x="45" y="38"/>
                  </a:lnTo>
                  <a:lnTo>
                    <a:pt x="46" y="23"/>
                  </a:lnTo>
                  <a:lnTo>
                    <a:pt x="43" y="13"/>
                  </a:lnTo>
                  <a:lnTo>
                    <a:pt x="43" y="12"/>
                  </a:lnTo>
                  <a:lnTo>
                    <a:pt x="30" y="0"/>
                  </a:lnTo>
                  <a:lnTo>
                    <a:pt x="25" y="6"/>
                  </a:lnTo>
                  <a:lnTo>
                    <a:pt x="25" y="8"/>
                  </a:lnTo>
                  <a:lnTo>
                    <a:pt x="24" y="11"/>
                  </a:lnTo>
                  <a:lnTo>
                    <a:pt x="12" y="18"/>
                  </a:lnTo>
                  <a:lnTo>
                    <a:pt x="3"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4" name="Freeform 113"/>
            <p:cNvSpPr>
              <a:spLocks/>
            </p:cNvSpPr>
            <p:nvPr/>
          </p:nvSpPr>
          <p:spPr bwMode="auto">
            <a:xfrm>
              <a:off x="2436" y="2403"/>
              <a:ext cx="137" cy="113"/>
            </a:xfrm>
            <a:custGeom>
              <a:avLst/>
              <a:gdLst/>
              <a:ahLst/>
              <a:cxnLst>
                <a:cxn ang="0">
                  <a:pos x="102" y="73"/>
                </a:cxn>
                <a:cxn ang="0">
                  <a:pos x="97" y="73"/>
                </a:cxn>
                <a:cxn ang="0">
                  <a:pos x="84" y="71"/>
                </a:cxn>
                <a:cxn ang="0">
                  <a:pos x="79" y="72"/>
                </a:cxn>
                <a:cxn ang="0">
                  <a:pos x="61" y="73"/>
                </a:cxn>
                <a:cxn ang="0">
                  <a:pos x="42" y="73"/>
                </a:cxn>
                <a:cxn ang="0">
                  <a:pos x="43" y="87"/>
                </a:cxn>
                <a:cxn ang="0">
                  <a:pos x="44" y="101"/>
                </a:cxn>
                <a:cxn ang="0">
                  <a:pos x="30" y="92"/>
                </a:cxn>
                <a:cxn ang="0">
                  <a:pos x="15" y="97"/>
                </a:cxn>
                <a:cxn ang="0">
                  <a:pos x="6" y="86"/>
                </a:cxn>
                <a:cxn ang="0">
                  <a:pos x="0" y="84"/>
                </a:cxn>
                <a:cxn ang="0">
                  <a:pos x="3" y="60"/>
                </a:cxn>
                <a:cxn ang="0">
                  <a:pos x="8" y="56"/>
                </a:cxn>
                <a:cxn ang="0">
                  <a:pos x="16" y="48"/>
                </a:cxn>
                <a:cxn ang="0">
                  <a:pos x="20" y="41"/>
                </a:cxn>
                <a:cxn ang="0">
                  <a:pos x="22" y="30"/>
                </a:cxn>
                <a:cxn ang="0">
                  <a:pos x="32" y="35"/>
                </a:cxn>
                <a:cxn ang="0">
                  <a:pos x="34" y="27"/>
                </a:cxn>
                <a:cxn ang="0">
                  <a:pos x="38" y="26"/>
                </a:cxn>
                <a:cxn ang="0">
                  <a:pos x="44" y="17"/>
                </a:cxn>
                <a:cxn ang="0">
                  <a:pos x="54" y="17"/>
                </a:cxn>
                <a:cxn ang="0">
                  <a:pos x="55" y="9"/>
                </a:cxn>
                <a:cxn ang="0">
                  <a:pos x="75" y="0"/>
                </a:cxn>
                <a:cxn ang="0">
                  <a:pos x="90" y="2"/>
                </a:cxn>
                <a:cxn ang="0">
                  <a:pos x="92" y="17"/>
                </a:cxn>
                <a:cxn ang="0">
                  <a:pos x="104" y="30"/>
                </a:cxn>
                <a:cxn ang="0">
                  <a:pos x="102" y="31"/>
                </a:cxn>
                <a:cxn ang="0">
                  <a:pos x="102" y="37"/>
                </a:cxn>
                <a:cxn ang="0">
                  <a:pos x="111" y="44"/>
                </a:cxn>
                <a:cxn ang="0">
                  <a:pos x="117" y="43"/>
                </a:cxn>
                <a:cxn ang="0">
                  <a:pos x="121" y="48"/>
                </a:cxn>
                <a:cxn ang="0">
                  <a:pos x="124" y="57"/>
                </a:cxn>
                <a:cxn ang="0">
                  <a:pos x="123" y="60"/>
                </a:cxn>
                <a:cxn ang="0">
                  <a:pos x="111" y="67"/>
                </a:cxn>
                <a:cxn ang="0">
                  <a:pos x="102" y="73"/>
                </a:cxn>
              </a:cxnLst>
              <a:rect l="0" t="0" r="r" b="b"/>
              <a:pathLst>
                <a:path w="124" h="101">
                  <a:moveTo>
                    <a:pt x="102" y="73"/>
                  </a:moveTo>
                  <a:lnTo>
                    <a:pt x="97" y="73"/>
                  </a:lnTo>
                  <a:lnTo>
                    <a:pt x="84" y="71"/>
                  </a:lnTo>
                  <a:lnTo>
                    <a:pt x="79" y="72"/>
                  </a:lnTo>
                  <a:lnTo>
                    <a:pt x="61" y="73"/>
                  </a:lnTo>
                  <a:lnTo>
                    <a:pt x="42" y="73"/>
                  </a:lnTo>
                  <a:lnTo>
                    <a:pt x="43" y="87"/>
                  </a:lnTo>
                  <a:lnTo>
                    <a:pt x="44" y="101"/>
                  </a:lnTo>
                  <a:lnTo>
                    <a:pt x="30" y="92"/>
                  </a:lnTo>
                  <a:lnTo>
                    <a:pt x="15" y="97"/>
                  </a:lnTo>
                  <a:lnTo>
                    <a:pt x="6" y="86"/>
                  </a:lnTo>
                  <a:lnTo>
                    <a:pt x="0" y="84"/>
                  </a:lnTo>
                  <a:lnTo>
                    <a:pt x="3" y="60"/>
                  </a:lnTo>
                  <a:lnTo>
                    <a:pt x="8" y="56"/>
                  </a:lnTo>
                  <a:lnTo>
                    <a:pt x="16" y="48"/>
                  </a:lnTo>
                  <a:lnTo>
                    <a:pt x="20" y="41"/>
                  </a:lnTo>
                  <a:lnTo>
                    <a:pt x="22" y="30"/>
                  </a:lnTo>
                  <a:lnTo>
                    <a:pt x="32" y="35"/>
                  </a:lnTo>
                  <a:lnTo>
                    <a:pt x="34" y="27"/>
                  </a:lnTo>
                  <a:lnTo>
                    <a:pt x="38" y="26"/>
                  </a:lnTo>
                  <a:lnTo>
                    <a:pt x="44" y="17"/>
                  </a:lnTo>
                  <a:lnTo>
                    <a:pt x="54" y="17"/>
                  </a:lnTo>
                  <a:lnTo>
                    <a:pt x="55" y="9"/>
                  </a:lnTo>
                  <a:lnTo>
                    <a:pt x="75" y="0"/>
                  </a:lnTo>
                  <a:lnTo>
                    <a:pt x="90" y="2"/>
                  </a:lnTo>
                  <a:lnTo>
                    <a:pt x="92" y="17"/>
                  </a:lnTo>
                  <a:lnTo>
                    <a:pt x="104" y="30"/>
                  </a:lnTo>
                  <a:lnTo>
                    <a:pt x="102" y="31"/>
                  </a:lnTo>
                  <a:lnTo>
                    <a:pt x="102" y="37"/>
                  </a:lnTo>
                  <a:lnTo>
                    <a:pt x="111" y="44"/>
                  </a:lnTo>
                  <a:lnTo>
                    <a:pt x="117" y="43"/>
                  </a:lnTo>
                  <a:lnTo>
                    <a:pt x="121" y="48"/>
                  </a:lnTo>
                  <a:lnTo>
                    <a:pt x="124" y="57"/>
                  </a:lnTo>
                  <a:lnTo>
                    <a:pt x="123" y="60"/>
                  </a:lnTo>
                  <a:lnTo>
                    <a:pt x="111" y="67"/>
                  </a:lnTo>
                  <a:lnTo>
                    <a:pt x="102"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5" name="Freeform 114"/>
            <p:cNvSpPr>
              <a:spLocks/>
            </p:cNvSpPr>
            <p:nvPr/>
          </p:nvSpPr>
          <p:spPr bwMode="auto">
            <a:xfrm>
              <a:off x="2682" y="2443"/>
              <a:ext cx="134" cy="227"/>
            </a:xfrm>
            <a:custGeom>
              <a:avLst/>
              <a:gdLst/>
              <a:ahLst/>
              <a:cxnLst>
                <a:cxn ang="0">
                  <a:pos x="112" y="56"/>
                </a:cxn>
                <a:cxn ang="0">
                  <a:pos x="93" y="56"/>
                </a:cxn>
                <a:cxn ang="0">
                  <a:pos x="86" y="60"/>
                </a:cxn>
                <a:cxn ang="0">
                  <a:pos x="99" y="77"/>
                </a:cxn>
                <a:cxn ang="0">
                  <a:pos x="109" y="99"/>
                </a:cxn>
                <a:cxn ang="0">
                  <a:pos x="102" y="114"/>
                </a:cxn>
                <a:cxn ang="0">
                  <a:pos x="93" y="128"/>
                </a:cxn>
                <a:cxn ang="0">
                  <a:pos x="99" y="153"/>
                </a:cxn>
                <a:cxn ang="0">
                  <a:pos x="108" y="167"/>
                </a:cxn>
                <a:cxn ang="0">
                  <a:pos x="116" y="179"/>
                </a:cxn>
                <a:cxn ang="0">
                  <a:pos x="121" y="195"/>
                </a:cxn>
                <a:cxn ang="0">
                  <a:pos x="118" y="204"/>
                </a:cxn>
                <a:cxn ang="0">
                  <a:pos x="104" y="200"/>
                </a:cxn>
                <a:cxn ang="0">
                  <a:pos x="91" y="197"/>
                </a:cxn>
                <a:cxn ang="0">
                  <a:pos x="75" y="197"/>
                </a:cxn>
                <a:cxn ang="0">
                  <a:pos x="60" y="197"/>
                </a:cxn>
                <a:cxn ang="0">
                  <a:pos x="44" y="197"/>
                </a:cxn>
                <a:cxn ang="0">
                  <a:pos x="32" y="194"/>
                </a:cxn>
                <a:cxn ang="0">
                  <a:pos x="20" y="193"/>
                </a:cxn>
                <a:cxn ang="0">
                  <a:pos x="20" y="174"/>
                </a:cxn>
                <a:cxn ang="0">
                  <a:pos x="18" y="165"/>
                </a:cxn>
                <a:cxn ang="0">
                  <a:pos x="16" y="163"/>
                </a:cxn>
                <a:cxn ang="0">
                  <a:pos x="7" y="162"/>
                </a:cxn>
                <a:cxn ang="0">
                  <a:pos x="2" y="151"/>
                </a:cxn>
                <a:cxn ang="0">
                  <a:pos x="0" y="152"/>
                </a:cxn>
                <a:cxn ang="0">
                  <a:pos x="1" y="149"/>
                </a:cxn>
                <a:cxn ang="0">
                  <a:pos x="6" y="134"/>
                </a:cxn>
                <a:cxn ang="0">
                  <a:pos x="12" y="123"/>
                </a:cxn>
                <a:cxn ang="0">
                  <a:pos x="19" y="113"/>
                </a:cxn>
                <a:cxn ang="0">
                  <a:pos x="31" y="109"/>
                </a:cxn>
                <a:cxn ang="0">
                  <a:pos x="42" y="120"/>
                </a:cxn>
                <a:cxn ang="0">
                  <a:pos x="51" y="105"/>
                </a:cxn>
                <a:cxn ang="0">
                  <a:pos x="57" y="90"/>
                </a:cxn>
                <a:cxn ang="0">
                  <a:pos x="63" y="80"/>
                </a:cxn>
                <a:cxn ang="0">
                  <a:pos x="69" y="66"/>
                </a:cxn>
                <a:cxn ang="0">
                  <a:pos x="74" y="53"/>
                </a:cxn>
                <a:cxn ang="0">
                  <a:pos x="80" y="41"/>
                </a:cxn>
                <a:cxn ang="0">
                  <a:pos x="91" y="30"/>
                </a:cxn>
                <a:cxn ang="0">
                  <a:pos x="96" y="20"/>
                </a:cxn>
                <a:cxn ang="0">
                  <a:pos x="88" y="13"/>
                </a:cxn>
                <a:cxn ang="0">
                  <a:pos x="86" y="0"/>
                </a:cxn>
                <a:cxn ang="0">
                  <a:pos x="92" y="0"/>
                </a:cxn>
                <a:cxn ang="0">
                  <a:pos x="99" y="18"/>
                </a:cxn>
                <a:cxn ang="0">
                  <a:pos x="102" y="38"/>
                </a:cxn>
                <a:cxn ang="0">
                  <a:pos x="112" y="56"/>
                </a:cxn>
              </a:cxnLst>
              <a:rect l="0" t="0" r="r" b="b"/>
              <a:pathLst>
                <a:path w="121" h="204">
                  <a:moveTo>
                    <a:pt x="112" y="56"/>
                  </a:moveTo>
                  <a:lnTo>
                    <a:pt x="93" y="56"/>
                  </a:lnTo>
                  <a:lnTo>
                    <a:pt x="86" y="60"/>
                  </a:lnTo>
                  <a:lnTo>
                    <a:pt x="99" y="77"/>
                  </a:lnTo>
                  <a:lnTo>
                    <a:pt x="109" y="99"/>
                  </a:lnTo>
                  <a:lnTo>
                    <a:pt x="102" y="114"/>
                  </a:lnTo>
                  <a:lnTo>
                    <a:pt x="93" y="128"/>
                  </a:lnTo>
                  <a:lnTo>
                    <a:pt x="99" y="153"/>
                  </a:lnTo>
                  <a:lnTo>
                    <a:pt x="108" y="167"/>
                  </a:lnTo>
                  <a:lnTo>
                    <a:pt x="116" y="179"/>
                  </a:lnTo>
                  <a:lnTo>
                    <a:pt x="121" y="195"/>
                  </a:lnTo>
                  <a:lnTo>
                    <a:pt x="118" y="204"/>
                  </a:lnTo>
                  <a:lnTo>
                    <a:pt x="104" y="200"/>
                  </a:lnTo>
                  <a:lnTo>
                    <a:pt x="91" y="197"/>
                  </a:lnTo>
                  <a:lnTo>
                    <a:pt x="75" y="197"/>
                  </a:lnTo>
                  <a:lnTo>
                    <a:pt x="60" y="197"/>
                  </a:lnTo>
                  <a:lnTo>
                    <a:pt x="44" y="197"/>
                  </a:lnTo>
                  <a:lnTo>
                    <a:pt x="32" y="194"/>
                  </a:lnTo>
                  <a:lnTo>
                    <a:pt x="20" y="193"/>
                  </a:lnTo>
                  <a:lnTo>
                    <a:pt x="20" y="174"/>
                  </a:lnTo>
                  <a:lnTo>
                    <a:pt x="18" y="165"/>
                  </a:lnTo>
                  <a:lnTo>
                    <a:pt x="16" y="163"/>
                  </a:lnTo>
                  <a:lnTo>
                    <a:pt x="7" y="162"/>
                  </a:lnTo>
                  <a:lnTo>
                    <a:pt x="2" y="151"/>
                  </a:lnTo>
                  <a:lnTo>
                    <a:pt x="0" y="152"/>
                  </a:lnTo>
                  <a:lnTo>
                    <a:pt x="1" y="149"/>
                  </a:lnTo>
                  <a:lnTo>
                    <a:pt x="6" y="134"/>
                  </a:lnTo>
                  <a:lnTo>
                    <a:pt x="12" y="123"/>
                  </a:lnTo>
                  <a:lnTo>
                    <a:pt x="19" y="113"/>
                  </a:lnTo>
                  <a:lnTo>
                    <a:pt x="31" y="109"/>
                  </a:lnTo>
                  <a:lnTo>
                    <a:pt x="42" y="120"/>
                  </a:lnTo>
                  <a:lnTo>
                    <a:pt x="51" y="105"/>
                  </a:lnTo>
                  <a:lnTo>
                    <a:pt x="57" y="90"/>
                  </a:lnTo>
                  <a:lnTo>
                    <a:pt x="63" y="80"/>
                  </a:lnTo>
                  <a:lnTo>
                    <a:pt x="69" y="66"/>
                  </a:lnTo>
                  <a:lnTo>
                    <a:pt x="74" y="53"/>
                  </a:lnTo>
                  <a:lnTo>
                    <a:pt x="80" y="41"/>
                  </a:lnTo>
                  <a:lnTo>
                    <a:pt x="91" y="30"/>
                  </a:lnTo>
                  <a:lnTo>
                    <a:pt x="96" y="20"/>
                  </a:lnTo>
                  <a:lnTo>
                    <a:pt x="88" y="13"/>
                  </a:lnTo>
                  <a:lnTo>
                    <a:pt x="86" y="0"/>
                  </a:lnTo>
                  <a:lnTo>
                    <a:pt x="92" y="0"/>
                  </a:lnTo>
                  <a:lnTo>
                    <a:pt x="99" y="18"/>
                  </a:lnTo>
                  <a:lnTo>
                    <a:pt x="102" y="38"/>
                  </a:lnTo>
                  <a:lnTo>
                    <a:pt x="112"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6" name="Freeform 115"/>
            <p:cNvSpPr>
              <a:spLocks/>
            </p:cNvSpPr>
            <p:nvPr/>
          </p:nvSpPr>
          <p:spPr bwMode="auto">
            <a:xfrm>
              <a:off x="2787" y="2487"/>
              <a:ext cx="229" cy="174"/>
            </a:xfrm>
            <a:custGeom>
              <a:avLst/>
              <a:gdLst/>
              <a:ahLst/>
              <a:cxnLst>
                <a:cxn ang="0">
                  <a:pos x="72" y="42"/>
                </a:cxn>
                <a:cxn ang="0">
                  <a:pos x="70" y="38"/>
                </a:cxn>
                <a:cxn ang="0">
                  <a:pos x="93" y="33"/>
                </a:cxn>
                <a:cxn ang="0">
                  <a:pos x="105" y="18"/>
                </a:cxn>
                <a:cxn ang="0">
                  <a:pos x="117" y="4"/>
                </a:cxn>
                <a:cxn ang="0">
                  <a:pos x="132" y="0"/>
                </a:cxn>
                <a:cxn ang="0">
                  <a:pos x="138" y="11"/>
                </a:cxn>
                <a:cxn ang="0">
                  <a:pos x="145" y="22"/>
                </a:cxn>
                <a:cxn ang="0">
                  <a:pos x="143" y="40"/>
                </a:cxn>
                <a:cxn ang="0">
                  <a:pos x="154" y="42"/>
                </a:cxn>
                <a:cxn ang="0">
                  <a:pos x="157" y="47"/>
                </a:cxn>
                <a:cxn ang="0">
                  <a:pos x="172" y="58"/>
                </a:cxn>
                <a:cxn ang="0">
                  <a:pos x="174" y="65"/>
                </a:cxn>
                <a:cxn ang="0">
                  <a:pos x="189" y="78"/>
                </a:cxn>
                <a:cxn ang="0">
                  <a:pos x="195" y="88"/>
                </a:cxn>
                <a:cxn ang="0">
                  <a:pos x="204" y="100"/>
                </a:cxn>
                <a:cxn ang="0">
                  <a:pos x="207" y="106"/>
                </a:cxn>
                <a:cxn ang="0">
                  <a:pos x="198" y="104"/>
                </a:cxn>
                <a:cxn ang="0">
                  <a:pos x="185" y="102"/>
                </a:cxn>
                <a:cxn ang="0">
                  <a:pos x="173" y="101"/>
                </a:cxn>
                <a:cxn ang="0">
                  <a:pos x="167" y="106"/>
                </a:cxn>
                <a:cxn ang="0">
                  <a:pos x="155" y="106"/>
                </a:cxn>
                <a:cxn ang="0">
                  <a:pos x="139" y="112"/>
                </a:cxn>
                <a:cxn ang="0">
                  <a:pos x="132" y="111"/>
                </a:cxn>
                <a:cxn ang="0">
                  <a:pos x="125" y="122"/>
                </a:cxn>
                <a:cxn ang="0">
                  <a:pos x="111" y="118"/>
                </a:cxn>
                <a:cxn ang="0">
                  <a:pos x="95" y="113"/>
                </a:cxn>
                <a:cxn ang="0">
                  <a:pos x="78" y="104"/>
                </a:cxn>
                <a:cxn ang="0">
                  <a:pos x="66" y="120"/>
                </a:cxn>
                <a:cxn ang="0">
                  <a:pos x="66" y="134"/>
                </a:cxn>
                <a:cxn ang="0">
                  <a:pos x="54" y="132"/>
                </a:cxn>
                <a:cxn ang="0">
                  <a:pos x="42" y="131"/>
                </a:cxn>
                <a:cxn ang="0">
                  <a:pos x="34" y="137"/>
                </a:cxn>
                <a:cxn ang="0">
                  <a:pos x="28" y="156"/>
                </a:cxn>
                <a:cxn ang="0">
                  <a:pos x="23" y="140"/>
                </a:cxn>
                <a:cxn ang="0">
                  <a:pos x="15" y="128"/>
                </a:cxn>
                <a:cxn ang="0">
                  <a:pos x="6" y="114"/>
                </a:cxn>
                <a:cxn ang="0">
                  <a:pos x="0" y="89"/>
                </a:cxn>
                <a:cxn ang="0">
                  <a:pos x="9" y="75"/>
                </a:cxn>
                <a:cxn ang="0">
                  <a:pos x="16" y="60"/>
                </a:cxn>
                <a:cxn ang="0">
                  <a:pos x="31" y="56"/>
                </a:cxn>
                <a:cxn ang="0">
                  <a:pos x="34" y="58"/>
                </a:cxn>
                <a:cxn ang="0">
                  <a:pos x="43" y="57"/>
                </a:cxn>
                <a:cxn ang="0">
                  <a:pos x="65" y="52"/>
                </a:cxn>
                <a:cxn ang="0">
                  <a:pos x="72" y="42"/>
                </a:cxn>
              </a:cxnLst>
              <a:rect l="0" t="0" r="r" b="b"/>
              <a:pathLst>
                <a:path w="207" h="156">
                  <a:moveTo>
                    <a:pt x="72" y="42"/>
                  </a:moveTo>
                  <a:lnTo>
                    <a:pt x="70" y="38"/>
                  </a:lnTo>
                  <a:lnTo>
                    <a:pt x="93" y="33"/>
                  </a:lnTo>
                  <a:lnTo>
                    <a:pt x="105" y="18"/>
                  </a:lnTo>
                  <a:lnTo>
                    <a:pt x="117" y="4"/>
                  </a:lnTo>
                  <a:lnTo>
                    <a:pt x="132" y="0"/>
                  </a:lnTo>
                  <a:lnTo>
                    <a:pt x="138" y="11"/>
                  </a:lnTo>
                  <a:lnTo>
                    <a:pt x="145" y="22"/>
                  </a:lnTo>
                  <a:lnTo>
                    <a:pt x="143" y="40"/>
                  </a:lnTo>
                  <a:lnTo>
                    <a:pt x="154" y="42"/>
                  </a:lnTo>
                  <a:lnTo>
                    <a:pt x="157" y="47"/>
                  </a:lnTo>
                  <a:lnTo>
                    <a:pt x="172" y="58"/>
                  </a:lnTo>
                  <a:lnTo>
                    <a:pt x="174" y="65"/>
                  </a:lnTo>
                  <a:lnTo>
                    <a:pt x="189" y="78"/>
                  </a:lnTo>
                  <a:lnTo>
                    <a:pt x="195" y="88"/>
                  </a:lnTo>
                  <a:lnTo>
                    <a:pt x="204" y="100"/>
                  </a:lnTo>
                  <a:lnTo>
                    <a:pt x="207" y="106"/>
                  </a:lnTo>
                  <a:lnTo>
                    <a:pt x="198" y="104"/>
                  </a:lnTo>
                  <a:lnTo>
                    <a:pt x="185" y="102"/>
                  </a:lnTo>
                  <a:lnTo>
                    <a:pt x="173" y="101"/>
                  </a:lnTo>
                  <a:lnTo>
                    <a:pt x="167" y="106"/>
                  </a:lnTo>
                  <a:lnTo>
                    <a:pt x="155" y="106"/>
                  </a:lnTo>
                  <a:lnTo>
                    <a:pt x="139" y="112"/>
                  </a:lnTo>
                  <a:lnTo>
                    <a:pt x="132" y="111"/>
                  </a:lnTo>
                  <a:lnTo>
                    <a:pt x="125" y="122"/>
                  </a:lnTo>
                  <a:lnTo>
                    <a:pt x="111" y="118"/>
                  </a:lnTo>
                  <a:lnTo>
                    <a:pt x="95" y="113"/>
                  </a:lnTo>
                  <a:lnTo>
                    <a:pt x="78" y="104"/>
                  </a:lnTo>
                  <a:lnTo>
                    <a:pt x="66" y="120"/>
                  </a:lnTo>
                  <a:lnTo>
                    <a:pt x="66" y="134"/>
                  </a:lnTo>
                  <a:lnTo>
                    <a:pt x="54" y="132"/>
                  </a:lnTo>
                  <a:lnTo>
                    <a:pt x="42" y="131"/>
                  </a:lnTo>
                  <a:lnTo>
                    <a:pt x="34" y="137"/>
                  </a:lnTo>
                  <a:lnTo>
                    <a:pt x="28" y="156"/>
                  </a:lnTo>
                  <a:lnTo>
                    <a:pt x="23" y="140"/>
                  </a:lnTo>
                  <a:lnTo>
                    <a:pt x="15" y="128"/>
                  </a:lnTo>
                  <a:lnTo>
                    <a:pt x="6" y="114"/>
                  </a:lnTo>
                  <a:lnTo>
                    <a:pt x="0" y="89"/>
                  </a:lnTo>
                  <a:lnTo>
                    <a:pt x="9" y="75"/>
                  </a:lnTo>
                  <a:lnTo>
                    <a:pt x="16" y="60"/>
                  </a:lnTo>
                  <a:lnTo>
                    <a:pt x="31" y="56"/>
                  </a:lnTo>
                  <a:lnTo>
                    <a:pt x="34" y="58"/>
                  </a:lnTo>
                  <a:lnTo>
                    <a:pt x="43" y="57"/>
                  </a:lnTo>
                  <a:lnTo>
                    <a:pt x="65" y="52"/>
                  </a:lnTo>
                  <a:lnTo>
                    <a:pt x="72"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7" name="Freeform 116"/>
            <p:cNvSpPr>
              <a:spLocks/>
            </p:cNvSpPr>
            <p:nvPr/>
          </p:nvSpPr>
          <p:spPr bwMode="auto">
            <a:xfrm>
              <a:off x="2238" y="2430"/>
              <a:ext cx="51" cy="13"/>
            </a:xfrm>
            <a:custGeom>
              <a:avLst/>
              <a:gdLst/>
              <a:ahLst/>
              <a:cxnLst>
                <a:cxn ang="0">
                  <a:pos x="2" y="5"/>
                </a:cxn>
                <a:cxn ang="0">
                  <a:pos x="0" y="12"/>
                </a:cxn>
                <a:cxn ang="0">
                  <a:pos x="13" y="8"/>
                </a:cxn>
                <a:cxn ang="0">
                  <a:pos x="25" y="3"/>
                </a:cxn>
                <a:cxn ang="0">
                  <a:pos x="46" y="8"/>
                </a:cxn>
                <a:cxn ang="0">
                  <a:pos x="42" y="3"/>
                </a:cxn>
                <a:cxn ang="0">
                  <a:pos x="23" y="0"/>
                </a:cxn>
                <a:cxn ang="0">
                  <a:pos x="20" y="3"/>
                </a:cxn>
                <a:cxn ang="0">
                  <a:pos x="4" y="3"/>
                </a:cxn>
                <a:cxn ang="0">
                  <a:pos x="4" y="5"/>
                </a:cxn>
                <a:cxn ang="0">
                  <a:pos x="18" y="5"/>
                </a:cxn>
                <a:cxn ang="0">
                  <a:pos x="10" y="8"/>
                </a:cxn>
                <a:cxn ang="0">
                  <a:pos x="2" y="5"/>
                </a:cxn>
              </a:cxnLst>
              <a:rect l="0" t="0" r="r" b="b"/>
              <a:pathLst>
                <a:path w="46" h="12">
                  <a:moveTo>
                    <a:pt x="2" y="5"/>
                  </a:moveTo>
                  <a:lnTo>
                    <a:pt x="0" y="12"/>
                  </a:lnTo>
                  <a:lnTo>
                    <a:pt x="13" y="8"/>
                  </a:lnTo>
                  <a:lnTo>
                    <a:pt x="25" y="3"/>
                  </a:lnTo>
                  <a:lnTo>
                    <a:pt x="46" y="8"/>
                  </a:lnTo>
                  <a:lnTo>
                    <a:pt x="42" y="3"/>
                  </a:lnTo>
                  <a:lnTo>
                    <a:pt x="23" y="0"/>
                  </a:lnTo>
                  <a:lnTo>
                    <a:pt x="20" y="3"/>
                  </a:lnTo>
                  <a:lnTo>
                    <a:pt x="4" y="3"/>
                  </a:lnTo>
                  <a:lnTo>
                    <a:pt x="4" y="5"/>
                  </a:lnTo>
                  <a:lnTo>
                    <a:pt x="18" y="5"/>
                  </a:lnTo>
                  <a:lnTo>
                    <a:pt x="10" y="8"/>
                  </a:lnTo>
                  <a:lnTo>
                    <a:pt x="2"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8" name="Freeform 117"/>
            <p:cNvSpPr>
              <a:spLocks/>
            </p:cNvSpPr>
            <p:nvPr/>
          </p:nvSpPr>
          <p:spPr bwMode="auto">
            <a:xfrm>
              <a:off x="2476" y="2483"/>
              <a:ext cx="77" cy="127"/>
            </a:xfrm>
            <a:custGeom>
              <a:avLst/>
              <a:gdLst/>
              <a:ahLst/>
              <a:cxnLst>
                <a:cxn ang="0">
                  <a:pos x="61" y="97"/>
                </a:cxn>
                <a:cxn ang="0">
                  <a:pos x="50" y="100"/>
                </a:cxn>
                <a:cxn ang="0">
                  <a:pos x="38" y="105"/>
                </a:cxn>
                <a:cxn ang="0">
                  <a:pos x="27" y="110"/>
                </a:cxn>
                <a:cxn ang="0">
                  <a:pos x="16" y="114"/>
                </a:cxn>
                <a:cxn ang="0">
                  <a:pos x="1" y="109"/>
                </a:cxn>
                <a:cxn ang="0">
                  <a:pos x="6" y="105"/>
                </a:cxn>
                <a:cxn ang="0">
                  <a:pos x="3" y="91"/>
                </a:cxn>
                <a:cxn ang="0">
                  <a:pos x="0" y="78"/>
                </a:cxn>
                <a:cxn ang="0">
                  <a:pos x="6" y="66"/>
                </a:cxn>
                <a:cxn ang="0">
                  <a:pos x="10" y="52"/>
                </a:cxn>
                <a:cxn ang="0">
                  <a:pos x="8" y="30"/>
                </a:cxn>
                <a:cxn ang="0">
                  <a:pos x="7" y="16"/>
                </a:cxn>
                <a:cxn ang="0">
                  <a:pos x="6" y="2"/>
                </a:cxn>
                <a:cxn ang="0">
                  <a:pos x="25" y="2"/>
                </a:cxn>
                <a:cxn ang="0">
                  <a:pos x="43" y="1"/>
                </a:cxn>
                <a:cxn ang="0">
                  <a:pos x="48" y="0"/>
                </a:cxn>
                <a:cxn ang="0">
                  <a:pos x="50" y="6"/>
                </a:cxn>
                <a:cxn ang="0">
                  <a:pos x="56" y="21"/>
                </a:cxn>
                <a:cxn ang="0">
                  <a:pos x="56" y="30"/>
                </a:cxn>
                <a:cxn ang="0">
                  <a:pos x="57" y="42"/>
                </a:cxn>
                <a:cxn ang="0">
                  <a:pos x="60" y="54"/>
                </a:cxn>
                <a:cxn ang="0">
                  <a:pos x="61" y="68"/>
                </a:cxn>
                <a:cxn ang="0">
                  <a:pos x="61" y="81"/>
                </a:cxn>
                <a:cxn ang="0">
                  <a:pos x="69" y="91"/>
                </a:cxn>
                <a:cxn ang="0">
                  <a:pos x="61" y="97"/>
                </a:cxn>
                <a:cxn ang="0">
                  <a:pos x="55" y="92"/>
                </a:cxn>
                <a:cxn ang="0">
                  <a:pos x="61" y="97"/>
                </a:cxn>
              </a:cxnLst>
              <a:rect l="0" t="0" r="r" b="b"/>
              <a:pathLst>
                <a:path w="69" h="114">
                  <a:moveTo>
                    <a:pt x="61" y="97"/>
                  </a:moveTo>
                  <a:lnTo>
                    <a:pt x="50" y="100"/>
                  </a:lnTo>
                  <a:lnTo>
                    <a:pt x="38" y="105"/>
                  </a:lnTo>
                  <a:lnTo>
                    <a:pt x="27" y="110"/>
                  </a:lnTo>
                  <a:lnTo>
                    <a:pt x="16" y="114"/>
                  </a:lnTo>
                  <a:lnTo>
                    <a:pt x="1" y="109"/>
                  </a:lnTo>
                  <a:lnTo>
                    <a:pt x="6" y="105"/>
                  </a:lnTo>
                  <a:lnTo>
                    <a:pt x="3" y="91"/>
                  </a:lnTo>
                  <a:lnTo>
                    <a:pt x="0" y="78"/>
                  </a:lnTo>
                  <a:lnTo>
                    <a:pt x="6" y="66"/>
                  </a:lnTo>
                  <a:lnTo>
                    <a:pt x="10" y="52"/>
                  </a:lnTo>
                  <a:lnTo>
                    <a:pt x="8" y="30"/>
                  </a:lnTo>
                  <a:lnTo>
                    <a:pt x="7" y="16"/>
                  </a:lnTo>
                  <a:lnTo>
                    <a:pt x="6" y="2"/>
                  </a:lnTo>
                  <a:lnTo>
                    <a:pt x="25" y="2"/>
                  </a:lnTo>
                  <a:lnTo>
                    <a:pt x="43" y="1"/>
                  </a:lnTo>
                  <a:lnTo>
                    <a:pt x="48" y="0"/>
                  </a:lnTo>
                  <a:lnTo>
                    <a:pt x="50" y="6"/>
                  </a:lnTo>
                  <a:lnTo>
                    <a:pt x="56" y="21"/>
                  </a:lnTo>
                  <a:lnTo>
                    <a:pt x="56" y="30"/>
                  </a:lnTo>
                  <a:lnTo>
                    <a:pt x="57" y="42"/>
                  </a:lnTo>
                  <a:lnTo>
                    <a:pt x="60" y="54"/>
                  </a:lnTo>
                  <a:lnTo>
                    <a:pt x="61" y="68"/>
                  </a:lnTo>
                  <a:lnTo>
                    <a:pt x="61" y="81"/>
                  </a:lnTo>
                  <a:lnTo>
                    <a:pt x="69" y="91"/>
                  </a:lnTo>
                  <a:lnTo>
                    <a:pt x="61" y="97"/>
                  </a:lnTo>
                  <a:lnTo>
                    <a:pt x="55" y="92"/>
                  </a:lnTo>
                  <a:lnTo>
                    <a:pt x="61" y="9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9" name="Freeform 118"/>
            <p:cNvSpPr>
              <a:spLocks/>
            </p:cNvSpPr>
            <p:nvPr/>
          </p:nvSpPr>
          <p:spPr bwMode="auto">
            <a:xfrm>
              <a:off x="2267" y="2452"/>
              <a:ext cx="129" cy="109"/>
            </a:xfrm>
            <a:custGeom>
              <a:avLst/>
              <a:gdLst/>
              <a:ahLst/>
              <a:cxnLst>
                <a:cxn ang="0">
                  <a:pos x="105" y="23"/>
                </a:cxn>
                <a:cxn ang="0">
                  <a:pos x="102" y="29"/>
                </a:cxn>
                <a:cxn ang="0">
                  <a:pos x="105" y="29"/>
                </a:cxn>
                <a:cxn ang="0">
                  <a:pos x="112" y="46"/>
                </a:cxn>
                <a:cxn ang="0">
                  <a:pos x="111" y="59"/>
                </a:cxn>
                <a:cxn ang="0">
                  <a:pos x="113" y="62"/>
                </a:cxn>
                <a:cxn ang="0">
                  <a:pos x="114" y="66"/>
                </a:cxn>
                <a:cxn ang="0">
                  <a:pos x="116" y="72"/>
                </a:cxn>
                <a:cxn ang="0">
                  <a:pos x="116" y="77"/>
                </a:cxn>
                <a:cxn ang="0">
                  <a:pos x="108" y="78"/>
                </a:cxn>
                <a:cxn ang="0">
                  <a:pos x="111" y="85"/>
                </a:cxn>
                <a:cxn ang="0">
                  <a:pos x="106" y="91"/>
                </a:cxn>
                <a:cxn ang="0">
                  <a:pos x="105" y="92"/>
                </a:cxn>
                <a:cxn ang="0">
                  <a:pos x="100" y="92"/>
                </a:cxn>
                <a:cxn ang="0">
                  <a:pos x="93" y="97"/>
                </a:cxn>
                <a:cxn ang="0">
                  <a:pos x="89" y="94"/>
                </a:cxn>
                <a:cxn ang="0">
                  <a:pos x="84" y="76"/>
                </a:cxn>
                <a:cxn ang="0">
                  <a:pos x="76" y="76"/>
                </a:cxn>
                <a:cxn ang="0">
                  <a:pos x="70" y="77"/>
                </a:cxn>
                <a:cxn ang="0">
                  <a:pos x="71" y="65"/>
                </a:cxn>
                <a:cxn ang="0">
                  <a:pos x="62" y="48"/>
                </a:cxn>
                <a:cxn ang="0">
                  <a:pos x="40" y="54"/>
                </a:cxn>
                <a:cxn ang="0">
                  <a:pos x="28" y="66"/>
                </a:cxn>
                <a:cxn ang="0">
                  <a:pos x="27" y="60"/>
                </a:cxn>
                <a:cxn ang="0">
                  <a:pos x="23" y="55"/>
                </a:cxn>
                <a:cxn ang="0">
                  <a:pos x="21" y="52"/>
                </a:cxn>
                <a:cxn ang="0">
                  <a:pos x="16" y="47"/>
                </a:cxn>
                <a:cxn ang="0">
                  <a:pos x="8" y="37"/>
                </a:cxn>
                <a:cxn ang="0">
                  <a:pos x="8" y="34"/>
                </a:cxn>
                <a:cxn ang="0">
                  <a:pos x="6" y="35"/>
                </a:cxn>
                <a:cxn ang="0">
                  <a:pos x="5" y="30"/>
                </a:cxn>
                <a:cxn ang="0">
                  <a:pos x="0" y="32"/>
                </a:cxn>
                <a:cxn ang="0">
                  <a:pos x="2" y="31"/>
                </a:cxn>
                <a:cxn ang="0">
                  <a:pos x="5" y="24"/>
                </a:cxn>
                <a:cxn ang="0">
                  <a:pos x="20" y="18"/>
                </a:cxn>
                <a:cxn ang="0">
                  <a:pos x="20" y="8"/>
                </a:cxn>
                <a:cxn ang="0">
                  <a:pos x="22" y="0"/>
                </a:cxn>
                <a:cxn ang="0">
                  <a:pos x="36" y="4"/>
                </a:cxn>
                <a:cxn ang="0">
                  <a:pos x="59" y="5"/>
                </a:cxn>
                <a:cxn ang="0">
                  <a:pos x="57" y="10"/>
                </a:cxn>
                <a:cxn ang="0">
                  <a:pos x="66" y="10"/>
                </a:cxn>
                <a:cxn ang="0">
                  <a:pos x="71" y="12"/>
                </a:cxn>
                <a:cxn ang="0">
                  <a:pos x="81" y="11"/>
                </a:cxn>
                <a:cxn ang="0">
                  <a:pos x="92" y="7"/>
                </a:cxn>
                <a:cxn ang="0">
                  <a:pos x="94" y="4"/>
                </a:cxn>
                <a:cxn ang="0">
                  <a:pos x="99" y="18"/>
                </a:cxn>
                <a:cxn ang="0">
                  <a:pos x="105" y="23"/>
                </a:cxn>
              </a:cxnLst>
              <a:rect l="0" t="0" r="r" b="b"/>
              <a:pathLst>
                <a:path w="116" h="97">
                  <a:moveTo>
                    <a:pt x="105" y="23"/>
                  </a:moveTo>
                  <a:lnTo>
                    <a:pt x="102" y="29"/>
                  </a:lnTo>
                  <a:lnTo>
                    <a:pt x="105" y="29"/>
                  </a:lnTo>
                  <a:lnTo>
                    <a:pt x="112" y="46"/>
                  </a:lnTo>
                  <a:lnTo>
                    <a:pt x="111" y="59"/>
                  </a:lnTo>
                  <a:lnTo>
                    <a:pt x="113" y="62"/>
                  </a:lnTo>
                  <a:lnTo>
                    <a:pt x="114" y="66"/>
                  </a:lnTo>
                  <a:lnTo>
                    <a:pt x="116" y="72"/>
                  </a:lnTo>
                  <a:lnTo>
                    <a:pt x="116" y="77"/>
                  </a:lnTo>
                  <a:lnTo>
                    <a:pt x="108" y="78"/>
                  </a:lnTo>
                  <a:lnTo>
                    <a:pt x="111" y="85"/>
                  </a:lnTo>
                  <a:lnTo>
                    <a:pt x="106" y="91"/>
                  </a:lnTo>
                  <a:lnTo>
                    <a:pt x="105" y="92"/>
                  </a:lnTo>
                  <a:lnTo>
                    <a:pt x="100" y="92"/>
                  </a:lnTo>
                  <a:lnTo>
                    <a:pt x="93" y="97"/>
                  </a:lnTo>
                  <a:lnTo>
                    <a:pt x="89" y="94"/>
                  </a:lnTo>
                  <a:lnTo>
                    <a:pt x="84" y="76"/>
                  </a:lnTo>
                  <a:lnTo>
                    <a:pt x="76" y="76"/>
                  </a:lnTo>
                  <a:lnTo>
                    <a:pt x="70" y="77"/>
                  </a:lnTo>
                  <a:lnTo>
                    <a:pt x="71" y="65"/>
                  </a:lnTo>
                  <a:lnTo>
                    <a:pt x="62" y="48"/>
                  </a:lnTo>
                  <a:lnTo>
                    <a:pt x="40" y="54"/>
                  </a:lnTo>
                  <a:lnTo>
                    <a:pt x="28" y="66"/>
                  </a:lnTo>
                  <a:lnTo>
                    <a:pt x="27" y="60"/>
                  </a:lnTo>
                  <a:lnTo>
                    <a:pt x="23" y="55"/>
                  </a:lnTo>
                  <a:lnTo>
                    <a:pt x="21" y="52"/>
                  </a:lnTo>
                  <a:lnTo>
                    <a:pt x="16" y="47"/>
                  </a:lnTo>
                  <a:lnTo>
                    <a:pt x="8" y="37"/>
                  </a:lnTo>
                  <a:lnTo>
                    <a:pt x="8" y="34"/>
                  </a:lnTo>
                  <a:lnTo>
                    <a:pt x="6" y="35"/>
                  </a:lnTo>
                  <a:lnTo>
                    <a:pt x="5" y="30"/>
                  </a:lnTo>
                  <a:lnTo>
                    <a:pt x="0" y="32"/>
                  </a:lnTo>
                  <a:lnTo>
                    <a:pt x="2" y="31"/>
                  </a:lnTo>
                  <a:lnTo>
                    <a:pt x="5" y="24"/>
                  </a:lnTo>
                  <a:lnTo>
                    <a:pt x="20" y="18"/>
                  </a:lnTo>
                  <a:lnTo>
                    <a:pt x="20" y="8"/>
                  </a:lnTo>
                  <a:lnTo>
                    <a:pt x="22" y="0"/>
                  </a:lnTo>
                  <a:lnTo>
                    <a:pt x="36" y="4"/>
                  </a:lnTo>
                  <a:lnTo>
                    <a:pt x="59" y="5"/>
                  </a:lnTo>
                  <a:lnTo>
                    <a:pt x="57" y="10"/>
                  </a:lnTo>
                  <a:lnTo>
                    <a:pt x="66" y="10"/>
                  </a:lnTo>
                  <a:lnTo>
                    <a:pt x="71" y="12"/>
                  </a:lnTo>
                  <a:lnTo>
                    <a:pt x="81" y="11"/>
                  </a:lnTo>
                  <a:lnTo>
                    <a:pt x="92" y="7"/>
                  </a:lnTo>
                  <a:lnTo>
                    <a:pt x="94" y="4"/>
                  </a:lnTo>
                  <a:lnTo>
                    <a:pt x="99" y="18"/>
                  </a:lnTo>
                  <a:lnTo>
                    <a:pt x="105" y="2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0" name="Freeform 119"/>
            <p:cNvSpPr>
              <a:spLocks/>
            </p:cNvSpPr>
            <p:nvPr/>
          </p:nvSpPr>
          <p:spPr bwMode="auto">
            <a:xfrm>
              <a:off x="2240" y="2452"/>
              <a:ext cx="51" cy="35"/>
            </a:xfrm>
            <a:custGeom>
              <a:avLst/>
              <a:gdLst/>
              <a:ahLst/>
              <a:cxnLst>
                <a:cxn ang="0">
                  <a:pos x="24" y="19"/>
                </a:cxn>
                <a:cxn ang="0">
                  <a:pos x="22" y="24"/>
                </a:cxn>
                <a:cxn ang="0">
                  <a:pos x="24" y="29"/>
                </a:cxn>
                <a:cxn ang="0">
                  <a:pos x="27" y="31"/>
                </a:cxn>
                <a:cxn ang="0">
                  <a:pos x="30" y="24"/>
                </a:cxn>
                <a:cxn ang="0">
                  <a:pos x="45" y="18"/>
                </a:cxn>
                <a:cxn ang="0">
                  <a:pos x="45" y="8"/>
                </a:cxn>
                <a:cxn ang="0">
                  <a:pos x="47" y="0"/>
                </a:cxn>
                <a:cxn ang="0">
                  <a:pos x="34" y="1"/>
                </a:cxn>
                <a:cxn ang="0">
                  <a:pos x="21" y="2"/>
                </a:cxn>
                <a:cxn ang="0">
                  <a:pos x="0" y="7"/>
                </a:cxn>
                <a:cxn ang="0">
                  <a:pos x="7" y="7"/>
                </a:cxn>
                <a:cxn ang="0">
                  <a:pos x="5" y="11"/>
                </a:cxn>
                <a:cxn ang="0">
                  <a:pos x="13" y="12"/>
                </a:cxn>
                <a:cxn ang="0">
                  <a:pos x="12" y="14"/>
                </a:cxn>
                <a:cxn ang="0">
                  <a:pos x="23" y="14"/>
                </a:cxn>
                <a:cxn ang="0">
                  <a:pos x="27" y="17"/>
                </a:cxn>
                <a:cxn ang="0">
                  <a:pos x="18" y="18"/>
                </a:cxn>
                <a:cxn ang="0">
                  <a:pos x="24" y="19"/>
                </a:cxn>
              </a:cxnLst>
              <a:rect l="0" t="0" r="r" b="b"/>
              <a:pathLst>
                <a:path w="47" h="31">
                  <a:moveTo>
                    <a:pt x="24" y="19"/>
                  </a:moveTo>
                  <a:lnTo>
                    <a:pt x="22" y="24"/>
                  </a:lnTo>
                  <a:lnTo>
                    <a:pt x="24" y="29"/>
                  </a:lnTo>
                  <a:lnTo>
                    <a:pt x="27" y="31"/>
                  </a:lnTo>
                  <a:lnTo>
                    <a:pt x="30" y="24"/>
                  </a:lnTo>
                  <a:lnTo>
                    <a:pt x="45" y="18"/>
                  </a:lnTo>
                  <a:lnTo>
                    <a:pt x="45" y="8"/>
                  </a:lnTo>
                  <a:lnTo>
                    <a:pt x="47" y="0"/>
                  </a:lnTo>
                  <a:lnTo>
                    <a:pt x="34" y="1"/>
                  </a:lnTo>
                  <a:lnTo>
                    <a:pt x="21" y="2"/>
                  </a:lnTo>
                  <a:lnTo>
                    <a:pt x="0" y="7"/>
                  </a:lnTo>
                  <a:lnTo>
                    <a:pt x="7" y="7"/>
                  </a:lnTo>
                  <a:lnTo>
                    <a:pt x="5" y="11"/>
                  </a:lnTo>
                  <a:lnTo>
                    <a:pt x="13" y="12"/>
                  </a:lnTo>
                  <a:lnTo>
                    <a:pt x="12" y="14"/>
                  </a:lnTo>
                  <a:lnTo>
                    <a:pt x="23" y="14"/>
                  </a:lnTo>
                  <a:lnTo>
                    <a:pt x="27" y="17"/>
                  </a:lnTo>
                  <a:lnTo>
                    <a:pt x="18" y="18"/>
                  </a:lnTo>
                  <a:lnTo>
                    <a:pt x="24"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1" name="Freeform 120"/>
            <p:cNvSpPr>
              <a:spLocks/>
            </p:cNvSpPr>
            <p:nvPr/>
          </p:nvSpPr>
          <p:spPr bwMode="auto">
            <a:xfrm>
              <a:off x="2382" y="2492"/>
              <a:ext cx="105" cy="127"/>
            </a:xfrm>
            <a:custGeom>
              <a:avLst/>
              <a:gdLst/>
              <a:ahLst/>
              <a:cxnLst>
                <a:cxn ang="0">
                  <a:pos x="53" y="7"/>
                </a:cxn>
                <a:cxn ang="0">
                  <a:pos x="47" y="5"/>
                </a:cxn>
                <a:cxn ang="0">
                  <a:pos x="36" y="7"/>
                </a:cxn>
                <a:cxn ang="0">
                  <a:pos x="33" y="0"/>
                </a:cxn>
                <a:cxn ang="0">
                  <a:pos x="27" y="4"/>
                </a:cxn>
                <a:cxn ang="0">
                  <a:pos x="20" y="8"/>
                </a:cxn>
                <a:cxn ang="0">
                  <a:pos x="11" y="6"/>
                </a:cxn>
                <a:cxn ang="0">
                  <a:pos x="7" y="10"/>
                </a:cxn>
                <a:cxn ang="0">
                  <a:pos x="6" y="23"/>
                </a:cxn>
                <a:cxn ang="0">
                  <a:pos x="8" y="26"/>
                </a:cxn>
                <a:cxn ang="0">
                  <a:pos x="9" y="30"/>
                </a:cxn>
                <a:cxn ang="0">
                  <a:pos x="11" y="36"/>
                </a:cxn>
                <a:cxn ang="0">
                  <a:pos x="11" y="41"/>
                </a:cxn>
                <a:cxn ang="0">
                  <a:pos x="3" y="42"/>
                </a:cxn>
                <a:cxn ang="0">
                  <a:pos x="6" y="49"/>
                </a:cxn>
                <a:cxn ang="0">
                  <a:pos x="1" y="55"/>
                </a:cxn>
                <a:cxn ang="0">
                  <a:pos x="0" y="56"/>
                </a:cxn>
                <a:cxn ang="0">
                  <a:pos x="0" y="72"/>
                </a:cxn>
                <a:cxn ang="0">
                  <a:pos x="0" y="76"/>
                </a:cxn>
                <a:cxn ang="0">
                  <a:pos x="9" y="84"/>
                </a:cxn>
                <a:cxn ang="0">
                  <a:pos x="17" y="92"/>
                </a:cxn>
                <a:cxn ang="0">
                  <a:pos x="14" y="114"/>
                </a:cxn>
                <a:cxn ang="0">
                  <a:pos x="35" y="107"/>
                </a:cxn>
                <a:cxn ang="0">
                  <a:pos x="54" y="100"/>
                </a:cxn>
                <a:cxn ang="0">
                  <a:pos x="49" y="100"/>
                </a:cxn>
                <a:cxn ang="0">
                  <a:pos x="69" y="98"/>
                </a:cxn>
                <a:cxn ang="0">
                  <a:pos x="60" y="98"/>
                </a:cxn>
                <a:cxn ang="0">
                  <a:pos x="72" y="97"/>
                </a:cxn>
                <a:cxn ang="0">
                  <a:pos x="81" y="98"/>
                </a:cxn>
                <a:cxn ang="0">
                  <a:pos x="84" y="101"/>
                </a:cxn>
                <a:cxn ang="0">
                  <a:pos x="89" y="97"/>
                </a:cxn>
                <a:cxn ang="0">
                  <a:pos x="86" y="83"/>
                </a:cxn>
                <a:cxn ang="0">
                  <a:pos x="83" y="70"/>
                </a:cxn>
                <a:cxn ang="0">
                  <a:pos x="89" y="58"/>
                </a:cxn>
                <a:cxn ang="0">
                  <a:pos x="93" y="44"/>
                </a:cxn>
                <a:cxn ang="0">
                  <a:pos x="91" y="22"/>
                </a:cxn>
                <a:cxn ang="0">
                  <a:pos x="77" y="13"/>
                </a:cxn>
                <a:cxn ang="0">
                  <a:pos x="62" y="18"/>
                </a:cxn>
                <a:cxn ang="0">
                  <a:pos x="53" y="7"/>
                </a:cxn>
              </a:cxnLst>
              <a:rect l="0" t="0" r="r" b="b"/>
              <a:pathLst>
                <a:path w="93" h="114">
                  <a:moveTo>
                    <a:pt x="53" y="7"/>
                  </a:moveTo>
                  <a:lnTo>
                    <a:pt x="47" y="5"/>
                  </a:lnTo>
                  <a:lnTo>
                    <a:pt x="36" y="7"/>
                  </a:lnTo>
                  <a:lnTo>
                    <a:pt x="33" y="0"/>
                  </a:lnTo>
                  <a:lnTo>
                    <a:pt x="27" y="4"/>
                  </a:lnTo>
                  <a:lnTo>
                    <a:pt x="20" y="8"/>
                  </a:lnTo>
                  <a:lnTo>
                    <a:pt x="11" y="6"/>
                  </a:lnTo>
                  <a:lnTo>
                    <a:pt x="7" y="10"/>
                  </a:lnTo>
                  <a:lnTo>
                    <a:pt x="6" y="23"/>
                  </a:lnTo>
                  <a:lnTo>
                    <a:pt x="8" y="26"/>
                  </a:lnTo>
                  <a:lnTo>
                    <a:pt x="9" y="30"/>
                  </a:lnTo>
                  <a:lnTo>
                    <a:pt x="11" y="36"/>
                  </a:lnTo>
                  <a:lnTo>
                    <a:pt x="11" y="41"/>
                  </a:lnTo>
                  <a:lnTo>
                    <a:pt x="3" y="42"/>
                  </a:lnTo>
                  <a:lnTo>
                    <a:pt x="6" y="49"/>
                  </a:lnTo>
                  <a:lnTo>
                    <a:pt x="1" y="55"/>
                  </a:lnTo>
                  <a:lnTo>
                    <a:pt x="0" y="56"/>
                  </a:lnTo>
                  <a:lnTo>
                    <a:pt x="0" y="72"/>
                  </a:lnTo>
                  <a:lnTo>
                    <a:pt x="0" y="76"/>
                  </a:lnTo>
                  <a:lnTo>
                    <a:pt x="9" y="84"/>
                  </a:lnTo>
                  <a:lnTo>
                    <a:pt x="17" y="92"/>
                  </a:lnTo>
                  <a:lnTo>
                    <a:pt x="14" y="114"/>
                  </a:lnTo>
                  <a:lnTo>
                    <a:pt x="35" y="107"/>
                  </a:lnTo>
                  <a:lnTo>
                    <a:pt x="54" y="100"/>
                  </a:lnTo>
                  <a:lnTo>
                    <a:pt x="49" y="100"/>
                  </a:lnTo>
                  <a:lnTo>
                    <a:pt x="69" y="98"/>
                  </a:lnTo>
                  <a:lnTo>
                    <a:pt x="60" y="98"/>
                  </a:lnTo>
                  <a:lnTo>
                    <a:pt x="72" y="97"/>
                  </a:lnTo>
                  <a:lnTo>
                    <a:pt x="81" y="98"/>
                  </a:lnTo>
                  <a:lnTo>
                    <a:pt x="84" y="101"/>
                  </a:lnTo>
                  <a:lnTo>
                    <a:pt x="89" y="97"/>
                  </a:lnTo>
                  <a:lnTo>
                    <a:pt x="86" y="83"/>
                  </a:lnTo>
                  <a:lnTo>
                    <a:pt x="83" y="70"/>
                  </a:lnTo>
                  <a:lnTo>
                    <a:pt x="89" y="58"/>
                  </a:lnTo>
                  <a:lnTo>
                    <a:pt x="93" y="44"/>
                  </a:lnTo>
                  <a:lnTo>
                    <a:pt x="91" y="22"/>
                  </a:lnTo>
                  <a:lnTo>
                    <a:pt x="77" y="13"/>
                  </a:lnTo>
                  <a:lnTo>
                    <a:pt x="62" y="18"/>
                  </a:lnTo>
                  <a:lnTo>
                    <a:pt x="53"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2" name="Freeform 121"/>
            <p:cNvSpPr>
              <a:spLocks/>
            </p:cNvSpPr>
            <p:nvPr/>
          </p:nvSpPr>
          <p:spPr bwMode="auto">
            <a:xfrm>
              <a:off x="2298" y="2505"/>
              <a:ext cx="53" cy="62"/>
            </a:xfrm>
            <a:custGeom>
              <a:avLst/>
              <a:gdLst/>
              <a:ahLst/>
              <a:cxnLst>
                <a:cxn ang="0">
                  <a:pos x="48" y="28"/>
                </a:cxn>
                <a:cxn ang="0">
                  <a:pos x="41" y="38"/>
                </a:cxn>
                <a:cxn ang="0">
                  <a:pos x="34" y="49"/>
                </a:cxn>
                <a:cxn ang="0">
                  <a:pos x="29" y="55"/>
                </a:cxn>
                <a:cxn ang="0">
                  <a:pos x="12" y="47"/>
                </a:cxn>
                <a:cxn ang="0">
                  <a:pos x="16" y="44"/>
                </a:cxn>
                <a:cxn ang="0">
                  <a:pos x="12" y="42"/>
                </a:cxn>
                <a:cxn ang="0">
                  <a:pos x="1" y="30"/>
                </a:cxn>
                <a:cxn ang="0">
                  <a:pos x="6" y="26"/>
                </a:cxn>
                <a:cxn ang="0">
                  <a:pos x="1" y="24"/>
                </a:cxn>
                <a:cxn ang="0">
                  <a:pos x="5" y="22"/>
                </a:cxn>
                <a:cxn ang="0">
                  <a:pos x="0" y="18"/>
                </a:cxn>
                <a:cxn ang="0">
                  <a:pos x="12" y="6"/>
                </a:cxn>
                <a:cxn ang="0">
                  <a:pos x="34" y="0"/>
                </a:cxn>
                <a:cxn ang="0">
                  <a:pos x="43" y="17"/>
                </a:cxn>
                <a:cxn ang="0">
                  <a:pos x="42" y="29"/>
                </a:cxn>
                <a:cxn ang="0">
                  <a:pos x="48" y="28"/>
                </a:cxn>
              </a:cxnLst>
              <a:rect l="0" t="0" r="r" b="b"/>
              <a:pathLst>
                <a:path w="48" h="55">
                  <a:moveTo>
                    <a:pt x="48" y="28"/>
                  </a:moveTo>
                  <a:lnTo>
                    <a:pt x="41" y="38"/>
                  </a:lnTo>
                  <a:lnTo>
                    <a:pt x="34" y="49"/>
                  </a:lnTo>
                  <a:lnTo>
                    <a:pt x="29" y="55"/>
                  </a:lnTo>
                  <a:lnTo>
                    <a:pt x="12" y="47"/>
                  </a:lnTo>
                  <a:lnTo>
                    <a:pt x="16" y="44"/>
                  </a:lnTo>
                  <a:lnTo>
                    <a:pt x="12" y="42"/>
                  </a:lnTo>
                  <a:lnTo>
                    <a:pt x="1" y="30"/>
                  </a:lnTo>
                  <a:lnTo>
                    <a:pt x="6" y="26"/>
                  </a:lnTo>
                  <a:lnTo>
                    <a:pt x="1" y="24"/>
                  </a:lnTo>
                  <a:lnTo>
                    <a:pt x="5" y="22"/>
                  </a:lnTo>
                  <a:lnTo>
                    <a:pt x="0" y="18"/>
                  </a:lnTo>
                  <a:lnTo>
                    <a:pt x="12" y="6"/>
                  </a:lnTo>
                  <a:lnTo>
                    <a:pt x="34" y="0"/>
                  </a:lnTo>
                  <a:lnTo>
                    <a:pt x="43" y="17"/>
                  </a:lnTo>
                  <a:lnTo>
                    <a:pt x="42" y="29"/>
                  </a:lnTo>
                  <a:lnTo>
                    <a:pt x="48"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3" name="Freeform 122"/>
            <p:cNvSpPr>
              <a:spLocks/>
            </p:cNvSpPr>
            <p:nvPr/>
          </p:nvSpPr>
          <p:spPr bwMode="auto">
            <a:xfrm>
              <a:off x="2529" y="2483"/>
              <a:ext cx="31" cy="100"/>
            </a:xfrm>
            <a:custGeom>
              <a:avLst/>
              <a:gdLst/>
              <a:ahLst/>
              <a:cxnLst>
                <a:cxn ang="0">
                  <a:pos x="13" y="2"/>
                </a:cxn>
                <a:cxn ang="0">
                  <a:pos x="0" y="0"/>
                </a:cxn>
                <a:cxn ang="0">
                  <a:pos x="2" y="6"/>
                </a:cxn>
                <a:cxn ang="0">
                  <a:pos x="8" y="21"/>
                </a:cxn>
                <a:cxn ang="0">
                  <a:pos x="8" y="30"/>
                </a:cxn>
                <a:cxn ang="0">
                  <a:pos x="9" y="42"/>
                </a:cxn>
                <a:cxn ang="0">
                  <a:pos x="12" y="54"/>
                </a:cxn>
                <a:cxn ang="0">
                  <a:pos x="13" y="68"/>
                </a:cxn>
                <a:cxn ang="0">
                  <a:pos x="13" y="81"/>
                </a:cxn>
                <a:cxn ang="0">
                  <a:pos x="21" y="91"/>
                </a:cxn>
                <a:cxn ang="0">
                  <a:pos x="28" y="88"/>
                </a:cxn>
                <a:cxn ang="0">
                  <a:pos x="27" y="75"/>
                </a:cxn>
                <a:cxn ang="0">
                  <a:pos x="27" y="62"/>
                </a:cxn>
                <a:cxn ang="0">
                  <a:pos x="26" y="48"/>
                </a:cxn>
                <a:cxn ang="0">
                  <a:pos x="26" y="34"/>
                </a:cxn>
                <a:cxn ang="0">
                  <a:pos x="24" y="20"/>
                </a:cxn>
                <a:cxn ang="0">
                  <a:pos x="15" y="10"/>
                </a:cxn>
                <a:cxn ang="0">
                  <a:pos x="16" y="2"/>
                </a:cxn>
                <a:cxn ang="0">
                  <a:pos x="13" y="2"/>
                </a:cxn>
              </a:cxnLst>
              <a:rect l="0" t="0" r="r" b="b"/>
              <a:pathLst>
                <a:path w="28" h="91">
                  <a:moveTo>
                    <a:pt x="13" y="2"/>
                  </a:moveTo>
                  <a:lnTo>
                    <a:pt x="0" y="0"/>
                  </a:lnTo>
                  <a:lnTo>
                    <a:pt x="2" y="6"/>
                  </a:lnTo>
                  <a:lnTo>
                    <a:pt x="8" y="21"/>
                  </a:lnTo>
                  <a:lnTo>
                    <a:pt x="8" y="30"/>
                  </a:lnTo>
                  <a:lnTo>
                    <a:pt x="9" y="42"/>
                  </a:lnTo>
                  <a:lnTo>
                    <a:pt x="12" y="54"/>
                  </a:lnTo>
                  <a:lnTo>
                    <a:pt x="13" y="68"/>
                  </a:lnTo>
                  <a:lnTo>
                    <a:pt x="13" y="81"/>
                  </a:lnTo>
                  <a:lnTo>
                    <a:pt x="21" y="91"/>
                  </a:lnTo>
                  <a:lnTo>
                    <a:pt x="28" y="88"/>
                  </a:lnTo>
                  <a:lnTo>
                    <a:pt x="27" y="75"/>
                  </a:lnTo>
                  <a:lnTo>
                    <a:pt x="27" y="62"/>
                  </a:lnTo>
                  <a:lnTo>
                    <a:pt x="26" y="48"/>
                  </a:lnTo>
                  <a:lnTo>
                    <a:pt x="26" y="34"/>
                  </a:lnTo>
                  <a:lnTo>
                    <a:pt x="24" y="20"/>
                  </a:lnTo>
                  <a:lnTo>
                    <a:pt x="15" y="10"/>
                  </a:lnTo>
                  <a:lnTo>
                    <a:pt x="16" y="2"/>
                  </a:lnTo>
                  <a:lnTo>
                    <a:pt x="1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4" name="Freeform 123"/>
            <p:cNvSpPr>
              <a:spLocks/>
            </p:cNvSpPr>
            <p:nvPr/>
          </p:nvSpPr>
          <p:spPr bwMode="auto">
            <a:xfrm>
              <a:off x="2382" y="1970"/>
              <a:ext cx="356" cy="353"/>
            </a:xfrm>
            <a:custGeom>
              <a:avLst/>
              <a:gdLst/>
              <a:ahLst/>
              <a:cxnLst>
                <a:cxn ang="0">
                  <a:pos x="0" y="165"/>
                </a:cxn>
                <a:cxn ang="0">
                  <a:pos x="15" y="182"/>
                </a:cxn>
                <a:cxn ang="0">
                  <a:pos x="44" y="202"/>
                </a:cxn>
                <a:cxn ang="0">
                  <a:pos x="71" y="222"/>
                </a:cxn>
                <a:cxn ang="0">
                  <a:pos x="93" y="240"/>
                </a:cxn>
                <a:cxn ang="0">
                  <a:pos x="116" y="256"/>
                </a:cxn>
                <a:cxn ang="0">
                  <a:pos x="140" y="274"/>
                </a:cxn>
                <a:cxn ang="0">
                  <a:pos x="151" y="289"/>
                </a:cxn>
                <a:cxn ang="0">
                  <a:pos x="181" y="304"/>
                </a:cxn>
                <a:cxn ang="0">
                  <a:pos x="199" y="318"/>
                </a:cxn>
                <a:cxn ang="0">
                  <a:pos x="224" y="313"/>
                </a:cxn>
                <a:cxn ang="0">
                  <a:pos x="249" y="288"/>
                </a:cxn>
                <a:cxn ang="0">
                  <a:pos x="284" y="264"/>
                </a:cxn>
                <a:cxn ang="0">
                  <a:pos x="319" y="240"/>
                </a:cxn>
                <a:cxn ang="0">
                  <a:pos x="294" y="223"/>
                </a:cxn>
                <a:cxn ang="0">
                  <a:pos x="278" y="193"/>
                </a:cxn>
                <a:cxn ang="0">
                  <a:pos x="284" y="165"/>
                </a:cxn>
                <a:cxn ang="0">
                  <a:pos x="277" y="123"/>
                </a:cxn>
                <a:cxn ang="0">
                  <a:pos x="275" y="103"/>
                </a:cxn>
                <a:cxn ang="0">
                  <a:pos x="258" y="73"/>
                </a:cxn>
                <a:cxn ang="0">
                  <a:pos x="253" y="42"/>
                </a:cxn>
                <a:cxn ang="0">
                  <a:pos x="258" y="4"/>
                </a:cxn>
                <a:cxn ang="0">
                  <a:pos x="237" y="0"/>
                </a:cxn>
                <a:cxn ang="0">
                  <a:pos x="209" y="2"/>
                </a:cxn>
                <a:cxn ang="0">
                  <a:pos x="175" y="2"/>
                </a:cxn>
                <a:cxn ang="0">
                  <a:pos x="137" y="14"/>
                </a:cxn>
                <a:cxn ang="0">
                  <a:pos x="114" y="25"/>
                </a:cxn>
                <a:cxn ang="0">
                  <a:pos x="104" y="36"/>
                </a:cxn>
                <a:cxn ang="0">
                  <a:pos x="108" y="62"/>
                </a:cxn>
                <a:cxn ang="0">
                  <a:pos x="114" y="84"/>
                </a:cxn>
                <a:cxn ang="0">
                  <a:pos x="78" y="92"/>
                </a:cxn>
                <a:cxn ang="0">
                  <a:pos x="67" y="111"/>
                </a:cxn>
                <a:cxn ang="0">
                  <a:pos x="42" y="124"/>
                </a:cxn>
                <a:cxn ang="0">
                  <a:pos x="17" y="138"/>
                </a:cxn>
              </a:cxnLst>
              <a:rect l="0" t="0" r="r" b="b"/>
              <a:pathLst>
                <a:path w="319" h="318">
                  <a:moveTo>
                    <a:pt x="3" y="144"/>
                  </a:moveTo>
                  <a:lnTo>
                    <a:pt x="0" y="165"/>
                  </a:lnTo>
                  <a:lnTo>
                    <a:pt x="0" y="172"/>
                  </a:lnTo>
                  <a:lnTo>
                    <a:pt x="15" y="182"/>
                  </a:lnTo>
                  <a:lnTo>
                    <a:pt x="30" y="193"/>
                  </a:lnTo>
                  <a:lnTo>
                    <a:pt x="44" y="202"/>
                  </a:lnTo>
                  <a:lnTo>
                    <a:pt x="59" y="213"/>
                  </a:lnTo>
                  <a:lnTo>
                    <a:pt x="71" y="222"/>
                  </a:lnTo>
                  <a:lnTo>
                    <a:pt x="81" y="230"/>
                  </a:lnTo>
                  <a:lnTo>
                    <a:pt x="93" y="240"/>
                  </a:lnTo>
                  <a:lnTo>
                    <a:pt x="105" y="248"/>
                  </a:lnTo>
                  <a:lnTo>
                    <a:pt x="116" y="256"/>
                  </a:lnTo>
                  <a:lnTo>
                    <a:pt x="128" y="266"/>
                  </a:lnTo>
                  <a:lnTo>
                    <a:pt x="140" y="274"/>
                  </a:lnTo>
                  <a:lnTo>
                    <a:pt x="151" y="283"/>
                  </a:lnTo>
                  <a:lnTo>
                    <a:pt x="151" y="289"/>
                  </a:lnTo>
                  <a:lnTo>
                    <a:pt x="159" y="295"/>
                  </a:lnTo>
                  <a:lnTo>
                    <a:pt x="181" y="304"/>
                  </a:lnTo>
                  <a:lnTo>
                    <a:pt x="182" y="318"/>
                  </a:lnTo>
                  <a:lnTo>
                    <a:pt x="199" y="318"/>
                  </a:lnTo>
                  <a:lnTo>
                    <a:pt x="212" y="315"/>
                  </a:lnTo>
                  <a:lnTo>
                    <a:pt x="224" y="313"/>
                  </a:lnTo>
                  <a:lnTo>
                    <a:pt x="236" y="300"/>
                  </a:lnTo>
                  <a:lnTo>
                    <a:pt x="249" y="288"/>
                  </a:lnTo>
                  <a:lnTo>
                    <a:pt x="266" y="276"/>
                  </a:lnTo>
                  <a:lnTo>
                    <a:pt x="284" y="264"/>
                  </a:lnTo>
                  <a:lnTo>
                    <a:pt x="301" y="252"/>
                  </a:lnTo>
                  <a:lnTo>
                    <a:pt x="319" y="240"/>
                  </a:lnTo>
                  <a:lnTo>
                    <a:pt x="312" y="225"/>
                  </a:lnTo>
                  <a:lnTo>
                    <a:pt x="294" y="223"/>
                  </a:lnTo>
                  <a:lnTo>
                    <a:pt x="288" y="207"/>
                  </a:lnTo>
                  <a:lnTo>
                    <a:pt x="278" y="193"/>
                  </a:lnTo>
                  <a:lnTo>
                    <a:pt x="285" y="186"/>
                  </a:lnTo>
                  <a:lnTo>
                    <a:pt x="284" y="165"/>
                  </a:lnTo>
                  <a:lnTo>
                    <a:pt x="284" y="145"/>
                  </a:lnTo>
                  <a:lnTo>
                    <a:pt x="277" y="123"/>
                  </a:lnTo>
                  <a:lnTo>
                    <a:pt x="278" y="120"/>
                  </a:lnTo>
                  <a:lnTo>
                    <a:pt x="275" y="103"/>
                  </a:lnTo>
                  <a:lnTo>
                    <a:pt x="270" y="86"/>
                  </a:lnTo>
                  <a:lnTo>
                    <a:pt x="258" y="73"/>
                  </a:lnTo>
                  <a:lnTo>
                    <a:pt x="246" y="55"/>
                  </a:lnTo>
                  <a:lnTo>
                    <a:pt x="253" y="42"/>
                  </a:lnTo>
                  <a:lnTo>
                    <a:pt x="259" y="28"/>
                  </a:lnTo>
                  <a:lnTo>
                    <a:pt x="258" y="4"/>
                  </a:lnTo>
                  <a:lnTo>
                    <a:pt x="261" y="0"/>
                  </a:lnTo>
                  <a:lnTo>
                    <a:pt x="237" y="0"/>
                  </a:lnTo>
                  <a:lnTo>
                    <a:pt x="225" y="0"/>
                  </a:lnTo>
                  <a:lnTo>
                    <a:pt x="209" y="2"/>
                  </a:lnTo>
                  <a:lnTo>
                    <a:pt x="192" y="2"/>
                  </a:lnTo>
                  <a:lnTo>
                    <a:pt x="175" y="2"/>
                  </a:lnTo>
                  <a:lnTo>
                    <a:pt x="156" y="8"/>
                  </a:lnTo>
                  <a:lnTo>
                    <a:pt x="137" y="14"/>
                  </a:lnTo>
                  <a:lnTo>
                    <a:pt x="128" y="18"/>
                  </a:lnTo>
                  <a:lnTo>
                    <a:pt x="114" y="25"/>
                  </a:lnTo>
                  <a:lnTo>
                    <a:pt x="101" y="32"/>
                  </a:lnTo>
                  <a:lnTo>
                    <a:pt x="104" y="36"/>
                  </a:lnTo>
                  <a:lnTo>
                    <a:pt x="105" y="49"/>
                  </a:lnTo>
                  <a:lnTo>
                    <a:pt x="108" y="62"/>
                  </a:lnTo>
                  <a:lnTo>
                    <a:pt x="117" y="79"/>
                  </a:lnTo>
                  <a:lnTo>
                    <a:pt x="114" y="84"/>
                  </a:lnTo>
                  <a:lnTo>
                    <a:pt x="98" y="85"/>
                  </a:lnTo>
                  <a:lnTo>
                    <a:pt x="78" y="92"/>
                  </a:lnTo>
                  <a:lnTo>
                    <a:pt x="78" y="103"/>
                  </a:lnTo>
                  <a:lnTo>
                    <a:pt x="67" y="111"/>
                  </a:lnTo>
                  <a:lnTo>
                    <a:pt x="56" y="118"/>
                  </a:lnTo>
                  <a:lnTo>
                    <a:pt x="42" y="124"/>
                  </a:lnTo>
                  <a:lnTo>
                    <a:pt x="29" y="130"/>
                  </a:lnTo>
                  <a:lnTo>
                    <a:pt x="17" y="138"/>
                  </a:lnTo>
                  <a:lnTo>
                    <a:pt x="3" y="1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5" name="Freeform 124"/>
            <p:cNvSpPr>
              <a:spLocks/>
            </p:cNvSpPr>
            <p:nvPr/>
          </p:nvSpPr>
          <p:spPr bwMode="auto">
            <a:xfrm>
              <a:off x="2289" y="2130"/>
              <a:ext cx="11" cy="11"/>
            </a:xfrm>
            <a:custGeom>
              <a:avLst/>
              <a:gdLst/>
              <a:ahLst/>
              <a:cxnLst>
                <a:cxn ang="0">
                  <a:pos x="9" y="0"/>
                </a:cxn>
                <a:cxn ang="0">
                  <a:pos x="8" y="7"/>
                </a:cxn>
                <a:cxn ang="0">
                  <a:pos x="0" y="9"/>
                </a:cxn>
                <a:cxn ang="0">
                  <a:pos x="9" y="0"/>
                </a:cxn>
              </a:cxnLst>
              <a:rect l="0" t="0" r="r" b="b"/>
              <a:pathLst>
                <a:path w="9" h="9">
                  <a:moveTo>
                    <a:pt x="9" y="0"/>
                  </a:moveTo>
                  <a:lnTo>
                    <a:pt x="8" y="7"/>
                  </a:lnTo>
                  <a:lnTo>
                    <a:pt x="0" y="9"/>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6" name="Freeform 125"/>
            <p:cNvSpPr>
              <a:spLocks/>
            </p:cNvSpPr>
            <p:nvPr/>
          </p:nvSpPr>
          <p:spPr bwMode="auto">
            <a:xfrm>
              <a:off x="2247" y="2136"/>
              <a:ext cx="9" cy="9"/>
            </a:xfrm>
            <a:custGeom>
              <a:avLst/>
              <a:gdLst/>
              <a:ahLst/>
              <a:cxnLst>
                <a:cxn ang="0">
                  <a:pos x="8" y="0"/>
                </a:cxn>
                <a:cxn ang="0">
                  <a:pos x="0" y="7"/>
                </a:cxn>
                <a:cxn ang="0">
                  <a:pos x="0" y="1"/>
                </a:cxn>
                <a:cxn ang="0">
                  <a:pos x="8" y="0"/>
                </a:cxn>
              </a:cxnLst>
              <a:rect l="0" t="0" r="r" b="b"/>
              <a:pathLst>
                <a:path w="8" h="7">
                  <a:moveTo>
                    <a:pt x="8" y="0"/>
                  </a:moveTo>
                  <a:lnTo>
                    <a:pt x="0" y="7"/>
                  </a:lnTo>
                  <a:lnTo>
                    <a:pt x="0" y="1"/>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7" name="Freeform 126"/>
            <p:cNvSpPr>
              <a:spLocks/>
            </p:cNvSpPr>
            <p:nvPr/>
          </p:nvSpPr>
          <p:spPr bwMode="auto">
            <a:xfrm>
              <a:off x="2262" y="2147"/>
              <a:ext cx="7" cy="3"/>
            </a:xfrm>
            <a:custGeom>
              <a:avLst/>
              <a:gdLst/>
              <a:ahLst/>
              <a:cxnLst>
                <a:cxn ang="0">
                  <a:pos x="6" y="0"/>
                </a:cxn>
                <a:cxn ang="0">
                  <a:pos x="5" y="4"/>
                </a:cxn>
                <a:cxn ang="0">
                  <a:pos x="0" y="0"/>
                </a:cxn>
                <a:cxn ang="0">
                  <a:pos x="6" y="0"/>
                </a:cxn>
              </a:cxnLst>
              <a:rect l="0" t="0" r="r" b="b"/>
              <a:pathLst>
                <a:path w="6" h="4">
                  <a:moveTo>
                    <a:pt x="6" y="0"/>
                  </a:moveTo>
                  <a:lnTo>
                    <a:pt x="5" y="4"/>
                  </a:lnTo>
                  <a:lnTo>
                    <a:pt x="0" y="0"/>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8" name="Freeform 127"/>
            <p:cNvSpPr>
              <a:spLocks/>
            </p:cNvSpPr>
            <p:nvPr/>
          </p:nvSpPr>
          <p:spPr bwMode="auto">
            <a:xfrm>
              <a:off x="2300" y="2121"/>
              <a:ext cx="7" cy="2"/>
            </a:xfrm>
            <a:custGeom>
              <a:avLst/>
              <a:gdLst/>
              <a:ahLst/>
              <a:cxnLst>
                <a:cxn ang="0">
                  <a:pos x="4" y="3"/>
                </a:cxn>
                <a:cxn ang="0">
                  <a:pos x="6" y="0"/>
                </a:cxn>
                <a:cxn ang="0">
                  <a:pos x="0" y="3"/>
                </a:cxn>
                <a:cxn ang="0">
                  <a:pos x="4" y="3"/>
                </a:cxn>
              </a:cxnLst>
              <a:rect l="0" t="0" r="r" b="b"/>
              <a:pathLst>
                <a:path w="6" h="3">
                  <a:moveTo>
                    <a:pt x="4" y="3"/>
                  </a:moveTo>
                  <a:lnTo>
                    <a:pt x="6" y="0"/>
                  </a:lnTo>
                  <a:lnTo>
                    <a:pt x="0" y="3"/>
                  </a:lnTo>
                  <a:lnTo>
                    <a:pt x="4"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9" name="Freeform 128"/>
            <p:cNvSpPr>
              <a:spLocks/>
            </p:cNvSpPr>
            <p:nvPr/>
          </p:nvSpPr>
          <p:spPr bwMode="auto">
            <a:xfrm>
              <a:off x="2109" y="2374"/>
              <a:ext cx="4" cy="2"/>
            </a:xfrm>
            <a:custGeom>
              <a:avLst/>
              <a:gdLst/>
              <a:ahLst/>
              <a:cxnLst>
                <a:cxn ang="0">
                  <a:pos x="3" y="1"/>
                </a:cxn>
                <a:cxn ang="0">
                  <a:pos x="1" y="1"/>
                </a:cxn>
                <a:cxn ang="0">
                  <a:pos x="0" y="0"/>
                </a:cxn>
                <a:cxn ang="0">
                  <a:pos x="3" y="1"/>
                </a:cxn>
              </a:cxnLst>
              <a:rect l="0" t="0" r="r" b="b"/>
              <a:pathLst>
                <a:path w="3" h="1">
                  <a:moveTo>
                    <a:pt x="3" y="1"/>
                  </a:moveTo>
                  <a:lnTo>
                    <a:pt x="1" y="1"/>
                  </a:lnTo>
                  <a:lnTo>
                    <a:pt x="0" y="0"/>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0" name="Rectangle 129"/>
            <p:cNvSpPr>
              <a:spLocks noChangeArrowheads="1"/>
            </p:cNvSpPr>
            <p:nvPr/>
          </p:nvSpPr>
          <p:spPr bwMode="auto">
            <a:xfrm>
              <a:off x="2442" y="1983"/>
              <a:ext cx="0" cy="2"/>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131" name="Freeform 130"/>
            <p:cNvSpPr>
              <a:spLocks/>
            </p:cNvSpPr>
            <p:nvPr/>
          </p:nvSpPr>
          <p:spPr bwMode="auto">
            <a:xfrm>
              <a:off x="2691" y="2043"/>
              <a:ext cx="273" cy="273"/>
            </a:xfrm>
            <a:custGeom>
              <a:avLst/>
              <a:gdLst/>
              <a:ahLst/>
              <a:cxnLst>
                <a:cxn ang="0">
                  <a:pos x="230" y="245"/>
                </a:cxn>
                <a:cxn ang="0">
                  <a:pos x="230" y="236"/>
                </a:cxn>
                <a:cxn ang="0">
                  <a:pos x="246" y="236"/>
                </a:cxn>
                <a:cxn ang="0">
                  <a:pos x="245" y="218"/>
                </a:cxn>
                <a:cxn ang="0">
                  <a:pos x="245" y="200"/>
                </a:cxn>
                <a:cxn ang="0">
                  <a:pos x="244" y="183"/>
                </a:cxn>
                <a:cxn ang="0">
                  <a:pos x="242" y="167"/>
                </a:cxn>
                <a:cxn ang="0">
                  <a:pos x="241" y="150"/>
                </a:cxn>
                <a:cxn ang="0">
                  <a:pos x="240" y="133"/>
                </a:cxn>
                <a:cxn ang="0">
                  <a:pos x="239" y="116"/>
                </a:cxn>
                <a:cxn ang="0">
                  <a:pos x="238" y="99"/>
                </a:cxn>
                <a:cxn ang="0">
                  <a:pos x="236" y="83"/>
                </a:cxn>
                <a:cxn ang="0">
                  <a:pos x="235" y="65"/>
                </a:cxn>
                <a:cxn ang="0">
                  <a:pos x="235" y="51"/>
                </a:cxn>
                <a:cxn ang="0">
                  <a:pos x="234" y="38"/>
                </a:cxn>
                <a:cxn ang="0">
                  <a:pos x="236" y="26"/>
                </a:cxn>
                <a:cxn ang="0">
                  <a:pos x="228" y="20"/>
                </a:cxn>
                <a:cxn ang="0">
                  <a:pos x="205" y="14"/>
                </a:cxn>
                <a:cxn ang="0">
                  <a:pos x="202" y="8"/>
                </a:cxn>
                <a:cxn ang="0">
                  <a:pos x="182" y="3"/>
                </a:cxn>
                <a:cxn ang="0">
                  <a:pos x="170" y="11"/>
                </a:cxn>
                <a:cxn ang="0">
                  <a:pos x="160" y="18"/>
                </a:cxn>
                <a:cxn ang="0">
                  <a:pos x="161" y="42"/>
                </a:cxn>
                <a:cxn ang="0">
                  <a:pos x="145" y="51"/>
                </a:cxn>
                <a:cxn ang="0">
                  <a:pos x="127" y="43"/>
                </a:cxn>
                <a:cxn ang="0">
                  <a:pos x="110" y="35"/>
                </a:cxn>
                <a:cxn ang="0">
                  <a:pos x="92" y="30"/>
                </a:cxn>
                <a:cxn ang="0">
                  <a:pos x="85" y="13"/>
                </a:cxn>
                <a:cxn ang="0">
                  <a:pos x="68" y="9"/>
                </a:cxn>
                <a:cxn ang="0">
                  <a:pos x="52" y="5"/>
                </a:cxn>
                <a:cxn ang="0">
                  <a:pos x="30" y="0"/>
                </a:cxn>
                <a:cxn ang="0">
                  <a:pos x="29" y="14"/>
                </a:cxn>
                <a:cxn ang="0">
                  <a:pos x="19" y="23"/>
                </a:cxn>
                <a:cxn ang="0">
                  <a:pos x="10" y="31"/>
                </a:cxn>
                <a:cxn ang="0">
                  <a:pos x="10" y="45"/>
                </a:cxn>
                <a:cxn ang="0">
                  <a:pos x="1" y="53"/>
                </a:cxn>
                <a:cxn ang="0">
                  <a:pos x="0" y="56"/>
                </a:cxn>
                <a:cxn ang="0">
                  <a:pos x="7" y="78"/>
                </a:cxn>
                <a:cxn ang="0">
                  <a:pos x="7" y="98"/>
                </a:cxn>
                <a:cxn ang="0">
                  <a:pos x="8" y="119"/>
                </a:cxn>
                <a:cxn ang="0">
                  <a:pos x="1" y="126"/>
                </a:cxn>
                <a:cxn ang="0">
                  <a:pos x="11" y="140"/>
                </a:cxn>
                <a:cxn ang="0">
                  <a:pos x="17" y="156"/>
                </a:cxn>
                <a:cxn ang="0">
                  <a:pos x="35" y="158"/>
                </a:cxn>
                <a:cxn ang="0">
                  <a:pos x="42" y="173"/>
                </a:cxn>
                <a:cxn ang="0">
                  <a:pos x="64" y="179"/>
                </a:cxn>
                <a:cxn ang="0">
                  <a:pos x="77" y="189"/>
                </a:cxn>
                <a:cxn ang="0">
                  <a:pos x="88" y="182"/>
                </a:cxn>
                <a:cxn ang="0">
                  <a:pos x="104" y="173"/>
                </a:cxn>
                <a:cxn ang="0">
                  <a:pos x="120" y="182"/>
                </a:cxn>
                <a:cxn ang="0">
                  <a:pos x="136" y="191"/>
                </a:cxn>
                <a:cxn ang="0">
                  <a:pos x="151" y="200"/>
                </a:cxn>
                <a:cxn ang="0">
                  <a:pos x="167" y="209"/>
                </a:cxn>
                <a:cxn ang="0">
                  <a:pos x="182" y="218"/>
                </a:cxn>
                <a:cxn ang="0">
                  <a:pos x="199" y="227"/>
                </a:cxn>
                <a:cxn ang="0">
                  <a:pos x="215" y="236"/>
                </a:cxn>
                <a:cxn ang="0">
                  <a:pos x="230" y="245"/>
                </a:cxn>
              </a:cxnLst>
              <a:rect l="0" t="0" r="r" b="b"/>
              <a:pathLst>
                <a:path w="246" h="245">
                  <a:moveTo>
                    <a:pt x="230" y="245"/>
                  </a:moveTo>
                  <a:lnTo>
                    <a:pt x="230" y="236"/>
                  </a:lnTo>
                  <a:lnTo>
                    <a:pt x="246" y="236"/>
                  </a:lnTo>
                  <a:lnTo>
                    <a:pt x="245" y="218"/>
                  </a:lnTo>
                  <a:lnTo>
                    <a:pt x="245" y="200"/>
                  </a:lnTo>
                  <a:lnTo>
                    <a:pt x="244" y="183"/>
                  </a:lnTo>
                  <a:lnTo>
                    <a:pt x="242" y="167"/>
                  </a:lnTo>
                  <a:lnTo>
                    <a:pt x="241" y="150"/>
                  </a:lnTo>
                  <a:lnTo>
                    <a:pt x="240" y="133"/>
                  </a:lnTo>
                  <a:lnTo>
                    <a:pt x="239" y="116"/>
                  </a:lnTo>
                  <a:lnTo>
                    <a:pt x="238" y="99"/>
                  </a:lnTo>
                  <a:lnTo>
                    <a:pt x="236" y="83"/>
                  </a:lnTo>
                  <a:lnTo>
                    <a:pt x="235" y="65"/>
                  </a:lnTo>
                  <a:lnTo>
                    <a:pt x="235" y="51"/>
                  </a:lnTo>
                  <a:lnTo>
                    <a:pt x="234" y="38"/>
                  </a:lnTo>
                  <a:lnTo>
                    <a:pt x="236" y="26"/>
                  </a:lnTo>
                  <a:lnTo>
                    <a:pt x="228" y="20"/>
                  </a:lnTo>
                  <a:lnTo>
                    <a:pt x="205" y="14"/>
                  </a:lnTo>
                  <a:lnTo>
                    <a:pt x="202" y="8"/>
                  </a:lnTo>
                  <a:lnTo>
                    <a:pt x="182" y="3"/>
                  </a:lnTo>
                  <a:lnTo>
                    <a:pt x="170" y="11"/>
                  </a:lnTo>
                  <a:lnTo>
                    <a:pt x="160" y="18"/>
                  </a:lnTo>
                  <a:lnTo>
                    <a:pt x="161" y="42"/>
                  </a:lnTo>
                  <a:lnTo>
                    <a:pt x="145" y="51"/>
                  </a:lnTo>
                  <a:lnTo>
                    <a:pt x="127" y="43"/>
                  </a:lnTo>
                  <a:lnTo>
                    <a:pt x="110" y="35"/>
                  </a:lnTo>
                  <a:lnTo>
                    <a:pt x="92" y="30"/>
                  </a:lnTo>
                  <a:lnTo>
                    <a:pt x="85" y="13"/>
                  </a:lnTo>
                  <a:lnTo>
                    <a:pt x="68" y="9"/>
                  </a:lnTo>
                  <a:lnTo>
                    <a:pt x="52" y="5"/>
                  </a:lnTo>
                  <a:lnTo>
                    <a:pt x="30" y="0"/>
                  </a:lnTo>
                  <a:lnTo>
                    <a:pt x="29" y="14"/>
                  </a:lnTo>
                  <a:lnTo>
                    <a:pt x="19" y="23"/>
                  </a:lnTo>
                  <a:lnTo>
                    <a:pt x="10" y="31"/>
                  </a:lnTo>
                  <a:lnTo>
                    <a:pt x="10" y="45"/>
                  </a:lnTo>
                  <a:lnTo>
                    <a:pt x="1" y="53"/>
                  </a:lnTo>
                  <a:lnTo>
                    <a:pt x="0" y="56"/>
                  </a:lnTo>
                  <a:lnTo>
                    <a:pt x="7" y="78"/>
                  </a:lnTo>
                  <a:lnTo>
                    <a:pt x="7" y="98"/>
                  </a:lnTo>
                  <a:lnTo>
                    <a:pt x="8" y="119"/>
                  </a:lnTo>
                  <a:lnTo>
                    <a:pt x="1" y="126"/>
                  </a:lnTo>
                  <a:lnTo>
                    <a:pt x="11" y="140"/>
                  </a:lnTo>
                  <a:lnTo>
                    <a:pt x="17" y="156"/>
                  </a:lnTo>
                  <a:lnTo>
                    <a:pt x="35" y="158"/>
                  </a:lnTo>
                  <a:lnTo>
                    <a:pt x="42" y="173"/>
                  </a:lnTo>
                  <a:lnTo>
                    <a:pt x="64" y="179"/>
                  </a:lnTo>
                  <a:lnTo>
                    <a:pt x="77" y="189"/>
                  </a:lnTo>
                  <a:lnTo>
                    <a:pt x="88" y="182"/>
                  </a:lnTo>
                  <a:lnTo>
                    <a:pt x="104" y="173"/>
                  </a:lnTo>
                  <a:lnTo>
                    <a:pt x="120" y="182"/>
                  </a:lnTo>
                  <a:lnTo>
                    <a:pt x="136" y="191"/>
                  </a:lnTo>
                  <a:lnTo>
                    <a:pt x="151" y="200"/>
                  </a:lnTo>
                  <a:lnTo>
                    <a:pt x="167" y="209"/>
                  </a:lnTo>
                  <a:lnTo>
                    <a:pt x="182" y="218"/>
                  </a:lnTo>
                  <a:lnTo>
                    <a:pt x="199" y="227"/>
                  </a:lnTo>
                  <a:lnTo>
                    <a:pt x="215" y="236"/>
                  </a:lnTo>
                  <a:lnTo>
                    <a:pt x="230" y="2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2" name="Freeform 131"/>
            <p:cNvSpPr>
              <a:spLocks/>
            </p:cNvSpPr>
            <p:nvPr/>
          </p:nvSpPr>
          <p:spPr bwMode="auto">
            <a:xfrm>
              <a:off x="2318" y="2207"/>
              <a:ext cx="286" cy="296"/>
            </a:xfrm>
            <a:custGeom>
              <a:avLst/>
              <a:gdLst/>
              <a:ahLst/>
              <a:cxnLst>
                <a:cxn ang="0">
                  <a:pos x="56" y="250"/>
                </a:cxn>
                <a:cxn ang="0">
                  <a:pos x="66" y="267"/>
                </a:cxn>
                <a:cxn ang="0">
                  <a:pos x="79" y="265"/>
                </a:cxn>
                <a:cxn ang="0">
                  <a:pos x="92" y="257"/>
                </a:cxn>
                <a:cxn ang="0">
                  <a:pos x="106" y="262"/>
                </a:cxn>
                <a:cxn ang="0">
                  <a:pos x="114" y="234"/>
                </a:cxn>
                <a:cxn ang="0">
                  <a:pos x="126" y="219"/>
                </a:cxn>
                <a:cxn ang="0">
                  <a:pos x="138" y="213"/>
                </a:cxn>
                <a:cxn ang="0">
                  <a:pos x="144" y="204"/>
                </a:cxn>
                <a:cxn ang="0">
                  <a:pos x="160" y="195"/>
                </a:cxn>
                <a:cxn ang="0">
                  <a:pos x="181" y="178"/>
                </a:cxn>
                <a:cxn ang="0">
                  <a:pos x="198" y="180"/>
                </a:cxn>
                <a:cxn ang="0">
                  <a:pos x="230" y="174"/>
                </a:cxn>
                <a:cxn ang="0">
                  <a:pos x="256" y="157"/>
                </a:cxn>
                <a:cxn ang="0">
                  <a:pos x="257" y="131"/>
                </a:cxn>
                <a:cxn ang="0">
                  <a:pos x="258" y="105"/>
                </a:cxn>
                <a:cxn ang="0">
                  <a:pos x="240" y="91"/>
                </a:cxn>
                <a:cxn ang="0">
                  <a:pos x="210" y="76"/>
                </a:cxn>
                <a:cxn ang="0">
                  <a:pos x="199" y="61"/>
                </a:cxn>
                <a:cxn ang="0">
                  <a:pos x="175" y="43"/>
                </a:cxn>
                <a:cxn ang="0">
                  <a:pos x="152" y="27"/>
                </a:cxn>
                <a:cxn ang="0">
                  <a:pos x="130" y="9"/>
                </a:cxn>
                <a:cxn ang="0">
                  <a:pos x="104" y="0"/>
                </a:cxn>
                <a:cxn ang="0">
                  <a:pos x="92" y="19"/>
                </a:cxn>
                <a:cxn ang="0">
                  <a:pos x="96" y="58"/>
                </a:cxn>
                <a:cxn ang="0">
                  <a:pos x="100" y="95"/>
                </a:cxn>
                <a:cxn ang="0">
                  <a:pos x="102" y="133"/>
                </a:cxn>
                <a:cxn ang="0">
                  <a:pos x="108" y="156"/>
                </a:cxn>
                <a:cxn ang="0">
                  <a:pos x="91" y="171"/>
                </a:cxn>
                <a:cxn ang="0">
                  <a:pos x="61" y="171"/>
                </a:cxn>
                <a:cxn ang="0">
                  <a:pos x="44" y="169"/>
                </a:cxn>
                <a:cxn ang="0">
                  <a:pos x="19" y="175"/>
                </a:cxn>
                <a:cxn ang="0">
                  <a:pos x="2" y="185"/>
                </a:cxn>
                <a:cxn ang="0">
                  <a:pos x="4" y="202"/>
                </a:cxn>
                <a:cxn ang="0">
                  <a:pos x="13" y="226"/>
                </a:cxn>
                <a:cxn ang="0">
                  <a:pos x="20" y="231"/>
                </a:cxn>
                <a:cxn ang="0">
                  <a:pos x="35" y="232"/>
                </a:cxn>
                <a:cxn ang="0">
                  <a:pos x="48" y="225"/>
                </a:cxn>
                <a:cxn ang="0">
                  <a:pos x="59" y="244"/>
                </a:cxn>
              </a:cxnLst>
              <a:rect l="0" t="0" r="r" b="b"/>
              <a:pathLst>
                <a:path w="258" h="267">
                  <a:moveTo>
                    <a:pt x="59" y="244"/>
                  </a:moveTo>
                  <a:lnTo>
                    <a:pt x="56" y="250"/>
                  </a:lnTo>
                  <a:lnTo>
                    <a:pt x="59" y="250"/>
                  </a:lnTo>
                  <a:lnTo>
                    <a:pt x="66" y="267"/>
                  </a:lnTo>
                  <a:lnTo>
                    <a:pt x="70" y="263"/>
                  </a:lnTo>
                  <a:lnTo>
                    <a:pt x="79" y="265"/>
                  </a:lnTo>
                  <a:lnTo>
                    <a:pt x="86" y="261"/>
                  </a:lnTo>
                  <a:lnTo>
                    <a:pt x="92" y="257"/>
                  </a:lnTo>
                  <a:lnTo>
                    <a:pt x="95" y="264"/>
                  </a:lnTo>
                  <a:lnTo>
                    <a:pt x="106" y="262"/>
                  </a:lnTo>
                  <a:lnTo>
                    <a:pt x="109" y="238"/>
                  </a:lnTo>
                  <a:lnTo>
                    <a:pt x="114" y="234"/>
                  </a:lnTo>
                  <a:lnTo>
                    <a:pt x="122" y="226"/>
                  </a:lnTo>
                  <a:lnTo>
                    <a:pt x="126" y="219"/>
                  </a:lnTo>
                  <a:lnTo>
                    <a:pt x="128" y="208"/>
                  </a:lnTo>
                  <a:lnTo>
                    <a:pt x="138" y="213"/>
                  </a:lnTo>
                  <a:lnTo>
                    <a:pt x="140" y="205"/>
                  </a:lnTo>
                  <a:lnTo>
                    <a:pt x="144" y="204"/>
                  </a:lnTo>
                  <a:lnTo>
                    <a:pt x="150" y="195"/>
                  </a:lnTo>
                  <a:lnTo>
                    <a:pt x="160" y="195"/>
                  </a:lnTo>
                  <a:lnTo>
                    <a:pt x="161" y="187"/>
                  </a:lnTo>
                  <a:lnTo>
                    <a:pt x="181" y="178"/>
                  </a:lnTo>
                  <a:lnTo>
                    <a:pt x="196" y="180"/>
                  </a:lnTo>
                  <a:lnTo>
                    <a:pt x="198" y="180"/>
                  </a:lnTo>
                  <a:lnTo>
                    <a:pt x="212" y="174"/>
                  </a:lnTo>
                  <a:lnTo>
                    <a:pt x="230" y="174"/>
                  </a:lnTo>
                  <a:lnTo>
                    <a:pt x="247" y="173"/>
                  </a:lnTo>
                  <a:lnTo>
                    <a:pt x="256" y="157"/>
                  </a:lnTo>
                  <a:lnTo>
                    <a:pt x="257" y="144"/>
                  </a:lnTo>
                  <a:lnTo>
                    <a:pt x="257" y="131"/>
                  </a:lnTo>
                  <a:lnTo>
                    <a:pt x="258" y="118"/>
                  </a:lnTo>
                  <a:lnTo>
                    <a:pt x="258" y="105"/>
                  </a:lnTo>
                  <a:lnTo>
                    <a:pt x="241" y="105"/>
                  </a:lnTo>
                  <a:lnTo>
                    <a:pt x="240" y="91"/>
                  </a:lnTo>
                  <a:lnTo>
                    <a:pt x="218" y="82"/>
                  </a:lnTo>
                  <a:lnTo>
                    <a:pt x="210" y="76"/>
                  </a:lnTo>
                  <a:lnTo>
                    <a:pt x="210" y="70"/>
                  </a:lnTo>
                  <a:lnTo>
                    <a:pt x="199" y="61"/>
                  </a:lnTo>
                  <a:lnTo>
                    <a:pt x="187" y="53"/>
                  </a:lnTo>
                  <a:lnTo>
                    <a:pt x="175" y="43"/>
                  </a:lnTo>
                  <a:lnTo>
                    <a:pt x="164" y="35"/>
                  </a:lnTo>
                  <a:lnTo>
                    <a:pt x="152" y="27"/>
                  </a:lnTo>
                  <a:lnTo>
                    <a:pt x="140" y="17"/>
                  </a:lnTo>
                  <a:lnTo>
                    <a:pt x="130" y="9"/>
                  </a:lnTo>
                  <a:lnTo>
                    <a:pt x="118" y="0"/>
                  </a:lnTo>
                  <a:lnTo>
                    <a:pt x="104" y="0"/>
                  </a:lnTo>
                  <a:lnTo>
                    <a:pt x="90" y="0"/>
                  </a:lnTo>
                  <a:lnTo>
                    <a:pt x="92" y="19"/>
                  </a:lnTo>
                  <a:lnTo>
                    <a:pt x="94" y="39"/>
                  </a:lnTo>
                  <a:lnTo>
                    <a:pt x="96" y="58"/>
                  </a:lnTo>
                  <a:lnTo>
                    <a:pt x="97" y="76"/>
                  </a:lnTo>
                  <a:lnTo>
                    <a:pt x="100" y="95"/>
                  </a:lnTo>
                  <a:lnTo>
                    <a:pt x="101" y="114"/>
                  </a:lnTo>
                  <a:lnTo>
                    <a:pt x="102" y="133"/>
                  </a:lnTo>
                  <a:lnTo>
                    <a:pt x="104" y="153"/>
                  </a:lnTo>
                  <a:lnTo>
                    <a:pt x="108" y="156"/>
                  </a:lnTo>
                  <a:lnTo>
                    <a:pt x="106" y="171"/>
                  </a:lnTo>
                  <a:lnTo>
                    <a:pt x="91" y="171"/>
                  </a:lnTo>
                  <a:lnTo>
                    <a:pt x="76" y="171"/>
                  </a:lnTo>
                  <a:lnTo>
                    <a:pt x="61" y="171"/>
                  </a:lnTo>
                  <a:lnTo>
                    <a:pt x="46" y="171"/>
                  </a:lnTo>
                  <a:lnTo>
                    <a:pt x="44" y="169"/>
                  </a:lnTo>
                  <a:lnTo>
                    <a:pt x="22" y="174"/>
                  </a:lnTo>
                  <a:lnTo>
                    <a:pt x="19" y="175"/>
                  </a:lnTo>
                  <a:lnTo>
                    <a:pt x="10" y="169"/>
                  </a:lnTo>
                  <a:lnTo>
                    <a:pt x="2" y="185"/>
                  </a:lnTo>
                  <a:lnTo>
                    <a:pt x="0" y="184"/>
                  </a:lnTo>
                  <a:lnTo>
                    <a:pt x="4" y="202"/>
                  </a:lnTo>
                  <a:lnTo>
                    <a:pt x="8" y="209"/>
                  </a:lnTo>
                  <a:lnTo>
                    <a:pt x="13" y="226"/>
                  </a:lnTo>
                  <a:lnTo>
                    <a:pt x="11" y="231"/>
                  </a:lnTo>
                  <a:lnTo>
                    <a:pt x="20" y="231"/>
                  </a:lnTo>
                  <a:lnTo>
                    <a:pt x="25" y="233"/>
                  </a:lnTo>
                  <a:lnTo>
                    <a:pt x="35" y="232"/>
                  </a:lnTo>
                  <a:lnTo>
                    <a:pt x="46" y="228"/>
                  </a:lnTo>
                  <a:lnTo>
                    <a:pt x="48" y="225"/>
                  </a:lnTo>
                  <a:lnTo>
                    <a:pt x="53" y="239"/>
                  </a:lnTo>
                  <a:lnTo>
                    <a:pt x="59" y="2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3" name="Freeform 132"/>
            <p:cNvSpPr>
              <a:spLocks/>
            </p:cNvSpPr>
            <p:nvPr/>
          </p:nvSpPr>
          <p:spPr bwMode="auto">
            <a:xfrm>
              <a:off x="2769" y="1987"/>
              <a:ext cx="4" cy="3"/>
            </a:xfrm>
            <a:custGeom>
              <a:avLst/>
              <a:gdLst/>
              <a:ahLst/>
              <a:cxnLst>
                <a:cxn ang="0">
                  <a:pos x="3" y="2"/>
                </a:cxn>
                <a:cxn ang="0">
                  <a:pos x="2" y="3"/>
                </a:cxn>
                <a:cxn ang="0">
                  <a:pos x="0" y="0"/>
                </a:cxn>
                <a:cxn ang="0">
                  <a:pos x="3" y="2"/>
                </a:cxn>
              </a:cxnLst>
              <a:rect l="0" t="0" r="r" b="b"/>
              <a:pathLst>
                <a:path w="3" h="3">
                  <a:moveTo>
                    <a:pt x="3" y="2"/>
                  </a:moveTo>
                  <a:lnTo>
                    <a:pt x="2" y="3"/>
                  </a:lnTo>
                  <a:lnTo>
                    <a:pt x="0" y="0"/>
                  </a:lnTo>
                  <a:lnTo>
                    <a:pt x="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4" name="Freeform 133"/>
            <p:cNvSpPr>
              <a:spLocks/>
            </p:cNvSpPr>
            <p:nvPr/>
          </p:nvSpPr>
          <p:spPr bwMode="auto">
            <a:xfrm>
              <a:off x="2236" y="2161"/>
              <a:ext cx="213" cy="251"/>
            </a:xfrm>
            <a:custGeom>
              <a:avLst/>
              <a:gdLst/>
              <a:ahLst/>
              <a:cxnLst>
                <a:cxn ang="0">
                  <a:pos x="9" y="195"/>
                </a:cxn>
                <a:cxn ang="0">
                  <a:pos x="6" y="202"/>
                </a:cxn>
                <a:cxn ang="0">
                  <a:pos x="11" y="180"/>
                </a:cxn>
                <a:cxn ang="0">
                  <a:pos x="14" y="159"/>
                </a:cxn>
                <a:cxn ang="0">
                  <a:pos x="9" y="142"/>
                </a:cxn>
                <a:cxn ang="0">
                  <a:pos x="11" y="123"/>
                </a:cxn>
                <a:cxn ang="0">
                  <a:pos x="1" y="112"/>
                </a:cxn>
                <a:cxn ang="0">
                  <a:pos x="0" y="117"/>
                </a:cxn>
                <a:cxn ang="0">
                  <a:pos x="2" y="107"/>
                </a:cxn>
                <a:cxn ang="0">
                  <a:pos x="17" y="107"/>
                </a:cxn>
                <a:cxn ang="0">
                  <a:pos x="32" y="107"/>
                </a:cxn>
                <a:cxn ang="0">
                  <a:pos x="48" y="107"/>
                </a:cxn>
                <a:cxn ang="0">
                  <a:pos x="63" y="107"/>
                </a:cxn>
                <a:cxn ang="0">
                  <a:pos x="63" y="92"/>
                </a:cxn>
                <a:cxn ang="0">
                  <a:pos x="63" y="77"/>
                </a:cxn>
                <a:cxn ang="0">
                  <a:pos x="79" y="69"/>
                </a:cxn>
                <a:cxn ang="0">
                  <a:pos x="80" y="46"/>
                </a:cxn>
                <a:cxn ang="0">
                  <a:pos x="80" y="23"/>
                </a:cxn>
                <a:cxn ang="0">
                  <a:pos x="93" y="23"/>
                </a:cxn>
                <a:cxn ang="0">
                  <a:pos x="107" y="23"/>
                </a:cxn>
                <a:cxn ang="0">
                  <a:pos x="119" y="23"/>
                </a:cxn>
                <a:cxn ang="0">
                  <a:pos x="132" y="23"/>
                </a:cxn>
                <a:cxn ang="0">
                  <a:pos x="132" y="0"/>
                </a:cxn>
                <a:cxn ang="0">
                  <a:pos x="147" y="10"/>
                </a:cxn>
                <a:cxn ang="0">
                  <a:pos x="162" y="21"/>
                </a:cxn>
                <a:cxn ang="0">
                  <a:pos x="176" y="30"/>
                </a:cxn>
                <a:cxn ang="0">
                  <a:pos x="191" y="41"/>
                </a:cxn>
                <a:cxn ang="0">
                  <a:pos x="177" y="41"/>
                </a:cxn>
                <a:cxn ang="0">
                  <a:pos x="163" y="41"/>
                </a:cxn>
                <a:cxn ang="0">
                  <a:pos x="165" y="60"/>
                </a:cxn>
                <a:cxn ang="0">
                  <a:pos x="167" y="80"/>
                </a:cxn>
                <a:cxn ang="0">
                  <a:pos x="169" y="99"/>
                </a:cxn>
                <a:cxn ang="0">
                  <a:pos x="170" y="117"/>
                </a:cxn>
                <a:cxn ang="0">
                  <a:pos x="173" y="136"/>
                </a:cxn>
                <a:cxn ang="0">
                  <a:pos x="174" y="155"/>
                </a:cxn>
                <a:cxn ang="0">
                  <a:pos x="175" y="174"/>
                </a:cxn>
                <a:cxn ang="0">
                  <a:pos x="177" y="194"/>
                </a:cxn>
                <a:cxn ang="0">
                  <a:pos x="181" y="197"/>
                </a:cxn>
                <a:cxn ang="0">
                  <a:pos x="179" y="212"/>
                </a:cxn>
                <a:cxn ang="0">
                  <a:pos x="164" y="212"/>
                </a:cxn>
                <a:cxn ang="0">
                  <a:pos x="149" y="212"/>
                </a:cxn>
                <a:cxn ang="0">
                  <a:pos x="134" y="212"/>
                </a:cxn>
                <a:cxn ang="0">
                  <a:pos x="119" y="212"/>
                </a:cxn>
                <a:cxn ang="0">
                  <a:pos x="117" y="210"/>
                </a:cxn>
                <a:cxn ang="0">
                  <a:pos x="95" y="215"/>
                </a:cxn>
                <a:cxn ang="0">
                  <a:pos x="92" y="216"/>
                </a:cxn>
                <a:cxn ang="0">
                  <a:pos x="83" y="210"/>
                </a:cxn>
                <a:cxn ang="0">
                  <a:pos x="75" y="226"/>
                </a:cxn>
                <a:cxn ang="0">
                  <a:pos x="73" y="225"/>
                </a:cxn>
                <a:cxn ang="0">
                  <a:pos x="61" y="213"/>
                </a:cxn>
                <a:cxn ang="0">
                  <a:pos x="49" y="200"/>
                </a:cxn>
                <a:cxn ang="0">
                  <a:pos x="35" y="191"/>
                </a:cxn>
                <a:cxn ang="0">
                  <a:pos x="23" y="192"/>
                </a:cxn>
                <a:cxn ang="0">
                  <a:pos x="9" y="195"/>
                </a:cxn>
              </a:cxnLst>
              <a:rect l="0" t="0" r="r" b="b"/>
              <a:pathLst>
                <a:path w="191" h="226">
                  <a:moveTo>
                    <a:pt x="9" y="195"/>
                  </a:moveTo>
                  <a:lnTo>
                    <a:pt x="6" y="202"/>
                  </a:lnTo>
                  <a:lnTo>
                    <a:pt x="11" y="180"/>
                  </a:lnTo>
                  <a:lnTo>
                    <a:pt x="14" y="159"/>
                  </a:lnTo>
                  <a:lnTo>
                    <a:pt x="9" y="142"/>
                  </a:lnTo>
                  <a:lnTo>
                    <a:pt x="11" y="123"/>
                  </a:lnTo>
                  <a:lnTo>
                    <a:pt x="1" y="112"/>
                  </a:lnTo>
                  <a:lnTo>
                    <a:pt x="0" y="117"/>
                  </a:lnTo>
                  <a:lnTo>
                    <a:pt x="2" y="107"/>
                  </a:lnTo>
                  <a:lnTo>
                    <a:pt x="17" y="107"/>
                  </a:lnTo>
                  <a:lnTo>
                    <a:pt x="32" y="107"/>
                  </a:lnTo>
                  <a:lnTo>
                    <a:pt x="48" y="107"/>
                  </a:lnTo>
                  <a:lnTo>
                    <a:pt x="63" y="107"/>
                  </a:lnTo>
                  <a:lnTo>
                    <a:pt x="63" y="92"/>
                  </a:lnTo>
                  <a:lnTo>
                    <a:pt x="63" y="77"/>
                  </a:lnTo>
                  <a:lnTo>
                    <a:pt x="79" y="69"/>
                  </a:lnTo>
                  <a:lnTo>
                    <a:pt x="80" y="46"/>
                  </a:lnTo>
                  <a:lnTo>
                    <a:pt x="80" y="23"/>
                  </a:lnTo>
                  <a:lnTo>
                    <a:pt x="93" y="23"/>
                  </a:lnTo>
                  <a:lnTo>
                    <a:pt x="107" y="23"/>
                  </a:lnTo>
                  <a:lnTo>
                    <a:pt x="119" y="23"/>
                  </a:lnTo>
                  <a:lnTo>
                    <a:pt x="132" y="23"/>
                  </a:lnTo>
                  <a:lnTo>
                    <a:pt x="132" y="0"/>
                  </a:lnTo>
                  <a:lnTo>
                    <a:pt x="147" y="10"/>
                  </a:lnTo>
                  <a:lnTo>
                    <a:pt x="162" y="21"/>
                  </a:lnTo>
                  <a:lnTo>
                    <a:pt x="176" y="30"/>
                  </a:lnTo>
                  <a:lnTo>
                    <a:pt x="191" y="41"/>
                  </a:lnTo>
                  <a:lnTo>
                    <a:pt x="177" y="41"/>
                  </a:lnTo>
                  <a:lnTo>
                    <a:pt x="163" y="41"/>
                  </a:lnTo>
                  <a:lnTo>
                    <a:pt x="165" y="60"/>
                  </a:lnTo>
                  <a:lnTo>
                    <a:pt x="167" y="80"/>
                  </a:lnTo>
                  <a:lnTo>
                    <a:pt x="169" y="99"/>
                  </a:lnTo>
                  <a:lnTo>
                    <a:pt x="170" y="117"/>
                  </a:lnTo>
                  <a:lnTo>
                    <a:pt x="173" y="136"/>
                  </a:lnTo>
                  <a:lnTo>
                    <a:pt x="174" y="155"/>
                  </a:lnTo>
                  <a:lnTo>
                    <a:pt x="175" y="174"/>
                  </a:lnTo>
                  <a:lnTo>
                    <a:pt x="177" y="194"/>
                  </a:lnTo>
                  <a:lnTo>
                    <a:pt x="181" y="197"/>
                  </a:lnTo>
                  <a:lnTo>
                    <a:pt x="179" y="212"/>
                  </a:lnTo>
                  <a:lnTo>
                    <a:pt x="164" y="212"/>
                  </a:lnTo>
                  <a:lnTo>
                    <a:pt x="149" y="212"/>
                  </a:lnTo>
                  <a:lnTo>
                    <a:pt x="134" y="212"/>
                  </a:lnTo>
                  <a:lnTo>
                    <a:pt x="119" y="212"/>
                  </a:lnTo>
                  <a:lnTo>
                    <a:pt x="117" y="210"/>
                  </a:lnTo>
                  <a:lnTo>
                    <a:pt x="95" y="215"/>
                  </a:lnTo>
                  <a:lnTo>
                    <a:pt x="92" y="216"/>
                  </a:lnTo>
                  <a:lnTo>
                    <a:pt x="83" y="210"/>
                  </a:lnTo>
                  <a:lnTo>
                    <a:pt x="75" y="226"/>
                  </a:lnTo>
                  <a:lnTo>
                    <a:pt x="73" y="225"/>
                  </a:lnTo>
                  <a:lnTo>
                    <a:pt x="61" y="213"/>
                  </a:lnTo>
                  <a:lnTo>
                    <a:pt x="49" y="200"/>
                  </a:lnTo>
                  <a:lnTo>
                    <a:pt x="35" y="191"/>
                  </a:lnTo>
                  <a:lnTo>
                    <a:pt x="23" y="192"/>
                  </a:lnTo>
                  <a:lnTo>
                    <a:pt x="9" y="19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5" name="Freeform 134"/>
            <p:cNvSpPr>
              <a:spLocks/>
            </p:cNvSpPr>
            <p:nvPr/>
          </p:nvSpPr>
          <p:spPr bwMode="auto">
            <a:xfrm>
              <a:off x="2307" y="1990"/>
              <a:ext cx="206" cy="164"/>
            </a:xfrm>
            <a:custGeom>
              <a:avLst/>
              <a:gdLst/>
              <a:ahLst/>
              <a:cxnLst>
                <a:cxn ang="0">
                  <a:pos x="96" y="36"/>
                </a:cxn>
                <a:cxn ang="0">
                  <a:pos x="82" y="45"/>
                </a:cxn>
                <a:cxn ang="0">
                  <a:pos x="69" y="54"/>
                </a:cxn>
                <a:cxn ang="0">
                  <a:pos x="60" y="68"/>
                </a:cxn>
                <a:cxn ang="0">
                  <a:pos x="53" y="81"/>
                </a:cxn>
                <a:cxn ang="0">
                  <a:pos x="56" y="98"/>
                </a:cxn>
                <a:cxn ang="0">
                  <a:pos x="48" y="110"/>
                </a:cxn>
                <a:cxn ang="0">
                  <a:pos x="41" y="123"/>
                </a:cxn>
                <a:cxn ang="0">
                  <a:pos x="29" y="132"/>
                </a:cxn>
                <a:cxn ang="0">
                  <a:pos x="17" y="140"/>
                </a:cxn>
                <a:cxn ang="0">
                  <a:pos x="0" y="147"/>
                </a:cxn>
                <a:cxn ang="0">
                  <a:pos x="17" y="147"/>
                </a:cxn>
                <a:cxn ang="0">
                  <a:pos x="35" y="147"/>
                </a:cxn>
                <a:cxn ang="0">
                  <a:pos x="52" y="147"/>
                </a:cxn>
                <a:cxn ang="0">
                  <a:pos x="69" y="147"/>
                </a:cxn>
                <a:cxn ang="0">
                  <a:pos x="72" y="126"/>
                </a:cxn>
                <a:cxn ang="0">
                  <a:pos x="86" y="120"/>
                </a:cxn>
                <a:cxn ang="0">
                  <a:pos x="98" y="112"/>
                </a:cxn>
                <a:cxn ang="0">
                  <a:pos x="111" y="106"/>
                </a:cxn>
                <a:cxn ang="0">
                  <a:pos x="125" y="100"/>
                </a:cxn>
                <a:cxn ang="0">
                  <a:pos x="136" y="93"/>
                </a:cxn>
                <a:cxn ang="0">
                  <a:pos x="147" y="85"/>
                </a:cxn>
                <a:cxn ang="0">
                  <a:pos x="147" y="74"/>
                </a:cxn>
                <a:cxn ang="0">
                  <a:pos x="167" y="67"/>
                </a:cxn>
                <a:cxn ang="0">
                  <a:pos x="183" y="66"/>
                </a:cxn>
                <a:cxn ang="0">
                  <a:pos x="186" y="61"/>
                </a:cxn>
                <a:cxn ang="0">
                  <a:pos x="177" y="44"/>
                </a:cxn>
                <a:cxn ang="0">
                  <a:pos x="174" y="31"/>
                </a:cxn>
                <a:cxn ang="0">
                  <a:pos x="173" y="18"/>
                </a:cxn>
                <a:cxn ang="0">
                  <a:pos x="170" y="14"/>
                </a:cxn>
                <a:cxn ang="0">
                  <a:pos x="159" y="10"/>
                </a:cxn>
                <a:cxn ang="0">
                  <a:pos x="154" y="12"/>
                </a:cxn>
                <a:cxn ang="0">
                  <a:pos x="129" y="9"/>
                </a:cxn>
                <a:cxn ang="0">
                  <a:pos x="120" y="0"/>
                </a:cxn>
                <a:cxn ang="0">
                  <a:pos x="112" y="7"/>
                </a:cxn>
                <a:cxn ang="0">
                  <a:pos x="105" y="21"/>
                </a:cxn>
                <a:cxn ang="0">
                  <a:pos x="96" y="36"/>
                </a:cxn>
              </a:cxnLst>
              <a:rect l="0" t="0" r="r" b="b"/>
              <a:pathLst>
                <a:path w="186" h="147">
                  <a:moveTo>
                    <a:pt x="96" y="36"/>
                  </a:moveTo>
                  <a:lnTo>
                    <a:pt x="82" y="45"/>
                  </a:lnTo>
                  <a:lnTo>
                    <a:pt x="69" y="54"/>
                  </a:lnTo>
                  <a:lnTo>
                    <a:pt x="60" y="68"/>
                  </a:lnTo>
                  <a:lnTo>
                    <a:pt x="53" y="81"/>
                  </a:lnTo>
                  <a:lnTo>
                    <a:pt x="56" y="98"/>
                  </a:lnTo>
                  <a:lnTo>
                    <a:pt x="48" y="110"/>
                  </a:lnTo>
                  <a:lnTo>
                    <a:pt x="41" y="123"/>
                  </a:lnTo>
                  <a:lnTo>
                    <a:pt x="29" y="132"/>
                  </a:lnTo>
                  <a:lnTo>
                    <a:pt x="17" y="140"/>
                  </a:lnTo>
                  <a:lnTo>
                    <a:pt x="0" y="147"/>
                  </a:lnTo>
                  <a:lnTo>
                    <a:pt x="17" y="147"/>
                  </a:lnTo>
                  <a:lnTo>
                    <a:pt x="35" y="147"/>
                  </a:lnTo>
                  <a:lnTo>
                    <a:pt x="52" y="147"/>
                  </a:lnTo>
                  <a:lnTo>
                    <a:pt x="69" y="147"/>
                  </a:lnTo>
                  <a:lnTo>
                    <a:pt x="72" y="126"/>
                  </a:lnTo>
                  <a:lnTo>
                    <a:pt x="86" y="120"/>
                  </a:lnTo>
                  <a:lnTo>
                    <a:pt x="98" y="112"/>
                  </a:lnTo>
                  <a:lnTo>
                    <a:pt x="111" y="106"/>
                  </a:lnTo>
                  <a:lnTo>
                    <a:pt x="125" y="100"/>
                  </a:lnTo>
                  <a:lnTo>
                    <a:pt x="136" y="93"/>
                  </a:lnTo>
                  <a:lnTo>
                    <a:pt x="147" y="85"/>
                  </a:lnTo>
                  <a:lnTo>
                    <a:pt x="147" y="74"/>
                  </a:lnTo>
                  <a:lnTo>
                    <a:pt x="167" y="67"/>
                  </a:lnTo>
                  <a:lnTo>
                    <a:pt x="183" y="66"/>
                  </a:lnTo>
                  <a:lnTo>
                    <a:pt x="186" y="61"/>
                  </a:lnTo>
                  <a:lnTo>
                    <a:pt x="177" y="44"/>
                  </a:lnTo>
                  <a:lnTo>
                    <a:pt x="174" y="31"/>
                  </a:lnTo>
                  <a:lnTo>
                    <a:pt x="173" y="18"/>
                  </a:lnTo>
                  <a:lnTo>
                    <a:pt x="170" y="14"/>
                  </a:lnTo>
                  <a:lnTo>
                    <a:pt x="159" y="10"/>
                  </a:lnTo>
                  <a:lnTo>
                    <a:pt x="154" y="12"/>
                  </a:lnTo>
                  <a:lnTo>
                    <a:pt x="129" y="9"/>
                  </a:lnTo>
                  <a:lnTo>
                    <a:pt x="120" y="0"/>
                  </a:lnTo>
                  <a:lnTo>
                    <a:pt x="112" y="7"/>
                  </a:lnTo>
                  <a:lnTo>
                    <a:pt x="105" y="21"/>
                  </a:lnTo>
                  <a:lnTo>
                    <a:pt x="96"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6" name="Freeform 135"/>
            <p:cNvSpPr>
              <a:spLocks/>
            </p:cNvSpPr>
            <p:nvPr/>
          </p:nvSpPr>
          <p:spPr bwMode="auto">
            <a:xfrm>
              <a:off x="2536" y="2236"/>
              <a:ext cx="273" cy="236"/>
            </a:xfrm>
            <a:custGeom>
              <a:avLst/>
              <a:gdLst/>
              <a:ahLst/>
              <a:cxnLst>
                <a:cxn ang="0">
                  <a:pos x="27" y="194"/>
                </a:cxn>
                <a:cxn ang="0">
                  <a:pos x="21" y="195"/>
                </a:cxn>
                <a:cxn ang="0">
                  <a:pos x="12" y="188"/>
                </a:cxn>
                <a:cxn ang="0">
                  <a:pos x="12" y="182"/>
                </a:cxn>
                <a:cxn ang="0">
                  <a:pos x="14" y="181"/>
                </a:cxn>
                <a:cxn ang="0">
                  <a:pos x="2" y="168"/>
                </a:cxn>
                <a:cxn ang="0">
                  <a:pos x="0" y="153"/>
                </a:cxn>
                <a:cxn ang="0">
                  <a:pos x="2" y="153"/>
                </a:cxn>
                <a:cxn ang="0">
                  <a:pos x="16" y="147"/>
                </a:cxn>
                <a:cxn ang="0">
                  <a:pos x="34" y="147"/>
                </a:cxn>
                <a:cxn ang="0">
                  <a:pos x="51" y="146"/>
                </a:cxn>
                <a:cxn ang="0">
                  <a:pos x="60" y="130"/>
                </a:cxn>
                <a:cxn ang="0">
                  <a:pos x="61" y="117"/>
                </a:cxn>
                <a:cxn ang="0">
                  <a:pos x="61" y="104"/>
                </a:cxn>
                <a:cxn ang="0">
                  <a:pos x="62" y="91"/>
                </a:cxn>
                <a:cxn ang="0">
                  <a:pos x="62" y="78"/>
                </a:cxn>
                <a:cxn ang="0">
                  <a:pos x="75" y="75"/>
                </a:cxn>
                <a:cxn ang="0">
                  <a:pos x="87" y="73"/>
                </a:cxn>
                <a:cxn ang="0">
                  <a:pos x="99" y="60"/>
                </a:cxn>
                <a:cxn ang="0">
                  <a:pos x="112" y="48"/>
                </a:cxn>
                <a:cxn ang="0">
                  <a:pos x="129" y="36"/>
                </a:cxn>
                <a:cxn ang="0">
                  <a:pos x="147" y="24"/>
                </a:cxn>
                <a:cxn ang="0">
                  <a:pos x="164" y="12"/>
                </a:cxn>
                <a:cxn ang="0">
                  <a:pos x="182" y="0"/>
                </a:cxn>
                <a:cxn ang="0">
                  <a:pos x="204" y="6"/>
                </a:cxn>
                <a:cxn ang="0">
                  <a:pos x="217" y="16"/>
                </a:cxn>
                <a:cxn ang="0">
                  <a:pos x="228" y="9"/>
                </a:cxn>
                <a:cxn ang="0">
                  <a:pos x="229" y="9"/>
                </a:cxn>
                <a:cxn ang="0">
                  <a:pos x="230" y="22"/>
                </a:cxn>
                <a:cxn ang="0">
                  <a:pos x="232" y="36"/>
                </a:cxn>
                <a:cxn ang="0">
                  <a:pos x="246" y="56"/>
                </a:cxn>
                <a:cxn ang="0">
                  <a:pos x="242" y="64"/>
                </a:cxn>
                <a:cxn ang="0">
                  <a:pos x="241" y="78"/>
                </a:cxn>
                <a:cxn ang="0">
                  <a:pos x="240" y="91"/>
                </a:cxn>
                <a:cxn ang="0">
                  <a:pos x="240" y="105"/>
                </a:cxn>
                <a:cxn ang="0">
                  <a:pos x="238" y="118"/>
                </a:cxn>
                <a:cxn ang="0">
                  <a:pos x="231" y="129"/>
                </a:cxn>
                <a:cxn ang="0">
                  <a:pos x="224" y="140"/>
                </a:cxn>
                <a:cxn ang="0">
                  <a:pos x="217" y="151"/>
                </a:cxn>
                <a:cxn ang="0">
                  <a:pos x="210" y="162"/>
                </a:cxn>
                <a:cxn ang="0">
                  <a:pos x="211" y="176"/>
                </a:cxn>
                <a:cxn ang="0">
                  <a:pos x="193" y="186"/>
                </a:cxn>
                <a:cxn ang="0">
                  <a:pos x="177" y="184"/>
                </a:cxn>
                <a:cxn ang="0">
                  <a:pos x="160" y="183"/>
                </a:cxn>
                <a:cxn ang="0">
                  <a:pos x="142" y="192"/>
                </a:cxn>
                <a:cxn ang="0">
                  <a:pos x="132" y="187"/>
                </a:cxn>
                <a:cxn ang="0">
                  <a:pos x="120" y="182"/>
                </a:cxn>
                <a:cxn ang="0">
                  <a:pos x="103" y="187"/>
                </a:cxn>
                <a:cxn ang="0">
                  <a:pos x="92" y="176"/>
                </a:cxn>
                <a:cxn ang="0">
                  <a:pos x="76" y="175"/>
                </a:cxn>
                <a:cxn ang="0">
                  <a:pos x="62" y="180"/>
                </a:cxn>
                <a:cxn ang="0">
                  <a:pos x="58" y="193"/>
                </a:cxn>
                <a:cxn ang="0">
                  <a:pos x="54" y="205"/>
                </a:cxn>
                <a:cxn ang="0">
                  <a:pos x="52" y="212"/>
                </a:cxn>
                <a:cxn ang="0">
                  <a:pos x="39" y="200"/>
                </a:cxn>
                <a:cxn ang="0">
                  <a:pos x="34" y="206"/>
                </a:cxn>
                <a:cxn ang="0">
                  <a:pos x="34" y="208"/>
                </a:cxn>
                <a:cxn ang="0">
                  <a:pos x="31" y="199"/>
                </a:cxn>
                <a:cxn ang="0">
                  <a:pos x="27" y="194"/>
                </a:cxn>
              </a:cxnLst>
              <a:rect l="0" t="0" r="r" b="b"/>
              <a:pathLst>
                <a:path w="246" h="212">
                  <a:moveTo>
                    <a:pt x="27" y="194"/>
                  </a:moveTo>
                  <a:lnTo>
                    <a:pt x="21" y="195"/>
                  </a:lnTo>
                  <a:lnTo>
                    <a:pt x="12" y="188"/>
                  </a:lnTo>
                  <a:lnTo>
                    <a:pt x="12" y="182"/>
                  </a:lnTo>
                  <a:lnTo>
                    <a:pt x="14" y="181"/>
                  </a:lnTo>
                  <a:lnTo>
                    <a:pt x="2" y="168"/>
                  </a:lnTo>
                  <a:lnTo>
                    <a:pt x="0" y="153"/>
                  </a:lnTo>
                  <a:lnTo>
                    <a:pt x="2" y="153"/>
                  </a:lnTo>
                  <a:lnTo>
                    <a:pt x="16" y="147"/>
                  </a:lnTo>
                  <a:lnTo>
                    <a:pt x="34" y="147"/>
                  </a:lnTo>
                  <a:lnTo>
                    <a:pt x="51" y="146"/>
                  </a:lnTo>
                  <a:lnTo>
                    <a:pt x="60" y="130"/>
                  </a:lnTo>
                  <a:lnTo>
                    <a:pt x="61" y="117"/>
                  </a:lnTo>
                  <a:lnTo>
                    <a:pt x="61" y="104"/>
                  </a:lnTo>
                  <a:lnTo>
                    <a:pt x="62" y="91"/>
                  </a:lnTo>
                  <a:lnTo>
                    <a:pt x="62" y="78"/>
                  </a:lnTo>
                  <a:lnTo>
                    <a:pt x="75" y="75"/>
                  </a:lnTo>
                  <a:lnTo>
                    <a:pt x="87" y="73"/>
                  </a:lnTo>
                  <a:lnTo>
                    <a:pt x="99" y="60"/>
                  </a:lnTo>
                  <a:lnTo>
                    <a:pt x="112" y="48"/>
                  </a:lnTo>
                  <a:lnTo>
                    <a:pt x="129" y="36"/>
                  </a:lnTo>
                  <a:lnTo>
                    <a:pt x="147" y="24"/>
                  </a:lnTo>
                  <a:lnTo>
                    <a:pt x="164" y="12"/>
                  </a:lnTo>
                  <a:lnTo>
                    <a:pt x="182" y="0"/>
                  </a:lnTo>
                  <a:lnTo>
                    <a:pt x="204" y="6"/>
                  </a:lnTo>
                  <a:lnTo>
                    <a:pt x="217" y="16"/>
                  </a:lnTo>
                  <a:lnTo>
                    <a:pt x="228" y="9"/>
                  </a:lnTo>
                  <a:lnTo>
                    <a:pt x="229" y="9"/>
                  </a:lnTo>
                  <a:lnTo>
                    <a:pt x="230" y="22"/>
                  </a:lnTo>
                  <a:lnTo>
                    <a:pt x="232" y="36"/>
                  </a:lnTo>
                  <a:lnTo>
                    <a:pt x="246" y="56"/>
                  </a:lnTo>
                  <a:lnTo>
                    <a:pt x="242" y="64"/>
                  </a:lnTo>
                  <a:lnTo>
                    <a:pt x="241" y="78"/>
                  </a:lnTo>
                  <a:lnTo>
                    <a:pt x="240" y="91"/>
                  </a:lnTo>
                  <a:lnTo>
                    <a:pt x="240" y="105"/>
                  </a:lnTo>
                  <a:lnTo>
                    <a:pt x="238" y="118"/>
                  </a:lnTo>
                  <a:lnTo>
                    <a:pt x="231" y="129"/>
                  </a:lnTo>
                  <a:lnTo>
                    <a:pt x="224" y="140"/>
                  </a:lnTo>
                  <a:lnTo>
                    <a:pt x="217" y="151"/>
                  </a:lnTo>
                  <a:lnTo>
                    <a:pt x="210" y="162"/>
                  </a:lnTo>
                  <a:lnTo>
                    <a:pt x="211" y="176"/>
                  </a:lnTo>
                  <a:lnTo>
                    <a:pt x="193" y="186"/>
                  </a:lnTo>
                  <a:lnTo>
                    <a:pt x="177" y="184"/>
                  </a:lnTo>
                  <a:lnTo>
                    <a:pt x="160" y="183"/>
                  </a:lnTo>
                  <a:lnTo>
                    <a:pt x="142" y="192"/>
                  </a:lnTo>
                  <a:lnTo>
                    <a:pt x="132" y="187"/>
                  </a:lnTo>
                  <a:lnTo>
                    <a:pt x="120" y="182"/>
                  </a:lnTo>
                  <a:lnTo>
                    <a:pt x="103" y="187"/>
                  </a:lnTo>
                  <a:lnTo>
                    <a:pt x="92" y="176"/>
                  </a:lnTo>
                  <a:lnTo>
                    <a:pt x="76" y="175"/>
                  </a:lnTo>
                  <a:lnTo>
                    <a:pt x="62" y="180"/>
                  </a:lnTo>
                  <a:lnTo>
                    <a:pt x="58" y="193"/>
                  </a:lnTo>
                  <a:lnTo>
                    <a:pt x="54" y="205"/>
                  </a:lnTo>
                  <a:lnTo>
                    <a:pt x="52" y="212"/>
                  </a:lnTo>
                  <a:lnTo>
                    <a:pt x="39" y="200"/>
                  </a:lnTo>
                  <a:lnTo>
                    <a:pt x="34" y="206"/>
                  </a:lnTo>
                  <a:lnTo>
                    <a:pt x="34" y="208"/>
                  </a:lnTo>
                  <a:lnTo>
                    <a:pt x="31" y="199"/>
                  </a:lnTo>
                  <a:lnTo>
                    <a:pt x="27" y="19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7" name="Freeform 136"/>
            <p:cNvSpPr>
              <a:spLocks/>
            </p:cNvSpPr>
            <p:nvPr/>
          </p:nvSpPr>
          <p:spPr bwMode="auto">
            <a:xfrm>
              <a:off x="2227" y="2374"/>
              <a:ext cx="106" cy="87"/>
            </a:xfrm>
            <a:custGeom>
              <a:avLst/>
              <a:gdLst/>
              <a:ahLst/>
              <a:cxnLst>
                <a:cxn ang="0">
                  <a:pos x="18" y="4"/>
                </a:cxn>
                <a:cxn ang="0">
                  <a:pos x="15" y="11"/>
                </a:cxn>
                <a:cxn ang="0">
                  <a:pos x="8" y="23"/>
                </a:cxn>
                <a:cxn ang="0">
                  <a:pos x="0" y="35"/>
                </a:cxn>
                <a:cxn ang="0">
                  <a:pos x="10" y="48"/>
                </a:cxn>
                <a:cxn ang="0">
                  <a:pos x="15" y="45"/>
                </a:cxn>
                <a:cxn ang="0">
                  <a:pos x="11" y="48"/>
                </a:cxn>
                <a:cxn ang="0">
                  <a:pos x="14" y="49"/>
                </a:cxn>
                <a:cxn ang="0">
                  <a:pos x="14" y="55"/>
                </a:cxn>
                <a:cxn ang="0">
                  <a:pos x="30" y="55"/>
                </a:cxn>
                <a:cxn ang="0">
                  <a:pos x="33" y="52"/>
                </a:cxn>
                <a:cxn ang="0">
                  <a:pos x="52" y="55"/>
                </a:cxn>
                <a:cxn ang="0">
                  <a:pos x="56" y="60"/>
                </a:cxn>
                <a:cxn ang="0">
                  <a:pos x="35" y="55"/>
                </a:cxn>
                <a:cxn ang="0">
                  <a:pos x="23" y="60"/>
                </a:cxn>
                <a:cxn ang="0">
                  <a:pos x="10" y="64"/>
                </a:cxn>
                <a:cxn ang="0">
                  <a:pos x="12" y="72"/>
                </a:cxn>
                <a:cxn ang="0">
                  <a:pos x="23" y="71"/>
                </a:cxn>
                <a:cxn ang="0">
                  <a:pos x="29" y="69"/>
                </a:cxn>
                <a:cxn ang="0">
                  <a:pos x="29" y="71"/>
                </a:cxn>
                <a:cxn ang="0">
                  <a:pos x="15" y="72"/>
                </a:cxn>
                <a:cxn ang="0">
                  <a:pos x="11" y="78"/>
                </a:cxn>
                <a:cxn ang="0">
                  <a:pos x="32" y="73"/>
                </a:cxn>
                <a:cxn ang="0">
                  <a:pos x="45" y="72"/>
                </a:cxn>
                <a:cxn ang="0">
                  <a:pos x="58" y="71"/>
                </a:cxn>
                <a:cxn ang="0">
                  <a:pos x="72" y="75"/>
                </a:cxn>
                <a:cxn ang="0">
                  <a:pos x="95" y="76"/>
                </a:cxn>
                <a:cxn ang="0">
                  <a:pos x="90" y="59"/>
                </a:cxn>
                <a:cxn ang="0">
                  <a:pos x="86" y="52"/>
                </a:cxn>
                <a:cxn ang="0">
                  <a:pos x="82" y="34"/>
                </a:cxn>
                <a:cxn ang="0">
                  <a:pos x="70" y="22"/>
                </a:cxn>
                <a:cxn ang="0">
                  <a:pos x="58" y="9"/>
                </a:cxn>
                <a:cxn ang="0">
                  <a:pos x="44" y="0"/>
                </a:cxn>
                <a:cxn ang="0">
                  <a:pos x="32" y="1"/>
                </a:cxn>
                <a:cxn ang="0">
                  <a:pos x="18" y="4"/>
                </a:cxn>
              </a:cxnLst>
              <a:rect l="0" t="0" r="r" b="b"/>
              <a:pathLst>
                <a:path w="95" h="78">
                  <a:moveTo>
                    <a:pt x="18" y="4"/>
                  </a:moveTo>
                  <a:lnTo>
                    <a:pt x="15" y="11"/>
                  </a:lnTo>
                  <a:lnTo>
                    <a:pt x="8" y="23"/>
                  </a:lnTo>
                  <a:lnTo>
                    <a:pt x="0" y="35"/>
                  </a:lnTo>
                  <a:lnTo>
                    <a:pt x="10" y="48"/>
                  </a:lnTo>
                  <a:lnTo>
                    <a:pt x="15" y="45"/>
                  </a:lnTo>
                  <a:lnTo>
                    <a:pt x="11" y="48"/>
                  </a:lnTo>
                  <a:lnTo>
                    <a:pt x="14" y="49"/>
                  </a:lnTo>
                  <a:lnTo>
                    <a:pt x="14" y="55"/>
                  </a:lnTo>
                  <a:lnTo>
                    <a:pt x="30" y="55"/>
                  </a:lnTo>
                  <a:lnTo>
                    <a:pt x="33" y="52"/>
                  </a:lnTo>
                  <a:lnTo>
                    <a:pt x="52" y="55"/>
                  </a:lnTo>
                  <a:lnTo>
                    <a:pt x="56" y="60"/>
                  </a:lnTo>
                  <a:lnTo>
                    <a:pt x="35" y="55"/>
                  </a:lnTo>
                  <a:lnTo>
                    <a:pt x="23" y="60"/>
                  </a:lnTo>
                  <a:lnTo>
                    <a:pt x="10" y="64"/>
                  </a:lnTo>
                  <a:lnTo>
                    <a:pt x="12" y="72"/>
                  </a:lnTo>
                  <a:lnTo>
                    <a:pt x="23" y="71"/>
                  </a:lnTo>
                  <a:lnTo>
                    <a:pt x="29" y="69"/>
                  </a:lnTo>
                  <a:lnTo>
                    <a:pt x="29" y="71"/>
                  </a:lnTo>
                  <a:lnTo>
                    <a:pt x="15" y="72"/>
                  </a:lnTo>
                  <a:lnTo>
                    <a:pt x="11" y="78"/>
                  </a:lnTo>
                  <a:lnTo>
                    <a:pt x="32" y="73"/>
                  </a:lnTo>
                  <a:lnTo>
                    <a:pt x="45" y="72"/>
                  </a:lnTo>
                  <a:lnTo>
                    <a:pt x="58" y="71"/>
                  </a:lnTo>
                  <a:lnTo>
                    <a:pt x="72" y="75"/>
                  </a:lnTo>
                  <a:lnTo>
                    <a:pt x="95" y="76"/>
                  </a:lnTo>
                  <a:lnTo>
                    <a:pt x="90" y="59"/>
                  </a:lnTo>
                  <a:lnTo>
                    <a:pt x="86" y="52"/>
                  </a:lnTo>
                  <a:lnTo>
                    <a:pt x="82" y="34"/>
                  </a:lnTo>
                  <a:lnTo>
                    <a:pt x="70" y="22"/>
                  </a:lnTo>
                  <a:lnTo>
                    <a:pt x="58" y="9"/>
                  </a:lnTo>
                  <a:lnTo>
                    <a:pt x="44" y="0"/>
                  </a:lnTo>
                  <a:lnTo>
                    <a:pt x="32" y="1"/>
                  </a:lnTo>
                  <a:lnTo>
                    <a:pt x="18"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8" name="Freeform 137"/>
            <p:cNvSpPr>
              <a:spLocks/>
            </p:cNvSpPr>
            <p:nvPr/>
          </p:nvSpPr>
          <p:spPr bwMode="auto">
            <a:xfrm>
              <a:off x="2656" y="1963"/>
              <a:ext cx="68" cy="140"/>
            </a:xfrm>
            <a:custGeom>
              <a:avLst/>
              <a:gdLst/>
              <a:ahLst/>
              <a:cxnLst>
                <a:cxn ang="0">
                  <a:pos x="41" y="118"/>
                </a:cxn>
                <a:cxn ang="0">
                  <a:pos x="32" y="126"/>
                </a:cxn>
                <a:cxn ang="0">
                  <a:pos x="29" y="109"/>
                </a:cxn>
                <a:cxn ang="0">
                  <a:pos x="24" y="92"/>
                </a:cxn>
                <a:cxn ang="0">
                  <a:pos x="12" y="79"/>
                </a:cxn>
                <a:cxn ang="0">
                  <a:pos x="0" y="61"/>
                </a:cxn>
                <a:cxn ang="0">
                  <a:pos x="7" y="48"/>
                </a:cxn>
                <a:cxn ang="0">
                  <a:pos x="13" y="34"/>
                </a:cxn>
                <a:cxn ang="0">
                  <a:pos x="12" y="10"/>
                </a:cxn>
                <a:cxn ang="0">
                  <a:pos x="15" y="6"/>
                </a:cxn>
                <a:cxn ang="0">
                  <a:pos x="32" y="0"/>
                </a:cxn>
                <a:cxn ang="0">
                  <a:pos x="38" y="3"/>
                </a:cxn>
                <a:cxn ang="0">
                  <a:pos x="42" y="9"/>
                </a:cxn>
                <a:cxn ang="0">
                  <a:pos x="51" y="3"/>
                </a:cxn>
                <a:cxn ang="0">
                  <a:pos x="44" y="22"/>
                </a:cxn>
                <a:cxn ang="0">
                  <a:pos x="54" y="36"/>
                </a:cxn>
                <a:cxn ang="0">
                  <a:pos x="45" y="46"/>
                </a:cxn>
                <a:cxn ang="0">
                  <a:pos x="38" y="57"/>
                </a:cxn>
                <a:cxn ang="0">
                  <a:pos x="51" y="66"/>
                </a:cxn>
                <a:cxn ang="0">
                  <a:pos x="61" y="73"/>
                </a:cxn>
                <a:cxn ang="0">
                  <a:pos x="60" y="87"/>
                </a:cxn>
                <a:cxn ang="0">
                  <a:pos x="50" y="96"/>
                </a:cxn>
                <a:cxn ang="0">
                  <a:pos x="41" y="104"/>
                </a:cxn>
                <a:cxn ang="0">
                  <a:pos x="41" y="118"/>
                </a:cxn>
              </a:cxnLst>
              <a:rect l="0" t="0" r="r" b="b"/>
              <a:pathLst>
                <a:path w="61" h="126">
                  <a:moveTo>
                    <a:pt x="41" y="118"/>
                  </a:moveTo>
                  <a:lnTo>
                    <a:pt x="32" y="126"/>
                  </a:lnTo>
                  <a:lnTo>
                    <a:pt x="29" y="109"/>
                  </a:lnTo>
                  <a:lnTo>
                    <a:pt x="24" y="92"/>
                  </a:lnTo>
                  <a:lnTo>
                    <a:pt x="12" y="79"/>
                  </a:lnTo>
                  <a:lnTo>
                    <a:pt x="0" y="61"/>
                  </a:lnTo>
                  <a:lnTo>
                    <a:pt x="7" y="48"/>
                  </a:lnTo>
                  <a:lnTo>
                    <a:pt x="13" y="34"/>
                  </a:lnTo>
                  <a:lnTo>
                    <a:pt x="12" y="10"/>
                  </a:lnTo>
                  <a:lnTo>
                    <a:pt x="15" y="6"/>
                  </a:lnTo>
                  <a:lnTo>
                    <a:pt x="32" y="0"/>
                  </a:lnTo>
                  <a:lnTo>
                    <a:pt x="38" y="3"/>
                  </a:lnTo>
                  <a:lnTo>
                    <a:pt x="42" y="9"/>
                  </a:lnTo>
                  <a:lnTo>
                    <a:pt x="51" y="3"/>
                  </a:lnTo>
                  <a:lnTo>
                    <a:pt x="44" y="22"/>
                  </a:lnTo>
                  <a:lnTo>
                    <a:pt x="54" y="36"/>
                  </a:lnTo>
                  <a:lnTo>
                    <a:pt x="45" y="46"/>
                  </a:lnTo>
                  <a:lnTo>
                    <a:pt x="38" y="57"/>
                  </a:lnTo>
                  <a:lnTo>
                    <a:pt x="51" y="66"/>
                  </a:lnTo>
                  <a:lnTo>
                    <a:pt x="61" y="73"/>
                  </a:lnTo>
                  <a:lnTo>
                    <a:pt x="60" y="87"/>
                  </a:lnTo>
                  <a:lnTo>
                    <a:pt x="50" y="96"/>
                  </a:lnTo>
                  <a:lnTo>
                    <a:pt x="41" y="104"/>
                  </a:lnTo>
                  <a:lnTo>
                    <a:pt x="41" y="1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9" name="Freeform 138"/>
            <p:cNvSpPr>
              <a:spLocks/>
            </p:cNvSpPr>
            <p:nvPr/>
          </p:nvSpPr>
          <p:spPr bwMode="auto">
            <a:xfrm>
              <a:off x="2329" y="2536"/>
              <a:ext cx="73" cy="83"/>
            </a:xfrm>
            <a:custGeom>
              <a:avLst/>
              <a:gdLst/>
              <a:ahLst/>
              <a:cxnLst>
                <a:cxn ang="0">
                  <a:pos x="62" y="74"/>
                </a:cxn>
                <a:cxn ang="0">
                  <a:pos x="45" y="63"/>
                </a:cxn>
                <a:cxn ang="0">
                  <a:pos x="29" y="54"/>
                </a:cxn>
                <a:cxn ang="0">
                  <a:pos x="14" y="40"/>
                </a:cxn>
                <a:cxn ang="0">
                  <a:pos x="0" y="27"/>
                </a:cxn>
                <a:cxn ang="0">
                  <a:pos x="5" y="21"/>
                </a:cxn>
                <a:cxn ang="0">
                  <a:pos x="12" y="10"/>
                </a:cxn>
                <a:cxn ang="0">
                  <a:pos x="19" y="0"/>
                </a:cxn>
                <a:cxn ang="0">
                  <a:pos x="27" y="0"/>
                </a:cxn>
                <a:cxn ang="0">
                  <a:pos x="32" y="18"/>
                </a:cxn>
                <a:cxn ang="0">
                  <a:pos x="36" y="21"/>
                </a:cxn>
                <a:cxn ang="0">
                  <a:pos x="43" y="16"/>
                </a:cxn>
                <a:cxn ang="0">
                  <a:pos x="48" y="16"/>
                </a:cxn>
                <a:cxn ang="0">
                  <a:pos x="48" y="32"/>
                </a:cxn>
                <a:cxn ang="0">
                  <a:pos x="48" y="36"/>
                </a:cxn>
                <a:cxn ang="0">
                  <a:pos x="57" y="44"/>
                </a:cxn>
                <a:cxn ang="0">
                  <a:pos x="65" y="52"/>
                </a:cxn>
                <a:cxn ang="0">
                  <a:pos x="62" y="74"/>
                </a:cxn>
              </a:cxnLst>
              <a:rect l="0" t="0" r="r" b="b"/>
              <a:pathLst>
                <a:path w="65" h="74">
                  <a:moveTo>
                    <a:pt x="62" y="74"/>
                  </a:moveTo>
                  <a:lnTo>
                    <a:pt x="45" y="63"/>
                  </a:lnTo>
                  <a:lnTo>
                    <a:pt x="29" y="54"/>
                  </a:lnTo>
                  <a:lnTo>
                    <a:pt x="14" y="40"/>
                  </a:lnTo>
                  <a:lnTo>
                    <a:pt x="0" y="27"/>
                  </a:lnTo>
                  <a:lnTo>
                    <a:pt x="5" y="21"/>
                  </a:lnTo>
                  <a:lnTo>
                    <a:pt x="12" y="10"/>
                  </a:lnTo>
                  <a:lnTo>
                    <a:pt x="19" y="0"/>
                  </a:lnTo>
                  <a:lnTo>
                    <a:pt x="27" y="0"/>
                  </a:lnTo>
                  <a:lnTo>
                    <a:pt x="32" y="18"/>
                  </a:lnTo>
                  <a:lnTo>
                    <a:pt x="36" y="21"/>
                  </a:lnTo>
                  <a:lnTo>
                    <a:pt x="43" y="16"/>
                  </a:lnTo>
                  <a:lnTo>
                    <a:pt x="48" y="16"/>
                  </a:lnTo>
                  <a:lnTo>
                    <a:pt x="48" y="32"/>
                  </a:lnTo>
                  <a:lnTo>
                    <a:pt x="48" y="36"/>
                  </a:lnTo>
                  <a:lnTo>
                    <a:pt x="57" y="44"/>
                  </a:lnTo>
                  <a:lnTo>
                    <a:pt x="65" y="52"/>
                  </a:lnTo>
                  <a:lnTo>
                    <a:pt x="62" y="7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0" name="Freeform 139"/>
            <p:cNvSpPr>
              <a:spLocks/>
            </p:cNvSpPr>
            <p:nvPr/>
          </p:nvSpPr>
          <p:spPr bwMode="auto">
            <a:xfrm>
              <a:off x="1076" y="2514"/>
              <a:ext cx="55" cy="47"/>
            </a:xfrm>
            <a:custGeom>
              <a:avLst/>
              <a:gdLst/>
              <a:ahLst/>
              <a:cxnLst>
                <a:cxn ang="0">
                  <a:pos x="0" y="28"/>
                </a:cxn>
                <a:cxn ang="0">
                  <a:pos x="1" y="14"/>
                </a:cxn>
                <a:cxn ang="0">
                  <a:pos x="0" y="2"/>
                </a:cxn>
                <a:cxn ang="0">
                  <a:pos x="6" y="0"/>
                </a:cxn>
                <a:cxn ang="0">
                  <a:pos x="10" y="8"/>
                </a:cxn>
                <a:cxn ang="0">
                  <a:pos x="18" y="10"/>
                </a:cxn>
                <a:cxn ang="0">
                  <a:pos x="22" y="15"/>
                </a:cxn>
                <a:cxn ang="0">
                  <a:pos x="44" y="6"/>
                </a:cxn>
                <a:cxn ang="0">
                  <a:pos x="46" y="9"/>
                </a:cxn>
                <a:cxn ang="0">
                  <a:pos x="50" y="14"/>
                </a:cxn>
                <a:cxn ang="0">
                  <a:pos x="38" y="24"/>
                </a:cxn>
                <a:cxn ang="0">
                  <a:pos x="45" y="36"/>
                </a:cxn>
                <a:cxn ang="0">
                  <a:pos x="31" y="42"/>
                </a:cxn>
                <a:cxn ang="0">
                  <a:pos x="28" y="32"/>
                </a:cxn>
                <a:cxn ang="0">
                  <a:pos x="26" y="35"/>
                </a:cxn>
                <a:cxn ang="0">
                  <a:pos x="19" y="28"/>
                </a:cxn>
                <a:cxn ang="0">
                  <a:pos x="3" y="23"/>
                </a:cxn>
                <a:cxn ang="0">
                  <a:pos x="0" y="28"/>
                </a:cxn>
              </a:cxnLst>
              <a:rect l="0" t="0" r="r" b="b"/>
              <a:pathLst>
                <a:path w="50" h="42">
                  <a:moveTo>
                    <a:pt x="0" y="28"/>
                  </a:moveTo>
                  <a:lnTo>
                    <a:pt x="1" y="14"/>
                  </a:lnTo>
                  <a:lnTo>
                    <a:pt x="0" y="2"/>
                  </a:lnTo>
                  <a:lnTo>
                    <a:pt x="6" y="0"/>
                  </a:lnTo>
                  <a:lnTo>
                    <a:pt x="10" y="8"/>
                  </a:lnTo>
                  <a:lnTo>
                    <a:pt x="18" y="10"/>
                  </a:lnTo>
                  <a:lnTo>
                    <a:pt x="22" y="15"/>
                  </a:lnTo>
                  <a:lnTo>
                    <a:pt x="44" y="6"/>
                  </a:lnTo>
                  <a:lnTo>
                    <a:pt x="46" y="9"/>
                  </a:lnTo>
                  <a:lnTo>
                    <a:pt x="50" y="14"/>
                  </a:lnTo>
                  <a:lnTo>
                    <a:pt x="38" y="24"/>
                  </a:lnTo>
                  <a:lnTo>
                    <a:pt x="45" y="36"/>
                  </a:lnTo>
                  <a:lnTo>
                    <a:pt x="31" y="42"/>
                  </a:lnTo>
                  <a:lnTo>
                    <a:pt x="28" y="32"/>
                  </a:lnTo>
                  <a:lnTo>
                    <a:pt x="26" y="35"/>
                  </a:lnTo>
                  <a:lnTo>
                    <a:pt x="19" y="28"/>
                  </a:lnTo>
                  <a:lnTo>
                    <a:pt x="3" y="23"/>
                  </a:lnTo>
                  <a:lnTo>
                    <a:pt x="0"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1" name="Freeform 140"/>
            <p:cNvSpPr>
              <a:spLocks/>
            </p:cNvSpPr>
            <p:nvPr/>
          </p:nvSpPr>
          <p:spPr bwMode="auto">
            <a:xfrm>
              <a:off x="1067" y="2243"/>
              <a:ext cx="182" cy="64"/>
            </a:xfrm>
            <a:custGeom>
              <a:avLst/>
              <a:gdLst/>
              <a:ahLst/>
              <a:cxnLst>
                <a:cxn ang="0">
                  <a:pos x="116" y="23"/>
                </a:cxn>
                <a:cxn ang="0">
                  <a:pos x="116" y="24"/>
                </a:cxn>
                <a:cxn ang="0">
                  <a:pos x="100" y="17"/>
                </a:cxn>
                <a:cxn ang="0">
                  <a:pos x="83" y="8"/>
                </a:cxn>
                <a:cxn ang="0">
                  <a:pos x="71" y="3"/>
                </a:cxn>
                <a:cxn ang="0">
                  <a:pos x="60" y="0"/>
                </a:cxn>
                <a:cxn ang="0">
                  <a:pos x="54" y="0"/>
                </a:cxn>
                <a:cxn ang="0">
                  <a:pos x="35" y="3"/>
                </a:cxn>
                <a:cxn ang="0">
                  <a:pos x="17" y="7"/>
                </a:cxn>
                <a:cxn ang="0">
                  <a:pos x="9" y="18"/>
                </a:cxn>
                <a:cxn ang="0">
                  <a:pos x="0" y="23"/>
                </a:cxn>
                <a:cxn ang="0">
                  <a:pos x="6" y="21"/>
                </a:cxn>
                <a:cxn ang="0">
                  <a:pos x="20" y="15"/>
                </a:cxn>
                <a:cxn ang="0">
                  <a:pos x="32" y="9"/>
                </a:cxn>
                <a:cxn ang="0">
                  <a:pos x="52" y="9"/>
                </a:cxn>
                <a:cxn ang="0">
                  <a:pos x="45" y="12"/>
                </a:cxn>
                <a:cxn ang="0">
                  <a:pos x="58" y="17"/>
                </a:cxn>
                <a:cxn ang="0">
                  <a:pos x="66" y="19"/>
                </a:cxn>
                <a:cxn ang="0">
                  <a:pos x="71" y="21"/>
                </a:cxn>
                <a:cxn ang="0">
                  <a:pos x="93" y="26"/>
                </a:cxn>
                <a:cxn ang="0">
                  <a:pos x="98" y="37"/>
                </a:cxn>
                <a:cxn ang="0">
                  <a:pos x="117" y="47"/>
                </a:cxn>
                <a:cxn ang="0">
                  <a:pos x="107" y="57"/>
                </a:cxn>
                <a:cxn ang="0">
                  <a:pos x="123" y="57"/>
                </a:cxn>
                <a:cxn ang="0">
                  <a:pos x="138" y="56"/>
                </a:cxn>
                <a:cxn ang="0">
                  <a:pos x="150" y="55"/>
                </a:cxn>
                <a:cxn ang="0">
                  <a:pos x="164" y="53"/>
                </a:cxn>
                <a:cxn ang="0">
                  <a:pos x="152" y="47"/>
                </a:cxn>
                <a:cxn ang="0">
                  <a:pos x="141" y="41"/>
                </a:cxn>
                <a:cxn ang="0">
                  <a:pos x="140" y="36"/>
                </a:cxn>
                <a:cxn ang="0">
                  <a:pos x="129" y="31"/>
                </a:cxn>
                <a:cxn ang="0">
                  <a:pos x="117" y="27"/>
                </a:cxn>
                <a:cxn ang="0">
                  <a:pos x="116" y="23"/>
                </a:cxn>
              </a:cxnLst>
              <a:rect l="0" t="0" r="r" b="b"/>
              <a:pathLst>
                <a:path w="164" h="57">
                  <a:moveTo>
                    <a:pt x="116" y="23"/>
                  </a:moveTo>
                  <a:lnTo>
                    <a:pt x="116" y="24"/>
                  </a:lnTo>
                  <a:lnTo>
                    <a:pt x="100" y="17"/>
                  </a:lnTo>
                  <a:lnTo>
                    <a:pt x="83" y="8"/>
                  </a:lnTo>
                  <a:lnTo>
                    <a:pt x="71" y="3"/>
                  </a:lnTo>
                  <a:lnTo>
                    <a:pt x="60" y="0"/>
                  </a:lnTo>
                  <a:lnTo>
                    <a:pt x="54" y="0"/>
                  </a:lnTo>
                  <a:lnTo>
                    <a:pt x="35" y="3"/>
                  </a:lnTo>
                  <a:lnTo>
                    <a:pt x="17" y="7"/>
                  </a:lnTo>
                  <a:lnTo>
                    <a:pt x="9" y="18"/>
                  </a:lnTo>
                  <a:lnTo>
                    <a:pt x="0" y="23"/>
                  </a:lnTo>
                  <a:lnTo>
                    <a:pt x="6" y="21"/>
                  </a:lnTo>
                  <a:lnTo>
                    <a:pt x="20" y="15"/>
                  </a:lnTo>
                  <a:lnTo>
                    <a:pt x="32" y="9"/>
                  </a:lnTo>
                  <a:lnTo>
                    <a:pt x="52" y="9"/>
                  </a:lnTo>
                  <a:lnTo>
                    <a:pt x="45" y="12"/>
                  </a:lnTo>
                  <a:lnTo>
                    <a:pt x="58" y="17"/>
                  </a:lnTo>
                  <a:lnTo>
                    <a:pt x="66" y="19"/>
                  </a:lnTo>
                  <a:lnTo>
                    <a:pt x="71" y="21"/>
                  </a:lnTo>
                  <a:lnTo>
                    <a:pt x="93" y="26"/>
                  </a:lnTo>
                  <a:lnTo>
                    <a:pt x="98" y="37"/>
                  </a:lnTo>
                  <a:lnTo>
                    <a:pt x="117" y="47"/>
                  </a:lnTo>
                  <a:lnTo>
                    <a:pt x="107" y="57"/>
                  </a:lnTo>
                  <a:lnTo>
                    <a:pt x="123" y="57"/>
                  </a:lnTo>
                  <a:lnTo>
                    <a:pt x="138" y="56"/>
                  </a:lnTo>
                  <a:lnTo>
                    <a:pt x="150" y="55"/>
                  </a:lnTo>
                  <a:lnTo>
                    <a:pt x="164" y="53"/>
                  </a:lnTo>
                  <a:lnTo>
                    <a:pt x="152" y="47"/>
                  </a:lnTo>
                  <a:lnTo>
                    <a:pt x="141" y="41"/>
                  </a:lnTo>
                  <a:lnTo>
                    <a:pt x="140" y="36"/>
                  </a:lnTo>
                  <a:lnTo>
                    <a:pt x="129" y="31"/>
                  </a:lnTo>
                  <a:lnTo>
                    <a:pt x="117" y="27"/>
                  </a:lnTo>
                  <a:lnTo>
                    <a:pt x="116" y="2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2" name="Freeform 141"/>
            <p:cNvSpPr>
              <a:spLocks/>
            </p:cNvSpPr>
            <p:nvPr/>
          </p:nvSpPr>
          <p:spPr bwMode="auto">
            <a:xfrm>
              <a:off x="1096" y="2267"/>
              <a:ext cx="11" cy="9"/>
            </a:xfrm>
            <a:custGeom>
              <a:avLst/>
              <a:gdLst/>
              <a:ahLst/>
              <a:cxnLst>
                <a:cxn ang="0">
                  <a:pos x="0" y="9"/>
                </a:cxn>
                <a:cxn ang="0">
                  <a:pos x="8" y="7"/>
                </a:cxn>
                <a:cxn ang="0">
                  <a:pos x="2" y="0"/>
                </a:cxn>
                <a:cxn ang="0">
                  <a:pos x="0" y="9"/>
                </a:cxn>
              </a:cxnLst>
              <a:rect l="0" t="0" r="r" b="b"/>
              <a:pathLst>
                <a:path w="8" h="9">
                  <a:moveTo>
                    <a:pt x="0" y="9"/>
                  </a:moveTo>
                  <a:lnTo>
                    <a:pt x="8" y="7"/>
                  </a:lnTo>
                  <a:lnTo>
                    <a:pt x="2" y="0"/>
                  </a:lnTo>
                  <a:lnTo>
                    <a:pt x="0"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3" name="Freeform 142"/>
            <p:cNvSpPr>
              <a:spLocks/>
            </p:cNvSpPr>
            <p:nvPr/>
          </p:nvSpPr>
          <p:spPr bwMode="auto">
            <a:xfrm>
              <a:off x="1120" y="2319"/>
              <a:ext cx="7" cy="2"/>
            </a:xfrm>
            <a:custGeom>
              <a:avLst/>
              <a:gdLst/>
              <a:ahLst/>
              <a:cxnLst>
                <a:cxn ang="0">
                  <a:pos x="5" y="1"/>
                </a:cxn>
                <a:cxn ang="0">
                  <a:pos x="5" y="0"/>
                </a:cxn>
                <a:cxn ang="0">
                  <a:pos x="4" y="0"/>
                </a:cxn>
                <a:cxn ang="0">
                  <a:pos x="3" y="0"/>
                </a:cxn>
                <a:cxn ang="0">
                  <a:pos x="2" y="0"/>
                </a:cxn>
                <a:cxn ang="0">
                  <a:pos x="3" y="0"/>
                </a:cxn>
                <a:cxn ang="0">
                  <a:pos x="3" y="1"/>
                </a:cxn>
                <a:cxn ang="0">
                  <a:pos x="2" y="1"/>
                </a:cxn>
                <a:cxn ang="0">
                  <a:pos x="0" y="1"/>
                </a:cxn>
                <a:cxn ang="0">
                  <a:pos x="0" y="0"/>
                </a:cxn>
                <a:cxn ang="0">
                  <a:pos x="0" y="1"/>
                </a:cxn>
                <a:cxn ang="0">
                  <a:pos x="0" y="2"/>
                </a:cxn>
                <a:cxn ang="0">
                  <a:pos x="0" y="1"/>
                </a:cxn>
                <a:cxn ang="0">
                  <a:pos x="2" y="1"/>
                </a:cxn>
                <a:cxn ang="0">
                  <a:pos x="2" y="2"/>
                </a:cxn>
                <a:cxn ang="0">
                  <a:pos x="3" y="2"/>
                </a:cxn>
                <a:cxn ang="0">
                  <a:pos x="3" y="1"/>
                </a:cxn>
                <a:cxn ang="0">
                  <a:pos x="4" y="1"/>
                </a:cxn>
                <a:cxn ang="0">
                  <a:pos x="5" y="1"/>
                </a:cxn>
              </a:cxnLst>
              <a:rect l="0" t="0" r="r" b="b"/>
              <a:pathLst>
                <a:path w="5" h="2">
                  <a:moveTo>
                    <a:pt x="5" y="1"/>
                  </a:moveTo>
                  <a:lnTo>
                    <a:pt x="5" y="0"/>
                  </a:lnTo>
                  <a:lnTo>
                    <a:pt x="4" y="0"/>
                  </a:lnTo>
                  <a:lnTo>
                    <a:pt x="3" y="0"/>
                  </a:lnTo>
                  <a:lnTo>
                    <a:pt x="2" y="0"/>
                  </a:lnTo>
                  <a:lnTo>
                    <a:pt x="3" y="0"/>
                  </a:lnTo>
                  <a:lnTo>
                    <a:pt x="3" y="1"/>
                  </a:lnTo>
                  <a:lnTo>
                    <a:pt x="2" y="1"/>
                  </a:lnTo>
                  <a:lnTo>
                    <a:pt x="0" y="1"/>
                  </a:lnTo>
                  <a:lnTo>
                    <a:pt x="0" y="0"/>
                  </a:lnTo>
                  <a:lnTo>
                    <a:pt x="0" y="1"/>
                  </a:lnTo>
                  <a:lnTo>
                    <a:pt x="0" y="2"/>
                  </a:lnTo>
                  <a:lnTo>
                    <a:pt x="0" y="1"/>
                  </a:lnTo>
                  <a:lnTo>
                    <a:pt x="2" y="1"/>
                  </a:lnTo>
                  <a:lnTo>
                    <a:pt x="2" y="2"/>
                  </a:lnTo>
                  <a:lnTo>
                    <a:pt x="3" y="2"/>
                  </a:lnTo>
                  <a:lnTo>
                    <a:pt x="3" y="1"/>
                  </a:lnTo>
                  <a:lnTo>
                    <a:pt x="4" y="1"/>
                  </a:lnTo>
                  <a:lnTo>
                    <a:pt x="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4" name="Freeform 143"/>
            <p:cNvSpPr>
              <a:spLocks/>
            </p:cNvSpPr>
            <p:nvPr/>
          </p:nvSpPr>
          <p:spPr bwMode="auto">
            <a:xfrm>
              <a:off x="1147" y="2310"/>
              <a:ext cx="2" cy="2"/>
            </a:xfrm>
            <a:custGeom>
              <a:avLst/>
              <a:gdLst/>
              <a:ahLst/>
              <a:cxnLst>
                <a:cxn ang="0">
                  <a:pos x="3" y="0"/>
                </a:cxn>
                <a:cxn ang="0">
                  <a:pos x="2" y="1"/>
                </a:cxn>
                <a:cxn ang="0">
                  <a:pos x="0" y="1"/>
                </a:cxn>
                <a:cxn ang="0">
                  <a:pos x="2" y="1"/>
                </a:cxn>
                <a:cxn ang="0">
                  <a:pos x="3" y="1"/>
                </a:cxn>
                <a:cxn ang="0">
                  <a:pos x="3" y="0"/>
                </a:cxn>
              </a:cxnLst>
              <a:rect l="0" t="0" r="r" b="b"/>
              <a:pathLst>
                <a:path w="3" h="1">
                  <a:moveTo>
                    <a:pt x="3" y="0"/>
                  </a:moveTo>
                  <a:lnTo>
                    <a:pt x="2" y="1"/>
                  </a:lnTo>
                  <a:lnTo>
                    <a:pt x="0" y="1"/>
                  </a:lnTo>
                  <a:lnTo>
                    <a:pt x="2" y="1"/>
                  </a:lnTo>
                  <a:lnTo>
                    <a:pt x="3" y="1"/>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5" name="Freeform 144"/>
            <p:cNvSpPr>
              <a:spLocks/>
            </p:cNvSpPr>
            <p:nvPr/>
          </p:nvSpPr>
          <p:spPr bwMode="auto">
            <a:xfrm>
              <a:off x="1142" y="2312"/>
              <a:ext cx="5" cy="2"/>
            </a:xfrm>
            <a:custGeom>
              <a:avLst/>
              <a:gdLst/>
              <a:ahLst/>
              <a:cxnLst>
                <a:cxn ang="0">
                  <a:pos x="2" y="0"/>
                </a:cxn>
                <a:cxn ang="0">
                  <a:pos x="1" y="0"/>
                </a:cxn>
                <a:cxn ang="0">
                  <a:pos x="0" y="0"/>
                </a:cxn>
                <a:cxn ang="0">
                  <a:pos x="0" y="1"/>
                </a:cxn>
                <a:cxn ang="0">
                  <a:pos x="1" y="1"/>
                </a:cxn>
                <a:cxn ang="0">
                  <a:pos x="1" y="0"/>
                </a:cxn>
                <a:cxn ang="0">
                  <a:pos x="2" y="0"/>
                </a:cxn>
              </a:cxnLst>
              <a:rect l="0" t="0" r="r" b="b"/>
              <a:pathLst>
                <a:path w="2" h="1">
                  <a:moveTo>
                    <a:pt x="2" y="0"/>
                  </a:moveTo>
                  <a:lnTo>
                    <a:pt x="1" y="0"/>
                  </a:lnTo>
                  <a:lnTo>
                    <a:pt x="0" y="0"/>
                  </a:lnTo>
                  <a:lnTo>
                    <a:pt x="0" y="1"/>
                  </a:lnTo>
                  <a:lnTo>
                    <a:pt x="1" y="1"/>
                  </a:lnTo>
                  <a:lnTo>
                    <a:pt x="1"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6" name="Freeform 145"/>
            <p:cNvSpPr>
              <a:spLocks/>
            </p:cNvSpPr>
            <p:nvPr/>
          </p:nvSpPr>
          <p:spPr bwMode="auto">
            <a:xfrm>
              <a:off x="1409" y="2336"/>
              <a:ext cx="2" cy="3"/>
            </a:xfrm>
            <a:custGeom>
              <a:avLst/>
              <a:gdLst/>
              <a:ahLst/>
              <a:cxnLst>
                <a:cxn ang="0">
                  <a:pos x="2" y="0"/>
                </a:cxn>
                <a:cxn ang="0">
                  <a:pos x="1" y="0"/>
                </a:cxn>
                <a:cxn ang="0">
                  <a:pos x="0" y="0"/>
                </a:cxn>
                <a:cxn ang="0">
                  <a:pos x="0" y="1"/>
                </a:cxn>
                <a:cxn ang="0">
                  <a:pos x="1" y="1"/>
                </a:cxn>
                <a:cxn ang="0">
                  <a:pos x="1" y="0"/>
                </a:cxn>
                <a:cxn ang="0">
                  <a:pos x="2" y="0"/>
                </a:cxn>
              </a:cxnLst>
              <a:rect l="0" t="0" r="r" b="b"/>
              <a:pathLst>
                <a:path w="2" h="1">
                  <a:moveTo>
                    <a:pt x="2" y="0"/>
                  </a:moveTo>
                  <a:lnTo>
                    <a:pt x="1" y="0"/>
                  </a:lnTo>
                  <a:lnTo>
                    <a:pt x="0" y="0"/>
                  </a:lnTo>
                  <a:lnTo>
                    <a:pt x="0" y="1"/>
                  </a:lnTo>
                  <a:lnTo>
                    <a:pt x="1" y="1"/>
                  </a:lnTo>
                  <a:lnTo>
                    <a:pt x="1"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7" name="Freeform 146"/>
            <p:cNvSpPr>
              <a:spLocks/>
            </p:cNvSpPr>
            <p:nvPr/>
          </p:nvSpPr>
          <p:spPr bwMode="auto">
            <a:xfrm>
              <a:off x="1414" y="2330"/>
              <a:ext cx="2" cy="2"/>
            </a:xfrm>
            <a:custGeom>
              <a:avLst/>
              <a:gdLst/>
              <a:ahLst/>
              <a:cxnLst>
                <a:cxn ang="0">
                  <a:pos x="3" y="1"/>
                </a:cxn>
                <a:cxn ang="0">
                  <a:pos x="2" y="1"/>
                </a:cxn>
                <a:cxn ang="0">
                  <a:pos x="2" y="0"/>
                </a:cxn>
                <a:cxn ang="0">
                  <a:pos x="0" y="0"/>
                </a:cxn>
                <a:cxn ang="0">
                  <a:pos x="0" y="1"/>
                </a:cxn>
                <a:cxn ang="0">
                  <a:pos x="0" y="0"/>
                </a:cxn>
                <a:cxn ang="0">
                  <a:pos x="0" y="1"/>
                </a:cxn>
                <a:cxn ang="0">
                  <a:pos x="2" y="1"/>
                </a:cxn>
                <a:cxn ang="0">
                  <a:pos x="3" y="1"/>
                </a:cxn>
              </a:cxnLst>
              <a:rect l="0" t="0" r="r" b="b"/>
              <a:pathLst>
                <a:path w="3" h="1">
                  <a:moveTo>
                    <a:pt x="3" y="1"/>
                  </a:moveTo>
                  <a:lnTo>
                    <a:pt x="2" y="1"/>
                  </a:lnTo>
                  <a:lnTo>
                    <a:pt x="2" y="0"/>
                  </a:lnTo>
                  <a:lnTo>
                    <a:pt x="0" y="0"/>
                  </a:lnTo>
                  <a:lnTo>
                    <a:pt x="0" y="1"/>
                  </a:lnTo>
                  <a:lnTo>
                    <a:pt x="0" y="0"/>
                  </a:lnTo>
                  <a:lnTo>
                    <a:pt x="0" y="1"/>
                  </a:lnTo>
                  <a:lnTo>
                    <a:pt x="2" y="1"/>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8" name="Freeform 147"/>
            <p:cNvSpPr>
              <a:spLocks/>
            </p:cNvSpPr>
            <p:nvPr/>
          </p:nvSpPr>
          <p:spPr bwMode="auto">
            <a:xfrm>
              <a:off x="1414" y="2336"/>
              <a:ext cx="2" cy="3"/>
            </a:xfrm>
            <a:custGeom>
              <a:avLst/>
              <a:gdLst/>
              <a:ahLst/>
              <a:cxnLst>
                <a:cxn ang="0">
                  <a:pos x="3" y="0"/>
                </a:cxn>
                <a:cxn ang="0">
                  <a:pos x="1" y="0"/>
                </a:cxn>
                <a:cxn ang="0">
                  <a:pos x="1" y="1"/>
                </a:cxn>
                <a:cxn ang="0">
                  <a:pos x="0" y="1"/>
                </a:cxn>
                <a:cxn ang="0">
                  <a:pos x="1" y="1"/>
                </a:cxn>
                <a:cxn ang="0">
                  <a:pos x="1" y="0"/>
                </a:cxn>
                <a:cxn ang="0">
                  <a:pos x="3" y="0"/>
                </a:cxn>
              </a:cxnLst>
              <a:rect l="0" t="0" r="r" b="b"/>
              <a:pathLst>
                <a:path w="3" h="1">
                  <a:moveTo>
                    <a:pt x="3" y="0"/>
                  </a:moveTo>
                  <a:lnTo>
                    <a:pt x="1" y="0"/>
                  </a:lnTo>
                  <a:lnTo>
                    <a:pt x="1" y="1"/>
                  </a:lnTo>
                  <a:lnTo>
                    <a:pt x="0" y="1"/>
                  </a:lnTo>
                  <a:lnTo>
                    <a:pt x="1" y="1"/>
                  </a:lnTo>
                  <a:lnTo>
                    <a:pt x="1" y="0"/>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9" name="Freeform 148"/>
            <p:cNvSpPr>
              <a:spLocks/>
            </p:cNvSpPr>
            <p:nvPr/>
          </p:nvSpPr>
          <p:spPr bwMode="auto">
            <a:xfrm>
              <a:off x="1409" y="2339"/>
              <a:ext cx="2" cy="2"/>
            </a:xfrm>
            <a:custGeom>
              <a:avLst/>
              <a:gdLst/>
              <a:ahLst/>
              <a:cxnLst>
                <a:cxn ang="0">
                  <a:pos x="1" y="0"/>
                </a:cxn>
                <a:cxn ang="0">
                  <a:pos x="0" y="0"/>
                </a:cxn>
                <a:cxn ang="0">
                  <a:pos x="0" y="1"/>
                </a:cxn>
                <a:cxn ang="0">
                  <a:pos x="0" y="0"/>
                </a:cxn>
                <a:cxn ang="0">
                  <a:pos x="1" y="0"/>
                </a:cxn>
              </a:cxnLst>
              <a:rect l="0" t="0" r="r" b="b"/>
              <a:pathLst>
                <a:path w="1" h="1">
                  <a:moveTo>
                    <a:pt x="1" y="0"/>
                  </a:moveTo>
                  <a:lnTo>
                    <a:pt x="0" y="0"/>
                  </a:lnTo>
                  <a:lnTo>
                    <a:pt x="0"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0" name="Freeform 149"/>
            <p:cNvSpPr>
              <a:spLocks/>
            </p:cNvSpPr>
            <p:nvPr/>
          </p:nvSpPr>
          <p:spPr bwMode="auto">
            <a:xfrm>
              <a:off x="1282" y="2310"/>
              <a:ext cx="65" cy="44"/>
            </a:xfrm>
            <a:custGeom>
              <a:avLst/>
              <a:gdLst/>
              <a:ahLst/>
              <a:cxnLst>
                <a:cxn ang="0">
                  <a:pos x="5" y="2"/>
                </a:cxn>
                <a:cxn ang="0">
                  <a:pos x="2" y="15"/>
                </a:cxn>
                <a:cxn ang="0">
                  <a:pos x="0" y="21"/>
                </a:cxn>
                <a:cxn ang="0">
                  <a:pos x="1" y="32"/>
                </a:cxn>
                <a:cxn ang="0">
                  <a:pos x="6" y="40"/>
                </a:cxn>
                <a:cxn ang="0">
                  <a:pos x="13" y="30"/>
                </a:cxn>
                <a:cxn ang="0">
                  <a:pos x="20" y="26"/>
                </a:cxn>
                <a:cxn ang="0">
                  <a:pos x="29" y="27"/>
                </a:cxn>
                <a:cxn ang="0">
                  <a:pos x="49" y="28"/>
                </a:cxn>
                <a:cxn ang="0">
                  <a:pos x="56" y="21"/>
                </a:cxn>
                <a:cxn ang="0">
                  <a:pos x="38" y="13"/>
                </a:cxn>
                <a:cxn ang="0">
                  <a:pos x="42" y="9"/>
                </a:cxn>
                <a:cxn ang="0">
                  <a:pos x="33" y="6"/>
                </a:cxn>
                <a:cxn ang="0">
                  <a:pos x="12" y="0"/>
                </a:cxn>
                <a:cxn ang="0">
                  <a:pos x="5" y="2"/>
                </a:cxn>
              </a:cxnLst>
              <a:rect l="0" t="0" r="r" b="b"/>
              <a:pathLst>
                <a:path w="56" h="40">
                  <a:moveTo>
                    <a:pt x="5" y="2"/>
                  </a:moveTo>
                  <a:lnTo>
                    <a:pt x="2" y="15"/>
                  </a:lnTo>
                  <a:lnTo>
                    <a:pt x="0" y="21"/>
                  </a:lnTo>
                  <a:lnTo>
                    <a:pt x="1" y="32"/>
                  </a:lnTo>
                  <a:lnTo>
                    <a:pt x="6" y="40"/>
                  </a:lnTo>
                  <a:lnTo>
                    <a:pt x="13" y="30"/>
                  </a:lnTo>
                  <a:lnTo>
                    <a:pt x="20" y="26"/>
                  </a:lnTo>
                  <a:lnTo>
                    <a:pt x="29" y="27"/>
                  </a:lnTo>
                  <a:lnTo>
                    <a:pt x="49" y="28"/>
                  </a:lnTo>
                  <a:lnTo>
                    <a:pt x="56" y="21"/>
                  </a:lnTo>
                  <a:lnTo>
                    <a:pt x="38" y="13"/>
                  </a:lnTo>
                  <a:lnTo>
                    <a:pt x="42" y="9"/>
                  </a:lnTo>
                  <a:lnTo>
                    <a:pt x="33" y="6"/>
                  </a:lnTo>
                  <a:lnTo>
                    <a:pt x="12"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1" name="Freeform 150"/>
            <p:cNvSpPr>
              <a:spLocks/>
            </p:cNvSpPr>
            <p:nvPr/>
          </p:nvSpPr>
          <p:spPr bwMode="auto">
            <a:xfrm>
              <a:off x="1238" y="2310"/>
              <a:ext cx="51" cy="35"/>
            </a:xfrm>
            <a:custGeom>
              <a:avLst/>
              <a:gdLst/>
              <a:ahLst/>
              <a:cxnLst>
                <a:cxn ang="0">
                  <a:pos x="46" y="2"/>
                </a:cxn>
                <a:cxn ang="0">
                  <a:pos x="43" y="15"/>
                </a:cxn>
                <a:cxn ang="0">
                  <a:pos x="41" y="21"/>
                </a:cxn>
                <a:cxn ang="0">
                  <a:pos x="42" y="32"/>
                </a:cxn>
                <a:cxn ang="0">
                  <a:pos x="26" y="31"/>
                </a:cxn>
                <a:cxn ang="0">
                  <a:pos x="10" y="31"/>
                </a:cxn>
                <a:cxn ang="0">
                  <a:pos x="0" y="25"/>
                </a:cxn>
                <a:cxn ang="0">
                  <a:pos x="8" y="22"/>
                </a:cxn>
                <a:cxn ang="0">
                  <a:pos x="22" y="22"/>
                </a:cxn>
                <a:cxn ang="0">
                  <a:pos x="34" y="24"/>
                </a:cxn>
                <a:cxn ang="0">
                  <a:pos x="29" y="9"/>
                </a:cxn>
                <a:cxn ang="0">
                  <a:pos x="23" y="3"/>
                </a:cxn>
                <a:cxn ang="0">
                  <a:pos x="20" y="0"/>
                </a:cxn>
                <a:cxn ang="0">
                  <a:pos x="36" y="1"/>
                </a:cxn>
                <a:cxn ang="0">
                  <a:pos x="46" y="2"/>
                </a:cxn>
              </a:cxnLst>
              <a:rect l="0" t="0" r="r" b="b"/>
              <a:pathLst>
                <a:path w="46" h="32">
                  <a:moveTo>
                    <a:pt x="46" y="2"/>
                  </a:moveTo>
                  <a:lnTo>
                    <a:pt x="43" y="15"/>
                  </a:lnTo>
                  <a:lnTo>
                    <a:pt x="41" y="21"/>
                  </a:lnTo>
                  <a:lnTo>
                    <a:pt x="42" y="32"/>
                  </a:lnTo>
                  <a:lnTo>
                    <a:pt x="26" y="31"/>
                  </a:lnTo>
                  <a:lnTo>
                    <a:pt x="10" y="31"/>
                  </a:lnTo>
                  <a:lnTo>
                    <a:pt x="0" y="25"/>
                  </a:lnTo>
                  <a:lnTo>
                    <a:pt x="8" y="22"/>
                  </a:lnTo>
                  <a:lnTo>
                    <a:pt x="22" y="22"/>
                  </a:lnTo>
                  <a:lnTo>
                    <a:pt x="34" y="24"/>
                  </a:lnTo>
                  <a:lnTo>
                    <a:pt x="29" y="9"/>
                  </a:lnTo>
                  <a:lnTo>
                    <a:pt x="23" y="3"/>
                  </a:lnTo>
                  <a:lnTo>
                    <a:pt x="20" y="0"/>
                  </a:lnTo>
                  <a:lnTo>
                    <a:pt x="36" y="1"/>
                  </a:lnTo>
                  <a:lnTo>
                    <a:pt x="4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2" name="Freeform 151"/>
            <p:cNvSpPr>
              <a:spLocks/>
            </p:cNvSpPr>
            <p:nvPr/>
          </p:nvSpPr>
          <p:spPr bwMode="auto">
            <a:xfrm>
              <a:off x="1282" y="2270"/>
              <a:ext cx="5" cy="2"/>
            </a:xfrm>
            <a:custGeom>
              <a:avLst/>
              <a:gdLst/>
              <a:ahLst/>
              <a:cxnLst>
                <a:cxn ang="0">
                  <a:pos x="2" y="1"/>
                </a:cxn>
                <a:cxn ang="0">
                  <a:pos x="0" y="1"/>
                </a:cxn>
                <a:cxn ang="0">
                  <a:pos x="0" y="0"/>
                </a:cxn>
                <a:cxn ang="0">
                  <a:pos x="3" y="1"/>
                </a:cxn>
                <a:cxn ang="0">
                  <a:pos x="2" y="1"/>
                </a:cxn>
              </a:cxnLst>
              <a:rect l="0" t="0" r="r" b="b"/>
              <a:pathLst>
                <a:path w="3" h="1">
                  <a:moveTo>
                    <a:pt x="2" y="1"/>
                  </a:moveTo>
                  <a:lnTo>
                    <a:pt x="0" y="1"/>
                  </a:lnTo>
                  <a:lnTo>
                    <a:pt x="0" y="0"/>
                  </a:lnTo>
                  <a:lnTo>
                    <a:pt x="3" y="1"/>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3" name="Freeform 152"/>
            <p:cNvSpPr>
              <a:spLocks/>
            </p:cNvSpPr>
            <p:nvPr/>
          </p:nvSpPr>
          <p:spPr bwMode="auto">
            <a:xfrm>
              <a:off x="1291" y="2270"/>
              <a:ext cx="5" cy="2"/>
            </a:xfrm>
            <a:custGeom>
              <a:avLst/>
              <a:gdLst/>
              <a:ahLst/>
              <a:cxnLst>
                <a:cxn ang="0">
                  <a:pos x="4" y="1"/>
                </a:cxn>
                <a:cxn ang="0">
                  <a:pos x="0" y="0"/>
                </a:cxn>
                <a:cxn ang="0">
                  <a:pos x="4" y="1"/>
                </a:cxn>
              </a:cxnLst>
              <a:rect l="0" t="0" r="r" b="b"/>
              <a:pathLst>
                <a:path w="4" h="1">
                  <a:moveTo>
                    <a:pt x="4" y="1"/>
                  </a:moveTo>
                  <a:lnTo>
                    <a:pt x="0" y="0"/>
                  </a:lnTo>
                  <a:lnTo>
                    <a:pt x="4"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4" name="Freeform 153"/>
            <p:cNvSpPr>
              <a:spLocks/>
            </p:cNvSpPr>
            <p:nvPr/>
          </p:nvSpPr>
          <p:spPr bwMode="auto">
            <a:xfrm>
              <a:off x="1465" y="2425"/>
              <a:ext cx="2" cy="7"/>
            </a:xfrm>
            <a:custGeom>
              <a:avLst/>
              <a:gdLst/>
              <a:ahLst/>
              <a:cxnLst>
                <a:cxn ang="0">
                  <a:pos x="1" y="6"/>
                </a:cxn>
                <a:cxn ang="0">
                  <a:pos x="0" y="2"/>
                </a:cxn>
                <a:cxn ang="0">
                  <a:pos x="2" y="0"/>
                </a:cxn>
                <a:cxn ang="0">
                  <a:pos x="1" y="6"/>
                </a:cxn>
              </a:cxnLst>
              <a:rect l="0" t="0" r="r" b="b"/>
              <a:pathLst>
                <a:path w="2" h="6">
                  <a:moveTo>
                    <a:pt x="1" y="6"/>
                  </a:moveTo>
                  <a:lnTo>
                    <a:pt x="0" y="2"/>
                  </a:lnTo>
                  <a:lnTo>
                    <a:pt x="2" y="0"/>
                  </a:lnTo>
                  <a:lnTo>
                    <a:pt x="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5" name="Freeform 154"/>
            <p:cNvSpPr>
              <a:spLocks/>
            </p:cNvSpPr>
            <p:nvPr/>
          </p:nvSpPr>
          <p:spPr bwMode="auto">
            <a:xfrm>
              <a:off x="1025" y="2483"/>
              <a:ext cx="58" cy="62"/>
            </a:xfrm>
            <a:custGeom>
              <a:avLst/>
              <a:gdLst/>
              <a:ahLst/>
              <a:cxnLst>
                <a:cxn ang="0">
                  <a:pos x="12" y="27"/>
                </a:cxn>
                <a:cxn ang="0">
                  <a:pos x="0" y="13"/>
                </a:cxn>
                <a:cxn ang="0">
                  <a:pos x="2" y="5"/>
                </a:cxn>
                <a:cxn ang="0">
                  <a:pos x="2" y="2"/>
                </a:cxn>
                <a:cxn ang="0">
                  <a:pos x="5" y="0"/>
                </a:cxn>
                <a:cxn ang="0">
                  <a:pos x="26" y="5"/>
                </a:cxn>
                <a:cxn ang="0">
                  <a:pos x="36" y="3"/>
                </a:cxn>
                <a:cxn ang="0">
                  <a:pos x="44" y="15"/>
                </a:cxn>
                <a:cxn ang="0">
                  <a:pos x="52" y="27"/>
                </a:cxn>
                <a:cxn ang="0">
                  <a:pos x="46" y="29"/>
                </a:cxn>
                <a:cxn ang="0">
                  <a:pos x="47" y="41"/>
                </a:cxn>
                <a:cxn ang="0">
                  <a:pos x="46" y="55"/>
                </a:cxn>
                <a:cxn ang="0">
                  <a:pos x="37" y="43"/>
                </a:cxn>
                <a:cxn ang="0">
                  <a:pos x="37" y="48"/>
                </a:cxn>
                <a:cxn ang="0">
                  <a:pos x="35" y="42"/>
                </a:cxn>
                <a:cxn ang="0">
                  <a:pos x="30" y="32"/>
                </a:cxn>
                <a:cxn ang="0">
                  <a:pos x="19" y="24"/>
                </a:cxn>
                <a:cxn ang="0">
                  <a:pos x="10" y="15"/>
                </a:cxn>
                <a:cxn ang="0">
                  <a:pos x="13" y="24"/>
                </a:cxn>
                <a:cxn ang="0">
                  <a:pos x="12" y="27"/>
                </a:cxn>
              </a:cxnLst>
              <a:rect l="0" t="0" r="r" b="b"/>
              <a:pathLst>
                <a:path w="52" h="55">
                  <a:moveTo>
                    <a:pt x="12" y="27"/>
                  </a:moveTo>
                  <a:lnTo>
                    <a:pt x="0" y="13"/>
                  </a:lnTo>
                  <a:lnTo>
                    <a:pt x="2" y="5"/>
                  </a:lnTo>
                  <a:lnTo>
                    <a:pt x="2" y="2"/>
                  </a:lnTo>
                  <a:lnTo>
                    <a:pt x="5" y="0"/>
                  </a:lnTo>
                  <a:lnTo>
                    <a:pt x="26" y="5"/>
                  </a:lnTo>
                  <a:lnTo>
                    <a:pt x="36" y="3"/>
                  </a:lnTo>
                  <a:lnTo>
                    <a:pt x="44" y="15"/>
                  </a:lnTo>
                  <a:lnTo>
                    <a:pt x="52" y="27"/>
                  </a:lnTo>
                  <a:lnTo>
                    <a:pt x="46" y="29"/>
                  </a:lnTo>
                  <a:lnTo>
                    <a:pt x="47" y="41"/>
                  </a:lnTo>
                  <a:lnTo>
                    <a:pt x="46" y="55"/>
                  </a:lnTo>
                  <a:lnTo>
                    <a:pt x="37" y="43"/>
                  </a:lnTo>
                  <a:lnTo>
                    <a:pt x="37" y="48"/>
                  </a:lnTo>
                  <a:lnTo>
                    <a:pt x="35" y="42"/>
                  </a:lnTo>
                  <a:lnTo>
                    <a:pt x="30" y="32"/>
                  </a:lnTo>
                  <a:lnTo>
                    <a:pt x="19" y="24"/>
                  </a:lnTo>
                  <a:lnTo>
                    <a:pt x="10" y="15"/>
                  </a:lnTo>
                  <a:lnTo>
                    <a:pt x="13" y="24"/>
                  </a:lnTo>
                  <a:lnTo>
                    <a:pt x="12"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6" name="Freeform 155"/>
            <p:cNvSpPr>
              <a:spLocks/>
            </p:cNvSpPr>
            <p:nvPr/>
          </p:nvSpPr>
          <p:spPr bwMode="auto">
            <a:xfrm>
              <a:off x="1489" y="2441"/>
              <a:ext cx="5" cy="2"/>
            </a:xfrm>
            <a:custGeom>
              <a:avLst/>
              <a:gdLst/>
              <a:ahLst/>
              <a:cxnLst>
                <a:cxn ang="0">
                  <a:pos x="3" y="4"/>
                </a:cxn>
                <a:cxn ang="0">
                  <a:pos x="1" y="4"/>
                </a:cxn>
                <a:cxn ang="0">
                  <a:pos x="0" y="0"/>
                </a:cxn>
                <a:cxn ang="0">
                  <a:pos x="3" y="3"/>
                </a:cxn>
                <a:cxn ang="0">
                  <a:pos x="3" y="4"/>
                </a:cxn>
              </a:cxnLst>
              <a:rect l="0" t="0" r="r" b="b"/>
              <a:pathLst>
                <a:path w="3" h="4">
                  <a:moveTo>
                    <a:pt x="3" y="4"/>
                  </a:moveTo>
                  <a:lnTo>
                    <a:pt x="1" y="4"/>
                  </a:lnTo>
                  <a:lnTo>
                    <a:pt x="0" y="0"/>
                  </a:lnTo>
                  <a:lnTo>
                    <a:pt x="3" y="3"/>
                  </a:lnTo>
                  <a:lnTo>
                    <a:pt x="3"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7" name="Freeform 156"/>
            <p:cNvSpPr>
              <a:spLocks/>
            </p:cNvSpPr>
            <p:nvPr/>
          </p:nvSpPr>
          <p:spPr bwMode="auto">
            <a:xfrm>
              <a:off x="1460" y="2394"/>
              <a:ext cx="2" cy="9"/>
            </a:xfrm>
            <a:custGeom>
              <a:avLst/>
              <a:gdLst/>
              <a:ahLst/>
              <a:cxnLst>
                <a:cxn ang="0">
                  <a:pos x="4" y="5"/>
                </a:cxn>
                <a:cxn ang="0">
                  <a:pos x="1" y="8"/>
                </a:cxn>
                <a:cxn ang="0">
                  <a:pos x="0" y="0"/>
                </a:cxn>
                <a:cxn ang="0">
                  <a:pos x="3" y="0"/>
                </a:cxn>
                <a:cxn ang="0">
                  <a:pos x="4" y="5"/>
                </a:cxn>
              </a:cxnLst>
              <a:rect l="0" t="0" r="r" b="b"/>
              <a:pathLst>
                <a:path w="4" h="8">
                  <a:moveTo>
                    <a:pt x="4" y="5"/>
                  </a:moveTo>
                  <a:lnTo>
                    <a:pt x="1" y="8"/>
                  </a:lnTo>
                  <a:lnTo>
                    <a:pt x="0" y="0"/>
                  </a:lnTo>
                  <a:lnTo>
                    <a:pt x="3" y="0"/>
                  </a:lnTo>
                  <a:lnTo>
                    <a:pt x="4"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8" name="Freeform 157"/>
            <p:cNvSpPr>
              <a:spLocks/>
            </p:cNvSpPr>
            <p:nvPr/>
          </p:nvSpPr>
          <p:spPr bwMode="auto">
            <a:xfrm>
              <a:off x="956" y="2416"/>
              <a:ext cx="40" cy="27"/>
            </a:xfrm>
            <a:custGeom>
              <a:avLst/>
              <a:gdLst/>
              <a:ahLst/>
              <a:cxnLst>
                <a:cxn ang="0">
                  <a:pos x="35" y="18"/>
                </a:cxn>
                <a:cxn ang="0">
                  <a:pos x="31" y="23"/>
                </a:cxn>
                <a:cxn ang="0">
                  <a:pos x="23" y="20"/>
                </a:cxn>
                <a:cxn ang="0">
                  <a:pos x="12" y="17"/>
                </a:cxn>
                <a:cxn ang="0">
                  <a:pos x="0" y="12"/>
                </a:cxn>
                <a:cxn ang="0">
                  <a:pos x="13" y="0"/>
                </a:cxn>
                <a:cxn ang="0">
                  <a:pos x="23" y="7"/>
                </a:cxn>
                <a:cxn ang="0">
                  <a:pos x="36" y="9"/>
                </a:cxn>
                <a:cxn ang="0">
                  <a:pos x="35" y="18"/>
                </a:cxn>
              </a:cxnLst>
              <a:rect l="0" t="0" r="r" b="b"/>
              <a:pathLst>
                <a:path w="36" h="23">
                  <a:moveTo>
                    <a:pt x="35" y="18"/>
                  </a:moveTo>
                  <a:lnTo>
                    <a:pt x="31" y="23"/>
                  </a:lnTo>
                  <a:lnTo>
                    <a:pt x="23" y="20"/>
                  </a:lnTo>
                  <a:lnTo>
                    <a:pt x="12" y="17"/>
                  </a:lnTo>
                  <a:lnTo>
                    <a:pt x="0" y="12"/>
                  </a:lnTo>
                  <a:lnTo>
                    <a:pt x="13" y="0"/>
                  </a:lnTo>
                  <a:lnTo>
                    <a:pt x="23" y="7"/>
                  </a:lnTo>
                  <a:lnTo>
                    <a:pt x="36" y="9"/>
                  </a:lnTo>
                  <a:lnTo>
                    <a:pt x="35"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9" name="Freeform 158"/>
            <p:cNvSpPr>
              <a:spLocks/>
            </p:cNvSpPr>
            <p:nvPr/>
          </p:nvSpPr>
          <p:spPr bwMode="auto">
            <a:xfrm>
              <a:off x="971" y="2387"/>
              <a:ext cx="109" cy="60"/>
            </a:xfrm>
            <a:custGeom>
              <a:avLst/>
              <a:gdLst/>
              <a:ahLst/>
              <a:cxnLst>
                <a:cxn ang="0">
                  <a:pos x="53" y="36"/>
                </a:cxn>
                <a:cxn ang="0">
                  <a:pos x="47" y="38"/>
                </a:cxn>
                <a:cxn ang="0">
                  <a:pos x="40" y="42"/>
                </a:cxn>
                <a:cxn ang="0">
                  <a:pos x="34" y="53"/>
                </a:cxn>
                <a:cxn ang="0">
                  <a:pos x="30" y="53"/>
                </a:cxn>
                <a:cxn ang="0">
                  <a:pos x="28" y="46"/>
                </a:cxn>
                <a:cxn ang="0">
                  <a:pos x="22" y="45"/>
                </a:cxn>
                <a:cxn ang="0">
                  <a:pos x="23" y="36"/>
                </a:cxn>
                <a:cxn ang="0">
                  <a:pos x="10" y="34"/>
                </a:cxn>
                <a:cxn ang="0">
                  <a:pos x="0" y="27"/>
                </a:cxn>
                <a:cxn ang="0">
                  <a:pos x="10" y="12"/>
                </a:cxn>
                <a:cxn ang="0">
                  <a:pos x="20" y="4"/>
                </a:cxn>
                <a:cxn ang="0">
                  <a:pos x="22" y="4"/>
                </a:cxn>
                <a:cxn ang="0">
                  <a:pos x="37" y="2"/>
                </a:cxn>
                <a:cxn ang="0">
                  <a:pos x="53" y="0"/>
                </a:cxn>
                <a:cxn ang="0">
                  <a:pos x="65" y="2"/>
                </a:cxn>
                <a:cxn ang="0">
                  <a:pos x="78" y="2"/>
                </a:cxn>
                <a:cxn ang="0">
                  <a:pos x="88" y="9"/>
                </a:cxn>
                <a:cxn ang="0">
                  <a:pos x="85" y="8"/>
                </a:cxn>
                <a:cxn ang="0">
                  <a:pos x="86" y="11"/>
                </a:cxn>
                <a:cxn ang="0">
                  <a:pos x="92" y="11"/>
                </a:cxn>
                <a:cxn ang="0">
                  <a:pos x="98" y="17"/>
                </a:cxn>
                <a:cxn ang="0">
                  <a:pos x="85" y="18"/>
                </a:cxn>
                <a:cxn ang="0">
                  <a:pos x="72" y="21"/>
                </a:cxn>
                <a:cxn ang="0">
                  <a:pos x="53" y="36"/>
                </a:cxn>
              </a:cxnLst>
              <a:rect l="0" t="0" r="r" b="b"/>
              <a:pathLst>
                <a:path w="98" h="53">
                  <a:moveTo>
                    <a:pt x="53" y="36"/>
                  </a:moveTo>
                  <a:lnTo>
                    <a:pt x="47" y="38"/>
                  </a:lnTo>
                  <a:lnTo>
                    <a:pt x="40" y="42"/>
                  </a:lnTo>
                  <a:lnTo>
                    <a:pt x="34" y="53"/>
                  </a:lnTo>
                  <a:lnTo>
                    <a:pt x="30" y="53"/>
                  </a:lnTo>
                  <a:lnTo>
                    <a:pt x="28" y="46"/>
                  </a:lnTo>
                  <a:lnTo>
                    <a:pt x="22" y="45"/>
                  </a:lnTo>
                  <a:lnTo>
                    <a:pt x="23" y="36"/>
                  </a:lnTo>
                  <a:lnTo>
                    <a:pt x="10" y="34"/>
                  </a:lnTo>
                  <a:lnTo>
                    <a:pt x="0" y="27"/>
                  </a:lnTo>
                  <a:lnTo>
                    <a:pt x="10" y="12"/>
                  </a:lnTo>
                  <a:lnTo>
                    <a:pt x="20" y="4"/>
                  </a:lnTo>
                  <a:lnTo>
                    <a:pt x="22" y="4"/>
                  </a:lnTo>
                  <a:lnTo>
                    <a:pt x="37" y="2"/>
                  </a:lnTo>
                  <a:lnTo>
                    <a:pt x="53" y="0"/>
                  </a:lnTo>
                  <a:lnTo>
                    <a:pt x="65" y="2"/>
                  </a:lnTo>
                  <a:lnTo>
                    <a:pt x="78" y="2"/>
                  </a:lnTo>
                  <a:lnTo>
                    <a:pt x="88" y="9"/>
                  </a:lnTo>
                  <a:lnTo>
                    <a:pt x="85" y="8"/>
                  </a:lnTo>
                  <a:lnTo>
                    <a:pt x="86" y="11"/>
                  </a:lnTo>
                  <a:lnTo>
                    <a:pt x="92" y="11"/>
                  </a:lnTo>
                  <a:lnTo>
                    <a:pt x="98" y="17"/>
                  </a:lnTo>
                  <a:lnTo>
                    <a:pt x="85" y="18"/>
                  </a:lnTo>
                  <a:lnTo>
                    <a:pt x="72" y="21"/>
                  </a:lnTo>
                  <a:lnTo>
                    <a:pt x="53"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0" name="Freeform 159"/>
            <p:cNvSpPr>
              <a:spLocks/>
            </p:cNvSpPr>
            <p:nvPr/>
          </p:nvSpPr>
          <p:spPr bwMode="auto">
            <a:xfrm>
              <a:off x="1462" y="2410"/>
              <a:ext cx="7" cy="6"/>
            </a:xfrm>
            <a:custGeom>
              <a:avLst/>
              <a:gdLst/>
              <a:ahLst/>
              <a:cxnLst>
                <a:cxn ang="0">
                  <a:pos x="6" y="6"/>
                </a:cxn>
                <a:cxn ang="0">
                  <a:pos x="0" y="0"/>
                </a:cxn>
                <a:cxn ang="0">
                  <a:pos x="7" y="6"/>
                </a:cxn>
                <a:cxn ang="0">
                  <a:pos x="6" y="6"/>
                </a:cxn>
              </a:cxnLst>
              <a:rect l="0" t="0" r="r" b="b"/>
              <a:pathLst>
                <a:path w="7" h="6">
                  <a:moveTo>
                    <a:pt x="6" y="6"/>
                  </a:moveTo>
                  <a:lnTo>
                    <a:pt x="0" y="0"/>
                  </a:lnTo>
                  <a:lnTo>
                    <a:pt x="7" y="6"/>
                  </a:lnTo>
                  <a:lnTo>
                    <a:pt x="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1" name="Freeform 160"/>
            <p:cNvSpPr>
              <a:spLocks/>
            </p:cNvSpPr>
            <p:nvPr/>
          </p:nvSpPr>
          <p:spPr bwMode="auto">
            <a:xfrm>
              <a:off x="998" y="2407"/>
              <a:ext cx="82" cy="83"/>
            </a:xfrm>
            <a:custGeom>
              <a:avLst/>
              <a:gdLst/>
              <a:ahLst/>
              <a:cxnLst>
                <a:cxn ang="0">
                  <a:pos x="29" y="19"/>
                </a:cxn>
                <a:cxn ang="0">
                  <a:pos x="23" y="21"/>
                </a:cxn>
                <a:cxn ang="0">
                  <a:pos x="16" y="25"/>
                </a:cxn>
                <a:cxn ang="0">
                  <a:pos x="10" y="36"/>
                </a:cxn>
                <a:cxn ang="0">
                  <a:pos x="6" y="36"/>
                </a:cxn>
                <a:cxn ang="0">
                  <a:pos x="0" y="37"/>
                </a:cxn>
                <a:cxn ang="0">
                  <a:pos x="14" y="54"/>
                </a:cxn>
                <a:cxn ang="0">
                  <a:pos x="29" y="70"/>
                </a:cxn>
                <a:cxn ang="0">
                  <a:pos x="50" y="75"/>
                </a:cxn>
                <a:cxn ang="0">
                  <a:pos x="60" y="73"/>
                </a:cxn>
                <a:cxn ang="0">
                  <a:pos x="60" y="61"/>
                </a:cxn>
                <a:cxn ang="0">
                  <a:pos x="61" y="52"/>
                </a:cxn>
                <a:cxn ang="0">
                  <a:pos x="64" y="41"/>
                </a:cxn>
                <a:cxn ang="0">
                  <a:pos x="65" y="45"/>
                </a:cxn>
                <a:cxn ang="0">
                  <a:pos x="67" y="31"/>
                </a:cxn>
                <a:cxn ang="0">
                  <a:pos x="70" y="17"/>
                </a:cxn>
                <a:cxn ang="0">
                  <a:pos x="70" y="3"/>
                </a:cxn>
                <a:cxn ang="0">
                  <a:pos x="74" y="0"/>
                </a:cxn>
                <a:cxn ang="0">
                  <a:pos x="61" y="1"/>
                </a:cxn>
                <a:cxn ang="0">
                  <a:pos x="48" y="4"/>
                </a:cxn>
                <a:cxn ang="0">
                  <a:pos x="29" y="19"/>
                </a:cxn>
              </a:cxnLst>
              <a:rect l="0" t="0" r="r" b="b"/>
              <a:pathLst>
                <a:path w="74" h="75">
                  <a:moveTo>
                    <a:pt x="29" y="19"/>
                  </a:moveTo>
                  <a:lnTo>
                    <a:pt x="23" y="21"/>
                  </a:lnTo>
                  <a:lnTo>
                    <a:pt x="16" y="25"/>
                  </a:lnTo>
                  <a:lnTo>
                    <a:pt x="10" y="36"/>
                  </a:lnTo>
                  <a:lnTo>
                    <a:pt x="6" y="36"/>
                  </a:lnTo>
                  <a:lnTo>
                    <a:pt x="0" y="37"/>
                  </a:lnTo>
                  <a:lnTo>
                    <a:pt x="14" y="54"/>
                  </a:lnTo>
                  <a:lnTo>
                    <a:pt x="29" y="70"/>
                  </a:lnTo>
                  <a:lnTo>
                    <a:pt x="50" y="75"/>
                  </a:lnTo>
                  <a:lnTo>
                    <a:pt x="60" y="73"/>
                  </a:lnTo>
                  <a:lnTo>
                    <a:pt x="60" y="61"/>
                  </a:lnTo>
                  <a:lnTo>
                    <a:pt x="61" y="52"/>
                  </a:lnTo>
                  <a:lnTo>
                    <a:pt x="64" y="41"/>
                  </a:lnTo>
                  <a:lnTo>
                    <a:pt x="65" y="45"/>
                  </a:lnTo>
                  <a:lnTo>
                    <a:pt x="67" y="31"/>
                  </a:lnTo>
                  <a:lnTo>
                    <a:pt x="70" y="17"/>
                  </a:lnTo>
                  <a:lnTo>
                    <a:pt x="70" y="3"/>
                  </a:lnTo>
                  <a:lnTo>
                    <a:pt x="74" y="0"/>
                  </a:lnTo>
                  <a:lnTo>
                    <a:pt x="61" y="1"/>
                  </a:lnTo>
                  <a:lnTo>
                    <a:pt x="48" y="4"/>
                  </a:lnTo>
                  <a:lnTo>
                    <a:pt x="29"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2" name="Freeform 161"/>
            <p:cNvSpPr>
              <a:spLocks/>
            </p:cNvSpPr>
            <p:nvPr/>
          </p:nvSpPr>
          <p:spPr bwMode="auto">
            <a:xfrm>
              <a:off x="1460" y="2439"/>
              <a:ext cx="2" cy="4"/>
            </a:xfrm>
            <a:custGeom>
              <a:avLst/>
              <a:gdLst/>
              <a:ahLst/>
              <a:cxnLst>
                <a:cxn ang="0">
                  <a:pos x="2" y="4"/>
                </a:cxn>
                <a:cxn ang="0">
                  <a:pos x="2" y="0"/>
                </a:cxn>
                <a:cxn ang="0">
                  <a:pos x="0" y="2"/>
                </a:cxn>
                <a:cxn ang="0">
                  <a:pos x="2" y="4"/>
                </a:cxn>
              </a:cxnLst>
              <a:rect l="0" t="0" r="r" b="b"/>
              <a:pathLst>
                <a:path w="2" h="4">
                  <a:moveTo>
                    <a:pt x="2" y="4"/>
                  </a:moveTo>
                  <a:lnTo>
                    <a:pt x="2" y="0"/>
                  </a:lnTo>
                  <a:lnTo>
                    <a:pt x="0" y="2"/>
                  </a:lnTo>
                  <a:lnTo>
                    <a:pt x="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3" name="Freeform 162"/>
            <p:cNvSpPr>
              <a:spLocks/>
            </p:cNvSpPr>
            <p:nvPr/>
          </p:nvSpPr>
          <p:spPr bwMode="auto">
            <a:xfrm>
              <a:off x="1442" y="2363"/>
              <a:ext cx="3" cy="2"/>
            </a:xfrm>
            <a:custGeom>
              <a:avLst/>
              <a:gdLst/>
              <a:ahLst/>
              <a:cxnLst>
                <a:cxn ang="0">
                  <a:pos x="1" y="1"/>
                </a:cxn>
                <a:cxn ang="0">
                  <a:pos x="0" y="0"/>
                </a:cxn>
                <a:cxn ang="0">
                  <a:pos x="1" y="1"/>
                </a:cxn>
              </a:cxnLst>
              <a:rect l="0" t="0" r="r" b="b"/>
              <a:pathLst>
                <a:path w="1" h="1">
                  <a:moveTo>
                    <a:pt x="1" y="1"/>
                  </a:move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4" name="Freeform 163"/>
            <p:cNvSpPr>
              <a:spLocks/>
            </p:cNvSpPr>
            <p:nvPr/>
          </p:nvSpPr>
          <p:spPr bwMode="auto">
            <a:xfrm>
              <a:off x="1438" y="2359"/>
              <a:ext cx="4" cy="2"/>
            </a:xfrm>
            <a:custGeom>
              <a:avLst/>
              <a:gdLst/>
              <a:ahLst/>
              <a:cxnLst>
                <a:cxn ang="0">
                  <a:pos x="4" y="2"/>
                </a:cxn>
                <a:cxn ang="0">
                  <a:pos x="0" y="0"/>
                </a:cxn>
                <a:cxn ang="0">
                  <a:pos x="4" y="2"/>
                </a:cxn>
              </a:cxnLst>
              <a:rect l="0" t="0" r="r" b="b"/>
              <a:pathLst>
                <a:path w="4" h="2">
                  <a:moveTo>
                    <a:pt x="4" y="2"/>
                  </a:moveTo>
                  <a:lnTo>
                    <a:pt x="0" y="0"/>
                  </a:lnTo>
                  <a:lnTo>
                    <a:pt x="4"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5" name="Freeform 164"/>
            <p:cNvSpPr>
              <a:spLocks/>
            </p:cNvSpPr>
            <p:nvPr/>
          </p:nvSpPr>
          <p:spPr bwMode="auto">
            <a:xfrm>
              <a:off x="1456" y="2381"/>
              <a:ext cx="4" cy="4"/>
            </a:xfrm>
            <a:custGeom>
              <a:avLst/>
              <a:gdLst/>
              <a:ahLst/>
              <a:cxnLst>
                <a:cxn ang="0">
                  <a:pos x="2" y="0"/>
                </a:cxn>
                <a:cxn ang="0">
                  <a:pos x="3" y="1"/>
                </a:cxn>
                <a:cxn ang="0">
                  <a:pos x="0" y="5"/>
                </a:cxn>
                <a:cxn ang="0">
                  <a:pos x="2" y="0"/>
                </a:cxn>
              </a:cxnLst>
              <a:rect l="0" t="0" r="r" b="b"/>
              <a:pathLst>
                <a:path w="3" h="5">
                  <a:moveTo>
                    <a:pt x="2" y="0"/>
                  </a:moveTo>
                  <a:lnTo>
                    <a:pt x="3" y="1"/>
                  </a:lnTo>
                  <a:lnTo>
                    <a:pt x="0" y="5"/>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6" name="Freeform 165"/>
            <p:cNvSpPr>
              <a:spLocks/>
            </p:cNvSpPr>
            <p:nvPr/>
          </p:nvSpPr>
          <p:spPr bwMode="auto">
            <a:xfrm>
              <a:off x="1434" y="2341"/>
              <a:ext cx="4" cy="2"/>
            </a:xfrm>
            <a:custGeom>
              <a:avLst/>
              <a:gdLst/>
              <a:ahLst/>
              <a:cxnLst>
                <a:cxn ang="0">
                  <a:pos x="4" y="1"/>
                </a:cxn>
                <a:cxn ang="0">
                  <a:pos x="4" y="0"/>
                </a:cxn>
                <a:cxn ang="0">
                  <a:pos x="4" y="1"/>
                </a:cxn>
                <a:cxn ang="0">
                  <a:pos x="3" y="1"/>
                </a:cxn>
                <a:cxn ang="0">
                  <a:pos x="2" y="1"/>
                </a:cxn>
                <a:cxn ang="0">
                  <a:pos x="2" y="3"/>
                </a:cxn>
                <a:cxn ang="0">
                  <a:pos x="0" y="3"/>
                </a:cxn>
                <a:cxn ang="0">
                  <a:pos x="2" y="3"/>
                </a:cxn>
                <a:cxn ang="0">
                  <a:pos x="3" y="3"/>
                </a:cxn>
                <a:cxn ang="0">
                  <a:pos x="3" y="1"/>
                </a:cxn>
                <a:cxn ang="0">
                  <a:pos x="4" y="1"/>
                </a:cxn>
              </a:cxnLst>
              <a:rect l="0" t="0" r="r" b="b"/>
              <a:pathLst>
                <a:path w="4" h="3">
                  <a:moveTo>
                    <a:pt x="4" y="1"/>
                  </a:moveTo>
                  <a:lnTo>
                    <a:pt x="4" y="0"/>
                  </a:lnTo>
                  <a:lnTo>
                    <a:pt x="4" y="1"/>
                  </a:lnTo>
                  <a:lnTo>
                    <a:pt x="3" y="1"/>
                  </a:lnTo>
                  <a:lnTo>
                    <a:pt x="2" y="1"/>
                  </a:lnTo>
                  <a:lnTo>
                    <a:pt x="2" y="3"/>
                  </a:lnTo>
                  <a:lnTo>
                    <a:pt x="0" y="3"/>
                  </a:lnTo>
                  <a:lnTo>
                    <a:pt x="2" y="3"/>
                  </a:lnTo>
                  <a:lnTo>
                    <a:pt x="3" y="3"/>
                  </a:lnTo>
                  <a:lnTo>
                    <a:pt x="3" y="1"/>
                  </a:lnTo>
                  <a:lnTo>
                    <a:pt x="4"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7" name="Freeform 166"/>
            <p:cNvSpPr>
              <a:spLocks/>
            </p:cNvSpPr>
            <p:nvPr/>
          </p:nvSpPr>
          <p:spPr bwMode="auto">
            <a:xfrm>
              <a:off x="1456" y="2363"/>
              <a:ext cx="4" cy="2"/>
            </a:xfrm>
            <a:custGeom>
              <a:avLst/>
              <a:gdLst/>
              <a:ahLst/>
              <a:cxnLst>
                <a:cxn ang="0">
                  <a:pos x="1" y="0"/>
                </a:cxn>
                <a:cxn ang="0">
                  <a:pos x="0" y="1"/>
                </a:cxn>
                <a:cxn ang="0">
                  <a:pos x="0" y="2"/>
                </a:cxn>
                <a:cxn ang="0">
                  <a:pos x="3" y="2"/>
                </a:cxn>
                <a:cxn ang="0">
                  <a:pos x="1" y="0"/>
                </a:cxn>
              </a:cxnLst>
              <a:rect l="0" t="0" r="r" b="b"/>
              <a:pathLst>
                <a:path w="3" h="2">
                  <a:moveTo>
                    <a:pt x="1" y="0"/>
                  </a:moveTo>
                  <a:lnTo>
                    <a:pt x="0" y="1"/>
                  </a:lnTo>
                  <a:lnTo>
                    <a:pt x="0" y="2"/>
                  </a:lnTo>
                  <a:lnTo>
                    <a:pt x="3" y="2"/>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8" name="Freeform 167"/>
            <p:cNvSpPr>
              <a:spLocks/>
            </p:cNvSpPr>
            <p:nvPr/>
          </p:nvSpPr>
          <p:spPr bwMode="auto">
            <a:xfrm>
              <a:off x="1456" y="2352"/>
              <a:ext cx="2" cy="2"/>
            </a:xfrm>
            <a:custGeom>
              <a:avLst/>
              <a:gdLst/>
              <a:ahLst/>
              <a:cxnLst>
                <a:cxn ang="0">
                  <a:pos x="1" y="2"/>
                </a:cxn>
                <a:cxn ang="0">
                  <a:pos x="0" y="1"/>
                </a:cxn>
                <a:cxn ang="0">
                  <a:pos x="0" y="0"/>
                </a:cxn>
                <a:cxn ang="0">
                  <a:pos x="1" y="1"/>
                </a:cxn>
                <a:cxn ang="0">
                  <a:pos x="1" y="2"/>
                </a:cxn>
              </a:cxnLst>
              <a:rect l="0" t="0" r="r" b="b"/>
              <a:pathLst>
                <a:path w="1" h="2">
                  <a:moveTo>
                    <a:pt x="1" y="2"/>
                  </a:moveTo>
                  <a:lnTo>
                    <a:pt x="0" y="1"/>
                  </a:lnTo>
                  <a:lnTo>
                    <a:pt x="0" y="0"/>
                  </a:lnTo>
                  <a:lnTo>
                    <a:pt x="1" y="1"/>
                  </a:lnTo>
                  <a:lnTo>
                    <a:pt x="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9" name="Freeform 168"/>
            <p:cNvSpPr>
              <a:spLocks/>
            </p:cNvSpPr>
            <p:nvPr/>
          </p:nvSpPr>
          <p:spPr bwMode="auto">
            <a:xfrm>
              <a:off x="976" y="2336"/>
              <a:ext cx="24" cy="51"/>
            </a:xfrm>
            <a:custGeom>
              <a:avLst/>
              <a:gdLst/>
              <a:ahLst/>
              <a:cxnLst>
                <a:cxn ang="0">
                  <a:pos x="13" y="38"/>
                </a:cxn>
                <a:cxn ang="0">
                  <a:pos x="5" y="46"/>
                </a:cxn>
                <a:cxn ang="0">
                  <a:pos x="0" y="46"/>
                </a:cxn>
                <a:cxn ang="0">
                  <a:pos x="2" y="30"/>
                </a:cxn>
                <a:cxn ang="0">
                  <a:pos x="6" y="12"/>
                </a:cxn>
                <a:cxn ang="0">
                  <a:pos x="20" y="0"/>
                </a:cxn>
                <a:cxn ang="0">
                  <a:pos x="21" y="3"/>
                </a:cxn>
                <a:cxn ang="0">
                  <a:pos x="17" y="20"/>
                </a:cxn>
                <a:cxn ang="0">
                  <a:pos x="13" y="38"/>
                </a:cxn>
              </a:cxnLst>
              <a:rect l="0" t="0" r="r" b="b"/>
              <a:pathLst>
                <a:path w="21" h="46">
                  <a:moveTo>
                    <a:pt x="13" y="38"/>
                  </a:moveTo>
                  <a:lnTo>
                    <a:pt x="5" y="46"/>
                  </a:lnTo>
                  <a:lnTo>
                    <a:pt x="0" y="46"/>
                  </a:lnTo>
                  <a:lnTo>
                    <a:pt x="2" y="30"/>
                  </a:lnTo>
                  <a:lnTo>
                    <a:pt x="6" y="12"/>
                  </a:lnTo>
                  <a:lnTo>
                    <a:pt x="20" y="0"/>
                  </a:lnTo>
                  <a:lnTo>
                    <a:pt x="21" y="3"/>
                  </a:lnTo>
                  <a:lnTo>
                    <a:pt x="17" y="20"/>
                  </a:lnTo>
                  <a:lnTo>
                    <a:pt x="13"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0" name="Freeform 169"/>
            <p:cNvSpPr>
              <a:spLocks/>
            </p:cNvSpPr>
            <p:nvPr/>
          </p:nvSpPr>
          <p:spPr bwMode="auto">
            <a:xfrm>
              <a:off x="920" y="2350"/>
              <a:ext cx="74" cy="80"/>
            </a:xfrm>
            <a:custGeom>
              <a:avLst/>
              <a:gdLst/>
              <a:ahLst/>
              <a:cxnLst>
                <a:cxn ang="0">
                  <a:pos x="6" y="64"/>
                </a:cxn>
                <a:cxn ang="0">
                  <a:pos x="0" y="58"/>
                </a:cxn>
                <a:cxn ang="0">
                  <a:pos x="3" y="46"/>
                </a:cxn>
                <a:cxn ang="0">
                  <a:pos x="11" y="32"/>
                </a:cxn>
                <a:cxn ang="0">
                  <a:pos x="33" y="28"/>
                </a:cxn>
                <a:cxn ang="0">
                  <a:pos x="21" y="12"/>
                </a:cxn>
                <a:cxn ang="0">
                  <a:pos x="26" y="10"/>
                </a:cxn>
                <a:cxn ang="0">
                  <a:pos x="27" y="0"/>
                </a:cxn>
                <a:cxn ang="0">
                  <a:pos x="42" y="0"/>
                </a:cxn>
                <a:cxn ang="0">
                  <a:pos x="57" y="0"/>
                </a:cxn>
                <a:cxn ang="0">
                  <a:pos x="53" y="18"/>
                </a:cxn>
                <a:cxn ang="0">
                  <a:pos x="51" y="34"/>
                </a:cxn>
                <a:cxn ang="0">
                  <a:pos x="56" y="34"/>
                </a:cxn>
                <a:cxn ang="0">
                  <a:pos x="62" y="36"/>
                </a:cxn>
                <a:cxn ang="0">
                  <a:pos x="66" y="38"/>
                </a:cxn>
                <a:cxn ang="0">
                  <a:pos x="56" y="46"/>
                </a:cxn>
                <a:cxn ang="0">
                  <a:pos x="46" y="61"/>
                </a:cxn>
                <a:cxn ang="0">
                  <a:pos x="33" y="73"/>
                </a:cxn>
                <a:cxn ang="0">
                  <a:pos x="20" y="69"/>
                </a:cxn>
                <a:cxn ang="0">
                  <a:pos x="6" y="64"/>
                </a:cxn>
              </a:cxnLst>
              <a:rect l="0" t="0" r="r" b="b"/>
              <a:pathLst>
                <a:path w="66" h="73">
                  <a:moveTo>
                    <a:pt x="6" y="64"/>
                  </a:moveTo>
                  <a:lnTo>
                    <a:pt x="0" y="58"/>
                  </a:lnTo>
                  <a:lnTo>
                    <a:pt x="3" y="46"/>
                  </a:lnTo>
                  <a:lnTo>
                    <a:pt x="11" y="32"/>
                  </a:lnTo>
                  <a:lnTo>
                    <a:pt x="33" y="28"/>
                  </a:lnTo>
                  <a:lnTo>
                    <a:pt x="21" y="12"/>
                  </a:lnTo>
                  <a:lnTo>
                    <a:pt x="26" y="10"/>
                  </a:lnTo>
                  <a:lnTo>
                    <a:pt x="27" y="0"/>
                  </a:lnTo>
                  <a:lnTo>
                    <a:pt x="42" y="0"/>
                  </a:lnTo>
                  <a:lnTo>
                    <a:pt x="57" y="0"/>
                  </a:lnTo>
                  <a:lnTo>
                    <a:pt x="53" y="18"/>
                  </a:lnTo>
                  <a:lnTo>
                    <a:pt x="51" y="34"/>
                  </a:lnTo>
                  <a:lnTo>
                    <a:pt x="56" y="34"/>
                  </a:lnTo>
                  <a:lnTo>
                    <a:pt x="62" y="36"/>
                  </a:lnTo>
                  <a:lnTo>
                    <a:pt x="66" y="38"/>
                  </a:lnTo>
                  <a:lnTo>
                    <a:pt x="56" y="46"/>
                  </a:lnTo>
                  <a:lnTo>
                    <a:pt x="46" y="61"/>
                  </a:lnTo>
                  <a:lnTo>
                    <a:pt x="33" y="73"/>
                  </a:lnTo>
                  <a:lnTo>
                    <a:pt x="20" y="69"/>
                  </a:lnTo>
                  <a:lnTo>
                    <a:pt x="6" y="6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1" name="Freeform 170"/>
            <p:cNvSpPr>
              <a:spLocks/>
            </p:cNvSpPr>
            <p:nvPr/>
          </p:nvSpPr>
          <p:spPr bwMode="auto">
            <a:xfrm>
              <a:off x="1171" y="2336"/>
              <a:ext cx="36" cy="14"/>
            </a:xfrm>
            <a:custGeom>
              <a:avLst/>
              <a:gdLst/>
              <a:ahLst/>
              <a:cxnLst>
                <a:cxn ang="0">
                  <a:pos x="12" y="0"/>
                </a:cxn>
                <a:cxn ang="0">
                  <a:pos x="0" y="4"/>
                </a:cxn>
                <a:cxn ang="0">
                  <a:pos x="18" y="13"/>
                </a:cxn>
                <a:cxn ang="0">
                  <a:pos x="32" y="10"/>
                </a:cxn>
                <a:cxn ang="0">
                  <a:pos x="12" y="0"/>
                </a:cxn>
              </a:cxnLst>
              <a:rect l="0" t="0" r="r" b="b"/>
              <a:pathLst>
                <a:path w="32" h="13">
                  <a:moveTo>
                    <a:pt x="12" y="0"/>
                  </a:moveTo>
                  <a:lnTo>
                    <a:pt x="0" y="4"/>
                  </a:lnTo>
                  <a:lnTo>
                    <a:pt x="18" y="13"/>
                  </a:lnTo>
                  <a:lnTo>
                    <a:pt x="32" y="10"/>
                  </a:lnTo>
                  <a:lnTo>
                    <a:pt x="1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2" name="Freeform 171"/>
            <p:cNvSpPr>
              <a:spLocks/>
            </p:cNvSpPr>
            <p:nvPr/>
          </p:nvSpPr>
          <p:spPr bwMode="auto">
            <a:xfrm>
              <a:off x="1365" y="2336"/>
              <a:ext cx="29" cy="11"/>
            </a:xfrm>
            <a:custGeom>
              <a:avLst/>
              <a:gdLst/>
              <a:ahLst/>
              <a:cxnLst>
                <a:cxn ang="0">
                  <a:pos x="25" y="4"/>
                </a:cxn>
                <a:cxn ang="0">
                  <a:pos x="23" y="6"/>
                </a:cxn>
                <a:cxn ang="0">
                  <a:pos x="7" y="9"/>
                </a:cxn>
                <a:cxn ang="0">
                  <a:pos x="0" y="7"/>
                </a:cxn>
                <a:cxn ang="0">
                  <a:pos x="2" y="0"/>
                </a:cxn>
                <a:cxn ang="0">
                  <a:pos x="25" y="4"/>
                </a:cxn>
              </a:cxnLst>
              <a:rect l="0" t="0" r="r" b="b"/>
              <a:pathLst>
                <a:path w="25" h="9">
                  <a:moveTo>
                    <a:pt x="25" y="4"/>
                  </a:moveTo>
                  <a:lnTo>
                    <a:pt x="23" y="6"/>
                  </a:lnTo>
                  <a:lnTo>
                    <a:pt x="7" y="9"/>
                  </a:lnTo>
                  <a:lnTo>
                    <a:pt x="0" y="7"/>
                  </a:lnTo>
                  <a:lnTo>
                    <a:pt x="2" y="0"/>
                  </a:lnTo>
                  <a:lnTo>
                    <a:pt x="2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3" name="Freeform 172"/>
            <p:cNvSpPr>
              <a:spLocks/>
            </p:cNvSpPr>
            <p:nvPr/>
          </p:nvSpPr>
          <p:spPr bwMode="auto">
            <a:xfrm>
              <a:off x="1402" y="2350"/>
              <a:ext cx="7" cy="2"/>
            </a:xfrm>
            <a:custGeom>
              <a:avLst/>
              <a:gdLst/>
              <a:ahLst/>
              <a:cxnLst>
                <a:cxn ang="0">
                  <a:pos x="6" y="0"/>
                </a:cxn>
                <a:cxn ang="0">
                  <a:pos x="2" y="0"/>
                </a:cxn>
                <a:cxn ang="0">
                  <a:pos x="0" y="1"/>
                </a:cxn>
                <a:cxn ang="0">
                  <a:pos x="6" y="0"/>
                </a:cxn>
              </a:cxnLst>
              <a:rect l="0" t="0" r="r" b="b"/>
              <a:pathLst>
                <a:path w="6" h="1">
                  <a:moveTo>
                    <a:pt x="6" y="0"/>
                  </a:moveTo>
                  <a:lnTo>
                    <a:pt x="2" y="0"/>
                  </a:lnTo>
                  <a:lnTo>
                    <a:pt x="0" y="1"/>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4" name="Freeform 173"/>
            <p:cNvSpPr>
              <a:spLocks/>
            </p:cNvSpPr>
            <p:nvPr/>
          </p:nvSpPr>
          <p:spPr bwMode="auto">
            <a:xfrm>
              <a:off x="567" y="2054"/>
              <a:ext cx="467" cy="360"/>
            </a:xfrm>
            <a:custGeom>
              <a:avLst/>
              <a:gdLst/>
              <a:ahLst/>
              <a:cxnLst>
                <a:cxn ang="0">
                  <a:pos x="53" y="157"/>
                </a:cxn>
                <a:cxn ang="0">
                  <a:pos x="35" y="114"/>
                </a:cxn>
                <a:cxn ang="0">
                  <a:pos x="14" y="95"/>
                </a:cxn>
                <a:cxn ang="0">
                  <a:pos x="22" y="71"/>
                </a:cxn>
                <a:cxn ang="0">
                  <a:pos x="3" y="25"/>
                </a:cxn>
                <a:cxn ang="0">
                  <a:pos x="38" y="0"/>
                </a:cxn>
                <a:cxn ang="0">
                  <a:pos x="72" y="18"/>
                </a:cxn>
                <a:cxn ang="0">
                  <a:pos x="128" y="24"/>
                </a:cxn>
                <a:cxn ang="0">
                  <a:pos x="170" y="34"/>
                </a:cxn>
                <a:cxn ang="0">
                  <a:pos x="192" y="66"/>
                </a:cxn>
                <a:cxn ang="0">
                  <a:pos x="232" y="71"/>
                </a:cxn>
                <a:cxn ang="0">
                  <a:pos x="254" y="118"/>
                </a:cxn>
                <a:cxn ang="0">
                  <a:pos x="254" y="168"/>
                </a:cxn>
                <a:cxn ang="0">
                  <a:pos x="262" y="226"/>
                </a:cxn>
                <a:cxn ang="0">
                  <a:pos x="273" y="250"/>
                </a:cxn>
                <a:cxn ang="0">
                  <a:pos x="321" y="253"/>
                </a:cxn>
                <a:cxn ang="0">
                  <a:pos x="344" y="251"/>
                </a:cxn>
                <a:cxn ang="0">
                  <a:pos x="362" y="213"/>
                </a:cxn>
                <a:cxn ang="0">
                  <a:pos x="408" y="201"/>
                </a:cxn>
                <a:cxn ang="0">
                  <a:pos x="419" y="207"/>
                </a:cxn>
                <a:cxn ang="0">
                  <a:pos x="402" y="238"/>
                </a:cxn>
                <a:cxn ang="0">
                  <a:pos x="392" y="251"/>
                </a:cxn>
                <a:cxn ang="0">
                  <a:pos x="360" y="267"/>
                </a:cxn>
                <a:cxn ang="0">
                  <a:pos x="339" y="279"/>
                </a:cxn>
                <a:cxn ang="0">
                  <a:pos x="321" y="313"/>
                </a:cxn>
                <a:cxn ang="0">
                  <a:pos x="288" y="294"/>
                </a:cxn>
                <a:cxn ang="0">
                  <a:pos x="278" y="295"/>
                </a:cxn>
                <a:cxn ang="0">
                  <a:pos x="250" y="305"/>
                </a:cxn>
                <a:cxn ang="0">
                  <a:pos x="198" y="280"/>
                </a:cxn>
                <a:cxn ang="0">
                  <a:pos x="160" y="259"/>
                </a:cxn>
                <a:cxn ang="0">
                  <a:pos x="126" y="232"/>
                </a:cxn>
                <a:cxn ang="0">
                  <a:pos x="128" y="211"/>
                </a:cxn>
                <a:cxn ang="0">
                  <a:pos x="122" y="173"/>
                </a:cxn>
                <a:cxn ang="0">
                  <a:pos x="107" y="149"/>
                </a:cxn>
                <a:cxn ang="0">
                  <a:pos x="99" y="136"/>
                </a:cxn>
                <a:cxn ang="0">
                  <a:pos x="84" y="125"/>
                </a:cxn>
                <a:cxn ang="0">
                  <a:pos x="72" y="90"/>
                </a:cxn>
                <a:cxn ang="0">
                  <a:pos x="57" y="63"/>
                </a:cxn>
                <a:cxn ang="0">
                  <a:pos x="41" y="22"/>
                </a:cxn>
                <a:cxn ang="0">
                  <a:pos x="26" y="52"/>
                </a:cxn>
                <a:cxn ang="0">
                  <a:pos x="46" y="95"/>
                </a:cxn>
                <a:cxn ang="0">
                  <a:pos x="54" y="126"/>
                </a:cxn>
                <a:cxn ang="0">
                  <a:pos x="70" y="161"/>
                </a:cxn>
              </a:cxnLst>
              <a:rect l="0" t="0" r="r" b="b"/>
              <a:pathLst>
                <a:path w="419" h="325">
                  <a:moveTo>
                    <a:pt x="74" y="169"/>
                  </a:moveTo>
                  <a:lnTo>
                    <a:pt x="63" y="174"/>
                  </a:lnTo>
                  <a:lnTo>
                    <a:pt x="53" y="157"/>
                  </a:lnTo>
                  <a:lnTo>
                    <a:pt x="39" y="142"/>
                  </a:lnTo>
                  <a:lnTo>
                    <a:pt x="40" y="127"/>
                  </a:lnTo>
                  <a:lnTo>
                    <a:pt x="35" y="114"/>
                  </a:lnTo>
                  <a:lnTo>
                    <a:pt x="30" y="105"/>
                  </a:lnTo>
                  <a:lnTo>
                    <a:pt x="21" y="103"/>
                  </a:lnTo>
                  <a:lnTo>
                    <a:pt x="14" y="95"/>
                  </a:lnTo>
                  <a:lnTo>
                    <a:pt x="6" y="87"/>
                  </a:lnTo>
                  <a:lnTo>
                    <a:pt x="18" y="89"/>
                  </a:lnTo>
                  <a:lnTo>
                    <a:pt x="22" y="71"/>
                  </a:lnTo>
                  <a:lnTo>
                    <a:pt x="14" y="59"/>
                  </a:lnTo>
                  <a:lnTo>
                    <a:pt x="5" y="47"/>
                  </a:lnTo>
                  <a:lnTo>
                    <a:pt x="3" y="25"/>
                  </a:lnTo>
                  <a:lnTo>
                    <a:pt x="0" y="3"/>
                  </a:lnTo>
                  <a:lnTo>
                    <a:pt x="18" y="1"/>
                  </a:lnTo>
                  <a:lnTo>
                    <a:pt x="38" y="0"/>
                  </a:lnTo>
                  <a:lnTo>
                    <a:pt x="48" y="6"/>
                  </a:lnTo>
                  <a:lnTo>
                    <a:pt x="60" y="12"/>
                  </a:lnTo>
                  <a:lnTo>
                    <a:pt x="72" y="18"/>
                  </a:lnTo>
                  <a:lnTo>
                    <a:pt x="84" y="24"/>
                  </a:lnTo>
                  <a:lnTo>
                    <a:pt x="106" y="24"/>
                  </a:lnTo>
                  <a:lnTo>
                    <a:pt x="128" y="24"/>
                  </a:lnTo>
                  <a:lnTo>
                    <a:pt x="131" y="16"/>
                  </a:lnTo>
                  <a:lnTo>
                    <a:pt x="156" y="16"/>
                  </a:lnTo>
                  <a:lnTo>
                    <a:pt x="170" y="34"/>
                  </a:lnTo>
                  <a:lnTo>
                    <a:pt x="174" y="52"/>
                  </a:lnTo>
                  <a:lnTo>
                    <a:pt x="183" y="59"/>
                  </a:lnTo>
                  <a:lnTo>
                    <a:pt x="192" y="66"/>
                  </a:lnTo>
                  <a:lnTo>
                    <a:pt x="203" y="53"/>
                  </a:lnTo>
                  <a:lnTo>
                    <a:pt x="225" y="55"/>
                  </a:lnTo>
                  <a:lnTo>
                    <a:pt x="232" y="71"/>
                  </a:lnTo>
                  <a:lnTo>
                    <a:pt x="238" y="88"/>
                  </a:lnTo>
                  <a:lnTo>
                    <a:pt x="244" y="109"/>
                  </a:lnTo>
                  <a:lnTo>
                    <a:pt x="254" y="118"/>
                  </a:lnTo>
                  <a:lnTo>
                    <a:pt x="273" y="120"/>
                  </a:lnTo>
                  <a:lnTo>
                    <a:pt x="263" y="144"/>
                  </a:lnTo>
                  <a:lnTo>
                    <a:pt x="254" y="168"/>
                  </a:lnTo>
                  <a:lnTo>
                    <a:pt x="251" y="192"/>
                  </a:lnTo>
                  <a:lnTo>
                    <a:pt x="256" y="210"/>
                  </a:lnTo>
                  <a:lnTo>
                    <a:pt x="262" y="226"/>
                  </a:lnTo>
                  <a:lnTo>
                    <a:pt x="267" y="238"/>
                  </a:lnTo>
                  <a:lnTo>
                    <a:pt x="272" y="249"/>
                  </a:lnTo>
                  <a:lnTo>
                    <a:pt x="273" y="250"/>
                  </a:lnTo>
                  <a:lnTo>
                    <a:pt x="290" y="258"/>
                  </a:lnTo>
                  <a:lnTo>
                    <a:pt x="304" y="257"/>
                  </a:lnTo>
                  <a:lnTo>
                    <a:pt x="321" y="253"/>
                  </a:lnTo>
                  <a:lnTo>
                    <a:pt x="332" y="253"/>
                  </a:lnTo>
                  <a:lnTo>
                    <a:pt x="339" y="255"/>
                  </a:lnTo>
                  <a:lnTo>
                    <a:pt x="344" y="251"/>
                  </a:lnTo>
                  <a:lnTo>
                    <a:pt x="341" y="247"/>
                  </a:lnTo>
                  <a:lnTo>
                    <a:pt x="354" y="234"/>
                  </a:lnTo>
                  <a:lnTo>
                    <a:pt x="362" y="213"/>
                  </a:lnTo>
                  <a:lnTo>
                    <a:pt x="378" y="204"/>
                  </a:lnTo>
                  <a:lnTo>
                    <a:pt x="393" y="202"/>
                  </a:lnTo>
                  <a:lnTo>
                    <a:pt x="408" y="201"/>
                  </a:lnTo>
                  <a:lnTo>
                    <a:pt x="412" y="201"/>
                  </a:lnTo>
                  <a:lnTo>
                    <a:pt x="418" y="204"/>
                  </a:lnTo>
                  <a:lnTo>
                    <a:pt x="419" y="207"/>
                  </a:lnTo>
                  <a:lnTo>
                    <a:pt x="405" y="229"/>
                  </a:lnTo>
                  <a:lnTo>
                    <a:pt x="402" y="235"/>
                  </a:lnTo>
                  <a:lnTo>
                    <a:pt x="402" y="238"/>
                  </a:lnTo>
                  <a:lnTo>
                    <a:pt x="402" y="240"/>
                  </a:lnTo>
                  <a:lnTo>
                    <a:pt x="395" y="257"/>
                  </a:lnTo>
                  <a:lnTo>
                    <a:pt x="392" y="251"/>
                  </a:lnTo>
                  <a:lnTo>
                    <a:pt x="389" y="255"/>
                  </a:lnTo>
                  <a:lnTo>
                    <a:pt x="375" y="267"/>
                  </a:lnTo>
                  <a:lnTo>
                    <a:pt x="360" y="267"/>
                  </a:lnTo>
                  <a:lnTo>
                    <a:pt x="345" y="267"/>
                  </a:lnTo>
                  <a:lnTo>
                    <a:pt x="344" y="277"/>
                  </a:lnTo>
                  <a:lnTo>
                    <a:pt x="339" y="279"/>
                  </a:lnTo>
                  <a:lnTo>
                    <a:pt x="351" y="295"/>
                  </a:lnTo>
                  <a:lnTo>
                    <a:pt x="329" y="299"/>
                  </a:lnTo>
                  <a:lnTo>
                    <a:pt x="321" y="313"/>
                  </a:lnTo>
                  <a:lnTo>
                    <a:pt x="318" y="325"/>
                  </a:lnTo>
                  <a:lnTo>
                    <a:pt x="303" y="310"/>
                  </a:lnTo>
                  <a:lnTo>
                    <a:pt x="288" y="294"/>
                  </a:lnTo>
                  <a:lnTo>
                    <a:pt x="294" y="300"/>
                  </a:lnTo>
                  <a:lnTo>
                    <a:pt x="286" y="294"/>
                  </a:lnTo>
                  <a:lnTo>
                    <a:pt x="278" y="295"/>
                  </a:lnTo>
                  <a:lnTo>
                    <a:pt x="281" y="295"/>
                  </a:lnTo>
                  <a:lnTo>
                    <a:pt x="266" y="300"/>
                  </a:lnTo>
                  <a:lnTo>
                    <a:pt x="250" y="305"/>
                  </a:lnTo>
                  <a:lnTo>
                    <a:pt x="233" y="297"/>
                  </a:lnTo>
                  <a:lnTo>
                    <a:pt x="215" y="288"/>
                  </a:lnTo>
                  <a:lnTo>
                    <a:pt x="198" y="280"/>
                  </a:lnTo>
                  <a:lnTo>
                    <a:pt x="180" y="273"/>
                  </a:lnTo>
                  <a:lnTo>
                    <a:pt x="171" y="265"/>
                  </a:lnTo>
                  <a:lnTo>
                    <a:pt x="160" y="259"/>
                  </a:lnTo>
                  <a:lnTo>
                    <a:pt x="148" y="253"/>
                  </a:lnTo>
                  <a:lnTo>
                    <a:pt x="137" y="243"/>
                  </a:lnTo>
                  <a:lnTo>
                    <a:pt x="126" y="232"/>
                  </a:lnTo>
                  <a:lnTo>
                    <a:pt x="124" y="219"/>
                  </a:lnTo>
                  <a:lnTo>
                    <a:pt x="130" y="216"/>
                  </a:lnTo>
                  <a:lnTo>
                    <a:pt x="128" y="211"/>
                  </a:lnTo>
                  <a:lnTo>
                    <a:pt x="132" y="201"/>
                  </a:lnTo>
                  <a:lnTo>
                    <a:pt x="126" y="186"/>
                  </a:lnTo>
                  <a:lnTo>
                    <a:pt x="122" y="173"/>
                  </a:lnTo>
                  <a:lnTo>
                    <a:pt x="112" y="160"/>
                  </a:lnTo>
                  <a:lnTo>
                    <a:pt x="102" y="148"/>
                  </a:lnTo>
                  <a:lnTo>
                    <a:pt x="107" y="149"/>
                  </a:lnTo>
                  <a:lnTo>
                    <a:pt x="100" y="139"/>
                  </a:lnTo>
                  <a:lnTo>
                    <a:pt x="98" y="137"/>
                  </a:lnTo>
                  <a:lnTo>
                    <a:pt x="99" y="136"/>
                  </a:lnTo>
                  <a:lnTo>
                    <a:pt x="88" y="130"/>
                  </a:lnTo>
                  <a:lnTo>
                    <a:pt x="90" y="125"/>
                  </a:lnTo>
                  <a:lnTo>
                    <a:pt x="84" y="125"/>
                  </a:lnTo>
                  <a:lnTo>
                    <a:pt x="89" y="114"/>
                  </a:lnTo>
                  <a:lnTo>
                    <a:pt x="83" y="108"/>
                  </a:lnTo>
                  <a:lnTo>
                    <a:pt x="72" y="90"/>
                  </a:lnTo>
                  <a:lnTo>
                    <a:pt x="72" y="85"/>
                  </a:lnTo>
                  <a:lnTo>
                    <a:pt x="63" y="78"/>
                  </a:lnTo>
                  <a:lnTo>
                    <a:pt x="57" y="63"/>
                  </a:lnTo>
                  <a:lnTo>
                    <a:pt x="51" y="47"/>
                  </a:lnTo>
                  <a:lnTo>
                    <a:pt x="51" y="27"/>
                  </a:lnTo>
                  <a:lnTo>
                    <a:pt x="41" y="22"/>
                  </a:lnTo>
                  <a:lnTo>
                    <a:pt x="29" y="15"/>
                  </a:lnTo>
                  <a:lnTo>
                    <a:pt x="27" y="33"/>
                  </a:lnTo>
                  <a:lnTo>
                    <a:pt x="26" y="52"/>
                  </a:lnTo>
                  <a:lnTo>
                    <a:pt x="33" y="66"/>
                  </a:lnTo>
                  <a:lnTo>
                    <a:pt x="41" y="82"/>
                  </a:lnTo>
                  <a:lnTo>
                    <a:pt x="46" y="95"/>
                  </a:lnTo>
                  <a:lnTo>
                    <a:pt x="50" y="107"/>
                  </a:lnTo>
                  <a:lnTo>
                    <a:pt x="52" y="106"/>
                  </a:lnTo>
                  <a:lnTo>
                    <a:pt x="54" y="126"/>
                  </a:lnTo>
                  <a:lnTo>
                    <a:pt x="58" y="148"/>
                  </a:lnTo>
                  <a:lnTo>
                    <a:pt x="63" y="151"/>
                  </a:lnTo>
                  <a:lnTo>
                    <a:pt x="70" y="161"/>
                  </a:lnTo>
                  <a:lnTo>
                    <a:pt x="74" y="1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5" name="Freeform 174"/>
            <p:cNvSpPr>
              <a:spLocks/>
            </p:cNvSpPr>
            <p:nvPr/>
          </p:nvSpPr>
          <p:spPr bwMode="auto">
            <a:xfrm>
              <a:off x="1187" y="2203"/>
              <a:ext cx="9" cy="16"/>
            </a:xfrm>
            <a:custGeom>
              <a:avLst/>
              <a:gdLst/>
              <a:ahLst/>
              <a:cxnLst>
                <a:cxn ang="0">
                  <a:pos x="9" y="13"/>
                </a:cxn>
                <a:cxn ang="0">
                  <a:pos x="6" y="0"/>
                </a:cxn>
                <a:cxn ang="0">
                  <a:pos x="0" y="10"/>
                </a:cxn>
                <a:cxn ang="0">
                  <a:pos x="3" y="14"/>
                </a:cxn>
                <a:cxn ang="0">
                  <a:pos x="9" y="13"/>
                </a:cxn>
              </a:cxnLst>
              <a:rect l="0" t="0" r="r" b="b"/>
              <a:pathLst>
                <a:path w="9" h="14">
                  <a:moveTo>
                    <a:pt x="9" y="13"/>
                  </a:moveTo>
                  <a:lnTo>
                    <a:pt x="6" y="0"/>
                  </a:lnTo>
                  <a:lnTo>
                    <a:pt x="0" y="10"/>
                  </a:lnTo>
                  <a:lnTo>
                    <a:pt x="3" y="14"/>
                  </a:lnTo>
                  <a:lnTo>
                    <a:pt x="9"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6" name="Freeform 175"/>
            <p:cNvSpPr>
              <a:spLocks/>
            </p:cNvSpPr>
            <p:nvPr/>
          </p:nvSpPr>
          <p:spPr bwMode="auto">
            <a:xfrm>
              <a:off x="1202" y="2167"/>
              <a:ext cx="14" cy="20"/>
            </a:xfrm>
            <a:custGeom>
              <a:avLst/>
              <a:gdLst/>
              <a:ahLst/>
              <a:cxnLst>
                <a:cxn ang="0">
                  <a:pos x="5" y="17"/>
                </a:cxn>
                <a:cxn ang="0">
                  <a:pos x="7" y="10"/>
                </a:cxn>
                <a:cxn ang="0">
                  <a:pos x="0" y="0"/>
                </a:cxn>
                <a:cxn ang="0">
                  <a:pos x="11" y="11"/>
                </a:cxn>
                <a:cxn ang="0">
                  <a:pos x="5" y="17"/>
                </a:cxn>
              </a:cxnLst>
              <a:rect l="0" t="0" r="r" b="b"/>
              <a:pathLst>
                <a:path w="11" h="17">
                  <a:moveTo>
                    <a:pt x="5" y="17"/>
                  </a:moveTo>
                  <a:lnTo>
                    <a:pt x="7" y="10"/>
                  </a:lnTo>
                  <a:lnTo>
                    <a:pt x="0" y="0"/>
                  </a:lnTo>
                  <a:lnTo>
                    <a:pt x="11" y="11"/>
                  </a:lnTo>
                  <a:lnTo>
                    <a:pt x="5"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7" name="Freeform 176"/>
            <p:cNvSpPr>
              <a:spLocks/>
            </p:cNvSpPr>
            <p:nvPr/>
          </p:nvSpPr>
          <p:spPr bwMode="auto">
            <a:xfrm>
              <a:off x="1218" y="2196"/>
              <a:ext cx="9" cy="16"/>
            </a:xfrm>
            <a:custGeom>
              <a:avLst/>
              <a:gdLst/>
              <a:ahLst/>
              <a:cxnLst>
                <a:cxn ang="0">
                  <a:pos x="5" y="13"/>
                </a:cxn>
                <a:cxn ang="0">
                  <a:pos x="7" y="7"/>
                </a:cxn>
                <a:cxn ang="0">
                  <a:pos x="0" y="0"/>
                </a:cxn>
                <a:cxn ang="0">
                  <a:pos x="4" y="5"/>
                </a:cxn>
                <a:cxn ang="0">
                  <a:pos x="6" y="7"/>
                </a:cxn>
                <a:cxn ang="0">
                  <a:pos x="4" y="12"/>
                </a:cxn>
                <a:cxn ang="0">
                  <a:pos x="5" y="13"/>
                </a:cxn>
              </a:cxnLst>
              <a:rect l="0" t="0" r="r" b="b"/>
              <a:pathLst>
                <a:path w="7" h="13">
                  <a:moveTo>
                    <a:pt x="5" y="13"/>
                  </a:moveTo>
                  <a:lnTo>
                    <a:pt x="7" y="7"/>
                  </a:lnTo>
                  <a:lnTo>
                    <a:pt x="0" y="0"/>
                  </a:lnTo>
                  <a:lnTo>
                    <a:pt x="4" y="5"/>
                  </a:lnTo>
                  <a:lnTo>
                    <a:pt x="6" y="7"/>
                  </a:lnTo>
                  <a:lnTo>
                    <a:pt x="4" y="12"/>
                  </a:lnTo>
                  <a:lnTo>
                    <a:pt x="5"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8" name="Freeform 177"/>
            <p:cNvSpPr>
              <a:spLocks/>
            </p:cNvSpPr>
            <p:nvPr/>
          </p:nvSpPr>
          <p:spPr bwMode="auto">
            <a:xfrm>
              <a:off x="1260" y="2281"/>
              <a:ext cx="9" cy="6"/>
            </a:xfrm>
            <a:custGeom>
              <a:avLst/>
              <a:gdLst/>
              <a:ahLst/>
              <a:cxnLst>
                <a:cxn ang="0">
                  <a:pos x="10" y="0"/>
                </a:cxn>
                <a:cxn ang="0">
                  <a:pos x="10" y="3"/>
                </a:cxn>
                <a:cxn ang="0">
                  <a:pos x="0" y="6"/>
                </a:cxn>
                <a:cxn ang="0">
                  <a:pos x="10" y="0"/>
                </a:cxn>
              </a:cxnLst>
              <a:rect l="0" t="0" r="r" b="b"/>
              <a:pathLst>
                <a:path w="10" h="6">
                  <a:moveTo>
                    <a:pt x="10" y="0"/>
                  </a:moveTo>
                  <a:lnTo>
                    <a:pt x="10" y="3"/>
                  </a:lnTo>
                  <a:lnTo>
                    <a:pt x="0" y="6"/>
                  </a:lnTo>
                  <a:lnTo>
                    <a:pt x="1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9" name="Freeform 178"/>
            <p:cNvSpPr>
              <a:spLocks/>
            </p:cNvSpPr>
            <p:nvPr/>
          </p:nvSpPr>
          <p:spPr bwMode="auto">
            <a:xfrm>
              <a:off x="1254" y="2254"/>
              <a:ext cx="6" cy="7"/>
            </a:xfrm>
            <a:custGeom>
              <a:avLst/>
              <a:gdLst/>
              <a:ahLst/>
              <a:cxnLst>
                <a:cxn ang="0">
                  <a:pos x="6" y="2"/>
                </a:cxn>
                <a:cxn ang="0">
                  <a:pos x="4" y="0"/>
                </a:cxn>
                <a:cxn ang="0">
                  <a:pos x="0" y="5"/>
                </a:cxn>
                <a:cxn ang="0">
                  <a:pos x="6" y="2"/>
                </a:cxn>
              </a:cxnLst>
              <a:rect l="0" t="0" r="r" b="b"/>
              <a:pathLst>
                <a:path w="6" h="5">
                  <a:moveTo>
                    <a:pt x="6" y="2"/>
                  </a:moveTo>
                  <a:lnTo>
                    <a:pt x="4" y="0"/>
                  </a:lnTo>
                  <a:lnTo>
                    <a:pt x="0" y="5"/>
                  </a:lnTo>
                  <a:lnTo>
                    <a:pt x="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0" name="Freeform 179"/>
            <p:cNvSpPr>
              <a:spLocks/>
            </p:cNvSpPr>
            <p:nvPr/>
          </p:nvSpPr>
          <p:spPr bwMode="auto">
            <a:xfrm>
              <a:off x="1182" y="2174"/>
              <a:ext cx="18" cy="2"/>
            </a:xfrm>
            <a:custGeom>
              <a:avLst/>
              <a:gdLst/>
              <a:ahLst/>
              <a:cxnLst>
                <a:cxn ang="0">
                  <a:pos x="5" y="0"/>
                </a:cxn>
                <a:cxn ang="0">
                  <a:pos x="15" y="0"/>
                </a:cxn>
                <a:cxn ang="0">
                  <a:pos x="9" y="1"/>
                </a:cxn>
                <a:cxn ang="0">
                  <a:pos x="0" y="0"/>
                </a:cxn>
                <a:cxn ang="0">
                  <a:pos x="5" y="0"/>
                </a:cxn>
              </a:cxnLst>
              <a:rect l="0" t="0" r="r" b="b"/>
              <a:pathLst>
                <a:path w="15" h="1">
                  <a:moveTo>
                    <a:pt x="5" y="0"/>
                  </a:moveTo>
                  <a:lnTo>
                    <a:pt x="15" y="0"/>
                  </a:lnTo>
                  <a:lnTo>
                    <a:pt x="9" y="1"/>
                  </a:lnTo>
                  <a:lnTo>
                    <a:pt x="0" y="0"/>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1" name="Freeform 180"/>
            <p:cNvSpPr>
              <a:spLocks/>
            </p:cNvSpPr>
            <p:nvPr/>
          </p:nvSpPr>
          <p:spPr bwMode="auto">
            <a:xfrm>
              <a:off x="1194" y="2223"/>
              <a:ext cx="6" cy="7"/>
            </a:xfrm>
            <a:custGeom>
              <a:avLst/>
              <a:gdLst/>
              <a:ahLst/>
              <a:cxnLst>
                <a:cxn ang="0">
                  <a:pos x="5" y="4"/>
                </a:cxn>
                <a:cxn ang="0">
                  <a:pos x="3" y="1"/>
                </a:cxn>
                <a:cxn ang="0">
                  <a:pos x="0" y="0"/>
                </a:cxn>
                <a:cxn ang="0">
                  <a:pos x="3" y="6"/>
                </a:cxn>
                <a:cxn ang="0">
                  <a:pos x="5" y="4"/>
                </a:cxn>
              </a:cxnLst>
              <a:rect l="0" t="0" r="r" b="b"/>
              <a:pathLst>
                <a:path w="5" h="6">
                  <a:moveTo>
                    <a:pt x="5" y="4"/>
                  </a:moveTo>
                  <a:lnTo>
                    <a:pt x="3" y="1"/>
                  </a:lnTo>
                  <a:lnTo>
                    <a:pt x="0" y="0"/>
                  </a:lnTo>
                  <a:lnTo>
                    <a:pt x="3" y="6"/>
                  </a:lnTo>
                  <a:lnTo>
                    <a:pt x="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2" name="Freeform 181"/>
            <p:cNvSpPr>
              <a:spLocks/>
            </p:cNvSpPr>
            <p:nvPr/>
          </p:nvSpPr>
          <p:spPr bwMode="auto">
            <a:xfrm>
              <a:off x="4449" y="2921"/>
              <a:ext cx="700" cy="562"/>
            </a:xfrm>
            <a:custGeom>
              <a:avLst/>
              <a:gdLst/>
              <a:ahLst/>
              <a:cxnLst>
                <a:cxn ang="0">
                  <a:pos x="356" y="12"/>
                </a:cxn>
                <a:cxn ang="0">
                  <a:pos x="361" y="25"/>
                </a:cxn>
                <a:cxn ang="0">
                  <a:pos x="333" y="34"/>
                </a:cxn>
                <a:cxn ang="0">
                  <a:pos x="320" y="48"/>
                </a:cxn>
                <a:cxn ang="0">
                  <a:pos x="314" y="72"/>
                </a:cxn>
                <a:cxn ang="0">
                  <a:pos x="301" y="78"/>
                </a:cxn>
                <a:cxn ang="0">
                  <a:pos x="282" y="85"/>
                </a:cxn>
                <a:cxn ang="0">
                  <a:pos x="269" y="58"/>
                </a:cxn>
                <a:cxn ang="0">
                  <a:pos x="254" y="60"/>
                </a:cxn>
                <a:cxn ang="0">
                  <a:pos x="241" y="79"/>
                </a:cxn>
                <a:cxn ang="0">
                  <a:pos x="225" y="90"/>
                </a:cxn>
                <a:cxn ang="0">
                  <a:pos x="224" y="100"/>
                </a:cxn>
                <a:cxn ang="0">
                  <a:pos x="212" y="100"/>
                </a:cxn>
                <a:cxn ang="0">
                  <a:pos x="209" y="129"/>
                </a:cxn>
                <a:cxn ang="0">
                  <a:pos x="183" y="121"/>
                </a:cxn>
                <a:cxn ang="0">
                  <a:pos x="144" y="165"/>
                </a:cxn>
                <a:cxn ang="0">
                  <a:pos x="92" y="175"/>
                </a:cxn>
                <a:cxn ang="0">
                  <a:pos x="44" y="199"/>
                </a:cxn>
                <a:cxn ang="0">
                  <a:pos x="29" y="264"/>
                </a:cxn>
                <a:cxn ang="0">
                  <a:pos x="21" y="267"/>
                </a:cxn>
                <a:cxn ang="0">
                  <a:pos x="19" y="293"/>
                </a:cxn>
                <a:cxn ang="0">
                  <a:pos x="24" y="354"/>
                </a:cxn>
                <a:cxn ang="0">
                  <a:pos x="8" y="411"/>
                </a:cxn>
                <a:cxn ang="0">
                  <a:pos x="21" y="437"/>
                </a:cxn>
                <a:cxn ang="0">
                  <a:pos x="72" y="418"/>
                </a:cxn>
                <a:cxn ang="0">
                  <a:pos x="141" y="402"/>
                </a:cxn>
                <a:cxn ang="0">
                  <a:pos x="219" y="379"/>
                </a:cxn>
                <a:cxn ang="0">
                  <a:pos x="290" y="385"/>
                </a:cxn>
                <a:cxn ang="0">
                  <a:pos x="300" y="414"/>
                </a:cxn>
                <a:cxn ang="0">
                  <a:pos x="308" y="431"/>
                </a:cxn>
                <a:cxn ang="0">
                  <a:pos x="348" y="406"/>
                </a:cxn>
                <a:cxn ang="0">
                  <a:pos x="330" y="439"/>
                </a:cxn>
                <a:cxn ang="0">
                  <a:pos x="343" y="445"/>
                </a:cxn>
                <a:cxn ang="0">
                  <a:pos x="345" y="489"/>
                </a:cxn>
                <a:cxn ang="0">
                  <a:pos x="403" y="495"/>
                </a:cxn>
                <a:cxn ang="0">
                  <a:pos x="410" y="497"/>
                </a:cxn>
                <a:cxn ang="0">
                  <a:pos x="426" y="502"/>
                </a:cxn>
                <a:cxn ang="0">
                  <a:pos x="495" y="471"/>
                </a:cxn>
                <a:cxn ang="0">
                  <a:pos x="549" y="409"/>
                </a:cxn>
                <a:cxn ang="0">
                  <a:pos x="599" y="358"/>
                </a:cxn>
                <a:cxn ang="0">
                  <a:pos x="621" y="299"/>
                </a:cxn>
                <a:cxn ang="0">
                  <a:pos x="623" y="250"/>
                </a:cxn>
                <a:cxn ang="0">
                  <a:pos x="608" y="213"/>
                </a:cxn>
                <a:cxn ang="0">
                  <a:pos x="594" y="193"/>
                </a:cxn>
                <a:cxn ang="0">
                  <a:pos x="575" y="157"/>
                </a:cxn>
                <a:cxn ang="0">
                  <a:pos x="553" y="97"/>
                </a:cxn>
                <a:cxn ang="0">
                  <a:pos x="533" y="65"/>
                </a:cxn>
                <a:cxn ang="0">
                  <a:pos x="525" y="13"/>
                </a:cxn>
                <a:cxn ang="0">
                  <a:pos x="509" y="23"/>
                </a:cxn>
                <a:cxn ang="0">
                  <a:pos x="503" y="43"/>
                </a:cxn>
                <a:cxn ang="0">
                  <a:pos x="497" y="81"/>
                </a:cxn>
                <a:cxn ang="0">
                  <a:pos x="451" y="114"/>
                </a:cxn>
                <a:cxn ang="0">
                  <a:pos x="401" y="72"/>
                </a:cxn>
                <a:cxn ang="0">
                  <a:pos x="422" y="40"/>
                </a:cxn>
                <a:cxn ang="0">
                  <a:pos x="415" y="27"/>
                </a:cxn>
                <a:cxn ang="0">
                  <a:pos x="387" y="24"/>
                </a:cxn>
              </a:cxnLst>
              <a:rect l="0" t="0" r="r" b="b"/>
              <a:pathLst>
                <a:path w="630" h="508">
                  <a:moveTo>
                    <a:pt x="369" y="12"/>
                  </a:moveTo>
                  <a:lnTo>
                    <a:pt x="362" y="11"/>
                  </a:lnTo>
                  <a:lnTo>
                    <a:pt x="357" y="10"/>
                  </a:lnTo>
                  <a:lnTo>
                    <a:pt x="356" y="12"/>
                  </a:lnTo>
                  <a:lnTo>
                    <a:pt x="351" y="10"/>
                  </a:lnTo>
                  <a:lnTo>
                    <a:pt x="357" y="13"/>
                  </a:lnTo>
                  <a:lnTo>
                    <a:pt x="365" y="18"/>
                  </a:lnTo>
                  <a:lnTo>
                    <a:pt x="361" y="25"/>
                  </a:lnTo>
                  <a:lnTo>
                    <a:pt x="356" y="28"/>
                  </a:lnTo>
                  <a:lnTo>
                    <a:pt x="343" y="25"/>
                  </a:lnTo>
                  <a:lnTo>
                    <a:pt x="337" y="28"/>
                  </a:lnTo>
                  <a:lnTo>
                    <a:pt x="333" y="34"/>
                  </a:lnTo>
                  <a:lnTo>
                    <a:pt x="330" y="31"/>
                  </a:lnTo>
                  <a:lnTo>
                    <a:pt x="327" y="35"/>
                  </a:lnTo>
                  <a:lnTo>
                    <a:pt x="321" y="45"/>
                  </a:lnTo>
                  <a:lnTo>
                    <a:pt x="320" y="48"/>
                  </a:lnTo>
                  <a:lnTo>
                    <a:pt x="314" y="54"/>
                  </a:lnTo>
                  <a:lnTo>
                    <a:pt x="307" y="67"/>
                  </a:lnTo>
                  <a:lnTo>
                    <a:pt x="312" y="70"/>
                  </a:lnTo>
                  <a:lnTo>
                    <a:pt x="314" y="72"/>
                  </a:lnTo>
                  <a:lnTo>
                    <a:pt x="309" y="78"/>
                  </a:lnTo>
                  <a:lnTo>
                    <a:pt x="315" y="84"/>
                  </a:lnTo>
                  <a:lnTo>
                    <a:pt x="303" y="75"/>
                  </a:lnTo>
                  <a:lnTo>
                    <a:pt x="301" y="78"/>
                  </a:lnTo>
                  <a:lnTo>
                    <a:pt x="290" y="73"/>
                  </a:lnTo>
                  <a:lnTo>
                    <a:pt x="288" y="82"/>
                  </a:lnTo>
                  <a:lnTo>
                    <a:pt x="284" y="82"/>
                  </a:lnTo>
                  <a:lnTo>
                    <a:pt x="282" y="85"/>
                  </a:lnTo>
                  <a:lnTo>
                    <a:pt x="282" y="81"/>
                  </a:lnTo>
                  <a:lnTo>
                    <a:pt x="285" y="70"/>
                  </a:lnTo>
                  <a:lnTo>
                    <a:pt x="270" y="54"/>
                  </a:lnTo>
                  <a:lnTo>
                    <a:pt x="269" y="58"/>
                  </a:lnTo>
                  <a:lnTo>
                    <a:pt x="261" y="60"/>
                  </a:lnTo>
                  <a:lnTo>
                    <a:pt x="260" y="58"/>
                  </a:lnTo>
                  <a:lnTo>
                    <a:pt x="258" y="60"/>
                  </a:lnTo>
                  <a:lnTo>
                    <a:pt x="254" y="60"/>
                  </a:lnTo>
                  <a:lnTo>
                    <a:pt x="251" y="70"/>
                  </a:lnTo>
                  <a:lnTo>
                    <a:pt x="248" y="65"/>
                  </a:lnTo>
                  <a:lnTo>
                    <a:pt x="240" y="73"/>
                  </a:lnTo>
                  <a:lnTo>
                    <a:pt x="241" y="79"/>
                  </a:lnTo>
                  <a:lnTo>
                    <a:pt x="235" y="78"/>
                  </a:lnTo>
                  <a:lnTo>
                    <a:pt x="237" y="87"/>
                  </a:lnTo>
                  <a:lnTo>
                    <a:pt x="230" y="83"/>
                  </a:lnTo>
                  <a:lnTo>
                    <a:pt x="225" y="90"/>
                  </a:lnTo>
                  <a:lnTo>
                    <a:pt x="227" y="91"/>
                  </a:lnTo>
                  <a:lnTo>
                    <a:pt x="229" y="91"/>
                  </a:lnTo>
                  <a:lnTo>
                    <a:pt x="224" y="95"/>
                  </a:lnTo>
                  <a:lnTo>
                    <a:pt x="224" y="100"/>
                  </a:lnTo>
                  <a:lnTo>
                    <a:pt x="228" y="101"/>
                  </a:lnTo>
                  <a:lnTo>
                    <a:pt x="219" y="101"/>
                  </a:lnTo>
                  <a:lnTo>
                    <a:pt x="216" y="101"/>
                  </a:lnTo>
                  <a:lnTo>
                    <a:pt x="212" y="100"/>
                  </a:lnTo>
                  <a:lnTo>
                    <a:pt x="210" y="103"/>
                  </a:lnTo>
                  <a:lnTo>
                    <a:pt x="212" y="112"/>
                  </a:lnTo>
                  <a:lnTo>
                    <a:pt x="209" y="114"/>
                  </a:lnTo>
                  <a:lnTo>
                    <a:pt x="209" y="129"/>
                  </a:lnTo>
                  <a:lnTo>
                    <a:pt x="204" y="115"/>
                  </a:lnTo>
                  <a:lnTo>
                    <a:pt x="199" y="102"/>
                  </a:lnTo>
                  <a:lnTo>
                    <a:pt x="194" y="107"/>
                  </a:lnTo>
                  <a:lnTo>
                    <a:pt x="183" y="121"/>
                  </a:lnTo>
                  <a:lnTo>
                    <a:pt x="183" y="133"/>
                  </a:lnTo>
                  <a:lnTo>
                    <a:pt x="168" y="150"/>
                  </a:lnTo>
                  <a:lnTo>
                    <a:pt x="156" y="157"/>
                  </a:lnTo>
                  <a:lnTo>
                    <a:pt x="144" y="165"/>
                  </a:lnTo>
                  <a:lnTo>
                    <a:pt x="126" y="168"/>
                  </a:lnTo>
                  <a:lnTo>
                    <a:pt x="111" y="173"/>
                  </a:lnTo>
                  <a:lnTo>
                    <a:pt x="97" y="178"/>
                  </a:lnTo>
                  <a:lnTo>
                    <a:pt x="92" y="175"/>
                  </a:lnTo>
                  <a:lnTo>
                    <a:pt x="71" y="190"/>
                  </a:lnTo>
                  <a:lnTo>
                    <a:pt x="50" y="204"/>
                  </a:lnTo>
                  <a:lnTo>
                    <a:pt x="43" y="210"/>
                  </a:lnTo>
                  <a:lnTo>
                    <a:pt x="44" y="199"/>
                  </a:lnTo>
                  <a:lnTo>
                    <a:pt x="37" y="216"/>
                  </a:lnTo>
                  <a:lnTo>
                    <a:pt x="29" y="235"/>
                  </a:lnTo>
                  <a:lnTo>
                    <a:pt x="27" y="251"/>
                  </a:lnTo>
                  <a:lnTo>
                    <a:pt x="29" y="264"/>
                  </a:lnTo>
                  <a:lnTo>
                    <a:pt x="30" y="276"/>
                  </a:lnTo>
                  <a:lnTo>
                    <a:pt x="26" y="280"/>
                  </a:lnTo>
                  <a:lnTo>
                    <a:pt x="26" y="275"/>
                  </a:lnTo>
                  <a:lnTo>
                    <a:pt x="21" y="267"/>
                  </a:lnTo>
                  <a:lnTo>
                    <a:pt x="21" y="285"/>
                  </a:lnTo>
                  <a:lnTo>
                    <a:pt x="18" y="277"/>
                  </a:lnTo>
                  <a:lnTo>
                    <a:pt x="17" y="276"/>
                  </a:lnTo>
                  <a:lnTo>
                    <a:pt x="19" y="293"/>
                  </a:lnTo>
                  <a:lnTo>
                    <a:pt x="21" y="310"/>
                  </a:lnTo>
                  <a:lnTo>
                    <a:pt x="23" y="325"/>
                  </a:lnTo>
                  <a:lnTo>
                    <a:pt x="25" y="341"/>
                  </a:lnTo>
                  <a:lnTo>
                    <a:pt x="24" y="354"/>
                  </a:lnTo>
                  <a:lnTo>
                    <a:pt x="23" y="367"/>
                  </a:lnTo>
                  <a:lnTo>
                    <a:pt x="20" y="381"/>
                  </a:lnTo>
                  <a:lnTo>
                    <a:pt x="19" y="393"/>
                  </a:lnTo>
                  <a:lnTo>
                    <a:pt x="8" y="411"/>
                  </a:lnTo>
                  <a:lnTo>
                    <a:pt x="1" y="413"/>
                  </a:lnTo>
                  <a:lnTo>
                    <a:pt x="0" y="424"/>
                  </a:lnTo>
                  <a:lnTo>
                    <a:pt x="11" y="430"/>
                  </a:lnTo>
                  <a:lnTo>
                    <a:pt x="21" y="437"/>
                  </a:lnTo>
                  <a:lnTo>
                    <a:pt x="41" y="435"/>
                  </a:lnTo>
                  <a:lnTo>
                    <a:pt x="60" y="427"/>
                  </a:lnTo>
                  <a:lnTo>
                    <a:pt x="62" y="425"/>
                  </a:lnTo>
                  <a:lnTo>
                    <a:pt x="72" y="418"/>
                  </a:lnTo>
                  <a:lnTo>
                    <a:pt x="89" y="418"/>
                  </a:lnTo>
                  <a:lnTo>
                    <a:pt x="105" y="418"/>
                  </a:lnTo>
                  <a:lnTo>
                    <a:pt x="127" y="417"/>
                  </a:lnTo>
                  <a:lnTo>
                    <a:pt x="141" y="402"/>
                  </a:lnTo>
                  <a:lnTo>
                    <a:pt x="162" y="395"/>
                  </a:lnTo>
                  <a:lnTo>
                    <a:pt x="181" y="387"/>
                  </a:lnTo>
                  <a:lnTo>
                    <a:pt x="200" y="383"/>
                  </a:lnTo>
                  <a:lnTo>
                    <a:pt x="219" y="379"/>
                  </a:lnTo>
                  <a:lnTo>
                    <a:pt x="239" y="377"/>
                  </a:lnTo>
                  <a:lnTo>
                    <a:pt x="258" y="373"/>
                  </a:lnTo>
                  <a:lnTo>
                    <a:pt x="269" y="377"/>
                  </a:lnTo>
                  <a:lnTo>
                    <a:pt x="290" y="385"/>
                  </a:lnTo>
                  <a:lnTo>
                    <a:pt x="294" y="390"/>
                  </a:lnTo>
                  <a:lnTo>
                    <a:pt x="296" y="395"/>
                  </a:lnTo>
                  <a:lnTo>
                    <a:pt x="299" y="402"/>
                  </a:lnTo>
                  <a:lnTo>
                    <a:pt x="300" y="414"/>
                  </a:lnTo>
                  <a:lnTo>
                    <a:pt x="301" y="426"/>
                  </a:lnTo>
                  <a:lnTo>
                    <a:pt x="299" y="426"/>
                  </a:lnTo>
                  <a:lnTo>
                    <a:pt x="306" y="433"/>
                  </a:lnTo>
                  <a:lnTo>
                    <a:pt x="308" y="431"/>
                  </a:lnTo>
                  <a:lnTo>
                    <a:pt x="326" y="415"/>
                  </a:lnTo>
                  <a:lnTo>
                    <a:pt x="344" y="401"/>
                  </a:lnTo>
                  <a:lnTo>
                    <a:pt x="351" y="393"/>
                  </a:lnTo>
                  <a:lnTo>
                    <a:pt x="348" y="406"/>
                  </a:lnTo>
                  <a:lnTo>
                    <a:pt x="337" y="420"/>
                  </a:lnTo>
                  <a:lnTo>
                    <a:pt x="326" y="435"/>
                  </a:lnTo>
                  <a:lnTo>
                    <a:pt x="319" y="439"/>
                  </a:lnTo>
                  <a:lnTo>
                    <a:pt x="330" y="439"/>
                  </a:lnTo>
                  <a:lnTo>
                    <a:pt x="343" y="423"/>
                  </a:lnTo>
                  <a:lnTo>
                    <a:pt x="347" y="431"/>
                  </a:lnTo>
                  <a:lnTo>
                    <a:pt x="335" y="445"/>
                  </a:lnTo>
                  <a:lnTo>
                    <a:pt x="343" y="445"/>
                  </a:lnTo>
                  <a:lnTo>
                    <a:pt x="347" y="447"/>
                  </a:lnTo>
                  <a:lnTo>
                    <a:pt x="350" y="454"/>
                  </a:lnTo>
                  <a:lnTo>
                    <a:pt x="344" y="471"/>
                  </a:lnTo>
                  <a:lnTo>
                    <a:pt x="345" y="489"/>
                  </a:lnTo>
                  <a:lnTo>
                    <a:pt x="360" y="495"/>
                  </a:lnTo>
                  <a:lnTo>
                    <a:pt x="371" y="499"/>
                  </a:lnTo>
                  <a:lnTo>
                    <a:pt x="381" y="503"/>
                  </a:lnTo>
                  <a:lnTo>
                    <a:pt x="403" y="495"/>
                  </a:lnTo>
                  <a:lnTo>
                    <a:pt x="403" y="492"/>
                  </a:lnTo>
                  <a:lnTo>
                    <a:pt x="413" y="489"/>
                  </a:lnTo>
                  <a:lnTo>
                    <a:pt x="407" y="496"/>
                  </a:lnTo>
                  <a:lnTo>
                    <a:pt x="410" y="497"/>
                  </a:lnTo>
                  <a:lnTo>
                    <a:pt x="416" y="497"/>
                  </a:lnTo>
                  <a:lnTo>
                    <a:pt x="419" y="505"/>
                  </a:lnTo>
                  <a:lnTo>
                    <a:pt x="422" y="508"/>
                  </a:lnTo>
                  <a:lnTo>
                    <a:pt x="426" y="502"/>
                  </a:lnTo>
                  <a:lnTo>
                    <a:pt x="455" y="487"/>
                  </a:lnTo>
                  <a:lnTo>
                    <a:pt x="469" y="486"/>
                  </a:lnTo>
                  <a:lnTo>
                    <a:pt x="488" y="480"/>
                  </a:lnTo>
                  <a:lnTo>
                    <a:pt x="495" y="471"/>
                  </a:lnTo>
                  <a:lnTo>
                    <a:pt x="512" y="453"/>
                  </a:lnTo>
                  <a:lnTo>
                    <a:pt x="529" y="435"/>
                  </a:lnTo>
                  <a:lnTo>
                    <a:pt x="543" y="415"/>
                  </a:lnTo>
                  <a:lnTo>
                    <a:pt x="549" y="409"/>
                  </a:lnTo>
                  <a:lnTo>
                    <a:pt x="567" y="395"/>
                  </a:lnTo>
                  <a:lnTo>
                    <a:pt x="573" y="390"/>
                  </a:lnTo>
                  <a:lnTo>
                    <a:pt x="587" y="375"/>
                  </a:lnTo>
                  <a:lnTo>
                    <a:pt x="599" y="358"/>
                  </a:lnTo>
                  <a:lnTo>
                    <a:pt x="611" y="341"/>
                  </a:lnTo>
                  <a:lnTo>
                    <a:pt x="620" y="324"/>
                  </a:lnTo>
                  <a:lnTo>
                    <a:pt x="621" y="311"/>
                  </a:lnTo>
                  <a:lnTo>
                    <a:pt x="621" y="299"/>
                  </a:lnTo>
                  <a:lnTo>
                    <a:pt x="626" y="285"/>
                  </a:lnTo>
                  <a:lnTo>
                    <a:pt x="630" y="270"/>
                  </a:lnTo>
                  <a:lnTo>
                    <a:pt x="629" y="259"/>
                  </a:lnTo>
                  <a:lnTo>
                    <a:pt x="623" y="250"/>
                  </a:lnTo>
                  <a:lnTo>
                    <a:pt x="617" y="240"/>
                  </a:lnTo>
                  <a:lnTo>
                    <a:pt x="607" y="229"/>
                  </a:lnTo>
                  <a:lnTo>
                    <a:pt x="611" y="208"/>
                  </a:lnTo>
                  <a:lnTo>
                    <a:pt x="608" y="213"/>
                  </a:lnTo>
                  <a:lnTo>
                    <a:pt x="601" y="205"/>
                  </a:lnTo>
                  <a:lnTo>
                    <a:pt x="599" y="213"/>
                  </a:lnTo>
                  <a:lnTo>
                    <a:pt x="594" y="208"/>
                  </a:lnTo>
                  <a:lnTo>
                    <a:pt x="594" y="193"/>
                  </a:lnTo>
                  <a:lnTo>
                    <a:pt x="588" y="179"/>
                  </a:lnTo>
                  <a:lnTo>
                    <a:pt x="590" y="174"/>
                  </a:lnTo>
                  <a:lnTo>
                    <a:pt x="585" y="169"/>
                  </a:lnTo>
                  <a:lnTo>
                    <a:pt x="575" y="157"/>
                  </a:lnTo>
                  <a:lnTo>
                    <a:pt x="557" y="144"/>
                  </a:lnTo>
                  <a:lnTo>
                    <a:pt x="557" y="127"/>
                  </a:lnTo>
                  <a:lnTo>
                    <a:pt x="557" y="111"/>
                  </a:lnTo>
                  <a:lnTo>
                    <a:pt x="553" y="97"/>
                  </a:lnTo>
                  <a:lnTo>
                    <a:pt x="555" y="81"/>
                  </a:lnTo>
                  <a:lnTo>
                    <a:pt x="552" y="73"/>
                  </a:lnTo>
                  <a:lnTo>
                    <a:pt x="543" y="64"/>
                  </a:lnTo>
                  <a:lnTo>
                    <a:pt x="533" y="65"/>
                  </a:lnTo>
                  <a:lnTo>
                    <a:pt x="531" y="53"/>
                  </a:lnTo>
                  <a:lnTo>
                    <a:pt x="530" y="40"/>
                  </a:lnTo>
                  <a:lnTo>
                    <a:pt x="529" y="24"/>
                  </a:lnTo>
                  <a:lnTo>
                    <a:pt x="525" y="13"/>
                  </a:lnTo>
                  <a:lnTo>
                    <a:pt x="522" y="5"/>
                  </a:lnTo>
                  <a:lnTo>
                    <a:pt x="521" y="0"/>
                  </a:lnTo>
                  <a:lnTo>
                    <a:pt x="512" y="16"/>
                  </a:lnTo>
                  <a:lnTo>
                    <a:pt x="509" y="23"/>
                  </a:lnTo>
                  <a:lnTo>
                    <a:pt x="505" y="33"/>
                  </a:lnTo>
                  <a:lnTo>
                    <a:pt x="507" y="34"/>
                  </a:lnTo>
                  <a:lnTo>
                    <a:pt x="507" y="36"/>
                  </a:lnTo>
                  <a:lnTo>
                    <a:pt x="503" y="43"/>
                  </a:lnTo>
                  <a:lnTo>
                    <a:pt x="501" y="51"/>
                  </a:lnTo>
                  <a:lnTo>
                    <a:pt x="499" y="51"/>
                  </a:lnTo>
                  <a:lnTo>
                    <a:pt x="498" y="66"/>
                  </a:lnTo>
                  <a:lnTo>
                    <a:pt x="497" y="81"/>
                  </a:lnTo>
                  <a:lnTo>
                    <a:pt x="485" y="101"/>
                  </a:lnTo>
                  <a:lnTo>
                    <a:pt x="474" y="121"/>
                  </a:lnTo>
                  <a:lnTo>
                    <a:pt x="462" y="124"/>
                  </a:lnTo>
                  <a:lnTo>
                    <a:pt x="451" y="114"/>
                  </a:lnTo>
                  <a:lnTo>
                    <a:pt x="435" y="103"/>
                  </a:lnTo>
                  <a:lnTo>
                    <a:pt x="419" y="93"/>
                  </a:lnTo>
                  <a:lnTo>
                    <a:pt x="410" y="82"/>
                  </a:lnTo>
                  <a:lnTo>
                    <a:pt x="401" y="72"/>
                  </a:lnTo>
                  <a:lnTo>
                    <a:pt x="411" y="54"/>
                  </a:lnTo>
                  <a:lnTo>
                    <a:pt x="416" y="43"/>
                  </a:lnTo>
                  <a:lnTo>
                    <a:pt x="419" y="46"/>
                  </a:lnTo>
                  <a:lnTo>
                    <a:pt x="422" y="40"/>
                  </a:lnTo>
                  <a:lnTo>
                    <a:pt x="429" y="29"/>
                  </a:lnTo>
                  <a:lnTo>
                    <a:pt x="422" y="23"/>
                  </a:lnTo>
                  <a:lnTo>
                    <a:pt x="416" y="31"/>
                  </a:lnTo>
                  <a:lnTo>
                    <a:pt x="415" y="27"/>
                  </a:lnTo>
                  <a:lnTo>
                    <a:pt x="410" y="27"/>
                  </a:lnTo>
                  <a:lnTo>
                    <a:pt x="413" y="23"/>
                  </a:lnTo>
                  <a:lnTo>
                    <a:pt x="398" y="27"/>
                  </a:lnTo>
                  <a:lnTo>
                    <a:pt x="387" y="24"/>
                  </a:lnTo>
                  <a:lnTo>
                    <a:pt x="380" y="19"/>
                  </a:lnTo>
                  <a:lnTo>
                    <a:pt x="369"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3" name="Freeform 182"/>
            <p:cNvSpPr>
              <a:spLocks/>
            </p:cNvSpPr>
            <p:nvPr/>
          </p:nvSpPr>
          <p:spPr bwMode="auto">
            <a:xfrm>
              <a:off x="4860" y="3518"/>
              <a:ext cx="69" cy="56"/>
            </a:xfrm>
            <a:custGeom>
              <a:avLst/>
              <a:gdLst/>
              <a:ahLst/>
              <a:cxnLst>
                <a:cxn ang="0">
                  <a:pos x="25" y="38"/>
                </a:cxn>
                <a:cxn ang="0">
                  <a:pos x="7" y="50"/>
                </a:cxn>
                <a:cxn ang="0">
                  <a:pos x="0" y="46"/>
                </a:cxn>
                <a:cxn ang="0">
                  <a:pos x="1" y="44"/>
                </a:cxn>
                <a:cxn ang="0">
                  <a:pos x="1" y="29"/>
                </a:cxn>
                <a:cxn ang="0">
                  <a:pos x="4" y="26"/>
                </a:cxn>
                <a:cxn ang="0">
                  <a:pos x="5" y="28"/>
                </a:cxn>
                <a:cxn ang="0">
                  <a:pos x="7" y="16"/>
                </a:cxn>
                <a:cxn ang="0">
                  <a:pos x="9" y="2"/>
                </a:cxn>
                <a:cxn ang="0">
                  <a:pos x="13" y="0"/>
                </a:cxn>
                <a:cxn ang="0">
                  <a:pos x="27" y="5"/>
                </a:cxn>
                <a:cxn ang="0">
                  <a:pos x="40" y="11"/>
                </a:cxn>
                <a:cxn ang="0">
                  <a:pos x="43" y="4"/>
                </a:cxn>
                <a:cxn ang="0">
                  <a:pos x="63" y="2"/>
                </a:cxn>
                <a:cxn ang="0">
                  <a:pos x="48" y="25"/>
                </a:cxn>
                <a:cxn ang="0">
                  <a:pos x="46" y="24"/>
                </a:cxn>
                <a:cxn ang="0">
                  <a:pos x="28" y="43"/>
                </a:cxn>
                <a:cxn ang="0">
                  <a:pos x="30" y="40"/>
                </a:cxn>
                <a:cxn ang="0">
                  <a:pos x="27" y="40"/>
                </a:cxn>
                <a:cxn ang="0">
                  <a:pos x="25" y="38"/>
                </a:cxn>
              </a:cxnLst>
              <a:rect l="0" t="0" r="r" b="b"/>
              <a:pathLst>
                <a:path w="63" h="50">
                  <a:moveTo>
                    <a:pt x="25" y="38"/>
                  </a:moveTo>
                  <a:lnTo>
                    <a:pt x="7" y="50"/>
                  </a:lnTo>
                  <a:lnTo>
                    <a:pt x="0" y="46"/>
                  </a:lnTo>
                  <a:lnTo>
                    <a:pt x="1" y="44"/>
                  </a:lnTo>
                  <a:lnTo>
                    <a:pt x="1" y="29"/>
                  </a:lnTo>
                  <a:lnTo>
                    <a:pt x="4" y="26"/>
                  </a:lnTo>
                  <a:lnTo>
                    <a:pt x="5" y="28"/>
                  </a:lnTo>
                  <a:lnTo>
                    <a:pt x="7" y="16"/>
                  </a:lnTo>
                  <a:lnTo>
                    <a:pt x="9" y="2"/>
                  </a:lnTo>
                  <a:lnTo>
                    <a:pt x="13" y="0"/>
                  </a:lnTo>
                  <a:lnTo>
                    <a:pt x="27" y="5"/>
                  </a:lnTo>
                  <a:lnTo>
                    <a:pt x="40" y="11"/>
                  </a:lnTo>
                  <a:lnTo>
                    <a:pt x="43" y="4"/>
                  </a:lnTo>
                  <a:lnTo>
                    <a:pt x="63" y="2"/>
                  </a:lnTo>
                  <a:lnTo>
                    <a:pt x="48" y="25"/>
                  </a:lnTo>
                  <a:lnTo>
                    <a:pt x="46" y="24"/>
                  </a:lnTo>
                  <a:lnTo>
                    <a:pt x="28" y="43"/>
                  </a:lnTo>
                  <a:lnTo>
                    <a:pt x="30" y="40"/>
                  </a:lnTo>
                  <a:lnTo>
                    <a:pt x="27" y="40"/>
                  </a:lnTo>
                  <a:lnTo>
                    <a:pt x="25"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4" name="Freeform 183"/>
            <p:cNvSpPr>
              <a:spLocks/>
            </p:cNvSpPr>
            <p:nvPr/>
          </p:nvSpPr>
          <p:spPr bwMode="auto">
            <a:xfrm>
              <a:off x="5613" y="3052"/>
              <a:ext cx="22" cy="15"/>
            </a:xfrm>
            <a:custGeom>
              <a:avLst/>
              <a:gdLst/>
              <a:ahLst/>
              <a:cxnLst>
                <a:cxn ang="0">
                  <a:pos x="21" y="13"/>
                </a:cxn>
                <a:cxn ang="0">
                  <a:pos x="0" y="14"/>
                </a:cxn>
                <a:cxn ang="0">
                  <a:pos x="1" y="7"/>
                </a:cxn>
                <a:cxn ang="0">
                  <a:pos x="16" y="0"/>
                </a:cxn>
                <a:cxn ang="0">
                  <a:pos x="21" y="12"/>
                </a:cxn>
                <a:cxn ang="0">
                  <a:pos x="21" y="13"/>
                </a:cxn>
              </a:cxnLst>
              <a:rect l="0" t="0" r="r" b="b"/>
              <a:pathLst>
                <a:path w="21" h="14">
                  <a:moveTo>
                    <a:pt x="21" y="13"/>
                  </a:moveTo>
                  <a:lnTo>
                    <a:pt x="0" y="14"/>
                  </a:lnTo>
                  <a:lnTo>
                    <a:pt x="1" y="7"/>
                  </a:lnTo>
                  <a:lnTo>
                    <a:pt x="16" y="0"/>
                  </a:lnTo>
                  <a:lnTo>
                    <a:pt x="21" y="12"/>
                  </a:lnTo>
                  <a:lnTo>
                    <a:pt x="21"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5" name="Freeform 184"/>
            <p:cNvSpPr>
              <a:spLocks/>
            </p:cNvSpPr>
            <p:nvPr/>
          </p:nvSpPr>
          <p:spPr bwMode="auto">
            <a:xfrm>
              <a:off x="5640" y="3030"/>
              <a:ext cx="24" cy="13"/>
            </a:xfrm>
            <a:custGeom>
              <a:avLst/>
              <a:gdLst/>
              <a:ahLst/>
              <a:cxnLst>
                <a:cxn ang="0">
                  <a:pos x="16" y="8"/>
                </a:cxn>
                <a:cxn ang="0">
                  <a:pos x="22" y="0"/>
                </a:cxn>
                <a:cxn ang="0">
                  <a:pos x="0" y="7"/>
                </a:cxn>
                <a:cxn ang="0">
                  <a:pos x="0" y="12"/>
                </a:cxn>
                <a:cxn ang="0">
                  <a:pos x="16" y="8"/>
                </a:cxn>
              </a:cxnLst>
              <a:rect l="0" t="0" r="r" b="b"/>
              <a:pathLst>
                <a:path w="22" h="12">
                  <a:moveTo>
                    <a:pt x="16" y="8"/>
                  </a:moveTo>
                  <a:lnTo>
                    <a:pt x="22" y="0"/>
                  </a:lnTo>
                  <a:lnTo>
                    <a:pt x="0" y="7"/>
                  </a:lnTo>
                  <a:lnTo>
                    <a:pt x="0" y="12"/>
                  </a:lnTo>
                  <a:lnTo>
                    <a:pt x="16" y="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6" name="Freeform 185"/>
            <p:cNvSpPr>
              <a:spLocks/>
            </p:cNvSpPr>
            <p:nvPr/>
          </p:nvSpPr>
          <p:spPr bwMode="auto">
            <a:xfrm>
              <a:off x="5373" y="3107"/>
              <a:ext cx="38" cy="43"/>
            </a:xfrm>
            <a:custGeom>
              <a:avLst/>
              <a:gdLst/>
              <a:ahLst/>
              <a:cxnLst>
                <a:cxn ang="0">
                  <a:pos x="35" y="38"/>
                </a:cxn>
                <a:cxn ang="0">
                  <a:pos x="27" y="36"/>
                </a:cxn>
                <a:cxn ang="0">
                  <a:pos x="13" y="24"/>
                </a:cxn>
                <a:cxn ang="0">
                  <a:pos x="1" y="11"/>
                </a:cxn>
                <a:cxn ang="0">
                  <a:pos x="0" y="0"/>
                </a:cxn>
                <a:cxn ang="0">
                  <a:pos x="9" y="10"/>
                </a:cxn>
                <a:cxn ang="0">
                  <a:pos x="18" y="18"/>
                </a:cxn>
                <a:cxn ang="0">
                  <a:pos x="27" y="28"/>
                </a:cxn>
                <a:cxn ang="0">
                  <a:pos x="35" y="38"/>
                </a:cxn>
              </a:cxnLst>
              <a:rect l="0" t="0" r="r" b="b"/>
              <a:pathLst>
                <a:path w="35" h="38">
                  <a:moveTo>
                    <a:pt x="35" y="38"/>
                  </a:moveTo>
                  <a:lnTo>
                    <a:pt x="27" y="36"/>
                  </a:lnTo>
                  <a:lnTo>
                    <a:pt x="13" y="24"/>
                  </a:lnTo>
                  <a:lnTo>
                    <a:pt x="1" y="11"/>
                  </a:lnTo>
                  <a:lnTo>
                    <a:pt x="0" y="0"/>
                  </a:lnTo>
                  <a:lnTo>
                    <a:pt x="9" y="10"/>
                  </a:lnTo>
                  <a:lnTo>
                    <a:pt x="18" y="18"/>
                  </a:lnTo>
                  <a:lnTo>
                    <a:pt x="27" y="28"/>
                  </a:lnTo>
                  <a:lnTo>
                    <a:pt x="35"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7" name="Freeform 186"/>
            <p:cNvSpPr>
              <a:spLocks/>
            </p:cNvSpPr>
            <p:nvPr/>
          </p:nvSpPr>
          <p:spPr bwMode="auto">
            <a:xfrm>
              <a:off x="5146" y="3514"/>
              <a:ext cx="198" cy="120"/>
            </a:xfrm>
            <a:custGeom>
              <a:avLst/>
              <a:gdLst/>
              <a:ahLst/>
              <a:cxnLst>
                <a:cxn ang="0">
                  <a:pos x="117" y="59"/>
                </a:cxn>
                <a:cxn ang="0">
                  <a:pos x="111" y="48"/>
                </a:cxn>
                <a:cxn ang="0">
                  <a:pos x="109" y="48"/>
                </a:cxn>
                <a:cxn ang="0">
                  <a:pos x="105" y="51"/>
                </a:cxn>
                <a:cxn ang="0">
                  <a:pos x="111" y="60"/>
                </a:cxn>
                <a:cxn ang="0">
                  <a:pos x="99" y="64"/>
                </a:cxn>
                <a:cxn ang="0">
                  <a:pos x="90" y="65"/>
                </a:cxn>
                <a:cxn ang="0">
                  <a:pos x="88" y="72"/>
                </a:cxn>
                <a:cxn ang="0">
                  <a:pos x="82" y="78"/>
                </a:cxn>
                <a:cxn ang="0">
                  <a:pos x="82" y="79"/>
                </a:cxn>
                <a:cxn ang="0">
                  <a:pos x="61" y="95"/>
                </a:cxn>
                <a:cxn ang="0">
                  <a:pos x="27" y="109"/>
                </a:cxn>
                <a:cxn ang="0">
                  <a:pos x="19" y="106"/>
                </a:cxn>
                <a:cxn ang="0">
                  <a:pos x="6" y="102"/>
                </a:cxn>
                <a:cxn ang="0">
                  <a:pos x="1" y="100"/>
                </a:cxn>
                <a:cxn ang="0">
                  <a:pos x="3" y="99"/>
                </a:cxn>
                <a:cxn ang="0">
                  <a:pos x="0" y="97"/>
                </a:cxn>
                <a:cxn ang="0">
                  <a:pos x="9" y="91"/>
                </a:cxn>
                <a:cxn ang="0">
                  <a:pos x="12" y="89"/>
                </a:cxn>
                <a:cxn ang="0">
                  <a:pos x="17" y="85"/>
                </a:cxn>
                <a:cxn ang="0">
                  <a:pos x="18" y="87"/>
                </a:cxn>
                <a:cxn ang="0">
                  <a:pos x="24" y="79"/>
                </a:cxn>
                <a:cxn ang="0">
                  <a:pos x="30" y="77"/>
                </a:cxn>
                <a:cxn ang="0">
                  <a:pos x="40" y="73"/>
                </a:cxn>
                <a:cxn ang="0">
                  <a:pos x="59" y="63"/>
                </a:cxn>
                <a:cxn ang="0">
                  <a:pos x="67" y="60"/>
                </a:cxn>
                <a:cxn ang="0">
                  <a:pos x="95" y="47"/>
                </a:cxn>
                <a:cxn ang="0">
                  <a:pos x="108" y="41"/>
                </a:cxn>
                <a:cxn ang="0">
                  <a:pos x="125" y="31"/>
                </a:cxn>
                <a:cxn ang="0">
                  <a:pos x="120" y="31"/>
                </a:cxn>
                <a:cxn ang="0">
                  <a:pos x="132" y="23"/>
                </a:cxn>
                <a:cxn ang="0">
                  <a:pos x="162" y="3"/>
                </a:cxn>
                <a:cxn ang="0">
                  <a:pos x="169" y="0"/>
                </a:cxn>
                <a:cxn ang="0">
                  <a:pos x="162" y="4"/>
                </a:cxn>
                <a:cxn ang="0">
                  <a:pos x="161" y="12"/>
                </a:cxn>
                <a:cxn ang="0">
                  <a:pos x="175" y="7"/>
                </a:cxn>
                <a:cxn ang="0">
                  <a:pos x="173" y="11"/>
                </a:cxn>
                <a:cxn ang="0">
                  <a:pos x="175" y="12"/>
                </a:cxn>
                <a:cxn ang="0">
                  <a:pos x="174" y="13"/>
                </a:cxn>
                <a:cxn ang="0">
                  <a:pos x="179" y="12"/>
                </a:cxn>
                <a:cxn ang="0">
                  <a:pos x="171" y="21"/>
                </a:cxn>
                <a:cxn ang="0">
                  <a:pos x="151" y="34"/>
                </a:cxn>
                <a:cxn ang="0">
                  <a:pos x="132" y="46"/>
                </a:cxn>
                <a:cxn ang="0">
                  <a:pos x="124" y="49"/>
                </a:cxn>
                <a:cxn ang="0">
                  <a:pos x="123" y="52"/>
                </a:cxn>
                <a:cxn ang="0">
                  <a:pos x="117" y="52"/>
                </a:cxn>
                <a:cxn ang="0">
                  <a:pos x="123" y="55"/>
                </a:cxn>
                <a:cxn ang="0">
                  <a:pos x="124" y="60"/>
                </a:cxn>
                <a:cxn ang="0">
                  <a:pos x="117" y="59"/>
                </a:cxn>
              </a:cxnLst>
              <a:rect l="0" t="0" r="r" b="b"/>
              <a:pathLst>
                <a:path w="179" h="109">
                  <a:moveTo>
                    <a:pt x="117" y="59"/>
                  </a:moveTo>
                  <a:lnTo>
                    <a:pt x="111" y="48"/>
                  </a:lnTo>
                  <a:lnTo>
                    <a:pt x="109" y="48"/>
                  </a:lnTo>
                  <a:lnTo>
                    <a:pt x="105" y="51"/>
                  </a:lnTo>
                  <a:lnTo>
                    <a:pt x="111" y="60"/>
                  </a:lnTo>
                  <a:lnTo>
                    <a:pt x="99" y="64"/>
                  </a:lnTo>
                  <a:lnTo>
                    <a:pt x="90" y="65"/>
                  </a:lnTo>
                  <a:lnTo>
                    <a:pt x="88" y="72"/>
                  </a:lnTo>
                  <a:lnTo>
                    <a:pt x="82" y="78"/>
                  </a:lnTo>
                  <a:lnTo>
                    <a:pt x="82" y="79"/>
                  </a:lnTo>
                  <a:lnTo>
                    <a:pt x="61" y="95"/>
                  </a:lnTo>
                  <a:lnTo>
                    <a:pt x="27" y="109"/>
                  </a:lnTo>
                  <a:lnTo>
                    <a:pt x="19" y="106"/>
                  </a:lnTo>
                  <a:lnTo>
                    <a:pt x="6" y="102"/>
                  </a:lnTo>
                  <a:lnTo>
                    <a:pt x="1" y="100"/>
                  </a:lnTo>
                  <a:lnTo>
                    <a:pt x="3" y="99"/>
                  </a:lnTo>
                  <a:lnTo>
                    <a:pt x="0" y="97"/>
                  </a:lnTo>
                  <a:lnTo>
                    <a:pt x="9" y="91"/>
                  </a:lnTo>
                  <a:lnTo>
                    <a:pt x="12" y="89"/>
                  </a:lnTo>
                  <a:lnTo>
                    <a:pt x="17" y="85"/>
                  </a:lnTo>
                  <a:lnTo>
                    <a:pt x="18" y="87"/>
                  </a:lnTo>
                  <a:lnTo>
                    <a:pt x="24" y="79"/>
                  </a:lnTo>
                  <a:lnTo>
                    <a:pt x="30" y="77"/>
                  </a:lnTo>
                  <a:lnTo>
                    <a:pt x="40" y="73"/>
                  </a:lnTo>
                  <a:lnTo>
                    <a:pt x="59" y="63"/>
                  </a:lnTo>
                  <a:lnTo>
                    <a:pt x="67" y="60"/>
                  </a:lnTo>
                  <a:lnTo>
                    <a:pt x="95" y="47"/>
                  </a:lnTo>
                  <a:lnTo>
                    <a:pt x="108" y="41"/>
                  </a:lnTo>
                  <a:lnTo>
                    <a:pt x="125" y="31"/>
                  </a:lnTo>
                  <a:lnTo>
                    <a:pt x="120" y="31"/>
                  </a:lnTo>
                  <a:lnTo>
                    <a:pt x="132" y="23"/>
                  </a:lnTo>
                  <a:lnTo>
                    <a:pt x="162" y="3"/>
                  </a:lnTo>
                  <a:lnTo>
                    <a:pt x="169" y="0"/>
                  </a:lnTo>
                  <a:lnTo>
                    <a:pt x="162" y="4"/>
                  </a:lnTo>
                  <a:lnTo>
                    <a:pt x="161" y="12"/>
                  </a:lnTo>
                  <a:lnTo>
                    <a:pt x="175" y="7"/>
                  </a:lnTo>
                  <a:lnTo>
                    <a:pt x="173" y="11"/>
                  </a:lnTo>
                  <a:lnTo>
                    <a:pt x="175" y="12"/>
                  </a:lnTo>
                  <a:lnTo>
                    <a:pt x="174" y="13"/>
                  </a:lnTo>
                  <a:lnTo>
                    <a:pt x="179" y="12"/>
                  </a:lnTo>
                  <a:lnTo>
                    <a:pt x="171" y="21"/>
                  </a:lnTo>
                  <a:lnTo>
                    <a:pt x="151" y="34"/>
                  </a:lnTo>
                  <a:lnTo>
                    <a:pt x="132" y="46"/>
                  </a:lnTo>
                  <a:lnTo>
                    <a:pt x="124" y="49"/>
                  </a:lnTo>
                  <a:lnTo>
                    <a:pt x="123" y="52"/>
                  </a:lnTo>
                  <a:lnTo>
                    <a:pt x="117" y="52"/>
                  </a:lnTo>
                  <a:lnTo>
                    <a:pt x="123" y="55"/>
                  </a:lnTo>
                  <a:lnTo>
                    <a:pt x="124" y="60"/>
                  </a:lnTo>
                  <a:lnTo>
                    <a:pt x="117" y="5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8" name="Freeform 187"/>
            <p:cNvSpPr>
              <a:spLocks/>
            </p:cNvSpPr>
            <p:nvPr/>
          </p:nvSpPr>
          <p:spPr bwMode="auto">
            <a:xfrm>
              <a:off x="5348" y="3394"/>
              <a:ext cx="114" cy="140"/>
            </a:xfrm>
            <a:custGeom>
              <a:avLst/>
              <a:gdLst/>
              <a:ahLst/>
              <a:cxnLst>
                <a:cxn ang="0">
                  <a:pos x="12" y="85"/>
                </a:cxn>
                <a:cxn ang="0">
                  <a:pos x="18" y="94"/>
                </a:cxn>
                <a:cxn ang="0">
                  <a:pos x="23" y="102"/>
                </a:cxn>
                <a:cxn ang="0">
                  <a:pos x="0" y="123"/>
                </a:cxn>
                <a:cxn ang="0">
                  <a:pos x="3" y="127"/>
                </a:cxn>
                <a:cxn ang="0">
                  <a:pos x="25" y="114"/>
                </a:cxn>
                <a:cxn ang="0">
                  <a:pos x="48" y="101"/>
                </a:cxn>
                <a:cxn ang="0">
                  <a:pos x="59" y="88"/>
                </a:cxn>
                <a:cxn ang="0">
                  <a:pos x="74" y="83"/>
                </a:cxn>
                <a:cxn ang="0">
                  <a:pos x="81" y="76"/>
                </a:cxn>
                <a:cxn ang="0">
                  <a:pos x="102" y="58"/>
                </a:cxn>
                <a:cxn ang="0">
                  <a:pos x="99" y="57"/>
                </a:cxn>
                <a:cxn ang="0">
                  <a:pos x="83" y="63"/>
                </a:cxn>
                <a:cxn ang="0">
                  <a:pos x="66" y="54"/>
                </a:cxn>
                <a:cxn ang="0">
                  <a:pos x="71" y="36"/>
                </a:cxn>
                <a:cxn ang="0">
                  <a:pos x="65" y="47"/>
                </a:cxn>
                <a:cxn ang="0">
                  <a:pos x="56" y="42"/>
                </a:cxn>
                <a:cxn ang="0">
                  <a:pos x="59" y="36"/>
                </a:cxn>
                <a:cxn ang="0">
                  <a:pos x="63" y="23"/>
                </a:cxn>
                <a:cxn ang="0">
                  <a:pos x="67" y="16"/>
                </a:cxn>
                <a:cxn ang="0">
                  <a:pos x="65" y="16"/>
                </a:cxn>
                <a:cxn ang="0">
                  <a:pos x="57" y="7"/>
                </a:cxn>
                <a:cxn ang="0">
                  <a:pos x="54" y="1"/>
                </a:cxn>
                <a:cxn ang="0">
                  <a:pos x="54" y="0"/>
                </a:cxn>
                <a:cxn ang="0">
                  <a:pos x="51" y="12"/>
                </a:cxn>
                <a:cxn ang="0">
                  <a:pos x="54" y="17"/>
                </a:cxn>
                <a:cxn ang="0">
                  <a:pos x="50" y="34"/>
                </a:cxn>
                <a:cxn ang="0">
                  <a:pos x="53" y="27"/>
                </a:cxn>
                <a:cxn ang="0">
                  <a:pos x="55" y="30"/>
                </a:cxn>
                <a:cxn ang="0">
                  <a:pos x="55" y="33"/>
                </a:cxn>
                <a:cxn ang="0">
                  <a:pos x="53" y="37"/>
                </a:cxn>
                <a:cxn ang="0">
                  <a:pos x="49" y="46"/>
                </a:cxn>
                <a:cxn ang="0">
                  <a:pos x="55" y="45"/>
                </a:cxn>
                <a:cxn ang="0">
                  <a:pos x="51" y="48"/>
                </a:cxn>
                <a:cxn ang="0">
                  <a:pos x="47" y="57"/>
                </a:cxn>
                <a:cxn ang="0">
                  <a:pos x="32" y="76"/>
                </a:cxn>
                <a:cxn ang="0">
                  <a:pos x="12" y="85"/>
                </a:cxn>
              </a:cxnLst>
              <a:rect l="0" t="0" r="r" b="b"/>
              <a:pathLst>
                <a:path w="102" h="127">
                  <a:moveTo>
                    <a:pt x="12" y="85"/>
                  </a:moveTo>
                  <a:lnTo>
                    <a:pt x="18" y="94"/>
                  </a:lnTo>
                  <a:lnTo>
                    <a:pt x="23" y="102"/>
                  </a:lnTo>
                  <a:lnTo>
                    <a:pt x="0" y="123"/>
                  </a:lnTo>
                  <a:lnTo>
                    <a:pt x="3" y="127"/>
                  </a:lnTo>
                  <a:lnTo>
                    <a:pt x="25" y="114"/>
                  </a:lnTo>
                  <a:lnTo>
                    <a:pt x="48" y="101"/>
                  </a:lnTo>
                  <a:lnTo>
                    <a:pt x="59" y="88"/>
                  </a:lnTo>
                  <a:lnTo>
                    <a:pt x="74" y="83"/>
                  </a:lnTo>
                  <a:lnTo>
                    <a:pt x="81" y="76"/>
                  </a:lnTo>
                  <a:lnTo>
                    <a:pt x="102" y="58"/>
                  </a:lnTo>
                  <a:lnTo>
                    <a:pt x="99" y="57"/>
                  </a:lnTo>
                  <a:lnTo>
                    <a:pt x="83" y="63"/>
                  </a:lnTo>
                  <a:lnTo>
                    <a:pt x="66" y="54"/>
                  </a:lnTo>
                  <a:lnTo>
                    <a:pt x="71" y="36"/>
                  </a:lnTo>
                  <a:lnTo>
                    <a:pt x="65" y="47"/>
                  </a:lnTo>
                  <a:lnTo>
                    <a:pt x="56" y="42"/>
                  </a:lnTo>
                  <a:lnTo>
                    <a:pt x="59" y="36"/>
                  </a:lnTo>
                  <a:lnTo>
                    <a:pt x="63" y="23"/>
                  </a:lnTo>
                  <a:lnTo>
                    <a:pt x="67" y="16"/>
                  </a:lnTo>
                  <a:lnTo>
                    <a:pt x="65" y="16"/>
                  </a:lnTo>
                  <a:lnTo>
                    <a:pt x="57" y="7"/>
                  </a:lnTo>
                  <a:lnTo>
                    <a:pt x="54" y="1"/>
                  </a:lnTo>
                  <a:lnTo>
                    <a:pt x="54" y="0"/>
                  </a:lnTo>
                  <a:lnTo>
                    <a:pt x="51" y="12"/>
                  </a:lnTo>
                  <a:lnTo>
                    <a:pt x="54" y="17"/>
                  </a:lnTo>
                  <a:lnTo>
                    <a:pt x="50" y="34"/>
                  </a:lnTo>
                  <a:lnTo>
                    <a:pt x="53" y="27"/>
                  </a:lnTo>
                  <a:lnTo>
                    <a:pt x="55" y="30"/>
                  </a:lnTo>
                  <a:lnTo>
                    <a:pt x="55" y="33"/>
                  </a:lnTo>
                  <a:lnTo>
                    <a:pt x="53" y="37"/>
                  </a:lnTo>
                  <a:lnTo>
                    <a:pt x="49" y="46"/>
                  </a:lnTo>
                  <a:lnTo>
                    <a:pt x="55" y="45"/>
                  </a:lnTo>
                  <a:lnTo>
                    <a:pt x="51" y="48"/>
                  </a:lnTo>
                  <a:lnTo>
                    <a:pt x="47" y="57"/>
                  </a:lnTo>
                  <a:lnTo>
                    <a:pt x="32" y="76"/>
                  </a:lnTo>
                  <a:lnTo>
                    <a:pt x="12" y="8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9" name="Freeform 188"/>
            <p:cNvSpPr>
              <a:spLocks/>
            </p:cNvSpPr>
            <p:nvPr/>
          </p:nvSpPr>
          <p:spPr bwMode="auto">
            <a:xfrm>
              <a:off x="5144" y="3636"/>
              <a:ext cx="11" cy="7"/>
            </a:xfrm>
            <a:custGeom>
              <a:avLst/>
              <a:gdLst/>
              <a:ahLst/>
              <a:cxnLst>
                <a:cxn ang="0">
                  <a:pos x="11" y="3"/>
                </a:cxn>
                <a:cxn ang="0">
                  <a:pos x="11" y="1"/>
                </a:cxn>
                <a:cxn ang="0">
                  <a:pos x="6" y="0"/>
                </a:cxn>
                <a:cxn ang="0">
                  <a:pos x="0" y="6"/>
                </a:cxn>
                <a:cxn ang="0">
                  <a:pos x="11" y="3"/>
                </a:cxn>
              </a:cxnLst>
              <a:rect l="0" t="0" r="r" b="b"/>
              <a:pathLst>
                <a:path w="11" h="6">
                  <a:moveTo>
                    <a:pt x="11" y="3"/>
                  </a:moveTo>
                  <a:lnTo>
                    <a:pt x="11" y="1"/>
                  </a:lnTo>
                  <a:lnTo>
                    <a:pt x="6" y="0"/>
                  </a:lnTo>
                  <a:lnTo>
                    <a:pt x="0" y="6"/>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0" name="Freeform 189"/>
            <p:cNvSpPr>
              <a:spLocks/>
            </p:cNvSpPr>
            <p:nvPr/>
          </p:nvSpPr>
          <p:spPr bwMode="auto">
            <a:xfrm>
              <a:off x="5333" y="2890"/>
              <a:ext cx="20" cy="13"/>
            </a:xfrm>
            <a:custGeom>
              <a:avLst/>
              <a:gdLst/>
              <a:ahLst/>
              <a:cxnLst>
                <a:cxn ang="0">
                  <a:pos x="17" y="11"/>
                </a:cxn>
                <a:cxn ang="0">
                  <a:pos x="18" y="9"/>
                </a:cxn>
                <a:cxn ang="0">
                  <a:pos x="3" y="0"/>
                </a:cxn>
                <a:cxn ang="0">
                  <a:pos x="0" y="5"/>
                </a:cxn>
                <a:cxn ang="0">
                  <a:pos x="17" y="11"/>
                </a:cxn>
              </a:cxnLst>
              <a:rect l="0" t="0" r="r" b="b"/>
              <a:pathLst>
                <a:path w="18" h="11">
                  <a:moveTo>
                    <a:pt x="17" y="11"/>
                  </a:moveTo>
                  <a:lnTo>
                    <a:pt x="18" y="9"/>
                  </a:lnTo>
                  <a:lnTo>
                    <a:pt x="3" y="0"/>
                  </a:lnTo>
                  <a:lnTo>
                    <a:pt x="0" y="5"/>
                  </a:lnTo>
                  <a:lnTo>
                    <a:pt x="17"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1" name="Freeform 190"/>
            <p:cNvSpPr>
              <a:spLocks/>
            </p:cNvSpPr>
            <p:nvPr/>
          </p:nvSpPr>
          <p:spPr bwMode="auto">
            <a:xfrm>
              <a:off x="5284" y="2839"/>
              <a:ext cx="16" cy="15"/>
            </a:xfrm>
            <a:custGeom>
              <a:avLst/>
              <a:gdLst/>
              <a:ahLst/>
              <a:cxnLst>
                <a:cxn ang="0">
                  <a:pos x="0" y="0"/>
                </a:cxn>
                <a:cxn ang="0">
                  <a:pos x="14" y="13"/>
                </a:cxn>
                <a:cxn ang="0">
                  <a:pos x="5" y="10"/>
                </a:cxn>
                <a:cxn ang="0">
                  <a:pos x="0" y="0"/>
                </a:cxn>
              </a:cxnLst>
              <a:rect l="0" t="0" r="r" b="b"/>
              <a:pathLst>
                <a:path w="14" h="13">
                  <a:moveTo>
                    <a:pt x="0" y="0"/>
                  </a:moveTo>
                  <a:lnTo>
                    <a:pt x="14" y="13"/>
                  </a:lnTo>
                  <a:lnTo>
                    <a:pt x="5" y="10"/>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2" name="Freeform 191"/>
            <p:cNvSpPr>
              <a:spLocks/>
            </p:cNvSpPr>
            <p:nvPr/>
          </p:nvSpPr>
          <p:spPr bwMode="auto">
            <a:xfrm>
              <a:off x="5362" y="2910"/>
              <a:ext cx="13" cy="11"/>
            </a:xfrm>
            <a:custGeom>
              <a:avLst/>
              <a:gdLst/>
              <a:ahLst/>
              <a:cxnLst>
                <a:cxn ang="0">
                  <a:pos x="13" y="10"/>
                </a:cxn>
                <a:cxn ang="0">
                  <a:pos x="1" y="3"/>
                </a:cxn>
                <a:cxn ang="0">
                  <a:pos x="0" y="0"/>
                </a:cxn>
                <a:cxn ang="0">
                  <a:pos x="13" y="8"/>
                </a:cxn>
                <a:cxn ang="0">
                  <a:pos x="13" y="10"/>
                </a:cxn>
              </a:cxnLst>
              <a:rect l="0" t="0" r="r" b="b"/>
              <a:pathLst>
                <a:path w="13" h="10">
                  <a:moveTo>
                    <a:pt x="13" y="10"/>
                  </a:moveTo>
                  <a:lnTo>
                    <a:pt x="1" y="3"/>
                  </a:lnTo>
                  <a:lnTo>
                    <a:pt x="0" y="0"/>
                  </a:lnTo>
                  <a:lnTo>
                    <a:pt x="13" y="8"/>
                  </a:lnTo>
                  <a:lnTo>
                    <a:pt x="13"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3" name="Freeform 192"/>
            <p:cNvSpPr>
              <a:spLocks/>
            </p:cNvSpPr>
            <p:nvPr/>
          </p:nvSpPr>
          <p:spPr bwMode="auto">
            <a:xfrm>
              <a:off x="5295" y="2865"/>
              <a:ext cx="9" cy="11"/>
            </a:xfrm>
            <a:custGeom>
              <a:avLst/>
              <a:gdLst/>
              <a:ahLst/>
              <a:cxnLst>
                <a:cxn ang="0">
                  <a:pos x="8" y="10"/>
                </a:cxn>
                <a:cxn ang="0">
                  <a:pos x="4" y="0"/>
                </a:cxn>
                <a:cxn ang="0">
                  <a:pos x="0" y="4"/>
                </a:cxn>
                <a:cxn ang="0">
                  <a:pos x="3" y="4"/>
                </a:cxn>
                <a:cxn ang="0">
                  <a:pos x="8" y="10"/>
                </a:cxn>
              </a:cxnLst>
              <a:rect l="0" t="0" r="r" b="b"/>
              <a:pathLst>
                <a:path w="8" h="10">
                  <a:moveTo>
                    <a:pt x="8" y="10"/>
                  </a:moveTo>
                  <a:lnTo>
                    <a:pt x="4" y="0"/>
                  </a:lnTo>
                  <a:lnTo>
                    <a:pt x="0" y="4"/>
                  </a:lnTo>
                  <a:lnTo>
                    <a:pt x="3" y="4"/>
                  </a:lnTo>
                  <a:lnTo>
                    <a:pt x="8"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4" name="Freeform 193"/>
            <p:cNvSpPr>
              <a:spLocks/>
            </p:cNvSpPr>
            <p:nvPr/>
          </p:nvSpPr>
          <p:spPr bwMode="auto">
            <a:xfrm>
              <a:off x="5353" y="2870"/>
              <a:ext cx="9" cy="26"/>
            </a:xfrm>
            <a:custGeom>
              <a:avLst/>
              <a:gdLst/>
              <a:ahLst/>
              <a:cxnLst>
                <a:cxn ang="0">
                  <a:pos x="2" y="0"/>
                </a:cxn>
                <a:cxn ang="0">
                  <a:pos x="9" y="23"/>
                </a:cxn>
                <a:cxn ang="0">
                  <a:pos x="0" y="5"/>
                </a:cxn>
                <a:cxn ang="0">
                  <a:pos x="2" y="0"/>
                </a:cxn>
              </a:cxnLst>
              <a:rect l="0" t="0" r="r" b="b"/>
              <a:pathLst>
                <a:path w="9" h="23">
                  <a:moveTo>
                    <a:pt x="2" y="0"/>
                  </a:moveTo>
                  <a:lnTo>
                    <a:pt x="9" y="23"/>
                  </a:lnTo>
                  <a:lnTo>
                    <a:pt x="0" y="5"/>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5" name="Freeform 194"/>
            <p:cNvSpPr>
              <a:spLocks/>
            </p:cNvSpPr>
            <p:nvPr/>
          </p:nvSpPr>
          <p:spPr bwMode="auto">
            <a:xfrm>
              <a:off x="5320" y="2856"/>
              <a:ext cx="20" cy="20"/>
            </a:xfrm>
            <a:custGeom>
              <a:avLst/>
              <a:gdLst/>
              <a:ahLst/>
              <a:cxnLst>
                <a:cxn ang="0">
                  <a:pos x="17" y="18"/>
                </a:cxn>
                <a:cxn ang="0">
                  <a:pos x="19" y="18"/>
                </a:cxn>
                <a:cxn ang="0">
                  <a:pos x="10" y="9"/>
                </a:cxn>
                <a:cxn ang="0">
                  <a:pos x="0" y="0"/>
                </a:cxn>
                <a:cxn ang="0">
                  <a:pos x="9" y="9"/>
                </a:cxn>
                <a:cxn ang="0">
                  <a:pos x="17" y="18"/>
                </a:cxn>
              </a:cxnLst>
              <a:rect l="0" t="0" r="r" b="b"/>
              <a:pathLst>
                <a:path w="19" h="18">
                  <a:moveTo>
                    <a:pt x="17" y="18"/>
                  </a:moveTo>
                  <a:lnTo>
                    <a:pt x="19" y="18"/>
                  </a:lnTo>
                  <a:lnTo>
                    <a:pt x="10" y="9"/>
                  </a:lnTo>
                  <a:lnTo>
                    <a:pt x="0" y="0"/>
                  </a:lnTo>
                  <a:lnTo>
                    <a:pt x="9" y="9"/>
                  </a:lnTo>
                  <a:lnTo>
                    <a:pt x="17"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6" name="Freeform 195"/>
            <p:cNvSpPr>
              <a:spLocks/>
            </p:cNvSpPr>
            <p:nvPr/>
          </p:nvSpPr>
          <p:spPr bwMode="auto">
            <a:xfrm>
              <a:off x="5628" y="2954"/>
              <a:ext cx="3" cy="2"/>
            </a:xfrm>
            <a:custGeom>
              <a:avLst/>
              <a:gdLst/>
              <a:ahLst/>
              <a:cxnLst>
                <a:cxn ang="0">
                  <a:pos x="2" y="0"/>
                </a:cxn>
                <a:cxn ang="0">
                  <a:pos x="1" y="0"/>
                </a:cxn>
                <a:cxn ang="0">
                  <a:pos x="0" y="0"/>
                </a:cxn>
                <a:cxn ang="0">
                  <a:pos x="2" y="0"/>
                </a:cxn>
              </a:cxnLst>
              <a:rect l="0" t="0" r="r" b="b"/>
              <a:pathLst>
                <a:path w="2">
                  <a:moveTo>
                    <a:pt x="2" y="0"/>
                  </a:moveTo>
                  <a:lnTo>
                    <a:pt x="1" y="0"/>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7" name="Freeform 196"/>
            <p:cNvSpPr>
              <a:spLocks/>
            </p:cNvSpPr>
            <p:nvPr/>
          </p:nvSpPr>
          <p:spPr bwMode="auto">
            <a:xfrm>
              <a:off x="5437" y="3001"/>
              <a:ext cx="9" cy="13"/>
            </a:xfrm>
            <a:custGeom>
              <a:avLst/>
              <a:gdLst/>
              <a:ahLst/>
              <a:cxnLst>
                <a:cxn ang="0">
                  <a:pos x="7" y="13"/>
                </a:cxn>
                <a:cxn ang="0">
                  <a:pos x="8" y="5"/>
                </a:cxn>
                <a:cxn ang="0">
                  <a:pos x="6" y="6"/>
                </a:cxn>
                <a:cxn ang="0">
                  <a:pos x="2" y="0"/>
                </a:cxn>
                <a:cxn ang="0">
                  <a:pos x="0" y="13"/>
                </a:cxn>
                <a:cxn ang="0">
                  <a:pos x="7" y="13"/>
                </a:cxn>
              </a:cxnLst>
              <a:rect l="0" t="0" r="r" b="b"/>
              <a:pathLst>
                <a:path w="8" h="13">
                  <a:moveTo>
                    <a:pt x="7" y="13"/>
                  </a:moveTo>
                  <a:lnTo>
                    <a:pt x="8" y="5"/>
                  </a:lnTo>
                  <a:lnTo>
                    <a:pt x="6" y="6"/>
                  </a:lnTo>
                  <a:lnTo>
                    <a:pt x="2" y="0"/>
                  </a:lnTo>
                  <a:lnTo>
                    <a:pt x="0" y="13"/>
                  </a:lnTo>
                  <a:lnTo>
                    <a:pt x="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8" name="Freeform 197"/>
            <p:cNvSpPr>
              <a:spLocks/>
            </p:cNvSpPr>
            <p:nvPr/>
          </p:nvSpPr>
          <p:spPr bwMode="auto">
            <a:xfrm>
              <a:off x="5446" y="3021"/>
              <a:ext cx="7" cy="13"/>
            </a:xfrm>
            <a:custGeom>
              <a:avLst/>
              <a:gdLst/>
              <a:ahLst/>
              <a:cxnLst>
                <a:cxn ang="0">
                  <a:pos x="6" y="12"/>
                </a:cxn>
                <a:cxn ang="0">
                  <a:pos x="0" y="11"/>
                </a:cxn>
                <a:cxn ang="0">
                  <a:pos x="0" y="0"/>
                </a:cxn>
                <a:cxn ang="0">
                  <a:pos x="6" y="12"/>
                </a:cxn>
              </a:cxnLst>
              <a:rect l="0" t="0" r="r" b="b"/>
              <a:pathLst>
                <a:path w="6" h="12">
                  <a:moveTo>
                    <a:pt x="6" y="12"/>
                  </a:moveTo>
                  <a:lnTo>
                    <a:pt x="0" y="11"/>
                  </a:lnTo>
                  <a:lnTo>
                    <a:pt x="0" y="0"/>
                  </a:lnTo>
                  <a:lnTo>
                    <a:pt x="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9" name="Freeform 198"/>
            <p:cNvSpPr>
              <a:spLocks/>
            </p:cNvSpPr>
            <p:nvPr/>
          </p:nvSpPr>
          <p:spPr bwMode="auto">
            <a:xfrm>
              <a:off x="5457" y="3027"/>
              <a:ext cx="5" cy="5"/>
            </a:xfrm>
            <a:custGeom>
              <a:avLst/>
              <a:gdLst/>
              <a:ahLst/>
              <a:cxnLst>
                <a:cxn ang="0">
                  <a:pos x="4" y="0"/>
                </a:cxn>
                <a:cxn ang="0">
                  <a:pos x="1" y="5"/>
                </a:cxn>
                <a:cxn ang="0">
                  <a:pos x="0" y="4"/>
                </a:cxn>
                <a:cxn ang="0">
                  <a:pos x="4" y="0"/>
                </a:cxn>
              </a:cxnLst>
              <a:rect l="0" t="0" r="r" b="b"/>
              <a:pathLst>
                <a:path w="4" h="5">
                  <a:moveTo>
                    <a:pt x="4" y="0"/>
                  </a:moveTo>
                  <a:lnTo>
                    <a:pt x="1" y="5"/>
                  </a:lnTo>
                  <a:lnTo>
                    <a:pt x="0" y="4"/>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0" name="Freeform 199"/>
            <p:cNvSpPr>
              <a:spLocks/>
            </p:cNvSpPr>
            <p:nvPr/>
          </p:nvSpPr>
          <p:spPr bwMode="auto">
            <a:xfrm>
              <a:off x="5464" y="3079"/>
              <a:ext cx="2" cy="4"/>
            </a:xfrm>
            <a:custGeom>
              <a:avLst/>
              <a:gdLst/>
              <a:ahLst/>
              <a:cxnLst>
                <a:cxn ang="0">
                  <a:pos x="2" y="1"/>
                </a:cxn>
                <a:cxn ang="0">
                  <a:pos x="2" y="0"/>
                </a:cxn>
                <a:cxn ang="0">
                  <a:pos x="0" y="5"/>
                </a:cxn>
                <a:cxn ang="0">
                  <a:pos x="2" y="1"/>
                </a:cxn>
              </a:cxnLst>
              <a:rect l="0" t="0" r="r" b="b"/>
              <a:pathLst>
                <a:path w="2" h="5">
                  <a:moveTo>
                    <a:pt x="2" y="1"/>
                  </a:moveTo>
                  <a:lnTo>
                    <a:pt x="2" y="0"/>
                  </a:lnTo>
                  <a:lnTo>
                    <a:pt x="0" y="5"/>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1" name="Freeform 200"/>
            <p:cNvSpPr>
              <a:spLocks/>
            </p:cNvSpPr>
            <p:nvPr/>
          </p:nvSpPr>
          <p:spPr bwMode="auto">
            <a:xfrm>
              <a:off x="2736" y="3043"/>
              <a:ext cx="233" cy="238"/>
            </a:xfrm>
            <a:custGeom>
              <a:avLst/>
              <a:gdLst/>
              <a:ahLst/>
              <a:cxnLst>
                <a:cxn ang="0">
                  <a:pos x="124" y="140"/>
                </a:cxn>
                <a:cxn ang="0">
                  <a:pos x="126" y="115"/>
                </a:cxn>
                <a:cxn ang="0">
                  <a:pos x="127" y="90"/>
                </a:cxn>
                <a:cxn ang="0">
                  <a:pos x="142" y="90"/>
                </a:cxn>
                <a:cxn ang="0">
                  <a:pos x="142" y="73"/>
                </a:cxn>
                <a:cxn ang="0">
                  <a:pos x="144" y="57"/>
                </a:cxn>
                <a:cxn ang="0">
                  <a:pos x="144" y="41"/>
                </a:cxn>
                <a:cxn ang="0">
                  <a:pos x="145" y="24"/>
                </a:cxn>
                <a:cxn ang="0">
                  <a:pos x="163" y="21"/>
                </a:cxn>
                <a:cxn ang="0">
                  <a:pos x="181" y="20"/>
                </a:cxn>
                <a:cxn ang="0">
                  <a:pos x="187" y="26"/>
                </a:cxn>
                <a:cxn ang="0">
                  <a:pos x="199" y="19"/>
                </a:cxn>
                <a:cxn ang="0">
                  <a:pos x="211" y="14"/>
                </a:cxn>
                <a:cxn ang="0">
                  <a:pos x="194" y="9"/>
                </a:cxn>
                <a:cxn ang="0">
                  <a:pos x="183" y="12"/>
                </a:cxn>
                <a:cxn ang="0">
                  <a:pos x="159" y="14"/>
                </a:cxn>
                <a:cxn ang="0">
                  <a:pos x="136" y="18"/>
                </a:cxn>
                <a:cxn ang="0">
                  <a:pos x="121" y="14"/>
                </a:cxn>
                <a:cxn ang="0">
                  <a:pos x="106" y="11"/>
                </a:cxn>
                <a:cxn ang="0">
                  <a:pos x="104" y="7"/>
                </a:cxn>
                <a:cxn ang="0">
                  <a:pos x="86" y="7"/>
                </a:cxn>
                <a:cxn ang="0">
                  <a:pos x="68" y="6"/>
                </a:cxn>
                <a:cxn ang="0">
                  <a:pos x="50" y="6"/>
                </a:cxn>
                <a:cxn ang="0">
                  <a:pos x="31" y="5"/>
                </a:cxn>
                <a:cxn ang="0">
                  <a:pos x="20" y="0"/>
                </a:cxn>
                <a:cxn ang="0">
                  <a:pos x="1" y="5"/>
                </a:cxn>
                <a:cxn ang="0">
                  <a:pos x="0" y="15"/>
                </a:cxn>
                <a:cxn ang="0">
                  <a:pos x="10" y="37"/>
                </a:cxn>
                <a:cxn ang="0">
                  <a:pos x="21" y="59"/>
                </a:cxn>
                <a:cxn ang="0">
                  <a:pos x="31" y="80"/>
                </a:cxn>
                <a:cxn ang="0">
                  <a:pos x="42" y="102"/>
                </a:cxn>
                <a:cxn ang="0">
                  <a:pos x="43" y="111"/>
                </a:cxn>
                <a:cxn ang="0">
                  <a:pos x="40" y="110"/>
                </a:cxn>
                <a:cxn ang="0">
                  <a:pos x="43" y="129"/>
                </a:cxn>
                <a:cxn ang="0">
                  <a:pos x="45" y="147"/>
                </a:cxn>
                <a:cxn ang="0">
                  <a:pos x="48" y="165"/>
                </a:cxn>
                <a:cxn ang="0">
                  <a:pos x="50" y="183"/>
                </a:cxn>
                <a:cxn ang="0">
                  <a:pos x="60" y="197"/>
                </a:cxn>
                <a:cxn ang="0">
                  <a:pos x="68" y="209"/>
                </a:cxn>
                <a:cxn ang="0">
                  <a:pos x="76" y="199"/>
                </a:cxn>
                <a:cxn ang="0">
                  <a:pos x="82" y="210"/>
                </a:cxn>
                <a:cxn ang="0">
                  <a:pos x="105" y="213"/>
                </a:cxn>
                <a:cxn ang="0">
                  <a:pos x="118" y="207"/>
                </a:cxn>
                <a:cxn ang="0">
                  <a:pos x="121" y="191"/>
                </a:cxn>
                <a:cxn ang="0">
                  <a:pos x="122" y="174"/>
                </a:cxn>
                <a:cxn ang="0">
                  <a:pos x="123" y="157"/>
                </a:cxn>
                <a:cxn ang="0">
                  <a:pos x="124" y="140"/>
                </a:cxn>
              </a:cxnLst>
              <a:rect l="0" t="0" r="r" b="b"/>
              <a:pathLst>
                <a:path w="211" h="213">
                  <a:moveTo>
                    <a:pt x="124" y="140"/>
                  </a:moveTo>
                  <a:lnTo>
                    <a:pt x="126" y="115"/>
                  </a:lnTo>
                  <a:lnTo>
                    <a:pt x="127" y="90"/>
                  </a:lnTo>
                  <a:lnTo>
                    <a:pt x="142" y="90"/>
                  </a:lnTo>
                  <a:lnTo>
                    <a:pt x="142" y="73"/>
                  </a:lnTo>
                  <a:lnTo>
                    <a:pt x="144" y="57"/>
                  </a:lnTo>
                  <a:lnTo>
                    <a:pt x="144" y="41"/>
                  </a:lnTo>
                  <a:lnTo>
                    <a:pt x="145" y="24"/>
                  </a:lnTo>
                  <a:lnTo>
                    <a:pt x="163" y="21"/>
                  </a:lnTo>
                  <a:lnTo>
                    <a:pt x="181" y="20"/>
                  </a:lnTo>
                  <a:lnTo>
                    <a:pt x="187" y="26"/>
                  </a:lnTo>
                  <a:lnTo>
                    <a:pt x="199" y="19"/>
                  </a:lnTo>
                  <a:lnTo>
                    <a:pt x="211" y="14"/>
                  </a:lnTo>
                  <a:lnTo>
                    <a:pt x="194" y="9"/>
                  </a:lnTo>
                  <a:lnTo>
                    <a:pt x="183" y="12"/>
                  </a:lnTo>
                  <a:lnTo>
                    <a:pt x="159" y="14"/>
                  </a:lnTo>
                  <a:lnTo>
                    <a:pt x="136" y="18"/>
                  </a:lnTo>
                  <a:lnTo>
                    <a:pt x="121" y="14"/>
                  </a:lnTo>
                  <a:lnTo>
                    <a:pt x="106" y="11"/>
                  </a:lnTo>
                  <a:lnTo>
                    <a:pt x="104" y="7"/>
                  </a:lnTo>
                  <a:lnTo>
                    <a:pt x="86" y="7"/>
                  </a:lnTo>
                  <a:lnTo>
                    <a:pt x="68" y="6"/>
                  </a:lnTo>
                  <a:lnTo>
                    <a:pt x="50" y="6"/>
                  </a:lnTo>
                  <a:lnTo>
                    <a:pt x="31" y="5"/>
                  </a:lnTo>
                  <a:lnTo>
                    <a:pt x="20" y="0"/>
                  </a:lnTo>
                  <a:lnTo>
                    <a:pt x="1" y="5"/>
                  </a:lnTo>
                  <a:lnTo>
                    <a:pt x="0" y="15"/>
                  </a:lnTo>
                  <a:lnTo>
                    <a:pt x="10" y="37"/>
                  </a:lnTo>
                  <a:lnTo>
                    <a:pt x="21" y="59"/>
                  </a:lnTo>
                  <a:lnTo>
                    <a:pt x="31" y="80"/>
                  </a:lnTo>
                  <a:lnTo>
                    <a:pt x="42" y="102"/>
                  </a:lnTo>
                  <a:lnTo>
                    <a:pt x="43" y="111"/>
                  </a:lnTo>
                  <a:lnTo>
                    <a:pt x="40" y="110"/>
                  </a:lnTo>
                  <a:lnTo>
                    <a:pt x="43" y="129"/>
                  </a:lnTo>
                  <a:lnTo>
                    <a:pt x="45" y="147"/>
                  </a:lnTo>
                  <a:lnTo>
                    <a:pt x="48" y="165"/>
                  </a:lnTo>
                  <a:lnTo>
                    <a:pt x="50" y="183"/>
                  </a:lnTo>
                  <a:lnTo>
                    <a:pt x="60" y="197"/>
                  </a:lnTo>
                  <a:lnTo>
                    <a:pt x="68" y="209"/>
                  </a:lnTo>
                  <a:lnTo>
                    <a:pt x="76" y="199"/>
                  </a:lnTo>
                  <a:lnTo>
                    <a:pt x="82" y="210"/>
                  </a:lnTo>
                  <a:lnTo>
                    <a:pt x="105" y="213"/>
                  </a:lnTo>
                  <a:lnTo>
                    <a:pt x="118" y="207"/>
                  </a:lnTo>
                  <a:lnTo>
                    <a:pt x="121" y="191"/>
                  </a:lnTo>
                  <a:lnTo>
                    <a:pt x="122" y="174"/>
                  </a:lnTo>
                  <a:lnTo>
                    <a:pt x="123" y="157"/>
                  </a:lnTo>
                  <a:lnTo>
                    <a:pt x="124" y="14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2" name="Freeform 201"/>
            <p:cNvSpPr>
              <a:spLocks/>
            </p:cNvSpPr>
            <p:nvPr/>
          </p:nvSpPr>
          <p:spPr bwMode="auto">
            <a:xfrm>
              <a:off x="2873" y="3061"/>
              <a:ext cx="163" cy="180"/>
            </a:xfrm>
            <a:custGeom>
              <a:avLst/>
              <a:gdLst/>
              <a:ahLst/>
              <a:cxnLst>
                <a:cxn ang="0">
                  <a:pos x="0" y="126"/>
                </a:cxn>
                <a:cxn ang="0">
                  <a:pos x="2" y="101"/>
                </a:cxn>
                <a:cxn ang="0">
                  <a:pos x="3" y="76"/>
                </a:cxn>
                <a:cxn ang="0">
                  <a:pos x="18" y="76"/>
                </a:cxn>
                <a:cxn ang="0">
                  <a:pos x="18" y="59"/>
                </a:cxn>
                <a:cxn ang="0">
                  <a:pos x="20" y="43"/>
                </a:cxn>
                <a:cxn ang="0">
                  <a:pos x="20" y="27"/>
                </a:cxn>
                <a:cxn ang="0">
                  <a:pos x="21" y="10"/>
                </a:cxn>
                <a:cxn ang="0">
                  <a:pos x="39" y="7"/>
                </a:cxn>
                <a:cxn ang="0">
                  <a:pos x="57" y="6"/>
                </a:cxn>
                <a:cxn ang="0">
                  <a:pos x="63" y="12"/>
                </a:cxn>
                <a:cxn ang="0">
                  <a:pos x="75" y="5"/>
                </a:cxn>
                <a:cxn ang="0">
                  <a:pos x="87" y="0"/>
                </a:cxn>
                <a:cxn ang="0">
                  <a:pos x="96" y="18"/>
                </a:cxn>
                <a:cxn ang="0">
                  <a:pos x="106" y="36"/>
                </a:cxn>
                <a:cxn ang="0">
                  <a:pos x="117" y="45"/>
                </a:cxn>
                <a:cxn ang="0">
                  <a:pos x="120" y="48"/>
                </a:cxn>
                <a:cxn ang="0">
                  <a:pos x="124" y="54"/>
                </a:cxn>
                <a:cxn ang="0">
                  <a:pos x="129" y="69"/>
                </a:cxn>
                <a:cxn ang="0">
                  <a:pos x="143" y="75"/>
                </a:cxn>
                <a:cxn ang="0">
                  <a:pos x="147" y="78"/>
                </a:cxn>
                <a:cxn ang="0">
                  <a:pos x="146" y="79"/>
                </a:cxn>
                <a:cxn ang="0">
                  <a:pos x="125" y="93"/>
                </a:cxn>
                <a:cxn ang="0">
                  <a:pos x="110" y="107"/>
                </a:cxn>
                <a:cxn ang="0">
                  <a:pos x="101" y="123"/>
                </a:cxn>
                <a:cxn ang="0">
                  <a:pos x="92" y="129"/>
                </a:cxn>
                <a:cxn ang="0">
                  <a:pos x="83" y="143"/>
                </a:cxn>
                <a:cxn ang="0">
                  <a:pos x="59" y="141"/>
                </a:cxn>
                <a:cxn ang="0">
                  <a:pos x="47" y="136"/>
                </a:cxn>
                <a:cxn ang="0">
                  <a:pos x="39" y="148"/>
                </a:cxn>
                <a:cxn ang="0">
                  <a:pos x="32" y="160"/>
                </a:cxn>
                <a:cxn ang="0">
                  <a:pos x="15" y="162"/>
                </a:cxn>
                <a:cxn ang="0">
                  <a:pos x="9" y="160"/>
                </a:cxn>
                <a:cxn ang="0">
                  <a:pos x="11" y="143"/>
                </a:cxn>
                <a:cxn ang="0">
                  <a:pos x="0" y="126"/>
                </a:cxn>
              </a:cxnLst>
              <a:rect l="0" t="0" r="r" b="b"/>
              <a:pathLst>
                <a:path w="147" h="162">
                  <a:moveTo>
                    <a:pt x="0" y="126"/>
                  </a:moveTo>
                  <a:lnTo>
                    <a:pt x="2" y="101"/>
                  </a:lnTo>
                  <a:lnTo>
                    <a:pt x="3" y="76"/>
                  </a:lnTo>
                  <a:lnTo>
                    <a:pt x="18" y="76"/>
                  </a:lnTo>
                  <a:lnTo>
                    <a:pt x="18" y="59"/>
                  </a:lnTo>
                  <a:lnTo>
                    <a:pt x="20" y="43"/>
                  </a:lnTo>
                  <a:lnTo>
                    <a:pt x="20" y="27"/>
                  </a:lnTo>
                  <a:lnTo>
                    <a:pt x="21" y="10"/>
                  </a:lnTo>
                  <a:lnTo>
                    <a:pt x="39" y="7"/>
                  </a:lnTo>
                  <a:lnTo>
                    <a:pt x="57" y="6"/>
                  </a:lnTo>
                  <a:lnTo>
                    <a:pt x="63" y="12"/>
                  </a:lnTo>
                  <a:lnTo>
                    <a:pt x="75" y="5"/>
                  </a:lnTo>
                  <a:lnTo>
                    <a:pt x="87" y="0"/>
                  </a:lnTo>
                  <a:lnTo>
                    <a:pt x="96" y="18"/>
                  </a:lnTo>
                  <a:lnTo>
                    <a:pt x="106" y="36"/>
                  </a:lnTo>
                  <a:lnTo>
                    <a:pt x="117" y="45"/>
                  </a:lnTo>
                  <a:lnTo>
                    <a:pt x="120" y="48"/>
                  </a:lnTo>
                  <a:lnTo>
                    <a:pt x="124" y="54"/>
                  </a:lnTo>
                  <a:lnTo>
                    <a:pt x="129" y="69"/>
                  </a:lnTo>
                  <a:lnTo>
                    <a:pt x="143" y="75"/>
                  </a:lnTo>
                  <a:lnTo>
                    <a:pt x="147" y="78"/>
                  </a:lnTo>
                  <a:lnTo>
                    <a:pt x="146" y="79"/>
                  </a:lnTo>
                  <a:lnTo>
                    <a:pt x="125" y="93"/>
                  </a:lnTo>
                  <a:lnTo>
                    <a:pt x="110" y="107"/>
                  </a:lnTo>
                  <a:lnTo>
                    <a:pt x="101" y="123"/>
                  </a:lnTo>
                  <a:lnTo>
                    <a:pt x="92" y="129"/>
                  </a:lnTo>
                  <a:lnTo>
                    <a:pt x="83" y="143"/>
                  </a:lnTo>
                  <a:lnTo>
                    <a:pt x="59" y="141"/>
                  </a:lnTo>
                  <a:lnTo>
                    <a:pt x="47" y="136"/>
                  </a:lnTo>
                  <a:lnTo>
                    <a:pt x="39" y="148"/>
                  </a:lnTo>
                  <a:lnTo>
                    <a:pt x="32" y="160"/>
                  </a:lnTo>
                  <a:lnTo>
                    <a:pt x="15" y="162"/>
                  </a:lnTo>
                  <a:lnTo>
                    <a:pt x="9" y="160"/>
                  </a:lnTo>
                  <a:lnTo>
                    <a:pt x="11" y="143"/>
                  </a:lnTo>
                  <a:lnTo>
                    <a:pt x="0" y="1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3" name="Freeform 202"/>
            <p:cNvSpPr>
              <a:spLocks/>
            </p:cNvSpPr>
            <p:nvPr/>
          </p:nvSpPr>
          <p:spPr bwMode="auto">
            <a:xfrm>
              <a:off x="3289" y="2934"/>
              <a:ext cx="4" cy="9"/>
            </a:xfrm>
            <a:custGeom>
              <a:avLst/>
              <a:gdLst/>
              <a:ahLst/>
              <a:cxnLst>
                <a:cxn ang="0">
                  <a:pos x="3" y="9"/>
                </a:cxn>
                <a:cxn ang="0">
                  <a:pos x="3" y="7"/>
                </a:cxn>
                <a:cxn ang="0">
                  <a:pos x="0" y="0"/>
                </a:cxn>
                <a:cxn ang="0">
                  <a:pos x="3" y="9"/>
                </a:cxn>
              </a:cxnLst>
              <a:rect l="0" t="0" r="r" b="b"/>
              <a:pathLst>
                <a:path w="3" h="9">
                  <a:moveTo>
                    <a:pt x="3" y="9"/>
                  </a:moveTo>
                  <a:lnTo>
                    <a:pt x="3" y="7"/>
                  </a:lnTo>
                  <a:lnTo>
                    <a:pt x="0" y="0"/>
                  </a:lnTo>
                  <a:lnTo>
                    <a:pt x="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4" name="Freeform 203"/>
            <p:cNvSpPr>
              <a:spLocks/>
            </p:cNvSpPr>
            <p:nvPr/>
          </p:nvSpPr>
          <p:spPr bwMode="auto">
            <a:xfrm>
              <a:off x="2989" y="3276"/>
              <a:ext cx="40" cy="40"/>
            </a:xfrm>
            <a:custGeom>
              <a:avLst/>
              <a:gdLst/>
              <a:ahLst/>
              <a:cxnLst>
                <a:cxn ang="0">
                  <a:pos x="15" y="3"/>
                </a:cxn>
                <a:cxn ang="0">
                  <a:pos x="0" y="19"/>
                </a:cxn>
                <a:cxn ang="0">
                  <a:pos x="11" y="35"/>
                </a:cxn>
                <a:cxn ang="0">
                  <a:pos x="17" y="30"/>
                </a:cxn>
                <a:cxn ang="0">
                  <a:pos x="32" y="19"/>
                </a:cxn>
                <a:cxn ang="0">
                  <a:pos x="35" y="7"/>
                </a:cxn>
                <a:cxn ang="0">
                  <a:pos x="21" y="0"/>
                </a:cxn>
                <a:cxn ang="0">
                  <a:pos x="15" y="3"/>
                </a:cxn>
              </a:cxnLst>
              <a:rect l="0" t="0" r="r" b="b"/>
              <a:pathLst>
                <a:path w="35" h="35">
                  <a:moveTo>
                    <a:pt x="15" y="3"/>
                  </a:moveTo>
                  <a:lnTo>
                    <a:pt x="0" y="19"/>
                  </a:lnTo>
                  <a:lnTo>
                    <a:pt x="11" y="35"/>
                  </a:lnTo>
                  <a:lnTo>
                    <a:pt x="17" y="30"/>
                  </a:lnTo>
                  <a:lnTo>
                    <a:pt x="32" y="19"/>
                  </a:lnTo>
                  <a:lnTo>
                    <a:pt x="35" y="7"/>
                  </a:lnTo>
                  <a:lnTo>
                    <a:pt x="21" y="0"/>
                  </a:lnTo>
                  <a:lnTo>
                    <a:pt x="1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5" name="Freeform 204"/>
            <p:cNvSpPr>
              <a:spLocks/>
            </p:cNvSpPr>
            <p:nvPr/>
          </p:nvSpPr>
          <p:spPr bwMode="auto">
            <a:xfrm>
              <a:off x="3278" y="2947"/>
              <a:ext cx="135" cy="267"/>
            </a:xfrm>
            <a:custGeom>
              <a:avLst/>
              <a:gdLst/>
              <a:ahLst/>
              <a:cxnLst>
                <a:cxn ang="0">
                  <a:pos x="44" y="69"/>
                </a:cxn>
                <a:cxn ang="0">
                  <a:pos x="38" y="70"/>
                </a:cxn>
                <a:cxn ang="0">
                  <a:pos x="24" y="77"/>
                </a:cxn>
                <a:cxn ang="0">
                  <a:pos x="20" y="91"/>
                </a:cxn>
                <a:cxn ang="0">
                  <a:pos x="17" y="106"/>
                </a:cxn>
                <a:cxn ang="0">
                  <a:pos x="19" y="124"/>
                </a:cxn>
                <a:cxn ang="0">
                  <a:pos x="22" y="142"/>
                </a:cxn>
                <a:cxn ang="0">
                  <a:pos x="13" y="154"/>
                </a:cxn>
                <a:cxn ang="0">
                  <a:pos x="5" y="166"/>
                </a:cxn>
                <a:cxn ang="0">
                  <a:pos x="0" y="190"/>
                </a:cxn>
                <a:cxn ang="0">
                  <a:pos x="4" y="210"/>
                </a:cxn>
                <a:cxn ang="0">
                  <a:pos x="10" y="233"/>
                </a:cxn>
                <a:cxn ang="0">
                  <a:pos x="30" y="241"/>
                </a:cxn>
                <a:cxn ang="0">
                  <a:pos x="43" y="235"/>
                </a:cxn>
                <a:cxn ang="0">
                  <a:pos x="58" y="228"/>
                </a:cxn>
                <a:cxn ang="0">
                  <a:pos x="62" y="211"/>
                </a:cxn>
                <a:cxn ang="0">
                  <a:pos x="68" y="195"/>
                </a:cxn>
                <a:cxn ang="0">
                  <a:pos x="74" y="179"/>
                </a:cxn>
                <a:cxn ang="0">
                  <a:pos x="80" y="162"/>
                </a:cxn>
                <a:cxn ang="0">
                  <a:pos x="85" y="147"/>
                </a:cxn>
                <a:cxn ang="0">
                  <a:pos x="91" y="130"/>
                </a:cxn>
                <a:cxn ang="0">
                  <a:pos x="97" y="113"/>
                </a:cxn>
                <a:cxn ang="0">
                  <a:pos x="102" y="97"/>
                </a:cxn>
                <a:cxn ang="0">
                  <a:pos x="109" y="85"/>
                </a:cxn>
                <a:cxn ang="0">
                  <a:pos x="108" y="60"/>
                </a:cxn>
                <a:cxn ang="0">
                  <a:pos x="118" y="67"/>
                </a:cxn>
                <a:cxn ang="0">
                  <a:pos x="121" y="58"/>
                </a:cxn>
                <a:cxn ang="0">
                  <a:pos x="116" y="35"/>
                </a:cxn>
                <a:cxn ang="0">
                  <a:pos x="110" y="13"/>
                </a:cxn>
                <a:cxn ang="0">
                  <a:pos x="106" y="0"/>
                </a:cxn>
                <a:cxn ang="0">
                  <a:pos x="102" y="0"/>
                </a:cxn>
                <a:cxn ang="0">
                  <a:pos x="98" y="6"/>
                </a:cxn>
                <a:cxn ang="0">
                  <a:pos x="95" y="24"/>
                </a:cxn>
                <a:cxn ang="0">
                  <a:pos x="89" y="28"/>
                </a:cxn>
                <a:cxn ang="0">
                  <a:pos x="86" y="30"/>
                </a:cxn>
                <a:cxn ang="0">
                  <a:pos x="82" y="28"/>
                </a:cxn>
                <a:cxn ang="0">
                  <a:pos x="83" y="37"/>
                </a:cxn>
                <a:cxn ang="0">
                  <a:pos x="79" y="45"/>
                </a:cxn>
                <a:cxn ang="0">
                  <a:pos x="82" y="47"/>
                </a:cxn>
                <a:cxn ang="0">
                  <a:pos x="73" y="52"/>
                </a:cxn>
                <a:cxn ang="0">
                  <a:pos x="73" y="47"/>
                </a:cxn>
                <a:cxn ang="0">
                  <a:pos x="68" y="59"/>
                </a:cxn>
                <a:cxn ang="0">
                  <a:pos x="66" y="59"/>
                </a:cxn>
                <a:cxn ang="0">
                  <a:pos x="62" y="58"/>
                </a:cxn>
                <a:cxn ang="0">
                  <a:pos x="56" y="67"/>
                </a:cxn>
                <a:cxn ang="0">
                  <a:pos x="44" y="69"/>
                </a:cxn>
              </a:cxnLst>
              <a:rect l="0" t="0" r="r" b="b"/>
              <a:pathLst>
                <a:path w="121" h="241">
                  <a:moveTo>
                    <a:pt x="44" y="69"/>
                  </a:moveTo>
                  <a:lnTo>
                    <a:pt x="38" y="70"/>
                  </a:lnTo>
                  <a:lnTo>
                    <a:pt x="24" y="77"/>
                  </a:lnTo>
                  <a:lnTo>
                    <a:pt x="20" y="91"/>
                  </a:lnTo>
                  <a:lnTo>
                    <a:pt x="17" y="106"/>
                  </a:lnTo>
                  <a:lnTo>
                    <a:pt x="19" y="124"/>
                  </a:lnTo>
                  <a:lnTo>
                    <a:pt x="22" y="142"/>
                  </a:lnTo>
                  <a:lnTo>
                    <a:pt x="13" y="154"/>
                  </a:lnTo>
                  <a:lnTo>
                    <a:pt x="5" y="166"/>
                  </a:lnTo>
                  <a:lnTo>
                    <a:pt x="0" y="190"/>
                  </a:lnTo>
                  <a:lnTo>
                    <a:pt x="4" y="210"/>
                  </a:lnTo>
                  <a:lnTo>
                    <a:pt x="10" y="233"/>
                  </a:lnTo>
                  <a:lnTo>
                    <a:pt x="30" y="241"/>
                  </a:lnTo>
                  <a:lnTo>
                    <a:pt x="43" y="235"/>
                  </a:lnTo>
                  <a:lnTo>
                    <a:pt x="58" y="228"/>
                  </a:lnTo>
                  <a:lnTo>
                    <a:pt x="62" y="211"/>
                  </a:lnTo>
                  <a:lnTo>
                    <a:pt x="68" y="195"/>
                  </a:lnTo>
                  <a:lnTo>
                    <a:pt x="74" y="179"/>
                  </a:lnTo>
                  <a:lnTo>
                    <a:pt x="80" y="162"/>
                  </a:lnTo>
                  <a:lnTo>
                    <a:pt x="85" y="147"/>
                  </a:lnTo>
                  <a:lnTo>
                    <a:pt x="91" y="130"/>
                  </a:lnTo>
                  <a:lnTo>
                    <a:pt x="97" y="113"/>
                  </a:lnTo>
                  <a:lnTo>
                    <a:pt x="102" y="97"/>
                  </a:lnTo>
                  <a:lnTo>
                    <a:pt x="109" y="85"/>
                  </a:lnTo>
                  <a:lnTo>
                    <a:pt x="108" y="60"/>
                  </a:lnTo>
                  <a:lnTo>
                    <a:pt x="118" y="67"/>
                  </a:lnTo>
                  <a:lnTo>
                    <a:pt x="121" y="58"/>
                  </a:lnTo>
                  <a:lnTo>
                    <a:pt x="116" y="35"/>
                  </a:lnTo>
                  <a:lnTo>
                    <a:pt x="110" y="13"/>
                  </a:lnTo>
                  <a:lnTo>
                    <a:pt x="106" y="0"/>
                  </a:lnTo>
                  <a:lnTo>
                    <a:pt x="102" y="0"/>
                  </a:lnTo>
                  <a:lnTo>
                    <a:pt x="98" y="6"/>
                  </a:lnTo>
                  <a:lnTo>
                    <a:pt x="95" y="24"/>
                  </a:lnTo>
                  <a:lnTo>
                    <a:pt x="89" y="28"/>
                  </a:lnTo>
                  <a:lnTo>
                    <a:pt x="86" y="30"/>
                  </a:lnTo>
                  <a:lnTo>
                    <a:pt x="82" y="28"/>
                  </a:lnTo>
                  <a:lnTo>
                    <a:pt x="83" y="37"/>
                  </a:lnTo>
                  <a:lnTo>
                    <a:pt x="79" y="45"/>
                  </a:lnTo>
                  <a:lnTo>
                    <a:pt x="82" y="47"/>
                  </a:lnTo>
                  <a:lnTo>
                    <a:pt x="73" y="52"/>
                  </a:lnTo>
                  <a:lnTo>
                    <a:pt x="73" y="47"/>
                  </a:lnTo>
                  <a:lnTo>
                    <a:pt x="68" y="59"/>
                  </a:lnTo>
                  <a:lnTo>
                    <a:pt x="66" y="59"/>
                  </a:lnTo>
                  <a:lnTo>
                    <a:pt x="62" y="58"/>
                  </a:lnTo>
                  <a:lnTo>
                    <a:pt x="56" y="67"/>
                  </a:lnTo>
                  <a:lnTo>
                    <a:pt x="44"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6" name="Freeform 205"/>
            <p:cNvSpPr>
              <a:spLocks/>
            </p:cNvSpPr>
            <p:nvPr/>
          </p:nvSpPr>
          <p:spPr bwMode="auto">
            <a:xfrm>
              <a:off x="3102" y="2894"/>
              <a:ext cx="56" cy="153"/>
            </a:xfrm>
            <a:custGeom>
              <a:avLst/>
              <a:gdLst/>
              <a:ahLst/>
              <a:cxnLst>
                <a:cxn ang="0">
                  <a:pos x="29" y="97"/>
                </a:cxn>
                <a:cxn ang="0">
                  <a:pos x="23" y="115"/>
                </a:cxn>
                <a:cxn ang="0">
                  <a:pos x="30" y="127"/>
                </a:cxn>
                <a:cxn ang="0">
                  <a:pos x="37" y="138"/>
                </a:cxn>
                <a:cxn ang="0">
                  <a:pos x="36" y="129"/>
                </a:cxn>
                <a:cxn ang="0">
                  <a:pos x="44" y="120"/>
                </a:cxn>
                <a:cxn ang="0">
                  <a:pos x="47" y="107"/>
                </a:cxn>
                <a:cxn ang="0">
                  <a:pos x="49" y="94"/>
                </a:cxn>
                <a:cxn ang="0">
                  <a:pos x="39" y="84"/>
                </a:cxn>
                <a:cxn ang="0">
                  <a:pos x="30" y="73"/>
                </a:cxn>
                <a:cxn ang="0">
                  <a:pos x="27" y="55"/>
                </a:cxn>
                <a:cxn ang="0">
                  <a:pos x="31" y="42"/>
                </a:cxn>
                <a:cxn ang="0">
                  <a:pos x="36" y="39"/>
                </a:cxn>
                <a:cxn ang="0">
                  <a:pos x="37" y="39"/>
                </a:cxn>
                <a:cxn ang="0">
                  <a:pos x="32" y="24"/>
                </a:cxn>
                <a:cxn ang="0">
                  <a:pos x="27" y="6"/>
                </a:cxn>
                <a:cxn ang="0">
                  <a:pos x="21" y="3"/>
                </a:cxn>
                <a:cxn ang="0">
                  <a:pos x="6" y="0"/>
                </a:cxn>
                <a:cxn ang="0">
                  <a:pos x="7" y="4"/>
                </a:cxn>
                <a:cxn ang="0">
                  <a:pos x="17" y="18"/>
                </a:cxn>
                <a:cxn ang="0">
                  <a:pos x="13" y="25"/>
                </a:cxn>
                <a:cxn ang="0">
                  <a:pos x="12" y="39"/>
                </a:cxn>
                <a:cxn ang="0">
                  <a:pos x="11" y="53"/>
                </a:cxn>
                <a:cxn ang="0">
                  <a:pos x="8" y="58"/>
                </a:cxn>
                <a:cxn ang="0">
                  <a:pos x="0" y="75"/>
                </a:cxn>
                <a:cxn ang="0">
                  <a:pos x="7" y="83"/>
                </a:cxn>
                <a:cxn ang="0">
                  <a:pos x="13" y="90"/>
                </a:cxn>
                <a:cxn ang="0">
                  <a:pos x="23" y="90"/>
                </a:cxn>
                <a:cxn ang="0">
                  <a:pos x="29" y="97"/>
                </a:cxn>
              </a:cxnLst>
              <a:rect l="0" t="0" r="r" b="b"/>
              <a:pathLst>
                <a:path w="49" h="138">
                  <a:moveTo>
                    <a:pt x="29" y="97"/>
                  </a:moveTo>
                  <a:lnTo>
                    <a:pt x="23" y="115"/>
                  </a:lnTo>
                  <a:lnTo>
                    <a:pt x="30" y="127"/>
                  </a:lnTo>
                  <a:lnTo>
                    <a:pt x="37" y="138"/>
                  </a:lnTo>
                  <a:lnTo>
                    <a:pt x="36" y="129"/>
                  </a:lnTo>
                  <a:lnTo>
                    <a:pt x="44" y="120"/>
                  </a:lnTo>
                  <a:lnTo>
                    <a:pt x="47" y="107"/>
                  </a:lnTo>
                  <a:lnTo>
                    <a:pt x="49" y="94"/>
                  </a:lnTo>
                  <a:lnTo>
                    <a:pt x="39" y="84"/>
                  </a:lnTo>
                  <a:lnTo>
                    <a:pt x="30" y="73"/>
                  </a:lnTo>
                  <a:lnTo>
                    <a:pt x="27" y="55"/>
                  </a:lnTo>
                  <a:lnTo>
                    <a:pt x="31" y="42"/>
                  </a:lnTo>
                  <a:lnTo>
                    <a:pt x="36" y="39"/>
                  </a:lnTo>
                  <a:lnTo>
                    <a:pt x="37" y="39"/>
                  </a:lnTo>
                  <a:lnTo>
                    <a:pt x="32" y="24"/>
                  </a:lnTo>
                  <a:lnTo>
                    <a:pt x="27" y="6"/>
                  </a:lnTo>
                  <a:lnTo>
                    <a:pt x="21" y="3"/>
                  </a:lnTo>
                  <a:lnTo>
                    <a:pt x="6" y="0"/>
                  </a:lnTo>
                  <a:lnTo>
                    <a:pt x="7" y="4"/>
                  </a:lnTo>
                  <a:lnTo>
                    <a:pt x="17" y="18"/>
                  </a:lnTo>
                  <a:lnTo>
                    <a:pt x="13" y="25"/>
                  </a:lnTo>
                  <a:lnTo>
                    <a:pt x="12" y="39"/>
                  </a:lnTo>
                  <a:lnTo>
                    <a:pt x="11" y="53"/>
                  </a:lnTo>
                  <a:lnTo>
                    <a:pt x="8" y="58"/>
                  </a:lnTo>
                  <a:lnTo>
                    <a:pt x="0" y="75"/>
                  </a:lnTo>
                  <a:lnTo>
                    <a:pt x="7" y="83"/>
                  </a:lnTo>
                  <a:lnTo>
                    <a:pt x="13" y="90"/>
                  </a:lnTo>
                  <a:lnTo>
                    <a:pt x="23" y="90"/>
                  </a:lnTo>
                  <a:lnTo>
                    <a:pt x="29" y="9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7" name="Freeform 206"/>
            <p:cNvSpPr>
              <a:spLocks/>
            </p:cNvSpPr>
            <p:nvPr/>
          </p:nvSpPr>
          <p:spPr bwMode="auto">
            <a:xfrm>
              <a:off x="3060" y="2914"/>
              <a:ext cx="182" cy="327"/>
            </a:xfrm>
            <a:custGeom>
              <a:avLst/>
              <a:gdLst/>
              <a:ahLst/>
              <a:cxnLst>
                <a:cxn ang="0">
                  <a:pos x="66" y="172"/>
                </a:cxn>
                <a:cxn ang="0">
                  <a:pos x="72" y="166"/>
                </a:cxn>
                <a:cxn ang="0">
                  <a:pos x="102" y="136"/>
                </a:cxn>
                <a:cxn ang="0">
                  <a:pos x="130" y="119"/>
                </a:cxn>
                <a:cxn ang="0">
                  <a:pos x="162" y="84"/>
                </a:cxn>
                <a:cxn ang="0">
                  <a:pos x="165" y="71"/>
                </a:cxn>
                <a:cxn ang="0">
                  <a:pos x="165" y="38"/>
                </a:cxn>
                <a:cxn ang="0">
                  <a:pos x="165" y="0"/>
                </a:cxn>
                <a:cxn ang="0">
                  <a:pos x="147" y="9"/>
                </a:cxn>
                <a:cxn ang="0">
                  <a:pos x="123" y="17"/>
                </a:cxn>
                <a:cxn ang="0">
                  <a:pos x="93" y="18"/>
                </a:cxn>
                <a:cxn ang="0">
                  <a:pos x="76" y="20"/>
                </a:cxn>
                <a:cxn ang="0">
                  <a:pos x="67" y="36"/>
                </a:cxn>
                <a:cxn ang="0">
                  <a:pos x="79" y="65"/>
                </a:cxn>
                <a:cxn ang="0">
                  <a:pos x="87" y="88"/>
                </a:cxn>
                <a:cxn ang="0">
                  <a:pos x="76" y="110"/>
                </a:cxn>
                <a:cxn ang="0">
                  <a:pos x="70" y="108"/>
                </a:cxn>
                <a:cxn ang="0">
                  <a:pos x="69" y="78"/>
                </a:cxn>
                <a:cxn ang="0">
                  <a:pos x="53" y="71"/>
                </a:cxn>
                <a:cxn ang="0">
                  <a:pos x="35" y="69"/>
                </a:cxn>
                <a:cxn ang="0">
                  <a:pos x="12" y="78"/>
                </a:cxn>
                <a:cxn ang="0">
                  <a:pos x="3" y="93"/>
                </a:cxn>
                <a:cxn ang="0">
                  <a:pos x="10" y="99"/>
                </a:cxn>
                <a:cxn ang="0">
                  <a:pos x="41" y="112"/>
                </a:cxn>
                <a:cxn ang="0">
                  <a:pos x="37" y="149"/>
                </a:cxn>
                <a:cxn ang="0">
                  <a:pos x="34" y="182"/>
                </a:cxn>
                <a:cxn ang="0">
                  <a:pos x="21" y="206"/>
                </a:cxn>
                <a:cxn ang="0">
                  <a:pos x="13" y="227"/>
                </a:cxn>
                <a:cxn ang="0">
                  <a:pos x="17" y="260"/>
                </a:cxn>
                <a:cxn ang="0">
                  <a:pos x="19" y="294"/>
                </a:cxn>
                <a:cxn ang="0">
                  <a:pos x="31" y="282"/>
                </a:cxn>
                <a:cxn ang="0">
                  <a:pos x="46" y="263"/>
                </a:cxn>
                <a:cxn ang="0">
                  <a:pos x="72" y="248"/>
                </a:cxn>
                <a:cxn ang="0">
                  <a:pos x="75" y="225"/>
                </a:cxn>
                <a:cxn ang="0">
                  <a:pos x="73" y="214"/>
                </a:cxn>
                <a:cxn ang="0">
                  <a:pos x="69" y="184"/>
                </a:cxn>
              </a:cxnLst>
              <a:rect l="0" t="0" r="r" b="b"/>
              <a:pathLst>
                <a:path w="166" h="294">
                  <a:moveTo>
                    <a:pt x="69" y="184"/>
                  </a:moveTo>
                  <a:lnTo>
                    <a:pt x="66" y="172"/>
                  </a:lnTo>
                  <a:lnTo>
                    <a:pt x="66" y="166"/>
                  </a:lnTo>
                  <a:lnTo>
                    <a:pt x="72" y="166"/>
                  </a:lnTo>
                  <a:lnTo>
                    <a:pt x="90" y="152"/>
                  </a:lnTo>
                  <a:lnTo>
                    <a:pt x="102" y="136"/>
                  </a:lnTo>
                  <a:lnTo>
                    <a:pt x="115" y="128"/>
                  </a:lnTo>
                  <a:lnTo>
                    <a:pt x="130" y="119"/>
                  </a:lnTo>
                  <a:lnTo>
                    <a:pt x="149" y="107"/>
                  </a:lnTo>
                  <a:lnTo>
                    <a:pt x="162" y="84"/>
                  </a:lnTo>
                  <a:lnTo>
                    <a:pt x="166" y="71"/>
                  </a:lnTo>
                  <a:lnTo>
                    <a:pt x="165" y="71"/>
                  </a:lnTo>
                  <a:lnTo>
                    <a:pt x="162" y="46"/>
                  </a:lnTo>
                  <a:lnTo>
                    <a:pt x="165" y="38"/>
                  </a:lnTo>
                  <a:lnTo>
                    <a:pt x="163" y="12"/>
                  </a:lnTo>
                  <a:lnTo>
                    <a:pt x="165" y="0"/>
                  </a:lnTo>
                  <a:lnTo>
                    <a:pt x="163" y="0"/>
                  </a:lnTo>
                  <a:lnTo>
                    <a:pt x="147" y="9"/>
                  </a:lnTo>
                  <a:lnTo>
                    <a:pt x="131" y="16"/>
                  </a:lnTo>
                  <a:lnTo>
                    <a:pt x="123" y="17"/>
                  </a:lnTo>
                  <a:lnTo>
                    <a:pt x="111" y="22"/>
                  </a:lnTo>
                  <a:lnTo>
                    <a:pt x="93" y="18"/>
                  </a:lnTo>
                  <a:lnTo>
                    <a:pt x="83" y="20"/>
                  </a:lnTo>
                  <a:lnTo>
                    <a:pt x="76" y="20"/>
                  </a:lnTo>
                  <a:lnTo>
                    <a:pt x="71" y="23"/>
                  </a:lnTo>
                  <a:lnTo>
                    <a:pt x="67" y="36"/>
                  </a:lnTo>
                  <a:lnTo>
                    <a:pt x="70" y="54"/>
                  </a:lnTo>
                  <a:lnTo>
                    <a:pt x="79" y="65"/>
                  </a:lnTo>
                  <a:lnTo>
                    <a:pt x="89" y="75"/>
                  </a:lnTo>
                  <a:lnTo>
                    <a:pt x="87" y="88"/>
                  </a:lnTo>
                  <a:lnTo>
                    <a:pt x="84" y="101"/>
                  </a:lnTo>
                  <a:lnTo>
                    <a:pt x="76" y="110"/>
                  </a:lnTo>
                  <a:lnTo>
                    <a:pt x="77" y="119"/>
                  </a:lnTo>
                  <a:lnTo>
                    <a:pt x="70" y="108"/>
                  </a:lnTo>
                  <a:lnTo>
                    <a:pt x="63" y="96"/>
                  </a:lnTo>
                  <a:lnTo>
                    <a:pt x="69" y="78"/>
                  </a:lnTo>
                  <a:lnTo>
                    <a:pt x="63" y="71"/>
                  </a:lnTo>
                  <a:lnTo>
                    <a:pt x="53" y="71"/>
                  </a:lnTo>
                  <a:lnTo>
                    <a:pt x="47" y="64"/>
                  </a:lnTo>
                  <a:lnTo>
                    <a:pt x="35" y="69"/>
                  </a:lnTo>
                  <a:lnTo>
                    <a:pt x="23" y="74"/>
                  </a:lnTo>
                  <a:lnTo>
                    <a:pt x="12" y="78"/>
                  </a:lnTo>
                  <a:lnTo>
                    <a:pt x="0" y="83"/>
                  </a:lnTo>
                  <a:lnTo>
                    <a:pt x="3" y="93"/>
                  </a:lnTo>
                  <a:lnTo>
                    <a:pt x="3" y="100"/>
                  </a:lnTo>
                  <a:lnTo>
                    <a:pt x="10" y="99"/>
                  </a:lnTo>
                  <a:lnTo>
                    <a:pt x="25" y="106"/>
                  </a:lnTo>
                  <a:lnTo>
                    <a:pt x="41" y="112"/>
                  </a:lnTo>
                  <a:lnTo>
                    <a:pt x="41" y="134"/>
                  </a:lnTo>
                  <a:lnTo>
                    <a:pt x="37" y="149"/>
                  </a:lnTo>
                  <a:lnTo>
                    <a:pt x="40" y="166"/>
                  </a:lnTo>
                  <a:lnTo>
                    <a:pt x="34" y="182"/>
                  </a:lnTo>
                  <a:lnTo>
                    <a:pt x="30" y="196"/>
                  </a:lnTo>
                  <a:lnTo>
                    <a:pt x="21" y="206"/>
                  </a:lnTo>
                  <a:lnTo>
                    <a:pt x="11" y="215"/>
                  </a:lnTo>
                  <a:lnTo>
                    <a:pt x="13" y="227"/>
                  </a:lnTo>
                  <a:lnTo>
                    <a:pt x="17" y="240"/>
                  </a:lnTo>
                  <a:lnTo>
                    <a:pt x="17" y="260"/>
                  </a:lnTo>
                  <a:lnTo>
                    <a:pt x="17" y="278"/>
                  </a:lnTo>
                  <a:lnTo>
                    <a:pt x="19" y="294"/>
                  </a:lnTo>
                  <a:lnTo>
                    <a:pt x="30" y="294"/>
                  </a:lnTo>
                  <a:lnTo>
                    <a:pt x="31" y="282"/>
                  </a:lnTo>
                  <a:lnTo>
                    <a:pt x="27" y="279"/>
                  </a:lnTo>
                  <a:lnTo>
                    <a:pt x="46" y="263"/>
                  </a:lnTo>
                  <a:lnTo>
                    <a:pt x="59" y="256"/>
                  </a:lnTo>
                  <a:lnTo>
                    <a:pt x="72" y="248"/>
                  </a:lnTo>
                  <a:lnTo>
                    <a:pt x="72" y="240"/>
                  </a:lnTo>
                  <a:lnTo>
                    <a:pt x="75" y="225"/>
                  </a:lnTo>
                  <a:lnTo>
                    <a:pt x="76" y="209"/>
                  </a:lnTo>
                  <a:lnTo>
                    <a:pt x="73" y="214"/>
                  </a:lnTo>
                  <a:lnTo>
                    <a:pt x="70" y="200"/>
                  </a:lnTo>
                  <a:lnTo>
                    <a:pt x="69" y="18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8" name="Freeform 207"/>
            <p:cNvSpPr>
              <a:spLocks/>
            </p:cNvSpPr>
            <p:nvPr/>
          </p:nvSpPr>
          <p:spPr bwMode="auto">
            <a:xfrm>
              <a:off x="2811" y="3147"/>
              <a:ext cx="282" cy="251"/>
            </a:xfrm>
            <a:custGeom>
              <a:avLst/>
              <a:gdLst/>
              <a:ahLst/>
              <a:cxnLst>
                <a:cxn ang="0">
                  <a:pos x="55" y="64"/>
                </a:cxn>
                <a:cxn ang="0">
                  <a:pos x="53" y="98"/>
                </a:cxn>
                <a:cxn ang="0">
                  <a:pos x="37" y="120"/>
                </a:cxn>
                <a:cxn ang="0">
                  <a:pos x="8" y="106"/>
                </a:cxn>
                <a:cxn ang="0">
                  <a:pos x="7" y="132"/>
                </a:cxn>
                <a:cxn ang="0">
                  <a:pos x="19" y="165"/>
                </a:cxn>
                <a:cxn ang="0">
                  <a:pos x="19" y="190"/>
                </a:cxn>
                <a:cxn ang="0">
                  <a:pos x="25" y="216"/>
                </a:cxn>
                <a:cxn ang="0">
                  <a:pos x="38" y="221"/>
                </a:cxn>
                <a:cxn ang="0">
                  <a:pos x="64" y="221"/>
                </a:cxn>
                <a:cxn ang="0">
                  <a:pos x="96" y="215"/>
                </a:cxn>
                <a:cxn ang="0">
                  <a:pos x="133" y="212"/>
                </a:cxn>
                <a:cxn ang="0">
                  <a:pos x="160" y="198"/>
                </a:cxn>
                <a:cxn ang="0">
                  <a:pos x="186" y="179"/>
                </a:cxn>
                <a:cxn ang="0">
                  <a:pos x="205" y="158"/>
                </a:cxn>
                <a:cxn ang="0">
                  <a:pos x="227" y="134"/>
                </a:cxn>
                <a:cxn ang="0">
                  <a:pos x="246" y="101"/>
                </a:cxn>
                <a:cxn ang="0">
                  <a:pos x="242" y="84"/>
                </a:cxn>
                <a:cxn ang="0">
                  <a:pos x="223" y="87"/>
                </a:cxn>
                <a:cxn ang="0">
                  <a:pos x="232" y="64"/>
                </a:cxn>
                <a:cxn ang="0">
                  <a:pos x="240" y="50"/>
                </a:cxn>
                <a:cxn ang="0">
                  <a:pos x="236" y="17"/>
                </a:cxn>
                <a:cxn ang="0">
                  <a:pos x="218" y="3"/>
                </a:cxn>
                <a:cxn ang="0">
                  <a:pos x="202" y="0"/>
                </a:cxn>
                <a:cxn ang="0">
                  <a:pos x="166" y="28"/>
                </a:cxn>
                <a:cxn ang="0">
                  <a:pos x="148" y="50"/>
                </a:cxn>
                <a:cxn ang="0">
                  <a:pos x="115" y="62"/>
                </a:cxn>
                <a:cxn ang="0">
                  <a:pos x="95" y="69"/>
                </a:cxn>
                <a:cxn ang="0">
                  <a:pos x="71" y="83"/>
                </a:cxn>
                <a:cxn ang="0">
                  <a:pos x="67" y="64"/>
                </a:cxn>
                <a:cxn ang="0">
                  <a:pos x="176" y="120"/>
                </a:cxn>
                <a:cxn ang="0">
                  <a:pos x="172" y="152"/>
                </a:cxn>
                <a:cxn ang="0">
                  <a:pos x="193" y="136"/>
                </a:cxn>
                <a:cxn ang="0">
                  <a:pos x="182" y="117"/>
                </a:cxn>
                <a:cxn ang="0">
                  <a:pos x="56" y="47"/>
                </a:cxn>
              </a:cxnLst>
              <a:rect l="0" t="0" r="r" b="b"/>
              <a:pathLst>
                <a:path w="253" h="226">
                  <a:moveTo>
                    <a:pt x="56" y="47"/>
                  </a:moveTo>
                  <a:lnTo>
                    <a:pt x="55" y="64"/>
                  </a:lnTo>
                  <a:lnTo>
                    <a:pt x="54" y="81"/>
                  </a:lnTo>
                  <a:lnTo>
                    <a:pt x="53" y="98"/>
                  </a:lnTo>
                  <a:lnTo>
                    <a:pt x="50" y="114"/>
                  </a:lnTo>
                  <a:lnTo>
                    <a:pt x="37" y="120"/>
                  </a:lnTo>
                  <a:lnTo>
                    <a:pt x="14" y="117"/>
                  </a:lnTo>
                  <a:lnTo>
                    <a:pt x="8" y="106"/>
                  </a:lnTo>
                  <a:lnTo>
                    <a:pt x="0" y="116"/>
                  </a:lnTo>
                  <a:lnTo>
                    <a:pt x="7" y="132"/>
                  </a:lnTo>
                  <a:lnTo>
                    <a:pt x="13" y="148"/>
                  </a:lnTo>
                  <a:lnTo>
                    <a:pt x="19" y="165"/>
                  </a:lnTo>
                  <a:lnTo>
                    <a:pt x="25" y="182"/>
                  </a:lnTo>
                  <a:lnTo>
                    <a:pt x="19" y="190"/>
                  </a:lnTo>
                  <a:lnTo>
                    <a:pt x="20" y="198"/>
                  </a:lnTo>
                  <a:lnTo>
                    <a:pt x="25" y="216"/>
                  </a:lnTo>
                  <a:lnTo>
                    <a:pt x="30" y="216"/>
                  </a:lnTo>
                  <a:lnTo>
                    <a:pt x="38" y="221"/>
                  </a:lnTo>
                  <a:lnTo>
                    <a:pt x="48" y="226"/>
                  </a:lnTo>
                  <a:lnTo>
                    <a:pt x="64" y="221"/>
                  </a:lnTo>
                  <a:lnTo>
                    <a:pt x="80" y="215"/>
                  </a:lnTo>
                  <a:lnTo>
                    <a:pt x="96" y="215"/>
                  </a:lnTo>
                  <a:lnTo>
                    <a:pt x="113" y="214"/>
                  </a:lnTo>
                  <a:lnTo>
                    <a:pt x="133" y="212"/>
                  </a:lnTo>
                  <a:lnTo>
                    <a:pt x="143" y="208"/>
                  </a:lnTo>
                  <a:lnTo>
                    <a:pt x="160" y="198"/>
                  </a:lnTo>
                  <a:lnTo>
                    <a:pt x="176" y="189"/>
                  </a:lnTo>
                  <a:lnTo>
                    <a:pt x="186" y="179"/>
                  </a:lnTo>
                  <a:lnTo>
                    <a:pt x="196" y="168"/>
                  </a:lnTo>
                  <a:lnTo>
                    <a:pt x="205" y="158"/>
                  </a:lnTo>
                  <a:lnTo>
                    <a:pt x="216" y="147"/>
                  </a:lnTo>
                  <a:lnTo>
                    <a:pt x="227" y="134"/>
                  </a:lnTo>
                  <a:lnTo>
                    <a:pt x="239" y="119"/>
                  </a:lnTo>
                  <a:lnTo>
                    <a:pt x="246" y="101"/>
                  </a:lnTo>
                  <a:lnTo>
                    <a:pt x="253" y="84"/>
                  </a:lnTo>
                  <a:lnTo>
                    <a:pt x="242" y="84"/>
                  </a:lnTo>
                  <a:lnTo>
                    <a:pt x="239" y="92"/>
                  </a:lnTo>
                  <a:lnTo>
                    <a:pt x="223" y="87"/>
                  </a:lnTo>
                  <a:lnTo>
                    <a:pt x="224" y="74"/>
                  </a:lnTo>
                  <a:lnTo>
                    <a:pt x="232" y="64"/>
                  </a:lnTo>
                  <a:lnTo>
                    <a:pt x="240" y="68"/>
                  </a:lnTo>
                  <a:lnTo>
                    <a:pt x="240" y="50"/>
                  </a:lnTo>
                  <a:lnTo>
                    <a:pt x="240" y="30"/>
                  </a:lnTo>
                  <a:lnTo>
                    <a:pt x="236" y="17"/>
                  </a:lnTo>
                  <a:lnTo>
                    <a:pt x="234" y="5"/>
                  </a:lnTo>
                  <a:lnTo>
                    <a:pt x="218" y="3"/>
                  </a:lnTo>
                  <a:lnTo>
                    <a:pt x="204" y="0"/>
                  </a:lnTo>
                  <a:lnTo>
                    <a:pt x="202" y="0"/>
                  </a:lnTo>
                  <a:lnTo>
                    <a:pt x="181" y="14"/>
                  </a:lnTo>
                  <a:lnTo>
                    <a:pt x="166" y="28"/>
                  </a:lnTo>
                  <a:lnTo>
                    <a:pt x="157" y="44"/>
                  </a:lnTo>
                  <a:lnTo>
                    <a:pt x="148" y="50"/>
                  </a:lnTo>
                  <a:lnTo>
                    <a:pt x="139" y="64"/>
                  </a:lnTo>
                  <a:lnTo>
                    <a:pt x="115" y="62"/>
                  </a:lnTo>
                  <a:lnTo>
                    <a:pt x="103" y="57"/>
                  </a:lnTo>
                  <a:lnTo>
                    <a:pt x="95" y="69"/>
                  </a:lnTo>
                  <a:lnTo>
                    <a:pt x="88" y="81"/>
                  </a:lnTo>
                  <a:lnTo>
                    <a:pt x="71" y="83"/>
                  </a:lnTo>
                  <a:lnTo>
                    <a:pt x="65" y="81"/>
                  </a:lnTo>
                  <a:lnTo>
                    <a:pt x="67" y="64"/>
                  </a:lnTo>
                  <a:lnTo>
                    <a:pt x="56" y="47"/>
                  </a:lnTo>
                  <a:lnTo>
                    <a:pt x="176" y="120"/>
                  </a:lnTo>
                  <a:lnTo>
                    <a:pt x="161" y="136"/>
                  </a:lnTo>
                  <a:lnTo>
                    <a:pt x="172" y="152"/>
                  </a:lnTo>
                  <a:lnTo>
                    <a:pt x="178" y="147"/>
                  </a:lnTo>
                  <a:lnTo>
                    <a:pt x="193" y="136"/>
                  </a:lnTo>
                  <a:lnTo>
                    <a:pt x="196" y="124"/>
                  </a:lnTo>
                  <a:lnTo>
                    <a:pt x="182" y="117"/>
                  </a:lnTo>
                  <a:lnTo>
                    <a:pt x="176" y="120"/>
                  </a:lnTo>
                  <a:lnTo>
                    <a:pt x="56" y="47"/>
                  </a:lnTo>
                  <a:close/>
                </a:path>
              </a:pathLst>
            </a:custGeom>
            <a:grpFill/>
            <a:ln w="3175" cmpd="sng">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9" name="Freeform 208"/>
            <p:cNvSpPr>
              <a:spLocks/>
            </p:cNvSpPr>
            <p:nvPr/>
          </p:nvSpPr>
          <p:spPr bwMode="auto">
            <a:xfrm>
              <a:off x="2811" y="3147"/>
              <a:ext cx="282" cy="251"/>
            </a:xfrm>
            <a:custGeom>
              <a:avLst/>
              <a:gdLst/>
              <a:ahLst/>
              <a:cxnLst>
                <a:cxn ang="0">
                  <a:pos x="56" y="47"/>
                </a:cxn>
                <a:cxn ang="0">
                  <a:pos x="55" y="64"/>
                </a:cxn>
                <a:cxn ang="0">
                  <a:pos x="54" y="81"/>
                </a:cxn>
                <a:cxn ang="0">
                  <a:pos x="53" y="98"/>
                </a:cxn>
                <a:cxn ang="0">
                  <a:pos x="50" y="114"/>
                </a:cxn>
                <a:cxn ang="0">
                  <a:pos x="37" y="120"/>
                </a:cxn>
                <a:cxn ang="0">
                  <a:pos x="14" y="117"/>
                </a:cxn>
                <a:cxn ang="0">
                  <a:pos x="8" y="106"/>
                </a:cxn>
                <a:cxn ang="0">
                  <a:pos x="0" y="116"/>
                </a:cxn>
                <a:cxn ang="0">
                  <a:pos x="7" y="132"/>
                </a:cxn>
                <a:cxn ang="0">
                  <a:pos x="13" y="148"/>
                </a:cxn>
                <a:cxn ang="0">
                  <a:pos x="19" y="165"/>
                </a:cxn>
                <a:cxn ang="0">
                  <a:pos x="25" y="182"/>
                </a:cxn>
                <a:cxn ang="0">
                  <a:pos x="19" y="190"/>
                </a:cxn>
                <a:cxn ang="0">
                  <a:pos x="20" y="198"/>
                </a:cxn>
                <a:cxn ang="0">
                  <a:pos x="25" y="216"/>
                </a:cxn>
                <a:cxn ang="0">
                  <a:pos x="30" y="216"/>
                </a:cxn>
                <a:cxn ang="0">
                  <a:pos x="38" y="221"/>
                </a:cxn>
                <a:cxn ang="0">
                  <a:pos x="48" y="226"/>
                </a:cxn>
                <a:cxn ang="0">
                  <a:pos x="64" y="221"/>
                </a:cxn>
                <a:cxn ang="0">
                  <a:pos x="80" y="215"/>
                </a:cxn>
                <a:cxn ang="0">
                  <a:pos x="96" y="215"/>
                </a:cxn>
                <a:cxn ang="0">
                  <a:pos x="113" y="214"/>
                </a:cxn>
                <a:cxn ang="0">
                  <a:pos x="133" y="212"/>
                </a:cxn>
                <a:cxn ang="0">
                  <a:pos x="143" y="208"/>
                </a:cxn>
                <a:cxn ang="0">
                  <a:pos x="160" y="198"/>
                </a:cxn>
                <a:cxn ang="0">
                  <a:pos x="176" y="189"/>
                </a:cxn>
                <a:cxn ang="0">
                  <a:pos x="186" y="179"/>
                </a:cxn>
                <a:cxn ang="0">
                  <a:pos x="196" y="168"/>
                </a:cxn>
                <a:cxn ang="0">
                  <a:pos x="205" y="158"/>
                </a:cxn>
                <a:cxn ang="0">
                  <a:pos x="216" y="147"/>
                </a:cxn>
                <a:cxn ang="0">
                  <a:pos x="227" y="134"/>
                </a:cxn>
                <a:cxn ang="0">
                  <a:pos x="239" y="119"/>
                </a:cxn>
                <a:cxn ang="0">
                  <a:pos x="246" y="101"/>
                </a:cxn>
                <a:cxn ang="0">
                  <a:pos x="253" y="84"/>
                </a:cxn>
                <a:cxn ang="0">
                  <a:pos x="242" y="84"/>
                </a:cxn>
                <a:cxn ang="0">
                  <a:pos x="239" y="92"/>
                </a:cxn>
                <a:cxn ang="0">
                  <a:pos x="223" y="87"/>
                </a:cxn>
                <a:cxn ang="0">
                  <a:pos x="224" y="74"/>
                </a:cxn>
                <a:cxn ang="0">
                  <a:pos x="232" y="64"/>
                </a:cxn>
                <a:cxn ang="0">
                  <a:pos x="240" y="68"/>
                </a:cxn>
                <a:cxn ang="0">
                  <a:pos x="240" y="50"/>
                </a:cxn>
                <a:cxn ang="0">
                  <a:pos x="240" y="30"/>
                </a:cxn>
                <a:cxn ang="0">
                  <a:pos x="236" y="17"/>
                </a:cxn>
                <a:cxn ang="0">
                  <a:pos x="234" y="5"/>
                </a:cxn>
                <a:cxn ang="0">
                  <a:pos x="218" y="3"/>
                </a:cxn>
                <a:cxn ang="0">
                  <a:pos x="204" y="0"/>
                </a:cxn>
                <a:cxn ang="0">
                  <a:pos x="202" y="0"/>
                </a:cxn>
                <a:cxn ang="0">
                  <a:pos x="181" y="14"/>
                </a:cxn>
                <a:cxn ang="0">
                  <a:pos x="166" y="28"/>
                </a:cxn>
                <a:cxn ang="0">
                  <a:pos x="157" y="44"/>
                </a:cxn>
                <a:cxn ang="0">
                  <a:pos x="148" y="50"/>
                </a:cxn>
                <a:cxn ang="0">
                  <a:pos x="139" y="64"/>
                </a:cxn>
                <a:cxn ang="0">
                  <a:pos x="115" y="62"/>
                </a:cxn>
                <a:cxn ang="0">
                  <a:pos x="103" y="57"/>
                </a:cxn>
                <a:cxn ang="0">
                  <a:pos x="95" y="69"/>
                </a:cxn>
                <a:cxn ang="0">
                  <a:pos x="88" y="81"/>
                </a:cxn>
                <a:cxn ang="0">
                  <a:pos x="71" y="83"/>
                </a:cxn>
                <a:cxn ang="0">
                  <a:pos x="65" y="81"/>
                </a:cxn>
                <a:cxn ang="0">
                  <a:pos x="67" y="64"/>
                </a:cxn>
                <a:cxn ang="0">
                  <a:pos x="56" y="47"/>
                </a:cxn>
              </a:cxnLst>
              <a:rect l="0" t="0" r="r" b="b"/>
              <a:pathLst>
                <a:path w="253" h="226">
                  <a:moveTo>
                    <a:pt x="56" y="47"/>
                  </a:moveTo>
                  <a:lnTo>
                    <a:pt x="55" y="64"/>
                  </a:lnTo>
                  <a:lnTo>
                    <a:pt x="54" y="81"/>
                  </a:lnTo>
                  <a:lnTo>
                    <a:pt x="53" y="98"/>
                  </a:lnTo>
                  <a:lnTo>
                    <a:pt x="50" y="114"/>
                  </a:lnTo>
                  <a:lnTo>
                    <a:pt x="37" y="120"/>
                  </a:lnTo>
                  <a:lnTo>
                    <a:pt x="14" y="117"/>
                  </a:lnTo>
                  <a:lnTo>
                    <a:pt x="8" y="106"/>
                  </a:lnTo>
                  <a:lnTo>
                    <a:pt x="0" y="116"/>
                  </a:lnTo>
                  <a:lnTo>
                    <a:pt x="7" y="132"/>
                  </a:lnTo>
                  <a:lnTo>
                    <a:pt x="13" y="148"/>
                  </a:lnTo>
                  <a:lnTo>
                    <a:pt x="19" y="165"/>
                  </a:lnTo>
                  <a:lnTo>
                    <a:pt x="25" y="182"/>
                  </a:lnTo>
                  <a:lnTo>
                    <a:pt x="19" y="190"/>
                  </a:lnTo>
                  <a:lnTo>
                    <a:pt x="20" y="198"/>
                  </a:lnTo>
                  <a:lnTo>
                    <a:pt x="25" y="216"/>
                  </a:lnTo>
                  <a:lnTo>
                    <a:pt x="30" y="216"/>
                  </a:lnTo>
                  <a:lnTo>
                    <a:pt x="38" y="221"/>
                  </a:lnTo>
                  <a:lnTo>
                    <a:pt x="48" y="226"/>
                  </a:lnTo>
                  <a:lnTo>
                    <a:pt x="64" y="221"/>
                  </a:lnTo>
                  <a:lnTo>
                    <a:pt x="80" y="215"/>
                  </a:lnTo>
                  <a:lnTo>
                    <a:pt x="96" y="215"/>
                  </a:lnTo>
                  <a:lnTo>
                    <a:pt x="113" y="214"/>
                  </a:lnTo>
                  <a:lnTo>
                    <a:pt x="133" y="212"/>
                  </a:lnTo>
                  <a:lnTo>
                    <a:pt x="143" y="208"/>
                  </a:lnTo>
                  <a:lnTo>
                    <a:pt x="160" y="198"/>
                  </a:lnTo>
                  <a:lnTo>
                    <a:pt x="176" y="189"/>
                  </a:lnTo>
                  <a:lnTo>
                    <a:pt x="186" y="179"/>
                  </a:lnTo>
                  <a:lnTo>
                    <a:pt x="196" y="168"/>
                  </a:lnTo>
                  <a:lnTo>
                    <a:pt x="205" y="158"/>
                  </a:lnTo>
                  <a:lnTo>
                    <a:pt x="216" y="147"/>
                  </a:lnTo>
                  <a:lnTo>
                    <a:pt x="227" y="134"/>
                  </a:lnTo>
                  <a:lnTo>
                    <a:pt x="239" y="119"/>
                  </a:lnTo>
                  <a:lnTo>
                    <a:pt x="246" y="101"/>
                  </a:lnTo>
                  <a:lnTo>
                    <a:pt x="253" y="84"/>
                  </a:lnTo>
                  <a:lnTo>
                    <a:pt x="242" y="84"/>
                  </a:lnTo>
                  <a:lnTo>
                    <a:pt x="239" y="92"/>
                  </a:lnTo>
                  <a:lnTo>
                    <a:pt x="223" y="87"/>
                  </a:lnTo>
                  <a:lnTo>
                    <a:pt x="224" y="74"/>
                  </a:lnTo>
                  <a:lnTo>
                    <a:pt x="232" y="64"/>
                  </a:lnTo>
                  <a:lnTo>
                    <a:pt x="240" y="68"/>
                  </a:lnTo>
                  <a:lnTo>
                    <a:pt x="240" y="50"/>
                  </a:lnTo>
                  <a:lnTo>
                    <a:pt x="240" y="30"/>
                  </a:lnTo>
                  <a:lnTo>
                    <a:pt x="236" y="17"/>
                  </a:lnTo>
                  <a:lnTo>
                    <a:pt x="234" y="5"/>
                  </a:lnTo>
                  <a:lnTo>
                    <a:pt x="218" y="3"/>
                  </a:lnTo>
                  <a:lnTo>
                    <a:pt x="204" y="0"/>
                  </a:lnTo>
                  <a:lnTo>
                    <a:pt x="202" y="0"/>
                  </a:lnTo>
                  <a:lnTo>
                    <a:pt x="181" y="14"/>
                  </a:lnTo>
                  <a:lnTo>
                    <a:pt x="166" y="28"/>
                  </a:lnTo>
                  <a:lnTo>
                    <a:pt x="157" y="44"/>
                  </a:lnTo>
                  <a:lnTo>
                    <a:pt x="148" y="50"/>
                  </a:lnTo>
                  <a:lnTo>
                    <a:pt x="139" y="64"/>
                  </a:lnTo>
                  <a:lnTo>
                    <a:pt x="115" y="62"/>
                  </a:lnTo>
                  <a:lnTo>
                    <a:pt x="103" y="57"/>
                  </a:lnTo>
                  <a:lnTo>
                    <a:pt x="95" y="69"/>
                  </a:lnTo>
                  <a:lnTo>
                    <a:pt x="88" y="81"/>
                  </a:lnTo>
                  <a:lnTo>
                    <a:pt x="71" y="83"/>
                  </a:lnTo>
                  <a:lnTo>
                    <a:pt x="65" y="81"/>
                  </a:lnTo>
                  <a:lnTo>
                    <a:pt x="67" y="64"/>
                  </a:lnTo>
                  <a:lnTo>
                    <a:pt x="56" y="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0" name="Freeform 209"/>
            <p:cNvSpPr>
              <a:spLocks/>
            </p:cNvSpPr>
            <p:nvPr/>
          </p:nvSpPr>
          <p:spPr bwMode="auto">
            <a:xfrm>
              <a:off x="2989" y="3276"/>
              <a:ext cx="40" cy="40"/>
            </a:xfrm>
            <a:custGeom>
              <a:avLst/>
              <a:gdLst/>
              <a:ahLst/>
              <a:cxnLst>
                <a:cxn ang="0">
                  <a:pos x="15" y="3"/>
                </a:cxn>
                <a:cxn ang="0">
                  <a:pos x="0" y="19"/>
                </a:cxn>
                <a:cxn ang="0">
                  <a:pos x="11" y="35"/>
                </a:cxn>
                <a:cxn ang="0">
                  <a:pos x="17" y="30"/>
                </a:cxn>
                <a:cxn ang="0">
                  <a:pos x="32" y="19"/>
                </a:cxn>
                <a:cxn ang="0">
                  <a:pos x="35" y="7"/>
                </a:cxn>
                <a:cxn ang="0">
                  <a:pos x="21" y="0"/>
                </a:cxn>
                <a:cxn ang="0">
                  <a:pos x="15" y="3"/>
                </a:cxn>
              </a:cxnLst>
              <a:rect l="0" t="0" r="r" b="b"/>
              <a:pathLst>
                <a:path w="35" h="35">
                  <a:moveTo>
                    <a:pt x="15" y="3"/>
                  </a:moveTo>
                  <a:lnTo>
                    <a:pt x="0" y="19"/>
                  </a:lnTo>
                  <a:lnTo>
                    <a:pt x="11" y="35"/>
                  </a:lnTo>
                  <a:lnTo>
                    <a:pt x="17" y="30"/>
                  </a:lnTo>
                  <a:lnTo>
                    <a:pt x="32" y="19"/>
                  </a:lnTo>
                  <a:lnTo>
                    <a:pt x="35" y="7"/>
                  </a:lnTo>
                  <a:lnTo>
                    <a:pt x="21" y="0"/>
                  </a:lnTo>
                  <a:lnTo>
                    <a:pt x="1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1" name="Freeform 210"/>
            <p:cNvSpPr>
              <a:spLocks/>
            </p:cNvSpPr>
            <p:nvPr/>
          </p:nvSpPr>
          <p:spPr bwMode="auto">
            <a:xfrm>
              <a:off x="2780" y="3156"/>
              <a:ext cx="2" cy="11"/>
            </a:xfrm>
            <a:custGeom>
              <a:avLst/>
              <a:gdLst/>
              <a:ahLst/>
              <a:cxnLst>
                <a:cxn ang="0">
                  <a:pos x="3" y="9"/>
                </a:cxn>
                <a:cxn ang="0">
                  <a:pos x="0" y="8"/>
                </a:cxn>
                <a:cxn ang="0">
                  <a:pos x="2" y="0"/>
                </a:cxn>
                <a:cxn ang="0">
                  <a:pos x="3" y="9"/>
                </a:cxn>
              </a:cxnLst>
              <a:rect l="0" t="0" r="r" b="b"/>
              <a:pathLst>
                <a:path w="3" h="9">
                  <a:moveTo>
                    <a:pt x="3" y="9"/>
                  </a:moveTo>
                  <a:lnTo>
                    <a:pt x="0" y="8"/>
                  </a:lnTo>
                  <a:lnTo>
                    <a:pt x="2" y="0"/>
                  </a:lnTo>
                  <a:lnTo>
                    <a:pt x="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2" name="Freeform 211"/>
            <p:cNvSpPr>
              <a:spLocks/>
            </p:cNvSpPr>
            <p:nvPr/>
          </p:nvSpPr>
          <p:spPr bwMode="auto">
            <a:xfrm>
              <a:off x="3060" y="3218"/>
              <a:ext cx="20" cy="32"/>
            </a:xfrm>
            <a:custGeom>
              <a:avLst/>
              <a:gdLst/>
              <a:ahLst/>
              <a:cxnLst>
                <a:cxn ang="0">
                  <a:pos x="9" y="0"/>
                </a:cxn>
                <a:cxn ang="0">
                  <a:pos x="1" y="10"/>
                </a:cxn>
                <a:cxn ang="0">
                  <a:pos x="0" y="23"/>
                </a:cxn>
                <a:cxn ang="0">
                  <a:pos x="16" y="28"/>
                </a:cxn>
                <a:cxn ang="0">
                  <a:pos x="19" y="20"/>
                </a:cxn>
                <a:cxn ang="0">
                  <a:pos x="17" y="4"/>
                </a:cxn>
                <a:cxn ang="0">
                  <a:pos x="9" y="0"/>
                </a:cxn>
              </a:cxnLst>
              <a:rect l="0" t="0" r="r" b="b"/>
              <a:pathLst>
                <a:path w="19" h="28">
                  <a:moveTo>
                    <a:pt x="9" y="0"/>
                  </a:moveTo>
                  <a:lnTo>
                    <a:pt x="1" y="10"/>
                  </a:lnTo>
                  <a:lnTo>
                    <a:pt x="0" y="23"/>
                  </a:lnTo>
                  <a:lnTo>
                    <a:pt x="16" y="28"/>
                  </a:lnTo>
                  <a:lnTo>
                    <a:pt x="19" y="20"/>
                  </a:lnTo>
                  <a:lnTo>
                    <a:pt x="17" y="4"/>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3" name="Freeform 212"/>
            <p:cNvSpPr>
              <a:spLocks/>
            </p:cNvSpPr>
            <p:nvPr/>
          </p:nvSpPr>
          <p:spPr bwMode="auto">
            <a:xfrm>
              <a:off x="2736" y="2823"/>
              <a:ext cx="215" cy="240"/>
            </a:xfrm>
            <a:custGeom>
              <a:avLst/>
              <a:gdLst/>
              <a:ahLst/>
              <a:cxnLst>
                <a:cxn ang="0">
                  <a:pos x="193" y="127"/>
                </a:cxn>
                <a:cxn ang="0">
                  <a:pos x="177" y="127"/>
                </a:cxn>
                <a:cxn ang="0">
                  <a:pos x="162" y="128"/>
                </a:cxn>
                <a:cxn ang="0">
                  <a:pos x="161" y="141"/>
                </a:cxn>
                <a:cxn ang="0">
                  <a:pos x="161" y="156"/>
                </a:cxn>
                <a:cxn ang="0">
                  <a:pos x="161" y="170"/>
                </a:cxn>
                <a:cxn ang="0">
                  <a:pos x="161" y="184"/>
                </a:cxn>
                <a:cxn ang="0">
                  <a:pos x="171" y="198"/>
                </a:cxn>
                <a:cxn ang="0">
                  <a:pos x="182" y="211"/>
                </a:cxn>
                <a:cxn ang="0">
                  <a:pos x="158" y="213"/>
                </a:cxn>
                <a:cxn ang="0">
                  <a:pos x="135" y="217"/>
                </a:cxn>
                <a:cxn ang="0">
                  <a:pos x="120" y="213"/>
                </a:cxn>
                <a:cxn ang="0">
                  <a:pos x="105" y="210"/>
                </a:cxn>
                <a:cxn ang="0">
                  <a:pos x="103" y="206"/>
                </a:cxn>
                <a:cxn ang="0">
                  <a:pos x="85" y="206"/>
                </a:cxn>
                <a:cxn ang="0">
                  <a:pos x="67" y="205"/>
                </a:cxn>
                <a:cxn ang="0">
                  <a:pos x="49" y="205"/>
                </a:cxn>
                <a:cxn ang="0">
                  <a:pos x="30" y="204"/>
                </a:cxn>
                <a:cxn ang="0">
                  <a:pos x="19" y="199"/>
                </a:cxn>
                <a:cxn ang="0">
                  <a:pos x="0" y="204"/>
                </a:cxn>
                <a:cxn ang="0">
                  <a:pos x="1" y="189"/>
                </a:cxn>
                <a:cxn ang="0">
                  <a:pos x="2" y="175"/>
                </a:cxn>
                <a:cxn ang="0">
                  <a:pos x="9" y="153"/>
                </a:cxn>
                <a:cxn ang="0">
                  <a:pos x="17" y="130"/>
                </a:cxn>
                <a:cxn ang="0">
                  <a:pos x="25" y="118"/>
                </a:cxn>
                <a:cxn ang="0">
                  <a:pos x="32" y="106"/>
                </a:cxn>
                <a:cxn ang="0">
                  <a:pos x="30" y="82"/>
                </a:cxn>
                <a:cxn ang="0">
                  <a:pos x="25" y="68"/>
                </a:cxn>
                <a:cxn ang="0">
                  <a:pos x="21" y="55"/>
                </a:cxn>
                <a:cxn ang="0">
                  <a:pos x="26" y="46"/>
                </a:cxn>
                <a:cxn ang="0">
                  <a:pos x="19" y="25"/>
                </a:cxn>
                <a:cxn ang="0">
                  <a:pos x="11" y="3"/>
                </a:cxn>
                <a:cxn ang="0">
                  <a:pos x="24" y="0"/>
                </a:cxn>
                <a:cxn ang="0">
                  <a:pos x="37" y="0"/>
                </a:cxn>
                <a:cxn ang="0">
                  <a:pos x="51" y="1"/>
                </a:cxn>
                <a:cxn ang="0">
                  <a:pos x="65" y="1"/>
                </a:cxn>
                <a:cxn ang="0">
                  <a:pos x="78" y="2"/>
                </a:cxn>
                <a:cxn ang="0">
                  <a:pos x="84" y="19"/>
                </a:cxn>
                <a:cxn ang="0">
                  <a:pos x="91" y="36"/>
                </a:cxn>
                <a:cxn ang="0">
                  <a:pos x="102" y="39"/>
                </a:cxn>
                <a:cxn ang="0">
                  <a:pos x="121" y="36"/>
                </a:cxn>
                <a:cxn ang="0">
                  <a:pos x="125" y="20"/>
                </a:cxn>
                <a:cxn ang="0">
                  <a:pos x="140" y="21"/>
                </a:cxn>
                <a:cxn ang="0">
                  <a:pos x="140" y="25"/>
                </a:cxn>
                <a:cxn ang="0">
                  <a:pos x="161" y="28"/>
                </a:cxn>
                <a:cxn ang="0">
                  <a:pos x="162" y="49"/>
                </a:cxn>
                <a:cxn ang="0">
                  <a:pos x="162" y="69"/>
                </a:cxn>
                <a:cxn ang="0">
                  <a:pos x="167" y="87"/>
                </a:cxn>
                <a:cxn ang="0">
                  <a:pos x="168" y="94"/>
                </a:cxn>
                <a:cxn ang="0">
                  <a:pos x="181" y="92"/>
                </a:cxn>
                <a:cxn ang="0">
                  <a:pos x="193" y="90"/>
                </a:cxn>
                <a:cxn ang="0">
                  <a:pos x="193" y="108"/>
                </a:cxn>
                <a:cxn ang="0">
                  <a:pos x="193" y="127"/>
                </a:cxn>
              </a:cxnLst>
              <a:rect l="0" t="0" r="r" b="b"/>
              <a:pathLst>
                <a:path w="193" h="217">
                  <a:moveTo>
                    <a:pt x="193" y="127"/>
                  </a:moveTo>
                  <a:lnTo>
                    <a:pt x="177" y="127"/>
                  </a:lnTo>
                  <a:lnTo>
                    <a:pt x="162" y="128"/>
                  </a:lnTo>
                  <a:lnTo>
                    <a:pt x="161" y="141"/>
                  </a:lnTo>
                  <a:lnTo>
                    <a:pt x="161" y="156"/>
                  </a:lnTo>
                  <a:lnTo>
                    <a:pt x="161" y="170"/>
                  </a:lnTo>
                  <a:lnTo>
                    <a:pt x="161" y="184"/>
                  </a:lnTo>
                  <a:lnTo>
                    <a:pt x="171" y="198"/>
                  </a:lnTo>
                  <a:lnTo>
                    <a:pt x="182" y="211"/>
                  </a:lnTo>
                  <a:lnTo>
                    <a:pt x="158" y="213"/>
                  </a:lnTo>
                  <a:lnTo>
                    <a:pt x="135" y="217"/>
                  </a:lnTo>
                  <a:lnTo>
                    <a:pt x="120" y="213"/>
                  </a:lnTo>
                  <a:lnTo>
                    <a:pt x="105" y="210"/>
                  </a:lnTo>
                  <a:lnTo>
                    <a:pt x="103" y="206"/>
                  </a:lnTo>
                  <a:lnTo>
                    <a:pt x="85" y="206"/>
                  </a:lnTo>
                  <a:lnTo>
                    <a:pt x="67" y="205"/>
                  </a:lnTo>
                  <a:lnTo>
                    <a:pt x="49" y="205"/>
                  </a:lnTo>
                  <a:lnTo>
                    <a:pt x="30" y="204"/>
                  </a:lnTo>
                  <a:lnTo>
                    <a:pt x="19" y="199"/>
                  </a:lnTo>
                  <a:lnTo>
                    <a:pt x="0" y="204"/>
                  </a:lnTo>
                  <a:lnTo>
                    <a:pt x="1" y="189"/>
                  </a:lnTo>
                  <a:lnTo>
                    <a:pt x="2" y="175"/>
                  </a:lnTo>
                  <a:lnTo>
                    <a:pt x="9" y="153"/>
                  </a:lnTo>
                  <a:lnTo>
                    <a:pt x="17" y="130"/>
                  </a:lnTo>
                  <a:lnTo>
                    <a:pt x="25" y="118"/>
                  </a:lnTo>
                  <a:lnTo>
                    <a:pt x="32" y="106"/>
                  </a:lnTo>
                  <a:lnTo>
                    <a:pt x="30" y="82"/>
                  </a:lnTo>
                  <a:lnTo>
                    <a:pt x="25" y="68"/>
                  </a:lnTo>
                  <a:lnTo>
                    <a:pt x="21" y="55"/>
                  </a:lnTo>
                  <a:lnTo>
                    <a:pt x="26" y="46"/>
                  </a:lnTo>
                  <a:lnTo>
                    <a:pt x="19" y="25"/>
                  </a:lnTo>
                  <a:lnTo>
                    <a:pt x="11" y="3"/>
                  </a:lnTo>
                  <a:lnTo>
                    <a:pt x="24" y="0"/>
                  </a:lnTo>
                  <a:lnTo>
                    <a:pt x="37" y="0"/>
                  </a:lnTo>
                  <a:lnTo>
                    <a:pt x="51" y="1"/>
                  </a:lnTo>
                  <a:lnTo>
                    <a:pt x="65" y="1"/>
                  </a:lnTo>
                  <a:lnTo>
                    <a:pt x="78" y="2"/>
                  </a:lnTo>
                  <a:lnTo>
                    <a:pt x="84" y="19"/>
                  </a:lnTo>
                  <a:lnTo>
                    <a:pt x="91" y="36"/>
                  </a:lnTo>
                  <a:lnTo>
                    <a:pt x="102" y="39"/>
                  </a:lnTo>
                  <a:lnTo>
                    <a:pt x="121" y="36"/>
                  </a:lnTo>
                  <a:lnTo>
                    <a:pt x="125" y="20"/>
                  </a:lnTo>
                  <a:lnTo>
                    <a:pt x="140" y="21"/>
                  </a:lnTo>
                  <a:lnTo>
                    <a:pt x="140" y="25"/>
                  </a:lnTo>
                  <a:lnTo>
                    <a:pt x="161" y="28"/>
                  </a:lnTo>
                  <a:lnTo>
                    <a:pt x="162" y="49"/>
                  </a:lnTo>
                  <a:lnTo>
                    <a:pt x="162" y="69"/>
                  </a:lnTo>
                  <a:lnTo>
                    <a:pt x="167" y="87"/>
                  </a:lnTo>
                  <a:lnTo>
                    <a:pt x="168" y="94"/>
                  </a:lnTo>
                  <a:lnTo>
                    <a:pt x="181" y="92"/>
                  </a:lnTo>
                  <a:lnTo>
                    <a:pt x="193" y="90"/>
                  </a:lnTo>
                  <a:lnTo>
                    <a:pt x="193" y="108"/>
                  </a:lnTo>
                  <a:lnTo>
                    <a:pt x="193" y="1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4" name="Freeform 213"/>
            <p:cNvSpPr>
              <a:spLocks/>
            </p:cNvSpPr>
            <p:nvPr/>
          </p:nvSpPr>
          <p:spPr bwMode="auto">
            <a:xfrm>
              <a:off x="2742" y="2794"/>
              <a:ext cx="20" cy="27"/>
            </a:xfrm>
            <a:custGeom>
              <a:avLst/>
              <a:gdLst/>
              <a:ahLst/>
              <a:cxnLst>
                <a:cxn ang="0">
                  <a:pos x="2" y="24"/>
                </a:cxn>
                <a:cxn ang="0">
                  <a:pos x="0" y="10"/>
                </a:cxn>
                <a:cxn ang="0">
                  <a:pos x="11" y="0"/>
                </a:cxn>
                <a:cxn ang="0">
                  <a:pos x="17" y="3"/>
                </a:cxn>
                <a:cxn ang="0">
                  <a:pos x="9" y="9"/>
                </a:cxn>
                <a:cxn ang="0">
                  <a:pos x="8" y="23"/>
                </a:cxn>
                <a:cxn ang="0">
                  <a:pos x="2" y="24"/>
                </a:cxn>
              </a:cxnLst>
              <a:rect l="0" t="0" r="r" b="b"/>
              <a:pathLst>
                <a:path w="17" h="24">
                  <a:moveTo>
                    <a:pt x="2" y="24"/>
                  </a:moveTo>
                  <a:lnTo>
                    <a:pt x="0" y="10"/>
                  </a:lnTo>
                  <a:lnTo>
                    <a:pt x="11" y="0"/>
                  </a:lnTo>
                  <a:lnTo>
                    <a:pt x="17" y="3"/>
                  </a:lnTo>
                  <a:lnTo>
                    <a:pt x="9" y="9"/>
                  </a:lnTo>
                  <a:lnTo>
                    <a:pt x="8" y="23"/>
                  </a:lnTo>
                  <a:lnTo>
                    <a:pt x="2"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5" name="Freeform 214"/>
            <p:cNvSpPr>
              <a:spLocks/>
            </p:cNvSpPr>
            <p:nvPr/>
          </p:nvSpPr>
          <p:spPr bwMode="auto">
            <a:xfrm>
              <a:off x="2698" y="2659"/>
              <a:ext cx="33" cy="26"/>
            </a:xfrm>
            <a:custGeom>
              <a:avLst/>
              <a:gdLst/>
              <a:ahLst/>
              <a:cxnLst>
                <a:cxn ang="0">
                  <a:pos x="6" y="24"/>
                </a:cxn>
                <a:cxn ang="0">
                  <a:pos x="0" y="22"/>
                </a:cxn>
                <a:cxn ang="0">
                  <a:pos x="2" y="16"/>
                </a:cxn>
                <a:cxn ang="0">
                  <a:pos x="6" y="0"/>
                </a:cxn>
                <a:cxn ang="0">
                  <a:pos x="18" y="1"/>
                </a:cxn>
                <a:cxn ang="0">
                  <a:pos x="30" y="4"/>
                </a:cxn>
                <a:cxn ang="0">
                  <a:pos x="30" y="24"/>
                </a:cxn>
                <a:cxn ang="0">
                  <a:pos x="18" y="24"/>
                </a:cxn>
                <a:cxn ang="0">
                  <a:pos x="6" y="24"/>
                </a:cxn>
              </a:cxnLst>
              <a:rect l="0" t="0" r="r" b="b"/>
              <a:pathLst>
                <a:path w="30" h="24">
                  <a:moveTo>
                    <a:pt x="6" y="24"/>
                  </a:moveTo>
                  <a:lnTo>
                    <a:pt x="0" y="22"/>
                  </a:lnTo>
                  <a:lnTo>
                    <a:pt x="2" y="16"/>
                  </a:lnTo>
                  <a:lnTo>
                    <a:pt x="6" y="0"/>
                  </a:lnTo>
                  <a:lnTo>
                    <a:pt x="18" y="1"/>
                  </a:lnTo>
                  <a:lnTo>
                    <a:pt x="30" y="4"/>
                  </a:lnTo>
                  <a:lnTo>
                    <a:pt x="30" y="24"/>
                  </a:lnTo>
                  <a:lnTo>
                    <a:pt x="18" y="24"/>
                  </a:lnTo>
                  <a:lnTo>
                    <a:pt x="6"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6" name="Freeform 215"/>
            <p:cNvSpPr>
              <a:spLocks/>
            </p:cNvSpPr>
            <p:nvPr/>
          </p:nvSpPr>
          <p:spPr bwMode="auto">
            <a:xfrm>
              <a:off x="2680" y="2630"/>
              <a:ext cx="9" cy="11"/>
            </a:xfrm>
            <a:custGeom>
              <a:avLst/>
              <a:gdLst/>
              <a:ahLst/>
              <a:cxnLst>
                <a:cxn ang="0">
                  <a:pos x="9" y="1"/>
                </a:cxn>
                <a:cxn ang="0">
                  <a:pos x="6" y="0"/>
                </a:cxn>
                <a:cxn ang="0">
                  <a:pos x="0" y="8"/>
                </a:cxn>
                <a:cxn ang="0">
                  <a:pos x="9" y="1"/>
                </a:cxn>
              </a:cxnLst>
              <a:rect l="0" t="0" r="r" b="b"/>
              <a:pathLst>
                <a:path w="9" h="8">
                  <a:moveTo>
                    <a:pt x="9" y="1"/>
                  </a:moveTo>
                  <a:lnTo>
                    <a:pt x="6" y="0"/>
                  </a:lnTo>
                  <a:lnTo>
                    <a:pt x="0" y="8"/>
                  </a:lnTo>
                  <a:lnTo>
                    <a:pt x="9"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7" name="Freeform 216"/>
            <p:cNvSpPr>
              <a:spLocks/>
            </p:cNvSpPr>
            <p:nvPr/>
          </p:nvSpPr>
          <p:spPr bwMode="auto">
            <a:xfrm>
              <a:off x="2687" y="2663"/>
              <a:ext cx="100" cy="120"/>
            </a:xfrm>
            <a:custGeom>
              <a:avLst/>
              <a:gdLst/>
              <a:ahLst/>
              <a:cxnLst>
                <a:cxn ang="0">
                  <a:pos x="16" y="20"/>
                </a:cxn>
                <a:cxn ang="0">
                  <a:pos x="13" y="27"/>
                </a:cxn>
                <a:cxn ang="0">
                  <a:pos x="9" y="27"/>
                </a:cxn>
                <a:cxn ang="0">
                  <a:pos x="19" y="36"/>
                </a:cxn>
                <a:cxn ang="0">
                  <a:pos x="10" y="34"/>
                </a:cxn>
                <a:cxn ang="0">
                  <a:pos x="5" y="51"/>
                </a:cxn>
                <a:cxn ang="0">
                  <a:pos x="0" y="51"/>
                </a:cxn>
                <a:cxn ang="0">
                  <a:pos x="7" y="63"/>
                </a:cxn>
                <a:cxn ang="0">
                  <a:pos x="11" y="67"/>
                </a:cxn>
                <a:cxn ang="0">
                  <a:pos x="5" y="62"/>
                </a:cxn>
                <a:cxn ang="0">
                  <a:pos x="12" y="73"/>
                </a:cxn>
                <a:cxn ang="0">
                  <a:pos x="10" y="73"/>
                </a:cxn>
                <a:cxn ang="0">
                  <a:pos x="19" y="84"/>
                </a:cxn>
                <a:cxn ang="0">
                  <a:pos x="17" y="82"/>
                </a:cxn>
                <a:cxn ang="0">
                  <a:pos x="28" y="96"/>
                </a:cxn>
                <a:cxn ang="0">
                  <a:pos x="39" y="109"/>
                </a:cxn>
                <a:cxn ang="0">
                  <a:pos x="43" y="102"/>
                </a:cxn>
                <a:cxn ang="0">
                  <a:pos x="47" y="104"/>
                </a:cxn>
                <a:cxn ang="0">
                  <a:pos x="51" y="100"/>
                </a:cxn>
                <a:cxn ang="0">
                  <a:pos x="47" y="93"/>
                </a:cxn>
                <a:cxn ang="0">
                  <a:pos x="46" y="88"/>
                </a:cxn>
                <a:cxn ang="0">
                  <a:pos x="45" y="82"/>
                </a:cxn>
                <a:cxn ang="0">
                  <a:pos x="59" y="81"/>
                </a:cxn>
                <a:cxn ang="0">
                  <a:pos x="60" y="70"/>
                </a:cxn>
                <a:cxn ang="0">
                  <a:pos x="70" y="81"/>
                </a:cxn>
                <a:cxn ang="0">
                  <a:pos x="79" y="78"/>
                </a:cxn>
                <a:cxn ang="0">
                  <a:pos x="82" y="82"/>
                </a:cxn>
                <a:cxn ang="0">
                  <a:pos x="87" y="78"/>
                </a:cxn>
                <a:cxn ang="0">
                  <a:pos x="91" y="52"/>
                </a:cxn>
                <a:cxn ang="0">
                  <a:pos x="82" y="37"/>
                </a:cxn>
                <a:cxn ang="0">
                  <a:pos x="89" y="27"/>
                </a:cxn>
                <a:cxn ang="0">
                  <a:pos x="88" y="15"/>
                </a:cxn>
                <a:cxn ang="0">
                  <a:pos x="71" y="16"/>
                </a:cxn>
                <a:cxn ang="0">
                  <a:pos x="72" y="0"/>
                </a:cxn>
                <a:cxn ang="0">
                  <a:pos x="57" y="0"/>
                </a:cxn>
                <a:cxn ang="0">
                  <a:pos x="41" y="0"/>
                </a:cxn>
                <a:cxn ang="0">
                  <a:pos x="41" y="20"/>
                </a:cxn>
                <a:cxn ang="0">
                  <a:pos x="29" y="20"/>
                </a:cxn>
                <a:cxn ang="0">
                  <a:pos x="17" y="20"/>
                </a:cxn>
                <a:cxn ang="0">
                  <a:pos x="16" y="20"/>
                </a:cxn>
              </a:cxnLst>
              <a:rect l="0" t="0" r="r" b="b"/>
              <a:pathLst>
                <a:path w="91" h="109">
                  <a:moveTo>
                    <a:pt x="16" y="20"/>
                  </a:moveTo>
                  <a:lnTo>
                    <a:pt x="13" y="27"/>
                  </a:lnTo>
                  <a:lnTo>
                    <a:pt x="9" y="27"/>
                  </a:lnTo>
                  <a:lnTo>
                    <a:pt x="19" y="36"/>
                  </a:lnTo>
                  <a:lnTo>
                    <a:pt x="10" y="34"/>
                  </a:lnTo>
                  <a:lnTo>
                    <a:pt x="5" y="51"/>
                  </a:lnTo>
                  <a:lnTo>
                    <a:pt x="0" y="51"/>
                  </a:lnTo>
                  <a:lnTo>
                    <a:pt x="7" y="63"/>
                  </a:lnTo>
                  <a:lnTo>
                    <a:pt x="11" y="67"/>
                  </a:lnTo>
                  <a:lnTo>
                    <a:pt x="5" y="62"/>
                  </a:lnTo>
                  <a:lnTo>
                    <a:pt x="12" y="73"/>
                  </a:lnTo>
                  <a:lnTo>
                    <a:pt x="10" y="73"/>
                  </a:lnTo>
                  <a:lnTo>
                    <a:pt x="19" y="84"/>
                  </a:lnTo>
                  <a:lnTo>
                    <a:pt x="17" y="82"/>
                  </a:lnTo>
                  <a:lnTo>
                    <a:pt x="28" y="96"/>
                  </a:lnTo>
                  <a:lnTo>
                    <a:pt x="39" y="109"/>
                  </a:lnTo>
                  <a:lnTo>
                    <a:pt x="43" y="102"/>
                  </a:lnTo>
                  <a:lnTo>
                    <a:pt x="47" y="104"/>
                  </a:lnTo>
                  <a:lnTo>
                    <a:pt x="51" y="100"/>
                  </a:lnTo>
                  <a:lnTo>
                    <a:pt x="47" y="93"/>
                  </a:lnTo>
                  <a:lnTo>
                    <a:pt x="46" y="88"/>
                  </a:lnTo>
                  <a:lnTo>
                    <a:pt x="45" y="82"/>
                  </a:lnTo>
                  <a:lnTo>
                    <a:pt x="59" y="81"/>
                  </a:lnTo>
                  <a:lnTo>
                    <a:pt x="60" y="70"/>
                  </a:lnTo>
                  <a:lnTo>
                    <a:pt x="70" y="81"/>
                  </a:lnTo>
                  <a:lnTo>
                    <a:pt x="79" y="78"/>
                  </a:lnTo>
                  <a:lnTo>
                    <a:pt x="82" y="82"/>
                  </a:lnTo>
                  <a:lnTo>
                    <a:pt x="87" y="78"/>
                  </a:lnTo>
                  <a:lnTo>
                    <a:pt x="91" y="52"/>
                  </a:lnTo>
                  <a:lnTo>
                    <a:pt x="82" y="37"/>
                  </a:lnTo>
                  <a:lnTo>
                    <a:pt x="89" y="27"/>
                  </a:lnTo>
                  <a:lnTo>
                    <a:pt x="88" y="15"/>
                  </a:lnTo>
                  <a:lnTo>
                    <a:pt x="71" y="16"/>
                  </a:lnTo>
                  <a:lnTo>
                    <a:pt x="72" y="0"/>
                  </a:lnTo>
                  <a:lnTo>
                    <a:pt x="57" y="0"/>
                  </a:lnTo>
                  <a:lnTo>
                    <a:pt x="41" y="0"/>
                  </a:lnTo>
                  <a:lnTo>
                    <a:pt x="41" y="20"/>
                  </a:lnTo>
                  <a:lnTo>
                    <a:pt x="29" y="20"/>
                  </a:lnTo>
                  <a:lnTo>
                    <a:pt x="17" y="20"/>
                  </a:lnTo>
                  <a:lnTo>
                    <a:pt x="16" y="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8" name="Freeform 217"/>
            <p:cNvSpPr>
              <a:spLocks/>
            </p:cNvSpPr>
            <p:nvPr/>
          </p:nvSpPr>
          <p:spPr bwMode="auto">
            <a:xfrm>
              <a:off x="2647" y="2696"/>
              <a:ext cx="4" cy="9"/>
            </a:xfrm>
            <a:custGeom>
              <a:avLst/>
              <a:gdLst/>
              <a:ahLst/>
              <a:cxnLst>
                <a:cxn ang="0">
                  <a:pos x="5" y="2"/>
                </a:cxn>
                <a:cxn ang="0">
                  <a:pos x="1" y="7"/>
                </a:cxn>
                <a:cxn ang="0">
                  <a:pos x="0" y="3"/>
                </a:cxn>
                <a:cxn ang="0">
                  <a:pos x="3" y="0"/>
                </a:cxn>
                <a:cxn ang="0">
                  <a:pos x="5" y="2"/>
                </a:cxn>
              </a:cxnLst>
              <a:rect l="0" t="0" r="r" b="b"/>
              <a:pathLst>
                <a:path w="5" h="7">
                  <a:moveTo>
                    <a:pt x="5" y="2"/>
                  </a:moveTo>
                  <a:lnTo>
                    <a:pt x="1" y="7"/>
                  </a:lnTo>
                  <a:lnTo>
                    <a:pt x="0" y="3"/>
                  </a:lnTo>
                  <a:lnTo>
                    <a:pt x="3"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9" name="Freeform 218"/>
            <p:cNvSpPr>
              <a:spLocks/>
            </p:cNvSpPr>
            <p:nvPr/>
          </p:nvSpPr>
          <p:spPr bwMode="auto">
            <a:xfrm>
              <a:off x="2660" y="2672"/>
              <a:ext cx="2" cy="2"/>
            </a:xfrm>
            <a:custGeom>
              <a:avLst/>
              <a:gdLst/>
              <a:ahLst/>
              <a:cxnLst>
                <a:cxn ang="0">
                  <a:pos x="2" y="2"/>
                </a:cxn>
                <a:cxn ang="0">
                  <a:pos x="0" y="0"/>
                </a:cxn>
                <a:cxn ang="0">
                  <a:pos x="3" y="0"/>
                </a:cxn>
                <a:cxn ang="0">
                  <a:pos x="2" y="2"/>
                </a:cxn>
              </a:cxnLst>
              <a:rect l="0" t="0" r="r" b="b"/>
              <a:pathLst>
                <a:path w="3" h="2">
                  <a:moveTo>
                    <a:pt x="2" y="2"/>
                  </a:moveTo>
                  <a:lnTo>
                    <a:pt x="0" y="0"/>
                  </a:lnTo>
                  <a:lnTo>
                    <a:pt x="3" y="0"/>
                  </a:lnTo>
                  <a:lnTo>
                    <a:pt x="2"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0" name="Freeform 219"/>
            <p:cNvSpPr>
              <a:spLocks/>
            </p:cNvSpPr>
            <p:nvPr/>
          </p:nvSpPr>
          <p:spPr bwMode="auto">
            <a:xfrm>
              <a:off x="3049" y="2725"/>
              <a:ext cx="191" cy="214"/>
            </a:xfrm>
            <a:custGeom>
              <a:avLst/>
              <a:gdLst/>
              <a:ahLst/>
              <a:cxnLst>
                <a:cxn ang="0">
                  <a:pos x="131" y="42"/>
                </a:cxn>
                <a:cxn ang="0">
                  <a:pos x="129" y="36"/>
                </a:cxn>
                <a:cxn ang="0">
                  <a:pos x="115" y="26"/>
                </a:cxn>
                <a:cxn ang="0">
                  <a:pos x="101" y="18"/>
                </a:cxn>
                <a:cxn ang="0">
                  <a:pos x="86" y="8"/>
                </a:cxn>
                <a:cxn ang="0">
                  <a:pos x="71" y="0"/>
                </a:cxn>
                <a:cxn ang="0">
                  <a:pos x="57" y="0"/>
                </a:cxn>
                <a:cxn ang="0">
                  <a:pos x="44" y="0"/>
                </a:cxn>
                <a:cxn ang="0">
                  <a:pos x="30" y="1"/>
                </a:cxn>
                <a:cxn ang="0">
                  <a:pos x="17" y="1"/>
                </a:cxn>
                <a:cxn ang="0">
                  <a:pos x="23" y="23"/>
                </a:cxn>
                <a:cxn ang="0">
                  <a:pos x="18" y="25"/>
                </a:cxn>
                <a:cxn ang="0">
                  <a:pos x="18" y="34"/>
                </a:cxn>
                <a:cxn ang="0">
                  <a:pos x="21" y="40"/>
                </a:cxn>
                <a:cxn ang="0">
                  <a:pos x="12" y="50"/>
                </a:cxn>
                <a:cxn ang="0">
                  <a:pos x="3" y="62"/>
                </a:cxn>
                <a:cxn ang="0">
                  <a:pos x="0" y="62"/>
                </a:cxn>
                <a:cxn ang="0">
                  <a:pos x="0" y="76"/>
                </a:cxn>
                <a:cxn ang="0">
                  <a:pos x="1" y="89"/>
                </a:cxn>
                <a:cxn ang="0">
                  <a:pos x="6" y="103"/>
                </a:cxn>
                <a:cxn ang="0">
                  <a:pos x="13" y="116"/>
                </a:cxn>
                <a:cxn ang="0">
                  <a:pos x="20" y="128"/>
                </a:cxn>
                <a:cxn ang="0">
                  <a:pos x="20" y="132"/>
                </a:cxn>
                <a:cxn ang="0">
                  <a:pos x="37" y="142"/>
                </a:cxn>
                <a:cxn ang="0">
                  <a:pos x="54" y="151"/>
                </a:cxn>
                <a:cxn ang="0">
                  <a:pos x="69" y="154"/>
                </a:cxn>
                <a:cxn ang="0">
                  <a:pos x="75" y="157"/>
                </a:cxn>
                <a:cxn ang="0">
                  <a:pos x="80" y="175"/>
                </a:cxn>
                <a:cxn ang="0">
                  <a:pos x="85" y="190"/>
                </a:cxn>
                <a:cxn ang="0">
                  <a:pos x="91" y="190"/>
                </a:cxn>
                <a:cxn ang="0">
                  <a:pos x="101" y="188"/>
                </a:cxn>
                <a:cxn ang="0">
                  <a:pos x="119" y="192"/>
                </a:cxn>
                <a:cxn ang="0">
                  <a:pos x="131" y="187"/>
                </a:cxn>
                <a:cxn ang="0">
                  <a:pos x="139" y="186"/>
                </a:cxn>
                <a:cxn ang="0">
                  <a:pos x="155" y="179"/>
                </a:cxn>
                <a:cxn ang="0">
                  <a:pos x="171" y="170"/>
                </a:cxn>
                <a:cxn ang="0">
                  <a:pos x="161" y="160"/>
                </a:cxn>
                <a:cxn ang="0">
                  <a:pos x="158" y="142"/>
                </a:cxn>
                <a:cxn ang="0">
                  <a:pos x="156" y="128"/>
                </a:cxn>
                <a:cxn ang="0">
                  <a:pos x="155" y="122"/>
                </a:cxn>
                <a:cxn ang="0">
                  <a:pos x="158" y="106"/>
                </a:cxn>
                <a:cxn ang="0">
                  <a:pos x="147" y="90"/>
                </a:cxn>
                <a:cxn ang="0">
                  <a:pos x="155" y="66"/>
                </a:cxn>
                <a:cxn ang="0">
                  <a:pos x="143" y="54"/>
                </a:cxn>
                <a:cxn ang="0">
                  <a:pos x="131" y="42"/>
                </a:cxn>
              </a:cxnLst>
              <a:rect l="0" t="0" r="r" b="b"/>
              <a:pathLst>
                <a:path w="171" h="192">
                  <a:moveTo>
                    <a:pt x="131" y="42"/>
                  </a:moveTo>
                  <a:lnTo>
                    <a:pt x="129" y="36"/>
                  </a:lnTo>
                  <a:lnTo>
                    <a:pt x="115" y="26"/>
                  </a:lnTo>
                  <a:lnTo>
                    <a:pt x="101" y="18"/>
                  </a:lnTo>
                  <a:lnTo>
                    <a:pt x="86" y="8"/>
                  </a:lnTo>
                  <a:lnTo>
                    <a:pt x="71" y="0"/>
                  </a:lnTo>
                  <a:lnTo>
                    <a:pt x="57" y="0"/>
                  </a:lnTo>
                  <a:lnTo>
                    <a:pt x="44" y="0"/>
                  </a:lnTo>
                  <a:lnTo>
                    <a:pt x="30" y="1"/>
                  </a:lnTo>
                  <a:lnTo>
                    <a:pt x="17" y="1"/>
                  </a:lnTo>
                  <a:lnTo>
                    <a:pt x="23" y="23"/>
                  </a:lnTo>
                  <a:lnTo>
                    <a:pt x="18" y="25"/>
                  </a:lnTo>
                  <a:lnTo>
                    <a:pt x="18" y="34"/>
                  </a:lnTo>
                  <a:lnTo>
                    <a:pt x="21" y="40"/>
                  </a:lnTo>
                  <a:lnTo>
                    <a:pt x="12" y="50"/>
                  </a:lnTo>
                  <a:lnTo>
                    <a:pt x="3" y="62"/>
                  </a:lnTo>
                  <a:lnTo>
                    <a:pt x="0" y="62"/>
                  </a:lnTo>
                  <a:lnTo>
                    <a:pt x="0" y="76"/>
                  </a:lnTo>
                  <a:lnTo>
                    <a:pt x="1" y="89"/>
                  </a:lnTo>
                  <a:lnTo>
                    <a:pt x="6" y="103"/>
                  </a:lnTo>
                  <a:lnTo>
                    <a:pt x="13" y="116"/>
                  </a:lnTo>
                  <a:lnTo>
                    <a:pt x="20" y="128"/>
                  </a:lnTo>
                  <a:lnTo>
                    <a:pt x="20" y="132"/>
                  </a:lnTo>
                  <a:lnTo>
                    <a:pt x="37" y="142"/>
                  </a:lnTo>
                  <a:lnTo>
                    <a:pt x="54" y="151"/>
                  </a:lnTo>
                  <a:lnTo>
                    <a:pt x="69" y="154"/>
                  </a:lnTo>
                  <a:lnTo>
                    <a:pt x="75" y="157"/>
                  </a:lnTo>
                  <a:lnTo>
                    <a:pt x="80" y="175"/>
                  </a:lnTo>
                  <a:lnTo>
                    <a:pt x="85" y="190"/>
                  </a:lnTo>
                  <a:lnTo>
                    <a:pt x="91" y="190"/>
                  </a:lnTo>
                  <a:lnTo>
                    <a:pt x="101" y="188"/>
                  </a:lnTo>
                  <a:lnTo>
                    <a:pt x="119" y="192"/>
                  </a:lnTo>
                  <a:lnTo>
                    <a:pt x="131" y="187"/>
                  </a:lnTo>
                  <a:lnTo>
                    <a:pt x="139" y="186"/>
                  </a:lnTo>
                  <a:lnTo>
                    <a:pt x="155" y="179"/>
                  </a:lnTo>
                  <a:lnTo>
                    <a:pt x="171" y="170"/>
                  </a:lnTo>
                  <a:lnTo>
                    <a:pt x="161" y="160"/>
                  </a:lnTo>
                  <a:lnTo>
                    <a:pt x="158" y="142"/>
                  </a:lnTo>
                  <a:lnTo>
                    <a:pt x="156" y="128"/>
                  </a:lnTo>
                  <a:lnTo>
                    <a:pt x="155" y="122"/>
                  </a:lnTo>
                  <a:lnTo>
                    <a:pt x="158" y="106"/>
                  </a:lnTo>
                  <a:lnTo>
                    <a:pt x="147" y="90"/>
                  </a:lnTo>
                  <a:lnTo>
                    <a:pt x="155" y="66"/>
                  </a:lnTo>
                  <a:lnTo>
                    <a:pt x="143" y="54"/>
                  </a:lnTo>
                  <a:lnTo>
                    <a:pt x="131"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1" name="Freeform 220"/>
            <p:cNvSpPr>
              <a:spLocks/>
            </p:cNvSpPr>
            <p:nvPr/>
          </p:nvSpPr>
          <p:spPr bwMode="auto">
            <a:xfrm>
              <a:off x="3220" y="2821"/>
              <a:ext cx="7" cy="13"/>
            </a:xfrm>
            <a:custGeom>
              <a:avLst/>
              <a:gdLst/>
              <a:ahLst/>
              <a:cxnLst>
                <a:cxn ang="0">
                  <a:pos x="6" y="12"/>
                </a:cxn>
                <a:cxn ang="0">
                  <a:pos x="4" y="0"/>
                </a:cxn>
                <a:cxn ang="0">
                  <a:pos x="0" y="4"/>
                </a:cxn>
                <a:cxn ang="0">
                  <a:pos x="6" y="12"/>
                </a:cxn>
              </a:cxnLst>
              <a:rect l="0" t="0" r="r" b="b"/>
              <a:pathLst>
                <a:path w="6" h="12">
                  <a:moveTo>
                    <a:pt x="6" y="12"/>
                  </a:moveTo>
                  <a:lnTo>
                    <a:pt x="4" y="0"/>
                  </a:lnTo>
                  <a:lnTo>
                    <a:pt x="0" y="4"/>
                  </a:lnTo>
                  <a:lnTo>
                    <a:pt x="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2" name="Freeform 221"/>
            <p:cNvSpPr>
              <a:spLocks/>
            </p:cNvSpPr>
            <p:nvPr/>
          </p:nvSpPr>
          <p:spPr bwMode="auto">
            <a:xfrm>
              <a:off x="3053" y="2621"/>
              <a:ext cx="96" cy="113"/>
            </a:xfrm>
            <a:custGeom>
              <a:avLst/>
              <a:gdLst/>
              <a:ahLst/>
              <a:cxnLst>
                <a:cxn ang="0">
                  <a:pos x="77" y="15"/>
                </a:cxn>
                <a:cxn ang="0">
                  <a:pos x="70" y="0"/>
                </a:cxn>
                <a:cxn ang="0">
                  <a:pos x="63" y="9"/>
                </a:cxn>
                <a:cxn ang="0">
                  <a:pos x="45" y="9"/>
                </a:cxn>
                <a:cxn ang="0">
                  <a:pos x="37" y="11"/>
                </a:cxn>
                <a:cxn ang="0">
                  <a:pos x="34" y="9"/>
                </a:cxn>
                <a:cxn ang="0">
                  <a:pos x="22" y="10"/>
                </a:cxn>
                <a:cxn ang="0">
                  <a:pos x="21" y="14"/>
                </a:cxn>
                <a:cxn ang="0">
                  <a:pos x="19" y="29"/>
                </a:cxn>
                <a:cxn ang="0">
                  <a:pos x="28" y="38"/>
                </a:cxn>
                <a:cxn ang="0">
                  <a:pos x="17" y="48"/>
                </a:cxn>
                <a:cxn ang="0">
                  <a:pos x="7" y="60"/>
                </a:cxn>
                <a:cxn ang="0">
                  <a:pos x="4" y="81"/>
                </a:cxn>
                <a:cxn ang="0">
                  <a:pos x="0" y="101"/>
                </a:cxn>
                <a:cxn ang="0">
                  <a:pos x="5" y="101"/>
                </a:cxn>
                <a:cxn ang="0">
                  <a:pos x="15" y="95"/>
                </a:cxn>
                <a:cxn ang="0">
                  <a:pos x="28" y="95"/>
                </a:cxn>
                <a:cxn ang="0">
                  <a:pos x="42" y="94"/>
                </a:cxn>
                <a:cxn ang="0">
                  <a:pos x="55" y="94"/>
                </a:cxn>
                <a:cxn ang="0">
                  <a:pos x="69" y="94"/>
                </a:cxn>
                <a:cxn ang="0">
                  <a:pos x="69" y="75"/>
                </a:cxn>
                <a:cxn ang="0">
                  <a:pos x="79" y="57"/>
                </a:cxn>
                <a:cxn ang="0">
                  <a:pos x="87" y="42"/>
                </a:cxn>
                <a:cxn ang="0">
                  <a:pos x="82" y="28"/>
                </a:cxn>
                <a:cxn ang="0">
                  <a:pos x="77" y="15"/>
                </a:cxn>
              </a:cxnLst>
              <a:rect l="0" t="0" r="r" b="b"/>
              <a:pathLst>
                <a:path w="87" h="101">
                  <a:moveTo>
                    <a:pt x="77" y="15"/>
                  </a:moveTo>
                  <a:lnTo>
                    <a:pt x="70" y="0"/>
                  </a:lnTo>
                  <a:lnTo>
                    <a:pt x="63" y="9"/>
                  </a:lnTo>
                  <a:lnTo>
                    <a:pt x="45" y="9"/>
                  </a:lnTo>
                  <a:lnTo>
                    <a:pt x="37" y="11"/>
                  </a:lnTo>
                  <a:lnTo>
                    <a:pt x="34" y="9"/>
                  </a:lnTo>
                  <a:lnTo>
                    <a:pt x="22" y="10"/>
                  </a:lnTo>
                  <a:lnTo>
                    <a:pt x="21" y="14"/>
                  </a:lnTo>
                  <a:lnTo>
                    <a:pt x="19" y="29"/>
                  </a:lnTo>
                  <a:lnTo>
                    <a:pt x="28" y="38"/>
                  </a:lnTo>
                  <a:lnTo>
                    <a:pt x="17" y="48"/>
                  </a:lnTo>
                  <a:lnTo>
                    <a:pt x="7" y="60"/>
                  </a:lnTo>
                  <a:lnTo>
                    <a:pt x="4" y="81"/>
                  </a:lnTo>
                  <a:lnTo>
                    <a:pt x="0" y="101"/>
                  </a:lnTo>
                  <a:lnTo>
                    <a:pt x="5" y="101"/>
                  </a:lnTo>
                  <a:lnTo>
                    <a:pt x="15" y="95"/>
                  </a:lnTo>
                  <a:lnTo>
                    <a:pt x="28" y="95"/>
                  </a:lnTo>
                  <a:lnTo>
                    <a:pt x="42" y="94"/>
                  </a:lnTo>
                  <a:lnTo>
                    <a:pt x="55" y="94"/>
                  </a:lnTo>
                  <a:lnTo>
                    <a:pt x="69" y="94"/>
                  </a:lnTo>
                  <a:lnTo>
                    <a:pt x="69" y="75"/>
                  </a:lnTo>
                  <a:lnTo>
                    <a:pt x="79" y="57"/>
                  </a:lnTo>
                  <a:lnTo>
                    <a:pt x="87" y="42"/>
                  </a:lnTo>
                  <a:lnTo>
                    <a:pt x="82" y="28"/>
                  </a:lnTo>
                  <a:lnTo>
                    <a:pt x="77"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3" name="Freeform 222"/>
            <p:cNvSpPr>
              <a:spLocks/>
            </p:cNvSpPr>
            <p:nvPr/>
          </p:nvSpPr>
          <p:spPr bwMode="auto">
            <a:xfrm>
              <a:off x="2747" y="2601"/>
              <a:ext cx="335" cy="373"/>
            </a:xfrm>
            <a:custGeom>
              <a:avLst/>
              <a:gdLst/>
              <a:ahLst/>
              <a:cxnLst>
                <a:cxn ang="0">
                  <a:pos x="270" y="132"/>
                </a:cxn>
                <a:cxn ang="0">
                  <a:pos x="267" y="143"/>
                </a:cxn>
                <a:cxn ang="0">
                  <a:pos x="268" y="145"/>
                </a:cxn>
                <a:cxn ang="0">
                  <a:pos x="274" y="175"/>
                </a:cxn>
                <a:cxn ang="0">
                  <a:pos x="275" y="202"/>
                </a:cxn>
                <a:cxn ang="0">
                  <a:pos x="287" y="229"/>
                </a:cxn>
                <a:cxn ang="0">
                  <a:pos x="279" y="245"/>
                </a:cxn>
                <a:cxn ang="0">
                  <a:pos x="256" y="262"/>
                </a:cxn>
                <a:cxn ang="0">
                  <a:pos x="258" y="293"/>
                </a:cxn>
                <a:cxn ang="0">
                  <a:pos x="271" y="319"/>
                </a:cxn>
                <a:cxn ang="0">
                  <a:pos x="274" y="336"/>
                </a:cxn>
                <a:cxn ang="0">
                  <a:pos x="263" y="335"/>
                </a:cxn>
                <a:cxn ang="0">
                  <a:pos x="240" y="310"/>
                </a:cxn>
                <a:cxn ang="0">
                  <a:pos x="227" y="310"/>
                </a:cxn>
                <a:cxn ang="0">
                  <a:pos x="204" y="297"/>
                </a:cxn>
                <a:cxn ang="0">
                  <a:pos x="185" y="291"/>
                </a:cxn>
                <a:cxn ang="0">
                  <a:pos x="160" y="295"/>
                </a:cxn>
                <a:cxn ang="0">
                  <a:pos x="154" y="270"/>
                </a:cxn>
                <a:cxn ang="0">
                  <a:pos x="153" y="229"/>
                </a:cxn>
                <a:cxn ang="0">
                  <a:pos x="132" y="222"/>
                </a:cxn>
                <a:cxn ang="0">
                  <a:pos x="113" y="237"/>
                </a:cxn>
                <a:cxn ang="0">
                  <a:pos x="83" y="237"/>
                </a:cxn>
                <a:cxn ang="0">
                  <a:pos x="70" y="203"/>
                </a:cxn>
                <a:cxn ang="0">
                  <a:pos x="43" y="202"/>
                </a:cxn>
                <a:cxn ang="0">
                  <a:pos x="16" y="201"/>
                </a:cxn>
                <a:cxn ang="0">
                  <a:pos x="0" y="199"/>
                </a:cxn>
                <a:cxn ang="0">
                  <a:pos x="7" y="184"/>
                </a:cxn>
                <a:cxn ang="0">
                  <a:pos x="23" y="181"/>
                </a:cxn>
                <a:cxn ang="0">
                  <a:pos x="36" y="174"/>
                </a:cxn>
                <a:cxn ang="0">
                  <a:pos x="51" y="171"/>
                </a:cxn>
                <a:cxn ang="0">
                  <a:pos x="65" y="145"/>
                </a:cxn>
                <a:cxn ang="0">
                  <a:pos x="78" y="117"/>
                </a:cxn>
                <a:cxn ang="0">
                  <a:pos x="91" y="89"/>
                </a:cxn>
                <a:cxn ang="0">
                  <a:pos x="96" y="61"/>
                </a:cxn>
                <a:cxn ang="0">
                  <a:pos x="102" y="33"/>
                </a:cxn>
                <a:cxn ang="0">
                  <a:pos x="114" y="3"/>
                </a:cxn>
                <a:cxn ang="0">
                  <a:pos x="147" y="17"/>
                </a:cxn>
                <a:cxn ang="0">
                  <a:pos x="168" y="10"/>
                </a:cxn>
                <a:cxn ang="0">
                  <a:pos x="191" y="5"/>
                </a:cxn>
                <a:cxn ang="0">
                  <a:pos x="209" y="0"/>
                </a:cxn>
                <a:cxn ang="0">
                  <a:pos x="234" y="3"/>
                </a:cxn>
                <a:cxn ang="0">
                  <a:pos x="246" y="9"/>
                </a:cxn>
                <a:cxn ang="0">
                  <a:pos x="268" y="16"/>
                </a:cxn>
                <a:cxn ang="0">
                  <a:pos x="285" y="22"/>
                </a:cxn>
                <a:cxn ang="0">
                  <a:pos x="295" y="48"/>
                </a:cxn>
                <a:cxn ang="0">
                  <a:pos x="293" y="67"/>
                </a:cxn>
                <a:cxn ang="0">
                  <a:pos x="280" y="100"/>
                </a:cxn>
              </a:cxnLst>
              <a:rect l="0" t="0" r="r" b="b"/>
              <a:pathLst>
                <a:path w="304" h="336">
                  <a:moveTo>
                    <a:pt x="276" y="120"/>
                  </a:moveTo>
                  <a:lnTo>
                    <a:pt x="270" y="132"/>
                  </a:lnTo>
                  <a:lnTo>
                    <a:pt x="265" y="143"/>
                  </a:lnTo>
                  <a:lnTo>
                    <a:pt x="267" y="143"/>
                  </a:lnTo>
                  <a:lnTo>
                    <a:pt x="267" y="144"/>
                  </a:lnTo>
                  <a:lnTo>
                    <a:pt x="268" y="145"/>
                  </a:lnTo>
                  <a:lnTo>
                    <a:pt x="270" y="160"/>
                  </a:lnTo>
                  <a:lnTo>
                    <a:pt x="274" y="175"/>
                  </a:lnTo>
                  <a:lnTo>
                    <a:pt x="274" y="189"/>
                  </a:lnTo>
                  <a:lnTo>
                    <a:pt x="275" y="202"/>
                  </a:lnTo>
                  <a:lnTo>
                    <a:pt x="280" y="216"/>
                  </a:lnTo>
                  <a:lnTo>
                    <a:pt x="287" y="229"/>
                  </a:lnTo>
                  <a:lnTo>
                    <a:pt x="294" y="241"/>
                  </a:lnTo>
                  <a:lnTo>
                    <a:pt x="279" y="245"/>
                  </a:lnTo>
                  <a:lnTo>
                    <a:pt x="264" y="249"/>
                  </a:lnTo>
                  <a:lnTo>
                    <a:pt x="256" y="262"/>
                  </a:lnTo>
                  <a:lnTo>
                    <a:pt x="259" y="277"/>
                  </a:lnTo>
                  <a:lnTo>
                    <a:pt x="258" y="293"/>
                  </a:lnTo>
                  <a:lnTo>
                    <a:pt x="256" y="309"/>
                  </a:lnTo>
                  <a:lnTo>
                    <a:pt x="271" y="319"/>
                  </a:lnTo>
                  <a:lnTo>
                    <a:pt x="276" y="313"/>
                  </a:lnTo>
                  <a:lnTo>
                    <a:pt x="274" y="336"/>
                  </a:lnTo>
                  <a:lnTo>
                    <a:pt x="269" y="335"/>
                  </a:lnTo>
                  <a:lnTo>
                    <a:pt x="263" y="335"/>
                  </a:lnTo>
                  <a:lnTo>
                    <a:pt x="250" y="317"/>
                  </a:lnTo>
                  <a:lnTo>
                    <a:pt x="240" y="310"/>
                  </a:lnTo>
                  <a:lnTo>
                    <a:pt x="233" y="304"/>
                  </a:lnTo>
                  <a:lnTo>
                    <a:pt x="227" y="310"/>
                  </a:lnTo>
                  <a:lnTo>
                    <a:pt x="207" y="303"/>
                  </a:lnTo>
                  <a:lnTo>
                    <a:pt x="204" y="297"/>
                  </a:lnTo>
                  <a:lnTo>
                    <a:pt x="191" y="299"/>
                  </a:lnTo>
                  <a:lnTo>
                    <a:pt x="185" y="291"/>
                  </a:lnTo>
                  <a:lnTo>
                    <a:pt x="173" y="293"/>
                  </a:lnTo>
                  <a:lnTo>
                    <a:pt x="160" y="295"/>
                  </a:lnTo>
                  <a:lnTo>
                    <a:pt x="159" y="288"/>
                  </a:lnTo>
                  <a:lnTo>
                    <a:pt x="154" y="270"/>
                  </a:lnTo>
                  <a:lnTo>
                    <a:pt x="154" y="250"/>
                  </a:lnTo>
                  <a:lnTo>
                    <a:pt x="153" y="229"/>
                  </a:lnTo>
                  <a:lnTo>
                    <a:pt x="132" y="226"/>
                  </a:lnTo>
                  <a:lnTo>
                    <a:pt x="132" y="222"/>
                  </a:lnTo>
                  <a:lnTo>
                    <a:pt x="117" y="221"/>
                  </a:lnTo>
                  <a:lnTo>
                    <a:pt x="113" y="237"/>
                  </a:lnTo>
                  <a:lnTo>
                    <a:pt x="94" y="240"/>
                  </a:lnTo>
                  <a:lnTo>
                    <a:pt x="83" y="237"/>
                  </a:lnTo>
                  <a:lnTo>
                    <a:pt x="76" y="220"/>
                  </a:lnTo>
                  <a:lnTo>
                    <a:pt x="70" y="203"/>
                  </a:lnTo>
                  <a:lnTo>
                    <a:pt x="57" y="202"/>
                  </a:lnTo>
                  <a:lnTo>
                    <a:pt x="43" y="202"/>
                  </a:lnTo>
                  <a:lnTo>
                    <a:pt x="29" y="201"/>
                  </a:lnTo>
                  <a:lnTo>
                    <a:pt x="16" y="201"/>
                  </a:lnTo>
                  <a:lnTo>
                    <a:pt x="3" y="202"/>
                  </a:lnTo>
                  <a:lnTo>
                    <a:pt x="0" y="199"/>
                  </a:lnTo>
                  <a:lnTo>
                    <a:pt x="6" y="198"/>
                  </a:lnTo>
                  <a:lnTo>
                    <a:pt x="7" y="184"/>
                  </a:lnTo>
                  <a:lnTo>
                    <a:pt x="15" y="178"/>
                  </a:lnTo>
                  <a:lnTo>
                    <a:pt x="23" y="181"/>
                  </a:lnTo>
                  <a:lnTo>
                    <a:pt x="27" y="175"/>
                  </a:lnTo>
                  <a:lnTo>
                    <a:pt x="36" y="174"/>
                  </a:lnTo>
                  <a:lnTo>
                    <a:pt x="39" y="183"/>
                  </a:lnTo>
                  <a:lnTo>
                    <a:pt x="51" y="171"/>
                  </a:lnTo>
                  <a:lnTo>
                    <a:pt x="63" y="159"/>
                  </a:lnTo>
                  <a:lnTo>
                    <a:pt x="65" y="145"/>
                  </a:lnTo>
                  <a:lnTo>
                    <a:pt x="66" y="131"/>
                  </a:lnTo>
                  <a:lnTo>
                    <a:pt x="78" y="117"/>
                  </a:lnTo>
                  <a:lnTo>
                    <a:pt x="89" y="102"/>
                  </a:lnTo>
                  <a:lnTo>
                    <a:pt x="91" y="89"/>
                  </a:lnTo>
                  <a:lnTo>
                    <a:pt x="94" y="75"/>
                  </a:lnTo>
                  <a:lnTo>
                    <a:pt x="96" y="61"/>
                  </a:lnTo>
                  <a:lnTo>
                    <a:pt x="99" y="48"/>
                  </a:lnTo>
                  <a:lnTo>
                    <a:pt x="102" y="33"/>
                  </a:lnTo>
                  <a:lnTo>
                    <a:pt x="102" y="19"/>
                  </a:lnTo>
                  <a:lnTo>
                    <a:pt x="114" y="3"/>
                  </a:lnTo>
                  <a:lnTo>
                    <a:pt x="131" y="12"/>
                  </a:lnTo>
                  <a:lnTo>
                    <a:pt x="147" y="17"/>
                  </a:lnTo>
                  <a:lnTo>
                    <a:pt x="161" y="21"/>
                  </a:lnTo>
                  <a:lnTo>
                    <a:pt x="168" y="10"/>
                  </a:lnTo>
                  <a:lnTo>
                    <a:pt x="175" y="11"/>
                  </a:lnTo>
                  <a:lnTo>
                    <a:pt x="191" y="5"/>
                  </a:lnTo>
                  <a:lnTo>
                    <a:pt x="203" y="5"/>
                  </a:lnTo>
                  <a:lnTo>
                    <a:pt x="209" y="0"/>
                  </a:lnTo>
                  <a:lnTo>
                    <a:pt x="221" y="1"/>
                  </a:lnTo>
                  <a:lnTo>
                    <a:pt x="234" y="3"/>
                  </a:lnTo>
                  <a:lnTo>
                    <a:pt x="243" y="5"/>
                  </a:lnTo>
                  <a:lnTo>
                    <a:pt x="246" y="9"/>
                  </a:lnTo>
                  <a:lnTo>
                    <a:pt x="258" y="17"/>
                  </a:lnTo>
                  <a:lnTo>
                    <a:pt x="268" y="16"/>
                  </a:lnTo>
                  <a:lnTo>
                    <a:pt x="274" y="11"/>
                  </a:lnTo>
                  <a:lnTo>
                    <a:pt x="285" y="22"/>
                  </a:lnTo>
                  <a:lnTo>
                    <a:pt x="297" y="33"/>
                  </a:lnTo>
                  <a:lnTo>
                    <a:pt x="295" y="48"/>
                  </a:lnTo>
                  <a:lnTo>
                    <a:pt x="304" y="57"/>
                  </a:lnTo>
                  <a:lnTo>
                    <a:pt x="293" y="67"/>
                  </a:lnTo>
                  <a:lnTo>
                    <a:pt x="283" y="79"/>
                  </a:lnTo>
                  <a:lnTo>
                    <a:pt x="280" y="100"/>
                  </a:lnTo>
                  <a:lnTo>
                    <a:pt x="276" y="1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4" name="Freeform 223"/>
            <p:cNvSpPr>
              <a:spLocks/>
            </p:cNvSpPr>
            <p:nvPr/>
          </p:nvSpPr>
          <p:spPr bwMode="auto">
            <a:xfrm>
              <a:off x="2916" y="2867"/>
              <a:ext cx="206" cy="200"/>
            </a:xfrm>
            <a:custGeom>
              <a:avLst/>
              <a:gdLst/>
              <a:ahLst/>
              <a:cxnLst>
                <a:cxn ang="0">
                  <a:pos x="32" y="87"/>
                </a:cxn>
                <a:cxn ang="0">
                  <a:pos x="16" y="87"/>
                </a:cxn>
                <a:cxn ang="0">
                  <a:pos x="1" y="88"/>
                </a:cxn>
                <a:cxn ang="0">
                  <a:pos x="0" y="101"/>
                </a:cxn>
                <a:cxn ang="0">
                  <a:pos x="0" y="116"/>
                </a:cxn>
                <a:cxn ang="0">
                  <a:pos x="0" y="130"/>
                </a:cxn>
                <a:cxn ang="0">
                  <a:pos x="0" y="144"/>
                </a:cxn>
                <a:cxn ang="0">
                  <a:pos x="10" y="158"/>
                </a:cxn>
                <a:cxn ang="0">
                  <a:pos x="21" y="171"/>
                </a:cxn>
                <a:cxn ang="0">
                  <a:pos x="32" y="168"/>
                </a:cxn>
                <a:cxn ang="0">
                  <a:pos x="49" y="173"/>
                </a:cxn>
                <a:cxn ang="0">
                  <a:pos x="72" y="179"/>
                </a:cxn>
                <a:cxn ang="0">
                  <a:pos x="86" y="165"/>
                </a:cxn>
                <a:cxn ang="0">
                  <a:pos x="103" y="152"/>
                </a:cxn>
                <a:cxn ang="0">
                  <a:pos x="108" y="141"/>
                </a:cxn>
                <a:cxn ang="0">
                  <a:pos x="120" y="137"/>
                </a:cxn>
                <a:cxn ang="0">
                  <a:pos x="132" y="135"/>
                </a:cxn>
                <a:cxn ang="0">
                  <a:pos x="129" y="125"/>
                </a:cxn>
                <a:cxn ang="0">
                  <a:pos x="141" y="120"/>
                </a:cxn>
                <a:cxn ang="0">
                  <a:pos x="152" y="116"/>
                </a:cxn>
                <a:cxn ang="0">
                  <a:pos x="164" y="111"/>
                </a:cxn>
                <a:cxn ang="0">
                  <a:pos x="176" y="106"/>
                </a:cxn>
                <a:cxn ang="0">
                  <a:pos x="169" y="98"/>
                </a:cxn>
                <a:cxn ang="0">
                  <a:pos x="177" y="81"/>
                </a:cxn>
                <a:cxn ang="0">
                  <a:pos x="180" y="76"/>
                </a:cxn>
                <a:cxn ang="0">
                  <a:pos x="181" y="62"/>
                </a:cxn>
                <a:cxn ang="0">
                  <a:pos x="182" y="48"/>
                </a:cxn>
                <a:cxn ang="0">
                  <a:pos x="186" y="41"/>
                </a:cxn>
                <a:cxn ang="0">
                  <a:pos x="176" y="27"/>
                </a:cxn>
                <a:cxn ang="0">
                  <a:pos x="175" y="23"/>
                </a:cxn>
                <a:cxn ang="0">
                  <a:pos x="158" y="14"/>
                </a:cxn>
                <a:cxn ang="0">
                  <a:pos x="141" y="4"/>
                </a:cxn>
                <a:cxn ang="0">
                  <a:pos x="141" y="0"/>
                </a:cxn>
                <a:cxn ang="0">
                  <a:pos x="126" y="4"/>
                </a:cxn>
                <a:cxn ang="0">
                  <a:pos x="111" y="8"/>
                </a:cxn>
                <a:cxn ang="0">
                  <a:pos x="103" y="21"/>
                </a:cxn>
                <a:cxn ang="0">
                  <a:pos x="106" y="36"/>
                </a:cxn>
                <a:cxn ang="0">
                  <a:pos x="105" y="52"/>
                </a:cxn>
                <a:cxn ang="0">
                  <a:pos x="103" y="68"/>
                </a:cxn>
                <a:cxn ang="0">
                  <a:pos x="118" y="78"/>
                </a:cxn>
                <a:cxn ang="0">
                  <a:pos x="123" y="72"/>
                </a:cxn>
                <a:cxn ang="0">
                  <a:pos x="121" y="95"/>
                </a:cxn>
                <a:cxn ang="0">
                  <a:pos x="116" y="94"/>
                </a:cxn>
                <a:cxn ang="0">
                  <a:pos x="110" y="94"/>
                </a:cxn>
                <a:cxn ang="0">
                  <a:pos x="97" y="76"/>
                </a:cxn>
                <a:cxn ang="0">
                  <a:pos x="87" y="69"/>
                </a:cxn>
                <a:cxn ang="0">
                  <a:pos x="80" y="63"/>
                </a:cxn>
                <a:cxn ang="0">
                  <a:pos x="74" y="69"/>
                </a:cxn>
                <a:cxn ang="0">
                  <a:pos x="54" y="62"/>
                </a:cxn>
                <a:cxn ang="0">
                  <a:pos x="51" y="56"/>
                </a:cxn>
                <a:cxn ang="0">
                  <a:pos x="38" y="58"/>
                </a:cxn>
                <a:cxn ang="0">
                  <a:pos x="32" y="50"/>
                </a:cxn>
                <a:cxn ang="0">
                  <a:pos x="32" y="68"/>
                </a:cxn>
                <a:cxn ang="0">
                  <a:pos x="32" y="87"/>
                </a:cxn>
              </a:cxnLst>
              <a:rect l="0" t="0" r="r" b="b"/>
              <a:pathLst>
                <a:path w="186" h="179">
                  <a:moveTo>
                    <a:pt x="32" y="87"/>
                  </a:moveTo>
                  <a:lnTo>
                    <a:pt x="16" y="87"/>
                  </a:lnTo>
                  <a:lnTo>
                    <a:pt x="1" y="88"/>
                  </a:lnTo>
                  <a:lnTo>
                    <a:pt x="0" y="101"/>
                  </a:lnTo>
                  <a:lnTo>
                    <a:pt x="0" y="116"/>
                  </a:lnTo>
                  <a:lnTo>
                    <a:pt x="0" y="130"/>
                  </a:lnTo>
                  <a:lnTo>
                    <a:pt x="0" y="144"/>
                  </a:lnTo>
                  <a:lnTo>
                    <a:pt x="10" y="158"/>
                  </a:lnTo>
                  <a:lnTo>
                    <a:pt x="21" y="171"/>
                  </a:lnTo>
                  <a:lnTo>
                    <a:pt x="32" y="168"/>
                  </a:lnTo>
                  <a:lnTo>
                    <a:pt x="49" y="173"/>
                  </a:lnTo>
                  <a:lnTo>
                    <a:pt x="72" y="179"/>
                  </a:lnTo>
                  <a:lnTo>
                    <a:pt x="86" y="165"/>
                  </a:lnTo>
                  <a:lnTo>
                    <a:pt x="103" y="152"/>
                  </a:lnTo>
                  <a:lnTo>
                    <a:pt x="108" y="141"/>
                  </a:lnTo>
                  <a:lnTo>
                    <a:pt x="120" y="137"/>
                  </a:lnTo>
                  <a:lnTo>
                    <a:pt x="132" y="135"/>
                  </a:lnTo>
                  <a:lnTo>
                    <a:pt x="129" y="125"/>
                  </a:lnTo>
                  <a:lnTo>
                    <a:pt x="141" y="120"/>
                  </a:lnTo>
                  <a:lnTo>
                    <a:pt x="152" y="116"/>
                  </a:lnTo>
                  <a:lnTo>
                    <a:pt x="164" y="111"/>
                  </a:lnTo>
                  <a:lnTo>
                    <a:pt x="176" y="106"/>
                  </a:lnTo>
                  <a:lnTo>
                    <a:pt x="169" y="98"/>
                  </a:lnTo>
                  <a:lnTo>
                    <a:pt x="177" y="81"/>
                  </a:lnTo>
                  <a:lnTo>
                    <a:pt x="180" y="76"/>
                  </a:lnTo>
                  <a:lnTo>
                    <a:pt x="181" y="62"/>
                  </a:lnTo>
                  <a:lnTo>
                    <a:pt x="182" y="48"/>
                  </a:lnTo>
                  <a:lnTo>
                    <a:pt x="186" y="41"/>
                  </a:lnTo>
                  <a:lnTo>
                    <a:pt x="176" y="27"/>
                  </a:lnTo>
                  <a:lnTo>
                    <a:pt x="175" y="23"/>
                  </a:lnTo>
                  <a:lnTo>
                    <a:pt x="158" y="14"/>
                  </a:lnTo>
                  <a:lnTo>
                    <a:pt x="141" y="4"/>
                  </a:lnTo>
                  <a:lnTo>
                    <a:pt x="141" y="0"/>
                  </a:lnTo>
                  <a:lnTo>
                    <a:pt x="126" y="4"/>
                  </a:lnTo>
                  <a:lnTo>
                    <a:pt x="111" y="8"/>
                  </a:lnTo>
                  <a:lnTo>
                    <a:pt x="103" y="21"/>
                  </a:lnTo>
                  <a:lnTo>
                    <a:pt x="106" y="36"/>
                  </a:lnTo>
                  <a:lnTo>
                    <a:pt x="105" y="52"/>
                  </a:lnTo>
                  <a:lnTo>
                    <a:pt x="103" y="68"/>
                  </a:lnTo>
                  <a:lnTo>
                    <a:pt x="118" y="78"/>
                  </a:lnTo>
                  <a:lnTo>
                    <a:pt x="123" y="72"/>
                  </a:lnTo>
                  <a:lnTo>
                    <a:pt x="121" y="95"/>
                  </a:lnTo>
                  <a:lnTo>
                    <a:pt x="116" y="94"/>
                  </a:lnTo>
                  <a:lnTo>
                    <a:pt x="110" y="94"/>
                  </a:lnTo>
                  <a:lnTo>
                    <a:pt x="97" y="76"/>
                  </a:lnTo>
                  <a:lnTo>
                    <a:pt x="87" y="69"/>
                  </a:lnTo>
                  <a:lnTo>
                    <a:pt x="80" y="63"/>
                  </a:lnTo>
                  <a:lnTo>
                    <a:pt x="74" y="69"/>
                  </a:lnTo>
                  <a:lnTo>
                    <a:pt x="54" y="62"/>
                  </a:lnTo>
                  <a:lnTo>
                    <a:pt x="51" y="56"/>
                  </a:lnTo>
                  <a:lnTo>
                    <a:pt x="38" y="58"/>
                  </a:lnTo>
                  <a:lnTo>
                    <a:pt x="32" y="50"/>
                  </a:lnTo>
                  <a:lnTo>
                    <a:pt x="32" y="68"/>
                  </a:lnTo>
                  <a:lnTo>
                    <a:pt x="32"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5" name="Freeform 224"/>
            <p:cNvSpPr>
              <a:spLocks/>
            </p:cNvSpPr>
            <p:nvPr/>
          </p:nvSpPr>
          <p:spPr bwMode="auto">
            <a:xfrm>
              <a:off x="2969" y="3016"/>
              <a:ext cx="135" cy="138"/>
            </a:xfrm>
            <a:custGeom>
              <a:avLst/>
              <a:gdLst/>
              <a:ahLst/>
              <a:cxnLst>
                <a:cxn ang="0">
                  <a:pos x="60" y="116"/>
                </a:cxn>
                <a:cxn ang="0">
                  <a:pos x="56" y="113"/>
                </a:cxn>
                <a:cxn ang="0">
                  <a:pos x="42" y="107"/>
                </a:cxn>
                <a:cxn ang="0">
                  <a:pos x="37" y="92"/>
                </a:cxn>
                <a:cxn ang="0">
                  <a:pos x="33" y="86"/>
                </a:cxn>
                <a:cxn ang="0">
                  <a:pos x="30" y="83"/>
                </a:cxn>
                <a:cxn ang="0">
                  <a:pos x="19" y="74"/>
                </a:cxn>
                <a:cxn ang="0">
                  <a:pos x="9" y="56"/>
                </a:cxn>
                <a:cxn ang="0">
                  <a:pos x="0" y="38"/>
                </a:cxn>
                <a:cxn ang="0">
                  <a:pos x="23" y="44"/>
                </a:cxn>
                <a:cxn ang="0">
                  <a:pos x="37" y="30"/>
                </a:cxn>
                <a:cxn ang="0">
                  <a:pos x="54" y="17"/>
                </a:cxn>
                <a:cxn ang="0">
                  <a:pos x="59" y="6"/>
                </a:cxn>
                <a:cxn ang="0">
                  <a:pos x="71" y="2"/>
                </a:cxn>
                <a:cxn ang="0">
                  <a:pos x="83" y="0"/>
                </a:cxn>
                <a:cxn ang="0">
                  <a:pos x="83" y="7"/>
                </a:cxn>
                <a:cxn ang="0">
                  <a:pos x="90" y="6"/>
                </a:cxn>
                <a:cxn ang="0">
                  <a:pos x="105" y="13"/>
                </a:cxn>
                <a:cxn ang="0">
                  <a:pos x="121" y="19"/>
                </a:cxn>
                <a:cxn ang="0">
                  <a:pos x="121" y="41"/>
                </a:cxn>
                <a:cxn ang="0">
                  <a:pos x="117" y="56"/>
                </a:cxn>
                <a:cxn ang="0">
                  <a:pos x="120" y="73"/>
                </a:cxn>
                <a:cxn ang="0">
                  <a:pos x="114" y="89"/>
                </a:cxn>
                <a:cxn ang="0">
                  <a:pos x="110" y="103"/>
                </a:cxn>
                <a:cxn ang="0">
                  <a:pos x="101" y="113"/>
                </a:cxn>
                <a:cxn ang="0">
                  <a:pos x="91" y="122"/>
                </a:cxn>
                <a:cxn ang="0">
                  <a:pos x="75" y="120"/>
                </a:cxn>
                <a:cxn ang="0">
                  <a:pos x="61" y="117"/>
                </a:cxn>
                <a:cxn ang="0">
                  <a:pos x="60" y="116"/>
                </a:cxn>
              </a:cxnLst>
              <a:rect l="0" t="0" r="r" b="b"/>
              <a:pathLst>
                <a:path w="121" h="122">
                  <a:moveTo>
                    <a:pt x="60" y="116"/>
                  </a:moveTo>
                  <a:lnTo>
                    <a:pt x="56" y="113"/>
                  </a:lnTo>
                  <a:lnTo>
                    <a:pt x="42" y="107"/>
                  </a:lnTo>
                  <a:lnTo>
                    <a:pt x="37" y="92"/>
                  </a:lnTo>
                  <a:lnTo>
                    <a:pt x="33" y="86"/>
                  </a:lnTo>
                  <a:lnTo>
                    <a:pt x="30" y="83"/>
                  </a:lnTo>
                  <a:lnTo>
                    <a:pt x="19" y="74"/>
                  </a:lnTo>
                  <a:lnTo>
                    <a:pt x="9" y="56"/>
                  </a:lnTo>
                  <a:lnTo>
                    <a:pt x="0" y="38"/>
                  </a:lnTo>
                  <a:lnTo>
                    <a:pt x="23" y="44"/>
                  </a:lnTo>
                  <a:lnTo>
                    <a:pt x="37" y="30"/>
                  </a:lnTo>
                  <a:lnTo>
                    <a:pt x="54" y="17"/>
                  </a:lnTo>
                  <a:lnTo>
                    <a:pt x="59" y="6"/>
                  </a:lnTo>
                  <a:lnTo>
                    <a:pt x="71" y="2"/>
                  </a:lnTo>
                  <a:lnTo>
                    <a:pt x="83" y="0"/>
                  </a:lnTo>
                  <a:lnTo>
                    <a:pt x="83" y="7"/>
                  </a:lnTo>
                  <a:lnTo>
                    <a:pt x="90" y="6"/>
                  </a:lnTo>
                  <a:lnTo>
                    <a:pt x="105" y="13"/>
                  </a:lnTo>
                  <a:lnTo>
                    <a:pt x="121" y="19"/>
                  </a:lnTo>
                  <a:lnTo>
                    <a:pt x="121" y="41"/>
                  </a:lnTo>
                  <a:lnTo>
                    <a:pt x="117" y="56"/>
                  </a:lnTo>
                  <a:lnTo>
                    <a:pt x="120" y="73"/>
                  </a:lnTo>
                  <a:lnTo>
                    <a:pt x="114" y="89"/>
                  </a:lnTo>
                  <a:lnTo>
                    <a:pt x="110" y="103"/>
                  </a:lnTo>
                  <a:lnTo>
                    <a:pt x="101" y="113"/>
                  </a:lnTo>
                  <a:lnTo>
                    <a:pt x="91" y="122"/>
                  </a:lnTo>
                  <a:lnTo>
                    <a:pt x="75" y="120"/>
                  </a:lnTo>
                  <a:lnTo>
                    <a:pt x="61" y="117"/>
                  </a:lnTo>
                  <a:lnTo>
                    <a:pt x="60" y="1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6" name="Freeform 225"/>
            <p:cNvSpPr>
              <a:spLocks/>
            </p:cNvSpPr>
            <p:nvPr/>
          </p:nvSpPr>
          <p:spPr bwMode="auto">
            <a:xfrm>
              <a:off x="920" y="2705"/>
              <a:ext cx="9" cy="18"/>
            </a:xfrm>
            <a:custGeom>
              <a:avLst/>
              <a:gdLst/>
              <a:ahLst/>
              <a:cxnLst>
                <a:cxn ang="0">
                  <a:pos x="0" y="0"/>
                </a:cxn>
                <a:cxn ang="0">
                  <a:pos x="5" y="10"/>
                </a:cxn>
                <a:cxn ang="0">
                  <a:pos x="0" y="16"/>
                </a:cxn>
                <a:cxn ang="0">
                  <a:pos x="10" y="17"/>
                </a:cxn>
                <a:cxn ang="0">
                  <a:pos x="4" y="0"/>
                </a:cxn>
                <a:cxn ang="0">
                  <a:pos x="0" y="0"/>
                </a:cxn>
              </a:cxnLst>
              <a:rect l="0" t="0" r="r" b="b"/>
              <a:pathLst>
                <a:path w="10" h="17">
                  <a:moveTo>
                    <a:pt x="0" y="0"/>
                  </a:moveTo>
                  <a:lnTo>
                    <a:pt x="5" y="10"/>
                  </a:lnTo>
                  <a:lnTo>
                    <a:pt x="0" y="16"/>
                  </a:lnTo>
                  <a:lnTo>
                    <a:pt x="10" y="17"/>
                  </a:lnTo>
                  <a:lnTo>
                    <a:pt x="4" y="0"/>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7" name="Freeform 226"/>
            <p:cNvSpPr>
              <a:spLocks/>
            </p:cNvSpPr>
            <p:nvPr/>
          </p:nvSpPr>
          <p:spPr bwMode="auto">
            <a:xfrm>
              <a:off x="936" y="2716"/>
              <a:ext cx="7" cy="3"/>
            </a:xfrm>
            <a:custGeom>
              <a:avLst/>
              <a:gdLst/>
              <a:ahLst/>
              <a:cxnLst>
                <a:cxn ang="0">
                  <a:pos x="6" y="1"/>
                </a:cxn>
                <a:cxn ang="0">
                  <a:pos x="4" y="1"/>
                </a:cxn>
                <a:cxn ang="0">
                  <a:pos x="0" y="0"/>
                </a:cxn>
                <a:cxn ang="0">
                  <a:pos x="6" y="1"/>
                </a:cxn>
              </a:cxnLst>
              <a:rect l="0" t="0" r="r" b="b"/>
              <a:pathLst>
                <a:path w="6" h="1">
                  <a:moveTo>
                    <a:pt x="6" y="1"/>
                  </a:moveTo>
                  <a:lnTo>
                    <a:pt x="4" y="1"/>
                  </a:lnTo>
                  <a:lnTo>
                    <a:pt x="0" y="0"/>
                  </a:lnTo>
                  <a:lnTo>
                    <a:pt x="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8" name="Freeform 227"/>
            <p:cNvSpPr>
              <a:spLocks/>
            </p:cNvSpPr>
            <p:nvPr/>
          </p:nvSpPr>
          <p:spPr bwMode="auto">
            <a:xfrm>
              <a:off x="1134" y="2516"/>
              <a:ext cx="40" cy="45"/>
            </a:xfrm>
            <a:custGeom>
              <a:avLst/>
              <a:gdLst/>
              <a:ahLst/>
              <a:cxnLst>
                <a:cxn ang="0">
                  <a:pos x="21" y="22"/>
                </a:cxn>
                <a:cxn ang="0">
                  <a:pos x="27" y="22"/>
                </a:cxn>
                <a:cxn ang="0">
                  <a:pos x="25" y="19"/>
                </a:cxn>
                <a:cxn ang="0">
                  <a:pos x="21" y="18"/>
                </a:cxn>
                <a:cxn ang="0">
                  <a:pos x="16" y="13"/>
                </a:cxn>
                <a:cxn ang="0">
                  <a:pos x="5" y="8"/>
                </a:cxn>
                <a:cxn ang="0">
                  <a:pos x="0" y="4"/>
                </a:cxn>
                <a:cxn ang="0">
                  <a:pos x="0" y="0"/>
                </a:cxn>
                <a:cxn ang="0">
                  <a:pos x="15" y="1"/>
                </a:cxn>
                <a:cxn ang="0">
                  <a:pos x="25" y="8"/>
                </a:cxn>
                <a:cxn ang="0">
                  <a:pos x="36" y="14"/>
                </a:cxn>
                <a:cxn ang="0">
                  <a:pos x="36" y="28"/>
                </a:cxn>
                <a:cxn ang="0">
                  <a:pos x="30" y="33"/>
                </a:cxn>
                <a:cxn ang="0">
                  <a:pos x="27" y="40"/>
                </a:cxn>
                <a:cxn ang="0">
                  <a:pos x="23" y="34"/>
                </a:cxn>
                <a:cxn ang="0">
                  <a:pos x="21" y="22"/>
                </a:cxn>
              </a:cxnLst>
              <a:rect l="0" t="0" r="r" b="b"/>
              <a:pathLst>
                <a:path w="36" h="40">
                  <a:moveTo>
                    <a:pt x="21" y="22"/>
                  </a:moveTo>
                  <a:lnTo>
                    <a:pt x="27" y="22"/>
                  </a:lnTo>
                  <a:lnTo>
                    <a:pt x="25" y="19"/>
                  </a:lnTo>
                  <a:lnTo>
                    <a:pt x="21" y="18"/>
                  </a:lnTo>
                  <a:lnTo>
                    <a:pt x="16" y="13"/>
                  </a:lnTo>
                  <a:lnTo>
                    <a:pt x="5" y="8"/>
                  </a:lnTo>
                  <a:lnTo>
                    <a:pt x="0" y="4"/>
                  </a:lnTo>
                  <a:lnTo>
                    <a:pt x="0" y="0"/>
                  </a:lnTo>
                  <a:lnTo>
                    <a:pt x="15" y="1"/>
                  </a:lnTo>
                  <a:lnTo>
                    <a:pt x="25" y="8"/>
                  </a:lnTo>
                  <a:lnTo>
                    <a:pt x="36" y="14"/>
                  </a:lnTo>
                  <a:lnTo>
                    <a:pt x="36" y="28"/>
                  </a:lnTo>
                  <a:lnTo>
                    <a:pt x="30" y="33"/>
                  </a:lnTo>
                  <a:lnTo>
                    <a:pt x="27" y="40"/>
                  </a:lnTo>
                  <a:lnTo>
                    <a:pt x="23" y="34"/>
                  </a:lnTo>
                  <a:lnTo>
                    <a:pt x="21" y="2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9" name="Freeform 228"/>
            <p:cNvSpPr>
              <a:spLocks/>
            </p:cNvSpPr>
            <p:nvPr/>
          </p:nvSpPr>
          <p:spPr bwMode="auto">
            <a:xfrm>
              <a:off x="1569" y="2590"/>
              <a:ext cx="53" cy="73"/>
            </a:xfrm>
            <a:custGeom>
              <a:avLst/>
              <a:gdLst/>
              <a:ahLst/>
              <a:cxnLst>
                <a:cxn ang="0">
                  <a:pos x="36" y="18"/>
                </a:cxn>
                <a:cxn ang="0">
                  <a:pos x="21" y="3"/>
                </a:cxn>
                <a:cxn ang="0">
                  <a:pos x="11" y="0"/>
                </a:cxn>
                <a:cxn ang="0">
                  <a:pos x="7" y="7"/>
                </a:cxn>
                <a:cxn ang="0">
                  <a:pos x="2" y="21"/>
                </a:cxn>
                <a:cxn ang="0">
                  <a:pos x="8" y="44"/>
                </a:cxn>
                <a:cxn ang="0">
                  <a:pos x="0" y="61"/>
                </a:cxn>
                <a:cxn ang="0">
                  <a:pos x="9" y="63"/>
                </a:cxn>
                <a:cxn ang="0">
                  <a:pos x="25" y="65"/>
                </a:cxn>
                <a:cxn ang="0">
                  <a:pos x="36" y="48"/>
                </a:cxn>
                <a:cxn ang="0">
                  <a:pos x="47" y="31"/>
                </a:cxn>
                <a:cxn ang="0">
                  <a:pos x="42" y="20"/>
                </a:cxn>
                <a:cxn ang="0">
                  <a:pos x="42" y="24"/>
                </a:cxn>
                <a:cxn ang="0">
                  <a:pos x="36" y="18"/>
                </a:cxn>
              </a:cxnLst>
              <a:rect l="0" t="0" r="r" b="b"/>
              <a:pathLst>
                <a:path w="47" h="65">
                  <a:moveTo>
                    <a:pt x="36" y="18"/>
                  </a:moveTo>
                  <a:lnTo>
                    <a:pt x="21" y="3"/>
                  </a:lnTo>
                  <a:lnTo>
                    <a:pt x="11" y="0"/>
                  </a:lnTo>
                  <a:lnTo>
                    <a:pt x="7" y="7"/>
                  </a:lnTo>
                  <a:lnTo>
                    <a:pt x="2" y="21"/>
                  </a:lnTo>
                  <a:lnTo>
                    <a:pt x="8" y="44"/>
                  </a:lnTo>
                  <a:lnTo>
                    <a:pt x="0" y="61"/>
                  </a:lnTo>
                  <a:lnTo>
                    <a:pt x="9" y="63"/>
                  </a:lnTo>
                  <a:lnTo>
                    <a:pt x="25" y="65"/>
                  </a:lnTo>
                  <a:lnTo>
                    <a:pt x="36" y="48"/>
                  </a:lnTo>
                  <a:lnTo>
                    <a:pt x="47" y="31"/>
                  </a:lnTo>
                  <a:lnTo>
                    <a:pt x="42" y="20"/>
                  </a:lnTo>
                  <a:lnTo>
                    <a:pt x="42" y="24"/>
                  </a:lnTo>
                  <a:lnTo>
                    <a:pt x="36"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0" name="Freeform 229"/>
            <p:cNvSpPr>
              <a:spLocks/>
            </p:cNvSpPr>
            <p:nvPr/>
          </p:nvSpPr>
          <p:spPr bwMode="auto">
            <a:xfrm>
              <a:off x="1140" y="2459"/>
              <a:ext cx="214" cy="331"/>
            </a:xfrm>
            <a:custGeom>
              <a:avLst/>
              <a:gdLst/>
              <a:ahLst/>
              <a:cxnLst>
                <a:cxn ang="0">
                  <a:pos x="76" y="28"/>
                </a:cxn>
                <a:cxn ang="0">
                  <a:pos x="69" y="25"/>
                </a:cxn>
                <a:cxn ang="0">
                  <a:pos x="56" y="53"/>
                </a:cxn>
                <a:cxn ang="0">
                  <a:pos x="35" y="79"/>
                </a:cxn>
                <a:cxn ang="0">
                  <a:pos x="29" y="66"/>
                </a:cxn>
                <a:cxn ang="0">
                  <a:pos x="23" y="85"/>
                </a:cxn>
                <a:cxn ang="0">
                  <a:pos x="24" y="100"/>
                </a:cxn>
                <a:cxn ang="0">
                  <a:pos x="24" y="124"/>
                </a:cxn>
                <a:cxn ang="0">
                  <a:pos x="27" y="150"/>
                </a:cxn>
                <a:cxn ang="0">
                  <a:pos x="18" y="173"/>
                </a:cxn>
                <a:cxn ang="0">
                  <a:pos x="5" y="187"/>
                </a:cxn>
                <a:cxn ang="0">
                  <a:pos x="2" y="197"/>
                </a:cxn>
                <a:cxn ang="0">
                  <a:pos x="24" y="215"/>
                </a:cxn>
                <a:cxn ang="0">
                  <a:pos x="58" y="224"/>
                </a:cxn>
                <a:cxn ang="0">
                  <a:pos x="68" y="232"/>
                </a:cxn>
                <a:cxn ang="0">
                  <a:pos x="89" y="254"/>
                </a:cxn>
                <a:cxn ang="0">
                  <a:pos x="112" y="263"/>
                </a:cxn>
                <a:cxn ang="0">
                  <a:pos x="140" y="269"/>
                </a:cxn>
                <a:cxn ang="0">
                  <a:pos x="143" y="298"/>
                </a:cxn>
                <a:cxn ang="0">
                  <a:pos x="150" y="247"/>
                </a:cxn>
                <a:cxn ang="0">
                  <a:pos x="141" y="211"/>
                </a:cxn>
                <a:cxn ang="0">
                  <a:pos x="155" y="206"/>
                </a:cxn>
                <a:cxn ang="0">
                  <a:pos x="144" y="191"/>
                </a:cxn>
                <a:cxn ang="0">
                  <a:pos x="171" y="191"/>
                </a:cxn>
                <a:cxn ang="0">
                  <a:pos x="173" y="191"/>
                </a:cxn>
                <a:cxn ang="0">
                  <a:pos x="188" y="199"/>
                </a:cxn>
                <a:cxn ang="0">
                  <a:pos x="188" y="186"/>
                </a:cxn>
                <a:cxn ang="0">
                  <a:pos x="184" y="163"/>
                </a:cxn>
                <a:cxn ang="0">
                  <a:pos x="180" y="126"/>
                </a:cxn>
                <a:cxn ang="0">
                  <a:pos x="171" y="112"/>
                </a:cxn>
                <a:cxn ang="0">
                  <a:pos x="143" y="96"/>
                </a:cxn>
                <a:cxn ang="0">
                  <a:pos x="118" y="95"/>
                </a:cxn>
                <a:cxn ang="0">
                  <a:pos x="107" y="78"/>
                </a:cxn>
                <a:cxn ang="0">
                  <a:pos x="93" y="58"/>
                </a:cxn>
                <a:cxn ang="0">
                  <a:pos x="108" y="28"/>
                </a:cxn>
                <a:cxn ang="0">
                  <a:pos x="128" y="10"/>
                </a:cxn>
                <a:cxn ang="0">
                  <a:pos x="119" y="1"/>
                </a:cxn>
                <a:cxn ang="0">
                  <a:pos x="90" y="19"/>
                </a:cxn>
              </a:cxnLst>
              <a:rect l="0" t="0" r="r" b="b"/>
              <a:pathLst>
                <a:path w="191" h="298">
                  <a:moveTo>
                    <a:pt x="81" y="20"/>
                  </a:moveTo>
                  <a:lnTo>
                    <a:pt x="76" y="28"/>
                  </a:lnTo>
                  <a:lnTo>
                    <a:pt x="77" y="25"/>
                  </a:lnTo>
                  <a:lnTo>
                    <a:pt x="69" y="25"/>
                  </a:lnTo>
                  <a:lnTo>
                    <a:pt x="57" y="40"/>
                  </a:lnTo>
                  <a:lnTo>
                    <a:pt x="56" y="53"/>
                  </a:lnTo>
                  <a:lnTo>
                    <a:pt x="38" y="70"/>
                  </a:lnTo>
                  <a:lnTo>
                    <a:pt x="35" y="79"/>
                  </a:lnTo>
                  <a:lnTo>
                    <a:pt x="33" y="71"/>
                  </a:lnTo>
                  <a:lnTo>
                    <a:pt x="29" y="66"/>
                  </a:lnTo>
                  <a:lnTo>
                    <a:pt x="29" y="80"/>
                  </a:lnTo>
                  <a:lnTo>
                    <a:pt x="23" y="85"/>
                  </a:lnTo>
                  <a:lnTo>
                    <a:pt x="20" y="92"/>
                  </a:lnTo>
                  <a:lnTo>
                    <a:pt x="24" y="100"/>
                  </a:lnTo>
                  <a:lnTo>
                    <a:pt x="28" y="116"/>
                  </a:lnTo>
                  <a:lnTo>
                    <a:pt x="24" y="124"/>
                  </a:lnTo>
                  <a:lnTo>
                    <a:pt x="26" y="137"/>
                  </a:lnTo>
                  <a:lnTo>
                    <a:pt x="27" y="150"/>
                  </a:lnTo>
                  <a:lnTo>
                    <a:pt x="29" y="152"/>
                  </a:lnTo>
                  <a:lnTo>
                    <a:pt x="18" y="173"/>
                  </a:lnTo>
                  <a:lnTo>
                    <a:pt x="9" y="178"/>
                  </a:lnTo>
                  <a:lnTo>
                    <a:pt x="5" y="187"/>
                  </a:lnTo>
                  <a:lnTo>
                    <a:pt x="0" y="190"/>
                  </a:lnTo>
                  <a:lnTo>
                    <a:pt x="2" y="197"/>
                  </a:lnTo>
                  <a:lnTo>
                    <a:pt x="15" y="206"/>
                  </a:lnTo>
                  <a:lnTo>
                    <a:pt x="24" y="215"/>
                  </a:lnTo>
                  <a:lnTo>
                    <a:pt x="40" y="215"/>
                  </a:lnTo>
                  <a:lnTo>
                    <a:pt x="58" y="224"/>
                  </a:lnTo>
                  <a:lnTo>
                    <a:pt x="59" y="223"/>
                  </a:lnTo>
                  <a:lnTo>
                    <a:pt x="68" y="232"/>
                  </a:lnTo>
                  <a:lnTo>
                    <a:pt x="77" y="240"/>
                  </a:lnTo>
                  <a:lnTo>
                    <a:pt x="89" y="254"/>
                  </a:lnTo>
                  <a:lnTo>
                    <a:pt x="92" y="263"/>
                  </a:lnTo>
                  <a:lnTo>
                    <a:pt x="112" y="263"/>
                  </a:lnTo>
                  <a:lnTo>
                    <a:pt x="124" y="264"/>
                  </a:lnTo>
                  <a:lnTo>
                    <a:pt x="140" y="269"/>
                  </a:lnTo>
                  <a:lnTo>
                    <a:pt x="134" y="290"/>
                  </a:lnTo>
                  <a:lnTo>
                    <a:pt x="143" y="298"/>
                  </a:lnTo>
                  <a:lnTo>
                    <a:pt x="147" y="272"/>
                  </a:lnTo>
                  <a:lnTo>
                    <a:pt x="150" y="247"/>
                  </a:lnTo>
                  <a:lnTo>
                    <a:pt x="144" y="228"/>
                  </a:lnTo>
                  <a:lnTo>
                    <a:pt x="141" y="211"/>
                  </a:lnTo>
                  <a:lnTo>
                    <a:pt x="152" y="211"/>
                  </a:lnTo>
                  <a:lnTo>
                    <a:pt x="155" y="206"/>
                  </a:lnTo>
                  <a:lnTo>
                    <a:pt x="147" y="203"/>
                  </a:lnTo>
                  <a:lnTo>
                    <a:pt x="144" y="191"/>
                  </a:lnTo>
                  <a:lnTo>
                    <a:pt x="158" y="191"/>
                  </a:lnTo>
                  <a:lnTo>
                    <a:pt x="171" y="191"/>
                  </a:lnTo>
                  <a:lnTo>
                    <a:pt x="170" y="188"/>
                  </a:lnTo>
                  <a:lnTo>
                    <a:pt x="173" y="191"/>
                  </a:lnTo>
                  <a:lnTo>
                    <a:pt x="183" y="184"/>
                  </a:lnTo>
                  <a:lnTo>
                    <a:pt x="188" y="199"/>
                  </a:lnTo>
                  <a:lnTo>
                    <a:pt x="191" y="200"/>
                  </a:lnTo>
                  <a:lnTo>
                    <a:pt x="188" y="186"/>
                  </a:lnTo>
                  <a:lnTo>
                    <a:pt x="179" y="172"/>
                  </a:lnTo>
                  <a:lnTo>
                    <a:pt x="184" y="163"/>
                  </a:lnTo>
                  <a:lnTo>
                    <a:pt x="177" y="140"/>
                  </a:lnTo>
                  <a:lnTo>
                    <a:pt x="180" y="126"/>
                  </a:lnTo>
                  <a:lnTo>
                    <a:pt x="184" y="110"/>
                  </a:lnTo>
                  <a:lnTo>
                    <a:pt x="171" y="112"/>
                  </a:lnTo>
                  <a:lnTo>
                    <a:pt x="156" y="113"/>
                  </a:lnTo>
                  <a:lnTo>
                    <a:pt x="143" y="96"/>
                  </a:lnTo>
                  <a:lnTo>
                    <a:pt x="130" y="96"/>
                  </a:lnTo>
                  <a:lnTo>
                    <a:pt x="118" y="95"/>
                  </a:lnTo>
                  <a:lnTo>
                    <a:pt x="107" y="89"/>
                  </a:lnTo>
                  <a:lnTo>
                    <a:pt x="107" y="78"/>
                  </a:lnTo>
                  <a:lnTo>
                    <a:pt x="99" y="58"/>
                  </a:lnTo>
                  <a:lnTo>
                    <a:pt x="93" y="58"/>
                  </a:lnTo>
                  <a:lnTo>
                    <a:pt x="100" y="42"/>
                  </a:lnTo>
                  <a:lnTo>
                    <a:pt x="108" y="28"/>
                  </a:lnTo>
                  <a:lnTo>
                    <a:pt x="117" y="12"/>
                  </a:lnTo>
                  <a:lnTo>
                    <a:pt x="128" y="10"/>
                  </a:lnTo>
                  <a:lnTo>
                    <a:pt x="130" y="0"/>
                  </a:lnTo>
                  <a:lnTo>
                    <a:pt x="119" y="1"/>
                  </a:lnTo>
                  <a:lnTo>
                    <a:pt x="105" y="11"/>
                  </a:lnTo>
                  <a:lnTo>
                    <a:pt x="90" y="19"/>
                  </a:lnTo>
                  <a:lnTo>
                    <a:pt x="81" y="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1" name="Freeform 230"/>
            <p:cNvSpPr>
              <a:spLocks/>
            </p:cNvSpPr>
            <p:nvPr/>
          </p:nvSpPr>
          <p:spPr bwMode="auto">
            <a:xfrm>
              <a:off x="1454" y="2534"/>
              <a:ext cx="82" cy="145"/>
            </a:xfrm>
            <a:custGeom>
              <a:avLst/>
              <a:gdLst/>
              <a:ahLst/>
              <a:cxnLst>
                <a:cxn ang="0">
                  <a:pos x="60" y="94"/>
                </a:cxn>
                <a:cxn ang="0">
                  <a:pos x="53" y="84"/>
                </a:cxn>
                <a:cxn ang="0">
                  <a:pos x="54" y="69"/>
                </a:cxn>
                <a:cxn ang="0">
                  <a:pos x="61" y="64"/>
                </a:cxn>
                <a:cxn ang="0">
                  <a:pos x="64" y="56"/>
                </a:cxn>
                <a:cxn ang="0">
                  <a:pos x="64" y="41"/>
                </a:cxn>
                <a:cxn ang="0">
                  <a:pos x="47" y="30"/>
                </a:cxn>
                <a:cxn ang="0">
                  <a:pos x="43" y="38"/>
                </a:cxn>
                <a:cxn ang="0">
                  <a:pos x="45" y="20"/>
                </a:cxn>
                <a:cxn ang="0">
                  <a:pos x="35" y="12"/>
                </a:cxn>
                <a:cxn ang="0">
                  <a:pos x="27" y="4"/>
                </a:cxn>
                <a:cxn ang="0">
                  <a:pos x="30" y="6"/>
                </a:cxn>
                <a:cxn ang="0">
                  <a:pos x="23" y="0"/>
                </a:cxn>
                <a:cxn ang="0">
                  <a:pos x="25" y="5"/>
                </a:cxn>
                <a:cxn ang="0">
                  <a:pos x="11" y="18"/>
                </a:cxn>
                <a:cxn ang="0">
                  <a:pos x="17" y="26"/>
                </a:cxn>
                <a:cxn ang="0">
                  <a:pos x="6" y="33"/>
                </a:cxn>
                <a:cxn ang="0">
                  <a:pos x="0" y="46"/>
                </a:cxn>
                <a:cxn ang="0">
                  <a:pos x="9" y="60"/>
                </a:cxn>
                <a:cxn ang="0">
                  <a:pos x="18" y="60"/>
                </a:cxn>
                <a:cxn ang="0">
                  <a:pos x="19" y="70"/>
                </a:cxn>
                <a:cxn ang="0">
                  <a:pos x="27" y="80"/>
                </a:cxn>
                <a:cxn ang="0">
                  <a:pos x="22" y="95"/>
                </a:cxn>
                <a:cxn ang="0">
                  <a:pos x="24" y="117"/>
                </a:cxn>
                <a:cxn ang="0">
                  <a:pos x="34" y="130"/>
                </a:cxn>
                <a:cxn ang="0">
                  <a:pos x="43" y="130"/>
                </a:cxn>
                <a:cxn ang="0">
                  <a:pos x="59" y="122"/>
                </a:cxn>
                <a:cxn ang="0">
                  <a:pos x="76" y="119"/>
                </a:cxn>
                <a:cxn ang="0">
                  <a:pos x="69" y="106"/>
                </a:cxn>
                <a:cxn ang="0">
                  <a:pos x="60" y="94"/>
                </a:cxn>
              </a:cxnLst>
              <a:rect l="0" t="0" r="r" b="b"/>
              <a:pathLst>
                <a:path w="76" h="130">
                  <a:moveTo>
                    <a:pt x="60" y="94"/>
                  </a:moveTo>
                  <a:lnTo>
                    <a:pt x="53" y="84"/>
                  </a:lnTo>
                  <a:lnTo>
                    <a:pt x="54" y="69"/>
                  </a:lnTo>
                  <a:lnTo>
                    <a:pt x="61" y="64"/>
                  </a:lnTo>
                  <a:lnTo>
                    <a:pt x="64" y="56"/>
                  </a:lnTo>
                  <a:lnTo>
                    <a:pt x="64" y="41"/>
                  </a:lnTo>
                  <a:lnTo>
                    <a:pt x="47" y="30"/>
                  </a:lnTo>
                  <a:lnTo>
                    <a:pt x="43" y="38"/>
                  </a:lnTo>
                  <a:lnTo>
                    <a:pt x="45" y="20"/>
                  </a:lnTo>
                  <a:lnTo>
                    <a:pt x="35" y="12"/>
                  </a:lnTo>
                  <a:lnTo>
                    <a:pt x="27" y="4"/>
                  </a:lnTo>
                  <a:lnTo>
                    <a:pt x="30" y="6"/>
                  </a:lnTo>
                  <a:lnTo>
                    <a:pt x="23" y="0"/>
                  </a:lnTo>
                  <a:lnTo>
                    <a:pt x="25" y="5"/>
                  </a:lnTo>
                  <a:lnTo>
                    <a:pt x="11" y="18"/>
                  </a:lnTo>
                  <a:lnTo>
                    <a:pt x="17" y="26"/>
                  </a:lnTo>
                  <a:lnTo>
                    <a:pt x="6" y="33"/>
                  </a:lnTo>
                  <a:lnTo>
                    <a:pt x="0" y="46"/>
                  </a:lnTo>
                  <a:lnTo>
                    <a:pt x="9" y="60"/>
                  </a:lnTo>
                  <a:lnTo>
                    <a:pt x="18" y="60"/>
                  </a:lnTo>
                  <a:lnTo>
                    <a:pt x="19" y="70"/>
                  </a:lnTo>
                  <a:lnTo>
                    <a:pt x="27" y="80"/>
                  </a:lnTo>
                  <a:lnTo>
                    <a:pt x="22" y="95"/>
                  </a:lnTo>
                  <a:lnTo>
                    <a:pt x="24" y="117"/>
                  </a:lnTo>
                  <a:lnTo>
                    <a:pt x="34" y="130"/>
                  </a:lnTo>
                  <a:lnTo>
                    <a:pt x="43" y="130"/>
                  </a:lnTo>
                  <a:lnTo>
                    <a:pt x="59" y="122"/>
                  </a:lnTo>
                  <a:lnTo>
                    <a:pt x="76" y="119"/>
                  </a:lnTo>
                  <a:lnTo>
                    <a:pt x="69" y="106"/>
                  </a:lnTo>
                  <a:lnTo>
                    <a:pt x="60" y="9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2" name="Freeform 231"/>
            <p:cNvSpPr>
              <a:spLocks/>
            </p:cNvSpPr>
            <p:nvPr/>
          </p:nvSpPr>
          <p:spPr bwMode="auto">
            <a:xfrm>
              <a:off x="1511" y="2587"/>
              <a:ext cx="69" cy="83"/>
            </a:xfrm>
            <a:custGeom>
              <a:avLst/>
              <a:gdLst/>
              <a:ahLst/>
              <a:cxnLst>
                <a:cxn ang="0">
                  <a:pos x="7" y="46"/>
                </a:cxn>
                <a:cxn ang="0">
                  <a:pos x="0" y="36"/>
                </a:cxn>
                <a:cxn ang="0">
                  <a:pos x="1" y="21"/>
                </a:cxn>
                <a:cxn ang="0">
                  <a:pos x="8" y="16"/>
                </a:cxn>
                <a:cxn ang="0">
                  <a:pos x="11" y="8"/>
                </a:cxn>
                <a:cxn ang="0">
                  <a:pos x="14" y="0"/>
                </a:cxn>
                <a:cxn ang="0">
                  <a:pos x="32" y="2"/>
                </a:cxn>
                <a:cxn ang="0">
                  <a:pos x="47" y="0"/>
                </a:cxn>
                <a:cxn ang="0">
                  <a:pos x="61" y="2"/>
                </a:cxn>
                <a:cxn ang="0">
                  <a:pos x="60" y="10"/>
                </a:cxn>
                <a:cxn ang="0">
                  <a:pos x="55" y="24"/>
                </a:cxn>
                <a:cxn ang="0">
                  <a:pos x="61" y="47"/>
                </a:cxn>
                <a:cxn ang="0">
                  <a:pos x="53" y="64"/>
                </a:cxn>
                <a:cxn ang="0">
                  <a:pos x="43" y="60"/>
                </a:cxn>
                <a:cxn ang="0">
                  <a:pos x="29" y="64"/>
                </a:cxn>
                <a:cxn ang="0">
                  <a:pos x="30" y="74"/>
                </a:cxn>
                <a:cxn ang="0">
                  <a:pos x="23" y="71"/>
                </a:cxn>
                <a:cxn ang="0">
                  <a:pos x="16" y="58"/>
                </a:cxn>
                <a:cxn ang="0">
                  <a:pos x="7" y="46"/>
                </a:cxn>
              </a:cxnLst>
              <a:rect l="0" t="0" r="r" b="b"/>
              <a:pathLst>
                <a:path w="61" h="74">
                  <a:moveTo>
                    <a:pt x="7" y="46"/>
                  </a:moveTo>
                  <a:lnTo>
                    <a:pt x="0" y="36"/>
                  </a:lnTo>
                  <a:lnTo>
                    <a:pt x="1" y="21"/>
                  </a:lnTo>
                  <a:lnTo>
                    <a:pt x="8" y="16"/>
                  </a:lnTo>
                  <a:lnTo>
                    <a:pt x="11" y="8"/>
                  </a:lnTo>
                  <a:lnTo>
                    <a:pt x="14" y="0"/>
                  </a:lnTo>
                  <a:lnTo>
                    <a:pt x="32" y="2"/>
                  </a:lnTo>
                  <a:lnTo>
                    <a:pt x="47" y="0"/>
                  </a:lnTo>
                  <a:lnTo>
                    <a:pt x="61" y="2"/>
                  </a:lnTo>
                  <a:lnTo>
                    <a:pt x="60" y="10"/>
                  </a:lnTo>
                  <a:lnTo>
                    <a:pt x="55" y="24"/>
                  </a:lnTo>
                  <a:lnTo>
                    <a:pt x="61" y="47"/>
                  </a:lnTo>
                  <a:lnTo>
                    <a:pt x="53" y="64"/>
                  </a:lnTo>
                  <a:lnTo>
                    <a:pt x="43" y="60"/>
                  </a:lnTo>
                  <a:lnTo>
                    <a:pt x="29" y="64"/>
                  </a:lnTo>
                  <a:lnTo>
                    <a:pt x="30" y="74"/>
                  </a:lnTo>
                  <a:lnTo>
                    <a:pt x="23" y="71"/>
                  </a:lnTo>
                  <a:lnTo>
                    <a:pt x="16" y="58"/>
                  </a:lnTo>
                  <a:lnTo>
                    <a:pt x="7"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3" name="Freeform 232"/>
            <p:cNvSpPr>
              <a:spLocks/>
            </p:cNvSpPr>
            <p:nvPr/>
          </p:nvSpPr>
          <p:spPr bwMode="auto">
            <a:xfrm>
              <a:off x="1447" y="2490"/>
              <a:ext cx="15" cy="13"/>
            </a:xfrm>
            <a:custGeom>
              <a:avLst/>
              <a:gdLst/>
              <a:ahLst/>
              <a:cxnLst>
                <a:cxn ang="0">
                  <a:pos x="4" y="0"/>
                </a:cxn>
                <a:cxn ang="0">
                  <a:pos x="15" y="0"/>
                </a:cxn>
                <a:cxn ang="0">
                  <a:pos x="10" y="12"/>
                </a:cxn>
                <a:cxn ang="0">
                  <a:pos x="0" y="11"/>
                </a:cxn>
                <a:cxn ang="0">
                  <a:pos x="6" y="3"/>
                </a:cxn>
                <a:cxn ang="0">
                  <a:pos x="4" y="0"/>
                </a:cxn>
              </a:cxnLst>
              <a:rect l="0" t="0" r="r" b="b"/>
              <a:pathLst>
                <a:path w="15" h="12">
                  <a:moveTo>
                    <a:pt x="4" y="0"/>
                  </a:moveTo>
                  <a:lnTo>
                    <a:pt x="15" y="0"/>
                  </a:lnTo>
                  <a:lnTo>
                    <a:pt x="10" y="12"/>
                  </a:lnTo>
                  <a:lnTo>
                    <a:pt x="0" y="11"/>
                  </a:lnTo>
                  <a:lnTo>
                    <a:pt x="6" y="3"/>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4" name="Freeform 233"/>
            <p:cNvSpPr>
              <a:spLocks/>
            </p:cNvSpPr>
            <p:nvPr/>
          </p:nvSpPr>
          <p:spPr bwMode="auto">
            <a:xfrm>
              <a:off x="1242" y="2463"/>
              <a:ext cx="238" cy="227"/>
            </a:xfrm>
            <a:custGeom>
              <a:avLst/>
              <a:gdLst/>
              <a:ahLst/>
              <a:cxnLst>
                <a:cxn ang="0">
                  <a:pos x="176" y="42"/>
                </a:cxn>
                <a:cxn ang="0">
                  <a:pos x="167" y="38"/>
                </a:cxn>
                <a:cxn ang="0">
                  <a:pos x="165" y="32"/>
                </a:cxn>
                <a:cxn ang="0">
                  <a:pos x="164" y="27"/>
                </a:cxn>
                <a:cxn ang="0">
                  <a:pos x="153" y="30"/>
                </a:cxn>
                <a:cxn ang="0">
                  <a:pos x="115" y="30"/>
                </a:cxn>
                <a:cxn ang="0">
                  <a:pos x="86" y="30"/>
                </a:cxn>
                <a:cxn ang="0">
                  <a:pos x="63" y="12"/>
                </a:cxn>
                <a:cxn ang="0">
                  <a:pos x="53" y="7"/>
                </a:cxn>
                <a:cxn ang="0">
                  <a:pos x="56" y="12"/>
                </a:cxn>
                <a:cxn ang="0">
                  <a:pos x="32" y="24"/>
                </a:cxn>
                <a:cxn ang="0">
                  <a:pos x="30" y="56"/>
                </a:cxn>
                <a:cxn ang="0">
                  <a:pos x="29" y="28"/>
                </a:cxn>
                <a:cxn ang="0">
                  <a:pos x="35" y="6"/>
                </a:cxn>
                <a:cxn ang="0">
                  <a:pos x="15" y="24"/>
                </a:cxn>
                <a:cxn ang="0">
                  <a:pos x="0" y="54"/>
                </a:cxn>
                <a:cxn ang="0">
                  <a:pos x="14" y="74"/>
                </a:cxn>
                <a:cxn ang="0">
                  <a:pos x="25" y="91"/>
                </a:cxn>
                <a:cxn ang="0">
                  <a:pos x="50" y="92"/>
                </a:cxn>
                <a:cxn ang="0">
                  <a:pos x="78" y="108"/>
                </a:cxn>
                <a:cxn ang="0">
                  <a:pos x="87" y="122"/>
                </a:cxn>
                <a:cxn ang="0">
                  <a:pos x="91" y="159"/>
                </a:cxn>
                <a:cxn ang="0">
                  <a:pos x="95" y="182"/>
                </a:cxn>
                <a:cxn ang="0">
                  <a:pos x="111" y="204"/>
                </a:cxn>
                <a:cxn ang="0">
                  <a:pos x="122" y="205"/>
                </a:cxn>
                <a:cxn ang="0">
                  <a:pos x="152" y="180"/>
                </a:cxn>
                <a:cxn ang="0">
                  <a:pos x="145" y="171"/>
                </a:cxn>
                <a:cxn ang="0">
                  <a:pos x="134" y="141"/>
                </a:cxn>
                <a:cxn ang="0">
                  <a:pos x="165" y="152"/>
                </a:cxn>
                <a:cxn ang="0">
                  <a:pos x="181" y="140"/>
                </a:cxn>
                <a:cxn ang="0">
                  <a:pos x="198" y="124"/>
                </a:cxn>
                <a:cxn ang="0">
                  <a:pos x="188" y="110"/>
                </a:cxn>
                <a:cxn ang="0">
                  <a:pos x="205" y="90"/>
                </a:cxn>
                <a:cxn ang="0">
                  <a:pos x="213" y="69"/>
                </a:cxn>
                <a:cxn ang="0">
                  <a:pos x="195" y="64"/>
                </a:cxn>
                <a:cxn ang="0">
                  <a:pos x="189" y="63"/>
                </a:cxn>
                <a:cxn ang="0">
                  <a:pos x="198" y="51"/>
                </a:cxn>
                <a:cxn ang="0">
                  <a:pos x="182" y="43"/>
                </a:cxn>
                <a:cxn ang="0">
                  <a:pos x="177" y="44"/>
                </a:cxn>
              </a:cxnLst>
              <a:rect l="0" t="0" r="r" b="b"/>
              <a:pathLst>
                <a:path w="213" h="205">
                  <a:moveTo>
                    <a:pt x="177" y="44"/>
                  </a:moveTo>
                  <a:lnTo>
                    <a:pt x="176" y="42"/>
                  </a:lnTo>
                  <a:lnTo>
                    <a:pt x="173" y="37"/>
                  </a:lnTo>
                  <a:lnTo>
                    <a:pt x="167" y="38"/>
                  </a:lnTo>
                  <a:lnTo>
                    <a:pt x="170" y="37"/>
                  </a:lnTo>
                  <a:lnTo>
                    <a:pt x="165" y="32"/>
                  </a:lnTo>
                  <a:lnTo>
                    <a:pt x="181" y="27"/>
                  </a:lnTo>
                  <a:lnTo>
                    <a:pt x="164" y="27"/>
                  </a:lnTo>
                  <a:lnTo>
                    <a:pt x="147" y="27"/>
                  </a:lnTo>
                  <a:lnTo>
                    <a:pt x="153" y="30"/>
                  </a:lnTo>
                  <a:lnTo>
                    <a:pt x="137" y="37"/>
                  </a:lnTo>
                  <a:lnTo>
                    <a:pt x="115" y="30"/>
                  </a:lnTo>
                  <a:lnTo>
                    <a:pt x="101" y="30"/>
                  </a:lnTo>
                  <a:lnTo>
                    <a:pt x="86" y="30"/>
                  </a:lnTo>
                  <a:lnTo>
                    <a:pt x="80" y="19"/>
                  </a:lnTo>
                  <a:lnTo>
                    <a:pt x="63" y="12"/>
                  </a:lnTo>
                  <a:lnTo>
                    <a:pt x="56" y="0"/>
                  </a:lnTo>
                  <a:lnTo>
                    <a:pt x="53" y="7"/>
                  </a:lnTo>
                  <a:lnTo>
                    <a:pt x="60" y="12"/>
                  </a:lnTo>
                  <a:lnTo>
                    <a:pt x="56" y="12"/>
                  </a:lnTo>
                  <a:lnTo>
                    <a:pt x="35" y="20"/>
                  </a:lnTo>
                  <a:lnTo>
                    <a:pt x="32" y="24"/>
                  </a:lnTo>
                  <a:lnTo>
                    <a:pt x="36" y="46"/>
                  </a:lnTo>
                  <a:lnTo>
                    <a:pt x="30" y="56"/>
                  </a:lnTo>
                  <a:lnTo>
                    <a:pt x="20" y="43"/>
                  </a:lnTo>
                  <a:lnTo>
                    <a:pt x="29" y="28"/>
                  </a:lnTo>
                  <a:lnTo>
                    <a:pt x="25" y="13"/>
                  </a:lnTo>
                  <a:lnTo>
                    <a:pt x="35" y="6"/>
                  </a:lnTo>
                  <a:lnTo>
                    <a:pt x="24" y="8"/>
                  </a:lnTo>
                  <a:lnTo>
                    <a:pt x="15" y="24"/>
                  </a:lnTo>
                  <a:lnTo>
                    <a:pt x="7" y="38"/>
                  </a:lnTo>
                  <a:lnTo>
                    <a:pt x="0" y="54"/>
                  </a:lnTo>
                  <a:lnTo>
                    <a:pt x="6" y="54"/>
                  </a:lnTo>
                  <a:lnTo>
                    <a:pt x="14" y="74"/>
                  </a:lnTo>
                  <a:lnTo>
                    <a:pt x="14" y="85"/>
                  </a:lnTo>
                  <a:lnTo>
                    <a:pt x="25" y="91"/>
                  </a:lnTo>
                  <a:lnTo>
                    <a:pt x="37" y="92"/>
                  </a:lnTo>
                  <a:lnTo>
                    <a:pt x="50" y="92"/>
                  </a:lnTo>
                  <a:lnTo>
                    <a:pt x="63" y="109"/>
                  </a:lnTo>
                  <a:lnTo>
                    <a:pt x="78" y="108"/>
                  </a:lnTo>
                  <a:lnTo>
                    <a:pt x="91" y="106"/>
                  </a:lnTo>
                  <a:lnTo>
                    <a:pt x="87" y="122"/>
                  </a:lnTo>
                  <a:lnTo>
                    <a:pt x="84" y="136"/>
                  </a:lnTo>
                  <a:lnTo>
                    <a:pt x="91" y="159"/>
                  </a:lnTo>
                  <a:lnTo>
                    <a:pt x="86" y="168"/>
                  </a:lnTo>
                  <a:lnTo>
                    <a:pt x="95" y="182"/>
                  </a:lnTo>
                  <a:lnTo>
                    <a:pt x="98" y="196"/>
                  </a:lnTo>
                  <a:lnTo>
                    <a:pt x="111" y="204"/>
                  </a:lnTo>
                  <a:lnTo>
                    <a:pt x="120" y="204"/>
                  </a:lnTo>
                  <a:lnTo>
                    <a:pt x="122" y="205"/>
                  </a:lnTo>
                  <a:lnTo>
                    <a:pt x="138" y="193"/>
                  </a:lnTo>
                  <a:lnTo>
                    <a:pt x="152" y="180"/>
                  </a:lnTo>
                  <a:lnTo>
                    <a:pt x="155" y="175"/>
                  </a:lnTo>
                  <a:lnTo>
                    <a:pt x="145" y="171"/>
                  </a:lnTo>
                  <a:lnTo>
                    <a:pt x="140" y="151"/>
                  </a:lnTo>
                  <a:lnTo>
                    <a:pt x="134" y="141"/>
                  </a:lnTo>
                  <a:lnTo>
                    <a:pt x="150" y="147"/>
                  </a:lnTo>
                  <a:lnTo>
                    <a:pt x="165" y="152"/>
                  </a:lnTo>
                  <a:lnTo>
                    <a:pt x="168" y="146"/>
                  </a:lnTo>
                  <a:lnTo>
                    <a:pt x="181" y="140"/>
                  </a:lnTo>
                  <a:lnTo>
                    <a:pt x="194" y="134"/>
                  </a:lnTo>
                  <a:lnTo>
                    <a:pt x="198" y="124"/>
                  </a:lnTo>
                  <a:lnTo>
                    <a:pt x="197" y="124"/>
                  </a:lnTo>
                  <a:lnTo>
                    <a:pt x="188" y="110"/>
                  </a:lnTo>
                  <a:lnTo>
                    <a:pt x="194" y="97"/>
                  </a:lnTo>
                  <a:lnTo>
                    <a:pt x="205" y="90"/>
                  </a:lnTo>
                  <a:lnTo>
                    <a:pt x="199" y="82"/>
                  </a:lnTo>
                  <a:lnTo>
                    <a:pt x="213" y="69"/>
                  </a:lnTo>
                  <a:lnTo>
                    <a:pt x="211" y="64"/>
                  </a:lnTo>
                  <a:lnTo>
                    <a:pt x="195" y="64"/>
                  </a:lnTo>
                  <a:lnTo>
                    <a:pt x="185" y="64"/>
                  </a:lnTo>
                  <a:lnTo>
                    <a:pt x="189" y="63"/>
                  </a:lnTo>
                  <a:lnTo>
                    <a:pt x="194" y="55"/>
                  </a:lnTo>
                  <a:lnTo>
                    <a:pt x="198" y="51"/>
                  </a:lnTo>
                  <a:lnTo>
                    <a:pt x="188" y="43"/>
                  </a:lnTo>
                  <a:lnTo>
                    <a:pt x="182" y="43"/>
                  </a:lnTo>
                  <a:lnTo>
                    <a:pt x="176" y="39"/>
                  </a:lnTo>
                  <a:lnTo>
                    <a:pt x="177" y="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5" name="Freeform 234"/>
            <p:cNvSpPr>
              <a:spLocks/>
            </p:cNvSpPr>
            <p:nvPr/>
          </p:nvSpPr>
          <p:spPr bwMode="auto">
            <a:xfrm>
              <a:off x="1405" y="2483"/>
              <a:ext cx="9" cy="4"/>
            </a:xfrm>
            <a:custGeom>
              <a:avLst/>
              <a:gdLst/>
              <a:ahLst/>
              <a:cxnLst>
                <a:cxn ang="0">
                  <a:pos x="8" y="2"/>
                </a:cxn>
                <a:cxn ang="0">
                  <a:pos x="0" y="0"/>
                </a:cxn>
                <a:cxn ang="0">
                  <a:pos x="8" y="2"/>
                </a:cxn>
              </a:cxnLst>
              <a:rect l="0" t="0" r="r" b="b"/>
              <a:pathLst>
                <a:path w="8" h="2">
                  <a:moveTo>
                    <a:pt x="8" y="2"/>
                  </a:moveTo>
                  <a:lnTo>
                    <a:pt x="0" y="0"/>
                  </a:lnTo>
                  <a:lnTo>
                    <a:pt x="8"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6" name="Freeform 235"/>
            <p:cNvSpPr>
              <a:spLocks/>
            </p:cNvSpPr>
            <p:nvPr/>
          </p:nvSpPr>
          <p:spPr bwMode="auto">
            <a:xfrm>
              <a:off x="1307" y="2454"/>
              <a:ext cx="2" cy="2"/>
            </a:xfrm>
            <a:custGeom>
              <a:avLst/>
              <a:gdLst/>
              <a:ahLst/>
              <a:cxnLst>
                <a:cxn ang="0">
                  <a:pos x="0" y="0"/>
                </a:cxn>
                <a:cxn ang="0">
                  <a:pos x="0" y="1"/>
                </a:cxn>
                <a:cxn ang="0">
                  <a:pos x="3" y="4"/>
                </a:cxn>
                <a:cxn ang="0">
                  <a:pos x="0" y="0"/>
                </a:cxn>
              </a:cxnLst>
              <a:rect l="0" t="0" r="r" b="b"/>
              <a:pathLst>
                <a:path w="3" h="4">
                  <a:moveTo>
                    <a:pt x="0" y="0"/>
                  </a:moveTo>
                  <a:lnTo>
                    <a:pt x="0" y="1"/>
                  </a:lnTo>
                  <a:lnTo>
                    <a:pt x="3" y="4"/>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7" name="Freeform 236"/>
            <p:cNvSpPr>
              <a:spLocks/>
            </p:cNvSpPr>
            <p:nvPr/>
          </p:nvSpPr>
          <p:spPr bwMode="auto">
            <a:xfrm>
              <a:off x="1449" y="2461"/>
              <a:ext cx="5" cy="4"/>
            </a:xfrm>
            <a:custGeom>
              <a:avLst/>
              <a:gdLst/>
              <a:ahLst/>
              <a:cxnLst>
                <a:cxn ang="0">
                  <a:pos x="2" y="3"/>
                </a:cxn>
                <a:cxn ang="0">
                  <a:pos x="2" y="2"/>
                </a:cxn>
                <a:cxn ang="0">
                  <a:pos x="2" y="0"/>
                </a:cxn>
                <a:cxn ang="0">
                  <a:pos x="1" y="0"/>
                </a:cxn>
                <a:cxn ang="0">
                  <a:pos x="1" y="2"/>
                </a:cxn>
                <a:cxn ang="0">
                  <a:pos x="0" y="2"/>
                </a:cxn>
                <a:cxn ang="0">
                  <a:pos x="0" y="3"/>
                </a:cxn>
                <a:cxn ang="0">
                  <a:pos x="0" y="4"/>
                </a:cxn>
                <a:cxn ang="0">
                  <a:pos x="1" y="4"/>
                </a:cxn>
                <a:cxn ang="0">
                  <a:pos x="2" y="4"/>
                </a:cxn>
                <a:cxn ang="0">
                  <a:pos x="2" y="3"/>
                </a:cxn>
              </a:cxnLst>
              <a:rect l="0" t="0" r="r" b="b"/>
              <a:pathLst>
                <a:path w="2" h="4">
                  <a:moveTo>
                    <a:pt x="2" y="3"/>
                  </a:moveTo>
                  <a:lnTo>
                    <a:pt x="2" y="2"/>
                  </a:lnTo>
                  <a:lnTo>
                    <a:pt x="2" y="0"/>
                  </a:lnTo>
                  <a:lnTo>
                    <a:pt x="1" y="0"/>
                  </a:lnTo>
                  <a:lnTo>
                    <a:pt x="1" y="2"/>
                  </a:lnTo>
                  <a:lnTo>
                    <a:pt x="0" y="2"/>
                  </a:lnTo>
                  <a:lnTo>
                    <a:pt x="0" y="3"/>
                  </a:lnTo>
                  <a:lnTo>
                    <a:pt x="0" y="4"/>
                  </a:lnTo>
                  <a:lnTo>
                    <a:pt x="1" y="4"/>
                  </a:lnTo>
                  <a:lnTo>
                    <a:pt x="2" y="4"/>
                  </a:lnTo>
                  <a:lnTo>
                    <a:pt x="2"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8" name="Freeform 237"/>
            <p:cNvSpPr>
              <a:spLocks/>
            </p:cNvSpPr>
            <p:nvPr/>
          </p:nvSpPr>
          <p:spPr bwMode="auto">
            <a:xfrm>
              <a:off x="1634" y="3723"/>
              <a:ext cx="26" cy="20"/>
            </a:xfrm>
            <a:custGeom>
              <a:avLst/>
              <a:gdLst/>
              <a:ahLst/>
              <a:cxnLst>
                <a:cxn ang="0">
                  <a:pos x="23" y="7"/>
                </a:cxn>
                <a:cxn ang="0">
                  <a:pos x="18" y="3"/>
                </a:cxn>
                <a:cxn ang="0">
                  <a:pos x="14" y="3"/>
                </a:cxn>
                <a:cxn ang="0">
                  <a:pos x="11" y="2"/>
                </a:cxn>
                <a:cxn ang="0">
                  <a:pos x="5" y="0"/>
                </a:cxn>
                <a:cxn ang="0">
                  <a:pos x="5" y="6"/>
                </a:cxn>
                <a:cxn ang="0">
                  <a:pos x="0" y="12"/>
                </a:cxn>
                <a:cxn ang="0">
                  <a:pos x="5" y="17"/>
                </a:cxn>
                <a:cxn ang="0">
                  <a:pos x="8" y="14"/>
                </a:cxn>
                <a:cxn ang="0">
                  <a:pos x="10" y="13"/>
                </a:cxn>
                <a:cxn ang="0">
                  <a:pos x="10" y="11"/>
                </a:cxn>
                <a:cxn ang="0">
                  <a:pos x="23" y="7"/>
                </a:cxn>
              </a:cxnLst>
              <a:rect l="0" t="0" r="r" b="b"/>
              <a:pathLst>
                <a:path w="23" h="17">
                  <a:moveTo>
                    <a:pt x="23" y="7"/>
                  </a:moveTo>
                  <a:lnTo>
                    <a:pt x="18" y="3"/>
                  </a:lnTo>
                  <a:lnTo>
                    <a:pt x="14" y="3"/>
                  </a:lnTo>
                  <a:lnTo>
                    <a:pt x="11" y="2"/>
                  </a:lnTo>
                  <a:lnTo>
                    <a:pt x="5" y="0"/>
                  </a:lnTo>
                  <a:lnTo>
                    <a:pt x="5" y="6"/>
                  </a:lnTo>
                  <a:lnTo>
                    <a:pt x="0" y="12"/>
                  </a:lnTo>
                  <a:lnTo>
                    <a:pt x="5" y="17"/>
                  </a:lnTo>
                  <a:lnTo>
                    <a:pt x="8" y="14"/>
                  </a:lnTo>
                  <a:lnTo>
                    <a:pt x="10" y="13"/>
                  </a:lnTo>
                  <a:lnTo>
                    <a:pt x="10" y="11"/>
                  </a:lnTo>
                  <a:lnTo>
                    <a:pt x="23"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9" name="Freeform 238"/>
            <p:cNvSpPr>
              <a:spLocks/>
            </p:cNvSpPr>
            <p:nvPr/>
          </p:nvSpPr>
          <p:spPr bwMode="auto">
            <a:xfrm>
              <a:off x="1616" y="3725"/>
              <a:ext cx="20" cy="16"/>
            </a:xfrm>
            <a:custGeom>
              <a:avLst/>
              <a:gdLst/>
              <a:ahLst/>
              <a:cxnLst>
                <a:cxn ang="0">
                  <a:pos x="4" y="6"/>
                </a:cxn>
                <a:cxn ang="0">
                  <a:pos x="1" y="1"/>
                </a:cxn>
                <a:cxn ang="0">
                  <a:pos x="18" y="0"/>
                </a:cxn>
                <a:cxn ang="0">
                  <a:pos x="9" y="10"/>
                </a:cxn>
                <a:cxn ang="0">
                  <a:pos x="0" y="13"/>
                </a:cxn>
                <a:cxn ang="0">
                  <a:pos x="4" y="8"/>
                </a:cxn>
                <a:cxn ang="0">
                  <a:pos x="2" y="6"/>
                </a:cxn>
                <a:cxn ang="0">
                  <a:pos x="4" y="6"/>
                </a:cxn>
              </a:cxnLst>
              <a:rect l="0" t="0" r="r" b="b"/>
              <a:pathLst>
                <a:path w="18" h="13">
                  <a:moveTo>
                    <a:pt x="4" y="6"/>
                  </a:moveTo>
                  <a:lnTo>
                    <a:pt x="1" y="1"/>
                  </a:lnTo>
                  <a:lnTo>
                    <a:pt x="18" y="0"/>
                  </a:lnTo>
                  <a:lnTo>
                    <a:pt x="9" y="10"/>
                  </a:lnTo>
                  <a:lnTo>
                    <a:pt x="0" y="13"/>
                  </a:lnTo>
                  <a:lnTo>
                    <a:pt x="4" y="8"/>
                  </a:lnTo>
                  <a:lnTo>
                    <a:pt x="2" y="6"/>
                  </a:lnTo>
                  <a:lnTo>
                    <a:pt x="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0" name="Freeform 239"/>
            <p:cNvSpPr>
              <a:spLocks/>
            </p:cNvSpPr>
            <p:nvPr/>
          </p:nvSpPr>
          <p:spPr bwMode="auto">
            <a:xfrm>
              <a:off x="1314" y="2901"/>
              <a:ext cx="220" cy="260"/>
            </a:xfrm>
            <a:custGeom>
              <a:avLst/>
              <a:gdLst/>
              <a:ahLst/>
              <a:cxnLst>
                <a:cxn ang="0">
                  <a:pos x="132" y="186"/>
                </a:cxn>
                <a:cxn ang="0">
                  <a:pos x="129" y="205"/>
                </a:cxn>
                <a:cxn ang="0">
                  <a:pos x="125" y="225"/>
                </a:cxn>
                <a:cxn ang="0">
                  <a:pos x="121" y="220"/>
                </a:cxn>
                <a:cxn ang="0">
                  <a:pos x="103" y="223"/>
                </a:cxn>
                <a:cxn ang="0">
                  <a:pos x="99" y="233"/>
                </a:cxn>
                <a:cxn ang="0">
                  <a:pos x="91" y="222"/>
                </a:cxn>
                <a:cxn ang="0">
                  <a:pos x="72" y="219"/>
                </a:cxn>
                <a:cxn ang="0">
                  <a:pos x="69" y="216"/>
                </a:cxn>
                <a:cxn ang="0">
                  <a:pos x="55" y="234"/>
                </a:cxn>
                <a:cxn ang="0">
                  <a:pos x="45" y="233"/>
                </a:cxn>
                <a:cxn ang="0">
                  <a:pos x="39" y="217"/>
                </a:cxn>
                <a:cxn ang="0">
                  <a:pos x="31" y="201"/>
                </a:cxn>
                <a:cxn ang="0">
                  <a:pos x="27" y="185"/>
                </a:cxn>
                <a:cxn ang="0">
                  <a:pos x="28" y="172"/>
                </a:cxn>
                <a:cxn ang="0">
                  <a:pos x="19" y="160"/>
                </a:cxn>
                <a:cxn ang="0">
                  <a:pos x="15" y="148"/>
                </a:cxn>
                <a:cxn ang="0">
                  <a:pos x="10" y="139"/>
                </a:cxn>
                <a:cxn ang="0">
                  <a:pos x="10" y="132"/>
                </a:cxn>
                <a:cxn ang="0">
                  <a:pos x="17" y="117"/>
                </a:cxn>
                <a:cxn ang="0">
                  <a:pos x="12" y="115"/>
                </a:cxn>
                <a:cxn ang="0">
                  <a:pos x="10" y="100"/>
                </a:cxn>
                <a:cxn ang="0">
                  <a:pos x="10" y="85"/>
                </a:cxn>
                <a:cxn ang="0">
                  <a:pos x="13" y="76"/>
                </a:cxn>
                <a:cxn ang="0">
                  <a:pos x="13" y="54"/>
                </a:cxn>
                <a:cxn ang="0">
                  <a:pos x="16" y="49"/>
                </a:cxn>
                <a:cxn ang="0">
                  <a:pos x="7" y="35"/>
                </a:cxn>
                <a:cxn ang="0">
                  <a:pos x="0" y="22"/>
                </a:cxn>
                <a:cxn ang="0">
                  <a:pos x="19" y="22"/>
                </a:cxn>
                <a:cxn ang="0">
                  <a:pos x="27" y="17"/>
                </a:cxn>
                <a:cxn ang="0">
                  <a:pos x="40" y="9"/>
                </a:cxn>
                <a:cxn ang="0">
                  <a:pos x="53" y="0"/>
                </a:cxn>
                <a:cxn ang="0">
                  <a:pos x="66" y="1"/>
                </a:cxn>
                <a:cxn ang="0">
                  <a:pos x="67" y="17"/>
                </a:cxn>
                <a:cxn ang="0">
                  <a:pos x="69" y="31"/>
                </a:cxn>
                <a:cxn ang="0">
                  <a:pos x="81" y="45"/>
                </a:cxn>
                <a:cxn ang="0">
                  <a:pos x="93" y="49"/>
                </a:cxn>
                <a:cxn ang="0">
                  <a:pos x="106" y="55"/>
                </a:cxn>
                <a:cxn ang="0">
                  <a:pos x="124" y="67"/>
                </a:cxn>
                <a:cxn ang="0">
                  <a:pos x="142" y="71"/>
                </a:cxn>
                <a:cxn ang="0">
                  <a:pos x="147" y="78"/>
                </a:cxn>
                <a:cxn ang="0">
                  <a:pos x="149" y="96"/>
                </a:cxn>
                <a:cxn ang="0">
                  <a:pos x="145" y="96"/>
                </a:cxn>
                <a:cxn ang="0">
                  <a:pos x="151" y="103"/>
                </a:cxn>
                <a:cxn ang="0">
                  <a:pos x="154" y="117"/>
                </a:cxn>
                <a:cxn ang="0">
                  <a:pos x="168" y="119"/>
                </a:cxn>
                <a:cxn ang="0">
                  <a:pos x="183" y="120"/>
                </a:cxn>
                <a:cxn ang="0">
                  <a:pos x="185" y="136"/>
                </a:cxn>
                <a:cxn ang="0">
                  <a:pos x="195" y="145"/>
                </a:cxn>
                <a:cxn ang="0">
                  <a:pos x="198" y="153"/>
                </a:cxn>
                <a:cxn ang="0">
                  <a:pos x="195" y="166"/>
                </a:cxn>
                <a:cxn ang="0">
                  <a:pos x="191" y="179"/>
                </a:cxn>
                <a:cxn ang="0">
                  <a:pos x="193" y="185"/>
                </a:cxn>
                <a:cxn ang="0">
                  <a:pos x="191" y="187"/>
                </a:cxn>
                <a:cxn ang="0">
                  <a:pos x="191" y="184"/>
                </a:cxn>
                <a:cxn ang="0">
                  <a:pos x="175" y="173"/>
                </a:cxn>
                <a:cxn ang="0">
                  <a:pos x="155" y="175"/>
                </a:cxn>
                <a:cxn ang="0">
                  <a:pos x="135" y="178"/>
                </a:cxn>
                <a:cxn ang="0">
                  <a:pos x="132" y="186"/>
                </a:cxn>
              </a:cxnLst>
              <a:rect l="0" t="0" r="r" b="b"/>
              <a:pathLst>
                <a:path w="198" h="234">
                  <a:moveTo>
                    <a:pt x="132" y="186"/>
                  </a:moveTo>
                  <a:lnTo>
                    <a:pt x="129" y="205"/>
                  </a:lnTo>
                  <a:lnTo>
                    <a:pt x="125" y="225"/>
                  </a:lnTo>
                  <a:lnTo>
                    <a:pt x="121" y="220"/>
                  </a:lnTo>
                  <a:lnTo>
                    <a:pt x="103" y="223"/>
                  </a:lnTo>
                  <a:lnTo>
                    <a:pt x="99" y="233"/>
                  </a:lnTo>
                  <a:lnTo>
                    <a:pt x="91" y="222"/>
                  </a:lnTo>
                  <a:lnTo>
                    <a:pt x="72" y="219"/>
                  </a:lnTo>
                  <a:lnTo>
                    <a:pt x="69" y="216"/>
                  </a:lnTo>
                  <a:lnTo>
                    <a:pt x="55" y="234"/>
                  </a:lnTo>
                  <a:lnTo>
                    <a:pt x="45" y="233"/>
                  </a:lnTo>
                  <a:lnTo>
                    <a:pt x="39" y="217"/>
                  </a:lnTo>
                  <a:lnTo>
                    <a:pt x="31" y="201"/>
                  </a:lnTo>
                  <a:lnTo>
                    <a:pt x="27" y="185"/>
                  </a:lnTo>
                  <a:lnTo>
                    <a:pt x="28" y="172"/>
                  </a:lnTo>
                  <a:lnTo>
                    <a:pt x="19" y="160"/>
                  </a:lnTo>
                  <a:lnTo>
                    <a:pt x="15" y="148"/>
                  </a:lnTo>
                  <a:lnTo>
                    <a:pt x="10" y="139"/>
                  </a:lnTo>
                  <a:lnTo>
                    <a:pt x="10" y="132"/>
                  </a:lnTo>
                  <a:lnTo>
                    <a:pt x="17" y="117"/>
                  </a:lnTo>
                  <a:lnTo>
                    <a:pt x="12" y="115"/>
                  </a:lnTo>
                  <a:lnTo>
                    <a:pt x="10" y="100"/>
                  </a:lnTo>
                  <a:lnTo>
                    <a:pt x="10" y="85"/>
                  </a:lnTo>
                  <a:lnTo>
                    <a:pt x="13" y="76"/>
                  </a:lnTo>
                  <a:lnTo>
                    <a:pt x="13" y="54"/>
                  </a:lnTo>
                  <a:lnTo>
                    <a:pt x="16" y="49"/>
                  </a:lnTo>
                  <a:lnTo>
                    <a:pt x="7" y="35"/>
                  </a:lnTo>
                  <a:lnTo>
                    <a:pt x="0" y="22"/>
                  </a:lnTo>
                  <a:lnTo>
                    <a:pt x="19" y="22"/>
                  </a:lnTo>
                  <a:lnTo>
                    <a:pt x="27" y="17"/>
                  </a:lnTo>
                  <a:lnTo>
                    <a:pt x="40" y="9"/>
                  </a:lnTo>
                  <a:lnTo>
                    <a:pt x="53" y="0"/>
                  </a:lnTo>
                  <a:lnTo>
                    <a:pt x="66" y="1"/>
                  </a:lnTo>
                  <a:lnTo>
                    <a:pt x="67" y="17"/>
                  </a:lnTo>
                  <a:lnTo>
                    <a:pt x="69" y="31"/>
                  </a:lnTo>
                  <a:lnTo>
                    <a:pt x="81" y="45"/>
                  </a:lnTo>
                  <a:lnTo>
                    <a:pt x="93" y="49"/>
                  </a:lnTo>
                  <a:lnTo>
                    <a:pt x="106" y="55"/>
                  </a:lnTo>
                  <a:lnTo>
                    <a:pt x="124" y="67"/>
                  </a:lnTo>
                  <a:lnTo>
                    <a:pt x="142" y="71"/>
                  </a:lnTo>
                  <a:lnTo>
                    <a:pt x="147" y="78"/>
                  </a:lnTo>
                  <a:lnTo>
                    <a:pt x="149" y="96"/>
                  </a:lnTo>
                  <a:lnTo>
                    <a:pt x="145" y="96"/>
                  </a:lnTo>
                  <a:lnTo>
                    <a:pt x="151" y="103"/>
                  </a:lnTo>
                  <a:lnTo>
                    <a:pt x="154" y="117"/>
                  </a:lnTo>
                  <a:lnTo>
                    <a:pt x="168" y="119"/>
                  </a:lnTo>
                  <a:lnTo>
                    <a:pt x="183" y="120"/>
                  </a:lnTo>
                  <a:lnTo>
                    <a:pt x="185" y="136"/>
                  </a:lnTo>
                  <a:lnTo>
                    <a:pt x="195" y="145"/>
                  </a:lnTo>
                  <a:lnTo>
                    <a:pt x="198" y="153"/>
                  </a:lnTo>
                  <a:lnTo>
                    <a:pt x="195" y="166"/>
                  </a:lnTo>
                  <a:lnTo>
                    <a:pt x="191" y="179"/>
                  </a:lnTo>
                  <a:lnTo>
                    <a:pt x="193" y="185"/>
                  </a:lnTo>
                  <a:lnTo>
                    <a:pt x="191" y="187"/>
                  </a:lnTo>
                  <a:lnTo>
                    <a:pt x="191" y="184"/>
                  </a:lnTo>
                  <a:lnTo>
                    <a:pt x="175" y="173"/>
                  </a:lnTo>
                  <a:lnTo>
                    <a:pt x="155" y="175"/>
                  </a:lnTo>
                  <a:lnTo>
                    <a:pt x="135" y="178"/>
                  </a:lnTo>
                  <a:lnTo>
                    <a:pt x="132" y="18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1" name="Freeform 240"/>
            <p:cNvSpPr>
              <a:spLocks/>
            </p:cNvSpPr>
            <p:nvPr/>
          </p:nvSpPr>
          <p:spPr bwMode="auto">
            <a:xfrm>
              <a:off x="1234" y="2601"/>
              <a:ext cx="686" cy="777"/>
            </a:xfrm>
            <a:custGeom>
              <a:avLst/>
              <a:gdLst/>
              <a:ahLst/>
              <a:cxnLst>
                <a:cxn ang="0">
                  <a:pos x="465" y="137"/>
                </a:cxn>
                <a:cxn ang="0">
                  <a:pos x="456" y="122"/>
                </a:cxn>
                <a:cxn ang="0">
                  <a:pos x="436" y="113"/>
                </a:cxn>
                <a:cxn ang="0">
                  <a:pos x="415" y="107"/>
                </a:cxn>
                <a:cxn ang="0">
                  <a:pos x="394" y="125"/>
                </a:cxn>
                <a:cxn ang="0">
                  <a:pos x="373" y="129"/>
                </a:cxn>
                <a:cxn ang="0">
                  <a:pos x="341" y="123"/>
                </a:cxn>
                <a:cxn ang="0">
                  <a:pos x="367" y="83"/>
                </a:cxn>
                <a:cxn ang="0">
                  <a:pos x="363" y="40"/>
                </a:cxn>
                <a:cxn ang="0">
                  <a:pos x="353" y="21"/>
                </a:cxn>
                <a:cxn ang="0">
                  <a:pos x="329" y="56"/>
                </a:cxn>
                <a:cxn ang="0">
                  <a:pos x="280" y="52"/>
                </a:cxn>
                <a:cxn ang="0">
                  <a:pos x="241" y="70"/>
                </a:cxn>
                <a:cxn ang="0">
                  <a:pos x="225" y="20"/>
                </a:cxn>
                <a:cxn ang="0">
                  <a:pos x="208" y="0"/>
                </a:cxn>
                <a:cxn ang="0">
                  <a:pos x="175" y="28"/>
                </a:cxn>
                <a:cxn ang="0">
                  <a:pos x="155" y="47"/>
                </a:cxn>
                <a:cxn ang="0">
                  <a:pos x="132" y="81"/>
                </a:cxn>
                <a:cxn ang="0">
                  <a:pos x="105" y="71"/>
                </a:cxn>
                <a:cxn ang="0">
                  <a:pos x="88" y="63"/>
                </a:cxn>
                <a:cxn ang="0">
                  <a:pos x="72" y="78"/>
                </a:cxn>
                <a:cxn ang="0">
                  <a:pos x="67" y="119"/>
                </a:cxn>
                <a:cxn ang="0">
                  <a:pos x="42" y="173"/>
                </a:cxn>
                <a:cxn ang="0">
                  <a:pos x="9" y="213"/>
                </a:cxn>
                <a:cxn ang="0">
                  <a:pos x="13" y="262"/>
                </a:cxn>
                <a:cxn ang="0">
                  <a:pos x="53" y="264"/>
                </a:cxn>
                <a:cxn ang="0">
                  <a:pos x="91" y="291"/>
                </a:cxn>
                <a:cxn ang="0">
                  <a:pos x="138" y="270"/>
                </a:cxn>
                <a:cxn ang="0">
                  <a:pos x="165" y="318"/>
                </a:cxn>
                <a:cxn ang="0">
                  <a:pos x="219" y="347"/>
                </a:cxn>
                <a:cxn ang="0">
                  <a:pos x="226" y="386"/>
                </a:cxn>
                <a:cxn ang="0">
                  <a:pos x="267" y="414"/>
                </a:cxn>
                <a:cxn ang="0">
                  <a:pos x="265" y="454"/>
                </a:cxn>
                <a:cxn ang="0">
                  <a:pos x="291" y="492"/>
                </a:cxn>
                <a:cxn ang="0">
                  <a:pos x="321" y="524"/>
                </a:cxn>
                <a:cxn ang="0">
                  <a:pos x="337" y="554"/>
                </a:cxn>
                <a:cxn ang="0">
                  <a:pos x="317" y="605"/>
                </a:cxn>
                <a:cxn ang="0">
                  <a:pos x="300" y="635"/>
                </a:cxn>
                <a:cxn ang="0">
                  <a:pos x="349" y="668"/>
                </a:cxn>
                <a:cxn ang="0">
                  <a:pos x="373" y="689"/>
                </a:cxn>
                <a:cxn ang="0">
                  <a:pos x="390" y="647"/>
                </a:cxn>
                <a:cxn ang="0">
                  <a:pos x="394" y="652"/>
                </a:cxn>
                <a:cxn ang="0">
                  <a:pos x="394" y="656"/>
                </a:cxn>
                <a:cxn ang="0">
                  <a:pos x="421" y="604"/>
                </a:cxn>
                <a:cxn ang="0">
                  <a:pos x="419" y="564"/>
                </a:cxn>
                <a:cxn ang="0">
                  <a:pos x="425" y="550"/>
                </a:cxn>
                <a:cxn ang="0">
                  <a:pos x="478" y="512"/>
                </a:cxn>
                <a:cxn ang="0">
                  <a:pos x="499" y="504"/>
                </a:cxn>
                <a:cxn ang="0">
                  <a:pos x="533" y="489"/>
                </a:cxn>
                <a:cxn ang="0">
                  <a:pos x="552" y="417"/>
                </a:cxn>
                <a:cxn ang="0">
                  <a:pos x="557" y="359"/>
                </a:cxn>
                <a:cxn ang="0">
                  <a:pos x="562" y="322"/>
                </a:cxn>
                <a:cxn ang="0">
                  <a:pos x="580" y="298"/>
                </a:cxn>
                <a:cxn ang="0">
                  <a:pos x="616" y="248"/>
                </a:cxn>
                <a:cxn ang="0">
                  <a:pos x="592" y="184"/>
                </a:cxn>
                <a:cxn ang="0">
                  <a:pos x="523" y="144"/>
                </a:cxn>
                <a:cxn ang="0">
                  <a:pos x="468" y="143"/>
                </a:cxn>
              </a:cxnLst>
              <a:rect l="0" t="0" r="r" b="b"/>
              <a:pathLst>
                <a:path w="618" h="700">
                  <a:moveTo>
                    <a:pt x="469" y="137"/>
                  </a:moveTo>
                  <a:lnTo>
                    <a:pt x="467" y="140"/>
                  </a:lnTo>
                  <a:lnTo>
                    <a:pt x="460" y="152"/>
                  </a:lnTo>
                  <a:lnTo>
                    <a:pt x="465" y="137"/>
                  </a:lnTo>
                  <a:lnTo>
                    <a:pt x="462" y="134"/>
                  </a:lnTo>
                  <a:lnTo>
                    <a:pt x="461" y="135"/>
                  </a:lnTo>
                  <a:lnTo>
                    <a:pt x="462" y="126"/>
                  </a:lnTo>
                  <a:lnTo>
                    <a:pt x="456" y="122"/>
                  </a:lnTo>
                  <a:lnTo>
                    <a:pt x="450" y="122"/>
                  </a:lnTo>
                  <a:lnTo>
                    <a:pt x="449" y="119"/>
                  </a:lnTo>
                  <a:lnTo>
                    <a:pt x="443" y="117"/>
                  </a:lnTo>
                  <a:lnTo>
                    <a:pt x="436" y="113"/>
                  </a:lnTo>
                  <a:lnTo>
                    <a:pt x="430" y="111"/>
                  </a:lnTo>
                  <a:lnTo>
                    <a:pt x="425" y="110"/>
                  </a:lnTo>
                  <a:lnTo>
                    <a:pt x="417" y="105"/>
                  </a:lnTo>
                  <a:lnTo>
                    <a:pt x="415" y="107"/>
                  </a:lnTo>
                  <a:lnTo>
                    <a:pt x="406" y="110"/>
                  </a:lnTo>
                  <a:lnTo>
                    <a:pt x="400" y="120"/>
                  </a:lnTo>
                  <a:lnTo>
                    <a:pt x="400" y="123"/>
                  </a:lnTo>
                  <a:lnTo>
                    <a:pt x="394" y="125"/>
                  </a:lnTo>
                  <a:lnTo>
                    <a:pt x="383" y="141"/>
                  </a:lnTo>
                  <a:lnTo>
                    <a:pt x="384" y="128"/>
                  </a:lnTo>
                  <a:lnTo>
                    <a:pt x="379" y="131"/>
                  </a:lnTo>
                  <a:lnTo>
                    <a:pt x="373" y="129"/>
                  </a:lnTo>
                  <a:lnTo>
                    <a:pt x="369" y="129"/>
                  </a:lnTo>
                  <a:lnTo>
                    <a:pt x="363" y="111"/>
                  </a:lnTo>
                  <a:lnTo>
                    <a:pt x="352" y="117"/>
                  </a:lnTo>
                  <a:lnTo>
                    <a:pt x="341" y="123"/>
                  </a:lnTo>
                  <a:lnTo>
                    <a:pt x="335" y="122"/>
                  </a:lnTo>
                  <a:lnTo>
                    <a:pt x="347" y="114"/>
                  </a:lnTo>
                  <a:lnTo>
                    <a:pt x="357" y="95"/>
                  </a:lnTo>
                  <a:lnTo>
                    <a:pt x="367" y="83"/>
                  </a:lnTo>
                  <a:lnTo>
                    <a:pt x="377" y="71"/>
                  </a:lnTo>
                  <a:lnTo>
                    <a:pt x="373" y="62"/>
                  </a:lnTo>
                  <a:lnTo>
                    <a:pt x="365" y="56"/>
                  </a:lnTo>
                  <a:lnTo>
                    <a:pt x="363" y="40"/>
                  </a:lnTo>
                  <a:lnTo>
                    <a:pt x="359" y="24"/>
                  </a:lnTo>
                  <a:lnTo>
                    <a:pt x="358" y="26"/>
                  </a:lnTo>
                  <a:lnTo>
                    <a:pt x="352" y="17"/>
                  </a:lnTo>
                  <a:lnTo>
                    <a:pt x="353" y="21"/>
                  </a:lnTo>
                  <a:lnTo>
                    <a:pt x="351" y="21"/>
                  </a:lnTo>
                  <a:lnTo>
                    <a:pt x="351" y="22"/>
                  </a:lnTo>
                  <a:lnTo>
                    <a:pt x="340" y="39"/>
                  </a:lnTo>
                  <a:lnTo>
                    <a:pt x="329" y="56"/>
                  </a:lnTo>
                  <a:lnTo>
                    <a:pt x="313" y="54"/>
                  </a:lnTo>
                  <a:lnTo>
                    <a:pt x="304" y="52"/>
                  </a:lnTo>
                  <a:lnTo>
                    <a:pt x="294" y="48"/>
                  </a:lnTo>
                  <a:lnTo>
                    <a:pt x="280" y="52"/>
                  </a:lnTo>
                  <a:lnTo>
                    <a:pt x="281" y="62"/>
                  </a:lnTo>
                  <a:lnTo>
                    <a:pt x="274" y="59"/>
                  </a:lnTo>
                  <a:lnTo>
                    <a:pt x="257" y="62"/>
                  </a:lnTo>
                  <a:lnTo>
                    <a:pt x="241" y="70"/>
                  </a:lnTo>
                  <a:lnTo>
                    <a:pt x="232" y="70"/>
                  </a:lnTo>
                  <a:lnTo>
                    <a:pt x="222" y="57"/>
                  </a:lnTo>
                  <a:lnTo>
                    <a:pt x="220" y="35"/>
                  </a:lnTo>
                  <a:lnTo>
                    <a:pt x="225" y="20"/>
                  </a:lnTo>
                  <a:lnTo>
                    <a:pt x="217" y="10"/>
                  </a:lnTo>
                  <a:lnTo>
                    <a:pt x="216" y="0"/>
                  </a:lnTo>
                  <a:lnTo>
                    <a:pt x="207" y="0"/>
                  </a:lnTo>
                  <a:lnTo>
                    <a:pt x="208" y="0"/>
                  </a:lnTo>
                  <a:lnTo>
                    <a:pt x="204" y="10"/>
                  </a:lnTo>
                  <a:lnTo>
                    <a:pt x="191" y="16"/>
                  </a:lnTo>
                  <a:lnTo>
                    <a:pt x="178" y="22"/>
                  </a:lnTo>
                  <a:lnTo>
                    <a:pt x="175" y="28"/>
                  </a:lnTo>
                  <a:lnTo>
                    <a:pt x="160" y="23"/>
                  </a:lnTo>
                  <a:lnTo>
                    <a:pt x="144" y="17"/>
                  </a:lnTo>
                  <a:lnTo>
                    <a:pt x="150" y="27"/>
                  </a:lnTo>
                  <a:lnTo>
                    <a:pt x="155" y="47"/>
                  </a:lnTo>
                  <a:lnTo>
                    <a:pt x="165" y="51"/>
                  </a:lnTo>
                  <a:lnTo>
                    <a:pt x="162" y="56"/>
                  </a:lnTo>
                  <a:lnTo>
                    <a:pt x="148" y="69"/>
                  </a:lnTo>
                  <a:lnTo>
                    <a:pt x="132" y="81"/>
                  </a:lnTo>
                  <a:lnTo>
                    <a:pt x="130" y="80"/>
                  </a:lnTo>
                  <a:lnTo>
                    <a:pt x="121" y="80"/>
                  </a:lnTo>
                  <a:lnTo>
                    <a:pt x="108" y="72"/>
                  </a:lnTo>
                  <a:lnTo>
                    <a:pt x="105" y="71"/>
                  </a:lnTo>
                  <a:lnTo>
                    <a:pt x="100" y="56"/>
                  </a:lnTo>
                  <a:lnTo>
                    <a:pt x="90" y="63"/>
                  </a:lnTo>
                  <a:lnTo>
                    <a:pt x="87" y="60"/>
                  </a:lnTo>
                  <a:lnTo>
                    <a:pt x="88" y="63"/>
                  </a:lnTo>
                  <a:lnTo>
                    <a:pt x="75" y="63"/>
                  </a:lnTo>
                  <a:lnTo>
                    <a:pt x="61" y="63"/>
                  </a:lnTo>
                  <a:lnTo>
                    <a:pt x="64" y="75"/>
                  </a:lnTo>
                  <a:lnTo>
                    <a:pt x="72" y="78"/>
                  </a:lnTo>
                  <a:lnTo>
                    <a:pt x="69" y="83"/>
                  </a:lnTo>
                  <a:lnTo>
                    <a:pt x="58" y="83"/>
                  </a:lnTo>
                  <a:lnTo>
                    <a:pt x="61" y="100"/>
                  </a:lnTo>
                  <a:lnTo>
                    <a:pt x="67" y="119"/>
                  </a:lnTo>
                  <a:lnTo>
                    <a:pt x="64" y="144"/>
                  </a:lnTo>
                  <a:lnTo>
                    <a:pt x="60" y="170"/>
                  </a:lnTo>
                  <a:lnTo>
                    <a:pt x="55" y="170"/>
                  </a:lnTo>
                  <a:lnTo>
                    <a:pt x="42" y="173"/>
                  </a:lnTo>
                  <a:lnTo>
                    <a:pt x="29" y="179"/>
                  </a:lnTo>
                  <a:lnTo>
                    <a:pt x="17" y="185"/>
                  </a:lnTo>
                  <a:lnTo>
                    <a:pt x="12" y="198"/>
                  </a:lnTo>
                  <a:lnTo>
                    <a:pt x="9" y="213"/>
                  </a:lnTo>
                  <a:lnTo>
                    <a:pt x="0" y="227"/>
                  </a:lnTo>
                  <a:lnTo>
                    <a:pt x="7" y="240"/>
                  </a:lnTo>
                  <a:lnTo>
                    <a:pt x="15" y="254"/>
                  </a:lnTo>
                  <a:lnTo>
                    <a:pt x="13" y="262"/>
                  </a:lnTo>
                  <a:lnTo>
                    <a:pt x="21" y="263"/>
                  </a:lnTo>
                  <a:lnTo>
                    <a:pt x="29" y="270"/>
                  </a:lnTo>
                  <a:lnTo>
                    <a:pt x="42" y="274"/>
                  </a:lnTo>
                  <a:lnTo>
                    <a:pt x="53" y="264"/>
                  </a:lnTo>
                  <a:lnTo>
                    <a:pt x="54" y="279"/>
                  </a:lnTo>
                  <a:lnTo>
                    <a:pt x="55" y="292"/>
                  </a:lnTo>
                  <a:lnTo>
                    <a:pt x="72" y="291"/>
                  </a:lnTo>
                  <a:lnTo>
                    <a:pt x="91" y="291"/>
                  </a:lnTo>
                  <a:lnTo>
                    <a:pt x="99" y="286"/>
                  </a:lnTo>
                  <a:lnTo>
                    <a:pt x="112" y="278"/>
                  </a:lnTo>
                  <a:lnTo>
                    <a:pt x="125" y="269"/>
                  </a:lnTo>
                  <a:lnTo>
                    <a:pt x="138" y="270"/>
                  </a:lnTo>
                  <a:lnTo>
                    <a:pt x="139" y="286"/>
                  </a:lnTo>
                  <a:lnTo>
                    <a:pt x="141" y="300"/>
                  </a:lnTo>
                  <a:lnTo>
                    <a:pt x="153" y="314"/>
                  </a:lnTo>
                  <a:lnTo>
                    <a:pt x="165" y="318"/>
                  </a:lnTo>
                  <a:lnTo>
                    <a:pt x="178" y="324"/>
                  </a:lnTo>
                  <a:lnTo>
                    <a:pt x="196" y="336"/>
                  </a:lnTo>
                  <a:lnTo>
                    <a:pt x="214" y="340"/>
                  </a:lnTo>
                  <a:lnTo>
                    <a:pt x="219" y="347"/>
                  </a:lnTo>
                  <a:lnTo>
                    <a:pt x="221" y="365"/>
                  </a:lnTo>
                  <a:lnTo>
                    <a:pt x="217" y="365"/>
                  </a:lnTo>
                  <a:lnTo>
                    <a:pt x="223" y="372"/>
                  </a:lnTo>
                  <a:lnTo>
                    <a:pt x="226" y="386"/>
                  </a:lnTo>
                  <a:lnTo>
                    <a:pt x="240" y="388"/>
                  </a:lnTo>
                  <a:lnTo>
                    <a:pt x="255" y="389"/>
                  </a:lnTo>
                  <a:lnTo>
                    <a:pt x="257" y="405"/>
                  </a:lnTo>
                  <a:lnTo>
                    <a:pt x="267" y="414"/>
                  </a:lnTo>
                  <a:lnTo>
                    <a:pt x="270" y="422"/>
                  </a:lnTo>
                  <a:lnTo>
                    <a:pt x="267" y="435"/>
                  </a:lnTo>
                  <a:lnTo>
                    <a:pt x="263" y="448"/>
                  </a:lnTo>
                  <a:lnTo>
                    <a:pt x="265" y="454"/>
                  </a:lnTo>
                  <a:lnTo>
                    <a:pt x="263" y="456"/>
                  </a:lnTo>
                  <a:lnTo>
                    <a:pt x="267" y="465"/>
                  </a:lnTo>
                  <a:lnTo>
                    <a:pt x="269" y="490"/>
                  </a:lnTo>
                  <a:lnTo>
                    <a:pt x="291" y="492"/>
                  </a:lnTo>
                  <a:lnTo>
                    <a:pt x="303" y="495"/>
                  </a:lnTo>
                  <a:lnTo>
                    <a:pt x="307" y="509"/>
                  </a:lnTo>
                  <a:lnTo>
                    <a:pt x="312" y="524"/>
                  </a:lnTo>
                  <a:lnTo>
                    <a:pt x="321" y="524"/>
                  </a:lnTo>
                  <a:lnTo>
                    <a:pt x="329" y="525"/>
                  </a:lnTo>
                  <a:lnTo>
                    <a:pt x="328" y="539"/>
                  </a:lnTo>
                  <a:lnTo>
                    <a:pt x="328" y="554"/>
                  </a:lnTo>
                  <a:lnTo>
                    <a:pt x="337" y="554"/>
                  </a:lnTo>
                  <a:lnTo>
                    <a:pt x="345" y="576"/>
                  </a:lnTo>
                  <a:lnTo>
                    <a:pt x="335" y="586"/>
                  </a:lnTo>
                  <a:lnTo>
                    <a:pt x="325" y="594"/>
                  </a:lnTo>
                  <a:lnTo>
                    <a:pt x="317" y="605"/>
                  </a:lnTo>
                  <a:lnTo>
                    <a:pt x="309" y="615"/>
                  </a:lnTo>
                  <a:lnTo>
                    <a:pt x="300" y="626"/>
                  </a:lnTo>
                  <a:lnTo>
                    <a:pt x="292" y="636"/>
                  </a:lnTo>
                  <a:lnTo>
                    <a:pt x="300" y="635"/>
                  </a:lnTo>
                  <a:lnTo>
                    <a:pt x="319" y="650"/>
                  </a:lnTo>
                  <a:lnTo>
                    <a:pt x="323" y="650"/>
                  </a:lnTo>
                  <a:lnTo>
                    <a:pt x="333" y="656"/>
                  </a:lnTo>
                  <a:lnTo>
                    <a:pt x="349" y="668"/>
                  </a:lnTo>
                  <a:lnTo>
                    <a:pt x="365" y="680"/>
                  </a:lnTo>
                  <a:lnTo>
                    <a:pt x="364" y="688"/>
                  </a:lnTo>
                  <a:lnTo>
                    <a:pt x="367" y="700"/>
                  </a:lnTo>
                  <a:lnTo>
                    <a:pt x="373" y="689"/>
                  </a:lnTo>
                  <a:lnTo>
                    <a:pt x="378" y="677"/>
                  </a:lnTo>
                  <a:lnTo>
                    <a:pt x="379" y="666"/>
                  </a:lnTo>
                  <a:lnTo>
                    <a:pt x="384" y="656"/>
                  </a:lnTo>
                  <a:lnTo>
                    <a:pt x="390" y="647"/>
                  </a:lnTo>
                  <a:lnTo>
                    <a:pt x="389" y="636"/>
                  </a:lnTo>
                  <a:lnTo>
                    <a:pt x="396" y="639"/>
                  </a:lnTo>
                  <a:lnTo>
                    <a:pt x="400" y="639"/>
                  </a:lnTo>
                  <a:lnTo>
                    <a:pt x="394" y="652"/>
                  </a:lnTo>
                  <a:lnTo>
                    <a:pt x="387" y="665"/>
                  </a:lnTo>
                  <a:lnTo>
                    <a:pt x="382" y="669"/>
                  </a:lnTo>
                  <a:lnTo>
                    <a:pt x="383" y="670"/>
                  </a:lnTo>
                  <a:lnTo>
                    <a:pt x="394" y="656"/>
                  </a:lnTo>
                  <a:lnTo>
                    <a:pt x="405" y="641"/>
                  </a:lnTo>
                  <a:lnTo>
                    <a:pt x="411" y="627"/>
                  </a:lnTo>
                  <a:lnTo>
                    <a:pt x="417" y="612"/>
                  </a:lnTo>
                  <a:lnTo>
                    <a:pt x="421" y="604"/>
                  </a:lnTo>
                  <a:lnTo>
                    <a:pt x="423" y="604"/>
                  </a:lnTo>
                  <a:lnTo>
                    <a:pt x="423" y="590"/>
                  </a:lnTo>
                  <a:lnTo>
                    <a:pt x="423" y="575"/>
                  </a:lnTo>
                  <a:lnTo>
                    <a:pt x="419" y="564"/>
                  </a:lnTo>
                  <a:lnTo>
                    <a:pt x="419" y="558"/>
                  </a:lnTo>
                  <a:lnTo>
                    <a:pt x="421" y="552"/>
                  </a:lnTo>
                  <a:lnTo>
                    <a:pt x="419" y="551"/>
                  </a:lnTo>
                  <a:lnTo>
                    <a:pt x="425" y="550"/>
                  </a:lnTo>
                  <a:lnTo>
                    <a:pt x="439" y="537"/>
                  </a:lnTo>
                  <a:lnTo>
                    <a:pt x="453" y="524"/>
                  </a:lnTo>
                  <a:lnTo>
                    <a:pt x="466" y="520"/>
                  </a:lnTo>
                  <a:lnTo>
                    <a:pt x="478" y="512"/>
                  </a:lnTo>
                  <a:lnTo>
                    <a:pt x="483" y="507"/>
                  </a:lnTo>
                  <a:lnTo>
                    <a:pt x="493" y="507"/>
                  </a:lnTo>
                  <a:lnTo>
                    <a:pt x="489" y="508"/>
                  </a:lnTo>
                  <a:lnTo>
                    <a:pt x="499" y="504"/>
                  </a:lnTo>
                  <a:lnTo>
                    <a:pt x="502" y="503"/>
                  </a:lnTo>
                  <a:lnTo>
                    <a:pt x="519" y="503"/>
                  </a:lnTo>
                  <a:lnTo>
                    <a:pt x="523" y="494"/>
                  </a:lnTo>
                  <a:lnTo>
                    <a:pt x="533" y="489"/>
                  </a:lnTo>
                  <a:lnTo>
                    <a:pt x="535" y="468"/>
                  </a:lnTo>
                  <a:lnTo>
                    <a:pt x="543" y="454"/>
                  </a:lnTo>
                  <a:lnTo>
                    <a:pt x="550" y="441"/>
                  </a:lnTo>
                  <a:lnTo>
                    <a:pt x="552" y="417"/>
                  </a:lnTo>
                  <a:lnTo>
                    <a:pt x="556" y="407"/>
                  </a:lnTo>
                  <a:lnTo>
                    <a:pt x="557" y="390"/>
                  </a:lnTo>
                  <a:lnTo>
                    <a:pt x="558" y="372"/>
                  </a:lnTo>
                  <a:lnTo>
                    <a:pt x="557" y="359"/>
                  </a:lnTo>
                  <a:lnTo>
                    <a:pt x="557" y="346"/>
                  </a:lnTo>
                  <a:lnTo>
                    <a:pt x="555" y="341"/>
                  </a:lnTo>
                  <a:lnTo>
                    <a:pt x="557" y="324"/>
                  </a:lnTo>
                  <a:lnTo>
                    <a:pt x="562" y="322"/>
                  </a:lnTo>
                  <a:lnTo>
                    <a:pt x="563" y="328"/>
                  </a:lnTo>
                  <a:lnTo>
                    <a:pt x="571" y="314"/>
                  </a:lnTo>
                  <a:lnTo>
                    <a:pt x="580" y="299"/>
                  </a:lnTo>
                  <a:lnTo>
                    <a:pt x="580" y="298"/>
                  </a:lnTo>
                  <a:lnTo>
                    <a:pt x="583" y="293"/>
                  </a:lnTo>
                  <a:lnTo>
                    <a:pt x="593" y="281"/>
                  </a:lnTo>
                  <a:lnTo>
                    <a:pt x="603" y="268"/>
                  </a:lnTo>
                  <a:lnTo>
                    <a:pt x="616" y="248"/>
                  </a:lnTo>
                  <a:lnTo>
                    <a:pt x="618" y="222"/>
                  </a:lnTo>
                  <a:lnTo>
                    <a:pt x="612" y="204"/>
                  </a:lnTo>
                  <a:lnTo>
                    <a:pt x="605" y="186"/>
                  </a:lnTo>
                  <a:lnTo>
                    <a:pt x="592" y="184"/>
                  </a:lnTo>
                  <a:lnTo>
                    <a:pt x="580" y="182"/>
                  </a:lnTo>
                  <a:lnTo>
                    <a:pt x="563" y="166"/>
                  </a:lnTo>
                  <a:lnTo>
                    <a:pt x="545" y="152"/>
                  </a:lnTo>
                  <a:lnTo>
                    <a:pt x="523" y="144"/>
                  </a:lnTo>
                  <a:lnTo>
                    <a:pt x="508" y="146"/>
                  </a:lnTo>
                  <a:lnTo>
                    <a:pt x="495" y="142"/>
                  </a:lnTo>
                  <a:lnTo>
                    <a:pt x="480" y="138"/>
                  </a:lnTo>
                  <a:lnTo>
                    <a:pt x="468" y="143"/>
                  </a:lnTo>
                  <a:lnTo>
                    <a:pt x="469"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2" name="Freeform 241"/>
            <p:cNvSpPr>
              <a:spLocks/>
            </p:cNvSpPr>
            <p:nvPr/>
          </p:nvSpPr>
          <p:spPr bwMode="auto">
            <a:xfrm>
              <a:off x="1636" y="2707"/>
              <a:ext cx="44" cy="34"/>
            </a:xfrm>
            <a:custGeom>
              <a:avLst/>
              <a:gdLst/>
              <a:ahLst/>
              <a:cxnLst>
                <a:cxn ang="0">
                  <a:pos x="19" y="28"/>
                </a:cxn>
                <a:cxn ang="0">
                  <a:pos x="17" y="29"/>
                </a:cxn>
                <a:cxn ang="0">
                  <a:pos x="8" y="26"/>
                </a:cxn>
                <a:cxn ang="0">
                  <a:pos x="5" y="30"/>
                </a:cxn>
                <a:cxn ang="0">
                  <a:pos x="0" y="17"/>
                </a:cxn>
                <a:cxn ang="0">
                  <a:pos x="2" y="17"/>
                </a:cxn>
                <a:cxn ang="0">
                  <a:pos x="1" y="10"/>
                </a:cxn>
                <a:cxn ang="0">
                  <a:pos x="6" y="0"/>
                </a:cxn>
                <a:cxn ang="0">
                  <a:pos x="21" y="2"/>
                </a:cxn>
                <a:cxn ang="0">
                  <a:pos x="38" y="4"/>
                </a:cxn>
                <a:cxn ang="0">
                  <a:pos x="30" y="20"/>
                </a:cxn>
                <a:cxn ang="0">
                  <a:pos x="29" y="21"/>
                </a:cxn>
                <a:cxn ang="0">
                  <a:pos x="27" y="26"/>
                </a:cxn>
                <a:cxn ang="0">
                  <a:pos x="25" y="26"/>
                </a:cxn>
                <a:cxn ang="0">
                  <a:pos x="19" y="28"/>
                </a:cxn>
              </a:cxnLst>
              <a:rect l="0" t="0" r="r" b="b"/>
              <a:pathLst>
                <a:path w="38" h="30">
                  <a:moveTo>
                    <a:pt x="19" y="28"/>
                  </a:moveTo>
                  <a:lnTo>
                    <a:pt x="17" y="29"/>
                  </a:lnTo>
                  <a:lnTo>
                    <a:pt x="8" y="26"/>
                  </a:lnTo>
                  <a:lnTo>
                    <a:pt x="5" y="30"/>
                  </a:lnTo>
                  <a:lnTo>
                    <a:pt x="0" y="17"/>
                  </a:lnTo>
                  <a:lnTo>
                    <a:pt x="2" y="17"/>
                  </a:lnTo>
                  <a:lnTo>
                    <a:pt x="1" y="10"/>
                  </a:lnTo>
                  <a:lnTo>
                    <a:pt x="6" y="0"/>
                  </a:lnTo>
                  <a:lnTo>
                    <a:pt x="21" y="2"/>
                  </a:lnTo>
                  <a:lnTo>
                    <a:pt x="38" y="4"/>
                  </a:lnTo>
                  <a:lnTo>
                    <a:pt x="30" y="20"/>
                  </a:lnTo>
                  <a:lnTo>
                    <a:pt x="29" y="21"/>
                  </a:lnTo>
                  <a:lnTo>
                    <a:pt x="27" y="26"/>
                  </a:lnTo>
                  <a:lnTo>
                    <a:pt x="25" y="26"/>
                  </a:lnTo>
                  <a:lnTo>
                    <a:pt x="19"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3" name="Freeform 242"/>
            <p:cNvSpPr>
              <a:spLocks/>
            </p:cNvSpPr>
            <p:nvPr/>
          </p:nvSpPr>
          <p:spPr bwMode="auto">
            <a:xfrm>
              <a:off x="1451" y="3092"/>
              <a:ext cx="147" cy="162"/>
            </a:xfrm>
            <a:custGeom>
              <a:avLst/>
              <a:gdLst/>
              <a:ahLst/>
              <a:cxnLst>
                <a:cxn ang="0">
                  <a:pos x="7" y="13"/>
                </a:cxn>
                <a:cxn ang="0">
                  <a:pos x="4" y="32"/>
                </a:cxn>
                <a:cxn ang="0">
                  <a:pos x="0" y="52"/>
                </a:cxn>
                <a:cxn ang="0">
                  <a:pos x="16" y="66"/>
                </a:cxn>
                <a:cxn ang="0">
                  <a:pos x="31" y="80"/>
                </a:cxn>
                <a:cxn ang="0">
                  <a:pos x="43" y="86"/>
                </a:cxn>
                <a:cxn ang="0">
                  <a:pos x="56" y="92"/>
                </a:cxn>
                <a:cxn ang="0">
                  <a:pos x="71" y="101"/>
                </a:cxn>
                <a:cxn ang="0">
                  <a:pos x="85" y="109"/>
                </a:cxn>
                <a:cxn ang="0">
                  <a:pos x="79" y="126"/>
                </a:cxn>
                <a:cxn ang="0">
                  <a:pos x="73" y="143"/>
                </a:cxn>
                <a:cxn ang="0">
                  <a:pos x="91" y="144"/>
                </a:cxn>
                <a:cxn ang="0">
                  <a:pos x="109" y="145"/>
                </a:cxn>
                <a:cxn ang="0">
                  <a:pos x="120" y="142"/>
                </a:cxn>
                <a:cxn ang="0">
                  <a:pos x="132" y="122"/>
                </a:cxn>
                <a:cxn ang="0">
                  <a:pos x="131" y="112"/>
                </a:cxn>
                <a:cxn ang="0">
                  <a:pos x="131" y="97"/>
                </a:cxn>
                <a:cxn ang="0">
                  <a:pos x="132" y="83"/>
                </a:cxn>
                <a:cxn ang="0">
                  <a:pos x="124" y="82"/>
                </a:cxn>
                <a:cxn ang="0">
                  <a:pos x="115" y="82"/>
                </a:cxn>
                <a:cxn ang="0">
                  <a:pos x="110" y="67"/>
                </a:cxn>
                <a:cxn ang="0">
                  <a:pos x="106" y="53"/>
                </a:cxn>
                <a:cxn ang="0">
                  <a:pos x="94" y="50"/>
                </a:cxn>
                <a:cxn ang="0">
                  <a:pos x="72" y="48"/>
                </a:cxn>
                <a:cxn ang="0">
                  <a:pos x="70" y="23"/>
                </a:cxn>
                <a:cxn ang="0">
                  <a:pos x="66" y="14"/>
                </a:cxn>
                <a:cxn ang="0">
                  <a:pos x="66" y="11"/>
                </a:cxn>
                <a:cxn ang="0">
                  <a:pos x="50" y="0"/>
                </a:cxn>
                <a:cxn ang="0">
                  <a:pos x="30" y="2"/>
                </a:cxn>
                <a:cxn ang="0">
                  <a:pos x="10" y="5"/>
                </a:cxn>
                <a:cxn ang="0">
                  <a:pos x="7" y="13"/>
                </a:cxn>
              </a:cxnLst>
              <a:rect l="0" t="0" r="r" b="b"/>
              <a:pathLst>
                <a:path w="132" h="145">
                  <a:moveTo>
                    <a:pt x="7" y="13"/>
                  </a:moveTo>
                  <a:lnTo>
                    <a:pt x="4" y="32"/>
                  </a:lnTo>
                  <a:lnTo>
                    <a:pt x="0" y="52"/>
                  </a:lnTo>
                  <a:lnTo>
                    <a:pt x="16" y="66"/>
                  </a:lnTo>
                  <a:lnTo>
                    <a:pt x="31" y="80"/>
                  </a:lnTo>
                  <a:lnTo>
                    <a:pt x="43" y="86"/>
                  </a:lnTo>
                  <a:lnTo>
                    <a:pt x="56" y="92"/>
                  </a:lnTo>
                  <a:lnTo>
                    <a:pt x="71" y="101"/>
                  </a:lnTo>
                  <a:lnTo>
                    <a:pt x="85" y="109"/>
                  </a:lnTo>
                  <a:lnTo>
                    <a:pt x="79" y="126"/>
                  </a:lnTo>
                  <a:lnTo>
                    <a:pt x="73" y="143"/>
                  </a:lnTo>
                  <a:lnTo>
                    <a:pt x="91" y="144"/>
                  </a:lnTo>
                  <a:lnTo>
                    <a:pt x="109" y="145"/>
                  </a:lnTo>
                  <a:lnTo>
                    <a:pt x="120" y="142"/>
                  </a:lnTo>
                  <a:lnTo>
                    <a:pt x="132" y="122"/>
                  </a:lnTo>
                  <a:lnTo>
                    <a:pt x="131" y="112"/>
                  </a:lnTo>
                  <a:lnTo>
                    <a:pt x="131" y="97"/>
                  </a:lnTo>
                  <a:lnTo>
                    <a:pt x="132" y="83"/>
                  </a:lnTo>
                  <a:lnTo>
                    <a:pt x="124" y="82"/>
                  </a:lnTo>
                  <a:lnTo>
                    <a:pt x="115" y="82"/>
                  </a:lnTo>
                  <a:lnTo>
                    <a:pt x="110" y="67"/>
                  </a:lnTo>
                  <a:lnTo>
                    <a:pt x="106" y="53"/>
                  </a:lnTo>
                  <a:lnTo>
                    <a:pt x="94" y="50"/>
                  </a:lnTo>
                  <a:lnTo>
                    <a:pt x="72" y="48"/>
                  </a:lnTo>
                  <a:lnTo>
                    <a:pt x="70" y="23"/>
                  </a:lnTo>
                  <a:lnTo>
                    <a:pt x="66" y="14"/>
                  </a:lnTo>
                  <a:lnTo>
                    <a:pt x="66" y="11"/>
                  </a:lnTo>
                  <a:lnTo>
                    <a:pt x="50" y="0"/>
                  </a:lnTo>
                  <a:lnTo>
                    <a:pt x="30" y="2"/>
                  </a:lnTo>
                  <a:lnTo>
                    <a:pt x="10" y="5"/>
                  </a:lnTo>
                  <a:lnTo>
                    <a:pt x="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4" name="Freeform 243"/>
            <p:cNvSpPr>
              <a:spLocks/>
            </p:cNvSpPr>
            <p:nvPr/>
          </p:nvSpPr>
          <p:spPr bwMode="auto">
            <a:xfrm>
              <a:off x="1556" y="3307"/>
              <a:ext cx="84" cy="94"/>
            </a:xfrm>
            <a:custGeom>
              <a:avLst/>
              <a:gdLst/>
              <a:ahLst/>
              <a:cxnLst>
                <a:cxn ang="0">
                  <a:pos x="74" y="45"/>
                </a:cxn>
                <a:cxn ang="0">
                  <a:pos x="58" y="33"/>
                </a:cxn>
                <a:cxn ang="0">
                  <a:pos x="42" y="21"/>
                </a:cxn>
                <a:cxn ang="0">
                  <a:pos x="32" y="15"/>
                </a:cxn>
                <a:cxn ang="0">
                  <a:pos x="28" y="15"/>
                </a:cxn>
                <a:cxn ang="0">
                  <a:pos x="9" y="0"/>
                </a:cxn>
                <a:cxn ang="0">
                  <a:pos x="1" y="1"/>
                </a:cxn>
                <a:cxn ang="0">
                  <a:pos x="1" y="3"/>
                </a:cxn>
                <a:cxn ang="0">
                  <a:pos x="1" y="22"/>
                </a:cxn>
                <a:cxn ang="0">
                  <a:pos x="0" y="42"/>
                </a:cxn>
                <a:cxn ang="0">
                  <a:pos x="1" y="45"/>
                </a:cxn>
                <a:cxn ang="0">
                  <a:pos x="0" y="59"/>
                </a:cxn>
                <a:cxn ang="0">
                  <a:pos x="7" y="73"/>
                </a:cxn>
                <a:cxn ang="0">
                  <a:pos x="26" y="82"/>
                </a:cxn>
                <a:cxn ang="0">
                  <a:pos x="51" y="85"/>
                </a:cxn>
                <a:cxn ang="0">
                  <a:pos x="66" y="81"/>
                </a:cxn>
                <a:cxn ang="0">
                  <a:pos x="76" y="65"/>
                </a:cxn>
                <a:cxn ang="0">
                  <a:pos x="73" y="53"/>
                </a:cxn>
                <a:cxn ang="0">
                  <a:pos x="74" y="45"/>
                </a:cxn>
              </a:cxnLst>
              <a:rect l="0" t="0" r="r" b="b"/>
              <a:pathLst>
                <a:path w="76" h="85">
                  <a:moveTo>
                    <a:pt x="74" y="45"/>
                  </a:moveTo>
                  <a:lnTo>
                    <a:pt x="58" y="33"/>
                  </a:lnTo>
                  <a:lnTo>
                    <a:pt x="42" y="21"/>
                  </a:lnTo>
                  <a:lnTo>
                    <a:pt x="32" y="15"/>
                  </a:lnTo>
                  <a:lnTo>
                    <a:pt x="28" y="15"/>
                  </a:lnTo>
                  <a:lnTo>
                    <a:pt x="9" y="0"/>
                  </a:lnTo>
                  <a:lnTo>
                    <a:pt x="1" y="1"/>
                  </a:lnTo>
                  <a:lnTo>
                    <a:pt x="1" y="3"/>
                  </a:lnTo>
                  <a:lnTo>
                    <a:pt x="1" y="22"/>
                  </a:lnTo>
                  <a:lnTo>
                    <a:pt x="0" y="42"/>
                  </a:lnTo>
                  <a:lnTo>
                    <a:pt x="1" y="45"/>
                  </a:lnTo>
                  <a:lnTo>
                    <a:pt x="0" y="59"/>
                  </a:lnTo>
                  <a:lnTo>
                    <a:pt x="7" y="73"/>
                  </a:lnTo>
                  <a:lnTo>
                    <a:pt x="26" y="82"/>
                  </a:lnTo>
                  <a:lnTo>
                    <a:pt x="51" y="85"/>
                  </a:lnTo>
                  <a:lnTo>
                    <a:pt x="66" y="81"/>
                  </a:lnTo>
                  <a:lnTo>
                    <a:pt x="76" y="65"/>
                  </a:lnTo>
                  <a:lnTo>
                    <a:pt x="73" y="53"/>
                  </a:lnTo>
                  <a:lnTo>
                    <a:pt x="74" y="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5" name="Freeform 244"/>
            <p:cNvSpPr>
              <a:spLocks/>
            </p:cNvSpPr>
            <p:nvPr/>
          </p:nvSpPr>
          <p:spPr bwMode="auto">
            <a:xfrm>
              <a:off x="1345" y="3141"/>
              <a:ext cx="271" cy="604"/>
            </a:xfrm>
            <a:custGeom>
              <a:avLst/>
              <a:gdLst/>
              <a:ahLst/>
              <a:cxnLst>
                <a:cxn ang="0">
                  <a:pos x="136" y="345"/>
                </a:cxn>
                <a:cxn ang="0">
                  <a:pos x="132" y="366"/>
                </a:cxn>
                <a:cxn ang="0">
                  <a:pos x="143" y="367"/>
                </a:cxn>
                <a:cxn ang="0">
                  <a:pos x="151" y="377"/>
                </a:cxn>
                <a:cxn ang="0">
                  <a:pos x="132" y="375"/>
                </a:cxn>
                <a:cxn ang="0">
                  <a:pos x="133" y="394"/>
                </a:cxn>
                <a:cxn ang="0">
                  <a:pos x="132" y="417"/>
                </a:cxn>
                <a:cxn ang="0">
                  <a:pos x="116" y="441"/>
                </a:cxn>
                <a:cxn ang="0">
                  <a:pos x="148" y="457"/>
                </a:cxn>
                <a:cxn ang="0">
                  <a:pos x="148" y="468"/>
                </a:cxn>
                <a:cxn ang="0">
                  <a:pos x="132" y="491"/>
                </a:cxn>
                <a:cxn ang="0">
                  <a:pos x="124" y="502"/>
                </a:cxn>
                <a:cxn ang="0">
                  <a:pos x="127" y="507"/>
                </a:cxn>
                <a:cxn ang="0">
                  <a:pos x="121" y="521"/>
                </a:cxn>
                <a:cxn ang="0">
                  <a:pos x="125" y="531"/>
                </a:cxn>
                <a:cxn ang="0">
                  <a:pos x="143" y="545"/>
                </a:cxn>
                <a:cxn ang="0">
                  <a:pos x="91" y="535"/>
                </a:cxn>
                <a:cxn ang="0">
                  <a:pos x="74" y="514"/>
                </a:cxn>
                <a:cxn ang="0">
                  <a:pos x="52" y="491"/>
                </a:cxn>
                <a:cxn ang="0">
                  <a:pos x="59" y="457"/>
                </a:cxn>
                <a:cxn ang="0">
                  <a:pos x="54" y="424"/>
                </a:cxn>
                <a:cxn ang="0">
                  <a:pos x="44" y="412"/>
                </a:cxn>
                <a:cxn ang="0">
                  <a:pos x="42" y="402"/>
                </a:cxn>
                <a:cxn ang="0">
                  <a:pos x="29" y="373"/>
                </a:cxn>
                <a:cxn ang="0">
                  <a:pos x="22" y="335"/>
                </a:cxn>
                <a:cxn ang="0">
                  <a:pos x="23" y="305"/>
                </a:cxn>
                <a:cxn ang="0">
                  <a:pos x="17" y="280"/>
                </a:cxn>
                <a:cxn ang="0">
                  <a:pos x="20" y="252"/>
                </a:cxn>
                <a:cxn ang="0">
                  <a:pos x="19" y="217"/>
                </a:cxn>
                <a:cxn ang="0">
                  <a:pos x="7" y="192"/>
                </a:cxn>
                <a:cxn ang="0">
                  <a:pos x="1" y="166"/>
                </a:cxn>
                <a:cxn ang="0">
                  <a:pos x="2" y="142"/>
                </a:cxn>
                <a:cxn ang="0">
                  <a:pos x="8" y="113"/>
                </a:cxn>
                <a:cxn ang="0">
                  <a:pos x="19" y="91"/>
                </a:cxn>
                <a:cxn ang="0">
                  <a:pos x="11" y="57"/>
                </a:cxn>
                <a:cxn ang="0">
                  <a:pos x="26" y="40"/>
                </a:cxn>
                <a:cxn ang="0">
                  <a:pos x="26" y="18"/>
                </a:cxn>
                <a:cxn ang="0">
                  <a:pos x="43" y="3"/>
                </a:cxn>
                <a:cxn ang="0">
                  <a:pos x="70" y="17"/>
                </a:cxn>
                <a:cxn ang="0">
                  <a:pos x="92" y="4"/>
                </a:cxn>
                <a:cxn ang="0">
                  <a:pos x="112" y="23"/>
                </a:cxn>
                <a:cxn ang="0">
                  <a:pos x="139" y="43"/>
                </a:cxn>
                <a:cxn ang="0">
                  <a:pos x="167" y="58"/>
                </a:cxn>
                <a:cxn ang="0">
                  <a:pos x="175" y="83"/>
                </a:cxn>
                <a:cxn ang="0">
                  <a:pos x="187" y="101"/>
                </a:cxn>
                <a:cxn ang="0">
                  <a:pos x="216" y="99"/>
                </a:cxn>
                <a:cxn ang="0">
                  <a:pos x="227" y="69"/>
                </a:cxn>
                <a:cxn ang="0">
                  <a:pos x="244" y="91"/>
                </a:cxn>
                <a:cxn ang="0">
                  <a:pos x="224" y="109"/>
                </a:cxn>
                <a:cxn ang="0">
                  <a:pos x="208" y="130"/>
                </a:cxn>
                <a:cxn ang="0">
                  <a:pos x="191" y="151"/>
                </a:cxn>
                <a:cxn ang="0">
                  <a:pos x="191" y="172"/>
                </a:cxn>
                <a:cxn ang="0">
                  <a:pos x="192" y="203"/>
                </a:cxn>
                <a:cxn ang="0">
                  <a:pos x="194" y="232"/>
                </a:cxn>
                <a:cxn ang="0">
                  <a:pos x="217" y="258"/>
                </a:cxn>
                <a:cxn ang="0">
                  <a:pos x="221" y="281"/>
                </a:cxn>
                <a:cxn ang="0">
                  <a:pos x="202" y="300"/>
                </a:cxn>
                <a:cxn ang="0">
                  <a:pos x="176" y="306"/>
                </a:cxn>
                <a:cxn ang="0">
                  <a:pos x="152" y="309"/>
                </a:cxn>
                <a:cxn ang="0">
                  <a:pos x="160" y="337"/>
                </a:cxn>
              </a:cxnLst>
              <a:rect l="0" t="0" r="r" b="b"/>
              <a:pathLst>
                <a:path w="244" h="545">
                  <a:moveTo>
                    <a:pt x="156" y="346"/>
                  </a:moveTo>
                  <a:lnTo>
                    <a:pt x="136" y="345"/>
                  </a:lnTo>
                  <a:lnTo>
                    <a:pt x="120" y="342"/>
                  </a:lnTo>
                  <a:lnTo>
                    <a:pt x="132" y="366"/>
                  </a:lnTo>
                  <a:lnTo>
                    <a:pt x="137" y="369"/>
                  </a:lnTo>
                  <a:lnTo>
                    <a:pt x="143" y="367"/>
                  </a:lnTo>
                  <a:lnTo>
                    <a:pt x="146" y="364"/>
                  </a:lnTo>
                  <a:lnTo>
                    <a:pt x="151" y="377"/>
                  </a:lnTo>
                  <a:lnTo>
                    <a:pt x="143" y="375"/>
                  </a:lnTo>
                  <a:lnTo>
                    <a:pt x="132" y="375"/>
                  </a:lnTo>
                  <a:lnTo>
                    <a:pt x="144" y="381"/>
                  </a:lnTo>
                  <a:lnTo>
                    <a:pt x="133" y="394"/>
                  </a:lnTo>
                  <a:lnTo>
                    <a:pt x="134" y="408"/>
                  </a:lnTo>
                  <a:lnTo>
                    <a:pt x="132" y="417"/>
                  </a:lnTo>
                  <a:lnTo>
                    <a:pt x="116" y="424"/>
                  </a:lnTo>
                  <a:lnTo>
                    <a:pt x="116" y="441"/>
                  </a:lnTo>
                  <a:lnTo>
                    <a:pt x="139" y="453"/>
                  </a:lnTo>
                  <a:lnTo>
                    <a:pt x="148" y="457"/>
                  </a:lnTo>
                  <a:lnTo>
                    <a:pt x="143" y="466"/>
                  </a:lnTo>
                  <a:lnTo>
                    <a:pt x="148" y="468"/>
                  </a:lnTo>
                  <a:lnTo>
                    <a:pt x="140" y="479"/>
                  </a:lnTo>
                  <a:lnTo>
                    <a:pt x="132" y="491"/>
                  </a:lnTo>
                  <a:lnTo>
                    <a:pt x="131" y="504"/>
                  </a:lnTo>
                  <a:lnTo>
                    <a:pt x="124" y="502"/>
                  </a:lnTo>
                  <a:lnTo>
                    <a:pt x="120" y="503"/>
                  </a:lnTo>
                  <a:lnTo>
                    <a:pt x="127" y="507"/>
                  </a:lnTo>
                  <a:lnTo>
                    <a:pt x="121" y="516"/>
                  </a:lnTo>
                  <a:lnTo>
                    <a:pt x="121" y="521"/>
                  </a:lnTo>
                  <a:lnTo>
                    <a:pt x="128" y="532"/>
                  </a:lnTo>
                  <a:lnTo>
                    <a:pt x="125" y="531"/>
                  </a:lnTo>
                  <a:lnTo>
                    <a:pt x="134" y="535"/>
                  </a:lnTo>
                  <a:lnTo>
                    <a:pt x="143" y="545"/>
                  </a:lnTo>
                  <a:lnTo>
                    <a:pt x="119" y="538"/>
                  </a:lnTo>
                  <a:lnTo>
                    <a:pt x="91" y="535"/>
                  </a:lnTo>
                  <a:lnTo>
                    <a:pt x="83" y="527"/>
                  </a:lnTo>
                  <a:lnTo>
                    <a:pt x="74" y="514"/>
                  </a:lnTo>
                  <a:lnTo>
                    <a:pt x="66" y="515"/>
                  </a:lnTo>
                  <a:lnTo>
                    <a:pt x="52" y="491"/>
                  </a:lnTo>
                  <a:lnTo>
                    <a:pt x="61" y="481"/>
                  </a:lnTo>
                  <a:lnTo>
                    <a:pt x="59" y="457"/>
                  </a:lnTo>
                  <a:lnTo>
                    <a:pt x="55" y="437"/>
                  </a:lnTo>
                  <a:lnTo>
                    <a:pt x="54" y="424"/>
                  </a:lnTo>
                  <a:lnTo>
                    <a:pt x="50" y="415"/>
                  </a:lnTo>
                  <a:lnTo>
                    <a:pt x="44" y="412"/>
                  </a:lnTo>
                  <a:lnTo>
                    <a:pt x="54" y="408"/>
                  </a:lnTo>
                  <a:lnTo>
                    <a:pt x="42" y="402"/>
                  </a:lnTo>
                  <a:lnTo>
                    <a:pt x="36" y="383"/>
                  </a:lnTo>
                  <a:lnTo>
                    <a:pt x="29" y="373"/>
                  </a:lnTo>
                  <a:lnTo>
                    <a:pt x="28" y="359"/>
                  </a:lnTo>
                  <a:lnTo>
                    <a:pt x="22" y="335"/>
                  </a:lnTo>
                  <a:lnTo>
                    <a:pt x="20" y="316"/>
                  </a:lnTo>
                  <a:lnTo>
                    <a:pt x="23" y="305"/>
                  </a:lnTo>
                  <a:lnTo>
                    <a:pt x="22" y="294"/>
                  </a:lnTo>
                  <a:lnTo>
                    <a:pt x="17" y="280"/>
                  </a:lnTo>
                  <a:lnTo>
                    <a:pt x="13" y="264"/>
                  </a:lnTo>
                  <a:lnTo>
                    <a:pt x="20" y="252"/>
                  </a:lnTo>
                  <a:lnTo>
                    <a:pt x="17" y="240"/>
                  </a:lnTo>
                  <a:lnTo>
                    <a:pt x="19" y="217"/>
                  </a:lnTo>
                  <a:lnTo>
                    <a:pt x="14" y="207"/>
                  </a:lnTo>
                  <a:lnTo>
                    <a:pt x="7" y="192"/>
                  </a:lnTo>
                  <a:lnTo>
                    <a:pt x="0" y="178"/>
                  </a:lnTo>
                  <a:lnTo>
                    <a:pt x="1" y="166"/>
                  </a:lnTo>
                  <a:lnTo>
                    <a:pt x="4" y="155"/>
                  </a:lnTo>
                  <a:lnTo>
                    <a:pt x="2" y="142"/>
                  </a:lnTo>
                  <a:lnTo>
                    <a:pt x="2" y="129"/>
                  </a:lnTo>
                  <a:lnTo>
                    <a:pt x="8" y="113"/>
                  </a:lnTo>
                  <a:lnTo>
                    <a:pt x="14" y="96"/>
                  </a:lnTo>
                  <a:lnTo>
                    <a:pt x="19" y="91"/>
                  </a:lnTo>
                  <a:lnTo>
                    <a:pt x="13" y="82"/>
                  </a:lnTo>
                  <a:lnTo>
                    <a:pt x="11" y="57"/>
                  </a:lnTo>
                  <a:lnTo>
                    <a:pt x="13" y="47"/>
                  </a:lnTo>
                  <a:lnTo>
                    <a:pt x="26" y="40"/>
                  </a:lnTo>
                  <a:lnTo>
                    <a:pt x="30" y="22"/>
                  </a:lnTo>
                  <a:lnTo>
                    <a:pt x="26" y="18"/>
                  </a:lnTo>
                  <a:lnTo>
                    <a:pt x="40" y="0"/>
                  </a:lnTo>
                  <a:lnTo>
                    <a:pt x="43" y="3"/>
                  </a:lnTo>
                  <a:lnTo>
                    <a:pt x="62" y="6"/>
                  </a:lnTo>
                  <a:lnTo>
                    <a:pt x="70" y="17"/>
                  </a:lnTo>
                  <a:lnTo>
                    <a:pt x="74" y="7"/>
                  </a:lnTo>
                  <a:lnTo>
                    <a:pt x="92" y="4"/>
                  </a:lnTo>
                  <a:lnTo>
                    <a:pt x="96" y="9"/>
                  </a:lnTo>
                  <a:lnTo>
                    <a:pt x="112" y="23"/>
                  </a:lnTo>
                  <a:lnTo>
                    <a:pt x="127" y="37"/>
                  </a:lnTo>
                  <a:lnTo>
                    <a:pt x="139" y="43"/>
                  </a:lnTo>
                  <a:lnTo>
                    <a:pt x="152" y="49"/>
                  </a:lnTo>
                  <a:lnTo>
                    <a:pt x="167" y="58"/>
                  </a:lnTo>
                  <a:lnTo>
                    <a:pt x="181" y="66"/>
                  </a:lnTo>
                  <a:lnTo>
                    <a:pt x="175" y="83"/>
                  </a:lnTo>
                  <a:lnTo>
                    <a:pt x="169" y="100"/>
                  </a:lnTo>
                  <a:lnTo>
                    <a:pt x="187" y="101"/>
                  </a:lnTo>
                  <a:lnTo>
                    <a:pt x="205" y="102"/>
                  </a:lnTo>
                  <a:lnTo>
                    <a:pt x="216" y="99"/>
                  </a:lnTo>
                  <a:lnTo>
                    <a:pt x="228" y="79"/>
                  </a:lnTo>
                  <a:lnTo>
                    <a:pt x="227" y="69"/>
                  </a:lnTo>
                  <a:lnTo>
                    <a:pt x="236" y="69"/>
                  </a:lnTo>
                  <a:lnTo>
                    <a:pt x="244" y="91"/>
                  </a:lnTo>
                  <a:lnTo>
                    <a:pt x="234" y="101"/>
                  </a:lnTo>
                  <a:lnTo>
                    <a:pt x="224" y="109"/>
                  </a:lnTo>
                  <a:lnTo>
                    <a:pt x="216" y="120"/>
                  </a:lnTo>
                  <a:lnTo>
                    <a:pt x="208" y="130"/>
                  </a:lnTo>
                  <a:lnTo>
                    <a:pt x="199" y="141"/>
                  </a:lnTo>
                  <a:lnTo>
                    <a:pt x="191" y="151"/>
                  </a:lnTo>
                  <a:lnTo>
                    <a:pt x="191" y="153"/>
                  </a:lnTo>
                  <a:lnTo>
                    <a:pt x="191" y="172"/>
                  </a:lnTo>
                  <a:lnTo>
                    <a:pt x="190" y="192"/>
                  </a:lnTo>
                  <a:lnTo>
                    <a:pt x="192" y="203"/>
                  </a:lnTo>
                  <a:lnTo>
                    <a:pt x="188" y="211"/>
                  </a:lnTo>
                  <a:lnTo>
                    <a:pt x="194" y="232"/>
                  </a:lnTo>
                  <a:lnTo>
                    <a:pt x="215" y="246"/>
                  </a:lnTo>
                  <a:lnTo>
                    <a:pt x="217" y="258"/>
                  </a:lnTo>
                  <a:lnTo>
                    <a:pt x="227" y="265"/>
                  </a:lnTo>
                  <a:lnTo>
                    <a:pt x="221" y="281"/>
                  </a:lnTo>
                  <a:lnTo>
                    <a:pt x="215" y="297"/>
                  </a:lnTo>
                  <a:lnTo>
                    <a:pt x="202" y="300"/>
                  </a:lnTo>
                  <a:lnTo>
                    <a:pt x="190" y="304"/>
                  </a:lnTo>
                  <a:lnTo>
                    <a:pt x="176" y="306"/>
                  </a:lnTo>
                  <a:lnTo>
                    <a:pt x="164" y="310"/>
                  </a:lnTo>
                  <a:lnTo>
                    <a:pt x="152" y="309"/>
                  </a:lnTo>
                  <a:lnTo>
                    <a:pt x="156" y="315"/>
                  </a:lnTo>
                  <a:lnTo>
                    <a:pt x="160" y="337"/>
                  </a:lnTo>
                  <a:lnTo>
                    <a:pt x="156" y="3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6" name="Freeform 245"/>
            <p:cNvSpPr>
              <a:spLocks/>
            </p:cNvSpPr>
            <p:nvPr/>
          </p:nvSpPr>
          <p:spPr bwMode="auto">
            <a:xfrm>
              <a:off x="1502" y="3750"/>
              <a:ext cx="67" cy="44"/>
            </a:xfrm>
            <a:custGeom>
              <a:avLst/>
              <a:gdLst/>
              <a:ahLst/>
              <a:cxnLst>
                <a:cxn ang="0">
                  <a:pos x="5" y="8"/>
                </a:cxn>
                <a:cxn ang="0">
                  <a:pos x="0" y="0"/>
                </a:cxn>
                <a:cxn ang="0">
                  <a:pos x="7" y="19"/>
                </a:cxn>
                <a:cxn ang="0">
                  <a:pos x="15" y="38"/>
                </a:cxn>
                <a:cxn ang="0">
                  <a:pos x="37" y="38"/>
                </a:cxn>
                <a:cxn ang="0">
                  <a:pos x="59" y="39"/>
                </a:cxn>
                <a:cxn ang="0">
                  <a:pos x="57" y="34"/>
                </a:cxn>
                <a:cxn ang="0">
                  <a:pos x="26" y="24"/>
                </a:cxn>
                <a:cxn ang="0">
                  <a:pos x="5" y="8"/>
                </a:cxn>
              </a:cxnLst>
              <a:rect l="0" t="0" r="r" b="b"/>
              <a:pathLst>
                <a:path w="59" h="39">
                  <a:moveTo>
                    <a:pt x="5" y="8"/>
                  </a:moveTo>
                  <a:lnTo>
                    <a:pt x="0" y="0"/>
                  </a:lnTo>
                  <a:lnTo>
                    <a:pt x="7" y="19"/>
                  </a:lnTo>
                  <a:lnTo>
                    <a:pt x="15" y="38"/>
                  </a:lnTo>
                  <a:lnTo>
                    <a:pt x="37" y="38"/>
                  </a:lnTo>
                  <a:lnTo>
                    <a:pt x="59" y="39"/>
                  </a:lnTo>
                  <a:lnTo>
                    <a:pt x="57" y="34"/>
                  </a:lnTo>
                  <a:lnTo>
                    <a:pt x="26" y="24"/>
                  </a:lnTo>
                  <a:lnTo>
                    <a:pt x="5" y="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7" name="Freeform 246"/>
            <p:cNvSpPr>
              <a:spLocks/>
            </p:cNvSpPr>
            <p:nvPr/>
          </p:nvSpPr>
          <p:spPr bwMode="auto">
            <a:xfrm>
              <a:off x="1309" y="3054"/>
              <a:ext cx="193" cy="720"/>
            </a:xfrm>
            <a:custGeom>
              <a:avLst/>
              <a:gdLst/>
              <a:ahLst/>
              <a:cxnLst>
                <a:cxn ang="0">
                  <a:pos x="18" y="257"/>
                </a:cxn>
                <a:cxn ang="0">
                  <a:pos x="20" y="300"/>
                </a:cxn>
                <a:cxn ang="0">
                  <a:pos x="15" y="348"/>
                </a:cxn>
                <a:cxn ang="0">
                  <a:pos x="22" y="384"/>
                </a:cxn>
                <a:cxn ang="0">
                  <a:pos x="33" y="432"/>
                </a:cxn>
                <a:cxn ang="0">
                  <a:pos x="46" y="432"/>
                </a:cxn>
                <a:cxn ang="0">
                  <a:pos x="54" y="444"/>
                </a:cxn>
                <a:cxn ang="0">
                  <a:pos x="54" y="459"/>
                </a:cxn>
                <a:cxn ang="0">
                  <a:pos x="63" y="484"/>
                </a:cxn>
                <a:cxn ang="0">
                  <a:pos x="61" y="500"/>
                </a:cxn>
                <a:cxn ang="0">
                  <a:pos x="62" y="514"/>
                </a:cxn>
                <a:cxn ang="0">
                  <a:pos x="57" y="515"/>
                </a:cxn>
                <a:cxn ang="0">
                  <a:pos x="49" y="509"/>
                </a:cxn>
                <a:cxn ang="0">
                  <a:pos x="39" y="524"/>
                </a:cxn>
                <a:cxn ang="0">
                  <a:pos x="63" y="532"/>
                </a:cxn>
                <a:cxn ang="0">
                  <a:pos x="56" y="542"/>
                </a:cxn>
                <a:cxn ang="0">
                  <a:pos x="75" y="545"/>
                </a:cxn>
                <a:cxn ang="0">
                  <a:pos x="61" y="546"/>
                </a:cxn>
                <a:cxn ang="0">
                  <a:pos x="75" y="576"/>
                </a:cxn>
                <a:cxn ang="0">
                  <a:pos x="84" y="588"/>
                </a:cxn>
                <a:cxn ang="0">
                  <a:pos x="96" y="604"/>
                </a:cxn>
                <a:cxn ang="0">
                  <a:pos x="102" y="614"/>
                </a:cxn>
                <a:cxn ang="0">
                  <a:pos x="111" y="629"/>
                </a:cxn>
                <a:cxn ang="0">
                  <a:pos x="118" y="636"/>
                </a:cxn>
                <a:cxn ang="0">
                  <a:pos x="148" y="626"/>
                </a:cxn>
                <a:cxn ang="0">
                  <a:pos x="151" y="615"/>
                </a:cxn>
                <a:cxn ang="0">
                  <a:pos x="106" y="591"/>
                </a:cxn>
                <a:cxn ang="0">
                  <a:pos x="93" y="558"/>
                </a:cxn>
                <a:cxn ang="0">
                  <a:pos x="86" y="501"/>
                </a:cxn>
                <a:cxn ang="0">
                  <a:pos x="86" y="485"/>
                </a:cxn>
                <a:cxn ang="0">
                  <a:pos x="61" y="450"/>
                </a:cxn>
                <a:cxn ang="0">
                  <a:pos x="52" y="393"/>
                </a:cxn>
                <a:cxn ang="0">
                  <a:pos x="49" y="357"/>
                </a:cxn>
                <a:cxn ang="0">
                  <a:pos x="49" y="317"/>
                </a:cxn>
                <a:cxn ang="0">
                  <a:pos x="39" y="269"/>
                </a:cxn>
                <a:cxn ang="0">
                  <a:pos x="36" y="232"/>
                </a:cxn>
                <a:cxn ang="0">
                  <a:pos x="40" y="190"/>
                </a:cxn>
                <a:cxn ang="0">
                  <a:pos x="45" y="159"/>
                </a:cxn>
                <a:cxn ang="0">
                  <a:pos x="58" y="117"/>
                </a:cxn>
                <a:cxn ang="0">
                  <a:pos x="48" y="94"/>
                </a:cxn>
                <a:cxn ang="0">
                  <a:pos x="30" y="46"/>
                </a:cxn>
                <a:cxn ang="0">
                  <a:pos x="18" y="9"/>
                </a:cxn>
                <a:cxn ang="0">
                  <a:pos x="3" y="15"/>
                </a:cxn>
                <a:cxn ang="0">
                  <a:pos x="9" y="62"/>
                </a:cxn>
                <a:cxn ang="0">
                  <a:pos x="8" y="108"/>
                </a:cxn>
                <a:cxn ang="0">
                  <a:pos x="10" y="176"/>
                </a:cxn>
                <a:cxn ang="0">
                  <a:pos x="12" y="230"/>
                </a:cxn>
              </a:cxnLst>
              <a:rect l="0" t="0" r="r" b="b"/>
              <a:pathLst>
                <a:path w="175" h="647">
                  <a:moveTo>
                    <a:pt x="12" y="230"/>
                  </a:moveTo>
                  <a:lnTo>
                    <a:pt x="15" y="244"/>
                  </a:lnTo>
                  <a:lnTo>
                    <a:pt x="18" y="257"/>
                  </a:lnTo>
                  <a:lnTo>
                    <a:pt x="20" y="270"/>
                  </a:lnTo>
                  <a:lnTo>
                    <a:pt x="21" y="284"/>
                  </a:lnTo>
                  <a:lnTo>
                    <a:pt x="20" y="300"/>
                  </a:lnTo>
                  <a:lnTo>
                    <a:pt x="18" y="316"/>
                  </a:lnTo>
                  <a:lnTo>
                    <a:pt x="16" y="332"/>
                  </a:lnTo>
                  <a:lnTo>
                    <a:pt x="15" y="348"/>
                  </a:lnTo>
                  <a:lnTo>
                    <a:pt x="12" y="354"/>
                  </a:lnTo>
                  <a:lnTo>
                    <a:pt x="16" y="369"/>
                  </a:lnTo>
                  <a:lnTo>
                    <a:pt x="22" y="384"/>
                  </a:lnTo>
                  <a:lnTo>
                    <a:pt x="26" y="401"/>
                  </a:lnTo>
                  <a:lnTo>
                    <a:pt x="24" y="418"/>
                  </a:lnTo>
                  <a:lnTo>
                    <a:pt x="33" y="432"/>
                  </a:lnTo>
                  <a:lnTo>
                    <a:pt x="34" y="436"/>
                  </a:lnTo>
                  <a:lnTo>
                    <a:pt x="40" y="432"/>
                  </a:lnTo>
                  <a:lnTo>
                    <a:pt x="46" y="432"/>
                  </a:lnTo>
                  <a:lnTo>
                    <a:pt x="51" y="430"/>
                  </a:lnTo>
                  <a:lnTo>
                    <a:pt x="49" y="440"/>
                  </a:lnTo>
                  <a:lnTo>
                    <a:pt x="54" y="444"/>
                  </a:lnTo>
                  <a:lnTo>
                    <a:pt x="51" y="443"/>
                  </a:lnTo>
                  <a:lnTo>
                    <a:pt x="52" y="448"/>
                  </a:lnTo>
                  <a:lnTo>
                    <a:pt x="54" y="459"/>
                  </a:lnTo>
                  <a:lnTo>
                    <a:pt x="55" y="471"/>
                  </a:lnTo>
                  <a:lnTo>
                    <a:pt x="55" y="477"/>
                  </a:lnTo>
                  <a:lnTo>
                    <a:pt x="63" y="484"/>
                  </a:lnTo>
                  <a:lnTo>
                    <a:pt x="58" y="496"/>
                  </a:lnTo>
                  <a:lnTo>
                    <a:pt x="64" y="500"/>
                  </a:lnTo>
                  <a:lnTo>
                    <a:pt x="61" y="500"/>
                  </a:lnTo>
                  <a:lnTo>
                    <a:pt x="61" y="504"/>
                  </a:lnTo>
                  <a:lnTo>
                    <a:pt x="61" y="506"/>
                  </a:lnTo>
                  <a:lnTo>
                    <a:pt x="62" y="514"/>
                  </a:lnTo>
                  <a:lnTo>
                    <a:pt x="63" y="513"/>
                  </a:lnTo>
                  <a:lnTo>
                    <a:pt x="58" y="520"/>
                  </a:lnTo>
                  <a:lnTo>
                    <a:pt x="57" y="515"/>
                  </a:lnTo>
                  <a:lnTo>
                    <a:pt x="51" y="515"/>
                  </a:lnTo>
                  <a:lnTo>
                    <a:pt x="52" y="509"/>
                  </a:lnTo>
                  <a:lnTo>
                    <a:pt x="49" y="509"/>
                  </a:lnTo>
                  <a:lnTo>
                    <a:pt x="44" y="510"/>
                  </a:lnTo>
                  <a:lnTo>
                    <a:pt x="37" y="525"/>
                  </a:lnTo>
                  <a:lnTo>
                    <a:pt x="39" y="524"/>
                  </a:lnTo>
                  <a:lnTo>
                    <a:pt x="44" y="521"/>
                  </a:lnTo>
                  <a:lnTo>
                    <a:pt x="52" y="524"/>
                  </a:lnTo>
                  <a:lnTo>
                    <a:pt x="63" y="532"/>
                  </a:lnTo>
                  <a:lnTo>
                    <a:pt x="58" y="536"/>
                  </a:lnTo>
                  <a:lnTo>
                    <a:pt x="63" y="539"/>
                  </a:lnTo>
                  <a:lnTo>
                    <a:pt x="56" y="542"/>
                  </a:lnTo>
                  <a:lnTo>
                    <a:pt x="69" y="540"/>
                  </a:lnTo>
                  <a:lnTo>
                    <a:pt x="70" y="539"/>
                  </a:lnTo>
                  <a:lnTo>
                    <a:pt x="75" y="545"/>
                  </a:lnTo>
                  <a:lnTo>
                    <a:pt x="75" y="550"/>
                  </a:lnTo>
                  <a:lnTo>
                    <a:pt x="66" y="548"/>
                  </a:lnTo>
                  <a:lnTo>
                    <a:pt x="61" y="546"/>
                  </a:lnTo>
                  <a:lnTo>
                    <a:pt x="68" y="557"/>
                  </a:lnTo>
                  <a:lnTo>
                    <a:pt x="75" y="569"/>
                  </a:lnTo>
                  <a:lnTo>
                    <a:pt x="75" y="576"/>
                  </a:lnTo>
                  <a:lnTo>
                    <a:pt x="79" y="582"/>
                  </a:lnTo>
                  <a:lnTo>
                    <a:pt x="75" y="585"/>
                  </a:lnTo>
                  <a:lnTo>
                    <a:pt x="84" y="588"/>
                  </a:lnTo>
                  <a:lnTo>
                    <a:pt x="88" y="596"/>
                  </a:lnTo>
                  <a:lnTo>
                    <a:pt x="88" y="599"/>
                  </a:lnTo>
                  <a:lnTo>
                    <a:pt x="96" y="604"/>
                  </a:lnTo>
                  <a:lnTo>
                    <a:pt x="99" y="609"/>
                  </a:lnTo>
                  <a:lnTo>
                    <a:pt x="94" y="606"/>
                  </a:lnTo>
                  <a:lnTo>
                    <a:pt x="102" y="614"/>
                  </a:lnTo>
                  <a:lnTo>
                    <a:pt x="103" y="617"/>
                  </a:lnTo>
                  <a:lnTo>
                    <a:pt x="109" y="626"/>
                  </a:lnTo>
                  <a:lnTo>
                    <a:pt x="111" y="629"/>
                  </a:lnTo>
                  <a:lnTo>
                    <a:pt x="118" y="633"/>
                  </a:lnTo>
                  <a:lnTo>
                    <a:pt x="121" y="635"/>
                  </a:lnTo>
                  <a:lnTo>
                    <a:pt x="118" y="636"/>
                  </a:lnTo>
                  <a:lnTo>
                    <a:pt x="127" y="639"/>
                  </a:lnTo>
                  <a:lnTo>
                    <a:pt x="147" y="647"/>
                  </a:lnTo>
                  <a:lnTo>
                    <a:pt x="148" y="626"/>
                  </a:lnTo>
                  <a:lnTo>
                    <a:pt x="160" y="620"/>
                  </a:lnTo>
                  <a:lnTo>
                    <a:pt x="175" y="622"/>
                  </a:lnTo>
                  <a:lnTo>
                    <a:pt x="151" y="615"/>
                  </a:lnTo>
                  <a:lnTo>
                    <a:pt x="123" y="612"/>
                  </a:lnTo>
                  <a:lnTo>
                    <a:pt x="115" y="604"/>
                  </a:lnTo>
                  <a:lnTo>
                    <a:pt x="106" y="591"/>
                  </a:lnTo>
                  <a:lnTo>
                    <a:pt x="98" y="592"/>
                  </a:lnTo>
                  <a:lnTo>
                    <a:pt x="84" y="568"/>
                  </a:lnTo>
                  <a:lnTo>
                    <a:pt x="93" y="558"/>
                  </a:lnTo>
                  <a:lnTo>
                    <a:pt x="91" y="534"/>
                  </a:lnTo>
                  <a:lnTo>
                    <a:pt x="87" y="514"/>
                  </a:lnTo>
                  <a:lnTo>
                    <a:pt x="86" y="501"/>
                  </a:lnTo>
                  <a:lnTo>
                    <a:pt x="82" y="492"/>
                  </a:lnTo>
                  <a:lnTo>
                    <a:pt x="76" y="489"/>
                  </a:lnTo>
                  <a:lnTo>
                    <a:pt x="86" y="485"/>
                  </a:lnTo>
                  <a:lnTo>
                    <a:pt x="74" y="479"/>
                  </a:lnTo>
                  <a:lnTo>
                    <a:pt x="68" y="460"/>
                  </a:lnTo>
                  <a:lnTo>
                    <a:pt x="61" y="450"/>
                  </a:lnTo>
                  <a:lnTo>
                    <a:pt x="60" y="436"/>
                  </a:lnTo>
                  <a:lnTo>
                    <a:pt x="54" y="412"/>
                  </a:lnTo>
                  <a:lnTo>
                    <a:pt x="52" y="393"/>
                  </a:lnTo>
                  <a:lnTo>
                    <a:pt x="55" y="382"/>
                  </a:lnTo>
                  <a:lnTo>
                    <a:pt x="54" y="371"/>
                  </a:lnTo>
                  <a:lnTo>
                    <a:pt x="49" y="357"/>
                  </a:lnTo>
                  <a:lnTo>
                    <a:pt x="45" y="341"/>
                  </a:lnTo>
                  <a:lnTo>
                    <a:pt x="52" y="329"/>
                  </a:lnTo>
                  <a:lnTo>
                    <a:pt x="49" y="317"/>
                  </a:lnTo>
                  <a:lnTo>
                    <a:pt x="51" y="294"/>
                  </a:lnTo>
                  <a:lnTo>
                    <a:pt x="46" y="284"/>
                  </a:lnTo>
                  <a:lnTo>
                    <a:pt x="39" y="269"/>
                  </a:lnTo>
                  <a:lnTo>
                    <a:pt x="32" y="255"/>
                  </a:lnTo>
                  <a:lnTo>
                    <a:pt x="33" y="243"/>
                  </a:lnTo>
                  <a:lnTo>
                    <a:pt x="36" y="232"/>
                  </a:lnTo>
                  <a:lnTo>
                    <a:pt x="34" y="219"/>
                  </a:lnTo>
                  <a:lnTo>
                    <a:pt x="34" y="206"/>
                  </a:lnTo>
                  <a:lnTo>
                    <a:pt x="40" y="190"/>
                  </a:lnTo>
                  <a:lnTo>
                    <a:pt x="46" y="173"/>
                  </a:lnTo>
                  <a:lnTo>
                    <a:pt x="51" y="168"/>
                  </a:lnTo>
                  <a:lnTo>
                    <a:pt x="45" y="159"/>
                  </a:lnTo>
                  <a:lnTo>
                    <a:pt x="43" y="134"/>
                  </a:lnTo>
                  <a:lnTo>
                    <a:pt x="45" y="124"/>
                  </a:lnTo>
                  <a:lnTo>
                    <a:pt x="58" y="117"/>
                  </a:lnTo>
                  <a:lnTo>
                    <a:pt x="62" y="99"/>
                  </a:lnTo>
                  <a:lnTo>
                    <a:pt x="58" y="95"/>
                  </a:lnTo>
                  <a:lnTo>
                    <a:pt x="48" y="94"/>
                  </a:lnTo>
                  <a:lnTo>
                    <a:pt x="42" y="78"/>
                  </a:lnTo>
                  <a:lnTo>
                    <a:pt x="34" y="62"/>
                  </a:lnTo>
                  <a:lnTo>
                    <a:pt x="30" y="46"/>
                  </a:lnTo>
                  <a:lnTo>
                    <a:pt x="31" y="33"/>
                  </a:lnTo>
                  <a:lnTo>
                    <a:pt x="22" y="21"/>
                  </a:lnTo>
                  <a:lnTo>
                    <a:pt x="18" y="9"/>
                  </a:lnTo>
                  <a:lnTo>
                    <a:pt x="13" y="0"/>
                  </a:lnTo>
                  <a:lnTo>
                    <a:pt x="9" y="8"/>
                  </a:lnTo>
                  <a:lnTo>
                    <a:pt x="3" y="15"/>
                  </a:lnTo>
                  <a:lnTo>
                    <a:pt x="0" y="16"/>
                  </a:lnTo>
                  <a:lnTo>
                    <a:pt x="4" y="39"/>
                  </a:lnTo>
                  <a:lnTo>
                    <a:pt x="9" y="62"/>
                  </a:lnTo>
                  <a:lnTo>
                    <a:pt x="9" y="81"/>
                  </a:lnTo>
                  <a:lnTo>
                    <a:pt x="8" y="100"/>
                  </a:lnTo>
                  <a:lnTo>
                    <a:pt x="8" y="108"/>
                  </a:lnTo>
                  <a:lnTo>
                    <a:pt x="10" y="131"/>
                  </a:lnTo>
                  <a:lnTo>
                    <a:pt x="12" y="150"/>
                  </a:lnTo>
                  <a:lnTo>
                    <a:pt x="10" y="176"/>
                  </a:lnTo>
                  <a:lnTo>
                    <a:pt x="10" y="201"/>
                  </a:lnTo>
                  <a:lnTo>
                    <a:pt x="12" y="213"/>
                  </a:lnTo>
                  <a:lnTo>
                    <a:pt x="12" y="23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8" name="Freeform 247"/>
            <p:cNvSpPr>
              <a:spLocks/>
            </p:cNvSpPr>
            <p:nvPr/>
          </p:nvSpPr>
          <p:spPr bwMode="auto">
            <a:xfrm>
              <a:off x="1469" y="3747"/>
              <a:ext cx="51" cy="45"/>
            </a:xfrm>
            <a:custGeom>
              <a:avLst/>
              <a:gdLst/>
              <a:ahLst/>
              <a:cxnLst>
                <a:cxn ang="0">
                  <a:pos x="31" y="2"/>
                </a:cxn>
                <a:cxn ang="0">
                  <a:pos x="38" y="21"/>
                </a:cxn>
                <a:cxn ang="0">
                  <a:pos x="46" y="40"/>
                </a:cxn>
                <a:cxn ang="0">
                  <a:pos x="42" y="39"/>
                </a:cxn>
                <a:cxn ang="0">
                  <a:pos x="34" y="40"/>
                </a:cxn>
                <a:cxn ang="0">
                  <a:pos x="19" y="38"/>
                </a:cxn>
                <a:cxn ang="0">
                  <a:pos x="13" y="38"/>
                </a:cxn>
                <a:cxn ang="0">
                  <a:pos x="0" y="36"/>
                </a:cxn>
                <a:cxn ang="0">
                  <a:pos x="3" y="34"/>
                </a:cxn>
                <a:cxn ang="0">
                  <a:pos x="12" y="32"/>
                </a:cxn>
                <a:cxn ang="0">
                  <a:pos x="16" y="34"/>
                </a:cxn>
                <a:cxn ang="0">
                  <a:pos x="20" y="34"/>
                </a:cxn>
                <a:cxn ang="0">
                  <a:pos x="13" y="30"/>
                </a:cxn>
                <a:cxn ang="0">
                  <a:pos x="22" y="32"/>
                </a:cxn>
                <a:cxn ang="0">
                  <a:pos x="27" y="33"/>
                </a:cxn>
                <a:cxn ang="0">
                  <a:pos x="34" y="34"/>
                </a:cxn>
                <a:cxn ang="0">
                  <a:pos x="37" y="35"/>
                </a:cxn>
                <a:cxn ang="0">
                  <a:pos x="19" y="24"/>
                </a:cxn>
                <a:cxn ang="0">
                  <a:pos x="26" y="16"/>
                </a:cxn>
                <a:cxn ang="0">
                  <a:pos x="15" y="16"/>
                </a:cxn>
                <a:cxn ang="0">
                  <a:pos x="10" y="3"/>
                </a:cxn>
                <a:cxn ang="0">
                  <a:pos x="16" y="0"/>
                </a:cxn>
                <a:cxn ang="0">
                  <a:pos x="31" y="2"/>
                </a:cxn>
              </a:cxnLst>
              <a:rect l="0" t="0" r="r" b="b"/>
              <a:pathLst>
                <a:path w="46" h="40">
                  <a:moveTo>
                    <a:pt x="31" y="2"/>
                  </a:moveTo>
                  <a:lnTo>
                    <a:pt x="38" y="21"/>
                  </a:lnTo>
                  <a:lnTo>
                    <a:pt x="46" y="40"/>
                  </a:lnTo>
                  <a:lnTo>
                    <a:pt x="42" y="39"/>
                  </a:lnTo>
                  <a:lnTo>
                    <a:pt x="34" y="40"/>
                  </a:lnTo>
                  <a:lnTo>
                    <a:pt x="19" y="38"/>
                  </a:lnTo>
                  <a:lnTo>
                    <a:pt x="13" y="38"/>
                  </a:lnTo>
                  <a:lnTo>
                    <a:pt x="0" y="36"/>
                  </a:lnTo>
                  <a:lnTo>
                    <a:pt x="3" y="34"/>
                  </a:lnTo>
                  <a:lnTo>
                    <a:pt x="12" y="32"/>
                  </a:lnTo>
                  <a:lnTo>
                    <a:pt x="16" y="34"/>
                  </a:lnTo>
                  <a:lnTo>
                    <a:pt x="20" y="34"/>
                  </a:lnTo>
                  <a:lnTo>
                    <a:pt x="13" y="30"/>
                  </a:lnTo>
                  <a:lnTo>
                    <a:pt x="22" y="32"/>
                  </a:lnTo>
                  <a:lnTo>
                    <a:pt x="27" y="33"/>
                  </a:lnTo>
                  <a:lnTo>
                    <a:pt x="34" y="34"/>
                  </a:lnTo>
                  <a:lnTo>
                    <a:pt x="37" y="35"/>
                  </a:lnTo>
                  <a:lnTo>
                    <a:pt x="19" y="24"/>
                  </a:lnTo>
                  <a:lnTo>
                    <a:pt x="26" y="16"/>
                  </a:lnTo>
                  <a:lnTo>
                    <a:pt x="15" y="16"/>
                  </a:lnTo>
                  <a:lnTo>
                    <a:pt x="10" y="3"/>
                  </a:lnTo>
                  <a:lnTo>
                    <a:pt x="16" y="0"/>
                  </a:lnTo>
                  <a:lnTo>
                    <a:pt x="3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9" name="Freeform 248"/>
            <p:cNvSpPr>
              <a:spLocks/>
            </p:cNvSpPr>
            <p:nvPr/>
          </p:nvSpPr>
          <p:spPr bwMode="auto">
            <a:xfrm>
              <a:off x="1340" y="3538"/>
              <a:ext cx="16" cy="32"/>
            </a:xfrm>
            <a:custGeom>
              <a:avLst/>
              <a:gdLst/>
              <a:ahLst/>
              <a:cxnLst>
                <a:cxn ang="0">
                  <a:pos x="5" y="0"/>
                </a:cxn>
                <a:cxn ang="0">
                  <a:pos x="0" y="4"/>
                </a:cxn>
                <a:cxn ang="0">
                  <a:pos x="6" y="28"/>
                </a:cxn>
                <a:cxn ang="0">
                  <a:pos x="12" y="25"/>
                </a:cxn>
                <a:cxn ang="0">
                  <a:pos x="14" y="20"/>
                </a:cxn>
                <a:cxn ang="0">
                  <a:pos x="10" y="10"/>
                </a:cxn>
                <a:cxn ang="0">
                  <a:pos x="12" y="8"/>
                </a:cxn>
                <a:cxn ang="0">
                  <a:pos x="5" y="0"/>
                </a:cxn>
              </a:cxnLst>
              <a:rect l="0" t="0" r="r" b="b"/>
              <a:pathLst>
                <a:path w="14" h="28">
                  <a:moveTo>
                    <a:pt x="5" y="0"/>
                  </a:moveTo>
                  <a:lnTo>
                    <a:pt x="0" y="4"/>
                  </a:lnTo>
                  <a:lnTo>
                    <a:pt x="6" y="28"/>
                  </a:lnTo>
                  <a:lnTo>
                    <a:pt x="12" y="25"/>
                  </a:lnTo>
                  <a:lnTo>
                    <a:pt x="14" y="20"/>
                  </a:lnTo>
                  <a:lnTo>
                    <a:pt x="10" y="10"/>
                  </a:lnTo>
                  <a:lnTo>
                    <a:pt x="12" y="8"/>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0" name="Freeform 249"/>
            <p:cNvSpPr>
              <a:spLocks/>
            </p:cNvSpPr>
            <p:nvPr/>
          </p:nvSpPr>
          <p:spPr bwMode="auto">
            <a:xfrm>
              <a:off x="1374" y="3676"/>
              <a:ext cx="15" cy="25"/>
            </a:xfrm>
            <a:custGeom>
              <a:avLst/>
              <a:gdLst/>
              <a:ahLst/>
              <a:cxnLst>
                <a:cxn ang="0">
                  <a:pos x="7" y="0"/>
                </a:cxn>
                <a:cxn ang="0">
                  <a:pos x="0" y="8"/>
                </a:cxn>
                <a:cxn ang="0">
                  <a:pos x="9" y="18"/>
                </a:cxn>
                <a:cxn ang="0">
                  <a:pos x="13" y="21"/>
                </a:cxn>
                <a:cxn ang="0">
                  <a:pos x="15" y="14"/>
                </a:cxn>
                <a:cxn ang="0">
                  <a:pos x="7" y="0"/>
                </a:cxn>
              </a:cxnLst>
              <a:rect l="0" t="0" r="r" b="b"/>
              <a:pathLst>
                <a:path w="15" h="21">
                  <a:moveTo>
                    <a:pt x="7" y="0"/>
                  </a:moveTo>
                  <a:lnTo>
                    <a:pt x="0" y="8"/>
                  </a:lnTo>
                  <a:lnTo>
                    <a:pt x="9" y="18"/>
                  </a:lnTo>
                  <a:lnTo>
                    <a:pt x="13" y="21"/>
                  </a:lnTo>
                  <a:lnTo>
                    <a:pt x="15" y="14"/>
                  </a:lnTo>
                  <a:lnTo>
                    <a:pt x="7"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1" name="Freeform 250"/>
            <p:cNvSpPr>
              <a:spLocks/>
            </p:cNvSpPr>
            <p:nvPr/>
          </p:nvSpPr>
          <p:spPr bwMode="auto">
            <a:xfrm>
              <a:off x="1107" y="2676"/>
              <a:ext cx="100" cy="129"/>
            </a:xfrm>
            <a:custGeom>
              <a:avLst/>
              <a:gdLst/>
              <a:ahLst/>
              <a:cxnLst>
                <a:cxn ang="0">
                  <a:pos x="0" y="45"/>
                </a:cxn>
                <a:cxn ang="0">
                  <a:pos x="3" y="63"/>
                </a:cxn>
                <a:cxn ang="0">
                  <a:pos x="0" y="67"/>
                </a:cxn>
                <a:cxn ang="0">
                  <a:pos x="11" y="72"/>
                </a:cxn>
                <a:cxn ang="0">
                  <a:pos x="15" y="67"/>
                </a:cxn>
                <a:cxn ang="0">
                  <a:pos x="16" y="71"/>
                </a:cxn>
                <a:cxn ang="0">
                  <a:pos x="16" y="83"/>
                </a:cxn>
                <a:cxn ang="0">
                  <a:pos x="10" y="85"/>
                </a:cxn>
                <a:cxn ang="0">
                  <a:pos x="11" y="96"/>
                </a:cxn>
                <a:cxn ang="0">
                  <a:pos x="7" y="104"/>
                </a:cxn>
                <a:cxn ang="0">
                  <a:pos x="13" y="102"/>
                </a:cxn>
                <a:cxn ang="0">
                  <a:pos x="30" y="115"/>
                </a:cxn>
                <a:cxn ang="0">
                  <a:pos x="35" y="108"/>
                </a:cxn>
                <a:cxn ang="0">
                  <a:pos x="37" y="101"/>
                </a:cxn>
                <a:cxn ang="0">
                  <a:pos x="41" y="95"/>
                </a:cxn>
                <a:cxn ang="0">
                  <a:pos x="43" y="84"/>
                </a:cxn>
                <a:cxn ang="0">
                  <a:pos x="45" y="84"/>
                </a:cxn>
                <a:cxn ang="0">
                  <a:pos x="46" y="86"/>
                </a:cxn>
                <a:cxn ang="0">
                  <a:pos x="48" y="86"/>
                </a:cxn>
                <a:cxn ang="0">
                  <a:pos x="47" y="83"/>
                </a:cxn>
                <a:cxn ang="0">
                  <a:pos x="51" y="79"/>
                </a:cxn>
                <a:cxn ang="0">
                  <a:pos x="60" y="74"/>
                </a:cxn>
                <a:cxn ang="0">
                  <a:pos x="77" y="63"/>
                </a:cxn>
                <a:cxn ang="0">
                  <a:pos x="87" y="42"/>
                </a:cxn>
                <a:cxn ang="0">
                  <a:pos x="90" y="43"/>
                </a:cxn>
                <a:cxn ang="0">
                  <a:pos x="84" y="29"/>
                </a:cxn>
                <a:cxn ang="0">
                  <a:pos x="89" y="27"/>
                </a:cxn>
                <a:cxn ang="0">
                  <a:pos x="71" y="18"/>
                </a:cxn>
                <a:cxn ang="0">
                  <a:pos x="55" y="18"/>
                </a:cxn>
                <a:cxn ang="0">
                  <a:pos x="46" y="9"/>
                </a:cxn>
                <a:cxn ang="0">
                  <a:pos x="33" y="0"/>
                </a:cxn>
                <a:cxn ang="0">
                  <a:pos x="27" y="6"/>
                </a:cxn>
                <a:cxn ang="0">
                  <a:pos x="12" y="13"/>
                </a:cxn>
                <a:cxn ang="0">
                  <a:pos x="9" y="27"/>
                </a:cxn>
                <a:cxn ang="0">
                  <a:pos x="7" y="36"/>
                </a:cxn>
                <a:cxn ang="0">
                  <a:pos x="0" y="45"/>
                </a:cxn>
              </a:cxnLst>
              <a:rect l="0" t="0" r="r" b="b"/>
              <a:pathLst>
                <a:path w="90" h="115">
                  <a:moveTo>
                    <a:pt x="0" y="45"/>
                  </a:moveTo>
                  <a:lnTo>
                    <a:pt x="3" y="63"/>
                  </a:lnTo>
                  <a:lnTo>
                    <a:pt x="0" y="67"/>
                  </a:lnTo>
                  <a:lnTo>
                    <a:pt x="11" y="72"/>
                  </a:lnTo>
                  <a:lnTo>
                    <a:pt x="15" y="67"/>
                  </a:lnTo>
                  <a:lnTo>
                    <a:pt x="16" y="71"/>
                  </a:lnTo>
                  <a:lnTo>
                    <a:pt x="16" y="83"/>
                  </a:lnTo>
                  <a:lnTo>
                    <a:pt x="10" y="85"/>
                  </a:lnTo>
                  <a:lnTo>
                    <a:pt x="11" y="96"/>
                  </a:lnTo>
                  <a:lnTo>
                    <a:pt x="7" y="104"/>
                  </a:lnTo>
                  <a:lnTo>
                    <a:pt x="13" y="102"/>
                  </a:lnTo>
                  <a:lnTo>
                    <a:pt x="30" y="115"/>
                  </a:lnTo>
                  <a:lnTo>
                    <a:pt x="35" y="108"/>
                  </a:lnTo>
                  <a:lnTo>
                    <a:pt x="37" y="101"/>
                  </a:lnTo>
                  <a:lnTo>
                    <a:pt x="41" y="95"/>
                  </a:lnTo>
                  <a:lnTo>
                    <a:pt x="43" y="84"/>
                  </a:lnTo>
                  <a:lnTo>
                    <a:pt x="45" y="84"/>
                  </a:lnTo>
                  <a:lnTo>
                    <a:pt x="46" y="86"/>
                  </a:lnTo>
                  <a:lnTo>
                    <a:pt x="48" y="86"/>
                  </a:lnTo>
                  <a:lnTo>
                    <a:pt x="47" y="83"/>
                  </a:lnTo>
                  <a:lnTo>
                    <a:pt x="51" y="79"/>
                  </a:lnTo>
                  <a:lnTo>
                    <a:pt x="60" y="74"/>
                  </a:lnTo>
                  <a:lnTo>
                    <a:pt x="77" y="63"/>
                  </a:lnTo>
                  <a:lnTo>
                    <a:pt x="87" y="42"/>
                  </a:lnTo>
                  <a:lnTo>
                    <a:pt x="90" y="43"/>
                  </a:lnTo>
                  <a:lnTo>
                    <a:pt x="84" y="29"/>
                  </a:lnTo>
                  <a:lnTo>
                    <a:pt x="89" y="27"/>
                  </a:lnTo>
                  <a:lnTo>
                    <a:pt x="71" y="18"/>
                  </a:lnTo>
                  <a:lnTo>
                    <a:pt x="55" y="18"/>
                  </a:lnTo>
                  <a:lnTo>
                    <a:pt x="46" y="9"/>
                  </a:lnTo>
                  <a:lnTo>
                    <a:pt x="33" y="0"/>
                  </a:lnTo>
                  <a:lnTo>
                    <a:pt x="27" y="6"/>
                  </a:lnTo>
                  <a:lnTo>
                    <a:pt x="12" y="13"/>
                  </a:lnTo>
                  <a:lnTo>
                    <a:pt x="9" y="27"/>
                  </a:lnTo>
                  <a:lnTo>
                    <a:pt x="7" y="36"/>
                  </a:lnTo>
                  <a:lnTo>
                    <a:pt x="0" y="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2" name="Freeform 251"/>
            <p:cNvSpPr>
              <a:spLocks/>
            </p:cNvSpPr>
            <p:nvPr/>
          </p:nvSpPr>
          <p:spPr bwMode="auto">
            <a:xfrm>
              <a:off x="1120" y="2761"/>
              <a:ext cx="3" cy="2"/>
            </a:xfrm>
            <a:custGeom>
              <a:avLst/>
              <a:gdLst/>
              <a:ahLst/>
              <a:cxnLst>
                <a:cxn ang="0">
                  <a:pos x="4" y="0"/>
                </a:cxn>
                <a:cxn ang="0">
                  <a:pos x="1" y="3"/>
                </a:cxn>
                <a:cxn ang="0">
                  <a:pos x="0" y="0"/>
                </a:cxn>
                <a:cxn ang="0">
                  <a:pos x="4" y="0"/>
                </a:cxn>
              </a:cxnLst>
              <a:rect l="0" t="0" r="r" b="b"/>
              <a:pathLst>
                <a:path w="4" h="3">
                  <a:moveTo>
                    <a:pt x="4" y="0"/>
                  </a:moveTo>
                  <a:lnTo>
                    <a:pt x="1" y="3"/>
                  </a:lnTo>
                  <a:lnTo>
                    <a:pt x="0" y="0"/>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3" name="Freeform 252"/>
            <p:cNvSpPr>
              <a:spLocks/>
            </p:cNvSpPr>
            <p:nvPr/>
          </p:nvSpPr>
          <p:spPr bwMode="auto">
            <a:xfrm>
              <a:off x="1100" y="2707"/>
              <a:ext cx="231" cy="365"/>
            </a:xfrm>
            <a:custGeom>
              <a:avLst/>
              <a:gdLst/>
              <a:ahLst/>
              <a:cxnLst>
                <a:cxn ang="0">
                  <a:pos x="201" y="259"/>
                </a:cxn>
                <a:cxn ang="0">
                  <a:pos x="203" y="289"/>
                </a:cxn>
                <a:cxn ang="0">
                  <a:pos x="201" y="306"/>
                </a:cxn>
                <a:cxn ang="0">
                  <a:pos x="197" y="321"/>
                </a:cxn>
                <a:cxn ang="0">
                  <a:pos x="188" y="329"/>
                </a:cxn>
                <a:cxn ang="0">
                  <a:pos x="171" y="311"/>
                </a:cxn>
                <a:cxn ang="0">
                  <a:pos x="143" y="295"/>
                </a:cxn>
                <a:cxn ang="0">
                  <a:pos x="117" y="280"/>
                </a:cxn>
                <a:cxn ang="0">
                  <a:pos x="89" y="253"/>
                </a:cxn>
                <a:cxn ang="0">
                  <a:pos x="78" y="225"/>
                </a:cxn>
                <a:cxn ang="0">
                  <a:pos x="60" y="192"/>
                </a:cxn>
                <a:cxn ang="0">
                  <a:pos x="47" y="167"/>
                </a:cxn>
                <a:cxn ang="0">
                  <a:pos x="34" y="141"/>
                </a:cxn>
                <a:cxn ang="0">
                  <a:pos x="16" y="118"/>
                </a:cxn>
                <a:cxn ang="0">
                  <a:pos x="5" y="105"/>
                </a:cxn>
                <a:cxn ang="0">
                  <a:pos x="8" y="70"/>
                </a:cxn>
                <a:cxn ang="0">
                  <a:pos x="16" y="70"/>
                </a:cxn>
                <a:cxn ang="0">
                  <a:pos x="18" y="76"/>
                </a:cxn>
                <a:cxn ang="0">
                  <a:pos x="40" y="82"/>
                </a:cxn>
                <a:cxn ang="0">
                  <a:pos x="46" y="69"/>
                </a:cxn>
                <a:cxn ang="0">
                  <a:pos x="50" y="58"/>
                </a:cxn>
                <a:cxn ang="0">
                  <a:pos x="53" y="60"/>
                </a:cxn>
                <a:cxn ang="0">
                  <a:pos x="56" y="53"/>
                </a:cxn>
                <a:cxn ang="0">
                  <a:pos x="82" y="37"/>
                </a:cxn>
                <a:cxn ang="0">
                  <a:pos x="95" y="17"/>
                </a:cxn>
                <a:cxn ang="0">
                  <a:pos x="94" y="1"/>
                </a:cxn>
                <a:cxn ang="0">
                  <a:pos x="104" y="9"/>
                </a:cxn>
                <a:cxn ang="0">
                  <a:pos x="125" y="31"/>
                </a:cxn>
                <a:cxn ang="0">
                  <a:pos x="148" y="40"/>
                </a:cxn>
                <a:cxn ang="0">
                  <a:pos x="176" y="46"/>
                </a:cxn>
                <a:cxn ang="0">
                  <a:pos x="179" y="75"/>
                </a:cxn>
                <a:cxn ang="0">
                  <a:pos x="161" y="78"/>
                </a:cxn>
                <a:cxn ang="0">
                  <a:pos x="136" y="90"/>
                </a:cxn>
                <a:cxn ang="0">
                  <a:pos x="128" y="118"/>
                </a:cxn>
                <a:cxn ang="0">
                  <a:pos x="126" y="145"/>
                </a:cxn>
                <a:cxn ang="0">
                  <a:pos x="132" y="167"/>
                </a:cxn>
                <a:cxn ang="0">
                  <a:pos x="148" y="175"/>
                </a:cxn>
                <a:cxn ang="0">
                  <a:pos x="172" y="169"/>
                </a:cxn>
                <a:cxn ang="0">
                  <a:pos x="174" y="197"/>
                </a:cxn>
                <a:cxn ang="0">
                  <a:pos x="198" y="209"/>
                </a:cxn>
                <a:cxn ang="0">
                  <a:pos x="204" y="228"/>
                </a:cxn>
              </a:cxnLst>
              <a:rect l="0" t="0" r="r" b="b"/>
              <a:pathLst>
                <a:path w="208" h="329">
                  <a:moveTo>
                    <a:pt x="204" y="250"/>
                  </a:moveTo>
                  <a:lnTo>
                    <a:pt x="201" y="259"/>
                  </a:lnTo>
                  <a:lnTo>
                    <a:pt x="201" y="274"/>
                  </a:lnTo>
                  <a:lnTo>
                    <a:pt x="203" y="289"/>
                  </a:lnTo>
                  <a:lnTo>
                    <a:pt x="208" y="291"/>
                  </a:lnTo>
                  <a:lnTo>
                    <a:pt x="201" y="306"/>
                  </a:lnTo>
                  <a:lnTo>
                    <a:pt x="201" y="313"/>
                  </a:lnTo>
                  <a:lnTo>
                    <a:pt x="197" y="321"/>
                  </a:lnTo>
                  <a:lnTo>
                    <a:pt x="191" y="328"/>
                  </a:lnTo>
                  <a:lnTo>
                    <a:pt x="188" y="329"/>
                  </a:lnTo>
                  <a:lnTo>
                    <a:pt x="178" y="321"/>
                  </a:lnTo>
                  <a:lnTo>
                    <a:pt x="171" y="311"/>
                  </a:lnTo>
                  <a:lnTo>
                    <a:pt x="158" y="304"/>
                  </a:lnTo>
                  <a:lnTo>
                    <a:pt x="143" y="295"/>
                  </a:lnTo>
                  <a:lnTo>
                    <a:pt x="130" y="288"/>
                  </a:lnTo>
                  <a:lnTo>
                    <a:pt x="117" y="280"/>
                  </a:lnTo>
                  <a:lnTo>
                    <a:pt x="102" y="267"/>
                  </a:lnTo>
                  <a:lnTo>
                    <a:pt x="89" y="253"/>
                  </a:lnTo>
                  <a:lnTo>
                    <a:pt x="89" y="244"/>
                  </a:lnTo>
                  <a:lnTo>
                    <a:pt x="78" y="225"/>
                  </a:lnTo>
                  <a:lnTo>
                    <a:pt x="69" y="204"/>
                  </a:lnTo>
                  <a:lnTo>
                    <a:pt x="60" y="192"/>
                  </a:lnTo>
                  <a:lnTo>
                    <a:pt x="53" y="180"/>
                  </a:lnTo>
                  <a:lnTo>
                    <a:pt x="47" y="167"/>
                  </a:lnTo>
                  <a:lnTo>
                    <a:pt x="40" y="154"/>
                  </a:lnTo>
                  <a:lnTo>
                    <a:pt x="34" y="141"/>
                  </a:lnTo>
                  <a:lnTo>
                    <a:pt x="27" y="127"/>
                  </a:lnTo>
                  <a:lnTo>
                    <a:pt x="16" y="118"/>
                  </a:lnTo>
                  <a:lnTo>
                    <a:pt x="4" y="109"/>
                  </a:lnTo>
                  <a:lnTo>
                    <a:pt x="5" y="105"/>
                  </a:lnTo>
                  <a:lnTo>
                    <a:pt x="0" y="81"/>
                  </a:lnTo>
                  <a:lnTo>
                    <a:pt x="8" y="70"/>
                  </a:lnTo>
                  <a:lnTo>
                    <a:pt x="15" y="59"/>
                  </a:lnTo>
                  <a:lnTo>
                    <a:pt x="16" y="70"/>
                  </a:lnTo>
                  <a:lnTo>
                    <a:pt x="12" y="78"/>
                  </a:lnTo>
                  <a:lnTo>
                    <a:pt x="18" y="76"/>
                  </a:lnTo>
                  <a:lnTo>
                    <a:pt x="35" y="89"/>
                  </a:lnTo>
                  <a:lnTo>
                    <a:pt x="40" y="82"/>
                  </a:lnTo>
                  <a:lnTo>
                    <a:pt x="42" y="75"/>
                  </a:lnTo>
                  <a:lnTo>
                    <a:pt x="46" y="69"/>
                  </a:lnTo>
                  <a:lnTo>
                    <a:pt x="48" y="58"/>
                  </a:lnTo>
                  <a:lnTo>
                    <a:pt x="50" y="58"/>
                  </a:lnTo>
                  <a:lnTo>
                    <a:pt x="51" y="60"/>
                  </a:lnTo>
                  <a:lnTo>
                    <a:pt x="53" y="60"/>
                  </a:lnTo>
                  <a:lnTo>
                    <a:pt x="52" y="57"/>
                  </a:lnTo>
                  <a:lnTo>
                    <a:pt x="56" y="53"/>
                  </a:lnTo>
                  <a:lnTo>
                    <a:pt x="65" y="48"/>
                  </a:lnTo>
                  <a:lnTo>
                    <a:pt x="82" y="37"/>
                  </a:lnTo>
                  <a:lnTo>
                    <a:pt x="92" y="16"/>
                  </a:lnTo>
                  <a:lnTo>
                    <a:pt x="95" y="17"/>
                  </a:lnTo>
                  <a:lnTo>
                    <a:pt x="89" y="3"/>
                  </a:lnTo>
                  <a:lnTo>
                    <a:pt x="94" y="1"/>
                  </a:lnTo>
                  <a:lnTo>
                    <a:pt x="95" y="0"/>
                  </a:lnTo>
                  <a:lnTo>
                    <a:pt x="104" y="9"/>
                  </a:lnTo>
                  <a:lnTo>
                    <a:pt x="113" y="17"/>
                  </a:lnTo>
                  <a:lnTo>
                    <a:pt x="125" y="31"/>
                  </a:lnTo>
                  <a:lnTo>
                    <a:pt x="128" y="40"/>
                  </a:lnTo>
                  <a:lnTo>
                    <a:pt x="148" y="40"/>
                  </a:lnTo>
                  <a:lnTo>
                    <a:pt x="160" y="41"/>
                  </a:lnTo>
                  <a:lnTo>
                    <a:pt x="176" y="46"/>
                  </a:lnTo>
                  <a:lnTo>
                    <a:pt x="170" y="67"/>
                  </a:lnTo>
                  <a:lnTo>
                    <a:pt x="179" y="75"/>
                  </a:lnTo>
                  <a:lnTo>
                    <a:pt x="174" y="75"/>
                  </a:lnTo>
                  <a:lnTo>
                    <a:pt x="161" y="78"/>
                  </a:lnTo>
                  <a:lnTo>
                    <a:pt x="148" y="84"/>
                  </a:lnTo>
                  <a:lnTo>
                    <a:pt x="136" y="90"/>
                  </a:lnTo>
                  <a:lnTo>
                    <a:pt x="131" y="103"/>
                  </a:lnTo>
                  <a:lnTo>
                    <a:pt x="128" y="118"/>
                  </a:lnTo>
                  <a:lnTo>
                    <a:pt x="119" y="132"/>
                  </a:lnTo>
                  <a:lnTo>
                    <a:pt x="126" y="145"/>
                  </a:lnTo>
                  <a:lnTo>
                    <a:pt x="134" y="159"/>
                  </a:lnTo>
                  <a:lnTo>
                    <a:pt x="132" y="167"/>
                  </a:lnTo>
                  <a:lnTo>
                    <a:pt x="140" y="168"/>
                  </a:lnTo>
                  <a:lnTo>
                    <a:pt x="148" y="175"/>
                  </a:lnTo>
                  <a:lnTo>
                    <a:pt x="161" y="179"/>
                  </a:lnTo>
                  <a:lnTo>
                    <a:pt x="172" y="169"/>
                  </a:lnTo>
                  <a:lnTo>
                    <a:pt x="173" y="184"/>
                  </a:lnTo>
                  <a:lnTo>
                    <a:pt x="174" y="197"/>
                  </a:lnTo>
                  <a:lnTo>
                    <a:pt x="191" y="196"/>
                  </a:lnTo>
                  <a:lnTo>
                    <a:pt x="198" y="209"/>
                  </a:lnTo>
                  <a:lnTo>
                    <a:pt x="207" y="223"/>
                  </a:lnTo>
                  <a:lnTo>
                    <a:pt x="204" y="228"/>
                  </a:lnTo>
                  <a:lnTo>
                    <a:pt x="204" y="25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4" name="Freeform 253"/>
            <p:cNvSpPr>
              <a:spLocks/>
            </p:cNvSpPr>
            <p:nvPr/>
          </p:nvSpPr>
          <p:spPr bwMode="auto">
            <a:xfrm>
              <a:off x="3731" y="1648"/>
              <a:ext cx="898" cy="653"/>
            </a:xfrm>
            <a:custGeom>
              <a:avLst/>
              <a:gdLst/>
              <a:ahLst/>
              <a:cxnLst>
                <a:cxn ang="0">
                  <a:pos x="324" y="454"/>
                </a:cxn>
                <a:cxn ang="0">
                  <a:pos x="270" y="453"/>
                </a:cxn>
                <a:cxn ang="0">
                  <a:pos x="205" y="432"/>
                </a:cxn>
                <a:cxn ang="0">
                  <a:pos x="155" y="412"/>
                </a:cxn>
                <a:cxn ang="0">
                  <a:pos x="106" y="369"/>
                </a:cxn>
                <a:cxn ang="0">
                  <a:pos x="107" y="337"/>
                </a:cxn>
                <a:cxn ang="0">
                  <a:pos x="94" y="321"/>
                </a:cxn>
                <a:cxn ang="0">
                  <a:pos x="43" y="293"/>
                </a:cxn>
                <a:cxn ang="0">
                  <a:pos x="31" y="283"/>
                </a:cxn>
                <a:cxn ang="0">
                  <a:pos x="17" y="227"/>
                </a:cxn>
                <a:cxn ang="0">
                  <a:pos x="68" y="204"/>
                </a:cxn>
                <a:cxn ang="0">
                  <a:pos x="72" y="166"/>
                </a:cxn>
                <a:cxn ang="0">
                  <a:pos x="88" y="137"/>
                </a:cxn>
                <a:cxn ang="0">
                  <a:pos x="113" y="91"/>
                </a:cxn>
                <a:cxn ang="0">
                  <a:pos x="144" y="82"/>
                </a:cxn>
                <a:cxn ang="0">
                  <a:pos x="208" y="141"/>
                </a:cxn>
                <a:cxn ang="0">
                  <a:pos x="295" y="173"/>
                </a:cxn>
                <a:cxn ang="0">
                  <a:pos x="389" y="191"/>
                </a:cxn>
                <a:cxn ang="0">
                  <a:pos x="452" y="201"/>
                </a:cxn>
                <a:cxn ang="0">
                  <a:pos x="523" y="169"/>
                </a:cxn>
                <a:cxn ang="0">
                  <a:pos x="560" y="138"/>
                </a:cxn>
                <a:cxn ang="0">
                  <a:pos x="569" y="93"/>
                </a:cxn>
                <a:cxn ang="0">
                  <a:pos x="533" y="89"/>
                </a:cxn>
                <a:cxn ang="0">
                  <a:pos x="556" y="41"/>
                </a:cxn>
                <a:cxn ang="0">
                  <a:pos x="566" y="0"/>
                </a:cxn>
                <a:cxn ang="0">
                  <a:pos x="662" y="48"/>
                </a:cxn>
                <a:cxn ang="0">
                  <a:pos x="751" y="99"/>
                </a:cxn>
                <a:cxn ang="0">
                  <a:pos x="809" y="145"/>
                </a:cxn>
                <a:cxn ang="0">
                  <a:pos x="800" y="187"/>
                </a:cxn>
                <a:cxn ang="0">
                  <a:pos x="773" y="201"/>
                </a:cxn>
                <a:cxn ang="0">
                  <a:pos x="738" y="233"/>
                </a:cxn>
                <a:cxn ang="0">
                  <a:pos x="707" y="246"/>
                </a:cxn>
                <a:cxn ang="0">
                  <a:pos x="676" y="233"/>
                </a:cxn>
                <a:cxn ang="0">
                  <a:pos x="676" y="270"/>
                </a:cxn>
                <a:cxn ang="0">
                  <a:pos x="734" y="283"/>
                </a:cxn>
                <a:cxn ang="0">
                  <a:pos x="708" y="311"/>
                </a:cxn>
                <a:cxn ang="0">
                  <a:pos x="764" y="384"/>
                </a:cxn>
                <a:cxn ang="0">
                  <a:pos x="756" y="407"/>
                </a:cxn>
                <a:cxn ang="0">
                  <a:pos x="774" y="424"/>
                </a:cxn>
                <a:cxn ang="0">
                  <a:pos x="778" y="437"/>
                </a:cxn>
                <a:cxn ang="0">
                  <a:pos x="770" y="455"/>
                </a:cxn>
                <a:cxn ang="0">
                  <a:pos x="756" y="485"/>
                </a:cxn>
                <a:cxn ang="0">
                  <a:pos x="758" y="499"/>
                </a:cxn>
                <a:cxn ang="0">
                  <a:pos x="743" y="515"/>
                </a:cxn>
                <a:cxn ang="0">
                  <a:pos x="721" y="540"/>
                </a:cxn>
                <a:cxn ang="0">
                  <a:pos x="700" y="545"/>
                </a:cxn>
                <a:cxn ang="0">
                  <a:pos x="677" y="543"/>
                </a:cxn>
                <a:cxn ang="0">
                  <a:pos x="668" y="562"/>
                </a:cxn>
                <a:cxn ang="0">
                  <a:pos x="640" y="569"/>
                </a:cxn>
                <a:cxn ang="0">
                  <a:pos x="628" y="569"/>
                </a:cxn>
                <a:cxn ang="0">
                  <a:pos x="604" y="563"/>
                </a:cxn>
                <a:cxn ang="0">
                  <a:pos x="554" y="537"/>
                </a:cxn>
                <a:cxn ang="0">
                  <a:pos x="527" y="546"/>
                </a:cxn>
                <a:cxn ang="0">
                  <a:pos x="497" y="551"/>
                </a:cxn>
                <a:cxn ang="0">
                  <a:pos x="476" y="567"/>
                </a:cxn>
                <a:cxn ang="0">
                  <a:pos x="448" y="522"/>
                </a:cxn>
                <a:cxn ang="0">
                  <a:pos x="436" y="495"/>
                </a:cxn>
                <a:cxn ang="0">
                  <a:pos x="412" y="441"/>
                </a:cxn>
                <a:cxn ang="0">
                  <a:pos x="389" y="427"/>
                </a:cxn>
              </a:cxnLst>
              <a:rect l="0" t="0" r="r" b="b"/>
              <a:pathLst>
                <a:path w="809" h="588">
                  <a:moveTo>
                    <a:pt x="361" y="429"/>
                  </a:moveTo>
                  <a:lnTo>
                    <a:pt x="350" y="438"/>
                  </a:lnTo>
                  <a:lnTo>
                    <a:pt x="338" y="449"/>
                  </a:lnTo>
                  <a:lnTo>
                    <a:pt x="325" y="454"/>
                  </a:lnTo>
                  <a:lnTo>
                    <a:pt x="324" y="454"/>
                  </a:lnTo>
                  <a:lnTo>
                    <a:pt x="317" y="449"/>
                  </a:lnTo>
                  <a:lnTo>
                    <a:pt x="295" y="447"/>
                  </a:lnTo>
                  <a:lnTo>
                    <a:pt x="284" y="462"/>
                  </a:lnTo>
                  <a:lnTo>
                    <a:pt x="277" y="448"/>
                  </a:lnTo>
                  <a:lnTo>
                    <a:pt x="270" y="453"/>
                  </a:lnTo>
                  <a:lnTo>
                    <a:pt x="252" y="450"/>
                  </a:lnTo>
                  <a:lnTo>
                    <a:pt x="238" y="449"/>
                  </a:lnTo>
                  <a:lnTo>
                    <a:pt x="222" y="442"/>
                  </a:lnTo>
                  <a:lnTo>
                    <a:pt x="220" y="438"/>
                  </a:lnTo>
                  <a:lnTo>
                    <a:pt x="205" y="432"/>
                  </a:lnTo>
                  <a:lnTo>
                    <a:pt x="200" y="426"/>
                  </a:lnTo>
                  <a:lnTo>
                    <a:pt x="194" y="429"/>
                  </a:lnTo>
                  <a:lnTo>
                    <a:pt x="174" y="414"/>
                  </a:lnTo>
                  <a:lnTo>
                    <a:pt x="161" y="406"/>
                  </a:lnTo>
                  <a:lnTo>
                    <a:pt x="155" y="412"/>
                  </a:lnTo>
                  <a:lnTo>
                    <a:pt x="154" y="411"/>
                  </a:lnTo>
                  <a:lnTo>
                    <a:pt x="139" y="401"/>
                  </a:lnTo>
                  <a:lnTo>
                    <a:pt x="120" y="390"/>
                  </a:lnTo>
                  <a:lnTo>
                    <a:pt x="113" y="388"/>
                  </a:lnTo>
                  <a:lnTo>
                    <a:pt x="106" y="369"/>
                  </a:lnTo>
                  <a:lnTo>
                    <a:pt x="115" y="370"/>
                  </a:lnTo>
                  <a:lnTo>
                    <a:pt x="118" y="363"/>
                  </a:lnTo>
                  <a:lnTo>
                    <a:pt x="108" y="349"/>
                  </a:lnTo>
                  <a:lnTo>
                    <a:pt x="108" y="342"/>
                  </a:lnTo>
                  <a:lnTo>
                    <a:pt x="107" y="337"/>
                  </a:lnTo>
                  <a:lnTo>
                    <a:pt x="103" y="335"/>
                  </a:lnTo>
                  <a:lnTo>
                    <a:pt x="101" y="331"/>
                  </a:lnTo>
                  <a:lnTo>
                    <a:pt x="100" y="327"/>
                  </a:lnTo>
                  <a:lnTo>
                    <a:pt x="98" y="322"/>
                  </a:lnTo>
                  <a:lnTo>
                    <a:pt x="94" y="321"/>
                  </a:lnTo>
                  <a:lnTo>
                    <a:pt x="86" y="317"/>
                  </a:lnTo>
                  <a:lnTo>
                    <a:pt x="82" y="316"/>
                  </a:lnTo>
                  <a:lnTo>
                    <a:pt x="61" y="310"/>
                  </a:lnTo>
                  <a:lnTo>
                    <a:pt x="50" y="305"/>
                  </a:lnTo>
                  <a:lnTo>
                    <a:pt x="43" y="293"/>
                  </a:lnTo>
                  <a:lnTo>
                    <a:pt x="25" y="288"/>
                  </a:lnTo>
                  <a:lnTo>
                    <a:pt x="25" y="285"/>
                  </a:lnTo>
                  <a:lnTo>
                    <a:pt x="29" y="285"/>
                  </a:lnTo>
                  <a:lnTo>
                    <a:pt x="30" y="285"/>
                  </a:lnTo>
                  <a:lnTo>
                    <a:pt x="31" y="283"/>
                  </a:lnTo>
                  <a:lnTo>
                    <a:pt x="23" y="262"/>
                  </a:lnTo>
                  <a:lnTo>
                    <a:pt x="8" y="261"/>
                  </a:lnTo>
                  <a:lnTo>
                    <a:pt x="0" y="246"/>
                  </a:lnTo>
                  <a:lnTo>
                    <a:pt x="6" y="233"/>
                  </a:lnTo>
                  <a:lnTo>
                    <a:pt x="17" y="227"/>
                  </a:lnTo>
                  <a:lnTo>
                    <a:pt x="24" y="226"/>
                  </a:lnTo>
                  <a:lnTo>
                    <a:pt x="32" y="228"/>
                  </a:lnTo>
                  <a:lnTo>
                    <a:pt x="42" y="217"/>
                  </a:lnTo>
                  <a:lnTo>
                    <a:pt x="58" y="213"/>
                  </a:lnTo>
                  <a:lnTo>
                    <a:pt x="68" y="204"/>
                  </a:lnTo>
                  <a:lnTo>
                    <a:pt x="79" y="195"/>
                  </a:lnTo>
                  <a:lnTo>
                    <a:pt x="76" y="186"/>
                  </a:lnTo>
                  <a:lnTo>
                    <a:pt x="79" y="183"/>
                  </a:lnTo>
                  <a:lnTo>
                    <a:pt x="79" y="179"/>
                  </a:lnTo>
                  <a:lnTo>
                    <a:pt x="72" y="166"/>
                  </a:lnTo>
                  <a:lnTo>
                    <a:pt x="66" y="153"/>
                  </a:lnTo>
                  <a:lnTo>
                    <a:pt x="56" y="149"/>
                  </a:lnTo>
                  <a:lnTo>
                    <a:pt x="73" y="142"/>
                  </a:lnTo>
                  <a:lnTo>
                    <a:pt x="94" y="144"/>
                  </a:lnTo>
                  <a:lnTo>
                    <a:pt x="88" y="137"/>
                  </a:lnTo>
                  <a:lnTo>
                    <a:pt x="86" y="123"/>
                  </a:lnTo>
                  <a:lnTo>
                    <a:pt x="84" y="107"/>
                  </a:lnTo>
                  <a:lnTo>
                    <a:pt x="107" y="112"/>
                  </a:lnTo>
                  <a:lnTo>
                    <a:pt x="120" y="109"/>
                  </a:lnTo>
                  <a:lnTo>
                    <a:pt x="113" y="91"/>
                  </a:lnTo>
                  <a:lnTo>
                    <a:pt x="120" y="87"/>
                  </a:lnTo>
                  <a:lnTo>
                    <a:pt x="126" y="75"/>
                  </a:lnTo>
                  <a:lnTo>
                    <a:pt x="137" y="73"/>
                  </a:lnTo>
                  <a:lnTo>
                    <a:pt x="138" y="76"/>
                  </a:lnTo>
                  <a:lnTo>
                    <a:pt x="144" y="82"/>
                  </a:lnTo>
                  <a:lnTo>
                    <a:pt x="164" y="95"/>
                  </a:lnTo>
                  <a:lnTo>
                    <a:pt x="175" y="97"/>
                  </a:lnTo>
                  <a:lnTo>
                    <a:pt x="197" y="112"/>
                  </a:lnTo>
                  <a:lnTo>
                    <a:pt x="202" y="126"/>
                  </a:lnTo>
                  <a:lnTo>
                    <a:pt x="208" y="141"/>
                  </a:lnTo>
                  <a:lnTo>
                    <a:pt x="224" y="143"/>
                  </a:lnTo>
                  <a:lnTo>
                    <a:pt x="241" y="147"/>
                  </a:lnTo>
                  <a:lnTo>
                    <a:pt x="262" y="153"/>
                  </a:lnTo>
                  <a:lnTo>
                    <a:pt x="282" y="159"/>
                  </a:lnTo>
                  <a:lnTo>
                    <a:pt x="295" y="173"/>
                  </a:lnTo>
                  <a:lnTo>
                    <a:pt x="308" y="186"/>
                  </a:lnTo>
                  <a:lnTo>
                    <a:pt x="329" y="187"/>
                  </a:lnTo>
                  <a:lnTo>
                    <a:pt x="348" y="189"/>
                  </a:lnTo>
                  <a:lnTo>
                    <a:pt x="368" y="190"/>
                  </a:lnTo>
                  <a:lnTo>
                    <a:pt x="389" y="191"/>
                  </a:lnTo>
                  <a:lnTo>
                    <a:pt x="395" y="196"/>
                  </a:lnTo>
                  <a:lnTo>
                    <a:pt x="413" y="199"/>
                  </a:lnTo>
                  <a:lnTo>
                    <a:pt x="431" y="203"/>
                  </a:lnTo>
                  <a:lnTo>
                    <a:pt x="442" y="208"/>
                  </a:lnTo>
                  <a:lnTo>
                    <a:pt x="452" y="201"/>
                  </a:lnTo>
                  <a:lnTo>
                    <a:pt x="462" y="195"/>
                  </a:lnTo>
                  <a:lnTo>
                    <a:pt x="480" y="193"/>
                  </a:lnTo>
                  <a:lnTo>
                    <a:pt x="497" y="192"/>
                  </a:lnTo>
                  <a:lnTo>
                    <a:pt x="510" y="180"/>
                  </a:lnTo>
                  <a:lnTo>
                    <a:pt x="523" y="169"/>
                  </a:lnTo>
                  <a:lnTo>
                    <a:pt x="514" y="161"/>
                  </a:lnTo>
                  <a:lnTo>
                    <a:pt x="511" y="144"/>
                  </a:lnTo>
                  <a:lnTo>
                    <a:pt x="533" y="150"/>
                  </a:lnTo>
                  <a:lnTo>
                    <a:pt x="546" y="142"/>
                  </a:lnTo>
                  <a:lnTo>
                    <a:pt x="560" y="138"/>
                  </a:lnTo>
                  <a:lnTo>
                    <a:pt x="563" y="126"/>
                  </a:lnTo>
                  <a:lnTo>
                    <a:pt x="580" y="118"/>
                  </a:lnTo>
                  <a:lnTo>
                    <a:pt x="604" y="118"/>
                  </a:lnTo>
                  <a:lnTo>
                    <a:pt x="600" y="109"/>
                  </a:lnTo>
                  <a:lnTo>
                    <a:pt x="569" y="93"/>
                  </a:lnTo>
                  <a:lnTo>
                    <a:pt x="562" y="100"/>
                  </a:lnTo>
                  <a:lnTo>
                    <a:pt x="557" y="97"/>
                  </a:lnTo>
                  <a:lnTo>
                    <a:pt x="541" y="97"/>
                  </a:lnTo>
                  <a:lnTo>
                    <a:pt x="529" y="90"/>
                  </a:lnTo>
                  <a:lnTo>
                    <a:pt x="533" y="89"/>
                  </a:lnTo>
                  <a:lnTo>
                    <a:pt x="532" y="75"/>
                  </a:lnTo>
                  <a:lnTo>
                    <a:pt x="529" y="61"/>
                  </a:lnTo>
                  <a:lnTo>
                    <a:pt x="550" y="65"/>
                  </a:lnTo>
                  <a:lnTo>
                    <a:pt x="560" y="54"/>
                  </a:lnTo>
                  <a:lnTo>
                    <a:pt x="556" y="41"/>
                  </a:lnTo>
                  <a:lnTo>
                    <a:pt x="554" y="21"/>
                  </a:lnTo>
                  <a:lnTo>
                    <a:pt x="545" y="13"/>
                  </a:lnTo>
                  <a:lnTo>
                    <a:pt x="539" y="11"/>
                  </a:lnTo>
                  <a:lnTo>
                    <a:pt x="548" y="1"/>
                  </a:lnTo>
                  <a:lnTo>
                    <a:pt x="566" y="0"/>
                  </a:lnTo>
                  <a:lnTo>
                    <a:pt x="584" y="0"/>
                  </a:lnTo>
                  <a:lnTo>
                    <a:pt x="619" y="11"/>
                  </a:lnTo>
                  <a:lnTo>
                    <a:pt x="634" y="24"/>
                  </a:lnTo>
                  <a:lnTo>
                    <a:pt x="648" y="36"/>
                  </a:lnTo>
                  <a:lnTo>
                    <a:pt x="662" y="48"/>
                  </a:lnTo>
                  <a:lnTo>
                    <a:pt x="677" y="60"/>
                  </a:lnTo>
                  <a:lnTo>
                    <a:pt x="692" y="66"/>
                  </a:lnTo>
                  <a:lnTo>
                    <a:pt x="718" y="73"/>
                  </a:lnTo>
                  <a:lnTo>
                    <a:pt x="733" y="79"/>
                  </a:lnTo>
                  <a:lnTo>
                    <a:pt x="751" y="99"/>
                  </a:lnTo>
                  <a:lnTo>
                    <a:pt x="773" y="96"/>
                  </a:lnTo>
                  <a:lnTo>
                    <a:pt x="794" y="88"/>
                  </a:lnTo>
                  <a:lnTo>
                    <a:pt x="803" y="103"/>
                  </a:lnTo>
                  <a:lnTo>
                    <a:pt x="805" y="124"/>
                  </a:lnTo>
                  <a:lnTo>
                    <a:pt x="809" y="145"/>
                  </a:lnTo>
                  <a:lnTo>
                    <a:pt x="790" y="142"/>
                  </a:lnTo>
                  <a:lnTo>
                    <a:pt x="787" y="151"/>
                  </a:lnTo>
                  <a:lnTo>
                    <a:pt x="797" y="167"/>
                  </a:lnTo>
                  <a:lnTo>
                    <a:pt x="806" y="183"/>
                  </a:lnTo>
                  <a:lnTo>
                    <a:pt x="800" y="187"/>
                  </a:lnTo>
                  <a:lnTo>
                    <a:pt x="804" y="192"/>
                  </a:lnTo>
                  <a:lnTo>
                    <a:pt x="787" y="183"/>
                  </a:lnTo>
                  <a:lnTo>
                    <a:pt x="787" y="192"/>
                  </a:lnTo>
                  <a:lnTo>
                    <a:pt x="778" y="199"/>
                  </a:lnTo>
                  <a:lnTo>
                    <a:pt x="773" y="201"/>
                  </a:lnTo>
                  <a:lnTo>
                    <a:pt x="779" y="210"/>
                  </a:lnTo>
                  <a:lnTo>
                    <a:pt x="761" y="205"/>
                  </a:lnTo>
                  <a:lnTo>
                    <a:pt x="755" y="208"/>
                  </a:lnTo>
                  <a:lnTo>
                    <a:pt x="746" y="223"/>
                  </a:lnTo>
                  <a:lnTo>
                    <a:pt x="738" y="233"/>
                  </a:lnTo>
                  <a:lnTo>
                    <a:pt x="731" y="238"/>
                  </a:lnTo>
                  <a:lnTo>
                    <a:pt x="721" y="245"/>
                  </a:lnTo>
                  <a:lnTo>
                    <a:pt x="712" y="251"/>
                  </a:lnTo>
                  <a:lnTo>
                    <a:pt x="701" y="256"/>
                  </a:lnTo>
                  <a:lnTo>
                    <a:pt x="707" y="246"/>
                  </a:lnTo>
                  <a:lnTo>
                    <a:pt x="697" y="243"/>
                  </a:lnTo>
                  <a:lnTo>
                    <a:pt x="701" y="225"/>
                  </a:lnTo>
                  <a:lnTo>
                    <a:pt x="692" y="220"/>
                  </a:lnTo>
                  <a:lnTo>
                    <a:pt x="683" y="222"/>
                  </a:lnTo>
                  <a:lnTo>
                    <a:pt x="676" y="233"/>
                  </a:lnTo>
                  <a:lnTo>
                    <a:pt x="668" y="245"/>
                  </a:lnTo>
                  <a:lnTo>
                    <a:pt x="658" y="251"/>
                  </a:lnTo>
                  <a:lnTo>
                    <a:pt x="649" y="252"/>
                  </a:lnTo>
                  <a:lnTo>
                    <a:pt x="654" y="264"/>
                  </a:lnTo>
                  <a:lnTo>
                    <a:pt x="676" y="270"/>
                  </a:lnTo>
                  <a:lnTo>
                    <a:pt x="683" y="285"/>
                  </a:lnTo>
                  <a:lnTo>
                    <a:pt x="694" y="282"/>
                  </a:lnTo>
                  <a:lnTo>
                    <a:pt x="706" y="274"/>
                  </a:lnTo>
                  <a:lnTo>
                    <a:pt x="725" y="281"/>
                  </a:lnTo>
                  <a:lnTo>
                    <a:pt x="734" y="283"/>
                  </a:lnTo>
                  <a:lnTo>
                    <a:pt x="734" y="292"/>
                  </a:lnTo>
                  <a:lnTo>
                    <a:pt x="726" y="291"/>
                  </a:lnTo>
                  <a:lnTo>
                    <a:pt x="716" y="297"/>
                  </a:lnTo>
                  <a:lnTo>
                    <a:pt x="710" y="305"/>
                  </a:lnTo>
                  <a:lnTo>
                    <a:pt x="708" y="311"/>
                  </a:lnTo>
                  <a:lnTo>
                    <a:pt x="706" y="329"/>
                  </a:lnTo>
                  <a:lnTo>
                    <a:pt x="727" y="342"/>
                  </a:lnTo>
                  <a:lnTo>
                    <a:pt x="738" y="355"/>
                  </a:lnTo>
                  <a:lnTo>
                    <a:pt x="748" y="370"/>
                  </a:lnTo>
                  <a:lnTo>
                    <a:pt x="764" y="384"/>
                  </a:lnTo>
                  <a:lnTo>
                    <a:pt x="740" y="377"/>
                  </a:lnTo>
                  <a:lnTo>
                    <a:pt x="742" y="378"/>
                  </a:lnTo>
                  <a:lnTo>
                    <a:pt x="756" y="388"/>
                  </a:lnTo>
                  <a:lnTo>
                    <a:pt x="770" y="397"/>
                  </a:lnTo>
                  <a:lnTo>
                    <a:pt x="756" y="407"/>
                  </a:lnTo>
                  <a:lnTo>
                    <a:pt x="751" y="411"/>
                  </a:lnTo>
                  <a:lnTo>
                    <a:pt x="760" y="412"/>
                  </a:lnTo>
                  <a:lnTo>
                    <a:pt x="769" y="411"/>
                  </a:lnTo>
                  <a:lnTo>
                    <a:pt x="780" y="417"/>
                  </a:lnTo>
                  <a:lnTo>
                    <a:pt x="774" y="424"/>
                  </a:lnTo>
                  <a:lnTo>
                    <a:pt x="780" y="424"/>
                  </a:lnTo>
                  <a:lnTo>
                    <a:pt x="779" y="426"/>
                  </a:lnTo>
                  <a:lnTo>
                    <a:pt x="775" y="430"/>
                  </a:lnTo>
                  <a:lnTo>
                    <a:pt x="776" y="433"/>
                  </a:lnTo>
                  <a:lnTo>
                    <a:pt x="778" y="437"/>
                  </a:lnTo>
                  <a:lnTo>
                    <a:pt x="775" y="437"/>
                  </a:lnTo>
                  <a:lnTo>
                    <a:pt x="779" y="444"/>
                  </a:lnTo>
                  <a:lnTo>
                    <a:pt x="775" y="445"/>
                  </a:lnTo>
                  <a:lnTo>
                    <a:pt x="767" y="449"/>
                  </a:lnTo>
                  <a:lnTo>
                    <a:pt x="770" y="455"/>
                  </a:lnTo>
                  <a:lnTo>
                    <a:pt x="768" y="463"/>
                  </a:lnTo>
                  <a:lnTo>
                    <a:pt x="762" y="477"/>
                  </a:lnTo>
                  <a:lnTo>
                    <a:pt x="760" y="478"/>
                  </a:lnTo>
                  <a:lnTo>
                    <a:pt x="763" y="481"/>
                  </a:lnTo>
                  <a:lnTo>
                    <a:pt x="756" y="485"/>
                  </a:lnTo>
                  <a:lnTo>
                    <a:pt x="755" y="485"/>
                  </a:lnTo>
                  <a:lnTo>
                    <a:pt x="762" y="487"/>
                  </a:lnTo>
                  <a:lnTo>
                    <a:pt x="763" y="497"/>
                  </a:lnTo>
                  <a:lnTo>
                    <a:pt x="758" y="496"/>
                  </a:lnTo>
                  <a:lnTo>
                    <a:pt x="758" y="499"/>
                  </a:lnTo>
                  <a:lnTo>
                    <a:pt x="755" y="503"/>
                  </a:lnTo>
                  <a:lnTo>
                    <a:pt x="754" y="505"/>
                  </a:lnTo>
                  <a:lnTo>
                    <a:pt x="752" y="511"/>
                  </a:lnTo>
                  <a:lnTo>
                    <a:pt x="744" y="513"/>
                  </a:lnTo>
                  <a:lnTo>
                    <a:pt x="743" y="515"/>
                  </a:lnTo>
                  <a:lnTo>
                    <a:pt x="744" y="519"/>
                  </a:lnTo>
                  <a:lnTo>
                    <a:pt x="739" y="525"/>
                  </a:lnTo>
                  <a:lnTo>
                    <a:pt x="726" y="534"/>
                  </a:lnTo>
                  <a:lnTo>
                    <a:pt x="727" y="535"/>
                  </a:lnTo>
                  <a:lnTo>
                    <a:pt x="721" y="540"/>
                  </a:lnTo>
                  <a:lnTo>
                    <a:pt x="713" y="543"/>
                  </a:lnTo>
                  <a:lnTo>
                    <a:pt x="712" y="543"/>
                  </a:lnTo>
                  <a:lnTo>
                    <a:pt x="709" y="545"/>
                  </a:lnTo>
                  <a:lnTo>
                    <a:pt x="702" y="546"/>
                  </a:lnTo>
                  <a:lnTo>
                    <a:pt x="700" y="545"/>
                  </a:lnTo>
                  <a:lnTo>
                    <a:pt x="696" y="547"/>
                  </a:lnTo>
                  <a:lnTo>
                    <a:pt x="694" y="550"/>
                  </a:lnTo>
                  <a:lnTo>
                    <a:pt x="689" y="550"/>
                  </a:lnTo>
                  <a:lnTo>
                    <a:pt x="680" y="538"/>
                  </a:lnTo>
                  <a:lnTo>
                    <a:pt x="677" y="543"/>
                  </a:lnTo>
                  <a:lnTo>
                    <a:pt x="680" y="555"/>
                  </a:lnTo>
                  <a:lnTo>
                    <a:pt x="677" y="550"/>
                  </a:lnTo>
                  <a:lnTo>
                    <a:pt x="677" y="557"/>
                  </a:lnTo>
                  <a:lnTo>
                    <a:pt x="674" y="556"/>
                  </a:lnTo>
                  <a:lnTo>
                    <a:pt x="668" y="562"/>
                  </a:lnTo>
                  <a:lnTo>
                    <a:pt x="665" y="558"/>
                  </a:lnTo>
                  <a:lnTo>
                    <a:pt x="662" y="562"/>
                  </a:lnTo>
                  <a:lnTo>
                    <a:pt x="658" y="561"/>
                  </a:lnTo>
                  <a:lnTo>
                    <a:pt x="648" y="567"/>
                  </a:lnTo>
                  <a:lnTo>
                    <a:pt x="640" y="569"/>
                  </a:lnTo>
                  <a:lnTo>
                    <a:pt x="637" y="570"/>
                  </a:lnTo>
                  <a:lnTo>
                    <a:pt x="636" y="579"/>
                  </a:lnTo>
                  <a:lnTo>
                    <a:pt x="640" y="588"/>
                  </a:lnTo>
                  <a:lnTo>
                    <a:pt x="631" y="587"/>
                  </a:lnTo>
                  <a:lnTo>
                    <a:pt x="628" y="569"/>
                  </a:lnTo>
                  <a:lnTo>
                    <a:pt x="623" y="565"/>
                  </a:lnTo>
                  <a:lnTo>
                    <a:pt x="617" y="567"/>
                  </a:lnTo>
                  <a:lnTo>
                    <a:pt x="611" y="564"/>
                  </a:lnTo>
                  <a:lnTo>
                    <a:pt x="605" y="561"/>
                  </a:lnTo>
                  <a:lnTo>
                    <a:pt x="604" y="563"/>
                  </a:lnTo>
                  <a:lnTo>
                    <a:pt x="598" y="565"/>
                  </a:lnTo>
                  <a:lnTo>
                    <a:pt x="582" y="559"/>
                  </a:lnTo>
                  <a:lnTo>
                    <a:pt x="576" y="555"/>
                  </a:lnTo>
                  <a:lnTo>
                    <a:pt x="574" y="543"/>
                  </a:lnTo>
                  <a:lnTo>
                    <a:pt x="554" y="537"/>
                  </a:lnTo>
                  <a:lnTo>
                    <a:pt x="547" y="535"/>
                  </a:lnTo>
                  <a:lnTo>
                    <a:pt x="539" y="546"/>
                  </a:lnTo>
                  <a:lnTo>
                    <a:pt x="533" y="546"/>
                  </a:lnTo>
                  <a:lnTo>
                    <a:pt x="530" y="547"/>
                  </a:lnTo>
                  <a:lnTo>
                    <a:pt x="527" y="546"/>
                  </a:lnTo>
                  <a:lnTo>
                    <a:pt x="520" y="546"/>
                  </a:lnTo>
                  <a:lnTo>
                    <a:pt x="517" y="549"/>
                  </a:lnTo>
                  <a:lnTo>
                    <a:pt x="509" y="546"/>
                  </a:lnTo>
                  <a:lnTo>
                    <a:pt x="505" y="551"/>
                  </a:lnTo>
                  <a:lnTo>
                    <a:pt x="497" y="551"/>
                  </a:lnTo>
                  <a:lnTo>
                    <a:pt x="500" y="573"/>
                  </a:lnTo>
                  <a:lnTo>
                    <a:pt x="494" y="569"/>
                  </a:lnTo>
                  <a:lnTo>
                    <a:pt x="492" y="565"/>
                  </a:lnTo>
                  <a:lnTo>
                    <a:pt x="487" y="563"/>
                  </a:lnTo>
                  <a:lnTo>
                    <a:pt x="476" y="567"/>
                  </a:lnTo>
                  <a:lnTo>
                    <a:pt x="468" y="557"/>
                  </a:lnTo>
                  <a:lnTo>
                    <a:pt x="460" y="553"/>
                  </a:lnTo>
                  <a:lnTo>
                    <a:pt x="462" y="539"/>
                  </a:lnTo>
                  <a:lnTo>
                    <a:pt x="451" y="534"/>
                  </a:lnTo>
                  <a:lnTo>
                    <a:pt x="448" y="522"/>
                  </a:lnTo>
                  <a:lnTo>
                    <a:pt x="446" y="520"/>
                  </a:lnTo>
                  <a:lnTo>
                    <a:pt x="430" y="522"/>
                  </a:lnTo>
                  <a:lnTo>
                    <a:pt x="430" y="514"/>
                  </a:lnTo>
                  <a:lnTo>
                    <a:pt x="428" y="507"/>
                  </a:lnTo>
                  <a:lnTo>
                    <a:pt x="436" y="495"/>
                  </a:lnTo>
                  <a:lnTo>
                    <a:pt x="438" y="486"/>
                  </a:lnTo>
                  <a:lnTo>
                    <a:pt x="434" y="472"/>
                  </a:lnTo>
                  <a:lnTo>
                    <a:pt x="432" y="457"/>
                  </a:lnTo>
                  <a:lnTo>
                    <a:pt x="425" y="454"/>
                  </a:lnTo>
                  <a:lnTo>
                    <a:pt x="412" y="441"/>
                  </a:lnTo>
                  <a:lnTo>
                    <a:pt x="410" y="447"/>
                  </a:lnTo>
                  <a:lnTo>
                    <a:pt x="394" y="441"/>
                  </a:lnTo>
                  <a:lnTo>
                    <a:pt x="394" y="432"/>
                  </a:lnTo>
                  <a:lnTo>
                    <a:pt x="388" y="431"/>
                  </a:lnTo>
                  <a:lnTo>
                    <a:pt x="389" y="427"/>
                  </a:lnTo>
                  <a:lnTo>
                    <a:pt x="383" y="425"/>
                  </a:lnTo>
                  <a:lnTo>
                    <a:pt x="374" y="430"/>
                  </a:lnTo>
                  <a:lnTo>
                    <a:pt x="361" y="42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5" name="Freeform 254"/>
            <p:cNvSpPr>
              <a:spLocks/>
            </p:cNvSpPr>
            <p:nvPr/>
          </p:nvSpPr>
          <p:spPr bwMode="auto">
            <a:xfrm>
              <a:off x="4415" y="2307"/>
              <a:ext cx="40" cy="34"/>
            </a:xfrm>
            <a:custGeom>
              <a:avLst/>
              <a:gdLst/>
              <a:ahLst/>
              <a:cxnLst>
                <a:cxn ang="0">
                  <a:pos x="26" y="0"/>
                </a:cxn>
                <a:cxn ang="0">
                  <a:pos x="11" y="3"/>
                </a:cxn>
                <a:cxn ang="0">
                  <a:pos x="0" y="10"/>
                </a:cxn>
                <a:cxn ang="0">
                  <a:pos x="1" y="24"/>
                </a:cxn>
                <a:cxn ang="0">
                  <a:pos x="13" y="30"/>
                </a:cxn>
                <a:cxn ang="0">
                  <a:pos x="19" y="29"/>
                </a:cxn>
                <a:cxn ang="0">
                  <a:pos x="29" y="18"/>
                </a:cxn>
                <a:cxn ang="0">
                  <a:pos x="35" y="6"/>
                </a:cxn>
                <a:cxn ang="0">
                  <a:pos x="32" y="0"/>
                </a:cxn>
                <a:cxn ang="0">
                  <a:pos x="26" y="0"/>
                </a:cxn>
              </a:cxnLst>
              <a:rect l="0" t="0" r="r" b="b"/>
              <a:pathLst>
                <a:path w="35" h="30">
                  <a:moveTo>
                    <a:pt x="26" y="0"/>
                  </a:moveTo>
                  <a:lnTo>
                    <a:pt x="11" y="3"/>
                  </a:lnTo>
                  <a:lnTo>
                    <a:pt x="0" y="10"/>
                  </a:lnTo>
                  <a:lnTo>
                    <a:pt x="1" y="24"/>
                  </a:lnTo>
                  <a:lnTo>
                    <a:pt x="13" y="30"/>
                  </a:lnTo>
                  <a:lnTo>
                    <a:pt x="19" y="29"/>
                  </a:lnTo>
                  <a:lnTo>
                    <a:pt x="29" y="18"/>
                  </a:lnTo>
                  <a:lnTo>
                    <a:pt x="35" y="6"/>
                  </a:lnTo>
                  <a:lnTo>
                    <a:pt x="32" y="0"/>
                  </a:lnTo>
                  <a:lnTo>
                    <a:pt x="2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6" name="Freeform 255"/>
            <p:cNvSpPr>
              <a:spLocks/>
            </p:cNvSpPr>
            <p:nvPr/>
          </p:nvSpPr>
          <p:spPr bwMode="auto">
            <a:xfrm>
              <a:off x="4713" y="1879"/>
              <a:ext cx="149" cy="157"/>
            </a:xfrm>
            <a:custGeom>
              <a:avLst/>
              <a:gdLst/>
              <a:ahLst/>
              <a:cxnLst>
                <a:cxn ang="0">
                  <a:pos x="125" y="108"/>
                </a:cxn>
                <a:cxn ang="0">
                  <a:pos x="122" y="103"/>
                </a:cxn>
                <a:cxn ang="0">
                  <a:pos x="123" y="112"/>
                </a:cxn>
                <a:cxn ang="0">
                  <a:pos x="116" y="114"/>
                </a:cxn>
                <a:cxn ang="0">
                  <a:pos x="114" y="121"/>
                </a:cxn>
                <a:cxn ang="0">
                  <a:pos x="111" y="113"/>
                </a:cxn>
                <a:cxn ang="0">
                  <a:pos x="107" y="122"/>
                </a:cxn>
                <a:cxn ang="0">
                  <a:pos x="90" y="121"/>
                </a:cxn>
                <a:cxn ang="0">
                  <a:pos x="86" y="119"/>
                </a:cxn>
                <a:cxn ang="0">
                  <a:pos x="81" y="115"/>
                </a:cxn>
                <a:cxn ang="0">
                  <a:pos x="83" y="124"/>
                </a:cxn>
                <a:cxn ang="0">
                  <a:pos x="87" y="128"/>
                </a:cxn>
                <a:cxn ang="0">
                  <a:pos x="81" y="136"/>
                </a:cxn>
                <a:cxn ang="0">
                  <a:pos x="78" y="143"/>
                </a:cxn>
                <a:cxn ang="0">
                  <a:pos x="64" y="132"/>
                </a:cxn>
                <a:cxn ang="0">
                  <a:pos x="63" y="120"/>
                </a:cxn>
                <a:cxn ang="0">
                  <a:pos x="44" y="122"/>
                </a:cxn>
                <a:cxn ang="0">
                  <a:pos x="23" y="127"/>
                </a:cxn>
                <a:cxn ang="0">
                  <a:pos x="17" y="134"/>
                </a:cxn>
                <a:cxn ang="0">
                  <a:pos x="0" y="132"/>
                </a:cxn>
                <a:cxn ang="0">
                  <a:pos x="3" y="126"/>
                </a:cxn>
                <a:cxn ang="0">
                  <a:pos x="14" y="115"/>
                </a:cxn>
                <a:cxn ang="0">
                  <a:pos x="23" y="106"/>
                </a:cxn>
                <a:cxn ang="0">
                  <a:pos x="38" y="104"/>
                </a:cxn>
                <a:cxn ang="0">
                  <a:pos x="53" y="103"/>
                </a:cxn>
                <a:cxn ang="0">
                  <a:pos x="57" y="106"/>
                </a:cxn>
                <a:cxn ang="0">
                  <a:pos x="65" y="101"/>
                </a:cxn>
                <a:cxn ang="0">
                  <a:pos x="63" y="91"/>
                </a:cxn>
                <a:cxn ang="0">
                  <a:pos x="62" y="77"/>
                </a:cxn>
                <a:cxn ang="0">
                  <a:pos x="68" y="73"/>
                </a:cxn>
                <a:cxn ang="0">
                  <a:pos x="66" y="78"/>
                </a:cxn>
                <a:cxn ang="0">
                  <a:pos x="72" y="84"/>
                </a:cxn>
                <a:cxn ang="0">
                  <a:pos x="80" y="77"/>
                </a:cxn>
                <a:cxn ang="0">
                  <a:pos x="87" y="70"/>
                </a:cxn>
                <a:cxn ang="0">
                  <a:pos x="89" y="56"/>
                </a:cxn>
                <a:cxn ang="0">
                  <a:pos x="90" y="42"/>
                </a:cxn>
                <a:cxn ang="0">
                  <a:pos x="82" y="29"/>
                </a:cxn>
                <a:cxn ang="0">
                  <a:pos x="76" y="13"/>
                </a:cxn>
                <a:cxn ang="0">
                  <a:pos x="77" y="5"/>
                </a:cxn>
                <a:cxn ang="0">
                  <a:pos x="86" y="10"/>
                </a:cxn>
                <a:cxn ang="0">
                  <a:pos x="89" y="7"/>
                </a:cxn>
                <a:cxn ang="0">
                  <a:pos x="87" y="4"/>
                </a:cxn>
                <a:cxn ang="0">
                  <a:pos x="81" y="4"/>
                </a:cxn>
                <a:cxn ang="0">
                  <a:pos x="82" y="0"/>
                </a:cxn>
                <a:cxn ang="0">
                  <a:pos x="89" y="2"/>
                </a:cxn>
                <a:cxn ang="0">
                  <a:pos x="102" y="18"/>
                </a:cxn>
                <a:cxn ang="0">
                  <a:pos x="118" y="34"/>
                </a:cxn>
                <a:cxn ang="0">
                  <a:pos x="119" y="55"/>
                </a:cxn>
                <a:cxn ang="0">
                  <a:pos x="116" y="61"/>
                </a:cxn>
                <a:cxn ang="0">
                  <a:pos x="124" y="84"/>
                </a:cxn>
                <a:cxn ang="0">
                  <a:pos x="135" y="101"/>
                </a:cxn>
                <a:cxn ang="0">
                  <a:pos x="129" y="118"/>
                </a:cxn>
                <a:cxn ang="0">
                  <a:pos x="125" y="108"/>
                </a:cxn>
              </a:cxnLst>
              <a:rect l="0" t="0" r="r" b="b"/>
              <a:pathLst>
                <a:path w="135" h="143">
                  <a:moveTo>
                    <a:pt x="125" y="108"/>
                  </a:moveTo>
                  <a:lnTo>
                    <a:pt x="122" y="103"/>
                  </a:lnTo>
                  <a:lnTo>
                    <a:pt x="123" y="112"/>
                  </a:lnTo>
                  <a:lnTo>
                    <a:pt x="116" y="114"/>
                  </a:lnTo>
                  <a:lnTo>
                    <a:pt x="114" y="121"/>
                  </a:lnTo>
                  <a:lnTo>
                    <a:pt x="111" y="113"/>
                  </a:lnTo>
                  <a:lnTo>
                    <a:pt x="107" y="122"/>
                  </a:lnTo>
                  <a:lnTo>
                    <a:pt x="90" y="121"/>
                  </a:lnTo>
                  <a:lnTo>
                    <a:pt x="86" y="119"/>
                  </a:lnTo>
                  <a:lnTo>
                    <a:pt x="81" y="115"/>
                  </a:lnTo>
                  <a:lnTo>
                    <a:pt x="83" y="124"/>
                  </a:lnTo>
                  <a:lnTo>
                    <a:pt x="87" y="128"/>
                  </a:lnTo>
                  <a:lnTo>
                    <a:pt x="81" y="136"/>
                  </a:lnTo>
                  <a:lnTo>
                    <a:pt x="78" y="143"/>
                  </a:lnTo>
                  <a:lnTo>
                    <a:pt x="64" y="132"/>
                  </a:lnTo>
                  <a:lnTo>
                    <a:pt x="63" y="120"/>
                  </a:lnTo>
                  <a:lnTo>
                    <a:pt x="44" y="122"/>
                  </a:lnTo>
                  <a:lnTo>
                    <a:pt x="23" y="127"/>
                  </a:lnTo>
                  <a:lnTo>
                    <a:pt x="17" y="134"/>
                  </a:lnTo>
                  <a:lnTo>
                    <a:pt x="0" y="132"/>
                  </a:lnTo>
                  <a:lnTo>
                    <a:pt x="3" y="126"/>
                  </a:lnTo>
                  <a:lnTo>
                    <a:pt x="14" y="115"/>
                  </a:lnTo>
                  <a:lnTo>
                    <a:pt x="23" y="106"/>
                  </a:lnTo>
                  <a:lnTo>
                    <a:pt x="38" y="104"/>
                  </a:lnTo>
                  <a:lnTo>
                    <a:pt x="53" y="103"/>
                  </a:lnTo>
                  <a:lnTo>
                    <a:pt x="57" y="106"/>
                  </a:lnTo>
                  <a:lnTo>
                    <a:pt x="65" y="101"/>
                  </a:lnTo>
                  <a:lnTo>
                    <a:pt x="63" y="91"/>
                  </a:lnTo>
                  <a:lnTo>
                    <a:pt x="62" y="77"/>
                  </a:lnTo>
                  <a:lnTo>
                    <a:pt x="68" y="73"/>
                  </a:lnTo>
                  <a:lnTo>
                    <a:pt x="66" y="78"/>
                  </a:lnTo>
                  <a:lnTo>
                    <a:pt x="72" y="84"/>
                  </a:lnTo>
                  <a:lnTo>
                    <a:pt x="80" y="77"/>
                  </a:lnTo>
                  <a:lnTo>
                    <a:pt x="87" y="70"/>
                  </a:lnTo>
                  <a:lnTo>
                    <a:pt x="89" y="56"/>
                  </a:lnTo>
                  <a:lnTo>
                    <a:pt x="90" y="42"/>
                  </a:lnTo>
                  <a:lnTo>
                    <a:pt x="82" y="29"/>
                  </a:lnTo>
                  <a:lnTo>
                    <a:pt x="76" y="13"/>
                  </a:lnTo>
                  <a:lnTo>
                    <a:pt x="77" y="5"/>
                  </a:lnTo>
                  <a:lnTo>
                    <a:pt x="86" y="10"/>
                  </a:lnTo>
                  <a:lnTo>
                    <a:pt x="89" y="7"/>
                  </a:lnTo>
                  <a:lnTo>
                    <a:pt x="87" y="4"/>
                  </a:lnTo>
                  <a:lnTo>
                    <a:pt x="81" y="4"/>
                  </a:lnTo>
                  <a:lnTo>
                    <a:pt x="82" y="0"/>
                  </a:lnTo>
                  <a:lnTo>
                    <a:pt x="89" y="2"/>
                  </a:lnTo>
                  <a:lnTo>
                    <a:pt x="102" y="18"/>
                  </a:lnTo>
                  <a:lnTo>
                    <a:pt x="118" y="34"/>
                  </a:lnTo>
                  <a:lnTo>
                    <a:pt x="119" y="55"/>
                  </a:lnTo>
                  <a:lnTo>
                    <a:pt x="116" y="61"/>
                  </a:lnTo>
                  <a:lnTo>
                    <a:pt x="124" y="84"/>
                  </a:lnTo>
                  <a:lnTo>
                    <a:pt x="135" y="101"/>
                  </a:lnTo>
                  <a:lnTo>
                    <a:pt x="129" y="118"/>
                  </a:lnTo>
                  <a:lnTo>
                    <a:pt x="125" y="1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7" name="Freeform 256"/>
            <p:cNvSpPr>
              <a:spLocks/>
            </p:cNvSpPr>
            <p:nvPr/>
          </p:nvSpPr>
          <p:spPr bwMode="auto">
            <a:xfrm>
              <a:off x="4766" y="1799"/>
              <a:ext cx="87" cy="80"/>
            </a:xfrm>
            <a:custGeom>
              <a:avLst/>
              <a:gdLst/>
              <a:ahLst/>
              <a:cxnLst>
                <a:cxn ang="0">
                  <a:pos x="61" y="28"/>
                </a:cxn>
                <a:cxn ang="0">
                  <a:pos x="47" y="24"/>
                </a:cxn>
                <a:cxn ang="0">
                  <a:pos x="24" y="12"/>
                </a:cxn>
                <a:cxn ang="0">
                  <a:pos x="0" y="0"/>
                </a:cxn>
                <a:cxn ang="0">
                  <a:pos x="5" y="10"/>
                </a:cxn>
                <a:cxn ang="0">
                  <a:pos x="12" y="25"/>
                </a:cxn>
                <a:cxn ang="0">
                  <a:pos x="19" y="40"/>
                </a:cxn>
                <a:cxn ang="0">
                  <a:pos x="9" y="40"/>
                </a:cxn>
                <a:cxn ang="0">
                  <a:pos x="6" y="42"/>
                </a:cxn>
                <a:cxn ang="0">
                  <a:pos x="7" y="49"/>
                </a:cxn>
                <a:cxn ang="0">
                  <a:pos x="10" y="59"/>
                </a:cxn>
                <a:cxn ang="0">
                  <a:pos x="21" y="72"/>
                </a:cxn>
                <a:cxn ang="0">
                  <a:pos x="24" y="68"/>
                </a:cxn>
                <a:cxn ang="0">
                  <a:pos x="31" y="67"/>
                </a:cxn>
                <a:cxn ang="0">
                  <a:pos x="13" y="55"/>
                </a:cxn>
                <a:cxn ang="0">
                  <a:pos x="22" y="55"/>
                </a:cxn>
                <a:cxn ang="0">
                  <a:pos x="28" y="53"/>
                </a:cxn>
                <a:cxn ang="0">
                  <a:pos x="58" y="61"/>
                </a:cxn>
                <a:cxn ang="0">
                  <a:pos x="59" y="58"/>
                </a:cxn>
                <a:cxn ang="0">
                  <a:pos x="66" y="46"/>
                </a:cxn>
                <a:cxn ang="0">
                  <a:pos x="78" y="40"/>
                </a:cxn>
                <a:cxn ang="0">
                  <a:pos x="71" y="35"/>
                </a:cxn>
                <a:cxn ang="0">
                  <a:pos x="65" y="22"/>
                </a:cxn>
                <a:cxn ang="0">
                  <a:pos x="61" y="28"/>
                </a:cxn>
              </a:cxnLst>
              <a:rect l="0" t="0" r="r" b="b"/>
              <a:pathLst>
                <a:path w="78" h="72">
                  <a:moveTo>
                    <a:pt x="61" y="28"/>
                  </a:moveTo>
                  <a:lnTo>
                    <a:pt x="47" y="24"/>
                  </a:lnTo>
                  <a:lnTo>
                    <a:pt x="24" y="12"/>
                  </a:lnTo>
                  <a:lnTo>
                    <a:pt x="0" y="0"/>
                  </a:lnTo>
                  <a:lnTo>
                    <a:pt x="5" y="10"/>
                  </a:lnTo>
                  <a:lnTo>
                    <a:pt x="12" y="25"/>
                  </a:lnTo>
                  <a:lnTo>
                    <a:pt x="19" y="40"/>
                  </a:lnTo>
                  <a:lnTo>
                    <a:pt x="9" y="40"/>
                  </a:lnTo>
                  <a:lnTo>
                    <a:pt x="6" y="42"/>
                  </a:lnTo>
                  <a:lnTo>
                    <a:pt x="7" y="49"/>
                  </a:lnTo>
                  <a:lnTo>
                    <a:pt x="10" y="59"/>
                  </a:lnTo>
                  <a:lnTo>
                    <a:pt x="21" y="72"/>
                  </a:lnTo>
                  <a:lnTo>
                    <a:pt x="24" y="68"/>
                  </a:lnTo>
                  <a:lnTo>
                    <a:pt x="31" y="67"/>
                  </a:lnTo>
                  <a:lnTo>
                    <a:pt x="13" y="55"/>
                  </a:lnTo>
                  <a:lnTo>
                    <a:pt x="22" y="55"/>
                  </a:lnTo>
                  <a:lnTo>
                    <a:pt x="28" y="53"/>
                  </a:lnTo>
                  <a:lnTo>
                    <a:pt x="58" y="61"/>
                  </a:lnTo>
                  <a:lnTo>
                    <a:pt x="59" y="58"/>
                  </a:lnTo>
                  <a:lnTo>
                    <a:pt x="66" y="46"/>
                  </a:lnTo>
                  <a:lnTo>
                    <a:pt x="78" y="40"/>
                  </a:lnTo>
                  <a:lnTo>
                    <a:pt x="71" y="35"/>
                  </a:lnTo>
                  <a:lnTo>
                    <a:pt x="65" y="22"/>
                  </a:lnTo>
                  <a:lnTo>
                    <a:pt x="61"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8" name="Freeform 257"/>
            <p:cNvSpPr>
              <a:spLocks/>
            </p:cNvSpPr>
            <p:nvPr/>
          </p:nvSpPr>
          <p:spPr bwMode="auto">
            <a:xfrm>
              <a:off x="4700" y="2030"/>
              <a:ext cx="42" cy="53"/>
            </a:xfrm>
            <a:custGeom>
              <a:avLst/>
              <a:gdLst/>
              <a:ahLst/>
              <a:cxnLst>
                <a:cxn ang="0">
                  <a:pos x="40" y="16"/>
                </a:cxn>
                <a:cxn ang="0">
                  <a:pos x="39" y="30"/>
                </a:cxn>
                <a:cxn ang="0">
                  <a:pos x="37" y="43"/>
                </a:cxn>
                <a:cxn ang="0">
                  <a:pos x="33" y="49"/>
                </a:cxn>
                <a:cxn ang="0">
                  <a:pos x="27" y="39"/>
                </a:cxn>
                <a:cxn ang="0">
                  <a:pos x="28" y="48"/>
                </a:cxn>
                <a:cxn ang="0">
                  <a:pos x="23" y="43"/>
                </a:cxn>
                <a:cxn ang="0">
                  <a:pos x="19" y="30"/>
                </a:cxn>
                <a:cxn ang="0">
                  <a:pos x="19" y="22"/>
                </a:cxn>
                <a:cxn ang="0">
                  <a:pos x="10" y="13"/>
                </a:cxn>
                <a:cxn ang="0">
                  <a:pos x="15" y="22"/>
                </a:cxn>
                <a:cxn ang="0">
                  <a:pos x="9" y="22"/>
                </a:cxn>
                <a:cxn ang="0">
                  <a:pos x="5" y="15"/>
                </a:cxn>
                <a:cxn ang="0">
                  <a:pos x="7" y="15"/>
                </a:cxn>
                <a:cxn ang="0">
                  <a:pos x="0" y="9"/>
                </a:cxn>
                <a:cxn ang="0">
                  <a:pos x="16" y="0"/>
                </a:cxn>
                <a:cxn ang="0">
                  <a:pos x="25" y="4"/>
                </a:cxn>
                <a:cxn ang="0">
                  <a:pos x="30" y="8"/>
                </a:cxn>
                <a:cxn ang="0">
                  <a:pos x="31" y="10"/>
                </a:cxn>
                <a:cxn ang="0">
                  <a:pos x="40" y="16"/>
                </a:cxn>
              </a:cxnLst>
              <a:rect l="0" t="0" r="r" b="b"/>
              <a:pathLst>
                <a:path w="40" h="49">
                  <a:moveTo>
                    <a:pt x="40" y="16"/>
                  </a:moveTo>
                  <a:lnTo>
                    <a:pt x="39" y="30"/>
                  </a:lnTo>
                  <a:lnTo>
                    <a:pt x="37" y="43"/>
                  </a:lnTo>
                  <a:lnTo>
                    <a:pt x="33" y="49"/>
                  </a:lnTo>
                  <a:lnTo>
                    <a:pt x="27" y="39"/>
                  </a:lnTo>
                  <a:lnTo>
                    <a:pt x="28" y="48"/>
                  </a:lnTo>
                  <a:lnTo>
                    <a:pt x="23" y="43"/>
                  </a:lnTo>
                  <a:lnTo>
                    <a:pt x="19" y="30"/>
                  </a:lnTo>
                  <a:lnTo>
                    <a:pt x="19" y="22"/>
                  </a:lnTo>
                  <a:lnTo>
                    <a:pt x="10" y="13"/>
                  </a:lnTo>
                  <a:lnTo>
                    <a:pt x="15" y="22"/>
                  </a:lnTo>
                  <a:lnTo>
                    <a:pt x="9" y="22"/>
                  </a:lnTo>
                  <a:lnTo>
                    <a:pt x="5" y="15"/>
                  </a:lnTo>
                  <a:lnTo>
                    <a:pt x="7" y="15"/>
                  </a:lnTo>
                  <a:lnTo>
                    <a:pt x="0" y="9"/>
                  </a:lnTo>
                  <a:lnTo>
                    <a:pt x="16" y="0"/>
                  </a:lnTo>
                  <a:lnTo>
                    <a:pt x="25" y="4"/>
                  </a:lnTo>
                  <a:lnTo>
                    <a:pt x="30" y="8"/>
                  </a:lnTo>
                  <a:lnTo>
                    <a:pt x="31" y="10"/>
                  </a:lnTo>
                  <a:lnTo>
                    <a:pt x="40"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9" name="Freeform 258"/>
            <p:cNvSpPr>
              <a:spLocks/>
            </p:cNvSpPr>
            <p:nvPr/>
          </p:nvSpPr>
          <p:spPr bwMode="auto">
            <a:xfrm>
              <a:off x="4740" y="2021"/>
              <a:ext cx="40" cy="31"/>
            </a:xfrm>
            <a:custGeom>
              <a:avLst/>
              <a:gdLst/>
              <a:ahLst/>
              <a:cxnLst>
                <a:cxn ang="0">
                  <a:pos x="29" y="18"/>
                </a:cxn>
                <a:cxn ang="0">
                  <a:pos x="17" y="18"/>
                </a:cxn>
                <a:cxn ang="0">
                  <a:pos x="16" y="29"/>
                </a:cxn>
                <a:cxn ang="0">
                  <a:pos x="6" y="22"/>
                </a:cxn>
                <a:cxn ang="0">
                  <a:pos x="3" y="16"/>
                </a:cxn>
                <a:cxn ang="0">
                  <a:pos x="0" y="17"/>
                </a:cxn>
                <a:cxn ang="0">
                  <a:pos x="9" y="6"/>
                </a:cxn>
                <a:cxn ang="0">
                  <a:pos x="17" y="5"/>
                </a:cxn>
                <a:cxn ang="0">
                  <a:pos x="26" y="0"/>
                </a:cxn>
                <a:cxn ang="0">
                  <a:pos x="33" y="5"/>
                </a:cxn>
                <a:cxn ang="0">
                  <a:pos x="36" y="10"/>
                </a:cxn>
                <a:cxn ang="0">
                  <a:pos x="29" y="18"/>
                </a:cxn>
              </a:cxnLst>
              <a:rect l="0" t="0" r="r" b="b"/>
              <a:pathLst>
                <a:path w="36" h="29">
                  <a:moveTo>
                    <a:pt x="29" y="18"/>
                  </a:moveTo>
                  <a:lnTo>
                    <a:pt x="17" y="18"/>
                  </a:lnTo>
                  <a:lnTo>
                    <a:pt x="16" y="29"/>
                  </a:lnTo>
                  <a:lnTo>
                    <a:pt x="6" y="22"/>
                  </a:lnTo>
                  <a:lnTo>
                    <a:pt x="3" y="16"/>
                  </a:lnTo>
                  <a:lnTo>
                    <a:pt x="0" y="17"/>
                  </a:lnTo>
                  <a:lnTo>
                    <a:pt x="9" y="6"/>
                  </a:lnTo>
                  <a:lnTo>
                    <a:pt x="17" y="5"/>
                  </a:lnTo>
                  <a:lnTo>
                    <a:pt x="26" y="0"/>
                  </a:lnTo>
                  <a:lnTo>
                    <a:pt x="33" y="5"/>
                  </a:lnTo>
                  <a:lnTo>
                    <a:pt x="36" y="10"/>
                  </a:lnTo>
                  <a:lnTo>
                    <a:pt x="2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0" name="Freeform 259"/>
            <p:cNvSpPr>
              <a:spLocks/>
            </p:cNvSpPr>
            <p:nvPr/>
          </p:nvSpPr>
          <p:spPr bwMode="auto">
            <a:xfrm>
              <a:off x="4713" y="2170"/>
              <a:ext cx="9" cy="13"/>
            </a:xfrm>
            <a:custGeom>
              <a:avLst/>
              <a:gdLst/>
              <a:ahLst/>
              <a:cxnLst>
                <a:cxn ang="0">
                  <a:pos x="0" y="12"/>
                </a:cxn>
                <a:cxn ang="0">
                  <a:pos x="8" y="1"/>
                </a:cxn>
                <a:cxn ang="0">
                  <a:pos x="6" y="0"/>
                </a:cxn>
                <a:cxn ang="0">
                  <a:pos x="0" y="12"/>
                </a:cxn>
              </a:cxnLst>
              <a:rect l="0" t="0" r="r" b="b"/>
              <a:pathLst>
                <a:path w="8" h="12">
                  <a:moveTo>
                    <a:pt x="0" y="12"/>
                  </a:moveTo>
                  <a:lnTo>
                    <a:pt x="8" y="1"/>
                  </a:lnTo>
                  <a:lnTo>
                    <a:pt x="6" y="0"/>
                  </a:lnTo>
                  <a:lnTo>
                    <a:pt x="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1" name="Freeform 260"/>
            <p:cNvSpPr>
              <a:spLocks/>
            </p:cNvSpPr>
            <p:nvPr/>
          </p:nvSpPr>
          <p:spPr bwMode="auto">
            <a:xfrm>
              <a:off x="4800" y="1941"/>
              <a:ext cx="2" cy="6"/>
            </a:xfrm>
            <a:custGeom>
              <a:avLst/>
              <a:gdLst/>
              <a:ahLst/>
              <a:cxnLst>
                <a:cxn ang="0">
                  <a:pos x="4" y="6"/>
                </a:cxn>
                <a:cxn ang="0">
                  <a:pos x="0" y="0"/>
                </a:cxn>
                <a:cxn ang="0">
                  <a:pos x="0" y="6"/>
                </a:cxn>
                <a:cxn ang="0">
                  <a:pos x="4" y="6"/>
                </a:cxn>
              </a:cxnLst>
              <a:rect l="0" t="0" r="r" b="b"/>
              <a:pathLst>
                <a:path w="4" h="6">
                  <a:moveTo>
                    <a:pt x="4" y="6"/>
                  </a:moveTo>
                  <a:lnTo>
                    <a:pt x="0" y="0"/>
                  </a:lnTo>
                  <a:lnTo>
                    <a:pt x="0" y="6"/>
                  </a:lnTo>
                  <a:lnTo>
                    <a:pt x="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2" name="Freeform 261"/>
            <p:cNvSpPr>
              <a:spLocks/>
            </p:cNvSpPr>
            <p:nvPr/>
          </p:nvSpPr>
          <p:spPr bwMode="auto">
            <a:xfrm>
              <a:off x="4713" y="2056"/>
              <a:ext cx="2" cy="5"/>
            </a:xfrm>
            <a:custGeom>
              <a:avLst/>
              <a:gdLst/>
              <a:ahLst/>
              <a:cxnLst>
                <a:cxn ang="0">
                  <a:pos x="3" y="0"/>
                </a:cxn>
                <a:cxn ang="0">
                  <a:pos x="4" y="2"/>
                </a:cxn>
                <a:cxn ang="0">
                  <a:pos x="0" y="2"/>
                </a:cxn>
                <a:cxn ang="0">
                  <a:pos x="3" y="0"/>
                </a:cxn>
              </a:cxnLst>
              <a:rect l="0" t="0" r="r" b="b"/>
              <a:pathLst>
                <a:path w="4" h="2">
                  <a:moveTo>
                    <a:pt x="3" y="0"/>
                  </a:moveTo>
                  <a:lnTo>
                    <a:pt x="4" y="2"/>
                  </a:lnTo>
                  <a:lnTo>
                    <a:pt x="0" y="2"/>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3" name="Freeform 262"/>
            <p:cNvSpPr>
              <a:spLocks/>
            </p:cNvSpPr>
            <p:nvPr/>
          </p:nvSpPr>
          <p:spPr bwMode="auto">
            <a:xfrm>
              <a:off x="4551" y="1850"/>
              <a:ext cx="78" cy="100"/>
            </a:xfrm>
            <a:custGeom>
              <a:avLst/>
              <a:gdLst/>
              <a:ahLst/>
              <a:cxnLst>
                <a:cxn ang="0">
                  <a:pos x="18" y="61"/>
                </a:cxn>
                <a:cxn ang="0">
                  <a:pos x="8" y="58"/>
                </a:cxn>
                <a:cxn ang="0">
                  <a:pos x="0" y="50"/>
                </a:cxn>
                <a:cxn ang="0">
                  <a:pos x="8" y="40"/>
                </a:cxn>
                <a:cxn ang="0">
                  <a:pos x="17" y="25"/>
                </a:cxn>
                <a:cxn ang="0">
                  <a:pos x="23" y="22"/>
                </a:cxn>
                <a:cxn ang="0">
                  <a:pos x="41" y="27"/>
                </a:cxn>
                <a:cxn ang="0">
                  <a:pos x="35" y="18"/>
                </a:cxn>
                <a:cxn ang="0">
                  <a:pos x="40" y="16"/>
                </a:cxn>
                <a:cxn ang="0">
                  <a:pos x="49" y="9"/>
                </a:cxn>
                <a:cxn ang="0">
                  <a:pos x="49" y="0"/>
                </a:cxn>
                <a:cxn ang="0">
                  <a:pos x="66" y="9"/>
                </a:cxn>
                <a:cxn ang="0">
                  <a:pos x="70" y="12"/>
                </a:cxn>
                <a:cxn ang="0">
                  <a:pos x="61" y="21"/>
                </a:cxn>
                <a:cxn ang="0">
                  <a:pos x="67" y="38"/>
                </a:cxn>
                <a:cxn ang="0">
                  <a:pos x="60" y="49"/>
                </a:cxn>
                <a:cxn ang="0">
                  <a:pos x="52" y="60"/>
                </a:cxn>
                <a:cxn ang="0">
                  <a:pos x="54" y="67"/>
                </a:cxn>
                <a:cxn ang="0">
                  <a:pos x="71" y="76"/>
                </a:cxn>
                <a:cxn ang="0">
                  <a:pos x="65" y="81"/>
                </a:cxn>
                <a:cxn ang="0">
                  <a:pos x="53" y="87"/>
                </a:cxn>
                <a:cxn ang="0">
                  <a:pos x="53" y="91"/>
                </a:cxn>
                <a:cxn ang="0">
                  <a:pos x="38" y="88"/>
                </a:cxn>
                <a:cxn ang="0">
                  <a:pos x="35" y="91"/>
                </a:cxn>
                <a:cxn ang="0">
                  <a:pos x="28" y="87"/>
                </a:cxn>
                <a:cxn ang="0">
                  <a:pos x="23" y="85"/>
                </a:cxn>
                <a:cxn ang="0">
                  <a:pos x="26" y="75"/>
                </a:cxn>
                <a:cxn ang="0">
                  <a:pos x="28" y="75"/>
                </a:cxn>
                <a:cxn ang="0">
                  <a:pos x="22" y="70"/>
                </a:cxn>
                <a:cxn ang="0">
                  <a:pos x="18" y="61"/>
                </a:cxn>
              </a:cxnLst>
              <a:rect l="0" t="0" r="r" b="b"/>
              <a:pathLst>
                <a:path w="71" h="91">
                  <a:moveTo>
                    <a:pt x="18" y="61"/>
                  </a:moveTo>
                  <a:lnTo>
                    <a:pt x="8" y="58"/>
                  </a:lnTo>
                  <a:lnTo>
                    <a:pt x="0" y="50"/>
                  </a:lnTo>
                  <a:lnTo>
                    <a:pt x="8" y="40"/>
                  </a:lnTo>
                  <a:lnTo>
                    <a:pt x="17" y="25"/>
                  </a:lnTo>
                  <a:lnTo>
                    <a:pt x="23" y="22"/>
                  </a:lnTo>
                  <a:lnTo>
                    <a:pt x="41" y="27"/>
                  </a:lnTo>
                  <a:lnTo>
                    <a:pt x="35" y="18"/>
                  </a:lnTo>
                  <a:lnTo>
                    <a:pt x="40" y="16"/>
                  </a:lnTo>
                  <a:lnTo>
                    <a:pt x="49" y="9"/>
                  </a:lnTo>
                  <a:lnTo>
                    <a:pt x="49" y="0"/>
                  </a:lnTo>
                  <a:lnTo>
                    <a:pt x="66" y="9"/>
                  </a:lnTo>
                  <a:lnTo>
                    <a:pt x="70" y="12"/>
                  </a:lnTo>
                  <a:lnTo>
                    <a:pt x="61" y="21"/>
                  </a:lnTo>
                  <a:lnTo>
                    <a:pt x="67" y="38"/>
                  </a:lnTo>
                  <a:lnTo>
                    <a:pt x="60" y="49"/>
                  </a:lnTo>
                  <a:lnTo>
                    <a:pt x="52" y="60"/>
                  </a:lnTo>
                  <a:lnTo>
                    <a:pt x="54" y="67"/>
                  </a:lnTo>
                  <a:lnTo>
                    <a:pt x="71" y="76"/>
                  </a:lnTo>
                  <a:lnTo>
                    <a:pt x="65" y="81"/>
                  </a:lnTo>
                  <a:lnTo>
                    <a:pt x="53" y="87"/>
                  </a:lnTo>
                  <a:lnTo>
                    <a:pt x="53" y="91"/>
                  </a:lnTo>
                  <a:lnTo>
                    <a:pt x="38" y="88"/>
                  </a:lnTo>
                  <a:lnTo>
                    <a:pt x="35" y="91"/>
                  </a:lnTo>
                  <a:lnTo>
                    <a:pt x="28" y="87"/>
                  </a:lnTo>
                  <a:lnTo>
                    <a:pt x="23" y="85"/>
                  </a:lnTo>
                  <a:lnTo>
                    <a:pt x="26" y="75"/>
                  </a:lnTo>
                  <a:lnTo>
                    <a:pt x="28" y="75"/>
                  </a:lnTo>
                  <a:lnTo>
                    <a:pt x="22" y="70"/>
                  </a:lnTo>
                  <a:lnTo>
                    <a:pt x="18" y="6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4" name="Freeform 263"/>
            <p:cNvSpPr>
              <a:spLocks/>
            </p:cNvSpPr>
            <p:nvPr/>
          </p:nvSpPr>
          <p:spPr bwMode="auto">
            <a:xfrm>
              <a:off x="4609" y="1934"/>
              <a:ext cx="66" cy="85"/>
            </a:xfrm>
            <a:custGeom>
              <a:avLst/>
              <a:gdLst/>
              <a:ahLst/>
              <a:cxnLst>
                <a:cxn ang="0">
                  <a:pos x="35" y="74"/>
                </a:cxn>
                <a:cxn ang="0">
                  <a:pos x="33" y="71"/>
                </a:cxn>
                <a:cxn ang="0">
                  <a:pos x="29" y="74"/>
                </a:cxn>
                <a:cxn ang="0">
                  <a:pos x="25" y="76"/>
                </a:cxn>
                <a:cxn ang="0">
                  <a:pos x="23" y="72"/>
                </a:cxn>
                <a:cxn ang="0">
                  <a:pos x="23" y="70"/>
                </a:cxn>
                <a:cxn ang="0">
                  <a:pos x="23" y="69"/>
                </a:cxn>
                <a:cxn ang="0">
                  <a:pos x="19" y="65"/>
                </a:cxn>
                <a:cxn ang="0">
                  <a:pos x="17" y="54"/>
                </a:cxn>
                <a:cxn ang="0">
                  <a:pos x="15" y="50"/>
                </a:cxn>
                <a:cxn ang="0">
                  <a:pos x="15" y="47"/>
                </a:cxn>
                <a:cxn ang="0">
                  <a:pos x="6" y="36"/>
                </a:cxn>
                <a:cxn ang="0">
                  <a:pos x="2" y="33"/>
                </a:cxn>
                <a:cxn ang="0">
                  <a:pos x="5" y="32"/>
                </a:cxn>
                <a:cxn ang="0">
                  <a:pos x="12" y="34"/>
                </a:cxn>
                <a:cxn ang="0">
                  <a:pos x="11" y="32"/>
                </a:cxn>
                <a:cxn ang="0">
                  <a:pos x="1" y="17"/>
                </a:cxn>
                <a:cxn ang="0">
                  <a:pos x="0" y="15"/>
                </a:cxn>
                <a:cxn ang="0">
                  <a:pos x="0" y="11"/>
                </a:cxn>
                <a:cxn ang="0">
                  <a:pos x="12" y="5"/>
                </a:cxn>
                <a:cxn ang="0">
                  <a:pos x="18" y="0"/>
                </a:cxn>
                <a:cxn ang="0">
                  <a:pos x="35" y="18"/>
                </a:cxn>
                <a:cxn ang="0">
                  <a:pos x="51" y="35"/>
                </a:cxn>
                <a:cxn ang="0">
                  <a:pos x="60" y="60"/>
                </a:cxn>
                <a:cxn ang="0">
                  <a:pos x="54" y="64"/>
                </a:cxn>
                <a:cxn ang="0">
                  <a:pos x="47" y="68"/>
                </a:cxn>
                <a:cxn ang="0">
                  <a:pos x="43" y="66"/>
                </a:cxn>
                <a:cxn ang="0">
                  <a:pos x="41" y="69"/>
                </a:cxn>
                <a:cxn ang="0">
                  <a:pos x="39" y="70"/>
                </a:cxn>
                <a:cxn ang="0">
                  <a:pos x="37" y="71"/>
                </a:cxn>
                <a:cxn ang="0">
                  <a:pos x="35" y="74"/>
                </a:cxn>
              </a:cxnLst>
              <a:rect l="0" t="0" r="r" b="b"/>
              <a:pathLst>
                <a:path w="60" h="76">
                  <a:moveTo>
                    <a:pt x="35" y="74"/>
                  </a:moveTo>
                  <a:lnTo>
                    <a:pt x="33" y="71"/>
                  </a:lnTo>
                  <a:lnTo>
                    <a:pt x="29" y="74"/>
                  </a:lnTo>
                  <a:lnTo>
                    <a:pt x="25" y="76"/>
                  </a:lnTo>
                  <a:lnTo>
                    <a:pt x="23" y="72"/>
                  </a:lnTo>
                  <a:lnTo>
                    <a:pt x="23" y="70"/>
                  </a:lnTo>
                  <a:lnTo>
                    <a:pt x="23" y="69"/>
                  </a:lnTo>
                  <a:lnTo>
                    <a:pt x="19" y="65"/>
                  </a:lnTo>
                  <a:lnTo>
                    <a:pt x="17" y="54"/>
                  </a:lnTo>
                  <a:lnTo>
                    <a:pt x="15" y="50"/>
                  </a:lnTo>
                  <a:lnTo>
                    <a:pt x="15" y="47"/>
                  </a:lnTo>
                  <a:lnTo>
                    <a:pt x="6" y="36"/>
                  </a:lnTo>
                  <a:lnTo>
                    <a:pt x="2" y="33"/>
                  </a:lnTo>
                  <a:lnTo>
                    <a:pt x="5" y="32"/>
                  </a:lnTo>
                  <a:lnTo>
                    <a:pt x="12" y="34"/>
                  </a:lnTo>
                  <a:lnTo>
                    <a:pt x="11" y="32"/>
                  </a:lnTo>
                  <a:lnTo>
                    <a:pt x="1" y="17"/>
                  </a:lnTo>
                  <a:lnTo>
                    <a:pt x="0" y="15"/>
                  </a:lnTo>
                  <a:lnTo>
                    <a:pt x="0" y="11"/>
                  </a:lnTo>
                  <a:lnTo>
                    <a:pt x="12" y="5"/>
                  </a:lnTo>
                  <a:lnTo>
                    <a:pt x="18" y="0"/>
                  </a:lnTo>
                  <a:lnTo>
                    <a:pt x="35" y="18"/>
                  </a:lnTo>
                  <a:lnTo>
                    <a:pt x="51" y="35"/>
                  </a:lnTo>
                  <a:lnTo>
                    <a:pt x="60" y="60"/>
                  </a:lnTo>
                  <a:lnTo>
                    <a:pt x="54" y="64"/>
                  </a:lnTo>
                  <a:lnTo>
                    <a:pt x="47" y="68"/>
                  </a:lnTo>
                  <a:lnTo>
                    <a:pt x="43" y="66"/>
                  </a:lnTo>
                  <a:lnTo>
                    <a:pt x="41" y="69"/>
                  </a:lnTo>
                  <a:lnTo>
                    <a:pt x="39" y="70"/>
                  </a:lnTo>
                  <a:lnTo>
                    <a:pt x="37" y="71"/>
                  </a:lnTo>
                  <a:lnTo>
                    <a:pt x="35" y="7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5" name="Freeform 264"/>
            <p:cNvSpPr>
              <a:spLocks/>
            </p:cNvSpPr>
            <p:nvPr/>
          </p:nvSpPr>
          <p:spPr bwMode="auto">
            <a:xfrm>
              <a:off x="4600" y="2203"/>
              <a:ext cx="24" cy="64"/>
            </a:xfrm>
            <a:custGeom>
              <a:avLst/>
              <a:gdLst/>
              <a:ahLst/>
              <a:cxnLst>
                <a:cxn ang="0">
                  <a:pos x="16" y="57"/>
                </a:cxn>
                <a:cxn ang="0">
                  <a:pos x="3" y="43"/>
                </a:cxn>
                <a:cxn ang="0">
                  <a:pos x="0" y="22"/>
                </a:cxn>
                <a:cxn ang="0">
                  <a:pos x="6" y="12"/>
                </a:cxn>
                <a:cxn ang="0">
                  <a:pos x="12" y="0"/>
                </a:cxn>
                <a:cxn ang="0">
                  <a:pos x="23" y="3"/>
                </a:cxn>
                <a:cxn ang="0">
                  <a:pos x="21" y="16"/>
                </a:cxn>
                <a:cxn ang="0">
                  <a:pos x="19" y="30"/>
                </a:cxn>
                <a:cxn ang="0">
                  <a:pos x="17" y="44"/>
                </a:cxn>
                <a:cxn ang="0">
                  <a:pos x="16" y="57"/>
                </a:cxn>
              </a:cxnLst>
              <a:rect l="0" t="0" r="r" b="b"/>
              <a:pathLst>
                <a:path w="23" h="57">
                  <a:moveTo>
                    <a:pt x="16" y="57"/>
                  </a:moveTo>
                  <a:lnTo>
                    <a:pt x="3" y="43"/>
                  </a:lnTo>
                  <a:lnTo>
                    <a:pt x="0" y="22"/>
                  </a:lnTo>
                  <a:lnTo>
                    <a:pt x="6" y="12"/>
                  </a:lnTo>
                  <a:lnTo>
                    <a:pt x="12" y="0"/>
                  </a:lnTo>
                  <a:lnTo>
                    <a:pt x="23" y="3"/>
                  </a:lnTo>
                  <a:lnTo>
                    <a:pt x="21" y="16"/>
                  </a:lnTo>
                  <a:lnTo>
                    <a:pt x="19" y="30"/>
                  </a:lnTo>
                  <a:lnTo>
                    <a:pt x="17" y="44"/>
                  </a:lnTo>
                  <a:lnTo>
                    <a:pt x="16" y="5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6" name="Freeform 265"/>
            <p:cNvSpPr>
              <a:spLocks/>
            </p:cNvSpPr>
            <p:nvPr/>
          </p:nvSpPr>
          <p:spPr bwMode="auto">
            <a:xfrm>
              <a:off x="3882" y="1672"/>
              <a:ext cx="520" cy="204"/>
            </a:xfrm>
            <a:custGeom>
              <a:avLst/>
              <a:gdLst/>
              <a:ahLst/>
              <a:cxnLst>
                <a:cxn ang="0">
                  <a:pos x="276" y="176"/>
                </a:cxn>
                <a:cxn ang="0">
                  <a:pos x="252" y="168"/>
                </a:cxn>
                <a:cxn ang="0">
                  <a:pos x="211" y="166"/>
                </a:cxn>
                <a:cxn ang="0">
                  <a:pos x="171" y="163"/>
                </a:cxn>
                <a:cxn ang="0">
                  <a:pos x="145" y="136"/>
                </a:cxn>
                <a:cxn ang="0">
                  <a:pos x="104" y="124"/>
                </a:cxn>
                <a:cxn ang="0">
                  <a:pos x="71" y="118"/>
                </a:cxn>
                <a:cxn ang="0">
                  <a:pos x="60" y="89"/>
                </a:cxn>
                <a:cxn ang="0">
                  <a:pos x="27" y="72"/>
                </a:cxn>
                <a:cxn ang="0">
                  <a:pos x="1" y="53"/>
                </a:cxn>
                <a:cxn ang="0">
                  <a:pos x="7" y="44"/>
                </a:cxn>
                <a:cxn ang="0">
                  <a:pos x="33" y="31"/>
                </a:cxn>
                <a:cxn ang="0">
                  <a:pos x="75" y="25"/>
                </a:cxn>
                <a:cxn ang="0">
                  <a:pos x="102" y="35"/>
                </a:cxn>
                <a:cxn ang="0">
                  <a:pos x="133" y="30"/>
                </a:cxn>
                <a:cxn ang="0">
                  <a:pos x="123" y="0"/>
                </a:cxn>
                <a:cxn ang="0">
                  <a:pos x="171" y="11"/>
                </a:cxn>
                <a:cxn ang="0">
                  <a:pos x="204" y="32"/>
                </a:cxn>
                <a:cxn ang="0">
                  <a:pos x="247" y="31"/>
                </a:cxn>
                <a:cxn ang="0">
                  <a:pos x="275" y="42"/>
                </a:cxn>
                <a:cxn ang="0">
                  <a:pos x="320" y="47"/>
                </a:cxn>
                <a:cxn ang="0">
                  <a:pos x="353" y="31"/>
                </a:cxn>
                <a:cxn ang="0">
                  <a:pos x="392" y="38"/>
                </a:cxn>
                <a:cxn ang="0">
                  <a:pos x="396" y="66"/>
                </a:cxn>
                <a:cxn ang="0">
                  <a:pos x="404" y="74"/>
                </a:cxn>
                <a:cxn ang="0">
                  <a:pos x="425" y="77"/>
                </a:cxn>
                <a:cxn ang="0">
                  <a:pos x="463" y="86"/>
                </a:cxn>
                <a:cxn ang="0">
                  <a:pos x="443" y="95"/>
                </a:cxn>
                <a:cxn ang="0">
                  <a:pos x="423" y="115"/>
                </a:cxn>
                <a:cxn ang="0">
                  <a:pos x="396" y="127"/>
                </a:cxn>
                <a:cxn ang="0">
                  <a:pos x="377" y="138"/>
                </a:cxn>
                <a:cxn ang="0">
                  <a:pos x="373" y="157"/>
                </a:cxn>
                <a:cxn ang="0">
                  <a:pos x="343" y="170"/>
                </a:cxn>
                <a:cxn ang="0">
                  <a:pos x="315" y="178"/>
                </a:cxn>
                <a:cxn ang="0">
                  <a:pos x="294" y="180"/>
                </a:cxn>
              </a:cxnLst>
              <a:rect l="0" t="0" r="r" b="b"/>
              <a:pathLst>
                <a:path w="467" h="185">
                  <a:moveTo>
                    <a:pt x="294" y="180"/>
                  </a:moveTo>
                  <a:lnTo>
                    <a:pt x="276" y="176"/>
                  </a:lnTo>
                  <a:lnTo>
                    <a:pt x="258" y="173"/>
                  </a:lnTo>
                  <a:lnTo>
                    <a:pt x="252" y="168"/>
                  </a:lnTo>
                  <a:lnTo>
                    <a:pt x="231" y="167"/>
                  </a:lnTo>
                  <a:lnTo>
                    <a:pt x="211" y="166"/>
                  </a:lnTo>
                  <a:lnTo>
                    <a:pt x="192" y="164"/>
                  </a:lnTo>
                  <a:lnTo>
                    <a:pt x="171" y="163"/>
                  </a:lnTo>
                  <a:lnTo>
                    <a:pt x="158" y="150"/>
                  </a:lnTo>
                  <a:lnTo>
                    <a:pt x="145" y="136"/>
                  </a:lnTo>
                  <a:lnTo>
                    <a:pt x="125" y="130"/>
                  </a:lnTo>
                  <a:lnTo>
                    <a:pt x="104" y="124"/>
                  </a:lnTo>
                  <a:lnTo>
                    <a:pt x="87" y="120"/>
                  </a:lnTo>
                  <a:lnTo>
                    <a:pt x="71" y="118"/>
                  </a:lnTo>
                  <a:lnTo>
                    <a:pt x="65" y="103"/>
                  </a:lnTo>
                  <a:lnTo>
                    <a:pt x="60" y="89"/>
                  </a:lnTo>
                  <a:lnTo>
                    <a:pt x="38" y="74"/>
                  </a:lnTo>
                  <a:lnTo>
                    <a:pt x="27" y="72"/>
                  </a:lnTo>
                  <a:lnTo>
                    <a:pt x="7" y="59"/>
                  </a:lnTo>
                  <a:lnTo>
                    <a:pt x="1" y="53"/>
                  </a:lnTo>
                  <a:lnTo>
                    <a:pt x="0" y="50"/>
                  </a:lnTo>
                  <a:lnTo>
                    <a:pt x="7" y="44"/>
                  </a:lnTo>
                  <a:lnTo>
                    <a:pt x="19" y="38"/>
                  </a:lnTo>
                  <a:lnTo>
                    <a:pt x="33" y="31"/>
                  </a:lnTo>
                  <a:lnTo>
                    <a:pt x="47" y="23"/>
                  </a:lnTo>
                  <a:lnTo>
                    <a:pt x="75" y="25"/>
                  </a:lnTo>
                  <a:lnTo>
                    <a:pt x="80" y="31"/>
                  </a:lnTo>
                  <a:lnTo>
                    <a:pt x="102" y="35"/>
                  </a:lnTo>
                  <a:lnTo>
                    <a:pt x="122" y="38"/>
                  </a:lnTo>
                  <a:lnTo>
                    <a:pt x="133" y="30"/>
                  </a:lnTo>
                  <a:lnTo>
                    <a:pt x="120" y="18"/>
                  </a:lnTo>
                  <a:lnTo>
                    <a:pt x="123" y="0"/>
                  </a:lnTo>
                  <a:lnTo>
                    <a:pt x="147" y="6"/>
                  </a:lnTo>
                  <a:lnTo>
                    <a:pt x="171" y="11"/>
                  </a:lnTo>
                  <a:lnTo>
                    <a:pt x="182" y="22"/>
                  </a:lnTo>
                  <a:lnTo>
                    <a:pt x="204" y="32"/>
                  </a:lnTo>
                  <a:lnTo>
                    <a:pt x="228" y="28"/>
                  </a:lnTo>
                  <a:lnTo>
                    <a:pt x="247" y="31"/>
                  </a:lnTo>
                  <a:lnTo>
                    <a:pt x="267" y="36"/>
                  </a:lnTo>
                  <a:lnTo>
                    <a:pt x="275" y="42"/>
                  </a:lnTo>
                  <a:lnTo>
                    <a:pt x="303" y="49"/>
                  </a:lnTo>
                  <a:lnTo>
                    <a:pt x="320" y="47"/>
                  </a:lnTo>
                  <a:lnTo>
                    <a:pt x="337" y="43"/>
                  </a:lnTo>
                  <a:lnTo>
                    <a:pt x="353" y="31"/>
                  </a:lnTo>
                  <a:lnTo>
                    <a:pt x="379" y="37"/>
                  </a:lnTo>
                  <a:lnTo>
                    <a:pt x="392" y="38"/>
                  </a:lnTo>
                  <a:lnTo>
                    <a:pt x="395" y="52"/>
                  </a:lnTo>
                  <a:lnTo>
                    <a:pt x="396" y="66"/>
                  </a:lnTo>
                  <a:lnTo>
                    <a:pt x="392" y="67"/>
                  </a:lnTo>
                  <a:lnTo>
                    <a:pt x="404" y="74"/>
                  </a:lnTo>
                  <a:lnTo>
                    <a:pt x="420" y="74"/>
                  </a:lnTo>
                  <a:lnTo>
                    <a:pt x="425" y="77"/>
                  </a:lnTo>
                  <a:lnTo>
                    <a:pt x="432" y="70"/>
                  </a:lnTo>
                  <a:lnTo>
                    <a:pt x="463" y="86"/>
                  </a:lnTo>
                  <a:lnTo>
                    <a:pt x="467" y="95"/>
                  </a:lnTo>
                  <a:lnTo>
                    <a:pt x="443" y="95"/>
                  </a:lnTo>
                  <a:lnTo>
                    <a:pt x="426" y="103"/>
                  </a:lnTo>
                  <a:lnTo>
                    <a:pt x="423" y="115"/>
                  </a:lnTo>
                  <a:lnTo>
                    <a:pt x="409" y="119"/>
                  </a:lnTo>
                  <a:lnTo>
                    <a:pt x="396" y="127"/>
                  </a:lnTo>
                  <a:lnTo>
                    <a:pt x="374" y="121"/>
                  </a:lnTo>
                  <a:lnTo>
                    <a:pt x="377" y="138"/>
                  </a:lnTo>
                  <a:lnTo>
                    <a:pt x="386" y="146"/>
                  </a:lnTo>
                  <a:lnTo>
                    <a:pt x="373" y="157"/>
                  </a:lnTo>
                  <a:lnTo>
                    <a:pt x="360" y="169"/>
                  </a:lnTo>
                  <a:lnTo>
                    <a:pt x="343" y="170"/>
                  </a:lnTo>
                  <a:lnTo>
                    <a:pt x="325" y="172"/>
                  </a:lnTo>
                  <a:lnTo>
                    <a:pt x="315" y="178"/>
                  </a:lnTo>
                  <a:lnTo>
                    <a:pt x="305" y="185"/>
                  </a:lnTo>
                  <a:lnTo>
                    <a:pt x="294" y="18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7" name="Freeform 266"/>
            <p:cNvSpPr>
              <a:spLocks/>
            </p:cNvSpPr>
            <p:nvPr/>
          </p:nvSpPr>
          <p:spPr bwMode="auto">
            <a:xfrm>
              <a:off x="3253" y="1608"/>
              <a:ext cx="618" cy="273"/>
            </a:xfrm>
            <a:custGeom>
              <a:avLst/>
              <a:gdLst/>
              <a:ahLst/>
              <a:cxnLst>
                <a:cxn ang="0">
                  <a:pos x="65" y="146"/>
                </a:cxn>
                <a:cxn ang="0">
                  <a:pos x="45" y="155"/>
                </a:cxn>
                <a:cxn ang="0">
                  <a:pos x="17" y="125"/>
                </a:cxn>
                <a:cxn ang="0">
                  <a:pos x="3" y="93"/>
                </a:cxn>
                <a:cxn ang="0">
                  <a:pos x="22" y="81"/>
                </a:cxn>
                <a:cxn ang="0">
                  <a:pos x="35" y="65"/>
                </a:cxn>
                <a:cxn ang="0">
                  <a:pos x="65" y="57"/>
                </a:cxn>
                <a:cxn ang="0">
                  <a:pos x="103" y="74"/>
                </a:cxn>
                <a:cxn ang="0">
                  <a:pos x="151" y="72"/>
                </a:cxn>
                <a:cxn ang="0">
                  <a:pos x="180" y="71"/>
                </a:cxn>
                <a:cxn ang="0">
                  <a:pos x="172" y="34"/>
                </a:cxn>
                <a:cxn ang="0">
                  <a:pos x="168" y="27"/>
                </a:cxn>
                <a:cxn ang="0">
                  <a:pos x="204" y="21"/>
                </a:cxn>
                <a:cxn ang="0">
                  <a:pos x="238" y="11"/>
                </a:cxn>
                <a:cxn ang="0">
                  <a:pos x="270" y="2"/>
                </a:cxn>
                <a:cxn ang="0">
                  <a:pos x="293" y="11"/>
                </a:cxn>
                <a:cxn ang="0">
                  <a:pos x="330" y="26"/>
                </a:cxn>
                <a:cxn ang="0">
                  <a:pos x="359" y="21"/>
                </a:cxn>
                <a:cxn ang="0">
                  <a:pos x="379" y="17"/>
                </a:cxn>
                <a:cxn ang="0">
                  <a:pos x="396" y="39"/>
                </a:cxn>
                <a:cxn ang="0">
                  <a:pos x="433" y="64"/>
                </a:cxn>
                <a:cxn ang="0">
                  <a:pos x="456" y="72"/>
                </a:cxn>
                <a:cxn ang="0">
                  <a:pos x="484" y="74"/>
                </a:cxn>
                <a:cxn ang="0">
                  <a:pos x="522" y="96"/>
                </a:cxn>
                <a:cxn ang="0">
                  <a:pos x="557" y="110"/>
                </a:cxn>
                <a:cxn ang="0">
                  <a:pos x="544" y="126"/>
                </a:cxn>
                <a:cxn ang="0">
                  <a:pos x="538" y="147"/>
                </a:cxn>
                <a:cxn ang="0">
                  <a:pos x="517" y="158"/>
                </a:cxn>
                <a:cxn ang="0">
                  <a:pos x="525" y="179"/>
                </a:cxn>
                <a:cxn ang="0">
                  <a:pos x="487" y="184"/>
                </a:cxn>
                <a:cxn ang="0">
                  <a:pos x="503" y="201"/>
                </a:cxn>
                <a:cxn ang="0">
                  <a:pos x="510" y="218"/>
                </a:cxn>
                <a:cxn ang="0">
                  <a:pos x="489" y="210"/>
                </a:cxn>
                <a:cxn ang="0">
                  <a:pos x="450" y="214"/>
                </a:cxn>
                <a:cxn ang="0">
                  <a:pos x="417" y="213"/>
                </a:cxn>
                <a:cxn ang="0">
                  <a:pos x="394" y="221"/>
                </a:cxn>
                <a:cxn ang="0">
                  <a:pos x="369" y="226"/>
                </a:cxn>
                <a:cxn ang="0">
                  <a:pos x="341" y="246"/>
                </a:cxn>
                <a:cxn ang="0">
                  <a:pos x="313" y="232"/>
                </a:cxn>
                <a:cxn ang="0">
                  <a:pos x="297" y="207"/>
                </a:cxn>
                <a:cxn ang="0">
                  <a:pos x="265" y="204"/>
                </a:cxn>
                <a:cxn ang="0">
                  <a:pos x="235" y="202"/>
                </a:cxn>
                <a:cxn ang="0">
                  <a:pos x="202" y="176"/>
                </a:cxn>
                <a:cxn ang="0">
                  <a:pos x="166" y="172"/>
                </a:cxn>
                <a:cxn ang="0">
                  <a:pos x="151" y="195"/>
                </a:cxn>
                <a:cxn ang="0">
                  <a:pos x="160" y="226"/>
                </a:cxn>
                <a:cxn ang="0">
                  <a:pos x="147" y="237"/>
                </a:cxn>
                <a:cxn ang="0">
                  <a:pos x="131" y="220"/>
                </a:cxn>
                <a:cxn ang="0">
                  <a:pos x="94" y="215"/>
                </a:cxn>
                <a:cxn ang="0">
                  <a:pos x="75" y="194"/>
                </a:cxn>
                <a:cxn ang="0">
                  <a:pos x="84" y="188"/>
                </a:cxn>
                <a:cxn ang="0">
                  <a:pos x="85" y="174"/>
                </a:cxn>
                <a:cxn ang="0">
                  <a:pos x="100" y="167"/>
                </a:cxn>
                <a:cxn ang="0">
                  <a:pos x="77" y="147"/>
                </a:cxn>
              </a:cxnLst>
              <a:rect l="0" t="0" r="r" b="b"/>
              <a:pathLst>
                <a:path w="557" h="246">
                  <a:moveTo>
                    <a:pt x="77" y="147"/>
                  </a:moveTo>
                  <a:lnTo>
                    <a:pt x="65" y="146"/>
                  </a:lnTo>
                  <a:lnTo>
                    <a:pt x="47" y="154"/>
                  </a:lnTo>
                  <a:lnTo>
                    <a:pt x="45" y="155"/>
                  </a:lnTo>
                  <a:lnTo>
                    <a:pt x="34" y="138"/>
                  </a:lnTo>
                  <a:lnTo>
                    <a:pt x="17" y="125"/>
                  </a:lnTo>
                  <a:lnTo>
                    <a:pt x="0" y="112"/>
                  </a:lnTo>
                  <a:lnTo>
                    <a:pt x="3" y="93"/>
                  </a:lnTo>
                  <a:lnTo>
                    <a:pt x="5" y="74"/>
                  </a:lnTo>
                  <a:lnTo>
                    <a:pt x="22" y="81"/>
                  </a:lnTo>
                  <a:lnTo>
                    <a:pt x="24" y="74"/>
                  </a:lnTo>
                  <a:lnTo>
                    <a:pt x="35" y="65"/>
                  </a:lnTo>
                  <a:lnTo>
                    <a:pt x="46" y="58"/>
                  </a:lnTo>
                  <a:lnTo>
                    <a:pt x="65" y="57"/>
                  </a:lnTo>
                  <a:lnTo>
                    <a:pt x="84" y="65"/>
                  </a:lnTo>
                  <a:lnTo>
                    <a:pt x="103" y="74"/>
                  </a:lnTo>
                  <a:lnTo>
                    <a:pt x="124" y="72"/>
                  </a:lnTo>
                  <a:lnTo>
                    <a:pt x="151" y="72"/>
                  </a:lnTo>
                  <a:lnTo>
                    <a:pt x="178" y="76"/>
                  </a:lnTo>
                  <a:lnTo>
                    <a:pt x="180" y="71"/>
                  </a:lnTo>
                  <a:lnTo>
                    <a:pt x="166" y="54"/>
                  </a:lnTo>
                  <a:lnTo>
                    <a:pt x="172" y="34"/>
                  </a:lnTo>
                  <a:lnTo>
                    <a:pt x="185" y="35"/>
                  </a:lnTo>
                  <a:lnTo>
                    <a:pt x="168" y="27"/>
                  </a:lnTo>
                  <a:lnTo>
                    <a:pt x="186" y="23"/>
                  </a:lnTo>
                  <a:lnTo>
                    <a:pt x="204" y="21"/>
                  </a:lnTo>
                  <a:lnTo>
                    <a:pt x="221" y="16"/>
                  </a:lnTo>
                  <a:lnTo>
                    <a:pt x="238" y="11"/>
                  </a:lnTo>
                  <a:lnTo>
                    <a:pt x="253" y="6"/>
                  </a:lnTo>
                  <a:lnTo>
                    <a:pt x="270" y="2"/>
                  </a:lnTo>
                  <a:lnTo>
                    <a:pt x="283" y="0"/>
                  </a:lnTo>
                  <a:lnTo>
                    <a:pt x="293" y="11"/>
                  </a:lnTo>
                  <a:lnTo>
                    <a:pt x="319" y="21"/>
                  </a:lnTo>
                  <a:lnTo>
                    <a:pt x="330" y="26"/>
                  </a:lnTo>
                  <a:lnTo>
                    <a:pt x="341" y="28"/>
                  </a:lnTo>
                  <a:lnTo>
                    <a:pt x="359" y="21"/>
                  </a:lnTo>
                  <a:lnTo>
                    <a:pt x="376" y="15"/>
                  </a:lnTo>
                  <a:lnTo>
                    <a:pt x="379" y="17"/>
                  </a:lnTo>
                  <a:lnTo>
                    <a:pt x="377" y="26"/>
                  </a:lnTo>
                  <a:lnTo>
                    <a:pt x="396" y="39"/>
                  </a:lnTo>
                  <a:lnTo>
                    <a:pt x="414" y="51"/>
                  </a:lnTo>
                  <a:lnTo>
                    <a:pt x="433" y="64"/>
                  </a:lnTo>
                  <a:lnTo>
                    <a:pt x="453" y="77"/>
                  </a:lnTo>
                  <a:lnTo>
                    <a:pt x="456" y="72"/>
                  </a:lnTo>
                  <a:lnTo>
                    <a:pt x="466" y="76"/>
                  </a:lnTo>
                  <a:lnTo>
                    <a:pt x="484" y="74"/>
                  </a:lnTo>
                  <a:lnTo>
                    <a:pt x="503" y="86"/>
                  </a:lnTo>
                  <a:lnTo>
                    <a:pt x="522" y="96"/>
                  </a:lnTo>
                  <a:lnTo>
                    <a:pt x="540" y="93"/>
                  </a:lnTo>
                  <a:lnTo>
                    <a:pt x="557" y="110"/>
                  </a:lnTo>
                  <a:lnTo>
                    <a:pt x="551" y="122"/>
                  </a:lnTo>
                  <a:lnTo>
                    <a:pt x="544" y="126"/>
                  </a:lnTo>
                  <a:lnTo>
                    <a:pt x="551" y="144"/>
                  </a:lnTo>
                  <a:lnTo>
                    <a:pt x="538" y="147"/>
                  </a:lnTo>
                  <a:lnTo>
                    <a:pt x="515" y="142"/>
                  </a:lnTo>
                  <a:lnTo>
                    <a:pt x="517" y="158"/>
                  </a:lnTo>
                  <a:lnTo>
                    <a:pt x="519" y="172"/>
                  </a:lnTo>
                  <a:lnTo>
                    <a:pt x="525" y="179"/>
                  </a:lnTo>
                  <a:lnTo>
                    <a:pt x="504" y="177"/>
                  </a:lnTo>
                  <a:lnTo>
                    <a:pt x="487" y="184"/>
                  </a:lnTo>
                  <a:lnTo>
                    <a:pt x="497" y="188"/>
                  </a:lnTo>
                  <a:lnTo>
                    <a:pt x="503" y="201"/>
                  </a:lnTo>
                  <a:lnTo>
                    <a:pt x="510" y="214"/>
                  </a:lnTo>
                  <a:lnTo>
                    <a:pt x="510" y="218"/>
                  </a:lnTo>
                  <a:lnTo>
                    <a:pt x="507" y="221"/>
                  </a:lnTo>
                  <a:lnTo>
                    <a:pt x="489" y="210"/>
                  </a:lnTo>
                  <a:lnTo>
                    <a:pt x="469" y="212"/>
                  </a:lnTo>
                  <a:lnTo>
                    <a:pt x="450" y="214"/>
                  </a:lnTo>
                  <a:lnTo>
                    <a:pt x="430" y="214"/>
                  </a:lnTo>
                  <a:lnTo>
                    <a:pt x="417" y="213"/>
                  </a:lnTo>
                  <a:lnTo>
                    <a:pt x="408" y="222"/>
                  </a:lnTo>
                  <a:lnTo>
                    <a:pt x="394" y="221"/>
                  </a:lnTo>
                  <a:lnTo>
                    <a:pt x="378" y="219"/>
                  </a:lnTo>
                  <a:lnTo>
                    <a:pt x="369" y="226"/>
                  </a:lnTo>
                  <a:lnTo>
                    <a:pt x="355" y="237"/>
                  </a:lnTo>
                  <a:lnTo>
                    <a:pt x="341" y="246"/>
                  </a:lnTo>
                  <a:lnTo>
                    <a:pt x="328" y="239"/>
                  </a:lnTo>
                  <a:lnTo>
                    <a:pt x="313" y="232"/>
                  </a:lnTo>
                  <a:lnTo>
                    <a:pt x="312" y="218"/>
                  </a:lnTo>
                  <a:lnTo>
                    <a:pt x="297" y="207"/>
                  </a:lnTo>
                  <a:lnTo>
                    <a:pt x="281" y="206"/>
                  </a:lnTo>
                  <a:lnTo>
                    <a:pt x="265" y="204"/>
                  </a:lnTo>
                  <a:lnTo>
                    <a:pt x="251" y="203"/>
                  </a:lnTo>
                  <a:lnTo>
                    <a:pt x="235" y="202"/>
                  </a:lnTo>
                  <a:lnTo>
                    <a:pt x="221" y="185"/>
                  </a:lnTo>
                  <a:lnTo>
                    <a:pt x="202" y="176"/>
                  </a:lnTo>
                  <a:lnTo>
                    <a:pt x="183" y="165"/>
                  </a:lnTo>
                  <a:lnTo>
                    <a:pt x="166" y="172"/>
                  </a:lnTo>
                  <a:lnTo>
                    <a:pt x="148" y="178"/>
                  </a:lnTo>
                  <a:lnTo>
                    <a:pt x="151" y="195"/>
                  </a:lnTo>
                  <a:lnTo>
                    <a:pt x="155" y="210"/>
                  </a:lnTo>
                  <a:lnTo>
                    <a:pt x="160" y="226"/>
                  </a:lnTo>
                  <a:lnTo>
                    <a:pt x="163" y="243"/>
                  </a:lnTo>
                  <a:lnTo>
                    <a:pt x="147" y="237"/>
                  </a:lnTo>
                  <a:lnTo>
                    <a:pt x="130" y="232"/>
                  </a:lnTo>
                  <a:lnTo>
                    <a:pt x="131" y="220"/>
                  </a:lnTo>
                  <a:lnTo>
                    <a:pt x="106" y="220"/>
                  </a:lnTo>
                  <a:lnTo>
                    <a:pt x="94" y="215"/>
                  </a:lnTo>
                  <a:lnTo>
                    <a:pt x="88" y="212"/>
                  </a:lnTo>
                  <a:lnTo>
                    <a:pt x="75" y="194"/>
                  </a:lnTo>
                  <a:lnTo>
                    <a:pt x="67" y="189"/>
                  </a:lnTo>
                  <a:lnTo>
                    <a:pt x="84" y="188"/>
                  </a:lnTo>
                  <a:lnTo>
                    <a:pt x="77" y="182"/>
                  </a:lnTo>
                  <a:lnTo>
                    <a:pt x="85" y="174"/>
                  </a:lnTo>
                  <a:lnTo>
                    <a:pt x="103" y="174"/>
                  </a:lnTo>
                  <a:lnTo>
                    <a:pt x="100" y="167"/>
                  </a:lnTo>
                  <a:lnTo>
                    <a:pt x="96" y="148"/>
                  </a:lnTo>
                  <a:lnTo>
                    <a:pt x="77" y="1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8" name="Freeform 267"/>
            <p:cNvSpPr>
              <a:spLocks/>
            </p:cNvSpPr>
            <p:nvPr/>
          </p:nvSpPr>
          <p:spPr bwMode="auto">
            <a:xfrm>
              <a:off x="3156" y="1827"/>
              <a:ext cx="133" cy="52"/>
            </a:xfrm>
            <a:custGeom>
              <a:avLst/>
              <a:gdLst/>
              <a:ahLst/>
              <a:cxnLst>
                <a:cxn ang="0">
                  <a:pos x="24" y="17"/>
                </a:cxn>
                <a:cxn ang="0">
                  <a:pos x="0" y="3"/>
                </a:cxn>
                <a:cxn ang="0">
                  <a:pos x="1" y="0"/>
                </a:cxn>
                <a:cxn ang="0">
                  <a:pos x="17" y="2"/>
                </a:cxn>
                <a:cxn ang="0">
                  <a:pos x="33" y="3"/>
                </a:cxn>
                <a:cxn ang="0">
                  <a:pos x="55" y="12"/>
                </a:cxn>
                <a:cxn ang="0">
                  <a:pos x="77" y="21"/>
                </a:cxn>
                <a:cxn ang="0">
                  <a:pos x="98" y="29"/>
                </a:cxn>
                <a:cxn ang="0">
                  <a:pos x="120" y="38"/>
                </a:cxn>
                <a:cxn ang="0">
                  <a:pos x="115" y="46"/>
                </a:cxn>
                <a:cxn ang="0">
                  <a:pos x="101" y="45"/>
                </a:cxn>
                <a:cxn ang="0">
                  <a:pos x="79" y="44"/>
                </a:cxn>
                <a:cxn ang="0">
                  <a:pos x="57" y="44"/>
                </a:cxn>
                <a:cxn ang="0">
                  <a:pos x="39" y="45"/>
                </a:cxn>
                <a:cxn ang="0">
                  <a:pos x="38" y="32"/>
                </a:cxn>
                <a:cxn ang="0">
                  <a:pos x="24" y="17"/>
                </a:cxn>
              </a:cxnLst>
              <a:rect l="0" t="0" r="r" b="b"/>
              <a:pathLst>
                <a:path w="120" h="46">
                  <a:moveTo>
                    <a:pt x="24" y="17"/>
                  </a:moveTo>
                  <a:lnTo>
                    <a:pt x="0" y="3"/>
                  </a:lnTo>
                  <a:lnTo>
                    <a:pt x="1" y="0"/>
                  </a:lnTo>
                  <a:lnTo>
                    <a:pt x="17" y="2"/>
                  </a:lnTo>
                  <a:lnTo>
                    <a:pt x="33" y="3"/>
                  </a:lnTo>
                  <a:lnTo>
                    <a:pt x="55" y="12"/>
                  </a:lnTo>
                  <a:lnTo>
                    <a:pt x="77" y="21"/>
                  </a:lnTo>
                  <a:lnTo>
                    <a:pt x="98" y="29"/>
                  </a:lnTo>
                  <a:lnTo>
                    <a:pt x="120" y="38"/>
                  </a:lnTo>
                  <a:lnTo>
                    <a:pt x="115" y="46"/>
                  </a:lnTo>
                  <a:lnTo>
                    <a:pt x="101" y="45"/>
                  </a:lnTo>
                  <a:lnTo>
                    <a:pt x="79" y="44"/>
                  </a:lnTo>
                  <a:lnTo>
                    <a:pt x="57" y="44"/>
                  </a:lnTo>
                  <a:lnTo>
                    <a:pt x="39" y="45"/>
                  </a:lnTo>
                  <a:lnTo>
                    <a:pt x="38" y="32"/>
                  </a:lnTo>
                  <a:lnTo>
                    <a:pt x="24"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9" name="Freeform 268"/>
            <p:cNvSpPr>
              <a:spLocks/>
            </p:cNvSpPr>
            <p:nvPr/>
          </p:nvSpPr>
          <p:spPr bwMode="auto">
            <a:xfrm>
              <a:off x="3662" y="1841"/>
              <a:ext cx="158" cy="80"/>
            </a:xfrm>
            <a:custGeom>
              <a:avLst/>
              <a:gdLst/>
              <a:ahLst/>
              <a:cxnLst>
                <a:cxn ang="0">
                  <a:pos x="46" y="41"/>
                </a:cxn>
                <a:cxn ang="0">
                  <a:pos x="31" y="32"/>
                </a:cxn>
                <a:cxn ang="0">
                  <a:pos x="10" y="29"/>
                </a:cxn>
                <a:cxn ang="0">
                  <a:pos x="0" y="16"/>
                </a:cxn>
                <a:cxn ang="0">
                  <a:pos x="9" y="9"/>
                </a:cxn>
                <a:cxn ang="0">
                  <a:pos x="25" y="11"/>
                </a:cxn>
                <a:cxn ang="0">
                  <a:pos x="39" y="12"/>
                </a:cxn>
                <a:cxn ang="0">
                  <a:pos x="48" y="3"/>
                </a:cxn>
                <a:cxn ang="0">
                  <a:pos x="61" y="4"/>
                </a:cxn>
                <a:cxn ang="0">
                  <a:pos x="81" y="4"/>
                </a:cxn>
                <a:cxn ang="0">
                  <a:pos x="100" y="2"/>
                </a:cxn>
                <a:cxn ang="0">
                  <a:pos x="120" y="0"/>
                </a:cxn>
                <a:cxn ang="0">
                  <a:pos x="138" y="11"/>
                </a:cxn>
                <a:cxn ang="0">
                  <a:pos x="141" y="20"/>
                </a:cxn>
                <a:cxn ang="0">
                  <a:pos x="130" y="29"/>
                </a:cxn>
                <a:cxn ang="0">
                  <a:pos x="120" y="38"/>
                </a:cxn>
                <a:cxn ang="0">
                  <a:pos x="104" y="42"/>
                </a:cxn>
                <a:cxn ang="0">
                  <a:pos x="94" y="53"/>
                </a:cxn>
                <a:cxn ang="0">
                  <a:pos x="86" y="51"/>
                </a:cxn>
                <a:cxn ang="0">
                  <a:pos x="79" y="52"/>
                </a:cxn>
                <a:cxn ang="0">
                  <a:pos x="68" y="58"/>
                </a:cxn>
                <a:cxn ang="0">
                  <a:pos x="62" y="71"/>
                </a:cxn>
                <a:cxn ang="0">
                  <a:pos x="37" y="69"/>
                </a:cxn>
                <a:cxn ang="0">
                  <a:pos x="12" y="65"/>
                </a:cxn>
                <a:cxn ang="0">
                  <a:pos x="10" y="53"/>
                </a:cxn>
                <a:cxn ang="0">
                  <a:pos x="28" y="47"/>
                </a:cxn>
                <a:cxn ang="0">
                  <a:pos x="46" y="41"/>
                </a:cxn>
              </a:cxnLst>
              <a:rect l="0" t="0" r="r" b="b"/>
              <a:pathLst>
                <a:path w="141" h="71">
                  <a:moveTo>
                    <a:pt x="46" y="41"/>
                  </a:moveTo>
                  <a:lnTo>
                    <a:pt x="31" y="32"/>
                  </a:lnTo>
                  <a:lnTo>
                    <a:pt x="10" y="29"/>
                  </a:lnTo>
                  <a:lnTo>
                    <a:pt x="0" y="16"/>
                  </a:lnTo>
                  <a:lnTo>
                    <a:pt x="9" y="9"/>
                  </a:lnTo>
                  <a:lnTo>
                    <a:pt x="25" y="11"/>
                  </a:lnTo>
                  <a:lnTo>
                    <a:pt x="39" y="12"/>
                  </a:lnTo>
                  <a:lnTo>
                    <a:pt x="48" y="3"/>
                  </a:lnTo>
                  <a:lnTo>
                    <a:pt x="61" y="4"/>
                  </a:lnTo>
                  <a:lnTo>
                    <a:pt x="81" y="4"/>
                  </a:lnTo>
                  <a:lnTo>
                    <a:pt x="100" y="2"/>
                  </a:lnTo>
                  <a:lnTo>
                    <a:pt x="120" y="0"/>
                  </a:lnTo>
                  <a:lnTo>
                    <a:pt x="138" y="11"/>
                  </a:lnTo>
                  <a:lnTo>
                    <a:pt x="141" y="20"/>
                  </a:lnTo>
                  <a:lnTo>
                    <a:pt x="130" y="29"/>
                  </a:lnTo>
                  <a:lnTo>
                    <a:pt x="120" y="38"/>
                  </a:lnTo>
                  <a:lnTo>
                    <a:pt x="104" y="42"/>
                  </a:lnTo>
                  <a:lnTo>
                    <a:pt x="94" y="53"/>
                  </a:lnTo>
                  <a:lnTo>
                    <a:pt x="86" y="51"/>
                  </a:lnTo>
                  <a:lnTo>
                    <a:pt x="79" y="52"/>
                  </a:lnTo>
                  <a:lnTo>
                    <a:pt x="68" y="58"/>
                  </a:lnTo>
                  <a:lnTo>
                    <a:pt x="62" y="71"/>
                  </a:lnTo>
                  <a:lnTo>
                    <a:pt x="37" y="69"/>
                  </a:lnTo>
                  <a:lnTo>
                    <a:pt x="12" y="65"/>
                  </a:lnTo>
                  <a:lnTo>
                    <a:pt x="10" y="53"/>
                  </a:lnTo>
                  <a:lnTo>
                    <a:pt x="28" y="47"/>
                  </a:lnTo>
                  <a:lnTo>
                    <a:pt x="46" y="4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0" name="Freeform 269"/>
            <p:cNvSpPr>
              <a:spLocks/>
            </p:cNvSpPr>
            <p:nvPr/>
          </p:nvSpPr>
          <p:spPr bwMode="auto">
            <a:xfrm>
              <a:off x="3369" y="1852"/>
              <a:ext cx="242" cy="149"/>
            </a:xfrm>
            <a:custGeom>
              <a:avLst/>
              <a:gdLst/>
              <a:ahLst/>
              <a:cxnLst>
                <a:cxn ang="0">
                  <a:pos x="206" y="104"/>
                </a:cxn>
                <a:cxn ang="0">
                  <a:pos x="200" y="119"/>
                </a:cxn>
                <a:cxn ang="0">
                  <a:pos x="187" y="126"/>
                </a:cxn>
                <a:cxn ang="0">
                  <a:pos x="182" y="134"/>
                </a:cxn>
                <a:cxn ang="0">
                  <a:pos x="174" y="133"/>
                </a:cxn>
                <a:cxn ang="0">
                  <a:pos x="159" y="128"/>
                </a:cxn>
                <a:cxn ang="0">
                  <a:pos x="153" y="110"/>
                </a:cxn>
                <a:cxn ang="0">
                  <a:pos x="140" y="108"/>
                </a:cxn>
                <a:cxn ang="0">
                  <a:pos x="127" y="100"/>
                </a:cxn>
                <a:cxn ang="0">
                  <a:pos x="114" y="91"/>
                </a:cxn>
                <a:cxn ang="0">
                  <a:pos x="90" y="83"/>
                </a:cxn>
                <a:cxn ang="0">
                  <a:pos x="75" y="84"/>
                </a:cxn>
                <a:cxn ang="0">
                  <a:pos x="59" y="86"/>
                </a:cxn>
                <a:cxn ang="0">
                  <a:pos x="48" y="97"/>
                </a:cxn>
                <a:cxn ang="0">
                  <a:pos x="43" y="97"/>
                </a:cxn>
                <a:cxn ang="0">
                  <a:pos x="39" y="83"/>
                </a:cxn>
                <a:cxn ang="0">
                  <a:pos x="35" y="67"/>
                </a:cxn>
                <a:cxn ang="0">
                  <a:pos x="26" y="61"/>
                </a:cxn>
                <a:cxn ang="0">
                  <a:pos x="25" y="62"/>
                </a:cxn>
                <a:cxn ang="0">
                  <a:pos x="27" y="59"/>
                </a:cxn>
                <a:cxn ang="0">
                  <a:pos x="30" y="56"/>
                </a:cxn>
                <a:cxn ang="0">
                  <a:pos x="26" y="50"/>
                </a:cxn>
                <a:cxn ang="0">
                  <a:pos x="19" y="52"/>
                </a:cxn>
                <a:cxn ang="0">
                  <a:pos x="19" y="53"/>
                </a:cxn>
                <a:cxn ang="0">
                  <a:pos x="14" y="35"/>
                </a:cxn>
                <a:cxn ang="0">
                  <a:pos x="17" y="34"/>
                </a:cxn>
                <a:cxn ang="0">
                  <a:pos x="25" y="34"/>
                </a:cxn>
                <a:cxn ang="0">
                  <a:pos x="32" y="38"/>
                </a:cxn>
                <a:cxn ang="0">
                  <a:pos x="36" y="37"/>
                </a:cxn>
                <a:cxn ang="0">
                  <a:pos x="37" y="35"/>
                </a:cxn>
                <a:cxn ang="0">
                  <a:pos x="39" y="30"/>
                </a:cxn>
                <a:cxn ang="0">
                  <a:pos x="25" y="14"/>
                </a:cxn>
                <a:cxn ang="0">
                  <a:pos x="12" y="13"/>
                </a:cxn>
                <a:cxn ang="0">
                  <a:pos x="13" y="28"/>
                </a:cxn>
                <a:cxn ang="0">
                  <a:pos x="13" y="30"/>
                </a:cxn>
                <a:cxn ang="0">
                  <a:pos x="3" y="11"/>
                </a:cxn>
                <a:cxn ang="0">
                  <a:pos x="5" y="2"/>
                </a:cxn>
                <a:cxn ang="0">
                  <a:pos x="0" y="0"/>
                </a:cxn>
                <a:cxn ang="0">
                  <a:pos x="25" y="0"/>
                </a:cxn>
                <a:cxn ang="0">
                  <a:pos x="24" y="12"/>
                </a:cxn>
                <a:cxn ang="0">
                  <a:pos x="41" y="17"/>
                </a:cxn>
                <a:cxn ang="0">
                  <a:pos x="57" y="23"/>
                </a:cxn>
                <a:cxn ang="0">
                  <a:pos x="78" y="26"/>
                </a:cxn>
                <a:cxn ang="0">
                  <a:pos x="74" y="17"/>
                </a:cxn>
                <a:cxn ang="0">
                  <a:pos x="81" y="13"/>
                </a:cxn>
                <a:cxn ang="0">
                  <a:pos x="93" y="0"/>
                </a:cxn>
                <a:cxn ang="0">
                  <a:pos x="113" y="13"/>
                </a:cxn>
                <a:cxn ang="0">
                  <a:pos x="125" y="31"/>
                </a:cxn>
                <a:cxn ang="0">
                  <a:pos x="144" y="38"/>
                </a:cxn>
                <a:cxn ang="0">
                  <a:pos x="157" y="46"/>
                </a:cxn>
                <a:cxn ang="0">
                  <a:pos x="182" y="61"/>
                </a:cxn>
                <a:cxn ang="0">
                  <a:pos x="207" y="77"/>
                </a:cxn>
                <a:cxn ang="0">
                  <a:pos x="217" y="95"/>
                </a:cxn>
                <a:cxn ang="0">
                  <a:pos x="211" y="100"/>
                </a:cxn>
                <a:cxn ang="0">
                  <a:pos x="206" y="104"/>
                </a:cxn>
              </a:cxnLst>
              <a:rect l="0" t="0" r="r" b="b"/>
              <a:pathLst>
                <a:path w="217" h="134">
                  <a:moveTo>
                    <a:pt x="206" y="104"/>
                  </a:moveTo>
                  <a:lnTo>
                    <a:pt x="200" y="119"/>
                  </a:lnTo>
                  <a:lnTo>
                    <a:pt x="187" y="126"/>
                  </a:lnTo>
                  <a:lnTo>
                    <a:pt x="182" y="134"/>
                  </a:lnTo>
                  <a:lnTo>
                    <a:pt x="174" y="133"/>
                  </a:lnTo>
                  <a:lnTo>
                    <a:pt x="159" y="128"/>
                  </a:lnTo>
                  <a:lnTo>
                    <a:pt x="153" y="110"/>
                  </a:lnTo>
                  <a:lnTo>
                    <a:pt x="140" y="108"/>
                  </a:lnTo>
                  <a:lnTo>
                    <a:pt x="127" y="100"/>
                  </a:lnTo>
                  <a:lnTo>
                    <a:pt x="114" y="91"/>
                  </a:lnTo>
                  <a:lnTo>
                    <a:pt x="90" y="83"/>
                  </a:lnTo>
                  <a:lnTo>
                    <a:pt x="75" y="84"/>
                  </a:lnTo>
                  <a:lnTo>
                    <a:pt x="59" y="86"/>
                  </a:lnTo>
                  <a:lnTo>
                    <a:pt x="48" y="97"/>
                  </a:lnTo>
                  <a:lnTo>
                    <a:pt x="43" y="97"/>
                  </a:lnTo>
                  <a:lnTo>
                    <a:pt x="39" y="83"/>
                  </a:lnTo>
                  <a:lnTo>
                    <a:pt x="35" y="67"/>
                  </a:lnTo>
                  <a:lnTo>
                    <a:pt x="26" y="61"/>
                  </a:lnTo>
                  <a:lnTo>
                    <a:pt x="25" y="62"/>
                  </a:lnTo>
                  <a:lnTo>
                    <a:pt x="27" y="59"/>
                  </a:lnTo>
                  <a:lnTo>
                    <a:pt x="30" y="56"/>
                  </a:lnTo>
                  <a:lnTo>
                    <a:pt x="26" y="50"/>
                  </a:lnTo>
                  <a:lnTo>
                    <a:pt x="19" y="52"/>
                  </a:lnTo>
                  <a:lnTo>
                    <a:pt x="19" y="53"/>
                  </a:lnTo>
                  <a:lnTo>
                    <a:pt x="14" y="35"/>
                  </a:lnTo>
                  <a:lnTo>
                    <a:pt x="17" y="34"/>
                  </a:lnTo>
                  <a:lnTo>
                    <a:pt x="25" y="34"/>
                  </a:lnTo>
                  <a:lnTo>
                    <a:pt x="32" y="38"/>
                  </a:lnTo>
                  <a:lnTo>
                    <a:pt x="36" y="37"/>
                  </a:lnTo>
                  <a:lnTo>
                    <a:pt x="37" y="35"/>
                  </a:lnTo>
                  <a:lnTo>
                    <a:pt x="39" y="30"/>
                  </a:lnTo>
                  <a:lnTo>
                    <a:pt x="25" y="14"/>
                  </a:lnTo>
                  <a:lnTo>
                    <a:pt x="12" y="13"/>
                  </a:lnTo>
                  <a:lnTo>
                    <a:pt x="13" y="28"/>
                  </a:lnTo>
                  <a:lnTo>
                    <a:pt x="13" y="30"/>
                  </a:lnTo>
                  <a:lnTo>
                    <a:pt x="3" y="11"/>
                  </a:lnTo>
                  <a:lnTo>
                    <a:pt x="5" y="2"/>
                  </a:lnTo>
                  <a:lnTo>
                    <a:pt x="0" y="0"/>
                  </a:lnTo>
                  <a:lnTo>
                    <a:pt x="25" y="0"/>
                  </a:lnTo>
                  <a:lnTo>
                    <a:pt x="24" y="12"/>
                  </a:lnTo>
                  <a:lnTo>
                    <a:pt x="41" y="17"/>
                  </a:lnTo>
                  <a:lnTo>
                    <a:pt x="57" y="23"/>
                  </a:lnTo>
                  <a:lnTo>
                    <a:pt x="78" y="26"/>
                  </a:lnTo>
                  <a:lnTo>
                    <a:pt x="74" y="17"/>
                  </a:lnTo>
                  <a:lnTo>
                    <a:pt x="81" y="13"/>
                  </a:lnTo>
                  <a:lnTo>
                    <a:pt x="93" y="0"/>
                  </a:lnTo>
                  <a:lnTo>
                    <a:pt x="113" y="13"/>
                  </a:lnTo>
                  <a:lnTo>
                    <a:pt x="125" y="31"/>
                  </a:lnTo>
                  <a:lnTo>
                    <a:pt x="144" y="38"/>
                  </a:lnTo>
                  <a:lnTo>
                    <a:pt x="157" y="46"/>
                  </a:lnTo>
                  <a:lnTo>
                    <a:pt x="182" y="61"/>
                  </a:lnTo>
                  <a:lnTo>
                    <a:pt x="207" y="77"/>
                  </a:lnTo>
                  <a:lnTo>
                    <a:pt x="217" y="95"/>
                  </a:lnTo>
                  <a:lnTo>
                    <a:pt x="211" y="100"/>
                  </a:lnTo>
                  <a:lnTo>
                    <a:pt x="206" y="10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1" name="Freeform 270"/>
            <p:cNvSpPr>
              <a:spLocks/>
            </p:cNvSpPr>
            <p:nvPr/>
          </p:nvSpPr>
          <p:spPr bwMode="auto">
            <a:xfrm>
              <a:off x="3542" y="1939"/>
              <a:ext cx="222" cy="180"/>
            </a:xfrm>
            <a:custGeom>
              <a:avLst/>
              <a:gdLst/>
              <a:ahLst/>
              <a:cxnLst>
                <a:cxn ang="0">
                  <a:pos x="1" y="71"/>
                </a:cxn>
                <a:cxn ang="0">
                  <a:pos x="0" y="73"/>
                </a:cxn>
                <a:cxn ang="0">
                  <a:pos x="0" y="83"/>
                </a:cxn>
                <a:cxn ang="0">
                  <a:pos x="6" y="88"/>
                </a:cxn>
                <a:cxn ang="0">
                  <a:pos x="4" y="91"/>
                </a:cxn>
                <a:cxn ang="0">
                  <a:pos x="8" y="106"/>
                </a:cxn>
                <a:cxn ang="0">
                  <a:pos x="10" y="121"/>
                </a:cxn>
                <a:cxn ang="0">
                  <a:pos x="26" y="126"/>
                </a:cxn>
                <a:cxn ang="0">
                  <a:pos x="28" y="133"/>
                </a:cxn>
                <a:cxn ang="0">
                  <a:pos x="18" y="154"/>
                </a:cxn>
                <a:cxn ang="0">
                  <a:pos x="31" y="157"/>
                </a:cxn>
                <a:cxn ang="0">
                  <a:pos x="43" y="162"/>
                </a:cxn>
                <a:cxn ang="0">
                  <a:pos x="67" y="161"/>
                </a:cxn>
                <a:cxn ang="0">
                  <a:pos x="84" y="157"/>
                </a:cxn>
                <a:cxn ang="0">
                  <a:pos x="99" y="154"/>
                </a:cxn>
                <a:cxn ang="0">
                  <a:pos x="99" y="146"/>
                </a:cxn>
                <a:cxn ang="0">
                  <a:pos x="102" y="132"/>
                </a:cxn>
                <a:cxn ang="0">
                  <a:pos x="116" y="126"/>
                </a:cxn>
                <a:cxn ang="0">
                  <a:pos x="121" y="121"/>
                </a:cxn>
                <a:cxn ang="0">
                  <a:pos x="135" y="121"/>
                </a:cxn>
                <a:cxn ang="0">
                  <a:pos x="136" y="102"/>
                </a:cxn>
                <a:cxn ang="0">
                  <a:pos x="148" y="91"/>
                </a:cxn>
                <a:cxn ang="0">
                  <a:pos x="140" y="82"/>
                </a:cxn>
                <a:cxn ang="0">
                  <a:pos x="153" y="80"/>
                </a:cxn>
                <a:cxn ang="0">
                  <a:pos x="156" y="72"/>
                </a:cxn>
                <a:cxn ang="0">
                  <a:pos x="160" y="59"/>
                </a:cxn>
                <a:cxn ang="0">
                  <a:pos x="152" y="44"/>
                </a:cxn>
                <a:cxn ang="0">
                  <a:pos x="159" y="34"/>
                </a:cxn>
                <a:cxn ang="0">
                  <a:pos x="177" y="29"/>
                </a:cxn>
                <a:cxn ang="0">
                  <a:pos x="195" y="25"/>
                </a:cxn>
                <a:cxn ang="0">
                  <a:pos x="195" y="22"/>
                </a:cxn>
                <a:cxn ang="0">
                  <a:pos x="199" y="22"/>
                </a:cxn>
                <a:cxn ang="0">
                  <a:pos x="200" y="22"/>
                </a:cxn>
                <a:cxn ang="0">
                  <a:pos x="187" y="20"/>
                </a:cxn>
                <a:cxn ang="0">
                  <a:pos x="182" y="19"/>
                </a:cxn>
                <a:cxn ang="0">
                  <a:pos x="170" y="20"/>
                </a:cxn>
                <a:cxn ang="0">
                  <a:pos x="152" y="30"/>
                </a:cxn>
                <a:cxn ang="0">
                  <a:pos x="146" y="8"/>
                </a:cxn>
                <a:cxn ang="0">
                  <a:pos x="142" y="8"/>
                </a:cxn>
                <a:cxn ang="0">
                  <a:pos x="138" y="0"/>
                </a:cxn>
                <a:cxn ang="0">
                  <a:pos x="130" y="4"/>
                </a:cxn>
                <a:cxn ang="0">
                  <a:pos x="128" y="14"/>
                </a:cxn>
                <a:cxn ang="0">
                  <a:pos x="117" y="19"/>
                </a:cxn>
                <a:cxn ang="0">
                  <a:pos x="114" y="23"/>
                </a:cxn>
                <a:cxn ang="0">
                  <a:pos x="104" y="23"/>
                </a:cxn>
                <a:cxn ang="0">
                  <a:pos x="96" y="24"/>
                </a:cxn>
                <a:cxn ang="0">
                  <a:pos x="91" y="22"/>
                </a:cxn>
                <a:cxn ang="0">
                  <a:pos x="76" y="19"/>
                </a:cxn>
                <a:cxn ang="0">
                  <a:pos x="62" y="17"/>
                </a:cxn>
                <a:cxn ang="0">
                  <a:pos x="56" y="22"/>
                </a:cxn>
                <a:cxn ang="0">
                  <a:pos x="51" y="26"/>
                </a:cxn>
                <a:cxn ang="0">
                  <a:pos x="45" y="41"/>
                </a:cxn>
                <a:cxn ang="0">
                  <a:pos x="32" y="48"/>
                </a:cxn>
                <a:cxn ang="0">
                  <a:pos x="27" y="56"/>
                </a:cxn>
                <a:cxn ang="0">
                  <a:pos x="19" y="55"/>
                </a:cxn>
                <a:cxn ang="0">
                  <a:pos x="4" y="50"/>
                </a:cxn>
                <a:cxn ang="0">
                  <a:pos x="1" y="71"/>
                </a:cxn>
              </a:cxnLst>
              <a:rect l="0" t="0" r="r" b="b"/>
              <a:pathLst>
                <a:path w="200" h="162">
                  <a:moveTo>
                    <a:pt x="1" y="71"/>
                  </a:moveTo>
                  <a:lnTo>
                    <a:pt x="0" y="73"/>
                  </a:lnTo>
                  <a:lnTo>
                    <a:pt x="0" y="83"/>
                  </a:lnTo>
                  <a:lnTo>
                    <a:pt x="6" y="88"/>
                  </a:lnTo>
                  <a:lnTo>
                    <a:pt x="4" y="91"/>
                  </a:lnTo>
                  <a:lnTo>
                    <a:pt x="8" y="106"/>
                  </a:lnTo>
                  <a:lnTo>
                    <a:pt x="10" y="121"/>
                  </a:lnTo>
                  <a:lnTo>
                    <a:pt x="26" y="126"/>
                  </a:lnTo>
                  <a:lnTo>
                    <a:pt x="28" y="133"/>
                  </a:lnTo>
                  <a:lnTo>
                    <a:pt x="18" y="154"/>
                  </a:lnTo>
                  <a:lnTo>
                    <a:pt x="31" y="157"/>
                  </a:lnTo>
                  <a:lnTo>
                    <a:pt x="43" y="162"/>
                  </a:lnTo>
                  <a:lnTo>
                    <a:pt x="67" y="161"/>
                  </a:lnTo>
                  <a:lnTo>
                    <a:pt x="84" y="157"/>
                  </a:lnTo>
                  <a:lnTo>
                    <a:pt x="99" y="154"/>
                  </a:lnTo>
                  <a:lnTo>
                    <a:pt x="99" y="146"/>
                  </a:lnTo>
                  <a:lnTo>
                    <a:pt x="102" y="132"/>
                  </a:lnTo>
                  <a:lnTo>
                    <a:pt x="116" y="126"/>
                  </a:lnTo>
                  <a:lnTo>
                    <a:pt x="121" y="121"/>
                  </a:lnTo>
                  <a:lnTo>
                    <a:pt x="135" y="121"/>
                  </a:lnTo>
                  <a:lnTo>
                    <a:pt x="136" y="102"/>
                  </a:lnTo>
                  <a:lnTo>
                    <a:pt x="148" y="91"/>
                  </a:lnTo>
                  <a:lnTo>
                    <a:pt x="140" y="82"/>
                  </a:lnTo>
                  <a:lnTo>
                    <a:pt x="153" y="80"/>
                  </a:lnTo>
                  <a:lnTo>
                    <a:pt x="156" y="72"/>
                  </a:lnTo>
                  <a:lnTo>
                    <a:pt x="160" y="59"/>
                  </a:lnTo>
                  <a:lnTo>
                    <a:pt x="152" y="44"/>
                  </a:lnTo>
                  <a:lnTo>
                    <a:pt x="159" y="34"/>
                  </a:lnTo>
                  <a:lnTo>
                    <a:pt x="177" y="29"/>
                  </a:lnTo>
                  <a:lnTo>
                    <a:pt x="195" y="25"/>
                  </a:lnTo>
                  <a:lnTo>
                    <a:pt x="195" y="22"/>
                  </a:lnTo>
                  <a:lnTo>
                    <a:pt x="199" y="22"/>
                  </a:lnTo>
                  <a:lnTo>
                    <a:pt x="200" y="22"/>
                  </a:lnTo>
                  <a:lnTo>
                    <a:pt x="187" y="20"/>
                  </a:lnTo>
                  <a:lnTo>
                    <a:pt x="182" y="19"/>
                  </a:lnTo>
                  <a:lnTo>
                    <a:pt x="170" y="20"/>
                  </a:lnTo>
                  <a:lnTo>
                    <a:pt x="152" y="30"/>
                  </a:lnTo>
                  <a:lnTo>
                    <a:pt x="146" y="8"/>
                  </a:lnTo>
                  <a:lnTo>
                    <a:pt x="142" y="8"/>
                  </a:lnTo>
                  <a:lnTo>
                    <a:pt x="138" y="0"/>
                  </a:lnTo>
                  <a:lnTo>
                    <a:pt x="130" y="4"/>
                  </a:lnTo>
                  <a:lnTo>
                    <a:pt x="128" y="14"/>
                  </a:lnTo>
                  <a:lnTo>
                    <a:pt x="117" y="19"/>
                  </a:lnTo>
                  <a:lnTo>
                    <a:pt x="114" y="23"/>
                  </a:lnTo>
                  <a:lnTo>
                    <a:pt x="104" y="23"/>
                  </a:lnTo>
                  <a:lnTo>
                    <a:pt x="96" y="24"/>
                  </a:lnTo>
                  <a:lnTo>
                    <a:pt x="91" y="22"/>
                  </a:lnTo>
                  <a:lnTo>
                    <a:pt x="76" y="19"/>
                  </a:lnTo>
                  <a:lnTo>
                    <a:pt x="62" y="17"/>
                  </a:lnTo>
                  <a:lnTo>
                    <a:pt x="56" y="22"/>
                  </a:lnTo>
                  <a:lnTo>
                    <a:pt x="51" y="26"/>
                  </a:lnTo>
                  <a:lnTo>
                    <a:pt x="45" y="41"/>
                  </a:lnTo>
                  <a:lnTo>
                    <a:pt x="32" y="48"/>
                  </a:lnTo>
                  <a:lnTo>
                    <a:pt x="27" y="56"/>
                  </a:lnTo>
                  <a:lnTo>
                    <a:pt x="19" y="55"/>
                  </a:lnTo>
                  <a:lnTo>
                    <a:pt x="4" y="50"/>
                  </a:lnTo>
                  <a:lnTo>
                    <a:pt x="1" y="7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2" name="Freeform 271"/>
            <p:cNvSpPr>
              <a:spLocks/>
            </p:cNvSpPr>
            <p:nvPr/>
          </p:nvSpPr>
          <p:spPr bwMode="auto">
            <a:xfrm>
              <a:off x="3069" y="1994"/>
              <a:ext cx="35" cy="20"/>
            </a:xfrm>
            <a:custGeom>
              <a:avLst/>
              <a:gdLst/>
              <a:ahLst/>
              <a:cxnLst>
                <a:cxn ang="0">
                  <a:pos x="31" y="0"/>
                </a:cxn>
                <a:cxn ang="0">
                  <a:pos x="12" y="6"/>
                </a:cxn>
                <a:cxn ang="0">
                  <a:pos x="0" y="11"/>
                </a:cxn>
                <a:cxn ang="0">
                  <a:pos x="5" y="19"/>
                </a:cxn>
                <a:cxn ang="0">
                  <a:pos x="23" y="13"/>
                </a:cxn>
                <a:cxn ang="0">
                  <a:pos x="21" y="10"/>
                </a:cxn>
                <a:cxn ang="0">
                  <a:pos x="31" y="0"/>
                </a:cxn>
              </a:cxnLst>
              <a:rect l="0" t="0" r="r" b="b"/>
              <a:pathLst>
                <a:path w="31" h="19">
                  <a:moveTo>
                    <a:pt x="31" y="0"/>
                  </a:moveTo>
                  <a:lnTo>
                    <a:pt x="12" y="6"/>
                  </a:lnTo>
                  <a:lnTo>
                    <a:pt x="0" y="11"/>
                  </a:lnTo>
                  <a:lnTo>
                    <a:pt x="5" y="19"/>
                  </a:lnTo>
                  <a:lnTo>
                    <a:pt x="23" y="13"/>
                  </a:lnTo>
                  <a:lnTo>
                    <a:pt x="21" y="10"/>
                  </a:lnTo>
                  <a:lnTo>
                    <a:pt x="3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3" name="Line 271"/>
            <p:cNvSpPr>
              <a:spLocks noChangeShapeType="1"/>
            </p:cNvSpPr>
            <p:nvPr/>
          </p:nvSpPr>
          <p:spPr bwMode="auto">
            <a:xfrm>
              <a:off x="3753" y="1967"/>
              <a:ext cx="2" cy="5"/>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4" name="Line 272"/>
            <p:cNvSpPr>
              <a:spLocks noChangeShapeType="1"/>
            </p:cNvSpPr>
            <p:nvPr/>
          </p:nvSpPr>
          <p:spPr bwMode="auto">
            <a:xfrm>
              <a:off x="3755" y="1970"/>
              <a:ext cx="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5" name="Line 273"/>
            <p:cNvSpPr>
              <a:spLocks noChangeShapeType="1"/>
            </p:cNvSpPr>
            <p:nvPr/>
          </p:nvSpPr>
          <p:spPr bwMode="auto">
            <a:xfrm flipH="1">
              <a:off x="3749" y="1974"/>
              <a:ext cx="6"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6" name="Line 274"/>
            <p:cNvSpPr>
              <a:spLocks noChangeShapeType="1"/>
            </p:cNvSpPr>
            <p:nvPr/>
          </p:nvSpPr>
          <p:spPr bwMode="auto">
            <a:xfrm flipH="1">
              <a:off x="3747" y="1976"/>
              <a:ext cx="4" cy="5"/>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7" name="Line 275"/>
            <p:cNvSpPr>
              <a:spLocks noChangeShapeType="1"/>
            </p:cNvSpPr>
            <p:nvPr/>
          </p:nvSpPr>
          <p:spPr bwMode="auto">
            <a:xfrm flipH="1">
              <a:off x="3742" y="1981"/>
              <a:ext cx="5"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8" name="Line 276"/>
            <p:cNvSpPr>
              <a:spLocks noChangeShapeType="1"/>
            </p:cNvSpPr>
            <p:nvPr/>
          </p:nvSpPr>
          <p:spPr bwMode="auto">
            <a:xfrm flipH="1">
              <a:off x="3740" y="1981"/>
              <a:ext cx="2" cy="6"/>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9" name="Line 277"/>
            <p:cNvSpPr>
              <a:spLocks noChangeShapeType="1"/>
            </p:cNvSpPr>
            <p:nvPr/>
          </p:nvSpPr>
          <p:spPr bwMode="auto">
            <a:xfrm>
              <a:off x="3740" y="1985"/>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0" name="Line 278"/>
            <p:cNvSpPr>
              <a:spLocks noChangeShapeType="1"/>
            </p:cNvSpPr>
            <p:nvPr/>
          </p:nvSpPr>
          <p:spPr bwMode="auto">
            <a:xfrm>
              <a:off x="3740" y="1990"/>
              <a:ext cx="2" cy="9"/>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1" name="Line 279"/>
            <p:cNvSpPr>
              <a:spLocks noChangeShapeType="1"/>
            </p:cNvSpPr>
            <p:nvPr/>
          </p:nvSpPr>
          <p:spPr bwMode="auto">
            <a:xfrm>
              <a:off x="3742" y="1996"/>
              <a:ext cx="5"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2" name="Line 280"/>
            <p:cNvSpPr>
              <a:spLocks noChangeShapeType="1"/>
            </p:cNvSpPr>
            <p:nvPr/>
          </p:nvSpPr>
          <p:spPr bwMode="auto">
            <a:xfrm>
              <a:off x="3744" y="2001"/>
              <a:ext cx="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3" name="Line 281"/>
            <p:cNvSpPr>
              <a:spLocks noChangeShapeType="1"/>
            </p:cNvSpPr>
            <p:nvPr/>
          </p:nvSpPr>
          <p:spPr bwMode="auto">
            <a:xfrm>
              <a:off x="3755" y="2027"/>
              <a:ext cx="3" cy="3"/>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4" name="Line 282"/>
            <p:cNvSpPr>
              <a:spLocks noChangeShapeType="1"/>
            </p:cNvSpPr>
            <p:nvPr/>
          </p:nvSpPr>
          <p:spPr bwMode="auto">
            <a:xfrm>
              <a:off x="3755" y="2027"/>
              <a:ext cx="9"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5" name="Line 283"/>
            <p:cNvSpPr>
              <a:spLocks noChangeShapeType="1"/>
            </p:cNvSpPr>
            <p:nvPr/>
          </p:nvSpPr>
          <p:spPr bwMode="auto">
            <a:xfrm>
              <a:off x="3762" y="2032"/>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6" name="Line 284"/>
            <p:cNvSpPr>
              <a:spLocks noChangeShapeType="1"/>
            </p:cNvSpPr>
            <p:nvPr/>
          </p:nvSpPr>
          <p:spPr bwMode="auto">
            <a:xfrm>
              <a:off x="3762" y="2036"/>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7" name="Line 285"/>
            <p:cNvSpPr>
              <a:spLocks noChangeShapeType="1"/>
            </p:cNvSpPr>
            <p:nvPr/>
          </p:nvSpPr>
          <p:spPr bwMode="auto">
            <a:xfrm>
              <a:off x="3764" y="2043"/>
              <a:ext cx="7"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8" name="Line 286"/>
            <p:cNvSpPr>
              <a:spLocks noChangeShapeType="1"/>
            </p:cNvSpPr>
            <p:nvPr/>
          </p:nvSpPr>
          <p:spPr bwMode="auto">
            <a:xfrm>
              <a:off x="3769" y="2045"/>
              <a:ext cx="6"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9" name="Line 287"/>
            <p:cNvSpPr>
              <a:spLocks noChangeShapeType="1"/>
            </p:cNvSpPr>
            <p:nvPr/>
          </p:nvSpPr>
          <p:spPr bwMode="auto">
            <a:xfrm flipV="1">
              <a:off x="3851" y="2021"/>
              <a:ext cx="9" cy="6"/>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0" name="Line 288"/>
            <p:cNvSpPr>
              <a:spLocks noChangeShapeType="1"/>
            </p:cNvSpPr>
            <p:nvPr/>
          </p:nvSpPr>
          <p:spPr bwMode="auto">
            <a:xfrm flipV="1">
              <a:off x="3858" y="2012"/>
              <a:ext cx="2" cy="11"/>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1" name="Line 289"/>
            <p:cNvSpPr>
              <a:spLocks noChangeShapeType="1"/>
            </p:cNvSpPr>
            <p:nvPr/>
          </p:nvSpPr>
          <p:spPr bwMode="auto">
            <a:xfrm flipV="1">
              <a:off x="3860" y="1996"/>
              <a:ext cx="2" cy="18"/>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2" name="Line 290"/>
            <p:cNvSpPr>
              <a:spLocks noChangeShapeType="1"/>
            </p:cNvSpPr>
            <p:nvPr/>
          </p:nvSpPr>
          <p:spPr bwMode="auto">
            <a:xfrm flipH="1" flipV="1">
              <a:off x="3849" y="1992"/>
              <a:ext cx="1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3" name="Line 291"/>
            <p:cNvSpPr>
              <a:spLocks noChangeShapeType="1"/>
            </p:cNvSpPr>
            <p:nvPr/>
          </p:nvSpPr>
          <p:spPr bwMode="auto">
            <a:xfrm flipH="1" flipV="1">
              <a:off x="3847" y="1990"/>
              <a:ext cx="2"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4" name="Line 292"/>
            <p:cNvSpPr>
              <a:spLocks noChangeShapeType="1"/>
            </p:cNvSpPr>
            <p:nvPr/>
          </p:nvSpPr>
          <p:spPr bwMode="auto">
            <a:xfrm flipH="1">
              <a:off x="3820" y="1996"/>
              <a:ext cx="2" cy="3"/>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5" name="Freeform 294"/>
            <p:cNvSpPr>
              <a:spLocks/>
            </p:cNvSpPr>
            <p:nvPr/>
          </p:nvSpPr>
          <p:spPr bwMode="auto">
            <a:xfrm>
              <a:off x="3120" y="2014"/>
              <a:ext cx="20" cy="31"/>
            </a:xfrm>
            <a:custGeom>
              <a:avLst/>
              <a:gdLst/>
              <a:ahLst/>
              <a:cxnLst>
                <a:cxn ang="0">
                  <a:pos x="17" y="16"/>
                </a:cxn>
                <a:cxn ang="0">
                  <a:pos x="7" y="25"/>
                </a:cxn>
                <a:cxn ang="0">
                  <a:pos x="0" y="29"/>
                </a:cxn>
                <a:cxn ang="0">
                  <a:pos x="5" y="15"/>
                </a:cxn>
                <a:cxn ang="0">
                  <a:pos x="10" y="0"/>
                </a:cxn>
                <a:cxn ang="0">
                  <a:pos x="19" y="5"/>
                </a:cxn>
                <a:cxn ang="0">
                  <a:pos x="17" y="16"/>
                </a:cxn>
              </a:cxnLst>
              <a:rect l="0" t="0" r="r" b="b"/>
              <a:pathLst>
                <a:path w="19" h="29">
                  <a:moveTo>
                    <a:pt x="17" y="16"/>
                  </a:moveTo>
                  <a:lnTo>
                    <a:pt x="7" y="25"/>
                  </a:lnTo>
                  <a:lnTo>
                    <a:pt x="0" y="29"/>
                  </a:lnTo>
                  <a:lnTo>
                    <a:pt x="5" y="15"/>
                  </a:lnTo>
                  <a:lnTo>
                    <a:pt x="10" y="0"/>
                  </a:lnTo>
                  <a:lnTo>
                    <a:pt x="19" y="5"/>
                  </a:lnTo>
                  <a:lnTo>
                    <a:pt x="17"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6" name="Freeform 295"/>
            <p:cNvSpPr>
              <a:spLocks/>
            </p:cNvSpPr>
            <p:nvPr/>
          </p:nvSpPr>
          <p:spPr bwMode="auto">
            <a:xfrm>
              <a:off x="3127" y="1963"/>
              <a:ext cx="102" cy="98"/>
            </a:xfrm>
            <a:custGeom>
              <a:avLst/>
              <a:gdLst/>
              <a:ahLst/>
              <a:cxnLst>
                <a:cxn ang="0">
                  <a:pos x="59" y="6"/>
                </a:cxn>
                <a:cxn ang="0">
                  <a:pos x="36" y="6"/>
                </a:cxn>
                <a:cxn ang="0">
                  <a:pos x="13" y="7"/>
                </a:cxn>
                <a:cxn ang="0">
                  <a:pos x="9" y="9"/>
                </a:cxn>
                <a:cxn ang="0">
                  <a:pos x="7" y="17"/>
                </a:cxn>
                <a:cxn ang="0">
                  <a:pos x="1" y="23"/>
                </a:cxn>
                <a:cxn ang="0">
                  <a:pos x="0" y="21"/>
                </a:cxn>
                <a:cxn ang="0">
                  <a:pos x="4" y="44"/>
                </a:cxn>
                <a:cxn ang="0">
                  <a:pos x="13" y="49"/>
                </a:cxn>
                <a:cxn ang="0">
                  <a:pos x="11" y="60"/>
                </a:cxn>
                <a:cxn ang="0">
                  <a:pos x="1" y="69"/>
                </a:cxn>
                <a:cxn ang="0">
                  <a:pos x="3" y="79"/>
                </a:cxn>
                <a:cxn ang="0">
                  <a:pos x="22" y="86"/>
                </a:cxn>
                <a:cxn ang="0">
                  <a:pos x="35" y="77"/>
                </a:cxn>
                <a:cxn ang="0">
                  <a:pos x="49" y="67"/>
                </a:cxn>
                <a:cxn ang="0">
                  <a:pos x="64" y="59"/>
                </a:cxn>
                <a:cxn ang="0">
                  <a:pos x="79" y="49"/>
                </a:cxn>
                <a:cxn ang="0">
                  <a:pos x="79" y="31"/>
                </a:cxn>
                <a:cxn ang="0">
                  <a:pos x="79" y="14"/>
                </a:cxn>
                <a:cxn ang="0">
                  <a:pos x="93" y="1"/>
                </a:cxn>
                <a:cxn ang="0">
                  <a:pos x="88" y="0"/>
                </a:cxn>
                <a:cxn ang="0">
                  <a:pos x="73" y="2"/>
                </a:cxn>
                <a:cxn ang="0">
                  <a:pos x="59" y="6"/>
                </a:cxn>
              </a:cxnLst>
              <a:rect l="0" t="0" r="r" b="b"/>
              <a:pathLst>
                <a:path w="93" h="86">
                  <a:moveTo>
                    <a:pt x="59" y="6"/>
                  </a:moveTo>
                  <a:lnTo>
                    <a:pt x="36" y="6"/>
                  </a:lnTo>
                  <a:lnTo>
                    <a:pt x="13" y="7"/>
                  </a:lnTo>
                  <a:lnTo>
                    <a:pt x="9" y="9"/>
                  </a:lnTo>
                  <a:lnTo>
                    <a:pt x="7" y="17"/>
                  </a:lnTo>
                  <a:lnTo>
                    <a:pt x="1" y="23"/>
                  </a:lnTo>
                  <a:lnTo>
                    <a:pt x="0" y="21"/>
                  </a:lnTo>
                  <a:lnTo>
                    <a:pt x="4" y="44"/>
                  </a:lnTo>
                  <a:lnTo>
                    <a:pt x="13" y="49"/>
                  </a:lnTo>
                  <a:lnTo>
                    <a:pt x="11" y="60"/>
                  </a:lnTo>
                  <a:lnTo>
                    <a:pt x="1" y="69"/>
                  </a:lnTo>
                  <a:lnTo>
                    <a:pt x="3" y="79"/>
                  </a:lnTo>
                  <a:lnTo>
                    <a:pt x="22" y="86"/>
                  </a:lnTo>
                  <a:lnTo>
                    <a:pt x="35" y="77"/>
                  </a:lnTo>
                  <a:lnTo>
                    <a:pt x="49" y="67"/>
                  </a:lnTo>
                  <a:lnTo>
                    <a:pt x="64" y="59"/>
                  </a:lnTo>
                  <a:lnTo>
                    <a:pt x="79" y="49"/>
                  </a:lnTo>
                  <a:lnTo>
                    <a:pt x="79" y="31"/>
                  </a:lnTo>
                  <a:lnTo>
                    <a:pt x="79" y="14"/>
                  </a:lnTo>
                  <a:lnTo>
                    <a:pt x="93" y="1"/>
                  </a:lnTo>
                  <a:lnTo>
                    <a:pt x="88" y="0"/>
                  </a:lnTo>
                  <a:lnTo>
                    <a:pt x="73" y="2"/>
                  </a:lnTo>
                  <a:lnTo>
                    <a:pt x="5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7" name="Freeform 296"/>
            <p:cNvSpPr>
              <a:spLocks/>
            </p:cNvSpPr>
            <p:nvPr/>
          </p:nvSpPr>
          <p:spPr bwMode="auto">
            <a:xfrm>
              <a:off x="3629" y="1874"/>
              <a:ext cx="138" cy="98"/>
            </a:xfrm>
            <a:custGeom>
              <a:avLst/>
              <a:gdLst/>
              <a:ahLst/>
              <a:cxnLst>
                <a:cxn ang="0">
                  <a:pos x="104" y="78"/>
                </a:cxn>
                <a:cxn ang="0">
                  <a:pos x="92" y="79"/>
                </a:cxn>
                <a:cxn ang="0">
                  <a:pos x="74" y="89"/>
                </a:cxn>
                <a:cxn ang="0">
                  <a:pos x="68" y="67"/>
                </a:cxn>
                <a:cxn ang="0">
                  <a:pos x="64" y="67"/>
                </a:cxn>
                <a:cxn ang="0">
                  <a:pos x="60" y="59"/>
                </a:cxn>
                <a:cxn ang="0">
                  <a:pos x="52" y="63"/>
                </a:cxn>
                <a:cxn ang="0">
                  <a:pos x="50" y="73"/>
                </a:cxn>
                <a:cxn ang="0">
                  <a:pos x="39" y="78"/>
                </a:cxn>
                <a:cxn ang="0">
                  <a:pos x="36" y="82"/>
                </a:cxn>
                <a:cxn ang="0">
                  <a:pos x="26" y="82"/>
                </a:cxn>
                <a:cxn ang="0">
                  <a:pos x="18" y="83"/>
                </a:cxn>
                <a:cxn ang="0">
                  <a:pos x="13" y="81"/>
                </a:cxn>
                <a:cxn ang="0">
                  <a:pos x="16" y="69"/>
                </a:cxn>
                <a:cxn ang="0">
                  <a:pos x="20" y="57"/>
                </a:cxn>
                <a:cxn ang="0">
                  <a:pos x="16" y="51"/>
                </a:cxn>
                <a:cxn ang="0">
                  <a:pos x="6" y="45"/>
                </a:cxn>
                <a:cxn ang="0">
                  <a:pos x="0" y="37"/>
                </a:cxn>
                <a:cxn ang="0">
                  <a:pos x="14" y="23"/>
                </a:cxn>
                <a:cxn ang="0">
                  <a:pos x="30" y="10"/>
                </a:cxn>
                <a:cxn ang="0">
                  <a:pos x="40" y="0"/>
                </a:cxn>
                <a:cxn ang="0">
                  <a:pos x="61" y="3"/>
                </a:cxn>
                <a:cxn ang="0">
                  <a:pos x="76" y="12"/>
                </a:cxn>
                <a:cxn ang="0">
                  <a:pos x="58" y="18"/>
                </a:cxn>
                <a:cxn ang="0">
                  <a:pos x="40" y="24"/>
                </a:cxn>
                <a:cxn ang="0">
                  <a:pos x="42" y="36"/>
                </a:cxn>
                <a:cxn ang="0">
                  <a:pos x="67" y="40"/>
                </a:cxn>
                <a:cxn ang="0">
                  <a:pos x="92" y="42"/>
                </a:cxn>
                <a:cxn ang="0">
                  <a:pos x="100" y="57"/>
                </a:cxn>
                <a:cxn ang="0">
                  <a:pos x="115" y="58"/>
                </a:cxn>
                <a:cxn ang="0">
                  <a:pos x="123" y="79"/>
                </a:cxn>
                <a:cxn ang="0">
                  <a:pos x="122" y="81"/>
                </a:cxn>
                <a:cxn ang="0">
                  <a:pos x="109" y="79"/>
                </a:cxn>
                <a:cxn ang="0">
                  <a:pos x="104" y="78"/>
                </a:cxn>
              </a:cxnLst>
              <a:rect l="0" t="0" r="r" b="b"/>
              <a:pathLst>
                <a:path w="123" h="89">
                  <a:moveTo>
                    <a:pt x="104" y="78"/>
                  </a:moveTo>
                  <a:lnTo>
                    <a:pt x="92" y="79"/>
                  </a:lnTo>
                  <a:lnTo>
                    <a:pt x="74" y="89"/>
                  </a:lnTo>
                  <a:lnTo>
                    <a:pt x="68" y="67"/>
                  </a:lnTo>
                  <a:lnTo>
                    <a:pt x="64" y="67"/>
                  </a:lnTo>
                  <a:lnTo>
                    <a:pt x="60" y="59"/>
                  </a:lnTo>
                  <a:lnTo>
                    <a:pt x="52" y="63"/>
                  </a:lnTo>
                  <a:lnTo>
                    <a:pt x="50" y="73"/>
                  </a:lnTo>
                  <a:lnTo>
                    <a:pt x="39" y="78"/>
                  </a:lnTo>
                  <a:lnTo>
                    <a:pt x="36" y="82"/>
                  </a:lnTo>
                  <a:lnTo>
                    <a:pt x="26" y="82"/>
                  </a:lnTo>
                  <a:lnTo>
                    <a:pt x="18" y="83"/>
                  </a:lnTo>
                  <a:lnTo>
                    <a:pt x="13" y="81"/>
                  </a:lnTo>
                  <a:lnTo>
                    <a:pt x="16" y="69"/>
                  </a:lnTo>
                  <a:lnTo>
                    <a:pt x="20" y="57"/>
                  </a:lnTo>
                  <a:lnTo>
                    <a:pt x="16" y="51"/>
                  </a:lnTo>
                  <a:lnTo>
                    <a:pt x="6" y="45"/>
                  </a:lnTo>
                  <a:lnTo>
                    <a:pt x="0" y="37"/>
                  </a:lnTo>
                  <a:lnTo>
                    <a:pt x="14" y="23"/>
                  </a:lnTo>
                  <a:lnTo>
                    <a:pt x="30" y="10"/>
                  </a:lnTo>
                  <a:lnTo>
                    <a:pt x="40" y="0"/>
                  </a:lnTo>
                  <a:lnTo>
                    <a:pt x="61" y="3"/>
                  </a:lnTo>
                  <a:lnTo>
                    <a:pt x="76" y="12"/>
                  </a:lnTo>
                  <a:lnTo>
                    <a:pt x="58" y="18"/>
                  </a:lnTo>
                  <a:lnTo>
                    <a:pt x="40" y="24"/>
                  </a:lnTo>
                  <a:lnTo>
                    <a:pt x="42" y="36"/>
                  </a:lnTo>
                  <a:lnTo>
                    <a:pt x="67" y="40"/>
                  </a:lnTo>
                  <a:lnTo>
                    <a:pt x="92" y="42"/>
                  </a:lnTo>
                  <a:lnTo>
                    <a:pt x="100" y="57"/>
                  </a:lnTo>
                  <a:lnTo>
                    <a:pt x="115" y="58"/>
                  </a:lnTo>
                  <a:lnTo>
                    <a:pt x="123" y="79"/>
                  </a:lnTo>
                  <a:lnTo>
                    <a:pt x="122" y="81"/>
                  </a:lnTo>
                  <a:lnTo>
                    <a:pt x="109" y="79"/>
                  </a:lnTo>
                  <a:lnTo>
                    <a:pt x="104" y="7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8" name="Freeform 297"/>
            <p:cNvSpPr>
              <a:spLocks/>
            </p:cNvSpPr>
            <p:nvPr/>
          </p:nvSpPr>
          <p:spPr bwMode="auto">
            <a:xfrm>
              <a:off x="3415" y="1790"/>
              <a:ext cx="258" cy="173"/>
            </a:xfrm>
            <a:custGeom>
              <a:avLst/>
              <a:gdLst/>
              <a:ahLst/>
              <a:cxnLst>
                <a:cxn ang="0">
                  <a:pos x="165" y="132"/>
                </a:cxn>
                <a:cxn ang="0">
                  <a:pos x="140" y="116"/>
                </a:cxn>
                <a:cxn ang="0">
                  <a:pos x="115" y="101"/>
                </a:cxn>
                <a:cxn ang="0">
                  <a:pos x="102" y="93"/>
                </a:cxn>
                <a:cxn ang="0">
                  <a:pos x="83" y="86"/>
                </a:cxn>
                <a:cxn ang="0">
                  <a:pos x="71" y="68"/>
                </a:cxn>
                <a:cxn ang="0">
                  <a:pos x="51" y="55"/>
                </a:cxn>
                <a:cxn ang="0">
                  <a:pos x="39" y="68"/>
                </a:cxn>
                <a:cxn ang="0">
                  <a:pos x="32" y="72"/>
                </a:cxn>
                <a:cxn ang="0">
                  <a:pos x="36" y="81"/>
                </a:cxn>
                <a:cxn ang="0">
                  <a:pos x="15" y="78"/>
                </a:cxn>
                <a:cxn ang="0">
                  <a:pos x="12" y="61"/>
                </a:cxn>
                <a:cxn ang="0">
                  <a:pos x="7" y="45"/>
                </a:cxn>
                <a:cxn ang="0">
                  <a:pos x="3" y="30"/>
                </a:cxn>
                <a:cxn ang="0">
                  <a:pos x="0" y="13"/>
                </a:cxn>
                <a:cxn ang="0">
                  <a:pos x="18" y="7"/>
                </a:cxn>
                <a:cxn ang="0">
                  <a:pos x="35" y="0"/>
                </a:cxn>
                <a:cxn ang="0">
                  <a:pos x="54" y="11"/>
                </a:cxn>
                <a:cxn ang="0">
                  <a:pos x="73" y="20"/>
                </a:cxn>
                <a:cxn ang="0">
                  <a:pos x="87" y="37"/>
                </a:cxn>
                <a:cxn ang="0">
                  <a:pos x="103" y="38"/>
                </a:cxn>
                <a:cxn ang="0">
                  <a:pos x="117" y="39"/>
                </a:cxn>
                <a:cxn ang="0">
                  <a:pos x="133" y="41"/>
                </a:cxn>
                <a:cxn ang="0">
                  <a:pos x="149" y="42"/>
                </a:cxn>
                <a:cxn ang="0">
                  <a:pos x="164" y="53"/>
                </a:cxn>
                <a:cxn ang="0">
                  <a:pos x="165" y="67"/>
                </a:cxn>
                <a:cxn ang="0">
                  <a:pos x="180" y="74"/>
                </a:cxn>
                <a:cxn ang="0">
                  <a:pos x="193" y="81"/>
                </a:cxn>
                <a:cxn ang="0">
                  <a:pos x="207" y="72"/>
                </a:cxn>
                <a:cxn ang="0">
                  <a:pos x="221" y="61"/>
                </a:cxn>
                <a:cxn ang="0">
                  <a:pos x="231" y="74"/>
                </a:cxn>
                <a:cxn ang="0">
                  <a:pos x="221" y="84"/>
                </a:cxn>
                <a:cxn ang="0">
                  <a:pos x="205" y="97"/>
                </a:cxn>
                <a:cxn ang="0">
                  <a:pos x="191" y="111"/>
                </a:cxn>
                <a:cxn ang="0">
                  <a:pos x="197" y="119"/>
                </a:cxn>
                <a:cxn ang="0">
                  <a:pos x="207" y="125"/>
                </a:cxn>
                <a:cxn ang="0">
                  <a:pos x="211" y="131"/>
                </a:cxn>
                <a:cxn ang="0">
                  <a:pos x="207" y="143"/>
                </a:cxn>
                <a:cxn ang="0">
                  <a:pos x="204" y="155"/>
                </a:cxn>
                <a:cxn ang="0">
                  <a:pos x="189" y="152"/>
                </a:cxn>
                <a:cxn ang="0">
                  <a:pos x="175" y="150"/>
                </a:cxn>
                <a:cxn ang="0">
                  <a:pos x="165" y="132"/>
                </a:cxn>
              </a:cxnLst>
              <a:rect l="0" t="0" r="r" b="b"/>
              <a:pathLst>
                <a:path w="231" h="155">
                  <a:moveTo>
                    <a:pt x="165" y="132"/>
                  </a:moveTo>
                  <a:lnTo>
                    <a:pt x="140" y="116"/>
                  </a:lnTo>
                  <a:lnTo>
                    <a:pt x="115" y="101"/>
                  </a:lnTo>
                  <a:lnTo>
                    <a:pt x="102" y="93"/>
                  </a:lnTo>
                  <a:lnTo>
                    <a:pt x="83" y="86"/>
                  </a:lnTo>
                  <a:lnTo>
                    <a:pt x="71" y="68"/>
                  </a:lnTo>
                  <a:lnTo>
                    <a:pt x="51" y="55"/>
                  </a:lnTo>
                  <a:lnTo>
                    <a:pt x="39" y="68"/>
                  </a:lnTo>
                  <a:lnTo>
                    <a:pt x="32" y="72"/>
                  </a:lnTo>
                  <a:lnTo>
                    <a:pt x="36" y="81"/>
                  </a:lnTo>
                  <a:lnTo>
                    <a:pt x="15" y="78"/>
                  </a:lnTo>
                  <a:lnTo>
                    <a:pt x="12" y="61"/>
                  </a:lnTo>
                  <a:lnTo>
                    <a:pt x="7" y="45"/>
                  </a:lnTo>
                  <a:lnTo>
                    <a:pt x="3" y="30"/>
                  </a:lnTo>
                  <a:lnTo>
                    <a:pt x="0" y="13"/>
                  </a:lnTo>
                  <a:lnTo>
                    <a:pt x="18" y="7"/>
                  </a:lnTo>
                  <a:lnTo>
                    <a:pt x="35" y="0"/>
                  </a:lnTo>
                  <a:lnTo>
                    <a:pt x="54" y="11"/>
                  </a:lnTo>
                  <a:lnTo>
                    <a:pt x="73" y="20"/>
                  </a:lnTo>
                  <a:lnTo>
                    <a:pt x="87" y="37"/>
                  </a:lnTo>
                  <a:lnTo>
                    <a:pt x="103" y="38"/>
                  </a:lnTo>
                  <a:lnTo>
                    <a:pt x="117" y="39"/>
                  </a:lnTo>
                  <a:lnTo>
                    <a:pt x="133" y="41"/>
                  </a:lnTo>
                  <a:lnTo>
                    <a:pt x="149" y="42"/>
                  </a:lnTo>
                  <a:lnTo>
                    <a:pt x="164" y="53"/>
                  </a:lnTo>
                  <a:lnTo>
                    <a:pt x="165" y="67"/>
                  </a:lnTo>
                  <a:lnTo>
                    <a:pt x="180" y="74"/>
                  </a:lnTo>
                  <a:lnTo>
                    <a:pt x="193" y="81"/>
                  </a:lnTo>
                  <a:lnTo>
                    <a:pt x="207" y="72"/>
                  </a:lnTo>
                  <a:lnTo>
                    <a:pt x="221" y="61"/>
                  </a:lnTo>
                  <a:lnTo>
                    <a:pt x="231" y="74"/>
                  </a:lnTo>
                  <a:lnTo>
                    <a:pt x="221" y="84"/>
                  </a:lnTo>
                  <a:lnTo>
                    <a:pt x="205" y="97"/>
                  </a:lnTo>
                  <a:lnTo>
                    <a:pt x="191" y="111"/>
                  </a:lnTo>
                  <a:lnTo>
                    <a:pt x="197" y="119"/>
                  </a:lnTo>
                  <a:lnTo>
                    <a:pt x="207" y="125"/>
                  </a:lnTo>
                  <a:lnTo>
                    <a:pt x="211" y="131"/>
                  </a:lnTo>
                  <a:lnTo>
                    <a:pt x="207" y="143"/>
                  </a:lnTo>
                  <a:lnTo>
                    <a:pt x="204" y="155"/>
                  </a:lnTo>
                  <a:lnTo>
                    <a:pt x="189" y="152"/>
                  </a:lnTo>
                  <a:lnTo>
                    <a:pt x="175" y="150"/>
                  </a:lnTo>
                  <a:lnTo>
                    <a:pt x="165" y="1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9" name="Freeform 298"/>
            <p:cNvSpPr>
              <a:spLocks/>
            </p:cNvSpPr>
            <p:nvPr/>
          </p:nvSpPr>
          <p:spPr bwMode="auto">
            <a:xfrm>
              <a:off x="2860" y="1861"/>
              <a:ext cx="40" cy="29"/>
            </a:xfrm>
            <a:custGeom>
              <a:avLst/>
              <a:gdLst/>
              <a:ahLst/>
              <a:cxnLst>
                <a:cxn ang="0">
                  <a:pos x="10" y="27"/>
                </a:cxn>
                <a:cxn ang="0">
                  <a:pos x="0" y="9"/>
                </a:cxn>
                <a:cxn ang="0">
                  <a:pos x="3" y="8"/>
                </a:cxn>
                <a:cxn ang="0">
                  <a:pos x="3" y="5"/>
                </a:cxn>
                <a:cxn ang="0">
                  <a:pos x="8" y="4"/>
                </a:cxn>
                <a:cxn ang="0">
                  <a:pos x="11" y="5"/>
                </a:cxn>
                <a:cxn ang="0">
                  <a:pos x="14" y="2"/>
                </a:cxn>
                <a:cxn ang="0">
                  <a:pos x="16" y="3"/>
                </a:cxn>
                <a:cxn ang="0">
                  <a:pos x="18" y="3"/>
                </a:cxn>
                <a:cxn ang="0">
                  <a:pos x="21" y="2"/>
                </a:cxn>
                <a:cxn ang="0">
                  <a:pos x="26" y="0"/>
                </a:cxn>
                <a:cxn ang="0">
                  <a:pos x="29" y="4"/>
                </a:cxn>
                <a:cxn ang="0">
                  <a:pos x="32" y="3"/>
                </a:cxn>
                <a:cxn ang="0">
                  <a:pos x="34" y="5"/>
                </a:cxn>
                <a:cxn ang="0">
                  <a:pos x="36" y="18"/>
                </a:cxn>
                <a:cxn ang="0">
                  <a:pos x="10" y="27"/>
                </a:cxn>
              </a:cxnLst>
              <a:rect l="0" t="0" r="r" b="b"/>
              <a:pathLst>
                <a:path w="36" h="27">
                  <a:moveTo>
                    <a:pt x="10" y="27"/>
                  </a:moveTo>
                  <a:lnTo>
                    <a:pt x="0" y="9"/>
                  </a:lnTo>
                  <a:lnTo>
                    <a:pt x="3" y="8"/>
                  </a:lnTo>
                  <a:lnTo>
                    <a:pt x="3" y="5"/>
                  </a:lnTo>
                  <a:lnTo>
                    <a:pt x="8" y="4"/>
                  </a:lnTo>
                  <a:lnTo>
                    <a:pt x="11" y="5"/>
                  </a:lnTo>
                  <a:lnTo>
                    <a:pt x="14" y="2"/>
                  </a:lnTo>
                  <a:lnTo>
                    <a:pt x="16" y="3"/>
                  </a:lnTo>
                  <a:lnTo>
                    <a:pt x="18" y="3"/>
                  </a:lnTo>
                  <a:lnTo>
                    <a:pt x="21" y="2"/>
                  </a:lnTo>
                  <a:lnTo>
                    <a:pt x="26" y="0"/>
                  </a:lnTo>
                  <a:lnTo>
                    <a:pt x="29" y="4"/>
                  </a:lnTo>
                  <a:lnTo>
                    <a:pt x="32" y="3"/>
                  </a:lnTo>
                  <a:lnTo>
                    <a:pt x="34" y="5"/>
                  </a:lnTo>
                  <a:lnTo>
                    <a:pt x="36" y="18"/>
                  </a:lnTo>
                  <a:lnTo>
                    <a:pt x="1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0" name="Freeform 299"/>
            <p:cNvSpPr>
              <a:spLocks/>
            </p:cNvSpPr>
            <p:nvPr/>
          </p:nvSpPr>
          <p:spPr bwMode="auto">
            <a:xfrm>
              <a:off x="2889" y="1823"/>
              <a:ext cx="98" cy="58"/>
            </a:xfrm>
            <a:custGeom>
              <a:avLst/>
              <a:gdLst/>
              <a:ahLst/>
              <a:cxnLst>
                <a:cxn ang="0">
                  <a:pos x="5" y="5"/>
                </a:cxn>
                <a:cxn ang="0">
                  <a:pos x="1" y="0"/>
                </a:cxn>
                <a:cxn ang="0">
                  <a:pos x="0" y="11"/>
                </a:cxn>
                <a:cxn ang="0">
                  <a:pos x="6" y="20"/>
                </a:cxn>
                <a:cxn ang="0">
                  <a:pos x="0" y="30"/>
                </a:cxn>
                <a:cxn ang="0">
                  <a:pos x="5" y="36"/>
                </a:cxn>
                <a:cxn ang="0">
                  <a:pos x="7" y="38"/>
                </a:cxn>
                <a:cxn ang="0">
                  <a:pos x="9" y="51"/>
                </a:cxn>
                <a:cxn ang="0">
                  <a:pos x="25" y="49"/>
                </a:cxn>
                <a:cxn ang="0">
                  <a:pos x="50" y="51"/>
                </a:cxn>
                <a:cxn ang="0">
                  <a:pos x="56" y="47"/>
                </a:cxn>
                <a:cxn ang="0">
                  <a:pos x="59" y="44"/>
                </a:cxn>
                <a:cxn ang="0">
                  <a:pos x="61" y="41"/>
                </a:cxn>
                <a:cxn ang="0">
                  <a:pos x="83" y="39"/>
                </a:cxn>
                <a:cxn ang="0">
                  <a:pos x="77" y="32"/>
                </a:cxn>
                <a:cxn ang="0">
                  <a:pos x="79" y="25"/>
                </a:cxn>
                <a:cxn ang="0">
                  <a:pos x="83" y="14"/>
                </a:cxn>
                <a:cxn ang="0">
                  <a:pos x="86" y="8"/>
                </a:cxn>
                <a:cxn ang="0">
                  <a:pos x="59" y="2"/>
                </a:cxn>
                <a:cxn ang="0">
                  <a:pos x="37" y="9"/>
                </a:cxn>
                <a:cxn ang="0">
                  <a:pos x="20" y="7"/>
                </a:cxn>
                <a:cxn ang="0">
                  <a:pos x="5" y="5"/>
                </a:cxn>
              </a:cxnLst>
              <a:rect l="0" t="0" r="r" b="b"/>
              <a:pathLst>
                <a:path w="86" h="51">
                  <a:moveTo>
                    <a:pt x="5" y="5"/>
                  </a:moveTo>
                  <a:lnTo>
                    <a:pt x="1" y="0"/>
                  </a:lnTo>
                  <a:lnTo>
                    <a:pt x="0" y="11"/>
                  </a:lnTo>
                  <a:lnTo>
                    <a:pt x="6" y="20"/>
                  </a:lnTo>
                  <a:lnTo>
                    <a:pt x="0" y="30"/>
                  </a:lnTo>
                  <a:lnTo>
                    <a:pt x="5" y="36"/>
                  </a:lnTo>
                  <a:lnTo>
                    <a:pt x="7" y="38"/>
                  </a:lnTo>
                  <a:lnTo>
                    <a:pt x="9" y="51"/>
                  </a:lnTo>
                  <a:lnTo>
                    <a:pt x="25" y="49"/>
                  </a:lnTo>
                  <a:lnTo>
                    <a:pt x="50" y="51"/>
                  </a:lnTo>
                  <a:lnTo>
                    <a:pt x="56" y="47"/>
                  </a:lnTo>
                  <a:lnTo>
                    <a:pt x="59" y="44"/>
                  </a:lnTo>
                  <a:lnTo>
                    <a:pt x="61" y="41"/>
                  </a:lnTo>
                  <a:lnTo>
                    <a:pt x="83" y="39"/>
                  </a:lnTo>
                  <a:lnTo>
                    <a:pt x="77" y="32"/>
                  </a:lnTo>
                  <a:lnTo>
                    <a:pt x="79" y="25"/>
                  </a:lnTo>
                  <a:lnTo>
                    <a:pt x="83" y="14"/>
                  </a:lnTo>
                  <a:lnTo>
                    <a:pt x="86" y="8"/>
                  </a:lnTo>
                  <a:lnTo>
                    <a:pt x="59" y="2"/>
                  </a:lnTo>
                  <a:lnTo>
                    <a:pt x="37" y="9"/>
                  </a:lnTo>
                  <a:lnTo>
                    <a:pt x="20" y="7"/>
                  </a:lnTo>
                  <a:lnTo>
                    <a:pt x="5"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1" name="Freeform 300"/>
            <p:cNvSpPr>
              <a:spLocks/>
            </p:cNvSpPr>
            <p:nvPr/>
          </p:nvSpPr>
          <p:spPr bwMode="auto">
            <a:xfrm>
              <a:off x="2842" y="1856"/>
              <a:ext cx="29" cy="58"/>
            </a:xfrm>
            <a:custGeom>
              <a:avLst/>
              <a:gdLst/>
              <a:ahLst/>
              <a:cxnLst>
                <a:cxn ang="0">
                  <a:pos x="0" y="12"/>
                </a:cxn>
                <a:cxn ang="0">
                  <a:pos x="2" y="36"/>
                </a:cxn>
                <a:cxn ang="0">
                  <a:pos x="13" y="50"/>
                </a:cxn>
                <a:cxn ang="0">
                  <a:pos x="17" y="45"/>
                </a:cxn>
                <a:cxn ang="0">
                  <a:pos x="25" y="31"/>
                </a:cxn>
                <a:cxn ang="0">
                  <a:pos x="25" y="30"/>
                </a:cxn>
                <a:cxn ang="0">
                  <a:pos x="15" y="12"/>
                </a:cxn>
                <a:cxn ang="0">
                  <a:pos x="11" y="2"/>
                </a:cxn>
                <a:cxn ang="0">
                  <a:pos x="2" y="0"/>
                </a:cxn>
                <a:cxn ang="0">
                  <a:pos x="0" y="12"/>
                </a:cxn>
              </a:cxnLst>
              <a:rect l="0" t="0" r="r" b="b"/>
              <a:pathLst>
                <a:path w="25" h="50">
                  <a:moveTo>
                    <a:pt x="0" y="12"/>
                  </a:moveTo>
                  <a:lnTo>
                    <a:pt x="2" y="36"/>
                  </a:lnTo>
                  <a:lnTo>
                    <a:pt x="13" y="50"/>
                  </a:lnTo>
                  <a:lnTo>
                    <a:pt x="17" y="45"/>
                  </a:lnTo>
                  <a:lnTo>
                    <a:pt x="25" y="31"/>
                  </a:lnTo>
                  <a:lnTo>
                    <a:pt x="25" y="30"/>
                  </a:lnTo>
                  <a:lnTo>
                    <a:pt x="15" y="12"/>
                  </a:lnTo>
                  <a:lnTo>
                    <a:pt x="11" y="2"/>
                  </a:lnTo>
                  <a:lnTo>
                    <a:pt x="2" y="0"/>
                  </a:lnTo>
                  <a:lnTo>
                    <a:pt x="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2" name="Freeform 301"/>
            <p:cNvSpPr>
              <a:spLocks/>
            </p:cNvSpPr>
            <p:nvPr/>
          </p:nvSpPr>
          <p:spPr bwMode="auto">
            <a:xfrm>
              <a:off x="3220" y="1876"/>
              <a:ext cx="75" cy="51"/>
            </a:xfrm>
            <a:custGeom>
              <a:avLst/>
              <a:gdLst/>
              <a:ahLst/>
              <a:cxnLst>
                <a:cxn ang="0">
                  <a:pos x="10" y="7"/>
                </a:cxn>
                <a:cxn ang="0">
                  <a:pos x="0" y="0"/>
                </a:cxn>
                <a:cxn ang="0">
                  <a:pos x="22" y="0"/>
                </a:cxn>
                <a:cxn ang="0">
                  <a:pos x="44" y="1"/>
                </a:cxn>
                <a:cxn ang="0">
                  <a:pos x="58" y="2"/>
                </a:cxn>
                <a:cxn ang="0">
                  <a:pos x="57" y="19"/>
                </a:cxn>
                <a:cxn ang="0">
                  <a:pos x="63" y="21"/>
                </a:cxn>
                <a:cxn ang="0">
                  <a:pos x="58" y="27"/>
                </a:cxn>
                <a:cxn ang="0">
                  <a:pos x="69" y="43"/>
                </a:cxn>
                <a:cxn ang="0">
                  <a:pos x="63" y="45"/>
                </a:cxn>
                <a:cxn ang="0">
                  <a:pos x="58" y="42"/>
                </a:cxn>
                <a:cxn ang="0">
                  <a:pos x="57" y="39"/>
                </a:cxn>
                <a:cxn ang="0">
                  <a:pos x="53" y="37"/>
                </a:cxn>
                <a:cxn ang="0">
                  <a:pos x="50" y="37"/>
                </a:cxn>
                <a:cxn ang="0">
                  <a:pos x="46" y="36"/>
                </a:cxn>
                <a:cxn ang="0">
                  <a:pos x="41" y="33"/>
                </a:cxn>
                <a:cxn ang="0">
                  <a:pos x="35" y="33"/>
                </a:cxn>
                <a:cxn ang="0">
                  <a:pos x="22" y="27"/>
                </a:cxn>
                <a:cxn ang="0">
                  <a:pos x="16" y="18"/>
                </a:cxn>
                <a:cxn ang="0">
                  <a:pos x="10" y="7"/>
                </a:cxn>
              </a:cxnLst>
              <a:rect l="0" t="0" r="r" b="b"/>
              <a:pathLst>
                <a:path w="69" h="45">
                  <a:moveTo>
                    <a:pt x="10" y="7"/>
                  </a:moveTo>
                  <a:lnTo>
                    <a:pt x="0" y="0"/>
                  </a:lnTo>
                  <a:lnTo>
                    <a:pt x="22" y="0"/>
                  </a:lnTo>
                  <a:lnTo>
                    <a:pt x="44" y="1"/>
                  </a:lnTo>
                  <a:lnTo>
                    <a:pt x="58" y="2"/>
                  </a:lnTo>
                  <a:lnTo>
                    <a:pt x="57" y="19"/>
                  </a:lnTo>
                  <a:lnTo>
                    <a:pt x="63" y="21"/>
                  </a:lnTo>
                  <a:lnTo>
                    <a:pt x="58" y="27"/>
                  </a:lnTo>
                  <a:lnTo>
                    <a:pt x="69" y="43"/>
                  </a:lnTo>
                  <a:lnTo>
                    <a:pt x="63" y="45"/>
                  </a:lnTo>
                  <a:lnTo>
                    <a:pt x="58" y="42"/>
                  </a:lnTo>
                  <a:lnTo>
                    <a:pt x="57" y="39"/>
                  </a:lnTo>
                  <a:lnTo>
                    <a:pt x="53" y="37"/>
                  </a:lnTo>
                  <a:lnTo>
                    <a:pt x="50" y="37"/>
                  </a:lnTo>
                  <a:lnTo>
                    <a:pt x="46" y="36"/>
                  </a:lnTo>
                  <a:lnTo>
                    <a:pt x="41" y="33"/>
                  </a:lnTo>
                  <a:lnTo>
                    <a:pt x="35" y="33"/>
                  </a:lnTo>
                  <a:lnTo>
                    <a:pt x="22" y="27"/>
                  </a:lnTo>
                  <a:lnTo>
                    <a:pt x="16" y="18"/>
                  </a:lnTo>
                  <a:lnTo>
                    <a:pt x="10"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3" name="Freeform 302"/>
            <p:cNvSpPr>
              <a:spLocks/>
            </p:cNvSpPr>
            <p:nvPr/>
          </p:nvSpPr>
          <p:spPr bwMode="auto">
            <a:xfrm>
              <a:off x="3282" y="1870"/>
              <a:ext cx="67" cy="69"/>
            </a:xfrm>
            <a:custGeom>
              <a:avLst/>
              <a:gdLst/>
              <a:ahLst/>
              <a:cxnLst>
                <a:cxn ang="0">
                  <a:pos x="12" y="49"/>
                </a:cxn>
                <a:cxn ang="0">
                  <a:pos x="1" y="33"/>
                </a:cxn>
                <a:cxn ang="0">
                  <a:pos x="6" y="27"/>
                </a:cxn>
                <a:cxn ang="0">
                  <a:pos x="0" y="25"/>
                </a:cxn>
                <a:cxn ang="0">
                  <a:pos x="1" y="8"/>
                </a:cxn>
                <a:cxn ang="0">
                  <a:pos x="6" y="0"/>
                </a:cxn>
                <a:cxn ang="0">
                  <a:pos x="30" y="4"/>
                </a:cxn>
                <a:cxn ang="0">
                  <a:pos x="38" y="15"/>
                </a:cxn>
                <a:cxn ang="0">
                  <a:pos x="59" y="27"/>
                </a:cxn>
                <a:cxn ang="0">
                  <a:pos x="49" y="30"/>
                </a:cxn>
                <a:cxn ang="0">
                  <a:pos x="44" y="50"/>
                </a:cxn>
                <a:cxn ang="0">
                  <a:pos x="43" y="62"/>
                </a:cxn>
                <a:cxn ang="0">
                  <a:pos x="30" y="52"/>
                </a:cxn>
                <a:cxn ang="0">
                  <a:pos x="31" y="49"/>
                </a:cxn>
                <a:cxn ang="0">
                  <a:pos x="26" y="39"/>
                </a:cxn>
                <a:cxn ang="0">
                  <a:pos x="12" y="49"/>
                </a:cxn>
              </a:cxnLst>
              <a:rect l="0" t="0" r="r" b="b"/>
              <a:pathLst>
                <a:path w="59" h="62">
                  <a:moveTo>
                    <a:pt x="12" y="49"/>
                  </a:moveTo>
                  <a:lnTo>
                    <a:pt x="1" y="33"/>
                  </a:lnTo>
                  <a:lnTo>
                    <a:pt x="6" y="27"/>
                  </a:lnTo>
                  <a:lnTo>
                    <a:pt x="0" y="25"/>
                  </a:lnTo>
                  <a:lnTo>
                    <a:pt x="1" y="8"/>
                  </a:lnTo>
                  <a:lnTo>
                    <a:pt x="6" y="0"/>
                  </a:lnTo>
                  <a:lnTo>
                    <a:pt x="30" y="4"/>
                  </a:lnTo>
                  <a:lnTo>
                    <a:pt x="38" y="15"/>
                  </a:lnTo>
                  <a:lnTo>
                    <a:pt x="59" y="27"/>
                  </a:lnTo>
                  <a:lnTo>
                    <a:pt x="49" y="30"/>
                  </a:lnTo>
                  <a:lnTo>
                    <a:pt x="44" y="50"/>
                  </a:lnTo>
                  <a:lnTo>
                    <a:pt x="43" y="62"/>
                  </a:lnTo>
                  <a:lnTo>
                    <a:pt x="30" y="52"/>
                  </a:lnTo>
                  <a:lnTo>
                    <a:pt x="31" y="49"/>
                  </a:lnTo>
                  <a:lnTo>
                    <a:pt x="26" y="39"/>
                  </a:lnTo>
                  <a:lnTo>
                    <a:pt x="12"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4" name="Freeform 303"/>
            <p:cNvSpPr>
              <a:spLocks/>
            </p:cNvSpPr>
            <p:nvPr/>
          </p:nvSpPr>
          <p:spPr bwMode="auto">
            <a:xfrm>
              <a:off x="3260" y="1914"/>
              <a:ext cx="29" cy="16"/>
            </a:xfrm>
            <a:custGeom>
              <a:avLst/>
              <a:gdLst/>
              <a:ahLst/>
              <a:cxnLst>
                <a:cxn ang="0">
                  <a:pos x="28" y="12"/>
                </a:cxn>
                <a:cxn ang="0">
                  <a:pos x="22" y="15"/>
                </a:cxn>
                <a:cxn ang="0">
                  <a:pos x="4" y="5"/>
                </a:cxn>
                <a:cxn ang="0">
                  <a:pos x="1" y="1"/>
                </a:cxn>
                <a:cxn ang="0">
                  <a:pos x="0" y="0"/>
                </a:cxn>
                <a:cxn ang="0">
                  <a:pos x="6" y="0"/>
                </a:cxn>
                <a:cxn ang="0">
                  <a:pos x="11" y="3"/>
                </a:cxn>
                <a:cxn ang="0">
                  <a:pos x="15" y="4"/>
                </a:cxn>
                <a:cxn ang="0">
                  <a:pos x="18" y="4"/>
                </a:cxn>
                <a:cxn ang="0">
                  <a:pos x="22" y="6"/>
                </a:cxn>
                <a:cxn ang="0">
                  <a:pos x="23" y="9"/>
                </a:cxn>
                <a:cxn ang="0">
                  <a:pos x="28" y="12"/>
                </a:cxn>
              </a:cxnLst>
              <a:rect l="0" t="0" r="r" b="b"/>
              <a:pathLst>
                <a:path w="28" h="15">
                  <a:moveTo>
                    <a:pt x="28" y="12"/>
                  </a:moveTo>
                  <a:lnTo>
                    <a:pt x="22" y="15"/>
                  </a:lnTo>
                  <a:lnTo>
                    <a:pt x="4" y="5"/>
                  </a:lnTo>
                  <a:lnTo>
                    <a:pt x="1" y="1"/>
                  </a:lnTo>
                  <a:lnTo>
                    <a:pt x="0" y="0"/>
                  </a:lnTo>
                  <a:lnTo>
                    <a:pt x="6" y="0"/>
                  </a:lnTo>
                  <a:lnTo>
                    <a:pt x="11" y="3"/>
                  </a:lnTo>
                  <a:lnTo>
                    <a:pt x="15" y="4"/>
                  </a:lnTo>
                  <a:lnTo>
                    <a:pt x="18" y="4"/>
                  </a:lnTo>
                  <a:lnTo>
                    <a:pt x="22" y="6"/>
                  </a:lnTo>
                  <a:lnTo>
                    <a:pt x="23" y="9"/>
                  </a:lnTo>
                  <a:lnTo>
                    <a:pt x="2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5" name="Freeform 304"/>
            <p:cNvSpPr>
              <a:spLocks/>
            </p:cNvSpPr>
            <p:nvPr/>
          </p:nvSpPr>
          <p:spPr bwMode="auto">
            <a:xfrm>
              <a:off x="2858" y="1874"/>
              <a:ext cx="102" cy="102"/>
            </a:xfrm>
            <a:custGeom>
              <a:avLst/>
              <a:gdLst/>
              <a:ahLst/>
              <a:cxnLst>
                <a:cxn ang="0">
                  <a:pos x="17" y="49"/>
                </a:cxn>
                <a:cxn ang="0">
                  <a:pos x="7" y="45"/>
                </a:cxn>
                <a:cxn ang="0">
                  <a:pos x="0" y="36"/>
                </a:cxn>
                <a:cxn ang="0">
                  <a:pos x="4" y="31"/>
                </a:cxn>
                <a:cxn ang="0">
                  <a:pos x="12" y="17"/>
                </a:cxn>
                <a:cxn ang="0">
                  <a:pos x="12" y="16"/>
                </a:cxn>
                <a:cxn ang="0">
                  <a:pos x="38" y="7"/>
                </a:cxn>
                <a:cxn ang="0">
                  <a:pos x="54" y="5"/>
                </a:cxn>
                <a:cxn ang="0">
                  <a:pos x="79" y="7"/>
                </a:cxn>
                <a:cxn ang="0">
                  <a:pos x="85" y="3"/>
                </a:cxn>
                <a:cxn ang="0">
                  <a:pos x="88" y="0"/>
                </a:cxn>
                <a:cxn ang="0">
                  <a:pos x="91" y="7"/>
                </a:cxn>
                <a:cxn ang="0">
                  <a:pos x="85" y="18"/>
                </a:cxn>
                <a:cxn ang="0">
                  <a:pos x="68" y="15"/>
                </a:cxn>
                <a:cxn ang="0">
                  <a:pos x="53" y="19"/>
                </a:cxn>
                <a:cxn ang="0">
                  <a:pos x="60" y="27"/>
                </a:cxn>
                <a:cxn ang="0">
                  <a:pos x="53" y="28"/>
                </a:cxn>
                <a:cxn ang="0">
                  <a:pos x="54" y="30"/>
                </a:cxn>
                <a:cxn ang="0">
                  <a:pos x="48" y="29"/>
                </a:cxn>
                <a:cxn ang="0">
                  <a:pos x="52" y="33"/>
                </a:cxn>
                <a:cxn ang="0">
                  <a:pos x="41" y="22"/>
                </a:cxn>
                <a:cxn ang="0">
                  <a:pos x="37" y="24"/>
                </a:cxn>
                <a:cxn ang="0">
                  <a:pos x="43" y="40"/>
                </a:cxn>
                <a:cxn ang="0">
                  <a:pos x="47" y="47"/>
                </a:cxn>
                <a:cxn ang="0">
                  <a:pos x="41" y="45"/>
                </a:cxn>
                <a:cxn ang="0">
                  <a:pos x="43" y="51"/>
                </a:cxn>
                <a:cxn ang="0">
                  <a:pos x="40" y="52"/>
                </a:cxn>
                <a:cxn ang="0">
                  <a:pos x="60" y="65"/>
                </a:cxn>
                <a:cxn ang="0">
                  <a:pos x="59" y="71"/>
                </a:cxn>
                <a:cxn ang="0">
                  <a:pos x="52" y="67"/>
                </a:cxn>
                <a:cxn ang="0">
                  <a:pos x="48" y="70"/>
                </a:cxn>
                <a:cxn ang="0">
                  <a:pos x="52" y="77"/>
                </a:cxn>
                <a:cxn ang="0">
                  <a:pos x="43" y="77"/>
                </a:cxn>
                <a:cxn ang="0">
                  <a:pos x="48" y="94"/>
                </a:cxn>
                <a:cxn ang="0">
                  <a:pos x="41" y="90"/>
                </a:cxn>
                <a:cxn ang="0">
                  <a:pos x="38" y="94"/>
                </a:cxn>
                <a:cxn ang="0">
                  <a:pos x="31" y="85"/>
                </a:cxn>
                <a:cxn ang="0">
                  <a:pos x="29" y="89"/>
                </a:cxn>
                <a:cxn ang="0">
                  <a:pos x="22" y="73"/>
                </a:cxn>
                <a:cxn ang="0">
                  <a:pos x="20" y="66"/>
                </a:cxn>
                <a:cxn ang="0">
                  <a:pos x="32" y="63"/>
                </a:cxn>
                <a:cxn ang="0">
                  <a:pos x="46" y="66"/>
                </a:cxn>
                <a:cxn ang="0">
                  <a:pos x="46" y="63"/>
                </a:cxn>
                <a:cxn ang="0">
                  <a:pos x="37" y="59"/>
                </a:cxn>
                <a:cxn ang="0">
                  <a:pos x="20" y="58"/>
                </a:cxn>
                <a:cxn ang="0">
                  <a:pos x="17" y="59"/>
                </a:cxn>
                <a:cxn ang="0">
                  <a:pos x="13" y="51"/>
                </a:cxn>
                <a:cxn ang="0">
                  <a:pos x="17" y="49"/>
                </a:cxn>
              </a:cxnLst>
              <a:rect l="0" t="0" r="r" b="b"/>
              <a:pathLst>
                <a:path w="91" h="94">
                  <a:moveTo>
                    <a:pt x="17" y="49"/>
                  </a:moveTo>
                  <a:lnTo>
                    <a:pt x="7" y="45"/>
                  </a:lnTo>
                  <a:lnTo>
                    <a:pt x="0" y="36"/>
                  </a:lnTo>
                  <a:lnTo>
                    <a:pt x="4" y="31"/>
                  </a:lnTo>
                  <a:lnTo>
                    <a:pt x="12" y="17"/>
                  </a:lnTo>
                  <a:lnTo>
                    <a:pt x="12" y="16"/>
                  </a:lnTo>
                  <a:lnTo>
                    <a:pt x="38" y="7"/>
                  </a:lnTo>
                  <a:lnTo>
                    <a:pt x="54" y="5"/>
                  </a:lnTo>
                  <a:lnTo>
                    <a:pt x="79" y="7"/>
                  </a:lnTo>
                  <a:lnTo>
                    <a:pt x="85" y="3"/>
                  </a:lnTo>
                  <a:lnTo>
                    <a:pt x="88" y="0"/>
                  </a:lnTo>
                  <a:lnTo>
                    <a:pt x="91" y="7"/>
                  </a:lnTo>
                  <a:lnTo>
                    <a:pt x="85" y="18"/>
                  </a:lnTo>
                  <a:lnTo>
                    <a:pt x="68" y="15"/>
                  </a:lnTo>
                  <a:lnTo>
                    <a:pt x="53" y="19"/>
                  </a:lnTo>
                  <a:lnTo>
                    <a:pt x="60" y="27"/>
                  </a:lnTo>
                  <a:lnTo>
                    <a:pt x="53" y="28"/>
                  </a:lnTo>
                  <a:lnTo>
                    <a:pt x="54" y="30"/>
                  </a:lnTo>
                  <a:lnTo>
                    <a:pt x="48" y="29"/>
                  </a:lnTo>
                  <a:lnTo>
                    <a:pt x="52" y="33"/>
                  </a:lnTo>
                  <a:lnTo>
                    <a:pt x="41" y="22"/>
                  </a:lnTo>
                  <a:lnTo>
                    <a:pt x="37" y="24"/>
                  </a:lnTo>
                  <a:lnTo>
                    <a:pt x="43" y="40"/>
                  </a:lnTo>
                  <a:lnTo>
                    <a:pt x="47" y="47"/>
                  </a:lnTo>
                  <a:lnTo>
                    <a:pt x="41" y="45"/>
                  </a:lnTo>
                  <a:lnTo>
                    <a:pt x="43" y="51"/>
                  </a:lnTo>
                  <a:lnTo>
                    <a:pt x="40" y="52"/>
                  </a:lnTo>
                  <a:lnTo>
                    <a:pt x="60" y="65"/>
                  </a:lnTo>
                  <a:lnTo>
                    <a:pt x="59" y="71"/>
                  </a:lnTo>
                  <a:lnTo>
                    <a:pt x="52" y="67"/>
                  </a:lnTo>
                  <a:lnTo>
                    <a:pt x="48" y="70"/>
                  </a:lnTo>
                  <a:lnTo>
                    <a:pt x="52" y="77"/>
                  </a:lnTo>
                  <a:lnTo>
                    <a:pt x="43" y="77"/>
                  </a:lnTo>
                  <a:lnTo>
                    <a:pt x="48" y="94"/>
                  </a:lnTo>
                  <a:lnTo>
                    <a:pt x="41" y="90"/>
                  </a:lnTo>
                  <a:lnTo>
                    <a:pt x="38" y="94"/>
                  </a:lnTo>
                  <a:lnTo>
                    <a:pt x="31" y="85"/>
                  </a:lnTo>
                  <a:lnTo>
                    <a:pt x="29" y="89"/>
                  </a:lnTo>
                  <a:lnTo>
                    <a:pt x="22" y="73"/>
                  </a:lnTo>
                  <a:lnTo>
                    <a:pt x="20" y="66"/>
                  </a:lnTo>
                  <a:lnTo>
                    <a:pt x="32" y="63"/>
                  </a:lnTo>
                  <a:lnTo>
                    <a:pt x="46" y="66"/>
                  </a:lnTo>
                  <a:lnTo>
                    <a:pt x="46" y="63"/>
                  </a:lnTo>
                  <a:lnTo>
                    <a:pt x="37" y="59"/>
                  </a:lnTo>
                  <a:lnTo>
                    <a:pt x="20" y="58"/>
                  </a:lnTo>
                  <a:lnTo>
                    <a:pt x="17" y="59"/>
                  </a:lnTo>
                  <a:lnTo>
                    <a:pt x="13" y="51"/>
                  </a:lnTo>
                  <a:lnTo>
                    <a:pt x="17"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6" name="Freeform 305"/>
            <p:cNvSpPr>
              <a:spLocks/>
            </p:cNvSpPr>
            <p:nvPr/>
          </p:nvSpPr>
          <p:spPr bwMode="auto">
            <a:xfrm>
              <a:off x="2922" y="1996"/>
              <a:ext cx="47" cy="11"/>
            </a:xfrm>
            <a:custGeom>
              <a:avLst/>
              <a:gdLst/>
              <a:ahLst/>
              <a:cxnLst>
                <a:cxn ang="0">
                  <a:pos x="31" y="4"/>
                </a:cxn>
                <a:cxn ang="0">
                  <a:pos x="8" y="0"/>
                </a:cxn>
                <a:cxn ang="0">
                  <a:pos x="1" y="0"/>
                </a:cxn>
                <a:cxn ang="0">
                  <a:pos x="0" y="6"/>
                </a:cxn>
                <a:cxn ang="0">
                  <a:pos x="14" y="8"/>
                </a:cxn>
                <a:cxn ang="0">
                  <a:pos x="29" y="9"/>
                </a:cxn>
                <a:cxn ang="0">
                  <a:pos x="41" y="6"/>
                </a:cxn>
                <a:cxn ang="0">
                  <a:pos x="31" y="4"/>
                </a:cxn>
              </a:cxnLst>
              <a:rect l="0" t="0" r="r" b="b"/>
              <a:pathLst>
                <a:path w="41" h="9">
                  <a:moveTo>
                    <a:pt x="31" y="4"/>
                  </a:moveTo>
                  <a:lnTo>
                    <a:pt x="8" y="0"/>
                  </a:lnTo>
                  <a:lnTo>
                    <a:pt x="1" y="0"/>
                  </a:lnTo>
                  <a:lnTo>
                    <a:pt x="0" y="6"/>
                  </a:lnTo>
                  <a:lnTo>
                    <a:pt x="14" y="8"/>
                  </a:lnTo>
                  <a:lnTo>
                    <a:pt x="29" y="9"/>
                  </a:lnTo>
                  <a:lnTo>
                    <a:pt x="41" y="6"/>
                  </a:lnTo>
                  <a:lnTo>
                    <a:pt x="3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7" name="Freeform 306"/>
            <p:cNvSpPr>
              <a:spLocks/>
            </p:cNvSpPr>
            <p:nvPr/>
          </p:nvSpPr>
          <p:spPr bwMode="auto">
            <a:xfrm>
              <a:off x="2907" y="1927"/>
              <a:ext cx="26" cy="18"/>
            </a:xfrm>
            <a:custGeom>
              <a:avLst/>
              <a:gdLst/>
              <a:ahLst/>
              <a:cxnLst>
                <a:cxn ang="0">
                  <a:pos x="24" y="16"/>
                </a:cxn>
                <a:cxn ang="0">
                  <a:pos x="11" y="4"/>
                </a:cxn>
                <a:cxn ang="0">
                  <a:pos x="0" y="0"/>
                </a:cxn>
                <a:cxn ang="0">
                  <a:pos x="12" y="8"/>
                </a:cxn>
                <a:cxn ang="0">
                  <a:pos x="24" y="16"/>
                </a:cxn>
              </a:cxnLst>
              <a:rect l="0" t="0" r="r" b="b"/>
              <a:pathLst>
                <a:path w="24" h="16">
                  <a:moveTo>
                    <a:pt x="24" y="16"/>
                  </a:moveTo>
                  <a:lnTo>
                    <a:pt x="11" y="4"/>
                  </a:lnTo>
                  <a:lnTo>
                    <a:pt x="0" y="0"/>
                  </a:lnTo>
                  <a:lnTo>
                    <a:pt x="12" y="8"/>
                  </a:lnTo>
                  <a:lnTo>
                    <a:pt x="24"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8" name="Freeform 307"/>
            <p:cNvSpPr>
              <a:spLocks/>
            </p:cNvSpPr>
            <p:nvPr/>
          </p:nvSpPr>
          <p:spPr bwMode="auto">
            <a:xfrm>
              <a:off x="2953" y="1921"/>
              <a:ext cx="11" cy="4"/>
            </a:xfrm>
            <a:custGeom>
              <a:avLst/>
              <a:gdLst/>
              <a:ahLst/>
              <a:cxnLst>
                <a:cxn ang="0">
                  <a:pos x="10" y="4"/>
                </a:cxn>
                <a:cxn ang="0">
                  <a:pos x="4" y="3"/>
                </a:cxn>
                <a:cxn ang="0">
                  <a:pos x="0" y="0"/>
                </a:cxn>
                <a:cxn ang="0">
                  <a:pos x="9" y="2"/>
                </a:cxn>
                <a:cxn ang="0">
                  <a:pos x="10" y="4"/>
                </a:cxn>
              </a:cxnLst>
              <a:rect l="0" t="0" r="r" b="b"/>
              <a:pathLst>
                <a:path w="10" h="4">
                  <a:moveTo>
                    <a:pt x="10" y="4"/>
                  </a:moveTo>
                  <a:lnTo>
                    <a:pt x="4" y="3"/>
                  </a:lnTo>
                  <a:lnTo>
                    <a:pt x="0" y="0"/>
                  </a:lnTo>
                  <a:lnTo>
                    <a:pt x="9" y="2"/>
                  </a:lnTo>
                  <a:lnTo>
                    <a:pt x="1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9" name="Freeform 308"/>
            <p:cNvSpPr>
              <a:spLocks/>
            </p:cNvSpPr>
            <p:nvPr/>
          </p:nvSpPr>
          <p:spPr bwMode="auto">
            <a:xfrm>
              <a:off x="2867" y="1941"/>
              <a:ext cx="4" cy="2"/>
            </a:xfrm>
            <a:custGeom>
              <a:avLst/>
              <a:gdLst/>
              <a:ahLst/>
              <a:cxnLst>
                <a:cxn ang="0">
                  <a:pos x="0" y="0"/>
                </a:cxn>
                <a:cxn ang="0">
                  <a:pos x="5" y="4"/>
                </a:cxn>
                <a:cxn ang="0">
                  <a:pos x="1" y="4"/>
                </a:cxn>
                <a:cxn ang="0">
                  <a:pos x="0" y="0"/>
                </a:cxn>
              </a:cxnLst>
              <a:rect l="0" t="0" r="r" b="b"/>
              <a:pathLst>
                <a:path w="5" h="4">
                  <a:moveTo>
                    <a:pt x="0" y="0"/>
                  </a:moveTo>
                  <a:lnTo>
                    <a:pt x="5" y="4"/>
                  </a:lnTo>
                  <a:lnTo>
                    <a:pt x="1" y="4"/>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0" name="Freeform 309"/>
            <p:cNvSpPr>
              <a:spLocks/>
            </p:cNvSpPr>
            <p:nvPr/>
          </p:nvSpPr>
          <p:spPr bwMode="auto">
            <a:xfrm>
              <a:off x="2956" y="1936"/>
              <a:ext cx="4" cy="5"/>
            </a:xfrm>
            <a:custGeom>
              <a:avLst/>
              <a:gdLst/>
              <a:ahLst/>
              <a:cxnLst>
                <a:cxn ang="0">
                  <a:pos x="3" y="0"/>
                </a:cxn>
                <a:cxn ang="0">
                  <a:pos x="2" y="4"/>
                </a:cxn>
                <a:cxn ang="0">
                  <a:pos x="0" y="1"/>
                </a:cxn>
                <a:cxn ang="0">
                  <a:pos x="3" y="0"/>
                </a:cxn>
              </a:cxnLst>
              <a:rect l="0" t="0" r="r" b="b"/>
              <a:pathLst>
                <a:path w="3" h="4">
                  <a:moveTo>
                    <a:pt x="3" y="0"/>
                  </a:moveTo>
                  <a:lnTo>
                    <a:pt x="2" y="4"/>
                  </a:lnTo>
                  <a:lnTo>
                    <a:pt x="0" y="1"/>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1" name="Freeform 310"/>
            <p:cNvSpPr>
              <a:spLocks/>
            </p:cNvSpPr>
            <p:nvPr/>
          </p:nvSpPr>
          <p:spPr bwMode="auto">
            <a:xfrm>
              <a:off x="2640" y="1770"/>
              <a:ext cx="189" cy="180"/>
            </a:xfrm>
            <a:custGeom>
              <a:avLst/>
              <a:gdLst/>
              <a:ahLst/>
              <a:cxnLst>
                <a:cxn ang="0">
                  <a:pos x="96" y="7"/>
                </a:cxn>
                <a:cxn ang="0">
                  <a:pos x="75" y="0"/>
                </a:cxn>
                <a:cxn ang="0">
                  <a:pos x="59" y="2"/>
                </a:cxn>
                <a:cxn ang="0">
                  <a:pos x="51" y="1"/>
                </a:cxn>
                <a:cxn ang="0">
                  <a:pos x="51" y="2"/>
                </a:cxn>
                <a:cxn ang="0">
                  <a:pos x="47" y="6"/>
                </a:cxn>
                <a:cxn ang="0">
                  <a:pos x="45" y="11"/>
                </a:cxn>
                <a:cxn ang="0">
                  <a:pos x="34" y="11"/>
                </a:cxn>
                <a:cxn ang="0">
                  <a:pos x="29" y="18"/>
                </a:cxn>
                <a:cxn ang="0">
                  <a:pos x="19" y="11"/>
                </a:cxn>
                <a:cxn ang="0">
                  <a:pos x="11" y="17"/>
                </a:cxn>
                <a:cxn ang="0">
                  <a:pos x="3" y="18"/>
                </a:cxn>
                <a:cxn ang="0">
                  <a:pos x="3" y="25"/>
                </a:cxn>
                <a:cxn ang="0">
                  <a:pos x="0" y="32"/>
                </a:cxn>
                <a:cxn ang="0">
                  <a:pos x="0" y="37"/>
                </a:cxn>
                <a:cxn ang="0">
                  <a:pos x="1" y="43"/>
                </a:cxn>
                <a:cxn ang="0">
                  <a:pos x="11" y="49"/>
                </a:cxn>
                <a:cxn ang="0">
                  <a:pos x="11" y="56"/>
                </a:cxn>
                <a:cxn ang="0">
                  <a:pos x="24" y="47"/>
                </a:cxn>
                <a:cxn ang="0">
                  <a:pos x="43" y="50"/>
                </a:cxn>
                <a:cxn ang="0">
                  <a:pos x="54" y="68"/>
                </a:cxn>
                <a:cxn ang="0">
                  <a:pos x="67" y="80"/>
                </a:cxn>
                <a:cxn ang="0">
                  <a:pos x="81" y="92"/>
                </a:cxn>
                <a:cxn ang="0">
                  <a:pos x="84" y="95"/>
                </a:cxn>
                <a:cxn ang="0">
                  <a:pos x="85" y="95"/>
                </a:cxn>
                <a:cxn ang="0">
                  <a:pos x="96" y="99"/>
                </a:cxn>
                <a:cxn ang="0">
                  <a:pos x="114" y="111"/>
                </a:cxn>
                <a:cxn ang="0">
                  <a:pos x="123" y="116"/>
                </a:cxn>
                <a:cxn ang="0">
                  <a:pos x="130" y="122"/>
                </a:cxn>
                <a:cxn ang="0">
                  <a:pos x="139" y="140"/>
                </a:cxn>
                <a:cxn ang="0">
                  <a:pos x="133" y="156"/>
                </a:cxn>
                <a:cxn ang="0">
                  <a:pos x="141" y="161"/>
                </a:cxn>
                <a:cxn ang="0">
                  <a:pos x="147" y="149"/>
                </a:cxn>
                <a:cxn ang="0">
                  <a:pos x="153" y="141"/>
                </a:cxn>
                <a:cxn ang="0">
                  <a:pos x="155" y="138"/>
                </a:cxn>
                <a:cxn ang="0">
                  <a:pos x="147" y="129"/>
                </a:cxn>
                <a:cxn ang="0">
                  <a:pos x="150" y="115"/>
                </a:cxn>
                <a:cxn ang="0">
                  <a:pos x="159" y="117"/>
                </a:cxn>
                <a:cxn ang="0">
                  <a:pos x="169" y="126"/>
                </a:cxn>
                <a:cxn ang="0">
                  <a:pos x="172" y="117"/>
                </a:cxn>
                <a:cxn ang="0">
                  <a:pos x="154" y="108"/>
                </a:cxn>
                <a:cxn ang="0">
                  <a:pos x="135" y="97"/>
                </a:cxn>
                <a:cxn ang="0">
                  <a:pos x="137" y="91"/>
                </a:cxn>
                <a:cxn ang="0">
                  <a:pos x="132" y="89"/>
                </a:cxn>
                <a:cxn ang="0">
                  <a:pos x="113" y="84"/>
                </a:cxn>
                <a:cxn ang="0">
                  <a:pos x="106" y="72"/>
                </a:cxn>
                <a:cxn ang="0">
                  <a:pos x="99" y="61"/>
                </a:cxn>
                <a:cxn ang="0">
                  <a:pos x="84" y="53"/>
                </a:cxn>
                <a:cxn ang="0">
                  <a:pos x="79" y="38"/>
                </a:cxn>
                <a:cxn ang="0">
                  <a:pos x="77" y="30"/>
                </a:cxn>
                <a:cxn ang="0">
                  <a:pos x="89" y="21"/>
                </a:cxn>
                <a:cxn ang="0">
                  <a:pos x="97" y="24"/>
                </a:cxn>
                <a:cxn ang="0">
                  <a:pos x="94" y="13"/>
                </a:cxn>
                <a:cxn ang="0">
                  <a:pos x="96" y="7"/>
                </a:cxn>
                <a:cxn ang="0">
                  <a:pos x="82" y="53"/>
                </a:cxn>
                <a:cxn ang="0">
                  <a:pos x="81" y="53"/>
                </a:cxn>
                <a:cxn ang="0">
                  <a:pos x="81" y="54"/>
                </a:cxn>
                <a:cxn ang="0">
                  <a:pos x="82" y="54"/>
                </a:cxn>
                <a:cxn ang="0">
                  <a:pos x="82" y="53"/>
                </a:cxn>
                <a:cxn ang="0">
                  <a:pos x="96" y="7"/>
                </a:cxn>
                <a:cxn ang="0">
                  <a:pos x="85" y="93"/>
                </a:cxn>
                <a:cxn ang="0">
                  <a:pos x="96" y="7"/>
                </a:cxn>
              </a:cxnLst>
              <a:rect l="0" t="0" r="r" b="b"/>
              <a:pathLst>
                <a:path w="172" h="161">
                  <a:moveTo>
                    <a:pt x="96" y="7"/>
                  </a:moveTo>
                  <a:lnTo>
                    <a:pt x="75" y="0"/>
                  </a:lnTo>
                  <a:lnTo>
                    <a:pt x="59" y="2"/>
                  </a:lnTo>
                  <a:lnTo>
                    <a:pt x="51" y="1"/>
                  </a:lnTo>
                  <a:lnTo>
                    <a:pt x="51" y="2"/>
                  </a:lnTo>
                  <a:lnTo>
                    <a:pt x="47" y="6"/>
                  </a:lnTo>
                  <a:lnTo>
                    <a:pt x="45" y="11"/>
                  </a:lnTo>
                  <a:lnTo>
                    <a:pt x="34" y="11"/>
                  </a:lnTo>
                  <a:lnTo>
                    <a:pt x="29" y="18"/>
                  </a:lnTo>
                  <a:lnTo>
                    <a:pt x="19" y="11"/>
                  </a:lnTo>
                  <a:lnTo>
                    <a:pt x="11" y="17"/>
                  </a:lnTo>
                  <a:lnTo>
                    <a:pt x="3" y="18"/>
                  </a:lnTo>
                  <a:lnTo>
                    <a:pt x="3" y="25"/>
                  </a:lnTo>
                  <a:lnTo>
                    <a:pt x="0" y="32"/>
                  </a:lnTo>
                  <a:lnTo>
                    <a:pt x="0" y="37"/>
                  </a:lnTo>
                  <a:lnTo>
                    <a:pt x="1" y="43"/>
                  </a:lnTo>
                  <a:lnTo>
                    <a:pt x="11" y="49"/>
                  </a:lnTo>
                  <a:lnTo>
                    <a:pt x="11" y="56"/>
                  </a:lnTo>
                  <a:lnTo>
                    <a:pt x="24" y="47"/>
                  </a:lnTo>
                  <a:lnTo>
                    <a:pt x="43" y="50"/>
                  </a:lnTo>
                  <a:lnTo>
                    <a:pt x="54" y="68"/>
                  </a:lnTo>
                  <a:lnTo>
                    <a:pt x="67" y="80"/>
                  </a:lnTo>
                  <a:lnTo>
                    <a:pt x="81" y="92"/>
                  </a:lnTo>
                  <a:lnTo>
                    <a:pt x="84" y="95"/>
                  </a:lnTo>
                  <a:lnTo>
                    <a:pt x="85" y="95"/>
                  </a:lnTo>
                  <a:lnTo>
                    <a:pt x="96" y="99"/>
                  </a:lnTo>
                  <a:lnTo>
                    <a:pt x="114" y="111"/>
                  </a:lnTo>
                  <a:lnTo>
                    <a:pt x="123" y="116"/>
                  </a:lnTo>
                  <a:lnTo>
                    <a:pt x="130" y="122"/>
                  </a:lnTo>
                  <a:lnTo>
                    <a:pt x="139" y="140"/>
                  </a:lnTo>
                  <a:lnTo>
                    <a:pt x="133" y="156"/>
                  </a:lnTo>
                  <a:lnTo>
                    <a:pt x="141" y="161"/>
                  </a:lnTo>
                  <a:lnTo>
                    <a:pt x="147" y="149"/>
                  </a:lnTo>
                  <a:lnTo>
                    <a:pt x="153" y="141"/>
                  </a:lnTo>
                  <a:lnTo>
                    <a:pt x="155" y="138"/>
                  </a:lnTo>
                  <a:lnTo>
                    <a:pt x="147" y="129"/>
                  </a:lnTo>
                  <a:lnTo>
                    <a:pt x="150" y="115"/>
                  </a:lnTo>
                  <a:lnTo>
                    <a:pt x="159" y="117"/>
                  </a:lnTo>
                  <a:lnTo>
                    <a:pt x="169" y="126"/>
                  </a:lnTo>
                  <a:lnTo>
                    <a:pt x="172" y="117"/>
                  </a:lnTo>
                  <a:lnTo>
                    <a:pt x="154" y="108"/>
                  </a:lnTo>
                  <a:lnTo>
                    <a:pt x="135" y="97"/>
                  </a:lnTo>
                  <a:lnTo>
                    <a:pt x="137" y="91"/>
                  </a:lnTo>
                  <a:lnTo>
                    <a:pt x="132" y="89"/>
                  </a:lnTo>
                  <a:lnTo>
                    <a:pt x="113" y="84"/>
                  </a:lnTo>
                  <a:lnTo>
                    <a:pt x="106" y="72"/>
                  </a:lnTo>
                  <a:lnTo>
                    <a:pt x="99" y="61"/>
                  </a:lnTo>
                  <a:lnTo>
                    <a:pt x="84" y="53"/>
                  </a:lnTo>
                  <a:lnTo>
                    <a:pt x="79" y="38"/>
                  </a:lnTo>
                  <a:lnTo>
                    <a:pt x="77" y="30"/>
                  </a:lnTo>
                  <a:lnTo>
                    <a:pt x="89" y="21"/>
                  </a:lnTo>
                  <a:lnTo>
                    <a:pt x="97" y="24"/>
                  </a:lnTo>
                  <a:lnTo>
                    <a:pt x="94" y="13"/>
                  </a:lnTo>
                  <a:lnTo>
                    <a:pt x="96" y="7"/>
                  </a:lnTo>
                  <a:lnTo>
                    <a:pt x="82" y="53"/>
                  </a:lnTo>
                  <a:lnTo>
                    <a:pt x="81" y="53"/>
                  </a:lnTo>
                  <a:lnTo>
                    <a:pt x="81" y="54"/>
                  </a:lnTo>
                  <a:lnTo>
                    <a:pt x="82" y="54"/>
                  </a:lnTo>
                  <a:lnTo>
                    <a:pt x="82" y="53"/>
                  </a:lnTo>
                  <a:lnTo>
                    <a:pt x="96" y="7"/>
                  </a:lnTo>
                  <a:lnTo>
                    <a:pt x="85" y="93"/>
                  </a:lnTo>
                  <a:lnTo>
                    <a:pt x="96" y="7"/>
                  </a:lnTo>
                  <a:close/>
                </a:path>
              </a:pathLst>
            </a:custGeom>
            <a:grpFill/>
            <a:ln w="3175" cmpd="sng">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2" name="Freeform 311"/>
            <p:cNvSpPr>
              <a:spLocks/>
            </p:cNvSpPr>
            <p:nvPr/>
          </p:nvSpPr>
          <p:spPr bwMode="auto">
            <a:xfrm>
              <a:off x="2640" y="1770"/>
              <a:ext cx="189" cy="180"/>
            </a:xfrm>
            <a:custGeom>
              <a:avLst/>
              <a:gdLst/>
              <a:ahLst/>
              <a:cxnLst>
                <a:cxn ang="0">
                  <a:pos x="96" y="7"/>
                </a:cxn>
                <a:cxn ang="0">
                  <a:pos x="75" y="0"/>
                </a:cxn>
                <a:cxn ang="0">
                  <a:pos x="59" y="2"/>
                </a:cxn>
                <a:cxn ang="0">
                  <a:pos x="51" y="1"/>
                </a:cxn>
                <a:cxn ang="0">
                  <a:pos x="51" y="2"/>
                </a:cxn>
                <a:cxn ang="0">
                  <a:pos x="47" y="6"/>
                </a:cxn>
                <a:cxn ang="0">
                  <a:pos x="45" y="11"/>
                </a:cxn>
                <a:cxn ang="0">
                  <a:pos x="34" y="11"/>
                </a:cxn>
                <a:cxn ang="0">
                  <a:pos x="29" y="18"/>
                </a:cxn>
                <a:cxn ang="0">
                  <a:pos x="19" y="11"/>
                </a:cxn>
                <a:cxn ang="0">
                  <a:pos x="11" y="17"/>
                </a:cxn>
                <a:cxn ang="0">
                  <a:pos x="3" y="18"/>
                </a:cxn>
                <a:cxn ang="0">
                  <a:pos x="3" y="25"/>
                </a:cxn>
                <a:cxn ang="0">
                  <a:pos x="0" y="32"/>
                </a:cxn>
                <a:cxn ang="0">
                  <a:pos x="0" y="37"/>
                </a:cxn>
                <a:cxn ang="0">
                  <a:pos x="1" y="43"/>
                </a:cxn>
                <a:cxn ang="0">
                  <a:pos x="11" y="49"/>
                </a:cxn>
                <a:cxn ang="0">
                  <a:pos x="11" y="56"/>
                </a:cxn>
                <a:cxn ang="0">
                  <a:pos x="24" y="47"/>
                </a:cxn>
                <a:cxn ang="0">
                  <a:pos x="43" y="50"/>
                </a:cxn>
                <a:cxn ang="0">
                  <a:pos x="54" y="68"/>
                </a:cxn>
                <a:cxn ang="0">
                  <a:pos x="67" y="80"/>
                </a:cxn>
                <a:cxn ang="0">
                  <a:pos x="81" y="92"/>
                </a:cxn>
                <a:cxn ang="0">
                  <a:pos x="84" y="95"/>
                </a:cxn>
                <a:cxn ang="0">
                  <a:pos x="85" y="95"/>
                </a:cxn>
                <a:cxn ang="0">
                  <a:pos x="96" y="99"/>
                </a:cxn>
                <a:cxn ang="0">
                  <a:pos x="114" y="111"/>
                </a:cxn>
                <a:cxn ang="0">
                  <a:pos x="123" y="116"/>
                </a:cxn>
                <a:cxn ang="0">
                  <a:pos x="130" y="122"/>
                </a:cxn>
                <a:cxn ang="0">
                  <a:pos x="139" y="140"/>
                </a:cxn>
                <a:cxn ang="0">
                  <a:pos x="133" y="156"/>
                </a:cxn>
                <a:cxn ang="0">
                  <a:pos x="141" y="161"/>
                </a:cxn>
                <a:cxn ang="0">
                  <a:pos x="147" y="149"/>
                </a:cxn>
                <a:cxn ang="0">
                  <a:pos x="153" y="141"/>
                </a:cxn>
                <a:cxn ang="0">
                  <a:pos x="155" y="138"/>
                </a:cxn>
                <a:cxn ang="0">
                  <a:pos x="147" y="129"/>
                </a:cxn>
                <a:cxn ang="0">
                  <a:pos x="150" y="115"/>
                </a:cxn>
                <a:cxn ang="0">
                  <a:pos x="159" y="117"/>
                </a:cxn>
                <a:cxn ang="0">
                  <a:pos x="169" y="126"/>
                </a:cxn>
                <a:cxn ang="0">
                  <a:pos x="172" y="117"/>
                </a:cxn>
                <a:cxn ang="0">
                  <a:pos x="154" y="108"/>
                </a:cxn>
                <a:cxn ang="0">
                  <a:pos x="135" y="97"/>
                </a:cxn>
                <a:cxn ang="0">
                  <a:pos x="137" y="91"/>
                </a:cxn>
                <a:cxn ang="0">
                  <a:pos x="132" y="89"/>
                </a:cxn>
                <a:cxn ang="0">
                  <a:pos x="113" y="84"/>
                </a:cxn>
                <a:cxn ang="0">
                  <a:pos x="106" y="72"/>
                </a:cxn>
                <a:cxn ang="0">
                  <a:pos x="99" y="61"/>
                </a:cxn>
                <a:cxn ang="0">
                  <a:pos x="84" y="53"/>
                </a:cxn>
                <a:cxn ang="0">
                  <a:pos x="79" y="38"/>
                </a:cxn>
                <a:cxn ang="0">
                  <a:pos x="77" y="30"/>
                </a:cxn>
                <a:cxn ang="0">
                  <a:pos x="89" y="21"/>
                </a:cxn>
                <a:cxn ang="0">
                  <a:pos x="97" y="24"/>
                </a:cxn>
                <a:cxn ang="0">
                  <a:pos x="94" y="13"/>
                </a:cxn>
                <a:cxn ang="0">
                  <a:pos x="96" y="7"/>
                </a:cxn>
              </a:cxnLst>
              <a:rect l="0" t="0" r="r" b="b"/>
              <a:pathLst>
                <a:path w="172" h="161">
                  <a:moveTo>
                    <a:pt x="96" y="7"/>
                  </a:moveTo>
                  <a:lnTo>
                    <a:pt x="75" y="0"/>
                  </a:lnTo>
                  <a:lnTo>
                    <a:pt x="59" y="2"/>
                  </a:lnTo>
                  <a:lnTo>
                    <a:pt x="51" y="1"/>
                  </a:lnTo>
                  <a:lnTo>
                    <a:pt x="51" y="2"/>
                  </a:lnTo>
                  <a:lnTo>
                    <a:pt x="47" y="6"/>
                  </a:lnTo>
                  <a:lnTo>
                    <a:pt x="45" y="11"/>
                  </a:lnTo>
                  <a:lnTo>
                    <a:pt x="34" y="11"/>
                  </a:lnTo>
                  <a:lnTo>
                    <a:pt x="29" y="18"/>
                  </a:lnTo>
                  <a:lnTo>
                    <a:pt x="19" y="11"/>
                  </a:lnTo>
                  <a:lnTo>
                    <a:pt x="11" y="17"/>
                  </a:lnTo>
                  <a:lnTo>
                    <a:pt x="3" y="18"/>
                  </a:lnTo>
                  <a:lnTo>
                    <a:pt x="3" y="25"/>
                  </a:lnTo>
                  <a:lnTo>
                    <a:pt x="0" y="32"/>
                  </a:lnTo>
                  <a:lnTo>
                    <a:pt x="0" y="37"/>
                  </a:lnTo>
                  <a:lnTo>
                    <a:pt x="1" y="43"/>
                  </a:lnTo>
                  <a:lnTo>
                    <a:pt x="11" y="49"/>
                  </a:lnTo>
                  <a:lnTo>
                    <a:pt x="11" y="56"/>
                  </a:lnTo>
                  <a:lnTo>
                    <a:pt x="24" y="47"/>
                  </a:lnTo>
                  <a:lnTo>
                    <a:pt x="43" y="50"/>
                  </a:lnTo>
                  <a:lnTo>
                    <a:pt x="54" y="68"/>
                  </a:lnTo>
                  <a:lnTo>
                    <a:pt x="67" y="80"/>
                  </a:lnTo>
                  <a:lnTo>
                    <a:pt x="81" y="92"/>
                  </a:lnTo>
                  <a:lnTo>
                    <a:pt x="84" y="95"/>
                  </a:lnTo>
                  <a:lnTo>
                    <a:pt x="85" y="95"/>
                  </a:lnTo>
                  <a:lnTo>
                    <a:pt x="96" y="99"/>
                  </a:lnTo>
                  <a:lnTo>
                    <a:pt x="114" y="111"/>
                  </a:lnTo>
                  <a:lnTo>
                    <a:pt x="123" y="116"/>
                  </a:lnTo>
                  <a:lnTo>
                    <a:pt x="130" y="122"/>
                  </a:lnTo>
                  <a:lnTo>
                    <a:pt x="139" y="140"/>
                  </a:lnTo>
                  <a:lnTo>
                    <a:pt x="133" y="156"/>
                  </a:lnTo>
                  <a:lnTo>
                    <a:pt x="141" y="161"/>
                  </a:lnTo>
                  <a:lnTo>
                    <a:pt x="147" y="149"/>
                  </a:lnTo>
                  <a:lnTo>
                    <a:pt x="153" y="141"/>
                  </a:lnTo>
                  <a:lnTo>
                    <a:pt x="155" y="138"/>
                  </a:lnTo>
                  <a:lnTo>
                    <a:pt x="147" y="129"/>
                  </a:lnTo>
                  <a:lnTo>
                    <a:pt x="150" y="115"/>
                  </a:lnTo>
                  <a:lnTo>
                    <a:pt x="159" y="117"/>
                  </a:lnTo>
                  <a:lnTo>
                    <a:pt x="169" y="126"/>
                  </a:lnTo>
                  <a:lnTo>
                    <a:pt x="172" y="117"/>
                  </a:lnTo>
                  <a:lnTo>
                    <a:pt x="154" y="108"/>
                  </a:lnTo>
                  <a:lnTo>
                    <a:pt x="135" y="97"/>
                  </a:lnTo>
                  <a:lnTo>
                    <a:pt x="137" y="91"/>
                  </a:lnTo>
                  <a:lnTo>
                    <a:pt x="132" y="89"/>
                  </a:lnTo>
                  <a:lnTo>
                    <a:pt x="113" y="84"/>
                  </a:lnTo>
                  <a:lnTo>
                    <a:pt x="106" y="72"/>
                  </a:lnTo>
                  <a:lnTo>
                    <a:pt x="99" y="61"/>
                  </a:lnTo>
                  <a:lnTo>
                    <a:pt x="84" y="53"/>
                  </a:lnTo>
                  <a:lnTo>
                    <a:pt x="79" y="38"/>
                  </a:lnTo>
                  <a:lnTo>
                    <a:pt x="77" y="30"/>
                  </a:lnTo>
                  <a:lnTo>
                    <a:pt x="89" y="21"/>
                  </a:lnTo>
                  <a:lnTo>
                    <a:pt x="97" y="24"/>
                  </a:lnTo>
                  <a:lnTo>
                    <a:pt x="94" y="13"/>
                  </a:lnTo>
                  <a:lnTo>
                    <a:pt x="96"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3" name="Rectangle 312"/>
            <p:cNvSpPr>
              <a:spLocks noChangeArrowheads="1"/>
            </p:cNvSpPr>
            <p:nvPr/>
          </p:nvSpPr>
          <p:spPr bwMode="auto">
            <a:xfrm>
              <a:off x="2729" y="1830"/>
              <a:ext cx="0" cy="0"/>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314" name="Freeform 313"/>
            <p:cNvSpPr>
              <a:spLocks/>
            </p:cNvSpPr>
            <p:nvPr/>
          </p:nvSpPr>
          <p:spPr bwMode="auto">
            <a:xfrm>
              <a:off x="2736" y="1941"/>
              <a:ext cx="51" cy="33"/>
            </a:xfrm>
            <a:custGeom>
              <a:avLst/>
              <a:gdLst/>
              <a:ahLst/>
              <a:cxnLst>
                <a:cxn ang="0">
                  <a:pos x="39" y="18"/>
                </a:cxn>
                <a:cxn ang="0">
                  <a:pos x="39" y="29"/>
                </a:cxn>
                <a:cxn ang="0">
                  <a:pos x="21" y="22"/>
                </a:cxn>
                <a:cxn ang="0">
                  <a:pos x="3" y="14"/>
                </a:cxn>
                <a:cxn ang="0">
                  <a:pos x="0" y="5"/>
                </a:cxn>
                <a:cxn ang="0">
                  <a:pos x="13" y="4"/>
                </a:cxn>
                <a:cxn ang="0">
                  <a:pos x="29" y="3"/>
                </a:cxn>
                <a:cxn ang="0">
                  <a:pos x="45" y="0"/>
                </a:cxn>
                <a:cxn ang="0">
                  <a:pos x="39" y="18"/>
                </a:cxn>
              </a:cxnLst>
              <a:rect l="0" t="0" r="r" b="b"/>
              <a:pathLst>
                <a:path w="45" h="29">
                  <a:moveTo>
                    <a:pt x="39" y="18"/>
                  </a:moveTo>
                  <a:lnTo>
                    <a:pt x="39" y="29"/>
                  </a:lnTo>
                  <a:lnTo>
                    <a:pt x="21" y="22"/>
                  </a:lnTo>
                  <a:lnTo>
                    <a:pt x="3" y="14"/>
                  </a:lnTo>
                  <a:lnTo>
                    <a:pt x="0" y="5"/>
                  </a:lnTo>
                  <a:lnTo>
                    <a:pt x="13" y="4"/>
                  </a:lnTo>
                  <a:lnTo>
                    <a:pt x="29" y="3"/>
                  </a:lnTo>
                  <a:lnTo>
                    <a:pt x="45" y="0"/>
                  </a:lnTo>
                  <a:lnTo>
                    <a:pt x="3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5" name="Freeform 314"/>
            <p:cNvSpPr>
              <a:spLocks/>
            </p:cNvSpPr>
            <p:nvPr/>
          </p:nvSpPr>
          <p:spPr bwMode="auto">
            <a:xfrm>
              <a:off x="2664" y="1883"/>
              <a:ext cx="27" cy="47"/>
            </a:xfrm>
            <a:custGeom>
              <a:avLst/>
              <a:gdLst/>
              <a:ahLst/>
              <a:cxnLst>
                <a:cxn ang="0">
                  <a:pos x="13" y="36"/>
                </a:cxn>
                <a:cxn ang="0">
                  <a:pos x="7" y="42"/>
                </a:cxn>
                <a:cxn ang="0">
                  <a:pos x="4" y="32"/>
                </a:cxn>
                <a:cxn ang="0">
                  <a:pos x="1" y="19"/>
                </a:cxn>
                <a:cxn ang="0">
                  <a:pos x="0" y="6"/>
                </a:cxn>
                <a:cxn ang="0">
                  <a:pos x="14" y="0"/>
                </a:cxn>
                <a:cxn ang="0">
                  <a:pos x="24" y="13"/>
                </a:cxn>
                <a:cxn ang="0">
                  <a:pos x="20" y="34"/>
                </a:cxn>
                <a:cxn ang="0">
                  <a:pos x="13" y="36"/>
                </a:cxn>
              </a:cxnLst>
              <a:rect l="0" t="0" r="r" b="b"/>
              <a:pathLst>
                <a:path w="24" h="42">
                  <a:moveTo>
                    <a:pt x="13" y="36"/>
                  </a:moveTo>
                  <a:lnTo>
                    <a:pt x="7" y="42"/>
                  </a:lnTo>
                  <a:lnTo>
                    <a:pt x="4" y="32"/>
                  </a:lnTo>
                  <a:lnTo>
                    <a:pt x="1" y="19"/>
                  </a:lnTo>
                  <a:lnTo>
                    <a:pt x="0" y="6"/>
                  </a:lnTo>
                  <a:lnTo>
                    <a:pt x="14" y="0"/>
                  </a:lnTo>
                  <a:lnTo>
                    <a:pt x="24" y="13"/>
                  </a:lnTo>
                  <a:lnTo>
                    <a:pt x="20" y="34"/>
                  </a:lnTo>
                  <a:lnTo>
                    <a:pt x="13"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6" name="Freeform 315"/>
            <p:cNvSpPr>
              <a:spLocks/>
            </p:cNvSpPr>
            <p:nvPr/>
          </p:nvSpPr>
          <p:spPr bwMode="auto">
            <a:xfrm>
              <a:off x="2649" y="1834"/>
              <a:ext cx="2" cy="2"/>
            </a:xfrm>
            <a:custGeom>
              <a:avLst/>
              <a:gdLst/>
              <a:ahLst/>
              <a:cxnLst>
                <a:cxn ang="0">
                  <a:pos x="1" y="0"/>
                </a:cxn>
                <a:cxn ang="0">
                  <a:pos x="0" y="0"/>
                </a:cxn>
                <a:cxn ang="0">
                  <a:pos x="1" y="0"/>
                </a:cxn>
              </a:cxnLst>
              <a:rect l="0" t="0" r="r" b="b"/>
              <a:pathLst>
                <a:path w="1">
                  <a:moveTo>
                    <a:pt x="1" y="0"/>
                  </a:move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7" name="Freeform 316"/>
            <p:cNvSpPr>
              <a:spLocks/>
            </p:cNvSpPr>
            <p:nvPr/>
          </p:nvSpPr>
          <p:spPr bwMode="auto">
            <a:xfrm>
              <a:off x="2960" y="1867"/>
              <a:ext cx="309" cy="123"/>
            </a:xfrm>
            <a:custGeom>
              <a:avLst/>
              <a:gdLst/>
              <a:ahLst/>
              <a:cxnLst>
                <a:cxn ang="0">
                  <a:pos x="186" y="93"/>
                </a:cxn>
                <a:cxn ang="0">
                  <a:pos x="159" y="96"/>
                </a:cxn>
                <a:cxn ang="0">
                  <a:pos x="151" y="110"/>
                </a:cxn>
                <a:cxn ang="0">
                  <a:pos x="150" y="106"/>
                </a:cxn>
                <a:cxn ang="0">
                  <a:pos x="144" y="95"/>
                </a:cxn>
                <a:cxn ang="0">
                  <a:pos x="123" y="99"/>
                </a:cxn>
                <a:cxn ang="0">
                  <a:pos x="95" y="102"/>
                </a:cxn>
                <a:cxn ang="0">
                  <a:pos x="69" y="100"/>
                </a:cxn>
                <a:cxn ang="0">
                  <a:pos x="47" y="99"/>
                </a:cxn>
                <a:cxn ang="0">
                  <a:pos x="31" y="95"/>
                </a:cxn>
                <a:cxn ang="0">
                  <a:pos x="33" y="90"/>
                </a:cxn>
                <a:cxn ang="0">
                  <a:pos x="23" y="84"/>
                </a:cxn>
                <a:cxn ang="0">
                  <a:pos x="18" y="75"/>
                </a:cxn>
                <a:cxn ang="0">
                  <a:pos x="4" y="63"/>
                </a:cxn>
                <a:cxn ang="0">
                  <a:pos x="12" y="65"/>
                </a:cxn>
                <a:cxn ang="0">
                  <a:pos x="10" y="56"/>
                </a:cxn>
                <a:cxn ang="0">
                  <a:pos x="0" y="45"/>
                </a:cxn>
                <a:cxn ang="0">
                  <a:pos x="16" y="30"/>
                </a:cxn>
                <a:cxn ang="0">
                  <a:pos x="39" y="28"/>
                </a:cxn>
                <a:cxn ang="0">
                  <a:pos x="45" y="22"/>
                </a:cxn>
                <a:cxn ang="0">
                  <a:pos x="65" y="17"/>
                </a:cxn>
                <a:cxn ang="0">
                  <a:pos x="100" y="3"/>
                </a:cxn>
                <a:cxn ang="0">
                  <a:pos x="123" y="2"/>
                </a:cxn>
                <a:cxn ang="0">
                  <a:pos x="139" y="10"/>
                </a:cxn>
                <a:cxn ang="0">
                  <a:pos x="177" y="18"/>
                </a:cxn>
                <a:cxn ang="0">
                  <a:pos x="217" y="9"/>
                </a:cxn>
                <a:cxn ang="0">
                  <a:pos x="245" y="15"/>
                </a:cxn>
                <a:cxn ang="0">
                  <a:pos x="257" y="35"/>
                </a:cxn>
                <a:cxn ang="0">
                  <a:pos x="264" y="46"/>
                </a:cxn>
                <a:cxn ang="0">
                  <a:pos x="269" y="74"/>
                </a:cxn>
                <a:cxn ang="0">
                  <a:pos x="270" y="88"/>
                </a:cxn>
                <a:cxn ang="0">
                  <a:pos x="246" y="84"/>
                </a:cxn>
                <a:cxn ang="0">
                  <a:pos x="238" y="87"/>
                </a:cxn>
                <a:cxn ang="0">
                  <a:pos x="209" y="93"/>
                </a:cxn>
              </a:cxnLst>
              <a:rect l="0" t="0" r="r" b="b"/>
              <a:pathLst>
                <a:path w="279" h="110">
                  <a:moveTo>
                    <a:pt x="209" y="93"/>
                  </a:moveTo>
                  <a:lnTo>
                    <a:pt x="186" y="93"/>
                  </a:lnTo>
                  <a:lnTo>
                    <a:pt x="163" y="94"/>
                  </a:lnTo>
                  <a:lnTo>
                    <a:pt x="159" y="96"/>
                  </a:lnTo>
                  <a:lnTo>
                    <a:pt x="157" y="104"/>
                  </a:lnTo>
                  <a:lnTo>
                    <a:pt x="151" y="110"/>
                  </a:lnTo>
                  <a:lnTo>
                    <a:pt x="150" y="108"/>
                  </a:lnTo>
                  <a:lnTo>
                    <a:pt x="150" y="106"/>
                  </a:lnTo>
                  <a:lnTo>
                    <a:pt x="151" y="92"/>
                  </a:lnTo>
                  <a:lnTo>
                    <a:pt x="144" y="95"/>
                  </a:lnTo>
                  <a:lnTo>
                    <a:pt x="135" y="95"/>
                  </a:lnTo>
                  <a:lnTo>
                    <a:pt x="123" y="99"/>
                  </a:lnTo>
                  <a:lnTo>
                    <a:pt x="107" y="106"/>
                  </a:lnTo>
                  <a:lnTo>
                    <a:pt x="95" y="102"/>
                  </a:lnTo>
                  <a:lnTo>
                    <a:pt x="71" y="93"/>
                  </a:lnTo>
                  <a:lnTo>
                    <a:pt x="69" y="100"/>
                  </a:lnTo>
                  <a:lnTo>
                    <a:pt x="61" y="104"/>
                  </a:lnTo>
                  <a:lnTo>
                    <a:pt x="47" y="99"/>
                  </a:lnTo>
                  <a:lnTo>
                    <a:pt x="40" y="94"/>
                  </a:lnTo>
                  <a:lnTo>
                    <a:pt x="31" y="95"/>
                  </a:lnTo>
                  <a:lnTo>
                    <a:pt x="24" y="95"/>
                  </a:lnTo>
                  <a:lnTo>
                    <a:pt x="33" y="90"/>
                  </a:lnTo>
                  <a:lnTo>
                    <a:pt x="22" y="89"/>
                  </a:lnTo>
                  <a:lnTo>
                    <a:pt x="23" y="84"/>
                  </a:lnTo>
                  <a:lnTo>
                    <a:pt x="16" y="78"/>
                  </a:lnTo>
                  <a:lnTo>
                    <a:pt x="18" y="75"/>
                  </a:lnTo>
                  <a:lnTo>
                    <a:pt x="5" y="69"/>
                  </a:lnTo>
                  <a:lnTo>
                    <a:pt x="4" y="63"/>
                  </a:lnTo>
                  <a:lnTo>
                    <a:pt x="7" y="63"/>
                  </a:lnTo>
                  <a:lnTo>
                    <a:pt x="12" y="65"/>
                  </a:lnTo>
                  <a:lnTo>
                    <a:pt x="10" y="58"/>
                  </a:lnTo>
                  <a:lnTo>
                    <a:pt x="10" y="56"/>
                  </a:lnTo>
                  <a:lnTo>
                    <a:pt x="9" y="46"/>
                  </a:lnTo>
                  <a:lnTo>
                    <a:pt x="0" y="45"/>
                  </a:lnTo>
                  <a:lnTo>
                    <a:pt x="1" y="33"/>
                  </a:lnTo>
                  <a:lnTo>
                    <a:pt x="16" y="30"/>
                  </a:lnTo>
                  <a:lnTo>
                    <a:pt x="21" y="27"/>
                  </a:lnTo>
                  <a:lnTo>
                    <a:pt x="39" y="28"/>
                  </a:lnTo>
                  <a:lnTo>
                    <a:pt x="49" y="23"/>
                  </a:lnTo>
                  <a:lnTo>
                    <a:pt x="45" y="22"/>
                  </a:lnTo>
                  <a:lnTo>
                    <a:pt x="37" y="16"/>
                  </a:lnTo>
                  <a:lnTo>
                    <a:pt x="65" y="17"/>
                  </a:lnTo>
                  <a:lnTo>
                    <a:pt x="85" y="4"/>
                  </a:lnTo>
                  <a:lnTo>
                    <a:pt x="100" y="3"/>
                  </a:lnTo>
                  <a:lnTo>
                    <a:pt x="114" y="0"/>
                  </a:lnTo>
                  <a:lnTo>
                    <a:pt x="123" y="2"/>
                  </a:lnTo>
                  <a:lnTo>
                    <a:pt x="133" y="6"/>
                  </a:lnTo>
                  <a:lnTo>
                    <a:pt x="139" y="10"/>
                  </a:lnTo>
                  <a:lnTo>
                    <a:pt x="159" y="15"/>
                  </a:lnTo>
                  <a:lnTo>
                    <a:pt x="177" y="18"/>
                  </a:lnTo>
                  <a:lnTo>
                    <a:pt x="196" y="20"/>
                  </a:lnTo>
                  <a:lnTo>
                    <a:pt x="217" y="9"/>
                  </a:lnTo>
                  <a:lnTo>
                    <a:pt x="235" y="8"/>
                  </a:lnTo>
                  <a:lnTo>
                    <a:pt x="245" y="15"/>
                  </a:lnTo>
                  <a:lnTo>
                    <a:pt x="251" y="26"/>
                  </a:lnTo>
                  <a:lnTo>
                    <a:pt x="257" y="35"/>
                  </a:lnTo>
                  <a:lnTo>
                    <a:pt x="270" y="41"/>
                  </a:lnTo>
                  <a:lnTo>
                    <a:pt x="264" y="46"/>
                  </a:lnTo>
                  <a:lnTo>
                    <a:pt x="265" y="56"/>
                  </a:lnTo>
                  <a:lnTo>
                    <a:pt x="269" y="74"/>
                  </a:lnTo>
                  <a:lnTo>
                    <a:pt x="279" y="87"/>
                  </a:lnTo>
                  <a:lnTo>
                    <a:pt x="270" y="88"/>
                  </a:lnTo>
                  <a:lnTo>
                    <a:pt x="267" y="84"/>
                  </a:lnTo>
                  <a:lnTo>
                    <a:pt x="246" y="84"/>
                  </a:lnTo>
                  <a:lnTo>
                    <a:pt x="243" y="88"/>
                  </a:lnTo>
                  <a:lnTo>
                    <a:pt x="238" y="87"/>
                  </a:lnTo>
                  <a:lnTo>
                    <a:pt x="223" y="89"/>
                  </a:lnTo>
                  <a:lnTo>
                    <a:pt x="209" y="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8" name="Freeform 317"/>
            <p:cNvSpPr>
              <a:spLocks/>
            </p:cNvSpPr>
            <p:nvPr/>
          </p:nvSpPr>
          <p:spPr bwMode="auto">
            <a:xfrm>
              <a:off x="2953" y="1867"/>
              <a:ext cx="47" cy="36"/>
            </a:xfrm>
            <a:custGeom>
              <a:avLst/>
              <a:gdLst/>
              <a:ahLst/>
              <a:cxnLst>
                <a:cxn ang="0">
                  <a:pos x="5" y="2"/>
                </a:cxn>
                <a:cxn ang="0">
                  <a:pos x="3" y="5"/>
                </a:cxn>
                <a:cxn ang="0">
                  <a:pos x="6" y="12"/>
                </a:cxn>
                <a:cxn ang="0">
                  <a:pos x="0" y="23"/>
                </a:cxn>
                <a:cxn ang="0">
                  <a:pos x="10" y="24"/>
                </a:cxn>
                <a:cxn ang="0">
                  <a:pos x="5" y="33"/>
                </a:cxn>
                <a:cxn ang="0">
                  <a:pos x="21" y="21"/>
                </a:cxn>
                <a:cxn ang="0">
                  <a:pos x="43" y="17"/>
                </a:cxn>
                <a:cxn ang="0">
                  <a:pos x="36" y="12"/>
                </a:cxn>
                <a:cxn ang="0">
                  <a:pos x="27" y="0"/>
                </a:cxn>
                <a:cxn ang="0">
                  <a:pos x="5" y="2"/>
                </a:cxn>
              </a:cxnLst>
              <a:rect l="0" t="0" r="r" b="b"/>
              <a:pathLst>
                <a:path w="43" h="33">
                  <a:moveTo>
                    <a:pt x="5" y="2"/>
                  </a:moveTo>
                  <a:lnTo>
                    <a:pt x="3" y="5"/>
                  </a:lnTo>
                  <a:lnTo>
                    <a:pt x="6" y="12"/>
                  </a:lnTo>
                  <a:lnTo>
                    <a:pt x="0" y="23"/>
                  </a:lnTo>
                  <a:lnTo>
                    <a:pt x="10" y="24"/>
                  </a:lnTo>
                  <a:lnTo>
                    <a:pt x="5" y="33"/>
                  </a:lnTo>
                  <a:lnTo>
                    <a:pt x="21" y="21"/>
                  </a:lnTo>
                  <a:lnTo>
                    <a:pt x="43" y="17"/>
                  </a:lnTo>
                  <a:lnTo>
                    <a:pt x="36" y="12"/>
                  </a:lnTo>
                  <a:lnTo>
                    <a:pt x="27"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9" name="Freeform 318"/>
            <p:cNvSpPr>
              <a:spLocks/>
            </p:cNvSpPr>
            <p:nvPr/>
          </p:nvSpPr>
          <p:spPr bwMode="auto">
            <a:xfrm>
              <a:off x="2876" y="1596"/>
              <a:ext cx="137" cy="87"/>
            </a:xfrm>
            <a:custGeom>
              <a:avLst/>
              <a:gdLst/>
              <a:ahLst/>
              <a:cxnLst>
                <a:cxn ang="0">
                  <a:pos x="122" y="42"/>
                </a:cxn>
                <a:cxn ang="0">
                  <a:pos x="117" y="47"/>
                </a:cxn>
                <a:cxn ang="0">
                  <a:pos x="121" y="62"/>
                </a:cxn>
                <a:cxn ang="0">
                  <a:pos x="104" y="71"/>
                </a:cxn>
                <a:cxn ang="0">
                  <a:pos x="105" y="78"/>
                </a:cxn>
                <a:cxn ang="0">
                  <a:pos x="81" y="73"/>
                </a:cxn>
                <a:cxn ang="0">
                  <a:pos x="57" y="68"/>
                </a:cxn>
                <a:cxn ang="0">
                  <a:pos x="35" y="68"/>
                </a:cxn>
                <a:cxn ang="0">
                  <a:pos x="11" y="68"/>
                </a:cxn>
                <a:cxn ang="0">
                  <a:pos x="2" y="63"/>
                </a:cxn>
                <a:cxn ang="0">
                  <a:pos x="12" y="51"/>
                </a:cxn>
                <a:cxn ang="0">
                  <a:pos x="0" y="30"/>
                </a:cxn>
                <a:cxn ang="0">
                  <a:pos x="21" y="15"/>
                </a:cxn>
                <a:cxn ang="0">
                  <a:pos x="41" y="2"/>
                </a:cxn>
                <a:cxn ang="0">
                  <a:pos x="60" y="0"/>
                </a:cxn>
                <a:cxn ang="0">
                  <a:pos x="80" y="3"/>
                </a:cxn>
                <a:cxn ang="0">
                  <a:pos x="102" y="7"/>
                </a:cxn>
                <a:cxn ang="0">
                  <a:pos x="104" y="26"/>
                </a:cxn>
                <a:cxn ang="0">
                  <a:pos x="122" y="42"/>
                </a:cxn>
              </a:cxnLst>
              <a:rect l="0" t="0" r="r" b="b"/>
              <a:pathLst>
                <a:path w="122" h="78">
                  <a:moveTo>
                    <a:pt x="122" y="42"/>
                  </a:moveTo>
                  <a:lnTo>
                    <a:pt x="117" y="47"/>
                  </a:lnTo>
                  <a:lnTo>
                    <a:pt x="121" y="62"/>
                  </a:lnTo>
                  <a:lnTo>
                    <a:pt x="104" y="71"/>
                  </a:lnTo>
                  <a:lnTo>
                    <a:pt x="105" y="78"/>
                  </a:lnTo>
                  <a:lnTo>
                    <a:pt x="81" y="73"/>
                  </a:lnTo>
                  <a:lnTo>
                    <a:pt x="57" y="68"/>
                  </a:lnTo>
                  <a:lnTo>
                    <a:pt x="35" y="68"/>
                  </a:lnTo>
                  <a:lnTo>
                    <a:pt x="11" y="68"/>
                  </a:lnTo>
                  <a:lnTo>
                    <a:pt x="2" y="63"/>
                  </a:lnTo>
                  <a:lnTo>
                    <a:pt x="12" y="51"/>
                  </a:lnTo>
                  <a:lnTo>
                    <a:pt x="0" y="30"/>
                  </a:lnTo>
                  <a:lnTo>
                    <a:pt x="21" y="15"/>
                  </a:lnTo>
                  <a:lnTo>
                    <a:pt x="41" y="2"/>
                  </a:lnTo>
                  <a:lnTo>
                    <a:pt x="60" y="0"/>
                  </a:lnTo>
                  <a:lnTo>
                    <a:pt x="80" y="3"/>
                  </a:lnTo>
                  <a:lnTo>
                    <a:pt x="102" y="7"/>
                  </a:lnTo>
                  <a:lnTo>
                    <a:pt x="104" y="26"/>
                  </a:lnTo>
                  <a:lnTo>
                    <a:pt x="122"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0" name="Freeform 319"/>
            <p:cNvSpPr>
              <a:spLocks/>
            </p:cNvSpPr>
            <p:nvPr/>
          </p:nvSpPr>
          <p:spPr bwMode="auto">
            <a:xfrm>
              <a:off x="2653" y="1581"/>
              <a:ext cx="34" cy="40"/>
            </a:xfrm>
            <a:custGeom>
              <a:avLst/>
              <a:gdLst/>
              <a:ahLst/>
              <a:cxnLst>
                <a:cxn ang="0">
                  <a:pos x="18" y="31"/>
                </a:cxn>
                <a:cxn ang="0">
                  <a:pos x="17" y="36"/>
                </a:cxn>
                <a:cxn ang="0">
                  <a:pos x="6" y="34"/>
                </a:cxn>
                <a:cxn ang="0">
                  <a:pos x="4" y="31"/>
                </a:cxn>
                <a:cxn ang="0">
                  <a:pos x="0" y="23"/>
                </a:cxn>
                <a:cxn ang="0">
                  <a:pos x="0" y="6"/>
                </a:cxn>
                <a:cxn ang="0">
                  <a:pos x="7" y="5"/>
                </a:cxn>
                <a:cxn ang="0">
                  <a:pos x="10" y="6"/>
                </a:cxn>
                <a:cxn ang="0">
                  <a:pos x="11" y="3"/>
                </a:cxn>
                <a:cxn ang="0">
                  <a:pos x="21" y="0"/>
                </a:cxn>
                <a:cxn ang="0">
                  <a:pos x="24" y="6"/>
                </a:cxn>
                <a:cxn ang="0">
                  <a:pos x="31" y="7"/>
                </a:cxn>
                <a:cxn ang="0">
                  <a:pos x="29" y="13"/>
                </a:cxn>
                <a:cxn ang="0">
                  <a:pos x="19" y="21"/>
                </a:cxn>
                <a:cxn ang="0">
                  <a:pos x="19" y="23"/>
                </a:cxn>
                <a:cxn ang="0">
                  <a:pos x="18" y="31"/>
                </a:cxn>
              </a:cxnLst>
              <a:rect l="0" t="0" r="r" b="b"/>
              <a:pathLst>
                <a:path w="31" h="36">
                  <a:moveTo>
                    <a:pt x="18" y="31"/>
                  </a:moveTo>
                  <a:lnTo>
                    <a:pt x="17" y="36"/>
                  </a:lnTo>
                  <a:lnTo>
                    <a:pt x="6" y="34"/>
                  </a:lnTo>
                  <a:lnTo>
                    <a:pt x="4" y="31"/>
                  </a:lnTo>
                  <a:lnTo>
                    <a:pt x="0" y="23"/>
                  </a:lnTo>
                  <a:lnTo>
                    <a:pt x="0" y="6"/>
                  </a:lnTo>
                  <a:lnTo>
                    <a:pt x="7" y="5"/>
                  </a:lnTo>
                  <a:lnTo>
                    <a:pt x="10" y="6"/>
                  </a:lnTo>
                  <a:lnTo>
                    <a:pt x="11" y="3"/>
                  </a:lnTo>
                  <a:lnTo>
                    <a:pt x="21" y="0"/>
                  </a:lnTo>
                  <a:lnTo>
                    <a:pt x="24" y="6"/>
                  </a:lnTo>
                  <a:lnTo>
                    <a:pt x="31" y="7"/>
                  </a:lnTo>
                  <a:lnTo>
                    <a:pt x="29" y="13"/>
                  </a:lnTo>
                  <a:lnTo>
                    <a:pt x="19" y="21"/>
                  </a:lnTo>
                  <a:lnTo>
                    <a:pt x="19" y="23"/>
                  </a:lnTo>
                  <a:lnTo>
                    <a:pt x="18" y="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1" name="Freeform 320"/>
            <p:cNvSpPr>
              <a:spLocks/>
            </p:cNvSpPr>
            <p:nvPr/>
          </p:nvSpPr>
          <p:spPr bwMode="auto">
            <a:xfrm>
              <a:off x="2693" y="1596"/>
              <a:ext cx="23" cy="20"/>
            </a:xfrm>
            <a:custGeom>
              <a:avLst/>
              <a:gdLst/>
              <a:ahLst/>
              <a:cxnLst>
                <a:cxn ang="0">
                  <a:pos x="20" y="6"/>
                </a:cxn>
                <a:cxn ang="0">
                  <a:pos x="18" y="2"/>
                </a:cxn>
                <a:cxn ang="0">
                  <a:pos x="14" y="0"/>
                </a:cxn>
                <a:cxn ang="0">
                  <a:pos x="12" y="6"/>
                </a:cxn>
                <a:cxn ang="0">
                  <a:pos x="9" y="4"/>
                </a:cxn>
                <a:cxn ang="0">
                  <a:pos x="3" y="2"/>
                </a:cxn>
                <a:cxn ang="0">
                  <a:pos x="0" y="6"/>
                </a:cxn>
                <a:cxn ang="0">
                  <a:pos x="0" y="9"/>
                </a:cxn>
                <a:cxn ang="0">
                  <a:pos x="11" y="18"/>
                </a:cxn>
                <a:cxn ang="0">
                  <a:pos x="15" y="14"/>
                </a:cxn>
                <a:cxn ang="0">
                  <a:pos x="15" y="10"/>
                </a:cxn>
                <a:cxn ang="0">
                  <a:pos x="20" y="6"/>
                </a:cxn>
              </a:cxnLst>
              <a:rect l="0" t="0" r="r" b="b"/>
              <a:pathLst>
                <a:path w="20" h="18">
                  <a:moveTo>
                    <a:pt x="20" y="6"/>
                  </a:moveTo>
                  <a:lnTo>
                    <a:pt x="18" y="2"/>
                  </a:lnTo>
                  <a:lnTo>
                    <a:pt x="14" y="0"/>
                  </a:lnTo>
                  <a:lnTo>
                    <a:pt x="12" y="6"/>
                  </a:lnTo>
                  <a:lnTo>
                    <a:pt x="9" y="4"/>
                  </a:lnTo>
                  <a:lnTo>
                    <a:pt x="3" y="2"/>
                  </a:lnTo>
                  <a:lnTo>
                    <a:pt x="0" y="6"/>
                  </a:lnTo>
                  <a:lnTo>
                    <a:pt x="0" y="9"/>
                  </a:lnTo>
                  <a:lnTo>
                    <a:pt x="11" y="18"/>
                  </a:lnTo>
                  <a:lnTo>
                    <a:pt x="15" y="14"/>
                  </a:lnTo>
                  <a:lnTo>
                    <a:pt x="15" y="10"/>
                  </a:lnTo>
                  <a:lnTo>
                    <a:pt x="2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2" name="Freeform 321"/>
            <p:cNvSpPr>
              <a:spLocks/>
            </p:cNvSpPr>
            <p:nvPr/>
          </p:nvSpPr>
          <p:spPr bwMode="auto">
            <a:xfrm>
              <a:off x="2653" y="1565"/>
              <a:ext cx="31" cy="20"/>
            </a:xfrm>
            <a:custGeom>
              <a:avLst/>
              <a:gdLst/>
              <a:ahLst/>
              <a:cxnLst>
                <a:cxn ang="0">
                  <a:pos x="23" y="12"/>
                </a:cxn>
                <a:cxn ang="0">
                  <a:pos x="3" y="13"/>
                </a:cxn>
                <a:cxn ang="0">
                  <a:pos x="0" y="18"/>
                </a:cxn>
                <a:cxn ang="0">
                  <a:pos x="2" y="11"/>
                </a:cxn>
                <a:cxn ang="0">
                  <a:pos x="15" y="8"/>
                </a:cxn>
                <a:cxn ang="0">
                  <a:pos x="28" y="0"/>
                </a:cxn>
                <a:cxn ang="0">
                  <a:pos x="23" y="12"/>
                </a:cxn>
              </a:cxnLst>
              <a:rect l="0" t="0" r="r" b="b"/>
              <a:pathLst>
                <a:path w="28" h="18">
                  <a:moveTo>
                    <a:pt x="23" y="12"/>
                  </a:moveTo>
                  <a:lnTo>
                    <a:pt x="3" y="13"/>
                  </a:lnTo>
                  <a:lnTo>
                    <a:pt x="0" y="18"/>
                  </a:lnTo>
                  <a:lnTo>
                    <a:pt x="2" y="11"/>
                  </a:lnTo>
                  <a:lnTo>
                    <a:pt x="15" y="8"/>
                  </a:lnTo>
                  <a:lnTo>
                    <a:pt x="28" y="0"/>
                  </a:lnTo>
                  <a:lnTo>
                    <a:pt x="23"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3" name="Freeform 322"/>
            <p:cNvSpPr>
              <a:spLocks/>
            </p:cNvSpPr>
            <p:nvPr/>
          </p:nvSpPr>
          <p:spPr bwMode="auto">
            <a:xfrm>
              <a:off x="2676" y="1608"/>
              <a:ext cx="13" cy="8"/>
            </a:xfrm>
            <a:custGeom>
              <a:avLst/>
              <a:gdLst/>
              <a:ahLst/>
              <a:cxnLst>
                <a:cxn ang="0">
                  <a:pos x="13" y="4"/>
                </a:cxn>
                <a:cxn ang="0">
                  <a:pos x="9" y="0"/>
                </a:cxn>
                <a:cxn ang="0">
                  <a:pos x="0" y="1"/>
                </a:cxn>
                <a:cxn ang="0">
                  <a:pos x="9" y="9"/>
                </a:cxn>
                <a:cxn ang="0">
                  <a:pos x="13" y="4"/>
                </a:cxn>
              </a:cxnLst>
              <a:rect l="0" t="0" r="r" b="b"/>
              <a:pathLst>
                <a:path w="13" h="9">
                  <a:moveTo>
                    <a:pt x="13" y="4"/>
                  </a:moveTo>
                  <a:lnTo>
                    <a:pt x="9" y="0"/>
                  </a:lnTo>
                  <a:lnTo>
                    <a:pt x="0" y="1"/>
                  </a:lnTo>
                  <a:lnTo>
                    <a:pt x="9" y="9"/>
                  </a:lnTo>
                  <a:lnTo>
                    <a:pt x="13"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4" name="Freeform 323"/>
            <p:cNvSpPr>
              <a:spLocks/>
            </p:cNvSpPr>
            <p:nvPr/>
          </p:nvSpPr>
          <p:spPr bwMode="auto">
            <a:xfrm>
              <a:off x="2707" y="1616"/>
              <a:ext cx="2" cy="5"/>
            </a:xfrm>
            <a:custGeom>
              <a:avLst/>
              <a:gdLst/>
              <a:ahLst/>
              <a:cxnLst>
                <a:cxn ang="0">
                  <a:pos x="3" y="1"/>
                </a:cxn>
                <a:cxn ang="0">
                  <a:pos x="0" y="0"/>
                </a:cxn>
                <a:cxn ang="0">
                  <a:pos x="0" y="3"/>
                </a:cxn>
                <a:cxn ang="0">
                  <a:pos x="3" y="1"/>
                </a:cxn>
              </a:cxnLst>
              <a:rect l="0" t="0" r="r" b="b"/>
              <a:pathLst>
                <a:path w="3" h="3">
                  <a:moveTo>
                    <a:pt x="3" y="1"/>
                  </a:moveTo>
                  <a:lnTo>
                    <a:pt x="0" y="0"/>
                  </a:lnTo>
                  <a:lnTo>
                    <a:pt x="0" y="3"/>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5" name="Freeform 324"/>
            <p:cNvSpPr>
              <a:spLocks/>
            </p:cNvSpPr>
            <p:nvPr/>
          </p:nvSpPr>
          <p:spPr bwMode="auto">
            <a:xfrm>
              <a:off x="2864" y="1532"/>
              <a:ext cx="65" cy="31"/>
            </a:xfrm>
            <a:custGeom>
              <a:avLst/>
              <a:gdLst/>
              <a:ahLst/>
              <a:cxnLst>
                <a:cxn ang="0">
                  <a:pos x="59" y="17"/>
                </a:cxn>
                <a:cxn ang="0">
                  <a:pos x="55" y="2"/>
                </a:cxn>
                <a:cxn ang="0">
                  <a:pos x="24" y="0"/>
                </a:cxn>
                <a:cxn ang="0">
                  <a:pos x="0" y="6"/>
                </a:cxn>
                <a:cxn ang="0">
                  <a:pos x="2" y="12"/>
                </a:cxn>
                <a:cxn ang="0">
                  <a:pos x="11" y="22"/>
                </a:cxn>
                <a:cxn ang="0">
                  <a:pos x="16" y="22"/>
                </a:cxn>
                <a:cxn ang="0">
                  <a:pos x="34" y="24"/>
                </a:cxn>
                <a:cxn ang="0">
                  <a:pos x="53" y="28"/>
                </a:cxn>
                <a:cxn ang="0">
                  <a:pos x="59" y="17"/>
                </a:cxn>
              </a:cxnLst>
              <a:rect l="0" t="0" r="r" b="b"/>
              <a:pathLst>
                <a:path w="59" h="28">
                  <a:moveTo>
                    <a:pt x="59" y="17"/>
                  </a:moveTo>
                  <a:lnTo>
                    <a:pt x="55" y="2"/>
                  </a:lnTo>
                  <a:lnTo>
                    <a:pt x="24" y="0"/>
                  </a:lnTo>
                  <a:lnTo>
                    <a:pt x="0" y="6"/>
                  </a:lnTo>
                  <a:lnTo>
                    <a:pt x="2" y="12"/>
                  </a:lnTo>
                  <a:lnTo>
                    <a:pt x="11" y="22"/>
                  </a:lnTo>
                  <a:lnTo>
                    <a:pt x="16" y="22"/>
                  </a:lnTo>
                  <a:lnTo>
                    <a:pt x="34" y="24"/>
                  </a:lnTo>
                  <a:lnTo>
                    <a:pt x="53" y="28"/>
                  </a:lnTo>
                  <a:lnTo>
                    <a:pt x="59"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6" name="Freeform 325"/>
            <p:cNvSpPr>
              <a:spLocks/>
            </p:cNvSpPr>
            <p:nvPr/>
          </p:nvSpPr>
          <p:spPr bwMode="auto">
            <a:xfrm>
              <a:off x="2836" y="1556"/>
              <a:ext cx="106" cy="45"/>
            </a:xfrm>
            <a:custGeom>
              <a:avLst/>
              <a:gdLst/>
              <a:ahLst/>
              <a:cxnLst>
                <a:cxn ang="0">
                  <a:pos x="49" y="26"/>
                </a:cxn>
                <a:cxn ang="0">
                  <a:pos x="26" y="30"/>
                </a:cxn>
                <a:cxn ang="0">
                  <a:pos x="5" y="32"/>
                </a:cxn>
                <a:cxn ang="0">
                  <a:pos x="0" y="33"/>
                </a:cxn>
                <a:cxn ang="0">
                  <a:pos x="7" y="10"/>
                </a:cxn>
                <a:cxn ang="0">
                  <a:pos x="18" y="10"/>
                </a:cxn>
                <a:cxn ang="0">
                  <a:pos x="35" y="21"/>
                </a:cxn>
                <a:cxn ang="0">
                  <a:pos x="42" y="14"/>
                </a:cxn>
                <a:cxn ang="0">
                  <a:pos x="41" y="0"/>
                </a:cxn>
                <a:cxn ang="0">
                  <a:pos x="59" y="2"/>
                </a:cxn>
                <a:cxn ang="0">
                  <a:pos x="78" y="6"/>
                </a:cxn>
                <a:cxn ang="0">
                  <a:pos x="86" y="18"/>
                </a:cxn>
                <a:cxn ang="0">
                  <a:pos x="96" y="37"/>
                </a:cxn>
                <a:cxn ang="0">
                  <a:pos x="77" y="39"/>
                </a:cxn>
                <a:cxn ang="0">
                  <a:pos x="49" y="26"/>
                </a:cxn>
              </a:cxnLst>
              <a:rect l="0" t="0" r="r" b="b"/>
              <a:pathLst>
                <a:path w="96" h="39">
                  <a:moveTo>
                    <a:pt x="49" y="26"/>
                  </a:moveTo>
                  <a:lnTo>
                    <a:pt x="26" y="30"/>
                  </a:lnTo>
                  <a:lnTo>
                    <a:pt x="5" y="32"/>
                  </a:lnTo>
                  <a:lnTo>
                    <a:pt x="0" y="33"/>
                  </a:lnTo>
                  <a:lnTo>
                    <a:pt x="7" y="10"/>
                  </a:lnTo>
                  <a:lnTo>
                    <a:pt x="18" y="10"/>
                  </a:lnTo>
                  <a:lnTo>
                    <a:pt x="35" y="21"/>
                  </a:lnTo>
                  <a:lnTo>
                    <a:pt x="42" y="14"/>
                  </a:lnTo>
                  <a:lnTo>
                    <a:pt x="41" y="0"/>
                  </a:lnTo>
                  <a:lnTo>
                    <a:pt x="59" y="2"/>
                  </a:lnTo>
                  <a:lnTo>
                    <a:pt x="78" y="6"/>
                  </a:lnTo>
                  <a:lnTo>
                    <a:pt x="86" y="18"/>
                  </a:lnTo>
                  <a:lnTo>
                    <a:pt x="96" y="37"/>
                  </a:lnTo>
                  <a:lnTo>
                    <a:pt x="77" y="39"/>
                  </a:lnTo>
                  <a:lnTo>
                    <a:pt x="49" y="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7" name="Freeform 326"/>
            <p:cNvSpPr>
              <a:spLocks/>
            </p:cNvSpPr>
            <p:nvPr/>
          </p:nvSpPr>
          <p:spPr bwMode="auto">
            <a:xfrm>
              <a:off x="2836" y="1585"/>
              <a:ext cx="86" cy="45"/>
            </a:xfrm>
            <a:custGeom>
              <a:avLst/>
              <a:gdLst/>
              <a:ahLst/>
              <a:cxnLst>
                <a:cxn ang="0">
                  <a:pos x="3" y="29"/>
                </a:cxn>
                <a:cxn ang="0">
                  <a:pos x="0" y="7"/>
                </a:cxn>
                <a:cxn ang="0">
                  <a:pos x="5" y="6"/>
                </a:cxn>
                <a:cxn ang="0">
                  <a:pos x="26" y="4"/>
                </a:cxn>
                <a:cxn ang="0">
                  <a:pos x="49" y="0"/>
                </a:cxn>
                <a:cxn ang="0">
                  <a:pos x="77" y="13"/>
                </a:cxn>
                <a:cxn ang="0">
                  <a:pos x="57" y="26"/>
                </a:cxn>
                <a:cxn ang="0">
                  <a:pos x="36" y="41"/>
                </a:cxn>
                <a:cxn ang="0">
                  <a:pos x="24" y="40"/>
                </a:cxn>
                <a:cxn ang="0">
                  <a:pos x="24" y="32"/>
                </a:cxn>
                <a:cxn ang="0">
                  <a:pos x="12" y="31"/>
                </a:cxn>
                <a:cxn ang="0">
                  <a:pos x="3" y="29"/>
                </a:cxn>
              </a:cxnLst>
              <a:rect l="0" t="0" r="r" b="b"/>
              <a:pathLst>
                <a:path w="77" h="41">
                  <a:moveTo>
                    <a:pt x="3" y="29"/>
                  </a:moveTo>
                  <a:lnTo>
                    <a:pt x="0" y="7"/>
                  </a:lnTo>
                  <a:lnTo>
                    <a:pt x="5" y="6"/>
                  </a:lnTo>
                  <a:lnTo>
                    <a:pt x="26" y="4"/>
                  </a:lnTo>
                  <a:lnTo>
                    <a:pt x="49" y="0"/>
                  </a:lnTo>
                  <a:lnTo>
                    <a:pt x="77" y="13"/>
                  </a:lnTo>
                  <a:lnTo>
                    <a:pt x="57" y="26"/>
                  </a:lnTo>
                  <a:lnTo>
                    <a:pt x="36" y="41"/>
                  </a:lnTo>
                  <a:lnTo>
                    <a:pt x="24" y="40"/>
                  </a:lnTo>
                  <a:lnTo>
                    <a:pt x="24" y="32"/>
                  </a:lnTo>
                  <a:lnTo>
                    <a:pt x="12" y="31"/>
                  </a:lnTo>
                  <a:lnTo>
                    <a:pt x="3" y="2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8" name="Freeform 327"/>
            <p:cNvSpPr>
              <a:spLocks/>
            </p:cNvSpPr>
            <p:nvPr/>
          </p:nvSpPr>
          <p:spPr bwMode="auto">
            <a:xfrm>
              <a:off x="2582" y="1648"/>
              <a:ext cx="58" cy="48"/>
            </a:xfrm>
            <a:custGeom>
              <a:avLst/>
              <a:gdLst/>
              <a:ahLst/>
              <a:cxnLst>
                <a:cxn ang="0">
                  <a:pos x="38" y="27"/>
                </a:cxn>
                <a:cxn ang="0">
                  <a:pos x="50" y="21"/>
                </a:cxn>
                <a:cxn ang="0">
                  <a:pos x="45" y="13"/>
                </a:cxn>
                <a:cxn ang="0">
                  <a:pos x="51" y="3"/>
                </a:cxn>
                <a:cxn ang="0">
                  <a:pos x="34" y="0"/>
                </a:cxn>
                <a:cxn ang="0">
                  <a:pos x="16" y="11"/>
                </a:cxn>
                <a:cxn ang="0">
                  <a:pos x="4" y="29"/>
                </a:cxn>
                <a:cxn ang="0">
                  <a:pos x="0" y="35"/>
                </a:cxn>
                <a:cxn ang="0">
                  <a:pos x="12" y="35"/>
                </a:cxn>
                <a:cxn ang="0">
                  <a:pos x="30" y="36"/>
                </a:cxn>
                <a:cxn ang="0">
                  <a:pos x="32" y="42"/>
                </a:cxn>
                <a:cxn ang="0">
                  <a:pos x="37" y="46"/>
                </a:cxn>
                <a:cxn ang="0">
                  <a:pos x="38" y="27"/>
                </a:cxn>
              </a:cxnLst>
              <a:rect l="0" t="0" r="r" b="b"/>
              <a:pathLst>
                <a:path w="51" h="46">
                  <a:moveTo>
                    <a:pt x="38" y="27"/>
                  </a:moveTo>
                  <a:lnTo>
                    <a:pt x="50" y="21"/>
                  </a:lnTo>
                  <a:lnTo>
                    <a:pt x="45" y="13"/>
                  </a:lnTo>
                  <a:lnTo>
                    <a:pt x="51" y="3"/>
                  </a:lnTo>
                  <a:lnTo>
                    <a:pt x="34" y="0"/>
                  </a:lnTo>
                  <a:lnTo>
                    <a:pt x="16" y="11"/>
                  </a:lnTo>
                  <a:lnTo>
                    <a:pt x="4" y="29"/>
                  </a:lnTo>
                  <a:lnTo>
                    <a:pt x="0" y="35"/>
                  </a:lnTo>
                  <a:lnTo>
                    <a:pt x="12" y="35"/>
                  </a:lnTo>
                  <a:lnTo>
                    <a:pt x="30" y="36"/>
                  </a:lnTo>
                  <a:lnTo>
                    <a:pt x="32" y="42"/>
                  </a:lnTo>
                  <a:lnTo>
                    <a:pt x="37" y="46"/>
                  </a:lnTo>
                  <a:lnTo>
                    <a:pt x="38"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9" name="Freeform 328"/>
            <p:cNvSpPr>
              <a:spLocks/>
            </p:cNvSpPr>
            <p:nvPr/>
          </p:nvSpPr>
          <p:spPr bwMode="auto">
            <a:xfrm>
              <a:off x="2742" y="1621"/>
              <a:ext cx="154" cy="109"/>
            </a:xfrm>
            <a:custGeom>
              <a:avLst/>
              <a:gdLst/>
              <a:ahLst/>
              <a:cxnLst>
                <a:cxn ang="0">
                  <a:pos x="57" y="5"/>
                </a:cxn>
                <a:cxn ang="0">
                  <a:pos x="55" y="0"/>
                </a:cxn>
                <a:cxn ang="0">
                  <a:pos x="37" y="2"/>
                </a:cxn>
                <a:cxn ang="0">
                  <a:pos x="19" y="8"/>
                </a:cxn>
                <a:cxn ang="0">
                  <a:pos x="0" y="11"/>
                </a:cxn>
                <a:cxn ang="0">
                  <a:pos x="6" y="17"/>
                </a:cxn>
                <a:cxn ang="0">
                  <a:pos x="1" y="18"/>
                </a:cxn>
                <a:cxn ang="0">
                  <a:pos x="3" y="34"/>
                </a:cxn>
                <a:cxn ang="0">
                  <a:pos x="10" y="53"/>
                </a:cxn>
                <a:cxn ang="0">
                  <a:pos x="13" y="66"/>
                </a:cxn>
                <a:cxn ang="0">
                  <a:pos x="15" y="66"/>
                </a:cxn>
                <a:cxn ang="0">
                  <a:pos x="33" y="72"/>
                </a:cxn>
                <a:cxn ang="0">
                  <a:pos x="37" y="77"/>
                </a:cxn>
                <a:cxn ang="0">
                  <a:pos x="44" y="77"/>
                </a:cxn>
                <a:cxn ang="0">
                  <a:pos x="54" y="77"/>
                </a:cxn>
                <a:cxn ang="0">
                  <a:pos x="70" y="89"/>
                </a:cxn>
                <a:cxn ang="0">
                  <a:pos x="86" y="90"/>
                </a:cxn>
                <a:cxn ang="0">
                  <a:pos x="88" y="94"/>
                </a:cxn>
                <a:cxn ang="0">
                  <a:pos x="100" y="93"/>
                </a:cxn>
                <a:cxn ang="0">
                  <a:pos x="122" y="98"/>
                </a:cxn>
                <a:cxn ang="0">
                  <a:pos x="124" y="93"/>
                </a:cxn>
                <a:cxn ang="0">
                  <a:pos x="138" y="75"/>
                </a:cxn>
                <a:cxn ang="0">
                  <a:pos x="139" y="66"/>
                </a:cxn>
                <a:cxn ang="0">
                  <a:pos x="132" y="47"/>
                </a:cxn>
                <a:cxn ang="0">
                  <a:pos x="123" y="42"/>
                </a:cxn>
                <a:cxn ang="0">
                  <a:pos x="133" y="30"/>
                </a:cxn>
                <a:cxn ang="0">
                  <a:pos x="121" y="9"/>
                </a:cxn>
                <a:cxn ang="0">
                  <a:pos x="96" y="6"/>
                </a:cxn>
                <a:cxn ang="0">
                  <a:pos x="72" y="5"/>
                </a:cxn>
                <a:cxn ang="0">
                  <a:pos x="57" y="5"/>
                </a:cxn>
              </a:cxnLst>
              <a:rect l="0" t="0" r="r" b="b"/>
              <a:pathLst>
                <a:path w="139" h="98">
                  <a:moveTo>
                    <a:pt x="57" y="5"/>
                  </a:moveTo>
                  <a:lnTo>
                    <a:pt x="55" y="0"/>
                  </a:lnTo>
                  <a:lnTo>
                    <a:pt x="37" y="2"/>
                  </a:lnTo>
                  <a:lnTo>
                    <a:pt x="19" y="8"/>
                  </a:lnTo>
                  <a:lnTo>
                    <a:pt x="0" y="11"/>
                  </a:lnTo>
                  <a:lnTo>
                    <a:pt x="6" y="17"/>
                  </a:lnTo>
                  <a:lnTo>
                    <a:pt x="1" y="18"/>
                  </a:lnTo>
                  <a:lnTo>
                    <a:pt x="3" y="34"/>
                  </a:lnTo>
                  <a:lnTo>
                    <a:pt x="10" y="53"/>
                  </a:lnTo>
                  <a:lnTo>
                    <a:pt x="13" y="66"/>
                  </a:lnTo>
                  <a:lnTo>
                    <a:pt x="15" y="66"/>
                  </a:lnTo>
                  <a:lnTo>
                    <a:pt x="33" y="72"/>
                  </a:lnTo>
                  <a:lnTo>
                    <a:pt x="37" y="77"/>
                  </a:lnTo>
                  <a:lnTo>
                    <a:pt x="44" y="77"/>
                  </a:lnTo>
                  <a:lnTo>
                    <a:pt x="54" y="77"/>
                  </a:lnTo>
                  <a:lnTo>
                    <a:pt x="70" y="89"/>
                  </a:lnTo>
                  <a:lnTo>
                    <a:pt x="86" y="90"/>
                  </a:lnTo>
                  <a:lnTo>
                    <a:pt x="88" y="94"/>
                  </a:lnTo>
                  <a:lnTo>
                    <a:pt x="100" y="93"/>
                  </a:lnTo>
                  <a:lnTo>
                    <a:pt x="122" y="98"/>
                  </a:lnTo>
                  <a:lnTo>
                    <a:pt x="124" y="93"/>
                  </a:lnTo>
                  <a:lnTo>
                    <a:pt x="138" y="75"/>
                  </a:lnTo>
                  <a:lnTo>
                    <a:pt x="139" y="66"/>
                  </a:lnTo>
                  <a:lnTo>
                    <a:pt x="132" y="47"/>
                  </a:lnTo>
                  <a:lnTo>
                    <a:pt x="123" y="42"/>
                  </a:lnTo>
                  <a:lnTo>
                    <a:pt x="133" y="30"/>
                  </a:lnTo>
                  <a:lnTo>
                    <a:pt x="121" y="9"/>
                  </a:lnTo>
                  <a:lnTo>
                    <a:pt x="96" y="6"/>
                  </a:lnTo>
                  <a:lnTo>
                    <a:pt x="72" y="5"/>
                  </a:lnTo>
                  <a:lnTo>
                    <a:pt x="57"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0" name="Freeform 329"/>
            <p:cNvSpPr>
              <a:spLocks/>
            </p:cNvSpPr>
            <p:nvPr/>
          </p:nvSpPr>
          <p:spPr bwMode="auto">
            <a:xfrm>
              <a:off x="2849" y="1745"/>
              <a:ext cx="151" cy="89"/>
            </a:xfrm>
            <a:custGeom>
              <a:avLst/>
              <a:gdLst/>
              <a:ahLst/>
              <a:cxnLst>
                <a:cxn ang="0">
                  <a:pos x="123" y="66"/>
                </a:cxn>
                <a:cxn ang="0">
                  <a:pos x="122" y="79"/>
                </a:cxn>
                <a:cxn ang="0">
                  <a:pos x="95" y="73"/>
                </a:cxn>
                <a:cxn ang="0">
                  <a:pos x="73" y="80"/>
                </a:cxn>
                <a:cxn ang="0">
                  <a:pos x="56" y="78"/>
                </a:cxn>
                <a:cxn ang="0">
                  <a:pos x="41" y="76"/>
                </a:cxn>
                <a:cxn ang="0">
                  <a:pos x="37" y="71"/>
                </a:cxn>
                <a:cxn ang="0">
                  <a:pos x="36" y="65"/>
                </a:cxn>
                <a:cxn ang="0">
                  <a:pos x="31" y="64"/>
                </a:cxn>
                <a:cxn ang="0">
                  <a:pos x="26" y="62"/>
                </a:cxn>
                <a:cxn ang="0">
                  <a:pos x="20" y="59"/>
                </a:cxn>
                <a:cxn ang="0">
                  <a:pos x="0" y="37"/>
                </a:cxn>
                <a:cxn ang="0">
                  <a:pos x="7" y="35"/>
                </a:cxn>
                <a:cxn ang="0">
                  <a:pos x="19" y="19"/>
                </a:cxn>
                <a:cxn ang="0">
                  <a:pos x="32" y="6"/>
                </a:cxn>
                <a:cxn ang="0">
                  <a:pos x="33" y="5"/>
                </a:cxn>
                <a:cxn ang="0">
                  <a:pos x="60" y="7"/>
                </a:cxn>
                <a:cxn ang="0">
                  <a:pos x="84" y="0"/>
                </a:cxn>
                <a:cxn ang="0">
                  <a:pos x="85" y="0"/>
                </a:cxn>
                <a:cxn ang="0">
                  <a:pos x="95" y="11"/>
                </a:cxn>
                <a:cxn ang="0">
                  <a:pos x="105" y="20"/>
                </a:cxn>
                <a:cxn ang="0">
                  <a:pos x="110" y="36"/>
                </a:cxn>
                <a:cxn ang="0">
                  <a:pos x="114" y="50"/>
                </a:cxn>
                <a:cxn ang="0">
                  <a:pos x="126" y="50"/>
                </a:cxn>
                <a:cxn ang="0">
                  <a:pos x="134" y="53"/>
                </a:cxn>
                <a:cxn ang="0">
                  <a:pos x="134" y="58"/>
                </a:cxn>
                <a:cxn ang="0">
                  <a:pos x="128" y="61"/>
                </a:cxn>
                <a:cxn ang="0">
                  <a:pos x="127" y="60"/>
                </a:cxn>
                <a:cxn ang="0">
                  <a:pos x="123" y="66"/>
                </a:cxn>
              </a:cxnLst>
              <a:rect l="0" t="0" r="r" b="b"/>
              <a:pathLst>
                <a:path w="134" h="80">
                  <a:moveTo>
                    <a:pt x="123" y="66"/>
                  </a:moveTo>
                  <a:lnTo>
                    <a:pt x="122" y="79"/>
                  </a:lnTo>
                  <a:lnTo>
                    <a:pt x="95" y="73"/>
                  </a:lnTo>
                  <a:lnTo>
                    <a:pt x="73" y="80"/>
                  </a:lnTo>
                  <a:lnTo>
                    <a:pt x="56" y="78"/>
                  </a:lnTo>
                  <a:lnTo>
                    <a:pt x="41" y="76"/>
                  </a:lnTo>
                  <a:lnTo>
                    <a:pt x="37" y="71"/>
                  </a:lnTo>
                  <a:lnTo>
                    <a:pt x="36" y="65"/>
                  </a:lnTo>
                  <a:lnTo>
                    <a:pt x="31" y="64"/>
                  </a:lnTo>
                  <a:lnTo>
                    <a:pt x="26" y="62"/>
                  </a:lnTo>
                  <a:lnTo>
                    <a:pt x="20" y="59"/>
                  </a:lnTo>
                  <a:lnTo>
                    <a:pt x="0" y="37"/>
                  </a:lnTo>
                  <a:lnTo>
                    <a:pt x="7" y="35"/>
                  </a:lnTo>
                  <a:lnTo>
                    <a:pt x="19" y="19"/>
                  </a:lnTo>
                  <a:lnTo>
                    <a:pt x="32" y="6"/>
                  </a:lnTo>
                  <a:lnTo>
                    <a:pt x="33" y="5"/>
                  </a:lnTo>
                  <a:lnTo>
                    <a:pt x="60" y="7"/>
                  </a:lnTo>
                  <a:lnTo>
                    <a:pt x="84" y="0"/>
                  </a:lnTo>
                  <a:lnTo>
                    <a:pt x="85" y="0"/>
                  </a:lnTo>
                  <a:lnTo>
                    <a:pt x="95" y="11"/>
                  </a:lnTo>
                  <a:lnTo>
                    <a:pt x="105" y="20"/>
                  </a:lnTo>
                  <a:lnTo>
                    <a:pt x="110" y="36"/>
                  </a:lnTo>
                  <a:lnTo>
                    <a:pt x="114" y="50"/>
                  </a:lnTo>
                  <a:lnTo>
                    <a:pt x="126" y="50"/>
                  </a:lnTo>
                  <a:lnTo>
                    <a:pt x="134" y="53"/>
                  </a:lnTo>
                  <a:lnTo>
                    <a:pt x="134" y="58"/>
                  </a:lnTo>
                  <a:lnTo>
                    <a:pt x="128" y="61"/>
                  </a:lnTo>
                  <a:lnTo>
                    <a:pt x="127" y="60"/>
                  </a:lnTo>
                  <a:lnTo>
                    <a:pt x="123" y="6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1" name="Freeform 330"/>
            <p:cNvSpPr>
              <a:spLocks/>
            </p:cNvSpPr>
            <p:nvPr/>
          </p:nvSpPr>
          <p:spPr bwMode="auto">
            <a:xfrm>
              <a:off x="2718" y="1694"/>
              <a:ext cx="102" cy="47"/>
            </a:xfrm>
            <a:custGeom>
              <a:avLst/>
              <a:gdLst/>
              <a:ahLst/>
              <a:cxnLst>
                <a:cxn ang="0">
                  <a:pos x="76" y="12"/>
                </a:cxn>
                <a:cxn ang="0">
                  <a:pos x="92" y="24"/>
                </a:cxn>
                <a:cxn ang="0">
                  <a:pos x="92" y="25"/>
                </a:cxn>
                <a:cxn ang="0">
                  <a:pos x="88" y="29"/>
                </a:cxn>
                <a:cxn ang="0">
                  <a:pos x="84" y="31"/>
                </a:cxn>
                <a:cxn ang="0">
                  <a:pos x="84" y="33"/>
                </a:cxn>
                <a:cxn ang="0">
                  <a:pos x="79" y="37"/>
                </a:cxn>
                <a:cxn ang="0">
                  <a:pos x="72" y="39"/>
                </a:cxn>
                <a:cxn ang="0">
                  <a:pos x="67" y="39"/>
                </a:cxn>
                <a:cxn ang="0">
                  <a:pos x="62" y="39"/>
                </a:cxn>
                <a:cxn ang="0">
                  <a:pos x="40" y="35"/>
                </a:cxn>
                <a:cxn ang="0">
                  <a:pos x="32" y="42"/>
                </a:cxn>
                <a:cxn ang="0">
                  <a:pos x="24" y="39"/>
                </a:cxn>
                <a:cxn ang="0">
                  <a:pos x="4" y="19"/>
                </a:cxn>
                <a:cxn ang="0">
                  <a:pos x="0" y="13"/>
                </a:cxn>
                <a:cxn ang="0">
                  <a:pos x="31" y="0"/>
                </a:cxn>
                <a:cxn ang="0">
                  <a:pos x="35" y="1"/>
                </a:cxn>
                <a:cxn ang="0">
                  <a:pos x="37" y="1"/>
                </a:cxn>
                <a:cxn ang="0">
                  <a:pos x="55" y="7"/>
                </a:cxn>
                <a:cxn ang="0">
                  <a:pos x="59" y="12"/>
                </a:cxn>
                <a:cxn ang="0">
                  <a:pos x="66" y="12"/>
                </a:cxn>
                <a:cxn ang="0">
                  <a:pos x="76" y="12"/>
                </a:cxn>
              </a:cxnLst>
              <a:rect l="0" t="0" r="r" b="b"/>
              <a:pathLst>
                <a:path w="92" h="42">
                  <a:moveTo>
                    <a:pt x="76" y="12"/>
                  </a:moveTo>
                  <a:lnTo>
                    <a:pt x="92" y="24"/>
                  </a:lnTo>
                  <a:lnTo>
                    <a:pt x="92" y="25"/>
                  </a:lnTo>
                  <a:lnTo>
                    <a:pt x="88" y="29"/>
                  </a:lnTo>
                  <a:lnTo>
                    <a:pt x="84" y="31"/>
                  </a:lnTo>
                  <a:lnTo>
                    <a:pt x="84" y="33"/>
                  </a:lnTo>
                  <a:lnTo>
                    <a:pt x="79" y="37"/>
                  </a:lnTo>
                  <a:lnTo>
                    <a:pt x="72" y="39"/>
                  </a:lnTo>
                  <a:lnTo>
                    <a:pt x="67" y="39"/>
                  </a:lnTo>
                  <a:lnTo>
                    <a:pt x="62" y="39"/>
                  </a:lnTo>
                  <a:lnTo>
                    <a:pt x="40" y="35"/>
                  </a:lnTo>
                  <a:lnTo>
                    <a:pt x="32" y="42"/>
                  </a:lnTo>
                  <a:lnTo>
                    <a:pt x="24" y="39"/>
                  </a:lnTo>
                  <a:lnTo>
                    <a:pt x="4" y="19"/>
                  </a:lnTo>
                  <a:lnTo>
                    <a:pt x="0" y="13"/>
                  </a:lnTo>
                  <a:lnTo>
                    <a:pt x="31" y="0"/>
                  </a:lnTo>
                  <a:lnTo>
                    <a:pt x="35" y="1"/>
                  </a:lnTo>
                  <a:lnTo>
                    <a:pt x="37" y="1"/>
                  </a:lnTo>
                  <a:lnTo>
                    <a:pt x="55" y="7"/>
                  </a:lnTo>
                  <a:lnTo>
                    <a:pt x="59" y="12"/>
                  </a:lnTo>
                  <a:lnTo>
                    <a:pt x="66" y="12"/>
                  </a:lnTo>
                  <a:lnTo>
                    <a:pt x="7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2" name="Freeform 331"/>
            <p:cNvSpPr>
              <a:spLocks/>
            </p:cNvSpPr>
            <p:nvPr/>
          </p:nvSpPr>
          <p:spPr bwMode="auto">
            <a:xfrm>
              <a:off x="2569" y="1685"/>
              <a:ext cx="58" cy="36"/>
            </a:xfrm>
            <a:custGeom>
              <a:avLst/>
              <a:gdLst/>
              <a:ahLst/>
              <a:cxnLst>
                <a:cxn ang="0">
                  <a:pos x="11" y="0"/>
                </a:cxn>
                <a:cxn ang="0">
                  <a:pos x="0" y="5"/>
                </a:cxn>
                <a:cxn ang="0">
                  <a:pos x="6" y="11"/>
                </a:cxn>
                <a:cxn ang="0">
                  <a:pos x="24" y="23"/>
                </a:cxn>
                <a:cxn ang="0">
                  <a:pos x="30" y="22"/>
                </a:cxn>
                <a:cxn ang="0">
                  <a:pos x="31" y="24"/>
                </a:cxn>
                <a:cxn ang="0">
                  <a:pos x="45" y="31"/>
                </a:cxn>
                <a:cxn ang="0">
                  <a:pos x="45" y="29"/>
                </a:cxn>
                <a:cxn ang="0">
                  <a:pos x="49" y="22"/>
                </a:cxn>
                <a:cxn ang="0">
                  <a:pos x="50" y="12"/>
                </a:cxn>
                <a:cxn ang="0">
                  <a:pos x="48" y="11"/>
                </a:cxn>
                <a:cxn ang="0">
                  <a:pos x="43" y="7"/>
                </a:cxn>
                <a:cxn ang="0">
                  <a:pos x="41" y="1"/>
                </a:cxn>
                <a:cxn ang="0">
                  <a:pos x="23" y="0"/>
                </a:cxn>
                <a:cxn ang="0">
                  <a:pos x="11" y="0"/>
                </a:cxn>
              </a:cxnLst>
              <a:rect l="0" t="0" r="r" b="b"/>
              <a:pathLst>
                <a:path w="50" h="31">
                  <a:moveTo>
                    <a:pt x="11" y="0"/>
                  </a:moveTo>
                  <a:lnTo>
                    <a:pt x="0" y="5"/>
                  </a:lnTo>
                  <a:lnTo>
                    <a:pt x="6" y="11"/>
                  </a:lnTo>
                  <a:lnTo>
                    <a:pt x="24" y="23"/>
                  </a:lnTo>
                  <a:lnTo>
                    <a:pt x="30" y="22"/>
                  </a:lnTo>
                  <a:lnTo>
                    <a:pt x="31" y="24"/>
                  </a:lnTo>
                  <a:lnTo>
                    <a:pt x="45" y="31"/>
                  </a:lnTo>
                  <a:lnTo>
                    <a:pt x="45" y="29"/>
                  </a:lnTo>
                  <a:lnTo>
                    <a:pt x="49" y="22"/>
                  </a:lnTo>
                  <a:lnTo>
                    <a:pt x="50" y="12"/>
                  </a:lnTo>
                  <a:lnTo>
                    <a:pt x="48" y="11"/>
                  </a:lnTo>
                  <a:lnTo>
                    <a:pt x="43" y="7"/>
                  </a:lnTo>
                  <a:lnTo>
                    <a:pt x="41" y="1"/>
                  </a:lnTo>
                  <a:lnTo>
                    <a:pt x="23" y="0"/>
                  </a:lnTo>
                  <a:lnTo>
                    <a:pt x="1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3" name="Freeform 332"/>
            <p:cNvSpPr>
              <a:spLocks/>
            </p:cNvSpPr>
            <p:nvPr/>
          </p:nvSpPr>
          <p:spPr bwMode="auto">
            <a:xfrm>
              <a:off x="2622" y="1616"/>
              <a:ext cx="134" cy="147"/>
            </a:xfrm>
            <a:custGeom>
              <a:avLst/>
              <a:gdLst/>
              <a:ahLst/>
              <a:cxnLst>
                <a:cxn ang="0">
                  <a:pos x="29" y="24"/>
                </a:cxn>
                <a:cxn ang="0">
                  <a:pos x="31" y="25"/>
                </a:cxn>
                <a:cxn ang="0">
                  <a:pos x="31" y="21"/>
                </a:cxn>
                <a:cxn ang="0">
                  <a:pos x="36" y="19"/>
                </a:cxn>
                <a:cxn ang="0">
                  <a:pos x="45" y="23"/>
                </a:cxn>
                <a:cxn ang="0">
                  <a:pos x="41" y="18"/>
                </a:cxn>
                <a:cxn ang="0">
                  <a:pos x="36" y="11"/>
                </a:cxn>
                <a:cxn ang="0">
                  <a:pos x="35" y="9"/>
                </a:cxn>
                <a:cxn ang="0">
                  <a:pos x="32" y="0"/>
                </a:cxn>
                <a:cxn ang="0">
                  <a:pos x="43" y="2"/>
                </a:cxn>
                <a:cxn ang="0">
                  <a:pos x="47" y="2"/>
                </a:cxn>
                <a:cxn ang="0">
                  <a:pos x="48" y="7"/>
                </a:cxn>
                <a:cxn ang="0">
                  <a:pos x="62" y="9"/>
                </a:cxn>
                <a:cxn ang="0">
                  <a:pos x="62" y="14"/>
                </a:cxn>
                <a:cxn ang="0">
                  <a:pos x="67" y="17"/>
                </a:cxn>
                <a:cxn ang="0">
                  <a:pos x="85" y="8"/>
                </a:cxn>
                <a:cxn ang="0">
                  <a:pos x="85" y="9"/>
                </a:cxn>
                <a:cxn ang="0">
                  <a:pos x="101" y="15"/>
                </a:cxn>
                <a:cxn ang="0">
                  <a:pos x="107" y="14"/>
                </a:cxn>
                <a:cxn ang="0">
                  <a:pos x="113" y="20"/>
                </a:cxn>
                <a:cxn ang="0">
                  <a:pos x="108" y="21"/>
                </a:cxn>
                <a:cxn ang="0">
                  <a:pos x="110" y="37"/>
                </a:cxn>
                <a:cxn ang="0">
                  <a:pos x="117" y="56"/>
                </a:cxn>
                <a:cxn ang="0">
                  <a:pos x="120" y="69"/>
                </a:cxn>
                <a:cxn ang="0">
                  <a:pos x="116" y="68"/>
                </a:cxn>
                <a:cxn ang="0">
                  <a:pos x="85" y="81"/>
                </a:cxn>
                <a:cxn ang="0">
                  <a:pos x="89" y="87"/>
                </a:cxn>
                <a:cxn ang="0">
                  <a:pos x="109" y="107"/>
                </a:cxn>
                <a:cxn ang="0">
                  <a:pos x="98" y="116"/>
                </a:cxn>
                <a:cxn ang="0">
                  <a:pos x="101" y="125"/>
                </a:cxn>
                <a:cxn ang="0">
                  <a:pos x="96" y="127"/>
                </a:cxn>
                <a:cxn ang="0">
                  <a:pos x="79" y="127"/>
                </a:cxn>
                <a:cxn ang="0">
                  <a:pos x="67" y="127"/>
                </a:cxn>
                <a:cxn ang="0">
                  <a:pos x="63" y="131"/>
                </a:cxn>
                <a:cxn ang="0">
                  <a:pos x="51" y="128"/>
                </a:cxn>
                <a:cxn ang="0">
                  <a:pos x="37" y="126"/>
                </a:cxn>
                <a:cxn ang="0">
                  <a:pos x="24" y="127"/>
                </a:cxn>
                <a:cxn ang="0">
                  <a:pos x="30" y="102"/>
                </a:cxn>
                <a:cxn ang="0">
                  <a:pos x="7" y="95"/>
                </a:cxn>
                <a:cxn ang="0">
                  <a:pos x="5" y="93"/>
                </a:cxn>
                <a:cxn ang="0">
                  <a:pos x="5" y="92"/>
                </a:cxn>
                <a:cxn ang="0">
                  <a:pos x="1" y="83"/>
                </a:cxn>
                <a:cxn ang="0">
                  <a:pos x="2" y="73"/>
                </a:cxn>
                <a:cxn ang="0">
                  <a:pos x="0" y="72"/>
                </a:cxn>
                <a:cxn ang="0">
                  <a:pos x="1" y="53"/>
                </a:cxn>
                <a:cxn ang="0">
                  <a:pos x="13" y="47"/>
                </a:cxn>
                <a:cxn ang="0">
                  <a:pos x="8" y="39"/>
                </a:cxn>
                <a:cxn ang="0">
                  <a:pos x="14" y="29"/>
                </a:cxn>
                <a:cxn ang="0">
                  <a:pos x="12" y="27"/>
                </a:cxn>
                <a:cxn ang="0">
                  <a:pos x="14" y="21"/>
                </a:cxn>
                <a:cxn ang="0">
                  <a:pos x="29" y="24"/>
                </a:cxn>
              </a:cxnLst>
              <a:rect l="0" t="0" r="r" b="b"/>
              <a:pathLst>
                <a:path w="120" h="131">
                  <a:moveTo>
                    <a:pt x="29" y="24"/>
                  </a:moveTo>
                  <a:lnTo>
                    <a:pt x="31" y="25"/>
                  </a:lnTo>
                  <a:lnTo>
                    <a:pt x="31" y="21"/>
                  </a:lnTo>
                  <a:lnTo>
                    <a:pt x="36" y="19"/>
                  </a:lnTo>
                  <a:lnTo>
                    <a:pt x="45" y="23"/>
                  </a:lnTo>
                  <a:lnTo>
                    <a:pt x="41" y="18"/>
                  </a:lnTo>
                  <a:lnTo>
                    <a:pt x="36" y="11"/>
                  </a:lnTo>
                  <a:lnTo>
                    <a:pt x="35" y="9"/>
                  </a:lnTo>
                  <a:lnTo>
                    <a:pt x="32" y="0"/>
                  </a:lnTo>
                  <a:lnTo>
                    <a:pt x="43" y="2"/>
                  </a:lnTo>
                  <a:lnTo>
                    <a:pt x="47" y="2"/>
                  </a:lnTo>
                  <a:lnTo>
                    <a:pt x="48" y="7"/>
                  </a:lnTo>
                  <a:lnTo>
                    <a:pt x="62" y="9"/>
                  </a:lnTo>
                  <a:lnTo>
                    <a:pt x="62" y="14"/>
                  </a:lnTo>
                  <a:lnTo>
                    <a:pt x="67" y="17"/>
                  </a:lnTo>
                  <a:lnTo>
                    <a:pt x="85" y="8"/>
                  </a:lnTo>
                  <a:lnTo>
                    <a:pt x="85" y="9"/>
                  </a:lnTo>
                  <a:lnTo>
                    <a:pt x="101" y="15"/>
                  </a:lnTo>
                  <a:lnTo>
                    <a:pt x="107" y="14"/>
                  </a:lnTo>
                  <a:lnTo>
                    <a:pt x="113" y="20"/>
                  </a:lnTo>
                  <a:lnTo>
                    <a:pt x="108" y="21"/>
                  </a:lnTo>
                  <a:lnTo>
                    <a:pt x="110" y="37"/>
                  </a:lnTo>
                  <a:lnTo>
                    <a:pt x="117" y="56"/>
                  </a:lnTo>
                  <a:lnTo>
                    <a:pt x="120" y="69"/>
                  </a:lnTo>
                  <a:lnTo>
                    <a:pt x="116" y="68"/>
                  </a:lnTo>
                  <a:lnTo>
                    <a:pt x="85" y="81"/>
                  </a:lnTo>
                  <a:lnTo>
                    <a:pt x="89" y="87"/>
                  </a:lnTo>
                  <a:lnTo>
                    <a:pt x="109" y="107"/>
                  </a:lnTo>
                  <a:lnTo>
                    <a:pt x="98" y="116"/>
                  </a:lnTo>
                  <a:lnTo>
                    <a:pt x="101" y="125"/>
                  </a:lnTo>
                  <a:lnTo>
                    <a:pt x="96" y="127"/>
                  </a:lnTo>
                  <a:lnTo>
                    <a:pt x="79" y="127"/>
                  </a:lnTo>
                  <a:lnTo>
                    <a:pt x="67" y="127"/>
                  </a:lnTo>
                  <a:lnTo>
                    <a:pt x="63" y="131"/>
                  </a:lnTo>
                  <a:lnTo>
                    <a:pt x="51" y="128"/>
                  </a:lnTo>
                  <a:lnTo>
                    <a:pt x="37" y="126"/>
                  </a:lnTo>
                  <a:lnTo>
                    <a:pt x="24" y="127"/>
                  </a:lnTo>
                  <a:lnTo>
                    <a:pt x="30" y="102"/>
                  </a:lnTo>
                  <a:lnTo>
                    <a:pt x="7" y="95"/>
                  </a:lnTo>
                  <a:lnTo>
                    <a:pt x="5" y="93"/>
                  </a:lnTo>
                  <a:lnTo>
                    <a:pt x="5" y="92"/>
                  </a:lnTo>
                  <a:lnTo>
                    <a:pt x="1" y="83"/>
                  </a:lnTo>
                  <a:lnTo>
                    <a:pt x="2" y="73"/>
                  </a:lnTo>
                  <a:lnTo>
                    <a:pt x="0" y="72"/>
                  </a:lnTo>
                  <a:lnTo>
                    <a:pt x="1" y="53"/>
                  </a:lnTo>
                  <a:lnTo>
                    <a:pt x="13" y="47"/>
                  </a:lnTo>
                  <a:lnTo>
                    <a:pt x="8" y="39"/>
                  </a:lnTo>
                  <a:lnTo>
                    <a:pt x="14" y="29"/>
                  </a:lnTo>
                  <a:lnTo>
                    <a:pt x="12" y="27"/>
                  </a:lnTo>
                  <a:lnTo>
                    <a:pt x="14" y="21"/>
                  </a:lnTo>
                  <a:lnTo>
                    <a:pt x="29"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4" name="Freeform 333"/>
            <p:cNvSpPr>
              <a:spLocks/>
            </p:cNvSpPr>
            <p:nvPr/>
          </p:nvSpPr>
          <p:spPr bwMode="auto">
            <a:xfrm>
              <a:off x="2727" y="1623"/>
              <a:ext cx="9" cy="7"/>
            </a:xfrm>
            <a:custGeom>
              <a:avLst/>
              <a:gdLst/>
              <a:ahLst/>
              <a:cxnLst>
                <a:cxn ang="0">
                  <a:pos x="0" y="5"/>
                </a:cxn>
                <a:cxn ang="0">
                  <a:pos x="9" y="5"/>
                </a:cxn>
                <a:cxn ang="0">
                  <a:pos x="4" y="0"/>
                </a:cxn>
                <a:cxn ang="0">
                  <a:pos x="0" y="5"/>
                </a:cxn>
              </a:cxnLst>
              <a:rect l="0" t="0" r="r" b="b"/>
              <a:pathLst>
                <a:path w="9" h="5">
                  <a:moveTo>
                    <a:pt x="0" y="5"/>
                  </a:moveTo>
                  <a:lnTo>
                    <a:pt x="9" y="5"/>
                  </a:lnTo>
                  <a:lnTo>
                    <a:pt x="4" y="0"/>
                  </a:lnTo>
                  <a:lnTo>
                    <a:pt x="0"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5" name="Freeform 334"/>
            <p:cNvSpPr>
              <a:spLocks/>
            </p:cNvSpPr>
            <p:nvPr/>
          </p:nvSpPr>
          <p:spPr bwMode="auto">
            <a:xfrm>
              <a:off x="2620" y="1710"/>
              <a:ext cx="9" cy="11"/>
            </a:xfrm>
            <a:custGeom>
              <a:avLst/>
              <a:gdLst/>
              <a:ahLst/>
              <a:cxnLst>
                <a:cxn ang="0">
                  <a:pos x="4" y="0"/>
                </a:cxn>
                <a:cxn ang="0">
                  <a:pos x="0" y="7"/>
                </a:cxn>
                <a:cxn ang="0">
                  <a:pos x="0" y="9"/>
                </a:cxn>
                <a:cxn ang="0">
                  <a:pos x="8" y="10"/>
                </a:cxn>
                <a:cxn ang="0">
                  <a:pos x="8" y="9"/>
                </a:cxn>
                <a:cxn ang="0">
                  <a:pos x="4" y="0"/>
                </a:cxn>
              </a:cxnLst>
              <a:rect l="0" t="0" r="r" b="b"/>
              <a:pathLst>
                <a:path w="8" h="10">
                  <a:moveTo>
                    <a:pt x="4" y="0"/>
                  </a:moveTo>
                  <a:lnTo>
                    <a:pt x="0" y="7"/>
                  </a:lnTo>
                  <a:lnTo>
                    <a:pt x="0" y="9"/>
                  </a:lnTo>
                  <a:lnTo>
                    <a:pt x="8" y="10"/>
                  </a:lnTo>
                  <a:lnTo>
                    <a:pt x="8" y="9"/>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6" name="Freeform 335"/>
            <p:cNvSpPr>
              <a:spLocks/>
            </p:cNvSpPr>
            <p:nvPr/>
          </p:nvSpPr>
          <p:spPr bwMode="auto">
            <a:xfrm>
              <a:off x="2942" y="1734"/>
              <a:ext cx="69" cy="69"/>
            </a:xfrm>
            <a:custGeom>
              <a:avLst/>
              <a:gdLst/>
              <a:ahLst/>
              <a:cxnLst>
                <a:cxn ang="0">
                  <a:pos x="12" y="0"/>
                </a:cxn>
                <a:cxn ang="0">
                  <a:pos x="0" y="10"/>
                </a:cxn>
                <a:cxn ang="0">
                  <a:pos x="1" y="10"/>
                </a:cxn>
                <a:cxn ang="0">
                  <a:pos x="11" y="21"/>
                </a:cxn>
                <a:cxn ang="0">
                  <a:pos x="21" y="30"/>
                </a:cxn>
                <a:cxn ang="0">
                  <a:pos x="26" y="46"/>
                </a:cxn>
                <a:cxn ang="0">
                  <a:pos x="30" y="60"/>
                </a:cxn>
                <a:cxn ang="0">
                  <a:pos x="42" y="60"/>
                </a:cxn>
                <a:cxn ang="0">
                  <a:pos x="50" y="63"/>
                </a:cxn>
                <a:cxn ang="0">
                  <a:pos x="49" y="54"/>
                </a:cxn>
                <a:cxn ang="0">
                  <a:pos x="61" y="44"/>
                </a:cxn>
                <a:cxn ang="0">
                  <a:pos x="50" y="33"/>
                </a:cxn>
                <a:cxn ang="0">
                  <a:pos x="38" y="23"/>
                </a:cxn>
                <a:cxn ang="0">
                  <a:pos x="27" y="12"/>
                </a:cxn>
                <a:cxn ang="0">
                  <a:pos x="17" y="2"/>
                </a:cxn>
                <a:cxn ang="0">
                  <a:pos x="12" y="0"/>
                </a:cxn>
              </a:cxnLst>
              <a:rect l="0" t="0" r="r" b="b"/>
              <a:pathLst>
                <a:path w="61" h="63">
                  <a:moveTo>
                    <a:pt x="12" y="0"/>
                  </a:moveTo>
                  <a:lnTo>
                    <a:pt x="0" y="10"/>
                  </a:lnTo>
                  <a:lnTo>
                    <a:pt x="1" y="10"/>
                  </a:lnTo>
                  <a:lnTo>
                    <a:pt x="11" y="21"/>
                  </a:lnTo>
                  <a:lnTo>
                    <a:pt x="21" y="30"/>
                  </a:lnTo>
                  <a:lnTo>
                    <a:pt x="26" y="46"/>
                  </a:lnTo>
                  <a:lnTo>
                    <a:pt x="30" y="60"/>
                  </a:lnTo>
                  <a:lnTo>
                    <a:pt x="42" y="60"/>
                  </a:lnTo>
                  <a:lnTo>
                    <a:pt x="50" y="63"/>
                  </a:lnTo>
                  <a:lnTo>
                    <a:pt x="49" y="54"/>
                  </a:lnTo>
                  <a:lnTo>
                    <a:pt x="61" y="44"/>
                  </a:lnTo>
                  <a:lnTo>
                    <a:pt x="50" y="33"/>
                  </a:lnTo>
                  <a:lnTo>
                    <a:pt x="38" y="23"/>
                  </a:lnTo>
                  <a:lnTo>
                    <a:pt x="27" y="12"/>
                  </a:lnTo>
                  <a:lnTo>
                    <a:pt x="17" y="2"/>
                  </a:lnTo>
                  <a:lnTo>
                    <a:pt x="1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7" name="Freeform 336"/>
            <p:cNvSpPr>
              <a:spLocks/>
            </p:cNvSpPr>
            <p:nvPr/>
          </p:nvSpPr>
          <p:spPr bwMode="auto">
            <a:xfrm>
              <a:off x="2602" y="1330"/>
              <a:ext cx="320" cy="229"/>
            </a:xfrm>
            <a:custGeom>
              <a:avLst/>
              <a:gdLst/>
              <a:ahLst/>
              <a:cxnLst>
                <a:cxn ang="0">
                  <a:pos x="166" y="17"/>
                </a:cxn>
                <a:cxn ang="0">
                  <a:pos x="159" y="18"/>
                </a:cxn>
                <a:cxn ang="0">
                  <a:pos x="150" y="24"/>
                </a:cxn>
                <a:cxn ang="0">
                  <a:pos x="141" y="29"/>
                </a:cxn>
                <a:cxn ang="0">
                  <a:pos x="127" y="38"/>
                </a:cxn>
                <a:cxn ang="0">
                  <a:pos x="129" y="42"/>
                </a:cxn>
                <a:cxn ang="0">
                  <a:pos x="126" y="48"/>
                </a:cxn>
                <a:cxn ang="0">
                  <a:pos x="110" y="51"/>
                </a:cxn>
                <a:cxn ang="0">
                  <a:pos x="120" y="55"/>
                </a:cxn>
                <a:cxn ang="0">
                  <a:pos x="110" y="57"/>
                </a:cxn>
                <a:cxn ang="0">
                  <a:pos x="99" y="65"/>
                </a:cxn>
                <a:cxn ang="0">
                  <a:pos x="91" y="72"/>
                </a:cxn>
                <a:cxn ang="0">
                  <a:pos x="90" y="77"/>
                </a:cxn>
                <a:cxn ang="0">
                  <a:pos x="87" y="89"/>
                </a:cxn>
                <a:cxn ang="0">
                  <a:pos x="75" y="96"/>
                </a:cxn>
                <a:cxn ang="0">
                  <a:pos x="72" y="101"/>
                </a:cxn>
                <a:cxn ang="0">
                  <a:pos x="56" y="113"/>
                </a:cxn>
                <a:cxn ang="0">
                  <a:pos x="73" y="109"/>
                </a:cxn>
                <a:cxn ang="0">
                  <a:pos x="58" y="117"/>
                </a:cxn>
                <a:cxn ang="0">
                  <a:pos x="42" y="121"/>
                </a:cxn>
                <a:cxn ang="0">
                  <a:pos x="37" y="126"/>
                </a:cxn>
                <a:cxn ang="0">
                  <a:pos x="22" y="129"/>
                </a:cxn>
                <a:cxn ang="0">
                  <a:pos x="27" y="131"/>
                </a:cxn>
                <a:cxn ang="0">
                  <a:pos x="24" y="138"/>
                </a:cxn>
                <a:cxn ang="0">
                  <a:pos x="9" y="138"/>
                </a:cxn>
                <a:cxn ang="0">
                  <a:pos x="1" y="139"/>
                </a:cxn>
                <a:cxn ang="0">
                  <a:pos x="0" y="145"/>
                </a:cxn>
                <a:cxn ang="0">
                  <a:pos x="3" y="151"/>
                </a:cxn>
                <a:cxn ang="0">
                  <a:pos x="27" y="152"/>
                </a:cxn>
                <a:cxn ang="0">
                  <a:pos x="26" y="158"/>
                </a:cxn>
                <a:cxn ang="0">
                  <a:pos x="2" y="161"/>
                </a:cxn>
                <a:cxn ang="0">
                  <a:pos x="8" y="163"/>
                </a:cxn>
                <a:cxn ang="0">
                  <a:pos x="8" y="169"/>
                </a:cxn>
                <a:cxn ang="0">
                  <a:pos x="22" y="165"/>
                </a:cxn>
                <a:cxn ang="0">
                  <a:pos x="12" y="176"/>
                </a:cxn>
                <a:cxn ang="0">
                  <a:pos x="6" y="185"/>
                </a:cxn>
                <a:cxn ang="0">
                  <a:pos x="16" y="185"/>
                </a:cxn>
                <a:cxn ang="0">
                  <a:pos x="10" y="198"/>
                </a:cxn>
                <a:cxn ang="0">
                  <a:pos x="60" y="188"/>
                </a:cxn>
                <a:cxn ang="0">
                  <a:pos x="73" y="176"/>
                </a:cxn>
                <a:cxn ang="0">
                  <a:pos x="90" y="175"/>
                </a:cxn>
                <a:cxn ang="0">
                  <a:pos x="97" y="151"/>
                </a:cxn>
                <a:cxn ang="0">
                  <a:pos x="86" y="114"/>
                </a:cxn>
                <a:cxn ang="0">
                  <a:pos x="102" y="99"/>
                </a:cxn>
                <a:cxn ang="0">
                  <a:pos x="120" y="73"/>
                </a:cxn>
                <a:cxn ang="0">
                  <a:pos x="147" y="43"/>
                </a:cxn>
                <a:cxn ang="0">
                  <a:pos x="168" y="30"/>
                </a:cxn>
                <a:cxn ang="0">
                  <a:pos x="194" y="33"/>
                </a:cxn>
                <a:cxn ang="0">
                  <a:pos x="230" y="32"/>
                </a:cxn>
                <a:cxn ang="0">
                  <a:pos x="270" y="20"/>
                </a:cxn>
                <a:cxn ang="0">
                  <a:pos x="289" y="23"/>
                </a:cxn>
                <a:cxn ang="0">
                  <a:pos x="276" y="19"/>
                </a:cxn>
                <a:cxn ang="0">
                  <a:pos x="278" y="6"/>
                </a:cxn>
                <a:cxn ang="0">
                  <a:pos x="256" y="13"/>
                </a:cxn>
                <a:cxn ang="0">
                  <a:pos x="253" y="5"/>
                </a:cxn>
                <a:cxn ang="0">
                  <a:pos x="237" y="11"/>
                </a:cxn>
                <a:cxn ang="0">
                  <a:pos x="225" y="5"/>
                </a:cxn>
                <a:cxn ang="0">
                  <a:pos x="213" y="6"/>
                </a:cxn>
                <a:cxn ang="0">
                  <a:pos x="193" y="12"/>
                </a:cxn>
                <a:cxn ang="0">
                  <a:pos x="186" y="18"/>
                </a:cxn>
              </a:cxnLst>
              <a:rect l="0" t="0" r="r" b="b"/>
              <a:pathLst>
                <a:path w="289" h="205">
                  <a:moveTo>
                    <a:pt x="171" y="21"/>
                  </a:moveTo>
                  <a:lnTo>
                    <a:pt x="166" y="26"/>
                  </a:lnTo>
                  <a:lnTo>
                    <a:pt x="166" y="17"/>
                  </a:lnTo>
                  <a:lnTo>
                    <a:pt x="165" y="21"/>
                  </a:lnTo>
                  <a:lnTo>
                    <a:pt x="162" y="23"/>
                  </a:lnTo>
                  <a:lnTo>
                    <a:pt x="159" y="18"/>
                  </a:lnTo>
                  <a:lnTo>
                    <a:pt x="157" y="21"/>
                  </a:lnTo>
                  <a:lnTo>
                    <a:pt x="158" y="25"/>
                  </a:lnTo>
                  <a:lnTo>
                    <a:pt x="150" y="24"/>
                  </a:lnTo>
                  <a:lnTo>
                    <a:pt x="151" y="26"/>
                  </a:lnTo>
                  <a:lnTo>
                    <a:pt x="145" y="25"/>
                  </a:lnTo>
                  <a:lnTo>
                    <a:pt x="141" y="29"/>
                  </a:lnTo>
                  <a:lnTo>
                    <a:pt x="142" y="35"/>
                  </a:lnTo>
                  <a:lnTo>
                    <a:pt x="140" y="36"/>
                  </a:lnTo>
                  <a:lnTo>
                    <a:pt x="127" y="38"/>
                  </a:lnTo>
                  <a:lnTo>
                    <a:pt x="140" y="39"/>
                  </a:lnTo>
                  <a:lnTo>
                    <a:pt x="138" y="43"/>
                  </a:lnTo>
                  <a:lnTo>
                    <a:pt x="129" y="42"/>
                  </a:lnTo>
                  <a:lnTo>
                    <a:pt x="128" y="43"/>
                  </a:lnTo>
                  <a:lnTo>
                    <a:pt x="126" y="47"/>
                  </a:lnTo>
                  <a:lnTo>
                    <a:pt x="126" y="48"/>
                  </a:lnTo>
                  <a:lnTo>
                    <a:pt x="122" y="44"/>
                  </a:lnTo>
                  <a:lnTo>
                    <a:pt x="118" y="45"/>
                  </a:lnTo>
                  <a:lnTo>
                    <a:pt x="110" y="51"/>
                  </a:lnTo>
                  <a:lnTo>
                    <a:pt x="121" y="50"/>
                  </a:lnTo>
                  <a:lnTo>
                    <a:pt x="117" y="53"/>
                  </a:lnTo>
                  <a:lnTo>
                    <a:pt x="120" y="55"/>
                  </a:lnTo>
                  <a:lnTo>
                    <a:pt x="118" y="55"/>
                  </a:lnTo>
                  <a:lnTo>
                    <a:pt x="111" y="55"/>
                  </a:lnTo>
                  <a:lnTo>
                    <a:pt x="110" y="57"/>
                  </a:lnTo>
                  <a:lnTo>
                    <a:pt x="118" y="61"/>
                  </a:lnTo>
                  <a:lnTo>
                    <a:pt x="109" y="61"/>
                  </a:lnTo>
                  <a:lnTo>
                    <a:pt x="99" y="65"/>
                  </a:lnTo>
                  <a:lnTo>
                    <a:pt x="93" y="68"/>
                  </a:lnTo>
                  <a:lnTo>
                    <a:pt x="94" y="68"/>
                  </a:lnTo>
                  <a:lnTo>
                    <a:pt x="91" y="72"/>
                  </a:lnTo>
                  <a:lnTo>
                    <a:pt x="93" y="73"/>
                  </a:lnTo>
                  <a:lnTo>
                    <a:pt x="100" y="73"/>
                  </a:lnTo>
                  <a:lnTo>
                    <a:pt x="90" y="77"/>
                  </a:lnTo>
                  <a:lnTo>
                    <a:pt x="87" y="81"/>
                  </a:lnTo>
                  <a:lnTo>
                    <a:pt x="87" y="85"/>
                  </a:lnTo>
                  <a:lnTo>
                    <a:pt x="87" y="89"/>
                  </a:lnTo>
                  <a:lnTo>
                    <a:pt x="90" y="90"/>
                  </a:lnTo>
                  <a:lnTo>
                    <a:pt x="75" y="95"/>
                  </a:lnTo>
                  <a:lnTo>
                    <a:pt x="75" y="96"/>
                  </a:lnTo>
                  <a:lnTo>
                    <a:pt x="81" y="93"/>
                  </a:lnTo>
                  <a:lnTo>
                    <a:pt x="78" y="98"/>
                  </a:lnTo>
                  <a:lnTo>
                    <a:pt x="72" y="101"/>
                  </a:lnTo>
                  <a:lnTo>
                    <a:pt x="67" y="102"/>
                  </a:lnTo>
                  <a:lnTo>
                    <a:pt x="60" y="109"/>
                  </a:lnTo>
                  <a:lnTo>
                    <a:pt x="56" y="113"/>
                  </a:lnTo>
                  <a:lnTo>
                    <a:pt x="61" y="116"/>
                  </a:lnTo>
                  <a:lnTo>
                    <a:pt x="68" y="111"/>
                  </a:lnTo>
                  <a:lnTo>
                    <a:pt x="73" y="109"/>
                  </a:lnTo>
                  <a:lnTo>
                    <a:pt x="73" y="114"/>
                  </a:lnTo>
                  <a:lnTo>
                    <a:pt x="63" y="117"/>
                  </a:lnTo>
                  <a:lnTo>
                    <a:pt x="58" y="117"/>
                  </a:lnTo>
                  <a:lnTo>
                    <a:pt x="49" y="116"/>
                  </a:lnTo>
                  <a:lnTo>
                    <a:pt x="48" y="117"/>
                  </a:lnTo>
                  <a:lnTo>
                    <a:pt x="42" y="121"/>
                  </a:lnTo>
                  <a:lnTo>
                    <a:pt x="38" y="125"/>
                  </a:lnTo>
                  <a:lnTo>
                    <a:pt x="39" y="127"/>
                  </a:lnTo>
                  <a:lnTo>
                    <a:pt x="37" y="126"/>
                  </a:lnTo>
                  <a:lnTo>
                    <a:pt x="40" y="129"/>
                  </a:lnTo>
                  <a:lnTo>
                    <a:pt x="24" y="125"/>
                  </a:lnTo>
                  <a:lnTo>
                    <a:pt x="22" y="129"/>
                  </a:lnTo>
                  <a:lnTo>
                    <a:pt x="27" y="129"/>
                  </a:lnTo>
                  <a:lnTo>
                    <a:pt x="32" y="129"/>
                  </a:lnTo>
                  <a:lnTo>
                    <a:pt x="27" y="131"/>
                  </a:lnTo>
                  <a:lnTo>
                    <a:pt x="16" y="133"/>
                  </a:lnTo>
                  <a:lnTo>
                    <a:pt x="25" y="137"/>
                  </a:lnTo>
                  <a:lnTo>
                    <a:pt x="24" y="138"/>
                  </a:lnTo>
                  <a:lnTo>
                    <a:pt x="15" y="134"/>
                  </a:lnTo>
                  <a:lnTo>
                    <a:pt x="16" y="137"/>
                  </a:lnTo>
                  <a:lnTo>
                    <a:pt x="9" y="138"/>
                  </a:lnTo>
                  <a:lnTo>
                    <a:pt x="12" y="139"/>
                  </a:lnTo>
                  <a:lnTo>
                    <a:pt x="4" y="140"/>
                  </a:lnTo>
                  <a:lnTo>
                    <a:pt x="1" y="139"/>
                  </a:lnTo>
                  <a:lnTo>
                    <a:pt x="1" y="143"/>
                  </a:lnTo>
                  <a:lnTo>
                    <a:pt x="18" y="144"/>
                  </a:lnTo>
                  <a:lnTo>
                    <a:pt x="0" y="145"/>
                  </a:lnTo>
                  <a:lnTo>
                    <a:pt x="6" y="150"/>
                  </a:lnTo>
                  <a:lnTo>
                    <a:pt x="2" y="151"/>
                  </a:lnTo>
                  <a:lnTo>
                    <a:pt x="3" y="151"/>
                  </a:lnTo>
                  <a:lnTo>
                    <a:pt x="1" y="155"/>
                  </a:lnTo>
                  <a:lnTo>
                    <a:pt x="19" y="152"/>
                  </a:lnTo>
                  <a:lnTo>
                    <a:pt x="27" y="152"/>
                  </a:lnTo>
                  <a:lnTo>
                    <a:pt x="28" y="151"/>
                  </a:lnTo>
                  <a:lnTo>
                    <a:pt x="30" y="156"/>
                  </a:lnTo>
                  <a:lnTo>
                    <a:pt x="26" y="158"/>
                  </a:lnTo>
                  <a:lnTo>
                    <a:pt x="16" y="156"/>
                  </a:lnTo>
                  <a:lnTo>
                    <a:pt x="0" y="158"/>
                  </a:lnTo>
                  <a:lnTo>
                    <a:pt x="2" y="161"/>
                  </a:lnTo>
                  <a:lnTo>
                    <a:pt x="3" y="162"/>
                  </a:lnTo>
                  <a:lnTo>
                    <a:pt x="0" y="162"/>
                  </a:lnTo>
                  <a:lnTo>
                    <a:pt x="8" y="163"/>
                  </a:lnTo>
                  <a:lnTo>
                    <a:pt x="6" y="167"/>
                  </a:lnTo>
                  <a:lnTo>
                    <a:pt x="2" y="170"/>
                  </a:lnTo>
                  <a:lnTo>
                    <a:pt x="8" y="169"/>
                  </a:lnTo>
                  <a:lnTo>
                    <a:pt x="10" y="173"/>
                  </a:lnTo>
                  <a:lnTo>
                    <a:pt x="16" y="167"/>
                  </a:lnTo>
                  <a:lnTo>
                    <a:pt x="22" y="165"/>
                  </a:lnTo>
                  <a:lnTo>
                    <a:pt x="19" y="171"/>
                  </a:lnTo>
                  <a:lnTo>
                    <a:pt x="18" y="167"/>
                  </a:lnTo>
                  <a:lnTo>
                    <a:pt x="12" y="176"/>
                  </a:lnTo>
                  <a:lnTo>
                    <a:pt x="13" y="177"/>
                  </a:lnTo>
                  <a:lnTo>
                    <a:pt x="6" y="180"/>
                  </a:lnTo>
                  <a:lnTo>
                    <a:pt x="6" y="185"/>
                  </a:lnTo>
                  <a:lnTo>
                    <a:pt x="12" y="182"/>
                  </a:lnTo>
                  <a:lnTo>
                    <a:pt x="15" y="181"/>
                  </a:lnTo>
                  <a:lnTo>
                    <a:pt x="16" y="185"/>
                  </a:lnTo>
                  <a:lnTo>
                    <a:pt x="15" y="189"/>
                  </a:lnTo>
                  <a:lnTo>
                    <a:pt x="9" y="191"/>
                  </a:lnTo>
                  <a:lnTo>
                    <a:pt x="10" y="198"/>
                  </a:lnTo>
                  <a:lnTo>
                    <a:pt x="21" y="204"/>
                  </a:lnTo>
                  <a:lnTo>
                    <a:pt x="39" y="205"/>
                  </a:lnTo>
                  <a:lnTo>
                    <a:pt x="60" y="188"/>
                  </a:lnTo>
                  <a:lnTo>
                    <a:pt x="68" y="188"/>
                  </a:lnTo>
                  <a:lnTo>
                    <a:pt x="68" y="179"/>
                  </a:lnTo>
                  <a:lnTo>
                    <a:pt x="73" y="176"/>
                  </a:lnTo>
                  <a:lnTo>
                    <a:pt x="76" y="187"/>
                  </a:lnTo>
                  <a:lnTo>
                    <a:pt x="82" y="191"/>
                  </a:lnTo>
                  <a:lnTo>
                    <a:pt x="90" y="175"/>
                  </a:lnTo>
                  <a:lnTo>
                    <a:pt x="92" y="161"/>
                  </a:lnTo>
                  <a:lnTo>
                    <a:pt x="92" y="156"/>
                  </a:lnTo>
                  <a:lnTo>
                    <a:pt x="97" y="151"/>
                  </a:lnTo>
                  <a:lnTo>
                    <a:pt x="87" y="145"/>
                  </a:lnTo>
                  <a:lnTo>
                    <a:pt x="87" y="129"/>
                  </a:lnTo>
                  <a:lnTo>
                    <a:pt x="86" y="114"/>
                  </a:lnTo>
                  <a:lnTo>
                    <a:pt x="97" y="107"/>
                  </a:lnTo>
                  <a:lnTo>
                    <a:pt x="108" y="105"/>
                  </a:lnTo>
                  <a:lnTo>
                    <a:pt x="102" y="99"/>
                  </a:lnTo>
                  <a:lnTo>
                    <a:pt x="111" y="79"/>
                  </a:lnTo>
                  <a:lnTo>
                    <a:pt x="109" y="75"/>
                  </a:lnTo>
                  <a:lnTo>
                    <a:pt x="120" y="73"/>
                  </a:lnTo>
                  <a:lnTo>
                    <a:pt x="126" y="63"/>
                  </a:lnTo>
                  <a:lnTo>
                    <a:pt x="132" y="48"/>
                  </a:lnTo>
                  <a:lnTo>
                    <a:pt x="147" y="43"/>
                  </a:lnTo>
                  <a:lnTo>
                    <a:pt x="148" y="38"/>
                  </a:lnTo>
                  <a:lnTo>
                    <a:pt x="169" y="38"/>
                  </a:lnTo>
                  <a:lnTo>
                    <a:pt x="168" y="30"/>
                  </a:lnTo>
                  <a:lnTo>
                    <a:pt x="174" y="30"/>
                  </a:lnTo>
                  <a:lnTo>
                    <a:pt x="181" y="25"/>
                  </a:lnTo>
                  <a:lnTo>
                    <a:pt x="194" y="33"/>
                  </a:lnTo>
                  <a:lnTo>
                    <a:pt x="207" y="36"/>
                  </a:lnTo>
                  <a:lnTo>
                    <a:pt x="223" y="36"/>
                  </a:lnTo>
                  <a:lnTo>
                    <a:pt x="230" y="32"/>
                  </a:lnTo>
                  <a:lnTo>
                    <a:pt x="234" y="21"/>
                  </a:lnTo>
                  <a:lnTo>
                    <a:pt x="250" y="14"/>
                  </a:lnTo>
                  <a:lnTo>
                    <a:pt x="270" y="20"/>
                  </a:lnTo>
                  <a:lnTo>
                    <a:pt x="270" y="30"/>
                  </a:lnTo>
                  <a:lnTo>
                    <a:pt x="282" y="23"/>
                  </a:lnTo>
                  <a:lnTo>
                    <a:pt x="289" y="23"/>
                  </a:lnTo>
                  <a:lnTo>
                    <a:pt x="289" y="18"/>
                  </a:lnTo>
                  <a:lnTo>
                    <a:pt x="282" y="18"/>
                  </a:lnTo>
                  <a:lnTo>
                    <a:pt x="276" y="19"/>
                  </a:lnTo>
                  <a:lnTo>
                    <a:pt x="266" y="13"/>
                  </a:lnTo>
                  <a:lnTo>
                    <a:pt x="289" y="11"/>
                  </a:lnTo>
                  <a:lnTo>
                    <a:pt x="278" y="6"/>
                  </a:lnTo>
                  <a:lnTo>
                    <a:pt x="266" y="3"/>
                  </a:lnTo>
                  <a:lnTo>
                    <a:pt x="259" y="6"/>
                  </a:lnTo>
                  <a:lnTo>
                    <a:pt x="256" y="13"/>
                  </a:lnTo>
                  <a:lnTo>
                    <a:pt x="255" y="8"/>
                  </a:lnTo>
                  <a:lnTo>
                    <a:pt x="254" y="6"/>
                  </a:lnTo>
                  <a:lnTo>
                    <a:pt x="253" y="5"/>
                  </a:lnTo>
                  <a:lnTo>
                    <a:pt x="252" y="0"/>
                  </a:lnTo>
                  <a:lnTo>
                    <a:pt x="244" y="2"/>
                  </a:lnTo>
                  <a:lnTo>
                    <a:pt x="237" y="11"/>
                  </a:lnTo>
                  <a:lnTo>
                    <a:pt x="234" y="2"/>
                  </a:lnTo>
                  <a:lnTo>
                    <a:pt x="220" y="14"/>
                  </a:lnTo>
                  <a:lnTo>
                    <a:pt x="225" y="5"/>
                  </a:lnTo>
                  <a:lnTo>
                    <a:pt x="222" y="3"/>
                  </a:lnTo>
                  <a:lnTo>
                    <a:pt x="213" y="3"/>
                  </a:lnTo>
                  <a:lnTo>
                    <a:pt x="213" y="6"/>
                  </a:lnTo>
                  <a:lnTo>
                    <a:pt x="200" y="14"/>
                  </a:lnTo>
                  <a:lnTo>
                    <a:pt x="192" y="14"/>
                  </a:lnTo>
                  <a:lnTo>
                    <a:pt x="193" y="12"/>
                  </a:lnTo>
                  <a:lnTo>
                    <a:pt x="180" y="13"/>
                  </a:lnTo>
                  <a:lnTo>
                    <a:pt x="188" y="15"/>
                  </a:lnTo>
                  <a:lnTo>
                    <a:pt x="186" y="18"/>
                  </a:lnTo>
                  <a:lnTo>
                    <a:pt x="178" y="18"/>
                  </a:lnTo>
                  <a:lnTo>
                    <a:pt x="171" y="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8" name="Freeform 337"/>
            <p:cNvSpPr>
              <a:spLocks/>
            </p:cNvSpPr>
            <p:nvPr/>
          </p:nvSpPr>
          <p:spPr bwMode="auto">
            <a:xfrm>
              <a:off x="2653" y="1194"/>
              <a:ext cx="120" cy="49"/>
            </a:xfrm>
            <a:custGeom>
              <a:avLst/>
              <a:gdLst/>
              <a:ahLst/>
              <a:cxnLst>
                <a:cxn ang="0">
                  <a:pos x="27" y="4"/>
                </a:cxn>
                <a:cxn ang="0">
                  <a:pos x="12" y="4"/>
                </a:cxn>
                <a:cxn ang="0">
                  <a:pos x="0" y="5"/>
                </a:cxn>
                <a:cxn ang="0">
                  <a:pos x="3" y="11"/>
                </a:cxn>
                <a:cxn ang="0">
                  <a:pos x="11" y="10"/>
                </a:cxn>
                <a:cxn ang="0">
                  <a:pos x="12" y="13"/>
                </a:cxn>
                <a:cxn ang="0">
                  <a:pos x="5" y="15"/>
                </a:cxn>
                <a:cxn ang="0">
                  <a:pos x="18" y="21"/>
                </a:cxn>
                <a:cxn ang="0">
                  <a:pos x="29" y="24"/>
                </a:cxn>
                <a:cxn ang="0">
                  <a:pos x="36" y="21"/>
                </a:cxn>
                <a:cxn ang="0">
                  <a:pos x="45" y="17"/>
                </a:cxn>
                <a:cxn ang="0">
                  <a:pos x="46" y="19"/>
                </a:cxn>
                <a:cxn ang="0">
                  <a:pos x="58" y="17"/>
                </a:cxn>
                <a:cxn ang="0">
                  <a:pos x="59" y="21"/>
                </a:cxn>
                <a:cxn ang="0">
                  <a:pos x="34" y="25"/>
                </a:cxn>
                <a:cxn ang="0">
                  <a:pos x="30" y="29"/>
                </a:cxn>
                <a:cxn ang="0">
                  <a:pos x="61" y="29"/>
                </a:cxn>
                <a:cxn ang="0">
                  <a:pos x="49" y="30"/>
                </a:cxn>
                <a:cxn ang="0">
                  <a:pos x="54" y="33"/>
                </a:cxn>
                <a:cxn ang="0">
                  <a:pos x="35" y="34"/>
                </a:cxn>
                <a:cxn ang="0">
                  <a:pos x="57" y="41"/>
                </a:cxn>
                <a:cxn ang="0">
                  <a:pos x="64" y="46"/>
                </a:cxn>
                <a:cxn ang="0">
                  <a:pos x="67" y="43"/>
                </a:cxn>
                <a:cxn ang="0">
                  <a:pos x="76" y="34"/>
                </a:cxn>
                <a:cxn ang="0">
                  <a:pos x="82" y="27"/>
                </a:cxn>
                <a:cxn ang="0">
                  <a:pos x="84" y="22"/>
                </a:cxn>
                <a:cxn ang="0">
                  <a:pos x="108" y="17"/>
                </a:cxn>
                <a:cxn ang="0">
                  <a:pos x="81" y="11"/>
                </a:cxn>
                <a:cxn ang="0">
                  <a:pos x="77" y="6"/>
                </a:cxn>
                <a:cxn ang="0">
                  <a:pos x="70" y="9"/>
                </a:cxn>
                <a:cxn ang="0">
                  <a:pos x="69" y="5"/>
                </a:cxn>
                <a:cxn ang="0">
                  <a:pos x="54" y="0"/>
                </a:cxn>
                <a:cxn ang="0">
                  <a:pos x="57" y="15"/>
                </a:cxn>
                <a:cxn ang="0">
                  <a:pos x="39" y="4"/>
                </a:cxn>
                <a:cxn ang="0">
                  <a:pos x="31" y="9"/>
                </a:cxn>
                <a:cxn ang="0">
                  <a:pos x="23" y="6"/>
                </a:cxn>
                <a:cxn ang="0">
                  <a:pos x="27" y="4"/>
                </a:cxn>
              </a:cxnLst>
              <a:rect l="0" t="0" r="r" b="b"/>
              <a:pathLst>
                <a:path w="108" h="46">
                  <a:moveTo>
                    <a:pt x="27" y="4"/>
                  </a:moveTo>
                  <a:lnTo>
                    <a:pt x="12" y="4"/>
                  </a:lnTo>
                  <a:lnTo>
                    <a:pt x="0" y="5"/>
                  </a:lnTo>
                  <a:lnTo>
                    <a:pt x="3" y="11"/>
                  </a:lnTo>
                  <a:lnTo>
                    <a:pt x="11" y="10"/>
                  </a:lnTo>
                  <a:lnTo>
                    <a:pt x="12" y="13"/>
                  </a:lnTo>
                  <a:lnTo>
                    <a:pt x="5" y="15"/>
                  </a:lnTo>
                  <a:lnTo>
                    <a:pt x="18" y="21"/>
                  </a:lnTo>
                  <a:lnTo>
                    <a:pt x="29" y="24"/>
                  </a:lnTo>
                  <a:lnTo>
                    <a:pt x="36" y="21"/>
                  </a:lnTo>
                  <a:lnTo>
                    <a:pt x="45" y="17"/>
                  </a:lnTo>
                  <a:lnTo>
                    <a:pt x="46" y="19"/>
                  </a:lnTo>
                  <a:lnTo>
                    <a:pt x="58" y="17"/>
                  </a:lnTo>
                  <a:lnTo>
                    <a:pt x="59" y="21"/>
                  </a:lnTo>
                  <a:lnTo>
                    <a:pt x="34" y="25"/>
                  </a:lnTo>
                  <a:lnTo>
                    <a:pt x="30" y="29"/>
                  </a:lnTo>
                  <a:lnTo>
                    <a:pt x="61" y="29"/>
                  </a:lnTo>
                  <a:lnTo>
                    <a:pt x="49" y="30"/>
                  </a:lnTo>
                  <a:lnTo>
                    <a:pt x="54" y="33"/>
                  </a:lnTo>
                  <a:lnTo>
                    <a:pt x="35" y="34"/>
                  </a:lnTo>
                  <a:lnTo>
                    <a:pt x="57" y="41"/>
                  </a:lnTo>
                  <a:lnTo>
                    <a:pt x="64" y="46"/>
                  </a:lnTo>
                  <a:lnTo>
                    <a:pt x="67" y="43"/>
                  </a:lnTo>
                  <a:lnTo>
                    <a:pt x="76" y="34"/>
                  </a:lnTo>
                  <a:lnTo>
                    <a:pt x="82" y="27"/>
                  </a:lnTo>
                  <a:lnTo>
                    <a:pt x="84" y="22"/>
                  </a:lnTo>
                  <a:lnTo>
                    <a:pt x="108" y="17"/>
                  </a:lnTo>
                  <a:lnTo>
                    <a:pt x="81" y="11"/>
                  </a:lnTo>
                  <a:lnTo>
                    <a:pt x="77" y="6"/>
                  </a:lnTo>
                  <a:lnTo>
                    <a:pt x="70" y="9"/>
                  </a:lnTo>
                  <a:lnTo>
                    <a:pt x="69" y="5"/>
                  </a:lnTo>
                  <a:lnTo>
                    <a:pt x="54" y="0"/>
                  </a:lnTo>
                  <a:lnTo>
                    <a:pt x="57" y="15"/>
                  </a:lnTo>
                  <a:lnTo>
                    <a:pt x="39" y="4"/>
                  </a:lnTo>
                  <a:lnTo>
                    <a:pt x="31" y="9"/>
                  </a:lnTo>
                  <a:lnTo>
                    <a:pt x="23" y="6"/>
                  </a:lnTo>
                  <a:lnTo>
                    <a:pt x="27"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9" name="Freeform 338"/>
            <p:cNvSpPr>
              <a:spLocks/>
            </p:cNvSpPr>
            <p:nvPr/>
          </p:nvSpPr>
          <p:spPr bwMode="auto">
            <a:xfrm>
              <a:off x="2731" y="1188"/>
              <a:ext cx="98" cy="15"/>
            </a:xfrm>
            <a:custGeom>
              <a:avLst/>
              <a:gdLst/>
              <a:ahLst/>
              <a:cxnLst>
                <a:cxn ang="0">
                  <a:pos x="40" y="5"/>
                </a:cxn>
                <a:cxn ang="0">
                  <a:pos x="14" y="2"/>
                </a:cxn>
                <a:cxn ang="0">
                  <a:pos x="10" y="3"/>
                </a:cxn>
                <a:cxn ang="0">
                  <a:pos x="0" y="5"/>
                </a:cxn>
                <a:cxn ang="0">
                  <a:pos x="0" y="6"/>
                </a:cxn>
                <a:cxn ang="0">
                  <a:pos x="36" y="9"/>
                </a:cxn>
                <a:cxn ang="0">
                  <a:pos x="19" y="11"/>
                </a:cxn>
                <a:cxn ang="0">
                  <a:pos x="47" y="15"/>
                </a:cxn>
                <a:cxn ang="0">
                  <a:pos x="77" y="14"/>
                </a:cxn>
                <a:cxn ang="0">
                  <a:pos x="89" y="6"/>
                </a:cxn>
                <a:cxn ang="0">
                  <a:pos x="82" y="4"/>
                </a:cxn>
                <a:cxn ang="0">
                  <a:pos x="53" y="3"/>
                </a:cxn>
                <a:cxn ang="0">
                  <a:pos x="49" y="3"/>
                </a:cxn>
                <a:cxn ang="0">
                  <a:pos x="43" y="0"/>
                </a:cxn>
                <a:cxn ang="0">
                  <a:pos x="41" y="3"/>
                </a:cxn>
                <a:cxn ang="0">
                  <a:pos x="40" y="5"/>
                </a:cxn>
              </a:cxnLst>
              <a:rect l="0" t="0" r="r" b="b"/>
              <a:pathLst>
                <a:path w="89" h="15">
                  <a:moveTo>
                    <a:pt x="40" y="5"/>
                  </a:moveTo>
                  <a:lnTo>
                    <a:pt x="14" y="2"/>
                  </a:lnTo>
                  <a:lnTo>
                    <a:pt x="10" y="3"/>
                  </a:lnTo>
                  <a:lnTo>
                    <a:pt x="0" y="5"/>
                  </a:lnTo>
                  <a:lnTo>
                    <a:pt x="0" y="6"/>
                  </a:lnTo>
                  <a:lnTo>
                    <a:pt x="36" y="9"/>
                  </a:lnTo>
                  <a:lnTo>
                    <a:pt x="19" y="11"/>
                  </a:lnTo>
                  <a:lnTo>
                    <a:pt x="47" y="15"/>
                  </a:lnTo>
                  <a:lnTo>
                    <a:pt x="77" y="14"/>
                  </a:lnTo>
                  <a:lnTo>
                    <a:pt x="89" y="6"/>
                  </a:lnTo>
                  <a:lnTo>
                    <a:pt x="82" y="4"/>
                  </a:lnTo>
                  <a:lnTo>
                    <a:pt x="53" y="3"/>
                  </a:lnTo>
                  <a:lnTo>
                    <a:pt x="49" y="3"/>
                  </a:lnTo>
                  <a:lnTo>
                    <a:pt x="43" y="0"/>
                  </a:lnTo>
                  <a:lnTo>
                    <a:pt x="41" y="3"/>
                  </a:lnTo>
                  <a:lnTo>
                    <a:pt x="40"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0" name="Freeform 339"/>
            <p:cNvSpPr>
              <a:spLocks/>
            </p:cNvSpPr>
            <p:nvPr/>
          </p:nvSpPr>
          <p:spPr bwMode="auto">
            <a:xfrm>
              <a:off x="2767" y="1221"/>
              <a:ext cx="46" cy="11"/>
            </a:xfrm>
            <a:custGeom>
              <a:avLst/>
              <a:gdLst/>
              <a:ahLst/>
              <a:cxnLst>
                <a:cxn ang="0">
                  <a:pos x="33" y="9"/>
                </a:cxn>
                <a:cxn ang="0">
                  <a:pos x="18" y="10"/>
                </a:cxn>
                <a:cxn ang="0">
                  <a:pos x="5" y="10"/>
                </a:cxn>
                <a:cxn ang="0">
                  <a:pos x="9" y="4"/>
                </a:cxn>
                <a:cxn ang="0">
                  <a:pos x="0" y="0"/>
                </a:cxn>
                <a:cxn ang="0">
                  <a:pos x="26" y="0"/>
                </a:cxn>
                <a:cxn ang="0">
                  <a:pos x="42" y="5"/>
                </a:cxn>
                <a:cxn ang="0">
                  <a:pos x="33" y="9"/>
                </a:cxn>
              </a:cxnLst>
              <a:rect l="0" t="0" r="r" b="b"/>
              <a:pathLst>
                <a:path w="42" h="10">
                  <a:moveTo>
                    <a:pt x="33" y="9"/>
                  </a:moveTo>
                  <a:lnTo>
                    <a:pt x="18" y="10"/>
                  </a:lnTo>
                  <a:lnTo>
                    <a:pt x="5" y="10"/>
                  </a:lnTo>
                  <a:lnTo>
                    <a:pt x="9" y="4"/>
                  </a:lnTo>
                  <a:lnTo>
                    <a:pt x="0" y="0"/>
                  </a:lnTo>
                  <a:lnTo>
                    <a:pt x="26" y="0"/>
                  </a:lnTo>
                  <a:lnTo>
                    <a:pt x="42" y="5"/>
                  </a:lnTo>
                  <a:lnTo>
                    <a:pt x="3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1" name="Freeform 340"/>
            <p:cNvSpPr>
              <a:spLocks/>
            </p:cNvSpPr>
            <p:nvPr/>
          </p:nvSpPr>
          <p:spPr bwMode="auto">
            <a:xfrm>
              <a:off x="2727" y="1368"/>
              <a:ext cx="15" cy="8"/>
            </a:xfrm>
            <a:custGeom>
              <a:avLst/>
              <a:gdLst/>
              <a:ahLst/>
              <a:cxnLst>
                <a:cxn ang="0">
                  <a:pos x="9" y="0"/>
                </a:cxn>
                <a:cxn ang="0">
                  <a:pos x="4" y="7"/>
                </a:cxn>
                <a:cxn ang="0">
                  <a:pos x="0" y="9"/>
                </a:cxn>
                <a:cxn ang="0">
                  <a:pos x="6" y="7"/>
                </a:cxn>
                <a:cxn ang="0">
                  <a:pos x="10" y="9"/>
                </a:cxn>
                <a:cxn ang="0">
                  <a:pos x="16" y="3"/>
                </a:cxn>
                <a:cxn ang="0">
                  <a:pos x="10" y="4"/>
                </a:cxn>
                <a:cxn ang="0">
                  <a:pos x="9" y="0"/>
                </a:cxn>
              </a:cxnLst>
              <a:rect l="0" t="0" r="r" b="b"/>
              <a:pathLst>
                <a:path w="16" h="9">
                  <a:moveTo>
                    <a:pt x="9" y="0"/>
                  </a:moveTo>
                  <a:lnTo>
                    <a:pt x="4" y="7"/>
                  </a:lnTo>
                  <a:lnTo>
                    <a:pt x="0" y="9"/>
                  </a:lnTo>
                  <a:lnTo>
                    <a:pt x="6" y="7"/>
                  </a:lnTo>
                  <a:lnTo>
                    <a:pt x="10" y="9"/>
                  </a:lnTo>
                  <a:lnTo>
                    <a:pt x="16" y="3"/>
                  </a:lnTo>
                  <a:lnTo>
                    <a:pt x="10" y="4"/>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2" name="Freeform 341"/>
            <p:cNvSpPr>
              <a:spLocks/>
            </p:cNvSpPr>
            <p:nvPr/>
          </p:nvSpPr>
          <p:spPr bwMode="auto">
            <a:xfrm>
              <a:off x="2796" y="1348"/>
              <a:ext cx="166" cy="177"/>
            </a:xfrm>
            <a:custGeom>
              <a:avLst/>
              <a:gdLst/>
              <a:ahLst/>
              <a:cxnLst>
                <a:cxn ang="0">
                  <a:pos x="127" y="87"/>
                </a:cxn>
                <a:cxn ang="0">
                  <a:pos x="122" y="82"/>
                </a:cxn>
                <a:cxn ang="0">
                  <a:pos x="121" y="67"/>
                </a:cxn>
                <a:cxn ang="0">
                  <a:pos x="106" y="51"/>
                </a:cxn>
                <a:cxn ang="0">
                  <a:pos x="114" y="39"/>
                </a:cxn>
                <a:cxn ang="0">
                  <a:pos x="96" y="29"/>
                </a:cxn>
                <a:cxn ang="0">
                  <a:pos x="96" y="19"/>
                </a:cxn>
                <a:cxn ang="0">
                  <a:pos x="96" y="16"/>
                </a:cxn>
                <a:cxn ang="0">
                  <a:pos x="96" y="6"/>
                </a:cxn>
                <a:cxn ang="0">
                  <a:pos x="76" y="0"/>
                </a:cxn>
                <a:cxn ang="0">
                  <a:pos x="60" y="7"/>
                </a:cxn>
                <a:cxn ang="0">
                  <a:pos x="56" y="18"/>
                </a:cxn>
                <a:cxn ang="0">
                  <a:pos x="49" y="22"/>
                </a:cxn>
                <a:cxn ang="0">
                  <a:pos x="33" y="22"/>
                </a:cxn>
                <a:cxn ang="0">
                  <a:pos x="20" y="19"/>
                </a:cxn>
                <a:cxn ang="0">
                  <a:pos x="7" y="11"/>
                </a:cxn>
                <a:cxn ang="0">
                  <a:pos x="0" y="16"/>
                </a:cxn>
                <a:cxn ang="0">
                  <a:pos x="33" y="30"/>
                </a:cxn>
                <a:cxn ang="0">
                  <a:pos x="45" y="51"/>
                </a:cxn>
                <a:cxn ang="0">
                  <a:pos x="51" y="66"/>
                </a:cxn>
                <a:cxn ang="0">
                  <a:pos x="56" y="65"/>
                </a:cxn>
                <a:cxn ang="0">
                  <a:pos x="62" y="69"/>
                </a:cxn>
                <a:cxn ang="0">
                  <a:pos x="66" y="81"/>
                </a:cxn>
                <a:cxn ang="0">
                  <a:pos x="44" y="96"/>
                </a:cxn>
                <a:cxn ang="0">
                  <a:pos x="36" y="105"/>
                </a:cxn>
                <a:cxn ang="0">
                  <a:pos x="26" y="109"/>
                </a:cxn>
                <a:cxn ang="0">
                  <a:pos x="28" y="127"/>
                </a:cxn>
                <a:cxn ang="0">
                  <a:pos x="32" y="148"/>
                </a:cxn>
                <a:cxn ang="0">
                  <a:pos x="45" y="153"/>
                </a:cxn>
                <a:cxn ang="0">
                  <a:pos x="46" y="155"/>
                </a:cxn>
                <a:cxn ang="0">
                  <a:pos x="51" y="154"/>
                </a:cxn>
                <a:cxn ang="0">
                  <a:pos x="56" y="161"/>
                </a:cxn>
                <a:cxn ang="0">
                  <a:pos x="60" y="159"/>
                </a:cxn>
                <a:cxn ang="0">
                  <a:pos x="91" y="153"/>
                </a:cxn>
                <a:cxn ang="0">
                  <a:pos x="97" y="150"/>
                </a:cxn>
                <a:cxn ang="0">
                  <a:pos x="114" y="150"/>
                </a:cxn>
                <a:cxn ang="0">
                  <a:pos x="123" y="141"/>
                </a:cxn>
                <a:cxn ang="0">
                  <a:pos x="133" y="131"/>
                </a:cxn>
                <a:cxn ang="0">
                  <a:pos x="141" y="121"/>
                </a:cxn>
                <a:cxn ang="0">
                  <a:pos x="151" y="112"/>
                </a:cxn>
                <a:cxn ang="0">
                  <a:pos x="128" y="99"/>
                </a:cxn>
                <a:cxn ang="0">
                  <a:pos x="134" y="94"/>
                </a:cxn>
                <a:cxn ang="0">
                  <a:pos x="127" y="87"/>
                </a:cxn>
              </a:cxnLst>
              <a:rect l="0" t="0" r="r" b="b"/>
              <a:pathLst>
                <a:path w="151" h="161">
                  <a:moveTo>
                    <a:pt x="127" y="87"/>
                  </a:moveTo>
                  <a:lnTo>
                    <a:pt x="122" y="82"/>
                  </a:lnTo>
                  <a:lnTo>
                    <a:pt x="121" y="67"/>
                  </a:lnTo>
                  <a:lnTo>
                    <a:pt x="106" y="51"/>
                  </a:lnTo>
                  <a:lnTo>
                    <a:pt x="114" y="39"/>
                  </a:lnTo>
                  <a:lnTo>
                    <a:pt x="96" y="29"/>
                  </a:lnTo>
                  <a:lnTo>
                    <a:pt x="96" y="19"/>
                  </a:lnTo>
                  <a:lnTo>
                    <a:pt x="96" y="16"/>
                  </a:lnTo>
                  <a:lnTo>
                    <a:pt x="96" y="6"/>
                  </a:lnTo>
                  <a:lnTo>
                    <a:pt x="76" y="0"/>
                  </a:lnTo>
                  <a:lnTo>
                    <a:pt x="60" y="7"/>
                  </a:lnTo>
                  <a:lnTo>
                    <a:pt x="56" y="18"/>
                  </a:lnTo>
                  <a:lnTo>
                    <a:pt x="49" y="22"/>
                  </a:lnTo>
                  <a:lnTo>
                    <a:pt x="33" y="22"/>
                  </a:lnTo>
                  <a:lnTo>
                    <a:pt x="20" y="19"/>
                  </a:lnTo>
                  <a:lnTo>
                    <a:pt x="7" y="11"/>
                  </a:lnTo>
                  <a:lnTo>
                    <a:pt x="0" y="16"/>
                  </a:lnTo>
                  <a:lnTo>
                    <a:pt x="33" y="30"/>
                  </a:lnTo>
                  <a:lnTo>
                    <a:pt x="45" y="51"/>
                  </a:lnTo>
                  <a:lnTo>
                    <a:pt x="51" y="66"/>
                  </a:lnTo>
                  <a:lnTo>
                    <a:pt x="56" y="65"/>
                  </a:lnTo>
                  <a:lnTo>
                    <a:pt x="62" y="69"/>
                  </a:lnTo>
                  <a:lnTo>
                    <a:pt x="66" y="81"/>
                  </a:lnTo>
                  <a:lnTo>
                    <a:pt x="44" y="96"/>
                  </a:lnTo>
                  <a:lnTo>
                    <a:pt x="36" y="105"/>
                  </a:lnTo>
                  <a:lnTo>
                    <a:pt x="26" y="109"/>
                  </a:lnTo>
                  <a:lnTo>
                    <a:pt x="28" y="127"/>
                  </a:lnTo>
                  <a:lnTo>
                    <a:pt x="32" y="148"/>
                  </a:lnTo>
                  <a:lnTo>
                    <a:pt x="45" y="153"/>
                  </a:lnTo>
                  <a:lnTo>
                    <a:pt x="46" y="155"/>
                  </a:lnTo>
                  <a:lnTo>
                    <a:pt x="51" y="154"/>
                  </a:lnTo>
                  <a:lnTo>
                    <a:pt x="56" y="161"/>
                  </a:lnTo>
                  <a:lnTo>
                    <a:pt x="60" y="159"/>
                  </a:lnTo>
                  <a:lnTo>
                    <a:pt x="91" y="153"/>
                  </a:lnTo>
                  <a:lnTo>
                    <a:pt x="97" y="150"/>
                  </a:lnTo>
                  <a:lnTo>
                    <a:pt x="114" y="150"/>
                  </a:lnTo>
                  <a:lnTo>
                    <a:pt x="123" y="141"/>
                  </a:lnTo>
                  <a:lnTo>
                    <a:pt x="133" y="131"/>
                  </a:lnTo>
                  <a:lnTo>
                    <a:pt x="141" y="121"/>
                  </a:lnTo>
                  <a:lnTo>
                    <a:pt x="151" y="112"/>
                  </a:lnTo>
                  <a:lnTo>
                    <a:pt x="128" y="99"/>
                  </a:lnTo>
                  <a:lnTo>
                    <a:pt x="134" y="94"/>
                  </a:lnTo>
                  <a:lnTo>
                    <a:pt x="127"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3" name="Freeform 342"/>
            <p:cNvSpPr>
              <a:spLocks/>
            </p:cNvSpPr>
            <p:nvPr/>
          </p:nvSpPr>
          <p:spPr bwMode="auto">
            <a:xfrm>
              <a:off x="2680" y="1763"/>
              <a:ext cx="2" cy="5"/>
            </a:xfrm>
            <a:custGeom>
              <a:avLst/>
              <a:gdLst/>
              <a:ahLst/>
              <a:cxnLst>
                <a:cxn ang="0">
                  <a:pos x="0" y="0"/>
                </a:cxn>
                <a:cxn ang="0">
                  <a:pos x="0" y="3"/>
                </a:cxn>
                <a:cxn ang="0">
                  <a:pos x="1" y="3"/>
                </a:cxn>
                <a:cxn ang="0">
                  <a:pos x="0" y="0"/>
                </a:cxn>
              </a:cxnLst>
              <a:rect l="0" t="0" r="r" b="b"/>
              <a:pathLst>
                <a:path w="1" h="3">
                  <a:moveTo>
                    <a:pt x="0" y="0"/>
                  </a:moveTo>
                  <a:lnTo>
                    <a:pt x="0" y="3"/>
                  </a:lnTo>
                  <a:lnTo>
                    <a:pt x="1" y="3"/>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4" name="Freeform 343"/>
            <p:cNvSpPr>
              <a:spLocks/>
            </p:cNvSpPr>
            <p:nvPr/>
          </p:nvSpPr>
          <p:spPr bwMode="auto">
            <a:xfrm>
              <a:off x="2680" y="1732"/>
              <a:ext cx="118" cy="49"/>
            </a:xfrm>
            <a:custGeom>
              <a:avLst/>
              <a:gdLst/>
              <a:ahLst/>
              <a:cxnLst>
                <a:cxn ang="0">
                  <a:pos x="39" y="35"/>
                </a:cxn>
                <a:cxn ang="0">
                  <a:pos x="23" y="37"/>
                </a:cxn>
                <a:cxn ang="0">
                  <a:pos x="15" y="36"/>
                </a:cxn>
                <a:cxn ang="0">
                  <a:pos x="3" y="32"/>
                </a:cxn>
                <a:cxn ang="0">
                  <a:pos x="1" y="32"/>
                </a:cxn>
                <a:cxn ang="0">
                  <a:pos x="0" y="29"/>
                </a:cxn>
                <a:cxn ang="0">
                  <a:pos x="1" y="25"/>
                </a:cxn>
                <a:cxn ang="0">
                  <a:pos x="11" y="26"/>
                </a:cxn>
                <a:cxn ang="0">
                  <a:pos x="13" y="28"/>
                </a:cxn>
                <a:cxn ang="0">
                  <a:pos x="17" y="24"/>
                </a:cxn>
                <a:cxn ang="0">
                  <a:pos x="29" y="24"/>
                </a:cxn>
                <a:cxn ang="0">
                  <a:pos x="46" y="24"/>
                </a:cxn>
                <a:cxn ang="0">
                  <a:pos x="51" y="22"/>
                </a:cxn>
                <a:cxn ang="0">
                  <a:pos x="48" y="13"/>
                </a:cxn>
                <a:cxn ang="0">
                  <a:pos x="59" y="4"/>
                </a:cxn>
                <a:cxn ang="0">
                  <a:pos x="67" y="7"/>
                </a:cxn>
                <a:cxn ang="0">
                  <a:pos x="75" y="0"/>
                </a:cxn>
                <a:cxn ang="0">
                  <a:pos x="97" y="4"/>
                </a:cxn>
                <a:cxn ang="0">
                  <a:pos x="107" y="17"/>
                </a:cxn>
                <a:cxn ang="0">
                  <a:pos x="101" y="22"/>
                </a:cxn>
                <a:cxn ang="0">
                  <a:pos x="100" y="23"/>
                </a:cxn>
                <a:cxn ang="0">
                  <a:pos x="95" y="35"/>
                </a:cxn>
                <a:cxn ang="0">
                  <a:pos x="94" y="36"/>
                </a:cxn>
                <a:cxn ang="0">
                  <a:pos x="66" y="43"/>
                </a:cxn>
                <a:cxn ang="0">
                  <a:pos x="60" y="42"/>
                </a:cxn>
                <a:cxn ang="0">
                  <a:pos x="39" y="35"/>
                </a:cxn>
              </a:cxnLst>
              <a:rect l="0" t="0" r="r" b="b"/>
              <a:pathLst>
                <a:path w="107" h="43">
                  <a:moveTo>
                    <a:pt x="39" y="35"/>
                  </a:moveTo>
                  <a:lnTo>
                    <a:pt x="23" y="37"/>
                  </a:lnTo>
                  <a:lnTo>
                    <a:pt x="15" y="36"/>
                  </a:lnTo>
                  <a:lnTo>
                    <a:pt x="3" y="32"/>
                  </a:lnTo>
                  <a:lnTo>
                    <a:pt x="1" y="32"/>
                  </a:lnTo>
                  <a:lnTo>
                    <a:pt x="0" y="29"/>
                  </a:lnTo>
                  <a:lnTo>
                    <a:pt x="1" y="25"/>
                  </a:lnTo>
                  <a:lnTo>
                    <a:pt x="11" y="26"/>
                  </a:lnTo>
                  <a:lnTo>
                    <a:pt x="13" y="28"/>
                  </a:lnTo>
                  <a:lnTo>
                    <a:pt x="17" y="24"/>
                  </a:lnTo>
                  <a:lnTo>
                    <a:pt x="29" y="24"/>
                  </a:lnTo>
                  <a:lnTo>
                    <a:pt x="46" y="24"/>
                  </a:lnTo>
                  <a:lnTo>
                    <a:pt x="51" y="22"/>
                  </a:lnTo>
                  <a:lnTo>
                    <a:pt x="48" y="13"/>
                  </a:lnTo>
                  <a:lnTo>
                    <a:pt x="59" y="4"/>
                  </a:lnTo>
                  <a:lnTo>
                    <a:pt x="67" y="7"/>
                  </a:lnTo>
                  <a:lnTo>
                    <a:pt x="75" y="0"/>
                  </a:lnTo>
                  <a:lnTo>
                    <a:pt x="97" y="4"/>
                  </a:lnTo>
                  <a:lnTo>
                    <a:pt x="107" y="17"/>
                  </a:lnTo>
                  <a:lnTo>
                    <a:pt x="101" y="22"/>
                  </a:lnTo>
                  <a:lnTo>
                    <a:pt x="100" y="23"/>
                  </a:lnTo>
                  <a:lnTo>
                    <a:pt x="95" y="35"/>
                  </a:lnTo>
                  <a:lnTo>
                    <a:pt x="94" y="36"/>
                  </a:lnTo>
                  <a:lnTo>
                    <a:pt x="66" y="43"/>
                  </a:lnTo>
                  <a:lnTo>
                    <a:pt x="60" y="42"/>
                  </a:lnTo>
                  <a:lnTo>
                    <a:pt x="39" y="3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5" name="Freeform 344"/>
            <p:cNvSpPr>
              <a:spLocks/>
            </p:cNvSpPr>
            <p:nvPr/>
          </p:nvSpPr>
          <p:spPr bwMode="auto">
            <a:xfrm>
              <a:off x="2780" y="1803"/>
              <a:ext cx="62" cy="53"/>
            </a:xfrm>
            <a:custGeom>
              <a:avLst/>
              <a:gdLst/>
              <a:ahLst/>
              <a:cxnLst>
                <a:cxn ang="0">
                  <a:pos x="51" y="6"/>
                </a:cxn>
                <a:cxn ang="0">
                  <a:pos x="52" y="8"/>
                </a:cxn>
                <a:cxn ang="0">
                  <a:pos x="51" y="11"/>
                </a:cxn>
                <a:cxn ang="0">
                  <a:pos x="48" y="14"/>
                </a:cxn>
                <a:cxn ang="0">
                  <a:pos x="48" y="15"/>
                </a:cxn>
                <a:cxn ang="0">
                  <a:pos x="51" y="18"/>
                </a:cxn>
                <a:cxn ang="0">
                  <a:pos x="57" y="21"/>
                </a:cxn>
                <a:cxn ang="0">
                  <a:pos x="52" y="24"/>
                </a:cxn>
                <a:cxn ang="0">
                  <a:pos x="56" y="26"/>
                </a:cxn>
                <a:cxn ang="0">
                  <a:pos x="56" y="30"/>
                </a:cxn>
                <a:cxn ang="0">
                  <a:pos x="47" y="31"/>
                </a:cxn>
                <a:cxn ang="0">
                  <a:pos x="51" y="35"/>
                </a:cxn>
                <a:cxn ang="0">
                  <a:pos x="50" y="36"/>
                </a:cxn>
                <a:cxn ang="0">
                  <a:pos x="47" y="35"/>
                </a:cxn>
                <a:cxn ang="0">
                  <a:pos x="44" y="39"/>
                </a:cxn>
                <a:cxn ang="0">
                  <a:pos x="41" y="41"/>
                </a:cxn>
                <a:cxn ang="0">
                  <a:pos x="45" y="45"/>
                </a:cxn>
                <a:cxn ang="0">
                  <a:pos x="41" y="47"/>
                </a:cxn>
                <a:cxn ang="0">
                  <a:pos x="39" y="45"/>
                </a:cxn>
                <a:cxn ang="0">
                  <a:pos x="34" y="43"/>
                </a:cxn>
                <a:cxn ang="0">
                  <a:pos x="30" y="41"/>
                </a:cxn>
                <a:cxn ang="0">
                  <a:pos x="30" y="39"/>
                </a:cxn>
                <a:cxn ang="0">
                  <a:pos x="24" y="35"/>
                </a:cxn>
                <a:cxn ang="0">
                  <a:pos x="23" y="32"/>
                </a:cxn>
                <a:cxn ang="0">
                  <a:pos x="20" y="30"/>
                </a:cxn>
                <a:cxn ang="0">
                  <a:pos x="9" y="20"/>
                </a:cxn>
                <a:cxn ang="0">
                  <a:pos x="9" y="19"/>
                </a:cxn>
                <a:cxn ang="0">
                  <a:pos x="6" y="18"/>
                </a:cxn>
                <a:cxn ang="0">
                  <a:pos x="4" y="11"/>
                </a:cxn>
                <a:cxn ang="0">
                  <a:pos x="0" y="8"/>
                </a:cxn>
                <a:cxn ang="0">
                  <a:pos x="0" y="1"/>
                </a:cxn>
                <a:cxn ang="0">
                  <a:pos x="4" y="0"/>
                </a:cxn>
                <a:cxn ang="0">
                  <a:pos x="8" y="5"/>
                </a:cxn>
                <a:cxn ang="0">
                  <a:pos x="11" y="0"/>
                </a:cxn>
                <a:cxn ang="0">
                  <a:pos x="16" y="0"/>
                </a:cxn>
                <a:cxn ang="0">
                  <a:pos x="20" y="1"/>
                </a:cxn>
                <a:cxn ang="0">
                  <a:pos x="30" y="3"/>
                </a:cxn>
                <a:cxn ang="0">
                  <a:pos x="32" y="1"/>
                </a:cxn>
                <a:cxn ang="0">
                  <a:pos x="34" y="2"/>
                </a:cxn>
                <a:cxn ang="0">
                  <a:pos x="35" y="2"/>
                </a:cxn>
                <a:cxn ang="0">
                  <a:pos x="39" y="2"/>
                </a:cxn>
                <a:cxn ang="0">
                  <a:pos x="41" y="2"/>
                </a:cxn>
                <a:cxn ang="0">
                  <a:pos x="44" y="6"/>
                </a:cxn>
                <a:cxn ang="0">
                  <a:pos x="47" y="6"/>
                </a:cxn>
                <a:cxn ang="0">
                  <a:pos x="51" y="6"/>
                </a:cxn>
              </a:cxnLst>
              <a:rect l="0" t="0" r="r" b="b"/>
              <a:pathLst>
                <a:path w="57" h="47">
                  <a:moveTo>
                    <a:pt x="51" y="6"/>
                  </a:moveTo>
                  <a:lnTo>
                    <a:pt x="52" y="8"/>
                  </a:lnTo>
                  <a:lnTo>
                    <a:pt x="51" y="11"/>
                  </a:lnTo>
                  <a:lnTo>
                    <a:pt x="48" y="14"/>
                  </a:lnTo>
                  <a:lnTo>
                    <a:pt x="48" y="15"/>
                  </a:lnTo>
                  <a:lnTo>
                    <a:pt x="51" y="18"/>
                  </a:lnTo>
                  <a:lnTo>
                    <a:pt x="57" y="21"/>
                  </a:lnTo>
                  <a:lnTo>
                    <a:pt x="52" y="24"/>
                  </a:lnTo>
                  <a:lnTo>
                    <a:pt x="56" y="26"/>
                  </a:lnTo>
                  <a:lnTo>
                    <a:pt x="56" y="30"/>
                  </a:lnTo>
                  <a:lnTo>
                    <a:pt x="47" y="31"/>
                  </a:lnTo>
                  <a:lnTo>
                    <a:pt x="51" y="35"/>
                  </a:lnTo>
                  <a:lnTo>
                    <a:pt x="50" y="36"/>
                  </a:lnTo>
                  <a:lnTo>
                    <a:pt x="47" y="35"/>
                  </a:lnTo>
                  <a:lnTo>
                    <a:pt x="44" y="39"/>
                  </a:lnTo>
                  <a:lnTo>
                    <a:pt x="41" y="41"/>
                  </a:lnTo>
                  <a:lnTo>
                    <a:pt x="45" y="45"/>
                  </a:lnTo>
                  <a:lnTo>
                    <a:pt x="41" y="47"/>
                  </a:lnTo>
                  <a:lnTo>
                    <a:pt x="39" y="45"/>
                  </a:lnTo>
                  <a:lnTo>
                    <a:pt x="34" y="43"/>
                  </a:lnTo>
                  <a:lnTo>
                    <a:pt x="30" y="41"/>
                  </a:lnTo>
                  <a:lnTo>
                    <a:pt x="30" y="39"/>
                  </a:lnTo>
                  <a:lnTo>
                    <a:pt x="24" y="35"/>
                  </a:lnTo>
                  <a:lnTo>
                    <a:pt x="23" y="32"/>
                  </a:lnTo>
                  <a:lnTo>
                    <a:pt x="20" y="30"/>
                  </a:lnTo>
                  <a:lnTo>
                    <a:pt x="9" y="20"/>
                  </a:lnTo>
                  <a:lnTo>
                    <a:pt x="9" y="19"/>
                  </a:lnTo>
                  <a:lnTo>
                    <a:pt x="6" y="18"/>
                  </a:lnTo>
                  <a:lnTo>
                    <a:pt x="4" y="11"/>
                  </a:lnTo>
                  <a:lnTo>
                    <a:pt x="0" y="8"/>
                  </a:lnTo>
                  <a:lnTo>
                    <a:pt x="0" y="1"/>
                  </a:lnTo>
                  <a:lnTo>
                    <a:pt x="4" y="0"/>
                  </a:lnTo>
                  <a:lnTo>
                    <a:pt x="8" y="5"/>
                  </a:lnTo>
                  <a:lnTo>
                    <a:pt x="11" y="0"/>
                  </a:lnTo>
                  <a:lnTo>
                    <a:pt x="16" y="0"/>
                  </a:lnTo>
                  <a:lnTo>
                    <a:pt x="20" y="1"/>
                  </a:lnTo>
                  <a:lnTo>
                    <a:pt x="30" y="3"/>
                  </a:lnTo>
                  <a:lnTo>
                    <a:pt x="32" y="1"/>
                  </a:lnTo>
                  <a:lnTo>
                    <a:pt x="34" y="2"/>
                  </a:lnTo>
                  <a:lnTo>
                    <a:pt x="35" y="2"/>
                  </a:lnTo>
                  <a:lnTo>
                    <a:pt x="39" y="2"/>
                  </a:lnTo>
                  <a:lnTo>
                    <a:pt x="41" y="2"/>
                  </a:lnTo>
                  <a:lnTo>
                    <a:pt x="44" y="6"/>
                  </a:lnTo>
                  <a:lnTo>
                    <a:pt x="47" y="6"/>
                  </a:lnTo>
                  <a:lnTo>
                    <a:pt x="5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6" name="Freeform 345"/>
            <p:cNvSpPr>
              <a:spLocks/>
            </p:cNvSpPr>
            <p:nvPr/>
          </p:nvSpPr>
          <p:spPr bwMode="auto">
            <a:xfrm>
              <a:off x="2747" y="1776"/>
              <a:ext cx="91" cy="74"/>
            </a:xfrm>
            <a:custGeom>
              <a:avLst/>
              <a:gdLst/>
              <a:ahLst/>
              <a:cxnLst>
                <a:cxn ang="0">
                  <a:pos x="74" y="30"/>
                </a:cxn>
                <a:cxn ang="0">
                  <a:pos x="77" y="30"/>
                </a:cxn>
                <a:cxn ang="0">
                  <a:pos x="78" y="26"/>
                </a:cxn>
                <a:cxn ang="0">
                  <a:pos x="82" y="25"/>
                </a:cxn>
                <a:cxn ang="0">
                  <a:pos x="82" y="24"/>
                </a:cxn>
                <a:cxn ang="0">
                  <a:pos x="77" y="23"/>
                </a:cxn>
                <a:cxn ang="0">
                  <a:pos x="76" y="21"/>
                </a:cxn>
                <a:cxn ang="0">
                  <a:pos x="77" y="19"/>
                </a:cxn>
                <a:cxn ang="0">
                  <a:pos x="76" y="19"/>
                </a:cxn>
                <a:cxn ang="0">
                  <a:pos x="72" y="13"/>
                </a:cxn>
                <a:cxn ang="0">
                  <a:pos x="51" y="11"/>
                </a:cxn>
                <a:cxn ang="0">
                  <a:pos x="39" y="0"/>
                </a:cxn>
                <a:cxn ang="0">
                  <a:pos x="38" y="1"/>
                </a:cxn>
                <a:cxn ang="0">
                  <a:pos x="36" y="2"/>
                </a:cxn>
                <a:cxn ang="0">
                  <a:pos x="36" y="3"/>
                </a:cxn>
                <a:cxn ang="0">
                  <a:pos x="32" y="3"/>
                </a:cxn>
                <a:cxn ang="0">
                  <a:pos x="30" y="5"/>
                </a:cxn>
                <a:cxn ang="0">
                  <a:pos x="26" y="6"/>
                </a:cxn>
                <a:cxn ang="0">
                  <a:pos x="27" y="9"/>
                </a:cxn>
                <a:cxn ang="0">
                  <a:pos x="27" y="11"/>
                </a:cxn>
                <a:cxn ang="0">
                  <a:pos x="29" y="13"/>
                </a:cxn>
                <a:cxn ang="0">
                  <a:pos x="27" y="13"/>
                </a:cxn>
                <a:cxn ang="0">
                  <a:pos x="22" y="15"/>
                </a:cxn>
                <a:cxn ang="0">
                  <a:pos x="22" y="17"/>
                </a:cxn>
                <a:cxn ang="0">
                  <a:pos x="23" y="20"/>
                </a:cxn>
                <a:cxn ang="0">
                  <a:pos x="20" y="20"/>
                </a:cxn>
                <a:cxn ang="0">
                  <a:pos x="16" y="18"/>
                </a:cxn>
                <a:cxn ang="0">
                  <a:pos x="15" y="19"/>
                </a:cxn>
                <a:cxn ang="0">
                  <a:pos x="12" y="17"/>
                </a:cxn>
                <a:cxn ang="0">
                  <a:pos x="10" y="20"/>
                </a:cxn>
                <a:cxn ang="0">
                  <a:pos x="4" y="20"/>
                </a:cxn>
                <a:cxn ang="0">
                  <a:pos x="0" y="18"/>
                </a:cxn>
                <a:cxn ang="0">
                  <a:pos x="3" y="24"/>
                </a:cxn>
                <a:cxn ang="0">
                  <a:pos x="6" y="29"/>
                </a:cxn>
                <a:cxn ang="0">
                  <a:pos x="10" y="25"/>
                </a:cxn>
                <a:cxn ang="0">
                  <a:pos x="21" y="42"/>
                </a:cxn>
                <a:cxn ang="0">
                  <a:pos x="26" y="47"/>
                </a:cxn>
                <a:cxn ang="0">
                  <a:pos x="39" y="55"/>
                </a:cxn>
                <a:cxn ang="0">
                  <a:pos x="57" y="65"/>
                </a:cxn>
                <a:cxn ang="0">
                  <a:pos x="59" y="65"/>
                </a:cxn>
                <a:cxn ang="0">
                  <a:pos x="60" y="65"/>
                </a:cxn>
                <a:cxn ang="0">
                  <a:pos x="60" y="63"/>
                </a:cxn>
                <a:cxn ang="0">
                  <a:pos x="54" y="59"/>
                </a:cxn>
                <a:cxn ang="0">
                  <a:pos x="53" y="56"/>
                </a:cxn>
                <a:cxn ang="0">
                  <a:pos x="50" y="54"/>
                </a:cxn>
                <a:cxn ang="0">
                  <a:pos x="39" y="44"/>
                </a:cxn>
                <a:cxn ang="0">
                  <a:pos x="39" y="43"/>
                </a:cxn>
                <a:cxn ang="0">
                  <a:pos x="36" y="42"/>
                </a:cxn>
                <a:cxn ang="0">
                  <a:pos x="34" y="35"/>
                </a:cxn>
                <a:cxn ang="0">
                  <a:pos x="30" y="32"/>
                </a:cxn>
                <a:cxn ang="0">
                  <a:pos x="30" y="25"/>
                </a:cxn>
                <a:cxn ang="0">
                  <a:pos x="34" y="24"/>
                </a:cxn>
                <a:cxn ang="0">
                  <a:pos x="38" y="29"/>
                </a:cxn>
                <a:cxn ang="0">
                  <a:pos x="41" y="24"/>
                </a:cxn>
                <a:cxn ang="0">
                  <a:pos x="46" y="24"/>
                </a:cxn>
                <a:cxn ang="0">
                  <a:pos x="50" y="25"/>
                </a:cxn>
                <a:cxn ang="0">
                  <a:pos x="60" y="27"/>
                </a:cxn>
                <a:cxn ang="0">
                  <a:pos x="62" y="25"/>
                </a:cxn>
                <a:cxn ang="0">
                  <a:pos x="64" y="26"/>
                </a:cxn>
                <a:cxn ang="0">
                  <a:pos x="65" y="26"/>
                </a:cxn>
                <a:cxn ang="0">
                  <a:pos x="69" y="26"/>
                </a:cxn>
                <a:cxn ang="0">
                  <a:pos x="71" y="26"/>
                </a:cxn>
                <a:cxn ang="0">
                  <a:pos x="74" y="30"/>
                </a:cxn>
              </a:cxnLst>
              <a:rect l="0" t="0" r="r" b="b"/>
              <a:pathLst>
                <a:path w="82" h="65">
                  <a:moveTo>
                    <a:pt x="74" y="30"/>
                  </a:moveTo>
                  <a:lnTo>
                    <a:pt x="77" y="30"/>
                  </a:lnTo>
                  <a:lnTo>
                    <a:pt x="78" y="26"/>
                  </a:lnTo>
                  <a:lnTo>
                    <a:pt x="82" y="25"/>
                  </a:lnTo>
                  <a:lnTo>
                    <a:pt x="82" y="24"/>
                  </a:lnTo>
                  <a:lnTo>
                    <a:pt x="77" y="23"/>
                  </a:lnTo>
                  <a:lnTo>
                    <a:pt x="76" y="21"/>
                  </a:lnTo>
                  <a:lnTo>
                    <a:pt x="77" y="19"/>
                  </a:lnTo>
                  <a:lnTo>
                    <a:pt x="76" y="19"/>
                  </a:lnTo>
                  <a:lnTo>
                    <a:pt x="72" y="13"/>
                  </a:lnTo>
                  <a:lnTo>
                    <a:pt x="51" y="11"/>
                  </a:lnTo>
                  <a:lnTo>
                    <a:pt x="39" y="0"/>
                  </a:lnTo>
                  <a:lnTo>
                    <a:pt x="38" y="1"/>
                  </a:lnTo>
                  <a:lnTo>
                    <a:pt x="36" y="2"/>
                  </a:lnTo>
                  <a:lnTo>
                    <a:pt x="36" y="3"/>
                  </a:lnTo>
                  <a:lnTo>
                    <a:pt x="32" y="3"/>
                  </a:lnTo>
                  <a:lnTo>
                    <a:pt x="30" y="5"/>
                  </a:lnTo>
                  <a:lnTo>
                    <a:pt x="26" y="6"/>
                  </a:lnTo>
                  <a:lnTo>
                    <a:pt x="27" y="9"/>
                  </a:lnTo>
                  <a:lnTo>
                    <a:pt x="27" y="11"/>
                  </a:lnTo>
                  <a:lnTo>
                    <a:pt x="29" y="13"/>
                  </a:lnTo>
                  <a:lnTo>
                    <a:pt x="27" y="13"/>
                  </a:lnTo>
                  <a:lnTo>
                    <a:pt x="22" y="15"/>
                  </a:lnTo>
                  <a:lnTo>
                    <a:pt x="22" y="17"/>
                  </a:lnTo>
                  <a:lnTo>
                    <a:pt x="23" y="20"/>
                  </a:lnTo>
                  <a:lnTo>
                    <a:pt x="20" y="20"/>
                  </a:lnTo>
                  <a:lnTo>
                    <a:pt x="16" y="18"/>
                  </a:lnTo>
                  <a:lnTo>
                    <a:pt x="15" y="19"/>
                  </a:lnTo>
                  <a:lnTo>
                    <a:pt x="12" y="17"/>
                  </a:lnTo>
                  <a:lnTo>
                    <a:pt x="10" y="20"/>
                  </a:lnTo>
                  <a:lnTo>
                    <a:pt x="4" y="20"/>
                  </a:lnTo>
                  <a:lnTo>
                    <a:pt x="0" y="18"/>
                  </a:lnTo>
                  <a:lnTo>
                    <a:pt x="3" y="24"/>
                  </a:lnTo>
                  <a:lnTo>
                    <a:pt x="6" y="29"/>
                  </a:lnTo>
                  <a:lnTo>
                    <a:pt x="10" y="25"/>
                  </a:lnTo>
                  <a:lnTo>
                    <a:pt x="21" y="42"/>
                  </a:lnTo>
                  <a:lnTo>
                    <a:pt x="26" y="47"/>
                  </a:lnTo>
                  <a:lnTo>
                    <a:pt x="39" y="55"/>
                  </a:lnTo>
                  <a:lnTo>
                    <a:pt x="57" y="65"/>
                  </a:lnTo>
                  <a:lnTo>
                    <a:pt x="59" y="65"/>
                  </a:lnTo>
                  <a:lnTo>
                    <a:pt x="60" y="65"/>
                  </a:lnTo>
                  <a:lnTo>
                    <a:pt x="60" y="63"/>
                  </a:lnTo>
                  <a:lnTo>
                    <a:pt x="54" y="59"/>
                  </a:lnTo>
                  <a:lnTo>
                    <a:pt x="53" y="56"/>
                  </a:lnTo>
                  <a:lnTo>
                    <a:pt x="50" y="54"/>
                  </a:lnTo>
                  <a:lnTo>
                    <a:pt x="39" y="44"/>
                  </a:lnTo>
                  <a:lnTo>
                    <a:pt x="39" y="43"/>
                  </a:lnTo>
                  <a:lnTo>
                    <a:pt x="36" y="42"/>
                  </a:lnTo>
                  <a:lnTo>
                    <a:pt x="34" y="35"/>
                  </a:lnTo>
                  <a:lnTo>
                    <a:pt x="30" y="32"/>
                  </a:lnTo>
                  <a:lnTo>
                    <a:pt x="30" y="25"/>
                  </a:lnTo>
                  <a:lnTo>
                    <a:pt x="34" y="24"/>
                  </a:lnTo>
                  <a:lnTo>
                    <a:pt x="38" y="29"/>
                  </a:lnTo>
                  <a:lnTo>
                    <a:pt x="41" y="24"/>
                  </a:lnTo>
                  <a:lnTo>
                    <a:pt x="46" y="24"/>
                  </a:lnTo>
                  <a:lnTo>
                    <a:pt x="50" y="25"/>
                  </a:lnTo>
                  <a:lnTo>
                    <a:pt x="60" y="27"/>
                  </a:lnTo>
                  <a:lnTo>
                    <a:pt x="62" y="25"/>
                  </a:lnTo>
                  <a:lnTo>
                    <a:pt x="64" y="26"/>
                  </a:lnTo>
                  <a:lnTo>
                    <a:pt x="65" y="26"/>
                  </a:lnTo>
                  <a:lnTo>
                    <a:pt x="69" y="26"/>
                  </a:lnTo>
                  <a:lnTo>
                    <a:pt x="71" y="26"/>
                  </a:lnTo>
                  <a:lnTo>
                    <a:pt x="74" y="3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7" name="Freeform 346"/>
            <p:cNvSpPr>
              <a:spLocks/>
            </p:cNvSpPr>
            <p:nvPr/>
          </p:nvSpPr>
          <p:spPr bwMode="auto">
            <a:xfrm>
              <a:off x="2802" y="1850"/>
              <a:ext cx="25" cy="11"/>
            </a:xfrm>
            <a:custGeom>
              <a:avLst/>
              <a:gdLst/>
              <a:ahLst/>
              <a:cxnLst>
                <a:cxn ang="0">
                  <a:pos x="21" y="9"/>
                </a:cxn>
                <a:cxn ang="0">
                  <a:pos x="21" y="7"/>
                </a:cxn>
                <a:cxn ang="0">
                  <a:pos x="21" y="6"/>
                </a:cxn>
                <a:cxn ang="0">
                  <a:pos x="19" y="4"/>
                </a:cxn>
                <a:cxn ang="0">
                  <a:pos x="14" y="2"/>
                </a:cxn>
                <a:cxn ang="0">
                  <a:pos x="10" y="0"/>
                </a:cxn>
                <a:cxn ang="0">
                  <a:pos x="9" y="1"/>
                </a:cxn>
                <a:cxn ang="0">
                  <a:pos x="0" y="0"/>
                </a:cxn>
                <a:cxn ang="0">
                  <a:pos x="21" y="9"/>
                </a:cxn>
              </a:cxnLst>
              <a:rect l="0" t="0" r="r" b="b"/>
              <a:pathLst>
                <a:path w="21" h="9">
                  <a:moveTo>
                    <a:pt x="21" y="9"/>
                  </a:moveTo>
                  <a:lnTo>
                    <a:pt x="21" y="7"/>
                  </a:lnTo>
                  <a:lnTo>
                    <a:pt x="21" y="6"/>
                  </a:lnTo>
                  <a:lnTo>
                    <a:pt x="19" y="4"/>
                  </a:lnTo>
                  <a:lnTo>
                    <a:pt x="14" y="2"/>
                  </a:lnTo>
                  <a:lnTo>
                    <a:pt x="10" y="0"/>
                  </a:lnTo>
                  <a:lnTo>
                    <a:pt x="9" y="1"/>
                  </a:lnTo>
                  <a:lnTo>
                    <a:pt x="0" y="0"/>
                  </a:lnTo>
                  <a:lnTo>
                    <a:pt x="21"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8" name="Freeform 347"/>
            <p:cNvSpPr>
              <a:spLocks/>
            </p:cNvSpPr>
            <p:nvPr/>
          </p:nvSpPr>
          <p:spPr bwMode="auto">
            <a:xfrm>
              <a:off x="2458" y="1690"/>
              <a:ext cx="198" cy="169"/>
            </a:xfrm>
            <a:custGeom>
              <a:avLst/>
              <a:gdLst/>
              <a:ahLst/>
              <a:cxnLst>
                <a:cxn ang="0">
                  <a:pos x="174" y="121"/>
                </a:cxn>
                <a:cxn ang="0">
                  <a:pos x="174" y="128"/>
                </a:cxn>
                <a:cxn ang="0">
                  <a:pos x="173" y="128"/>
                </a:cxn>
                <a:cxn ang="0">
                  <a:pos x="172" y="128"/>
                </a:cxn>
                <a:cxn ang="0">
                  <a:pos x="157" y="140"/>
                </a:cxn>
                <a:cxn ang="0">
                  <a:pos x="139" y="134"/>
                </a:cxn>
                <a:cxn ang="0">
                  <a:pos x="134" y="133"/>
                </a:cxn>
                <a:cxn ang="0">
                  <a:pos x="132" y="134"/>
                </a:cxn>
                <a:cxn ang="0">
                  <a:pos x="120" y="134"/>
                </a:cxn>
                <a:cxn ang="0">
                  <a:pos x="112" y="140"/>
                </a:cxn>
                <a:cxn ang="0">
                  <a:pos x="113" y="151"/>
                </a:cxn>
                <a:cxn ang="0">
                  <a:pos x="91" y="151"/>
                </a:cxn>
                <a:cxn ang="0">
                  <a:pos x="92" y="149"/>
                </a:cxn>
                <a:cxn ang="0">
                  <a:pos x="88" y="149"/>
                </a:cxn>
                <a:cxn ang="0">
                  <a:pos x="48" y="140"/>
                </a:cxn>
                <a:cxn ang="0">
                  <a:pos x="41" y="134"/>
                </a:cxn>
                <a:cxn ang="0">
                  <a:pos x="47" y="126"/>
                </a:cxn>
                <a:cxn ang="0">
                  <a:pos x="48" y="111"/>
                </a:cxn>
                <a:cxn ang="0">
                  <a:pos x="50" y="98"/>
                </a:cxn>
                <a:cxn ang="0">
                  <a:pos x="56" y="105"/>
                </a:cxn>
                <a:cxn ang="0">
                  <a:pos x="50" y="92"/>
                </a:cxn>
                <a:cxn ang="0">
                  <a:pos x="50" y="87"/>
                </a:cxn>
                <a:cxn ang="0">
                  <a:pos x="43" y="81"/>
                </a:cxn>
                <a:cxn ang="0">
                  <a:pos x="37" y="69"/>
                </a:cxn>
                <a:cxn ang="0">
                  <a:pos x="38" y="66"/>
                </a:cxn>
                <a:cxn ang="0">
                  <a:pos x="31" y="63"/>
                </a:cxn>
                <a:cxn ang="0">
                  <a:pos x="23" y="61"/>
                </a:cxn>
                <a:cxn ang="0">
                  <a:pos x="11" y="56"/>
                </a:cxn>
                <a:cxn ang="0">
                  <a:pos x="2" y="54"/>
                </a:cxn>
                <a:cxn ang="0">
                  <a:pos x="5" y="49"/>
                </a:cxn>
                <a:cxn ang="0">
                  <a:pos x="6" y="48"/>
                </a:cxn>
                <a:cxn ang="0">
                  <a:pos x="0" y="47"/>
                </a:cxn>
                <a:cxn ang="0">
                  <a:pos x="17" y="41"/>
                </a:cxn>
                <a:cxn ang="0">
                  <a:pos x="28" y="42"/>
                </a:cxn>
                <a:cxn ang="0">
                  <a:pos x="44" y="43"/>
                </a:cxn>
                <a:cxn ang="0">
                  <a:pos x="41" y="26"/>
                </a:cxn>
                <a:cxn ang="0">
                  <a:pos x="46" y="24"/>
                </a:cxn>
                <a:cxn ang="0">
                  <a:pos x="50" y="29"/>
                </a:cxn>
                <a:cxn ang="0">
                  <a:pos x="72" y="29"/>
                </a:cxn>
                <a:cxn ang="0">
                  <a:pos x="67" y="27"/>
                </a:cxn>
                <a:cxn ang="0">
                  <a:pos x="86" y="17"/>
                </a:cxn>
                <a:cxn ang="0">
                  <a:pos x="88" y="5"/>
                </a:cxn>
                <a:cxn ang="0">
                  <a:pos x="101" y="0"/>
                </a:cxn>
                <a:cxn ang="0">
                  <a:pos x="107" y="6"/>
                </a:cxn>
                <a:cxn ang="0">
                  <a:pos x="125" y="18"/>
                </a:cxn>
                <a:cxn ang="0">
                  <a:pos x="131" y="17"/>
                </a:cxn>
                <a:cxn ang="0">
                  <a:pos x="132" y="19"/>
                </a:cxn>
                <a:cxn ang="0">
                  <a:pos x="146" y="26"/>
                </a:cxn>
                <a:cxn ang="0">
                  <a:pos x="154" y="27"/>
                </a:cxn>
                <a:cxn ang="0">
                  <a:pos x="156" y="29"/>
                </a:cxn>
                <a:cxn ang="0">
                  <a:pos x="179" y="36"/>
                </a:cxn>
                <a:cxn ang="0">
                  <a:pos x="173" y="61"/>
                </a:cxn>
                <a:cxn ang="0">
                  <a:pos x="168" y="63"/>
                </a:cxn>
                <a:cxn ang="0">
                  <a:pos x="164" y="66"/>
                </a:cxn>
                <a:cxn ang="0">
                  <a:pos x="152" y="84"/>
                </a:cxn>
                <a:cxn ang="0">
                  <a:pos x="157" y="80"/>
                </a:cxn>
                <a:cxn ang="0">
                  <a:pos x="166" y="90"/>
                </a:cxn>
                <a:cxn ang="0">
                  <a:pos x="166" y="97"/>
                </a:cxn>
                <a:cxn ang="0">
                  <a:pos x="163" y="104"/>
                </a:cxn>
                <a:cxn ang="0">
                  <a:pos x="163" y="109"/>
                </a:cxn>
                <a:cxn ang="0">
                  <a:pos x="164" y="115"/>
                </a:cxn>
                <a:cxn ang="0">
                  <a:pos x="174" y="121"/>
                </a:cxn>
              </a:cxnLst>
              <a:rect l="0" t="0" r="r" b="b"/>
              <a:pathLst>
                <a:path w="179" h="151">
                  <a:moveTo>
                    <a:pt x="174" y="121"/>
                  </a:moveTo>
                  <a:lnTo>
                    <a:pt x="174" y="128"/>
                  </a:lnTo>
                  <a:lnTo>
                    <a:pt x="173" y="128"/>
                  </a:lnTo>
                  <a:lnTo>
                    <a:pt x="172" y="128"/>
                  </a:lnTo>
                  <a:lnTo>
                    <a:pt x="157" y="140"/>
                  </a:lnTo>
                  <a:lnTo>
                    <a:pt x="139" y="134"/>
                  </a:lnTo>
                  <a:lnTo>
                    <a:pt x="134" y="133"/>
                  </a:lnTo>
                  <a:lnTo>
                    <a:pt x="132" y="134"/>
                  </a:lnTo>
                  <a:lnTo>
                    <a:pt x="120" y="134"/>
                  </a:lnTo>
                  <a:lnTo>
                    <a:pt x="112" y="140"/>
                  </a:lnTo>
                  <a:lnTo>
                    <a:pt x="113" y="151"/>
                  </a:lnTo>
                  <a:lnTo>
                    <a:pt x="91" y="151"/>
                  </a:lnTo>
                  <a:lnTo>
                    <a:pt x="92" y="149"/>
                  </a:lnTo>
                  <a:lnTo>
                    <a:pt x="88" y="149"/>
                  </a:lnTo>
                  <a:lnTo>
                    <a:pt x="48" y="140"/>
                  </a:lnTo>
                  <a:lnTo>
                    <a:pt x="41" y="134"/>
                  </a:lnTo>
                  <a:lnTo>
                    <a:pt x="47" y="126"/>
                  </a:lnTo>
                  <a:lnTo>
                    <a:pt x="48" y="111"/>
                  </a:lnTo>
                  <a:lnTo>
                    <a:pt x="50" y="98"/>
                  </a:lnTo>
                  <a:lnTo>
                    <a:pt x="56" y="105"/>
                  </a:lnTo>
                  <a:lnTo>
                    <a:pt x="50" y="92"/>
                  </a:lnTo>
                  <a:lnTo>
                    <a:pt x="50" y="87"/>
                  </a:lnTo>
                  <a:lnTo>
                    <a:pt x="43" y="81"/>
                  </a:lnTo>
                  <a:lnTo>
                    <a:pt x="37" y="69"/>
                  </a:lnTo>
                  <a:lnTo>
                    <a:pt x="38" y="66"/>
                  </a:lnTo>
                  <a:lnTo>
                    <a:pt x="31" y="63"/>
                  </a:lnTo>
                  <a:lnTo>
                    <a:pt x="23" y="61"/>
                  </a:lnTo>
                  <a:lnTo>
                    <a:pt x="11" y="56"/>
                  </a:lnTo>
                  <a:lnTo>
                    <a:pt x="2" y="54"/>
                  </a:lnTo>
                  <a:lnTo>
                    <a:pt x="5" y="49"/>
                  </a:lnTo>
                  <a:lnTo>
                    <a:pt x="6" y="48"/>
                  </a:lnTo>
                  <a:lnTo>
                    <a:pt x="0" y="47"/>
                  </a:lnTo>
                  <a:lnTo>
                    <a:pt x="17" y="41"/>
                  </a:lnTo>
                  <a:lnTo>
                    <a:pt x="28" y="42"/>
                  </a:lnTo>
                  <a:lnTo>
                    <a:pt x="44" y="43"/>
                  </a:lnTo>
                  <a:lnTo>
                    <a:pt x="41" y="26"/>
                  </a:lnTo>
                  <a:lnTo>
                    <a:pt x="46" y="24"/>
                  </a:lnTo>
                  <a:lnTo>
                    <a:pt x="50" y="29"/>
                  </a:lnTo>
                  <a:lnTo>
                    <a:pt x="72" y="29"/>
                  </a:lnTo>
                  <a:lnTo>
                    <a:pt x="67" y="27"/>
                  </a:lnTo>
                  <a:lnTo>
                    <a:pt x="86" y="17"/>
                  </a:lnTo>
                  <a:lnTo>
                    <a:pt x="88" y="5"/>
                  </a:lnTo>
                  <a:lnTo>
                    <a:pt x="101" y="0"/>
                  </a:lnTo>
                  <a:lnTo>
                    <a:pt x="107" y="6"/>
                  </a:lnTo>
                  <a:lnTo>
                    <a:pt x="125" y="18"/>
                  </a:lnTo>
                  <a:lnTo>
                    <a:pt x="131" y="17"/>
                  </a:lnTo>
                  <a:lnTo>
                    <a:pt x="132" y="19"/>
                  </a:lnTo>
                  <a:lnTo>
                    <a:pt x="146" y="26"/>
                  </a:lnTo>
                  <a:lnTo>
                    <a:pt x="154" y="27"/>
                  </a:lnTo>
                  <a:lnTo>
                    <a:pt x="156" y="29"/>
                  </a:lnTo>
                  <a:lnTo>
                    <a:pt x="179" y="36"/>
                  </a:lnTo>
                  <a:lnTo>
                    <a:pt x="173" y="61"/>
                  </a:lnTo>
                  <a:lnTo>
                    <a:pt x="168" y="63"/>
                  </a:lnTo>
                  <a:lnTo>
                    <a:pt x="164" y="66"/>
                  </a:lnTo>
                  <a:lnTo>
                    <a:pt x="152" y="84"/>
                  </a:lnTo>
                  <a:lnTo>
                    <a:pt x="157" y="80"/>
                  </a:lnTo>
                  <a:lnTo>
                    <a:pt x="166" y="90"/>
                  </a:lnTo>
                  <a:lnTo>
                    <a:pt x="166" y="97"/>
                  </a:lnTo>
                  <a:lnTo>
                    <a:pt x="163" y="104"/>
                  </a:lnTo>
                  <a:lnTo>
                    <a:pt x="163" y="109"/>
                  </a:lnTo>
                  <a:lnTo>
                    <a:pt x="164" y="115"/>
                  </a:lnTo>
                  <a:lnTo>
                    <a:pt x="174" y="1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9" name="Freeform 348"/>
            <p:cNvSpPr>
              <a:spLocks/>
            </p:cNvSpPr>
            <p:nvPr/>
          </p:nvSpPr>
          <p:spPr bwMode="auto">
            <a:xfrm>
              <a:off x="2669" y="1850"/>
              <a:ext cx="15" cy="26"/>
            </a:xfrm>
            <a:custGeom>
              <a:avLst/>
              <a:gdLst/>
              <a:ahLst/>
              <a:cxnLst>
                <a:cxn ang="0">
                  <a:pos x="9" y="24"/>
                </a:cxn>
                <a:cxn ang="0">
                  <a:pos x="3" y="20"/>
                </a:cxn>
                <a:cxn ang="0">
                  <a:pos x="0" y="11"/>
                </a:cxn>
                <a:cxn ang="0">
                  <a:pos x="9" y="0"/>
                </a:cxn>
                <a:cxn ang="0">
                  <a:pos x="13" y="11"/>
                </a:cxn>
                <a:cxn ang="0">
                  <a:pos x="9" y="24"/>
                </a:cxn>
              </a:cxnLst>
              <a:rect l="0" t="0" r="r" b="b"/>
              <a:pathLst>
                <a:path w="13" h="24">
                  <a:moveTo>
                    <a:pt x="9" y="24"/>
                  </a:moveTo>
                  <a:lnTo>
                    <a:pt x="3" y="20"/>
                  </a:lnTo>
                  <a:lnTo>
                    <a:pt x="0" y="11"/>
                  </a:lnTo>
                  <a:lnTo>
                    <a:pt x="9" y="0"/>
                  </a:lnTo>
                  <a:lnTo>
                    <a:pt x="13" y="11"/>
                  </a:lnTo>
                  <a:lnTo>
                    <a:pt x="9"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0" name="Freeform 349"/>
            <p:cNvSpPr>
              <a:spLocks/>
            </p:cNvSpPr>
            <p:nvPr/>
          </p:nvSpPr>
          <p:spPr bwMode="auto">
            <a:xfrm>
              <a:off x="2782" y="1741"/>
              <a:ext cx="105" cy="51"/>
            </a:xfrm>
            <a:custGeom>
              <a:avLst/>
              <a:gdLst/>
              <a:ahLst/>
              <a:cxnLst>
                <a:cxn ang="0">
                  <a:pos x="39" y="46"/>
                </a:cxn>
                <a:cxn ang="0">
                  <a:pos x="18" y="44"/>
                </a:cxn>
                <a:cxn ang="0">
                  <a:pos x="6" y="33"/>
                </a:cxn>
                <a:cxn ang="0">
                  <a:pos x="1" y="30"/>
                </a:cxn>
                <a:cxn ang="0">
                  <a:pos x="0" y="28"/>
                </a:cxn>
                <a:cxn ang="0">
                  <a:pos x="1" y="27"/>
                </a:cxn>
                <a:cxn ang="0">
                  <a:pos x="6" y="15"/>
                </a:cxn>
                <a:cxn ang="0">
                  <a:pos x="7" y="14"/>
                </a:cxn>
                <a:cxn ang="0">
                  <a:pos x="13" y="9"/>
                </a:cxn>
                <a:cxn ang="0">
                  <a:pos x="17" y="10"/>
                </a:cxn>
                <a:cxn ang="0">
                  <a:pos x="35" y="11"/>
                </a:cxn>
                <a:cxn ang="0">
                  <a:pos x="57" y="0"/>
                </a:cxn>
                <a:cxn ang="0">
                  <a:pos x="81" y="2"/>
                </a:cxn>
                <a:cxn ang="0">
                  <a:pos x="92" y="10"/>
                </a:cxn>
                <a:cxn ang="0">
                  <a:pos x="79" y="23"/>
                </a:cxn>
                <a:cxn ang="0">
                  <a:pos x="67" y="39"/>
                </a:cxn>
                <a:cxn ang="0">
                  <a:pos x="60" y="41"/>
                </a:cxn>
                <a:cxn ang="0">
                  <a:pos x="39" y="46"/>
                </a:cxn>
              </a:cxnLst>
              <a:rect l="0" t="0" r="r" b="b"/>
              <a:pathLst>
                <a:path w="92" h="46">
                  <a:moveTo>
                    <a:pt x="39" y="46"/>
                  </a:moveTo>
                  <a:lnTo>
                    <a:pt x="18" y="44"/>
                  </a:lnTo>
                  <a:lnTo>
                    <a:pt x="6" y="33"/>
                  </a:lnTo>
                  <a:lnTo>
                    <a:pt x="1" y="30"/>
                  </a:lnTo>
                  <a:lnTo>
                    <a:pt x="0" y="28"/>
                  </a:lnTo>
                  <a:lnTo>
                    <a:pt x="1" y="27"/>
                  </a:lnTo>
                  <a:lnTo>
                    <a:pt x="6" y="15"/>
                  </a:lnTo>
                  <a:lnTo>
                    <a:pt x="7" y="14"/>
                  </a:lnTo>
                  <a:lnTo>
                    <a:pt x="13" y="9"/>
                  </a:lnTo>
                  <a:lnTo>
                    <a:pt x="17" y="10"/>
                  </a:lnTo>
                  <a:lnTo>
                    <a:pt x="35" y="11"/>
                  </a:lnTo>
                  <a:lnTo>
                    <a:pt x="57" y="0"/>
                  </a:lnTo>
                  <a:lnTo>
                    <a:pt x="81" y="2"/>
                  </a:lnTo>
                  <a:lnTo>
                    <a:pt x="92" y="10"/>
                  </a:lnTo>
                  <a:lnTo>
                    <a:pt x="79" y="23"/>
                  </a:lnTo>
                  <a:lnTo>
                    <a:pt x="67" y="39"/>
                  </a:lnTo>
                  <a:lnTo>
                    <a:pt x="60" y="41"/>
                  </a:lnTo>
                  <a:lnTo>
                    <a:pt x="39"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1" name="Freeform 350"/>
            <p:cNvSpPr>
              <a:spLocks/>
            </p:cNvSpPr>
            <p:nvPr/>
          </p:nvSpPr>
          <p:spPr bwMode="auto">
            <a:xfrm>
              <a:off x="2902" y="1228"/>
              <a:ext cx="2093" cy="646"/>
            </a:xfrm>
            <a:custGeom>
              <a:avLst/>
              <a:gdLst/>
              <a:ahLst/>
              <a:cxnLst>
                <a:cxn ang="0">
                  <a:pos x="1624" y="126"/>
                </a:cxn>
                <a:cxn ang="0">
                  <a:pos x="1471" y="99"/>
                </a:cxn>
                <a:cxn ang="0">
                  <a:pos x="1329" y="83"/>
                </a:cxn>
                <a:cxn ang="0">
                  <a:pos x="1222" y="71"/>
                </a:cxn>
                <a:cxn ang="0">
                  <a:pos x="1183" y="84"/>
                </a:cxn>
                <a:cxn ang="0">
                  <a:pos x="1071" y="75"/>
                </a:cxn>
                <a:cxn ang="0">
                  <a:pos x="890" y="52"/>
                </a:cxn>
                <a:cxn ang="0">
                  <a:pos x="873" y="30"/>
                </a:cxn>
                <a:cxn ang="0">
                  <a:pos x="777" y="15"/>
                </a:cxn>
                <a:cxn ang="0">
                  <a:pos x="702" y="18"/>
                </a:cxn>
                <a:cxn ang="0">
                  <a:pos x="597" y="41"/>
                </a:cxn>
                <a:cxn ang="0">
                  <a:pos x="564" y="74"/>
                </a:cxn>
                <a:cxn ang="0">
                  <a:pos x="596" y="84"/>
                </a:cxn>
                <a:cxn ang="0">
                  <a:pos x="511" y="87"/>
                </a:cxn>
                <a:cxn ang="0">
                  <a:pos x="548" y="122"/>
                </a:cxn>
                <a:cxn ang="0">
                  <a:pos x="541" y="144"/>
                </a:cxn>
                <a:cxn ang="0">
                  <a:pos x="511" y="155"/>
                </a:cxn>
                <a:cxn ang="0">
                  <a:pos x="428" y="68"/>
                </a:cxn>
                <a:cxn ang="0">
                  <a:pos x="464" y="125"/>
                </a:cxn>
                <a:cxn ang="0">
                  <a:pos x="360" y="134"/>
                </a:cxn>
                <a:cxn ang="0">
                  <a:pos x="296" y="124"/>
                </a:cxn>
                <a:cxn ang="0">
                  <a:pos x="194" y="147"/>
                </a:cxn>
                <a:cxn ang="0">
                  <a:pos x="180" y="164"/>
                </a:cxn>
                <a:cxn ang="0">
                  <a:pos x="129" y="201"/>
                </a:cxn>
                <a:cxn ang="0">
                  <a:pos x="54" y="155"/>
                </a:cxn>
                <a:cxn ang="0">
                  <a:pos x="46" y="123"/>
                </a:cxn>
                <a:cxn ang="0">
                  <a:pos x="12" y="116"/>
                </a:cxn>
                <a:cxn ang="0">
                  <a:pos x="38" y="201"/>
                </a:cxn>
                <a:cxn ang="0">
                  <a:pos x="27" y="260"/>
                </a:cxn>
                <a:cxn ang="0">
                  <a:pos x="57" y="336"/>
                </a:cxn>
                <a:cxn ang="0">
                  <a:pos x="152" y="416"/>
                </a:cxn>
                <a:cxn ang="0">
                  <a:pos x="206" y="492"/>
                </a:cxn>
                <a:cxn ang="0">
                  <a:pos x="207" y="531"/>
                </a:cxn>
                <a:cxn ang="0">
                  <a:pos x="373" y="582"/>
                </a:cxn>
                <a:cxn ang="0">
                  <a:pos x="362" y="501"/>
                </a:cxn>
                <a:cxn ang="0">
                  <a:pos x="350" y="407"/>
                </a:cxn>
                <a:cxn ang="0">
                  <a:pos x="481" y="396"/>
                </a:cxn>
                <a:cxn ang="0">
                  <a:pos x="585" y="344"/>
                </a:cxn>
                <a:cxn ang="0">
                  <a:pos x="692" y="368"/>
                </a:cxn>
                <a:cxn ang="0">
                  <a:pos x="837" y="438"/>
                </a:cxn>
                <a:cxn ang="0">
                  <a:pos x="963" y="431"/>
                </a:cxn>
                <a:cxn ang="0">
                  <a:pos x="1087" y="432"/>
                </a:cxn>
                <a:cxn ang="0">
                  <a:pos x="1262" y="437"/>
                </a:cxn>
                <a:cxn ang="0">
                  <a:pos x="1312" y="377"/>
                </a:cxn>
                <a:cxn ang="0">
                  <a:pos x="1479" y="456"/>
                </a:cxn>
                <a:cxn ang="0">
                  <a:pos x="1543" y="544"/>
                </a:cxn>
                <a:cxn ang="0">
                  <a:pos x="1570" y="561"/>
                </a:cxn>
                <a:cxn ang="0">
                  <a:pos x="1608" y="450"/>
                </a:cxn>
                <a:cxn ang="0">
                  <a:pos x="1514" y="362"/>
                </a:cxn>
                <a:cxn ang="0">
                  <a:pos x="1472" y="324"/>
                </a:cxn>
                <a:cxn ang="0">
                  <a:pos x="1531" y="276"/>
                </a:cxn>
                <a:cxn ang="0">
                  <a:pos x="1628" y="280"/>
                </a:cxn>
                <a:cxn ang="0">
                  <a:pos x="1672" y="251"/>
                </a:cxn>
                <a:cxn ang="0">
                  <a:pos x="1701" y="228"/>
                </a:cxn>
                <a:cxn ang="0">
                  <a:pos x="1702" y="318"/>
                </a:cxn>
                <a:cxn ang="0">
                  <a:pos x="1807" y="381"/>
                </a:cxn>
                <a:cxn ang="0">
                  <a:pos x="1807" y="333"/>
                </a:cxn>
                <a:cxn ang="0">
                  <a:pos x="1759" y="269"/>
                </a:cxn>
                <a:cxn ang="0">
                  <a:pos x="1828" y="249"/>
                </a:cxn>
                <a:cxn ang="0">
                  <a:pos x="1870" y="218"/>
                </a:cxn>
                <a:cxn ang="0">
                  <a:pos x="1788" y="156"/>
                </a:cxn>
              </a:cxnLst>
              <a:rect l="0" t="0" r="r" b="b"/>
              <a:pathLst>
                <a:path w="1884" h="582">
                  <a:moveTo>
                    <a:pt x="1741" y="124"/>
                  </a:moveTo>
                  <a:lnTo>
                    <a:pt x="1706" y="117"/>
                  </a:lnTo>
                  <a:lnTo>
                    <a:pt x="1670" y="110"/>
                  </a:lnTo>
                  <a:lnTo>
                    <a:pt x="1639" y="110"/>
                  </a:lnTo>
                  <a:lnTo>
                    <a:pt x="1609" y="107"/>
                  </a:lnTo>
                  <a:lnTo>
                    <a:pt x="1620" y="114"/>
                  </a:lnTo>
                  <a:lnTo>
                    <a:pt x="1638" y="124"/>
                  </a:lnTo>
                  <a:lnTo>
                    <a:pt x="1635" y="126"/>
                  </a:lnTo>
                  <a:lnTo>
                    <a:pt x="1624" y="126"/>
                  </a:lnTo>
                  <a:lnTo>
                    <a:pt x="1608" y="120"/>
                  </a:lnTo>
                  <a:lnTo>
                    <a:pt x="1602" y="120"/>
                  </a:lnTo>
                  <a:lnTo>
                    <a:pt x="1584" y="112"/>
                  </a:lnTo>
                  <a:lnTo>
                    <a:pt x="1570" y="116"/>
                  </a:lnTo>
                  <a:lnTo>
                    <a:pt x="1524" y="113"/>
                  </a:lnTo>
                  <a:lnTo>
                    <a:pt x="1522" y="120"/>
                  </a:lnTo>
                  <a:lnTo>
                    <a:pt x="1507" y="113"/>
                  </a:lnTo>
                  <a:lnTo>
                    <a:pt x="1489" y="110"/>
                  </a:lnTo>
                  <a:lnTo>
                    <a:pt x="1471" y="99"/>
                  </a:lnTo>
                  <a:lnTo>
                    <a:pt x="1443" y="93"/>
                  </a:lnTo>
                  <a:lnTo>
                    <a:pt x="1414" y="94"/>
                  </a:lnTo>
                  <a:lnTo>
                    <a:pt x="1387" y="96"/>
                  </a:lnTo>
                  <a:lnTo>
                    <a:pt x="1380" y="94"/>
                  </a:lnTo>
                  <a:lnTo>
                    <a:pt x="1358" y="88"/>
                  </a:lnTo>
                  <a:lnTo>
                    <a:pt x="1351" y="90"/>
                  </a:lnTo>
                  <a:lnTo>
                    <a:pt x="1351" y="87"/>
                  </a:lnTo>
                  <a:lnTo>
                    <a:pt x="1344" y="86"/>
                  </a:lnTo>
                  <a:lnTo>
                    <a:pt x="1329" y="83"/>
                  </a:lnTo>
                  <a:lnTo>
                    <a:pt x="1336" y="81"/>
                  </a:lnTo>
                  <a:lnTo>
                    <a:pt x="1310" y="75"/>
                  </a:lnTo>
                  <a:lnTo>
                    <a:pt x="1294" y="78"/>
                  </a:lnTo>
                  <a:lnTo>
                    <a:pt x="1290" y="78"/>
                  </a:lnTo>
                  <a:lnTo>
                    <a:pt x="1292" y="75"/>
                  </a:lnTo>
                  <a:lnTo>
                    <a:pt x="1291" y="74"/>
                  </a:lnTo>
                  <a:lnTo>
                    <a:pt x="1252" y="71"/>
                  </a:lnTo>
                  <a:lnTo>
                    <a:pt x="1213" y="68"/>
                  </a:lnTo>
                  <a:lnTo>
                    <a:pt x="1222" y="71"/>
                  </a:lnTo>
                  <a:lnTo>
                    <a:pt x="1206" y="75"/>
                  </a:lnTo>
                  <a:lnTo>
                    <a:pt x="1213" y="76"/>
                  </a:lnTo>
                  <a:lnTo>
                    <a:pt x="1218" y="77"/>
                  </a:lnTo>
                  <a:lnTo>
                    <a:pt x="1222" y="82"/>
                  </a:lnTo>
                  <a:lnTo>
                    <a:pt x="1230" y="87"/>
                  </a:lnTo>
                  <a:lnTo>
                    <a:pt x="1209" y="86"/>
                  </a:lnTo>
                  <a:lnTo>
                    <a:pt x="1213" y="89"/>
                  </a:lnTo>
                  <a:lnTo>
                    <a:pt x="1215" y="92"/>
                  </a:lnTo>
                  <a:lnTo>
                    <a:pt x="1183" y="84"/>
                  </a:lnTo>
                  <a:lnTo>
                    <a:pt x="1172" y="88"/>
                  </a:lnTo>
                  <a:lnTo>
                    <a:pt x="1146" y="83"/>
                  </a:lnTo>
                  <a:lnTo>
                    <a:pt x="1141" y="81"/>
                  </a:lnTo>
                  <a:lnTo>
                    <a:pt x="1148" y="90"/>
                  </a:lnTo>
                  <a:lnTo>
                    <a:pt x="1144" y="98"/>
                  </a:lnTo>
                  <a:lnTo>
                    <a:pt x="1126" y="93"/>
                  </a:lnTo>
                  <a:lnTo>
                    <a:pt x="1104" y="83"/>
                  </a:lnTo>
                  <a:lnTo>
                    <a:pt x="1078" y="74"/>
                  </a:lnTo>
                  <a:lnTo>
                    <a:pt x="1071" y="75"/>
                  </a:lnTo>
                  <a:lnTo>
                    <a:pt x="1090" y="88"/>
                  </a:lnTo>
                  <a:lnTo>
                    <a:pt x="1064" y="74"/>
                  </a:lnTo>
                  <a:lnTo>
                    <a:pt x="1022" y="69"/>
                  </a:lnTo>
                  <a:lnTo>
                    <a:pt x="980" y="64"/>
                  </a:lnTo>
                  <a:lnTo>
                    <a:pt x="957" y="59"/>
                  </a:lnTo>
                  <a:lnTo>
                    <a:pt x="961" y="57"/>
                  </a:lnTo>
                  <a:lnTo>
                    <a:pt x="943" y="57"/>
                  </a:lnTo>
                  <a:lnTo>
                    <a:pt x="903" y="58"/>
                  </a:lnTo>
                  <a:lnTo>
                    <a:pt x="890" y="52"/>
                  </a:lnTo>
                  <a:lnTo>
                    <a:pt x="873" y="52"/>
                  </a:lnTo>
                  <a:lnTo>
                    <a:pt x="873" y="50"/>
                  </a:lnTo>
                  <a:lnTo>
                    <a:pt x="854" y="53"/>
                  </a:lnTo>
                  <a:lnTo>
                    <a:pt x="872" y="54"/>
                  </a:lnTo>
                  <a:lnTo>
                    <a:pt x="850" y="60"/>
                  </a:lnTo>
                  <a:lnTo>
                    <a:pt x="829" y="63"/>
                  </a:lnTo>
                  <a:lnTo>
                    <a:pt x="830" y="60"/>
                  </a:lnTo>
                  <a:lnTo>
                    <a:pt x="852" y="46"/>
                  </a:lnTo>
                  <a:lnTo>
                    <a:pt x="873" y="30"/>
                  </a:lnTo>
                  <a:lnTo>
                    <a:pt x="864" y="28"/>
                  </a:lnTo>
                  <a:lnTo>
                    <a:pt x="853" y="24"/>
                  </a:lnTo>
                  <a:lnTo>
                    <a:pt x="870" y="28"/>
                  </a:lnTo>
                  <a:lnTo>
                    <a:pt x="855" y="20"/>
                  </a:lnTo>
                  <a:lnTo>
                    <a:pt x="853" y="21"/>
                  </a:lnTo>
                  <a:lnTo>
                    <a:pt x="844" y="20"/>
                  </a:lnTo>
                  <a:lnTo>
                    <a:pt x="826" y="15"/>
                  </a:lnTo>
                  <a:lnTo>
                    <a:pt x="790" y="14"/>
                  </a:lnTo>
                  <a:lnTo>
                    <a:pt x="777" y="15"/>
                  </a:lnTo>
                  <a:lnTo>
                    <a:pt x="776" y="9"/>
                  </a:lnTo>
                  <a:lnTo>
                    <a:pt x="760" y="8"/>
                  </a:lnTo>
                  <a:lnTo>
                    <a:pt x="742" y="8"/>
                  </a:lnTo>
                  <a:lnTo>
                    <a:pt x="756" y="4"/>
                  </a:lnTo>
                  <a:lnTo>
                    <a:pt x="728" y="0"/>
                  </a:lnTo>
                  <a:lnTo>
                    <a:pt x="711" y="10"/>
                  </a:lnTo>
                  <a:lnTo>
                    <a:pt x="718" y="15"/>
                  </a:lnTo>
                  <a:lnTo>
                    <a:pt x="728" y="16"/>
                  </a:lnTo>
                  <a:lnTo>
                    <a:pt x="702" y="18"/>
                  </a:lnTo>
                  <a:lnTo>
                    <a:pt x="711" y="21"/>
                  </a:lnTo>
                  <a:lnTo>
                    <a:pt x="693" y="22"/>
                  </a:lnTo>
                  <a:lnTo>
                    <a:pt x="676" y="23"/>
                  </a:lnTo>
                  <a:lnTo>
                    <a:pt x="644" y="23"/>
                  </a:lnTo>
                  <a:lnTo>
                    <a:pt x="657" y="23"/>
                  </a:lnTo>
                  <a:lnTo>
                    <a:pt x="632" y="28"/>
                  </a:lnTo>
                  <a:lnTo>
                    <a:pt x="606" y="33"/>
                  </a:lnTo>
                  <a:lnTo>
                    <a:pt x="597" y="35"/>
                  </a:lnTo>
                  <a:lnTo>
                    <a:pt x="597" y="41"/>
                  </a:lnTo>
                  <a:lnTo>
                    <a:pt x="588" y="40"/>
                  </a:lnTo>
                  <a:lnTo>
                    <a:pt x="603" y="45"/>
                  </a:lnTo>
                  <a:lnTo>
                    <a:pt x="594" y="46"/>
                  </a:lnTo>
                  <a:lnTo>
                    <a:pt x="607" y="50"/>
                  </a:lnTo>
                  <a:lnTo>
                    <a:pt x="607" y="52"/>
                  </a:lnTo>
                  <a:lnTo>
                    <a:pt x="576" y="54"/>
                  </a:lnTo>
                  <a:lnTo>
                    <a:pt x="546" y="58"/>
                  </a:lnTo>
                  <a:lnTo>
                    <a:pt x="550" y="64"/>
                  </a:lnTo>
                  <a:lnTo>
                    <a:pt x="564" y="74"/>
                  </a:lnTo>
                  <a:lnTo>
                    <a:pt x="579" y="77"/>
                  </a:lnTo>
                  <a:lnTo>
                    <a:pt x="601" y="84"/>
                  </a:lnTo>
                  <a:lnTo>
                    <a:pt x="610" y="98"/>
                  </a:lnTo>
                  <a:lnTo>
                    <a:pt x="614" y="104"/>
                  </a:lnTo>
                  <a:lnTo>
                    <a:pt x="608" y="104"/>
                  </a:lnTo>
                  <a:lnTo>
                    <a:pt x="598" y="94"/>
                  </a:lnTo>
                  <a:lnTo>
                    <a:pt x="596" y="100"/>
                  </a:lnTo>
                  <a:lnTo>
                    <a:pt x="589" y="90"/>
                  </a:lnTo>
                  <a:lnTo>
                    <a:pt x="596" y="84"/>
                  </a:lnTo>
                  <a:lnTo>
                    <a:pt x="571" y="82"/>
                  </a:lnTo>
                  <a:lnTo>
                    <a:pt x="546" y="74"/>
                  </a:lnTo>
                  <a:lnTo>
                    <a:pt x="525" y="77"/>
                  </a:lnTo>
                  <a:lnTo>
                    <a:pt x="535" y="81"/>
                  </a:lnTo>
                  <a:lnTo>
                    <a:pt x="512" y="81"/>
                  </a:lnTo>
                  <a:lnTo>
                    <a:pt x="518" y="86"/>
                  </a:lnTo>
                  <a:lnTo>
                    <a:pt x="546" y="90"/>
                  </a:lnTo>
                  <a:lnTo>
                    <a:pt x="552" y="94"/>
                  </a:lnTo>
                  <a:lnTo>
                    <a:pt x="511" y="87"/>
                  </a:lnTo>
                  <a:lnTo>
                    <a:pt x="498" y="69"/>
                  </a:lnTo>
                  <a:lnTo>
                    <a:pt x="488" y="68"/>
                  </a:lnTo>
                  <a:lnTo>
                    <a:pt x="498" y="77"/>
                  </a:lnTo>
                  <a:lnTo>
                    <a:pt x="487" y="84"/>
                  </a:lnTo>
                  <a:lnTo>
                    <a:pt x="492" y="90"/>
                  </a:lnTo>
                  <a:lnTo>
                    <a:pt x="508" y="100"/>
                  </a:lnTo>
                  <a:lnTo>
                    <a:pt x="507" y="112"/>
                  </a:lnTo>
                  <a:lnTo>
                    <a:pt x="518" y="123"/>
                  </a:lnTo>
                  <a:lnTo>
                    <a:pt x="548" y="122"/>
                  </a:lnTo>
                  <a:lnTo>
                    <a:pt x="564" y="125"/>
                  </a:lnTo>
                  <a:lnTo>
                    <a:pt x="571" y="136"/>
                  </a:lnTo>
                  <a:lnTo>
                    <a:pt x="576" y="142"/>
                  </a:lnTo>
                  <a:lnTo>
                    <a:pt x="592" y="146"/>
                  </a:lnTo>
                  <a:lnTo>
                    <a:pt x="567" y="142"/>
                  </a:lnTo>
                  <a:lnTo>
                    <a:pt x="558" y="129"/>
                  </a:lnTo>
                  <a:lnTo>
                    <a:pt x="549" y="124"/>
                  </a:lnTo>
                  <a:lnTo>
                    <a:pt x="528" y="128"/>
                  </a:lnTo>
                  <a:lnTo>
                    <a:pt x="541" y="144"/>
                  </a:lnTo>
                  <a:lnTo>
                    <a:pt x="530" y="160"/>
                  </a:lnTo>
                  <a:lnTo>
                    <a:pt x="525" y="162"/>
                  </a:lnTo>
                  <a:lnTo>
                    <a:pt x="518" y="165"/>
                  </a:lnTo>
                  <a:lnTo>
                    <a:pt x="484" y="161"/>
                  </a:lnTo>
                  <a:lnTo>
                    <a:pt x="481" y="158"/>
                  </a:lnTo>
                  <a:lnTo>
                    <a:pt x="502" y="159"/>
                  </a:lnTo>
                  <a:lnTo>
                    <a:pt x="499" y="160"/>
                  </a:lnTo>
                  <a:lnTo>
                    <a:pt x="513" y="159"/>
                  </a:lnTo>
                  <a:lnTo>
                    <a:pt x="511" y="155"/>
                  </a:lnTo>
                  <a:lnTo>
                    <a:pt x="520" y="140"/>
                  </a:lnTo>
                  <a:lnTo>
                    <a:pt x="520" y="132"/>
                  </a:lnTo>
                  <a:lnTo>
                    <a:pt x="500" y="120"/>
                  </a:lnTo>
                  <a:lnTo>
                    <a:pt x="492" y="106"/>
                  </a:lnTo>
                  <a:lnTo>
                    <a:pt x="482" y="92"/>
                  </a:lnTo>
                  <a:lnTo>
                    <a:pt x="470" y="86"/>
                  </a:lnTo>
                  <a:lnTo>
                    <a:pt x="470" y="71"/>
                  </a:lnTo>
                  <a:lnTo>
                    <a:pt x="452" y="66"/>
                  </a:lnTo>
                  <a:lnTo>
                    <a:pt x="428" y="68"/>
                  </a:lnTo>
                  <a:lnTo>
                    <a:pt x="426" y="87"/>
                  </a:lnTo>
                  <a:lnTo>
                    <a:pt x="416" y="94"/>
                  </a:lnTo>
                  <a:lnTo>
                    <a:pt x="420" y="98"/>
                  </a:lnTo>
                  <a:lnTo>
                    <a:pt x="427" y="98"/>
                  </a:lnTo>
                  <a:lnTo>
                    <a:pt x="429" y="107"/>
                  </a:lnTo>
                  <a:lnTo>
                    <a:pt x="433" y="113"/>
                  </a:lnTo>
                  <a:lnTo>
                    <a:pt x="448" y="118"/>
                  </a:lnTo>
                  <a:lnTo>
                    <a:pt x="458" y="125"/>
                  </a:lnTo>
                  <a:lnTo>
                    <a:pt x="464" y="125"/>
                  </a:lnTo>
                  <a:lnTo>
                    <a:pt x="459" y="136"/>
                  </a:lnTo>
                  <a:lnTo>
                    <a:pt x="441" y="126"/>
                  </a:lnTo>
                  <a:lnTo>
                    <a:pt x="412" y="119"/>
                  </a:lnTo>
                  <a:lnTo>
                    <a:pt x="386" y="114"/>
                  </a:lnTo>
                  <a:lnTo>
                    <a:pt x="360" y="111"/>
                  </a:lnTo>
                  <a:lnTo>
                    <a:pt x="355" y="114"/>
                  </a:lnTo>
                  <a:lnTo>
                    <a:pt x="368" y="125"/>
                  </a:lnTo>
                  <a:lnTo>
                    <a:pt x="360" y="130"/>
                  </a:lnTo>
                  <a:lnTo>
                    <a:pt x="360" y="134"/>
                  </a:lnTo>
                  <a:lnTo>
                    <a:pt x="351" y="132"/>
                  </a:lnTo>
                  <a:lnTo>
                    <a:pt x="349" y="125"/>
                  </a:lnTo>
                  <a:lnTo>
                    <a:pt x="332" y="128"/>
                  </a:lnTo>
                  <a:lnTo>
                    <a:pt x="319" y="130"/>
                  </a:lnTo>
                  <a:lnTo>
                    <a:pt x="304" y="135"/>
                  </a:lnTo>
                  <a:lnTo>
                    <a:pt x="285" y="134"/>
                  </a:lnTo>
                  <a:lnTo>
                    <a:pt x="291" y="131"/>
                  </a:lnTo>
                  <a:lnTo>
                    <a:pt x="286" y="126"/>
                  </a:lnTo>
                  <a:lnTo>
                    <a:pt x="296" y="124"/>
                  </a:lnTo>
                  <a:lnTo>
                    <a:pt x="274" y="130"/>
                  </a:lnTo>
                  <a:lnTo>
                    <a:pt x="273" y="132"/>
                  </a:lnTo>
                  <a:lnTo>
                    <a:pt x="249" y="137"/>
                  </a:lnTo>
                  <a:lnTo>
                    <a:pt x="236" y="142"/>
                  </a:lnTo>
                  <a:lnTo>
                    <a:pt x="237" y="144"/>
                  </a:lnTo>
                  <a:lnTo>
                    <a:pt x="226" y="146"/>
                  </a:lnTo>
                  <a:lnTo>
                    <a:pt x="225" y="155"/>
                  </a:lnTo>
                  <a:lnTo>
                    <a:pt x="207" y="156"/>
                  </a:lnTo>
                  <a:lnTo>
                    <a:pt x="194" y="147"/>
                  </a:lnTo>
                  <a:lnTo>
                    <a:pt x="212" y="141"/>
                  </a:lnTo>
                  <a:lnTo>
                    <a:pt x="190" y="130"/>
                  </a:lnTo>
                  <a:lnTo>
                    <a:pt x="166" y="129"/>
                  </a:lnTo>
                  <a:lnTo>
                    <a:pt x="181" y="135"/>
                  </a:lnTo>
                  <a:lnTo>
                    <a:pt x="186" y="152"/>
                  </a:lnTo>
                  <a:lnTo>
                    <a:pt x="192" y="162"/>
                  </a:lnTo>
                  <a:lnTo>
                    <a:pt x="190" y="170"/>
                  </a:lnTo>
                  <a:lnTo>
                    <a:pt x="184" y="170"/>
                  </a:lnTo>
                  <a:lnTo>
                    <a:pt x="180" y="164"/>
                  </a:lnTo>
                  <a:lnTo>
                    <a:pt x="166" y="161"/>
                  </a:lnTo>
                  <a:lnTo>
                    <a:pt x="154" y="171"/>
                  </a:lnTo>
                  <a:lnTo>
                    <a:pt x="142" y="179"/>
                  </a:lnTo>
                  <a:lnTo>
                    <a:pt x="154" y="192"/>
                  </a:lnTo>
                  <a:lnTo>
                    <a:pt x="127" y="189"/>
                  </a:lnTo>
                  <a:lnTo>
                    <a:pt x="109" y="183"/>
                  </a:lnTo>
                  <a:lnTo>
                    <a:pt x="110" y="190"/>
                  </a:lnTo>
                  <a:lnTo>
                    <a:pt x="123" y="196"/>
                  </a:lnTo>
                  <a:lnTo>
                    <a:pt x="129" y="201"/>
                  </a:lnTo>
                  <a:lnTo>
                    <a:pt x="114" y="203"/>
                  </a:lnTo>
                  <a:lnTo>
                    <a:pt x="90" y="191"/>
                  </a:lnTo>
                  <a:lnTo>
                    <a:pt x="81" y="178"/>
                  </a:lnTo>
                  <a:lnTo>
                    <a:pt x="80" y="173"/>
                  </a:lnTo>
                  <a:lnTo>
                    <a:pt x="82" y="173"/>
                  </a:lnTo>
                  <a:lnTo>
                    <a:pt x="66" y="165"/>
                  </a:lnTo>
                  <a:lnTo>
                    <a:pt x="60" y="161"/>
                  </a:lnTo>
                  <a:lnTo>
                    <a:pt x="44" y="153"/>
                  </a:lnTo>
                  <a:lnTo>
                    <a:pt x="54" y="155"/>
                  </a:lnTo>
                  <a:lnTo>
                    <a:pt x="86" y="161"/>
                  </a:lnTo>
                  <a:lnTo>
                    <a:pt x="118" y="168"/>
                  </a:lnTo>
                  <a:lnTo>
                    <a:pt x="148" y="161"/>
                  </a:lnTo>
                  <a:lnTo>
                    <a:pt x="152" y="150"/>
                  </a:lnTo>
                  <a:lnTo>
                    <a:pt x="140" y="142"/>
                  </a:lnTo>
                  <a:lnTo>
                    <a:pt x="106" y="131"/>
                  </a:lnTo>
                  <a:lnTo>
                    <a:pt x="72" y="120"/>
                  </a:lnTo>
                  <a:lnTo>
                    <a:pt x="52" y="122"/>
                  </a:lnTo>
                  <a:lnTo>
                    <a:pt x="46" y="123"/>
                  </a:lnTo>
                  <a:lnTo>
                    <a:pt x="51" y="117"/>
                  </a:lnTo>
                  <a:lnTo>
                    <a:pt x="43" y="118"/>
                  </a:lnTo>
                  <a:lnTo>
                    <a:pt x="33" y="113"/>
                  </a:lnTo>
                  <a:lnTo>
                    <a:pt x="45" y="112"/>
                  </a:lnTo>
                  <a:lnTo>
                    <a:pt x="31" y="110"/>
                  </a:lnTo>
                  <a:lnTo>
                    <a:pt x="25" y="113"/>
                  </a:lnTo>
                  <a:lnTo>
                    <a:pt x="19" y="111"/>
                  </a:lnTo>
                  <a:lnTo>
                    <a:pt x="19" y="116"/>
                  </a:lnTo>
                  <a:lnTo>
                    <a:pt x="12" y="116"/>
                  </a:lnTo>
                  <a:lnTo>
                    <a:pt x="0" y="123"/>
                  </a:lnTo>
                  <a:lnTo>
                    <a:pt x="0" y="126"/>
                  </a:lnTo>
                  <a:lnTo>
                    <a:pt x="0" y="136"/>
                  </a:lnTo>
                  <a:lnTo>
                    <a:pt x="18" y="146"/>
                  </a:lnTo>
                  <a:lnTo>
                    <a:pt x="10" y="158"/>
                  </a:lnTo>
                  <a:lnTo>
                    <a:pt x="25" y="174"/>
                  </a:lnTo>
                  <a:lnTo>
                    <a:pt x="26" y="189"/>
                  </a:lnTo>
                  <a:lnTo>
                    <a:pt x="31" y="194"/>
                  </a:lnTo>
                  <a:lnTo>
                    <a:pt x="38" y="201"/>
                  </a:lnTo>
                  <a:lnTo>
                    <a:pt x="32" y="206"/>
                  </a:lnTo>
                  <a:lnTo>
                    <a:pt x="55" y="219"/>
                  </a:lnTo>
                  <a:lnTo>
                    <a:pt x="45" y="228"/>
                  </a:lnTo>
                  <a:lnTo>
                    <a:pt x="37" y="238"/>
                  </a:lnTo>
                  <a:lnTo>
                    <a:pt x="27" y="248"/>
                  </a:lnTo>
                  <a:lnTo>
                    <a:pt x="18" y="257"/>
                  </a:lnTo>
                  <a:lnTo>
                    <a:pt x="26" y="257"/>
                  </a:lnTo>
                  <a:lnTo>
                    <a:pt x="25" y="257"/>
                  </a:lnTo>
                  <a:lnTo>
                    <a:pt x="27" y="260"/>
                  </a:lnTo>
                  <a:lnTo>
                    <a:pt x="50" y="267"/>
                  </a:lnTo>
                  <a:lnTo>
                    <a:pt x="36" y="266"/>
                  </a:lnTo>
                  <a:lnTo>
                    <a:pt x="25" y="272"/>
                  </a:lnTo>
                  <a:lnTo>
                    <a:pt x="21" y="276"/>
                  </a:lnTo>
                  <a:lnTo>
                    <a:pt x="25" y="291"/>
                  </a:lnTo>
                  <a:lnTo>
                    <a:pt x="19" y="302"/>
                  </a:lnTo>
                  <a:lnTo>
                    <a:pt x="27" y="314"/>
                  </a:lnTo>
                  <a:lnTo>
                    <a:pt x="37" y="333"/>
                  </a:lnTo>
                  <a:lnTo>
                    <a:pt x="57" y="336"/>
                  </a:lnTo>
                  <a:lnTo>
                    <a:pt x="79" y="340"/>
                  </a:lnTo>
                  <a:lnTo>
                    <a:pt x="81" y="359"/>
                  </a:lnTo>
                  <a:lnTo>
                    <a:pt x="99" y="375"/>
                  </a:lnTo>
                  <a:lnTo>
                    <a:pt x="94" y="380"/>
                  </a:lnTo>
                  <a:lnTo>
                    <a:pt x="98" y="395"/>
                  </a:lnTo>
                  <a:lnTo>
                    <a:pt x="109" y="392"/>
                  </a:lnTo>
                  <a:lnTo>
                    <a:pt x="132" y="394"/>
                  </a:lnTo>
                  <a:lnTo>
                    <a:pt x="134" y="400"/>
                  </a:lnTo>
                  <a:lnTo>
                    <a:pt x="152" y="416"/>
                  </a:lnTo>
                  <a:lnTo>
                    <a:pt x="170" y="431"/>
                  </a:lnTo>
                  <a:lnTo>
                    <a:pt x="180" y="430"/>
                  </a:lnTo>
                  <a:lnTo>
                    <a:pt x="200" y="436"/>
                  </a:lnTo>
                  <a:lnTo>
                    <a:pt x="222" y="443"/>
                  </a:lnTo>
                  <a:lnTo>
                    <a:pt x="230" y="467"/>
                  </a:lnTo>
                  <a:lnTo>
                    <a:pt x="219" y="473"/>
                  </a:lnTo>
                  <a:lnTo>
                    <a:pt x="214" y="483"/>
                  </a:lnTo>
                  <a:lnTo>
                    <a:pt x="217" y="486"/>
                  </a:lnTo>
                  <a:lnTo>
                    <a:pt x="206" y="492"/>
                  </a:lnTo>
                  <a:lnTo>
                    <a:pt x="199" y="495"/>
                  </a:lnTo>
                  <a:lnTo>
                    <a:pt x="211" y="504"/>
                  </a:lnTo>
                  <a:lnTo>
                    <a:pt x="206" y="503"/>
                  </a:lnTo>
                  <a:lnTo>
                    <a:pt x="205" y="509"/>
                  </a:lnTo>
                  <a:lnTo>
                    <a:pt x="202" y="504"/>
                  </a:lnTo>
                  <a:lnTo>
                    <a:pt x="201" y="515"/>
                  </a:lnTo>
                  <a:lnTo>
                    <a:pt x="189" y="516"/>
                  </a:lnTo>
                  <a:lnTo>
                    <a:pt x="186" y="520"/>
                  </a:lnTo>
                  <a:lnTo>
                    <a:pt x="207" y="531"/>
                  </a:lnTo>
                  <a:lnTo>
                    <a:pt x="229" y="543"/>
                  </a:lnTo>
                  <a:lnTo>
                    <a:pt x="230" y="540"/>
                  </a:lnTo>
                  <a:lnTo>
                    <a:pt x="246" y="542"/>
                  </a:lnTo>
                  <a:lnTo>
                    <a:pt x="262" y="543"/>
                  </a:lnTo>
                  <a:lnTo>
                    <a:pt x="284" y="552"/>
                  </a:lnTo>
                  <a:lnTo>
                    <a:pt x="306" y="561"/>
                  </a:lnTo>
                  <a:lnTo>
                    <a:pt x="327" y="569"/>
                  </a:lnTo>
                  <a:lnTo>
                    <a:pt x="349" y="578"/>
                  </a:lnTo>
                  <a:lnTo>
                    <a:pt x="373" y="582"/>
                  </a:lnTo>
                  <a:lnTo>
                    <a:pt x="361" y="568"/>
                  </a:lnTo>
                  <a:lnTo>
                    <a:pt x="348" y="555"/>
                  </a:lnTo>
                  <a:lnTo>
                    <a:pt x="346" y="543"/>
                  </a:lnTo>
                  <a:lnTo>
                    <a:pt x="345" y="548"/>
                  </a:lnTo>
                  <a:lnTo>
                    <a:pt x="337" y="534"/>
                  </a:lnTo>
                  <a:lnTo>
                    <a:pt x="332" y="530"/>
                  </a:lnTo>
                  <a:lnTo>
                    <a:pt x="339" y="512"/>
                  </a:lnTo>
                  <a:lnTo>
                    <a:pt x="355" y="506"/>
                  </a:lnTo>
                  <a:lnTo>
                    <a:pt x="362" y="501"/>
                  </a:lnTo>
                  <a:lnTo>
                    <a:pt x="360" y="497"/>
                  </a:lnTo>
                  <a:lnTo>
                    <a:pt x="349" y="480"/>
                  </a:lnTo>
                  <a:lnTo>
                    <a:pt x="332" y="467"/>
                  </a:lnTo>
                  <a:lnTo>
                    <a:pt x="315" y="454"/>
                  </a:lnTo>
                  <a:lnTo>
                    <a:pt x="318" y="435"/>
                  </a:lnTo>
                  <a:lnTo>
                    <a:pt x="320" y="416"/>
                  </a:lnTo>
                  <a:lnTo>
                    <a:pt x="337" y="423"/>
                  </a:lnTo>
                  <a:lnTo>
                    <a:pt x="339" y="416"/>
                  </a:lnTo>
                  <a:lnTo>
                    <a:pt x="350" y="407"/>
                  </a:lnTo>
                  <a:lnTo>
                    <a:pt x="361" y="400"/>
                  </a:lnTo>
                  <a:lnTo>
                    <a:pt x="380" y="399"/>
                  </a:lnTo>
                  <a:lnTo>
                    <a:pt x="399" y="407"/>
                  </a:lnTo>
                  <a:lnTo>
                    <a:pt x="418" y="416"/>
                  </a:lnTo>
                  <a:lnTo>
                    <a:pt x="439" y="414"/>
                  </a:lnTo>
                  <a:lnTo>
                    <a:pt x="466" y="414"/>
                  </a:lnTo>
                  <a:lnTo>
                    <a:pt x="493" y="418"/>
                  </a:lnTo>
                  <a:lnTo>
                    <a:pt x="495" y="413"/>
                  </a:lnTo>
                  <a:lnTo>
                    <a:pt x="481" y="396"/>
                  </a:lnTo>
                  <a:lnTo>
                    <a:pt x="487" y="376"/>
                  </a:lnTo>
                  <a:lnTo>
                    <a:pt x="500" y="377"/>
                  </a:lnTo>
                  <a:lnTo>
                    <a:pt x="483" y="369"/>
                  </a:lnTo>
                  <a:lnTo>
                    <a:pt x="501" y="365"/>
                  </a:lnTo>
                  <a:lnTo>
                    <a:pt x="519" y="363"/>
                  </a:lnTo>
                  <a:lnTo>
                    <a:pt x="536" y="358"/>
                  </a:lnTo>
                  <a:lnTo>
                    <a:pt x="553" y="353"/>
                  </a:lnTo>
                  <a:lnTo>
                    <a:pt x="568" y="348"/>
                  </a:lnTo>
                  <a:lnTo>
                    <a:pt x="585" y="344"/>
                  </a:lnTo>
                  <a:lnTo>
                    <a:pt x="598" y="342"/>
                  </a:lnTo>
                  <a:lnTo>
                    <a:pt x="608" y="353"/>
                  </a:lnTo>
                  <a:lnTo>
                    <a:pt x="634" y="363"/>
                  </a:lnTo>
                  <a:lnTo>
                    <a:pt x="645" y="368"/>
                  </a:lnTo>
                  <a:lnTo>
                    <a:pt x="656" y="370"/>
                  </a:lnTo>
                  <a:lnTo>
                    <a:pt x="674" y="363"/>
                  </a:lnTo>
                  <a:lnTo>
                    <a:pt x="691" y="357"/>
                  </a:lnTo>
                  <a:lnTo>
                    <a:pt x="694" y="359"/>
                  </a:lnTo>
                  <a:lnTo>
                    <a:pt x="692" y="368"/>
                  </a:lnTo>
                  <a:lnTo>
                    <a:pt x="711" y="381"/>
                  </a:lnTo>
                  <a:lnTo>
                    <a:pt x="729" y="393"/>
                  </a:lnTo>
                  <a:lnTo>
                    <a:pt x="748" y="406"/>
                  </a:lnTo>
                  <a:lnTo>
                    <a:pt x="768" y="419"/>
                  </a:lnTo>
                  <a:lnTo>
                    <a:pt x="771" y="414"/>
                  </a:lnTo>
                  <a:lnTo>
                    <a:pt x="781" y="418"/>
                  </a:lnTo>
                  <a:lnTo>
                    <a:pt x="799" y="416"/>
                  </a:lnTo>
                  <a:lnTo>
                    <a:pt x="818" y="428"/>
                  </a:lnTo>
                  <a:lnTo>
                    <a:pt x="837" y="438"/>
                  </a:lnTo>
                  <a:lnTo>
                    <a:pt x="855" y="435"/>
                  </a:lnTo>
                  <a:lnTo>
                    <a:pt x="872" y="452"/>
                  </a:lnTo>
                  <a:lnTo>
                    <a:pt x="883" y="450"/>
                  </a:lnTo>
                  <a:lnTo>
                    <a:pt x="890" y="444"/>
                  </a:lnTo>
                  <a:lnTo>
                    <a:pt x="902" y="438"/>
                  </a:lnTo>
                  <a:lnTo>
                    <a:pt x="916" y="431"/>
                  </a:lnTo>
                  <a:lnTo>
                    <a:pt x="930" y="423"/>
                  </a:lnTo>
                  <a:lnTo>
                    <a:pt x="958" y="425"/>
                  </a:lnTo>
                  <a:lnTo>
                    <a:pt x="963" y="431"/>
                  </a:lnTo>
                  <a:lnTo>
                    <a:pt x="985" y="435"/>
                  </a:lnTo>
                  <a:lnTo>
                    <a:pt x="1005" y="438"/>
                  </a:lnTo>
                  <a:lnTo>
                    <a:pt x="1016" y="430"/>
                  </a:lnTo>
                  <a:lnTo>
                    <a:pt x="1003" y="418"/>
                  </a:lnTo>
                  <a:lnTo>
                    <a:pt x="1006" y="400"/>
                  </a:lnTo>
                  <a:lnTo>
                    <a:pt x="1030" y="406"/>
                  </a:lnTo>
                  <a:lnTo>
                    <a:pt x="1054" y="411"/>
                  </a:lnTo>
                  <a:lnTo>
                    <a:pt x="1065" y="422"/>
                  </a:lnTo>
                  <a:lnTo>
                    <a:pt x="1087" y="432"/>
                  </a:lnTo>
                  <a:lnTo>
                    <a:pt x="1111" y="428"/>
                  </a:lnTo>
                  <a:lnTo>
                    <a:pt x="1130" y="431"/>
                  </a:lnTo>
                  <a:lnTo>
                    <a:pt x="1150" y="436"/>
                  </a:lnTo>
                  <a:lnTo>
                    <a:pt x="1158" y="442"/>
                  </a:lnTo>
                  <a:lnTo>
                    <a:pt x="1186" y="449"/>
                  </a:lnTo>
                  <a:lnTo>
                    <a:pt x="1203" y="447"/>
                  </a:lnTo>
                  <a:lnTo>
                    <a:pt x="1220" y="443"/>
                  </a:lnTo>
                  <a:lnTo>
                    <a:pt x="1236" y="431"/>
                  </a:lnTo>
                  <a:lnTo>
                    <a:pt x="1262" y="437"/>
                  </a:lnTo>
                  <a:lnTo>
                    <a:pt x="1275" y="438"/>
                  </a:lnTo>
                  <a:lnTo>
                    <a:pt x="1296" y="442"/>
                  </a:lnTo>
                  <a:lnTo>
                    <a:pt x="1306" y="431"/>
                  </a:lnTo>
                  <a:lnTo>
                    <a:pt x="1302" y="418"/>
                  </a:lnTo>
                  <a:lnTo>
                    <a:pt x="1300" y="398"/>
                  </a:lnTo>
                  <a:lnTo>
                    <a:pt x="1291" y="390"/>
                  </a:lnTo>
                  <a:lnTo>
                    <a:pt x="1285" y="388"/>
                  </a:lnTo>
                  <a:lnTo>
                    <a:pt x="1294" y="378"/>
                  </a:lnTo>
                  <a:lnTo>
                    <a:pt x="1312" y="377"/>
                  </a:lnTo>
                  <a:lnTo>
                    <a:pt x="1330" y="377"/>
                  </a:lnTo>
                  <a:lnTo>
                    <a:pt x="1365" y="388"/>
                  </a:lnTo>
                  <a:lnTo>
                    <a:pt x="1380" y="401"/>
                  </a:lnTo>
                  <a:lnTo>
                    <a:pt x="1394" y="413"/>
                  </a:lnTo>
                  <a:lnTo>
                    <a:pt x="1408" y="425"/>
                  </a:lnTo>
                  <a:lnTo>
                    <a:pt x="1423" y="437"/>
                  </a:lnTo>
                  <a:lnTo>
                    <a:pt x="1438" y="443"/>
                  </a:lnTo>
                  <a:lnTo>
                    <a:pt x="1464" y="450"/>
                  </a:lnTo>
                  <a:lnTo>
                    <a:pt x="1479" y="456"/>
                  </a:lnTo>
                  <a:lnTo>
                    <a:pt x="1497" y="476"/>
                  </a:lnTo>
                  <a:lnTo>
                    <a:pt x="1519" y="473"/>
                  </a:lnTo>
                  <a:lnTo>
                    <a:pt x="1540" y="465"/>
                  </a:lnTo>
                  <a:lnTo>
                    <a:pt x="1549" y="480"/>
                  </a:lnTo>
                  <a:lnTo>
                    <a:pt x="1551" y="501"/>
                  </a:lnTo>
                  <a:lnTo>
                    <a:pt x="1555" y="522"/>
                  </a:lnTo>
                  <a:lnTo>
                    <a:pt x="1536" y="519"/>
                  </a:lnTo>
                  <a:lnTo>
                    <a:pt x="1533" y="528"/>
                  </a:lnTo>
                  <a:lnTo>
                    <a:pt x="1543" y="544"/>
                  </a:lnTo>
                  <a:lnTo>
                    <a:pt x="1552" y="560"/>
                  </a:lnTo>
                  <a:lnTo>
                    <a:pt x="1546" y="564"/>
                  </a:lnTo>
                  <a:lnTo>
                    <a:pt x="1550" y="569"/>
                  </a:lnTo>
                  <a:lnTo>
                    <a:pt x="1554" y="572"/>
                  </a:lnTo>
                  <a:lnTo>
                    <a:pt x="1551" y="566"/>
                  </a:lnTo>
                  <a:lnTo>
                    <a:pt x="1554" y="566"/>
                  </a:lnTo>
                  <a:lnTo>
                    <a:pt x="1561" y="555"/>
                  </a:lnTo>
                  <a:lnTo>
                    <a:pt x="1566" y="554"/>
                  </a:lnTo>
                  <a:lnTo>
                    <a:pt x="1570" y="561"/>
                  </a:lnTo>
                  <a:lnTo>
                    <a:pt x="1581" y="562"/>
                  </a:lnTo>
                  <a:lnTo>
                    <a:pt x="1598" y="556"/>
                  </a:lnTo>
                  <a:lnTo>
                    <a:pt x="1603" y="544"/>
                  </a:lnTo>
                  <a:lnTo>
                    <a:pt x="1608" y="532"/>
                  </a:lnTo>
                  <a:lnTo>
                    <a:pt x="1610" y="515"/>
                  </a:lnTo>
                  <a:lnTo>
                    <a:pt x="1611" y="498"/>
                  </a:lnTo>
                  <a:lnTo>
                    <a:pt x="1614" y="482"/>
                  </a:lnTo>
                  <a:lnTo>
                    <a:pt x="1615" y="465"/>
                  </a:lnTo>
                  <a:lnTo>
                    <a:pt x="1608" y="450"/>
                  </a:lnTo>
                  <a:lnTo>
                    <a:pt x="1600" y="436"/>
                  </a:lnTo>
                  <a:lnTo>
                    <a:pt x="1592" y="426"/>
                  </a:lnTo>
                  <a:lnTo>
                    <a:pt x="1588" y="414"/>
                  </a:lnTo>
                  <a:lnTo>
                    <a:pt x="1584" y="404"/>
                  </a:lnTo>
                  <a:lnTo>
                    <a:pt x="1574" y="392"/>
                  </a:lnTo>
                  <a:lnTo>
                    <a:pt x="1558" y="382"/>
                  </a:lnTo>
                  <a:lnTo>
                    <a:pt x="1567" y="382"/>
                  </a:lnTo>
                  <a:lnTo>
                    <a:pt x="1532" y="364"/>
                  </a:lnTo>
                  <a:lnTo>
                    <a:pt x="1514" y="362"/>
                  </a:lnTo>
                  <a:lnTo>
                    <a:pt x="1519" y="369"/>
                  </a:lnTo>
                  <a:lnTo>
                    <a:pt x="1507" y="375"/>
                  </a:lnTo>
                  <a:lnTo>
                    <a:pt x="1507" y="369"/>
                  </a:lnTo>
                  <a:lnTo>
                    <a:pt x="1498" y="366"/>
                  </a:lnTo>
                  <a:lnTo>
                    <a:pt x="1497" y="369"/>
                  </a:lnTo>
                  <a:lnTo>
                    <a:pt x="1485" y="358"/>
                  </a:lnTo>
                  <a:lnTo>
                    <a:pt x="1462" y="354"/>
                  </a:lnTo>
                  <a:lnTo>
                    <a:pt x="1467" y="340"/>
                  </a:lnTo>
                  <a:lnTo>
                    <a:pt x="1472" y="324"/>
                  </a:lnTo>
                  <a:lnTo>
                    <a:pt x="1477" y="314"/>
                  </a:lnTo>
                  <a:lnTo>
                    <a:pt x="1480" y="304"/>
                  </a:lnTo>
                  <a:lnTo>
                    <a:pt x="1477" y="296"/>
                  </a:lnTo>
                  <a:lnTo>
                    <a:pt x="1483" y="281"/>
                  </a:lnTo>
                  <a:lnTo>
                    <a:pt x="1500" y="279"/>
                  </a:lnTo>
                  <a:lnTo>
                    <a:pt x="1516" y="275"/>
                  </a:lnTo>
                  <a:lnTo>
                    <a:pt x="1521" y="275"/>
                  </a:lnTo>
                  <a:lnTo>
                    <a:pt x="1528" y="279"/>
                  </a:lnTo>
                  <a:lnTo>
                    <a:pt x="1531" y="276"/>
                  </a:lnTo>
                  <a:lnTo>
                    <a:pt x="1563" y="279"/>
                  </a:lnTo>
                  <a:lnTo>
                    <a:pt x="1563" y="275"/>
                  </a:lnTo>
                  <a:lnTo>
                    <a:pt x="1561" y="272"/>
                  </a:lnTo>
                  <a:lnTo>
                    <a:pt x="1586" y="273"/>
                  </a:lnTo>
                  <a:lnTo>
                    <a:pt x="1605" y="278"/>
                  </a:lnTo>
                  <a:lnTo>
                    <a:pt x="1599" y="280"/>
                  </a:lnTo>
                  <a:lnTo>
                    <a:pt x="1604" y="286"/>
                  </a:lnTo>
                  <a:lnTo>
                    <a:pt x="1617" y="284"/>
                  </a:lnTo>
                  <a:lnTo>
                    <a:pt x="1628" y="280"/>
                  </a:lnTo>
                  <a:lnTo>
                    <a:pt x="1647" y="280"/>
                  </a:lnTo>
                  <a:lnTo>
                    <a:pt x="1644" y="276"/>
                  </a:lnTo>
                  <a:lnTo>
                    <a:pt x="1630" y="275"/>
                  </a:lnTo>
                  <a:lnTo>
                    <a:pt x="1626" y="270"/>
                  </a:lnTo>
                  <a:lnTo>
                    <a:pt x="1626" y="255"/>
                  </a:lnTo>
                  <a:lnTo>
                    <a:pt x="1624" y="238"/>
                  </a:lnTo>
                  <a:lnTo>
                    <a:pt x="1652" y="238"/>
                  </a:lnTo>
                  <a:lnTo>
                    <a:pt x="1658" y="236"/>
                  </a:lnTo>
                  <a:lnTo>
                    <a:pt x="1672" y="251"/>
                  </a:lnTo>
                  <a:lnTo>
                    <a:pt x="1675" y="249"/>
                  </a:lnTo>
                  <a:lnTo>
                    <a:pt x="1683" y="256"/>
                  </a:lnTo>
                  <a:lnTo>
                    <a:pt x="1690" y="240"/>
                  </a:lnTo>
                  <a:lnTo>
                    <a:pt x="1699" y="240"/>
                  </a:lnTo>
                  <a:lnTo>
                    <a:pt x="1684" y="226"/>
                  </a:lnTo>
                  <a:lnTo>
                    <a:pt x="1688" y="224"/>
                  </a:lnTo>
                  <a:lnTo>
                    <a:pt x="1711" y="226"/>
                  </a:lnTo>
                  <a:lnTo>
                    <a:pt x="1713" y="228"/>
                  </a:lnTo>
                  <a:lnTo>
                    <a:pt x="1701" y="228"/>
                  </a:lnTo>
                  <a:lnTo>
                    <a:pt x="1712" y="239"/>
                  </a:lnTo>
                  <a:lnTo>
                    <a:pt x="1722" y="251"/>
                  </a:lnTo>
                  <a:lnTo>
                    <a:pt x="1714" y="256"/>
                  </a:lnTo>
                  <a:lnTo>
                    <a:pt x="1712" y="269"/>
                  </a:lnTo>
                  <a:lnTo>
                    <a:pt x="1708" y="282"/>
                  </a:lnTo>
                  <a:lnTo>
                    <a:pt x="1707" y="299"/>
                  </a:lnTo>
                  <a:lnTo>
                    <a:pt x="1694" y="302"/>
                  </a:lnTo>
                  <a:lnTo>
                    <a:pt x="1700" y="308"/>
                  </a:lnTo>
                  <a:lnTo>
                    <a:pt x="1702" y="318"/>
                  </a:lnTo>
                  <a:lnTo>
                    <a:pt x="1713" y="333"/>
                  </a:lnTo>
                  <a:lnTo>
                    <a:pt x="1725" y="347"/>
                  </a:lnTo>
                  <a:lnTo>
                    <a:pt x="1746" y="365"/>
                  </a:lnTo>
                  <a:lnTo>
                    <a:pt x="1767" y="383"/>
                  </a:lnTo>
                  <a:lnTo>
                    <a:pt x="1788" y="401"/>
                  </a:lnTo>
                  <a:lnTo>
                    <a:pt x="1808" y="418"/>
                  </a:lnTo>
                  <a:lnTo>
                    <a:pt x="1814" y="407"/>
                  </a:lnTo>
                  <a:lnTo>
                    <a:pt x="1802" y="384"/>
                  </a:lnTo>
                  <a:lnTo>
                    <a:pt x="1807" y="381"/>
                  </a:lnTo>
                  <a:lnTo>
                    <a:pt x="1818" y="382"/>
                  </a:lnTo>
                  <a:lnTo>
                    <a:pt x="1814" y="380"/>
                  </a:lnTo>
                  <a:lnTo>
                    <a:pt x="1802" y="363"/>
                  </a:lnTo>
                  <a:lnTo>
                    <a:pt x="1818" y="356"/>
                  </a:lnTo>
                  <a:lnTo>
                    <a:pt x="1796" y="338"/>
                  </a:lnTo>
                  <a:lnTo>
                    <a:pt x="1796" y="328"/>
                  </a:lnTo>
                  <a:lnTo>
                    <a:pt x="1797" y="326"/>
                  </a:lnTo>
                  <a:lnTo>
                    <a:pt x="1797" y="329"/>
                  </a:lnTo>
                  <a:lnTo>
                    <a:pt x="1807" y="333"/>
                  </a:lnTo>
                  <a:lnTo>
                    <a:pt x="1796" y="321"/>
                  </a:lnTo>
                  <a:lnTo>
                    <a:pt x="1789" y="320"/>
                  </a:lnTo>
                  <a:lnTo>
                    <a:pt x="1774" y="302"/>
                  </a:lnTo>
                  <a:lnTo>
                    <a:pt x="1767" y="303"/>
                  </a:lnTo>
                  <a:lnTo>
                    <a:pt x="1754" y="298"/>
                  </a:lnTo>
                  <a:lnTo>
                    <a:pt x="1747" y="280"/>
                  </a:lnTo>
                  <a:lnTo>
                    <a:pt x="1740" y="269"/>
                  </a:lnTo>
                  <a:lnTo>
                    <a:pt x="1748" y="266"/>
                  </a:lnTo>
                  <a:lnTo>
                    <a:pt x="1759" y="269"/>
                  </a:lnTo>
                  <a:lnTo>
                    <a:pt x="1756" y="264"/>
                  </a:lnTo>
                  <a:lnTo>
                    <a:pt x="1762" y="258"/>
                  </a:lnTo>
                  <a:lnTo>
                    <a:pt x="1774" y="269"/>
                  </a:lnTo>
                  <a:lnTo>
                    <a:pt x="1776" y="262"/>
                  </a:lnTo>
                  <a:lnTo>
                    <a:pt x="1798" y="256"/>
                  </a:lnTo>
                  <a:lnTo>
                    <a:pt x="1821" y="266"/>
                  </a:lnTo>
                  <a:lnTo>
                    <a:pt x="1821" y="262"/>
                  </a:lnTo>
                  <a:lnTo>
                    <a:pt x="1827" y="250"/>
                  </a:lnTo>
                  <a:lnTo>
                    <a:pt x="1828" y="249"/>
                  </a:lnTo>
                  <a:lnTo>
                    <a:pt x="1827" y="244"/>
                  </a:lnTo>
                  <a:lnTo>
                    <a:pt x="1830" y="242"/>
                  </a:lnTo>
                  <a:lnTo>
                    <a:pt x="1843" y="233"/>
                  </a:lnTo>
                  <a:lnTo>
                    <a:pt x="1856" y="225"/>
                  </a:lnTo>
                  <a:lnTo>
                    <a:pt x="1849" y="222"/>
                  </a:lnTo>
                  <a:lnTo>
                    <a:pt x="1854" y="222"/>
                  </a:lnTo>
                  <a:lnTo>
                    <a:pt x="1882" y="228"/>
                  </a:lnTo>
                  <a:lnTo>
                    <a:pt x="1884" y="225"/>
                  </a:lnTo>
                  <a:lnTo>
                    <a:pt x="1870" y="218"/>
                  </a:lnTo>
                  <a:lnTo>
                    <a:pt x="1856" y="210"/>
                  </a:lnTo>
                  <a:lnTo>
                    <a:pt x="1849" y="208"/>
                  </a:lnTo>
                  <a:lnTo>
                    <a:pt x="1827" y="195"/>
                  </a:lnTo>
                  <a:lnTo>
                    <a:pt x="1826" y="197"/>
                  </a:lnTo>
                  <a:lnTo>
                    <a:pt x="1810" y="189"/>
                  </a:lnTo>
                  <a:lnTo>
                    <a:pt x="1820" y="190"/>
                  </a:lnTo>
                  <a:lnTo>
                    <a:pt x="1833" y="189"/>
                  </a:lnTo>
                  <a:lnTo>
                    <a:pt x="1810" y="172"/>
                  </a:lnTo>
                  <a:lnTo>
                    <a:pt x="1788" y="156"/>
                  </a:lnTo>
                  <a:lnTo>
                    <a:pt x="1765" y="140"/>
                  </a:lnTo>
                  <a:lnTo>
                    <a:pt x="1741" y="1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2" name="Freeform 351"/>
            <p:cNvSpPr>
              <a:spLocks/>
            </p:cNvSpPr>
            <p:nvPr/>
          </p:nvSpPr>
          <p:spPr bwMode="auto">
            <a:xfrm>
              <a:off x="134" y="1368"/>
              <a:ext cx="151" cy="80"/>
            </a:xfrm>
            <a:custGeom>
              <a:avLst/>
              <a:gdLst/>
              <a:ahLst/>
              <a:cxnLst>
                <a:cxn ang="0">
                  <a:pos x="136" y="43"/>
                </a:cxn>
                <a:cxn ang="0">
                  <a:pos x="132" y="37"/>
                </a:cxn>
                <a:cxn ang="0">
                  <a:pos x="125" y="30"/>
                </a:cxn>
                <a:cxn ang="0">
                  <a:pos x="118" y="29"/>
                </a:cxn>
                <a:cxn ang="0">
                  <a:pos x="118" y="31"/>
                </a:cxn>
                <a:cxn ang="0">
                  <a:pos x="114" y="29"/>
                </a:cxn>
                <a:cxn ang="0">
                  <a:pos x="102" y="30"/>
                </a:cxn>
                <a:cxn ang="0">
                  <a:pos x="94" y="36"/>
                </a:cxn>
                <a:cxn ang="0">
                  <a:pos x="93" y="40"/>
                </a:cxn>
                <a:cxn ang="0">
                  <a:pos x="87" y="40"/>
                </a:cxn>
                <a:cxn ang="0">
                  <a:pos x="92" y="34"/>
                </a:cxn>
                <a:cxn ang="0">
                  <a:pos x="101" y="24"/>
                </a:cxn>
                <a:cxn ang="0">
                  <a:pos x="101" y="16"/>
                </a:cxn>
                <a:cxn ang="0">
                  <a:pos x="90" y="6"/>
                </a:cxn>
                <a:cxn ang="0">
                  <a:pos x="90" y="9"/>
                </a:cxn>
                <a:cxn ang="0">
                  <a:pos x="83" y="0"/>
                </a:cxn>
                <a:cxn ang="0">
                  <a:pos x="63" y="15"/>
                </a:cxn>
                <a:cxn ang="0">
                  <a:pos x="41" y="28"/>
                </a:cxn>
                <a:cxn ang="0">
                  <a:pos x="21" y="42"/>
                </a:cxn>
                <a:cxn ang="0">
                  <a:pos x="0" y="57"/>
                </a:cxn>
                <a:cxn ang="0">
                  <a:pos x="10" y="48"/>
                </a:cxn>
                <a:cxn ang="0">
                  <a:pos x="20" y="43"/>
                </a:cxn>
                <a:cxn ang="0">
                  <a:pos x="26" y="42"/>
                </a:cxn>
                <a:cxn ang="0">
                  <a:pos x="32" y="39"/>
                </a:cxn>
                <a:cxn ang="0">
                  <a:pos x="32" y="42"/>
                </a:cxn>
                <a:cxn ang="0">
                  <a:pos x="35" y="41"/>
                </a:cxn>
                <a:cxn ang="0">
                  <a:pos x="23" y="47"/>
                </a:cxn>
                <a:cxn ang="0">
                  <a:pos x="22" y="53"/>
                </a:cxn>
                <a:cxn ang="0">
                  <a:pos x="46" y="53"/>
                </a:cxn>
                <a:cxn ang="0">
                  <a:pos x="39" y="64"/>
                </a:cxn>
                <a:cxn ang="0">
                  <a:pos x="50" y="67"/>
                </a:cxn>
                <a:cxn ang="0">
                  <a:pos x="58" y="69"/>
                </a:cxn>
                <a:cxn ang="0">
                  <a:pos x="54" y="72"/>
                </a:cxn>
                <a:cxn ang="0">
                  <a:pos x="64" y="70"/>
                </a:cxn>
                <a:cxn ang="0">
                  <a:pos x="70" y="67"/>
                </a:cxn>
                <a:cxn ang="0">
                  <a:pos x="69" y="65"/>
                </a:cxn>
                <a:cxn ang="0">
                  <a:pos x="86" y="57"/>
                </a:cxn>
                <a:cxn ang="0">
                  <a:pos x="92" y="54"/>
                </a:cxn>
                <a:cxn ang="0">
                  <a:pos x="94" y="49"/>
                </a:cxn>
                <a:cxn ang="0">
                  <a:pos x="95" y="53"/>
                </a:cxn>
                <a:cxn ang="0">
                  <a:pos x="104" y="52"/>
                </a:cxn>
                <a:cxn ang="0">
                  <a:pos x="108" y="49"/>
                </a:cxn>
                <a:cxn ang="0">
                  <a:pos x="119" y="49"/>
                </a:cxn>
                <a:cxn ang="0">
                  <a:pos x="136" y="43"/>
                </a:cxn>
              </a:cxnLst>
              <a:rect l="0" t="0" r="r" b="b"/>
              <a:pathLst>
                <a:path w="136" h="72">
                  <a:moveTo>
                    <a:pt x="136" y="43"/>
                  </a:moveTo>
                  <a:lnTo>
                    <a:pt x="132" y="37"/>
                  </a:lnTo>
                  <a:lnTo>
                    <a:pt x="125" y="30"/>
                  </a:lnTo>
                  <a:lnTo>
                    <a:pt x="118" y="29"/>
                  </a:lnTo>
                  <a:lnTo>
                    <a:pt x="118" y="31"/>
                  </a:lnTo>
                  <a:lnTo>
                    <a:pt x="114" y="29"/>
                  </a:lnTo>
                  <a:lnTo>
                    <a:pt x="102" y="30"/>
                  </a:lnTo>
                  <a:lnTo>
                    <a:pt x="94" y="36"/>
                  </a:lnTo>
                  <a:lnTo>
                    <a:pt x="93" y="40"/>
                  </a:lnTo>
                  <a:lnTo>
                    <a:pt x="87" y="40"/>
                  </a:lnTo>
                  <a:lnTo>
                    <a:pt x="92" y="34"/>
                  </a:lnTo>
                  <a:lnTo>
                    <a:pt x="101" y="24"/>
                  </a:lnTo>
                  <a:lnTo>
                    <a:pt x="101" y="16"/>
                  </a:lnTo>
                  <a:lnTo>
                    <a:pt x="90" y="6"/>
                  </a:lnTo>
                  <a:lnTo>
                    <a:pt x="90" y="9"/>
                  </a:lnTo>
                  <a:lnTo>
                    <a:pt x="83" y="0"/>
                  </a:lnTo>
                  <a:lnTo>
                    <a:pt x="63" y="15"/>
                  </a:lnTo>
                  <a:lnTo>
                    <a:pt x="41" y="28"/>
                  </a:lnTo>
                  <a:lnTo>
                    <a:pt x="21" y="42"/>
                  </a:lnTo>
                  <a:lnTo>
                    <a:pt x="0" y="57"/>
                  </a:lnTo>
                  <a:lnTo>
                    <a:pt x="10" y="48"/>
                  </a:lnTo>
                  <a:lnTo>
                    <a:pt x="20" y="43"/>
                  </a:lnTo>
                  <a:lnTo>
                    <a:pt x="26" y="42"/>
                  </a:lnTo>
                  <a:lnTo>
                    <a:pt x="32" y="39"/>
                  </a:lnTo>
                  <a:lnTo>
                    <a:pt x="32" y="42"/>
                  </a:lnTo>
                  <a:lnTo>
                    <a:pt x="35" y="41"/>
                  </a:lnTo>
                  <a:lnTo>
                    <a:pt x="23" y="47"/>
                  </a:lnTo>
                  <a:lnTo>
                    <a:pt x="22" y="53"/>
                  </a:lnTo>
                  <a:lnTo>
                    <a:pt x="46" y="53"/>
                  </a:lnTo>
                  <a:lnTo>
                    <a:pt x="39" y="64"/>
                  </a:lnTo>
                  <a:lnTo>
                    <a:pt x="50" y="67"/>
                  </a:lnTo>
                  <a:lnTo>
                    <a:pt x="58" y="69"/>
                  </a:lnTo>
                  <a:lnTo>
                    <a:pt x="54" y="72"/>
                  </a:lnTo>
                  <a:lnTo>
                    <a:pt x="64" y="70"/>
                  </a:lnTo>
                  <a:lnTo>
                    <a:pt x="70" y="67"/>
                  </a:lnTo>
                  <a:lnTo>
                    <a:pt x="69" y="65"/>
                  </a:lnTo>
                  <a:lnTo>
                    <a:pt x="86" y="57"/>
                  </a:lnTo>
                  <a:lnTo>
                    <a:pt x="92" y="54"/>
                  </a:lnTo>
                  <a:lnTo>
                    <a:pt x="94" y="49"/>
                  </a:lnTo>
                  <a:lnTo>
                    <a:pt x="95" y="53"/>
                  </a:lnTo>
                  <a:lnTo>
                    <a:pt x="104" y="52"/>
                  </a:lnTo>
                  <a:lnTo>
                    <a:pt x="108" y="49"/>
                  </a:lnTo>
                  <a:lnTo>
                    <a:pt x="119" y="49"/>
                  </a:lnTo>
                  <a:lnTo>
                    <a:pt x="136" y="4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3" name="Freeform 352"/>
            <p:cNvSpPr>
              <a:spLocks/>
            </p:cNvSpPr>
            <p:nvPr/>
          </p:nvSpPr>
          <p:spPr bwMode="auto">
            <a:xfrm>
              <a:off x="4637" y="1628"/>
              <a:ext cx="145" cy="162"/>
            </a:xfrm>
            <a:custGeom>
              <a:avLst/>
              <a:gdLst/>
              <a:ahLst/>
              <a:cxnLst>
                <a:cxn ang="0">
                  <a:pos x="115" y="101"/>
                </a:cxn>
                <a:cxn ang="0">
                  <a:pos x="98" y="85"/>
                </a:cxn>
                <a:cxn ang="0">
                  <a:pos x="80" y="70"/>
                </a:cxn>
                <a:cxn ang="0">
                  <a:pos x="62" y="55"/>
                </a:cxn>
                <a:cxn ang="0">
                  <a:pos x="43" y="40"/>
                </a:cxn>
                <a:cxn ang="0">
                  <a:pos x="40" y="34"/>
                </a:cxn>
                <a:cxn ang="0">
                  <a:pos x="22" y="17"/>
                </a:cxn>
                <a:cxn ang="0">
                  <a:pos x="4" y="0"/>
                </a:cxn>
                <a:cxn ang="0">
                  <a:pos x="0" y="3"/>
                </a:cxn>
                <a:cxn ang="0">
                  <a:pos x="13" y="12"/>
                </a:cxn>
                <a:cxn ang="0">
                  <a:pos x="13" y="18"/>
                </a:cxn>
                <a:cxn ang="0">
                  <a:pos x="6" y="18"/>
                </a:cxn>
                <a:cxn ang="0">
                  <a:pos x="20" y="34"/>
                </a:cxn>
                <a:cxn ang="0">
                  <a:pos x="35" y="49"/>
                </a:cxn>
                <a:cxn ang="0">
                  <a:pos x="49" y="64"/>
                </a:cxn>
                <a:cxn ang="0">
                  <a:pos x="62" y="81"/>
                </a:cxn>
                <a:cxn ang="0">
                  <a:pos x="73" y="99"/>
                </a:cxn>
                <a:cxn ang="0">
                  <a:pos x="85" y="113"/>
                </a:cxn>
                <a:cxn ang="0">
                  <a:pos x="97" y="127"/>
                </a:cxn>
                <a:cxn ang="0">
                  <a:pos x="109" y="145"/>
                </a:cxn>
                <a:cxn ang="0">
                  <a:pos x="113" y="145"/>
                </a:cxn>
                <a:cxn ang="0">
                  <a:pos x="112" y="133"/>
                </a:cxn>
                <a:cxn ang="0">
                  <a:pos x="125" y="139"/>
                </a:cxn>
                <a:cxn ang="0">
                  <a:pos x="131" y="147"/>
                </a:cxn>
                <a:cxn ang="0">
                  <a:pos x="120" y="133"/>
                </a:cxn>
                <a:cxn ang="0">
                  <a:pos x="92" y="112"/>
                </a:cxn>
                <a:cxn ang="0">
                  <a:pos x="86" y="89"/>
                </a:cxn>
                <a:cxn ang="0">
                  <a:pos x="91" y="89"/>
                </a:cxn>
                <a:cxn ang="0">
                  <a:pos x="108" y="95"/>
                </a:cxn>
                <a:cxn ang="0">
                  <a:pos x="115" y="101"/>
                </a:cxn>
              </a:cxnLst>
              <a:rect l="0" t="0" r="r" b="b"/>
              <a:pathLst>
                <a:path w="131" h="147">
                  <a:moveTo>
                    <a:pt x="115" y="101"/>
                  </a:moveTo>
                  <a:lnTo>
                    <a:pt x="98" y="85"/>
                  </a:lnTo>
                  <a:lnTo>
                    <a:pt x="80" y="70"/>
                  </a:lnTo>
                  <a:lnTo>
                    <a:pt x="62" y="55"/>
                  </a:lnTo>
                  <a:lnTo>
                    <a:pt x="43" y="40"/>
                  </a:lnTo>
                  <a:lnTo>
                    <a:pt x="40" y="34"/>
                  </a:lnTo>
                  <a:lnTo>
                    <a:pt x="22" y="17"/>
                  </a:lnTo>
                  <a:lnTo>
                    <a:pt x="4" y="0"/>
                  </a:lnTo>
                  <a:lnTo>
                    <a:pt x="0" y="3"/>
                  </a:lnTo>
                  <a:lnTo>
                    <a:pt x="13" y="12"/>
                  </a:lnTo>
                  <a:lnTo>
                    <a:pt x="13" y="18"/>
                  </a:lnTo>
                  <a:lnTo>
                    <a:pt x="6" y="18"/>
                  </a:lnTo>
                  <a:lnTo>
                    <a:pt x="20" y="34"/>
                  </a:lnTo>
                  <a:lnTo>
                    <a:pt x="35" y="49"/>
                  </a:lnTo>
                  <a:lnTo>
                    <a:pt x="49" y="64"/>
                  </a:lnTo>
                  <a:lnTo>
                    <a:pt x="62" y="81"/>
                  </a:lnTo>
                  <a:lnTo>
                    <a:pt x="73" y="99"/>
                  </a:lnTo>
                  <a:lnTo>
                    <a:pt x="85" y="113"/>
                  </a:lnTo>
                  <a:lnTo>
                    <a:pt x="97" y="127"/>
                  </a:lnTo>
                  <a:lnTo>
                    <a:pt x="109" y="145"/>
                  </a:lnTo>
                  <a:lnTo>
                    <a:pt x="113" y="145"/>
                  </a:lnTo>
                  <a:lnTo>
                    <a:pt x="112" y="133"/>
                  </a:lnTo>
                  <a:lnTo>
                    <a:pt x="125" y="139"/>
                  </a:lnTo>
                  <a:lnTo>
                    <a:pt x="131" y="147"/>
                  </a:lnTo>
                  <a:lnTo>
                    <a:pt x="120" y="133"/>
                  </a:lnTo>
                  <a:lnTo>
                    <a:pt x="92" y="112"/>
                  </a:lnTo>
                  <a:lnTo>
                    <a:pt x="86" y="89"/>
                  </a:lnTo>
                  <a:lnTo>
                    <a:pt x="91" y="89"/>
                  </a:lnTo>
                  <a:lnTo>
                    <a:pt x="108" y="95"/>
                  </a:lnTo>
                  <a:lnTo>
                    <a:pt x="115" y="10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4" name="Freeform 353"/>
            <p:cNvSpPr>
              <a:spLocks/>
            </p:cNvSpPr>
            <p:nvPr/>
          </p:nvSpPr>
          <p:spPr bwMode="auto">
            <a:xfrm>
              <a:off x="3180" y="1239"/>
              <a:ext cx="149" cy="55"/>
            </a:xfrm>
            <a:custGeom>
              <a:avLst/>
              <a:gdLst/>
              <a:ahLst/>
              <a:cxnLst>
                <a:cxn ang="0">
                  <a:pos x="135" y="4"/>
                </a:cxn>
                <a:cxn ang="0">
                  <a:pos x="125" y="10"/>
                </a:cxn>
                <a:cxn ang="0">
                  <a:pos x="95" y="17"/>
                </a:cxn>
                <a:cxn ang="0">
                  <a:pos x="65" y="24"/>
                </a:cxn>
                <a:cxn ang="0">
                  <a:pos x="58" y="25"/>
                </a:cxn>
                <a:cxn ang="0">
                  <a:pos x="61" y="28"/>
                </a:cxn>
                <a:cxn ang="0">
                  <a:pos x="59" y="30"/>
                </a:cxn>
                <a:cxn ang="0">
                  <a:pos x="53" y="31"/>
                </a:cxn>
                <a:cxn ang="0">
                  <a:pos x="54" y="34"/>
                </a:cxn>
                <a:cxn ang="0">
                  <a:pos x="42" y="32"/>
                </a:cxn>
                <a:cxn ang="0">
                  <a:pos x="46" y="37"/>
                </a:cxn>
                <a:cxn ang="0">
                  <a:pos x="41" y="40"/>
                </a:cxn>
                <a:cxn ang="0">
                  <a:pos x="45" y="44"/>
                </a:cxn>
                <a:cxn ang="0">
                  <a:pos x="30" y="42"/>
                </a:cxn>
                <a:cxn ang="0">
                  <a:pos x="43" y="46"/>
                </a:cxn>
                <a:cxn ang="0">
                  <a:pos x="36" y="46"/>
                </a:cxn>
                <a:cxn ang="0">
                  <a:pos x="39" y="50"/>
                </a:cxn>
                <a:cxn ang="0">
                  <a:pos x="7" y="48"/>
                </a:cxn>
                <a:cxn ang="0">
                  <a:pos x="13" y="44"/>
                </a:cxn>
                <a:cxn ang="0">
                  <a:pos x="0" y="44"/>
                </a:cxn>
                <a:cxn ang="0">
                  <a:pos x="13" y="37"/>
                </a:cxn>
                <a:cxn ang="0">
                  <a:pos x="17" y="37"/>
                </a:cxn>
                <a:cxn ang="0">
                  <a:pos x="12" y="35"/>
                </a:cxn>
                <a:cxn ang="0">
                  <a:pos x="15" y="32"/>
                </a:cxn>
                <a:cxn ang="0">
                  <a:pos x="22" y="29"/>
                </a:cxn>
                <a:cxn ang="0">
                  <a:pos x="17" y="28"/>
                </a:cxn>
                <a:cxn ang="0">
                  <a:pos x="19" y="25"/>
                </a:cxn>
                <a:cxn ang="0">
                  <a:pos x="12" y="25"/>
                </a:cxn>
                <a:cxn ang="0">
                  <a:pos x="21" y="22"/>
                </a:cxn>
                <a:cxn ang="0">
                  <a:pos x="28" y="19"/>
                </a:cxn>
                <a:cxn ang="0">
                  <a:pos x="53" y="12"/>
                </a:cxn>
                <a:cxn ang="0">
                  <a:pos x="57" y="10"/>
                </a:cxn>
                <a:cxn ang="0">
                  <a:pos x="103" y="4"/>
                </a:cxn>
                <a:cxn ang="0">
                  <a:pos x="123" y="0"/>
                </a:cxn>
                <a:cxn ang="0">
                  <a:pos x="135" y="4"/>
                </a:cxn>
              </a:cxnLst>
              <a:rect l="0" t="0" r="r" b="b"/>
              <a:pathLst>
                <a:path w="135" h="50">
                  <a:moveTo>
                    <a:pt x="135" y="4"/>
                  </a:moveTo>
                  <a:lnTo>
                    <a:pt x="125" y="10"/>
                  </a:lnTo>
                  <a:lnTo>
                    <a:pt x="95" y="17"/>
                  </a:lnTo>
                  <a:lnTo>
                    <a:pt x="65" y="24"/>
                  </a:lnTo>
                  <a:lnTo>
                    <a:pt x="58" y="25"/>
                  </a:lnTo>
                  <a:lnTo>
                    <a:pt x="61" y="28"/>
                  </a:lnTo>
                  <a:lnTo>
                    <a:pt x="59" y="30"/>
                  </a:lnTo>
                  <a:lnTo>
                    <a:pt x="53" y="31"/>
                  </a:lnTo>
                  <a:lnTo>
                    <a:pt x="54" y="34"/>
                  </a:lnTo>
                  <a:lnTo>
                    <a:pt x="42" y="32"/>
                  </a:lnTo>
                  <a:lnTo>
                    <a:pt x="46" y="37"/>
                  </a:lnTo>
                  <a:lnTo>
                    <a:pt x="41" y="40"/>
                  </a:lnTo>
                  <a:lnTo>
                    <a:pt x="45" y="44"/>
                  </a:lnTo>
                  <a:lnTo>
                    <a:pt x="30" y="42"/>
                  </a:lnTo>
                  <a:lnTo>
                    <a:pt x="43" y="46"/>
                  </a:lnTo>
                  <a:lnTo>
                    <a:pt x="36" y="46"/>
                  </a:lnTo>
                  <a:lnTo>
                    <a:pt x="39" y="50"/>
                  </a:lnTo>
                  <a:lnTo>
                    <a:pt x="7" y="48"/>
                  </a:lnTo>
                  <a:lnTo>
                    <a:pt x="13" y="44"/>
                  </a:lnTo>
                  <a:lnTo>
                    <a:pt x="0" y="44"/>
                  </a:lnTo>
                  <a:lnTo>
                    <a:pt x="13" y="37"/>
                  </a:lnTo>
                  <a:lnTo>
                    <a:pt x="17" y="37"/>
                  </a:lnTo>
                  <a:lnTo>
                    <a:pt x="12" y="35"/>
                  </a:lnTo>
                  <a:lnTo>
                    <a:pt x="15" y="32"/>
                  </a:lnTo>
                  <a:lnTo>
                    <a:pt x="22" y="29"/>
                  </a:lnTo>
                  <a:lnTo>
                    <a:pt x="17" y="28"/>
                  </a:lnTo>
                  <a:lnTo>
                    <a:pt x="19" y="25"/>
                  </a:lnTo>
                  <a:lnTo>
                    <a:pt x="12" y="25"/>
                  </a:lnTo>
                  <a:lnTo>
                    <a:pt x="21" y="22"/>
                  </a:lnTo>
                  <a:lnTo>
                    <a:pt x="28" y="19"/>
                  </a:lnTo>
                  <a:lnTo>
                    <a:pt x="53" y="12"/>
                  </a:lnTo>
                  <a:lnTo>
                    <a:pt x="57" y="10"/>
                  </a:lnTo>
                  <a:lnTo>
                    <a:pt x="103" y="4"/>
                  </a:lnTo>
                  <a:lnTo>
                    <a:pt x="123" y="0"/>
                  </a:lnTo>
                  <a:lnTo>
                    <a:pt x="13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5" name="Freeform 354"/>
            <p:cNvSpPr>
              <a:spLocks/>
            </p:cNvSpPr>
            <p:nvPr/>
          </p:nvSpPr>
          <p:spPr bwMode="auto">
            <a:xfrm>
              <a:off x="3167" y="1294"/>
              <a:ext cx="88" cy="42"/>
            </a:xfrm>
            <a:custGeom>
              <a:avLst/>
              <a:gdLst/>
              <a:ahLst/>
              <a:cxnLst>
                <a:cxn ang="0">
                  <a:pos x="80" y="38"/>
                </a:cxn>
                <a:cxn ang="0">
                  <a:pos x="50" y="26"/>
                </a:cxn>
                <a:cxn ang="0">
                  <a:pos x="41" y="10"/>
                </a:cxn>
                <a:cxn ang="0">
                  <a:pos x="41" y="8"/>
                </a:cxn>
                <a:cxn ang="0">
                  <a:pos x="42" y="5"/>
                </a:cxn>
                <a:cxn ang="0">
                  <a:pos x="45" y="2"/>
                </a:cxn>
                <a:cxn ang="0">
                  <a:pos x="16" y="0"/>
                </a:cxn>
                <a:cxn ang="0">
                  <a:pos x="11" y="5"/>
                </a:cxn>
                <a:cxn ang="0">
                  <a:pos x="8" y="10"/>
                </a:cxn>
                <a:cxn ang="0">
                  <a:pos x="11" y="11"/>
                </a:cxn>
                <a:cxn ang="0">
                  <a:pos x="6" y="18"/>
                </a:cxn>
                <a:cxn ang="0">
                  <a:pos x="0" y="21"/>
                </a:cxn>
                <a:cxn ang="0">
                  <a:pos x="8" y="27"/>
                </a:cxn>
                <a:cxn ang="0">
                  <a:pos x="17" y="27"/>
                </a:cxn>
                <a:cxn ang="0">
                  <a:pos x="24" y="27"/>
                </a:cxn>
                <a:cxn ang="0">
                  <a:pos x="29" y="28"/>
                </a:cxn>
                <a:cxn ang="0">
                  <a:pos x="35" y="33"/>
                </a:cxn>
                <a:cxn ang="0">
                  <a:pos x="34" y="34"/>
                </a:cxn>
                <a:cxn ang="0">
                  <a:pos x="45" y="38"/>
                </a:cxn>
                <a:cxn ang="0">
                  <a:pos x="53" y="38"/>
                </a:cxn>
                <a:cxn ang="0">
                  <a:pos x="64" y="39"/>
                </a:cxn>
                <a:cxn ang="0">
                  <a:pos x="75" y="39"/>
                </a:cxn>
                <a:cxn ang="0">
                  <a:pos x="80" y="38"/>
                </a:cxn>
              </a:cxnLst>
              <a:rect l="0" t="0" r="r" b="b"/>
              <a:pathLst>
                <a:path w="80" h="39">
                  <a:moveTo>
                    <a:pt x="80" y="38"/>
                  </a:moveTo>
                  <a:lnTo>
                    <a:pt x="50" y="26"/>
                  </a:lnTo>
                  <a:lnTo>
                    <a:pt x="41" y="10"/>
                  </a:lnTo>
                  <a:lnTo>
                    <a:pt x="41" y="8"/>
                  </a:lnTo>
                  <a:lnTo>
                    <a:pt x="42" y="5"/>
                  </a:lnTo>
                  <a:lnTo>
                    <a:pt x="45" y="2"/>
                  </a:lnTo>
                  <a:lnTo>
                    <a:pt x="16" y="0"/>
                  </a:lnTo>
                  <a:lnTo>
                    <a:pt x="11" y="5"/>
                  </a:lnTo>
                  <a:lnTo>
                    <a:pt x="8" y="10"/>
                  </a:lnTo>
                  <a:lnTo>
                    <a:pt x="11" y="11"/>
                  </a:lnTo>
                  <a:lnTo>
                    <a:pt x="6" y="18"/>
                  </a:lnTo>
                  <a:lnTo>
                    <a:pt x="0" y="21"/>
                  </a:lnTo>
                  <a:lnTo>
                    <a:pt x="8" y="27"/>
                  </a:lnTo>
                  <a:lnTo>
                    <a:pt x="17" y="27"/>
                  </a:lnTo>
                  <a:lnTo>
                    <a:pt x="24" y="27"/>
                  </a:lnTo>
                  <a:lnTo>
                    <a:pt x="29" y="28"/>
                  </a:lnTo>
                  <a:lnTo>
                    <a:pt x="35" y="33"/>
                  </a:lnTo>
                  <a:lnTo>
                    <a:pt x="34" y="34"/>
                  </a:lnTo>
                  <a:lnTo>
                    <a:pt x="45" y="38"/>
                  </a:lnTo>
                  <a:lnTo>
                    <a:pt x="53" y="38"/>
                  </a:lnTo>
                  <a:lnTo>
                    <a:pt x="64" y="39"/>
                  </a:lnTo>
                  <a:lnTo>
                    <a:pt x="75" y="39"/>
                  </a:lnTo>
                  <a:lnTo>
                    <a:pt x="80"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6" name="Freeform 355"/>
            <p:cNvSpPr>
              <a:spLocks/>
            </p:cNvSpPr>
            <p:nvPr/>
          </p:nvSpPr>
          <p:spPr bwMode="auto">
            <a:xfrm>
              <a:off x="4140" y="1250"/>
              <a:ext cx="102" cy="24"/>
            </a:xfrm>
            <a:custGeom>
              <a:avLst/>
              <a:gdLst/>
              <a:ahLst/>
              <a:cxnLst>
                <a:cxn ang="0">
                  <a:pos x="94" y="9"/>
                </a:cxn>
                <a:cxn ang="0">
                  <a:pos x="35" y="0"/>
                </a:cxn>
                <a:cxn ang="0">
                  <a:pos x="42" y="2"/>
                </a:cxn>
                <a:cxn ang="0">
                  <a:pos x="35" y="2"/>
                </a:cxn>
                <a:cxn ang="0">
                  <a:pos x="41" y="6"/>
                </a:cxn>
                <a:cxn ang="0">
                  <a:pos x="12" y="1"/>
                </a:cxn>
                <a:cxn ang="0">
                  <a:pos x="1" y="4"/>
                </a:cxn>
                <a:cxn ang="0">
                  <a:pos x="0" y="6"/>
                </a:cxn>
                <a:cxn ang="0">
                  <a:pos x="6" y="9"/>
                </a:cxn>
                <a:cxn ang="0">
                  <a:pos x="10" y="12"/>
                </a:cxn>
                <a:cxn ang="0">
                  <a:pos x="46" y="21"/>
                </a:cxn>
                <a:cxn ang="0">
                  <a:pos x="47" y="18"/>
                </a:cxn>
                <a:cxn ang="0">
                  <a:pos x="76" y="16"/>
                </a:cxn>
                <a:cxn ang="0">
                  <a:pos x="89" y="16"/>
                </a:cxn>
                <a:cxn ang="0">
                  <a:pos x="83" y="15"/>
                </a:cxn>
                <a:cxn ang="0">
                  <a:pos x="93" y="13"/>
                </a:cxn>
                <a:cxn ang="0">
                  <a:pos x="94" y="9"/>
                </a:cxn>
              </a:cxnLst>
              <a:rect l="0" t="0" r="r" b="b"/>
              <a:pathLst>
                <a:path w="94" h="21">
                  <a:moveTo>
                    <a:pt x="94" y="9"/>
                  </a:moveTo>
                  <a:lnTo>
                    <a:pt x="35" y="0"/>
                  </a:lnTo>
                  <a:lnTo>
                    <a:pt x="42" y="2"/>
                  </a:lnTo>
                  <a:lnTo>
                    <a:pt x="35" y="2"/>
                  </a:lnTo>
                  <a:lnTo>
                    <a:pt x="41" y="6"/>
                  </a:lnTo>
                  <a:lnTo>
                    <a:pt x="12" y="1"/>
                  </a:lnTo>
                  <a:lnTo>
                    <a:pt x="1" y="4"/>
                  </a:lnTo>
                  <a:lnTo>
                    <a:pt x="0" y="6"/>
                  </a:lnTo>
                  <a:lnTo>
                    <a:pt x="6" y="9"/>
                  </a:lnTo>
                  <a:lnTo>
                    <a:pt x="10" y="12"/>
                  </a:lnTo>
                  <a:lnTo>
                    <a:pt x="46" y="21"/>
                  </a:lnTo>
                  <a:lnTo>
                    <a:pt x="47" y="18"/>
                  </a:lnTo>
                  <a:lnTo>
                    <a:pt x="76" y="16"/>
                  </a:lnTo>
                  <a:lnTo>
                    <a:pt x="89" y="16"/>
                  </a:lnTo>
                  <a:lnTo>
                    <a:pt x="83" y="15"/>
                  </a:lnTo>
                  <a:lnTo>
                    <a:pt x="93" y="13"/>
                  </a:lnTo>
                  <a:lnTo>
                    <a:pt x="94"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7" name="Freeform 356"/>
            <p:cNvSpPr>
              <a:spLocks/>
            </p:cNvSpPr>
            <p:nvPr/>
          </p:nvSpPr>
          <p:spPr bwMode="auto">
            <a:xfrm>
              <a:off x="3562" y="1192"/>
              <a:ext cx="80" cy="18"/>
            </a:xfrm>
            <a:custGeom>
              <a:avLst/>
              <a:gdLst/>
              <a:ahLst/>
              <a:cxnLst>
                <a:cxn ang="0">
                  <a:pos x="61" y="5"/>
                </a:cxn>
                <a:cxn ang="0">
                  <a:pos x="43" y="2"/>
                </a:cxn>
                <a:cxn ang="0">
                  <a:pos x="36" y="4"/>
                </a:cxn>
                <a:cxn ang="0">
                  <a:pos x="30" y="0"/>
                </a:cxn>
                <a:cxn ang="0">
                  <a:pos x="3" y="2"/>
                </a:cxn>
                <a:cxn ang="0">
                  <a:pos x="0" y="8"/>
                </a:cxn>
                <a:cxn ang="0">
                  <a:pos x="9" y="8"/>
                </a:cxn>
                <a:cxn ang="0">
                  <a:pos x="24" y="14"/>
                </a:cxn>
                <a:cxn ang="0">
                  <a:pos x="72" y="17"/>
                </a:cxn>
                <a:cxn ang="0">
                  <a:pos x="67" y="12"/>
                </a:cxn>
                <a:cxn ang="0">
                  <a:pos x="61" y="5"/>
                </a:cxn>
              </a:cxnLst>
              <a:rect l="0" t="0" r="r" b="b"/>
              <a:pathLst>
                <a:path w="72" h="17">
                  <a:moveTo>
                    <a:pt x="61" y="5"/>
                  </a:moveTo>
                  <a:lnTo>
                    <a:pt x="43" y="2"/>
                  </a:lnTo>
                  <a:lnTo>
                    <a:pt x="36" y="4"/>
                  </a:lnTo>
                  <a:lnTo>
                    <a:pt x="30" y="0"/>
                  </a:lnTo>
                  <a:lnTo>
                    <a:pt x="3" y="2"/>
                  </a:lnTo>
                  <a:lnTo>
                    <a:pt x="0" y="8"/>
                  </a:lnTo>
                  <a:lnTo>
                    <a:pt x="9" y="8"/>
                  </a:lnTo>
                  <a:lnTo>
                    <a:pt x="24" y="14"/>
                  </a:lnTo>
                  <a:lnTo>
                    <a:pt x="72" y="17"/>
                  </a:lnTo>
                  <a:lnTo>
                    <a:pt x="67" y="12"/>
                  </a:lnTo>
                  <a:lnTo>
                    <a:pt x="61"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8" name="Freeform 357"/>
            <p:cNvSpPr>
              <a:spLocks/>
            </p:cNvSpPr>
            <p:nvPr/>
          </p:nvSpPr>
          <p:spPr bwMode="auto">
            <a:xfrm>
              <a:off x="3653" y="1203"/>
              <a:ext cx="60" cy="20"/>
            </a:xfrm>
            <a:custGeom>
              <a:avLst/>
              <a:gdLst/>
              <a:ahLst/>
              <a:cxnLst>
                <a:cxn ang="0">
                  <a:pos x="53" y="10"/>
                </a:cxn>
                <a:cxn ang="0">
                  <a:pos x="26" y="2"/>
                </a:cxn>
                <a:cxn ang="0">
                  <a:pos x="20" y="7"/>
                </a:cxn>
                <a:cxn ang="0">
                  <a:pos x="15" y="0"/>
                </a:cxn>
                <a:cxn ang="0">
                  <a:pos x="8" y="0"/>
                </a:cxn>
                <a:cxn ang="0">
                  <a:pos x="11" y="2"/>
                </a:cxn>
                <a:cxn ang="0">
                  <a:pos x="0" y="2"/>
                </a:cxn>
                <a:cxn ang="0">
                  <a:pos x="3" y="4"/>
                </a:cxn>
                <a:cxn ang="0">
                  <a:pos x="9" y="8"/>
                </a:cxn>
                <a:cxn ang="0">
                  <a:pos x="2" y="10"/>
                </a:cxn>
                <a:cxn ang="0">
                  <a:pos x="6" y="19"/>
                </a:cxn>
                <a:cxn ang="0">
                  <a:pos x="54" y="12"/>
                </a:cxn>
                <a:cxn ang="0">
                  <a:pos x="53" y="10"/>
                </a:cxn>
              </a:cxnLst>
              <a:rect l="0" t="0" r="r" b="b"/>
              <a:pathLst>
                <a:path w="54" h="19">
                  <a:moveTo>
                    <a:pt x="53" y="10"/>
                  </a:moveTo>
                  <a:lnTo>
                    <a:pt x="26" y="2"/>
                  </a:lnTo>
                  <a:lnTo>
                    <a:pt x="20" y="7"/>
                  </a:lnTo>
                  <a:lnTo>
                    <a:pt x="15" y="0"/>
                  </a:lnTo>
                  <a:lnTo>
                    <a:pt x="8" y="0"/>
                  </a:lnTo>
                  <a:lnTo>
                    <a:pt x="11" y="2"/>
                  </a:lnTo>
                  <a:lnTo>
                    <a:pt x="0" y="2"/>
                  </a:lnTo>
                  <a:lnTo>
                    <a:pt x="3" y="4"/>
                  </a:lnTo>
                  <a:lnTo>
                    <a:pt x="9" y="8"/>
                  </a:lnTo>
                  <a:lnTo>
                    <a:pt x="2" y="10"/>
                  </a:lnTo>
                  <a:lnTo>
                    <a:pt x="6" y="19"/>
                  </a:lnTo>
                  <a:lnTo>
                    <a:pt x="54" y="12"/>
                  </a:lnTo>
                  <a:lnTo>
                    <a:pt x="53"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9" name="Freeform 358"/>
            <p:cNvSpPr>
              <a:spLocks/>
            </p:cNvSpPr>
            <p:nvPr/>
          </p:nvSpPr>
          <p:spPr bwMode="auto">
            <a:xfrm>
              <a:off x="3529" y="1181"/>
              <a:ext cx="64" cy="11"/>
            </a:xfrm>
            <a:custGeom>
              <a:avLst/>
              <a:gdLst/>
              <a:ahLst/>
              <a:cxnLst>
                <a:cxn ang="0">
                  <a:pos x="56" y="5"/>
                </a:cxn>
                <a:cxn ang="0">
                  <a:pos x="31" y="0"/>
                </a:cxn>
                <a:cxn ang="0">
                  <a:pos x="2" y="3"/>
                </a:cxn>
                <a:cxn ang="0">
                  <a:pos x="9" y="4"/>
                </a:cxn>
                <a:cxn ang="0">
                  <a:pos x="8" y="7"/>
                </a:cxn>
                <a:cxn ang="0">
                  <a:pos x="0" y="9"/>
                </a:cxn>
                <a:cxn ang="0">
                  <a:pos x="17" y="9"/>
                </a:cxn>
                <a:cxn ang="0">
                  <a:pos x="12" y="11"/>
                </a:cxn>
                <a:cxn ang="0">
                  <a:pos x="56" y="10"/>
                </a:cxn>
                <a:cxn ang="0">
                  <a:pos x="50" y="7"/>
                </a:cxn>
                <a:cxn ang="0">
                  <a:pos x="56" y="5"/>
                </a:cxn>
              </a:cxnLst>
              <a:rect l="0" t="0" r="r" b="b"/>
              <a:pathLst>
                <a:path w="56" h="11">
                  <a:moveTo>
                    <a:pt x="56" y="5"/>
                  </a:moveTo>
                  <a:lnTo>
                    <a:pt x="31" y="0"/>
                  </a:lnTo>
                  <a:lnTo>
                    <a:pt x="2" y="3"/>
                  </a:lnTo>
                  <a:lnTo>
                    <a:pt x="9" y="4"/>
                  </a:lnTo>
                  <a:lnTo>
                    <a:pt x="8" y="7"/>
                  </a:lnTo>
                  <a:lnTo>
                    <a:pt x="0" y="9"/>
                  </a:lnTo>
                  <a:lnTo>
                    <a:pt x="17" y="9"/>
                  </a:lnTo>
                  <a:lnTo>
                    <a:pt x="12" y="11"/>
                  </a:lnTo>
                  <a:lnTo>
                    <a:pt x="56" y="10"/>
                  </a:lnTo>
                  <a:lnTo>
                    <a:pt x="50" y="7"/>
                  </a:lnTo>
                  <a:lnTo>
                    <a:pt x="56"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0" name="Freeform 359"/>
            <p:cNvSpPr>
              <a:spLocks/>
            </p:cNvSpPr>
            <p:nvPr/>
          </p:nvSpPr>
          <p:spPr bwMode="auto">
            <a:xfrm>
              <a:off x="4253" y="1259"/>
              <a:ext cx="67" cy="11"/>
            </a:xfrm>
            <a:custGeom>
              <a:avLst/>
              <a:gdLst/>
              <a:ahLst/>
              <a:cxnLst>
                <a:cxn ang="0">
                  <a:pos x="59" y="6"/>
                </a:cxn>
                <a:cxn ang="0">
                  <a:pos x="14" y="2"/>
                </a:cxn>
                <a:cxn ang="0">
                  <a:pos x="0" y="0"/>
                </a:cxn>
                <a:cxn ang="0">
                  <a:pos x="5" y="5"/>
                </a:cxn>
                <a:cxn ang="0">
                  <a:pos x="54" y="11"/>
                </a:cxn>
                <a:cxn ang="0">
                  <a:pos x="59" y="6"/>
                </a:cxn>
              </a:cxnLst>
              <a:rect l="0" t="0" r="r" b="b"/>
              <a:pathLst>
                <a:path w="59" h="11">
                  <a:moveTo>
                    <a:pt x="59" y="6"/>
                  </a:moveTo>
                  <a:lnTo>
                    <a:pt x="14" y="2"/>
                  </a:lnTo>
                  <a:lnTo>
                    <a:pt x="0" y="0"/>
                  </a:lnTo>
                  <a:lnTo>
                    <a:pt x="5" y="5"/>
                  </a:lnTo>
                  <a:lnTo>
                    <a:pt x="54" y="11"/>
                  </a:lnTo>
                  <a:lnTo>
                    <a:pt x="5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1" name="Freeform 360"/>
            <p:cNvSpPr>
              <a:spLocks/>
            </p:cNvSpPr>
            <p:nvPr/>
          </p:nvSpPr>
          <p:spPr bwMode="auto">
            <a:xfrm>
              <a:off x="2831" y="1616"/>
              <a:ext cx="31" cy="14"/>
            </a:xfrm>
            <a:custGeom>
              <a:avLst/>
              <a:gdLst/>
              <a:ahLst/>
              <a:cxnLst>
                <a:cxn ang="0">
                  <a:pos x="8" y="0"/>
                </a:cxn>
                <a:cxn ang="0">
                  <a:pos x="7" y="3"/>
                </a:cxn>
                <a:cxn ang="0">
                  <a:pos x="0" y="2"/>
                </a:cxn>
                <a:cxn ang="0">
                  <a:pos x="0" y="3"/>
                </a:cxn>
                <a:cxn ang="0">
                  <a:pos x="1" y="5"/>
                </a:cxn>
                <a:cxn ang="0">
                  <a:pos x="2" y="5"/>
                </a:cxn>
                <a:cxn ang="0">
                  <a:pos x="0" y="6"/>
                </a:cxn>
                <a:cxn ang="0">
                  <a:pos x="0" y="8"/>
                </a:cxn>
                <a:cxn ang="0">
                  <a:pos x="6" y="9"/>
                </a:cxn>
                <a:cxn ang="0">
                  <a:pos x="29" y="11"/>
                </a:cxn>
                <a:cxn ang="0">
                  <a:pos x="29" y="3"/>
                </a:cxn>
                <a:cxn ang="0">
                  <a:pos x="17" y="2"/>
                </a:cxn>
                <a:cxn ang="0">
                  <a:pos x="8" y="0"/>
                </a:cxn>
              </a:cxnLst>
              <a:rect l="0" t="0" r="r" b="b"/>
              <a:pathLst>
                <a:path w="29" h="11">
                  <a:moveTo>
                    <a:pt x="8" y="0"/>
                  </a:moveTo>
                  <a:lnTo>
                    <a:pt x="7" y="3"/>
                  </a:lnTo>
                  <a:lnTo>
                    <a:pt x="0" y="2"/>
                  </a:lnTo>
                  <a:lnTo>
                    <a:pt x="0" y="3"/>
                  </a:lnTo>
                  <a:lnTo>
                    <a:pt x="1" y="5"/>
                  </a:lnTo>
                  <a:lnTo>
                    <a:pt x="2" y="5"/>
                  </a:lnTo>
                  <a:lnTo>
                    <a:pt x="0" y="6"/>
                  </a:lnTo>
                  <a:lnTo>
                    <a:pt x="0" y="8"/>
                  </a:lnTo>
                  <a:lnTo>
                    <a:pt x="6" y="9"/>
                  </a:lnTo>
                  <a:lnTo>
                    <a:pt x="29" y="11"/>
                  </a:lnTo>
                  <a:lnTo>
                    <a:pt x="29" y="3"/>
                  </a:lnTo>
                  <a:lnTo>
                    <a:pt x="17" y="2"/>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2" name="Freeform 361"/>
            <p:cNvSpPr>
              <a:spLocks/>
            </p:cNvSpPr>
            <p:nvPr/>
          </p:nvSpPr>
          <p:spPr bwMode="auto">
            <a:xfrm>
              <a:off x="4224" y="1285"/>
              <a:ext cx="51" cy="11"/>
            </a:xfrm>
            <a:custGeom>
              <a:avLst/>
              <a:gdLst/>
              <a:ahLst/>
              <a:cxnLst>
                <a:cxn ang="0">
                  <a:pos x="46" y="10"/>
                </a:cxn>
                <a:cxn ang="0">
                  <a:pos x="0" y="6"/>
                </a:cxn>
                <a:cxn ang="0">
                  <a:pos x="16" y="0"/>
                </a:cxn>
                <a:cxn ang="0">
                  <a:pos x="41" y="7"/>
                </a:cxn>
                <a:cxn ang="0">
                  <a:pos x="46" y="10"/>
                </a:cxn>
              </a:cxnLst>
              <a:rect l="0" t="0" r="r" b="b"/>
              <a:pathLst>
                <a:path w="46" h="10">
                  <a:moveTo>
                    <a:pt x="46" y="10"/>
                  </a:moveTo>
                  <a:lnTo>
                    <a:pt x="0" y="6"/>
                  </a:lnTo>
                  <a:lnTo>
                    <a:pt x="16" y="0"/>
                  </a:lnTo>
                  <a:lnTo>
                    <a:pt x="41" y="7"/>
                  </a:lnTo>
                  <a:lnTo>
                    <a:pt x="46"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3" name="Freeform 362"/>
            <p:cNvSpPr>
              <a:spLocks/>
            </p:cNvSpPr>
            <p:nvPr/>
          </p:nvSpPr>
          <p:spPr bwMode="auto">
            <a:xfrm>
              <a:off x="3149" y="1356"/>
              <a:ext cx="27" cy="14"/>
            </a:xfrm>
            <a:custGeom>
              <a:avLst/>
              <a:gdLst/>
              <a:ahLst/>
              <a:cxnLst>
                <a:cxn ang="0">
                  <a:pos x="24" y="6"/>
                </a:cxn>
                <a:cxn ang="0">
                  <a:pos x="6" y="12"/>
                </a:cxn>
                <a:cxn ang="0">
                  <a:pos x="0" y="4"/>
                </a:cxn>
                <a:cxn ang="0">
                  <a:pos x="6" y="0"/>
                </a:cxn>
                <a:cxn ang="0">
                  <a:pos x="24" y="6"/>
                </a:cxn>
              </a:cxnLst>
              <a:rect l="0" t="0" r="r" b="b"/>
              <a:pathLst>
                <a:path w="24" h="12">
                  <a:moveTo>
                    <a:pt x="24" y="6"/>
                  </a:moveTo>
                  <a:lnTo>
                    <a:pt x="6" y="12"/>
                  </a:lnTo>
                  <a:lnTo>
                    <a:pt x="0" y="4"/>
                  </a:lnTo>
                  <a:lnTo>
                    <a:pt x="6" y="0"/>
                  </a:lnTo>
                  <a:lnTo>
                    <a:pt x="2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4" name="Freeform 363"/>
            <p:cNvSpPr>
              <a:spLocks/>
            </p:cNvSpPr>
            <p:nvPr/>
          </p:nvSpPr>
          <p:spPr bwMode="auto">
            <a:xfrm>
              <a:off x="280" y="1323"/>
              <a:ext cx="40" cy="9"/>
            </a:xfrm>
            <a:custGeom>
              <a:avLst/>
              <a:gdLst/>
              <a:ahLst/>
              <a:cxnLst>
                <a:cxn ang="0">
                  <a:pos x="33" y="6"/>
                </a:cxn>
                <a:cxn ang="0">
                  <a:pos x="0" y="8"/>
                </a:cxn>
                <a:cxn ang="0">
                  <a:pos x="18" y="0"/>
                </a:cxn>
                <a:cxn ang="0">
                  <a:pos x="35" y="3"/>
                </a:cxn>
                <a:cxn ang="0">
                  <a:pos x="33" y="6"/>
                </a:cxn>
              </a:cxnLst>
              <a:rect l="0" t="0" r="r" b="b"/>
              <a:pathLst>
                <a:path w="35" h="8">
                  <a:moveTo>
                    <a:pt x="33" y="6"/>
                  </a:moveTo>
                  <a:lnTo>
                    <a:pt x="0" y="8"/>
                  </a:lnTo>
                  <a:lnTo>
                    <a:pt x="18" y="0"/>
                  </a:lnTo>
                  <a:lnTo>
                    <a:pt x="35" y="3"/>
                  </a:lnTo>
                  <a:lnTo>
                    <a:pt x="33"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5" name="Freeform 364"/>
            <p:cNvSpPr>
              <a:spLocks/>
            </p:cNvSpPr>
            <p:nvPr/>
          </p:nvSpPr>
          <p:spPr bwMode="auto">
            <a:xfrm>
              <a:off x="3042" y="1183"/>
              <a:ext cx="49" cy="9"/>
            </a:xfrm>
            <a:custGeom>
              <a:avLst/>
              <a:gdLst/>
              <a:ahLst/>
              <a:cxnLst>
                <a:cxn ang="0">
                  <a:pos x="43" y="1"/>
                </a:cxn>
                <a:cxn ang="0">
                  <a:pos x="17" y="5"/>
                </a:cxn>
                <a:cxn ang="0">
                  <a:pos x="8" y="7"/>
                </a:cxn>
                <a:cxn ang="0">
                  <a:pos x="0" y="7"/>
                </a:cxn>
                <a:cxn ang="0">
                  <a:pos x="8" y="5"/>
                </a:cxn>
                <a:cxn ang="0">
                  <a:pos x="24" y="1"/>
                </a:cxn>
                <a:cxn ang="0">
                  <a:pos x="36" y="0"/>
                </a:cxn>
                <a:cxn ang="0">
                  <a:pos x="43" y="1"/>
                </a:cxn>
              </a:cxnLst>
              <a:rect l="0" t="0" r="r" b="b"/>
              <a:pathLst>
                <a:path w="43" h="7">
                  <a:moveTo>
                    <a:pt x="43" y="1"/>
                  </a:moveTo>
                  <a:lnTo>
                    <a:pt x="17" y="5"/>
                  </a:lnTo>
                  <a:lnTo>
                    <a:pt x="8" y="7"/>
                  </a:lnTo>
                  <a:lnTo>
                    <a:pt x="0" y="7"/>
                  </a:lnTo>
                  <a:lnTo>
                    <a:pt x="8" y="5"/>
                  </a:lnTo>
                  <a:lnTo>
                    <a:pt x="24" y="1"/>
                  </a:lnTo>
                  <a:lnTo>
                    <a:pt x="36" y="0"/>
                  </a:lnTo>
                  <a:lnTo>
                    <a:pt x="4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6" name="Freeform 365"/>
            <p:cNvSpPr>
              <a:spLocks/>
            </p:cNvSpPr>
            <p:nvPr/>
          </p:nvSpPr>
          <p:spPr bwMode="auto">
            <a:xfrm>
              <a:off x="4860" y="1801"/>
              <a:ext cx="15" cy="20"/>
            </a:xfrm>
            <a:custGeom>
              <a:avLst/>
              <a:gdLst/>
              <a:ahLst/>
              <a:cxnLst>
                <a:cxn ang="0">
                  <a:pos x="15" y="0"/>
                </a:cxn>
                <a:cxn ang="0">
                  <a:pos x="3" y="5"/>
                </a:cxn>
                <a:cxn ang="0">
                  <a:pos x="0" y="18"/>
                </a:cxn>
                <a:cxn ang="0">
                  <a:pos x="6" y="11"/>
                </a:cxn>
                <a:cxn ang="0">
                  <a:pos x="12" y="3"/>
                </a:cxn>
                <a:cxn ang="0">
                  <a:pos x="15" y="0"/>
                </a:cxn>
              </a:cxnLst>
              <a:rect l="0" t="0" r="r" b="b"/>
              <a:pathLst>
                <a:path w="15" h="18">
                  <a:moveTo>
                    <a:pt x="15" y="0"/>
                  </a:moveTo>
                  <a:lnTo>
                    <a:pt x="3" y="5"/>
                  </a:lnTo>
                  <a:lnTo>
                    <a:pt x="0" y="18"/>
                  </a:lnTo>
                  <a:lnTo>
                    <a:pt x="6" y="11"/>
                  </a:lnTo>
                  <a:lnTo>
                    <a:pt x="12" y="3"/>
                  </a:lnTo>
                  <a:lnTo>
                    <a:pt x="1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7" name="Freeform 366"/>
            <p:cNvSpPr>
              <a:spLocks/>
            </p:cNvSpPr>
            <p:nvPr/>
          </p:nvSpPr>
          <p:spPr bwMode="auto">
            <a:xfrm>
              <a:off x="4762" y="1323"/>
              <a:ext cx="20" cy="11"/>
            </a:xfrm>
            <a:custGeom>
              <a:avLst/>
              <a:gdLst/>
              <a:ahLst/>
              <a:cxnLst>
                <a:cxn ang="0">
                  <a:pos x="3" y="0"/>
                </a:cxn>
                <a:cxn ang="0">
                  <a:pos x="0" y="6"/>
                </a:cxn>
                <a:cxn ang="0">
                  <a:pos x="9" y="10"/>
                </a:cxn>
                <a:cxn ang="0">
                  <a:pos x="17" y="9"/>
                </a:cxn>
                <a:cxn ang="0">
                  <a:pos x="3" y="0"/>
                </a:cxn>
              </a:cxnLst>
              <a:rect l="0" t="0" r="r" b="b"/>
              <a:pathLst>
                <a:path w="17" h="10">
                  <a:moveTo>
                    <a:pt x="3" y="0"/>
                  </a:moveTo>
                  <a:lnTo>
                    <a:pt x="0" y="6"/>
                  </a:lnTo>
                  <a:lnTo>
                    <a:pt x="9" y="10"/>
                  </a:lnTo>
                  <a:lnTo>
                    <a:pt x="17" y="9"/>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8" name="Freeform 367"/>
            <p:cNvSpPr>
              <a:spLocks/>
            </p:cNvSpPr>
            <p:nvPr/>
          </p:nvSpPr>
          <p:spPr bwMode="auto">
            <a:xfrm>
              <a:off x="3269" y="1341"/>
              <a:ext cx="31" cy="9"/>
            </a:xfrm>
            <a:custGeom>
              <a:avLst/>
              <a:gdLst/>
              <a:ahLst/>
              <a:cxnLst>
                <a:cxn ang="0">
                  <a:pos x="28" y="9"/>
                </a:cxn>
                <a:cxn ang="0">
                  <a:pos x="3" y="0"/>
                </a:cxn>
                <a:cxn ang="0">
                  <a:pos x="0" y="3"/>
                </a:cxn>
                <a:cxn ang="0">
                  <a:pos x="18" y="9"/>
                </a:cxn>
                <a:cxn ang="0">
                  <a:pos x="28" y="9"/>
                </a:cxn>
              </a:cxnLst>
              <a:rect l="0" t="0" r="r" b="b"/>
              <a:pathLst>
                <a:path w="28" h="9">
                  <a:moveTo>
                    <a:pt x="28" y="9"/>
                  </a:moveTo>
                  <a:lnTo>
                    <a:pt x="3" y="0"/>
                  </a:lnTo>
                  <a:lnTo>
                    <a:pt x="0" y="3"/>
                  </a:lnTo>
                  <a:lnTo>
                    <a:pt x="18" y="9"/>
                  </a:lnTo>
                  <a:lnTo>
                    <a:pt x="28"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9" name="Freeform 368"/>
            <p:cNvSpPr>
              <a:spLocks/>
            </p:cNvSpPr>
            <p:nvPr/>
          </p:nvSpPr>
          <p:spPr bwMode="auto">
            <a:xfrm>
              <a:off x="2847" y="1550"/>
              <a:ext cx="17" cy="9"/>
            </a:xfrm>
            <a:custGeom>
              <a:avLst/>
              <a:gdLst/>
              <a:ahLst/>
              <a:cxnLst>
                <a:cxn ang="0">
                  <a:pos x="16" y="1"/>
                </a:cxn>
                <a:cxn ang="0">
                  <a:pos x="2" y="7"/>
                </a:cxn>
                <a:cxn ang="0">
                  <a:pos x="0" y="1"/>
                </a:cxn>
                <a:cxn ang="0">
                  <a:pos x="14" y="0"/>
                </a:cxn>
                <a:cxn ang="0">
                  <a:pos x="16" y="1"/>
                </a:cxn>
              </a:cxnLst>
              <a:rect l="0" t="0" r="r" b="b"/>
              <a:pathLst>
                <a:path w="16" h="7">
                  <a:moveTo>
                    <a:pt x="16" y="1"/>
                  </a:moveTo>
                  <a:lnTo>
                    <a:pt x="2" y="7"/>
                  </a:lnTo>
                  <a:lnTo>
                    <a:pt x="0" y="1"/>
                  </a:lnTo>
                  <a:lnTo>
                    <a:pt x="14" y="0"/>
                  </a:lnTo>
                  <a:lnTo>
                    <a:pt x="1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0" name="Freeform 369"/>
            <p:cNvSpPr>
              <a:spLocks/>
            </p:cNvSpPr>
            <p:nvPr/>
          </p:nvSpPr>
          <p:spPr bwMode="auto">
            <a:xfrm>
              <a:off x="4860" y="1536"/>
              <a:ext cx="11" cy="14"/>
            </a:xfrm>
            <a:custGeom>
              <a:avLst/>
              <a:gdLst/>
              <a:ahLst/>
              <a:cxnLst>
                <a:cxn ang="0">
                  <a:pos x="11" y="3"/>
                </a:cxn>
                <a:cxn ang="0">
                  <a:pos x="5" y="11"/>
                </a:cxn>
                <a:cxn ang="0">
                  <a:pos x="0" y="5"/>
                </a:cxn>
                <a:cxn ang="0">
                  <a:pos x="5" y="0"/>
                </a:cxn>
                <a:cxn ang="0">
                  <a:pos x="11" y="3"/>
                </a:cxn>
              </a:cxnLst>
              <a:rect l="0" t="0" r="r" b="b"/>
              <a:pathLst>
                <a:path w="11" h="11">
                  <a:moveTo>
                    <a:pt x="11" y="3"/>
                  </a:moveTo>
                  <a:lnTo>
                    <a:pt x="5" y="11"/>
                  </a:lnTo>
                  <a:lnTo>
                    <a:pt x="0" y="5"/>
                  </a:lnTo>
                  <a:lnTo>
                    <a:pt x="5" y="0"/>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1" name="Freeform 370"/>
            <p:cNvSpPr>
              <a:spLocks/>
            </p:cNvSpPr>
            <p:nvPr/>
          </p:nvSpPr>
          <p:spPr bwMode="auto">
            <a:xfrm>
              <a:off x="4660" y="1350"/>
              <a:ext cx="22" cy="4"/>
            </a:xfrm>
            <a:custGeom>
              <a:avLst/>
              <a:gdLst/>
              <a:ahLst/>
              <a:cxnLst>
                <a:cxn ang="0">
                  <a:pos x="21" y="1"/>
                </a:cxn>
                <a:cxn ang="0">
                  <a:pos x="18" y="3"/>
                </a:cxn>
                <a:cxn ang="0">
                  <a:pos x="0" y="0"/>
                </a:cxn>
                <a:cxn ang="0">
                  <a:pos x="18" y="0"/>
                </a:cxn>
                <a:cxn ang="0">
                  <a:pos x="21" y="1"/>
                </a:cxn>
              </a:cxnLst>
              <a:rect l="0" t="0" r="r" b="b"/>
              <a:pathLst>
                <a:path w="21" h="3">
                  <a:moveTo>
                    <a:pt x="21" y="1"/>
                  </a:moveTo>
                  <a:lnTo>
                    <a:pt x="18" y="3"/>
                  </a:lnTo>
                  <a:lnTo>
                    <a:pt x="0" y="0"/>
                  </a:lnTo>
                  <a:lnTo>
                    <a:pt x="18" y="0"/>
                  </a:lnTo>
                  <a:lnTo>
                    <a:pt x="2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2" name="Freeform 371"/>
            <p:cNvSpPr>
              <a:spLocks/>
            </p:cNvSpPr>
            <p:nvPr/>
          </p:nvSpPr>
          <p:spPr bwMode="auto">
            <a:xfrm>
              <a:off x="3382" y="1292"/>
              <a:ext cx="20" cy="4"/>
            </a:xfrm>
            <a:custGeom>
              <a:avLst/>
              <a:gdLst/>
              <a:ahLst/>
              <a:cxnLst>
                <a:cxn ang="0">
                  <a:pos x="19" y="4"/>
                </a:cxn>
                <a:cxn ang="0">
                  <a:pos x="0" y="5"/>
                </a:cxn>
                <a:cxn ang="0">
                  <a:pos x="2" y="0"/>
                </a:cxn>
                <a:cxn ang="0">
                  <a:pos x="10" y="2"/>
                </a:cxn>
                <a:cxn ang="0">
                  <a:pos x="19" y="4"/>
                </a:cxn>
              </a:cxnLst>
              <a:rect l="0" t="0" r="r" b="b"/>
              <a:pathLst>
                <a:path w="19" h="5">
                  <a:moveTo>
                    <a:pt x="19" y="4"/>
                  </a:moveTo>
                  <a:lnTo>
                    <a:pt x="0" y="5"/>
                  </a:lnTo>
                  <a:lnTo>
                    <a:pt x="2" y="0"/>
                  </a:lnTo>
                  <a:lnTo>
                    <a:pt x="10" y="2"/>
                  </a:lnTo>
                  <a:lnTo>
                    <a:pt x="19"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3" name="Freeform 372"/>
            <p:cNvSpPr>
              <a:spLocks/>
            </p:cNvSpPr>
            <p:nvPr/>
          </p:nvSpPr>
          <p:spPr bwMode="auto">
            <a:xfrm>
              <a:off x="3173" y="1183"/>
              <a:ext cx="34" cy="5"/>
            </a:xfrm>
            <a:custGeom>
              <a:avLst/>
              <a:gdLst/>
              <a:ahLst/>
              <a:cxnLst>
                <a:cxn ang="0">
                  <a:pos x="29" y="0"/>
                </a:cxn>
                <a:cxn ang="0">
                  <a:pos x="0" y="1"/>
                </a:cxn>
                <a:cxn ang="0">
                  <a:pos x="16" y="3"/>
                </a:cxn>
                <a:cxn ang="0">
                  <a:pos x="29" y="0"/>
                </a:cxn>
              </a:cxnLst>
              <a:rect l="0" t="0" r="r" b="b"/>
              <a:pathLst>
                <a:path w="29" h="3">
                  <a:moveTo>
                    <a:pt x="29" y="0"/>
                  </a:moveTo>
                  <a:lnTo>
                    <a:pt x="0" y="1"/>
                  </a:lnTo>
                  <a:lnTo>
                    <a:pt x="16" y="3"/>
                  </a:lnTo>
                  <a:lnTo>
                    <a:pt x="2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4" name="Freeform 373"/>
            <p:cNvSpPr>
              <a:spLocks/>
            </p:cNvSpPr>
            <p:nvPr/>
          </p:nvSpPr>
          <p:spPr bwMode="auto">
            <a:xfrm>
              <a:off x="3207" y="1181"/>
              <a:ext cx="31" cy="2"/>
            </a:xfrm>
            <a:custGeom>
              <a:avLst/>
              <a:gdLst/>
              <a:ahLst/>
              <a:cxnLst>
                <a:cxn ang="0">
                  <a:pos x="28" y="3"/>
                </a:cxn>
                <a:cxn ang="0">
                  <a:pos x="0" y="4"/>
                </a:cxn>
                <a:cxn ang="0">
                  <a:pos x="23" y="0"/>
                </a:cxn>
                <a:cxn ang="0">
                  <a:pos x="28" y="3"/>
                </a:cxn>
              </a:cxnLst>
              <a:rect l="0" t="0" r="r" b="b"/>
              <a:pathLst>
                <a:path w="28" h="4">
                  <a:moveTo>
                    <a:pt x="28" y="3"/>
                  </a:moveTo>
                  <a:lnTo>
                    <a:pt x="0" y="4"/>
                  </a:lnTo>
                  <a:lnTo>
                    <a:pt x="23" y="0"/>
                  </a:lnTo>
                  <a:lnTo>
                    <a:pt x="28"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5" name="Freeform 374"/>
            <p:cNvSpPr>
              <a:spLocks/>
            </p:cNvSpPr>
            <p:nvPr/>
          </p:nvSpPr>
          <p:spPr bwMode="auto">
            <a:xfrm>
              <a:off x="3867" y="1276"/>
              <a:ext cx="22" cy="5"/>
            </a:xfrm>
            <a:custGeom>
              <a:avLst/>
              <a:gdLst/>
              <a:ahLst/>
              <a:cxnLst>
                <a:cxn ang="0">
                  <a:pos x="19" y="0"/>
                </a:cxn>
                <a:cxn ang="0">
                  <a:pos x="0" y="1"/>
                </a:cxn>
                <a:cxn ang="0">
                  <a:pos x="21" y="3"/>
                </a:cxn>
                <a:cxn ang="0">
                  <a:pos x="19" y="0"/>
                </a:cxn>
              </a:cxnLst>
              <a:rect l="0" t="0" r="r" b="b"/>
              <a:pathLst>
                <a:path w="21" h="3">
                  <a:moveTo>
                    <a:pt x="19" y="0"/>
                  </a:moveTo>
                  <a:lnTo>
                    <a:pt x="0" y="1"/>
                  </a:lnTo>
                  <a:lnTo>
                    <a:pt x="21" y="3"/>
                  </a:lnTo>
                  <a:lnTo>
                    <a:pt x="1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6" name="Freeform 375"/>
            <p:cNvSpPr>
              <a:spLocks/>
            </p:cNvSpPr>
            <p:nvPr/>
          </p:nvSpPr>
          <p:spPr bwMode="auto">
            <a:xfrm>
              <a:off x="4904" y="1699"/>
              <a:ext cx="5" cy="11"/>
            </a:xfrm>
            <a:custGeom>
              <a:avLst/>
              <a:gdLst/>
              <a:ahLst/>
              <a:cxnLst>
                <a:cxn ang="0">
                  <a:pos x="5" y="1"/>
                </a:cxn>
                <a:cxn ang="0">
                  <a:pos x="1" y="11"/>
                </a:cxn>
                <a:cxn ang="0">
                  <a:pos x="0" y="0"/>
                </a:cxn>
                <a:cxn ang="0">
                  <a:pos x="5" y="1"/>
                </a:cxn>
              </a:cxnLst>
              <a:rect l="0" t="0" r="r" b="b"/>
              <a:pathLst>
                <a:path w="5" h="11">
                  <a:moveTo>
                    <a:pt x="5" y="1"/>
                  </a:moveTo>
                  <a:lnTo>
                    <a:pt x="1" y="11"/>
                  </a:lnTo>
                  <a:lnTo>
                    <a:pt x="0" y="0"/>
                  </a:lnTo>
                  <a:lnTo>
                    <a:pt x="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7" name="Freeform 376"/>
            <p:cNvSpPr>
              <a:spLocks/>
            </p:cNvSpPr>
            <p:nvPr/>
          </p:nvSpPr>
          <p:spPr bwMode="auto">
            <a:xfrm>
              <a:off x="4846" y="1821"/>
              <a:ext cx="7" cy="11"/>
            </a:xfrm>
            <a:custGeom>
              <a:avLst/>
              <a:gdLst/>
              <a:ahLst/>
              <a:cxnLst>
                <a:cxn ang="0">
                  <a:pos x="6" y="0"/>
                </a:cxn>
                <a:cxn ang="0">
                  <a:pos x="0" y="11"/>
                </a:cxn>
                <a:cxn ang="0">
                  <a:pos x="0" y="3"/>
                </a:cxn>
                <a:cxn ang="0">
                  <a:pos x="6" y="0"/>
                </a:cxn>
              </a:cxnLst>
              <a:rect l="0" t="0" r="r" b="b"/>
              <a:pathLst>
                <a:path w="6" h="11">
                  <a:moveTo>
                    <a:pt x="6" y="0"/>
                  </a:moveTo>
                  <a:lnTo>
                    <a:pt x="0" y="11"/>
                  </a:lnTo>
                  <a:lnTo>
                    <a:pt x="0" y="3"/>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8" name="Freeform 377"/>
            <p:cNvSpPr>
              <a:spLocks/>
            </p:cNvSpPr>
            <p:nvPr/>
          </p:nvSpPr>
          <p:spPr bwMode="auto">
            <a:xfrm>
              <a:off x="4213" y="1281"/>
              <a:ext cx="9" cy="4"/>
            </a:xfrm>
            <a:custGeom>
              <a:avLst/>
              <a:gdLst/>
              <a:ahLst/>
              <a:cxnLst>
                <a:cxn ang="0">
                  <a:pos x="10" y="0"/>
                </a:cxn>
                <a:cxn ang="0">
                  <a:pos x="0" y="0"/>
                </a:cxn>
                <a:cxn ang="0">
                  <a:pos x="10" y="5"/>
                </a:cxn>
                <a:cxn ang="0">
                  <a:pos x="10" y="0"/>
                </a:cxn>
              </a:cxnLst>
              <a:rect l="0" t="0" r="r" b="b"/>
              <a:pathLst>
                <a:path w="10" h="5">
                  <a:moveTo>
                    <a:pt x="10" y="0"/>
                  </a:moveTo>
                  <a:lnTo>
                    <a:pt x="0" y="0"/>
                  </a:lnTo>
                  <a:lnTo>
                    <a:pt x="10" y="5"/>
                  </a:lnTo>
                  <a:lnTo>
                    <a:pt x="1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9" name="Freeform 378"/>
            <p:cNvSpPr>
              <a:spLocks/>
            </p:cNvSpPr>
            <p:nvPr/>
          </p:nvSpPr>
          <p:spPr bwMode="auto">
            <a:xfrm>
              <a:off x="3029" y="1185"/>
              <a:ext cx="31" cy="3"/>
            </a:xfrm>
            <a:custGeom>
              <a:avLst/>
              <a:gdLst/>
              <a:ahLst/>
              <a:cxnLst>
                <a:cxn ang="0">
                  <a:pos x="27" y="0"/>
                </a:cxn>
                <a:cxn ang="0">
                  <a:pos x="0" y="1"/>
                </a:cxn>
                <a:cxn ang="0">
                  <a:pos x="6" y="0"/>
                </a:cxn>
                <a:cxn ang="0">
                  <a:pos x="27" y="0"/>
                </a:cxn>
              </a:cxnLst>
              <a:rect l="0" t="0" r="r" b="b"/>
              <a:pathLst>
                <a:path w="27" h="1">
                  <a:moveTo>
                    <a:pt x="27" y="0"/>
                  </a:moveTo>
                  <a:lnTo>
                    <a:pt x="0" y="1"/>
                  </a:lnTo>
                  <a:lnTo>
                    <a:pt x="6" y="0"/>
                  </a:lnTo>
                  <a:lnTo>
                    <a:pt x="27"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0" name="Freeform 379"/>
            <p:cNvSpPr>
              <a:spLocks/>
            </p:cNvSpPr>
            <p:nvPr/>
          </p:nvSpPr>
          <p:spPr bwMode="auto">
            <a:xfrm>
              <a:off x="3480" y="1308"/>
              <a:ext cx="13" cy="2"/>
            </a:xfrm>
            <a:custGeom>
              <a:avLst/>
              <a:gdLst/>
              <a:ahLst/>
              <a:cxnLst>
                <a:cxn ang="0">
                  <a:pos x="13" y="0"/>
                </a:cxn>
                <a:cxn ang="0">
                  <a:pos x="1" y="3"/>
                </a:cxn>
                <a:cxn ang="0">
                  <a:pos x="0" y="0"/>
                </a:cxn>
                <a:cxn ang="0">
                  <a:pos x="13" y="0"/>
                </a:cxn>
              </a:cxnLst>
              <a:rect l="0" t="0" r="r" b="b"/>
              <a:pathLst>
                <a:path w="13" h="3">
                  <a:moveTo>
                    <a:pt x="13" y="0"/>
                  </a:moveTo>
                  <a:lnTo>
                    <a:pt x="1" y="3"/>
                  </a:lnTo>
                  <a:lnTo>
                    <a:pt x="0" y="0"/>
                  </a:lnTo>
                  <a:lnTo>
                    <a:pt x="1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1" name="Freeform 380"/>
            <p:cNvSpPr>
              <a:spLocks/>
            </p:cNvSpPr>
            <p:nvPr/>
          </p:nvSpPr>
          <p:spPr bwMode="auto">
            <a:xfrm>
              <a:off x="3156" y="1190"/>
              <a:ext cx="22" cy="2"/>
            </a:xfrm>
            <a:custGeom>
              <a:avLst/>
              <a:gdLst/>
              <a:ahLst/>
              <a:cxnLst>
                <a:cxn ang="0">
                  <a:pos x="20" y="0"/>
                </a:cxn>
                <a:cxn ang="0">
                  <a:pos x="0" y="0"/>
                </a:cxn>
                <a:cxn ang="0">
                  <a:pos x="9" y="2"/>
                </a:cxn>
                <a:cxn ang="0">
                  <a:pos x="20" y="0"/>
                </a:cxn>
              </a:cxnLst>
              <a:rect l="0" t="0" r="r" b="b"/>
              <a:pathLst>
                <a:path w="20" h="2">
                  <a:moveTo>
                    <a:pt x="20" y="0"/>
                  </a:moveTo>
                  <a:lnTo>
                    <a:pt x="0" y="0"/>
                  </a:lnTo>
                  <a:lnTo>
                    <a:pt x="9" y="2"/>
                  </a:lnTo>
                  <a:lnTo>
                    <a:pt x="2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2" name="Freeform 381"/>
            <p:cNvSpPr>
              <a:spLocks/>
            </p:cNvSpPr>
            <p:nvPr/>
          </p:nvSpPr>
          <p:spPr bwMode="auto">
            <a:xfrm>
              <a:off x="4966" y="1610"/>
              <a:ext cx="25" cy="13"/>
            </a:xfrm>
            <a:custGeom>
              <a:avLst/>
              <a:gdLst/>
              <a:ahLst/>
              <a:cxnLst>
                <a:cxn ang="0">
                  <a:pos x="23" y="12"/>
                </a:cxn>
                <a:cxn ang="0">
                  <a:pos x="0" y="0"/>
                </a:cxn>
                <a:cxn ang="0">
                  <a:pos x="19" y="8"/>
                </a:cxn>
                <a:cxn ang="0">
                  <a:pos x="23" y="12"/>
                </a:cxn>
              </a:cxnLst>
              <a:rect l="0" t="0" r="r" b="b"/>
              <a:pathLst>
                <a:path w="23" h="12">
                  <a:moveTo>
                    <a:pt x="23" y="12"/>
                  </a:moveTo>
                  <a:lnTo>
                    <a:pt x="0" y="0"/>
                  </a:lnTo>
                  <a:lnTo>
                    <a:pt x="19" y="8"/>
                  </a:lnTo>
                  <a:lnTo>
                    <a:pt x="23"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3" name="Freeform 382"/>
            <p:cNvSpPr>
              <a:spLocks/>
            </p:cNvSpPr>
            <p:nvPr/>
          </p:nvSpPr>
          <p:spPr bwMode="auto">
            <a:xfrm>
              <a:off x="4120" y="1254"/>
              <a:ext cx="13" cy="7"/>
            </a:xfrm>
            <a:custGeom>
              <a:avLst/>
              <a:gdLst/>
              <a:ahLst/>
              <a:cxnLst>
                <a:cxn ang="0">
                  <a:pos x="11" y="4"/>
                </a:cxn>
                <a:cxn ang="0">
                  <a:pos x="0" y="0"/>
                </a:cxn>
                <a:cxn ang="0">
                  <a:pos x="12" y="6"/>
                </a:cxn>
                <a:cxn ang="0">
                  <a:pos x="11" y="4"/>
                </a:cxn>
              </a:cxnLst>
              <a:rect l="0" t="0" r="r" b="b"/>
              <a:pathLst>
                <a:path w="12" h="6">
                  <a:moveTo>
                    <a:pt x="11" y="4"/>
                  </a:moveTo>
                  <a:lnTo>
                    <a:pt x="0" y="0"/>
                  </a:lnTo>
                  <a:lnTo>
                    <a:pt x="12" y="6"/>
                  </a:lnTo>
                  <a:lnTo>
                    <a:pt x="1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4" name="Freeform 383"/>
            <p:cNvSpPr>
              <a:spLocks/>
            </p:cNvSpPr>
            <p:nvPr/>
          </p:nvSpPr>
          <p:spPr bwMode="auto">
            <a:xfrm>
              <a:off x="2847" y="1543"/>
              <a:ext cx="13" cy="2"/>
            </a:xfrm>
            <a:custGeom>
              <a:avLst/>
              <a:gdLst/>
              <a:ahLst/>
              <a:cxnLst>
                <a:cxn ang="0">
                  <a:pos x="11" y="1"/>
                </a:cxn>
                <a:cxn ang="0">
                  <a:pos x="0" y="1"/>
                </a:cxn>
                <a:cxn ang="0">
                  <a:pos x="4" y="0"/>
                </a:cxn>
                <a:cxn ang="0">
                  <a:pos x="11" y="1"/>
                </a:cxn>
              </a:cxnLst>
              <a:rect l="0" t="0" r="r" b="b"/>
              <a:pathLst>
                <a:path w="11" h="1">
                  <a:moveTo>
                    <a:pt x="11" y="1"/>
                  </a:moveTo>
                  <a:lnTo>
                    <a:pt x="0" y="1"/>
                  </a:lnTo>
                  <a:lnTo>
                    <a:pt x="4" y="0"/>
                  </a:lnTo>
                  <a:lnTo>
                    <a:pt x="1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5" name="Rectangle 384"/>
            <p:cNvSpPr>
              <a:spLocks noChangeArrowheads="1"/>
            </p:cNvSpPr>
            <p:nvPr/>
          </p:nvSpPr>
          <p:spPr bwMode="auto">
            <a:xfrm>
              <a:off x="2729" y="1830"/>
              <a:ext cx="0" cy="0"/>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386" name="Freeform 385"/>
            <p:cNvSpPr>
              <a:spLocks/>
            </p:cNvSpPr>
            <p:nvPr/>
          </p:nvSpPr>
          <p:spPr bwMode="auto">
            <a:xfrm>
              <a:off x="2787" y="1721"/>
              <a:ext cx="91" cy="33"/>
            </a:xfrm>
            <a:custGeom>
              <a:avLst/>
              <a:gdLst/>
              <a:ahLst/>
              <a:cxnLst>
                <a:cxn ang="0">
                  <a:pos x="30" y="0"/>
                </a:cxn>
                <a:cxn ang="0">
                  <a:pos x="30" y="1"/>
                </a:cxn>
                <a:cxn ang="0">
                  <a:pos x="26" y="5"/>
                </a:cxn>
                <a:cxn ang="0">
                  <a:pos x="22" y="7"/>
                </a:cxn>
                <a:cxn ang="0">
                  <a:pos x="22" y="9"/>
                </a:cxn>
                <a:cxn ang="0">
                  <a:pos x="17" y="13"/>
                </a:cxn>
                <a:cxn ang="0">
                  <a:pos x="10" y="15"/>
                </a:cxn>
                <a:cxn ang="0">
                  <a:pos x="5" y="15"/>
                </a:cxn>
                <a:cxn ang="0">
                  <a:pos x="0" y="15"/>
                </a:cxn>
                <a:cxn ang="0">
                  <a:pos x="10" y="28"/>
                </a:cxn>
                <a:cxn ang="0">
                  <a:pos x="14" y="29"/>
                </a:cxn>
                <a:cxn ang="0">
                  <a:pos x="32" y="30"/>
                </a:cxn>
                <a:cxn ang="0">
                  <a:pos x="54" y="19"/>
                </a:cxn>
                <a:cxn ang="0">
                  <a:pos x="78" y="21"/>
                </a:cxn>
                <a:cxn ang="0">
                  <a:pos x="82" y="9"/>
                </a:cxn>
                <a:cxn ang="0">
                  <a:pos x="60" y="4"/>
                </a:cxn>
                <a:cxn ang="0">
                  <a:pos x="48" y="5"/>
                </a:cxn>
                <a:cxn ang="0">
                  <a:pos x="46" y="1"/>
                </a:cxn>
                <a:cxn ang="0">
                  <a:pos x="30" y="0"/>
                </a:cxn>
              </a:cxnLst>
              <a:rect l="0" t="0" r="r" b="b"/>
              <a:pathLst>
                <a:path w="82" h="30">
                  <a:moveTo>
                    <a:pt x="30" y="0"/>
                  </a:moveTo>
                  <a:lnTo>
                    <a:pt x="30" y="1"/>
                  </a:lnTo>
                  <a:lnTo>
                    <a:pt x="26" y="5"/>
                  </a:lnTo>
                  <a:lnTo>
                    <a:pt x="22" y="7"/>
                  </a:lnTo>
                  <a:lnTo>
                    <a:pt x="22" y="9"/>
                  </a:lnTo>
                  <a:lnTo>
                    <a:pt x="17" y="13"/>
                  </a:lnTo>
                  <a:lnTo>
                    <a:pt x="10" y="15"/>
                  </a:lnTo>
                  <a:lnTo>
                    <a:pt x="5" y="15"/>
                  </a:lnTo>
                  <a:lnTo>
                    <a:pt x="0" y="15"/>
                  </a:lnTo>
                  <a:lnTo>
                    <a:pt x="10" y="28"/>
                  </a:lnTo>
                  <a:lnTo>
                    <a:pt x="14" y="29"/>
                  </a:lnTo>
                  <a:lnTo>
                    <a:pt x="32" y="30"/>
                  </a:lnTo>
                  <a:lnTo>
                    <a:pt x="54" y="19"/>
                  </a:lnTo>
                  <a:lnTo>
                    <a:pt x="78" y="21"/>
                  </a:lnTo>
                  <a:lnTo>
                    <a:pt x="82" y="9"/>
                  </a:lnTo>
                  <a:lnTo>
                    <a:pt x="60" y="4"/>
                  </a:lnTo>
                  <a:lnTo>
                    <a:pt x="48" y="5"/>
                  </a:lnTo>
                  <a:lnTo>
                    <a:pt x="46" y="1"/>
                  </a:lnTo>
                  <a:lnTo>
                    <a:pt x="3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7" name="Freeform 386"/>
            <p:cNvSpPr>
              <a:spLocks/>
            </p:cNvSpPr>
            <p:nvPr/>
          </p:nvSpPr>
          <p:spPr bwMode="auto">
            <a:xfrm>
              <a:off x="2742" y="1772"/>
              <a:ext cx="47" cy="29"/>
            </a:xfrm>
            <a:custGeom>
              <a:avLst/>
              <a:gdLst/>
              <a:ahLst/>
              <a:cxnLst>
                <a:cxn ang="0">
                  <a:pos x="7" y="25"/>
                </a:cxn>
                <a:cxn ang="0">
                  <a:pos x="13" y="25"/>
                </a:cxn>
                <a:cxn ang="0">
                  <a:pos x="15" y="22"/>
                </a:cxn>
                <a:cxn ang="0">
                  <a:pos x="18" y="24"/>
                </a:cxn>
                <a:cxn ang="0">
                  <a:pos x="19" y="23"/>
                </a:cxn>
                <a:cxn ang="0">
                  <a:pos x="23" y="25"/>
                </a:cxn>
                <a:cxn ang="0">
                  <a:pos x="26" y="25"/>
                </a:cxn>
                <a:cxn ang="0">
                  <a:pos x="25" y="22"/>
                </a:cxn>
                <a:cxn ang="0">
                  <a:pos x="25" y="20"/>
                </a:cxn>
                <a:cxn ang="0">
                  <a:pos x="30" y="18"/>
                </a:cxn>
                <a:cxn ang="0">
                  <a:pos x="32" y="18"/>
                </a:cxn>
                <a:cxn ang="0">
                  <a:pos x="30" y="16"/>
                </a:cxn>
                <a:cxn ang="0">
                  <a:pos x="30" y="14"/>
                </a:cxn>
                <a:cxn ang="0">
                  <a:pos x="29" y="11"/>
                </a:cxn>
                <a:cxn ang="0">
                  <a:pos x="33" y="10"/>
                </a:cxn>
                <a:cxn ang="0">
                  <a:pos x="35" y="8"/>
                </a:cxn>
                <a:cxn ang="0">
                  <a:pos x="39" y="8"/>
                </a:cxn>
                <a:cxn ang="0">
                  <a:pos x="39" y="7"/>
                </a:cxn>
                <a:cxn ang="0">
                  <a:pos x="41" y="6"/>
                </a:cxn>
                <a:cxn ang="0">
                  <a:pos x="42" y="5"/>
                </a:cxn>
                <a:cxn ang="0">
                  <a:pos x="37" y="2"/>
                </a:cxn>
                <a:cxn ang="0">
                  <a:pos x="36" y="0"/>
                </a:cxn>
                <a:cxn ang="0">
                  <a:pos x="8" y="7"/>
                </a:cxn>
                <a:cxn ang="0">
                  <a:pos x="2" y="6"/>
                </a:cxn>
                <a:cxn ang="0">
                  <a:pos x="0" y="12"/>
                </a:cxn>
                <a:cxn ang="0">
                  <a:pos x="3" y="23"/>
                </a:cxn>
                <a:cxn ang="0">
                  <a:pos x="7" y="25"/>
                </a:cxn>
              </a:cxnLst>
              <a:rect l="0" t="0" r="r" b="b"/>
              <a:pathLst>
                <a:path w="42" h="25">
                  <a:moveTo>
                    <a:pt x="7" y="25"/>
                  </a:moveTo>
                  <a:lnTo>
                    <a:pt x="13" y="25"/>
                  </a:lnTo>
                  <a:lnTo>
                    <a:pt x="15" y="22"/>
                  </a:lnTo>
                  <a:lnTo>
                    <a:pt x="18" y="24"/>
                  </a:lnTo>
                  <a:lnTo>
                    <a:pt x="19" y="23"/>
                  </a:lnTo>
                  <a:lnTo>
                    <a:pt x="23" y="25"/>
                  </a:lnTo>
                  <a:lnTo>
                    <a:pt x="26" y="25"/>
                  </a:lnTo>
                  <a:lnTo>
                    <a:pt x="25" y="22"/>
                  </a:lnTo>
                  <a:lnTo>
                    <a:pt x="25" y="20"/>
                  </a:lnTo>
                  <a:lnTo>
                    <a:pt x="30" y="18"/>
                  </a:lnTo>
                  <a:lnTo>
                    <a:pt x="32" y="18"/>
                  </a:lnTo>
                  <a:lnTo>
                    <a:pt x="30" y="16"/>
                  </a:lnTo>
                  <a:lnTo>
                    <a:pt x="30" y="14"/>
                  </a:lnTo>
                  <a:lnTo>
                    <a:pt x="29" y="11"/>
                  </a:lnTo>
                  <a:lnTo>
                    <a:pt x="33" y="10"/>
                  </a:lnTo>
                  <a:lnTo>
                    <a:pt x="35" y="8"/>
                  </a:lnTo>
                  <a:lnTo>
                    <a:pt x="39" y="8"/>
                  </a:lnTo>
                  <a:lnTo>
                    <a:pt x="39" y="7"/>
                  </a:lnTo>
                  <a:lnTo>
                    <a:pt x="41" y="6"/>
                  </a:lnTo>
                  <a:lnTo>
                    <a:pt x="42" y="5"/>
                  </a:lnTo>
                  <a:lnTo>
                    <a:pt x="37" y="2"/>
                  </a:lnTo>
                  <a:lnTo>
                    <a:pt x="36" y="0"/>
                  </a:lnTo>
                  <a:lnTo>
                    <a:pt x="8" y="7"/>
                  </a:lnTo>
                  <a:lnTo>
                    <a:pt x="2" y="6"/>
                  </a:lnTo>
                  <a:lnTo>
                    <a:pt x="0" y="12"/>
                  </a:lnTo>
                  <a:lnTo>
                    <a:pt x="3" y="23"/>
                  </a:lnTo>
                  <a:lnTo>
                    <a:pt x="7" y="2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8" name="Freeform 387"/>
            <p:cNvSpPr>
              <a:spLocks/>
            </p:cNvSpPr>
            <p:nvPr/>
          </p:nvSpPr>
          <p:spPr bwMode="auto">
            <a:xfrm>
              <a:off x="2691" y="1363"/>
              <a:ext cx="162" cy="247"/>
            </a:xfrm>
            <a:custGeom>
              <a:avLst/>
              <a:gdLst/>
              <a:ahLst/>
              <a:cxnLst>
                <a:cxn ang="0">
                  <a:pos x="101" y="85"/>
                </a:cxn>
                <a:cxn ang="0">
                  <a:pos x="84" y="95"/>
                </a:cxn>
                <a:cxn ang="0">
                  <a:pos x="74" y="103"/>
                </a:cxn>
                <a:cxn ang="0">
                  <a:pos x="71" y="115"/>
                </a:cxn>
                <a:cxn ang="0">
                  <a:pos x="90" y="139"/>
                </a:cxn>
                <a:cxn ang="0">
                  <a:pos x="83" y="153"/>
                </a:cxn>
                <a:cxn ang="0">
                  <a:pos x="79" y="151"/>
                </a:cxn>
                <a:cxn ang="0">
                  <a:pos x="91" y="155"/>
                </a:cxn>
                <a:cxn ang="0">
                  <a:pos x="82" y="158"/>
                </a:cxn>
                <a:cxn ang="0">
                  <a:pos x="67" y="165"/>
                </a:cxn>
                <a:cxn ang="0">
                  <a:pos x="71" y="170"/>
                </a:cxn>
                <a:cxn ang="0">
                  <a:pos x="72" y="181"/>
                </a:cxn>
                <a:cxn ang="0">
                  <a:pos x="68" y="193"/>
                </a:cxn>
                <a:cxn ang="0">
                  <a:pos x="44" y="211"/>
                </a:cxn>
                <a:cxn ang="0">
                  <a:pos x="28" y="219"/>
                </a:cxn>
                <a:cxn ang="0">
                  <a:pos x="20" y="195"/>
                </a:cxn>
                <a:cxn ang="0">
                  <a:pos x="8" y="173"/>
                </a:cxn>
                <a:cxn ang="0">
                  <a:pos x="4" y="171"/>
                </a:cxn>
                <a:cxn ang="0">
                  <a:pos x="2" y="161"/>
                </a:cxn>
                <a:cxn ang="0">
                  <a:pos x="12" y="131"/>
                </a:cxn>
                <a:cxn ang="0">
                  <a:pos x="17" y="121"/>
                </a:cxn>
                <a:cxn ang="0">
                  <a:pos x="7" y="99"/>
                </a:cxn>
                <a:cxn ang="0">
                  <a:pos x="17" y="77"/>
                </a:cxn>
                <a:cxn ang="0">
                  <a:pos x="22" y="69"/>
                </a:cxn>
                <a:cxn ang="0">
                  <a:pos x="29" y="45"/>
                </a:cxn>
                <a:cxn ang="0">
                  <a:pos x="46" y="33"/>
                </a:cxn>
                <a:cxn ang="0">
                  <a:pos x="67" y="13"/>
                </a:cxn>
                <a:cxn ang="0">
                  <a:pos x="89" y="8"/>
                </a:cxn>
                <a:cxn ang="0">
                  <a:pos x="94" y="0"/>
                </a:cxn>
                <a:cxn ang="0">
                  <a:pos x="139" y="35"/>
                </a:cxn>
                <a:cxn ang="0">
                  <a:pos x="128" y="49"/>
                </a:cxn>
                <a:cxn ang="0">
                  <a:pos x="122" y="54"/>
                </a:cxn>
                <a:cxn ang="0">
                  <a:pos x="114" y="57"/>
                </a:cxn>
                <a:cxn ang="0">
                  <a:pos x="115" y="73"/>
                </a:cxn>
              </a:cxnLst>
              <a:rect l="0" t="0" r="r" b="b"/>
              <a:pathLst>
                <a:path w="145" h="221">
                  <a:moveTo>
                    <a:pt x="115" y="73"/>
                  </a:moveTo>
                  <a:lnTo>
                    <a:pt x="101" y="85"/>
                  </a:lnTo>
                  <a:lnTo>
                    <a:pt x="90" y="91"/>
                  </a:lnTo>
                  <a:lnTo>
                    <a:pt x="84" y="95"/>
                  </a:lnTo>
                  <a:lnTo>
                    <a:pt x="77" y="96"/>
                  </a:lnTo>
                  <a:lnTo>
                    <a:pt x="74" y="103"/>
                  </a:lnTo>
                  <a:lnTo>
                    <a:pt x="72" y="105"/>
                  </a:lnTo>
                  <a:lnTo>
                    <a:pt x="71" y="115"/>
                  </a:lnTo>
                  <a:lnTo>
                    <a:pt x="76" y="133"/>
                  </a:lnTo>
                  <a:lnTo>
                    <a:pt x="90" y="139"/>
                  </a:lnTo>
                  <a:lnTo>
                    <a:pt x="96" y="146"/>
                  </a:lnTo>
                  <a:lnTo>
                    <a:pt x="83" y="153"/>
                  </a:lnTo>
                  <a:lnTo>
                    <a:pt x="78" y="149"/>
                  </a:lnTo>
                  <a:lnTo>
                    <a:pt x="79" y="151"/>
                  </a:lnTo>
                  <a:lnTo>
                    <a:pt x="62" y="152"/>
                  </a:lnTo>
                  <a:lnTo>
                    <a:pt x="91" y="155"/>
                  </a:lnTo>
                  <a:lnTo>
                    <a:pt x="83" y="161"/>
                  </a:lnTo>
                  <a:lnTo>
                    <a:pt x="82" y="158"/>
                  </a:lnTo>
                  <a:lnTo>
                    <a:pt x="73" y="167"/>
                  </a:lnTo>
                  <a:lnTo>
                    <a:pt x="67" y="165"/>
                  </a:lnTo>
                  <a:lnTo>
                    <a:pt x="72" y="169"/>
                  </a:lnTo>
                  <a:lnTo>
                    <a:pt x="71" y="170"/>
                  </a:lnTo>
                  <a:lnTo>
                    <a:pt x="70" y="176"/>
                  </a:lnTo>
                  <a:lnTo>
                    <a:pt x="72" y="181"/>
                  </a:lnTo>
                  <a:lnTo>
                    <a:pt x="71" y="180"/>
                  </a:lnTo>
                  <a:lnTo>
                    <a:pt x="68" y="193"/>
                  </a:lnTo>
                  <a:lnTo>
                    <a:pt x="66" y="206"/>
                  </a:lnTo>
                  <a:lnTo>
                    <a:pt x="44" y="211"/>
                  </a:lnTo>
                  <a:lnTo>
                    <a:pt x="42" y="221"/>
                  </a:lnTo>
                  <a:lnTo>
                    <a:pt x="28" y="219"/>
                  </a:lnTo>
                  <a:lnTo>
                    <a:pt x="23" y="206"/>
                  </a:lnTo>
                  <a:lnTo>
                    <a:pt x="20" y="195"/>
                  </a:lnTo>
                  <a:lnTo>
                    <a:pt x="7" y="177"/>
                  </a:lnTo>
                  <a:lnTo>
                    <a:pt x="8" y="173"/>
                  </a:lnTo>
                  <a:lnTo>
                    <a:pt x="5" y="171"/>
                  </a:lnTo>
                  <a:lnTo>
                    <a:pt x="4" y="171"/>
                  </a:lnTo>
                  <a:lnTo>
                    <a:pt x="0" y="162"/>
                  </a:lnTo>
                  <a:lnTo>
                    <a:pt x="2" y="161"/>
                  </a:lnTo>
                  <a:lnTo>
                    <a:pt x="10" y="145"/>
                  </a:lnTo>
                  <a:lnTo>
                    <a:pt x="12" y="131"/>
                  </a:lnTo>
                  <a:lnTo>
                    <a:pt x="12" y="126"/>
                  </a:lnTo>
                  <a:lnTo>
                    <a:pt x="17" y="121"/>
                  </a:lnTo>
                  <a:lnTo>
                    <a:pt x="7" y="115"/>
                  </a:lnTo>
                  <a:lnTo>
                    <a:pt x="7" y="99"/>
                  </a:lnTo>
                  <a:lnTo>
                    <a:pt x="6" y="84"/>
                  </a:lnTo>
                  <a:lnTo>
                    <a:pt x="17" y="77"/>
                  </a:lnTo>
                  <a:lnTo>
                    <a:pt x="28" y="75"/>
                  </a:lnTo>
                  <a:lnTo>
                    <a:pt x="22" y="69"/>
                  </a:lnTo>
                  <a:lnTo>
                    <a:pt x="31" y="49"/>
                  </a:lnTo>
                  <a:lnTo>
                    <a:pt x="29" y="45"/>
                  </a:lnTo>
                  <a:lnTo>
                    <a:pt x="40" y="43"/>
                  </a:lnTo>
                  <a:lnTo>
                    <a:pt x="46" y="33"/>
                  </a:lnTo>
                  <a:lnTo>
                    <a:pt x="52" y="18"/>
                  </a:lnTo>
                  <a:lnTo>
                    <a:pt x="67" y="13"/>
                  </a:lnTo>
                  <a:lnTo>
                    <a:pt x="68" y="8"/>
                  </a:lnTo>
                  <a:lnTo>
                    <a:pt x="89" y="8"/>
                  </a:lnTo>
                  <a:lnTo>
                    <a:pt x="88" y="0"/>
                  </a:lnTo>
                  <a:lnTo>
                    <a:pt x="94" y="0"/>
                  </a:lnTo>
                  <a:lnTo>
                    <a:pt x="127" y="14"/>
                  </a:lnTo>
                  <a:lnTo>
                    <a:pt x="139" y="35"/>
                  </a:lnTo>
                  <a:lnTo>
                    <a:pt x="145" y="50"/>
                  </a:lnTo>
                  <a:lnTo>
                    <a:pt x="128" y="49"/>
                  </a:lnTo>
                  <a:lnTo>
                    <a:pt x="124" y="51"/>
                  </a:lnTo>
                  <a:lnTo>
                    <a:pt x="122" y="54"/>
                  </a:lnTo>
                  <a:lnTo>
                    <a:pt x="120" y="53"/>
                  </a:lnTo>
                  <a:lnTo>
                    <a:pt x="114" y="57"/>
                  </a:lnTo>
                  <a:lnTo>
                    <a:pt x="112" y="66"/>
                  </a:lnTo>
                  <a:lnTo>
                    <a:pt x="115"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9" name="Freeform 388"/>
            <p:cNvSpPr>
              <a:spLocks/>
            </p:cNvSpPr>
            <p:nvPr/>
          </p:nvSpPr>
          <p:spPr bwMode="auto">
            <a:xfrm>
              <a:off x="2793" y="1563"/>
              <a:ext cx="9" cy="16"/>
            </a:xfrm>
            <a:custGeom>
              <a:avLst/>
              <a:gdLst/>
              <a:ahLst/>
              <a:cxnLst>
                <a:cxn ang="0">
                  <a:pos x="8" y="0"/>
                </a:cxn>
                <a:cxn ang="0">
                  <a:pos x="8" y="3"/>
                </a:cxn>
                <a:cxn ang="0">
                  <a:pos x="4" y="12"/>
                </a:cxn>
                <a:cxn ang="0">
                  <a:pos x="3" y="13"/>
                </a:cxn>
                <a:cxn ang="0">
                  <a:pos x="0" y="7"/>
                </a:cxn>
                <a:cxn ang="0">
                  <a:pos x="8" y="0"/>
                </a:cxn>
              </a:cxnLst>
              <a:rect l="0" t="0" r="r" b="b"/>
              <a:pathLst>
                <a:path w="8" h="13">
                  <a:moveTo>
                    <a:pt x="8" y="0"/>
                  </a:moveTo>
                  <a:lnTo>
                    <a:pt x="8" y="3"/>
                  </a:lnTo>
                  <a:lnTo>
                    <a:pt x="4" y="12"/>
                  </a:lnTo>
                  <a:lnTo>
                    <a:pt x="3" y="13"/>
                  </a:lnTo>
                  <a:lnTo>
                    <a:pt x="0" y="7"/>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0" name="Freeform 389"/>
            <p:cNvSpPr>
              <a:spLocks/>
            </p:cNvSpPr>
            <p:nvPr/>
          </p:nvSpPr>
          <p:spPr bwMode="auto">
            <a:xfrm>
              <a:off x="2627" y="1756"/>
              <a:ext cx="69" cy="34"/>
            </a:xfrm>
            <a:custGeom>
              <a:avLst/>
              <a:gdLst/>
              <a:ahLst/>
              <a:cxnLst>
                <a:cxn ang="0">
                  <a:pos x="58" y="18"/>
                </a:cxn>
                <a:cxn ang="0">
                  <a:pos x="56" y="23"/>
                </a:cxn>
                <a:cxn ang="0">
                  <a:pos x="45" y="23"/>
                </a:cxn>
                <a:cxn ang="0">
                  <a:pos x="40" y="30"/>
                </a:cxn>
                <a:cxn ang="0">
                  <a:pos x="30" y="23"/>
                </a:cxn>
                <a:cxn ang="0">
                  <a:pos x="22" y="29"/>
                </a:cxn>
                <a:cxn ang="0">
                  <a:pos x="14" y="30"/>
                </a:cxn>
                <a:cxn ang="0">
                  <a:pos x="5" y="20"/>
                </a:cxn>
                <a:cxn ang="0">
                  <a:pos x="0" y="24"/>
                </a:cxn>
                <a:cxn ang="0">
                  <a:pos x="12" y="6"/>
                </a:cxn>
                <a:cxn ang="0">
                  <a:pos x="16" y="3"/>
                </a:cxn>
                <a:cxn ang="0">
                  <a:pos x="21" y="1"/>
                </a:cxn>
                <a:cxn ang="0">
                  <a:pos x="34" y="0"/>
                </a:cxn>
                <a:cxn ang="0">
                  <a:pos x="48" y="2"/>
                </a:cxn>
                <a:cxn ang="0">
                  <a:pos x="47" y="6"/>
                </a:cxn>
                <a:cxn ang="0">
                  <a:pos x="47" y="8"/>
                </a:cxn>
                <a:cxn ang="0">
                  <a:pos x="47" y="9"/>
                </a:cxn>
                <a:cxn ang="0">
                  <a:pos x="50" y="9"/>
                </a:cxn>
                <a:cxn ang="0">
                  <a:pos x="62" y="13"/>
                </a:cxn>
                <a:cxn ang="0">
                  <a:pos x="62" y="14"/>
                </a:cxn>
                <a:cxn ang="0">
                  <a:pos x="58" y="18"/>
                </a:cxn>
              </a:cxnLst>
              <a:rect l="0" t="0" r="r" b="b"/>
              <a:pathLst>
                <a:path w="62" h="30">
                  <a:moveTo>
                    <a:pt x="58" y="18"/>
                  </a:moveTo>
                  <a:lnTo>
                    <a:pt x="56" y="23"/>
                  </a:lnTo>
                  <a:lnTo>
                    <a:pt x="45" y="23"/>
                  </a:lnTo>
                  <a:lnTo>
                    <a:pt x="40" y="30"/>
                  </a:lnTo>
                  <a:lnTo>
                    <a:pt x="30" y="23"/>
                  </a:lnTo>
                  <a:lnTo>
                    <a:pt x="22" y="29"/>
                  </a:lnTo>
                  <a:lnTo>
                    <a:pt x="14" y="30"/>
                  </a:lnTo>
                  <a:lnTo>
                    <a:pt x="5" y="20"/>
                  </a:lnTo>
                  <a:lnTo>
                    <a:pt x="0" y="24"/>
                  </a:lnTo>
                  <a:lnTo>
                    <a:pt x="12" y="6"/>
                  </a:lnTo>
                  <a:lnTo>
                    <a:pt x="16" y="3"/>
                  </a:lnTo>
                  <a:lnTo>
                    <a:pt x="21" y="1"/>
                  </a:lnTo>
                  <a:lnTo>
                    <a:pt x="34" y="0"/>
                  </a:lnTo>
                  <a:lnTo>
                    <a:pt x="48" y="2"/>
                  </a:lnTo>
                  <a:lnTo>
                    <a:pt x="47" y="6"/>
                  </a:lnTo>
                  <a:lnTo>
                    <a:pt x="47" y="8"/>
                  </a:lnTo>
                  <a:lnTo>
                    <a:pt x="47" y="9"/>
                  </a:lnTo>
                  <a:lnTo>
                    <a:pt x="50" y="9"/>
                  </a:lnTo>
                  <a:lnTo>
                    <a:pt x="62" y="13"/>
                  </a:lnTo>
                  <a:lnTo>
                    <a:pt x="62" y="14"/>
                  </a:lnTo>
                  <a:lnTo>
                    <a:pt x="58"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1" name="Freeform 390"/>
            <p:cNvSpPr>
              <a:spLocks/>
            </p:cNvSpPr>
            <p:nvPr/>
          </p:nvSpPr>
          <p:spPr bwMode="auto">
            <a:xfrm>
              <a:off x="2873" y="1663"/>
              <a:ext cx="285" cy="158"/>
            </a:xfrm>
            <a:custGeom>
              <a:avLst/>
              <a:gdLst/>
              <a:ahLst/>
              <a:cxnLst>
                <a:cxn ang="0">
                  <a:pos x="135" y="0"/>
                </a:cxn>
                <a:cxn ang="0">
                  <a:pos x="124" y="3"/>
                </a:cxn>
                <a:cxn ang="0">
                  <a:pos x="107" y="12"/>
                </a:cxn>
                <a:cxn ang="0">
                  <a:pos x="108" y="19"/>
                </a:cxn>
                <a:cxn ang="0">
                  <a:pos x="84" y="14"/>
                </a:cxn>
                <a:cxn ang="0">
                  <a:pos x="60" y="9"/>
                </a:cxn>
                <a:cxn ang="0">
                  <a:pos x="38" y="9"/>
                </a:cxn>
                <a:cxn ang="0">
                  <a:pos x="14" y="9"/>
                </a:cxn>
                <a:cxn ang="0">
                  <a:pos x="21" y="28"/>
                </a:cxn>
                <a:cxn ang="0">
                  <a:pos x="20" y="37"/>
                </a:cxn>
                <a:cxn ang="0">
                  <a:pos x="6" y="55"/>
                </a:cxn>
                <a:cxn ang="0">
                  <a:pos x="4" y="60"/>
                </a:cxn>
                <a:cxn ang="0">
                  <a:pos x="0" y="72"/>
                </a:cxn>
                <a:cxn ang="0">
                  <a:pos x="11" y="80"/>
                </a:cxn>
                <a:cxn ang="0">
                  <a:pos x="12" y="79"/>
                </a:cxn>
                <a:cxn ang="0">
                  <a:pos x="39" y="81"/>
                </a:cxn>
                <a:cxn ang="0">
                  <a:pos x="63" y="74"/>
                </a:cxn>
                <a:cxn ang="0">
                  <a:pos x="75" y="64"/>
                </a:cxn>
                <a:cxn ang="0">
                  <a:pos x="80" y="66"/>
                </a:cxn>
                <a:cxn ang="0">
                  <a:pos x="90" y="76"/>
                </a:cxn>
                <a:cxn ang="0">
                  <a:pos x="101" y="87"/>
                </a:cxn>
                <a:cxn ang="0">
                  <a:pos x="113" y="97"/>
                </a:cxn>
                <a:cxn ang="0">
                  <a:pos x="124" y="108"/>
                </a:cxn>
                <a:cxn ang="0">
                  <a:pos x="136" y="100"/>
                </a:cxn>
                <a:cxn ang="0">
                  <a:pos x="140" y="103"/>
                </a:cxn>
                <a:cxn ang="0">
                  <a:pos x="138" y="94"/>
                </a:cxn>
                <a:cxn ang="0">
                  <a:pos x="141" y="100"/>
                </a:cxn>
                <a:cxn ang="0">
                  <a:pos x="152" y="103"/>
                </a:cxn>
                <a:cxn ang="0">
                  <a:pos x="137" y="104"/>
                </a:cxn>
                <a:cxn ang="0">
                  <a:pos x="143" y="108"/>
                </a:cxn>
                <a:cxn ang="0">
                  <a:pos x="155" y="111"/>
                </a:cxn>
                <a:cxn ang="0">
                  <a:pos x="167" y="114"/>
                </a:cxn>
                <a:cxn ang="0">
                  <a:pos x="153" y="123"/>
                </a:cxn>
                <a:cxn ang="0">
                  <a:pos x="164" y="128"/>
                </a:cxn>
                <a:cxn ang="0">
                  <a:pos x="170" y="134"/>
                </a:cxn>
                <a:cxn ang="0">
                  <a:pos x="172" y="141"/>
                </a:cxn>
                <a:cxn ang="0">
                  <a:pos x="192" y="133"/>
                </a:cxn>
                <a:cxn ang="0">
                  <a:pos x="202" y="132"/>
                </a:cxn>
                <a:cxn ang="0">
                  <a:pos x="210" y="126"/>
                </a:cxn>
                <a:cxn ang="0">
                  <a:pos x="198" y="126"/>
                </a:cxn>
                <a:cxn ang="0">
                  <a:pos x="185" y="115"/>
                </a:cxn>
                <a:cxn ang="0">
                  <a:pos x="189" y="106"/>
                </a:cxn>
                <a:cxn ang="0">
                  <a:pos x="186" y="111"/>
                </a:cxn>
                <a:cxn ang="0">
                  <a:pos x="191" y="108"/>
                </a:cxn>
                <a:cxn ang="0">
                  <a:pos x="210" y="100"/>
                </a:cxn>
                <a:cxn ang="0">
                  <a:pos x="232" y="92"/>
                </a:cxn>
                <a:cxn ang="0">
                  <a:pos x="240" y="91"/>
                </a:cxn>
                <a:cxn ang="0">
                  <a:pos x="245" y="81"/>
                </a:cxn>
                <a:cxn ang="0">
                  <a:pos x="256" y="75"/>
                </a:cxn>
                <a:cxn ang="0">
                  <a:pos x="248" y="51"/>
                </a:cxn>
                <a:cxn ang="0">
                  <a:pos x="226" y="44"/>
                </a:cxn>
                <a:cxn ang="0">
                  <a:pos x="206" y="38"/>
                </a:cxn>
                <a:cxn ang="0">
                  <a:pos x="196" y="39"/>
                </a:cxn>
                <a:cxn ang="0">
                  <a:pos x="178" y="24"/>
                </a:cxn>
                <a:cxn ang="0">
                  <a:pos x="160" y="8"/>
                </a:cxn>
                <a:cxn ang="0">
                  <a:pos x="158" y="2"/>
                </a:cxn>
                <a:cxn ang="0">
                  <a:pos x="135" y="0"/>
                </a:cxn>
              </a:cxnLst>
              <a:rect l="0" t="0" r="r" b="b"/>
              <a:pathLst>
                <a:path w="256" h="141">
                  <a:moveTo>
                    <a:pt x="135" y="0"/>
                  </a:moveTo>
                  <a:lnTo>
                    <a:pt x="124" y="3"/>
                  </a:lnTo>
                  <a:lnTo>
                    <a:pt x="107" y="12"/>
                  </a:lnTo>
                  <a:lnTo>
                    <a:pt x="108" y="19"/>
                  </a:lnTo>
                  <a:lnTo>
                    <a:pt x="84" y="14"/>
                  </a:lnTo>
                  <a:lnTo>
                    <a:pt x="60" y="9"/>
                  </a:lnTo>
                  <a:lnTo>
                    <a:pt x="38" y="9"/>
                  </a:lnTo>
                  <a:lnTo>
                    <a:pt x="14" y="9"/>
                  </a:lnTo>
                  <a:lnTo>
                    <a:pt x="21" y="28"/>
                  </a:lnTo>
                  <a:lnTo>
                    <a:pt x="20" y="37"/>
                  </a:lnTo>
                  <a:lnTo>
                    <a:pt x="6" y="55"/>
                  </a:lnTo>
                  <a:lnTo>
                    <a:pt x="4" y="60"/>
                  </a:lnTo>
                  <a:lnTo>
                    <a:pt x="0" y="72"/>
                  </a:lnTo>
                  <a:lnTo>
                    <a:pt x="11" y="80"/>
                  </a:lnTo>
                  <a:lnTo>
                    <a:pt x="12" y="79"/>
                  </a:lnTo>
                  <a:lnTo>
                    <a:pt x="39" y="81"/>
                  </a:lnTo>
                  <a:lnTo>
                    <a:pt x="63" y="74"/>
                  </a:lnTo>
                  <a:lnTo>
                    <a:pt x="75" y="64"/>
                  </a:lnTo>
                  <a:lnTo>
                    <a:pt x="80" y="66"/>
                  </a:lnTo>
                  <a:lnTo>
                    <a:pt x="90" y="76"/>
                  </a:lnTo>
                  <a:lnTo>
                    <a:pt x="101" y="87"/>
                  </a:lnTo>
                  <a:lnTo>
                    <a:pt x="113" y="97"/>
                  </a:lnTo>
                  <a:lnTo>
                    <a:pt x="124" y="108"/>
                  </a:lnTo>
                  <a:lnTo>
                    <a:pt x="136" y="100"/>
                  </a:lnTo>
                  <a:lnTo>
                    <a:pt x="140" y="103"/>
                  </a:lnTo>
                  <a:lnTo>
                    <a:pt x="138" y="94"/>
                  </a:lnTo>
                  <a:lnTo>
                    <a:pt x="141" y="100"/>
                  </a:lnTo>
                  <a:lnTo>
                    <a:pt x="152" y="103"/>
                  </a:lnTo>
                  <a:lnTo>
                    <a:pt x="137" y="104"/>
                  </a:lnTo>
                  <a:lnTo>
                    <a:pt x="143" y="108"/>
                  </a:lnTo>
                  <a:lnTo>
                    <a:pt x="155" y="111"/>
                  </a:lnTo>
                  <a:lnTo>
                    <a:pt x="167" y="114"/>
                  </a:lnTo>
                  <a:lnTo>
                    <a:pt x="153" y="123"/>
                  </a:lnTo>
                  <a:lnTo>
                    <a:pt x="164" y="128"/>
                  </a:lnTo>
                  <a:lnTo>
                    <a:pt x="170" y="134"/>
                  </a:lnTo>
                  <a:lnTo>
                    <a:pt x="172" y="141"/>
                  </a:lnTo>
                  <a:lnTo>
                    <a:pt x="192" y="133"/>
                  </a:lnTo>
                  <a:lnTo>
                    <a:pt x="202" y="132"/>
                  </a:lnTo>
                  <a:lnTo>
                    <a:pt x="210" y="126"/>
                  </a:lnTo>
                  <a:lnTo>
                    <a:pt x="198" y="126"/>
                  </a:lnTo>
                  <a:lnTo>
                    <a:pt x="185" y="115"/>
                  </a:lnTo>
                  <a:lnTo>
                    <a:pt x="189" y="106"/>
                  </a:lnTo>
                  <a:lnTo>
                    <a:pt x="186" y="111"/>
                  </a:lnTo>
                  <a:lnTo>
                    <a:pt x="191" y="108"/>
                  </a:lnTo>
                  <a:lnTo>
                    <a:pt x="210" y="100"/>
                  </a:lnTo>
                  <a:lnTo>
                    <a:pt x="232" y="92"/>
                  </a:lnTo>
                  <a:lnTo>
                    <a:pt x="240" y="91"/>
                  </a:lnTo>
                  <a:lnTo>
                    <a:pt x="245" y="81"/>
                  </a:lnTo>
                  <a:lnTo>
                    <a:pt x="256" y="75"/>
                  </a:lnTo>
                  <a:lnTo>
                    <a:pt x="248" y="51"/>
                  </a:lnTo>
                  <a:lnTo>
                    <a:pt x="226" y="44"/>
                  </a:lnTo>
                  <a:lnTo>
                    <a:pt x="206" y="38"/>
                  </a:lnTo>
                  <a:lnTo>
                    <a:pt x="196" y="39"/>
                  </a:lnTo>
                  <a:lnTo>
                    <a:pt x="178" y="24"/>
                  </a:lnTo>
                  <a:lnTo>
                    <a:pt x="160" y="8"/>
                  </a:lnTo>
                  <a:lnTo>
                    <a:pt x="158" y="2"/>
                  </a:lnTo>
                  <a:lnTo>
                    <a:pt x="13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2" name="Freeform 391"/>
            <p:cNvSpPr>
              <a:spLocks/>
            </p:cNvSpPr>
            <p:nvPr/>
          </p:nvSpPr>
          <p:spPr bwMode="auto">
            <a:xfrm>
              <a:off x="2827" y="1788"/>
              <a:ext cx="69" cy="82"/>
            </a:xfrm>
            <a:custGeom>
              <a:avLst/>
              <a:gdLst/>
              <a:ahLst/>
              <a:cxnLst>
                <a:cxn ang="0">
                  <a:pos x="11" y="16"/>
                </a:cxn>
                <a:cxn ang="0">
                  <a:pos x="11" y="17"/>
                </a:cxn>
                <a:cxn ang="0">
                  <a:pos x="7" y="18"/>
                </a:cxn>
                <a:cxn ang="0">
                  <a:pos x="6" y="22"/>
                </a:cxn>
                <a:cxn ang="0">
                  <a:pos x="10" y="22"/>
                </a:cxn>
                <a:cxn ang="0">
                  <a:pos x="11" y="24"/>
                </a:cxn>
                <a:cxn ang="0">
                  <a:pos x="10" y="27"/>
                </a:cxn>
                <a:cxn ang="0">
                  <a:pos x="7" y="30"/>
                </a:cxn>
                <a:cxn ang="0">
                  <a:pos x="7" y="31"/>
                </a:cxn>
                <a:cxn ang="0">
                  <a:pos x="10" y="34"/>
                </a:cxn>
                <a:cxn ang="0">
                  <a:pos x="16" y="37"/>
                </a:cxn>
                <a:cxn ang="0">
                  <a:pos x="11" y="40"/>
                </a:cxn>
                <a:cxn ang="0">
                  <a:pos x="15" y="42"/>
                </a:cxn>
                <a:cxn ang="0">
                  <a:pos x="15" y="46"/>
                </a:cxn>
                <a:cxn ang="0">
                  <a:pos x="6" y="47"/>
                </a:cxn>
                <a:cxn ang="0">
                  <a:pos x="10" y="51"/>
                </a:cxn>
                <a:cxn ang="0">
                  <a:pos x="9" y="52"/>
                </a:cxn>
                <a:cxn ang="0">
                  <a:pos x="6" y="51"/>
                </a:cxn>
                <a:cxn ang="0">
                  <a:pos x="3" y="55"/>
                </a:cxn>
                <a:cxn ang="0">
                  <a:pos x="0" y="57"/>
                </a:cxn>
                <a:cxn ang="0">
                  <a:pos x="4" y="61"/>
                </a:cxn>
                <a:cxn ang="0">
                  <a:pos x="0" y="63"/>
                </a:cxn>
                <a:cxn ang="0">
                  <a:pos x="0" y="64"/>
                </a:cxn>
                <a:cxn ang="0">
                  <a:pos x="0" y="66"/>
                </a:cxn>
                <a:cxn ang="0">
                  <a:pos x="10" y="71"/>
                </a:cxn>
                <a:cxn ang="0">
                  <a:pos x="16" y="76"/>
                </a:cxn>
                <a:cxn ang="0">
                  <a:pos x="18" y="64"/>
                </a:cxn>
                <a:cxn ang="0">
                  <a:pos x="27" y="66"/>
                </a:cxn>
                <a:cxn ang="0">
                  <a:pos x="31" y="76"/>
                </a:cxn>
                <a:cxn ang="0">
                  <a:pos x="34" y="75"/>
                </a:cxn>
                <a:cxn ang="0">
                  <a:pos x="34" y="72"/>
                </a:cxn>
                <a:cxn ang="0">
                  <a:pos x="39" y="71"/>
                </a:cxn>
                <a:cxn ang="0">
                  <a:pos x="42" y="72"/>
                </a:cxn>
                <a:cxn ang="0">
                  <a:pos x="45" y="69"/>
                </a:cxn>
                <a:cxn ang="0">
                  <a:pos x="47" y="70"/>
                </a:cxn>
                <a:cxn ang="0">
                  <a:pos x="49" y="70"/>
                </a:cxn>
                <a:cxn ang="0">
                  <a:pos x="52" y="69"/>
                </a:cxn>
                <a:cxn ang="0">
                  <a:pos x="57" y="67"/>
                </a:cxn>
                <a:cxn ang="0">
                  <a:pos x="60" y="71"/>
                </a:cxn>
                <a:cxn ang="0">
                  <a:pos x="63" y="70"/>
                </a:cxn>
                <a:cxn ang="0">
                  <a:pos x="58" y="64"/>
                </a:cxn>
                <a:cxn ang="0">
                  <a:pos x="64" y="54"/>
                </a:cxn>
                <a:cxn ang="0">
                  <a:pos x="58" y="45"/>
                </a:cxn>
                <a:cxn ang="0">
                  <a:pos x="59" y="34"/>
                </a:cxn>
                <a:cxn ang="0">
                  <a:pos x="58" y="28"/>
                </a:cxn>
                <a:cxn ang="0">
                  <a:pos x="53" y="27"/>
                </a:cxn>
                <a:cxn ang="0">
                  <a:pos x="48" y="25"/>
                </a:cxn>
                <a:cxn ang="0">
                  <a:pos x="42" y="22"/>
                </a:cxn>
                <a:cxn ang="0">
                  <a:pos x="22" y="0"/>
                </a:cxn>
                <a:cxn ang="0">
                  <a:pos x="1" y="5"/>
                </a:cxn>
                <a:cxn ang="0">
                  <a:pos x="5" y="11"/>
                </a:cxn>
                <a:cxn ang="0">
                  <a:pos x="6" y="11"/>
                </a:cxn>
                <a:cxn ang="0">
                  <a:pos x="5" y="13"/>
                </a:cxn>
                <a:cxn ang="0">
                  <a:pos x="6" y="15"/>
                </a:cxn>
                <a:cxn ang="0">
                  <a:pos x="11" y="16"/>
                </a:cxn>
              </a:cxnLst>
              <a:rect l="0" t="0" r="r" b="b"/>
              <a:pathLst>
                <a:path w="64" h="76">
                  <a:moveTo>
                    <a:pt x="11" y="16"/>
                  </a:moveTo>
                  <a:lnTo>
                    <a:pt x="11" y="17"/>
                  </a:lnTo>
                  <a:lnTo>
                    <a:pt x="7" y="18"/>
                  </a:lnTo>
                  <a:lnTo>
                    <a:pt x="6" y="22"/>
                  </a:lnTo>
                  <a:lnTo>
                    <a:pt x="10" y="22"/>
                  </a:lnTo>
                  <a:lnTo>
                    <a:pt x="11" y="24"/>
                  </a:lnTo>
                  <a:lnTo>
                    <a:pt x="10" y="27"/>
                  </a:lnTo>
                  <a:lnTo>
                    <a:pt x="7" y="30"/>
                  </a:lnTo>
                  <a:lnTo>
                    <a:pt x="7" y="31"/>
                  </a:lnTo>
                  <a:lnTo>
                    <a:pt x="10" y="34"/>
                  </a:lnTo>
                  <a:lnTo>
                    <a:pt x="16" y="37"/>
                  </a:lnTo>
                  <a:lnTo>
                    <a:pt x="11" y="40"/>
                  </a:lnTo>
                  <a:lnTo>
                    <a:pt x="15" y="42"/>
                  </a:lnTo>
                  <a:lnTo>
                    <a:pt x="15" y="46"/>
                  </a:lnTo>
                  <a:lnTo>
                    <a:pt x="6" y="47"/>
                  </a:lnTo>
                  <a:lnTo>
                    <a:pt x="10" y="51"/>
                  </a:lnTo>
                  <a:lnTo>
                    <a:pt x="9" y="52"/>
                  </a:lnTo>
                  <a:lnTo>
                    <a:pt x="6" y="51"/>
                  </a:lnTo>
                  <a:lnTo>
                    <a:pt x="3" y="55"/>
                  </a:lnTo>
                  <a:lnTo>
                    <a:pt x="0" y="57"/>
                  </a:lnTo>
                  <a:lnTo>
                    <a:pt x="4" y="61"/>
                  </a:lnTo>
                  <a:lnTo>
                    <a:pt x="0" y="63"/>
                  </a:lnTo>
                  <a:lnTo>
                    <a:pt x="0" y="64"/>
                  </a:lnTo>
                  <a:lnTo>
                    <a:pt x="0" y="66"/>
                  </a:lnTo>
                  <a:lnTo>
                    <a:pt x="10" y="71"/>
                  </a:lnTo>
                  <a:lnTo>
                    <a:pt x="16" y="76"/>
                  </a:lnTo>
                  <a:lnTo>
                    <a:pt x="18" y="64"/>
                  </a:lnTo>
                  <a:lnTo>
                    <a:pt x="27" y="66"/>
                  </a:lnTo>
                  <a:lnTo>
                    <a:pt x="31" y="76"/>
                  </a:lnTo>
                  <a:lnTo>
                    <a:pt x="34" y="75"/>
                  </a:lnTo>
                  <a:lnTo>
                    <a:pt x="34" y="72"/>
                  </a:lnTo>
                  <a:lnTo>
                    <a:pt x="39" y="71"/>
                  </a:lnTo>
                  <a:lnTo>
                    <a:pt x="42" y="72"/>
                  </a:lnTo>
                  <a:lnTo>
                    <a:pt x="45" y="69"/>
                  </a:lnTo>
                  <a:lnTo>
                    <a:pt x="47" y="70"/>
                  </a:lnTo>
                  <a:lnTo>
                    <a:pt x="49" y="70"/>
                  </a:lnTo>
                  <a:lnTo>
                    <a:pt x="52" y="69"/>
                  </a:lnTo>
                  <a:lnTo>
                    <a:pt x="57" y="67"/>
                  </a:lnTo>
                  <a:lnTo>
                    <a:pt x="60" y="71"/>
                  </a:lnTo>
                  <a:lnTo>
                    <a:pt x="63" y="70"/>
                  </a:lnTo>
                  <a:lnTo>
                    <a:pt x="58" y="64"/>
                  </a:lnTo>
                  <a:lnTo>
                    <a:pt x="64" y="54"/>
                  </a:lnTo>
                  <a:lnTo>
                    <a:pt x="58" y="45"/>
                  </a:lnTo>
                  <a:lnTo>
                    <a:pt x="59" y="34"/>
                  </a:lnTo>
                  <a:lnTo>
                    <a:pt x="58" y="28"/>
                  </a:lnTo>
                  <a:lnTo>
                    <a:pt x="53" y="27"/>
                  </a:lnTo>
                  <a:lnTo>
                    <a:pt x="48" y="25"/>
                  </a:lnTo>
                  <a:lnTo>
                    <a:pt x="42" y="22"/>
                  </a:lnTo>
                  <a:lnTo>
                    <a:pt x="22" y="0"/>
                  </a:lnTo>
                  <a:lnTo>
                    <a:pt x="1" y="5"/>
                  </a:lnTo>
                  <a:lnTo>
                    <a:pt x="5" y="11"/>
                  </a:lnTo>
                  <a:lnTo>
                    <a:pt x="6" y="11"/>
                  </a:lnTo>
                  <a:lnTo>
                    <a:pt x="5" y="13"/>
                  </a:lnTo>
                  <a:lnTo>
                    <a:pt x="6" y="15"/>
                  </a:lnTo>
                  <a:lnTo>
                    <a:pt x="11"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3" name="Freeform 392"/>
            <p:cNvSpPr>
              <a:spLocks/>
            </p:cNvSpPr>
            <p:nvPr/>
          </p:nvSpPr>
          <p:spPr bwMode="auto">
            <a:xfrm>
              <a:off x="554" y="1316"/>
              <a:ext cx="1144" cy="558"/>
            </a:xfrm>
            <a:custGeom>
              <a:avLst/>
              <a:gdLst/>
              <a:ahLst/>
              <a:cxnLst>
                <a:cxn ang="0">
                  <a:pos x="793" y="84"/>
                </a:cxn>
                <a:cxn ang="0">
                  <a:pos x="839" y="34"/>
                </a:cxn>
                <a:cxn ang="0">
                  <a:pos x="756" y="56"/>
                </a:cxn>
                <a:cxn ang="0">
                  <a:pos x="723" y="32"/>
                </a:cxn>
                <a:cxn ang="0">
                  <a:pos x="721" y="2"/>
                </a:cxn>
                <a:cxn ang="0">
                  <a:pos x="709" y="38"/>
                </a:cxn>
                <a:cxn ang="0">
                  <a:pos x="655" y="75"/>
                </a:cxn>
                <a:cxn ang="0">
                  <a:pos x="666" y="55"/>
                </a:cxn>
                <a:cxn ang="0">
                  <a:pos x="627" y="63"/>
                </a:cxn>
                <a:cxn ang="0">
                  <a:pos x="544" y="52"/>
                </a:cxn>
                <a:cxn ang="0">
                  <a:pos x="509" y="64"/>
                </a:cxn>
                <a:cxn ang="0">
                  <a:pos x="437" y="45"/>
                </a:cxn>
                <a:cxn ang="0">
                  <a:pos x="346" y="36"/>
                </a:cxn>
                <a:cxn ang="0">
                  <a:pos x="288" y="28"/>
                </a:cxn>
                <a:cxn ang="0">
                  <a:pos x="124" y="69"/>
                </a:cxn>
                <a:cxn ang="0">
                  <a:pos x="22" y="188"/>
                </a:cxn>
                <a:cxn ang="0">
                  <a:pos x="72" y="254"/>
                </a:cxn>
                <a:cxn ang="0">
                  <a:pos x="47" y="277"/>
                </a:cxn>
                <a:cxn ang="0">
                  <a:pos x="61" y="298"/>
                </a:cxn>
                <a:cxn ang="0">
                  <a:pos x="63" y="321"/>
                </a:cxn>
                <a:cxn ang="0">
                  <a:pos x="37" y="337"/>
                </a:cxn>
                <a:cxn ang="0">
                  <a:pos x="59" y="344"/>
                </a:cxn>
                <a:cxn ang="0">
                  <a:pos x="70" y="358"/>
                </a:cxn>
                <a:cxn ang="0">
                  <a:pos x="75" y="370"/>
                </a:cxn>
                <a:cxn ang="0">
                  <a:pos x="271" y="373"/>
                </a:cxn>
                <a:cxn ang="0">
                  <a:pos x="468" y="367"/>
                </a:cxn>
                <a:cxn ang="0">
                  <a:pos x="582" y="409"/>
                </a:cxn>
                <a:cxn ang="0">
                  <a:pos x="579" y="495"/>
                </a:cxn>
                <a:cxn ang="0">
                  <a:pos x="695" y="457"/>
                </a:cxn>
                <a:cxn ang="0">
                  <a:pos x="820" y="403"/>
                </a:cxn>
                <a:cxn ang="0">
                  <a:pos x="868" y="428"/>
                </a:cxn>
                <a:cxn ang="0">
                  <a:pos x="841" y="451"/>
                </a:cxn>
                <a:cxn ang="0">
                  <a:pos x="913" y="439"/>
                </a:cxn>
                <a:cxn ang="0">
                  <a:pos x="865" y="408"/>
                </a:cxn>
                <a:cxn ang="0">
                  <a:pos x="891" y="378"/>
                </a:cxn>
                <a:cxn ang="0">
                  <a:pos x="809" y="388"/>
                </a:cxn>
                <a:cxn ang="0">
                  <a:pos x="978" y="337"/>
                </a:cxn>
                <a:cxn ang="0">
                  <a:pos x="1031" y="297"/>
                </a:cxn>
                <a:cxn ang="0">
                  <a:pos x="976" y="295"/>
                </a:cxn>
                <a:cxn ang="0">
                  <a:pos x="987" y="272"/>
                </a:cxn>
                <a:cxn ang="0">
                  <a:pos x="981" y="260"/>
                </a:cxn>
                <a:cxn ang="0">
                  <a:pos x="966" y="238"/>
                </a:cxn>
                <a:cxn ang="0">
                  <a:pos x="966" y="218"/>
                </a:cxn>
                <a:cxn ang="0">
                  <a:pos x="965" y="188"/>
                </a:cxn>
                <a:cxn ang="0">
                  <a:pos x="942" y="201"/>
                </a:cxn>
                <a:cxn ang="0">
                  <a:pos x="899" y="219"/>
                </a:cxn>
                <a:cxn ang="0">
                  <a:pos x="893" y="194"/>
                </a:cxn>
                <a:cxn ang="0">
                  <a:pos x="883" y="160"/>
                </a:cxn>
                <a:cxn ang="0">
                  <a:pos x="810" y="163"/>
                </a:cxn>
                <a:cxn ang="0">
                  <a:pos x="772" y="254"/>
                </a:cxn>
                <a:cxn ang="0">
                  <a:pos x="702" y="327"/>
                </a:cxn>
                <a:cxn ang="0">
                  <a:pos x="682" y="284"/>
                </a:cxn>
                <a:cxn ang="0">
                  <a:pos x="599" y="231"/>
                </a:cxn>
                <a:cxn ang="0">
                  <a:pos x="570" y="201"/>
                </a:cxn>
                <a:cxn ang="0">
                  <a:pos x="647" y="140"/>
                </a:cxn>
                <a:cxn ang="0">
                  <a:pos x="685" y="122"/>
                </a:cxn>
                <a:cxn ang="0">
                  <a:pos x="723" y="96"/>
                </a:cxn>
              </a:cxnLst>
              <a:rect l="0" t="0" r="r" b="b"/>
              <a:pathLst>
                <a:path w="1031" h="502">
                  <a:moveTo>
                    <a:pt x="759" y="87"/>
                  </a:moveTo>
                  <a:lnTo>
                    <a:pt x="753" y="81"/>
                  </a:lnTo>
                  <a:lnTo>
                    <a:pt x="769" y="82"/>
                  </a:lnTo>
                  <a:lnTo>
                    <a:pt x="777" y="86"/>
                  </a:lnTo>
                  <a:lnTo>
                    <a:pt x="785" y="85"/>
                  </a:lnTo>
                  <a:lnTo>
                    <a:pt x="779" y="76"/>
                  </a:lnTo>
                  <a:lnTo>
                    <a:pt x="785" y="78"/>
                  </a:lnTo>
                  <a:lnTo>
                    <a:pt x="789" y="79"/>
                  </a:lnTo>
                  <a:lnTo>
                    <a:pt x="793" y="84"/>
                  </a:lnTo>
                  <a:lnTo>
                    <a:pt x="822" y="73"/>
                  </a:lnTo>
                  <a:lnTo>
                    <a:pt x="827" y="66"/>
                  </a:lnTo>
                  <a:lnTo>
                    <a:pt x="826" y="57"/>
                  </a:lnTo>
                  <a:lnTo>
                    <a:pt x="827" y="52"/>
                  </a:lnTo>
                  <a:lnTo>
                    <a:pt x="841" y="48"/>
                  </a:lnTo>
                  <a:lnTo>
                    <a:pt x="833" y="45"/>
                  </a:lnTo>
                  <a:lnTo>
                    <a:pt x="845" y="40"/>
                  </a:lnTo>
                  <a:lnTo>
                    <a:pt x="826" y="36"/>
                  </a:lnTo>
                  <a:lnTo>
                    <a:pt x="839" y="34"/>
                  </a:lnTo>
                  <a:lnTo>
                    <a:pt x="804" y="33"/>
                  </a:lnTo>
                  <a:lnTo>
                    <a:pt x="801" y="42"/>
                  </a:lnTo>
                  <a:lnTo>
                    <a:pt x="802" y="45"/>
                  </a:lnTo>
                  <a:lnTo>
                    <a:pt x="801" y="48"/>
                  </a:lnTo>
                  <a:lnTo>
                    <a:pt x="790" y="48"/>
                  </a:lnTo>
                  <a:lnTo>
                    <a:pt x="763" y="69"/>
                  </a:lnTo>
                  <a:lnTo>
                    <a:pt x="754" y="70"/>
                  </a:lnTo>
                  <a:lnTo>
                    <a:pt x="751" y="58"/>
                  </a:lnTo>
                  <a:lnTo>
                    <a:pt x="756" y="56"/>
                  </a:lnTo>
                  <a:lnTo>
                    <a:pt x="763" y="45"/>
                  </a:lnTo>
                  <a:lnTo>
                    <a:pt x="753" y="40"/>
                  </a:lnTo>
                  <a:lnTo>
                    <a:pt x="731" y="56"/>
                  </a:lnTo>
                  <a:lnTo>
                    <a:pt x="737" y="43"/>
                  </a:lnTo>
                  <a:lnTo>
                    <a:pt x="732" y="39"/>
                  </a:lnTo>
                  <a:lnTo>
                    <a:pt x="744" y="37"/>
                  </a:lnTo>
                  <a:lnTo>
                    <a:pt x="737" y="34"/>
                  </a:lnTo>
                  <a:lnTo>
                    <a:pt x="724" y="33"/>
                  </a:lnTo>
                  <a:lnTo>
                    <a:pt x="723" y="32"/>
                  </a:lnTo>
                  <a:lnTo>
                    <a:pt x="732" y="27"/>
                  </a:lnTo>
                  <a:lnTo>
                    <a:pt x="732" y="25"/>
                  </a:lnTo>
                  <a:lnTo>
                    <a:pt x="738" y="25"/>
                  </a:lnTo>
                  <a:lnTo>
                    <a:pt x="733" y="16"/>
                  </a:lnTo>
                  <a:lnTo>
                    <a:pt x="738" y="7"/>
                  </a:lnTo>
                  <a:lnTo>
                    <a:pt x="731" y="2"/>
                  </a:lnTo>
                  <a:lnTo>
                    <a:pt x="726" y="2"/>
                  </a:lnTo>
                  <a:lnTo>
                    <a:pt x="730" y="0"/>
                  </a:lnTo>
                  <a:lnTo>
                    <a:pt x="721" y="2"/>
                  </a:lnTo>
                  <a:lnTo>
                    <a:pt x="726" y="2"/>
                  </a:lnTo>
                  <a:lnTo>
                    <a:pt x="708" y="6"/>
                  </a:lnTo>
                  <a:lnTo>
                    <a:pt x="711" y="9"/>
                  </a:lnTo>
                  <a:lnTo>
                    <a:pt x="699" y="9"/>
                  </a:lnTo>
                  <a:lnTo>
                    <a:pt x="694" y="19"/>
                  </a:lnTo>
                  <a:lnTo>
                    <a:pt x="696" y="20"/>
                  </a:lnTo>
                  <a:lnTo>
                    <a:pt x="688" y="22"/>
                  </a:lnTo>
                  <a:lnTo>
                    <a:pt x="683" y="31"/>
                  </a:lnTo>
                  <a:lnTo>
                    <a:pt x="709" y="38"/>
                  </a:lnTo>
                  <a:lnTo>
                    <a:pt x="701" y="40"/>
                  </a:lnTo>
                  <a:lnTo>
                    <a:pt x="702" y="38"/>
                  </a:lnTo>
                  <a:lnTo>
                    <a:pt x="696" y="42"/>
                  </a:lnTo>
                  <a:lnTo>
                    <a:pt x="689" y="48"/>
                  </a:lnTo>
                  <a:lnTo>
                    <a:pt x="701" y="44"/>
                  </a:lnTo>
                  <a:lnTo>
                    <a:pt x="695" y="50"/>
                  </a:lnTo>
                  <a:lnTo>
                    <a:pt x="671" y="58"/>
                  </a:lnTo>
                  <a:lnTo>
                    <a:pt x="661" y="69"/>
                  </a:lnTo>
                  <a:lnTo>
                    <a:pt x="655" y="75"/>
                  </a:lnTo>
                  <a:lnTo>
                    <a:pt x="647" y="75"/>
                  </a:lnTo>
                  <a:lnTo>
                    <a:pt x="648" y="79"/>
                  </a:lnTo>
                  <a:lnTo>
                    <a:pt x="647" y="75"/>
                  </a:lnTo>
                  <a:lnTo>
                    <a:pt x="648" y="75"/>
                  </a:lnTo>
                  <a:lnTo>
                    <a:pt x="657" y="74"/>
                  </a:lnTo>
                  <a:lnTo>
                    <a:pt x="653" y="72"/>
                  </a:lnTo>
                  <a:lnTo>
                    <a:pt x="657" y="68"/>
                  </a:lnTo>
                  <a:lnTo>
                    <a:pt x="651" y="69"/>
                  </a:lnTo>
                  <a:lnTo>
                    <a:pt x="666" y="55"/>
                  </a:lnTo>
                  <a:lnTo>
                    <a:pt x="655" y="57"/>
                  </a:lnTo>
                  <a:lnTo>
                    <a:pt x="658" y="55"/>
                  </a:lnTo>
                  <a:lnTo>
                    <a:pt x="645" y="52"/>
                  </a:lnTo>
                  <a:lnTo>
                    <a:pt x="635" y="56"/>
                  </a:lnTo>
                  <a:lnTo>
                    <a:pt x="637" y="61"/>
                  </a:lnTo>
                  <a:lnTo>
                    <a:pt x="646" y="62"/>
                  </a:lnTo>
                  <a:lnTo>
                    <a:pt x="634" y="63"/>
                  </a:lnTo>
                  <a:lnTo>
                    <a:pt x="630" y="58"/>
                  </a:lnTo>
                  <a:lnTo>
                    <a:pt x="627" y="63"/>
                  </a:lnTo>
                  <a:lnTo>
                    <a:pt x="603" y="62"/>
                  </a:lnTo>
                  <a:lnTo>
                    <a:pt x="580" y="62"/>
                  </a:lnTo>
                  <a:lnTo>
                    <a:pt x="573" y="58"/>
                  </a:lnTo>
                  <a:lnTo>
                    <a:pt x="563" y="57"/>
                  </a:lnTo>
                  <a:lnTo>
                    <a:pt x="559" y="51"/>
                  </a:lnTo>
                  <a:lnTo>
                    <a:pt x="556" y="45"/>
                  </a:lnTo>
                  <a:lnTo>
                    <a:pt x="519" y="54"/>
                  </a:lnTo>
                  <a:lnTo>
                    <a:pt x="526" y="56"/>
                  </a:lnTo>
                  <a:lnTo>
                    <a:pt x="544" y="52"/>
                  </a:lnTo>
                  <a:lnTo>
                    <a:pt x="556" y="51"/>
                  </a:lnTo>
                  <a:lnTo>
                    <a:pt x="533" y="58"/>
                  </a:lnTo>
                  <a:lnTo>
                    <a:pt x="522" y="60"/>
                  </a:lnTo>
                  <a:lnTo>
                    <a:pt x="515" y="78"/>
                  </a:lnTo>
                  <a:lnTo>
                    <a:pt x="510" y="74"/>
                  </a:lnTo>
                  <a:lnTo>
                    <a:pt x="508" y="85"/>
                  </a:lnTo>
                  <a:lnTo>
                    <a:pt x="503" y="73"/>
                  </a:lnTo>
                  <a:lnTo>
                    <a:pt x="511" y="73"/>
                  </a:lnTo>
                  <a:lnTo>
                    <a:pt x="509" y="64"/>
                  </a:lnTo>
                  <a:lnTo>
                    <a:pt x="502" y="68"/>
                  </a:lnTo>
                  <a:lnTo>
                    <a:pt x="502" y="63"/>
                  </a:lnTo>
                  <a:lnTo>
                    <a:pt x="493" y="60"/>
                  </a:lnTo>
                  <a:lnTo>
                    <a:pt x="449" y="64"/>
                  </a:lnTo>
                  <a:lnTo>
                    <a:pt x="432" y="60"/>
                  </a:lnTo>
                  <a:lnTo>
                    <a:pt x="450" y="55"/>
                  </a:lnTo>
                  <a:lnTo>
                    <a:pt x="456" y="54"/>
                  </a:lnTo>
                  <a:lnTo>
                    <a:pt x="444" y="44"/>
                  </a:lnTo>
                  <a:lnTo>
                    <a:pt x="437" y="45"/>
                  </a:lnTo>
                  <a:lnTo>
                    <a:pt x="406" y="38"/>
                  </a:lnTo>
                  <a:lnTo>
                    <a:pt x="377" y="31"/>
                  </a:lnTo>
                  <a:lnTo>
                    <a:pt x="360" y="38"/>
                  </a:lnTo>
                  <a:lnTo>
                    <a:pt x="354" y="37"/>
                  </a:lnTo>
                  <a:lnTo>
                    <a:pt x="359" y="33"/>
                  </a:lnTo>
                  <a:lnTo>
                    <a:pt x="363" y="26"/>
                  </a:lnTo>
                  <a:lnTo>
                    <a:pt x="358" y="28"/>
                  </a:lnTo>
                  <a:lnTo>
                    <a:pt x="353" y="33"/>
                  </a:lnTo>
                  <a:lnTo>
                    <a:pt x="346" y="36"/>
                  </a:lnTo>
                  <a:lnTo>
                    <a:pt x="340" y="39"/>
                  </a:lnTo>
                  <a:lnTo>
                    <a:pt x="335" y="28"/>
                  </a:lnTo>
                  <a:lnTo>
                    <a:pt x="330" y="21"/>
                  </a:lnTo>
                  <a:lnTo>
                    <a:pt x="331" y="25"/>
                  </a:lnTo>
                  <a:lnTo>
                    <a:pt x="306" y="33"/>
                  </a:lnTo>
                  <a:lnTo>
                    <a:pt x="307" y="31"/>
                  </a:lnTo>
                  <a:lnTo>
                    <a:pt x="281" y="34"/>
                  </a:lnTo>
                  <a:lnTo>
                    <a:pt x="307" y="26"/>
                  </a:lnTo>
                  <a:lnTo>
                    <a:pt x="288" y="28"/>
                  </a:lnTo>
                  <a:lnTo>
                    <a:pt x="259" y="36"/>
                  </a:lnTo>
                  <a:lnTo>
                    <a:pt x="229" y="44"/>
                  </a:lnTo>
                  <a:lnTo>
                    <a:pt x="226" y="48"/>
                  </a:lnTo>
                  <a:lnTo>
                    <a:pt x="216" y="46"/>
                  </a:lnTo>
                  <a:lnTo>
                    <a:pt x="214" y="49"/>
                  </a:lnTo>
                  <a:lnTo>
                    <a:pt x="190" y="42"/>
                  </a:lnTo>
                  <a:lnTo>
                    <a:pt x="167" y="33"/>
                  </a:lnTo>
                  <a:lnTo>
                    <a:pt x="145" y="51"/>
                  </a:lnTo>
                  <a:lnTo>
                    <a:pt x="124" y="69"/>
                  </a:lnTo>
                  <a:lnTo>
                    <a:pt x="102" y="87"/>
                  </a:lnTo>
                  <a:lnTo>
                    <a:pt x="81" y="105"/>
                  </a:lnTo>
                  <a:lnTo>
                    <a:pt x="61" y="124"/>
                  </a:lnTo>
                  <a:lnTo>
                    <a:pt x="41" y="144"/>
                  </a:lnTo>
                  <a:lnTo>
                    <a:pt x="21" y="163"/>
                  </a:lnTo>
                  <a:lnTo>
                    <a:pt x="0" y="181"/>
                  </a:lnTo>
                  <a:lnTo>
                    <a:pt x="25" y="181"/>
                  </a:lnTo>
                  <a:lnTo>
                    <a:pt x="19" y="184"/>
                  </a:lnTo>
                  <a:lnTo>
                    <a:pt x="22" y="188"/>
                  </a:lnTo>
                  <a:lnTo>
                    <a:pt x="22" y="205"/>
                  </a:lnTo>
                  <a:lnTo>
                    <a:pt x="34" y="200"/>
                  </a:lnTo>
                  <a:lnTo>
                    <a:pt x="43" y="195"/>
                  </a:lnTo>
                  <a:lnTo>
                    <a:pt x="61" y="189"/>
                  </a:lnTo>
                  <a:lnTo>
                    <a:pt x="66" y="207"/>
                  </a:lnTo>
                  <a:lnTo>
                    <a:pt x="63" y="223"/>
                  </a:lnTo>
                  <a:lnTo>
                    <a:pt x="59" y="238"/>
                  </a:lnTo>
                  <a:lnTo>
                    <a:pt x="66" y="247"/>
                  </a:lnTo>
                  <a:lnTo>
                    <a:pt x="72" y="254"/>
                  </a:lnTo>
                  <a:lnTo>
                    <a:pt x="58" y="270"/>
                  </a:lnTo>
                  <a:lnTo>
                    <a:pt x="71" y="259"/>
                  </a:lnTo>
                  <a:lnTo>
                    <a:pt x="71" y="262"/>
                  </a:lnTo>
                  <a:lnTo>
                    <a:pt x="59" y="270"/>
                  </a:lnTo>
                  <a:lnTo>
                    <a:pt x="61" y="270"/>
                  </a:lnTo>
                  <a:lnTo>
                    <a:pt x="54" y="276"/>
                  </a:lnTo>
                  <a:lnTo>
                    <a:pt x="49" y="276"/>
                  </a:lnTo>
                  <a:lnTo>
                    <a:pt x="49" y="282"/>
                  </a:lnTo>
                  <a:lnTo>
                    <a:pt x="47" y="277"/>
                  </a:lnTo>
                  <a:lnTo>
                    <a:pt x="46" y="284"/>
                  </a:lnTo>
                  <a:lnTo>
                    <a:pt x="53" y="284"/>
                  </a:lnTo>
                  <a:lnTo>
                    <a:pt x="48" y="284"/>
                  </a:lnTo>
                  <a:lnTo>
                    <a:pt x="48" y="288"/>
                  </a:lnTo>
                  <a:lnTo>
                    <a:pt x="45" y="285"/>
                  </a:lnTo>
                  <a:lnTo>
                    <a:pt x="47" y="297"/>
                  </a:lnTo>
                  <a:lnTo>
                    <a:pt x="65" y="286"/>
                  </a:lnTo>
                  <a:lnTo>
                    <a:pt x="58" y="296"/>
                  </a:lnTo>
                  <a:lnTo>
                    <a:pt x="61" y="298"/>
                  </a:lnTo>
                  <a:lnTo>
                    <a:pt x="54" y="296"/>
                  </a:lnTo>
                  <a:lnTo>
                    <a:pt x="52" y="307"/>
                  </a:lnTo>
                  <a:lnTo>
                    <a:pt x="55" y="306"/>
                  </a:lnTo>
                  <a:lnTo>
                    <a:pt x="45" y="316"/>
                  </a:lnTo>
                  <a:lnTo>
                    <a:pt x="51" y="313"/>
                  </a:lnTo>
                  <a:lnTo>
                    <a:pt x="49" y="318"/>
                  </a:lnTo>
                  <a:lnTo>
                    <a:pt x="70" y="307"/>
                  </a:lnTo>
                  <a:lnTo>
                    <a:pt x="64" y="315"/>
                  </a:lnTo>
                  <a:lnTo>
                    <a:pt x="63" y="321"/>
                  </a:lnTo>
                  <a:lnTo>
                    <a:pt x="60" y="315"/>
                  </a:lnTo>
                  <a:lnTo>
                    <a:pt x="45" y="325"/>
                  </a:lnTo>
                  <a:lnTo>
                    <a:pt x="45" y="328"/>
                  </a:lnTo>
                  <a:lnTo>
                    <a:pt x="49" y="326"/>
                  </a:lnTo>
                  <a:lnTo>
                    <a:pt x="59" y="327"/>
                  </a:lnTo>
                  <a:lnTo>
                    <a:pt x="43" y="331"/>
                  </a:lnTo>
                  <a:lnTo>
                    <a:pt x="40" y="332"/>
                  </a:lnTo>
                  <a:lnTo>
                    <a:pt x="46" y="333"/>
                  </a:lnTo>
                  <a:lnTo>
                    <a:pt x="37" y="337"/>
                  </a:lnTo>
                  <a:lnTo>
                    <a:pt x="48" y="340"/>
                  </a:lnTo>
                  <a:lnTo>
                    <a:pt x="52" y="338"/>
                  </a:lnTo>
                  <a:lnTo>
                    <a:pt x="55" y="339"/>
                  </a:lnTo>
                  <a:lnTo>
                    <a:pt x="51" y="342"/>
                  </a:lnTo>
                  <a:lnTo>
                    <a:pt x="57" y="342"/>
                  </a:lnTo>
                  <a:lnTo>
                    <a:pt x="52" y="344"/>
                  </a:lnTo>
                  <a:lnTo>
                    <a:pt x="64" y="340"/>
                  </a:lnTo>
                  <a:lnTo>
                    <a:pt x="66" y="338"/>
                  </a:lnTo>
                  <a:lnTo>
                    <a:pt x="59" y="344"/>
                  </a:lnTo>
                  <a:lnTo>
                    <a:pt x="53" y="344"/>
                  </a:lnTo>
                  <a:lnTo>
                    <a:pt x="52" y="348"/>
                  </a:lnTo>
                  <a:lnTo>
                    <a:pt x="61" y="344"/>
                  </a:lnTo>
                  <a:lnTo>
                    <a:pt x="61" y="348"/>
                  </a:lnTo>
                  <a:lnTo>
                    <a:pt x="71" y="342"/>
                  </a:lnTo>
                  <a:lnTo>
                    <a:pt x="66" y="350"/>
                  </a:lnTo>
                  <a:lnTo>
                    <a:pt x="76" y="346"/>
                  </a:lnTo>
                  <a:lnTo>
                    <a:pt x="63" y="355"/>
                  </a:lnTo>
                  <a:lnTo>
                    <a:pt x="70" y="358"/>
                  </a:lnTo>
                  <a:lnTo>
                    <a:pt x="77" y="351"/>
                  </a:lnTo>
                  <a:lnTo>
                    <a:pt x="72" y="362"/>
                  </a:lnTo>
                  <a:lnTo>
                    <a:pt x="75" y="362"/>
                  </a:lnTo>
                  <a:lnTo>
                    <a:pt x="69" y="362"/>
                  </a:lnTo>
                  <a:lnTo>
                    <a:pt x="75" y="364"/>
                  </a:lnTo>
                  <a:lnTo>
                    <a:pt x="81" y="362"/>
                  </a:lnTo>
                  <a:lnTo>
                    <a:pt x="76" y="367"/>
                  </a:lnTo>
                  <a:lnTo>
                    <a:pt x="81" y="368"/>
                  </a:lnTo>
                  <a:lnTo>
                    <a:pt x="75" y="370"/>
                  </a:lnTo>
                  <a:lnTo>
                    <a:pt x="79" y="373"/>
                  </a:lnTo>
                  <a:lnTo>
                    <a:pt x="103" y="373"/>
                  </a:lnTo>
                  <a:lnTo>
                    <a:pt x="127" y="373"/>
                  </a:lnTo>
                  <a:lnTo>
                    <a:pt x="151" y="373"/>
                  </a:lnTo>
                  <a:lnTo>
                    <a:pt x="175" y="373"/>
                  </a:lnTo>
                  <a:lnTo>
                    <a:pt x="199" y="373"/>
                  </a:lnTo>
                  <a:lnTo>
                    <a:pt x="223" y="373"/>
                  </a:lnTo>
                  <a:lnTo>
                    <a:pt x="247" y="373"/>
                  </a:lnTo>
                  <a:lnTo>
                    <a:pt x="271" y="373"/>
                  </a:lnTo>
                  <a:lnTo>
                    <a:pt x="295" y="373"/>
                  </a:lnTo>
                  <a:lnTo>
                    <a:pt x="319" y="373"/>
                  </a:lnTo>
                  <a:lnTo>
                    <a:pt x="342" y="373"/>
                  </a:lnTo>
                  <a:lnTo>
                    <a:pt x="366" y="373"/>
                  </a:lnTo>
                  <a:lnTo>
                    <a:pt x="390" y="373"/>
                  </a:lnTo>
                  <a:lnTo>
                    <a:pt x="414" y="373"/>
                  </a:lnTo>
                  <a:lnTo>
                    <a:pt x="438" y="373"/>
                  </a:lnTo>
                  <a:lnTo>
                    <a:pt x="462" y="373"/>
                  </a:lnTo>
                  <a:lnTo>
                    <a:pt x="468" y="367"/>
                  </a:lnTo>
                  <a:lnTo>
                    <a:pt x="467" y="376"/>
                  </a:lnTo>
                  <a:lnTo>
                    <a:pt x="483" y="380"/>
                  </a:lnTo>
                  <a:lnTo>
                    <a:pt x="503" y="388"/>
                  </a:lnTo>
                  <a:lnTo>
                    <a:pt x="515" y="386"/>
                  </a:lnTo>
                  <a:lnTo>
                    <a:pt x="527" y="391"/>
                  </a:lnTo>
                  <a:lnTo>
                    <a:pt x="546" y="386"/>
                  </a:lnTo>
                  <a:lnTo>
                    <a:pt x="558" y="394"/>
                  </a:lnTo>
                  <a:lnTo>
                    <a:pt x="570" y="402"/>
                  </a:lnTo>
                  <a:lnTo>
                    <a:pt x="582" y="409"/>
                  </a:lnTo>
                  <a:lnTo>
                    <a:pt x="594" y="417"/>
                  </a:lnTo>
                  <a:lnTo>
                    <a:pt x="595" y="424"/>
                  </a:lnTo>
                  <a:lnTo>
                    <a:pt x="600" y="423"/>
                  </a:lnTo>
                  <a:lnTo>
                    <a:pt x="599" y="428"/>
                  </a:lnTo>
                  <a:lnTo>
                    <a:pt x="610" y="436"/>
                  </a:lnTo>
                  <a:lnTo>
                    <a:pt x="606" y="452"/>
                  </a:lnTo>
                  <a:lnTo>
                    <a:pt x="604" y="469"/>
                  </a:lnTo>
                  <a:lnTo>
                    <a:pt x="597" y="478"/>
                  </a:lnTo>
                  <a:lnTo>
                    <a:pt x="579" y="495"/>
                  </a:lnTo>
                  <a:lnTo>
                    <a:pt x="583" y="502"/>
                  </a:lnTo>
                  <a:lnTo>
                    <a:pt x="599" y="496"/>
                  </a:lnTo>
                  <a:lnTo>
                    <a:pt x="613" y="492"/>
                  </a:lnTo>
                  <a:lnTo>
                    <a:pt x="629" y="487"/>
                  </a:lnTo>
                  <a:lnTo>
                    <a:pt x="645" y="482"/>
                  </a:lnTo>
                  <a:lnTo>
                    <a:pt x="646" y="470"/>
                  </a:lnTo>
                  <a:lnTo>
                    <a:pt x="663" y="469"/>
                  </a:lnTo>
                  <a:lnTo>
                    <a:pt x="681" y="468"/>
                  </a:lnTo>
                  <a:lnTo>
                    <a:pt x="695" y="457"/>
                  </a:lnTo>
                  <a:lnTo>
                    <a:pt x="709" y="446"/>
                  </a:lnTo>
                  <a:lnTo>
                    <a:pt x="737" y="445"/>
                  </a:lnTo>
                  <a:lnTo>
                    <a:pt x="765" y="442"/>
                  </a:lnTo>
                  <a:lnTo>
                    <a:pt x="774" y="436"/>
                  </a:lnTo>
                  <a:lnTo>
                    <a:pt x="787" y="426"/>
                  </a:lnTo>
                  <a:lnTo>
                    <a:pt x="799" y="412"/>
                  </a:lnTo>
                  <a:lnTo>
                    <a:pt x="813" y="400"/>
                  </a:lnTo>
                  <a:lnTo>
                    <a:pt x="814" y="403"/>
                  </a:lnTo>
                  <a:lnTo>
                    <a:pt x="820" y="403"/>
                  </a:lnTo>
                  <a:lnTo>
                    <a:pt x="829" y="406"/>
                  </a:lnTo>
                  <a:lnTo>
                    <a:pt x="823" y="428"/>
                  </a:lnTo>
                  <a:lnTo>
                    <a:pt x="827" y="440"/>
                  </a:lnTo>
                  <a:lnTo>
                    <a:pt x="831" y="442"/>
                  </a:lnTo>
                  <a:lnTo>
                    <a:pt x="844" y="436"/>
                  </a:lnTo>
                  <a:lnTo>
                    <a:pt x="843" y="438"/>
                  </a:lnTo>
                  <a:lnTo>
                    <a:pt x="863" y="432"/>
                  </a:lnTo>
                  <a:lnTo>
                    <a:pt x="867" y="424"/>
                  </a:lnTo>
                  <a:lnTo>
                    <a:pt x="868" y="428"/>
                  </a:lnTo>
                  <a:lnTo>
                    <a:pt x="871" y="428"/>
                  </a:lnTo>
                  <a:lnTo>
                    <a:pt x="861" y="435"/>
                  </a:lnTo>
                  <a:lnTo>
                    <a:pt x="882" y="436"/>
                  </a:lnTo>
                  <a:lnTo>
                    <a:pt x="869" y="441"/>
                  </a:lnTo>
                  <a:lnTo>
                    <a:pt x="868" y="438"/>
                  </a:lnTo>
                  <a:lnTo>
                    <a:pt x="846" y="448"/>
                  </a:lnTo>
                  <a:lnTo>
                    <a:pt x="850" y="447"/>
                  </a:lnTo>
                  <a:lnTo>
                    <a:pt x="837" y="453"/>
                  </a:lnTo>
                  <a:lnTo>
                    <a:pt x="841" y="451"/>
                  </a:lnTo>
                  <a:lnTo>
                    <a:pt x="834" y="459"/>
                  </a:lnTo>
                  <a:lnTo>
                    <a:pt x="839" y="469"/>
                  </a:lnTo>
                  <a:lnTo>
                    <a:pt x="847" y="466"/>
                  </a:lnTo>
                  <a:lnTo>
                    <a:pt x="868" y="450"/>
                  </a:lnTo>
                  <a:lnTo>
                    <a:pt x="870" y="452"/>
                  </a:lnTo>
                  <a:lnTo>
                    <a:pt x="875" y="450"/>
                  </a:lnTo>
                  <a:lnTo>
                    <a:pt x="877" y="451"/>
                  </a:lnTo>
                  <a:lnTo>
                    <a:pt x="895" y="445"/>
                  </a:lnTo>
                  <a:lnTo>
                    <a:pt x="913" y="439"/>
                  </a:lnTo>
                  <a:lnTo>
                    <a:pt x="909" y="436"/>
                  </a:lnTo>
                  <a:lnTo>
                    <a:pt x="913" y="435"/>
                  </a:lnTo>
                  <a:lnTo>
                    <a:pt x="906" y="428"/>
                  </a:lnTo>
                  <a:lnTo>
                    <a:pt x="900" y="430"/>
                  </a:lnTo>
                  <a:lnTo>
                    <a:pt x="888" y="429"/>
                  </a:lnTo>
                  <a:lnTo>
                    <a:pt x="879" y="424"/>
                  </a:lnTo>
                  <a:lnTo>
                    <a:pt x="871" y="422"/>
                  </a:lnTo>
                  <a:lnTo>
                    <a:pt x="871" y="409"/>
                  </a:lnTo>
                  <a:lnTo>
                    <a:pt x="865" y="408"/>
                  </a:lnTo>
                  <a:lnTo>
                    <a:pt x="876" y="396"/>
                  </a:lnTo>
                  <a:lnTo>
                    <a:pt x="864" y="397"/>
                  </a:lnTo>
                  <a:lnTo>
                    <a:pt x="863" y="393"/>
                  </a:lnTo>
                  <a:lnTo>
                    <a:pt x="850" y="391"/>
                  </a:lnTo>
                  <a:lnTo>
                    <a:pt x="853" y="390"/>
                  </a:lnTo>
                  <a:lnTo>
                    <a:pt x="868" y="390"/>
                  </a:lnTo>
                  <a:lnTo>
                    <a:pt x="886" y="384"/>
                  </a:lnTo>
                  <a:lnTo>
                    <a:pt x="887" y="378"/>
                  </a:lnTo>
                  <a:lnTo>
                    <a:pt x="891" y="378"/>
                  </a:lnTo>
                  <a:lnTo>
                    <a:pt x="889" y="374"/>
                  </a:lnTo>
                  <a:lnTo>
                    <a:pt x="874" y="368"/>
                  </a:lnTo>
                  <a:lnTo>
                    <a:pt x="853" y="374"/>
                  </a:lnTo>
                  <a:lnTo>
                    <a:pt x="833" y="380"/>
                  </a:lnTo>
                  <a:lnTo>
                    <a:pt x="819" y="390"/>
                  </a:lnTo>
                  <a:lnTo>
                    <a:pt x="803" y="399"/>
                  </a:lnTo>
                  <a:lnTo>
                    <a:pt x="781" y="411"/>
                  </a:lnTo>
                  <a:lnTo>
                    <a:pt x="796" y="399"/>
                  </a:lnTo>
                  <a:lnTo>
                    <a:pt x="809" y="388"/>
                  </a:lnTo>
                  <a:lnTo>
                    <a:pt x="793" y="382"/>
                  </a:lnTo>
                  <a:lnTo>
                    <a:pt x="808" y="388"/>
                  </a:lnTo>
                  <a:lnTo>
                    <a:pt x="828" y="374"/>
                  </a:lnTo>
                  <a:lnTo>
                    <a:pt x="850" y="367"/>
                  </a:lnTo>
                  <a:lnTo>
                    <a:pt x="865" y="352"/>
                  </a:lnTo>
                  <a:lnTo>
                    <a:pt x="895" y="352"/>
                  </a:lnTo>
                  <a:lnTo>
                    <a:pt x="925" y="351"/>
                  </a:lnTo>
                  <a:lnTo>
                    <a:pt x="953" y="351"/>
                  </a:lnTo>
                  <a:lnTo>
                    <a:pt x="978" y="337"/>
                  </a:lnTo>
                  <a:lnTo>
                    <a:pt x="1002" y="331"/>
                  </a:lnTo>
                  <a:lnTo>
                    <a:pt x="1029" y="318"/>
                  </a:lnTo>
                  <a:lnTo>
                    <a:pt x="1021" y="314"/>
                  </a:lnTo>
                  <a:lnTo>
                    <a:pt x="1029" y="313"/>
                  </a:lnTo>
                  <a:lnTo>
                    <a:pt x="1019" y="310"/>
                  </a:lnTo>
                  <a:lnTo>
                    <a:pt x="1026" y="309"/>
                  </a:lnTo>
                  <a:lnTo>
                    <a:pt x="1026" y="307"/>
                  </a:lnTo>
                  <a:lnTo>
                    <a:pt x="1029" y="302"/>
                  </a:lnTo>
                  <a:lnTo>
                    <a:pt x="1031" y="297"/>
                  </a:lnTo>
                  <a:lnTo>
                    <a:pt x="1021" y="292"/>
                  </a:lnTo>
                  <a:lnTo>
                    <a:pt x="1023" y="291"/>
                  </a:lnTo>
                  <a:lnTo>
                    <a:pt x="1013" y="294"/>
                  </a:lnTo>
                  <a:lnTo>
                    <a:pt x="1015" y="284"/>
                  </a:lnTo>
                  <a:lnTo>
                    <a:pt x="1003" y="285"/>
                  </a:lnTo>
                  <a:lnTo>
                    <a:pt x="1009" y="285"/>
                  </a:lnTo>
                  <a:lnTo>
                    <a:pt x="988" y="292"/>
                  </a:lnTo>
                  <a:lnTo>
                    <a:pt x="970" y="298"/>
                  </a:lnTo>
                  <a:lnTo>
                    <a:pt x="976" y="295"/>
                  </a:lnTo>
                  <a:lnTo>
                    <a:pt x="969" y="291"/>
                  </a:lnTo>
                  <a:lnTo>
                    <a:pt x="978" y="292"/>
                  </a:lnTo>
                  <a:lnTo>
                    <a:pt x="1003" y="283"/>
                  </a:lnTo>
                  <a:lnTo>
                    <a:pt x="987" y="286"/>
                  </a:lnTo>
                  <a:lnTo>
                    <a:pt x="1018" y="277"/>
                  </a:lnTo>
                  <a:lnTo>
                    <a:pt x="999" y="270"/>
                  </a:lnTo>
                  <a:lnTo>
                    <a:pt x="994" y="270"/>
                  </a:lnTo>
                  <a:lnTo>
                    <a:pt x="999" y="266"/>
                  </a:lnTo>
                  <a:lnTo>
                    <a:pt x="987" y="272"/>
                  </a:lnTo>
                  <a:lnTo>
                    <a:pt x="993" y="267"/>
                  </a:lnTo>
                  <a:lnTo>
                    <a:pt x="991" y="266"/>
                  </a:lnTo>
                  <a:lnTo>
                    <a:pt x="984" y="268"/>
                  </a:lnTo>
                  <a:lnTo>
                    <a:pt x="987" y="265"/>
                  </a:lnTo>
                  <a:lnTo>
                    <a:pt x="978" y="268"/>
                  </a:lnTo>
                  <a:lnTo>
                    <a:pt x="982" y="266"/>
                  </a:lnTo>
                  <a:lnTo>
                    <a:pt x="984" y="262"/>
                  </a:lnTo>
                  <a:lnTo>
                    <a:pt x="985" y="256"/>
                  </a:lnTo>
                  <a:lnTo>
                    <a:pt x="981" y="260"/>
                  </a:lnTo>
                  <a:lnTo>
                    <a:pt x="982" y="258"/>
                  </a:lnTo>
                  <a:lnTo>
                    <a:pt x="976" y="250"/>
                  </a:lnTo>
                  <a:lnTo>
                    <a:pt x="967" y="248"/>
                  </a:lnTo>
                  <a:lnTo>
                    <a:pt x="975" y="248"/>
                  </a:lnTo>
                  <a:lnTo>
                    <a:pt x="970" y="244"/>
                  </a:lnTo>
                  <a:lnTo>
                    <a:pt x="973" y="243"/>
                  </a:lnTo>
                  <a:lnTo>
                    <a:pt x="969" y="242"/>
                  </a:lnTo>
                  <a:lnTo>
                    <a:pt x="972" y="242"/>
                  </a:lnTo>
                  <a:lnTo>
                    <a:pt x="966" y="238"/>
                  </a:lnTo>
                  <a:lnTo>
                    <a:pt x="969" y="238"/>
                  </a:lnTo>
                  <a:lnTo>
                    <a:pt x="973" y="241"/>
                  </a:lnTo>
                  <a:lnTo>
                    <a:pt x="983" y="235"/>
                  </a:lnTo>
                  <a:lnTo>
                    <a:pt x="978" y="230"/>
                  </a:lnTo>
                  <a:lnTo>
                    <a:pt x="975" y="228"/>
                  </a:lnTo>
                  <a:lnTo>
                    <a:pt x="979" y="223"/>
                  </a:lnTo>
                  <a:lnTo>
                    <a:pt x="975" y="219"/>
                  </a:lnTo>
                  <a:lnTo>
                    <a:pt x="973" y="217"/>
                  </a:lnTo>
                  <a:lnTo>
                    <a:pt x="966" y="218"/>
                  </a:lnTo>
                  <a:lnTo>
                    <a:pt x="976" y="214"/>
                  </a:lnTo>
                  <a:lnTo>
                    <a:pt x="975" y="211"/>
                  </a:lnTo>
                  <a:lnTo>
                    <a:pt x="963" y="214"/>
                  </a:lnTo>
                  <a:lnTo>
                    <a:pt x="976" y="206"/>
                  </a:lnTo>
                  <a:lnTo>
                    <a:pt x="971" y="202"/>
                  </a:lnTo>
                  <a:lnTo>
                    <a:pt x="966" y="202"/>
                  </a:lnTo>
                  <a:lnTo>
                    <a:pt x="971" y="198"/>
                  </a:lnTo>
                  <a:lnTo>
                    <a:pt x="969" y="195"/>
                  </a:lnTo>
                  <a:lnTo>
                    <a:pt x="965" y="188"/>
                  </a:lnTo>
                  <a:lnTo>
                    <a:pt x="965" y="184"/>
                  </a:lnTo>
                  <a:lnTo>
                    <a:pt x="960" y="186"/>
                  </a:lnTo>
                  <a:lnTo>
                    <a:pt x="964" y="182"/>
                  </a:lnTo>
                  <a:lnTo>
                    <a:pt x="955" y="186"/>
                  </a:lnTo>
                  <a:lnTo>
                    <a:pt x="955" y="190"/>
                  </a:lnTo>
                  <a:lnTo>
                    <a:pt x="948" y="190"/>
                  </a:lnTo>
                  <a:lnTo>
                    <a:pt x="952" y="195"/>
                  </a:lnTo>
                  <a:lnTo>
                    <a:pt x="947" y="198"/>
                  </a:lnTo>
                  <a:lnTo>
                    <a:pt x="942" y="201"/>
                  </a:lnTo>
                  <a:lnTo>
                    <a:pt x="935" y="208"/>
                  </a:lnTo>
                  <a:lnTo>
                    <a:pt x="933" y="213"/>
                  </a:lnTo>
                  <a:lnTo>
                    <a:pt x="930" y="206"/>
                  </a:lnTo>
                  <a:lnTo>
                    <a:pt x="917" y="213"/>
                  </a:lnTo>
                  <a:lnTo>
                    <a:pt x="907" y="220"/>
                  </a:lnTo>
                  <a:lnTo>
                    <a:pt x="909" y="214"/>
                  </a:lnTo>
                  <a:lnTo>
                    <a:pt x="904" y="217"/>
                  </a:lnTo>
                  <a:lnTo>
                    <a:pt x="906" y="211"/>
                  </a:lnTo>
                  <a:lnTo>
                    <a:pt x="899" y="219"/>
                  </a:lnTo>
                  <a:lnTo>
                    <a:pt x="885" y="223"/>
                  </a:lnTo>
                  <a:lnTo>
                    <a:pt x="904" y="214"/>
                  </a:lnTo>
                  <a:lnTo>
                    <a:pt x="901" y="204"/>
                  </a:lnTo>
                  <a:lnTo>
                    <a:pt x="885" y="207"/>
                  </a:lnTo>
                  <a:lnTo>
                    <a:pt x="881" y="207"/>
                  </a:lnTo>
                  <a:lnTo>
                    <a:pt x="887" y="204"/>
                  </a:lnTo>
                  <a:lnTo>
                    <a:pt x="892" y="205"/>
                  </a:lnTo>
                  <a:lnTo>
                    <a:pt x="897" y="196"/>
                  </a:lnTo>
                  <a:lnTo>
                    <a:pt x="893" y="194"/>
                  </a:lnTo>
                  <a:lnTo>
                    <a:pt x="898" y="187"/>
                  </a:lnTo>
                  <a:lnTo>
                    <a:pt x="882" y="184"/>
                  </a:lnTo>
                  <a:lnTo>
                    <a:pt x="901" y="183"/>
                  </a:lnTo>
                  <a:lnTo>
                    <a:pt x="904" y="175"/>
                  </a:lnTo>
                  <a:lnTo>
                    <a:pt x="906" y="171"/>
                  </a:lnTo>
                  <a:lnTo>
                    <a:pt x="901" y="171"/>
                  </a:lnTo>
                  <a:lnTo>
                    <a:pt x="883" y="164"/>
                  </a:lnTo>
                  <a:lnTo>
                    <a:pt x="888" y="159"/>
                  </a:lnTo>
                  <a:lnTo>
                    <a:pt x="883" y="160"/>
                  </a:lnTo>
                  <a:lnTo>
                    <a:pt x="879" y="154"/>
                  </a:lnTo>
                  <a:lnTo>
                    <a:pt x="880" y="152"/>
                  </a:lnTo>
                  <a:lnTo>
                    <a:pt x="868" y="146"/>
                  </a:lnTo>
                  <a:lnTo>
                    <a:pt x="853" y="151"/>
                  </a:lnTo>
                  <a:lnTo>
                    <a:pt x="839" y="151"/>
                  </a:lnTo>
                  <a:lnTo>
                    <a:pt x="844" y="150"/>
                  </a:lnTo>
                  <a:lnTo>
                    <a:pt x="820" y="146"/>
                  </a:lnTo>
                  <a:lnTo>
                    <a:pt x="809" y="158"/>
                  </a:lnTo>
                  <a:lnTo>
                    <a:pt x="810" y="163"/>
                  </a:lnTo>
                  <a:lnTo>
                    <a:pt x="802" y="174"/>
                  </a:lnTo>
                  <a:lnTo>
                    <a:pt x="805" y="174"/>
                  </a:lnTo>
                  <a:lnTo>
                    <a:pt x="802" y="186"/>
                  </a:lnTo>
                  <a:lnTo>
                    <a:pt x="796" y="192"/>
                  </a:lnTo>
                  <a:lnTo>
                    <a:pt x="793" y="193"/>
                  </a:lnTo>
                  <a:lnTo>
                    <a:pt x="773" y="210"/>
                  </a:lnTo>
                  <a:lnTo>
                    <a:pt x="787" y="225"/>
                  </a:lnTo>
                  <a:lnTo>
                    <a:pt x="779" y="240"/>
                  </a:lnTo>
                  <a:lnTo>
                    <a:pt x="772" y="254"/>
                  </a:lnTo>
                  <a:lnTo>
                    <a:pt x="753" y="264"/>
                  </a:lnTo>
                  <a:lnTo>
                    <a:pt x="733" y="272"/>
                  </a:lnTo>
                  <a:lnTo>
                    <a:pt x="724" y="276"/>
                  </a:lnTo>
                  <a:lnTo>
                    <a:pt x="725" y="288"/>
                  </a:lnTo>
                  <a:lnTo>
                    <a:pt x="720" y="312"/>
                  </a:lnTo>
                  <a:lnTo>
                    <a:pt x="713" y="321"/>
                  </a:lnTo>
                  <a:lnTo>
                    <a:pt x="708" y="330"/>
                  </a:lnTo>
                  <a:lnTo>
                    <a:pt x="705" y="333"/>
                  </a:lnTo>
                  <a:lnTo>
                    <a:pt x="702" y="327"/>
                  </a:lnTo>
                  <a:lnTo>
                    <a:pt x="693" y="338"/>
                  </a:lnTo>
                  <a:lnTo>
                    <a:pt x="695" y="343"/>
                  </a:lnTo>
                  <a:lnTo>
                    <a:pt x="685" y="332"/>
                  </a:lnTo>
                  <a:lnTo>
                    <a:pt x="675" y="338"/>
                  </a:lnTo>
                  <a:lnTo>
                    <a:pt x="685" y="330"/>
                  </a:lnTo>
                  <a:lnTo>
                    <a:pt x="675" y="318"/>
                  </a:lnTo>
                  <a:lnTo>
                    <a:pt x="677" y="313"/>
                  </a:lnTo>
                  <a:lnTo>
                    <a:pt x="676" y="301"/>
                  </a:lnTo>
                  <a:lnTo>
                    <a:pt x="682" y="284"/>
                  </a:lnTo>
                  <a:lnTo>
                    <a:pt x="689" y="267"/>
                  </a:lnTo>
                  <a:lnTo>
                    <a:pt x="672" y="266"/>
                  </a:lnTo>
                  <a:lnTo>
                    <a:pt x="655" y="266"/>
                  </a:lnTo>
                  <a:lnTo>
                    <a:pt x="651" y="268"/>
                  </a:lnTo>
                  <a:lnTo>
                    <a:pt x="657" y="264"/>
                  </a:lnTo>
                  <a:lnTo>
                    <a:pt x="645" y="258"/>
                  </a:lnTo>
                  <a:lnTo>
                    <a:pt x="631" y="252"/>
                  </a:lnTo>
                  <a:lnTo>
                    <a:pt x="617" y="237"/>
                  </a:lnTo>
                  <a:lnTo>
                    <a:pt x="599" y="231"/>
                  </a:lnTo>
                  <a:lnTo>
                    <a:pt x="576" y="237"/>
                  </a:lnTo>
                  <a:lnTo>
                    <a:pt x="577" y="236"/>
                  </a:lnTo>
                  <a:lnTo>
                    <a:pt x="574" y="237"/>
                  </a:lnTo>
                  <a:lnTo>
                    <a:pt x="585" y="217"/>
                  </a:lnTo>
                  <a:lnTo>
                    <a:pt x="583" y="207"/>
                  </a:lnTo>
                  <a:lnTo>
                    <a:pt x="571" y="210"/>
                  </a:lnTo>
                  <a:lnTo>
                    <a:pt x="567" y="216"/>
                  </a:lnTo>
                  <a:lnTo>
                    <a:pt x="571" y="207"/>
                  </a:lnTo>
                  <a:lnTo>
                    <a:pt x="570" y="201"/>
                  </a:lnTo>
                  <a:lnTo>
                    <a:pt x="588" y="177"/>
                  </a:lnTo>
                  <a:lnTo>
                    <a:pt x="616" y="159"/>
                  </a:lnTo>
                  <a:lnTo>
                    <a:pt x="617" y="154"/>
                  </a:lnTo>
                  <a:lnTo>
                    <a:pt x="630" y="150"/>
                  </a:lnTo>
                  <a:lnTo>
                    <a:pt x="628" y="148"/>
                  </a:lnTo>
                  <a:lnTo>
                    <a:pt x="633" y="150"/>
                  </a:lnTo>
                  <a:lnTo>
                    <a:pt x="639" y="145"/>
                  </a:lnTo>
                  <a:lnTo>
                    <a:pt x="646" y="144"/>
                  </a:lnTo>
                  <a:lnTo>
                    <a:pt x="647" y="140"/>
                  </a:lnTo>
                  <a:lnTo>
                    <a:pt x="667" y="136"/>
                  </a:lnTo>
                  <a:lnTo>
                    <a:pt x="669" y="132"/>
                  </a:lnTo>
                  <a:lnTo>
                    <a:pt x="654" y="128"/>
                  </a:lnTo>
                  <a:lnTo>
                    <a:pt x="657" y="127"/>
                  </a:lnTo>
                  <a:lnTo>
                    <a:pt x="642" y="124"/>
                  </a:lnTo>
                  <a:lnTo>
                    <a:pt x="642" y="120"/>
                  </a:lnTo>
                  <a:lnTo>
                    <a:pt x="660" y="123"/>
                  </a:lnTo>
                  <a:lnTo>
                    <a:pt x="679" y="127"/>
                  </a:lnTo>
                  <a:lnTo>
                    <a:pt x="685" y="122"/>
                  </a:lnTo>
                  <a:lnTo>
                    <a:pt x="689" y="120"/>
                  </a:lnTo>
                  <a:lnTo>
                    <a:pt x="696" y="122"/>
                  </a:lnTo>
                  <a:lnTo>
                    <a:pt x="696" y="118"/>
                  </a:lnTo>
                  <a:lnTo>
                    <a:pt x="703" y="121"/>
                  </a:lnTo>
                  <a:lnTo>
                    <a:pt x="731" y="106"/>
                  </a:lnTo>
                  <a:lnTo>
                    <a:pt x="735" y="102"/>
                  </a:lnTo>
                  <a:lnTo>
                    <a:pt x="709" y="98"/>
                  </a:lnTo>
                  <a:lnTo>
                    <a:pt x="694" y="91"/>
                  </a:lnTo>
                  <a:lnTo>
                    <a:pt x="723" y="96"/>
                  </a:lnTo>
                  <a:lnTo>
                    <a:pt x="731" y="100"/>
                  </a:lnTo>
                  <a:lnTo>
                    <a:pt x="759"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4" name="Freeform 393"/>
            <p:cNvSpPr>
              <a:spLocks/>
            </p:cNvSpPr>
            <p:nvPr/>
          </p:nvSpPr>
          <p:spPr bwMode="auto">
            <a:xfrm>
              <a:off x="1414" y="1288"/>
              <a:ext cx="313" cy="202"/>
            </a:xfrm>
            <a:custGeom>
              <a:avLst/>
              <a:gdLst/>
              <a:ahLst/>
              <a:cxnLst>
                <a:cxn ang="0">
                  <a:pos x="205" y="41"/>
                </a:cxn>
                <a:cxn ang="0">
                  <a:pos x="195" y="33"/>
                </a:cxn>
                <a:cxn ang="0">
                  <a:pos x="183" y="33"/>
                </a:cxn>
                <a:cxn ang="0">
                  <a:pos x="163" y="39"/>
                </a:cxn>
                <a:cxn ang="0">
                  <a:pos x="168" y="27"/>
                </a:cxn>
                <a:cxn ang="0">
                  <a:pos x="177" y="22"/>
                </a:cxn>
                <a:cxn ang="0">
                  <a:pos x="133" y="23"/>
                </a:cxn>
                <a:cxn ang="0">
                  <a:pos x="130" y="25"/>
                </a:cxn>
                <a:cxn ang="0">
                  <a:pos x="120" y="23"/>
                </a:cxn>
                <a:cxn ang="0">
                  <a:pos x="109" y="22"/>
                </a:cxn>
                <a:cxn ang="0">
                  <a:pos x="94" y="6"/>
                </a:cxn>
                <a:cxn ang="0">
                  <a:pos x="75" y="12"/>
                </a:cxn>
                <a:cxn ang="0">
                  <a:pos x="69" y="21"/>
                </a:cxn>
                <a:cxn ang="0">
                  <a:pos x="61" y="34"/>
                </a:cxn>
                <a:cxn ang="0">
                  <a:pos x="47" y="27"/>
                </a:cxn>
                <a:cxn ang="0">
                  <a:pos x="24" y="15"/>
                </a:cxn>
                <a:cxn ang="0">
                  <a:pos x="5" y="48"/>
                </a:cxn>
                <a:cxn ang="0">
                  <a:pos x="31" y="55"/>
                </a:cxn>
                <a:cxn ang="0">
                  <a:pos x="76" y="53"/>
                </a:cxn>
                <a:cxn ang="0">
                  <a:pos x="115" y="51"/>
                </a:cxn>
                <a:cxn ang="0">
                  <a:pos x="126" y="61"/>
                </a:cxn>
                <a:cxn ang="0">
                  <a:pos x="123" y="76"/>
                </a:cxn>
                <a:cxn ang="0">
                  <a:pos x="153" y="75"/>
                </a:cxn>
                <a:cxn ang="0">
                  <a:pos x="144" y="106"/>
                </a:cxn>
                <a:cxn ang="0">
                  <a:pos x="178" y="114"/>
                </a:cxn>
                <a:cxn ang="0">
                  <a:pos x="137" y="108"/>
                </a:cxn>
                <a:cxn ang="0">
                  <a:pos x="99" y="133"/>
                </a:cxn>
                <a:cxn ang="0">
                  <a:pos x="61" y="139"/>
                </a:cxn>
                <a:cxn ang="0">
                  <a:pos x="103" y="139"/>
                </a:cxn>
                <a:cxn ang="0">
                  <a:pos x="117" y="138"/>
                </a:cxn>
                <a:cxn ang="0">
                  <a:pos x="127" y="154"/>
                </a:cxn>
                <a:cxn ang="0">
                  <a:pos x="148" y="169"/>
                </a:cxn>
                <a:cxn ang="0">
                  <a:pos x="175" y="163"/>
                </a:cxn>
                <a:cxn ang="0">
                  <a:pos x="189" y="163"/>
                </a:cxn>
                <a:cxn ang="0">
                  <a:pos x="205" y="171"/>
                </a:cxn>
                <a:cxn ang="0">
                  <a:pos x="215" y="157"/>
                </a:cxn>
                <a:cxn ang="0">
                  <a:pos x="214" y="144"/>
                </a:cxn>
                <a:cxn ang="0">
                  <a:pos x="208" y="136"/>
                </a:cxn>
                <a:cxn ang="0">
                  <a:pos x="201" y="131"/>
                </a:cxn>
                <a:cxn ang="0">
                  <a:pos x="196" y="120"/>
                </a:cxn>
                <a:cxn ang="0">
                  <a:pos x="205" y="115"/>
                </a:cxn>
                <a:cxn ang="0">
                  <a:pos x="215" y="109"/>
                </a:cxn>
                <a:cxn ang="0">
                  <a:pos x="243" y="112"/>
                </a:cxn>
                <a:cxn ang="0">
                  <a:pos x="226" y="126"/>
                </a:cxn>
                <a:cxn ang="0">
                  <a:pos x="237" y="131"/>
                </a:cxn>
                <a:cxn ang="0">
                  <a:pos x="250" y="118"/>
                </a:cxn>
                <a:cxn ang="0">
                  <a:pos x="259" y="117"/>
                </a:cxn>
                <a:cxn ang="0">
                  <a:pos x="276" y="111"/>
                </a:cxn>
                <a:cxn ang="0">
                  <a:pos x="273" y="102"/>
                </a:cxn>
                <a:cxn ang="0">
                  <a:pos x="257" y="106"/>
                </a:cxn>
                <a:cxn ang="0">
                  <a:pos x="246" y="100"/>
                </a:cxn>
                <a:cxn ang="0">
                  <a:pos x="246" y="96"/>
                </a:cxn>
                <a:cxn ang="0">
                  <a:pos x="246" y="90"/>
                </a:cxn>
                <a:cxn ang="0">
                  <a:pos x="235" y="89"/>
                </a:cxn>
                <a:cxn ang="0">
                  <a:pos x="229" y="84"/>
                </a:cxn>
                <a:cxn ang="0">
                  <a:pos x="210" y="76"/>
                </a:cxn>
                <a:cxn ang="0">
                  <a:pos x="219" y="72"/>
                </a:cxn>
                <a:cxn ang="0">
                  <a:pos x="214" y="67"/>
                </a:cxn>
                <a:cxn ang="0">
                  <a:pos x="221" y="61"/>
                </a:cxn>
                <a:cxn ang="0">
                  <a:pos x="215" y="58"/>
                </a:cxn>
                <a:cxn ang="0">
                  <a:pos x="234" y="47"/>
                </a:cxn>
                <a:cxn ang="0">
                  <a:pos x="202" y="48"/>
                </a:cxn>
              </a:cxnLst>
              <a:rect l="0" t="0" r="r" b="b"/>
              <a:pathLst>
                <a:path w="282" h="183">
                  <a:moveTo>
                    <a:pt x="197" y="48"/>
                  </a:moveTo>
                  <a:lnTo>
                    <a:pt x="193" y="48"/>
                  </a:lnTo>
                  <a:lnTo>
                    <a:pt x="213" y="42"/>
                  </a:lnTo>
                  <a:lnTo>
                    <a:pt x="205" y="41"/>
                  </a:lnTo>
                  <a:lnTo>
                    <a:pt x="190" y="45"/>
                  </a:lnTo>
                  <a:lnTo>
                    <a:pt x="199" y="39"/>
                  </a:lnTo>
                  <a:lnTo>
                    <a:pt x="209" y="37"/>
                  </a:lnTo>
                  <a:lnTo>
                    <a:pt x="195" y="33"/>
                  </a:lnTo>
                  <a:lnTo>
                    <a:pt x="183" y="40"/>
                  </a:lnTo>
                  <a:lnTo>
                    <a:pt x="184" y="36"/>
                  </a:lnTo>
                  <a:lnTo>
                    <a:pt x="178" y="40"/>
                  </a:lnTo>
                  <a:lnTo>
                    <a:pt x="183" y="33"/>
                  </a:lnTo>
                  <a:lnTo>
                    <a:pt x="177" y="36"/>
                  </a:lnTo>
                  <a:lnTo>
                    <a:pt x="183" y="30"/>
                  </a:lnTo>
                  <a:lnTo>
                    <a:pt x="180" y="31"/>
                  </a:lnTo>
                  <a:lnTo>
                    <a:pt x="163" y="39"/>
                  </a:lnTo>
                  <a:lnTo>
                    <a:pt x="171" y="33"/>
                  </a:lnTo>
                  <a:lnTo>
                    <a:pt x="166" y="33"/>
                  </a:lnTo>
                  <a:lnTo>
                    <a:pt x="183" y="27"/>
                  </a:lnTo>
                  <a:lnTo>
                    <a:pt x="168" y="27"/>
                  </a:lnTo>
                  <a:lnTo>
                    <a:pt x="162" y="30"/>
                  </a:lnTo>
                  <a:lnTo>
                    <a:pt x="168" y="24"/>
                  </a:lnTo>
                  <a:lnTo>
                    <a:pt x="157" y="29"/>
                  </a:lnTo>
                  <a:lnTo>
                    <a:pt x="177" y="22"/>
                  </a:lnTo>
                  <a:lnTo>
                    <a:pt x="169" y="18"/>
                  </a:lnTo>
                  <a:lnTo>
                    <a:pt x="142" y="18"/>
                  </a:lnTo>
                  <a:lnTo>
                    <a:pt x="150" y="23"/>
                  </a:lnTo>
                  <a:lnTo>
                    <a:pt x="133" y="23"/>
                  </a:lnTo>
                  <a:lnTo>
                    <a:pt x="138" y="29"/>
                  </a:lnTo>
                  <a:lnTo>
                    <a:pt x="130" y="27"/>
                  </a:lnTo>
                  <a:lnTo>
                    <a:pt x="131" y="28"/>
                  </a:lnTo>
                  <a:lnTo>
                    <a:pt x="130" y="25"/>
                  </a:lnTo>
                  <a:lnTo>
                    <a:pt x="130" y="21"/>
                  </a:lnTo>
                  <a:lnTo>
                    <a:pt x="126" y="22"/>
                  </a:lnTo>
                  <a:lnTo>
                    <a:pt x="120" y="22"/>
                  </a:lnTo>
                  <a:lnTo>
                    <a:pt x="120" y="23"/>
                  </a:lnTo>
                  <a:lnTo>
                    <a:pt x="115" y="23"/>
                  </a:lnTo>
                  <a:lnTo>
                    <a:pt x="109" y="25"/>
                  </a:lnTo>
                  <a:lnTo>
                    <a:pt x="113" y="19"/>
                  </a:lnTo>
                  <a:lnTo>
                    <a:pt x="109" y="22"/>
                  </a:lnTo>
                  <a:lnTo>
                    <a:pt x="124" y="15"/>
                  </a:lnTo>
                  <a:lnTo>
                    <a:pt x="121" y="1"/>
                  </a:lnTo>
                  <a:lnTo>
                    <a:pt x="91" y="4"/>
                  </a:lnTo>
                  <a:lnTo>
                    <a:pt x="94" y="6"/>
                  </a:lnTo>
                  <a:lnTo>
                    <a:pt x="83" y="7"/>
                  </a:lnTo>
                  <a:lnTo>
                    <a:pt x="76" y="9"/>
                  </a:lnTo>
                  <a:lnTo>
                    <a:pt x="88" y="11"/>
                  </a:lnTo>
                  <a:lnTo>
                    <a:pt x="75" y="12"/>
                  </a:lnTo>
                  <a:lnTo>
                    <a:pt x="83" y="16"/>
                  </a:lnTo>
                  <a:lnTo>
                    <a:pt x="66" y="13"/>
                  </a:lnTo>
                  <a:lnTo>
                    <a:pt x="65" y="21"/>
                  </a:lnTo>
                  <a:lnTo>
                    <a:pt x="69" y="21"/>
                  </a:lnTo>
                  <a:lnTo>
                    <a:pt x="71" y="27"/>
                  </a:lnTo>
                  <a:lnTo>
                    <a:pt x="58" y="24"/>
                  </a:lnTo>
                  <a:lnTo>
                    <a:pt x="55" y="28"/>
                  </a:lnTo>
                  <a:lnTo>
                    <a:pt x="61" y="34"/>
                  </a:lnTo>
                  <a:lnTo>
                    <a:pt x="52" y="40"/>
                  </a:lnTo>
                  <a:lnTo>
                    <a:pt x="35" y="40"/>
                  </a:lnTo>
                  <a:lnTo>
                    <a:pt x="57" y="35"/>
                  </a:lnTo>
                  <a:lnTo>
                    <a:pt x="47" y="27"/>
                  </a:lnTo>
                  <a:lnTo>
                    <a:pt x="66" y="9"/>
                  </a:lnTo>
                  <a:lnTo>
                    <a:pt x="84" y="0"/>
                  </a:lnTo>
                  <a:lnTo>
                    <a:pt x="46" y="4"/>
                  </a:lnTo>
                  <a:lnTo>
                    <a:pt x="24" y="15"/>
                  </a:lnTo>
                  <a:lnTo>
                    <a:pt x="0" y="35"/>
                  </a:lnTo>
                  <a:lnTo>
                    <a:pt x="25" y="41"/>
                  </a:lnTo>
                  <a:lnTo>
                    <a:pt x="3" y="41"/>
                  </a:lnTo>
                  <a:lnTo>
                    <a:pt x="5" y="48"/>
                  </a:lnTo>
                  <a:lnTo>
                    <a:pt x="19" y="51"/>
                  </a:lnTo>
                  <a:lnTo>
                    <a:pt x="21" y="51"/>
                  </a:lnTo>
                  <a:lnTo>
                    <a:pt x="25" y="49"/>
                  </a:lnTo>
                  <a:lnTo>
                    <a:pt x="31" y="55"/>
                  </a:lnTo>
                  <a:lnTo>
                    <a:pt x="75" y="57"/>
                  </a:lnTo>
                  <a:lnTo>
                    <a:pt x="64" y="51"/>
                  </a:lnTo>
                  <a:lnTo>
                    <a:pt x="84" y="59"/>
                  </a:lnTo>
                  <a:lnTo>
                    <a:pt x="76" y="53"/>
                  </a:lnTo>
                  <a:lnTo>
                    <a:pt x="109" y="57"/>
                  </a:lnTo>
                  <a:lnTo>
                    <a:pt x="107" y="49"/>
                  </a:lnTo>
                  <a:lnTo>
                    <a:pt x="115" y="46"/>
                  </a:lnTo>
                  <a:lnTo>
                    <a:pt x="115" y="51"/>
                  </a:lnTo>
                  <a:lnTo>
                    <a:pt x="124" y="53"/>
                  </a:lnTo>
                  <a:lnTo>
                    <a:pt x="120" y="58"/>
                  </a:lnTo>
                  <a:lnTo>
                    <a:pt x="130" y="59"/>
                  </a:lnTo>
                  <a:lnTo>
                    <a:pt x="126" y="61"/>
                  </a:lnTo>
                  <a:lnTo>
                    <a:pt x="132" y="60"/>
                  </a:lnTo>
                  <a:lnTo>
                    <a:pt x="135" y="70"/>
                  </a:lnTo>
                  <a:lnTo>
                    <a:pt x="124" y="72"/>
                  </a:lnTo>
                  <a:lnTo>
                    <a:pt x="123" y="76"/>
                  </a:lnTo>
                  <a:lnTo>
                    <a:pt x="137" y="71"/>
                  </a:lnTo>
                  <a:lnTo>
                    <a:pt x="143" y="72"/>
                  </a:lnTo>
                  <a:lnTo>
                    <a:pt x="149" y="78"/>
                  </a:lnTo>
                  <a:lnTo>
                    <a:pt x="153" y="75"/>
                  </a:lnTo>
                  <a:lnTo>
                    <a:pt x="150" y="82"/>
                  </a:lnTo>
                  <a:lnTo>
                    <a:pt x="157" y="83"/>
                  </a:lnTo>
                  <a:lnTo>
                    <a:pt x="155" y="100"/>
                  </a:lnTo>
                  <a:lnTo>
                    <a:pt x="144" y="106"/>
                  </a:lnTo>
                  <a:lnTo>
                    <a:pt x="162" y="107"/>
                  </a:lnTo>
                  <a:lnTo>
                    <a:pt x="171" y="101"/>
                  </a:lnTo>
                  <a:lnTo>
                    <a:pt x="183" y="109"/>
                  </a:lnTo>
                  <a:lnTo>
                    <a:pt x="178" y="114"/>
                  </a:lnTo>
                  <a:lnTo>
                    <a:pt x="165" y="114"/>
                  </a:lnTo>
                  <a:lnTo>
                    <a:pt x="159" y="115"/>
                  </a:lnTo>
                  <a:lnTo>
                    <a:pt x="162" y="109"/>
                  </a:lnTo>
                  <a:lnTo>
                    <a:pt x="137" y="108"/>
                  </a:lnTo>
                  <a:lnTo>
                    <a:pt x="120" y="115"/>
                  </a:lnTo>
                  <a:lnTo>
                    <a:pt x="124" y="124"/>
                  </a:lnTo>
                  <a:lnTo>
                    <a:pt x="96" y="130"/>
                  </a:lnTo>
                  <a:lnTo>
                    <a:pt x="99" y="133"/>
                  </a:lnTo>
                  <a:lnTo>
                    <a:pt x="96" y="136"/>
                  </a:lnTo>
                  <a:lnTo>
                    <a:pt x="96" y="129"/>
                  </a:lnTo>
                  <a:lnTo>
                    <a:pt x="76" y="127"/>
                  </a:lnTo>
                  <a:lnTo>
                    <a:pt x="61" y="139"/>
                  </a:lnTo>
                  <a:lnTo>
                    <a:pt x="76" y="144"/>
                  </a:lnTo>
                  <a:lnTo>
                    <a:pt x="90" y="142"/>
                  </a:lnTo>
                  <a:lnTo>
                    <a:pt x="93" y="139"/>
                  </a:lnTo>
                  <a:lnTo>
                    <a:pt x="103" y="139"/>
                  </a:lnTo>
                  <a:lnTo>
                    <a:pt x="106" y="133"/>
                  </a:lnTo>
                  <a:lnTo>
                    <a:pt x="109" y="138"/>
                  </a:lnTo>
                  <a:lnTo>
                    <a:pt x="109" y="143"/>
                  </a:lnTo>
                  <a:lnTo>
                    <a:pt x="117" y="138"/>
                  </a:lnTo>
                  <a:lnTo>
                    <a:pt x="121" y="139"/>
                  </a:lnTo>
                  <a:lnTo>
                    <a:pt x="119" y="145"/>
                  </a:lnTo>
                  <a:lnTo>
                    <a:pt x="126" y="150"/>
                  </a:lnTo>
                  <a:lnTo>
                    <a:pt x="127" y="154"/>
                  </a:lnTo>
                  <a:lnTo>
                    <a:pt x="136" y="155"/>
                  </a:lnTo>
                  <a:lnTo>
                    <a:pt x="127" y="159"/>
                  </a:lnTo>
                  <a:lnTo>
                    <a:pt x="133" y="163"/>
                  </a:lnTo>
                  <a:lnTo>
                    <a:pt x="148" y="169"/>
                  </a:lnTo>
                  <a:lnTo>
                    <a:pt x="167" y="177"/>
                  </a:lnTo>
                  <a:lnTo>
                    <a:pt x="186" y="183"/>
                  </a:lnTo>
                  <a:lnTo>
                    <a:pt x="186" y="175"/>
                  </a:lnTo>
                  <a:lnTo>
                    <a:pt x="175" y="163"/>
                  </a:lnTo>
                  <a:lnTo>
                    <a:pt x="165" y="153"/>
                  </a:lnTo>
                  <a:lnTo>
                    <a:pt x="178" y="159"/>
                  </a:lnTo>
                  <a:lnTo>
                    <a:pt x="180" y="154"/>
                  </a:lnTo>
                  <a:lnTo>
                    <a:pt x="189" y="163"/>
                  </a:lnTo>
                  <a:lnTo>
                    <a:pt x="190" y="161"/>
                  </a:lnTo>
                  <a:lnTo>
                    <a:pt x="195" y="165"/>
                  </a:lnTo>
                  <a:lnTo>
                    <a:pt x="203" y="168"/>
                  </a:lnTo>
                  <a:lnTo>
                    <a:pt x="205" y="171"/>
                  </a:lnTo>
                  <a:lnTo>
                    <a:pt x="207" y="166"/>
                  </a:lnTo>
                  <a:lnTo>
                    <a:pt x="210" y="165"/>
                  </a:lnTo>
                  <a:lnTo>
                    <a:pt x="213" y="154"/>
                  </a:lnTo>
                  <a:lnTo>
                    <a:pt x="215" y="157"/>
                  </a:lnTo>
                  <a:lnTo>
                    <a:pt x="217" y="153"/>
                  </a:lnTo>
                  <a:lnTo>
                    <a:pt x="219" y="148"/>
                  </a:lnTo>
                  <a:lnTo>
                    <a:pt x="215" y="147"/>
                  </a:lnTo>
                  <a:lnTo>
                    <a:pt x="214" y="144"/>
                  </a:lnTo>
                  <a:lnTo>
                    <a:pt x="215" y="141"/>
                  </a:lnTo>
                  <a:lnTo>
                    <a:pt x="214" y="138"/>
                  </a:lnTo>
                  <a:lnTo>
                    <a:pt x="210" y="137"/>
                  </a:lnTo>
                  <a:lnTo>
                    <a:pt x="208" y="136"/>
                  </a:lnTo>
                  <a:lnTo>
                    <a:pt x="204" y="132"/>
                  </a:lnTo>
                  <a:lnTo>
                    <a:pt x="202" y="133"/>
                  </a:lnTo>
                  <a:lnTo>
                    <a:pt x="204" y="130"/>
                  </a:lnTo>
                  <a:lnTo>
                    <a:pt x="201" y="131"/>
                  </a:lnTo>
                  <a:lnTo>
                    <a:pt x="202" y="126"/>
                  </a:lnTo>
                  <a:lnTo>
                    <a:pt x="202" y="123"/>
                  </a:lnTo>
                  <a:lnTo>
                    <a:pt x="193" y="123"/>
                  </a:lnTo>
                  <a:lnTo>
                    <a:pt x="196" y="120"/>
                  </a:lnTo>
                  <a:lnTo>
                    <a:pt x="195" y="117"/>
                  </a:lnTo>
                  <a:lnTo>
                    <a:pt x="192" y="112"/>
                  </a:lnTo>
                  <a:lnTo>
                    <a:pt x="202" y="119"/>
                  </a:lnTo>
                  <a:lnTo>
                    <a:pt x="205" y="115"/>
                  </a:lnTo>
                  <a:lnTo>
                    <a:pt x="204" y="111"/>
                  </a:lnTo>
                  <a:lnTo>
                    <a:pt x="210" y="109"/>
                  </a:lnTo>
                  <a:lnTo>
                    <a:pt x="209" y="108"/>
                  </a:lnTo>
                  <a:lnTo>
                    <a:pt x="215" y="109"/>
                  </a:lnTo>
                  <a:lnTo>
                    <a:pt x="226" y="114"/>
                  </a:lnTo>
                  <a:lnTo>
                    <a:pt x="229" y="112"/>
                  </a:lnTo>
                  <a:lnTo>
                    <a:pt x="221" y="118"/>
                  </a:lnTo>
                  <a:lnTo>
                    <a:pt x="243" y="112"/>
                  </a:lnTo>
                  <a:lnTo>
                    <a:pt x="233" y="117"/>
                  </a:lnTo>
                  <a:lnTo>
                    <a:pt x="223" y="123"/>
                  </a:lnTo>
                  <a:lnTo>
                    <a:pt x="227" y="123"/>
                  </a:lnTo>
                  <a:lnTo>
                    <a:pt x="226" y="126"/>
                  </a:lnTo>
                  <a:lnTo>
                    <a:pt x="232" y="126"/>
                  </a:lnTo>
                  <a:lnTo>
                    <a:pt x="229" y="131"/>
                  </a:lnTo>
                  <a:lnTo>
                    <a:pt x="233" y="127"/>
                  </a:lnTo>
                  <a:lnTo>
                    <a:pt x="237" y="131"/>
                  </a:lnTo>
                  <a:lnTo>
                    <a:pt x="244" y="132"/>
                  </a:lnTo>
                  <a:lnTo>
                    <a:pt x="244" y="125"/>
                  </a:lnTo>
                  <a:lnTo>
                    <a:pt x="245" y="124"/>
                  </a:lnTo>
                  <a:lnTo>
                    <a:pt x="250" y="118"/>
                  </a:lnTo>
                  <a:lnTo>
                    <a:pt x="255" y="123"/>
                  </a:lnTo>
                  <a:lnTo>
                    <a:pt x="257" y="119"/>
                  </a:lnTo>
                  <a:lnTo>
                    <a:pt x="263" y="118"/>
                  </a:lnTo>
                  <a:lnTo>
                    <a:pt x="259" y="117"/>
                  </a:lnTo>
                  <a:lnTo>
                    <a:pt x="268" y="115"/>
                  </a:lnTo>
                  <a:lnTo>
                    <a:pt x="262" y="113"/>
                  </a:lnTo>
                  <a:lnTo>
                    <a:pt x="268" y="111"/>
                  </a:lnTo>
                  <a:lnTo>
                    <a:pt x="276" y="111"/>
                  </a:lnTo>
                  <a:lnTo>
                    <a:pt x="276" y="109"/>
                  </a:lnTo>
                  <a:lnTo>
                    <a:pt x="275" y="107"/>
                  </a:lnTo>
                  <a:lnTo>
                    <a:pt x="282" y="107"/>
                  </a:lnTo>
                  <a:lnTo>
                    <a:pt x="273" y="102"/>
                  </a:lnTo>
                  <a:lnTo>
                    <a:pt x="269" y="105"/>
                  </a:lnTo>
                  <a:lnTo>
                    <a:pt x="265" y="105"/>
                  </a:lnTo>
                  <a:lnTo>
                    <a:pt x="265" y="102"/>
                  </a:lnTo>
                  <a:lnTo>
                    <a:pt x="257" y="106"/>
                  </a:lnTo>
                  <a:lnTo>
                    <a:pt x="256" y="105"/>
                  </a:lnTo>
                  <a:lnTo>
                    <a:pt x="263" y="97"/>
                  </a:lnTo>
                  <a:lnTo>
                    <a:pt x="258" y="100"/>
                  </a:lnTo>
                  <a:lnTo>
                    <a:pt x="246" y="100"/>
                  </a:lnTo>
                  <a:lnTo>
                    <a:pt x="255" y="97"/>
                  </a:lnTo>
                  <a:lnTo>
                    <a:pt x="245" y="99"/>
                  </a:lnTo>
                  <a:lnTo>
                    <a:pt x="252" y="97"/>
                  </a:lnTo>
                  <a:lnTo>
                    <a:pt x="246" y="96"/>
                  </a:lnTo>
                  <a:lnTo>
                    <a:pt x="256" y="94"/>
                  </a:lnTo>
                  <a:lnTo>
                    <a:pt x="256" y="93"/>
                  </a:lnTo>
                  <a:lnTo>
                    <a:pt x="249" y="90"/>
                  </a:lnTo>
                  <a:lnTo>
                    <a:pt x="246" y="90"/>
                  </a:lnTo>
                  <a:lnTo>
                    <a:pt x="250" y="85"/>
                  </a:lnTo>
                  <a:lnTo>
                    <a:pt x="243" y="90"/>
                  </a:lnTo>
                  <a:lnTo>
                    <a:pt x="240" y="87"/>
                  </a:lnTo>
                  <a:lnTo>
                    <a:pt x="235" y="89"/>
                  </a:lnTo>
                  <a:lnTo>
                    <a:pt x="238" y="85"/>
                  </a:lnTo>
                  <a:lnTo>
                    <a:pt x="231" y="89"/>
                  </a:lnTo>
                  <a:lnTo>
                    <a:pt x="235" y="84"/>
                  </a:lnTo>
                  <a:lnTo>
                    <a:pt x="229" y="84"/>
                  </a:lnTo>
                  <a:lnTo>
                    <a:pt x="225" y="82"/>
                  </a:lnTo>
                  <a:lnTo>
                    <a:pt x="219" y="82"/>
                  </a:lnTo>
                  <a:lnTo>
                    <a:pt x="228" y="79"/>
                  </a:lnTo>
                  <a:lnTo>
                    <a:pt x="210" y="76"/>
                  </a:lnTo>
                  <a:lnTo>
                    <a:pt x="220" y="76"/>
                  </a:lnTo>
                  <a:lnTo>
                    <a:pt x="210" y="73"/>
                  </a:lnTo>
                  <a:lnTo>
                    <a:pt x="223" y="75"/>
                  </a:lnTo>
                  <a:lnTo>
                    <a:pt x="219" y="72"/>
                  </a:lnTo>
                  <a:lnTo>
                    <a:pt x="227" y="71"/>
                  </a:lnTo>
                  <a:lnTo>
                    <a:pt x="214" y="70"/>
                  </a:lnTo>
                  <a:lnTo>
                    <a:pt x="219" y="67"/>
                  </a:lnTo>
                  <a:lnTo>
                    <a:pt x="214" y="67"/>
                  </a:lnTo>
                  <a:lnTo>
                    <a:pt x="223" y="66"/>
                  </a:lnTo>
                  <a:lnTo>
                    <a:pt x="215" y="65"/>
                  </a:lnTo>
                  <a:lnTo>
                    <a:pt x="240" y="67"/>
                  </a:lnTo>
                  <a:lnTo>
                    <a:pt x="221" y="61"/>
                  </a:lnTo>
                  <a:lnTo>
                    <a:pt x="207" y="61"/>
                  </a:lnTo>
                  <a:lnTo>
                    <a:pt x="239" y="59"/>
                  </a:lnTo>
                  <a:lnTo>
                    <a:pt x="233" y="51"/>
                  </a:lnTo>
                  <a:lnTo>
                    <a:pt x="215" y="58"/>
                  </a:lnTo>
                  <a:lnTo>
                    <a:pt x="205" y="60"/>
                  </a:lnTo>
                  <a:lnTo>
                    <a:pt x="226" y="52"/>
                  </a:lnTo>
                  <a:lnTo>
                    <a:pt x="207" y="55"/>
                  </a:lnTo>
                  <a:lnTo>
                    <a:pt x="234" y="47"/>
                  </a:lnTo>
                  <a:lnTo>
                    <a:pt x="219" y="45"/>
                  </a:lnTo>
                  <a:lnTo>
                    <a:pt x="213" y="46"/>
                  </a:lnTo>
                  <a:lnTo>
                    <a:pt x="220" y="42"/>
                  </a:lnTo>
                  <a:lnTo>
                    <a:pt x="202" y="48"/>
                  </a:lnTo>
                  <a:lnTo>
                    <a:pt x="192" y="55"/>
                  </a:lnTo>
                  <a:lnTo>
                    <a:pt x="197" y="4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5" name="Freeform 394"/>
            <p:cNvSpPr>
              <a:spLocks/>
            </p:cNvSpPr>
            <p:nvPr/>
          </p:nvSpPr>
          <p:spPr bwMode="auto">
            <a:xfrm>
              <a:off x="1505" y="1159"/>
              <a:ext cx="382" cy="86"/>
            </a:xfrm>
            <a:custGeom>
              <a:avLst/>
              <a:gdLst/>
              <a:ahLst/>
              <a:cxnLst>
                <a:cxn ang="0">
                  <a:pos x="85" y="56"/>
                </a:cxn>
                <a:cxn ang="0">
                  <a:pos x="64" y="65"/>
                </a:cxn>
                <a:cxn ang="0">
                  <a:pos x="52" y="59"/>
                </a:cxn>
                <a:cxn ang="0">
                  <a:pos x="62" y="55"/>
                </a:cxn>
                <a:cxn ang="0">
                  <a:pos x="42" y="52"/>
                </a:cxn>
                <a:cxn ang="0">
                  <a:pos x="95" y="46"/>
                </a:cxn>
                <a:cxn ang="0">
                  <a:pos x="71" y="30"/>
                </a:cxn>
                <a:cxn ang="0">
                  <a:pos x="103" y="29"/>
                </a:cxn>
                <a:cxn ang="0">
                  <a:pos x="116" y="35"/>
                </a:cxn>
                <a:cxn ang="0">
                  <a:pos x="108" y="28"/>
                </a:cxn>
                <a:cxn ang="0">
                  <a:pos x="157" y="22"/>
                </a:cxn>
                <a:cxn ang="0">
                  <a:pos x="182" y="16"/>
                </a:cxn>
                <a:cxn ang="0">
                  <a:pos x="131" y="20"/>
                </a:cxn>
                <a:cxn ang="0">
                  <a:pos x="78" y="24"/>
                </a:cxn>
                <a:cxn ang="0">
                  <a:pos x="124" y="19"/>
                </a:cxn>
                <a:cxn ang="0">
                  <a:pos x="71" y="25"/>
                </a:cxn>
                <a:cxn ang="0">
                  <a:pos x="55" y="22"/>
                </a:cxn>
                <a:cxn ang="0">
                  <a:pos x="104" y="18"/>
                </a:cxn>
                <a:cxn ang="0">
                  <a:pos x="52" y="18"/>
                </a:cxn>
                <a:cxn ang="0">
                  <a:pos x="84" y="16"/>
                </a:cxn>
                <a:cxn ang="0">
                  <a:pos x="43" y="13"/>
                </a:cxn>
                <a:cxn ang="0">
                  <a:pos x="97" y="8"/>
                </a:cxn>
                <a:cxn ang="0">
                  <a:pos x="164" y="12"/>
                </a:cxn>
                <a:cxn ang="0">
                  <a:pos x="156" y="1"/>
                </a:cxn>
                <a:cxn ang="0">
                  <a:pos x="210" y="4"/>
                </a:cxn>
                <a:cxn ang="0">
                  <a:pos x="198" y="0"/>
                </a:cxn>
                <a:cxn ang="0">
                  <a:pos x="270" y="4"/>
                </a:cxn>
                <a:cxn ang="0">
                  <a:pos x="344" y="7"/>
                </a:cxn>
                <a:cxn ang="0">
                  <a:pos x="295" y="13"/>
                </a:cxn>
                <a:cxn ang="0">
                  <a:pos x="246" y="19"/>
                </a:cxn>
                <a:cxn ang="0">
                  <a:pos x="304" y="16"/>
                </a:cxn>
                <a:cxn ang="0">
                  <a:pos x="251" y="25"/>
                </a:cxn>
                <a:cxn ang="0">
                  <a:pos x="198" y="35"/>
                </a:cxn>
                <a:cxn ang="0">
                  <a:pos x="149" y="40"/>
                </a:cxn>
                <a:cxn ang="0">
                  <a:pos x="176" y="44"/>
                </a:cxn>
                <a:cxn ang="0">
                  <a:pos x="138" y="47"/>
                </a:cxn>
                <a:cxn ang="0">
                  <a:pos x="169" y="49"/>
                </a:cxn>
                <a:cxn ang="0">
                  <a:pos x="126" y="59"/>
                </a:cxn>
                <a:cxn ang="0">
                  <a:pos x="122" y="65"/>
                </a:cxn>
                <a:cxn ang="0">
                  <a:pos x="86" y="67"/>
                </a:cxn>
                <a:cxn ang="0">
                  <a:pos x="115" y="76"/>
                </a:cxn>
                <a:cxn ang="0">
                  <a:pos x="79" y="78"/>
                </a:cxn>
                <a:cxn ang="0">
                  <a:pos x="40" y="78"/>
                </a:cxn>
                <a:cxn ang="0">
                  <a:pos x="0" y="77"/>
                </a:cxn>
                <a:cxn ang="0">
                  <a:pos x="28" y="67"/>
                </a:cxn>
                <a:cxn ang="0">
                  <a:pos x="22" y="61"/>
                </a:cxn>
                <a:cxn ang="0">
                  <a:pos x="64" y="66"/>
                </a:cxn>
                <a:cxn ang="0">
                  <a:pos x="85" y="56"/>
                </a:cxn>
              </a:cxnLst>
              <a:rect l="0" t="0" r="r" b="b"/>
              <a:pathLst>
                <a:path w="344" h="78">
                  <a:moveTo>
                    <a:pt x="85" y="56"/>
                  </a:moveTo>
                  <a:lnTo>
                    <a:pt x="64" y="65"/>
                  </a:lnTo>
                  <a:lnTo>
                    <a:pt x="52" y="59"/>
                  </a:lnTo>
                  <a:lnTo>
                    <a:pt x="62" y="55"/>
                  </a:lnTo>
                  <a:lnTo>
                    <a:pt x="42" y="52"/>
                  </a:lnTo>
                  <a:lnTo>
                    <a:pt x="95" y="46"/>
                  </a:lnTo>
                  <a:lnTo>
                    <a:pt x="71" y="30"/>
                  </a:lnTo>
                  <a:lnTo>
                    <a:pt x="103" y="29"/>
                  </a:lnTo>
                  <a:lnTo>
                    <a:pt x="116" y="35"/>
                  </a:lnTo>
                  <a:lnTo>
                    <a:pt x="108" y="28"/>
                  </a:lnTo>
                  <a:lnTo>
                    <a:pt x="157" y="22"/>
                  </a:lnTo>
                  <a:lnTo>
                    <a:pt x="182" y="16"/>
                  </a:lnTo>
                  <a:lnTo>
                    <a:pt x="131" y="20"/>
                  </a:lnTo>
                  <a:lnTo>
                    <a:pt x="78" y="24"/>
                  </a:lnTo>
                  <a:lnTo>
                    <a:pt x="124" y="19"/>
                  </a:lnTo>
                  <a:lnTo>
                    <a:pt x="71" y="25"/>
                  </a:lnTo>
                  <a:lnTo>
                    <a:pt x="55" y="22"/>
                  </a:lnTo>
                  <a:lnTo>
                    <a:pt x="104" y="18"/>
                  </a:lnTo>
                  <a:lnTo>
                    <a:pt x="52" y="18"/>
                  </a:lnTo>
                  <a:lnTo>
                    <a:pt x="84" y="16"/>
                  </a:lnTo>
                  <a:lnTo>
                    <a:pt x="43" y="13"/>
                  </a:lnTo>
                  <a:lnTo>
                    <a:pt x="97" y="8"/>
                  </a:lnTo>
                  <a:lnTo>
                    <a:pt x="164" y="12"/>
                  </a:lnTo>
                  <a:lnTo>
                    <a:pt x="156" y="1"/>
                  </a:lnTo>
                  <a:lnTo>
                    <a:pt x="210" y="4"/>
                  </a:lnTo>
                  <a:lnTo>
                    <a:pt x="198" y="0"/>
                  </a:lnTo>
                  <a:lnTo>
                    <a:pt x="270" y="4"/>
                  </a:lnTo>
                  <a:lnTo>
                    <a:pt x="344" y="7"/>
                  </a:lnTo>
                  <a:lnTo>
                    <a:pt x="295" y="13"/>
                  </a:lnTo>
                  <a:lnTo>
                    <a:pt x="246" y="19"/>
                  </a:lnTo>
                  <a:lnTo>
                    <a:pt x="304" y="16"/>
                  </a:lnTo>
                  <a:lnTo>
                    <a:pt x="251" y="25"/>
                  </a:lnTo>
                  <a:lnTo>
                    <a:pt x="198" y="35"/>
                  </a:lnTo>
                  <a:lnTo>
                    <a:pt x="149" y="40"/>
                  </a:lnTo>
                  <a:lnTo>
                    <a:pt x="176" y="44"/>
                  </a:lnTo>
                  <a:lnTo>
                    <a:pt x="138" y="47"/>
                  </a:lnTo>
                  <a:lnTo>
                    <a:pt x="169" y="49"/>
                  </a:lnTo>
                  <a:lnTo>
                    <a:pt x="126" y="59"/>
                  </a:lnTo>
                  <a:lnTo>
                    <a:pt x="122" y="65"/>
                  </a:lnTo>
                  <a:lnTo>
                    <a:pt x="86" y="67"/>
                  </a:lnTo>
                  <a:lnTo>
                    <a:pt x="115" y="76"/>
                  </a:lnTo>
                  <a:lnTo>
                    <a:pt x="79" y="78"/>
                  </a:lnTo>
                  <a:lnTo>
                    <a:pt x="40" y="78"/>
                  </a:lnTo>
                  <a:lnTo>
                    <a:pt x="0" y="77"/>
                  </a:lnTo>
                  <a:lnTo>
                    <a:pt x="28" y="67"/>
                  </a:lnTo>
                  <a:lnTo>
                    <a:pt x="22" y="61"/>
                  </a:lnTo>
                  <a:lnTo>
                    <a:pt x="64" y="66"/>
                  </a:lnTo>
                  <a:lnTo>
                    <a:pt x="85"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6" name="Freeform 395"/>
            <p:cNvSpPr>
              <a:spLocks/>
            </p:cNvSpPr>
            <p:nvPr/>
          </p:nvSpPr>
          <p:spPr bwMode="auto">
            <a:xfrm>
              <a:off x="1043" y="1294"/>
              <a:ext cx="213" cy="80"/>
            </a:xfrm>
            <a:custGeom>
              <a:avLst/>
              <a:gdLst/>
              <a:ahLst/>
              <a:cxnLst>
                <a:cxn ang="0">
                  <a:pos x="125" y="65"/>
                </a:cxn>
                <a:cxn ang="0">
                  <a:pos x="117" y="60"/>
                </a:cxn>
                <a:cxn ang="0">
                  <a:pos x="114" y="59"/>
                </a:cxn>
                <a:cxn ang="0">
                  <a:pos x="93" y="66"/>
                </a:cxn>
                <a:cxn ang="0">
                  <a:pos x="61" y="69"/>
                </a:cxn>
                <a:cxn ang="0">
                  <a:pos x="29" y="72"/>
                </a:cxn>
                <a:cxn ang="0">
                  <a:pos x="30" y="64"/>
                </a:cxn>
                <a:cxn ang="0">
                  <a:pos x="0" y="55"/>
                </a:cxn>
                <a:cxn ang="0">
                  <a:pos x="6" y="47"/>
                </a:cxn>
                <a:cxn ang="0">
                  <a:pos x="39" y="46"/>
                </a:cxn>
                <a:cxn ang="0">
                  <a:pos x="73" y="45"/>
                </a:cxn>
                <a:cxn ang="0">
                  <a:pos x="42" y="40"/>
                </a:cxn>
                <a:cxn ang="0">
                  <a:pos x="9" y="39"/>
                </a:cxn>
                <a:cxn ang="0">
                  <a:pos x="6" y="35"/>
                </a:cxn>
                <a:cxn ang="0">
                  <a:pos x="48" y="27"/>
                </a:cxn>
                <a:cxn ang="0">
                  <a:pos x="17" y="28"/>
                </a:cxn>
                <a:cxn ang="0">
                  <a:pos x="25" y="25"/>
                </a:cxn>
                <a:cxn ang="0">
                  <a:pos x="11" y="25"/>
                </a:cxn>
                <a:cxn ang="0">
                  <a:pos x="32" y="16"/>
                </a:cxn>
                <a:cxn ang="0">
                  <a:pos x="30" y="13"/>
                </a:cxn>
                <a:cxn ang="0">
                  <a:pos x="60" y="6"/>
                </a:cxn>
                <a:cxn ang="0">
                  <a:pos x="89" y="0"/>
                </a:cxn>
                <a:cxn ang="0">
                  <a:pos x="91" y="4"/>
                </a:cxn>
                <a:cxn ang="0">
                  <a:pos x="78" y="11"/>
                </a:cxn>
                <a:cxn ang="0">
                  <a:pos x="89" y="10"/>
                </a:cxn>
                <a:cxn ang="0">
                  <a:pos x="99" y="5"/>
                </a:cxn>
                <a:cxn ang="0">
                  <a:pos x="111" y="12"/>
                </a:cxn>
                <a:cxn ang="0">
                  <a:pos x="104" y="16"/>
                </a:cxn>
                <a:cxn ang="0">
                  <a:pos x="109" y="15"/>
                </a:cxn>
                <a:cxn ang="0">
                  <a:pos x="125" y="13"/>
                </a:cxn>
                <a:cxn ang="0">
                  <a:pos x="126" y="10"/>
                </a:cxn>
                <a:cxn ang="0">
                  <a:pos x="128" y="5"/>
                </a:cxn>
                <a:cxn ang="0">
                  <a:pos x="140" y="12"/>
                </a:cxn>
                <a:cxn ang="0">
                  <a:pos x="133" y="25"/>
                </a:cxn>
                <a:cxn ang="0">
                  <a:pos x="145" y="21"/>
                </a:cxn>
                <a:cxn ang="0">
                  <a:pos x="156" y="3"/>
                </a:cxn>
                <a:cxn ang="0">
                  <a:pos x="175" y="3"/>
                </a:cxn>
                <a:cxn ang="0">
                  <a:pos x="177" y="12"/>
                </a:cxn>
                <a:cxn ang="0">
                  <a:pos x="167" y="31"/>
                </a:cxn>
                <a:cxn ang="0">
                  <a:pos x="168" y="41"/>
                </a:cxn>
                <a:cxn ang="0">
                  <a:pos x="171" y="41"/>
                </a:cxn>
                <a:cxn ang="0">
                  <a:pos x="191" y="47"/>
                </a:cxn>
                <a:cxn ang="0">
                  <a:pos x="188" y="51"/>
                </a:cxn>
                <a:cxn ang="0">
                  <a:pos x="180" y="54"/>
                </a:cxn>
                <a:cxn ang="0">
                  <a:pos x="181" y="51"/>
                </a:cxn>
                <a:cxn ang="0">
                  <a:pos x="174" y="53"/>
                </a:cxn>
                <a:cxn ang="0">
                  <a:pos x="169" y="53"/>
                </a:cxn>
                <a:cxn ang="0">
                  <a:pos x="161" y="57"/>
                </a:cxn>
                <a:cxn ang="0">
                  <a:pos x="156" y="57"/>
                </a:cxn>
                <a:cxn ang="0">
                  <a:pos x="151" y="63"/>
                </a:cxn>
                <a:cxn ang="0">
                  <a:pos x="169" y="58"/>
                </a:cxn>
                <a:cxn ang="0">
                  <a:pos x="167" y="60"/>
                </a:cxn>
                <a:cxn ang="0">
                  <a:pos x="161" y="65"/>
                </a:cxn>
                <a:cxn ang="0">
                  <a:pos x="125" y="65"/>
                </a:cxn>
              </a:cxnLst>
              <a:rect l="0" t="0" r="r" b="b"/>
              <a:pathLst>
                <a:path w="191" h="72">
                  <a:moveTo>
                    <a:pt x="125" y="65"/>
                  </a:moveTo>
                  <a:lnTo>
                    <a:pt x="117" y="60"/>
                  </a:lnTo>
                  <a:lnTo>
                    <a:pt x="114" y="59"/>
                  </a:lnTo>
                  <a:lnTo>
                    <a:pt x="93" y="66"/>
                  </a:lnTo>
                  <a:lnTo>
                    <a:pt x="61" y="69"/>
                  </a:lnTo>
                  <a:lnTo>
                    <a:pt x="29" y="72"/>
                  </a:lnTo>
                  <a:lnTo>
                    <a:pt x="30" y="64"/>
                  </a:lnTo>
                  <a:lnTo>
                    <a:pt x="0" y="55"/>
                  </a:lnTo>
                  <a:lnTo>
                    <a:pt x="6" y="47"/>
                  </a:lnTo>
                  <a:lnTo>
                    <a:pt x="39" y="46"/>
                  </a:lnTo>
                  <a:lnTo>
                    <a:pt x="73" y="45"/>
                  </a:lnTo>
                  <a:lnTo>
                    <a:pt x="42" y="40"/>
                  </a:lnTo>
                  <a:lnTo>
                    <a:pt x="9" y="39"/>
                  </a:lnTo>
                  <a:lnTo>
                    <a:pt x="6" y="35"/>
                  </a:lnTo>
                  <a:lnTo>
                    <a:pt x="48" y="27"/>
                  </a:lnTo>
                  <a:lnTo>
                    <a:pt x="17" y="28"/>
                  </a:lnTo>
                  <a:lnTo>
                    <a:pt x="25" y="25"/>
                  </a:lnTo>
                  <a:lnTo>
                    <a:pt x="11" y="25"/>
                  </a:lnTo>
                  <a:lnTo>
                    <a:pt x="32" y="16"/>
                  </a:lnTo>
                  <a:lnTo>
                    <a:pt x="30" y="13"/>
                  </a:lnTo>
                  <a:lnTo>
                    <a:pt x="60" y="6"/>
                  </a:lnTo>
                  <a:lnTo>
                    <a:pt x="89" y="0"/>
                  </a:lnTo>
                  <a:lnTo>
                    <a:pt x="91" y="4"/>
                  </a:lnTo>
                  <a:lnTo>
                    <a:pt x="78" y="11"/>
                  </a:lnTo>
                  <a:lnTo>
                    <a:pt x="89" y="10"/>
                  </a:lnTo>
                  <a:lnTo>
                    <a:pt x="99" y="5"/>
                  </a:lnTo>
                  <a:lnTo>
                    <a:pt x="111" y="12"/>
                  </a:lnTo>
                  <a:lnTo>
                    <a:pt x="104" y="16"/>
                  </a:lnTo>
                  <a:lnTo>
                    <a:pt x="109" y="15"/>
                  </a:lnTo>
                  <a:lnTo>
                    <a:pt x="125" y="13"/>
                  </a:lnTo>
                  <a:lnTo>
                    <a:pt x="126" y="10"/>
                  </a:lnTo>
                  <a:lnTo>
                    <a:pt x="128" y="5"/>
                  </a:lnTo>
                  <a:lnTo>
                    <a:pt x="140" y="12"/>
                  </a:lnTo>
                  <a:lnTo>
                    <a:pt x="133" y="25"/>
                  </a:lnTo>
                  <a:lnTo>
                    <a:pt x="145" y="21"/>
                  </a:lnTo>
                  <a:lnTo>
                    <a:pt x="156" y="3"/>
                  </a:lnTo>
                  <a:lnTo>
                    <a:pt x="175" y="3"/>
                  </a:lnTo>
                  <a:lnTo>
                    <a:pt x="177" y="12"/>
                  </a:lnTo>
                  <a:lnTo>
                    <a:pt x="167" y="31"/>
                  </a:lnTo>
                  <a:lnTo>
                    <a:pt x="168" y="41"/>
                  </a:lnTo>
                  <a:lnTo>
                    <a:pt x="171" y="41"/>
                  </a:lnTo>
                  <a:lnTo>
                    <a:pt x="191" y="47"/>
                  </a:lnTo>
                  <a:lnTo>
                    <a:pt x="188" y="51"/>
                  </a:lnTo>
                  <a:lnTo>
                    <a:pt x="180" y="54"/>
                  </a:lnTo>
                  <a:lnTo>
                    <a:pt x="181" y="51"/>
                  </a:lnTo>
                  <a:lnTo>
                    <a:pt x="174" y="53"/>
                  </a:lnTo>
                  <a:lnTo>
                    <a:pt x="169" y="53"/>
                  </a:lnTo>
                  <a:lnTo>
                    <a:pt x="161" y="57"/>
                  </a:lnTo>
                  <a:lnTo>
                    <a:pt x="156" y="57"/>
                  </a:lnTo>
                  <a:lnTo>
                    <a:pt x="151" y="63"/>
                  </a:lnTo>
                  <a:lnTo>
                    <a:pt x="169" y="58"/>
                  </a:lnTo>
                  <a:lnTo>
                    <a:pt x="167" y="60"/>
                  </a:lnTo>
                  <a:lnTo>
                    <a:pt x="161" y="65"/>
                  </a:lnTo>
                  <a:lnTo>
                    <a:pt x="125" y="6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7" name="Freeform 396"/>
            <p:cNvSpPr>
              <a:spLocks/>
            </p:cNvSpPr>
            <p:nvPr/>
          </p:nvSpPr>
          <p:spPr bwMode="auto">
            <a:xfrm>
              <a:off x="980" y="1276"/>
              <a:ext cx="156" cy="54"/>
            </a:xfrm>
            <a:custGeom>
              <a:avLst/>
              <a:gdLst/>
              <a:ahLst/>
              <a:cxnLst>
                <a:cxn ang="0">
                  <a:pos x="64" y="33"/>
                </a:cxn>
                <a:cxn ang="0">
                  <a:pos x="42" y="44"/>
                </a:cxn>
                <a:cxn ang="0">
                  <a:pos x="11" y="49"/>
                </a:cxn>
                <a:cxn ang="0">
                  <a:pos x="6" y="38"/>
                </a:cxn>
                <a:cxn ang="0">
                  <a:pos x="0" y="33"/>
                </a:cxn>
                <a:cxn ang="0">
                  <a:pos x="21" y="25"/>
                </a:cxn>
                <a:cxn ang="0">
                  <a:pos x="28" y="20"/>
                </a:cxn>
                <a:cxn ang="0">
                  <a:pos x="52" y="9"/>
                </a:cxn>
                <a:cxn ang="0">
                  <a:pos x="51" y="2"/>
                </a:cxn>
                <a:cxn ang="0">
                  <a:pos x="94" y="0"/>
                </a:cxn>
                <a:cxn ang="0">
                  <a:pos x="104" y="3"/>
                </a:cxn>
                <a:cxn ang="0">
                  <a:pos x="107" y="6"/>
                </a:cxn>
                <a:cxn ang="0">
                  <a:pos x="129" y="3"/>
                </a:cxn>
                <a:cxn ang="0">
                  <a:pos x="140" y="14"/>
                </a:cxn>
                <a:cxn ang="0">
                  <a:pos x="108" y="21"/>
                </a:cxn>
                <a:cxn ang="0">
                  <a:pos x="77" y="28"/>
                </a:cxn>
                <a:cxn ang="0">
                  <a:pos x="64" y="33"/>
                </a:cxn>
              </a:cxnLst>
              <a:rect l="0" t="0" r="r" b="b"/>
              <a:pathLst>
                <a:path w="140" h="49">
                  <a:moveTo>
                    <a:pt x="64" y="33"/>
                  </a:moveTo>
                  <a:lnTo>
                    <a:pt x="42" y="44"/>
                  </a:lnTo>
                  <a:lnTo>
                    <a:pt x="11" y="49"/>
                  </a:lnTo>
                  <a:lnTo>
                    <a:pt x="6" y="38"/>
                  </a:lnTo>
                  <a:lnTo>
                    <a:pt x="0" y="33"/>
                  </a:lnTo>
                  <a:lnTo>
                    <a:pt x="21" y="25"/>
                  </a:lnTo>
                  <a:lnTo>
                    <a:pt x="28" y="20"/>
                  </a:lnTo>
                  <a:lnTo>
                    <a:pt x="52" y="9"/>
                  </a:lnTo>
                  <a:lnTo>
                    <a:pt x="51" y="2"/>
                  </a:lnTo>
                  <a:lnTo>
                    <a:pt x="94" y="0"/>
                  </a:lnTo>
                  <a:lnTo>
                    <a:pt x="104" y="3"/>
                  </a:lnTo>
                  <a:lnTo>
                    <a:pt x="107" y="6"/>
                  </a:lnTo>
                  <a:lnTo>
                    <a:pt x="129" y="3"/>
                  </a:lnTo>
                  <a:lnTo>
                    <a:pt x="140" y="14"/>
                  </a:lnTo>
                  <a:lnTo>
                    <a:pt x="108" y="21"/>
                  </a:lnTo>
                  <a:lnTo>
                    <a:pt x="77" y="28"/>
                  </a:lnTo>
                  <a:lnTo>
                    <a:pt x="64" y="3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8" name="Freeform 397"/>
            <p:cNvSpPr>
              <a:spLocks/>
            </p:cNvSpPr>
            <p:nvPr/>
          </p:nvSpPr>
          <p:spPr bwMode="auto">
            <a:xfrm>
              <a:off x="1611" y="1683"/>
              <a:ext cx="103" cy="93"/>
            </a:xfrm>
            <a:custGeom>
              <a:avLst/>
              <a:gdLst/>
              <a:ahLst/>
              <a:cxnLst>
                <a:cxn ang="0">
                  <a:pos x="47" y="67"/>
                </a:cxn>
                <a:cxn ang="0">
                  <a:pos x="48" y="64"/>
                </a:cxn>
                <a:cxn ang="0">
                  <a:pos x="22" y="68"/>
                </a:cxn>
                <a:cxn ang="0">
                  <a:pos x="0" y="66"/>
                </a:cxn>
                <a:cxn ang="0">
                  <a:pos x="5" y="58"/>
                </a:cxn>
                <a:cxn ang="0">
                  <a:pos x="16" y="51"/>
                </a:cxn>
                <a:cxn ang="0">
                  <a:pos x="5" y="51"/>
                </a:cxn>
                <a:cxn ang="0">
                  <a:pos x="10" y="49"/>
                </a:cxn>
                <a:cxn ang="0">
                  <a:pos x="23" y="42"/>
                </a:cxn>
                <a:cxn ang="0">
                  <a:pos x="24" y="43"/>
                </a:cxn>
                <a:cxn ang="0">
                  <a:pos x="26" y="39"/>
                </a:cxn>
                <a:cxn ang="0">
                  <a:pos x="23" y="36"/>
                </a:cxn>
                <a:cxn ang="0">
                  <a:pos x="29" y="33"/>
                </a:cxn>
                <a:cxn ang="0">
                  <a:pos x="43" y="14"/>
                </a:cxn>
                <a:cxn ang="0">
                  <a:pos x="60" y="1"/>
                </a:cxn>
                <a:cxn ang="0">
                  <a:pos x="67" y="0"/>
                </a:cxn>
                <a:cxn ang="0">
                  <a:pos x="73" y="0"/>
                </a:cxn>
                <a:cxn ang="0">
                  <a:pos x="64" y="4"/>
                </a:cxn>
                <a:cxn ang="0">
                  <a:pos x="66" y="7"/>
                </a:cxn>
                <a:cxn ang="0">
                  <a:pos x="60" y="13"/>
                </a:cxn>
                <a:cxn ang="0">
                  <a:pos x="43" y="33"/>
                </a:cxn>
                <a:cxn ang="0">
                  <a:pos x="56" y="24"/>
                </a:cxn>
                <a:cxn ang="0">
                  <a:pos x="54" y="27"/>
                </a:cxn>
                <a:cxn ang="0">
                  <a:pos x="64" y="26"/>
                </a:cxn>
                <a:cxn ang="0">
                  <a:pos x="55" y="31"/>
                </a:cxn>
                <a:cxn ang="0">
                  <a:pos x="55" y="34"/>
                </a:cxn>
                <a:cxn ang="0">
                  <a:pos x="65" y="37"/>
                </a:cxn>
                <a:cxn ang="0">
                  <a:pos x="62" y="40"/>
                </a:cxn>
                <a:cxn ang="0">
                  <a:pos x="76" y="34"/>
                </a:cxn>
                <a:cxn ang="0">
                  <a:pos x="74" y="38"/>
                </a:cxn>
                <a:cxn ang="0">
                  <a:pos x="88" y="37"/>
                </a:cxn>
                <a:cxn ang="0">
                  <a:pos x="78" y="46"/>
                </a:cxn>
                <a:cxn ang="0">
                  <a:pos x="80" y="50"/>
                </a:cxn>
                <a:cxn ang="0">
                  <a:pos x="76" y="54"/>
                </a:cxn>
                <a:cxn ang="0">
                  <a:pos x="92" y="50"/>
                </a:cxn>
                <a:cxn ang="0">
                  <a:pos x="77" y="60"/>
                </a:cxn>
                <a:cxn ang="0">
                  <a:pos x="78" y="62"/>
                </a:cxn>
                <a:cxn ang="0">
                  <a:pos x="77" y="62"/>
                </a:cxn>
                <a:cxn ang="0">
                  <a:pos x="77" y="68"/>
                </a:cxn>
                <a:cxn ang="0">
                  <a:pos x="91" y="57"/>
                </a:cxn>
                <a:cxn ang="0">
                  <a:pos x="84" y="68"/>
                </a:cxn>
                <a:cxn ang="0">
                  <a:pos x="91" y="64"/>
                </a:cxn>
                <a:cxn ang="0">
                  <a:pos x="92" y="69"/>
                </a:cxn>
                <a:cxn ang="0">
                  <a:pos x="80" y="85"/>
                </a:cxn>
                <a:cxn ang="0">
                  <a:pos x="74" y="82"/>
                </a:cxn>
                <a:cxn ang="0">
                  <a:pos x="74" y="76"/>
                </a:cxn>
                <a:cxn ang="0">
                  <a:pos x="67" y="80"/>
                </a:cxn>
                <a:cxn ang="0">
                  <a:pos x="74" y="68"/>
                </a:cxn>
                <a:cxn ang="0">
                  <a:pos x="71" y="63"/>
                </a:cxn>
                <a:cxn ang="0">
                  <a:pos x="64" y="72"/>
                </a:cxn>
                <a:cxn ang="0">
                  <a:pos x="67" y="68"/>
                </a:cxn>
                <a:cxn ang="0">
                  <a:pos x="44" y="81"/>
                </a:cxn>
                <a:cxn ang="0">
                  <a:pos x="44" y="76"/>
                </a:cxn>
                <a:cxn ang="0">
                  <a:pos x="62" y="67"/>
                </a:cxn>
                <a:cxn ang="0">
                  <a:pos x="58" y="68"/>
                </a:cxn>
                <a:cxn ang="0">
                  <a:pos x="61" y="64"/>
                </a:cxn>
                <a:cxn ang="0">
                  <a:pos x="54" y="67"/>
                </a:cxn>
                <a:cxn ang="0">
                  <a:pos x="48" y="70"/>
                </a:cxn>
                <a:cxn ang="0">
                  <a:pos x="42" y="69"/>
                </a:cxn>
                <a:cxn ang="0">
                  <a:pos x="47" y="67"/>
                </a:cxn>
              </a:cxnLst>
              <a:rect l="0" t="0" r="r" b="b"/>
              <a:pathLst>
                <a:path w="92" h="85">
                  <a:moveTo>
                    <a:pt x="47" y="67"/>
                  </a:moveTo>
                  <a:lnTo>
                    <a:pt x="48" y="64"/>
                  </a:lnTo>
                  <a:lnTo>
                    <a:pt x="22" y="68"/>
                  </a:lnTo>
                  <a:lnTo>
                    <a:pt x="0" y="66"/>
                  </a:lnTo>
                  <a:lnTo>
                    <a:pt x="5" y="58"/>
                  </a:lnTo>
                  <a:lnTo>
                    <a:pt x="16" y="51"/>
                  </a:lnTo>
                  <a:lnTo>
                    <a:pt x="5" y="51"/>
                  </a:lnTo>
                  <a:lnTo>
                    <a:pt x="10" y="49"/>
                  </a:lnTo>
                  <a:lnTo>
                    <a:pt x="23" y="42"/>
                  </a:lnTo>
                  <a:lnTo>
                    <a:pt x="24" y="43"/>
                  </a:lnTo>
                  <a:lnTo>
                    <a:pt x="26" y="39"/>
                  </a:lnTo>
                  <a:lnTo>
                    <a:pt x="23" y="36"/>
                  </a:lnTo>
                  <a:lnTo>
                    <a:pt x="29" y="33"/>
                  </a:lnTo>
                  <a:lnTo>
                    <a:pt x="43" y="14"/>
                  </a:lnTo>
                  <a:lnTo>
                    <a:pt x="60" y="1"/>
                  </a:lnTo>
                  <a:lnTo>
                    <a:pt x="67" y="0"/>
                  </a:lnTo>
                  <a:lnTo>
                    <a:pt x="73" y="0"/>
                  </a:lnTo>
                  <a:lnTo>
                    <a:pt x="64" y="4"/>
                  </a:lnTo>
                  <a:lnTo>
                    <a:pt x="66" y="7"/>
                  </a:lnTo>
                  <a:lnTo>
                    <a:pt x="60" y="13"/>
                  </a:lnTo>
                  <a:lnTo>
                    <a:pt x="43" y="33"/>
                  </a:lnTo>
                  <a:lnTo>
                    <a:pt x="56" y="24"/>
                  </a:lnTo>
                  <a:lnTo>
                    <a:pt x="54" y="27"/>
                  </a:lnTo>
                  <a:lnTo>
                    <a:pt x="64" y="26"/>
                  </a:lnTo>
                  <a:lnTo>
                    <a:pt x="55" y="31"/>
                  </a:lnTo>
                  <a:lnTo>
                    <a:pt x="55" y="34"/>
                  </a:lnTo>
                  <a:lnTo>
                    <a:pt x="65" y="37"/>
                  </a:lnTo>
                  <a:lnTo>
                    <a:pt x="62" y="40"/>
                  </a:lnTo>
                  <a:lnTo>
                    <a:pt x="76" y="34"/>
                  </a:lnTo>
                  <a:lnTo>
                    <a:pt x="74" y="38"/>
                  </a:lnTo>
                  <a:lnTo>
                    <a:pt x="88" y="37"/>
                  </a:lnTo>
                  <a:lnTo>
                    <a:pt x="78" y="46"/>
                  </a:lnTo>
                  <a:lnTo>
                    <a:pt x="80" y="50"/>
                  </a:lnTo>
                  <a:lnTo>
                    <a:pt x="76" y="54"/>
                  </a:lnTo>
                  <a:lnTo>
                    <a:pt x="92" y="50"/>
                  </a:lnTo>
                  <a:lnTo>
                    <a:pt x="77" y="60"/>
                  </a:lnTo>
                  <a:lnTo>
                    <a:pt x="78" y="62"/>
                  </a:lnTo>
                  <a:lnTo>
                    <a:pt x="77" y="62"/>
                  </a:lnTo>
                  <a:lnTo>
                    <a:pt x="77" y="68"/>
                  </a:lnTo>
                  <a:lnTo>
                    <a:pt x="91" y="57"/>
                  </a:lnTo>
                  <a:lnTo>
                    <a:pt x="84" y="68"/>
                  </a:lnTo>
                  <a:lnTo>
                    <a:pt x="91" y="64"/>
                  </a:lnTo>
                  <a:lnTo>
                    <a:pt x="92" y="69"/>
                  </a:lnTo>
                  <a:lnTo>
                    <a:pt x="80" y="85"/>
                  </a:lnTo>
                  <a:lnTo>
                    <a:pt x="74" y="82"/>
                  </a:lnTo>
                  <a:lnTo>
                    <a:pt x="74" y="76"/>
                  </a:lnTo>
                  <a:lnTo>
                    <a:pt x="67" y="80"/>
                  </a:lnTo>
                  <a:lnTo>
                    <a:pt x="74" y="68"/>
                  </a:lnTo>
                  <a:lnTo>
                    <a:pt x="71" y="63"/>
                  </a:lnTo>
                  <a:lnTo>
                    <a:pt x="64" y="72"/>
                  </a:lnTo>
                  <a:lnTo>
                    <a:pt x="67" y="68"/>
                  </a:lnTo>
                  <a:lnTo>
                    <a:pt x="44" y="81"/>
                  </a:lnTo>
                  <a:lnTo>
                    <a:pt x="44" y="76"/>
                  </a:lnTo>
                  <a:lnTo>
                    <a:pt x="62" y="67"/>
                  </a:lnTo>
                  <a:lnTo>
                    <a:pt x="58" y="68"/>
                  </a:lnTo>
                  <a:lnTo>
                    <a:pt x="61" y="64"/>
                  </a:lnTo>
                  <a:lnTo>
                    <a:pt x="54" y="67"/>
                  </a:lnTo>
                  <a:lnTo>
                    <a:pt x="48" y="70"/>
                  </a:lnTo>
                  <a:lnTo>
                    <a:pt x="42" y="69"/>
                  </a:lnTo>
                  <a:lnTo>
                    <a:pt x="47" y="6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9" name="Freeform 398"/>
            <p:cNvSpPr>
              <a:spLocks/>
            </p:cNvSpPr>
            <p:nvPr/>
          </p:nvSpPr>
          <p:spPr bwMode="auto">
            <a:xfrm>
              <a:off x="1414" y="1241"/>
              <a:ext cx="180" cy="31"/>
            </a:xfrm>
            <a:custGeom>
              <a:avLst/>
              <a:gdLst/>
              <a:ahLst/>
              <a:cxnLst>
                <a:cxn ang="0">
                  <a:pos x="65" y="15"/>
                </a:cxn>
                <a:cxn ang="0">
                  <a:pos x="48" y="9"/>
                </a:cxn>
                <a:cxn ang="0">
                  <a:pos x="72" y="9"/>
                </a:cxn>
                <a:cxn ang="0">
                  <a:pos x="29" y="6"/>
                </a:cxn>
                <a:cxn ang="0">
                  <a:pos x="37" y="0"/>
                </a:cxn>
                <a:cxn ang="0">
                  <a:pos x="0" y="1"/>
                </a:cxn>
                <a:cxn ang="0">
                  <a:pos x="34" y="6"/>
                </a:cxn>
                <a:cxn ang="0">
                  <a:pos x="28" y="17"/>
                </a:cxn>
                <a:cxn ang="0">
                  <a:pos x="22" y="29"/>
                </a:cxn>
                <a:cxn ang="0">
                  <a:pos x="57" y="28"/>
                </a:cxn>
                <a:cxn ang="0">
                  <a:pos x="90" y="28"/>
                </a:cxn>
                <a:cxn ang="0">
                  <a:pos x="125" y="27"/>
                </a:cxn>
                <a:cxn ang="0">
                  <a:pos x="159" y="27"/>
                </a:cxn>
                <a:cxn ang="0">
                  <a:pos x="163" y="19"/>
                </a:cxn>
                <a:cxn ang="0">
                  <a:pos x="137" y="13"/>
                </a:cxn>
                <a:cxn ang="0">
                  <a:pos x="101" y="15"/>
                </a:cxn>
                <a:cxn ang="0">
                  <a:pos x="65" y="15"/>
                </a:cxn>
              </a:cxnLst>
              <a:rect l="0" t="0" r="r" b="b"/>
              <a:pathLst>
                <a:path w="163" h="29">
                  <a:moveTo>
                    <a:pt x="65" y="15"/>
                  </a:moveTo>
                  <a:lnTo>
                    <a:pt x="48" y="9"/>
                  </a:lnTo>
                  <a:lnTo>
                    <a:pt x="72" y="9"/>
                  </a:lnTo>
                  <a:lnTo>
                    <a:pt x="29" y="6"/>
                  </a:lnTo>
                  <a:lnTo>
                    <a:pt x="37" y="0"/>
                  </a:lnTo>
                  <a:lnTo>
                    <a:pt x="0" y="1"/>
                  </a:lnTo>
                  <a:lnTo>
                    <a:pt x="34" y="6"/>
                  </a:lnTo>
                  <a:lnTo>
                    <a:pt x="28" y="17"/>
                  </a:lnTo>
                  <a:lnTo>
                    <a:pt x="22" y="29"/>
                  </a:lnTo>
                  <a:lnTo>
                    <a:pt x="57" y="28"/>
                  </a:lnTo>
                  <a:lnTo>
                    <a:pt x="90" y="28"/>
                  </a:lnTo>
                  <a:lnTo>
                    <a:pt x="125" y="27"/>
                  </a:lnTo>
                  <a:lnTo>
                    <a:pt x="159" y="27"/>
                  </a:lnTo>
                  <a:lnTo>
                    <a:pt x="163" y="19"/>
                  </a:lnTo>
                  <a:lnTo>
                    <a:pt x="137" y="13"/>
                  </a:lnTo>
                  <a:lnTo>
                    <a:pt x="101" y="15"/>
                  </a:lnTo>
                  <a:lnTo>
                    <a:pt x="65"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0" name="Freeform 399"/>
            <p:cNvSpPr>
              <a:spLocks/>
            </p:cNvSpPr>
            <p:nvPr/>
          </p:nvSpPr>
          <p:spPr bwMode="auto">
            <a:xfrm>
              <a:off x="1476" y="1181"/>
              <a:ext cx="113" cy="40"/>
            </a:xfrm>
            <a:custGeom>
              <a:avLst/>
              <a:gdLst/>
              <a:ahLst/>
              <a:cxnLst>
                <a:cxn ang="0">
                  <a:pos x="21" y="11"/>
                </a:cxn>
                <a:cxn ang="0">
                  <a:pos x="13" y="6"/>
                </a:cxn>
                <a:cxn ang="0">
                  <a:pos x="48" y="0"/>
                </a:cxn>
                <a:cxn ang="0">
                  <a:pos x="92" y="9"/>
                </a:cxn>
                <a:cxn ang="0">
                  <a:pos x="81" y="18"/>
                </a:cxn>
                <a:cxn ang="0">
                  <a:pos x="103" y="22"/>
                </a:cxn>
                <a:cxn ang="0">
                  <a:pos x="66" y="29"/>
                </a:cxn>
                <a:cxn ang="0">
                  <a:pos x="49" y="36"/>
                </a:cxn>
                <a:cxn ang="0">
                  <a:pos x="43" y="31"/>
                </a:cxn>
                <a:cxn ang="0">
                  <a:pos x="42" y="36"/>
                </a:cxn>
                <a:cxn ang="0">
                  <a:pos x="6" y="27"/>
                </a:cxn>
                <a:cxn ang="0">
                  <a:pos x="48" y="22"/>
                </a:cxn>
                <a:cxn ang="0">
                  <a:pos x="0" y="17"/>
                </a:cxn>
                <a:cxn ang="0">
                  <a:pos x="21" y="11"/>
                </a:cxn>
              </a:cxnLst>
              <a:rect l="0" t="0" r="r" b="b"/>
              <a:pathLst>
                <a:path w="103" h="36">
                  <a:moveTo>
                    <a:pt x="21" y="11"/>
                  </a:moveTo>
                  <a:lnTo>
                    <a:pt x="13" y="6"/>
                  </a:lnTo>
                  <a:lnTo>
                    <a:pt x="48" y="0"/>
                  </a:lnTo>
                  <a:lnTo>
                    <a:pt x="92" y="9"/>
                  </a:lnTo>
                  <a:lnTo>
                    <a:pt x="81" y="18"/>
                  </a:lnTo>
                  <a:lnTo>
                    <a:pt x="103" y="22"/>
                  </a:lnTo>
                  <a:lnTo>
                    <a:pt x="66" y="29"/>
                  </a:lnTo>
                  <a:lnTo>
                    <a:pt x="49" y="36"/>
                  </a:lnTo>
                  <a:lnTo>
                    <a:pt x="43" y="31"/>
                  </a:lnTo>
                  <a:lnTo>
                    <a:pt x="42" y="36"/>
                  </a:lnTo>
                  <a:lnTo>
                    <a:pt x="6" y="27"/>
                  </a:lnTo>
                  <a:lnTo>
                    <a:pt x="48" y="22"/>
                  </a:lnTo>
                  <a:lnTo>
                    <a:pt x="0" y="17"/>
                  </a:lnTo>
                  <a:lnTo>
                    <a:pt x="21"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1" name="Freeform 400"/>
            <p:cNvSpPr>
              <a:spLocks/>
            </p:cNvSpPr>
            <p:nvPr/>
          </p:nvSpPr>
          <p:spPr bwMode="auto">
            <a:xfrm>
              <a:off x="1142" y="1241"/>
              <a:ext cx="154" cy="35"/>
            </a:xfrm>
            <a:custGeom>
              <a:avLst/>
              <a:gdLst/>
              <a:ahLst/>
              <a:cxnLst>
                <a:cxn ang="0">
                  <a:pos x="37" y="34"/>
                </a:cxn>
                <a:cxn ang="0">
                  <a:pos x="22" y="29"/>
                </a:cxn>
                <a:cxn ang="0">
                  <a:pos x="68" y="22"/>
                </a:cxn>
                <a:cxn ang="0">
                  <a:pos x="33" y="21"/>
                </a:cxn>
                <a:cxn ang="0">
                  <a:pos x="0" y="21"/>
                </a:cxn>
                <a:cxn ang="0">
                  <a:pos x="32" y="16"/>
                </a:cxn>
                <a:cxn ang="0">
                  <a:pos x="18" y="15"/>
                </a:cxn>
                <a:cxn ang="0">
                  <a:pos x="39" y="12"/>
                </a:cxn>
                <a:cxn ang="0">
                  <a:pos x="30" y="9"/>
                </a:cxn>
                <a:cxn ang="0">
                  <a:pos x="69" y="11"/>
                </a:cxn>
                <a:cxn ang="0">
                  <a:pos x="96" y="18"/>
                </a:cxn>
                <a:cxn ang="0">
                  <a:pos x="97" y="6"/>
                </a:cxn>
                <a:cxn ang="0">
                  <a:pos x="121" y="0"/>
                </a:cxn>
                <a:cxn ang="0">
                  <a:pos x="112" y="15"/>
                </a:cxn>
                <a:cxn ang="0">
                  <a:pos x="139" y="13"/>
                </a:cxn>
                <a:cxn ang="0">
                  <a:pos x="117" y="24"/>
                </a:cxn>
                <a:cxn ang="0">
                  <a:pos x="100" y="23"/>
                </a:cxn>
                <a:cxn ang="0">
                  <a:pos x="69" y="28"/>
                </a:cxn>
                <a:cxn ang="0">
                  <a:pos x="37" y="34"/>
                </a:cxn>
              </a:cxnLst>
              <a:rect l="0" t="0" r="r" b="b"/>
              <a:pathLst>
                <a:path w="139" h="34">
                  <a:moveTo>
                    <a:pt x="37" y="34"/>
                  </a:moveTo>
                  <a:lnTo>
                    <a:pt x="22" y="29"/>
                  </a:lnTo>
                  <a:lnTo>
                    <a:pt x="68" y="22"/>
                  </a:lnTo>
                  <a:lnTo>
                    <a:pt x="33" y="21"/>
                  </a:lnTo>
                  <a:lnTo>
                    <a:pt x="0" y="21"/>
                  </a:lnTo>
                  <a:lnTo>
                    <a:pt x="32" y="16"/>
                  </a:lnTo>
                  <a:lnTo>
                    <a:pt x="18" y="15"/>
                  </a:lnTo>
                  <a:lnTo>
                    <a:pt x="39" y="12"/>
                  </a:lnTo>
                  <a:lnTo>
                    <a:pt x="30" y="9"/>
                  </a:lnTo>
                  <a:lnTo>
                    <a:pt x="69" y="11"/>
                  </a:lnTo>
                  <a:lnTo>
                    <a:pt x="96" y="18"/>
                  </a:lnTo>
                  <a:lnTo>
                    <a:pt x="97" y="6"/>
                  </a:lnTo>
                  <a:lnTo>
                    <a:pt x="121" y="0"/>
                  </a:lnTo>
                  <a:lnTo>
                    <a:pt x="112" y="15"/>
                  </a:lnTo>
                  <a:lnTo>
                    <a:pt x="139" y="13"/>
                  </a:lnTo>
                  <a:lnTo>
                    <a:pt x="117" y="24"/>
                  </a:lnTo>
                  <a:lnTo>
                    <a:pt x="100" y="23"/>
                  </a:lnTo>
                  <a:lnTo>
                    <a:pt x="69" y="28"/>
                  </a:lnTo>
                  <a:lnTo>
                    <a:pt x="37"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2" name="Freeform 401"/>
            <p:cNvSpPr>
              <a:spLocks/>
            </p:cNvSpPr>
            <p:nvPr/>
          </p:nvSpPr>
          <p:spPr bwMode="auto">
            <a:xfrm>
              <a:off x="1347" y="1419"/>
              <a:ext cx="95" cy="49"/>
            </a:xfrm>
            <a:custGeom>
              <a:avLst/>
              <a:gdLst/>
              <a:ahLst/>
              <a:cxnLst>
                <a:cxn ang="0">
                  <a:pos x="62" y="32"/>
                </a:cxn>
                <a:cxn ang="0">
                  <a:pos x="53" y="30"/>
                </a:cxn>
                <a:cxn ang="0">
                  <a:pos x="54" y="28"/>
                </a:cxn>
                <a:cxn ang="0">
                  <a:pos x="47" y="30"/>
                </a:cxn>
                <a:cxn ang="0">
                  <a:pos x="18" y="43"/>
                </a:cxn>
                <a:cxn ang="0">
                  <a:pos x="18" y="35"/>
                </a:cxn>
                <a:cxn ang="0">
                  <a:pos x="0" y="35"/>
                </a:cxn>
                <a:cxn ang="0">
                  <a:pos x="18" y="26"/>
                </a:cxn>
                <a:cxn ang="0">
                  <a:pos x="29" y="13"/>
                </a:cxn>
                <a:cxn ang="0">
                  <a:pos x="41" y="0"/>
                </a:cxn>
                <a:cxn ang="0">
                  <a:pos x="48" y="4"/>
                </a:cxn>
                <a:cxn ang="0">
                  <a:pos x="46" y="10"/>
                </a:cxn>
                <a:cxn ang="0">
                  <a:pos x="53" y="7"/>
                </a:cxn>
                <a:cxn ang="0">
                  <a:pos x="76" y="22"/>
                </a:cxn>
                <a:cxn ang="0">
                  <a:pos x="68" y="30"/>
                </a:cxn>
                <a:cxn ang="0">
                  <a:pos x="86" y="30"/>
                </a:cxn>
                <a:cxn ang="0">
                  <a:pos x="87" y="34"/>
                </a:cxn>
                <a:cxn ang="0">
                  <a:pos x="72" y="38"/>
                </a:cxn>
                <a:cxn ang="0">
                  <a:pos x="62" y="32"/>
                </a:cxn>
              </a:cxnLst>
              <a:rect l="0" t="0" r="r" b="b"/>
              <a:pathLst>
                <a:path w="87" h="43">
                  <a:moveTo>
                    <a:pt x="62" y="32"/>
                  </a:moveTo>
                  <a:lnTo>
                    <a:pt x="53" y="30"/>
                  </a:lnTo>
                  <a:lnTo>
                    <a:pt x="54" y="28"/>
                  </a:lnTo>
                  <a:lnTo>
                    <a:pt x="47" y="30"/>
                  </a:lnTo>
                  <a:lnTo>
                    <a:pt x="18" y="43"/>
                  </a:lnTo>
                  <a:lnTo>
                    <a:pt x="18" y="35"/>
                  </a:lnTo>
                  <a:lnTo>
                    <a:pt x="0" y="35"/>
                  </a:lnTo>
                  <a:lnTo>
                    <a:pt x="18" y="26"/>
                  </a:lnTo>
                  <a:lnTo>
                    <a:pt x="29" y="13"/>
                  </a:lnTo>
                  <a:lnTo>
                    <a:pt x="41" y="0"/>
                  </a:lnTo>
                  <a:lnTo>
                    <a:pt x="48" y="4"/>
                  </a:lnTo>
                  <a:lnTo>
                    <a:pt x="46" y="10"/>
                  </a:lnTo>
                  <a:lnTo>
                    <a:pt x="53" y="7"/>
                  </a:lnTo>
                  <a:lnTo>
                    <a:pt x="76" y="22"/>
                  </a:lnTo>
                  <a:lnTo>
                    <a:pt x="68" y="30"/>
                  </a:lnTo>
                  <a:lnTo>
                    <a:pt x="86" y="30"/>
                  </a:lnTo>
                  <a:lnTo>
                    <a:pt x="87" y="34"/>
                  </a:lnTo>
                  <a:lnTo>
                    <a:pt x="72" y="38"/>
                  </a:lnTo>
                  <a:lnTo>
                    <a:pt x="62" y="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3" name="Freeform 402"/>
            <p:cNvSpPr>
              <a:spLocks/>
            </p:cNvSpPr>
            <p:nvPr/>
          </p:nvSpPr>
          <p:spPr bwMode="auto">
            <a:xfrm>
              <a:off x="1276" y="1288"/>
              <a:ext cx="84" cy="35"/>
            </a:xfrm>
            <a:custGeom>
              <a:avLst/>
              <a:gdLst/>
              <a:ahLst/>
              <a:cxnLst>
                <a:cxn ang="0">
                  <a:pos x="76" y="0"/>
                </a:cxn>
                <a:cxn ang="0">
                  <a:pos x="32" y="0"/>
                </a:cxn>
                <a:cxn ang="0">
                  <a:pos x="37" y="8"/>
                </a:cxn>
                <a:cxn ang="0">
                  <a:pos x="27" y="14"/>
                </a:cxn>
                <a:cxn ang="0">
                  <a:pos x="0" y="14"/>
                </a:cxn>
                <a:cxn ang="0">
                  <a:pos x="15" y="23"/>
                </a:cxn>
                <a:cxn ang="0">
                  <a:pos x="32" y="33"/>
                </a:cxn>
                <a:cxn ang="0">
                  <a:pos x="36" y="28"/>
                </a:cxn>
                <a:cxn ang="0">
                  <a:pos x="56" y="27"/>
                </a:cxn>
                <a:cxn ang="0">
                  <a:pos x="66" y="14"/>
                </a:cxn>
                <a:cxn ang="0">
                  <a:pos x="76" y="0"/>
                </a:cxn>
              </a:cxnLst>
              <a:rect l="0" t="0" r="r" b="b"/>
              <a:pathLst>
                <a:path w="76" h="33">
                  <a:moveTo>
                    <a:pt x="76" y="0"/>
                  </a:moveTo>
                  <a:lnTo>
                    <a:pt x="32" y="0"/>
                  </a:lnTo>
                  <a:lnTo>
                    <a:pt x="37" y="8"/>
                  </a:lnTo>
                  <a:lnTo>
                    <a:pt x="27" y="14"/>
                  </a:lnTo>
                  <a:lnTo>
                    <a:pt x="0" y="14"/>
                  </a:lnTo>
                  <a:lnTo>
                    <a:pt x="15" y="23"/>
                  </a:lnTo>
                  <a:lnTo>
                    <a:pt x="32" y="33"/>
                  </a:lnTo>
                  <a:lnTo>
                    <a:pt x="36" y="28"/>
                  </a:lnTo>
                  <a:lnTo>
                    <a:pt x="56" y="27"/>
                  </a:lnTo>
                  <a:lnTo>
                    <a:pt x="66" y="14"/>
                  </a:lnTo>
                  <a:lnTo>
                    <a:pt x="7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4" name="Freeform 403"/>
            <p:cNvSpPr>
              <a:spLocks/>
            </p:cNvSpPr>
            <p:nvPr/>
          </p:nvSpPr>
          <p:spPr bwMode="auto">
            <a:xfrm>
              <a:off x="1356" y="1281"/>
              <a:ext cx="89" cy="35"/>
            </a:xfrm>
            <a:custGeom>
              <a:avLst/>
              <a:gdLst/>
              <a:ahLst/>
              <a:cxnLst>
                <a:cxn ang="0">
                  <a:pos x="49" y="18"/>
                </a:cxn>
                <a:cxn ang="0">
                  <a:pos x="22" y="20"/>
                </a:cxn>
                <a:cxn ang="0">
                  <a:pos x="26" y="23"/>
                </a:cxn>
                <a:cxn ang="0">
                  <a:pos x="14" y="30"/>
                </a:cxn>
                <a:cxn ang="0">
                  <a:pos x="0" y="32"/>
                </a:cxn>
                <a:cxn ang="0">
                  <a:pos x="2" y="29"/>
                </a:cxn>
                <a:cxn ang="0">
                  <a:pos x="16" y="9"/>
                </a:cxn>
                <a:cxn ang="0">
                  <a:pos x="26" y="8"/>
                </a:cxn>
                <a:cxn ang="0">
                  <a:pos x="25" y="4"/>
                </a:cxn>
                <a:cxn ang="0">
                  <a:pos x="34" y="0"/>
                </a:cxn>
                <a:cxn ang="0">
                  <a:pos x="80" y="4"/>
                </a:cxn>
                <a:cxn ang="0">
                  <a:pos x="68" y="9"/>
                </a:cxn>
                <a:cxn ang="0">
                  <a:pos x="49" y="18"/>
                </a:cxn>
              </a:cxnLst>
              <a:rect l="0" t="0" r="r" b="b"/>
              <a:pathLst>
                <a:path w="80" h="32">
                  <a:moveTo>
                    <a:pt x="49" y="18"/>
                  </a:moveTo>
                  <a:lnTo>
                    <a:pt x="22" y="20"/>
                  </a:lnTo>
                  <a:lnTo>
                    <a:pt x="26" y="23"/>
                  </a:lnTo>
                  <a:lnTo>
                    <a:pt x="14" y="30"/>
                  </a:lnTo>
                  <a:lnTo>
                    <a:pt x="0" y="32"/>
                  </a:lnTo>
                  <a:lnTo>
                    <a:pt x="2" y="29"/>
                  </a:lnTo>
                  <a:lnTo>
                    <a:pt x="16" y="9"/>
                  </a:lnTo>
                  <a:lnTo>
                    <a:pt x="26" y="8"/>
                  </a:lnTo>
                  <a:lnTo>
                    <a:pt x="25" y="4"/>
                  </a:lnTo>
                  <a:lnTo>
                    <a:pt x="34" y="0"/>
                  </a:lnTo>
                  <a:lnTo>
                    <a:pt x="80" y="4"/>
                  </a:lnTo>
                  <a:lnTo>
                    <a:pt x="68" y="9"/>
                  </a:lnTo>
                  <a:lnTo>
                    <a:pt x="4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5" name="Freeform 404"/>
            <p:cNvSpPr>
              <a:spLocks/>
            </p:cNvSpPr>
            <p:nvPr/>
          </p:nvSpPr>
          <p:spPr bwMode="auto">
            <a:xfrm>
              <a:off x="578" y="1696"/>
              <a:ext cx="49" cy="47"/>
            </a:xfrm>
            <a:custGeom>
              <a:avLst/>
              <a:gdLst/>
              <a:ahLst/>
              <a:cxnLst>
                <a:cxn ang="0">
                  <a:pos x="30" y="27"/>
                </a:cxn>
                <a:cxn ang="0">
                  <a:pos x="28" y="30"/>
                </a:cxn>
                <a:cxn ang="0">
                  <a:pos x="16" y="29"/>
                </a:cxn>
                <a:cxn ang="0">
                  <a:pos x="19" y="26"/>
                </a:cxn>
                <a:cxn ang="0">
                  <a:pos x="14" y="25"/>
                </a:cxn>
                <a:cxn ang="0">
                  <a:pos x="8" y="23"/>
                </a:cxn>
                <a:cxn ang="0">
                  <a:pos x="18" y="19"/>
                </a:cxn>
                <a:cxn ang="0">
                  <a:pos x="8" y="15"/>
                </a:cxn>
                <a:cxn ang="0">
                  <a:pos x="8" y="12"/>
                </a:cxn>
                <a:cxn ang="0">
                  <a:pos x="2" y="11"/>
                </a:cxn>
                <a:cxn ang="0">
                  <a:pos x="1" y="8"/>
                </a:cxn>
                <a:cxn ang="0">
                  <a:pos x="8" y="3"/>
                </a:cxn>
                <a:cxn ang="0">
                  <a:pos x="5" y="5"/>
                </a:cxn>
                <a:cxn ang="0">
                  <a:pos x="0" y="0"/>
                </a:cxn>
                <a:cxn ang="0">
                  <a:pos x="14" y="2"/>
                </a:cxn>
                <a:cxn ang="0">
                  <a:pos x="30" y="6"/>
                </a:cxn>
                <a:cxn ang="0">
                  <a:pos x="34" y="14"/>
                </a:cxn>
                <a:cxn ang="0">
                  <a:pos x="41" y="25"/>
                </a:cxn>
                <a:cxn ang="0">
                  <a:pos x="42" y="37"/>
                </a:cxn>
                <a:cxn ang="0">
                  <a:pos x="43" y="41"/>
                </a:cxn>
                <a:cxn ang="0">
                  <a:pos x="22" y="35"/>
                </a:cxn>
                <a:cxn ang="0">
                  <a:pos x="30" y="27"/>
                </a:cxn>
              </a:cxnLst>
              <a:rect l="0" t="0" r="r" b="b"/>
              <a:pathLst>
                <a:path w="43" h="41">
                  <a:moveTo>
                    <a:pt x="30" y="27"/>
                  </a:moveTo>
                  <a:lnTo>
                    <a:pt x="28" y="30"/>
                  </a:lnTo>
                  <a:lnTo>
                    <a:pt x="16" y="29"/>
                  </a:lnTo>
                  <a:lnTo>
                    <a:pt x="19" y="26"/>
                  </a:lnTo>
                  <a:lnTo>
                    <a:pt x="14" y="25"/>
                  </a:lnTo>
                  <a:lnTo>
                    <a:pt x="8" y="23"/>
                  </a:lnTo>
                  <a:lnTo>
                    <a:pt x="18" y="19"/>
                  </a:lnTo>
                  <a:lnTo>
                    <a:pt x="8" y="15"/>
                  </a:lnTo>
                  <a:lnTo>
                    <a:pt x="8" y="12"/>
                  </a:lnTo>
                  <a:lnTo>
                    <a:pt x="2" y="11"/>
                  </a:lnTo>
                  <a:lnTo>
                    <a:pt x="1" y="8"/>
                  </a:lnTo>
                  <a:lnTo>
                    <a:pt x="8" y="3"/>
                  </a:lnTo>
                  <a:lnTo>
                    <a:pt x="5" y="5"/>
                  </a:lnTo>
                  <a:lnTo>
                    <a:pt x="0" y="0"/>
                  </a:lnTo>
                  <a:lnTo>
                    <a:pt x="14" y="2"/>
                  </a:lnTo>
                  <a:lnTo>
                    <a:pt x="30" y="6"/>
                  </a:lnTo>
                  <a:lnTo>
                    <a:pt x="34" y="14"/>
                  </a:lnTo>
                  <a:lnTo>
                    <a:pt x="41" y="25"/>
                  </a:lnTo>
                  <a:lnTo>
                    <a:pt x="42" y="37"/>
                  </a:lnTo>
                  <a:lnTo>
                    <a:pt x="43" y="41"/>
                  </a:lnTo>
                  <a:lnTo>
                    <a:pt x="22" y="35"/>
                  </a:lnTo>
                  <a:lnTo>
                    <a:pt x="3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6" name="Freeform 405"/>
            <p:cNvSpPr>
              <a:spLocks/>
            </p:cNvSpPr>
            <p:nvPr/>
          </p:nvSpPr>
          <p:spPr bwMode="auto">
            <a:xfrm>
              <a:off x="1100" y="1230"/>
              <a:ext cx="111" cy="24"/>
            </a:xfrm>
            <a:custGeom>
              <a:avLst/>
              <a:gdLst/>
              <a:ahLst/>
              <a:cxnLst>
                <a:cxn ang="0">
                  <a:pos x="60" y="12"/>
                </a:cxn>
                <a:cxn ang="0">
                  <a:pos x="63" y="9"/>
                </a:cxn>
                <a:cxn ang="0">
                  <a:pos x="49" y="13"/>
                </a:cxn>
                <a:cxn ang="0">
                  <a:pos x="39" y="17"/>
                </a:cxn>
                <a:cxn ang="0">
                  <a:pos x="36" y="15"/>
                </a:cxn>
                <a:cxn ang="0">
                  <a:pos x="29" y="20"/>
                </a:cxn>
                <a:cxn ang="0">
                  <a:pos x="19" y="21"/>
                </a:cxn>
                <a:cxn ang="0">
                  <a:pos x="19" y="18"/>
                </a:cxn>
                <a:cxn ang="0">
                  <a:pos x="11" y="20"/>
                </a:cxn>
                <a:cxn ang="0">
                  <a:pos x="0" y="19"/>
                </a:cxn>
                <a:cxn ang="0">
                  <a:pos x="6" y="15"/>
                </a:cxn>
                <a:cxn ang="0">
                  <a:pos x="43" y="7"/>
                </a:cxn>
                <a:cxn ang="0">
                  <a:pos x="69" y="1"/>
                </a:cxn>
                <a:cxn ang="0">
                  <a:pos x="85" y="0"/>
                </a:cxn>
                <a:cxn ang="0">
                  <a:pos x="101" y="2"/>
                </a:cxn>
                <a:cxn ang="0">
                  <a:pos x="87" y="6"/>
                </a:cxn>
                <a:cxn ang="0">
                  <a:pos x="89" y="7"/>
                </a:cxn>
                <a:cxn ang="0">
                  <a:pos x="85" y="8"/>
                </a:cxn>
                <a:cxn ang="0">
                  <a:pos x="69" y="12"/>
                </a:cxn>
                <a:cxn ang="0">
                  <a:pos x="60" y="17"/>
                </a:cxn>
                <a:cxn ang="0">
                  <a:pos x="60" y="12"/>
                </a:cxn>
              </a:cxnLst>
              <a:rect l="0" t="0" r="r" b="b"/>
              <a:pathLst>
                <a:path w="101" h="21">
                  <a:moveTo>
                    <a:pt x="60" y="12"/>
                  </a:moveTo>
                  <a:lnTo>
                    <a:pt x="63" y="9"/>
                  </a:lnTo>
                  <a:lnTo>
                    <a:pt x="49" y="13"/>
                  </a:lnTo>
                  <a:lnTo>
                    <a:pt x="39" y="17"/>
                  </a:lnTo>
                  <a:lnTo>
                    <a:pt x="36" y="15"/>
                  </a:lnTo>
                  <a:lnTo>
                    <a:pt x="29" y="20"/>
                  </a:lnTo>
                  <a:lnTo>
                    <a:pt x="19" y="21"/>
                  </a:lnTo>
                  <a:lnTo>
                    <a:pt x="19" y="18"/>
                  </a:lnTo>
                  <a:lnTo>
                    <a:pt x="11" y="20"/>
                  </a:lnTo>
                  <a:lnTo>
                    <a:pt x="0" y="19"/>
                  </a:lnTo>
                  <a:lnTo>
                    <a:pt x="6" y="15"/>
                  </a:lnTo>
                  <a:lnTo>
                    <a:pt x="43" y="7"/>
                  </a:lnTo>
                  <a:lnTo>
                    <a:pt x="69" y="1"/>
                  </a:lnTo>
                  <a:lnTo>
                    <a:pt x="85" y="0"/>
                  </a:lnTo>
                  <a:lnTo>
                    <a:pt x="101" y="2"/>
                  </a:lnTo>
                  <a:lnTo>
                    <a:pt x="87" y="6"/>
                  </a:lnTo>
                  <a:lnTo>
                    <a:pt x="89" y="7"/>
                  </a:lnTo>
                  <a:lnTo>
                    <a:pt x="85" y="8"/>
                  </a:lnTo>
                  <a:lnTo>
                    <a:pt x="69" y="12"/>
                  </a:lnTo>
                  <a:lnTo>
                    <a:pt x="60" y="17"/>
                  </a:lnTo>
                  <a:lnTo>
                    <a:pt x="6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7" name="Freeform 406"/>
            <p:cNvSpPr>
              <a:spLocks/>
            </p:cNvSpPr>
            <p:nvPr/>
          </p:nvSpPr>
          <p:spPr bwMode="auto">
            <a:xfrm>
              <a:off x="1327" y="1243"/>
              <a:ext cx="67" cy="25"/>
            </a:xfrm>
            <a:custGeom>
              <a:avLst/>
              <a:gdLst/>
              <a:ahLst/>
              <a:cxnLst>
                <a:cxn ang="0">
                  <a:pos x="29" y="7"/>
                </a:cxn>
                <a:cxn ang="0">
                  <a:pos x="19" y="4"/>
                </a:cxn>
                <a:cxn ang="0">
                  <a:pos x="23" y="6"/>
                </a:cxn>
                <a:cxn ang="0">
                  <a:pos x="16" y="7"/>
                </a:cxn>
                <a:cxn ang="0">
                  <a:pos x="16" y="9"/>
                </a:cxn>
                <a:cxn ang="0">
                  <a:pos x="15" y="10"/>
                </a:cxn>
                <a:cxn ang="0">
                  <a:pos x="0" y="13"/>
                </a:cxn>
                <a:cxn ang="0">
                  <a:pos x="40" y="13"/>
                </a:cxn>
                <a:cxn ang="0">
                  <a:pos x="16" y="18"/>
                </a:cxn>
                <a:cxn ang="0">
                  <a:pos x="15" y="19"/>
                </a:cxn>
                <a:cxn ang="0">
                  <a:pos x="39" y="21"/>
                </a:cxn>
                <a:cxn ang="0">
                  <a:pos x="41" y="19"/>
                </a:cxn>
                <a:cxn ang="0">
                  <a:pos x="45" y="16"/>
                </a:cxn>
                <a:cxn ang="0">
                  <a:pos x="53" y="16"/>
                </a:cxn>
                <a:cxn ang="0">
                  <a:pos x="55" y="13"/>
                </a:cxn>
                <a:cxn ang="0">
                  <a:pos x="51" y="12"/>
                </a:cxn>
                <a:cxn ang="0">
                  <a:pos x="61" y="4"/>
                </a:cxn>
                <a:cxn ang="0">
                  <a:pos x="59" y="0"/>
                </a:cxn>
                <a:cxn ang="0">
                  <a:pos x="49" y="2"/>
                </a:cxn>
                <a:cxn ang="0">
                  <a:pos x="31" y="2"/>
                </a:cxn>
                <a:cxn ang="0">
                  <a:pos x="39" y="7"/>
                </a:cxn>
                <a:cxn ang="0">
                  <a:pos x="33" y="8"/>
                </a:cxn>
                <a:cxn ang="0">
                  <a:pos x="29" y="7"/>
                </a:cxn>
              </a:cxnLst>
              <a:rect l="0" t="0" r="r" b="b"/>
              <a:pathLst>
                <a:path w="61" h="21">
                  <a:moveTo>
                    <a:pt x="29" y="7"/>
                  </a:moveTo>
                  <a:lnTo>
                    <a:pt x="19" y="4"/>
                  </a:lnTo>
                  <a:lnTo>
                    <a:pt x="23" y="6"/>
                  </a:lnTo>
                  <a:lnTo>
                    <a:pt x="16" y="7"/>
                  </a:lnTo>
                  <a:lnTo>
                    <a:pt x="16" y="9"/>
                  </a:lnTo>
                  <a:lnTo>
                    <a:pt x="15" y="10"/>
                  </a:lnTo>
                  <a:lnTo>
                    <a:pt x="0" y="13"/>
                  </a:lnTo>
                  <a:lnTo>
                    <a:pt x="40" y="13"/>
                  </a:lnTo>
                  <a:lnTo>
                    <a:pt x="16" y="18"/>
                  </a:lnTo>
                  <a:lnTo>
                    <a:pt x="15" y="19"/>
                  </a:lnTo>
                  <a:lnTo>
                    <a:pt x="39" y="21"/>
                  </a:lnTo>
                  <a:lnTo>
                    <a:pt x="41" y="19"/>
                  </a:lnTo>
                  <a:lnTo>
                    <a:pt x="45" y="16"/>
                  </a:lnTo>
                  <a:lnTo>
                    <a:pt x="53" y="16"/>
                  </a:lnTo>
                  <a:lnTo>
                    <a:pt x="55" y="13"/>
                  </a:lnTo>
                  <a:lnTo>
                    <a:pt x="51" y="12"/>
                  </a:lnTo>
                  <a:lnTo>
                    <a:pt x="61" y="4"/>
                  </a:lnTo>
                  <a:lnTo>
                    <a:pt x="59" y="0"/>
                  </a:lnTo>
                  <a:lnTo>
                    <a:pt x="49" y="2"/>
                  </a:lnTo>
                  <a:lnTo>
                    <a:pt x="31" y="2"/>
                  </a:lnTo>
                  <a:lnTo>
                    <a:pt x="39" y="7"/>
                  </a:lnTo>
                  <a:lnTo>
                    <a:pt x="33" y="8"/>
                  </a:lnTo>
                  <a:lnTo>
                    <a:pt x="29"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8" name="Freeform 407"/>
            <p:cNvSpPr>
              <a:spLocks/>
            </p:cNvSpPr>
            <p:nvPr/>
          </p:nvSpPr>
          <p:spPr bwMode="auto">
            <a:xfrm>
              <a:off x="1351" y="1205"/>
              <a:ext cx="63" cy="23"/>
            </a:xfrm>
            <a:custGeom>
              <a:avLst/>
              <a:gdLst/>
              <a:ahLst/>
              <a:cxnLst>
                <a:cxn ang="0">
                  <a:pos x="35" y="4"/>
                </a:cxn>
                <a:cxn ang="0">
                  <a:pos x="36" y="2"/>
                </a:cxn>
                <a:cxn ang="0">
                  <a:pos x="49" y="4"/>
                </a:cxn>
                <a:cxn ang="0">
                  <a:pos x="54" y="5"/>
                </a:cxn>
                <a:cxn ang="0">
                  <a:pos x="52" y="10"/>
                </a:cxn>
                <a:cxn ang="0">
                  <a:pos x="55" y="16"/>
                </a:cxn>
                <a:cxn ang="0">
                  <a:pos x="41" y="19"/>
                </a:cxn>
                <a:cxn ang="0">
                  <a:pos x="26" y="12"/>
                </a:cxn>
                <a:cxn ang="0">
                  <a:pos x="0" y="11"/>
                </a:cxn>
                <a:cxn ang="0">
                  <a:pos x="6" y="8"/>
                </a:cxn>
                <a:cxn ang="0">
                  <a:pos x="19" y="7"/>
                </a:cxn>
                <a:cxn ang="0">
                  <a:pos x="18" y="4"/>
                </a:cxn>
                <a:cxn ang="0">
                  <a:pos x="10" y="4"/>
                </a:cxn>
                <a:cxn ang="0">
                  <a:pos x="6" y="0"/>
                </a:cxn>
                <a:cxn ang="0">
                  <a:pos x="35" y="0"/>
                </a:cxn>
                <a:cxn ang="0">
                  <a:pos x="35" y="4"/>
                </a:cxn>
              </a:cxnLst>
              <a:rect l="0" t="0" r="r" b="b"/>
              <a:pathLst>
                <a:path w="55" h="19">
                  <a:moveTo>
                    <a:pt x="35" y="4"/>
                  </a:moveTo>
                  <a:lnTo>
                    <a:pt x="36" y="2"/>
                  </a:lnTo>
                  <a:lnTo>
                    <a:pt x="49" y="4"/>
                  </a:lnTo>
                  <a:lnTo>
                    <a:pt x="54" y="5"/>
                  </a:lnTo>
                  <a:lnTo>
                    <a:pt x="52" y="10"/>
                  </a:lnTo>
                  <a:lnTo>
                    <a:pt x="55" y="16"/>
                  </a:lnTo>
                  <a:lnTo>
                    <a:pt x="41" y="19"/>
                  </a:lnTo>
                  <a:lnTo>
                    <a:pt x="26" y="12"/>
                  </a:lnTo>
                  <a:lnTo>
                    <a:pt x="0" y="11"/>
                  </a:lnTo>
                  <a:lnTo>
                    <a:pt x="6" y="8"/>
                  </a:lnTo>
                  <a:lnTo>
                    <a:pt x="19" y="7"/>
                  </a:lnTo>
                  <a:lnTo>
                    <a:pt x="18" y="4"/>
                  </a:lnTo>
                  <a:lnTo>
                    <a:pt x="10" y="4"/>
                  </a:lnTo>
                  <a:lnTo>
                    <a:pt x="6" y="0"/>
                  </a:lnTo>
                  <a:lnTo>
                    <a:pt x="35" y="0"/>
                  </a:lnTo>
                  <a:lnTo>
                    <a:pt x="3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9" name="Freeform 408"/>
            <p:cNvSpPr>
              <a:spLocks/>
            </p:cNvSpPr>
            <p:nvPr/>
          </p:nvSpPr>
          <p:spPr bwMode="auto">
            <a:xfrm>
              <a:off x="1256" y="1350"/>
              <a:ext cx="53" cy="24"/>
            </a:xfrm>
            <a:custGeom>
              <a:avLst/>
              <a:gdLst/>
              <a:ahLst/>
              <a:cxnLst>
                <a:cxn ang="0">
                  <a:pos x="42" y="12"/>
                </a:cxn>
                <a:cxn ang="0">
                  <a:pos x="43" y="9"/>
                </a:cxn>
                <a:cxn ang="0">
                  <a:pos x="30" y="0"/>
                </a:cxn>
                <a:cxn ang="0">
                  <a:pos x="22" y="6"/>
                </a:cxn>
                <a:cxn ang="0">
                  <a:pos x="21" y="4"/>
                </a:cxn>
                <a:cxn ang="0">
                  <a:pos x="18" y="9"/>
                </a:cxn>
                <a:cxn ang="0">
                  <a:pos x="0" y="14"/>
                </a:cxn>
                <a:cxn ang="0">
                  <a:pos x="28" y="22"/>
                </a:cxn>
                <a:cxn ang="0">
                  <a:pos x="49" y="16"/>
                </a:cxn>
                <a:cxn ang="0">
                  <a:pos x="43" y="16"/>
                </a:cxn>
                <a:cxn ang="0">
                  <a:pos x="42" y="12"/>
                </a:cxn>
              </a:cxnLst>
              <a:rect l="0" t="0" r="r" b="b"/>
              <a:pathLst>
                <a:path w="49" h="22">
                  <a:moveTo>
                    <a:pt x="42" y="12"/>
                  </a:moveTo>
                  <a:lnTo>
                    <a:pt x="43" y="9"/>
                  </a:lnTo>
                  <a:lnTo>
                    <a:pt x="30" y="0"/>
                  </a:lnTo>
                  <a:lnTo>
                    <a:pt x="22" y="6"/>
                  </a:lnTo>
                  <a:lnTo>
                    <a:pt x="21" y="4"/>
                  </a:lnTo>
                  <a:lnTo>
                    <a:pt x="18" y="9"/>
                  </a:lnTo>
                  <a:lnTo>
                    <a:pt x="0" y="14"/>
                  </a:lnTo>
                  <a:lnTo>
                    <a:pt x="28" y="22"/>
                  </a:lnTo>
                  <a:lnTo>
                    <a:pt x="49" y="16"/>
                  </a:lnTo>
                  <a:lnTo>
                    <a:pt x="43" y="16"/>
                  </a:lnTo>
                  <a:lnTo>
                    <a:pt x="42"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0" name="Freeform 409"/>
            <p:cNvSpPr>
              <a:spLocks/>
            </p:cNvSpPr>
            <p:nvPr/>
          </p:nvSpPr>
          <p:spPr bwMode="auto">
            <a:xfrm>
              <a:off x="1549" y="1290"/>
              <a:ext cx="53" cy="13"/>
            </a:xfrm>
            <a:custGeom>
              <a:avLst/>
              <a:gdLst/>
              <a:ahLst/>
              <a:cxnLst>
                <a:cxn ang="0">
                  <a:pos x="33" y="0"/>
                </a:cxn>
                <a:cxn ang="0">
                  <a:pos x="2" y="0"/>
                </a:cxn>
                <a:cxn ang="0">
                  <a:pos x="0" y="4"/>
                </a:cxn>
                <a:cxn ang="0">
                  <a:pos x="5" y="8"/>
                </a:cxn>
                <a:cxn ang="0">
                  <a:pos x="9" y="13"/>
                </a:cxn>
                <a:cxn ang="0">
                  <a:pos x="48" y="10"/>
                </a:cxn>
                <a:cxn ang="0">
                  <a:pos x="33" y="0"/>
                </a:cxn>
              </a:cxnLst>
              <a:rect l="0" t="0" r="r" b="b"/>
              <a:pathLst>
                <a:path w="48" h="13">
                  <a:moveTo>
                    <a:pt x="33" y="0"/>
                  </a:moveTo>
                  <a:lnTo>
                    <a:pt x="2" y="0"/>
                  </a:lnTo>
                  <a:lnTo>
                    <a:pt x="0" y="4"/>
                  </a:lnTo>
                  <a:lnTo>
                    <a:pt x="5" y="8"/>
                  </a:lnTo>
                  <a:lnTo>
                    <a:pt x="9" y="13"/>
                  </a:lnTo>
                  <a:lnTo>
                    <a:pt x="48" y="10"/>
                  </a:lnTo>
                  <a:lnTo>
                    <a:pt x="3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1" name="Freeform 410"/>
            <p:cNvSpPr>
              <a:spLocks/>
            </p:cNvSpPr>
            <p:nvPr/>
          </p:nvSpPr>
          <p:spPr bwMode="auto">
            <a:xfrm>
              <a:off x="1527" y="1376"/>
              <a:ext cx="33" cy="20"/>
            </a:xfrm>
            <a:custGeom>
              <a:avLst/>
              <a:gdLst/>
              <a:ahLst/>
              <a:cxnLst>
                <a:cxn ang="0">
                  <a:pos x="27" y="11"/>
                </a:cxn>
                <a:cxn ang="0">
                  <a:pos x="4" y="17"/>
                </a:cxn>
                <a:cxn ang="0">
                  <a:pos x="0" y="8"/>
                </a:cxn>
                <a:cxn ang="0">
                  <a:pos x="19" y="0"/>
                </a:cxn>
                <a:cxn ang="0">
                  <a:pos x="30" y="3"/>
                </a:cxn>
                <a:cxn ang="0">
                  <a:pos x="27" y="11"/>
                </a:cxn>
              </a:cxnLst>
              <a:rect l="0" t="0" r="r" b="b"/>
              <a:pathLst>
                <a:path w="30" h="17">
                  <a:moveTo>
                    <a:pt x="27" y="11"/>
                  </a:moveTo>
                  <a:lnTo>
                    <a:pt x="4" y="17"/>
                  </a:lnTo>
                  <a:lnTo>
                    <a:pt x="0" y="8"/>
                  </a:lnTo>
                  <a:lnTo>
                    <a:pt x="19" y="0"/>
                  </a:lnTo>
                  <a:lnTo>
                    <a:pt x="30" y="3"/>
                  </a:lnTo>
                  <a:lnTo>
                    <a:pt x="27"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2" name="Freeform 411"/>
            <p:cNvSpPr>
              <a:spLocks/>
            </p:cNvSpPr>
            <p:nvPr/>
          </p:nvSpPr>
          <p:spPr bwMode="auto">
            <a:xfrm>
              <a:off x="1427" y="1212"/>
              <a:ext cx="38" cy="16"/>
            </a:xfrm>
            <a:custGeom>
              <a:avLst/>
              <a:gdLst/>
              <a:ahLst/>
              <a:cxnLst>
                <a:cxn ang="0">
                  <a:pos x="0" y="6"/>
                </a:cxn>
                <a:cxn ang="0">
                  <a:pos x="4" y="0"/>
                </a:cxn>
                <a:cxn ang="0">
                  <a:pos x="34" y="5"/>
                </a:cxn>
                <a:cxn ang="0">
                  <a:pos x="29" y="8"/>
                </a:cxn>
                <a:cxn ang="0">
                  <a:pos x="4" y="13"/>
                </a:cxn>
                <a:cxn ang="0">
                  <a:pos x="0" y="8"/>
                </a:cxn>
                <a:cxn ang="0">
                  <a:pos x="0" y="6"/>
                </a:cxn>
              </a:cxnLst>
              <a:rect l="0" t="0" r="r" b="b"/>
              <a:pathLst>
                <a:path w="34" h="13">
                  <a:moveTo>
                    <a:pt x="0" y="6"/>
                  </a:moveTo>
                  <a:lnTo>
                    <a:pt x="4" y="0"/>
                  </a:lnTo>
                  <a:lnTo>
                    <a:pt x="34" y="5"/>
                  </a:lnTo>
                  <a:lnTo>
                    <a:pt x="29" y="8"/>
                  </a:lnTo>
                  <a:lnTo>
                    <a:pt x="4" y="13"/>
                  </a:lnTo>
                  <a:lnTo>
                    <a:pt x="0" y="8"/>
                  </a:lnTo>
                  <a:lnTo>
                    <a:pt x="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3" name="Freeform 412"/>
            <p:cNvSpPr>
              <a:spLocks/>
            </p:cNvSpPr>
            <p:nvPr/>
          </p:nvSpPr>
          <p:spPr bwMode="auto">
            <a:xfrm>
              <a:off x="1385" y="1259"/>
              <a:ext cx="37" cy="11"/>
            </a:xfrm>
            <a:custGeom>
              <a:avLst/>
              <a:gdLst/>
              <a:ahLst/>
              <a:cxnLst>
                <a:cxn ang="0">
                  <a:pos x="10" y="11"/>
                </a:cxn>
                <a:cxn ang="0">
                  <a:pos x="0" y="8"/>
                </a:cxn>
                <a:cxn ang="0">
                  <a:pos x="26" y="0"/>
                </a:cxn>
                <a:cxn ang="0">
                  <a:pos x="35" y="7"/>
                </a:cxn>
                <a:cxn ang="0">
                  <a:pos x="31" y="11"/>
                </a:cxn>
                <a:cxn ang="0">
                  <a:pos x="10" y="11"/>
                </a:cxn>
              </a:cxnLst>
              <a:rect l="0" t="0" r="r" b="b"/>
              <a:pathLst>
                <a:path w="35" h="11">
                  <a:moveTo>
                    <a:pt x="10" y="11"/>
                  </a:moveTo>
                  <a:lnTo>
                    <a:pt x="0" y="8"/>
                  </a:lnTo>
                  <a:lnTo>
                    <a:pt x="26" y="0"/>
                  </a:lnTo>
                  <a:lnTo>
                    <a:pt x="35" y="7"/>
                  </a:lnTo>
                  <a:lnTo>
                    <a:pt x="31" y="11"/>
                  </a:lnTo>
                  <a:lnTo>
                    <a:pt x="10"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4" name="Freeform 413"/>
            <p:cNvSpPr>
              <a:spLocks/>
            </p:cNvSpPr>
            <p:nvPr/>
          </p:nvSpPr>
          <p:spPr bwMode="auto">
            <a:xfrm>
              <a:off x="1236" y="1288"/>
              <a:ext cx="31" cy="13"/>
            </a:xfrm>
            <a:custGeom>
              <a:avLst/>
              <a:gdLst/>
              <a:ahLst/>
              <a:cxnLst>
                <a:cxn ang="0">
                  <a:pos x="8" y="12"/>
                </a:cxn>
                <a:cxn ang="0">
                  <a:pos x="0" y="4"/>
                </a:cxn>
                <a:cxn ang="0">
                  <a:pos x="24" y="0"/>
                </a:cxn>
                <a:cxn ang="0">
                  <a:pos x="28" y="3"/>
                </a:cxn>
                <a:cxn ang="0">
                  <a:pos x="8" y="12"/>
                </a:cxn>
              </a:cxnLst>
              <a:rect l="0" t="0" r="r" b="b"/>
              <a:pathLst>
                <a:path w="28" h="12">
                  <a:moveTo>
                    <a:pt x="8" y="12"/>
                  </a:moveTo>
                  <a:lnTo>
                    <a:pt x="0" y="4"/>
                  </a:lnTo>
                  <a:lnTo>
                    <a:pt x="24" y="0"/>
                  </a:lnTo>
                  <a:lnTo>
                    <a:pt x="28" y="3"/>
                  </a:lnTo>
                  <a:lnTo>
                    <a:pt x="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5" name="Freeform 414"/>
            <p:cNvSpPr>
              <a:spLocks/>
            </p:cNvSpPr>
            <p:nvPr/>
          </p:nvSpPr>
          <p:spPr bwMode="auto">
            <a:xfrm>
              <a:off x="1711" y="1152"/>
              <a:ext cx="691" cy="371"/>
            </a:xfrm>
            <a:custGeom>
              <a:avLst/>
              <a:gdLst/>
              <a:ahLst/>
              <a:cxnLst>
                <a:cxn ang="0">
                  <a:pos x="106" y="264"/>
                </a:cxn>
                <a:cxn ang="0">
                  <a:pos x="126" y="259"/>
                </a:cxn>
                <a:cxn ang="0">
                  <a:pos x="110" y="276"/>
                </a:cxn>
                <a:cxn ang="0">
                  <a:pos x="119" y="287"/>
                </a:cxn>
                <a:cxn ang="0">
                  <a:pos x="126" y="304"/>
                </a:cxn>
                <a:cxn ang="0">
                  <a:pos x="131" y="311"/>
                </a:cxn>
                <a:cxn ang="0">
                  <a:pos x="140" y="320"/>
                </a:cxn>
                <a:cxn ang="0">
                  <a:pos x="162" y="324"/>
                </a:cxn>
                <a:cxn ang="0">
                  <a:pos x="170" y="334"/>
                </a:cxn>
                <a:cxn ang="0">
                  <a:pos x="197" y="324"/>
                </a:cxn>
                <a:cxn ang="0">
                  <a:pos x="202" y="314"/>
                </a:cxn>
                <a:cxn ang="0">
                  <a:pos x="214" y="300"/>
                </a:cxn>
                <a:cxn ang="0">
                  <a:pos x="223" y="282"/>
                </a:cxn>
                <a:cxn ang="0">
                  <a:pos x="234" y="272"/>
                </a:cxn>
                <a:cxn ang="0">
                  <a:pos x="257" y="246"/>
                </a:cxn>
                <a:cxn ang="0">
                  <a:pos x="288" y="239"/>
                </a:cxn>
                <a:cxn ang="0">
                  <a:pos x="343" y="217"/>
                </a:cxn>
                <a:cxn ang="0">
                  <a:pos x="394" y="204"/>
                </a:cxn>
                <a:cxn ang="0">
                  <a:pos x="482" y="175"/>
                </a:cxn>
                <a:cxn ang="0">
                  <a:pos x="424" y="162"/>
                </a:cxn>
                <a:cxn ang="0">
                  <a:pos x="424" y="146"/>
                </a:cxn>
                <a:cxn ang="0">
                  <a:pos x="492" y="168"/>
                </a:cxn>
                <a:cxn ang="0">
                  <a:pos x="486" y="148"/>
                </a:cxn>
                <a:cxn ang="0">
                  <a:pos x="440" y="136"/>
                </a:cxn>
                <a:cxn ang="0">
                  <a:pos x="460" y="127"/>
                </a:cxn>
                <a:cxn ang="0">
                  <a:pos x="499" y="128"/>
                </a:cxn>
                <a:cxn ang="0">
                  <a:pos x="532" y="113"/>
                </a:cxn>
                <a:cxn ang="0">
                  <a:pos x="505" y="95"/>
                </a:cxn>
                <a:cxn ang="0">
                  <a:pos x="509" y="85"/>
                </a:cxn>
                <a:cxn ang="0">
                  <a:pos x="544" y="68"/>
                </a:cxn>
                <a:cxn ang="0">
                  <a:pos x="540" y="48"/>
                </a:cxn>
                <a:cxn ang="0">
                  <a:pos x="580" y="31"/>
                </a:cxn>
                <a:cxn ang="0">
                  <a:pos x="545" y="22"/>
                </a:cxn>
                <a:cxn ang="0">
                  <a:pos x="479" y="23"/>
                </a:cxn>
                <a:cxn ang="0">
                  <a:pos x="503" y="7"/>
                </a:cxn>
                <a:cxn ang="0">
                  <a:pos x="383" y="4"/>
                </a:cxn>
                <a:cxn ang="0">
                  <a:pos x="342" y="7"/>
                </a:cxn>
                <a:cxn ang="0">
                  <a:pos x="314" y="16"/>
                </a:cxn>
                <a:cxn ang="0">
                  <a:pos x="221" y="20"/>
                </a:cxn>
                <a:cxn ang="0">
                  <a:pos x="148" y="24"/>
                </a:cxn>
                <a:cxn ang="0">
                  <a:pos x="95" y="41"/>
                </a:cxn>
                <a:cxn ang="0">
                  <a:pos x="19" y="68"/>
                </a:cxn>
                <a:cxn ang="0">
                  <a:pos x="38" y="74"/>
                </a:cxn>
                <a:cxn ang="0">
                  <a:pos x="42" y="89"/>
                </a:cxn>
                <a:cxn ang="0">
                  <a:pos x="132" y="109"/>
                </a:cxn>
                <a:cxn ang="0">
                  <a:pos x="136" y="132"/>
                </a:cxn>
                <a:cxn ang="0">
                  <a:pos x="136" y="152"/>
                </a:cxn>
                <a:cxn ang="0">
                  <a:pos x="160" y="155"/>
                </a:cxn>
                <a:cxn ang="0">
                  <a:pos x="162" y="164"/>
                </a:cxn>
                <a:cxn ang="0">
                  <a:pos x="158" y="184"/>
                </a:cxn>
                <a:cxn ang="0">
                  <a:pos x="152" y="194"/>
                </a:cxn>
                <a:cxn ang="0">
                  <a:pos x="125" y="204"/>
                </a:cxn>
                <a:cxn ang="0">
                  <a:pos x="137" y="210"/>
                </a:cxn>
                <a:cxn ang="0">
                  <a:pos x="126" y="211"/>
                </a:cxn>
                <a:cxn ang="0">
                  <a:pos x="119" y="223"/>
                </a:cxn>
                <a:cxn ang="0">
                  <a:pos x="124" y="228"/>
                </a:cxn>
                <a:cxn ang="0">
                  <a:pos x="104" y="241"/>
                </a:cxn>
              </a:cxnLst>
              <a:rect l="0" t="0" r="r" b="b"/>
              <a:pathLst>
                <a:path w="622" h="334">
                  <a:moveTo>
                    <a:pt x="131" y="242"/>
                  </a:moveTo>
                  <a:lnTo>
                    <a:pt x="115" y="246"/>
                  </a:lnTo>
                  <a:lnTo>
                    <a:pt x="109" y="251"/>
                  </a:lnTo>
                  <a:lnTo>
                    <a:pt x="108" y="254"/>
                  </a:lnTo>
                  <a:lnTo>
                    <a:pt x="119" y="253"/>
                  </a:lnTo>
                  <a:lnTo>
                    <a:pt x="113" y="256"/>
                  </a:lnTo>
                  <a:lnTo>
                    <a:pt x="106" y="264"/>
                  </a:lnTo>
                  <a:lnTo>
                    <a:pt x="115" y="262"/>
                  </a:lnTo>
                  <a:lnTo>
                    <a:pt x="122" y="258"/>
                  </a:lnTo>
                  <a:lnTo>
                    <a:pt x="125" y="250"/>
                  </a:lnTo>
                  <a:lnTo>
                    <a:pt x="127" y="254"/>
                  </a:lnTo>
                  <a:lnTo>
                    <a:pt x="132" y="256"/>
                  </a:lnTo>
                  <a:lnTo>
                    <a:pt x="134" y="263"/>
                  </a:lnTo>
                  <a:lnTo>
                    <a:pt x="126" y="259"/>
                  </a:lnTo>
                  <a:lnTo>
                    <a:pt x="127" y="263"/>
                  </a:lnTo>
                  <a:lnTo>
                    <a:pt x="113" y="266"/>
                  </a:lnTo>
                  <a:lnTo>
                    <a:pt x="125" y="265"/>
                  </a:lnTo>
                  <a:lnTo>
                    <a:pt x="128" y="265"/>
                  </a:lnTo>
                  <a:lnTo>
                    <a:pt x="109" y="269"/>
                  </a:lnTo>
                  <a:lnTo>
                    <a:pt x="115" y="271"/>
                  </a:lnTo>
                  <a:lnTo>
                    <a:pt x="110" y="276"/>
                  </a:lnTo>
                  <a:lnTo>
                    <a:pt x="116" y="275"/>
                  </a:lnTo>
                  <a:lnTo>
                    <a:pt x="113" y="277"/>
                  </a:lnTo>
                  <a:lnTo>
                    <a:pt x="112" y="278"/>
                  </a:lnTo>
                  <a:lnTo>
                    <a:pt x="119" y="280"/>
                  </a:lnTo>
                  <a:lnTo>
                    <a:pt x="112" y="281"/>
                  </a:lnTo>
                  <a:lnTo>
                    <a:pt x="120" y="283"/>
                  </a:lnTo>
                  <a:lnTo>
                    <a:pt x="119" y="287"/>
                  </a:lnTo>
                  <a:lnTo>
                    <a:pt x="124" y="286"/>
                  </a:lnTo>
                  <a:lnTo>
                    <a:pt x="120" y="289"/>
                  </a:lnTo>
                  <a:lnTo>
                    <a:pt x="118" y="292"/>
                  </a:lnTo>
                  <a:lnTo>
                    <a:pt x="124" y="298"/>
                  </a:lnTo>
                  <a:lnTo>
                    <a:pt x="122" y="300"/>
                  </a:lnTo>
                  <a:lnTo>
                    <a:pt x="128" y="300"/>
                  </a:lnTo>
                  <a:lnTo>
                    <a:pt x="126" y="304"/>
                  </a:lnTo>
                  <a:lnTo>
                    <a:pt x="130" y="302"/>
                  </a:lnTo>
                  <a:lnTo>
                    <a:pt x="128" y="306"/>
                  </a:lnTo>
                  <a:lnTo>
                    <a:pt x="131" y="307"/>
                  </a:lnTo>
                  <a:lnTo>
                    <a:pt x="126" y="308"/>
                  </a:lnTo>
                  <a:lnTo>
                    <a:pt x="132" y="308"/>
                  </a:lnTo>
                  <a:lnTo>
                    <a:pt x="130" y="311"/>
                  </a:lnTo>
                  <a:lnTo>
                    <a:pt x="131" y="311"/>
                  </a:lnTo>
                  <a:lnTo>
                    <a:pt x="130" y="314"/>
                  </a:lnTo>
                  <a:lnTo>
                    <a:pt x="136" y="313"/>
                  </a:lnTo>
                  <a:lnTo>
                    <a:pt x="137" y="317"/>
                  </a:lnTo>
                  <a:lnTo>
                    <a:pt x="134" y="318"/>
                  </a:lnTo>
                  <a:lnTo>
                    <a:pt x="136" y="318"/>
                  </a:lnTo>
                  <a:lnTo>
                    <a:pt x="136" y="319"/>
                  </a:lnTo>
                  <a:lnTo>
                    <a:pt x="140" y="320"/>
                  </a:lnTo>
                  <a:lnTo>
                    <a:pt x="149" y="319"/>
                  </a:lnTo>
                  <a:lnTo>
                    <a:pt x="163" y="314"/>
                  </a:lnTo>
                  <a:lnTo>
                    <a:pt x="163" y="317"/>
                  </a:lnTo>
                  <a:lnTo>
                    <a:pt x="169" y="314"/>
                  </a:lnTo>
                  <a:lnTo>
                    <a:pt x="161" y="320"/>
                  </a:lnTo>
                  <a:lnTo>
                    <a:pt x="167" y="319"/>
                  </a:lnTo>
                  <a:lnTo>
                    <a:pt x="162" y="324"/>
                  </a:lnTo>
                  <a:lnTo>
                    <a:pt x="169" y="323"/>
                  </a:lnTo>
                  <a:lnTo>
                    <a:pt x="168" y="325"/>
                  </a:lnTo>
                  <a:lnTo>
                    <a:pt x="173" y="324"/>
                  </a:lnTo>
                  <a:lnTo>
                    <a:pt x="168" y="330"/>
                  </a:lnTo>
                  <a:lnTo>
                    <a:pt x="175" y="326"/>
                  </a:lnTo>
                  <a:lnTo>
                    <a:pt x="168" y="331"/>
                  </a:lnTo>
                  <a:lnTo>
                    <a:pt x="170" y="334"/>
                  </a:lnTo>
                  <a:lnTo>
                    <a:pt x="181" y="329"/>
                  </a:lnTo>
                  <a:lnTo>
                    <a:pt x="191" y="332"/>
                  </a:lnTo>
                  <a:lnTo>
                    <a:pt x="192" y="330"/>
                  </a:lnTo>
                  <a:lnTo>
                    <a:pt x="190" y="328"/>
                  </a:lnTo>
                  <a:lnTo>
                    <a:pt x="181" y="324"/>
                  </a:lnTo>
                  <a:lnTo>
                    <a:pt x="194" y="325"/>
                  </a:lnTo>
                  <a:lnTo>
                    <a:pt x="197" y="324"/>
                  </a:lnTo>
                  <a:lnTo>
                    <a:pt x="194" y="322"/>
                  </a:lnTo>
                  <a:lnTo>
                    <a:pt x="196" y="320"/>
                  </a:lnTo>
                  <a:lnTo>
                    <a:pt x="194" y="319"/>
                  </a:lnTo>
                  <a:lnTo>
                    <a:pt x="202" y="319"/>
                  </a:lnTo>
                  <a:lnTo>
                    <a:pt x="194" y="317"/>
                  </a:lnTo>
                  <a:lnTo>
                    <a:pt x="202" y="317"/>
                  </a:lnTo>
                  <a:lnTo>
                    <a:pt x="202" y="314"/>
                  </a:lnTo>
                  <a:lnTo>
                    <a:pt x="202" y="313"/>
                  </a:lnTo>
                  <a:lnTo>
                    <a:pt x="205" y="312"/>
                  </a:lnTo>
                  <a:lnTo>
                    <a:pt x="203" y="310"/>
                  </a:lnTo>
                  <a:lnTo>
                    <a:pt x="209" y="308"/>
                  </a:lnTo>
                  <a:lnTo>
                    <a:pt x="208" y="306"/>
                  </a:lnTo>
                  <a:lnTo>
                    <a:pt x="212" y="301"/>
                  </a:lnTo>
                  <a:lnTo>
                    <a:pt x="214" y="300"/>
                  </a:lnTo>
                  <a:lnTo>
                    <a:pt x="210" y="295"/>
                  </a:lnTo>
                  <a:lnTo>
                    <a:pt x="212" y="295"/>
                  </a:lnTo>
                  <a:lnTo>
                    <a:pt x="208" y="290"/>
                  </a:lnTo>
                  <a:lnTo>
                    <a:pt x="217" y="287"/>
                  </a:lnTo>
                  <a:lnTo>
                    <a:pt x="226" y="286"/>
                  </a:lnTo>
                  <a:lnTo>
                    <a:pt x="223" y="284"/>
                  </a:lnTo>
                  <a:lnTo>
                    <a:pt x="223" y="282"/>
                  </a:lnTo>
                  <a:lnTo>
                    <a:pt x="228" y="282"/>
                  </a:lnTo>
                  <a:lnTo>
                    <a:pt x="229" y="278"/>
                  </a:lnTo>
                  <a:lnTo>
                    <a:pt x="233" y="280"/>
                  </a:lnTo>
                  <a:lnTo>
                    <a:pt x="230" y="278"/>
                  </a:lnTo>
                  <a:lnTo>
                    <a:pt x="234" y="277"/>
                  </a:lnTo>
                  <a:lnTo>
                    <a:pt x="239" y="275"/>
                  </a:lnTo>
                  <a:lnTo>
                    <a:pt x="234" y="272"/>
                  </a:lnTo>
                  <a:lnTo>
                    <a:pt x="244" y="272"/>
                  </a:lnTo>
                  <a:lnTo>
                    <a:pt x="241" y="266"/>
                  </a:lnTo>
                  <a:lnTo>
                    <a:pt x="234" y="264"/>
                  </a:lnTo>
                  <a:lnTo>
                    <a:pt x="246" y="262"/>
                  </a:lnTo>
                  <a:lnTo>
                    <a:pt x="246" y="252"/>
                  </a:lnTo>
                  <a:lnTo>
                    <a:pt x="258" y="251"/>
                  </a:lnTo>
                  <a:lnTo>
                    <a:pt x="257" y="246"/>
                  </a:lnTo>
                  <a:lnTo>
                    <a:pt x="265" y="245"/>
                  </a:lnTo>
                  <a:lnTo>
                    <a:pt x="270" y="244"/>
                  </a:lnTo>
                  <a:lnTo>
                    <a:pt x="283" y="241"/>
                  </a:lnTo>
                  <a:lnTo>
                    <a:pt x="281" y="240"/>
                  </a:lnTo>
                  <a:lnTo>
                    <a:pt x="289" y="233"/>
                  </a:lnTo>
                  <a:lnTo>
                    <a:pt x="295" y="234"/>
                  </a:lnTo>
                  <a:lnTo>
                    <a:pt x="288" y="239"/>
                  </a:lnTo>
                  <a:lnTo>
                    <a:pt x="295" y="240"/>
                  </a:lnTo>
                  <a:lnTo>
                    <a:pt x="313" y="235"/>
                  </a:lnTo>
                  <a:lnTo>
                    <a:pt x="314" y="232"/>
                  </a:lnTo>
                  <a:lnTo>
                    <a:pt x="319" y="233"/>
                  </a:lnTo>
                  <a:lnTo>
                    <a:pt x="330" y="229"/>
                  </a:lnTo>
                  <a:lnTo>
                    <a:pt x="332" y="227"/>
                  </a:lnTo>
                  <a:lnTo>
                    <a:pt x="343" y="217"/>
                  </a:lnTo>
                  <a:lnTo>
                    <a:pt x="361" y="209"/>
                  </a:lnTo>
                  <a:lnTo>
                    <a:pt x="361" y="204"/>
                  </a:lnTo>
                  <a:lnTo>
                    <a:pt x="364" y="199"/>
                  </a:lnTo>
                  <a:lnTo>
                    <a:pt x="377" y="206"/>
                  </a:lnTo>
                  <a:lnTo>
                    <a:pt x="384" y="204"/>
                  </a:lnTo>
                  <a:lnTo>
                    <a:pt x="390" y="203"/>
                  </a:lnTo>
                  <a:lnTo>
                    <a:pt x="394" y="204"/>
                  </a:lnTo>
                  <a:lnTo>
                    <a:pt x="419" y="198"/>
                  </a:lnTo>
                  <a:lnTo>
                    <a:pt x="444" y="192"/>
                  </a:lnTo>
                  <a:lnTo>
                    <a:pt x="452" y="188"/>
                  </a:lnTo>
                  <a:lnTo>
                    <a:pt x="462" y="184"/>
                  </a:lnTo>
                  <a:lnTo>
                    <a:pt x="467" y="181"/>
                  </a:lnTo>
                  <a:lnTo>
                    <a:pt x="474" y="178"/>
                  </a:lnTo>
                  <a:lnTo>
                    <a:pt x="482" y="175"/>
                  </a:lnTo>
                  <a:lnTo>
                    <a:pt x="448" y="172"/>
                  </a:lnTo>
                  <a:lnTo>
                    <a:pt x="419" y="176"/>
                  </a:lnTo>
                  <a:lnTo>
                    <a:pt x="418" y="174"/>
                  </a:lnTo>
                  <a:lnTo>
                    <a:pt x="438" y="169"/>
                  </a:lnTo>
                  <a:lnTo>
                    <a:pt x="409" y="169"/>
                  </a:lnTo>
                  <a:lnTo>
                    <a:pt x="424" y="163"/>
                  </a:lnTo>
                  <a:lnTo>
                    <a:pt x="424" y="162"/>
                  </a:lnTo>
                  <a:lnTo>
                    <a:pt x="425" y="161"/>
                  </a:lnTo>
                  <a:lnTo>
                    <a:pt x="451" y="160"/>
                  </a:lnTo>
                  <a:lnTo>
                    <a:pt x="450" y="155"/>
                  </a:lnTo>
                  <a:lnTo>
                    <a:pt x="449" y="155"/>
                  </a:lnTo>
                  <a:lnTo>
                    <a:pt x="426" y="154"/>
                  </a:lnTo>
                  <a:lnTo>
                    <a:pt x="433" y="151"/>
                  </a:lnTo>
                  <a:lnTo>
                    <a:pt x="424" y="146"/>
                  </a:lnTo>
                  <a:lnTo>
                    <a:pt x="446" y="154"/>
                  </a:lnTo>
                  <a:lnTo>
                    <a:pt x="466" y="161"/>
                  </a:lnTo>
                  <a:lnTo>
                    <a:pt x="473" y="170"/>
                  </a:lnTo>
                  <a:lnTo>
                    <a:pt x="482" y="168"/>
                  </a:lnTo>
                  <a:lnTo>
                    <a:pt x="485" y="164"/>
                  </a:lnTo>
                  <a:lnTo>
                    <a:pt x="486" y="169"/>
                  </a:lnTo>
                  <a:lnTo>
                    <a:pt x="492" y="168"/>
                  </a:lnTo>
                  <a:lnTo>
                    <a:pt x="492" y="162"/>
                  </a:lnTo>
                  <a:lnTo>
                    <a:pt x="493" y="155"/>
                  </a:lnTo>
                  <a:lnTo>
                    <a:pt x="486" y="156"/>
                  </a:lnTo>
                  <a:lnTo>
                    <a:pt x="490" y="152"/>
                  </a:lnTo>
                  <a:lnTo>
                    <a:pt x="485" y="152"/>
                  </a:lnTo>
                  <a:lnTo>
                    <a:pt x="482" y="151"/>
                  </a:lnTo>
                  <a:lnTo>
                    <a:pt x="486" y="148"/>
                  </a:lnTo>
                  <a:lnTo>
                    <a:pt x="460" y="142"/>
                  </a:lnTo>
                  <a:lnTo>
                    <a:pt x="456" y="144"/>
                  </a:lnTo>
                  <a:lnTo>
                    <a:pt x="456" y="140"/>
                  </a:lnTo>
                  <a:lnTo>
                    <a:pt x="466" y="138"/>
                  </a:lnTo>
                  <a:lnTo>
                    <a:pt x="450" y="137"/>
                  </a:lnTo>
                  <a:lnTo>
                    <a:pt x="443" y="137"/>
                  </a:lnTo>
                  <a:lnTo>
                    <a:pt x="440" y="136"/>
                  </a:lnTo>
                  <a:lnTo>
                    <a:pt x="463" y="132"/>
                  </a:lnTo>
                  <a:lnTo>
                    <a:pt x="439" y="131"/>
                  </a:lnTo>
                  <a:lnTo>
                    <a:pt x="438" y="133"/>
                  </a:lnTo>
                  <a:lnTo>
                    <a:pt x="438" y="131"/>
                  </a:lnTo>
                  <a:lnTo>
                    <a:pt x="445" y="128"/>
                  </a:lnTo>
                  <a:lnTo>
                    <a:pt x="443" y="126"/>
                  </a:lnTo>
                  <a:lnTo>
                    <a:pt x="460" y="127"/>
                  </a:lnTo>
                  <a:lnTo>
                    <a:pt x="466" y="124"/>
                  </a:lnTo>
                  <a:lnTo>
                    <a:pt x="463" y="121"/>
                  </a:lnTo>
                  <a:lnTo>
                    <a:pt x="472" y="124"/>
                  </a:lnTo>
                  <a:lnTo>
                    <a:pt x="482" y="122"/>
                  </a:lnTo>
                  <a:lnTo>
                    <a:pt x="491" y="125"/>
                  </a:lnTo>
                  <a:lnTo>
                    <a:pt x="478" y="124"/>
                  </a:lnTo>
                  <a:lnTo>
                    <a:pt x="499" y="128"/>
                  </a:lnTo>
                  <a:lnTo>
                    <a:pt x="516" y="124"/>
                  </a:lnTo>
                  <a:lnTo>
                    <a:pt x="517" y="120"/>
                  </a:lnTo>
                  <a:lnTo>
                    <a:pt x="502" y="120"/>
                  </a:lnTo>
                  <a:lnTo>
                    <a:pt x="500" y="121"/>
                  </a:lnTo>
                  <a:lnTo>
                    <a:pt x="497" y="115"/>
                  </a:lnTo>
                  <a:lnTo>
                    <a:pt x="503" y="110"/>
                  </a:lnTo>
                  <a:lnTo>
                    <a:pt x="532" y="113"/>
                  </a:lnTo>
                  <a:lnTo>
                    <a:pt x="529" y="108"/>
                  </a:lnTo>
                  <a:lnTo>
                    <a:pt x="517" y="108"/>
                  </a:lnTo>
                  <a:lnTo>
                    <a:pt x="515" y="103"/>
                  </a:lnTo>
                  <a:lnTo>
                    <a:pt x="504" y="103"/>
                  </a:lnTo>
                  <a:lnTo>
                    <a:pt x="516" y="101"/>
                  </a:lnTo>
                  <a:lnTo>
                    <a:pt x="504" y="97"/>
                  </a:lnTo>
                  <a:lnTo>
                    <a:pt x="505" y="95"/>
                  </a:lnTo>
                  <a:lnTo>
                    <a:pt x="530" y="101"/>
                  </a:lnTo>
                  <a:lnTo>
                    <a:pt x="529" y="91"/>
                  </a:lnTo>
                  <a:lnTo>
                    <a:pt x="510" y="91"/>
                  </a:lnTo>
                  <a:lnTo>
                    <a:pt x="532" y="89"/>
                  </a:lnTo>
                  <a:lnTo>
                    <a:pt x="520" y="88"/>
                  </a:lnTo>
                  <a:lnTo>
                    <a:pt x="512" y="85"/>
                  </a:lnTo>
                  <a:lnTo>
                    <a:pt x="509" y="85"/>
                  </a:lnTo>
                  <a:lnTo>
                    <a:pt x="503" y="80"/>
                  </a:lnTo>
                  <a:lnTo>
                    <a:pt x="520" y="79"/>
                  </a:lnTo>
                  <a:lnTo>
                    <a:pt x="550" y="79"/>
                  </a:lnTo>
                  <a:lnTo>
                    <a:pt x="548" y="72"/>
                  </a:lnTo>
                  <a:lnTo>
                    <a:pt x="532" y="72"/>
                  </a:lnTo>
                  <a:lnTo>
                    <a:pt x="524" y="68"/>
                  </a:lnTo>
                  <a:lnTo>
                    <a:pt x="544" y="68"/>
                  </a:lnTo>
                  <a:lnTo>
                    <a:pt x="523" y="65"/>
                  </a:lnTo>
                  <a:lnTo>
                    <a:pt x="518" y="68"/>
                  </a:lnTo>
                  <a:lnTo>
                    <a:pt x="515" y="66"/>
                  </a:lnTo>
                  <a:lnTo>
                    <a:pt x="523" y="55"/>
                  </a:lnTo>
                  <a:lnTo>
                    <a:pt x="539" y="52"/>
                  </a:lnTo>
                  <a:lnTo>
                    <a:pt x="546" y="47"/>
                  </a:lnTo>
                  <a:lnTo>
                    <a:pt x="540" y="48"/>
                  </a:lnTo>
                  <a:lnTo>
                    <a:pt x="548" y="41"/>
                  </a:lnTo>
                  <a:lnTo>
                    <a:pt x="560" y="40"/>
                  </a:lnTo>
                  <a:lnTo>
                    <a:pt x="562" y="36"/>
                  </a:lnTo>
                  <a:lnTo>
                    <a:pt x="539" y="40"/>
                  </a:lnTo>
                  <a:lnTo>
                    <a:pt x="535" y="37"/>
                  </a:lnTo>
                  <a:lnTo>
                    <a:pt x="557" y="35"/>
                  </a:lnTo>
                  <a:lnTo>
                    <a:pt x="580" y="31"/>
                  </a:lnTo>
                  <a:lnTo>
                    <a:pt x="538" y="31"/>
                  </a:lnTo>
                  <a:lnTo>
                    <a:pt x="596" y="28"/>
                  </a:lnTo>
                  <a:lnTo>
                    <a:pt x="594" y="25"/>
                  </a:lnTo>
                  <a:lnTo>
                    <a:pt x="622" y="20"/>
                  </a:lnTo>
                  <a:lnTo>
                    <a:pt x="586" y="17"/>
                  </a:lnTo>
                  <a:lnTo>
                    <a:pt x="566" y="20"/>
                  </a:lnTo>
                  <a:lnTo>
                    <a:pt x="545" y="22"/>
                  </a:lnTo>
                  <a:lnTo>
                    <a:pt x="544" y="20"/>
                  </a:lnTo>
                  <a:lnTo>
                    <a:pt x="504" y="31"/>
                  </a:lnTo>
                  <a:lnTo>
                    <a:pt x="518" y="24"/>
                  </a:lnTo>
                  <a:lnTo>
                    <a:pt x="528" y="17"/>
                  </a:lnTo>
                  <a:lnTo>
                    <a:pt x="512" y="16"/>
                  </a:lnTo>
                  <a:lnTo>
                    <a:pt x="508" y="18"/>
                  </a:lnTo>
                  <a:lnTo>
                    <a:pt x="479" y="23"/>
                  </a:lnTo>
                  <a:lnTo>
                    <a:pt x="493" y="19"/>
                  </a:lnTo>
                  <a:lnTo>
                    <a:pt x="497" y="16"/>
                  </a:lnTo>
                  <a:lnTo>
                    <a:pt x="428" y="19"/>
                  </a:lnTo>
                  <a:lnTo>
                    <a:pt x="449" y="14"/>
                  </a:lnTo>
                  <a:lnTo>
                    <a:pt x="488" y="14"/>
                  </a:lnTo>
                  <a:lnTo>
                    <a:pt x="535" y="11"/>
                  </a:lnTo>
                  <a:lnTo>
                    <a:pt x="503" y="7"/>
                  </a:lnTo>
                  <a:lnTo>
                    <a:pt x="504" y="5"/>
                  </a:lnTo>
                  <a:lnTo>
                    <a:pt x="410" y="6"/>
                  </a:lnTo>
                  <a:lnTo>
                    <a:pt x="422" y="6"/>
                  </a:lnTo>
                  <a:lnTo>
                    <a:pt x="494" y="4"/>
                  </a:lnTo>
                  <a:lnTo>
                    <a:pt x="466" y="0"/>
                  </a:lnTo>
                  <a:lnTo>
                    <a:pt x="377" y="1"/>
                  </a:lnTo>
                  <a:lnTo>
                    <a:pt x="383" y="4"/>
                  </a:lnTo>
                  <a:lnTo>
                    <a:pt x="376" y="5"/>
                  </a:lnTo>
                  <a:lnTo>
                    <a:pt x="373" y="6"/>
                  </a:lnTo>
                  <a:lnTo>
                    <a:pt x="350" y="5"/>
                  </a:lnTo>
                  <a:lnTo>
                    <a:pt x="319" y="4"/>
                  </a:lnTo>
                  <a:lnTo>
                    <a:pt x="324" y="6"/>
                  </a:lnTo>
                  <a:lnTo>
                    <a:pt x="301" y="5"/>
                  </a:lnTo>
                  <a:lnTo>
                    <a:pt x="342" y="7"/>
                  </a:lnTo>
                  <a:lnTo>
                    <a:pt x="361" y="11"/>
                  </a:lnTo>
                  <a:lnTo>
                    <a:pt x="343" y="8"/>
                  </a:lnTo>
                  <a:lnTo>
                    <a:pt x="343" y="10"/>
                  </a:lnTo>
                  <a:lnTo>
                    <a:pt x="314" y="8"/>
                  </a:lnTo>
                  <a:lnTo>
                    <a:pt x="326" y="13"/>
                  </a:lnTo>
                  <a:lnTo>
                    <a:pt x="317" y="13"/>
                  </a:lnTo>
                  <a:lnTo>
                    <a:pt x="314" y="16"/>
                  </a:lnTo>
                  <a:lnTo>
                    <a:pt x="314" y="18"/>
                  </a:lnTo>
                  <a:lnTo>
                    <a:pt x="262" y="11"/>
                  </a:lnTo>
                  <a:lnTo>
                    <a:pt x="258" y="17"/>
                  </a:lnTo>
                  <a:lnTo>
                    <a:pt x="258" y="19"/>
                  </a:lnTo>
                  <a:lnTo>
                    <a:pt x="235" y="16"/>
                  </a:lnTo>
                  <a:lnTo>
                    <a:pt x="224" y="20"/>
                  </a:lnTo>
                  <a:lnTo>
                    <a:pt x="221" y="20"/>
                  </a:lnTo>
                  <a:lnTo>
                    <a:pt x="224" y="13"/>
                  </a:lnTo>
                  <a:lnTo>
                    <a:pt x="173" y="16"/>
                  </a:lnTo>
                  <a:lnTo>
                    <a:pt x="188" y="22"/>
                  </a:lnTo>
                  <a:lnTo>
                    <a:pt x="175" y="19"/>
                  </a:lnTo>
                  <a:lnTo>
                    <a:pt x="151" y="18"/>
                  </a:lnTo>
                  <a:lnTo>
                    <a:pt x="151" y="20"/>
                  </a:lnTo>
                  <a:lnTo>
                    <a:pt x="148" y="24"/>
                  </a:lnTo>
                  <a:lnTo>
                    <a:pt x="128" y="24"/>
                  </a:lnTo>
                  <a:lnTo>
                    <a:pt x="126" y="28"/>
                  </a:lnTo>
                  <a:lnTo>
                    <a:pt x="124" y="25"/>
                  </a:lnTo>
                  <a:lnTo>
                    <a:pt x="74" y="35"/>
                  </a:lnTo>
                  <a:lnTo>
                    <a:pt x="106" y="36"/>
                  </a:lnTo>
                  <a:lnTo>
                    <a:pt x="97" y="37"/>
                  </a:lnTo>
                  <a:lnTo>
                    <a:pt x="95" y="41"/>
                  </a:lnTo>
                  <a:lnTo>
                    <a:pt x="84" y="47"/>
                  </a:lnTo>
                  <a:lnTo>
                    <a:pt x="46" y="52"/>
                  </a:lnTo>
                  <a:lnTo>
                    <a:pt x="5" y="58"/>
                  </a:lnTo>
                  <a:lnTo>
                    <a:pt x="1" y="60"/>
                  </a:lnTo>
                  <a:lnTo>
                    <a:pt x="1" y="64"/>
                  </a:lnTo>
                  <a:lnTo>
                    <a:pt x="23" y="66"/>
                  </a:lnTo>
                  <a:lnTo>
                    <a:pt x="19" y="68"/>
                  </a:lnTo>
                  <a:lnTo>
                    <a:pt x="18" y="70"/>
                  </a:lnTo>
                  <a:lnTo>
                    <a:pt x="34" y="71"/>
                  </a:lnTo>
                  <a:lnTo>
                    <a:pt x="56" y="68"/>
                  </a:lnTo>
                  <a:lnTo>
                    <a:pt x="53" y="73"/>
                  </a:lnTo>
                  <a:lnTo>
                    <a:pt x="26" y="73"/>
                  </a:lnTo>
                  <a:lnTo>
                    <a:pt x="47" y="76"/>
                  </a:lnTo>
                  <a:lnTo>
                    <a:pt x="38" y="74"/>
                  </a:lnTo>
                  <a:lnTo>
                    <a:pt x="0" y="77"/>
                  </a:lnTo>
                  <a:lnTo>
                    <a:pt x="13" y="78"/>
                  </a:lnTo>
                  <a:lnTo>
                    <a:pt x="24" y="82"/>
                  </a:lnTo>
                  <a:lnTo>
                    <a:pt x="12" y="85"/>
                  </a:lnTo>
                  <a:lnTo>
                    <a:pt x="38" y="91"/>
                  </a:lnTo>
                  <a:lnTo>
                    <a:pt x="35" y="89"/>
                  </a:lnTo>
                  <a:lnTo>
                    <a:pt x="42" y="89"/>
                  </a:lnTo>
                  <a:lnTo>
                    <a:pt x="48" y="89"/>
                  </a:lnTo>
                  <a:lnTo>
                    <a:pt x="66" y="86"/>
                  </a:lnTo>
                  <a:lnTo>
                    <a:pt x="74" y="86"/>
                  </a:lnTo>
                  <a:lnTo>
                    <a:pt x="121" y="95"/>
                  </a:lnTo>
                  <a:lnTo>
                    <a:pt x="118" y="100"/>
                  </a:lnTo>
                  <a:lnTo>
                    <a:pt x="128" y="106"/>
                  </a:lnTo>
                  <a:lnTo>
                    <a:pt x="132" y="109"/>
                  </a:lnTo>
                  <a:lnTo>
                    <a:pt x="128" y="113"/>
                  </a:lnTo>
                  <a:lnTo>
                    <a:pt x="124" y="115"/>
                  </a:lnTo>
                  <a:lnTo>
                    <a:pt x="132" y="115"/>
                  </a:lnTo>
                  <a:lnTo>
                    <a:pt x="132" y="121"/>
                  </a:lnTo>
                  <a:lnTo>
                    <a:pt x="133" y="126"/>
                  </a:lnTo>
                  <a:lnTo>
                    <a:pt x="132" y="130"/>
                  </a:lnTo>
                  <a:lnTo>
                    <a:pt x="136" y="132"/>
                  </a:lnTo>
                  <a:lnTo>
                    <a:pt x="133" y="139"/>
                  </a:lnTo>
                  <a:lnTo>
                    <a:pt x="127" y="142"/>
                  </a:lnTo>
                  <a:lnTo>
                    <a:pt x="124" y="146"/>
                  </a:lnTo>
                  <a:lnTo>
                    <a:pt x="131" y="146"/>
                  </a:lnTo>
                  <a:lnTo>
                    <a:pt x="116" y="151"/>
                  </a:lnTo>
                  <a:lnTo>
                    <a:pt x="122" y="156"/>
                  </a:lnTo>
                  <a:lnTo>
                    <a:pt x="136" y="152"/>
                  </a:lnTo>
                  <a:lnTo>
                    <a:pt x="143" y="142"/>
                  </a:lnTo>
                  <a:lnTo>
                    <a:pt x="144" y="150"/>
                  </a:lnTo>
                  <a:lnTo>
                    <a:pt x="151" y="148"/>
                  </a:lnTo>
                  <a:lnTo>
                    <a:pt x="149" y="150"/>
                  </a:lnTo>
                  <a:lnTo>
                    <a:pt x="160" y="152"/>
                  </a:lnTo>
                  <a:lnTo>
                    <a:pt x="149" y="155"/>
                  </a:lnTo>
                  <a:lnTo>
                    <a:pt x="160" y="155"/>
                  </a:lnTo>
                  <a:lnTo>
                    <a:pt x="151" y="158"/>
                  </a:lnTo>
                  <a:lnTo>
                    <a:pt x="157" y="157"/>
                  </a:lnTo>
                  <a:lnTo>
                    <a:pt x="154" y="158"/>
                  </a:lnTo>
                  <a:lnTo>
                    <a:pt x="162" y="162"/>
                  </a:lnTo>
                  <a:lnTo>
                    <a:pt x="155" y="161"/>
                  </a:lnTo>
                  <a:lnTo>
                    <a:pt x="163" y="164"/>
                  </a:lnTo>
                  <a:lnTo>
                    <a:pt x="162" y="164"/>
                  </a:lnTo>
                  <a:lnTo>
                    <a:pt x="162" y="168"/>
                  </a:lnTo>
                  <a:lnTo>
                    <a:pt x="163" y="170"/>
                  </a:lnTo>
                  <a:lnTo>
                    <a:pt x="127" y="164"/>
                  </a:lnTo>
                  <a:lnTo>
                    <a:pt x="125" y="169"/>
                  </a:lnTo>
                  <a:lnTo>
                    <a:pt x="163" y="178"/>
                  </a:lnTo>
                  <a:lnTo>
                    <a:pt x="157" y="181"/>
                  </a:lnTo>
                  <a:lnTo>
                    <a:pt x="158" y="184"/>
                  </a:lnTo>
                  <a:lnTo>
                    <a:pt x="154" y="186"/>
                  </a:lnTo>
                  <a:lnTo>
                    <a:pt x="156" y="188"/>
                  </a:lnTo>
                  <a:lnTo>
                    <a:pt x="160" y="190"/>
                  </a:lnTo>
                  <a:lnTo>
                    <a:pt x="160" y="192"/>
                  </a:lnTo>
                  <a:lnTo>
                    <a:pt x="154" y="190"/>
                  </a:lnTo>
                  <a:lnTo>
                    <a:pt x="148" y="193"/>
                  </a:lnTo>
                  <a:lnTo>
                    <a:pt x="152" y="194"/>
                  </a:lnTo>
                  <a:lnTo>
                    <a:pt x="122" y="202"/>
                  </a:lnTo>
                  <a:lnTo>
                    <a:pt x="125" y="204"/>
                  </a:lnTo>
                  <a:lnTo>
                    <a:pt x="143" y="202"/>
                  </a:lnTo>
                  <a:lnTo>
                    <a:pt x="149" y="199"/>
                  </a:lnTo>
                  <a:lnTo>
                    <a:pt x="144" y="204"/>
                  </a:lnTo>
                  <a:lnTo>
                    <a:pt x="149" y="208"/>
                  </a:lnTo>
                  <a:lnTo>
                    <a:pt x="125" y="204"/>
                  </a:lnTo>
                  <a:lnTo>
                    <a:pt x="120" y="204"/>
                  </a:lnTo>
                  <a:lnTo>
                    <a:pt x="130" y="208"/>
                  </a:lnTo>
                  <a:lnTo>
                    <a:pt x="118" y="206"/>
                  </a:lnTo>
                  <a:lnTo>
                    <a:pt x="109" y="212"/>
                  </a:lnTo>
                  <a:lnTo>
                    <a:pt x="132" y="209"/>
                  </a:lnTo>
                  <a:lnTo>
                    <a:pt x="130" y="209"/>
                  </a:lnTo>
                  <a:lnTo>
                    <a:pt x="137" y="210"/>
                  </a:lnTo>
                  <a:lnTo>
                    <a:pt x="143" y="209"/>
                  </a:lnTo>
                  <a:lnTo>
                    <a:pt x="148" y="209"/>
                  </a:lnTo>
                  <a:lnTo>
                    <a:pt x="142" y="211"/>
                  </a:lnTo>
                  <a:lnTo>
                    <a:pt x="150" y="211"/>
                  </a:lnTo>
                  <a:lnTo>
                    <a:pt x="145" y="212"/>
                  </a:lnTo>
                  <a:lnTo>
                    <a:pt x="148" y="215"/>
                  </a:lnTo>
                  <a:lnTo>
                    <a:pt x="126" y="211"/>
                  </a:lnTo>
                  <a:lnTo>
                    <a:pt x="106" y="217"/>
                  </a:lnTo>
                  <a:lnTo>
                    <a:pt x="133" y="217"/>
                  </a:lnTo>
                  <a:lnTo>
                    <a:pt x="140" y="220"/>
                  </a:lnTo>
                  <a:lnTo>
                    <a:pt x="133" y="218"/>
                  </a:lnTo>
                  <a:lnTo>
                    <a:pt x="104" y="220"/>
                  </a:lnTo>
                  <a:lnTo>
                    <a:pt x="108" y="222"/>
                  </a:lnTo>
                  <a:lnTo>
                    <a:pt x="119" y="223"/>
                  </a:lnTo>
                  <a:lnTo>
                    <a:pt x="113" y="226"/>
                  </a:lnTo>
                  <a:lnTo>
                    <a:pt x="112" y="227"/>
                  </a:lnTo>
                  <a:lnTo>
                    <a:pt x="108" y="227"/>
                  </a:lnTo>
                  <a:lnTo>
                    <a:pt x="115" y="229"/>
                  </a:lnTo>
                  <a:lnTo>
                    <a:pt x="104" y="230"/>
                  </a:lnTo>
                  <a:lnTo>
                    <a:pt x="102" y="234"/>
                  </a:lnTo>
                  <a:lnTo>
                    <a:pt x="124" y="228"/>
                  </a:lnTo>
                  <a:lnTo>
                    <a:pt x="145" y="222"/>
                  </a:lnTo>
                  <a:lnTo>
                    <a:pt x="139" y="224"/>
                  </a:lnTo>
                  <a:lnTo>
                    <a:pt x="102" y="238"/>
                  </a:lnTo>
                  <a:lnTo>
                    <a:pt x="107" y="238"/>
                  </a:lnTo>
                  <a:lnTo>
                    <a:pt x="102" y="239"/>
                  </a:lnTo>
                  <a:lnTo>
                    <a:pt x="121" y="236"/>
                  </a:lnTo>
                  <a:lnTo>
                    <a:pt x="104" y="241"/>
                  </a:lnTo>
                  <a:lnTo>
                    <a:pt x="106" y="244"/>
                  </a:lnTo>
                  <a:lnTo>
                    <a:pt x="108" y="245"/>
                  </a:lnTo>
                  <a:lnTo>
                    <a:pt x="116" y="245"/>
                  </a:lnTo>
                  <a:lnTo>
                    <a:pt x="131" y="2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6" name="Freeform 415"/>
            <p:cNvSpPr>
              <a:spLocks/>
            </p:cNvSpPr>
            <p:nvPr/>
          </p:nvSpPr>
          <p:spPr bwMode="auto">
            <a:xfrm>
              <a:off x="1838" y="1343"/>
              <a:ext cx="35" cy="18"/>
            </a:xfrm>
            <a:custGeom>
              <a:avLst/>
              <a:gdLst/>
              <a:ahLst/>
              <a:cxnLst>
                <a:cxn ang="0">
                  <a:pos x="31" y="10"/>
                </a:cxn>
                <a:cxn ang="0">
                  <a:pos x="7" y="0"/>
                </a:cxn>
                <a:cxn ang="0">
                  <a:pos x="0" y="4"/>
                </a:cxn>
                <a:cxn ang="0">
                  <a:pos x="1" y="4"/>
                </a:cxn>
                <a:cxn ang="0">
                  <a:pos x="0" y="8"/>
                </a:cxn>
                <a:cxn ang="0">
                  <a:pos x="2" y="10"/>
                </a:cxn>
                <a:cxn ang="0">
                  <a:pos x="8" y="13"/>
                </a:cxn>
                <a:cxn ang="0">
                  <a:pos x="5" y="15"/>
                </a:cxn>
                <a:cxn ang="0">
                  <a:pos x="31" y="10"/>
                </a:cxn>
              </a:cxnLst>
              <a:rect l="0" t="0" r="r" b="b"/>
              <a:pathLst>
                <a:path w="31" h="15">
                  <a:moveTo>
                    <a:pt x="31" y="10"/>
                  </a:moveTo>
                  <a:lnTo>
                    <a:pt x="7" y="0"/>
                  </a:lnTo>
                  <a:lnTo>
                    <a:pt x="0" y="4"/>
                  </a:lnTo>
                  <a:lnTo>
                    <a:pt x="1" y="4"/>
                  </a:lnTo>
                  <a:lnTo>
                    <a:pt x="0" y="8"/>
                  </a:lnTo>
                  <a:lnTo>
                    <a:pt x="2" y="10"/>
                  </a:lnTo>
                  <a:lnTo>
                    <a:pt x="8" y="13"/>
                  </a:lnTo>
                  <a:lnTo>
                    <a:pt x="5" y="15"/>
                  </a:lnTo>
                  <a:lnTo>
                    <a:pt x="31"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7" name="Freeform 416"/>
            <p:cNvSpPr>
              <a:spLocks/>
            </p:cNvSpPr>
            <p:nvPr/>
          </p:nvSpPr>
          <p:spPr bwMode="auto">
            <a:xfrm>
              <a:off x="2207" y="1408"/>
              <a:ext cx="142" cy="53"/>
            </a:xfrm>
            <a:custGeom>
              <a:avLst/>
              <a:gdLst/>
              <a:ahLst/>
              <a:cxnLst>
                <a:cxn ang="0">
                  <a:pos x="99" y="0"/>
                </a:cxn>
                <a:cxn ang="0">
                  <a:pos x="96" y="4"/>
                </a:cxn>
                <a:cxn ang="0">
                  <a:pos x="86" y="8"/>
                </a:cxn>
                <a:cxn ang="0">
                  <a:pos x="77" y="5"/>
                </a:cxn>
                <a:cxn ang="0">
                  <a:pos x="76" y="12"/>
                </a:cxn>
                <a:cxn ang="0">
                  <a:pos x="75" y="10"/>
                </a:cxn>
                <a:cxn ang="0">
                  <a:pos x="64" y="6"/>
                </a:cxn>
                <a:cxn ang="0">
                  <a:pos x="60" y="10"/>
                </a:cxn>
                <a:cxn ang="0">
                  <a:pos x="53" y="6"/>
                </a:cxn>
                <a:cxn ang="0">
                  <a:pos x="46" y="15"/>
                </a:cxn>
                <a:cxn ang="0">
                  <a:pos x="39" y="18"/>
                </a:cxn>
                <a:cxn ang="0">
                  <a:pos x="34" y="14"/>
                </a:cxn>
                <a:cxn ang="0">
                  <a:pos x="38" y="10"/>
                </a:cxn>
                <a:cxn ang="0">
                  <a:pos x="21" y="0"/>
                </a:cxn>
                <a:cxn ang="0">
                  <a:pos x="23" y="4"/>
                </a:cxn>
                <a:cxn ang="0">
                  <a:pos x="26" y="10"/>
                </a:cxn>
                <a:cxn ang="0">
                  <a:pos x="16" y="5"/>
                </a:cxn>
                <a:cxn ang="0">
                  <a:pos x="12" y="8"/>
                </a:cxn>
                <a:cxn ang="0">
                  <a:pos x="12" y="10"/>
                </a:cxn>
                <a:cxn ang="0">
                  <a:pos x="15" y="11"/>
                </a:cxn>
                <a:cxn ang="0">
                  <a:pos x="14" y="11"/>
                </a:cxn>
                <a:cxn ang="0">
                  <a:pos x="4" y="11"/>
                </a:cxn>
                <a:cxn ang="0">
                  <a:pos x="8" y="14"/>
                </a:cxn>
                <a:cxn ang="0">
                  <a:pos x="0" y="15"/>
                </a:cxn>
                <a:cxn ang="0">
                  <a:pos x="28" y="16"/>
                </a:cxn>
                <a:cxn ang="0">
                  <a:pos x="23" y="20"/>
                </a:cxn>
                <a:cxn ang="0">
                  <a:pos x="27" y="22"/>
                </a:cxn>
                <a:cxn ang="0">
                  <a:pos x="3" y="24"/>
                </a:cxn>
                <a:cxn ang="0">
                  <a:pos x="22" y="29"/>
                </a:cxn>
                <a:cxn ang="0">
                  <a:pos x="28" y="30"/>
                </a:cxn>
                <a:cxn ang="0">
                  <a:pos x="24" y="33"/>
                </a:cxn>
                <a:cxn ang="0">
                  <a:pos x="28" y="33"/>
                </a:cxn>
                <a:cxn ang="0">
                  <a:pos x="26" y="35"/>
                </a:cxn>
                <a:cxn ang="0">
                  <a:pos x="15" y="40"/>
                </a:cxn>
                <a:cxn ang="0">
                  <a:pos x="24" y="42"/>
                </a:cxn>
                <a:cxn ang="0">
                  <a:pos x="41" y="44"/>
                </a:cxn>
                <a:cxn ang="0">
                  <a:pos x="69" y="48"/>
                </a:cxn>
                <a:cxn ang="0">
                  <a:pos x="88" y="41"/>
                </a:cxn>
                <a:cxn ang="0">
                  <a:pos x="107" y="35"/>
                </a:cxn>
                <a:cxn ang="0">
                  <a:pos x="119" y="28"/>
                </a:cxn>
                <a:cxn ang="0">
                  <a:pos x="125" y="24"/>
                </a:cxn>
                <a:cxn ang="0">
                  <a:pos x="129" y="23"/>
                </a:cxn>
                <a:cxn ang="0">
                  <a:pos x="123" y="21"/>
                </a:cxn>
                <a:cxn ang="0">
                  <a:pos x="129" y="18"/>
                </a:cxn>
                <a:cxn ang="0">
                  <a:pos x="129" y="16"/>
                </a:cxn>
                <a:cxn ang="0">
                  <a:pos x="118" y="16"/>
                </a:cxn>
                <a:cxn ang="0">
                  <a:pos x="120" y="14"/>
                </a:cxn>
                <a:cxn ang="0">
                  <a:pos x="114" y="12"/>
                </a:cxn>
                <a:cxn ang="0">
                  <a:pos x="114" y="8"/>
                </a:cxn>
                <a:cxn ang="0">
                  <a:pos x="119" y="2"/>
                </a:cxn>
                <a:cxn ang="0">
                  <a:pos x="110" y="4"/>
                </a:cxn>
                <a:cxn ang="0">
                  <a:pos x="99" y="0"/>
                </a:cxn>
              </a:cxnLst>
              <a:rect l="0" t="0" r="r" b="b"/>
              <a:pathLst>
                <a:path w="129" h="48">
                  <a:moveTo>
                    <a:pt x="99" y="0"/>
                  </a:moveTo>
                  <a:lnTo>
                    <a:pt x="96" y="4"/>
                  </a:lnTo>
                  <a:lnTo>
                    <a:pt x="86" y="8"/>
                  </a:lnTo>
                  <a:lnTo>
                    <a:pt x="77" y="5"/>
                  </a:lnTo>
                  <a:lnTo>
                    <a:pt x="76" y="12"/>
                  </a:lnTo>
                  <a:lnTo>
                    <a:pt x="75" y="10"/>
                  </a:lnTo>
                  <a:lnTo>
                    <a:pt x="64" y="6"/>
                  </a:lnTo>
                  <a:lnTo>
                    <a:pt x="60" y="10"/>
                  </a:lnTo>
                  <a:lnTo>
                    <a:pt x="53" y="6"/>
                  </a:lnTo>
                  <a:lnTo>
                    <a:pt x="46" y="15"/>
                  </a:lnTo>
                  <a:lnTo>
                    <a:pt x="39" y="18"/>
                  </a:lnTo>
                  <a:lnTo>
                    <a:pt x="34" y="14"/>
                  </a:lnTo>
                  <a:lnTo>
                    <a:pt x="38" y="10"/>
                  </a:lnTo>
                  <a:lnTo>
                    <a:pt x="21" y="0"/>
                  </a:lnTo>
                  <a:lnTo>
                    <a:pt x="23" y="4"/>
                  </a:lnTo>
                  <a:lnTo>
                    <a:pt x="26" y="10"/>
                  </a:lnTo>
                  <a:lnTo>
                    <a:pt x="16" y="5"/>
                  </a:lnTo>
                  <a:lnTo>
                    <a:pt x="12" y="8"/>
                  </a:lnTo>
                  <a:lnTo>
                    <a:pt x="12" y="10"/>
                  </a:lnTo>
                  <a:lnTo>
                    <a:pt x="15" y="11"/>
                  </a:lnTo>
                  <a:lnTo>
                    <a:pt x="14" y="11"/>
                  </a:lnTo>
                  <a:lnTo>
                    <a:pt x="4" y="11"/>
                  </a:lnTo>
                  <a:lnTo>
                    <a:pt x="8" y="14"/>
                  </a:lnTo>
                  <a:lnTo>
                    <a:pt x="0" y="15"/>
                  </a:lnTo>
                  <a:lnTo>
                    <a:pt x="28" y="16"/>
                  </a:lnTo>
                  <a:lnTo>
                    <a:pt x="23" y="20"/>
                  </a:lnTo>
                  <a:lnTo>
                    <a:pt x="27" y="22"/>
                  </a:lnTo>
                  <a:lnTo>
                    <a:pt x="3" y="24"/>
                  </a:lnTo>
                  <a:lnTo>
                    <a:pt x="22" y="29"/>
                  </a:lnTo>
                  <a:lnTo>
                    <a:pt x="28" y="30"/>
                  </a:lnTo>
                  <a:lnTo>
                    <a:pt x="24" y="33"/>
                  </a:lnTo>
                  <a:lnTo>
                    <a:pt x="28" y="33"/>
                  </a:lnTo>
                  <a:lnTo>
                    <a:pt x="26" y="35"/>
                  </a:lnTo>
                  <a:lnTo>
                    <a:pt x="15" y="40"/>
                  </a:lnTo>
                  <a:lnTo>
                    <a:pt x="24" y="42"/>
                  </a:lnTo>
                  <a:lnTo>
                    <a:pt x="41" y="44"/>
                  </a:lnTo>
                  <a:lnTo>
                    <a:pt x="69" y="48"/>
                  </a:lnTo>
                  <a:lnTo>
                    <a:pt x="88" y="41"/>
                  </a:lnTo>
                  <a:lnTo>
                    <a:pt x="107" y="35"/>
                  </a:lnTo>
                  <a:lnTo>
                    <a:pt x="119" y="28"/>
                  </a:lnTo>
                  <a:lnTo>
                    <a:pt x="125" y="24"/>
                  </a:lnTo>
                  <a:lnTo>
                    <a:pt x="129" y="23"/>
                  </a:lnTo>
                  <a:lnTo>
                    <a:pt x="123" y="21"/>
                  </a:lnTo>
                  <a:lnTo>
                    <a:pt x="129" y="18"/>
                  </a:lnTo>
                  <a:lnTo>
                    <a:pt x="129" y="16"/>
                  </a:lnTo>
                  <a:lnTo>
                    <a:pt x="118" y="16"/>
                  </a:lnTo>
                  <a:lnTo>
                    <a:pt x="120" y="14"/>
                  </a:lnTo>
                  <a:lnTo>
                    <a:pt x="114" y="12"/>
                  </a:lnTo>
                  <a:lnTo>
                    <a:pt x="114" y="8"/>
                  </a:lnTo>
                  <a:lnTo>
                    <a:pt x="119" y="2"/>
                  </a:lnTo>
                  <a:lnTo>
                    <a:pt x="110" y="4"/>
                  </a:lnTo>
                  <a:lnTo>
                    <a:pt x="9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8" name="Freeform 417"/>
            <p:cNvSpPr>
              <a:spLocks/>
            </p:cNvSpPr>
            <p:nvPr/>
          </p:nvSpPr>
          <p:spPr bwMode="auto">
            <a:xfrm>
              <a:off x="2376" y="1610"/>
              <a:ext cx="62" cy="71"/>
            </a:xfrm>
            <a:custGeom>
              <a:avLst/>
              <a:gdLst/>
              <a:ahLst/>
              <a:cxnLst>
                <a:cxn ang="0">
                  <a:pos x="55" y="47"/>
                </a:cxn>
                <a:cxn ang="0">
                  <a:pos x="55" y="33"/>
                </a:cxn>
                <a:cxn ang="0">
                  <a:pos x="55" y="20"/>
                </a:cxn>
                <a:cxn ang="0">
                  <a:pos x="48" y="17"/>
                </a:cxn>
                <a:cxn ang="0">
                  <a:pos x="44" y="18"/>
                </a:cxn>
                <a:cxn ang="0">
                  <a:pos x="33" y="15"/>
                </a:cxn>
                <a:cxn ang="0">
                  <a:pos x="43" y="3"/>
                </a:cxn>
                <a:cxn ang="0">
                  <a:pos x="45" y="0"/>
                </a:cxn>
                <a:cxn ang="0">
                  <a:pos x="39" y="2"/>
                </a:cxn>
                <a:cxn ang="0">
                  <a:pos x="35" y="2"/>
                </a:cxn>
                <a:cxn ang="0">
                  <a:pos x="24" y="8"/>
                </a:cxn>
                <a:cxn ang="0">
                  <a:pos x="29" y="11"/>
                </a:cxn>
                <a:cxn ang="0">
                  <a:pos x="24" y="17"/>
                </a:cxn>
                <a:cxn ang="0">
                  <a:pos x="7" y="18"/>
                </a:cxn>
                <a:cxn ang="0">
                  <a:pos x="8" y="24"/>
                </a:cxn>
                <a:cxn ang="0">
                  <a:pos x="2" y="30"/>
                </a:cxn>
                <a:cxn ang="0">
                  <a:pos x="18" y="35"/>
                </a:cxn>
                <a:cxn ang="0">
                  <a:pos x="7" y="45"/>
                </a:cxn>
                <a:cxn ang="0">
                  <a:pos x="18" y="43"/>
                </a:cxn>
                <a:cxn ang="0">
                  <a:pos x="6" y="49"/>
                </a:cxn>
                <a:cxn ang="0">
                  <a:pos x="0" y="53"/>
                </a:cxn>
                <a:cxn ang="0">
                  <a:pos x="3" y="54"/>
                </a:cxn>
                <a:cxn ang="0">
                  <a:pos x="0" y="57"/>
                </a:cxn>
                <a:cxn ang="0">
                  <a:pos x="6" y="60"/>
                </a:cxn>
                <a:cxn ang="0">
                  <a:pos x="3" y="61"/>
                </a:cxn>
                <a:cxn ang="0">
                  <a:pos x="8" y="61"/>
                </a:cxn>
                <a:cxn ang="0">
                  <a:pos x="8" y="63"/>
                </a:cxn>
                <a:cxn ang="0">
                  <a:pos x="23" y="62"/>
                </a:cxn>
                <a:cxn ang="0">
                  <a:pos x="36" y="55"/>
                </a:cxn>
                <a:cxn ang="0">
                  <a:pos x="50" y="54"/>
                </a:cxn>
                <a:cxn ang="0">
                  <a:pos x="55" y="47"/>
                </a:cxn>
              </a:cxnLst>
              <a:rect l="0" t="0" r="r" b="b"/>
              <a:pathLst>
                <a:path w="55" h="63">
                  <a:moveTo>
                    <a:pt x="55" y="47"/>
                  </a:moveTo>
                  <a:lnTo>
                    <a:pt x="55" y="33"/>
                  </a:lnTo>
                  <a:lnTo>
                    <a:pt x="55" y="20"/>
                  </a:lnTo>
                  <a:lnTo>
                    <a:pt x="48" y="17"/>
                  </a:lnTo>
                  <a:lnTo>
                    <a:pt x="44" y="18"/>
                  </a:lnTo>
                  <a:lnTo>
                    <a:pt x="33" y="15"/>
                  </a:lnTo>
                  <a:lnTo>
                    <a:pt x="43" y="3"/>
                  </a:lnTo>
                  <a:lnTo>
                    <a:pt x="45" y="0"/>
                  </a:lnTo>
                  <a:lnTo>
                    <a:pt x="39" y="2"/>
                  </a:lnTo>
                  <a:lnTo>
                    <a:pt x="35" y="2"/>
                  </a:lnTo>
                  <a:lnTo>
                    <a:pt x="24" y="8"/>
                  </a:lnTo>
                  <a:lnTo>
                    <a:pt x="29" y="11"/>
                  </a:lnTo>
                  <a:lnTo>
                    <a:pt x="24" y="17"/>
                  </a:lnTo>
                  <a:lnTo>
                    <a:pt x="7" y="18"/>
                  </a:lnTo>
                  <a:lnTo>
                    <a:pt x="8" y="24"/>
                  </a:lnTo>
                  <a:lnTo>
                    <a:pt x="2" y="30"/>
                  </a:lnTo>
                  <a:lnTo>
                    <a:pt x="18" y="35"/>
                  </a:lnTo>
                  <a:lnTo>
                    <a:pt x="7" y="45"/>
                  </a:lnTo>
                  <a:lnTo>
                    <a:pt x="18" y="43"/>
                  </a:lnTo>
                  <a:lnTo>
                    <a:pt x="6" y="49"/>
                  </a:lnTo>
                  <a:lnTo>
                    <a:pt x="0" y="53"/>
                  </a:lnTo>
                  <a:lnTo>
                    <a:pt x="3" y="54"/>
                  </a:lnTo>
                  <a:lnTo>
                    <a:pt x="0" y="57"/>
                  </a:lnTo>
                  <a:lnTo>
                    <a:pt x="6" y="60"/>
                  </a:lnTo>
                  <a:lnTo>
                    <a:pt x="3" y="61"/>
                  </a:lnTo>
                  <a:lnTo>
                    <a:pt x="8" y="61"/>
                  </a:lnTo>
                  <a:lnTo>
                    <a:pt x="8" y="63"/>
                  </a:lnTo>
                  <a:lnTo>
                    <a:pt x="23" y="62"/>
                  </a:lnTo>
                  <a:lnTo>
                    <a:pt x="36" y="55"/>
                  </a:lnTo>
                  <a:lnTo>
                    <a:pt x="50" y="54"/>
                  </a:lnTo>
                  <a:lnTo>
                    <a:pt x="55" y="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9" name="Freeform 418"/>
            <p:cNvSpPr>
              <a:spLocks/>
            </p:cNvSpPr>
            <p:nvPr/>
          </p:nvSpPr>
          <p:spPr bwMode="auto">
            <a:xfrm>
              <a:off x="2445" y="1550"/>
              <a:ext cx="113" cy="160"/>
            </a:xfrm>
            <a:custGeom>
              <a:avLst/>
              <a:gdLst/>
              <a:ahLst/>
              <a:cxnLst>
                <a:cxn ang="0">
                  <a:pos x="8" y="43"/>
                </a:cxn>
                <a:cxn ang="0">
                  <a:pos x="16" y="44"/>
                </a:cxn>
                <a:cxn ang="0">
                  <a:pos x="12" y="57"/>
                </a:cxn>
                <a:cxn ang="0">
                  <a:pos x="20" y="63"/>
                </a:cxn>
                <a:cxn ang="0">
                  <a:pos x="31" y="66"/>
                </a:cxn>
                <a:cxn ang="0">
                  <a:pos x="38" y="87"/>
                </a:cxn>
                <a:cxn ang="0">
                  <a:pos x="16" y="96"/>
                </a:cxn>
                <a:cxn ang="0">
                  <a:pos x="23" y="102"/>
                </a:cxn>
                <a:cxn ang="0">
                  <a:pos x="8" y="115"/>
                </a:cxn>
                <a:cxn ang="0">
                  <a:pos x="29" y="121"/>
                </a:cxn>
                <a:cxn ang="0">
                  <a:pos x="38" y="122"/>
                </a:cxn>
                <a:cxn ang="0">
                  <a:pos x="13" y="134"/>
                </a:cxn>
                <a:cxn ang="0">
                  <a:pos x="5" y="144"/>
                </a:cxn>
                <a:cxn ang="0">
                  <a:pos x="25" y="141"/>
                </a:cxn>
                <a:cxn ang="0">
                  <a:pos x="42" y="134"/>
                </a:cxn>
                <a:cxn ang="0">
                  <a:pos x="82" y="133"/>
                </a:cxn>
                <a:cxn ang="0">
                  <a:pos x="85" y="120"/>
                </a:cxn>
                <a:cxn ang="0">
                  <a:pos x="102" y="103"/>
                </a:cxn>
                <a:cxn ang="0">
                  <a:pos x="82" y="97"/>
                </a:cxn>
                <a:cxn ang="0">
                  <a:pos x="72" y="82"/>
                </a:cxn>
                <a:cxn ang="0">
                  <a:pos x="76" y="76"/>
                </a:cxn>
                <a:cxn ang="0">
                  <a:pos x="50" y="45"/>
                </a:cxn>
                <a:cxn ang="0">
                  <a:pos x="43" y="39"/>
                </a:cxn>
                <a:cxn ang="0">
                  <a:pos x="41" y="36"/>
                </a:cxn>
                <a:cxn ang="0">
                  <a:pos x="29" y="16"/>
                </a:cxn>
                <a:cxn ang="0">
                  <a:pos x="28" y="13"/>
                </a:cxn>
                <a:cxn ang="0">
                  <a:pos x="17" y="0"/>
                </a:cxn>
                <a:cxn ang="0">
                  <a:pos x="11" y="10"/>
                </a:cxn>
                <a:cxn ang="0">
                  <a:pos x="5" y="18"/>
                </a:cxn>
                <a:cxn ang="0">
                  <a:pos x="5" y="22"/>
                </a:cxn>
                <a:cxn ang="0">
                  <a:pos x="2" y="32"/>
                </a:cxn>
                <a:cxn ang="0">
                  <a:pos x="10" y="31"/>
                </a:cxn>
                <a:cxn ang="0">
                  <a:pos x="1" y="55"/>
                </a:cxn>
              </a:cxnLst>
              <a:rect l="0" t="0" r="r" b="b"/>
              <a:pathLst>
                <a:path w="102" h="144">
                  <a:moveTo>
                    <a:pt x="1" y="55"/>
                  </a:moveTo>
                  <a:lnTo>
                    <a:pt x="8" y="43"/>
                  </a:lnTo>
                  <a:lnTo>
                    <a:pt x="13" y="43"/>
                  </a:lnTo>
                  <a:lnTo>
                    <a:pt x="16" y="44"/>
                  </a:lnTo>
                  <a:lnTo>
                    <a:pt x="14" y="49"/>
                  </a:lnTo>
                  <a:lnTo>
                    <a:pt x="12" y="57"/>
                  </a:lnTo>
                  <a:lnTo>
                    <a:pt x="13" y="66"/>
                  </a:lnTo>
                  <a:lnTo>
                    <a:pt x="20" y="63"/>
                  </a:lnTo>
                  <a:lnTo>
                    <a:pt x="35" y="60"/>
                  </a:lnTo>
                  <a:lnTo>
                    <a:pt x="31" y="66"/>
                  </a:lnTo>
                  <a:lnTo>
                    <a:pt x="37" y="73"/>
                  </a:lnTo>
                  <a:lnTo>
                    <a:pt x="38" y="87"/>
                  </a:lnTo>
                  <a:lnTo>
                    <a:pt x="34" y="88"/>
                  </a:lnTo>
                  <a:lnTo>
                    <a:pt x="16" y="96"/>
                  </a:lnTo>
                  <a:lnTo>
                    <a:pt x="19" y="96"/>
                  </a:lnTo>
                  <a:lnTo>
                    <a:pt x="23" y="102"/>
                  </a:lnTo>
                  <a:lnTo>
                    <a:pt x="11" y="111"/>
                  </a:lnTo>
                  <a:lnTo>
                    <a:pt x="8" y="115"/>
                  </a:lnTo>
                  <a:lnTo>
                    <a:pt x="23" y="117"/>
                  </a:lnTo>
                  <a:lnTo>
                    <a:pt x="29" y="121"/>
                  </a:lnTo>
                  <a:lnTo>
                    <a:pt x="44" y="116"/>
                  </a:lnTo>
                  <a:lnTo>
                    <a:pt x="38" y="122"/>
                  </a:lnTo>
                  <a:lnTo>
                    <a:pt x="26" y="124"/>
                  </a:lnTo>
                  <a:lnTo>
                    <a:pt x="13" y="134"/>
                  </a:lnTo>
                  <a:lnTo>
                    <a:pt x="0" y="142"/>
                  </a:lnTo>
                  <a:lnTo>
                    <a:pt x="5" y="144"/>
                  </a:lnTo>
                  <a:lnTo>
                    <a:pt x="8" y="144"/>
                  </a:lnTo>
                  <a:lnTo>
                    <a:pt x="25" y="141"/>
                  </a:lnTo>
                  <a:lnTo>
                    <a:pt x="30" y="136"/>
                  </a:lnTo>
                  <a:lnTo>
                    <a:pt x="42" y="134"/>
                  </a:lnTo>
                  <a:lnTo>
                    <a:pt x="58" y="133"/>
                  </a:lnTo>
                  <a:lnTo>
                    <a:pt x="82" y="133"/>
                  </a:lnTo>
                  <a:lnTo>
                    <a:pt x="97" y="123"/>
                  </a:lnTo>
                  <a:lnTo>
                    <a:pt x="85" y="120"/>
                  </a:lnTo>
                  <a:lnTo>
                    <a:pt x="90" y="116"/>
                  </a:lnTo>
                  <a:lnTo>
                    <a:pt x="102" y="103"/>
                  </a:lnTo>
                  <a:lnTo>
                    <a:pt x="97" y="97"/>
                  </a:lnTo>
                  <a:lnTo>
                    <a:pt x="82" y="97"/>
                  </a:lnTo>
                  <a:lnTo>
                    <a:pt x="83" y="92"/>
                  </a:lnTo>
                  <a:lnTo>
                    <a:pt x="72" y="82"/>
                  </a:lnTo>
                  <a:lnTo>
                    <a:pt x="77" y="84"/>
                  </a:lnTo>
                  <a:lnTo>
                    <a:pt x="76" y="76"/>
                  </a:lnTo>
                  <a:lnTo>
                    <a:pt x="65" y="67"/>
                  </a:lnTo>
                  <a:lnTo>
                    <a:pt x="50" y="45"/>
                  </a:lnTo>
                  <a:lnTo>
                    <a:pt x="32" y="43"/>
                  </a:lnTo>
                  <a:lnTo>
                    <a:pt x="43" y="39"/>
                  </a:lnTo>
                  <a:lnTo>
                    <a:pt x="36" y="37"/>
                  </a:lnTo>
                  <a:lnTo>
                    <a:pt x="41" y="36"/>
                  </a:lnTo>
                  <a:lnTo>
                    <a:pt x="55" y="16"/>
                  </a:lnTo>
                  <a:lnTo>
                    <a:pt x="29" y="16"/>
                  </a:lnTo>
                  <a:lnTo>
                    <a:pt x="23" y="15"/>
                  </a:lnTo>
                  <a:lnTo>
                    <a:pt x="28" y="13"/>
                  </a:lnTo>
                  <a:lnTo>
                    <a:pt x="38" y="1"/>
                  </a:lnTo>
                  <a:lnTo>
                    <a:pt x="17" y="0"/>
                  </a:lnTo>
                  <a:lnTo>
                    <a:pt x="12" y="4"/>
                  </a:lnTo>
                  <a:lnTo>
                    <a:pt x="11" y="10"/>
                  </a:lnTo>
                  <a:lnTo>
                    <a:pt x="6" y="12"/>
                  </a:lnTo>
                  <a:lnTo>
                    <a:pt x="5" y="18"/>
                  </a:lnTo>
                  <a:lnTo>
                    <a:pt x="5" y="20"/>
                  </a:lnTo>
                  <a:lnTo>
                    <a:pt x="5" y="22"/>
                  </a:lnTo>
                  <a:lnTo>
                    <a:pt x="0" y="30"/>
                  </a:lnTo>
                  <a:lnTo>
                    <a:pt x="2" y="32"/>
                  </a:lnTo>
                  <a:lnTo>
                    <a:pt x="0" y="33"/>
                  </a:lnTo>
                  <a:lnTo>
                    <a:pt x="10" y="31"/>
                  </a:lnTo>
                  <a:lnTo>
                    <a:pt x="8" y="32"/>
                  </a:lnTo>
                  <a:lnTo>
                    <a:pt x="1" y="5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0" name="Freeform 419"/>
            <p:cNvSpPr>
              <a:spLocks/>
            </p:cNvSpPr>
            <p:nvPr/>
          </p:nvSpPr>
          <p:spPr bwMode="auto">
            <a:xfrm>
              <a:off x="2413" y="1612"/>
              <a:ext cx="36" cy="22"/>
            </a:xfrm>
            <a:custGeom>
              <a:avLst/>
              <a:gdLst/>
              <a:ahLst/>
              <a:cxnLst>
                <a:cxn ang="0">
                  <a:pos x="32" y="13"/>
                </a:cxn>
                <a:cxn ang="0">
                  <a:pos x="29" y="10"/>
                </a:cxn>
                <a:cxn ang="0">
                  <a:pos x="21" y="0"/>
                </a:cxn>
                <a:cxn ang="0">
                  <a:pos x="10" y="2"/>
                </a:cxn>
                <a:cxn ang="0">
                  <a:pos x="0" y="14"/>
                </a:cxn>
                <a:cxn ang="0">
                  <a:pos x="11" y="17"/>
                </a:cxn>
                <a:cxn ang="0">
                  <a:pos x="15" y="16"/>
                </a:cxn>
                <a:cxn ang="0">
                  <a:pos x="22" y="19"/>
                </a:cxn>
                <a:cxn ang="0">
                  <a:pos x="32" y="13"/>
                </a:cxn>
              </a:cxnLst>
              <a:rect l="0" t="0" r="r" b="b"/>
              <a:pathLst>
                <a:path w="32" h="19">
                  <a:moveTo>
                    <a:pt x="32" y="13"/>
                  </a:moveTo>
                  <a:lnTo>
                    <a:pt x="29" y="10"/>
                  </a:lnTo>
                  <a:lnTo>
                    <a:pt x="21" y="0"/>
                  </a:lnTo>
                  <a:lnTo>
                    <a:pt x="10" y="2"/>
                  </a:lnTo>
                  <a:lnTo>
                    <a:pt x="0" y="14"/>
                  </a:lnTo>
                  <a:lnTo>
                    <a:pt x="11" y="17"/>
                  </a:lnTo>
                  <a:lnTo>
                    <a:pt x="15" y="16"/>
                  </a:lnTo>
                  <a:lnTo>
                    <a:pt x="22" y="19"/>
                  </a:lnTo>
                  <a:lnTo>
                    <a:pt x="32"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1" name="Freeform 420"/>
            <p:cNvSpPr>
              <a:spLocks/>
            </p:cNvSpPr>
            <p:nvPr/>
          </p:nvSpPr>
          <p:spPr bwMode="auto">
            <a:xfrm>
              <a:off x="2436" y="1568"/>
              <a:ext cx="13" cy="8"/>
            </a:xfrm>
            <a:custGeom>
              <a:avLst/>
              <a:gdLst/>
              <a:ahLst/>
              <a:cxnLst>
                <a:cxn ang="0">
                  <a:pos x="7" y="2"/>
                </a:cxn>
                <a:cxn ang="0">
                  <a:pos x="3" y="0"/>
                </a:cxn>
                <a:cxn ang="0">
                  <a:pos x="0" y="4"/>
                </a:cxn>
                <a:cxn ang="0">
                  <a:pos x="10" y="9"/>
                </a:cxn>
                <a:cxn ang="0">
                  <a:pos x="13" y="6"/>
                </a:cxn>
                <a:cxn ang="0">
                  <a:pos x="7" y="2"/>
                </a:cxn>
              </a:cxnLst>
              <a:rect l="0" t="0" r="r" b="b"/>
              <a:pathLst>
                <a:path w="13" h="9">
                  <a:moveTo>
                    <a:pt x="7" y="2"/>
                  </a:moveTo>
                  <a:lnTo>
                    <a:pt x="3" y="0"/>
                  </a:lnTo>
                  <a:lnTo>
                    <a:pt x="0" y="4"/>
                  </a:lnTo>
                  <a:lnTo>
                    <a:pt x="10" y="9"/>
                  </a:lnTo>
                  <a:lnTo>
                    <a:pt x="13" y="6"/>
                  </a:lnTo>
                  <a:lnTo>
                    <a:pt x="7"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2" name="Freeform 421"/>
            <p:cNvSpPr>
              <a:spLocks/>
            </p:cNvSpPr>
            <p:nvPr/>
          </p:nvSpPr>
          <p:spPr bwMode="auto">
            <a:xfrm>
              <a:off x="2431" y="1554"/>
              <a:ext cx="11" cy="9"/>
            </a:xfrm>
            <a:custGeom>
              <a:avLst/>
              <a:gdLst/>
              <a:ahLst/>
              <a:cxnLst>
                <a:cxn ang="0">
                  <a:pos x="11" y="3"/>
                </a:cxn>
                <a:cxn ang="0">
                  <a:pos x="11" y="0"/>
                </a:cxn>
                <a:cxn ang="0">
                  <a:pos x="2" y="4"/>
                </a:cxn>
                <a:cxn ang="0">
                  <a:pos x="0" y="9"/>
                </a:cxn>
                <a:cxn ang="0">
                  <a:pos x="11" y="3"/>
                </a:cxn>
              </a:cxnLst>
              <a:rect l="0" t="0" r="r" b="b"/>
              <a:pathLst>
                <a:path w="11" h="9">
                  <a:moveTo>
                    <a:pt x="11" y="3"/>
                  </a:moveTo>
                  <a:lnTo>
                    <a:pt x="11" y="0"/>
                  </a:lnTo>
                  <a:lnTo>
                    <a:pt x="2" y="4"/>
                  </a:lnTo>
                  <a:lnTo>
                    <a:pt x="0" y="9"/>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3" name="Freeform 422"/>
            <p:cNvSpPr>
              <a:spLocks/>
            </p:cNvSpPr>
            <p:nvPr/>
          </p:nvSpPr>
          <p:spPr bwMode="auto">
            <a:xfrm>
              <a:off x="2511" y="1514"/>
              <a:ext cx="5" cy="9"/>
            </a:xfrm>
            <a:custGeom>
              <a:avLst/>
              <a:gdLst/>
              <a:ahLst/>
              <a:cxnLst>
                <a:cxn ang="0">
                  <a:pos x="1" y="0"/>
                </a:cxn>
                <a:cxn ang="0">
                  <a:pos x="1" y="3"/>
                </a:cxn>
                <a:cxn ang="0">
                  <a:pos x="0" y="5"/>
                </a:cxn>
                <a:cxn ang="0">
                  <a:pos x="1" y="8"/>
                </a:cxn>
                <a:cxn ang="0">
                  <a:pos x="5" y="0"/>
                </a:cxn>
                <a:cxn ang="0">
                  <a:pos x="1" y="0"/>
                </a:cxn>
              </a:cxnLst>
              <a:rect l="0" t="0" r="r" b="b"/>
              <a:pathLst>
                <a:path w="5" h="8">
                  <a:moveTo>
                    <a:pt x="1" y="0"/>
                  </a:moveTo>
                  <a:lnTo>
                    <a:pt x="1" y="3"/>
                  </a:lnTo>
                  <a:lnTo>
                    <a:pt x="0" y="5"/>
                  </a:lnTo>
                  <a:lnTo>
                    <a:pt x="1" y="8"/>
                  </a:lnTo>
                  <a:lnTo>
                    <a:pt x="5"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4" name="Freeform 423"/>
            <p:cNvSpPr>
              <a:spLocks/>
            </p:cNvSpPr>
            <p:nvPr/>
          </p:nvSpPr>
          <p:spPr bwMode="auto">
            <a:xfrm>
              <a:off x="2442" y="1588"/>
              <a:ext cx="7" cy="4"/>
            </a:xfrm>
            <a:custGeom>
              <a:avLst/>
              <a:gdLst/>
              <a:ahLst/>
              <a:cxnLst>
                <a:cxn ang="0">
                  <a:pos x="0" y="4"/>
                </a:cxn>
                <a:cxn ang="0">
                  <a:pos x="7" y="2"/>
                </a:cxn>
                <a:cxn ang="0">
                  <a:pos x="0" y="0"/>
                </a:cxn>
                <a:cxn ang="0">
                  <a:pos x="0" y="4"/>
                </a:cxn>
              </a:cxnLst>
              <a:rect l="0" t="0" r="r" b="b"/>
              <a:pathLst>
                <a:path w="7" h="4">
                  <a:moveTo>
                    <a:pt x="0" y="4"/>
                  </a:moveTo>
                  <a:lnTo>
                    <a:pt x="7" y="2"/>
                  </a:lnTo>
                  <a:lnTo>
                    <a:pt x="0" y="0"/>
                  </a:lnTo>
                  <a:lnTo>
                    <a:pt x="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5" name="Freeform 424"/>
            <p:cNvSpPr>
              <a:spLocks/>
            </p:cNvSpPr>
            <p:nvPr/>
          </p:nvSpPr>
          <p:spPr bwMode="auto">
            <a:xfrm>
              <a:off x="2465" y="1648"/>
              <a:ext cx="4" cy="2"/>
            </a:xfrm>
            <a:custGeom>
              <a:avLst/>
              <a:gdLst/>
              <a:ahLst/>
              <a:cxnLst>
                <a:cxn ang="0">
                  <a:pos x="5" y="3"/>
                </a:cxn>
                <a:cxn ang="0">
                  <a:pos x="1" y="0"/>
                </a:cxn>
                <a:cxn ang="0">
                  <a:pos x="0" y="4"/>
                </a:cxn>
                <a:cxn ang="0">
                  <a:pos x="5" y="3"/>
                </a:cxn>
              </a:cxnLst>
              <a:rect l="0" t="0" r="r" b="b"/>
              <a:pathLst>
                <a:path w="5" h="4">
                  <a:moveTo>
                    <a:pt x="5" y="3"/>
                  </a:moveTo>
                  <a:lnTo>
                    <a:pt x="1" y="0"/>
                  </a:lnTo>
                  <a:lnTo>
                    <a:pt x="0" y="4"/>
                  </a:lnTo>
                  <a:lnTo>
                    <a:pt x="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6" name="Freeform 425"/>
            <p:cNvSpPr>
              <a:spLocks/>
            </p:cNvSpPr>
            <p:nvPr/>
          </p:nvSpPr>
          <p:spPr bwMode="auto">
            <a:xfrm>
              <a:off x="2556" y="1856"/>
              <a:ext cx="4" cy="3"/>
            </a:xfrm>
            <a:custGeom>
              <a:avLst/>
              <a:gdLst/>
              <a:ahLst/>
              <a:cxnLst>
                <a:cxn ang="0">
                  <a:pos x="4" y="0"/>
                </a:cxn>
                <a:cxn ang="0">
                  <a:pos x="0" y="0"/>
                </a:cxn>
                <a:cxn ang="0">
                  <a:pos x="0" y="1"/>
                </a:cxn>
                <a:cxn ang="0">
                  <a:pos x="3" y="2"/>
                </a:cxn>
                <a:cxn ang="0">
                  <a:pos x="4" y="0"/>
                </a:cxn>
              </a:cxnLst>
              <a:rect l="0" t="0" r="r" b="b"/>
              <a:pathLst>
                <a:path w="4" h="2">
                  <a:moveTo>
                    <a:pt x="4" y="0"/>
                  </a:moveTo>
                  <a:lnTo>
                    <a:pt x="0" y="0"/>
                  </a:lnTo>
                  <a:lnTo>
                    <a:pt x="0" y="1"/>
                  </a:lnTo>
                  <a:lnTo>
                    <a:pt x="3" y="2"/>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7" name="Freeform 426"/>
            <p:cNvSpPr>
              <a:spLocks/>
            </p:cNvSpPr>
            <p:nvPr/>
          </p:nvSpPr>
          <p:spPr bwMode="auto">
            <a:xfrm>
              <a:off x="1442" y="2059"/>
              <a:ext cx="5" cy="2"/>
            </a:xfrm>
            <a:custGeom>
              <a:avLst/>
              <a:gdLst/>
              <a:ahLst/>
              <a:cxnLst>
                <a:cxn ang="0">
                  <a:pos x="2" y="0"/>
                </a:cxn>
                <a:cxn ang="0">
                  <a:pos x="1" y="1"/>
                </a:cxn>
                <a:cxn ang="0">
                  <a:pos x="1" y="2"/>
                </a:cxn>
                <a:cxn ang="0">
                  <a:pos x="0" y="2"/>
                </a:cxn>
                <a:cxn ang="0">
                  <a:pos x="1" y="2"/>
                </a:cxn>
                <a:cxn ang="0">
                  <a:pos x="2" y="1"/>
                </a:cxn>
                <a:cxn ang="0">
                  <a:pos x="2" y="0"/>
                </a:cxn>
              </a:cxnLst>
              <a:rect l="0" t="0" r="r" b="b"/>
              <a:pathLst>
                <a:path w="2" h="2">
                  <a:moveTo>
                    <a:pt x="2" y="0"/>
                  </a:moveTo>
                  <a:lnTo>
                    <a:pt x="1" y="1"/>
                  </a:lnTo>
                  <a:lnTo>
                    <a:pt x="1" y="2"/>
                  </a:lnTo>
                  <a:lnTo>
                    <a:pt x="0" y="2"/>
                  </a:lnTo>
                  <a:lnTo>
                    <a:pt x="1" y="2"/>
                  </a:lnTo>
                  <a:lnTo>
                    <a:pt x="2" y="1"/>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8" name="Freeform 427"/>
            <p:cNvSpPr>
              <a:spLocks/>
            </p:cNvSpPr>
            <p:nvPr/>
          </p:nvSpPr>
          <p:spPr bwMode="auto">
            <a:xfrm>
              <a:off x="2376" y="1867"/>
              <a:ext cx="53" cy="100"/>
            </a:xfrm>
            <a:custGeom>
              <a:avLst/>
              <a:gdLst/>
              <a:ahLst/>
              <a:cxnLst>
                <a:cxn ang="0">
                  <a:pos x="21" y="0"/>
                </a:cxn>
                <a:cxn ang="0">
                  <a:pos x="13" y="0"/>
                </a:cxn>
                <a:cxn ang="0">
                  <a:pos x="13" y="22"/>
                </a:cxn>
                <a:cxn ang="0">
                  <a:pos x="8" y="34"/>
                </a:cxn>
                <a:cxn ang="0">
                  <a:pos x="2" y="47"/>
                </a:cxn>
                <a:cxn ang="0">
                  <a:pos x="0" y="59"/>
                </a:cxn>
                <a:cxn ang="0">
                  <a:pos x="7" y="63"/>
                </a:cxn>
                <a:cxn ang="0">
                  <a:pos x="9" y="64"/>
                </a:cxn>
                <a:cxn ang="0">
                  <a:pos x="8" y="89"/>
                </a:cxn>
                <a:cxn ang="0">
                  <a:pos x="30" y="87"/>
                </a:cxn>
                <a:cxn ang="0">
                  <a:pos x="29" y="82"/>
                </a:cxn>
                <a:cxn ang="0">
                  <a:pos x="35" y="71"/>
                </a:cxn>
                <a:cxn ang="0">
                  <a:pos x="33" y="66"/>
                </a:cxn>
                <a:cxn ang="0">
                  <a:pos x="35" y="57"/>
                </a:cxn>
                <a:cxn ang="0">
                  <a:pos x="29" y="42"/>
                </a:cxn>
                <a:cxn ang="0">
                  <a:pos x="35" y="41"/>
                </a:cxn>
                <a:cxn ang="0">
                  <a:pos x="39" y="20"/>
                </a:cxn>
                <a:cxn ang="0">
                  <a:pos x="48" y="11"/>
                </a:cxn>
                <a:cxn ang="0">
                  <a:pos x="45" y="3"/>
                </a:cxn>
                <a:cxn ang="0">
                  <a:pos x="26" y="2"/>
                </a:cxn>
                <a:cxn ang="0">
                  <a:pos x="21" y="0"/>
                </a:cxn>
              </a:cxnLst>
              <a:rect l="0" t="0" r="r" b="b"/>
              <a:pathLst>
                <a:path w="48" h="89">
                  <a:moveTo>
                    <a:pt x="21" y="0"/>
                  </a:moveTo>
                  <a:lnTo>
                    <a:pt x="13" y="0"/>
                  </a:lnTo>
                  <a:lnTo>
                    <a:pt x="13" y="22"/>
                  </a:lnTo>
                  <a:lnTo>
                    <a:pt x="8" y="34"/>
                  </a:lnTo>
                  <a:lnTo>
                    <a:pt x="2" y="47"/>
                  </a:lnTo>
                  <a:lnTo>
                    <a:pt x="0" y="59"/>
                  </a:lnTo>
                  <a:lnTo>
                    <a:pt x="7" y="63"/>
                  </a:lnTo>
                  <a:lnTo>
                    <a:pt x="9" y="64"/>
                  </a:lnTo>
                  <a:lnTo>
                    <a:pt x="8" y="89"/>
                  </a:lnTo>
                  <a:lnTo>
                    <a:pt x="30" y="87"/>
                  </a:lnTo>
                  <a:lnTo>
                    <a:pt x="29" y="82"/>
                  </a:lnTo>
                  <a:lnTo>
                    <a:pt x="35" y="71"/>
                  </a:lnTo>
                  <a:lnTo>
                    <a:pt x="33" y="66"/>
                  </a:lnTo>
                  <a:lnTo>
                    <a:pt x="35" y="57"/>
                  </a:lnTo>
                  <a:lnTo>
                    <a:pt x="29" y="42"/>
                  </a:lnTo>
                  <a:lnTo>
                    <a:pt x="35" y="41"/>
                  </a:lnTo>
                  <a:lnTo>
                    <a:pt x="39" y="20"/>
                  </a:lnTo>
                  <a:lnTo>
                    <a:pt x="48" y="11"/>
                  </a:lnTo>
                  <a:lnTo>
                    <a:pt x="45" y="3"/>
                  </a:lnTo>
                  <a:lnTo>
                    <a:pt x="26" y="2"/>
                  </a:lnTo>
                  <a:lnTo>
                    <a:pt x="2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9" name="Freeform 428"/>
            <p:cNvSpPr>
              <a:spLocks/>
            </p:cNvSpPr>
            <p:nvPr/>
          </p:nvSpPr>
          <p:spPr bwMode="auto">
            <a:xfrm>
              <a:off x="2387" y="1834"/>
              <a:ext cx="195" cy="149"/>
            </a:xfrm>
            <a:custGeom>
              <a:avLst/>
              <a:gdLst/>
              <a:ahLst/>
              <a:cxnLst>
                <a:cxn ang="0">
                  <a:pos x="36" y="34"/>
                </a:cxn>
                <a:cxn ang="0">
                  <a:pos x="17" y="33"/>
                </a:cxn>
                <a:cxn ang="0">
                  <a:pos x="12" y="31"/>
                </a:cxn>
                <a:cxn ang="0">
                  <a:pos x="4" y="31"/>
                </a:cxn>
                <a:cxn ang="0">
                  <a:pos x="3" y="27"/>
                </a:cxn>
                <a:cxn ang="0">
                  <a:pos x="2" y="23"/>
                </a:cxn>
                <a:cxn ang="0">
                  <a:pos x="2" y="21"/>
                </a:cxn>
                <a:cxn ang="0">
                  <a:pos x="0" y="17"/>
                </a:cxn>
                <a:cxn ang="0">
                  <a:pos x="0" y="10"/>
                </a:cxn>
                <a:cxn ang="0">
                  <a:pos x="22" y="0"/>
                </a:cxn>
                <a:cxn ang="0">
                  <a:pos x="40" y="3"/>
                </a:cxn>
                <a:cxn ang="0">
                  <a:pos x="56" y="4"/>
                </a:cxn>
                <a:cxn ang="0">
                  <a:pos x="72" y="5"/>
                </a:cxn>
                <a:cxn ang="0">
                  <a:pos x="88" y="5"/>
                </a:cxn>
                <a:cxn ang="0">
                  <a:pos x="105" y="6"/>
                </a:cxn>
                <a:cxn ang="0">
                  <a:pos x="112" y="12"/>
                </a:cxn>
                <a:cxn ang="0">
                  <a:pos x="152" y="21"/>
                </a:cxn>
                <a:cxn ang="0">
                  <a:pos x="152" y="22"/>
                </a:cxn>
                <a:cxn ang="0">
                  <a:pos x="155" y="23"/>
                </a:cxn>
                <a:cxn ang="0">
                  <a:pos x="177" y="23"/>
                </a:cxn>
                <a:cxn ang="0">
                  <a:pos x="173" y="36"/>
                </a:cxn>
                <a:cxn ang="0">
                  <a:pos x="158" y="45"/>
                </a:cxn>
                <a:cxn ang="0">
                  <a:pos x="142" y="53"/>
                </a:cxn>
                <a:cxn ang="0">
                  <a:pos x="134" y="65"/>
                </a:cxn>
                <a:cxn ang="0">
                  <a:pos x="125" y="78"/>
                </a:cxn>
                <a:cxn ang="0">
                  <a:pos x="131" y="91"/>
                </a:cxn>
                <a:cxn ang="0">
                  <a:pos x="119" y="106"/>
                </a:cxn>
                <a:cxn ang="0">
                  <a:pos x="116" y="111"/>
                </a:cxn>
                <a:cxn ang="0">
                  <a:pos x="104" y="117"/>
                </a:cxn>
                <a:cxn ang="0">
                  <a:pos x="96" y="124"/>
                </a:cxn>
                <a:cxn ang="0">
                  <a:pos x="80" y="126"/>
                </a:cxn>
                <a:cxn ang="0">
                  <a:pos x="62" y="129"/>
                </a:cxn>
                <a:cxn ang="0">
                  <a:pos x="51" y="136"/>
                </a:cxn>
                <a:cxn ang="0">
                  <a:pos x="50" y="136"/>
                </a:cxn>
                <a:cxn ang="0">
                  <a:pos x="40" y="135"/>
                </a:cxn>
                <a:cxn ang="0">
                  <a:pos x="36" y="123"/>
                </a:cxn>
                <a:cxn ang="0">
                  <a:pos x="26" y="117"/>
                </a:cxn>
                <a:cxn ang="0">
                  <a:pos x="21" y="118"/>
                </a:cxn>
                <a:cxn ang="0">
                  <a:pos x="20" y="113"/>
                </a:cxn>
                <a:cxn ang="0">
                  <a:pos x="26" y="102"/>
                </a:cxn>
                <a:cxn ang="0">
                  <a:pos x="24" y="97"/>
                </a:cxn>
                <a:cxn ang="0">
                  <a:pos x="26" y="88"/>
                </a:cxn>
                <a:cxn ang="0">
                  <a:pos x="20" y="73"/>
                </a:cxn>
                <a:cxn ang="0">
                  <a:pos x="26" y="72"/>
                </a:cxn>
                <a:cxn ang="0">
                  <a:pos x="30" y="51"/>
                </a:cxn>
                <a:cxn ang="0">
                  <a:pos x="39" y="42"/>
                </a:cxn>
                <a:cxn ang="0">
                  <a:pos x="36" y="34"/>
                </a:cxn>
              </a:cxnLst>
              <a:rect l="0" t="0" r="r" b="b"/>
              <a:pathLst>
                <a:path w="177" h="136">
                  <a:moveTo>
                    <a:pt x="36" y="34"/>
                  </a:moveTo>
                  <a:lnTo>
                    <a:pt x="17" y="33"/>
                  </a:lnTo>
                  <a:lnTo>
                    <a:pt x="12" y="31"/>
                  </a:lnTo>
                  <a:lnTo>
                    <a:pt x="4" y="31"/>
                  </a:lnTo>
                  <a:lnTo>
                    <a:pt x="3" y="27"/>
                  </a:lnTo>
                  <a:lnTo>
                    <a:pt x="2" y="23"/>
                  </a:lnTo>
                  <a:lnTo>
                    <a:pt x="2" y="21"/>
                  </a:lnTo>
                  <a:lnTo>
                    <a:pt x="0" y="17"/>
                  </a:lnTo>
                  <a:lnTo>
                    <a:pt x="0" y="10"/>
                  </a:lnTo>
                  <a:lnTo>
                    <a:pt x="22" y="0"/>
                  </a:lnTo>
                  <a:lnTo>
                    <a:pt x="40" y="3"/>
                  </a:lnTo>
                  <a:lnTo>
                    <a:pt x="56" y="4"/>
                  </a:lnTo>
                  <a:lnTo>
                    <a:pt x="72" y="5"/>
                  </a:lnTo>
                  <a:lnTo>
                    <a:pt x="88" y="5"/>
                  </a:lnTo>
                  <a:lnTo>
                    <a:pt x="105" y="6"/>
                  </a:lnTo>
                  <a:lnTo>
                    <a:pt x="112" y="12"/>
                  </a:lnTo>
                  <a:lnTo>
                    <a:pt x="152" y="21"/>
                  </a:lnTo>
                  <a:lnTo>
                    <a:pt x="152" y="22"/>
                  </a:lnTo>
                  <a:lnTo>
                    <a:pt x="155" y="23"/>
                  </a:lnTo>
                  <a:lnTo>
                    <a:pt x="177" y="23"/>
                  </a:lnTo>
                  <a:lnTo>
                    <a:pt x="173" y="36"/>
                  </a:lnTo>
                  <a:lnTo>
                    <a:pt x="158" y="45"/>
                  </a:lnTo>
                  <a:lnTo>
                    <a:pt x="142" y="53"/>
                  </a:lnTo>
                  <a:lnTo>
                    <a:pt x="134" y="65"/>
                  </a:lnTo>
                  <a:lnTo>
                    <a:pt x="125" y="78"/>
                  </a:lnTo>
                  <a:lnTo>
                    <a:pt x="131" y="91"/>
                  </a:lnTo>
                  <a:lnTo>
                    <a:pt x="119" y="106"/>
                  </a:lnTo>
                  <a:lnTo>
                    <a:pt x="116" y="111"/>
                  </a:lnTo>
                  <a:lnTo>
                    <a:pt x="104" y="117"/>
                  </a:lnTo>
                  <a:lnTo>
                    <a:pt x="96" y="124"/>
                  </a:lnTo>
                  <a:lnTo>
                    <a:pt x="80" y="126"/>
                  </a:lnTo>
                  <a:lnTo>
                    <a:pt x="62" y="129"/>
                  </a:lnTo>
                  <a:lnTo>
                    <a:pt x="51" y="136"/>
                  </a:lnTo>
                  <a:lnTo>
                    <a:pt x="50" y="136"/>
                  </a:lnTo>
                  <a:lnTo>
                    <a:pt x="40" y="135"/>
                  </a:lnTo>
                  <a:lnTo>
                    <a:pt x="36" y="123"/>
                  </a:lnTo>
                  <a:lnTo>
                    <a:pt x="26" y="117"/>
                  </a:lnTo>
                  <a:lnTo>
                    <a:pt x="21" y="118"/>
                  </a:lnTo>
                  <a:lnTo>
                    <a:pt x="20" y="113"/>
                  </a:lnTo>
                  <a:lnTo>
                    <a:pt x="26" y="102"/>
                  </a:lnTo>
                  <a:lnTo>
                    <a:pt x="24" y="97"/>
                  </a:lnTo>
                  <a:lnTo>
                    <a:pt x="26" y="88"/>
                  </a:lnTo>
                  <a:lnTo>
                    <a:pt x="20" y="73"/>
                  </a:lnTo>
                  <a:lnTo>
                    <a:pt x="26" y="72"/>
                  </a:lnTo>
                  <a:lnTo>
                    <a:pt x="30" y="51"/>
                  </a:lnTo>
                  <a:lnTo>
                    <a:pt x="39" y="42"/>
                  </a:lnTo>
                  <a:lnTo>
                    <a:pt x="36"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0" name="Freeform 429"/>
            <p:cNvSpPr>
              <a:spLocks/>
            </p:cNvSpPr>
            <p:nvPr/>
          </p:nvSpPr>
          <p:spPr bwMode="auto">
            <a:xfrm>
              <a:off x="2571" y="1910"/>
              <a:ext cx="18" cy="11"/>
            </a:xfrm>
            <a:custGeom>
              <a:avLst/>
              <a:gdLst/>
              <a:ahLst/>
              <a:cxnLst>
                <a:cxn ang="0">
                  <a:pos x="16" y="2"/>
                </a:cxn>
                <a:cxn ang="0">
                  <a:pos x="7" y="8"/>
                </a:cxn>
                <a:cxn ang="0">
                  <a:pos x="0" y="2"/>
                </a:cxn>
                <a:cxn ang="0">
                  <a:pos x="10" y="0"/>
                </a:cxn>
                <a:cxn ang="0">
                  <a:pos x="16" y="2"/>
                </a:cxn>
              </a:cxnLst>
              <a:rect l="0" t="0" r="r" b="b"/>
              <a:pathLst>
                <a:path w="16" h="8">
                  <a:moveTo>
                    <a:pt x="16" y="2"/>
                  </a:moveTo>
                  <a:lnTo>
                    <a:pt x="7" y="8"/>
                  </a:lnTo>
                  <a:lnTo>
                    <a:pt x="0" y="2"/>
                  </a:lnTo>
                  <a:lnTo>
                    <a:pt x="10" y="0"/>
                  </a:lnTo>
                  <a:lnTo>
                    <a:pt x="1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1" name="Freeform 430"/>
            <p:cNvSpPr>
              <a:spLocks/>
            </p:cNvSpPr>
            <p:nvPr/>
          </p:nvSpPr>
          <p:spPr bwMode="auto">
            <a:xfrm>
              <a:off x="514" y="1723"/>
              <a:ext cx="960" cy="480"/>
            </a:xfrm>
            <a:custGeom>
              <a:avLst/>
              <a:gdLst/>
              <a:ahLst/>
              <a:cxnLst>
                <a:cxn ang="0">
                  <a:pos x="855" y="36"/>
                </a:cxn>
                <a:cxn ang="0">
                  <a:pos x="809" y="69"/>
                </a:cxn>
                <a:cxn ang="0">
                  <a:pos x="716" y="101"/>
                </a:cxn>
                <a:cxn ang="0">
                  <a:pos x="648" y="125"/>
                </a:cxn>
                <a:cxn ang="0">
                  <a:pos x="639" y="102"/>
                </a:cxn>
                <a:cxn ang="0">
                  <a:pos x="630" y="57"/>
                </a:cxn>
                <a:cxn ang="0">
                  <a:pos x="581" y="19"/>
                </a:cxn>
                <a:cxn ang="0">
                  <a:pos x="502" y="9"/>
                </a:cxn>
                <a:cxn ang="0">
                  <a:pos x="425" y="6"/>
                </a:cxn>
                <a:cxn ang="0">
                  <a:pos x="306" y="6"/>
                </a:cxn>
                <a:cxn ang="0">
                  <a:pos x="186" y="6"/>
                </a:cxn>
                <a:cxn ang="0">
                  <a:pos x="102" y="35"/>
                </a:cxn>
                <a:cxn ang="0">
                  <a:pos x="93" y="35"/>
                </a:cxn>
                <a:cxn ang="0">
                  <a:pos x="76" y="41"/>
                </a:cxn>
                <a:cxn ang="0">
                  <a:pos x="66" y="54"/>
                </a:cxn>
                <a:cxn ang="0">
                  <a:pos x="27" y="111"/>
                </a:cxn>
                <a:cxn ang="0">
                  <a:pos x="0" y="176"/>
                </a:cxn>
                <a:cxn ang="0">
                  <a:pos x="10" y="200"/>
                </a:cxn>
                <a:cxn ang="0">
                  <a:pos x="10" y="219"/>
                </a:cxn>
                <a:cxn ang="0">
                  <a:pos x="17" y="264"/>
                </a:cxn>
                <a:cxn ang="0">
                  <a:pos x="86" y="296"/>
                </a:cxn>
                <a:cxn ang="0">
                  <a:pos x="154" y="320"/>
                </a:cxn>
                <a:cxn ang="0">
                  <a:pos x="222" y="348"/>
                </a:cxn>
                <a:cxn ang="0">
                  <a:pos x="280" y="367"/>
                </a:cxn>
                <a:cxn ang="0">
                  <a:pos x="320" y="396"/>
                </a:cxn>
                <a:cxn ang="0">
                  <a:pos x="328" y="380"/>
                </a:cxn>
                <a:cxn ang="0">
                  <a:pos x="345" y="372"/>
                </a:cxn>
                <a:cxn ang="0">
                  <a:pos x="374" y="353"/>
                </a:cxn>
                <a:cxn ang="0">
                  <a:pos x="412" y="350"/>
                </a:cxn>
                <a:cxn ang="0">
                  <a:pos x="441" y="351"/>
                </a:cxn>
                <a:cxn ang="0">
                  <a:pos x="454" y="345"/>
                </a:cxn>
                <a:cxn ang="0">
                  <a:pos x="476" y="338"/>
                </a:cxn>
                <a:cxn ang="0">
                  <a:pos x="490" y="338"/>
                </a:cxn>
                <a:cxn ang="0">
                  <a:pos x="515" y="344"/>
                </a:cxn>
                <a:cxn ang="0">
                  <a:pos x="552" y="366"/>
                </a:cxn>
                <a:cxn ang="0">
                  <a:pos x="550" y="392"/>
                </a:cxn>
                <a:cxn ang="0">
                  <a:pos x="557" y="408"/>
                </a:cxn>
                <a:cxn ang="0">
                  <a:pos x="586" y="399"/>
                </a:cxn>
                <a:cxn ang="0">
                  <a:pos x="581" y="354"/>
                </a:cxn>
                <a:cxn ang="0">
                  <a:pos x="591" y="311"/>
                </a:cxn>
                <a:cxn ang="0">
                  <a:pos x="624" y="285"/>
                </a:cxn>
                <a:cxn ang="0">
                  <a:pos x="664" y="252"/>
                </a:cxn>
                <a:cxn ang="0">
                  <a:pos x="687" y="237"/>
                </a:cxn>
                <a:cxn ang="0">
                  <a:pos x="681" y="235"/>
                </a:cxn>
                <a:cxn ang="0">
                  <a:pos x="686" y="219"/>
                </a:cxn>
                <a:cxn ang="0">
                  <a:pos x="687" y="213"/>
                </a:cxn>
                <a:cxn ang="0">
                  <a:pos x="684" y="186"/>
                </a:cxn>
                <a:cxn ang="0">
                  <a:pos x="694" y="179"/>
                </a:cxn>
                <a:cxn ang="0">
                  <a:pos x="699" y="197"/>
                </a:cxn>
                <a:cxn ang="0">
                  <a:pos x="710" y="193"/>
                </a:cxn>
                <a:cxn ang="0">
                  <a:pos x="714" y="183"/>
                </a:cxn>
                <a:cxn ang="0">
                  <a:pos x="741" y="150"/>
                </a:cxn>
                <a:cxn ang="0">
                  <a:pos x="784" y="135"/>
                </a:cxn>
                <a:cxn ang="0">
                  <a:pos x="803" y="133"/>
                </a:cxn>
                <a:cxn ang="0">
                  <a:pos x="819" y="96"/>
                </a:cxn>
                <a:cxn ang="0">
                  <a:pos x="845" y="87"/>
                </a:cxn>
              </a:cxnLst>
              <a:rect l="0" t="0" r="r" b="b"/>
              <a:pathLst>
                <a:path w="864" h="431">
                  <a:moveTo>
                    <a:pt x="863" y="79"/>
                  </a:moveTo>
                  <a:lnTo>
                    <a:pt x="862" y="73"/>
                  </a:lnTo>
                  <a:lnTo>
                    <a:pt x="858" y="61"/>
                  </a:lnTo>
                  <a:lnTo>
                    <a:pt x="864" y="39"/>
                  </a:lnTo>
                  <a:lnTo>
                    <a:pt x="855" y="36"/>
                  </a:lnTo>
                  <a:lnTo>
                    <a:pt x="849" y="36"/>
                  </a:lnTo>
                  <a:lnTo>
                    <a:pt x="848" y="33"/>
                  </a:lnTo>
                  <a:lnTo>
                    <a:pt x="834" y="45"/>
                  </a:lnTo>
                  <a:lnTo>
                    <a:pt x="822" y="59"/>
                  </a:lnTo>
                  <a:lnTo>
                    <a:pt x="809" y="69"/>
                  </a:lnTo>
                  <a:lnTo>
                    <a:pt x="800" y="75"/>
                  </a:lnTo>
                  <a:lnTo>
                    <a:pt x="772" y="78"/>
                  </a:lnTo>
                  <a:lnTo>
                    <a:pt x="744" y="79"/>
                  </a:lnTo>
                  <a:lnTo>
                    <a:pt x="730" y="90"/>
                  </a:lnTo>
                  <a:lnTo>
                    <a:pt x="716" y="101"/>
                  </a:lnTo>
                  <a:lnTo>
                    <a:pt x="698" y="102"/>
                  </a:lnTo>
                  <a:lnTo>
                    <a:pt x="681" y="103"/>
                  </a:lnTo>
                  <a:lnTo>
                    <a:pt x="680" y="115"/>
                  </a:lnTo>
                  <a:lnTo>
                    <a:pt x="664" y="120"/>
                  </a:lnTo>
                  <a:lnTo>
                    <a:pt x="648" y="125"/>
                  </a:lnTo>
                  <a:lnTo>
                    <a:pt x="634" y="129"/>
                  </a:lnTo>
                  <a:lnTo>
                    <a:pt x="618" y="135"/>
                  </a:lnTo>
                  <a:lnTo>
                    <a:pt x="614" y="128"/>
                  </a:lnTo>
                  <a:lnTo>
                    <a:pt x="632" y="111"/>
                  </a:lnTo>
                  <a:lnTo>
                    <a:pt x="639" y="102"/>
                  </a:lnTo>
                  <a:lnTo>
                    <a:pt x="641" y="85"/>
                  </a:lnTo>
                  <a:lnTo>
                    <a:pt x="645" y="69"/>
                  </a:lnTo>
                  <a:lnTo>
                    <a:pt x="634" y="61"/>
                  </a:lnTo>
                  <a:lnTo>
                    <a:pt x="635" y="56"/>
                  </a:lnTo>
                  <a:lnTo>
                    <a:pt x="630" y="57"/>
                  </a:lnTo>
                  <a:lnTo>
                    <a:pt x="629" y="50"/>
                  </a:lnTo>
                  <a:lnTo>
                    <a:pt x="617" y="42"/>
                  </a:lnTo>
                  <a:lnTo>
                    <a:pt x="605" y="35"/>
                  </a:lnTo>
                  <a:lnTo>
                    <a:pt x="593" y="27"/>
                  </a:lnTo>
                  <a:lnTo>
                    <a:pt x="581" y="19"/>
                  </a:lnTo>
                  <a:lnTo>
                    <a:pt x="562" y="24"/>
                  </a:lnTo>
                  <a:lnTo>
                    <a:pt x="550" y="19"/>
                  </a:lnTo>
                  <a:lnTo>
                    <a:pt x="538" y="21"/>
                  </a:lnTo>
                  <a:lnTo>
                    <a:pt x="518" y="13"/>
                  </a:lnTo>
                  <a:lnTo>
                    <a:pt x="502" y="9"/>
                  </a:lnTo>
                  <a:lnTo>
                    <a:pt x="503" y="0"/>
                  </a:lnTo>
                  <a:lnTo>
                    <a:pt x="497" y="6"/>
                  </a:lnTo>
                  <a:lnTo>
                    <a:pt x="473" y="6"/>
                  </a:lnTo>
                  <a:lnTo>
                    <a:pt x="449" y="6"/>
                  </a:lnTo>
                  <a:lnTo>
                    <a:pt x="425" y="6"/>
                  </a:lnTo>
                  <a:lnTo>
                    <a:pt x="401" y="6"/>
                  </a:lnTo>
                  <a:lnTo>
                    <a:pt x="377" y="6"/>
                  </a:lnTo>
                  <a:lnTo>
                    <a:pt x="354" y="6"/>
                  </a:lnTo>
                  <a:lnTo>
                    <a:pt x="330" y="6"/>
                  </a:lnTo>
                  <a:lnTo>
                    <a:pt x="306" y="6"/>
                  </a:lnTo>
                  <a:lnTo>
                    <a:pt x="282" y="6"/>
                  </a:lnTo>
                  <a:lnTo>
                    <a:pt x="258" y="6"/>
                  </a:lnTo>
                  <a:lnTo>
                    <a:pt x="234" y="6"/>
                  </a:lnTo>
                  <a:lnTo>
                    <a:pt x="210" y="6"/>
                  </a:lnTo>
                  <a:lnTo>
                    <a:pt x="186" y="6"/>
                  </a:lnTo>
                  <a:lnTo>
                    <a:pt x="162" y="6"/>
                  </a:lnTo>
                  <a:lnTo>
                    <a:pt x="138" y="6"/>
                  </a:lnTo>
                  <a:lnTo>
                    <a:pt x="114" y="6"/>
                  </a:lnTo>
                  <a:lnTo>
                    <a:pt x="110" y="20"/>
                  </a:lnTo>
                  <a:lnTo>
                    <a:pt x="102" y="35"/>
                  </a:lnTo>
                  <a:lnTo>
                    <a:pt x="92" y="39"/>
                  </a:lnTo>
                  <a:lnTo>
                    <a:pt x="94" y="36"/>
                  </a:lnTo>
                  <a:lnTo>
                    <a:pt x="95" y="38"/>
                  </a:lnTo>
                  <a:lnTo>
                    <a:pt x="106" y="25"/>
                  </a:lnTo>
                  <a:lnTo>
                    <a:pt x="93" y="35"/>
                  </a:lnTo>
                  <a:lnTo>
                    <a:pt x="92" y="35"/>
                  </a:lnTo>
                  <a:lnTo>
                    <a:pt x="100" y="27"/>
                  </a:lnTo>
                  <a:lnTo>
                    <a:pt x="105" y="21"/>
                  </a:lnTo>
                  <a:lnTo>
                    <a:pt x="83" y="17"/>
                  </a:lnTo>
                  <a:lnTo>
                    <a:pt x="76" y="41"/>
                  </a:lnTo>
                  <a:lnTo>
                    <a:pt x="74" y="43"/>
                  </a:lnTo>
                  <a:lnTo>
                    <a:pt x="72" y="47"/>
                  </a:lnTo>
                  <a:lnTo>
                    <a:pt x="71" y="49"/>
                  </a:lnTo>
                  <a:lnTo>
                    <a:pt x="70" y="47"/>
                  </a:lnTo>
                  <a:lnTo>
                    <a:pt x="66" y="54"/>
                  </a:lnTo>
                  <a:lnTo>
                    <a:pt x="76" y="56"/>
                  </a:lnTo>
                  <a:lnTo>
                    <a:pt x="69" y="56"/>
                  </a:lnTo>
                  <a:lnTo>
                    <a:pt x="62" y="65"/>
                  </a:lnTo>
                  <a:lnTo>
                    <a:pt x="44" y="87"/>
                  </a:lnTo>
                  <a:lnTo>
                    <a:pt x="27" y="111"/>
                  </a:lnTo>
                  <a:lnTo>
                    <a:pt x="22" y="126"/>
                  </a:lnTo>
                  <a:lnTo>
                    <a:pt x="17" y="140"/>
                  </a:lnTo>
                  <a:lnTo>
                    <a:pt x="2" y="157"/>
                  </a:lnTo>
                  <a:lnTo>
                    <a:pt x="3" y="163"/>
                  </a:lnTo>
                  <a:lnTo>
                    <a:pt x="0" y="176"/>
                  </a:lnTo>
                  <a:lnTo>
                    <a:pt x="3" y="188"/>
                  </a:lnTo>
                  <a:lnTo>
                    <a:pt x="5" y="199"/>
                  </a:lnTo>
                  <a:lnTo>
                    <a:pt x="4" y="197"/>
                  </a:lnTo>
                  <a:lnTo>
                    <a:pt x="3" y="200"/>
                  </a:lnTo>
                  <a:lnTo>
                    <a:pt x="10" y="200"/>
                  </a:lnTo>
                  <a:lnTo>
                    <a:pt x="14" y="200"/>
                  </a:lnTo>
                  <a:lnTo>
                    <a:pt x="11" y="210"/>
                  </a:lnTo>
                  <a:lnTo>
                    <a:pt x="8" y="207"/>
                  </a:lnTo>
                  <a:lnTo>
                    <a:pt x="5" y="210"/>
                  </a:lnTo>
                  <a:lnTo>
                    <a:pt x="10" y="219"/>
                  </a:lnTo>
                  <a:lnTo>
                    <a:pt x="5" y="227"/>
                  </a:lnTo>
                  <a:lnTo>
                    <a:pt x="9" y="236"/>
                  </a:lnTo>
                  <a:lnTo>
                    <a:pt x="12" y="247"/>
                  </a:lnTo>
                  <a:lnTo>
                    <a:pt x="9" y="263"/>
                  </a:lnTo>
                  <a:lnTo>
                    <a:pt x="17" y="264"/>
                  </a:lnTo>
                  <a:lnTo>
                    <a:pt x="33" y="272"/>
                  </a:lnTo>
                  <a:lnTo>
                    <a:pt x="48" y="284"/>
                  </a:lnTo>
                  <a:lnTo>
                    <a:pt x="48" y="299"/>
                  </a:lnTo>
                  <a:lnTo>
                    <a:pt x="66" y="297"/>
                  </a:lnTo>
                  <a:lnTo>
                    <a:pt x="86" y="296"/>
                  </a:lnTo>
                  <a:lnTo>
                    <a:pt x="96" y="302"/>
                  </a:lnTo>
                  <a:lnTo>
                    <a:pt x="108" y="308"/>
                  </a:lnTo>
                  <a:lnTo>
                    <a:pt x="120" y="314"/>
                  </a:lnTo>
                  <a:lnTo>
                    <a:pt x="132" y="320"/>
                  </a:lnTo>
                  <a:lnTo>
                    <a:pt x="154" y="320"/>
                  </a:lnTo>
                  <a:lnTo>
                    <a:pt x="176" y="320"/>
                  </a:lnTo>
                  <a:lnTo>
                    <a:pt x="179" y="312"/>
                  </a:lnTo>
                  <a:lnTo>
                    <a:pt x="204" y="312"/>
                  </a:lnTo>
                  <a:lnTo>
                    <a:pt x="218" y="330"/>
                  </a:lnTo>
                  <a:lnTo>
                    <a:pt x="222" y="348"/>
                  </a:lnTo>
                  <a:lnTo>
                    <a:pt x="231" y="355"/>
                  </a:lnTo>
                  <a:lnTo>
                    <a:pt x="240" y="362"/>
                  </a:lnTo>
                  <a:lnTo>
                    <a:pt x="251" y="349"/>
                  </a:lnTo>
                  <a:lnTo>
                    <a:pt x="273" y="351"/>
                  </a:lnTo>
                  <a:lnTo>
                    <a:pt x="280" y="367"/>
                  </a:lnTo>
                  <a:lnTo>
                    <a:pt x="286" y="384"/>
                  </a:lnTo>
                  <a:lnTo>
                    <a:pt x="292" y="405"/>
                  </a:lnTo>
                  <a:lnTo>
                    <a:pt x="302" y="414"/>
                  </a:lnTo>
                  <a:lnTo>
                    <a:pt x="321" y="416"/>
                  </a:lnTo>
                  <a:lnTo>
                    <a:pt x="320" y="396"/>
                  </a:lnTo>
                  <a:lnTo>
                    <a:pt x="318" y="393"/>
                  </a:lnTo>
                  <a:lnTo>
                    <a:pt x="317" y="390"/>
                  </a:lnTo>
                  <a:lnTo>
                    <a:pt x="322" y="392"/>
                  </a:lnTo>
                  <a:lnTo>
                    <a:pt x="324" y="383"/>
                  </a:lnTo>
                  <a:lnTo>
                    <a:pt x="328" y="380"/>
                  </a:lnTo>
                  <a:lnTo>
                    <a:pt x="336" y="374"/>
                  </a:lnTo>
                  <a:lnTo>
                    <a:pt x="341" y="371"/>
                  </a:lnTo>
                  <a:lnTo>
                    <a:pt x="341" y="368"/>
                  </a:lnTo>
                  <a:lnTo>
                    <a:pt x="348" y="368"/>
                  </a:lnTo>
                  <a:lnTo>
                    <a:pt x="345" y="372"/>
                  </a:lnTo>
                  <a:lnTo>
                    <a:pt x="353" y="367"/>
                  </a:lnTo>
                  <a:lnTo>
                    <a:pt x="350" y="367"/>
                  </a:lnTo>
                  <a:lnTo>
                    <a:pt x="368" y="355"/>
                  </a:lnTo>
                  <a:lnTo>
                    <a:pt x="370" y="350"/>
                  </a:lnTo>
                  <a:lnTo>
                    <a:pt x="374" y="353"/>
                  </a:lnTo>
                  <a:lnTo>
                    <a:pt x="372" y="354"/>
                  </a:lnTo>
                  <a:lnTo>
                    <a:pt x="384" y="347"/>
                  </a:lnTo>
                  <a:lnTo>
                    <a:pt x="387" y="347"/>
                  </a:lnTo>
                  <a:lnTo>
                    <a:pt x="399" y="349"/>
                  </a:lnTo>
                  <a:lnTo>
                    <a:pt x="412" y="350"/>
                  </a:lnTo>
                  <a:lnTo>
                    <a:pt x="419" y="349"/>
                  </a:lnTo>
                  <a:lnTo>
                    <a:pt x="424" y="355"/>
                  </a:lnTo>
                  <a:lnTo>
                    <a:pt x="434" y="357"/>
                  </a:lnTo>
                  <a:lnTo>
                    <a:pt x="442" y="359"/>
                  </a:lnTo>
                  <a:lnTo>
                    <a:pt x="441" y="351"/>
                  </a:lnTo>
                  <a:lnTo>
                    <a:pt x="453" y="360"/>
                  </a:lnTo>
                  <a:lnTo>
                    <a:pt x="450" y="363"/>
                  </a:lnTo>
                  <a:lnTo>
                    <a:pt x="455" y="357"/>
                  </a:lnTo>
                  <a:lnTo>
                    <a:pt x="449" y="349"/>
                  </a:lnTo>
                  <a:lnTo>
                    <a:pt x="454" y="345"/>
                  </a:lnTo>
                  <a:lnTo>
                    <a:pt x="452" y="344"/>
                  </a:lnTo>
                  <a:lnTo>
                    <a:pt x="450" y="343"/>
                  </a:lnTo>
                  <a:lnTo>
                    <a:pt x="440" y="341"/>
                  </a:lnTo>
                  <a:lnTo>
                    <a:pt x="450" y="341"/>
                  </a:lnTo>
                  <a:lnTo>
                    <a:pt x="476" y="338"/>
                  </a:lnTo>
                  <a:lnTo>
                    <a:pt x="479" y="331"/>
                  </a:lnTo>
                  <a:lnTo>
                    <a:pt x="478" y="339"/>
                  </a:lnTo>
                  <a:lnTo>
                    <a:pt x="485" y="338"/>
                  </a:lnTo>
                  <a:lnTo>
                    <a:pt x="494" y="336"/>
                  </a:lnTo>
                  <a:lnTo>
                    <a:pt x="490" y="338"/>
                  </a:lnTo>
                  <a:lnTo>
                    <a:pt x="504" y="337"/>
                  </a:lnTo>
                  <a:lnTo>
                    <a:pt x="501" y="337"/>
                  </a:lnTo>
                  <a:lnTo>
                    <a:pt x="509" y="339"/>
                  </a:lnTo>
                  <a:lnTo>
                    <a:pt x="513" y="339"/>
                  </a:lnTo>
                  <a:lnTo>
                    <a:pt x="515" y="344"/>
                  </a:lnTo>
                  <a:lnTo>
                    <a:pt x="512" y="342"/>
                  </a:lnTo>
                  <a:lnTo>
                    <a:pt x="515" y="350"/>
                  </a:lnTo>
                  <a:lnTo>
                    <a:pt x="537" y="343"/>
                  </a:lnTo>
                  <a:lnTo>
                    <a:pt x="545" y="354"/>
                  </a:lnTo>
                  <a:lnTo>
                    <a:pt x="552" y="366"/>
                  </a:lnTo>
                  <a:lnTo>
                    <a:pt x="549" y="386"/>
                  </a:lnTo>
                  <a:lnTo>
                    <a:pt x="548" y="383"/>
                  </a:lnTo>
                  <a:lnTo>
                    <a:pt x="549" y="386"/>
                  </a:lnTo>
                  <a:lnTo>
                    <a:pt x="552" y="381"/>
                  </a:lnTo>
                  <a:lnTo>
                    <a:pt x="550" y="392"/>
                  </a:lnTo>
                  <a:lnTo>
                    <a:pt x="554" y="399"/>
                  </a:lnTo>
                  <a:lnTo>
                    <a:pt x="556" y="401"/>
                  </a:lnTo>
                  <a:lnTo>
                    <a:pt x="556" y="407"/>
                  </a:lnTo>
                  <a:lnTo>
                    <a:pt x="560" y="403"/>
                  </a:lnTo>
                  <a:lnTo>
                    <a:pt x="557" y="408"/>
                  </a:lnTo>
                  <a:lnTo>
                    <a:pt x="560" y="417"/>
                  </a:lnTo>
                  <a:lnTo>
                    <a:pt x="567" y="431"/>
                  </a:lnTo>
                  <a:lnTo>
                    <a:pt x="576" y="428"/>
                  </a:lnTo>
                  <a:lnTo>
                    <a:pt x="581" y="414"/>
                  </a:lnTo>
                  <a:lnTo>
                    <a:pt x="586" y="399"/>
                  </a:lnTo>
                  <a:lnTo>
                    <a:pt x="584" y="384"/>
                  </a:lnTo>
                  <a:lnTo>
                    <a:pt x="581" y="368"/>
                  </a:lnTo>
                  <a:lnTo>
                    <a:pt x="584" y="383"/>
                  </a:lnTo>
                  <a:lnTo>
                    <a:pt x="582" y="368"/>
                  </a:lnTo>
                  <a:lnTo>
                    <a:pt x="581" y="354"/>
                  </a:lnTo>
                  <a:lnTo>
                    <a:pt x="580" y="339"/>
                  </a:lnTo>
                  <a:lnTo>
                    <a:pt x="579" y="325"/>
                  </a:lnTo>
                  <a:lnTo>
                    <a:pt x="584" y="321"/>
                  </a:lnTo>
                  <a:lnTo>
                    <a:pt x="585" y="319"/>
                  </a:lnTo>
                  <a:lnTo>
                    <a:pt x="591" y="311"/>
                  </a:lnTo>
                  <a:lnTo>
                    <a:pt x="596" y="302"/>
                  </a:lnTo>
                  <a:lnTo>
                    <a:pt x="597" y="301"/>
                  </a:lnTo>
                  <a:lnTo>
                    <a:pt x="602" y="300"/>
                  </a:lnTo>
                  <a:lnTo>
                    <a:pt x="622" y="285"/>
                  </a:lnTo>
                  <a:lnTo>
                    <a:pt x="624" y="285"/>
                  </a:lnTo>
                  <a:lnTo>
                    <a:pt x="640" y="275"/>
                  </a:lnTo>
                  <a:lnTo>
                    <a:pt x="646" y="272"/>
                  </a:lnTo>
                  <a:lnTo>
                    <a:pt x="657" y="261"/>
                  </a:lnTo>
                  <a:lnTo>
                    <a:pt x="675" y="255"/>
                  </a:lnTo>
                  <a:lnTo>
                    <a:pt x="664" y="252"/>
                  </a:lnTo>
                  <a:lnTo>
                    <a:pt x="671" y="253"/>
                  </a:lnTo>
                  <a:lnTo>
                    <a:pt x="674" y="249"/>
                  </a:lnTo>
                  <a:lnTo>
                    <a:pt x="666" y="245"/>
                  </a:lnTo>
                  <a:lnTo>
                    <a:pt x="682" y="246"/>
                  </a:lnTo>
                  <a:lnTo>
                    <a:pt x="687" y="237"/>
                  </a:lnTo>
                  <a:lnTo>
                    <a:pt x="683" y="240"/>
                  </a:lnTo>
                  <a:lnTo>
                    <a:pt x="678" y="236"/>
                  </a:lnTo>
                  <a:lnTo>
                    <a:pt x="674" y="234"/>
                  </a:lnTo>
                  <a:lnTo>
                    <a:pt x="675" y="234"/>
                  </a:lnTo>
                  <a:lnTo>
                    <a:pt x="681" y="235"/>
                  </a:lnTo>
                  <a:lnTo>
                    <a:pt x="686" y="234"/>
                  </a:lnTo>
                  <a:lnTo>
                    <a:pt x="688" y="235"/>
                  </a:lnTo>
                  <a:lnTo>
                    <a:pt x="689" y="224"/>
                  </a:lnTo>
                  <a:lnTo>
                    <a:pt x="690" y="240"/>
                  </a:lnTo>
                  <a:lnTo>
                    <a:pt x="686" y="219"/>
                  </a:lnTo>
                  <a:lnTo>
                    <a:pt x="680" y="218"/>
                  </a:lnTo>
                  <a:lnTo>
                    <a:pt x="675" y="212"/>
                  </a:lnTo>
                  <a:lnTo>
                    <a:pt x="686" y="217"/>
                  </a:lnTo>
                  <a:lnTo>
                    <a:pt x="681" y="209"/>
                  </a:lnTo>
                  <a:lnTo>
                    <a:pt x="687" y="213"/>
                  </a:lnTo>
                  <a:lnTo>
                    <a:pt x="680" y="199"/>
                  </a:lnTo>
                  <a:lnTo>
                    <a:pt x="689" y="205"/>
                  </a:lnTo>
                  <a:lnTo>
                    <a:pt x="682" y="193"/>
                  </a:lnTo>
                  <a:lnTo>
                    <a:pt x="677" y="193"/>
                  </a:lnTo>
                  <a:lnTo>
                    <a:pt x="684" y="186"/>
                  </a:lnTo>
                  <a:lnTo>
                    <a:pt x="682" y="193"/>
                  </a:lnTo>
                  <a:lnTo>
                    <a:pt x="690" y="198"/>
                  </a:lnTo>
                  <a:lnTo>
                    <a:pt x="688" y="188"/>
                  </a:lnTo>
                  <a:lnTo>
                    <a:pt x="692" y="194"/>
                  </a:lnTo>
                  <a:lnTo>
                    <a:pt x="694" y="179"/>
                  </a:lnTo>
                  <a:lnTo>
                    <a:pt x="704" y="175"/>
                  </a:lnTo>
                  <a:lnTo>
                    <a:pt x="698" y="185"/>
                  </a:lnTo>
                  <a:lnTo>
                    <a:pt x="695" y="189"/>
                  </a:lnTo>
                  <a:lnTo>
                    <a:pt x="694" y="194"/>
                  </a:lnTo>
                  <a:lnTo>
                    <a:pt x="699" y="197"/>
                  </a:lnTo>
                  <a:lnTo>
                    <a:pt x="696" y="201"/>
                  </a:lnTo>
                  <a:lnTo>
                    <a:pt x="698" y="205"/>
                  </a:lnTo>
                  <a:lnTo>
                    <a:pt x="694" y="207"/>
                  </a:lnTo>
                  <a:lnTo>
                    <a:pt x="690" y="213"/>
                  </a:lnTo>
                  <a:lnTo>
                    <a:pt x="710" y="193"/>
                  </a:lnTo>
                  <a:lnTo>
                    <a:pt x="708" y="175"/>
                  </a:lnTo>
                  <a:lnTo>
                    <a:pt x="717" y="167"/>
                  </a:lnTo>
                  <a:lnTo>
                    <a:pt x="710" y="171"/>
                  </a:lnTo>
                  <a:lnTo>
                    <a:pt x="716" y="179"/>
                  </a:lnTo>
                  <a:lnTo>
                    <a:pt x="714" y="183"/>
                  </a:lnTo>
                  <a:lnTo>
                    <a:pt x="732" y="167"/>
                  </a:lnTo>
                  <a:lnTo>
                    <a:pt x="732" y="169"/>
                  </a:lnTo>
                  <a:lnTo>
                    <a:pt x="735" y="157"/>
                  </a:lnTo>
                  <a:lnTo>
                    <a:pt x="742" y="144"/>
                  </a:lnTo>
                  <a:lnTo>
                    <a:pt x="741" y="150"/>
                  </a:lnTo>
                  <a:lnTo>
                    <a:pt x="746" y="147"/>
                  </a:lnTo>
                  <a:lnTo>
                    <a:pt x="762" y="144"/>
                  </a:lnTo>
                  <a:lnTo>
                    <a:pt x="778" y="140"/>
                  </a:lnTo>
                  <a:lnTo>
                    <a:pt x="782" y="135"/>
                  </a:lnTo>
                  <a:lnTo>
                    <a:pt x="784" y="135"/>
                  </a:lnTo>
                  <a:lnTo>
                    <a:pt x="790" y="139"/>
                  </a:lnTo>
                  <a:lnTo>
                    <a:pt x="794" y="140"/>
                  </a:lnTo>
                  <a:lnTo>
                    <a:pt x="803" y="135"/>
                  </a:lnTo>
                  <a:lnTo>
                    <a:pt x="802" y="128"/>
                  </a:lnTo>
                  <a:lnTo>
                    <a:pt x="803" y="133"/>
                  </a:lnTo>
                  <a:lnTo>
                    <a:pt x="795" y="129"/>
                  </a:lnTo>
                  <a:lnTo>
                    <a:pt x="796" y="120"/>
                  </a:lnTo>
                  <a:lnTo>
                    <a:pt x="797" y="116"/>
                  </a:lnTo>
                  <a:lnTo>
                    <a:pt x="814" y="98"/>
                  </a:lnTo>
                  <a:lnTo>
                    <a:pt x="819" y="96"/>
                  </a:lnTo>
                  <a:lnTo>
                    <a:pt x="821" y="97"/>
                  </a:lnTo>
                  <a:lnTo>
                    <a:pt x="834" y="85"/>
                  </a:lnTo>
                  <a:lnTo>
                    <a:pt x="834" y="86"/>
                  </a:lnTo>
                  <a:lnTo>
                    <a:pt x="838" y="86"/>
                  </a:lnTo>
                  <a:lnTo>
                    <a:pt x="845" y="87"/>
                  </a:lnTo>
                  <a:lnTo>
                    <a:pt x="863" y="7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2" name="Freeform 431"/>
            <p:cNvSpPr>
              <a:spLocks/>
            </p:cNvSpPr>
            <p:nvPr/>
          </p:nvSpPr>
          <p:spPr bwMode="auto">
            <a:xfrm>
              <a:off x="127" y="1328"/>
              <a:ext cx="611" cy="293"/>
            </a:xfrm>
            <a:custGeom>
              <a:avLst/>
              <a:gdLst/>
              <a:ahLst/>
              <a:cxnLst>
                <a:cxn ang="0">
                  <a:pos x="442" y="229"/>
                </a:cxn>
                <a:cxn ang="0">
                  <a:pos x="426" y="186"/>
                </a:cxn>
                <a:cxn ang="0">
                  <a:pos x="402" y="175"/>
                </a:cxn>
                <a:cxn ang="0">
                  <a:pos x="424" y="135"/>
                </a:cxn>
                <a:cxn ang="0">
                  <a:pos x="507" y="60"/>
                </a:cxn>
                <a:cxn ang="0">
                  <a:pos x="500" y="16"/>
                </a:cxn>
                <a:cxn ang="0">
                  <a:pos x="429" y="6"/>
                </a:cxn>
                <a:cxn ang="0">
                  <a:pos x="413" y="1"/>
                </a:cxn>
                <a:cxn ang="0">
                  <a:pos x="356" y="10"/>
                </a:cxn>
                <a:cxn ang="0">
                  <a:pos x="324" y="16"/>
                </a:cxn>
                <a:cxn ang="0">
                  <a:pos x="230" y="45"/>
                </a:cxn>
                <a:cxn ang="0">
                  <a:pos x="250" y="72"/>
                </a:cxn>
                <a:cxn ang="0">
                  <a:pos x="242" y="76"/>
                </a:cxn>
                <a:cxn ang="0">
                  <a:pos x="222" y="72"/>
                </a:cxn>
                <a:cxn ang="0">
                  <a:pos x="155" y="94"/>
                </a:cxn>
                <a:cxn ang="0">
                  <a:pos x="220" y="97"/>
                </a:cxn>
                <a:cxn ang="0">
                  <a:pos x="180" y="121"/>
                </a:cxn>
                <a:cxn ang="0">
                  <a:pos x="129" y="135"/>
                </a:cxn>
                <a:cxn ang="0">
                  <a:pos x="96" y="148"/>
                </a:cxn>
                <a:cxn ang="0">
                  <a:pos x="108" y="151"/>
                </a:cxn>
                <a:cxn ang="0">
                  <a:pos x="105" y="163"/>
                </a:cxn>
                <a:cxn ang="0">
                  <a:pos x="81" y="169"/>
                </a:cxn>
                <a:cxn ang="0">
                  <a:pos x="110" y="177"/>
                </a:cxn>
                <a:cxn ang="0">
                  <a:pos x="88" y="199"/>
                </a:cxn>
                <a:cxn ang="0">
                  <a:pos x="137" y="193"/>
                </a:cxn>
                <a:cxn ang="0">
                  <a:pos x="159" y="193"/>
                </a:cxn>
                <a:cxn ang="0">
                  <a:pos x="124" y="217"/>
                </a:cxn>
                <a:cxn ang="0">
                  <a:pos x="57" y="246"/>
                </a:cxn>
                <a:cxn ang="0">
                  <a:pos x="38" y="246"/>
                </a:cxn>
                <a:cxn ang="0">
                  <a:pos x="14" y="258"/>
                </a:cxn>
                <a:cxn ang="0">
                  <a:pos x="34" y="252"/>
                </a:cxn>
                <a:cxn ang="0">
                  <a:pos x="81" y="244"/>
                </a:cxn>
                <a:cxn ang="0">
                  <a:pos x="168" y="210"/>
                </a:cxn>
                <a:cxn ang="0">
                  <a:pos x="228" y="179"/>
                </a:cxn>
                <a:cxn ang="0">
                  <a:pos x="297" y="153"/>
                </a:cxn>
                <a:cxn ang="0">
                  <a:pos x="258" y="166"/>
                </a:cxn>
                <a:cxn ang="0">
                  <a:pos x="238" y="190"/>
                </a:cxn>
                <a:cxn ang="0">
                  <a:pos x="261" y="183"/>
                </a:cxn>
                <a:cxn ang="0">
                  <a:pos x="280" y="178"/>
                </a:cxn>
                <a:cxn ang="0">
                  <a:pos x="294" y="165"/>
                </a:cxn>
                <a:cxn ang="0">
                  <a:pos x="312" y="161"/>
                </a:cxn>
                <a:cxn ang="0">
                  <a:pos x="324" y="163"/>
                </a:cxn>
                <a:cxn ang="0">
                  <a:pos x="323" y="169"/>
                </a:cxn>
                <a:cxn ang="0">
                  <a:pos x="340" y="174"/>
                </a:cxn>
                <a:cxn ang="0">
                  <a:pos x="393" y="178"/>
                </a:cxn>
                <a:cxn ang="0">
                  <a:pos x="389" y="184"/>
                </a:cxn>
                <a:cxn ang="0">
                  <a:pos x="411" y="195"/>
                </a:cxn>
                <a:cxn ang="0">
                  <a:pos x="420" y="201"/>
                </a:cxn>
                <a:cxn ang="0">
                  <a:pos x="434" y="199"/>
                </a:cxn>
                <a:cxn ang="0">
                  <a:pos x="436" y="211"/>
                </a:cxn>
                <a:cxn ang="0">
                  <a:pos x="435" y="215"/>
                </a:cxn>
                <a:cxn ang="0">
                  <a:pos x="435" y="232"/>
                </a:cxn>
                <a:cxn ang="0">
                  <a:pos x="428" y="249"/>
                </a:cxn>
                <a:cxn ang="0">
                  <a:pos x="441" y="255"/>
                </a:cxn>
              </a:cxnLst>
              <a:rect l="0" t="0" r="r" b="b"/>
              <a:pathLst>
                <a:path w="550" h="264">
                  <a:moveTo>
                    <a:pt x="447" y="256"/>
                  </a:moveTo>
                  <a:lnTo>
                    <a:pt x="455" y="245"/>
                  </a:lnTo>
                  <a:lnTo>
                    <a:pt x="449" y="238"/>
                  </a:lnTo>
                  <a:lnTo>
                    <a:pt x="442" y="229"/>
                  </a:lnTo>
                  <a:lnTo>
                    <a:pt x="446" y="214"/>
                  </a:lnTo>
                  <a:lnTo>
                    <a:pt x="449" y="198"/>
                  </a:lnTo>
                  <a:lnTo>
                    <a:pt x="444" y="180"/>
                  </a:lnTo>
                  <a:lnTo>
                    <a:pt x="426" y="186"/>
                  </a:lnTo>
                  <a:lnTo>
                    <a:pt x="417" y="191"/>
                  </a:lnTo>
                  <a:lnTo>
                    <a:pt x="405" y="196"/>
                  </a:lnTo>
                  <a:lnTo>
                    <a:pt x="405" y="179"/>
                  </a:lnTo>
                  <a:lnTo>
                    <a:pt x="402" y="175"/>
                  </a:lnTo>
                  <a:lnTo>
                    <a:pt x="408" y="172"/>
                  </a:lnTo>
                  <a:lnTo>
                    <a:pt x="383" y="172"/>
                  </a:lnTo>
                  <a:lnTo>
                    <a:pt x="404" y="154"/>
                  </a:lnTo>
                  <a:lnTo>
                    <a:pt x="424" y="135"/>
                  </a:lnTo>
                  <a:lnTo>
                    <a:pt x="444" y="115"/>
                  </a:lnTo>
                  <a:lnTo>
                    <a:pt x="464" y="96"/>
                  </a:lnTo>
                  <a:lnTo>
                    <a:pt x="485" y="78"/>
                  </a:lnTo>
                  <a:lnTo>
                    <a:pt x="507" y="60"/>
                  </a:lnTo>
                  <a:lnTo>
                    <a:pt x="528" y="42"/>
                  </a:lnTo>
                  <a:lnTo>
                    <a:pt x="550" y="24"/>
                  </a:lnTo>
                  <a:lnTo>
                    <a:pt x="524" y="18"/>
                  </a:lnTo>
                  <a:lnTo>
                    <a:pt x="500" y="16"/>
                  </a:lnTo>
                  <a:lnTo>
                    <a:pt x="474" y="13"/>
                  </a:lnTo>
                  <a:lnTo>
                    <a:pt x="443" y="11"/>
                  </a:lnTo>
                  <a:lnTo>
                    <a:pt x="441" y="9"/>
                  </a:lnTo>
                  <a:lnTo>
                    <a:pt x="429" y="6"/>
                  </a:lnTo>
                  <a:lnTo>
                    <a:pt x="422" y="6"/>
                  </a:lnTo>
                  <a:lnTo>
                    <a:pt x="418" y="4"/>
                  </a:lnTo>
                  <a:lnTo>
                    <a:pt x="406" y="6"/>
                  </a:lnTo>
                  <a:lnTo>
                    <a:pt x="413" y="1"/>
                  </a:lnTo>
                  <a:lnTo>
                    <a:pt x="406" y="0"/>
                  </a:lnTo>
                  <a:lnTo>
                    <a:pt x="372" y="7"/>
                  </a:lnTo>
                  <a:lnTo>
                    <a:pt x="366" y="7"/>
                  </a:lnTo>
                  <a:lnTo>
                    <a:pt x="356" y="10"/>
                  </a:lnTo>
                  <a:lnTo>
                    <a:pt x="354" y="12"/>
                  </a:lnTo>
                  <a:lnTo>
                    <a:pt x="347" y="16"/>
                  </a:lnTo>
                  <a:lnTo>
                    <a:pt x="352" y="11"/>
                  </a:lnTo>
                  <a:lnTo>
                    <a:pt x="324" y="16"/>
                  </a:lnTo>
                  <a:lnTo>
                    <a:pt x="296" y="25"/>
                  </a:lnTo>
                  <a:lnTo>
                    <a:pt x="268" y="36"/>
                  </a:lnTo>
                  <a:lnTo>
                    <a:pt x="244" y="36"/>
                  </a:lnTo>
                  <a:lnTo>
                    <a:pt x="230" y="45"/>
                  </a:lnTo>
                  <a:lnTo>
                    <a:pt x="240" y="60"/>
                  </a:lnTo>
                  <a:lnTo>
                    <a:pt x="236" y="64"/>
                  </a:lnTo>
                  <a:lnTo>
                    <a:pt x="255" y="66"/>
                  </a:lnTo>
                  <a:lnTo>
                    <a:pt x="250" y="72"/>
                  </a:lnTo>
                  <a:lnTo>
                    <a:pt x="264" y="73"/>
                  </a:lnTo>
                  <a:lnTo>
                    <a:pt x="245" y="72"/>
                  </a:lnTo>
                  <a:lnTo>
                    <a:pt x="244" y="67"/>
                  </a:lnTo>
                  <a:lnTo>
                    <a:pt x="242" y="76"/>
                  </a:lnTo>
                  <a:lnTo>
                    <a:pt x="246" y="79"/>
                  </a:lnTo>
                  <a:lnTo>
                    <a:pt x="238" y="79"/>
                  </a:lnTo>
                  <a:lnTo>
                    <a:pt x="210" y="78"/>
                  </a:lnTo>
                  <a:lnTo>
                    <a:pt x="222" y="72"/>
                  </a:lnTo>
                  <a:lnTo>
                    <a:pt x="191" y="77"/>
                  </a:lnTo>
                  <a:lnTo>
                    <a:pt x="152" y="88"/>
                  </a:lnTo>
                  <a:lnTo>
                    <a:pt x="165" y="93"/>
                  </a:lnTo>
                  <a:lnTo>
                    <a:pt x="155" y="94"/>
                  </a:lnTo>
                  <a:lnTo>
                    <a:pt x="153" y="103"/>
                  </a:lnTo>
                  <a:lnTo>
                    <a:pt x="186" y="103"/>
                  </a:lnTo>
                  <a:lnTo>
                    <a:pt x="191" y="106"/>
                  </a:lnTo>
                  <a:lnTo>
                    <a:pt x="220" y="97"/>
                  </a:lnTo>
                  <a:lnTo>
                    <a:pt x="214" y="105"/>
                  </a:lnTo>
                  <a:lnTo>
                    <a:pt x="208" y="106"/>
                  </a:lnTo>
                  <a:lnTo>
                    <a:pt x="202" y="115"/>
                  </a:lnTo>
                  <a:lnTo>
                    <a:pt x="180" y="121"/>
                  </a:lnTo>
                  <a:lnTo>
                    <a:pt x="149" y="129"/>
                  </a:lnTo>
                  <a:lnTo>
                    <a:pt x="155" y="125"/>
                  </a:lnTo>
                  <a:lnTo>
                    <a:pt x="143" y="127"/>
                  </a:lnTo>
                  <a:lnTo>
                    <a:pt x="129" y="135"/>
                  </a:lnTo>
                  <a:lnTo>
                    <a:pt x="131" y="135"/>
                  </a:lnTo>
                  <a:lnTo>
                    <a:pt x="125" y="137"/>
                  </a:lnTo>
                  <a:lnTo>
                    <a:pt x="104" y="147"/>
                  </a:lnTo>
                  <a:lnTo>
                    <a:pt x="96" y="148"/>
                  </a:lnTo>
                  <a:lnTo>
                    <a:pt x="99" y="150"/>
                  </a:lnTo>
                  <a:lnTo>
                    <a:pt x="90" y="153"/>
                  </a:lnTo>
                  <a:lnTo>
                    <a:pt x="93" y="157"/>
                  </a:lnTo>
                  <a:lnTo>
                    <a:pt x="108" y="151"/>
                  </a:lnTo>
                  <a:lnTo>
                    <a:pt x="94" y="159"/>
                  </a:lnTo>
                  <a:lnTo>
                    <a:pt x="95" y="161"/>
                  </a:lnTo>
                  <a:lnTo>
                    <a:pt x="110" y="162"/>
                  </a:lnTo>
                  <a:lnTo>
                    <a:pt x="105" y="163"/>
                  </a:lnTo>
                  <a:lnTo>
                    <a:pt x="107" y="166"/>
                  </a:lnTo>
                  <a:lnTo>
                    <a:pt x="98" y="166"/>
                  </a:lnTo>
                  <a:lnTo>
                    <a:pt x="92" y="163"/>
                  </a:lnTo>
                  <a:lnTo>
                    <a:pt x="81" y="169"/>
                  </a:lnTo>
                  <a:lnTo>
                    <a:pt x="87" y="180"/>
                  </a:lnTo>
                  <a:lnTo>
                    <a:pt x="110" y="174"/>
                  </a:lnTo>
                  <a:lnTo>
                    <a:pt x="124" y="167"/>
                  </a:lnTo>
                  <a:lnTo>
                    <a:pt x="110" y="177"/>
                  </a:lnTo>
                  <a:lnTo>
                    <a:pt x="100" y="187"/>
                  </a:lnTo>
                  <a:lnTo>
                    <a:pt x="96" y="192"/>
                  </a:lnTo>
                  <a:lnTo>
                    <a:pt x="96" y="193"/>
                  </a:lnTo>
                  <a:lnTo>
                    <a:pt x="88" y="199"/>
                  </a:lnTo>
                  <a:lnTo>
                    <a:pt x="114" y="195"/>
                  </a:lnTo>
                  <a:lnTo>
                    <a:pt x="122" y="196"/>
                  </a:lnTo>
                  <a:lnTo>
                    <a:pt x="122" y="204"/>
                  </a:lnTo>
                  <a:lnTo>
                    <a:pt x="137" y="193"/>
                  </a:lnTo>
                  <a:lnTo>
                    <a:pt x="142" y="193"/>
                  </a:lnTo>
                  <a:lnTo>
                    <a:pt x="132" y="197"/>
                  </a:lnTo>
                  <a:lnTo>
                    <a:pt x="135" y="201"/>
                  </a:lnTo>
                  <a:lnTo>
                    <a:pt x="159" y="193"/>
                  </a:lnTo>
                  <a:lnTo>
                    <a:pt x="136" y="207"/>
                  </a:lnTo>
                  <a:lnTo>
                    <a:pt x="140" y="207"/>
                  </a:lnTo>
                  <a:lnTo>
                    <a:pt x="137" y="207"/>
                  </a:lnTo>
                  <a:lnTo>
                    <a:pt x="124" y="217"/>
                  </a:lnTo>
                  <a:lnTo>
                    <a:pt x="117" y="219"/>
                  </a:lnTo>
                  <a:lnTo>
                    <a:pt x="95" y="231"/>
                  </a:lnTo>
                  <a:lnTo>
                    <a:pt x="60" y="241"/>
                  </a:lnTo>
                  <a:lnTo>
                    <a:pt x="57" y="246"/>
                  </a:lnTo>
                  <a:lnTo>
                    <a:pt x="51" y="246"/>
                  </a:lnTo>
                  <a:lnTo>
                    <a:pt x="48" y="249"/>
                  </a:lnTo>
                  <a:lnTo>
                    <a:pt x="48" y="246"/>
                  </a:lnTo>
                  <a:lnTo>
                    <a:pt x="38" y="246"/>
                  </a:lnTo>
                  <a:lnTo>
                    <a:pt x="0" y="262"/>
                  </a:lnTo>
                  <a:lnTo>
                    <a:pt x="3" y="261"/>
                  </a:lnTo>
                  <a:lnTo>
                    <a:pt x="5" y="262"/>
                  </a:lnTo>
                  <a:lnTo>
                    <a:pt x="14" y="258"/>
                  </a:lnTo>
                  <a:lnTo>
                    <a:pt x="15" y="259"/>
                  </a:lnTo>
                  <a:lnTo>
                    <a:pt x="32" y="252"/>
                  </a:lnTo>
                  <a:lnTo>
                    <a:pt x="39" y="252"/>
                  </a:lnTo>
                  <a:lnTo>
                    <a:pt x="34" y="252"/>
                  </a:lnTo>
                  <a:lnTo>
                    <a:pt x="51" y="250"/>
                  </a:lnTo>
                  <a:lnTo>
                    <a:pt x="62" y="249"/>
                  </a:lnTo>
                  <a:lnTo>
                    <a:pt x="65" y="247"/>
                  </a:lnTo>
                  <a:lnTo>
                    <a:pt x="81" y="244"/>
                  </a:lnTo>
                  <a:lnTo>
                    <a:pt x="86" y="243"/>
                  </a:lnTo>
                  <a:lnTo>
                    <a:pt x="89" y="239"/>
                  </a:lnTo>
                  <a:lnTo>
                    <a:pt x="131" y="223"/>
                  </a:lnTo>
                  <a:lnTo>
                    <a:pt x="168" y="210"/>
                  </a:lnTo>
                  <a:lnTo>
                    <a:pt x="201" y="196"/>
                  </a:lnTo>
                  <a:lnTo>
                    <a:pt x="194" y="192"/>
                  </a:lnTo>
                  <a:lnTo>
                    <a:pt x="222" y="180"/>
                  </a:lnTo>
                  <a:lnTo>
                    <a:pt x="228" y="179"/>
                  </a:lnTo>
                  <a:lnTo>
                    <a:pt x="232" y="173"/>
                  </a:lnTo>
                  <a:lnTo>
                    <a:pt x="256" y="163"/>
                  </a:lnTo>
                  <a:lnTo>
                    <a:pt x="280" y="156"/>
                  </a:lnTo>
                  <a:lnTo>
                    <a:pt x="297" y="153"/>
                  </a:lnTo>
                  <a:lnTo>
                    <a:pt x="286" y="157"/>
                  </a:lnTo>
                  <a:lnTo>
                    <a:pt x="290" y="162"/>
                  </a:lnTo>
                  <a:lnTo>
                    <a:pt x="284" y="161"/>
                  </a:lnTo>
                  <a:lnTo>
                    <a:pt x="258" y="166"/>
                  </a:lnTo>
                  <a:lnTo>
                    <a:pt x="236" y="183"/>
                  </a:lnTo>
                  <a:lnTo>
                    <a:pt x="248" y="180"/>
                  </a:lnTo>
                  <a:lnTo>
                    <a:pt x="230" y="187"/>
                  </a:lnTo>
                  <a:lnTo>
                    <a:pt x="238" y="190"/>
                  </a:lnTo>
                  <a:lnTo>
                    <a:pt x="256" y="181"/>
                  </a:lnTo>
                  <a:lnTo>
                    <a:pt x="251" y="185"/>
                  </a:lnTo>
                  <a:lnTo>
                    <a:pt x="257" y="183"/>
                  </a:lnTo>
                  <a:lnTo>
                    <a:pt x="261" y="183"/>
                  </a:lnTo>
                  <a:lnTo>
                    <a:pt x="263" y="179"/>
                  </a:lnTo>
                  <a:lnTo>
                    <a:pt x="264" y="181"/>
                  </a:lnTo>
                  <a:lnTo>
                    <a:pt x="272" y="177"/>
                  </a:lnTo>
                  <a:lnTo>
                    <a:pt x="280" y="178"/>
                  </a:lnTo>
                  <a:lnTo>
                    <a:pt x="296" y="171"/>
                  </a:lnTo>
                  <a:lnTo>
                    <a:pt x="293" y="169"/>
                  </a:lnTo>
                  <a:lnTo>
                    <a:pt x="298" y="167"/>
                  </a:lnTo>
                  <a:lnTo>
                    <a:pt x="294" y="165"/>
                  </a:lnTo>
                  <a:lnTo>
                    <a:pt x="303" y="162"/>
                  </a:lnTo>
                  <a:lnTo>
                    <a:pt x="316" y="156"/>
                  </a:lnTo>
                  <a:lnTo>
                    <a:pt x="305" y="162"/>
                  </a:lnTo>
                  <a:lnTo>
                    <a:pt x="312" y="161"/>
                  </a:lnTo>
                  <a:lnTo>
                    <a:pt x="311" y="162"/>
                  </a:lnTo>
                  <a:lnTo>
                    <a:pt x="330" y="159"/>
                  </a:lnTo>
                  <a:lnTo>
                    <a:pt x="326" y="160"/>
                  </a:lnTo>
                  <a:lnTo>
                    <a:pt x="324" y="163"/>
                  </a:lnTo>
                  <a:lnTo>
                    <a:pt x="321" y="165"/>
                  </a:lnTo>
                  <a:lnTo>
                    <a:pt x="327" y="165"/>
                  </a:lnTo>
                  <a:lnTo>
                    <a:pt x="328" y="166"/>
                  </a:lnTo>
                  <a:lnTo>
                    <a:pt x="323" y="169"/>
                  </a:lnTo>
                  <a:lnTo>
                    <a:pt x="328" y="172"/>
                  </a:lnTo>
                  <a:lnTo>
                    <a:pt x="341" y="167"/>
                  </a:lnTo>
                  <a:lnTo>
                    <a:pt x="336" y="171"/>
                  </a:lnTo>
                  <a:lnTo>
                    <a:pt x="340" y="174"/>
                  </a:lnTo>
                  <a:lnTo>
                    <a:pt x="357" y="175"/>
                  </a:lnTo>
                  <a:lnTo>
                    <a:pt x="375" y="177"/>
                  </a:lnTo>
                  <a:lnTo>
                    <a:pt x="375" y="181"/>
                  </a:lnTo>
                  <a:lnTo>
                    <a:pt x="393" y="178"/>
                  </a:lnTo>
                  <a:lnTo>
                    <a:pt x="400" y="180"/>
                  </a:lnTo>
                  <a:lnTo>
                    <a:pt x="394" y="183"/>
                  </a:lnTo>
                  <a:lnTo>
                    <a:pt x="398" y="178"/>
                  </a:lnTo>
                  <a:lnTo>
                    <a:pt x="389" y="184"/>
                  </a:lnTo>
                  <a:lnTo>
                    <a:pt x="398" y="195"/>
                  </a:lnTo>
                  <a:lnTo>
                    <a:pt x="407" y="205"/>
                  </a:lnTo>
                  <a:lnTo>
                    <a:pt x="413" y="205"/>
                  </a:lnTo>
                  <a:lnTo>
                    <a:pt x="411" y="195"/>
                  </a:lnTo>
                  <a:lnTo>
                    <a:pt x="417" y="197"/>
                  </a:lnTo>
                  <a:lnTo>
                    <a:pt x="423" y="195"/>
                  </a:lnTo>
                  <a:lnTo>
                    <a:pt x="424" y="196"/>
                  </a:lnTo>
                  <a:lnTo>
                    <a:pt x="420" y="201"/>
                  </a:lnTo>
                  <a:lnTo>
                    <a:pt x="420" y="203"/>
                  </a:lnTo>
                  <a:lnTo>
                    <a:pt x="422" y="207"/>
                  </a:lnTo>
                  <a:lnTo>
                    <a:pt x="436" y="190"/>
                  </a:lnTo>
                  <a:lnTo>
                    <a:pt x="434" y="199"/>
                  </a:lnTo>
                  <a:lnTo>
                    <a:pt x="436" y="207"/>
                  </a:lnTo>
                  <a:lnTo>
                    <a:pt x="440" y="205"/>
                  </a:lnTo>
                  <a:lnTo>
                    <a:pt x="441" y="209"/>
                  </a:lnTo>
                  <a:lnTo>
                    <a:pt x="436" y="211"/>
                  </a:lnTo>
                  <a:lnTo>
                    <a:pt x="444" y="213"/>
                  </a:lnTo>
                  <a:lnTo>
                    <a:pt x="440" y="213"/>
                  </a:lnTo>
                  <a:lnTo>
                    <a:pt x="440" y="217"/>
                  </a:lnTo>
                  <a:lnTo>
                    <a:pt x="435" y="215"/>
                  </a:lnTo>
                  <a:lnTo>
                    <a:pt x="436" y="221"/>
                  </a:lnTo>
                  <a:lnTo>
                    <a:pt x="431" y="222"/>
                  </a:lnTo>
                  <a:lnTo>
                    <a:pt x="432" y="225"/>
                  </a:lnTo>
                  <a:lnTo>
                    <a:pt x="435" y="232"/>
                  </a:lnTo>
                  <a:lnTo>
                    <a:pt x="441" y="240"/>
                  </a:lnTo>
                  <a:lnTo>
                    <a:pt x="435" y="240"/>
                  </a:lnTo>
                  <a:lnTo>
                    <a:pt x="422" y="251"/>
                  </a:lnTo>
                  <a:lnTo>
                    <a:pt x="428" y="249"/>
                  </a:lnTo>
                  <a:lnTo>
                    <a:pt x="446" y="243"/>
                  </a:lnTo>
                  <a:lnTo>
                    <a:pt x="435" y="256"/>
                  </a:lnTo>
                  <a:lnTo>
                    <a:pt x="430" y="257"/>
                  </a:lnTo>
                  <a:lnTo>
                    <a:pt x="441" y="255"/>
                  </a:lnTo>
                  <a:lnTo>
                    <a:pt x="434" y="259"/>
                  </a:lnTo>
                  <a:lnTo>
                    <a:pt x="430" y="264"/>
                  </a:lnTo>
                  <a:lnTo>
                    <a:pt x="447" y="2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3" name="Freeform 432"/>
            <p:cNvSpPr>
              <a:spLocks/>
            </p:cNvSpPr>
            <p:nvPr/>
          </p:nvSpPr>
          <p:spPr bwMode="auto">
            <a:xfrm>
              <a:off x="300" y="1561"/>
              <a:ext cx="43" cy="22"/>
            </a:xfrm>
            <a:custGeom>
              <a:avLst/>
              <a:gdLst/>
              <a:ahLst/>
              <a:cxnLst>
                <a:cxn ang="0">
                  <a:pos x="40" y="6"/>
                </a:cxn>
                <a:cxn ang="0">
                  <a:pos x="36" y="5"/>
                </a:cxn>
                <a:cxn ang="0">
                  <a:pos x="37" y="3"/>
                </a:cxn>
                <a:cxn ang="0">
                  <a:pos x="35" y="3"/>
                </a:cxn>
                <a:cxn ang="0">
                  <a:pos x="31" y="0"/>
                </a:cxn>
                <a:cxn ang="0">
                  <a:pos x="29" y="4"/>
                </a:cxn>
                <a:cxn ang="0">
                  <a:pos x="24" y="4"/>
                </a:cxn>
                <a:cxn ang="0">
                  <a:pos x="18" y="5"/>
                </a:cxn>
                <a:cxn ang="0">
                  <a:pos x="13" y="12"/>
                </a:cxn>
                <a:cxn ang="0">
                  <a:pos x="12" y="6"/>
                </a:cxn>
                <a:cxn ang="0">
                  <a:pos x="1" y="12"/>
                </a:cxn>
                <a:cxn ang="0">
                  <a:pos x="1" y="18"/>
                </a:cxn>
                <a:cxn ang="0">
                  <a:pos x="3" y="16"/>
                </a:cxn>
                <a:cxn ang="0">
                  <a:pos x="7" y="16"/>
                </a:cxn>
                <a:cxn ang="0">
                  <a:pos x="0" y="22"/>
                </a:cxn>
                <a:cxn ang="0">
                  <a:pos x="9" y="16"/>
                </a:cxn>
                <a:cxn ang="0">
                  <a:pos x="25" y="11"/>
                </a:cxn>
                <a:cxn ang="0">
                  <a:pos x="28" y="10"/>
                </a:cxn>
                <a:cxn ang="0">
                  <a:pos x="40" y="6"/>
                </a:cxn>
              </a:cxnLst>
              <a:rect l="0" t="0" r="r" b="b"/>
              <a:pathLst>
                <a:path w="40" h="22">
                  <a:moveTo>
                    <a:pt x="40" y="6"/>
                  </a:moveTo>
                  <a:lnTo>
                    <a:pt x="36" y="5"/>
                  </a:lnTo>
                  <a:lnTo>
                    <a:pt x="37" y="3"/>
                  </a:lnTo>
                  <a:lnTo>
                    <a:pt x="35" y="3"/>
                  </a:lnTo>
                  <a:lnTo>
                    <a:pt x="31" y="0"/>
                  </a:lnTo>
                  <a:lnTo>
                    <a:pt x="29" y="4"/>
                  </a:lnTo>
                  <a:lnTo>
                    <a:pt x="24" y="4"/>
                  </a:lnTo>
                  <a:lnTo>
                    <a:pt x="18" y="5"/>
                  </a:lnTo>
                  <a:lnTo>
                    <a:pt x="13" y="12"/>
                  </a:lnTo>
                  <a:lnTo>
                    <a:pt x="12" y="6"/>
                  </a:lnTo>
                  <a:lnTo>
                    <a:pt x="1" y="12"/>
                  </a:lnTo>
                  <a:lnTo>
                    <a:pt x="1" y="18"/>
                  </a:lnTo>
                  <a:lnTo>
                    <a:pt x="3" y="16"/>
                  </a:lnTo>
                  <a:lnTo>
                    <a:pt x="7" y="16"/>
                  </a:lnTo>
                  <a:lnTo>
                    <a:pt x="0" y="22"/>
                  </a:lnTo>
                  <a:lnTo>
                    <a:pt x="9" y="16"/>
                  </a:lnTo>
                  <a:lnTo>
                    <a:pt x="25" y="11"/>
                  </a:lnTo>
                  <a:lnTo>
                    <a:pt x="28" y="10"/>
                  </a:lnTo>
                  <a:lnTo>
                    <a:pt x="4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4" name="Freeform 433"/>
            <p:cNvSpPr>
              <a:spLocks/>
            </p:cNvSpPr>
            <p:nvPr/>
          </p:nvSpPr>
          <p:spPr bwMode="auto">
            <a:xfrm>
              <a:off x="196" y="1456"/>
              <a:ext cx="38" cy="14"/>
            </a:xfrm>
            <a:custGeom>
              <a:avLst/>
              <a:gdLst/>
              <a:ahLst/>
              <a:cxnLst>
                <a:cxn ang="0">
                  <a:pos x="33" y="6"/>
                </a:cxn>
                <a:cxn ang="0">
                  <a:pos x="16" y="11"/>
                </a:cxn>
                <a:cxn ang="0">
                  <a:pos x="10" y="3"/>
                </a:cxn>
                <a:cxn ang="0">
                  <a:pos x="13" y="7"/>
                </a:cxn>
                <a:cxn ang="0">
                  <a:pos x="0" y="6"/>
                </a:cxn>
                <a:cxn ang="0">
                  <a:pos x="4" y="0"/>
                </a:cxn>
                <a:cxn ang="0">
                  <a:pos x="18" y="0"/>
                </a:cxn>
                <a:cxn ang="0">
                  <a:pos x="33" y="6"/>
                </a:cxn>
              </a:cxnLst>
              <a:rect l="0" t="0" r="r" b="b"/>
              <a:pathLst>
                <a:path w="33" h="11">
                  <a:moveTo>
                    <a:pt x="33" y="6"/>
                  </a:moveTo>
                  <a:lnTo>
                    <a:pt x="16" y="11"/>
                  </a:lnTo>
                  <a:lnTo>
                    <a:pt x="10" y="3"/>
                  </a:lnTo>
                  <a:lnTo>
                    <a:pt x="13" y="7"/>
                  </a:lnTo>
                  <a:lnTo>
                    <a:pt x="0" y="6"/>
                  </a:lnTo>
                  <a:lnTo>
                    <a:pt x="4" y="0"/>
                  </a:lnTo>
                  <a:lnTo>
                    <a:pt x="18" y="0"/>
                  </a:lnTo>
                  <a:lnTo>
                    <a:pt x="33"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5" name="Freeform 434"/>
            <p:cNvSpPr>
              <a:spLocks/>
            </p:cNvSpPr>
            <p:nvPr/>
          </p:nvSpPr>
          <p:spPr bwMode="auto">
            <a:xfrm>
              <a:off x="576" y="1590"/>
              <a:ext cx="18" cy="33"/>
            </a:xfrm>
            <a:custGeom>
              <a:avLst/>
              <a:gdLst/>
              <a:ahLst/>
              <a:cxnLst>
                <a:cxn ang="0">
                  <a:pos x="9" y="26"/>
                </a:cxn>
                <a:cxn ang="0">
                  <a:pos x="7" y="29"/>
                </a:cxn>
                <a:cxn ang="0">
                  <a:pos x="6" y="21"/>
                </a:cxn>
                <a:cxn ang="0">
                  <a:pos x="0" y="18"/>
                </a:cxn>
                <a:cxn ang="0">
                  <a:pos x="6" y="17"/>
                </a:cxn>
                <a:cxn ang="0">
                  <a:pos x="9" y="12"/>
                </a:cxn>
                <a:cxn ang="0">
                  <a:pos x="3" y="13"/>
                </a:cxn>
                <a:cxn ang="0">
                  <a:pos x="10" y="8"/>
                </a:cxn>
                <a:cxn ang="0">
                  <a:pos x="9" y="2"/>
                </a:cxn>
                <a:cxn ang="0">
                  <a:pos x="14" y="0"/>
                </a:cxn>
                <a:cxn ang="0">
                  <a:pos x="16" y="14"/>
                </a:cxn>
                <a:cxn ang="0">
                  <a:pos x="14" y="12"/>
                </a:cxn>
                <a:cxn ang="0">
                  <a:pos x="13" y="15"/>
                </a:cxn>
                <a:cxn ang="0">
                  <a:pos x="9" y="26"/>
                </a:cxn>
              </a:cxnLst>
              <a:rect l="0" t="0" r="r" b="b"/>
              <a:pathLst>
                <a:path w="16" h="29">
                  <a:moveTo>
                    <a:pt x="9" y="26"/>
                  </a:moveTo>
                  <a:lnTo>
                    <a:pt x="7" y="29"/>
                  </a:lnTo>
                  <a:lnTo>
                    <a:pt x="6" y="21"/>
                  </a:lnTo>
                  <a:lnTo>
                    <a:pt x="0" y="18"/>
                  </a:lnTo>
                  <a:lnTo>
                    <a:pt x="6" y="17"/>
                  </a:lnTo>
                  <a:lnTo>
                    <a:pt x="9" y="12"/>
                  </a:lnTo>
                  <a:lnTo>
                    <a:pt x="3" y="13"/>
                  </a:lnTo>
                  <a:lnTo>
                    <a:pt x="10" y="8"/>
                  </a:lnTo>
                  <a:lnTo>
                    <a:pt x="9" y="2"/>
                  </a:lnTo>
                  <a:lnTo>
                    <a:pt x="14" y="0"/>
                  </a:lnTo>
                  <a:lnTo>
                    <a:pt x="16" y="14"/>
                  </a:lnTo>
                  <a:lnTo>
                    <a:pt x="14" y="12"/>
                  </a:lnTo>
                  <a:lnTo>
                    <a:pt x="13" y="15"/>
                  </a:lnTo>
                  <a:lnTo>
                    <a:pt x="9" y="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6" name="Freeform 435"/>
            <p:cNvSpPr>
              <a:spLocks/>
            </p:cNvSpPr>
            <p:nvPr/>
          </p:nvSpPr>
          <p:spPr bwMode="auto">
            <a:xfrm>
              <a:off x="587" y="1556"/>
              <a:ext cx="20" cy="23"/>
            </a:xfrm>
            <a:custGeom>
              <a:avLst/>
              <a:gdLst/>
              <a:ahLst/>
              <a:cxnLst>
                <a:cxn ang="0">
                  <a:pos x="17" y="10"/>
                </a:cxn>
                <a:cxn ang="0">
                  <a:pos x="12" y="12"/>
                </a:cxn>
                <a:cxn ang="0">
                  <a:pos x="0" y="20"/>
                </a:cxn>
                <a:cxn ang="0">
                  <a:pos x="3" y="15"/>
                </a:cxn>
                <a:cxn ang="0">
                  <a:pos x="14" y="0"/>
                </a:cxn>
                <a:cxn ang="0">
                  <a:pos x="18" y="1"/>
                </a:cxn>
                <a:cxn ang="0">
                  <a:pos x="17" y="10"/>
                </a:cxn>
              </a:cxnLst>
              <a:rect l="0" t="0" r="r" b="b"/>
              <a:pathLst>
                <a:path w="18" h="20">
                  <a:moveTo>
                    <a:pt x="17" y="10"/>
                  </a:moveTo>
                  <a:lnTo>
                    <a:pt x="12" y="12"/>
                  </a:lnTo>
                  <a:lnTo>
                    <a:pt x="0" y="20"/>
                  </a:lnTo>
                  <a:lnTo>
                    <a:pt x="3" y="15"/>
                  </a:lnTo>
                  <a:lnTo>
                    <a:pt x="14" y="0"/>
                  </a:lnTo>
                  <a:lnTo>
                    <a:pt x="18" y="1"/>
                  </a:lnTo>
                  <a:lnTo>
                    <a:pt x="17"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7" name="Freeform 436"/>
            <p:cNvSpPr>
              <a:spLocks/>
            </p:cNvSpPr>
            <p:nvPr/>
          </p:nvSpPr>
          <p:spPr bwMode="auto">
            <a:xfrm>
              <a:off x="96" y="1616"/>
              <a:ext cx="29" cy="9"/>
            </a:xfrm>
            <a:custGeom>
              <a:avLst/>
              <a:gdLst/>
              <a:ahLst/>
              <a:cxnLst>
                <a:cxn ang="0">
                  <a:pos x="26" y="6"/>
                </a:cxn>
                <a:cxn ang="0">
                  <a:pos x="21" y="0"/>
                </a:cxn>
                <a:cxn ang="0">
                  <a:pos x="0" y="7"/>
                </a:cxn>
                <a:cxn ang="0">
                  <a:pos x="6" y="8"/>
                </a:cxn>
                <a:cxn ang="0">
                  <a:pos x="26" y="6"/>
                </a:cxn>
              </a:cxnLst>
              <a:rect l="0" t="0" r="r" b="b"/>
              <a:pathLst>
                <a:path w="26" h="8">
                  <a:moveTo>
                    <a:pt x="26" y="6"/>
                  </a:moveTo>
                  <a:lnTo>
                    <a:pt x="21" y="0"/>
                  </a:lnTo>
                  <a:lnTo>
                    <a:pt x="0" y="7"/>
                  </a:lnTo>
                  <a:lnTo>
                    <a:pt x="6" y="8"/>
                  </a:lnTo>
                  <a:lnTo>
                    <a:pt x="2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8" name="Freeform 437"/>
            <p:cNvSpPr>
              <a:spLocks/>
            </p:cNvSpPr>
            <p:nvPr/>
          </p:nvSpPr>
          <p:spPr bwMode="auto">
            <a:xfrm>
              <a:off x="180" y="1516"/>
              <a:ext cx="20" cy="9"/>
            </a:xfrm>
            <a:custGeom>
              <a:avLst/>
              <a:gdLst/>
              <a:ahLst/>
              <a:cxnLst>
                <a:cxn ang="0">
                  <a:pos x="19" y="7"/>
                </a:cxn>
                <a:cxn ang="0">
                  <a:pos x="12" y="8"/>
                </a:cxn>
                <a:cxn ang="0">
                  <a:pos x="0" y="4"/>
                </a:cxn>
                <a:cxn ang="0">
                  <a:pos x="19" y="0"/>
                </a:cxn>
                <a:cxn ang="0">
                  <a:pos x="19" y="7"/>
                </a:cxn>
              </a:cxnLst>
              <a:rect l="0" t="0" r="r" b="b"/>
              <a:pathLst>
                <a:path w="19" h="8">
                  <a:moveTo>
                    <a:pt x="19" y="7"/>
                  </a:moveTo>
                  <a:lnTo>
                    <a:pt x="12" y="8"/>
                  </a:lnTo>
                  <a:lnTo>
                    <a:pt x="0" y="4"/>
                  </a:lnTo>
                  <a:lnTo>
                    <a:pt x="19" y="0"/>
                  </a:lnTo>
                  <a:lnTo>
                    <a:pt x="19"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9" name="Freeform 438"/>
            <p:cNvSpPr>
              <a:spLocks/>
            </p:cNvSpPr>
            <p:nvPr/>
          </p:nvSpPr>
          <p:spPr bwMode="auto">
            <a:xfrm>
              <a:off x="574" y="1554"/>
              <a:ext cx="20" cy="16"/>
            </a:xfrm>
            <a:custGeom>
              <a:avLst/>
              <a:gdLst/>
              <a:ahLst/>
              <a:cxnLst>
                <a:cxn ang="0">
                  <a:pos x="15" y="14"/>
                </a:cxn>
                <a:cxn ang="0">
                  <a:pos x="12" y="10"/>
                </a:cxn>
                <a:cxn ang="0">
                  <a:pos x="9" y="5"/>
                </a:cxn>
                <a:cxn ang="0">
                  <a:pos x="18" y="9"/>
                </a:cxn>
                <a:cxn ang="0">
                  <a:pos x="17" y="6"/>
                </a:cxn>
                <a:cxn ang="0">
                  <a:pos x="12" y="5"/>
                </a:cxn>
                <a:cxn ang="0">
                  <a:pos x="15" y="0"/>
                </a:cxn>
                <a:cxn ang="0">
                  <a:pos x="6" y="4"/>
                </a:cxn>
                <a:cxn ang="0">
                  <a:pos x="5" y="8"/>
                </a:cxn>
                <a:cxn ang="0">
                  <a:pos x="0" y="9"/>
                </a:cxn>
                <a:cxn ang="0">
                  <a:pos x="4" y="15"/>
                </a:cxn>
                <a:cxn ang="0">
                  <a:pos x="6" y="9"/>
                </a:cxn>
                <a:cxn ang="0">
                  <a:pos x="15" y="14"/>
                </a:cxn>
              </a:cxnLst>
              <a:rect l="0" t="0" r="r" b="b"/>
              <a:pathLst>
                <a:path w="18" h="15">
                  <a:moveTo>
                    <a:pt x="15" y="14"/>
                  </a:moveTo>
                  <a:lnTo>
                    <a:pt x="12" y="10"/>
                  </a:lnTo>
                  <a:lnTo>
                    <a:pt x="9" y="5"/>
                  </a:lnTo>
                  <a:lnTo>
                    <a:pt x="18" y="9"/>
                  </a:lnTo>
                  <a:lnTo>
                    <a:pt x="17" y="6"/>
                  </a:lnTo>
                  <a:lnTo>
                    <a:pt x="12" y="5"/>
                  </a:lnTo>
                  <a:lnTo>
                    <a:pt x="15" y="0"/>
                  </a:lnTo>
                  <a:lnTo>
                    <a:pt x="6" y="4"/>
                  </a:lnTo>
                  <a:lnTo>
                    <a:pt x="5" y="8"/>
                  </a:lnTo>
                  <a:lnTo>
                    <a:pt x="0" y="9"/>
                  </a:lnTo>
                  <a:lnTo>
                    <a:pt x="4" y="15"/>
                  </a:lnTo>
                  <a:lnTo>
                    <a:pt x="6" y="9"/>
                  </a:lnTo>
                  <a:lnTo>
                    <a:pt x="15" y="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0" name="Freeform 439"/>
            <p:cNvSpPr>
              <a:spLocks/>
            </p:cNvSpPr>
            <p:nvPr/>
          </p:nvSpPr>
          <p:spPr bwMode="auto">
            <a:xfrm>
              <a:off x="571" y="1570"/>
              <a:ext cx="14" cy="24"/>
            </a:xfrm>
            <a:custGeom>
              <a:avLst/>
              <a:gdLst/>
              <a:ahLst/>
              <a:cxnLst>
                <a:cxn ang="0">
                  <a:pos x="0" y="21"/>
                </a:cxn>
                <a:cxn ang="0">
                  <a:pos x="12" y="0"/>
                </a:cxn>
                <a:cxn ang="0">
                  <a:pos x="4" y="4"/>
                </a:cxn>
                <a:cxn ang="0">
                  <a:pos x="0" y="21"/>
                </a:cxn>
              </a:cxnLst>
              <a:rect l="0" t="0" r="r" b="b"/>
              <a:pathLst>
                <a:path w="12" h="21">
                  <a:moveTo>
                    <a:pt x="0" y="21"/>
                  </a:moveTo>
                  <a:lnTo>
                    <a:pt x="12" y="0"/>
                  </a:lnTo>
                  <a:lnTo>
                    <a:pt x="4" y="4"/>
                  </a:lnTo>
                  <a:lnTo>
                    <a:pt x="0" y="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1" name="Freeform 440"/>
            <p:cNvSpPr>
              <a:spLocks/>
            </p:cNvSpPr>
            <p:nvPr/>
          </p:nvSpPr>
          <p:spPr bwMode="auto">
            <a:xfrm>
              <a:off x="591" y="1576"/>
              <a:ext cx="14" cy="14"/>
            </a:xfrm>
            <a:custGeom>
              <a:avLst/>
              <a:gdLst/>
              <a:ahLst/>
              <a:cxnLst>
                <a:cxn ang="0">
                  <a:pos x="11" y="7"/>
                </a:cxn>
                <a:cxn ang="0">
                  <a:pos x="12" y="5"/>
                </a:cxn>
                <a:cxn ang="0">
                  <a:pos x="5" y="0"/>
                </a:cxn>
                <a:cxn ang="0">
                  <a:pos x="0" y="8"/>
                </a:cxn>
                <a:cxn ang="0">
                  <a:pos x="5" y="11"/>
                </a:cxn>
                <a:cxn ang="0">
                  <a:pos x="7" y="6"/>
                </a:cxn>
                <a:cxn ang="0">
                  <a:pos x="11" y="7"/>
                </a:cxn>
              </a:cxnLst>
              <a:rect l="0" t="0" r="r" b="b"/>
              <a:pathLst>
                <a:path w="12" h="11">
                  <a:moveTo>
                    <a:pt x="11" y="7"/>
                  </a:moveTo>
                  <a:lnTo>
                    <a:pt x="12" y="5"/>
                  </a:lnTo>
                  <a:lnTo>
                    <a:pt x="5" y="0"/>
                  </a:lnTo>
                  <a:lnTo>
                    <a:pt x="0" y="8"/>
                  </a:lnTo>
                  <a:lnTo>
                    <a:pt x="5" y="11"/>
                  </a:lnTo>
                  <a:lnTo>
                    <a:pt x="7" y="6"/>
                  </a:lnTo>
                  <a:lnTo>
                    <a:pt x="11"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2" name="Freeform 441"/>
            <p:cNvSpPr>
              <a:spLocks/>
            </p:cNvSpPr>
            <p:nvPr/>
          </p:nvSpPr>
          <p:spPr bwMode="auto">
            <a:xfrm>
              <a:off x="578" y="1581"/>
              <a:ext cx="13" cy="13"/>
            </a:xfrm>
            <a:custGeom>
              <a:avLst/>
              <a:gdLst/>
              <a:ahLst/>
              <a:cxnLst>
                <a:cxn ang="0">
                  <a:pos x="12" y="4"/>
                </a:cxn>
                <a:cxn ang="0">
                  <a:pos x="0" y="12"/>
                </a:cxn>
                <a:cxn ang="0">
                  <a:pos x="6" y="0"/>
                </a:cxn>
                <a:cxn ang="0">
                  <a:pos x="12" y="4"/>
                </a:cxn>
              </a:cxnLst>
              <a:rect l="0" t="0" r="r" b="b"/>
              <a:pathLst>
                <a:path w="12" h="12">
                  <a:moveTo>
                    <a:pt x="12" y="4"/>
                  </a:moveTo>
                  <a:lnTo>
                    <a:pt x="0" y="12"/>
                  </a:lnTo>
                  <a:lnTo>
                    <a:pt x="6" y="0"/>
                  </a:lnTo>
                  <a:lnTo>
                    <a:pt x="1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3" name="Freeform 442"/>
            <p:cNvSpPr>
              <a:spLocks/>
            </p:cNvSpPr>
            <p:nvPr/>
          </p:nvSpPr>
          <p:spPr bwMode="auto">
            <a:xfrm>
              <a:off x="1334" y="1885"/>
              <a:ext cx="37" cy="9"/>
            </a:xfrm>
            <a:custGeom>
              <a:avLst/>
              <a:gdLst/>
              <a:ahLst/>
              <a:cxnLst>
                <a:cxn ang="0">
                  <a:pos x="35" y="1"/>
                </a:cxn>
                <a:cxn ang="0">
                  <a:pos x="25" y="4"/>
                </a:cxn>
                <a:cxn ang="0">
                  <a:pos x="27" y="0"/>
                </a:cxn>
                <a:cxn ang="0">
                  <a:pos x="0" y="8"/>
                </a:cxn>
                <a:cxn ang="0">
                  <a:pos x="17" y="5"/>
                </a:cxn>
                <a:cxn ang="0">
                  <a:pos x="35" y="1"/>
                </a:cxn>
              </a:cxnLst>
              <a:rect l="0" t="0" r="r" b="b"/>
              <a:pathLst>
                <a:path w="35" h="8">
                  <a:moveTo>
                    <a:pt x="35" y="1"/>
                  </a:moveTo>
                  <a:lnTo>
                    <a:pt x="25" y="4"/>
                  </a:lnTo>
                  <a:lnTo>
                    <a:pt x="27" y="0"/>
                  </a:lnTo>
                  <a:lnTo>
                    <a:pt x="0" y="8"/>
                  </a:lnTo>
                  <a:lnTo>
                    <a:pt x="17" y="5"/>
                  </a:lnTo>
                  <a:lnTo>
                    <a:pt x="3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4" name="Freeform 443"/>
            <p:cNvSpPr>
              <a:spLocks/>
            </p:cNvSpPr>
            <p:nvPr/>
          </p:nvSpPr>
          <p:spPr bwMode="auto">
            <a:xfrm>
              <a:off x="2236" y="2154"/>
              <a:ext cx="146" cy="136"/>
            </a:xfrm>
            <a:custGeom>
              <a:avLst/>
              <a:gdLst/>
              <a:ahLst/>
              <a:cxnLst>
                <a:cxn ang="0">
                  <a:pos x="2" y="114"/>
                </a:cxn>
                <a:cxn ang="0">
                  <a:pos x="0" y="124"/>
                </a:cxn>
                <a:cxn ang="0">
                  <a:pos x="0" y="114"/>
                </a:cxn>
                <a:cxn ang="0">
                  <a:pos x="11" y="91"/>
                </a:cxn>
                <a:cxn ang="0">
                  <a:pos x="21" y="70"/>
                </a:cxn>
                <a:cxn ang="0">
                  <a:pos x="18" y="72"/>
                </a:cxn>
                <a:cxn ang="0">
                  <a:pos x="31" y="58"/>
                </a:cxn>
                <a:cxn ang="0">
                  <a:pos x="36" y="43"/>
                </a:cxn>
                <a:cxn ang="0">
                  <a:pos x="42" y="30"/>
                </a:cxn>
                <a:cxn ang="0">
                  <a:pos x="54" y="18"/>
                </a:cxn>
                <a:cxn ang="0">
                  <a:pos x="63" y="0"/>
                </a:cxn>
                <a:cxn ang="0">
                  <a:pos x="80" y="0"/>
                </a:cxn>
                <a:cxn ang="0">
                  <a:pos x="98" y="0"/>
                </a:cxn>
                <a:cxn ang="0">
                  <a:pos x="115" y="0"/>
                </a:cxn>
                <a:cxn ang="0">
                  <a:pos x="132" y="0"/>
                </a:cxn>
                <a:cxn ang="0">
                  <a:pos x="132" y="7"/>
                </a:cxn>
                <a:cxn ang="0">
                  <a:pos x="132" y="30"/>
                </a:cxn>
                <a:cxn ang="0">
                  <a:pos x="119" y="30"/>
                </a:cxn>
                <a:cxn ang="0">
                  <a:pos x="107" y="30"/>
                </a:cxn>
                <a:cxn ang="0">
                  <a:pos x="93" y="30"/>
                </a:cxn>
                <a:cxn ang="0">
                  <a:pos x="80" y="30"/>
                </a:cxn>
                <a:cxn ang="0">
                  <a:pos x="80" y="53"/>
                </a:cxn>
                <a:cxn ang="0">
                  <a:pos x="79" y="76"/>
                </a:cxn>
                <a:cxn ang="0">
                  <a:pos x="63" y="84"/>
                </a:cxn>
                <a:cxn ang="0">
                  <a:pos x="63" y="99"/>
                </a:cxn>
                <a:cxn ang="0">
                  <a:pos x="63" y="114"/>
                </a:cxn>
                <a:cxn ang="0">
                  <a:pos x="48" y="114"/>
                </a:cxn>
                <a:cxn ang="0">
                  <a:pos x="32" y="114"/>
                </a:cxn>
                <a:cxn ang="0">
                  <a:pos x="17" y="114"/>
                </a:cxn>
                <a:cxn ang="0">
                  <a:pos x="2" y="114"/>
                </a:cxn>
              </a:cxnLst>
              <a:rect l="0" t="0" r="r" b="b"/>
              <a:pathLst>
                <a:path w="132" h="124">
                  <a:moveTo>
                    <a:pt x="2" y="114"/>
                  </a:moveTo>
                  <a:lnTo>
                    <a:pt x="0" y="124"/>
                  </a:lnTo>
                  <a:lnTo>
                    <a:pt x="0" y="114"/>
                  </a:lnTo>
                  <a:lnTo>
                    <a:pt x="11" y="91"/>
                  </a:lnTo>
                  <a:lnTo>
                    <a:pt x="21" y="70"/>
                  </a:lnTo>
                  <a:lnTo>
                    <a:pt x="18" y="72"/>
                  </a:lnTo>
                  <a:lnTo>
                    <a:pt x="31" y="58"/>
                  </a:lnTo>
                  <a:lnTo>
                    <a:pt x="36" y="43"/>
                  </a:lnTo>
                  <a:lnTo>
                    <a:pt x="42" y="30"/>
                  </a:lnTo>
                  <a:lnTo>
                    <a:pt x="54" y="18"/>
                  </a:lnTo>
                  <a:lnTo>
                    <a:pt x="63" y="0"/>
                  </a:lnTo>
                  <a:lnTo>
                    <a:pt x="80" y="0"/>
                  </a:lnTo>
                  <a:lnTo>
                    <a:pt x="98" y="0"/>
                  </a:lnTo>
                  <a:lnTo>
                    <a:pt x="115" y="0"/>
                  </a:lnTo>
                  <a:lnTo>
                    <a:pt x="132" y="0"/>
                  </a:lnTo>
                  <a:lnTo>
                    <a:pt x="132" y="7"/>
                  </a:lnTo>
                  <a:lnTo>
                    <a:pt x="132" y="30"/>
                  </a:lnTo>
                  <a:lnTo>
                    <a:pt x="119" y="30"/>
                  </a:lnTo>
                  <a:lnTo>
                    <a:pt x="107" y="30"/>
                  </a:lnTo>
                  <a:lnTo>
                    <a:pt x="93" y="30"/>
                  </a:lnTo>
                  <a:lnTo>
                    <a:pt x="80" y="30"/>
                  </a:lnTo>
                  <a:lnTo>
                    <a:pt x="80" y="53"/>
                  </a:lnTo>
                  <a:lnTo>
                    <a:pt x="79" y="76"/>
                  </a:lnTo>
                  <a:lnTo>
                    <a:pt x="63" y="84"/>
                  </a:lnTo>
                  <a:lnTo>
                    <a:pt x="63" y="99"/>
                  </a:lnTo>
                  <a:lnTo>
                    <a:pt x="63" y="114"/>
                  </a:lnTo>
                  <a:lnTo>
                    <a:pt x="48" y="114"/>
                  </a:lnTo>
                  <a:lnTo>
                    <a:pt x="32" y="114"/>
                  </a:lnTo>
                  <a:lnTo>
                    <a:pt x="17" y="114"/>
                  </a:lnTo>
                  <a:lnTo>
                    <a:pt x="2" y="1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grpSp>
      <p:sp>
        <p:nvSpPr>
          <p:cNvPr id="445" name="TextBox 599"/>
          <p:cNvSpPr txBox="1"/>
          <p:nvPr/>
        </p:nvSpPr>
        <p:spPr>
          <a:xfrm>
            <a:off x="7495627" y="3948025"/>
            <a:ext cx="4222761" cy="2113259"/>
          </a:xfrm>
          <a:prstGeom prst="roundRect">
            <a:avLst/>
          </a:prstGeom>
          <a:noFill/>
          <a:ln w="28575">
            <a:solidFill>
              <a:schemeClr val="accent1"/>
            </a:solidFill>
            <a:prstDash val="dashDot"/>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endParaRPr lang="en-GB" sz="1869" dirty="0">
              <a:solidFill>
                <a:prstClr val="black"/>
              </a:solidFill>
            </a:endParaRPr>
          </a:p>
        </p:txBody>
      </p:sp>
      <p:grpSp>
        <p:nvGrpSpPr>
          <p:cNvPr id="446" name="Group 445"/>
          <p:cNvGrpSpPr/>
          <p:nvPr/>
        </p:nvGrpSpPr>
        <p:grpSpPr>
          <a:xfrm>
            <a:off x="381805" y="1763278"/>
            <a:ext cx="3779722" cy="4065458"/>
            <a:chOff x="458769" y="1327309"/>
            <a:chExt cx="3847119" cy="4137950"/>
          </a:xfrm>
        </p:grpSpPr>
        <p:sp>
          <p:nvSpPr>
            <p:cNvPr id="447" name="Freeform 446"/>
            <p:cNvSpPr/>
            <p:nvPr/>
          </p:nvSpPr>
          <p:spPr>
            <a:xfrm rot="21365595" flipH="1" flipV="1">
              <a:off x="1361005" y="2521249"/>
              <a:ext cx="1883228" cy="608646"/>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48" name="Freeform 447"/>
            <p:cNvSpPr/>
            <p:nvPr/>
          </p:nvSpPr>
          <p:spPr>
            <a:xfrm rot="21287480" flipH="1" flipV="1">
              <a:off x="1322362" y="4080518"/>
              <a:ext cx="1970135" cy="334088"/>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grpSp>
          <p:nvGrpSpPr>
            <p:cNvPr id="449" name="Group 448"/>
            <p:cNvGrpSpPr/>
            <p:nvPr/>
          </p:nvGrpSpPr>
          <p:grpSpPr>
            <a:xfrm rot="10800000" flipH="1">
              <a:off x="458769" y="1327309"/>
              <a:ext cx="3847119" cy="4137950"/>
              <a:chOff x="3474598" y="1219201"/>
              <a:chExt cx="3702490" cy="4807347"/>
            </a:xfrm>
          </p:grpSpPr>
          <p:sp>
            <p:nvSpPr>
              <p:cNvPr id="450" name="Freeform 449"/>
              <p:cNvSpPr/>
              <p:nvPr/>
            </p:nvSpPr>
            <p:spPr>
              <a:xfrm>
                <a:off x="3494041" y="4040150"/>
                <a:ext cx="886981" cy="484968"/>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1" name="Freeform 450"/>
              <p:cNvSpPr/>
              <p:nvPr/>
            </p:nvSpPr>
            <p:spPr>
              <a:xfrm>
                <a:off x="3483565" y="2413795"/>
                <a:ext cx="873329" cy="516731"/>
              </a:xfrm>
              <a:custGeom>
                <a:avLst/>
                <a:gdLst>
                  <a:gd name="connsiteX0" fmla="*/ 0 w 819150"/>
                  <a:gd name="connsiteY0" fmla="*/ 523875 h 523875"/>
                  <a:gd name="connsiteX1" fmla="*/ 806450 w 819150"/>
                  <a:gd name="connsiteY1" fmla="*/ 339725 h 523875"/>
                  <a:gd name="connsiteX2" fmla="*/ 819150 w 819150"/>
                  <a:gd name="connsiteY2" fmla="*/ 0 h 523875"/>
                  <a:gd name="connsiteX3" fmla="*/ 6350 w 819150"/>
                  <a:gd name="connsiteY3" fmla="*/ 241300 h 523875"/>
                  <a:gd name="connsiteX4" fmla="*/ 0 w 819150"/>
                  <a:gd name="connsiteY4" fmla="*/ 523875 h 523875"/>
                  <a:gd name="connsiteX0" fmla="*/ 0 w 812006"/>
                  <a:gd name="connsiteY0" fmla="*/ 516731 h 516731"/>
                  <a:gd name="connsiteX1" fmla="*/ 806450 w 812006"/>
                  <a:gd name="connsiteY1" fmla="*/ 332581 h 516731"/>
                  <a:gd name="connsiteX2" fmla="*/ 812006 w 812006"/>
                  <a:gd name="connsiteY2" fmla="*/ 0 h 516731"/>
                  <a:gd name="connsiteX3" fmla="*/ 6350 w 812006"/>
                  <a:gd name="connsiteY3" fmla="*/ 234156 h 516731"/>
                  <a:gd name="connsiteX4" fmla="*/ 0 w 812006"/>
                  <a:gd name="connsiteY4" fmla="*/ 516731 h 516731"/>
                  <a:gd name="connsiteX0" fmla="*/ 0 w 813594"/>
                  <a:gd name="connsiteY0" fmla="*/ 516731 h 516731"/>
                  <a:gd name="connsiteX1" fmla="*/ 813594 w 813594"/>
                  <a:gd name="connsiteY1" fmla="*/ 330199 h 516731"/>
                  <a:gd name="connsiteX2" fmla="*/ 812006 w 813594"/>
                  <a:gd name="connsiteY2" fmla="*/ 0 h 516731"/>
                  <a:gd name="connsiteX3" fmla="*/ 6350 w 813594"/>
                  <a:gd name="connsiteY3" fmla="*/ 234156 h 516731"/>
                  <a:gd name="connsiteX4" fmla="*/ 0 w 813594"/>
                  <a:gd name="connsiteY4" fmla="*/ 516731 h 51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94" h="516731">
                    <a:moveTo>
                      <a:pt x="0" y="516731"/>
                    </a:moveTo>
                    <a:lnTo>
                      <a:pt x="813594" y="330199"/>
                    </a:lnTo>
                    <a:cubicBezTo>
                      <a:pt x="813065" y="220133"/>
                      <a:pt x="812535" y="110066"/>
                      <a:pt x="812006" y="0"/>
                    </a:cubicBezTo>
                    <a:lnTo>
                      <a:pt x="6350" y="234156"/>
                    </a:lnTo>
                    <a:cubicBezTo>
                      <a:pt x="5292" y="331523"/>
                      <a:pt x="4233" y="428889"/>
                      <a:pt x="0" y="5167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2" name="Freeform 451"/>
              <p:cNvSpPr/>
              <p:nvPr/>
            </p:nvSpPr>
            <p:spPr>
              <a:xfrm>
                <a:off x="4310063" y="2743200"/>
                <a:ext cx="2376487" cy="1376386"/>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354137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2368550"/>
                  <a:gd name="connsiteY0" fmla="*/ 0 h 1354137"/>
                  <a:gd name="connsiteX1" fmla="*/ 0 w 2368550"/>
                  <a:gd name="connsiteY1" fmla="*/ 1354137 h 1354137"/>
                  <a:gd name="connsiteX2" fmla="*/ 2368550 w 2368550"/>
                  <a:gd name="connsiteY2" fmla="*/ 1320800 h 1354137"/>
                  <a:gd name="connsiteX3" fmla="*/ 1816100 w 2368550"/>
                  <a:gd name="connsiteY3" fmla="*/ 469900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8550" h="1354137">
                    <a:moveTo>
                      <a:pt x="6350" y="0"/>
                    </a:moveTo>
                    <a:cubicBezTo>
                      <a:pt x="4233" y="389467"/>
                      <a:pt x="2117" y="964670"/>
                      <a:pt x="0" y="1354137"/>
                    </a:cubicBezTo>
                    <a:lnTo>
                      <a:pt x="2368550" y="1320800"/>
                    </a:lnTo>
                    <a:lnTo>
                      <a:pt x="2354262" y="379412"/>
                    </a:lnTo>
                    <a:cubicBezTo>
                      <a:pt x="2345266" y="281780"/>
                      <a:pt x="2331508" y="203993"/>
                      <a:pt x="2193925" y="169862"/>
                    </a:cubicBezTo>
                    <a:lnTo>
                      <a:pt x="6350" y="0"/>
                    </a:lnTo>
                    <a:close/>
                  </a:path>
                </a:pathLst>
              </a:custGeom>
              <a:solidFill>
                <a:schemeClr val="accent1">
                  <a:lumMod val="20000"/>
                  <a:lumOff val="8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3" name="Freeform 452"/>
              <p:cNvSpPr/>
              <p:nvPr/>
            </p:nvSpPr>
            <p:spPr>
              <a:xfrm>
                <a:off x="4322764" y="4356465"/>
                <a:ext cx="2854324" cy="1670050"/>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354137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2368550"/>
                  <a:gd name="connsiteY0" fmla="*/ 0 h 1354137"/>
                  <a:gd name="connsiteX1" fmla="*/ 0 w 2368550"/>
                  <a:gd name="connsiteY1" fmla="*/ 1354137 h 1354137"/>
                  <a:gd name="connsiteX2" fmla="*/ 2368550 w 2368550"/>
                  <a:gd name="connsiteY2" fmla="*/ 1320800 h 1354137"/>
                  <a:gd name="connsiteX3" fmla="*/ 1816100 w 2368550"/>
                  <a:gd name="connsiteY3" fmla="*/ 469900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11112 w 2373312"/>
                  <a:gd name="connsiteY0" fmla="*/ 0 h 1520824"/>
                  <a:gd name="connsiteX1" fmla="*/ 0 w 2373312"/>
                  <a:gd name="connsiteY1" fmla="*/ 1520824 h 1520824"/>
                  <a:gd name="connsiteX2" fmla="*/ 2373312 w 2373312"/>
                  <a:gd name="connsiteY2" fmla="*/ 1320800 h 1520824"/>
                  <a:gd name="connsiteX3" fmla="*/ 2359024 w 2373312"/>
                  <a:gd name="connsiteY3" fmla="*/ 379412 h 1520824"/>
                  <a:gd name="connsiteX4" fmla="*/ 2198687 w 2373312"/>
                  <a:gd name="connsiteY4" fmla="*/ 169862 h 1520824"/>
                  <a:gd name="connsiteX5" fmla="*/ 11112 w 2373312"/>
                  <a:gd name="connsiteY5" fmla="*/ 0 h 1520824"/>
                  <a:gd name="connsiteX0" fmla="*/ 1587 w 2363787"/>
                  <a:gd name="connsiteY0" fmla="*/ 0 h 1516062"/>
                  <a:gd name="connsiteX1" fmla="*/ 0 w 2363787"/>
                  <a:gd name="connsiteY1" fmla="*/ 1516062 h 1516062"/>
                  <a:gd name="connsiteX2" fmla="*/ 2363787 w 2363787"/>
                  <a:gd name="connsiteY2" fmla="*/ 1320800 h 1516062"/>
                  <a:gd name="connsiteX3" fmla="*/ 2349499 w 2363787"/>
                  <a:gd name="connsiteY3" fmla="*/ 379412 h 1516062"/>
                  <a:gd name="connsiteX4" fmla="*/ 2189162 w 2363787"/>
                  <a:gd name="connsiteY4" fmla="*/ 169862 h 1516062"/>
                  <a:gd name="connsiteX5" fmla="*/ 1587 w 2363787"/>
                  <a:gd name="connsiteY5" fmla="*/ 0 h 1516062"/>
                  <a:gd name="connsiteX0" fmla="*/ 1587 w 2844799"/>
                  <a:gd name="connsiteY0" fmla="*/ 0 h 1516062"/>
                  <a:gd name="connsiteX1" fmla="*/ 0 w 2844799"/>
                  <a:gd name="connsiteY1" fmla="*/ 1516062 h 1516062"/>
                  <a:gd name="connsiteX2" fmla="*/ 2844799 w 2844799"/>
                  <a:gd name="connsiteY2" fmla="*/ 1063625 h 1516062"/>
                  <a:gd name="connsiteX3" fmla="*/ 2349499 w 2844799"/>
                  <a:gd name="connsiteY3" fmla="*/ 379412 h 1516062"/>
                  <a:gd name="connsiteX4" fmla="*/ 2189162 w 2844799"/>
                  <a:gd name="connsiteY4" fmla="*/ 169862 h 1516062"/>
                  <a:gd name="connsiteX5" fmla="*/ 1587 w 2844799"/>
                  <a:gd name="connsiteY5" fmla="*/ 0 h 1516062"/>
                  <a:gd name="connsiteX0" fmla="*/ 1587 w 2844799"/>
                  <a:gd name="connsiteY0" fmla="*/ 153988 h 1670050"/>
                  <a:gd name="connsiteX1" fmla="*/ 0 w 2844799"/>
                  <a:gd name="connsiteY1" fmla="*/ 1670050 h 1670050"/>
                  <a:gd name="connsiteX2" fmla="*/ 2844799 w 2844799"/>
                  <a:gd name="connsiteY2" fmla="*/ 1217613 h 1670050"/>
                  <a:gd name="connsiteX3" fmla="*/ 2349499 w 2844799"/>
                  <a:gd name="connsiteY3" fmla="*/ 533400 h 1670050"/>
                  <a:gd name="connsiteX4" fmla="*/ 2651124 w 2844799"/>
                  <a:gd name="connsiteY4" fmla="*/ 0 h 1670050"/>
                  <a:gd name="connsiteX5" fmla="*/ 1587 w 2844799"/>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9561 w 2854324"/>
                  <a:gd name="connsiteY2" fmla="*/ 1208088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49226 h 1670050"/>
                  <a:gd name="connsiteX1" fmla="*/ 0 w 2854324"/>
                  <a:gd name="connsiteY1" fmla="*/ 1670050 h 1670050"/>
                  <a:gd name="connsiteX2" fmla="*/ 2849561 w 2854324"/>
                  <a:gd name="connsiteY2" fmla="*/ 1208088 h 1670050"/>
                  <a:gd name="connsiteX3" fmla="*/ 2854324 w 2854324"/>
                  <a:gd name="connsiteY3" fmla="*/ 304800 h 1670050"/>
                  <a:gd name="connsiteX4" fmla="*/ 2651124 w 2854324"/>
                  <a:gd name="connsiteY4" fmla="*/ 0 h 1670050"/>
                  <a:gd name="connsiteX5" fmla="*/ 1587 w 2854324"/>
                  <a:gd name="connsiteY5" fmla="*/ 149226 h 167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4324" h="1670050">
                    <a:moveTo>
                      <a:pt x="1587" y="149226"/>
                    </a:moveTo>
                    <a:cubicBezTo>
                      <a:pt x="-530" y="538693"/>
                      <a:pt x="2117" y="1280583"/>
                      <a:pt x="0" y="1670050"/>
                    </a:cubicBezTo>
                    <a:lnTo>
                      <a:pt x="2849561" y="1208088"/>
                    </a:lnTo>
                    <a:cubicBezTo>
                      <a:pt x="2851149" y="906992"/>
                      <a:pt x="2852736" y="605896"/>
                      <a:pt x="2854324" y="304800"/>
                    </a:cubicBezTo>
                    <a:cubicBezTo>
                      <a:pt x="2850090" y="159543"/>
                      <a:pt x="2826807" y="29368"/>
                      <a:pt x="2651124" y="0"/>
                    </a:cubicBezTo>
                    <a:lnTo>
                      <a:pt x="1587" y="149226"/>
                    </a:lnTo>
                    <a:close/>
                  </a:path>
                </a:pathLst>
              </a:custGeom>
              <a:solidFill>
                <a:schemeClr val="accent1">
                  <a:lumMod val="20000"/>
                  <a:lumOff val="8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4" name="Freeform 453"/>
              <p:cNvSpPr/>
              <p:nvPr/>
            </p:nvSpPr>
            <p:spPr>
              <a:xfrm>
                <a:off x="4318000" y="1219201"/>
                <a:ext cx="1889449" cy="1379224"/>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16100" h="1358900">
                    <a:moveTo>
                      <a:pt x="6350" y="0"/>
                    </a:moveTo>
                    <a:cubicBezTo>
                      <a:pt x="4233" y="389467"/>
                      <a:pt x="2117" y="778933"/>
                      <a:pt x="0" y="1168400"/>
                    </a:cubicBezTo>
                    <a:lnTo>
                      <a:pt x="1816100" y="1358900"/>
                    </a:lnTo>
                    <a:lnTo>
                      <a:pt x="1816100" y="469900"/>
                    </a:lnTo>
                    <a:cubicBezTo>
                      <a:pt x="1797579" y="378618"/>
                      <a:pt x="1750483" y="342106"/>
                      <a:pt x="1689100" y="317500"/>
                    </a:cubicBezTo>
                    <a:lnTo>
                      <a:pt x="6350" y="0"/>
                    </a:lnTo>
                    <a:close/>
                  </a:path>
                </a:pathLst>
              </a:custGeom>
              <a:solidFill>
                <a:schemeClr val="accent1">
                  <a:lumMod val="20000"/>
                  <a:lumOff val="8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5" name="Parallelogram 4"/>
              <p:cNvSpPr/>
              <p:nvPr/>
            </p:nvSpPr>
            <p:spPr>
              <a:xfrm>
                <a:off x="3474598" y="1222375"/>
                <a:ext cx="851609" cy="1461294"/>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4616 w 851468"/>
                  <a:gd name="connsiteY0" fmla="*/ 1422234 h 1422234"/>
                  <a:gd name="connsiteX1" fmla="*/ 0 w 851468"/>
                  <a:gd name="connsiteY1" fmla="*/ 463091 h 1422234"/>
                  <a:gd name="connsiteX2" fmla="*/ 851339 w 851468"/>
                  <a:gd name="connsiteY2" fmla="*/ 0 h 1422234"/>
                  <a:gd name="connsiteX3" fmla="*/ 841668 w 851468"/>
                  <a:gd name="connsiteY3" fmla="*/ 1174584 h 1422234"/>
                  <a:gd name="connsiteX4" fmla="*/ 4616 w 851468"/>
                  <a:gd name="connsiteY4" fmla="*/ 1422234 h 1422234"/>
                  <a:gd name="connsiteX0" fmla="*/ 4616 w 851767"/>
                  <a:gd name="connsiteY0" fmla="*/ 1422234 h 1422234"/>
                  <a:gd name="connsiteX1" fmla="*/ 0 w 851767"/>
                  <a:gd name="connsiteY1" fmla="*/ 463091 h 1422234"/>
                  <a:gd name="connsiteX2" fmla="*/ 851339 w 851767"/>
                  <a:gd name="connsiteY2" fmla="*/ 0 h 1422234"/>
                  <a:gd name="connsiteX3" fmla="*/ 851193 w 851767"/>
                  <a:gd name="connsiteY3" fmla="*/ 1160641 h 1422234"/>
                  <a:gd name="connsiteX4" fmla="*/ 4616 w 851767"/>
                  <a:gd name="connsiteY4" fmla="*/ 1422234 h 1422234"/>
                  <a:gd name="connsiteX0" fmla="*/ 4616 w 851609"/>
                  <a:gd name="connsiteY0" fmla="*/ 1422234 h 1422234"/>
                  <a:gd name="connsiteX1" fmla="*/ 0 w 851609"/>
                  <a:gd name="connsiteY1" fmla="*/ 463091 h 1422234"/>
                  <a:gd name="connsiteX2" fmla="*/ 851339 w 851609"/>
                  <a:gd name="connsiteY2" fmla="*/ 0 h 1422234"/>
                  <a:gd name="connsiteX3" fmla="*/ 848812 w 851609"/>
                  <a:gd name="connsiteY3" fmla="*/ 1169937 h 1422234"/>
                  <a:gd name="connsiteX4" fmla="*/ 4616 w 851609"/>
                  <a:gd name="connsiteY4" fmla="*/ 1422234 h 1422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609" h="1422234">
                    <a:moveTo>
                      <a:pt x="4616" y="1422234"/>
                    </a:moveTo>
                    <a:cubicBezTo>
                      <a:pt x="3077" y="1102520"/>
                      <a:pt x="1539" y="782805"/>
                      <a:pt x="0" y="463091"/>
                    </a:cubicBezTo>
                    <a:lnTo>
                      <a:pt x="851339" y="0"/>
                    </a:lnTo>
                    <a:cubicBezTo>
                      <a:pt x="852878" y="385331"/>
                      <a:pt x="847273" y="784606"/>
                      <a:pt x="848812" y="1169937"/>
                    </a:cubicBezTo>
                    <a:lnTo>
                      <a:pt x="4616" y="1422234"/>
                    </a:lnTo>
                    <a:close/>
                  </a:path>
                </a:pathLst>
              </a:custGeom>
              <a:solidFill>
                <a:schemeClr val="accent1">
                  <a:lumMod val="40000"/>
                  <a:lumOff val="6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6" name="Parallelogram 4"/>
              <p:cNvSpPr/>
              <p:nvPr/>
            </p:nvSpPr>
            <p:spPr>
              <a:xfrm>
                <a:off x="3486583" y="4382399"/>
                <a:ext cx="842465" cy="1644149"/>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155993 h 1403643"/>
                  <a:gd name="connsiteX4" fmla="*/ 252 w 837304"/>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384593 h 1403643"/>
                  <a:gd name="connsiteX4" fmla="*/ 252 w 837304"/>
                  <a:gd name="connsiteY4" fmla="*/ 1403643 h 1403643"/>
                  <a:gd name="connsiteX0" fmla="*/ 252 w 837304"/>
                  <a:gd name="connsiteY0" fmla="*/ 1304583 h 1384593"/>
                  <a:gd name="connsiteX1" fmla="*/ 3256 w 837304"/>
                  <a:gd name="connsiteY1" fmla="*/ 193040 h 1384593"/>
                  <a:gd name="connsiteX2" fmla="*/ 832688 w 837304"/>
                  <a:gd name="connsiteY2" fmla="*/ 0 h 1384593"/>
                  <a:gd name="connsiteX3" fmla="*/ 837304 w 837304"/>
                  <a:gd name="connsiteY3" fmla="*/ 1384593 h 1384593"/>
                  <a:gd name="connsiteX4" fmla="*/ 252 w 837304"/>
                  <a:gd name="connsiteY4" fmla="*/ 1304583 h 138459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44924"/>
                  <a:gd name="connsiteY0" fmla="*/ 1304583 h 1338873"/>
                  <a:gd name="connsiteX1" fmla="*/ 3256 w 844924"/>
                  <a:gd name="connsiteY1" fmla="*/ 193040 h 1338873"/>
                  <a:gd name="connsiteX2" fmla="*/ 832688 w 844924"/>
                  <a:gd name="connsiteY2" fmla="*/ 0 h 1338873"/>
                  <a:gd name="connsiteX3" fmla="*/ 844924 w 844924"/>
                  <a:gd name="connsiteY3" fmla="*/ 1338873 h 1338873"/>
                  <a:gd name="connsiteX4" fmla="*/ 252 w 844924"/>
                  <a:gd name="connsiteY4" fmla="*/ 1304583 h 133887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28172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28172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1223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12236 w 829683"/>
                  <a:gd name="connsiteY4" fmla="*/ 1296963 h 1354113"/>
                  <a:gd name="connsiteX0" fmla="*/ 461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296963 h 1354113"/>
                  <a:gd name="connsiteX0" fmla="*/ 73196 w 829683"/>
                  <a:gd name="connsiteY0" fmla="*/ 1350303 h 1354113"/>
                  <a:gd name="connsiteX1" fmla="*/ 0 w 829683"/>
                  <a:gd name="connsiteY1" fmla="*/ 193040 h 1354113"/>
                  <a:gd name="connsiteX2" fmla="*/ 829432 w 829683"/>
                  <a:gd name="connsiteY2" fmla="*/ 0 h 1354113"/>
                  <a:gd name="connsiteX3" fmla="*/ 826428 w 829683"/>
                  <a:gd name="connsiteY3" fmla="*/ 1354113 h 1354113"/>
                  <a:gd name="connsiteX4" fmla="*/ 73196 w 829683"/>
                  <a:gd name="connsiteY4" fmla="*/ 1350303 h 1354113"/>
                  <a:gd name="connsiteX0" fmla="*/ 4616 w 829683"/>
                  <a:gd name="connsiteY0" fmla="*/ 131982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319823 h 1354113"/>
                  <a:gd name="connsiteX0" fmla="*/ 121 w 825188"/>
                  <a:gd name="connsiteY0" fmla="*/ 1319823 h 1354113"/>
                  <a:gd name="connsiteX1" fmla="*/ 10745 w 825188"/>
                  <a:gd name="connsiteY1" fmla="*/ 78740 h 1354113"/>
                  <a:gd name="connsiteX2" fmla="*/ 824937 w 825188"/>
                  <a:gd name="connsiteY2" fmla="*/ 0 h 1354113"/>
                  <a:gd name="connsiteX3" fmla="*/ 821933 w 825188"/>
                  <a:gd name="connsiteY3" fmla="*/ 1354113 h 1354113"/>
                  <a:gd name="connsiteX4" fmla="*/ 121 w 825188"/>
                  <a:gd name="connsiteY4" fmla="*/ 1319823 h 1354113"/>
                  <a:gd name="connsiteX0" fmla="*/ 121 w 825188"/>
                  <a:gd name="connsiteY0" fmla="*/ 1241083 h 1275373"/>
                  <a:gd name="connsiteX1" fmla="*/ 10745 w 825188"/>
                  <a:gd name="connsiteY1" fmla="*/ 0 h 1275373"/>
                  <a:gd name="connsiteX2" fmla="*/ 824937 w 825188"/>
                  <a:gd name="connsiteY2" fmla="*/ 104140 h 1275373"/>
                  <a:gd name="connsiteX3" fmla="*/ 821933 w 825188"/>
                  <a:gd name="connsiteY3" fmla="*/ 1275373 h 1275373"/>
                  <a:gd name="connsiteX4" fmla="*/ 121 w 825188"/>
                  <a:gd name="connsiteY4" fmla="*/ 1241083 h 1275373"/>
                  <a:gd name="connsiteX0" fmla="*/ 121 w 825188"/>
                  <a:gd name="connsiteY0" fmla="*/ 1241083 h 1641133"/>
                  <a:gd name="connsiteX1" fmla="*/ 10745 w 825188"/>
                  <a:gd name="connsiteY1" fmla="*/ 0 h 1641133"/>
                  <a:gd name="connsiteX2" fmla="*/ 824937 w 825188"/>
                  <a:gd name="connsiteY2" fmla="*/ 104140 h 1641133"/>
                  <a:gd name="connsiteX3" fmla="*/ 821933 w 825188"/>
                  <a:gd name="connsiteY3" fmla="*/ 1641133 h 1641133"/>
                  <a:gd name="connsiteX4" fmla="*/ 121 w 825188"/>
                  <a:gd name="connsiteY4" fmla="*/ 1241083 h 1641133"/>
                  <a:gd name="connsiteX0" fmla="*/ 121 w 825188"/>
                  <a:gd name="connsiteY0" fmla="*/ 1225843 h 1641133"/>
                  <a:gd name="connsiteX1" fmla="*/ 10745 w 825188"/>
                  <a:gd name="connsiteY1" fmla="*/ 0 h 1641133"/>
                  <a:gd name="connsiteX2" fmla="*/ 824937 w 825188"/>
                  <a:gd name="connsiteY2" fmla="*/ 104140 h 1641133"/>
                  <a:gd name="connsiteX3" fmla="*/ 821933 w 825188"/>
                  <a:gd name="connsiteY3" fmla="*/ 1641133 h 1641133"/>
                  <a:gd name="connsiteX4" fmla="*/ 121 w 825188"/>
                  <a:gd name="connsiteY4" fmla="*/ 1225843 h 1641133"/>
                  <a:gd name="connsiteX0" fmla="*/ 251 w 825318"/>
                  <a:gd name="connsiteY0" fmla="*/ 1210603 h 1625893"/>
                  <a:gd name="connsiteX1" fmla="*/ 3255 w 825318"/>
                  <a:gd name="connsiteY1" fmla="*/ 0 h 1625893"/>
                  <a:gd name="connsiteX2" fmla="*/ 825067 w 825318"/>
                  <a:gd name="connsiteY2" fmla="*/ 88900 h 1625893"/>
                  <a:gd name="connsiteX3" fmla="*/ 822063 w 825318"/>
                  <a:gd name="connsiteY3" fmla="*/ 1625893 h 1625893"/>
                  <a:gd name="connsiteX4" fmla="*/ 251 w 825318"/>
                  <a:gd name="connsiteY4" fmla="*/ 1210603 h 1625893"/>
                  <a:gd name="connsiteX0" fmla="*/ 251 w 825318"/>
                  <a:gd name="connsiteY0" fmla="*/ 1245528 h 1660818"/>
                  <a:gd name="connsiteX1" fmla="*/ 3255 w 825318"/>
                  <a:gd name="connsiteY1" fmla="*/ 0 h 1660818"/>
                  <a:gd name="connsiteX2" fmla="*/ 825067 w 825318"/>
                  <a:gd name="connsiteY2" fmla="*/ 123825 h 1660818"/>
                  <a:gd name="connsiteX3" fmla="*/ 822063 w 825318"/>
                  <a:gd name="connsiteY3" fmla="*/ 1660818 h 1660818"/>
                  <a:gd name="connsiteX4" fmla="*/ 251 w 825318"/>
                  <a:gd name="connsiteY4" fmla="*/ 1245528 h 1660818"/>
                  <a:gd name="connsiteX0" fmla="*/ 251 w 825255"/>
                  <a:gd name="connsiteY0" fmla="*/ 1245528 h 1644149"/>
                  <a:gd name="connsiteX1" fmla="*/ 3255 w 825255"/>
                  <a:gd name="connsiteY1" fmla="*/ 0 h 1644149"/>
                  <a:gd name="connsiteX2" fmla="*/ 825067 w 825255"/>
                  <a:gd name="connsiteY2" fmla="*/ 123825 h 1644149"/>
                  <a:gd name="connsiteX3" fmla="*/ 819731 w 825255"/>
                  <a:gd name="connsiteY3" fmla="*/ 1644149 h 1644149"/>
                  <a:gd name="connsiteX4" fmla="*/ 251 w 825255"/>
                  <a:gd name="connsiteY4" fmla="*/ 1245528 h 164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55" h="1644149">
                    <a:moveTo>
                      <a:pt x="251" y="1245528"/>
                    </a:moveTo>
                    <a:cubicBezTo>
                      <a:pt x="-1288" y="925814"/>
                      <a:pt x="4794" y="319714"/>
                      <a:pt x="3255" y="0"/>
                    </a:cubicBezTo>
                    <a:lnTo>
                      <a:pt x="825067" y="123825"/>
                    </a:lnTo>
                    <a:cubicBezTo>
                      <a:pt x="826606" y="509156"/>
                      <a:pt x="818192" y="1258818"/>
                      <a:pt x="819731" y="1644149"/>
                    </a:cubicBezTo>
                    <a:lnTo>
                      <a:pt x="251" y="1245528"/>
                    </a:lnTo>
                    <a:close/>
                  </a:path>
                </a:pathLst>
              </a:custGeom>
              <a:solidFill>
                <a:schemeClr val="accent1">
                  <a:lumMod val="40000"/>
                  <a:lumOff val="60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7" name="Parallelogram 4"/>
              <p:cNvSpPr/>
              <p:nvPr/>
            </p:nvSpPr>
            <p:spPr>
              <a:xfrm>
                <a:off x="3485393" y="2745581"/>
                <a:ext cx="836575" cy="1373982"/>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155993 h 1403643"/>
                  <a:gd name="connsiteX4" fmla="*/ 252 w 837304"/>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384593 h 1403643"/>
                  <a:gd name="connsiteX4" fmla="*/ 252 w 837304"/>
                  <a:gd name="connsiteY4" fmla="*/ 1403643 h 1403643"/>
                  <a:gd name="connsiteX0" fmla="*/ 252 w 837304"/>
                  <a:gd name="connsiteY0" fmla="*/ 1304583 h 1384593"/>
                  <a:gd name="connsiteX1" fmla="*/ 3256 w 837304"/>
                  <a:gd name="connsiteY1" fmla="*/ 193040 h 1384593"/>
                  <a:gd name="connsiteX2" fmla="*/ 832688 w 837304"/>
                  <a:gd name="connsiteY2" fmla="*/ 0 h 1384593"/>
                  <a:gd name="connsiteX3" fmla="*/ 837304 w 837304"/>
                  <a:gd name="connsiteY3" fmla="*/ 1384593 h 1384593"/>
                  <a:gd name="connsiteX4" fmla="*/ 252 w 837304"/>
                  <a:gd name="connsiteY4" fmla="*/ 1304583 h 138459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44924"/>
                  <a:gd name="connsiteY0" fmla="*/ 1304583 h 1338873"/>
                  <a:gd name="connsiteX1" fmla="*/ 3256 w 844924"/>
                  <a:gd name="connsiteY1" fmla="*/ 193040 h 1338873"/>
                  <a:gd name="connsiteX2" fmla="*/ 832688 w 844924"/>
                  <a:gd name="connsiteY2" fmla="*/ 0 h 1338873"/>
                  <a:gd name="connsiteX3" fmla="*/ 844924 w 844924"/>
                  <a:gd name="connsiteY3" fmla="*/ 1338873 h 1338873"/>
                  <a:gd name="connsiteX4" fmla="*/ 252 w 844924"/>
                  <a:gd name="connsiteY4" fmla="*/ 1304583 h 133887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28172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28172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1223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12236 w 829683"/>
                  <a:gd name="connsiteY4" fmla="*/ 1296963 h 1354113"/>
                  <a:gd name="connsiteX0" fmla="*/ 461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296963 h 1354113"/>
                  <a:gd name="connsiteX0" fmla="*/ 4616 w 829683"/>
                  <a:gd name="connsiteY0" fmla="*/ 1319188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319188 h 1354113"/>
                  <a:gd name="connsiteX0" fmla="*/ 1441 w 826508"/>
                  <a:gd name="connsiteY0" fmla="*/ 1319188 h 1354113"/>
                  <a:gd name="connsiteX1" fmla="*/ 0 w 826508"/>
                  <a:gd name="connsiteY1" fmla="*/ 196215 h 1354113"/>
                  <a:gd name="connsiteX2" fmla="*/ 826257 w 826508"/>
                  <a:gd name="connsiteY2" fmla="*/ 0 h 1354113"/>
                  <a:gd name="connsiteX3" fmla="*/ 823253 w 826508"/>
                  <a:gd name="connsiteY3" fmla="*/ 1354113 h 1354113"/>
                  <a:gd name="connsiteX4" fmla="*/ 1441 w 826508"/>
                  <a:gd name="connsiteY4" fmla="*/ 1319188 h 1354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08" h="1354113">
                    <a:moveTo>
                      <a:pt x="1441" y="1319188"/>
                    </a:moveTo>
                    <a:cubicBezTo>
                      <a:pt x="-98" y="999474"/>
                      <a:pt x="1539" y="515929"/>
                      <a:pt x="0" y="196215"/>
                    </a:cubicBezTo>
                    <a:lnTo>
                      <a:pt x="826257" y="0"/>
                    </a:lnTo>
                    <a:cubicBezTo>
                      <a:pt x="827796" y="385331"/>
                      <a:pt x="821714" y="968782"/>
                      <a:pt x="823253" y="1354113"/>
                    </a:cubicBezTo>
                    <a:lnTo>
                      <a:pt x="1441" y="1319188"/>
                    </a:lnTo>
                    <a:close/>
                  </a:path>
                </a:pathLst>
              </a:custGeom>
              <a:solidFill>
                <a:schemeClr val="accent1">
                  <a:lumMod val="40000"/>
                  <a:lumOff val="6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8" name="Down Arrow 457"/>
              <p:cNvSpPr/>
              <p:nvPr/>
            </p:nvSpPr>
            <p:spPr>
              <a:xfrm rot="10635248" flipV="1">
                <a:off x="3513231" y="2021116"/>
                <a:ext cx="269982" cy="375120"/>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pic>
            <p:nvPicPr>
              <p:cNvPr id="459" name="Picture 458"/>
              <p:cNvPicPr>
                <a:picLocks noChangeAspect="1"/>
              </p:cNvPicPr>
              <p:nvPr/>
            </p:nvPicPr>
            <p:blipFill>
              <a:blip r:embed="rId2" cstate="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10800000">
                <a:off x="5656110" y="1876644"/>
                <a:ext cx="566776" cy="566777"/>
              </a:xfrm>
              <a:prstGeom prst="rect">
                <a:avLst/>
              </a:prstGeom>
            </p:spPr>
          </p:pic>
          <p:pic>
            <p:nvPicPr>
              <p:cNvPr id="460" name="Picture 459"/>
              <p:cNvPicPr>
                <a:picLocks noChangeAspect="1"/>
              </p:cNvPicPr>
              <p:nvPr/>
            </p:nvPicPr>
            <p:blipFill>
              <a:blip r:embed="rId3" cstate="print">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5905013" y="3112482"/>
                <a:ext cx="685800" cy="685800"/>
              </a:xfrm>
              <a:prstGeom prst="rect">
                <a:avLst/>
              </a:prstGeom>
            </p:spPr>
          </p:pic>
          <p:pic>
            <p:nvPicPr>
              <p:cNvPr id="461" name="Picture 460"/>
              <p:cNvPicPr>
                <a:picLocks noChangeAspect="1"/>
              </p:cNvPicPr>
              <p:nvPr/>
            </p:nvPicPr>
            <p:blipFill>
              <a:blip r:embed="rId4" cstate="print">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rot="10800000" flipH="1">
                <a:off x="6328896" y="4715851"/>
                <a:ext cx="703089" cy="703089"/>
              </a:xfrm>
              <a:prstGeom prst="rect">
                <a:avLst/>
              </a:prstGeom>
            </p:spPr>
          </p:pic>
          <p:sp>
            <p:nvSpPr>
              <p:cNvPr id="462" name="Down Arrow 461"/>
              <p:cNvSpPr/>
              <p:nvPr/>
            </p:nvSpPr>
            <p:spPr>
              <a:xfrm>
                <a:off x="3533774" y="3627089"/>
                <a:ext cx="211701" cy="413058"/>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63" name="Down Arrow 462"/>
              <p:cNvSpPr/>
              <p:nvPr/>
            </p:nvSpPr>
            <p:spPr>
              <a:xfrm>
                <a:off x="3533775" y="5114189"/>
                <a:ext cx="243131" cy="418271"/>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grpSp>
      </p:grpSp>
      <p:sp>
        <p:nvSpPr>
          <p:cNvPr id="464" name="TextBox 127"/>
          <p:cNvSpPr txBox="1"/>
          <p:nvPr/>
        </p:nvSpPr>
        <p:spPr>
          <a:xfrm>
            <a:off x="467605" y="2544751"/>
            <a:ext cx="716566" cy="332623"/>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2034F</a:t>
            </a:r>
          </a:p>
        </p:txBody>
      </p:sp>
      <p:sp>
        <p:nvSpPr>
          <p:cNvPr id="465" name="TextBox 128"/>
          <p:cNvSpPr txBox="1"/>
          <p:nvPr/>
        </p:nvSpPr>
        <p:spPr>
          <a:xfrm>
            <a:off x="152400" y="1131579"/>
            <a:ext cx="5791200" cy="502920"/>
          </a:xfrm>
          <a:prstGeom prst="rect">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pPr algn="ctr"/>
            <a:r>
              <a:rPr lang="en-GB" sz="1376" b="1" dirty="0">
                <a:solidFill>
                  <a:prstClr val="black"/>
                </a:solidFill>
              </a:rPr>
              <a:t>South Asia Pacific WXYZ Market Value (US$ </a:t>
            </a:r>
            <a:r>
              <a:rPr lang="en-GB" sz="1376" b="1" dirty="0" err="1">
                <a:solidFill>
                  <a:prstClr val="black"/>
                </a:solidFill>
              </a:rPr>
              <a:t>Mn</a:t>
            </a:r>
            <a:r>
              <a:rPr lang="en-GB" sz="1376" b="1" dirty="0">
                <a:solidFill>
                  <a:prstClr val="black"/>
                </a:solidFill>
              </a:rPr>
              <a:t>)</a:t>
            </a:r>
          </a:p>
        </p:txBody>
      </p:sp>
      <p:sp>
        <p:nvSpPr>
          <p:cNvPr id="466" name="TextBox 129"/>
          <p:cNvSpPr txBox="1"/>
          <p:nvPr/>
        </p:nvSpPr>
        <p:spPr>
          <a:xfrm>
            <a:off x="467605" y="3945797"/>
            <a:ext cx="716566" cy="334259"/>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2029F</a:t>
            </a:r>
          </a:p>
        </p:txBody>
      </p:sp>
      <p:sp>
        <p:nvSpPr>
          <p:cNvPr id="467" name="TextBox 130"/>
          <p:cNvSpPr txBox="1"/>
          <p:nvPr/>
        </p:nvSpPr>
        <p:spPr>
          <a:xfrm>
            <a:off x="467605" y="5165028"/>
            <a:ext cx="716566" cy="332623"/>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2024E</a:t>
            </a:r>
          </a:p>
        </p:txBody>
      </p:sp>
      <p:sp>
        <p:nvSpPr>
          <p:cNvPr id="468" name="TextBox 131"/>
          <p:cNvSpPr txBox="1"/>
          <p:nvPr/>
        </p:nvSpPr>
        <p:spPr>
          <a:xfrm>
            <a:off x="1269734" y="2205145"/>
            <a:ext cx="1593183"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solidFill>
                <a:prstClr val="black"/>
              </a:solidFill>
            </a:endParaRPr>
          </a:p>
          <a:p>
            <a:pPr algn="ctr"/>
            <a:r>
              <a:rPr lang="en-US" sz="1800" b="1" dirty="0" err="1">
                <a:solidFill>
                  <a:prstClr val="black"/>
                </a:solidFill>
              </a:rPr>
              <a:t>Mn</a:t>
            </a:r>
            <a:endParaRPr lang="en-US" sz="1800" b="1" dirty="0">
              <a:solidFill>
                <a:prstClr val="black"/>
              </a:solidFill>
            </a:endParaRPr>
          </a:p>
        </p:txBody>
      </p:sp>
      <p:sp>
        <p:nvSpPr>
          <p:cNvPr id="469" name="TextBox 132"/>
          <p:cNvSpPr txBox="1"/>
          <p:nvPr/>
        </p:nvSpPr>
        <p:spPr>
          <a:xfrm>
            <a:off x="1269734" y="3667727"/>
            <a:ext cx="1368961"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p>
          <a:p>
            <a:pPr algn="ctr"/>
            <a:r>
              <a:rPr lang="en-US" sz="1800" b="1" dirty="0" err="1">
                <a:solidFill>
                  <a:prstClr val="black"/>
                </a:solidFill>
              </a:rPr>
              <a:t>Mn</a:t>
            </a:r>
            <a:endParaRPr lang="en-US" sz="1800" b="1" dirty="0">
              <a:solidFill>
                <a:prstClr val="black"/>
              </a:solidFill>
            </a:endParaRPr>
          </a:p>
        </p:txBody>
      </p:sp>
      <p:sp>
        <p:nvSpPr>
          <p:cNvPr id="470" name="TextBox 133"/>
          <p:cNvSpPr txBox="1"/>
          <p:nvPr/>
        </p:nvSpPr>
        <p:spPr>
          <a:xfrm>
            <a:off x="1269734" y="4940208"/>
            <a:ext cx="1368961"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p>
          <a:p>
            <a:pPr algn="ctr"/>
            <a:r>
              <a:rPr lang="en-US" sz="1800" b="1" dirty="0" err="1">
                <a:solidFill>
                  <a:prstClr val="black"/>
                </a:solidFill>
              </a:rPr>
              <a:t>Mn</a:t>
            </a:r>
            <a:endParaRPr lang="en-US" sz="1800" b="1" dirty="0">
              <a:solidFill>
                <a:prstClr val="black"/>
              </a:solidFill>
            </a:endParaRPr>
          </a:p>
        </p:txBody>
      </p:sp>
      <p:cxnSp>
        <p:nvCxnSpPr>
          <p:cNvPr id="471" name="Straight Connector 470"/>
          <p:cNvCxnSpPr/>
          <p:nvPr/>
        </p:nvCxnSpPr>
        <p:spPr>
          <a:xfrm>
            <a:off x="3485260" y="4612987"/>
            <a:ext cx="0" cy="1284684"/>
          </a:xfrm>
          <a:prstGeom prst="line">
            <a:avLst/>
          </a:prstGeom>
          <a:ln w="28575">
            <a:solidFill>
              <a:srgbClr val="A6A6A6"/>
            </a:solidFill>
          </a:ln>
        </p:spPr>
        <p:style>
          <a:lnRef idx="1">
            <a:schemeClr val="accent1"/>
          </a:lnRef>
          <a:fillRef idx="0">
            <a:schemeClr val="accent1"/>
          </a:fillRef>
          <a:effectRef idx="0">
            <a:schemeClr val="accent1"/>
          </a:effectRef>
          <a:fontRef idx="minor">
            <a:schemeClr val="tx1"/>
          </a:fontRef>
        </p:style>
      </p:cxnSp>
      <p:sp>
        <p:nvSpPr>
          <p:cNvPr id="472" name="Chevron 471"/>
          <p:cNvSpPr/>
          <p:nvPr/>
        </p:nvSpPr>
        <p:spPr>
          <a:xfrm>
            <a:off x="3389976" y="5190091"/>
            <a:ext cx="190568" cy="145196"/>
          </a:xfrm>
          <a:prstGeom prst="chevron">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black"/>
              </a:solidFill>
            </a:endParaRPr>
          </a:p>
        </p:txBody>
      </p:sp>
      <p:sp>
        <p:nvSpPr>
          <p:cNvPr id="473" name="TextBox 142"/>
          <p:cNvSpPr txBox="1"/>
          <p:nvPr/>
        </p:nvSpPr>
        <p:spPr>
          <a:xfrm>
            <a:off x="4195599" y="4864062"/>
            <a:ext cx="2768961" cy="1309461"/>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751" b="1" dirty="0">
                <a:solidFill>
                  <a:prstClr val="black"/>
                </a:solidFill>
              </a:rPr>
              <a:t>US$ </a:t>
            </a:r>
            <a:r>
              <a:rPr lang="en-US" sz="2800" b="1" dirty="0"/>
              <a:t>xx</a:t>
            </a:r>
          </a:p>
          <a:p>
            <a:pPr algn="ctr"/>
            <a:r>
              <a:rPr lang="en-US" sz="2751" b="1" dirty="0" err="1">
                <a:solidFill>
                  <a:prstClr val="black"/>
                </a:solidFill>
              </a:rPr>
              <a:t>Mn</a:t>
            </a:r>
            <a:endParaRPr lang="en-US" sz="2751" b="1" dirty="0">
              <a:solidFill>
                <a:prstClr val="black"/>
              </a:solidFill>
            </a:endParaRPr>
          </a:p>
          <a:p>
            <a:pPr algn="ctr"/>
            <a:r>
              <a:rPr lang="en-US" sz="1179" b="1" dirty="0">
                <a:solidFill>
                  <a:prstClr val="black"/>
                </a:solidFill>
              </a:rPr>
              <a:t>Incremental $ Opportunity</a:t>
            </a:r>
          </a:p>
          <a:p>
            <a:pPr algn="ctr"/>
            <a:r>
              <a:rPr lang="en-US" sz="1179" b="1" dirty="0">
                <a:solidFill>
                  <a:prstClr val="black"/>
                </a:solidFill>
              </a:rPr>
              <a:t>2023 - 2033</a:t>
            </a:r>
          </a:p>
        </p:txBody>
      </p:sp>
      <p:sp>
        <p:nvSpPr>
          <p:cNvPr id="474" name="TextBox 292"/>
          <p:cNvSpPr txBox="1"/>
          <p:nvPr/>
        </p:nvSpPr>
        <p:spPr>
          <a:xfrm>
            <a:off x="7228567" y="3995932"/>
            <a:ext cx="55868" cy="2144824"/>
          </a:xfrm>
          <a:prstGeom prst="rect">
            <a:avLst/>
          </a:prstGeom>
          <a:solidFill>
            <a:schemeClr val="accent1"/>
          </a:solidFill>
          <a:effectLst/>
        </p:spPr>
        <p:style>
          <a:lnRef idx="0">
            <a:schemeClr val="accent2"/>
          </a:lnRef>
          <a:fillRef idx="3">
            <a:schemeClr val="accent2"/>
          </a:fillRef>
          <a:effectRef idx="3">
            <a:schemeClr val="accent2"/>
          </a:effectRef>
          <a:fontRef idx="minor">
            <a:schemeClr val="lt1"/>
          </a:fontRef>
        </p:style>
        <p:txBody>
          <a:bodyPr wrap="square" rtlCol="0" anchor="ctr">
            <a:noAutofit/>
          </a:bodyP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GB" sz="982" b="1" dirty="0">
              <a:solidFill>
                <a:sysClr val="windowText" lastClr="000000"/>
              </a:solidFill>
            </a:endParaRPr>
          </a:p>
        </p:txBody>
      </p:sp>
      <p:sp>
        <p:nvSpPr>
          <p:cNvPr id="475" name="TextBox 145"/>
          <p:cNvSpPr txBox="1"/>
          <p:nvPr/>
        </p:nvSpPr>
        <p:spPr>
          <a:xfrm>
            <a:off x="4593421" y="3713072"/>
            <a:ext cx="1291742" cy="947695"/>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3200" b="1" dirty="0"/>
              <a:t>XX</a:t>
            </a:r>
            <a:endParaRPr lang="en-US" sz="3144" b="1" dirty="0">
              <a:solidFill>
                <a:prstClr val="black"/>
              </a:solidFill>
            </a:endParaRPr>
          </a:p>
          <a:p>
            <a:pPr algn="ctr"/>
            <a:r>
              <a:rPr lang="en-US" sz="1179" b="1" dirty="0">
                <a:solidFill>
                  <a:prstClr val="black"/>
                </a:solidFill>
              </a:rPr>
              <a:t>Growth</a:t>
            </a:r>
          </a:p>
          <a:p>
            <a:pPr algn="ctr"/>
            <a:r>
              <a:rPr lang="en-US" sz="1179" b="1" dirty="0">
                <a:solidFill>
                  <a:prstClr val="black"/>
                </a:solidFill>
              </a:rPr>
              <a:t>2023 - 2033</a:t>
            </a:r>
          </a:p>
        </p:txBody>
      </p:sp>
      <p:sp>
        <p:nvSpPr>
          <p:cNvPr id="476" name="TextBox 146"/>
          <p:cNvSpPr txBox="1"/>
          <p:nvPr/>
        </p:nvSpPr>
        <p:spPr>
          <a:xfrm>
            <a:off x="7628974" y="5360012"/>
            <a:ext cx="2768961" cy="400110"/>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IN" sz="2000" b="1" dirty="0"/>
              <a:t>Xx </a:t>
            </a:r>
            <a:r>
              <a:rPr lang="en-US" sz="1572" b="1" dirty="0">
                <a:solidFill>
                  <a:prstClr val="black"/>
                </a:solidFill>
              </a:rPr>
              <a:t>(2034F)</a:t>
            </a:r>
          </a:p>
        </p:txBody>
      </p:sp>
      <p:sp>
        <p:nvSpPr>
          <p:cNvPr id="477" name="TextBox 147"/>
          <p:cNvSpPr txBox="1"/>
          <p:nvPr/>
        </p:nvSpPr>
        <p:spPr>
          <a:xfrm>
            <a:off x="7631502" y="4869943"/>
            <a:ext cx="2288398" cy="400110"/>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IN" sz="2000" b="1" dirty="0"/>
              <a:t>Xx </a:t>
            </a:r>
            <a:r>
              <a:rPr lang="en-US" sz="1572" b="1" dirty="0">
                <a:solidFill>
                  <a:prstClr val="black"/>
                </a:solidFill>
              </a:rPr>
              <a:t>(2024E)</a:t>
            </a:r>
          </a:p>
        </p:txBody>
      </p:sp>
      <p:sp>
        <p:nvSpPr>
          <p:cNvPr id="478" name="TextBox 151"/>
          <p:cNvSpPr txBox="1"/>
          <p:nvPr/>
        </p:nvSpPr>
        <p:spPr>
          <a:xfrm>
            <a:off x="7763358" y="4088829"/>
            <a:ext cx="3699179" cy="334259"/>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GB" sz="1572" b="1" dirty="0">
                <a:solidFill>
                  <a:prstClr val="black"/>
                </a:solidFill>
              </a:rPr>
              <a:t>WXYZ Market </a:t>
            </a:r>
            <a:r>
              <a:rPr lang="en-US" sz="1572" b="1" dirty="0">
                <a:solidFill>
                  <a:prstClr val="black"/>
                </a:solidFill>
              </a:rPr>
              <a:t>Volume (Tons)</a:t>
            </a:r>
          </a:p>
        </p:txBody>
      </p:sp>
      <p:pic>
        <p:nvPicPr>
          <p:cNvPr id="479" name="Picture 478"/>
          <p:cNvPicPr>
            <a:picLocks noChangeAspect="1"/>
          </p:cNvPicPr>
          <p:nvPr/>
        </p:nvPicPr>
        <p:blipFill>
          <a:blip r:embed="rId4"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5790291" y="3885195"/>
            <a:ext cx="573333" cy="581624"/>
          </a:xfrm>
          <a:prstGeom prst="rect">
            <a:avLst/>
          </a:prstGeom>
        </p:spPr>
      </p:pic>
      <p:grpSp>
        <p:nvGrpSpPr>
          <p:cNvPr id="480" name="Group 479"/>
          <p:cNvGrpSpPr/>
          <p:nvPr/>
        </p:nvGrpSpPr>
        <p:grpSpPr>
          <a:xfrm>
            <a:off x="10255825" y="4603620"/>
            <a:ext cx="1005448" cy="1132827"/>
            <a:chOff x="6615292" y="2096313"/>
            <a:chExt cx="1023376" cy="1153027"/>
          </a:xfrm>
        </p:grpSpPr>
        <p:sp>
          <p:nvSpPr>
            <p:cNvPr id="481" name="TextBox 594"/>
            <p:cNvSpPr txBox="1"/>
            <p:nvPr/>
          </p:nvSpPr>
          <p:spPr>
            <a:xfrm>
              <a:off x="6615292" y="2330852"/>
              <a:ext cx="959125" cy="407244"/>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000" b="1" spc="-147" dirty="0">
                  <a:solidFill>
                    <a:srgbClr val="2A5F8F">
                      <a:lumMod val="50000"/>
                    </a:srgbClr>
                  </a:solidFill>
                  <a:cs typeface="FrankRuehl" panose="020E0503060101010101" pitchFamily="34" charset="-79"/>
                </a:rPr>
                <a:t>CAGR </a:t>
              </a:r>
            </a:p>
          </p:txBody>
        </p:sp>
        <p:sp>
          <p:nvSpPr>
            <p:cNvPr id="482" name="TextBox 595"/>
            <p:cNvSpPr txBox="1"/>
            <p:nvPr/>
          </p:nvSpPr>
          <p:spPr>
            <a:xfrm>
              <a:off x="6667912" y="2716790"/>
              <a:ext cx="970756" cy="532550"/>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800" b="1" dirty="0">
                  <a:solidFill>
                    <a:srgbClr val="2A5F8F">
                      <a:lumMod val="50000"/>
                    </a:srgbClr>
                  </a:solidFill>
                  <a:latin typeface="Agency FB" panose="020B0503020202020204" pitchFamily="34" charset="0"/>
                </a:rPr>
                <a:t>xx%</a:t>
              </a:r>
            </a:p>
          </p:txBody>
        </p:sp>
        <p:sp>
          <p:nvSpPr>
            <p:cNvPr id="483" name="TextBox 596"/>
            <p:cNvSpPr txBox="1"/>
            <p:nvPr/>
          </p:nvSpPr>
          <p:spPr>
            <a:xfrm>
              <a:off x="6732162" y="2096313"/>
              <a:ext cx="858124" cy="212931"/>
            </a:xfrm>
            <a:prstGeom prst="rect">
              <a:avLst/>
            </a:prstGeom>
            <a:noFill/>
          </p:spPr>
          <p:txBody>
            <a:bodyPr wrap="square" lIns="0" tIns="0" rIns="0" bIns="0" rtlCol="0">
              <a:no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defTabSz="898398">
                <a:defRPr/>
              </a:pPr>
              <a:r>
                <a:rPr lang="en-GB" sz="1800" b="1" kern="0" dirty="0">
                  <a:solidFill>
                    <a:srgbClr val="2A5F8F">
                      <a:lumMod val="50000"/>
                    </a:srgbClr>
                  </a:solidFill>
                </a:rPr>
                <a:t>Volume</a:t>
              </a:r>
            </a:p>
          </p:txBody>
        </p:sp>
      </p:grpSp>
      <p:grpSp>
        <p:nvGrpSpPr>
          <p:cNvPr id="484" name="Group 483"/>
          <p:cNvGrpSpPr/>
          <p:nvPr/>
        </p:nvGrpSpPr>
        <p:grpSpPr>
          <a:xfrm>
            <a:off x="10896939" y="1965146"/>
            <a:ext cx="1295061" cy="1132827"/>
            <a:chOff x="6615292" y="2096313"/>
            <a:chExt cx="1023376" cy="1153027"/>
          </a:xfrm>
        </p:grpSpPr>
        <p:sp>
          <p:nvSpPr>
            <p:cNvPr id="485" name="TextBox 604"/>
            <p:cNvSpPr txBox="1"/>
            <p:nvPr/>
          </p:nvSpPr>
          <p:spPr>
            <a:xfrm>
              <a:off x="6615292" y="2330852"/>
              <a:ext cx="959125" cy="407245"/>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000" b="1" spc="-147" dirty="0">
                  <a:solidFill>
                    <a:srgbClr val="2A5F8F">
                      <a:lumMod val="50000"/>
                    </a:srgbClr>
                  </a:solidFill>
                  <a:cs typeface="FrankRuehl" panose="020E0503060101010101" pitchFamily="34" charset="-79"/>
                </a:rPr>
                <a:t>CAGR </a:t>
              </a:r>
            </a:p>
          </p:txBody>
        </p:sp>
        <p:sp>
          <p:nvSpPr>
            <p:cNvPr id="486" name="TextBox 605"/>
            <p:cNvSpPr txBox="1"/>
            <p:nvPr/>
          </p:nvSpPr>
          <p:spPr>
            <a:xfrm>
              <a:off x="6667912" y="2716790"/>
              <a:ext cx="970756" cy="532550"/>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800" b="1" dirty="0">
                  <a:solidFill>
                    <a:srgbClr val="2A5F8F">
                      <a:lumMod val="50000"/>
                    </a:srgbClr>
                  </a:solidFill>
                  <a:latin typeface="Agency FB" panose="020B0503020202020204" pitchFamily="34" charset="0"/>
                </a:rPr>
                <a:t>xx%</a:t>
              </a:r>
            </a:p>
          </p:txBody>
        </p:sp>
        <p:sp>
          <p:nvSpPr>
            <p:cNvPr id="487" name="TextBox 606"/>
            <p:cNvSpPr txBox="1"/>
            <p:nvPr/>
          </p:nvSpPr>
          <p:spPr>
            <a:xfrm>
              <a:off x="6732162" y="2096313"/>
              <a:ext cx="725385" cy="248712"/>
            </a:xfrm>
            <a:prstGeom prst="rect">
              <a:avLst/>
            </a:prstGeom>
            <a:noFill/>
          </p:spPr>
          <p:txBody>
            <a:bodyPr wrap="square" lIns="0" tIns="0" rIns="0" bIns="0" rtlCol="0">
              <a:no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defTabSz="898398">
                <a:defRPr/>
              </a:pPr>
              <a:r>
                <a:rPr lang="en-GB" sz="1800" b="1" kern="0" dirty="0">
                  <a:solidFill>
                    <a:srgbClr val="2A5F8F">
                      <a:lumMod val="50000"/>
                    </a:srgbClr>
                  </a:solidFill>
                </a:rPr>
                <a:t>Value</a:t>
              </a:r>
            </a:p>
          </p:txBody>
        </p:sp>
      </p:grpSp>
      <p:sp>
        <p:nvSpPr>
          <p:cNvPr id="488" name="TextBox 597"/>
          <p:cNvSpPr txBox="1"/>
          <p:nvPr/>
        </p:nvSpPr>
        <p:spPr>
          <a:xfrm>
            <a:off x="6248400" y="1131672"/>
            <a:ext cx="5791200" cy="502920"/>
          </a:xfrm>
          <a:prstGeom prst="rect">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pPr algn="ctr"/>
            <a:r>
              <a:rPr lang="en-GB" sz="1376" b="1" dirty="0">
                <a:solidFill>
                  <a:prstClr val="black"/>
                </a:solidFill>
              </a:rPr>
              <a:t>South Asia Pacific WXYZ Market Incremental $ Opportunity, 2019 and 2023-2034</a:t>
            </a:r>
          </a:p>
        </p:txBody>
      </p:sp>
      <p:cxnSp>
        <p:nvCxnSpPr>
          <p:cNvPr id="489" name="Straight Connector 488"/>
          <p:cNvCxnSpPr/>
          <p:nvPr/>
        </p:nvCxnSpPr>
        <p:spPr>
          <a:xfrm>
            <a:off x="7714740" y="5300649"/>
            <a:ext cx="1848801" cy="0"/>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491" name="Content Placeholder 13"/>
          <p:cNvGraphicFramePr>
            <a:graphicFrameLocks/>
          </p:cNvGraphicFramePr>
          <p:nvPr/>
        </p:nvGraphicFramePr>
        <p:xfrm>
          <a:off x="6512366" y="1694610"/>
          <a:ext cx="4585089" cy="1920875"/>
        </p:xfrm>
        <a:graphic>
          <a:graphicData uri="http://schemas.openxmlformats.org/drawingml/2006/chart">
            <c:chart xmlns:c="http://schemas.openxmlformats.org/drawingml/2006/chart" xmlns:r="http://schemas.openxmlformats.org/officeDocument/2006/relationships" r:id="rId5"/>
          </a:graphicData>
        </a:graphic>
      </p:graphicFrame>
      <p:sp>
        <p:nvSpPr>
          <p:cNvPr id="493" name="TextBox 49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223</a:t>
            </a:fld>
            <a:endParaRPr lang="en-GB" dirty="0"/>
          </a:p>
        </p:txBody>
      </p:sp>
    </p:spTree>
    <p:extLst>
      <p:ext uri="{BB962C8B-B14F-4D97-AF65-F5344CB8AC3E}">
        <p14:creationId xmlns:p14="http://schemas.microsoft.com/office/powerpoint/2010/main" val="309531328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 South Asia Pacific WXYZ Market Analysis By Country</a:t>
            </a:r>
          </a:p>
        </p:txBody>
      </p:sp>
      <p:sp>
        <p:nvSpPr>
          <p:cNvPr id="7" name="Text Placeholder 6"/>
          <p:cNvSpPr>
            <a:spLocks noGrp="1"/>
          </p:cNvSpPr>
          <p:nvPr>
            <p:ph type="body" idx="12"/>
          </p:nvPr>
        </p:nvSpPr>
        <p:spPr/>
        <p:txBody>
          <a:bodyPr/>
          <a:lstStyle/>
          <a:p>
            <a:r>
              <a:rPr lang="en-US" sz="1100" dirty="0"/>
              <a:t>Figure XX:  South Asia Pacific WXYZ Market Share and BPS Analysis By Country, 2024 &amp; 2034</a:t>
            </a:r>
          </a:p>
        </p:txBody>
      </p:sp>
      <p:sp>
        <p:nvSpPr>
          <p:cNvPr id="9" name="Text Placeholder 8"/>
          <p:cNvSpPr>
            <a:spLocks noGrp="1"/>
          </p:cNvSpPr>
          <p:nvPr>
            <p:ph type="body" idx="14"/>
          </p:nvPr>
        </p:nvSpPr>
        <p:spPr/>
        <p:txBody>
          <a:bodyPr/>
          <a:lstStyle/>
          <a:p>
            <a:r>
              <a:rPr lang="en-US" sz="1100" dirty="0"/>
              <a:t>Figure XX:  South Asia Pacific WXYZ Market Y-o-Y Growth Projections By Country, 2024 – 2034</a:t>
            </a:r>
          </a:p>
        </p:txBody>
      </p:sp>
      <p:sp>
        <p:nvSpPr>
          <p:cNvPr id="11" name="Text Placeholder 10"/>
          <p:cNvSpPr>
            <a:spLocks noGrp="1"/>
          </p:cNvSpPr>
          <p:nvPr>
            <p:ph type="body" idx="16"/>
          </p:nvPr>
        </p:nvSpPr>
        <p:spPr/>
        <p:txBody>
          <a:bodyPr/>
          <a:lstStyle/>
          <a:p>
            <a:r>
              <a:rPr lang="en-US" dirty="0"/>
              <a:t>Figure XX:  South Asia Pacific WXYZ Market Attractiveness Analysis By Country, 2024 – 2034</a:t>
            </a:r>
          </a:p>
        </p:txBody>
      </p:sp>
      <p:sp>
        <p:nvSpPr>
          <p:cNvPr id="13" name="TextBox 1"/>
          <p:cNvSpPr txBox="1"/>
          <p:nvPr/>
        </p:nvSpPr>
        <p:spPr>
          <a:xfrm>
            <a:off x="787953" y="1635898"/>
            <a:ext cx="71013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XX </a:t>
            </a:r>
            <a:r>
              <a:rPr lang="en-US" sz="1200" b="1" dirty="0" err="1"/>
              <a:t>Mn</a:t>
            </a:r>
            <a:endParaRPr lang="en-US" sz="1200" b="1" dirty="0"/>
          </a:p>
        </p:txBody>
      </p:sp>
      <p:sp>
        <p:nvSpPr>
          <p:cNvPr id="14" name="TextBox 9"/>
          <p:cNvSpPr txBox="1"/>
          <p:nvPr/>
        </p:nvSpPr>
        <p:spPr>
          <a:xfrm>
            <a:off x="2479487" y="1651506"/>
            <a:ext cx="71013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XX </a:t>
            </a:r>
            <a:r>
              <a:rPr lang="en-US" sz="1200" b="1" dirty="0" err="1"/>
              <a:t>Mn</a:t>
            </a:r>
            <a:endParaRPr lang="en-US" sz="1200" b="1" dirty="0"/>
          </a:p>
        </p:txBody>
      </p:sp>
      <p:sp>
        <p:nvSpPr>
          <p:cNvPr id="12" name="TextBox 1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5" name="Content Placeholder 19"/>
          <p:cNvGraphicFramePr>
            <a:graphicFrameLocks noGrp="1"/>
          </p:cNvGraphicFramePr>
          <p:nvPr>
            <p:ph idx="15"/>
            <p:extLst>
              <p:ext uri="{D42A27DB-BD31-4B8C-83A1-F6EECF244321}">
                <p14:modId xmlns:p14="http://schemas.microsoft.com/office/powerpoint/2010/main" val="4104042030"/>
              </p:ext>
            </p:extLst>
          </p:nvPr>
        </p:nvGraphicFramePr>
        <p:xfrm>
          <a:off x="8274050" y="1612900"/>
          <a:ext cx="3768725" cy="459422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6" name="Content Placeholder 17"/>
          <p:cNvGraphicFramePr>
            <a:graphicFrameLocks noGrp="1"/>
          </p:cNvGraphicFramePr>
          <p:nvPr>
            <p:ph idx="13"/>
            <p:extLst>
              <p:ext uri="{D42A27DB-BD31-4B8C-83A1-F6EECF244321}">
                <p14:modId xmlns:p14="http://schemas.microsoft.com/office/powerpoint/2010/main" val="2779583908"/>
              </p:ext>
            </p:extLst>
          </p:nvPr>
        </p:nvGraphicFramePr>
        <p:xfrm>
          <a:off x="4213225" y="1612900"/>
          <a:ext cx="3768725" cy="459422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8" name="Content Placeholder 14"/>
          <p:cNvGraphicFramePr>
            <a:graphicFrameLocks noGrp="1"/>
          </p:cNvGraphicFramePr>
          <p:nvPr>
            <p:ph idx="1"/>
            <p:extLst>
              <p:ext uri="{D42A27DB-BD31-4B8C-83A1-F6EECF244321}">
                <p14:modId xmlns:p14="http://schemas.microsoft.com/office/powerpoint/2010/main" val="990014668"/>
              </p:ext>
            </p:extLst>
          </p:nvPr>
        </p:nvGraphicFramePr>
        <p:xfrm>
          <a:off x="152400" y="1635898"/>
          <a:ext cx="3768725" cy="4571227"/>
        </p:xfrm>
        <a:graphic>
          <a:graphicData uri="http://schemas.openxmlformats.org/drawingml/2006/chart">
            <c:chart xmlns:c="http://schemas.openxmlformats.org/drawingml/2006/chart" xmlns:r="http://schemas.openxmlformats.org/officeDocument/2006/relationships" r:id="rId4"/>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224</a:t>
            </a:fld>
            <a:endParaRPr lang="en-GB" dirty="0"/>
          </a:p>
        </p:txBody>
      </p:sp>
    </p:spTree>
    <p:extLst>
      <p:ext uri="{BB962C8B-B14F-4D97-AF65-F5344CB8AC3E}">
        <p14:creationId xmlns:p14="http://schemas.microsoft.com/office/powerpoint/2010/main" val="657132248"/>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South Asia Pacific WXYZ Market Analysis By Country</a:t>
            </a:r>
          </a:p>
        </p:txBody>
      </p:sp>
      <p:sp>
        <p:nvSpPr>
          <p:cNvPr id="6" name="Text Placeholder 5"/>
          <p:cNvSpPr>
            <a:spLocks noGrp="1"/>
          </p:cNvSpPr>
          <p:nvPr>
            <p:ph type="body" idx="12"/>
          </p:nvPr>
        </p:nvSpPr>
        <p:spPr/>
        <p:txBody>
          <a:bodyPr/>
          <a:lstStyle/>
          <a:p>
            <a:r>
              <a:rPr lang="en-US" sz="1400" dirty="0"/>
              <a:t>Table 21: South Asia Pacific WXYZ Market Size (US$ </a:t>
            </a:r>
            <a:r>
              <a:rPr lang="en-US" sz="1400" dirty="0" err="1"/>
              <a:t>Mn</a:t>
            </a:r>
            <a:r>
              <a:rPr lang="en-US" sz="1400" dirty="0"/>
              <a:t>) and Volume (Tons) Analysis and Forecast By Country, 2019 – 2034</a:t>
            </a:r>
          </a:p>
        </p:txBody>
      </p:sp>
      <p:graphicFrame>
        <p:nvGraphicFramePr>
          <p:cNvPr id="7" name="Content Placeholder 9"/>
          <p:cNvGraphicFramePr>
            <a:graphicFrameLocks/>
          </p:cNvGraphicFramePr>
          <p:nvPr>
            <p:extLst>
              <p:ext uri="{D42A27DB-BD31-4B8C-83A1-F6EECF244321}">
                <p14:modId xmlns:p14="http://schemas.microsoft.com/office/powerpoint/2010/main" val="556911258"/>
              </p:ext>
            </p:extLst>
          </p:nvPr>
        </p:nvGraphicFramePr>
        <p:xfrm>
          <a:off x="152399" y="1667275"/>
          <a:ext cx="11887207" cy="4283358"/>
        </p:xfrm>
        <a:graphic>
          <a:graphicData uri="http://schemas.openxmlformats.org/drawingml/2006/table">
            <a:tbl>
              <a:tblPr firstRow="1" bandRow="1">
                <a:tableStyleId>{5C22544A-7EE6-4342-B048-85BDC9FD1C3A}</a:tableStyleId>
              </a:tblPr>
              <a:tblGrid>
                <a:gridCol w="897220">
                  <a:extLst>
                    <a:ext uri="{9D8B030D-6E8A-4147-A177-3AD203B41FA5}">
                      <a16:colId xmlns:a16="http://schemas.microsoft.com/office/drawing/2014/main" val="20000"/>
                    </a:ext>
                  </a:extLst>
                </a:gridCol>
                <a:gridCol w="360618">
                  <a:extLst>
                    <a:ext uri="{9D8B030D-6E8A-4147-A177-3AD203B41FA5}">
                      <a16:colId xmlns:a16="http://schemas.microsoft.com/office/drawing/2014/main" val="20018"/>
                    </a:ext>
                  </a:extLst>
                </a:gridCol>
                <a:gridCol w="625257">
                  <a:extLst>
                    <a:ext uri="{9D8B030D-6E8A-4147-A177-3AD203B41FA5}">
                      <a16:colId xmlns:a16="http://schemas.microsoft.com/office/drawing/2014/main" val="20001"/>
                    </a:ext>
                  </a:extLst>
                </a:gridCol>
                <a:gridCol w="625257">
                  <a:extLst>
                    <a:ext uri="{9D8B030D-6E8A-4147-A177-3AD203B41FA5}">
                      <a16:colId xmlns:a16="http://schemas.microsoft.com/office/drawing/2014/main" val="20002"/>
                    </a:ext>
                  </a:extLst>
                </a:gridCol>
                <a:gridCol w="625257">
                  <a:extLst>
                    <a:ext uri="{9D8B030D-6E8A-4147-A177-3AD203B41FA5}">
                      <a16:colId xmlns:a16="http://schemas.microsoft.com/office/drawing/2014/main" val="20003"/>
                    </a:ext>
                  </a:extLst>
                </a:gridCol>
                <a:gridCol w="625257">
                  <a:extLst>
                    <a:ext uri="{9D8B030D-6E8A-4147-A177-3AD203B41FA5}">
                      <a16:colId xmlns:a16="http://schemas.microsoft.com/office/drawing/2014/main" val="20004"/>
                    </a:ext>
                  </a:extLst>
                </a:gridCol>
                <a:gridCol w="625257">
                  <a:extLst>
                    <a:ext uri="{9D8B030D-6E8A-4147-A177-3AD203B41FA5}">
                      <a16:colId xmlns:a16="http://schemas.microsoft.com/office/drawing/2014/main" val="20005"/>
                    </a:ext>
                  </a:extLst>
                </a:gridCol>
                <a:gridCol w="625257">
                  <a:extLst>
                    <a:ext uri="{9D8B030D-6E8A-4147-A177-3AD203B41FA5}">
                      <a16:colId xmlns:a16="http://schemas.microsoft.com/office/drawing/2014/main" val="20006"/>
                    </a:ext>
                  </a:extLst>
                </a:gridCol>
                <a:gridCol w="625257">
                  <a:extLst>
                    <a:ext uri="{9D8B030D-6E8A-4147-A177-3AD203B41FA5}">
                      <a16:colId xmlns:a16="http://schemas.microsoft.com/office/drawing/2014/main" val="20007"/>
                    </a:ext>
                  </a:extLst>
                </a:gridCol>
                <a:gridCol w="625257">
                  <a:extLst>
                    <a:ext uri="{9D8B030D-6E8A-4147-A177-3AD203B41FA5}">
                      <a16:colId xmlns:a16="http://schemas.microsoft.com/office/drawing/2014/main" val="20008"/>
                    </a:ext>
                  </a:extLst>
                </a:gridCol>
                <a:gridCol w="625257">
                  <a:extLst>
                    <a:ext uri="{9D8B030D-6E8A-4147-A177-3AD203B41FA5}">
                      <a16:colId xmlns:a16="http://schemas.microsoft.com/office/drawing/2014/main" val="20009"/>
                    </a:ext>
                  </a:extLst>
                </a:gridCol>
                <a:gridCol w="625257">
                  <a:extLst>
                    <a:ext uri="{9D8B030D-6E8A-4147-A177-3AD203B41FA5}">
                      <a16:colId xmlns:a16="http://schemas.microsoft.com/office/drawing/2014/main" val="20010"/>
                    </a:ext>
                  </a:extLst>
                </a:gridCol>
                <a:gridCol w="625257">
                  <a:extLst>
                    <a:ext uri="{9D8B030D-6E8A-4147-A177-3AD203B41FA5}">
                      <a16:colId xmlns:a16="http://schemas.microsoft.com/office/drawing/2014/main" val="20011"/>
                    </a:ext>
                  </a:extLst>
                </a:gridCol>
                <a:gridCol w="625257">
                  <a:extLst>
                    <a:ext uri="{9D8B030D-6E8A-4147-A177-3AD203B41FA5}">
                      <a16:colId xmlns:a16="http://schemas.microsoft.com/office/drawing/2014/main" val="20012"/>
                    </a:ext>
                  </a:extLst>
                </a:gridCol>
                <a:gridCol w="625257">
                  <a:extLst>
                    <a:ext uri="{9D8B030D-6E8A-4147-A177-3AD203B41FA5}">
                      <a16:colId xmlns:a16="http://schemas.microsoft.com/office/drawing/2014/main" val="20013"/>
                    </a:ext>
                  </a:extLst>
                </a:gridCol>
                <a:gridCol w="625257">
                  <a:extLst>
                    <a:ext uri="{9D8B030D-6E8A-4147-A177-3AD203B41FA5}">
                      <a16:colId xmlns:a16="http://schemas.microsoft.com/office/drawing/2014/main" val="20014"/>
                    </a:ext>
                  </a:extLst>
                </a:gridCol>
                <a:gridCol w="625257">
                  <a:extLst>
                    <a:ext uri="{9D8B030D-6E8A-4147-A177-3AD203B41FA5}">
                      <a16:colId xmlns:a16="http://schemas.microsoft.com/office/drawing/2014/main" val="20015"/>
                    </a:ext>
                  </a:extLst>
                </a:gridCol>
                <a:gridCol w="625257">
                  <a:extLst>
                    <a:ext uri="{9D8B030D-6E8A-4147-A177-3AD203B41FA5}">
                      <a16:colId xmlns:a16="http://schemas.microsoft.com/office/drawing/2014/main" val="20016"/>
                    </a:ext>
                  </a:extLst>
                </a:gridCol>
                <a:gridCol w="625257">
                  <a:extLst>
                    <a:ext uri="{9D8B030D-6E8A-4147-A177-3AD203B41FA5}">
                      <a16:colId xmlns:a16="http://schemas.microsoft.com/office/drawing/2014/main" val="20017"/>
                    </a:ext>
                  </a:extLst>
                </a:gridCol>
              </a:tblGrid>
              <a:tr h="1034682">
                <a:tc gridSpan="2">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dirty="0"/>
                        <a:t>Country</a:t>
                      </a:r>
                      <a:endParaRPr lang="en-US" sz="1100" b="1" i="0" baseline="0" dirty="0">
                        <a:solidFill>
                          <a:schemeClr val="tx1"/>
                        </a:solidFill>
                        <a:latin typeface="+mn-lt"/>
                      </a:endParaRPr>
                    </a:p>
                  </a:txBody>
                  <a:tcPr marR="0" marT="0" marB="0" anchor="ctr"/>
                </a:tc>
                <a:tc hMerge="1">
                  <a:txBody>
                    <a:bodyPr/>
                    <a:lstStyle/>
                    <a:p>
                      <a:pPr algn="ctr"/>
                      <a:endParaRPr lang="en-US" sz="10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308414">
                <a:tc rowSpan="2">
                  <a:txBody>
                    <a:bodyPr/>
                    <a:lstStyle/>
                    <a:p>
                      <a:pPr marL="0" algn="l" defTabSz="914400" rtl="0" eaLnBrk="1" latinLnBrk="0" hangingPunct="1"/>
                      <a:r>
                        <a:rPr lang="en-IN" sz="1100" b="1" i="0" kern="1200" baseline="0" dirty="0">
                          <a:solidFill>
                            <a:prstClr val="black"/>
                          </a:solidFill>
                          <a:latin typeface="Calibri" panose="020F0502020204030204"/>
                          <a:ea typeface="Malgun Gothic" panose="020B0503020000020004" pitchFamily="34" charset="-127"/>
                          <a:cs typeface=""/>
                        </a:rPr>
                        <a:t>India</a:t>
                      </a:r>
                      <a:endParaRPr lang="en-US" sz="11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2"/>
                  </a:ext>
                </a:extLst>
              </a:tr>
              <a:tr h="308414">
                <a:tc vMerge="1">
                  <a:txBody>
                    <a:bodyPr/>
                    <a:lstStyle/>
                    <a:p>
                      <a:pPr marL="0" algn="l" defTabSz="914400" rtl="0" eaLnBrk="1" latinLnBrk="0" hangingPunct="1"/>
                      <a:endParaRPr lang="en-US" sz="11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5"/>
                  </a:ext>
                </a:extLst>
              </a:tr>
              <a:tr h="472950">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algn="l" defTabSz="914400" rtl="0" eaLnBrk="1" latinLnBrk="0" hangingPunct="1"/>
                      <a:r>
                        <a:rPr lang="en-US" sz="1100" b="1" i="0" kern="1200" baseline="0" dirty="0">
                          <a:solidFill>
                            <a:prstClr val="black"/>
                          </a:solidFill>
                          <a:latin typeface="Calibri" panose="020F0502020204030204"/>
                          <a:ea typeface="Malgun Gothic" panose="020B0503020000020004" pitchFamily="34" charset="-127"/>
                          <a:cs typeface=""/>
                        </a:rPr>
                        <a:t>ASEAN</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308414">
                <a:tc vMerge="1">
                  <a:txBody>
                    <a:bodyPr/>
                    <a:lstStyle/>
                    <a:p>
                      <a:endParaRPr lang="en-US" dirty="0"/>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308414">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100" b="1" i="0" kern="1200" baseline="0" dirty="0">
                          <a:solidFill>
                            <a:prstClr val="black"/>
                          </a:solidFill>
                          <a:latin typeface="+mn-lt"/>
                          <a:ea typeface="Malgun Gothic" panose="020B0503020000020004" pitchFamily="34" charset="-127"/>
                          <a:cs typeface=""/>
                        </a:rPr>
                        <a:t>ANZ</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308414">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30841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algn="l"/>
                      <a:r>
                        <a:rPr lang="en-US" sz="1100" b="1" i="0" baseline="0" dirty="0">
                          <a:latin typeface="+mn-lt"/>
                        </a:rPr>
                        <a:t>Rest of SAP</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308414">
                <a:tc vMerge="1">
                  <a:txBody>
                    <a:bodyPr/>
                    <a:lstStyle/>
                    <a:p>
                      <a:endParaRPr lang="en-US"/>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308414">
                <a:tc rowSpan="2">
                  <a:txBody>
                    <a:bodyPr/>
                    <a:lstStyle/>
                    <a:p>
                      <a:pPr algn="l"/>
                      <a:r>
                        <a:rPr lang="en-IN" sz="1100" b="1" i="0" baseline="0" dirty="0">
                          <a:latin typeface="+mn-lt"/>
                        </a:rPr>
                        <a:t>Total</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30841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bl>
          </a:graphicData>
        </a:graphic>
      </p:graphicFrame>
      <p:sp>
        <p:nvSpPr>
          <p:cNvPr id="8" name="TextBox 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225</a:t>
            </a:fld>
            <a:endParaRPr lang="en-GB" dirty="0"/>
          </a:p>
        </p:txBody>
      </p:sp>
    </p:spTree>
    <p:extLst>
      <p:ext uri="{BB962C8B-B14F-4D97-AF65-F5344CB8AC3E}">
        <p14:creationId xmlns:p14="http://schemas.microsoft.com/office/powerpoint/2010/main" val="1481535854"/>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South Asia Pacific WXYZ Market Absolute $ Opportunity Analysis By Country</a:t>
            </a:r>
            <a:endParaRPr lang="en-IN" dirty="0"/>
          </a:p>
        </p:txBody>
      </p:sp>
      <p:sp>
        <p:nvSpPr>
          <p:cNvPr id="5" name="Text Placeholder 4"/>
          <p:cNvSpPr>
            <a:spLocks noGrp="1"/>
          </p:cNvSpPr>
          <p:nvPr>
            <p:ph type="body" idx="12"/>
          </p:nvPr>
        </p:nvSpPr>
        <p:spPr>
          <a:noFill/>
        </p:spPr>
        <p:txBody>
          <a:bodyPr anchor="ctr"/>
          <a:lstStyle/>
          <a:p>
            <a:r>
              <a:rPr lang="en-US" dirty="0"/>
              <a:t>FIG: South Asia Pacific Incremental $ Opportunity By Country, 2024-2034</a:t>
            </a:r>
          </a:p>
        </p:txBody>
      </p:sp>
      <p:sp>
        <p:nvSpPr>
          <p:cNvPr id="6" name="Text Placeholder 5"/>
          <p:cNvSpPr>
            <a:spLocks noGrp="1"/>
          </p:cNvSpPr>
          <p:nvPr>
            <p:ph type="body" idx="14"/>
          </p:nvPr>
        </p:nvSpPr>
        <p:spPr>
          <a:noFill/>
        </p:spPr>
        <p:txBody>
          <a:bodyPr vert="horz" lIns="91440" tIns="91440" rIns="91440" bIns="91440" rtlCol="0" anchor="ctr">
            <a:noAutofit/>
          </a:bodyPr>
          <a:lstStyle/>
          <a:p>
            <a:pPr algn="ctr"/>
            <a:r>
              <a:rPr lang="en-US" dirty="0"/>
              <a:t>Key Takeaways</a:t>
            </a:r>
          </a:p>
        </p:txBody>
      </p:sp>
      <p:pic>
        <p:nvPicPr>
          <p:cNvPr id="3" name="Picture 2"/>
          <p:cNvPicPr>
            <a:picLocks noChangeAspect="1"/>
          </p:cNvPicPr>
          <p:nvPr/>
        </p:nvPicPr>
        <p:blipFill>
          <a:blip r:embed="rId2"/>
          <a:stretch>
            <a:fillRect/>
          </a:stretch>
        </p:blipFill>
        <p:spPr>
          <a:xfrm>
            <a:off x="6277857" y="1612797"/>
            <a:ext cx="5761743" cy="4399280"/>
          </a:xfrm>
          <a:prstGeom prst="rect">
            <a:avLst/>
          </a:prstGeom>
        </p:spPr>
      </p:pic>
      <p:sp>
        <p:nvSpPr>
          <p:cNvPr id="12" name="TextBox 1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1" name="Content Placeholder 13"/>
          <p:cNvGraphicFramePr>
            <a:graphicFrameLocks noGrp="1"/>
          </p:cNvGraphicFramePr>
          <p:nvPr>
            <p:ph idx="1"/>
            <p:extLst>
              <p:ext uri="{D42A27DB-BD31-4B8C-83A1-F6EECF244321}">
                <p14:modId xmlns:p14="http://schemas.microsoft.com/office/powerpoint/2010/main" val="1474179459"/>
              </p:ext>
            </p:extLst>
          </p:nvPr>
        </p:nvGraphicFramePr>
        <p:xfrm>
          <a:off x="152400" y="1612900"/>
          <a:ext cx="5764213" cy="459422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226</a:t>
            </a:fld>
            <a:endParaRPr lang="en-GB" dirty="0"/>
          </a:p>
        </p:txBody>
      </p:sp>
    </p:spTree>
    <p:extLst>
      <p:ext uri="{BB962C8B-B14F-4D97-AF65-F5344CB8AC3E}">
        <p14:creationId xmlns:p14="http://schemas.microsoft.com/office/powerpoint/2010/main" val="343076415"/>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227</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227</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Western Europe WXYZ Market Analysis 2019 – 2023 and Forecast, 2024 – 2034</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227</a:t>
            </a:r>
          </a:p>
        </p:txBody>
      </p:sp>
    </p:spTree>
    <p:extLst>
      <p:ext uri="{BB962C8B-B14F-4D97-AF65-F5344CB8AC3E}">
        <p14:creationId xmlns:p14="http://schemas.microsoft.com/office/powerpoint/2010/main" val="610372612"/>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Introduction</a:t>
            </a:r>
          </a:p>
        </p:txBody>
      </p:sp>
      <p:grpSp>
        <p:nvGrpSpPr>
          <p:cNvPr id="6" name="Group 5"/>
          <p:cNvGrpSpPr>
            <a:grpSpLocks/>
          </p:cNvGrpSpPr>
          <p:nvPr/>
        </p:nvGrpSpPr>
        <p:grpSpPr bwMode="auto">
          <a:xfrm>
            <a:off x="4199256" y="3530036"/>
            <a:ext cx="7519132" cy="2513907"/>
            <a:chOff x="96" y="1152"/>
            <a:chExt cx="5568" cy="2642"/>
          </a:xfrm>
          <a:solidFill>
            <a:srgbClr val="EBF2F9"/>
          </a:solidFill>
        </p:grpSpPr>
        <p:sp>
          <p:nvSpPr>
            <p:cNvPr id="7" name="Freeform 6"/>
            <p:cNvSpPr>
              <a:spLocks/>
            </p:cNvSpPr>
            <p:nvPr/>
          </p:nvSpPr>
          <p:spPr bwMode="auto">
            <a:xfrm>
              <a:off x="4358" y="2676"/>
              <a:ext cx="6" cy="5"/>
            </a:xfrm>
            <a:custGeom>
              <a:avLst/>
              <a:gdLst/>
              <a:ahLst/>
              <a:cxnLst>
                <a:cxn ang="0">
                  <a:pos x="6" y="1"/>
                </a:cxn>
                <a:cxn ang="0">
                  <a:pos x="0" y="2"/>
                </a:cxn>
                <a:cxn ang="0">
                  <a:pos x="0" y="0"/>
                </a:cxn>
                <a:cxn ang="0">
                  <a:pos x="6" y="1"/>
                </a:cxn>
              </a:cxnLst>
              <a:rect l="0" t="0" r="r" b="b"/>
              <a:pathLst>
                <a:path w="6" h="2">
                  <a:moveTo>
                    <a:pt x="6" y="1"/>
                  </a:moveTo>
                  <a:lnTo>
                    <a:pt x="0" y="2"/>
                  </a:lnTo>
                  <a:lnTo>
                    <a:pt x="0" y="0"/>
                  </a:lnTo>
                  <a:lnTo>
                    <a:pt x="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 name="Freeform 7"/>
            <p:cNvSpPr>
              <a:spLocks/>
            </p:cNvSpPr>
            <p:nvPr/>
          </p:nvSpPr>
          <p:spPr bwMode="auto">
            <a:xfrm>
              <a:off x="4451" y="2619"/>
              <a:ext cx="175" cy="166"/>
            </a:xfrm>
            <a:custGeom>
              <a:avLst/>
              <a:gdLst/>
              <a:ahLst/>
              <a:cxnLst>
                <a:cxn ang="0">
                  <a:pos x="158" y="62"/>
                </a:cxn>
                <a:cxn ang="0">
                  <a:pos x="144" y="61"/>
                </a:cxn>
                <a:cxn ang="0">
                  <a:pos x="143" y="60"/>
                </a:cxn>
                <a:cxn ang="0">
                  <a:pos x="136" y="84"/>
                </a:cxn>
                <a:cxn ang="0">
                  <a:pos x="138" y="85"/>
                </a:cxn>
                <a:cxn ang="0">
                  <a:pos x="134" y="94"/>
                </a:cxn>
                <a:cxn ang="0">
                  <a:pos x="125" y="98"/>
                </a:cxn>
                <a:cxn ang="0">
                  <a:pos x="118" y="110"/>
                </a:cxn>
                <a:cxn ang="0">
                  <a:pos x="118" y="118"/>
                </a:cxn>
                <a:cxn ang="0">
                  <a:pos x="121" y="118"/>
                </a:cxn>
                <a:cxn ang="0">
                  <a:pos x="116" y="124"/>
                </a:cxn>
                <a:cxn ang="0">
                  <a:pos x="114" y="130"/>
                </a:cxn>
                <a:cxn ang="0">
                  <a:pos x="110" y="143"/>
                </a:cxn>
                <a:cxn ang="0">
                  <a:pos x="89" y="150"/>
                </a:cxn>
                <a:cxn ang="0">
                  <a:pos x="86" y="140"/>
                </a:cxn>
                <a:cxn ang="0">
                  <a:pos x="84" y="138"/>
                </a:cxn>
                <a:cxn ang="0">
                  <a:pos x="73" y="138"/>
                </a:cxn>
                <a:cxn ang="0">
                  <a:pos x="64" y="133"/>
                </a:cxn>
                <a:cxn ang="0">
                  <a:pos x="54" y="138"/>
                </a:cxn>
                <a:cxn ang="0">
                  <a:pos x="46" y="139"/>
                </a:cxn>
                <a:cxn ang="0">
                  <a:pos x="42" y="130"/>
                </a:cxn>
                <a:cxn ang="0">
                  <a:pos x="29" y="132"/>
                </a:cxn>
                <a:cxn ang="0">
                  <a:pos x="30" y="131"/>
                </a:cxn>
                <a:cxn ang="0">
                  <a:pos x="26" y="132"/>
                </a:cxn>
                <a:cxn ang="0">
                  <a:pos x="19" y="130"/>
                </a:cxn>
                <a:cxn ang="0">
                  <a:pos x="16" y="112"/>
                </a:cxn>
                <a:cxn ang="0">
                  <a:pos x="16" y="98"/>
                </a:cxn>
                <a:cxn ang="0">
                  <a:pos x="6" y="90"/>
                </a:cxn>
                <a:cxn ang="0">
                  <a:pos x="7" y="90"/>
                </a:cxn>
                <a:cxn ang="0">
                  <a:pos x="4" y="82"/>
                </a:cxn>
                <a:cxn ang="0">
                  <a:pos x="4" y="77"/>
                </a:cxn>
                <a:cxn ang="0">
                  <a:pos x="0" y="62"/>
                </a:cxn>
                <a:cxn ang="0">
                  <a:pos x="5" y="53"/>
                </a:cxn>
                <a:cxn ang="0">
                  <a:pos x="2" y="54"/>
                </a:cxn>
                <a:cxn ang="0">
                  <a:pos x="11" y="41"/>
                </a:cxn>
                <a:cxn ang="0">
                  <a:pos x="14" y="53"/>
                </a:cxn>
                <a:cxn ang="0">
                  <a:pos x="30" y="62"/>
                </a:cxn>
                <a:cxn ang="0">
                  <a:pos x="50" y="58"/>
                </a:cxn>
                <a:cxn ang="0">
                  <a:pos x="56" y="50"/>
                </a:cxn>
                <a:cxn ang="0">
                  <a:pos x="77" y="55"/>
                </a:cxn>
                <a:cxn ang="0">
                  <a:pos x="90" y="49"/>
                </a:cxn>
                <a:cxn ang="0">
                  <a:pos x="97" y="34"/>
                </a:cxn>
                <a:cxn ang="0">
                  <a:pos x="101" y="25"/>
                </a:cxn>
                <a:cxn ang="0">
                  <a:pos x="104" y="12"/>
                </a:cxn>
                <a:cxn ang="0">
                  <a:pos x="108" y="0"/>
                </a:cxn>
                <a:cxn ang="0">
                  <a:pos x="122" y="1"/>
                </a:cxn>
                <a:cxn ang="0">
                  <a:pos x="136" y="4"/>
                </a:cxn>
                <a:cxn ang="0">
                  <a:pos x="134" y="6"/>
                </a:cxn>
                <a:cxn ang="0">
                  <a:pos x="134" y="7"/>
                </a:cxn>
                <a:cxn ang="0">
                  <a:pos x="138" y="13"/>
                </a:cxn>
                <a:cxn ang="0">
                  <a:pos x="134" y="12"/>
                </a:cxn>
                <a:cxn ang="0">
                  <a:pos x="130" y="13"/>
                </a:cxn>
                <a:cxn ang="0">
                  <a:pos x="132" y="20"/>
                </a:cxn>
                <a:cxn ang="0">
                  <a:pos x="144" y="38"/>
                </a:cxn>
                <a:cxn ang="0">
                  <a:pos x="142" y="44"/>
                </a:cxn>
                <a:cxn ang="0">
                  <a:pos x="150" y="53"/>
                </a:cxn>
                <a:cxn ang="0">
                  <a:pos x="158" y="62"/>
                </a:cxn>
              </a:cxnLst>
              <a:rect l="0" t="0" r="r" b="b"/>
              <a:pathLst>
                <a:path w="158" h="150">
                  <a:moveTo>
                    <a:pt x="158" y="62"/>
                  </a:moveTo>
                  <a:lnTo>
                    <a:pt x="144" y="61"/>
                  </a:lnTo>
                  <a:lnTo>
                    <a:pt x="143" y="60"/>
                  </a:lnTo>
                  <a:lnTo>
                    <a:pt x="136" y="84"/>
                  </a:lnTo>
                  <a:lnTo>
                    <a:pt x="138" y="85"/>
                  </a:lnTo>
                  <a:lnTo>
                    <a:pt x="134" y="94"/>
                  </a:lnTo>
                  <a:lnTo>
                    <a:pt x="125" y="98"/>
                  </a:lnTo>
                  <a:lnTo>
                    <a:pt x="118" y="110"/>
                  </a:lnTo>
                  <a:lnTo>
                    <a:pt x="118" y="118"/>
                  </a:lnTo>
                  <a:lnTo>
                    <a:pt x="121" y="118"/>
                  </a:lnTo>
                  <a:lnTo>
                    <a:pt x="116" y="124"/>
                  </a:lnTo>
                  <a:lnTo>
                    <a:pt x="114" y="130"/>
                  </a:lnTo>
                  <a:lnTo>
                    <a:pt x="110" y="143"/>
                  </a:lnTo>
                  <a:lnTo>
                    <a:pt x="89" y="150"/>
                  </a:lnTo>
                  <a:lnTo>
                    <a:pt x="86" y="140"/>
                  </a:lnTo>
                  <a:lnTo>
                    <a:pt x="84" y="138"/>
                  </a:lnTo>
                  <a:lnTo>
                    <a:pt x="73" y="138"/>
                  </a:lnTo>
                  <a:lnTo>
                    <a:pt x="64" y="133"/>
                  </a:lnTo>
                  <a:lnTo>
                    <a:pt x="54" y="138"/>
                  </a:lnTo>
                  <a:lnTo>
                    <a:pt x="46" y="139"/>
                  </a:lnTo>
                  <a:lnTo>
                    <a:pt x="42" y="130"/>
                  </a:lnTo>
                  <a:lnTo>
                    <a:pt x="29" y="132"/>
                  </a:lnTo>
                  <a:lnTo>
                    <a:pt x="30" y="131"/>
                  </a:lnTo>
                  <a:lnTo>
                    <a:pt x="26" y="132"/>
                  </a:lnTo>
                  <a:lnTo>
                    <a:pt x="19" y="130"/>
                  </a:lnTo>
                  <a:lnTo>
                    <a:pt x="16" y="112"/>
                  </a:lnTo>
                  <a:lnTo>
                    <a:pt x="16" y="98"/>
                  </a:lnTo>
                  <a:lnTo>
                    <a:pt x="6" y="90"/>
                  </a:lnTo>
                  <a:lnTo>
                    <a:pt x="7" y="90"/>
                  </a:lnTo>
                  <a:lnTo>
                    <a:pt x="4" y="82"/>
                  </a:lnTo>
                  <a:lnTo>
                    <a:pt x="4" y="77"/>
                  </a:lnTo>
                  <a:lnTo>
                    <a:pt x="0" y="62"/>
                  </a:lnTo>
                  <a:lnTo>
                    <a:pt x="5" y="53"/>
                  </a:lnTo>
                  <a:lnTo>
                    <a:pt x="2" y="54"/>
                  </a:lnTo>
                  <a:lnTo>
                    <a:pt x="11" y="41"/>
                  </a:lnTo>
                  <a:lnTo>
                    <a:pt x="14" y="53"/>
                  </a:lnTo>
                  <a:lnTo>
                    <a:pt x="30" y="62"/>
                  </a:lnTo>
                  <a:lnTo>
                    <a:pt x="50" y="58"/>
                  </a:lnTo>
                  <a:lnTo>
                    <a:pt x="56" y="50"/>
                  </a:lnTo>
                  <a:lnTo>
                    <a:pt x="77" y="55"/>
                  </a:lnTo>
                  <a:lnTo>
                    <a:pt x="90" y="49"/>
                  </a:lnTo>
                  <a:lnTo>
                    <a:pt x="97" y="34"/>
                  </a:lnTo>
                  <a:lnTo>
                    <a:pt x="101" y="25"/>
                  </a:lnTo>
                  <a:lnTo>
                    <a:pt x="104" y="12"/>
                  </a:lnTo>
                  <a:lnTo>
                    <a:pt x="108" y="0"/>
                  </a:lnTo>
                  <a:lnTo>
                    <a:pt x="122" y="1"/>
                  </a:lnTo>
                  <a:lnTo>
                    <a:pt x="136" y="4"/>
                  </a:lnTo>
                  <a:lnTo>
                    <a:pt x="134" y="6"/>
                  </a:lnTo>
                  <a:lnTo>
                    <a:pt x="134" y="7"/>
                  </a:lnTo>
                  <a:lnTo>
                    <a:pt x="138" y="13"/>
                  </a:lnTo>
                  <a:lnTo>
                    <a:pt x="134" y="12"/>
                  </a:lnTo>
                  <a:lnTo>
                    <a:pt x="130" y="13"/>
                  </a:lnTo>
                  <a:lnTo>
                    <a:pt x="132" y="20"/>
                  </a:lnTo>
                  <a:lnTo>
                    <a:pt x="144" y="38"/>
                  </a:lnTo>
                  <a:lnTo>
                    <a:pt x="142" y="44"/>
                  </a:lnTo>
                  <a:lnTo>
                    <a:pt x="150" y="53"/>
                  </a:lnTo>
                  <a:lnTo>
                    <a:pt x="158" y="6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 name="Freeform 8"/>
            <p:cNvSpPr>
              <a:spLocks/>
            </p:cNvSpPr>
            <p:nvPr/>
          </p:nvSpPr>
          <p:spPr bwMode="auto">
            <a:xfrm>
              <a:off x="4206" y="2594"/>
              <a:ext cx="194" cy="227"/>
            </a:xfrm>
            <a:custGeom>
              <a:avLst/>
              <a:gdLst/>
              <a:ahLst/>
              <a:cxnLst>
                <a:cxn ang="0">
                  <a:pos x="173" y="158"/>
                </a:cxn>
                <a:cxn ang="0">
                  <a:pos x="172" y="160"/>
                </a:cxn>
                <a:cxn ang="0">
                  <a:pos x="170" y="182"/>
                </a:cxn>
                <a:cxn ang="0">
                  <a:pos x="167" y="204"/>
                </a:cxn>
                <a:cxn ang="0">
                  <a:pos x="160" y="198"/>
                </a:cxn>
                <a:cxn ang="0">
                  <a:pos x="159" y="202"/>
                </a:cxn>
                <a:cxn ang="0">
                  <a:pos x="150" y="200"/>
                </a:cxn>
                <a:cxn ang="0">
                  <a:pos x="150" y="204"/>
                </a:cxn>
                <a:cxn ang="0">
                  <a:pos x="135" y="189"/>
                </a:cxn>
                <a:cxn ang="0">
                  <a:pos x="126" y="180"/>
                </a:cxn>
                <a:cxn ang="0">
                  <a:pos x="118" y="172"/>
                </a:cxn>
                <a:cxn ang="0">
                  <a:pos x="110" y="164"/>
                </a:cxn>
                <a:cxn ang="0">
                  <a:pos x="101" y="154"/>
                </a:cxn>
                <a:cxn ang="0">
                  <a:pos x="94" y="140"/>
                </a:cxn>
                <a:cxn ang="0">
                  <a:pos x="87" y="125"/>
                </a:cxn>
                <a:cxn ang="0">
                  <a:pos x="84" y="123"/>
                </a:cxn>
                <a:cxn ang="0">
                  <a:pos x="76" y="110"/>
                </a:cxn>
                <a:cxn ang="0">
                  <a:pos x="68" y="96"/>
                </a:cxn>
                <a:cxn ang="0">
                  <a:pos x="63" y="84"/>
                </a:cxn>
                <a:cxn ang="0">
                  <a:pos x="58" y="72"/>
                </a:cxn>
                <a:cxn ang="0">
                  <a:pos x="45" y="59"/>
                </a:cxn>
                <a:cxn ang="0">
                  <a:pos x="35" y="45"/>
                </a:cxn>
                <a:cxn ang="0">
                  <a:pos x="23" y="33"/>
                </a:cxn>
                <a:cxn ang="0">
                  <a:pos x="11" y="21"/>
                </a:cxn>
                <a:cxn ang="0">
                  <a:pos x="0" y="0"/>
                </a:cxn>
                <a:cxn ang="0">
                  <a:pos x="11" y="2"/>
                </a:cxn>
                <a:cxn ang="0">
                  <a:pos x="23" y="4"/>
                </a:cxn>
                <a:cxn ang="0">
                  <a:pos x="35" y="6"/>
                </a:cxn>
                <a:cxn ang="0">
                  <a:pos x="50" y="23"/>
                </a:cxn>
                <a:cxn ang="0">
                  <a:pos x="51" y="27"/>
                </a:cxn>
                <a:cxn ang="0">
                  <a:pos x="65" y="40"/>
                </a:cxn>
                <a:cxn ang="0">
                  <a:pos x="80" y="52"/>
                </a:cxn>
                <a:cxn ang="0">
                  <a:pos x="92" y="65"/>
                </a:cxn>
                <a:cxn ang="0">
                  <a:pos x="90" y="59"/>
                </a:cxn>
                <a:cxn ang="0">
                  <a:pos x="105" y="70"/>
                </a:cxn>
                <a:cxn ang="0">
                  <a:pos x="113" y="81"/>
                </a:cxn>
                <a:cxn ang="0">
                  <a:pos x="128" y="90"/>
                </a:cxn>
                <a:cxn ang="0">
                  <a:pos x="130" y="92"/>
                </a:cxn>
                <a:cxn ang="0">
                  <a:pos x="140" y="100"/>
                </a:cxn>
                <a:cxn ang="0">
                  <a:pos x="132" y="104"/>
                </a:cxn>
                <a:cxn ang="0">
                  <a:pos x="134" y="107"/>
                </a:cxn>
                <a:cxn ang="0">
                  <a:pos x="132" y="110"/>
                </a:cxn>
                <a:cxn ang="0">
                  <a:pos x="135" y="116"/>
                </a:cxn>
                <a:cxn ang="0">
                  <a:pos x="147" y="118"/>
                </a:cxn>
                <a:cxn ang="0">
                  <a:pos x="150" y="131"/>
                </a:cxn>
                <a:cxn ang="0">
                  <a:pos x="153" y="136"/>
                </a:cxn>
                <a:cxn ang="0">
                  <a:pos x="153" y="143"/>
                </a:cxn>
                <a:cxn ang="0">
                  <a:pos x="166" y="143"/>
                </a:cxn>
                <a:cxn ang="0">
                  <a:pos x="173" y="158"/>
                </a:cxn>
              </a:cxnLst>
              <a:rect l="0" t="0" r="r" b="b"/>
              <a:pathLst>
                <a:path w="173" h="204">
                  <a:moveTo>
                    <a:pt x="173" y="158"/>
                  </a:moveTo>
                  <a:lnTo>
                    <a:pt x="172" y="160"/>
                  </a:lnTo>
                  <a:lnTo>
                    <a:pt x="170" y="182"/>
                  </a:lnTo>
                  <a:lnTo>
                    <a:pt x="167" y="204"/>
                  </a:lnTo>
                  <a:lnTo>
                    <a:pt x="160" y="198"/>
                  </a:lnTo>
                  <a:lnTo>
                    <a:pt x="159" y="202"/>
                  </a:lnTo>
                  <a:lnTo>
                    <a:pt x="150" y="200"/>
                  </a:lnTo>
                  <a:lnTo>
                    <a:pt x="150" y="204"/>
                  </a:lnTo>
                  <a:lnTo>
                    <a:pt x="135" y="189"/>
                  </a:lnTo>
                  <a:lnTo>
                    <a:pt x="126" y="180"/>
                  </a:lnTo>
                  <a:lnTo>
                    <a:pt x="118" y="172"/>
                  </a:lnTo>
                  <a:lnTo>
                    <a:pt x="110" y="164"/>
                  </a:lnTo>
                  <a:lnTo>
                    <a:pt x="101" y="154"/>
                  </a:lnTo>
                  <a:lnTo>
                    <a:pt x="94" y="140"/>
                  </a:lnTo>
                  <a:lnTo>
                    <a:pt x="87" y="125"/>
                  </a:lnTo>
                  <a:lnTo>
                    <a:pt x="84" y="123"/>
                  </a:lnTo>
                  <a:lnTo>
                    <a:pt x="76" y="110"/>
                  </a:lnTo>
                  <a:lnTo>
                    <a:pt x="68" y="96"/>
                  </a:lnTo>
                  <a:lnTo>
                    <a:pt x="63" y="84"/>
                  </a:lnTo>
                  <a:lnTo>
                    <a:pt x="58" y="72"/>
                  </a:lnTo>
                  <a:lnTo>
                    <a:pt x="45" y="59"/>
                  </a:lnTo>
                  <a:lnTo>
                    <a:pt x="35" y="45"/>
                  </a:lnTo>
                  <a:lnTo>
                    <a:pt x="23" y="33"/>
                  </a:lnTo>
                  <a:lnTo>
                    <a:pt x="11" y="21"/>
                  </a:lnTo>
                  <a:lnTo>
                    <a:pt x="0" y="0"/>
                  </a:lnTo>
                  <a:lnTo>
                    <a:pt x="11" y="2"/>
                  </a:lnTo>
                  <a:lnTo>
                    <a:pt x="23" y="4"/>
                  </a:lnTo>
                  <a:lnTo>
                    <a:pt x="35" y="6"/>
                  </a:lnTo>
                  <a:lnTo>
                    <a:pt x="50" y="23"/>
                  </a:lnTo>
                  <a:lnTo>
                    <a:pt x="51" y="27"/>
                  </a:lnTo>
                  <a:lnTo>
                    <a:pt x="65" y="40"/>
                  </a:lnTo>
                  <a:lnTo>
                    <a:pt x="80" y="52"/>
                  </a:lnTo>
                  <a:lnTo>
                    <a:pt x="92" y="65"/>
                  </a:lnTo>
                  <a:lnTo>
                    <a:pt x="90" y="59"/>
                  </a:lnTo>
                  <a:lnTo>
                    <a:pt x="105" y="70"/>
                  </a:lnTo>
                  <a:lnTo>
                    <a:pt x="113" y="81"/>
                  </a:lnTo>
                  <a:lnTo>
                    <a:pt x="128" y="90"/>
                  </a:lnTo>
                  <a:lnTo>
                    <a:pt x="130" y="92"/>
                  </a:lnTo>
                  <a:lnTo>
                    <a:pt x="140" y="100"/>
                  </a:lnTo>
                  <a:lnTo>
                    <a:pt x="132" y="104"/>
                  </a:lnTo>
                  <a:lnTo>
                    <a:pt x="134" y="107"/>
                  </a:lnTo>
                  <a:lnTo>
                    <a:pt x="132" y="110"/>
                  </a:lnTo>
                  <a:lnTo>
                    <a:pt x="135" y="116"/>
                  </a:lnTo>
                  <a:lnTo>
                    <a:pt x="147" y="118"/>
                  </a:lnTo>
                  <a:lnTo>
                    <a:pt x="150" y="131"/>
                  </a:lnTo>
                  <a:lnTo>
                    <a:pt x="153" y="136"/>
                  </a:lnTo>
                  <a:lnTo>
                    <a:pt x="153" y="143"/>
                  </a:lnTo>
                  <a:lnTo>
                    <a:pt x="166" y="143"/>
                  </a:lnTo>
                  <a:lnTo>
                    <a:pt x="173" y="15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 name="Freeform 9"/>
            <p:cNvSpPr>
              <a:spLocks/>
            </p:cNvSpPr>
            <p:nvPr/>
          </p:nvSpPr>
          <p:spPr bwMode="auto">
            <a:xfrm>
              <a:off x="4842" y="2714"/>
              <a:ext cx="173" cy="173"/>
            </a:xfrm>
            <a:custGeom>
              <a:avLst/>
              <a:gdLst/>
              <a:ahLst/>
              <a:cxnLst>
                <a:cxn ang="0">
                  <a:pos x="118" y="132"/>
                </a:cxn>
                <a:cxn ang="0">
                  <a:pos x="122" y="138"/>
                </a:cxn>
                <a:cxn ang="0">
                  <a:pos x="139" y="147"/>
                </a:cxn>
                <a:cxn ang="0">
                  <a:pos x="150" y="142"/>
                </a:cxn>
                <a:cxn ang="0">
                  <a:pos x="152" y="113"/>
                </a:cxn>
                <a:cxn ang="0">
                  <a:pos x="154" y="84"/>
                </a:cxn>
                <a:cxn ang="0">
                  <a:pos x="156" y="54"/>
                </a:cxn>
                <a:cxn ang="0">
                  <a:pos x="145" y="37"/>
                </a:cxn>
                <a:cxn ang="0">
                  <a:pos x="106" y="19"/>
                </a:cxn>
                <a:cxn ang="0">
                  <a:pos x="81" y="36"/>
                </a:cxn>
                <a:cxn ang="0">
                  <a:pos x="58" y="47"/>
                </a:cxn>
                <a:cxn ang="0">
                  <a:pos x="51" y="42"/>
                </a:cxn>
                <a:cxn ang="0">
                  <a:pos x="48" y="13"/>
                </a:cxn>
                <a:cxn ang="0">
                  <a:pos x="31" y="4"/>
                </a:cxn>
                <a:cxn ang="0">
                  <a:pos x="2" y="10"/>
                </a:cxn>
                <a:cxn ang="0">
                  <a:pos x="12" y="23"/>
                </a:cxn>
                <a:cxn ang="0">
                  <a:pos x="31" y="34"/>
                </a:cxn>
                <a:cxn ang="0">
                  <a:pos x="42" y="36"/>
                </a:cxn>
                <a:cxn ang="0">
                  <a:pos x="39" y="39"/>
                </a:cxn>
                <a:cxn ang="0">
                  <a:pos x="20" y="42"/>
                </a:cxn>
                <a:cxn ang="0">
                  <a:pos x="27" y="57"/>
                </a:cxn>
                <a:cxn ang="0">
                  <a:pos x="33" y="65"/>
                </a:cxn>
                <a:cxn ang="0">
                  <a:pos x="40" y="59"/>
                </a:cxn>
                <a:cxn ang="0">
                  <a:pos x="57" y="64"/>
                </a:cxn>
                <a:cxn ang="0">
                  <a:pos x="68" y="73"/>
                </a:cxn>
                <a:cxn ang="0">
                  <a:pos x="92" y="83"/>
                </a:cxn>
                <a:cxn ang="0">
                  <a:pos x="109" y="95"/>
                </a:cxn>
                <a:cxn ang="0">
                  <a:pos x="122" y="119"/>
                </a:cxn>
                <a:cxn ang="0">
                  <a:pos x="122" y="123"/>
                </a:cxn>
                <a:cxn ang="0">
                  <a:pos x="117" y="129"/>
                </a:cxn>
                <a:cxn ang="0">
                  <a:pos x="97" y="144"/>
                </a:cxn>
                <a:cxn ang="0">
                  <a:pos x="118" y="131"/>
                </a:cxn>
              </a:cxnLst>
              <a:rect l="0" t="0" r="r" b="b"/>
              <a:pathLst>
                <a:path w="156" h="157">
                  <a:moveTo>
                    <a:pt x="118" y="131"/>
                  </a:moveTo>
                  <a:lnTo>
                    <a:pt x="118" y="132"/>
                  </a:lnTo>
                  <a:lnTo>
                    <a:pt x="117" y="141"/>
                  </a:lnTo>
                  <a:lnTo>
                    <a:pt x="122" y="138"/>
                  </a:lnTo>
                  <a:lnTo>
                    <a:pt x="135" y="136"/>
                  </a:lnTo>
                  <a:lnTo>
                    <a:pt x="139" y="147"/>
                  </a:lnTo>
                  <a:lnTo>
                    <a:pt x="148" y="157"/>
                  </a:lnTo>
                  <a:lnTo>
                    <a:pt x="150" y="142"/>
                  </a:lnTo>
                  <a:lnTo>
                    <a:pt x="151" y="127"/>
                  </a:lnTo>
                  <a:lnTo>
                    <a:pt x="152" y="113"/>
                  </a:lnTo>
                  <a:lnTo>
                    <a:pt x="153" y="99"/>
                  </a:lnTo>
                  <a:lnTo>
                    <a:pt x="154" y="84"/>
                  </a:lnTo>
                  <a:lnTo>
                    <a:pt x="154" y="69"/>
                  </a:lnTo>
                  <a:lnTo>
                    <a:pt x="156" y="54"/>
                  </a:lnTo>
                  <a:lnTo>
                    <a:pt x="156" y="40"/>
                  </a:lnTo>
                  <a:lnTo>
                    <a:pt x="145" y="37"/>
                  </a:lnTo>
                  <a:lnTo>
                    <a:pt x="126" y="28"/>
                  </a:lnTo>
                  <a:lnTo>
                    <a:pt x="106" y="19"/>
                  </a:lnTo>
                  <a:lnTo>
                    <a:pt x="96" y="28"/>
                  </a:lnTo>
                  <a:lnTo>
                    <a:pt x="81" y="36"/>
                  </a:lnTo>
                  <a:lnTo>
                    <a:pt x="64" y="53"/>
                  </a:lnTo>
                  <a:lnTo>
                    <a:pt x="58" y="47"/>
                  </a:lnTo>
                  <a:lnTo>
                    <a:pt x="52" y="39"/>
                  </a:lnTo>
                  <a:lnTo>
                    <a:pt x="51" y="42"/>
                  </a:lnTo>
                  <a:lnTo>
                    <a:pt x="48" y="23"/>
                  </a:lnTo>
                  <a:lnTo>
                    <a:pt x="48" y="13"/>
                  </a:lnTo>
                  <a:lnTo>
                    <a:pt x="46" y="6"/>
                  </a:lnTo>
                  <a:lnTo>
                    <a:pt x="31" y="4"/>
                  </a:lnTo>
                  <a:lnTo>
                    <a:pt x="16" y="0"/>
                  </a:lnTo>
                  <a:lnTo>
                    <a:pt x="2" y="10"/>
                  </a:lnTo>
                  <a:lnTo>
                    <a:pt x="0" y="19"/>
                  </a:lnTo>
                  <a:lnTo>
                    <a:pt x="12" y="23"/>
                  </a:lnTo>
                  <a:lnTo>
                    <a:pt x="20" y="34"/>
                  </a:lnTo>
                  <a:lnTo>
                    <a:pt x="31" y="34"/>
                  </a:lnTo>
                  <a:lnTo>
                    <a:pt x="43" y="33"/>
                  </a:lnTo>
                  <a:lnTo>
                    <a:pt x="42" y="36"/>
                  </a:lnTo>
                  <a:lnTo>
                    <a:pt x="40" y="39"/>
                  </a:lnTo>
                  <a:lnTo>
                    <a:pt x="39" y="39"/>
                  </a:lnTo>
                  <a:lnTo>
                    <a:pt x="34" y="39"/>
                  </a:lnTo>
                  <a:lnTo>
                    <a:pt x="20" y="42"/>
                  </a:lnTo>
                  <a:lnTo>
                    <a:pt x="14" y="46"/>
                  </a:lnTo>
                  <a:lnTo>
                    <a:pt x="27" y="57"/>
                  </a:lnTo>
                  <a:lnTo>
                    <a:pt x="25" y="64"/>
                  </a:lnTo>
                  <a:lnTo>
                    <a:pt x="33" y="65"/>
                  </a:lnTo>
                  <a:lnTo>
                    <a:pt x="43" y="48"/>
                  </a:lnTo>
                  <a:lnTo>
                    <a:pt x="40" y="59"/>
                  </a:lnTo>
                  <a:lnTo>
                    <a:pt x="54" y="64"/>
                  </a:lnTo>
                  <a:lnTo>
                    <a:pt x="57" y="64"/>
                  </a:lnTo>
                  <a:lnTo>
                    <a:pt x="56" y="70"/>
                  </a:lnTo>
                  <a:lnTo>
                    <a:pt x="68" y="73"/>
                  </a:lnTo>
                  <a:lnTo>
                    <a:pt x="80" y="78"/>
                  </a:lnTo>
                  <a:lnTo>
                    <a:pt x="92" y="83"/>
                  </a:lnTo>
                  <a:lnTo>
                    <a:pt x="103" y="88"/>
                  </a:lnTo>
                  <a:lnTo>
                    <a:pt x="109" y="95"/>
                  </a:lnTo>
                  <a:lnTo>
                    <a:pt x="117" y="115"/>
                  </a:lnTo>
                  <a:lnTo>
                    <a:pt x="122" y="119"/>
                  </a:lnTo>
                  <a:lnTo>
                    <a:pt x="114" y="119"/>
                  </a:lnTo>
                  <a:lnTo>
                    <a:pt x="122" y="123"/>
                  </a:lnTo>
                  <a:lnTo>
                    <a:pt x="115" y="124"/>
                  </a:lnTo>
                  <a:lnTo>
                    <a:pt x="117" y="129"/>
                  </a:lnTo>
                  <a:lnTo>
                    <a:pt x="106" y="127"/>
                  </a:lnTo>
                  <a:lnTo>
                    <a:pt x="97" y="144"/>
                  </a:lnTo>
                  <a:lnTo>
                    <a:pt x="111" y="141"/>
                  </a:lnTo>
                  <a:lnTo>
                    <a:pt x="118" y="1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 name="Freeform 10"/>
            <p:cNvSpPr>
              <a:spLocks/>
            </p:cNvSpPr>
            <p:nvPr/>
          </p:nvSpPr>
          <p:spPr bwMode="auto">
            <a:xfrm>
              <a:off x="4626" y="2672"/>
              <a:ext cx="111" cy="147"/>
            </a:xfrm>
            <a:custGeom>
              <a:avLst/>
              <a:gdLst/>
              <a:ahLst/>
              <a:cxnLst>
                <a:cxn ang="0">
                  <a:pos x="101" y="4"/>
                </a:cxn>
                <a:cxn ang="0">
                  <a:pos x="96" y="0"/>
                </a:cxn>
                <a:cxn ang="0">
                  <a:pos x="82" y="16"/>
                </a:cxn>
                <a:cxn ang="0">
                  <a:pos x="61" y="12"/>
                </a:cxn>
                <a:cxn ang="0">
                  <a:pos x="41" y="8"/>
                </a:cxn>
                <a:cxn ang="0">
                  <a:pos x="31" y="8"/>
                </a:cxn>
                <a:cxn ang="0">
                  <a:pos x="25" y="16"/>
                </a:cxn>
                <a:cxn ang="0">
                  <a:pos x="22" y="16"/>
                </a:cxn>
                <a:cxn ang="0">
                  <a:pos x="15" y="30"/>
                </a:cxn>
                <a:cxn ang="0">
                  <a:pos x="16" y="46"/>
                </a:cxn>
                <a:cxn ang="0">
                  <a:pos x="13" y="43"/>
                </a:cxn>
                <a:cxn ang="0">
                  <a:pos x="7" y="60"/>
                </a:cxn>
                <a:cxn ang="0">
                  <a:pos x="0" y="78"/>
                </a:cxn>
                <a:cxn ang="0">
                  <a:pos x="1" y="94"/>
                </a:cxn>
                <a:cxn ang="0">
                  <a:pos x="9" y="95"/>
                </a:cxn>
                <a:cxn ang="0">
                  <a:pos x="9" y="108"/>
                </a:cxn>
                <a:cxn ang="0">
                  <a:pos x="7" y="121"/>
                </a:cxn>
                <a:cxn ang="0">
                  <a:pos x="9" y="132"/>
                </a:cxn>
                <a:cxn ang="0">
                  <a:pos x="23" y="128"/>
                </a:cxn>
                <a:cxn ang="0">
                  <a:pos x="22" y="107"/>
                </a:cxn>
                <a:cxn ang="0">
                  <a:pos x="22" y="85"/>
                </a:cxn>
                <a:cxn ang="0">
                  <a:pos x="31" y="78"/>
                </a:cxn>
                <a:cxn ang="0">
                  <a:pos x="33" y="89"/>
                </a:cxn>
                <a:cxn ang="0">
                  <a:pos x="34" y="96"/>
                </a:cxn>
                <a:cxn ang="0">
                  <a:pos x="41" y="106"/>
                </a:cxn>
                <a:cxn ang="0">
                  <a:pos x="43" y="116"/>
                </a:cxn>
                <a:cxn ang="0">
                  <a:pos x="48" y="114"/>
                </a:cxn>
                <a:cxn ang="0">
                  <a:pos x="59" y="108"/>
                </a:cxn>
                <a:cxn ang="0">
                  <a:pos x="63" y="106"/>
                </a:cxn>
                <a:cxn ang="0">
                  <a:pos x="53" y="91"/>
                </a:cxn>
                <a:cxn ang="0">
                  <a:pos x="55" y="86"/>
                </a:cxn>
                <a:cxn ang="0">
                  <a:pos x="47" y="74"/>
                </a:cxn>
                <a:cxn ang="0">
                  <a:pos x="40" y="62"/>
                </a:cxn>
                <a:cxn ang="0">
                  <a:pos x="46" y="64"/>
                </a:cxn>
                <a:cxn ang="0">
                  <a:pos x="57" y="54"/>
                </a:cxn>
                <a:cxn ang="0">
                  <a:pos x="69" y="46"/>
                </a:cxn>
                <a:cxn ang="0">
                  <a:pos x="72" y="46"/>
                </a:cxn>
                <a:cxn ang="0">
                  <a:pos x="70" y="40"/>
                </a:cxn>
                <a:cxn ang="0">
                  <a:pos x="64" y="42"/>
                </a:cxn>
                <a:cxn ang="0">
                  <a:pos x="45" y="46"/>
                </a:cxn>
                <a:cxn ang="0">
                  <a:pos x="31" y="54"/>
                </a:cxn>
                <a:cxn ang="0">
                  <a:pos x="19" y="37"/>
                </a:cxn>
                <a:cxn ang="0">
                  <a:pos x="25" y="22"/>
                </a:cxn>
                <a:cxn ang="0">
                  <a:pos x="47" y="23"/>
                </a:cxn>
                <a:cxn ang="0">
                  <a:pos x="70" y="24"/>
                </a:cxn>
                <a:cxn ang="0">
                  <a:pos x="91" y="19"/>
                </a:cxn>
                <a:cxn ang="0">
                  <a:pos x="101" y="4"/>
                </a:cxn>
              </a:cxnLst>
              <a:rect l="0" t="0" r="r" b="b"/>
              <a:pathLst>
                <a:path w="101" h="132">
                  <a:moveTo>
                    <a:pt x="101" y="4"/>
                  </a:moveTo>
                  <a:lnTo>
                    <a:pt x="96" y="0"/>
                  </a:lnTo>
                  <a:lnTo>
                    <a:pt x="82" y="16"/>
                  </a:lnTo>
                  <a:lnTo>
                    <a:pt x="61" y="12"/>
                  </a:lnTo>
                  <a:lnTo>
                    <a:pt x="41" y="8"/>
                  </a:lnTo>
                  <a:lnTo>
                    <a:pt x="31" y="8"/>
                  </a:lnTo>
                  <a:lnTo>
                    <a:pt x="25" y="16"/>
                  </a:lnTo>
                  <a:lnTo>
                    <a:pt x="22" y="16"/>
                  </a:lnTo>
                  <a:lnTo>
                    <a:pt x="15" y="30"/>
                  </a:lnTo>
                  <a:lnTo>
                    <a:pt x="16" y="46"/>
                  </a:lnTo>
                  <a:lnTo>
                    <a:pt x="13" y="43"/>
                  </a:lnTo>
                  <a:lnTo>
                    <a:pt x="7" y="60"/>
                  </a:lnTo>
                  <a:lnTo>
                    <a:pt x="0" y="78"/>
                  </a:lnTo>
                  <a:lnTo>
                    <a:pt x="1" y="94"/>
                  </a:lnTo>
                  <a:lnTo>
                    <a:pt x="9" y="95"/>
                  </a:lnTo>
                  <a:lnTo>
                    <a:pt x="9" y="108"/>
                  </a:lnTo>
                  <a:lnTo>
                    <a:pt x="7" y="121"/>
                  </a:lnTo>
                  <a:lnTo>
                    <a:pt x="9" y="132"/>
                  </a:lnTo>
                  <a:lnTo>
                    <a:pt x="23" y="128"/>
                  </a:lnTo>
                  <a:lnTo>
                    <a:pt x="22" y="107"/>
                  </a:lnTo>
                  <a:lnTo>
                    <a:pt x="22" y="85"/>
                  </a:lnTo>
                  <a:lnTo>
                    <a:pt x="31" y="78"/>
                  </a:lnTo>
                  <a:lnTo>
                    <a:pt x="33" y="89"/>
                  </a:lnTo>
                  <a:lnTo>
                    <a:pt x="34" y="96"/>
                  </a:lnTo>
                  <a:lnTo>
                    <a:pt x="41" y="106"/>
                  </a:lnTo>
                  <a:lnTo>
                    <a:pt x="43" y="116"/>
                  </a:lnTo>
                  <a:lnTo>
                    <a:pt x="48" y="114"/>
                  </a:lnTo>
                  <a:lnTo>
                    <a:pt x="59" y="108"/>
                  </a:lnTo>
                  <a:lnTo>
                    <a:pt x="63" y="106"/>
                  </a:lnTo>
                  <a:lnTo>
                    <a:pt x="53" y="91"/>
                  </a:lnTo>
                  <a:lnTo>
                    <a:pt x="55" y="86"/>
                  </a:lnTo>
                  <a:lnTo>
                    <a:pt x="47" y="74"/>
                  </a:lnTo>
                  <a:lnTo>
                    <a:pt x="40" y="62"/>
                  </a:lnTo>
                  <a:lnTo>
                    <a:pt x="46" y="64"/>
                  </a:lnTo>
                  <a:lnTo>
                    <a:pt x="57" y="54"/>
                  </a:lnTo>
                  <a:lnTo>
                    <a:pt x="69" y="46"/>
                  </a:lnTo>
                  <a:lnTo>
                    <a:pt x="72" y="46"/>
                  </a:lnTo>
                  <a:lnTo>
                    <a:pt x="70" y="40"/>
                  </a:lnTo>
                  <a:lnTo>
                    <a:pt x="64" y="42"/>
                  </a:lnTo>
                  <a:lnTo>
                    <a:pt x="45" y="46"/>
                  </a:lnTo>
                  <a:lnTo>
                    <a:pt x="31" y="54"/>
                  </a:lnTo>
                  <a:lnTo>
                    <a:pt x="19" y="37"/>
                  </a:lnTo>
                  <a:lnTo>
                    <a:pt x="25" y="22"/>
                  </a:lnTo>
                  <a:lnTo>
                    <a:pt x="47" y="23"/>
                  </a:lnTo>
                  <a:lnTo>
                    <a:pt x="70" y="24"/>
                  </a:lnTo>
                  <a:lnTo>
                    <a:pt x="91" y="19"/>
                  </a:lnTo>
                  <a:lnTo>
                    <a:pt x="10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 name="Freeform 11"/>
            <p:cNvSpPr>
              <a:spLocks/>
            </p:cNvSpPr>
            <p:nvPr/>
          </p:nvSpPr>
          <p:spPr bwMode="auto">
            <a:xfrm>
              <a:off x="4382" y="2825"/>
              <a:ext cx="162" cy="56"/>
            </a:xfrm>
            <a:custGeom>
              <a:avLst/>
              <a:gdLst/>
              <a:ahLst/>
              <a:cxnLst>
                <a:cxn ang="0">
                  <a:pos x="145" y="49"/>
                </a:cxn>
                <a:cxn ang="0">
                  <a:pos x="143" y="47"/>
                </a:cxn>
                <a:cxn ang="0">
                  <a:pos x="144" y="32"/>
                </a:cxn>
                <a:cxn ang="0">
                  <a:pos x="132" y="31"/>
                </a:cxn>
                <a:cxn ang="0">
                  <a:pos x="120" y="29"/>
                </a:cxn>
                <a:cxn ang="0">
                  <a:pos x="116" y="19"/>
                </a:cxn>
                <a:cxn ang="0">
                  <a:pos x="97" y="12"/>
                </a:cxn>
                <a:cxn ang="0">
                  <a:pos x="90" y="7"/>
                </a:cxn>
                <a:cxn ang="0">
                  <a:pos x="83" y="16"/>
                </a:cxn>
                <a:cxn ang="0">
                  <a:pos x="71" y="16"/>
                </a:cxn>
                <a:cxn ang="0">
                  <a:pos x="57" y="16"/>
                </a:cxn>
                <a:cxn ang="0">
                  <a:pos x="51" y="8"/>
                </a:cxn>
                <a:cxn ang="0">
                  <a:pos x="33" y="0"/>
                </a:cxn>
                <a:cxn ang="0">
                  <a:pos x="13" y="0"/>
                </a:cxn>
                <a:cxn ang="0">
                  <a:pos x="5" y="11"/>
                </a:cxn>
                <a:cxn ang="0">
                  <a:pos x="0" y="13"/>
                </a:cxn>
                <a:cxn ang="0">
                  <a:pos x="17" y="18"/>
                </a:cxn>
                <a:cxn ang="0">
                  <a:pos x="17" y="22"/>
                </a:cxn>
                <a:cxn ang="0">
                  <a:pos x="32" y="26"/>
                </a:cxn>
                <a:cxn ang="0">
                  <a:pos x="49" y="30"/>
                </a:cxn>
                <a:cxn ang="0">
                  <a:pos x="63" y="34"/>
                </a:cxn>
                <a:cxn ang="0">
                  <a:pos x="79" y="37"/>
                </a:cxn>
                <a:cxn ang="0">
                  <a:pos x="99" y="40"/>
                </a:cxn>
                <a:cxn ang="0">
                  <a:pos x="119" y="42"/>
                </a:cxn>
                <a:cxn ang="0">
                  <a:pos x="132" y="46"/>
                </a:cxn>
                <a:cxn ang="0">
                  <a:pos x="145" y="49"/>
                </a:cxn>
              </a:cxnLst>
              <a:rect l="0" t="0" r="r" b="b"/>
              <a:pathLst>
                <a:path w="145" h="49">
                  <a:moveTo>
                    <a:pt x="145" y="49"/>
                  </a:moveTo>
                  <a:lnTo>
                    <a:pt x="143" y="47"/>
                  </a:lnTo>
                  <a:lnTo>
                    <a:pt x="144" y="32"/>
                  </a:lnTo>
                  <a:lnTo>
                    <a:pt x="132" y="31"/>
                  </a:lnTo>
                  <a:lnTo>
                    <a:pt x="120" y="29"/>
                  </a:lnTo>
                  <a:lnTo>
                    <a:pt x="116" y="19"/>
                  </a:lnTo>
                  <a:lnTo>
                    <a:pt x="97" y="12"/>
                  </a:lnTo>
                  <a:lnTo>
                    <a:pt x="90" y="7"/>
                  </a:lnTo>
                  <a:lnTo>
                    <a:pt x="83" y="16"/>
                  </a:lnTo>
                  <a:lnTo>
                    <a:pt x="71" y="16"/>
                  </a:lnTo>
                  <a:lnTo>
                    <a:pt x="57" y="16"/>
                  </a:lnTo>
                  <a:lnTo>
                    <a:pt x="51" y="8"/>
                  </a:lnTo>
                  <a:lnTo>
                    <a:pt x="33" y="0"/>
                  </a:lnTo>
                  <a:lnTo>
                    <a:pt x="13" y="0"/>
                  </a:lnTo>
                  <a:lnTo>
                    <a:pt x="5" y="11"/>
                  </a:lnTo>
                  <a:lnTo>
                    <a:pt x="0" y="13"/>
                  </a:lnTo>
                  <a:lnTo>
                    <a:pt x="17" y="18"/>
                  </a:lnTo>
                  <a:lnTo>
                    <a:pt x="17" y="22"/>
                  </a:lnTo>
                  <a:lnTo>
                    <a:pt x="32" y="26"/>
                  </a:lnTo>
                  <a:lnTo>
                    <a:pt x="49" y="30"/>
                  </a:lnTo>
                  <a:lnTo>
                    <a:pt x="63" y="34"/>
                  </a:lnTo>
                  <a:lnTo>
                    <a:pt x="79" y="37"/>
                  </a:lnTo>
                  <a:lnTo>
                    <a:pt x="99" y="40"/>
                  </a:lnTo>
                  <a:lnTo>
                    <a:pt x="119" y="42"/>
                  </a:lnTo>
                  <a:lnTo>
                    <a:pt x="132" y="46"/>
                  </a:lnTo>
                  <a:lnTo>
                    <a:pt x="145"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 name="Freeform 12"/>
            <p:cNvSpPr>
              <a:spLocks/>
            </p:cNvSpPr>
            <p:nvPr/>
          </p:nvSpPr>
          <p:spPr bwMode="auto">
            <a:xfrm>
              <a:off x="4700" y="2874"/>
              <a:ext cx="66" cy="38"/>
            </a:xfrm>
            <a:custGeom>
              <a:avLst/>
              <a:gdLst/>
              <a:ahLst/>
              <a:cxnLst>
                <a:cxn ang="0">
                  <a:pos x="61" y="0"/>
                </a:cxn>
                <a:cxn ang="0">
                  <a:pos x="39" y="1"/>
                </a:cxn>
                <a:cxn ang="0">
                  <a:pos x="23" y="9"/>
                </a:cxn>
                <a:cxn ang="0">
                  <a:pos x="9" y="17"/>
                </a:cxn>
                <a:cxn ang="0">
                  <a:pos x="1" y="30"/>
                </a:cxn>
                <a:cxn ang="0">
                  <a:pos x="0" y="31"/>
                </a:cxn>
                <a:cxn ang="0">
                  <a:pos x="1" y="35"/>
                </a:cxn>
                <a:cxn ang="0">
                  <a:pos x="22" y="24"/>
                </a:cxn>
                <a:cxn ang="0">
                  <a:pos x="41" y="12"/>
                </a:cxn>
                <a:cxn ang="0">
                  <a:pos x="61" y="0"/>
                </a:cxn>
              </a:cxnLst>
              <a:rect l="0" t="0" r="r" b="b"/>
              <a:pathLst>
                <a:path w="61" h="35">
                  <a:moveTo>
                    <a:pt x="61" y="0"/>
                  </a:moveTo>
                  <a:lnTo>
                    <a:pt x="39" y="1"/>
                  </a:lnTo>
                  <a:lnTo>
                    <a:pt x="23" y="9"/>
                  </a:lnTo>
                  <a:lnTo>
                    <a:pt x="9" y="17"/>
                  </a:lnTo>
                  <a:lnTo>
                    <a:pt x="1" y="30"/>
                  </a:lnTo>
                  <a:lnTo>
                    <a:pt x="0" y="31"/>
                  </a:lnTo>
                  <a:lnTo>
                    <a:pt x="1" y="35"/>
                  </a:lnTo>
                  <a:lnTo>
                    <a:pt x="22" y="24"/>
                  </a:lnTo>
                  <a:lnTo>
                    <a:pt x="41" y="12"/>
                  </a:lnTo>
                  <a:lnTo>
                    <a:pt x="6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 name="Freeform 13"/>
            <p:cNvSpPr>
              <a:spLocks/>
            </p:cNvSpPr>
            <p:nvPr/>
          </p:nvSpPr>
          <p:spPr bwMode="auto">
            <a:xfrm>
              <a:off x="4777" y="2663"/>
              <a:ext cx="25" cy="60"/>
            </a:xfrm>
            <a:custGeom>
              <a:avLst/>
              <a:gdLst/>
              <a:ahLst/>
              <a:cxnLst>
                <a:cxn ang="0">
                  <a:pos x="23" y="34"/>
                </a:cxn>
                <a:cxn ang="0">
                  <a:pos x="13" y="22"/>
                </a:cxn>
                <a:cxn ang="0">
                  <a:pos x="20" y="14"/>
                </a:cxn>
                <a:cxn ang="0">
                  <a:pos x="16" y="10"/>
                </a:cxn>
                <a:cxn ang="0">
                  <a:pos x="11" y="15"/>
                </a:cxn>
                <a:cxn ang="0">
                  <a:pos x="5" y="24"/>
                </a:cxn>
                <a:cxn ang="0">
                  <a:pos x="5" y="19"/>
                </a:cxn>
                <a:cxn ang="0">
                  <a:pos x="8" y="7"/>
                </a:cxn>
                <a:cxn ang="0">
                  <a:pos x="8" y="0"/>
                </a:cxn>
                <a:cxn ang="0">
                  <a:pos x="0" y="13"/>
                </a:cxn>
                <a:cxn ang="0">
                  <a:pos x="2" y="25"/>
                </a:cxn>
                <a:cxn ang="0">
                  <a:pos x="4" y="38"/>
                </a:cxn>
                <a:cxn ang="0">
                  <a:pos x="13" y="54"/>
                </a:cxn>
                <a:cxn ang="0">
                  <a:pos x="7" y="32"/>
                </a:cxn>
                <a:cxn ang="0">
                  <a:pos x="23" y="34"/>
                </a:cxn>
              </a:cxnLst>
              <a:rect l="0" t="0" r="r" b="b"/>
              <a:pathLst>
                <a:path w="23" h="54">
                  <a:moveTo>
                    <a:pt x="23" y="34"/>
                  </a:moveTo>
                  <a:lnTo>
                    <a:pt x="13" y="22"/>
                  </a:lnTo>
                  <a:lnTo>
                    <a:pt x="20" y="14"/>
                  </a:lnTo>
                  <a:lnTo>
                    <a:pt x="16" y="10"/>
                  </a:lnTo>
                  <a:lnTo>
                    <a:pt x="11" y="15"/>
                  </a:lnTo>
                  <a:lnTo>
                    <a:pt x="5" y="24"/>
                  </a:lnTo>
                  <a:lnTo>
                    <a:pt x="5" y="19"/>
                  </a:lnTo>
                  <a:lnTo>
                    <a:pt x="8" y="7"/>
                  </a:lnTo>
                  <a:lnTo>
                    <a:pt x="8" y="0"/>
                  </a:lnTo>
                  <a:lnTo>
                    <a:pt x="0" y="13"/>
                  </a:lnTo>
                  <a:lnTo>
                    <a:pt x="2" y="25"/>
                  </a:lnTo>
                  <a:lnTo>
                    <a:pt x="4" y="38"/>
                  </a:lnTo>
                  <a:lnTo>
                    <a:pt x="13" y="54"/>
                  </a:lnTo>
                  <a:lnTo>
                    <a:pt x="7" y="32"/>
                  </a:lnTo>
                  <a:lnTo>
                    <a:pt x="23"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 name="Freeform 14"/>
            <p:cNvSpPr>
              <a:spLocks/>
            </p:cNvSpPr>
            <p:nvPr/>
          </p:nvSpPr>
          <p:spPr bwMode="auto">
            <a:xfrm>
              <a:off x="4784" y="2763"/>
              <a:ext cx="51" cy="18"/>
            </a:xfrm>
            <a:custGeom>
              <a:avLst/>
              <a:gdLst/>
              <a:ahLst/>
              <a:cxnLst>
                <a:cxn ang="0">
                  <a:pos x="47" y="13"/>
                </a:cxn>
                <a:cxn ang="0">
                  <a:pos x="44" y="16"/>
                </a:cxn>
                <a:cxn ang="0">
                  <a:pos x="25" y="8"/>
                </a:cxn>
                <a:cxn ang="0">
                  <a:pos x="12" y="9"/>
                </a:cxn>
                <a:cxn ang="0">
                  <a:pos x="2" y="6"/>
                </a:cxn>
                <a:cxn ang="0">
                  <a:pos x="0" y="9"/>
                </a:cxn>
                <a:cxn ang="0">
                  <a:pos x="1" y="3"/>
                </a:cxn>
                <a:cxn ang="0">
                  <a:pos x="11" y="0"/>
                </a:cxn>
                <a:cxn ang="0">
                  <a:pos x="25" y="1"/>
                </a:cxn>
                <a:cxn ang="0">
                  <a:pos x="38" y="2"/>
                </a:cxn>
                <a:cxn ang="0">
                  <a:pos x="47" y="13"/>
                </a:cxn>
              </a:cxnLst>
              <a:rect l="0" t="0" r="r" b="b"/>
              <a:pathLst>
                <a:path w="47" h="16">
                  <a:moveTo>
                    <a:pt x="47" y="13"/>
                  </a:moveTo>
                  <a:lnTo>
                    <a:pt x="44" y="16"/>
                  </a:lnTo>
                  <a:lnTo>
                    <a:pt x="25" y="8"/>
                  </a:lnTo>
                  <a:lnTo>
                    <a:pt x="12" y="9"/>
                  </a:lnTo>
                  <a:lnTo>
                    <a:pt x="2" y="6"/>
                  </a:lnTo>
                  <a:lnTo>
                    <a:pt x="0" y="9"/>
                  </a:lnTo>
                  <a:lnTo>
                    <a:pt x="1" y="3"/>
                  </a:lnTo>
                  <a:lnTo>
                    <a:pt x="11" y="0"/>
                  </a:lnTo>
                  <a:lnTo>
                    <a:pt x="25" y="1"/>
                  </a:lnTo>
                  <a:lnTo>
                    <a:pt x="38" y="2"/>
                  </a:lnTo>
                  <a:lnTo>
                    <a:pt x="4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 name="Freeform 15"/>
            <p:cNvSpPr>
              <a:spLocks/>
            </p:cNvSpPr>
            <p:nvPr/>
          </p:nvSpPr>
          <p:spPr bwMode="auto">
            <a:xfrm>
              <a:off x="4635" y="2870"/>
              <a:ext cx="58" cy="11"/>
            </a:xfrm>
            <a:custGeom>
              <a:avLst/>
              <a:gdLst/>
              <a:ahLst/>
              <a:cxnLst>
                <a:cxn ang="0">
                  <a:pos x="51" y="1"/>
                </a:cxn>
                <a:cxn ang="0">
                  <a:pos x="51" y="0"/>
                </a:cxn>
                <a:cxn ang="0">
                  <a:pos x="48" y="0"/>
                </a:cxn>
                <a:cxn ang="0">
                  <a:pos x="43" y="4"/>
                </a:cxn>
                <a:cxn ang="0">
                  <a:pos x="33" y="4"/>
                </a:cxn>
                <a:cxn ang="0">
                  <a:pos x="21" y="2"/>
                </a:cxn>
                <a:cxn ang="0">
                  <a:pos x="8" y="1"/>
                </a:cxn>
                <a:cxn ang="0">
                  <a:pos x="0" y="8"/>
                </a:cxn>
                <a:cxn ang="0">
                  <a:pos x="7" y="10"/>
                </a:cxn>
                <a:cxn ang="0">
                  <a:pos x="22" y="10"/>
                </a:cxn>
                <a:cxn ang="0">
                  <a:pos x="38" y="9"/>
                </a:cxn>
                <a:cxn ang="0">
                  <a:pos x="51" y="1"/>
                </a:cxn>
              </a:cxnLst>
              <a:rect l="0" t="0" r="r" b="b"/>
              <a:pathLst>
                <a:path w="51" h="10">
                  <a:moveTo>
                    <a:pt x="51" y="1"/>
                  </a:moveTo>
                  <a:lnTo>
                    <a:pt x="51" y="0"/>
                  </a:lnTo>
                  <a:lnTo>
                    <a:pt x="48" y="0"/>
                  </a:lnTo>
                  <a:lnTo>
                    <a:pt x="43" y="4"/>
                  </a:lnTo>
                  <a:lnTo>
                    <a:pt x="33" y="4"/>
                  </a:lnTo>
                  <a:lnTo>
                    <a:pt x="21" y="2"/>
                  </a:lnTo>
                  <a:lnTo>
                    <a:pt x="8" y="1"/>
                  </a:lnTo>
                  <a:lnTo>
                    <a:pt x="0" y="8"/>
                  </a:lnTo>
                  <a:lnTo>
                    <a:pt x="7" y="10"/>
                  </a:lnTo>
                  <a:lnTo>
                    <a:pt x="22" y="10"/>
                  </a:lnTo>
                  <a:lnTo>
                    <a:pt x="38" y="9"/>
                  </a:lnTo>
                  <a:lnTo>
                    <a:pt x="5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 name="Freeform 16"/>
            <p:cNvSpPr>
              <a:spLocks/>
            </p:cNvSpPr>
            <p:nvPr/>
          </p:nvSpPr>
          <p:spPr bwMode="auto">
            <a:xfrm>
              <a:off x="4384" y="2736"/>
              <a:ext cx="29" cy="31"/>
            </a:xfrm>
            <a:custGeom>
              <a:avLst/>
              <a:gdLst/>
              <a:ahLst/>
              <a:cxnLst>
                <a:cxn ang="0">
                  <a:pos x="26" y="19"/>
                </a:cxn>
                <a:cxn ang="0">
                  <a:pos x="24" y="27"/>
                </a:cxn>
                <a:cxn ang="0">
                  <a:pos x="11" y="19"/>
                </a:cxn>
                <a:cxn ang="0">
                  <a:pos x="6" y="9"/>
                </a:cxn>
                <a:cxn ang="0">
                  <a:pos x="0" y="7"/>
                </a:cxn>
                <a:cxn ang="0">
                  <a:pos x="7" y="1"/>
                </a:cxn>
                <a:cxn ang="0">
                  <a:pos x="11" y="0"/>
                </a:cxn>
                <a:cxn ang="0">
                  <a:pos x="17" y="14"/>
                </a:cxn>
                <a:cxn ang="0">
                  <a:pos x="26" y="19"/>
                </a:cxn>
              </a:cxnLst>
              <a:rect l="0" t="0" r="r" b="b"/>
              <a:pathLst>
                <a:path w="26" h="27">
                  <a:moveTo>
                    <a:pt x="26" y="19"/>
                  </a:moveTo>
                  <a:lnTo>
                    <a:pt x="24" y="27"/>
                  </a:lnTo>
                  <a:lnTo>
                    <a:pt x="11" y="19"/>
                  </a:lnTo>
                  <a:lnTo>
                    <a:pt x="6" y="9"/>
                  </a:lnTo>
                  <a:lnTo>
                    <a:pt x="0" y="7"/>
                  </a:lnTo>
                  <a:lnTo>
                    <a:pt x="7" y="1"/>
                  </a:lnTo>
                  <a:lnTo>
                    <a:pt x="11" y="0"/>
                  </a:lnTo>
                  <a:lnTo>
                    <a:pt x="17" y="14"/>
                  </a:lnTo>
                  <a:lnTo>
                    <a:pt x="26"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 name="Freeform 17"/>
            <p:cNvSpPr>
              <a:spLocks/>
            </p:cNvSpPr>
            <p:nvPr/>
          </p:nvSpPr>
          <p:spPr bwMode="auto">
            <a:xfrm>
              <a:off x="4582" y="2867"/>
              <a:ext cx="42" cy="18"/>
            </a:xfrm>
            <a:custGeom>
              <a:avLst/>
              <a:gdLst/>
              <a:ahLst/>
              <a:cxnLst>
                <a:cxn ang="0">
                  <a:pos x="38" y="10"/>
                </a:cxn>
                <a:cxn ang="0">
                  <a:pos x="36" y="5"/>
                </a:cxn>
                <a:cxn ang="0">
                  <a:pos x="31" y="6"/>
                </a:cxn>
                <a:cxn ang="0">
                  <a:pos x="16" y="0"/>
                </a:cxn>
                <a:cxn ang="0">
                  <a:pos x="24" y="10"/>
                </a:cxn>
                <a:cxn ang="0">
                  <a:pos x="15" y="9"/>
                </a:cxn>
                <a:cxn ang="0">
                  <a:pos x="3" y="7"/>
                </a:cxn>
                <a:cxn ang="0">
                  <a:pos x="0" y="17"/>
                </a:cxn>
                <a:cxn ang="0">
                  <a:pos x="13" y="15"/>
                </a:cxn>
                <a:cxn ang="0">
                  <a:pos x="26" y="12"/>
                </a:cxn>
                <a:cxn ang="0">
                  <a:pos x="32" y="13"/>
                </a:cxn>
                <a:cxn ang="0">
                  <a:pos x="31" y="12"/>
                </a:cxn>
                <a:cxn ang="0">
                  <a:pos x="38" y="10"/>
                </a:cxn>
              </a:cxnLst>
              <a:rect l="0" t="0" r="r" b="b"/>
              <a:pathLst>
                <a:path w="38" h="17">
                  <a:moveTo>
                    <a:pt x="38" y="10"/>
                  </a:moveTo>
                  <a:lnTo>
                    <a:pt x="36" y="5"/>
                  </a:lnTo>
                  <a:lnTo>
                    <a:pt x="31" y="6"/>
                  </a:lnTo>
                  <a:lnTo>
                    <a:pt x="16" y="0"/>
                  </a:lnTo>
                  <a:lnTo>
                    <a:pt x="24" y="10"/>
                  </a:lnTo>
                  <a:lnTo>
                    <a:pt x="15" y="9"/>
                  </a:lnTo>
                  <a:lnTo>
                    <a:pt x="3" y="7"/>
                  </a:lnTo>
                  <a:lnTo>
                    <a:pt x="0" y="17"/>
                  </a:lnTo>
                  <a:lnTo>
                    <a:pt x="13" y="15"/>
                  </a:lnTo>
                  <a:lnTo>
                    <a:pt x="26" y="12"/>
                  </a:lnTo>
                  <a:lnTo>
                    <a:pt x="32" y="13"/>
                  </a:lnTo>
                  <a:lnTo>
                    <a:pt x="31" y="12"/>
                  </a:lnTo>
                  <a:lnTo>
                    <a:pt x="38"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 name="Freeform 18"/>
            <p:cNvSpPr>
              <a:spLocks/>
            </p:cNvSpPr>
            <p:nvPr/>
          </p:nvSpPr>
          <p:spPr bwMode="auto">
            <a:xfrm>
              <a:off x="4620" y="2894"/>
              <a:ext cx="31" cy="16"/>
            </a:xfrm>
            <a:custGeom>
              <a:avLst/>
              <a:gdLst/>
              <a:ahLst/>
              <a:cxnLst>
                <a:cxn ang="0">
                  <a:pos x="28" y="12"/>
                </a:cxn>
                <a:cxn ang="0">
                  <a:pos x="17" y="15"/>
                </a:cxn>
                <a:cxn ang="0">
                  <a:pos x="4" y="6"/>
                </a:cxn>
                <a:cxn ang="0">
                  <a:pos x="0" y="0"/>
                </a:cxn>
                <a:cxn ang="0">
                  <a:pos x="17" y="0"/>
                </a:cxn>
                <a:cxn ang="0">
                  <a:pos x="28" y="12"/>
                </a:cxn>
              </a:cxnLst>
              <a:rect l="0" t="0" r="r" b="b"/>
              <a:pathLst>
                <a:path w="28" h="15">
                  <a:moveTo>
                    <a:pt x="28" y="12"/>
                  </a:moveTo>
                  <a:lnTo>
                    <a:pt x="17" y="15"/>
                  </a:lnTo>
                  <a:lnTo>
                    <a:pt x="4" y="6"/>
                  </a:lnTo>
                  <a:lnTo>
                    <a:pt x="0" y="0"/>
                  </a:lnTo>
                  <a:lnTo>
                    <a:pt x="17" y="0"/>
                  </a:lnTo>
                  <a:lnTo>
                    <a:pt x="2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 name="Freeform 19"/>
            <p:cNvSpPr>
              <a:spLocks/>
            </p:cNvSpPr>
            <p:nvPr/>
          </p:nvSpPr>
          <p:spPr bwMode="auto">
            <a:xfrm>
              <a:off x="4751" y="2767"/>
              <a:ext cx="22" cy="14"/>
            </a:xfrm>
            <a:custGeom>
              <a:avLst/>
              <a:gdLst/>
              <a:ahLst/>
              <a:cxnLst>
                <a:cxn ang="0">
                  <a:pos x="19" y="6"/>
                </a:cxn>
                <a:cxn ang="0">
                  <a:pos x="12" y="13"/>
                </a:cxn>
                <a:cxn ang="0">
                  <a:pos x="0" y="5"/>
                </a:cxn>
                <a:cxn ang="0">
                  <a:pos x="6" y="0"/>
                </a:cxn>
                <a:cxn ang="0">
                  <a:pos x="19" y="6"/>
                </a:cxn>
              </a:cxnLst>
              <a:rect l="0" t="0" r="r" b="b"/>
              <a:pathLst>
                <a:path w="19" h="13">
                  <a:moveTo>
                    <a:pt x="19" y="6"/>
                  </a:moveTo>
                  <a:lnTo>
                    <a:pt x="12" y="13"/>
                  </a:lnTo>
                  <a:lnTo>
                    <a:pt x="0" y="5"/>
                  </a:lnTo>
                  <a:lnTo>
                    <a:pt x="6" y="0"/>
                  </a:lnTo>
                  <a:lnTo>
                    <a:pt x="1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 name="Freeform 20"/>
            <p:cNvSpPr>
              <a:spLocks/>
            </p:cNvSpPr>
            <p:nvPr/>
          </p:nvSpPr>
          <p:spPr bwMode="auto">
            <a:xfrm>
              <a:off x="4544" y="2867"/>
              <a:ext cx="20" cy="12"/>
            </a:xfrm>
            <a:custGeom>
              <a:avLst/>
              <a:gdLst/>
              <a:ahLst/>
              <a:cxnLst>
                <a:cxn ang="0">
                  <a:pos x="18" y="5"/>
                </a:cxn>
                <a:cxn ang="0">
                  <a:pos x="16" y="2"/>
                </a:cxn>
                <a:cxn ang="0">
                  <a:pos x="0" y="0"/>
                </a:cxn>
                <a:cxn ang="0">
                  <a:pos x="8" y="10"/>
                </a:cxn>
                <a:cxn ang="0">
                  <a:pos x="18" y="5"/>
                </a:cxn>
              </a:cxnLst>
              <a:rect l="0" t="0" r="r" b="b"/>
              <a:pathLst>
                <a:path w="18" h="10">
                  <a:moveTo>
                    <a:pt x="18" y="5"/>
                  </a:moveTo>
                  <a:lnTo>
                    <a:pt x="16" y="2"/>
                  </a:lnTo>
                  <a:lnTo>
                    <a:pt x="0" y="0"/>
                  </a:lnTo>
                  <a:lnTo>
                    <a:pt x="8" y="10"/>
                  </a:lnTo>
                  <a:lnTo>
                    <a:pt x="18"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 name="Freeform 21"/>
            <p:cNvSpPr>
              <a:spLocks/>
            </p:cNvSpPr>
            <p:nvPr/>
          </p:nvSpPr>
          <p:spPr bwMode="auto">
            <a:xfrm>
              <a:off x="4242" y="2676"/>
              <a:ext cx="16" cy="18"/>
            </a:xfrm>
            <a:custGeom>
              <a:avLst/>
              <a:gdLst/>
              <a:ahLst/>
              <a:cxnLst>
                <a:cxn ang="0">
                  <a:pos x="14" y="9"/>
                </a:cxn>
                <a:cxn ang="0">
                  <a:pos x="12" y="16"/>
                </a:cxn>
                <a:cxn ang="0">
                  <a:pos x="0" y="1"/>
                </a:cxn>
                <a:cxn ang="0">
                  <a:pos x="4" y="0"/>
                </a:cxn>
                <a:cxn ang="0">
                  <a:pos x="14" y="9"/>
                </a:cxn>
              </a:cxnLst>
              <a:rect l="0" t="0" r="r" b="b"/>
              <a:pathLst>
                <a:path w="14" h="16">
                  <a:moveTo>
                    <a:pt x="14" y="9"/>
                  </a:moveTo>
                  <a:lnTo>
                    <a:pt x="12" y="16"/>
                  </a:lnTo>
                  <a:lnTo>
                    <a:pt x="0" y="1"/>
                  </a:lnTo>
                  <a:lnTo>
                    <a:pt x="4" y="0"/>
                  </a:lnTo>
                  <a:lnTo>
                    <a:pt x="14"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 name="Freeform 22"/>
            <p:cNvSpPr>
              <a:spLocks/>
            </p:cNvSpPr>
            <p:nvPr/>
          </p:nvSpPr>
          <p:spPr bwMode="auto">
            <a:xfrm>
              <a:off x="4569" y="2870"/>
              <a:ext cx="13" cy="13"/>
            </a:xfrm>
            <a:custGeom>
              <a:avLst/>
              <a:gdLst/>
              <a:ahLst/>
              <a:cxnLst>
                <a:cxn ang="0">
                  <a:pos x="12" y="3"/>
                </a:cxn>
                <a:cxn ang="0">
                  <a:pos x="8" y="0"/>
                </a:cxn>
                <a:cxn ang="0">
                  <a:pos x="0" y="9"/>
                </a:cxn>
                <a:cxn ang="0">
                  <a:pos x="6" y="12"/>
                </a:cxn>
                <a:cxn ang="0">
                  <a:pos x="12" y="3"/>
                </a:cxn>
              </a:cxnLst>
              <a:rect l="0" t="0" r="r" b="b"/>
              <a:pathLst>
                <a:path w="12" h="12">
                  <a:moveTo>
                    <a:pt x="12" y="3"/>
                  </a:moveTo>
                  <a:lnTo>
                    <a:pt x="8" y="0"/>
                  </a:lnTo>
                  <a:lnTo>
                    <a:pt x="0" y="9"/>
                  </a:lnTo>
                  <a:lnTo>
                    <a:pt x="6" y="12"/>
                  </a:lnTo>
                  <a:lnTo>
                    <a:pt x="12"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 name="Freeform 23"/>
            <p:cNvSpPr>
              <a:spLocks/>
            </p:cNvSpPr>
            <p:nvPr/>
          </p:nvSpPr>
          <p:spPr bwMode="auto">
            <a:xfrm>
              <a:off x="4426" y="2756"/>
              <a:ext cx="14" cy="14"/>
            </a:xfrm>
            <a:custGeom>
              <a:avLst/>
              <a:gdLst/>
              <a:ahLst/>
              <a:cxnLst>
                <a:cxn ang="0">
                  <a:pos x="11" y="5"/>
                </a:cxn>
                <a:cxn ang="0">
                  <a:pos x="5" y="9"/>
                </a:cxn>
                <a:cxn ang="0">
                  <a:pos x="0" y="11"/>
                </a:cxn>
                <a:cxn ang="0">
                  <a:pos x="0" y="0"/>
                </a:cxn>
                <a:cxn ang="0">
                  <a:pos x="11" y="5"/>
                </a:cxn>
              </a:cxnLst>
              <a:rect l="0" t="0" r="r" b="b"/>
              <a:pathLst>
                <a:path w="11" h="11">
                  <a:moveTo>
                    <a:pt x="11" y="5"/>
                  </a:moveTo>
                  <a:lnTo>
                    <a:pt x="5" y="9"/>
                  </a:lnTo>
                  <a:lnTo>
                    <a:pt x="0" y="11"/>
                  </a:lnTo>
                  <a:lnTo>
                    <a:pt x="0" y="0"/>
                  </a:lnTo>
                  <a:lnTo>
                    <a:pt x="11"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 name="Freeform 24"/>
            <p:cNvSpPr>
              <a:spLocks/>
            </p:cNvSpPr>
            <p:nvPr/>
          </p:nvSpPr>
          <p:spPr bwMode="auto">
            <a:xfrm>
              <a:off x="4689" y="2794"/>
              <a:ext cx="11" cy="25"/>
            </a:xfrm>
            <a:custGeom>
              <a:avLst/>
              <a:gdLst/>
              <a:ahLst/>
              <a:cxnLst>
                <a:cxn ang="0">
                  <a:pos x="9" y="15"/>
                </a:cxn>
                <a:cxn ang="0">
                  <a:pos x="7" y="14"/>
                </a:cxn>
                <a:cxn ang="0">
                  <a:pos x="7" y="5"/>
                </a:cxn>
                <a:cxn ang="0">
                  <a:pos x="7" y="0"/>
                </a:cxn>
                <a:cxn ang="0">
                  <a:pos x="0" y="22"/>
                </a:cxn>
                <a:cxn ang="0">
                  <a:pos x="9" y="15"/>
                </a:cxn>
              </a:cxnLst>
              <a:rect l="0" t="0" r="r" b="b"/>
              <a:pathLst>
                <a:path w="9" h="22">
                  <a:moveTo>
                    <a:pt x="9" y="15"/>
                  </a:moveTo>
                  <a:lnTo>
                    <a:pt x="7" y="14"/>
                  </a:lnTo>
                  <a:lnTo>
                    <a:pt x="7" y="5"/>
                  </a:lnTo>
                  <a:lnTo>
                    <a:pt x="7" y="0"/>
                  </a:lnTo>
                  <a:lnTo>
                    <a:pt x="0" y="22"/>
                  </a:lnTo>
                  <a:lnTo>
                    <a:pt x="9"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 name="Freeform 25"/>
            <p:cNvSpPr>
              <a:spLocks/>
            </p:cNvSpPr>
            <p:nvPr/>
          </p:nvSpPr>
          <p:spPr bwMode="auto">
            <a:xfrm>
              <a:off x="4895" y="2816"/>
              <a:ext cx="7" cy="14"/>
            </a:xfrm>
            <a:custGeom>
              <a:avLst/>
              <a:gdLst/>
              <a:ahLst/>
              <a:cxnLst>
                <a:cxn ang="0">
                  <a:pos x="6" y="10"/>
                </a:cxn>
                <a:cxn ang="0">
                  <a:pos x="6" y="0"/>
                </a:cxn>
                <a:cxn ang="0">
                  <a:pos x="0" y="2"/>
                </a:cxn>
                <a:cxn ang="0">
                  <a:pos x="0" y="13"/>
                </a:cxn>
                <a:cxn ang="0">
                  <a:pos x="6" y="10"/>
                </a:cxn>
              </a:cxnLst>
              <a:rect l="0" t="0" r="r" b="b"/>
              <a:pathLst>
                <a:path w="6" h="13">
                  <a:moveTo>
                    <a:pt x="6" y="10"/>
                  </a:moveTo>
                  <a:lnTo>
                    <a:pt x="6" y="0"/>
                  </a:lnTo>
                  <a:lnTo>
                    <a:pt x="0" y="2"/>
                  </a:lnTo>
                  <a:lnTo>
                    <a:pt x="0" y="13"/>
                  </a:lnTo>
                  <a:lnTo>
                    <a:pt x="6"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 name="Freeform 26"/>
            <p:cNvSpPr>
              <a:spLocks/>
            </p:cNvSpPr>
            <p:nvPr/>
          </p:nvSpPr>
          <p:spPr bwMode="auto">
            <a:xfrm>
              <a:off x="4271" y="2723"/>
              <a:ext cx="9" cy="16"/>
            </a:xfrm>
            <a:custGeom>
              <a:avLst/>
              <a:gdLst/>
              <a:ahLst/>
              <a:cxnLst>
                <a:cxn ang="0">
                  <a:pos x="8" y="13"/>
                </a:cxn>
                <a:cxn ang="0">
                  <a:pos x="2" y="13"/>
                </a:cxn>
                <a:cxn ang="0">
                  <a:pos x="0" y="0"/>
                </a:cxn>
                <a:cxn ang="0">
                  <a:pos x="8" y="13"/>
                </a:cxn>
              </a:cxnLst>
              <a:rect l="0" t="0" r="r" b="b"/>
              <a:pathLst>
                <a:path w="8" h="13">
                  <a:moveTo>
                    <a:pt x="8" y="13"/>
                  </a:moveTo>
                  <a:lnTo>
                    <a:pt x="2" y="13"/>
                  </a:lnTo>
                  <a:lnTo>
                    <a:pt x="0" y="0"/>
                  </a:lnTo>
                  <a:lnTo>
                    <a:pt x="8"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 name="Freeform 27"/>
            <p:cNvSpPr>
              <a:spLocks/>
            </p:cNvSpPr>
            <p:nvPr/>
          </p:nvSpPr>
          <p:spPr bwMode="auto">
            <a:xfrm>
              <a:off x="4686" y="2799"/>
              <a:ext cx="7" cy="13"/>
            </a:xfrm>
            <a:custGeom>
              <a:avLst/>
              <a:gdLst/>
              <a:ahLst/>
              <a:cxnLst>
                <a:cxn ang="0">
                  <a:pos x="6" y="5"/>
                </a:cxn>
                <a:cxn ang="0">
                  <a:pos x="6" y="0"/>
                </a:cxn>
                <a:cxn ang="0">
                  <a:pos x="3" y="1"/>
                </a:cxn>
                <a:cxn ang="0">
                  <a:pos x="0" y="12"/>
                </a:cxn>
                <a:cxn ang="0">
                  <a:pos x="6" y="5"/>
                </a:cxn>
              </a:cxnLst>
              <a:rect l="0" t="0" r="r" b="b"/>
              <a:pathLst>
                <a:path w="6" h="12">
                  <a:moveTo>
                    <a:pt x="6" y="5"/>
                  </a:moveTo>
                  <a:lnTo>
                    <a:pt x="6" y="0"/>
                  </a:lnTo>
                  <a:lnTo>
                    <a:pt x="3" y="1"/>
                  </a:lnTo>
                  <a:lnTo>
                    <a:pt x="0" y="12"/>
                  </a:lnTo>
                  <a:lnTo>
                    <a:pt x="6"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 name="Freeform 28"/>
            <p:cNvSpPr>
              <a:spLocks/>
            </p:cNvSpPr>
            <p:nvPr/>
          </p:nvSpPr>
          <p:spPr bwMode="auto">
            <a:xfrm>
              <a:off x="4722" y="2739"/>
              <a:ext cx="18" cy="4"/>
            </a:xfrm>
            <a:custGeom>
              <a:avLst/>
              <a:gdLst/>
              <a:ahLst/>
              <a:cxnLst>
                <a:cxn ang="0">
                  <a:pos x="15" y="4"/>
                </a:cxn>
                <a:cxn ang="0">
                  <a:pos x="7" y="0"/>
                </a:cxn>
                <a:cxn ang="0">
                  <a:pos x="0" y="4"/>
                </a:cxn>
                <a:cxn ang="0">
                  <a:pos x="15" y="4"/>
                </a:cxn>
              </a:cxnLst>
              <a:rect l="0" t="0" r="r" b="b"/>
              <a:pathLst>
                <a:path w="15" h="4">
                  <a:moveTo>
                    <a:pt x="15" y="4"/>
                  </a:moveTo>
                  <a:lnTo>
                    <a:pt x="7" y="0"/>
                  </a:lnTo>
                  <a:lnTo>
                    <a:pt x="0" y="4"/>
                  </a:lnTo>
                  <a:lnTo>
                    <a:pt x="1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 name="Freeform 29"/>
            <p:cNvSpPr>
              <a:spLocks/>
            </p:cNvSpPr>
            <p:nvPr/>
          </p:nvSpPr>
          <p:spPr bwMode="auto">
            <a:xfrm>
              <a:off x="4889" y="2830"/>
              <a:ext cx="6" cy="13"/>
            </a:xfrm>
            <a:custGeom>
              <a:avLst/>
              <a:gdLst/>
              <a:ahLst/>
              <a:cxnLst>
                <a:cxn ang="0">
                  <a:pos x="6" y="6"/>
                </a:cxn>
                <a:cxn ang="0">
                  <a:pos x="1" y="11"/>
                </a:cxn>
                <a:cxn ang="0">
                  <a:pos x="0" y="0"/>
                </a:cxn>
                <a:cxn ang="0">
                  <a:pos x="6" y="6"/>
                </a:cxn>
              </a:cxnLst>
              <a:rect l="0" t="0" r="r" b="b"/>
              <a:pathLst>
                <a:path w="6" h="11">
                  <a:moveTo>
                    <a:pt x="6" y="6"/>
                  </a:moveTo>
                  <a:lnTo>
                    <a:pt x="1" y="11"/>
                  </a:lnTo>
                  <a:lnTo>
                    <a:pt x="0" y="0"/>
                  </a:lnTo>
                  <a:lnTo>
                    <a:pt x="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 name="Freeform 30"/>
            <p:cNvSpPr>
              <a:spLocks/>
            </p:cNvSpPr>
            <p:nvPr/>
          </p:nvSpPr>
          <p:spPr bwMode="auto">
            <a:xfrm>
              <a:off x="4513" y="2845"/>
              <a:ext cx="25" cy="2"/>
            </a:xfrm>
            <a:custGeom>
              <a:avLst/>
              <a:gdLst/>
              <a:ahLst/>
              <a:cxnLst>
                <a:cxn ang="0">
                  <a:pos x="22" y="0"/>
                </a:cxn>
                <a:cxn ang="0">
                  <a:pos x="6" y="2"/>
                </a:cxn>
                <a:cxn ang="0">
                  <a:pos x="0" y="0"/>
                </a:cxn>
                <a:cxn ang="0">
                  <a:pos x="22" y="0"/>
                </a:cxn>
              </a:cxnLst>
              <a:rect l="0" t="0" r="r" b="b"/>
              <a:pathLst>
                <a:path w="22" h="2">
                  <a:moveTo>
                    <a:pt x="22" y="0"/>
                  </a:moveTo>
                  <a:lnTo>
                    <a:pt x="6" y="2"/>
                  </a:lnTo>
                  <a:lnTo>
                    <a:pt x="0" y="0"/>
                  </a:lnTo>
                  <a:lnTo>
                    <a:pt x="2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 name="Freeform 31"/>
            <p:cNvSpPr>
              <a:spLocks/>
            </p:cNvSpPr>
            <p:nvPr/>
          </p:nvSpPr>
          <p:spPr bwMode="auto">
            <a:xfrm>
              <a:off x="4540" y="2607"/>
              <a:ext cx="15" cy="16"/>
            </a:xfrm>
            <a:custGeom>
              <a:avLst/>
              <a:gdLst/>
              <a:ahLst/>
              <a:cxnLst>
                <a:cxn ang="0">
                  <a:pos x="9" y="16"/>
                </a:cxn>
                <a:cxn ang="0">
                  <a:pos x="0" y="6"/>
                </a:cxn>
                <a:cxn ang="0">
                  <a:pos x="15" y="0"/>
                </a:cxn>
                <a:cxn ang="0">
                  <a:pos x="15" y="1"/>
                </a:cxn>
                <a:cxn ang="0">
                  <a:pos x="12" y="10"/>
                </a:cxn>
                <a:cxn ang="0">
                  <a:pos x="9" y="16"/>
                </a:cxn>
              </a:cxnLst>
              <a:rect l="0" t="0" r="r" b="b"/>
              <a:pathLst>
                <a:path w="15" h="16">
                  <a:moveTo>
                    <a:pt x="9" y="16"/>
                  </a:moveTo>
                  <a:lnTo>
                    <a:pt x="0" y="6"/>
                  </a:lnTo>
                  <a:lnTo>
                    <a:pt x="15" y="0"/>
                  </a:lnTo>
                  <a:lnTo>
                    <a:pt x="15" y="1"/>
                  </a:lnTo>
                  <a:lnTo>
                    <a:pt x="12" y="10"/>
                  </a:lnTo>
                  <a:lnTo>
                    <a:pt x="9"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 name="Freeform 32"/>
            <p:cNvSpPr>
              <a:spLocks/>
            </p:cNvSpPr>
            <p:nvPr/>
          </p:nvSpPr>
          <p:spPr bwMode="auto">
            <a:xfrm>
              <a:off x="4462" y="2567"/>
              <a:ext cx="169" cy="120"/>
            </a:xfrm>
            <a:custGeom>
              <a:avLst/>
              <a:gdLst/>
              <a:ahLst/>
              <a:cxnLst>
                <a:cxn ang="0">
                  <a:pos x="113" y="0"/>
                </a:cxn>
                <a:cxn ang="0">
                  <a:pos x="122" y="7"/>
                </a:cxn>
                <a:cxn ang="0">
                  <a:pos x="122" y="19"/>
                </a:cxn>
                <a:cxn ang="0">
                  <a:pos x="129" y="16"/>
                </a:cxn>
                <a:cxn ang="0">
                  <a:pos x="129" y="21"/>
                </a:cxn>
                <a:cxn ang="0">
                  <a:pos x="132" y="22"/>
                </a:cxn>
                <a:cxn ang="0">
                  <a:pos x="151" y="30"/>
                </a:cxn>
                <a:cxn ang="0">
                  <a:pos x="134" y="35"/>
                </a:cxn>
                <a:cxn ang="0">
                  <a:pos x="139" y="45"/>
                </a:cxn>
                <a:cxn ang="0">
                  <a:pos x="128" y="47"/>
                </a:cxn>
                <a:cxn ang="0">
                  <a:pos x="125" y="51"/>
                </a:cxn>
                <a:cxn ang="0">
                  <a:pos x="111" y="48"/>
                </a:cxn>
                <a:cxn ang="0">
                  <a:pos x="97" y="47"/>
                </a:cxn>
                <a:cxn ang="0">
                  <a:pos x="93" y="59"/>
                </a:cxn>
                <a:cxn ang="0">
                  <a:pos x="90" y="72"/>
                </a:cxn>
                <a:cxn ang="0">
                  <a:pos x="86" y="81"/>
                </a:cxn>
                <a:cxn ang="0">
                  <a:pos x="79" y="96"/>
                </a:cxn>
                <a:cxn ang="0">
                  <a:pos x="66" y="102"/>
                </a:cxn>
                <a:cxn ang="0">
                  <a:pos x="45" y="97"/>
                </a:cxn>
                <a:cxn ang="0">
                  <a:pos x="39" y="105"/>
                </a:cxn>
                <a:cxn ang="0">
                  <a:pos x="19" y="109"/>
                </a:cxn>
                <a:cxn ang="0">
                  <a:pos x="3" y="100"/>
                </a:cxn>
                <a:cxn ang="0">
                  <a:pos x="0" y="88"/>
                </a:cxn>
                <a:cxn ang="0">
                  <a:pos x="1" y="89"/>
                </a:cxn>
                <a:cxn ang="0">
                  <a:pos x="13" y="96"/>
                </a:cxn>
                <a:cxn ang="0">
                  <a:pos x="25" y="100"/>
                </a:cxn>
                <a:cxn ang="0">
                  <a:pos x="23" y="99"/>
                </a:cxn>
                <a:cxn ang="0">
                  <a:pos x="25" y="95"/>
                </a:cxn>
                <a:cxn ang="0">
                  <a:pos x="26" y="87"/>
                </a:cxn>
                <a:cxn ang="0">
                  <a:pos x="26" y="83"/>
                </a:cxn>
                <a:cxn ang="0">
                  <a:pos x="29" y="77"/>
                </a:cxn>
                <a:cxn ang="0">
                  <a:pos x="39" y="73"/>
                </a:cxn>
                <a:cxn ang="0">
                  <a:pos x="50" y="70"/>
                </a:cxn>
                <a:cxn ang="0">
                  <a:pos x="60" y="57"/>
                </a:cxn>
                <a:cxn ang="0">
                  <a:pos x="69" y="42"/>
                </a:cxn>
                <a:cxn ang="0">
                  <a:pos x="78" y="52"/>
                </a:cxn>
                <a:cxn ang="0">
                  <a:pos x="81" y="46"/>
                </a:cxn>
                <a:cxn ang="0">
                  <a:pos x="84" y="37"/>
                </a:cxn>
                <a:cxn ang="0">
                  <a:pos x="87" y="47"/>
                </a:cxn>
                <a:cxn ang="0">
                  <a:pos x="87" y="40"/>
                </a:cxn>
                <a:cxn ang="0">
                  <a:pos x="91" y="35"/>
                </a:cxn>
                <a:cxn ang="0">
                  <a:pos x="90" y="30"/>
                </a:cxn>
                <a:cxn ang="0">
                  <a:pos x="93" y="25"/>
                </a:cxn>
                <a:cxn ang="0">
                  <a:pos x="101" y="13"/>
                </a:cxn>
                <a:cxn ang="0">
                  <a:pos x="108" y="0"/>
                </a:cxn>
                <a:cxn ang="0">
                  <a:pos x="109" y="5"/>
                </a:cxn>
                <a:cxn ang="0">
                  <a:pos x="113" y="0"/>
                </a:cxn>
              </a:cxnLst>
              <a:rect l="0" t="0" r="r" b="b"/>
              <a:pathLst>
                <a:path w="151" h="109">
                  <a:moveTo>
                    <a:pt x="113" y="0"/>
                  </a:moveTo>
                  <a:lnTo>
                    <a:pt x="122" y="7"/>
                  </a:lnTo>
                  <a:lnTo>
                    <a:pt x="122" y="19"/>
                  </a:lnTo>
                  <a:lnTo>
                    <a:pt x="129" y="16"/>
                  </a:lnTo>
                  <a:lnTo>
                    <a:pt x="129" y="21"/>
                  </a:lnTo>
                  <a:lnTo>
                    <a:pt x="132" y="22"/>
                  </a:lnTo>
                  <a:lnTo>
                    <a:pt x="151" y="30"/>
                  </a:lnTo>
                  <a:lnTo>
                    <a:pt x="134" y="35"/>
                  </a:lnTo>
                  <a:lnTo>
                    <a:pt x="139" y="45"/>
                  </a:lnTo>
                  <a:lnTo>
                    <a:pt x="128" y="47"/>
                  </a:lnTo>
                  <a:lnTo>
                    <a:pt x="125" y="51"/>
                  </a:lnTo>
                  <a:lnTo>
                    <a:pt x="111" y="48"/>
                  </a:lnTo>
                  <a:lnTo>
                    <a:pt x="97" y="47"/>
                  </a:lnTo>
                  <a:lnTo>
                    <a:pt x="93" y="59"/>
                  </a:lnTo>
                  <a:lnTo>
                    <a:pt x="90" y="72"/>
                  </a:lnTo>
                  <a:lnTo>
                    <a:pt x="86" y="81"/>
                  </a:lnTo>
                  <a:lnTo>
                    <a:pt x="79" y="96"/>
                  </a:lnTo>
                  <a:lnTo>
                    <a:pt x="66" y="102"/>
                  </a:lnTo>
                  <a:lnTo>
                    <a:pt x="45" y="97"/>
                  </a:lnTo>
                  <a:lnTo>
                    <a:pt x="39" y="105"/>
                  </a:lnTo>
                  <a:lnTo>
                    <a:pt x="19" y="109"/>
                  </a:lnTo>
                  <a:lnTo>
                    <a:pt x="3" y="100"/>
                  </a:lnTo>
                  <a:lnTo>
                    <a:pt x="0" y="88"/>
                  </a:lnTo>
                  <a:lnTo>
                    <a:pt x="1" y="89"/>
                  </a:lnTo>
                  <a:lnTo>
                    <a:pt x="13" y="96"/>
                  </a:lnTo>
                  <a:lnTo>
                    <a:pt x="25" y="100"/>
                  </a:lnTo>
                  <a:lnTo>
                    <a:pt x="23" y="99"/>
                  </a:lnTo>
                  <a:lnTo>
                    <a:pt x="25" y="95"/>
                  </a:lnTo>
                  <a:lnTo>
                    <a:pt x="26" y="87"/>
                  </a:lnTo>
                  <a:lnTo>
                    <a:pt x="26" y="83"/>
                  </a:lnTo>
                  <a:lnTo>
                    <a:pt x="29" y="77"/>
                  </a:lnTo>
                  <a:lnTo>
                    <a:pt x="39" y="73"/>
                  </a:lnTo>
                  <a:lnTo>
                    <a:pt x="50" y="70"/>
                  </a:lnTo>
                  <a:lnTo>
                    <a:pt x="60" y="57"/>
                  </a:lnTo>
                  <a:lnTo>
                    <a:pt x="69" y="42"/>
                  </a:lnTo>
                  <a:lnTo>
                    <a:pt x="78" y="52"/>
                  </a:lnTo>
                  <a:lnTo>
                    <a:pt x="81" y="46"/>
                  </a:lnTo>
                  <a:lnTo>
                    <a:pt x="84" y="37"/>
                  </a:lnTo>
                  <a:lnTo>
                    <a:pt x="87" y="47"/>
                  </a:lnTo>
                  <a:lnTo>
                    <a:pt x="87" y="40"/>
                  </a:lnTo>
                  <a:lnTo>
                    <a:pt x="91" y="35"/>
                  </a:lnTo>
                  <a:lnTo>
                    <a:pt x="90" y="30"/>
                  </a:lnTo>
                  <a:lnTo>
                    <a:pt x="93" y="25"/>
                  </a:lnTo>
                  <a:lnTo>
                    <a:pt x="101" y="13"/>
                  </a:lnTo>
                  <a:lnTo>
                    <a:pt x="108" y="0"/>
                  </a:lnTo>
                  <a:lnTo>
                    <a:pt x="109" y="5"/>
                  </a:lnTo>
                  <a:lnTo>
                    <a:pt x="11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 name="Freeform 33"/>
            <p:cNvSpPr>
              <a:spLocks/>
            </p:cNvSpPr>
            <p:nvPr/>
          </p:nvSpPr>
          <p:spPr bwMode="auto">
            <a:xfrm>
              <a:off x="4293" y="2574"/>
              <a:ext cx="76" cy="102"/>
            </a:xfrm>
            <a:custGeom>
              <a:avLst/>
              <a:gdLst/>
              <a:ahLst/>
              <a:cxnLst>
                <a:cxn ang="0">
                  <a:pos x="59" y="93"/>
                </a:cxn>
                <a:cxn ang="0">
                  <a:pos x="40" y="80"/>
                </a:cxn>
                <a:cxn ang="0">
                  <a:pos x="21" y="66"/>
                </a:cxn>
                <a:cxn ang="0">
                  <a:pos x="12" y="46"/>
                </a:cxn>
                <a:cxn ang="0">
                  <a:pos x="6" y="24"/>
                </a:cxn>
                <a:cxn ang="0">
                  <a:pos x="0" y="3"/>
                </a:cxn>
                <a:cxn ang="0">
                  <a:pos x="1" y="0"/>
                </a:cxn>
                <a:cxn ang="0">
                  <a:pos x="13" y="6"/>
                </a:cxn>
                <a:cxn ang="0">
                  <a:pos x="15" y="14"/>
                </a:cxn>
                <a:cxn ang="0">
                  <a:pos x="25" y="14"/>
                </a:cxn>
                <a:cxn ang="0">
                  <a:pos x="31" y="6"/>
                </a:cxn>
                <a:cxn ang="0">
                  <a:pos x="41" y="16"/>
                </a:cxn>
                <a:cxn ang="0">
                  <a:pos x="52" y="27"/>
                </a:cxn>
                <a:cxn ang="0">
                  <a:pos x="53" y="44"/>
                </a:cxn>
                <a:cxn ang="0">
                  <a:pos x="55" y="60"/>
                </a:cxn>
                <a:cxn ang="0">
                  <a:pos x="63" y="76"/>
                </a:cxn>
                <a:cxn ang="0">
                  <a:pos x="70" y="92"/>
                </a:cxn>
                <a:cxn ang="0">
                  <a:pos x="64" y="89"/>
                </a:cxn>
                <a:cxn ang="0">
                  <a:pos x="59" y="93"/>
                </a:cxn>
              </a:cxnLst>
              <a:rect l="0" t="0" r="r" b="b"/>
              <a:pathLst>
                <a:path w="70" h="93">
                  <a:moveTo>
                    <a:pt x="59" y="93"/>
                  </a:moveTo>
                  <a:lnTo>
                    <a:pt x="40" y="80"/>
                  </a:lnTo>
                  <a:lnTo>
                    <a:pt x="21" y="66"/>
                  </a:lnTo>
                  <a:lnTo>
                    <a:pt x="12" y="46"/>
                  </a:lnTo>
                  <a:lnTo>
                    <a:pt x="6" y="24"/>
                  </a:lnTo>
                  <a:lnTo>
                    <a:pt x="0" y="3"/>
                  </a:lnTo>
                  <a:lnTo>
                    <a:pt x="1" y="0"/>
                  </a:lnTo>
                  <a:lnTo>
                    <a:pt x="13" y="6"/>
                  </a:lnTo>
                  <a:lnTo>
                    <a:pt x="15" y="14"/>
                  </a:lnTo>
                  <a:lnTo>
                    <a:pt x="25" y="14"/>
                  </a:lnTo>
                  <a:lnTo>
                    <a:pt x="31" y="6"/>
                  </a:lnTo>
                  <a:lnTo>
                    <a:pt x="41" y="16"/>
                  </a:lnTo>
                  <a:lnTo>
                    <a:pt x="52" y="27"/>
                  </a:lnTo>
                  <a:lnTo>
                    <a:pt x="53" y="44"/>
                  </a:lnTo>
                  <a:lnTo>
                    <a:pt x="55" y="60"/>
                  </a:lnTo>
                  <a:lnTo>
                    <a:pt x="63" y="76"/>
                  </a:lnTo>
                  <a:lnTo>
                    <a:pt x="70" y="92"/>
                  </a:lnTo>
                  <a:lnTo>
                    <a:pt x="64" y="89"/>
                  </a:lnTo>
                  <a:lnTo>
                    <a:pt x="59" y="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 name="Freeform 34"/>
            <p:cNvSpPr>
              <a:spLocks/>
            </p:cNvSpPr>
            <p:nvPr/>
          </p:nvSpPr>
          <p:spPr bwMode="auto">
            <a:xfrm>
              <a:off x="5473" y="2714"/>
              <a:ext cx="2" cy="2"/>
            </a:xfrm>
            <a:custGeom>
              <a:avLst/>
              <a:gdLst/>
              <a:ahLst/>
              <a:cxnLst>
                <a:cxn ang="0">
                  <a:pos x="0" y="2"/>
                </a:cxn>
                <a:cxn ang="0">
                  <a:pos x="0" y="0"/>
                </a:cxn>
                <a:cxn ang="0">
                  <a:pos x="0" y="2"/>
                </a:cxn>
              </a:cxnLst>
              <a:rect l="0" t="0" r="r" b="b"/>
              <a:pathLst>
                <a:path h="2">
                  <a:moveTo>
                    <a:pt x="0" y="2"/>
                  </a:moveTo>
                  <a:lnTo>
                    <a:pt x="0" y="0"/>
                  </a:lnTo>
                  <a:lnTo>
                    <a:pt x="0"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 name="Freeform 35"/>
            <p:cNvSpPr>
              <a:spLocks/>
            </p:cNvSpPr>
            <p:nvPr/>
          </p:nvSpPr>
          <p:spPr bwMode="auto">
            <a:xfrm>
              <a:off x="5006" y="2756"/>
              <a:ext cx="171" cy="160"/>
            </a:xfrm>
            <a:custGeom>
              <a:avLst/>
              <a:gdLst/>
              <a:ahLst/>
              <a:cxnLst>
                <a:cxn ang="0">
                  <a:pos x="154" y="137"/>
                </a:cxn>
                <a:cxn ang="0">
                  <a:pos x="148" y="140"/>
                </a:cxn>
                <a:cxn ang="0">
                  <a:pos x="148" y="144"/>
                </a:cxn>
                <a:cxn ang="0">
                  <a:pos x="140" y="141"/>
                </a:cxn>
                <a:cxn ang="0">
                  <a:pos x="124" y="139"/>
                </a:cxn>
                <a:cxn ang="0">
                  <a:pos x="110" y="135"/>
                </a:cxn>
                <a:cxn ang="0">
                  <a:pos x="101" y="126"/>
                </a:cxn>
                <a:cxn ang="0">
                  <a:pos x="93" y="117"/>
                </a:cxn>
                <a:cxn ang="0">
                  <a:pos x="84" y="107"/>
                </a:cxn>
                <a:cxn ang="0">
                  <a:pos x="77" y="96"/>
                </a:cxn>
                <a:cxn ang="0">
                  <a:pos x="57" y="89"/>
                </a:cxn>
                <a:cxn ang="0">
                  <a:pos x="56" y="92"/>
                </a:cxn>
                <a:cxn ang="0">
                  <a:pos x="46" y="89"/>
                </a:cxn>
                <a:cxn ang="0">
                  <a:pos x="47" y="97"/>
                </a:cxn>
                <a:cxn ang="0">
                  <a:pos x="41" y="97"/>
                </a:cxn>
                <a:cxn ang="0">
                  <a:pos x="42" y="101"/>
                </a:cxn>
                <a:cxn ang="0">
                  <a:pos x="21" y="101"/>
                </a:cxn>
                <a:cxn ang="0">
                  <a:pos x="39" y="110"/>
                </a:cxn>
                <a:cxn ang="0">
                  <a:pos x="30" y="117"/>
                </a:cxn>
                <a:cxn ang="0">
                  <a:pos x="16" y="117"/>
                </a:cxn>
                <a:cxn ang="0">
                  <a:pos x="0" y="117"/>
                </a:cxn>
                <a:cxn ang="0">
                  <a:pos x="2" y="102"/>
                </a:cxn>
                <a:cxn ang="0">
                  <a:pos x="3" y="87"/>
                </a:cxn>
                <a:cxn ang="0">
                  <a:pos x="4" y="73"/>
                </a:cxn>
                <a:cxn ang="0">
                  <a:pos x="5" y="59"/>
                </a:cxn>
                <a:cxn ang="0">
                  <a:pos x="6" y="44"/>
                </a:cxn>
                <a:cxn ang="0">
                  <a:pos x="6" y="29"/>
                </a:cxn>
                <a:cxn ang="0">
                  <a:pos x="8" y="14"/>
                </a:cxn>
                <a:cxn ang="0">
                  <a:pos x="8" y="0"/>
                </a:cxn>
                <a:cxn ang="0">
                  <a:pos x="23" y="7"/>
                </a:cxn>
                <a:cxn ang="0">
                  <a:pos x="38" y="13"/>
                </a:cxn>
                <a:cxn ang="0">
                  <a:pos x="53" y="20"/>
                </a:cxn>
                <a:cxn ang="0">
                  <a:pos x="69" y="27"/>
                </a:cxn>
                <a:cxn ang="0">
                  <a:pos x="82" y="44"/>
                </a:cxn>
                <a:cxn ang="0">
                  <a:pos x="83" y="53"/>
                </a:cxn>
                <a:cxn ang="0">
                  <a:pos x="96" y="59"/>
                </a:cxn>
                <a:cxn ang="0">
                  <a:pos x="111" y="65"/>
                </a:cxn>
                <a:cxn ang="0">
                  <a:pos x="112" y="74"/>
                </a:cxn>
                <a:cxn ang="0">
                  <a:pos x="98" y="75"/>
                </a:cxn>
                <a:cxn ang="0">
                  <a:pos x="105" y="91"/>
                </a:cxn>
                <a:cxn ang="0">
                  <a:pos x="116" y="101"/>
                </a:cxn>
                <a:cxn ang="0">
                  <a:pos x="123" y="116"/>
                </a:cxn>
                <a:cxn ang="0">
                  <a:pos x="132" y="117"/>
                </a:cxn>
                <a:cxn ang="0">
                  <a:pos x="131" y="123"/>
                </a:cxn>
                <a:cxn ang="0">
                  <a:pos x="140" y="128"/>
                </a:cxn>
                <a:cxn ang="0">
                  <a:pos x="138" y="132"/>
                </a:cxn>
                <a:cxn ang="0">
                  <a:pos x="154" y="137"/>
                </a:cxn>
              </a:cxnLst>
              <a:rect l="0" t="0" r="r" b="b"/>
              <a:pathLst>
                <a:path w="154" h="144">
                  <a:moveTo>
                    <a:pt x="154" y="137"/>
                  </a:moveTo>
                  <a:lnTo>
                    <a:pt x="148" y="140"/>
                  </a:lnTo>
                  <a:lnTo>
                    <a:pt x="148" y="144"/>
                  </a:lnTo>
                  <a:lnTo>
                    <a:pt x="140" y="141"/>
                  </a:lnTo>
                  <a:lnTo>
                    <a:pt x="124" y="139"/>
                  </a:lnTo>
                  <a:lnTo>
                    <a:pt x="110" y="135"/>
                  </a:lnTo>
                  <a:lnTo>
                    <a:pt x="101" y="126"/>
                  </a:lnTo>
                  <a:lnTo>
                    <a:pt x="93" y="117"/>
                  </a:lnTo>
                  <a:lnTo>
                    <a:pt x="84" y="107"/>
                  </a:lnTo>
                  <a:lnTo>
                    <a:pt x="77" y="96"/>
                  </a:lnTo>
                  <a:lnTo>
                    <a:pt x="57" y="89"/>
                  </a:lnTo>
                  <a:lnTo>
                    <a:pt x="56" y="92"/>
                  </a:lnTo>
                  <a:lnTo>
                    <a:pt x="46" y="89"/>
                  </a:lnTo>
                  <a:lnTo>
                    <a:pt x="47" y="97"/>
                  </a:lnTo>
                  <a:lnTo>
                    <a:pt x="41" y="97"/>
                  </a:lnTo>
                  <a:lnTo>
                    <a:pt x="42" y="101"/>
                  </a:lnTo>
                  <a:lnTo>
                    <a:pt x="21" y="101"/>
                  </a:lnTo>
                  <a:lnTo>
                    <a:pt x="39" y="110"/>
                  </a:lnTo>
                  <a:lnTo>
                    <a:pt x="30" y="117"/>
                  </a:lnTo>
                  <a:lnTo>
                    <a:pt x="16" y="117"/>
                  </a:lnTo>
                  <a:lnTo>
                    <a:pt x="0" y="117"/>
                  </a:lnTo>
                  <a:lnTo>
                    <a:pt x="2" y="102"/>
                  </a:lnTo>
                  <a:lnTo>
                    <a:pt x="3" y="87"/>
                  </a:lnTo>
                  <a:lnTo>
                    <a:pt x="4" y="73"/>
                  </a:lnTo>
                  <a:lnTo>
                    <a:pt x="5" y="59"/>
                  </a:lnTo>
                  <a:lnTo>
                    <a:pt x="6" y="44"/>
                  </a:lnTo>
                  <a:lnTo>
                    <a:pt x="6" y="29"/>
                  </a:lnTo>
                  <a:lnTo>
                    <a:pt x="8" y="14"/>
                  </a:lnTo>
                  <a:lnTo>
                    <a:pt x="8" y="0"/>
                  </a:lnTo>
                  <a:lnTo>
                    <a:pt x="23" y="7"/>
                  </a:lnTo>
                  <a:lnTo>
                    <a:pt x="38" y="13"/>
                  </a:lnTo>
                  <a:lnTo>
                    <a:pt x="53" y="20"/>
                  </a:lnTo>
                  <a:lnTo>
                    <a:pt x="69" y="27"/>
                  </a:lnTo>
                  <a:lnTo>
                    <a:pt x="82" y="44"/>
                  </a:lnTo>
                  <a:lnTo>
                    <a:pt x="83" y="53"/>
                  </a:lnTo>
                  <a:lnTo>
                    <a:pt x="96" y="59"/>
                  </a:lnTo>
                  <a:lnTo>
                    <a:pt x="111" y="65"/>
                  </a:lnTo>
                  <a:lnTo>
                    <a:pt x="112" y="74"/>
                  </a:lnTo>
                  <a:lnTo>
                    <a:pt x="98" y="75"/>
                  </a:lnTo>
                  <a:lnTo>
                    <a:pt x="105" y="91"/>
                  </a:lnTo>
                  <a:lnTo>
                    <a:pt x="116" y="101"/>
                  </a:lnTo>
                  <a:lnTo>
                    <a:pt x="123" y="116"/>
                  </a:lnTo>
                  <a:lnTo>
                    <a:pt x="132" y="117"/>
                  </a:lnTo>
                  <a:lnTo>
                    <a:pt x="131" y="123"/>
                  </a:lnTo>
                  <a:lnTo>
                    <a:pt x="140" y="128"/>
                  </a:lnTo>
                  <a:lnTo>
                    <a:pt x="138" y="132"/>
                  </a:lnTo>
                  <a:lnTo>
                    <a:pt x="154"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 name="Freeform 36"/>
            <p:cNvSpPr>
              <a:spLocks/>
            </p:cNvSpPr>
            <p:nvPr/>
          </p:nvSpPr>
          <p:spPr bwMode="auto">
            <a:xfrm>
              <a:off x="5142" y="2790"/>
              <a:ext cx="73" cy="40"/>
            </a:xfrm>
            <a:custGeom>
              <a:avLst/>
              <a:gdLst/>
              <a:ahLst/>
              <a:cxnLst>
                <a:cxn ang="0">
                  <a:pos x="66" y="1"/>
                </a:cxn>
                <a:cxn ang="0">
                  <a:pos x="61" y="13"/>
                </a:cxn>
                <a:cxn ang="0">
                  <a:pos x="57" y="15"/>
                </a:cxn>
                <a:cxn ang="0">
                  <a:pos x="58" y="21"/>
                </a:cxn>
                <a:cxn ang="0">
                  <a:pos x="48" y="26"/>
                </a:cxn>
                <a:cxn ang="0">
                  <a:pos x="26" y="36"/>
                </a:cxn>
                <a:cxn ang="0">
                  <a:pos x="13" y="32"/>
                </a:cxn>
                <a:cxn ang="0">
                  <a:pos x="3" y="27"/>
                </a:cxn>
                <a:cxn ang="0">
                  <a:pos x="0" y="21"/>
                </a:cxn>
                <a:cxn ang="0">
                  <a:pos x="21" y="23"/>
                </a:cxn>
                <a:cxn ang="0">
                  <a:pos x="27" y="13"/>
                </a:cxn>
                <a:cxn ang="0">
                  <a:pos x="27" y="19"/>
                </a:cxn>
                <a:cxn ang="0">
                  <a:pos x="36" y="23"/>
                </a:cxn>
                <a:cxn ang="0">
                  <a:pos x="51" y="12"/>
                </a:cxn>
                <a:cxn ang="0">
                  <a:pos x="51" y="1"/>
                </a:cxn>
                <a:cxn ang="0">
                  <a:pos x="60" y="0"/>
                </a:cxn>
                <a:cxn ang="0">
                  <a:pos x="66" y="1"/>
                </a:cxn>
              </a:cxnLst>
              <a:rect l="0" t="0" r="r" b="b"/>
              <a:pathLst>
                <a:path w="66" h="36">
                  <a:moveTo>
                    <a:pt x="66" y="1"/>
                  </a:moveTo>
                  <a:lnTo>
                    <a:pt x="61" y="13"/>
                  </a:lnTo>
                  <a:lnTo>
                    <a:pt x="57" y="15"/>
                  </a:lnTo>
                  <a:lnTo>
                    <a:pt x="58" y="21"/>
                  </a:lnTo>
                  <a:lnTo>
                    <a:pt x="48" y="26"/>
                  </a:lnTo>
                  <a:lnTo>
                    <a:pt x="26" y="36"/>
                  </a:lnTo>
                  <a:lnTo>
                    <a:pt x="13" y="32"/>
                  </a:lnTo>
                  <a:lnTo>
                    <a:pt x="3" y="27"/>
                  </a:lnTo>
                  <a:lnTo>
                    <a:pt x="0" y="21"/>
                  </a:lnTo>
                  <a:lnTo>
                    <a:pt x="21" y="23"/>
                  </a:lnTo>
                  <a:lnTo>
                    <a:pt x="27" y="13"/>
                  </a:lnTo>
                  <a:lnTo>
                    <a:pt x="27" y="19"/>
                  </a:lnTo>
                  <a:lnTo>
                    <a:pt x="36" y="23"/>
                  </a:lnTo>
                  <a:lnTo>
                    <a:pt x="51" y="12"/>
                  </a:lnTo>
                  <a:lnTo>
                    <a:pt x="51" y="1"/>
                  </a:lnTo>
                  <a:lnTo>
                    <a:pt x="60" y="0"/>
                  </a:lnTo>
                  <a:lnTo>
                    <a:pt x="6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 name="Freeform 37"/>
            <p:cNvSpPr>
              <a:spLocks/>
            </p:cNvSpPr>
            <p:nvPr/>
          </p:nvSpPr>
          <p:spPr bwMode="auto">
            <a:xfrm>
              <a:off x="5253" y="2814"/>
              <a:ext cx="20" cy="29"/>
            </a:xfrm>
            <a:custGeom>
              <a:avLst/>
              <a:gdLst/>
              <a:ahLst/>
              <a:cxnLst>
                <a:cxn ang="0">
                  <a:pos x="18" y="24"/>
                </a:cxn>
                <a:cxn ang="0">
                  <a:pos x="14" y="27"/>
                </a:cxn>
                <a:cxn ang="0">
                  <a:pos x="4" y="15"/>
                </a:cxn>
                <a:cxn ang="0">
                  <a:pos x="0" y="0"/>
                </a:cxn>
                <a:cxn ang="0">
                  <a:pos x="10" y="12"/>
                </a:cxn>
                <a:cxn ang="0">
                  <a:pos x="18" y="24"/>
                </a:cxn>
              </a:cxnLst>
              <a:rect l="0" t="0" r="r" b="b"/>
              <a:pathLst>
                <a:path w="18" h="27">
                  <a:moveTo>
                    <a:pt x="18" y="24"/>
                  </a:moveTo>
                  <a:lnTo>
                    <a:pt x="14" y="27"/>
                  </a:lnTo>
                  <a:lnTo>
                    <a:pt x="4" y="15"/>
                  </a:lnTo>
                  <a:lnTo>
                    <a:pt x="0" y="0"/>
                  </a:lnTo>
                  <a:lnTo>
                    <a:pt x="10" y="12"/>
                  </a:lnTo>
                  <a:lnTo>
                    <a:pt x="18"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 name="Freeform 38"/>
            <p:cNvSpPr>
              <a:spLocks/>
            </p:cNvSpPr>
            <p:nvPr/>
          </p:nvSpPr>
          <p:spPr bwMode="auto">
            <a:xfrm>
              <a:off x="5189" y="2759"/>
              <a:ext cx="37" cy="42"/>
            </a:xfrm>
            <a:custGeom>
              <a:avLst/>
              <a:gdLst/>
              <a:ahLst/>
              <a:cxnLst>
                <a:cxn ang="0">
                  <a:pos x="33" y="31"/>
                </a:cxn>
                <a:cxn ang="0">
                  <a:pos x="29" y="37"/>
                </a:cxn>
                <a:cxn ang="0">
                  <a:pos x="18" y="16"/>
                </a:cxn>
                <a:cxn ang="0">
                  <a:pos x="9" y="8"/>
                </a:cxn>
                <a:cxn ang="0">
                  <a:pos x="0" y="1"/>
                </a:cxn>
                <a:cxn ang="0">
                  <a:pos x="0" y="0"/>
                </a:cxn>
                <a:cxn ang="0">
                  <a:pos x="12" y="10"/>
                </a:cxn>
                <a:cxn ang="0">
                  <a:pos x="25" y="19"/>
                </a:cxn>
                <a:cxn ang="0">
                  <a:pos x="33" y="31"/>
                </a:cxn>
              </a:cxnLst>
              <a:rect l="0" t="0" r="r" b="b"/>
              <a:pathLst>
                <a:path w="33" h="37">
                  <a:moveTo>
                    <a:pt x="33" y="31"/>
                  </a:moveTo>
                  <a:lnTo>
                    <a:pt x="29" y="37"/>
                  </a:lnTo>
                  <a:lnTo>
                    <a:pt x="18" y="16"/>
                  </a:lnTo>
                  <a:lnTo>
                    <a:pt x="9" y="8"/>
                  </a:lnTo>
                  <a:lnTo>
                    <a:pt x="0" y="1"/>
                  </a:lnTo>
                  <a:lnTo>
                    <a:pt x="0" y="0"/>
                  </a:lnTo>
                  <a:lnTo>
                    <a:pt x="12" y="10"/>
                  </a:lnTo>
                  <a:lnTo>
                    <a:pt x="25" y="19"/>
                  </a:lnTo>
                  <a:lnTo>
                    <a:pt x="33" y="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 name="Freeform 39"/>
            <p:cNvSpPr>
              <a:spLocks/>
            </p:cNvSpPr>
            <p:nvPr/>
          </p:nvSpPr>
          <p:spPr bwMode="auto">
            <a:xfrm>
              <a:off x="5180" y="2901"/>
              <a:ext cx="6" cy="6"/>
            </a:xfrm>
            <a:custGeom>
              <a:avLst/>
              <a:gdLst/>
              <a:ahLst/>
              <a:cxnLst>
                <a:cxn ang="0">
                  <a:pos x="6" y="3"/>
                </a:cxn>
                <a:cxn ang="0">
                  <a:pos x="3" y="5"/>
                </a:cxn>
                <a:cxn ang="0">
                  <a:pos x="0" y="0"/>
                </a:cxn>
                <a:cxn ang="0">
                  <a:pos x="6" y="3"/>
                </a:cxn>
              </a:cxnLst>
              <a:rect l="0" t="0" r="r" b="b"/>
              <a:pathLst>
                <a:path w="6" h="5">
                  <a:moveTo>
                    <a:pt x="6" y="3"/>
                  </a:moveTo>
                  <a:lnTo>
                    <a:pt x="3" y="5"/>
                  </a:lnTo>
                  <a:lnTo>
                    <a:pt x="0" y="0"/>
                  </a:lnTo>
                  <a:lnTo>
                    <a:pt x="6"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 name="Freeform 40"/>
            <p:cNvSpPr>
              <a:spLocks/>
            </p:cNvSpPr>
            <p:nvPr/>
          </p:nvSpPr>
          <p:spPr bwMode="auto">
            <a:xfrm>
              <a:off x="4042" y="2176"/>
              <a:ext cx="87" cy="111"/>
            </a:xfrm>
            <a:custGeom>
              <a:avLst/>
              <a:gdLst/>
              <a:ahLst/>
              <a:cxnLst>
                <a:cxn ang="0">
                  <a:pos x="28" y="84"/>
                </a:cxn>
                <a:cxn ang="0">
                  <a:pos x="27" y="85"/>
                </a:cxn>
                <a:cxn ang="0">
                  <a:pos x="24" y="80"/>
                </a:cxn>
                <a:cxn ang="0">
                  <a:pos x="24" y="82"/>
                </a:cxn>
                <a:cxn ang="0">
                  <a:pos x="19" y="68"/>
                </a:cxn>
                <a:cxn ang="0">
                  <a:pos x="14" y="55"/>
                </a:cxn>
                <a:cxn ang="0">
                  <a:pos x="13" y="44"/>
                </a:cxn>
                <a:cxn ang="0">
                  <a:pos x="1" y="34"/>
                </a:cxn>
                <a:cxn ang="0">
                  <a:pos x="6" y="27"/>
                </a:cxn>
                <a:cxn ang="0">
                  <a:pos x="12" y="24"/>
                </a:cxn>
                <a:cxn ang="0">
                  <a:pos x="0" y="13"/>
                </a:cxn>
                <a:cxn ang="0">
                  <a:pos x="0" y="0"/>
                </a:cxn>
                <a:cxn ang="0">
                  <a:pos x="10" y="3"/>
                </a:cxn>
                <a:cxn ang="0">
                  <a:pos x="15" y="9"/>
                </a:cxn>
                <a:cxn ang="0">
                  <a:pos x="19" y="6"/>
                </a:cxn>
                <a:cxn ang="0">
                  <a:pos x="25" y="20"/>
                </a:cxn>
                <a:cxn ang="0">
                  <a:pos x="42" y="22"/>
                </a:cxn>
                <a:cxn ang="0">
                  <a:pos x="58" y="24"/>
                </a:cxn>
                <a:cxn ang="0">
                  <a:pos x="67" y="30"/>
                </a:cxn>
                <a:cxn ang="0">
                  <a:pos x="64" y="37"/>
                </a:cxn>
                <a:cxn ang="0">
                  <a:pos x="52" y="45"/>
                </a:cxn>
                <a:cxn ang="0">
                  <a:pos x="56" y="60"/>
                </a:cxn>
                <a:cxn ang="0">
                  <a:pos x="58" y="63"/>
                </a:cxn>
                <a:cxn ang="0">
                  <a:pos x="66" y="50"/>
                </a:cxn>
                <a:cxn ang="0">
                  <a:pos x="72" y="66"/>
                </a:cxn>
                <a:cxn ang="0">
                  <a:pos x="78" y="81"/>
                </a:cxn>
                <a:cxn ang="0">
                  <a:pos x="79" y="92"/>
                </a:cxn>
                <a:cxn ang="0">
                  <a:pos x="74" y="96"/>
                </a:cxn>
                <a:cxn ang="0">
                  <a:pos x="76" y="100"/>
                </a:cxn>
                <a:cxn ang="0">
                  <a:pos x="67" y="84"/>
                </a:cxn>
                <a:cxn ang="0">
                  <a:pos x="58" y="67"/>
                </a:cxn>
                <a:cxn ang="0">
                  <a:pos x="48" y="66"/>
                </a:cxn>
                <a:cxn ang="0">
                  <a:pos x="43" y="55"/>
                </a:cxn>
                <a:cxn ang="0">
                  <a:pos x="27" y="45"/>
                </a:cxn>
                <a:cxn ang="0">
                  <a:pos x="22" y="46"/>
                </a:cxn>
                <a:cxn ang="0">
                  <a:pos x="39" y="56"/>
                </a:cxn>
                <a:cxn ang="0">
                  <a:pos x="44" y="67"/>
                </a:cxn>
                <a:cxn ang="0">
                  <a:pos x="45" y="70"/>
                </a:cxn>
                <a:cxn ang="0">
                  <a:pos x="42" y="85"/>
                </a:cxn>
                <a:cxn ang="0">
                  <a:pos x="38" y="80"/>
                </a:cxn>
                <a:cxn ang="0">
                  <a:pos x="36" y="80"/>
                </a:cxn>
                <a:cxn ang="0">
                  <a:pos x="32" y="84"/>
                </a:cxn>
                <a:cxn ang="0">
                  <a:pos x="28" y="84"/>
                </a:cxn>
              </a:cxnLst>
              <a:rect l="0" t="0" r="r" b="b"/>
              <a:pathLst>
                <a:path w="79" h="100">
                  <a:moveTo>
                    <a:pt x="28" y="84"/>
                  </a:moveTo>
                  <a:lnTo>
                    <a:pt x="27" y="85"/>
                  </a:lnTo>
                  <a:lnTo>
                    <a:pt x="24" y="80"/>
                  </a:lnTo>
                  <a:lnTo>
                    <a:pt x="24" y="82"/>
                  </a:lnTo>
                  <a:lnTo>
                    <a:pt x="19" y="68"/>
                  </a:lnTo>
                  <a:lnTo>
                    <a:pt x="14" y="55"/>
                  </a:lnTo>
                  <a:lnTo>
                    <a:pt x="13" y="44"/>
                  </a:lnTo>
                  <a:lnTo>
                    <a:pt x="1" y="34"/>
                  </a:lnTo>
                  <a:lnTo>
                    <a:pt x="6" y="27"/>
                  </a:lnTo>
                  <a:lnTo>
                    <a:pt x="12" y="24"/>
                  </a:lnTo>
                  <a:lnTo>
                    <a:pt x="0" y="13"/>
                  </a:lnTo>
                  <a:lnTo>
                    <a:pt x="0" y="0"/>
                  </a:lnTo>
                  <a:lnTo>
                    <a:pt x="10" y="3"/>
                  </a:lnTo>
                  <a:lnTo>
                    <a:pt x="15" y="9"/>
                  </a:lnTo>
                  <a:lnTo>
                    <a:pt x="19" y="6"/>
                  </a:lnTo>
                  <a:lnTo>
                    <a:pt x="25" y="20"/>
                  </a:lnTo>
                  <a:lnTo>
                    <a:pt x="42" y="22"/>
                  </a:lnTo>
                  <a:lnTo>
                    <a:pt x="58" y="24"/>
                  </a:lnTo>
                  <a:lnTo>
                    <a:pt x="67" y="30"/>
                  </a:lnTo>
                  <a:lnTo>
                    <a:pt x="64" y="37"/>
                  </a:lnTo>
                  <a:lnTo>
                    <a:pt x="52" y="45"/>
                  </a:lnTo>
                  <a:lnTo>
                    <a:pt x="56" y="60"/>
                  </a:lnTo>
                  <a:lnTo>
                    <a:pt x="58" y="63"/>
                  </a:lnTo>
                  <a:lnTo>
                    <a:pt x="66" y="50"/>
                  </a:lnTo>
                  <a:lnTo>
                    <a:pt x="72" y="66"/>
                  </a:lnTo>
                  <a:lnTo>
                    <a:pt x="78" y="81"/>
                  </a:lnTo>
                  <a:lnTo>
                    <a:pt x="79" y="92"/>
                  </a:lnTo>
                  <a:lnTo>
                    <a:pt x="74" y="96"/>
                  </a:lnTo>
                  <a:lnTo>
                    <a:pt x="76" y="100"/>
                  </a:lnTo>
                  <a:lnTo>
                    <a:pt x="67" y="84"/>
                  </a:lnTo>
                  <a:lnTo>
                    <a:pt x="58" y="67"/>
                  </a:lnTo>
                  <a:lnTo>
                    <a:pt x="48" y="66"/>
                  </a:lnTo>
                  <a:lnTo>
                    <a:pt x="43" y="55"/>
                  </a:lnTo>
                  <a:lnTo>
                    <a:pt x="27" y="45"/>
                  </a:lnTo>
                  <a:lnTo>
                    <a:pt x="22" y="46"/>
                  </a:lnTo>
                  <a:lnTo>
                    <a:pt x="39" y="56"/>
                  </a:lnTo>
                  <a:lnTo>
                    <a:pt x="44" y="67"/>
                  </a:lnTo>
                  <a:lnTo>
                    <a:pt x="45" y="70"/>
                  </a:lnTo>
                  <a:lnTo>
                    <a:pt x="42" y="85"/>
                  </a:lnTo>
                  <a:lnTo>
                    <a:pt x="38" y="80"/>
                  </a:lnTo>
                  <a:lnTo>
                    <a:pt x="36" y="80"/>
                  </a:lnTo>
                  <a:lnTo>
                    <a:pt x="32" y="84"/>
                  </a:lnTo>
                  <a:lnTo>
                    <a:pt x="28" y="8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 name="Freeform 41"/>
            <p:cNvSpPr>
              <a:spLocks/>
            </p:cNvSpPr>
            <p:nvPr/>
          </p:nvSpPr>
          <p:spPr bwMode="auto">
            <a:xfrm>
              <a:off x="4046" y="2143"/>
              <a:ext cx="56" cy="27"/>
            </a:xfrm>
            <a:custGeom>
              <a:avLst/>
              <a:gdLst/>
              <a:ahLst/>
              <a:cxnLst>
                <a:cxn ang="0">
                  <a:pos x="33" y="2"/>
                </a:cxn>
                <a:cxn ang="0">
                  <a:pos x="11" y="0"/>
                </a:cxn>
                <a:cxn ang="0">
                  <a:pos x="0" y="15"/>
                </a:cxn>
                <a:cxn ang="0">
                  <a:pos x="3" y="22"/>
                </a:cxn>
                <a:cxn ang="0">
                  <a:pos x="22" y="25"/>
                </a:cxn>
                <a:cxn ang="0">
                  <a:pos x="36" y="24"/>
                </a:cxn>
                <a:cxn ang="0">
                  <a:pos x="51" y="22"/>
                </a:cxn>
                <a:cxn ang="0">
                  <a:pos x="45" y="13"/>
                </a:cxn>
                <a:cxn ang="0">
                  <a:pos x="40" y="7"/>
                </a:cxn>
                <a:cxn ang="0">
                  <a:pos x="33" y="2"/>
                </a:cxn>
              </a:cxnLst>
              <a:rect l="0" t="0" r="r" b="b"/>
              <a:pathLst>
                <a:path w="51" h="25">
                  <a:moveTo>
                    <a:pt x="33" y="2"/>
                  </a:moveTo>
                  <a:lnTo>
                    <a:pt x="11" y="0"/>
                  </a:lnTo>
                  <a:lnTo>
                    <a:pt x="0" y="15"/>
                  </a:lnTo>
                  <a:lnTo>
                    <a:pt x="3" y="22"/>
                  </a:lnTo>
                  <a:lnTo>
                    <a:pt x="22" y="25"/>
                  </a:lnTo>
                  <a:lnTo>
                    <a:pt x="36" y="24"/>
                  </a:lnTo>
                  <a:lnTo>
                    <a:pt x="51" y="22"/>
                  </a:lnTo>
                  <a:lnTo>
                    <a:pt x="45" y="13"/>
                  </a:lnTo>
                  <a:lnTo>
                    <a:pt x="40" y="7"/>
                  </a:lnTo>
                  <a:lnTo>
                    <a:pt x="3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 name="Freeform 42"/>
            <p:cNvSpPr>
              <a:spLocks/>
            </p:cNvSpPr>
            <p:nvPr/>
          </p:nvSpPr>
          <p:spPr bwMode="auto">
            <a:xfrm>
              <a:off x="4320" y="2412"/>
              <a:ext cx="93" cy="84"/>
            </a:xfrm>
            <a:custGeom>
              <a:avLst/>
              <a:gdLst/>
              <a:ahLst/>
              <a:cxnLst>
                <a:cxn ang="0">
                  <a:pos x="59" y="56"/>
                </a:cxn>
                <a:cxn ang="0">
                  <a:pos x="64" y="70"/>
                </a:cxn>
                <a:cxn ang="0">
                  <a:pos x="52" y="68"/>
                </a:cxn>
                <a:cxn ang="0">
                  <a:pos x="48" y="71"/>
                </a:cxn>
                <a:cxn ang="0">
                  <a:pos x="39" y="77"/>
                </a:cxn>
                <a:cxn ang="0">
                  <a:pos x="29" y="74"/>
                </a:cxn>
                <a:cxn ang="0">
                  <a:pos x="24" y="72"/>
                </a:cxn>
                <a:cxn ang="0">
                  <a:pos x="22" y="64"/>
                </a:cxn>
                <a:cxn ang="0">
                  <a:pos x="17" y="68"/>
                </a:cxn>
                <a:cxn ang="0">
                  <a:pos x="14" y="56"/>
                </a:cxn>
                <a:cxn ang="0">
                  <a:pos x="12" y="55"/>
                </a:cxn>
                <a:cxn ang="0">
                  <a:pos x="6" y="41"/>
                </a:cxn>
                <a:cxn ang="0">
                  <a:pos x="0" y="25"/>
                </a:cxn>
                <a:cxn ang="0">
                  <a:pos x="11" y="7"/>
                </a:cxn>
                <a:cxn ang="0">
                  <a:pos x="27" y="7"/>
                </a:cxn>
                <a:cxn ang="0">
                  <a:pos x="44" y="6"/>
                </a:cxn>
                <a:cxn ang="0">
                  <a:pos x="57" y="13"/>
                </a:cxn>
                <a:cxn ang="0">
                  <a:pos x="57" y="8"/>
                </a:cxn>
                <a:cxn ang="0">
                  <a:pos x="63" y="4"/>
                </a:cxn>
                <a:cxn ang="0">
                  <a:pos x="69" y="6"/>
                </a:cxn>
                <a:cxn ang="0">
                  <a:pos x="80" y="0"/>
                </a:cxn>
                <a:cxn ang="0">
                  <a:pos x="81" y="16"/>
                </a:cxn>
                <a:cxn ang="0">
                  <a:pos x="82" y="30"/>
                </a:cxn>
                <a:cxn ang="0">
                  <a:pos x="83" y="44"/>
                </a:cxn>
                <a:cxn ang="0">
                  <a:pos x="68" y="52"/>
                </a:cxn>
                <a:cxn ang="0">
                  <a:pos x="59" y="56"/>
                </a:cxn>
              </a:cxnLst>
              <a:rect l="0" t="0" r="r" b="b"/>
              <a:pathLst>
                <a:path w="83" h="77">
                  <a:moveTo>
                    <a:pt x="59" y="56"/>
                  </a:moveTo>
                  <a:lnTo>
                    <a:pt x="64" y="70"/>
                  </a:lnTo>
                  <a:lnTo>
                    <a:pt x="52" y="68"/>
                  </a:lnTo>
                  <a:lnTo>
                    <a:pt x="48" y="71"/>
                  </a:lnTo>
                  <a:lnTo>
                    <a:pt x="39" y="77"/>
                  </a:lnTo>
                  <a:lnTo>
                    <a:pt x="29" y="74"/>
                  </a:lnTo>
                  <a:lnTo>
                    <a:pt x="24" y="72"/>
                  </a:lnTo>
                  <a:lnTo>
                    <a:pt x="22" y="64"/>
                  </a:lnTo>
                  <a:lnTo>
                    <a:pt x="17" y="68"/>
                  </a:lnTo>
                  <a:lnTo>
                    <a:pt x="14" y="56"/>
                  </a:lnTo>
                  <a:lnTo>
                    <a:pt x="12" y="55"/>
                  </a:lnTo>
                  <a:lnTo>
                    <a:pt x="6" y="41"/>
                  </a:lnTo>
                  <a:lnTo>
                    <a:pt x="0" y="25"/>
                  </a:lnTo>
                  <a:lnTo>
                    <a:pt x="11" y="7"/>
                  </a:lnTo>
                  <a:lnTo>
                    <a:pt x="27" y="7"/>
                  </a:lnTo>
                  <a:lnTo>
                    <a:pt x="44" y="6"/>
                  </a:lnTo>
                  <a:lnTo>
                    <a:pt x="57" y="13"/>
                  </a:lnTo>
                  <a:lnTo>
                    <a:pt x="57" y="8"/>
                  </a:lnTo>
                  <a:lnTo>
                    <a:pt x="63" y="4"/>
                  </a:lnTo>
                  <a:lnTo>
                    <a:pt x="69" y="6"/>
                  </a:lnTo>
                  <a:lnTo>
                    <a:pt x="80" y="0"/>
                  </a:lnTo>
                  <a:lnTo>
                    <a:pt x="81" y="16"/>
                  </a:lnTo>
                  <a:lnTo>
                    <a:pt x="82" y="30"/>
                  </a:lnTo>
                  <a:lnTo>
                    <a:pt x="83" y="44"/>
                  </a:lnTo>
                  <a:lnTo>
                    <a:pt x="68" y="52"/>
                  </a:lnTo>
                  <a:lnTo>
                    <a:pt x="59"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 name="Freeform 43"/>
            <p:cNvSpPr>
              <a:spLocks/>
            </p:cNvSpPr>
            <p:nvPr/>
          </p:nvSpPr>
          <p:spPr bwMode="auto">
            <a:xfrm>
              <a:off x="4493" y="2261"/>
              <a:ext cx="5" cy="2"/>
            </a:xfrm>
            <a:custGeom>
              <a:avLst/>
              <a:gdLst/>
              <a:ahLst/>
              <a:cxnLst>
                <a:cxn ang="0">
                  <a:pos x="4" y="0"/>
                </a:cxn>
                <a:cxn ang="0">
                  <a:pos x="3" y="1"/>
                </a:cxn>
                <a:cxn ang="0">
                  <a:pos x="0" y="1"/>
                </a:cxn>
                <a:cxn ang="0">
                  <a:pos x="4" y="0"/>
                </a:cxn>
              </a:cxnLst>
              <a:rect l="0" t="0" r="r" b="b"/>
              <a:pathLst>
                <a:path w="4" h="1">
                  <a:moveTo>
                    <a:pt x="4" y="0"/>
                  </a:moveTo>
                  <a:lnTo>
                    <a:pt x="3" y="1"/>
                  </a:lnTo>
                  <a:lnTo>
                    <a:pt x="0" y="1"/>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5" name="Freeform 44"/>
            <p:cNvSpPr>
              <a:spLocks/>
            </p:cNvSpPr>
            <p:nvPr/>
          </p:nvSpPr>
          <p:spPr bwMode="auto">
            <a:xfrm>
              <a:off x="4262" y="2259"/>
              <a:ext cx="147" cy="168"/>
            </a:xfrm>
            <a:custGeom>
              <a:avLst/>
              <a:gdLst/>
              <a:ahLst/>
              <a:cxnLst>
                <a:cxn ang="0">
                  <a:pos x="74" y="38"/>
                </a:cxn>
                <a:cxn ang="0">
                  <a:pos x="69" y="34"/>
                </a:cxn>
                <a:cxn ang="0">
                  <a:pos x="60" y="25"/>
                </a:cxn>
                <a:cxn ang="0">
                  <a:pos x="53" y="29"/>
                </a:cxn>
                <a:cxn ang="0">
                  <a:pos x="41" y="19"/>
                </a:cxn>
                <a:cxn ang="0">
                  <a:pos x="38" y="12"/>
                </a:cxn>
                <a:cxn ang="0">
                  <a:pos x="26" y="0"/>
                </a:cxn>
                <a:cxn ang="0">
                  <a:pos x="18" y="0"/>
                </a:cxn>
                <a:cxn ang="0">
                  <a:pos x="21" y="22"/>
                </a:cxn>
                <a:cxn ang="0">
                  <a:pos x="15" y="18"/>
                </a:cxn>
                <a:cxn ang="0">
                  <a:pos x="13" y="14"/>
                </a:cxn>
                <a:cxn ang="0">
                  <a:pos x="6" y="28"/>
                </a:cxn>
                <a:cxn ang="0">
                  <a:pos x="0" y="36"/>
                </a:cxn>
                <a:cxn ang="0">
                  <a:pos x="6" y="38"/>
                </a:cxn>
                <a:cxn ang="0">
                  <a:pos x="7" y="49"/>
                </a:cxn>
                <a:cxn ang="0">
                  <a:pos x="19" y="50"/>
                </a:cxn>
                <a:cxn ang="0">
                  <a:pos x="20" y="68"/>
                </a:cxn>
                <a:cxn ang="0">
                  <a:pos x="21" y="86"/>
                </a:cxn>
                <a:cxn ang="0">
                  <a:pos x="36" y="76"/>
                </a:cxn>
                <a:cxn ang="0">
                  <a:pos x="45" y="79"/>
                </a:cxn>
                <a:cxn ang="0">
                  <a:pos x="53" y="77"/>
                </a:cxn>
                <a:cxn ang="0">
                  <a:pos x="60" y="72"/>
                </a:cxn>
                <a:cxn ang="0">
                  <a:pos x="79" y="88"/>
                </a:cxn>
                <a:cxn ang="0">
                  <a:pos x="81" y="101"/>
                </a:cxn>
                <a:cxn ang="0">
                  <a:pos x="96" y="119"/>
                </a:cxn>
                <a:cxn ang="0">
                  <a:pos x="99" y="134"/>
                </a:cxn>
                <a:cxn ang="0">
                  <a:pos x="95" y="144"/>
                </a:cxn>
                <a:cxn ang="0">
                  <a:pos x="108" y="151"/>
                </a:cxn>
                <a:cxn ang="0">
                  <a:pos x="108" y="146"/>
                </a:cxn>
                <a:cxn ang="0">
                  <a:pos x="114" y="142"/>
                </a:cxn>
                <a:cxn ang="0">
                  <a:pos x="120" y="144"/>
                </a:cxn>
                <a:cxn ang="0">
                  <a:pos x="131" y="138"/>
                </a:cxn>
                <a:cxn ang="0">
                  <a:pos x="128" y="124"/>
                </a:cxn>
                <a:cxn ang="0">
                  <a:pos x="123" y="118"/>
                </a:cxn>
                <a:cxn ang="0">
                  <a:pos x="125" y="114"/>
                </a:cxn>
                <a:cxn ang="0">
                  <a:pos x="110" y="102"/>
                </a:cxn>
                <a:cxn ang="0">
                  <a:pos x="103" y="92"/>
                </a:cxn>
                <a:cxn ang="0">
                  <a:pos x="93" y="80"/>
                </a:cxn>
                <a:cxn ang="0">
                  <a:pos x="84" y="68"/>
                </a:cxn>
                <a:cxn ang="0">
                  <a:pos x="63" y="53"/>
                </a:cxn>
                <a:cxn ang="0">
                  <a:pos x="67" y="48"/>
                </a:cxn>
                <a:cxn ang="0">
                  <a:pos x="75" y="46"/>
                </a:cxn>
                <a:cxn ang="0">
                  <a:pos x="74" y="38"/>
                </a:cxn>
              </a:cxnLst>
              <a:rect l="0" t="0" r="r" b="b"/>
              <a:pathLst>
                <a:path w="131" h="151">
                  <a:moveTo>
                    <a:pt x="74" y="38"/>
                  </a:moveTo>
                  <a:lnTo>
                    <a:pt x="69" y="34"/>
                  </a:lnTo>
                  <a:lnTo>
                    <a:pt x="60" y="25"/>
                  </a:lnTo>
                  <a:lnTo>
                    <a:pt x="53" y="29"/>
                  </a:lnTo>
                  <a:lnTo>
                    <a:pt x="41" y="19"/>
                  </a:lnTo>
                  <a:lnTo>
                    <a:pt x="38" y="12"/>
                  </a:lnTo>
                  <a:lnTo>
                    <a:pt x="26" y="0"/>
                  </a:lnTo>
                  <a:lnTo>
                    <a:pt x="18" y="0"/>
                  </a:lnTo>
                  <a:lnTo>
                    <a:pt x="21" y="22"/>
                  </a:lnTo>
                  <a:lnTo>
                    <a:pt x="15" y="18"/>
                  </a:lnTo>
                  <a:lnTo>
                    <a:pt x="13" y="14"/>
                  </a:lnTo>
                  <a:lnTo>
                    <a:pt x="6" y="28"/>
                  </a:lnTo>
                  <a:lnTo>
                    <a:pt x="0" y="36"/>
                  </a:lnTo>
                  <a:lnTo>
                    <a:pt x="6" y="38"/>
                  </a:lnTo>
                  <a:lnTo>
                    <a:pt x="7" y="49"/>
                  </a:lnTo>
                  <a:lnTo>
                    <a:pt x="19" y="50"/>
                  </a:lnTo>
                  <a:lnTo>
                    <a:pt x="20" y="68"/>
                  </a:lnTo>
                  <a:lnTo>
                    <a:pt x="21" y="86"/>
                  </a:lnTo>
                  <a:lnTo>
                    <a:pt x="36" y="76"/>
                  </a:lnTo>
                  <a:lnTo>
                    <a:pt x="45" y="79"/>
                  </a:lnTo>
                  <a:lnTo>
                    <a:pt x="53" y="77"/>
                  </a:lnTo>
                  <a:lnTo>
                    <a:pt x="60" y="72"/>
                  </a:lnTo>
                  <a:lnTo>
                    <a:pt x="79" y="88"/>
                  </a:lnTo>
                  <a:lnTo>
                    <a:pt x="81" y="101"/>
                  </a:lnTo>
                  <a:lnTo>
                    <a:pt x="96" y="119"/>
                  </a:lnTo>
                  <a:lnTo>
                    <a:pt x="99" y="134"/>
                  </a:lnTo>
                  <a:lnTo>
                    <a:pt x="95" y="144"/>
                  </a:lnTo>
                  <a:lnTo>
                    <a:pt x="108" y="151"/>
                  </a:lnTo>
                  <a:lnTo>
                    <a:pt x="108" y="146"/>
                  </a:lnTo>
                  <a:lnTo>
                    <a:pt x="114" y="142"/>
                  </a:lnTo>
                  <a:lnTo>
                    <a:pt x="120" y="144"/>
                  </a:lnTo>
                  <a:lnTo>
                    <a:pt x="131" y="138"/>
                  </a:lnTo>
                  <a:lnTo>
                    <a:pt x="128" y="124"/>
                  </a:lnTo>
                  <a:lnTo>
                    <a:pt x="123" y="118"/>
                  </a:lnTo>
                  <a:lnTo>
                    <a:pt x="125" y="114"/>
                  </a:lnTo>
                  <a:lnTo>
                    <a:pt x="110" y="102"/>
                  </a:lnTo>
                  <a:lnTo>
                    <a:pt x="103" y="92"/>
                  </a:lnTo>
                  <a:lnTo>
                    <a:pt x="93" y="80"/>
                  </a:lnTo>
                  <a:lnTo>
                    <a:pt x="84" y="68"/>
                  </a:lnTo>
                  <a:lnTo>
                    <a:pt x="63" y="53"/>
                  </a:lnTo>
                  <a:lnTo>
                    <a:pt x="67" y="48"/>
                  </a:lnTo>
                  <a:lnTo>
                    <a:pt x="75" y="46"/>
                  </a:lnTo>
                  <a:lnTo>
                    <a:pt x="74"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6" name="Freeform 45"/>
            <p:cNvSpPr>
              <a:spLocks/>
            </p:cNvSpPr>
            <p:nvPr/>
          </p:nvSpPr>
          <p:spPr bwMode="auto">
            <a:xfrm>
              <a:off x="4124" y="2136"/>
              <a:ext cx="154" cy="367"/>
            </a:xfrm>
            <a:custGeom>
              <a:avLst/>
              <a:gdLst/>
              <a:ahLst/>
              <a:cxnLst>
                <a:cxn ang="0">
                  <a:pos x="76" y="81"/>
                </a:cxn>
                <a:cxn ang="0">
                  <a:pos x="74" y="66"/>
                </a:cxn>
                <a:cxn ang="0">
                  <a:pos x="84" y="45"/>
                </a:cxn>
                <a:cxn ang="0">
                  <a:pos x="78" y="16"/>
                </a:cxn>
                <a:cxn ang="0">
                  <a:pos x="58" y="0"/>
                </a:cxn>
                <a:cxn ang="0">
                  <a:pos x="54" y="14"/>
                </a:cxn>
                <a:cxn ang="0">
                  <a:pos x="55" y="25"/>
                </a:cxn>
                <a:cxn ang="0">
                  <a:pos x="29" y="38"/>
                </a:cxn>
                <a:cxn ang="0">
                  <a:pos x="28" y="61"/>
                </a:cxn>
                <a:cxn ang="0">
                  <a:pos x="11" y="82"/>
                </a:cxn>
                <a:cxn ang="0">
                  <a:pos x="10" y="117"/>
                </a:cxn>
                <a:cxn ang="0">
                  <a:pos x="4" y="117"/>
                </a:cxn>
                <a:cxn ang="0">
                  <a:pos x="0" y="132"/>
                </a:cxn>
                <a:cxn ang="0">
                  <a:pos x="11" y="148"/>
                </a:cxn>
                <a:cxn ang="0">
                  <a:pos x="18" y="156"/>
                </a:cxn>
                <a:cxn ang="0">
                  <a:pos x="26" y="156"/>
                </a:cxn>
                <a:cxn ang="0">
                  <a:pos x="26" y="165"/>
                </a:cxn>
                <a:cxn ang="0">
                  <a:pos x="34" y="165"/>
                </a:cxn>
                <a:cxn ang="0">
                  <a:pos x="44" y="194"/>
                </a:cxn>
                <a:cxn ang="0">
                  <a:pos x="43" y="224"/>
                </a:cxn>
                <a:cxn ang="0">
                  <a:pos x="52" y="225"/>
                </a:cxn>
                <a:cxn ang="0">
                  <a:pos x="58" y="226"/>
                </a:cxn>
                <a:cxn ang="0">
                  <a:pos x="61" y="228"/>
                </a:cxn>
                <a:cxn ang="0">
                  <a:pos x="74" y="213"/>
                </a:cxn>
                <a:cxn ang="0">
                  <a:pos x="83" y="201"/>
                </a:cxn>
                <a:cxn ang="0">
                  <a:pos x="96" y="216"/>
                </a:cxn>
                <a:cxn ang="0">
                  <a:pos x="109" y="266"/>
                </a:cxn>
                <a:cxn ang="0">
                  <a:pos x="115" y="274"/>
                </a:cxn>
                <a:cxn ang="0">
                  <a:pos x="122" y="301"/>
                </a:cxn>
                <a:cxn ang="0">
                  <a:pos x="121" y="330"/>
                </a:cxn>
                <a:cxn ang="0">
                  <a:pos x="131" y="314"/>
                </a:cxn>
                <a:cxn ang="0">
                  <a:pos x="131" y="285"/>
                </a:cxn>
                <a:cxn ang="0">
                  <a:pos x="119" y="259"/>
                </a:cxn>
                <a:cxn ang="0">
                  <a:pos x="110" y="237"/>
                </a:cxn>
                <a:cxn ang="0">
                  <a:pos x="116" y="219"/>
                </a:cxn>
                <a:cxn ang="0">
                  <a:pos x="100" y="199"/>
                </a:cxn>
                <a:cxn ang="0">
                  <a:pos x="91" y="180"/>
                </a:cxn>
                <a:cxn ang="0">
                  <a:pos x="109" y="157"/>
                </a:cxn>
                <a:cxn ang="0">
                  <a:pos x="125" y="146"/>
                </a:cxn>
                <a:cxn ang="0">
                  <a:pos x="138" y="124"/>
                </a:cxn>
                <a:cxn ang="0">
                  <a:pos x="122" y="126"/>
                </a:cxn>
                <a:cxn ang="0">
                  <a:pos x="106" y="112"/>
                </a:cxn>
                <a:cxn ang="0">
                  <a:pos x="97" y="93"/>
                </a:cxn>
                <a:cxn ang="0">
                  <a:pos x="92" y="79"/>
                </a:cxn>
              </a:cxnLst>
              <a:rect l="0" t="0" r="r" b="b"/>
              <a:pathLst>
                <a:path w="138" h="330">
                  <a:moveTo>
                    <a:pt x="92" y="79"/>
                  </a:moveTo>
                  <a:lnTo>
                    <a:pt x="76" y="81"/>
                  </a:lnTo>
                  <a:lnTo>
                    <a:pt x="76" y="73"/>
                  </a:lnTo>
                  <a:lnTo>
                    <a:pt x="74" y="66"/>
                  </a:lnTo>
                  <a:lnTo>
                    <a:pt x="82" y="54"/>
                  </a:lnTo>
                  <a:lnTo>
                    <a:pt x="84" y="45"/>
                  </a:lnTo>
                  <a:lnTo>
                    <a:pt x="80" y="31"/>
                  </a:lnTo>
                  <a:lnTo>
                    <a:pt x="78" y="16"/>
                  </a:lnTo>
                  <a:lnTo>
                    <a:pt x="71" y="13"/>
                  </a:lnTo>
                  <a:lnTo>
                    <a:pt x="58" y="0"/>
                  </a:lnTo>
                  <a:lnTo>
                    <a:pt x="56" y="6"/>
                  </a:lnTo>
                  <a:lnTo>
                    <a:pt x="54" y="14"/>
                  </a:lnTo>
                  <a:lnTo>
                    <a:pt x="53" y="19"/>
                  </a:lnTo>
                  <a:lnTo>
                    <a:pt x="55" y="25"/>
                  </a:lnTo>
                  <a:lnTo>
                    <a:pt x="43" y="22"/>
                  </a:lnTo>
                  <a:lnTo>
                    <a:pt x="29" y="38"/>
                  </a:lnTo>
                  <a:lnTo>
                    <a:pt x="29" y="52"/>
                  </a:lnTo>
                  <a:lnTo>
                    <a:pt x="28" y="61"/>
                  </a:lnTo>
                  <a:lnTo>
                    <a:pt x="20" y="82"/>
                  </a:lnTo>
                  <a:lnTo>
                    <a:pt x="11" y="82"/>
                  </a:lnTo>
                  <a:lnTo>
                    <a:pt x="11" y="98"/>
                  </a:lnTo>
                  <a:lnTo>
                    <a:pt x="10" y="117"/>
                  </a:lnTo>
                  <a:lnTo>
                    <a:pt x="5" y="116"/>
                  </a:lnTo>
                  <a:lnTo>
                    <a:pt x="4" y="117"/>
                  </a:lnTo>
                  <a:lnTo>
                    <a:pt x="5" y="128"/>
                  </a:lnTo>
                  <a:lnTo>
                    <a:pt x="0" y="132"/>
                  </a:lnTo>
                  <a:lnTo>
                    <a:pt x="11" y="147"/>
                  </a:lnTo>
                  <a:lnTo>
                    <a:pt x="11" y="148"/>
                  </a:lnTo>
                  <a:lnTo>
                    <a:pt x="14" y="145"/>
                  </a:lnTo>
                  <a:lnTo>
                    <a:pt x="18" y="156"/>
                  </a:lnTo>
                  <a:lnTo>
                    <a:pt x="19" y="156"/>
                  </a:lnTo>
                  <a:lnTo>
                    <a:pt x="26" y="156"/>
                  </a:lnTo>
                  <a:lnTo>
                    <a:pt x="31" y="163"/>
                  </a:lnTo>
                  <a:lnTo>
                    <a:pt x="26" y="165"/>
                  </a:lnTo>
                  <a:lnTo>
                    <a:pt x="31" y="172"/>
                  </a:lnTo>
                  <a:lnTo>
                    <a:pt x="34" y="165"/>
                  </a:lnTo>
                  <a:lnTo>
                    <a:pt x="40" y="180"/>
                  </a:lnTo>
                  <a:lnTo>
                    <a:pt x="44" y="194"/>
                  </a:lnTo>
                  <a:lnTo>
                    <a:pt x="44" y="208"/>
                  </a:lnTo>
                  <a:lnTo>
                    <a:pt x="43" y="224"/>
                  </a:lnTo>
                  <a:lnTo>
                    <a:pt x="49" y="216"/>
                  </a:lnTo>
                  <a:lnTo>
                    <a:pt x="52" y="225"/>
                  </a:lnTo>
                  <a:lnTo>
                    <a:pt x="54" y="228"/>
                  </a:lnTo>
                  <a:lnTo>
                    <a:pt x="58" y="226"/>
                  </a:lnTo>
                  <a:lnTo>
                    <a:pt x="61" y="225"/>
                  </a:lnTo>
                  <a:lnTo>
                    <a:pt x="61" y="228"/>
                  </a:lnTo>
                  <a:lnTo>
                    <a:pt x="72" y="218"/>
                  </a:lnTo>
                  <a:lnTo>
                    <a:pt x="74" y="213"/>
                  </a:lnTo>
                  <a:lnTo>
                    <a:pt x="78" y="216"/>
                  </a:lnTo>
                  <a:lnTo>
                    <a:pt x="83" y="201"/>
                  </a:lnTo>
                  <a:lnTo>
                    <a:pt x="89" y="210"/>
                  </a:lnTo>
                  <a:lnTo>
                    <a:pt x="96" y="216"/>
                  </a:lnTo>
                  <a:lnTo>
                    <a:pt x="103" y="241"/>
                  </a:lnTo>
                  <a:lnTo>
                    <a:pt x="109" y="266"/>
                  </a:lnTo>
                  <a:lnTo>
                    <a:pt x="110" y="261"/>
                  </a:lnTo>
                  <a:lnTo>
                    <a:pt x="115" y="274"/>
                  </a:lnTo>
                  <a:lnTo>
                    <a:pt x="120" y="288"/>
                  </a:lnTo>
                  <a:lnTo>
                    <a:pt x="122" y="301"/>
                  </a:lnTo>
                  <a:lnTo>
                    <a:pt x="122" y="316"/>
                  </a:lnTo>
                  <a:lnTo>
                    <a:pt x="121" y="330"/>
                  </a:lnTo>
                  <a:lnTo>
                    <a:pt x="125" y="326"/>
                  </a:lnTo>
                  <a:lnTo>
                    <a:pt x="131" y="314"/>
                  </a:lnTo>
                  <a:lnTo>
                    <a:pt x="136" y="303"/>
                  </a:lnTo>
                  <a:lnTo>
                    <a:pt x="131" y="285"/>
                  </a:lnTo>
                  <a:lnTo>
                    <a:pt x="127" y="270"/>
                  </a:lnTo>
                  <a:lnTo>
                    <a:pt x="119" y="259"/>
                  </a:lnTo>
                  <a:lnTo>
                    <a:pt x="110" y="248"/>
                  </a:lnTo>
                  <a:lnTo>
                    <a:pt x="110" y="237"/>
                  </a:lnTo>
                  <a:lnTo>
                    <a:pt x="113" y="230"/>
                  </a:lnTo>
                  <a:lnTo>
                    <a:pt x="116" y="219"/>
                  </a:lnTo>
                  <a:lnTo>
                    <a:pt x="113" y="218"/>
                  </a:lnTo>
                  <a:lnTo>
                    <a:pt x="100" y="199"/>
                  </a:lnTo>
                  <a:lnTo>
                    <a:pt x="86" y="178"/>
                  </a:lnTo>
                  <a:lnTo>
                    <a:pt x="91" y="180"/>
                  </a:lnTo>
                  <a:lnTo>
                    <a:pt x="95" y="159"/>
                  </a:lnTo>
                  <a:lnTo>
                    <a:pt x="109" y="157"/>
                  </a:lnTo>
                  <a:lnTo>
                    <a:pt x="116" y="148"/>
                  </a:lnTo>
                  <a:lnTo>
                    <a:pt x="125" y="146"/>
                  </a:lnTo>
                  <a:lnTo>
                    <a:pt x="131" y="138"/>
                  </a:lnTo>
                  <a:lnTo>
                    <a:pt x="138" y="124"/>
                  </a:lnTo>
                  <a:lnTo>
                    <a:pt x="133" y="122"/>
                  </a:lnTo>
                  <a:lnTo>
                    <a:pt x="122" y="126"/>
                  </a:lnTo>
                  <a:lnTo>
                    <a:pt x="114" y="116"/>
                  </a:lnTo>
                  <a:lnTo>
                    <a:pt x="106" y="112"/>
                  </a:lnTo>
                  <a:lnTo>
                    <a:pt x="108" y="98"/>
                  </a:lnTo>
                  <a:lnTo>
                    <a:pt x="97" y="93"/>
                  </a:lnTo>
                  <a:lnTo>
                    <a:pt x="94" y="81"/>
                  </a:lnTo>
                  <a:lnTo>
                    <a:pt x="92" y="7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7" name="Freeform 46"/>
            <p:cNvSpPr>
              <a:spLocks/>
            </p:cNvSpPr>
            <p:nvPr/>
          </p:nvSpPr>
          <p:spPr bwMode="auto">
            <a:xfrm>
              <a:off x="4620" y="2334"/>
              <a:ext cx="82" cy="120"/>
            </a:xfrm>
            <a:custGeom>
              <a:avLst/>
              <a:gdLst/>
              <a:ahLst/>
              <a:cxnLst>
                <a:cxn ang="0">
                  <a:pos x="15" y="69"/>
                </a:cxn>
                <a:cxn ang="0">
                  <a:pos x="15" y="76"/>
                </a:cxn>
                <a:cxn ang="0">
                  <a:pos x="4" y="58"/>
                </a:cxn>
                <a:cxn ang="0">
                  <a:pos x="0" y="43"/>
                </a:cxn>
                <a:cxn ang="0">
                  <a:pos x="9" y="45"/>
                </a:cxn>
                <a:cxn ang="0">
                  <a:pos x="6" y="27"/>
                </a:cxn>
                <a:cxn ang="0">
                  <a:pos x="5" y="7"/>
                </a:cxn>
                <a:cxn ang="0">
                  <a:pos x="9" y="0"/>
                </a:cxn>
                <a:cxn ang="0">
                  <a:pos x="29" y="5"/>
                </a:cxn>
                <a:cxn ang="0">
                  <a:pos x="31" y="9"/>
                </a:cxn>
                <a:cxn ang="0">
                  <a:pos x="36" y="23"/>
                </a:cxn>
                <a:cxn ang="0">
                  <a:pos x="39" y="34"/>
                </a:cxn>
                <a:cxn ang="0">
                  <a:pos x="35" y="45"/>
                </a:cxn>
                <a:cxn ang="0">
                  <a:pos x="29" y="52"/>
                </a:cxn>
                <a:cxn ang="0">
                  <a:pos x="29" y="65"/>
                </a:cxn>
                <a:cxn ang="0">
                  <a:pos x="39" y="84"/>
                </a:cxn>
                <a:cxn ang="0">
                  <a:pos x="43" y="83"/>
                </a:cxn>
                <a:cxn ang="0">
                  <a:pos x="45" y="81"/>
                </a:cxn>
                <a:cxn ang="0">
                  <a:pos x="53" y="78"/>
                </a:cxn>
                <a:cxn ang="0">
                  <a:pos x="60" y="88"/>
                </a:cxn>
                <a:cxn ang="0">
                  <a:pos x="61" y="84"/>
                </a:cxn>
                <a:cxn ang="0">
                  <a:pos x="69" y="89"/>
                </a:cxn>
                <a:cxn ang="0">
                  <a:pos x="65" y="91"/>
                </a:cxn>
                <a:cxn ang="0">
                  <a:pos x="72" y="100"/>
                </a:cxn>
                <a:cxn ang="0">
                  <a:pos x="76" y="101"/>
                </a:cxn>
                <a:cxn ang="0">
                  <a:pos x="72" y="108"/>
                </a:cxn>
                <a:cxn ang="0">
                  <a:pos x="72" y="103"/>
                </a:cxn>
                <a:cxn ang="0">
                  <a:pos x="61" y="97"/>
                </a:cxn>
                <a:cxn ang="0">
                  <a:pos x="54" y="89"/>
                </a:cxn>
                <a:cxn ang="0">
                  <a:pos x="48" y="87"/>
                </a:cxn>
                <a:cxn ang="0">
                  <a:pos x="51" y="99"/>
                </a:cxn>
                <a:cxn ang="0">
                  <a:pos x="35" y="85"/>
                </a:cxn>
                <a:cxn ang="0">
                  <a:pos x="25" y="90"/>
                </a:cxn>
                <a:cxn ang="0">
                  <a:pos x="18" y="87"/>
                </a:cxn>
                <a:cxn ang="0">
                  <a:pos x="18" y="78"/>
                </a:cxn>
                <a:cxn ang="0">
                  <a:pos x="21" y="71"/>
                </a:cxn>
                <a:cxn ang="0">
                  <a:pos x="15" y="69"/>
                </a:cxn>
              </a:cxnLst>
              <a:rect l="0" t="0" r="r" b="b"/>
              <a:pathLst>
                <a:path w="76" h="108">
                  <a:moveTo>
                    <a:pt x="15" y="69"/>
                  </a:moveTo>
                  <a:lnTo>
                    <a:pt x="15" y="76"/>
                  </a:lnTo>
                  <a:lnTo>
                    <a:pt x="4" y="58"/>
                  </a:lnTo>
                  <a:lnTo>
                    <a:pt x="0" y="43"/>
                  </a:lnTo>
                  <a:lnTo>
                    <a:pt x="9" y="45"/>
                  </a:lnTo>
                  <a:lnTo>
                    <a:pt x="6" y="27"/>
                  </a:lnTo>
                  <a:lnTo>
                    <a:pt x="5" y="7"/>
                  </a:lnTo>
                  <a:lnTo>
                    <a:pt x="9" y="0"/>
                  </a:lnTo>
                  <a:lnTo>
                    <a:pt x="29" y="5"/>
                  </a:lnTo>
                  <a:lnTo>
                    <a:pt x="31" y="9"/>
                  </a:lnTo>
                  <a:lnTo>
                    <a:pt x="36" y="23"/>
                  </a:lnTo>
                  <a:lnTo>
                    <a:pt x="39" y="34"/>
                  </a:lnTo>
                  <a:lnTo>
                    <a:pt x="35" y="45"/>
                  </a:lnTo>
                  <a:lnTo>
                    <a:pt x="29" y="52"/>
                  </a:lnTo>
                  <a:lnTo>
                    <a:pt x="29" y="65"/>
                  </a:lnTo>
                  <a:lnTo>
                    <a:pt x="39" y="84"/>
                  </a:lnTo>
                  <a:lnTo>
                    <a:pt x="43" y="83"/>
                  </a:lnTo>
                  <a:lnTo>
                    <a:pt x="45" y="81"/>
                  </a:lnTo>
                  <a:lnTo>
                    <a:pt x="53" y="78"/>
                  </a:lnTo>
                  <a:lnTo>
                    <a:pt x="60" y="88"/>
                  </a:lnTo>
                  <a:lnTo>
                    <a:pt x="61" y="84"/>
                  </a:lnTo>
                  <a:lnTo>
                    <a:pt x="69" y="89"/>
                  </a:lnTo>
                  <a:lnTo>
                    <a:pt x="65" y="91"/>
                  </a:lnTo>
                  <a:lnTo>
                    <a:pt x="72" y="100"/>
                  </a:lnTo>
                  <a:lnTo>
                    <a:pt x="76" y="101"/>
                  </a:lnTo>
                  <a:lnTo>
                    <a:pt x="72" y="108"/>
                  </a:lnTo>
                  <a:lnTo>
                    <a:pt x="72" y="103"/>
                  </a:lnTo>
                  <a:lnTo>
                    <a:pt x="61" y="97"/>
                  </a:lnTo>
                  <a:lnTo>
                    <a:pt x="54" y="89"/>
                  </a:lnTo>
                  <a:lnTo>
                    <a:pt x="48" y="87"/>
                  </a:lnTo>
                  <a:lnTo>
                    <a:pt x="51" y="99"/>
                  </a:lnTo>
                  <a:lnTo>
                    <a:pt x="35" y="85"/>
                  </a:lnTo>
                  <a:lnTo>
                    <a:pt x="25" y="90"/>
                  </a:lnTo>
                  <a:lnTo>
                    <a:pt x="18" y="87"/>
                  </a:lnTo>
                  <a:lnTo>
                    <a:pt x="18" y="78"/>
                  </a:lnTo>
                  <a:lnTo>
                    <a:pt x="21" y="71"/>
                  </a:lnTo>
                  <a:lnTo>
                    <a:pt x="15"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8" name="Freeform 47"/>
            <p:cNvSpPr>
              <a:spLocks/>
            </p:cNvSpPr>
            <p:nvPr/>
          </p:nvSpPr>
          <p:spPr bwMode="auto">
            <a:xfrm>
              <a:off x="4675" y="2512"/>
              <a:ext cx="80" cy="82"/>
            </a:xfrm>
            <a:custGeom>
              <a:avLst/>
              <a:gdLst/>
              <a:ahLst/>
              <a:cxnLst>
                <a:cxn ang="0">
                  <a:pos x="56" y="73"/>
                </a:cxn>
                <a:cxn ang="0">
                  <a:pos x="54" y="66"/>
                </a:cxn>
                <a:cxn ang="0">
                  <a:pos x="51" y="68"/>
                </a:cxn>
                <a:cxn ang="0">
                  <a:pos x="33" y="58"/>
                </a:cxn>
                <a:cxn ang="0">
                  <a:pos x="36" y="43"/>
                </a:cxn>
                <a:cxn ang="0">
                  <a:pos x="26" y="34"/>
                </a:cxn>
                <a:cxn ang="0">
                  <a:pos x="22" y="38"/>
                </a:cxn>
                <a:cxn ang="0">
                  <a:pos x="19" y="37"/>
                </a:cxn>
                <a:cxn ang="0">
                  <a:pos x="16" y="40"/>
                </a:cxn>
                <a:cxn ang="0">
                  <a:pos x="12" y="35"/>
                </a:cxn>
                <a:cxn ang="0">
                  <a:pos x="4" y="44"/>
                </a:cxn>
                <a:cxn ang="0">
                  <a:pos x="0" y="49"/>
                </a:cxn>
                <a:cxn ang="0">
                  <a:pos x="2" y="36"/>
                </a:cxn>
                <a:cxn ang="0">
                  <a:pos x="14" y="25"/>
                </a:cxn>
                <a:cxn ang="0">
                  <a:pos x="24" y="19"/>
                </a:cxn>
                <a:cxn ang="0">
                  <a:pos x="27" y="29"/>
                </a:cxn>
                <a:cxn ang="0">
                  <a:pos x="34" y="25"/>
                </a:cxn>
                <a:cxn ang="0">
                  <a:pos x="39" y="22"/>
                </a:cxn>
                <a:cxn ang="0">
                  <a:pos x="42" y="13"/>
                </a:cxn>
                <a:cxn ang="0">
                  <a:pos x="49" y="13"/>
                </a:cxn>
                <a:cxn ang="0">
                  <a:pos x="52" y="13"/>
                </a:cxn>
                <a:cxn ang="0">
                  <a:pos x="51" y="0"/>
                </a:cxn>
                <a:cxn ang="0">
                  <a:pos x="63" y="8"/>
                </a:cxn>
                <a:cxn ang="0">
                  <a:pos x="66" y="22"/>
                </a:cxn>
                <a:cxn ang="0">
                  <a:pos x="73" y="43"/>
                </a:cxn>
                <a:cxn ang="0">
                  <a:pos x="69" y="52"/>
                </a:cxn>
                <a:cxn ang="0">
                  <a:pos x="68" y="59"/>
                </a:cxn>
                <a:cxn ang="0">
                  <a:pos x="61" y="44"/>
                </a:cxn>
                <a:cxn ang="0">
                  <a:pos x="56" y="48"/>
                </a:cxn>
                <a:cxn ang="0">
                  <a:pos x="58" y="60"/>
                </a:cxn>
                <a:cxn ang="0">
                  <a:pos x="56" y="73"/>
                </a:cxn>
              </a:cxnLst>
              <a:rect l="0" t="0" r="r" b="b"/>
              <a:pathLst>
                <a:path w="73" h="73">
                  <a:moveTo>
                    <a:pt x="56" y="73"/>
                  </a:moveTo>
                  <a:lnTo>
                    <a:pt x="54" y="66"/>
                  </a:lnTo>
                  <a:lnTo>
                    <a:pt x="51" y="68"/>
                  </a:lnTo>
                  <a:lnTo>
                    <a:pt x="33" y="58"/>
                  </a:lnTo>
                  <a:lnTo>
                    <a:pt x="36" y="43"/>
                  </a:lnTo>
                  <a:lnTo>
                    <a:pt x="26" y="34"/>
                  </a:lnTo>
                  <a:lnTo>
                    <a:pt x="22" y="38"/>
                  </a:lnTo>
                  <a:lnTo>
                    <a:pt x="19" y="37"/>
                  </a:lnTo>
                  <a:lnTo>
                    <a:pt x="16" y="40"/>
                  </a:lnTo>
                  <a:lnTo>
                    <a:pt x="12" y="35"/>
                  </a:lnTo>
                  <a:lnTo>
                    <a:pt x="4" y="44"/>
                  </a:lnTo>
                  <a:lnTo>
                    <a:pt x="0" y="49"/>
                  </a:lnTo>
                  <a:lnTo>
                    <a:pt x="2" y="36"/>
                  </a:lnTo>
                  <a:lnTo>
                    <a:pt x="14" y="25"/>
                  </a:lnTo>
                  <a:lnTo>
                    <a:pt x="24" y="19"/>
                  </a:lnTo>
                  <a:lnTo>
                    <a:pt x="27" y="29"/>
                  </a:lnTo>
                  <a:lnTo>
                    <a:pt x="34" y="25"/>
                  </a:lnTo>
                  <a:lnTo>
                    <a:pt x="39" y="22"/>
                  </a:lnTo>
                  <a:lnTo>
                    <a:pt x="42" y="13"/>
                  </a:lnTo>
                  <a:lnTo>
                    <a:pt x="49" y="13"/>
                  </a:lnTo>
                  <a:lnTo>
                    <a:pt x="52" y="13"/>
                  </a:lnTo>
                  <a:lnTo>
                    <a:pt x="51" y="0"/>
                  </a:lnTo>
                  <a:lnTo>
                    <a:pt x="63" y="8"/>
                  </a:lnTo>
                  <a:lnTo>
                    <a:pt x="66" y="22"/>
                  </a:lnTo>
                  <a:lnTo>
                    <a:pt x="73" y="43"/>
                  </a:lnTo>
                  <a:lnTo>
                    <a:pt x="69" y="52"/>
                  </a:lnTo>
                  <a:lnTo>
                    <a:pt x="68" y="59"/>
                  </a:lnTo>
                  <a:lnTo>
                    <a:pt x="61" y="44"/>
                  </a:lnTo>
                  <a:lnTo>
                    <a:pt x="56" y="48"/>
                  </a:lnTo>
                  <a:lnTo>
                    <a:pt x="58" y="60"/>
                  </a:lnTo>
                  <a:lnTo>
                    <a:pt x="56"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9" name="Freeform 48"/>
            <p:cNvSpPr>
              <a:spLocks/>
            </p:cNvSpPr>
            <p:nvPr/>
          </p:nvSpPr>
          <p:spPr bwMode="auto">
            <a:xfrm>
              <a:off x="4680" y="2490"/>
              <a:ext cx="17" cy="33"/>
            </a:xfrm>
            <a:custGeom>
              <a:avLst/>
              <a:gdLst/>
              <a:ahLst/>
              <a:cxnLst>
                <a:cxn ang="0">
                  <a:pos x="16" y="0"/>
                </a:cxn>
                <a:cxn ang="0">
                  <a:pos x="12" y="22"/>
                </a:cxn>
                <a:cxn ang="0">
                  <a:pos x="12" y="31"/>
                </a:cxn>
                <a:cxn ang="0">
                  <a:pos x="0" y="20"/>
                </a:cxn>
                <a:cxn ang="0">
                  <a:pos x="4" y="15"/>
                </a:cxn>
                <a:cxn ang="0">
                  <a:pos x="6" y="0"/>
                </a:cxn>
                <a:cxn ang="0">
                  <a:pos x="16" y="0"/>
                </a:cxn>
              </a:cxnLst>
              <a:rect l="0" t="0" r="r" b="b"/>
              <a:pathLst>
                <a:path w="16" h="31">
                  <a:moveTo>
                    <a:pt x="16" y="0"/>
                  </a:moveTo>
                  <a:lnTo>
                    <a:pt x="12" y="22"/>
                  </a:lnTo>
                  <a:lnTo>
                    <a:pt x="12" y="31"/>
                  </a:lnTo>
                  <a:lnTo>
                    <a:pt x="0" y="20"/>
                  </a:lnTo>
                  <a:lnTo>
                    <a:pt x="4" y="15"/>
                  </a:lnTo>
                  <a:lnTo>
                    <a:pt x="6" y="0"/>
                  </a:lnTo>
                  <a:lnTo>
                    <a:pt x="1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0" name="Freeform 49"/>
            <p:cNvSpPr>
              <a:spLocks/>
            </p:cNvSpPr>
            <p:nvPr/>
          </p:nvSpPr>
          <p:spPr bwMode="auto">
            <a:xfrm>
              <a:off x="4706" y="2454"/>
              <a:ext cx="29" cy="31"/>
            </a:xfrm>
            <a:custGeom>
              <a:avLst/>
              <a:gdLst/>
              <a:ahLst/>
              <a:cxnLst>
                <a:cxn ang="0">
                  <a:pos x="20" y="27"/>
                </a:cxn>
                <a:cxn ang="0">
                  <a:pos x="12" y="18"/>
                </a:cxn>
                <a:cxn ang="0">
                  <a:pos x="0" y="3"/>
                </a:cxn>
                <a:cxn ang="0">
                  <a:pos x="14" y="0"/>
                </a:cxn>
                <a:cxn ang="0">
                  <a:pos x="20" y="11"/>
                </a:cxn>
                <a:cxn ang="0">
                  <a:pos x="27" y="28"/>
                </a:cxn>
                <a:cxn ang="0">
                  <a:pos x="20" y="27"/>
                </a:cxn>
              </a:cxnLst>
              <a:rect l="0" t="0" r="r" b="b"/>
              <a:pathLst>
                <a:path w="27" h="28">
                  <a:moveTo>
                    <a:pt x="20" y="27"/>
                  </a:moveTo>
                  <a:lnTo>
                    <a:pt x="12" y="18"/>
                  </a:lnTo>
                  <a:lnTo>
                    <a:pt x="0" y="3"/>
                  </a:lnTo>
                  <a:lnTo>
                    <a:pt x="14" y="0"/>
                  </a:lnTo>
                  <a:lnTo>
                    <a:pt x="20" y="11"/>
                  </a:lnTo>
                  <a:lnTo>
                    <a:pt x="27" y="28"/>
                  </a:lnTo>
                  <a:lnTo>
                    <a:pt x="2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1" name="Freeform 50"/>
            <p:cNvSpPr>
              <a:spLocks/>
            </p:cNvSpPr>
            <p:nvPr/>
          </p:nvSpPr>
          <p:spPr bwMode="auto">
            <a:xfrm>
              <a:off x="4666" y="2470"/>
              <a:ext cx="23" cy="26"/>
            </a:xfrm>
            <a:custGeom>
              <a:avLst/>
              <a:gdLst/>
              <a:ahLst/>
              <a:cxnLst>
                <a:cxn ang="0">
                  <a:pos x="20" y="4"/>
                </a:cxn>
                <a:cxn ang="0">
                  <a:pos x="3" y="0"/>
                </a:cxn>
                <a:cxn ang="0">
                  <a:pos x="0" y="1"/>
                </a:cxn>
                <a:cxn ang="0">
                  <a:pos x="5" y="24"/>
                </a:cxn>
                <a:cxn ang="0">
                  <a:pos x="20" y="9"/>
                </a:cxn>
                <a:cxn ang="0">
                  <a:pos x="21" y="8"/>
                </a:cxn>
                <a:cxn ang="0">
                  <a:pos x="20" y="4"/>
                </a:cxn>
              </a:cxnLst>
              <a:rect l="0" t="0" r="r" b="b"/>
              <a:pathLst>
                <a:path w="21" h="24">
                  <a:moveTo>
                    <a:pt x="20" y="4"/>
                  </a:moveTo>
                  <a:lnTo>
                    <a:pt x="3" y="0"/>
                  </a:lnTo>
                  <a:lnTo>
                    <a:pt x="0" y="1"/>
                  </a:lnTo>
                  <a:lnTo>
                    <a:pt x="5" y="24"/>
                  </a:lnTo>
                  <a:lnTo>
                    <a:pt x="20" y="9"/>
                  </a:lnTo>
                  <a:lnTo>
                    <a:pt x="21" y="8"/>
                  </a:lnTo>
                  <a:lnTo>
                    <a:pt x="2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2" name="Freeform 51"/>
            <p:cNvSpPr>
              <a:spLocks/>
            </p:cNvSpPr>
            <p:nvPr/>
          </p:nvSpPr>
          <p:spPr bwMode="auto">
            <a:xfrm>
              <a:off x="4589" y="2481"/>
              <a:ext cx="42" cy="55"/>
            </a:xfrm>
            <a:custGeom>
              <a:avLst/>
              <a:gdLst/>
              <a:ahLst/>
              <a:cxnLst>
                <a:cxn ang="0">
                  <a:pos x="37" y="15"/>
                </a:cxn>
                <a:cxn ang="0">
                  <a:pos x="23" y="29"/>
                </a:cxn>
                <a:cxn ang="0">
                  <a:pos x="12" y="40"/>
                </a:cxn>
                <a:cxn ang="0">
                  <a:pos x="0" y="52"/>
                </a:cxn>
                <a:cxn ang="0">
                  <a:pos x="1" y="48"/>
                </a:cxn>
                <a:cxn ang="0">
                  <a:pos x="13" y="34"/>
                </a:cxn>
                <a:cxn ang="0">
                  <a:pos x="24" y="21"/>
                </a:cxn>
                <a:cxn ang="0">
                  <a:pos x="29" y="9"/>
                </a:cxn>
                <a:cxn ang="0">
                  <a:pos x="30" y="9"/>
                </a:cxn>
                <a:cxn ang="0">
                  <a:pos x="31" y="0"/>
                </a:cxn>
                <a:cxn ang="0">
                  <a:pos x="37" y="15"/>
                </a:cxn>
              </a:cxnLst>
              <a:rect l="0" t="0" r="r" b="b"/>
              <a:pathLst>
                <a:path w="37" h="52">
                  <a:moveTo>
                    <a:pt x="37" y="15"/>
                  </a:moveTo>
                  <a:lnTo>
                    <a:pt x="23" y="29"/>
                  </a:lnTo>
                  <a:lnTo>
                    <a:pt x="12" y="40"/>
                  </a:lnTo>
                  <a:lnTo>
                    <a:pt x="0" y="52"/>
                  </a:lnTo>
                  <a:lnTo>
                    <a:pt x="1" y="48"/>
                  </a:lnTo>
                  <a:lnTo>
                    <a:pt x="13" y="34"/>
                  </a:lnTo>
                  <a:lnTo>
                    <a:pt x="24" y="21"/>
                  </a:lnTo>
                  <a:lnTo>
                    <a:pt x="29" y="9"/>
                  </a:lnTo>
                  <a:lnTo>
                    <a:pt x="30" y="9"/>
                  </a:lnTo>
                  <a:lnTo>
                    <a:pt x="31" y="0"/>
                  </a:lnTo>
                  <a:lnTo>
                    <a:pt x="37"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3" name="Freeform 52"/>
            <p:cNvSpPr>
              <a:spLocks/>
            </p:cNvSpPr>
            <p:nvPr/>
          </p:nvSpPr>
          <p:spPr bwMode="auto">
            <a:xfrm>
              <a:off x="4633" y="2436"/>
              <a:ext cx="24" cy="25"/>
            </a:xfrm>
            <a:custGeom>
              <a:avLst/>
              <a:gdLst/>
              <a:ahLst/>
              <a:cxnLst>
                <a:cxn ang="0">
                  <a:pos x="22" y="14"/>
                </a:cxn>
                <a:cxn ang="0">
                  <a:pos x="18" y="20"/>
                </a:cxn>
                <a:cxn ang="0">
                  <a:pos x="10" y="11"/>
                </a:cxn>
                <a:cxn ang="0">
                  <a:pos x="0" y="0"/>
                </a:cxn>
                <a:cxn ang="0">
                  <a:pos x="17" y="2"/>
                </a:cxn>
                <a:cxn ang="0">
                  <a:pos x="22" y="14"/>
                </a:cxn>
              </a:cxnLst>
              <a:rect l="0" t="0" r="r" b="b"/>
              <a:pathLst>
                <a:path w="22" h="20">
                  <a:moveTo>
                    <a:pt x="22" y="14"/>
                  </a:moveTo>
                  <a:lnTo>
                    <a:pt x="18" y="20"/>
                  </a:lnTo>
                  <a:lnTo>
                    <a:pt x="10" y="11"/>
                  </a:lnTo>
                  <a:lnTo>
                    <a:pt x="0" y="0"/>
                  </a:lnTo>
                  <a:lnTo>
                    <a:pt x="17" y="2"/>
                  </a:lnTo>
                  <a:lnTo>
                    <a:pt x="22" y="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4" name="Freeform 53"/>
            <p:cNvSpPr>
              <a:spLocks/>
            </p:cNvSpPr>
            <p:nvPr/>
          </p:nvSpPr>
          <p:spPr bwMode="auto">
            <a:xfrm>
              <a:off x="4711" y="2476"/>
              <a:ext cx="18" cy="27"/>
            </a:xfrm>
            <a:custGeom>
              <a:avLst/>
              <a:gdLst/>
              <a:ahLst/>
              <a:cxnLst>
                <a:cxn ang="0">
                  <a:pos x="10" y="4"/>
                </a:cxn>
                <a:cxn ang="0">
                  <a:pos x="16" y="21"/>
                </a:cxn>
                <a:cxn ang="0">
                  <a:pos x="12" y="22"/>
                </a:cxn>
                <a:cxn ang="0">
                  <a:pos x="11" y="25"/>
                </a:cxn>
                <a:cxn ang="0">
                  <a:pos x="4" y="10"/>
                </a:cxn>
                <a:cxn ang="0">
                  <a:pos x="0" y="0"/>
                </a:cxn>
                <a:cxn ang="0">
                  <a:pos x="10" y="4"/>
                </a:cxn>
              </a:cxnLst>
              <a:rect l="0" t="0" r="r" b="b"/>
              <a:pathLst>
                <a:path w="16" h="25">
                  <a:moveTo>
                    <a:pt x="10" y="4"/>
                  </a:moveTo>
                  <a:lnTo>
                    <a:pt x="16" y="21"/>
                  </a:lnTo>
                  <a:lnTo>
                    <a:pt x="12" y="22"/>
                  </a:lnTo>
                  <a:lnTo>
                    <a:pt x="11" y="25"/>
                  </a:lnTo>
                  <a:lnTo>
                    <a:pt x="4" y="10"/>
                  </a:lnTo>
                  <a:lnTo>
                    <a:pt x="0" y="0"/>
                  </a:lnTo>
                  <a:lnTo>
                    <a:pt x="1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5" name="Freeform 54"/>
            <p:cNvSpPr>
              <a:spLocks/>
            </p:cNvSpPr>
            <p:nvPr/>
          </p:nvSpPr>
          <p:spPr bwMode="auto">
            <a:xfrm>
              <a:off x="4689" y="2456"/>
              <a:ext cx="15" cy="16"/>
            </a:xfrm>
            <a:custGeom>
              <a:avLst/>
              <a:gdLst/>
              <a:ahLst/>
              <a:cxnLst>
                <a:cxn ang="0">
                  <a:pos x="14" y="13"/>
                </a:cxn>
                <a:cxn ang="0">
                  <a:pos x="2" y="6"/>
                </a:cxn>
                <a:cxn ang="0">
                  <a:pos x="0" y="7"/>
                </a:cxn>
                <a:cxn ang="0">
                  <a:pos x="1" y="0"/>
                </a:cxn>
                <a:cxn ang="0">
                  <a:pos x="14" y="11"/>
                </a:cxn>
                <a:cxn ang="0">
                  <a:pos x="14" y="13"/>
                </a:cxn>
              </a:cxnLst>
              <a:rect l="0" t="0" r="r" b="b"/>
              <a:pathLst>
                <a:path w="14" h="13">
                  <a:moveTo>
                    <a:pt x="14" y="13"/>
                  </a:moveTo>
                  <a:lnTo>
                    <a:pt x="2" y="6"/>
                  </a:lnTo>
                  <a:lnTo>
                    <a:pt x="0" y="7"/>
                  </a:lnTo>
                  <a:lnTo>
                    <a:pt x="1" y="0"/>
                  </a:lnTo>
                  <a:lnTo>
                    <a:pt x="14" y="11"/>
                  </a:lnTo>
                  <a:lnTo>
                    <a:pt x="14"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6" name="Freeform 55"/>
            <p:cNvSpPr>
              <a:spLocks/>
            </p:cNvSpPr>
            <p:nvPr/>
          </p:nvSpPr>
          <p:spPr bwMode="auto">
            <a:xfrm>
              <a:off x="4704" y="2503"/>
              <a:ext cx="13" cy="7"/>
            </a:xfrm>
            <a:custGeom>
              <a:avLst/>
              <a:gdLst/>
              <a:ahLst/>
              <a:cxnLst>
                <a:cxn ang="0">
                  <a:pos x="12" y="6"/>
                </a:cxn>
                <a:cxn ang="0">
                  <a:pos x="10" y="0"/>
                </a:cxn>
                <a:cxn ang="0">
                  <a:pos x="0" y="6"/>
                </a:cxn>
                <a:cxn ang="0">
                  <a:pos x="12" y="6"/>
                </a:cxn>
              </a:cxnLst>
              <a:rect l="0" t="0" r="r" b="b"/>
              <a:pathLst>
                <a:path w="12" h="6">
                  <a:moveTo>
                    <a:pt x="12" y="6"/>
                  </a:moveTo>
                  <a:lnTo>
                    <a:pt x="10" y="0"/>
                  </a:lnTo>
                  <a:lnTo>
                    <a:pt x="0" y="6"/>
                  </a:lnTo>
                  <a:lnTo>
                    <a:pt x="12"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7" name="Freeform 56"/>
            <p:cNvSpPr>
              <a:spLocks/>
            </p:cNvSpPr>
            <p:nvPr/>
          </p:nvSpPr>
          <p:spPr bwMode="auto">
            <a:xfrm>
              <a:off x="4695" y="2481"/>
              <a:ext cx="11" cy="35"/>
            </a:xfrm>
            <a:custGeom>
              <a:avLst/>
              <a:gdLst/>
              <a:ahLst/>
              <a:cxnLst>
                <a:cxn ang="0">
                  <a:pos x="8" y="0"/>
                </a:cxn>
                <a:cxn ang="0">
                  <a:pos x="8" y="9"/>
                </a:cxn>
                <a:cxn ang="0">
                  <a:pos x="5" y="21"/>
                </a:cxn>
                <a:cxn ang="0">
                  <a:pos x="0" y="33"/>
                </a:cxn>
                <a:cxn ang="0">
                  <a:pos x="5" y="16"/>
                </a:cxn>
                <a:cxn ang="0">
                  <a:pos x="8" y="0"/>
                </a:cxn>
              </a:cxnLst>
              <a:rect l="0" t="0" r="r" b="b"/>
              <a:pathLst>
                <a:path w="8" h="33">
                  <a:moveTo>
                    <a:pt x="8" y="0"/>
                  </a:moveTo>
                  <a:lnTo>
                    <a:pt x="8" y="9"/>
                  </a:lnTo>
                  <a:lnTo>
                    <a:pt x="5" y="21"/>
                  </a:lnTo>
                  <a:lnTo>
                    <a:pt x="0" y="33"/>
                  </a:lnTo>
                  <a:lnTo>
                    <a:pt x="5" y="16"/>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8" name="Freeform 57"/>
            <p:cNvSpPr>
              <a:spLocks/>
            </p:cNvSpPr>
            <p:nvPr/>
          </p:nvSpPr>
          <p:spPr bwMode="auto">
            <a:xfrm>
              <a:off x="4220" y="2299"/>
              <a:ext cx="153" cy="291"/>
            </a:xfrm>
            <a:custGeom>
              <a:avLst/>
              <a:gdLst/>
              <a:ahLst/>
              <a:cxnLst>
                <a:cxn ang="0">
                  <a:pos x="46" y="187"/>
                </a:cxn>
                <a:cxn ang="0">
                  <a:pos x="53" y="155"/>
                </a:cxn>
                <a:cxn ang="0">
                  <a:pos x="54" y="126"/>
                </a:cxn>
                <a:cxn ang="0">
                  <a:pos x="69" y="137"/>
                </a:cxn>
                <a:cxn ang="0">
                  <a:pos x="96" y="150"/>
                </a:cxn>
                <a:cxn ang="0">
                  <a:pos x="96" y="143"/>
                </a:cxn>
                <a:cxn ang="0">
                  <a:pos x="101" y="109"/>
                </a:cxn>
                <a:cxn ang="0">
                  <a:pos x="134" y="108"/>
                </a:cxn>
                <a:cxn ang="0">
                  <a:pos x="135" y="83"/>
                </a:cxn>
                <a:cxn ang="0">
                  <a:pos x="118" y="52"/>
                </a:cxn>
                <a:cxn ang="0">
                  <a:pos x="92" y="41"/>
                </a:cxn>
                <a:cxn ang="0">
                  <a:pos x="75" y="40"/>
                </a:cxn>
                <a:cxn ang="0">
                  <a:pos x="59" y="32"/>
                </a:cxn>
                <a:cxn ang="0">
                  <a:pos x="46" y="13"/>
                </a:cxn>
                <a:cxn ang="0">
                  <a:pos x="39" y="0"/>
                </a:cxn>
                <a:cxn ang="0">
                  <a:pos x="23" y="11"/>
                </a:cxn>
                <a:cxn ang="0">
                  <a:pos x="5" y="34"/>
                </a:cxn>
                <a:cxn ang="0">
                  <a:pos x="14" y="53"/>
                </a:cxn>
                <a:cxn ang="0">
                  <a:pos x="30" y="73"/>
                </a:cxn>
                <a:cxn ang="0">
                  <a:pos x="24" y="91"/>
                </a:cxn>
                <a:cxn ang="0">
                  <a:pos x="33" y="113"/>
                </a:cxn>
                <a:cxn ang="0">
                  <a:pos x="45" y="139"/>
                </a:cxn>
                <a:cxn ang="0">
                  <a:pos x="45" y="168"/>
                </a:cxn>
                <a:cxn ang="0">
                  <a:pos x="39" y="184"/>
                </a:cxn>
                <a:cxn ang="0">
                  <a:pos x="34" y="218"/>
                </a:cxn>
                <a:cxn ang="0">
                  <a:pos x="45" y="226"/>
                </a:cxn>
                <a:cxn ang="0">
                  <a:pos x="58" y="240"/>
                </a:cxn>
                <a:cxn ang="0">
                  <a:pos x="66" y="248"/>
                </a:cxn>
                <a:cxn ang="0">
                  <a:pos x="80" y="262"/>
                </a:cxn>
                <a:cxn ang="0">
                  <a:pos x="96" y="254"/>
                </a:cxn>
                <a:cxn ang="0">
                  <a:pos x="76" y="241"/>
                </a:cxn>
                <a:cxn ang="0">
                  <a:pos x="64" y="218"/>
                </a:cxn>
                <a:cxn ang="0">
                  <a:pos x="51" y="200"/>
                </a:cxn>
              </a:cxnLst>
              <a:rect l="0" t="0" r="r" b="b"/>
              <a:pathLst>
                <a:path w="138" h="262">
                  <a:moveTo>
                    <a:pt x="51" y="200"/>
                  </a:moveTo>
                  <a:lnTo>
                    <a:pt x="46" y="187"/>
                  </a:lnTo>
                  <a:lnTo>
                    <a:pt x="50" y="170"/>
                  </a:lnTo>
                  <a:lnTo>
                    <a:pt x="53" y="155"/>
                  </a:lnTo>
                  <a:lnTo>
                    <a:pt x="53" y="140"/>
                  </a:lnTo>
                  <a:lnTo>
                    <a:pt x="54" y="126"/>
                  </a:lnTo>
                  <a:lnTo>
                    <a:pt x="68" y="124"/>
                  </a:lnTo>
                  <a:lnTo>
                    <a:pt x="69" y="137"/>
                  </a:lnTo>
                  <a:lnTo>
                    <a:pt x="81" y="139"/>
                  </a:lnTo>
                  <a:lnTo>
                    <a:pt x="96" y="150"/>
                  </a:lnTo>
                  <a:lnTo>
                    <a:pt x="102" y="157"/>
                  </a:lnTo>
                  <a:lnTo>
                    <a:pt x="96" y="143"/>
                  </a:lnTo>
                  <a:lnTo>
                    <a:pt x="90" y="127"/>
                  </a:lnTo>
                  <a:lnTo>
                    <a:pt x="101" y="109"/>
                  </a:lnTo>
                  <a:lnTo>
                    <a:pt x="117" y="109"/>
                  </a:lnTo>
                  <a:lnTo>
                    <a:pt x="134" y="108"/>
                  </a:lnTo>
                  <a:lnTo>
                    <a:pt x="138" y="98"/>
                  </a:lnTo>
                  <a:lnTo>
                    <a:pt x="135" y="83"/>
                  </a:lnTo>
                  <a:lnTo>
                    <a:pt x="120" y="65"/>
                  </a:lnTo>
                  <a:lnTo>
                    <a:pt x="118" y="52"/>
                  </a:lnTo>
                  <a:lnTo>
                    <a:pt x="99" y="36"/>
                  </a:lnTo>
                  <a:lnTo>
                    <a:pt x="92" y="41"/>
                  </a:lnTo>
                  <a:lnTo>
                    <a:pt x="84" y="43"/>
                  </a:lnTo>
                  <a:lnTo>
                    <a:pt x="75" y="40"/>
                  </a:lnTo>
                  <a:lnTo>
                    <a:pt x="60" y="50"/>
                  </a:lnTo>
                  <a:lnTo>
                    <a:pt x="59" y="32"/>
                  </a:lnTo>
                  <a:lnTo>
                    <a:pt x="58" y="14"/>
                  </a:lnTo>
                  <a:lnTo>
                    <a:pt x="46" y="13"/>
                  </a:lnTo>
                  <a:lnTo>
                    <a:pt x="45" y="2"/>
                  </a:lnTo>
                  <a:lnTo>
                    <a:pt x="39" y="0"/>
                  </a:lnTo>
                  <a:lnTo>
                    <a:pt x="30" y="2"/>
                  </a:lnTo>
                  <a:lnTo>
                    <a:pt x="23" y="11"/>
                  </a:lnTo>
                  <a:lnTo>
                    <a:pt x="9" y="13"/>
                  </a:lnTo>
                  <a:lnTo>
                    <a:pt x="5" y="34"/>
                  </a:lnTo>
                  <a:lnTo>
                    <a:pt x="0" y="32"/>
                  </a:lnTo>
                  <a:lnTo>
                    <a:pt x="14" y="53"/>
                  </a:lnTo>
                  <a:lnTo>
                    <a:pt x="27" y="72"/>
                  </a:lnTo>
                  <a:lnTo>
                    <a:pt x="30" y="73"/>
                  </a:lnTo>
                  <a:lnTo>
                    <a:pt x="27" y="84"/>
                  </a:lnTo>
                  <a:lnTo>
                    <a:pt x="24" y="91"/>
                  </a:lnTo>
                  <a:lnTo>
                    <a:pt x="24" y="102"/>
                  </a:lnTo>
                  <a:lnTo>
                    <a:pt x="33" y="113"/>
                  </a:lnTo>
                  <a:lnTo>
                    <a:pt x="41" y="124"/>
                  </a:lnTo>
                  <a:lnTo>
                    <a:pt x="45" y="139"/>
                  </a:lnTo>
                  <a:lnTo>
                    <a:pt x="50" y="157"/>
                  </a:lnTo>
                  <a:lnTo>
                    <a:pt x="45" y="168"/>
                  </a:lnTo>
                  <a:lnTo>
                    <a:pt x="39" y="180"/>
                  </a:lnTo>
                  <a:lnTo>
                    <a:pt x="39" y="184"/>
                  </a:lnTo>
                  <a:lnTo>
                    <a:pt x="36" y="200"/>
                  </a:lnTo>
                  <a:lnTo>
                    <a:pt x="34" y="218"/>
                  </a:lnTo>
                  <a:lnTo>
                    <a:pt x="36" y="216"/>
                  </a:lnTo>
                  <a:lnTo>
                    <a:pt x="45" y="226"/>
                  </a:lnTo>
                  <a:lnTo>
                    <a:pt x="53" y="235"/>
                  </a:lnTo>
                  <a:lnTo>
                    <a:pt x="58" y="240"/>
                  </a:lnTo>
                  <a:lnTo>
                    <a:pt x="65" y="251"/>
                  </a:lnTo>
                  <a:lnTo>
                    <a:pt x="66" y="248"/>
                  </a:lnTo>
                  <a:lnTo>
                    <a:pt x="78" y="254"/>
                  </a:lnTo>
                  <a:lnTo>
                    <a:pt x="80" y="262"/>
                  </a:lnTo>
                  <a:lnTo>
                    <a:pt x="90" y="262"/>
                  </a:lnTo>
                  <a:lnTo>
                    <a:pt x="96" y="254"/>
                  </a:lnTo>
                  <a:lnTo>
                    <a:pt x="88" y="244"/>
                  </a:lnTo>
                  <a:lnTo>
                    <a:pt x="76" y="241"/>
                  </a:lnTo>
                  <a:lnTo>
                    <a:pt x="68" y="232"/>
                  </a:lnTo>
                  <a:lnTo>
                    <a:pt x="64" y="218"/>
                  </a:lnTo>
                  <a:lnTo>
                    <a:pt x="58" y="202"/>
                  </a:lnTo>
                  <a:lnTo>
                    <a:pt x="51" y="20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9" name="Freeform 58"/>
            <p:cNvSpPr>
              <a:spLocks/>
            </p:cNvSpPr>
            <p:nvPr/>
          </p:nvSpPr>
          <p:spPr bwMode="auto">
            <a:xfrm>
              <a:off x="4293" y="2241"/>
              <a:ext cx="153" cy="291"/>
            </a:xfrm>
            <a:custGeom>
              <a:avLst/>
              <a:gdLst/>
              <a:ahLst/>
              <a:cxnLst>
                <a:cxn ang="0">
                  <a:pos x="43" y="50"/>
                </a:cxn>
                <a:cxn ang="0">
                  <a:pos x="27" y="45"/>
                </a:cxn>
                <a:cxn ang="0">
                  <a:pos x="12" y="28"/>
                </a:cxn>
                <a:cxn ang="0">
                  <a:pos x="4" y="11"/>
                </a:cxn>
                <a:cxn ang="0">
                  <a:pos x="15" y="11"/>
                </a:cxn>
                <a:cxn ang="0">
                  <a:pos x="25" y="12"/>
                </a:cxn>
                <a:cxn ang="0">
                  <a:pos x="34" y="11"/>
                </a:cxn>
                <a:cxn ang="0">
                  <a:pos x="49" y="2"/>
                </a:cxn>
                <a:cxn ang="0">
                  <a:pos x="71" y="20"/>
                </a:cxn>
                <a:cxn ang="0">
                  <a:pos x="93" y="30"/>
                </a:cxn>
                <a:cxn ang="0">
                  <a:pos x="76" y="42"/>
                </a:cxn>
                <a:cxn ang="0">
                  <a:pos x="70" y="59"/>
                </a:cxn>
                <a:cxn ang="0">
                  <a:pos x="76" y="90"/>
                </a:cxn>
                <a:cxn ang="0">
                  <a:pos x="89" y="110"/>
                </a:cxn>
                <a:cxn ang="0">
                  <a:pos x="113" y="130"/>
                </a:cxn>
                <a:cxn ang="0">
                  <a:pos x="131" y="166"/>
                </a:cxn>
                <a:cxn ang="0">
                  <a:pos x="137" y="196"/>
                </a:cxn>
                <a:cxn ang="0">
                  <a:pos x="135" y="210"/>
                </a:cxn>
                <a:cxn ang="0">
                  <a:pos x="112" y="230"/>
                </a:cxn>
                <a:cxn ang="0">
                  <a:pos x="101" y="232"/>
                </a:cxn>
                <a:cxn ang="0">
                  <a:pos x="99" y="239"/>
                </a:cxn>
                <a:cxn ang="0">
                  <a:pos x="93" y="246"/>
                </a:cxn>
                <a:cxn ang="0">
                  <a:pos x="72" y="262"/>
                </a:cxn>
                <a:cxn ang="0">
                  <a:pos x="64" y="231"/>
                </a:cxn>
                <a:cxn ang="0">
                  <a:pos x="77" y="222"/>
                </a:cxn>
                <a:cxn ang="0">
                  <a:pos x="84" y="210"/>
                </a:cxn>
                <a:cxn ang="0">
                  <a:pos x="108" y="198"/>
                </a:cxn>
                <a:cxn ang="0">
                  <a:pos x="106" y="170"/>
                </a:cxn>
                <a:cxn ang="0">
                  <a:pos x="102" y="140"/>
                </a:cxn>
                <a:cxn ang="0">
                  <a:pos x="99" y="130"/>
                </a:cxn>
                <a:cxn ang="0">
                  <a:pos x="77" y="108"/>
                </a:cxn>
                <a:cxn ang="0">
                  <a:pos x="58" y="84"/>
                </a:cxn>
                <a:cxn ang="0">
                  <a:pos x="41" y="64"/>
                </a:cxn>
                <a:cxn ang="0">
                  <a:pos x="48" y="54"/>
                </a:cxn>
              </a:cxnLst>
              <a:rect l="0" t="0" r="r" b="b"/>
              <a:pathLst>
                <a:path w="138" h="262">
                  <a:moveTo>
                    <a:pt x="48" y="54"/>
                  </a:moveTo>
                  <a:lnTo>
                    <a:pt x="43" y="50"/>
                  </a:lnTo>
                  <a:lnTo>
                    <a:pt x="34" y="41"/>
                  </a:lnTo>
                  <a:lnTo>
                    <a:pt x="27" y="45"/>
                  </a:lnTo>
                  <a:lnTo>
                    <a:pt x="15" y="35"/>
                  </a:lnTo>
                  <a:lnTo>
                    <a:pt x="12" y="28"/>
                  </a:lnTo>
                  <a:lnTo>
                    <a:pt x="0" y="16"/>
                  </a:lnTo>
                  <a:lnTo>
                    <a:pt x="4" y="11"/>
                  </a:lnTo>
                  <a:lnTo>
                    <a:pt x="12" y="14"/>
                  </a:lnTo>
                  <a:lnTo>
                    <a:pt x="15" y="11"/>
                  </a:lnTo>
                  <a:lnTo>
                    <a:pt x="22" y="11"/>
                  </a:lnTo>
                  <a:lnTo>
                    <a:pt x="25" y="12"/>
                  </a:lnTo>
                  <a:lnTo>
                    <a:pt x="28" y="11"/>
                  </a:lnTo>
                  <a:lnTo>
                    <a:pt x="34" y="11"/>
                  </a:lnTo>
                  <a:lnTo>
                    <a:pt x="42" y="0"/>
                  </a:lnTo>
                  <a:lnTo>
                    <a:pt x="49" y="2"/>
                  </a:lnTo>
                  <a:lnTo>
                    <a:pt x="69" y="8"/>
                  </a:lnTo>
                  <a:lnTo>
                    <a:pt x="71" y="20"/>
                  </a:lnTo>
                  <a:lnTo>
                    <a:pt x="77" y="24"/>
                  </a:lnTo>
                  <a:lnTo>
                    <a:pt x="93" y="30"/>
                  </a:lnTo>
                  <a:lnTo>
                    <a:pt x="84" y="38"/>
                  </a:lnTo>
                  <a:lnTo>
                    <a:pt x="76" y="42"/>
                  </a:lnTo>
                  <a:lnTo>
                    <a:pt x="76" y="44"/>
                  </a:lnTo>
                  <a:lnTo>
                    <a:pt x="70" y="59"/>
                  </a:lnTo>
                  <a:lnTo>
                    <a:pt x="64" y="75"/>
                  </a:lnTo>
                  <a:lnTo>
                    <a:pt x="76" y="90"/>
                  </a:lnTo>
                  <a:lnTo>
                    <a:pt x="79" y="100"/>
                  </a:lnTo>
                  <a:lnTo>
                    <a:pt x="89" y="110"/>
                  </a:lnTo>
                  <a:lnTo>
                    <a:pt x="100" y="119"/>
                  </a:lnTo>
                  <a:lnTo>
                    <a:pt x="113" y="130"/>
                  </a:lnTo>
                  <a:lnTo>
                    <a:pt x="124" y="142"/>
                  </a:lnTo>
                  <a:lnTo>
                    <a:pt x="131" y="166"/>
                  </a:lnTo>
                  <a:lnTo>
                    <a:pt x="138" y="190"/>
                  </a:lnTo>
                  <a:lnTo>
                    <a:pt x="137" y="196"/>
                  </a:lnTo>
                  <a:lnTo>
                    <a:pt x="137" y="203"/>
                  </a:lnTo>
                  <a:lnTo>
                    <a:pt x="135" y="210"/>
                  </a:lnTo>
                  <a:lnTo>
                    <a:pt x="124" y="220"/>
                  </a:lnTo>
                  <a:lnTo>
                    <a:pt x="112" y="230"/>
                  </a:lnTo>
                  <a:lnTo>
                    <a:pt x="101" y="227"/>
                  </a:lnTo>
                  <a:lnTo>
                    <a:pt x="101" y="232"/>
                  </a:lnTo>
                  <a:lnTo>
                    <a:pt x="101" y="237"/>
                  </a:lnTo>
                  <a:lnTo>
                    <a:pt x="99" y="239"/>
                  </a:lnTo>
                  <a:lnTo>
                    <a:pt x="99" y="246"/>
                  </a:lnTo>
                  <a:lnTo>
                    <a:pt x="93" y="246"/>
                  </a:lnTo>
                  <a:lnTo>
                    <a:pt x="81" y="260"/>
                  </a:lnTo>
                  <a:lnTo>
                    <a:pt x="72" y="262"/>
                  </a:lnTo>
                  <a:lnTo>
                    <a:pt x="75" y="240"/>
                  </a:lnTo>
                  <a:lnTo>
                    <a:pt x="64" y="231"/>
                  </a:lnTo>
                  <a:lnTo>
                    <a:pt x="73" y="225"/>
                  </a:lnTo>
                  <a:lnTo>
                    <a:pt x="77" y="222"/>
                  </a:lnTo>
                  <a:lnTo>
                    <a:pt x="89" y="224"/>
                  </a:lnTo>
                  <a:lnTo>
                    <a:pt x="84" y="210"/>
                  </a:lnTo>
                  <a:lnTo>
                    <a:pt x="93" y="206"/>
                  </a:lnTo>
                  <a:lnTo>
                    <a:pt x="108" y="198"/>
                  </a:lnTo>
                  <a:lnTo>
                    <a:pt x="107" y="184"/>
                  </a:lnTo>
                  <a:lnTo>
                    <a:pt x="106" y="170"/>
                  </a:lnTo>
                  <a:lnTo>
                    <a:pt x="105" y="154"/>
                  </a:lnTo>
                  <a:lnTo>
                    <a:pt x="102" y="140"/>
                  </a:lnTo>
                  <a:lnTo>
                    <a:pt x="97" y="134"/>
                  </a:lnTo>
                  <a:lnTo>
                    <a:pt x="99" y="130"/>
                  </a:lnTo>
                  <a:lnTo>
                    <a:pt x="84" y="118"/>
                  </a:lnTo>
                  <a:lnTo>
                    <a:pt x="77" y="108"/>
                  </a:lnTo>
                  <a:lnTo>
                    <a:pt x="67" y="96"/>
                  </a:lnTo>
                  <a:lnTo>
                    <a:pt x="58" y="84"/>
                  </a:lnTo>
                  <a:lnTo>
                    <a:pt x="37" y="69"/>
                  </a:lnTo>
                  <a:lnTo>
                    <a:pt x="41" y="64"/>
                  </a:lnTo>
                  <a:lnTo>
                    <a:pt x="49" y="62"/>
                  </a:lnTo>
                  <a:lnTo>
                    <a:pt x="48" y="5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0" name="Freeform 59"/>
            <p:cNvSpPr>
              <a:spLocks/>
            </p:cNvSpPr>
            <p:nvPr/>
          </p:nvSpPr>
          <p:spPr bwMode="auto">
            <a:xfrm>
              <a:off x="3402" y="2183"/>
              <a:ext cx="13" cy="33"/>
            </a:xfrm>
            <a:custGeom>
              <a:avLst/>
              <a:gdLst/>
              <a:ahLst/>
              <a:cxnLst>
                <a:cxn ang="0">
                  <a:pos x="7" y="27"/>
                </a:cxn>
                <a:cxn ang="0">
                  <a:pos x="5" y="29"/>
                </a:cxn>
                <a:cxn ang="0">
                  <a:pos x="0" y="25"/>
                </a:cxn>
                <a:cxn ang="0">
                  <a:pos x="0" y="8"/>
                </a:cxn>
                <a:cxn ang="0">
                  <a:pos x="6" y="0"/>
                </a:cxn>
                <a:cxn ang="0">
                  <a:pos x="11" y="15"/>
                </a:cxn>
                <a:cxn ang="0">
                  <a:pos x="7" y="27"/>
                </a:cxn>
              </a:cxnLst>
              <a:rect l="0" t="0" r="r" b="b"/>
              <a:pathLst>
                <a:path w="11" h="29">
                  <a:moveTo>
                    <a:pt x="7" y="27"/>
                  </a:moveTo>
                  <a:lnTo>
                    <a:pt x="5" y="29"/>
                  </a:lnTo>
                  <a:lnTo>
                    <a:pt x="0" y="25"/>
                  </a:lnTo>
                  <a:lnTo>
                    <a:pt x="0" y="8"/>
                  </a:lnTo>
                  <a:lnTo>
                    <a:pt x="6" y="0"/>
                  </a:lnTo>
                  <a:lnTo>
                    <a:pt x="11" y="15"/>
                  </a:lnTo>
                  <a:lnTo>
                    <a:pt x="7"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1" name="Freeform 60"/>
            <p:cNvSpPr>
              <a:spLocks/>
            </p:cNvSpPr>
            <p:nvPr/>
          </p:nvSpPr>
          <p:spPr bwMode="auto">
            <a:xfrm>
              <a:off x="3253" y="1914"/>
              <a:ext cx="356" cy="289"/>
            </a:xfrm>
            <a:custGeom>
              <a:avLst/>
              <a:gdLst/>
              <a:ahLst/>
              <a:cxnLst>
                <a:cxn ang="0">
                  <a:pos x="36" y="106"/>
                </a:cxn>
                <a:cxn ang="0">
                  <a:pos x="40" y="79"/>
                </a:cxn>
                <a:cxn ang="0">
                  <a:pos x="29" y="66"/>
                </a:cxn>
                <a:cxn ang="0">
                  <a:pos x="5" y="33"/>
                </a:cxn>
                <a:cxn ang="0">
                  <a:pos x="0" y="5"/>
                </a:cxn>
                <a:cxn ang="0">
                  <a:pos x="7" y="1"/>
                </a:cxn>
                <a:cxn ang="0">
                  <a:pos x="28" y="15"/>
                </a:cxn>
                <a:cxn ang="0">
                  <a:pos x="54" y="0"/>
                </a:cxn>
                <a:cxn ang="0">
                  <a:pos x="58" y="13"/>
                </a:cxn>
                <a:cxn ang="0">
                  <a:pos x="79" y="39"/>
                </a:cxn>
                <a:cxn ang="0">
                  <a:pos x="111" y="51"/>
                </a:cxn>
                <a:cxn ang="0">
                  <a:pos x="138" y="53"/>
                </a:cxn>
                <a:cxn ang="0">
                  <a:pos x="151" y="48"/>
                </a:cxn>
                <a:cxn ang="0">
                  <a:pos x="154" y="42"/>
                </a:cxn>
                <a:cxn ang="0">
                  <a:pos x="181" y="29"/>
                </a:cxn>
                <a:cxn ang="0">
                  <a:pos x="220" y="36"/>
                </a:cxn>
                <a:cxn ang="0">
                  <a:pos x="246" y="53"/>
                </a:cxn>
                <a:cxn ang="0">
                  <a:pos x="265" y="73"/>
                </a:cxn>
                <a:cxn ang="0">
                  <a:pos x="261" y="96"/>
                </a:cxn>
                <a:cxn ang="0">
                  <a:pos x="267" y="111"/>
                </a:cxn>
                <a:cxn ang="0">
                  <a:pos x="269" y="129"/>
                </a:cxn>
                <a:cxn ang="0">
                  <a:pos x="287" y="149"/>
                </a:cxn>
                <a:cxn ang="0">
                  <a:pos x="279" y="177"/>
                </a:cxn>
                <a:cxn ang="0">
                  <a:pos x="300" y="201"/>
                </a:cxn>
                <a:cxn ang="0">
                  <a:pos x="317" y="225"/>
                </a:cxn>
                <a:cxn ang="0">
                  <a:pos x="322" y="234"/>
                </a:cxn>
                <a:cxn ang="0">
                  <a:pos x="303" y="246"/>
                </a:cxn>
                <a:cxn ang="0">
                  <a:pos x="285" y="258"/>
                </a:cxn>
                <a:cxn ang="0">
                  <a:pos x="251" y="252"/>
                </a:cxn>
                <a:cxn ang="0">
                  <a:pos x="228" y="238"/>
                </a:cxn>
                <a:cxn ang="0">
                  <a:pos x="209" y="231"/>
                </a:cxn>
                <a:cxn ang="0">
                  <a:pos x="172" y="231"/>
                </a:cxn>
                <a:cxn ang="0">
                  <a:pos x="144" y="213"/>
                </a:cxn>
                <a:cxn ang="0">
                  <a:pos x="125" y="190"/>
                </a:cxn>
                <a:cxn ang="0">
                  <a:pos x="105" y="172"/>
                </a:cxn>
                <a:cxn ang="0">
                  <a:pos x="97" y="166"/>
                </a:cxn>
                <a:cxn ang="0">
                  <a:pos x="90" y="174"/>
                </a:cxn>
                <a:cxn ang="0">
                  <a:pos x="81" y="156"/>
                </a:cxn>
                <a:cxn ang="0">
                  <a:pos x="76" y="142"/>
                </a:cxn>
                <a:cxn ang="0">
                  <a:pos x="57" y="126"/>
                </a:cxn>
              </a:cxnLst>
              <a:rect l="0" t="0" r="r" b="b"/>
              <a:pathLst>
                <a:path w="322" h="261">
                  <a:moveTo>
                    <a:pt x="45" y="118"/>
                  </a:moveTo>
                  <a:lnTo>
                    <a:pt x="36" y="106"/>
                  </a:lnTo>
                  <a:lnTo>
                    <a:pt x="35" y="96"/>
                  </a:lnTo>
                  <a:lnTo>
                    <a:pt x="40" y="79"/>
                  </a:lnTo>
                  <a:lnTo>
                    <a:pt x="40" y="71"/>
                  </a:lnTo>
                  <a:lnTo>
                    <a:pt x="29" y="66"/>
                  </a:lnTo>
                  <a:lnTo>
                    <a:pt x="15" y="46"/>
                  </a:lnTo>
                  <a:lnTo>
                    <a:pt x="5" y="33"/>
                  </a:lnTo>
                  <a:lnTo>
                    <a:pt x="1" y="15"/>
                  </a:lnTo>
                  <a:lnTo>
                    <a:pt x="0" y="5"/>
                  </a:lnTo>
                  <a:lnTo>
                    <a:pt x="6" y="0"/>
                  </a:lnTo>
                  <a:lnTo>
                    <a:pt x="7" y="1"/>
                  </a:lnTo>
                  <a:lnTo>
                    <a:pt x="10" y="5"/>
                  </a:lnTo>
                  <a:lnTo>
                    <a:pt x="28" y="15"/>
                  </a:lnTo>
                  <a:lnTo>
                    <a:pt x="40" y="10"/>
                  </a:lnTo>
                  <a:lnTo>
                    <a:pt x="54" y="0"/>
                  </a:lnTo>
                  <a:lnTo>
                    <a:pt x="59" y="10"/>
                  </a:lnTo>
                  <a:lnTo>
                    <a:pt x="58" y="13"/>
                  </a:lnTo>
                  <a:lnTo>
                    <a:pt x="71" y="23"/>
                  </a:lnTo>
                  <a:lnTo>
                    <a:pt x="79" y="39"/>
                  </a:lnTo>
                  <a:lnTo>
                    <a:pt x="96" y="46"/>
                  </a:lnTo>
                  <a:lnTo>
                    <a:pt x="111" y="51"/>
                  </a:lnTo>
                  <a:lnTo>
                    <a:pt x="125" y="55"/>
                  </a:lnTo>
                  <a:lnTo>
                    <a:pt x="138" y="53"/>
                  </a:lnTo>
                  <a:lnTo>
                    <a:pt x="149" y="51"/>
                  </a:lnTo>
                  <a:lnTo>
                    <a:pt x="151" y="48"/>
                  </a:lnTo>
                  <a:lnTo>
                    <a:pt x="149" y="42"/>
                  </a:lnTo>
                  <a:lnTo>
                    <a:pt x="154" y="42"/>
                  </a:lnTo>
                  <a:lnTo>
                    <a:pt x="165" y="31"/>
                  </a:lnTo>
                  <a:lnTo>
                    <a:pt x="181" y="29"/>
                  </a:lnTo>
                  <a:lnTo>
                    <a:pt x="196" y="28"/>
                  </a:lnTo>
                  <a:lnTo>
                    <a:pt x="220" y="36"/>
                  </a:lnTo>
                  <a:lnTo>
                    <a:pt x="233" y="45"/>
                  </a:lnTo>
                  <a:lnTo>
                    <a:pt x="246" y="53"/>
                  </a:lnTo>
                  <a:lnTo>
                    <a:pt x="259" y="55"/>
                  </a:lnTo>
                  <a:lnTo>
                    <a:pt x="265" y="73"/>
                  </a:lnTo>
                  <a:lnTo>
                    <a:pt x="262" y="94"/>
                  </a:lnTo>
                  <a:lnTo>
                    <a:pt x="261" y="96"/>
                  </a:lnTo>
                  <a:lnTo>
                    <a:pt x="261" y="106"/>
                  </a:lnTo>
                  <a:lnTo>
                    <a:pt x="267" y="111"/>
                  </a:lnTo>
                  <a:lnTo>
                    <a:pt x="265" y="114"/>
                  </a:lnTo>
                  <a:lnTo>
                    <a:pt x="269" y="129"/>
                  </a:lnTo>
                  <a:lnTo>
                    <a:pt x="271" y="144"/>
                  </a:lnTo>
                  <a:lnTo>
                    <a:pt x="287" y="149"/>
                  </a:lnTo>
                  <a:lnTo>
                    <a:pt x="289" y="156"/>
                  </a:lnTo>
                  <a:lnTo>
                    <a:pt x="279" y="177"/>
                  </a:lnTo>
                  <a:lnTo>
                    <a:pt x="289" y="189"/>
                  </a:lnTo>
                  <a:lnTo>
                    <a:pt x="300" y="201"/>
                  </a:lnTo>
                  <a:lnTo>
                    <a:pt x="312" y="207"/>
                  </a:lnTo>
                  <a:lnTo>
                    <a:pt x="317" y="225"/>
                  </a:lnTo>
                  <a:lnTo>
                    <a:pt x="322" y="227"/>
                  </a:lnTo>
                  <a:lnTo>
                    <a:pt x="322" y="234"/>
                  </a:lnTo>
                  <a:lnTo>
                    <a:pt x="309" y="240"/>
                  </a:lnTo>
                  <a:lnTo>
                    <a:pt x="303" y="246"/>
                  </a:lnTo>
                  <a:lnTo>
                    <a:pt x="301" y="261"/>
                  </a:lnTo>
                  <a:lnTo>
                    <a:pt x="285" y="258"/>
                  </a:lnTo>
                  <a:lnTo>
                    <a:pt x="268" y="255"/>
                  </a:lnTo>
                  <a:lnTo>
                    <a:pt x="251" y="252"/>
                  </a:lnTo>
                  <a:lnTo>
                    <a:pt x="234" y="250"/>
                  </a:lnTo>
                  <a:lnTo>
                    <a:pt x="228" y="238"/>
                  </a:lnTo>
                  <a:lnTo>
                    <a:pt x="221" y="226"/>
                  </a:lnTo>
                  <a:lnTo>
                    <a:pt x="209" y="231"/>
                  </a:lnTo>
                  <a:lnTo>
                    <a:pt x="196" y="235"/>
                  </a:lnTo>
                  <a:lnTo>
                    <a:pt x="172" y="231"/>
                  </a:lnTo>
                  <a:lnTo>
                    <a:pt x="159" y="221"/>
                  </a:lnTo>
                  <a:lnTo>
                    <a:pt x="144" y="213"/>
                  </a:lnTo>
                  <a:lnTo>
                    <a:pt x="132" y="201"/>
                  </a:lnTo>
                  <a:lnTo>
                    <a:pt x="125" y="190"/>
                  </a:lnTo>
                  <a:lnTo>
                    <a:pt x="111" y="171"/>
                  </a:lnTo>
                  <a:lnTo>
                    <a:pt x="105" y="172"/>
                  </a:lnTo>
                  <a:lnTo>
                    <a:pt x="97" y="167"/>
                  </a:lnTo>
                  <a:lnTo>
                    <a:pt x="97" y="166"/>
                  </a:lnTo>
                  <a:lnTo>
                    <a:pt x="93" y="174"/>
                  </a:lnTo>
                  <a:lnTo>
                    <a:pt x="90" y="174"/>
                  </a:lnTo>
                  <a:lnTo>
                    <a:pt x="85" y="168"/>
                  </a:lnTo>
                  <a:lnTo>
                    <a:pt x="81" y="156"/>
                  </a:lnTo>
                  <a:lnTo>
                    <a:pt x="75" y="156"/>
                  </a:lnTo>
                  <a:lnTo>
                    <a:pt x="76" y="142"/>
                  </a:lnTo>
                  <a:lnTo>
                    <a:pt x="70" y="135"/>
                  </a:lnTo>
                  <a:lnTo>
                    <a:pt x="57" y="126"/>
                  </a:lnTo>
                  <a:lnTo>
                    <a:pt x="45" y="1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2" name="Freeform 61"/>
            <p:cNvSpPr>
              <a:spLocks/>
            </p:cNvSpPr>
            <p:nvPr/>
          </p:nvSpPr>
          <p:spPr bwMode="auto">
            <a:xfrm>
              <a:off x="3180" y="1961"/>
              <a:ext cx="173" cy="162"/>
            </a:xfrm>
            <a:custGeom>
              <a:avLst/>
              <a:gdLst/>
              <a:ahLst/>
              <a:cxnLst>
                <a:cxn ang="0">
                  <a:pos x="101" y="63"/>
                </a:cxn>
                <a:cxn ang="0">
                  <a:pos x="100" y="53"/>
                </a:cxn>
                <a:cxn ang="0">
                  <a:pos x="105" y="36"/>
                </a:cxn>
                <a:cxn ang="0">
                  <a:pos x="105" y="28"/>
                </a:cxn>
                <a:cxn ang="0">
                  <a:pos x="94" y="23"/>
                </a:cxn>
                <a:cxn ang="0">
                  <a:pos x="80" y="3"/>
                </a:cxn>
                <a:cxn ang="0">
                  <a:pos x="71" y="4"/>
                </a:cxn>
                <a:cxn ang="0">
                  <a:pos x="68" y="0"/>
                </a:cxn>
                <a:cxn ang="0">
                  <a:pos x="47" y="0"/>
                </a:cxn>
                <a:cxn ang="0">
                  <a:pos x="44" y="4"/>
                </a:cxn>
                <a:cxn ang="0">
                  <a:pos x="30" y="17"/>
                </a:cxn>
                <a:cxn ang="0">
                  <a:pos x="30" y="34"/>
                </a:cxn>
                <a:cxn ang="0">
                  <a:pos x="30" y="52"/>
                </a:cxn>
                <a:cxn ang="0">
                  <a:pos x="15" y="62"/>
                </a:cxn>
                <a:cxn ang="0">
                  <a:pos x="0" y="70"/>
                </a:cxn>
                <a:cxn ang="0">
                  <a:pos x="10" y="92"/>
                </a:cxn>
                <a:cxn ang="0">
                  <a:pos x="24" y="98"/>
                </a:cxn>
                <a:cxn ang="0">
                  <a:pos x="40" y="105"/>
                </a:cxn>
                <a:cxn ang="0">
                  <a:pos x="54" y="111"/>
                </a:cxn>
                <a:cxn ang="0">
                  <a:pos x="69" y="118"/>
                </a:cxn>
                <a:cxn ang="0">
                  <a:pos x="83" y="131"/>
                </a:cxn>
                <a:cxn ang="0">
                  <a:pos x="99" y="146"/>
                </a:cxn>
                <a:cxn ang="0">
                  <a:pos x="126" y="147"/>
                </a:cxn>
                <a:cxn ang="0">
                  <a:pos x="134" y="132"/>
                </a:cxn>
                <a:cxn ang="0">
                  <a:pos x="147" y="131"/>
                </a:cxn>
                <a:cxn ang="0">
                  <a:pos x="155" y="131"/>
                </a:cxn>
                <a:cxn ang="0">
                  <a:pos x="150" y="125"/>
                </a:cxn>
                <a:cxn ang="0">
                  <a:pos x="146" y="113"/>
                </a:cxn>
                <a:cxn ang="0">
                  <a:pos x="140" y="113"/>
                </a:cxn>
                <a:cxn ang="0">
                  <a:pos x="141" y="99"/>
                </a:cxn>
                <a:cxn ang="0">
                  <a:pos x="135" y="92"/>
                </a:cxn>
                <a:cxn ang="0">
                  <a:pos x="122" y="83"/>
                </a:cxn>
                <a:cxn ang="0">
                  <a:pos x="110" y="75"/>
                </a:cxn>
                <a:cxn ang="0">
                  <a:pos x="101" y="63"/>
                </a:cxn>
              </a:cxnLst>
              <a:rect l="0" t="0" r="r" b="b"/>
              <a:pathLst>
                <a:path w="155" h="147">
                  <a:moveTo>
                    <a:pt x="101" y="63"/>
                  </a:moveTo>
                  <a:lnTo>
                    <a:pt x="100" y="53"/>
                  </a:lnTo>
                  <a:lnTo>
                    <a:pt x="105" y="36"/>
                  </a:lnTo>
                  <a:lnTo>
                    <a:pt x="105" y="28"/>
                  </a:lnTo>
                  <a:lnTo>
                    <a:pt x="94" y="23"/>
                  </a:lnTo>
                  <a:lnTo>
                    <a:pt x="80" y="3"/>
                  </a:lnTo>
                  <a:lnTo>
                    <a:pt x="71" y="4"/>
                  </a:lnTo>
                  <a:lnTo>
                    <a:pt x="68" y="0"/>
                  </a:lnTo>
                  <a:lnTo>
                    <a:pt x="47" y="0"/>
                  </a:lnTo>
                  <a:lnTo>
                    <a:pt x="44" y="4"/>
                  </a:lnTo>
                  <a:lnTo>
                    <a:pt x="30" y="17"/>
                  </a:lnTo>
                  <a:lnTo>
                    <a:pt x="30" y="34"/>
                  </a:lnTo>
                  <a:lnTo>
                    <a:pt x="30" y="52"/>
                  </a:lnTo>
                  <a:lnTo>
                    <a:pt x="15" y="62"/>
                  </a:lnTo>
                  <a:lnTo>
                    <a:pt x="0" y="70"/>
                  </a:lnTo>
                  <a:lnTo>
                    <a:pt x="10" y="92"/>
                  </a:lnTo>
                  <a:lnTo>
                    <a:pt x="24" y="98"/>
                  </a:lnTo>
                  <a:lnTo>
                    <a:pt x="40" y="105"/>
                  </a:lnTo>
                  <a:lnTo>
                    <a:pt x="54" y="111"/>
                  </a:lnTo>
                  <a:lnTo>
                    <a:pt x="69" y="118"/>
                  </a:lnTo>
                  <a:lnTo>
                    <a:pt x="83" y="131"/>
                  </a:lnTo>
                  <a:lnTo>
                    <a:pt x="99" y="146"/>
                  </a:lnTo>
                  <a:lnTo>
                    <a:pt x="126" y="147"/>
                  </a:lnTo>
                  <a:lnTo>
                    <a:pt x="134" y="132"/>
                  </a:lnTo>
                  <a:lnTo>
                    <a:pt x="147" y="131"/>
                  </a:lnTo>
                  <a:lnTo>
                    <a:pt x="155" y="131"/>
                  </a:lnTo>
                  <a:lnTo>
                    <a:pt x="150" y="125"/>
                  </a:lnTo>
                  <a:lnTo>
                    <a:pt x="146" y="113"/>
                  </a:lnTo>
                  <a:lnTo>
                    <a:pt x="140" y="113"/>
                  </a:lnTo>
                  <a:lnTo>
                    <a:pt x="141" y="99"/>
                  </a:lnTo>
                  <a:lnTo>
                    <a:pt x="135" y="92"/>
                  </a:lnTo>
                  <a:lnTo>
                    <a:pt x="122" y="83"/>
                  </a:lnTo>
                  <a:lnTo>
                    <a:pt x="110" y="75"/>
                  </a:lnTo>
                  <a:lnTo>
                    <a:pt x="101" y="6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3" name="Freeform 62"/>
            <p:cNvSpPr>
              <a:spLocks/>
            </p:cNvSpPr>
            <p:nvPr/>
          </p:nvSpPr>
          <p:spPr bwMode="auto">
            <a:xfrm>
              <a:off x="3320" y="2107"/>
              <a:ext cx="33" cy="29"/>
            </a:xfrm>
            <a:custGeom>
              <a:avLst/>
              <a:gdLst/>
              <a:ahLst/>
              <a:cxnLst>
                <a:cxn ang="0">
                  <a:pos x="24" y="7"/>
                </a:cxn>
                <a:cxn ang="0">
                  <a:pos x="20" y="9"/>
                </a:cxn>
                <a:cxn ang="0">
                  <a:pos x="21" y="12"/>
                </a:cxn>
                <a:cxn ang="0">
                  <a:pos x="30" y="27"/>
                </a:cxn>
                <a:cxn ang="0">
                  <a:pos x="17" y="23"/>
                </a:cxn>
                <a:cxn ang="0">
                  <a:pos x="15" y="18"/>
                </a:cxn>
                <a:cxn ang="0">
                  <a:pos x="0" y="16"/>
                </a:cxn>
                <a:cxn ang="0">
                  <a:pos x="8" y="1"/>
                </a:cxn>
                <a:cxn ang="0">
                  <a:pos x="21" y="0"/>
                </a:cxn>
                <a:cxn ang="0">
                  <a:pos x="24" y="7"/>
                </a:cxn>
              </a:cxnLst>
              <a:rect l="0" t="0" r="r" b="b"/>
              <a:pathLst>
                <a:path w="30" h="27">
                  <a:moveTo>
                    <a:pt x="24" y="7"/>
                  </a:moveTo>
                  <a:lnTo>
                    <a:pt x="20" y="9"/>
                  </a:lnTo>
                  <a:lnTo>
                    <a:pt x="21" y="12"/>
                  </a:lnTo>
                  <a:lnTo>
                    <a:pt x="30" y="27"/>
                  </a:lnTo>
                  <a:lnTo>
                    <a:pt x="17" y="23"/>
                  </a:lnTo>
                  <a:lnTo>
                    <a:pt x="15" y="18"/>
                  </a:lnTo>
                  <a:lnTo>
                    <a:pt x="0" y="16"/>
                  </a:lnTo>
                  <a:lnTo>
                    <a:pt x="8" y="1"/>
                  </a:lnTo>
                  <a:lnTo>
                    <a:pt x="21" y="0"/>
                  </a:lnTo>
                  <a:lnTo>
                    <a:pt x="24"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4" name="Freeform 63"/>
            <p:cNvSpPr>
              <a:spLocks/>
            </p:cNvSpPr>
            <p:nvPr/>
          </p:nvSpPr>
          <p:spPr bwMode="auto">
            <a:xfrm>
              <a:off x="3893" y="2096"/>
              <a:ext cx="142" cy="80"/>
            </a:xfrm>
            <a:custGeom>
              <a:avLst/>
              <a:gdLst/>
              <a:ahLst/>
              <a:cxnLst>
                <a:cxn ang="0">
                  <a:pos x="73" y="56"/>
                </a:cxn>
                <a:cxn ang="0">
                  <a:pos x="54" y="54"/>
                </a:cxn>
                <a:cxn ang="0">
                  <a:pos x="39" y="50"/>
                </a:cxn>
                <a:cxn ang="0">
                  <a:pos x="19" y="41"/>
                </a:cxn>
                <a:cxn ang="0">
                  <a:pos x="0" y="30"/>
                </a:cxn>
                <a:cxn ang="0">
                  <a:pos x="0" y="19"/>
                </a:cxn>
                <a:cxn ang="0">
                  <a:pos x="9" y="5"/>
                </a:cxn>
                <a:cxn ang="0">
                  <a:pos x="10" y="6"/>
                </a:cxn>
                <a:cxn ang="0">
                  <a:pos x="16" y="0"/>
                </a:cxn>
                <a:cxn ang="0">
                  <a:pos x="29" y="8"/>
                </a:cxn>
                <a:cxn ang="0">
                  <a:pos x="49" y="23"/>
                </a:cxn>
                <a:cxn ang="0">
                  <a:pos x="55" y="20"/>
                </a:cxn>
                <a:cxn ang="0">
                  <a:pos x="60" y="26"/>
                </a:cxn>
                <a:cxn ang="0">
                  <a:pos x="75" y="32"/>
                </a:cxn>
                <a:cxn ang="0">
                  <a:pos x="77" y="36"/>
                </a:cxn>
                <a:cxn ang="0">
                  <a:pos x="93" y="43"/>
                </a:cxn>
                <a:cxn ang="0">
                  <a:pos x="107" y="44"/>
                </a:cxn>
                <a:cxn ang="0">
                  <a:pos x="125" y="47"/>
                </a:cxn>
                <a:cxn ang="0">
                  <a:pos x="130" y="72"/>
                </a:cxn>
                <a:cxn ang="0">
                  <a:pos x="113" y="71"/>
                </a:cxn>
                <a:cxn ang="0">
                  <a:pos x="93" y="68"/>
                </a:cxn>
                <a:cxn ang="0">
                  <a:pos x="82" y="65"/>
                </a:cxn>
                <a:cxn ang="0">
                  <a:pos x="73" y="56"/>
                </a:cxn>
              </a:cxnLst>
              <a:rect l="0" t="0" r="r" b="b"/>
              <a:pathLst>
                <a:path w="130" h="72">
                  <a:moveTo>
                    <a:pt x="73" y="56"/>
                  </a:moveTo>
                  <a:lnTo>
                    <a:pt x="54" y="54"/>
                  </a:lnTo>
                  <a:lnTo>
                    <a:pt x="39" y="50"/>
                  </a:lnTo>
                  <a:lnTo>
                    <a:pt x="19" y="41"/>
                  </a:lnTo>
                  <a:lnTo>
                    <a:pt x="0" y="30"/>
                  </a:lnTo>
                  <a:lnTo>
                    <a:pt x="0" y="19"/>
                  </a:lnTo>
                  <a:lnTo>
                    <a:pt x="9" y="5"/>
                  </a:lnTo>
                  <a:lnTo>
                    <a:pt x="10" y="6"/>
                  </a:lnTo>
                  <a:lnTo>
                    <a:pt x="16" y="0"/>
                  </a:lnTo>
                  <a:lnTo>
                    <a:pt x="29" y="8"/>
                  </a:lnTo>
                  <a:lnTo>
                    <a:pt x="49" y="23"/>
                  </a:lnTo>
                  <a:lnTo>
                    <a:pt x="55" y="20"/>
                  </a:lnTo>
                  <a:lnTo>
                    <a:pt x="60" y="26"/>
                  </a:lnTo>
                  <a:lnTo>
                    <a:pt x="75" y="32"/>
                  </a:lnTo>
                  <a:lnTo>
                    <a:pt x="77" y="36"/>
                  </a:lnTo>
                  <a:lnTo>
                    <a:pt x="93" y="43"/>
                  </a:lnTo>
                  <a:lnTo>
                    <a:pt x="107" y="44"/>
                  </a:lnTo>
                  <a:lnTo>
                    <a:pt x="125" y="47"/>
                  </a:lnTo>
                  <a:lnTo>
                    <a:pt x="130" y="72"/>
                  </a:lnTo>
                  <a:lnTo>
                    <a:pt x="113" y="71"/>
                  </a:lnTo>
                  <a:lnTo>
                    <a:pt x="93" y="68"/>
                  </a:lnTo>
                  <a:lnTo>
                    <a:pt x="82" y="65"/>
                  </a:lnTo>
                  <a:lnTo>
                    <a:pt x="73"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5" name="Freeform 64"/>
            <p:cNvSpPr>
              <a:spLocks/>
            </p:cNvSpPr>
            <p:nvPr/>
          </p:nvSpPr>
          <p:spPr bwMode="auto">
            <a:xfrm>
              <a:off x="3562" y="1967"/>
              <a:ext cx="260" cy="263"/>
            </a:xfrm>
            <a:custGeom>
              <a:avLst/>
              <a:gdLst/>
              <a:ahLst/>
              <a:cxnLst>
                <a:cxn ang="0">
                  <a:pos x="102" y="217"/>
                </a:cxn>
                <a:cxn ang="0">
                  <a:pos x="116" y="233"/>
                </a:cxn>
                <a:cxn ang="0">
                  <a:pos x="135" y="234"/>
                </a:cxn>
                <a:cxn ang="0">
                  <a:pos x="148" y="229"/>
                </a:cxn>
                <a:cxn ang="0">
                  <a:pos x="169" y="227"/>
                </a:cxn>
                <a:cxn ang="0">
                  <a:pos x="156" y="203"/>
                </a:cxn>
                <a:cxn ang="0">
                  <a:pos x="140" y="185"/>
                </a:cxn>
                <a:cxn ang="0">
                  <a:pos x="154" y="165"/>
                </a:cxn>
                <a:cxn ang="0">
                  <a:pos x="180" y="149"/>
                </a:cxn>
                <a:cxn ang="0">
                  <a:pos x="196" y="120"/>
                </a:cxn>
                <a:cxn ang="0">
                  <a:pos x="200" y="95"/>
                </a:cxn>
                <a:cxn ang="0">
                  <a:pos x="204" y="82"/>
                </a:cxn>
                <a:cxn ang="0">
                  <a:pos x="190" y="71"/>
                </a:cxn>
                <a:cxn ang="0">
                  <a:pos x="187" y="57"/>
                </a:cxn>
                <a:cxn ang="0">
                  <a:pos x="180" y="42"/>
                </a:cxn>
                <a:cxn ang="0">
                  <a:pos x="219" y="40"/>
                </a:cxn>
                <a:cxn ang="0">
                  <a:pos x="213" y="22"/>
                </a:cxn>
                <a:cxn ang="0">
                  <a:pos x="195" y="5"/>
                </a:cxn>
                <a:cxn ang="0">
                  <a:pos x="159" y="4"/>
                </a:cxn>
                <a:cxn ang="0">
                  <a:pos x="134" y="19"/>
                </a:cxn>
                <a:cxn ang="0">
                  <a:pos x="138" y="47"/>
                </a:cxn>
                <a:cxn ang="0">
                  <a:pos x="122" y="57"/>
                </a:cxn>
                <a:cxn ang="0">
                  <a:pos x="118" y="77"/>
                </a:cxn>
                <a:cxn ang="0">
                  <a:pos x="103" y="96"/>
                </a:cxn>
                <a:cxn ang="0">
                  <a:pos x="84" y="107"/>
                </a:cxn>
                <a:cxn ang="0">
                  <a:pos x="81" y="129"/>
                </a:cxn>
                <a:cxn ang="0">
                  <a:pos x="49" y="136"/>
                </a:cxn>
                <a:cxn ang="0">
                  <a:pos x="13" y="132"/>
                </a:cxn>
                <a:cxn ang="0">
                  <a:pos x="10" y="141"/>
                </a:cxn>
                <a:cxn ang="0">
                  <a:pos x="33" y="159"/>
                </a:cxn>
                <a:cxn ang="0">
                  <a:pos x="43" y="179"/>
                </a:cxn>
                <a:cxn ang="0">
                  <a:pos x="30" y="192"/>
                </a:cxn>
                <a:cxn ang="0">
                  <a:pos x="22" y="213"/>
                </a:cxn>
                <a:cxn ang="0">
                  <a:pos x="51" y="211"/>
                </a:cxn>
                <a:cxn ang="0">
                  <a:pos x="80" y="209"/>
                </a:cxn>
              </a:cxnLst>
              <a:rect l="0" t="0" r="r" b="b"/>
              <a:pathLst>
                <a:path w="234" h="238">
                  <a:moveTo>
                    <a:pt x="96" y="208"/>
                  </a:moveTo>
                  <a:lnTo>
                    <a:pt x="102" y="217"/>
                  </a:lnTo>
                  <a:lnTo>
                    <a:pt x="108" y="220"/>
                  </a:lnTo>
                  <a:lnTo>
                    <a:pt x="116" y="233"/>
                  </a:lnTo>
                  <a:lnTo>
                    <a:pt x="128" y="238"/>
                  </a:lnTo>
                  <a:lnTo>
                    <a:pt x="135" y="234"/>
                  </a:lnTo>
                  <a:lnTo>
                    <a:pt x="135" y="228"/>
                  </a:lnTo>
                  <a:lnTo>
                    <a:pt x="148" y="229"/>
                  </a:lnTo>
                  <a:lnTo>
                    <a:pt x="163" y="227"/>
                  </a:lnTo>
                  <a:lnTo>
                    <a:pt x="169" y="227"/>
                  </a:lnTo>
                  <a:lnTo>
                    <a:pt x="162" y="204"/>
                  </a:lnTo>
                  <a:lnTo>
                    <a:pt x="156" y="203"/>
                  </a:lnTo>
                  <a:lnTo>
                    <a:pt x="152" y="191"/>
                  </a:lnTo>
                  <a:lnTo>
                    <a:pt x="140" y="185"/>
                  </a:lnTo>
                  <a:lnTo>
                    <a:pt x="148" y="163"/>
                  </a:lnTo>
                  <a:lnTo>
                    <a:pt x="154" y="165"/>
                  </a:lnTo>
                  <a:lnTo>
                    <a:pt x="170" y="165"/>
                  </a:lnTo>
                  <a:lnTo>
                    <a:pt x="180" y="149"/>
                  </a:lnTo>
                  <a:lnTo>
                    <a:pt x="189" y="133"/>
                  </a:lnTo>
                  <a:lnTo>
                    <a:pt x="196" y="120"/>
                  </a:lnTo>
                  <a:lnTo>
                    <a:pt x="204" y="108"/>
                  </a:lnTo>
                  <a:lnTo>
                    <a:pt x="200" y="95"/>
                  </a:lnTo>
                  <a:lnTo>
                    <a:pt x="211" y="88"/>
                  </a:lnTo>
                  <a:lnTo>
                    <a:pt x="204" y="82"/>
                  </a:lnTo>
                  <a:lnTo>
                    <a:pt x="198" y="76"/>
                  </a:lnTo>
                  <a:lnTo>
                    <a:pt x="190" y="71"/>
                  </a:lnTo>
                  <a:lnTo>
                    <a:pt x="187" y="61"/>
                  </a:lnTo>
                  <a:lnTo>
                    <a:pt x="187" y="57"/>
                  </a:lnTo>
                  <a:lnTo>
                    <a:pt x="180" y="48"/>
                  </a:lnTo>
                  <a:lnTo>
                    <a:pt x="180" y="42"/>
                  </a:lnTo>
                  <a:lnTo>
                    <a:pt x="202" y="46"/>
                  </a:lnTo>
                  <a:lnTo>
                    <a:pt x="219" y="40"/>
                  </a:lnTo>
                  <a:lnTo>
                    <a:pt x="234" y="28"/>
                  </a:lnTo>
                  <a:lnTo>
                    <a:pt x="213" y="22"/>
                  </a:lnTo>
                  <a:lnTo>
                    <a:pt x="202" y="17"/>
                  </a:lnTo>
                  <a:lnTo>
                    <a:pt x="195" y="5"/>
                  </a:lnTo>
                  <a:lnTo>
                    <a:pt x="177" y="0"/>
                  </a:lnTo>
                  <a:lnTo>
                    <a:pt x="159" y="4"/>
                  </a:lnTo>
                  <a:lnTo>
                    <a:pt x="141" y="9"/>
                  </a:lnTo>
                  <a:lnTo>
                    <a:pt x="134" y="19"/>
                  </a:lnTo>
                  <a:lnTo>
                    <a:pt x="142" y="34"/>
                  </a:lnTo>
                  <a:lnTo>
                    <a:pt x="138" y="47"/>
                  </a:lnTo>
                  <a:lnTo>
                    <a:pt x="135" y="55"/>
                  </a:lnTo>
                  <a:lnTo>
                    <a:pt x="122" y="57"/>
                  </a:lnTo>
                  <a:lnTo>
                    <a:pt x="130" y="66"/>
                  </a:lnTo>
                  <a:lnTo>
                    <a:pt x="118" y="77"/>
                  </a:lnTo>
                  <a:lnTo>
                    <a:pt x="117" y="96"/>
                  </a:lnTo>
                  <a:lnTo>
                    <a:pt x="103" y="96"/>
                  </a:lnTo>
                  <a:lnTo>
                    <a:pt x="98" y="101"/>
                  </a:lnTo>
                  <a:lnTo>
                    <a:pt x="84" y="107"/>
                  </a:lnTo>
                  <a:lnTo>
                    <a:pt x="81" y="121"/>
                  </a:lnTo>
                  <a:lnTo>
                    <a:pt x="81" y="129"/>
                  </a:lnTo>
                  <a:lnTo>
                    <a:pt x="66" y="132"/>
                  </a:lnTo>
                  <a:lnTo>
                    <a:pt x="49" y="136"/>
                  </a:lnTo>
                  <a:lnTo>
                    <a:pt x="25" y="137"/>
                  </a:lnTo>
                  <a:lnTo>
                    <a:pt x="13" y="132"/>
                  </a:lnTo>
                  <a:lnTo>
                    <a:pt x="0" y="129"/>
                  </a:lnTo>
                  <a:lnTo>
                    <a:pt x="10" y="141"/>
                  </a:lnTo>
                  <a:lnTo>
                    <a:pt x="21" y="153"/>
                  </a:lnTo>
                  <a:lnTo>
                    <a:pt x="33" y="159"/>
                  </a:lnTo>
                  <a:lnTo>
                    <a:pt x="38" y="177"/>
                  </a:lnTo>
                  <a:lnTo>
                    <a:pt x="43" y="179"/>
                  </a:lnTo>
                  <a:lnTo>
                    <a:pt x="43" y="186"/>
                  </a:lnTo>
                  <a:lnTo>
                    <a:pt x="30" y="192"/>
                  </a:lnTo>
                  <a:lnTo>
                    <a:pt x="24" y="198"/>
                  </a:lnTo>
                  <a:lnTo>
                    <a:pt x="22" y="213"/>
                  </a:lnTo>
                  <a:lnTo>
                    <a:pt x="37" y="211"/>
                  </a:lnTo>
                  <a:lnTo>
                    <a:pt x="51" y="211"/>
                  </a:lnTo>
                  <a:lnTo>
                    <a:pt x="63" y="210"/>
                  </a:lnTo>
                  <a:lnTo>
                    <a:pt x="80" y="209"/>
                  </a:lnTo>
                  <a:lnTo>
                    <a:pt x="96" y="2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6" name="Freeform 65"/>
            <p:cNvSpPr>
              <a:spLocks/>
            </p:cNvSpPr>
            <p:nvPr/>
          </p:nvSpPr>
          <p:spPr bwMode="auto">
            <a:xfrm>
              <a:off x="2951" y="2074"/>
              <a:ext cx="196" cy="196"/>
            </a:xfrm>
            <a:custGeom>
              <a:avLst/>
              <a:gdLst/>
              <a:ahLst/>
              <a:cxnLst>
                <a:cxn ang="0">
                  <a:pos x="139" y="66"/>
                </a:cxn>
                <a:cxn ang="0">
                  <a:pos x="130" y="49"/>
                </a:cxn>
                <a:cxn ang="0">
                  <a:pos x="119" y="33"/>
                </a:cxn>
                <a:cxn ang="0">
                  <a:pos x="116" y="34"/>
                </a:cxn>
                <a:cxn ang="0">
                  <a:pos x="122" y="48"/>
                </a:cxn>
                <a:cxn ang="0">
                  <a:pos x="130" y="61"/>
                </a:cxn>
                <a:cxn ang="0">
                  <a:pos x="137" y="75"/>
                </a:cxn>
                <a:cxn ang="0">
                  <a:pos x="143" y="88"/>
                </a:cxn>
                <a:cxn ang="0">
                  <a:pos x="150" y="100"/>
                </a:cxn>
                <a:cxn ang="0">
                  <a:pos x="157" y="113"/>
                </a:cxn>
                <a:cxn ang="0">
                  <a:pos x="166" y="125"/>
                </a:cxn>
                <a:cxn ang="0">
                  <a:pos x="175" y="138"/>
                </a:cxn>
                <a:cxn ang="0">
                  <a:pos x="173" y="139"/>
                </a:cxn>
                <a:cxn ang="0">
                  <a:pos x="174" y="154"/>
                </a:cxn>
                <a:cxn ang="0">
                  <a:pos x="168" y="160"/>
                </a:cxn>
                <a:cxn ang="0">
                  <a:pos x="164" y="159"/>
                </a:cxn>
                <a:cxn ang="0">
                  <a:pos x="161" y="168"/>
                </a:cxn>
                <a:cxn ang="0">
                  <a:pos x="152" y="171"/>
                </a:cxn>
                <a:cxn ang="0">
                  <a:pos x="149" y="178"/>
                </a:cxn>
                <a:cxn ang="0">
                  <a:pos x="130" y="177"/>
                </a:cxn>
                <a:cxn ang="0">
                  <a:pos x="110" y="174"/>
                </a:cxn>
                <a:cxn ang="0">
                  <a:pos x="109" y="169"/>
                </a:cxn>
                <a:cxn ang="0">
                  <a:pos x="108" y="174"/>
                </a:cxn>
                <a:cxn ang="0">
                  <a:pos x="96" y="174"/>
                </a:cxn>
                <a:cxn ang="0">
                  <a:pos x="83" y="174"/>
                </a:cxn>
                <a:cxn ang="0">
                  <a:pos x="71" y="174"/>
                </a:cxn>
                <a:cxn ang="0">
                  <a:pos x="59" y="174"/>
                </a:cxn>
                <a:cxn ang="0">
                  <a:pos x="47" y="174"/>
                </a:cxn>
                <a:cxn ang="0">
                  <a:pos x="35" y="174"/>
                </a:cxn>
                <a:cxn ang="0">
                  <a:pos x="23" y="174"/>
                </a:cxn>
                <a:cxn ang="0">
                  <a:pos x="11" y="174"/>
                </a:cxn>
                <a:cxn ang="0">
                  <a:pos x="10" y="157"/>
                </a:cxn>
                <a:cxn ang="0">
                  <a:pos x="8" y="141"/>
                </a:cxn>
                <a:cxn ang="0">
                  <a:pos x="7" y="124"/>
                </a:cxn>
                <a:cxn ang="0">
                  <a:pos x="6" y="107"/>
                </a:cxn>
                <a:cxn ang="0">
                  <a:pos x="5" y="90"/>
                </a:cxn>
                <a:cxn ang="0">
                  <a:pos x="4" y="73"/>
                </a:cxn>
                <a:cxn ang="0">
                  <a:pos x="2" y="57"/>
                </a:cxn>
                <a:cxn ang="0">
                  <a:pos x="1" y="39"/>
                </a:cxn>
                <a:cxn ang="0">
                  <a:pos x="1" y="25"/>
                </a:cxn>
                <a:cxn ang="0">
                  <a:pos x="0" y="12"/>
                </a:cxn>
                <a:cxn ang="0">
                  <a:pos x="2" y="0"/>
                </a:cxn>
                <a:cxn ang="0">
                  <a:pos x="13" y="1"/>
                </a:cxn>
                <a:cxn ang="0">
                  <a:pos x="36" y="7"/>
                </a:cxn>
                <a:cxn ang="0">
                  <a:pos x="60" y="15"/>
                </a:cxn>
                <a:cxn ang="0">
                  <a:pos x="80" y="7"/>
                </a:cxn>
                <a:cxn ang="0">
                  <a:pos x="91" y="1"/>
                </a:cxn>
                <a:cxn ang="0">
                  <a:pos x="86" y="5"/>
                </a:cxn>
                <a:cxn ang="0">
                  <a:pos x="94" y="3"/>
                </a:cxn>
                <a:cxn ang="0">
                  <a:pos x="107" y="6"/>
                </a:cxn>
                <a:cxn ang="0">
                  <a:pos x="112" y="10"/>
                </a:cxn>
                <a:cxn ang="0">
                  <a:pos x="119" y="11"/>
                </a:cxn>
                <a:cxn ang="0">
                  <a:pos x="140" y="6"/>
                </a:cxn>
                <a:cxn ang="0">
                  <a:pos x="148" y="23"/>
                </a:cxn>
                <a:cxn ang="0">
                  <a:pos x="155" y="40"/>
                </a:cxn>
                <a:cxn ang="0">
                  <a:pos x="151" y="54"/>
                </a:cxn>
                <a:cxn ang="0">
                  <a:pos x="148" y="69"/>
                </a:cxn>
                <a:cxn ang="0">
                  <a:pos x="139" y="66"/>
                </a:cxn>
              </a:cxnLst>
              <a:rect l="0" t="0" r="r" b="b"/>
              <a:pathLst>
                <a:path w="175" h="178">
                  <a:moveTo>
                    <a:pt x="139" y="66"/>
                  </a:moveTo>
                  <a:lnTo>
                    <a:pt x="130" y="49"/>
                  </a:lnTo>
                  <a:lnTo>
                    <a:pt x="119" y="33"/>
                  </a:lnTo>
                  <a:lnTo>
                    <a:pt x="116" y="34"/>
                  </a:lnTo>
                  <a:lnTo>
                    <a:pt x="122" y="48"/>
                  </a:lnTo>
                  <a:lnTo>
                    <a:pt x="130" y="61"/>
                  </a:lnTo>
                  <a:lnTo>
                    <a:pt x="137" y="75"/>
                  </a:lnTo>
                  <a:lnTo>
                    <a:pt x="143" y="88"/>
                  </a:lnTo>
                  <a:lnTo>
                    <a:pt x="150" y="100"/>
                  </a:lnTo>
                  <a:lnTo>
                    <a:pt x="157" y="113"/>
                  </a:lnTo>
                  <a:lnTo>
                    <a:pt x="166" y="125"/>
                  </a:lnTo>
                  <a:lnTo>
                    <a:pt x="175" y="138"/>
                  </a:lnTo>
                  <a:lnTo>
                    <a:pt x="173" y="139"/>
                  </a:lnTo>
                  <a:lnTo>
                    <a:pt x="174" y="154"/>
                  </a:lnTo>
                  <a:lnTo>
                    <a:pt x="168" y="160"/>
                  </a:lnTo>
                  <a:lnTo>
                    <a:pt x="164" y="159"/>
                  </a:lnTo>
                  <a:lnTo>
                    <a:pt x="161" y="168"/>
                  </a:lnTo>
                  <a:lnTo>
                    <a:pt x="152" y="171"/>
                  </a:lnTo>
                  <a:lnTo>
                    <a:pt x="149" y="178"/>
                  </a:lnTo>
                  <a:lnTo>
                    <a:pt x="130" y="177"/>
                  </a:lnTo>
                  <a:lnTo>
                    <a:pt x="110" y="174"/>
                  </a:lnTo>
                  <a:lnTo>
                    <a:pt x="109" y="169"/>
                  </a:lnTo>
                  <a:lnTo>
                    <a:pt x="108" y="174"/>
                  </a:lnTo>
                  <a:lnTo>
                    <a:pt x="96" y="174"/>
                  </a:lnTo>
                  <a:lnTo>
                    <a:pt x="83" y="174"/>
                  </a:lnTo>
                  <a:lnTo>
                    <a:pt x="71" y="174"/>
                  </a:lnTo>
                  <a:lnTo>
                    <a:pt x="59" y="174"/>
                  </a:lnTo>
                  <a:lnTo>
                    <a:pt x="47" y="174"/>
                  </a:lnTo>
                  <a:lnTo>
                    <a:pt x="35" y="174"/>
                  </a:lnTo>
                  <a:lnTo>
                    <a:pt x="23" y="174"/>
                  </a:lnTo>
                  <a:lnTo>
                    <a:pt x="11" y="174"/>
                  </a:lnTo>
                  <a:lnTo>
                    <a:pt x="10" y="157"/>
                  </a:lnTo>
                  <a:lnTo>
                    <a:pt x="8" y="141"/>
                  </a:lnTo>
                  <a:lnTo>
                    <a:pt x="7" y="124"/>
                  </a:lnTo>
                  <a:lnTo>
                    <a:pt x="6" y="107"/>
                  </a:lnTo>
                  <a:lnTo>
                    <a:pt x="5" y="90"/>
                  </a:lnTo>
                  <a:lnTo>
                    <a:pt x="4" y="73"/>
                  </a:lnTo>
                  <a:lnTo>
                    <a:pt x="2" y="57"/>
                  </a:lnTo>
                  <a:lnTo>
                    <a:pt x="1" y="39"/>
                  </a:lnTo>
                  <a:lnTo>
                    <a:pt x="1" y="25"/>
                  </a:lnTo>
                  <a:lnTo>
                    <a:pt x="0" y="12"/>
                  </a:lnTo>
                  <a:lnTo>
                    <a:pt x="2" y="0"/>
                  </a:lnTo>
                  <a:lnTo>
                    <a:pt x="13" y="1"/>
                  </a:lnTo>
                  <a:lnTo>
                    <a:pt x="36" y="7"/>
                  </a:lnTo>
                  <a:lnTo>
                    <a:pt x="60" y="15"/>
                  </a:lnTo>
                  <a:lnTo>
                    <a:pt x="80" y="7"/>
                  </a:lnTo>
                  <a:lnTo>
                    <a:pt x="91" y="1"/>
                  </a:lnTo>
                  <a:lnTo>
                    <a:pt x="86" y="5"/>
                  </a:lnTo>
                  <a:lnTo>
                    <a:pt x="94" y="3"/>
                  </a:lnTo>
                  <a:lnTo>
                    <a:pt x="107" y="6"/>
                  </a:lnTo>
                  <a:lnTo>
                    <a:pt x="112" y="10"/>
                  </a:lnTo>
                  <a:lnTo>
                    <a:pt x="119" y="11"/>
                  </a:lnTo>
                  <a:lnTo>
                    <a:pt x="140" y="6"/>
                  </a:lnTo>
                  <a:lnTo>
                    <a:pt x="148" y="23"/>
                  </a:lnTo>
                  <a:lnTo>
                    <a:pt x="155" y="40"/>
                  </a:lnTo>
                  <a:lnTo>
                    <a:pt x="151" y="54"/>
                  </a:lnTo>
                  <a:lnTo>
                    <a:pt x="148" y="69"/>
                  </a:lnTo>
                  <a:lnTo>
                    <a:pt x="139" y="6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7" name="Freeform 66"/>
            <p:cNvSpPr>
              <a:spLocks/>
            </p:cNvSpPr>
            <p:nvPr/>
          </p:nvSpPr>
          <p:spPr bwMode="auto">
            <a:xfrm>
              <a:off x="3704" y="1996"/>
              <a:ext cx="482" cy="547"/>
            </a:xfrm>
            <a:custGeom>
              <a:avLst/>
              <a:gdLst/>
              <a:ahLst/>
              <a:cxnLst>
                <a:cxn ang="0">
                  <a:pos x="74" y="18"/>
                </a:cxn>
                <a:cxn ang="0">
                  <a:pos x="59" y="29"/>
                </a:cxn>
                <a:cxn ang="0">
                  <a:pos x="70" y="48"/>
                </a:cxn>
                <a:cxn ang="0">
                  <a:pos x="72" y="67"/>
                </a:cxn>
                <a:cxn ang="0">
                  <a:pos x="61" y="105"/>
                </a:cxn>
                <a:cxn ang="0">
                  <a:pos x="26" y="137"/>
                </a:cxn>
                <a:cxn ang="0">
                  <a:pos x="24" y="163"/>
                </a:cxn>
                <a:cxn ang="0">
                  <a:pos x="41" y="199"/>
                </a:cxn>
                <a:cxn ang="0">
                  <a:pos x="7" y="200"/>
                </a:cxn>
                <a:cxn ang="0">
                  <a:pos x="0" y="211"/>
                </a:cxn>
                <a:cxn ang="0">
                  <a:pos x="17" y="227"/>
                </a:cxn>
                <a:cxn ang="0">
                  <a:pos x="23" y="235"/>
                </a:cxn>
                <a:cxn ang="0">
                  <a:pos x="42" y="264"/>
                </a:cxn>
                <a:cxn ang="0">
                  <a:pos x="66" y="237"/>
                </a:cxn>
                <a:cxn ang="0">
                  <a:pos x="71" y="246"/>
                </a:cxn>
                <a:cxn ang="0">
                  <a:pos x="77" y="260"/>
                </a:cxn>
                <a:cxn ang="0">
                  <a:pos x="83" y="295"/>
                </a:cxn>
                <a:cxn ang="0">
                  <a:pos x="95" y="339"/>
                </a:cxn>
                <a:cxn ang="0">
                  <a:pos x="113" y="381"/>
                </a:cxn>
                <a:cxn ang="0">
                  <a:pos x="136" y="432"/>
                </a:cxn>
                <a:cxn ang="0">
                  <a:pos x="155" y="473"/>
                </a:cxn>
                <a:cxn ang="0">
                  <a:pos x="179" y="482"/>
                </a:cxn>
                <a:cxn ang="0">
                  <a:pos x="192" y="464"/>
                </a:cxn>
                <a:cxn ang="0">
                  <a:pos x="204" y="438"/>
                </a:cxn>
                <a:cxn ang="0">
                  <a:pos x="208" y="396"/>
                </a:cxn>
                <a:cxn ang="0">
                  <a:pos x="211" y="353"/>
                </a:cxn>
                <a:cxn ang="0">
                  <a:pos x="221" y="343"/>
                </a:cxn>
                <a:cxn ang="0">
                  <a:pos x="251" y="312"/>
                </a:cxn>
                <a:cxn ang="0">
                  <a:pos x="288" y="277"/>
                </a:cxn>
                <a:cxn ang="0">
                  <a:pos x="312" y="241"/>
                </a:cxn>
                <a:cxn ang="0">
                  <a:pos x="324" y="247"/>
                </a:cxn>
                <a:cxn ang="0">
                  <a:pos x="323" y="229"/>
                </a:cxn>
                <a:cxn ang="0">
                  <a:pos x="305" y="195"/>
                </a:cxn>
                <a:cxn ang="0">
                  <a:pos x="304" y="174"/>
                </a:cxn>
                <a:cxn ang="0">
                  <a:pos x="319" y="170"/>
                </a:cxn>
                <a:cxn ang="0">
                  <a:pos x="346" y="183"/>
                </a:cxn>
                <a:cxn ang="0">
                  <a:pos x="368" y="198"/>
                </a:cxn>
                <a:cxn ang="0">
                  <a:pos x="362" y="224"/>
                </a:cxn>
                <a:cxn ang="0">
                  <a:pos x="382" y="242"/>
                </a:cxn>
                <a:cxn ang="0">
                  <a:pos x="389" y="223"/>
                </a:cxn>
                <a:cxn ang="0">
                  <a:pos x="406" y="186"/>
                </a:cxn>
                <a:cxn ang="0">
                  <a:pos x="421" y="147"/>
                </a:cxn>
                <a:cxn ang="0">
                  <a:pos x="432" y="139"/>
                </a:cxn>
                <a:cxn ang="0">
                  <a:pos x="418" y="116"/>
                </a:cxn>
                <a:cxn ang="0">
                  <a:pos x="407" y="109"/>
                </a:cxn>
                <a:cxn ang="0">
                  <a:pos x="374" y="122"/>
                </a:cxn>
                <a:cxn ang="0">
                  <a:pos x="348" y="138"/>
                </a:cxn>
                <a:cxn ang="0">
                  <a:pos x="344" y="155"/>
                </a:cxn>
                <a:cxn ang="0">
                  <a:pos x="308" y="146"/>
                </a:cxn>
                <a:cxn ang="0">
                  <a:pos x="299" y="162"/>
                </a:cxn>
                <a:cxn ang="0">
                  <a:pos x="251" y="155"/>
                </a:cxn>
                <a:cxn ang="0">
                  <a:pos x="208" y="140"/>
                </a:cxn>
                <a:cxn ang="0">
                  <a:pos x="169" y="109"/>
                </a:cxn>
                <a:cxn ang="0">
                  <a:pos x="144" y="74"/>
                </a:cxn>
                <a:cxn ang="0">
                  <a:pos x="139" y="54"/>
                </a:cxn>
                <a:cxn ang="0">
                  <a:pos x="132" y="26"/>
                </a:cxn>
                <a:cxn ang="0">
                  <a:pos x="127" y="19"/>
                </a:cxn>
                <a:cxn ang="0">
                  <a:pos x="122" y="6"/>
                </a:cxn>
                <a:cxn ang="0">
                  <a:pos x="106" y="0"/>
                </a:cxn>
              </a:cxnLst>
              <a:rect l="0" t="0" r="r" b="b"/>
              <a:pathLst>
                <a:path w="434" h="491">
                  <a:moveTo>
                    <a:pt x="106" y="0"/>
                  </a:moveTo>
                  <a:lnTo>
                    <a:pt x="91" y="12"/>
                  </a:lnTo>
                  <a:lnTo>
                    <a:pt x="74" y="18"/>
                  </a:lnTo>
                  <a:lnTo>
                    <a:pt x="52" y="14"/>
                  </a:lnTo>
                  <a:lnTo>
                    <a:pt x="52" y="20"/>
                  </a:lnTo>
                  <a:lnTo>
                    <a:pt x="59" y="29"/>
                  </a:lnTo>
                  <a:lnTo>
                    <a:pt x="59" y="33"/>
                  </a:lnTo>
                  <a:lnTo>
                    <a:pt x="62" y="43"/>
                  </a:lnTo>
                  <a:lnTo>
                    <a:pt x="70" y="48"/>
                  </a:lnTo>
                  <a:lnTo>
                    <a:pt x="76" y="54"/>
                  </a:lnTo>
                  <a:lnTo>
                    <a:pt x="83" y="60"/>
                  </a:lnTo>
                  <a:lnTo>
                    <a:pt x="72" y="67"/>
                  </a:lnTo>
                  <a:lnTo>
                    <a:pt x="76" y="80"/>
                  </a:lnTo>
                  <a:lnTo>
                    <a:pt x="68" y="92"/>
                  </a:lnTo>
                  <a:lnTo>
                    <a:pt x="61" y="105"/>
                  </a:lnTo>
                  <a:lnTo>
                    <a:pt x="52" y="121"/>
                  </a:lnTo>
                  <a:lnTo>
                    <a:pt x="42" y="137"/>
                  </a:lnTo>
                  <a:lnTo>
                    <a:pt x="26" y="137"/>
                  </a:lnTo>
                  <a:lnTo>
                    <a:pt x="20" y="135"/>
                  </a:lnTo>
                  <a:lnTo>
                    <a:pt x="12" y="157"/>
                  </a:lnTo>
                  <a:lnTo>
                    <a:pt x="24" y="163"/>
                  </a:lnTo>
                  <a:lnTo>
                    <a:pt x="28" y="175"/>
                  </a:lnTo>
                  <a:lnTo>
                    <a:pt x="34" y="176"/>
                  </a:lnTo>
                  <a:lnTo>
                    <a:pt x="41" y="199"/>
                  </a:lnTo>
                  <a:lnTo>
                    <a:pt x="35" y="199"/>
                  </a:lnTo>
                  <a:lnTo>
                    <a:pt x="20" y="201"/>
                  </a:lnTo>
                  <a:lnTo>
                    <a:pt x="7" y="200"/>
                  </a:lnTo>
                  <a:lnTo>
                    <a:pt x="7" y="206"/>
                  </a:lnTo>
                  <a:lnTo>
                    <a:pt x="0" y="210"/>
                  </a:lnTo>
                  <a:lnTo>
                    <a:pt x="0" y="211"/>
                  </a:lnTo>
                  <a:lnTo>
                    <a:pt x="6" y="209"/>
                  </a:lnTo>
                  <a:lnTo>
                    <a:pt x="4" y="213"/>
                  </a:lnTo>
                  <a:lnTo>
                    <a:pt x="17" y="227"/>
                  </a:lnTo>
                  <a:lnTo>
                    <a:pt x="35" y="224"/>
                  </a:lnTo>
                  <a:lnTo>
                    <a:pt x="34" y="228"/>
                  </a:lnTo>
                  <a:lnTo>
                    <a:pt x="23" y="235"/>
                  </a:lnTo>
                  <a:lnTo>
                    <a:pt x="14" y="234"/>
                  </a:lnTo>
                  <a:lnTo>
                    <a:pt x="29" y="248"/>
                  </a:lnTo>
                  <a:lnTo>
                    <a:pt x="42" y="264"/>
                  </a:lnTo>
                  <a:lnTo>
                    <a:pt x="64" y="258"/>
                  </a:lnTo>
                  <a:lnTo>
                    <a:pt x="65" y="246"/>
                  </a:lnTo>
                  <a:lnTo>
                    <a:pt x="66" y="237"/>
                  </a:lnTo>
                  <a:lnTo>
                    <a:pt x="74" y="237"/>
                  </a:lnTo>
                  <a:lnTo>
                    <a:pt x="72" y="242"/>
                  </a:lnTo>
                  <a:lnTo>
                    <a:pt x="71" y="246"/>
                  </a:lnTo>
                  <a:lnTo>
                    <a:pt x="79" y="246"/>
                  </a:lnTo>
                  <a:lnTo>
                    <a:pt x="74" y="252"/>
                  </a:lnTo>
                  <a:lnTo>
                    <a:pt x="77" y="260"/>
                  </a:lnTo>
                  <a:lnTo>
                    <a:pt x="77" y="272"/>
                  </a:lnTo>
                  <a:lnTo>
                    <a:pt x="82" y="290"/>
                  </a:lnTo>
                  <a:lnTo>
                    <a:pt x="83" y="295"/>
                  </a:lnTo>
                  <a:lnTo>
                    <a:pt x="84" y="300"/>
                  </a:lnTo>
                  <a:lnTo>
                    <a:pt x="89" y="321"/>
                  </a:lnTo>
                  <a:lnTo>
                    <a:pt x="95" y="339"/>
                  </a:lnTo>
                  <a:lnTo>
                    <a:pt x="101" y="356"/>
                  </a:lnTo>
                  <a:lnTo>
                    <a:pt x="104" y="361"/>
                  </a:lnTo>
                  <a:lnTo>
                    <a:pt x="113" y="381"/>
                  </a:lnTo>
                  <a:lnTo>
                    <a:pt x="121" y="402"/>
                  </a:lnTo>
                  <a:lnTo>
                    <a:pt x="128" y="416"/>
                  </a:lnTo>
                  <a:lnTo>
                    <a:pt x="136" y="432"/>
                  </a:lnTo>
                  <a:lnTo>
                    <a:pt x="143" y="446"/>
                  </a:lnTo>
                  <a:lnTo>
                    <a:pt x="148" y="458"/>
                  </a:lnTo>
                  <a:lnTo>
                    <a:pt x="155" y="473"/>
                  </a:lnTo>
                  <a:lnTo>
                    <a:pt x="161" y="486"/>
                  </a:lnTo>
                  <a:lnTo>
                    <a:pt x="170" y="491"/>
                  </a:lnTo>
                  <a:lnTo>
                    <a:pt x="179" y="482"/>
                  </a:lnTo>
                  <a:lnTo>
                    <a:pt x="188" y="473"/>
                  </a:lnTo>
                  <a:lnTo>
                    <a:pt x="198" y="471"/>
                  </a:lnTo>
                  <a:lnTo>
                    <a:pt x="192" y="464"/>
                  </a:lnTo>
                  <a:lnTo>
                    <a:pt x="200" y="451"/>
                  </a:lnTo>
                  <a:lnTo>
                    <a:pt x="205" y="451"/>
                  </a:lnTo>
                  <a:lnTo>
                    <a:pt x="204" y="438"/>
                  </a:lnTo>
                  <a:lnTo>
                    <a:pt x="202" y="425"/>
                  </a:lnTo>
                  <a:lnTo>
                    <a:pt x="205" y="410"/>
                  </a:lnTo>
                  <a:lnTo>
                    <a:pt x="208" y="396"/>
                  </a:lnTo>
                  <a:lnTo>
                    <a:pt x="204" y="379"/>
                  </a:lnTo>
                  <a:lnTo>
                    <a:pt x="203" y="359"/>
                  </a:lnTo>
                  <a:lnTo>
                    <a:pt x="211" y="353"/>
                  </a:lnTo>
                  <a:lnTo>
                    <a:pt x="214" y="351"/>
                  </a:lnTo>
                  <a:lnTo>
                    <a:pt x="217" y="350"/>
                  </a:lnTo>
                  <a:lnTo>
                    <a:pt x="221" y="343"/>
                  </a:lnTo>
                  <a:lnTo>
                    <a:pt x="234" y="338"/>
                  </a:lnTo>
                  <a:lnTo>
                    <a:pt x="236" y="327"/>
                  </a:lnTo>
                  <a:lnTo>
                    <a:pt x="251" y="312"/>
                  </a:lnTo>
                  <a:lnTo>
                    <a:pt x="266" y="296"/>
                  </a:lnTo>
                  <a:lnTo>
                    <a:pt x="278" y="283"/>
                  </a:lnTo>
                  <a:lnTo>
                    <a:pt x="288" y="277"/>
                  </a:lnTo>
                  <a:lnTo>
                    <a:pt x="296" y="264"/>
                  </a:lnTo>
                  <a:lnTo>
                    <a:pt x="298" y="251"/>
                  </a:lnTo>
                  <a:lnTo>
                    <a:pt x="312" y="241"/>
                  </a:lnTo>
                  <a:lnTo>
                    <a:pt x="316" y="248"/>
                  </a:lnTo>
                  <a:lnTo>
                    <a:pt x="320" y="248"/>
                  </a:lnTo>
                  <a:lnTo>
                    <a:pt x="324" y="247"/>
                  </a:lnTo>
                  <a:lnTo>
                    <a:pt x="328" y="248"/>
                  </a:lnTo>
                  <a:lnTo>
                    <a:pt x="328" y="243"/>
                  </a:lnTo>
                  <a:lnTo>
                    <a:pt x="323" y="229"/>
                  </a:lnTo>
                  <a:lnTo>
                    <a:pt x="318" y="216"/>
                  </a:lnTo>
                  <a:lnTo>
                    <a:pt x="317" y="205"/>
                  </a:lnTo>
                  <a:lnTo>
                    <a:pt x="305" y="195"/>
                  </a:lnTo>
                  <a:lnTo>
                    <a:pt x="310" y="188"/>
                  </a:lnTo>
                  <a:lnTo>
                    <a:pt x="316" y="185"/>
                  </a:lnTo>
                  <a:lnTo>
                    <a:pt x="304" y="174"/>
                  </a:lnTo>
                  <a:lnTo>
                    <a:pt x="304" y="161"/>
                  </a:lnTo>
                  <a:lnTo>
                    <a:pt x="314" y="164"/>
                  </a:lnTo>
                  <a:lnTo>
                    <a:pt x="319" y="170"/>
                  </a:lnTo>
                  <a:lnTo>
                    <a:pt x="323" y="167"/>
                  </a:lnTo>
                  <a:lnTo>
                    <a:pt x="329" y="181"/>
                  </a:lnTo>
                  <a:lnTo>
                    <a:pt x="346" y="183"/>
                  </a:lnTo>
                  <a:lnTo>
                    <a:pt x="362" y="185"/>
                  </a:lnTo>
                  <a:lnTo>
                    <a:pt x="371" y="191"/>
                  </a:lnTo>
                  <a:lnTo>
                    <a:pt x="368" y="198"/>
                  </a:lnTo>
                  <a:lnTo>
                    <a:pt x="356" y="206"/>
                  </a:lnTo>
                  <a:lnTo>
                    <a:pt x="360" y="221"/>
                  </a:lnTo>
                  <a:lnTo>
                    <a:pt x="362" y="224"/>
                  </a:lnTo>
                  <a:lnTo>
                    <a:pt x="370" y="211"/>
                  </a:lnTo>
                  <a:lnTo>
                    <a:pt x="376" y="227"/>
                  </a:lnTo>
                  <a:lnTo>
                    <a:pt x="382" y="242"/>
                  </a:lnTo>
                  <a:lnTo>
                    <a:pt x="383" y="241"/>
                  </a:lnTo>
                  <a:lnTo>
                    <a:pt x="388" y="242"/>
                  </a:lnTo>
                  <a:lnTo>
                    <a:pt x="389" y="223"/>
                  </a:lnTo>
                  <a:lnTo>
                    <a:pt x="389" y="207"/>
                  </a:lnTo>
                  <a:lnTo>
                    <a:pt x="398" y="207"/>
                  </a:lnTo>
                  <a:lnTo>
                    <a:pt x="406" y="186"/>
                  </a:lnTo>
                  <a:lnTo>
                    <a:pt x="407" y="177"/>
                  </a:lnTo>
                  <a:lnTo>
                    <a:pt x="407" y="163"/>
                  </a:lnTo>
                  <a:lnTo>
                    <a:pt x="421" y="147"/>
                  </a:lnTo>
                  <a:lnTo>
                    <a:pt x="433" y="150"/>
                  </a:lnTo>
                  <a:lnTo>
                    <a:pt x="431" y="144"/>
                  </a:lnTo>
                  <a:lnTo>
                    <a:pt x="432" y="139"/>
                  </a:lnTo>
                  <a:lnTo>
                    <a:pt x="434" y="131"/>
                  </a:lnTo>
                  <a:lnTo>
                    <a:pt x="418" y="125"/>
                  </a:lnTo>
                  <a:lnTo>
                    <a:pt x="418" y="116"/>
                  </a:lnTo>
                  <a:lnTo>
                    <a:pt x="412" y="115"/>
                  </a:lnTo>
                  <a:lnTo>
                    <a:pt x="413" y="111"/>
                  </a:lnTo>
                  <a:lnTo>
                    <a:pt x="407" y="109"/>
                  </a:lnTo>
                  <a:lnTo>
                    <a:pt x="398" y="114"/>
                  </a:lnTo>
                  <a:lnTo>
                    <a:pt x="385" y="113"/>
                  </a:lnTo>
                  <a:lnTo>
                    <a:pt x="374" y="122"/>
                  </a:lnTo>
                  <a:lnTo>
                    <a:pt x="362" y="133"/>
                  </a:lnTo>
                  <a:lnTo>
                    <a:pt x="349" y="138"/>
                  </a:lnTo>
                  <a:lnTo>
                    <a:pt x="348" y="138"/>
                  </a:lnTo>
                  <a:lnTo>
                    <a:pt x="353" y="144"/>
                  </a:lnTo>
                  <a:lnTo>
                    <a:pt x="359" y="153"/>
                  </a:lnTo>
                  <a:lnTo>
                    <a:pt x="344" y="155"/>
                  </a:lnTo>
                  <a:lnTo>
                    <a:pt x="330" y="156"/>
                  </a:lnTo>
                  <a:lnTo>
                    <a:pt x="311" y="153"/>
                  </a:lnTo>
                  <a:lnTo>
                    <a:pt x="308" y="146"/>
                  </a:lnTo>
                  <a:lnTo>
                    <a:pt x="301" y="132"/>
                  </a:lnTo>
                  <a:lnTo>
                    <a:pt x="294" y="137"/>
                  </a:lnTo>
                  <a:lnTo>
                    <a:pt x="299" y="162"/>
                  </a:lnTo>
                  <a:lnTo>
                    <a:pt x="282" y="161"/>
                  </a:lnTo>
                  <a:lnTo>
                    <a:pt x="262" y="158"/>
                  </a:lnTo>
                  <a:lnTo>
                    <a:pt x="251" y="155"/>
                  </a:lnTo>
                  <a:lnTo>
                    <a:pt x="242" y="146"/>
                  </a:lnTo>
                  <a:lnTo>
                    <a:pt x="223" y="144"/>
                  </a:lnTo>
                  <a:lnTo>
                    <a:pt x="208" y="140"/>
                  </a:lnTo>
                  <a:lnTo>
                    <a:pt x="188" y="131"/>
                  </a:lnTo>
                  <a:lnTo>
                    <a:pt x="169" y="120"/>
                  </a:lnTo>
                  <a:lnTo>
                    <a:pt x="169" y="109"/>
                  </a:lnTo>
                  <a:lnTo>
                    <a:pt x="178" y="95"/>
                  </a:lnTo>
                  <a:lnTo>
                    <a:pt x="163" y="85"/>
                  </a:lnTo>
                  <a:lnTo>
                    <a:pt x="144" y="74"/>
                  </a:lnTo>
                  <a:lnTo>
                    <a:pt x="137" y="72"/>
                  </a:lnTo>
                  <a:lnTo>
                    <a:pt x="130" y="53"/>
                  </a:lnTo>
                  <a:lnTo>
                    <a:pt x="139" y="54"/>
                  </a:lnTo>
                  <a:lnTo>
                    <a:pt x="142" y="47"/>
                  </a:lnTo>
                  <a:lnTo>
                    <a:pt x="132" y="33"/>
                  </a:lnTo>
                  <a:lnTo>
                    <a:pt x="132" y="26"/>
                  </a:lnTo>
                  <a:lnTo>
                    <a:pt x="131" y="25"/>
                  </a:lnTo>
                  <a:lnTo>
                    <a:pt x="131" y="21"/>
                  </a:lnTo>
                  <a:lnTo>
                    <a:pt x="127" y="19"/>
                  </a:lnTo>
                  <a:lnTo>
                    <a:pt x="125" y="15"/>
                  </a:lnTo>
                  <a:lnTo>
                    <a:pt x="124" y="11"/>
                  </a:lnTo>
                  <a:lnTo>
                    <a:pt x="122" y="6"/>
                  </a:lnTo>
                  <a:lnTo>
                    <a:pt x="118" y="5"/>
                  </a:lnTo>
                  <a:lnTo>
                    <a:pt x="110" y="1"/>
                  </a:lnTo>
                  <a:lnTo>
                    <a:pt x="10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8" name="Freeform 67"/>
            <p:cNvSpPr>
              <a:spLocks/>
            </p:cNvSpPr>
            <p:nvPr/>
          </p:nvSpPr>
          <p:spPr bwMode="auto">
            <a:xfrm>
              <a:off x="3107" y="2041"/>
              <a:ext cx="22" cy="75"/>
            </a:xfrm>
            <a:custGeom>
              <a:avLst/>
              <a:gdLst/>
              <a:ahLst/>
              <a:cxnLst>
                <a:cxn ang="0">
                  <a:pos x="15" y="69"/>
                </a:cxn>
                <a:cxn ang="0">
                  <a:pos x="8" y="52"/>
                </a:cxn>
                <a:cxn ang="0">
                  <a:pos x="0" y="35"/>
                </a:cxn>
                <a:cxn ang="0">
                  <a:pos x="6" y="20"/>
                </a:cxn>
                <a:cxn ang="0">
                  <a:pos x="11" y="4"/>
                </a:cxn>
                <a:cxn ang="0">
                  <a:pos x="18" y="0"/>
                </a:cxn>
                <a:cxn ang="0">
                  <a:pos x="20" y="10"/>
                </a:cxn>
                <a:cxn ang="0">
                  <a:pos x="18" y="24"/>
                </a:cxn>
                <a:cxn ang="0">
                  <a:pos x="17" y="39"/>
                </a:cxn>
                <a:cxn ang="0">
                  <a:pos x="17" y="53"/>
                </a:cxn>
                <a:cxn ang="0">
                  <a:pos x="15" y="68"/>
                </a:cxn>
                <a:cxn ang="0">
                  <a:pos x="15" y="69"/>
                </a:cxn>
              </a:cxnLst>
              <a:rect l="0" t="0" r="r" b="b"/>
              <a:pathLst>
                <a:path w="20" h="69">
                  <a:moveTo>
                    <a:pt x="15" y="69"/>
                  </a:moveTo>
                  <a:lnTo>
                    <a:pt x="8" y="52"/>
                  </a:lnTo>
                  <a:lnTo>
                    <a:pt x="0" y="35"/>
                  </a:lnTo>
                  <a:lnTo>
                    <a:pt x="6" y="20"/>
                  </a:lnTo>
                  <a:lnTo>
                    <a:pt x="11" y="4"/>
                  </a:lnTo>
                  <a:lnTo>
                    <a:pt x="18" y="0"/>
                  </a:lnTo>
                  <a:lnTo>
                    <a:pt x="20" y="10"/>
                  </a:lnTo>
                  <a:lnTo>
                    <a:pt x="18" y="24"/>
                  </a:lnTo>
                  <a:lnTo>
                    <a:pt x="17" y="39"/>
                  </a:lnTo>
                  <a:lnTo>
                    <a:pt x="17" y="53"/>
                  </a:lnTo>
                  <a:lnTo>
                    <a:pt x="15" y="68"/>
                  </a:lnTo>
                  <a:lnTo>
                    <a:pt x="15"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9" name="Freeform 68"/>
            <p:cNvSpPr>
              <a:spLocks/>
            </p:cNvSpPr>
            <p:nvPr/>
          </p:nvSpPr>
          <p:spPr bwMode="auto">
            <a:xfrm>
              <a:off x="3122" y="2039"/>
              <a:ext cx="69" cy="84"/>
            </a:xfrm>
            <a:custGeom>
              <a:avLst/>
              <a:gdLst/>
              <a:ahLst/>
              <a:cxnLst>
                <a:cxn ang="0">
                  <a:pos x="24" y="19"/>
                </a:cxn>
                <a:cxn ang="0">
                  <a:pos x="5" y="12"/>
                </a:cxn>
                <a:cxn ang="0">
                  <a:pos x="3" y="26"/>
                </a:cxn>
                <a:cxn ang="0">
                  <a:pos x="2" y="41"/>
                </a:cxn>
                <a:cxn ang="0">
                  <a:pos x="2" y="55"/>
                </a:cxn>
                <a:cxn ang="0">
                  <a:pos x="0" y="70"/>
                </a:cxn>
                <a:cxn ang="0">
                  <a:pos x="1" y="72"/>
                </a:cxn>
                <a:cxn ang="0">
                  <a:pos x="18" y="76"/>
                </a:cxn>
                <a:cxn ang="0">
                  <a:pos x="27" y="64"/>
                </a:cxn>
                <a:cxn ang="0">
                  <a:pos x="38" y="61"/>
                </a:cxn>
                <a:cxn ang="0">
                  <a:pos x="45" y="53"/>
                </a:cxn>
                <a:cxn ang="0">
                  <a:pos x="27" y="35"/>
                </a:cxn>
                <a:cxn ang="0">
                  <a:pos x="44" y="28"/>
                </a:cxn>
                <a:cxn ang="0">
                  <a:pos x="61" y="22"/>
                </a:cxn>
                <a:cxn ang="0">
                  <a:pos x="51" y="0"/>
                </a:cxn>
                <a:cxn ang="0">
                  <a:pos x="37" y="10"/>
                </a:cxn>
                <a:cxn ang="0">
                  <a:pos x="24" y="19"/>
                </a:cxn>
              </a:cxnLst>
              <a:rect l="0" t="0" r="r" b="b"/>
              <a:pathLst>
                <a:path w="61" h="76">
                  <a:moveTo>
                    <a:pt x="24" y="19"/>
                  </a:moveTo>
                  <a:lnTo>
                    <a:pt x="5" y="12"/>
                  </a:lnTo>
                  <a:lnTo>
                    <a:pt x="3" y="26"/>
                  </a:lnTo>
                  <a:lnTo>
                    <a:pt x="2" y="41"/>
                  </a:lnTo>
                  <a:lnTo>
                    <a:pt x="2" y="55"/>
                  </a:lnTo>
                  <a:lnTo>
                    <a:pt x="0" y="70"/>
                  </a:lnTo>
                  <a:lnTo>
                    <a:pt x="1" y="72"/>
                  </a:lnTo>
                  <a:lnTo>
                    <a:pt x="18" y="76"/>
                  </a:lnTo>
                  <a:lnTo>
                    <a:pt x="27" y="64"/>
                  </a:lnTo>
                  <a:lnTo>
                    <a:pt x="38" y="61"/>
                  </a:lnTo>
                  <a:lnTo>
                    <a:pt x="45" y="53"/>
                  </a:lnTo>
                  <a:lnTo>
                    <a:pt x="27" y="35"/>
                  </a:lnTo>
                  <a:lnTo>
                    <a:pt x="44" y="28"/>
                  </a:lnTo>
                  <a:lnTo>
                    <a:pt x="61" y="22"/>
                  </a:lnTo>
                  <a:lnTo>
                    <a:pt x="51" y="0"/>
                  </a:lnTo>
                  <a:lnTo>
                    <a:pt x="37" y="10"/>
                  </a:lnTo>
                  <a:lnTo>
                    <a:pt x="24"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0" name="Freeform 69"/>
            <p:cNvSpPr>
              <a:spLocks/>
            </p:cNvSpPr>
            <p:nvPr/>
          </p:nvSpPr>
          <p:spPr bwMode="auto">
            <a:xfrm>
              <a:off x="3431" y="2207"/>
              <a:ext cx="131" cy="167"/>
            </a:xfrm>
            <a:custGeom>
              <a:avLst/>
              <a:gdLst/>
              <a:ahLst/>
              <a:cxnLst>
                <a:cxn ang="0">
                  <a:pos x="119" y="46"/>
                </a:cxn>
                <a:cxn ang="0">
                  <a:pos x="107" y="35"/>
                </a:cxn>
                <a:cxn ang="0">
                  <a:pos x="95" y="25"/>
                </a:cxn>
                <a:cxn ang="0">
                  <a:pos x="82" y="19"/>
                </a:cxn>
                <a:cxn ang="0">
                  <a:pos x="68" y="13"/>
                </a:cxn>
                <a:cxn ang="0">
                  <a:pos x="61" y="0"/>
                </a:cxn>
                <a:cxn ang="0">
                  <a:pos x="56" y="4"/>
                </a:cxn>
                <a:cxn ang="0">
                  <a:pos x="54" y="0"/>
                </a:cxn>
                <a:cxn ang="0">
                  <a:pos x="56" y="17"/>
                </a:cxn>
                <a:cxn ang="0">
                  <a:pos x="49" y="19"/>
                </a:cxn>
                <a:cxn ang="0">
                  <a:pos x="46" y="41"/>
                </a:cxn>
                <a:cxn ang="0">
                  <a:pos x="54" y="54"/>
                </a:cxn>
                <a:cxn ang="0">
                  <a:pos x="50" y="72"/>
                </a:cxn>
                <a:cxn ang="0">
                  <a:pos x="47" y="90"/>
                </a:cxn>
                <a:cxn ang="0">
                  <a:pos x="36" y="94"/>
                </a:cxn>
                <a:cxn ang="0">
                  <a:pos x="24" y="99"/>
                </a:cxn>
                <a:cxn ang="0">
                  <a:pos x="13" y="103"/>
                </a:cxn>
                <a:cxn ang="0">
                  <a:pos x="2" y="108"/>
                </a:cxn>
                <a:cxn ang="0">
                  <a:pos x="0" y="115"/>
                </a:cxn>
                <a:cxn ang="0">
                  <a:pos x="11" y="133"/>
                </a:cxn>
                <a:cxn ang="0">
                  <a:pos x="22" y="150"/>
                </a:cxn>
                <a:cxn ang="0">
                  <a:pos x="35" y="148"/>
                </a:cxn>
                <a:cxn ang="0">
                  <a:pos x="47" y="144"/>
                </a:cxn>
                <a:cxn ang="0">
                  <a:pos x="55" y="137"/>
                </a:cxn>
                <a:cxn ang="0">
                  <a:pos x="60" y="127"/>
                </a:cxn>
                <a:cxn ang="0">
                  <a:pos x="74" y="124"/>
                </a:cxn>
                <a:cxn ang="0">
                  <a:pos x="80" y="111"/>
                </a:cxn>
                <a:cxn ang="0">
                  <a:pos x="92" y="105"/>
                </a:cxn>
                <a:cxn ang="0">
                  <a:pos x="91" y="85"/>
                </a:cxn>
                <a:cxn ang="0">
                  <a:pos x="97" y="81"/>
                </a:cxn>
                <a:cxn ang="0">
                  <a:pos x="101" y="81"/>
                </a:cxn>
                <a:cxn ang="0">
                  <a:pos x="110" y="64"/>
                </a:cxn>
                <a:cxn ang="0">
                  <a:pos x="119" y="46"/>
                </a:cxn>
              </a:cxnLst>
              <a:rect l="0" t="0" r="r" b="b"/>
              <a:pathLst>
                <a:path w="119" h="150">
                  <a:moveTo>
                    <a:pt x="119" y="46"/>
                  </a:moveTo>
                  <a:lnTo>
                    <a:pt x="107" y="35"/>
                  </a:lnTo>
                  <a:lnTo>
                    <a:pt x="95" y="25"/>
                  </a:lnTo>
                  <a:lnTo>
                    <a:pt x="82" y="19"/>
                  </a:lnTo>
                  <a:lnTo>
                    <a:pt x="68" y="13"/>
                  </a:lnTo>
                  <a:lnTo>
                    <a:pt x="61" y="0"/>
                  </a:lnTo>
                  <a:lnTo>
                    <a:pt x="56" y="4"/>
                  </a:lnTo>
                  <a:lnTo>
                    <a:pt x="54" y="0"/>
                  </a:lnTo>
                  <a:lnTo>
                    <a:pt x="56" y="17"/>
                  </a:lnTo>
                  <a:lnTo>
                    <a:pt x="49" y="19"/>
                  </a:lnTo>
                  <a:lnTo>
                    <a:pt x="46" y="41"/>
                  </a:lnTo>
                  <a:lnTo>
                    <a:pt x="54" y="54"/>
                  </a:lnTo>
                  <a:lnTo>
                    <a:pt x="50" y="72"/>
                  </a:lnTo>
                  <a:lnTo>
                    <a:pt x="47" y="90"/>
                  </a:lnTo>
                  <a:lnTo>
                    <a:pt x="36" y="94"/>
                  </a:lnTo>
                  <a:lnTo>
                    <a:pt x="24" y="99"/>
                  </a:lnTo>
                  <a:lnTo>
                    <a:pt x="13" y="103"/>
                  </a:lnTo>
                  <a:lnTo>
                    <a:pt x="2" y="108"/>
                  </a:lnTo>
                  <a:lnTo>
                    <a:pt x="0" y="115"/>
                  </a:lnTo>
                  <a:lnTo>
                    <a:pt x="11" y="133"/>
                  </a:lnTo>
                  <a:lnTo>
                    <a:pt x="22" y="150"/>
                  </a:lnTo>
                  <a:lnTo>
                    <a:pt x="35" y="148"/>
                  </a:lnTo>
                  <a:lnTo>
                    <a:pt x="47" y="144"/>
                  </a:lnTo>
                  <a:lnTo>
                    <a:pt x="55" y="137"/>
                  </a:lnTo>
                  <a:lnTo>
                    <a:pt x="60" y="127"/>
                  </a:lnTo>
                  <a:lnTo>
                    <a:pt x="74" y="124"/>
                  </a:lnTo>
                  <a:lnTo>
                    <a:pt x="80" y="111"/>
                  </a:lnTo>
                  <a:lnTo>
                    <a:pt x="92" y="105"/>
                  </a:lnTo>
                  <a:lnTo>
                    <a:pt x="91" y="85"/>
                  </a:lnTo>
                  <a:lnTo>
                    <a:pt x="97" y="81"/>
                  </a:lnTo>
                  <a:lnTo>
                    <a:pt x="101" y="81"/>
                  </a:lnTo>
                  <a:lnTo>
                    <a:pt x="110" y="64"/>
                  </a:lnTo>
                  <a:lnTo>
                    <a:pt x="119"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1" name="Freeform 70"/>
            <p:cNvSpPr>
              <a:spLocks/>
            </p:cNvSpPr>
            <p:nvPr/>
          </p:nvSpPr>
          <p:spPr bwMode="auto">
            <a:xfrm>
              <a:off x="3489" y="2181"/>
              <a:ext cx="6" cy="11"/>
            </a:xfrm>
            <a:custGeom>
              <a:avLst/>
              <a:gdLst/>
              <a:ahLst/>
              <a:cxnLst>
                <a:cxn ang="0">
                  <a:pos x="5" y="0"/>
                </a:cxn>
                <a:cxn ang="0">
                  <a:pos x="0" y="8"/>
                </a:cxn>
                <a:cxn ang="0">
                  <a:pos x="5" y="10"/>
                </a:cxn>
                <a:cxn ang="0">
                  <a:pos x="5" y="0"/>
                </a:cxn>
              </a:cxnLst>
              <a:rect l="0" t="0" r="r" b="b"/>
              <a:pathLst>
                <a:path w="5" h="10">
                  <a:moveTo>
                    <a:pt x="5" y="0"/>
                  </a:moveTo>
                  <a:lnTo>
                    <a:pt x="0" y="8"/>
                  </a:lnTo>
                  <a:lnTo>
                    <a:pt x="5" y="10"/>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2" name="Freeform 71"/>
            <p:cNvSpPr>
              <a:spLocks/>
            </p:cNvSpPr>
            <p:nvPr/>
          </p:nvSpPr>
          <p:spPr bwMode="auto">
            <a:xfrm>
              <a:off x="3120" y="2063"/>
              <a:ext cx="371" cy="331"/>
            </a:xfrm>
            <a:custGeom>
              <a:avLst/>
              <a:gdLst/>
              <a:ahLst/>
              <a:cxnLst>
                <a:cxn ang="0">
                  <a:pos x="76" y="178"/>
                </a:cxn>
                <a:cxn ang="0">
                  <a:pos x="65" y="151"/>
                </a:cxn>
                <a:cxn ang="0">
                  <a:pos x="45" y="134"/>
                </a:cxn>
                <a:cxn ang="0">
                  <a:pos x="21" y="94"/>
                </a:cxn>
                <a:cxn ang="0">
                  <a:pos x="0" y="72"/>
                </a:cxn>
                <a:cxn ang="0">
                  <a:pos x="21" y="54"/>
                </a:cxn>
                <a:cxn ang="0">
                  <a:pos x="41" y="39"/>
                </a:cxn>
                <a:cxn ang="0">
                  <a:pos x="30" y="13"/>
                </a:cxn>
                <a:cxn ang="0">
                  <a:pos x="64" y="0"/>
                </a:cxn>
                <a:cxn ang="0">
                  <a:pos x="94" y="13"/>
                </a:cxn>
                <a:cxn ang="0">
                  <a:pos x="123" y="26"/>
                </a:cxn>
                <a:cxn ang="0">
                  <a:pos x="153" y="54"/>
                </a:cxn>
                <a:cxn ang="0">
                  <a:pos x="195" y="57"/>
                </a:cxn>
                <a:cxn ang="0">
                  <a:pos x="210" y="66"/>
                </a:cxn>
                <a:cxn ang="0">
                  <a:pos x="226" y="85"/>
                </a:cxn>
                <a:cxn ang="0">
                  <a:pos x="242" y="109"/>
                </a:cxn>
                <a:cxn ang="0">
                  <a:pos x="255" y="134"/>
                </a:cxn>
                <a:cxn ang="0">
                  <a:pos x="262" y="136"/>
                </a:cxn>
                <a:cxn ang="0">
                  <a:pos x="264" y="141"/>
                </a:cxn>
                <a:cxn ang="0">
                  <a:pos x="266" y="146"/>
                </a:cxn>
                <a:cxn ang="0">
                  <a:pos x="276" y="165"/>
                </a:cxn>
                <a:cxn ang="0">
                  <a:pos x="323" y="174"/>
                </a:cxn>
                <a:cxn ang="0">
                  <a:pos x="334" y="183"/>
                </a:cxn>
                <a:cxn ang="0">
                  <a:pos x="327" y="219"/>
                </a:cxn>
                <a:cxn ang="0">
                  <a:pos x="304" y="228"/>
                </a:cxn>
                <a:cxn ang="0">
                  <a:pos x="282" y="237"/>
                </a:cxn>
                <a:cxn ang="0">
                  <a:pos x="257" y="243"/>
                </a:cxn>
                <a:cxn ang="0">
                  <a:pos x="232" y="250"/>
                </a:cxn>
                <a:cxn ang="0">
                  <a:pos x="215" y="273"/>
                </a:cxn>
                <a:cxn ang="0">
                  <a:pos x="197" y="297"/>
                </a:cxn>
                <a:cxn ang="0">
                  <a:pos x="182" y="272"/>
                </a:cxn>
                <a:cxn ang="0">
                  <a:pos x="149" y="264"/>
                </a:cxn>
                <a:cxn ang="0">
                  <a:pos x="141" y="284"/>
                </a:cxn>
                <a:cxn ang="0">
                  <a:pos x="125" y="258"/>
                </a:cxn>
                <a:cxn ang="0">
                  <a:pos x="100" y="218"/>
                </a:cxn>
              </a:cxnLst>
              <a:rect l="0" t="0" r="r" b="b"/>
              <a:pathLst>
                <a:path w="334" h="297">
                  <a:moveTo>
                    <a:pt x="82" y="202"/>
                  </a:moveTo>
                  <a:lnTo>
                    <a:pt x="76" y="178"/>
                  </a:lnTo>
                  <a:lnTo>
                    <a:pt x="70" y="165"/>
                  </a:lnTo>
                  <a:lnTo>
                    <a:pt x="65" y="151"/>
                  </a:lnTo>
                  <a:lnTo>
                    <a:pt x="54" y="142"/>
                  </a:lnTo>
                  <a:lnTo>
                    <a:pt x="45" y="134"/>
                  </a:lnTo>
                  <a:lnTo>
                    <a:pt x="36" y="115"/>
                  </a:lnTo>
                  <a:lnTo>
                    <a:pt x="21" y="94"/>
                  </a:lnTo>
                  <a:lnTo>
                    <a:pt x="5" y="73"/>
                  </a:lnTo>
                  <a:lnTo>
                    <a:pt x="0" y="72"/>
                  </a:lnTo>
                  <a:lnTo>
                    <a:pt x="4" y="50"/>
                  </a:lnTo>
                  <a:lnTo>
                    <a:pt x="21" y="54"/>
                  </a:lnTo>
                  <a:lnTo>
                    <a:pt x="30" y="42"/>
                  </a:lnTo>
                  <a:lnTo>
                    <a:pt x="41" y="39"/>
                  </a:lnTo>
                  <a:lnTo>
                    <a:pt x="48" y="31"/>
                  </a:lnTo>
                  <a:lnTo>
                    <a:pt x="30" y="13"/>
                  </a:lnTo>
                  <a:lnTo>
                    <a:pt x="47" y="6"/>
                  </a:lnTo>
                  <a:lnTo>
                    <a:pt x="64" y="0"/>
                  </a:lnTo>
                  <a:lnTo>
                    <a:pt x="78" y="6"/>
                  </a:lnTo>
                  <a:lnTo>
                    <a:pt x="94" y="13"/>
                  </a:lnTo>
                  <a:lnTo>
                    <a:pt x="108" y="19"/>
                  </a:lnTo>
                  <a:lnTo>
                    <a:pt x="123" y="26"/>
                  </a:lnTo>
                  <a:lnTo>
                    <a:pt x="137" y="39"/>
                  </a:lnTo>
                  <a:lnTo>
                    <a:pt x="153" y="54"/>
                  </a:lnTo>
                  <a:lnTo>
                    <a:pt x="180" y="55"/>
                  </a:lnTo>
                  <a:lnTo>
                    <a:pt x="195" y="57"/>
                  </a:lnTo>
                  <a:lnTo>
                    <a:pt x="197" y="62"/>
                  </a:lnTo>
                  <a:lnTo>
                    <a:pt x="210" y="66"/>
                  </a:lnTo>
                  <a:lnTo>
                    <a:pt x="219" y="79"/>
                  </a:lnTo>
                  <a:lnTo>
                    <a:pt x="226" y="85"/>
                  </a:lnTo>
                  <a:lnTo>
                    <a:pt x="240" y="99"/>
                  </a:lnTo>
                  <a:lnTo>
                    <a:pt x="242" y="109"/>
                  </a:lnTo>
                  <a:lnTo>
                    <a:pt x="249" y="121"/>
                  </a:lnTo>
                  <a:lnTo>
                    <a:pt x="255" y="134"/>
                  </a:lnTo>
                  <a:lnTo>
                    <a:pt x="260" y="138"/>
                  </a:lnTo>
                  <a:lnTo>
                    <a:pt x="262" y="136"/>
                  </a:lnTo>
                  <a:lnTo>
                    <a:pt x="264" y="136"/>
                  </a:lnTo>
                  <a:lnTo>
                    <a:pt x="264" y="141"/>
                  </a:lnTo>
                  <a:lnTo>
                    <a:pt x="266" y="142"/>
                  </a:lnTo>
                  <a:lnTo>
                    <a:pt x="266" y="146"/>
                  </a:lnTo>
                  <a:lnTo>
                    <a:pt x="270" y="150"/>
                  </a:lnTo>
                  <a:lnTo>
                    <a:pt x="276" y="165"/>
                  </a:lnTo>
                  <a:lnTo>
                    <a:pt x="299" y="170"/>
                  </a:lnTo>
                  <a:lnTo>
                    <a:pt x="323" y="174"/>
                  </a:lnTo>
                  <a:lnTo>
                    <a:pt x="326" y="170"/>
                  </a:lnTo>
                  <a:lnTo>
                    <a:pt x="334" y="183"/>
                  </a:lnTo>
                  <a:lnTo>
                    <a:pt x="330" y="201"/>
                  </a:lnTo>
                  <a:lnTo>
                    <a:pt x="327" y="219"/>
                  </a:lnTo>
                  <a:lnTo>
                    <a:pt x="316" y="223"/>
                  </a:lnTo>
                  <a:lnTo>
                    <a:pt x="304" y="228"/>
                  </a:lnTo>
                  <a:lnTo>
                    <a:pt x="293" y="232"/>
                  </a:lnTo>
                  <a:lnTo>
                    <a:pt x="282" y="237"/>
                  </a:lnTo>
                  <a:lnTo>
                    <a:pt x="269" y="240"/>
                  </a:lnTo>
                  <a:lnTo>
                    <a:pt x="257" y="243"/>
                  </a:lnTo>
                  <a:lnTo>
                    <a:pt x="244" y="247"/>
                  </a:lnTo>
                  <a:lnTo>
                    <a:pt x="232" y="250"/>
                  </a:lnTo>
                  <a:lnTo>
                    <a:pt x="224" y="262"/>
                  </a:lnTo>
                  <a:lnTo>
                    <a:pt x="215" y="273"/>
                  </a:lnTo>
                  <a:lnTo>
                    <a:pt x="206" y="285"/>
                  </a:lnTo>
                  <a:lnTo>
                    <a:pt x="197" y="297"/>
                  </a:lnTo>
                  <a:lnTo>
                    <a:pt x="196" y="279"/>
                  </a:lnTo>
                  <a:lnTo>
                    <a:pt x="182" y="272"/>
                  </a:lnTo>
                  <a:lnTo>
                    <a:pt x="166" y="266"/>
                  </a:lnTo>
                  <a:lnTo>
                    <a:pt x="149" y="264"/>
                  </a:lnTo>
                  <a:lnTo>
                    <a:pt x="146" y="278"/>
                  </a:lnTo>
                  <a:lnTo>
                    <a:pt x="141" y="284"/>
                  </a:lnTo>
                  <a:lnTo>
                    <a:pt x="132" y="271"/>
                  </a:lnTo>
                  <a:lnTo>
                    <a:pt x="125" y="258"/>
                  </a:lnTo>
                  <a:lnTo>
                    <a:pt x="112" y="238"/>
                  </a:lnTo>
                  <a:lnTo>
                    <a:pt x="100" y="218"/>
                  </a:lnTo>
                  <a:lnTo>
                    <a:pt x="82" y="20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3" name="Freeform 72"/>
            <p:cNvSpPr>
              <a:spLocks/>
            </p:cNvSpPr>
            <p:nvPr/>
          </p:nvSpPr>
          <p:spPr bwMode="auto">
            <a:xfrm>
              <a:off x="3415" y="2190"/>
              <a:ext cx="85" cy="66"/>
            </a:xfrm>
            <a:custGeom>
              <a:avLst/>
              <a:gdLst/>
              <a:ahLst/>
              <a:cxnLst>
                <a:cxn ang="0">
                  <a:pos x="0" y="32"/>
                </a:cxn>
                <a:cxn ang="0">
                  <a:pos x="4" y="36"/>
                </a:cxn>
                <a:cxn ang="0">
                  <a:pos x="10" y="51"/>
                </a:cxn>
                <a:cxn ang="0">
                  <a:pos x="33" y="56"/>
                </a:cxn>
                <a:cxn ang="0">
                  <a:pos x="57" y="60"/>
                </a:cxn>
                <a:cxn ang="0">
                  <a:pos x="60" y="56"/>
                </a:cxn>
                <a:cxn ang="0">
                  <a:pos x="63" y="34"/>
                </a:cxn>
                <a:cxn ang="0">
                  <a:pos x="70" y="32"/>
                </a:cxn>
                <a:cxn ang="0">
                  <a:pos x="68" y="15"/>
                </a:cxn>
                <a:cxn ang="0">
                  <a:pos x="70" y="19"/>
                </a:cxn>
                <a:cxn ang="0">
                  <a:pos x="75" y="15"/>
                </a:cxn>
                <a:cxn ang="0">
                  <a:pos x="72" y="2"/>
                </a:cxn>
                <a:cxn ang="0">
                  <a:pos x="67" y="0"/>
                </a:cxn>
                <a:cxn ang="0">
                  <a:pos x="54" y="15"/>
                </a:cxn>
                <a:cxn ang="0">
                  <a:pos x="38" y="31"/>
                </a:cxn>
                <a:cxn ang="0">
                  <a:pos x="14" y="32"/>
                </a:cxn>
                <a:cxn ang="0">
                  <a:pos x="4" y="31"/>
                </a:cxn>
                <a:cxn ang="0">
                  <a:pos x="0" y="28"/>
                </a:cxn>
                <a:cxn ang="0">
                  <a:pos x="0" y="32"/>
                </a:cxn>
              </a:cxnLst>
              <a:rect l="0" t="0" r="r" b="b"/>
              <a:pathLst>
                <a:path w="75" h="60">
                  <a:moveTo>
                    <a:pt x="0" y="32"/>
                  </a:moveTo>
                  <a:lnTo>
                    <a:pt x="4" y="36"/>
                  </a:lnTo>
                  <a:lnTo>
                    <a:pt x="10" y="51"/>
                  </a:lnTo>
                  <a:lnTo>
                    <a:pt x="33" y="56"/>
                  </a:lnTo>
                  <a:lnTo>
                    <a:pt x="57" y="60"/>
                  </a:lnTo>
                  <a:lnTo>
                    <a:pt x="60" y="56"/>
                  </a:lnTo>
                  <a:lnTo>
                    <a:pt x="63" y="34"/>
                  </a:lnTo>
                  <a:lnTo>
                    <a:pt x="70" y="32"/>
                  </a:lnTo>
                  <a:lnTo>
                    <a:pt x="68" y="15"/>
                  </a:lnTo>
                  <a:lnTo>
                    <a:pt x="70" y="19"/>
                  </a:lnTo>
                  <a:lnTo>
                    <a:pt x="75" y="15"/>
                  </a:lnTo>
                  <a:lnTo>
                    <a:pt x="72" y="2"/>
                  </a:lnTo>
                  <a:lnTo>
                    <a:pt x="67" y="0"/>
                  </a:lnTo>
                  <a:lnTo>
                    <a:pt x="54" y="15"/>
                  </a:lnTo>
                  <a:lnTo>
                    <a:pt x="38" y="31"/>
                  </a:lnTo>
                  <a:lnTo>
                    <a:pt x="14" y="32"/>
                  </a:lnTo>
                  <a:lnTo>
                    <a:pt x="4" y="31"/>
                  </a:lnTo>
                  <a:lnTo>
                    <a:pt x="0" y="28"/>
                  </a:lnTo>
                  <a:lnTo>
                    <a:pt x="0" y="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4" name="Freeform 73"/>
            <p:cNvSpPr>
              <a:spLocks/>
            </p:cNvSpPr>
            <p:nvPr/>
          </p:nvSpPr>
          <p:spPr bwMode="auto">
            <a:xfrm>
              <a:off x="3275" y="2327"/>
              <a:ext cx="180" cy="125"/>
            </a:xfrm>
            <a:custGeom>
              <a:avLst/>
              <a:gdLst/>
              <a:ahLst/>
              <a:cxnLst>
                <a:cxn ang="0">
                  <a:pos x="5" y="41"/>
                </a:cxn>
                <a:cxn ang="0">
                  <a:pos x="0" y="47"/>
                </a:cxn>
                <a:cxn ang="0">
                  <a:pos x="0" y="69"/>
                </a:cxn>
                <a:cxn ang="0">
                  <a:pos x="7" y="90"/>
                </a:cxn>
                <a:cxn ang="0">
                  <a:pos x="14" y="113"/>
                </a:cxn>
                <a:cxn ang="0">
                  <a:pos x="33" y="112"/>
                </a:cxn>
                <a:cxn ang="0">
                  <a:pos x="54" y="100"/>
                </a:cxn>
                <a:cxn ang="0">
                  <a:pos x="69" y="95"/>
                </a:cxn>
                <a:cxn ang="0">
                  <a:pos x="86" y="89"/>
                </a:cxn>
                <a:cxn ang="0">
                  <a:pos x="98" y="84"/>
                </a:cxn>
                <a:cxn ang="0">
                  <a:pos x="110" y="78"/>
                </a:cxn>
                <a:cxn ang="0">
                  <a:pos x="122" y="72"/>
                </a:cxn>
                <a:cxn ang="0">
                  <a:pos x="134" y="67"/>
                </a:cxn>
                <a:cxn ang="0">
                  <a:pos x="146" y="61"/>
                </a:cxn>
                <a:cxn ang="0">
                  <a:pos x="147" y="54"/>
                </a:cxn>
                <a:cxn ang="0">
                  <a:pos x="161" y="42"/>
                </a:cxn>
                <a:cxn ang="0">
                  <a:pos x="150" y="25"/>
                </a:cxn>
                <a:cxn ang="0">
                  <a:pos x="139" y="7"/>
                </a:cxn>
                <a:cxn ang="0">
                  <a:pos x="141" y="0"/>
                </a:cxn>
                <a:cxn ang="0">
                  <a:pos x="128" y="3"/>
                </a:cxn>
                <a:cxn ang="0">
                  <a:pos x="116" y="6"/>
                </a:cxn>
                <a:cxn ang="0">
                  <a:pos x="103" y="10"/>
                </a:cxn>
                <a:cxn ang="0">
                  <a:pos x="91" y="13"/>
                </a:cxn>
                <a:cxn ang="0">
                  <a:pos x="83" y="25"/>
                </a:cxn>
                <a:cxn ang="0">
                  <a:pos x="74" y="36"/>
                </a:cxn>
                <a:cxn ang="0">
                  <a:pos x="65" y="48"/>
                </a:cxn>
                <a:cxn ang="0">
                  <a:pos x="56" y="60"/>
                </a:cxn>
                <a:cxn ang="0">
                  <a:pos x="55" y="42"/>
                </a:cxn>
                <a:cxn ang="0">
                  <a:pos x="41" y="35"/>
                </a:cxn>
                <a:cxn ang="0">
                  <a:pos x="25" y="29"/>
                </a:cxn>
                <a:cxn ang="0">
                  <a:pos x="8" y="27"/>
                </a:cxn>
                <a:cxn ang="0">
                  <a:pos x="5" y="41"/>
                </a:cxn>
              </a:cxnLst>
              <a:rect l="0" t="0" r="r" b="b"/>
              <a:pathLst>
                <a:path w="161" h="113">
                  <a:moveTo>
                    <a:pt x="5" y="41"/>
                  </a:moveTo>
                  <a:lnTo>
                    <a:pt x="0" y="47"/>
                  </a:lnTo>
                  <a:lnTo>
                    <a:pt x="0" y="69"/>
                  </a:lnTo>
                  <a:lnTo>
                    <a:pt x="7" y="90"/>
                  </a:lnTo>
                  <a:lnTo>
                    <a:pt x="14" y="113"/>
                  </a:lnTo>
                  <a:lnTo>
                    <a:pt x="33" y="112"/>
                  </a:lnTo>
                  <a:lnTo>
                    <a:pt x="54" y="100"/>
                  </a:lnTo>
                  <a:lnTo>
                    <a:pt x="69" y="95"/>
                  </a:lnTo>
                  <a:lnTo>
                    <a:pt x="86" y="89"/>
                  </a:lnTo>
                  <a:lnTo>
                    <a:pt x="98" y="84"/>
                  </a:lnTo>
                  <a:lnTo>
                    <a:pt x="110" y="78"/>
                  </a:lnTo>
                  <a:lnTo>
                    <a:pt x="122" y="72"/>
                  </a:lnTo>
                  <a:lnTo>
                    <a:pt x="134" y="67"/>
                  </a:lnTo>
                  <a:lnTo>
                    <a:pt x="146" y="61"/>
                  </a:lnTo>
                  <a:lnTo>
                    <a:pt x="147" y="54"/>
                  </a:lnTo>
                  <a:lnTo>
                    <a:pt x="161" y="42"/>
                  </a:lnTo>
                  <a:lnTo>
                    <a:pt x="150" y="25"/>
                  </a:lnTo>
                  <a:lnTo>
                    <a:pt x="139" y="7"/>
                  </a:lnTo>
                  <a:lnTo>
                    <a:pt x="141" y="0"/>
                  </a:lnTo>
                  <a:lnTo>
                    <a:pt x="128" y="3"/>
                  </a:lnTo>
                  <a:lnTo>
                    <a:pt x="116" y="6"/>
                  </a:lnTo>
                  <a:lnTo>
                    <a:pt x="103" y="10"/>
                  </a:lnTo>
                  <a:lnTo>
                    <a:pt x="91" y="13"/>
                  </a:lnTo>
                  <a:lnTo>
                    <a:pt x="83" y="25"/>
                  </a:lnTo>
                  <a:lnTo>
                    <a:pt x="74" y="36"/>
                  </a:lnTo>
                  <a:lnTo>
                    <a:pt x="65" y="48"/>
                  </a:lnTo>
                  <a:lnTo>
                    <a:pt x="56" y="60"/>
                  </a:lnTo>
                  <a:lnTo>
                    <a:pt x="55" y="42"/>
                  </a:lnTo>
                  <a:lnTo>
                    <a:pt x="41" y="35"/>
                  </a:lnTo>
                  <a:lnTo>
                    <a:pt x="25" y="29"/>
                  </a:lnTo>
                  <a:lnTo>
                    <a:pt x="8" y="27"/>
                  </a:lnTo>
                  <a:lnTo>
                    <a:pt x="5" y="4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5" name="Freeform 74"/>
            <p:cNvSpPr>
              <a:spLocks/>
            </p:cNvSpPr>
            <p:nvPr/>
          </p:nvSpPr>
          <p:spPr bwMode="auto">
            <a:xfrm>
              <a:off x="3933" y="2510"/>
              <a:ext cx="38" cy="77"/>
            </a:xfrm>
            <a:custGeom>
              <a:avLst/>
              <a:gdLst/>
              <a:ahLst/>
              <a:cxnLst>
                <a:cxn ang="0">
                  <a:pos x="9" y="2"/>
                </a:cxn>
                <a:cxn ang="0">
                  <a:pos x="15" y="12"/>
                </a:cxn>
                <a:cxn ang="0">
                  <a:pos x="22" y="22"/>
                </a:cxn>
                <a:cxn ang="0">
                  <a:pos x="29" y="37"/>
                </a:cxn>
                <a:cxn ang="0">
                  <a:pos x="35" y="50"/>
                </a:cxn>
                <a:cxn ang="0">
                  <a:pos x="27" y="64"/>
                </a:cxn>
                <a:cxn ang="0">
                  <a:pos x="11" y="69"/>
                </a:cxn>
                <a:cxn ang="0">
                  <a:pos x="3" y="45"/>
                </a:cxn>
                <a:cxn ang="0">
                  <a:pos x="0" y="28"/>
                </a:cxn>
                <a:cxn ang="0">
                  <a:pos x="1" y="30"/>
                </a:cxn>
                <a:cxn ang="0">
                  <a:pos x="4" y="18"/>
                </a:cxn>
                <a:cxn ang="0">
                  <a:pos x="6" y="4"/>
                </a:cxn>
                <a:cxn ang="0">
                  <a:pos x="6" y="3"/>
                </a:cxn>
                <a:cxn ang="0">
                  <a:pos x="3" y="0"/>
                </a:cxn>
                <a:cxn ang="0">
                  <a:pos x="9" y="2"/>
                </a:cxn>
              </a:cxnLst>
              <a:rect l="0" t="0" r="r" b="b"/>
              <a:pathLst>
                <a:path w="35" h="69">
                  <a:moveTo>
                    <a:pt x="9" y="2"/>
                  </a:moveTo>
                  <a:lnTo>
                    <a:pt x="15" y="12"/>
                  </a:lnTo>
                  <a:lnTo>
                    <a:pt x="22" y="22"/>
                  </a:lnTo>
                  <a:lnTo>
                    <a:pt x="29" y="37"/>
                  </a:lnTo>
                  <a:lnTo>
                    <a:pt x="35" y="50"/>
                  </a:lnTo>
                  <a:lnTo>
                    <a:pt x="27" y="64"/>
                  </a:lnTo>
                  <a:lnTo>
                    <a:pt x="11" y="69"/>
                  </a:lnTo>
                  <a:lnTo>
                    <a:pt x="3" y="45"/>
                  </a:lnTo>
                  <a:lnTo>
                    <a:pt x="0" y="28"/>
                  </a:lnTo>
                  <a:lnTo>
                    <a:pt x="1" y="30"/>
                  </a:lnTo>
                  <a:lnTo>
                    <a:pt x="4" y="18"/>
                  </a:lnTo>
                  <a:lnTo>
                    <a:pt x="6" y="4"/>
                  </a:lnTo>
                  <a:lnTo>
                    <a:pt x="6" y="3"/>
                  </a:lnTo>
                  <a:lnTo>
                    <a:pt x="3" y="0"/>
                  </a:lnTo>
                  <a:lnTo>
                    <a:pt x="9"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6" name="Freeform 75"/>
            <p:cNvSpPr>
              <a:spLocks/>
            </p:cNvSpPr>
            <p:nvPr/>
          </p:nvSpPr>
          <p:spPr bwMode="auto">
            <a:xfrm>
              <a:off x="3040" y="2727"/>
              <a:ext cx="36" cy="32"/>
            </a:xfrm>
            <a:custGeom>
              <a:avLst/>
              <a:gdLst/>
              <a:ahLst/>
              <a:cxnLst>
                <a:cxn ang="0">
                  <a:pos x="11" y="6"/>
                </a:cxn>
                <a:cxn ang="0">
                  <a:pos x="5" y="18"/>
                </a:cxn>
                <a:cxn ang="0">
                  <a:pos x="0" y="29"/>
                </a:cxn>
                <a:cxn ang="0">
                  <a:pos x="2" y="29"/>
                </a:cxn>
                <a:cxn ang="0">
                  <a:pos x="3" y="29"/>
                </a:cxn>
                <a:cxn ang="0">
                  <a:pos x="16" y="29"/>
                </a:cxn>
                <a:cxn ang="0">
                  <a:pos x="18" y="23"/>
                </a:cxn>
                <a:cxn ang="0">
                  <a:pos x="27" y="24"/>
                </a:cxn>
                <a:cxn ang="0">
                  <a:pos x="32" y="22"/>
                </a:cxn>
                <a:cxn ang="0">
                  <a:pos x="26" y="0"/>
                </a:cxn>
                <a:cxn ang="0">
                  <a:pos x="16" y="6"/>
                </a:cxn>
                <a:cxn ang="0">
                  <a:pos x="11" y="6"/>
                </a:cxn>
              </a:cxnLst>
              <a:rect l="0" t="0" r="r" b="b"/>
              <a:pathLst>
                <a:path w="32" h="29">
                  <a:moveTo>
                    <a:pt x="11" y="6"/>
                  </a:moveTo>
                  <a:lnTo>
                    <a:pt x="5" y="18"/>
                  </a:lnTo>
                  <a:lnTo>
                    <a:pt x="0" y="29"/>
                  </a:lnTo>
                  <a:lnTo>
                    <a:pt x="2" y="29"/>
                  </a:lnTo>
                  <a:lnTo>
                    <a:pt x="3" y="29"/>
                  </a:lnTo>
                  <a:lnTo>
                    <a:pt x="16" y="29"/>
                  </a:lnTo>
                  <a:lnTo>
                    <a:pt x="18" y="23"/>
                  </a:lnTo>
                  <a:lnTo>
                    <a:pt x="27" y="24"/>
                  </a:lnTo>
                  <a:lnTo>
                    <a:pt x="32" y="22"/>
                  </a:lnTo>
                  <a:lnTo>
                    <a:pt x="26" y="0"/>
                  </a:lnTo>
                  <a:lnTo>
                    <a:pt x="16" y="6"/>
                  </a:lnTo>
                  <a:lnTo>
                    <a:pt x="1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7" name="Freeform 76"/>
            <p:cNvSpPr>
              <a:spLocks/>
            </p:cNvSpPr>
            <p:nvPr/>
          </p:nvSpPr>
          <p:spPr bwMode="auto">
            <a:xfrm>
              <a:off x="3827" y="2667"/>
              <a:ext cx="2" cy="3"/>
            </a:xfrm>
            <a:custGeom>
              <a:avLst/>
              <a:gdLst/>
              <a:ahLst/>
              <a:cxnLst>
                <a:cxn ang="0">
                  <a:pos x="2" y="1"/>
                </a:cxn>
                <a:cxn ang="0">
                  <a:pos x="0" y="1"/>
                </a:cxn>
                <a:cxn ang="0">
                  <a:pos x="2" y="0"/>
                </a:cxn>
                <a:cxn ang="0">
                  <a:pos x="2" y="1"/>
                </a:cxn>
              </a:cxnLst>
              <a:rect l="0" t="0" r="r" b="b"/>
              <a:pathLst>
                <a:path w="2" h="1">
                  <a:moveTo>
                    <a:pt x="2" y="1"/>
                  </a:moveTo>
                  <a:lnTo>
                    <a:pt x="0" y="1"/>
                  </a:lnTo>
                  <a:lnTo>
                    <a:pt x="2" y="0"/>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8" name="Freeform 77"/>
            <p:cNvSpPr>
              <a:spLocks/>
            </p:cNvSpPr>
            <p:nvPr/>
          </p:nvSpPr>
          <p:spPr bwMode="auto">
            <a:xfrm>
              <a:off x="3833" y="2712"/>
              <a:ext cx="2" cy="2"/>
            </a:xfrm>
            <a:custGeom>
              <a:avLst/>
              <a:gdLst/>
              <a:ahLst/>
              <a:cxnLst>
                <a:cxn ang="0">
                  <a:pos x="0" y="0"/>
                </a:cxn>
                <a:cxn ang="0">
                  <a:pos x="1" y="1"/>
                </a:cxn>
                <a:cxn ang="0">
                  <a:pos x="0" y="2"/>
                </a:cxn>
                <a:cxn ang="0">
                  <a:pos x="0" y="0"/>
                </a:cxn>
              </a:cxnLst>
              <a:rect l="0" t="0" r="r" b="b"/>
              <a:pathLst>
                <a:path w="1" h="2">
                  <a:moveTo>
                    <a:pt x="0" y="0"/>
                  </a:moveTo>
                  <a:lnTo>
                    <a:pt x="1" y="1"/>
                  </a:lnTo>
                  <a:lnTo>
                    <a:pt x="0" y="2"/>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9" name="Freeform 78"/>
            <p:cNvSpPr>
              <a:spLocks/>
            </p:cNvSpPr>
            <p:nvPr/>
          </p:nvSpPr>
          <p:spPr bwMode="auto">
            <a:xfrm>
              <a:off x="3829" y="2703"/>
              <a:ext cx="2" cy="2"/>
            </a:xfrm>
            <a:custGeom>
              <a:avLst/>
              <a:gdLst/>
              <a:ahLst/>
              <a:cxnLst>
                <a:cxn ang="0">
                  <a:pos x="1" y="0"/>
                </a:cxn>
                <a:cxn ang="0">
                  <a:pos x="1" y="1"/>
                </a:cxn>
                <a:cxn ang="0">
                  <a:pos x="0" y="0"/>
                </a:cxn>
                <a:cxn ang="0">
                  <a:pos x="1" y="0"/>
                </a:cxn>
              </a:cxnLst>
              <a:rect l="0" t="0" r="r" b="b"/>
              <a:pathLst>
                <a:path w="1" h="1">
                  <a:moveTo>
                    <a:pt x="1" y="0"/>
                  </a:moveTo>
                  <a:lnTo>
                    <a:pt x="1"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0" name="Freeform 79"/>
            <p:cNvSpPr>
              <a:spLocks/>
            </p:cNvSpPr>
            <p:nvPr/>
          </p:nvSpPr>
          <p:spPr bwMode="auto">
            <a:xfrm>
              <a:off x="3822" y="2719"/>
              <a:ext cx="2" cy="2"/>
            </a:xfrm>
            <a:custGeom>
              <a:avLst/>
              <a:gdLst/>
              <a:ahLst/>
              <a:cxnLst>
                <a:cxn ang="0">
                  <a:pos x="1" y="0"/>
                </a:cxn>
                <a:cxn ang="0">
                  <a:pos x="0" y="1"/>
                </a:cxn>
                <a:cxn ang="0">
                  <a:pos x="0" y="0"/>
                </a:cxn>
                <a:cxn ang="0">
                  <a:pos x="1" y="0"/>
                </a:cxn>
              </a:cxnLst>
              <a:rect l="0" t="0" r="r" b="b"/>
              <a:pathLst>
                <a:path w="1" h="1">
                  <a:moveTo>
                    <a:pt x="1" y="0"/>
                  </a:moveTo>
                  <a:lnTo>
                    <a:pt x="0"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1" name="Freeform 80"/>
            <p:cNvSpPr>
              <a:spLocks/>
            </p:cNvSpPr>
            <p:nvPr/>
          </p:nvSpPr>
          <p:spPr bwMode="auto">
            <a:xfrm>
              <a:off x="3822" y="2721"/>
              <a:ext cx="2" cy="2"/>
            </a:xfrm>
            <a:custGeom>
              <a:avLst/>
              <a:gdLst/>
              <a:ahLst/>
              <a:cxnLst>
                <a:cxn ang="0">
                  <a:pos x="1" y="2"/>
                </a:cxn>
                <a:cxn ang="0">
                  <a:pos x="1" y="0"/>
                </a:cxn>
                <a:cxn ang="0">
                  <a:pos x="0" y="2"/>
                </a:cxn>
                <a:cxn ang="0">
                  <a:pos x="1" y="2"/>
                </a:cxn>
              </a:cxnLst>
              <a:rect l="0" t="0" r="r" b="b"/>
              <a:pathLst>
                <a:path w="1" h="2">
                  <a:moveTo>
                    <a:pt x="1" y="2"/>
                  </a:moveTo>
                  <a:lnTo>
                    <a:pt x="1" y="0"/>
                  </a:lnTo>
                  <a:lnTo>
                    <a:pt x="0" y="2"/>
                  </a:lnTo>
                  <a:lnTo>
                    <a:pt x="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2" name="Freeform 81"/>
            <p:cNvSpPr>
              <a:spLocks/>
            </p:cNvSpPr>
            <p:nvPr/>
          </p:nvSpPr>
          <p:spPr bwMode="auto">
            <a:xfrm>
              <a:off x="3822" y="2592"/>
              <a:ext cx="2" cy="2"/>
            </a:xfrm>
            <a:custGeom>
              <a:avLst/>
              <a:gdLst/>
              <a:ahLst/>
              <a:cxnLst>
                <a:cxn ang="0">
                  <a:pos x="1" y="1"/>
                </a:cxn>
                <a:cxn ang="0">
                  <a:pos x="0" y="0"/>
                </a:cxn>
                <a:cxn ang="0">
                  <a:pos x="0" y="1"/>
                </a:cxn>
                <a:cxn ang="0">
                  <a:pos x="1" y="1"/>
                </a:cxn>
              </a:cxnLst>
              <a:rect l="0" t="0" r="r" b="b"/>
              <a:pathLst>
                <a:path w="1" h="1">
                  <a:moveTo>
                    <a:pt x="1" y="1"/>
                  </a:moveTo>
                  <a:lnTo>
                    <a:pt x="0" y="0"/>
                  </a:lnTo>
                  <a:lnTo>
                    <a:pt x="0" y="1"/>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3" name="Freeform 82"/>
            <p:cNvSpPr>
              <a:spLocks/>
            </p:cNvSpPr>
            <p:nvPr/>
          </p:nvSpPr>
          <p:spPr bwMode="auto">
            <a:xfrm>
              <a:off x="3827" y="2719"/>
              <a:ext cx="2" cy="2"/>
            </a:xfrm>
            <a:custGeom>
              <a:avLst/>
              <a:gdLst/>
              <a:ahLst/>
              <a:cxnLst>
                <a:cxn ang="0">
                  <a:pos x="0" y="1"/>
                </a:cxn>
                <a:cxn ang="0">
                  <a:pos x="0" y="0"/>
                </a:cxn>
                <a:cxn ang="0">
                  <a:pos x="0" y="1"/>
                </a:cxn>
              </a:cxnLst>
              <a:rect l="0" t="0" r="r" b="b"/>
              <a:pathLst>
                <a:path h="1">
                  <a:moveTo>
                    <a:pt x="0" y="1"/>
                  </a:moveTo>
                  <a:lnTo>
                    <a:pt x="0" y="0"/>
                  </a:lnTo>
                  <a:lnTo>
                    <a:pt x="0"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4" name="Freeform 83"/>
            <p:cNvSpPr>
              <a:spLocks/>
            </p:cNvSpPr>
            <p:nvPr/>
          </p:nvSpPr>
          <p:spPr bwMode="auto">
            <a:xfrm>
              <a:off x="3833" y="2663"/>
              <a:ext cx="2" cy="2"/>
            </a:xfrm>
            <a:custGeom>
              <a:avLst/>
              <a:gdLst/>
              <a:ahLst/>
              <a:cxnLst>
                <a:cxn ang="0">
                  <a:pos x="1" y="0"/>
                </a:cxn>
                <a:cxn ang="0">
                  <a:pos x="0" y="0"/>
                </a:cxn>
                <a:cxn ang="0">
                  <a:pos x="0" y="1"/>
                </a:cxn>
                <a:cxn ang="0">
                  <a:pos x="1" y="0"/>
                </a:cxn>
              </a:cxnLst>
              <a:rect l="0" t="0" r="r" b="b"/>
              <a:pathLst>
                <a:path w="1" h="1">
                  <a:moveTo>
                    <a:pt x="1" y="0"/>
                  </a:moveTo>
                  <a:lnTo>
                    <a:pt x="0" y="0"/>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5" name="Freeform 84"/>
            <p:cNvSpPr>
              <a:spLocks/>
            </p:cNvSpPr>
            <p:nvPr/>
          </p:nvSpPr>
          <p:spPr bwMode="auto">
            <a:xfrm>
              <a:off x="3820" y="2565"/>
              <a:ext cx="2" cy="2"/>
            </a:xfrm>
            <a:custGeom>
              <a:avLst/>
              <a:gdLst/>
              <a:ahLst/>
              <a:cxnLst>
                <a:cxn ang="0">
                  <a:pos x="1" y="0"/>
                </a:cxn>
                <a:cxn ang="0">
                  <a:pos x="0" y="0"/>
                </a:cxn>
                <a:cxn ang="0">
                  <a:pos x="0" y="2"/>
                </a:cxn>
                <a:cxn ang="0">
                  <a:pos x="1" y="0"/>
                </a:cxn>
              </a:cxnLst>
              <a:rect l="0" t="0" r="r" b="b"/>
              <a:pathLst>
                <a:path w="1" h="2">
                  <a:moveTo>
                    <a:pt x="1" y="0"/>
                  </a:moveTo>
                  <a:lnTo>
                    <a:pt x="0" y="0"/>
                  </a:lnTo>
                  <a:lnTo>
                    <a:pt x="0" y="2"/>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6" name="Freeform 85"/>
            <p:cNvSpPr>
              <a:spLocks/>
            </p:cNvSpPr>
            <p:nvPr/>
          </p:nvSpPr>
          <p:spPr bwMode="auto">
            <a:xfrm>
              <a:off x="3827" y="2670"/>
              <a:ext cx="2" cy="2"/>
            </a:xfrm>
            <a:custGeom>
              <a:avLst/>
              <a:gdLst/>
              <a:ahLst/>
              <a:cxnLst>
                <a:cxn ang="0">
                  <a:pos x="1" y="1"/>
                </a:cxn>
                <a:cxn ang="0">
                  <a:pos x="0" y="0"/>
                </a:cxn>
                <a:cxn ang="0">
                  <a:pos x="0" y="2"/>
                </a:cxn>
                <a:cxn ang="0">
                  <a:pos x="1" y="1"/>
                </a:cxn>
              </a:cxnLst>
              <a:rect l="0" t="0" r="r" b="b"/>
              <a:pathLst>
                <a:path w="1" h="2">
                  <a:moveTo>
                    <a:pt x="1" y="1"/>
                  </a:moveTo>
                  <a:lnTo>
                    <a:pt x="0" y="0"/>
                  </a:lnTo>
                  <a:lnTo>
                    <a:pt x="0" y="2"/>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7" name="Freeform 86"/>
            <p:cNvSpPr>
              <a:spLocks/>
            </p:cNvSpPr>
            <p:nvPr/>
          </p:nvSpPr>
          <p:spPr bwMode="auto">
            <a:xfrm>
              <a:off x="3829" y="2659"/>
              <a:ext cx="2" cy="2"/>
            </a:xfrm>
            <a:custGeom>
              <a:avLst/>
              <a:gdLst/>
              <a:ahLst/>
              <a:cxnLst>
                <a:cxn ang="0">
                  <a:pos x="1" y="0"/>
                </a:cxn>
                <a:cxn ang="0">
                  <a:pos x="0" y="0"/>
                </a:cxn>
                <a:cxn ang="0">
                  <a:pos x="0" y="1"/>
                </a:cxn>
                <a:cxn ang="0">
                  <a:pos x="1" y="0"/>
                </a:cxn>
              </a:cxnLst>
              <a:rect l="0" t="0" r="r" b="b"/>
              <a:pathLst>
                <a:path w="1" h="1">
                  <a:moveTo>
                    <a:pt x="1" y="0"/>
                  </a:moveTo>
                  <a:lnTo>
                    <a:pt x="0" y="0"/>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8" name="Freeform 87"/>
            <p:cNvSpPr>
              <a:spLocks/>
            </p:cNvSpPr>
            <p:nvPr/>
          </p:nvSpPr>
          <p:spPr bwMode="auto">
            <a:xfrm>
              <a:off x="3827" y="2592"/>
              <a:ext cx="2" cy="2"/>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9" name="Freeform 88"/>
            <p:cNvSpPr>
              <a:spLocks/>
            </p:cNvSpPr>
            <p:nvPr/>
          </p:nvSpPr>
          <p:spPr bwMode="auto">
            <a:xfrm>
              <a:off x="3818" y="2572"/>
              <a:ext cx="2" cy="2"/>
            </a:xfrm>
            <a:custGeom>
              <a:avLst/>
              <a:gdLst/>
              <a:ahLst/>
              <a:cxnLst>
                <a:cxn ang="0">
                  <a:pos x="2" y="0"/>
                </a:cxn>
                <a:cxn ang="0">
                  <a:pos x="1" y="0"/>
                </a:cxn>
                <a:cxn ang="0">
                  <a:pos x="0" y="0"/>
                </a:cxn>
                <a:cxn ang="0">
                  <a:pos x="2" y="0"/>
                </a:cxn>
              </a:cxnLst>
              <a:rect l="0" t="0" r="r" b="b"/>
              <a:pathLst>
                <a:path w="2">
                  <a:moveTo>
                    <a:pt x="2" y="0"/>
                  </a:moveTo>
                  <a:lnTo>
                    <a:pt x="1" y="0"/>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0" name="Freeform 89"/>
            <p:cNvSpPr>
              <a:spLocks/>
            </p:cNvSpPr>
            <p:nvPr/>
          </p:nvSpPr>
          <p:spPr bwMode="auto">
            <a:xfrm>
              <a:off x="3813" y="2650"/>
              <a:ext cx="2" cy="2"/>
            </a:xfrm>
            <a:custGeom>
              <a:avLst/>
              <a:gdLst/>
              <a:ahLst/>
              <a:cxnLst>
                <a:cxn ang="0">
                  <a:pos x="2" y="1"/>
                </a:cxn>
                <a:cxn ang="0">
                  <a:pos x="2" y="0"/>
                </a:cxn>
                <a:cxn ang="0">
                  <a:pos x="0" y="0"/>
                </a:cxn>
                <a:cxn ang="0">
                  <a:pos x="2" y="1"/>
                </a:cxn>
              </a:cxnLst>
              <a:rect l="0" t="0" r="r" b="b"/>
              <a:pathLst>
                <a:path w="2" h="1">
                  <a:moveTo>
                    <a:pt x="2" y="1"/>
                  </a:moveTo>
                  <a:lnTo>
                    <a:pt x="2" y="0"/>
                  </a:lnTo>
                  <a:lnTo>
                    <a:pt x="0" y="0"/>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1" name="Freeform 90"/>
            <p:cNvSpPr>
              <a:spLocks/>
            </p:cNvSpPr>
            <p:nvPr/>
          </p:nvSpPr>
          <p:spPr bwMode="auto">
            <a:xfrm>
              <a:off x="3815" y="2563"/>
              <a:ext cx="3" cy="2"/>
            </a:xfrm>
            <a:custGeom>
              <a:avLst/>
              <a:gdLst/>
              <a:ahLst/>
              <a:cxnLst>
                <a:cxn ang="0">
                  <a:pos x="1" y="1"/>
                </a:cxn>
                <a:cxn ang="0">
                  <a:pos x="1" y="0"/>
                </a:cxn>
                <a:cxn ang="0">
                  <a:pos x="0" y="0"/>
                </a:cxn>
                <a:cxn ang="0">
                  <a:pos x="1" y="1"/>
                </a:cxn>
              </a:cxnLst>
              <a:rect l="0" t="0" r="r" b="b"/>
              <a:pathLst>
                <a:path w="1" h="1">
                  <a:moveTo>
                    <a:pt x="1" y="1"/>
                  </a:moveTo>
                  <a:lnTo>
                    <a:pt x="1" y="0"/>
                  </a:ln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2" name="Freeform 91"/>
            <p:cNvSpPr>
              <a:spLocks/>
            </p:cNvSpPr>
            <p:nvPr/>
          </p:nvSpPr>
          <p:spPr bwMode="auto">
            <a:xfrm>
              <a:off x="3827" y="2645"/>
              <a:ext cx="2" cy="2"/>
            </a:xfrm>
            <a:custGeom>
              <a:avLst/>
              <a:gdLst/>
              <a:ahLst/>
              <a:cxnLst>
                <a:cxn ang="0">
                  <a:pos x="1" y="1"/>
                </a:cxn>
                <a:cxn ang="0">
                  <a:pos x="1" y="0"/>
                </a:cxn>
                <a:cxn ang="0">
                  <a:pos x="0" y="0"/>
                </a:cxn>
                <a:cxn ang="0">
                  <a:pos x="1" y="1"/>
                </a:cxn>
              </a:cxnLst>
              <a:rect l="0" t="0" r="r" b="b"/>
              <a:pathLst>
                <a:path w="1" h="1">
                  <a:moveTo>
                    <a:pt x="1" y="1"/>
                  </a:moveTo>
                  <a:lnTo>
                    <a:pt x="1" y="0"/>
                  </a:ln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3" name="Freeform 92"/>
            <p:cNvSpPr>
              <a:spLocks/>
            </p:cNvSpPr>
            <p:nvPr/>
          </p:nvSpPr>
          <p:spPr bwMode="auto">
            <a:xfrm>
              <a:off x="3829" y="2694"/>
              <a:ext cx="2" cy="2"/>
            </a:xfrm>
            <a:custGeom>
              <a:avLst/>
              <a:gdLst/>
              <a:ahLst/>
              <a:cxnLst>
                <a:cxn ang="0">
                  <a:pos x="1" y="0"/>
                </a:cxn>
                <a:cxn ang="0">
                  <a:pos x="1" y="1"/>
                </a:cxn>
                <a:cxn ang="0">
                  <a:pos x="0" y="1"/>
                </a:cxn>
                <a:cxn ang="0">
                  <a:pos x="1" y="0"/>
                </a:cxn>
              </a:cxnLst>
              <a:rect l="0" t="0" r="r" b="b"/>
              <a:pathLst>
                <a:path w="1" h="1">
                  <a:moveTo>
                    <a:pt x="1" y="0"/>
                  </a:moveTo>
                  <a:lnTo>
                    <a:pt x="1" y="1"/>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4" name="Freeform 93"/>
            <p:cNvSpPr>
              <a:spLocks/>
            </p:cNvSpPr>
            <p:nvPr/>
          </p:nvSpPr>
          <p:spPr bwMode="auto">
            <a:xfrm>
              <a:off x="3815" y="2567"/>
              <a:ext cx="3" cy="3"/>
            </a:xfrm>
            <a:custGeom>
              <a:avLst/>
              <a:gdLst/>
              <a:ahLst/>
              <a:cxnLst>
                <a:cxn ang="0">
                  <a:pos x="1" y="0"/>
                </a:cxn>
                <a:cxn ang="0">
                  <a:pos x="1" y="1"/>
                </a:cxn>
                <a:cxn ang="0">
                  <a:pos x="0" y="3"/>
                </a:cxn>
                <a:cxn ang="0">
                  <a:pos x="1" y="0"/>
                </a:cxn>
              </a:cxnLst>
              <a:rect l="0" t="0" r="r" b="b"/>
              <a:pathLst>
                <a:path w="1" h="3">
                  <a:moveTo>
                    <a:pt x="1" y="0"/>
                  </a:moveTo>
                  <a:lnTo>
                    <a:pt x="1" y="1"/>
                  </a:lnTo>
                  <a:lnTo>
                    <a:pt x="0" y="3"/>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5" name="Freeform 94"/>
            <p:cNvSpPr>
              <a:spLocks/>
            </p:cNvSpPr>
            <p:nvPr/>
          </p:nvSpPr>
          <p:spPr bwMode="auto">
            <a:xfrm>
              <a:off x="3827" y="2654"/>
              <a:ext cx="2" cy="2"/>
            </a:xfrm>
            <a:custGeom>
              <a:avLst/>
              <a:gdLst/>
              <a:ahLst/>
              <a:cxnLst>
                <a:cxn ang="0">
                  <a:pos x="2" y="0"/>
                </a:cxn>
                <a:cxn ang="0">
                  <a:pos x="2" y="2"/>
                </a:cxn>
                <a:cxn ang="0">
                  <a:pos x="0" y="0"/>
                </a:cxn>
                <a:cxn ang="0">
                  <a:pos x="2" y="0"/>
                </a:cxn>
              </a:cxnLst>
              <a:rect l="0" t="0" r="r" b="b"/>
              <a:pathLst>
                <a:path w="2" h="2">
                  <a:moveTo>
                    <a:pt x="2" y="0"/>
                  </a:moveTo>
                  <a:lnTo>
                    <a:pt x="2" y="2"/>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6" name="Freeform 95"/>
            <p:cNvSpPr>
              <a:spLocks/>
            </p:cNvSpPr>
            <p:nvPr/>
          </p:nvSpPr>
          <p:spPr bwMode="auto">
            <a:xfrm>
              <a:off x="3827" y="2614"/>
              <a:ext cx="2" cy="2"/>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7" name="Freeform 96"/>
            <p:cNvSpPr>
              <a:spLocks/>
            </p:cNvSpPr>
            <p:nvPr/>
          </p:nvSpPr>
          <p:spPr bwMode="auto">
            <a:xfrm>
              <a:off x="3342" y="2892"/>
              <a:ext cx="7" cy="2"/>
            </a:xfrm>
            <a:custGeom>
              <a:avLst/>
              <a:gdLst/>
              <a:ahLst/>
              <a:cxnLst>
                <a:cxn ang="0">
                  <a:pos x="6" y="0"/>
                </a:cxn>
                <a:cxn ang="0">
                  <a:pos x="4" y="0"/>
                </a:cxn>
                <a:cxn ang="0">
                  <a:pos x="0" y="1"/>
                </a:cxn>
                <a:cxn ang="0">
                  <a:pos x="6" y="0"/>
                </a:cxn>
              </a:cxnLst>
              <a:rect l="0" t="0" r="r" b="b"/>
              <a:pathLst>
                <a:path w="6" h="1">
                  <a:moveTo>
                    <a:pt x="6" y="0"/>
                  </a:moveTo>
                  <a:lnTo>
                    <a:pt x="4" y="0"/>
                  </a:lnTo>
                  <a:lnTo>
                    <a:pt x="0" y="1"/>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8" name="Freeform 97"/>
            <p:cNvSpPr>
              <a:spLocks/>
            </p:cNvSpPr>
            <p:nvPr/>
          </p:nvSpPr>
          <p:spPr bwMode="auto">
            <a:xfrm>
              <a:off x="3395" y="2183"/>
              <a:ext cx="3" cy="4"/>
            </a:xfrm>
            <a:custGeom>
              <a:avLst/>
              <a:gdLst/>
              <a:ahLst/>
              <a:cxnLst>
                <a:cxn ang="0">
                  <a:pos x="0" y="0"/>
                </a:cxn>
                <a:cxn ang="0">
                  <a:pos x="0" y="3"/>
                </a:cxn>
                <a:cxn ang="0">
                  <a:pos x="1" y="1"/>
                </a:cxn>
                <a:cxn ang="0">
                  <a:pos x="0" y="0"/>
                </a:cxn>
              </a:cxnLst>
              <a:rect l="0" t="0" r="r" b="b"/>
              <a:pathLst>
                <a:path w="1" h="3">
                  <a:moveTo>
                    <a:pt x="0" y="0"/>
                  </a:moveTo>
                  <a:lnTo>
                    <a:pt x="0" y="3"/>
                  </a:lnTo>
                  <a:lnTo>
                    <a:pt x="1"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9" name="Freeform 98"/>
            <p:cNvSpPr>
              <a:spLocks/>
            </p:cNvSpPr>
            <p:nvPr/>
          </p:nvSpPr>
          <p:spPr bwMode="auto">
            <a:xfrm>
              <a:off x="2769" y="2236"/>
              <a:ext cx="180" cy="318"/>
            </a:xfrm>
            <a:custGeom>
              <a:avLst/>
              <a:gdLst/>
              <a:ahLst/>
              <a:cxnLst>
                <a:cxn ang="0">
                  <a:pos x="160" y="72"/>
                </a:cxn>
                <a:cxn ang="0">
                  <a:pos x="145" y="63"/>
                </a:cxn>
                <a:cxn ang="0">
                  <a:pos x="129" y="54"/>
                </a:cxn>
                <a:cxn ang="0">
                  <a:pos x="112" y="45"/>
                </a:cxn>
                <a:cxn ang="0">
                  <a:pos x="97" y="36"/>
                </a:cxn>
                <a:cxn ang="0">
                  <a:pos x="81" y="27"/>
                </a:cxn>
                <a:cxn ang="0">
                  <a:pos x="66" y="18"/>
                </a:cxn>
                <a:cxn ang="0">
                  <a:pos x="50" y="9"/>
                </a:cxn>
                <a:cxn ang="0">
                  <a:pos x="34" y="0"/>
                </a:cxn>
                <a:cxn ang="0">
                  <a:pos x="19" y="9"/>
                </a:cxn>
                <a:cxn ang="0">
                  <a:pos x="20" y="22"/>
                </a:cxn>
                <a:cxn ang="0">
                  <a:pos x="22" y="36"/>
                </a:cxn>
                <a:cxn ang="0">
                  <a:pos x="36" y="56"/>
                </a:cxn>
                <a:cxn ang="0">
                  <a:pos x="32" y="64"/>
                </a:cxn>
                <a:cxn ang="0">
                  <a:pos x="31" y="78"/>
                </a:cxn>
                <a:cxn ang="0">
                  <a:pos x="30" y="91"/>
                </a:cxn>
                <a:cxn ang="0">
                  <a:pos x="30" y="105"/>
                </a:cxn>
                <a:cxn ang="0">
                  <a:pos x="28" y="118"/>
                </a:cxn>
                <a:cxn ang="0">
                  <a:pos x="21" y="129"/>
                </a:cxn>
                <a:cxn ang="0">
                  <a:pos x="14" y="140"/>
                </a:cxn>
                <a:cxn ang="0">
                  <a:pos x="7" y="151"/>
                </a:cxn>
                <a:cxn ang="0">
                  <a:pos x="0" y="162"/>
                </a:cxn>
                <a:cxn ang="0">
                  <a:pos x="1" y="176"/>
                </a:cxn>
                <a:cxn ang="0">
                  <a:pos x="8" y="187"/>
                </a:cxn>
                <a:cxn ang="0">
                  <a:pos x="14" y="187"/>
                </a:cxn>
                <a:cxn ang="0">
                  <a:pos x="21" y="205"/>
                </a:cxn>
                <a:cxn ang="0">
                  <a:pos x="24" y="225"/>
                </a:cxn>
                <a:cxn ang="0">
                  <a:pos x="34" y="243"/>
                </a:cxn>
                <a:cxn ang="0">
                  <a:pos x="15" y="243"/>
                </a:cxn>
                <a:cxn ang="0">
                  <a:pos x="8" y="247"/>
                </a:cxn>
                <a:cxn ang="0">
                  <a:pos x="21" y="264"/>
                </a:cxn>
                <a:cxn ang="0">
                  <a:pos x="31" y="286"/>
                </a:cxn>
                <a:cxn ang="0">
                  <a:pos x="46" y="282"/>
                </a:cxn>
                <a:cxn ang="0">
                  <a:pos x="49" y="284"/>
                </a:cxn>
                <a:cxn ang="0">
                  <a:pos x="58" y="283"/>
                </a:cxn>
                <a:cxn ang="0">
                  <a:pos x="80" y="278"/>
                </a:cxn>
                <a:cxn ang="0">
                  <a:pos x="87" y="268"/>
                </a:cxn>
                <a:cxn ang="0">
                  <a:pos x="85" y="264"/>
                </a:cxn>
                <a:cxn ang="0">
                  <a:pos x="108" y="259"/>
                </a:cxn>
                <a:cxn ang="0">
                  <a:pos x="120" y="244"/>
                </a:cxn>
                <a:cxn ang="0">
                  <a:pos x="132" y="230"/>
                </a:cxn>
                <a:cxn ang="0">
                  <a:pos x="147" y="226"/>
                </a:cxn>
                <a:cxn ang="0">
                  <a:pos x="146" y="216"/>
                </a:cxn>
                <a:cxn ang="0">
                  <a:pos x="142" y="206"/>
                </a:cxn>
                <a:cxn ang="0">
                  <a:pos x="136" y="193"/>
                </a:cxn>
                <a:cxn ang="0">
                  <a:pos x="130" y="192"/>
                </a:cxn>
                <a:cxn ang="0">
                  <a:pos x="135" y="178"/>
                </a:cxn>
                <a:cxn ang="0">
                  <a:pos x="138" y="170"/>
                </a:cxn>
                <a:cxn ang="0">
                  <a:pos x="139" y="165"/>
                </a:cxn>
                <a:cxn ang="0">
                  <a:pos x="139" y="159"/>
                </a:cxn>
                <a:cxn ang="0">
                  <a:pos x="147" y="145"/>
                </a:cxn>
                <a:cxn ang="0">
                  <a:pos x="152" y="140"/>
                </a:cxn>
                <a:cxn ang="0">
                  <a:pos x="163" y="140"/>
                </a:cxn>
                <a:cxn ang="0">
                  <a:pos x="162" y="123"/>
                </a:cxn>
                <a:cxn ang="0">
                  <a:pos x="162" y="106"/>
                </a:cxn>
                <a:cxn ang="0">
                  <a:pos x="160" y="88"/>
                </a:cxn>
                <a:cxn ang="0">
                  <a:pos x="160" y="72"/>
                </a:cxn>
              </a:cxnLst>
              <a:rect l="0" t="0" r="r" b="b"/>
              <a:pathLst>
                <a:path w="163" h="286">
                  <a:moveTo>
                    <a:pt x="160" y="72"/>
                  </a:moveTo>
                  <a:lnTo>
                    <a:pt x="145" y="63"/>
                  </a:lnTo>
                  <a:lnTo>
                    <a:pt x="129" y="54"/>
                  </a:lnTo>
                  <a:lnTo>
                    <a:pt x="112" y="45"/>
                  </a:lnTo>
                  <a:lnTo>
                    <a:pt x="97" y="36"/>
                  </a:lnTo>
                  <a:lnTo>
                    <a:pt x="81" y="27"/>
                  </a:lnTo>
                  <a:lnTo>
                    <a:pt x="66" y="18"/>
                  </a:lnTo>
                  <a:lnTo>
                    <a:pt x="50" y="9"/>
                  </a:lnTo>
                  <a:lnTo>
                    <a:pt x="34" y="0"/>
                  </a:lnTo>
                  <a:lnTo>
                    <a:pt x="19" y="9"/>
                  </a:lnTo>
                  <a:lnTo>
                    <a:pt x="20" y="22"/>
                  </a:lnTo>
                  <a:lnTo>
                    <a:pt x="22" y="36"/>
                  </a:lnTo>
                  <a:lnTo>
                    <a:pt x="36" y="56"/>
                  </a:lnTo>
                  <a:lnTo>
                    <a:pt x="32" y="64"/>
                  </a:lnTo>
                  <a:lnTo>
                    <a:pt x="31" y="78"/>
                  </a:lnTo>
                  <a:lnTo>
                    <a:pt x="30" y="91"/>
                  </a:lnTo>
                  <a:lnTo>
                    <a:pt x="30" y="105"/>
                  </a:lnTo>
                  <a:lnTo>
                    <a:pt x="28" y="118"/>
                  </a:lnTo>
                  <a:lnTo>
                    <a:pt x="21" y="129"/>
                  </a:lnTo>
                  <a:lnTo>
                    <a:pt x="14" y="140"/>
                  </a:lnTo>
                  <a:lnTo>
                    <a:pt x="7" y="151"/>
                  </a:lnTo>
                  <a:lnTo>
                    <a:pt x="0" y="162"/>
                  </a:lnTo>
                  <a:lnTo>
                    <a:pt x="1" y="176"/>
                  </a:lnTo>
                  <a:lnTo>
                    <a:pt x="8" y="187"/>
                  </a:lnTo>
                  <a:lnTo>
                    <a:pt x="14" y="187"/>
                  </a:lnTo>
                  <a:lnTo>
                    <a:pt x="21" y="205"/>
                  </a:lnTo>
                  <a:lnTo>
                    <a:pt x="24" y="225"/>
                  </a:lnTo>
                  <a:lnTo>
                    <a:pt x="34" y="243"/>
                  </a:lnTo>
                  <a:lnTo>
                    <a:pt x="15" y="243"/>
                  </a:lnTo>
                  <a:lnTo>
                    <a:pt x="8" y="247"/>
                  </a:lnTo>
                  <a:lnTo>
                    <a:pt x="21" y="264"/>
                  </a:lnTo>
                  <a:lnTo>
                    <a:pt x="31" y="286"/>
                  </a:lnTo>
                  <a:lnTo>
                    <a:pt x="46" y="282"/>
                  </a:lnTo>
                  <a:lnTo>
                    <a:pt x="49" y="284"/>
                  </a:lnTo>
                  <a:lnTo>
                    <a:pt x="58" y="283"/>
                  </a:lnTo>
                  <a:lnTo>
                    <a:pt x="80" y="278"/>
                  </a:lnTo>
                  <a:lnTo>
                    <a:pt x="87" y="268"/>
                  </a:lnTo>
                  <a:lnTo>
                    <a:pt x="85" y="264"/>
                  </a:lnTo>
                  <a:lnTo>
                    <a:pt x="108" y="259"/>
                  </a:lnTo>
                  <a:lnTo>
                    <a:pt x="120" y="244"/>
                  </a:lnTo>
                  <a:lnTo>
                    <a:pt x="132" y="230"/>
                  </a:lnTo>
                  <a:lnTo>
                    <a:pt x="147" y="226"/>
                  </a:lnTo>
                  <a:lnTo>
                    <a:pt x="146" y="216"/>
                  </a:lnTo>
                  <a:lnTo>
                    <a:pt x="142" y="206"/>
                  </a:lnTo>
                  <a:lnTo>
                    <a:pt x="136" y="193"/>
                  </a:lnTo>
                  <a:lnTo>
                    <a:pt x="130" y="192"/>
                  </a:lnTo>
                  <a:lnTo>
                    <a:pt x="135" y="178"/>
                  </a:lnTo>
                  <a:lnTo>
                    <a:pt x="138" y="170"/>
                  </a:lnTo>
                  <a:lnTo>
                    <a:pt x="139" y="165"/>
                  </a:lnTo>
                  <a:lnTo>
                    <a:pt x="139" y="159"/>
                  </a:lnTo>
                  <a:lnTo>
                    <a:pt x="147" y="145"/>
                  </a:lnTo>
                  <a:lnTo>
                    <a:pt x="152" y="140"/>
                  </a:lnTo>
                  <a:lnTo>
                    <a:pt x="163" y="140"/>
                  </a:lnTo>
                  <a:lnTo>
                    <a:pt x="162" y="123"/>
                  </a:lnTo>
                  <a:lnTo>
                    <a:pt x="162" y="106"/>
                  </a:lnTo>
                  <a:lnTo>
                    <a:pt x="160" y="88"/>
                  </a:lnTo>
                  <a:lnTo>
                    <a:pt x="160" y="7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0" name="Freeform 99"/>
            <p:cNvSpPr>
              <a:spLocks/>
            </p:cNvSpPr>
            <p:nvPr/>
          </p:nvSpPr>
          <p:spPr bwMode="auto">
            <a:xfrm>
              <a:off x="3264" y="2454"/>
              <a:ext cx="25" cy="31"/>
            </a:xfrm>
            <a:custGeom>
              <a:avLst/>
              <a:gdLst/>
              <a:ahLst/>
              <a:cxnLst>
                <a:cxn ang="0">
                  <a:pos x="0" y="28"/>
                </a:cxn>
                <a:cxn ang="0">
                  <a:pos x="18" y="28"/>
                </a:cxn>
                <a:cxn ang="0">
                  <a:pos x="22" y="20"/>
                </a:cxn>
                <a:cxn ang="0">
                  <a:pos x="16" y="0"/>
                </a:cxn>
                <a:cxn ang="0">
                  <a:pos x="10" y="2"/>
                </a:cxn>
                <a:cxn ang="0">
                  <a:pos x="0" y="28"/>
                </a:cxn>
              </a:cxnLst>
              <a:rect l="0" t="0" r="r" b="b"/>
              <a:pathLst>
                <a:path w="22" h="28">
                  <a:moveTo>
                    <a:pt x="0" y="28"/>
                  </a:moveTo>
                  <a:lnTo>
                    <a:pt x="18" y="28"/>
                  </a:lnTo>
                  <a:lnTo>
                    <a:pt x="22" y="20"/>
                  </a:lnTo>
                  <a:lnTo>
                    <a:pt x="16" y="0"/>
                  </a:lnTo>
                  <a:lnTo>
                    <a:pt x="10" y="2"/>
                  </a:lnTo>
                  <a:lnTo>
                    <a:pt x="0"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1" name="Freeform 100"/>
            <p:cNvSpPr>
              <a:spLocks/>
            </p:cNvSpPr>
            <p:nvPr/>
          </p:nvSpPr>
          <p:spPr bwMode="auto">
            <a:xfrm>
              <a:off x="3167" y="2347"/>
              <a:ext cx="115" cy="114"/>
            </a:xfrm>
            <a:custGeom>
              <a:avLst/>
              <a:gdLst/>
              <a:ahLst/>
              <a:cxnLst>
                <a:cxn ang="0">
                  <a:pos x="0" y="78"/>
                </a:cxn>
                <a:cxn ang="0">
                  <a:pos x="2" y="65"/>
                </a:cxn>
                <a:cxn ang="0">
                  <a:pos x="4" y="40"/>
                </a:cxn>
                <a:cxn ang="0">
                  <a:pos x="10" y="17"/>
                </a:cxn>
                <a:cxn ang="0">
                  <a:pos x="20" y="10"/>
                </a:cxn>
                <a:cxn ang="0">
                  <a:pos x="29" y="3"/>
                </a:cxn>
                <a:cxn ang="0">
                  <a:pos x="32" y="0"/>
                </a:cxn>
                <a:cxn ang="0">
                  <a:pos x="36" y="12"/>
                </a:cxn>
                <a:cxn ang="0">
                  <a:pos x="41" y="25"/>
                </a:cxn>
                <a:cxn ang="0">
                  <a:pos x="46" y="39"/>
                </a:cxn>
                <a:cxn ang="0">
                  <a:pos x="52" y="52"/>
                </a:cxn>
                <a:cxn ang="0">
                  <a:pos x="52" y="47"/>
                </a:cxn>
                <a:cxn ang="0">
                  <a:pos x="57" y="49"/>
                </a:cxn>
                <a:cxn ang="0">
                  <a:pos x="70" y="59"/>
                </a:cxn>
                <a:cxn ang="0">
                  <a:pos x="87" y="76"/>
                </a:cxn>
                <a:cxn ang="0">
                  <a:pos x="104" y="93"/>
                </a:cxn>
                <a:cxn ang="0">
                  <a:pos x="105" y="96"/>
                </a:cxn>
                <a:cxn ang="0">
                  <a:pos x="104" y="97"/>
                </a:cxn>
                <a:cxn ang="0">
                  <a:pos x="98" y="99"/>
                </a:cxn>
                <a:cxn ang="0">
                  <a:pos x="90" y="102"/>
                </a:cxn>
                <a:cxn ang="0">
                  <a:pos x="89" y="99"/>
                </a:cxn>
                <a:cxn ang="0">
                  <a:pos x="75" y="94"/>
                </a:cxn>
                <a:cxn ang="0">
                  <a:pos x="65" y="83"/>
                </a:cxn>
                <a:cxn ang="0">
                  <a:pos x="60" y="77"/>
                </a:cxn>
                <a:cxn ang="0">
                  <a:pos x="51" y="72"/>
                </a:cxn>
                <a:cxn ang="0">
                  <a:pos x="42" y="70"/>
                </a:cxn>
                <a:cxn ang="0">
                  <a:pos x="33" y="71"/>
                </a:cxn>
                <a:cxn ang="0">
                  <a:pos x="24" y="63"/>
                </a:cxn>
                <a:cxn ang="0">
                  <a:pos x="22" y="77"/>
                </a:cxn>
                <a:cxn ang="0">
                  <a:pos x="15" y="71"/>
                </a:cxn>
                <a:cxn ang="0">
                  <a:pos x="8" y="79"/>
                </a:cxn>
                <a:cxn ang="0">
                  <a:pos x="0" y="78"/>
                </a:cxn>
              </a:cxnLst>
              <a:rect l="0" t="0" r="r" b="b"/>
              <a:pathLst>
                <a:path w="105" h="102">
                  <a:moveTo>
                    <a:pt x="0" y="78"/>
                  </a:moveTo>
                  <a:lnTo>
                    <a:pt x="2" y="65"/>
                  </a:lnTo>
                  <a:lnTo>
                    <a:pt x="4" y="40"/>
                  </a:lnTo>
                  <a:lnTo>
                    <a:pt x="10" y="17"/>
                  </a:lnTo>
                  <a:lnTo>
                    <a:pt x="20" y="10"/>
                  </a:lnTo>
                  <a:lnTo>
                    <a:pt x="29" y="3"/>
                  </a:lnTo>
                  <a:lnTo>
                    <a:pt x="32" y="0"/>
                  </a:lnTo>
                  <a:lnTo>
                    <a:pt x="36" y="12"/>
                  </a:lnTo>
                  <a:lnTo>
                    <a:pt x="41" y="25"/>
                  </a:lnTo>
                  <a:lnTo>
                    <a:pt x="46" y="39"/>
                  </a:lnTo>
                  <a:lnTo>
                    <a:pt x="52" y="52"/>
                  </a:lnTo>
                  <a:lnTo>
                    <a:pt x="52" y="47"/>
                  </a:lnTo>
                  <a:lnTo>
                    <a:pt x="57" y="49"/>
                  </a:lnTo>
                  <a:lnTo>
                    <a:pt x="70" y="59"/>
                  </a:lnTo>
                  <a:lnTo>
                    <a:pt x="87" y="76"/>
                  </a:lnTo>
                  <a:lnTo>
                    <a:pt x="104" y="93"/>
                  </a:lnTo>
                  <a:lnTo>
                    <a:pt x="105" y="96"/>
                  </a:lnTo>
                  <a:lnTo>
                    <a:pt x="104" y="97"/>
                  </a:lnTo>
                  <a:lnTo>
                    <a:pt x="98" y="99"/>
                  </a:lnTo>
                  <a:lnTo>
                    <a:pt x="90" y="102"/>
                  </a:lnTo>
                  <a:lnTo>
                    <a:pt x="89" y="99"/>
                  </a:lnTo>
                  <a:lnTo>
                    <a:pt x="75" y="94"/>
                  </a:lnTo>
                  <a:lnTo>
                    <a:pt x="65" y="83"/>
                  </a:lnTo>
                  <a:lnTo>
                    <a:pt x="60" y="77"/>
                  </a:lnTo>
                  <a:lnTo>
                    <a:pt x="51" y="72"/>
                  </a:lnTo>
                  <a:lnTo>
                    <a:pt x="42" y="70"/>
                  </a:lnTo>
                  <a:lnTo>
                    <a:pt x="33" y="71"/>
                  </a:lnTo>
                  <a:lnTo>
                    <a:pt x="24" y="63"/>
                  </a:lnTo>
                  <a:lnTo>
                    <a:pt x="22" y="77"/>
                  </a:lnTo>
                  <a:lnTo>
                    <a:pt x="15" y="71"/>
                  </a:lnTo>
                  <a:lnTo>
                    <a:pt x="8" y="79"/>
                  </a:lnTo>
                  <a:lnTo>
                    <a:pt x="0" y="7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2" name="Freeform 101"/>
            <p:cNvSpPr>
              <a:spLocks/>
            </p:cNvSpPr>
            <p:nvPr/>
          </p:nvSpPr>
          <p:spPr bwMode="auto">
            <a:xfrm>
              <a:off x="3111" y="2416"/>
              <a:ext cx="262" cy="220"/>
            </a:xfrm>
            <a:custGeom>
              <a:avLst/>
              <a:gdLst/>
              <a:ahLst/>
              <a:cxnLst>
                <a:cxn ang="0">
                  <a:pos x="80" y="193"/>
                </a:cxn>
                <a:cxn ang="0">
                  <a:pos x="61" y="180"/>
                </a:cxn>
                <a:cxn ang="0">
                  <a:pos x="48" y="177"/>
                </a:cxn>
                <a:cxn ang="0">
                  <a:pos x="43" y="163"/>
                </a:cxn>
                <a:cxn ang="0">
                  <a:pos x="34" y="159"/>
                </a:cxn>
                <a:cxn ang="0">
                  <a:pos x="28" y="147"/>
                </a:cxn>
                <a:cxn ang="0">
                  <a:pos x="22" y="135"/>
                </a:cxn>
                <a:cxn ang="0">
                  <a:pos x="6" y="121"/>
                </a:cxn>
                <a:cxn ang="0">
                  <a:pos x="0" y="116"/>
                </a:cxn>
                <a:cxn ang="0">
                  <a:pos x="6" y="109"/>
                </a:cxn>
                <a:cxn ang="0">
                  <a:pos x="18" y="106"/>
                </a:cxn>
                <a:cxn ang="0">
                  <a:pos x="19" y="86"/>
                </a:cxn>
                <a:cxn ang="0">
                  <a:pos x="22" y="67"/>
                </a:cxn>
                <a:cxn ang="0">
                  <a:pos x="30" y="64"/>
                </a:cxn>
                <a:cxn ang="0">
                  <a:pos x="34" y="45"/>
                </a:cxn>
                <a:cxn ang="0">
                  <a:pos x="50" y="15"/>
                </a:cxn>
                <a:cxn ang="0">
                  <a:pos x="58" y="16"/>
                </a:cxn>
                <a:cxn ang="0">
                  <a:pos x="65" y="8"/>
                </a:cxn>
                <a:cxn ang="0">
                  <a:pos x="72" y="14"/>
                </a:cxn>
                <a:cxn ang="0">
                  <a:pos x="74" y="0"/>
                </a:cxn>
                <a:cxn ang="0">
                  <a:pos x="83" y="8"/>
                </a:cxn>
                <a:cxn ang="0">
                  <a:pos x="92" y="7"/>
                </a:cxn>
                <a:cxn ang="0">
                  <a:pos x="101" y="9"/>
                </a:cxn>
                <a:cxn ang="0">
                  <a:pos x="110" y="14"/>
                </a:cxn>
                <a:cxn ang="0">
                  <a:pos x="115" y="20"/>
                </a:cxn>
                <a:cxn ang="0">
                  <a:pos x="125" y="31"/>
                </a:cxn>
                <a:cxn ang="0">
                  <a:pos x="139" y="36"/>
                </a:cxn>
                <a:cxn ang="0">
                  <a:pos x="140" y="39"/>
                </a:cxn>
                <a:cxn ang="0">
                  <a:pos x="148" y="36"/>
                </a:cxn>
                <a:cxn ang="0">
                  <a:pos x="138" y="62"/>
                </a:cxn>
                <a:cxn ang="0">
                  <a:pos x="156" y="62"/>
                </a:cxn>
                <a:cxn ang="0">
                  <a:pos x="154" y="73"/>
                </a:cxn>
                <a:cxn ang="0">
                  <a:pos x="163" y="85"/>
                </a:cxn>
                <a:cxn ang="0">
                  <a:pos x="174" y="98"/>
                </a:cxn>
                <a:cxn ang="0">
                  <a:pos x="186" y="103"/>
                </a:cxn>
                <a:cxn ang="0">
                  <a:pos x="198" y="108"/>
                </a:cxn>
                <a:cxn ang="0">
                  <a:pos x="210" y="112"/>
                </a:cxn>
                <a:cxn ang="0">
                  <a:pos x="221" y="116"/>
                </a:cxn>
                <a:cxn ang="0">
                  <a:pos x="236" y="116"/>
                </a:cxn>
                <a:cxn ang="0">
                  <a:pos x="226" y="130"/>
                </a:cxn>
                <a:cxn ang="0">
                  <a:pos x="214" y="144"/>
                </a:cxn>
                <a:cxn ang="0">
                  <a:pos x="202" y="158"/>
                </a:cxn>
                <a:cxn ang="0">
                  <a:pos x="191" y="172"/>
                </a:cxn>
                <a:cxn ang="0">
                  <a:pos x="178" y="174"/>
                </a:cxn>
                <a:cxn ang="0">
                  <a:pos x="166" y="175"/>
                </a:cxn>
                <a:cxn ang="0">
                  <a:pos x="150" y="184"/>
                </a:cxn>
                <a:cxn ang="0">
                  <a:pos x="143" y="189"/>
                </a:cxn>
                <a:cxn ang="0">
                  <a:pos x="126" y="186"/>
                </a:cxn>
                <a:cxn ang="0">
                  <a:pos x="110" y="190"/>
                </a:cxn>
                <a:cxn ang="0">
                  <a:pos x="102" y="198"/>
                </a:cxn>
                <a:cxn ang="0">
                  <a:pos x="80" y="193"/>
                </a:cxn>
              </a:cxnLst>
              <a:rect l="0" t="0" r="r" b="b"/>
              <a:pathLst>
                <a:path w="236" h="198">
                  <a:moveTo>
                    <a:pt x="80" y="193"/>
                  </a:moveTo>
                  <a:lnTo>
                    <a:pt x="61" y="180"/>
                  </a:lnTo>
                  <a:lnTo>
                    <a:pt x="48" y="177"/>
                  </a:lnTo>
                  <a:lnTo>
                    <a:pt x="43" y="163"/>
                  </a:lnTo>
                  <a:lnTo>
                    <a:pt x="34" y="159"/>
                  </a:lnTo>
                  <a:lnTo>
                    <a:pt x="28" y="147"/>
                  </a:lnTo>
                  <a:lnTo>
                    <a:pt x="22" y="135"/>
                  </a:lnTo>
                  <a:lnTo>
                    <a:pt x="6" y="121"/>
                  </a:lnTo>
                  <a:lnTo>
                    <a:pt x="0" y="116"/>
                  </a:lnTo>
                  <a:lnTo>
                    <a:pt x="6" y="109"/>
                  </a:lnTo>
                  <a:lnTo>
                    <a:pt x="18" y="106"/>
                  </a:lnTo>
                  <a:lnTo>
                    <a:pt x="19" y="86"/>
                  </a:lnTo>
                  <a:lnTo>
                    <a:pt x="22" y="67"/>
                  </a:lnTo>
                  <a:lnTo>
                    <a:pt x="30" y="64"/>
                  </a:lnTo>
                  <a:lnTo>
                    <a:pt x="34" y="45"/>
                  </a:lnTo>
                  <a:lnTo>
                    <a:pt x="50" y="15"/>
                  </a:lnTo>
                  <a:lnTo>
                    <a:pt x="58" y="16"/>
                  </a:lnTo>
                  <a:lnTo>
                    <a:pt x="65" y="8"/>
                  </a:lnTo>
                  <a:lnTo>
                    <a:pt x="72" y="14"/>
                  </a:lnTo>
                  <a:lnTo>
                    <a:pt x="74" y="0"/>
                  </a:lnTo>
                  <a:lnTo>
                    <a:pt x="83" y="8"/>
                  </a:lnTo>
                  <a:lnTo>
                    <a:pt x="92" y="7"/>
                  </a:lnTo>
                  <a:lnTo>
                    <a:pt x="101" y="9"/>
                  </a:lnTo>
                  <a:lnTo>
                    <a:pt x="110" y="14"/>
                  </a:lnTo>
                  <a:lnTo>
                    <a:pt x="115" y="20"/>
                  </a:lnTo>
                  <a:lnTo>
                    <a:pt x="125" y="31"/>
                  </a:lnTo>
                  <a:lnTo>
                    <a:pt x="139" y="36"/>
                  </a:lnTo>
                  <a:lnTo>
                    <a:pt x="140" y="39"/>
                  </a:lnTo>
                  <a:lnTo>
                    <a:pt x="148" y="36"/>
                  </a:lnTo>
                  <a:lnTo>
                    <a:pt x="138" y="62"/>
                  </a:lnTo>
                  <a:lnTo>
                    <a:pt x="156" y="62"/>
                  </a:lnTo>
                  <a:lnTo>
                    <a:pt x="154" y="73"/>
                  </a:lnTo>
                  <a:lnTo>
                    <a:pt x="163" y="85"/>
                  </a:lnTo>
                  <a:lnTo>
                    <a:pt x="174" y="98"/>
                  </a:lnTo>
                  <a:lnTo>
                    <a:pt x="186" y="103"/>
                  </a:lnTo>
                  <a:lnTo>
                    <a:pt x="198" y="108"/>
                  </a:lnTo>
                  <a:lnTo>
                    <a:pt x="210" y="112"/>
                  </a:lnTo>
                  <a:lnTo>
                    <a:pt x="221" y="116"/>
                  </a:lnTo>
                  <a:lnTo>
                    <a:pt x="236" y="116"/>
                  </a:lnTo>
                  <a:lnTo>
                    <a:pt x="226" y="130"/>
                  </a:lnTo>
                  <a:lnTo>
                    <a:pt x="214" y="144"/>
                  </a:lnTo>
                  <a:lnTo>
                    <a:pt x="202" y="158"/>
                  </a:lnTo>
                  <a:lnTo>
                    <a:pt x="191" y="172"/>
                  </a:lnTo>
                  <a:lnTo>
                    <a:pt x="178" y="174"/>
                  </a:lnTo>
                  <a:lnTo>
                    <a:pt x="166" y="175"/>
                  </a:lnTo>
                  <a:lnTo>
                    <a:pt x="150" y="184"/>
                  </a:lnTo>
                  <a:lnTo>
                    <a:pt x="143" y="189"/>
                  </a:lnTo>
                  <a:lnTo>
                    <a:pt x="126" y="186"/>
                  </a:lnTo>
                  <a:lnTo>
                    <a:pt x="110" y="190"/>
                  </a:lnTo>
                  <a:lnTo>
                    <a:pt x="102" y="198"/>
                  </a:lnTo>
                  <a:lnTo>
                    <a:pt x="80" y="1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3" name="Freeform 102"/>
            <p:cNvSpPr>
              <a:spLocks/>
            </p:cNvSpPr>
            <p:nvPr/>
          </p:nvSpPr>
          <p:spPr bwMode="auto">
            <a:xfrm>
              <a:off x="3253" y="2467"/>
              <a:ext cx="176" cy="272"/>
            </a:xfrm>
            <a:custGeom>
              <a:avLst/>
              <a:gdLst/>
              <a:ahLst/>
              <a:cxnLst>
                <a:cxn ang="0">
                  <a:pos x="154" y="34"/>
                </a:cxn>
                <a:cxn ang="0">
                  <a:pos x="149" y="54"/>
                </a:cxn>
                <a:cxn ang="0">
                  <a:pos x="138" y="76"/>
                </a:cxn>
                <a:cxn ang="0">
                  <a:pos x="128" y="96"/>
                </a:cxn>
                <a:cxn ang="0">
                  <a:pos x="117" y="118"/>
                </a:cxn>
                <a:cxn ang="0">
                  <a:pos x="106" y="139"/>
                </a:cxn>
                <a:cxn ang="0">
                  <a:pos x="96" y="150"/>
                </a:cxn>
                <a:cxn ang="0">
                  <a:pos x="87" y="160"/>
                </a:cxn>
                <a:cxn ang="0">
                  <a:pos x="77" y="169"/>
                </a:cxn>
                <a:cxn ang="0">
                  <a:pos x="69" y="179"/>
                </a:cxn>
                <a:cxn ang="0">
                  <a:pos x="57" y="190"/>
                </a:cxn>
                <a:cxn ang="0">
                  <a:pos x="46" y="201"/>
                </a:cxn>
                <a:cxn ang="0">
                  <a:pos x="35" y="211"/>
                </a:cxn>
                <a:cxn ang="0">
                  <a:pos x="24" y="222"/>
                </a:cxn>
                <a:cxn ang="0">
                  <a:pos x="16" y="234"/>
                </a:cxn>
                <a:cxn ang="0">
                  <a:pos x="9" y="245"/>
                </a:cxn>
                <a:cxn ang="0">
                  <a:pos x="0" y="231"/>
                </a:cxn>
                <a:cxn ang="0">
                  <a:pos x="0" y="214"/>
                </a:cxn>
                <a:cxn ang="0">
                  <a:pos x="0" y="197"/>
                </a:cxn>
                <a:cxn ang="0">
                  <a:pos x="0" y="180"/>
                </a:cxn>
                <a:cxn ang="0">
                  <a:pos x="0" y="165"/>
                </a:cxn>
                <a:cxn ang="0">
                  <a:pos x="8" y="154"/>
                </a:cxn>
                <a:cxn ang="0">
                  <a:pos x="15" y="144"/>
                </a:cxn>
                <a:cxn ang="0">
                  <a:pos x="22" y="139"/>
                </a:cxn>
                <a:cxn ang="0">
                  <a:pos x="38" y="130"/>
                </a:cxn>
                <a:cxn ang="0">
                  <a:pos x="50" y="129"/>
                </a:cxn>
                <a:cxn ang="0">
                  <a:pos x="63" y="127"/>
                </a:cxn>
                <a:cxn ang="0">
                  <a:pos x="74" y="113"/>
                </a:cxn>
                <a:cxn ang="0">
                  <a:pos x="86" y="99"/>
                </a:cxn>
                <a:cxn ang="0">
                  <a:pos x="98" y="85"/>
                </a:cxn>
                <a:cxn ang="0">
                  <a:pos x="108" y="71"/>
                </a:cxn>
                <a:cxn ang="0">
                  <a:pos x="93" y="71"/>
                </a:cxn>
                <a:cxn ang="0">
                  <a:pos x="82" y="67"/>
                </a:cxn>
                <a:cxn ang="0">
                  <a:pos x="70" y="63"/>
                </a:cxn>
                <a:cxn ang="0">
                  <a:pos x="58" y="58"/>
                </a:cxn>
                <a:cxn ang="0">
                  <a:pos x="46" y="53"/>
                </a:cxn>
                <a:cxn ang="0">
                  <a:pos x="35" y="40"/>
                </a:cxn>
                <a:cxn ang="0">
                  <a:pos x="26" y="28"/>
                </a:cxn>
                <a:cxn ang="0">
                  <a:pos x="28" y="17"/>
                </a:cxn>
                <a:cxn ang="0">
                  <a:pos x="32" y="9"/>
                </a:cxn>
                <a:cxn ang="0">
                  <a:pos x="42" y="18"/>
                </a:cxn>
                <a:cxn ang="0">
                  <a:pos x="52" y="28"/>
                </a:cxn>
                <a:cxn ang="0">
                  <a:pos x="71" y="21"/>
                </a:cxn>
                <a:cxn ang="0">
                  <a:pos x="87" y="22"/>
                </a:cxn>
                <a:cxn ang="0">
                  <a:pos x="101" y="15"/>
                </a:cxn>
                <a:cxn ang="0">
                  <a:pos x="123" y="10"/>
                </a:cxn>
                <a:cxn ang="0">
                  <a:pos x="146" y="5"/>
                </a:cxn>
                <a:cxn ang="0">
                  <a:pos x="153" y="0"/>
                </a:cxn>
                <a:cxn ang="0">
                  <a:pos x="158" y="5"/>
                </a:cxn>
                <a:cxn ang="0">
                  <a:pos x="156" y="28"/>
                </a:cxn>
                <a:cxn ang="0">
                  <a:pos x="159" y="28"/>
                </a:cxn>
                <a:cxn ang="0">
                  <a:pos x="154" y="34"/>
                </a:cxn>
              </a:cxnLst>
              <a:rect l="0" t="0" r="r" b="b"/>
              <a:pathLst>
                <a:path w="159" h="245">
                  <a:moveTo>
                    <a:pt x="154" y="34"/>
                  </a:moveTo>
                  <a:lnTo>
                    <a:pt x="149" y="54"/>
                  </a:lnTo>
                  <a:lnTo>
                    <a:pt x="138" y="76"/>
                  </a:lnTo>
                  <a:lnTo>
                    <a:pt x="128" y="96"/>
                  </a:lnTo>
                  <a:lnTo>
                    <a:pt x="117" y="118"/>
                  </a:lnTo>
                  <a:lnTo>
                    <a:pt x="106" y="139"/>
                  </a:lnTo>
                  <a:lnTo>
                    <a:pt x="96" y="150"/>
                  </a:lnTo>
                  <a:lnTo>
                    <a:pt x="87" y="160"/>
                  </a:lnTo>
                  <a:lnTo>
                    <a:pt x="77" y="169"/>
                  </a:lnTo>
                  <a:lnTo>
                    <a:pt x="69" y="179"/>
                  </a:lnTo>
                  <a:lnTo>
                    <a:pt x="57" y="190"/>
                  </a:lnTo>
                  <a:lnTo>
                    <a:pt x="46" y="201"/>
                  </a:lnTo>
                  <a:lnTo>
                    <a:pt x="35" y="211"/>
                  </a:lnTo>
                  <a:lnTo>
                    <a:pt x="24" y="222"/>
                  </a:lnTo>
                  <a:lnTo>
                    <a:pt x="16" y="234"/>
                  </a:lnTo>
                  <a:lnTo>
                    <a:pt x="9" y="245"/>
                  </a:lnTo>
                  <a:lnTo>
                    <a:pt x="0" y="231"/>
                  </a:lnTo>
                  <a:lnTo>
                    <a:pt x="0" y="214"/>
                  </a:lnTo>
                  <a:lnTo>
                    <a:pt x="0" y="197"/>
                  </a:lnTo>
                  <a:lnTo>
                    <a:pt x="0" y="180"/>
                  </a:lnTo>
                  <a:lnTo>
                    <a:pt x="0" y="165"/>
                  </a:lnTo>
                  <a:lnTo>
                    <a:pt x="8" y="154"/>
                  </a:lnTo>
                  <a:lnTo>
                    <a:pt x="15" y="144"/>
                  </a:lnTo>
                  <a:lnTo>
                    <a:pt x="22" y="139"/>
                  </a:lnTo>
                  <a:lnTo>
                    <a:pt x="38" y="130"/>
                  </a:lnTo>
                  <a:lnTo>
                    <a:pt x="50" y="129"/>
                  </a:lnTo>
                  <a:lnTo>
                    <a:pt x="63" y="127"/>
                  </a:lnTo>
                  <a:lnTo>
                    <a:pt x="74" y="113"/>
                  </a:lnTo>
                  <a:lnTo>
                    <a:pt x="86" y="99"/>
                  </a:lnTo>
                  <a:lnTo>
                    <a:pt x="98" y="85"/>
                  </a:lnTo>
                  <a:lnTo>
                    <a:pt x="108" y="71"/>
                  </a:lnTo>
                  <a:lnTo>
                    <a:pt x="93" y="71"/>
                  </a:lnTo>
                  <a:lnTo>
                    <a:pt x="82" y="67"/>
                  </a:lnTo>
                  <a:lnTo>
                    <a:pt x="70" y="63"/>
                  </a:lnTo>
                  <a:lnTo>
                    <a:pt x="58" y="58"/>
                  </a:lnTo>
                  <a:lnTo>
                    <a:pt x="46" y="53"/>
                  </a:lnTo>
                  <a:lnTo>
                    <a:pt x="35" y="40"/>
                  </a:lnTo>
                  <a:lnTo>
                    <a:pt x="26" y="28"/>
                  </a:lnTo>
                  <a:lnTo>
                    <a:pt x="28" y="17"/>
                  </a:lnTo>
                  <a:lnTo>
                    <a:pt x="32" y="9"/>
                  </a:lnTo>
                  <a:lnTo>
                    <a:pt x="42" y="18"/>
                  </a:lnTo>
                  <a:lnTo>
                    <a:pt x="52" y="28"/>
                  </a:lnTo>
                  <a:lnTo>
                    <a:pt x="71" y="21"/>
                  </a:lnTo>
                  <a:lnTo>
                    <a:pt x="87" y="22"/>
                  </a:lnTo>
                  <a:lnTo>
                    <a:pt x="101" y="15"/>
                  </a:lnTo>
                  <a:lnTo>
                    <a:pt x="123" y="10"/>
                  </a:lnTo>
                  <a:lnTo>
                    <a:pt x="146" y="5"/>
                  </a:lnTo>
                  <a:lnTo>
                    <a:pt x="153" y="0"/>
                  </a:lnTo>
                  <a:lnTo>
                    <a:pt x="158" y="5"/>
                  </a:lnTo>
                  <a:lnTo>
                    <a:pt x="156" y="28"/>
                  </a:lnTo>
                  <a:lnTo>
                    <a:pt x="159" y="28"/>
                  </a:lnTo>
                  <a:lnTo>
                    <a:pt x="154"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4" name="Freeform 103"/>
            <p:cNvSpPr>
              <a:spLocks/>
            </p:cNvSpPr>
            <p:nvPr/>
          </p:nvSpPr>
          <p:spPr bwMode="auto">
            <a:xfrm>
              <a:off x="2913" y="2243"/>
              <a:ext cx="287" cy="393"/>
            </a:xfrm>
            <a:custGeom>
              <a:avLst/>
              <a:gdLst/>
              <a:ahLst/>
              <a:cxnLst>
                <a:cxn ang="0">
                  <a:pos x="30" y="56"/>
                </a:cxn>
                <a:cxn ang="0">
                  <a:pos x="45" y="38"/>
                </a:cxn>
                <a:cxn ang="0">
                  <a:pos x="57" y="20"/>
                </a:cxn>
                <a:cxn ang="0">
                  <a:pos x="81" y="20"/>
                </a:cxn>
                <a:cxn ang="0">
                  <a:pos x="105" y="20"/>
                </a:cxn>
                <a:cxn ang="0">
                  <a:pos x="130" y="20"/>
                </a:cxn>
                <a:cxn ang="0">
                  <a:pos x="143" y="15"/>
                </a:cxn>
                <a:cxn ang="0">
                  <a:pos x="164" y="23"/>
                </a:cxn>
                <a:cxn ang="0">
                  <a:pos x="186" y="17"/>
                </a:cxn>
                <a:cxn ang="0">
                  <a:pos x="198" y="5"/>
                </a:cxn>
                <a:cxn ang="0">
                  <a:pos x="208" y="0"/>
                </a:cxn>
                <a:cxn ang="0">
                  <a:pos x="228" y="23"/>
                </a:cxn>
                <a:cxn ang="0">
                  <a:pos x="238" y="57"/>
                </a:cxn>
                <a:cxn ang="0">
                  <a:pos x="257" y="95"/>
                </a:cxn>
                <a:cxn ang="0">
                  <a:pos x="238" y="109"/>
                </a:cxn>
                <a:cxn ang="0">
                  <a:pos x="230" y="157"/>
                </a:cxn>
                <a:cxn ang="0">
                  <a:pos x="212" y="200"/>
                </a:cxn>
                <a:cxn ang="0">
                  <a:pos x="200" y="222"/>
                </a:cxn>
                <a:cxn ang="0">
                  <a:pos x="196" y="261"/>
                </a:cxn>
                <a:cxn ang="0">
                  <a:pos x="178" y="271"/>
                </a:cxn>
                <a:cxn ang="0">
                  <a:pos x="200" y="290"/>
                </a:cxn>
                <a:cxn ang="0">
                  <a:pos x="212" y="314"/>
                </a:cxn>
                <a:cxn ang="0">
                  <a:pos x="226" y="332"/>
                </a:cxn>
                <a:cxn ang="0">
                  <a:pos x="201" y="332"/>
                </a:cxn>
                <a:cxn ang="0">
                  <a:pos x="188" y="348"/>
                </a:cxn>
                <a:cxn ang="0">
                  <a:pos x="162" y="350"/>
                </a:cxn>
                <a:cxn ang="0">
                  <a:pos x="147" y="349"/>
                </a:cxn>
                <a:cxn ang="0">
                  <a:pos x="134" y="342"/>
                </a:cxn>
                <a:cxn ang="0">
                  <a:pos x="117" y="336"/>
                </a:cxn>
                <a:cxn ang="0">
                  <a:pos x="95" y="329"/>
                </a:cxn>
                <a:cxn ang="0">
                  <a:pos x="89" y="319"/>
                </a:cxn>
                <a:cxn ang="0">
                  <a:pos x="74" y="297"/>
                </a:cxn>
                <a:cxn ang="0">
                  <a:pos x="57" y="277"/>
                </a:cxn>
                <a:cxn ang="0">
                  <a:pos x="39" y="261"/>
                </a:cxn>
                <a:cxn ang="0">
                  <a:pos x="30" y="241"/>
                </a:cxn>
                <a:cxn ang="0">
                  <a:pos x="17" y="219"/>
                </a:cxn>
                <a:cxn ang="0">
                  <a:pos x="12" y="199"/>
                </a:cxn>
                <a:cxn ang="0">
                  <a:pos x="0" y="185"/>
                </a:cxn>
                <a:cxn ang="0">
                  <a:pos x="8" y="163"/>
                </a:cxn>
                <a:cxn ang="0">
                  <a:pos x="9" y="152"/>
                </a:cxn>
                <a:cxn ang="0">
                  <a:pos x="22" y="133"/>
                </a:cxn>
                <a:cxn ang="0">
                  <a:pos x="32" y="116"/>
                </a:cxn>
                <a:cxn ang="0">
                  <a:pos x="30" y="81"/>
                </a:cxn>
              </a:cxnLst>
              <a:rect l="0" t="0" r="r" b="b"/>
              <a:pathLst>
                <a:path w="257" h="353">
                  <a:moveTo>
                    <a:pt x="30" y="65"/>
                  </a:moveTo>
                  <a:lnTo>
                    <a:pt x="30" y="56"/>
                  </a:lnTo>
                  <a:lnTo>
                    <a:pt x="46" y="56"/>
                  </a:lnTo>
                  <a:lnTo>
                    <a:pt x="45" y="38"/>
                  </a:lnTo>
                  <a:lnTo>
                    <a:pt x="45" y="20"/>
                  </a:lnTo>
                  <a:lnTo>
                    <a:pt x="57" y="20"/>
                  </a:lnTo>
                  <a:lnTo>
                    <a:pt x="69" y="20"/>
                  </a:lnTo>
                  <a:lnTo>
                    <a:pt x="81" y="20"/>
                  </a:lnTo>
                  <a:lnTo>
                    <a:pt x="93" y="20"/>
                  </a:lnTo>
                  <a:lnTo>
                    <a:pt x="105" y="20"/>
                  </a:lnTo>
                  <a:lnTo>
                    <a:pt x="117" y="20"/>
                  </a:lnTo>
                  <a:lnTo>
                    <a:pt x="130" y="20"/>
                  </a:lnTo>
                  <a:lnTo>
                    <a:pt x="142" y="20"/>
                  </a:lnTo>
                  <a:lnTo>
                    <a:pt x="143" y="15"/>
                  </a:lnTo>
                  <a:lnTo>
                    <a:pt x="144" y="20"/>
                  </a:lnTo>
                  <a:lnTo>
                    <a:pt x="164" y="23"/>
                  </a:lnTo>
                  <a:lnTo>
                    <a:pt x="183" y="24"/>
                  </a:lnTo>
                  <a:lnTo>
                    <a:pt x="186" y="17"/>
                  </a:lnTo>
                  <a:lnTo>
                    <a:pt x="195" y="14"/>
                  </a:lnTo>
                  <a:lnTo>
                    <a:pt x="198" y="5"/>
                  </a:lnTo>
                  <a:lnTo>
                    <a:pt x="202" y="6"/>
                  </a:lnTo>
                  <a:lnTo>
                    <a:pt x="208" y="0"/>
                  </a:lnTo>
                  <a:lnTo>
                    <a:pt x="219" y="11"/>
                  </a:lnTo>
                  <a:lnTo>
                    <a:pt x="228" y="23"/>
                  </a:lnTo>
                  <a:lnTo>
                    <a:pt x="234" y="36"/>
                  </a:lnTo>
                  <a:lnTo>
                    <a:pt x="238" y="57"/>
                  </a:lnTo>
                  <a:lnTo>
                    <a:pt x="243" y="78"/>
                  </a:lnTo>
                  <a:lnTo>
                    <a:pt x="257" y="95"/>
                  </a:lnTo>
                  <a:lnTo>
                    <a:pt x="248" y="102"/>
                  </a:lnTo>
                  <a:lnTo>
                    <a:pt x="238" y="109"/>
                  </a:lnTo>
                  <a:lnTo>
                    <a:pt x="232" y="132"/>
                  </a:lnTo>
                  <a:lnTo>
                    <a:pt x="230" y="157"/>
                  </a:lnTo>
                  <a:lnTo>
                    <a:pt x="228" y="170"/>
                  </a:lnTo>
                  <a:lnTo>
                    <a:pt x="212" y="200"/>
                  </a:lnTo>
                  <a:lnTo>
                    <a:pt x="208" y="219"/>
                  </a:lnTo>
                  <a:lnTo>
                    <a:pt x="200" y="222"/>
                  </a:lnTo>
                  <a:lnTo>
                    <a:pt x="197" y="241"/>
                  </a:lnTo>
                  <a:lnTo>
                    <a:pt x="196" y="261"/>
                  </a:lnTo>
                  <a:lnTo>
                    <a:pt x="184" y="264"/>
                  </a:lnTo>
                  <a:lnTo>
                    <a:pt x="178" y="271"/>
                  </a:lnTo>
                  <a:lnTo>
                    <a:pt x="184" y="276"/>
                  </a:lnTo>
                  <a:lnTo>
                    <a:pt x="200" y="290"/>
                  </a:lnTo>
                  <a:lnTo>
                    <a:pt x="206" y="302"/>
                  </a:lnTo>
                  <a:lnTo>
                    <a:pt x="212" y="314"/>
                  </a:lnTo>
                  <a:lnTo>
                    <a:pt x="221" y="318"/>
                  </a:lnTo>
                  <a:lnTo>
                    <a:pt x="226" y="332"/>
                  </a:lnTo>
                  <a:lnTo>
                    <a:pt x="213" y="332"/>
                  </a:lnTo>
                  <a:lnTo>
                    <a:pt x="201" y="332"/>
                  </a:lnTo>
                  <a:lnTo>
                    <a:pt x="195" y="339"/>
                  </a:lnTo>
                  <a:lnTo>
                    <a:pt x="188" y="348"/>
                  </a:lnTo>
                  <a:lnTo>
                    <a:pt x="170" y="348"/>
                  </a:lnTo>
                  <a:lnTo>
                    <a:pt x="162" y="350"/>
                  </a:lnTo>
                  <a:lnTo>
                    <a:pt x="159" y="348"/>
                  </a:lnTo>
                  <a:lnTo>
                    <a:pt x="147" y="349"/>
                  </a:lnTo>
                  <a:lnTo>
                    <a:pt x="146" y="353"/>
                  </a:lnTo>
                  <a:lnTo>
                    <a:pt x="134" y="342"/>
                  </a:lnTo>
                  <a:lnTo>
                    <a:pt x="123" y="331"/>
                  </a:lnTo>
                  <a:lnTo>
                    <a:pt x="117" y="336"/>
                  </a:lnTo>
                  <a:lnTo>
                    <a:pt x="107" y="337"/>
                  </a:lnTo>
                  <a:lnTo>
                    <a:pt x="95" y="329"/>
                  </a:lnTo>
                  <a:lnTo>
                    <a:pt x="92" y="325"/>
                  </a:lnTo>
                  <a:lnTo>
                    <a:pt x="89" y="319"/>
                  </a:lnTo>
                  <a:lnTo>
                    <a:pt x="80" y="307"/>
                  </a:lnTo>
                  <a:lnTo>
                    <a:pt x="74" y="297"/>
                  </a:lnTo>
                  <a:lnTo>
                    <a:pt x="59" y="284"/>
                  </a:lnTo>
                  <a:lnTo>
                    <a:pt x="57" y="277"/>
                  </a:lnTo>
                  <a:lnTo>
                    <a:pt x="42" y="266"/>
                  </a:lnTo>
                  <a:lnTo>
                    <a:pt x="39" y="261"/>
                  </a:lnTo>
                  <a:lnTo>
                    <a:pt x="28" y="259"/>
                  </a:lnTo>
                  <a:lnTo>
                    <a:pt x="30" y="241"/>
                  </a:lnTo>
                  <a:lnTo>
                    <a:pt x="23" y="230"/>
                  </a:lnTo>
                  <a:lnTo>
                    <a:pt x="17" y="219"/>
                  </a:lnTo>
                  <a:lnTo>
                    <a:pt x="16" y="209"/>
                  </a:lnTo>
                  <a:lnTo>
                    <a:pt x="12" y="199"/>
                  </a:lnTo>
                  <a:lnTo>
                    <a:pt x="6" y="186"/>
                  </a:lnTo>
                  <a:lnTo>
                    <a:pt x="0" y="185"/>
                  </a:lnTo>
                  <a:lnTo>
                    <a:pt x="5" y="171"/>
                  </a:lnTo>
                  <a:lnTo>
                    <a:pt x="8" y="163"/>
                  </a:lnTo>
                  <a:lnTo>
                    <a:pt x="9" y="158"/>
                  </a:lnTo>
                  <a:lnTo>
                    <a:pt x="9" y="152"/>
                  </a:lnTo>
                  <a:lnTo>
                    <a:pt x="17" y="138"/>
                  </a:lnTo>
                  <a:lnTo>
                    <a:pt x="22" y="133"/>
                  </a:lnTo>
                  <a:lnTo>
                    <a:pt x="33" y="133"/>
                  </a:lnTo>
                  <a:lnTo>
                    <a:pt x="32" y="116"/>
                  </a:lnTo>
                  <a:lnTo>
                    <a:pt x="32" y="99"/>
                  </a:lnTo>
                  <a:lnTo>
                    <a:pt x="30" y="81"/>
                  </a:lnTo>
                  <a:lnTo>
                    <a:pt x="30" y="6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5" name="Freeform 104"/>
            <p:cNvSpPr>
              <a:spLocks/>
            </p:cNvSpPr>
            <p:nvPr/>
          </p:nvSpPr>
          <p:spPr bwMode="auto">
            <a:xfrm>
              <a:off x="3042" y="2752"/>
              <a:ext cx="31" cy="42"/>
            </a:xfrm>
            <a:custGeom>
              <a:avLst/>
              <a:gdLst/>
              <a:ahLst/>
              <a:cxnLst>
                <a:cxn ang="0">
                  <a:pos x="25" y="10"/>
                </a:cxn>
                <a:cxn ang="0">
                  <a:pos x="25" y="1"/>
                </a:cxn>
                <a:cxn ang="0">
                  <a:pos x="16" y="0"/>
                </a:cxn>
                <a:cxn ang="0">
                  <a:pos x="14" y="6"/>
                </a:cxn>
                <a:cxn ang="0">
                  <a:pos x="1" y="6"/>
                </a:cxn>
                <a:cxn ang="0">
                  <a:pos x="0" y="7"/>
                </a:cxn>
                <a:cxn ang="0">
                  <a:pos x="1" y="8"/>
                </a:cxn>
                <a:cxn ang="0">
                  <a:pos x="3" y="23"/>
                </a:cxn>
                <a:cxn ang="0">
                  <a:pos x="7" y="38"/>
                </a:cxn>
                <a:cxn ang="0">
                  <a:pos x="10" y="38"/>
                </a:cxn>
                <a:cxn ang="0">
                  <a:pos x="19" y="26"/>
                </a:cxn>
                <a:cxn ang="0">
                  <a:pos x="28" y="16"/>
                </a:cxn>
                <a:cxn ang="0">
                  <a:pos x="25" y="10"/>
                </a:cxn>
              </a:cxnLst>
              <a:rect l="0" t="0" r="r" b="b"/>
              <a:pathLst>
                <a:path w="28" h="38">
                  <a:moveTo>
                    <a:pt x="25" y="10"/>
                  </a:moveTo>
                  <a:lnTo>
                    <a:pt x="25" y="1"/>
                  </a:lnTo>
                  <a:lnTo>
                    <a:pt x="16" y="0"/>
                  </a:lnTo>
                  <a:lnTo>
                    <a:pt x="14" y="6"/>
                  </a:lnTo>
                  <a:lnTo>
                    <a:pt x="1" y="6"/>
                  </a:lnTo>
                  <a:lnTo>
                    <a:pt x="0" y="7"/>
                  </a:lnTo>
                  <a:lnTo>
                    <a:pt x="1" y="8"/>
                  </a:lnTo>
                  <a:lnTo>
                    <a:pt x="3" y="23"/>
                  </a:lnTo>
                  <a:lnTo>
                    <a:pt x="7" y="38"/>
                  </a:lnTo>
                  <a:lnTo>
                    <a:pt x="10" y="38"/>
                  </a:lnTo>
                  <a:lnTo>
                    <a:pt x="19" y="26"/>
                  </a:lnTo>
                  <a:lnTo>
                    <a:pt x="28" y="16"/>
                  </a:lnTo>
                  <a:lnTo>
                    <a:pt x="25"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6" name="Freeform 105"/>
            <p:cNvSpPr>
              <a:spLocks/>
            </p:cNvSpPr>
            <p:nvPr/>
          </p:nvSpPr>
          <p:spPr bwMode="auto">
            <a:xfrm>
              <a:off x="2729" y="2634"/>
              <a:ext cx="131" cy="171"/>
            </a:xfrm>
            <a:custGeom>
              <a:avLst/>
              <a:gdLst/>
              <a:ahLst/>
              <a:cxnLst>
                <a:cxn ang="0">
                  <a:pos x="20" y="108"/>
                </a:cxn>
                <a:cxn ang="0">
                  <a:pos x="6" y="109"/>
                </a:cxn>
                <a:cxn ang="0">
                  <a:pos x="7" y="115"/>
                </a:cxn>
                <a:cxn ang="0">
                  <a:pos x="8" y="120"/>
                </a:cxn>
                <a:cxn ang="0">
                  <a:pos x="12" y="127"/>
                </a:cxn>
                <a:cxn ang="0">
                  <a:pos x="8" y="131"/>
                </a:cxn>
                <a:cxn ang="0">
                  <a:pos x="4" y="129"/>
                </a:cxn>
                <a:cxn ang="0">
                  <a:pos x="0" y="136"/>
                </a:cxn>
                <a:cxn ang="0">
                  <a:pos x="13" y="155"/>
                </a:cxn>
                <a:cxn ang="0">
                  <a:pos x="24" y="145"/>
                </a:cxn>
                <a:cxn ang="0">
                  <a:pos x="30" y="148"/>
                </a:cxn>
                <a:cxn ang="0">
                  <a:pos x="38" y="151"/>
                </a:cxn>
                <a:cxn ang="0">
                  <a:pos x="42" y="145"/>
                </a:cxn>
                <a:cxn ang="0">
                  <a:pos x="51" y="144"/>
                </a:cxn>
                <a:cxn ang="0">
                  <a:pos x="54" y="153"/>
                </a:cxn>
                <a:cxn ang="0">
                  <a:pos x="66" y="141"/>
                </a:cxn>
                <a:cxn ang="0">
                  <a:pos x="78" y="129"/>
                </a:cxn>
                <a:cxn ang="0">
                  <a:pos x="80" y="115"/>
                </a:cxn>
                <a:cxn ang="0">
                  <a:pos x="81" y="101"/>
                </a:cxn>
                <a:cxn ang="0">
                  <a:pos x="93" y="87"/>
                </a:cxn>
                <a:cxn ang="0">
                  <a:pos x="104" y="72"/>
                </a:cxn>
                <a:cxn ang="0">
                  <a:pos x="106" y="59"/>
                </a:cxn>
                <a:cxn ang="0">
                  <a:pos x="109" y="45"/>
                </a:cxn>
                <a:cxn ang="0">
                  <a:pos x="111" y="31"/>
                </a:cxn>
                <a:cxn ang="0">
                  <a:pos x="114" y="18"/>
                </a:cxn>
                <a:cxn ang="0">
                  <a:pos x="117" y="3"/>
                </a:cxn>
                <a:cxn ang="0">
                  <a:pos x="105" y="1"/>
                </a:cxn>
                <a:cxn ang="0">
                  <a:pos x="93" y="0"/>
                </a:cxn>
                <a:cxn ang="0">
                  <a:pos x="85" y="6"/>
                </a:cxn>
                <a:cxn ang="0">
                  <a:pos x="79" y="25"/>
                </a:cxn>
                <a:cxn ang="0">
                  <a:pos x="76" y="34"/>
                </a:cxn>
                <a:cxn ang="0">
                  <a:pos x="62" y="30"/>
                </a:cxn>
                <a:cxn ang="0">
                  <a:pos x="49" y="27"/>
                </a:cxn>
                <a:cxn ang="0">
                  <a:pos x="33" y="27"/>
                </a:cxn>
                <a:cxn ang="0">
                  <a:pos x="32" y="43"/>
                </a:cxn>
                <a:cxn ang="0">
                  <a:pos x="49" y="42"/>
                </a:cxn>
                <a:cxn ang="0">
                  <a:pos x="50" y="54"/>
                </a:cxn>
                <a:cxn ang="0">
                  <a:pos x="43" y="64"/>
                </a:cxn>
                <a:cxn ang="0">
                  <a:pos x="52" y="79"/>
                </a:cxn>
                <a:cxn ang="0">
                  <a:pos x="48" y="105"/>
                </a:cxn>
                <a:cxn ang="0">
                  <a:pos x="43" y="109"/>
                </a:cxn>
                <a:cxn ang="0">
                  <a:pos x="40" y="105"/>
                </a:cxn>
                <a:cxn ang="0">
                  <a:pos x="31" y="108"/>
                </a:cxn>
                <a:cxn ang="0">
                  <a:pos x="21" y="97"/>
                </a:cxn>
                <a:cxn ang="0">
                  <a:pos x="20" y="108"/>
                </a:cxn>
              </a:cxnLst>
              <a:rect l="0" t="0" r="r" b="b"/>
              <a:pathLst>
                <a:path w="117" h="155">
                  <a:moveTo>
                    <a:pt x="20" y="108"/>
                  </a:moveTo>
                  <a:lnTo>
                    <a:pt x="6" y="109"/>
                  </a:lnTo>
                  <a:lnTo>
                    <a:pt x="7" y="115"/>
                  </a:lnTo>
                  <a:lnTo>
                    <a:pt x="8" y="120"/>
                  </a:lnTo>
                  <a:lnTo>
                    <a:pt x="12" y="127"/>
                  </a:lnTo>
                  <a:lnTo>
                    <a:pt x="8" y="131"/>
                  </a:lnTo>
                  <a:lnTo>
                    <a:pt x="4" y="129"/>
                  </a:lnTo>
                  <a:lnTo>
                    <a:pt x="0" y="136"/>
                  </a:lnTo>
                  <a:lnTo>
                    <a:pt x="13" y="155"/>
                  </a:lnTo>
                  <a:lnTo>
                    <a:pt x="24" y="145"/>
                  </a:lnTo>
                  <a:lnTo>
                    <a:pt x="30" y="148"/>
                  </a:lnTo>
                  <a:lnTo>
                    <a:pt x="38" y="151"/>
                  </a:lnTo>
                  <a:lnTo>
                    <a:pt x="42" y="145"/>
                  </a:lnTo>
                  <a:lnTo>
                    <a:pt x="51" y="144"/>
                  </a:lnTo>
                  <a:lnTo>
                    <a:pt x="54" y="153"/>
                  </a:lnTo>
                  <a:lnTo>
                    <a:pt x="66" y="141"/>
                  </a:lnTo>
                  <a:lnTo>
                    <a:pt x="78" y="129"/>
                  </a:lnTo>
                  <a:lnTo>
                    <a:pt x="80" y="115"/>
                  </a:lnTo>
                  <a:lnTo>
                    <a:pt x="81" y="101"/>
                  </a:lnTo>
                  <a:lnTo>
                    <a:pt x="93" y="87"/>
                  </a:lnTo>
                  <a:lnTo>
                    <a:pt x="104" y="72"/>
                  </a:lnTo>
                  <a:lnTo>
                    <a:pt x="106" y="59"/>
                  </a:lnTo>
                  <a:lnTo>
                    <a:pt x="109" y="45"/>
                  </a:lnTo>
                  <a:lnTo>
                    <a:pt x="111" y="31"/>
                  </a:lnTo>
                  <a:lnTo>
                    <a:pt x="114" y="18"/>
                  </a:lnTo>
                  <a:lnTo>
                    <a:pt x="117" y="3"/>
                  </a:lnTo>
                  <a:lnTo>
                    <a:pt x="105" y="1"/>
                  </a:lnTo>
                  <a:lnTo>
                    <a:pt x="93" y="0"/>
                  </a:lnTo>
                  <a:lnTo>
                    <a:pt x="85" y="6"/>
                  </a:lnTo>
                  <a:lnTo>
                    <a:pt x="79" y="25"/>
                  </a:lnTo>
                  <a:lnTo>
                    <a:pt x="76" y="34"/>
                  </a:lnTo>
                  <a:lnTo>
                    <a:pt x="62" y="30"/>
                  </a:lnTo>
                  <a:lnTo>
                    <a:pt x="49" y="27"/>
                  </a:lnTo>
                  <a:lnTo>
                    <a:pt x="33" y="27"/>
                  </a:lnTo>
                  <a:lnTo>
                    <a:pt x="32" y="43"/>
                  </a:lnTo>
                  <a:lnTo>
                    <a:pt x="49" y="42"/>
                  </a:lnTo>
                  <a:lnTo>
                    <a:pt x="50" y="54"/>
                  </a:lnTo>
                  <a:lnTo>
                    <a:pt x="43" y="64"/>
                  </a:lnTo>
                  <a:lnTo>
                    <a:pt x="52" y="79"/>
                  </a:lnTo>
                  <a:lnTo>
                    <a:pt x="48" y="105"/>
                  </a:lnTo>
                  <a:lnTo>
                    <a:pt x="43" y="109"/>
                  </a:lnTo>
                  <a:lnTo>
                    <a:pt x="40" y="105"/>
                  </a:lnTo>
                  <a:lnTo>
                    <a:pt x="31" y="108"/>
                  </a:lnTo>
                  <a:lnTo>
                    <a:pt x="21" y="97"/>
                  </a:lnTo>
                  <a:lnTo>
                    <a:pt x="20" y="1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7" name="Freeform 106"/>
            <p:cNvSpPr>
              <a:spLocks/>
            </p:cNvSpPr>
            <p:nvPr/>
          </p:nvSpPr>
          <p:spPr bwMode="auto">
            <a:xfrm>
              <a:off x="3129" y="2614"/>
              <a:ext cx="140" cy="185"/>
            </a:xfrm>
            <a:custGeom>
              <a:avLst/>
              <a:gdLst/>
              <a:ahLst/>
              <a:cxnLst>
                <a:cxn ang="0">
                  <a:pos x="58" y="137"/>
                </a:cxn>
                <a:cxn ang="0">
                  <a:pos x="44" y="127"/>
                </a:cxn>
                <a:cxn ang="0">
                  <a:pos x="30" y="119"/>
                </a:cxn>
                <a:cxn ang="0">
                  <a:pos x="15" y="109"/>
                </a:cxn>
                <a:cxn ang="0">
                  <a:pos x="0" y="101"/>
                </a:cxn>
                <a:cxn ang="0">
                  <a:pos x="0" y="82"/>
                </a:cxn>
                <a:cxn ang="0">
                  <a:pos x="10" y="64"/>
                </a:cxn>
                <a:cxn ang="0">
                  <a:pos x="18" y="49"/>
                </a:cxn>
                <a:cxn ang="0">
                  <a:pos x="13" y="35"/>
                </a:cxn>
                <a:cxn ang="0">
                  <a:pos x="8" y="22"/>
                </a:cxn>
                <a:cxn ang="0">
                  <a:pos x="1" y="7"/>
                </a:cxn>
                <a:cxn ang="0">
                  <a:pos x="7" y="0"/>
                </a:cxn>
                <a:cxn ang="0">
                  <a:pos x="19" y="0"/>
                </a:cxn>
                <a:cxn ang="0">
                  <a:pos x="32" y="0"/>
                </a:cxn>
                <a:cxn ang="0">
                  <a:pos x="45" y="3"/>
                </a:cxn>
                <a:cxn ang="0">
                  <a:pos x="64" y="16"/>
                </a:cxn>
                <a:cxn ang="0">
                  <a:pos x="86" y="21"/>
                </a:cxn>
                <a:cxn ang="0">
                  <a:pos x="94" y="13"/>
                </a:cxn>
                <a:cxn ang="0">
                  <a:pos x="110" y="9"/>
                </a:cxn>
                <a:cxn ang="0">
                  <a:pos x="127" y="12"/>
                </a:cxn>
                <a:cxn ang="0">
                  <a:pos x="120" y="22"/>
                </a:cxn>
                <a:cxn ang="0">
                  <a:pos x="112" y="33"/>
                </a:cxn>
                <a:cxn ang="0">
                  <a:pos x="112" y="48"/>
                </a:cxn>
                <a:cxn ang="0">
                  <a:pos x="112" y="65"/>
                </a:cxn>
                <a:cxn ang="0">
                  <a:pos x="112" y="82"/>
                </a:cxn>
                <a:cxn ang="0">
                  <a:pos x="112" y="99"/>
                </a:cxn>
                <a:cxn ang="0">
                  <a:pos x="121" y="113"/>
                </a:cxn>
                <a:cxn ang="0">
                  <a:pos x="112" y="118"/>
                </a:cxn>
                <a:cxn ang="0">
                  <a:pos x="106" y="129"/>
                </a:cxn>
                <a:cxn ang="0">
                  <a:pos x="99" y="136"/>
                </a:cxn>
                <a:cxn ang="0">
                  <a:pos x="92" y="150"/>
                </a:cxn>
                <a:cxn ang="0">
                  <a:pos x="85" y="166"/>
                </a:cxn>
                <a:cxn ang="0">
                  <a:pos x="84" y="167"/>
                </a:cxn>
                <a:cxn ang="0">
                  <a:pos x="72" y="155"/>
                </a:cxn>
                <a:cxn ang="0">
                  <a:pos x="60" y="143"/>
                </a:cxn>
                <a:cxn ang="0">
                  <a:pos x="58" y="137"/>
                </a:cxn>
              </a:cxnLst>
              <a:rect l="0" t="0" r="r" b="b"/>
              <a:pathLst>
                <a:path w="127" h="167">
                  <a:moveTo>
                    <a:pt x="58" y="137"/>
                  </a:moveTo>
                  <a:lnTo>
                    <a:pt x="44" y="127"/>
                  </a:lnTo>
                  <a:lnTo>
                    <a:pt x="30" y="119"/>
                  </a:lnTo>
                  <a:lnTo>
                    <a:pt x="15" y="109"/>
                  </a:lnTo>
                  <a:lnTo>
                    <a:pt x="0" y="101"/>
                  </a:lnTo>
                  <a:lnTo>
                    <a:pt x="0" y="82"/>
                  </a:lnTo>
                  <a:lnTo>
                    <a:pt x="10" y="64"/>
                  </a:lnTo>
                  <a:lnTo>
                    <a:pt x="18" y="49"/>
                  </a:lnTo>
                  <a:lnTo>
                    <a:pt x="13" y="35"/>
                  </a:lnTo>
                  <a:lnTo>
                    <a:pt x="8" y="22"/>
                  </a:lnTo>
                  <a:lnTo>
                    <a:pt x="1" y="7"/>
                  </a:lnTo>
                  <a:lnTo>
                    <a:pt x="7" y="0"/>
                  </a:lnTo>
                  <a:lnTo>
                    <a:pt x="19" y="0"/>
                  </a:lnTo>
                  <a:lnTo>
                    <a:pt x="32" y="0"/>
                  </a:lnTo>
                  <a:lnTo>
                    <a:pt x="45" y="3"/>
                  </a:lnTo>
                  <a:lnTo>
                    <a:pt x="64" y="16"/>
                  </a:lnTo>
                  <a:lnTo>
                    <a:pt x="86" y="21"/>
                  </a:lnTo>
                  <a:lnTo>
                    <a:pt x="94" y="13"/>
                  </a:lnTo>
                  <a:lnTo>
                    <a:pt x="110" y="9"/>
                  </a:lnTo>
                  <a:lnTo>
                    <a:pt x="127" y="12"/>
                  </a:lnTo>
                  <a:lnTo>
                    <a:pt x="120" y="22"/>
                  </a:lnTo>
                  <a:lnTo>
                    <a:pt x="112" y="33"/>
                  </a:lnTo>
                  <a:lnTo>
                    <a:pt x="112" y="48"/>
                  </a:lnTo>
                  <a:lnTo>
                    <a:pt x="112" y="65"/>
                  </a:lnTo>
                  <a:lnTo>
                    <a:pt x="112" y="82"/>
                  </a:lnTo>
                  <a:lnTo>
                    <a:pt x="112" y="99"/>
                  </a:lnTo>
                  <a:lnTo>
                    <a:pt x="121" y="113"/>
                  </a:lnTo>
                  <a:lnTo>
                    <a:pt x="112" y="118"/>
                  </a:lnTo>
                  <a:lnTo>
                    <a:pt x="106" y="129"/>
                  </a:lnTo>
                  <a:lnTo>
                    <a:pt x="99" y="136"/>
                  </a:lnTo>
                  <a:lnTo>
                    <a:pt x="92" y="150"/>
                  </a:lnTo>
                  <a:lnTo>
                    <a:pt x="85" y="166"/>
                  </a:lnTo>
                  <a:lnTo>
                    <a:pt x="84" y="167"/>
                  </a:lnTo>
                  <a:lnTo>
                    <a:pt x="72" y="155"/>
                  </a:lnTo>
                  <a:lnTo>
                    <a:pt x="60" y="143"/>
                  </a:lnTo>
                  <a:lnTo>
                    <a:pt x="58"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8" name="Freeform 107"/>
            <p:cNvSpPr>
              <a:spLocks/>
            </p:cNvSpPr>
            <p:nvPr/>
          </p:nvSpPr>
          <p:spPr bwMode="auto">
            <a:xfrm>
              <a:off x="5573" y="2643"/>
              <a:ext cx="2" cy="2"/>
            </a:xfrm>
            <a:custGeom>
              <a:avLst/>
              <a:gdLst/>
              <a:ahLst/>
              <a:cxnLst>
                <a:cxn ang="0">
                  <a:pos x="3" y="0"/>
                </a:cxn>
                <a:cxn ang="0">
                  <a:pos x="2" y="1"/>
                </a:cxn>
                <a:cxn ang="0">
                  <a:pos x="0" y="1"/>
                </a:cxn>
                <a:cxn ang="0">
                  <a:pos x="2" y="0"/>
                </a:cxn>
                <a:cxn ang="0">
                  <a:pos x="3" y="0"/>
                </a:cxn>
              </a:cxnLst>
              <a:rect l="0" t="0" r="r" b="b"/>
              <a:pathLst>
                <a:path w="3" h="1">
                  <a:moveTo>
                    <a:pt x="3" y="0"/>
                  </a:moveTo>
                  <a:lnTo>
                    <a:pt x="2" y="1"/>
                  </a:lnTo>
                  <a:lnTo>
                    <a:pt x="0" y="1"/>
                  </a:lnTo>
                  <a:lnTo>
                    <a:pt x="2" y="0"/>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9" name="Freeform 108"/>
            <p:cNvSpPr>
              <a:spLocks/>
            </p:cNvSpPr>
            <p:nvPr/>
          </p:nvSpPr>
          <p:spPr bwMode="auto">
            <a:xfrm>
              <a:off x="5577" y="2667"/>
              <a:ext cx="3" cy="3"/>
            </a:xfrm>
            <a:custGeom>
              <a:avLst/>
              <a:gdLst/>
              <a:ahLst/>
              <a:cxnLst>
                <a:cxn ang="0">
                  <a:pos x="2" y="4"/>
                </a:cxn>
                <a:cxn ang="0">
                  <a:pos x="1" y="4"/>
                </a:cxn>
                <a:cxn ang="0">
                  <a:pos x="2" y="4"/>
                </a:cxn>
                <a:cxn ang="0">
                  <a:pos x="2" y="3"/>
                </a:cxn>
                <a:cxn ang="0">
                  <a:pos x="0" y="0"/>
                </a:cxn>
                <a:cxn ang="0">
                  <a:pos x="1" y="0"/>
                </a:cxn>
                <a:cxn ang="0">
                  <a:pos x="2" y="3"/>
                </a:cxn>
                <a:cxn ang="0">
                  <a:pos x="2" y="4"/>
                </a:cxn>
              </a:cxnLst>
              <a:rect l="0" t="0" r="r" b="b"/>
              <a:pathLst>
                <a:path w="2" h="4">
                  <a:moveTo>
                    <a:pt x="2" y="4"/>
                  </a:moveTo>
                  <a:lnTo>
                    <a:pt x="1" y="4"/>
                  </a:lnTo>
                  <a:lnTo>
                    <a:pt x="2" y="4"/>
                  </a:lnTo>
                  <a:lnTo>
                    <a:pt x="2" y="3"/>
                  </a:lnTo>
                  <a:lnTo>
                    <a:pt x="0" y="0"/>
                  </a:lnTo>
                  <a:lnTo>
                    <a:pt x="1" y="0"/>
                  </a:lnTo>
                  <a:lnTo>
                    <a:pt x="2" y="3"/>
                  </a:lnTo>
                  <a:lnTo>
                    <a:pt x="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0" name="Freeform 109"/>
            <p:cNvSpPr>
              <a:spLocks/>
            </p:cNvSpPr>
            <p:nvPr/>
          </p:nvSpPr>
          <p:spPr bwMode="auto">
            <a:xfrm>
              <a:off x="5584" y="2667"/>
              <a:ext cx="2" cy="3"/>
            </a:xfrm>
            <a:custGeom>
              <a:avLst/>
              <a:gdLst/>
              <a:ahLst/>
              <a:cxnLst>
                <a:cxn ang="0">
                  <a:pos x="1" y="0"/>
                </a:cxn>
                <a:cxn ang="0">
                  <a:pos x="0" y="0"/>
                </a:cxn>
                <a:cxn ang="0">
                  <a:pos x="1" y="0"/>
                </a:cxn>
              </a:cxnLst>
              <a:rect l="0" t="0" r="r" b="b"/>
              <a:pathLst>
                <a:path w="1">
                  <a:moveTo>
                    <a:pt x="1" y="0"/>
                  </a:move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1" name="Freeform 110"/>
            <p:cNvSpPr>
              <a:spLocks/>
            </p:cNvSpPr>
            <p:nvPr/>
          </p:nvSpPr>
          <p:spPr bwMode="auto">
            <a:xfrm>
              <a:off x="5580" y="2674"/>
              <a:ext cx="2" cy="2"/>
            </a:xfrm>
            <a:custGeom>
              <a:avLst/>
              <a:gdLst/>
              <a:ahLst/>
              <a:cxnLst>
                <a:cxn ang="0">
                  <a:pos x="0" y="1"/>
                </a:cxn>
                <a:cxn ang="0">
                  <a:pos x="0" y="0"/>
                </a:cxn>
                <a:cxn ang="0">
                  <a:pos x="0" y="1"/>
                </a:cxn>
              </a:cxnLst>
              <a:rect l="0" t="0" r="r" b="b"/>
              <a:pathLst>
                <a:path h="1">
                  <a:moveTo>
                    <a:pt x="0" y="1"/>
                  </a:moveTo>
                  <a:lnTo>
                    <a:pt x="0" y="0"/>
                  </a:lnTo>
                  <a:lnTo>
                    <a:pt x="0"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2" name="Freeform 111"/>
            <p:cNvSpPr>
              <a:spLocks/>
            </p:cNvSpPr>
            <p:nvPr/>
          </p:nvSpPr>
          <p:spPr bwMode="auto">
            <a:xfrm>
              <a:off x="2580" y="2430"/>
              <a:ext cx="209" cy="189"/>
            </a:xfrm>
            <a:custGeom>
              <a:avLst/>
              <a:gdLst/>
              <a:ahLst/>
              <a:cxnLst>
                <a:cxn ang="0">
                  <a:pos x="124" y="121"/>
                </a:cxn>
                <a:cxn ang="0">
                  <a:pos x="112" y="125"/>
                </a:cxn>
                <a:cxn ang="0">
                  <a:pos x="105" y="135"/>
                </a:cxn>
                <a:cxn ang="0">
                  <a:pos x="99" y="146"/>
                </a:cxn>
                <a:cxn ang="0">
                  <a:pos x="94" y="161"/>
                </a:cxn>
                <a:cxn ang="0">
                  <a:pos x="88" y="159"/>
                </a:cxn>
                <a:cxn ang="0">
                  <a:pos x="89" y="165"/>
                </a:cxn>
                <a:cxn ang="0">
                  <a:pos x="73" y="165"/>
                </a:cxn>
                <a:cxn ang="0">
                  <a:pos x="71" y="164"/>
                </a:cxn>
                <a:cxn ang="0">
                  <a:pos x="69" y="164"/>
                </a:cxn>
                <a:cxn ang="0">
                  <a:pos x="66" y="167"/>
                </a:cxn>
                <a:cxn ang="0">
                  <a:pos x="64" y="162"/>
                </a:cxn>
                <a:cxn ang="0">
                  <a:pos x="64" y="169"/>
                </a:cxn>
                <a:cxn ang="0">
                  <a:pos x="64" y="165"/>
                </a:cxn>
                <a:cxn ang="0">
                  <a:pos x="61" y="167"/>
                </a:cxn>
                <a:cxn ang="0">
                  <a:pos x="57" y="167"/>
                </a:cxn>
                <a:cxn ang="0">
                  <a:pos x="49" y="168"/>
                </a:cxn>
                <a:cxn ang="0">
                  <a:pos x="43" y="151"/>
                </a:cxn>
                <a:cxn ang="0">
                  <a:pos x="45" y="150"/>
                </a:cxn>
                <a:cxn ang="0">
                  <a:pos x="41" y="146"/>
                </a:cxn>
                <a:cxn ang="0">
                  <a:pos x="42" y="146"/>
                </a:cxn>
                <a:cxn ang="0">
                  <a:pos x="39" y="143"/>
                </a:cxn>
                <a:cxn ang="0">
                  <a:pos x="22" y="132"/>
                </a:cxn>
                <a:cxn ang="0">
                  <a:pos x="13" y="131"/>
                </a:cxn>
                <a:cxn ang="0">
                  <a:pos x="16" y="128"/>
                </a:cxn>
                <a:cxn ang="0">
                  <a:pos x="0" y="133"/>
                </a:cxn>
                <a:cxn ang="0">
                  <a:pos x="1" y="108"/>
                </a:cxn>
                <a:cxn ang="0">
                  <a:pos x="3" y="84"/>
                </a:cxn>
                <a:cxn ang="0">
                  <a:pos x="15" y="63"/>
                </a:cxn>
                <a:cxn ang="0">
                  <a:pos x="16" y="48"/>
                </a:cxn>
                <a:cxn ang="0">
                  <a:pos x="13" y="38"/>
                </a:cxn>
                <a:cxn ang="0">
                  <a:pos x="13" y="37"/>
                </a:cxn>
                <a:cxn ang="0">
                  <a:pos x="15" y="30"/>
                </a:cxn>
                <a:cxn ang="0">
                  <a:pos x="19" y="18"/>
                </a:cxn>
                <a:cxn ang="0">
                  <a:pos x="23" y="5"/>
                </a:cxn>
                <a:cxn ang="0">
                  <a:pos x="37" y="0"/>
                </a:cxn>
                <a:cxn ang="0">
                  <a:pos x="53" y="1"/>
                </a:cxn>
                <a:cxn ang="0">
                  <a:pos x="64" y="12"/>
                </a:cxn>
                <a:cxn ang="0">
                  <a:pos x="81" y="7"/>
                </a:cxn>
                <a:cxn ang="0">
                  <a:pos x="93" y="12"/>
                </a:cxn>
                <a:cxn ang="0">
                  <a:pos x="103" y="17"/>
                </a:cxn>
                <a:cxn ang="0">
                  <a:pos x="121" y="8"/>
                </a:cxn>
                <a:cxn ang="0">
                  <a:pos x="138" y="9"/>
                </a:cxn>
                <a:cxn ang="0">
                  <a:pos x="154" y="11"/>
                </a:cxn>
                <a:cxn ang="0">
                  <a:pos x="172" y="1"/>
                </a:cxn>
                <a:cxn ang="0">
                  <a:pos x="179" y="12"/>
                </a:cxn>
                <a:cxn ang="0">
                  <a:pos x="181" y="25"/>
                </a:cxn>
                <a:cxn ang="0">
                  <a:pos x="189" y="32"/>
                </a:cxn>
                <a:cxn ang="0">
                  <a:pos x="184" y="42"/>
                </a:cxn>
                <a:cxn ang="0">
                  <a:pos x="173" y="53"/>
                </a:cxn>
                <a:cxn ang="0">
                  <a:pos x="167" y="65"/>
                </a:cxn>
                <a:cxn ang="0">
                  <a:pos x="162" y="78"/>
                </a:cxn>
                <a:cxn ang="0">
                  <a:pos x="156" y="92"/>
                </a:cxn>
                <a:cxn ang="0">
                  <a:pos x="150" y="102"/>
                </a:cxn>
                <a:cxn ang="0">
                  <a:pos x="144" y="117"/>
                </a:cxn>
                <a:cxn ang="0">
                  <a:pos x="135" y="132"/>
                </a:cxn>
                <a:cxn ang="0">
                  <a:pos x="124" y="121"/>
                </a:cxn>
              </a:cxnLst>
              <a:rect l="0" t="0" r="r" b="b"/>
              <a:pathLst>
                <a:path w="189" h="169">
                  <a:moveTo>
                    <a:pt x="124" y="121"/>
                  </a:moveTo>
                  <a:lnTo>
                    <a:pt x="112" y="125"/>
                  </a:lnTo>
                  <a:lnTo>
                    <a:pt x="105" y="135"/>
                  </a:lnTo>
                  <a:lnTo>
                    <a:pt x="99" y="146"/>
                  </a:lnTo>
                  <a:lnTo>
                    <a:pt x="94" y="161"/>
                  </a:lnTo>
                  <a:lnTo>
                    <a:pt x="88" y="159"/>
                  </a:lnTo>
                  <a:lnTo>
                    <a:pt x="89" y="165"/>
                  </a:lnTo>
                  <a:lnTo>
                    <a:pt x="73" y="165"/>
                  </a:lnTo>
                  <a:lnTo>
                    <a:pt x="71" y="164"/>
                  </a:lnTo>
                  <a:lnTo>
                    <a:pt x="69" y="164"/>
                  </a:lnTo>
                  <a:lnTo>
                    <a:pt x="66" y="167"/>
                  </a:lnTo>
                  <a:lnTo>
                    <a:pt x="64" y="162"/>
                  </a:lnTo>
                  <a:lnTo>
                    <a:pt x="64" y="169"/>
                  </a:lnTo>
                  <a:lnTo>
                    <a:pt x="64" y="165"/>
                  </a:lnTo>
                  <a:lnTo>
                    <a:pt x="61" y="167"/>
                  </a:lnTo>
                  <a:lnTo>
                    <a:pt x="57" y="167"/>
                  </a:lnTo>
                  <a:lnTo>
                    <a:pt x="49" y="168"/>
                  </a:lnTo>
                  <a:lnTo>
                    <a:pt x="43" y="151"/>
                  </a:lnTo>
                  <a:lnTo>
                    <a:pt x="45" y="150"/>
                  </a:lnTo>
                  <a:lnTo>
                    <a:pt x="41" y="146"/>
                  </a:lnTo>
                  <a:lnTo>
                    <a:pt x="42" y="146"/>
                  </a:lnTo>
                  <a:lnTo>
                    <a:pt x="39" y="143"/>
                  </a:lnTo>
                  <a:lnTo>
                    <a:pt x="22" y="132"/>
                  </a:lnTo>
                  <a:lnTo>
                    <a:pt x="13" y="131"/>
                  </a:lnTo>
                  <a:lnTo>
                    <a:pt x="16" y="128"/>
                  </a:lnTo>
                  <a:lnTo>
                    <a:pt x="0" y="133"/>
                  </a:lnTo>
                  <a:lnTo>
                    <a:pt x="1" y="108"/>
                  </a:lnTo>
                  <a:lnTo>
                    <a:pt x="3" y="84"/>
                  </a:lnTo>
                  <a:lnTo>
                    <a:pt x="15" y="63"/>
                  </a:lnTo>
                  <a:lnTo>
                    <a:pt x="16" y="48"/>
                  </a:lnTo>
                  <a:lnTo>
                    <a:pt x="13" y="38"/>
                  </a:lnTo>
                  <a:lnTo>
                    <a:pt x="13" y="37"/>
                  </a:lnTo>
                  <a:lnTo>
                    <a:pt x="15" y="30"/>
                  </a:lnTo>
                  <a:lnTo>
                    <a:pt x="19" y="18"/>
                  </a:lnTo>
                  <a:lnTo>
                    <a:pt x="23" y="5"/>
                  </a:lnTo>
                  <a:lnTo>
                    <a:pt x="37" y="0"/>
                  </a:lnTo>
                  <a:lnTo>
                    <a:pt x="53" y="1"/>
                  </a:lnTo>
                  <a:lnTo>
                    <a:pt x="64" y="12"/>
                  </a:lnTo>
                  <a:lnTo>
                    <a:pt x="81" y="7"/>
                  </a:lnTo>
                  <a:lnTo>
                    <a:pt x="93" y="12"/>
                  </a:lnTo>
                  <a:lnTo>
                    <a:pt x="103" y="17"/>
                  </a:lnTo>
                  <a:lnTo>
                    <a:pt x="121" y="8"/>
                  </a:lnTo>
                  <a:lnTo>
                    <a:pt x="138" y="9"/>
                  </a:lnTo>
                  <a:lnTo>
                    <a:pt x="154" y="11"/>
                  </a:lnTo>
                  <a:lnTo>
                    <a:pt x="172" y="1"/>
                  </a:lnTo>
                  <a:lnTo>
                    <a:pt x="179" y="12"/>
                  </a:lnTo>
                  <a:lnTo>
                    <a:pt x="181" y="25"/>
                  </a:lnTo>
                  <a:lnTo>
                    <a:pt x="189" y="32"/>
                  </a:lnTo>
                  <a:lnTo>
                    <a:pt x="184" y="42"/>
                  </a:lnTo>
                  <a:lnTo>
                    <a:pt x="173" y="53"/>
                  </a:lnTo>
                  <a:lnTo>
                    <a:pt x="167" y="65"/>
                  </a:lnTo>
                  <a:lnTo>
                    <a:pt x="162" y="78"/>
                  </a:lnTo>
                  <a:lnTo>
                    <a:pt x="156" y="92"/>
                  </a:lnTo>
                  <a:lnTo>
                    <a:pt x="150" y="102"/>
                  </a:lnTo>
                  <a:lnTo>
                    <a:pt x="144" y="117"/>
                  </a:lnTo>
                  <a:lnTo>
                    <a:pt x="135" y="132"/>
                  </a:lnTo>
                  <a:lnTo>
                    <a:pt x="124" y="1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3" name="Freeform 112"/>
            <p:cNvSpPr>
              <a:spLocks/>
            </p:cNvSpPr>
            <p:nvPr/>
          </p:nvSpPr>
          <p:spPr bwMode="auto">
            <a:xfrm>
              <a:off x="2547" y="2459"/>
              <a:ext cx="49" cy="122"/>
            </a:xfrm>
            <a:custGeom>
              <a:avLst/>
              <a:gdLst/>
              <a:ahLst/>
              <a:cxnLst>
                <a:cxn ang="0">
                  <a:pos x="3" y="24"/>
                </a:cxn>
                <a:cxn ang="0">
                  <a:pos x="1" y="24"/>
                </a:cxn>
                <a:cxn ang="0">
                  <a:pos x="0" y="32"/>
                </a:cxn>
                <a:cxn ang="0">
                  <a:pos x="9" y="42"/>
                </a:cxn>
                <a:cxn ang="0">
                  <a:pos x="11" y="56"/>
                </a:cxn>
                <a:cxn ang="0">
                  <a:pos x="11" y="70"/>
                </a:cxn>
                <a:cxn ang="0">
                  <a:pos x="12" y="84"/>
                </a:cxn>
                <a:cxn ang="0">
                  <a:pos x="12" y="97"/>
                </a:cxn>
                <a:cxn ang="0">
                  <a:pos x="13" y="110"/>
                </a:cxn>
                <a:cxn ang="0">
                  <a:pos x="30" y="108"/>
                </a:cxn>
                <a:cxn ang="0">
                  <a:pos x="31" y="83"/>
                </a:cxn>
                <a:cxn ang="0">
                  <a:pos x="33" y="59"/>
                </a:cxn>
                <a:cxn ang="0">
                  <a:pos x="45" y="38"/>
                </a:cxn>
                <a:cxn ang="0">
                  <a:pos x="46" y="23"/>
                </a:cxn>
                <a:cxn ang="0">
                  <a:pos x="43" y="13"/>
                </a:cxn>
                <a:cxn ang="0">
                  <a:pos x="43" y="12"/>
                </a:cxn>
                <a:cxn ang="0">
                  <a:pos x="30" y="0"/>
                </a:cxn>
                <a:cxn ang="0">
                  <a:pos x="25" y="6"/>
                </a:cxn>
                <a:cxn ang="0">
                  <a:pos x="25" y="8"/>
                </a:cxn>
                <a:cxn ang="0">
                  <a:pos x="24" y="11"/>
                </a:cxn>
                <a:cxn ang="0">
                  <a:pos x="12" y="18"/>
                </a:cxn>
                <a:cxn ang="0">
                  <a:pos x="3" y="24"/>
                </a:cxn>
              </a:cxnLst>
              <a:rect l="0" t="0" r="r" b="b"/>
              <a:pathLst>
                <a:path w="46" h="110">
                  <a:moveTo>
                    <a:pt x="3" y="24"/>
                  </a:moveTo>
                  <a:lnTo>
                    <a:pt x="1" y="24"/>
                  </a:lnTo>
                  <a:lnTo>
                    <a:pt x="0" y="32"/>
                  </a:lnTo>
                  <a:lnTo>
                    <a:pt x="9" y="42"/>
                  </a:lnTo>
                  <a:lnTo>
                    <a:pt x="11" y="56"/>
                  </a:lnTo>
                  <a:lnTo>
                    <a:pt x="11" y="70"/>
                  </a:lnTo>
                  <a:lnTo>
                    <a:pt x="12" y="84"/>
                  </a:lnTo>
                  <a:lnTo>
                    <a:pt x="12" y="97"/>
                  </a:lnTo>
                  <a:lnTo>
                    <a:pt x="13" y="110"/>
                  </a:lnTo>
                  <a:lnTo>
                    <a:pt x="30" y="108"/>
                  </a:lnTo>
                  <a:lnTo>
                    <a:pt x="31" y="83"/>
                  </a:lnTo>
                  <a:lnTo>
                    <a:pt x="33" y="59"/>
                  </a:lnTo>
                  <a:lnTo>
                    <a:pt x="45" y="38"/>
                  </a:lnTo>
                  <a:lnTo>
                    <a:pt x="46" y="23"/>
                  </a:lnTo>
                  <a:lnTo>
                    <a:pt x="43" y="13"/>
                  </a:lnTo>
                  <a:lnTo>
                    <a:pt x="43" y="12"/>
                  </a:lnTo>
                  <a:lnTo>
                    <a:pt x="30" y="0"/>
                  </a:lnTo>
                  <a:lnTo>
                    <a:pt x="25" y="6"/>
                  </a:lnTo>
                  <a:lnTo>
                    <a:pt x="25" y="8"/>
                  </a:lnTo>
                  <a:lnTo>
                    <a:pt x="24" y="11"/>
                  </a:lnTo>
                  <a:lnTo>
                    <a:pt x="12" y="18"/>
                  </a:lnTo>
                  <a:lnTo>
                    <a:pt x="3"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4" name="Freeform 113"/>
            <p:cNvSpPr>
              <a:spLocks/>
            </p:cNvSpPr>
            <p:nvPr/>
          </p:nvSpPr>
          <p:spPr bwMode="auto">
            <a:xfrm>
              <a:off x="2436" y="2403"/>
              <a:ext cx="137" cy="113"/>
            </a:xfrm>
            <a:custGeom>
              <a:avLst/>
              <a:gdLst/>
              <a:ahLst/>
              <a:cxnLst>
                <a:cxn ang="0">
                  <a:pos x="102" y="73"/>
                </a:cxn>
                <a:cxn ang="0">
                  <a:pos x="97" y="73"/>
                </a:cxn>
                <a:cxn ang="0">
                  <a:pos x="84" y="71"/>
                </a:cxn>
                <a:cxn ang="0">
                  <a:pos x="79" y="72"/>
                </a:cxn>
                <a:cxn ang="0">
                  <a:pos x="61" y="73"/>
                </a:cxn>
                <a:cxn ang="0">
                  <a:pos x="42" y="73"/>
                </a:cxn>
                <a:cxn ang="0">
                  <a:pos x="43" y="87"/>
                </a:cxn>
                <a:cxn ang="0">
                  <a:pos x="44" y="101"/>
                </a:cxn>
                <a:cxn ang="0">
                  <a:pos x="30" y="92"/>
                </a:cxn>
                <a:cxn ang="0">
                  <a:pos x="15" y="97"/>
                </a:cxn>
                <a:cxn ang="0">
                  <a:pos x="6" y="86"/>
                </a:cxn>
                <a:cxn ang="0">
                  <a:pos x="0" y="84"/>
                </a:cxn>
                <a:cxn ang="0">
                  <a:pos x="3" y="60"/>
                </a:cxn>
                <a:cxn ang="0">
                  <a:pos x="8" y="56"/>
                </a:cxn>
                <a:cxn ang="0">
                  <a:pos x="16" y="48"/>
                </a:cxn>
                <a:cxn ang="0">
                  <a:pos x="20" y="41"/>
                </a:cxn>
                <a:cxn ang="0">
                  <a:pos x="22" y="30"/>
                </a:cxn>
                <a:cxn ang="0">
                  <a:pos x="32" y="35"/>
                </a:cxn>
                <a:cxn ang="0">
                  <a:pos x="34" y="27"/>
                </a:cxn>
                <a:cxn ang="0">
                  <a:pos x="38" y="26"/>
                </a:cxn>
                <a:cxn ang="0">
                  <a:pos x="44" y="17"/>
                </a:cxn>
                <a:cxn ang="0">
                  <a:pos x="54" y="17"/>
                </a:cxn>
                <a:cxn ang="0">
                  <a:pos x="55" y="9"/>
                </a:cxn>
                <a:cxn ang="0">
                  <a:pos x="75" y="0"/>
                </a:cxn>
                <a:cxn ang="0">
                  <a:pos x="90" y="2"/>
                </a:cxn>
                <a:cxn ang="0">
                  <a:pos x="92" y="17"/>
                </a:cxn>
                <a:cxn ang="0">
                  <a:pos x="104" y="30"/>
                </a:cxn>
                <a:cxn ang="0">
                  <a:pos x="102" y="31"/>
                </a:cxn>
                <a:cxn ang="0">
                  <a:pos x="102" y="37"/>
                </a:cxn>
                <a:cxn ang="0">
                  <a:pos x="111" y="44"/>
                </a:cxn>
                <a:cxn ang="0">
                  <a:pos x="117" y="43"/>
                </a:cxn>
                <a:cxn ang="0">
                  <a:pos x="121" y="48"/>
                </a:cxn>
                <a:cxn ang="0">
                  <a:pos x="124" y="57"/>
                </a:cxn>
                <a:cxn ang="0">
                  <a:pos x="123" y="60"/>
                </a:cxn>
                <a:cxn ang="0">
                  <a:pos x="111" y="67"/>
                </a:cxn>
                <a:cxn ang="0">
                  <a:pos x="102" y="73"/>
                </a:cxn>
              </a:cxnLst>
              <a:rect l="0" t="0" r="r" b="b"/>
              <a:pathLst>
                <a:path w="124" h="101">
                  <a:moveTo>
                    <a:pt x="102" y="73"/>
                  </a:moveTo>
                  <a:lnTo>
                    <a:pt x="97" y="73"/>
                  </a:lnTo>
                  <a:lnTo>
                    <a:pt x="84" y="71"/>
                  </a:lnTo>
                  <a:lnTo>
                    <a:pt x="79" y="72"/>
                  </a:lnTo>
                  <a:lnTo>
                    <a:pt x="61" y="73"/>
                  </a:lnTo>
                  <a:lnTo>
                    <a:pt x="42" y="73"/>
                  </a:lnTo>
                  <a:lnTo>
                    <a:pt x="43" y="87"/>
                  </a:lnTo>
                  <a:lnTo>
                    <a:pt x="44" y="101"/>
                  </a:lnTo>
                  <a:lnTo>
                    <a:pt x="30" y="92"/>
                  </a:lnTo>
                  <a:lnTo>
                    <a:pt x="15" y="97"/>
                  </a:lnTo>
                  <a:lnTo>
                    <a:pt x="6" y="86"/>
                  </a:lnTo>
                  <a:lnTo>
                    <a:pt x="0" y="84"/>
                  </a:lnTo>
                  <a:lnTo>
                    <a:pt x="3" y="60"/>
                  </a:lnTo>
                  <a:lnTo>
                    <a:pt x="8" y="56"/>
                  </a:lnTo>
                  <a:lnTo>
                    <a:pt x="16" y="48"/>
                  </a:lnTo>
                  <a:lnTo>
                    <a:pt x="20" y="41"/>
                  </a:lnTo>
                  <a:lnTo>
                    <a:pt x="22" y="30"/>
                  </a:lnTo>
                  <a:lnTo>
                    <a:pt x="32" y="35"/>
                  </a:lnTo>
                  <a:lnTo>
                    <a:pt x="34" y="27"/>
                  </a:lnTo>
                  <a:lnTo>
                    <a:pt x="38" y="26"/>
                  </a:lnTo>
                  <a:lnTo>
                    <a:pt x="44" y="17"/>
                  </a:lnTo>
                  <a:lnTo>
                    <a:pt x="54" y="17"/>
                  </a:lnTo>
                  <a:lnTo>
                    <a:pt x="55" y="9"/>
                  </a:lnTo>
                  <a:lnTo>
                    <a:pt x="75" y="0"/>
                  </a:lnTo>
                  <a:lnTo>
                    <a:pt x="90" y="2"/>
                  </a:lnTo>
                  <a:lnTo>
                    <a:pt x="92" y="17"/>
                  </a:lnTo>
                  <a:lnTo>
                    <a:pt x="104" y="30"/>
                  </a:lnTo>
                  <a:lnTo>
                    <a:pt x="102" y="31"/>
                  </a:lnTo>
                  <a:lnTo>
                    <a:pt x="102" y="37"/>
                  </a:lnTo>
                  <a:lnTo>
                    <a:pt x="111" y="44"/>
                  </a:lnTo>
                  <a:lnTo>
                    <a:pt x="117" y="43"/>
                  </a:lnTo>
                  <a:lnTo>
                    <a:pt x="121" y="48"/>
                  </a:lnTo>
                  <a:lnTo>
                    <a:pt x="124" y="57"/>
                  </a:lnTo>
                  <a:lnTo>
                    <a:pt x="123" y="60"/>
                  </a:lnTo>
                  <a:lnTo>
                    <a:pt x="111" y="67"/>
                  </a:lnTo>
                  <a:lnTo>
                    <a:pt x="102"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5" name="Freeform 114"/>
            <p:cNvSpPr>
              <a:spLocks/>
            </p:cNvSpPr>
            <p:nvPr/>
          </p:nvSpPr>
          <p:spPr bwMode="auto">
            <a:xfrm>
              <a:off x="2682" y="2443"/>
              <a:ext cx="134" cy="227"/>
            </a:xfrm>
            <a:custGeom>
              <a:avLst/>
              <a:gdLst/>
              <a:ahLst/>
              <a:cxnLst>
                <a:cxn ang="0">
                  <a:pos x="112" y="56"/>
                </a:cxn>
                <a:cxn ang="0">
                  <a:pos x="93" y="56"/>
                </a:cxn>
                <a:cxn ang="0">
                  <a:pos x="86" y="60"/>
                </a:cxn>
                <a:cxn ang="0">
                  <a:pos x="99" y="77"/>
                </a:cxn>
                <a:cxn ang="0">
                  <a:pos x="109" y="99"/>
                </a:cxn>
                <a:cxn ang="0">
                  <a:pos x="102" y="114"/>
                </a:cxn>
                <a:cxn ang="0">
                  <a:pos x="93" y="128"/>
                </a:cxn>
                <a:cxn ang="0">
                  <a:pos x="99" y="153"/>
                </a:cxn>
                <a:cxn ang="0">
                  <a:pos x="108" y="167"/>
                </a:cxn>
                <a:cxn ang="0">
                  <a:pos x="116" y="179"/>
                </a:cxn>
                <a:cxn ang="0">
                  <a:pos x="121" y="195"/>
                </a:cxn>
                <a:cxn ang="0">
                  <a:pos x="118" y="204"/>
                </a:cxn>
                <a:cxn ang="0">
                  <a:pos x="104" y="200"/>
                </a:cxn>
                <a:cxn ang="0">
                  <a:pos x="91" y="197"/>
                </a:cxn>
                <a:cxn ang="0">
                  <a:pos x="75" y="197"/>
                </a:cxn>
                <a:cxn ang="0">
                  <a:pos x="60" y="197"/>
                </a:cxn>
                <a:cxn ang="0">
                  <a:pos x="44" y="197"/>
                </a:cxn>
                <a:cxn ang="0">
                  <a:pos x="32" y="194"/>
                </a:cxn>
                <a:cxn ang="0">
                  <a:pos x="20" y="193"/>
                </a:cxn>
                <a:cxn ang="0">
                  <a:pos x="20" y="174"/>
                </a:cxn>
                <a:cxn ang="0">
                  <a:pos x="18" y="165"/>
                </a:cxn>
                <a:cxn ang="0">
                  <a:pos x="16" y="163"/>
                </a:cxn>
                <a:cxn ang="0">
                  <a:pos x="7" y="162"/>
                </a:cxn>
                <a:cxn ang="0">
                  <a:pos x="2" y="151"/>
                </a:cxn>
                <a:cxn ang="0">
                  <a:pos x="0" y="152"/>
                </a:cxn>
                <a:cxn ang="0">
                  <a:pos x="1" y="149"/>
                </a:cxn>
                <a:cxn ang="0">
                  <a:pos x="6" y="134"/>
                </a:cxn>
                <a:cxn ang="0">
                  <a:pos x="12" y="123"/>
                </a:cxn>
                <a:cxn ang="0">
                  <a:pos x="19" y="113"/>
                </a:cxn>
                <a:cxn ang="0">
                  <a:pos x="31" y="109"/>
                </a:cxn>
                <a:cxn ang="0">
                  <a:pos x="42" y="120"/>
                </a:cxn>
                <a:cxn ang="0">
                  <a:pos x="51" y="105"/>
                </a:cxn>
                <a:cxn ang="0">
                  <a:pos x="57" y="90"/>
                </a:cxn>
                <a:cxn ang="0">
                  <a:pos x="63" y="80"/>
                </a:cxn>
                <a:cxn ang="0">
                  <a:pos x="69" y="66"/>
                </a:cxn>
                <a:cxn ang="0">
                  <a:pos x="74" y="53"/>
                </a:cxn>
                <a:cxn ang="0">
                  <a:pos x="80" y="41"/>
                </a:cxn>
                <a:cxn ang="0">
                  <a:pos x="91" y="30"/>
                </a:cxn>
                <a:cxn ang="0">
                  <a:pos x="96" y="20"/>
                </a:cxn>
                <a:cxn ang="0">
                  <a:pos x="88" y="13"/>
                </a:cxn>
                <a:cxn ang="0">
                  <a:pos x="86" y="0"/>
                </a:cxn>
                <a:cxn ang="0">
                  <a:pos x="92" y="0"/>
                </a:cxn>
                <a:cxn ang="0">
                  <a:pos x="99" y="18"/>
                </a:cxn>
                <a:cxn ang="0">
                  <a:pos x="102" y="38"/>
                </a:cxn>
                <a:cxn ang="0">
                  <a:pos x="112" y="56"/>
                </a:cxn>
              </a:cxnLst>
              <a:rect l="0" t="0" r="r" b="b"/>
              <a:pathLst>
                <a:path w="121" h="204">
                  <a:moveTo>
                    <a:pt x="112" y="56"/>
                  </a:moveTo>
                  <a:lnTo>
                    <a:pt x="93" y="56"/>
                  </a:lnTo>
                  <a:lnTo>
                    <a:pt x="86" y="60"/>
                  </a:lnTo>
                  <a:lnTo>
                    <a:pt x="99" y="77"/>
                  </a:lnTo>
                  <a:lnTo>
                    <a:pt x="109" y="99"/>
                  </a:lnTo>
                  <a:lnTo>
                    <a:pt x="102" y="114"/>
                  </a:lnTo>
                  <a:lnTo>
                    <a:pt x="93" y="128"/>
                  </a:lnTo>
                  <a:lnTo>
                    <a:pt x="99" y="153"/>
                  </a:lnTo>
                  <a:lnTo>
                    <a:pt x="108" y="167"/>
                  </a:lnTo>
                  <a:lnTo>
                    <a:pt x="116" y="179"/>
                  </a:lnTo>
                  <a:lnTo>
                    <a:pt x="121" y="195"/>
                  </a:lnTo>
                  <a:lnTo>
                    <a:pt x="118" y="204"/>
                  </a:lnTo>
                  <a:lnTo>
                    <a:pt x="104" y="200"/>
                  </a:lnTo>
                  <a:lnTo>
                    <a:pt x="91" y="197"/>
                  </a:lnTo>
                  <a:lnTo>
                    <a:pt x="75" y="197"/>
                  </a:lnTo>
                  <a:lnTo>
                    <a:pt x="60" y="197"/>
                  </a:lnTo>
                  <a:lnTo>
                    <a:pt x="44" y="197"/>
                  </a:lnTo>
                  <a:lnTo>
                    <a:pt x="32" y="194"/>
                  </a:lnTo>
                  <a:lnTo>
                    <a:pt x="20" y="193"/>
                  </a:lnTo>
                  <a:lnTo>
                    <a:pt x="20" y="174"/>
                  </a:lnTo>
                  <a:lnTo>
                    <a:pt x="18" y="165"/>
                  </a:lnTo>
                  <a:lnTo>
                    <a:pt x="16" y="163"/>
                  </a:lnTo>
                  <a:lnTo>
                    <a:pt x="7" y="162"/>
                  </a:lnTo>
                  <a:lnTo>
                    <a:pt x="2" y="151"/>
                  </a:lnTo>
                  <a:lnTo>
                    <a:pt x="0" y="152"/>
                  </a:lnTo>
                  <a:lnTo>
                    <a:pt x="1" y="149"/>
                  </a:lnTo>
                  <a:lnTo>
                    <a:pt x="6" y="134"/>
                  </a:lnTo>
                  <a:lnTo>
                    <a:pt x="12" y="123"/>
                  </a:lnTo>
                  <a:lnTo>
                    <a:pt x="19" y="113"/>
                  </a:lnTo>
                  <a:lnTo>
                    <a:pt x="31" y="109"/>
                  </a:lnTo>
                  <a:lnTo>
                    <a:pt x="42" y="120"/>
                  </a:lnTo>
                  <a:lnTo>
                    <a:pt x="51" y="105"/>
                  </a:lnTo>
                  <a:lnTo>
                    <a:pt x="57" y="90"/>
                  </a:lnTo>
                  <a:lnTo>
                    <a:pt x="63" y="80"/>
                  </a:lnTo>
                  <a:lnTo>
                    <a:pt x="69" y="66"/>
                  </a:lnTo>
                  <a:lnTo>
                    <a:pt x="74" y="53"/>
                  </a:lnTo>
                  <a:lnTo>
                    <a:pt x="80" y="41"/>
                  </a:lnTo>
                  <a:lnTo>
                    <a:pt x="91" y="30"/>
                  </a:lnTo>
                  <a:lnTo>
                    <a:pt x="96" y="20"/>
                  </a:lnTo>
                  <a:lnTo>
                    <a:pt x="88" y="13"/>
                  </a:lnTo>
                  <a:lnTo>
                    <a:pt x="86" y="0"/>
                  </a:lnTo>
                  <a:lnTo>
                    <a:pt x="92" y="0"/>
                  </a:lnTo>
                  <a:lnTo>
                    <a:pt x="99" y="18"/>
                  </a:lnTo>
                  <a:lnTo>
                    <a:pt x="102" y="38"/>
                  </a:lnTo>
                  <a:lnTo>
                    <a:pt x="112"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6" name="Freeform 115"/>
            <p:cNvSpPr>
              <a:spLocks/>
            </p:cNvSpPr>
            <p:nvPr/>
          </p:nvSpPr>
          <p:spPr bwMode="auto">
            <a:xfrm>
              <a:off x="2787" y="2487"/>
              <a:ext cx="229" cy="174"/>
            </a:xfrm>
            <a:custGeom>
              <a:avLst/>
              <a:gdLst/>
              <a:ahLst/>
              <a:cxnLst>
                <a:cxn ang="0">
                  <a:pos x="72" y="42"/>
                </a:cxn>
                <a:cxn ang="0">
                  <a:pos x="70" y="38"/>
                </a:cxn>
                <a:cxn ang="0">
                  <a:pos x="93" y="33"/>
                </a:cxn>
                <a:cxn ang="0">
                  <a:pos x="105" y="18"/>
                </a:cxn>
                <a:cxn ang="0">
                  <a:pos x="117" y="4"/>
                </a:cxn>
                <a:cxn ang="0">
                  <a:pos x="132" y="0"/>
                </a:cxn>
                <a:cxn ang="0">
                  <a:pos x="138" y="11"/>
                </a:cxn>
                <a:cxn ang="0">
                  <a:pos x="145" y="22"/>
                </a:cxn>
                <a:cxn ang="0">
                  <a:pos x="143" y="40"/>
                </a:cxn>
                <a:cxn ang="0">
                  <a:pos x="154" y="42"/>
                </a:cxn>
                <a:cxn ang="0">
                  <a:pos x="157" y="47"/>
                </a:cxn>
                <a:cxn ang="0">
                  <a:pos x="172" y="58"/>
                </a:cxn>
                <a:cxn ang="0">
                  <a:pos x="174" y="65"/>
                </a:cxn>
                <a:cxn ang="0">
                  <a:pos x="189" y="78"/>
                </a:cxn>
                <a:cxn ang="0">
                  <a:pos x="195" y="88"/>
                </a:cxn>
                <a:cxn ang="0">
                  <a:pos x="204" y="100"/>
                </a:cxn>
                <a:cxn ang="0">
                  <a:pos x="207" y="106"/>
                </a:cxn>
                <a:cxn ang="0">
                  <a:pos x="198" y="104"/>
                </a:cxn>
                <a:cxn ang="0">
                  <a:pos x="185" y="102"/>
                </a:cxn>
                <a:cxn ang="0">
                  <a:pos x="173" y="101"/>
                </a:cxn>
                <a:cxn ang="0">
                  <a:pos x="167" y="106"/>
                </a:cxn>
                <a:cxn ang="0">
                  <a:pos x="155" y="106"/>
                </a:cxn>
                <a:cxn ang="0">
                  <a:pos x="139" y="112"/>
                </a:cxn>
                <a:cxn ang="0">
                  <a:pos x="132" y="111"/>
                </a:cxn>
                <a:cxn ang="0">
                  <a:pos x="125" y="122"/>
                </a:cxn>
                <a:cxn ang="0">
                  <a:pos x="111" y="118"/>
                </a:cxn>
                <a:cxn ang="0">
                  <a:pos x="95" y="113"/>
                </a:cxn>
                <a:cxn ang="0">
                  <a:pos x="78" y="104"/>
                </a:cxn>
                <a:cxn ang="0">
                  <a:pos x="66" y="120"/>
                </a:cxn>
                <a:cxn ang="0">
                  <a:pos x="66" y="134"/>
                </a:cxn>
                <a:cxn ang="0">
                  <a:pos x="54" y="132"/>
                </a:cxn>
                <a:cxn ang="0">
                  <a:pos x="42" y="131"/>
                </a:cxn>
                <a:cxn ang="0">
                  <a:pos x="34" y="137"/>
                </a:cxn>
                <a:cxn ang="0">
                  <a:pos x="28" y="156"/>
                </a:cxn>
                <a:cxn ang="0">
                  <a:pos x="23" y="140"/>
                </a:cxn>
                <a:cxn ang="0">
                  <a:pos x="15" y="128"/>
                </a:cxn>
                <a:cxn ang="0">
                  <a:pos x="6" y="114"/>
                </a:cxn>
                <a:cxn ang="0">
                  <a:pos x="0" y="89"/>
                </a:cxn>
                <a:cxn ang="0">
                  <a:pos x="9" y="75"/>
                </a:cxn>
                <a:cxn ang="0">
                  <a:pos x="16" y="60"/>
                </a:cxn>
                <a:cxn ang="0">
                  <a:pos x="31" y="56"/>
                </a:cxn>
                <a:cxn ang="0">
                  <a:pos x="34" y="58"/>
                </a:cxn>
                <a:cxn ang="0">
                  <a:pos x="43" y="57"/>
                </a:cxn>
                <a:cxn ang="0">
                  <a:pos x="65" y="52"/>
                </a:cxn>
                <a:cxn ang="0">
                  <a:pos x="72" y="42"/>
                </a:cxn>
              </a:cxnLst>
              <a:rect l="0" t="0" r="r" b="b"/>
              <a:pathLst>
                <a:path w="207" h="156">
                  <a:moveTo>
                    <a:pt x="72" y="42"/>
                  </a:moveTo>
                  <a:lnTo>
                    <a:pt x="70" y="38"/>
                  </a:lnTo>
                  <a:lnTo>
                    <a:pt x="93" y="33"/>
                  </a:lnTo>
                  <a:lnTo>
                    <a:pt x="105" y="18"/>
                  </a:lnTo>
                  <a:lnTo>
                    <a:pt x="117" y="4"/>
                  </a:lnTo>
                  <a:lnTo>
                    <a:pt x="132" y="0"/>
                  </a:lnTo>
                  <a:lnTo>
                    <a:pt x="138" y="11"/>
                  </a:lnTo>
                  <a:lnTo>
                    <a:pt x="145" y="22"/>
                  </a:lnTo>
                  <a:lnTo>
                    <a:pt x="143" y="40"/>
                  </a:lnTo>
                  <a:lnTo>
                    <a:pt x="154" y="42"/>
                  </a:lnTo>
                  <a:lnTo>
                    <a:pt x="157" y="47"/>
                  </a:lnTo>
                  <a:lnTo>
                    <a:pt x="172" y="58"/>
                  </a:lnTo>
                  <a:lnTo>
                    <a:pt x="174" y="65"/>
                  </a:lnTo>
                  <a:lnTo>
                    <a:pt x="189" y="78"/>
                  </a:lnTo>
                  <a:lnTo>
                    <a:pt x="195" y="88"/>
                  </a:lnTo>
                  <a:lnTo>
                    <a:pt x="204" y="100"/>
                  </a:lnTo>
                  <a:lnTo>
                    <a:pt x="207" y="106"/>
                  </a:lnTo>
                  <a:lnTo>
                    <a:pt x="198" y="104"/>
                  </a:lnTo>
                  <a:lnTo>
                    <a:pt x="185" y="102"/>
                  </a:lnTo>
                  <a:lnTo>
                    <a:pt x="173" y="101"/>
                  </a:lnTo>
                  <a:lnTo>
                    <a:pt x="167" y="106"/>
                  </a:lnTo>
                  <a:lnTo>
                    <a:pt x="155" y="106"/>
                  </a:lnTo>
                  <a:lnTo>
                    <a:pt x="139" y="112"/>
                  </a:lnTo>
                  <a:lnTo>
                    <a:pt x="132" y="111"/>
                  </a:lnTo>
                  <a:lnTo>
                    <a:pt x="125" y="122"/>
                  </a:lnTo>
                  <a:lnTo>
                    <a:pt x="111" y="118"/>
                  </a:lnTo>
                  <a:lnTo>
                    <a:pt x="95" y="113"/>
                  </a:lnTo>
                  <a:lnTo>
                    <a:pt x="78" y="104"/>
                  </a:lnTo>
                  <a:lnTo>
                    <a:pt x="66" y="120"/>
                  </a:lnTo>
                  <a:lnTo>
                    <a:pt x="66" y="134"/>
                  </a:lnTo>
                  <a:lnTo>
                    <a:pt x="54" y="132"/>
                  </a:lnTo>
                  <a:lnTo>
                    <a:pt x="42" y="131"/>
                  </a:lnTo>
                  <a:lnTo>
                    <a:pt x="34" y="137"/>
                  </a:lnTo>
                  <a:lnTo>
                    <a:pt x="28" y="156"/>
                  </a:lnTo>
                  <a:lnTo>
                    <a:pt x="23" y="140"/>
                  </a:lnTo>
                  <a:lnTo>
                    <a:pt x="15" y="128"/>
                  </a:lnTo>
                  <a:lnTo>
                    <a:pt x="6" y="114"/>
                  </a:lnTo>
                  <a:lnTo>
                    <a:pt x="0" y="89"/>
                  </a:lnTo>
                  <a:lnTo>
                    <a:pt x="9" y="75"/>
                  </a:lnTo>
                  <a:lnTo>
                    <a:pt x="16" y="60"/>
                  </a:lnTo>
                  <a:lnTo>
                    <a:pt x="31" y="56"/>
                  </a:lnTo>
                  <a:lnTo>
                    <a:pt x="34" y="58"/>
                  </a:lnTo>
                  <a:lnTo>
                    <a:pt x="43" y="57"/>
                  </a:lnTo>
                  <a:lnTo>
                    <a:pt x="65" y="52"/>
                  </a:lnTo>
                  <a:lnTo>
                    <a:pt x="72"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7" name="Freeform 116"/>
            <p:cNvSpPr>
              <a:spLocks/>
            </p:cNvSpPr>
            <p:nvPr/>
          </p:nvSpPr>
          <p:spPr bwMode="auto">
            <a:xfrm>
              <a:off x="2238" y="2430"/>
              <a:ext cx="51" cy="13"/>
            </a:xfrm>
            <a:custGeom>
              <a:avLst/>
              <a:gdLst/>
              <a:ahLst/>
              <a:cxnLst>
                <a:cxn ang="0">
                  <a:pos x="2" y="5"/>
                </a:cxn>
                <a:cxn ang="0">
                  <a:pos x="0" y="12"/>
                </a:cxn>
                <a:cxn ang="0">
                  <a:pos x="13" y="8"/>
                </a:cxn>
                <a:cxn ang="0">
                  <a:pos x="25" y="3"/>
                </a:cxn>
                <a:cxn ang="0">
                  <a:pos x="46" y="8"/>
                </a:cxn>
                <a:cxn ang="0">
                  <a:pos x="42" y="3"/>
                </a:cxn>
                <a:cxn ang="0">
                  <a:pos x="23" y="0"/>
                </a:cxn>
                <a:cxn ang="0">
                  <a:pos x="20" y="3"/>
                </a:cxn>
                <a:cxn ang="0">
                  <a:pos x="4" y="3"/>
                </a:cxn>
                <a:cxn ang="0">
                  <a:pos x="4" y="5"/>
                </a:cxn>
                <a:cxn ang="0">
                  <a:pos x="18" y="5"/>
                </a:cxn>
                <a:cxn ang="0">
                  <a:pos x="10" y="8"/>
                </a:cxn>
                <a:cxn ang="0">
                  <a:pos x="2" y="5"/>
                </a:cxn>
              </a:cxnLst>
              <a:rect l="0" t="0" r="r" b="b"/>
              <a:pathLst>
                <a:path w="46" h="12">
                  <a:moveTo>
                    <a:pt x="2" y="5"/>
                  </a:moveTo>
                  <a:lnTo>
                    <a:pt x="0" y="12"/>
                  </a:lnTo>
                  <a:lnTo>
                    <a:pt x="13" y="8"/>
                  </a:lnTo>
                  <a:lnTo>
                    <a:pt x="25" y="3"/>
                  </a:lnTo>
                  <a:lnTo>
                    <a:pt x="46" y="8"/>
                  </a:lnTo>
                  <a:lnTo>
                    <a:pt x="42" y="3"/>
                  </a:lnTo>
                  <a:lnTo>
                    <a:pt x="23" y="0"/>
                  </a:lnTo>
                  <a:lnTo>
                    <a:pt x="20" y="3"/>
                  </a:lnTo>
                  <a:lnTo>
                    <a:pt x="4" y="3"/>
                  </a:lnTo>
                  <a:lnTo>
                    <a:pt x="4" y="5"/>
                  </a:lnTo>
                  <a:lnTo>
                    <a:pt x="18" y="5"/>
                  </a:lnTo>
                  <a:lnTo>
                    <a:pt x="10" y="8"/>
                  </a:lnTo>
                  <a:lnTo>
                    <a:pt x="2"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8" name="Freeform 117"/>
            <p:cNvSpPr>
              <a:spLocks/>
            </p:cNvSpPr>
            <p:nvPr/>
          </p:nvSpPr>
          <p:spPr bwMode="auto">
            <a:xfrm>
              <a:off x="2476" y="2483"/>
              <a:ext cx="77" cy="127"/>
            </a:xfrm>
            <a:custGeom>
              <a:avLst/>
              <a:gdLst/>
              <a:ahLst/>
              <a:cxnLst>
                <a:cxn ang="0">
                  <a:pos x="61" y="97"/>
                </a:cxn>
                <a:cxn ang="0">
                  <a:pos x="50" y="100"/>
                </a:cxn>
                <a:cxn ang="0">
                  <a:pos x="38" y="105"/>
                </a:cxn>
                <a:cxn ang="0">
                  <a:pos x="27" y="110"/>
                </a:cxn>
                <a:cxn ang="0">
                  <a:pos x="16" y="114"/>
                </a:cxn>
                <a:cxn ang="0">
                  <a:pos x="1" y="109"/>
                </a:cxn>
                <a:cxn ang="0">
                  <a:pos x="6" y="105"/>
                </a:cxn>
                <a:cxn ang="0">
                  <a:pos x="3" y="91"/>
                </a:cxn>
                <a:cxn ang="0">
                  <a:pos x="0" y="78"/>
                </a:cxn>
                <a:cxn ang="0">
                  <a:pos x="6" y="66"/>
                </a:cxn>
                <a:cxn ang="0">
                  <a:pos x="10" y="52"/>
                </a:cxn>
                <a:cxn ang="0">
                  <a:pos x="8" y="30"/>
                </a:cxn>
                <a:cxn ang="0">
                  <a:pos x="7" y="16"/>
                </a:cxn>
                <a:cxn ang="0">
                  <a:pos x="6" y="2"/>
                </a:cxn>
                <a:cxn ang="0">
                  <a:pos x="25" y="2"/>
                </a:cxn>
                <a:cxn ang="0">
                  <a:pos x="43" y="1"/>
                </a:cxn>
                <a:cxn ang="0">
                  <a:pos x="48" y="0"/>
                </a:cxn>
                <a:cxn ang="0">
                  <a:pos x="50" y="6"/>
                </a:cxn>
                <a:cxn ang="0">
                  <a:pos x="56" y="21"/>
                </a:cxn>
                <a:cxn ang="0">
                  <a:pos x="56" y="30"/>
                </a:cxn>
                <a:cxn ang="0">
                  <a:pos x="57" y="42"/>
                </a:cxn>
                <a:cxn ang="0">
                  <a:pos x="60" y="54"/>
                </a:cxn>
                <a:cxn ang="0">
                  <a:pos x="61" y="68"/>
                </a:cxn>
                <a:cxn ang="0">
                  <a:pos x="61" y="81"/>
                </a:cxn>
                <a:cxn ang="0">
                  <a:pos x="69" y="91"/>
                </a:cxn>
                <a:cxn ang="0">
                  <a:pos x="61" y="97"/>
                </a:cxn>
                <a:cxn ang="0">
                  <a:pos x="55" y="92"/>
                </a:cxn>
                <a:cxn ang="0">
                  <a:pos x="61" y="97"/>
                </a:cxn>
              </a:cxnLst>
              <a:rect l="0" t="0" r="r" b="b"/>
              <a:pathLst>
                <a:path w="69" h="114">
                  <a:moveTo>
                    <a:pt x="61" y="97"/>
                  </a:moveTo>
                  <a:lnTo>
                    <a:pt x="50" y="100"/>
                  </a:lnTo>
                  <a:lnTo>
                    <a:pt x="38" y="105"/>
                  </a:lnTo>
                  <a:lnTo>
                    <a:pt x="27" y="110"/>
                  </a:lnTo>
                  <a:lnTo>
                    <a:pt x="16" y="114"/>
                  </a:lnTo>
                  <a:lnTo>
                    <a:pt x="1" y="109"/>
                  </a:lnTo>
                  <a:lnTo>
                    <a:pt x="6" y="105"/>
                  </a:lnTo>
                  <a:lnTo>
                    <a:pt x="3" y="91"/>
                  </a:lnTo>
                  <a:lnTo>
                    <a:pt x="0" y="78"/>
                  </a:lnTo>
                  <a:lnTo>
                    <a:pt x="6" y="66"/>
                  </a:lnTo>
                  <a:lnTo>
                    <a:pt x="10" y="52"/>
                  </a:lnTo>
                  <a:lnTo>
                    <a:pt x="8" y="30"/>
                  </a:lnTo>
                  <a:lnTo>
                    <a:pt x="7" y="16"/>
                  </a:lnTo>
                  <a:lnTo>
                    <a:pt x="6" y="2"/>
                  </a:lnTo>
                  <a:lnTo>
                    <a:pt x="25" y="2"/>
                  </a:lnTo>
                  <a:lnTo>
                    <a:pt x="43" y="1"/>
                  </a:lnTo>
                  <a:lnTo>
                    <a:pt x="48" y="0"/>
                  </a:lnTo>
                  <a:lnTo>
                    <a:pt x="50" y="6"/>
                  </a:lnTo>
                  <a:lnTo>
                    <a:pt x="56" y="21"/>
                  </a:lnTo>
                  <a:lnTo>
                    <a:pt x="56" y="30"/>
                  </a:lnTo>
                  <a:lnTo>
                    <a:pt x="57" y="42"/>
                  </a:lnTo>
                  <a:lnTo>
                    <a:pt x="60" y="54"/>
                  </a:lnTo>
                  <a:lnTo>
                    <a:pt x="61" y="68"/>
                  </a:lnTo>
                  <a:lnTo>
                    <a:pt x="61" y="81"/>
                  </a:lnTo>
                  <a:lnTo>
                    <a:pt x="69" y="91"/>
                  </a:lnTo>
                  <a:lnTo>
                    <a:pt x="61" y="97"/>
                  </a:lnTo>
                  <a:lnTo>
                    <a:pt x="55" y="92"/>
                  </a:lnTo>
                  <a:lnTo>
                    <a:pt x="61" y="9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9" name="Freeform 118"/>
            <p:cNvSpPr>
              <a:spLocks/>
            </p:cNvSpPr>
            <p:nvPr/>
          </p:nvSpPr>
          <p:spPr bwMode="auto">
            <a:xfrm>
              <a:off x="2267" y="2452"/>
              <a:ext cx="129" cy="109"/>
            </a:xfrm>
            <a:custGeom>
              <a:avLst/>
              <a:gdLst/>
              <a:ahLst/>
              <a:cxnLst>
                <a:cxn ang="0">
                  <a:pos x="105" y="23"/>
                </a:cxn>
                <a:cxn ang="0">
                  <a:pos x="102" y="29"/>
                </a:cxn>
                <a:cxn ang="0">
                  <a:pos x="105" y="29"/>
                </a:cxn>
                <a:cxn ang="0">
                  <a:pos x="112" y="46"/>
                </a:cxn>
                <a:cxn ang="0">
                  <a:pos x="111" y="59"/>
                </a:cxn>
                <a:cxn ang="0">
                  <a:pos x="113" y="62"/>
                </a:cxn>
                <a:cxn ang="0">
                  <a:pos x="114" y="66"/>
                </a:cxn>
                <a:cxn ang="0">
                  <a:pos x="116" y="72"/>
                </a:cxn>
                <a:cxn ang="0">
                  <a:pos x="116" y="77"/>
                </a:cxn>
                <a:cxn ang="0">
                  <a:pos x="108" y="78"/>
                </a:cxn>
                <a:cxn ang="0">
                  <a:pos x="111" y="85"/>
                </a:cxn>
                <a:cxn ang="0">
                  <a:pos x="106" y="91"/>
                </a:cxn>
                <a:cxn ang="0">
                  <a:pos x="105" y="92"/>
                </a:cxn>
                <a:cxn ang="0">
                  <a:pos x="100" y="92"/>
                </a:cxn>
                <a:cxn ang="0">
                  <a:pos x="93" y="97"/>
                </a:cxn>
                <a:cxn ang="0">
                  <a:pos x="89" y="94"/>
                </a:cxn>
                <a:cxn ang="0">
                  <a:pos x="84" y="76"/>
                </a:cxn>
                <a:cxn ang="0">
                  <a:pos x="76" y="76"/>
                </a:cxn>
                <a:cxn ang="0">
                  <a:pos x="70" y="77"/>
                </a:cxn>
                <a:cxn ang="0">
                  <a:pos x="71" y="65"/>
                </a:cxn>
                <a:cxn ang="0">
                  <a:pos x="62" y="48"/>
                </a:cxn>
                <a:cxn ang="0">
                  <a:pos x="40" y="54"/>
                </a:cxn>
                <a:cxn ang="0">
                  <a:pos x="28" y="66"/>
                </a:cxn>
                <a:cxn ang="0">
                  <a:pos x="27" y="60"/>
                </a:cxn>
                <a:cxn ang="0">
                  <a:pos x="23" y="55"/>
                </a:cxn>
                <a:cxn ang="0">
                  <a:pos x="21" y="52"/>
                </a:cxn>
                <a:cxn ang="0">
                  <a:pos x="16" y="47"/>
                </a:cxn>
                <a:cxn ang="0">
                  <a:pos x="8" y="37"/>
                </a:cxn>
                <a:cxn ang="0">
                  <a:pos x="8" y="34"/>
                </a:cxn>
                <a:cxn ang="0">
                  <a:pos x="6" y="35"/>
                </a:cxn>
                <a:cxn ang="0">
                  <a:pos x="5" y="30"/>
                </a:cxn>
                <a:cxn ang="0">
                  <a:pos x="0" y="32"/>
                </a:cxn>
                <a:cxn ang="0">
                  <a:pos x="2" y="31"/>
                </a:cxn>
                <a:cxn ang="0">
                  <a:pos x="5" y="24"/>
                </a:cxn>
                <a:cxn ang="0">
                  <a:pos x="20" y="18"/>
                </a:cxn>
                <a:cxn ang="0">
                  <a:pos x="20" y="8"/>
                </a:cxn>
                <a:cxn ang="0">
                  <a:pos x="22" y="0"/>
                </a:cxn>
                <a:cxn ang="0">
                  <a:pos x="36" y="4"/>
                </a:cxn>
                <a:cxn ang="0">
                  <a:pos x="59" y="5"/>
                </a:cxn>
                <a:cxn ang="0">
                  <a:pos x="57" y="10"/>
                </a:cxn>
                <a:cxn ang="0">
                  <a:pos x="66" y="10"/>
                </a:cxn>
                <a:cxn ang="0">
                  <a:pos x="71" y="12"/>
                </a:cxn>
                <a:cxn ang="0">
                  <a:pos x="81" y="11"/>
                </a:cxn>
                <a:cxn ang="0">
                  <a:pos x="92" y="7"/>
                </a:cxn>
                <a:cxn ang="0">
                  <a:pos x="94" y="4"/>
                </a:cxn>
                <a:cxn ang="0">
                  <a:pos x="99" y="18"/>
                </a:cxn>
                <a:cxn ang="0">
                  <a:pos x="105" y="23"/>
                </a:cxn>
              </a:cxnLst>
              <a:rect l="0" t="0" r="r" b="b"/>
              <a:pathLst>
                <a:path w="116" h="97">
                  <a:moveTo>
                    <a:pt x="105" y="23"/>
                  </a:moveTo>
                  <a:lnTo>
                    <a:pt x="102" y="29"/>
                  </a:lnTo>
                  <a:lnTo>
                    <a:pt x="105" y="29"/>
                  </a:lnTo>
                  <a:lnTo>
                    <a:pt x="112" y="46"/>
                  </a:lnTo>
                  <a:lnTo>
                    <a:pt x="111" y="59"/>
                  </a:lnTo>
                  <a:lnTo>
                    <a:pt x="113" y="62"/>
                  </a:lnTo>
                  <a:lnTo>
                    <a:pt x="114" y="66"/>
                  </a:lnTo>
                  <a:lnTo>
                    <a:pt x="116" y="72"/>
                  </a:lnTo>
                  <a:lnTo>
                    <a:pt x="116" y="77"/>
                  </a:lnTo>
                  <a:lnTo>
                    <a:pt x="108" y="78"/>
                  </a:lnTo>
                  <a:lnTo>
                    <a:pt x="111" y="85"/>
                  </a:lnTo>
                  <a:lnTo>
                    <a:pt x="106" y="91"/>
                  </a:lnTo>
                  <a:lnTo>
                    <a:pt x="105" y="92"/>
                  </a:lnTo>
                  <a:lnTo>
                    <a:pt x="100" y="92"/>
                  </a:lnTo>
                  <a:lnTo>
                    <a:pt x="93" y="97"/>
                  </a:lnTo>
                  <a:lnTo>
                    <a:pt x="89" y="94"/>
                  </a:lnTo>
                  <a:lnTo>
                    <a:pt x="84" y="76"/>
                  </a:lnTo>
                  <a:lnTo>
                    <a:pt x="76" y="76"/>
                  </a:lnTo>
                  <a:lnTo>
                    <a:pt x="70" y="77"/>
                  </a:lnTo>
                  <a:lnTo>
                    <a:pt x="71" y="65"/>
                  </a:lnTo>
                  <a:lnTo>
                    <a:pt x="62" y="48"/>
                  </a:lnTo>
                  <a:lnTo>
                    <a:pt x="40" y="54"/>
                  </a:lnTo>
                  <a:lnTo>
                    <a:pt x="28" y="66"/>
                  </a:lnTo>
                  <a:lnTo>
                    <a:pt x="27" y="60"/>
                  </a:lnTo>
                  <a:lnTo>
                    <a:pt x="23" y="55"/>
                  </a:lnTo>
                  <a:lnTo>
                    <a:pt x="21" y="52"/>
                  </a:lnTo>
                  <a:lnTo>
                    <a:pt x="16" y="47"/>
                  </a:lnTo>
                  <a:lnTo>
                    <a:pt x="8" y="37"/>
                  </a:lnTo>
                  <a:lnTo>
                    <a:pt x="8" y="34"/>
                  </a:lnTo>
                  <a:lnTo>
                    <a:pt x="6" y="35"/>
                  </a:lnTo>
                  <a:lnTo>
                    <a:pt x="5" y="30"/>
                  </a:lnTo>
                  <a:lnTo>
                    <a:pt x="0" y="32"/>
                  </a:lnTo>
                  <a:lnTo>
                    <a:pt x="2" y="31"/>
                  </a:lnTo>
                  <a:lnTo>
                    <a:pt x="5" y="24"/>
                  </a:lnTo>
                  <a:lnTo>
                    <a:pt x="20" y="18"/>
                  </a:lnTo>
                  <a:lnTo>
                    <a:pt x="20" y="8"/>
                  </a:lnTo>
                  <a:lnTo>
                    <a:pt x="22" y="0"/>
                  </a:lnTo>
                  <a:lnTo>
                    <a:pt x="36" y="4"/>
                  </a:lnTo>
                  <a:lnTo>
                    <a:pt x="59" y="5"/>
                  </a:lnTo>
                  <a:lnTo>
                    <a:pt x="57" y="10"/>
                  </a:lnTo>
                  <a:lnTo>
                    <a:pt x="66" y="10"/>
                  </a:lnTo>
                  <a:lnTo>
                    <a:pt x="71" y="12"/>
                  </a:lnTo>
                  <a:lnTo>
                    <a:pt x="81" y="11"/>
                  </a:lnTo>
                  <a:lnTo>
                    <a:pt x="92" y="7"/>
                  </a:lnTo>
                  <a:lnTo>
                    <a:pt x="94" y="4"/>
                  </a:lnTo>
                  <a:lnTo>
                    <a:pt x="99" y="18"/>
                  </a:lnTo>
                  <a:lnTo>
                    <a:pt x="105" y="2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0" name="Freeform 119"/>
            <p:cNvSpPr>
              <a:spLocks/>
            </p:cNvSpPr>
            <p:nvPr/>
          </p:nvSpPr>
          <p:spPr bwMode="auto">
            <a:xfrm>
              <a:off x="2240" y="2452"/>
              <a:ext cx="51" cy="35"/>
            </a:xfrm>
            <a:custGeom>
              <a:avLst/>
              <a:gdLst/>
              <a:ahLst/>
              <a:cxnLst>
                <a:cxn ang="0">
                  <a:pos x="24" y="19"/>
                </a:cxn>
                <a:cxn ang="0">
                  <a:pos x="22" y="24"/>
                </a:cxn>
                <a:cxn ang="0">
                  <a:pos x="24" y="29"/>
                </a:cxn>
                <a:cxn ang="0">
                  <a:pos x="27" y="31"/>
                </a:cxn>
                <a:cxn ang="0">
                  <a:pos x="30" y="24"/>
                </a:cxn>
                <a:cxn ang="0">
                  <a:pos x="45" y="18"/>
                </a:cxn>
                <a:cxn ang="0">
                  <a:pos x="45" y="8"/>
                </a:cxn>
                <a:cxn ang="0">
                  <a:pos x="47" y="0"/>
                </a:cxn>
                <a:cxn ang="0">
                  <a:pos x="34" y="1"/>
                </a:cxn>
                <a:cxn ang="0">
                  <a:pos x="21" y="2"/>
                </a:cxn>
                <a:cxn ang="0">
                  <a:pos x="0" y="7"/>
                </a:cxn>
                <a:cxn ang="0">
                  <a:pos x="7" y="7"/>
                </a:cxn>
                <a:cxn ang="0">
                  <a:pos x="5" y="11"/>
                </a:cxn>
                <a:cxn ang="0">
                  <a:pos x="13" y="12"/>
                </a:cxn>
                <a:cxn ang="0">
                  <a:pos x="12" y="14"/>
                </a:cxn>
                <a:cxn ang="0">
                  <a:pos x="23" y="14"/>
                </a:cxn>
                <a:cxn ang="0">
                  <a:pos x="27" y="17"/>
                </a:cxn>
                <a:cxn ang="0">
                  <a:pos x="18" y="18"/>
                </a:cxn>
                <a:cxn ang="0">
                  <a:pos x="24" y="19"/>
                </a:cxn>
              </a:cxnLst>
              <a:rect l="0" t="0" r="r" b="b"/>
              <a:pathLst>
                <a:path w="47" h="31">
                  <a:moveTo>
                    <a:pt x="24" y="19"/>
                  </a:moveTo>
                  <a:lnTo>
                    <a:pt x="22" y="24"/>
                  </a:lnTo>
                  <a:lnTo>
                    <a:pt x="24" y="29"/>
                  </a:lnTo>
                  <a:lnTo>
                    <a:pt x="27" y="31"/>
                  </a:lnTo>
                  <a:lnTo>
                    <a:pt x="30" y="24"/>
                  </a:lnTo>
                  <a:lnTo>
                    <a:pt x="45" y="18"/>
                  </a:lnTo>
                  <a:lnTo>
                    <a:pt x="45" y="8"/>
                  </a:lnTo>
                  <a:lnTo>
                    <a:pt x="47" y="0"/>
                  </a:lnTo>
                  <a:lnTo>
                    <a:pt x="34" y="1"/>
                  </a:lnTo>
                  <a:lnTo>
                    <a:pt x="21" y="2"/>
                  </a:lnTo>
                  <a:lnTo>
                    <a:pt x="0" y="7"/>
                  </a:lnTo>
                  <a:lnTo>
                    <a:pt x="7" y="7"/>
                  </a:lnTo>
                  <a:lnTo>
                    <a:pt x="5" y="11"/>
                  </a:lnTo>
                  <a:lnTo>
                    <a:pt x="13" y="12"/>
                  </a:lnTo>
                  <a:lnTo>
                    <a:pt x="12" y="14"/>
                  </a:lnTo>
                  <a:lnTo>
                    <a:pt x="23" y="14"/>
                  </a:lnTo>
                  <a:lnTo>
                    <a:pt x="27" y="17"/>
                  </a:lnTo>
                  <a:lnTo>
                    <a:pt x="18" y="18"/>
                  </a:lnTo>
                  <a:lnTo>
                    <a:pt x="24"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1" name="Freeform 120"/>
            <p:cNvSpPr>
              <a:spLocks/>
            </p:cNvSpPr>
            <p:nvPr/>
          </p:nvSpPr>
          <p:spPr bwMode="auto">
            <a:xfrm>
              <a:off x="2382" y="2492"/>
              <a:ext cx="105" cy="127"/>
            </a:xfrm>
            <a:custGeom>
              <a:avLst/>
              <a:gdLst/>
              <a:ahLst/>
              <a:cxnLst>
                <a:cxn ang="0">
                  <a:pos x="53" y="7"/>
                </a:cxn>
                <a:cxn ang="0">
                  <a:pos x="47" y="5"/>
                </a:cxn>
                <a:cxn ang="0">
                  <a:pos x="36" y="7"/>
                </a:cxn>
                <a:cxn ang="0">
                  <a:pos x="33" y="0"/>
                </a:cxn>
                <a:cxn ang="0">
                  <a:pos x="27" y="4"/>
                </a:cxn>
                <a:cxn ang="0">
                  <a:pos x="20" y="8"/>
                </a:cxn>
                <a:cxn ang="0">
                  <a:pos x="11" y="6"/>
                </a:cxn>
                <a:cxn ang="0">
                  <a:pos x="7" y="10"/>
                </a:cxn>
                <a:cxn ang="0">
                  <a:pos x="6" y="23"/>
                </a:cxn>
                <a:cxn ang="0">
                  <a:pos x="8" y="26"/>
                </a:cxn>
                <a:cxn ang="0">
                  <a:pos x="9" y="30"/>
                </a:cxn>
                <a:cxn ang="0">
                  <a:pos x="11" y="36"/>
                </a:cxn>
                <a:cxn ang="0">
                  <a:pos x="11" y="41"/>
                </a:cxn>
                <a:cxn ang="0">
                  <a:pos x="3" y="42"/>
                </a:cxn>
                <a:cxn ang="0">
                  <a:pos x="6" y="49"/>
                </a:cxn>
                <a:cxn ang="0">
                  <a:pos x="1" y="55"/>
                </a:cxn>
                <a:cxn ang="0">
                  <a:pos x="0" y="56"/>
                </a:cxn>
                <a:cxn ang="0">
                  <a:pos x="0" y="72"/>
                </a:cxn>
                <a:cxn ang="0">
                  <a:pos x="0" y="76"/>
                </a:cxn>
                <a:cxn ang="0">
                  <a:pos x="9" y="84"/>
                </a:cxn>
                <a:cxn ang="0">
                  <a:pos x="17" y="92"/>
                </a:cxn>
                <a:cxn ang="0">
                  <a:pos x="14" y="114"/>
                </a:cxn>
                <a:cxn ang="0">
                  <a:pos x="35" y="107"/>
                </a:cxn>
                <a:cxn ang="0">
                  <a:pos x="54" y="100"/>
                </a:cxn>
                <a:cxn ang="0">
                  <a:pos x="49" y="100"/>
                </a:cxn>
                <a:cxn ang="0">
                  <a:pos x="69" y="98"/>
                </a:cxn>
                <a:cxn ang="0">
                  <a:pos x="60" y="98"/>
                </a:cxn>
                <a:cxn ang="0">
                  <a:pos x="72" y="97"/>
                </a:cxn>
                <a:cxn ang="0">
                  <a:pos x="81" y="98"/>
                </a:cxn>
                <a:cxn ang="0">
                  <a:pos x="84" y="101"/>
                </a:cxn>
                <a:cxn ang="0">
                  <a:pos x="89" y="97"/>
                </a:cxn>
                <a:cxn ang="0">
                  <a:pos x="86" y="83"/>
                </a:cxn>
                <a:cxn ang="0">
                  <a:pos x="83" y="70"/>
                </a:cxn>
                <a:cxn ang="0">
                  <a:pos x="89" y="58"/>
                </a:cxn>
                <a:cxn ang="0">
                  <a:pos x="93" y="44"/>
                </a:cxn>
                <a:cxn ang="0">
                  <a:pos x="91" y="22"/>
                </a:cxn>
                <a:cxn ang="0">
                  <a:pos x="77" y="13"/>
                </a:cxn>
                <a:cxn ang="0">
                  <a:pos x="62" y="18"/>
                </a:cxn>
                <a:cxn ang="0">
                  <a:pos x="53" y="7"/>
                </a:cxn>
              </a:cxnLst>
              <a:rect l="0" t="0" r="r" b="b"/>
              <a:pathLst>
                <a:path w="93" h="114">
                  <a:moveTo>
                    <a:pt x="53" y="7"/>
                  </a:moveTo>
                  <a:lnTo>
                    <a:pt x="47" y="5"/>
                  </a:lnTo>
                  <a:lnTo>
                    <a:pt x="36" y="7"/>
                  </a:lnTo>
                  <a:lnTo>
                    <a:pt x="33" y="0"/>
                  </a:lnTo>
                  <a:lnTo>
                    <a:pt x="27" y="4"/>
                  </a:lnTo>
                  <a:lnTo>
                    <a:pt x="20" y="8"/>
                  </a:lnTo>
                  <a:lnTo>
                    <a:pt x="11" y="6"/>
                  </a:lnTo>
                  <a:lnTo>
                    <a:pt x="7" y="10"/>
                  </a:lnTo>
                  <a:lnTo>
                    <a:pt x="6" y="23"/>
                  </a:lnTo>
                  <a:lnTo>
                    <a:pt x="8" y="26"/>
                  </a:lnTo>
                  <a:lnTo>
                    <a:pt x="9" y="30"/>
                  </a:lnTo>
                  <a:lnTo>
                    <a:pt x="11" y="36"/>
                  </a:lnTo>
                  <a:lnTo>
                    <a:pt x="11" y="41"/>
                  </a:lnTo>
                  <a:lnTo>
                    <a:pt x="3" y="42"/>
                  </a:lnTo>
                  <a:lnTo>
                    <a:pt x="6" y="49"/>
                  </a:lnTo>
                  <a:lnTo>
                    <a:pt x="1" y="55"/>
                  </a:lnTo>
                  <a:lnTo>
                    <a:pt x="0" y="56"/>
                  </a:lnTo>
                  <a:lnTo>
                    <a:pt x="0" y="72"/>
                  </a:lnTo>
                  <a:lnTo>
                    <a:pt x="0" y="76"/>
                  </a:lnTo>
                  <a:lnTo>
                    <a:pt x="9" y="84"/>
                  </a:lnTo>
                  <a:lnTo>
                    <a:pt x="17" y="92"/>
                  </a:lnTo>
                  <a:lnTo>
                    <a:pt x="14" y="114"/>
                  </a:lnTo>
                  <a:lnTo>
                    <a:pt x="35" y="107"/>
                  </a:lnTo>
                  <a:lnTo>
                    <a:pt x="54" y="100"/>
                  </a:lnTo>
                  <a:lnTo>
                    <a:pt x="49" y="100"/>
                  </a:lnTo>
                  <a:lnTo>
                    <a:pt x="69" y="98"/>
                  </a:lnTo>
                  <a:lnTo>
                    <a:pt x="60" y="98"/>
                  </a:lnTo>
                  <a:lnTo>
                    <a:pt x="72" y="97"/>
                  </a:lnTo>
                  <a:lnTo>
                    <a:pt x="81" y="98"/>
                  </a:lnTo>
                  <a:lnTo>
                    <a:pt x="84" y="101"/>
                  </a:lnTo>
                  <a:lnTo>
                    <a:pt x="89" y="97"/>
                  </a:lnTo>
                  <a:lnTo>
                    <a:pt x="86" y="83"/>
                  </a:lnTo>
                  <a:lnTo>
                    <a:pt x="83" y="70"/>
                  </a:lnTo>
                  <a:lnTo>
                    <a:pt x="89" y="58"/>
                  </a:lnTo>
                  <a:lnTo>
                    <a:pt x="93" y="44"/>
                  </a:lnTo>
                  <a:lnTo>
                    <a:pt x="91" y="22"/>
                  </a:lnTo>
                  <a:lnTo>
                    <a:pt x="77" y="13"/>
                  </a:lnTo>
                  <a:lnTo>
                    <a:pt x="62" y="18"/>
                  </a:lnTo>
                  <a:lnTo>
                    <a:pt x="53"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2" name="Freeform 121"/>
            <p:cNvSpPr>
              <a:spLocks/>
            </p:cNvSpPr>
            <p:nvPr/>
          </p:nvSpPr>
          <p:spPr bwMode="auto">
            <a:xfrm>
              <a:off x="2298" y="2505"/>
              <a:ext cx="53" cy="62"/>
            </a:xfrm>
            <a:custGeom>
              <a:avLst/>
              <a:gdLst/>
              <a:ahLst/>
              <a:cxnLst>
                <a:cxn ang="0">
                  <a:pos x="48" y="28"/>
                </a:cxn>
                <a:cxn ang="0">
                  <a:pos x="41" y="38"/>
                </a:cxn>
                <a:cxn ang="0">
                  <a:pos x="34" y="49"/>
                </a:cxn>
                <a:cxn ang="0">
                  <a:pos x="29" y="55"/>
                </a:cxn>
                <a:cxn ang="0">
                  <a:pos x="12" y="47"/>
                </a:cxn>
                <a:cxn ang="0">
                  <a:pos x="16" y="44"/>
                </a:cxn>
                <a:cxn ang="0">
                  <a:pos x="12" y="42"/>
                </a:cxn>
                <a:cxn ang="0">
                  <a:pos x="1" y="30"/>
                </a:cxn>
                <a:cxn ang="0">
                  <a:pos x="6" y="26"/>
                </a:cxn>
                <a:cxn ang="0">
                  <a:pos x="1" y="24"/>
                </a:cxn>
                <a:cxn ang="0">
                  <a:pos x="5" y="22"/>
                </a:cxn>
                <a:cxn ang="0">
                  <a:pos x="0" y="18"/>
                </a:cxn>
                <a:cxn ang="0">
                  <a:pos x="12" y="6"/>
                </a:cxn>
                <a:cxn ang="0">
                  <a:pos x="34" y="0"/>
                </a:cxn>
                <a:cxn ang="0">
                  <a:pos x="43" y="17"/>
                </a:cxn>
                <a:cxn ang="0">
                  <a:pos x="42" y="29"/>
                </a:cxn>
                <a:cxn ang="0">
                  <a:pos x="48" y="28"/>
                </a:cxn>
              </a:cxnLst>
              <a:rect l="0" t="0" r="r" b="b"/>
              <a:pathLst>
                <a:path w="48" h="55">
                  <a:moveTo>
                    <a:pt x="48" y="28"/>
                  </a:moveTo>
                  <a:lnTo>
                    <a:pt x="41" y="38"/>
                  </a:lnTo>
                  <a:lnTo>
                    <a:pt x="34" y="49"/>
                  </a:lnTo>
                  <a:lnTo>
                    <a:pt x="29" y="55"/>
                  </a:lnTo>
                  <a:lnTo>
                    <a:pt x="12" y="47"/>
                  </a:lnTo>
                  <a:lnTo>
                    <a:pt x="16" y="44"/>
                  </a:lnTo>
                  <a:lnTo>
                    <a:pt x="12" y="42"/>
                  </a:lnTo>
                  <a:lnTo>
                    <a:pt x="1" y="30"/>
                  </a:lnTo>
                  <a:lnTo>
                    <a:pt x="6" y="26"/>
                  </a:lnTo>
                  <a:lnTo>
                    <a:pt x="1" y="24"/>
                  </a:lnTo>
                  <a:lnTo>
                    <a:pt x="5" y="22"/>
                  </a:lnTo>
                  <a:lnTo>
                    <a:pt x="0" y="18"/>
                  </a:lnTo>
                  <a:lnTo>
                    <a:pt x="12" y="6"/>
                  </a:lnTo>
                  <a:lnTo>
                    <a:pt x="34" y="0"/>
                  </a:lnTo>
                  <a:lnTo>
                    <a:pt x="43" y="17"/>
                  </a:lnTo>
                  <a:lnTo>
                    <a:pt x="42" y="29"/>
                  </a:lnTo>
                  <a:lnTo>
                    <a:pt x="48"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3" name="Freeform 122"/>
            <p:cNvSpPr>
              <a:spLocks/>
            </p:cNvSpPr>
            <p:nvPr/>
          </p:nvSpPr>
          <p:spPr bwMode="auto">
            <a:xfrm>
              <a:off x="2529" y="2483"/>
              <a:ext cx="31" cy="100"/>
            </a:xfrm>
            <a:custGeom>
              <a:avLst/>
              <a:gdLst/>
              <a:ahLst/>
              <a:cxnLst>
                <a:cxn ang="0">
                  <a:pos x="13" y="2"/>
                </a:cxn>
                <a:cxn ang="0">
                  <a:pos x="0" y="0"/>
                </a:cxn>
                <a:cxn ang="0">
                  <a:pos x="2" y="6"/>
                </a:cxn>
                <a:cxn ang="0">
                  <a:pos x="8" y="21"/>
                </a:cxn>
                <a:cxn ang="0">
                  <a:pos x="8" y="30"/>
                </a:cxn>
                <a:cxn ang="0">
                  <a:pos x="9" y="42"/>
                </a:cxn>
                <a:cxn ang="0">
                  <a:pos x="12" y="54"/>
                </a:cxn>
                <a:cxn ang="0">
                  <a:pos x="13" y="68"/>
                </a:cxn>
                <a:cxn ang="0">
                  <a:pos x="13" y="81"/>
                </a:cxn>
                <a:cxn ang="0">
                  <a:pos x="21" y="91"/>
                </a:cxn>
                <a:cxn ang="0">
                  <a:pos x="28" y="88"/>
                </a:cxn>
                <a:cxn ang="0">
                  <a:pos x="27" y="75"/>
                </a:cxn>
                <a:cxn ang="0">
                  <a:pos x="27" y="62"/>
                </a:cxn>
                <a:cxn ang="0">
                  <a:pos x="26" y="48"/>
                </a:cxn>
                <a:cxn ang="0">
                  <a:pos x="26" y="34"/>
                </a:cxn>
                <a:cxn ang="0">
                  <a:pos x="24" y="20"/>
                </a:cxn>
                <a:cxn ang="0">
                  <a:pos x="15" y="10"/>
                </a:cxn>
                <a:cxn ang="0">
                  <a:pos x="16" y="2"/>
                </a:cxn>
                <a:cxn ang="0">
                  <a:pos x="13" y="2"/>
                </a:cxn>
              </a:cxnLst>
              <a:rect l="0" t="0" r="r" b="b"/>
              <a:pathLst>
                <a:path w="28" h="91">
                  <a:moveTo>
                    <a:pt x="13" y="2"/>
                  </a:moveTo>
                  <a:lnTo>
                    <a:pt x="0" y="0"/>
                  </a:lnTo>
                  <a:lnTo>
                    <a:pt x="2" y="6"/>
                  </a:lnTo>
                  <a:lnTo>
                    <a:pt x="8" y="21"/>
                  </a:lnTo>
                  <a:lnTo>
                    <a:pt x="8" y="30"/>
                  </a:lnTo>
                  <a:lnTo>
                    <a:pt x="9" y="42"/>
                  </a:lnTo>
                  <a:lnTo>
                    <a:pt x="12" y="54"/>
                  </a:lnTo>
                  <a:lnTo>
                    <a:pt x="13" y="68"/>
                  </a:lnTo>
                  <a:lnTo>
                    <a:pt x="13" y="81"/>
                  </a:lnTo>
                  <a:lnTo>
                    <a:pt x="21" y="91"/>
                  </a:lnTo>
                  <a:lnTo>
                    <a:pt x="28" y="88"/>
                  </a:lnTo>
                  <a:lnTo>
                    <a:pt x="27" y="75"/>
                  </a:lnTo>
                  <a:lnTo>
                    <a:pt x="27" y="62"/>
                  </a:lnTo>
                  <a:lnTo>
                    <a:pt x="26" y="48"/>
                  </a:lnTo>
                  <a:lnTo>
                    <a:pt x="26" y="34"/>
                  </a:lnTo>
                  <a:lnTo>
                    <a:pt x="24" y="20"/>
                  </a:lnTo>
                  <a:lnTo>
                    <a:pt x="15" y="10"/>
                  </a:lnTo>
                  <a:lnTo>
                    <a:pt x="16" y="2"/>
                  </a:lnTo>
                  <a:lnTo>
                    <a:pt x="1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4" name="Freeform 123"/>
            <p:cNvSpPr>
              <a:spLocks/>
            </p:cNvSpPr>
            <p:nvPr/>
          </p:nvSpPr>
          <p:spPr bwMode="auto">
            <a:xfrm>
              <a:off x="2382" y="1970"/>
              <a:ext cx="356" cy="353"/>
            </a:xfrm>
            <a:custGeom>
              <a:avLst/>
              <a:gdLst/>
              <a:ahLst/>
              <a:cxnLst>
                <a:cxn ang="0">
                  <a:pos x="0" y="165"/>
                </a:cxn>
                <a:cxn ang="0">
                  <a:pos x="15" y="182"/>
                </a:cxn>
                <a:cxn ang="0">
                  <a:pos x="44" y="202"/>
                </a:cxn>
                <a:cxn ang="0">
                  <a:pos x="71" y="222"/>
                </a:cxn>
                <a:cxn ang="0">
                  <a:pos x="93" y="240"/>
                </a:cxn>
                <a:cxn ang="0">
                  <a:pos x="116" y="256"/>
                </a:cxn>
                <a:cxn ang="0">
                  <a:pos x="140" y="274"/>
                </a:cxn>
                <a:cxn ang="0">
                  <a:pos x="151" y="289"/>
                </a:cxn>
                <a:cxn ang="0">
                  <a:pos x="181" y="304"/>
                </a:cxn>
                <a:cxn ang="0">
                  <a:pos x="199" y="318"/>
                </a:cxn>
                <a:cxn ang="0">
                  <a:pos x="224" y="313"/>
                </a:cxn>
                <a:cxn ang="0">
                  <a:pos x="249" y="288"/>
                </a:cxn>
                <a:cxn ang="0">
                  <a:pos x="284" y="264"/>
                </a:cxn>
                <a:cxn ang="0">
                  <a:pos x="319" y="240"/>
                </a:cxn>
                <a:cxn ang="0">
                  <a:pos x="294" y="223"/>
                </a:cxn>
                <a:cxn ang="0">
                  <a:pos x="278" y="193"/>
                </a:cxn>
                <a:cxn ang="0">
                  <a:pos x="284" y="165"/>
                </a:cxn>
                <a:cxn ang="0">
                  <a:pos x="277" y="123"/>
                </a:cxn>
                <a:cxn ang="0">
                  <a:pos x="275" y="103"/>
                </a:cxn>
                <a:cxn ang="0">
                  <a:pos x="258" y="73"/>
                </a:cxn>
                <a:cxn ang="0">
                  <a:pos x="253" y="42"/>
                </a:cxn>
                <a:cxn ang="0">
                  <a:pos x="258" y="4"/>
                </a:cxn>
                <a:cxn ang="0">
                  <a:pos x="237" y="0"/>
                </a:cxn>
                <a:cxn ang="0">
                  <a:pos x="209" y="2"/>
                </a:cxn>
                <a:cxn ang="0">
                  <a:pos x="175" y="2"/>
                </a:cxn>
                <a:cxn ang="0">
                  <a:pos x="137" y="14"/>
                </a:cxn>
                <a:cxn ang="0">
                  <a:pos x="114" y="25"/>
                </a:cxn>
                <a:cxn ang="0">
                  <a:pos x="104" y="36"/>
                </a:cxn>
                <a:cxn ang="0">
                  <a:pos x="108" y="62"/>
                </a:cxn>
                <a:cxn ang="0">
                  <a:pos x="114" y="84"/>
                </a:cxn>
                <a:cxn ang="0">
                  <a:pos x="78" y="92"/>
                </a:cxn>
                <a:cxn ang="0">
                  <a:pos x="67" y="111"/>
                </a:cxn>
                <a:cxn ang="0">
                  <a:pos x="42" y="124"/>
                </a:cxn>
                <a:cxn ang="0">
                  <a:pos x="17" y="138"/>
                </a:cxn>
              </a:cxnLst>
              <a:rect l="0" t="0" r="r" b="b"/>
              <a:pathLst>
                <a:path w="319" h="318">
                  <a:moveTo>
                    <a:pt x="3" y="144"/>
                  </a:moveTo>
                  <a:lnTo>
                    <a:pt x="0" y="165"/>
                  </a:lnTo>
                  <a:lnTo>
                    <a:pt x="0" y="172"/>
                  </a:lnTo>
                  <a:lnTo>
                    <a:pt x="15" y="182"/>
                  </a:lnTo>
                  <a:lnTo>
                    <a:pt x="30" y="193"/>
                  </a:lnTo>
                  <a:lnTo>
                    <a:pt x="44" y="202"/>
                  </a:lnTo>
                  <a:lnTo>
                    <a:pt x="59" y="213"/>
                  </a:lnTo>
                  <a:lnTo>
                    <a:pt x="71" y="222"/>
                  </a:lnTo>
                  <a:lnTo>
                    <a:pt x="81" y="230"/>
                  </a:lnTo>
                  <a:lnTo>
                    <a:pt x="93" y="240"/>
                  </a:lnTo>
                  <a:lnTo>
                    <a:pt x="105" y="248"/>
                  </a:lnTo>
                  <a:lnTo>
                    <a:pt x="116" y="256"/>
                  </a:lnTo>
                  <a:lnTo>
                    <a:pt x="128" y="266"/>
                  </a:lnTo>
                  <a:lnTo>
                    <a:pt x="140" y="274"/>
                  </a:lnTo>
                  <a:lnTo>
                    <a:pt x="151" y="283"/>
                  </a:lnTo>
                  <a:lnTo>
                    <a:pt x="151" y="289"/>
                  </a:lnTo>
                  <a:lnTo>
                    <a:pt x="159" y="295"/>
                  </a:lnTo>
                  <a:lnTo>
                    <a:pt x="181" y="304"/>
                  </a:lnTo>
                  <a:lnTo>
                    <a:pt x="182" y="318"/>
                  </a:lnTo>
                  <a:lnTo>
                    <a:pt x="199" y="318"/>
                  </a:lnTo>
                  <a:lnTo>
                    <a:pt x="212" y="315"/>
                  </a:lnTo>
                  <a:lnTo>
                    <a:pt x="224" y="313"/>
                  </a:lnTo>
                  <a:lnTo>
                    <a:pt x="236" y="300"/>
                  </a:lnTo>
                  <a:lnTo>
                    <a:pt x="249" y="288"/>
                  </a:lnTo>
                  <a:lnTo>
                    <a:pt x="266" y="276"/>
                  </a:lnTo>
                  <a:lnTo>
                    <a:pt x="284" y="264"/>
                  </a:lnTo>
                  <a:lnTo>
                    <a:pt x="301" y="252"/>
                  </a:lnTo>
                  <a:lnTo>
                    <a:pt x="319" y="240"/>
                  </a:lnTo>
                  <a:lnTo>
                    <a:pt x="312" y="225"/>
                  </a:lnTo>
                  <a:lnTo>
                    <a:pt x="294" y="223"/>
                  </a:lnTo>
                  <a:lnTo>
                    <a:pt x="288" y="207"/>
                  </a:lnTo>
                  <a:lnTo>
                    <a:pt x="278" y="193"/>
                  </a:lnTo>
                  <a:lnTo>
                    <a:pt x="285" y="186"/>
                  </a:lnTo>
                  <a:lnTo>
                    <a:pt x="284" y="165"/>
                  </a:lnTo>
                  <a:lnTo>
                    <a:pt x="284" y="145"/>
                  </a:lnTo>
                  <a:lnTo>
                    <a:pt x="277" y="123"/>
                  </a:lnTo>
                  <a:lnTo>
                    <a:pt x="278" y="120"/>
                  </a:lnTo>
                  <a:lnTo>
                    <a:pt x="275" y="103"/>
                  </a:lnTo>
                  <a:lnTo>
                    <a:pt x="270" y="86"/>
                  </a:lnTo>
                  <a:lnTo>
                    <a:pt x="258" y="73"/>
                  </a:lnTo>
                  <a:lnTo>
                    <a:pt x="246" y="55"/>
                  </a:lnTo>
                  <a:lnTo>
                    <a:pt x="253" y="42"/>
                  </a:lnTo>
                  <a:lnTo>
                    <a:pt x="259" y="28"/>
                  </a:lnTo>
                  <a:lnTo>
                    <a:pt x="258" y="4"/>
                  </a:lnTo>
                  <a:lnTo>
                    <a:pt x="261" y="0"/>
                  </a:lnTo>
                  <a:lnTo>
                    <a:pt x="237" y="0"/>
                  </a:lnTo>
                  <a:lnTo>
                    <a:pt x="225" y="0"/>
                  </a:lnTo>
                  <a:lnTo>
                    <a:pt x="209" y="2"/>
                  </a:lnTo>
                  <a:lnTo>
                    <a:pt x="192" y="2"/>
                  </a:lnTo>
                  <a:lnTo>
                    <a:pt x="175" y="2"/>
                  </a:lnTo>
                  <a:lnTo>
                    <a:pt x="156" y="8"/>
                  </a:lnTo>
                  <a:lnTo>
                    <a:pt x="137" y="14"/>
                  </a:lnTo>
                  <a:lnTo>
                    <a:pt x="128" y="18"/>
                  </a:lnTo>
                  <a:lnTo>
                    <a:pt x="114" y="25"/>
                  </a:lnTo>
                  <a:lnTo>
                    <a:pt x="101" y="32"/>
                  </a:lnTo>
                  <a:lnTo>
                    <a:pt x="104" y="36"/>
                  </a:lnTo>
                  <a:lnTo>
                    <a:pt x="105" y="49"/>
                  </a:lnTo>
                  <a:lnTo>
                    <a:pt x="108" y="62"/>
                  </a:lnTo>
                  <a:lnTo>
                    <a:pt x="117" y="79"/>
                  </a:lnTo>
                  <a:lnTo>
                    <a:pt x="114" y="84"/>
                  </a:lnTo>
                  <a:lnTo>
                    <a:pt x="98" y="85"/>
                  </a:lnTo>
                  <a:lnTo>
                    <a:pt x="78" y="92"/>
                  </a:lnTo>
                  <a:lnTo>
                    <a:pt x="78" y="103"/>
                  </a:lnTo>
                  <a:lnTo>
                    <a:pt x="67" y="111"/>
                  </a:lnTo>
                  <a:lnTo>
                    <a:pt x="56" y="118"/>
                  </a:lnTo>
                  <a:lnTo>
                    <a:pt x="42" y="124"/>
                  </a:lnTo>
                  <a:lnTo>
                    <a:pt x="29" y="130"/>
                  </a:lnTo>
                  <a:lnTo>
                    <a:pt x="17" y="138"/>
                  </a:lnTo>
                  <a:lnTo>
                    <a:pt x="3" y="1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5" name="Freeform 124"/>
            <p:cNvSpPr>
              <a:spLocks/>
            </p:cNvSpPr>
            <p:nvPr/>
          </p:nvSpPr>
          <p:spPr bwMode="auto">
            <a:xfrm>
              <a:off x="2289" y="2130"/>
              <a:ext cx="11" cy="11"/>
            </a:xfrm>
            <a:custGeom>
              <a:avLst/>
              <a:gdLst/>
              <a:ahLst/>
              <a:cxnLst>
                <a:cxn ang="0">
                  <a:pos x="9" y="0"/>
                </a:cxn>
                <a:cxn ang="0">
                  <a:pos x="8" y="7"/>
                </a:cxn>
                <a:cxn ang="0">
                  <a:pos x="0" y="9"/>
                </a:cxn>
                <a:cxn ang="0">
                  <a:pos x="9" y="0"/>
                </a:cxn>
              </a:cxnLst>
              <a:rect l="0" t="0" r="r" b="b"/>
              <a:pathLst>
                <a:path w="9" h="9">
                  <a:moveTo>
                    <a:pt x="9" y="0"/>
                  </a:moveTo>
                  <a:lnTo>
                    <a:pt x="8" y="7"/>
                  </a:lnTo>
                  <a:lnTo>
                    <a:pt x="0" y="9"/>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6" name="Freeform 125"/>
            <p:cNvSpPr>
              <a:spLocks/>
            </p:cNvSpPr>
            <p:nvPr/>
          </p:nvSpPr>
          <p:spPr bwMode="auto">
            <a:xfrm>
              <a:off x="2247" y="2136"/>
              <a:ext cx="9" cy="9"/>
            </a:xfrm>
            <a:custGeom>
              <a:avLst/>
              <a:gdLst/>
              <a:ahLst/>
              <a:cxnLst>
                <a:cxn ang="0">
                  <a:pos x="8" y="0"/>
                </a:cxn>
                <a:cxn ang="0">
                  <a:pos x="0" y="7"/>
                </a:cxn>
                <a:cxn ang="0">
                  <a:pos x="0" y="1"/>
                </a:cxn>
                <a:cxn ang="0">
                  <a:pos x="8" y="0"/>
                </a:cxn>
              </a:cxnLst>
              <a:rect l="0" t="0" r="r" b="b"/>
              <a:pathLst>
                <a:path w="8" h="7">
                  <a:moveTo>
                    <a:pt x="8" y="0"/>
                  </a:moveTo>
                  <a:lnTo>
                    <a:pt x="0" y="7"/>
                  </a:lnTo>
                  <a:lnTo>
                    <a:pt x="0" y="1"/>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7" name="Freeform 126"/>
            <p:cNvSpPr>
              <a:spLocks/>
            </p:cNvSpPr>
            <p:nvPr/>
          </p:nvSpPr>
          <p:spPr bwMode="auto">
            <a:xfrm>
              <a:off x="2262" y="2147"/>
              <a:ext cx="7" cy="3"/>
            </a:xfrm>
            <a:custGeom>
              <a:avLst/>
              <a:gdLst/>
              <a:ahLst/>
              <a:cxnLst>
                <a:cxn ang="0">
                  <a:pos x="6" y="0"/>
                </a:cxn>
                <a:cxn ang="0">
                  <a:pos x="5" y="4"/>
                </a:cxn>
                <a:cxn ang="0">
                  <a:pos x="0" y="0"/>
                </a:cxn>
                <a:cxn ang="0">
                  <a:pos x="6" y="0"/>
                </a:cxn>
              </a:cxnLst>
              <a:rect l="0" t="0" r="r" b="b"/>
              <a:pathLst>
                <a:path w="6" h="4">
                  <a:moveTo>
                    <a:pt x="6" y="0"/>
                  </a:moveTo>
                  <a:lnTo>
                    <a:pt x="5" y="4"/>
                  </a:lnTo>
                  <a:lnTo>
                    <a:pt x="0" y="0"/>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8" name="Freeform 127"/>
            <p:cNvSpPr>
              <a:spLocks/>
            </p:cNvSpPr>
            <p:nvPr/>
          </p:nvSpPr>
          <p:spPr bwMode="auto">
            <a:xfrm>
              <a:off x="2300" y="2121"/>
              <a:ext cx="7" cy="2"/>
            </a:xfrm>
            <a:custGeom>
              <a:avLst/>
              <a:gdLst/>
              <a:ahLst/>
              <a:cxnLst>
                <a:cxn ang="0">
                  <a:pos x="4" y="3"/>
                </a:cxn>
                <a:cxn ang="0">
                  <a:pos x="6" y="0"/>
                </a:cxn>
                <a:cxn ang="0">
                  <a:pos x="0" y="3"/>
                </a:cxn>
                <a:cxn ang="0">
                  <a:pos x="4" y="3"/>
                </a:cxn>
              </a:cxnLst>
              <a:rect l="0" t="0" r="r" b="b"/>
              <a:pathLst>
                <a:path w="6" h="3">
                  <a:moveTo>
                    <a:pt x="4" y="3"/>
                  </a:moveTo>
                  <a:lnTo>
                    <a:pt x="6" y="0"/>
                  </a:lnTo>
                  <a:lnTo>
                    <a:pt x="0" y="3"/>
                  </a:lnTo>
                  <a:lnTo>
                    <a:pt x="4"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9" name="Freeform 128"/>
            <p:cNvSpPr>
              <a:spLocks/>
            </p:cNvSpPr>
            <p:nvPr/>
          </p:nvSpPr>
          <p:spPr bwMode="auto">
            <a:xfrm>
              <a:off x="2109" y="2374"/>
              <a:ext cx="4" cy="2"/>
            </a:xfrm>
            <a:custGeom>
              <a:avLst/>
              <a:gdLst/>
              <a:ahLst/>
              <a:cxnLst>
                <a:cxn ang="0">
                  <a:pos x="3" y="1"/>
                </a:cxn>
                <a:cxn ang="0">
                  <a:pos x="1" y="1"/>
                </a:cxn>
                <a:cxn ang="0">
                  <a:pos x="0" y="0"/>
                </a:cxn>
                <a:cxn ang="0">
                  <a:pos x="3" y="1"/>
                </a:cxn>
              </a:cxnLst>
              <a:rect l="0" t="0" r="r" b="b"/>
              <a:pathLst>
                <a:path w="3" h="1">
                  <a:moveTo>
                    <a:pt x="3" y="1"/>
                  </a:moveTo>
                  <a:lnTo>
                    <a:pt x="1" y="1"/>
                  </a:lnTo>
                  <a:lnTo>
                    <a:pt x="0" y="0"/>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0" name="Rectangle 129"/>
            <p:cNvSpPr>
              <a:spLocks noChangeArrowheads="1"/>
            </p:cNvSpPr>
            <p:nvPr/>
          </p:nvSpPr>
          <p:spPr bwMode="auto">
            <a:xfrm>
              <a:off x="2442" y="1983"/>
              <a:ext cx="0" cy="2"/>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131" name="Freeform 130"/>
            <p:cNvSpPr>
              <a:spLocks/>
            </p:cNvSpPr>
            <p:nvPr/>
          </p:nvSpPr>
          <p:spPr bwMode="auto">
            <a:xfrm>
              <a:off x="2691" y="2043"/>
              <a:ext cx="273" cy="273"/>
            </a:xfrm>
            <a:custGeom>
              <a:avLst/>
              <a:gdLst/>
              <a:ahLst/>
              <a:cxnLst>
                <a:cxn ang="0">
                  <a:pos x="230" y="245"/>
                </a:cxn>
                <a:cxn ang="0">
                  <a:pos x="230" y="236"/>
                </a:cxn>
                <a:cxn ang="0">
                  <a:pos x="246" y="236"/>
                </a:cxn>
                <a:cxn ang="0">
                  <a:pos x="245" y="218"/>
                </a:cxn>
                <a:cxn ang="0">
                  <a:pos x="245" y="200"/>
                </a:cxn>
                <a:cxn ang="0">
                  <a:pos x="244" y="183"/>
                </a:cxn>
                <a:cxn ang="0">
                  <a:pos x="242" y="167"/>
                </a:cxn>
                <a:cxn ang="0">
                  <a:pos x="241" y="150"/>
                </a:cxn>
                <a:cxn ang="0">
                  <a:pos x="240" y="133"/>
                </a:cxn>
                <a:cxn ang="0">
                  <a:pos x="239" y="116"/>
                </a:cxn>
                <a:cxn ang="0">
                  <a:pos x="238" y="99"/>
                </a:cxn>
                <a:cxn ang="0">
                  <a:pos x="236" y="83"/>
                </a:cxn>
                <a:cxn ang="0">
                  <a:pos x="235" y="65"/>
                </a:cxn>
                <a:cxn ang="0">
                  <a:pos x="235" y="51"/>
                </a:cxn>
                <a:cxn ang="0">
                  <a:pos x="234" y="38"/>
                </a:cxn>
                <a:cxn ang="0">
                  <a:pos x="236" y="26"/>
                </a:cxn>
                <a:cxn ang="0">
                  <a:pos x="228" y="20"/>
                </a:cxn>
                <a:cxn ang="0">
                  <a:pos x="205" y="14"/>
                </a:cxn>
                <a:cxn ang="0">
                  <a:pos x="202" y="8"/>
                </a:cxn>
                <a:cxn ang="0">
                  <a:pos x="182" y="3"/>
                </a:cxn>
                <a:cxn ang="0">
                  <a:pos x="170" y="11"/>
                </a:cxn>
                <a:cxn ang="0">
                  <a:pos x="160" y="18"/>
                </a:cxn>
                <a:cxn ang="0">
                  <a:pos x="161" y="42"/>
                </a:cxn>
                <a:cxn ang="0">
                  <a:pos x="145" y="51"/>
                </a:cxn>
                <a:cxn ang="0">
                  <a:pos x="127" y="43"/>
                </a:cxn>
                <a:cxn ang="0">
                  <a:pos x="110" y="35"/>
                </a:cxn>
                <a:cxn ang="0">
                  <a:pos x="92" y="30"/>
                </a:cxn>
                <a:cxn ang="0">
                  <a:pos x="85" y="13"/>
                </a:cxn>
                <a:cxn ang="0">
                  <a:pos x="68" y="9"/>
                </a:cxn>
                <a:cxn ang="0">
                  <a:pos x="52" y="5"/>
                </a:cxn>
                <a:cxn ang="0">
                  <a:pos x="30" y="0"/>
                </a:cxn>
                <a:cxn ang="0">
                  <a:pos x="29" y="14"/>
                </a:cxn>
                <a:cxn ang="0">
                  <a:pos x="19" y="23"/>
                </a:cxn>
                <a:cxn ang="0">
                  <a:pos x="10" y="31"/>
                </a:cxn>
                <a:cxn ang="0">
                  <a:pos x="10" y="45"/>
                </a:cxn>
                <a:cxn ang="0">
                  <a:pos x="1" y="53"/>
                </a:cxn>
                <a:cxn ang="0">
                  <a:pos x="0" y="56"/>
                </a:cxn>
                <a:cxn ang="0">
                  <a:pos x="7" y="78"/>
                </a:cxn>
                <a:cxn ang="0">
                  <a:pos x="7" y="98"/>
                </a:cxn>
                <a:cxn ang="0">
                  <a:pos x="8" y="119"/>
                </a:cxn>
                <a:cxn ang="0">
                  <a:pos x="1" y="126"/>
                </a:cxn>
                <a:cxn ang="0">
                  <a:pos x="11" y="140"/>
                </a:cxn>
                <a:cxn ang="0">
                  <a:pos x="17" y="156"/>
                </a:cxn>
                <a:cxn ang="0">
                  <a:pos x="35" y="158"/>
                </a:cxn>
                <a:cxn ang="0">
                  <a:pos x="42" y="173"/>
                </a:cxn>
                <a:cxn ang="0">
                  <a:pos x="64" y="179"/>
                </a:cxn>
                <a:cxn ang="0">
                  <a:pos x="77" y="189"/>
                </a:cxn>
                <a:cxn ang="0">
                  <a:pos x="88" y="182"/>
                </a:cxn>
                <a:cxn ang="0">
                  <a:pos x="104" y="173"/>
                </a:cxn>
                <a:cxn ang="0">
                  <a:pos x="120" y="182"/>
                </a:cxn>
                <a:cxn ang="0">
                  <a:pos x="136" y="191"/>
                </a:cxn>
                <a:cxn ang="0">
                  <a:pos x="151" y="200"/>
                </a:cxn>
                <a:cxn ang="0">
                  <a:pos x="167" y="209"/>
                </a:cxn>
                <a:cxn ang="0">
                  <a:pos x="182" y="218"/>
                </a:cxn>
                <a:cxn ang="0">
                  <a:pos x="199" y="227"/>
                </a:cxn>
                <a:cxn ang="0">
                  <a:pos x="215" y="236"/>
                </a:cxn>
                <a:cxn ang="0">
                  <a:pos x="230" y="245"/>
                </a:cxn>
              </a:cxnLst>
              <a:rect l="0" t="0" r="r" b="b"/>
              <a:pathLst>
                <a:path w="246" h="245">
                  <a:moveTo>
                    <a:pt x="230" y="245"/>
                  </a:moveTo>
                  <a:lnTo>
                    <a:pt x="230" y="236"/>
                  </a:lnTo>
                  <a:lnTo>
                    <a:pt x="246" y="236"/>
                  </a:lnTo>
                  <a:lnTo>
                    <a:pt x="245" y="218"/>
                  </a:lnTo>
                  <a:lnTo>
                    <a:pt x="245" y="200"/>
                  </a:lnTo>
                  <a:lnTo>
                    <a:pt x="244" y="183"/>
                  </a:lnTo>
                  <a:lnTo>
                    <a:pt x="242" y="167"/>
                  </a:lnTo>
                  <a:lnTo>
                    <a:pt x="241" y="150"/>
                  </a:lnTo>
                  <a:lnTo>
                    <a:pt x="240" y="133"/>
                  </a:lnTo>
                  <a:lnTo>
                    <a:pt x="239" y="116"/>
                  </a:lnTo>
                  <a:lnTo>
                    <a:pt x="238" y="99"/>
                  </a:lnTo>
                  <a:lnTo>
                    <a:pt x="236" y="83"/>
                  </a:lnTo>
                  <a:lnTo>
                    <a:pt x="235" y="65"/>
                  </a:lnTo>
                  <a:lnTo>
                    <a:pt x="235" y="51"/>
                  </a:lnTo>
                  <a:lnTo>
                    <a:pt x="234" y="38"/>
                  </a:lnTo>
                  <a:lnTo>
                    <a:pt x="236" y="26"/>
                  </a:lnTo>
                  <a:lnTo>
                    <a:pt x="228" y="20"/>
                  </a:lnTo>
                  <a:lnTo>
                    <a:pt x="205" y="14"/>
                  </a:lnTo>
                  <a:lnTo>
                    <a:pt x="202" y="8"/>
                  </a:lnTo>
                  <a:lnTo>
                    <a:pt x="182" y="3"/>
                  </a:lnTo>
                  <a:lnTo>
                    <a:pt x="170" y="11"/>
                  </a:lnTo>
                  <a:lnTo>
                    <a:pt x="160" y="18"/>
                  </a:lnTo>
                  <a:lnTo>
                    <a:pt x="161" y="42"/>
                  </a:lnTo>
                  <a:lnTo>
                    <a:pt x="145" y="51"/>
                  </a:lnTo>
                  <a:lnTo>
                    <a:pt x="127" y="43"/>
                  </a:lnTo>
                  <a:lnTo>
                    <a:pt x="110" y="35"/>
                  </a:lnTo>
                  <a:lnTo>
                    <a:pt x="92" y="30"/>
                  </a:lnTo>
                  <a:lnTo>
                    <a:pt x="85" y="13"/>
                  </a:lnTo>
                  <a:lnTo>
                    <a:pt x="68" y="9"/>
                  </a:lnTo>
                  <a:lnTo>
                    <a:pt x="52" y="5"/>
                  </a:lnTo>
                  <a:lnTo>
                    <a:pt x="30" y="0"/>
                  </a:lnTo>
                  <a:lnTo>
                    <a:pt x="29" y="14"/>
                  </a:lnTo>
                  <a:lnTo>
                    <a:pt x="19" y="23"/>
                  </a:lnTo>
                  <a:lnTo>
                    <a:pt x="10" y="31"/>
                  </a:lnTo>
                  <a:lnTo>
                    <a:pt x="10" y="45"/>
                  </a:lnTo>
                  <a:lnTo>
                    <a:pt x="1" y="53"/>
                  </a:lnTo>
                  <a:lnTo>
                    <a:pt x="0" y="56"/>
                  </a:lnTo>
                  <a:lnTo>
                    <a:pt x="7" y="78"/>
                  </a:lnTo>
                  <a:lnTo>
                    <a:pt x="7" y="98"/>
                  </a:lnTo>
                  <a:lnTo>
                    <a:pt x="8" y="119"/>
                  </a:lnTo>
                  <a:lnTo>
                    <a:pt x="1" y="126"/>
                  </a:lnTo>
                  <a:lnTo>
                    <a:pt x="11" y="140"/>
                  </a:lnTo>
                  <a:lnTo>
                    <a:pt x="17" y="156"/>
                  </a:lnTo>
                  <a:lnTo>
                    <a:pt x="35" y="158"/>
                  </a:lnTo>
                  <a:lnTo>
                    <a:pt x="42" y="173"/>
                  </a:lnTo>
                  <a:lnTo>
                    <a:pt x="64" y="179"/>
                  </a:lnTo>
                  <a:lnTo>
                    <a:pt x="77" y="189"/>
                  </a:lnTo>
                  <a:lnTo>
                    <a:pt x="88" y="182"/>
                  </a:lnTo>
                  <a:lnTo>
                    <a:pt x="104" y="173"/>
                  </a:lnTo>
                  <a:lnTo>
                    <a:pt x="120" y="182"/>
                  </a:lnTo>
                  <a:lnTo>
                    <a:pt x="136" y="191"/>
                  </a:lnTo>
                  <a:lnTo>
                    <a:pt x="151" y="200"/>
                  </a:lnTo>
                  <a:lnTo>
                    <a:pt x="167" y="209"/>
                  </a:lnTo>
                  <a:lnTo>
                    <a:pt x="182" y="218"/>
                  </a:lnTo>
                  <a:lnTo>
                    <a:pt x="199" y="227"/>
                  </a:lnTo>
                  <a:lnTo>
                    <a:pt x="215" y="236"/>
                  </a:lnTo>
                  <a:lnTo>
                    <a:pt x="230" y="2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2" name="Freeform 131"/>
            <p:cNvSpPr>
              <a:spLocks/>
            </p:cNvSpPr>
            <p:nvPr/>
          </p:nvSpPr>
          <p:spPr bwMode="auto">
            <a:xfrm>
              <a:off x="2318" y="2207"/>
              <a:ext cx="286" cy="296"/>
            </a:xfrm>
            <a:custGeom>
              <a:avLst/>
              <a:gdLst/>
              <a:ahLst/>
              <a:cxnLst>
                <a:cxn ang="0">
                  <a:pos x="56" y="250"/>
                </a:cxn>
                <a:cxn ang="0">
                  <a:pos x="66" y="267"/>
                </a:cxn>
                <a:cxn ang="0">
                  <a:pos x="79" y="265"/>
                </a:cxn>
                <a:cxn ang="0">
                  <a:pos x="92" y="257"/>
                </a:cxn>
                <a:cxn ang="0">
                  <a:pos x="106" y="262"/>
                </a:cxn>
                <a:cxn ang="0">
                  <a:pos x="114" y="234"/>
                </a:cxn>
                <a:cxn ang="0">
                  <a:pos x="126" y="219"/>
                </a:cxn>
                <a:cxn ang="0">
                  <a:pos x="138" y="213"/>
                </a:cxn>
                <a:cxn ang="0">
                  <a:pos x="144" y="204"/>
                </a:cxn>
                <a:cxn ang="0">
                  <a:pos x="160" y="195"/>
                </a:cxn>
                <a:cxn ang="0">
                  <a:pos x="181" y="178"/>
                </a:cxn>
                <a:cxn ang="0">
                  <a:pos x="198" y="180"/>
                </a:cxn>
                <a:cxn ang="0">
                  <a:pos x="230" y="174"/>
                </a:cxn>
                <a:cxn ang="0">
                  <a:pos x="256" y="157"/>
                </a:cxn>
                <a:cxn ang="0">
                  <a:pos x="257" y="131"/>
                </a:cxn>
                <a:cxn ang="0">
                  <a:pos x="258" y="105"/>
                </a:cxn>
                <a:cxn ang="0">
                  <a:pos x="240" y="91"/>
                </a:cxn>
                <a:cxn ang="0">
                  <a:pos x="210" y="76"/>
                </a:cxn>
                <a:cxn ang="0">
                  <a:pos x="199" y="61"/>
                </a:cxn>
                <a:cxn ang="0">
                  <a:pos x="175" y="43"/>
                </a:cxn>
                <a:cxn ang="0">
                  <a:pos x="152" y="27"/>
                </a:cxn>
                <a:cxn ang="0">
                  <a:pos x="130" y="9"/>
                </a:cxn>
                <a:cxn ang="0">
                  <a:pos x="104" y="0"/>
                </a:cxn>
                <a:cxn ang="0">
                  <a:pos x="92" y="19"/>
                </a:cxn>
                <a:cxn ang="0">
                  <a:pos x="96" y="58"/>
                </a:cxn>
                <a:cxn ang="0">
                  <a:pos x="100" y="95"/>
                </a:cxn>
                <a:cxn ang="0">
                  <a:pos x="102" y="133"/>
                </a:cxn>
                <a:cxn ang="0">
                  <a:pos x="108" y="156"/>
                </a:cxn>
                <a:cxn ang="0">
                  <a:pos x="91" y="171"/>
                </a:cxn>
                <a:cxn ang="0">
                  <a:pos x="61" y="171"/>
                </a:cxn>
                <a:cxn ang="0">
                  <a:pos x="44" y="169"/>
                </a:cxn>
                <a:cxn ang="0">
                  <a:pos x="19" y="175"/>
                </a:cxn>
                <a:cxn ang="0">
                  <a:pos x="2" y="185"/>
                </a:cxn>
                <a:cxn ang="0">
                  <a:pos x="4" y="202"/>
                </a:cxn>
                <a:cxn ang="0">
                  <a:pos x="13" y="226"/>
                </a:cxn>
                <a:cxn ang="0">
                  <a:pos x="20" y="231"/>
                </a:cxn>
                <a:cxn ang="0">
                  <a:pos x="35" y="232"/>
                </a:cxn>
                <a:cxn ang="0">
                  <a:pos x="48" y="225"/>
                </a:cxn>
                <a:cxn ang="0">
                  <a:pos x="59" y="244"/>
                </a:cxn>
              </a:cxnLst>
              <a:rect l="0" t="0" r="r" b="b"/>
              <a:pathLst>
                <a:path w="258" h="267">
                  <a:moveTo>
                    <a:pt x="59" y="244"/>
                  </a:moveTo>
                  <a:lnTo>
                    <a:pt x="56" y="250"/>
                  </a:lnTo>
                  <a:lnTo>
                    <a:pt x="59" y="250"/>
                  </a:lnTo>
                  <a:lnTo>
                    <a:pt x="66" y="267"/>
                  </a:lnTo>
                  <a:lnTo>
                    <a:pt x="70" y="263"/>
                  </a:lnTo>
                  <a:lnTo>
                    <a:pt x="79" y="265"/>
                  </a:lnTo>
                  <a:lnTo>
                    <a:pt x="86" y="261"/>
                  </a:lnTo>
                  <a:lnTo>
                    <a:pt x="92" y="257"/>
                  </a:lnTo>
                  <a:lnTo>
                    <a:pt x="95" y="264"/>
                  </a:lnTo>
                  <a:lnTo>
                    <a:pt x="106" y="262"/>
                  </a:lnTo>
                  <a:lnTo>
                    <a:pt x="109" y="238"/>
                  </a:lnTo>
                  <a:lnTo>
                    <a:pt x="114" y="234"/>
                  </a:lnTo>
                  <a:lnTo>
                    <a:pt x="122" y="226"/>
                  </a:lnTo>
                  <a:lnTo>
                    <a:pt x="126" y="219"/>
                  </a:lnTo>
                  <a:lnTo>
                    <a:pt x="128" y="208"/>
                  </a:lnTo>
                  <a:lnTo>
                    <a:pt x="138" y="213"/>
                  </a:lnTo>
                  <a:lnTo>
                    <a:pt x="140" y="205"/>
                  </a:lnTo>
                  <a:lnTo>
                    <a:pt x="144" y="204"/>
                  </a:lnTo>
                  <a:lnTo>
                    <a:pt x="150" y="195"/>
                  </a:lnTo>
                  <a:lnTo>
                    <a:pt x="160" y="195"/>
                  </a:lnTo>
                  <a:lnTo>
                    <a:pt x="161" y="187"/>
                  </a:lnTo>
                  <a:lnTo>
                    <a:pt x="181" y="178"/>
                  </a:lnTo>
                  <a:lnTo>
                    <a:pt x="196" y="180"/>
                  </a:lnTo>
                  <a:lnTo>
                    <a:pt x="198" y="180"/>
                  </a:lnTo>
                  <a:lnTo>
                    <a:pt x="212" y="174"/>
                  </a:lnTo>
                  <a:lnTo>
                    <a:pt x="230" y="174"/>
                  </a:lnTo>
                  <a:lnTo>
                    <a:pt x="247" y="173"/>
                  </a:lnTo>
                  <a:lnTo>
                    <a:pt x="256" y="157"/>
                  </a:lnTo>
                  <a:lnTo>
                    <a:pt x="257" y="144"/>
                  </a:lnTo>
                  <a:lnTo>
                    <a:pt x="257" y="131"/>
                  </a:lnTo>
                  <a:lnTo>
                    <a:pt x="258" y="118"/>
                  </a:lnTo>
                  <a:lnTo>
                    <a:pt x="258" y="105"/>
                  </a:lnTo>
                  <a:lnTo>
                    <a:pt x="241" y="105"/>
                  </a:lnTo>
                  <a:lnTo>
                    <a:pt x="240" y="91"/>
                  </a:lnTo>
                  <a:lnTo>
                    <a:pt x="218" y="82"/>
                  </a:lnTo>
                  <a:lnTo>
                    <a:pt x="210" y="76"/>
                  </a:lnTo>
                  <a:lnTo>
                    <a:pt x="210" y="70"/>
                  </a:lnTo>
                  <a:lnTo>
                    <a:pt x="199" y="61"/>
                  </a:lnTo>
                  <a:lnTo>
                    <a:pt x="187" y="53"/>
                  </a:lnTo>
                  <a:lnTo>
                    <a:pt x="175" y="43"/>
                  </a:lnTo>
                  <a:lnTo>
                    <a:pt x="164" y="35"/>
                  </a:lnTo>
                  <a:lnTo>
                    <a:pt x="152" y="27"/>
                  </a:lnTo>
                  <a:lnTo>
                    <a:pt x="140" y="17"/>
                  </a:lnTo>
                  <a:lnTo>
                    <a:pt x="130" y="9"/>
                  </a:lnTo>
                  <a:lnTo>
                    <a:pt x="118" y="0"/>
                  </a:lnTo>
                  <a:lnTo>
                    <a:pt x="104" y="0"/>
                  </a:lnTo>
                  <a:lnTo>
                    <a:pt x="90" y="0"/>
                  </a:lnTo>
                  <a:lnTo>
                    <a:pt x="92" y="19"/>
                  </a:lnTo>
                  <a:lnTo>
                    <a:pt x="94" y="39"/>
                  </a:lnTo>
                  <a:lnTo>
                    <a:pt x="96" y="58"/>
                  </a:lnTo>
                  <a:lnTo>
                    <a:pt x="97" y="76"/>
                  </a:lnTo>
                  <a:lnTo>
                    <a:pt x="100" y="95"/>
                  </a:lnTo>
                  <a:lnTo>
                    <a:pt x="101" y="114"/>
                  </a:lnTo>
                  <a:lnTo>
                    <a:pt x="102" y="133"/>
                  </a:lnTo>
                  <a:lnTo>
                    <a:pt x="104" y="153"/>
                  </a:lnTo>
                  <a:lnTo>
                    <a:pt x="108" y="156"/>
                  </a:lnTo>
                  <a:lnTo>
                    <a:pt x="106" y="171"/>
                  </a:lnTo>
                  <a:lnTo>
                    <a:pt x="91" y="171"/>
                  </a:lnTo>
                  <a:lnTo>
                    <a:pt x="76" y="171"/>
                  </a:lnTo>
                  <a:lnTo>
                    <a:pt x="61" y="171"/>
                  </a:lnTo>
                  <a:lnTo>
                    <a:pt x="46" y="171"/>
                  </a:lnTo>
                  <a:lnTo>
                    <a:pt x="44" y="169"/>
                  </a:lnTo>
                  <a:lnTo>
                    <a:pt x="22" y="174"/>
                  </a:lnTo>
                  <a:lnTo>
                    <a:pt x="19" y="175"/>
                  </a:lnTo>
                  <a:lnTo>
                    <a:pt x="10" y="169"/>
                  </a:lnTo>
                  <a:lnTo>
                    <a:pt x="2" y="185"/>
                  </a:lnTo>
                  <a:lnTo>
                    <a:pt x="0" y="184"/>
                  </a:lnTo>
                  <a:lnTo>
                    <a:pt x="4" y="202"/>
                  </a:lnTo>
                  <a:lnTo>
                    <a:pt x="8" y="209"/>
                  </a:lnTo>
                  <a:lnTo>
                    <a:pt x="13" y="226"/>
                  </a:lnTo>
                  <a:lnTo>
                    <a:pt x="11" y="231"/>
                  </a:lnTo>
                  <a:lnTo>
                    <a:pt x="20" y="231"/>
                  </a:lnTo>
                  <a:lnTo>
                    <a:pt x="25" y="233"/>
                  </a:lnTo>
                  <a:lnTo>
                    <a:pt x="35" y="232"/>
                  </a:lnTo>
                  <a:lnTo>
                    <a:pt x="46" y="228"/>
                  </a:lnTo>
                  <a:lnTo>
                    <a:pt x="48" y="225"/>
                  </a:lnTo>
                  <a:lnTo>
                    <a:pt x="53" y="239"/>
                  </a:lnTo>
                  <a:lnTo>
                    <a:pt x="59" y="2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3" name="Freeform 132"/>
            <p:cNvSpPr>
              <a:spLocks/>
            </p:cNvSpPr>
            <p:nvPr/>
          </p:nvSpPr>
          <p:spPr bwMode="auto">
            <a:xfrm>
              <a:off x="2769" y="1987"/>
              <a:ext cx="4" cy="3"/>
            </a:xfrm>
            <a:custGeom>
              <a:avLst/>
              <a:gdLst/>
              <a:ahLst/>
              <a:cxnLst>
                <a:cxn ang="0">
                  <a:pos x="3" y="2"/>
                </a:cxn>
                <a:cxn ang="0">
                  <a:pos x="2" y="3"/>
                </a:cxn>
                <a:cxn ang="0">
                  <a:pos x="0" y="0"/>
                </a:cxn>
                <a:cxn ang="0">
                  <a:pos x="3" y="2"/>
                </a:cxn>
              </a:cxnLst>
              <a:rect l="0" t="0" r="r" b="b"/>
              <a:pathLst>
                <a:path w="3" h="3">
                  <a:moveTo>
                    <a:pt x="3" y="2"/>
                  </a:moveTo>
                  <a:lnTo>
                    <a:pt x="2" y="3"/>
                  </a:lnTo>
                  <a:lnTo>
                    <a:pt x="0" y="0"/>
                  </a:lnTo>
                  <a:lnTo>
                    <a:pt x="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4" name="Freeform 133"/>
            <p:cNvSpPr>
              <a:spLocks/>
            </p:cNvSpPr>
            <p:nvPr/>
          </p:nvSpPr>
          <p:spPr bwMode="auto">
            <a:xfrm>
              <a:off x="2236" y="2161"/>
              <a:ext cx="213" cy="251"/>
            </a:xfrm>
            <a:custGeom>
              <a:avLst/>
              <a:gdLst/>
              <a:ahLst/>
              <a:cxnLst>
                <a:cxn ang="0">
                  <a:pos x="9" y="195"/>
                </a:cxn>
                <a:cxn ang="0">
                  <a:pos x="6" y="202"/>
                </a:cxn>
                <a:cxn ang="0">
                  <a:pos x="11" y="180"/>
                </a:cxn>
                <a:cxn ang="0">
                  <a:pos x="14" y="159"/>
                </a:cxn>
                <a:cxn ang="0">
                  <a:pos x="9" y="142"/>
                </a:cxn>
                <a:cxn ang="0">
                  <a:pos x="11" y="123"/>
                </a:cxn>
                <a:cxn ang="0">
                  <a:pos x="1" y="112"/>
                </a:cxn>
                <a:cxn ang="0">
                  <a:pos x="0" y="117"/>
                </a:cxn>
                <a:cxn ang="0">
                  <a:pos x="2" y="107"/>
                </a:cxn>
                <a:cxn ang="0">
                  <a:pos x="17" y="107"/>
                </a:cxn>
                <a:cxn ang="0">
                  <a:pos x="32" y="107"/>
                </a:cxn>
                <a:cxn ang="0">
                  <a:pos x="48" y="107"/>
                </a:cxn>
                <a:cxn ang="0">
                  <a:pos x="63" y="107"/>
                </a:cxn>
                <a:cxn ang="0">
                  <a:pos x="63" y="92"/>
                </a:cxn>
                <a:cxn ang="0">
                  <a:pos x="63" y="77"/>
                </a:cxn>
                <a:cxn ang="0">
                  <a:pos x="79" y="69"/>
                </a:cxn>
                <a:cxn ang="0">
                  <a:pos x="80" y="46"/>
                </a:cxn>
                <a:cxn ang="0">
                  <a:pos x="80" y="23"/>
                </a:cxn>
                <a:cxn ang="0">
                  <a:pos x="93" y="23"/>
                </a:cxn>
                <a:cxn ang="0">
                  <a:pos x="107" y="23"/>
                </a:cxn>
                <a:cxn ang="0">
                  <a:pos x="119" y="23"/>
                </a:cxn>
                <a:cxn ang="0">
                  <a:pos x="132" y="23"/>
                </a:cxn>
                <a:cxn ang="0">
                  <a:pos x="132" y="0"/>
                </a:cxn>
                <a:cxn ang="0">
                  <a:pos x="147" y="10"/>
                </a:cxn>
                <a:cxn ang="0">
                  <a:pos x="162" y="21"/>
                </a:cxn>
                <a:cxn ang="0">
                  <a:pos x="176" y="30"/>
                </a:cxn>
                <a:cxn ang="0">
                  <a:pos x="191" y="41"/>
                </a:cxn>
                <a:cxn ang="0">
                  <a:pos x="177" y="41"/>
                </a:cxn>
                <a:cxn ang="0">
                  <a:pos x="163" y="41"/>
                </a:cxn>
                <a:cxn ang="0">
                  <a:pos x="165" y="60"/>
                </a:cxn>
                <a:cxn ang="0">
                  <a:pos x="167" y="80"/>
                </a:cxn>
                <a:cxn ang="0">
                  <a:pos x="169" y="99"/>
                </a:cxn>
                <a:cxn ang="0">
                  <a:pos x="170" y="117"/>
                </a:cxn>
                <a:cxn ang="0">
                  <a:pos x="173" y="136"/>
                </a:cxn>
                <a:cxn ang="0">
                  <a:pos x="174" y="155"/>
                </a:cxn>
                <a:cxn ang="0">
                  <a:pos x="175" y="174"/>
                </a:cxn>
                <a:cxn ang="0">
                  <a:pos x="177" y="194"/>
                </a:cxn>
                <a:cxn ang="0">
                  <a:pos x="181" y="197"/>
                </a:cxn>
                <a:cxn ang="0">
                  <a:pos x="179" y="212"/>
                </a:cxn>
                <a:cxn ang="0">
                  <a:pos x="164" y="212"/>
                </a:cxn>
                <a:cxn ang="0">
                  <a:pos x="149" y="212"/>
                </a:cxn>
                <a:cxn ang="0">
                  <a:pos x="134" y="212"/>
                </a:cxn>
                <a:cxn ang="0">
                  <a:pos x="119" y="212"/>
                </a:cxn>
                <a:cxn ang="0">
                  <a:pos x="117" y="210"/>
                </a:cxn>
                <a:cxn ang="0">
                  <a:pos x="95" y="215"/>
                </a:cxn>
                <a:cxn ang="0">
                  <a:pos x="92" y="216"/>
                </a:cxn>
                <a:cxn ang="0">
                  <a:pos x="83" y="210"/>
                </a:cxn>
                <a:cxn ang="0">
                  <a:pos x="75" y="226"/>
                </a:cxn>
                <a:cxn ang="0">
                  <a:pos x="73" y="225"/>
                </a:cxn>
                <a:cxn ang="0">
                  <a:pos x="61" y="213"/>
                </a:cxn>
                <a:cxn ang="0">
                  <a:pos x="49" y="200"/>
                </a:cxn>
                <a:cxn ang="0">
                  <a:pos x="35" y="191"/>
                </a:cxn>
                <a:cxn ang="0">
                  <a:pos x="23" y="192"/>
                </a:cxn>
                <a:cxn ang="0">
                  <a:pos x="9" y="195"/>
                </a:cxn>
              </a:cxnLst>
              <a:rect l="0" t="0" r="r" b="b"/>
              <a:pathLst>
                <a:path w="191" h="226">
                  <a:moveTo>
                    <a:pt x="9" y="195"/>
                  </a:moveTo>
                  <a:lnTo>
                    <a:pt x="6" y="202"/>
                  </a:lnTo>
                  <a:lnTo>
                    <a:pt x="11" y="180"/>
                  </a:lnTo>
                  <a:lnTo>
                    <a:pt x="14" y="159"/>
                  </a:lnTo>
                  <a:lnTo>
                    <a:pt x="9" y="142"/>
                  </a:lnTo>
                  <a:lnTo>
                    <a:pt x="11" y="123"/>
                  </a:lnTo>
                  <a:lnTo>
                    <a:pt x="1" y="112"/>
                  </a:lnTo>
                  <a:lnTo>
                    <a:pt x="0" y="117"/>
                  </a:lnTo>
                  <a:lnTo>
                    <a:pt x="2" y="107"/>
                  </a:lnTo>
                  <a:lnTo>
                    <a:pt x="17" y="107"/>
                  </a:lnTo>
                  <a:lnTo>
                    <a:pt x="32" y="107"/>
                  </a:lnTo>
                  <a:lnTo>
                    <a:pt x="48" y="107"/>
                  </a:lnTo>
                  <a:lnTo>
                    <a:pt x="63" y="107"/>
                  </a:lnTo>
                  <a:lnTo>
                    <a:pt x="63" y="92"/>
                  </a:lnTo>
                  <a:lnTo>
                    <a:pt x="63" y="77"/>
                  </a:lnTo>
                  <a:lnTo>
                    <a:pt x="79" y="69"/>
                  </a:lnTo>
                  <a:lnTo>
                    <a:pt x="80" y="46"/>
                  </a:lnTo>
                  <a:lnTo>
                    <a:pt x="80" y="23"/>
                  </a:lnTo>
                  <a:lnTo>
                    <a:pt x="93" y="23"/>
                  </a:lnTo>
                  <a:lnTo>
                    <a:pt x="107" y="23"/>
                  </a:lnTo>
                  <a:lnTo>
                    <a:pt x="119" y="23"/>
                  </a:lnTo>
                  <a:lnTo>
                    <a:pt x="132" y="23"/>
                  </a:lnTo>
                  <a:lnTo>
                    <a:pt x="132" y="0"/>
                  </a:lnTo>
                  <a:lnTo>
                    <a:pt x="147" y="10"/>
                  </a:lnTo>
                  <a:lnTo>
                    <a:pt x="162" y="21"/>
                  </a:lnTo>
                  <a:lnTo>
                    <a:pt x="176" y="30"/>
                  </a:lnTo>
                  <a:lnTo>
                    <a:pt x="191" y="41"/>
                  </a:lnTo>
                  <a:lnTo>
                    <a:pt x="177" y="41"/>
                  </a:lnTo>
                  <a:lnTo>
                    <a:pt x="163" y="41"/>
                  </a:lnTo>
                  <a:lnTo>
                    <a:pt x="165" y="60"/>
                  </a:lnTo>
                  <a:lnTo>
                    <a:pt x="167" y="80"/>
                  </a:lnTo>
                  <a:lnTo>
                    <a:pt x="169" y="99"/>
                  </a:lnTo>
                  <a:lnTo>
                    <a:pt x="170" y="117"/>
                  </a:lnTo>
                  <a:lnTo>
                    <a:pt x="173" y="136"/>
                  </a:lnTo>
                  <a:lnTo>
                    <a:pt x="174" y="155"/>
                  </a:lnTo>
                  <a:lnTo>
                    <a:pt x="175" y="174"/>
                  </a:lnTo>
                  <a:lnTo>
                    <a:pt x="177" y="194"/>
                  </a:lnTo>
                  <a:lnTo>
                    <a:pt x="181" y="197"/>
                  </a:lnTo>
                  <a:lnTo>
                    <a:pt x="179" y="212"/>
                  </a:lnTo>
                  <a:lnTo>
                    <a:pt x="164" y="212"/>
                  </a:lnTo>
                  <a:lnTo>
                    <a:pt x="149" y="212"/>
                  </a:lnTo>
                  <a:lnTo>
                    <a:pt x="134" y="212"/>
                  </a:lnTo>
                  <a:lnTo>
                    <a:pt x="119" y="212"/>
                  </a:lnTo>
                  <a:lnTo>
                    <a:pt x="117" y="210"/>
                  </a:lnTo>
                  <a:lnTo>
                    <a:pt x="95" y="215"/>
                  </a:lnTo>
                  <a:lnTo>
                    <a:pt x="92" y="216"/>
                  </a:lnTo>
                  <a:lnTo>
                    <a:pt x="83" y="210"/>
                  </a:lnTo>
                  <a:lnTo>
                    <a:pt x="75" y="226"/>
                  </a:lnTo>
                  <a:lnTo>
                    <a:pt x="73" y="225"/>
                  </a:lnTo>
                  <a:lnTo>
                    <a:pt x="61" y="213"/>
                  </a:lnTo>
                  <a:lnTo>
                    <a:pt x="49" y="200"/>
                  </a:lnTo>
                  <a:lnTo>
                    <a:pt x="35" y="191"/>
                  </a:lnTo>
                  <a:lnTo>
                    <a:pt x="23" y="192"/>
                  </a:lnTo>
                  <a:lnTo>
                    <a:pt x="9" y="19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5" name="Freeform 134"/>
            <p:cNvSpPr>
              <a:spLocks/>
            </p:cNvSpPr>
            <p:nvPr/>
          </p:nvSpPr>
          <p:spPr bwMode="auto">
            <a:xfrm>
              <a:off x="2307" y="1990"/>
              <a:ext cx="206" cy="164"/>
            </a:xfrm>
            <a:custGeom>
              <a:avLst/>
              <a:gdLst/>
              <a:ahLst/>
              <a:cxnLst>
                <a:cxn ang="0">
                  <a:pos x="96" y="36"/>
                </a:cxn>
                <a:cxn ang="0">
                  <a:pos x="82" y="45"/>
                </a:cxn>
                <a:cxn ang="0">
                  <a:pos x="69" y="54"/>
                </a:cxn>
                <a:cxn ang="0">
                  <a:pos x="60" y="68"/>
                </a:cxn>
                <a:cxn ang="0">
                  <a:pos x="53" y="81"/>
                </a:cxn>
                <a:cxn ang="0">
                  <a:pos x="56" y="98"/>
                </a:cxn>
                <a:cxn ang="0">
                  <a:pos x="48" y="110"/>
                </a:cxn>
                <a:cxn ang="0">
                  <a:pos x="41" y="123"/>
                </a:cxn>
                <a:cxn ang="0">
                  <a:pos x="29" y="132"/>
                </a:cxn>
                <a:cxn ang="0">
                  <a:pos x="17" y="140"/>
                </a:cxn>
                <a:cxn ang="0">
                  <a:pos x="0" y="147"/>
                </a:cxn>
                <a:cxn ang="0">
                  <a:pos x="17" y="147"/>
                </a:cxn>
                <a:cxn ang="0">
                  <a:pos x="35" y="147"/>
                </a:cxn>
                <a:cxn ang="0">
                  <a:pos x="52" y="147"/>
                </a:cxn>
                <a:cxn ang="0">
                  <a:pos x="69" y="147"/>
                </a:cxn>
                <a:cxn ang="0">
                  <a:pos x="72" y="126"/>
                </a:cxn>
                <a:cxn ang="0">
                  <a:pos x="86" y="120"/>
                </a:cxn>
                <a:cxn ang="0">
                  <a:pos x="98" y="112"/>
                </a:cxn>
                <a:cxn ang="0">
                  <a:pos x="111" y="106"/>
                </a:cxn>
                <a:cxn ang="0">
                  <a:pos x="125" y="100"/>
                </a:cxn>
                <a:cxn ang="0">
                  <a:pos x="136" y="93"/>
                </a:cxn>
                <a:cxn ang="0">
                  <a:pos x="147" y="85"/>
                </a:cxn>
                <a:cxn ang="0">
                  <a:pos x="147" y="74"/>
                </a:cxn>
                <a:cxn ang="0">
                  <a:pos x="167" y="67"/>
                </a:cxn>
                <a:cxn ang="0">
                  <a:pos x="183" y="66"/>
                </a:cxn>
                <a:cxn ang="0">
                  <a:pos x="186" y="61"/>
                </a:cxn>
                <a:cxn ang="0">
                  <a:pos x="177" y="44"/>
                </a:cxn>
                <a:cxn ang="0">
                  <a:pos x="174" y="31"/>
                </a:cxn>
                <a:cxn ang="0">
                  <a:pos x="173" y="18"/>
                </a:cxn>
                <a:cxn ang="0">
                  <a:pos x="170" y="14"/>
                </a:cxn>
                <a:cxn ang="0">
                  <a:pos x="159" y="10"/>
                </a:cxn>
                <a:cxn ang="0">
                  <a:pos x="154" y="12"/>
                </a:cxn>
                <a:cxn ang="0">
                  <a:pos x="129" y="9"/>
                </a:cxn>
                <a:cxn ang="0">
                  <a:pos x="120" y="0"/>
                </a:cxn>
                <a:cxn ang="0">
                  <a:pos x="112" y="7"/>
                </a:cxn>
                <a:cxn ang="0">
                  <a:pos x="105" y="21"/>
                </a:cxn>
                <a:cxn ang="0">
                  <a:pos x="96" y="36"/>
                </a:cxn>
              </a:cxnLst>
              <a:rect l="0" t="0" r="r" b="b"/>
              <a:pathLst>
                <a:path w="186" h="147">
                  <a:moveTo>
                    <a:pt x="96" y="36"/>
                  </a:moveTo>
                  <a:lnTo>
                    <a:pt x="82" y="45"/>
                  </a:lnTo>
                  <a:lnTo>
                    <a:pt x="69" y="54"/>
                  </a:lnTo>
                  <a:lnTo>
                    <a:pt x="60" y="68"/>
                  </a:lnTo>
                  <a:lnTo>
                    <a:pt x="53" y="81"/>
                  </a:lnTo>
                  <a:lnTo>
                    <a:pt x="56" y="98"/>
                  </a:lnTo>
                  <a:lnTo>
                    <a:pt x="48" y="110"/>
                  </a:lnTo>
                  <a:lnTo>
                    <a:pt x="41" y="123"/>
                  </a:lnTo>
                  <a:lnTo>
                    <a:pt x="29" y="132"/>
                  </a:lnTo>
                  <a:lnTo>
                    <a:pt x="17" y="140"/>
                  </a:lnTo>
                  <a:lnTo>
                    <a:pt x="0" y="147"/>
                  </a:lnTo>
                  <a:lnTo>
                    <a:pt x="17" y="147"/>
                  </a:lnTo>
                  <a:lnTo>
                    <a:pt x="35" y="147"/>
                  </a:lnTo>
                  <a:lnTo>
                    <a:pt x="52" y="147"/>
                  </a:lnTo>
                  <a:lnTo>
                    <a:pt x="69" y="147"/>
                  </a:lnTo>
                  <a:lnTo>
                    <a:pt x="72" y="126"/>
                  </a:lnTo>
                  <a:lnTo>
                    <a:pt x="86" y="120"/>
                  </a:lnTo>
                  <a:lnTo>
                    <a:pt x="98" y="112"/>
                  </a:lnTo>
                  <a:lnTo>
                    <a:pt x="111" y="106"/>
                  </a:lnTo>
                  <a:lnTo>
                    <a:pt x="125" y="100"/>
                  </a:lnTo>
                  <a:lnTo>
                    <a:pt x="136" y="93"/>
                  </a:lnTo>
                  <a:lnTo>
                    <a:pt x="147" y="85"/>
                  </a:lnTo>
                  <a:lnTo>
                    <a:pt x="147" y="74"/>
                  </a:lnTo>
                  <a:lnTo>
                    <a:pt x="167" y="67"/>
                  </a:lnTo>
                  <a:lnTo>
                    <a:pt x="183" y="66"/>
                  </a:lnTo>
                  <a:lnTo>
                    <a:pt x="186" y="61"/>
                  </a:lnTo>
                  <a:lnTo>
                    <a:pt x="177" y="44"/>
                  </a:lnTo>
                  <a:lnTo>
                    <a:pt x="174" y="31"/>
                  </a:lnTo>
                  <a:lnTo>
                    <a:pt x="173" y="18"/>
                  </a:lnTo>
                  <a:lnTo>
                    <a:pt x="170" y="14"/>
                  </a:lnTo>
                  <a:lnTo>
                    <a:pt x="159" y="10"/>
                  </a:lnTo>
                  <a:lnTo>
                    <a:pt x="154" y="12"/>
                  </a:lnTo>
                  <a:lnTo>
                    <a:pt x="129" y="9"/>
                  </a:lnTo>
                  <a:lnTo>
                    <a:pt x="120" y="0"/>
                  </a:lnTo>
                  <a:lnTo>
                    <a:pt x="112" y="7"/>
                  </a:lnTo>
                  <a:lnTo>
                    <a:pt x="105" y="21"/>
                  </a:lnTo>
                  <a:lnTo>
                    <a:pt x="96"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6" name="Freeform 135"/>
            <p:cNvSpPr>
              <a:spLocks/>
            </p:cNvSpPr>
            <p:nvPr/>
          </p:nvSpPr>
          <p:spPr bwMode="auto">
            <a:xfrm>
              <a:off x="2536" y="2236"/>
              <a:ext cx="273" cy="236"/>
            </a:xfrm>
            <a:custGeom>
              <a:avLst/>
              <a:gdLst/>
              <a:ahLst/>
              <a:cxnLst>
                <a:cxn ang="0">
                  <a:pos x="27" y="194"/>
                </a:cxn>
                <a:cxn ang="0">
                  <a:pos x="21" y="195"/>
                </a:cxn>
                <a:cxn ang="0">
                  <a:pos x="12" y="188"/>
                </a:cxn>
                <a:cxn ang="0">
                  <a:pos x="12" y="182"/>
                </a:cxn>
                <a:cxn ang="0">
                  <a:pos x="14" y="181"/>
                </a:cxn>
                <a:cxn ang="0">
                  <a:pos x="2" y="168"/>
                </a:cxn>
                <a:cxn ang="0">
                  <a:pos x="0" y="153"/>
                </a:cxn>
                <a:cxn ang="0">
                  <a:pos x="2" y="153"/>
                </a:cxn>
                <a:cxn ang="0">
                  <a:pos x="16" y="147"/>
                </a:cxn>
                <a:cxn ang="0">
                  <a:pos x="34" y="147"/>
                </a:cxn>
                <a:cxn ang="0">
                  <a:pos x="51" y="146"/>
                </a:cxn>
                <a:cxn ang="0">
                  <a:pos x="60" y="130"/>
                </a:cxn>
                <a:cxn ang="0">
                  <a:pos x="61" y="117"/>
                </a:cxn>
                <a:cxn ang="0">
                  <a:pos x="61" y="104"/>
                </a:cxn>
                <a:cxn ang="0">
                  <a:pos x="62" y="91"/>
                </a:cxn>
                <a:cxn ang="0">
                  <a:pos x="62" y="78"/>
                </a:cxn>
                <a:cxn ang="0">
                  <a:pos x="75" y="75"/>
                </a:cxn>
                <a:cxn ang="0">
                  <a:pos x="87" y="73"/>
                </a:cxn>
                <a:cxn ang="0">
                  <a:pos x="99" y="60"/>
                </a:cxn>
                <a:cxn ang="0">
                  <a:pos x="112" y="48"/>
                </a:cxn>
                <a:cxn ang="0">
                  <a:pos x="129" y="36"/>
                </a:cxn>
                <a:cxn ang="0">
                  <a:pos x="147" y="24"/>
                </a:cxn>
                <a:cxn ang="0">
                  <a:pos x="164" y="12"/>
                </a:cxn>
                <a:cxn ang="0">
                  <a:pos x="182" y="0"/>
                </a:cxn>
                <a:cxn ang="0">
                  <a:pos x="204" y="6"/>
                </a:cxn>
                <a:cxn ang="0">
                  <a:pos x="217" y="16"/>
                </a:cxn>
                <a:cxn ang="0">
                  <a:pos x="228" y="9"/>
                </a:cxn>
                <a:cxn ang="0">
                  <a:pos x="229" y="9"/>
                </a:cxn>
                <a:cxn ang="0">
                  <a:pos x="230" y="22"/>
                </a:cxn>
                <a:cxn ang="0">
                  <a:pos x="232" y="36"/>
                </a:cxn>
                <a:cxn ang="0">
                  <a:pos x="246" y="56"/>
                </a:cxn>
                <a:cxn ang="0">
                  <a:pos x="242" y="64"/>
                </a:cxn>
                <a:cxn ang="0">
                  <a:pos x="241" y="78"/>
                </a:cxn>
                <a:cxn ang="0">
                  <a:pos x="240" y="91"/>
                </a:cxn>
                <a:cxn ang="0">
                  <a:pos x="240" y="105"/>
                </a:cxn>
                <a:cxn ang="0">
                  <a:pos x="238" y="118"/>
                </a:cxn>
                <a:cxn ang="0">
                  <a:pos x="231" y="129"/>
                </a:cxn>
                <a:cxn ang="0">
                  <a:pos x="224" y="140"/>
                </a:cxn>
                <a:cxn ang="0">
                  <a:pos x="217" y="151"/>
                </a:cxn>
                <a:cxn ang="0">
                  <a:pos x="210" y="162"/>
                </a:cxn>
                <a:cxn ang="0">
                  <a:pos x="211" y="176"/>
                </a:cxn>
                <a:cxn ang="0">
                  <a:pos x="193" y="186"/>
                </a:cxn>
                <a:cxn ang="0">
                  <a:pos x="177" y="184"/>
                </a:cxn>
                <a:cxn ang="0">
                  <a:pos x="160" y="183"/>
                </a:cxn>
                <a:cxn ang="0">
                  <a:pos x="142" y="192"/>
                </a:cxn>
                <a:cxn ang="0">
                  <a:pos x="132" y="187"/>
                </a:cxn>
                <a:cxn ang="0">
                  <a:pos x="120" y="182"/>
                </a:cxn>
                <a:cxn ang="0">
                  <a:pos x="103" y="187"/>
                </a:cxn>
                <a:cxn ang="0">
                  <a:pos x="92" y="176"/>
                </a:cxn>
                <a:cxn ang="0">
                  <a:pos x="76" y="175"/>
                </a:cxn>
                <a:cxn ang="0">
                  <a:pos x="62" y="180"/>
                </a:cxn>
                <a:cxn ang="0">
                  <a:pos x="58" y="193"/>
                </a:cxn>
                <a:cxn ang="0">
                  <a:pos x="54" y="205"/>
                </a:cxn>
                <a:cxn ang="0">
                  <a:pos x="52" y="212"/>
                </a:cxn>
                <a:cxn ang="0">
                  <a:pos x="39" y="200"/>
                </a:cxn>
                <a:cxn ang="0">
                  <a:pos x="34" y="206"/>
                </a:cxn>
                <a:cxn ang="0">
                  <a:pos x="34" y="208"/>
                </a:cxn>
                <a:cxn ang="0">
                  <a:pos x="31" y="199"/>
                </a:cxn>
                <a:cxn ang="0">
                  <a:pos x="27" y="194"/>
                </a:cxn>
              </a:cxnLst>
              <a:rect l="0" t="0" r="r" b="b"/>
              <a:pathLst>
                <a:path w="246" h="212">
                  <a:moveTo>
                    <a:pt x="27" y="194"/>
                  </a:moveTo>
                  <a:lnTo>
                    <a:pt x="21" y="195"/>
                  </a:lnTo>
                  <a:lnTo>
                    <a:pt x="12" y="188"/>
                  </a:lnTo>
                  <a:lnTo>
                    <a:pt x="12" y="182"/>
                  </a:lnTo>
                  <a:lnTo>
                    <a:pt x="14" y="181"/>
                  </a:lnTo>
                  <a:lnTo>
                    <a:pt x="2" y="168"/>
                  </a:lnTo>
                  <a:lnTo>
                    <a:pt x="0" y="153"/>
                  </a:lnTo>
                  <a:lnTo>
                    <a:pt x="2" y="153"/>
                  </a:lnTo>
                  <a:lnTo>
                    <a:pt x="16" y="147"/>
                  </a:lnTo>
                  <a:lnTo>
                    <a:pt x="34" y="147"/>
                  </a:lnTo>
                  <a:lnTo>
                    <a:pt x="51" y="146"/>
                  </a:lnTo>
                  <a:lnTo>
                    <a:pt x="60" y="130"/>
                  </a:lnTo>
                  <a:lnTo>
                    <a:pt x="61" y="117"/>
                  </a:lnTo>
                  <a:lnTo>
                    <a:pt x="61" y="104"/>
                  </a:lnTo>
                  <a:lnTo>
                    <a:pt x="62" y="91"/>
                  </a:lnTo>
                  <a:lnTo>
                    <a:pt x="62" y="78"/>
                  </a:lnTo>
                  <a:lnTo>
                    <a:pt x="75" y="75"/>
                  </a:lnTo>
                  <a:lnTo>
                    <a:pt x="87" y="73"/>
                  </a:lnTo>
                  <a:lnTo>
                    <a:pt x="99" y="60"/>
                  </a:lnTo>
                  <a:lnTo>
                    <a:pt x="112" y="48"/>
                  </a:lnTo>
                  <a:lnTo>
                    <a:pt x="129" y="36"/>
                  </a:lnTo>
                  <a:lnTo>
                    <a:pt x="147" y="24"/>
                  </a:lnTo>
                  <a:lnTo>
                    <a:pt x="164" y="12"/>
                  </a:lnTo>
                  <a:lnTo>
                    <a:pt x="182" y="0"/>
                  </a:lnTo>
                  <a:lnTo>
                    <a:pt x="204" y="6"/>
                  </a:lnTo>
                  <a:lnTo>
                    <a:pt x="217" y="16"/>
                  </a:lnTo>
                  <a:lnTo>
                    <a:pt x="228" y="9"/>
                  </a:lnTo>
                  <a:lnTo>
                    <a:pt x="229" y="9"/>
                  </a:lnTo>
                  <a:lnTo>
                    <a:pt x="230" y="22"/>
                  </a:lnTo>
                  <a:lnTo>
                    <a:pt x="232" y="36"/>
                  </a:lnTo>
                  <a:lnTo>
                    <a:pt x="246" y="56"/>
                  </a:lnTo>
                  <a:lnTo>
                    <a:pt x="242" y="64"/>
                  </a:lnTo>
                  <a:lnTo>
                    <a:pt x="241" y="78"/>
                  </a:lnTo>
                  <a:lnTo>
                    <a:pt x="240" y="91"/>
                  </a:lnTo>
                  <a:lnTo>
                    <a:pt x="240" y="105"/>
                  </a:lnTo>
                  <a:lnTo>
                    <a:pt x="238" y="118"/>
                  </a:lnTo>
                  <a:lnTo>
                    <a:pt x="231" y="129"/>
                  </a:lnTo>
                  <a:lnTo>
                    <a:pt x="224" y="140"/>
                  </a:lnTo>
                  <a:lnTo>
                    <a:pt x="217" y="151"/>
                  </a:lnTo>
                  <a:lnTo>
                    <a:pt x="210" y="162"/>
                  </a:lnTo>
                  <a:lnTo>
                    <a:pt x="211" y="176"/>
                  </a:lnTo>
                  <a:lnTo>
                    <a:pt x="193" y="186"/>
                  </a:lnTo>
                  <a:lnTo>
                    <a:pt x="177" y="184"/>
                  </a:lnTo>
                  <a:lnTo>
                    <a:pt x="160" y="183"/>
                  </a:lnTo>
                  <a:lnTo>
                    <a:pt x="142" y="192"/>
                  </a:lnTo>
                  <a:lnTo>
                    <a:pt x="132" y="187"/>
                  </a:lnTo>
                  <a:lnTo>
                    <a:pt x="120" y="182"/>
                  </a:lnTo>
                  <a:lnTo>
                    <a:pt x="103" y="187"/>
                  </a:lnTo>
                  <a:lnTo>
                    <a:pt x="92" y="176"/>
                  </a:lnTo>
                  <a:lnTo>
                    <a:pt x="76" y="175"/>
                  </a:lnTo>
                  <a:lnTo>
                    <a:pt x="62" y="180"/>
                  </a:lnTo>
                  <a:lnTo>
                    <a:pt x="58" y="193"/>
                  </a:lnTo>
                  <a:lnTo>
                    <a:pt x="54" y="205"/>
                  </a:lnTo>
                  <a:lnTo>
                    <a:pt x="52" y="212"/>
                  </a:lnTo>
                  <a:lnTo>
                    <a:pt x="39" y="200"/>
                  </a:lnTo>
                  <a:lnTo>
                    <a:pt x="34" y="206"/>
                  </a:lnTo>
                  <a:lnTo>
                    <a:pt x="34" y="208"/>
                  </a:lnTo>
                  <a:lnTo>
                    <a:pt x="31" y="199"/>
                  </a:lnTo>
                  <a:lnTo>
                    <a:pt x="27" y="19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7" name="Freeform 136"/>
            <p:cNvSpPr>
              <a:spLocks/>
            </p:cNvSpPr>
            <p:nvPr/>
          </p:nvSpPr>
          <p:spPr bwMode="auto">
            <a:xfrm>
              <a:off x="2227" y="2374"/>
              <a:ext cx="106" cy="87"/>
            </a:xfrm>
            <a:custGeom>
              <a:avLst/>
              <a:gdLst/>
              <a:ahLst/>
              <a:cxnLst>
                <a:cxn ang="0">
                  <a:pos x="18" y="4"/>
                </a:cxn>
                <a:cxn ang="0">
                  <a:pos x="15" y="11"/>
                </a:cxn>
                <a:cxn ang="0">
                  <a:pos x="8" y="23"/>
                </a:cxn>
                <a:cxn ang="0">
                  <a:pos x="0" y="35"/>
                </a:cxn>
                <a:cxn ang="0">
                  <a:pos x="10" y="48"/>
                </a:cxn>
                <a:cxn ang="0">
                  <a:pos x="15" y="45"/>
                </a:cxn>
                <a:cxn ang="0">
                  <a:pos x="11" y="48"/>
                </a:cxn>
                <a:cxn ang="0">
                  <a:pos x="14" y="49"/>
                </a:cxn>
                <a:cxn ang="0">
                  <a:pos x="14" y="55"/>
                </a:cxn>
                <a:cxn ang="0">
                  <a:pos x="30" y="55"/>
                </a:cxn>
                <a:cxn ang="0">
                  <a:pos x="33" y="52"/>
                </a:cxn>
                <a:cxn ang="0">
                  <a:pos x="52" y="55"/>
                </a:cxn>
                <a:cxn ang="0">
                  <a:pos x="56" y="60"/>
                </a:cxn>
                <a:cxn ang="0">
                  <a:pos x="35" y="55"/>
                </a:cxn>
                <a:cxn ang="0">
                  <a:pos x="23" y="60"/>
                </a:cxn>
                <a:cxn ang="0">
                  <a:pos x="10" y="64"/>
                </a:cxn>
                <a:cxn ang="0">
                  <a:pos x="12" y="72"/>
                </a:cxn>
                <a:cxn ang="0">
                  <a:pos x="23" y="71"/>
                </a:cxn>
                <a:cxn ang="0">
                  <a:pos x="29" y="69"/>
                </a:cxn>
                <a:cxn ang="0">
                  <a:pos x="29" y="71"/>
                </a:cxn>
                <a:cxn ang="0">
                  <a:pos x="15" y="72"/>
                </a:cxn>
                <a:cxn ang="0">
                  <a:pos x="11" y="78"/>
                </a:cxn>
                <a:cxn ang="0">
                  <a:pos x="32" y="73"/>
                </a:cxn>
                <a:cxn ang="0">
                  <a:pos x="45" y="72"/>
                </a:cxn>
                <a:cxn ang="0">
                  <a:pos x="58" y="71"/>
                </a:cxn>
                <a:cxn ang="0">
                  <a:pos x="72" y="75"/>
                </a:cxn>
                <a:cxn ang="0">
                  <a:pos x="95" y="76"/>
                </a:cxn>
                <a:cxn ang="0">
                  <a:pos x="90" y="59"/>
                </a:cxn>
                <a:cxn ang="0">
                  <a:pos x="86" y="52"/>
                </a:cxn>
                <a:cxn ang="0">
                  <a:pos x="82" y="34"/>
                </a:cxn>
                <a:cxn ang="0">
                  <a:pos x="70" y="22"/>
                </a:cxn>
                <a:cxn ang="0">
                  <a:pos x="58" y="9"/>
                </a:cxn>
                <a:cxn ang="0">
                  <a:pos x="44" y="0"/>
                </a:cxn>
                <a:cxn ang="0">
                  <a:pos x="32" y="1"/>
                </a:cxn>
                <a:cxn ang="0">
                  <a:pos x="18" y="4"/>
                </a:cxn>
              </a:cxnLst>
              <a:rect l="0" t="0" r="r" b="b"/>
              <a:pathLst>
                <a:path w="95" h="78">
                  <a:moveTo>
                    <a:pt x="18" y="4"/>
                  </a:moveTo>
                  <a:lnTo>
                    <a:pt x="15" y="11"/>
                  </a:lnTo>
                  <a:lnTo>
                    <a:pt x="8" y="23"/>
                  </a:lnTo>
                  <a:lnTo>
                    <a:pt x="0" y="35"/>
                  </a:lnTo>
                  <a:lnTo>
                    <a:pt x="10" y="48"/>
                  </a:lnTo>
                  <a:lnTo>
                    <a:pt x="15" y="45"/>
                  </a:lnTo>
                  <a:lnTo>
                    <a:pt x="11" y="48"/>
                  </a:lnTo>
                  <a:lnTo>
                    <a:pt x="14" y="49"/>
                  </a:lnTo>
                  <a:lnTo>
                    <a:pt x="14" y="55"/>
                  </a:lnTo>
                  <a:lnTo>
                    <a:pt x="30" y="55"/>
                  </a:lnTo>
                  <a:lnTo>
                    <a:pt x="33" y="52"/>
                  </a:lnTo>
                  <a:lnTo>
                    <a:pt x="52" y="55"/>
                  </a:lnTo>
                  <a:lnTo>
                    <a:pt x="56" y="60"/>
                  </a:lnTo>
                  <a:lnTo>
                    <a:pt x="35" y="55"/>
                  </a:lnTo>
                  <a:lnTo>
                    <a:pt x="23" y="60"/>
                  </a:lnTo>
                  <a:lnTo>
                    <a:pt x="10" y="64"/>
                  </a:lnTo>
                  <a:lnTo>
                    <a:pt x="12" y="72"/>
                  </a:lnTo>
                  <a:lnTo>
                    <a:pt x="23" y="71"/>
                  </a:lnTo>
                  <a:lnTo>
                    <a:pt x="29" y="69"/>
                  </a:lnTo>
                  <a:lnTo>
                    <a:pt x="29" y="71"/>
                  </a:lnTo>
                  <a:lnTo>
                    <a:pt x="15" y="72"/>
                  </a:lnTo>
                  <a:lnTo>
                    <a:pt x="11" y="78"/>
                  </a:lnTo>
                  <a:lnTo>
                    <a:pt x="32" y="73"/>
                  </a:lnTo>
                  <a:lnTo>
                    <a:pt x="45" y="72"/>
                  </a:lnTo>
                  <a:lnTo>
                    <a:pt x="58" y="71"/>
                  </a:lnTo>
                  <a:lnTo>
                    <a:pt x="72" y="75"/>
                  </a:lnTo>
                  <a:lnTo>
                    <a:pt x="95" y="76"/>
                  </a:lnTo>
                  <a:lnTo>
                    <a:pt x="90" y="59"/>
                  </a:lnTo>
                  <a:lnTo>
                    <a:pt x="86" y="52"/>
                  </a:lnTo>
                  <a:lnTo>
                    <a:pt x="82" y="34"/>
                  </a:lnTo>
                  <a:lnTo>
                    <a:pt x="70" y="22"/>
                  </a:lnTo>
                  <a:lnTo>
                    <a:pt x="58" y="9"/>
                  </a:lnTo>
                  <a:lnTo>
                    <a:pt x="44" y="0"/>
                  </a:lnTo>
                  <a:lnTo>
                    <a:pt x="32" y="1"/>
                  </a:lnTo>
                  <a:lnTo>
                    <a:pt x="18"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8" name="Freeform 137"/>
            <p:cNvSpPr>
              <a:spLocks/>
            </p:cNvSpPr>
            <p:nvPr/>
          </p:nvSpPr>
          <p:spPr bwMode="auto">
            <a:xfrm>
              <a:off x="2656" y="1963"/>
              <a:ext cx="68" cy="140"/>
            </a:xfrm>
            <a:custGeom>
              <a:avLst/>
              <a:gdLst/>
              <a:ahLst/>
              <a:cxnLst>
                <a:cxn ang="0">
                  <a:pos x="41" y="118"/>
                </a:cxn>
                <a:cxn ang="0">
                  <a:pos x="32" y="126"/>
                </a:cxn>
                <a:cxn ang="0">
                  <a:pos x="29" y="109"/>
                </a:cxn>
                <a:cxn ang="0">
                  <a:pos x="24" y="92"/>
                </a:cxn>
                <a:cxn ang="0">
                  <a:pos x="12" y="79"/>
                </a:cxn>
                <a:cxn ang="0">
                  <a:pos x="0" y="61"/>
                </a:cxn>
                <a:cxn ang="0">
                  <a:pos x="7" y="48"/>
                </a:cxn>
                <a:cxn ang="0">
                  <a:pos x="13" y="34"/>
                </a:cxn>
                <a:cxn ang="0">
                  <a:pos x="12" y="10"/>
                </a:cxn>
                <a:cxn ang="0">
                  <a:pos x="15" y="6"/>
                </a:cxn>
                <a:cxn ang="0">
                  <a:pos x="32" y="0"/>
                </a:cxn>
                <a:cxn ang="0">
                  <a:pos x="38" y="3"/>
                </a:cxn>
                <a:cxn ang="0">
                  <a:pos x="42" y="9"/>
                </a:cxn>
                <a:cxn ang="0">
                  <a:pos x="51" y="3"/>
                </a:cxn>
                <a:cxn ang="0">
                  <a:pos x="44" y="22"/>
                </a:cxn>
                <a:cxn ang="0">
                  <a:pos x="54" y="36"/>
                </a:cxn>
                <a:cxn ang="0">
                  <a:pos x="45" y="46"/>
                </a:cxn>
                <a:cxn ang="0">
                  <a:pos x="38" y="57"/>
                </a:cxn>
                <a:cxn ang="0">
                  <a:pos x="51" y="66"/>
                </a:cxn>
                <a:cxn ang="0">
                  <a:pos x="61" y="73"/>
                </a:cxn>
                <a:cxn ang="0">
                  <a:pos x="60" y="87"/>
                </a:cxn>
                <a:cxn ang="0">
                  <a:pos x="50" y="96"/>
                </a:cxn>
                <a:cxn ang="0">
                  <a:pos x="41" y="104"/>
                </a:cxn>
                <a:cxn ang="0">
                  <a:pos x="41" y="118"/>
                </a:cxn>
              </a:cxnLst>
              <a:rect l="0" t="0" r="r" b="b"/>
              <a:pathLst>
                <a:path w="61" h="126">
                  <a:moveTo>
                    <a:pt x="41" y="118"/>
                  </a:moveTo>
                  <a:lnTo>
                    <a:pt x="32" y="126"/>
                  </a:lnTo>
                  <a:lnTo>
                    <a:pt x="29" y="109"/>
                  </a:lnTo>
                  <a:lnTo>
                    <a:pt x="24" y="92"/>
                  </a:lnTo>
                  <a:lnTo>
                    <a:pt x="12" y="79"/>
                  </a:lnTo>
                  <a:lnTo>
                    <a:pt x="0" y="61"/>
                  </a:lnTo>
                  <a:lnTo>
                    <a:pt x="7" y="48"/>
                  </a:lnTo>
                  <a:lnTo>
                    <a:pt x="13" y="34"/>
                  </a:lnTo>
                  <a:lnTo>
                    <a:pt x="12" y="10"/>
                  </a:lnTo>
                  <a:lnTo>
                    <a:pt x="15" y="6"/>
                  </a:lnTo>
                  <a:lnTo>
                    <a:pt x="32" y="0"/>
                  </a:lnTo>
                  <a:lnTo>
                    <a:pt x="38" y="3"/>
                  </a:lnTo>
                  <a:lnTo>
                    <a:pt x="42" y="9"/>
                  </a:lnTo>
                  <a:lnTo>
                    <a:pt x="51" y="3"/>
                  </a:lnTo>
                  <a:lnTo>
                    <a:pt x="44" y="22"/>
                  </a:lnTo>
                  <a:lnTo>
                    <a:pt x="54" y="36"/>
                  </a:lnTo>
                  <a:lnTo>
                    <a:pt x="45" y="46"/>
                  </a:lnTo>
                  <a:lnTo>
                    <a:pt x="38" y="57"/>
                  </a:lnTo>
                  <a:lnTo>
                    <a:pt x="51" y="66"/>
                  </a:lnTo>
                  <a:lnTo>
                    <a:pt x="61" y="73"/>
                  </a:lnTo>
                  <a:lnTo>
                    <a:pt x="60" y="87"/>
                  </a:lnTo>
                  <a:lnTo>
                    <a:pt x="50" y="96"/>
                  </a:lnTo>
                  <a:lnTo>
                    <a:pt x="41" y="104"/>
                  </a:lnTo>
                  <a:lnTo>
                    <a:pt x="41" y="1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9" name="Freeform 138"/>
            <p:cNvSpPr>
              <a:spLocks/>
            </p:cNvSpPr>
            <p:nvPr/>
          </p:nvSpPr>
          <p:spPr bwMode="auto">
            <a:xfrm>
              <a:off x="2329" y="2536"/>
              <a:ext cx="73" cy="83"/>
            </a:xfrm>
            <a:custGeom>
              <a:avLst/>
              <a:gdLst/>
              <a:ahLst/>
              <a:cxnLst>
                <a:cxn ang="0">
                  <a:pos x="62" y="74"/>
                </a:cxn>
                <a:cxn ang="0">
                  <a:pos x="45" y="63"/>
                </a:cxn>
                <a:cxn ang="0">
                  <a:pos x="29" y="54"/>
                </a:cxn>
                <a:cxn ang="0">
                  <a:pos x="14" y="40"/>
                </a:cxn>
                <a:cxn ang="0">
                  <a:pos x="0" y="27"/>
                </a:cxn>
                <a:cxn ang="0">
                  <a:pos x="5" y="21"/>
                </a:cxn>
                <a:cxn ang="0">
                  <a:pos x="12" y="10"/>
                </a:cxn>
                <a:cxn ang="0">
                  <a:pos x="19" y="0"/>
                </a:cxn>
                <a:cxn ang="0">
                  <a:pos x="27" y="0"/>
                </a:cxn>
                <a:cxn ang="0">
                  <a:pos x="32" y="18"/>
                </a:cxn>
                <a:cxn ang="0">
                  <a:pos x="36" y="21"/>
                </a:cxn>
                <a:cxn ang="0">
                  <a:pos x="43" y="16"/>
                </a:cxn>
                <a:cxn ang="0">
                  <a:pos x="48" y="16"/>
                </a:cxn>
                <a:cxn ang="0">
                  <a:pos x="48" y="32"/>
                </a:cxn>
                <a:cxn ang="0">
                  <a:pos x="48" y="36"/>
                </a:cxn>
                <a:cxn ang="0">
                  <a:pos x="57" y="44"/>
                </a:cxn>
                <a:cxn ang="0">
                  <a:pos x="65" y="52"/>
                </a:cxn>
                <a:cxn ang="0">
                  <a:pos x="62" y="74"/>
                </a:cxn>
              </a:cxnLst>
              <a:rect l="0" t="0" r="r" b="b"/>
              <a:pathLst>
                <a:path w="65" h="74">
                  <a:moveTo>
                    <a:pt x="62" y="74"/>
                  </a:moveTo>
                  <a:lnTo>
                    <a:pt x="45" y="63"/>
                  </a:lnTo>
                  <a:lnTo>
                    <a:pt x="29" y="54"/>
                  </a:lnTo>
                  <a:lnTo>
                    <a:pt x="14" y="40"/>
                  </a:lnTo>
                  <a:lnTo>
                    <a:pt x="0" y="27"/>
                  </a:lnTo>
                  <a:lnTo>
                    <a:pt x="5" y="21"/>
                  </a:lnTo>
                  <a:lnTo>
                    <a:pt x="12" y="10"/>
                  </a:lnTo>
                  <a:lnTo>
                    <a:pt x="19" y="0"/>
                  </a:lnTo>
                  <a:lnTo>
                    <a:pt x="27" y="0"/>
                  </a:lnTo>
                  <a:lnTo>
                    <a:pt x="32" y="18"/>
                  </a:lnTo>
                  <a:lnTo>
                    <a:pt x="36" y="21"/>
                  </a:lnTo>
                  <a:lnTo>
                    <a:pt x="43" y="16"/>
                  </a:lnTo>
                  <a:lnTo>
                    <a:pt x="48" y="16"/>
                  </a:lnTo>
                  <a:lnTo>
                    <a:pt x="48" y="32"/>
                  </a:lnTo>
                  <a:lnTo>
                    <a:pt x="48" y="36"/>
                  </a:lnTo>
                  <a:lnTo>
                    <a:pt x="57" y="44"/>
                  </a:lnTo>
                  <a:lnTo>
                    <a:pt x="65" y="52"/>
                  </a:lnTo>
                  <a:lnTo>
                    <a:pt x="62" y="7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0" name="Freeform 139"/>
            <p:cNvSpPr>
              <a:spLocks/>
            </p:cNvSpPr>
            <p:nvPr/>
          </p:nvSpPr>
          <p:spPr bwMode="auto">
            <a:xfrm>
              <a:off x="1076" y="2514"/>
              <a:ext cx="55" cy="47"/>
            </a:xfrm>
            <a:custGeom>
              <a:avLst/>
              <a:gdLst/>
              <a:ahLst/>
              <a:cxnLst>
                <a:cxn ang="0">
                  <a:pos x="0" y="28"/>
                </a:cxn>
                <a:cxn ang="0">
                  <a:pos x="1" y="14"/>
                </a:cxn>
                <a:cxn ang="0">
                  <a:pos x="0" y="2"/>
                </a:cxn>
                <a:cxn ang="0">
                  <a:pos x="6" y="0"/>
                </a:cxn>
                <a:cxn ang="0">
                  <a:pos x="10" y="8"/>
                </a:cxn>
                <a:cxn ang="0">
                  <a:pos x="18" y="10"/>
                </a:cxn>
                <a:cxn ang="0">
                  <a:pos x="22" y="15"/>
                </a:cxn>
                <a:cxn ang="0">
                  <a:pos x="44" y="6"/>
                </a:cxn>
                <a:cxn ang="0">
                  <a:pos x="46" y="9"/>
                </a:cxn>
                <a:cxn ang="0">
                  <a:pos x="50" y="14"/>
                </a:cxn>
                <a:cxn ang="0">
                  <a:pos x="38" y="24"/>
                </a:cxn>
                <a:cxn ang="0">
                  <a:pos x="45" y="36"/>
                </a:cxn>
                <a:cxn ang="0">
                  <a:pos x="31" y="42"/>
                </a:cxn>
                <a:cxn ang="0">
                  <a:pos x="28" y="32"/>
                </a:cxn>
                <a:cxn ang="0">
                  <a:pos x="26" y="35"/>
                </a:cxn>
                <a:cxn ang="0">
                  <a:pos x="19" y="28"/>
                </a:cxn>
                <a:cxn ang="0">
                  <a:pos x="3" y="23"/>
                </a:cxn>
                <a:cxn ang="0">
                  <a:pos x="0" y="28"/>
                </a:cxn>
              </a:cxnLst>
              <a:rect l="0" t="0" r="r" b="b"/>
              <a:pathLst>
                <a:path w="50" h="42">
                  <a:moveTo>
                    <a:pt x="0" y="28"/>
                  </a:moveTo>
                  <a:lnTo>
                    <a:pt x="1" y="14"/>
                  </a:lnTo>
                  <a:lnTo>
                    <a:pt x="0" y="2"/>
                  </a:lnTo>
                  <a:lnTo>
                    <a:pt x="6" y="0"/>
                  </a:lnTo>
                  <a:lnTo>
                    <a:pt x="10" y="8"/>
                  </a:lnTo>
                  <a:lnTo>
                    <a:pt x="18" y="10"/>
                  </a:lnTo>
                  <a:lnTo>
                    <a:pt x="22" y="15"/>
                  </a:lnTo>
                  <a:lnTo>
                    <a:pt x="44" y="6"/>
                  </a:lnTo>
                  <a:lnTo>
                    <a:pt x="46" y="9"/>
                  </a:lnTo>
                  <a:lnTo>
                    <a:pt x="50" y="14"/>
                  </a:lnTo>
                  <a:lnTo>
                    <a:pt x="38" y="24"/>
                  </a:lnTo>
                  <a:lnTo>
                    <a:pt x="45" y="36"/>
                  </a:lnTo>
                  <a:lnTo>
                    <a:pt x="31" y="42"/>
                  </a:lnTo>
                  <a:lnTo>
                    <a:pt x="28" y="32"/>
                  </a:lnTo>
                  <a:lnTo>
                    <a:pt x="26" y="35"/>
                  </a:lnTo>
                  <a:lnTo>
                    <a:pt x="19" y="28"/>
                  </a:lnTo>
                  <a:lnTo>
                    <a:pt x="3" y="23"/>
                  </a:lnTo>
                  <a:lnTo>
                    <a:pt x="0"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1" name="Freeform 140"/>
            <p:cNvSpPr>
              <a:spLocks/>
            </p:cNvSpPr>
            <p:nvPr/>
          </p:nvSpPr>
          <p:spPr bwMode="auto">
            <a:xfrm>
              <a:off x="1067" y="2243"/>
              <a:ext cx="182" cy="64"/>
            </a:xfrm>
            <a:custGeom>
              <a:avLst/>
              <a:gdLst/>
              <a:ahLst/>
              <a:cxnLst>
                <a:cxn ang="0">
                  <a:pos x="116" y="23"/>
                </a:cxn>
                <a:cxn ang="0">
                  <a:pos x="116" y="24"/>
                </a:cxn>
                <a:cxn ang="0">
                  <a:pos x="100" y="17"/>
                </a:cxn>
                <a:cxn ang="0">
                  <a:pos x="83" y="8"/>
                </a:cxn>
                <a:cxn ang="0">
                  <a:pos x="71" y="3"/>
                </a:cxn>
                <a:cxn ang="0">
                  <a:pos x="60" y="0"/>
                </a:cxn>
                <a:cxn ang="0">
                  <a:pos x="54" y="0"/>
                </a:cxn>
                <a:cxn ang="0">
                  <a:pos x="35" y="3"/>
                </a:cxn>
                <a:cxn ang="0">
                  <a:pos x="17" y="7"/>
                </a:cxn>
                <a:cxn ang="0">
                  <a:pos x="9" y="18"/>
                </a:cxn>
                <a:cxn ang="0">
                  <a:pos x="0" y="23"/>
                </a:cxn>
                <a:cxn ang="0">
                  <a:pos x="6" y="21"/>
                </a:cxn>
                <a:cxn ang="0">
                  <a:pos x="20" y="15"/>
                </a:cxn>
                <a:cxn ang="0">
                  <a:pos x="32" y="9"/>
                </a:cxn>
                <a:cxn ang="0">
                  <a:pos x="52" y="9"/>
                </a:cxn>
                <a:cxn ang="0">
                  <a:pos x="45" y="12"/>
                </a:cxn>
                <a:cxn ang="0">
                  <a:pos x="58" y="17"/>
                </a:cxn>
                <a:cxn ang="0">
                  <a:pos x="66" y="19"/>
                </a:cxn>
                <a:cxn ang="0">
                  <a:pos x="71" y="21"/>
                </a:cxn>
                <a:cxn ang="0">
                  <a:pos x="93" y="26"/>
                </a:cxn>
                <a:cxn ang="0">
                  <a:pos x="98" y="37"/>
                </a:cxn>
                <a:cxn ang="0">
                  <a:pos x="117" y="47"/>
                </a:cxn>
                <a:cxn ang="0">
                  <a:pos x="107" y="57"/>
                </a:cxn>
                <a:cxn ang="0">
                  <a:pos x="123" y="57"/>
                </a:cxn>
                <a:cxn ang="0">
                  <a:pos x="138" y="56"/>
                </a:cxn>
                <a:cxn ang="0">
                  <a:pos x="150" y="55"/>
                </a:cxn>
                <a:cxn ang="0">
                  <a:pos x="164" y="53"/>
                </a:cxn>
                <a:cxn ang="0">
                  <a:pos x="152" y="47"/>
                </a:cxn>
                <a:cxn ang="0">
                  <a:pos x="141" y="41"/>
                </a:cxn>
                <a:cxn ang="0">
                  <a:pos x="140" y="36"/>
                </a:cxn>
                <a:cxn ang="0">
                  <a:pos x="129" y="31"/>
                </a:cxn>
                <a:cxn ang="0">
                  <a:pos x="117" y="27"/>
                </a:cxn>
                <a:cxn ang="0">
                  <a:pos x="116" y="23"/>
                </a:cxn>
              </a:cxnLst>
              <a:rect l="0" t="0" r="r" b="b"/>
              <a:pathLst>
                <a:path w="164" h="57">
                  <a:moveTo>
                    <a:pt x="116" y="23"/>
                  </a:moveTo>
                  <a:lnTo>
                    <a:pt x="116" y="24"/>
                  </a:lnTo>
                  <a:lnTo>
                    <a:pt x="100" y="17"/>
                  </a:lnTo>
                  <a:lnTo>
                    <a:pt x="83" y="8"/>
                  </a:lnTo>
                  <a:lnTo>
                    <a:pt x="71" y="3"/>
                  </a:lnTo>
                  <a:lnTo>
                    <a:pt x="60" y="0"/>
                  </a:lnTo>
                  <a:lnTo>
                    <a:pt x="54" y="0"/>
                  </a:lnTo>
                  <a:lnTo>
                    <a:pt x="35" y="3"/>
                  </a:lnTo>
                  <a:lnTo>
                    <a:pt x="17" y="7"/>
                  </a:lnTo>
                  <a:lnTo>
                    <a:pt x="9" y="18"/>
                  </a:lnTo>
                  <a:lnTo>
                    <a:pt x="0" y="23"/>
                  </a:lnTo>
                  <a:lnTo>
                    <a:pt x="6" y="21"/>
                  </a:lnTo>
                  <a:lnTo>
                    <a:pt x="20" y="15"/>
                  </a:lnTo>
                  <a:lnTo>
                    <a:pt x="32" y="9"/>
                  </a:lnTo>
                  <a:lnTo>
                    <a:pt x="52" y="9"/>
                  </a:lnTo>
                  <a:lnTo>
                    <a:pt x="45" y="12"/>
                  </a:lnTo>
                  <a:lnTo>
                    <a:pt x="58" y="17"/>
                  </a:lnTo>
                  <a:lnTo>
                    <a:pt x="66" y="19"/>
                  </a:lnTo>
                  <a:lnTo>
                    <a:pt x="71" y="21"/>
                  </a:lnTo>
                  <a:lnTo>
                    <a:pt x="93" y="26"/>
                  </a:lnTo>
                  <a:lnTo>
                    <a:pt x="98" y="37"/>
                  </a:lnTo>
                  <a:lnTo>
                    <a:pt x="117" y="47"/>
                  </a:lnTo>
                  <a:lnTo>
                    <a:pt x="107" y="57"/>
                  </a:lnTo>
                  <a:lnTo>
                    <a:pt x="123" y="57"/>
                  </a:lnTo>
                  <a:lnTo>
                    <a:pt x="138" y="56"/>
                  </a:lnTo>
                  <a:lnTo>
                    <a:pt x="150" y="55"/>
                  </a:lnTo>
                  <a:lnTo>
                    <a:pt x="164" y="53"/>
                  </a:lnTo>
                  <a:lnTo>
                    <a:pt x="152" y="47"/>
                  </a:lnTo>
                  <a:lnTo>
                    <a:pt x="141" y="41"/>
                  </a:lnTo>
                  <a:lnTo>
                    <a:pt x="140" y="36"/>
                  </a:lnTo>
                  <a:lnTo>
                    <a:pt x="129" y="31"/>
                  </a:lnTo>
                  <a:lnTo>
                    <a:pt x="117" y="27"/>
                  </a:lnTo>
                  <a:lnTo>
                    <a:pt x="116" y="2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2" name="Freeform 141"/>
            <p:cNvSpPr>
              <a:spLocks/>
            </p:cNvSpPr>
            <p:nvPr/>
          </p:nvSpPr>
          <p:spPr bwMode="auto">
            <a:xfrm>
              <a:off x="1096" y="2267"/>
              <a:ext cx="11" cy="9"/>
            </a:xfrm>
            <a:custGeom>
              <a:avLst/>
              <a:gdLst/>
              <a:ahLst/>
              <a:cxnLst>
                <a:cxn ang="0">
                  <a:pos x="0" y="9"/>
                </a:cxn>
                <a:cxn ang="0">
                  <a:pos x="8" y="7"/>
                </a:cxn>
                <a:cxn ang="0">
                  <a:pos x="2" y="0"/>
                </a:cxn>
                <a:cxn ang="0">
                  <a:pos x="0" y="9"/>
                </a:cxn>
              </a:cxnLst>
              <a:rect l="0" t="0" r="r" b="b"/>
              <a:pathLst>
                <a:path w="8" h="9">
                  <a:moveTo>
                    <a:pt x="0" y="9"/>
                  </a:moveTo>
                  <a:lnTo>
                    <a:pt x="8" y="7"/>
                  </a:lnTo>
                  <a:lnTo>
                    <a:pt x="2" y="0"/>
                  </a:lnTo>
                  <a:lnTo>
                    <a:pt x="0"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3" name="Freeform 142"/>
            <p:cNvSpPr>
              <a:spLocks/>
            </p:cNvSpPr>
            <p:nvPr/>
          </p:nvSpPr>
          <p:spPr bwMode="auto">
            <a:xfrm>
              <a:off x="1120" y="2319"/>
              <a:ext cx="7" cy="2"/>
            </a:xfrm>
            <a:custGeom>
              <a:avLst/>
              <a:gdLst/>
              <a:ahLst/>
              <a:cxnLst>
                <a:cxn ang="0">
                  <a:pos x="5" y="1"/>
                </a:cxn>
                <a:cxn ang="0">
                  <a:pos x="5" y="0"/>
                </a:cxn>
                <a:cxn ang="0">
                  <a:pos x="4" y="0"/>
                </a:cxn>
                <a:cxn ang="0">
                  <a:pos x="3" y="0"/>
                </a:cxn>
                <a:cxn ang="0">
                  <a:pos x="2" y="0"/>
                </a:cxn>
                <a:cxn ang="0">
                  <a:pos x="3" y="0"/>
                </a:cxn>
                <a:cxn ang="0">
                  <a:pos x="3" y="1"/>
                </a:cxn>
                <a:cxn ang="0">
                  <a:pos x="2" y="1"/>
                </a:cxn>
                <a:cxn ang="0">
                  <a:pos x="0" y="1"/>
                </a:cxn>
                <a:cxn ang="0">
                  <a:pos x="0" y="0"/>
                </a:cxn>
                <a:cxn ang="0">
                  <a:pos x="0" y="1"/>
                </a:cxn>
                <a:cxn ang="0">
                  <a:pos x="0" y="2"/>
                </a:cxn>
                <a:cxn ang="0">
                  <a:pos x="0" y="1"/>
                </a:cxn>
                <a:cxn ang="0">
                  <a:pos x="2" y="1"/>
                </a:cxn>
                <a:cxn ang="0">
                  <a:pos x="2" y="2"/>
                </a:cxn>
                <a:cxn ang="0">
                  <a:pos x="3" y="2"/>
                </a:cxn>
                <a:cxn ang="0">
                  <a:pos x="3" y="1"/>
                </a:cxn>
                <a:cxn ang="0">
                  <a:pos x="4" y="1"/>
                </a:cxn>
                <a:cxn ang="0">
                  <a:pos x="5" y="1"/>
                </a:cxn>
              </a:cxnLst>
              <a:rect l="0" t="0" r="r" b="b"/>
              <a:pathLst>
                <a:path w="5" h="2">
                  <a:moveTo>
                    <a:pt x="5" y="1"/>
                  </a:moveTo>
                  <a:lnTo>
                    <a:pt x="5" y="0"/>
                  </a:lnTo>
                  <a:lnTo>
                    <a:pt x="4" y="0"/>
                  </a:lnTo>
                  <a:lnTo>
                    <a:pt x="3" y="0"/>
                  </a:lnTo>
                  <a:lnTo>
                    <a:pt x="2" y="0"/>
                  </a:lnTo>
                  <a:lnTo>
                    <a:pt x="3" y="0"/>
                  </a:lnTo>
                  <a:lnTo>
                    <a:pt x="3" y="1"/>
                  </a:lnTo>
                  <a:lnTo>
                    <a:pt x="2" y="1"/>
                  </a:lnTo>
                  <a:lnTo>
                    <a:pt x="0" y="1"/>
                  </a:lnTo>
                  <a:lnTo>
                    <a:pt x="0" y="0"/>
                  </a:lnTo>
                  <a:lnTo>
                    <a:pt x="0" y="1"/>
                  </a:lnTo>
                  <a:lnTo>
                    <a:pt x="0" y="2"/>
                  </a:lnTo>
                  <a:lnTo>
                    <a:pt x="0" y="1"/>
                  </a:lnTo>
                  <a:lnTo>
                    <a:pt x="2" y="1"/>
                  </a:lnTo>
                  <a:lnTo>
                    <a:pt x="2" y="2"/>
                  </a:lnTo>
                  <a:lnTo>
                    <a:pt x="3" y="2"/>
                  </a:lnTo>
                  <a:lnTo>
                    <a:pt x="3" y="1"/>
                  </a:lnTo>
                  <a:lnTo>
                    <a:pt x="4" y="1"/>
                  </a:lnTo>
                  <a:lnTo>
                    <a:pt x="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4" name="Freeform 143"/>
            <p:cNvSpPr>
              <a:spLocks/>
            </p:cNvSpPr>
            <p:nvPr/>
          </p:nvSpPr>
          <p:spPr bwMode="auto">
            <a:xfrm>
              <a:off x="1147" y="2310"/>
              <a:ext cx="2" cy="2"/>
            </a:xfrm>
            <a:custGeom>
              <a:avLst/>
              <a:gdLst/>
              <a:ahLst/>
              <a:cxnLst>
                <a:cxn ang="0">
                  <a:pos x="3" y="0"/>
                </a:cxn>
                <a:cxn ang="0">
                  <a:pos x="2" y="1"/>
                </a:cxn>
                <a:cxn ang="0">
                  <a:pos x="0" y="1"/>
                </a:cxn>
                <a:cxn ang="0">
                  <a:pos x="2" y="1"/>
                </a:cxn>
                <a:cxn ang="0">
                  <a:pos x="3" y="1"/>
                </a:cxn>
                <a:cxn ang="0">
                  <a:pos x="3" y="0"/>
                </a:cxn>
              </a:cxnLst>
              <a:rect l="0" t="0" r="r" b="b"/>
              <a:pathLst>
                <a:path w="3" h="1">
                  <a:moveTo>
                    <a:pt x="3" y="0"/>
                  </a:moveTo>
                  <a:lnTo>
                    <a:pt x="2" y="1"/>
                  </a:lnTo>
                  <a:lnTo>
                    <a:pt x="0" y="1"/>
                  </a:lnTo>
                  <a:lnTo>
                    <a:pt x="2" y="1"/>
                  </a:lnTo>
                  <a:lnTo>
                    <a:pt x="3" y="1"/>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5" name="Freeform 144"/>
            <p:cNvSpPr>
              <a:spLocks/>
            </p:cNvSpPr>
            <p:nvPr/>
          </p:nvSpPr>
          <p:spPr bwMode="auto">
            <a:xfrm>
              <a:off x="1142" y="2312"/>
              <a:ext cx="5" cy="2"/>
            </a:xfrm>
            <a:custGeom>
              <a:avLst/>
              <a:gdLst/>
              <a:ahLst/>
              <a:cxnLst>
                <a:cxn ang="0">
                  <a:pos x="2" y="0"/>
                </a:cxn>
                <a:cxn ang="0">
                  <a:pos x="1" y="0"/>
                </a:cxn>
                <a:cxn ang="0">
                  <a:pos x="0" y="0"/>
                </a:cxn>
                <a:cxn ang="0">
                  <a:pos x="0" y="1"/>
                </a:cxn>
                <a:cxn ang="0">
                  <a:pos x="1" y="1"/>
                </a:cxn>
                <a:cxn ang="0">
                  <a:pos x="1" y="0"/>
                </a:cxn>
                <a:cxn ang="0">
                  <a:pos x="2" y="0"/>
                </a:cxn>
              </a:cxnLst>
              <a:rect l="0" t="0" r="r" b="b"/>
              <a:pathLst>
                <a:path w="2" h="1">
                  <a:moveTo>
                    <a:pt x="2" y="0"/>
                  </a:moveTo>
                  <a:lnTo>
                    <a:pt x="1" y="0"/>
                  </a:lnTo>
                  <a:lnTo>
                    <a:pt x="0" y="0"/>
                  </a:lnTo>
                  <a:lnTo>
                    <a:pt x="0" y="1"/>
                  </a:lnTo>
                  <a:lnTo>
                    <a:pt x="1" y="1"/>
                  </a:lnTo>
                  <a:lnTo>
                    <a:pt x="1"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6" name="Freeform 145"/>
            <p:cNvSpPr>
              <a:spLocks/>
            </p:cNvSpPr>
            <p:nvPr/>
          </p:nvSpPr>
          <p:spPr bwMode="auto">
            <a:xfrm>
              <a:off x="1409" y="2336"/>
              <a:ext cx="2" cy="3"/>
            </a:xfrm>
            <a:custGeom>
              <a:avLst/>
              <a:gdLst/>
              <a:ahLst/>
              <a:cxnLst>
                <a:cxn ang="0">
                  <a:pos x="2" y="0"/>
                </a:cxn>
                <a:cxn ang="0">
                  <a:pos x="1" y="0"/>
                </a:cxn>
                <a:cxn ang="0">
                  <a:pos x="0" y="0"/>
                </a:cxn>
                <a:cxn ang="0">
                  <a:pos x="0" y="1"/>
                </a:cxn>
                <a:cxn ang="0">
                  <a:pos x="1" y="1"/>
                </a:cxn>
                <a:cxn ang="0">
                  <a:pos x="1" y="0"/>
                </a:cxn>
                <a:cxn ang="0">
                  <a:pos x="2" y="0"/>
                </a:cxn>
              </a:cxnLst>
              <a:rect l="0" t="0" r="r" b="b"/>
              <a:pathLst>
                <a:path w="2" h="1">
                  <a:moveTo>
                    <a:pt x="2" y="0"/>
                  </a:moveTo>
                  <a:lnTo>
                    <a:pt x="1" y="0"/>
                  </a:lnTo>
                  <a:lnTo>
                    <a:pt x="0" y="0"/>
                  </a:lnTo>
                  <a:lnTo>
                    <a:pt x="0" y="1"/>
                  </a:lnTo>
                  <a:lnTo>
                    <a:pt x="1" y="1"/>
                  </a:lnTo>
                  <a:lnTo>
                    <a:pt x="1"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7" name="Freeform 146"/>
            <p:cNvSpPr>
              <a:spLocks/>
            </p:cNvSpPr>
            <p:nvPr/>
          </p:nvSpPr>
          <p:spPr bwMode="auto">
            <a:xfrm>
              <a:off x="1414" y="2330"/>
              <a:ext cx="2" cy="2"/>
            </a:xfrm>
            <a:custGeom>
              <a:avLst/>
              <a:gdLst/>
              <a:ahLst/>
              <a:cxnLst>
                <a:cxn ang="0">
                  <a:pos x="3" y="1"/>
                </a:cxn>
                <a:cxn ang="0">
                  <a:pos x="2" y="1"/>
                </a:cxn>
                <a:cxn ang="0">
                  <a:pos x="2" y="0"/>
                </a:cxn>
                <a:cxn ang="0">
                  <a:pos x="0" y="0"/>
                </a:cxn>
                <a:cxn ang="0">
                  <a:pos x="0" y="1"/>
                </a:cxn>
                <a:cxn ang="0">
                  <a:pos x="0" y="0"/>
                </a:cxn>
                <a:cxn ang="0">
                  <a:pos x="0" y="1"/>
                </a:cxn>
                <a:cxn ang="0">
                  <a:pos x="2" y="1"/>
                </a:cxn>
                <a:cxn ang="0">
                  <a:pos x="3" y="1"/>
                </a:cxn>
              </a:cxnLst>
              <a:rect l="0" t="0" r="r" b="b"/>
              <a:pathLst>
                <a:path w="3" h="1">
                  <a:moveTo>
                    <a:pt x="3" y="1"/>
                  </a:moveTo>
                  <a:lnTo>
                    <a:pt x="2" y="1"/>
                  </a:lnTo>
                  <a:lnTo>
                    <a:pt x="2" y="0"/>
                  </a:lnTo>
                  <a:lnTo>
                    <a:pt x="0" y="0"/>
                  </a:lnTo>
                  <a:lnTo>
                    <a:pt x="0" y="1"/>
                  </a:lnTo>
                  <a:lnTo>
                    <a:pt x="0" y="0"/>
                  </a:lnTo>
                  <a:lnTo>
                    <a:pt x="0" y="1"/>
                  </a:lnTo>
                  <a:lnTo>
                    <a:pt x="2" y="1"/>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8" name="Freeform 147"/>
            <p:cNvSpPr>
              <a:spLocks/>
            </p:cNvSpPr>
            <p:nvPr/>
          </p:nvSpPr>
          <p:spPr bwMode="auto">
            <a:xfrm>
              <a:off x="1414" y="2336"/>
              <a:ext cx="2" cy="3"/>
            </a:xfrm>
            <a:custGeom>
              <a:avLst/>
              <a:gdLst/>
              <a:ahLst/>
              <a:cxnLst>
                <a:cxn ang="0">
                  <a:pos x="3" y="0"/>
                </a:cxn>
                <a:cxn ang="0">
                  <a:pos x="1" y="0"/>
                </a:cxn>
                <a:cxn ang="0">
                  <a:pos x="1" y="1"/>
                </a:cxn>
                <a:cxn ang="0">
                  <a:pos x="0" y="1"/>
                </a:cxn>
                <a:cxn ang="0">
                  <a:pos x="1" y="1"/>
                </a:cxn>
                <a:cxn ang="0">
                  <a:pos x="1" y="0"/>
                </a:cxn>
                <a:cxn ang="0">
                  <a:pos x="3" y="0"/>
                </a:cxn>
              </a:cxnLst>
              <a:rect l="0" t="0" r="r" b="b"/>
              <a:pathLst>
                <a:path w="3" h="1">
                  <a:moveTo>
                    <a:pt x="3" y="0"/>
                  </a:moveTo>
                  <a:lnTo>
                    <a:pt x="1" y="0"/>
                  </a:lnTo>
                  <a:lnTo>
                    <a:pt x="1" y="1"/>
                  </a:lnTo>
                  <a:lnTo>
                    <a:pt x="0" y="1"/>
                  </a:lnTo>
                  <a:lnTo>
                    <a:pt x="1" y="1"/>
                  </a:lnTo>
                  <a:lnTo>
                    <a:pt x="1" y="0"/>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9" name="Freeform 148"/>
            <p:cNvSpPr>
              <a:spLocks/>
            </p:cNvSpPr>
            <p:nvPr/>
          </p:nvSpPr>
          <p:spPr bwMode="auto">
            <a:xfrm>
              <a:off x="1409" y="2339"/>
              <a:ext cx="2" cy="2"/>
            </a:xfrm>
            <a:custGeom>
              <a:avLst/>
              <a:gdLst/>
              <a:ahLst/>
              <a:cxnLst>
                <a:cxn ang="0">
                  <a:pos x="1" y="0"/>
                </a:cxn>
                <a:cxn ang="0">
                  <a:pos x="0" y="0"/>
                </a:cxn>
                <a:cxn ang="0">
                  <a:pos x="0" y="1"/>
                </a:cxn>
                <a:cxn ang="0">
                  <a:pos x="0" y="0"/>
                </a:cxn>
                <a:cxn ang="0">
                  <a:pos x="1" y="0"/>
                </a:cxn>
              </a:cxnLst>
              <a:rect l="0" t="0" r="r" b="b"/>
              <a:pathLst>
                <a:path w="1" h="1">
                  <a:moveTo>
                    <a:pt x="1" y="0"/>
                  </a:moveTo>
                  <a:lnTo>
                    <a:pt x="0" y="0"/>
                  </a:lnTo>
                  <a:lnTo>
                    <a:pt x="0"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0" name="Freeform 149"/>
            <p:cNvSpPr>
              <a:spLocks/>
            </p:cNvSpPr>
            <p:nvPr/>
          </p:nvSpPr>
          <p:spPr bwMode="auto">
            <a:xfrm>
              <a:off x="1282" y="2310"/>
              <a:ext cx="65" cy="44"/>
            </a:xfrm>
            <a:custGeom>
              <a:avLst/>
              <a:gdLst/>
              <a:ahLst/>
              <a:cxnLst>
                <a:cxn ang="0">
                  <a:pos x="5" y="2"/>
                </a:cxn>
                <a:cxn ang="0">
                  <a:pos x="2" y="15"/>
                </a:cxn>
                <a:cxn ang="0">
                  <a:pos x="0" y="21"/>
                </a:cxn>
                <a:cxn ang="0">
                  <a:pos x="1" y="32"/>
                </a:cxn>
                <a:cxn ang="0">
                  <a:pos x="6" y="40"/>
                </a:cxn>
                <a:cxn ang="0">
                  <a:pos x="13" y="30"/>
                </a:cxn>
                <a:cxn ang="0">
                  <a:pos x="20" y="26"/>
                </a:cxn>
                <a:cxn ang="0">
                  <a:pos x="29" y="27"/>
                </a:cxn>
                <a:cxn ang="0">
                  <a:pos x="49" y="28"/>
                </a:cxn>
                <a:cxn ang="0">
                  <a:pos x="56" y="21"/>
                </a:cxn>
                <a:cxn ang="0">
                  <a:pos x="38" y="13"/>
                </a:cxn>
                <a:cxn ang="0">
                  <a:pos x="42" y="9"/>
                </a:cxn>
                <a:cxn ang="0">
                  <a:pos x="33" y="6"/>
                </a:cxn>
                <a:cxn ang="0">
                  <a:pos x="12" y="0"/>
                </a:cxn>
                <a:cxn ang="0">
                  <a:pos x="5" y="2"/>
                </a:cxn>
              </a:cxnLst>
              <a:rect l="0" t="0" r="r" b="b"/>
              <a:pathLst>
                <a:path w="56" h="40">
                  <a:moveTo>
                    <a:pt x="5" y="2"/>
                  </a:moveTo>
                  <a:lnTo>
                    <a:pt x="2" y="15"/>
                  </a:lnTo>
                  <a:lnTo>
                    <a:pt x="0" y="21"/>
                  </a:lnTo>
                  <a:lnTo>
                    <a:pt x="1" y="32"/>
                  </a:lnTo>
                  <a:lnTo>
                    <a:pt x="6" y="40"/>
                  </a:lnTo>
                  <a:lnTo>
                    <a:pt x="13" y="30"/>
                  </a:lnTo>
                  <a:lnTo>
                    <a:pt x="20" y="26"/>
                  </a:lnTo>
                  <a:lnTo>
                    <a:pt x="29" y="27"/>
                  </a:lnTo>
                  <a:lnTo>
                    <a:pt x="49" y="28"/>
                  </a:lnTo>
                  <a:lnTo>
                    <a:pt x="56" y="21"/>
                  </a:lnTo>
                  <a:lnTo>
                    <a:pt x="38" y="13"/>
                  </a:lnTo>
                  <a:lnTo>
                    <a:pt x="42" y="9"/>
                  </a:lnTo>
                  <a:lnTo>
                    <a:pt x="33" y="6"/>
                  </a:lnTo>
                  <a:lnTo>
                    <a:pt x="12"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1" name="Freeform 150"/>
            <p:cNvSpPr>
              <a:spLocks/>
            </p:cNvSpPr>
            <p:nvPr/>
          </p:nvSpPr>
          <p:spPr bwMode="auto">
            <a:xfrm>
              <a:off x="1238" y="2310"/>
              <a:ext cx="51" cy="35"/>
            </a:xfrm>
            <a:custGeom>
              <a:avLst/>
              <a:gdLst/>
              <a:ahLst/>
              <a:cxnLst>
                <a:cxn ang="0">
                  <a:pos x="46" y="2"/>
                </a:cxn>
                <a:cxn ang="0">
                  <a:pos x="43" y="15"/>
                </a:cxn>
                <a:cxn ang="0">
                  <a:pos x="41" y="21"/>
                </a:cxn>
                <a:cxn ang="0">
                  <a:pos x="42" y="32"/>
                </a:cxn>
                <a:cxn ang="0">
                  <a:pos x="26" y="31"/>
                </a:cxn>
                <a:cxn ang="0">
                  <a:pos x="10" y="31"/>
                </a:cxn>
                <a:cxn ang="0">
                  <a:pos x="0" y="25"/>
                </a:cxn>
                <a:cxn ang="0">
                  <a:pos x="8" y="22"/>
                </a:cxn>
                <a:cxn ang="0">
                  <a:pos x="22" y="22"/>
                </a:cxn>
                <a:cxn ang="0">
                  <a:pos x="34" y="24"/>
                </a:cxn>
                <a:cxn ang="0">
                  <a:pos x="29" y="9"/>
                </a:cxn>
                <a:cxn ang="0">
                  <a:pos x="23" y="3"/>
                </a:cxn>
                <a:cxn ang="0">
                  <a:pos x="20" y="0"/>
                </a:cxn>
                <a:cxn ang="0">
                  <a:pos x="36" y="1"/>
                </a:cxn>
                <a:cxn ang="0">
                  <a:pos x="46" y="2"/>
                </a:cxn>
              </a:cxnLst>
              <a:rect l="0" t="0" r="r" b="b"/>
              <a:pathLst>
                <a:path w="46" h="32">
                  <a:moveTo>
                    <a:pt x="46" y="2"/>
                  </a:moveTo>
                  <a:lnTo>
                    <a:pt x="43" y="15"/>
                  </a:lnTo>
                  <a:lnTo>
                    <a:pt x="41" y="21"/>
                  </a:lnTo>
                  <a:lnTo>
                    <a:pt x="42" y="32"/>
                  </a:lnTo>
                  <a:lnTo>
                    <a:pt x="26" y="31"/>
                  </a:lnTo>
                  <a:lnTo>
                    <a:pt x="10" y="31"/>
                  </a:lnTo>
                  <a:lnTo>
                    <a:pt x="0" y="25"/>
                  </a:lnTo>
                  <a:lnTo>
                    <a:pt x="8" y="22"/>
                  </a:lnTo>
                  <a:lnTo>
                    <a:pt x="22" y="22"/>
                  </a:lnTo>
                  <a:lnTo>
                    <a:pt x="34" y="24"/>
                  </a:lnTo>
                  <a:lnTo>
                    <a:pt x="29" y="9"/>
                  </a:lnTo>
                  <a:lnTo>
                    <a:pt x="23" y="3"/>
                  </a:lnTo>
                  <a:lnTo>
                    <a:pt x="20" y="0"/>
                  </a:lnTo>
                  <a:lnTo>
                    <a:pt x="36" y="1"/>
                  </a:lnTo>
                  <a:lnTo>
                    <a:pt x="4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2" name="Freeform 151"/>
            <p:cNvSpPr>
              <a:spLocks/>
            </p:cNvSpPr>
            <p:nvPr/>
          </p:nvSpPr>
          <p:spPr bwMode="auto">
            <a:xfrm>
              <a:off x="1282" y="2270"/>
              <a:ext cx="5" cy="2"/>
            </a:xfrm>
            <a:custGeom>
              <a:avLst/>
              <a:gdLst/>
              <a:ahLst/>
              <a:cxnLst>
                <a:cxn ang="0">
                  <a:pos x="2" y="1"/>
                </a:cxn>
                <a:cxn ang="0">
                  <a:pos x="0" y="1"/>
                </a:cxn>
                <a:cxn ang="0">
                  <a:pos x="0" y="0"/>
                </a:cxn>
                <a:cxn ang="0">
                  <a:pos x="3" y="1"/>
                </a:cxn>
                <a:cxn ang="0">
                  <a:pos x="2" y="1"/>
                </a:cxn>
              </a:cxnLst>
              <a:rect l="0" t="0" r="r" b="b"/>
              <a:pathLst>
                <a:path w="3" h="1">
                  <a:moveTo>
                    <a:pt x="2" y="1"/>
                  </a:moveTo>
                  <a:lnTo>
                    <a:pt x="0" y="1"/>
                  </a:lnTo>
                  <a:lnTo>
                    <a:pt x="0" y="0"/>
                  </a:lnTo>
                  <a:lnTo>
                    <a:pt x="3" y="1"/>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3" name="Freeform 152"/>
            <p:cNvSpPr>
              <a:spLocks/>
            </p:cNvSpPr>
            <p:nvPr/>
          </p:nvSpPr>
          <p:spPr bwMode="auto">
            <a:xfrm>
              <a:off x="1291" y="2270"/>
              <a:ext cx="5" cy="2"/>
            </a:xfrm>
            <a:custGeom>
              <a:avLst/>
              <a:gdLst/>
              <a:ahLst/>
              <a:cxnLst>
                <a:cxn ang="0">
                  <a:pos x="4" y="1"/>
                </a:cxn>
                <a:cxn ang="0">
                  <a:pos x="0" y="0"/>
                </a:cxn>
                <a:cxn ang="0">
                  <a:pos x="4" y="1"/>
                </a:cxn>
              </a:cxnLst>
              <a:rect l="0" t="0" r="r" b="b"/>
              <a:pathLst>
                <a:path w="4" h="1">
                  <a:moveTo>
                    <a:pt x="4" y="1"/>
                  </a:moveTo>
                  <a:lnTo>
                    <a:pt x="0" y="0"/>
                  </a:lnTo>
                  <a:lnTo>
                    <a:pt x="4"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4" name="Freeform 153"/>
            <p:cNvSpPr>
              <a:spLocks/>
            </p:cNvSpPr>
            <p:nvPr/>
          </p:nvSpPr>
          <p:spPr bwMode="auto">
            <a:xfrm>
              <a:off x="1465" y="2425"/>
              <a:ext cx="2" cy="7"/>
            </a:xfrm>
            <a:custGeom>
              <a:avLst/>
              <a:gdLst/>
              <a:ahLst/>
              <a:cxnLst>
                <a:cxn ang="0">
                  <a:pos x="1" y="6"/>
                </a:cxn>
                <a:cxn ang="0">
                  <a:pos x="0" y="2"/>
                </a:cxn>
                <a:cxn ang="0">
                  <a:pos x="2" y="0"/>
                </a:cxn>
                <a:cxn ang="0">
                  <a:pos x="1" y="6"/>
                </a:cxn>
              </a:cxnLst>
              <a:rect l="0" t="0" r="r" b="b"/>
              <a:pathLst>
                <a:path w="2" h="6">
                  <a:moveTo>
                    <a:pt x="1" y="6"/>
                  </a:moveTo>
                  <a:lnTo>
                    <a:pt x="0" y="2"/>
                  </a:lnTo>
                  <a:lnTo>
                    <a:pt x="2" y="0"/>
                  </a:lnTo>
                  <a:lnTo>
                    <a:pt x="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5" name="Freeform 154"/>
            <p:cNvSpPr>
              <a:spLocks/>
            </p:cNvSpPr>
            <p:nvPr/>
          </p:nvSpPr>
          <p:spPr bwMode="auto">
            <a:xfrm>
              <a:off x="1025" y="2483"/>
              <a:ext cx="58" cy="62"/>
            </a:xfrm>
            <a:custGeom>
              <a:avLst/>
              <a:gdLst/>
              <a:ahLst/>
              <a:cxnLst>
                <a:cxn ang="0">
                  <a:pos x="12" y="27"/>
                </a:cxn>
                <a:cxn ang="0">
                  <a:pos x="0" y="13"/>
                </a:cxn>
                <a:cxn ang="0">
                  <a:pos x="2" y="5"/>
                </a:cxn>
                <a:cxn ang="0">
                  <a:pos x="2" y="2"/>
                </a:cxn>
                <a:cxn ang="0">
                  <a:pos x="5" y="0"/>
                </a:cxn>
                <a:cxn ang="0">
                  <a:pos x="26" y="5"/>
                </a:cxn>
                <a:cxn ang="0">
                  <a:pos x="36" y="3"/>
                </a:cxn>
                <a:cxn ang="0">
                  <a:pos x="44" y="15"/>
                </a:cxn>
                <a:cxn ang="0">
                  <a:pos x="52" y="27"/>
                </a:cxn>
                <a:cxn ang="0">
                  <a:pos x="46" y="29"/>
                </a:cxn>
                <a:cxn ang="0">
                  <a:pos x="47" y="41"/>
                </a:cxn>
                <a:cxn ang="0">
                  <a:pos x="46" y="55"/>
                </a:cxn>
                <a:cxn ang="0">
                  <a:pos x="37" y="43"/>
                </a:cxn>
                <a:cxn ang="0">
                  <a:pos x="37" y="48"/>
                </a:cxn>
                <a:cxn ang="0">
                  <a:pos x="35" y="42"/>
                </a:cxn>
                <a:cxn ang="0">
                  <a:pos x="30" y="32"/>
                </a:cxn>
                <a:cxn ang="0">
                  <a:pos x="19" y="24"/>
                </a:cxn>
                <a:cxn ang="0">
                  <a:pos x="10" y="15"/>
                </a:cxn>
                <a:cxn ang="0">
                  <a:pos x="13" y="24"/>
                </a:cxn>
                <a:cxn ang="0">
                  <a:pos x="12" y="27"/>
                </a:cxn>
              </a:cxnLst>
              <a:rect l="0" t="0" r="r" b="b"/>
              <a:pathLst>
                <a:path w="52" h="55">
                  <a:moveTo>
                    <a:pt x="12" y="27"/>
                  </a:moveTo>
                  <a:lnTo>
                    <a:pt x="0" y="13"/>
                  </a:lnTo>
                  <a:lnTo>
                    <a:pt x="2" y="5"/>
                  </a:lnTo>
                  <a:lnTo>
                    <a:pt x="2" y="2"/>
                  </a:lnTo>
                  <a:lnTo>
                    <a:pt x="5" y="0"/>
                  </a:lnTo>
                  <a:lnTo>
                    <a:pt x="26" y="5"/>
                  </a:lnTo>
                  <a:lnTo>
                    <a:pt x="36" y="3"/>
                  </a:lnTo>
                  <a:lnTo>
                    <a:pt x="44" y="15"/>
                  </a:lnTo>
                  <a:lnTo>
                    <a:pt x="52" y="27"/>
                  </a:lnTo>
                  <a:lnTo>
                    <a:pt x="46" y="29"/>
                  </a:lnTo>
                  <a:lnTo>
                    <a:pt x="47" y="41"/>
                  </a:lnTo>
                  <a:lnTo>
                    <a:pt x="46" y="55"/>
                  </a:lnTo>
                  <a:lnTo>
                    <a:pt x="37" y="43"/>
                  </a:lnTo>
                  <a:lnTo>
                    <a:pt x="37" y="48"/>
                  </a:lnTo>
                  <a:lnTo>
                    <a:pt x="35" y="42"/>
                  </a:lnTo>
                  <a:lnTo>
                    <a:pt x="30" y="32"/>
                  </a:lnTo>
                  <a:lnTo>
                    <a:pt x="19" y="24"/>
                  </a:lnTo>
                  <a:lnTo>
                    <a:pt x="10" y="15"/>
                  </a:lnTo>
                  <a:lnTo>
                    <a:pt x="13" y="24"/>
                  </a:lnTo>
                  <a:lnTo>
                    <a:pt x="12"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6" name="Freeform 155"/>
            <p:cNvSpPr>
              <a:spLocks/>
            </p:cNvSpPr>
            <p:nvPr/>
          </p:nvSpPr>
          <p:spPr bwMode="auto">
            <a:xfrm>
              <a:off x="1489" y="2441"/>
              <a:ext cx="5" cy="2"/>
            </a:xfrm>
            <a:custGeom>
              <a:avLst/>
              <a:gdLst/>
              <a:ahLst/>
              <a:cxnLst>
                <a:cxn ang="0">
                  <a:pos x="3" y="4"/>
                </a:cxn>
                <a:cxn ang="0">
                  <a:pos x="1" y="4"/>
                </a:cxn>
                <a:cxn ang="0">
                  <a:pos x="0" y="0"/>
                </a:cxn>
                <a:cxn ang="0">
                  <a:pos x="3" y="3"/>
                </a:cxn>
                <a:cxn ang="0">
                  <a:pos x="3" y="4"/>
                </a:cxn>
              </a:cxnLst>
              <a:rect l="0" t="0" r="r" b="b"/>
              <a:pathLst>
                <a:path w="3" h="4">
                  <a:moveTo>
                    <a:pt x="3" y="4"/>
                  </a:moveTo>
                  <a:lnTo>
                    <a:pt x="1" y="4"/>
                  </a:lnTo>
                  <a:lnTo>
                    <a:pt x="0" y="0"/>
                  </a:lnTo>
                  <a:lnTo>
                    <a:pt x="3" y="3"/>
                  </a:lnTo>
                  <a:lnTo>
                    <a:pt x="3"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7" name="Freeform 156"/>
            <p:cNvSpPr>
              <a:spLocks/>
            </p:cNvSpPr>
            <p:nvPr/>
          </p:nvSpPr>
          <p:spPr bwMode="auto">
            <a:xfrm>
              <a:off x="1460" y="2394"/>
              <a:ext cx="2" cy="9"/>
            </a:xfrm>
            <a:custGeom>
              <a:avLst/>
              <a:gdLst/>
              <a:ahLst/>
              <a:cxnLst>
                <a:cxn ang="0">
                  <a:pos x="4" y="5"/>
                </a:cxn>
                <a:cxn ang="0">
                  <a:pos x="1" y="8"/>
                </a:cxn>
                <a:cxn ang="0">
                  <a:pos x="0" y="0"/>
                </a:cxn>
                <a:cxn ang="0">
                  <a:pos x="3" y="0"/>
                </a:cxn>
                <a:cxn ang="0">
                  <a:pos x="4" y="5"/>
                </a:cxn>
              </a:cxnLst>
              <a:rect l="0" t="0" r="r" b="b"/>
              <a:pathLst>
                <a:path w="4" h="8">
                  <a:moveTo>
                    <a:pt x="4" y="5"/>
                  </a:moveTo>
                  <a:lnTo>
                    <a:pt x="1" y="8"/>
                  </a:lnTo>
                  <a:lnTo>
                    <a:pt x="0" y="0"/>
                  </a:lnTo>
                  <a:lnTo>
                    <a:pt x="3" y="0"/>
                  </a:lnTo>
                  <a:lnTo>
                    <a:pt x="4"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8" name="Freeform 157"/>
            <p:cNvSpPr>
              <a:spLocks/>
            </p:cNvSpPr>
            <p:nvPr/>
          </p:nvSpPr>
          <p:spPr bwMode="auto">
            <a:xfrm>
              <a:off x="956" y="2416"/>
              <a:ext cx="40" cy="27"/>
            </a:xfrm>
            <a:custGeom>
              <a:avLst/>
              <a:gdLst/>
              <a:ahLst/>
              <a:cxnLst>
                <a:cxn ang="0">
                  <a:pos x="35" y="18"/>
                </a:cxn>
                <a:cxn ang="0">
                  <a:pos x="31" y="23"/>
                </a:cxn>
                <a:cxn ang="0">
                  <a:pos x="23" y="20"/>
                </a:cxn>
                <a:cxn ang="0">
                  <a:pos x="12" y="17"/>
                </a:cxn>
                <a:cxn ang="0">
                  <a:pos x="0" y="12"/>
                </a:cxn>
                <a:cxn ang="0">
                  <a:pos x="13" y="0"/>
                </a:cxn>
                <a:cxn ang="0">
                  <a:pos x="23" y="7"/>
                </a:cxn>
                <a:cxn ang="0">
                  <a:pos x="36" y="9"/>
                </a:cxn>
                <a:cxn ang="0">
                  <a:pos x="35" y="18"/>
                </a:cxn>
              </a:cxnLst>
              <a:rect l="0" t="0" r="r" b="b"/>
              <a:pathLst>
                <a:path w="36" h="23">
                  <a:moveTo>
                    <a:pt x="35" y="18"/>
                  </a:moveTo>
                  <a:lnTo>
                    <a:pt x="31" y="23"/>
                  </a:lnTo>
                  <a:lnTo>
                    <a:pt x="23" y="20"/>
                  </a:lnTo>
                  <a:lnTo>
                    <a:pt x="12" y="17"/>
                  </a:lnTo>
                  <a:lnTo>
                    <a:pt x="0" y="12"/>
                  </a:lnTo>
                  <a:lnTo>
                    <a:pt x="13" y="0"/>
                  </a:lnTo>
                  <a:lnTo>
                    <a:pt x="23" y="7"/>
                  </a:lnTo>
                  <a:lnTo>
                    <a:pt x="36" y="9"/>
                  </a:lnTo>
                  <a:lnTo>
                    <a:pt x="35"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9" name="Freeform 158"/>
            <p:cNvSpPr>
              <a:spLocks/>
            </p:cNvSpPr>
            <p:nvPr/>
          </p:nvSpPr>
          <p:spPr bwMode="auto">
            <a:xfrm>
              <a:off x="971" y="2387"/>
              <a:ext cx="109" cy="60"/>
            </a:xfrm>
            <a:custGeom>
              <a:avLst/>
              <a:gdLst/>
              <a:ahLst/>
              <a:cxnLst>
                <a:cxn ang="0">
                  <a:pos x="53" y="36"/>
                </a:cxn>
                <a:cxn ang="0">
                  <a:pos x="47" y="38"/>
                </a:cxn>
                <a:cxn ang="0">
                  <a:pos x="40" y="42"/>
                </a:cxn>
                <a:cxn ang="0">
                  <a:pos x="34" y="53"/>
                </a:cxn>
                <a:cxn ang="0">
                  <a:pos x="30" y="53"/>
                </a:cxn>
                <a:cxn ang="0">
                  <a:pos x="28" y="46"/>
                </a:cxn>
                <a:cxn ang="0">
                  <a:pos x="22" y="45"/>
                </a:cxn>
                <a:cxn ang="0">
                  <a:pos x="23" y="36"/>
                </a:cxn>
                <a:cxn ang="0">
                  <a:pos x="10" y="34"/>
                </a:cxn>
                <a:cxn ang="0">
                  <a:pos x="0" y="27"/>
                </a:cxn>
                <a:cxn ang="0">
                  <a:pos x="10" y="12"/>
                </a:cxn>
                <a:cxn ang="0">
                  <a:pos x="20" y="4"/>
                </a:cxn>
                <a:cxn ang="0">
                  <a:pos x="22" y="4"/>
                </a:cxn>
                <a:cxn ang="0">
                  <a:pos x="37" y="2"/>
                </a:cxn>
                <a:cxn ang="0">
                  <a:pos x="53" y="0"/>
                </a:cxn>
                <a:cxn ang="0">
                  <a:pos x="65" y="2"/>
                </a:cxn>
                <a:cxn ang="0">
                  <a:pos x="78" y="2"/>
                </a:cxn>
                <a:cxn ang="0">
                  <a:pos x="88" y="9"/>
                </a:cxn>
                <a:cxn ang="0">
                  <a:pos x="85" y="8"/>
                </a:cxn>
                <a:cxn ang="0">
                  <a:pos x="86" y="11"/>
                </a:cxn>
                <a:cxn ang="0">
                  <a:pos x="92" y="11"/>
                </a:cxn>
                <a:cxn ang="0">
                  <a:pos x="98" y="17"/>
                </a:cxn>
                <a:cxn ang="0">
                  <a:pos x="85" y="18"/>
                </a:cxn>
                <a:cxn ang="0">
                  <a:pos x="72" y="21"/>
                </a:cxn>
                <a:cxn ang="0">
                  <a:pos x="53" y="36"/>
                </a:cxn>
              </a:cxnLst>
              <a:rect l="0" t="0" r="r" b="b"/>
              <a:pathLst>
                <a:path w="98" h="53">
                  <a:moveTo>
                    <a:pt x="53" y="36"/>
                  </a:moveTo>
                  <a:lnTo>
                    <a:pt x="47" y="38"/>
                  </a:lnTo>
                  <a:lnTo>
                    <a:pt x="40" y="42"/>
                  </a:lnTo>
                  <a:lnTo>
                    <a:pt x="34" y="53"/>
                  </a:lnTo>
                  <a:lnTo>
                    <a:pt x="30" y="53"/>
                  </a:lnTo>
                  <a:lnTo>
                    <a:pt x="28" y="46"/>
                  </a:lnTo>
                  <a:lnTo>
                    <a:pt x="22" y="45"/>
                  </a:lnTo>
                  <a:lnTo>
                    <a:pt x="23" y="36"/>
                  </a:lnTo>
                  <a:lnTo>
                    <a:pt x="10" y="34"/>
                  </a:lnTo>
                  <a:lnTo>
                    <a:pt x="0" y="27"/>
                  </a:lnTo>
                  <a:lnTo>
                    <a:pt x="10" y="12"/>
                  </a:lnTo>
                  <a:lnTo>
                    <a:pt x="20" y="4"/>
                  </a:lnTo>
                  <a:lnTo>
                    <a:pt x="22" y="4"/>
                  </a:lnTo>
                  <a:lnTo>
                    <a:pt x="37" y="2"/>
                  </a:lnTo>
                  <a:lnTo>
                    <a:pt x="53" y="0"/>
                  </a:lnTo>
                  <a:lnTo>
                    <a:pt x="65" y="2"/>
                  </a:lnTo>
                  <a:lnTo>
                    <a:pt x="78" y="2"/>
                  </a:lnTo>
                  <a:lnTo>
                    <a:pt x="88" y="9"/>
                  </a:lnTo>
                  <a:lnTo>
                    <a:pt x="85" y="8"/>
                  </a:lnTo>
                  <a:lnTo>
                    <a:pt x="86" y="11"/>
                  </a:lnTo>
                  <a:lnTo>
                    <a:pt x="92" y="11"/>
                  </a:lnTo>
                  <a:lnTo>
                    <a:pt x="98" y="17"/>
                  </a:lnTo>
                  <a:lnTo>
                    <a:pt x="85" y="18"/>
                  </a:lnTo>
                  <a:lnTo>
                    <a:pt x="72" y="21"/>
                  </a:lnTo>
                  <a:lnTo>
                    <a:pt x="53"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0" name="Freeform 159"/>
            <p:cNvSpPr>
              <a:spLocks/>
            </p:cNvSpPr>
            <p:nvPr/>
          </p:nvSpPr>
          <p:spPr bwMode="auto">
            <a:xfrm>
              <a:off x="1462" y="2410"/>
              <a:ext cx="7" cy="6"/>
            </a:xfrm>
            <a:custGeom>
              <a:avLst/>
              <a:gdLst/>
              <a:ahLst/>
              <a:cxnLst>
                <a:cxn ang="0">
                  <a:pos x="6" y="6"/>
                </a:cxn>
                <a:cxn ang="0">
                  <a:pos x="0" y="0"/>
                </a:cxn>
                <a:cxn ang="0">
                  <a:pos x="7" y="6"/>
                </a:cxn>
                <a:cxn ang="0">
                  <a:pos x="6" y="6"/>
                </a:cxn>
              </a:cxnLst>
              <a:rect l="0" t="0" r="r" b="b"/>
              <a:pathLst>
                <a:path w="7" h="6">
                  <a:moveTo>
                    <a:pt x="6" y="6"/>
                  </a:moveTo>
                  <a:lnTo>
                    <a:pt x="0" y="0"/>
                  </a:lnTo>
                  <a:lnTo>
                    <a:pt x="7" y="6"/>
                  </a:lnTo>
                  <a:lnTo>
                    <a:pt x="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1" name="Freeform 160"/>
            <p:cNvSpPr>
              <a:spLocks/>
            </p:cNvSpPr>
            <p:nvPr/>
          </p:nvSpPr>
          <p:spPr bwMode="auto">
            <a:xfrm>
              <a:off x="998" y="2407"/>
              <a:ext cx="82" cy="83"/>
            </a:xfrm>
            <a:custGeom>
              <a:avLst/>
              <a:gdLst/>
              <a:ahLst/>
              <a:cxnLst>
                <a:cxn ang="0">
                  <a:pos x="29" y="19"/>
                </a:cxn>
                <a:cxn ang="0">
                  <a:pos x="23" y="21"/>
                </a:cxn>
                <a:cxn ang="0">
                  <a:pos x="16" y="25"/>
                </a:cxn>
                <a:cxn ang="0">
                  <a:pos x="10" y="36"/>
                </a:cxn>
                <a:cxn ang="0">
                  <a:pos x="6" y="36"/>
                </a:cxn>
                <a:cxn ang="0">
                  <a:pos x="0" y="37"/>
                </a:cxn>
                <a:cxn ang="0">
                  <a:pos x="14" y="54"/>
                </a:cxn>
                <a:cxn ang="0">
                  <a:pos x="29" y="70"/>
                </a:cxn>
                <a:cxn ang="0">
                  <a:pos x="50" y="75"/>
                </a:cxn>
                <a:cxn ang="0">
                  <a:pos x="60" y="73"/>
                </a:cxn>
                <a:cxn ang="0">
                  <a:pos x="60" y="61"/>
                </a:cxn>
                <a:cxn ang="0">
                  <a:pos x="61" y="52"/>
                </a:cxn>
                <a:cxn ang="0">
                  <a:pos x="64" y="41"/>
                </a:cxn>
                <a:cxn ang="0">
                  <a:pos x="65" y="45"/>
                </a:cxn>
                <a:cxn ang="0">
                  <a:pos x="67" y="31"/>
                </a:cxn>
                <a:cxn ang="0">
                  <a:pos x="70" y="17"/>
                </a:cxn>
                <a:cxn ang="0">
                  <a:pos x="70" y="3"/>
                </a:cxn>
                <a:cxn ang="0">
                  <a:pos x="74" y="0"/>
                </a:cxn>
                <a:cxn ang="0">
                  <a:pos x="61" y="1"/>
                </a:cxn>
                <a:cxn ang="0">
                  <a:pos x="48" y="4"/>
                </a:cxn>
                <a:cxn ang="0">
                  <a:pos x="29" y="19"/>
                </a:cxn>
              </a:cxnLst>
              <a:rect l="0" t="0" r="r" b="b"/>
              <a:pathLst>
                <a:path w="74" h="75">
                  <a:moveTo>
                    <a:pt x="29" y="19"/>
                  </a:moveTo>
                  <a:lnTo>
                    <a:pt x="23" y="21"/>
                  </a:lnTo>
                  <a:lnTo>
                    <a:pt x="16" y="25"/>
                  </a:lnTo>
                  <a:lnTo>
                    <a:pt x="10" y="36"/>
                  </a:lnTo>
                  <a:lnTo>
                    <a:pt x="6" y="36"/>
                  </a:lnTo>
                  <a:lnTo>
                    <a:pt x="0" y="37"/>
                  </a:lnTo>
                  <a:lnTo>
                    <a:pt x="14" y="54"/>
                  </a:lnTo>
                  <a:lnTo>
                    <a:pt x="29" y="70"/>
                  </a:lnTo>
                  <a:lnTo>
                    <a:pt x="50" y="75"/>
                  </a:lnTo>
                  <a:lnTo>
                    <a:pt x="60" y="73"/>
                  </a:lnTo>
                  <a:lnTo>
                    <a:pt x="60" y="61"/>
                  </a:lnTo>
                  <a:lnTo>
                    <a:pt x="61" y="52"/>
                  </a:lnTo>
                  <a:lnTo>
                    <a:pt x="64" y="41"/>
                  </a:lnTo>
                  <a:lnTo>
                    <a:pt x="65" y="45"/>
                  </a:lnTo>
                  <a:lnTo>
                    <a:pt x="67" y="31"/>
                  </a:lnTo>
                  <a:lnTo>
                    <a:pt x="70" y="17"/>
                  </a:lnTo>
                  <a:lnTo>
                    <a:pt x="70" y="3"/>
                  </a:lnTo>
                  <a:lnTo>
                    <a:pt x="74" y="0"/>
                  </a:lnTo>
                  <a:lnTo>
                    <a:pt x="61" y="1"/>
                  </a:lnTo>
                  <a:lnTo>
                    <a:pt x="48" y="4"/>
                  </a:lnTo>
                  <a:lnTo>
                    <a:pt x="29"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2" name="Freeform 161"/>
            <p:cNvSpPr>
              <a:spLocks/>
            </p:cNvSpPr>
            <p:nvPr/>
          </p:nvSpPr>
          <p:spPr bwMode="auto">
            <a:xfrm>
              <a:off x="1460" y="2439"/>
              <a:ext cx="2" cy="4"/>
            </a:xfrm>
            <a:custGeom>
              <a:avLst/>
              <a:gdLst/>
              <a:ahLst/>
              <a:cxnLst>
                <a:cxn ang="0">
                  <a:pos x="2" y="4"/>
                </a:cxn>
                <a:cxn ang="0">
                  <a:pos x="2" y="0"/>
                </a:cxn>
                <a:cxn ang="0">
                  <a:pos x="0" y="2"/>
                </a:cxn>
                <a:cxn ang="0">
                  <a:pos x="2" y="4"/>
                </a:cxn>
              </a:cxnLst>
              <a:rect l="0" t="0" r="r" b="b"/>
              <a:pathLst>
                <a:path w="2" h="4">
                  <a:moveTo>
                    <a:pt x="2" y="4"/>
                  </a:moveTo>
                  <a:lnTo>
                    <a:pt x="2" y="0"/>
                  </a:lnTo>
                  <a:lnTo>
                    <a:pt x="0" y="2"/>
                  </a:lnTo>
                  <a:lnTo>
                    <a:pt x="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3" name="Freeform 162"/>
            <p:cNvSpPr>
              <a:spLocks/>
            </p:cNvSpPr>
            <p:nvPr/>
          </p:nvSpPr>
          <p:spPr bwMode="auto">
            <a:xfrm>
              <a:off x="1442" y="2363"/>
              <a:ext cx="3" cy="2"/>
            </a:xfrm>
            <a:custGeom>
              <a:avLst/>
              <a:gdLst/>
              <a:ahLst/>
              <a:cxnLst>
                <a:cxn ang="0">
                  <a:pos x="1" y="1"/>
                </a:cxn>
                <a:cxn ang="0">
                  <a:pos x="0" y="0"/>
                </a:cxn>
                <a:cxn ang="0">
                  <a:pos x="1" y="1"/>
                </a:cxn>
              </a:cxnLst>
              <a:rect l="0" t="0" r="r" b="b"/>
              <a:pathLst>
                <a:path w="1" h="1">
                  <a:moveTo>
                    <a:pt x="1" y="1"/>
                  </a:move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4" name="Freeform 163"/>
            <p:cNvSpPr>
              <a:spLocks/>
            </p:cNvSpPr>
            <p:nvPr/>
          </p:nvSpPr>
          <p:spPr bwMode="auto">
            <a:xfrm>
              <a:off x="1438" y="2359"/>
              <a:ext cx="4" cy="2"/>
            </a:xfrm>
            <a:custGeom>
              <a:avLst/>
              <a:gdLst/>
              <a:ahLst/>
              <a:cxnLst>
                <a:cxn ang="0">
                  <a:pos x="4" y="2"/>
                </a:cxn>
                <a:cxn ang="0">
                  <a:pos x="0" y="0"/>
                </a:cxn>
                <a:cxn ang="0">
                  <a:pos x="4" y="2"/>
                </a:cxn>
              </a:cxnLst>
              <a:rect l="0" t="0" r="r" b="b"/>
              <a:pathLst>
                <a:path w="4" h="2">
                  <a:moveTo>
                    <a:pt x="4" y="2"/>
                  </a:moveTo>
                  <a:lnTo>
                    <a:pt x="0" y="0"/>
                  </a:lnTo>
                  <a:lnTo>
                    <a:pt x="4"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5" name="Freeform 164"/>
            <p:cNvSpPr>
              <a:spLocks/>
            </p:cNvSpPr>
            <p:nvPr/>
          </p:nvSpPr>
          <p:spPr bwMode="auto">
            <a:xfrm>
              <a:off x="1456" y="2381"/>
              <a:ext cx="4" cy="4"/>
            </a:xfrm>
            <a:custGeom>
              <a:avLst/>
              <a:gdLst/>
              <a:ahLst/>
              <a:cxnLst>
                <a:cxn ang="0">
                  <a:pos x="2" y="0"/>
                </a:cxn>
                <a:cxn ang="0">
                  <a:pos x="3" y="1"/>
                </a:cxn>
                <a:cxn ang="0">
                  <a:pos x="0" y="5"/>
                </a:cxn>
                <a:cxn ang="0">
                  <a:pos x="2" y="0"/>
                </a:cxn>
              </a:cxnLst>
              <a:rect l="0" t="0" r="r" b="b"/>
              <a:pathLst>
                <a:path w="3" h="5">
                  <a:moveTo>
                    <a:pt x="2" y="0"/>
                  </a:moveTo>
                  <a:lnTo>
                    <a:pt x="3" y="1"/>
                  </a:lnTo>
                  <a:lnTo>
                    <a:pt x="0" y="5"/>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6" name="Freeform 165"/>
            <p:cNvSpPr>
              <a:spLocks/>
            </p:cNvSpPr>
            <p:nvPr/>
          </p:nvSpPr>
          <p:spPr bwMode="auto">
            <a:xfrm>
              <a:off x="1434" y="2341"/>
              <a:ext cx="4" cy="2"/>
            </a:xfrm>
            <a:custGeom>
              <a:avLst/>
              <a:gdLst/>
              <a:ahLst/>
              <a:cxnLst>
                <a:cxn ang="0">
                  <a:pos x="4" y="1"/>
                </a:cxn>
                <a:cxn ang="0">
                  <a:pos x="4" y="0"/>
                </a:cxn>
                <a:cxn ang="0">
                  <a:pos x="4" y="1"/>
                </a:cxn>
                <a:cxn ang="0">
                  <a:pos x="3" y="1"/>
                </a:cxn>
                <a:cxn ang="0">
                  <a:pos x="2" y="1"/>
                </a:cxn>
                <a:cxn ang="0">
                  <a:pos x="2" y="3"/>
                </a:cxn>
                <a:cxn ang="0">
                  <a:pos x="0" y="3"/>
                </a:cxn>
                <a:cxn ang="0">
                  <a:pos x="2" y="3"/>
                </a:cxn>
                <a:cxn ang="0">
                  <a:pos x="3" y="3"/>
                </a:cxn>
                <a:cxn ang="0">
                  <a:pos x="3" y="1"/>
                </a:cxn>
                <a:cxn ang="0">
                  <a:pos x="4" y="1"/>
                </a:cxn>
              </a:cxnLst>
              <a:rect l="0" t="0" r="r" b="b"/>
              <a:pathLst>
                <a:path w="4" h="3">
                  <a:moveTo>
                    <a:pt x="4" y="1"/>
                  </a:moveTo>
                  <a:lnTo>
                    <a:pt x="4" y="0"/>
                  </a:lnTo>
                  <a:lnTo>
                    <a:pt x="4" y="1"/>
                  </a:lnTo>
                  <a:lnTo>
                    <a:pt x="3" y="1"/>
                  </a:lnTo>
                  <a:lnTo>
                    <a:pt x="2" y="1"/>
                  </a:lnTo>
                  <a:lnTo>
                    <a:pt x="2" y="3"/>
                  </a:lnTo>
                  <a:lnTo>
                    <a:pt x="0" y="3"/>
                  </a:lnTo>
                  <a:lnTo>
                    <a:pt x="2" y="3"/>
                  </a:lnTo>
                  <a:lnTo>
                    <a:pt x="3" y="3"/>
                  </a:lnTo>
                  <a:lnTo>
                    <a:pt x="3" y="1"/>
                  </a:lnTo>
                  <a:lnTo>
                    <a:pt x="4"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7" name="Freeform 166"/>
            <p:cNvSpPr>
              <a:spLocks/>
            </p:cNvSpPr>
            <p:nvPr/>
          </p:nvSpPr>
          <p:spPr bwMode="auto">
            <a:xfrm>
              <a:off x="1456" y="2363"/>
              <a:ext cx="4" cy="2"/>
            </a:xfrm>
            <a:custGeom>
              <a:avLst/>
              <a:gdLst/>
              <a:ahLst/>
              <a:cxnLst>
                <a:cxn ang="0">
                  <a:pos x="1" y="0"/>
                </a:cxn>
                <a:cxn ang="0">
                  <a:pos x="0" y="1"/>
                </a:cxn>
                <a:cxn ang="0">
                  <a:pos x="0" y="2"/>
                </a:cxn>
                <a:cxn ang="0">
                  <a:pos x="3" y="2"/>
                </a:cxn>
                <a:cxn ang="0">
                  <a:pos x="1" y="0"/>
                </a:cxn>
              </a:cxnLst>
              <a:rect l="0" t="0" r="r" b="b"/>
              <a:pathLst>
                <a:path w="3" h="2">
                  <a:moveTo>
                    <a:pt x="1" y="0"/>
                  </a:moveTo>
                  <a:lnTo>
                    <a:pt x="0" y="1"/>
                  </a:lnTo>
                  <a:lnTo>
                    <a:pt x="0" y="2"/>
                  </a:lnTo>
                  <a:lnTo>
                    <a:pt x="3" y="2"/>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8" name="Freeform 167"/>
            <p:cNvSpPr>
              <a:spLocks/>
            </p:cNvSpPr>
            <p:nvPr/>
          </p:nvSpPr>
          <p:spPr bwMode="auto">
            <a:xfrm>
              <a:off x="1456" y="2352"/>
              <a:ext cx="2" cy="2"/>
            </a:xfrm>
            <a:custGeom>
              <a:avLst/>
              <a:gdLst/>
              <a:ahLst/>
              <a:cxnLst>
                <a:cxn ang="0">
                  <a:pos x="1" y="2"/>
                </a:cxn>
                <a:cxn ang="0">
                  <a:pos x="0" y="1"/>
                </a:cxn>
                <a:cxn ang="0">
                  <a:pos x="0" y="0"/>
                </a:cxn>
                <a:cxn ang="0">
                  <a:pos x="1" y="1"/>
                </a:cxn>
                <a:cxn ang="0">
                  <a:pos x="1" y="2"/>
                </a:cxn>
              </a:cxnLst>
              <a:rect l="0" t="0" r="r" b="b"/>
              <a:pathLst>
                <a:path w="1" h="2">
                  <a:moveTo>
                    <a:pt x="1" y="2"/>
                  </a:moveTo>
                  <a:lnTo>
                    <a:pt x="0" y="1"/>
                  </a:lnTo>
                  <a:lnTo>
                    <a:pt x="0" y="0"/>
                  </a:lnTo>
                  <a:lnTo>
                    <a:pt x="1" y="1"/>
                  </a:lnTo>
                  <a:lnTo>
                    <a:pt x="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9" name="Freeform 168"/>
            <p:cNvSpPr>
              <a:spLocks/>
            </p:cNvSpPr>
            <p:nvPr/>
          </p:nvSpPr>
          <p:spPr bwMode="auto">
            <a:xfrm>
              <a:off x="976" y="2336"/>
              <a:ext cx="24" cy="51"/>
            </a:xfrm>
            <a:custGeom>
              <a:avLst/>
              <a:gdLst/>
              <a:ahLst/>
              <a:cxnLst>
                <a:cxn ang="0">
                  <a:pos x="13" y="38"/>
                </a:cxn>
                <a:cxn ang="0">
                  <a:pos x="5" y="46"/>
                </a:cxn>
                <a:cxn ang="0">
                  <a:pos x="0" y="46"/>
                </a:cxn>
                <a:cxn ang="0">
                  <a:pos x="2" y="30"/>
                </a:cxn>
                <a:cxn ang="0">
                  <a:pos x="6" y="12"/>
                </a:cxn>
                <a:cxn ang="0">
                  <a:pos x="20" y="0"/>
                </a:cxn>
                <a:cxn ang="0">
                  <a:pos x="21" y="3"/>
                </a:cxn>
                <a:cxn ang="0">
                  <a:pos x="17" y="20"/>
                </a:cxn>
                <a:cxn ang="0">
                  <a:pos x="13" y="38"/>
                </a:cxn>
              </a:cxnLst>
              <a:rect l="0" t="0" r="r" b="b"/>
              <a:pathLst>
                <a:path w="21" h="46">
                  <a:moveTo>
                    <a:pt x="13" y="38"/>
                  </a:moveTo>
                  <a:lnTo>
                    <a:pt x="5" y="46"/>
                  </a:lnTo>
                  <a:lnTo>
                    <a:pt x="0" y="46"/>
                  </a:lnTo>
                  <a:lnTo>
                    <a:pt x="2" y="30"/>
                  </a:lnTo>
                  <a:lnTo>
                    <a:pt x="6" y="12"/>
                  </a:lnTo>
                  <a:lnTo>
                    <a:pt x="20" y="0"/>
                  </a:lnTo>
                  <a:lnTo>
                    <a:pt x="21" y="3"/>
                  </a:lnTo>
                  <a:lnTo>
                    <a:pt x="17" y="20"/>
                  </a:lnTo>
                  <a:lnTo>
                    <a:pt x="13"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0" name="Freeform 169"/>
            <p:cNvSpPr>
              <a:spLocks/>
            </p:cNvSpPr>
            <p:nvPr/>
          </p:nvSpPr>
          <p:spPr bwMode="auto">
            <a:xfrm>
              <a:off x="920" y="2350"/>
              <a:ext cx="74" cy="80"/>
            </a:xfrm>
            <a:custGeom>
              <a:avLst/>
              <a:gdLst/>
              <a:ahLst/>
              <a:cxnLst>
                <a:cxn ang="0">
                  <a:pos x="6" y="64"/>
                </a:cxn>
                <a:cxn ang="0">
                  <a:pos x="0" y="58"/>
                </a:cxn>
                <a:cxn ang="0">
                  <a:pos x="3" y="46"/>
                </a:cxn>
                <a:cxn ang="0">
                  <a:pos x="11" y="32"/>
                </a:cxn>
                <a:cxn ang="0">
                  <a:pos x="33" y="28"/>
                </a:cxn>
                <a:cxn ang="0">
                  <a:pos x="21" y="12"/>
                </a:cxn>
                <a:cxn ang="0">
                  <a:pos x="26" y="10"/>
                </a:cxn>
                <a:cxn ang="0">
                  <a:pos x="27" y="0"/>
                </a:cxn>
                <a:cxn ang="0">
                  <a:pos x="42" y="0"/>
                </a:cxn>
                <a:cxn ang="0">
                  <a:pos x="57" y="0"/>
                </a:cxn>
                <a:cxn ang="0">
                  <a:pos x="53" y="18"/>
                </a:cxn>
                <a:cxn ang="0">
                  <a:pos x="51" y="34"/>
                </a:cxn>
                <a:cxn ang="0">
                  <a:pos x="56" y="34"/>
                </a:cxn>
                <a:cxn ang="0">
                  <a:pos x="62" y="36"/>
                </a:cxn>
                <a:cxn ang="0">
                  <a:pos x="66" y="38"/>
                </a:cxn>
                <a:cxn ang="0">
                  <a:pos x="56" y="46"/>
                </a:cxn>
                <a:cxn ang="0">
                  <a:pos x="46" y="61"/>
                </a:cxn>
                <a:cxn ang="0">
                  <a:pos x="33" y="73"/>
                </a:cxn>
                <a:cxn ang="0">
                  <a:pos x="20" y="69"/>
                </a:cxn>
                <a:cxn ang="0">
                  <a:pos x="6" y="64"/>
                </a:cxn>
              </a:cxnLst>
              <a:rect l="0" t="0" r="r" b="b"/>
              <a:pathLst>
                <a:path w="66" h="73">
                  <a:moveTo>
                    <a:pt x="6" y="64"/>
                  </a:moveTo>
                  <a:lnTo>
                    <a:pt x="0" y="58"/>
                  </a:lnTo>
                  <a:lnTo>
                    <a:pt x="3" y="46"/>
                  </a:lnTo>
                  <a:lnTo>
                    <a:pt x="11" y="32"/>
                  </a:lnTo>
                  <a:lnTo>
                    <a:pt x="33" y="28"/>
                  </a:lnTo>
                  <a:lnTo>
                    <a:pt x="21" y="12"/>
                  </a:lnTo>
                  <a:lnTo>
                    <a:pt x="26" y="10"/>
                  </a:lnTo>
                  <a:lnTo>
                    <a:pt x="27" y="0"/>
                  </a:lnTo>
                  <a:lnTo>
                    <a:pt x="42" y="0"/>
                  </a:lnTo>
                  <a:lnTo>
                    <a:pt x="57" y="0"/>
                  </a:lnTo>
                  <a:lnTo>
                    <a:pt x="53" y="18"/>
                  </a:lnTo>
                  <a:lnTo>
                    <a:pt x="51" y="34"/>
                  </a:lnTo>
                  <a:lnTo>
                    <a:pt x="56" y="34"/>
                  </a:lnTo>
                  <a:lnTo>
                    <a:pt x="62" y="36"/>
                  </a:lnTo>
                  <a:lnTo>
                    <a:pt x="66" y="38"/>
                  </a:lnTo>
                  <a:lnTo>
                    <a:pt x="56" y="46"/>
                  </a:lnTo>
                  <a:lnTo>
                    <a:pt x="46" y="61"/>
                  </a:lnTo>
                  <a:lnTo>
                    <a:pt x="33" y="73"/>
                  </a:lnTo>
                  <a:lnTo>
                    <a:pt x="20" y="69"/>
                  </a:lnTo>
                  <a:lnTo>
                    <a:pt x="6" y="6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1" name="Freeform 170"/>
            <p:cNvSpPr>
              <a:spLocks/>
            </p:cNvSpPr>
            <p:nvPr/>
          </p:nvSpPr>
          <p:spPr bwMode="auto">
            <a:xfrm>
              <a:off x="1171" y="2336"/>
              <a:ext cx="36" cy="14"/>
            </a:xfrm>
            <a:custGeom>
              <a:avLst/>
              <a:gdLst/>
              <a:ahLst/>
              <a:cxnLst>
                <a:cxn ang="0">
                  <a:pos x="12" y="0"/>
                </a:cxn>
                <a:cxn ang="0">
                  <a:pos x="0" y="4"/>
                </a:cxn>
                <a:cxn ang="0">
                  <a:pos x="18" y="13"/>
                </a:cxn>
                <a:cxn ang="0">
                  <a:pos x="32" y="10"/>
                </a:cxn>
                <a:cxn ang="0">
                  <a:pos x="12" y="0"/>
                </a:cxn>
              </a:cxnLst>
              <a:rect l="0" t="0" r="r" b="b"/>
              <a:pathLst>
                <a:path w="32" h="13">
                  <a:moveTo>
                    <a:pt x="12" y="0"/>
                  </a:moveTo>
                  <a:lnTo>
                    <a:pt x="0" y="4"/>
                  </a:lnTo>
                  <a:lnTo>
                    <a:pt x="18" y="13"/>
                  </a:lnTo>
                  <a:lnTo>
                    <a:pt x="32" y="10"/>
                  </a:lnTo>
                  <a:lnTo>
                    <a:pt x="1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2" name="Freeform 171"/>
            <p:cNvSpPr>
              <a:spLocks/>
            </p:cNvSpPr>
            <p:nvPr/>
          </p:nvSpPr>
          <p:spPr bwMode="auto">
            <a:xfrm>
              <a:off x="1365" y="2336"/>
              <a:ext cx="29" cy="11"/>
            </a:xfrm>
            <a:custGeom>
              <a:avLst/>
              <a:gdLst/>
              <a:ahLst/>
              <a:cxnLst>
                <a:cxn ang="0">
                  <a:pos x="25" y="4"/>
                </a:cxn>
                <a:cxn ang="0">
                  <a:pos x="23" y="6"/>
                </a:cxn>
                <a:cxn ang="0">
                  <a:pos x="7" y="9"/>
                </a:cxn>
                <a:cxn ang="0">
                  <a:pos x="0" y="7"/>
                </a:cxn>
                <a:cxn ang="0">
                  <a:pos x="2" y="0"/>
                </a:cxn>
                <a:cxn ang="0">
                  <a:pos x="25" y="4"/>
                </a:cxn>
              </a:cxnLst>
              <a:rect l="0" t="0" r="r" b="b"/>
              <a:pathLst>
                <a:path w="25" h="9">
                  <a:moveTo>
                    <a:pt x="25" y="4"/>
                  </a:moveTo>
                  <a:lnTo>
                    <a:pt x="23" y="6"/>
                  </a:lnTo>
                  <a:lnTo>
                    <a:pt x="7" y="9"/>
                  </a:lnTo>
                  <a:lnTo>
                    <a:pt x="0" y="7"/>
                  </a:lnTo>
                  <a:lnTo>
                    <a:pt x="2" y="0"/>
                  </a:lnTo>
                  <a:lnTo>
                    <a:pt x="2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3" name="Freeform 172"/>
            <p:cNvSpPr>
              <a:spLocks/>
            </p:cNvSpPr>
            <p:nvPr/>
          </p:nvSpPr>
          <p:spPr bwMode="auto">
            <a:xfrm>
              <a:off x="1402" y="2350"/>
              <a:ext cx="7" cy="2"/>
            </a:xfrm>
            <a:custGeom>
              <a:avLst/>
              <a:gdLst/>
              <a:ahLst/>
              <a:cxnLst>
                <a:cxn ang="0">
                  <a:pos x="6" y="0"/>
                </a:cxn>
                <a:cxn ang="0">
                  <a:pos x="2" y="0"/>
                </a:cxn>
                <a:cxn ang="0">
                  <a:pos x="0" y="1"/>
                </a:cxn>
                <a:cxn ang="0">
                  <a:pos x="6" y="0"/>
                </a:cxn>
              </a:cxnLst>
              <a:rect l="0" t="0" r="r" b="b"/>
              <a:pathLst>
                <a:path w="6" h="1">
                  <a:moveTo>
                    <a:pt x="6" y="0"/>
                  </a:moveTo>
                  <a:lnTo>
                    <a:pt x="2" y="0"/>
                  </a:lnTo>
                  <a:lnTo>
                    <a:pt x="0" y="1"/>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4" name="Freeform 173"/>
            <p:cNvSpPr>
              <a:spLocks/>
            </p:cNvSpPr>
            <p:nvPr/>
          </p:nvSpPr>
          <p:spPr bwMode="auto">
            <a:xfrm>
              <a:off x="567" y="2054"/>
              <a:ext cx="467" cy="360"/>
            </a:xfrm>
            <a:custGeom>
              <a:avLst/>
              <a:gdLst/>
              <a:ahLst/>
              <a:cxnLst>
                <a:cxn ang="0">
                  <a:pos x="53" y="157"/>
                </a:cxn>
                <a:cxn ang="0">
                  <a:pos x="35" y="114"/>
                </a:cxn>
                <a:cxn ang="0">
                  <a:pos x="14" y="95"/>
                </a:cxn>
                <a:cxn ang="0">
                  <a:pos x="22" y="71"/>
                </a:cxn>
                <a:cxn ang="0">
                  <a:pos x="3" y="25"/>
                </a:cxn>
                <a:cxn ang="0">
                  <a:pos x="38" y="0"/>
                </a:cxn>
                <a:cxn ang="0">
                  <a:pos x="72" y="18"/>
                </a:cxn>
                <a:cxn ang="0">
                  <a:pos x="128" y="24"/>
                </a:cxn>
                <a:cxn ang="0">
                  <a:pos x="170" y="34"/>
                </a:cxn>
                <a:cxn ang="0">
                  <a:pos x="192" y="66"/>
                </a:cxn>
                <a:cxn ang="0">
                  <a:pos x="232" y="71"/>
                </a:cxn>
                <a:cxn ang="0">
                  <a:pos x="254" y="118"/>
                </a:cxn>
                <a:cxn ang="0">
                  <a:pos x="254" y="168"/>
                </a:cxn>
                <a:cxn ang="0">
                  <a:pos x="262" y="226"/>
                </a:cxn>
                <a:cxn ang="0">
                  <a:pos x="273" y="250"/>
                </a:cxn>
                <a:cxn ang="0">
                  <a:pos x="321" y="253"/>
                </a:cxn>
                <a:cxn ang="0">
                  <a:pos x="344" y="251"/>
                </a:cxn>
                <a:cxn ang="0">
                  <a:pos x="362" y="213"/>
                </a:cxn>
                <a:cxn ang="0">
                  <a:pos x="408" y="201"/>
                </a:cxn>
                <a:cxn ang="0">
                  <a:pos x="419" y="207"/>
                </a:cxn>
                <a:cxn ang="0">
                  <a:pos x="402" y="238"/>
                </a:cxn>
                <a:cxn ang="0">
                  <a:pos x="392" y="251"/>
                </a:cxn>
                <a:cxn ang="0">
                  <a:pos x="360" y="267"/>
                </a:cxn>
                <a:cxn ang="0">
                  <a:pos x="339" y="279"/>
                </a:cxn>
                <a:cxn ang="0">
                  <a:pos x="321" y="313"/>
                </a:cxn>
                <a:cxn ang="0">
                  <a:pos x="288" y="294"/>
                </a:cxn>
                <a:cxn ang="0">
                  <a:pos x="278" y="295"/>
                </a:cxn>
                <a:cxn ang="0">
                  <a:pos x="250" y="305"/>
                </a:cxn>
                <a:cxn ang="0">
                  <a:pos x="198" y="280"/>
                </a:cxn>
                <a:cxn ang="0">
                  <a:pos x="160" y="259"/>
                </a:cxn>
                <a:cxn ang="0">
                  <a:pos x="126" y="232"/>
                </a:cxn>
                <a:cxn ang="0">
                  <a:pos x="128" y="211"/>
                </a:cxn>
                <a:cxn ang="0">
                  <a:pos x="122" y="173"/>
                </a:cxn>
                <a:cxn ang="0">
                  <a:pos x="107" y="149"/>
                </a:cxn>
                <a:cxn ang="0">
                  <a:pos x="99" y="136"/>
                </a:cxn>
                <a:cxn ang="0">
                  <a:pos x="84" y="125"/>
                </a:cxn>
                <a:cxn ang="0">
                  <a:pos x="72" y="90"/>
                </a:cxn>
                <a:cxn ang="0">
                  <a:pos x="57" y="63"/>
                </a:cxn>
                <a:cxn ang="0">
                  <a:pos x="41" y="22"/>
                </a:cxn>
                <a:cxn ang="0">
                  <a:pos x="26" y="52"/>
                </a:cxn>
                <a:cxn ang="0">
                  <a:pos x="46" y="95"/>
                </a:cxn>
                <a:cxn ang="0">
                  <a:pos x="54" y="126"/>
                </a:cxn>
                <a:cxn ang="0">
                  <a:pos x="70" y="161"/>
                </a:cxn>
              </a:cxnLst>
              <a:rect l="0" t="0" r="r" b="b"/>
              <a:pathLst>
                <a:path w="419" h="325">
                  <a:moveTo>
                    <a:pt x="74" y="169"/>
                  </a:moveTo>
                  <a:lnTo>
                    <a:pt x="63" y="174"/>
                  </a:lnTo>
                  <a:lnTo>
                    <a:pt x="53" y="157"/>
                  </a:lnTo>
                  <a:lnTo>
                    <a:pt x="39" y="142"/>
                  </a:lnTo>
                  <a:lnTo>
                    <a:pt x="40" y="127"/>
                  </a:lnTo>
                  <a:lnTo>
                    <a:pt x="35" y="114"/>
                  </a:lnTo>
                  <a:lnTo>
                    <a:pt x="30" y="105"/>
                  </a:lnTo>
                  <a:lnTo>
                    <a:pt x="21" y="103"/>
                  </a:lnTo>
                  <a:lnTo>
                    <a:pt x="14" y="95"/>
                  </a:lnTo>
                  <a:lnTo>
                    <a:pt x="6" y="87"/>
                  </a:lnTo>
                  <a:lnTo>
                    <a:pt x="18" y="89"/>
                  </a:lnTo>
                  <a:lnTo>
                    <a:pt x="22" y="71"/>
                  </a:lnTo>
                  <a:lnTo>
                    <a:pt x="14" y="59"/>
                  </a:lnTo>
                  <a:lnTo>
                    <a:pt x="5" y="47"/>
                  </a:lnTo>
                  <a:lnTo>
                    <a:pt x="3" y="25"/>
                  </a:lnTo>
                  <a:lnTo>
                    <a:pt x="0" y="3"/>
                  </a:lnTo>
                  <a:lnTo>
                    <a:pt x="18" y="1"/>
                  </a:lnTo>
                  <a:lnTo>
                    <a:pt x="38" y="0"/>
                  </a:lnTo>
                  <a:lnTo>
                    <a:pt x="48" y="6"/>
                  </a:lnTo>
                  <a:lnTo>
                    <a:pt x="60" y="12"/>
                  </a:lnTo>
                  <a:lnTo>
                    <a:pt x="72" y="18"/>
                  </a:lnTo>
                  <a:lnTo>
                    <a:pt x="84" y="24"/>
                  </a:lnTo>
                  <a:lnTo>
                    <a:pt x="106" y="24"/>
                  </a:lnTo>
                  <a:lnTo>
                    <a:pt x="128" y="24"/>
                  </a:lnTo>
                  <a:lnTo>
                    <a:pt x="131" y="16"/>
                  </a:lnTo>
                  <a:lnTo>
                    <a:pt x="156" y="16"/>
                  </a:lnTo>
                  <a:lnTo>
                    <a:pt x="170" y="34"/>
                  </a:lnTo>
                  <a:lnTo>
                    <a:pt x="174" y="52"/>
                  </a:lnTo>
                  <a:lnTo>
                    <a:pt x="183" y="59"/>
                  </a:lnTo>
                  <a:lnTo>
                    <a:pt x="192" y="66"/>
                  </a:lnTo>
                  <a:lnTo>
                    <a:pt x="203" y="53"/>
                  </a:lnTo>
                  <a:lnTo>
                    <a:pt x="225" y="55"/>
                  </a:lnTo>
                  <a:lnTo>
                    <a:pt x="232" y="71"/>
                  </a:lnTo>
                  <a:lnTo>
                    <a:pt x="238" y="88"/>
                  </a:lnTo>
                  <a:lnTo>
                    <a:pt x="244" y="109"/>
                  </a:lnTo>
                  <a:lnTo>
                    <a:pt x="254" y="118"/>
                  </a:lnTo>
                  <a:lnTo>
                    <a:pt x="273" y="120"/>
                  </a:lnTo>
                  <a:lnTo>
                    <a:pt x="263" y="144"/>
                  </a:lnTo>
                  <a:lnTo>
                    <a:pt x="254" y="168"/>
                  </a:lnTo>
                  <a:lnTo>
                    <a:pt x="251" y="192"/>
                  </a:lnTo>
                  <a:lnTo>
                    <a:pt x="256" y="210"/>
                  </a:lnTo>
                  <a:lnTo>
                    <a:pt x="262" y="226"/>
                  </a:lnTo>
                  <a:lnTo>
                    <a:pt x="267" y="238"/>
                  </a:lnTo>
                  <a:lnTo>
                    <a:pt x="272" y="249"/>
                  </a:lnTo>
                  <a:lnTo>
                    <a:pt x="273" y="250"/>
                  </a:lnTo>
                  <a:lnTo>
                    <a:pt x="290" y="258"/>
                  </a:lnTo>
                  <a:lnTo>
                    <a:pt x="304" y="257"/>
                  </a:lnTo>
                  <a:lnTo>
                    <a:pt x="321" y="253"/>
                  </a:lnTo>
                  <a:lnTo>
                    <a:pt x="332" y="253"/>
                  </a:lnTo>
                  <a:lnTo>
                    <a:pt x="339" y="255"/>
                  </a:lnTo>
                  <a:lnTo>
                    <a:pt x="344" y="251"/>
                  </a:lnTo>
                  <a:lnTo>
                    <a:pt x="341" y="247"/>
                  </a:lnTo>
                  <a:lnTo>
                    <a:pt x="354" y="234"/>
                  </a:lnTo>
                  <a:lnTo>
                    <a:pt x="362" y="213"/>
                  </a:lnTo>
                  <a:lnTo>
                    <a:pt x="378" y="204"/>
                  </a:lnTo>
                  <a:lnTo>
                    <a:pt x="393" y="202"/>
                  </a:lnTo>
                  <a:lnTo>
                    <a:pt x="408" y="201"/>
                  </a:lnTo>
                  <a:lnTo>
                    <a:pt x="412" y="201"/>
                  </a:lnTo>
                  <a:lnTo>
                    <a:pt x="418" y="204"/>
                  </a:lnTo>
                  <a:lnTo>
                    <a:pt x="419" y="207"/>
                  </a:lnTo>
                  <a:lnTo>
                    <a:pt x="405" y="229"/>
                  </a:lnTo>
                  <a:lnTo>
                    <a:pt x="402" y="235"/>
                  </a:lnTo>
                  <a:lnTo>
                    <a:pt x="402" y="238"/>
                  </a:lnTo>
                  <a:lnTo>
                    <a:pt x="402" y="240"/>
                  </a:lnTo>
                  <a:lnTo>
                    <a:pt x="395" y="257"/>
                  </a:lnTo>
                  <a:lnTo>
                    <a:pt x="392" y="251"/>
                  </a:lnTo>
                  <a:lnTo>
                    <a:pt x="389" y="255"/>
                  </a:lnTo>
                  <a:lnTo>
                    <a:pt x="375" y="267"/>
                  </a:lnTo>
                  <a:lnTo>
                    <a:pt x="360" y="267"/>
                  </a:lnTo>
                  <a:lnTo>
                    <a:pt x="345" y="267"/>
                  </a:lnTo>
                  <a:lnTo>
                    <a:pt x="344" y="277"/>
                  </a:lnTo>
                  <a:lnTo>
                    <a:pt x="339" y="279"/>
                  </a:lnTo>
                  <a:lnTo>
                    <a:pt x="351" y="295"/>
                  </a:lnTo>
                  <a:lnTo>
                    <a:pt x="329" y="299"/>
                  </a:lnTo>
                  <a:lnTo>
                    <a:pt x="321" y="313"/>
                  </a:lnTo>
                  <a:lnTo>
                    <a:pt x="318" y="325"/>
                  </a:lnTo>
                  <a:lnTo>
                    <a:pt x="303" y="310"/>
                  </a:lnTo>
                  <a:lnTo>
                    <a:pt x="288" y="294"/>
                  </a:lnTo>
                  <a:lnTo>
                    <a:pt x="294" y="300"/>
                  </a:lnTo>
                  <a:lnTo>
                    <a:pt x="286" y="294"/>
                  </a:lnTo>
                  <a:lnTo>
                    <a:pt x="278" y="295"/>
                  </a:lnTo>
                  <a:lnTo>
                    <a:pt x="281" y="295"/>
                  </a:lnTo>
                  <a:lnTo>
                    <a:pt x="266" y="300"/>
                  </a:lnTo>
                  <a:lnTo>
                    <a:pt x="250" y="305"/>
                  </a:lnTo>
                  <a:lnTo>
                    <a:pt x="233" y="297"/>
                  </a:lnTo>
                  <a:lnTo>
                    <a:pt x="215" y="288"/>
                  </a:lnTo>
                  <a:lnTo>
                    <a:pt x="198" y="280"/>
                  </a:lnTo>
                  <a:lnTo>
                    <a:pt x="180" y="273"/>
                  </a:lnTo>
                  <a:lnTo>
                    <a:pt x="171" y="265"/>
                  </a:lnTo>
                  <a:lnTo>
                    <a:pt x="160" y="259"/>
                  </a:lnTo>
                  <a:lnTo>
                    <a:pt x="148" y="253"/>
                  </a:lnTo>
                  <a:lnTo>
                    <a:pt x="137" y="243"/>
                  </a:lnTo>
                  <a:lnTo>
                    <a:pt x="126" y="232"/>
                  </a:lnTo>
                  <a:lnTo>
                    <a:pt x="124" y="219"/>
                  </a:lnTo>
                  <a:lnTo>
                    <a:pt x="130" y="216"/>
                  </a:lnTo>
                  <a:lnTo>
                    <a:pt x="128" y="211"/>
                  </a:lnTo>
                  <a:lnTo>
                    <a:pt x="132" y="201"/>
                  </a:lnTo>
                  <a:lnTo>
                    <a:pt x="126" y="186"/>
                  </a:lnTo>
                  <a:lnTo>
                    <a:pt x="122" y="173"/>
                  </a:lnTo>
                  <a:lnTo>
                    <a:pt x="112" y="160"/>
                  </a:lnTo>
                  <a:lnTo>
                    <a:pt x="102" y="148"/>
                  </a:lnTo>
                  <a:lnTo>
                    <a:pt x="107" y="149"/>
                  </a:lnTo>
                  <a:lnTo>
                    <a:pt x="100" y="139"/>
                  </a:lnTo>
                  <a:lnTo>
                    <a:pt x="98" y="137"/>
                  </a:lnTo>
                  <a:lnTo>
                    <a:pt x="99" y="136"/>
                  </a:lnTo>
                  <a:lnTo>
                    <a:pt x="88" y="130"/>
                  </a:lnTo>
                  <a:lnTo>
                    <a:pt x="90" y="125"/>
                  </a:lnTo>
                  <a:lnTo>
                    <a:pt x="84" y="125"/>
                  </a:lnTo>
                  <a:lnTo>
                    <a:pt x="89" y="114"/>
                  </a:lnTo>
                  <a:lnTo>
                    <a:pt x="83" y="108"/>
                  </a:lnTo>
                  <a:lnTo>
                    <a:pt x="72" y="90"/>
                  </a:lnTo>
                  <a:lnTo>
                    <a:pt x="72" y="85"/>
                  </a:lnTo>
                  <a:lnTo>
                    <a:pt x="63" y="78"/>
                  </a:lnTo>
                  <a:lnTo>
                    <a:pt x="57" y="63"/>
                  </a:lnTo>
                  <a:lnTo>
                    <a:pt x="51" y="47"/>
                  </a:lnTo>
                  <a:lnTo>
                    <a:pt x="51" y="27"/>
                  </a:lnTo>
                  <a:lnTo>
                    <a:pt x="41" y="22"/>
                  </a:lnTo>
                  <a:lnTo>
                    <a:pt x="29" y="15"/>
                  </a:lnTo>
                  <a:lnTo>
                    <a:pt x="27" y="33"/>
                  </a:lnTo>
                  <a:lnTo>
                    <a:pt x="26" y="52"/>
                  </a:lnTo>
                  <a:lnTo>
                    <a:pt x="33" y="66"/>
                  </a:lnTo>
                  <a:lnTo>
                    <a:pt x="41" y="82"/>
                  </a:lnTo>
                  <a:lnTo>
                    <a:pt x="46" y="95"/>
                  </a:lnTo>
                  <a:lnTo>
                    <a:pt x="50" y="107"/>
                  </a:lnTo>
                  <a:lnTo>
                    <a:pt x="52" y="106"/>
                  </a:lnTo>
                  <a:lnTo>
                    <a:pt x="54" y="126"/>
                  </a:lnTo>
                  <a:lnTo>
                    <a:pt x="58" y="148"/>
                  </a:lnTo>
                  <a:lnTo>
                    <a:pt x="63" y="151"/>
                  </a:lnTo>
                  <a:lnTo>
                    <a:pt x="70" y="161"/>
                  </a:lnTo>
                  <a:lnTo>
                    <a:pt x="74" y="1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5" name="Freeform 174"/>
            <p:cNvSpPr>
              <a:spLocks/>
            </p:cNvSpPr>
            <p:nvPr/>
          </p:nvSpPr>
          <p:spPr bwMode="auto">
            <a:xfrm>
              <a:off x="1187" y="2203"/>
              <a:ext cx="9" cy="16"/>
            </a:xfrm>
            <a:custGeom>
              <a:avLst/>
              <a:gdLst/>
              <a:ahLst/>
              <a:cxnLst>
                <a:cxn ang="0">
                  <a:pos x="9" y="13"/>
                </a:cxn>
                <a:cxn ang="0">
                  <a:pos x="6" y="0"/>
                </a:cxn>
                <a:cxn ang="0">
                  <a:pos x="0" y="10"/>
                </a:cxn>
                <a:cxn ang="0">
                  <a:pos x="3" y="14"/>
                </a:cxn>
                <a:cxn ang="0">
                  <a:pos x="9" y="13"/>
                </a:cxn>
              </a:cxnLst>
              <a:rect l="0" t="0" r="r" b="b"/>
              <a:pathLst>
                <a:path w="9" h="14">
                  <a:moveTo>
                    <a:pt x="9" y="13"/>
                  </a:moveTo>
                  <a:lnTo>
                    <a:pt x="6" y="0"/>
                  </a:lnTo>
                  <a:lnTo>
                    <a:pt x="0" y="10"/>
                  </a:lnTo>
                  <a:lnTo>
                    <a:pt x="3" y="14"/>
                  </a:lnTo>
                  <a:lnTo>
                    <a:pt x="9"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6" name="Freeform 175"/>
            <p:cNvSpPr>
              <a:spLocks/>
            </p:cNvSpPr>
            <p:nvPr/>
          </p:nvSpPr>
          <p:spPr bwMode="auto">
            <a:xfrm>
              <a:off x="1202" y="2167"/>
              <a:ext cx="14" cy="20"/>
            </a:xfrm>
            <a:custGeom>
              <a:avLst/>
              <a:gdLst/>
              <a:ahLst/>
              <a:cxnLst>
                <a:cxn ang="0">
                  <a:pos x="5" y="17"/>
                </a:cxn>
                <a:cxn ang="0">
                  <a:pos x="7" y="10"/>
                </a:cxn>
                <a:cxn ang="0">
                  <a:pos x="0" y="0"/>
                </a:cxn>
                <a:cxn ang="0">
                  <a:pos x="11" y="11"/>
                </a:cxn>
                <a:cxn ang="0">
                  <a:pos x="5" y="17"/>
                </a:cxn>
              </a:cxnLst>
              <a:rect l="0" t="0" r="r" b="b"/>
              <a:pathLst>
                <a:path w="11" h="17">
                  <a:moveTo>
                    <a:pt x="5" y="17"/>
                  </a:moveTo>
                  <a:lnTo>
                    <a:pt x="7" y="10"/>
                  </a:lnTo>
                  <a:lnTo>
                    <a:pt x="0" y="0"/>
                  </a:lnTo>
                  <a:lnTo>
                    <a:pt x="11" y="11"/>
                  </a:lnTo>
                  <a:lnTo>
                    <a:pt x="5"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7" name="Freeform 176"/>
            <p:cNvSpPr>
              <a:spLocks/>
            </p:cNvSpPr>
            <p:nvPr/>
          </p:nvSpPr>
          <p:spPr bwMode="auto">
            <a:xfrm>
              <a:off x="1218" y="2196"/>
              <a:ext cx="9" cy="16"/>
            </a:xfrm>
            <a:custGeom>
              <a:avLst/>
              <a:gdLst/>
              <a:ahLst/>
              <a:cxnLst>
                <a:cxn ang="0">
                  <a:pos x="5" y="13"/>
                </a:cxn>
                <a:cxn ang="0">
                  <a:pos x="7" y="7"/>
                </a:cxn>
                <a:cxn ang="0">
                  <a:pos x="0" y="0"/>
                </a:cxn>
                <a:cxn ang="0">
                  <a:pos x="4" y="5"/>
                </a:cxn>
                <a:cxn ang="0">
                  <a:pos x="6" y="7"/>
                </a:cxn>
                <a:cxn ang="0">
                  <a:pos x="4" y="12"/>
                </a:cxn>
                <a:cxn ang="0">
                  <a:pos x="5" y="13"/>
                </a:cxn>
              </a:cxnLst>
              <a:rect l="0" t="0" r="r" b="b"/>
              <a:pathLst>
                <a:path w="7" h="13">
                  <a:moveTo>
                    <a:pt x="5" y="13"/>
                  </a:moveTo>
                  <a:lnTo>
                    <a:pt x="7" y="7"/>
                  </a:lnTo>
                  <a:lnTo>
                    <a:pt x="0" y="0"/>
                  </a:lnTo>
                  <a:lnTo>
                    <a:pt x="4" y="5"/>
                  </a:lnTo>
                  <a:lnTo>
                    <a:pt x="6" y="7"/>
                  </a:lnTo>
                  <a:lnTo>
                    <a:pt x="4" y="12"/>
                  </a:lnTo>
                  <a:lnTo>
                    <a:pt x="5"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8" name="Freeform 177"/>
            <p:cNvSpPr>
              <a:spLocks/>
            </p:cNvSpPr>
            <p:nvPr/>
          </p:nvSpPr>
          <p:spPr bwMode="auto">
            <a:xfrm>
              <a:off x="1260" y="2281"/>
              <a:ext cx="9" cy="6"/>
            </a:xfrm>
            <a:custGeom>
              <a:avLst/>
              <a:gdLst/>
              <a:ahLst/>
              <a:cxnLst>
                <a:cxn ang="0">
                  <a:pos x="10" y="0"/>
                </a:cxn>
                <a:cxn ang="0">
                  <a:pos x="10" y="3"/>
                </a:cxn>
                <a:cxn ang="0">
                  <a:pos x="0" y="6"/>
                </a:cxn>
                <a:cxn ang="0">
                  <a:pos x="10" y="0"/>
                </a:cxn>
              </a:cxnLst>
              <a:rect l="0" t="0" r="r" b="b"/>
              <a:pathLst>
                <a:path w="10" h="6">
                  <a:moveTo>
                    <a:pt x="10" y="0"/>
                  </a:moveTo>
                  <a:lnTo>
                    <a:pt x="10" y="3"/>
                  </a:lnTo>
                  <a:lnTo>
                    <a:pt x="0" y="6"/>
                  </a:lnTo>
                  <a:lnTo>
                    <a:pt x="1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9" name="Freeform 178"/>
            <p:cNvSpPr>
              <a:spLocks/>
            </p:cNvSpPr>
            <p:nvPr/>
          </p:nvSpPr>
          <p:spPr bwMode="auto">
            <a:xfrm>
              <a:off x="1254" y="2254"/>
              <a:ext cx="6" cy="7"/>
            </a:xfrm>
            <a:custGeom>
              <a:avLst/>
              <a:gdLst/>
              <a:ahLst/>
              <a:cxnLst>
                <a:cxn ang="0">
                  <a:pos x="6" y="2"/>
                </a:cxn>
                <a:cxn ang="0">
                  <a:pos x="4" y="0"/>
                </a:cxn>
                <a:cxn ang="0">
                  <a:pos x="0" y="5"/>
                </a:cxn>
                <a:cxn ang="0">
                  <a:pos x="6" y="2"/>
                </a:cxn>
              </a:cxnLst>
              <a:rect l="0" t="0" r="r" b="b"/>
              <a:pathLst>
                <a:path w="6" h="5">
                  <a:moveTo>
                    <a:pt x="6" y="2"/>
                  </a:moveTo>
                  <a:lnTo>
                    <a:pt x="4" y="0"/>
                  </a:lnTo>
                  <a:lnTo>
                    <a:pt x="0" y="5"/>
                  </a:lnTo>
                  <a:lnTo>
                    <a:pt x="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0" name="Freeform 179"/>
            <p:cNvSpPr>
              <a:spLocks/>
            </p:cNvSpPr>
            <p:nvPr/>
          </p:nvSpPr>
          <p:spPr bwMode="auto">
            <a:xfrm>
              <a:off x="1182" y="2174"/>
              <a:ext cx="18" cy="2"/>
            </a:xfrm>
            <a:custGeom>
              <a:avLst/>
              <a:gdLst/>
              <a:ahLst/>
              <a:cxnLst>
                <a:cxn ang="0">
                  <a:pos x="5" y="0"/>
                </a:cxn>
                <a:cxn ang="0">
                  <a:pos x="15" y="0"/>
                </a:cxn>
                <a:cxn ang="0">
                  <a:pos x="9" y="1"/>
                </a:cxn>
                <a:cxn ang="0">
                  <a:pos x="0" y="0"/>
                </a:cxn>
                <a:cxn ang="0">
                  <a:pos x="5" y="0"/>
                </a:cxn>
              </a:cxnLst>
              <a:rect l="0" t="0" r="r" b="b"/>
              <a:pathLst>
                <a:path w="15" h="1">
                  <a:moveTo>
                    <a:pt x="5" y="0"/>
                  </a:moveTo>
                  <a:lnTo>
                    <a:pt x="15" y="0"/>
                  </a:lnTo>
                  <a:lnTo>
                    <a:pt x="9" y="1"/>
                  </a:lnTo>
                  <a:lnTo>
                    <a:pt x="0" y="0"/>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1" name="Freeform 180"/>
            <p:cNvSpPr>
              <a:spLocks/>
            </p:cNvSpPr>
            <p:nvPr/>
          </p:nvSpPr>
          <p:spPr bwMode="auto">
            <a:xfrm>
              <a:off x="1194" y="2223"/>
              <a:ext cx="6" cy="7"/>
            </a:xfrm>
            <a:custGeom>
              <a:avLst/>
              <a:gdLst/>
              <a:ahLst/>
              <a:cxnLst>
                <a:cxn ang="0">
                  <a:pos x="5" y="4"/>
                </a:cxn>
                <a:cxn ang="0">
                  <a:pos x="3" y="1"/>
                </a:cxn>
                <a:cxn ang="0">
                  <a:pos x="0" y="0"/>
                </a:cxn>
                <a:cxn ang="0">
                  <a:pos x="3" y="6"/>
                </a:cxn>
                <a:cxn ang="0">
                  <a:pos x="5" y="4"/>
                </a:cxn>
              </a:cxnLst>
              <a:rect l="0" t="0" r="r" b="b"/>
              <a:pathLst>
                <a:path w="5" h="6">
                  <a:moveTo>
                    <a:pt x="5" y="4"/>
                  </a:moveTo>
                  <a:lnTo>
                    <a:pt x="3" y="1"/>
                  </a:lnTo>
                  <a:lnTo>
                    <a:pt x="0" y="0"/>
                  </a:lnTo>
                  <a:lnTo>
                    <a:pt x="3" y="6"/>
                  </a:lnTo>
                  <a:lnTo>
                    <a:pt x="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2" name="Freeform 181"/>
            <p:cNvSpPr>
              <a:spLocks/>
            </p:cNvSpPr>
            <p:nvPr/>
          </p:nvSpPr>
          <p:spPr bwMode="auto">
            <a:xfrm>
              <a:off x="4449" y="2921"/>
              <a:ext cx="700" cy="562"/>
            </a:xfrm>
            <a:custGeom>
              <a:avLst/>
              <a:gdLst/>
              <a:ahLst/>
              <a:cxnLst>
                <a:cxn ang="0">
                  <a:pos x="356" y="12"/>
                </a:cxn>
                <a:cxn ang="0">
                  <a:pos x="361" y="25"/>
                </a:cxn>
                <a:cxn ang="0">
                  <a:pos x="333" y="34"/>
                </a:cxn>
                <a:cxn ang="0">
                  <a:pos x="320" y="48"/>
                </a:cxn>
                <a:cxn ang="0">
                  <a:pos x="314" y="72"/>
                </a:cxn>
                <a:cxn ang="0">
                  <a:pos x="301" y="78"/>
                </a:cxn>
                <a:cxn ang="0">
                  <a:pos x="282" y="85"/>
                </a:cxn>
                <a:cxn ang="0">
                  <a:pos x="269" y="58"/>
                </a:cxn>
                <a:cxn ang="0">
                  <a:pos x="254" y="60"/>
                </a:cxn>
                <a:cxn ang="0">
                  <a:pos x="241" y="79"/>
                </a:cxn>
                <a:cxn ang="0">
                  <a:pos x="225" y="90"/>
                </a:cxn>
                <a:cxn ang="0">
                  <a:pos x="224" y="100"/>
                </a:cxn>
                <a:cxn ang="0">
                  <a:pos x="212" y="100"/>
                </a:cxn>
                <a:cxn ang="0">
                  <a:pos x="209" y="129"/>
                </a:cxn>
                <a:cxn ang="0">
                  <a:pos x="183" y="121"/>
                </a:cxn>
                <a:cxn ang="0">
                  <a:pos x="144" y="165"/>
                </a:cxn>
                <a:cxn ang="0">
                  <a:pos x="92" y="175"/>
                </a:cxn>
                <a:cxn ang="0">
                  <a:pos x="44" y="199"/>
                </a:cxn>
                <a:cxn ang="0">
                  <a:pos x="29" y="264"/>
                </a:cxn>
                <a:cxn ang="0">
                  <a:pos x="21" y="267"/>
                </a:cxn>
                <a:cxn ang="0">
                  <a:pos x="19" y="293"/>
                </a:cxn>
                <a:cxn ang="0">
                  <a:pos x="24" y="354"/>
                </a:cxn>
                <a:cxn ang="0">
                  <a:pos x="8" y="411"/>
                </a:cxn>
                <a:cxn ang="0">
                  <a:pos x="21" y="437"/>
                </a:cxn>
                <a:cxn ang="0">
                  <a:pos x="72" y="418"/>
                </a:cxn>
                <a:cxn ang="0">
                  <a:pos x="141" y="402"/>
                </a:cxn>
                <a:cxn ang="0">
                  <a:pos x="219" y="379"/>
                </a:cxn>
                <a:cxn ang="0">
                  <a:pos x="290" y="385"/>
                </a:cxn>
                <a:cxn ang="0">
                  <a:pos x="300" y="414"/>
                </a:cxn>
                <a:cxn ang="0">
                  <a:pos x="308" y="431"/>
                </a:cxn>
                <a:cxn ang="0">
                  <a:pos x="348" y="406"/>
                </a:cxn>
                <a:cxn ang="0">
                  <a:pos x="330" y="439"/>
                </a:cxn>
                <a:cxn ang="0">
                  <a:pos x="343" y="445"/>
                </a:cxn>
                <a:cxn ang="0">
                  <a:pos x="345" y="489"/>
                </a:cxn>
                <a:cxn ang="0">
                  <a:pos x="403" y="495"/>
                </a:cxn>
                <a:cxn ang="0">
                  <a:pos x="410" y="497"/>
                </a:cxn>
                <a:cxn ang="0">
                  <a:pos x="426" y="502"/>
                </a:cxn>
                <a:cxn ang="0">
                  <a:pos x="495" y="471"/>
                </a:cxn>
                <a:cxn ang="0">
                  <a:pos x="549" y="409"/>
                </a:cxn>
                <a:cxn ang="0">
                  <a:pos x="599" y="358"/>
                </a:cxn>
                <a:cxn ang="0">
                  <a:pos x="621" y="299"/>
                </a:cxn>
                <a:cxn ang="0">
                  <a:pos x="623" y="250"/>
                </a:cxn>
                <a:cxn ang="0">
                  <a:pos x="608" y="213"/>
                </a:cxn>
                <a:cxn ang="0">
                  <a:pos x="594" y="193"/>
                </a:cxn>
                <a:cxn ang="0">
                  <a:pos x="575" y="157"/>
                </a:cxn>
                <a:cxn ang="0">
                  <a:pos x="553" y="97"/>
                </a:cxn>
                <a:cxn ang="0">
                  <a:pos x="533" y="65"/>
                </a:cxn>
                <a:cxn ang="0">
                  <a:pos x="525" y="13"/>
                </a:cxn>
                <a:cxn ang="0">
                  <a:pos x="509" y="23"/>
                </a:cxn>
                <a:cxn ang="0">
                  <a:pos x="503" y="43"/>
                </a:cxn>
                <a:cxn ang="0">
                  <a:pos x="497" y="81"/>
                </a:cxn>
                <a:cxn ang="0">
                  <a:pos x="451" y="114"/>
                </a:cxn>
                <a:cxn ang="0">
                  <a:pos x="401" y="72"/>
                </a:cxn>
                <a:cxn ang="0">
                  <a:pos x="422" y="40"/>
                </a:cxn>
                <a:cxn ang="0">
                  <a:pos x="415" y="27"/>
                </a:cxn>
                <a:cxn ang="0">
                  <a:pos x="387" y="24"/>
                </a:cxn>
              </a:cxnLst>
              <a:rect l="0" t="0" r="r" b="b"/>
              <a:pathLst>
                <a:path w="630" h="508">
                  <a:moveTo>
                    <a:pt x="369" y="12"/>
                  </a:moveTo>
                  <a:lnTo>
                    <a:pt x="362" y="11"/>
                  </a:lnTo>
                  <a:lnTo>
                    <a:pt x="357" y="10"/>
                  </a:lnTo>
                  <a:lnTo>
                    <a:pt x="356" y="12"/>
                  </a:lnTo>
                  <a:lnTo>
                    <a:pt x="351" y="10"/>
                  </a:lnTo>
                  <a:lnTo>
                    <a:pt x="357" y="13"/>
                  </a:lnTo>
                  <a:lnTo>
                    <a:pt x="365" y="18"/>
                  </a:lnTo>
                  <a:lnTo>
                    <a:pt x="361" y="25"/>
                  </a:lnTo>
                  <a:lnTo>
                    <a:pt x="356" y="28"/>
                  </a:lnTo>
                  <a:lnTo>
                    <a:pt x="343" y="25"/>
                  </a:lnTo>
                  <a:lnTo>
                    <a:pt x="337" y="28"/>
                  </a:lnTo>
                  <a:lnTo>
                    <a:pt x="333" y="34"/>
                  </a:lnTo>
                  <a:lnTo>
                    <a:pt x="330" y="31"/>
                  </a:lnTo>
                  <a:lnTo>
                    <a:pt x="327" y="35"/>
                  </a:lnTo>
                  <a:lnTo>
                    <a:pt x="321" y="45"/>
                  </a:lnTo>
                  <a:lnTo>
                    <a:pt x="320" y="48"/>
                  </a:lnTo>
                  <a:lnTo>
                    <a:pt x="314" y="54"/>
                  </a:lnTo>
                  <a:lnTo>
                    <a:pt x="307" y="67"/>
                  </a:lnTo>
                  <a:lnTo>
                    <a:pt x="312" y="70"/>
                  </a:lnTo>
                  <a:lnTo>
                    <a:pt x="314" y="72"/>
                  </a:lnTo>
                  <a:lnTo>
                    <a:pt x="309" y="78"/>
                  </a:lnTo>
                  <a:lnTo>
                    <a:pt x="315" y="84"/>
                  </a:lnTo>
                  <a:lnTo>
                    <a:pt x="303" y="75"/>
                  </a:lnTo>
                  <a:lnTo>
                    <a:pt x="301" y="78"/>
                  </a:lnTo>
                  <a:lnTo>
                    <a:pt x="290" y="73"/>
                  </a:lnTo>
                  <a:lnTo>
                    <a:pt x="288" y="82"/>
                  </a:lnTo>
                  <a:lnTo>
                    <a:pt x="284" y="82"/>
                  </a:lnTo>
                  <a:lnTo>
                    <a:pt x="282" y="85"/>
                  </a:lnTo>
                  <a:lnTo>
                    <a:pt x="282" y="81"/>
                  </a:lnTo>
                  <a:lnTo>
                    <a:pt x="285" y="70"/>
                  </a:lnTo>
                  <a:lnTo>
                    <a:pt x="270" y="54"/>
                  </a:lnTo>
                  <a:lnTo>
                    <a:pt x="269" y="58"/>
                  </a:lnTo>
                  <a:lnTo>
                    <a:pt x="261" y="60"/>
                  </a:lnTo>
                  <a:lnTo>
                    <a:pt x="260" y="58"/>
                  </a:lnTo>
                  <a:lnTo>
                    <a:pt x="258" y="60"/>
                  </a:lnTo>
                  <a:lnTo>
                    <a:pt x="254" y="60"/>
                  </a:lnTo>
                  <a:lnTo>
                    <a:pt x="251" y="70"/>
                  </a:lnTo>
                  <a:lnTo>
                    <a:pt x="248" y="65"/>
                  </a:lnTo>
                  <a:lnTo>
                    <a:pt x="240" y="73"/>
                  </a:lnTo>
                  <a:lnTo>
                    <a:pt x="241" y="79"/>
                  </a:lnTo>
                  <a:lnTo>
                    <a:pt x="235" y="78"/>
                  </a:lnTo>
                  <a:lnTo>
                    <a:pt x="237" y="87"/>
                  </a:lnTo>
                  <a:lnTo>
                    <a:pt x="230" y="83"/>
                  </a:lnTo>
                  <a:lnTo>
                    <a:pt x="225" y="90"/>
                  </a:lnTo>
                  <a:lnTo>
                    <a:pt x="227" y="91"/>
                  </a:lnTo>
                  <a:lnTo>
                    <a:pt x="229" y="91"/>
                  </a:lnTo>
                  <a:lnTo>
                    <a:pt x="224" y="95"/>
                  </a:lnTo>
                  <a:lnTo>
                    <a:pt x="224" y="100"/>
                  </a:lnTo>
                  <a:lnTo>
                    <a:pt x="228" y="101"/>
                  </a:lnTo>
                  <a:lnTo>
                    <a:pt x="219" y="101"/>
                  </a:lnTo>
                  <a:lnTo>
                    <a:pt x="216" y="101"/>
                  </a:lnTo>
                  <a:lnTo>
                    <a:pt x="212" y="100"/>
                  </a:lnTo>
                  <a:lnTo>
                    <a:pt x="210" y="103"/>
                  </a:lnTo>
                  <a:lnTo>
                    <a:pt x="212" y="112"/>
                  </a:lnTo>
                  <a:lnTo>
                    <a:pt x="209" y="114"/>
                  </a:lnTo>
                  <a:lnTo>
                    <a:pt x="209" y="129"/>
                  </a:lnTo>
                  <a:lnTo>
                    <a:pt x="204" y="115"/>
                  </a:lnTo>
                  <a:lnTo>
                    <a:pt x="199" y="102"/>
                  </a:lnTo>
                  <a:lnTo>
                    <a:pt x="194" y="107"/>
                  </a:lnTo>
                  <a:lnTo>
                    <a:pt x="183" y="121"/>
                  </a:lnTo>
                  <a:lnTo>
                    <a:pt x="183" y="133"/>
                  </a:lnTo>
                  <a:lnTo>
                    <a:pt x="168" y="150"/>
                  </a:lnTo>
                  <a:lnTo>
                    <a:pt x="156" y="157"/>
                  </a:lnTo>
                  <a:lnTo>
                    <a:pt x="144" y="165"/>
                  </a:lnTo>
                  <a:lnTo>
                    <a:pt x="126" y="168"/>
                  </a:lnTo>
                  <a:lnTo>
                    <a:pt x="111" y="173"/>
                  </a:lnTo>
                  <a:lnTo>
                    <a:pt x="97" y="178"/>
                  </a:lnTo>
                  <a:lnTo>
                    <a:pt x="92" y="175"/>
                  </a:lnTo>
                  <a:lnTo>
                    <a:pt x="71" y="190"/>
                  </a:lnTo>
                  <a:lnTo>
                    <a:pt x="50" y="204"/>
                  </a:lnTo>
                  <a:lnTo>
                    <a:pt x="43" y="210"/>
                  </a:lnTo>
                  <a:lnTo>
                    <a:pt x="44" y="199"/>
                  </a:lnTo>
                  <a:lnTo>
                    <a:pt x="37" y="216"/>
                  </a:lnTo>
                  <a:lnTo>
                    <a:pt x="29" y="235"/>
                  </a:lnTo>
                  <a:lnTo>
                    <a:pt x="27" y="251"/>
                  </a:lnTo>
                  <a:lnTo>
                    <a:pt x="29" y="264"/>
                  </a:lnTo>
                  <a:lnTo>
                    <a:pt x="30" y="276"/>
                  </a:lnTo>
                  <a:lnTo>
                    <a:pt x="26" y="280"/>
                  </a:lnTo>
                  <a:lnTo>
                    <a:pt x="26" y="275"/>
                  </a:lnTo>
                  <a:lnTo>
                    <a:pt x="21" y="267"/>
                  </a:lnTo>
                  <a:lnTo>
                    <a:pt x="21" y="285"/>
                  </a:lnTo>
                  <a:lnTo>
                    <a:pt x="18" y="277"/>
                  </a:lnTo>
                  <a:lnTo>
                    <a:pt x="17" y="276"/>
                  </a:lnTo>
                  <a:lnTo>
                    <a:pt x="19" y="293"/>
                  </a:lnTo>
                  <a:lnTo>
                    <a:pt x="21" y="310"/>
                  </a:lnTo>
                  <a:lnTo>
                    <a:pt x="23" y="325"/>
                  </a:lnTo>
                  <a:lnTo>
                    <a:pt x="25" y="341"/>
                  </a:lnTo>
                  <a:lnTo>
                    <a:pt x="24" y="354"/>
                  </a:lnTo>
                  <a:lnTo>
                    <a:pt x="23" y="367"/>
                  </a:lnTo>
                  <a:lnTo>
                    <a:pt x="20" y="381"/>
                  </a:lnTo>
                  <a:lnTo>
                    <a:pt x="19" y="393"/>
                  </a:lnTo>
                  <a:lnTo>
                    <a:pt x="8" y="411"/>
                  </a:lnTo>
                  <a:lnTo>
                    <a:pt x="1" y="413"/>
                  </a:lnTo>
                  <a:lnTo>
                    <a:pt x="0" y="424"/>
                  </a:lnTo>
                  <a:lnTo>
                    <a:pt x="11" y="430"/>
                  </a:lnTo>
                  <a:lnTo>
                    <a:pt x="21" y="437"/>
                  </a:lnTo>
                  <a:lnTo>
                    <a:pt x="41" y="435"/>
                  </a:lnTo>
                  <a:lnTo>
                    <a:pt x="60" y="427"/>
                  </a:lnTo>
                  <a:lnTo>
                    <a:pt x="62" y="425"/>
                  </a:lnTo>
                  <a:lnTo>
                    <a:pt x="72" y="418"/>
                  </a:lnTo>
                  <a:lnTo>
                    <a:pt x="89" y="418"/>
                  </a:lnTo>
                  <a:lnTo>
                    <a:pt x="105" y="418"/>
                  </a:lnTo>
                  <a:lnTo>
                    <a:pt x="127" y="417"/>
                  </a:lnTo>
                  <a:lnTo>
                    <a:pt x="141" y="402"/>
                  </a:lnTo>
                  <a:lnTo>
                    <a:pt x="162" y="395"/>
                  </a:lnTo>
                  <a:lnTo>
                    <a:pt x="181" y="387"/>
                  </a:lnTo>
                  <a:lnTo>
                    <a:pt x="200" y="383"/>
                  </a:lnTo>
                  <a:lnTo>
                    <a:pt x="219" y="379"/>
                  </a:lnTo>
                  <a:lnTo>
                    <a:pt x="239" y="377"/>
                  </a:lnTo>
                  <a:lnTo>
                    <a:pt x="258" y="373"/>
                  </a:lnTo>
                  <a:lnTo>
                    <a:pt x="269" y="377"/>
                  </a:lnTo>
                  <a:lnTo>
                    <a:pt x="290" y="385"/>
                  </a:lnTo>
                  <a:lnTo>
                    <a:pt x="294" y="390"/>
                  </a:lnTo>
                  <a:lnTo>
                    <a:pt x="296" y="395"/>
                  </a:lnTo>
                  <a:lnTo>
                    <a:pt x="299" y="402"/>
                  </a:lnTo>
                  <a:lnTo>
                    <a:pt x="300" y="414"/>
                  </a:lnTo>
                  <a:lnTo>
                    <a:pt x="301" y="426"/>
                  </a:lnTo>
                  <a:lnTo>
                    <a:pt x="299" y="426"/>
                  </a:lnTo>
                  <a:lnTo>
                    <a:pt x="306" y="433"/>
                  </a:lnTo>
                  <a:lnTo>
                    <a:pt x="308" y="431"/>
                  </a:lnTo>
                  <a:lnTo>
                    <a:pt x="326" y="415"/>
                  </a:lnTo>
                  <a:lnTo>
                    <a:pt x="344" y="401"/>
                  </a:lnTo>
                  <a:lnTo>
                    <a:pt x="351" y="393"/>
                  </a:lnTo>
                  <a:lnTo>
                    <a:pt x="348" y="406"/>
                  </a:lnTo>
                  <a:lnTo>
                    <a:pt x="337" y="420"/>
                  </a:lnTo>
                  <a:lnTo>
                    <a:pt x="326" y="435"/>
                  </a:lnTo>
                  <a:lnTo>
                    <a:pt x="319" y="439"/>
                  </a:lnTo>
                  <a:lnTo>
                    <a:pt x="330" y="439"/>
                  </a:lnTo>
                  <a:lnTo>
                    <a:pt x="343" y="423"/>
                  </a:lnTo>
                  <a:lnTo>
                    <a:pt x="347" y="431"/>
                  </a:lnTo>
                  <a:lnTo>
                    <a:pt x="335" y="445"/>
                  </a:lnTo>
                  <a:lnTo>
                    <a:pt x="343" y="445"/>
                  </a:lnTo>
                  <a:lnTo>
                    <a:pt x="347" y="447"/>
                  </a:lnTo>
                  <a:lnTo>
                    <a:pt x="350" y="454"/>
                  </a:lnTo>
                  <a:lnTo>
                    <a:pt x="344" y="471"/>
                  </a:lnTo>
                  <a:lnTo>
                    <a:pt x="345" y="489"/>
                  </a:lnTo>
                  <a:lnTo>
                    <a:pt x="360" y="495"/>
                  </a:lnTo>
                  <a:lnTo>
                    <a:pt x="371" y="499"/>
                  </a:lnTo>
                  <a:lnTo>
                    <a:pt x="381" y="503"/>
                  </a:lnTo>
                  <a:lnTo>
                    <a:pt x="403" y="495"/>
                  </a:lnTo>
                  <a:lnTo>
                    <a:pt x="403" y="492"/>
                  </a:lnTo>
                  <a:lnTo>
                    <a:pt x="413" y="489"/>
                  </a:lnTo>
                  <a:lnTo>
                    <a:pt x="407" y="496"/>
                  </a:lnTo>
                  <a:lnTo>
                    <a:pt x="410" y="497"/>
                  </a:lnTo>
                  <a:lnTo>
                    <a:pt x="416" y="497"/>
                  </a:lnTo>
                  <a:lnTo>
                    <a:pt x="419" y="505"/>
                  </a:lnTo>
                  <a:lnTo>
                    <a:pt x="422" y="508"/>
                  </a:lnTo>
                  <a:lnTo>
                    <a:pt x="426" y="502"/>
                  </a:lnTo>
                  <a:lnTo>
                    <a:pt x="455" y="487"/>
                  </a:lnTo>
                  <a:lnTo>
                    <a:pt x="469" y="486"/>
                  </a:lnTo>
                  <a:lnTo>
                    <a:pt x="488" y="480"/>
                  </a:lnTo>
                  <a:lnTo>
                    <a:pt x="495" y="471"/>
                  </a:lnTo>
                  <a:lnTo>
                    <a:pt x="512" y="453"/>
                  </a:lnTo>
                  <a:lnTo>
                    <a:pt x="529" y="435"/>
                  </a:lnTo>
                  <a:lnTo>
                    <a:pt x="543" y="415"/>
                  </a:lnTo>
                  <a:lnTo>
                    <a:pt x="549" y="409"/>
                  </a:lnTo>
                  <a:lnTo>
                    <a:pt x="567" y="395"/>
                  </a:lnTo>
                  <a:lnTo>
                    <a:pt x="573" y="390"/>
                  </a:lnTo>
                  <a:lnTo>
                    <a:pt x="587" y="375"/>
                  </a:lnTo>
                  <a:lnTo>
                    <a:pt x="599" y="358"/>
                  </a:lnTo>
                  <a:lnTo>
                    <a:pt x="611" y="341"/>
                  </a:lnTo>
                  <a:lnTo>
                    <a:pt x="620" y="324"/>
                  </a:lnTo>
                  <a:lnTo>
                    <a:pt x="621" y="311"/>
                  </a:lnTo>
                  <a:lnTo>
                    <a:pt x="621" y="299"/>
                  </a:lnTo>
                  <a:lnTo>
                    <a:pt x="626" y="285"/>
                  </a:lnTo>
                  <a:lnTo>
                    <a:pt x="630" y="270"/>
                  </a:lnTo>
                  <a:lnTo>
                    <a:pt x="629" y="259"/>
                  </a:lnTo>
                  <a:lnTo>
                    <a:pt x="623" y="250"/>
                  </a:lnTo>
                  <a:lnTo>
                    <a:pt x="617" y="240"/>
                  </a:lnTo>
                  <a:lnTo>
                    <a:pt x="607" y="229"/>
                  </a:lnTo>
                  <a:lnTo>
                    <a:pt x="611" y="208"/>
                  </a:lnTo>
                  <a:lnTo>
                    <a:pt x="608" y="213"/>
                  </a:lnTo>
                  <a:lnTo>
                    <a:pt x="601" y="205"/>
                  </a:lnTo>
                  <a:lnTo>
                    <a:pt x="599" y="213"/>
                  </a:lnTo>
                  <a:lnTo>
                    <a:pt x="594" y="208"/>
                  </a:lnTo>
                  <a:lnTo>
                    <a:pt x="594" y="193"/>
                  </a:lnTo>
                  <a:lnTo>
                    <a:pt x="588" y="179"/>
                  </a:lnTo>
                  <a:lnTo>
                    <a:pt x="590" y="174"/>
                  </a:lnTo>
                  <a:lnTo>
                    <a:pt x="585" y="169"/>
                  </a:lnTo>
                  <a:lnTo>
                    <a:pt x="575" y="157"/>
                  </a:lnTo>
                  <a:lnTo>
                    <a:pt x="557" y="144"/>
                  </a:lnTo>
                  <a:lnTo>
                    <a:pt x="557" y="127"/>
                  </a:lnTo>
                  <a:lnTo>
                    <a:pt x="557" y="111"/>
                  </a:lnTo>
                  <a:lnTo>
                    <a:pt x="553" y="97"/>
                  </a:lnTo>
                  <a:lnTo>
                    <a:pt x="555" y="81"/>
                  </a:lnTo>
                  <a:lnTo>
                    <a:pt x="552" y="73"/>
                  </a:lnTo>
                  <a:lnTo>
                    <a:pt x="543" y="64"/>
                  </a:lnTo>
                  <a:lnTo>
                    <a:pt x="533" y="65"/>
                  </a:lnTo>
                  <a:lnTo>
                    <a:pt x="531" y="53"/>
                  </a:lnTo>
                  <a:lnTo>
                    <a:pt x="530" y="40"/>
                  </a:lnTo>
                  <a:lnTo>
                    <a:pt x="529" y="24"/>
                  </a:lnTo>
                  <a:lnTo>
                    <a:pt x="525" y="13"/>
                  </a:lnTo>
                  <a:lnTo>
                    <a:pt x="522" y="5"/>
                  </a:lnTo>
                  <a:lnTo>
                    <a:pt x="521" y="0"/>
                  </a:lnTo>
                  <a:lnTo>
                    <a:pt x="512" y="16"/>
                  </a:lnTo>
                  <a:lnTo>
                    <a:pt x="509" y="23"/>
                  </a:lnTo>
                  <a:lnTo>
                    <a:pt x="505" y="33"/>
                  </a:lnTo>
                  <a:lnTo>
                    <a:pt x="507" y="34"/>
                  </a:lnTo>
                  <a:lnTo>
                    <a:pt x="507" y="36"/>
                  </a:lnTo>
                  <a:lnTo>
                    <a:pt x="503" y="43"/>
                  </a:lnTo>
                  <a:lnTo>
                    <a:pt x="501" y="51"/>
                  </a:lnTo>
                  <a:lnTo>
                    <a:pt x="499" y="51"/>
                  </a:lnTo>
                  <a:lnTo>
                    <a:pt x="498" y="66"/>
                  </a:lnTo>
                  <a:lnTo>
                    <a:pt x="497" y="81"/>
                  </a:lnTo>
                  <a:lnTo>
                    <a:pt x="485" y="101"/>
                  </a:lnTo>
                  <a:lnTo>
                    <a:pt x="474" y="121"/>
                  </a:lnTo>
                  <a:lnTo>
                    <a:pt x="462" y="124"/>
                  </a:lnTo>
                  <a:lnTo>
                    <a:pt x="451" y="114"/>
                  </a:lnTo>
                  <a:lnTo>
                    <a:pt x="435" y="103"/>
                  </a:lnTo>
                  <a:lnTo>
                    <a:pt x="419" y="93"/>
                  </a:lnTo>
                  <a:lnTo>
                    <a:pt x="410" y="82"/>
                  </a:lnTo>
                  <a:lnTo>
                    <a:pt x="401" y="72"/>
                  </a:lnTo>
                  <a:lnTo>
                    <a:pt x="411" y="54"/>
                  </a:lnTo>
                  <a:lnTo>
                    <a:pt x="416" y="43"/>
                  </a:lnTo>
                  <a:lnTo>
                    <a:pt x="419" y="46"/>
                  </a:lnTo>
                  <a:lnTo>
                    <a:pt x="422" y="40"/>
                  </a:lnTo>
                  <a:lnTo>
                    <a:pt x="429" y="29"/>
                  </a:lnTo>
                  <a:lnTo>
                    <a:pt x="422" y="23"/>
                  </a:lnTo>
                  <a:lnTo>
                    <a:pt x="416" y="31"/>
                  </a:lnTo>
                  <a:lnTo>
                    <a:pt x="415" y="27"/>
                  </a:lnTo>
                  <a:lnTo>
                    <a:pt x="410" y="27"/>
                  </a:lnTo>
                  <a:lnTo>
                    <a:pt x="413" y="23"/>
                  </a:lnTo>
                  <a:lnTo>
                    <a:pt x="398" y="27"/>
                  </a:lnTo>
                  <a:lnTo>
                    <a:pt x="387" y="24"/>
                  </a:lnTo>
                  <a:lnTo>
                    <a:pt x="380" y="19"/>
                  </a:lnTo>
                  <a:lnTo>
                    <a:pt x="369"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3" name="Freeform 182"/>
            <p:cNvSpPr>
              <a:spLocks/>
            </p:cNvSpPr>
            <p:nvPr/>
          </p:nvSpPr>
          <p:spPr bwMode="auto">
            <a:xfrm>
              <a:off x="4860" y="3518"/>
              <a:ext cx="69" cy="56"/>
            </a:xfrm>
            <a:custGeom>
              <a:avLst/>
              <a:gdLst/>
              <a:ahLst/>
              <a:cxnLst>
                <a:cxn ang="0">
                  <a:pos x="25" y="38"/>
                </a:cxn>
                <a:cxn ang="0">
                  <a:pos x="7" y="50"/>
                </a:cxn>
                <a:cxn ang="0">
                  <a:pos x="0" y="46"/>
                </a:cxn>
                <a:cxn ang="0">
                  <a:pos x="1" y="44"/>
                </a:cxn>
                <a:cxn ang="0">
                  <a:pos x="1" y="29"/>
                </a:cxn>
                <a:cxn ang="0">
                  <a:pos x="4" y="26"/>
                </a:cxn>
                <a:cxn ang="0">
                  <a:pos x="5" y="28"/>
                </a:cxn>
                <a:cxn ang="0">
                  <a:pos x="7" y="16"/>
                </a:cxn>
                <a:cxn ang="0">
                  <a:pos x="9" y="2"/>
                </a:cxn>
                <a:cxn ang="0">
                  <a:pos x="13" y="0"/>
                </a:cxn>
                <a:cxn ang="0">
                  <a:pos x="27" y="5"/>
                </a:cxn>
                <a:cxn ang="0">
                  <a:pos x="40" y="11"/>
                </a:cxn>
                <a:cxn ang="0">
                  <a:pos x="43" y="4"/>
                </a:cxn>
                <a:cxn ang="0">
                  <a:pos x="63" y="2"/>
                </a:cxn>
                <a:cxn ang="0">
                  <a:pos x="48" y="25"/>
                </a:cxn>
                <a:cxn ang="0">
                  <a:pos x="46" y="24"/>
                </a:cxn>
                <a:cxn ang="0">
                  <a:pos x="28" y="43"/>
                </a:cxn>
                <a:cxn ang="0">
                  <a:pos x="30" y="40"/>
                </a:cxn>
                <a:cxn ang="0">
                  <a:pos x="27" y="40"/>
                </a:cxn>
                <a:cxn ang="0">
                  <a:pos x="25" y="38"/>
                </a:cxn>
              </a:cxnLst>
              <a:rect l="0" t="0" r="r" b="b"/>
              <a:pathLst>
                <a:path w="63" h="50">
                  <a:moveTo>
                    <a:pt x="25" y="38"/>
                  </a:moveTo>
                  <a:lnTo>
                    <a:pt x="7" y="50"/>
                  </a:lnTo>
                  <a:lnTo>
                    <a:pt x="0" y="46"/>
                  </a:lnTo>
                  <a:lnTo>
                    <a:pt x="1" y="44"/>
                  </a:lnTo>
                  <a:lnTo>
                    <a:pt x="1" y="29"/>
                  </a:lnTo>
                  <a:lnTo>
                    <a:pt x="4" y="26"/>
                  </a:lnTo>
                  <a:lnTo>
                    <a:pt x="5" y="28"/>
                  </a:lnTo>
                  <a:lnTo>
                    <a:pt x="7" y="16"/>
                  </a:lnTo>
                  <a:lnTo>
                    <a:pt x="9" y="2"/>
                  </a:lnTo>
                  <a:lnTo>
                    <a:pt x="13" y="0"/>
                  </a:lnTo>
                  <a:lnTo>
                    <a:pt x="27" y="5"/>
                  </a:lnTo>
                  <a:lnTo>
                    <a:pt x="40" y="11"/>
                  </a:lnTo>
                  <a:lnTo>
                    <a:pt x="43" y="4"/>
                  </a:lnTo>
                  <a:lnTo>
                    <a:pt x="63" y="2"/>
                  </a:lnTo>
                  <a:lnTo>
                    <a:pt x="48" y="25"/>
                  </a:lnTo>
                  <a:lnTo>
                    <a:pt x="46" y="24"/>
                  </a:lnTo>
                  <a:lnTo>
                    <a:pt x="28" y="43"/>
                  </a:lnTo>
                  <a:lnTo>
                    <a:pt x="30" y="40"/>
                  </a:lnTo>
                  <a:lnTo>
                    <a:pt x="27" y="40"/>
                  </a:lnTo>
                  <a:lnTo>
                    <a:pt x="25"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4" name="Freeform 183"/>
            <p:cNvSpPr>
              <a:spLocks/>
            </p:cNvSpPr>
            <p:nvPr/>
          </p:nvSpPr>
          <p:spPr bwMode="auto">
            <a:xfrm>
              <a:off x="5613" y="3052"/>
              <a:ext cx="22" cy="15"/>
            </a:xfrm>
            <a:custGeom>
              <a:avLst/>
              <a:gdLst/>
              <a:ahLst/>
              <a:cxnLst>
                <a:cxn ang="0">
                  <a:pos x="21" y="13"/>
                </a:cxn>
                <a:cxn ang="0">
                  <a:pos x="0" y="14"/>
                </a:cxn>
                <a:cxn ang="0">
                  <a:pos x="1" y="7"/>
                </a:cxn>
                <a:cxn ang="0">
                  <a:pos x="16" y="0"/>
                </a:cxn>
                <a:cxn ang="0">
                  <a:pos x="21" y="12"/>
                </a:cxn>
                <a:cxn ang="0">
                  <a:pos x="21" y="13"/>
                </a:cxn>
              </a:cxnLst>
              <a:rect l="0" t="0" r="r" b="b"/>
              <a:pathLst>
                <a:path w="21" h="14">
                  <a:moveTo>
                    <a:pt x="21" y="13"/>
                  </a:moveTo>
                  <a:lnTo>
                    <a:pt x="0" y="14"/>
                  </a:lnTo>
                  <a:lnTo>
                    <a:pt x="1" y="7"/>
                  </a:lnTo>
                  <a:lnTo>
                    <a:pt x="16" y="0"/>
                  </a:lnTo>
                  <a:lnTo>
                    <a:pt x="21" y="12"/>
                  </a:lnTo>
                  <a:lnTo>
                    <a:pt x="21"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5" name="Freeform 184"/>
            <p:cNvSpPr>
              <a:spLocks/>
            </p:cNvSpPr>
            <p:nvPr/>
          </p:nvSpPr>
          <p:spPr bwMode="auto">
            <a:xfrm>
              <a:off x="5640" y="3030"/>
              <a:ext cx="24" cy="13"/>
            </a:xfrm>
            <a:custGeom>
              <a:avLst/>
              <a:gdLst/>
              <a:ahLst/>
              <a:cxnLst>
                <a:cxn ang="0">
                  <a:pos x="16" y="8"/>
                </a:cxn>
                <a:cxn ang="0">
                  <a:pos x="22" y="0"/>
                </a:cxn>
                <a:cxn ang="0">
                  <a:pos x="0" y="7"/>
                </a:cxn>
                <a:cxn ang="0">
                  <a:pos x="0" y="12"/>
                </a:cxn>
                <a:cxn ang="0">
                  <a:pos x="16" y="8"/>
                </a:cxn>
              </a:cxnLst>
              <a:rect l="0" t="0" r="r" b="b"/>
              <a:pathLst>
                <a:path w="22" h="12">
                  <a:moveTo>
                    <a:pt x="16" y="8"/>
                  </a:moveTo>
                  <a:lnTo>
                    <a:pt x="22" y="0"/>
                  </a:lnTo>
                  <a:lnTo>
                    <a:pt x="0" y="7"/>
                  </a:lnTo>
                  <a:lnTo>
                    <a:pt x="0" y="12"/>
                  </a:lnTo>
                  <a:lnTo>
                    <a:pt x="16" y="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6" name="Freeform 185"/>
            <p:cNvSpPr>
              <a:spLocks/>
            </p:cNvSpPr>
            <p:nvPr/>
          </p:nvSpPr>
          <p:spPr bwMode="auto">
            <a:xfrm>
              <a:off x="5373" y="3107"/>
              <a:ext cx="38" cy="43"/>
            </a:xfrm>
            <a:custGeom>
              <a:avLst/>
              <a:gdLst/>
              <a:ahLst/>
              <a:cxnLst>
                <a:cxn ang="0">
                  <a:pos x="35" y="38"/>
                </a:cxn>
                <a:cxn ang="0">
                  <a:pos x="27" y="36"/>
                </a:cxn>
                <a:cxn ang="0">
                  <a:pos x="13" y="24"/>
                </a:cxn>
                <a:cxn ang="0">
                  <a:pos x="1" y="11"/>
                </a:cxn>
                <a:cxn ang="0">
                  <a:pos x="0" y="0"/>
                </a:cxn>
                <a:cxn ang="0">
                  <a:pos x="9" y="10"/>
                </a:cxn>
                <a:cxn ang="0">
                  <a:pos x="18" y="18"/>
                </a:cxn>
                <a:cxn ang="0">
                  <a:pos x="27" y="28"/>
                </a:cxn>
                <a:cxn ang="0">
                  <a:pos x="35" y="38"/>
                </a:cxn>
              </a:cxnLst>
              <a:rect l="0" t="0" r="r" b="b"/>
              <a:pathLst>
                <a:path w="35" h="38">
                  <a:moveTo>
                    <a:pt x="35" y="38"/>
                  </a:moveTo>
                  <a:lnTo>
                    <a:pt x="27" y="36"/>
                  </a:lnTo>
                  <a:lnTo>
                    <a:pt x="13" y="24"/>
                  </a:lnTo>
                  <a:lnTo>
                    <a:pt x="1" y="11"/>
                  </a:lnTo>
                  <a:lnTo>
                    <a:pt x="0" y="0"/>
                  </a:lnTo>
                  <a:lnTo>
                    <a:pt x="9" y="10"/>
                  </a:lnTo>
                  <a:lnTo>
                    <a:pt x="18" y="18"/>
                  </a:lnTo>
                  <a:lnTo>
                    <a:pt x="27" y="28"/>
                  </a:lnTo>
                  <a:lnTo>
                    <a:pt x="35"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7" name="Freeform 186"/>
            <p:cNvSpPr>
              <a:spLocks/>
            </p:cNvSpPr>
            <p:nvPr/>
          </p:nvSpPr>
          <p:spPr bwMode="auto">
            <a:xfrm>
              <a:off x="5146" y="3514"/>
              <a:ext cx="198" cy="120"/>
            </a:xfrm>
            <a:custGeom>
              <a:avLst/>
              <a:gdLst/>
              <a:ahLst/>
              <a:cxnLst>
                <a:cxn ang="0">
                  <a:pos x="117" y="59"/>
                </a:cxn>
                <a:cxn ang="0">
                  <a:pos x="111" y="48"/>
                </a:cxn>
                <a:cxn ang="0">
                  <a:pos x="109" y="48"/>
                </a:cxn>
                <a:cxn ang="0">
                  <a:pos x="105" y="51"/>
                </a:cxn>
                <a:cxn ang="0">
                  <a:pos x="111" y="60"/>
                </a:cxn>
                <a:cxn ang="0">
                  <a:pos x="99" y="64"/>
                </a:cxn>
                <a:cxn ang="0">
                  <a:pos x="90" y="65"/>
                </a:cxn>
                <a:cxn ang="0">
                  <a:pos x="88" y="72"/>
                </a:cxn>
                <a:cxn ang="0">
                  <a:pos x="82" y="78"/>
                </a:cxn>
                <a:cxn ang="0">
                  <a:pos x="82" y="79"/>
                </a:cxn>
                <a:cxn ang="0">
                  <a:pos x="61" y="95"/>
                </a:cxn>
                <a:cxn ang="0">
                  <a:pos x="27" y="109"/>
                </a:cxn>
                <a:cxn ang="0">
                  <a:pos x="19" y="106"/>
                </a:cxn>
                <a:cxn ang="0">
                  <a:pos x="6" y="102"/>
                </a:cxn>
                <a:cxn ang="0">
                  <a:pos x="1" y="100"/>
                </a:cxn>
                <a:cxn ang="0">
                  <a:pos x="3" y="99"/>
                </a:cxn>
                <a:cxn ang="0">
                  <a:pos x="0" y="97"/>
                </a:cxn>
                <a:cxn ang="0">
                  <a:pos x="9" y="91"/>
                </a:cxn>
                <a:cxn ang="0">
                  <a:pos x="12" y="89"/>
                </a:cxn>
                <a:cxn ang="0">
                  <a:pos x="17" y="85"/>
                </a:cxn>
                <a:cxn ang="0">
                  <a:pos x="18" y="87"/>
                </a:cxn>
                <a:cxn ang="0">
                  <a:pos x="24" y="79"/>
                </a:cxn>
                <a:cxn ang="0">
                  <a:pos x="30" y="77"/>
                </a:cxn>
                <a:cxn ang="0">
                  <a:pos x="40" y="73"/>
                </a:cxn>
                <a:cxn ang="0">
                  <a:pos x="59" y="63"/>
                </a:cxn>
                <a:cxn ang="0">
                  <a:pos x="67" y="60"/>
                </a:cxn>
                <a:cxn ang="0">
                  <a:pos x="95" y="47"/>
                </a:cxn>
                <a:cxn ang="0">
                  <a:pos x="108" y="41"/>
                </a:cxn>
                <a:cxn ang="0">
                  <a:pos x="125" y="31"/>
                </a:cxn>
                <a:cxn ang="0">
                  <a:pos x="120" y="31"/>
                </a:cxn>
                <a:cxn ang="0">
                  <a:pos x="132" y="23"/>
                </a:cxn>
                <a:cxn ang="0">
                  <a:pos x="162" y="3"/>
                </a:cxn>
                <a:cxn ang="0">
                  <a:pos x="169" y="0"/>
                </a:cxn>
                <a:cxn ang="0">
                  <a:pos x="162" y="4"/>
                </a:cxn>
                <a:cxn ang="0">
                  <a:pos x="161" y="12"/>
                </a:cxn>
                <a:cxn ang="0">
                  <a:pos x="175" y="7"/>
                </a:cxn>
                <a:cxn ang="0">
                  <a:pos x="173" y="11"/>
                </a:cxn>
                <a:cxn ang="0">
                  <a:pos x="175" y="12"/>
                </a:cxn>
                <a:cxn ang="0">
                  <a:pos x="174" y="13"/>
                </a:cxn>
                <a:cxn ang="0">
                  <a:pos x="179" y="12"/>
                </a:cxn>
                <a:cxn ang="0">
                  <a:pos x="171" y="21"/>
                </a:cxn>
                <a:cxn ang="0">
                  <a:pos x="151" y="34"/>
                </a:cxn>
                <a:cxn ang="0">
                  <a:pos x="132" y="46"/>
                </a:cxn>
                <a:cxn ang="0">
                  <a:pos x="124" y="49"/>
                </a:cxn>
                <a:cxn ang="0">
                  <a:pos x="123" y="52"/>
                </a:cxn>
                <a:cxn ang="0">
                  <a:pos x="117" y="52"/>
                </a:cxn>
                <a:cxn ang="0">
                  <a:pos x="123" y="55"/>
                </a:cxn>
                <a:cxn ang="0">
                  <a:pos x="124" y="60"/>
                </a:cxn>
                <a:cxn ang="0">
                  <a:pos x="117" y="59"/>
                </a:cxn>
              </a:cxnLst>
              <a:rect l="0" t="0" r="r" b="b"/>
              <a:pathLst>
                <a:path w="179" h="109">
                  <a:moveTo>
                    <a:pt x="117" y="59"/>
                  </a:moveTo>
                  <a:lnTo>
                    <a:pt x="111" y="48"/>
                  </a:lnTo>
                  <a:lnTo>
                    <a:pt x="109" y="48"/>
                  </a:lnTo>
                  <a:lnTo>
                    <a:pt x="105" y="51"/>
                  </a:lnTo>
                  <a:lnTo>
                    <a:pt x="111" y="60"/>
                  </a:lnTo>
                  <a:lnTo>
                    <a:pt x="99" y="64"/>
                  </a:lnTo>
                  <a:lnTo>
                    <a:pt x="90" y="65"/>
                  </a:lnTo>
                  <a:lnTo>
                    <a:pt x="88" y="72"/>
                  </a:lnTo>
                  <a:lnTo>
                    <a:pt x="82" y="78"/>
                  </a:lnTo>
                  <a:lnTo>
                    <a:pt x="82" y="79"/>
                  </a:lnTo>
                  <a:lnTo>
                    <a:pt x="61" y="95"/>
                  </a:lnTo>
                  <a:lnTo>
                    <a:pt x="27" y="109"/>
                  </a:lnTo>
                  <a:lnTo>
                    <a:pt x="19" y="106"/>
                  </a:lnTo>
                  <a:lnTo>
                    <a:pt x="6" y="102"/>
                  </a:lnTo>
                  <a:lnTo>
                    <a:pt x="1" y="100"/>
                  </a:lnTo>
                  <a:lnTo>
                    <a:pt x="3" y="99"/>
                  </a:lnTo>
                  <a:lnTo>
                    <a:pt x="0" y="97"/>
                  </a:lnTo>
                  <a:lnTo>
                    <a:pt x="9" y="91"/>
                  </a:lnTo>
                  <a:lnTo>
                    <a:pt x="12" y="89"/>
                  </a:lnTo>
                  <a:lnTo>
                    <a:pt x="17" y="85"/>
                  </a:lnTo>
                  <a:lnTo>
                    <a:pt x="18" y="87"/>
                  </a:lnTo>
                  <a:lnTo>
                    <a:pt x="24" y="79"/>
                  </a:lnTo>
                  <a:lnTo>
                    <a:pt x="30" y="77"/>
                  </a:lnTo>
                  <a:lnTo>
                    <a:pt x="40" y="73"/>
                  </a:lnTo>
                  <a:lnTo>
                    <a:pt x="59" y="63"/>
                  </a:lnTo>
                  <a:lnTo>
                    <a:pt x="67" y="60"/>
                  </a:lnTo>
                  <a:lnTo>
                    <a:pt x="95" y="47"/>
                  </a:lnTo>
                  <a:lnTo>
                    <a:pt x="108" y="41"/>
                  </a:lnTo>
                  <a:lnTo>
                    <a:pt x="125" y="31"/>
                  </a:lnTo>
                  <a:lnTo>
                    <a:pt x="120" y="31"/>
                  </a:lnTo>
                  <a:lnTo>
                    <a:pt x="132" y="23"/>
                  </a:lnTo>
                  <a:lnTo>
                    <a:pt x="162" y="3"/>
                  </a:lnTo>
                  <a:lnTo>
                    <a:pt x="169" y="0"/>
                  </a:lnTo>
                  <a:lnTo>
                    <a:pt x="162" y="4"/>
                  </a:lnTo>
                  <a:lnTo>
                    <a:pt x="161" y="12"/>
                  </a:lnTo>
                  <a:lnTo>
                    <a:pt x="175" y="7"/>
                  </a:lnTo>
                  <a:lnTo>
                    <a:pt x="173" y="11"/>
                  </a:lnTo>
                  <a:lnTo>
                    <a:pt x="175" y="12"/>
                  </a:lnTo>
                  <a:lnTo>
                    <a:pt x="174" y="13"/>
                  </a:lnTo>
                  <a:lnTo>
                    <a:pt x="179" y="12"/>
                  </a:lnTo>
                  <a:lnTo>
                    <a:pt x="171" y="21"/>
                  </a:lnTo>
                  <a:lnTo>
                    <a:pt x="151" y="34"/>
                  </a:lnTo>
                  <a:lnTo>
                    <a:pt x="132" y="46"/>
                  </a:lnTo>
                  <a:lnTo>
                    <a:pt x="124" y="49"/>
                  </a:lnTo>
                  <a:lnTo>
                    <a:pt x="123" y="52"/>
                  </a:lnTo>
                  <a:lnTo>
                    <a:pt x="117" y="52"/>
                  </a:lnTo>
                  <a:lnTo>
                    <a:pt x="123" y="55"/>
                  </a:lnTo>
                  <a:lnTo>
                    <a:pt x="124" y="60"/>
                  </a:lnTo>
                  <a:lnTo>
                    <a:pt x="117" y="5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8" name="Freeform 187"/>
            <p:cNvSpPr>
              <a:spLocks/>
            </p:cNvSpPr>
            <p:nvPr/>
          </p:nvSpPr>
          <p:spPr bwMode="auto">
            <a:xfrm>
              <a:off x="5348" y="3394"/>
              <a:ext cx="114" cy="140"/>
            </a:xfrm>
            <a:custGeom>
              <a:avLst/>
              <a:gdLst/>
              <a:ahLst/>
              <a:cxnLst>
                <a:cxn ang="0">
                  <a:pos x="12" y="85"/>
                </a:cxn>
                <a:cxn ang="0">
                  <a:pos x="18" y="94"/>
                </a:cxn>
                <a:cxn ang="0">
                  <a:pos x="23" y="102"/>
                </a:cxn>
                <a:cxn ang="0">
                  <a:pos x="0" y="123"/>
                </a:cxn>
                <a:cxn ang="0">
                  <a:pos x="3" y="127"/>
                </a:cxn>
                <a:cxn ang="0">
                  <a:pos x="25" y="114"/>
                </a:cxn>
                <a:cxn ang="0">
                  <a:pos x="48" y="101"/>
                </a:cxn>
                <a:cxn ang="0">
                  <a:pos x="59" y="88"/>
                </a:cxn>
                <a:cxn ang="0">
                  <a:pos x="74" y="83"/>
                </a:cxn>
                <a:cxn ang="0">
                  <a:pos x="81" y="76"/>
                </a:cxn>
                <a:cxn ang="0">
                  <a:pos x="102" y="58"/>
                </a:cxn>
                <a:cxn ang="0">
                  <a:pos x="99" y="57"/>
                </a:cxn>
                <a:cxn ang="0">
                  <a:pos x="83" y="63"/>
                </a:cxn>
                <a:cxn ang="0">
                  <a:pos x="66" y="54"/>
                </a:cxn>
                <a:cxn ang="0">
                  <a:pos x="71" y="36"/>
                </a:cxn>
                <a:cxn ang="0">
                  <a:pos x="65" y="47"/>
                </a:cxn>
                <a:cxn ang="0">
                  <a:pos x="56" y="42"/>
                </a:cxn>
                <a:cxn ang="0">
                  <a:pos x="59" y="36"/>
                </a:cxn>
                <a:cxn ang="0">
                  <a:pos x="63" y="23"/>
                </a:cxn>
                <a:cxn ang="0">
                  <a:pos x="67" y="16"/>
                </a:cxn>
                <a:cxn ang="0">
                  <a:pos x="65" y="16"/>
                </a:cxn>
                <a:cxn ang="0">
                  <a:pos x="57" y="7"/>
                </a:cxn>
                <a:cxn ang="0">
                  <a:pos x="54" y="1"/>
                </a:cxn>
                <a:cxn ang="0">
                  <a:pos x="54" y="0"/>
                </a:cxn>
                <a:cxn ang="0">
                  <a:pos x="51" y="12"/>
                </a:cxn>
                <a:cxn ang="0">
                  <a:pos x="54" y="17"/>
                </a:cxn>
                <a:cxn ang="0">
                  <a:pos x="50" y="34"/>
                </a:cxn>
                <a:cxn ang="0">
                  <a:pos x="53" y="27"/>
                </a:cxn>
                <a:cxn ang="0">
                  <a:pos x="55" y="30"/>
                </a:cxn>
                <a:cxn ang="0">
                  <a:pos x="55" y="33"/>
                </a:cxn>
                <a:cxn ang="0">
                  <a:pos x="53" y="37"/>
                </a:cxn>
                <a:cxn ang="0">
                  <a:pos x="49" y="46"/>
                </a:cxn>
                <a:cxn ang="0">
                  <a:pos x="55" y="45"/>
                </a:cxn>
                <a:cxn ang="0">
                  <a:pos x="51" y="48"/>
                </a:cxn>
                <a:cxn ang="0">
                  <a:pos x="47" y="57"/>
                </a:cxn>
                <a:cxn ang="0">
                  <a:pos x="32" y="76"/>
                </a:cxn>
                <a:cxn ang="0">
                  <a:pos x="12" y="85"/>
                </a:cxn>
              </a:cxnLst>
              <a:rect l="0" t="0" r="r" b="b"/>
              <a:pathLst>
                <a:path w="102" h="127">
                  <a:moveTo>
                    <a:pt x="12" y="85"/>
                  </a:moveTo>
                  <a:lnTo>
                    <a:pt x="18" y="94"/>
                  </a:lnTo>
                  <a:lnTo>
                    <a:pt x="23" y="102"/>
                  </a:lnTo>
                  <a:lnTo>
                    <a:pt x="0" y="123"/>
                  </a:lnTo>
                  <a:lnTo>
                    <a:pt x="3" y="127"/>
                  </a:lnTo>
                  <a:lnTo>
                    <a:pt x="25" y="114"/>
                  </a:lnTo>
                  <a:lnTo>
                    <a:pt x="48" y="101"/>
                  </a:lnTo>
                  <a:lnTo>
                    <a:pt x="59" y="88"/>
                  </a:lnTo>
                  <a:lnTo>
                    <a:pt x="74" y="83"/>
                  </a:lnTo>
                  <a:lnTo>
                    <a:pt x="81" y="76"/>
                  </a:lnTo>
                  <a:lnTo>
                    <a:pt x="102" y="58"/>
                  </a:lnTo>
                  <a:lnTo>
                    <a:pt x="99" y="57"/>
                  </a:lnTo>
                  <a:lnTo>
                    <a:pt x="83" y="63"/>
                  </a:lnTo>
                  <a:lnTo>
                    <a:pt x="66" y="54"/>
                  </a:lnTo>
                  <a:lnTo>
                    <a:pt x="71" y="36"/>
                  </a:lnTo>
                  <a:lnTo>
                    <a:pt x="65" y="47"/>
                  </a:lnTo>
                  <a:lnTo>
                    <a:pt x="56" y="42"/>
                  </a:lnTo>
                  <a:lnTo>
                    <a:pt x="59" y="36"/>
                  </a:lnTo>
                  <a:lnTo>
                    <a:pt x="63" y="23"/>
                  </a:lnTo>
                  <a:lnTo>
                    <a:pt x="67" y="16"/>
                  </a:lnTo>
                  <a:lnTo>
                    <a:pt x="65" y="16"/>
                  </a:lnTo>
                  <a:lnTo>
                    <a:pt x="57" y="7"/>
                  </a:lnTo>
                  <a:lnTo>
                    <a:pt x="54" y="1"/>
                  </a:lnTo>
                  <a:lnTo>
                    <a:pt x="54" y="0"/>
                  </a:lnTo>
                  <a:lnTo>
                    <a:pt x="51" y="12"/>
                  </a:lnTo>
                  <a:lnTo>
                    <a:pt x="54" y="17"/>
                  </a:lnTo>
                  <a:lnTo>
                    <a:pt x="50" y="34"/>
                  </a:lnTo>
                  <a:lnTo>
                    <a:pt x="53" y="27"/>
                  </a:lnTo>
                  <a:lnTo>
                    <a:pt x="55" y="30"/>
                  </a:lnTo>
                  <a:lnTo>
                    <a:pt x="55" y="33"/>
                  </a:lnTo>
                  <a:lnTo>
                    <a:pt x="53" y="37"/>
                  </a:lnTo>
                  <a:lnTo>
                    <a:pt x="49" y="46"/>
                  </a:lnTo>
                  <a:lnTo>
                    <a:pt x="55" y="45"/>
                  </a:lnTo>
                  <a:lnTo>
                    <a:pt x="51" y="48"/>
                  </a:lnTo>
                  <a:lnTo>
                    <a:pt x="47" y="57"/>
                  </a:lnTo>
                  <a:lnTo>
                    <a:pt x="32" y="76"/>
                  </a:lnTo>
                  <a:lnTo>
                    <a:pt x="12" y="8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9" name="Freeform 188"/>
            <p:cNvSpPr>
              <a:spLocks/>
            </p:cNvSpPr>
            <p:nvPr/>
          </p:nvSpPr>
          <p:spPr bwMode="auto">
            <a:xfrm>
              <a:off x="5144" y="3636"/>
              <a:ext cx="11" cy="7"/>
            </a:xfrm>
            <a:custGeom>
              <a:avLst/>
              <a:gdLst/>
              <a:ahLst/>
              <a:cxnLst>
                <a:cxn ang="0">
                  <a:pos x="11" y="3"/>
                </a:cxn>
                <a:cxn ang="0">
                  <a:pos x="11" y="1"/>
                </a:cxn>
                <a:cxn ang="0">
                  <a:pos x="6" y="0"/>
                </a:cxn>
                <a:cxn ang="0">
                  <a:pos x="0" y="6"/>
                </a:cxn>
                <a:cxn ang="0">
                  <a:pos x="11" y="3"/>
                </a:cxn>
              </a:cxnLst>
              <a:rect l="0" t="0" r="r" b="b"/>
              <a:pathLst>
                <a:path w="11" h="6">
                  <a:moveTo>
                    <a:pt x="11" y="3"/>
                  </a:moveTo>
                  <a:lnTo>
                    <a:pt x="11" y="1"/>
                  </a:lnTo>
                  <a:lnTo>
                    <a:pt x="6" y="0"/>
                  </a:lnTo>
                  <a:lnTo>
                    <a:pt x="0" y="6"/>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0" name="Freeform 189"/>
            <p:cNvSpPr>
              <a:spLocks/>
            </p:cNvSpPr>
            <p:nvPr/>
          </p:nvSpPr>
          <p:spPr bwMode="auto">
            <a:xfrm>
              <a:off x="5333" y="2890"/>
              <a:ext cx="20" cy="13"/>
            </a:xfrm>
            <a:custGeom>
              <a:avLst/>
              <a:gdLst/>
              <a:ahLst/>
              <a:cxnLst>
                <a:cxn ang="0">
                  <a:pos x="17" y="11"/>
                </a:cxn>
                <a:cxn ang="0">
                  <a:pos x="18" y="9"/>
                </a:cxn>
                <a:cxn ang="0">
                  <a:pos x="3" y="0"/>
                </a:cxn>
                <a:cxn ang="0">
                  <a:pos x="0" y="5"/>
                </a:cxn>
                <a:cxn ang="0">
                  <a:pos x="17" y="11"/>
                </a:cxn>
              </a:cxnLst>
              <a:rect l="0" t="0" r="r" b="b"/>
              <a:pathLst>
                <a:path w="18" h="11">
                  <a:moveTo>
                    <a:pt x="17" y="11"/>
                  </a:moveTo>
                  <a:lnTo>
                    <a:pt x="18" y="9"/>
                  </a:lnTo>
                  <a:lnTo>
                    <a:pt x="3" y="0"/>
                  </a:lnTo>
                  <a:lnTo>
                    <a:pt x="0" y="5"/>
                  </a:lnTo>
                  <a:lnTo>
                    <a:pt x="17"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1" name="Freeform 190"/>
            <p:cNvSpPr>
              <a:spLocks/>
            </p:cNvSpPr>
            <p:nvPr/>
          </p:nvSpPr>
          <p:spPr bwMode="auto">
            <a:xfrm>
              <a:off x="5284" y="2839"/>
              <a:ext cx="16" cy="15"/>
            </a:xfrm>
            <a:custGeom>
              <a:avLst/>
              <a:gdLst/>
              <a:ahLst/>
              <a:cxnLst>
                <a:cxn ang="0">
                  <a:pos x="0" y="0"/>
                </a:cxn>
                <a:cxn ang="0">
                  <a:pos x="14" y="13"/>
                </a:cxn>
                <a:cxn ang="0">
                  <a:pos x="5" y="10"/>
                </a:cxn>
                <a:cxn ang="0">
                  <a:pos x="0" y="0"/>
                </a:cxn>
              </a:cxnLst>
              <a:rect l="0" t="0" r="r" b="b"/>
              <a:pathLst>
                <a:path w="14" h="13">
                  <a:moveTo>
                    <a:pt x="0" y="0"/>
                  </a:moveTo>
                  <a:lnTo>
                    <a:pt x="14" y="13"/>
                  </a:lnTo>
                  <a:lnTo>
                    <a:pt x="5" y="10"/>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2" name="Freeform 191"/>
            <p:cNvSpPr>
              <a:spLocks/>
            </p:cNvSpPr>
            <p:nvPr/>
          </p:nvSpPr>
          <p:spPr bwMode="auto">
            <a:xfrm>
              <a:off x="5362" y="2910"/>
              <a:ext cx="13" cy="11"/>
            </a:xfrm>
            <a:custGeom>
              <a:avLst/>
              <a:gdLst/>
              <a:ahLst/>
              <a:cxnLst>
                <a:cxn ang="0">
                  <a:pos x="13" y="10"/>
                </a:cxn>
                <a:cxn ang="0">
                  <a:pos x="1" y="3"/>
                </a:cxn>
                <a:cxn ang="0">
                  <a:pos x="0" y="0"/>
                </a:cxn>
                <a:cxn ang="0">
                  <a:pos x="13" y="8"/>
                </a:cxn>
                <a:cxn ang="0">
                  <a:pos x="13" y="10"/>
                </a:cxn>
              </a:cxnLst>
              <a:rect l="0" t="0" r="r" b="b"/>
              <a:pathLst>
                <a:path w="13" h="10">
                  <a:moveTo>
                    <a:pt x="13" y="10"/>
                  </a:moveTo>
                  <a:lnTo>
                    <a:pt x="1" y="3"/>
                  </a:lnTo>
                  <a:lnTo>
                    <a:pt x="0" y="0"/>
                  </a:lnTo>
                  <a:lnTo>
                    <a:pt x="13" y="8"/>
                  </a:lnTo>
                  <a:lnTo>
                    <a:pt x="13"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3" name="Freeform 192"/>
            <p:cNvSpPr>
              <a:spLocks/>
            </p:cNvSpPr>
            <p:nvPr/>
          </p:nvSpPr>
          <p:spPr bwMode="auto">
            <a:xfrm>
              <a:off x="5295" y="2865"/>
              <a:ext cx="9" cy="11"/>
            </a:xfrm>
            <a:custGeom>
              <a:avLst/>
              <a:gdLst/>
              <a:ahLst/>
              <a:cxnLst>
                <a:cxn ang="0">
                  <a:pos x="8" y="10"/>
                </a:cxn>
                <a:cxn ang="0">
                  <a:pos x="4" y="0"/>
                </a:cxn>
                <a:cxn ang="0">
                  <a:pos x="0" y="4"/>
                </a:cxn>
                <a:cxn ang="0">
                  <a:pos x="3" y="4"/>
                </a:cxn>
                <a:cxn ang="0">
                  <a:pos x="8" y="10"/>
                </a:cxn>
              </a:cxnLst>
              <a:rect l="0" t="0" r="r" b="b"/>
              <a:pathLst>
                <a:path w="8" h="10">
                  <a:moveTo>
                    <a:pt x="8" y="10"/>
                  </a:moveTo>
                  <a:lnTo>
                    <a:pt x="4" y="0"/>
                  </a:lnTo>
                  <a:lnTo>
                    <a:pt x="0" y="4"/>
                  </a:lnTo>
                  <a:lnTo>
                    <a:pt x="3" y="4"/>
                  </a:lnTo>
                  <a:lnTo>
                    <a:pt x="8"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4" name="Freeform 193"/>
            <p:cNvSpPr>
              <a:spLocks/>
            </p:cNvSpPr>
            <p:nvPr/>
          </p:nvSpPr>
          <p:spPr bwMode="auto">
            <a:xfrm>
              <a:off x="5353" y="2870"/>
              <a:ext cx="9" cy="26"/>
            </a:xfrm>
            <a:custGeom>
              <a:avLst/>
              <a:gdLst/>
              <a:ahLst/>
              <a:cxnLst>
                <a:cxn ang="0">
                  <a:pos x="2" y="0"/>
                </a:cxn>
                <a:cxn ang="0">
                  <a:pos x="9" y="23"/>
                </a:cxn>
                <a:cxn ang="0">
                  <a:pos x="0" y="5"/>
                </a:cxn>
                <a:cxn ang="0">
                  <a:pos x="2" y="0"/>
                </a:cxn>
              </a:cxnLst>
              <a:rect l="0" t="0" r="r" b="b"/>
              <a:pathLst>
                <a:path w="9" h="23">
                  <a:moveTo>
                    <a:pt x="2" y="0"/>
                  </a:moveTo>
                  <a:lnTo>
                    <a:pt x="9" y="23"/>
                  </a:lnTo>
                  <a:lnTo>
                    <a:pt x="0" y="5"/>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5" name="Freeform 194"/>
            <p:cNvSpPr>
              <a:spLocks/>
            </p:cNvSpPr>
            <p:nvPr/>
          </p:nvSpPr>
          <p:spPr bwMode="auto">
            <a:xfrm>
              <a:off x="5320" y="2856"/>
              <a:ext cx="20" cy="20"/>
            </a:xfrm>
            <a:custGeom>
              <a:avLst/>
              <a:gdLst/>
              <a:ahLst/>
              <a:cxnLst>
                <a:cxn ang="0">
                  <a:pos x="17" y="18"/>
                </a:cxn>
                <a:cxn ang="0">
                  <a:pos x="19" y="18"/>
                </a:cxn>
                <a:cxn ang="0">
                  <a:pos x="10" y="9"/>
                </a:cxn>
                <a:cxn ang="0">
                  <a:pos x="0" y="0"/>
                </a:cxn>
                <a:cxn ang="0">
                  <a:pos x="9" y="9"/>
                </a:cxn>
                <a:cxn ang="0">
                  <a:pos x="17" y="18"/>
                </a:cxn>
              </a:cxnLst>
              <a:rect l="0" t="0" r="r" b="b"/>
              <a:pathLst>
                <a:path w="19" h="18">
                  <a:moveTo>
                    <a:pt x="17" y="18"/>
                  </a:moveTo>
                  <a:lnTo>
                    <a:pt x="19" y="18"/>
                  </a:lnTo>
                  <a:lnTo>
                    <a:pt x="10" y="9"/>
                  </a:lnTo>
                  <a:lnTo>
                    <a:pt x="0" y="0"/>
                  </a:lnTo>
                  <a:lnTo>
                    <a:pt x="9" y="9"/>
                  </a:lnTo>
                  <a:lnTo>
                    <a:pt x="17"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6" name="Freeform 195"/>
            <p:cNvSpPr>
              <a:spLocks/>
            </p:cNvSpPr>
            <p:nvPr/>
          </p:nvSpPr>
          <p:spPr bwMode="auto">
            <a:xfrm>
              <a:off x="5628" y="2954"/>
              <a:ext cx="3" cy="2"/>
            </a:xfrm>
            <a:custGeom>
              <a:avLst/>
              <a:gdLst/>
              <a:ahLst/>
              <a:cxnLst>
                <a:cxn ang="0">
                  <a:pos x="2" y="0"/>
                </a:cxn>
                <a:cxn ang="0">
                  <a:pos x="1" y="0"/>
                </a:cxn>
                <a:cxn ang="0">
                  <a:pos x="0" y="0"/>
                </a:cxn>
                <a:cxn ang="0">
                  <a:pos x="2" y="0"/>
                </a:cxn>
              </a:cxnLst>
              <a:rect l="0" t="0" r="r" b="b"/>
              <a:pathLst>
                <a:path w="2">
                  <a:moveTo>
                    <a:pt x="2" y="0"/>
                  </a:moveTo>
                  <a:lnTo>
                    <a:pt x="1" y="0"/>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7" name="Freeform 196"/>
            <p:cNvSpPr>
              <a:spLocks/>
            </p:cNvSpPr>
            <p:nvPr/>
          </p:nvSpPr>
          <p:spPr bwMode="auto">
            <a:xfrm>
              <a:off x="5437" y="3001"/>
              <a:ext cx="9" cy="13"/>
            </a:xfrm>
            <a:custGeom>
              <a:avLst/>
              <a:gdLst/>
              <a:ahLst/>
              <a:cxnLst>
                <a:cxn ang="0">
                  <a:pos x="7" y="13"/>
                </a:cxn>
                <a:cxn ang="0">
                  <a:pos x="8" y="5"/>
                </a:cxn>
                <a:cxn ang="0">
                  <a:pos x="6" y="6"/>
                </a:cxn>
                <a:cxn ang="0">
                  <a:pos x="2" y="0"/>
                </a:cxn>
                <a:cxn ang="0">
                  <a:pos x="0" y="13"/>
                </a:cxn>
                <a:cxn ang="0">
                  <a:pos x="7" y="13"/>
                </a:cxn>
              </a:cxnLst>
              <a:rect l="0" t="0" r="r" b="b"/>
              <a:pathLst>
                <a:path w="8" h="13">
                  <a:moveTo>
                    <a:pt x="7" y="13"/>
                  </a:moveTo>
                  <a:lnTo>
                    <a:pt x="8" y="5"/>
                  </a:lnTo>
                  <a:lnTo>
                    <a:pt x="6" y="6"/>
                  </a:lnTo>
                  <a:lnTo>
                    <a:pt x="2" y="0"/>
                  </a:lnTo>
                  <a:lnTo>
                    <a:pt x="0" y="13"/>
                  </a:lnTo>
                  <a:lnTo>
                    <a:pt x="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8" name="Freeform 197"/>
            <p:cNvSpPr>
              <a:spLocks/>
            </p:cNvSpPr>
            <p:nvPr/>
          </p:nvSpPr>
          <p:spPr bwMode="auto">
            <a:xfrm>
              <a:off x="5446" y="3021"/>
              <a:ext cx="7" cy="13"/>
            </a:xfrm>
            <a:custGeom>
              <a:avLst/>
              <a:gdLst/>
              <a:ahLst/>
              <a:cxnLst>
                <a:cxn ang="0">
                  <a:pos x="6" y="12"/>
                </a:cxn>
                <a:cxn ang="0">
                  <a:pos x="0" y="11"/>
                </a:cxn>
                <a:cxn ang="0">
                  <a:pos x="0" y="0"/>
                </a:cxn>
                <a:cxn ang="0">
                  <a:pos x="6" y="12"/>
                </a:cxn>
              </a:cxnLst>
              <a:rect l="0" t="0" r="r" b="b"/>
              <a:pathLst>
                <a:path w="6" h="12">
                  <a:moveTo>
                    <a:pt x="6" y="12"/>
                  </a:moveTo>
                  <a:lnTo>
                    <a:pt x="0" y="11"/>
                  </a:lnTo>
                  <a:lnTo>
                    <a:pt x="0" y="0"/>
                  </a:lnTo>
                  <a:lnTo>
                    <a:pt x="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9" name="Freeform 198"/>
            <p:cNvSpPr>
              <a:spLocks/>
            </p:cNvSpPr>
            <p:nvPr/>
          </p:nvSpPr>
          <p:spPr bwMode="auto">
            <a:xfrm>
              <a:off x="5457" y="3027"/>
              <a:ext cx="5" cy="5"/>
            </a:xfrm>
            <a:custGeom>
              <a:avLst/>
              <a:gdLst/>
              <a:ahLst/>
              <a:cxnLst>
                <a:cxn ang="0">
                  <a:pos x="4" y="0"/>
                </a:cxn>
                <a:cxn ang="0">
                  <a:pos x="1" y="5"/>
                </a:cxn>
                <a:cxn ang="0">
                  <a:pos x="0" y="4"/>
                </a:cxn>
                <a:cxn ang="0">
                  <a:pos x="4" y="0"/>
                </a:cxn>
              </a:cxnLst>
              <a:rect l="0" t="0" r="r" b="b"/>
              <a:pathLst>
                <a:path w="4" h="5">
                  <a:moveTo>
                    <a:pt x="4" y="0"/>
                  </a:moveTo>
                  <a:lnTo>
                    <a:pt x="1" y="5"/>
                  </a:lnTo>
                  <a:lnTo>
                    <a:pt x="0" y="4"/>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0" name="Freeform 199"/>
            <p:cNvSpPr>
              <a:spLocks/>
            </p:cNvSpPr>
            <p:nvPr/>
          </p:nvSpPr>
          <p:spPr bwMode="auto">
            <a:xfrm>
              <a:off x="5464" y="3079"/>
              <a:ext cx="2" cy="4"/>
            </a:xfrm>
            <a:custGeom>
              <a:avLst/>
              <a:gdLst/>
              <a:ahLst/>
              <a:cxnLst>
                <a:cxn ang="0">
                  <a:pos x="2" y="1"/>
                </a:cxn>
                <a:cxn ang="0">
                  <a:pos x="2" y="0"/>
                </a:cxn>
                <a:cxn ang="0">
                  <a:pos x="0" y="5"/>
                </a:cxn>
                <a:cxn ang="0">
                  <a:pos x="2" y="1"/>
                </a:cxn>
              </a:cxnLst>
              <a:rect l="0" t="0" r="r" b="b"/>
              <a:pathLst>
                <a:path w="2" h="5">
                  <a:moveTo>
                    <a:pt x="2" y="1"/>
                  </a:moveTo>
                  <a:lnTo>
                    <a:pt x="2" y="0"/>
                  </a:lnTo>
                  <a:lnTo>
                    <a:pt x="0" y="5"/>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1" name="Freeform 200"/>
            <p:cNvSpPr>
              <a:spLocks/>
            </p:cNvSpPr>
            <p:nvPr/>
          </p:nvSpPr>
          <p:spPr bwMode="auto">
            <a:xfrm>
              <a:off x="2736" y="3043"/>
              <a:ext cx="233" cy="238"/>
            </a:xfrm>
            <a:custGeom>
              <a:avLst/>
              <a:gdLst/>
              <a:ahLst/>
              <a:cxnLst>
                <a:cxn ang="0">
                  <a:pos x="124" y="140"/>
                </a:cxn>
                <a:cxn ang="0">
                  <a:pos x="126" y="115"/>
                </a:cxn>
                <a:cxn ang="0">
                  <a:pos x="127" y="90"/>
                </a:cxn>
                <a:cxn ang="0">
                  <a:pos x="142" y="90"/>
                </a:cxn>
                <a:cxn ang="0">
                  <a:pos x="142" y="73"/>
                </a:cxn>
                <a:cxn ang="0">
                  <a:pos x="144" y="57"/>
                </a:cxn>
                <a:cxn ang="0">
                  <a:pos x="144" y="41"/>
                </a:cxn>
                <a:cxn ang="0">
                  <a:pos x="145" y="24"/>
                </a:cxn>
                <a:cxn ang="0">
                  <a:pos x="163" y="21"/>
                </a:cxn>
                <a:cxn ang="0">
                  <a:pos x="181" y="20"/>
                </a:cxn>
                <a:cxn ang="0">
                  <a:pos x="187" y="26"/>
                </a:cxn>
                <a:cxn ang="0">
                  <a:pos x="199" y="19"/>
                </a:cxn>
                <a:cxn ang="0">
                  <a:pos x="211" y="14"/>
                </a:cxn>
                <a:cxn ang="0">
                  <a:pos x="194" y="9"/>
                </a:cxn>
                <a:cxn ang="0">
                  <a:pos x="183" y="12"/>
                </a:cxn>
                <a:cxn ang="0">
                  <a:pos x="159" y="14"/>
                </a:cxn>
                <a:cxn ang="0">
                  <a:pos x="136" y="18"/>
                </a:cxn>
                <a:cxn ang="0">
                  <a:pos x="121" y="14"/>
                </a:cxn>
                <a:cxn ang="0">
                  <a:pos x="106" y="11"/>
                </a:cxn>
                <a:cxn ang="0">
                  <a:pos x="104" y="7"/>
                </a:cxn>
                <a:cxn ang="0">
                  <a:pos x="86" y="7"/>
                </a:cxn>
                <a:cxn ang="0">
                  <a:pos x="68" y="6"/>
                </a:cxn>
                <a:cxn ang="0">
                  <a:pos x="50" y="6"/>
                </a:cxn>
                <a:cxn ang="0">
                  <a:pos x="31" y="5"/>
                </a:cxn>
                <a:cxn ang="0">
                  <a:pos x="20" y="0"/>
                </a:cxn>
                <a:cxn ang="0">
                  <a:pos x="1" y="5"/>
                </a:cxn>
                <a:cxn ang="0">
                  <a:pos x="0" y="15"/>
                </a:cxn>
                <a:cxn ang="0">
                  <a:pos x="10" y="37"/>
                </a:cxn>
                <a:cxn ang="0">
                  <a:pos x="21" y="59"/>
                </a:cxn>
                <a:cxn ang="0">
                  <a:pos x="31" y="80"/>
                </a:cxn>
                <a:cxn ang="0">
                  <a:pos x="42" y="102"/>
                </a:cxn>
                <a:cxn ang="0">
                  <a:pos x="43" y="111"/>
                </a:cxn>
                <a:cxn ang="0">
                  <a:pos x="40" y="110"/>
                </a:cxn>
                <a:cxn ang="0">
                  <a:pos x="43" y="129"/>
                </a:cxn>
                <a:cxn ang="0">
                  <a:pos x="45" y="147"/>
                </a:cxn>
                <a:cxn ang="0">
                  <a:pos x="48" y="165"/>
                </a:cxn>
                <a:cxn ang="0">
                  <a:pos x="50" y="183"/>
                </a:cxn>
                <a:cxn ang="0">
                  <a:pos x="60" y="197"/>
                </a:cxn>
                <a:cxn ang="0">
                  <a:pos x="68" y="209"/>
                </a:cxn>
                <a:cxn ang="0">
                  <a:pos x="76" y="199"/>
                </a:cxn>
                <a:cxn ang="0">
                  <a:pos x="82" y="210"/>
                </a:cxn>
                <a:cxn ang="0">
                  <a:pos x="105" y="213"/>
                </a:cxn>
                <a:cxn ang="0">
                  <a:pos x="118" y="207"/>
                </a:cxn>
                <a:cxn ang="0">
                  <a:pos x="121" y="191"/>
                </a:cxn>
                <a:cxn ang="0">
                  <a:pos x="122" y="174"/>
                </a:cxn>
                <a:cxn ang="0">
                  <a:pos x="123" y="157"/>
                </a:cxn>
                <a:cxn ang="0">
                  <a:pos x="124" y="140"/>
                </a:cxn>
              </a:cxnLst>
              <a:rect l="0" t="0" r="r" b="b"/>
              <a:pathLst>
                <a:path w="211" h="213">
                  <a:moveTo>
                    <a:pt x="124" y="140"/>
                  </a:moveTo>
                  <a:lnTo>
                    <a:pt x="126" y="115"/>
                  </a:lnTo>
                  <a:lnTo>
                    <a:pt x="127" y="90"/>
                  </a:lnTo>
                  <a:lnTo>
                    <a:pt x="142" y="90"/>
                  </a:lnTo>
                  <a:lnTo>
                    <a:pt x="142" y="73"/>
                  </a:lnTo>
                  <a:lnTo>
                    <a:pt x="144" y="57"/>
                  </a:lnTo>
                  <a:lnTo>
                    <a:pt x="144" y="41"/>
                  </a:lnTo>
                  <a:lnTo>
                    <a:pt x="145" y="24"/>
                  </a:lnTo>
                  <a:lnTo>
                    <a:pt x="163" y="21"/>
                  </a:lnTo>
                  <a:lnTo>
                    <a:pt x="181" y="20"/>
                  </a:lnTo>
                  <a:lnTo>
                    <a:pt x="187" y="26"/>
                  </a:lnTo>
                  <a:lnTo>
                    <a:pt x="199" y="19"/>
                  </a:lnTo>
                  <a:lnTo>
                    <a:pt x="211" y="14"/>
                  </a:lnTo>
                  <a:lnTo>
                    <a:pt x="194" y="9"/>
                  </a:lnTo>
                  <a:lnTo>
                    <a:pt x="183" y="12"/>
                  </a:lnTo>
                  <a:lnTo>
                    <a:pt x="159" y="14"/>
                  </a:lnTo>
                  <a:lnTo>
                    <a:pt x="136" y="18"/>
                  </a:lnTo>
                  <a:lnTo>
                    <a:pt x="121" y="14"/>
                  </a:lnTo>
                  <a:lnTo>
                    <a:pt x="106" y="11"/>
                  </a:lnTo>
                  <a:lnTo>
                    <a:pt x="104" y="7"/>
                  </a:lnTo>
                  <a:lnTo>
                    <a:pt x="86" y="7"/>
                  </a:lnTo>
                  <a:lnTo>
                    <a:pt x="68" y="6"/>
                  </a:lnTo>
                  <a:lnTo>
                    <a:pt x="50" y="6"/>
                  </a:lnTo>
                  <a:lnTo>
                    <a:pt x="31" y="5"/>
                  </a:lnTo>
                  <a:lnTo>
                    <a:pt x="20" y="0"/>
                  </a:lnTo>
                  <a:lnTo>
                    <a:pt x="1" y="5"/>
                  </a:lnTo>
                  <a:lnTo>
                    <a:pt x="0" y="15"/>
                  </a:lnTo>
                  <a:lnTo>
                    <a:pt x="10" y="37"/>
                  </a:lnTo>
                  <a:lnTo>
                    <a:pt x="21" y="59"/>
                  </a:lnTo>
                  <a:lnTo>
                    <a:pt x="31" y="80"/>
                  </a:lnTo>
                  <a:lnTo>
                    <a:pt x="42" y="102"/>
                  </a:lnTo>
                  <a:lnTo>
                    <a:pt x="43" y="111"/>
                  </a:lnTo>
                  <a:lnTo>
                    <a:pt x="40" y="110"/>
                  </a:lnTo>
                  <a:lnTo>
                    <a:pt x="43" y="129"/>
                  </a:lnTo>
                  <a:lnTo>
                    <a:pt x="45" y="147"/>
                  </a:lnTo>
                  <a:lnTo>
                    <a:pt x="48" y="165"/>
                  </a:lnTo>
                  <a:lnTo>
                    <a:pt x="50" y="183"/>
                  </a:lnTo>
                  <a:lnTo>
                    <a:pt x="60" y="197"/>
                  </a:lnTo>
                  <a:lnTo>
                    <a:pt x="68" y="209"/>
                  </a:lnTo>
                  <a:lnTo>
                    <a:pt x="76" y="199"/>
                  </a:lnTo>
                  <a:lnTo>
                    <a:pt x="82" y="210"/>
                  </a:lnTo>
                  <a:lnTo>
                    <a:pt x="105" y="213"/>
                  </a:lnTo>
                  <a:lnTo>
                    <a:pt x="118" y="207"/>
                  </a:lnTo>
                  <a:lnTo>
                    <a:pt x="121" y="191"/>
                  </a:lnTo>
                  <a:lnTo>
                    <a:pt x="122" y="174"/>
                  </a:lnTo>
                  <a:lnTo>
                    <a:pt x="123" y="157"/>
                  </a:lnTo>
                  <a:lnTo>
                    <a:pt x="124" y="14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2" name="Freeform 201"/>
            <p:cNvSpPr>
              <a:spLocks/>
            </p:cNvSpPr>
            <p:nvPr/>
          </p:nvSpPr>
          <p:spPr bwMode="auto">
            <a:xfrm>
              <a:off x="2873" y="3061"/>
              <a:ext cx="163" cy="180"/>
            </a:xfrm>
            <a:custGeom>
              <a:avLst/>
              <a:gdLst/>
              <a:ahLst/>
              <a:cxnLst>
                <a:cxn ang="0">
                  <a:pos x="0" y="126"/>
                </a:cxn>
                <a:cxn ang="0">
                  <a:pos x="2" y="101"/>
                </a:cxn>
                <a:cxn ang="0">
                  <a:pos x="3" y="76"/>
                </a:cxn>
                <a:cxn ang="0">
                  <a:pos x="18" y="76"/>
                </a:cxn>
                <a:cxn ang="0">
                  <a:pos x="18" y="59"/>
                </a:cxn>
                <a:cxn ang="0">
                  <a:pos x="20" y="43"/>
                </a:cxn>
                <a:cxn ang="0">
                  <a:pos x="20" y="27"/>
                </a:cxn>
                <a:cxn ang="0">
                  <a:pos x="21" y="10"/>
                </a:cxn>
                <a:cxn ang="0">
                  <a:pos x="39" y="7"/>
                </a:cxn>
                <a:cxn ang="0">
                  <a:pos x="57" y="6"/>
                </a:cxn>
                <a:cxn ang="0">
                  <a:pos x="63" y="12"/>
                </a:cxn>
                <a:cxn ang="0">
                  <a:pos x="75" y="5"/>
                </a:cxn>
                <a:cxn ang="0">
                  <a:pos x="87" y="0"/>
                </a:cxn>
                <a:cxn ang="0">
                  <a:pos x="96" y="18"/>
                </a:cxn>
                <a:cxn ang="0">
                  <a:pos x="106" y="36"/>
                </a:cxn>
                <a:cxn ang="0">
                  <a:pos x="117" y="45"/>
                </a:cxn>
                <a:cxn ang="0">
                  <a:pos x="120" y="48"/>
                </a:cxn>
                <a:cxn ang="0">
                  <a:pos x="124" y="54"/>
                </a:cxn>
                <a:cxn ang="0">
                  <a:pos x="129" y="69"/>
                </a:cxn>
                <a:cxn ang="0">
                  <a:pos x="143" y="75"/>
                </a:cxn>
                <a:cxn ang="0">
                  <a:pos x="147" y="78"/>
                </a:cxn>
                <a:cxn ang="0">
                  <a:pos x="146" y="79"/>
                </a:cxn>
                <a:cxn ang="0">
                  <a:pos x="125" y="93"/>
                </a:cxn>
                <a:cxn ang="0">
                  <a:pos x="110" y="107"/>
                </a:cxn>
                <a:cxn ang="0">
                  <a:pos x="101" y="123"/>
                </a:cxn>
                <a:cxn ang="0">
                  <a:pos x="92" y="129"/>
                </a:cxn>
                <a:cxn ang="0">
                  <a:pos x="83" y="143"/>
                </a:cxn>
                <a:cxn ang="0">
                  <a:pos x="59" y="141"/>
                </a:cxn>
                <a:cxn ang="0">
                  <a:pos x="47" y="136"/>
                </a:cxn>
                <a:cxn ang="0">
                  <a:pos x="39" y="148"/>
                </a:cxn>
                <a:cxn ang="0">
                  <a:pos x="32" y="160"/>
                </a:cxn>
                <a:cxn ang="0">
                  <a:pos x="15" y="162"/>
                </a:cxn>
                <a:cxn ang="0">
                  <a:pos x="9" y="160"/>
                </a:cxn>
                <a:cxn ang="0">
                  <a:pos x="11" y="143"/>
                </a:cxn>
                <a:cxn ang="0">
                  <a:pos x="0" y="126"/>
                </a:cxn>
              </a:cxnLst>
              <a:rect l="0" t="0" r="r" b="b"/>
              <a:pathLst>
                <a:path w="147" h="162">
                  <a:moveTo>
                    <a:pt x="0" y="126"/>
                  </a:moveTo>
                  <a:lnTo>
                    <a:pt x="2" y="101"/>
                  </a:lnTo>
                  <a:lnTo>
                    <a:pt x="3" y="76"/>
                  </a:lnTo>
                  <a:lnTo>
                    <a:pt x="18" y="76"/>
                  </a:lnTo>
                  <a:lnTo>
                    <a:pt x="18" y="59"/>
                  </a:lnTo>
                  <a:lnTo>
                    <a:pt x="20" y="43"/>
                  </a:lnTo>
                  <a:lnTo>
                    <a:pt x="20" y="27"/>
                  </a:lnTo>
                  <a:lnTo>
                    <a:pt x="21" y="10"/>
                  </a:lnTo>
                  <a:lnTo>
                    <a:pt x="39" y="7"/>
                  </a:lnTo>
                  <a:lnTo>
                    <a:pt x="57" y="6"/>
                  </a:lnTo>
                  <a:lnTo>
                    <a:pt x="63" y="12"/>
                  </a:lnTo>
                  <a:lnTo>
                    <a:pt x="75" y="5"/>
                  </a:lnTo>
                  <a:lnTo>
                    <a:pt x="87" y="0"/>
                  </a:lnTo>
                  <a:lnTo>
                    <a:pt x="96" y="18"/>
                  </a:lnTo>
                  <a:lnTo>
                    <a:pt x="106" y="36"/>
                  </a:lnTo>
                  <a:lnTo>
                    <a:pt x="117" y="45"/>
                  </a:lnTo>
                  <a:lnTo>
                    <a:pt x="120" y="48"/>
                  </a:lnTo>
                  <a:lnTo>
                    <a:pt x="124" y="54"/>
                  </a:lnTo>
                  <a:lnTo>
                    <a:pt x="129" y="69"/>
                  </a:lnTo>
                  <a:lnTo>
                    <a:pt x="143" y="75"/>
                  </a:lnTo>
                  <a:lnTo>
                    <a:pt x="147" y="78"/>
                  </a:lnTo>
                  <a:lnTo>
                    <a:pt x="146" y="79"/>
                  </a:lnTo>
                  <a:lnTo>
                    <a:pt x="125" y="93"/>
                  </a:lnTo>
                  <a:lnTo>
                    <a:pt x="110" y="107"/>
                  </a:lnTo>
                  <a:lnTo>
                    <a:pt x="101" y="123"/>
                  </a:lnTo>
                  <a:lnTo>
                    <a:pt x="92" y="129"/>
                  </a:lnTo>
                  <a:lnTo>
                    <a:pt x="83" y="143"/>
                  </a:lnTo>
                  <a:lnTo>
                    <a:pt x="59" y="141"/>
                  </a:lnTo>
                  <a:lnTo>
                    <a:pt x="47" y="136"/>
                  </a:lnTo>
                  <a:lnTo>
                    <a:pt x="39" y="148"/>
                  </a:lnTo>
                  <a:lnTo>
                    <a:pt x="32" y="160"/>
                  </a:lnTo>
                  <a:lnTo>
                    <a:pt x="15" y="162"/>
                  </a:lnTo>
                  <a:lnTo>
                    <a:pt x="9" y="160"/>
                  </a:lnTo>
                  <a:lnTo>
                    <a:pt x="11" y="143"/>
                  </a:lnTo>
                  <a:lnTo>
                    <a:pt x="0" y="1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3" name="Freeform 202"/>
            <p:cNvSpPr>
              <a:spLocks/>
            </p:cNvSpPr>
            <p:nvPr/>
          </p:nvSpPr>
          <p:spPr bwMode="auto">
            <a:xfrm>
              <a:off x="3289" y="2934"/>
              <a:ext cx="4" cy="9"/>
            </a:xfrm>
            <a:custGeom>
              <a:avLst/>
              <a:gdLst/>
              <a:ahLst/>
              <a:cxnLst>
                <a:cxn ang="0">
                  <a:pos x="3" y="9"/>
                </a:cxn>
                <a:cxn ang="0">
                  <a:pos x="3" y="7"/>
                </a:cxn>
                <a:cxn ang="0">
                  <a:pos x="0" y="0"/>
                </a:cxn>
                <a:cxn ang="0">
                  <a:pos x="3" y="9"/>
                </a:cxn>
              </a:cxnLst>
              <a:rect l="0" t="0" r="r" b="b"/>
              <a:pathLst>
                <a:path w="3" h="9">
                  <a:moveTo>
                    <a:pt x="3" y="9"/>
                  </a:moveTo>
                  <a:lnTo>
                    <a:pt x="3" y="7"/>
                  </a:lnTo>
                  <a:lnTo>
                    <a:pt x="0" y="0"/>
                  </a:lnTo>
                  <a:lnTo>
                    <a:pt x="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4" name="Freeform 203"/>
            <p:cNvSpPr>
              <a:spLocks/>
            </p:cNvSpPr>
            <p:nvPr/>
          </p:nvSpPr>
          <p:spPr bwMode="auto">
            <a:xfrm>
              <a:off x="2989" y="3276"/>
              <a:ext cx="40" cy="40"/>
            </a:xfrm>
            <a:custGeom>
              <a:avLst/>
              <a:gdLst/>
              <a:ahLst/>
              <a:cxnLst>
                <a:cxn ang="0">
                  <a:pos x="15" y="3"/>
                </a:cxn>
                <a:cxn ang="0">
                  <a:pos x="0" y="19"/>
                </a:cxn>
                <a:cxn ang="0">
                  <a:pos x="11" y="35"/>
                </a:cxn>
                <a:cxn ang="0">
                  <a:pos x="17" y="30"/>
                </a:cxn>
                <a:cxn ang="0">
                  <a:pos x="32" y="19"/>
                </a:cxn>
                <a:cxn ang="0">
                  <a:pos x="35" y="7"/>
                </a:cxn>
                <a:cxn ang="0">
                  <a:pos x="21" y="0"/>
                </a:cxn>
                <a:cxn ang="0">
                  <a:pos x="15" y="3"/>
                </a:cxn>
              </a:cxnLst>
              <a:rect l="0" t="0" r="r" b="b"/>
              <a:pathLst>
                <a:path w="35" h="35">
                  <a:moveTo>
                    <a:pt x="15" y="3"/>
                  </a:moveTo>
                  <a:lnTo>
                    <a:pt x="0" y="19"/>
                  </a:lnTo>
                  <a:lnTo>
                    <a:pt x="11" y="35"/>
                  </a:lnTo>
                  <a:lnTo>
                    <a:pt x="17" y="30"/>
                  </a:lnTo>
                  <a:lnTo>
                    <a:pt x="32" y="19"/>
                  </a:lnTo>
                  <a:lnTo>
                    <a:pt x="35" y="7"/>
                  </a:lnTo>
                  <a:lnTo>
                    <a:pt x="21" y="0"/>
                  </a:lnTo>
                  <a:lnTo>
                    <a:pt x="1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5" name="Freeform 204"/>
            <p:cNvSpPr>
              <a:spLocks/>
            </p:cNvSpPr>
            <p:nvPr/>
          </p:nvSpPr>
          <p:spPr bwMode="auto">
            <a:xfrm>
              <a:off x="3278" y="2947"/>
              <a:ext cx="135" cy="267"/>
            </a:xfrm>
            <a:custGeom>
              <a:avLst/>
              <a:gdLst/>
              <a:ahLst/>
              <a:cxnLst>
                <a:cxn ang="0">
                  <a:pos x="44" y="69"/>
                </a:cxn>
                <a:cxn ang="0">
                  <a:pos x="38" y="70"/>
                </a:cxn>
                <a:cxn ang="0">
                  <a:pos x="24" y="77"/>
                </a:cxn>
                <a:cxn ang="0">
                  <a:pos x="20" y="91"/>
                </a:cxn>
                <a:cxn ang="0">
                  <a:pos x="17" y="106"/>
                </a:cxn>
                <a:cxn ang="0">
                  <a:pos x="19" y="124"/>
                </a:cxn>
                <a:cxn ang="0">
                  <a:pos x="22" y="142"/>
                </a:cxn>
                <a:cxn ang="0">
                  <a:pos x="13" y="154"/>
                </a:cxn>
                <a:cxn ang="0">
                  <a:pos x="5" y="166"/>
                </a:cxn>
                <a:cxn ang="0">
                  <a:pos x="0" y="190"/>
                </a:cxn>
                <a:cxn ang="0">
                  <a:pos x="4" y="210"/>
                </a:cxn>
                <a:cxn ang="0">
                  <a:pos x="10" y="233"/>
                </a:cxn>
                <a:cxn ang="0">
                  <a:pos x="30" y="241"/>
                </a:cxn>
                <a:cxn ang="0">
                  <a:pos x="43" y="235"/>
                </a:cxn>
                <a:cxn ang="0">
                  <a:pos x="58" y="228"/>
                </a:cxn>
                <a:cxn ang="0">
                  <a:pos x="62" y="211"/>
                </a:cxn>
                <a:cxn ang="0">
                  <a:pos x="68" y="195"/>
                </a:cxn>
                <a:cxn ang="0">
                  <a:pos x="74" y="179"/>
                </a:cxn>
                <a:cxn ang="0">
                  <a:pos x="80" y="162"/>
                </a:cxn>
                <a:cxn ang="0">
                  <a:pos x="85" y="147"/>
                </a:cxn>
                <a:cxn ang="0">
                  <a:pos x="91" y="130"/>
                </a:cxn>
                <a:cxn ang="0">
                  <a:pos x="97" y="113"/>
                </a:cxn>
                <a:cxn ang="0">
                  <a:pos x="102" y="97"/>
                </a:cxn>
                <a:cxn ang="0">
                  <a:pos x="109" y="85"/>
                </a:cxn>
                <a:cxn ang="0">
                  <a:pos x="108" y="60"/>
                </a:cxn>
                <a:cxn ang="0">
                  <a:pos x="118" y="67"/>
                </a:cxn>
                <a:cxn ang="0">
                  <a:pos x="121" y="58"/>
                </a:cxn>
                <a:cxn ang="0">
                  <a:pos x="116" y="35"/>
                </a:cxn>
                <a:cxn ang="0">
                  <a:pos x="110" y="13"/>
                </a:cxn>
                <a:cxn ang="0">
                  <a:pos x="106" y="0"/>
                </a:cxn>
                <a:cxn ang="0">
                  <a:pos x="102" y="0"/>
                </a:cxn>
                <a:cxn ang="0">
                  <a:pos x="98" y="6"/>
                </a:cxn>
                <a:cxn ang="0">
                  <a:pos x="95" y="24"/>
                </a:cxn>
                <a:cxn ang="0">
                  <a:pos x="89" y="28"/>
                </a:cxn>
                <a:cxn ang="0">
                  <a:pos x="86" y="30"/>
                </a:cxn>
                <a:cxn ang="0">
                  <a:pos x="82" y="28"/>
                </a:cxn>
                <a:cxn ang="0">
                  <a:pos x="83" y="37"/>
                </a:cxn>
                <a:cxn ang="0">
                  <a:pos x="79" y="45"/>
                </a:cxn>
                <a:cxn ang="0">
                  <a:pos x="82" y="47"/>
                </a:cxn>
                <a:cxn ang="0">
                  <a:pos x="73" y="52"/>
                </a:cxn>
                <a:cxn ang="0">
                  <a:pos x="73" y="47"/>
                </a:cxn>
                <a:cxn ang="0">
                  <a:pos x="68" y="59"/>
                </a:cxn>
                <a:cxn ang="0">
                  <a:pos x="66" y="59"/>
                </a:cxn>
                <a:cxn ang="0">
                  <a:pos x="62" y="58"/>
                </a:cxn>
                <a:cxn ang="0">
                  <a:pos x="56" y="67"/>
                </a:cxn>
                <a:cxn ang="0">
                  <a:pos x="44" y="69"/>
                </a:cxn>
              </a:cxnLst>
              <a:rect l="0" t="0" r="r" b="b"/>
              <a:pathLst>
                <a:path w="121" h="241">
                  <a:moveTo>
                    <a:pt x="44" y="69"/>
                  </a:moveTo>
                  <a:lnTo>
                    <a:pt x="38" y="70"/>
                  </a:lnTo>
                  <a:lnTo>
                    <a:pt x="24" y="77"/>
                  </a:lnTo>
                  <a:lnTo>
                    <a:pt x="20" y="91"/>
                  </a:lnTo>
                  <a:lnTo>
                    <a:pt x="17" y="106"/>
                  </a:lnTo>
                  <a:lnTo>
                    <a:pt x="19" y="124"/>
                  </a:lnTo>
                  <a:lnTo>
                    <a:pt x="22" y="142"/>
                  </a:lnTo>
                  <a:lnTo>
                    <a:pt x="13" y="154"/>
                  </a:lnTo>
                  <a:lnTo>
                    <a:pt x="5" y="166"/>
                  </a:lnTo>
                  <a:lnTo>
                    <a:pt x="0" y="190"/>
                  </a:lnTo>
                  <a:lnTo>
                    <a:pt x="4" y="210"/>
                  </a:lnTo>
                  <a:lnTo>
                    <a:pt x="10" y="233"/>
                  </a:lnTo>
                  <a:lnTo>
                    <a:pt x="30" y="241"/>
                  </a:lnTo>
                  <a:lnTo>
                    <a:pt x="43" y="235"/>
                  </a:lnTo>
                  <a:lnTo>
                    <a:pt x="58" y="228"/>
                  </a:lnTo>
                  <a:lnTo>
                    <a:pt x="62" y="211"/>
                  </a:lnTo>
                  <a:lnTo>
                    <a:pt x="68" y="195"/>
                  </a:lnTo>
                  <a:lnTo>
                    <a:pt x="74" y="179"/>
                  </a:lnTo>
                  <a:lnTo>
                    <a:pt x="80" y="162"/>
                  </a:lnTo>
                  <a:lnTo>
                    <a:pt x="85" y="147"/>
                  </a:lnTo>
                  <a:lnTo>
                    <a:pt x="91" y="130"/>
                  </a:lnTo>
                  <a:lnTo>
                    <a:pt x="97" y="113"/>
                  </a:lnTo>
                  <a:lnTo>
                    <a:pt x="102" y="97"/>
                  </a:lnTo>
                  <a:lnTo>
                    <a:pt x="109" y="85"/>
                  </a:lnTo>
                  <a:lnTo>
                    <a:pt x="108" y="60"/>
                  </a:lnTo>
                  <a:lnTo>
                    <a:pt x="118" y="67"/>
                  </a:lnTo>
                  <a:lnTo>
                    <a:pt x="121" y="58"/>
                  </a:lnTo>
                  <a:lnTo>
                    <a:pt x="116" y="35"/>
                  </a:lnTo>
                  <a:lnTo>
                    <a:pt x="110" y="13"/>
                  </a:lnTo>
                  <a:lnTo>
                    <a:pt x="106" y="0"/>
                  </a:lnTo>
                  <a:lnTo>
                    <a:pt x="102" y="0"/>
                  </a:lnTo>
                  <a:lnTo>
                    <a:pt x="98" y="6"/>
                  </a:lnTo>
                  <a:lnTo>
                    <a:pt x="95" y="24"/>
                  </a:lnTo>
                  <a:lnTo>
                    <a:pt x="89" y="28"/>
                  </a:lnTo>
                  <a:lnTo>
                    <a:pt x="86" y="30"/>
                  </a:lnTo>
                  <a:lnTo>
                    <a:pt x="82" y="28"/>
                  </a:lnTo>
                  <a:lnTo>
                    <a:pt x="83" y="37"/>
                  </a:lnTo>
                  <a:lnTo>
                    <a:pt x="79" y="45"/>
                  </a:lnTo>
                  <a:lnTo>
                    <a:pt x="82" y="47"/>
                  </a:lnTo>
                  <a:lnTo>
                    <a:pt x="73" y="52"/>
                  </a:lnTo>
                  <a:lnTo>
                    <a:pt x="73" y="47"/>
                  </a:lnTo>
                  <a:lnTo>
                    <a:pt x="68" y="59"/>
                  </a:lnTo>
                  <a:lnTo>
                    <a:pt x="66" y="59"/>
                  </a:lnTo>
                  <a:lnTo>
                    <a:pt x="62" y="58"/>
                  </a:lnTo>
                  <a:lnTo>
                    <a:pt x="56" y="67"/>
                  </a:lnTo>
                  <a:lnTo>
                    <a:pt x="44"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6" name="Freeform 205"/>
            <p:cNvSpPr>
              <a:spLocks/>
            </p:cNvSpPr>
            <p:nvPr/>
          </p:nvSpPr>
          <p:spPr bwMode="auto">
            <a:xfrm>
              <a:off x="3102" y="2894"/>
              <a:ext cx="56" cy="153"/>
            </a:xfrm>
            <a:custGeom>
              <a:avLst/>
              <a:gdLst/>
              <a:ahLst/>
              <a:cxnLst>
                <a:cxn ang="0">
                  <a:pos x="29" y="97"/>
                </a:cxn>
                <a:cxn ang="0">
                  <a:pos x="23" y="115"/>
                </a:cxn>
                <a:cxn ang="0">
                  <a:pos x="30" y="127"/>
                </a:cxn>
                <a:cxn ang="0">
                  <a:pos x="37" y="138"/>
                </a:cxn>
                <a:cxn ang="0">
                  <a:pos x="36" y="129"/>
                </a:cxn>
                <a:cxn ang="0">
                  <a:pos x="44" y="120"/>
                </a:cxn>
                <a:cxn ang="0">
                  <a:pos x="47" y="107"/>
                </a:cxn>
                <a:cxn ang="0">
                  <a:pos x="49" y="94"/>
                </a:cxn>
                <a:cxn ang="0">
                  <a:pos x="39" y="84"/>
                </a:cxn>
                <a:cxn ang="0">
                  <a:pos x="30" y="73"/>
                </a:cxn>
                <a:cxn ang="0">
                  <a:pos x="27" y="55"/>
                </a:cxn>
                <a:cxn ang="0">
                  <a:pos x="31" y="42"/>
                </a:cxn>
                <a:cxn ang="0">
                  <a:pos x="36" y="39"/>
                </a:cxn>
                <a:cxn ang="0">
                  <a:pos x="37" y="39"/>
                </a:cxn>
                <a:cxn ang="0">
                  <a:pos x="32" y="24"/>
                </a:cxn>
                <a:cxn ang="0">
                  <a:pos x="27" y="6"/>
                </a:cxn>
                <a:cxn ang="0">
                  <a:pos x="21" y="3"/>
                </a:cxn>
                <a:cxn ang="0">
                  <a:pos x="6" y="0"/>
                </a:cxn>
                <a:cxn ang="0">
                  <a:pos x="7" y="4"/>
                </a:cxn>
                <a:cxn ang="0">
                  <a:pos x="17" y="18"/>
                </a:cxn>
                <a:cxn ang="0">
                  <a:pos x="13" y="25"/>
                </a:cxn>
                <a:cxn ang="0">
                  <a:pos x="12" y="39"/>
                </a:cxn>
                <a:cxn ang="0">
                  <a:pos x="11" y="53"/>
                </a:cxn>
                <a:cxn ang="0">
                  <a:pos x="8" y="58"/>
                </a:cxn>
                <a:cxn ang="0">
                  <a:pos x="0" y="75"/>
                </a:cxn>
                <a:cxn ang="0">
                  <a:pos x="7" y="83"/>
                </a:cxn>
                <a:cxn ang="0">
                  <a:pos x="13" y="90"/>
                </a:cxn>
                <a:cxn ang="0">
                  <a:pos x="23" y="90"/>
                </a:cxn>
                <a:cxn ang="0">
                  <a:pos x="29" y="97"/>
                </a:cxn>
              </a:cxnLst>
              <a:rect l="0" t="0" r="r" b="b"/>
              <a:pathLst>
                <a:path w="49" h="138">
                  <a:moveTo>
                    <a:pt x="29" y="97"/>
                  </a:moveTo>
                  <a:lnTo>
                    <a:pt x="23" y="115"/>
                  </a:lnTo>
                  <a:lnTo>
                    <a:pt x="30" y="127"/>
                  </a:lnTo>
                  <a:lnTo>
                    <a:pt x="37" y="138"/>
                  </a:lnTo>
                  <a:lnTo>
                    <a:pt x="36" y="129"/>
                  </a:lnTo>
                  <a:lnTo>
                    <a:pt x="44" y="120"/>
                  </a:lnTo>
                  <a:lnTo>
                    <a:pt x="47" y="107"/>
                  </a:lnTo>
                  <a:lnTo>
                    <a:pt x="49" y="94"/>
                  </a:lnTo>
                  <a:lnTo>
                    <a:pt x="39" y="84"/>
                  </a:lnTo>
                  <a:lnTo>
                    <a:pt x="30" y="73"/>
                  </a:lnTo>
                  <a:lnTo>
                    <a:pt x="27" y="55"/>
                  </a:lnTo>
                  <a:lnTo>
                    <a:pt x="31" y="42"/>
                  </a:lnTo>
                  <a:lnTo>
                    <a:pt x="36" y="39"/>
                  </a:lnTo>
                  <a:lnTo>
                    <a:pt x="37" y="39"/>
                  </a:lnTo>
                  <a:lnTo>
                    <a:pt x="32" y="24"/>
                  </a:lnTo>
                  <a:lnTo>
                    <a:pt x="27" y="6"/>
                  </a:lnTo>
                  <a:lnTo>
                    <a:pt x="21" y="3"/>
                  </a:lnTo>
                  <a:lnTo>
                    <a:pt x="6" y="0"/>
                  </a:lnTo>
                  <a:lnTo>
                    <a:pt x="7" y="4"/>
                  </a:lnTo>
                  <a:lnTo>
                    <a:pt x="17" y="18"/>
                  </a:lnTo>
                  <a:lnTo>
                    <a:pt x="13" y="25"/>
                  </a:lnTo>
                  <a:lnTo>
                    <a:pt x="12" y="39"/>
                  </a:lnTo>
                  <a:lnTo>
                    <a:pt x="11" y="53"/>
                  </a:lnTo>
                  <a:lnTo>
                    <a:pt x="8" y="58"/>
                  </a:lnTo>
                  <a:lnTo>
                    <a:pt x="0" y="75"/>
                  </a:lnTo>
                  <a:lnTo>
                    <a:pt x="7" y="83"/>
                  </a:lnTo>
                  <a:lnTo>
                    <a:pt x="13" y="90"/>
                  </a:lnTo>
                  <a:lnTo>
                    <a:pt x="23" y="90"/>
                  </a:lnTo>
                  <a:lnTo>
                    <a:pt x="29" y="9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7" name="Freeform 206"/>
            <p:cNvSpPr>
              <a:spLocks/>
            </p:cNvSpPr>
            <p:nvPr/>
          </p:nvSpPr>
          <p:spPr bwMode="auto">
            <a:xfrm>
              <a:off x="3060" y="2914"/>
              <a:ext cx="182" cy="327"/>
            </a:xfrm>
            <a:custGeom>
              <a:avLst/>
              <a:gdLst/>
              <a:ahLst/>
              <a:cxnLst>
                <a:cxn ang="0">
                  <a:pos x="66" y="172"/>
                </a:cxn>
                <a:cxn ang="0">
                  <a:pos x="72" y="166"/>
                </a:cxn>
                <a:cxn ang="0">
                  <a:pos x="102" y="136"/>
                </a:cxn>
                <a:cxn ang="0">
                  <a:pos x="130" y="119"/>
                </a:cxn>
                <a:cxn ang="0">
                  <a:pos x="162" y="84"/>
                </a:cxn>
                <a:cxn ang="0">
                  <a:pos x="165" y="71"/>
                </a:cxn>
                <a:cxn ang="0">
                  <a:pos x="165" y="38"/>
                </a:cxn>
                <a:cxn ang="0">
                  <a:pos x="165" y="0"/>
                </a:cxn>
                <a:cxn ang="0">
                  <a:pos x="147" y="9"/>
                </a:cxn>
                <a:cxn ang="0">
                  <a:pos x="123" y="17"/>
                </a:cxn>
                <a:cxn ang="0">
                  <a:pos x="93" y="18"/>
                </a:cxn>
                <a:cxn ang="0">
                  <a:pos x="76" y="20"/>
                </a:cxn>
                <a:cxn ang="0">
                  <a:pos x="67" y="36"/>
                </a:cxn>
                <a:cxn ang="0">
                  <a:pos x="79" y="65"/>
                </a:cxn>
                <a:cxn ang="0">
                  <a:pos x="87" y="88"/>
                </a:cxn>
                <a:cxn ang="0">
                  <a:pos x="76" y="110"/>
                </a:cxn>
                <a:cxn ang="0">
                  <a:pos x="70" y="108"/>
                </a:cxn>
                <a:cxn ang="0">
                  <a:pos x="69" y="78"/>
                </a:cxn>
                <a:cxn ang="0">
                  <a:pos x="53" y="71"/>
                </a:cxn>
                <a:cxn ang="0">
                  <a:pos x="35" y="69"/>
                </a:cxn>
                <a:cxn ang="0">
                  <a:pos x="12" y="78"/>
                </a:cxn>
                <a:cxn ang="0">
                  <a:pos x="3" y="93"/>
                </a:cxn>
                <a:cxn ang="0">
                  <a:pos x="10" y="99"/>
                </a:cxn>
                <a:cxn ang="0">
                  <a:pos x="41" y="112"/>
                </a:cxn>
                <a:cxn ang="0">
                  <a:pos x="37" y="149"/>
                </a:cxn>
                <a:cxn ang="0">
                  <a:pos x="34" y="182"/>
                </a:cxn>
                <a:cxn ang="0">
                  <a:pos x="21" y="206"/>
                </a:cxn>
                <a:cxn ang="0">
                  <a:pos x="13" y="227"/>
                </a:cxn>
                <a:cxn ang="0">
                  <a:pos x="17" y="260"/>
                </a:cxn>
                <a:cxn ang="0">
                  <a:pos x="19" y="294"/>
                </a:cxn>
                <a:cxn ang="0">
                  <a:pos x="31" y="282"/>
                </a:cxn>
                <a:cxn ang="0">
                  <a:pos x="46" y="263"/>
                </a:cxn>
                <a:cxn ang="0">
                  <a:pos x="72" y="248"/>
                </a:cxn>
                <a:cxn ang="0">
                  <a:pos x="75" y="225"/>
                </a:cxn>
                <a:cxn ang="0">
                  <a:pos x="73" y="214"/>
                </a:cxn>
                <a:cxn ang="0">
                  <a:pos x="69" y="184"/>
                </a:cxn>
              </a:cxnLst>
              <a:rect l="0" t="0" r="r" b="b"/>
              <a:pathLst>
                <a:path w="166" h="294">
                  <a:moveTo>
                    <a:pt x="69" y="184"/>
                  </a:moveTo>
                  <a:lnTo>
                    <a:pt x="66" y="172"/>
                  </a:lnTo>
                  <a:lnTo>
                    <a:pt x="66" y="166"/>
                  </a:lnTo>
                  <a:lnTo>
                    <a:pt x="72" y="166"/>
                  </a:lnTo>
                  <a:lnTo>
                    <a:pt x="90" y="152"/>
                  </a:lnTo>
                  <a:lnTo>
                    <a:pt x="102" y="136"/>
                  </a:lnTo>
                  <a:lnTo>
                    <a:pt x="115" y="128"/>
                  </a:lnTo>
                  <a:lnTo>
                    <a:pt x="130" y="119"/>
                  </a:lnTo>
                  <a:lnTo>
                    <a:pt x="149" y="107"/>
                  </a:lnTo>
                  <a:lnTo>
                    <a:pt x="162" y="84"/>
                  </a:lnTo>
                  <a:lnTo>
                    <a:pt x="166" y="71"/>
                  </a:lnTo>
                  <a:lnTo>
                    <a:pt x="165" y="71"/>
                  </a:lnTo>
                  <a:lnTo>
                    <a:pt x="162" y="46"/>
                  </a:lnTo>
                  <a:lnTo>
                    <a:pt x="165" y="38"/>
                  </a:lnTo>
                  <a:lnTo>
                    <a:pt x="163" y="12"/>
                  </a:lnTo>
                  <a:lnTo>
                    <a:pt x="165" y="0"/>
                  </a:lnTo>
                  <a:lnTo>
                    <a:pt x="163" y="0"/>
                  </a:lnTo>
                  <a:lnTo>
                    <a:pt x="147" y="9"/>
                  </a:lnTo>
                  <a:lnTo>
                    <a:pt x="131" y="16"/>
                  </a:lnTo>
                  <a:lnTo>
                    <a:pt x="123" y="17"/>
                  </a:lnTo>
                  <a:lnTo>
                    <a:pt x="111" y="22"/>
                  </a:lnTo>
                  <a:lnTo>
                    <a:pt x="93" y="18"/>
                  </a:lnTo>
                  <a:lnTo>
                    <a:pt x="83" y="20"/>
                  </a:lnTo>
                  <a:lnTo>
                    <a:pt x="76" y="20"/>
                  </a:lnTo>
                  <a:lnTo>
                    <a:pt x="71" y="23"/>
                  </a:lnTo>
                  <a:lnTo>
                    <a:pt x="67" y="36"/>
                  </a:lnTo>
                  <a:lnTo>
                    <a:pt x="70" y="54"/>
                  </a:lnTo>
                  <a:lnTo>
                    <a:pt x="79" y="65"/>
                  </a:lnTo>
                  <a:lnTo>
                    <a:pt x="89" y="75"/>
                  </a:lnTo>
                  <a:lnTo>
                    <a:pt x="87" y="88"/>
                  </a:lnTo>
                  <a:lnTo>
                    <a:pt x="84" y="101"/>
                  </a:lnTo>
                  <a:lnTo>
                    <a:pt x="76" y="110"/>
                  </a:lnTo>
                  <a:lnTo>
                    <a:pt x="77" y="119"/>
                  </a:lnTo>
                  <a:lnTo>
                    <a:pt x="70" y="108"/>
                  </a:lnTo>
                  <a:lnTo>
                    <a:pt x="63" y="96"/>
                  </a:lnTo>
                  <a:lnTo>
                    <a:pt x="69" y="78"/>
                  </a:lnTo>
                  <a:lnTo>
                    <a:pt x="63" y="71"/>
                  </a:lnTo>
                  <a:lnTo>
                    <a:pt x="53" y="71"/>
                  </a:lnTo>
                  <a:lnTo>
                    <a:pt x="47" y="64"/>
                  </a:lnTo>
                  <a:lnTo>
                    <a:pt x="35" y="69"/>
                  </a:lnTo>
                  <a:lnTo>
                    <a:pt x="23" y="74"/>
                  </a:lnTo>
                  <a:lnTo>
                    <a:pt x="12" y="78"/>
                  </a:lnTo>
                  <a:lnTo>
                    <a:pt x="0" y="83"/>
                  </a:lnTo>
                  <a:lnTo>
                    <a:pt x="3" y="93"/>
                  </a:lnTo>
                  <a:lnTo>
                    <a:pt x="3" y="100"/>
                  </a:lnTo>
                  <a:lnTo>
                    <a:pt x="10" y="99"/>
                  </a:lnTo>
                  <a:lnTo>
                    <a:pt x="25" y="106"/>
                  </a:lnTo>
                  <a:lnTo>
                    <a:pt x="41" y="112"/>
                  </a:lnTo>
                  <a:lnTo>
                    <a:pt x="41" y="134"/>
                  </a:lnTo>
                  <a:lnTo>
                    <a:pt x="37" y="149"/>
                  </a:lnTo>
                  <a:lnTo>
                    <a:pt x="40" y="166"/>
                  </a:lnTo>
                  <a:lnTo>
                    <a:pt x="34" y="182"/>
                  </a:lnTo>
                  <a:lnTo>
                    <a:pt x="30" y="196"/>
                  </a:lnTo>
                  <a:lnTo>
                    <a:pt x="21" y="206"/>
                  </a:lnTo>
                  <a:lnTo>
                    <a:pt x="11" y="215"/>
                  </a:lnTo>
                  <a:lnTo>
                    <a:pt x="13" y="227"/>
                  </a:lnTo>
                  <a:lnTo>
                    <a:pt x="17" y="240"/>
                  </a:lnTo>
                  <a:lnTo>
                    <a:pt x="17" y="260"/>
                  </a:lnTo>
                  <a:lnTo>
                    <a:pt x="17" y="278"/>
                  </a:lnTo>
                  <a:lnTo>
                    <a:pt x="19" y="294"/>
                  </a:lnTo>
                  <a:lnTo>
                    <a:pt x="30" y="294"/>
                  </a:lnTo>
                  <a:lnTo>
                    <a:pt x="31" y="282"/>
                  </a:lnTo>
                  <a:lnTo>
                    <a:pt x="27" y="279"/>
                  </a:lnTo>
                  <a:lnTo>
                    <a:pt x="46" y="263"/>
                  </a:lnTo>
                  <a:lnTo>
                    <a:pt x="59" y="256"/>
                  </a:lnTo>
                  <a:lnTo>
                    <a:pt x="72" y="248"/>
                  </a:lnTo>
                  <a:lnTo>
                    <a:pt x="72" y="240"/>
                  </a:lnTo>
                  <a:lnTo>
                    <a:pt x="75" y="225"/>
                  </a:lnTo>
                  <a:lnTo>
                    <a:pt x="76" y="209"/>
                  </a:lnTo>
                  <a:lnTo>
                    <a:pt x="73" y="214"/>
                  </a:lnTo>
                  <a:lnTo>
                    <a:pt x="70" y="200"/>
                  </a:lnTo>
                  <a:lnTo>
                    <a:pt x="69" y="18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8" name="Freeform 207"/>
            <p:cNvSpPr>
              <a:spLocks/>
            </p:cNvSpPr>
            <p:nvPr/>
          </p:nvSpPr>
          <p:spPr bwMode="auto">
            <a:xfrm>
              <a:off x="2811" y="3147"/>
              <a:ext cx="282" cy="251"/>
            </a:xfrm>
            <a:custGeom>
              <a:avLst/>
              <a:gdLst/>
              <a:ahLst/>
              <a:cxnLst>
                <a:cxn ang="0">
                  <a:pos x="55" y="64"/>
                </a:cxn>
                <a:cxn ang="0">
                  <a:pos x="53" y="98"/>
                </a:cxn>
                <a:cxn ang="0">
                  <a:pos x="37" y="120"/>
                </a:cxn>
                <a:cxn ang="0">
                  <a:pos x="8" y="106"/>
                </a:cxn>
                <a:cxn ang="0">
                  <a:pos x="7" y="132"/>
                </a:cxn>
                <a:cxn ang="0">
                  <a:pos x="19" y="165"/>
                </a:cxn>
                <a:cxn ang="0">
                  <a:pos x="19" y="190"/>
                </a:cxn>
                <a:cxn ang="0">
                  <a:pos x="25" y="216"/>
                </a:cxn>
                <a:cxn ang="0">
                  <a:pos x="38" y="221"/>
                </a:cxn>
                <a:cxn ang="0">
                  <a:pos x="64" y="221"/>
                </a:cxn>
                <a:cxn ang="0">
                  <a:pos x="96" y="215"/>
                </a:cxn>
                <a:cxn ang="0">
                  <a:pos x="133" y="212"/>
                </a:cxn>
                <a:cxn ang="0">
                  <a:pos x="160" y="198"/>
                </a:cxn>
                <a:cxn ang="0">
                  <a:pos x="186" y="179"/>
                </a:cxn>
                <a:cxn ang="0">
                  <a:pos x="205" y="158"/>
                </a:cxn>
                <a:cxn ang="0">
                  <a:pos x="227" y="134"/>
                </a:cxn>
                <a:cxn ang="0">
                  <a:pos x="246" y="101"/>
                </a:cxn>
                <a:cxn ang="0">
                  <a:pos x="242" y="84"/>
                </a:cxn>
                <a:cxn ang="0">
                  <a:pos x="223" y="87"/>
                </a:cxn>
                <a:cxn ang="0">
                  <a:pos x="232" y="64"/>
                </a:cxn>
                <a:cxn ang="0">
                  <a:pos x="240" y="50"/>
                </a:cxn>
                <a:cxn ang="0">
                  <a:pos x="236" y="17"/>
                </a:cxn>
                <a:cxn ang="0">
                  <a:pos x="218" y="3"/>
                </a:cxn>
                <a:cxn ang="0">
                  <a:pos x="202" y="0"/>
                </a:cxn>
                <a:cxn ang="0">
                  <a:pos x="166" y="28"/>
                </a:cxn>
                <a:cxn ang="0">
                  <a:pos x="148" y="50"/>
                </a:cxn>
                <a:cxn ang="0">
                  <a:pos x="115" y="62"/>
                </a:cxn>
                <a:cxn ang="0">
                  <a:pos x="95" y="69"/>
                </a:cxn>
                <a:cxn ang="0">
                  <a:pos x="71" y="83"/>
                </a:cxn>
                <a:cxn ang="0">
                  <a:pos x="67" y="64"/>
                </a:cxn>
                <a:cxn ang="0">
                  <a:pos x="176" y="120"/>
                </a:cxn>
                <a:cxn ang="0">
                  <a:pos x="172" y="152"/>
                </a:cxn>
                <a:cxn ang="0">
                  <a:pos x="193" y="136"/>
                </a:cxn>
                <a:cxn ang="0">
                  <a:pos x="182" y="117"/>
                </a:cxn>
                <a:cxn ang="0">
                  <a:pos x="56" y="47"/>
                </a:cxn>
              </a:cxnLst>
              <a:rect l="0" t="0" r="r" b="b"/>
              <a:pathLst>
                <a:path w="253" h="226">
                  <a:moveTo>
                    <a:pt x="56" y="47"/>
                  </a:moveTo>
                  <a:lnTo>
                    <a:pt x="55" y="64"/>
                  </a:lnTo>
                  <a:lnTo>
                    <a:pt x="54" y="81"/>
                  </a:lnTo>
                  <a:lnTo>
                    <a:pt x="53" y="98"/>
                  </a:lnTo>
                  <a:lnTo>
                    <a:pt x="50" y="114"/>
                  </a:lnTo>
                  <a:lnTo>
                    <a:pt x="37" y="120"/>
                  </a:lnTo>
                  <a:lnTo>
                    <a:pt x="14" y="117"/>
                  </a:lnTo>
                  <a:lnTo>
                    <a:pt x="8" y="106"/>
                  </a:lnTo>
                  <a:lnTo>
                    <a:pt x="0" y="116"/>
                  </a:lnTo>
                  <a:lnTo>
                    <a:pt x="7" y="132"/>
                  </a:lnTo>
                  <a:lnTo>
                    <a:pt x="13" y="148"/>
                  </a:lnTo>
                  <a:lnTo>
                    <a:pt x="19" y="165"/>
                  </a:lnTo>
                  <a:lnTo>
                    <a:pt x="25" y="182"/>
                  </a:lnTo>
                  <a:lnTo>
                    <a:pt x="19" y="190"/>
                  </a:lnTo>
                  <a:lnTo>
                    <a:pt x="20" y="198"/>
                  </a:lnTo>
                  <a:lnTo>
                    <a:pt x="25" y="216"/>
                  </a:lnTo>
                  <a:lnTo>
                    <a:pt x="30" y="216"/>
                  </a:lnTo>
                  <a:lnTo>
                    <a:pt x="38" y="221"/>
                  </a:lnTo>
                  <a:lnTo>
                    <a:pt x="48" y="226"/>
                  </a:lnTo>
                  <a:lnTo>
                    <a:pt x="64" y="221"/>
                  </a:lnTo>
                  <a:lnTo>
                    <a:pt x="80" y="215"/>
                  </a:lnTo>
                  <a:lnTo>
                    <a:pt x="96" y="215"/>
                  </a:lnTo>
                  <a:lnTo>
                    <a:pt x="113" y="214"/>
                  </a:lnTo>
                  <a:lnTo>
                    <a:pt x="133" y="212"/>
                  </a:lnTo>
                  <a:lnTo>
                    <a:pt x="143" y="208"/>
                  </a:lnTo>
                  <a:lnTo>
                    <a:pt x="160" y="198"/>
                  </a:lnTo>
                  <a:lnTo>
                    <a:pt x="176" y="189"/>
                  </a:lnTo>
                  <a:lnTo>
                    <a:pt x="186" y="179"/>
                  </a:lnTo>
                  <a:lnTo>
                    <a:pt x="196" y="168"/>
                  </a:lnTo>
                  <a:lnTo>
                    <a:pt x="205" y="158"/>
                  </a:lnTo>
                  <a:lnTo>
                    <a:pt x="216" y="147"/>
                  </a:lnTo>
                  <a:lnTo>
                    <a:pt x="227" y="134"/>
                  </a:lnTo>
                  <a:lnTo>
                    <a:pt x="239" y="119"/>
                  </a:lnTo>
                  <a:lnTo>
                    <a:pt x="246" y="101"/>
                  </a:lnTo>
                  <a:lnTo>
                    <a:pt x="253" y="84"/>
                  </a:lnTo>
                  <a:lnTo>
                    <a:pt x="242" y="84"/>
                  </a:lnTo>
                  <a:lnTo>
                    <a:pt x="239" y="92"/>
                  </a:lnTo>
                  <a:lnTo>
                    <a:pt x="223" y="87"/>
                  </a:lnTo>
                  <a:lnTo>
                    <a:pt x="224" y="74"/>
                  </a:lnTo>
                  <a:lnTo>
                    <a:pt x="232" y="64"/>
                  </a:lnTo>
                  <a:lnTo>
                    <a:pt x="240" y="68"/>
                  </a:lnTo>
                  <a:lnTo>
                    <a:pt x="240" y="50"/>
                  </a:lnTo>
                  <a:lnTo>
                    <a:pt x="240" y="30"/>
                  </a:lnTo>
                  <a:lnTo>
                    <a:pt x="236" y="17"/>
                  </a:lnTo>
                  <a:lnTo>
                    <a:pt x="234" y="5"/>
                  </a:lnTo>
                  <a:lnTo>
                    <a:pt x="218" y="3"/>
                  </a:lnTo>
                  <a:lnTo>
                    <a:pt x="204" y="0"/>
                  </a:lnTo>
                  <a:lnTo>
                    <a:pt x="202" y="0"/>
                  </a:lnTo>
                  <a:lnTo>
                    <a:pt x="181" y="14"/>
                  </a:lnTo>
                  <a:lnTo>
                    <a:pt x="166" y="28"/>
                  </a:lnTo>
                  <a:lnTo>
                    <a:pt x="157" y="44"/>
                  </a:lnTo>
                  <a:lnTo>
                    <a:pt x="148" y="50"/>
                  </a:lnTo>
                  <a:lnTo>
                    <a:pt x="139" y="64"/>
                  </a:lnTo>
                  <a:lnTo>
                    <a:pt x="115" y="62"/>
                  </a:lnTo>
                  <a:lnTo>
                    <a:pt x="103" y="57"/>
                  </a:lnTo>
                  <a:lnTo>
                    <a:pt x="95" y="69"/>
                  </a:lnTo>
                  <a:lnTo>
                    <a:pt x="88" y="81"/>
                  </a:lnTo>
                  <a:lnTo>
                    <a:pt x="71" y="83"/>
                  </a:lnTo>
                  <a:lnTo>
                    <a:pt x="65" y="81"/>
                  </a:lnTo>
                  <a:lnTo>
                    <a:pt x="67" y="64"/>
                  </a:lnTo>
                  <a:lnTo>
                    <a:pt x="56" y="47"/>
                  </a:lnTo>
                  <a:lnTo>
                    <a:pt x="176" y="120"/>
                  </a:lnTo>
                  <a:lnTo>
                    <a:pt x="161" y="136"/>
                  </a:lnTo>
                  <a:lnTo>
                    <a:pt x="172" y="152"/>
                  </a:lnTo>
                  <a:lnTo>
                    <a:pt x="178" y="147"/>
                  </a:lnTo>
                  <a:lnTo>
                    <a:pt x="193" y="136"/>
                  </a:lnTo>
                  <a:lnTo>
                    <a:pt x="196" y="124"/>
                  </a:lnTo>
                  <a:lnTo>
                    <a:pt x="182" y="117"/>
                  </a:lnTo>
                  <a:lnTo>
                    <a:pt x="176" y="120"/>
                  </a:lnTo>
                  <a:lnTo>
                    <a:pt x="56" y="47"/>
                  </a:lnTo>
                  <a:close/>
                </a:path>
              </a:pathLst>
            </a:custGeom>
            <a:grpFill/>
            <a:ln w="3175" cmpd="sng">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9" name="Freeform 208"/>
            <p:cNvSpPr>
              <a:spLocks/>
            </p:cNvSpPr>
            <p:nvPr/>
          </p:nvSpPr>
          <p:spPr bwMode="auto">
            <a:xfrm>
              <a:off x="2811" y="3147"/>
              <a:ext cx="282" cy="251"/>
            </a:xfrm>
            <a:custGeom>
              <a:avLst/>
              <a:gdLst/>
              <a:ahLst/>
              <a:cxnLst>
                <a:cxn ang="0">
                  <a:pos x="56" y="47"/>
                </a:cxn>
                <a:cxn ang="0">
                  <a:pos x="55" y="64"/>
                </a:cxn>
                <a:cxn ang="0">
                  <a:pos x="54" y="81"/>
                </a:cxn>
                <a:cxn ang="0">
                  <a:pos x="53" y="98"/>
                </a:cxn>
                <a:cxn ang="0">
                  <a:pos x="50" y="114"/>
                </a:cxn>
                <a:cxn ang="0">
                  <a:pos x="37" y="120"/>
                </a:cxn>
                <a:cxn ang="0">
                  <a:pos x="14" y="117"/>
                </a:cxn>
                <a:cxn ang="0">
                  <a:pos x="8" y="106"/>
                </a:cxn>
                <a:cxn ang="0">
                  <a:pos x="0" y="116"/>
                </a:cxn>
                <a:cxn ang="0">
                  <a:pos x="7" y="132"/>
                </a:cxn>
                <a:cxn ang="0">
                  <a:pos x="13" y="148"/>
                </a:cxn>
                <a:cxn ang="0">
                  <a:pos x="19" y="165"/>
                </a:cxn>
                <a:cxn ang="0">
                  <a:pos x="25" y="182"/>
                </a:cxn>
                <a:cxn ang="0">
                  <a:pos x="19" y="190"/>
                </a:cxn>
                <a:cxn ang="0">
                  <a:pos x="20" y="198"/>
                </a:cxn>
                <a:cxn ang="0">
                  <a:pos x="25" y="216"/>
                </a:cxn>
                <a:cxn ang="0">
                  <a:pos x="30" y="216"/>
                </a:cxn>
                <a:cxn ang="0">
                  <a:pos x="38" y="221"/>
                </a:cxn>
                <a:cxn ang="0">
                  <a:pos x="48" y="226"/>
                </a:cxn>
                <a:cxn ang="0">
                  <a:pos x="64" y="221"/>
                </a:cxn>
                <a:cxn ang="0">
                  <a:pos x="80" y="215"/>
                </a:cxn>
                <a:cxn ang="0">
                  <a:pos x="96" y="215"/>
                </a:cxn>
                <a:cxn ang="0">
                  <a:pos x="113" y="214"/>
                </a:cxn>
                <a:cxn ang="0">
                  <a:pos x="133" y="212"/>
                </a:cxn>
                <a:cxn ang="0">
                  <a:pos x="143" y="208"/>
                </a:cxn>
                <a:cxn ang="0">
                  <a:pos x="160" y="198"/>
                </a:cxn>
                <a:cxn ang="0">
                  <a:pos x="176" y="189"/>
                </a:cxn>
                <a:cxn ang="0">
                  <a:pos x="186" y="179"/>
                </a:cxn>
                <a:cxn ang="0">
                  <a:pos x="196" y="168"/>
                </a:cxn>
                <a:cxn ang="0">
                  <a:pos x="205" y="158"/>
                </a:cxn>
                <a:cxn ang="0">
                  <a:pos x="216" y="147"/>
                </a:cxn>
                <a:cxn ang="0">
                  <a:pos x="227" y="134"/>
                </a:cxn>
                <a:cxn ang="0">
                  <a:pos x="239" y="119"/>
                </a:cxn>
                <a:cxn ang="0">
                  <a:pos x="246" y="101"/>
                </a:cxn>
                <a:cxn ang="0">
                  <a:pos x="253" y="84"/>
                </a:cxn>
                <a:cxn ang="0">
                  <a:pos x="242" y="84"/>
                </a:cxn>
                <a:cxn ang="0">
                  <a:pos x="239" y="92"/>
                </a:cxn>
                <a:cxn ang="0">
                  <a:pos x="223" y="87"/>
                </a:cxn>
                <a:cxn ang="0">
                  <a:pos x="224" y="74"/>
                </a:cxn>
                <a:cxn ang="0">
                  <a:pos x="232" y="64"/>
                </a:cxn>
                <a:cxn ang="0">
                  <a:pos x="240" y="68"/>
                </a:cxn>
                <a:cxn ang="0">
                  <a:pos x="240" y="50"/>
                </a:cxn>
                <a:cxn ang="0">
                  <a:pos x="240" y="30"/>
                </a:cxn>
                <a:cxn ang="0">
                  <a:pos x="236" y="17"/>
                </a:cxn>
                <a:cxn ang="0">
                  <a:pos x="234" y="5"/>
                </a:cxn>
                <a:cxn ang="0">
                  <a:pos x="218" y="3"/>
                </a:cxn>
                <a:cxn ang="0">
                  <a:pos x="204" y="0"/>
                </a:cxn>
                <a:cxn ang="0">
                  <a:pos x="202" y="0"/>
                </a:cxn>
                <a:cxn ang="0">
                  <a:pos x="181" y="14"/>
                </a:cxn>
                <a:cxn ang="0">
                  <a:pos x="166" y="28"/>
                </a:cxn>
                <a:cxn ang="0">
                  <a:pos x="157" y="44"/>
                </a:cxn>
                <a:cxn ang="0">
                  <a:pos x="148" y="50"/>
                </a:cxn>
                <a:cxn ang="0">
                  <a:pos x="139" y="64"/>
                </a:cxn>
                <a:cxn ang="0">
                  <a:pos x="115" y="62"/>
                </a:cxn>
                <a:cxn ang="0">
                  <a:pos x="103" y="57"/>
                </a:cxn>
                <a:cxn ang="0">
                  <a:pos x="95" y="69"/>
                </a:cxn>
                <a:cxn ang="0">
                  <a:pos x="88" y="81"/>
                </a:cxn>
                <a:cxn ang="0">
                  <a:pos x="71" y="83"/>
                </a:cxn>
                <a:cxn ang="0">
                  <a:pos x="65" y="81"/>
                </a:cxn>
                <a:cxn ang="0">
                  <a:pos x="67" y="64"/>
                </a:cxn>
                <a:cxn ang="0">
                  <a:pos x="56" y="47"/>
                </a:cxn>
              </a:cxnLst>
              <a:rect l="0" t="0" r="r" b="b"/>
              <a:pathLst>
                <a:path w="253" h="226">
                  <a:moveTo>
                    <a:pt x="56" y="47"/>
                  </a:moveTo>
                  <a:lnTo>
                    <a:pt x="55" y="64"/>
                  </a:lnTo>
                  <a:lnTo>
                    <a:pt x="54" y="81"/>
                  </a:lnTo>
                  <a:lnTo>
                    <a:pt x="53" y="98"/>
                  </a:lnTo>
                  <a:lnTo>
                    <a:pt x="50" y="114"/>
                  </a:lnTo>
                  <a:lnTo>
                    <a:pt x="37" y="120"/>
                  </a:lnTo>
                  <a:lnTo>
                    <a:pt x="14" y="117"/>
                  </a:lnTo>
                  <a:lnTo>
                    <a:pt x="8" y="106"/>
                  </a:lnTo>
                  <a:lnTo>
                    <a:pt x="0" y="116"/>
                  </a:lnTo>
                  <a:lnTo>
                    <a:pt x="7" y="132"/>
                  </a:lnTo>
                  <a:lnTo>
                    <a:pt x="13" y="148"/>
                  </a:lnTo>
                  <a:lnTo>
                    <a:pt x="19" y="165"/>
                  </a:lnTo>
                  <a:lnTo>
                    <a:pt x="25" y="182"/>
                  </a:lnTo>
                  <a:lnTo>
                    <a:pt x="19" y="190"/>
                  </a:lnTo>
                  <a:lnTo>
                    <a:pt x="20" y="198"/>
                  </a:lnTo>
                  <a:lnTo>
                    <a:pt x="25" y="216"/>
                  </a:lnTo>
                  <a:lnTo>
                    <a:pt x="30" y="216"/>
                  </a:lnTo>
                  <a:lnTo>
                    <a:pt x="38" y="221"/>
                  </a:lnTo>
                  <a:lnTo>
                    <a:pt x="48" y="226"/>
                  </a:lnTo>
                  <a:lnTo>
                    <a:pt x="64" y="221"/>
                  </a:lnTo>
                  <a:lnTo>
                    <a:pt x="80" y="215"/>
                  </a:lnTo>
                  <a:lnTo>
                    <a:pt x="96" y="215"/>
                  </a:lnTo>
                  <a:lnTo>
                    <a:pt x="113" y="214"/>
                  </a:lnTo>
                  <a:lnTo>
                    <a:pt x="133" y="212"/>
                  </a:lnTo>
                  <a:lnTo>
                    <a:pt x="143" y="208"/>
                  </a:lnTo>
                  <a:lnTo>
                    <a:pt x="160" y="198"/>
                  </a:lnTo>
                  <a:lnTo>
                    <a:pt x="176" y="189"/>
                  </a:lnTo>
                  <a:lnTo>
                    <a:pt x="186" y="179"/>
                  </a:lnTo>
                  <a:lnTo>
                    <a:pt x="196" y="168"/>
                  </a:lnTo>
                  <a:lnTo>
                    <a:pt x="205" y="158"/>
                  </a:lnTo>
                  <a:lnTo>
                    <a:pt x="216" y="147"/>
                  </a:lnTo>
                  <a:lnTo>
                    <a:pt x="227" y="134"/>
                  </a:lnTo>
                  <a:lnTo>
                    <a:pt x="239" y="119"/>
                  </a:lnTo>
                  <a:lnTo>
                    <a:pt x="246" y="101"/>
                  </a:lnTo>
                  <a:lnTo>
                    <a:pt x="253" y="84"/>
                  </a:lnTo>
                  <a:lnTo>
                    <a:pt x="242" y="84"/>
                  </a:lnTo>
                  <a:lnTo>
                    <a:pt x="239" y="92"/>
                  </a:lnTo>
                  <a:lnTo>
                    <a:pt x="223" y="87"/>
                  </a:lnTo>
                  <a:lnTo>
                    <a:pt x="224" y="74"/>
                  </a:lnTo>
                  <a:lnTo>
                    <a:pt x="232" y="64"/>
                  </a:lnTo>
                  <a:lnTo>
                    <a:pt x="240" y="68"/>
                  </a:lnTo>
                  <a:lnTo>
                    <a:pt x="240" y="50"/>
                  </a:lnTo>
                  <a:lnTo>
                    <a:pt x="240" y="30"/>
                  </a:lnTo>
                  <a:lnTo>
                    <a:pt x="236" y="17"/>
                  </a:lnTo>
                  <a:lnTo>
                    <a:pt x="234" y="5"/>
                  </a:lnTo>
                  <a:lnTo>
                    <a:pt x="218" y="3"/>
                  </a:lnTo>
                  <a:lnTo>
                    <a:pt x="204" y="0"/>
                  </a:lnTo>
                  <a:lnTo>
                    <a:pt x="202" y="0"/>
                  </a:lnTo>
                  <a:lnTo>
                    <a:pt x="181" y="14"/>
                  </a:lnTo>
                  <a:lnTo>
                    <a:pt x="166" y="28"/>
                  </a:lnTo>
                  <a:lnTo>
                    <a:pt x="157" y="44"/>
                  </a:lnTo>
                  <a:lnTo>
                    <a:pt x="148" y="50"/>
                  </a:lnTo>
                  <a:lnTo>
                    <a:pt x="139" y="64"/>
                  </a:lnTo>
                  <a:lnTo>
                    <a:pt x="115" y="62"/>
                  </a:lnTo>
                  <a:lnTo>
                    <a:pt x="103" y="57"/>
                  </a:lnTo>
                  <a:lnTo>
                    <a:pt x="95" y="69"/>
                  </a:lnTo>
                  <a:lnTo>
                    <a:pt x="88" y="81"/>
                  </a:lnTo>
                  <a:lnTo>
                    <a:pt x="71" y="83"/>
                  </a:lnTo>
                  <a:lnTo>
                    <a:pt x="65" y="81"/>
                  </a:lnTo>
                  <a:lnTo>
                    <a:pt x="67" y="64"/>
                  </a:lnTo>
                  <a:lnTo>
                    <a:pt x="56" y="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0" name="Freeform 209"/>
            <p:cNvSpPr>
              <a:spLocks/>
            </p:cNvSpPr>
            <p:nvPr/>
          </p:nvSpPr>
          <p:spPr bwMode="auto">
            <a:xfrm>
              <a:off x="2989" y="3276"/>
              <a:ext cx="40" cy="40"/>
            </a:xfrm>
            <a:custGeom>
              <a:avLst/>
              <a:gdLst/>
              <a:ahLst/>
              <a:cxnLst>
                <a:cxn ang="0">
                  <a:pos x="15" y="3"/>
                </a:cxn>
                <a:cxn ang="0">
                  <a:pos x="0" y="19"/>
                </a:cxn>
                <a:cxn ang="0">
                  <a:pos x="11" y="35"/>
                </a:cxn>
                <a:cxn ang="0">
                  <a:pos x="17" y="30"/>
                </a:cxn>
                <a:cxn ang="0">
                  <a:pos x="32" y="19"/>
                </a:cxn>
                <a:cxn ang="0">
                  <a:pos x="35" y="7"/>
                </a:cxn>
                <a:cxn ang="0">
                  <a:pos x="21" y="0"/>
                </a:cxn>
                <a:cxn ang="0">
                  <a:pos x="15" y="3"/>
                </a:cxn>
              </a:cxnLst>
              <a:rect l="0" t="0" r="r" b="b"/>
              <a:pathLst>
                <a:path w="35" h="35">
                  <a:moveTo>
                    <a:pt x="15" y="3"/>
                  </a:moveTo>
                  <a:lnTo>
                    <a:pt x="0" y="19"/>
                  </a:lnTo>
                  <a:lnTo>
                    <a:pt x="11" y="35"/>
                  </a:lnTo>
                  <a:lnTo>
                    <a:pt x="17" y="30"/>
                  </a:lnTo>
                  <a:lnTo>
                    <a:pt x="32" y="19"/>
                  </a:lnTo>
                  <a:lnTo>
                    <a:pt x="35" y="7"/>
                  </a:lnTo>
                  <a:lnTo>
                    <a:pt x="21" y="0"/>
                  </a:lnTo>
                  <a:lnTo>
                    <a:pt x="1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1" name="Freeform 210"/>
            <p:cNvSpPr>
              <a:spLocks/>
            </p:cNvSpPr>
            <p:nvPr/>
          </p:nvSpPr>
          <p:spPr bwMode="auto">
            <a:xfrm>
              <a:off x="2780" y="3156"/>
              <a:ext cx="2" cy="11"/>
            </a:xfrm>
            <a:custGeom>
              <a:avLst/>
              <a:gdLst/>
              <a:ahLst/>
              <a:cxnLst>
                <a:cxn ang="0">
                  <a:pos x="3" y="9"/>
                </a:cxn>
                <a:cxn ang="0">
                  <a:pos x="0" y="8"/>
                </a:cxn>
                <a:cxn ang="0">
                  <a:pos x="2" y="0"/>
                </a:cxn>
                <a:cxn ang="0">
                  <a:pos x="3" y="9"/>
                </a:cxn>
              </a:cxnLst>
              <a:rect l="0" t="0" r="r" b="b"/>
              <a:pathLst>
                <a:path w="3" h="9">
                  <a:moveTo>
                    <a:pt x="3" y="9"/>
                  </a:moveTo>
                  <a:lnTo>
                    <a:pt x="0" y="8"/>
                  </a:lnTo>
                  <a:lnTo>
                    <a:pt x="2" y="0"/>
                  </a:lnTo>
                  <a:lnTo>
                    <a:pt x="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2" name="Freeform 211"/>
            <p:cNvSpPr>
              <a:spLocks/>
            </p:cNvSpPr>
            <p:nvPr/>
          </p:nvSpPr>
          <p:spPr bwMode="auto">
            <a:xfrm>
              <a:off x="3060" y="3218"/>
              <a:ext cx="20" cy="32"/>
            </a:xfrm>
            <a:custGeom>
              <a:avLst/>
              <a:gdLst/>
              <a:ahLst/>
              <a:cxnLst>
                <a:cxn ang="0">
                  <a:pos x="9" y="0"/>
                </a:cxn>
                <a:cxn ang="0">
                  <a:pos x="1" y="10"/>
                </a:cxn>
                <a:cxn ang="0">
                  <a:pos x="0" y="23"/>
                </a:cxn>
                <a:cxn ang="0">
                  <a:pos x="16" y="28"/>
                </a:cxn>
                <a:cxn ang="0">
                  <a:pos x="19" y="20"/>
                </a:cxn>
                <a:cxn ang="0">
                  <a:pos x="17" y="4"/>
                </a:cxn>
                <a:cxn ang="0">
                  <a:pos x="9" y="0"/>
                </a:cxn>
              </a:cxnLst>
              <a:rect l="0" t="0" r="r" b="b"/>
              <a:pathLst>
                <a:path w="19" h="28">
                  <a:moveTo>
                    <a:pt x="9" y="0"/>
                  </a:moveTo>
                  <a:lnTo>
                    <a:pt x="1" y="10"/>
                  </a:lnTo>
                  <a:lnTo>
                    <a:pt x="0" y="23"/>
                  </a:lnTo>
                  <a:lnTo>
                    <a:pt x="16" y="28"/>
                  </a:lnTo>
                  <a:lnTo>
                    <a:pt x="19" y="20"/>
                  </a:lnTo>
                  <a:lnTo>
                    <a:pt x="17" y="4"/>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3" name="Freeform 212"/>
            <p:cNvSpPr>
              <a:spLocks/>
            </p:cNvSpPr>
            <p:nvPr/>
          </p:nvSpPr>
          <p:spPr bwMode="auto">
            <a:xfrm>
              <a:off x="2736" y="2823"/>
              <a:ext cx="215" cy="240"/>
            </a:xfrm>
            <a:custGeom>
              <a:avLst/>
              <a:gdLst/>
              <a:ahLst/>
              <a:cxnLst>
                <a:cxn ang="0">
                  <a:pos x="193" y="127"/>
                </a:cxn>
                <a:cxn ang="0">
                  <a:pos x="177" y="127"/>
                </a:cxn>
                <a:cxn ang="0">
                  <a:pos x="162" y="128"/>
                </a:cxn>
                <a:cxn ang="0">
                  <a:pos x="161" y="141"/>
                </a:cxn>
                <a:cxn ang="0">
                  <a:pos x="161" y="156"/>
                </a:cxn>
                <a:cxn ang="0">
                  <a:pos x="161" y="170"/>
                </a:cxn>
                <a:cxn ang="0">
                  <a:pos x="161" y="184"/>
                </a:cxn>
                <a:cxn ang="0">
                  <a:pos x="171" y="198"/>
                </a:cxn>
                <a:cxn ang="0">
                  <a:pos x="182" y="211"/>
                </a:cxn>
                <a:cxn ang="0">
                  <a:pos x="158" y="213"/>
                </a:cxn>
                <a:cxn ang="0">
                  <a:pos x="135" y="217"/>
                </a:cxn>
                <a:cxn ang="0">
                  <a:pos x="120" y="213"/>
                </a:cxn>
                <a:cxn ang="0">
                  <a:pos x="105" y="210"/>
                </a:cxn>
                <a:cxn ang="0">
                  <a:pos x="103" y="206"/>
                </a:cxn>
                <a:cxn ang="0">
                  <a:pos x="85" y="206"/>
                </a:cxn>
                <a:cxn ang="0">
                  <a:pos x="67" y="205"/>
                </a:cxn>
                <a:cxn ang="0">
                  <a:pos x="49" y="205"/>
                </a:cxn>
                <a:cxn ang="0">
                  <a:pos x="30" y="204"/>
                </a:cxn>
                <a:cxn ang="0">
                  <a:pos x="19" y="199"/>
                </a:cxn>
                <a:cxn ang="0">
                  <a:pos x="0" y="204"/>
                </a:cxn>
                <a:cxn ang="0">
                  <a:pos x="1" y="189"/>
                </a:cxn>
                <a:cxn ang="0">
                  <a:pos x="2" y="175"/>
                </a:cxn>
                <a:cxn ang="0">
                  <a:pos x="9" y="153"/>
                </a:cxn>
                <a:cxn ang="0">
                  <a:pos x="17" y="130"/>
                </a:cxn>
                <a:cxn ang="0">
                  <a:pos x="25" y="118"/>
                </a:cxn>
                <a:cxn ang="0">
                  <a:pos x="32" y="106"/>
                </a:cxn>
                <a:cxn ang="0">
                  <a:pos x="30" y="82"/>
                </a:cxn>
                <a:cxn ang="0">
                  <a:pos x="25" y="68"/>
                </a:cxn>
                <a:cxn ang="0">
                  <a:pos x="21" y="55"/>
                </a:cxn>
                <a:cxn ang="0">
                  <a:pos x="26" y="46"/>
                </a:cxn>
                <a:cxn ang="0">
                  <a:pos x="19" y="25"/>
                </a:cxn>
                <a:cxn ang="0">
                  <a:pos x="11" y="3"/>
                </a:cxn>
                <a:cxn ang="0">
                  <a:pos x="24" y="0"/>
                </a:cxn>
                <a:cxn ang="0">
                  <a:pos x="37" y="0"/>
                </a:cxn>
                <a:cxn ang="0">
                  <a:pos x="51" y="1"/>
                </a:cxn>
                <a:cxn ang="0">
                  <a:pos x="65" y="1"/>
                </a:cxn>
                <a:cxn ang="0">
                  <a:pos x="78" y="2"/>
                </a:cxn>
                <a:cxn ang="0">
                  <a:pos x="84" y="19"/>
                </a:cxn>
                <a:cxn ang="0">
                  <a:pos x="91" y="36"/>
                </a:cxn>
                <a:cxn ang="0">
                  <a:pos x="102" y="39"/>
                </a:cxn>
                <a:cxn ang="0">
                  <a:pos x="121" y="36"/>
                </a:cxn>
                <a:cxn ang="0">
                  <a:pos x="125" y="20"/>
                </a:cxn>
                <a:cxn ang="0">
                  <a:pos x="140" y="21"/>
                </a:cxn>
                <a:cxn ang="0">
                  <a:pos x="140" y="25"/>
                </a:cxn>
                <a:cxn ang="0">
                  <a:pos x="161" y="28"/>
                </a:cxn>
                <a:cxn ang="0">
                  <a:pos x="162" y="49"/>
                </a:cxn>
                <a:cxn ang="0">
                  <a:pos x="162" y="69"/>
                </a:cxn>
                <a:cxn ang="0">
                  <a:pos x="167" y="87"/>
                </a:cxn>
                <a:cxn ang="0">
                  <a:pos x="168" y="94"/>
                </a:cxn>
                <a:cxn ang="0">
                  <a:pos x="181" y="92"/>
                </a:cxn>
                <a:cxn ang="0">
                  <a:pos x="193" y="90"/>
                </a:cxn>
                <a:cxn ang="0">
                  <a:pos x="193" y="108"/>
                </a:cxn>
                <a:cxn ang="0">
                  <a:pos x="193" y="127"/>
                </a:cxn>
              </a:cxnLst>
              <a:rect l="0" t="0" r="r" b="b"/>
              <a:pathLst>
                <a:path w="193" h="217">
                  <a:moveTo>
                    <a:pt x="193" y="127"/>
                  </a:moveTo>
                  <a:lnTo>
                    <a:pt x="177" y="127"/>
                  </a:lnTo>
                  <a:lnTo>
                    <a:pt x="162" y="128"/>
                  </a:lnTo>
                  <a:lnTo>
                    <a:pt x="161" y="141"/>
                  </a:lnTo>
                  <a:lnTo>
                    <a:pt x="161" y="156"/>
                  </a:lnTo>
                  <a:lnTo>
                    <a:pt x="161" y="170"/>
                  </a:lnTo>
                  <a:lnTo>
                    <a:pt x="161" y="184"/>
                  </a:lnTo>
                  <a:lnTo>
                    <a:pt x="171" y="198"/>
                  </a:lnTo>
                  <a:lnTo>
                    <a:pt x="182" y="211"/>
                  </a:lnTo>
                  <a:lnTo>
                    <a:pt x="158" y="213"/>
                  </a:lnTo>
                  <a:lnTo>
                    <a:pt x="135" y="217"/>
                  </a:lnTo>
                  <a:lnTo>
                    <a:pt x="120" y="213"/>
                  </a:lnTo>
                  <a:lnTo>
                    <a:pt x="105" y="210"/>
                  </a:lnTo>
                  <a:lnTo>
                    <a:pt x="103" y="206"/>
                  </a:lnTo>
                  <a:lnTo>
                    <a:pt x="85" y="206"/>
                  </a:lnTo>
                  <a:lnTo>
                    <a:pt x="67" y="205"/>
                  </a:lnTo>
                  <a:lnTo>
                    <a:pt x="49" y="205"/>
                  </a:lnTo>
                  <a:lnTo>
                    <a:pt x="30" y="204"/>
                  </a:lnTo>
                  <a:lnTo>
                    <a:pt x="19" y="199"/>
                  </a:lnTo>
                  <a:lnTo>
                    <a:pt x="0" y="204"/>
                  </a:lnTo>
                  <a:lnTo>
                    <a:pt x="1" y="189"/>
                  </a:lnTo>
                  <a:lnTo>
                    <a:pt x="2" y="175"/>
                  </a:lnTo>
                  <a:lnTo>
                    <a:pt x="9" y="153"/>
                  </a:lnTo>
                  <a:lnTo>
                    <a:pt x="17" y="130"/>
                  </a:lnTo>
                  <a:lnTo>
                    <a:pt x="25" y="118"/>
                  </a:lnTo>
                  <a:lnTo>
                    <a:pt x="32" y="106"/>
                  </a:lnTo>
                  <a:lnTo>
                    <a:pt x="30" y="82"/>
                  </a:lnTo>
                  <a:lnTo>
                    <a:pt x="25" y="68"/>
                  </a:lnTo>
                  <a:lnTo>
                    <a:pt x="21" y="55"/>
                  </a:lnTo>
                  <a:lnTo>
                    <a:pt x="26" y="46"/>
                  </a:lnTo>
                  <a:lnTo>
                    <a:pt x="19" y="25"/>
                  </a:lnTo>
                  <a:lnTo>
                    <a:pt x="11" y="3"/>
                  </a:lnTo>
                  <a:lnTo>
                    <a:pt x="24" y="0"/>
                  </a:lnTo>
                  <a:lnTo>
                    <a:pt x="37" y="0"/>
                  </a:lnTo>
                  <a:lnTo>
                    <a:pt x="51" y="1"/>
                  </a:lnTo>
                  <a:lnTo>
                    <a:pt x="65" y="1"/>
                  </a:lnTo>
                  <a:lnTo>
                    <a:pt x="78" y="2"/>
                  </a:lnTo>
                  <a:lnTo>
                    <a:pt x="84" y="19"/>
                  </a:lnTo>
                  <a:lnTo>
                    <a:pt x="91" y="36"/>
                  </a:lnTo>
                  <a:lnTo>
                    <a:pt x="102" y="39"/>
                  </a:lnTo>
                  <a:lnTo>
                    <a:pt x="121" y="36"/>
                  </a:lnTo>
                  <a:lnTo>
                    <a:pt x="125" y="20"/>
                  </a:lnTo>
                  <a:lnTo>
                    <a:pt x="140" y="21"/>
                  </a:lnTo>
                  <a:lnTo>
                    <a:pt x="140" y="25"/>
                  </a:lnTo>
                  <a:lnTo>
                    <a:pt x="161" y="28"/>
                  </a:lnTo>
                  <a:lnTo>
                    <a:pt x="162" y="49"/>
                  </a:lnTo>
                  <a:lnTo>
                    <a:pt x="162" y="69"/>
                  </a:lnTo>
                  <a:lnTo>
                    <a:pt x="167" y="87"/>
                  </a:lnTo>
                  <a:lnTo>
                    <a:pt x="168" y="94"/>
                  </a:lnTo>
                  <a:lnTo>
                    <a:pt x="181" y="92"/>
                  </a:lnTo>
                  <a:lnTo>
                    <a:pt x="193" y="90"/>
                  </a:lnTo>
                  <a:lnTo>
                    <a:pt x="193" y="108"/>
                  </a:lnTo>
                  <a:lnTo>
                    <a:pt x="193" y="1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4" name="Freeform 213"/>
            <p:cNvSpPr>
              <a:spLocks/>
            </p:cNvSpPr>
            <p:nvPr/>
          </p:nvSpPr>
          <p:spPr bwMode="auto">
            <a:xfrm>
              <a:off x="2742" y="2794"/>
              <a:ext cx="20" cy="27"/>
            </a:xfrm>
            <a:custGeom>
              <a:avLst/>
              <a:gdLst/>
              <a:ahLst/>
              <a:cxnLst>
                <a:cxn ang="0">
                  <a:pos x="2" y="24"/>
                </a:cxn>
                <a:cxn ang="0">
                  <a:pos x="0" y="10"/>
                </a:cxn>
                <a:cxn ang="0">
                  <a:pos x="11" y="0"/>
                </a:cxn>
                <a:cxn ang="0">
                  <a:pos x="17" y="3"/>
                </a:cxn>
                <a:cxn ang="0">
                  <a:pos x="9" y="9"/>
                </a:cxn>
                <a:cxn ang="0">
                  <a:pos x="8" y="23"/>
                </a:cxn>
                <a:cxn ang="0">
                  <a:pos x="2" y="24"/>
                </a:cxn>
              </a:cxnLst>
              <a:rect l="0" t="0" r="r" b="b"/>
              <a:pathLst>
                <a:path w="17" h="24">
                  <a:moveTo>
                    <a:pt x="2" y="24"/>
                  </a:moveTo>
                  <a:lnTo>
                    <a:pt x="0" y="10"/>
                  </a:lnTo>
                  <a:lnTo>
                    <a:pt x="11" y="0"/>
                  </a:lnTo>
                  <a:lnTo>
                    <a:pt x="17" y="3"/>
                  </a:lnTo>
                  <a:lnTo>
                    <a:pt x="9" y="9"/>
                  </a:lnTo>
                  <a:lnTo>
                    <a:pt x="8" y="23"/>
                  </a:lnTo>
                  <a:lnTo>
                    <a:pt x="2"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5" name="Freeform 214"/>
            <p:cNvSpPr>
              <a:spLocks/>
            </p:cNvSpPr>
            <p:nvPr/>
          </p:nvSpPr>
          <p:spPr bwMode="auto">
            <a:xfrm>
              <a:off x="2698" y="2659"/>
              <a:ext cx="33" cy="26"/>
            </a:xfrm>
            <a:custGeom>
              <a:avLst/>
              <a:gdLst/>
              <a:ahLst/>
              <a:cxnLst>
                <a:cxn ang="0">
                  <a:pos x="6" y="24"/>
                </a:cxn>
                <a:cxn ang="0">
                  <a:pos x="0" y="22"/>
                </a:cxn>
                <a:cxn ang="0">
                  <a:pos x="2" y="16"/>
                </a:cxn>
                <a:cxn ang="0">
                  <a:pos x="6" y="0"/>
                </a:cxn>
                <a:cxn ang="0">
                  <a:pos x="18" y="1"/>
                </a:cxn>
                <a:cxn ang="0">
                  <a:pos x="30" y="4"/>
                </a:cxn>
                <a:cxn ang="0">
                  <a:pos x="30" y="24"/>
                </a:cxn>
                <a:cxn ang="0">
                  <a:pos x="18" y="24"/>
                </a:cxn>
                <a:cxn ang="0">
                  <a:pos x="6" y="24"/>
                </a:cxn>
              </a:cxnLst>
              <a:rect l="0" t="0" r="r" b="b"/>
              <a:pathLst>
                <a:path w="30" h="24">
                  <a:moveTo>
                    <a:pt x="6" y="24"/>
                  </a:moveTo>
                  <a:lnTo>
                    <a:pt x="0" y="22"/>
                  </a:lnTo>
                  <a:lnTo>
                    <a:pt x="2" y="16"/>
                  </a:lnTo>
                  <a:lnTo>
                    <a:pt x="6" y="0"/>
                  </a:lnTo>
                  <a:lnTo>
                    <a:pt x="18" y="1"/>
                  </a:lnTo>
                  <a:lnTo>
                    <a:pt x="30" y="4"/>
                  </a:lnTo>
                  <a:lnTo>
                    <a:pt x="30" y="24"/>
                  </a:lnTo>
                  <a:lnTo>
                    <a:pt x="18" y="24"/>
                  </a:lnTo>
                  <a:lnTo>
                    <a:pt x="6"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6" name="Freeform 215"/>
            <p:cNvSpPr>
              <a:spLocks/>
            </p:cNvSpPr>
            <p:nvPr/>
          </p:nvSpPr>
          <p:spPr bwMode="auto">
            <a:xfrm>
              <a:off x="2680" y="2630"/>
              <a:ext cx="9" cy="11"/>
            </a:xfrm>
            <a:custGeom>
              <a:avLst/>
              <a:gdLst/>
              <a:ahLst/>
              <a:cxnLst>
                <a:cxn ang="0">
                  <a:pos x="9" y="1"/>
                </a:cxn>
                <a:cxn ang="0">
                  <a:pos x="6" y="0"/>
                </a:cxn>
                <a:cxn ang="0">
                  <a:pos x="0" y="8"/>
                </a:cxn>
                <a:cxn ang="0">
                  <a:pos x="9" y="1"/>
                </a:cxn>
              </a:cxnLst>
              <a:rect l="0" t="0" r="r" b="b"/>
              <a:pathLst>
                <a:path w="9" h="8">
                  <a:moveTo>
                    <a:pt x="9" y="1"/>
                  </a:moveTo>
                  <a:lnTo>
                    <a:pt x="6" y="0"/>
                  </a:lnTo>
                  <a:lnTo>
                    <a:pt x="0" y="8"/>
                  </a:lnTo>
                  <a:lnTo>
                    <a:pt x="9"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7" name="Freeform 216"/>
            <p:cNvSpPr>
              <a:spLocks/>
            </p:cNvSpPr>
            <p:nvPr/>
          </p:nvSpPr>
          <p:spPr bwMode="auto">
            <a:xfrm>
              <a:off x="2687" y="2663"/>
              <a:ext cx="100" cy="120"/>
            </a:xfrm>
            <a:custGeom>
              <a:avLst/>
              <a:gdLst/>
              <a:ahLst/>
              <a:cxnLst>
                <a:cxn ang="0">
                  <a:pos x="16" y="20"/>
                </a:cxn>
                <a:cxn ang="0">
                  <a:pos x="13" y="27"/>
                </a:cxn>
                <a:cxn ang="0">
                  <a:pos x="9" y="27"/>
                </a:cxn>
                <a:cxn ang="0">
                  <a:pos x="19" y="36"/>
                </a:cxn>
                <a:cxn ang="0">
                  <a:pos x="10" y="34"/>
                </a:cxn>
                <a:cxn ang="0">
                  <a:pos x="5" y="51"/>
                </a:cxn>
                <a:cxn ang="0">
                  <a:pos x="0" y="51"/>
                </a:cxn>
                <a:cxn ang="0">
                  <a:pos x="7" y="63"/>
                </a:cxn>
                <a:cxn ang="0">
                  <a:pos x="11" y="67"/>
                </a:cxn>
                <a:cxn ang="0">
                  <a:pos x="5" y="62"/>
                </a:cxn>
                <a:cxn ang="0">
                  <a:pos x="12" y="73"/>
                </a:cxn>
                <a:cxn ang="0">
                  <a:pos x="10" y="73"/>
                </a:cxn>
                <a:cxn ang="0">
                  <a:pos x="19" y="84"/>
                </a:cxn>
                <a:cxn ang="0">
                  <a:pos x="17" y="82"/>
                </a:cxn>
                <a:cxn ang="0">
                  <a:pos x="28" y="96"/>
                </a:cxn>
                <a:cxn ang="0">
                  <a:pos x="39" y="109"/>
                </a:cxn>
                <a:cxn ang="0">
                  <a:pos x="43" y="102"/>
                </a:cxn>
                <a:cxn ang="0">
                  <a:pos x="47" y="104"/>
                </a:cxn>
                <a:cxn ang="0">
                  <a:pos x="51" y="100"/>
                </a:cxn>
                <a:cxn ang="0">
                  <a:pos x="47" y="93"/>
                </a:cxn>
                <a:cxn ang="0">
                  <a:pos x="46" y="88"/>
                </a:cxn>
                <a:cxn ang="0">
                  <a:pos x="45" y="82"/>
                </a:cxn>
                <a:cxn ang="0">
                  <a:pos x="59" y="81"/>
                </a:cxn>
                <a:cxn ang="0">
                  <a:pos x="60" y="70"/>
                </a:cxn>
                <a:cxn ang="0">
                  <a:pos x="70" y="81"/>
                </a:cxn>
                <a:cxn ang="0">
                  <a:pos x="79" y="78"/>
                </a:cxn>
                <a:cxn ang="0">
                  <a:pos x="82" y="82"/>
                </a:cxn>
                <a:cxn ang="0">
                  <a:pos x="87" y="78"/>
                </a:cxn>
                <a:cxn ang="0">
                  <a:pos x="91" y="52"/>
                </a:cxn>
                <a:cxn ang="0">
                  <a:pos x="82" y="37"/>
                </a:cxn>
                <a:cxn ang="0">
                  <a:pos x="89" y="27"/>
                </a:cxn>
                <a:cxn ang="0">
                  <a:pos x="88" y="15"/>
                </a:cxn>
                <a:cxn ang="0">
                  <a:pos x="71" y="16"/>
                </a:cxn>
                <a:cxn ang="0">
                  <a:pos x="72" y="0"/>
                </a:cxn>
                <a:cxn ang="0">
                  <a:pos x="57" y="0"/>
                </a:cxn>
                <a:cxn ang="0">
                  <a:pos x="41" y="0"/>
                </a:cxn>
                <a:cxn ang="0">
                  <a:pos x="41" y="20"/>
                </a:cxn>
                <a:cxn ang="0">
                  <a:pos x="29" y="20"/>
                </a:cxn>
                <a:cxn ang="0">
                  <a:pos x="17" y="20"/>
                </a:cxn>
                <a:cxn ang="0">
                  <a:pos x="16" y="20"/>
                </a:cxn>
              </a:cxnLst>
              <a:rect l="0" t="0" r="r" b="b"/>
              <a:pathLst>
                <a:path w="91" h="109">
                  <a:moveTo>
                    <a:pt x="16" y="20"/>
                  </a:moveTo>
                  <a:lnTo>
                    <a:pt x="13" y="27"/>
                  </a:lnTo>
                  <a:lnTo>
                    <a:pt x="9" y="27"/>
                  </a:lnTo>
                  <a:lnTo>
                    <a:pt x="19" y="36"/>
                  </a:lnTo>
                  <a:lnTo>
                    <a:pt x="10" y="34"/>
                  </a:lnTo>
                  <a:lnTo>
                    <a:pt x="5" y="51"/>
                  </a:lnTo>
                  <a:lnTo>
                    <a:pt x="0" y="51"/>
                  </a:lnTo>
                  <a:lnTo>
                    <a:pt x="7" y="63"/>
                  </a:lnTo>
                  <a:lnTo>
                    <a:pt x="11" y="67"/>
                  </a:lnTo>
                  <a:lnTo>
                    <a:pt x="5" y="62"/>
                  </a:lnTo>
                  <a:lnTo>
                    <a:pt x="12" y="73"/>
                  </a:lnTo>
                  <a:lnTo>
                    <a:pt x="10" y="73"/>
                  </a:lnTo>
                  <a:lnTo>
                    <a:pt x="19" y="84"/>
                  </a:lnTo>
                  <a:lnTo>
                    <a:pt x="17" y="82"/>
                  </a:lnTo>
                  <a:lnTo>
                    <a:pt x="28" y="96"/>
                  </a:lnTo>
                  <a:lnTo>
                    <a:pt x="39" y="109"/>
                  </a:lnTo>
                  <a:lnTo>
                    <a:pt x="43" y="102"/>
                  </a:lnTo>
                  <a:lnTo>
                    <a:pt x="47" y="104"/>
                  </a:lnTo>
                  <a:lnTo>
                    <a:pt x="51" y="100"/>
                  </a:lnTo>
                  <a:lnTo>
                    <a:pt x="47" y="93"/>
                  </a:lnTo>
                  <a:lnTo>
                    <a:pt x="46" y="88"/>
                  </a:lnTo>
                  <a:lnTo>
                    <a:pt x="45" y="82"/>
                  </a:lnTo>
                  <a:lnTo>
                    <a:pt x="59" y="81"/>
                  </a:lnTo>
                  <a:lnTo>
                    <a:pt x="60" y="70"/>
                  </a:lnTo>
                  <a:lnTo>
                    <a:pt x="70" y="81"/>
                  </a:lnTo>
                  <a:lnTo>
                    <a:pt x="79" y="78"/>
                  </a:lnTo>
                  <a:lnTo>
                    <a:pt x="82" y="82"/>
                  </a:lnTo>
                  <a:lnTo>
                    <a:pt x="87" y="78"/>
                  </a:lnTo>
                  <a:lnTo>
                    <a:pt x="91" y="52"/>
                  </a:lnTo>
                  <a:lnTo>
                    <a:pt x="82" y="37"/>
                  </a:lnTo>
                  <a:lnTo>
                    <a:pt x="89" y="27"/>
                  </a:lnTo>
                  <a:lnTo>
                    <a:pt x="88" y="15"/>
                  </a:lnTo>
                  <a:lnTo>
                    <a:pt x="71" y="16"/>
                  </a:lnTo>
                  <a:lnTo>
                    <a:pt x="72" y="0"/>
                  </a:lnTo>
                  <a:lnTo>
                    <a:pt x="57" y="0"/>
                  </a:lnTo>
                  <a:lnTo>
                    <a:pt x="41" y="0"/>
                  </a:lnTo>
                  <a:lnTo>
                    <a:pt x="41" y="20"/>
                  </a:lnTo>
                  <a:lnTo>
                    <a:pt x="29" y="20"/>
                  </a:lnTo>
                  <a:lnTo>
                    <a:pt x="17" y="20"/>
                  </a:lnTo>
                  <a:lnTo>
                    <a:pt x="16" y="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8" name="Freeform 217"/>
            <p:cNvSpPr>
              <a:spLocks/>
            </p:cNvSpPr>
            <p:nvPr/>
          </p:nvSpPr>
          <p:spPr bwMode="auto">
            <a:xfrm>
              <a:off x="2647" y="2696"/>
              <a:ext cx="4" cy="9"/>
            </a:xfrm>
            <a:custGeom>
              <a:avLst/>
              <a:gdLst/>
              <a:ahLst/>
              <a:cxnLst>
                <a:cxn ang="0">
                  <a:pos x="5" y="2"/>
                </a:cxn>
                <a:cxn ang="0">
                  <a:pos x="1" y="7"/>
                </a:cxn>
                <a:cxn ang="0">
                  <a:pos x="0" y="3"/>
                </a:cxn>
                <a:cxn ang="0">
                  <a:pos x="3" y="0"/>
                </a:cxn>
                <a:cxn ang="0">
                  <a:pos x="5" y="2"/>
                </a:cxn>
              </a:cxnLst>
              <a:rect l="0" t="0" r="r" b="b"/>
              <a:pathLst>
                <a:path w="5" h="7">
                  <a:moveTo>
                    <a:pt x="5" y="2"/>
                  </a:moveTo>
                  <a:lnTo>
                    <a:pt x="1" y="7"/>
                  </a:lnTo>
                  <a:lnTo>
                    <a:pt x="0" y="3"/>
                  </a:lnTo>
                  <a:lnTo>
                    <a:pt x="3"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9" name="Freeform 218"/>
            <p:cNvSpPr>
              <a:spLocks/>
            </p:cNvSpPr>
            <p:nvPr/>
          </p:nvSpPr>
          <p:spPr bwMode="auto">
            <a:xfrm>
              <a:off x="2660" y="2672"/>
              <a:ext cx="2" cy="2"/>
            </a:xfrm>
            <a:custGeom>
              <a:avLst/>
              <a:gdLst/>
              <a:ahLst/>
              <a:cxnLst>
                <a:cxn ang="0">
                  <a:pos x="2" y="2"/>
                </a:cxn>
                <a:cxn ang="0">
                  <a:pos x="0" y="0"/>
                </a:cxn>
                <a:cxn ang="0">
                  <a:pos x="3" y="0"/>
                </a:cxn>
                <a:cxn ang="0">
                  <a:pos x="2" y="2"/>
                </a:cxn>
              </a:cxnLst>
              <a:rect l="0" t="0" r="r" b="b"/>
              <a:pathLst>
                <a:path w="3" h="2">
                  <a:moveTo>
                    <a:pt x="2" y="2"/>
                  </a:moveTo>
                  <a:lnTo>
                    <a:pt x="0" y="0"/>
                  </a:lnTo>
                  <a:lnTo>
                    <a:pt x="3" y="0"/>
                  </a:lnTo>
                  <a:lnTo>
                    <a:pt x="2"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0" name="Freeform 219"/>
            <p:cNvSpPr>
              <a:spLocks/>
            </p:cNvSpPr>
            <p:nvPr/>
          </p:nvSpPr>
          <p:spPr bwMode="auto">
            <a:xfrm>
              <a:off x="3049" y="2725"/>
              <a:ext cx="191" cy="214"/>
            </a:xfrm>
            <a:custGeom>
              <a:avLst/>
              <a:gdLst/>
              <a:ahLst/>
              <a:cxnLst>
                <a:cxn ang="0">
                  <a:pos x="131" y="42"/>
                </a:cxn>
                <a:cxn ang="0">
                  <a:pos x="129" y="36"/>
                </a:cxn>
                <a:cxn ang="0">
                  <a:pos x="115" y="26"/>
                </a:cxn>
                <a:cxn ang="0">
                  <a:pos x="101" y="18"/>
                </a:cxn>
                <a:cxn ang="0">
                  <a:pos x="86" y="8"/>
                </a:cxn>
                <a:cxn ang="0">
                  <a:pos x="71" y="0"/>
                </a:cxn>
                <a:cxn ang="0">
                  <a:pos x="57" y="0"/>
                </a:cxn>
                <a:cxn ang="0">
                  <a:pos x="44" y="0"/>
                </a:cxn>
                <a:cxn ang="0">
                  <a:pos x="30" y="1"/>
                </a:cxn>
                <a:cxn ang="0">
                  <a:pos x="17" y="1"/>
                </a:cxn>
                <a:cxn ang="0">
                  <a:pos x="23" y="23"/>
                </a:cxn>
                <a:cxn ang="0">
                  <a:pos x="18" y="25"/>
                </a:cxn>
                <a:cxn ang="0">
                  <a:pos x="18" y="34"/>
                </a:cxn>
                <a:cxn ang="0">
                  <a:pos x="21" y="40"/>
                </a:cxn>
                <a:cxn ang="0">
                  <a:pos x="12" y="50"/>
                </a:cxn>
                <a:cxn ang="0">
                  <a:pos x="3" y="62"/>
                </a:cxn>
                <a:cxn ang="0">
                  <a:pos x="0" y="62"/>
                </a:cxn>
                <a:cxn ang="0">
                  <a:pos x="0" y="76"/>
                </a:cxn>
                <a:cxn ang="0">
                  <a:pos x="1" y="89"/>
                </a:cxn>
                <a:cxn ang="0">
                  <a:pos x="6" y="103"/>
                </a:cxn>
                <a:cxn ang="0">
                  <a:pos x="13" y="116"/>
                </a:cxn>
                <a:cxn ang="0">
                  <a:pos x="20" y="128"/>
                </a:cxn>
                <a:cxn ang="0">
                  <a:pos x="20" y="132"/>
                </a:cxn>
                <a:cxn ang="0">
                  <a:pos x="37" y="142"/>
                </a:cxn>
                <a:cxn ang="0">
                  <a:pos x="54" y="151"/>
                </a:cxn>
                <a:cxn ang="0">
                  <a:pos x="69" y="154"/>
                </a:cxn>
                <a:cxn ang="0">
                  <a:pos x="75" y="157"/>
                </a:cxn>
                <a:cxn ang="0">
                  <a:pos x="80" y="175"/>
                </a:cxn>
                <a:cxn ang="0">
                  <a:pos x="85" y="190"/>
                </a:cxn>
                <a:cxn ang="0">
                  <a:pos x="91" y="190"/>
                </a:cxn>
                <a:cxn ang="0">
                  <a:pos x="101" y="188"/>
                </a:cxn>
                <a:cxn ang="0">
                  <a:pos x="119" y="192"/>
                </a:cxn>
                <a:cxn ang="0">
                  <a:pos x="131" y="187"/>
                </a:cxn>
                <a:cxn ang="0">
                  <a:pos x="139" y="186"/>
                </a:cxn>
                <a:cxn ang="0">
                  <a:pos x="155" y="179"/>
                </a:cxn>
                <a:cxn ang="0">
                  <a:pos x="171" y="170"/>
                </a:cxn>
                <a:cxn ang="0">
                  <a:pos x="161" y="160"/>
                </a:cxn>
                <a:cxn ang="0">
                  <a:pos x="158" y="142"/>
                </a:cxn>
                <a:cxn ang="0">
                  <a:pos x="156" y="128"/>
                </a:cxn>
                <a:cxn ang="0">
                  <a:pos x="155" y="122"/>
                </a:cxn>
                <a:cxn ang="0">
                  <a:pos x="158" y="106"/>
                </a:cxn>
                <a:cxn ang="0">
                  <a:pos x="147" y="90"/>
                </a:cxn>
                <a:cxn ang="0">
                  <a:pos x="155" y="66"/>
                </a:cxn>
                <a:cxn ang="0">
                  <a:pos x="143" y="54"/>
                </a:cxn>
                <a:cxn ang="0">
                  <a:pos x="131" y="42"/>
                </a:cxn>
              </a:cxnLst>
              <a:rect l="0" t="0" r="r" b="b"/>
              <a:pathLst>
                <a:path w="171" h="192">
                  <a:moveTo>
                    <a:pt x="131" y="42"/>
                  </a:moveTo>
                  <a:lnTo>
                    <a:pt x="129" y="36"/>
                  </a:lnTo>
                  <a:lnTo>
                    <a:pt x="115" y="26"/>
                  </a:lnTo>
                  <a:lnTo>
                    <a:pt x="101" y="18"/>
                  </a:lnTo>
                  <a:lnTo>
                    <a:pt x="86" y="8"/>
                  </a:lnTo>
                  <a:lnTo>
                    <a:pt x="71" y="0"/>
                  </a:lnTo>
                  <a:lnTo>
                    <a:pt x="57" y="0"/>
                  </a:lnTo>
                  <a:lnTo>
                    <a:pt x="44" y="0"/>
                  </a:lnTo>
                  <a:lnTo>
                    <a:pt x="30" y="1"/>
                  </a:lnTo>
                  <a:lnTo>
                    <a:pt x="17" y="1"/>
                  </a:lnTo>
                  <a:lnTo>
                    <a:pt x="23" y="23"/>
                  </a:lnTo>
                  <a:lnTo>
                    <a:pt x="18" y="25"/>
                  </a:lnTo>
                  <a:lnTo>
                    <a:pt x="18" y="34"/>
                  </a:lnTo>
                  <a:lnTo>
                    <a:pt x="21" y="40"/>
                  </a:lnTo>
                  <a:lnTo>
                    <a:pt x="12" y="50"/>
                  </a:lnTo>
                  <a:lnTo>
                    <a:pt x="3" y="62"/>
                  </a:lnTo>
                  <a:lnTo>
                    <a:pt x="0" y="62"/>
                  </a:lnTo>
                  <a:lnTo>
                    <a:pt x="0" y="76"/>
                  </a:lnTo>
                  <a:lnTo>
                    <a:pt x="1" y="89"/>
                  </a:lnTo>
                  <a:lnTo>
                    <a:pt x="6" y="103"/>
                  </a:lnTo>
                  <a:lnTo>
                    <a:pt x="13" y="116"/>
                  </a:lnTo>
                  <a:lnTo>
                    <a:pt x="20" y="128"/>
                  </a:lnTo>
                  <a:lnTo>
                    <a:pt x="20" y="132"/>
                  </a:lnTo>
                  <a:lnTo>
                    <a:pt x="37" y="142"/>
                  </a:lnTo>
                  <a:lnTo>
                    <a:pt x="54" y="151"/>
                  </a:lnTo>
                  <a:lnTo>
                    <a:pt x="69" y="154"/>
                  </a:lnTo>
                  <a:lnTo>
                    <a:pt x="75" y="157"/>
                  </a:lnTo>
                  <a:lnTo>
                    <a:pt x="80" y="175"/>
                  </a:lnTo>
                  <a:lnTo>
                    <a:pt x="85" y="190"/>
                  </a:lnTo>
                  <a:lnTo>
                    <a:pt x="91" y="190"/>
                  </a:lnTo>
                  <a:lnTo>
                    <a:pt x="101" y="188"/>
                  </a:lnTo>
                  <a:lnTo>
                    <a:pt x="119" y="192"/>
                  </a:lnTo>
                  <a:lnTo>
                    <a:pt x="131" y="187"/>
                  </a:lnTo>
                  <a:lnTo>
                    <a:pt x="139" y="186"/>
                  </a:lnTo>
                  <a:lnTo>
                    <a:pt x="155" y="179"/>
                  </a:lnTo>
                  <a:lnTo>
                    <a:pt x="171" y="170"/>
                  </a:lnTo>
                  <a:lnTo>
                    <a:pt x="161" y="160"/>
                  </a:lnTo>
                  <a:lnTo>
                    <a:pt x="158" y="142"/>
                  </a:lnTo>
                  <a:lnTo>
                    <a:pt x="156" y="128"/>
                  </a:lnTo>
                  <a:lnTo>
                    <a:pt x="155" y="122"/>
                  </a:lnTo>
                  <a:lnTo>
                    <a:pt x="158" y="106"/>
                  </a:lnTo>
                  <a:lnTo>
                    <a:pt x="147" y="90"/>
                  </a:lnTo>
                  <a:lnTo>
                    <a:pt x="155" y="66"/>
                  </a:lnTo>
                  <a:lnTo>
                    <a:pt x="143" y="54"/>
                  </a:lnTo>
                  <a:lnTo>
                    <a:pt x="131"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1" name="Freeform 220"/>
            <p:cNvSpPr>
              <a:spLocks/>
            </p:cNvSpPr>
            <p:nvPr/>
          </p:nvSpPr>
          <p:spPr bwMode="auto">
            <a:xfrm>
              <a:off x="3220" y="2821"/>
              <a:ext cx="7" cy="13"/>
            </a:xfrm>
            <a:custGeom>
              <a:avLst/>
              <a:gdLst/>
              <a:ahLst/>
              <a:cxnLst>
                <a:cxn ang="0">
                  <a:pos x="6" y="12"/>
                </a:cxn>
                <a:cxn ang="0">
                  <a:pos x="4" y="0"/>
                </a:cxn>
                <a:cxn ang="0">
                  <a:pos x="0" y="4"/>
                </a:cxn>
                <a:cxn ang="0">
                  <a:pos x="6" y="12"/>
                </a:cxn>
              </a:cxnLst>
              <a:rect l="0" t="0" r="r" b="b"/>
              <a:pathLst>
                <a:path w="6" h="12">
                  <a:moveTo>
                    <a:pt x="6" y="12"/>
                  </a:moveTo>
                  <a:lnTo>
                    <a:pt x="4" y="0"/>
                  </a:lnTo>
                  <a:lnTo>
                    <a:pt x="0" y="4"/>
                  </a:lnTo>
                  <a:lnTo>
                    <a:pt x="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2" name="Freeform 221"/>
            <p:cNvSpPr>
              <a:spLocks/>
            </p:cNvSpPr>
            <p:nvPr/>
          </p:nvSpPr>
          <p:spPr bwMode="auto">
            <a:xfrm>
              <a:off x="3053" y="2621"/>
              <a:ext cx="96" cy="113"/>
            </a:xfrm>
            <a:custGeom>
              <a:avLst/>
              <a:gdLst/>
              <a:ahLst/>
              <a:cxnLst>
                <a:cxn ang="0">
                  <a:pos x="77" y="15"/>
                </a:cxn>
                <a:cxn ang="0">
                  <a:pos x="70" y="0"/>
                </a:cxn>
                <a:cxn ang="0">
                  <a:pos x="63" y="9"/>
                </a:cxn>
                <a:cxn ang="0">
                  <a:pos x="45" y="9"/>
                </a:cxn>
                <a:cxn ang="0">
                  <a:pos x="37" y="11"/>
                </a:cxn>
                <a:cxn ang="0">
                  <a:pos x="34" y="9"/>
                </a:cxn>
                <a:cxn ang="0">
                  <a:pos x="22" y="10"/>
                </a:cxn>
                <a:cxn ang="0">
                  <a:pos x="21" y="14"/>
                </a:cxn>
                <a:cxn ang="0">
                  <a:pos x="19" y="29"/>
                </a:cxn>
                <a:cxn ang="0">
                  <a:pos x="28" y="38"/>
                </a:cxn>
                <a:cxn ang="0">
                  <a:pos x="17" y="48"/>
                </a:cxn>
                <a:cxn ang="0">
                  <a:pos x="7" y="60"/>
                </a:cxn>
                <a:cxn ang="0">
                  <a:pos x="4" y="81"/>
                </a:cxn>
                <a:cxn ang="0">
                  <a:pos x="0" y="101"/>
                </a:cxn>
                <a:cxn ang="0">
                  <a:pos x="5" y="101"/>
                </a:cxn>
                <a:cxn ang="0">
                  <a:pos x="15" y="95"/>
                </a:cxn>
                <a:cxn ang="0">
                  <a:pos x="28" y="95"/>
                </a:cxn>
                <a:cxn ang="0">
                  <a:pos x="42" y="94"/>
                </a:cxn>
                <a:cxn ang="0">
                  <a:pos x="55" y="94"/>
                </a:cxn>
                <a:cxn ang="0">
                  <a:pos x="69" y="94"/>
                </a:cxn>
                <a:cxn ang="0">
                  <a:pos x="69" y="75"/>
                </a:cxn>
                <a:cxn ang="0">
                  <a:pos x="79" y="57"/>
                </a:cxn>
                <a:cxn ang="0">
                  <a:pos x="87" y="42"/>
                </a:cxn>
                <a:cxn ang="0">
                  <a:pos x="82" y="28"/>
                </a:cxn>
                <a:cxn ang="0">
                  <a:pos x="77" y="15"/>
                </a:cxn>
              </a:cxnLst>
              <a:rect l="0" t="0" r="r" b="b"/>
              <a:pathLst>
                <a:path w="87" h="101">
                  <a:moveTo>
                    <a:pt x="77" y="15"/>
                  </a:moveTo>
                  <a:lnTo>
                    <a:pt x="70" y="0"/>
                  </a:lnTo>
                  <a:lnTo>
                    <a:pt x="63" y="9"/>
                  </a:lnTo>
                  <a:lnTo>
                    <a:pt x="45" y="9"/>
                  </a:lnTo>
                  <a:lnTo>
                    <a:pt x="37" y="11"/>
                  </a:lnTo>
                  <a:lnTo>
                    <a:pt x="34" y="9"/>
                  </a:lnTo>
                  <a:lnTo>
                    <a:pt x="22" y="10"/>
                  </a:lnTo>
                  <a:lnTo>
                    <a:pt x="21" y="14"/>
                  </a:lnTo>
                  <a:lnTo>
                    <a:pt x="19" y="29"/>
                  </a:lnTo>
                  <a:lnTo>
                    <a:pt x="28" y="38"/>
                  </a:lnTo>
                  <a:lnTo>
                    <a:pt x="17" y="48"/>
                  </a:lnTo>
                  <a:lnTo>
                    <a:pt x="7" y="60"/>
                  </a:lnTo>
                  <a:lnTo>
                    <a:pt x="4" y="81"/>
                  </a:lnTo>
                  <a:lnTo>
                    <a:pt x="0" y="101"/>
                  </a:lnTo>
                  <a:lnTo>
                    <a:pt x="5" y="101"/>
                  </a:lnTo>
                  <a:lnTo>
                    <a:pt x="15" y="95"/>
                  </a:lnTo>
                  <a:lnTo>
                    <a:pt x="28" y="95"/>
                  </a:lnTo>
                  <a:lnTo>
                    <a:pt x="42" y="94"/>
                  </a:lnTo>
                  <a:lnTo>
                    <a:pt x="55" y="94"/>
                  </a:lnTo>
                  <a:lnTo>
                    <a:pt x="69" y="94"/>
                  </a:lnTo>
                  <a:lnTo>
                    <a:pt x="69" y="75"/>
                  </a:lnTo>
                  <a:lnTo>
                    <a:pt x="79" y="57"/>
                  </a:lnTo>
                  <a:lnTo>
                    <a:pt x="87" y="42"/>
                  </a:lnTo>
                  <a:lnTo>
                    <a:pt x="82" y="28"/>
                  </a:lnTo>
                  <a:lnTo>
                    <a:pt x="77"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3" name="Freeform 222"/>
            <p:cNvSpPr>
              <a:spLocks/>
            </p:cNvSpPr>
            <p:nvPr/>
          </p:nvSpPr>
          <p:spPr bwMode="auto">
            <a:xfrm>
              <a:off x="2747" y="2601"/>
              <a:ext cx="335" cy="373"/>
            </a:xfrm>
            <a:custGeom>
              <a:avLst/>
              <a:gdLst/>
              <a:ahLst/>
              <a:cxnLst>
                <a:cxn ang="0">
                  <a:pos x="270" y="132"/>
                </a:cxn>
                <a:cxn ang="0">
                  <a:pos x="267" y="143"/>
                </a:cxn>
                <a:cxn ang="0">
                  <a:pos x="268" y="145"/>
                </a:cxn>
                <a:cxn ang="0">
                  <a:pos x="274" y="175"/>
                </a:cxn>
                <a:cxn ang="0">
                  <a:pos x="275" y="202"/>
                </a:cxn>
                <a:cxn ang="0">
                  <a:pos x="287" y="229"/>
                </a:cxn>
                <a:cxn ang="0">
                  <a:pos x="279" y="245"/>
                </a:cxn>
                <a:cxn ang="0">
                  <a:pos x="256" y="262"/>
                </a:cxn>
                <a:cxn ang="0">
                  <a:pos x="258" y="293"/>
                </a:cxn>
                <a:cxn ang="0">
                  <a:pos x="271" y="319"/>
                </a:cxn>
                <a:cxn ang="0">
                  <a:pos x="274" y="336"/>
                </a:cxn>
                <a:cxn ang="0">
                  <a:pos x="263" y="335"/>
                </a:cxn>
                <a:cxn ang="0">
                  <a:pos x="240" y="310"/>
                </a:cxn>
                <a:cxn ang="0">
                  <a:pos x="227" y="310"/>
                </a:cxn>
                <a:cxn ang="0">
                  <a:pos x="204" y="297"/>
                </a:cxn>
                <a:cxn ang="0">
                  <a:pos x="185" y="291"/>
                </a:cxn>
                <a:cxn ang="0">
                  <a:pos x="160" y="295"/>
                </a:cxn>
                <a:cxn ang="0">
                  <a:pos x="154" y="270"/>
                </a:cxn>
                <a:cxn ang="0">
                  <a:pos x="153" y="229"/>
                </a:cxn>
                <a:cxn ang="0">
                  <a:pos x="132" y="222"/>
                </a:cxn>
                <a:cxn ang="0">
                  <a:pos x="113" y="237"/>
                </a:cxn>
                <a:cxn ang="0">
                  <a:pos x="83" y="237"/>
                </a:cxn>
                <a:cxn ang="0">
                  <a:pos x="70" y="203"/>
                </a:cxn>
                <a:cxn ang="0">
                  <a:pos x="43" y="202"/>
                </a:cxn>
                <a:cxn ang="0">
                  <a:pos x="16" y="201"/>
                </a:cxn>
                <a:cxn ang="0">
                  <a:pos x="0" y="199"/>
                </a:cxn>
                <a:cxn ang="0">
                  <a:pos x="7" y="184"/>
                </a:cxn>
                <a:cxn ang="0">
                  <a:pos x="23" y="181"/>
                </a:cxn>
                <a:cxn ang="0">
                  <a:pos x="36" y="174"/>
                </a:cxn>
                <a:cxn ang="0">
                  <a:pos x="51" y="171"/>
                </a:cxn>
                <a:cxn ang="0">
                  <a:pos x="65" y="145"/>
                </a:cxn>
                <a:cxn ang="0">
                  <a:pos x="78" y="117"/>
                </a:cxn>
                <a:cxn ang="0">
                  <a:pos x="91" y="89"/>
                </a:cxn>
                <a:cxn ang="0">
                  <a:pos x="96" y="61"/>
                </a:cxn>
                <a:cxn ang="0">
                  <a:pos x="102" y="33"/>
                </a:cxn>
                <a:cxn ang="0">
                  <a:pos x="114" y="3"/>
                </a:cxn>
                <a:cxn ang="0">
                  <a:pos x="147" y="17"/>
                </a:cxn>
                <a:cxn ang="0">
                  <a:pos x="168" y="10"/>
                </a:cxn>
                <a:cxn ang="0">
                  <a:pos x="191" y="5"/>
                </a:cxn>
                <a:cxn ang="0">
                  <a:pos x="209" y="0"/>
                </a:cxn>
                <a:cxn ang="0">
                  <a:pos x="234" y="3"/>
                </a:cxn>
                <a:cxn ang="0">
                  <a:pos x="246" y="9"/>
                </a:cxn>
                <a:cxn ang="0">
                  <a:pos x="268" y="16"/>
                </a:cxn>
                <a:cxn ang="0">
                  <a:pos x="285" y="22"/>
                </a:cxn>
                <a:cxn ang="0">
                  <a:pos x="295" y="48"/>
                </a:cxn>
                <a:cxn ang="0">
                  <a:pos x="293" y="67"/>
                </a:cxn>
                <a:cxn ang="0">
                  <a:pos x="280" y="100"/>
                </a:cxn>
              </a:cxnLst>
              <a:rect l="0" t="0" r="r" b="b"/>
              <a:pathLst>
                <a:path w="304" h="336">
                  <a:moveTo>
                    <a:pt x="276" y="120"/>
                  </a:moveTo>
                  <a:lnTo>
                    <a:pt x="270" y="132"/>
                  </a:lnTo>
                  <a:lnTo>
                    <a:pt x="265" y="143"/>
                  </a:lnTo>
                  <a:lnTo>
                    <a:pt x="267" y="143"/>
                  </a:lnTo>
                  <a:lnTo>
                    <a:pt x="267" y="144"/>
                  </a:lnTo>
                  <a:lnTo>
                    <a:pt x="268" y="145"/>
                  </a:lnTo>
                  <a:lnTo>
                    <a:pt x="270" y="160"/>
                  </a:lnTo>
                  <a:lnTo>
                    <a:pt x="274" y="175"/>
                  </a:lnTo>
                  <a:lnTo>
                    <a:pt x="274" y="189"/>
                  </a:lnTo>
                  <a:lnTo>
                    <a:pt x="275" y="202"/>
                  </a:lnTo>
                  <a:lnTo>
                    <a:pt x="280" y="216"/>
                  </a:lnTo>
                  <a:lnTo>
                    <a:pt x="287" y="229"/>
                  </a:lnTo>
                  <a:lnTo>
                    <a:pt x="294" y="241"/>
                  </a:lnTo>
                  <a:lnTo>
                    <a:pt x="279" y="245"/>
                  </a:lnTo>
                  <a:lnTo>
                    <a:pt x="264" y="249"/>
                  </a:lnTo>
                  <a:lnTo>
                    <a:pt x="256" y="262"/>
                  </a:lnTo>
                  <a:lnTo>
                    <a:pt x="259" y="277"/>
                  </a:lnTo>
                  <a:lnTo>
                    <a:pt x="258" y="293"/>
                  </a:lnTo>
                  <a:lnTo>
                    <a:pt x="256" y="309"/>
                  </a:lnTo>
                  <a:lnTo>
                    <a:pt x="271" y="319"/>
                  </a:lnTo>
                  <a:lnTo>
                    <a:pt x="276" y="313"/>
                  </a:lnTo>
                  <a:lnTo>
                    <a:pt x="274" y="336"/>
                  </a:lnTo>
                  <a:lnTo>
                    <a:pt x="269" y="335"/>
                  </a:lnTo>
                  <a:lnTo>
                    <a:pt x="263" y="335"/>
                  </a:lnTo>
                  <a:lnTo>
                    <a:pt x="250" y="317"/>
                  </a:lnTo>
                  <a:lnTo>
                    <a:pt x="240" y="310"/>
                  </a:lnTo>
                  <a:lnTo>
                    <a:pt x="233" y="304"/>
                  </a:lnTo>
                  <a:lnTo>
                    <a:pt x="227" y="310"/>
                  </a:lnTo>
                  <a:lnTo>
                    <a:pt x="207" y="303"/>
                  </a:lnTo>
                  <a:lnTo>
                    <a:pt x="204" y="297"/>
                  </a:lnTo>
                  <a:lnTo>
                    <a:pt x="191" y="299"/>
                  </a:lnTo>
                  <a:lnTo>
                    <a:pt x="185" y="291"/>
                  </a:lnTo>
                  <a:lnTo>
                    <a:pt x="173" y="293"/>
                  </a:lnTo>
                  <a:lnTo>
                    <a:pt x="160" y="295"/>
                  </a:lnTo>
                  <a:lnTo>
                    <a:pt x="159" y="288"/>
                  </a:lnTo>
                  <a:lnTo>
                    <a:pt x="154" y="270"/>
                  </a:lnTo>
                  <a:lnTo>
                    <a:pt x="154" y="250"/>
                  </a:lnTo>
                  <a:lnTo>
                    <a:pt x="153" y="229"/>
                  </a:lnTo>
                  <a:lnTo>
                    <a:pt x="132" y="226"/>
                  </a:lnTo>
                  <a:lnTo>
                    <a:pt x="132" y="222"/>
                  </a:lnTo>
                  <a:lnTo>
                    <a:pt x="117" y="221"/>
                  </a:lnTo>
                  <a:lnTo>
                    <a:pt x="113" y="237"/>
                  </a:lnTo>
                  <a:lnTo>
                    <a:pt x="94" y="240"/>
                  </a:lnTo>
                  <a:lnTo>
                    <a:pt x="83" y="237"/>
                  </a:lnTo>
                  <a:lnTo>
                    <a:pt x="76" y="220"/>
                  </a:lnTo>
                  <a:lnTo>
                    <a:pt x="70" y="203"/>
                  </a:lnTo>
                  <a:lnTo>
                    <a:pt x="57" y="202"/>
                  </a:lnTo>
                  <a:lnTo>
                    <a:pt x="43" y="202"/>
                  </a:lnTo>
                  <a:lnTo>
                    <a:pt x="29" y="201"/>
                  </a:lnTo>
                  <a:lnTo>
                    <a:pt x="16" y="201"/>
                  </a:lnTo>
                  <a:lnTo>
                    <a:pt x="3" y="202"/>
                  </a:lnTo>
                  <a:lnTo>
                    <a:pt x="0" y="199"/>
                  </a:lnTo>
                  <a:lnTo>
                    <a:pt x="6" y="198"/>
                  </a:lnTo>
                  <a:lnTo>
                    <a:pt x="7" y="184"/>
                  </a:lnTo>
                  <a:lnTo>
                    <a:pt x="15" y="178"/>
                  </a:lnTo>
                  <a:lnTo>
                    <a:pt x="23" y="181"/>
                  </a:lnTo>
                  <a:lnTo>
                    <a:pt x="27" y="175"/>
                  </a:lnTo>
                  <a:lnTo>
                    <a:pt x="36" y="174"/>
                  </a:lnTo>
                  <a:lnTo>
                    <a:pt x="39" y="183"/>
                  </a:lnTo>
                  <a:lnTo>
                    <a:pt x="51" y="171"/>
                  </a:lnTo>
                  <a:lnTo>
                    <a:pt x="63" y="159"/>
                  </a:lnTo>
                  <a:lnTo>
                    <a:pt x="65" y="145"/>
                  </a:lnTo>
                  <a:lnTo>
                    <a:pt x="66" y="131"/>
                  </a:lnTo>
                  <a:lnTo>
                    <a:pt x="78" y="117"/>
                  </a:lnTo>
                  <a:lnTo>
                    <a:pt x="89" y="102"/>
                  </a:lnTo>
                  <a:lnTo>
                    <a:pt x="91" y="89"/>
                  </a:lnTo>
                  <a:lnTo>
                    <a:pt x="94" y="75"/>
                  </a:lnTo>
                  <a:lnTo>
                    <a:pt x="96" y="61"/>
                  </a:lnTo>
                  <a:lnTo>
                    <a:pt x="99" y="48"/>
                  </a:lnTo>
                  <a:lnTo>
                    <a:pt x="102" y="33"/>
                  </a:lnTo>
                  <a:lnTo>
                    <a:pt x="102" y="19"/>
                  </a:lnTo>
                  <a:lnTo>
                    <a:pt x="114" y="3"/>
                  </a:lnTo>
                  <a:lnTo>
                    <a:pt x="131" y="12"/>
                  </a:lnTo>
                  <a:lnTo>
                    <a:pt x="147" y="17"/>
                  </a:lnTo>
                  <a:lnTo>
                    <a:pt x="161" y="21"/>
                  </a:lnTo>
                  <a:lnTo>
                    <a:pt x="168" y="10"/>
                  </a:lnTo>
                  <a:lnTo>
                    <a:pt x="175" y="11"/>
                  </a:lnTo>
                  <a:lnTo>
                    <a:pt x="191" y="5"/>
                  </a:lnTo>
                  <a:lnTo>
                    <a:pt x="203" y="5"/>
                  </a:lnTo>
                  <a:lnTo>
                    <a:pt x="209" y="0"/>
                  </a:lnTo>
                  <a:lnTo>
                    <a:pt x="221" y="1"/>
                  </a:lnTo>
                  <a:lnTo>
                    <a:pt x="234" y="3"/>
                  </a:lnTo>
                  <a:lnTo>
                    <a:pt x="243" y="5"/>
                  </a:lnTo>
                  <a:lnTo>
                    <a:pt x="246" y="9"/>
                  </a:lnTo>
                  <a:lnTo>
                    <a:pt x="258" y="17"/>
                  </a:lnTo>
                  <a:lnTo>
                    <a:pt x="268" y="16"/>
                  </a:lnTo>
                  <a:lnTo>
                    <a:pt x="274" y="11"/>
                  </a:lnTo>
                  <a:lnTo>
                    <a:pt x="285" y="22"/>
                  </a:lnTo>
                  <a:lnTo>
                    <a:pt x="297" y="33"/>
                  </a:lnTo>
                  <a:lnTo>
                    <a:pt x="295" y="48"/>
                  </a:lnTo>
                  <a:lnTo>
                    <a:pt x="304" y="57"/>
                  </a:lnTo>
                  <a:lnTo>
                    <a:pt x="293" y="67"/>
                  </a:lnTo>
                  <a:lnTo>
                    <a:pt x="283" y="79"/>
                  </a:lnTo>
                  <a:lnTo>
                    <a:pt x="280" y="100"/>
                  </a:lnTo>
                  <a:lnTo>
                    <a:pt x="276" y="1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4" name="Freeform 223"/>
            <p:cNvSpPr>
              <a:spLocks/>
            </p:cNvSpPr>
            <p:nvPr/>
          </p:nvSpPr>
          <p:spPr bwMode="auto">
            <a:xfrm>
              <a:off x="2916" y="2867"/>
              <a:ext cx="206" cy="200"/>
            </a:xfrm>
            <a:custGeom>
              <a:avLst/>
              <a:gdLst/>
              <a:ahLst/>
              <a:cxnLst>
                <a:cxn ang="0">
                  <a:pos x="32" y="87"/>
                </a:cxn>
                <a:cxn ang="0">
                  <a:pos x="16" y="87"/>
                </a:cxn>
                <a:cxn ang="0">
                  <a:pos x="1" y="88"/>
                </a:cxn>
                <a:cxn ang="0">
                  <a:pos x="0" y="101"/>
                </a:cxn>
                <a:cxn ang="0">
                  <a:pos x="0" y="116"/>
                </a:cxn>
                <a:cxn ang="0">
                  <a:pos x="0" y="130"/>
                </a:cxn>
                <a:cxn ang="0">
                  <a:pos x="0" y="144"/>
                </a:cxn>
                <a:cxn ang="0">
                  <a:pos x="10" y="158"/>
                </a:cxn>
                <a:cxn ang="0">
                  <a:pos x="21" y="171"/>
                </a:cxn>
                <a:cxn ang="0">
                  <a:pos x="32" y="168"/>
                </a:cxn>
                <a:cxn ang="0">
                  <a:pos x="49" y="173"/>
                </a:cxn>
                <a:cxn ang="0">
                  <a:pos x="72" y="179"/>
                </a:cxn>
                <a:cxn ang="0">
                  <a:pos x="86" y="165"/>
                </a:cxn>
                <a:cxn ang="0">
                  <a:pos x="103" y="152"/>
                </a:cxn>
                <a:cxn ang="0">
                  <a:pos x="108" y="141"/>
                </a:cxn>
                <a:cxn ang="0">
                  <a:pos x="120" y="137"/>
                </a:cxn>
                <a:cxn ang="0">
                  <a:pos x="132" y="135"/>
                </a:cxn>
                <a:cxn ang="0">
                  <a:pos x="129" y="125"/>
                </a:cxn>
                <a:cxn ang="0">
                  <a:pos x="141" y="120"/>
                </a:cxn>
                <a:cxn ang="0">
                  <a:pos x="152" y="116"/>
                </a:cxn>
                <a:cxn ang="0">
                  <a:pos x="164" y="111"/>
                </a:cxn>
                <a:cxn ang="0">
                  <a:pos x="176" y="106"/>
                </a:cxn>
                <a:cxn ang="0">
                  <a:pos x="169" y="98"/>
                </a:cxn>
                <a:cxn ang="0">
                  <a:pos x="177" y="81"/>
                </a:cxn>
                <a:cxn ang="0">
                  <a:pos x="180" y="76"/>
                </a:cxn>
                <a:cxn ang="0">
                  <a:pos x="181" y="62"/>
                </a:cxn>
                <a:cxn ang="0">
                  <a:pos x="182" y="48"/>
                </a:cxn>
                <a:cxn ang="0">
                  <a:pos x="186" y="41"/>
                </a:cxn>
                <a:cxn ang="0">
                  <a:pos x="176" y="27"/>
                </a:cxn>
                <a:cxn ang="0">
                  <a:pos x="175" y="23"/>
                </a:cxn>
                <a:cxn ang="0">
                  <a:pos x="158" y="14"/>
                </a:cxn>
                <a:cxn ang="0">
                  <a:pos x="141" y="4"/>
                </a:cxn>
                <a:cxn ang="0">
                  <a:pos x="141" y="0"/>
                </a:cxn>
                <a:cxn ang="0">
                  <a:pos x="126" y="4"/>
                </a:cxn>
                <a:cxn ang="0">
                  <a:pos x="111" y="8"/>
                </a:cxn>
                <a:cxn ang="0">
                  <a:pos x="103" y="21"/>
                </a:cxn>
                <a:cxn ang="0">
                  <a:pos x="106" y="36"/>
                </a:cxn>
                <a:cxn ang="0">
                  <a:pos x="105" y="52"/>
                </a:cxn>
                <a:cxn ang="0">
                  <a:pos x="103" y="68"/>
                </a:cxn>
                <a:cxn ang="0">
                  <a:pos x="118" y="78"/>
                </a:cxn>
                <a:cxn ang="0">
                  <a:pos x="123" y="72"/>
                </a:cxn>
                <a:cxn ang="0">
                  <a:pos x="121" y="95"/>
                </a:cxn>
                <a:cxn ang="0">
                  <a:pos x="116" y="94"/>
                </a:cxn>
                <a:cxn ang="0">
                  <a:pos x="110" y="94"/>
                </a:cxn>
                <a:cxn ang="0">
                  <a:pos x="97" y="76"/>
                </a:cxn>
                <a:cxn ang="0">
                  <a:pos x="87" y="69"/>
                </a:cxn>
                <a:cxn ang="0">
                  <a:pos x="80" y="63"/>
                </a:cxn>
                <a:cxn ang="0">
                  <a:pos x="74" y="69"/>
                </a:cxn>
                <a:cxn ang="0">
                  <a:pos x="54" y="62"/>
                </a:cxn>
                <a:cxn ang="0">
                  <a:pos x="51" y="56"/>
                </a:cxn>
                <a:cxn ang="0">
                  <a:pos x="38" y="58"/>
                </a:cxn>
                <a:cxn ang="0">
                  <a:pos x="32" y="50"/>
                </a:cxn>
                <a:cxn ang="0">
                  <a:pos x="32" y="68"/>
                </a:cxn>
                <a:cxn ang="0">
                  <a:pos x="32" y="87"/>
                </a:cxn>
              </a:cxnLst>
              <a:rect l="0" t="0" r="r" b="b"/>
              <a:pathLst>
                <a:path w="186" h="179">
                  <a:moveTo>
                    <a:pt x="32" y="87"/>
                  </a:moveTo>
                  <a:lnTo>
                    <a:pt x="16" y="87"/>
                  </a:lnTo>
                  <a:lnTo>
                    <a:pt x="1" y="88"/>
                  </a:lnTo>
                  <a:lnTo>
                    <a:pt x="0" y="101"/>
                  </a:lnTo>
                  <a:lnTo>
                    <a:pt x="0" y="116"/>
                  </a:lnTo>
                  <a:lnTo>
                    <a:pt x="0" y="130"/>
                  </a:lnTo>
                  <a:lnTo>
                    <a:pt x="0" y="144"/>
                  </a:lnTo>
                  <a:lnTo>
                    <a:pt x="10" y="158"/>
                  </a:lnTo>
                  <a:lnTo>
                    <a:pt x="21" y="171"/>
                  </a:lnTo>
                  <a:lnTo>
                    <a:pt x="32" y="168"/>
                  </a:lnTo>
                  <a:lnTo>
                    <a:pt x="49" y="173"/>
                  </a:lnTo>
                  <a:lnTo>
                    <a:pt x="72" y="179"/>
                  </a:lnTo>
                  <a:lnTo>
                    <a:pt x="86" y="165"/>
                  </a:lnTo>
                  <a:lnTo>
                    <a:pt x="103" y="152"/>
                  </a:lnTo>
                  <a:lnTo>
                    <a:pt x="108" y="141"/>
                  </a:lnTo>
                  <a:lnTo>
                    <a:pt x="120" y="137"/>
                  </a:lnTo>
                  <a:lnTo>
                    <a:pt x="132" y="135"/>
                  </a:lnTo>
                  <a:lnTo>
                    <a:pt x="129" y="125"/>
                  </a:lnTo>
                  <a:lnTo>
                    <a:pt x="141" y="120"/>
                  </a:lnTo>
                  <a:lnTo>
                    <a:pt x="152" y="116"/>
                  </a:lnTo>
                  <a:lnTo>
                    <a:pt x="164" y="111"/>
                  </a:lnTo>
                  <a:lnTo>
                    <a:pt x="176" y="106"/>
                  </a:lnTo>
                  <a:lnTo>
                    <a:pt x="169" y="98"/>
                  </a:lnTo>
                  <a:lnTo>
                    <a:pt x="177" y="81"/>
                  </a:lnTo>
                  <a:lnTo>
                    <a:pt x="180" y="76"/>
                  </a:lnTo>
                  <a:lnTo>
                    <a:pt x="181" y="62"/>
                  </a:lnTo>
                  <a:lnTo>
                    <a:pt x="182" y="48"/>
                  </a:lnTo>
                  <a:lnTo>
                    <a:pt x="186" y="41"/>
                  </a:lnTo>
                  <a:lnTo>
                    <a:pt x="176" y="27"/>
                  </a:lnTo>
                  <a:lnTo>
                    <a:pt x="175" y="23"/>
                  </a:lnTo>
                  <a:lnTo>
                    <a:pt x="158" y="14"/>
                  </a:lnTo>
                  <a:lnTo>
                    <a:pt x="141" y="4"/>
                  </a:lnTo>
                  <a:lnTo>
                    <a:pt x="141" y="0"/>
                  </a:lnTo>
                  <a:lnTo>
                    <a:pt x="126" y="4"/>
                  </a:lnTo>
                  <a:lnTo>
                    <a:pt x="111" y="8"/>
                  </a:lnTo>
                  <a:lnTo>
                    <a:pt x="103" y="21"/>
                  </a:lnTo>
                  <a:lnTo>
                    <a:pt x="106" y="36"/>
                  </a:lnTo>
                  <a:lnTo>
                    <a:pt x="105" y="52"/>
                  </a:lnTo>
                  <a:lnTo>
                    <a:pt x="103" y="68"/>
                  </a:lnTo>
                  <a:lnTo>
                    <a:pt x="118" y="78"/>
                  </a:lnTo>
                  <a:lnTo>
                    <a:pt x="123" y="72"/>
                  </a:lnTo>
                  <a:lnTo>
                    <a:pt x="121" y="95"/>
                  </a:lnTo>
                  <a:lnTo>
                    <a:pt x="116" y="94"/>
                  </a:lnTo>
                  <a:lnTo>
                    <a:pt x="110" y="94"/>
                  </a:lnTo>
                  <a:lnTo>
                    <a:pt x="97" y="76"/>
                  </a:lnTo>
                  <a:lnTo>
                    <a:pt x="87" y="69"/>
                  </a:lnTo>
                  <a:lnTo>
                    <a:pt x="80" y="63"/>
                  </a:lnTo>
                  <a:lnTo>
                    <a:pt x="74" y="69"/>
                  </a:lnTo>
                  <a:lnTo>
                    <a:pt x="54" y="62"/>
                  </a:lnTo>
                  <a:lnTo>
                    <a:pt x="51" y="56"/>
                  </a:lnTo>
                  <a:lnTo>
                    <a:pt x="38" y="58"/>
                  </a:lnTo>
                  <a:lnTo>
                    <a:pt x="32" y="50"/>
                  </a:lnTo>
                  <a:lnTo>
                    <a:pt x="32" y="68"/>
                  </a:lnTo>
                  <a:lnTo>
                    <a:pt x="32"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5" name="Freeform 224"/>
            <p:cNvSpPr>
              <a:spLocks/>
            </p:cNvSpPr>
            <p:nvPr/>
          </p:nvSpPr>
          <p:spPr bwMode="auto">
            <a:xfrm>
              <a:off x="2969" y="3016"/>
              <a:ext cx="135" cy="138"/>
            </a:xfrm>
            <a:custGeom>
              <a:avLst/>
              <a:gdLst/>
              <a:ahLst/>
              <a:cxnLst>
                <a:cxn ang="0">
                  <a:pos x="60" y="116"/>
                </a:cxn>
                <a:cxn ang="0">
                  <a:pos x="56" y="113"/>
                </a:cxn>
                <a:cxn ang="0">
                  <a:pos x="42" y="107"/>
                </a:cxn>
                <a:cxn ang="0">
                  <a:pos x="37" y="92"/>
                </a:cxn>
                <a:cxn ang="0">
                  <a:pos x="33" y="86"/>
                </a:cxn>
                <a:cxn ang="0">
                  <a:pos x="30" y="83"/>
                </a:cxn>
                <a:cxn ang="0">
                  <a:pos x="19" y="74"/>
                </a:cxn>
                <a:cxn ang="0">
                  <a:pos x="9" y="56"/>
                </a:cxn>
                <a:cxn ang="0">
                  <a:pos x="0" y="38"/>
                </a:cxn>
                <a:cxn ang="0">
                  <a:pos x="23" y="44"/>
                </a:cxn>
                <a:cxn ang="0">
                  <a:pos x="37" y="30"/>
                </a:cxn>
                <a:cxn ang="0">
                  <a:pos x="54" y="17"/>
                </a:cxn>
                <a:cxn ang="0">
                  <a:pos x="59" y="6"/>
                </a:cxn>
                <a:cxn ang="0">
                  <a:pos x="71" y="2"/>
                </a:cxn>
                <a:cxn ang="0">
                  <a:pos x="83" y="0"/>
                </a:cxn>
                <a:cxn ang="0">
                  <a:pos x="83" y="7"/>
                </a:cxn>
                <a:cxn ang="0">
                  <a:pos x="90" y="6"/>
                </a:cxn>
                <a:cxn ang="0">
                  <a:pos x="105" y="13"/>
                </a:cxn>
                <a:cxn ang="0">
                  <a:pos x="121" y="19"/>
                </a:cxn>
                <a:cxn ang="0">
                  <a:pos x="121" y="41"/>
                </a:cxn>
                <a:cxn ang="0">
                  <a:pos x="117" y="56"/>
                </a:cxn>
                <a:cxn ang="0">
                  <a:pos x="120" y="73"/>
                </a:cxn>
                <a:cxn ang="0">
                  <a:pos x="114" y="89"/>
                </a:cxn>
                <a:cxn ang="0">
                  <a:pos x="110" y="103"/>
                </a:cxn>
                <a:cxn ang="0">
                  <a:pos x="101" y="113"/>
                </a:cxn>
                <a:cxn ang="0">
                  <a:pos x="91" y="122"/>
                </a:cxn>
                <a:cxn ang="0">
                  <a:pos x="75" y="120"/>
                </a:cxn>
                <a:cxn ang="0">
                  <a:pos x="61" y="117"/>
                </a:cxn>
                <a:cxn ang="0">
                  <a:pos x="60" y="116"/>
                </a:cxn>
              </a:cxnLst>
              <a:rect l="0" t="0" r="r" b="b"/>
              <a:pathLst>
                <a:path w="121" h="122">
                  <a:moveTo>
                    <a:pt x="60" y="116"/>
                  </a:moveTo>
                  <a:lnTo>
                    <a:pt x="56" y="113"/>
                  </a:lnTo>
                  <a:lnTo>
                    <a:pt x="42" y="107"/>
                  </a:lnTo>
                  <a:lnTo>
                    <a:pt x="37" y="92"/>
                  </a:lnTo>
                  <a:lnTo>
                    <a:pt x="33" y="86"/>
                  </a:lnTo>
                  <a:lnTo>
                    <a:pt x="30" y="83"/>
                  </a:lnTo>
                  <a:lnTo>
                    <a:pt x="19" y="74"/>
                  </a:lnTo>
                  <a:lnTo>
                    <a:pt x="9" y="56"/>
                  </a:lnTo>
                  <a:lnTo>
                    <a:pt x="0" y="38"/>
                  </a:lnTo>
                  <a:lnTo>
                    <a:pt x="23" y="44"/>
                  </a:lnTo>
                  <a:lnTo>
                    <a:pt x="37" y="30"/>
                  </a:lnTo>
                  <a:lnTo>
                    <a:pt x="54" y="17"/>
                  </a:lnTo>
                  <a:lnTo>
                    <a:pt x="59" y="6"/>
                  </a:lnTo>
                  <a:lnTo>
                    <a:pt x="71" y="2"/>
                  </a:lnTo>
                  <a:lnTo>
                    <a:pt x="83" y="0"/>
                  </a:lnTo>
                  <a:lnTo>
                    <a:pt x="83" y="7"/>
                  </a:lnTo>
                  <a:lnTo>
                    <a:pt x="90" y="6"/>
                  </a:lnTo>
                  <a:lnTo>
                    <a:pt x="105" y="13"/>
                  </a:lnTo>
                  <a:lnTo>
                    <a:pt x="121" y="19"/>
                  </a:lnTo>
                  <a:lnTo>
                    <a:pt x="121" y="41"/>
                  </a:lnTo>
                  <a:lnTo>
                    <a:pt x="117" y="56"/>
                  </a:lnTo>
                  <a:lnTo>
                    <a:pt x="120" y="73"/>
                  </a:lnTo>
                  <a:lnTo>
                    <a:pt x="114" y="89"/>
                  </a:lnTo>
                  <a:lnTo>
                    <a:pt x="110" y="103"/>
                  </a:lnTo>
                  <a:lnTo>
                    <a:pt x="101" y="113"/>
                  </a:lnTo>
                  <a:lnTo>
                    <a:pt x="91" y="122"/>
                  </a:lnTo>
                  <a:lnTo>
                    <a:pt x="75" y="120"/>
                  </a:lnTo>
                  <a:lnTo>
                    <a:pt x="61" y="117"/>
                  </a:lnTo>
                  <a:lnTo>
                    <a:pt x="60" y="1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6" name="Freeform 225"/>
            <p:cNvSpPr>
              <a:spLocks/>
            </p:cNvSpPr>
            <p:nvPr/>
          </p:nvSpPr>
          <p:spPr bwMode="auto">
            <a:xfrm>
              <a:off x="920" y="2705"/>
              <a:ext cx="9" cy="18"/>
            </a:xfrm>
            <a:custGeom>
              <a:avLst/>
              <a:gdLst/>
              <a:ahLst/>
              <a:cxnLst>
                <a:cxn ang="0">
                  <a:pos x="0" y="0"/>
                </a:cxn>
                <a:cxn ang="0">
                  <a:pos x="5" y="10"/>
                </a:cxn>
                <a:cxn ang="0">
                  <a:pos x="0" y="16"/>
                </a:cxn>
                <a:cxn ang="0">
                  <a:pos x="10" y="17"/>
                </a:cxn>
                <a:cxn ang="0">
                  <a:pos x="4" y="0"/>
                </a:cxn>
                <a:cxn ang="0">
                  <a:pos x="0" y="0"/>
                </a:cxn>
              </a:cxnLst>
              <a:rect l="0" t="0" r="r" b="b"/>
              <a:pathLst>
                <a:path w="10" h="17">
                  <a:moveTo>
                    <a:pt x="0" y="0"/>
                  </a:moveTo>
                  <a:lnTo>
                    <a:pt x="5" y="10"/>
                  </a:lnTo>
                  <a:lnTo>
                    <a:pt x="0" y="16"/>
                  </a:lnTo>
                  <a:lnTo>
                    <a:pt x="10" y="17"/>
                  </a:lnTo>
                  <a:lnTo>
                    <a:pt x="4" y="0"/>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7" name="Freeform 226"/>
            <p:cNvSpPr>
              <a:spLocks/>
            </p:cNvSpPr>
            <p:nvPr/>
          </p:nvSpPr>
          <p:spPr bwMode="auto">
            <a:xfrm>
              <a:off x="936" y="2716"/>
              <a:ext cx="7" cy="3"/>
            </a:xfrm>
            <a:custGeom>
              <a:avLst/>
              <a:gdLst/>
              <a:ahLst/>
              <a:cxnLst>
                <a:cxn ang="0">
                  <a:pos x="6" y="1"/>
                </a:cxn>
                <a:cxn ang="0">
                  <a:pos x="4" y="1"/>
                </a:cxn>
                <a:cxn ang="0">
                  <a:pos x="0" y="0"/>
                </a:cxn>
                <a:cxn ang="0">
                  <a:pos x="6" y="1"/>
                </a:cxn>
              </a:cxnLst>
              <a:rect l="0" t="0" r="r" b="b"/>
              <a:pathLst>
                <a:path w="6" h="1">
                  <a:moveTo>
                    <a:pt x="6" y="1"/>
                  </a:moveTo>
                  <a:lnTo>
                    <a:pt x="4" y="1"/>
                  </a:lnTo>
                  <a:lnTo>
                    <a:pt x="0" y="0"/>
                  </a:lnTo>
                  <a:lnTo>
                    <a:pt x="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8" name="Freeform 227"/>
            <p:cNvSpPr>
              <a:spLocks/>
            </p:cNvSpPr>
            <p:nvPr/>
          </p:nvSpPr>
          <p:spPr bwMode="auto">
            <a:xfrm>
              <a:off x="1134" y="2516"/>
              <a:ext cx="40" cy="45"/>
            </a:xfrm>
            <a:custGeom>
              <a:avLst/>
              <a:gdLst/>
              <a:ahLst/>
              <a:cxnLst>
                <a:cxn ang="0">
                  <a:pos x="21" y="22"/>
                </a:cxn>
                <a:cxn ang="0">
                  <a:pos x="27" y="22"/>
                </a:cxn>
                <a:cxn ang="0">
                  <a:pos x="25" y="19"/>
                </a:cxn>
                <a:cxn ang="0">
                  <a:pos x="21" y="18"/>
                </a:cxn>
                <a:cxn ang="0">
                  <a:pos x="16" y="13"/>
                </a:cxn>
                <a:cxn ang="0">
                  <a:pos x="5" y="8"/>
                </a:cxn>
                <a:cxn ang="0">
                  <a:pos x="0" y="4"/>
                </a:cxn>
                <a:cxn ang="0">
                  <a:pos x="0" y="0"/>
                </a:cxn>
                <a:cxn ang="0">
                  <a:pos x="15" y="1"/>
                </a:cxn>
                <a:cxn ang="0">
                  <a:pos x="25" y="8"/>
                </a:cxn>
                <a:cxn ang="0">
                  <a:pos x="36" y="14"/>
                </a:cxn>
                <a:cxn ang="0">
                  <a:pos x="36" y="28"/>
                </a:cxn>
                <a:cxn ang="0">
                  <a:pos x="30" y="33"/>
                </a:cxn>
                <a:cxn ang="0">
                  <a:pos x="27" y="40"/>
                </a:cxn>
                <a:cxn ang="0">
                  <a:pos x="23" y="34"/>
                </a:cxn>
                <a:cxn ang="0">
                  <a:pos x="21" y="22"/>
                </a:cxn>
              </a:cxnLst>
              <a:rect l="0" t="0" r="r" b="b"/>
              <a:pathLst>
                <a:path w="36" h="40">
                  <a:moveTo>
                    <a:pt x="21" y="22"/>
                  </a:moveTo>
                  <a:lnTo>
                    <a:pt x="27" y="22"/>
                  </a:lnTo>
                  <a:lnTo>
                    <a:pt x="25" y="19"/>
                  </a:lnTo>
                  <a:lnTo>
                    <a:pt x="21" y="18"/>
                  </a:lnTo>
                  <a:lnTo>
                    <a:pt x="16" y="13"/>
                  </a:lnTo>
                  <a:lnTo>
                    <a:pt x="5" y="8"/>
                  </a:lnTo>
                  <a:lnTo>
                    <a:pt x="0" y="4"/>
                  </a:lnTo>
                  <a:lnTo>
                    <a:pt x="0" y="0"/>
                  </a:lnTo>
                  <a:lnTo>
                    <a:pt x="15" y="1"/>
                  </a:lnTo>
                  <a:lnTo>
                    <a:pt x="25" y="8"/>
                  </a:lnTo>
                  <a:lnTo>
                    <a:pt x="36" y="14"/>
                  </a:lnTo>
                  <a:lnTo>
                    <a:pt x="36" y="28"/>
                  </a:lnTo>
                  <a:lnTo>
                    <a:pt x="30" y="33"/>
                  </a:lnTo>
                  <a:lnTo>
                    <a:pt x="27" y="40"/>
                  </a:lnTo>
                  <a:lnTo>
                    <a:pt x="23" y="34"/>
                  </a:lnTo>
                  <a:lnTo>
                    <a:pt x="21" y="2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9" name="Freeform 228"/>
            <p:cNvSpPr>
              <a:spLocks/>
            </p:cNvSpPr>
            <p:nvPr/>
          </p:nvSpPr>
          <p:spPr bwMode="auto">
            <a:xfrm>
              <a:off x="1569" y="2590"/>
              <a:ext cx="53" cy="73"/>
            </a:xfrm>
            <a:custGeom>
              <a:avLst/>
              <a:gdLst/>
              <a:ahLst/>
              <a:cxnLst>
                <a:cxn ang="0">
                  <a:pos x="36" y="18"/>
                </a:cxn>
                <a:cxn ang="0">
                  <a:pos x="21" y="3"/>
                </a:cxn>
                <a:cxn ang="0">
                  <a:pos x="11" y="0"/>
                </a:cxn>
                <a:cxn ang="0">
                  <a:pos x="7" y="7"/>
                </a:cxn>
                <a:cxn ang="0">
                  <a:pos x="2" y="21"/>
                </a:cxn>
                <a:cxn ang="0">
                  <a:pos x="8" y="44"/>
                </a:cxn>
                <a:cxn ang="0">
                  <a:pos x="0" y="61"/>
                </a:cxn>
                <a:cxn ang="0">
                  <a:pos x="9" y="63"/>
                </a:cxn>
                <a:cxn ang="0">
                  <a:pos x="25" y="65"/>
                </a:cxn>
                <a:cxn ang="0">
                  <a:pos x="36" y="48"/>
                </a:cxn>
                <a:cxn ang="0">
                  <a:pos x="47" y="31"/>
                </a:cxn>
                <a:cxn ang="0">
                  <a:pos x="42" y="20"/>
                </a:cxn>
                <a:cxn ang="0">
                  <a:pos x="42" y="24"/>
                </a:cxn>
                <a:cxn ang="0">
                  <a:pos x="36" y="18"/>
                </a:cxn>
              </a:cxnLst>
              <a:rect l="0" t="0" r="r" b="b"/>
              <a:pathLst>
                <a:path w="47" h="65">
                  <a:moveTo>
                    <a:pt x="36" y="18"/>
                  </a:moveTo>
                  <a:lnTo>
                    <a:pt x="21" y="3"/>
                  </a:lnTo>
                  <a:lnTo>
                    <a:pt x="11" y="0"/>
                  </a:lnTo>
                  <a:lnTo>
                    <a:pt x="7" y="7"/>
                  </a:lnTo>
                  <a:lnTo>
                    <a:pt x="2" y="21"/>
                  </a:lnTo>
                  <a:lnTo>
                    <a:pt x="8" y="44"/>
                  </a:lnTo>
                  <a:lnTo>
                    <a:pt x="0" y="61"/>
                  </a:lnTo>
                  <a:lnTo>
                    <a:pt x="9" y="63"/>
                  </a:lnTo>
                  <a:lnTo>
                    <a:pt x="25" y="65"/>
                  </a:lnTo>
                  <a:lnTo>
                    <a:pt x="36" y="48"/>
                  </a:lnTo>
                  <a:lnTo>
                    <a:pt x="47" y="31"/>
                  </a:lnTo>
                  <a:lnTo>
                    <a:pt x="42" y="20"/>
                  </a:lnTo>
                  <a:lnTo>
                    <a:pt x="42" y="24"/>
                  </a:lnTo>
                  <a:lnTo>
                    <a:pt x="36"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0" name="Freeform 229"/>
            <p:cNvSpPr>
              <a:spLocks/>
            </p:cNvSpPr>
            <p:nvPr/>
          </p:nvSpPr>
          <p:spPr bwMode="auto">
            <a:xfrm>
              <a:off x="1140" y="2459"/>
              <a:ext cx="214" cy="331"/>
            </a:xfrm>
            <a:custGeom>
              <a:avLst/>
              <a:gdLst/>
              <a:ahLst/>
              <a:cxnLst>
                <a:cxn ang="0">
                  <a:pos x="76" y="28"/>
                </a:cxn>
                <a:cxn ang="0">
                  <a:pos x="69" y="25"/>
                </a:cxn>
                <a:cxn ang="0">
                  <a:pos x="56" y="53"/>
                </a:cxn>
                <a:cxn ang="0">
                  <a:pos x="35" y="79"/>
                </a:cxn>
                <a:cxn ang="0">
                  <a:pos x="29" y="66"/>
                </a:cxn>
                <a:cxn ang="0">
                  <a:pos x="23" y="85"/>
                </a:cxn>
                <a:cxn ang="0">
                  <a:pos x="24" y="100"/>
                </a:cxn>
                <a:cxn ang="0">
                  <a:pos x="24" y="124"/>
                </a:cxn>
                <a:cxn ang="0">
                  <a:pos x="27" y="150"/>
                </a:cxn>
                <a:cxn ang="0">
                  <a:pos x="18" y="173"/>
                </a:cxn>
                <a:cxn ang="0">
                  <a:pos x="5" y="187"/>
                </a:cxn>
                <a:cxn ang="0">
                  <a:pos x="2" y="197"/>
                </a:cxn>
                <a:cxn ang="0">
                  <a:pos x="24" y="215"/>
                </a:cxn>
                <a:cxn ang="0">
                  <a:pos x="58" y="224"/>
                </a:cxn>
                <a:cxn ang="0">
                  <a:pos x="68" y="232"/>
                </a:cxn>
                <a:cxn ang="0">
                  <a:pos x="89" y="254"/>
                </a:cxn>
                <a:cxn ang="0">
                  <a:pos x="112" y="263"/>
                </a:cxn>
                <a:cxn ang="0">
                  <a:pos x="140" y="269"/>
                </a:cxn>
                <a:cxn ang="0">
                  <a:pos x="143" y="298"/>
                </a:cxn>
                <a:cxn ang="0">
                  <a:pos x="150" y="247"/>
                </a:cxn>
                <a:cxn ang="0">
                  <a:pos x="141" y="211"/>
                </a:cxn>
                <a:cxn ang="0">
                  <a:pos x="155" y="206"/>
                </a:cxn>
                <a:cxn ang="0">
                  <a:pos x="144" y="191"/>
                </a:cxn>
                <a:cxn ang="0">
                  <a:pos x="171" y="191"/>
                </a:cxn>
                <a:cxn ang="0">
                  <a:pos x="173" y="191"/>
                </a:cxn>
                <a:cxn ang="0">
                  <a:pos x="188" y="199"/>
                </a:cxn>
                <a:cxn ang="0">
                  <a:pos x="188" y="186"/>
                </a:cxn>
                <a:cxn ang="0">
                  <a:pos x="184" y="163"/>
                </a:cxn>
                <a:cxn ang="0">
                  <a:pos x="180" y="126"/>
                </a:cxn>
                <a:cxn ang="0">
                  <a:pos x="171" y="112"/>
                </a:cxn>
                <a:cxn ang="0">
                  <a:pos x="143" y="96"/>
                </a:cxn>
                <a:cxn ang="0">
                  <a:pos x="118" y="95"/>
                </a:cxn>
                <a:cxn ang="0">
                  <a:pos x="107" y="78"/>
                </a:cxn>
                <a:cxn ang="0">
                  <a:pos x="93" y="58"/>
                </a:cxn>
                <a:cxn ang="0">
                  <a:pos x="108" y="28"/>
                </a:cxn>
                <a:cxn ang="0">
                  <a:pos x="128" y="10"/>
                </a:cxn>
                <a:cxn ang="0">
                  <a:pos x="119" y="1"/>
                </a:cxn>
                <a:cxn ang="0">
                  <a:pos x="90" y="19"/>
                </a:cxn>
              </a:cxnLst>
              <a:rect l="0" t="0" r="r" b="b"/>
              <a:pathLst>
                <a:path w="191" h="298">
                  <a:moveTo>
                    <a:pt x="81" y="20"/>
                  </a:moveTo>
                  <a:lnTo>
                    <a:pt x="76" y="28"/>
                  </a:lnTo>
                  <a:lnTo>
                    <a:pt x="77" y="25"/>
                  </a:lnTo>
                  <a:lnTo>
                    <a:pt x="69" y="25"/>
                  </a:lnTo>
                  <a:lnTo>
                    <a:pt x="57" y="40"/>
                  </a:lnTo>
                  <a:lnTo>
                    <a:pt x="56" y="53"/>
                  </a:lnTo>
                  <a:lnTo>
                    <a:pt x="38" y="70"/>
                  </a:lnTo>
                  <a:lnTo>
                    <a:pt x="35" y="79"/>
                  </a:lnTo>
                  <a:lnTo>
                    <a:pt x="33" y="71"/>
                  </a:lnTo>
                  <a:lnTo>
                    <a:pt x="29" y="66"/>
                  </a:lnTo>
                  <a:lnTo>
                    <a:pt x="29" y="80"/>
                  </a:lnTo>
                  <a:lnTo>
                    <a:pt x="23" y="85"/>
                  </a:lnTo>
                  <a:lnTo>
                    <a:pt x="20" y="92"/>
                  </a:lnTo>
                  <a:lnTo>
                    <a:pt x="24" y="100"/>
                  </a:lnTo>
                  <a:lnTo>
                    <a:pt x="28" y="116"/>
                  </a:lnTo>
                  <a:lnTo>
                    <a:pt x="24" y="124"/>
                  </a:lnTo>
                  <a:lnTo>
                    <a:pt x="26" y="137"/>
                  </a:lnTo>
                  <a:lnTo>
                    <a:pt x="27" y="150"/>
                  </a:lnTo>
                  <a:lnTo>
                    <a:pt x="29" y="152"/>
                  </a:lnTo>
                  <a:lnTo>
                    <a:pt x="18" y="173"/>
                  </a:lnTo>
                  <a:lnTo>
                    <a:pt x="9" y="178"/>
                  </a:lnTo>
                  <a:lnTo>
                    <a:pt x="5" y="187"/>
                  </a:lnTo>
                  <a:lnTo>
                    <a:pt x="0" y="190"/>
                  </a:lnTo>
                  <a:lnTo>
                    <a:pt x="2" y="197"/>
                  </a:lnTo>
                  <a:lnTo>
                    <a:pt x="15" y="206"/>
                  </a:lnTo>
                  <a:lnTo>
                    <a:pt x="24" y="215"/>
                  </a:lnTo>
                  <a:lnTo>
                    <a:pt x="40" y="215"/>
                  </a:lnTo>
                  <a:lnTo>
                    <a:pt x="58" y="224"/>
                  </a:lnTo>
                  <a:lnTo>
                    <a:pt x="59" y="223"/>
                  </a:lnTo>
                  <a:lnTo>
                    <a:pt x="68" y="232"/>
                  </a:lnTo>
                  <a:lnTo>
                    <a:pt x="77" y="240"/>
                  </a:lnTo>
                  <a:lnTo>
                    <a:pt x="89" y="254"/>
                  </a:lnTo>
                  <a:lnTo>
                    <a:pt x="92" y="263"/>
                  </a:lnTo>
                  <a:lnTo>
                    <a:pt x="112" y="263"/>
                  </a:lnTo>
                  <a:lnTo>
                    <a:pt x="124" y="264"/>
                  </a:lnTo>
                  <a:lnTo>
                    <a:pt x="140" y="269"/>
                  </a:lnTo>
                  <a:lnTo>
                    <a:pt x="134" y="290"/>
                  </a:lnTo>
                  <a:lnTo>
                    <a:pt x="143" y="298"/>
                  </a:lnTo>
                  <a:lnTo>
                    <a:pt x="147" y="272"/>
                  </a:lnTo>
                  <a:lnTo>
                    <a:pt x="150" y="247"/>
                  </a:lnTo>
                  <a:lnTo>
                    <a:pt x="144" y="228"/>
                  </a:lnTo>
                  <a:lnTo>
                    <a:pt x="141" y="211"/>
                  </a:lnTo>
                  <a:lnTo>
                    <a:pt x="152" y="211"/>
                  </a:lnTo>
                  <a:lnTo>
                    <a:pt x="155" y="206"/>
                  </a:lnTo>
                  <a:lnTo>
                    <a:pt x="147" y="203"/>
                  </a:lnTo>
                  <a:lnTo>
                    <a:pt x="144" y="191"/>
                  </a:lnTo>
                  <a:lnTo>
                    <a:pt x="158" y="191"/>
                  </a:lnTo>
                  <a:lnTo>
                    <a:pt x="171" y="191"/>
                  </a:lnTo>
                  <a:lnTo>
                    <a:pt x="170" y="188"/>
                  </a:lnTo>
                  <a:lnTo>
                    <a:pt x="173" y="191"/>
                  </a:lnTo>
                  <a:lnTo>
                    <a:pt x="183" y="184"/>
                  </a:lnTo>
                  <a:lnTo>
                    <a:pt x="188" y="199"/>
                  </a:lnTo>
                  <a:lnTo>
                    <a:pt x="191" y="200"/>
                  </a:lnTo>
                  <a:lnTo>
                    <a:pt x="188" y="186"/>
                  </a:lnTo>
                  <a:lnTo>
                    <a:pt x="179" y="172"/>
                  </a:lnTo>
                  <a:lnTo>
                    <a:pt x="184" y="163"/>
                  </a:lnTo>
                  <a:lnTo>
                    <a:pt x="177" y="140"/>
                  </a:lnTo>
                  <a:lnTo>
                    <a:pt x="180" y="126"/>
                  </a:lnTo>
                  <a:lnTo>
                    <a:pt x="184" y="110"/>
                  </a:lnTo>
                  <a:lnTo>
                    <a:pt x="171" y="112"/>
                  </a:lnTo>
                  <a:lnTo>
                    <a:pt x="156" y="113"/>
                  </a:lnTo>
                  <a:lnTo>
                    <a:pt x="143" y="96"/>
                  </a:lnTo>
                  <a:lnTo>
                    <a:pt x="130" y="96"/>
                  </a:lnTo>
                  <a:lnTo>
                    <a:pt x="118" y="95"/>
                  </a:lnTo>
                  <a:lnTo>
                    <a:pt x="107" y="89"/>
                  </a:lnTo>
                  <a:lnTo>
                    <a:pt x="107" y="78"/>
                  </a:lnTo>
                  <a:lnTo>
                    <a:pt x="99" y="58"/>
                  </a:lnTo>
                  <a:lnTo>
                    <a:pt x="93" y="58"/>
                  </a:lnTo>
                  <a:lnTo>
                    <a:pt x="100" y="42"/>
                  </a:lnTo>
                  <a:lnTo>
                    <a:pt x="108" y="28"/>
                  </a:lnTo>
                  <a:lnTo>
                    <a:pt x="117" y="12"/>
                  </a:lnTo>
                  <a:lnTo>
                    <a:pt x="128" y="10"/>
                  </a:lnTo>
                  <a:lnTo>
                    <a:pt x="130" y="0"/>
                  </a:lnTo>
                  <a:lnTo>
                    <a:pt x="119" y="1"/>
                  </a:lnTo>
                  <a:lnTo>
                    <a:pt x="105" y="11"/>
                  </a:lnTo>
                  <a:lnTo>
                    <a:pt x="90" y="19"/>
                  </a:lnTo>
                  <a:lnTo>
                    <a:pt x="81" y="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1" name="Freeform 230"/>
            <p:cNvSpPr>
              <a:spLocks/>
            </p:cNvSpPr>
            <p:nvPr/>
          </p:nvSpPr>
          <p:spPr bwMode="auto">
            <a:xfrm>
              <a:off x="1454" y="2534"/>
              <a:ext cx="82" cy="145"/>
            </a:xfrm>
            <a:custGeom>
              <a:avLst/>
              <a:gdLst/>
              <a:ahLst/>
              <a:cxnLst>
                <a:cxn ang="0">
                  <a:pos x="60" y="94"/>
                </a:cxn>
                <a:cxn ang="0">
                  <a:pos x="53" y="84"/>
                </a:cxn>
                <a:cxn ang="0">
                  <a:pos x="54" y="69"/>
                </a:cxn>
                <a:cxn ang="0">
                  <a:pos x="61" y="64"/>
                </a:cxn>
                <a:cxn ang="0">
                  <a:pos x="64" y="56"/>
                </a:cxn>
                <a:cxn ang="0">
                  <a:pos x="64" y="41"/>
                </a:cxn>
                <a:cxn ang="0">
                  <a:pos x="47" y="30"/>
                </a:cxn>
                <a:cxn ang="0">
                  <a:pos x="43" y="38"/>
                </a:cxn>
                <a:cxn ang="0">
                  <a:pos x="45" y="20"/>
                </a:cxn>
                <a:cxn ang="0">
                  <a:pos x="35" y="12"/>
                </a:cxn>
                <a:cxn ang="0">
                  <a:pos x="27" y="4"/>
                </a:cxn>
                <a:cxn ang="0">
                  <a:pos x="30" y="6"/>
                </a:cxn>
                <a:cxn ang="0">
                  <a:pos x="23" y="0"/>
                </a:cxn>
                <a:cxn ang="0">
                  <a:pos x="25" y="5"/>
                </a:cxn>
                <a:cxn ang="0">
                  <a:pos x="11" y="18"/>
                </a:cxn>
                <a:cxn ang="0">
                  <a:pos x="17" y="26"/>
                </a:cxn>
                <a:cxn ang="0">
                  <a:pos x="6" y="33"/>
                </a:cxn>
                <a:cxn ang="0">
                  <a:pos x="0" y="46"/>
                </a:cxn>
                <a:cxn ang="0">
                  <a:pos x="9" y="60"/>
                </a:cxn>
                <a:cxn ang="0">
                  <a:pos x="18" y="60"/>
                </a:cxn>
                <a:cxn ang="0">
                  <a:pos x="19" y="70"/>
                </a:cxn>
                <a:cxn ang="0">
                  <a:pos x="27" y="80"/>
                </a:cxn>
                <a:cxn ang="0">
                  <a:pos x="22" y="95"/>
                </a:cxn>
                <a:cxn ang="0">
                  <a:pos x="24" y="117"/>
                </a:cxn>
                <a:cxn ang="0">
                  <a:pos x="34" y="130"/>
                </a:cxn>
                <a:cxn ang="0">
                  <a:pos x="43" y="130"/>
                </a:cxn>
                <a:cxn ang="0">
                  <a:pos x="59" y="122"/>
                </a:cxn>
                <a:cxn ang="0">
                  <a:pos x="76" y="119"/>
                </a:cxn>
                <a:cxn ang="0">
                  <a:pos x="69" y="106"/>
                </a:cxn>
                <a:cxn ang="0">
                  <a:pos x="60" y="94"/>
                </a:cxn>
              </a:cxnLst>
              <a:rect l="0" t="0" r="r" b="b"/>
              <a:pathLst>
                <a:path w="76" h="130">
                  <a:moveTo>
                    <a:pt x="60" y="94"/>
                  </a:moveTo>
                  <a:lnTo>
                    <a:pt x="53" y="84"/>
                  </a:lnTo>
                  <a:lnTo>
                    <a:pt x="54" y="69"/>
                  </a:lnTo>
                  <a:lnTo>
                    <a:pt x="61" y="64"/>
                  </a:lnTo>
                  <a:lnTo>
                    <a:pt x="64" y="56"/>
                  </a:lnTo>
                  <a:lnTo>
                    <a:pt x="64" y="41"/>
                  </a:lnTo>
                  <a:lnTo>
                    <a:pt x="47" y="30"/>
                  </a:lnTo>
                  <a:lnTo>
                    <a:pt x="43" y="38"/>
                  </a:lnTo>
                  <a:lnTo>
                    <a:pt x="45" y="20"/>
                  </a:lnTo>
                  <a:lnTo>
                    <a:pt x="35" y="12"/>
                  </a:lnTo>
                  <a:lnTo>
                    <a:pt x="27" y="4"/>
                  </a:lnTo>
                  <a:lnTo>
                    <a:pt x="30" y="6"/>
                  </a:lnTo>
                  <a:lnTo>
                    <a:pt x="23" y="0"/>
                  </a:lnTo>
                  <a:lnTo>
                    <a:pt x="25" y="5"/>
                  </a:lnTo>
                  <a:lnTo>
                    <a:pt x="11" y="18"/>
                  </a:lnTo>
                  <a:lnTo>
                    <a:pt x="17" y="26"/>
                  </a:lnTo>
                  <a:lnTo>
                    <a:pt x="6" y="33"/>
                  </a:lnTo>
                  <a:lnTo>
                    <a:pt x="0" y="46"/>
                  </a:lnTo>
                  <a:lnTo>
                    <a:pt x="9" y="60"/>
                  </a:lnTo>
                  <a:lnTo>
                    <a:pt x="18" y="60"/>
                  </a:lnTo>
                  <a:lnTo>
                    <a:pt x="19" y="70"/>
                  </a:lnTo>
                  <a:lnTo>
                    <a:pt x="27" y="80"/>
                  </a:lnTo>
                  <a:lnTo>
                    <a:pt x="22" y="95"/>
                  </a:lnTo>
                  <a:lnTo>
                    <a:pt x="24" y="117"/>
                  </a:lnTo>
                  <a:lnTo>
                    <a:pt x="34" y="130"/>
                  </a:lnTo>
                  <a:lnTo>
                    <a:pt x="43" y="130"/>
                  </a:lnTo>
                  <a:lnTo>
                    <a:pt x="59" y="122"/>
                  </a:lnTo>
                  <a:lnTo>
                    <a:pt x="76" y="119"/>
                  </a:lnTo>
                  <a:lnTo>
                    <a:pt x="69" y="106"/>
                  </a:lnTo>
                  <a:lnTo>
                    <a:pt x="60" y="9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2" name="Freeform 231"/>
            <p:cNvSpPr>
              <a:spLocks/>
            </p:cNvSpPr>
            <p:nvPr/>
          </p:nvSpPr>
          <p:spPr bwMode="auto">
            <a:xfrm>
              <a:off x="1511" y="2587"/>
              <a:ext cx="69" cy="83"/>
            </a:xfrm>
            <a:custGeom>
              <a:avLst/>
              <a:gdLst/>
              <a:ahLst/>
              <a:cxnLst>
                <a:cxn ang="0">
                  <a:pos x="7" y="46"/>
                </a:cxn>
                <a:cxn ang="0">
                  <a:pos x="0" y="36"/>
                </a:cxn>
                <a:cxn ang="0">
                  <a:pos x="1" y="21"/>
                </a:cxn>
                <a:cxn ang="0">
                  <a:pos x="8" y="16"/>
                </a:cxn>
                <a:cxn ang="0">
                  <a:pos x="11" y="8"/>
                </a:cxn>
                <a:cxn ang="0">
                  <a:pos x="14" y="0"/>
                </a:cxn>
                <a:cxn ang="0">
                  <a:pos x="32" y="2"/>
                </a:cxn>
                <a:cxn ang="0">
                  <a:pos x="47" y="0"/>
                </a:cxn>
                <a:cxn ang="0">
                  <a:pos x="61" y="2"/>
                </a:cxn>
                <a:cxn ang="0">
                  <a:pos x="60" y="10"/>
                </a:cxn>
                <a:cxn ang="0">
                  <a:pos x="55" y="24"/>
                </a:cxn>
                <a:cxn ang="0">
                  <a:pos x="61" y="47"/>
                </a:cxn>
                <a:cxn ang="0">
                  <a:pos x="53" y="64"/>
                </a:cxn>
                <a:cxn ang="0">
                  <a:pos x="43" y="60"/>
                </a:cxn>
                <a:cxn ang="0">
                  <a:pos x="29" y="64"/>
                </a:cxn>
                <a:cxn ang="0">
                  <a:pos x="30" y="74"/>
                </a:cxn>
                <a:cxn ang="0">
                  <a:pos x="23" y="71"/>
                </a:cxn>
                <a:cxn ang="0">
                  <a:pos x="16" y="58"/>
                </a:cxn>
                <a:cxn ang="0">
                  <a:pos x="7" y="46"/>
                </a:cxn>
              </a:cxnLst>
              <a:rect l="0" t="0" r="r" b="b"/>
              <a:pathLst>
                <a:path w="61" h="74">
                  <a:moveTo>
                    <a:pt x="7" y="46"/>
                  </a:moveTo>
                  <a:lnTo>
                    <a:pt x="0" y="36"/>
                  </a:lnTo>
                  <a:lnTo>
                    <a:pt x="1" y="21"/>
                  </a:lnTo>
                  <a:lnTo>
                    <a:pt x="8" y="16"/>
                  </a:lnTo>
                  <a:lnTo>
                    <a:pt x="11" y="8"/>
                  </a:lnTo>
                  <a:lnTo>
                    <a:pt x="14" y="0"/>
                  </a:lnTo>
                  <a:lnTo>
                    <a:pt x="32" y="2"/>
                  </a:lnTo>
                  <a:lnTo>
                    <a:pt x="47" y="0"/>
                  </a:lnTo>
                  <a:lnTo>
                    <a:pt x="61" y="2"/>
                  </a:lnTo>
                  <a:lnTo>
                    <a:pt x="60" y="10"/>
                  </a:lnTo>
                  <a:lnTo>
                    <a:pt x="55" y="24"/>
                  </a:lnTo>
                  <a:lnTo>
                    <a:pt x="61" y="47"/>
                  </a:lnTo>
                  <a:lnTo>
                    <a:pt x="53" y="64"/>
                  </a:lnTo>
                  <a:lnTo>
                    <a:pt x="43" y="60"/>
                  </a:lnTo>
                  <a:lnTo>
                    <a:pt x="29" y="64"/>
                  </a:lnTo>
                  <a:lnTo>
                    <a:pt x="30" y="74"/>
                  </a:lnTo>
                  <a:lnTo>
                    <a:pt x="23" y="71"/>
                  </a:lnTo>
                  <a:lnTo>
                    <a:pt x="16" y="58"/>
                  </a:lnTo>
                  <a:lnTo>
                    <a:pt x="7"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3" name="Freeform 232"/>
            <p:cNvSpPr>
              <a:spLocks/>
            </p:cNvSpPr>
            <p:nvPr/>
          </p:nvSpPr>
          <p:spPr bwMode="auto">
            <a:xfrm>
              <a:off x="1447" y="2490"/>
              <a:ext cx="15" cy="13"/>
            </a:xfrm>
            <a:custGeom>
              <a:avLst/>
              <a:gdLst/>
              <a:ahLst/>
              <a:cxnLst>
                <a:cxn ang="0">
                  <a:pos x="4" y="0"/>
                </a:cxn>
                <a:cxn ang="0">
                  <a:pos x="15" y="0"/>
                </a:cxn>
                <a:cxn ang="0">
                  <a:pos x="10" y="12"/>
                </a:cxn>
                <a:cxn ang="0">
                  <a:pos x="0" y="11"/>
                </a:cxn>
                <a:cxn ang="0">
                  <a:pos x="6" y="3"/>
                </a:cxn>
                <a:cxn ang="0">
                  <a:pos x="4" y="0"/>
                </a:cxn>
              </a:cxnLst>
              <a:rect l="0" t="0" r="r" b="b"/>
              <a:pathLst>
                <a:path w="15" h="12">
                  <a:moveTo>
                    <a:pt x="4" y="0"/>
                  </a:moveTo>
                  <a:lnTo>
                    <a:pt x="15" y="0"/>
                  </a:lnTo>
                  <a:lnTo>
                    <a:pt x="10" y="12"/>
                  </a:lnTo>
                  <a:lnTo>
                    <a:pt x="0" y="11"/>
                  </a:lnTo>
                  <a:lnTo>
                    <a:pt x="6" y="3"/>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4" name="Freeform 233"/>
            <p:cNvSpPr>
              <a:spLocks/>
            </p:cNvSpPr>
            <p:nvPr/>
          </p:nvSpPr>
          <p:spPr bwMode="auto">
            <a:xfrm>
              <a:off x="1242" y="2463"/>
              <a:ext cx="238" cy="227"/>
            </a:xfrm>
            <a:custGeom>
              <a:avLst/>
              <a:gdLst/>
              <a:ahLst/>
              <a:cxnLst>
                <a:cxn ang="0">
                  <a:pos x="176" y="42"/>
                </a:cxn>
                <a:cxn ang="0">
                  <a:pos x="167" y="38"/>
                </a:cxn>
                <a:cxn ang="0">
                  <a:pos x="165" y="32"/>
                </a:cxn>
                <a:cxn ang="0">
                  <a:pos x="164" y="27"/>
                </a:cxn>
                <a:cxn ang="0">
                  <a:pos x="153" y="30"/>
                </a:cxn>
                <a:cxn ang="0">
                  <a:pos x="115" y="30"/>
                </a:cxn>
                <a:cxn ang="0">
                  <a:pos x="86" y="30"/>
                </a:cxn>
                <a:cxn ang="0">
                  <a:pos x="63" y="12"/>
                </a:cxn>
                <a:cxn ang="0">
                  <a:pos x="53" y="7"/>
                </a:cxn>
                <a:cxn ang="0">
                  <a:pos x="56" y="12"/>
                </a:cxn>
                <a:cxn ang="0">
                  <a:pos x="32" y="24"/>
                </a:cxn>
                <a:cxn ang="0">
                  <a:pos x="30" y="56"/>
                </a:cxn>
                <a:cxn ang="0">
                  <a:pos x="29" y="28"/>
                </a:cxn>
                <a:cxn ang="0">
                  <a:pos x="35" y="6"/>
                </a:cxn>
                <a:cxn ang="0">
                  <a:pos x="15" y="24"/>
                </a:cxn>
                <a:cxn ang="0">
                  <a:pos x="0" y="54"/>
                </a:cxn>
                <a:cxn ang="0">
                  <a:pos x="14" y="74"/>
                </a:cxn>
                <a:cxn ang="0">
                  <a:pos x="25" y="91"/>
                </a:cxn>
                <a:cxn ang="0">
                  <a:pos x="50" y="92"/>
                </a:cxn>
                <a:cxn ang="0">
                  <a:pos x="78" y="108"/>
                </a:cxn>
                <a:cxn ang="0">
                  <a:pos x="87" y="122"/>
                </a:cxn>
                <a:cxn ang="0">
                  <a:pos x="91" y="159"/>
                </a:cxn>
                <a:cxn ang="0">
                  <a:pos x="95" y="182"/>
                </a:cxn>
                <a:cxn ang="0">
                  <a:pos x="111" y="204"/>
                </a:cxn>
                <a:cxn ang="0">
                  <a:pos x="122" y="205"/>
                </a:cxn>
                <a:cxn ang="0">
                  <a:pos x="152" y="180"/>
                </a:cxn>
                <a:cxn ang="0">
                  <a:pos x="145" y="171"/>
                </a:cxn>
                <a:cxn ang="0">
                  <a:pos x="134" y="141"/>
                </a:cxn>
                <a:cxn ang="0">
                  <a:pos x="165" y="152"/>
                </a:cxn>
                <a:cxn ang="0">
                  <a:pos x="181" y="140"/>
                </a:cxn>
                <a:cxn ang="0">
                  <a:pos x="198" y="124"/>
                </a:cxn>
                <a:cxn ang="0">
                  <a:pos x="188" y="110"/>
                </a:cxn>
                <a:cxn ang="0">
                  <a:pos x="205" y="90"/>
                </a:cxn>
                <a:cxn ang="0">
                  <a:pos x="213" y="69"/>
                </a:cxn>
                <a:cxn ang="0">
                  <a:pos x="195" y="64"/>
                </a:cxn>
                <a:cxn ang="0">
                  <a:pos x="189" y="63"/>
                </a:cxn>
                <a:cxn ang="0">
                  <a:pos x="198" y="51"/>
                </a:cxn>
                <a:cxn ang="0">
                  <a:pos x="182" y="43"/>
                </a:cxn>
                <a:cxn ang="0">
                  <a:pos x="177" y="44"/>
                </a:cxn>
              </a:cxnLst>
              <a:rect l="0" t="0" r="r" b="b"/>
              <a:pathLst>
                <a:path w="213" h="205">
                  <a:moveTo>
                    <a:pt x="177" y="44"/>
                  </a:moveTo>
                  <a:lnTo>
                    <a:pt x="176" y="42"/>
                  </a:lnTo>
                  <a:lnTo>
                    <a:pt x="173" y="37"/>
                  </a:lnTo>
                  <a:lnTo>
                    <a:pt x="167" y="38"/>
                  </a:lnTo>
                  <a:lnTo>
                    <a:pt x="170" y="37"/>
                  </a:lnTo>
                  <a:lnTo>
                    <a:pt x="165" y="32"/>
                  </a:lnTo>
                  <a:lnTo>
                    <a:pt x="181" y="27"/>
                  </a:lnTo>
                  <a:lnTo>
                    <a:pt x="164" y="27"/>
                  </a:lnTo>
                  <a:lnTo>
                    <a:pt x="147" y="27"/>
                  </a:lnTo>
                  <a:lnTo>
                    <a:pt x="153" y="30"/>
                  </a:lnTo>
                  <a:lnTo>
                    <a:pt x="137" y="37"/>
                  </a:lnTo>
                  <a:lnTo>
                    <a:pt x="115" y="30"/>
                  </a:lnTo>
                  <a:lnTo>
                    <a:pt x="101" y="30"/>
                  </a:lnTo>
                  <a:lnTo>
                    <a:pt x="86" y="30"/>
                  </a:lnTo>
                  <a:lnTo>
                    <a:pt x="80" y="19"/>
                  </a:lnTo>
                  <a:lnTo>
                    <a:pt x="63" y="12"/>
                  </a:lnTo>
                  <a:lnTo>
                    <a:pt x="56" y="0"/>
                  </a:lnTo>
                  <a:lnTo>
                    <a:pt x="53" y="7"/>
                  </a:lnTo>
                  <a:lnTo>
                    <a:pt x="60" y="12"/>
                  </a:lnTo>
                  <a:lnTo>
                    <a:pt x="56" y="12"/>
                  </a:lnTo>
                  <a:lnTo>
                    <a:pt x="35" y="20"/>
                  </a:lnTo>
                  <a:lnTo>
                    <a:pt x="32" y="24"/>
                  </a:lnTo>
                  <a:lnTo>
                    <a:pt x="36" y="46"/>
                  </a:lnTo>
                  <a:lnTo>
                    <a:pt x="30" y="56"/>
                  </a:lnTo>
                  <a:lnTo>
                    <a:pt x="20" y="43"/>
                  </a:lnTo>
                  <a:lnTo>
                    <a:pt x="29" y="28"/>
                  </a:lnTo>
                  <a:lnTo>
                    <a:pt x="25" y="13"/>
                  </a:lnTo>
                  <a:lnTo>
                    <a:pt x="35" y="6"/>
                  </a:lnTo>
                  <a:lnTo>
                    <a:pt x="24" y="8"/>
                  </a:lnTo>
                  <a:lnTo>
                    <a:pt x="15" y="24"/>
                  </a:lnTo>
                  <a:lnTo>
                    <a:pt x="7" y="38"/>
                  </a:lnTo>
                  <a:lnTo>
                    <a:pt x="0" y="54"/>
                  </a:lnTo>
                  <a:lnTo>
                    <a:pt x="6" y="54"/>
                  </a:lnTo>
                  <a:lnTo>
                    <a:pt x="14" y="74"/>
                  </a:lnTo>
                  <a:lnTo>
                    <a:pt x="14" y="85"/>
                  </a:lnTo>
                  <a:lnTo>
                    <a:pt x="25" y="91"/>
                  </a:lnTo>
                  <a:lnTo>
                    <a:pt x="37" y="92"/>
                  </a:lnTo>
                  <a:lnTo>
                    <a:pt x="50" y="92"/>
                  </a:lnTo>
                  <a:lnTo>
                    <a:pt x="63" y="109"/>
                  </a:lnTo>
                  <a:lnTo>
                    <a:pt x="78" y="108"/>
                  </a:lnTo>
                  <a:lnTo>
                    <a:pt x="91" y="106"/>
                  </a:lnTo>
                  <a:lnTo>
                    <a:pt x="87" y="122"/>
                  </a:lnTo>
                  <a:lnTo>
                    <a:pt x="84" y="136"/>
                  </a:lnTo>
                  <a:lnTo>
                    <a:pt x="91" y="159"/>
                  </a:lnTo>
                  <a:lnTo>
                    <a:pt x="86" y="168"/>
                  </a:lnTo>
                  <a:lnTo>
                    <a:pt x="95" y="182"/>
                  </a:lnTo>
                  <a:lnTo>
                    <a:pt x="98" y="196"/>
                  </a:lnTo>
                  <a:lnTo>
                    <a:pt x="111" y="204"/>
                  </a:lnTo>
                  <a:lnTo>
                    <a:pt x="120" y="204"/>
                  </a:lnTo>
                  <a:lnTo>
                    <a:pt x="122" y="205"/>
                  </a:lnTo>
                  <a:lnTo>
                    <a:pt x="138" y="193"/>
                  </a:lnTo>
                  <a:lnTo>
                    <a:pt x="152" y="180"/>
                  </a:lnTo>
                  <a:lnTo>
                    <a:pt x="155" y="175"/>
                  </a:lnTo>
                  <a:lnTo>
                    <a:pt x="145" y="171"/>
                  </a:lnTo>
                  <a:lnTo>
                    <a:pt x="140" y="151"/>
                  </a:lnTo>
                  <a:lnTo>
                    <a:pt x="134" y="141"/>
                  </a:lnTo>
                  <a:lnTo>
                    <a:pt x="150" y="147"/>
                  </a:lnTo>
                  <a:lnTo>
                    <a:pt x="165" y="152"/>
                  </a:lnTo>
                  <a:lnTo>
                    <a:pt x="168" y="146"/>
                  </a:lnTo>
                  <a:lnTo>
                    <a:pt x="181" y="140"/>
                  </a:lnTo>
                  <a:lnTo>
                    <a:pt x="194" y="134"/>
                  </a:lnTo>
                  <a:lnTo>
                    <a:pt x="198" y="124"/>
                  </a:lnTo>
                  <a:lnTo>
                    <a:pt x="197" y="124"/>
                  </a:lnTo>
                  <a:lnTo>
                    <a:pt x="188" y="110"/>
                  </a:lnTo>
                  <a:lnTo>
                    <a:pt x="194" y="97"/>
                  </a:lnTo>
                  <a:lnTo>
                    <a:pt x="205" y="90"/>
                  </a:lnTo>
                  <a:lnTo>
                    <a:pt x="199" y="82"/>
                  </a:lnTo>
                  <a:lnTo>
                    <a:pt x="213" y="69"/>
                  </a:lnTo>
                  <a:lnTo>
                    <a:pt x="211" y="64"/>
                  </a:lnTo>
                  <a:lnTo>
                    <a:pt x="195" y="64"/>
                  </a:lnTo>
                  <a:lnTo>
                    <a:pt x="185" y="64"/>
                  </a:lnTo>
                  <a:lnTo>
                    <a:pt x="189" y="63"/>
                  </a:lnTo>
                  <a:lnTo>
                    <a:pt x="194" y="55"/>
                  </a:lnTo>
                  <a:lnTo>
                    <a:pt x="198" y="51"/>
                  </a:lnTo>
                  <a:lnTo>
                    <a:pt x="188" y="43"/>
                  </a:lnTo>
                  <a:lnTo>
                    <a:pt x="182" y="43"/>
                  </a:lnTo>
                  <a:lnTo>
                    <a:pt x="176" y="39"/>
                  </a:lnTo>
                  <a:lnTo>
                    <a:pt x="177" y="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5" name="Freeform 234"/>
            <p:cNvSpPr>
              <a:spLocks/>
            </p:cNvSpPr>
            <p:nvPr/>
          </p:nvSpPr>
          <p:spPr bwMode="auto">
            <a:xfrm>
              <a:off x="1405" y="2483"/>
              <a:ext cx="9" cy="4"/>
            </a:xfrm>
            <a:custGeom>
              <a:avLst/>
              <a:gdLst/>
              <a:ahLst/>
              <a:cxnLst>
                <a:cxn ang="0">
                  <a:pos x="8" y="2"/>
                </a:cxn>
                <a:cxn ang="0">
                  <a:pos x="0" y="0"/>
                </a:cxn>
                <a:cxn ang="0">
                  <a:pos x="8" y="2"/>
                </a:cxn>
              </a:cxnLst>
              <a:rect l="0" t="0" r="r" b="b"/>
              <a:pathLst>
                <a:path w="8" h="2">
                  <a:moveTo>
                    <a:pt x="8" y="2"/>
                  </a:moveTo>
                  <a:lnTo>
                    <a:pt x="0" y="0"/>
                  </a:lnTo>
                  <a:lnTo>
                    <a:pt x="8"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6" name="Freeform 235"/>
            <p:cNvSpPr>
              <a:spLocks/>
            </p:cNvSpPr>
            <p:nvPr/>
          </p:nvSpPr>
          <p:spPr bwMode="auto">
            <a:xfrm>
              <a:off x="1307" y="2454"/>
              <a:ext cx="2" cy="2"/>
            </a:xfrm>
            <a:custGeom>
              <a:avLst/>
              <a:gdLst/>
              <a:ahLst/>
              <a:cxnLst>
                <a:cxn ang="0">
                  <a:pos x="0" y="0"/>
                </a:cxn>
                <a:cxn ang="0">
                  <a:pos x="0" y="1"/>
                </a:cxn>
                <a:cxn ang="0">
                  <a:pos x="3" y="4"/>
                </a:cxn>
                <a:cxn ang="0">
                  <a:pos x="0" y="0"/>
                </a:cxn>
              </a:cxnLst>
              <a:rect l="0" t="0" r="r" b="b"/>
              <a:pathLst>
                <a:path w="3" h="4">
                  <a:moveTo>
                    <a:pt x="0" y="0"/>
                  </a:moveTo>
                  <a:lnTo>
                    <a:pt x="0" y="1"/>
                  </a:lnTo>
                  <a:lnTo>
                    <a:pt x="3" y="4"/>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7" name="Freeform 236"/>
            <p:cNvSpPr>
              <a:spLocks/>
            </p:cNvSpPr>
            <p:nvPr/>
          </p:nvSpPr>
          <p:spPr bwMode="auto">
            <a:xfrm>
              <a:off x="1449" y="2461"/>
              <a:ext cx="5" cy="4"/>
            </a:xfrm>
            <a:custGeom>
              <a:avLst/>
              <a:gdLst/>
              <a:ahLst/>
              <a:cxnLst>
                <a:cxn ang="0">
                  <a:pos x="2" y="3"/>
                </a:cxn>
                <a:cxn ang="0">
                  <a:pos x="2" y="2"/>
                </a:cxn>
                <a:cxn ang="0">
                  <a:pos x="2" y="0"/>
                </a:cxn>
                <a:cxn ang="0">
                  <a:pos x="1" y="0"/>
                </a:cxn>
                <a:cxn ang="0">
                  <a:pos x="1" y="2"/>
                </a:cxn>
                <a:cxn ang="0">
                  <a:pos x="0" y="2"/>
                </a:cxn>
                <a:cxn ang="0">
                  <a:pos x="0" y="3"/>
                </a:cxn>
                <a:cxn ang="0">
                  <a:pos x="0" y="4"/>
                </a:cxn>
                <a:cxn ang="0">
                  <a:pos x="1" y="4"/>
                </a:cxn>
                <a:cxn ang="0">
                  <a:pos x="2" y="4"/>
                </a:cxn>
                <a:cxn ang="0">
                  <a:pos x="2" y="3"/>
                </a:cxn>
              </a:cxnLst>
              <a:rect l="0" t="0" r="r" b="b"/>
              <a:pathLst>
                <a:path w="2" h="4">
                  <a:moveTo>
                    <a:pt x="2" y="3"/>
                  </a:moveTo>
                  <a:lnTo>
                    <a:pt x="2" y="2"/>
                  </a:lnTo>
                  <a:lnTo>
                    <a:pt x="2" y="0"/>
                  </a:lnTo>
                  <a:lnTo>
                    <a:pt x="1" y="0"/>
                  </a:lnTo>
                  <a:lnTo>
                    <a:pt x="1" y="2"/>
                  </a:lnTo>
                  <a:lnTo>
                    <a:pt x="0" y="2"/>
                  </a:lnTo>
                  <a:lnTo>
                    <a:pt x="0" y="3"/>
                  </a:lnTo>
                  <a:lnTo>
                    <a:pt x="0" y="4"/>
                  </a:lnTo>
                  <a:lnTo>
                    <a:pt x="1" y="4"/>
                  </a:lnTo>
                  <a:lnTo>
                    <a:pt x="2" y="4"/>
                  </a:lnTo>
                  <a:lnTo>
                    <a:pt x="2"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8" name="Freeform 237"/>
            <p:cNvSpPr>
              <a:spLocks/>
            </p:cNvSpPr>
            <p:nvPr/>
          </p:nvSpPr>
          <p:spPr bwMode="auto">
            <a:xfrm>
              <a:off x="1634" y="3723"/>
              <a:ext cx="26" cy="20"/>
            </a:xfrm>
            <a:custGeom>
              <a:avLst/>
              <a:gdLst/>
              <a:ahLst/>
              <a:cxnLst>
                <a:cxn ang="0">
                  <a:pos x="23" y="7"/>
                </a:cxn>
                <a:cxn ang="0">
                  <a:pos x="18" y="3"/>
                </a:cxn>
                <a:cxn ang="0">
                  <a:pos x="14" y="3"/>
                </a:cxn>
                <a:cxn ang="0">
                  <a:pos x="11" y="2"/>
                </a:cxn>
                <a:cxn ang="0">
                  <a:pos x="5" y="0"/>
                </a:cxn>
                <a:cxn ang="0">
                  <a:pos x="5" y="6"/>
                </a:cxn>
                <a:cxn ang="0">
                  <a:pos x="0" y="12"/>
                </a:cxn>
                <a:cxn ang="0">
                  <a:pos x="5" y="17"/>
                </a:cxn>
                <a:cxn ang="0">
                  <a:pos x="8" y="14"/>
                </a:cxn>
                <a:cxn ang="0">
                  <a:pos x="10" y="13"/>
                </a:cxn>
                <a:cxn ang="0">
                  <a:pos x="10" y="11"/>
                </a:cxn>
                <a:cxn ang="0">
                  <a:pos x="23" y="7"/>
                </a:cxn>
              </a:cxnLst>
              <a:rect l="0" t="0" r="r" b="b"/>
              <a:pathLst>
                <a:path w="23" h="17">
                  <a:moveTo>
                    <a:pt x="23" y="7"/>
                  </a:moveTo>
                  <a:lnTo>
                    <a:pt x="18" y="3"/>
                  </a:lnTo>
                  <a:lnTo>
                    <a:pt x="14" y="3"/>
                  </a:lnTo>
                  <a:lnTo>
                    <a:pt x="11" y="2"/>
                  </a:lnTo>
                  <a:lnTo>
                    <a:pt x="5" y="0"/>
                  </a:lnTo>
                  <a:lnTo>
                    <a:pt x="5" y="6"/>
                  </a:lnTo>
                  <a:lnTo>
                    <a:pt x="0" y="12"/>
                  </a:lnTo>
                  <a:lnTo>
                    <a:pt x="5" y="17"/>
                  </a:lnTo>
                  <a:lnTo>
                    <a:pt x="8" y="14"/>
                  </a:lnTo>
                  <a:lnTo>
                    <a:pt x="10" y="13"/>
                  </a:lnTo>
                  <a:lnTo>
                    <a:pt x="10" y="11"/>
                  </a:lnTo>
                  <a:lnTo>
                    <a:pt x="23"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9" name="Freeform 238"/>
            <p:cNvSpPr>
              <a:spLocks/>
            </p:cNvSpPr>
            <p:nvPr/>
          </p:nvSpPr>
          <p:spPr bwMode="auto">
            <a:xfrm>
              <a:off x="1616" y="3725"/>
              <a:ext cx="20" cy="16"/>
            </a:xfrm>
            <a:custGeom>
              <a:avLst/>
              <a:gdLst/>
              <a:ahLst/>
              <a:cxnLst>
                <a:cxn ang="0">
                  <a:pos x="4" y="6"/>
                </a:cxn>
                <a:cxn ang="0">
                  <a:pos x="1" y="1"/>
                </a:cxn>
                <a:cxn ang="0">
                  <a:pos x="18" y="0"/>
                </a:cxn>
                <a:cxn ang="0">
                  <a:pos x="9" y="10"/>
                </a:cxn>
                <a:cxn ang="0">
                  <a:pos x="0" y="13"/>
                </a:cxn>
                <a:cxn ang="0">
                  <a:pos x="4" y="8"/>
                </a:cxn>
                <a:cxn ang="0">
                  <a:pos x="2" y="6"/>
                </a:cxn>
                <a:cxn ang="0">
                  <a:pos x="4" y="6"/>
                </a:cxn>
              </a:cxnLst>
              <a:rect l="0" t="0" r="r" b="b"/>
              <a:pathLst>
                <a:path w="18" h="13">
                  <a:moveTo>
                    <a:pt x="4" y="6"/>
                  </a:moveTo>
                  <a:lnTo>
                    <a:pt x="1" y="1"/>
                  </a:lnTo>
                  <a:lnTo>
                    <a:pt x="18" y="0"/>
                  </a:lnTo>
                  <a:lnTo>
                    <a:pt x="9" y="10"/>
                  </a:lnTo>
                  <a:lnTo>
                    <a:pt x="0" y="13"/>
                  </a:lnTo>
                  <a:lnTo>
                    <a:pt x="4" y="8"/>
                  </a:lnTo>
                  <a:lnTo>
                    <a:pt x="2" y="6"/>
                  </a:lnTo>
                  <a:lnTo>
                    <a:pt x="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0" name="Freeform 239"/>
            <p:cNvSpPr>
              <a:spLocks/>
            </p:cNvSpPr>
            <p:nvPr/>
          </p:nvSpPr>
          <p:spPr bwMode="auto">
            <a:xfrm>
              <a:off x="1314" y="2901"/>
              <a:ext cx="220" cy="260"/>
            </a:xfrm>
            <a:custGeom>
              <a:avLst/>
              <a:gdLst/>
              <a:ahLst/>
              <a:cxnLst>
                <a:cxn ang="0">
                  <a:pos x="132" y="186"/>
                </a:cxn>
                <a:cxn ang="0">
                  <a:pos x="129" y="205"/>
                </a:cxn>
                <a:cxn ang="0">
                  <a:pos x="125" y="225"/>
                </a:cxn>
                <a:cxn ang="0">
                  <a:pos x="121" y="220"/>
                </a:cxn>
                <a:cxn ang="0">
                  <a:pos x="103" y="223"/>
                </a:cxn>
                <a:cxn ang="0">
                  <a:pos x="99" y="233"/>
                </a:cxn>
                <a:cxn ang="0">
                  <a:pos x="91" y="222"/>
                </a:cxn>
                <a:cxn ang="0">
                  <a:pos x="72" y="219"/>
                </a:cxn>
                <a:cxn ang="0">
                  <a:pos x="69" y="216"/>
                </a:cxn>
                <a:cxn ang="0">
                  <a:pos x="55" y="234"/>
                </a:cxn>
                <a:cxn ang="0">
                  <a:pos x="45" y="233"/>
                </a:cxn>
                <a:cxn ang="0">
                  <a:pos x="39" y="217"/>
                </a:cxn>
                <a:cxn ang="0">
                  <a:pos x="31" y="201"/>
                </a:cxn>
                <a:cxn ang="0">
                  <a:pos x="27" y="185"/>
                </a:cxn>
                <a:cxn ang="0">
                  <a:pos x="28" y="172"/>
                </a:cxn>
                <a:cxn ang="0">
                  <a:pos x="19" y="160"/>
                </a:cxn>
                <a:cxn ang="0">
                  <a:pos x="15" y="148"/>
                </a:cxn>
                <a:cxn ang="0">
                  <a:pos x="10" y="139"/>
                </a:cxn>
                <a:cxn ang="0">
                  <a:pos x="10" y="132"/>
                </a:cxn>
                <a:cxn ang="0">
                  <a:pos x="17" y="117"/>
                </a:cxn>
                <a:cxn ang="0">
                  <a:pos x="12" y="115"/>
                </a:cxn>
                <a:cxn ang="0">
                  <a:pos x="10" y="100"/>
                </a:cxn>
                <a:cxn ang="0">
                  <a:pos x="10" y="85"/>
                </a:cxn>
                <a:cxn ang="0">
                  <a:pos x="13" y="76"/>
                </a:cxn>
                <a:cxn ang="0">
                  <a:pos x="13" y="54"/>
                </a:cxn>
                <a:cxn ang="0">
                  <a:pos x="16" y="49"/>
                </a:cxn>
                <a:cxn ang="0">
                  <a:pos x="7" y="35"/>
                </a:cxn>
                <a:cxn ang="0">
                  <a:pos x="0" y="22"/>
                </a:cxn>
                <a:cxn ang="0">
                  <a:pos x="19" y="22"/>
                </a:cxn>
                <a:cxn ang="0">
                  <a:pos x="27" y="17"/>
                </a:cxn>
                <a:cxn ang="0">
                  <a:pos x="40" y="9"/>
                </a:cxn>
                <a:cxn ang="0">
                  <a:pos x="53" y="0"/>
                </a:cxn>
                <a:cxn ang="0">
                  <a:pos x="66" y="1"/>
                </a:cxn>
                <a:cxn ang="0">
                  <a:pos x="67" y="17"/>
                </a:cxn>
                <a:cxn ang="0">
                  <a:pos x="69" y="31"/>
                </a:cxn>
                <a:cxn ang="0">
                  <a:pos x="81" y="45"/>
                </a:cxn>
                <a:cxn ang="0">
                  <a:pos x="93" y="49"/>
                </a:cxn>
                <a:cxn ang="0">
                  <a:pos x="106" y="55"/>
                </a:cxn>
                <a:cxn ang="0">
                  <a:pos x="124" y="67"/>
                </a:cxn>
                <a:cxn ang="0">
                  <a:pos x="142" y="71"/>
                </a:cxn>
                <a:cxn ang="0">
                  <a:pos x="147" y="78"/>
                </a:cxn>
                <a:cxn ang="0">
                  <a:pos x="149" y="96"/>
                </a:cxn>
                <a:cxn ang="0">
                  <a:pos x="145" y="96"/>
                </a:cxn>
                <a:cxn ang="0">
                  <a:pos x="151" y="103"/>
                </a:cxn>
                <a:cxn ang="0">
                  <a:pos x="154" y="117"/>
                </a:cxn>
                <a:cxn ang="0">
                  <a:pos x="168" y="119"/>
                </a:cxn>
                <a:cxn ang="0">
                  <a:pos x="183" y="120"/>
                </a:cxn>
                <a:cxn ang="0">
                  <a:pos x="185" y="136"/>
                </a:cxn>
                <a:cxn ang="0">
                  <a:pos x="195" y="145"/>
                </a:cxn>
                <a:cxn ang="0">
                  <a:pos x="198" y="153"/>
                </a:cxn>
                <a:cxn ang="0">
                  <a:pos x="195" y="166"/>
                </a:cxn>
                <a:cxn ang="0">
                  <a:pos x="191" y="179"/>
                </a:cxn>
                <a:cxn ang="0">
                  <a:pos x="193" y="185"/>
                </a:cxn>
                <a:cxn ang="0">
                  <a:pos x="191" y="187"/>
                </a:cxn>
                <a:cxn ang="0">
                  <a:pos x="191" y="184"/>
                </a:cxn>
                <a:cxn ang="0">
                  <a:pos x="175" y="173"/>
                </a:cxn>
                <a:cxn ang="0">
                  <a:pos x="155" y="175"/>
                </a:cxn>
                <a:cxn ang="0">
                  <a:pos x="135" y="178"/>
                </a:cxn>
                <a:cxn ang="0">
                  <a:pos x="132" y="186"/>
                </a:cxn>
              </a:cxnLst>
              <a:rect l="0" t="0" r="r" b="b"/>
              <a:pathLst>
                <a:path w="198" h="234">
                  <a:moveTo>
                    <a:pt x="132" y="186"/>
                  </a:moveTo>
                  <a:lnTo>
                    <a:pt x="129" y="205"/>
                  </a:lnTo>
                  <a:lnTo>
                    <a:pt x="125" y="225"/>
                  </a:lnTo>
                  <a:lnTo>
                    <a:pt x="121" y="220"/>
                  </a:lnTo>
                  <a:lnTo>
                    <a:pt x="103" y="223"/>
                  </a:lnTo>
                  <a:lnTo>
                    <a:pt x="99" y="233"/>
                  </a:lnTo>
                  <a:lnTo>
                    <a:pt x="91" y="222"/>
                  </a:lnTo>
                  <a:lnTo>
                    <a:pt x="72" y="219"/>
                  </a:lnTo>
                  <a:lnTo>
                    <a:pt x="69" y="216"/>
                  </a:lnTo>
                  <a:lnTo>
                    <a:pt x="55" y="234"/>
                  </a:lnTo>
                  <a:lnTo>
                    <a:pt x="45" y="233"/>
                  </a:lnTo>
                  <a:lnTo>
                    <a:pt x="39" y="217"/>
                  </a:lnTo>
                  <a:lnTo>
                    <a:pt x="31" y="201"/>
                  </a:lnTo>
                  <a:lnTo>
                    <a:pt x="27" y="185"/>
                  </a:lnTo>
                  <a:lnTo>
                    <a:pt x="28" y="172"/>
                  </a:lnTo>
                  <a:lnTo>
                    <a:pt x="19" y="160"/>
                  </a:lnTo>
                  <a:lnTo>
                    <a:pt x="15" y="148"/>
                  </a:lnTo>
                  <a:lnTo>
                    <a:pt x="10" y="139"/>
                  </a:lnTo>
                  <a:lnTo>
                    <a:pt x="10" y="132"/>
                  </a:lnTo>
                  <a:lnTo>
                    <a:pt x="17" y="117"/>
                  </a:lnTo>
                  <a:lnTo>
                    <a:pt x="12" y="115"/>
                  </a:lnTo>
                  <a:lnTo>
                    <a:pt x="10" y="100"/>
                  </a:lnTo>
                  <a:lnTo>
                    <a:pt x="10" y="85"/>
                  </a:lnTo>
                  <a:lnTo>
                    <a:pt x="13" y="76"/>
                  </a:lnTo>
                  <a:lnTo>
                    <a:pt x="13" y="54"/>
                  </a:lnTo>
                  <a:lnTo>
                    <a:pt x="16" y="49"/>
                  </a:lnTo>
                  <a:lnTo>
                    <a:pt x="7" y="35"/>
                  </a:lnTo>
                  <a:lnTo>
                    <a:pt x="0" y="22"/>
                  </a:lnTo>
                  <a:lnTo>
                    <a:pt x="19" y="22"/>
                  </a:lnTo>
                  <a:lnTo>
                    <a:pt x="27" y="17"/>
                  </a:lnTo>
                  <a:lnTo>
                    <a:pt x="40" y="9"/>
                  </a:lnTo>
                  <a:lnTo>
                    <a:pt x="53" y="0"/>
                  </a:lnTo>
                  <a:lnTo>
                    <a:pt x="66" y="1"/>
                  </a:lnTo>
                  <a:lnTo>
                    <a:pt x="67" y="17"/>
                  </a:lnTo>
                  <a:lnTo>
                    <a:pt x="69" y="31"/>
                  </a:lnTo>
                  <a:lnTo>
                    <a:pt x="81" y="45"/>
                  </a:lnTo>
                  <a:lnTo>
                    <a:pt x="93" y="49"/>
                  </a:lnTo>
                  <a:lnTo>
                    <a:pt x="106" y="55"/>
                  </a:lnTo>
                  <a:lnTo>
                    <a:pt x="124" y="67"/>
                  </a:lnTo>
                  <a:lnTo>
                    <a:pt x="142" y="71"/>
                  </a:lnTo>
                  <a:lnTo>
                    <a:pt x="147" y="78"/>
                  </a:lnTo>
                  <a:lnTo>
                    <a:pt x="149" y="96"/>
                  </a:lnTo>
                  <a:lnTo>
                    <a:pt x="145" y="96"/>
                  </a:lnTo>
                  <a:lnTo>
                    <a:pt x="151" y="103"/>
                  </a:lnTo>
                  <a:lnTo>
                    <a:pt x="154" y="117"/>
                  </a:lnTo>
                  <a:lnTo>
                    <a:pt x="168" y="119"/>
                  </a:lnTo>
                  <a:lnTo>
                    <a:pt x="183" y="120"/>
                  </a:lnTo>
                  <a:lnTo>
                    <a:pt x="185" y="136"/>
                  </a:lnTo>
                  <a:lnTo>
                    <a:pt x="195" y="145"/>
                  </a:lnTo>
                  <a:lnTo>
                    <a:pt x="198" y="153"/>
                  </a:lnTo>
                  <a:lnTo>
                    <a:pt x="195" y="166"/>
                  </a:lnTo>
                  <a:lnTo>
                    <a:pt x="191" y="179"/>
                  </a:lnTo>
                  <a:lnTo>
                    <a:pt x="193" y="185"/>
                  </a:lnTo>
                  <a:lnTo>
                    <a:pt x="191" y="187"/>
                  </a:lnTo>
                  <a:lnTo>
                    <a:pt x="191" y="184"/>
                  </a:lnTo>
                  <a:lnTo>
                    <a:pt x="175" y="173"/>
                  </a:lnTo>
                  <a:lnTo>
                    <a:pt x="155" y="175"/>
                  </a:lnTo>
                  <a:lnTo>
                    <a:pt x="135" y="178"/>
                  </a:lnTo>
                  <a:lnTo>
                    <a:pt x="132" y="18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1" name="Freeform 240"/>
            <p:cNvSpPr>
              <a:spLocks/>
            </p:cNvSpPr>
            <p:nvPr/>
          </p:nvSpPr>
          <p:spPr bwMode="auto">
            <a:xfrm>
              <a:off x="1234" y="2601"/>
              <a:ext cx="686" cy="777"/>
            </a:xfrm>
            <a:custGeom>
              <a:avLst/>
              <a:gdLst/>
              <a:ahLst/>
              <a:cxnLst>
                <a:cxn ang="0">
                  <a:pos x="465" y="137"/>
                </a:cxn>
                <a:cxn ang="0">
                  <a:pos x="456" y="122"/>
                </a:cxn>
                <a:cxn ang="0">
                  <a:pos x="436" y="113"/>
                </a:cxn>
                <a:cxn ang="0">
                  <a:pos x="415" y="107"/>
                </a:cxn>
                <a:cxn ang="0">
                  <a:pos x="394" y="125"/>
                </a:cxn>
                <a:cxn ang="0">
                  <a:pos x="373" y="129"/>
                </a:cxn>
                <a:cxn ang="0">
                  <a:pos x="341" y="123"/>
                </a:cxn>
                <a:cxn ang="0">
                  <a:pos x="367" y="83"/>
                </a:cxn>
                <a:cxn ang="0">
                  <a:pos x="363" y="40"/>
                </a:cxn>
                <a:cxn ang="0">
                  <a:pos x="353" y="21"/>
                </a:cxn>
                <a:cxn ang="0">
                  <a:pos x="329" y="56"/>
                </a:cxn>
                <a:cxn ang="0">
                  <a:pos x="280" y="52"/>
                </a:cxn>
                <a:cxn ang="0">
                  <a:pos x="241" y="70"/>
                </a:cxn>
                <a:cxn ang="0">
                  <a:pos x="225" y="20"/>
                </a:cxn>
                <a:cxn ang="0">
                  <a:pos x="208" y="0"/>
                </a:cxn>
                <a:cxn ang="0">
                  <a:pos x="175" y="28"/>
                </a:cxn>
                <a:cxn ang="0">
                  <a:pos x="155" y="47"/>
                </a:cxn>
                <a:cxn ang="0">
                  <a:pos x="132" y="81"/>
                </a:cxn>
                <a:cxn ang="0">
                  <a:pos x="105" y="71"/>
                </a:cxn>
                <a:cxn ang="0">
                  <a:pos x="88" y="63"/>
                </a:cxn>
                <a:cxn ang="0">
                  <a:pos x="72" y="78"/>
                </a:cxn>
                <a:cxn ang="0">
                  <a:pos x="67" y="119"/>
                </a:cxn>
                <a:cxn ang="0">
                  <a:pos x="42" y="173"/>
                </a:cxn>
                <a:cxn ang="0">
                  <a:pos x="9" y="213"/>
                </a:cxn>
                <a:cxn ang="0">
                  <a:pos x="13" y="262"/>
                </a:cxn>
                <a:cxn ang="0">
                  <a:pos x="53" y="264"/>
                </a:cxn>
                <a:cxn ang="0">
                  <a:pos x="91" y="291"/>
                </a:cxn>
                <a:cxn ang="0">
                  <a:pos x="138" y="270"/>
                </a:cxn>
                <a:cxn ang="0">
                  <a:pos x="165" y="318"/>
                </a:cxn>
                <a:cxn ang="0">
                  <a:pos x="219" y="347"/>
                </a:cxn>
                <a:cxn ang="0">
                  <a:pos x="226" y="386"/>
                </a:cxn>
                <a:cxn ang="0">
                  <a:pos x="267" y="414"/>
                </a:cxn>
                <a:cxn ang="0">
                  <a:pos x="265" y="454"/>
                </a:cxn>
                <a:cxn ang="0">
                  <a:pos x="291" y="492"/>
                </a:cxn>
                <a:cxn ang="0">
                  <a:pos x="321" y="524"/>
                </a:cxn>
                <a:cxn ang="0">
                  <a:pos x="337" y="554"/>
                </a:cxn>
                <a:cxn ang="0">
                  <a:pos x="317" y="605"/>
                </a:cxn>
                <a:cxn ang="0">
                  <a:pos x="300" y="635"/>
                </a:cxn>
                <a:cxn ang="0">
                  <a:pos x="349" y="668"/>
                </a:cxn>
                <a:cxn ang="0">
                  <a:pos x="373" y="689"/>
                </a:cxn>
                <a:cxn ang="0">
                  <a:pos x="390" y="647"/>
                </a:cxn>
                <a:cxn ang="0">
                  <a:pos x="394" y="652"/>
                </a:cxn>
                <a:cxn ang="0">
                  <a:pos x="394" y="656"/>
                </a:cxn>
                <a:cxn ang="0">
                  <a:pos x="421" y="604"/>
                </a:cxn>
                <a:cxn ang="0">
                  <a:pos x="419" y="564"/>
                </a:cxn>
                <a:cxn ang="0">
                  <a:pos x="425" y="550"/>
                </a:cxn>
                <a:cxn ang="0">
                  <a:pos x="478" y="512"/>
                </a:cxn>
                <a:cxn ang="0">
                  <a:pos x="499" y="504"/>
                </a:cxn>
                <a:cxn ang="0">
                  <a:pos x="533" y="489"/>
                </a:cxn>
                <a:cxn ang="0">
                  <a:pos x="552" y="417"/>
                </a:cxn>
                <a:cxn ang="0">
                  <a:pos x="557" y="359"/>
                </a:cxn>
                <a:cxn ang="0">
                  <a:pos x="562" y="322"/>
                </a:cxn>
                <a:cxn ang="0">
                  <a:pos x="580" y="298"/>
                </a:cxn>
                <a:cxn ang="0">
                  <a:pos x="616" y="248"/>
                </a:cxn>
                <a:cxn ang="0">
                  <a:pos x="592" y="184"/>
                </a:cxn>
                <a:cxn ang="0">
                  <a:pos x="523" y="144"/>
                </a:cxn>
                <a:cxn ang="0">
                  <a:pos x="468" y="143"/>
                </a:cxn>
              </a:cxnLst>
              <a:rect l="0" t="0" r="r" b="b"/>
              <a:pathLst>
                <a:path w="618" h="700">
                  <a:moveTo>
                    <a:pt x="469" y="137"/>
                  </a:moveTo>
                  <a:lnTo>
                    <a:pt x="467" y="140"/>
                  </a:lnTo>
                  <a:lnTo>
                    <a:pt x="460" y="152"/>
                  </a:lnTo>
                  <a:lnTo>
                    <a:pt x="465" y="137"/>
                  </a:lnTo>
                  <a:lnTo>
                    <a:pt x="462" y="134"/>
                  </a:lnTo>
                  <a:lnTo>
                    <a:pt x="461" y="135"/>
                  </a:lnTo>
                  <a:lnTo>
                    <a:pt x="462" y="126"/>
                  </a:lnTo>
                  <a:lnTo>
                    <a:pt x="456" y="122"/>
                  </a:lnTo>
                  <a:lnTo>
                    <a:pt x="450" y="122"/>
                  </a:lnTo>
                  <a:lnTo>
                    <a:pt x="449" y="119"/>
                  </a:lnTo>
                  <a:lnTo>
                    <a:pt x="443" y="117"/>
                  </a:lnTo>
                  <a:lnTo>
                    <a:pt x="436" y="113"/>
                  </a:lnTo>
                  <a:lnTo>
                    <a:pt x="430" y="111"/>
                  </a:lnTo>
                  <a:lnTo>
                    <a:pt x="425" y="110"/>
                  </a:lnTo>
                  <a:lnTo>
                    <a:pt x="417" y="105"/>
                  </a:lnTo>
                  <a:lnTo>
                    <a:pt x="415" y="107"/>
                  </a:lnTo>
                  <a:lnTo>
                    <a:pt x="406" y="110"/>
                  </a:lnTo>
                  <a:lnTo>
                    <a:pt x="400" y="120"/>
                  </a:lnTo>
                  <a:lnTo>
                    <a:pt x="400" y="123"/>
                  </a:lnTo>
                  <a:lnTo>
                    <a:pt x="394" y="125"/>
                  </a:lnTo>
                  <a:lnTo>
                    <a:pt x="383" y="141"/>
                  </a:lnTo>
                  <a:lnTo>
                    <a:pt x="384" y="128"/>
                  </a:lnTo>
                  <a:lnTo>
                    <a:pt x="379" y="131"/>
                  </a:lnTo>
                  <a:lnTo>
                    <a:pt x="373" y="129"/>
                  </a:lnTo>
                  <a:lnTo>
                    <a:pt x="369" y="129"/>
                  </a:lnTo>
                  <a:lnTo>
                    <a:pt x="363" y="111"/>
                  </a:lnTo>
                  <a:lnTo>
                    <a:pt x="352" y="117"/>
                  </a:lnTo>
                  <a:lnTo>
                    <a:pt x="341" y="123"/>
                  </a:lnTo>
                  <a:lnTo>
                    <a:pt x="335" y="122"/>
                  </a:lnTo>
                  <a:lnTo>
                    <a:pt x="347" y="114"/>
                  </a:lnTo>
                  <a:lnTo>
                    <a:pt x="357" y="95"/>
                  </a:lnTo>
                  <a:lnTo>
                    <a:pt x="367" y="83"/>
                  </a:lnTo>
                  <a:lnTo>
                    <a:pt x="377" y="71"/>
                  </a:lnTo>
                  <a:lnTo>
                    <a:pt x="373" y="62"/>
                  </a:lnTo>
                  <a:lnTo>
                    <a:pt x="365" y="56"/>
                  </a:lnTo>
                  <a:lnTo>
                    <a:pt x="363" y="40"/>
                  </a:lnTo>
                  <a:lnTo>
                    <a:pt x="359" y="24"/>
                  </a:lnTo>
                  <a:lnTo>
                    <a:pt x="358" y="26"/>
                  </a:lnTo>
                  <a:lnTo>
                    <a:pt x="352" y="17"/>
                  </a:lnTo>
                  <a:lnTo>
                    <a:pt x="353" y="21"/>
                  </a:lnTo>
                  <a:lnTo>
                    <a:pt x="351" y="21"/>
                  </a:lnTo>
                  <a:lnTo>
                    <a:pt x="351" y="22"/>
                  </a:lnTo>
                  <a:lnTo>
                    <a:pt x="340" y="39"/>
                  </a:lnTo>
                  <a:lnTo>
                    <a:pt x="329" y="56"/>
                  </a:lnTo>
                  <a:lnTo>
                    <a:pt x="313" y="54"/>
                  </a:lnTo>
                  <a:lnTo>
                    <a:pt x="304" y="52"/>
                  </a:lnTo>
                  <a:lnTo>
                    <a:pt x="294" y="48"/>
                  </a:lnTo>
                  <a:lnTo>
                    <a:pt x="280" y="52"/>
                  </a:lnTo>
                  <a:lnTo>
                    <a:pt x="281" y="62"/>
                  </a:lnTo>
                  <a:lnTo>
                    <a:pt x="274" y="59"/>
                  </a:lnTo>
                  <a:lnTo>
                    <a:pt x="257" y="62"/>
                  </a:lnTo>
                  <a:lnTo>
                    <a:pt x="241" y="70"/>
                  </a:lnTo>
                  <a:lnTo>
                    <a:pt x="232" y="70"/>
                  </a:lnTo>
                  <a:lnTo>
                    <a:pt x="222" y="57"/>
                  </a:lnTo>
                  <a:lnTo>
                    <a:pt x="220" y="35"/>
                  </a:lnTo>
                  <a:lnTo>
                    <a:pt x="225" y="20"/>
                  </a:lnTo>
                  <a:lnTo>
                    <a:pt x="217" y="10"/>
                  </a:lnTo>
                  <a:lnTo>
                    <a:pt x="216" y="0"/>
                  </a:lnTo>
                  <a:lnTo>
                    <a:pt x="207" y="0"/>
                  </a:lnTo>
                  <a:lnTo>
                    <a:pt x="208" y="0"/>
                  </a:lnTo>
                  <a:lnTo>
                    <a:pt x="204" y="10"/>
                  </a:lnTo>
                  <a:lnTo>
                    <a:pt x="191" y="16"/>
                  </a:lnTo>
                  <a:lnTo>
                    <a:pt x="178" y="22"/>
                  </a:lnTo>
                  <a:lnTo>
                    <a:pt x="175" y="28"/>
                  </a:lnTo>
                  <a:lnTo>
                    <a:pt x="160" y="23"/>
                  </a:lnTo>
                  <a:lnTo>
                    <a:pt x="144" y="17"/>
                  </a:lnTo>
                  <a:lnTo>
                    <a:pt x="150" y="27"/>
                  </a:lnTo>
                  <a:lnTo>
                    <a:pt x="155" y="47"/>
                  </a:lnTo>
                  <a:lnTo>
                    <a:pt x="165" y="51"/>
                  </a:lnTo>
                  <a:lnTo>
                    <a:pt x="162" y="56"/>
                  </a:lnTo>
                  <a:lnTo>
                    <a:pt x="148" y="69"/>
                  </a:lnTo>
                  <a:lnTo>
                    <a:pt x="132" y="81"/>
                  </a:lnTo>
                  <a:lnTo>
                    <a:pt x="130" y="80"/>
                  </a:lnTo>
                  <a:lnTo>
                    <a:pt x="121" y="80"/>
                  </a:lnTo>
                  <a:lnTo>
                    <a:pt x="108" y="72"/>
                  </a:lnTo>
                  <a:lnTo>
                    <a:pt x="105" y="71"/>
                  </a:lnTo>
                  <a:lnTo>
                    <a:pt x="100" y="56"/>
                  </a:lnTo>
                  <a:lnTo>
                    <a:pt x="90" y="63"/>
                  </a:lnTo>
                  <a:lnTo>
                    <a:pt x="87" y="60"/>
                  </a:lnTo>
                  <a:lnTo>
                    <a:pt x="88" y="63"/>
                  </a:lnTo>
                  <a:lnTo>
                    <a:pt x="75" y="63"/>
                  </a:lnTo>
                  <a:lnTo>
                    <a:pt x="61" y="63"/>
                  </a:lnTo>
                  <a:lnTo>
                    <a:pt x="64" y="75"/>
                  </a:lnTo>
                  <a:lnTo>
                    <a:pt x="72" y="78"/>
                  </a:lnTo>
                  <a:lnTo>
                    <a:pt x="69" y="83"/>
                  </a:lnTo>
                  <a:lnTo>
                    <a:pt x="58" y="83"/>
                  </a:lnTo>
                  <a:lnTo>
                    <a:pt x="61" y="100"/>
                  </a:lnTo>
                  <a:lnTo>
                    <a:pt x="67" y="119"/>
                  </a:lnTo>
                  <a:lnTo>
                    <a:pt x="64" y="144"/>
                  </a:lnTo>
                  <a:lnTo>
                    <a:pt x="60" y="170"/>
                  </a:lnTo>
                  <a:lnTo>
                    <a:pt x="55" y="170"/>
                  </a:lnTo>
                  <a:lnTo>
                    <a:pt x="42" y="173"/>
                  </a:lnTo>
                  <a:lnTo>
                    <a:pt x="29" y="179"/>
                  </a:lnTo>
                  <a:lnTo>
                    <a:pt x="17" y="185"/>
                  </a:lnTo>
                  <a:lnTo>
                    <a:pt x="12" y="198"/>
                  </a:lnTo>
                  <a:lnTo>
                    <a:pt x="9" y="213"/>
                  </a:lnTo>
                  <a:lnTo>
                    <a:pt x="0" y="227"/>
                  </a:lnTo>
                  <a:lnTo>
                    <a:pt x="7" y="240"/>
                  </a:lnTo>
                  <a:lnTo>
                    <a:pt x="15" y="254"/>
                  </a:lnTo>
                  <a:lnTo>
                    <a:pt x="13" y="262"/>
                  </a:lnTo>
                  <a:lnTo>
                    <a:pt x="21" y="263"/>
                  </a:lnTo>
                  <a:lnTo>
                    <a:pt x="29" y="270"/>
                  </a:lnTo>
                  <a:lnTo>
                    <a:pt x="42" y="274"/>
                  </a:lnTo>
                  <a:lnTo>
                    <a:pt x="53" y="264"/>
                  </a:lnTo>
                  <a:lnTo>
                    <a:pt x="54" y="279"/>
                  </a:lnTo>
                  <a:lnTo>
                    <a:pt x="55" y="292"/>
                  </a:lnTo>
                  <a:lnTo>
                    <a:pt x="72" y="291"/>
                  </a:lnTo>
                  <a:lnTo>
                    <a:pt x="91" y="291"/>
                  </a:lnTo>
                  <a:lnTo>
                    <a:pt x="99" y="286"/>
                  </a:lnTo>
                  <a:lnTo>
                    <a:pt x="112" y="278"/>
                  </a:lnTo>
                  <a:lnTo>
                    <a:pt x="125" y="269"/>
                  </a:lnTo>
                  <a:lnTo>
                    <a:pt x="138" y="270"/>
                  </a:lnTo>
                  <a:lnTo>
                    <a:pt x="139" y="286"/>
                  </a:lnTo>
                  <a:lnTo>
                    <a:pt x="141" y="300"/>
                  </a:lnTo>
                  <a:lnTo>
                    <a:pt x="153" y="314"/>
                  </a:lnTo>
                  <a:lnTo>
                    <a:pt x="165" y="318"/>
                  </a:lnTo>
                  <a:lnTo>
                    <a:pt x="178" y="324"/>
                  </a:lnTo>
                  <a:lnTo>
                    <a:pt x="196" y="336"/>
                  </a:lnTo>
                  <a:lnTo>
                    <a:pt x="214" y="340"/>
                  </a:lnTo>
                  <a:lnTo>
                    <a:pt x="219" y="347"/>
                  </a:lnTo>
                  <a:lnTo>
                    <a:pt x="221" y="365"/>
                  </a:lnTo>
                  <a:lnTo>
                    <a:pt x="217" y="365"/>
                  </a:lnTo>
                  <a:lnTo>
                    <a:pt x="223" y="372"/>
                  </a:lnTo>
                  <a:lnTo>
                    <a:pt x="226" y="386"/>
                  </a:lnTo>
                  <a:lnTo>
                    <a:pt x="240" y="388"/>
                  </a:lnTo>
                  <a:lnTo>
                    <a:pt x="255" y="389"/>
                  </a:lnTo>
                  <a:lnTo>
                    <a:pt x="257" y="405"/>
                  </a:lnTo>
                  <a:lnTo>
                    <a:pt x="267" y="414"/>
                  </a:lnTo>
                  <a:lnTo>
                    <a:pt x="270" y="422"/>
                  </a:lnTo>
                  <a:lnTo>
                    <a:pt x="267" y="435"/>
                  </a:lnTo>
                  <a:lnTo>
                    <a:pt x="263" y="448"/>
                  </a:lnTo>
                  <a:lnTo>
                    <a:pt x="265" y="454"/>
                  </a:lnTo>
                  <a:lnTo>
                    <a:pt x="263" y="456"/>
                  </a:lnTo>
                  <a:lnTo>
                    <a:pt x="267" y="465"/>
                  </a:lnTo>
                  <a:lnTo>
                    <a:pt x="269" y="490"/>
                  </a:lnTo>
                  <a:lnTo>
                    <a:pt x="291" y="492"/>
                  </a:lnTo>
                  <a:lnTo>
                    <a:pt x="303" y="495"/>
                  </a:lnTo>
                  <a:lnTo>
                    <a:pt x="307" y="509"/>
                  </a:lnTo>
                  <a:lnTo>
                    <a:pt x="312" y="524"/>
                  </a:lnTo>
                  <a:lnTo>
                    <a:pt x="321" y="524"/>
                  </a:lnTo>
                  <a:lnTo>
                    <a:pt x="329" y="525"/>
                  </a:lnTo>
                  <a:lnTo>
                    <a:pt x="328" y="539"/>
                  </a:lnTo>
                  <a:lnTo>
                    <a:pt x="328" y="554"/>
                  </a:lnTo>
                  <a:lnTo>
                    <a:pt x="337" y="554"/>
                  </a:lnTo>
                  <a:lnTo>
                    <a:pt x="345" y="576"/>
                  </a:lnTo>
                  <a:lnTo>
                    <a:pt x="335" y="586"/>
                  </a:lnTo>
                  <a:lnTo>
                    <a:pt x="325" y="594"/>
                  </a:lnTo>
                  <a:lnTo>
                    <a:pt x="317" y="605"/>
                  </a:lnTo>
                  <a:lnTo>
                    <a:pt x="309" y="615"/>
                  </a:lnTo>
                  <a:lnTo>
                    <a:pt x="300" y="626"/>
                  </a:lnTo>
                  <a:lnTo>
                    <a:pt x="292" y="636"/>
                  </a:lnTo>
                  <a:lnTo>
                    <a:pt x="300" y="635"/>
                  </a:lnTo>
                  <a:lnTo>
                    <a:pt x="319" y="650"/>
                  </a:lnTo>
                  <a:lnTo>
                    <a:pt x="323" y="650"/>
                  </a:lnTo>
                  <a:lnTo>
                    <a:pt x="333" y="656"/>
                  </a:lnTo>
                  <a:lnTo>
                    <a:pt x="349" y="668"/>
                  </a:lnTo>
                  <a:lnTo>
                    <a:pt x="365" y="680"/>
                  </a:lnTo>
                  <a:lnTo>
                    <a:pt x="364" y="688"/>
                  </a:lnTo>
                  <a:lnTo>
                    <a:pt x="367" y="700"/>
                  </a:lnTo>
                  <a:lnTo>
                    <a:pt x="373" y="689"/>
                  </a:lnTo>
                  <a:lnTo>
                    <a:pt x="378" y="677"/>
                  </a:lnTo>
                  <a:lnTo>
                    <a:pt x="379" y="666"/>
                  </a:lnTo>
                  <a:lnTo>
                    <a:pt x="384" y="656"/>
                  </a:lnTo>
                  <a:lnTo>
                    <a:pt x="390" y="647"/>
                  </a:lnTo>
                  <a:lnTo>
                    <a:pt x="389" y="636"/>
                  </a:lnTo>
                  <a:lnTo>
                    <a:pt x="396" y="639"/>
                  </a:lnTo>
                  <a:lnTo>
                    <a:pt x="400" y="639"/>
                  </a:lnTo>
                  <a:lnTo>
                    <a:pt x="394" y="652"/>
                  </a:lnTo>
                  <a:lnTo>
                    <a:pt x="387" y="665"/>
                  </a:lnTo>
                  <a:lnTo>
                    <a:pt x="382" y="669"/>
                  </a:lnTo>
                  <a:lnTo>
                    <a:pt x="383" y="670"/>
                  </a:lnTo>
                  <a:lnTo>
                    <a:pt x="394" y="656"/>
                  </a:lnTo>
                  <a:lnTo>
                    <a:pt x="405" y="641"/>
                  </a:lnTo>
                  <a:lnTo>
                    <a:pt x="411" y="627"/>
                  </a:lnTo>
                  <a:lnTo>
                    <a:pt x="417" y="612"/>
                  </a:lnTo>
                  <a:lnTo>
                    <a:pt x="421" y="604"/>
                  </a:lnTo>
                  <a:lnTo>
                    <a:pt x="423" y="604"/>
                  </a:lnTo>
                  <a:lnTo>
                    <a:pt x="423" y="590"/>
                  </a:lnTo>
                  <a:lnTo>
                    <a:pt x="423" y="575"/>
                  </a:lnTo>
                  <a:lnTo>
                    <a:pt x="419" y="564"/>
                  </a:lnTo>
                  <a:lnTo>
                    <a:pt x="419" y="558"/>
                  </a:lnTo>
                  <a:lnTo>
                    <a:pt x="421" y="552"/>
                  </a:lnTo>
                  <a:lnTo>
                    <a:pt x="419" y="551"/>
                  </a:lnTo>
                  <a:lnTo>
                    <a:pt x="425" y="550"/>
                  </a:lnTo>
                  <a:lnTo>
                    <a:pt x="439" y="537"/>
                  </a:lnTo>
                  <a:lnTo>
                    <a:pt x="453" y="524"/>
                  </a:lnTo>
                  <a:lnTo>
                    <a:pt x="466" y="520"/>
                  </a:lnTo>
                  <a:lnTo>
                    <a:pt x="478" y="512"/>
                  </a:lnTo>
                  <a:lnTo>
                    <a:pt x="483" y="507"/>
                  </a:lnTo>
                  <a:lnTo>
                    <a:pt x="493" y="507"/>
                  </a:lnTo>
                  <a:lnTo>
                    <a:pt x="489" y="508"/>
                  </a:lnTo>
                  <a:lnTo>
                    <a:pt x="499" y="504"/>
                  </a:lnTo>
                  <a:lnTo>
                    <a:pt x="502" y="503"/>
                  </a:lnTo>
                  <a:lnTo>
                    <a:pt x="519" y="503"/>
                  </a:lnTo>
                  <a:lnTo>
                    <a:pt x="523" y="494"/>
                  </a:lnTo>
                  <a:lnTo>
                    <a:pt x="533" y="489"/>
                  </a:lnTo>
                  <a:lnTo>
                    <a:pt x="535" y="468"/>
                  </a:lnTo>
                  <a:lnTo>
                    <a:pt x="543" y="454"/>
                  </a:lnTo>
                  <a:lnTo>
                    <a:pt x="550" y="441"/>
                  </a:lnTo>
                  <a:lnTo>
                    <a:pt x="552" y="417"/>
                  </a:lnTo>
                  <a:lnTo>
                    <a:pt x="556" y="407"/>
                  </a:lnTo>
                  <a:lnTo>
                    <a:pt x="557" y="390"/>
                  </a:lnTo>
                  <a:lnTo>
                    <a:pt x="558" y="372"/>
                  </a:lnTo>
                  <a:lnTo>
                    <a:pt x="557" y="359"/>
                  </a:lnTo>
                  <a:lnTo>
                    <a:pt x="557" y="346"/>
                  </a:lnTo>
                  <a:lnTo>
                    <a:pt x="555" y="341"/>
                  </a:lnTo>
                  <a:lnTo>
                    <a:pt x="557" y="324"/>
                  </a:lnTo>
                  <a:lnTo>
                    <a:pt x="562" y="322"/>
                  </a:lnTo>
                  <a:lnTo>
                    <a:pt x="563" y="328"/>
                  </a:lnTo>
                  <a:lnTo>
                    <a:pt x="571" y="314"/>
                  </a:lnTo>
                  <a:lnTo>
                    <a:pt x="580" y="299"/>
                  </a:lnTo>
                  <a:lnTo>
                    <a:pt x="580" y="298"/>
                  </a:lnTo>
                  <a:lnTo>
                    <a:pt x="583" y="293"/>
                  </a:lnTo>
                  <a:lnTo>
                    <a:pt x="593" y="281"/>
                  </a:lnTo>
                  <a:lnTo>
                    <a:pt x="603" y="268"/>
                  </a:lnTo>
                  <a:lnTo>
                    <a:pt x="616" y="248"/>
                  </a:lnTo>
                  <a:lnTo>
                    <a:pt x="618" y="222"/>
                  </a:lnTo>
                  <a:lnTo>
                    <a:pt x="612" y="204"/>
                  </a:lnTo>
                  <a:lnTo>
                    <a:pt x="605" y="186"/>
                  </a:lnTo>
                  <a:lnTo>
                    <a:pt x="592" y="184"/>
                  </a:lnTo>
                  <a:lnTo>
                    <a:pt x="580" y="182"/>
                  </a:lnTo>
                  <a:lnTo>
                    <a:pt x="563" y="166"/>
                  </a:lnTo>
                  <a:lnTo>
                    <a:pt x="545" y="152"/>
                  </a:lnTo>
                  <a:lnTo>
                    <a:pt x="523" y="144"/>
                  </a:lnTo>
                  <a:lnTo>
                    <a:pt x="508" y="146"/>
                  </a:lnTo>
                  <a:lnTo>
                    <a:pt x="495" y="142"/>
                  </a:lnTo>
                  <a:lnTo>
                    <a:pt x="480" y="138"/>
                  </a:lnTo>
                  <a:lnTo>
                    <a:pt x="468" y="143"/>
                  </a:lnTo>
                  <a:lnTo>
                    <a:pt x="469"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2" name="Freeform 241"/>
            <p:cNvSpPr>
              <a:spLocks/>
            </p:cNvSpPr>
            <p:nvPr/>
          </p:nvSpPr>
          <p:spPr bwMode="auto">
            <a:xfrm>
              <a:off x="1636" y="2707"/>
              <a:ext cx="44" cy="34"/>
            </a:xfrm>
            <a:custGeom>
              <a:avLst/>
              <a:gdLst/>
              <a:ahLst/>
              <a:cxnLst>
                <a:cxn ang="0">
                  <a:pos x="19" y="28"/>
                </a:cxn>
                <a:cxn ang="0">
                  <a:pos x="17" y="29"/>
                </a:cxn>
                <a:cxn ang="0">
                  <a:pos x="8" y="26"/>
                </a:cxn>
                <a:cxn ang="0">
                  <a:pos x="5" y="30"/>
                </a:cxn>
                <a:cxn ang="0">
                  <a:pos x="0" y="17"/>
                </a:cxn>
                <a:cxn ang="0">
                  <a:pos x="2" y="17"/>
                </a:cxn>
                <a:cxn ang="0">
                  <a:pos x="1" y="10"/>
                </a:cxn>
                <a:cxn ang="0">
                  <a:pos x="6" y="0"/>
                </a:cxn>
                <a:cxn ang="0">
                  <a:pos x="21" y="2"/>
                </a:cxn>
                <a:cxn ang="0">
                  <a:pos x="38" y="4"/>
                </a:cxn>
                <a:cxn ang="0">
                  <a:pos x="30" y="20"/>
                </a:cxn>
                <a:cxn ang="0">
                  <a:pos x="29" y="21"/>
                </a:cxn>
                <a:cxn ang="0">
                  <a:pos x="27" y="26"/>
                </a:cxn>
                <a:cxn ang="0">
                  <a:pos x="25" y="26"/>
                </a:cxn>
                <a:cxn ang="0">
                  <a:pos x="19" y="28"/>
                </a:cxn>
              </a:cxnLst>
              <a:rect l="0" t="0" r="r" b="b"/>
              <a:pathLst>
                <a:path w="38" h="30">
                  <a:moveTo>
                    <a:pt x="19" y="28"/>
                  </a:moveTo>
                  <a:lnTo>
                    <a:pt x="17" y="29"/>
                  </a:lnTo>
                  <a:lnTo>
                    <a:pt x="8" y="26"/>
                  </a:lnTo>
                  <a:lnTo>
                    <a:pt x="5" y="30"/>
                  </a:lnTo>
                  <a:lnTo>
                    <a:pt x="0" y="17"/>
                  </a:lnTo>
                  <a:lnTo>
                    <a:pt x="2" y="17"/>
                  </a:lnTo>
                  <a:lnTo>
                    <a:pt x="1" y="10"/>
                  </a:lnTo>
                  <a:lnTo>
                    <a:pt x="6" y="0"/>
                  </a:lnTo>
                  <a:lnTo>
                    <a:pt x="21" y="2"/>
                  </a:lnTo>
                  <a:lnTo>
                    <a:pt x="38" y="4"/>
                  </a:lnTo>
                  <a:lnTo>
                    <a:pt x="30" y="20"/>
                  </a:lnTo>
                  <a:lnTo>
                    <a:pt x="29" y="21"/>
                  </a:lnTo>
                  <a:lnTo>
                    <a:pt x="27" y="26"/>
                  </a:lnTo>
                  <a:lnTo>
                    <a:pt x="25" y="26"/>
                  </a:lnTo>
                  <a:lnTo>
                    <a:pt x="19"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3" name="Freeform 242"/>
            <p:cNvSpPr>
              <a:spLocks/>
            </p:cNvSpPr>
            <p:nvPr/>
          </p:nvSpPr>
          <p:spPr bwMode="auto">
            <a:xfrm>
              <a:off x="1451" y="3092"/>
              <a:ext cx="147" cy="162"/>
            </a:xfrm>
            <a:custGeom>
              <a:avLst/>
              <a:gdLst/>
              <a:ahLst/>
              <a:cxnLst>
                <a:cxn ang="0">
                  <a:pos x="7" y="13"/>
                </a:cxn>
                <a:cxn ang="0">
                  <a:pos x="4" y="32"/>
                </a:cxn>
                <a:cxn ang="0">
                  <a:pos x="0" y="52"/>
                </a:cxn>
                <a:cxn ang="0">
                  <a:pos x="16" y="66"/>
                </a:cxn>
                <a:cxn ang="0">
                  <a:pos x="31" y="80"/>
                </a:cxn>
                <a:cxn ang="0">
                  <a:pos x="43" y="86"/>
                </a:cxn>
                <a:cxn ang="0">
                  <a:pos x="56" y="92"/>
                </a:cxn>
                <a:cxn ang="0">
                  <a:pos x="71" y="101"/>
                </a:cxn>
                <a:cxn ang="0">
                  <a:pos x="85" y="109"/>
                </a:cxn>
                <a:cxn ang="0">
                  <a:pos x="79" y="126"/>
                </a:cxn>
                <a:cxn ang="0">
                  <a:pos x="73" y="143"/>
                </a:cxn>
                <a:cxn ang="0">
                  <a:pos x="91" y="144"/>
                </a:cxn>
                <a:cxn ang="0">
                  <a:pos x="109" y="145"/>
                </a:cxn>
                <a:cxn ang="0">
                  <a:pos x="120" y="142"/>
                </a:cxn>
                <a:cxn ang="0">
                  <a:pos x="132" y="122"/>
                </a:cxn>
                <a:cxn ang="0">
                  <a:pos x="131" y="112"/>
                </a:cxn>
                <a:cxn ang="0">
                  <a:pos x="131" y="97"/>
                </a:cxn>
                <a:cxn ang="0">
                  <a:pos x="132" y="83"/>
                </a:cxn>
                <a:cxn ang="0">
                  <a:pos x="124" y="82"/>
                </a:cxn>
                <a:cxn ang="0">
                  <a:pos x="115" y="82"/>
                </a:cxn>
                <a:cxn ang="0">
                  <a:pos x="110" y="67"/>
                </a:cxn>
                <a:cxn ang="0">
                  <a:pos x="106" y="53"/>
                </a:cxn>
                <a:cxn ang="0">
                  <a:pos x="94" y="50"/>
                </a:cxn>
                <a:cxn ang="0">
                  <a:pos x="72" y="48"/>
                </a:cxn>
                <a:cxn ang="0">
                  <a:pos x="70" y="23"/>
                </a:cxn>
                <a:cxn ang="0">
                  <a:pos x="66" y="14"/>
                </a:cxn>
                <a:cxn ang="0">
                  <a:pos x="66" y="11"/>
                </a:cxn>
                <a:cxn ang="0">
                  <a:pos x="50" y="0"/>
                </a:cxn>
                <a:cxn ang="0">
                  <a:pos x="30" y="2"/>
                </a:cxn>
                <a:cxn ang="0">
                  <a:pos x="10" y="5"/>
                </a:cxn>
                <a:cxn ang="0">
                  <a:pos x="7" y="13"/>
                </a:cxn>
              </a:cxnLst>
              <a:rect l="0" t="0" r="r" b="b"/>
              <a:pathLst>
                <a:path w="132" h="145">
                  <a:moveTo>
                    <a:pt x="7" y="13"/>
                  </a:moveTo>
                  <a:lnTo>
                    <a:pt x="4" y="32"/>
                  </a:lnTo>
                  <a:lnTo>
                    <a:pt x="0" y="52"/>
                  </a:lnTo>
                  <a:lnTo>
                    <a:pt x="16" y="66"/>
                  </a:lnTo>
                  <a:lnTo>
                    <a:pt x="31" y="80"/>
                  </a:lnTo>
                  <a:lnTo>
                    <a:pt x="43" y="86"/>
                  </a:lnTo>
                  <a:lnTo>
                    <a:pt x="56" y="92"/>
                  </a:lnTo>
                  <a:lnTo>
                    <a:pt x="71" y="101"/>
                  </a:lnTo>
                  <a:lnTo>
                    <a:pt x="85" y="109"/>
                  </a:lnTo>
                  <a:lnTo>
                    <a:pt x="79" y="126"/>
                  </a:lnTo>
                  <a:lnTo>
                    <a:pt x="73" y="143"/>
                  </a:lnTo>
                  <a:lnTo>
                    <a:pt x="91" y="144"/>
                  </a:lnTo>
                  <a:lnTo>
                    <a:pt x="109" y="145"/>
                  </a:lnTo>
                  <a:lnTo>
                    <a:pt x="120" y="142"/>
                  </a:lnTo>
                  <a:lnTo>
                    <a:pt x="132" y="122"/>
                  </a:lnTo>
                  <a:lnTo>
                    <a:pt x="131" y="112"/>
                  </a:lnTo>
                  <a:lnTo>
                    <a:pt x="131" y="97"/>
                  </a:lnTo>
                  <a:lnTo>
                    <a:pt x="132" y="83"/>
                  </a:lnTo>
                  <a:lnTo>
                    <a:pt x="124" y="82"/>
                  </a:lnTo>
                  <a:lnTo>
                    <a:pt x="115" y="82"/>
                  </a:lnTo>
                  <a:lnTo>
                    <a:pt x="110" y="67"/>
                  </a:lnTo>
                  <a:lnTo>
                    <a:pt x="106" y="53"/>
                  </a:lnTo>
                  <a:lnTo>
                    <a:pt x="94" y="50"/>
                  </a:lnTo>
                  <a:lnTo>
                    <a:pt x="72" y="48"/>
                  </a:lnTo>
                  <a:lnTo>
                    <a:pt x="70" y="23"/>
                  </a:lnTo>
                  <a:lnTo>
                    <a:pt x="66" y="14"/>
                  </a:lnTo>
                  <a:lnTo>
                    <a:pt x="66" y="11"/>
                  </a:lnTo>
                  <a:lnTo>
                    <a:pt x="50" y="0"/>
                  </a:lnTo>
                  <a:lnTo>
                    <a:pt x="30" y="2"/>
                  </a:lnTo>
                  <a:lnTo>
                    <a:pt x="10" y="5"/>
                  </a:lnTo>
                  <a:lnTo>
                    <a:pt x="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4" name="Freeform 243"/>
            <p:cNvSpPr>
              <a:spLocks/>
            </p:cNvSpPr>
            <p:nvPr/>
          </p:nvSpPr>
          <p:spPr bwMode="auto">
            <a:xfrm>
              <a:off x="1556" y="3307"/>
              <a:ext cx="84" cy="94"/>
            </a:xfrm>
            <a:custGeom>
              <a:avLst/>
              <a:gdLst/>
              <a:ahLst/>
              <a:cxnLst>
                <a:cxn ang="0">
                  <a:pos x="74" y="45"/>
                </a:cxn>
                <a:cxn ang="0">
                  <a:pos x="58" y="33"/>
                </a:cxn>
                <a:cxn ang="0">
                  <a:pos x="42" y="21"/>
                </a:cxn>
                <a:cxn ang="0">
                  <a:pos x="32" y="15"/>
                </a:cxn>
                <a:cxn ang="0">
                  <a:pos x="28" y="15"/>
                </a:cxn>
                <a:cxn ang="0">
                  <a:pos x="9" y="0"/>
                </a:cxn>
                <a:cxn ang="0">
                  <a:pos x="1" y="1"/>
                </a:cxn>
                <a:cxn ang="0">
                  <a:pos x="1" y="3"/>
                </a:cxn>
                <a:cxn ang="0">
                  <a:pos x="1" y="22"/>
                </a:cxn>
                <a:cxn ang="0">
                  <a:pos x="0" y="42"/>
                </a:cxn>
                <a:cxn ang="0">
                  <a:pos x="1" y="45"/>
                </a:cxn>
                <a:cxn ang="0">
                  <a:pos x="0" y="59"/>
                </a:cxn>
                <a:cxn ang="0">
                  <a:pos x="7" y="73"/>
                </a:cxn>
                <a:cxn ang="0">
                  <a:pos x="26" y="82"/>
                </a:cxn>
                <a:cxn ang="0">
                  <a:pos x="51" y="85"/>
                </a:cxn>
                <a:cxn ang="0">
                  <a:pos x="66" y="81"/>
                </a:cxn>
                <a:cxn ang="0">
                  <a:pos x="76" y="65"/>
                </a:cxn>
                <a:cxn ang="0">
                  <a:pos x="73" y="53"/>
                </a:cxn>
                <a:cxn ang="0">
                  <a:pos x="74" y="45"/>
                </a:cxn>
              </a:cxnLst>
              <a:rect l="0" t="0" r="r" b="b"/>
              <a:pathLst>
                <a:path w="76" h="85">
                  <a:moveTo>
                    <a:pt x="74" y="45"/>
                  </a:moveTo>
                  <a:lnTo>
                    <a:pt x="58" y="33"/>
                  </a:lnTo>
                  <a:lnTo>
                    <a:pt x="42" y="21"/>
                  </a:lnTo>
                  <a:lnTo>
                    <a:pt x="32" y="15"/>
                  </a:lnTo>
                  <a:lnTo>
                    <a:pt x="28" y="15"/>
                  </a:lnTo>
                  <a:lnTo>
                    <a:pt x="9" y="0"/>
                  </a:lnTo>
                  <a:lnTo>
                    <a:pt x="1" y="1"/>
                  </a:lnTo>
                  <a:lnTo>
                    <a:pt x="1" y="3"/>
                  </a:lnTo>
                  <a:lnTo>
                    <a:pt x="1" y="22"/>
                  </a:lnTo>
                  <a:lnTo>
                    <a:pt x="0" y="42"/>
                  </a:lnTo>
                  <a:lnTo>
                    <a:pt x="1" y="45"/>
                  </a:lnTo>
                  <a:lnTo>
                    <a:pt x="0" y="59"/>
                  </a:lnTo>
                  <a:lnTo>
                    <a:pt x="7" y="73"/>
                  </a:lnTo>
                  <a:lnTo>
                    <a:pt x="26" y="82"/>
                  </a:lnTo>
                  <a:lnTo>
                    <a:pt x="51" y="85"/>
                  </a:lnTo>
                  <a:lnTo>
                    <a:pt x="66" y="81"/>
                  </a:lnTo>
                  <a:lnTo>
                    <a:pt x="76" y="65"/>
                  </a:lnTo>
                  <a:lnTo>
                    <a:pt x="73" y="53"/>
                  </a:lnTo>
                  <a:lnTo>
                    <a:pt x="74" y="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5" name="Freeform 244"/>
            <p:cNvSpPr>
              <a:spLocks/>
            </p:cNvSpPr>
            <p:nvPr/>
          </p:nvSpPr>
          <p:spPr bwMode="auto">
            <a:xfrm>
              <a:off x="1345" y="3141"/>
              <a:ext cx="271" cy="604"/>
            </a:xfrm>
            <a:custGeom>
              <a:avLst/>
              <a:gdLst/>
              <a:ahLst/>
              <a:cxnLst>
                <a:cxn ang="0">
                  <a:pos x="136" y="345"/>
                </a:cxn>
                <a:cxn ang="0">
                  <a:pos x="132" y="366"/>
                </a:cxn>
                <a:cxn ang="0">
                  <a:pos x="143" y="367"/>
                </a:cxn>
                <a:cxn ang="0">
                  <a:pos x="151" y="377"/>
                </a:cxn>
                <a:cxn ang="0">
                  <a:pos x="132" y="375"/>
                </a:cxn>
                <a:cxn ang="0">
                  <a:pos x="133" y="394"/>
                </a:cxn>
                <a:cxn ang="0">
                  <a:pos x="132" y="417"/>
                </a:cxn>
                <a:cxn ang="0">
                  <a:pos x="116" y="441"/>
                </a:cxn>
                <a:cxn ang="0">
                  <a:pos x="148" y="457"/>
                </a:cxn>
                <a:cxn ang="0">
                  <a:pos x="148" y="468"/>
                </a:cxn>
                <a:cxn ang="0">
                  <a:pos x="132" y="491"/>
                </a:cxn>
                <a:cxn ang="0">
                  <a:pos x="124" y="502"/>
                </a:cxn>
                <a:cxn ang="0">
                  <a:pos x="127" y="507"/>
                </a:cxn>
                <a:cxn ang="0">
                  <a:pos x="121" y="521"/>
                </a:cxn>
                <a:cxn ang="0">
                  <a:pos x="125" y="531"/>
                </a:cxn>
                <a:cxn ang="0">
                  <a:pos x="143" y="545"/>
                </a:cxn>
                <a:cxn ang="0">
                  <a:pos x="91" y="535"/>
                </a:cxn>
                <a:cxn ang="0">
                  <a:pos x="74" y="514"/>
                </a:cxn>
                <a:cxn ang="0">
                  <a:pos x="52" y="491"/>
                </a:cxn>
                <a:cxn ang="0">
                  <a:pos x="59" y="457"/>
                </a:cxn>
                <a:cxn ang="0">
                  <a:pos x="54" y="424"/>
                </a:cxn>
                <a:cxn ang="0">
                  <a:pos x="44" y="412"/>
                </a:cxn>
                <a:cxn ang="0">
                  <a:pos x="42" y="402"/>
                </a:cxn>
                <a:cxn ang="0">
                  <a:pos x="29" y="373"/>
                </a:cxn>
                <a:cxn ang="0">
                  <a:pos x="22" y="335"/>
                </a:cxn>
                <a:cxn ang="0">
                  <a:pos x="23" y="305"/>
                </a:cxn>
                <a:cxn ang="0">
                  <a:pos x="17" y="280"/>
                </a:cxn>
                <a:cxn ang="0">
                  <a:pos x="20" y="252"/>
                </a:cxn>
                <a:cxn ang="0">
                  <a:pos x="19" y="217"/>
                </a:cxn>
                <a:cxn ang="0">
                  <a:pos x="7" y="192"/>
                </a:cxn>
                <a:cxn ang="0">
                  <a:pos x="1" y="166"/>
                </a:cxn>
                <a:cxn ang="0">
                  <a:pos x="2" y="142"/>
                </a:cxn>
                <a:cxn ang="0">
                  <a:pos x="8" y="113"/>
                </a:cxn>
                <a:cxn ang="0">
                  <a:pos x="19" y="91"/>
                </a:cxn>
                <a:cxn ang="0">
                  <a:pos x="11" y="57"/>
                </a:cxn>
                <a:cxn ang="0">
                  <a:pos x="26" y="40"/>
                </a:cxn>
                <a:cxn ang="0">
                  <a:pos x="26" y="18"/>
                </a:cxn>
                <a:cxn ang="0">
                  <a:pos x="43" y="3"/>
                </a:cxn>
                <a:cxn ang="0">
                  <a:pos x="70" y="17"/>
                </a:cxn>
                <a:cxn ang="0">
                  <a:pos x="92" y="4"/>
                </a:cxn>
                <a:cxn ang="0">
                  <a:pos x="112" y="23"/>
                </a:cxn>
                <a:cxn ang="0">
                  <a:pos x="139" y="43"/>
                </a:cxn>
                <a:cxn ang="0">
                  <a:pos x="167" y="58"/>
                </a:cxn>
                <a:cxn ang="0">
                  <a:pos x="175" y="83"/>
                </a:cxn>
                <a:cxn ang="0">
                  <a:pos x="187" y="101"/>
                </a:cxn>
                <a:cxn ang="0">
                  <a:pos x="216" y="99"/>
                </a:cxn>
                <a:cxn ang="0">
                  <a:pos x="227" y="69"/>
                </a:cxn>
                <a:cxn ang="0">
                  <a:pos x="244" y="91"/>
                </a:cxn>
                <a:cxn ang="0">
                  <a:pos x="224" y="109"/>
                </a:cxn>
                <a:cxn ang="0">
                  <a:pos x="208" y="130"/>
                </a:cxn>
                <a:cxn ang="0">
                  <a:pos x="191" y="151"/>
                </a:cxn>
                <a:cxn ang="0">
                  <a:pos x="191" y="172"/>
                </a:cxn>
                <a:cxn ang="0">
                  <a:pos x="192" y="203"/>
                </a:cxn>
                <a:cxn ang="0">
                  <a:pos x="194" y="232"/>
                </a:cxn>
                <a:cxn ang="0">
                  <a:pos x="217" y="258"/>
                </a:cxn>
                <a:cxn ang="0">
                  <a:pos x="221" y="281"/>
                </a:cxn>
                <a:cxn ang="0">
                  <a:pos x="202" y="300"/>
                </a:cxn>
                <a:cxn ang="0">
                  <a:pos x="176" y="306"/>
                </a:cxn>
                <a:cxn ang="0">
                  <a:pos x="152" y="309"/>
                </a:cxn>
                <a:cxn ang="0">
                  <a:pos x="160" y="337"/>
                </a:cxn>
              </a:cxnLst>
              <a:rect l="0" t="0" r="r" b="b"/>
              <a:pathLst>
                <a:path w="244" h="545">
                  <a:moveTo>
                    <a:pt x="156" y="346"/>
                  </a:moveTo>
                  <a:lnTo>
                    <a:pt x="136" y="345"/>
                  </a:lnTo>
                  <a:lnTo>
                    <a:pt x="120" y="342"/>
                  </a:lnTo>
                  <a:lnTo>
                    <a:pt x="132" y="366"/>
                  </a:lnTo>
                  <a:lnTo>
                    <a:pt x="137" y="369"/>
                  </a:lnTo>
                  <a:lnTo>
                    <a:pt x="143" y="367"/>
                  </a:lnTo>
                  <a:lnTo>
                    <a:pt x="146" y="364"/>
                  </a:lnTo>
                  <a:lnTo>
                    <a:pt x="151" y="377"/>
                  </a:lnTo>
                  <a:lnTo>
                    <a:pt x="143" y="375"/>
                  </a:lnTo>
                  <a:lnTo>
                    <a:pt x="132" y="375"/>
                  </a:lnTo>
                  <a:lnTo>
                    <a:pt x="144" y="381"/>
                  </a:lnTo>
                  <a:lnTo>
                    <a:pt x="133" y="394"/>
                  </a:lnTo>
                  <a:lnTo>
                    <a:pt x="134" y="408"/>
                  </a:lnTo>
                  <a:lnTo>
                    <a:pt x="132" y="417"/>
                  </a:lnTo>
                  <a:lnTo>
                    <a:pt x="116" y="424"/>
                  </a:lnTo>
                  <a:lnTo>
                    <a:pt x="116" y="441"/>
                  </a:lnTo>
                  <a:lnTo>
                    <a:pt x="139" y="453"/>
                  </a:lnTo>
                  <a:lnTo>
                    <a:pt x="148" y="457"/>
                  </a:lnTo>
                  <a:lnTo>
                    <a:pt x="143" y="466"/>
                  </a:lnTo>
                  <a:lnTo>
                    <a:pt x="148" y="468"/>
                  </a:lnTo>
                  <a:lnTo>
                    <a:pt x="140" y="479"/>
                  </a:lnTo>
                  <a:lnTo>
                    <a:pt x="132" y="491"/>
                  </a:lnTo>
                  <a:lnTo>
                    <a:pt x="131" y="504"/>
                  </a:lnTo>
                  <a:lnTo>
                    <a:pt x="124" y="502"/>
                  </a:lnTo>
                  <a:lnTo>
                    <a:pt x="120" y="503"/>
                  </a:lnTo>
                  <a:lnTo>
                    <a:pt x="127" y="507"/>
                  </a:lnTo>
                  <a:lnTo>
                    <a:pt x="121" y="516"/>
                  </a:lnTo>
                  <a:lnTo>
                    <a:pt x="121" y="521"/>
                  </a:lnTo>
                  <a:lnTo>
                    <a:pt x="128" y="532"/>
                  </a:lnTo>
                  <a:lnTo>
                    <a:pt x="125" y="531"/>
                  </a:lnTo>
                  <a:lnTo>
                    <a:pt x="134" y="535"/>
                  </a:lnTo>
                  <a:lnTo>
                    <a:pt x="143" y="545"/>
                  </a:lnTo>
                  <a:lnTo>
                    <a:pt x="119" y="538"/>
                  </a:lnTo>
                  <a:lnTo>
                    <a:pt x="91" y="535"/>
                  </a:lnTo>
                  <a:lnTo>
                    <a:pt x="83" y="527"/>
                  </a:lnTo>
                  <a:lnTo>
                    <a:pt x="74" y="514"/>
                  </a:lnTo>
                  <a:lnTo>
                    <a:pt x="66" y="515"/>
                  </a:lnTo>
                  <a:lnTo>
                    <a:pt x="52" y="491"/>
                  </a:lnTo>
                  <a:lnTo>
                    <a:pt x="61" y="481"/>
                  </a:lnTo>
                  <a:lnTo>
                    <a:pt x="59" y="457"/>
                  </a:lnTo>
                  <a:lnTo>
                    <a:pt x="55" y="437"/>
                  </a:lnTo>
                  <a:lnTo>
                    <a:pt x="54" y="424"/>
                  </a:lnTo>
                  <a:lnTo>
                    <a:pt x="50" y="415"/>
                  </a:lnTo>
                  <a:lnTo>
                    <a:pt x="44" y="412"/>
                  </a:lnTo>
                  <a:lnTo>
                    <a:pt x="54" y="408"/>
                  </a:lnTo>
                  <a:lnTo>
                    <a:pt x="42" y="402"/>
                  </a:lnTo>
                  <a:lnTo>
                    <a:pt x="36" y="383"/>
                  </a:lnTo>
                  <a:lnTo>
                    <a:pt x="29" y="373"/>
                  </a:lnTo>
                  <a:lnTo>
                    <a:pt x="28" y="359"/>
                  </a:lnTo>
                  <a:lnTo>
                    <a:pt x="22" y="335"/>
                  </a:lnTo>
                  <a:lnTo>
                    <a:pt x="20" y="316"/>
                  </a:lnTo>
                  <a:lnTo>
                    <a:pt x="23" y="305"/>
                  </a:lnTo>
                  <a:lnTo>
                    <a:pt x="22" y="294"/>
                  </a:lnTo>
                  <a:lnTo>
                    <a:pt x="17" y="280"/>
                  </a:lnTo>
                  <a:lnTo>
                    <a:pt x="13" y="264"/>
                  </a:lnTo>
                  <a:lnTo>
                    <a:pt x="20" y="252"/>
                  </a:lnTo>
                  <a:lnTo>
                    <a:pt x="17" y="240"/>
                  </a:lnTo>
                  <a:lnTo>
                    <a:pt x="19" y="217"/>
                  </a:lnTo>
                  <a:lnTo>
                    <a:pt x="14" y="207"/>
                  </a:lnTo>
                  <a:lnTo>
                    <a:pt x="7" y="192"/>
                  </a:lnTo>
                  <a:lnTo>
                    <a:pt x="0" y="178"/>
                  </a:lnTo>
                  <a:lnTo>
                    <a:pt x="1" y="166"/>
                  </a:lnTo>
                  <a:lnTo>
                    <a:pt x="4" y="155"/>
                  </a:lnTo>
                  <a:lnTo>
                    <a:pt x="2" y="142"/>
                  </a:lnTo>
                  <a:lnTo>
                    <a:pt x="2" y="129"/>
                  </a:lnTo>
                  <a:lnTo>
                    <a:pt x="8" y="113"/>
                  </a:lnTo>
                  <a:lnTo>
                    <a:pt x="14" y="96"/>
                  </a:lnTo>
                  <a:lnTo>
                    <a:pt x="19" y="91"/>
                  </a:lnTo>
                  <a:lnTo>
                    <a:pt x="13" y="82"/>
                  </a:lnTo>
                  <a:lnTo>
                    <a:pt x="11" y="57"/>
                  </a:lnTo>
                  <a:lnTo>
                    <a:pt x="13" y="47"/>
                  </a:lnTo>
                  <a:lnTo>
                    <a:pt x="26" y="40"/>
                  </a:lnTo>
                  <a:lnTo>
                    <a:pt x="30" y="22"/>
                  </a:lnTo>
                  <a:lnTo>
                    <a:pt x="26" y="18"/>
                  </a:lnTo>
                  <a:lnTo>
                    <a:pt x="40" y="0"/>
                  </a:lnTo>
                  <a:lnTo>
                    <a:pt x="43" y="3"/>
                  </a:lnTo>
                  <a:lnTo>
                    <a:pt x="62" y="6"/>
                  </a:lnTo>
                  <a:lnTo>
                    <a:pt x="70" y="17"/>
                  </a:lnTo>
                  <a:lnTo>
                    <a:pt x="74" y="7"/>
                  </a:lnTo>
                  <a:lnTo>
                    <a:pt x="92" y="4"/>
                  </a:lnTo>
                  <a:lnTo>
                    <a:pt x="96" y="9"/>
                  </a:lnTo>
                  <a:lnTo>
                    <a:pt x="112" y="23"/>
                  </a:lnTo>
                  <a:lnTo>
                    <a:pt x="127" y="37"/>
                  </a:lnTo>
                  <a:lnTo>
                    <a:pt x="139" y="43"/>
                  </a:lnTo>
                  <a:lnTo>
                    <a:pt x="152" y="49"/>
                  </a:lnTo>
                  <a:lnTo>
                    <a:pt x="167" y="58"/>
                  </a:lnTo>
                  <a:lnTo>
                    <a:pt x="181" y="66"/>
                  </a:lnTo>
                  <a:lnTo>
                    <a:pt x="175" y="83"/>
                  </a:lnTo>
                  <a:lnTo>
                    <a:pt x="169" y="100"/>
                  </a:lnTo>
                  <a:lnTo>
                    <a:pt x="187" y="101"/>
                  </a:lnTo>
                  <a:lnTo>
                    <a:pt x="205" y="102"/>
                  </a:lnTo>
                  <a:lnTo>
                    <a:pt x="216" y="99"/>
                  </a:lnTo>
                  <a:lnTo>
                    <a:pt x="228" y="79"/>
                  </a:lnTo>
                  <a:lnTo>
                    <a:pt x="227" y="69"/>
                  </a:lnTo>
                  <a:lnTo>
                    <a:pt x="236" y="69"/>
                  </a:lnTo>
                  <a:lnTo>
                    <a:pt x="244" y="91"/>
                  </a:lnTo>
                  <a:lnTo>
                    <a:pt x="234" y="101"/>
                  </a:lnTo>
                  <a:lnTo>
                    <a:pt x="224" y="109"/>
                  </a:lnTo>
                  <a:lnTo>
                    <a:pt x="216" y="120"/>
                  </a:lnTo>
                  <a:lnTo>
                    <a:pt x="208" y="130"/>
                  </a:lnTo>
                  <a:lnTo>
                    <a:pt x="199" y="141"/>
                  </a:lnTo>
                  <a:lnTo>
                    <a:pt x="191" y="151"/>
                  </a:lnTo>
                  <a:lnTo>
                    <a:pt x="191" y="153"/>
                  </a:lnTo>
                  <a:lnTo>
                    <a:pt x="191" y="172"/>
                  </a:lnTo>
                  <a:lnTo>
                    <a:pt x="190" y="192"/>
                  </a:lnTo>
                  <a:lnTo>
                    <a:pt x="192" y="203"/>
                  </a:lnTo>
                  <a:lnTo>
                    <a:pt x="188" y="211"/>
                  </a:lnTo>
                  <a:lnTo>
                    <a:pt x="194" y="232"/>
                  </a:lnTo>
                  <a:lnTo>
                    <a:pt x="215" y="246"/>
                  </a:lnTo>
                  <a:lnTo>
                    <a:pt x="217" y="258"/>
                  </a:lnTo>
                  <a:lnTo>
                    <a:pt x="227" y="265"/>
                  </a:lnTo>
                  <a:lnTo>
                    <a:pt x="221" y="281"/>
                  </a:lnTo>
                  <a:lnTo>
                    <a:pt x="215" y="297"/>
                  </a:lnTo>
                  <a:lnTo>
                    <a:pt x="202" y="300"/>
                  </a:lnTo>
                  <a:lnTo>
                    <a:pt x="190" y="304"/>
                  </a:lnTo>
                  <a:lnTo>
                    <a:pt x="176" y="306"/>
                  </a:lnTo>
                  <a:lnTo>
                    <a:pt x="164" y="310"/>
                  </a:lnTo>
                  <a:lnTo>
                    <a:pt x="152" y="309"/>
                  </a:lnTo>
                  <a:lnTo>
                    <a:pt x="156" y="315"/>
                  </a:lnTo>
                  <a:lnTo>
                    <a:pt x="160" y="337"/>
                  </a:lnTo>
                  <a:lnTo>
                    <a:pt x="156" y="3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6" name="Freeform 245"/>
            <p:cNvSpPr>
              <a:spLocks/>
            </p:cNvSpPr>
            <p:nvPr/>
          </p:nvSpPr>
          <p:spPr bwMode="auto">
            <a:xfrm>
              <a:off x="1502" y="3750"/>
              <a:ext cx="67" cy="44"/>
            </a:xfrm>
            <a:custGeom>
              <a:avLst/>
              <a:gdLst/>
              <a:ahLst/>
              <a:cxnLst>
                <a:cxn ang="0">
                  <a:pos x="5" y="8"/>
                </a:cxn>
                <a:cxn ang="0">
                  <a:pos x="0" y="0"/>
                </a:cxn>
                <a:cxn ang="0">
                  <a:pos x="7" y="19"/>
                </a:cxn>
                <a:cxn ang="0">
                  <a:pos x="15" y="38"/>
                </a:cxn>
                <a:cxn ang="0">
                  <a:pos x="37" y="38"/>
                </a:cxn>
                <a:cxn ang="0">
                  <a:pos x="59" y="39"/>
                </a:cxn>
                <a:cxn ang="0">
                  <a:pos x="57" y="34"/>
                </a:cxn>
                <a:cxn ang="0">
                  <a:pos x="26" y="24"/>
                </a:cxn>
                <a:cxn ang="0">
                  <a:pos x="5" y="8"/>
                </a:cxn>
              </a:cxnLst>
              <a:rect l="0" t="0" r="r" b="b"/>
              <a:pathLst>
                <a:path w="59" h="39">
                  <a:moveTo>
                    <a:pt x="5" y="8"/>
                  </a:moveTo>
                  <a:lnTo>
                    <a:pt x="0" y="0"/>
                  </a:lnTo>
                  <a:lnTo>
                    <a:pt x="7" y="19"/>
                  </a:lnTo>
                  <a:lnTo>
                    <a:pt x="15" y="38"/>
                  </a:lnTo>
                  <a:lnTo>
                    <a:pt x="37" y="38"/>
                  </a:lnTo>
                  <a:lnTo>
                    <a:pt x="59" y="39"/>
                  </a:lnTo>
                  <a:lnTo>
                    <a:pt x="57" y="34"/>
                  </a:lnTo>
                  <a:lnTo>
                    <a:pt x="26" y="24"/>
                  </a:lnTo>
                  <a:lnTo>
                    <a:pt x="5" y="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7" name="Freeform 246"/>
            <p:cNvSpPr>
              <a:spLocks/>
            </p:cNvSpPr>
            <p:nvPr/>
          </p:nvSpPr>
          <p:spPr bwMode="auto">
            <a:xfrm>
              <a:off x="1309" y="3054"/>
              <a:ext cx="193" cy="720"/>
            </a:xfrm>
            <a:custGeom>
              <a:avLst/>
              <a:gdLst/>
              <a:ahLst/>
              <a:cxnLst>
                <a:cxn ang="0">
                  <a:pos x="18" y="257"/>
                </a:cxn>
                <a:cxn ang="0">
                  <a:pos x="20" y="300"/>
                </a:cxn>
                <a:cxn ang="0">
                  <a:pos x="15" y="348"/>
                </a:cxn>
                <a:cxn ang="0">
                  <a:pos x="22" y="384"/>
                </a:cxn>
                <a:cxn ang="0">
                  <a:pos x="33" y="432"/>
                </a:cxn>
                <a:cxn ang="0">
                  <a:pos x="46" y="432"/>
                </a:cxn>
                <a:cxn ang="0">
                  <a:pos x="54" y="444"/>
                </a:cxn>
                <a:cxn ang="0">
                  <a:pos x="54" y="459"/>
                </a:cxn>
                <a:cxn ang="0">
                  <a:pos x="63" y="484"/>
                </a:cxn>
                <a:cxn ang="0">
                  <a:pos x="61" y="500"/>
                </a:cxn>
                <a:cxn ang="0">
                  <a:pos x="62" y="514"/>
                </a:cxn>
                <a:cxn ang="0">
                  <a:pos x="57" y="515"/>
                </a:cxn>
                <a:cxn ang="0">
                  <a:pos x="49" y="509"/>
                </a:cxn>
                <a:cxn ang="0">
                  <a:pos x="39" y="524"/>
                </a:cxn>
                <a:cxn ang="0">
                  <a:pos x="63" y="532"/>
                </a:cxn>
                <a:cxn ang="0">
                  <a:pos x="56" y="542"/>
                </a:cxn>
                <a:cxn ang="0">
                  <a:pos x="75" y="545"/>
                </a:cxn>
                <a:cxn ang="0">
                  <a:pos x="61" y="546"/>
                </a:cxn>
                <a:cxn ang="0">
                  <a:pos x="75" y="576"/>
                </a:cxn>
                <a:cxn ang="0">
                  <a:pos x="84" y="588"/>
                </a:cxn>
                <a:cxn ang="0">
                  <a:pos x="96" y="604"/>
                </a:cxn>
                <a:cxn ang="0">
                  <a:pos x="102" y="614"/>
                </a:cxn>
                <a:cxn ang="0">
                  <a:pos x="111" y="629"/>
                </a:cxn>
                <a:cxn ang="0">
                  <a:pos x="118" y="636"/>
                </a:cxn>
                <a:cxn ang="0">
                  <a:pos x="148" y="626"/>
                </a:cxn>
                <a:cxn ang="0">
                  <a:pos x="151" y="615"/>
                </a:cxn>
                <a:cxn ang="0">
                  <a:pos x="106" y="591"/>
                </a:cxn>
                <a:cxn ang="0">
                  <a:pos x="93" y="558"/>
                </a:cxn>
                <a:cxn ang="0">
                  <a:pos x="86" y="501"/>
                </a:cxn>
                <a:cxn ang="0">
                  <a:pos x="86" y="485"/>
                </a:cxn>
                <a:cxn ang="0">
                  <a:pos x="61" y="450"/>
                </a:cxn>
                <a:cxn ang="0">
                  <a:pos x="52" y="393"/>
                </a:cxn>
                <a:cxn ang="0">
                  <a:pos x="49" y="357"/>
                </a:cxn>
                <a:cxn ang="0">
                  <a:pos x="49" y="317"/>
                </a:cxn>
                <a:cxn ang="0">
                  <a:pos x="39" y="269"/>
                </a:cxn>
                <a:cxn ang="0">
                  <a:pos x="36" y="232"/>
                </a:cxn>
                <a:cxn ang="0">
                  <a:pos x="40" y="190"/>
                </a:cxn>
                <a:cxn ang="0">
                  <a:pos x="45" y="159"/>
                </a:cxn>
                <a:cxn ang="0">
                  <a:pos x="58" y="117"/>
                </a:cxn>
                <a:cxn ang="0">
                  <a:pos x="48" y="94"/>
                </a:cxn>
                <a:cxn ang="0">
                  <a:pos x="30" y="46"/>
                </a:cxn>
                <a:cxn ang="0">
                  <a:pos x="18" y="9"/>
                </a:cxn>
                <a:cxn ang="0">
                  <a:pos x="3" y="15"/>
                </a:cxn>
                <a:cxn ang="0">
                  <a:pos x="9" y="62"/>
                </a:cxn>
                <a:cxn ang="0">
                  <a:pos x="8" y="108"/>
                </a:cxn>
                <a:cxn ang="0">
                  <a:pos x="10" y="176"/>
                </a:cxn>
                <a:cxn ang="0">
                  <a:pos x="12" y="230"/>
                </a:cxn>
              </a:cxnLst>
              <a:rect l="0" t="0" r="r" b="b"/>
              <a:pathLst>
                <a:path w="175" h="647">
                  <a:moveTo>
                    <a:pt x="12" y="230"/>
                  </a:moveTo>
                  <a:lnTo>
                    <a:pt x="15" y="244"/>
                  </a:lnTo>
                  <a:lnTo>
                    <a:pt x="18" y="257"/>
                  </a:lnTo>
                  <a:lnTo>
                    <a:pt x="20" y="270"/>
                  </a:lnTo>
                  <a:lnTo>
                    <a:pt x="21" y="284"/>
                  </a:lnTo>
                  <a:lnTo>
                    <a:pt x="20" y="300"/>
                  </a:lnTo>
                  <a:lnTo>
                    <a:pt x="18" y="316"/>
                  </a:lnTo>
                  <a:lnTo>
                    <a:pt x="16" y="332"/>
                  </a:lnTo>
                  <a:lnTo>
                    <a:pt x="15" y="348"/>
                  </a:lnTo>
                  <a:lnTo>
                    <a:pt x="12" y="354"/>
                  </a:lnTo>
                  <a:lnTo>
                    <a:pt x="16" y="369"/>
                  </a:lnTo>
                  <a:lnTo>
                    <a:pt x="22" y="384"/>
                  </a:lnTo>
                  <a:lnTo>
                    <a:pt x="26" y="401"/>
                  </a:lnTo>
                  <a:lnTo>
                    <a:pt x="24" y="418"/>
                  </a:lnTo>
                  <a:lnTo>
                    <a:pt x="33" y="432"/>
                  </a:lnTo>
                  <a:lnTo>
                    <a:pt x="34" y="436"/>
                  </a:lnTo>
                  <a:lnTo>
                    <a:pt x="40" y="432"/>
                  </a:lnTo>
                  <a:lnTo>
                    <a:pt x="46" y="432"/>
                  </a:lnTo>
                  <a:lnTo>
                    <a:pt x="51" y="430"/>
                  </a:lnTo>
                  <a:lnTo>
                    <a:pt x="49" y="440"/>
                  </a:lnTo>
                  <a:lnTo>
                    <a:pt x="54" y="444"/>
                  </a:lnTo>
                  <a:lnTo>
                    <a:pt x="51" y="443"/>
                  </a:lnTo>
                  <a:lnTo>
                    <a:pt x="52" y="448"/>
                  </a:lnTo>
                  <a:lnTo>
                    <a:pt x="54" y="459"/>
                  </a:lnTo>
                  <a:lnTo>
                    <a:pt x="55" y="471"/>
                  </a:lnTo>
                  <a:lnTo>
                    <a:pt x="55" y="477"/>
                  </a:lnTo>
                  <a:lnTo>
                    <a:pt x="63" y="484"/>
                  </a:lnTo>
                  <a:lnTo>
                    <a:pt x="58" y="496"/>
                  </a:lnTo>
                  <a:lnTo>
                    <a:pt x="64" y="500"/>
                  </a:lnTo>
                  <a:lnTo>
                    <a:pt x="61" y="500"/>
                  </a:lnTo>
                  <a:lnTo>
                    <a:pt x="61" y="504"/>
                  </a:lnTo>
                  <a:lnTo>
                    <a:pt x="61" y="506"/>
                  </a:lnTo>
                  <a:lnTo>
                    <a:pt x="62" y="514"/>
                  </a:lnTo>
                  <a:lnTo>
                    <a:pt x="63" y="513"/>
                  </a:lnTo>
                  <a:lnTo>
                    <a:pt x="58" y="520"/>
                  </a:lnTo>
                  <a:lnTo>
                    <a:pt x="57" y="515"/>
                  </a:lnTo>
                  <a:lnTo>
                    <a:pt x="51" y="515"/>
                  </a:lnTo>
                  <a:lnTo>
                    <a:pt x="52" y="509"/>
                  </a:lnTo>
                  <a:lnTo>
                    <a:pt x="49" y="509"/>
                  </a:lnTo>
                  <a:lnTo>
                    <a:pt x="44" y="510"/>
                  </a:lnTo>
                  <a:lnTo>
                    <a:pt x="37" y="525"/>
                  </a:lnTo>
                  <a:lnTo>
                    <a:pt x="39" y="524"/>
                  </a:lnTo>
                  <a:lnTo>
                    <a:pt x="44" y="521"/>
                  </a:lnTo>
                  <a:lnTo>
                    <a:pt x="52" y="524"/>
                  </a:lnTo>
                  <a:lnTo>
                    <a:pt x="63" y="532"/>
                  </a:lnTo>
                  <a:lnTo>
                    <a:pt x="58" y="536"/>
                  </a:lnTo>
                  <a:lnTo>
                    <a:pt x="63" y="539"/>
                  </a:lnTo>
                  <a:lnTo>
                    <a:pt x="56" y="542"/>
                  </a:lnTo>
                  <a:lnTo>
                    <a:pt x="69" y="540"/>
                  </a:lnTo>
                  <a:lnTo>
                    <a:pt x="70" y="539"/>
                  </a:lnTo>
                  <a:lnTo>
                    <a:pt x="75" y="545"/>
                  </a:lnTo>
                  <a:lnTo>
                    <a:pt x="75" y="550"/>
                  </a:lnTo>
                  <a:lnTo>
                    <a:pt x="66" y="548"/>
                  </a:lnTo>
                  <a:lnTo>
                    <a:pt x="61" y="546"/>
                  </a:lnTo>
                  <a:lnTo>
                    <a:pt x="68" y="557"/>
                  </a:lnTo>
                  <a:lnTo>
                    <a:pt x="75" y="569"/>
                  </a:lnTo>
                  <a:lnTo>
                    <a:pt x="75" y="576"/>
                  </a:lnTo>
                  <a:lnTo>
                    <a:pt x="79" y="582"/>
                  </a:lnTo>
                  <a:lnTo>
                    <a:pt x="75" y="585"/>
                  </a:lnTo>
                  <a:lnTo>
                    <a:pt x="84" y="588"/>
                  </a:lnTo>
                  <a:lnTo>
                    <a:pt x="88" y="596"/>
                  </a:lnTo>
                  <a:lnTo>
                    <a:pt x="88" y="599"/>
                  </a:lnTo>
                  <a:lnTo>
                    <a:pt x="96" y="604"/>
                  </a:lnTo>
                  <a:lnTo>
                    <a:pt x="99" y="609"/>
                  </a:lnTo>
                  <a:lnTo>
                    <a:pt x="94" y="606"/>
                  </a:lnTo>
                  <a:lnTo>
                    <a:pt x="102" y="614"/>
                  </a:lnTo>
                  <a:lnTo>
                    <a:pt x="103" y="617"/>
                  </a:lnTo>
                  <a:lnTo>
                    <a:pt x="109" y="626"/>
                  </a:lnTo>
                  <a:lnTo>
                    <a:pt x="111" y="629"/>
                  </a:lnTo>
                  <a:lnTo>
                    <a:pt x="118" y="633"/>
                  </a:lnTo>
                  <a:lnTo>
                    <a:pt x="121" y="635"/>
                  </a:lnTo>
                  <a:lnTo>
                    <a:pt x="118" y="636"/>
                  </a:lnTo>
                  <a:lnTo>
                    <a:pt x="127" y="639"/>
                  </a:lnTo>
                  <a:lnTo>
                    <a:pt x="147" y="647"/>
                  </a:lnTo>
                  <a:lnTo>
                    <a:pt x="148" y="626"/>
                  </a:lnTo>
                  <a:lnTo>
                    <a:pt x="160" y="620"/>
                  </a:lnTo>
                  <a:lnTo>
                    <a:pt x="175" y="622"/>
                  </a:lnTo>
                  <a:lnTo>
                    <a:pt x="151" y="615"/>
                  </a:lnTo>
                  <a:lnTo>
                    <a:pt x="123" y="612"/>
                  </a:lnTo>
                  <a:lnTo>
                    <a:pt x="115" y="604"/>
                  </a:lnTo>
                  <a:lnTo>
                    <a:pt x="106" y="591"/>
                  </a:lnTo>
                  <a:lnTo>
                    <a:pt x="98" y="592"/>
                  </a:lnTo>
                  <a:lnTo>
                    <a:pt x="84" y="568"/>
                  </a:lnTo>
                  <a:lnTo>
                    <a:pt x="93" y="558"/>
                  </a:lnTo>
                  <a:lnTo>
                    <a:pt x="91" y="534"/>
                  </a:lnTo>
                  <a:lnTo>
                    <a:pt x="87" y="514"/>
                  </a:lnTo>
                  <a:lnTo>
                    <a:pt x="86" y="501"/>
                  </a:lnTo>
                  <a:lnTo>
                    <a:pt x="82" y="492"/>
                  </a:lnTo>
                  <a:lnTo>
                    <a:pt x="76" y="489"/>
                  </a:lnTo>
                  <a:lnTo>
                    <a:pt x="86" y="485"/>
                  </a:lnTo>
                  <a:lnTo>
                    <a:pt x="74" y="479"/>
                  </a:lnTo>
                  <a:lnTo>
                    <a:pt x="68" y="460"/>
                  </a:lnTo>
                  <a:lnTo>
                    <a:pt x="61" y="450"/>
                  </a:lnTo>
                  <a:lnTo>
                    <a:pt x="60" y="436"/>
                  </a:lnTo>
                  <a:lnTo>
                    <a:pt x="54" y="412"/>
                  </a:lnTo>
                  <a:lnTo>
                    <a:pt x="52" y="393"/>
                  </a:lnTo>
                  <a:lnTo>
                    <a:pt x="55" y="382"/>
                  </a:lnTo>
                  <a:lnTo>
                    <a:pt x="54" y="371"/>
                  </a:lnTo>
                  <a:lnTo>
                    <a:pt x="49" y="357"/>
                  </a:lnTo>
                  <a:lnTo>
                    <a:pt x="45" y="341"/>
                  </a:lnTo>
                  <a:lnTo>
                    <a:pt x="52" y="329"/>
                  </a:lnTo>
                  <a:lnTo>
                    <a:pt x="49" y="317"/>
                  </a:lnTo>
                  <a:lnTo>
                    <a:pt x="51" y="294"/>
                  </a:lnTo>
                  <a:lnTo>
                    <a:pt x="46" y="284"/>
                  </a:lnTo>
                  <a:lnTo>
                    <a:pt x="39" y="269"/>
                  </a:lnTo>
                  <a:lnTo>
                    <a:pt x="32" y="255"/>
                  </a:lnTo>
                  <a:lnTo>
                    <a:pt x="33" y="243"/>
                  </a:lnTo>
                  <a:lnTo>
                    <a:pt x="36" y="232"/>
                  </a:lnTo>
                  <a:lnTo>
                    <a:pt x="34" y="219"/>
                  </a:lnTo>
                  <a:lnTo>
                    <a:pt x="34" y="206"/>
                  </a:lnTo>
                  <a:lnTo>
                    <a:pt x="40" y="190"/>
                  </a:lnTo>
                  <a:lnTo>
                    <a:pt x="46" y="173"/>
                  </a:lnTo>
                  <a:lnTo>
                    <a:pt x="51" y="168"/>
                  </a:lnTo>
                  <a:lnTo>
                    <a:pt x="45" y="159"/>
                  </a:lnTo>
                  <a:lnTo>
                    <a:pt x="43" y="134"/>
                  </a:lnTo>
                  <a:lnTo>
                    <a:pt x="45" y="124"/>
                  </a:lnTo>
                  <a:lnTo>
                    <a:pt x="58" y="117"/>
                  </a:lnTo>
                  <a:lnTo>
                    <a:pt x="62" y="99"/>
                  </a:lnTo>
                  <a:lnTo>
                    <a:pt x="58" y="95"/>
                  </a:lnTo>
                  <a:lnTo>
                    <a:pt x="48" y="94"/>
                  </a:lnTo>
                  <a:lnTo>
                    <a:pt x="42" y="78"/>
                  </a:lnTo>
                  <a:lnTo>
                    <a:pt x="34" y="62"/>
                  </a:lnTo>
                  <a:lnTo>
                    <a:pt x="30" y="46"/>
                  </a:lnTo>
                  <a:lnTo>
                    <a:pt x="31" y="33"/>
                  </a:lnTo>
                  <a:lnTo>
                    <a:pt x="22" y="21"/>
                  </a:lnTo>
                  <a:lnTo>
                    <a:pt x="18" y="9"/>
                  </a:lnTo>
                  <a:lnTo>
                    <a:pt x="13" y="0"/>
                  </a:lnTo>
                  <a:lnTo>
                    <a:pt x="9" y="8"/>
                  </a:lnTo>
                  <a:lnTo>
                    <a:pt x="3" y="15"/>
                  </a:lnTo>
                  <a:lnTo>
                    <a:pt x="0" y="16"/>
                  </a:lnTo>
                  <a:lnTo>
                    <a:pt x="4" y="39"/>
                  </a:lnTo>
                  <a:lnTo>
                    <a:pt x="9" y="62"/>
                  </a:lnTo>
                  <a:lnTo>
                    <a:pt x="9" y="81"/>
                  </a:lnTo>
                  <a:lnTo>
                    <a:pt x="8" y="100"/>
                  </a:lnTo>
                  <a:lnTo>
                    <a:pt x="8" y="108"/>
                  </a:lnTo>
                  <a:lnTo>
                    <a:pt x="10" y="131"/>
                  </a:lnTo>
                  <a:lnTo>
                    <a:pt x="12" y="150"/>
                  </a:lnTo>
                  <a:lnTo>
                    <a:pt x="10" y="176"/>
                  </a:lnTo>
                  <a:lnTo>
                    <a:pt x="10" y="201"/>
                  </a:lnTo>
                  <a:lnTo>
                    <a:pt x="12" y="213"/>
                  </a:lnTo>
                  <a:lnTo>
                    <a:pt x="12" y="23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8" name="Freeform 247"/>
            <p:cNvSpPr>
              <a:spLocks/>
            </p:cNvSpPr>
            <p:nvPr/>
          </p:nvSpPr>
          <p:spPr bwMode="auto">
            <a:xfrm>
              <a:off x="1469" y="3747"/>
              <a:ext cx="51" cy="45"/>
            </a:xfrm>
            <a:custGeom>
              <a:avLst/>
              <a:gdLst/>
              <a:ahLst/>
              <a:cxnLst>
                <a:cxn ang="0">
                  <a:pos x="31" y="2"/>
                </a:cxn>
                <a:cxn ang="0">
                  <a:pos x="38" y="21"/>
                </a:cxn>
                <a:cxn ang="0">
                  <a:pos x="46" y="40"/>
                </a:cxn>
                <a:cxn ang="0">
                  <a:pos x="42" y="39"/>
                </a:cxn>
                <a:cxn ang="0">
                  <a:pos x="34" y="40"/>
                </a:cxn>
                <a:cxn ang="0">
                  <a:pos x="19" y="38"/>
                </a:cxn>
                <a:cxn ang="0">
                  <a:pos x="13" y="38"/>
                </a:cxn>
                <a:cxn ang="0">
                  <a:pos x="0" y="36"/>
                </a:cxn>
                <a:cxn ang="0">
                  <a:pos x="3" y="34"/>
                </a:cxn>
                <a:cxn ang="0">
                  <a:pos x="12" y="32"/>
                </a:cxn>
                <a:cxn ang="0">
                  <a:pos x="16" y="34"/>
                </a:cxn>
                <a:cxn ang="0">
                  <a:pos x="20" y="34"/>
                </a:cxn>
                <a:cxn ang="0">
                  <a:pos x="13" y="30"/>
                </a:cxn>
                <a:cxn ang="0">
                  <a:pos x="22" y="32"/>
                </a:cxn>
                <a:cxn ang="0">
                  <a:pos x="27" y="33"/>
                </a:cxn>
                <a:cxn ang="0">
                  <a:pos x="34" y="34"/>
                </a:cxn>
                <a:cxn ang="0">
                  <a:pos x="37" y="35"/>
                </a:cxn>
                <a:cxn ang="0">
                  <a:pos x="19" y="24"/>
                </a:cxn>
                <a:cxn ang="0">
                  <a:pos x="26" y="16"/>
                </a:cxn>
                <a:cxn ang="0">
                  <a:pos x="15" y="16"/>
                </a:cxn>
                <a:cxn ang="0">
                  <a:pos x="10" y="3"/>
                </a:cxn>
                <a:cxn ang="0">
                  <a:pos x="16" y="0"/>
                </a:cxn>
                <a:cxn ang="0">
                  <a:pos x="31" y="2"/>
                </a:cxn>
              </a:cxnLst>
              <a:rect l="0" t="0" r="r" b="b"/>
              <a:pathLst>
                <a:path w="46" h="40">
                  <a:moveTo>
                    <a:pt x="31" y="2"/>
                  </a:moveTo>
                  <a:lnTo>
                    <a:pt x="38" y="21"/>
                  </a:lnTo>
                  <a:lnTo>
                    <a:pt x="46" y="40"/>
                  </a:lnTo>
                  <a:lnTo>
                    <a:pt x="42" y="39"/>
                  </a:lnTo>
                  <a:lnTo>
                    <a:pt x="34" y="40"/>
                  </a:lnTo>
                  <a:lnTo>
                    <a:pt x="19" y="38"/>
                  </a:lnTo>
                  <a:lnTo>
                    <a:pt x="13" y="38"/>
                  </a:lnTo>
                  <a:lnTo>
                    <a:pt x="0" y="36"/>
                  </a:lnTo>
                  <a:lnTo>
                    <a:pt x="3" y="34"/>
                  </a:lnTo>
                  <a:lnTo>
                    <a:pt x="12" y="32"/>
                  </a:lnTo>
                  <a:lnTo>
                    <a:pt x="16" y="34"/>
                  </a:lnTo>
                  <a:lnTo>
                    <a:pt x="20" y="34"/>
                  </a:lnTo>
                  <a:lnTo>
                    <a:pt x="13" y="30"/>
                  </a:lnTo>
                  <a:lnTo>
                    <a:pt x="22" y="32"/>
                  </a:lnTo>
                  <a:lnTo>
                    <a:pt x="27" y="33"/>
                  </a:lnTo>
                  <a:lnTo>
                    <a:pt x="34" y="34"/>
                  </a:lnTo>
                  <a:lnTo>
                    <a:pt x="37" y="35"/>
                  </a:lnTo>
                  <a:lnTo>
                    <a:pt x="19" y="24"/>
                  </a:lnTo>
                  <a:lnTo>
                    <a:pt x="26" y="16"/>
                  </a:lnTo>
                  <a:lnTo>
                    <a:pt x="15" y="16"/>
                  </a:lnTo>
                  <a:lnTo>
                    <a:pt x="10" y="3"/>
                  </a:lnTo>
                  <a:lnTo>
                    <a:pt x="16" y="0"/>
                  </a:lnTo>
                  <a:lnTo>
                    <a:pt x="3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9" name="Freeform 248"/>
            <p:cNvSpPr>
              <a:spLocks/>
            </p:cNvSpPr>
            <p:nvPr/>
          </p:nvSpPr>
          <p:spPr bwMode="auto">
            <a:xfrm>
              <a:off x="1340" y="3538"/>
              <a:ext cx="16" cy="32"/>
            </a:xfrm>
            <a:custGeom>
              <a:avLst/>
              <a:gdLst/>
              <a:ahLst/>
              <a:cxnLst>
                <a:cxn ang="0">
                  <a:pos x="5" y="0"/>
                </a:cxn>
                <a:cxn ang="0">
                  <a:pos x="0" y="4"/>
                </a:cxn>
                <a:cxn ang="0">
                  <a:pos x="6" y="28"/>
                </a:cxn>
                <a:cxn ang="0">
                  <a:pos x="12" y="25"/>
                </a:cxn>
                <a:cxn ang="0">
                  <a:pos x="14" y="20"/>
                </a:cxn>
                <a:cxn ang="0">
                  <a:pos x="10" y="10"/>
                </a:cxn>
                <a:cxn ang="0">
                  <a:pos x="12" y="8"/>
                </a:cxn>
                <a:cxn ang="0">
                  <a:pos x="5" y="0"/>
                </a:cxn>
              </a:cxnLst>
              <a:rect l="0" t="0" r="r" b="b"/>
              <a:pathLst>
                <a:path w="14" h="28">
                  <a:moveTo>
                    <a:pt x="5" y="0"/>
                  </a:moveTo>
                  <a:lnTo>
                    <a:pt x="0" y="4"/>
                  </a:lnTo>
                  <a:lnTo>
                    <a:pt x="6" y="28"/>
                  </a:lnTo>
                  <a:lnTo>
                    <a:pt x="12" y="25"/>
                  </a:lnTo>
                  <a:lnTo>
                    <a:pt x="14" y="20"/>
                  </a:lnTo>
                  <a:lnTo>
                    <a:pt x="10" y="10"/>
                  </a:lnTo>
                  <a:lnTo>
                    <a:pt x="12" y="8"/>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0" name="Freeform 249"/>
            <p:cNvSpPr>
              <a:spLocks/>
            </p:cNvSpPr>
            <p:nvPr/>
          </p:nvSpPr>
          <p:spPr bwMode="auto">
            <a:xfrm>
              <a:off x="1374" y="3676"/>
              <a:ext cx="15" cy="25"/>
            </a:xfrm>
            <a:custGeom>
              <a:avLst/>
              <a:gdLst/>
              <a:ahLst/>
              <a:cxnLst>
                <a:cxn ang="0">
                  <a:pos x="7" y="0"/>
                </a:cxn>
                <a:cxn ang="0">
                  <a:pos x="0" y="8"/>
                </a:cxn>
                <a:cxn ang="0">
                  <a:pos x="9" y="18"/>
                </a:cxn>
                <a:cxn ang="0">
                  <a:pos x="13" y="21"/>
                </a:cxn>
                <a:cxn ang="0">
                  <a:pos x="15" y="14"/>
                </a:cxn>
                <a:cxn ang="0">
                  <a:pos x="7" y="0"/>
                </a:cxn>
              </a:cxnLst>
              <a:rect l="0" t="0" r="r" b="b"/>
              <a:pathLst>
                <a:path w="15" h="21">
                  <a:moveTo>
                    <a:pt x="7" y="0"/>
                  </a:moveTo>
                  <a:lnTo>
                    <a:pt x="0" y="8"/>
                  </a:lnTo>
                  <a:lnTo>
                    <a:pt x="9" y="18"/>
                  </a:lnTo>
                  <a:lnTo>
                    <a:pt x="13" y="21"/>
                  </a:lnTo>
                  <a:lnTo>
                    <a:pt x="15" y="14"/>
                  </a:lnTo>
                  <a:lnTo>
                    <a:pt x="7"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1" name="Freeform 250"/>
            <p:cNvSpPr>
              <a:spLocks/>
            </p:cNvSpPr>
            <p:nvPr/>
          </p:nvSpPr>
          <p:spPr bwMode="auto">
            <a:xfrm>
              <a:off x="1107" y="2676"/>
              <a:ext cx="100" cy="129"/>
            </a:xfrm>
            <a:custGeom>
              <a:avLst/>
              <a:gdLst/>
              <a:ahLst/>
              <a:cxnLst>
                <a:cxn ang="0">
                  <a:pos x="0" y="45"/>
                </a:cxn>
                <a:cxn ang="0">
                  <a:pos x="3" y="63"/>
                </a:cxn>
                <a:cxn ang="0">
                  <a:pos x="0" y="67"/>
                </a:cxn>
                <a:cxn ang="0">
                  <a:pos x="11" y="72"/>
                </a:cxn>
                <a:cxn ang="0">
                  <a:pos x="15" y="67"/>
                </a:cxn>
                <a:cxn ang="0">
                  <a:pos x="16" y="71"/>
                </a:cxn>
                <a:cxn ang="0">
                  <a:pos x="16" y="83"/>
                </a:cxn>
                <a:cxn ang="0">
                  <a:pos x="10" y="85"/>
                </a:cxn>
                <a:cxn ang="0">
                  <a:pos x="11" y="96"/>
                </a:cxn>
                <a:cxn ang="0">
                  <a:pos x="7" y="104"/>
                </a:cxn>
                <a:cxn ang="0">
                  <a:pos x="13" y="102"/>
                </a:cxn>
                <a:cxn ang="0">
                  <a:pos x="30" y="115"/>
                </a:cxn>
                <a:cxn ang="0">
                  <a:pos x="35" y="108"/>
                </a:cxn>
                <a:cxn ang="0">
                  <a:pos x="37" y="101"/>
                </a:cxn>
                <a:cxn ang="0">
                  <a:pos x="41" y="95"/>
                </a:cxn>
                <a:cxn ang="0">
                  <a:pos x="43" y="84"/>
                </a:cxn>
                <a:cxn ang="0">
                  <a:pos x="45" y="84"/>
                </a:cxn>
                <a:cxn ang="0">
                  <a:pos x="46" y="86"/>
                </a:cxn>
                <a:cxn ang="0">
                  <a:pos x="48" y="86"/>
                </a:cxn>
                <a:cxn ang="0">
                  <a:pos x="47" y="83"/>
                </a:cxn>
                <a:cxn ang="0">
                  <a:pos x="51" y="79"/>
                </a:cxn>
                <a:cxn ang="0">
                  <a:pos x="60" y="74"/>
                </a:cxn>
                <a:cxn ang="0">
                  <a:pos x="77" y="63"/>
                </a:cxn>
                <a:cxn ang="0">
                  <a:pos x="87" y="42"/>
                </a:cxn>
                <a:cxn ang="0">
                  <a:pos x="90" y="43"/>
                </a:cxn>
                <a:cxn ang="0">
                  <a:pos x="84" y="29"/>
                </a:cxn>
                <a:cxn ang="0">
                  <a:pos x="89" y="27"/>
                </a:cxn>
                <a:cxn ang="0">
                  <a:pos x="71" y="18"/>
                </a:cxn>
                <a:cxn ang="0">
                  <a:pos x="55" y="18"/>
                </a:cxn>
                <a:cxn ang="0">
                  <a:pos x="46" y="9"/>
                </a:cxn>
                <a:cxn ang="0">
                  <a:pos x="33" y="0"/>
                </a:cxn>
                <a:cxn ang="0">
                  <a:pos x="27" y="6"/>
                </a:cxn>
                <a:cxn ang="0">
                  <a:pos x="12" y="13"/>
                </a:cxn>
                <a:cxn ang="0">
                  <a:pos x="9" y="27"/>
                </a:cxn>
                <a:cxn ang="0">
                  <a:pos x="7" y="36"/>
                </a:cxn>
                <a:cxn ang="0">
                  <a:pos x="0" y="45"/>
                </a:cxn>
              </a:cxnLst>
              <a:rect l="0" t="0" r="r" b="b"/>
              <a:pathLst>
                <a:path w="90" h="115">
                  <a:moveTo>
                    <a:pt x="0" y="45"/>
                  </a:moveTo>
                  <a:lnTo>
                    <a:pt x="3" y="63"/>
                  </a:lnTo>
                  <a:lnTo>
                    <a:pt x="0" y="67"/>
                  </a:lnTo>
                  <a:lnTo>
                    <a:pt x="11" y="72"/>
                  </a:lnTo>
                  <a:lnTo>
                    <a:pt x="15" y="67"/>
                  </a:lnTo>
                  <a:lnTo>
                    <a:pt x="16" y="71"/>
                  </a:lnTo>
                  <a:lnTo>
                    <a:pt x="16" y="83"/>
                  </a:lnTo>
                  <a:lnTo>
                    <a:pt x="10" y="85"/>
                  </a:lnTo>
                  <a:lnTo>
                    <a:pt x="11" y="96"/>
                  </a:lnTo>
                  <a:lnTo>
                    <a:pt x="7" y="104"/>
                  </a:lnTo>
                  <a:lnTo>
                    <a:pt x="13" y="102"/>
                  </a:lnTo>
                  <a:lnTo>
                    <a:pt x="30" y="115"/>
                  </a:lnTo>
                  <a:lnTo>
                    <a:pt x="35" y="108"/>
                  </a:lnTo>
                  <a:lnTo>
                    <a:pt x="37" y="101"/>
                  </a:lnTo>
                  <a:lnTo>
                    <a:pt x="41" y="95"/>
                  </a:lnTo>
                  <a:lnTo>
                    <a:pt x="43" y="84"/>
                  </a:lnTo>
                  <a:lnTo>
                    <a:pt x="45" y="84"/>
                  </a:lnTo>
                  <a:lnTo>
                    <a:pt x="46" y="86"/>
                  </a:lnTo>
                  <a:lnTo>
                    <a:pt x="48" y="86"/>
                  </a:lnTo>
                  <a:lnTo>
                    <a:pt x="47" y="83"/>
                  </a:lnTo>
                  <a:lnTo>
                    <a:pt x="51" y="79"/>
                  </a:lnTo>
                  <a:lnTo>
                    <a:pt x="60" y="74"/>
                  </a:lnTo>
                  <a:lnTo>
                    <a:pt x="77" y="63"/>
                  </a:lnTo>
                  <a:lnTo>
                    <a:pt x="87" y="42"/>
                  </a:lnTo>
                  <a:lnTo>
                    <a:pt x="90" y="43"/>
                  </a:lnTo>
                  <a:lnTo>
                    <a:pt x="84" y="29"/>
                  </a:lnTo>
                  <a:lnTo>
                    <a:pt x="89" y="27"/>
                  </a:lnTo>
                  <a:lnTo>
                    <a:pt x="71" y="18"/>
                  </a:lnTo>
                  <a:lnTo>
                    <a:pt x="55" y="18"/>
                  </a:lnTo>
                  <a:lnTo>
                    <a:pt x="46" y="9"/>
                  </a:lnTo>
                  <a:lnTo>
                    <a:pt x="33" y="0"/>
                  </a:lnTo>
                  <a:lnTo>
                    <a:pt x="27" y="6"/>
                  </a:lnTo>
                  <a:lnTo>
                    <a:pt x="12" y="13"/>
                  </a:lnTo>
                  <a:lnTo>
                    <a:pt x="9" y="27"/>
                  </a:lnTo>
                  <a:lnTo>
                    <a:pt x="7" y="36"/>
                  </a:lnTo>
                  <a:lnTo>
                    <a:pt x="0" y="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2" name="Freeform 251"/>
            <p:cNvSpPr>
              <a:spLocks/>
            </p:cNvSpPr>
            <p:nvPr/>
          </p:nvSpPr>
          <p:spPr bwMode="auto">
            <a:xfrm>
              <a:off x="1120" y="2761"/>
              <a:ext cx="3" cy="2"/>
            </a:xfrm>
            <a:custGeom>
              <a:avLst/>
              <a:gdLst/>
              <a:ahLst/>
              <a:cxnLst>
                <a:cxn ang="0">
                  <a:pos x="4" y="0"/>
                </a:cxn>
                <a:cxn ang="0">
                  <a:pos x="1" y="3"/>
                </a:cxn>
                <a:cxn ang="0">
                  <a:pos x="0" y="0"/>
                </a:cxn>
                <a:cxn ang="0">
                  <a:pos x="4" y="0"/>
                </a:cxn>
              </a:cxnLst>
              <a:rect l="0" t="0" r="r" b="b"/>
              <a:pathLst>
                <a:path w="4" h="3">
                  <a:moveTo>
                    <a:pt x="4" y="0"/>
                  </a:moveTo>
                  <a:lnTo>
                    <a:pt x="1" y="3"/>
                  </a:lnTo>
                  <a:lnTo>
                    <a:pt x="0" y="0"/>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3" name="Freeform 252"/>
            <p:cNvSpPr>
              <a:spLocks/>
            </p:cNvSpPr>
            <p:nvPr/>
          </p:nvSpPr>
          <p:spPr bwMode="auto">
            <a:xfrm>
              <a:off x="1100" y="2707"/>
              <a:ext cx="231" cy="365"/>
            </a:xfrm>
            <a:custGeom>
              <a:avLst/>
              <a:gdLst/>
              <a:ahLst/>
              <a:cxnLst>
                <a:cxn ang="0">
                  <a:pos x="201" y="259"/>
                </a:cxn>
                <a:cxn ang="0">
                  <a:pos x="203" y="289"/>
                </a:cxn>
                <a:cxn ang="0">
                  <a:pos x="201" y="306"/>
                </a:cxn>
                <a:cxn ang="0">
                  <a:pos x="197" y="321"/>
                </a:cxn>
                <a:cxn ang="0">
                  <a:pos x="188" y="329"/>
                </a:cxn>
                <a:cxn ang="0">
                  <a:pos x="171" y="311"/>
                </a:cxn>
                <a:cxn ang="0">
                  <a:pos x="143" y="295"/>
                </a:cxn>
                <a:cxn ang="0">
                  <a:pos x="117" y="280"/>
                </a:cxn>
                <a:cxn ang="0">
                  <a:pos x="89" y="253"/>
                </a:cxn>
                <a:cxn ang="0">
                  <a:pos x="78" y="225"/>
                </a:cxn>
                <a:cxn ang="0">
                  <a:pos x="60" y="192"/>
                </a:cxn>
                <a:cxn ang="0">
                  <a:pos x="47" y="167"/>
                </a:cxn>
                <a:cxn ang="0">
                  <a:pos x="34" y="141"/>
                </a:cxn>
                <a:cxn ang="0">
                  <a:pos x="16" y="118"/>
                </a:cxn>
                <a:cxn ang="0">
                  <a:pos x="5" y="105"/>
                </a:cxn>
                <a:cxn ang="0">
                  <a:pos x="8" y="70"/>
                </a:cxn>
                <a:cxn ang="0">
                  <a:pos x="16" y="70"/>
                </a:cxn>
                <a:cxn ang="0">
                  <a:pos x="18" y="76"/>
                </a:cxn>
                <a:cxn ang="0">
                  <a:pos x="40" y="82"/>
                </a:cxn>
                <a:cxn ang="0">
                  <a:pos x="46" y="69"/>
                </a:cxn>
                <a:cxn ang="0">
                  <a:pos x="50" y="58"/>
                </a:cxn>
                <a:cxn ang="0">
                  <a:pos x="53" y="60"/>
                </a:cxn>
                <a:cxn ang="0">
                  <a:pos x="56" y="53"/>
                </a:cxn>
                <a:cxn ang="0">
                  <a:pos x="82" y="37"/>
                </a:cxn>
                <a:cxn ang="0">
                  <a:pos x="95" y="17"/>
                </a:cxn>
                <a:cxn ang="0">
                  <a:pos x="94" y="1"/>
                </a:cxn>
                <a:cxn ang="0">
                  <a:pos x="104" y="9"/>
                </a:cxn>
                <a:cxn ang="0">
                  <a:pos x="125" y="31"/>
                </a:cxn>
                <a:cxn ang="0">
                  <a:pos x="148" y="40"/>
                </a:cxn>
                <a:cxn ang="0">
                  <a:pos x="176" y="46"/>
                </a:cxn>
                <a:cxn ang="0">
                  <a:pos x="179" y="75"/>
                </a:cxn>
                <a:cxn ang="0">
                  <a:pos x="161" y="78"/>
                </a:cxn>
                <a:cxn ang="0">
                  <a:pos x="136" y="90"/>
                </a:cxn>
                <a:cxn ang="0">
                  <a:pos x="128" y="118"/>
                </a:cxn>
                <a:cxn ang="0">
                  <a:pos x="126" y="145"/>
                </a:cxn>
                <a:cxn ang="0">
                  <a:pos x="132" y="167"/>
                </a:cxn>
                <a:cxn ang="0">
                  <a:pos x="148" y="175"/>
                </a:cxn>
                <a:cxn ang="0">
                  <a:pos x="172" y="169"/>
                </a:cxn>
                <a:cxn ang="0">
                  <a:pos x="174" y="197"/>
                </a:cxn>
                <a:cxn ang="0">
                  <a:pos x="198" y="209"/>
                </a:cxn>
                <a:cxn ang="0">
                  <a:pos x="204" y="228"/>
                </a:cxn>
              </a:cxnLst>
              <a:rect l="0" t="0" r="r" b="b"/>
              <a:pathLst>
                <a:path w="208" h="329">
                  <a:moveTo>
                    <a:pt x="204" y="250"/>
                  </a:moveTo>
                  <a:lnTo>
                    <a:pt x="201" y="259"/>
                  </a:lnTo>
                  <a:lnTo>
                    <a:pt x="201" y="274"/>
                  </a:lnTo>
                  <a:lnTo>
                    <a:pt x="203" y="289"/>
                  </a:lnTo>
                  <a:lnTo>
                    <a:pt x="208" y="291"/>
                  </a:lnTo>
                  <a:lnTo>
                    <a:pt x="201" y="306"/>
                  </a:lnTo>
                  <a:lnTo>
                    <a:pt x="201" y="313"/>
                  </a:lnTo>
                  <a:lnTo>
                    <a:pt x="197" y="321"/>
                  </a:lnTo>
                  <a:lnTo>
                    <a:pt x="191" y="328"/>
                  </a:lnTo>
                  <a:lnTo>
                    <a:pt x="188" y="329"/>
                  </a:lnTo>
                  <a:lnTo>
                    <a:pt x="178" y="321"/>
                  </a:lnTo>
                  <a:lnTo>
                    <a:pt x="171" y="311"/>
                  </a:lnTo>
                  <a:lnTo>
                    <a:pt x="158" y="304"/>
                  </a:lnTo>
                  <a:lnTo>
                    <a:pt x="143" y="295"/>
                  </a:lnTo>
                  <a:lnTo>
                    <a:pt x="130" y="288"/>
                  </a:lnTo>
                  <a:lnTo>
                    <a:pt x="117" y="280"/>
                  </a:lnTo>
                  <a:lnTo>
                    <a:pt x="102" y="267"/>
                  </a:lnTo>
                  <a:lnTo>
                    <a:pt x="89" y="253"/>
                  </a:lnTo>
                  <a:lnTo>
                    <a:pt x="89" y="244"/>
                  </a:lnTo>
                  <a:lnTo>
                    <a:pt x="78" y="225"/>
                  </a:lnTo>
                  <a:lnTo>
                    <a:pt x="69" y="204"/>
                  </a:lnTo>
                  <a:lnTo>
                    <a:pt x="60" y="192"/>
                  </a:lnTo>
                  <a:lnTo>
                    <a:pt x="53" y="180"/>
                  </a:lnTo>
                  <a:lnTo>
                    <a:pt x="47" y="167"/>
                  </a:lnTo>
                  <a:lnTo>
                    <a:pt x="40" y="154"/>
                  </a:lnTo>
                  <a:lnTo>
                    <a:pt x="34" y="141"/>
                  </a:lnTo>
                  <a:lnTo>
                    <a:pt x="27" y="127"/>
                  </a:lnTo>
                  <a:lnTo>
                    <a:pt x="16" y="118"/>
                  </a:lnTo>
                  <a:lnTo>
                    <a:pt x="4" y="109"/>
                  </a:lnTo>
                  <a:lnTo>
                    <a:pt x="5" y="105"/>
                  </a:lnTo>
                  <a:lnTo>
                    <a:pt x="0" y="81"/>
                  </a:lnTo>
                  <a:lnTo>
                    <a:pt x="8" y="70"/>
                  </a:lnTo>
                  <a:lnTo>
                    <a:pt x="15" y="59"/>
                  </a:lnTo>
                  <a:lnTo>
                    <a:pt x="16" y="70"/>
                  </a:lnTo>
                  <a:lnTo>
                    <a:pt x="12" y="78"/>
                  </a:lnTo>
                  <a:lnTo>
                    <a:pt x="18" y="76"/>
                  </a:lnTo>
                  <a:lnTo>
                    <a:pt x="35" y="89"/>
                  </a:lnTo>
                  <a:lnTo>
                    <a:pt x="40" y="82"/>
                  </a:lnTo>
                  <a:lnTo>
                    <a:pt x="42" y="75"/>
                  </a:lnTo>
                  <a:lnTo>
                    <a:pt x="46" y="69"/>
                  </a:lnTo>
                  <a:lnTo>
                    <a:pt x="48" y="58"/>
                  </a:lnTo>
                  <a:lnTo>
                    <a:pt x="50" y="58"/>
                  </a:lnTo>
                  <a:lnTo>
                    <a:pt x="51" y="60"/>
                  </a:lnTo>
                  <a:lnTo>
                    <a:pt x="53" y="60"/>
                  </a:lnTo>
                  <a:lnTo>
                    <a:pt x="52" y="57"/>
                  </a:lnTo>
                  <a:lnTo>
                    <a:pt x="56" y="53"/>
                  </a:lnTo>
                  <a:lnTo>
                    <a:pt x="65" y="48"/>
                  </a:lnTo>
                  <a:lnTo>
                    <a:pt x="82" y="37"/>
                  </a:lnTo>
                  <a:lnTo>
                    <a:pt x="92" y="16"/>
                  </a:lnTo>
                  <a:lnTo>
                    <a:pt x="95" y="17"/>
                  </a:lnTo>
                  <a:lnTo>
                    <a:pt x="89" y="3"/>
                  </a:lnTo>
                  <a:lnTo>
                    <a:pt x="94" y="1"/>
                  </a:lnTo>
                  <a:lnTo>
                    <a:pt x="95" y="0"/>
                  </a:lnTo>
                  <a:lnTo>
                    <a:pt x="104" y="9"/>
                  </a:lnTo>
                  <a:lnTo>
                    <a:pt x="113" y="17"/>
                  </a:lnTo>
                  <a:lnTo>
                    <a:pt x="125" y="31"/>
                  </a:lnTo>
                  <a:lnTo>
                    <a:pt x="128" y="40"/>
                  </a:lnTo>
                  <a:lnTo>
                    <a:pt x="148" y="40"/>
                  </a:lnTo>
                  <a:lnTo>
                    <a:pt x="160" y="41"/>
                  </a:lnTo>
                  <a:lnTo>
                    <a:pt x="176" y="46"/>
                  </a:lnTo>
                  <a:lnTo>
                    <a:pt x="170" y="67"/>
                  </a:lnTo>
                  <a:lnTo>
                    <a:pt x="179" y="75"/>
                  </a:lnTo>
                  <a:lnTo>
                    <a:pt x="174" y="75"/>
                  </a:lnTo>
                  <a:lnTo>
                    <a:pt x="161" y="78"/>
                  </a:lnTo>
                  <a:lnTo>
                    <a:pt x="148" y="84"/>
                  </a:lnTo>
                  <a:lnTo>
                    <a:pt x="136" y="90"/>
                  </a:lnTo>
                  <a:lnTo>
                    <a:pt x="131" y="103"/>
                  </a:lnTo>
                  <a:lnTo>
                    <a:pt x="128" y="118"/>
                  </a:lnTo>
                  <a:lnTo>
                    <a:pt x="119" y="132"/>
                  </a:lnTo>
                  <a:lnTo>
                    <a:pt x="126" y="145"/>
                  </a:lnTo>
                  <a:lnTo>
                    <a:pt x="134" y="159"/>
                  </a:lnTo>
                  <a:lnTo>
                    <a:pt x="132" y="167"/>
                  </a:lnTo>
                  <a:lnTo>
                    <a:pt x="140" y="168"/>
                  </a:lnTo>
                  <a:lnTo>
                    <a:pt x="148" y="175"/>
                  </a:lnTo>
                  <a:lnTo>
                    <a:pt x="161" y="179"/>
                  </a:lnTo>
                  <a:lnTo>
                    <a:pt x="172" y="169"/>
                  </a:lnTo>
                  <a:lnTo>
                    <a:pt x="173" y="184"/>
                  </a:lnTo>
                  <a:lnTo>
                    <a:pt x="174" y="197"/>
                  </a:lnTo>
                  <a:lnTo>
                    <a:pt x="191" y="196"/>
                  </a:lnTo>
                  <a:lnTo>
                    <a:pt x="198" y="209"/>
                  </a:lnTo>
                  <a:lnTo>
                    <a:pt x="207" y="223"/>
                  </a:lnTo>
                  <a:lnTo>
                    <a:pt x="204" y="228"/>
                  </a:lnTo>
                  <a:lnTo>
                    <a:pt x="204" y="25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4" name="Freeform 253"/>
            <p:cNvSpPr>
              <a:spLocks/>
            </p:cNvSpPr>
            <p:nvPr/>
          </p:nvSpPr>
          <p:spPr bwMode="auto">
            <a:xfrm>
              <a:off x="3731" y="1648"/>
              <a:ext cx="898" cy="653"/>
            </a:xfrm>
            <a:custGeom>
              <a:avLst/>
              <a:gdLst/>
              <a:ahLst/>
              <a:cxnLst>
                <a:cxn ang="0">
                  <a:pos x="324" y="454"/>
                </a:cxn>
                <a:cxn ang="0">
                  <a:pos x="270" y="453"/>
                </a:cxn>
                <a:cxn ang="0">
                  <a:pos x="205" y="432"/>
                </a:cxn>
                <a:cxn ang="0">
                  <a:pos x="155" y="412"/>
                </a:cxn>
                <a:cxn ang="0">
                  <a:pos x="106" y="369"/>
                </a:cxn>
                <a:cxn ang="0">
                  <a:pos x="107" y="337"/>
                </a:cxn>
                <a:cxn ang="0">
                  <a:pos x="94" y="321"/>
                </a:cxn>
                <a:cxn ang="0">
                  <a:pos x="43" y="293"/>
                </a:cxn>
                <a:cxn ang="0">
                  <a:pos x="31" y="283"/>
                </a:cxn>
                <a:cxn ang="0">
                  <a:pos x="17" y="227"/>
                </a:cxn>
                <a:cxn ang="0">
                  <a:pos x="68" y="204"/>
                </a:cxn>
                <a:cxn ang="0">
                  <a:pos x="72" y="166"/>
                </a:cxn>
                <a:cxn ang="0">
                  <a:pos x="88" y="137"/>
                </a:cxn>
                <a:cxn ang="0">
                  <a:pos x="113" y="91"/>
                </a:cxn>
                <a:cxn ang="0">
                  <a:pos x="144" y="82"/>
                </a:cxn>
                <a:cxn ang="0">
                  <a:pos x="208" y="141"/>
                </a:cxn>
                <a:cxn ang="0">
                  <a:pos x="295" y="173"/>
                </a:cxn>
                <a:cxn ang="0">
                  <a:pos x="389" y="191"/>
                </a:cxn>
                <a:cxn ang="0">
                  <a:pos x="452" y="201"/>
                </a:cxn>
                <a:cxn ang="0">
                  <a:pos x="523" y="169"/>
                </a:cxn>
                <a:cxn ang="0">
                  <a:pos x="560" y="138"/>
                </a:cxn>
                <a:cxn ang="0">
                  <a:pos x="569" y="93"/>
                </a:cxn>
                <a:cxn ang="0">
                  <a:pos x="533" y="89"/>
                </a:cxn>
                <a:cxn ang="0">
                  <a:pos x="556" y="41"/>
                </a:cxn>
                <a:cxn ang="0">
                  <a:pos x="566" y="0"/>
                </a:cxn>
                <a:cxn ang="0">
                  <a:pos x="662" y="48"/>
                </a:cxn>
                <a:cxn ang="0">
                  <a:pos x="751" y="99"/>
                </a:cxn>
                <a:cxn ang="0">
                  <a:pos x="809" y="145"/>
                </a:cxn>
                <a:cxn ang="0">
                  <a:pos x="800" y="187"/>
                </a:cxn>
                <a:cxn ang="0">
                  <a:pos x="773" y="201"/>
                </a:cxn>
                <a:cxn ang="0">
                  <a:pos x="738" y="233"/>
                </a:cxn>
                <a:cxn ang="0">
                  <a:pos x="707" y="246"/>
                </a:cxn>
                <a:cxn ang="0">
                  <a:pos x="676" y="233"/>
                </a:cxn>
                <a:cxn ang="0">
                  <a:pos x="676" y="270"/>
                </a:cxn>
                <a:cxn ang="0">
                  <a:pos x="734" y="283"/>
                </a:cxn>
                <a:cxn ang="0">
                  <a:pos x="708" y="311"/>
                </a:cxn>
                <a:cxn ang="0">
                  <a:pos x="764" y="384"/>
                </a:cxn>
                <a:cxn ang="0">
                  <a:pos x="756" y="407"/>
                </a:cxn>
                <a:cxn ang="0">
                  <a:pos x="774" y="424"/>
                </a:cxn>
                <a:cxn ang="0">
                  <a:pos x="778" y="437"/>
                </a:cxn>
                <a:cxn ang="0">
                  <a:pos x="770" y="455"/>
                </a:cxn>
                <a:cxn ang="0">
                  <a:pos x="756" y="485"/>
                </a:cxn>
                <a:cxn ang="0">
                  <a:pos x="758" y="499"/>
                </a:cxn>
                <a:cxn ang="0">
                  <a:pos x="743" y="515"/>
                </a:cxn>
                <a:cxn ang="0">
                  <a:pos x="721" y="540"/>
                </a:cxn>
                <a:cxn ang="0">
                  <a:pos x="700" y="545"/>
                </a:cxn>
                <a:cxn ang="0">
                  <a:pos x="677" y="543"/>
                </a:cxn>
                <a:cxn ang="0">
                  <a:pos x="668" y="562"/>
                </a:cxn>
                <a:cxn ang="0">
                  <a:pos x="640" y="569"/>
                </a:cxn>
                <a:cxn ang="0">
                  <a:pos x="628" y="569"/>
                </a:cxn>
                <a:cxn ang="0">
                  <a:pos x="604" y="563"/>
                </a:cxn>
                <a:cxn ang="0">
                  <a:pos x="554" y="537"/>
                </a:cxn>
                <a:cxn ang="0">
                  <a:pos x="527" y="546"/>
                </a:cxn>
                <a:cxn ang="0">
                  <a:pos x="497" y="551"/>
                </a:cxn>
                <a:cxn ang="0">
                  <a:pos x="476" y="567"/>
                </a:cxn>
                <a:cxn ang="0">
                  <a:pos x="448" y="522"/>
                </a:cxn>
                <a:cxn ang="0">
                  <a:pos x="436" y="495"/>
                </a:cxn>
                <a:cxn ang="0">
                  <a:pos x="412" y="441"/>
                </a:cxn>
                <a:cxn ang="0">
                  <a:pos x="389" y="427"/>
                </a:cxn>
              </a:cxnLst>
              <a:rect l="0" t="0" r="r" b="b"/>
              <a:pathLst>
                <a:path w="809" h="588">
                  <a:moveTo>
                    <a:pt x="361" y="429"/>
                  </a:moveTo>
                  <a:lnTo>
                    <a:pt x="350" y="438"/>
                  </a:lnTo>
                  <a:lnTo>
                    <a:pt x="338" y="449"/>
                  </a:lnTo>
                  <a:lnTo>
                    <a:pt x="325" y="454"/>
                  </a:lnTo>
                  <a:lnTo>
                    <a:pt x="324" y="454"/>
                  </a:lnTo>
                  <a:lnTo>
                    <a:pt x="317" y="449"/>
                  </a:lnTo>
                  <a:lnTo>
                    <a:pt x="295" y="447"/>
                  </a:lnTo>
                  <a:lnTo>
                    <a:pt x="284" y="462"/>
                  </a:lnTo>
                  <a:lnTo>
                    <a:pt x="277" y="448"/>
                  </a:lnTo>
                  <a:lnTo>
                    <a:pt x="270" y="453"/>
                  </a:lnTo>
                  <a:lnTo>
                    <a:pt x="252" y="450"/>
                  </a:lnTo>
                  <a:lnTo>
                    <a:pt x="238" y="449"/>
                  </a:lnTo>
                  <a:lnTo>
                    <a:pt x="222" y="442"/>
                  </a:lnTo>
                  <a:lnTo>
                    <a:pt x="220" y="438"/>
                  </a:lnTo>
                  <a:lnTo>
                    <a:pt x="205" y="432"/>
                  </a:lnTo>
                  <a:lnTo>
                    <a:pt x="200" y="426"/>
                  </a:lnTo>
                  <a:lnTo>
                    <a:pt x="194" y="429"/>
                  </a:lnTo>
                  <a:lnTo>
                    <a:pt x="174" y="414"/>
                  </a:lnTo>
                  <a:lnTo>
                    <a:pt x="161" y="406"/>
                  </a:lnTo>
                  <a:lnTo>
                    <a:pt x="155" y="412"/>
                  </a:lnTo>
                  <a:lnTo>
                    <a:pt x="154" y="411"/>
                  </a:lnTo>
                  <a:lnTo>
                    <a:pt x="139" y="401"/>
                  </a:lnTo>
                  <a:lnTo>
                    <a:pt x="120" y="390"/>
                  </a:lnTo>
                  <a:lnTo>
                    <a:pt x="113" y="388"/>
                  </a:lnTo>
                  <a:lnTo>
                    <a:pt x="106" y="369"/>
                  </a:lnTo>
                  <a:lnTo>
                    <a:pt x="115" y="370"/>
                  </a:lnTo>
                  <a:lnTo>
                    <a:pt x="118" y="363"/>
                  </a:lnTo>
                  <a:lnTo>
                    <a:pt x="108" y="349"/>
                  </a:lnTo>
                  <a:lnTo>
                    <a:pt x="108" y="342"/>
                  </a:lnTo>
                  <a:lnTo>
                    <a:pt x="107" y="337"/>
                  </a:lnTo>
                  <a:lnTo>
                    <a:pt x="103" y="335"/>
                  </a:lnTo>
                  <a:lnTo>
                    <a:pt x="101" y="331"/>
                  </a:lnTo>
                  <a:lnTo>
                    <a:pt x="100" y="327"/>
                  </a:lnTo>
                  <a:lnTo>
                    <a:pt x="98" y="322"/>
                  </a:lnTo>
                  <a:lnTo>
                    <a:pt x="94" y="321"/>
                  </a:lnTo>
                  <a:lnTo>
                    <a:pt x="86" y="317"/>
                  </a:lnTo>
                  <a:lnTo>
                    <a:pt x="82" y="316"/>
                  </a:lnTo>
                  <a:lnTo>
                    <a:pt x="61" y="310"/>
                  </a:lnTo>
                  <a:lnTo>
                    <a:pt x="50" y="305"/>
                  </a:lnTo>
                  <a:lnTo>
                    <a:pt x="43" y="293"/>
                  </a:lnTo>
                  <a:lnTo>
                    <a:pt x="25" y="288"/>
                  </a:lnTo>
                  <a:lnTo>
                    <a:pt x="25" y="285"/>
                  </a:lnTo>
                  <a:lnTo>
                    <a:pt x="29" y="285"/>
                  </a:lnTo>
                  <a:lnTo>
                    <a:pt x="30" y="285"/>
                  </a:lnTo>
                  <a:lnTo>
                    <a:pt x="31" y="283"/>
                  </a:lnTo>
                  <a:lnTo>
                    <a:pt x="23" y="262"/>
                  </a:lnTo>
                  <a:lnTo>
                    <a:pt x="8" y="261"/>
                  </a:lnTo>
                  <a:lnTo>
                    <a:pt x="0" y="246"/>
                  </a:lnTo>
                  <a:lnTo>
                    <a:pt x="6" y="233"/>
                  </a:lnTo>
                  <a:lnTo>
                    <a:pt x="17" y="227"/>
                  </a:lnTo>
                  <a:lnTo>
                    <a:pt x="24" y="226"/>
                  </a:lnTo>
                  <a:lnTo>
                    <a:pt x="32" y="228"/>
                  </a:lnTo>
                  <a:lnTo>
                    <a:pt x="42" y="217"/>
                  </a:lnTo>
                  <a:lnTo>
                    <a:pt x="58" y="213"/>
                  </a:lnTo>
                  <a:lnTo>
                    <a:pt x="68" y="204"/>
                  </a:lnTo>
                  <a:lnTo>
                    <a:pt x="79" y="195"/>
                  </a:lnTo>
                  <a:lnTo>
                    <a:pt x="76" y="186"/>
                  </a:lnTo>
                  <a:lnTo>
                    <a:pt x="79" y="183"/>
                  </a:lnTo>
                  <a:lnTo>
                    <a:pt x="79" y="179"/>
                  </a:lnTo>
                  <a:lnTo>
                    <a:pt x="72" y="166"/>
                  </a:lnTo>
                  <a:lnTo>
                    <a:pt x="66" y="153"/>
                  </a:lnTo>
                  <a:lnTo>
                    <a:pt x="56" y="149"/>
                  </a:lnTo>
                  <a:lnTo>
                    <a:pt x="73" y="142"/>
                  </a:lnTo>
                  <a:lnTo>
                    <a:pt x="94" y="144"/>
                  </a:lnTo>
                  <a:lnTo>
                    <a:pt x="88" y="137"/>
                  </a:lnTo>
                  <a:lnTo>
                    <a:pt x="86" y="123"/>
                  </a:lnTo>
                  <a:lnTo>
                    <a:pt x="84" y="107"/>
                  </a:lnTo>
                  <a:lnTo>
                    <a:pt x="107" y="112"/>
                  </a:lnTo>
                  <a:lnTo>
                    <a:pt x="120" y="109"/>
                  </a:lnTo>
                  <a:lnTo>
                    <a:pt x="113" y="91"/>
                  </a:lnTo>
                  <a:lnTo>
                    <a:pt x="120" y="87"/>
                  </a:lnTo>
                  <a:lnTo>
                    <a:pt x="126" y="75"/>
                  </a:lnTo>
                  <a:lnTo>
                    <a:pt x="137" y="73"/>
                  </a:lnTo>
                  <a:lnTo>
                    <a:pt x="138" y="76"/>
                  </a:lnTo>
                  <a:lnTo>
                    <a:pt x="144" y="82"/>
                  </a:lnTo>
                  <a:lnTo>
                    <a:pt x="164" y="95"/>
                  </a:lnTo>
                  <a:lnTo>
                    <a:pt x="175" y="97"/>
                  </a:lnTo>
                  <a:lnTo>
                    <a:pt x="197" y="112"/>
                  </a:lnTo>
                  <a:lnTo>
                    <a:pt x="202" y="126"/>
                  </a:lnTo>
                  <a:lnTo>
                    <a:pt x="208" y="141"/>
                  </a:lnTo>
                  <a:lnTo>
                    <a:pt x="224" y="143"/>
                  </a:lnTo>
                  <a:lnTo>
                    <a:pt x="241" y="147"/>
                  </a:lnTo>
                  <a:lnTo>
                    <a:pt x="262" y="153"/>
                  </a:lnTo>
                  <a:lnTo>
                    <a:pt x="282" y="159"/>
                  </a:lnTo>
                  <a:lnTo>
                    <a:pt x="295" y="173"/>
                  </a:lnTo>
                  <a:lnTo>
                    <a:pt x="308" y="186"/>
                  </a:lnTo>
                  <a:lnTo>
                    <a:pt x="329" y="187"/>
                  </a:lnTo>
                  <a:lnTo>
                    <a:pt x="348" y="189"/>
                  </a:lnTo>
                  <a:lnTo>
                    <a:pt x="368" y="190"/>
                  </a:lnTo>
                  <a:lnTo>
                    <a:pt x="389" y="191"/>
                  </a:lnTo>
                  <a:lnTo>
                    <a:pt x="395" y="196"/>
                  </a:lnTo>
                  <a:lnTo>
                    <a:pt x="413" y="199"/>
                  </a:lnTo>
                  <a:lnTo>
                    <a:pt x="431" y="203"/>
                  </a:lnTo>
                  <a:lnTo>
                    <a:pt x="442" y="208"/>
                  </a:lnTo>
                  <a:lnTo>
                    <a:pt x="452" y="201"/>
                  </a:lnTo>
                  <a:lnTo>
                    <a:pt x="462" y="195"/>
                  </a:lnTo>
                  <a:lnTo>
                    <a:pt x="480" y="193"/>
                  </a:lnTo>
                  <a:lnTo>
                    <a:pt x="497" y="192"/>
                  </a:lnTo>
                  <a:lnTo>
                    <a:pt x="510" y="180"/>
                  </a:lnTo>
                  <a:lnTo>
                    <a:pt x="523" y="169"/>
                  </a:lnTo>
                  <a:lnTo>
                    <a:pt x="514" y="161"/>
                  </a:lnTo>
                  <a:lnTo>
                    <a:pt x="511" y="144"/>
                  </a:lnTo>
                  <a:lnTo>
                    <a:pt x="533" y="150"/>
                  </a:lnTo>
                  <a:lnTo>
                    <a:pt x="546" y="142"/>
                  </a:lnTo>
                  <a:lnTo>
                    <a:pt x="560" y="138"/>
                  </a:lnTo>
                  <a:lnTo>
                    <a:pt x="563" y="126"/>
                  </a:lnTo>
                  <a:lnTo>
                    <a:pt x="580" y="118"/>
                  </a:lnTo>
                  <a:lnTo>
                    <a:pt x="604" y="118"/>
                  </a:lnTo>
                  <a:lnTo>
                    <a:pt x="600" y="109"/>
                  </a:lnTo>
                  <a:lnTo>
                    <a:pt x="569" y="93"/>
                  </a:lnTo>
                  <a:lnTo>
                    <a:pt x="562" y="100"/>
                  </a:lnTo>
                  <a:lnTo>
                    <a:pt x="557" y="97"/>
                  </a:lnTo>
                  <a:lnTo>
                    <a:pt x="541" y="97"/>
                  </a:lnTo>
                  <a:lnTo>
                    <a:pt x="529" y="90"/>
                  </a:lnTo>
                  <a:lnTo>
                    <a:pt x="533" y="89"/>
                  </a:lnTo>
                  <a:lnTo>
                    <a:pt x="532" y="75"/>
                  </a:lnTo>
                  <a:lnTo>
                    <a:pt x="529" y="61"/>
                  </a:lnTo>
                  <a:lnTo>
                    <a:pt x="550" y="65"/>
                  </a:lnTo>
                  <a:lnTo>
                    <a:pt x="560" y="54"/>
                  </a:lnTo>
                  <a:lnTo>
                    <a:pt x="556" y="41"/>
                  </a:lnTo>
                  <a:lnTo>
                    <a:pt x="554" y="21"/>
                  </a:lnTo>
                  <a:lnTo>
                    <a:pt x="545" y="13"/>
                  </a:lnTo>
                  <a:lnTo>
                    <a:pt x="539" y="11"/>
                  </a:lnTo>
                  <a:lnTo>
                    <a:pt x="548" y="1"/>
                  </a:lnTo>
                  <a:lnTo>
                    <a:pt x="566" y="0"/>
                  </a:lnTo>
                  <a:lnTo>
                    <a:pt x="584" y="0"/>
                  </a:lnTo>
                  <a:lnTo>
                    <a:pt x="619" y="11"/>
                  </a:lnTo>
                  <a:lnTo>
                    <a:pt x="634" y="24"/>
                  </a:lnTo>
                  <a:lnTo>
                    <a:pt x="648" y="36"/>
                  </a:lnTo>
                  <a:lnTo>
                    <a:pt x="662" y="48"/>
                  </a:lnTo>
                  <a:lnTo>
                    <a:pt x="677" y="60"/>
                  </a:lnTo>
                  <a:lnTo>
                    <a:pt x="692" y="66"/>
                  </a:lnTo>
                  <a:lnTo>
                    <a:pt x="718" y="73"/>
                  </a:lnTo>
                  <a:lnTo>
                    <a:pt x="733" y="79"/>
                  </a:lnTo>
                  <a:lnTo>
                    <a:pt x="751" y="99"/>
                  </a:lnTo>
                  <a:lnTo>
                    <a:pt x="773" y="96"/>
                  </a:lnTo>
                  <a:lnTo>
                    <a:pt x="794" y="88"/>
                  </a:lnTo>
                  <a:lnTo>
                    <a:pt x="803" y="103"/>
                  </a:lnTo>
                  <a:lnTo>
                    <a:pt x="805" y="124"/>
                  </a:lnTo>
                  <a:lnTo>
                    <a:pt x="809" y="145"/>
                  </a:lnTo>
                  <a:lnTo>
                    <a:pt x="790" y="142"/>
                  </a:lnTo>
                  <a:lnTo>
                    <a:pt x="787" y="151"/>
                  </a:lnTo>
                  <a:lnTo>
                    <a:pt x="797" y="167"/>
                  </a:lnTo>
                  <a:lnTo>
                    <a:pt x="806" y="183"/>
                  </a:lnTo>
                  <a:lnTo>
                    <a:pt x="800" y="187"/>
                  </a:lnTo>
                  <a:lnTo>
                    <a:pt x="804" y="192"/>
                  </a:lnTo>
                  <a:lnTo>
                    <a:pt x="787" y="183"/>
                  </a:lnTo>
                  <a:lnTo>
                    <a:pt x="787" y="192"/>
                  </a:lnTo>
                  <a:lnTo>
                    <a:pt x="778" y="199"/>
                  </a:lnTo>
                  <a:lnTo>
                    <a:pt x="773" y="201"/>
                  </a:lnTo>
                  <a:lnTo>
                    <a:pt x="779" y="210"/>
                  </a:lnTo>
                  <a:lnTo>
                    <a:pt x="761" y="205"/>
                  </a:lnTo>
                  <a:lnTo>
                    <a:pt x="755" y="208"/>
                  </a:lnTo>
                  <a:lnTo>
                    <a:pt x="746" y="223"/>
                  </a:lnTo>
                  <a:lnTo>
                    <a:pt x="738" y="233"/>
                  </a:lnTo>
                  <a:lnTo>
                    <a:pt x="731" y="238"/>
                  </a:lnTo>
                  <a:lnTo>
                    <a:pt x="721" y="245"/>
                  </a:lnTo>
                  <a:lnTo>
                    <a:pt x="712" y="251"/>
                  </a:lnTo>
                  <a:lnTo>
                    <a:pt x="701" y="256"/>
                  </a:lnTo>
                  <a:lnTo>
                    <a:pt x="707" y="246"/>
                  </a:lnTo>
                  <a:lnTo>
                    <a:pt x="697" y="243"/>
                  </a:lnTo>
                  <a:lnTo>
                    <a:pt x="701" y="225"/>
                  </a:lnTo>
                  <a:lnTo>
                    <a:pt x="692" y="220"/>
                  </a:lnTo>
                  <a:lnTo>
                    <a:pt x="683" y="222"/>
                  </a:lnTo>
                  <a:lnTo>
                    <a:pt x="676" y="233"/>
                  </a:lnTo>
                  <a:lnTo>
                    <a:pt x="668" y="245"/>
                  </a:lnTo>
                  <a:lnTo>
                    <a:pt x="658" y="251"/>
                  </a:lnTo>
                  <a:lnTo>
                    <a:pt x="649" y="252"/>
                  </a:lnTo>
                  <a:lnTo>
                    <a:pt x="654" y="264"/>
                  </a:lnTo>
                  <a:lnTo>
                    <a:pt x="676" y="270"/>
                  </a:lnTo>
                  <a:lnTo>
                    <a:pt x="683" y="285"/>
                  </a:lnTo>
                  <a:lnTo>
                    <a:pt x="694" y="282"/>
                  </a:lnTo>
                  <a:lnTo>
                    <a:pt x="706" y="274"/>
                  </a:lnTo>
                  <a:lnTo>
                    <a:pt x="725" y="281"/>
                  </a:lnTo>
                  <a:lnTo>
                    <a:pt x="734" y="283"/>
                  </a:lnTo>
                  <a:lnTo>
                    <a:pt x="734" y="292"/>
                  </a:lnTo>
                  <a:lnTo>
                    <a:pt x="726" y="291"/>
                  </a:lnTo>
                  <a:lnTo>
                    <a:pt x="716" y="297"/>
                  </a:lnTo>
                  <a:lnTo>
                    <a:pt x="710" y="305"/>
                  </a:lnTo>
                  <a:lnTo>
                    <a:pt x="708" y="311"/>
                  </a:lnTo>
                  <a:lnTo>
                    <a:pt x="706" y="329"/>
                  </a:lnTo>
                  <a:lnTo>
                    <a:pt x="727" y="342"/>
                  </a:lnTo>
                  <a:lnTo>
                    <a:pt x="738" y="355"/>
                  </a:lnTo>
                  <a:lnTo>
                    <a:pt x="748" y="370"/>
                  </a:lnTo>
                  <a:lnTo>
                    <a:pt x="764" y="384"/>
                  </a:lnTo>
                  <a:lnTo>
                    <a:pt x="740" y="377"/>
                  </a:lnTo>
                  <a:lnTo>
                    <a:pt x="742" y="378"/>
                  </a:lnTo>
                  <a:lnTo>
                    <a:pt x="756" y="388"/>
                  </a:lnTo>
                  <a:lnTo>
                    <a:pt x="770" y="397"/>
                  </a:lnTo>
                  <a:lnTo>
                    <a:pt x="756" y="407"/>
                  </a:lnTo>
                  <a:lnTo>
                    <a:pt x="751" y="411"/>
                  </a:lnTo>
                  <a:lnTo>
                    <a:pt x="760" y="412"/>
                  </a:lnTo>
                  <a:lnTo>
                    <a:pt x="769" y="411"/>
                  </a:lnTo>
                  <a:lnTo>
                    <a:pt x="780" y="417"/>
                  </a:lnTo>
                  <a:lnTo>
                    <a:pt x="774" y="424"/>
                  </a:lnTo>
                  <a:lnTo>
                    <a:pt x="780" y="424"/>
                  </a:lnTo>
                  <a:lnTo>
                    <a:pt x="779" y="426"/>
                  </a:lnTo>
                  <a:lnTo>
                    <a:pt x="775" y="430"/>
                  </a:lnTo>
                  <a:lnTo>
                    <a:pt x="776" y="433"/>
                  </a:lnTo>
                  <a:lnTo>
                    <a:pt x="778" y="437"/>
                  </a:lnTo>
                  <a:lnTo>
                    <a:pt x="775" y="437"/>
                  </a:lnTo>
                  <a:lnTo>
                    <a:pt x="779" y="444"/>
                  </a:lnTo>
                  <a:lnTo>
                    <a:pt x="775" y="445"/>
                  </a:lnTo>
                  <a:lnTo>
                    <a:pt x="767" y="449"/>
                  </a:lnTo>
                  <a:lnTo>
                    <a:pt x="770" y="455"/>
                  </a:lnTo>
                  <a:lnTo>
                    <a:pt x="768" y="463"/>
                  </a:lnTo>
                  <a:lnTo>
                    <a:pt x="762" y="477"/>
                  </a:lnTo>
                  <a:lnTo>
                    <a:pt x="760" y="478"/>
                  </a:lnTo>
                  <a:lnTo>
                    <a:pt x="763" y="481"/>
                  </a:lnTo>
                  <a:lnTo>
                    <a:pt x="756" y="485"/>
                  </a:lnTo>
                  <a:lnTo>
                    <a:pt x="755" y="485"/>
                  </a:lnTo>
                  <a:lnTo>
                    <a:pt x="762" y="487"/>
                  </a:lnTo>
                  <a:lnTo>
                    <a:pt x="763" y="497"/>
                  </a:lnTo>
                  <a:lnTo>
                    <a:pt x="758" y="496"/>
                  </a:lnTo>
                  <a:lnTo>
                    <a:pt x="758" y="499"/>
                  </a:lnTo>
                  <a:lnTo>
                    <a:pt x="755" y="503"/>
                  </a:lnTo>
                  <a:lnTo>
                    <a:pt x="754" y="505"/>
                  </a:lnTo>
                  <a:lnTo>
                    <a:pt x="752" y="511"/>
                  </a:lnTo>
                  <a:lnTo>
                    <a:pt x="744" y="513"/>
                  </a:lnTo>
                  <a:lnTo>
                    <a:pt x="743" y="515"/>
                  </a:lnTo>
                  <a:lnTo>
                    <a:pt x="744" y="519"/>
                  </a:lnTo>
                  <a:lnTo>
                    <a:pt x="739" y="525"/>
                  </a:lnTo>
                  <a:lnTo>
                    <a:pt x="726" y="534"/>
                  </a:lnTo>
                  <a:lnTo>
                    <a:pt x="727" y="535"/>
                  </a:lnTo>
                  <a:lnTo>
                    <a:pt x="721" y="540"/>
                  </a:lnTo>
                  <a:lnTo>
                    <a:pt x="713" y="543"/>
                  </a:lnTo>
                  <a:lnTo>
                    <a:pt x="712" y="543"/>
                  </a:lnTo>
                  <a:lnTo>
                    <a:pt x="709" y="545"/>
                  </a:lnTo>
                  <a:lnTo>
                    <a:pt x="702" y="546"/>
                  </a:lnTo>
                  <a:lnTo>
                    <a:pt x="700" y="545"/>
                  </a:lnTo>
                  <a:lnTo>
                    <a:pt x="696" y="547"/>
                  </a:lnTo>
                  <a:lnTo>
                    <a:pt x="694" y="550"/>
                  </a:lnTo>
                  <a:lnTo>
                    <a:pt x="689" y="550"/>
                  </a:lnTo>
                  <a:lnTo>
                    <a:pt x="680" y="538"/>
                  </a:lnTo>
                  <a:lnTo>
                    <a:pt x="677" y="543"/>
                  </a:lnTo>
                  <a:lnTo>
                    <a:pt x="680" y="555"/>
                  </a:lnTo>
                  <a:lnTo>
                    <a:pt x="677" y="550"/>
                  </a:lnTo>
                  <a:lnTo>
                    <a:pt x="677" y="557"/>
                  </a:lnTo>
                  <a:lnTo>
                    <a:pt x="674" y="556"/>
                  </a:lnTo>
                  <a:lnTo>
                    <a:pt x="668" y="562"/>
                  </a:lnTo>
                  <a:lnTo>
                    <a:pt x="665" y="558"/>
                  </a:lnTo>
                  <a:lnTo>
                    <a:pt x="662" y="562"/>
                  </a:lnTo>
                  <a:lnTo>
                    <a:pt x="658" y="561"/>
                  </a:lnTo>
                  <a:lnTo>
                    <a:pt x="648" y="567"/>
                  </a:lnTo>
                  <a:lnTo>
                    <a:pt x="640" y="569"/>
                  </a:lnTo>
                  <a:lnTo>
                    <a:pt x="637" y="570"/>
                  </a:lnTo>
                  <a:lnTo>
                    <a:pt x="636" y="579"/>
                  </a:lnTo>
                  <a:lnTo>
                    <a:pt x="640" y="588"/>
                  </a:lnTo>
                  <a:lnTo>
                    <a:pt x="631" y="587"/>
                  </a:lnTo>
                  <a:lnTo>
                    <a:pt x="628" y="569"/>
                  </a:lnTo>
                  <a:lnTo>
                    <a:pt x="623" y="565"/>
                  </a:lnTo>
                  <a:lnTo>
                    <a:pt x="617" y="567"/>
                  </a:lnTo>
                  <a:lnTo>
                    <a:pt x="611" y="564"/>
                  </a:lnTo>
                  <a:lnTo>
                    <a:pt x="605" y="561"/>
                  </a:lnTo>
                  <a:lnTo>
                    <a:pt x="604" y="563"/>
                  </a:lnTo>
                  <a:lnTo>
                    <a:pt x="598" y="565"/>
                  </a:lnTo>
                  <a:lnTo>
                    <a:pt x="582" y="559"/>
                  </a:lnTo>
                  <a:lnTo>
                    <a:pt x="576" y="555"/>
                  </a:lnTo>
                  <a:lnTo>
                    <a:pt x="574" y="543"/>
                  </a:lnTo>
                  <a:lnTo>
                    <a:pt x="554" y="537"/>
                  </a:lnTo>
                  <a:lnTo>
                    <a:pt x="547" y="535"/>
                  </a:lnTo>
                  <a:lnTo>
                    <a:pt x="539" y="546"/>
                  </a:lnTo>
                  <a:lnTo>
                    <a:pt x="533" y="546"/>
                  </a:lnTo>
                  <a:lnTo>
                    <a:pt x="530" y="547"/>
                  </a:lnTo>
                  <a:lnTo>
                    <a:pt x="527" y="546"/>
                  </a:lnTo>
                  <a:lnTo>
                    <a:pt x="520" y="546"/>
                  </a:lnTo>
                  <a:lnTo>
                    <a:pt x="517" y="549"/>
                  </a:lnTo>
                  <a:lnTo>
                    <a:pt x="509" y="546"/>
                  </a:lnTo>
                  <a:lnTo>
                    <a:pt x="505" y="551"/>
                  </a:lnTo>
                  <a:lnTo>
                    <a:pt x="497" y="551"/>
                  </a:lnTo>
                  <a:lnTo>
                    <a:pt x="500" y="573"/>
                  </a:lnTo>
                  <a:lnTo>
                    <a:pt x="494" y="569"/>
                  </a:lnTo>
                  <a:lnTo>
                    <a:pt x="492" y="565"/>
                  </a:lnTo>
                  <a:lnTo>
                    <a:pt x="487" y="563"/>
                  </a:lnTo>
                  <a:lnTo>
                    <a:pt x="476" y="567"/>
                  </a:lnTo>
                  <a:lnTo>
                    <a:pt x="468" y="557"/>
                  </a:lnTo>
                  <a:lnTo>
                    <a:pt x="460" y="553"/>
                  </a:lnTo>
                  <a:lnTo>
                    <a:pt x="462" y="539"/>
                  </a:lnTo>
                  <a:lnTo>
                    <a:pt x="451" y="534"/>
                  </a:lnTo>
                  <a:lnTo>
                    <a:pt x="448" y="522"/>
                  </a:lnTo>
                  <a:lnTo>
                    <a:pt x="446" y="520"/>
                  </a:lnTo>
                  <a:lnTo>
                    <a:pt x="430" y="522"/>
                  </a:lnTo>
                  <a:lnTo>
                    <a:pt x="430" y="514"/>
                  </a:lnTo>
                  <a:lnTo>
                    <a:pt x="428" y="507"/>
                  </a:lnTo>
                  <a:lnTo>
                    <a:pt x="436" y="495"/>
                  </a:lnTo>
                  <a:lnTo>
                    <a:pt x="438" y="486"/>
                  </a:lnTo>
                  <a:lnTo>
                    <a:pt x="434" y="472"/>
                  </a:lnTo>
                  <a:lnTo>
                    <a:pt x="432" y="457"/>
                  </a:lnTo>
                  <a:lnTo>
                    <a:pt x="425" y="454"/>
                  </a:lnTo>
                  <a:lnTo>
                    <a:pt x="412" y="441"/>
                  </a:lnTo>
                  <a:lnTo>
                    <a:pt x="410" y="447"/>
                  </a:lnTo>
                  <a:lnTo>
                    <a:pt x="394" y="441"/>
                  </a:lnTo>
                  <a:lnTo>
                    <a:pt x="394" y="432"/>
                  </a:lnTo>
                  <a:lnTo>
                    <a:pt x="388" y="431"/>
                  </a:lnTo>
                  <a:lnTo>
                    <a:pt x="389" y="427"/>
                  </a:lnTo>
                  <a:lnTo>
                    <a:pt x="383" y="425"/>
                  </a:lnTo>
                  <a:lnTo>
                    <a:pt x="374" y="430"/>
                  </a:lnTo>
                  <a:lnTo>
                    <a:pt x="361" y="42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5" name="Freeform 254"/>
            <p:cNvSpPr>
              <a:spLocks/>
            </p:cNvSpPr>
            <p:nvPr/>
          </p:nvSpPr>
          <p:spPr bwMode="auto">
            <a:xfrm>
              <a:off x="4415" y="2307"/>
              <a:ext cx="40" cy="34"/>
            </a:xfrm>
            <a:custGeom>
              <a:avLst/>
              <a:gdLst/>
              <a:ahLst/>
              <a:cxnLst>
                <a:cxn ang="0">
                  <a:pos x="26" y="0"/>
                </a:cxn>
                <a:cxn ang="0">
                  <a:pos x="11" y="3"/>
                </a:cxn>
                <a:cxn ang="0">
                  <a:pos x="0" y="10"/>
                </a:cxn>
                <a:cxn ang="0">
                  <a:pos x="1" y="24"/>
                </a:cxn>
                <a:cxn ang="0">
                  <a:pos x="13" y="30"/>
                </a:cxn>
                <a:cxn ang="0">
                  <a:pos x="19" y="29"/>
                </a:cxn>
                <a:cxn ang="0">
                  <a:pos x="29" y="18"/>
                </a:cxn>
                <a:cxn ang="0">
                  <a:pos x="35" y="6"/>
                </a:cxn>
                <a:cxn ang="0">
                  <a:pos x="32" y="0"/>
                </a:cxn>
                <a:cxn ang="0">
                  <a:pos x="26" y="0"/>
                </a:cxn>
              </a:cxnLst>
              <a:rect l="0" t="0" r="r" b="b"/>
              <a:pathLst>
                <a:path w="35" h="30">
                  <a:moveTo>
                    <a:pt x="26" y="0"/>
                  </a:moveTo>
                  <a:lnTo>
                    <a:pt x="11" y="3"/>
                  </a:lnTo>
                  <a:lnTo>
                    <a:pt x="0" y="10"/>
                  </a:lnTo>
                  <a:lnTo>
                    <a:pt x="1" y="24"/>
                  </a:lnTo>
                  <a:lnTo>
                    <a:pt x="13" y="30"/>
                  </a:lnTo>
                  <a:lnTo>
                    <a:pt x="19" y="29"/>
                  </a:lnTo>
                  <a:lnTo>
                    <a:pt x="29" y="18"/>
                  </a:lnTo>
                  <a:lnTo>
                    <a:pt x="35" y="6"/>
                  </a:lnTo>
                  <a:lnTo>
                    <a:pt x="32" y="0"/>
                  </a:lnTo>
                  <a:lnTo>
                    <a:pt x="2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6" name="Freeform 255"/>
            <p:cNvSpPr>
              <a:spLocks/>
            </p:cNvSpPr>
            <p:nvPr/>
          </p:nvSpPr>
          <p:spPr bwMode="auto">
            <a:xfrm>
              <a:off x="4713" y="1879"/>
              <a:ext cx="149" cy="157"/>
            </a:xfrm>
            <a:custGeom>
              <a:avLst/>
              <a:gdLst/>
              <a:ahLst/>
              <a:cxnLst>
                <a:cxn ang="0">
                  <a:pos x="125" y="108"/>
                </a:cxn>
                <a:cxn ang="0">
                  <a:pos x="122" y="103"/>
                </a:cxn>
                <a:cxn ang="0">
                  <a:pos x="123" y="112"/>
                </a:cxn>
                <a:cxn ang="0">
                  <a:pos x="116" y="114"/>
                </a:cxn>
                <a:cxn ang="0">
                  <a:pos x="114" y="121"/>
                </a:cxn>
                <a:cxn ang="0">
                  <a:pos x="111" y="113"/>
                </a:cxn>
                <a:cxn ang="0">
                  <a:pos x="107" y="122"/>
                </a:cxn>
                <a:cxn ang="0">
                  <a:pos x="90" y="121"/>
                </a:cxn>
                <a:cxn ang="0">
                  <a:pos x="86" y="119"/>
                </a:cxn>
                <a:cxn ang="0">
                  <a:pos x="81" y="115"/>
                </a:cxn>
                <a:cxn ang="0">
                  <a:pos x="83" y="124"/>
                </a:cxn>
                <a:cxn ang="0">
                  <a:pos x="87" y="128"/>
                </a:cxn>
                <a:cxn ang="0">
                  <a:pos x="81" y="136"/>
                </a:cxn>
                <a:cxn ang="0">
                  <a:pos x="78" y="143"/>
                </a:cxn>
                <a:cxn ang="0">
                  <a:pos x="64" y="132"/>
                </a:cxn>
                <a:cxn ang="0">
                  <a:pos x="63" y="120"/>
                </a:cxn>
                <a:cxn ang="0">
                  <a:pos x="44" y="122"/>
                </a:cxn>
                <a:cxn ang="0">
                  <a:pos x="23" y="127"/>
                </a:cxn>
                <a:cxn ang="0">
                  <a:pos x="17" y="134"/>
                </a:cxn>
                <a:cxn ang="0">
                  <a:pos x="0" y="132"/>
                </a:cxn>
                <a:cxn ang="0">
                  <a:pos x="3" y="126"/>
                </a:cxn>
                <a:cxn ang="0">
                  <a:pos x="14" y="115"/>
                </a:cxn>
                <a:cxn ang="0">
                  <a:pos x="23" y="106"/>
                </a:cxn>
                <a:cxn ang="0">
                  <a:pos x="38" y="104"/>
                </a:cxn>
                <a:cxn ang="0">
                  <a:pos x="53" y="103"/>
                </a:cxn>
                <a:cxn ang="0">
                  <a:pos x="57" y="106"/>
                </a:cxn>
                <a:cxn ang="0">
                  <a:pos x="65" y="101"/>
                </a:cxn>
                <a:cxn ang="0">
                  <a:pos x="63" y="91"/>
                </a:cxn>
                <a:cxn ang="0">
                  <a:pos x="62" y="77"/>
                </a:cxn>
                <a:cxn ang="0">
                  <a:pos x="68" y="73"/>
                </a:cxn>
                <a:cxn ang="0">
                  <a:pos x="66" y="78"/>
                </a:cxn>
                <a:cxn ang="0">
                  <a:pos x="72" y="84"/>
                </a:cxn>
                <a:cxn ang="0">
                  <a:pos x="80" y="77"/>
                </a:cxn>
                <a:cxn ang="0">
                  <a:pos x="87" y="70"/>
                </a:cxn>
                <a:cxn ang="0">
                  <a:pos x="89" y="56"/>
                </a:cxn>
                <a:cxn ang="0">
                  <a:pos x="90" y="42"/>
                </a:cxn>
                <a:cxn ang="0">
                  <a:pos x="82" y="29"/>
                </a:cxn>
                <a:cxn ang="0">
                  <a:pos x="76" y="13"/>
                </a:cxn>
                <a:cxn ang="0">
                  <a:pos x="77" y="5"/>
                </a:cxn>
                <a:cxn ang="0">
                  <a:pos x="86" y="10"/>
                </a:cxn>
                <a:cxn ang="0">
                  <a:pos x="89" y="7"/>
                </a:cxn>
                <a:cxn ang="0">
                  <a:pos x="87" y="4"/>
                </a:cxn>
                <a:cxn ang="0">
                  <a:pos x="81" y="4"/>
                </a:cxn>
                <a:cxn ang="0">
                  <a:pos x="82" y="0"/>
                </a:cxn>
                <a:cxn ang="0">
                  <a:pos x="89" y="2"/>
                </a:cxn>
                <a:cxn ang="0">
                  <a:pos x="102" y="18"/>
                </a:cxn>
                <a:cxn ang="0">
                  <a:pos x="118" y="34"/>
                </a:cxn>
                <a:cxn ang="0">
                  <a:pos x="119" y="55"/>
                </a:cxn>
                <a:cxn ang="0">
                  <a:pos x="116" y="61"/>
                </a:cxn>
                <a:cxn ang="0">
                  <a:pos x="124" y="84"/>
                </a:cxn>
                <a:cxn ang="0">
                  <a:pos x="135" y="101"/>
                </a:cxn>
                <a:cxn ang="0">
                  <a:pos x="129" y="118"/>
                </a:cxn>
                <a:cxn ang="0">
                  <a:pos x="125" y="108"/>
                </a:cxn>
              </a:cxnLst>
              <a:rect l="0" t="0" r="r" b="b"/>
              <a:pathLst>
                <a:path w="135" h="143">
                  <a:moveTo>
                    <a:pt x="125" y="108"/>
                  </a:moveTo>
                  <a:lnTo>
                    <a:pt x="122" y="103"/>
                  </a:lnTo>
                  <a:lnTo>
                    <a:pt x="123" y="112"/>
                  </a:lnTo>
                  <a:lnTo>
                    <a:pt x="116" y="114"/>
                  </a:lnTo>
                  <a:lnTo>
                    <a:pt x="114" y="121"/>
                  </a:lnTo>
                  <a:lnTo>
                    <a:pt x="111" y="113"/>
                  </a:lnTo>
                  <a:lnTo>
                    <a:pt x="107" y="122"/>
                  </a:lnTo>
                  <a:lnTo>
                    <a:pt x="90" y="121"/>
                  </a:lnTo>
                  <a:lnTo>
                    <a:pt x="86" y="119"/>
                  </a:lnTo>
                  <a:lnTo>
                    <a:pt x="81" y="115"/>
                  </a:lnTo>
                  <a:lnTo>
                    <a:pt x="83" y="124"/>
                  </a:lnTo>
                  <a:lnTo>
                    <a:pt x="87" y="128"/>
                  </a:lnTo>
                  <a:lnTo>
                    <a:pt x="81" y="136"/>
                  </a:lnTo>
                  <a:lnTo>
                    <a:pt x="78" y="143"/>
                  </a:lnTo>
                  <a:lnTo>
                    <a:pt x="64" y="132"/>
                  </a:lnTo>
                  <a:lnTo>
                    <a:pt x="63" y="120"/>
                  </a:lnTo>
                  <a:lnTo>
                    <a:pt x="44" y="122"/>
                  </a:lnTo>
                  <a:lnTo>
                    <a:pt x="23" y="127"/>
                  </a:lnTo>
                  <a:lnTo>
                    <a:pt x="17" y="134"/>
                  </a:lnTo>
                  <a:lnTo>
                    <a:pt x="0" y="132"/>
                  </a:lnTo>
                  <a:lnTo>
                    <a:pt x="3" y="126"/>
                  </a:lnTo>
                  <a:lnTo>
                    <a:pt x="14" y="115"/>
                  </a:lnTo>
                  <a:lnTo>
                    <a:pt x="23" y="106"/>
                  </a:lnTo>
                  <a:lnTo>
                    <a:pt x="38" y="104"/>
                  </a:lnTo>
                  <a:lnTo>
                    <a:pt x="53" y="103"/>
                  </a:lnTo>
                  <a:lnTo>
                    <a:pt x="57" y="106"/>
                  </a:lnTo>
                  <a:lnTo>
                    <a:pt x="65" y="101"/>
                  </a:lnTo>
                  <a:lnTo>
                    <a:pt x="63" y="91"/>
                  </a:lnTo>
                  <a:lnTo>
                    <a:pt x="62" y="77"/>
                  </a:lnTo>
                  <a:lnTo>
                    <a:pt x="68" y="73"/>
                  </a:lnTo>
                  <a:lnTo>
                    <a:pt x="66" y="78"/>
                  </a:lnTo>
                  <a:lnTo>
                    <a:pt x="72" y="84"/>
                  </a:lnTo>
                  <a:lnTo>
                    <a:pt x="80" y="77"/>
                  </a:lnTo>
                  <a:lnTo>
                    <a:pt x="87" y="70"/>
                  </a:lnTo>
                  <a:lnTo>
                    <a:pt x="89" y="56"/>
                  </a:lnTo>
                  <a:lnTo>
                    <a:pt x="90" y="42"/>
                  </a:lnTo>
                  <a:lnTo>
                    <a:pt x="82" y="29"/>
                  </a:lnTo>
                  <a:lnTo>
                    <a:pt x="76" y="13"/>
                  </a:lnTo>
                  <a:lnTo>
                    <a:pt x="77" y="5"/>
                  </a:lnTo>
                  <a:lnTo>
                    <a:pt x="86" y="10"/>
                  </a:lnTo>
                  <a:lnTo>
                    <a:pt x="89" y="7"/>
                  </a:lnTo>
                  <a:lnTo>
                    <a:pt x="87" y="4"/>
                  </a:lnTo>
                  <a:lnTo>
                    <a:pt x="81" y="4"/>
                  </a:lnTo>
                  <a:lnTo>
                    <a:pt x="82" y="0"/>
                  </a:lnTo>
                  <a:lnTo>
                    <a:pt x="89" y="2"/>
                  </a:lnTo>
                  <a:lnTo>
                    <a:pt x="102" y="18"/>
                  </a:lnTo>
                  <a:lnTo>
                    <a:pt x="118" y="34"/>
                  </a:lnTo>
                  <a:lnTo>
                    <a:pt x="119" y="55"/>
                  </a:lnTo>
                  <a:lnTo>
                    <a:pt x="116" y="61"/>
                  </a:lnTo>
                  <a:lnTo>
                    <a:pt x="124" y="84"/>
                  </a:lnTo>
                  <a:lnTo>
                    <a:pt x="135" y="101"/>
                  </a:lnTo>
                  <a:lnTo>
                    <a:pt x="129" y="118"/>
                  </a:lnTo>
                  <a:lnTo>
                    <a:pt x="125" y="1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7" name="Freeform 256"/>
            <p:cNvSpPr>
              <a:spLocks/>
            </p:cNvSpPr>
            <p:nvPr/>
          </p:nvSpPr>
          <p:spPr bwMode="auto">
            <a:xfrm>
              <a:off x="4766" y="1799"/>
              <a:ext cx="87" cy="80"/>
            </a:xfrm>
            <a:custGeom>
              <a:avLst/>
              <a:gdLst/>
              <a:ahLst/>
              <a:cxnLst>
                <a:cxn ang="0">
                  <a:pos x="61" y="28"/>
                </a:cxn>
                <a:cxn ang="0">
                  <a:pos x="47" y="24"/>
                </a:cxn>
                <a:cxn ang="0">
                  <a:pos x="24" y="12"/>
                </a:cxn>
                <a:cxn ang="0">
                  <a:pos x="0" y="0"/>
                </a:cxn>
                <a:cxn ang="0">
                  <a:pos x="5" y="10"/>
                </a:cxn>
                <a:cxn ang="0">
                  <a:pos x="12" y="25"/>
                </a:cxn>
                <a:cxn ang="0">
                  <a:pos x="19" y="40"/>
                </a:cxn>
                <a:cxn ang="0">
                  <a:pos x="9" y="40"/>
                </a:cxn>
                <a:cxn ang="0">
                  <a:pos x="6" y="42"/>
                </a:cxn>
                <a:cxn ang="0">
                  <a:pos x="7" y="49"/>
                </a:cxn>
                <a:cxn ang="0">
                  <a:pos x="10" y="59"/>
                </a:cxn>
                <a:cxn ang="0">
                  <a:pos x="21" y="72"/>
                </a:cxn>
                <a:cxn ang="0">
                  <a:pos x="24" y="68"/>
                </a:cxn>
                <a:cxn ang="0">
                  <a:pos x="31" y="67"/>
                </a:cxn>
                <a:cxn ang="0">
                  <a:pos x="13" y="55"/>
                </a:cxn>
                <a:cxn ang="0">
                  <a:pos x="22" y="55"/>
                </a:cxn>
                <a:cxn ang="0">
                  <a:pos x="28" y="53"/>
                </a:cxn>
                <a:cxn ang="0">
                  <a:pos x="58" y="61"/>
                </a:cxn>
                <a:cxn ang="0">
                  <a:pos x="59" y="58"/>
                </a:cxn>
                <a:cxn ang="0">
                  <a:pos x="66" y="46"/>
                </a:cxn>
                <a:cxn ang="0">
                  <a:pos x="78" y="40"/>
                </a:cxn>
                <a:cxn ang="0">
                  <a:pos x="71" y="35"/>
                </a:cxn>
                <a:cxn ang="0">
                  <a:pos x="65" y="22"/>
                </a:cxn>
                <a:cxn ang="0">
                  <a:pos x="61" y="28"/>
                </a:cxn>
              </a:cxnLst>
              <a:rect l="0" t="0" r="r" b="b"/>
              <a:pathLst>
                <a:path w="78" h="72">
                  <a:moveTo>
                    <a:pt x="61" y="28"/>
                  </a:moveTo>
                  <a:lnTo>
                    <a:pt x="47" y="24"/>
                  </a:lnTo>
                  <a:lnTo>
                    <a:pt x="24" y="12"/>
                  </a:lnTo>
                  <a:lnTo>
                    <a:pt x="0" y="0"/>
                  </a:lnTo>
                  <a:lnTo>
                    <a:pt x="5" y="10"/>
                  </a:lnTo>
                  <a:lnTo>
                    <a:pt x="12" y="25"/>
                  </a:lnTo>
                  <a:lnTo>
                    <a:pt x="19" y="40"/>
                  </a:lnTo>
                  <a:lnTo>
                    <a:pt x="9" y="40"/>
                  </a:lnTo>
                  <a:lnTo>
                    <a:pt x="6" y="42"/>
                  </a:lnTo>
                  <a:lnTo>
                    <a:pt x="7" y="49"/>
                  </a:lnTo>
                  <a:lnTo>
                    <a:pt x="10" y="59"/>
                  </a:lnTo>
                  <a:lnTo>
                    <a:pt x="21" y="72"/>
                  </a:lnTo>
                  <a:lnTo>
                    <a:pt x="24" y="68"/>
                  </a:lnTo>
                  <a:lnTo>
                    <a:pt x="31" y="67"/>
                  </a:lnTo>
                  <a:lnTo>
                    <a:pt x="13" y="55"/>
                  </a:lnTo>
                  <a:lnTo>
                    <a:pt x="22" y="55"/>
                  </a:lnTo>
                  <a:lnTo>
                    <a:pt x="28" y="53"/>
                  </a:lnTo>
                  <a:lnTo>
                    <a:pt x="58" y="61"/>
                  </a:lnTo>
                  <a:lnTo>
                    <a:pt x="59" y="58"/>
                  </a:lnTo>
                  <a:lnTo>
                    <a:pt x="66" y="46"/>
                  </a:lnTo>
                  <a:lnTo>
                    <a:pt x="78" y="40"/>
                  </a:lnTo>
                  <a:lnTo>
                    <a:pt x="71" y="35"/>
                  </a:lnTo>
                  <a:lnTo>
                    <a:pt x="65" y="22"/>
                  </a:lnTo>
                  <a:lnTo>
                    <a:pt x="61"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8" name="Freeform 257"/>
            <p:cNvSpPr>
              <a:spLocks/>
            </p:cNvSpPr>
            <p:nvPr/>
          </p:nvSpPr>
          <p:spPr bwMode="auto">
            <a:xfrm>
              <a:off x="4700" y="2030"/>
              <a:ext cx="42" cy="53"/>
            </a:xfrm>
            <a:custGeom>
              <a:avLst/>
              <a:gdLst/>
              <a:ahLst/>
              <a:cxnLst>
                <a:cxn ang="0">
                  <a:pos x="40" y="16"/>
                </a:cxn>
                <a:cxn ang="0">
                  <a:pos x="39" y="30"/>
                </a:cxn>
                <a:cxn ang="0">
                  <a:pos x="37" y="43"/>
                </a:cxn>
                <a:cxn ang="0">
                  <a:pos x="33" y="49"/>
                </a:cxn>
                <a:cxn ang="0">
                  <a:pos x="27" y="39"/>
                </a:cxn>
                <a:cxn ang="0">
                  <a:pos x="28" y="48"/>
                </a:cxn>
                <a:cxn ang="0">
                  <a:pos x="23" y="43"/>
                </a:cxn>
                <a:cxn ang="0">
                  <a:pos x="19" y="30"/>
                </a:cxn>
                <a:cxn ang="0">
                  <a:pos x="19" y="22"/>
                </a:cxn>
                <a:cxn ang="0">
                  <a:pos x="10" y="13"/>
                </a:cxn>
                <a:cxn ang="0">
                  <a:pos x="15" y="22"/>
                </a:cxn>
                <a:cxn ang="0">
                  <a:pos x="9" y="22"/>
                </a:cxn>
                <a:cxn ang="0">
                  <a:pos x="5" y="15"/>
                </a:cxn>
                <a:cxn ang="0">
                  <a:pos x="7" y="15"/>
                </a:cxn>
                <a:cxn ang="0">
                  <a:pos x="0" y="9"/>
                </a:cxn>
                <a:cxn ang="0">
                  <a:pos x="16" y="0"/>
                </a:cxn>
                <a:cxn ang="0">
                  <a:pos x="25" y="4"/>
                </a:cxn>
                <a:cxn ang="0">
                  <a:pos x="30" y="8"/>
                </a:cxn>
                <a:cxn ang="0">
                  <a:pos x="31" y="10"/>
                </a:cxn>
                <a:cxn ang="0">
                  <a:pos x="40" y="16"/>
                </a:cxn>
              </a:cxnLst>
              <a:rect l="0" t="0" r="r" b="b"/>
              <a:pathLst>
                <a:path w="40" h="49">
                  <a:moveTo>
                    <a:pt x="40" y="16"/>
                  </a:moveTo>
                  <a:lnTo>
                    <a:pt x="39" y="30"/>
                  </a:lnTo>
                  <a:lnTo>
                    <a:pt x="37" y="43"/>
                  </a:lnTo>
                  <a:lnTo>
                    <a:pt x="33" y="49"/>
                  </a:lnTo>
                  <a:lnTo>
                    <a:pt x="27" y="39"/>
                  </a:lnTo>
                  <a:lnTo>
                    <a:pt x="28" y="48"/>
                  </a:lnTo>
                  <a:lnTo>
                    <a:pt x="23" y="43"/>
                  </a:lnTo>
                  <a:lnTo>
                    <a:pt x="19" y="30"/>
                  </a:lnTo>
                  <a:lnTo>
                    <a:pt x="19" y="22"/>
                  </a:lnTo>
                  <a:lnTo>
                    <a:pt x="10" y="13"/>
                  </a:lnTo>
                  <a:lnTo>
                    <a:pt x="15" y="22"/>
                  </a:lnTo>
                  <a:lnTo>
                    <a:pt x="9" y="22"/>
                  </a:lnTo>
                  <a:lnTo>
                    <a:pt x="5" y="15"/>
                  </a:lnTo>
                  <a:lnTo>
                    <a:pt x="7" y="15"/>
                  </a:lnTo>
                  <a:lnTo>
                    <a:pt x="0" y="9"/>
                  </a:lnTo>
                  <a:lnTo>
                    <a:pt x="16" y="0"/>
                  </a:lnTo>
                  <a:lnTo>
                    <a:pt x="25" y="4"/>
                  </a:lnTo>
                  <a:lnTo>
                    <a:pt x="30" y="8"/>
                  </a:lnTo>
                  <a:lnTo>
                    <a:pt x="31" y="10"/>
                  </a:lnTo>
                  <a:lnTo>
                    <a:pt x="40"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9" name="Freeform 258"/>
            <p:cNvSpPr>
              <a:spLocks/>
            </p:cNvSpPr>
            <p:nvPr/>
          </p:nvSpPr>
          <p:spPr bwMode="auto">
            <a:xfrm>
              <a:off x="4740" y="2021"/>
              <a:ext cx="40" cy="31"/>
            </a:xfrm>
            <a:custGeom>
              <a:avLst/>
              <a:gdLst/>
              <a:ahLst/>
              <a:cxnLst>
                <a:cxn ang="0">
                  <a:pos x="29" y="18"/>
                </a:cxn>
                <a:cxn ang="0">
                  <a:pos x="17" y="18"/>
                </a:cxn>
                <a:cxn ang="0">
                  <a:pos x="16" y="29"/>
                </a:cxn>
                <a:cxn ang="0">
                  <a:pos x="6" y="22"/>
                </a:cxn>
                <a:cxn ang="0">
                  <a:pos x="3" y="16"/>
                </a:cxn>
                <a:cxn ang="0">
                  <a:pos x="0" y="17"/>
                </a:cxn>
                <a:cxn ang="0">
                  <a:pos x="9" y="6"/>
                </a:cxn>
                <a:cxn ang="0">
                  <a:pos x="17" y="5"/>
                </a:cxn>
                <a:cxn ang="0">
                  <a:pos x="26" y="0"/>
                </a:cxn>
                <a:cxn ang="0">
                  <a:pos x="33" y="5"/>
                </a:cxn>
                <a:cxn ang="0">
                  <a:pos x="36" y="10"/>
                </a:cxn>
                <a:cxn ang="0">
                  <a:pos x="29" y="18"/>
                </a:cxn>
              </a:cxnLst>
              <a:rect l="0" t="0" r="r" b="b"/>
              <a:pathLst>
                <a:path w="36" h="29">
                  <a:moveTo>
                    <a:pt x="29" y="18"/>
                  </a:moveTo>
                  <a:lnTo>
                    <a:pt x="17" y="18"/>
                  </a:lnTo>
                  <a:lnTo>
                    <a:pt x="16" y="29"/>
                  </a:lnTo>
                  <a:lnTo>
                    <a:pt x="6" y="22"/>
                  </a:lnTo>
                  <a:lnTo>
                    <a:pt x="3" y="16"/>
                  </a:lnTo>
                  <a:lnTo>
                    <a:pt x="0" y="17"/>
                  </a:lnTo>
                  <a:lnTo>
                    <a:pt x="9" y="6"/>
                  </a:lnTo>
                  <a:lnTo>
                    <a:pt x="17" y="5"/>
                  </a:lnTo>
                  <a:lnTo>
                    <a:pt x="26" y="0"/>
                  </a:lnTo>
                  <a:lnTo>
                    <a:pt x="33" y="5"/>
                  </a:lnTo>
                  <a:lnTo>
                    <a:pt x="36" y="10"/>
                  </a:lnTo>
                  <a:lnTo>
                    <a:pt x="2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0" name="Freeform 259"/>
            <p:cNvSpPr>
              <a:spLocks/>
            </p:cNvSpPr>
            <p:nvPr/>
          </p:nvSpPr>
          <p:spPr bwMode="auto">
            <a:xfrm>
              <a:off x="4713" y="2170"/>
              <a:ext cx="9" cy="13"/>
            </a:xfrm>
            <a:custGeom>
              <a:avLst/>
              <a:gdLst/>
              <a:ahLst/>
              <a:cxnLst>
                <a:cxn ang="0">
                  <a:pos x="0" y="12"/>
                </a:cxn>
                <a:cxn ang="0">
                  <a:pos x="8" y="1"/>
                </a:cxn>
                <a:cxn ang="0">
                  <a:pos x="6" y="0"/>
                </a:cxn>
                <a:cxn ang="0">
                  <a:pos x="0" y="12"/>
                </a:cxn>
              </a:cxnLst>
              <a:rect l="0" t="0" r="r" b="b"/>
              <a:pathLst>
                <a:path w="8" h="12">
                  <a:moveTo>
                    <a:pt x="0" y="12"/>
                  </a:moveTo>
                  <a:lnTo>
                    <a:pt x="8" y="1"/>
                  </a:lnTo>
                  <a:lnTo>
                    <a:pt x="6" y="0"/>
                  </a:lnTo>
                  <a:lnTo>
                    <a:pt x="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1" name="Freeform 260"/>
            <p:cNvSpPr>
              <a:spLocks/>
            </p:cNvSpPr>
            <p:nvPr/>
          </p:nvSpPr>
          <p:spPr bwMode="auto">
            <a:xfrm>
              <a:off x="4800" y="1941"/>
              <a:ext cx="2" cy="6"/>
            </a:xfrm>
            <a:custGeom>
              <a:avLst/>
              <a:gdLst/>
              <a:ahLst/>
              <a:cxnLst>
                <a:cxn ang="0">
                  <a:pos x="4" y="6"/>
                </a:cxn>
                <a:cxn ang="0">
                  <a:pos x="0" y="0"/>
                </a:cxn>
                <a:cxn ang="0">
                  <a:pos x="0" y="6"/>
                </a:cxn>
                <a:cxn ang="0">
                  <a:pos x="4" y="6"/>
                </a:cxn>
              </a:cxnLst>
              <a:rect l="0" t="0" r="r" b="b"/>
              <a:pathLst>
                <a:path w="4" h="6">
                  <a:moveTo>
                    <a:pt x="4" y="6"/>
                  </a:moveTo>
                  <a:lnTo>
                    <a:pt x="0" y="0"/>
                  </a:lnTo>
                  <a:lnTo>
                    <a:pt x="0" y="6"/>
                  </a:lnTo>
                  <a:lnTo>
                    <a:pt x="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2" name="Freeform 261"/>
            <p:cNvSpPr>
              <a:spLocks/>
            </p:cNvSpPr>
            <p:nvPr/>
          </p:nvSpPr>
          <p:spPr bwMode="auto">
            <a:xfrm>
              <a:off x="4713" y="2056"/>
              <a:ext cx="2" cy="5"/>
            </a:xfrm>
            <a:custGeom>
              <a:avLst/>
              <a:gdLst/>
              <a:ahLst/>
              <a:cxnLst>
                <a:cxn ang="0">
                  <a:pos x="3" y="0"/>
                </a:cxn>
                <a:cxn ang="0">
                  <a:pos x="4" y="2"/>
                </a:cxn>
                <a:cxn ang="0">
                  <a:pos x="0" y="2"/>
                </a:cxn>
                <a:cxn ang="0">
                  <a:pos x="3" y="0"/>
                </a:cxn>
              </a:cxnLst>
              <a:rect l="0" t="0" r="r" b="b"/>
              <a:pathLst>
                <a:path w="4" h="2">
                  <a:moveTo>
                    <a:pt x="3" y="0"/>
                  </a:moveTo>
                  <a:lnTo>
                    <a:pt x="4" y="2"/>
                  </a:lnTo>
                  <a:lnTo>
                    <a:pt x="0" y="2"/>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3" name="Freeform 262"/>
            <p:cNvSpPr>
              <a:spLocks/>
            </p:cNvSpPr>
            <p:nvPr/>
          </p:nvSpPr>
          <p:spPr bwMode="auto">
            <a:xfrm>
              <a:off x="4551" y="1850"/>
              <a:ext cx="78" cy="100"/>
            </a:xfrm>
            <a:custGeom>
              <a:avLst/>
              <a:gdLst/>
              <a:ahLst/>
              <a:cxnLst>
                <a:cxn ang="0">
                  <a:pos x="18" y="61"/>
                </a:cxn>
                <a:cxn ang="0">
                  <a:pos x="8" y="58"/>
                </a:cxn>
                <a:cxn ang="0">
                  <a:pos x="0" y="50"/>
                </a:cxn>
                <a:cxn ang="0">
                  <a:pos x="8" y="40"/>
                </a:cxn>
                <a:cxn ang="0">
                  <a:pos x="17" y="25"/>
                </a:cxn>
                <a:cxn ang="0">
                  <a:pos x="23" y="22"/>
                </a:cxn>
                <a:cxn ang="0">
                  <a:pos x="41" y="27"/>
                </a:cxn>
                <a:cxn ang="0">
                  <a:pos x="35" y="18"/>
                </a:cxn>
                <a:cxn ang="0">
                  <a:pos x="40" y="16"/>
                </a:cxn>
                <a:cxn ang="0">
                  <a:pos x="49" y="9"/>
                </a:cxn>
                <a:cxn ang="0">
                  <a:pos x="49" y="0"/>
                </a:cxn>
                <a:cxn ang="0">
                  <a:pos x="66" y="9"/>
                </a:cxn>
                <a:cxn ang="0">
                  <a:pos x="70" y="12"/>
                </a:cxn>
                <a:cxn ang="0">
                  <a:pos x="61" y="21"/>
                </a:cxn>
                <a:cxn ang="0">
                  <a:pos x="67" y="38"/>
                </a:cxn>
                <a:cxn ang="0">
                  <a:pos x="60" y="49"/>
                </a:cxn>
                <a:cxn ang="0">
                  <a:pos x="52" y="60"/>
                </a:cxn>
                <a:cxn ang="0">
                  <a:pos x="54" y="67"/>
                </a:cxn>
                <a:cxn ang="0">
                  <a:pos x="71" y="76"/>
                </a:cxn>
                <a:cxn ang="0">
                  <a:pos x="65" y="81"/>
                </a:cxn>
                <a:cxn ang="0">
                  <a:pos x="53" y="87"/>
                </a:cxn>
                <a:cxn ang="0">
                  <a:pos x="53" y="91"/>
                </a:cxn>
                <a:cxn ang="0">
                  <a:pos x="38" y="88"/>
                </a:cxn>
                <a:cxn ang="0">
                  <a:pos x="35" y="91"/>
                </a:cxn>
                <a:cxn ang="0">
                  <a:pos x="28" y="87"/>
                </a:cxn>
                <a:cxn ang="0">
                  <a:pos x="23" y="85"/>
                </a:cxn>
                <a:cxn ang="0">
                  <a:pos x="26" y="75"/>
                </a:cxn>
                <a:cxn ang="0">
                  <a:pos x="28" y="75"/>
                </a:cxn>
                <a:cxn ang="0">
                  <a:pos x="22" y="70"/>
                </a:cxn>
                <a:cxn ang="0">
                  <a:pos x="18" y="61"/>
                </a:cxn>
              </a:cxnLst>
              <a:rect l="0" t="0" r="r" b="b"/>
              <a:pathLst>
                <a:path w="71" h="91">
                  <a:moveTo>
                    <a:pt x="18" y="61"/>
                  </a:moveTo>
                  <a:lnTo>
                    <a:pt x="8" y="58"/>
                  </a:lnTo>
                  <a:lnTo>
                    <a:pt x="0" y="50"/>
                  </a:lnTo>
                  <a:lnTo>
                    <a:pt x="8" y="40"/>
                  </a:lnTo>
                  <a:lnTo>
                    <a:pt x="17" y="25"/>
                  </a:lnTo>
                  <a:lnTo>
                    <a:pt x="23" y="22"/>
                  </a:lnTo>
                  <a:lnTo>
                    <a:pt x="41" y="27"/>
                  </a:lnTo>
                  <a:lnTo>
                    <a:pt x="35" y="18"/>
                  </a:lnTo>
                  <a:lnTo>
                    <a:pt x="40" y="16"/>
                  </a:lnTo>
                  <a:lnTo>
                    <a:pt x="49" y="9"/>
                  </a:lnTo>
                  <a:lnTo>
                    <a:pt x="49" y="0"/>
                  </a:lnTo>
                  <a:lnTo>
                    <a:pt x="66" y="9"/>
                  </a:lnTo>
                  <a:lnTo>
                    <a:pt x="70" y="12"/>
                  </a:lnTo>
                  <a:lnTo>
                    <a:pt x="61" y="21"/>
                  </a:lnTo>
                  <a:lnTo>
                    <a:pt x="67" y="38"/>
                  </a:lnTo>
                  <a:lnTo>
                    <a:pt x="60" y="49"/>
                  </a:lnTo>
                  <a:lnTo>
                    <a:pt x="52" y="60"/>
                  </a:lnTo>
                  <a:lnTo>
                    <a:pt x="54" y="67"/>
                  </a:lnTo>
                  <a:lnTo>
                    <a:pt x="71" y="76"/>
                  </a:lnTo>
                  <a:lnTo>
                    <a:pt x="65" y="81"/>
                  </a:lnTo>
                  <a:lnTo>
                    <a:pt x="53" y="87"/>
                  </a:lnTo>
                  <a:lnTo>
                    <a:pt x="53" y="91"/>
                  </a:lnTo>
                  <a:lnTo>
                    <a:pt x="38" y="88"/>
                  </a:lnTo>
                  <a:lnTo>
                    <a:pt x="35" y="91"/>
                  </a:lnTo>
                  <a:lnTo>
                    <a:pt x="28" y="87"/>
                  </a:lnTo>
                  <a:lnTo>
                    <a:pt x="23" y="85"/>
                  </a:lnTo>
                  <a:lnTo>
                    <a:pt x="26" y="75"/>
                  </a:lnTo>
                  <a:lnTo>
                    <a:pt x="28" y="75"/>
                  </a:lnTo>
                  <a:lnTo>
                    <a:pt x="22" y="70"/>
                  </a:lnTo>
                  <a:lnTo>
                    <a:pt x="18" y="6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4" name="Freeform 263"/>
            <p:cNvSpPr>
              <a:spLocks/>
            </p:cNvSpPr>
            <p:nvPr/>
          </p:nvSpPr>
          <p:spPr bwMode="auto">
            <a:xfrm>
              <a:off x="4609" y="1934"/>
              <a:ext cx="66" cy="85"/>
            </a:xfrm>
            <a:custGeom>
              <a:avLst/>
              <a:gdLst/>
              <a:ahLst/>
              <a:cxnLst>
                <a:cxn ang="0">
                  <a:pos x="35" y="74"/>
                </a:cxn>
                <a:cxn ang="0">
                  <a:pos x="33" y="71"/>
                </a:cxn>
                <a:cxn ang="0">
                  <a:pos x="29" y="74"/>
                </a:cxn>
                <a:cxn ang="0">
                  <a:pos x="25" y="76"/>
                </a:cxn>
                <a:cxn ang="0">
                  <a:pos x="23" y="72"/>
                </a:cxn>
                <a:cxn ang="0">
                  <a:pos x="23" y="70"/>
                </a:cxn>
                <a:cxn ang="0">
                  <a:pos x="23" y="69"/>
                </a:cxn>
                <a:cxn ang="0">
                  <a:pos x="19" y="65"/>
                </a:cxn>
                <a:cxn ang="0">
                  <a:pos x="17" y="54"/>
                </a:cxn>
                <a:cxn ang="0">
                  <a:pos x="15" y="50"/>
                </a:cxn>
                <a:cxn ang="0">
                  <a:pos x="15" y="47"/>
                </a:cxn>
                <a:cxn ang="0">
                  <a:pos x="6" y="36"/>
                </a:cxn>
                <a:cxn ang="0">
                  <a:pos x="2" y="33"/>
                </a:cxn>
                <a:cxn ang="0">
                  <a:pos x="5" y="32"/>
                </a:cxn>
                <a:cxn ang="0">
                  <a:pos x="12" y="34"/>
                </a:cxn>
                <a:cxn ang="0">
                  <a:pos x="11" y="32"/>
                </a:cxn>
                <a:cxn ang="0">
                  <a:pos x="1" y="17"/>
                </a:cxn>
                <a:cxn ang="0">
                  <a:pos x="0" y="15"/>
                </a:cxn>
                <a:cxn ang="0">
                  <a:pos x="0" y="11"/>
                </a:cxn>
                <a:cxn ang="0">
                  <a:pos x="12" y="5"/>
                </a:cxn>
                <a:cxn ang="0">
                  <a:pos x="18" y="0"/>
                </a:cxn>
                <a:cxn ang="0">
                  <a:pos x="35" y="18"/>
                </a:cxn>
                <a:cxn ang="0">
                  <a:pos x="51" y="35"/>
                </a:cxn>
                <a:cxn ang="0">
                  <a:pos x="60" y="60"/>
                </a:cxn>
                <a:cxn ang="0">
                  <a:pos x="54" y="64"/>
                </a:cxn>
                <a:cxn ang="0">
                  <a:pos x="47" y="68"/>
                </a:cxn>
                <a:cxn ang="0">
                  <a:pos x="43" y="66"/>
                </a:cxn>
                <a:cxn ang="0">
                  <a:pos x="41" y="69"/>
                </a:cxn>
                <a:cxn ang="0">
                  <a:pos x="39" y="70"/>
                </a:cxn>
                <a:cxn ang="0">
                  <a:pos x="37" y="71"/>
                </a:cxn>
                <a:cxn ang="0">
                  <a:pos x="35" y="74"/>
                </a:cxn>
              </a:cxnLst>
              <a:rect l="0" t="0" r="r" b="b"/>
              <a:pathLst>
                <a:path w="60" h="76">
                  <a:moveTo>
                    <a:pt x="35" y="74"/>
                  </a:moveTo>
                  <a:lnTo>
                    <a:pt x="33" y="71"/>
                  </a:lnTo>
                  <a:lnTo>
                    <a:pt x="29" y="74"/>
                  </a:lnTo>
                  <a:lnTo>
                    <a:pt x="25" y="76"/>
                  </a:lnTo>
                  <a:lnTo>
                    <a:pt x="23" y="72"/>
                  </a:lnTo>
                  <a:lnTo>
                    <a:pt x="23" y="70"/>
                  </a:lnTo>
                  <a:lnTo>
                    <a:pt x="23" y="69"/>
                  </a:lnTo>
                  <a:lnTo>
                    <a:pt x="19" y="65"/>
                  </a:lnTo>
                  <a:lnTo>
                    <a:pt x="17" y="54"/>
                  </a:lnTo>
                  <a:lnTo>
                    <a:pt x="15" y="50"/>
                  </a:lnTo>
                  <a:lnTo>
                    <a:pt x="15" y="47"/>
                  </a:lnTo>
                  <a:lnTo>
                    <a:pt x="6" y="36"/>
                  </a:lnTo>
                  <a:lnTo>
                    <a:pt x="2" y="33"/>
                  </a:lnTo>
                  <a:lnTo>
                    <a:pt x="5" y="32"/>
                  </a:lnTo>
                  <a:lnTo>
                    <a:pt x="12" y="34"/>
                  </a:lnTo>
                  <a:lnTo>
                    <a:pt x="11" y="32"/>
                  </a:lnTo>
                  <a:lnTo>
                    <a:pt x="1" y="17"/>
                  </a:lnTo>
                  <a:lnTo>
                    <a:pt x="0" y="15"/>
                  </a:lnTo>
                  <a:lnTo>
                    <a:pt x="0" y="11"/>
                  </a:lnTo>
                  <a:lnTo>
                    <a:pt x="12" y="5"/>
                  </a:lnTo>
                  <a:lnTo>
                    <a:pt x="18" y="0"/>
                  </a:lnTo>
                  <a:lnTo>
                    <a:pt x="35" y="18"/>
                  </a:lnTo>
                  <a:lnTo>
                    <a:pt x="51" y="35"/>
                  </a:lnTo>
                  <a:lnTo>
                    <a:pt x="60" y="60"/>
                  </a:lnTo>
                  <a:lnTo>
                    <a:pt x="54" y="64"/>
                  </a:lnTo>
                  <a:lnTo>
                    <a:pt x="47" y="68"/>
                  </a:lnTo>
                  <a:lnTo>
                    <a:pt x="43" y="66"/>
                  </a:lnTo>
                  <a:lnTo>
                    <a:pt x="41" y="69"/>
                  </a:lnTo>
                  <a:lnTo>
                    <a:pt x="39" y="70"/>
                  </a:lnTo>
                  <a:lnTo>
                    <a:pt x="37" y="71"/>
                  </a:lnTo>
                  <a:lnTo>
                    <a:pt x="35" y="7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5" name="Freeform 264"/>
            <p:cNvSpPr>
              <a:spLocks/>
            </p:cNvSpPr>
            <p:nvPr/>
          </p:nvSpPr>
          <p:spPr bwMode="auto">
            <a:xfrm>
              <a:off x="4600" y="2203"/>
              <a:ext cx="24" cy="64"/>
            </a:xfrm>
            <a:custGeom>
              <a:avLst/>
              <a:gdLst/>
              <a:ahLst/>
              <a:cxnLst>
                <a:cxn ang="0">
                  <a:pos x="16" y="57"/>
                </a:cxn>
                <a:cxn ang="0">
                  <a:pos x="3" y="43"/>
                </a:cxn>
                <a:cxn ang="0">
                  <a:pos x="0" y="22"/>
                </a:cxn>
                <a:cxn ang="0">
                  <a:pos x="6" y="12"/>
                </a:cxn>
                <a:cxn ang="0">
                  <a:pos x="12" y="0"/>
                </a:cxn>
                <a:cxn ang="0">
                  <a:pos x="23" y="3"/>
                </a:cxn>
                <a:cxn ang="0">
                  <a:pos x="21" y="16"/>
                </a:cxn>
                <a:cxn ang="0">
                  <a:pos x="19" y="30"/>
                </a:cxn>
                <a:cxn ang="0">
                  <a:pos x="17" y="44"/>
                </a:cxn>
                <a:cxn ang="0">
                  <a:pos x="16" y="57"/>
                </a:cxn>
              </a:cxnLst>
              <a:rect l="0" t="0" r="r" b="b"/>
              <a:pathLst>
                <a:path w="23" h="57">
                  <a:moveTo>
                    <a:pt x="16" y="57"/>
                  </a:moveTo>
                  <a:lnTo>
                    <a:pt x="3" y="43"/>
                  </a:lnTo>
                  <a:lnTo>
                    <a:pt x="0" y="22"/>
                  </a:lnTo>
                  <a:lnTo>
                    <a:pt x="6" y="12"/>
                  </a:lnTo>
                  <a:lnTo>
                    <a:pt x="12" y="0"/>
                  </a:lnTo>
                  <a:lnTo>
                    <a:pt x="23" y="3"/>
                  </a:lnTo>
                  <a:lnTo>
                    <a:pt x="21" y="16"/>
                  </a:lnTo>
                  <a:lnTo>
                    <a:pt x="19" y="30"/>
                  </a:lnTo>
                  <a:lnTo>
                    <a:pt x="17" y="44"/>
                  </a:lnTo>
                  <a:lnTo>
                    <a:pt x="16" y="5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6" name="Freeform 265"/>
            <p:cNvSpPr>
              <a:spLocks/>
            </p:cNvSpPr>
            <p:nvPr/>
          </p:nvSpPr>
          <p:spPr bwMode="auto">
            <a:xfrm>
              <a:off x="3882" y="1672"/>
              <a:ext cx="520" cy="204"/>
            </a:xfrm>
            <a:custGeom>
              <a:avLst/>
              <a:gdLst/>
              <a:ahLst/>
              <a:cxnLst>
                <a:cxn ang="0">
                  <a:pos x="276" y="176"/>
                </a:cxn>
                <a:cxn ang="0">
                  <a:pos x="252" y="168"/>
                </a:cxn>
                <a:cxn ang="0">
                  <a:pos x="211" y="166"/>
                </a:cxn>
                <a:cxn ang="0">
                  <a:pos x="171" y="163"/>
                </a:cxn>
                <a:cxn ang="0">
                  <a:pos x="145" y="136"/>
                </a:cxn>
                <a:cxn ang="0">
                  <a:pos x="104" y="124"/>
                </a:cxn>
                <a:cxn ang="0">
                  <a:pos x="71" y="118"/>
                </a:cxn>
                <a:cxn ang="0">
                  <a:pos x="60" y="89"/>
                </a:cxn>
                <a:cxn ang="0">
                  <a:pos x="27" y="72"/>
                </a:cxn>
                <a:cxn ang="0">
                  <a:pos x="1" y="53"/>
                </a:cxn>
                <a:cxn ang="0">
                  <a:pos x="7" y="44"/>
                </a:cxn>
                <a:cxn ang="0">
                  <a:pos x="33" y="31"/>
                </a:cxn>
                <a:cxn ang="0">
                  <a:pos x="75" y="25"/>
                </a:cxn>
                <a:cxn ang="0">
                  <a:pos x="102" y="35"/>
                </a:cxn>
                <a:cxn ang="0">
                  <a:pos x="133" y="30"/>
                </a:cxn>
                <a:cxn ang="0">
                  <a:pos x="123" y="0"/>
                </a:cxn>
                <a:cxn ang="0">
                  <a:pos x="171" y="11"/>
                </a:cxn>
                <a:cxn ang="0">
                  <a:pos x="204" y="32"/>
                </a:cxn>
                <a:cxn ang="0">
                  <a:pos x="247" y="31"/>
                </a:cxn>
                <a:cxn ang="0">
                  <a:pos x="275" y="42"/>
                </a:cxn>
                <a:cxn ang="0">
                  <a:pos x="320" y="47"/>
                </a:cxn>
                <a:cxn ang="0">
                  <a:pos x="353" y="31"/>
                </a:cxn>
                <a:cxn ang="0">
                  <a:pos x="392" y="38"/>
                </a:cxn>
                <a:cxn ang="0">
                  <a:pos x="396" y="66"/>
                </a:cxn>
                <a:cxn ang="0">
                  <a:pos x="404" y="74"/>
                </a:cxn>
                <a:cxn ang="0">
                  <a:pos x="425" y="77"/>
                </a:cxn>
                <a:cxn ang="0">
                  <a:pos x="463" y="86"/>
                </a:cxn>
                <a:cxn ang="0">
                  <a:pos x="443" y="95"/>
                </a:cxn>
                <a:cxn ang="0">
                  <a:pos x="423" y="115"/>
                </a:cxn>
                <a:cxn ang="0">
                  <a:pos x="396" y="127"/>
                </a:cxn>
                <a:cxn ang="0">
                  <a:pos x="377" y="138"/>
                </a:cxn>
                <a:cxn ang="0">
                  <a:pos x="373" y="157"/>
                </a:cxn>
                <a:cxn ang="0">
                  <a:pos x="343" y="170"/>
                </a:cxn>
                <a:cxn ang="0">
                  <a:pos x="315" y="178"/>
                </a:cxn>
                <a:cxn ang="0">
                  <a:pos x="294" y="180"/>
                </a:cxn>
              </a:cxnLst>
              <a:rect l="0" t="0" r="r" b="b"/>
              <a:pathLst>
                <a:path w="467" h="185">
                  <a:moveTo>
                    <a:pt x="294" y="180"/>
                  </a:moveTo>
                  <a:lnTo>
                    <a:pt x="276" y="176"/>
                  </a:lnTo>
                  <a:lnTo>
                    <a:pt x="258" y="173"/>
                  </a:lnTo>
                  <a:lnTo>
                    <a:pt x="252" y="168"/>
                  </a:lnTo>
                  <a:lnTo>
                    <a:pt x="231" y="167"/>
                  </a:lnTo>
                  <a:lnTo>
                    <a:pt x="211" y="166"/>
                  </a:lnTo>
                  <a:lnTo>
                    <a:pt x="192" y="164"/>
                  </a:lnTo>
                  <a:lnTo>
                    <a:pt x="171" y="163"/>
                  </a:lnTo>
                  <a:lnTo>
                    <a:pt x="158" y="150"/>
                  </a:lnTo>
                  <a:lnTo>
                    <a:pt x="145" y="136"/>
                  </a:lnTo>
                  <a:lnTo>
                    <a:pt x="125" y="130"/>
                  </a:lnTo>
                  <a:lnTo>
                    <a:pt x="104" y="124"/>
                  </a:lnTo>
                  <a:lnTo>
                    <a:pt x="87" y="120"/>
                  </a:lnTo>
                  <a:lnTo>
                    <a:pt x="71" y="118"/>
                  </a:lnTo>
                  <a:lnTo>
                    <a:pt x="65" y="103"/>
                  </a:lnTo>
                  <a:lnTo>
                    <a:pt x="60" y="89"/>
                  </a:lnTo>
                  <a:lnTo>
                    <a:pt x="38" y="74"/>
                  </a:lnTo>
                  <a:lnTo>
                    <a:pt x="27" y="72"/>
                  </a:lnTo>
                  <a:lnTo>
                    <a:pt x="7" y="59"/>
                  </a:lnTo>
                  <a:lnTo>
                    <a:pt x="1" y="53"/>
                  </a:lnTo>
                  <a:lnTo>
                    <a:pt x="0" y="50"/>
                  </a:lnTo>
                  <a:lnTo>
                    <a:pt x="7" y="44"/>
                  </a:lnTo>
                  <a:lnTo>
                    <a:pt x="19" y="38"/>
                  </a:lnTo>
                  <a:lnTo>
                    <a:pt x="33" y="31"/>
                  </a:lnTo>
                  <a:lnTo>
                    <a:pt x="47" y="23"/>
                  </a:lnTo>
                  <a:lnTo>
                    <a:pt x="75" y="25"/>
                  </a:lnTo>
                  <a:lnTo>
                    <a:pt x="80" y="31"/>
                  </a:lnTo>
                  <a:lnTo>
                    <a:pt x="102" y="35"/>
                  </a:lnTo>
                  <a:lnTo>
                    <a:pt x="122" y="38"/>
                  </a:lnTo>
                  <a:lnTo>
                    <a:pt x="133" y="30"/>
                  </a:lnTo>
                  <a:lnTo>
                    <a:pt x="120" y="18"/>
                  </a:lnTo>
                  <a:lnTo>
                    <a:pt x="123" y="0"/>
                  </a:lnTo>
                  <a:lnTo>
                    <a:pt x="147" y="6"/>
                  </a:lnTo>
                  <a:lnTo>
                    <a:pt x="171" y="11"/>
                  </a:lnTo>
                  <a:lnTo>
                    <a:pt x="182" y="22"/>
                  </a:lnTo>
                  <a:lnTo>
                    <a:pt x="204" y="32"/>
                  </a:lnTo>
                  <a:lnTo>
                    <a:pt x="228" y="28"/>
                  </a:lnTo>
                  <a:lnTo>
                    <a:pt x="247" y="31"/>
                  </a:lnTo>
                  <a:lnTo>
                    <a:pt x="267" y="36"/>
                  </a:lnTo>
                  <a:lnTo>
                    <a:pt x="275" y="42"/>
                  </a:lnTo>
                  <a:lnTo>
                    <a:pt x="303" y="49"/>
                  </a:lnTo>
                  <a:lnTo>
                    <a:pt x="320" y="47"/>
                  </a:lnTo>
                  <a:lnTo>
                    <a:pt x="337" y="43"/>
                  </a:lnTo>
                  <a:lnTo>
                    <a:pt x="353" y="31"/>
                  </a:lnTo>
                  <a:lnTo>
                    <a:pt x="379" y="37"/>
                  </a:lnTo>
                  <a:lnTo>
                    <a:pt x="392" y="38"/>
                  </a:lnTo>
                  <a:lnTo>
                    <a:pt x="395" y="52"/>
                  </a:lnTo>
                  <a:lnTo>
                    <a:pt x="396" y="66"/>
                  </a:lnTo>
                  <a:lnTo>
                    <a:pt x="392" y="67"/>
                  </a:lnTo>
                  <a:lnTo>
                    <a:pt x="404" y="74"/>
                  </a:lnTo>
                  <a:lnTo>
                    <a:pt x="420" y="74"/>
                  </a:lnTo>
                  <a:lnTo>
                    <a:pt x="425" y="77"/>
                  </a:lnTo>
                  <a:lnTo>
                    <a:pt x="432" y="70"/>
                  </a:lnTo>
                  <a:lnTo>
                    <a:pt x="463" y="86"/>
                  </a:lnTo>
                  <a:lnTo>
                    <a:pt x="467" y="95"/>
                  </a:lnTo>
                  <a:lnTo>
                    <a:pt x="443" y="95"/>
                  </a:lnTo>
                  <a:lnTo>
                    <a:pt x="426" y="103"/>
                  </a:lnTo>
                  <a:lnTo>
                    <a:pt x="423" y="115"/>
                  </a:lnTo>
                  <a:lnTo>
                    <a:pt x="409" y="119"/>
                  </a:lnTo>
                  <a:lnTo>
                    <a:pt x="396" y="127"/>
                  </a:lnTo>
                  <a:lnTo>
                    <a:pt x="374" y="121"/>
                  </a:lnTo>
                  <a:lnTo>
                    <a:pt x="377" y="138"/>
                  </a:lnTo>
                  <a:lnTo>
                    <a:pt x="386" y="146"/>
                  </a:lnTo>
                  <a:lnTo>
                    <a:pt x="373" y="157"/>
                  </a:lnTo>
                  <a:lnTo>
                    <a:pt x="360" y="169"/>
                  </a:lnTo>
                  <a:lnTo>
                    <a:pt x="343" y="170"/>
                  </a:lnTo>
                  <a:lnTo>
                    <a:pt x="325" y="172"/>
                  </a:lnTo>
                  <a:lnTo>
                    <a:pt x="315" y="178"/>
                  </a:lnTo>
                  <a:lnTo>
                    <a:pt x="305" y="185"/>
                  </a:lnTo>
                  <a:lnTo>
                    <a:pt x="294" y="18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7" name="Freeform 266"/>
            <p:cNvSpPr>
              <a:spLocks/>
            </p:cNvSpPr>
            <p:nvPr/>
          </p:nvSpPr>
          <p:spPr bwMode="auto">
            <a:xfrm>
              <a:off x="3253" y="1608"/>
              <a:ext cx="618" cy="273"/>
            </a:xfrm>
            <a:custGeom>
              <a:avLst/>
              <a:gdLst/>
              <a:ahLst/>
              <a:cxnLst>
                <a:cxn ang="0">
                  <a:pos x="65" y="146"/>
                </a:cxn>
                <a:cxn ang="0">
                  <a:pos x="45" y="155"/>
                </a:cxn>
                <a:cxn ang="0">
                  <a:pos x="17" y="125"/>
                </a:cxn>
                <a:cxn ang="0">
                  <a:pos x="3" y="93"/>
                </a:cxn>
                <a:cxn ang="0">
                  <a:pos x="22" y="81"/>
                </a:cxn>
                <a:cxn ang="0">
                  <a:pos x="35" y="65"/>
                </a:cxn>
                <a:cxn ang="0">
                  <a:pos x="65" y="57"/>
                </a:cxn>
                <a:cxn ang="0">
                  <a:pos x="103" y="74"/>
                </a:cxn>
                <a:cxn ang="0">
                  <a:pos x="151" y="72"/>
                </a:cxn>
                <a:cxn ang="0">
                  <a:pos x="180" y="71"/>
                </a:cxn>
                <a:cxn ang="0">
                  <a:pos x="172" y="34"/>
                </a:cxn>
                <a:cxn ang="0">
                  <a:pos x="168" y="27"/>
                </a:cxn>
                <a:cxn ang="0">
                  <a:pos x="204" y="21"/>
                </a:cxn>
                <a:cxn ang="0">
                  <a:pos x="238" y="11"/>
                </a:cxn>
                <a:cxn ang="0">
                  <a:pos x="270" y="2"/>
                </a:cxn>
                <a:cxn ang="0">
                  <a:pos x="293" y="11"/>
                </a:cxn>
                <a:cxn ang="0">
                  <a:pos x="330" y="26"/>
                </a:cxn>
                <a:cxn ang="0">
                  <a:pos x="359" y="21"/>
                </a:cxn>
                <a:cxn ang="0">
                  <a:pos x="379" y="17"/>
                </a:cxn>
                <a:cxn ang="0">
                  <a:pos x="396" y="39"/>
                </a:cxn>
                <a:cxn ang="0">
                  <a:pos x="433" y="64"/>
                </a:cxn>
                <a:cxn ang="0">
                  <a:pos x="456" y="72"/>
                </a:cxn>
                <a:cxn ang="0">
                  <a:pos x="484" y="74"/>
                </a:cxn>
                <a:cxn ang="0">
                  <a:pos x="522" y="96"/>
                </a:cxn>
                <a:cxn ang="0">
                  <a:pos x="557" y="110"/>
                </a:cxn>
                <a:cxn ang="0">
                  <a:pos x="544" y="126"/>
                </a:cxn>
                <a:cxn ang="0">
                  <a:pos x="538" y="147"/>
                </a:cxn>
                <a:cxn ang="0">
                  <a:pos x="517" y="158"/>
                </a:cxn>
                <a:cxn ang="0">
                  <a:pos x="525" y="179"/>
                </a:cxn>
                <a:cxn ang="0">
                  <a:pos x="487" y="184"/>
                </a:cxn>
                <a:cxn ang="0">
                  <a:pos x="503" y="201"/>
                </a:cxn>
                <a:cxn ang="0">
                  <a:pos x="510" y="218"/>
                </a:cxn>
                <a:cxn ang="0">
                  <a:pos x="489" y="210"/>
                </a:cxn>
                <a:cxn ang="0">
                  <a:pos x="450" y="214"/>
                </a:cxn>
                <a:cxn ang="0">
                  <a:pos x="417" y="213"/>
                </a:cxn>
                <a:cxn ang="0">
                  <a:pos x="394" y="221"/>
                </a:cxn>
                <a:cxn ang="0">
                  <a:pos x="369" y="226"/>
                </a:cxn>
                <a:cxn ang="0">
                  <a:pos x="341" y="246"/>
                </a:cxn>
                <a:cxn ang="0">
                  <a:pos x="313" y="232"/>
                </a:cxn>
                <a:cxn ang="0">
                  <a:pos x="297" y="207"/>
                </a:cxn>
                <a:cxn ang="0">
                  <a:pos x="265" y="204"/>
                </a:cxn>
                <a:cxn ang="0">
                  <a:pos x="235" y="202"/>
                </a:cxn>
                <a:cxn ang="0">
                  <a:pos x="202" y="176"/>
                </a:cxn>
                <a:cxn ang="0">
                  <a:pos x="166" y="172"/>
                </a:cxn>
                <a:cxn ang="0">
                  <a:pos x="151" y="195"/>
                </a:cxn>
                <a:cxn ang="0">
                  <a:pos x="160" y="226"/>
                </a:cxn>
                <a:cxn ang="0">
                  <a:pos x="147" y="237"/>
                </a:cxn>
                <a:cxn ang="0">
                  <a:pos x="131" y="220"/>
                </a:cxn>
                <a:cxn ang="0">
                  <a:pos x="94" y="215"/>
                </a:cxn>
                <a:cxn ang="0">
                  <a:pos x="75" y="194"/>
                </a:cxn>
                <a:cxn ang="0">
                  <a:pos x="84" y="188"/>
                </a:cxn>
                <a:cxn ang="0">
                  <a:pos x="85" y="174"/>
                </a:cxn>
                <a:cxn ang="0">
                  <a:pos x="100" y="167"/>
                </a:cxn>
                <a:cxn ang="0">
                  <a:pos x="77" y="147"/>
                </a:cxn>
              </a:cxnLst>
              <a:rect l="0" t="0" r="r" b="b"/>
              <a:pathLst>
                <a:path w="557" h="246">
                  <a:moveTo>
                    <a:pt x="77" y="147"/>
                  </a:moveTo>
                  <a:lnTo>
                    <a:pt x="65" y="146"/>
                  </a:lnTo>
                  <a:lnTo>
                    <a:pt x="47" y="154"/>
                  </a:lnTo>
                  <a:lnTo>
                    <a:pt x="45" y="155"/>
                  </a:lnTo>
                  <a:lnTo>
                    <a:pt x="34" y="138"/>
                  </a:lnTo>
                  <a:lnTo>
                    <a:pt x="17" y="125"/>
                  </a:lnTo>
                  <a:lnTo>
                    <a:pt x="0" y="112"/>
                  </a:lnTo>
                  <a:lnTo>
                    <a:pt x="3" y="93"/>
                  </a:lnTo>
                  <a:lnTo>
                    <a:pt x="5" y="74"/>
                  </a:lnTo>
                  <a:lnTo>
                    <a:pt x="22" y="81"/>
                  </a:lnTo>
                  <a:lnTo>
                    <a:pt x="24" y="74"/>
                  </a:lnTo>
                  <a:lnTo>
                    <a:pt x="35" y="65"/>
                  </a:lnTo>
                  <a:lnTo>
                    <a:pt x="46" y="58"/>
                  </a:lnTo>
                  <a:lnTo>
                    <a:pt x="65" y="57"/>
                  </a:lnTo>
                  <a:lnTo>
                    <a:pt x="84" y="65"/>
                  </a:lnTo>
                  <a:lnTo>
                    <a:pt x="103" y="74"/>
                  </a:lnTo>
                  <a:lnTo>
                    <a:pt x="124" y="72"/>
                  </a:lnTo>
                  <a:lnTo>
                    <a:pt x="151" y="72"/>
                  </a:lnTo>
                  <a:lnTo>
                    <a:pt x="178" y="76"/>
                  </a:lnTo>
                  <a:lnTo>
                    <a:pt x="180" y="71"/>
                  </a:lnTo>
                  <a:lnTo>
                    <a:pt x="166" y="54"/>
                  </a:lnTo>
                  <a:lnTo>
                    <a:pt x="172" y="34"/>
                  </a:lnTo>
                  <a:lnTo>
                    <a:pt x="185" y="35"/>
                  </a:lnTo>
                  <a:lnTo>
                    <a:pt x="168" y="27"/>
                  </a:lnTo>
                  <a:lnTo>
                    <a:pt x="186" y="23"/>
                  </a:lnTo>
                  <a:lnTo>
                    <a:pt x="204" y="21"/>
                  </a:lnTo>
                  <a:lnTo>
                    <a:pt x="221" y="16"/>
                  </a:lnTo>
                  <a:lnTo>
                    <a:pt x="238" y="11"/>
                  </a:lnTo>
                  <a:lnTo>
                    <a:pt x="253" y="6"/>
                  </a:lnTo>
                  <a:lnTo>
                    <a:pt x="270" y="2"/>
                  </a:lnTo>
                  <a:lnTo>
                    <a:pt x="283" y="0"/>
                  </a:lnTo>
                  <a:lnTo>
                    <a:pt x="293" y="11"/>
                  </a:lnTo>
                  <a:lnTo>
                    <a:pt x="319" y="21"/>
                  </a:lnTo>
                  <a:lnTo>
                    <a:pt x="330" y="26"/>
                  </a:lnTo>
                  <a:lnTo>
                    <a:pt x="341" y="28"/>
                  </a:lnTo>
                  <a:lnTo>
                    <a:pt x="359" y="21"/>
                  </a:lnTo>
                  <a:lnTo>
                    <a:pt x="376" y="15"/>
                  </a:lnTo>
                  <a:lnTo>
                    <a:pt x="379" y="17"/>
                  </a:lnTo>
                  <a:lnTo>
                    <a:pt x="377" y="26"/>
                  </a:lnTo>
                  <a:lnTo>
                    <a:pt x="396" y="39"/>
                  </a:lnTo>
                  <a:lnTo>
                    <a:pt x="414" y="51"/>
                  </a:lnTo>
                  <a:lnTo>
                    <a:pt x="433" y="64"/>
                  </a:lnTo>
                  <a:lnTo>
                    <a:pt x="453" y="77"/>
                  </a:lnTo>
                  <a:lnTo>
                    <a:pt x="456" y="72"/>
                  </a:lnTo>
                  <a:lnTo>
                    <a:pt x="466" y="76"/>
                  </a:lnTo>
                  <a:lnTo>
                    <a:pt x="484" y="74"/>
                  </a:lnTo>
                  <a:lnTo>
                    <a:pt x="503" y="86"/>
                  </a:lnTo>
                  <a:lnTo>
                    <a:pt x="522" y="96"/>
                  </a:lnTo>
                  <a:lnTo>
                    <a:pt x="540" y="93"/>
                  </a:lnTo>
                  <a:lnTo>
                    <a:pt x="557" y="110"/>
                  </a:lnTo>
                  <a:lnTo>
                    <a:pt x="551" y="122"/>
                  </a:lnTo>
                  <a:lnTo>
                    <a:pt x="544" y="126"/>
                  </a:lnTo>
                  <a:lnTo>
                    <a:pt x="551" y="144"/>
                  </a:lnTo>
                  <a:lnTo>
                    <a:pt x="538" y="147"/>
                  </a:lnTo>
                  <a:lnTo>
                    <a:pt x="515" y="142"/>
                  </a:lnTo>
                  <a:lnTo>
                    <a:pt x="517" y="158"/>
                  </a:lnTo>
                  <a:lnTo>
                    <a:pt x="519" y="172"/>
                  </a:lnTo>
                  <a:lnTo>
                    <a:pt x="525" y="179"/>
                  </a:lnTo>
                  <a:lnTo>
                    <a:pt x="504" y="177"/>
                  </a:lnTo>
                  <a:lnTo>
                    <a:pt x="487" y="184"/>
                  </a:lnTo>
                  <a:lnTo>
                    <a:pt x="497" y="188"/>
                  </a:lnTo>
                  <a:lnTo>
                    <a:pt x="503" y="201"/>
                  </a:lnTo>
                  <a:lnTo>
                    <a:pt x="510" y="214"/>
                  </a:lnTo>
                  <a:lnTo>
                    <a:pt x="510" y="218"/>
                  </a:lnTo>
                  <a:lnTo>
                    <a:pt x="507" y="221"/>
                  </a:lnTo>
                  <a:lnTo>
                    <a:pt x="489" y="210"/>
                  </a:lnTo>
                  <a:lnTo>
                    <a:pt x="469" y="212"/>
                  </a:lnTo>
                  <a:lnTo>
                    <a:pt x="450" y="214"/>
                  </a:lnTo>
                  <a:lnTo>
                    <a:pt x="430" y="214"/>
                  </a:lnTo>
                  <a:lnTo>
                    <a:pt x="417" y="213"/>
                  </a:lnTo>
                  <a:lnTo>
                    <a:pt x="408" y="222"/>
                  </a:lnTo>
                  <a:lnTo>
                    <a:pt x="394" y="221"/>
                  </a:lnTo>
                  <a:lnTo>
                    <a:pt x="378" y="219"/>
                  </a:lnTo>
                  <a:lnTo>
                    <a:pt x="369" y="226"/>
                  </a:lnTo>
                  <a:lnTo>
                    <a:pt x="355" y="237"/>
                  </a:lnTo>
                  <a:lnTo>
                    <a:pt x="341" y="246"/>
                  </a:lnTo>
                  <a:lnTo>
                    <a:pt x="328" y="239"/>
                  </a:lnTo>
                  <a:lnTo>
                    <a:pt x="313" y="232"/>
                  </a:lnTo>
                  <a:lnTo>
                    <a:pt x="312" y="218"/>
                  </a:lnTo>
                  <a:lnTo>
                    <a:pt x="297" y="207"/>
                  </a:lnTo>
                  <a:lnTo>
                    <a:pt x="281" y="206"/>
                  </a:lnTo>
                  <a:lnTo>
                    <a:pt x="265" y="204"/>
                  </a:lnTo>
                  <a:lnTo>
                    <a:pt x="251" y="203"/>
                  </a:lnTo>
                  <a:lnTo>
                    <a:pt x="235" y="202"/>
                  </a:lnTo>
                  <a:lnTo>
                    <a:pt x="221" y="185"/>
                  </a:lnTo>
                  <a:lnTo>
                    <a:pt x="202" y="176"/>
                  </a:lnTo>
                  <a:lnTo>
                    <a:pt x="183" y="165"/>
                  </a:lnTo>
                  <a:lnTo>
                    <a:pt x="166" y="172"/>
                  </a:lnTo>
                  <a:lnTo>
                    <a:pt x="148" y="178"/>
                  </a:lnTo>
                  <a:lnTo>
                    <a:pt x="151" y="195"/>
                  </a:lnTo>
                  <a:lnTo>
                    <a:pt x="155" y="210"/>
                  </a:lnTo>
                  <a:lnTo>
                    <a:pt x="160" y="226"/>
                  </a:lnTo>
                  <a:lnTo>
                    <a:pt x="163" y="243"/>
                  </a:lnTo>
                  <a:lnTo>
                    <a:pt x="147" y="237"/>
                  </a:lnTo>
                  <a:lnTo>
                    <a:pt x="130" y="232"/>
                  </a:lnTo>
                  <a:lnTo>
                    <a:pt x="131" y="220"/>
                  </a:lnTo>
                  <a:lnTo>
                    <a:pt x="106" y="220"/>
                  </a:lnTo>
                  <a:lnTo>
                    <a:pt x="94" y="215"/>
                  </a:lnTo>
                  <a:lnTo>
                    <a:pt x="88" y="212"/>
                  </a:lnTo>
                  <a:lnTo>
                    <a:pt x="75" y="194"/>
                  </a:lnTo>
                  <a:lnTo>
                    <a:pt x="67" y="189"/>
                  </a:lnTo>
                  <a:lnTo>
                    <a:pt x="84" y="188"/>
                  </a:lnTo>
                  <a:lnTo>
                    <a:pt x="77" y="182"/>
                  </a:lnTo>
                  <a:lnTo>
                    <a:pt x="85" y="174"/>
                  </a:lnTo>
                  <a:lnTo>
                    <a:pt x="103" y="174"/>
                  </a:lnTo>
                  <a:lnTo>
                    <a:pt x="100" y="167"/>
                  </a:lnTo>
                  <a:lnTo>
                    <a:pt x="96" y="148"/>
                  </a:lnTo>
                  <a:lnTo>
                    <a:pt x="77" y="1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8" name="Freeform 267"/>
            <p:cNvSpPr>
              <a:spLocks/>
            </p:cNvSpPr>
            <p:nvPr/>
          </p:nvSpPr>
          <p:spPr bwMode="auto">
            <a:xfrm>
              <a:off x="3156" y="1827"/>
              <a:ext cx="133" cy="52"/>
            </a:xfrm>
            <a:custGeom>
              <a:avLst/>
              <a:gdLst/>
              <a:ahLst/>
              <a:cxnLst>
                <a:cxn ang="0">
                  <a:pos x="24" y="17"/>
                </a:cxn>
                <a:cxn ang="0">
                  <a:pos x="0" y="3"/>
                </a:cxn>
                <a:cxn ang="0">
                  <a:pos x="1" y="0"/>
                </a:cxn>
                <a:cxn ang="0">
                  <a:pos x="17" y="2"/>
                </a:cxn>
                <a:cxn ang="0">
                  <a:pos x="33" y="3"/>
                </a:cxn>
                <a:cxn ang="0">
                  <a:pos x="55" y="12"/>
                </a:cxn>
                <a:cxn ang="0">
                  <a:pos x="77" y="21"/>
                </a:cxn>
                <a:cxn ang="0">
                  <a:pos x="98" y="29"/>
                </a:cxn>
                <a:cxn ang="0">
                  <a:pos x="120" y="38"/>
                </a:cxn>
                <a:cxn ang="0">
                  <a:pos x="115" y="46"/>
                </a:cxn>
                <a:cxn ang="0">
                  <a:pos x="101" y="45"/>
                </a:cxn>
                <a:cxn ang="0">
                  <a:pos x="79" y="44"/>
                </a:cxn>
                <a:cxn ang="0">
                  <a:pos x="57" y="44"/>
                </a:cxn>
                <a:cxn ang="0">
                  <a:pos x="39" y="45"/>
                </a:cxn>
                <a:cxn ang="0">
                  <a:pos x="38" y="32"/>
                </a:cxn>
                <a:cxn ang="0">
                  <a:pos x="24" y="17"/>
                </a:cxn>
              </a:cxnLst>
              <a:rect l="0" t="0" r="r" b="b"/>
              <a:pathLst>
                <a:path w="120" h="46">
                  <a:moveTo>
                    <a:pt x="24" y="17"/>
                  </a:moveTo>
                  <a:lnTo>
                    <a:pt x="0" y="3"/>
                  </a:lnTo>
                  <a:lnTo>
                    <a:pt x="1" y="0"/>
                  </a:lnTo>
                  <a:lnTo>
                    <a:pt x="17" y="2"/>
                  </a:lnTo>
                  <a:lnTo>
                    <a:pt x="33" y="3"/>
                  </a:lnTo>
                  <a:lnTo>
                    <a:pt x="55" y="12"/>
                  </a:lnTo>
                  <a:lnTo>
                    <a:pt x="77" y="21"/>
                  </a:lnTo>
                  <a:lnTo>
                    <a:pt x="98" y="29"/>
                  </a:lnTo>
                  <a:lnTo>
                    <a:pt x="120" y="38"/>
                  </a:lnTo>
                  <a:lnTo>
                    <a:pt x="115" y="46"/>
                  </a:lnTo>
                  <a:lnTo>
                    <a:pt x="101" y="45"/>
                  </a:lnTo>
                  <a:lnTo>
                    <a:pt x="79" y="44"/>
                  </a:lnTo>
                  <a:lnTo>
                    <a:pt x="57" y="44"/>
                  </a:lnTo>
                  <a:lnTo>
                    <a:pt x="39" y="45"/>
                  </a:lnTo>
                  <a:lnTo>
                    <a:pt x="38" y="32"/>
                  </a:lnTo>
                  <a:lnTo>
                    <a:pt x="24"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9" name="Freeform 268"/>
            <p:cNvSpPr>
              <a:spLocks/>
            </p:cNvSpPr>
            <p:nvPr/>
          </p:nvSpPr>
          <p:spPr bwMode="auto">
            <a:xfrm>
              <a:off x="3662" y="1841"/>
              <a:ext cx="158" cy="80"/>
            </a:xfrm>
            <a:custGeom>
              <a:avLst/>
              <a:gdLst/>
              <a:ahLst/>
              <a:cxnLst>
                <a:cxn ang="0">
                  <a:pos x="46" y="41"/>
                </a:cxn>
                <a:cxn ang="0">
                  <a:pos x="31" y="32"/>
                </a:cxn>
                <a:cxn ang="0">
                  <a:pos x="10" y="29"/>
                </a:cxn>
                <a:cxn ang="0">
                  <a:pos x="0" y="16"/>
                </a:cxn>
                <a:cxn ang="0">
                  <a:pos x="9" y="9"/>
                </a:cxn>
                <a:cxn ang="0">
                  <a:pos x="25" y="11"/>
                </a:cxn>
                <a:cxn ang="0">
                  <a:pos x="39" y="12"/>
                </a:cxn>
                <a:cxn ang="0">
                  <a:pos x="48" y="3"/>
                </a:cxn>
                <a:cxn ang="0">
                  <a:pos x="61" y="4"/>
                </a:cxn>
                <a:cxn ang="0">
                  <a:pos x="81" y="4"/>
                </a:cxn>
                <a:cxn ang="0">
                  <a:pos x="100" y="2"/>
                </a:cxn>
                <a:cxn ang="0">
                  <a:pos x="120" y="0"/>
                </a:cxn>
                <a:cxn ang="0">
                  <a:pos x="138" y="11"/>
                </a:cxn>
                <a:cxn ang="0">
                  <a:pos x="141" y="20"/>
                </a:cxn>
                <a:cxn ang="0">
                  <a:pos x="130" y="29"/>
                </a:cxn>
                <a:cxn ang="0">
                  <a:pos x="120" y="38"/>
                </a:cxn>
                <a:cxn ang="0">
                  <a:pos x="104" y="42"/>
                </a:cxn>
                <a:cxn ang="0">
                  <a:pos x="94" y="53"/>
                </a:cxn>
                <a:cxn ang="0">
                  <a:pos x="86" y="51"/>
                </a:cxn>
                <a:cxn ang="0">
                  <a:pos x="79" y="52"/>
                </a:cxn>
                <a:cxn ang="0">
                  <a:pos x="68" y="58"/>
                </a:cxn>
                <a:cxn ang="0">
                  <a:pos x="62" y="71"/>
                </a:cxn>
                <a:cxn ang="0">
                  <a:pos x="37" y="69"/>
                </a:cxn>
                <a:cxn ang="0">
                  <a:pos x="12" y="65"/>
                </a:cxn>
                <a:cxn ang="0">
                  <a:pos x="10" y="53"/>
                </a:cxn>
                <a:cxn ang="0">
                  <a:pos x="28" y="47"/>
                </a:cxn>
                <a:cxn ang="0">
                  <a:pos x="46" y="41"/>
                </a:cxn>
              </a:cxnLst>
              <a:rect l="0" t="0" r="r" b="b"/>
              <a:pathLst>
                <a:path w="141" h="71">
                  <a:moveTo>
                    <a:pt x="46" y="41"/>
                  </a:moveTo>
                  <a:lnTo>
                    <a:pt x="31" y="32"/>
                  </a:lnTo>
                  <a:lnTo>
                    <a:pt x="10" y="29"/>
                  </a:lnTo>
                  <a:lnTo>
                    <a:pt x="0" y="16"/>
                  </a:lnTo>
                  <a:lnTo>
                    <a:pt x="9" y="9"/>
                  </a:lnTo>
                  <a:lnTo>
                    <a:pt x="25" y="11"/>
                  </a:lnTo>
                  <a:lnTo>
                    <a:pt x="39" y="12"/>
                  </a:lnTo>
                  <a:lnTo>
                    <a:pt x="48" y="3"/>
                  </a:lnTo>
                  <a:lnTo>
                    <a:pt x="61" y="4"/>
                  </a:lnTo>
                  <a:lnTo>
                    <a:pt x="81" y="4"/>
                  </a:lnTo>
                  <a:lnTo>
                    <a:pt x="100" y="2"/>
                  </a:lnTo>
                  <a:lnTo>
                    <a:pt x="120" y="0"/>
                  </a:lnTo>
                  <a:lnTo>
                    <a:pt x="138" y="11"/>
                  </a:lnTo>
                  <a:lnTo>
                    <a:pt x="141" y="20"/>
                  </a:lnTo>
                  <a:lnTo>
                    <a:pt x="130" y="29"/>
                  </a:lnTo>
                  <a:lnTo>
                    <a:pt x="120" y="38"/>
                  </a:lnTo>
                  <a:lnTo>
                    <a:pt x="104" y="42"/>
                  </a:lnTo>
                  <a:lnTo>
                    <a:pt x="94" y="53"/>
                  </a:lnTo>
                  <a:lnTo>
                    <a:pt x="86" y="51"/>
                  </a:lnTo>
                  <a:lnTo>
                    <a:pt x="79" y="52"/>
                  </a:lnTo>
                  <a:lnTo>
                    <a:pt x="68" y="58"/>
                  </a:lnTo>
                  <a:lnTo>
                    <a:pt x="62" y="71"/>
                  </a:lnTo>
                  <a:lnTo>
                    <a:pt x="37" y="69"/>
                  </a:lnTo>
                  <a:lnTo>
                    <a:pt x="12" y="65"/>
                  </a:lnTo>
                  <a:lnTo>
                    <a:pt x="10" y="53"/>
                  </a:lnTo>
                  <a:lnTo>
                    <a:pt x="28" y="47"/>
                  </a:lnTo>
                  <a:lnTo>
                    <a:pt x="46" y="4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0" name="Freeform 269"/>
            <p:cNvSpPr>
              <a:spLocks/>
            </p:cNvSpPr>
            <p:nvPr/>
          </p:nvSpPr>
          <p:spPr bwMode="auto">
            <a:xfrm>
              <a:off x="3369" y="1852"/>
              <a:ext cx="242" cy="149"/>
            </a:xfrm>
            <a:custGeom>
              <a:avLst/>
              <a:gdLst/>
              <a:ahLst/>
              <a:cxnLst>
                <a:cxn ang="0">
                  <a:pos x="206" y="104"/>
                </a:cxn>
                <a:cxn ang="0">
                  <a:pos x="200" y="119"/>
                </a:cxn>
                <a:cxn ang="0">
                  <a:pos x="187" y="126"/>
                </a:cxn>
                <a:cxn ang="0">
                  <a:pos x="182" y="134"/>
                </a:cxn>
                <a:cxn ang="0">
                  <a:pos x="174" y="133"/>
                </a:cxn>
                <a:cxn ang="0">
                  <a:pos x="159" y="128"/>
                </a:cxn>
                <a:cxn ang="0">
                  <a:pos x="153" y="110"/>
                </a:cxn>
                <a:cxn ang="0">
                  <a:pos x="140" y="108"/>
                </a:cxn>
                <a:cxn ang="0">
                  <a:pos x="127" y="100"/>
                </a:cxn>
                <a:cxn ang="0">
                  <a:pos x="114" y="91"/>
                </a:cxn>
                <a:cxn ang="0">
                  <a:pos x="90" y="83"/>
                </a:cxn>
                <a:cxn ang="0">
                  <a:pos x="75" y="84"/>
                </a:cxn>
                <a:cxn ang="0">
                  <a:pos x="59" y="86"/>
                </a:cxn>
                <a:cxn ang="0">
                  <a:pos x="48" y="97"/>
                </a:cxn>
                <a:cxn ang="0">
                  <a:pos x="43" y="97"/>
                </a:cxn>
                <a:cxn ang="0">
                  <a:pos x="39" y="83"/>
                </a:cxn>
                <a:cxn ang="0">
                  <a:pos x="35" y="67"/>
                </a:cxn>
                <a:cxn ang="0">
                  <a:pos x="26" y="61"/>
                </a:cxn>
                <a:cxn ang="0">
                  <a:pos x="25" y="62"/>
                </a:cxn>
                <a:cxn ang="0">
                  <a:pos x="27" y="59"/>
                </a:cxn>
                <a:cxn ang="0">
                  <a:pos x="30" y="56"/>
                </a:cxn>
                <a:cxn ang="0">
                  <a:pos x="26" y="50"/>
                </a:cxn>
                <a:cxn ang="0">
                  <a:pos x="19" y="52"/>
                </a:cxn>
                <a:cxn ang="0">
                  <a:pos x="19" y="53"/>
                </a:cxn>
                <a:cxn ang="0">
                  <a:pos x="14" y="35"/>
                </a:cxn>
                <a:cxn ang="0">
                  <a:pos x="17" y="34"/>
                </a:cxn>
                <a:cxn ang="0">
                  <a:pos x="25" y="34"/>
                </a:cxn>
                <a:cxn ang="0">
                  <a:pos x="32" y="38"/>
                </a:cxn>
                <a:cxn ang="0">
                  <a:pos x="36" y="37"/>
                </a:cxn>
                <a:cxn ang="0">
                  <a:pos x="37" y="35"/>
                </a:cxn>
                <a:cxn ang="0">
                  <a:pos x="39" y="30"/>
                </a:cxn>
                <a:cxn ang="0">
                  <a:pos x="25" y="14"/>
                </a:cxn>
                <a:cxn ang="0">
                  <a:pos x="12" y="13"/>
                </a:cxn>
                <a:cxn ang="0">
                  <a:pos x="13" y="28"/>
                </a:cxn>
                <a:cxn ang="0">
                  <a:pos x="13" y="30"/>
                </a:cxn>
                <a:cxn ang="0">
                  <a:pos x="3" y="11"/>
                </a:cxn>
                <a:cxn ang="0">
                  <a:pos x="5" y="2"/>
                </a:cxn>
                <a:cxn ang="0">
                  <a:pos x="0" y="0"/>
                </a:cxn>
                <a:cxn ang="0">
                  <a:pos x="25" y="0"/>
                </a:cxn>
                <a:cxn ang="0">
                  <a:pos x="24" y="12"/>
                </a:cxn>
                <a:cxn ang="0">
                  <a:pos x="41" y="17"/>
                </a:cxn>
                <a:cxn ang="0">
                  <a:pos x="57" y="23"/>
                </a:cxn>
                <a:cxn ang="0">
                  <a:pos x="78" y="26"/>
                </a:cxn>
                <a:cxn ang="0">
                  <a:pos x="74" y="17"/>
                </a:cxn>
                <a:cxn ang="0">
                  <a:pos x="81" y="13"/>
                </a:cxn>
                <a:cxn ang="0">
                  <a:pos x="93" y="0"/>
                </a:cxn>
                <a:cxn ang="0">
                  <a:pos x="113" y="13"/>
                </a:cxn>
                <a:cxn ang="0">
                  <a:pos x="125" y="31"/>
                </a:cxn>
                <a:cxn ang="0">
                  <a:pos x="144" y="38"/>
                </a:cxn>
                <a:cxn ang="0">
                  <a:pos x="157" y="46"/>
                </a:cxn>
                <a:cxn ang="0">
                  <a:pos x="182" y="61"/>
                </a:cxn>
                <a:cxn ang="0">
                  <a:pos x="207" y="77"/>
                </a:cxn>
                <a:cxn ang="0">
                  <a:pos x="217" y="95"/>
                </a:cxn>
                <a:cxn ang="0">
                  <a:pos x="211" y="100"/>
                </a:cxn>
                <a:cxn ang="0">
                  <a:pos x="206" y="104"/>
                </a:cxn>
              </a:cxnLst>
              <a:rect l="0" t="0" r="r" b="b"/>
              <a:pathLst>
                <a:path w="217" h="134">
                  <a:moveTo>
                    <a:pt x="206" y="104"/>
                  </a:moveTo>
                  <a:lnTo>
                    <a:pt x="200" y="119"/>
                  </a:lnTo>
                  <a:lnTo>
                    <a:pt x="187" y="126"/>
                  </a:lnTo>
                  <a:lnTo>
                    <a:pt x="182" y="134"/>
                  </a:lnTo>
                  <a:lnTo>
                    <a:pt x="174" y="133"/>
                  </a:lnTo>
                  <a:lnTo>
                    <a:pt x="159" y="128"/>
                  </a:lnTo>
                  <a:lnTo>
                    <a:pt x="153" y="110"/>
                  </a:lnTo>
                  <a:lnTo>
                    <a:pt x="140" y="108"/>
                  </a:lnTo>
                  <a:lnTo>
                    <a:pt x="127" y="100"/>
                  </a:lnTo>
                  <a:lnTo>
                    <a:pt x="114" y="91"/>
                  </a:lnTo>
                  <a:lnTo>
                    <a:pt x="90" y="83"/>
                  </a:lnTo>
                  <a:lnTo>
                    <a:pt x="75" y="84"/>
                  </a:lnTo>
                  <a:lnTo>
                    <a:pt x="59" y="86"/>
                  </a:lnTo>
                  <a:lnTo>
                    <a:pt x="48" y="97"/>
                  </a:lnTo>
                  <a:lnTo>
                    <a:pt x="43" y="97"/>
                  </a:lnTo>
                  <a:lnTo>
                    <a:pt x="39" y="83"/>
                  </a:lnTo>
                  <a:lnTo>
                    <a:pt x="35" y="67"/>
                  </a:lnTo>
                  <a:lnTo>
                    <a:pt x="26" y="61"/>
                  </a:lnTo>
                  <a:lnTo>
                    <a:pt x="25" y="62"/>
                  </a:lnTo>
                  <a:lnTo>
                    <a:pt x="27" y="59"/>
                  </a:lnTo>
                  <a:lnTo>
                    <a:pt x="30" y="56"/>
                  </a:lnTo>
                  <a:lnTo>
                    <a:pt x="26" y="50"/>
                  </a:lnTo>
                  <a:lnTo>
                    <a:pt x="19" y="52"/>
                  </a:lnTo>
                  <a:lnTo>
                    <a:pt x="19" y="53"/>
                  </a:lnTo>
                  <a:lnTo>
                    <a:pt x="14" y="35"/>
                  </a:lnTo>
                  <a:lnTo>
                    <a:pt x="17" y="34"/>
                  </a:lnTo>
                  <a:lnTo>
                    <a:pt x="25" y="34"/>
                  </a:lnTo>
                  <a:lnTo>
                    <a:pt x="32" y="38"/>
                  </a:lnTo>
                  <a:lnTo>
                    <a:pt x="36" y="37"/>
                  </a:lnTo>
                  <a:lnTo>
                    <a:pt x="37" y="35"/>
                  </a:lnTo>
                  <a:lnTo>
                    <a:pt x="39" y="30"/>
                  </a:lnTo>
                  <a:lnTo>
                    <a:pt x="25" y="14"/>
                  </a:lnTo>
                  <a:lnTo>
                    <a:pt x="12" y="13"/>
                  </a:lnTo>
                  <a:lnTo>
                    <a:pt x="13" y="28"/>
                  </a:lnTo>
                  <a:lnTo>
                    <a:pt x="13" y="30"/>
                  </a:lnTo>
                  <a:lnTo>
                    <a:pt x="3" y="11"/>
                  </a:lnTo>
                  <a:lnTo>
                    <a:pt x="5" y="2"/>
                  </a:lnTo>
                  <a:lnTo>
                    <a:pt x="0" y="0"/>
                  </a:lnTo>
                  <a:lnTo>
                    <a:pt x="25" y="0"/>
                  </a:lnTo>
                  <a:lnTo>
                    <a:pt x="24" y="12"/>
                  </a:lnTo>
                  <a:lnTo>
                    <a:pt x="41" y="17"/>
                  </a:lnTo>
                  <a:lnTo>
                    <a:pt x="57" y="23"/>
                  </a:lnTo>
                  <a:lnTo>
                    <a:pt x="78" y="26"/>
                  </a:lnTo>
                  <a:lnTo>
                    <a:pt x="74" y="17"/>
                  </a:lnTo>
                  <a:lnTo>
                    <a:pt x="81" y="13"/>
                  </a:lnTo>
                  <a:lnTo>
                    <a:pt x="93" y="0"/>
                  </a:lnTo>
                  <a:lnTo>
                    <a:pt x="113" y="13"/>
                  </a:lnTo>
                  <a:lnTo>
                    <a:pt x="125" y="31"/>
                  </a:lnTo>
                  <a:lnTo>
                    <a:pt x="144" y="38"/>
                  </a:lnTo>
                  <a:lnTo>
                    <a:pt x="157" y="46"/>
                  </a:lnTo>
                  <a:lnTo>
                    <a:pt x="182" y="61"/>
                  </a:lnTo>
                  <a:lnTo>
                    <a:pt x="207" y="77"/>
                  </a:lnTo>
                  <a:lnTo>
                    <a:pt x="217" y="95"/>
                  </a:lnTo>
                  <a:lnTo>
                    <a:pt x="211" y="100"/>
                  </a:lnTo>
                  <a:lnTo>
                    <a:pt x="206" y="10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1" name="Freeform 270"/>
            <p:cNvSpPr>
              <a:spLocks/>
            </p:cNvSpPr>
            <p:nvPr/>
          </p:nvSpPr>
          <p:spPr bwMode="auto">
            <a:xfrm>
              <a:off x="3542" y="1939"/>
              <a:ext cx="222" cy="180"/>
            </a:xfrm>
            <a:custGeom>
              <a:avLst/>
              <a:gdLst/>
              <a:ahLst/>
              <a:cxnLst>
                <a:cxn ang="0">
                  <a:pos x="1" y="71"/>
                </a:cxn>
                <a:cxn ang="0">
                  <a:pos x="0" y="73"/>
                </a:cxn>
                <a:cxn ang="0">
                  <a:pos x="0" y="83"/>
                </a:cxn>
                <a:cxn ang="0">
                  <a:pos x="6" y="88"/>
                </a:cxn>
                <a:cxn ang="0">
                  <a:pos x="4" y="91"/>
                </a:cxn>
                <a:cxn ang="0">
                  <a:pos x="8" y="106"/>
                </a:cxn>
                <a:cxn ang="0">
                  <a:pos x="10" y="121"/>
                </a:cxn>
                <a:cxn ang="0">
                  <a:pos x="26" y="126"/>
                </a:cxn>
                <a:cxn ang="0">
                  <a:pos x="28" y="133"/>
                </a:cxn>
                <a:cxn ang="0">
                  <a:pos x="18" y="154"/>
                </a:cxn>
                <a:cxn ang="0">
                  <a:pos x="31" y="157"/>
                </a:cxn>
                <a:cxn ang="0">
                  <a:pos x="43" y="162"/>
                </a:cxn>
                <a:cxn ang="0">
                  <a:pos x="67" y="161"/>
                </a:cxn>
                <a:cxn ang="0">
                  <a:pos x="84" y="157"/>
                </a:cxn>
                <a:cxn ang="0">
                  <a:pos x="99" y="154"/>
                </a:cxn>
                <a:cxn ang="0">
                  <a:pos x="99" y="146"/>
                </a:cxn>
                <a:cxn ang="0">
                  <a:pos x="102" y="132"/>
                </a:cxn>
                <a:cxn ang="0">
                  <a:pos x="116" y="126"/>
                </a:cxn>
                <a:cxn ang="0">
                  <a:pos x="121" y="121"/>
                </a:cxn>
                <a:cxn ang="0">
                  <a:pos x="135" y="121"/>
                </a:cxn>
                <a:cxn ang="0">
                  <a:pos x="136" y="102"/>
                </a:cxn>
                <a:cxn ang="0">
                  <a:pos x="148" y="91"/>
                </a:cxn>
                <a:cxn ang="0">
                  <a:pos x="140" y="82"/>
                </a:cxn>
                <a:cxn ang="0">
                  <a:pos x="153" y="80"/>
                </a:cxn>
                <a:cxn ang="0">
                  <a:pos x="156" y="72"/>
                </a:cxn>
                <a:cxn ang="0">
                  <a:pos x="160" y="59"/>
                </a:cxn>
                <a:cxn ang="0">
                  <a:pos x="152" y="44"/>
                </a:cxn>
                <a:cxn ang="0">
                  <a:pos x="159" y="34"/>
                </a:cxn>
                <a:cxn ang="0">
                  <a:pos x="177" y="29"/>
                </a:cxn>
                <a:cxn ang="0">
                  <a:pos x="195" y="25"/>
                </a:cxn>
                <a:cxn ang="0">
                  <a:pos x="195" y="22"/>
                </a:cxn>
                <a:cxn ang="0">
                  <a:pos x="199" y="22"/>
                </a:cxn>
                <a:cxn ang="0">
                  <a:pos x="200" y="22"/>
                </a:cxn>
                <a:cxn ang="0">
                  <a:pos x="187" y="20"/>
                </a:cxn>
                <a:cxn ang="0">
                  <a:pos x="182" y="19"/>
                </a:cxn>
                <a:cxn ang="0">
                  <a:pos x="170" y="20"/>
                </a:cxn>
                <a:cxn ang="0">
                  <a:pos x="152" y="30"/>
                </a:cxn>
                <a:cxn ang="0">
                  <a:pos x="146" y="8"/>
                </a:cxn>
                <a:cxn ang="0">
                  <a:pos x="142" y="8"/>
                </a:cxn>
                <a:cxn ang="0">
                  <a:pos x="138" y="0"/>
                </a:cxn>
                <a:cxn ang="0">
                  <a:pos x="130" y="4"/>
                </a:cxn>
                <a:cxn ang="0">
                  <a:pos x="128" y="14"/>
                </a:cxn>
                <a:cxn ang="0">
                  <a:pos x="117" y="19"/>
                </a:cxn>
                <a:cxn ang="0">
                  <a:pos x="114" y="23"/>
                </a:cxn>
                <a:cxn ang="0">
                  <a:pos x="104" y="23"/>
                </a:cxn>
                <a:cxn ang="0">
                  <a:pos x="96" y="24"/>
                </a:cxn>
                <a:cxn ang="0">
                  <a:pos x="91" y="22"/>
                </a:cxn>
                <a:cxn ang="0">
                  <a:pos x="76" y="19"/>
                </a:cxn>
                <a:cxn ang="0">
                  <a:pos x="62" y="17"/>
                </a:cxn>
                <a:cxn ang="0">
                  <a:pos x="56" y="22"/>
                </a:cxn>
                <a:cxn ang="0">
                  <a:pos x="51" y="26"/>
                </a:cxn>
                <a:cxn ang="0">
                  <a:pos x="45" y="41"/>
                </a:cxn>
                <a:cxn ang="0">
                  <a:pos x="32" y="48"/>
                </a:cxn>
                <a:cxn ang="0">
                  <a:pos x="27" y="56"/>
                </a:cxn>
                <a:cxn ang="0">
                  <a:pos x="19" y="55"/>
                </a:cxn>
                <a:cxn ang="0">
                  <a:pos x="4" y="50"/>
                </a:cxn>
                <a:cxn ang="0">
                  <a:pos x="1" y="71"/>
                </a:cxn>
              </a:cxnLst>
              <a:rect l="0" t="0" r="r" b="b"/>
              <a:pathLst>
                <a:path w="200" h="162">
                  <a:moveTo>
                    <a:pt x="1" y="71"/>
                  </a:moveTo>
                  <a:lnTo>
                    <a:pt x="0" y="73"/>
                  </a:lnTo>
                  <a:lnTo>
                    <a:pt x="0" y="83"/>
                  </a:lnTo>
                  <a:lnTo>
                    <a:pt x="6" y="88"/>
                  </a:lnTo>
                  <a:lnTo>
                    <a:pt x="4" y="91"/>
                  </a:lnTo>
                  <a:lnTo>
                    <a:pt x="8" y="106"/>
                  </a:lnTo>
                  <a:lnTo>
                    <a:pt x="10" y="121"/>
                  </a:lnTo>
                  <a:lnTo>
                    <a:pt x="26" y="126"/>
                  </a:lnTo>
                  <a:lnTo>
                    <a:pt x="28" y="133"/>
                  </a:lnTo>
                  <a:lnTo>
                    <a:pt x="18" y="154"/>
                  </a:lnTo>
                  <a:lnTo>
                    <a:pt x="31" y="157"/>
                  </a:lnTo>
                  <a:lnTo>
                    <a:pt x="43" y="162"/>
                  </a:lnTo>
                  <a:lnTo>
                    <a:pt x="67" y="161"/>
                  </a:lnTo>
                  <a:lnTo>
                    <a:pt x="84" y="157"/>
                  </a:lnTo>
                  <a:lnTo>
                    <a:pt x="99" y="154"/>
                  </a:lnTo>
                  <a:lnTo>
                    <a:pt x="99" y="146"/>
                  </a:lnTo>
                  <a:lnTo>
                    <a:pt x="102" y="132"/>
                  </a:lnTo>
                  <a:lnTo>
                    <a:pt x="116" y="126"/>
                  </a:lnTo>
                  <a:lnTo>
                    <a:pt x="121" y="121"/>
                  </a:lnTo>
                  <a:lnTo>
                    <a:pt x="135" y="121"/>
                  </a:lnTo>
                  <a:lnTo>
                    <a:pt x="136" y="102"/>
                  </a:lnTo>
                  <a:lnTo>
                    <a:pt x="148" y="91"/>
                  </a:lnTo>
                  <a:lnTo>
                    <a:pt x="140" y="82"/>
                  </a:lnTo>
                  <a:lnTo>
                    <a:pt x="153" y="80"/>
                  </a:lnTo>
                  <a:lnTo>
                    <a:pt x="156" y="72"/>
                  </a:lnTo>
                  <a:lnTo>
                    <a:pt x="160" y="59"/>
                  </a:lnTo>
                  <a:lnTo>
                    <a:pt x="152" y="44"/>
                  </a:lnTo>
                  <a:lnTo>
                    <a:pt x="159" y="34"/>
                  </a:lnTo>
                  <a:lnTo>
                    <a:pt x="177" y="29"/>
                  </a:lnTo>
                  <a:lnTo>
                    <a:pt x="195" y="25"/>
                  </a:lnTo>
                  <a:lnTo>
                    <a:pt x="195" y="22"/>
                  </a:lnTo>
                  <a:lnTo>
                    <a:pt x="199" y="22"/>
                  </a:lnTo>
                  <a:lnTo>
                    <a:pt x="200" y="22"/>
                  </a:lnTo>
                  <a:lnTo>
                    <a:pt x="187" y="20"/>
                  </a:lnTo>
                  <a:lnTo>
                    <a:pt x="182" y="19"/>
                  </a:lnTo>
                  <a:lnTo>
                    <a:pt x="170" y="20"/>
                  </a:lnTo>
                  <a:lnTo>
                    <a:pt x="152" y="30"/>
                  </a:lnTo>
                  <a:lnTo>
                    <a:pt x="146" y="8"/>
                  </a:lnTo>
                  <a:lnTo>
                    <a:pt x="142" y="8"/>
                  </a:lnTo>
                  <a:lnTo>
                    <a:pt x="138" y="0"/>
                  </a:lnTo>
                  <a:lnTo>
                    <a:pt x="130" y="4"/>
                  </a:lnTo>
                  <a:lnTo>
                    <a:pt x="128" y="14"/>
                  </a:lnTo>
                  <a:lnTo>
                    <a:pt x="117" y="19"/>
                  </a:lnTo>
                  <a:lnTo>
                    <a:pt x="114" y="23"/>
                  </a:lnTo>
                  <a:lnTo>
                    <a:pt x="104" y="23"/>
                  </a:lnTo>
                  <a:lnTo>
                    <a:pt x="96" y="24"/>
                  </a:lnTo>
                  <a:lnTo>
                    <a:pt x="91" y="22"/>
                  </a:lnTo>
                  <a:lnTo>
                    <a:pt x="76" y="19"/>
                  </a:lnTo>
                  <a:lnTo>
                    <a:pt x="62" y="17"/>
                  </a:lnTo>
                  <a:lnTo>
                    <a:pt x="56" y="22"/>
                  </a:lnTo>
                  <a:lnTo>
                    <a:pt x="51" y="26"/>
                  </a:lnTo>
                  <a:lnTo>
                    <a:pt x="45" y="41"/>
                  </a:lnTo>
                  <a:lnTo>
                    <a:pt x="32" y="48"/>
                  </a:lnTo>
                  <a:lnTo>
                    <a:pt x="27" y="56"/>
                  </a:lnTo>
                  <a:lnTo>
                    <a:pt x="19" y="55"/>
                  </a:lnTo>
                  <a:lnTo>
                    <a:pt x="4" y="50"/>
                  </a:lnTo>
                  <a:lnTo>
                    <a:pt x="1" y="7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2" name="Freeform 271"/>
            <p:cNvSpPr>
              <a:spLocks/>
            </p:cNvSpPr>
            <p:nvPr/>
          </p:nvSpPr>
          <p:spPr bwMode="auto">
            <a:xfrm>
              <a:off x="3069" y="1994"/>
              <a:ext cx="35" cy="20"/>
            </a:xfrm>
            <a:custGeom>
              <a:avLst/>
              <a:gdLst/>
              <a:ahLst/>
              <a:cxnLst>
                <a:cxn ang="0">
                  <a:pos x="31" y="0"/>
                </a:cxn>
                <a:cxn ang="0">
                  <a:pos x="12" y="6"/>
                </a:cxn>
                <a:cxn ang="0">
                  <a:pos x="0" y="11"/>
                </a:cxn>
                <a:cxn ang="0">
                  <a:pos x="5" y="19"/>
                </a:cxn>
                <a:cxn ang="0">
                  <a:pos x="23" y="13"/>
                </a:cxn>
                <a:cxn ang="0">
                  <a:pos x="21" y="10"/>
                </a:cxn>
                <a:cxn ang="0">
                  <a:pos x="31" y="0"/>
                </a:cxn>
              </a:cxnLst>
              <a:rect l="0" t="0" r="r" b="b"/>
              <a:pathLst>
                <a:path w="31" h="19">
                  <a:moveTo>
                    <a:pt x="31" y="0"/>
                  </a:moveTo>
                  <a:lnTo>
                    <a:pt x="12" y="6"/>
                  </a:lnTo>
                  <a:lnTo>
                    <a:pt x="0" y="11"/>
                  </a:lnTo>
                  <a:lnTo>
                    <a:pt x="5" y="19"/>
                  </a:lnTo>
                  <a:lnTo>
                    <a:pt x="23" y="13"/>
                  </a:lnTo>
                  <a:lnTo>
                    <a:pt x="21" y="10"/>
                  </a:lnTo>
                  <a:lnTo>
                    <a:pt x="3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3" name="Line 271"/>
            <p:cNvSpPr>
              <a:spLocks noChangeShapeType="1"/>
            </p:cNvSpPr>
            <p:nvPr/>
          </p:nvSpPr>
          <p:spPr bwMode="auto">
            <a:xfrm>
              <a:off x="3753" y="1967"/>
              <a:ext cx="2" cy="5"/>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4" name="Line 272"/>
            <p:cNvSpPr>
              <a:spLocks noChangeShapeType="1"/>
            </p:cNvSpPr>
            <p:nvPr/>
          </p:nvSpPr>
          <p:spPr bwMode="auto">
            <a:xfrm>
              <a:off x="3755" y="1970"/>
              <a:ext cx="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5" name="Line 273"/>
            <p:cNvSpPr>
              <a:spLocks noChangeShapeType="1"/>
            </p:cNvSpPr>
            <p:nvPr/>
          </p:nvSpPr>
          <p:spPr bwMode="auto">
            <a:xfrm flipH="1">
              <a:off x="3749" y="1974"/>
              <a:ext cx="6"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6" name="Line 274"/>
            <p:cNvSpPr>
              <a:spLocks noChangeShapeType="1"/>
            </p:cNvSpPr>
            <p:nvPr/>
          </p:nvSpPr>
          <p:spPr bwMode="auto">
            <a:xfrm flipH="1">
              <a:off x="3747" y="1976"/>
              <a:ext cx="4" cy="5"/>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7" name="Line 275"/>
            <p:cNvSpPr>
              <a:spLocks noChangeShapeType="1"/>
            </p:cNvSpPr>
            <p:nvPr/>
          </p:nvSpPr>
          <p:spPr bwMode="auto">
            <a:xfrm flipH="1">
              <a:off x="3742" y="1981"/>
              <a:ext cx="5"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8" name="Line 276"/>
            <p:cNvSpPr>
              <a:spLocks noChangeShapeType="1"/>
            </p:cNvSpPr>
            <p:nvPr/>
          </p:nvSpPr>
          <p:spPr bwMode="auto">
            <a:xfrm flipH="1">
              <a:off x="3740" y="1981"/>
              <a:ext cx="2" cy="6"/>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9" name="Line 277"/>
            <p:cNvSpPr>
              <a:spLocks noChangeShapeType="1"/>
            </p:cNvSpPr>
            <p:nvPr/>
          </p:nvSpPr>
          <p:spPr bwMode="auto">
            <a:xfrm>
              <a:off x="3740" y="1985"/>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0" name="Line 278"/>
            <p:cNvSpPr>
              <a:spLocks noChangeShapeType="1"/>
            </p:cNvSpPr>
            <p:nvPr/>
          </p:nvSpPr>
          <p:spPr bwMode="auto">
            <a:xfrm>
              <a:off x="3740" y="1990"/>
              <a:ext cx="2" cy="9"/>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1" name="Line 279"/>
            <p:cNvSpPr>
              <a:spLocks noChangeShapeType="1"/>
            </p:cNvSpPr>
            <p:nvPr/>
          </p:nvSpPr>
          <p:spPr bwMode="auto">
            <a:xfrm>
              <a:off x="3742" y="1996"/>
              <a:ext cx="5"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2" name="Line 280"/>
            <p:cNvSpPr>
              <a:spLocks noChangeShapeType="1"/>
            </p:cNvSpPr>
            <p:nvPr/>
          </p:nvSpPr>
          <p:spPr bwMode="auto">
            <a:xfrm>
              <a:off x="3744" y="2001"/>
              <a:ext cx="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3" name="Line 281"/>
            <p:cNvSpPr>
              <a:spLocks noChangeShapeType="1"/>
            </p:cNvSpPr>
            <p:nvPr/>
          </p:nvSpPr>
          <p:spPr bwMode="auto">
            <a:xfrm>
              <a:off x="3755" y="2027"/>
              <a:ext cx="3" cy="3"/>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4" name="Line 282"/>
            <p:cNvSpPr>
              <a:spLocks noChangeShapeType="1"/>
            </p:cNvSpPr>
            <p:nvPr/>
          </p:nvSpPr>
          <p:spPr bwMode="auto">
            <a:xfrm>
              <a:off x="3755" y="2027"/>
              <a:ext cx="9"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5" name="Line 283"/>
            <p:cNvSpPr>
              <a:spLocks noChangeShapeType="1"/>
            </p:cNvSpPr>
            <p:nvPr/>
          </p:nvSpPr>
          <p:spPr bwMode="auto">
            <a:xfrm>
              <a:off x="3762" y="2032"/>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6" name="Line 284"/>
            <p:cNvSpPr>
              <a:spLocks noChangeShapeType="1"/>
            </p:cNvSpPr>
            <p:nvPr/>
          </p:nvSpPr>
          <p:spPr bwMode="auto">
            <a:xfrm>
              <a:off x="3762" y="2036"/>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7" name="Line 285"/>
            <p:cNvSpPr>
              <a:spLocks noChangeShapeType="1"/>
            </p:cNvSpPr>
            <p:nvPr/>
          </p:nvSpPr>
          <p:spPr bwMode="auto">
            <a:xfrm>
              <a:off x="3764" y="2043"/>
              <a:ext cx="7"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8" name="Line 286"/>
            <p:cNvSpPr>
              <a:spLocks noChangeShapeType="1"/>
            </p:cNvSpPr>
            <p:nvPr/>
          </p:nvSpPr>
          <p:spPr bwMode="auto">
            <a:xfrm>
              <a:off x="3769" y="2045"/>
              <a:ext cx="6"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9" name="Line 287"/>
            <p:cNvSpPr>
              <a:spLocks noChangeShapeType="1"/>
            </p:cNvSpPr>
            <p:nvPr/>
          </p:nvSpPr>
          <p:spPr bwMode="auto">
            <a:xfrm flipV="1">
              <a:off x="3851" y="2021"/>
              <a:ext cx="9" cy="6"/>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0" name="Line 288"/>
            <p:cNvSpPr>
              <a:spLocks noChangeShapeType="1"/>
            </p:cNvSpPr>
            <p:nvPr/>
          </p:nvSpPr>
          <p:spPr bwMode="auto">
            <a:xfrm flipV="1">
              <a:off x="3858" y="2012"/>
              <a:ext cx="2" cy="11"/>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1" name="Line 289"/>
            <p:cNvSpPr>
              <a:spLocks noChangeShapeType="1"/>
            </p:cNvSpPr>
            <p:nvPr/>
          </p:nvSpPr>
          <p:spPr bwMode="auto">
            <a:xfrm flipV="1">
              <a:off x="3860" y="1996"/>
              <a:ext cx="2" cy="18"/>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2" name="Line 290"/>
            <p:cNvSpPr>
              <a:spLocks noChangeShapeType="1"/>
            </p:cNvSpPr>
            <p:nvPr/>
          </p:nvSpPr>
          <p:spPr bwMode="auto">
            <a:xfrm flipH="1" flipV="1">
              <a:off x="3849" y="1992"/>
              <a:ext cx="1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3" name="Line 291"/>
            <p:cNvSpPr>
              <a:spLocks noChangeShapeType="1"/>
            </p:cNvSpPr>
            <p:nvPr/>
          </p:nvSpPr>
          <p:spPr bwMode="auto">
            <a:xfrm flipH="1" flipV="1">
              <a:off x="3847" y="1990"/>
              <a:ext cx="2"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4" name="Line 292"/>
            <p:cNvSpPr>
              <a:spLocks noChangeShapeType="1"/>
            </p:cNvSpPr>
            <p:nvPr/>
          </p:nvSpPr>
          <p:spPr bwMode="auto">
            <a:xfrm flipH="1">
              <a:off x="3820" y="1996"/>
              <a:ext cx="2" cy="3"/>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5" name="Freeform 294"/>
            <p:cNvSpPr>
              <a:spLocks/>
            </p:cNvSpPr>
            <p:nvPr/>
          </p:nvSpPr>
          <p:spPr bwMode="auto">
            <a:xfrm>
              <a:off x="3120" y="2014"/>
              <a:ext cx="20" cy="31"/>
            </a:xfrm>
            <a:custGeom>
              <a:avLst/>
              <a:gdLst/>
              <a:ahLst/>
              <a:cxnLst>
                <a:cxn ang="0">
                  <a:pos x="17" y="16"/>
                </a:cxn>
                <a:cxn ang="0">
                  <a:pos x="7" y="25"/>
                </a:cxn>
                <a:cxn ang="0">
                  <a:pos x="0" y="29"/>
                </a:cxn>
                <a:cxn ang="0">
                  <a:pos x="5" y="15"/>
                </a:cxn>
                <a:cxn ang="0">
                  <a:pos x="10" y="0"/>
                </a:cxn>
                <a:cxn ang="0">
                  <a:pos x="19" y="5"/>
                </a:cxn>
                <a:cxn ang="0">
                  <a:pos x="17" y="16"/>
                </a:cxn>
              </a:cxnLst>
              <a:rect l="0" t="0" r="r" b="b"/>
              <a:pathLst>
                <a:path w="19" h="29">
                  <a:moveTo>
                    <a:pt x="17" y="16"/>
                  </a:moveTo>
                  <a:lnTo>
                    <a:pt x="7" y="25"/>
                  </a:lnTo>
                  <a:lnTo>
                    <a:pt x="0" y="29"/>
                  </a:lnTo>
                  <a:lnTo>
                    <a:pt x="5" y="15"/>
                  </a:lnTo>
                  <a:lnTo>
                    <a:pt x="10" y="0"/>
                  </a:lnTo>
                  <a:lnTo>
                    <a:pt x="19" y="5"/>
                  </a:lnTo>
                  <a:lnTo>
                    <a:pt x="17"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6" name="Freeform 295"/>
            <p:cNvSpPr>
              <a:spLocks/>
            </p:cNvSpPr>
            <p:nvPr/>
          </p:nvSpPr>
          <p:spPr bwMode="auto">
            <a:xfrm>
              <a:off x="3127" y="1963"/>
              <a:ext cx="102" cy="98"/>
            </a:xfrm>
            <a:custGeom>
              <a:avLst/>
              <a:gdLst/>
              <a:ahLst/>
              <a:cxnLst>
                <a:cxn ang="0">
                  <a:pos x="59" y="6"/>
                </a:cxn>
                <a:cxn ang="0">
                  <a:pos x="36" y="6"/>
                </a:cxn>
                <a:cxn ang="0">
                  <a:pos x="13" y="7"/>
                </a:cxn>
                <a:cxn ang="0">
                  <a:pos x="9" y="9"/>
                </a:cxn>
                <a:cxn ang="0">
                  <a:pos x="7" y="17"/>
                </a:cxn>
                <a:cxn ang="0">
                  <a:pos x="1" y="23"/>
                </a:cxn>
                <a:cxn ang="0">
                  <a:pos x="0" y="21"/>
                </a:cxn>
                <a:cxn ang="0">
                  <a:pos x="4" y="44"/>
                </a:cxn>
                <a:cxn ang="0">
                  <a:pos x="13" y="49"/>
                </a:cxn>
                <a:cxn ang="0">
                  <a:pos x="11" y="60"/>
                </a:cxn>
                <a:cxn ang="0">
                  <a:pos x="1" y="69"/>
                </a:cxn>
                <a:cxn ang="0">
                  <a:pos x="3" y="79"/>
                </a:cxn>
                <a:cxn ang="0">
                  <a:pos x="22" y="86"/>
                </a:cxn>
                <a:cxn ang="0">
                  <a:pos x="35" y="77"/>
                </a:cxn>
                <a:cxn ang="0">
                  <a:pos x="49" y="67"/>
                </a:cxn>
                <a:cxn ang="0">
                  <a:pos x="64" y="59"/>
                </a:cxn>
                <a:cxn ang="0">
                  <a:pos x="79" y="49"/>
                </a:cxn>
                <a:cxn ang="0">
                  <a:pos x="79" y="31"/>
                </a:cxn>
                <a:cxn ang="0">
                  <a:pos x="79" y="14"/>
                </a:cxn>
                <a:cxn ang="0">
                  <a:pos x="93" y="1"/>
                </a:cxn>
                <a:cxn ang="0">
                  <a:pos x="88" y="0"/>
                </a:cxn>
                <a:cxn ang="0">
                  <a:pos x="73" y="2"/>
                </a:cxn>
                <a:cxn ang="0">
                  <a:pos x="59" y="6"/>
                </a:cxn>
              </a:cxnLst>
              <a:rect l="0" t="0" r="r" b="b"/>
              <a:pathLst>
                <a:path w="93" h="86">
                  <a:moveTo>
                    <a:pt x="59" y="6"/>
                  </a:moveTo>
                  <a:lnTo>
                    <a:pt x="36" y="6"/>
                  </a:lnTo>
                  <a:lnTo>
                    <a:pt x="13" y="7"/>
                  </a:lnTo>
                  <a:lnTo>
                    <a:pt x="9" y="9"/>
                  </a:lnTo>
                  <a:lnTo>
                    <a:pt x="7" y="17"/>
                  </a:lnTo>
                  <a:lnTo>
                    <a:pt x="1" y="23"/>
                  </a:lnTo>
                  <a:lnTo>
                    <a:pt x="0" y="21"/>
                  </a:lnTo>
                  <a:lnTo>
                    <a:pt x="4" y="44"/>
                  </a:lnTo>
                  <a:lnTo>
                    <a:pt x="13" y="49"/>
                  </a:lnTo>
                  <a:lnTo>
                    <a:pt x="11" y="60"/>
                  </a:lnTo>
                  <a:lnTo>
                    <a:pt x="1" y="69"/>
                  </a:lnTo>
                  <a:lnTo>
                    <a:pt x="3" y="79"/>
                  </a:lnTo>
                  <a:lnTo>
                    <a:pt x="22" y="86"/>
                  </a:lnTo>
                  <a:lnTo>
                    <a:pt x="35" y="77"/>
                  </a:lnTo>
                  <a:lnTo>
                    <a:pt x="49" y="67"/>
                  </a:lnTo>
                  <a:lnTo>
                    <a:pt x="64" y="59"/>
                  </a:lnTo>
                  <a:lnTo>
                    <a:pt x="79" y="49"/>
                  </a:lnTo>
                  <a:lnTo>
                    <a:pt x="79" y="31"/>
                  </a:lnTo>
                  <a:lnTo>
                    <a:pt x="79" y="14"/>
                  </a:lnTo>
                  <a:lnTo>
                    <a:pt x="93" y="1"/>
                  </a:lnTo>
                  <a:lnTo>
                    <a:pt x="88" y="0"/>
                  </a:lnTo>
                  <a:lnTo>
                    <a:pt x="73" y="2"/>
                  </a:lnTo>
                  <a:lnTo>
                    <a:pt x="5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7" name="Freeform 296"/>
            <p:cNvSpPr>
              <a:spLocks/>
            </p:cNvSpPr>
            <p:nvPr/>
          </p:nvSpPr>
          <p:spPr bwMode="auto">
            <a:xfrm>
              <a:off x="3629" y="1874"/>
              <a:ext cx="138" cy="98"/>
            </a:xfrm>
            <a:custGeom>
              <a:avLst/>
              <a:gdLst/>
              <a:ahLst/>
              <a:cxnLst>
                <a:cxn ang="0">
                  <a:pos x="104" y="78"/>
                </a:cxn>
                <a:cxn ang="0">
                  <a:pos x="92" y="79"/>
                </a:cxn>
                <a:cxn ang="0">
                  <a:pos x="74" y="89"/>
                </a:cxn>
                <a:cxn ang="0">
                  <a:pos x="68" y="67"/>
                </a:cxn>
                <a:cxn ang="0">
                  <a:pos x="64" y="67"/>
                </a:cxn>
                <a:cxn ang="0">
                  <a:pos x="60" y="59"/>
                </a:cxn>
                <a:cxn ang="0">
                  <a:pos x="52" y="63"/>
                </a:cxn>
                <a:cxn ang="0">
                  <a:pos x="50" y="73"/>
                </a:cxn>
                <a:cxn ang="0">
                  <a:pos x="39" y="78"/>
                </a:cxn>
                <a:cxn ang="0">
                  <a:pos x="36" y="82"/>
                </a:cxn>
                <a:cxn ang="0">
                  <a:pos x="26" y="82"/>
                </a:cxn>
                <a:cxn ang="0">
                  <a:pos x="18" y="83"/>
                </a:cxn>
                <a:cxn ang="0">
                  <a:pos x="13" y="81"/>
                </a:cxn>
                <a:cxn ang="0">
                  <a:pos x="16" y="69"/>
                </a:cxn>
                <a:cxn ang="0">
                  <a:pos x="20" y="57"/>
                </a:cxn>
                <a:cxn ang="0">
                  <a:pos x="16" y="51"/>
                </a:cxn>
                <a:cxn ang="0">
                  <a:pos x="6" y="45"/>
                </a:cxn>
                <a:cxn ang="0">
                  <a:pos x="0" y="37"/>
                </a:cxn>
                <a:cxn ang="0">
                  <a:pos x="14" y="23"/>
                </a:cxn>
                <a:cxn ang="0">
                  <a:pos x="30" y="10"/>
                </a:cxn>
                <a:cxn ang="0">
                  <a:pos x="40" y="0"/>
                </a:cxn>
                <a:cxn ang="0">
                  <a:pos x="61" y="3"/>
                </a:cxn>
                <a:cxn ang="0">
                  <a:pos x="76" y="12"/>
                </a:cxn>
                <a:cxn ang="0">
                  <a:pos x="58" y="18"/>
                </a:cxn>
                <a:cxn ang="0">
                  <a:pos x="40" y="24"/>
                </a:cxn>
                <a:cxn ang="0">
                  <a:pos x="42" y="36"/>
                </a:cxn>
                <a:cxn ang="0">
                  <a:pos x="67" y="40"/>
                </a:cxn>
                <a:cxn ang="0">
                  <a:pos x="92" y="42"/>
                </a:cxn>
                <a:cxn ang="0">
                  <a:pos x="100" y="57"/>
                </a:cxn>
                <a:cxn ang="0">
                  <a:pos x="115" y="58"/>
                </a:cxn>
                <a:cxn ang="0">
                  <a:pos x="123" y="79"/>
                </a:cxn>
                <a:cxn ang="0">
                  <a:pos x="122" y="81"/>
                </a:cxn>
                <a:cxn ang="0">
                  <a:pos x="109" y="79"/>
                </a:cxn>
                <a:cxn ang="0">
                  <a:pos x="104" y="78"/>
                </a:cxn>
              </a:cxnLst>
              <a:rect l="0" t="0" r="r" b="b"/>
              <a:pathLst>
                <a:path w="123" h="89">
                  <a:moveTo>
                    <a:pt x="104" y="78"/>
                  </a:moveTo>
                  <a:lnTo>
                    <a:pt x="92" y="79"/>
                  </a:lnTo>
                  <a:lnTo>
                    <a:pt x="74" y="89"/>
                  </a:lnTo>
                  <a:lnTo>
                    <a:pt x="68" y="67"/>
                  </a:lnTo>
                  <a:lnTo>
                    <a:pt x="64" y="67"/>
                  </a:lnTo>
                  <a:lnTo>
                    <a:pt x="60" y="59"/>
                  </a:lnTo>
                  <a:lnTo>
                    <a:pt x="52" y="63"/>
                  </a:lnTo>
                  <a:lnTo>
                    <a:pt x="50" y="73"/>
                  </a:lnTo>
                  <a:lnTo>
                    <a:pt x="39" y="78"/>
                  </a:lnTo>
                  <a:lnTo>
                    <a:pt x="36" y="82"/>
                  </a:lnTo>
                  <a:lnTo>
                    <a:pt x="26" y="82"/>
                  </a:lnTo>
                  <a:lnTo>
                    <a:pt x="18" y="83"/>
                  </a:lnTo>
                  <a:lnTo>
                    <a:pt x="13" y="81"/>
                  </a:lnTo>
                  <a:lnTo>
                    <a:pt x="16" y="69"/>
                  </a:lnTo>
                  <a:lnTo>
                    <a:pt x="20" y="57"/>
                  </a:lnTo>
                  <a:lnTo>
                    <a:pt x="16" y="51"/>
                  </a:lnTo>
                  <a:lnTo>
                    <a:pt x="6" y="45"/>
                  </a:lnTo>
                  <a:lnTo>
                    <a:pt x="0" y="37"/>
                  </a:lnTo>
                  <a:lnTo>
                    <a:pt x="14" y="23"/>
                  </a:lnTo>
                  <a:lnTo>
                    <a:pt x="30" y="10"/>
                  </a:lnTo>
                  <a:lnTo>
                    <a:pt x="40" y="0"/>
                  </a:lnTo>
                  <a:lnTo>
                    <a:pt x="61" y="3"/>
                  </a:lnTo>
                  <a:lnTo>
                    <a:pt x="76" y="12"/>
                  </a:lnTo>
                  <a:lnTo>
                    <a:pt x="58" y="18"/>
                  </a:lnTo>
                  <a:lnTo>
                    <a:pt x="40" y="24"/>
                  </a:lnTo>
                  <a:lnTo>
                    <a:pt x="42" y="36"/>
                  </a:lnTo>
                  <a:lnTo>
                    <a:pt x="67" y="40"/>
                  </a:lnTo>
                  <a:lnTo>
                    <a:pt x="92" y="42"/>
                  </a:lnTo>
                  <a:lnTo>
                    <a:pt x="100" y="57"/>
                  </a:lnTo>
                  <a:lnTo>
                    <a:pt x="115" y="58"/>
                  </a:lnTo>
                  <a:lnTo>
                    <a:pt x="123" y="79"/>
                  </a:lnTo>
                  <a:lnTo>
                    <a:pt x="122" y="81"/>
                  </a:lnTo>
                  <a:lnTo>
                    <a:pt x="109" y="79"/>
                  </a:lnTo>
                  <a:lnTo>
                    <a:pt x="104" y="7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8" name="Freeform 297"/>
            <p:cNvSpPr>
              <a:spLocks/>
            </p:cNvSpPr>
            <p:nvPr/>
          </p:nvSpPr>
          <p:spPr bwMode="auto">
            <a:xfrm>
              <a:off x="3415" y="1790"/>
              <a:ext cx="258" cy="173"/>
            </a:xfrm>
            <a:custGeom>
              <a:avLst/>
              <a:gdLst/>
              <a:ahLst/>
              <a:cxnLst>
                <a:cxn ang="0">
                  <a:pos x="165" y="132"/>
                </a:cxn>
                <a:cxn ang="0">
                  <a:pos x="140" y="116"/>
                </a:cxn>
                <a:cxn ang="0">
                  <a:pos x="115" y="101"/>
                </a:cxn>
                <a:cxn ang="0">
                  <a:pos x="102" y="93"/>
                </a:cxn>
                <a:cxn ang="0">
                  <a:pos x="83" y="86"/>
                </a:cxn>
                <a:cxn ang="0">
                  <a:pos x="71" y="68"/>
                </a:cxn>
                <a:cxn ang="0">
                  <a:pos x="51" y="55"/>
                </a:cxn>
                <a:cxn ang="0">
                  <a:pos x="39" y="68"/>
                </a:cxn>
                <a:cxn ang="0">
                  <a:pos x="32" y="72"/>
                </a:cxn>
                <a:cxn ang="0">
                  <a:pos x="36" y="81"/>
                </a:cxn>
                <a:cxn ang="0">
                  <a:pos x="15" y="78"/>
                </a:cxn>
                <a:cxn ang="0">
                  <a:pos x="12" y="61"/>
                </a:cxn>
                <a:cxn ang="0">
                  <a:pos x="7" y="45"/>
                </a:cxn>
                <a:cxn ang="0">
                  <a:pos x="3" y="30"/>
                </a:cxn>
                <a:cxn ang="0">
                  <a:pos x="0" y="13"/>
                </a:cxn>
                <a:cxn ang="0">
                  <a:pos x="18" y="7"/>
                </a:cxn>
                <a:cxn ang="0">
                  <a:pos x="35" y="0"/>
                </a:cxn>
                <a:cxn ang="0">
                  <a:pos x="54" y="11"/>
                </a:cxn>
                <a:cxn ang="0">
                  <a:pos x="73" y="20"/>
                </a:cxn>
                <a:cxn ang="0">
                  <a:pos x="87" y="37"/>
                </a:cxn>
                <a:cxn ang="0">
                  <a:pos x="103" y="38"/>
                </a:cxn>
                <a:cxn ang="0">
                  <a:pos x="117" y="39"/>
                </a:cxn>
                <a:cxn ang="0">
                  <a:pos x="133" y="41"/>
                </a:cxn>
                <a:cxn ang="0">
                  <a:pos x="149" y="42"/>
                </a:cxn>
                <a:cxn ang="0">
                  <a:pos x="164" y="53"/>
                </a:cxn>
                <a:cxn ang="0">
                  <a:pos x="165" y="67"/>
                </a:cxn>
                <a:cxn ang="0">
                  <a:pos x="180" y="74"/>
                </a:cxn>
                <a:cxn ang="0">
                  <a:pos x="193" y="81"/>
                </a:cxn>
                <a:cxn ang="0">
                  <a:pos x="207" y="72"/>
                </a:cxn>
                <a:cxn ang="0">
                  <a:pos x="221" y="61"/>
                </a:cxn>
                <a:cxn ang="0">
                  <a:pos x="231" y="74"/>
                </a:cxn>
                <a:cxn ang="0">
                  <a:pos x="221" y="84"/>
                </a:cxn>
                <a:cxn ang="0">
                  <a:pos x="205" y="97"/>
                </a:cxn>
                <a:cxn ang="0">
                  <a:pos x="191" y="111"/>
                </a:cxn>
                <a:cxn ang="0">
                  <a:pos x="197" y="119"/>
                </a:cxn>
                <a:cxn ang="0">
                  <a:pos x="207" y="125"/>
                </a:cxn>
                <a:cxn ang="0">
                  <a:pos x="211" y="131"/>
                </a:cxn>
                <a:cxn ang="0">
                  <a:pos x="207" y="143"/>
                </a:cxn>
                <a:cxn ang="0">
                  <a:pos x="204" y="155"/>
                </a:cxn>
                <a:cxn ang="0">
                  <a:pos x="189" y="152"/>
                </a:cxn>
                <a:cxn ang="0">
                  <a:pos x="175" y="150"/>
                </a:cxn>
                <a:cxn ang="0">
                  <a:pos x="165" y="132"/>
                </a:cxn>
              </a:cxnLst>
              <a:rect l="0" t="0" r="r" b="b"/>
              <a:pathLst>
                <a:path w="231" h="155">
                  <a:moveTo>
                    <a:pt x="165" y="132"/>
                  </a:moveTo>
                  <a:lnTo>
                    <a:pt x="140" y="116"/>
                  </a:lnTo>
                  <a:lnTo>
                    <a:pt x="115" y="101"/>
                  </a:lnTo>
                  <a:lnTo>
                    <a:pt x="102" y="93"/>
                  </a:lnTo>
                  <a:lnTo>
                    <a:pt x="83" y="86"/>
                  </a:lnTo>
                  <a:lnTo>
                    <a:pt x="71" y="68"/>
                  </a:lnTo>
                  <a:lnTo>
                    <a:pt x="51" y="55"/>
                  </a:lnTo>
                  <a:lnTo>
                    <a:pt x="39" y="68"/>
                  </a:lnTo>
                  <a:lnTo>
                    <a:pt x="32" y="72"/>
                  </a:lnTo>
                  <a:lnTo>
                    <a:pt x="36" y="81"/>
                  </a:lnTo>
                  <a:lnTo>
                    <a:pt x="15" y="78"/>
                  </a:lnTo>
                  <a:lnTo>
                    <a:pt x="12" y="61"/>
                  </a:lnTo>
                  <a:lnTo>
                    <a:pt x="7" y="45"/>
                  </a:lnTo>
                  <a:lnTo>
                    <a:pt x="3" y="30"/>
                  </a:lnTo>
                  <a:lnTo>
                    <a:pt x="0" y="13"/>
                  </a:lnTo>
                  <a:lnTo>
                    <a:pt x="18" y="7"/>
                  </a:lnTo>
                  <a:lnTo>
                    <a:pt x="35" y="0"/>
                  </a:lnTo>
                  <a:lnTo>
                    <a:pt x="54" y="11"/>
                  </a:lnTo>
                  <a:lnTo>
                    <a:pt x="73" y="20"/>
                  </a:lnTo>
                  <a:lnTo>
                    <a:pt x="87" y="37"/>
                  </a:lnTo>
                  <a:lnTo>
                    <a:pt x="103" y="38"/>
                  </a:lnTo>
                  <a:lnTo>
                    <a:pt x="117" y="39"/>
                  </a:lnTo>
                  <a:lnTo>
                    <a:pt x="133" y="41"/>
                  </a:lnTo>
                  <a:lnTo>
                    <a:pt x="149" y="42"/>
                  </a:lnTo>
                  <a:lnTo>
                    <a:pt x="164" y="53"/>
                  </a:lnTo>
                  <a:lnTo>
                    <a:pt x="165" y="67"/>
                  </a:lnTo>
                  <a:lnTo>
                    <a:pt x="180" y="74"/>
                  </a:lnTo>
                  <a:lnTo>
                    <a:pt x="193" y="81"/>
                  </a:lnTo>
                  <a:lnTo>
                    <a:pt x="207" y="72"/>
                  </a:lnTo>
                  <a:lnTo>
                    <a:pt x="221" y="61"/>
                  </a:lnTo>
                  <a:lnTo>
                    <a:pt x="231" y="74"/>
                  </a:lnTo>
                  <a:lnTo>
                    <a:pt x="221" y="84"/>
                  </a:lnTo>
                  <a:lnTo>
                    <a:pt x="205" y="97"/>
                  </a:lnTo>
                  <a:lnTo>
                    <a:pt x="191" y="111"/>
                  </a:lnTo>
                  <a:lnTo>
                    <a:pt x="197" y="119"/>
                  </a:lnTo>
                  <a:lnTo>
                    <a:pt x="207" y="125"/>
                  </a:lnTo>
                  <a:lnTo>
                    <a:pt x="211" y="131"/>
                  </a:lnTo>
                  <a:lnTo>
                    <a:pt x="207" y="143"/>
                  </a:lnTo>
                  <a:lnTo>
                    <a:pt x="204" y="155"/>
                  </a:lnTo>
                  <a:lnTo>
                    <a:pt x="189" y="152"/>
                  </a:lnTo>
                  <a:lnTo>
                    <a:pt x="175" y="150"/>
                  </a:lnTo>
                  <a:lnTo>
                    <a:pt x="165" y="1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9" name="Freeform 298"/>
            <p:cNvSpPr>
              <a:spLocks/>
            </p:cNvSpPr>
            <p:nvPr/>
          </p:nvSpPr>
          <p:spPr bwMode="auto">
            <a:xfrm>
              <a:off x="2860" y="1861"/>
              <a:ext cx="40" cy="29"/>
            </a:xfrm>
            <a:custGeom>
              <a:avLst/>
              <a:gdLst/>
              <a:ahLst/>
              <a:cxnLst>
                <a:cxn ang="0">
                  <a:pos x="10" y="27"/>
                </a:cxn>
                <a:cxn ang="0">
                  <a:pos x="0" y="9"/>
                </a:cxn>
                <a:cxn ang="0">
                  <a:pos x="3" y="8"/>
                </a:cxn>
                <a:cxn ang="0">
                  <a:pos x="3" y="5"/>
                </a:cxn>
                <a:cxn ang="0">
                  <a:pos x="8" y="4"/>
                </a:cxn>
                <a:cxn ang="0">
                  <a:pos x="11" y="5"/>
                </a:cxn>
                <a:cxn ang="0">
                  <a:pos x="14" y="2"/>
                </a:cxn>
                <a:cxn ang="0">
                  <a:pos x="16" y="3"/>
                </a:cxn>
                <a:cxn ang="0">
                  <a:pos x="18" y="3"/>
                </a:cxn>
                <a:cxn ang="0">
                  <a:pos x="21" y="2"/>
                </a:cxn>
                <a:cxn ang="0">
                  <a:pos x="26" y="0"/>
                </a:cxn>
                <a:cxn ang="0">
                  <a:pos x="29" y="4"/>
                </a:cxn>
                <a:cxn ang="0">
                  <a:pos x="32" y="3"/>
                </a:cxn>
                <a:cxn ang="0">
                  <a:pos x="34" y="5"/>
                </a:cxn>
                <a:cxn ang="0">
                  <a:pos x="36" y="18"/>
                </a:cxn>
                <a:cxn ang="0">
                  <a:pos x="10" y="27"/>
                </a:cxn>
              </a:cxnLst>
              <a:rect l="0" t="0" r="r" b="b"/>
              <a:pathLst>
                <a:path w="36" h="27">
                  <a:moveTo>
                    <a:pt x="10" y="27"/>
                  </a:moveTo>
                  <a:lnTo>
                    <a:pt x="0" y="9"/>
                  </a:lnTo>
                  <a:lnTo>
                    <a:pt x="3" y="8"/>
                  </a:lnTo>
                  <a:lnTo>
                    <a:pt x="3" y="5"/>
                  </a:lnTo>
                  <a:lnTo>
                    <a:pt x="8" y="4"/>
                  </a:lnTo>
                  <a:lnTo>
                    <a:pt x="11" y="5"/>
                  </a:lnTo>
                  <a:lnTo>
                    <a:pt x="14" y="2"/>
                  </a:lnTo>
                  <a:lnTo>
                    <a:pt x="16" y="3"/>
                  </a:lnTo>
                  <a:lnTo>
                    <a:pt x="18" y="3"/>
                  </a:lnTo>
                  <a:lnTo>
                    <a:pt x="21" y="2"/>
                  </a:lnTo>
                  <a:lnTo>
                    <a:pt x="26" y="0"/>
                  </a:lnTo>
                  <a:lnTo>
                    <a:pt x="29" y="4"/>
                  </a:lnTo>
                  <a:lnTo>
                    <a:pt x="32" y="3"/>
                  </a:lnTo>
                  <a:lnTo>
                    <a:pt x="34" y="5"/>
                  </a:lnTo>
                  <a:lnTo>
                    <a:pt x="36" y="18"/>
                  </a:lnTo>
                  <a:lnTo>
                    <a:pt x="1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0" name="Freeform 299"/>
            <p:cNvSpPr>
              <a:spLocks/>
            </p:cNvSpPr>
            <p:nvPr/>
          </p:nvSpPr>
          <p:spPr bwMode="auto">
            <a:xfrm>
              <a:off x="2889" y="1823"/>
              <a:ext cx="98" cy="58"/>
            </a:xfrm>
            <a:custGeom>
              <a:avLst/>
              <a:gdLst/>
              <a:ahLst/>
              <a:cxnLst>
                <a:cxn ang="0">
                  <a:pos x="5" y="5"/>
                </a:cxn>
                <a:cxn ang="0">
                  <a:pos x="1" y="0"/>
                </a:cxn>
                <a:cxn ang="0">
                  <a:pos x="0" y="11"/>
                </a:cxn>
                <a:cxn ang="0">
                  <a:pos x="6" y="20"/>
                </a:cxn>
                <a:cxn ang="0">
                  <a:pos x="0" y="30"/>
                </a:cxn>
                <a:cxn ang="0">
                  <a:pos x="5" y="36"/>
                </a:cxn>
                <a:cxn ang="0">
                  <a:pos x="7" y="38"/>
                </a:cxn>
                <a:cxn ang="0">
                  <a:pos x="9" y="51"/>
                </a:cxn>
                <a:cxn ang="0">
                  <a:pos x="25" y="49"/>
                </a:cxn>
                <a:cxn ang="0">
                  <a:pos x="50" y="51"/>
                </a:cxn>
                <a:cxn ang="0">
                  <a:pos x="56" y="47"/>
                </a:cxn>
                <a:cxn ang="0">
                  <a:pos x="59" y="44"/>
                </a:cxn>
                <a:cxn ang="0">
                  <a:pos x="61" y="41"/>
                </a:cxn>
                <a:cxn ang="0">
                  <a:pos x="83" y="39"/>
                </a:cxn>
                <a:cxn ang="0">
                  <a:pos x="77" y="32"/>
                </a:cxn>
                <a:cxn ang="0">
                  <a:pos x="79" y="25"/>
                </a:cxn>
                <a:cxn ang="0">
                  <a:pos x="83" y="14"/>
                </a:cxn>
                <a:cxn ang="0">
                  <a:pos x="86" y="8"/>
                </a:cxn>
                <a:cxn ang="0">
                  <a:pos x="59" y="2"/>
                </a:cxn>
                <a:cxn ang="0">
                  <a:pos x="37" y="9"/>
                </a:cxn>
                <a:cxn ang="0">
                  <a:pos x="20" y="7"/>
                </a:cxn>
                <a:cxn ang="0">
                  <a:pos x="5" y="5"/>
                </a:cxn>
              </a:cxnLst>
              <a:rect l="0" t="0" r="r" b="b"/>
              <a:pathLst>
                <a:path w="86" h="51">
                  <a:moveTo>
                    <a:pt x="5" y="5"/>
                  </a:moveTo>
                  <a:lnTo>
                    <a:pt x="1" y="0"/>
                  </a:lnTo>
                  <a:lnTo>
                    <a:pt x="0" y="11"/>
                  </a:lnTo>
                  <a:lnTo>
                    <a:pt x="6" y="20"/>
                  </a:lnTo>
                  <a:lnTo>
                    <a:pt x="0" y="30"/>
                  </a:lnTo>
                  <a:lnTo>
                    <a:pt x="5" y="36"/>
                  </a:lnTo>
                  <a:lnTo>
                    <a:pt x="7" y="38"/>
                  </a:lnTo>
                  <a:lnTo>
                    <a:pt x="9" y="51"/>
                  </a:lnTo>
                  <a:lnTo>
                    <a:pt x="25" y="49"/>
                  </a:lnTo>
                  <a:lnTo>
                    <a:pt x="50" y="51"/>
                  </a:lnTo>
                  <a:lnTo>
                    <a:pt x="56" y="47"/>
                  </a:lnTo>
                  <a:lnTo>
                    <a:pt x="59" y="44"/>
                  </a:lnTo>
                  <a:lnTo>
                    <a:pt x="61" y="41"/>
                  </a:lnTo>
                  <a:lnTo>
                    <a:pt x="83" y="39"/>
                  </a:lnTo>
                  <a:lnTo>
                    <a:pt x="77" y="32"/>
                  </a:lnTo>
                  <a:lnTo>
                    <a:pt x="79" y="25"/>
                  </a:lnTo>
                  <a:lnTo>
                    <a:pt x="83" y="14"/>
                  </a:lnTo>
                  <a:lnTo>
                    <a:pt x="86" y="8"/>
                  </a:lnTo>
                  <a:lnTo>
                    <a:pt x="59" y="2"/>
                  </a:lnTo>
                  <a:lnTo>
                    <a:pt x="37" y="9"/>
                  </a:lnTo>
                  <a:lnTo>
                    <a:pt x="20" y="7"/>
                  </a:lnTo>
                  <a:lnTo>
                    <a:pt x="5"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1" name="Freeform 300"/>
            <p:cNvSpPr>
              <a:spLocks/>
            </p:cNvSpPr>
            <p:nvPr/>
          </p:nvSpPr>
          <p:spPr bwMode="auto">
            <a:xfrm>
              <a:off x="2842" y="1856"/>
              <a:ext cx="29" cy="58"/>
            </a:xfrm>
            <a:custGeom>
              <a:avLst/>
              <a:gdLst/>
              <a:ahLst/>
              <a:cxnLst>
                <a:cxn ang="0">
                  <a:pos x="0" y="12"/>
                </a:cxn>
                <a:cxn ang="0">
                  <a:pos x="2" y="36"/>
                </a:cxn>
                <a:cxn ang="0">
                  <a:pos x="13" y="50"/>
                </a:cxn>
                <a:cxn ang="0">
                  <a:pos x="17" y="45"/>
                </a:cxn>
                <a:cxn ang="0">
                  <a:pos x="25" y="31"/>
                </a:cxn>
                <a:cxn ang="0">
                  <a:pos x="25" y="30"/>
                </a:cxn>
                <a:cxn ang="0">
                  <a:pos x="15" y="12"/>
                </a:cxn>
                <a:cxn ang="0">
                  <a:pos x="11" y="2"/>
                </a:cxn>
                <a:cxn ang="0">
                  <a:pos x="2" y="0"/>
                </a:cxn>
                <a:cxn ang="0">
                  <a:pos x="0" y="12"/>
                </a:cxn>
              </a:cxnLst>
              <a:rect l="0" t="0" r="r" b="b"/>
              <a:pathLst>
                <a:path w="25" h="50">
                  <a:moveTo>
                    <a:pt x="0" y="12"/>
                  </a:moveTo>
                  <a:lnTo>
                    <a:pt x="2" y="36"/>
                  </a:lnTo>
                  <a:lnTo>
                    <a:pt x="13" y="50"/>
                  </a:lnTo>
                  <a:lnTo>
                    <a:pt x="17" y="45"/>
                  </a:lnTo>
                  <a:lnTo>
                    <a:pt x="25" y="31"/>
                  </a:lnTo>
                  <a:lnTo>
                    <a:pt x="25" y="30"/>
                  </a:lnTo>
                  <a:lnTo>
                    <a:pt x="15" y="12"/>
                  </a:lnTo>
                  <a:lnTo>
                    <a:pt x="11" y="2"/>
                  </a:lnTo>
                  <a:lnTo>
                    <a:pt x="2" y="0"/>
                  </a:lnTo>
                  <a:lnTo>
                    <a:pt x="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2" name="Freeform 301"/>
            <p:cNvSpPr>
              <a:spLocks/>
            </p:cNvSpPr>
            <p:nvPr/>
          </p:nvSpPr>
          <p:spPr bwMode="auto">
            <a:xfrm>
              <a:off x="3220" y="1876"/>
              <a:ext cx="75" cy="51"/>
            </a:xfrm>
            <a:custGeom>
              <a:avLst/>
              <a:gdLst/>
              <a:ahLst/>
              <a:cxnLst>
                <a:cxn ang="0">
                  <a:pos x="10" y="7"/>
                </a:cxn>
                <a:cxn ang="0">
                  <a:pos x="0" y="0"/>
                </a:cxn>
                <a:cxn ang="0">
                  <a:pos x="22" y="0"/>
                </a:cxn>
                <a:cxn ang="0">
                  <a:pos x="44" y="1"/>
                </a:cxn>
                <a:cxn ang="0">
                  <a:pos x="58" y="2"/>
                </a:cxn>
                <a:cxn ang="0">
                  <a:pos x="57" y="19"/>
                </a:cxn>
                <a:cxn ang="0">
                  <a:pos x="63" y="21"/>
                </a:cxn>
                <a:cxn ang="0">
                  <a:pos x="58" y="27"/>
                </a:cxn>
                <a:cxn ang="0">
                  <a:pos x="69" y="43"/>
                </a:cxn>
                <a:cxn ang="0">
                  <a:pos x="63" y="45"/>
                </a:cxn>
                <a:cxn ang="0">
                  <a:pos x="58" y="42"/>
                </a:cxn>
                <a:cxn ang="0">
                  <a:pos x="57" y="39"/>
                </a:cxn>
                <a:cxn ang="0">
                  <a:pos x="53" y="37"/>
                </a:cxn>
                <a:cxn ang="0">
                  <a:pos x="50" y="37"/>
                </a:cxn>
                <a:cxn ang="0">
                  <a:pos x="46" y="36"/>
                </a:cxn>
                <a:cxn ang="0">
                  <a:pos x="41" y="33"/>
                </a:cxn>
                <a:cxn ang="0">
                  <a:pos x="35" y="33"/>
                </a:cxn>
                <a:cxn ang="0">
                  <a:pos x="22" y="27"/>
                </a:cxn>
                <a:cxn ang="0">
                  <a:pos x="16" y="18"/>
                </a:cxn>
                <a:cxn ang="0">
                  <a:pos x="10" y="7"/>
                </a:cxn>
              </a:cxnLst>
              <a:rect l="0" t="0" r="r" b="b"/>
              <a:pathLst>
                <a:path w="69" h="45">
                  <a:moveTo>
                    <a:pt x="10" y="7"/>
                  </a:moveTo>
                  <a:lnTo>
                    <a:pt x="0" y="0"/>
                  </a:lnTo>
                  <a:lnTo>
                    <a:pt x="22" y="0"/>
                  </a:lnTo>
                  <a:lnTo>
                    <a:pt x="44" y="1"/>
                  </a:lnTo>
                  <a:lnTo>
                    <a:pt x="58" y="2"/>
                  </a:lnTo>
                  <a:lnTo>
                    <a:pt x="57" y="19"/>
                  </a:lnTo>
                  <a:lnTo>
                    <a:pt x="63" y="21"/>
                  </a:lnTo>
                  <a:lnTo>
                    <a:pt x="58" y="27"/>
                  </a:lnTo>
                  <a:lnTo>
                    <a:pt x="69" y="43"/>
                  </a:lnTo>
                  <a:lnTo>
                    <a:pt x="63" y="45"/>
                  </a:lnTo>
                  <a:lnTo>
                    <a:pt x="58" y="42"/>
                  </a:lnTo>
                  <a:lnTo>
                    <a:pt x="57" y="39"/>
                  </a:lnTo>
                  <a:lnTo>
                    <a:pt x="53" y="37"/>
                  </a:lnTo>
                  <a:lnTo>
                    <a:pt x="50" y="37"/>
                  </a:lnTo>
                  <a:lnTo>
                    <a:pt x="46" y="36"/>
                  </a:lnTo>
                  <a:lnTo>
                    <a:pt x="41" y="33"/>
                  </a:lnTo>
                  <a:lnTo>
                    <a:pt x="35" y="33"/>
                  </a:lnTo>
                  <a:lnTo>
                    <a:pt x="22" y="27"/>
                  </a:lnTo>
                  <a:lnTo>
                    <a:pt x="16" y="18"/>
                  </a:lnTo>
                  <a:lnTo>
                    <a:pt x="10"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3" name="Freeform 302"/>
            <p:cNvSpPr>
              <a:spLocks/>
            </p:cNvSpPr>
            <p:nvPr/>
          </p:nvSpPr>
          <p:spPr bwMode="auto">
            <a:xfrm>
              <a:off x="3282" y="1870"/>
              <a:ext cx="67" cy="69"/>
            </a:xfrm>
            <a:custGeom>
              <a:avLst/>
              <a:gdLst/>
              <a:ahLst/>
              <a:cxnLst>
                <a:cxn ang="0">
                  <a:pos x="12" y="49"/>
                </a:cxn>
                <a:cxn ang="0">
                  <a:pos x="1" y="33"/>
                </a:cxn>
                <a:cxn ang="0">
                  <a:pos x="6" y="27"/>
                </a:cxn>
                <a:cxn ang="0">
                  <a:pos x="0" y="25"/>
                </a:cxn>
                <a:cxn ang="0">
                  <a:pos x="1" y="8"/>
                </a:cxn>
                <a:cxn ang="0">
                  <a:pos x="6" y="0"/>
                </a:cxn>
                <a:cxn ang="0">
                  <a:pos x="30" y="4"/>
                </a:cxn>
                <a:cxn ang="0">
                  <a:pos x="38" y="15"/>
                </a:cxn>
                <a:cxn ang="0">
                  <a:pos x="59" y="27"/>
                </a:cxn>
                <a:cxn ang="0">
                  <a:pos x="49" y="30"/>
                </a:cxn>
                <a:cxn ang="0">
                  <a:pos x="44" y="50"/>
                </a:cxn>
                <a:cxn ang="0">
                  <a:pos x="43" y="62"/>
                </a:cxn>
                <a:cxn ang="0">
                  <a:pos x="30" y="52"/>
                </a:cxn>
                <a:cxn ang="0">
                  <a:pos x="31" y="49"/>
                </a:cxn>
                <a:cxn ang="0">
                  <a:pos x="26" y="39"/>
                </a:cxn>
                <a:cxn ang="0">
                  <a:pos x="12" y="49"/>
                </a:cxn>
              </a:cxnLst>
              <a:rect l="0" t="0" r="r" b="b"/>
              <a:pathLst>
                <a:path w="59" h="62">
                  <a:moveTo>
                    <a:pt x="12" y="49"/>
                  </a:moveTo>
                  <a:lnTo>
                    <a:pt x="1" y="33"/>
                  </a:lnTo>
                  <a:lnTo>
                    <a:pt x="6" y="27"/>
                  </a:lnTo>
                  <a:lnTo>
                    <a:pt x="0" y="25"/>
                  </a:lnTo>
                  <a:lnTo>
                    <a:pt x="1" y="8"/>
                  </a:lnTo>
                  <a:lnTo>
                    <a:pt x="6" y="0"/>
                  </a:lnTo>
                  <a:lnTo>
                    <a:pt x="30" y="4"/>
                  </a:lnTo>
                  <a:lnTo>
                    <a:pt x="38" y="15"/>
                  </a:lnTo>
                  <a:lnTo>
                    <a:pt x="59" y="27"/>
                  </a:lnTo>
                  <a:lnTo>
                    <a:pt x="49" y="30"/>
                  </a:lnTo>
                  <a:lnTo>
                    <a:pt x="44" y="50"/>
                  </a:lnTo>
                  <a:lnTo>
                    <a:pt x="43" y="62"/>
                  </a:lnTo>
                  <a:lnTo>
                    <a:pt x="30" y="52"/>
                  </a:lnTo>
                  <a:lnTo>
                    <a:pt x="31" y="49"/>
                  </a:lnTo>
                  <a:lnTo>
                    <a:pt x="26" y="39"/>
                  </a:lnTo>
                  <a:lnTo>
                    <a:pt x="12"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4" name="Freeform 303"/>
            <p:cNvSpPr>
              <a:spLocks/>
            </p:cNvSpPr>
            <p:nvPr/>
          </p:nvSpPr>
          <p:spPr bwMode="auto">
            <a:xfrm>
              <a:off x="3260" y="1914"/>
              <a:ext cx="29" cy="16"/>
            </a:xfrm>
            <a:custGeom>
              <a:avLst/>
              <a:gdLst/>
              <a:ahLst/>
              <a:cxnLst>
                <a:cxn ang="0">
                  <a:pos x="28" y="12"/>
                </a:cxn>
                <a:cxn ang="0">
                  <a:pos x="22" y="15"/>
                </a:cxn>
                <a:cxn ang="0">
                  <a:pos x="4" y="5"/>
                </a:cxn>
                <a:cxn ang="0">
                  <a:pos x="1" y="1"/>
                </a:cxn>
                <a:cxn ang="0">
                  <a:pos x="0" y="0"/>
                </a:cxn>
                <a:cxn ang="0">
                  <a:pos x="6" y="0"/>
                </a:cxn>
                <a:cxn ang="0">
                  <a:pos x="11" y="3"/>
                </a:cxn>
                <a:cxn ang="0">
                  <a:pos x="15" y="4"/>
                </a:cxn>
                <a:cxn ang="0">
                  <a:pos x="18" y="4"/>
                </a:cxn>
                <a:cxn ang="0">
                  <a:pos x="22" y="6"/>
                </a:cxn>
                <a:cxn ang="0">
                  <a:pos x="23" y="9"/>
                </a:cxn>
                <a:cxn ang="0">
                  <a:pos x="28" y="12"/>
                </a:cxn>
              </a:cxnLst>
              <a:rect l="0" t="0" r="r" b="b"/>
              <a:pathLst>
                <a:path w="28" h="15">
                  <a:moveTo>
                    <a:pt x="28" y="12"/>
                  </a:moveTo>
                  <a:lnTo>
                    <a:pt x="22" y="15"/>
                  </a:lnTo>
                  <a:lnTo>
                    <a:pt x="4" y="5"/>
                  </a:lnTo>
                  <a:lnTo>
                    <a:pt x="1" y="1"/>
                  </a:lnTo>
                  <a:lnTo>
                    <a:pt x="0" y="0"/>
                  </a:lnTo>
                  <a:lnTo>
                    <a:pt x="6" y="0"/>
                  </a:lnTo>
                  <a:lnTo>
                    <a:pt x="11" y="3"/>
                  </a:lnTo>
                  <a:lnTo>
                    <a:pt x="15" y="4"/>
                  </a:lnTo>
                  <a:lnTo>
                    <a:pt x="18" y="4"/>
                  </a:lnTo>
                  <a:lnTo>
                    <a:pt x="22" y="6"/>
                  </a:lnTo>
                  <a:lnTo>
                    <a:pt x="23" y="9"/>
                  </a:lnTo>
                  <a:lnTo>
                    <a:pt x="2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5" name="Freeform 304"/>
            <p:cNvSpPr>
              <a:spLocks/>
            </p:cNvSpPr>
            <p:nvPr/>
          </p:nvSpPr>
          <p:spPr bwMode="auto">
            <a:xfrm>
              <a:off x="2858" y="1874"/>
              <a:ext cx="102" cy="102"/>
            </a:xfrm>
            <a:custGeom>
              <a:avLst/>
              <a:gdLst/>
              <a:ahLst/>
              <a:cxnLst>
                <a:cxn ang="0">
                  <a:pos x="17" y="49"/>
                </a:cxn>
                <a:cxn ang="0">
                  <a:pos x="7" y="45"/>
                </a:cxn>
                <a:cxn ang="0">
                  <a:pos x="0" y="36"/>
                </a:cxn>
                <a:cxn ang="0">
                  <a:pos x="4" y="31"/>
                </a:cxn>
                <a:cxn ang="0">
                  <a:pos x="12" y="17"/>
                </a:cxn>
                <a:cxn ang="0">
                  <a:pos x="12" y="16"/>
                </a:cxn>
                <a:cxn ang="0">
                  <a:pos x="38" y="7"/>
                </a:cxn>
                <a:cxn ang="0">
                  <a:pos x="54" y="5"/>
                </a:cxn>
                <a:cxn ang="0">
                  <a:pos x="79" y="7"/>
                </a:cxn>
                <a:cxn ang="0">
                  <a:pos x="85" y="3"/>
                </a:cxn>
                <a:cxn ang="0">
                  <a:pos x="88" y="0"/>
                </a:cxn>
                <a:cxn ang="0">
                  <a:pos x="91" y="7"/>
                </a:cxn>
                <a:cxn ang="0">
                  <a:pos x="85" y="18"/>
                </a:cxn>
                <a:cxn ang="0">
                  <a:pos x="68" y="15"/>
                </a:cxn>
                <a:cxn ang="0">
                  <a:pos x="53" y="19"/>
                </a:cxn>
                <a:cxn ang="0">
                  <a:pos x="60" y="27"/>
                </a:cxn>
                <a:cxn ang="0">
                  <a:pos x="53" y="28"/>
                </a:cxn>
                <a:cxn ang="0">
                  <a:pos x="54" y="30"/>
                </a:cxn>
                <a:cxn ang="0">
                  <a:pos x="48" y="29"/>
                </a:cxn>
                <a:cxn ang="0">
                  <a:pos x="52" y="33"/>
                </a:cxn>
                <a:cxn ang="0">
                  <a:pos x="41" y="22"/>
                </a:cxn>
                <a:cxn ang="0">
                  <a:pos x="37" y="24"/>
                </a:cxn>
                <a:cxn ang="0">
                  <a:pos x="43" y="40"/>
                </a:cxn>
                <a:cxn ang="0">
                  <a:pos x="47" y="47"/>
                </a:cxn>
                <a:cxn ang="0">
                  <a:pos x="41" y="45"/>
                </a:cxn>
                <a:cxn ang="0">
                  <a:pos x="43" y="51"/>
                </a:cxn>
                <a:cxn ang="0">
                  <a:pos x="40" y="52"/>
                </a:cxn>
                <a:cxn ang="0">
                  <a:pos x="60" y="65"/>
                </a:cxn>
                <a:cxn ang="0">
                  <a:pos x="59" y="71"/>
                </a:cxn>
                <a:cxn ang="0">
                  <a:pos x="52" y="67"/>
                </a:cxn>
                <a:cxn ang="0">
                  <a:pos x="48" y="70"/>
                </a:cxn>
                <a:cxn ang="0">
                  <a:pos x="52" y="77"/>
                </a:cxn>
                <a:cxn ang="0">
                  <a:pos x="43" y="77"/>
                </a:cxn>
                <a:cxn ang="0">
                  <a:pos x="48" y="94"/>
                </a:cxn>
                <a:cxn ang="0">
                  <a:pos x="41" y="90"/>
                </a:cxn>
                <a:cxn ang="0">
                  <a:pos x="38" y="94"/>
                </a:cxn>
                <a:cxn ang="0">
                  <a:pos x="31" y="85"/>
                </a:cxn>
                <a:cxn ang="0">
                  <a:pos x="29" y="89"/>
                </a:cxn>
                <a:cxn ang="0">
                  <a:pos x="22" y="73"/>
                </a:cxn>
                <a:cxn ang="0">
                  <a:pos x="20" y="66"/>
                </a:cxn>
                <a:cxn ang="0">
                  <a:pos x="32" y="63"/>
                </a:cxn>
                <a:cxn ang="0">
                  <a:pos x="46" y="66"/>
                </a:cxn>
                <a:cxn ang="0">
                  <a:pos x="46" y="63"/>
                </a:cxn>
                <a:cxn ang="0">
                  <a:pos x="37" y="59"/>
                </a:cxn>
                <a:cxn ang="0">
                  <a:pos x="20" y="58"/>
                </a:cxn>
                <a:cxn ang="0">
                  <a:pos x="17" y="59"/>
                </a:cxn>
                <a:cxn ang="0">
                  <a:pos x="13" y="51"/>
                </a:cxn>
                <a:cxn ang="0">
                  <a:pos x="17" y="49"/>
                </a:cxn>
              </a:cxnLst>
              <a:rect l="0" t="0" r="r" b="b"/>
              <a:pathLst>
                <a:path w="91" h="94">
                  <a:moveTo>
                    <a:pt x="17" y="49"/>
                  </a:moveTo>
                  <a:lnTo>
                    <a:pt x="7" y="45"/>
                  </a:lnTo>
                  <a:lnTo>
                    <a:pt x="0" y="36"/>
                  </a:lnTo>
                  <a:lnTo>
                    <a:pt x="4" y="31"/>
                  </a:lnTo>
                  <a:lnTo>
                    <a:pt x="12" y="17"/>
                  </a:lnTo>
                  <a:lnTo>
                    <a:pt x="12" y="16"/>
                  </a:lnTo>
                  <a:lnTo>
                    <a:pt x="38" y="7"/>
                  </a:lnTo>
                  <a:lnTo>
                    <a:pt x="54" y="5"/>
                  </a:lnTo>
                  <a:lnTo>
                    <a:pt x="79" y="7"/>
                  </a:lnTo>
                  <a:lnTo>
                    <a:pt x="85" y="3"/>
                  </a:lnTo>
                  <a:lnTo>
                    <a:pt x="88" y="0"/>
                  </a:lnTo>
                  <a:lnTo>
                    <a:pt x="91" y="7"/>
                  </a:lnTo>
                  <a:lnTo>
                    <a:pt x="85" y="18"/>
                  </a:lnTo>
                  <a:lnTo>
                    <a:pt x="68" y="15"/>
                  </a:lnTo>
                  <a:lnTo>
                    <a:pt x="53" y="19"/>
                  </a:lnTo>
                  <a:lnTo>
                    <a:pt x="60" y="27"/>
                  </a:lnTo>
                  <a:lnTo>
                    <a:pt x="53" y="28"/>
                  </a:lnTo>
                  <a:lnTo>
                    <a:pt x="54" y="30"/>
                  </a:lnTo>
                  <a:lnTo>
                    <a:pt x="48" y="29"/>
                  </a:lnTo>
                  <a:lnTo>
                    <a:pt x="52" y="33"/>
                  </a:lnTo>
                  <a:lnTo>
                    <a:pt x="41" y="22"/>
                  </a:lnTo>
                  <a:lnTo>
                    <a:pt x="37" y="24"/>
                  </a:lnTo>
                  <a:lnTo>
                    <a:pt x="43" y="40"/>
                  </a:lnTo>
                  <a:lnTo>
                    <a:pt x="47" y="47"/>
                  </a:lnTo>
                  <a:lnTo>
                    <a:pt x="41" y="45"/>
                  </a:lnTo>
                  <a:lnTo>
                    <a:pt x="43" y="51"/>
                  </a:lnTo>
                  <a:lnTo>
                    <a:pt x="40" y="52"/>
                  </a:lnTo>
                  <a:lnTo>
                    <a:pt x="60" y="65"/>
                  </a:lnTo>
                  <a:lnTo>
                    <a:pt x="59" y="71"/>
                  </a:lnTo>
                  <a:lnTo>
                    <a:pt x="52" y="67"/>
                  </a:lnTo>
                  <a:lnTo>
                    <a:pt x="48" y="70"/>
                  </a:lnTo>
                  <a:lnTo>
                    <a:pt x="52" y="77"/>
                  </a:lnTo>
                  <a:lnTo>
                    <a:pt x="43" y="77"/>
                  </a:lnTo>
                  <a:lnTo>
                    <a:pt x="48" y="94"/>
                  </a:lnTo>
                  <a:lnTo>
                    <a:pt x="41" y="90"/>
                  </a:lnTo>
                  <a:lnTo>
                    <a:pt x="38" y="94"/>
                  </a:lnTo>
                  <a:lnTo>
                    <a:pt x="31" y="85"/>
                  </a:lnTo>
                  <a:lnTo>
                    <a:pt x="29" y="89"/>
                  </a:lnTo>
                  <a:lnTo>
                    <a:pt x="22" y="73"/>
                  </a:lnTo>
                  <a:lnTo>
                    <a:pt x="20" y="66"/>
                  </a:lnTo>
                  <a:lnTo>
                    <a:pt x="32" y="63"/>
                  </a:lnTo>
                  <a:lnTo>
                    <a:pt x="46" y="66"/>
                  </a:lnTo>
                  <a:lnTo>
                    <a:pt x="46" y="63"/>
                  </a:lnTo>
                  <a:lnTo>
                    <a:pt x="37" y="59"/>
                  </a:lnTo>
                  <a:lnTo>
                    <a:pt x="20" y="58"/>
                  </a:lnTo>
                  <a:lnTo>
                    <a:pt x="17" y="59"/>
                  </a:lnTo>
                  <a:lnTo>
                    <a:pt x="13" y="51"/>
                  </a:lnTo>
                  <a:lnTo>
                    <a:pt x="17"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6" name="Freeform 305"/>
            <p:cNvSpPr>
              <a:spLocks/>
            </p:cNvSpPr>
            <p:nvPr/>
          </p:nvSpPr>
          <p:spPr bwMode="auto">
            <a:xfrm>
              <a:off x="2922" y="1996"/>
              <a:ext cx="47" cy="11"/>
            </a:xfrm>
            <a:custGeom>
              <a:avLst/>
              <a:gdLst/>
              <a:ahLst/>
              <a:cxnLst>
                <a:cxn ang="0">
                  <a:pos x="31" y="4"/>
                </a:cxn>
                <a:cxn ang="0">
                  <a:pos x="8" y="0"/>
                </a:cxn>
                <a:cxn ang="0">
                  <a:pos x="1" y="0"/>
                </a:cxn>
                <a:cxn ang="0">
                  <a:pos x="0" y="6"/>
                </a:cxn>
                <a:cxn ang="0">
                  <a:pos x="14" y="8"/>
                </a:cxn>
                <a:cxn ang="0">
                  <a:pos x="29" y="9"/>
                </a:cxn>
                <a:cxn ang="0">
                  <a:pos x="41" y="6"/>
                </a:cxn>
                <a:cxn ang="0">
                  <a:pos x="31" y="4"/>
                </a:cxn>
              </a:cxnLst>
              <a:rect l="0" t="0" r="r" b="b"/>
              <a:pathLst>
                <a:path w="41" h="9">
                  <a:moveTo>
                    <a:pt x="31" y="4"/>
                  </a:moveTo>
                  <a:lnTo>
                    <a:pt x="8" y="0"/>
                  </a:lnTo>
                  <a:lnTo>
                    <a:pt x="1" y="0"/>
                  </a:lnTo>
                  <a:lnTo>
                    <a:pt x="0" y="6"/>
                  </a:lnTo>
                  <a:lnTo>
                    <a:pt x="14" y="8"/>
                  </a:lnTo>
                  <a:lnTo>
                    <a:pt x="29" y="9"/>
                  </a:lnTo>
                  <a:lnTo>
                    <a:pt x="41" y="6"/>
                  </a:lnTo>
                  <a:lnTo>
                    <a:pt x="3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7" name="Freeform 306"/>
            <p:cNvSpPr>
              <a:spLocks/>
            </p:cNvSpPr>
            <p:nvPr/>
          </p:nvSpPr>
          <p:spPr bwMode="auto">
            <a:xfrm>
              <a:off x="2907" y="1927"/>
              <a:ext cx="26" cy="18"/>
            </a:xfrm>
            <a:custGeom>
              <a:avLst/>
              <a:gdLst/>
              <a:ahLst/>
              <a:cxnLst>
                <a:cxn ang="0">
                  <a:pos x="24" y="16"/>
                </a:cxn>
                <a:cxn ang="0">
                  <a:pos x="11" y="4"/>
                </a:cxn>
                <a:cxn ang="0">
                  <a:pos x="0" y="0"/>
                </a:cxn>
                <a:cxn ang="0">
                  <a:pos x="12" y="8"/>
                </a:cxn>
                <a:cxn ang="0">
                  <a:pos x="24" y="16"/>
                </a:cxn>
              </a:cxnLst>
              <a:rect l="0" t="0" r="r" b="b"/>
              <a:pathLst>
                <a:path w="24" h="16">
                  <a:moveTo>
                    <a:pt x="24" y="16"/>
                  </a:moveTo>
                  <a:lnTo>
                    <a:pt x="11" y="4"/>
                  </a:lnTo>
                  <a:lnTo>
                    <a:pt x="0" y="0"/>
                  </a:lnTo>
                  <a:lnTo>
                    <a:pt x="12" y="8"/>
                  </a:lnTo>
                  <a:lnTo>
                    <a:pt x="24"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8" name="Freeform 307"/>
            <p:cNvSpPr>
              <a:spLocks/>
            </p:cNvSpPr>
            <p:nvPr/>
          </p:nvSpPr>
          <p:spPr bwMode="auto">
            <a:xfrm>
              <a:off x="2953" y="1921"/>
              <a:ext cx="11" cy="4"/>
            </a:xfrm>
            <a:custGeom>
              <a:avLst/>
              <a:gdLst/>
              <a:ahLst/>
              <a:cxnLst>
                <a:cxn ang="0">
                  <a:pos x="10" y="4"/>
                </a:cxn>
                <a:cxn ang="0">
                  <a:pos x="4" y="3"/>
                </a:cxn>
                <a:cxn ang="0">
                  <a:pos x="0" y="0"/>
                </a:cxn>
                <a:cxn ang="0">
                  <a:pos x="9" y="2"/>
                </a:cxn>
                <a:cxn ang="0">
                  <a:pos x="10" y="4"/>
                </a:cxn>
              </a:cxnLst>
              <a:rect l="0" t="0" r="r" b="b"/>
              <a:pathLst>
                <a:path w="10" h="4">
                  <a:moveTo>
                    <a:pt x="10" y="4"/>
                  </a:moveTo>
                  <a:lnTo>
                    <a:pt x="4" y="3"/>
                  </a:lnTo>
                  <a:lnTo>
                    <a:pt x="0" y="0"/>
                  </a:lnTo>
                  <a:lnTo>
                    <a:pt x="9" y="2"/>
                  </a:lnTo>
                  <a:lnTo>
                    <a:pt x="1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9" name="Freeform 308"/>
            <p:cNvSpPr>
              <a:spLocks/>
            </p:cNvSpPr>
            <p:nvPr/>
          </p:nvSpPr>
          <p:spPr bwMode="auto">
            <a:xfrm>
              <a:off x="2867" y="1941"/>
              <a:ext cx="4" cy="2"/>
            </a:xfrm>
            <a:custGeom>
              <a:avLst/>
              <a:gdLst/>
              <a:ahLst/>
              <a:cxnLst>
                <a:cxn ang="0">
                  <a:pos x="0" y="0"/>
                </a:cxn>
                <a:cxn ang="0">
                  <a:pos x="5" y="4"/>
                </a:cxn>
                <a:cxn ang="0">
                  <a:pos x="1" y="4"/>
                </a:cxn>
                <a:cxn ang="0">
                  <a:pos x="0" y="0"/>
                </a:cxn>
              </a:cxnLst>
              <a:rect l="0" t="0" r="r" b="b"/>
              <a:pathLst>
                <a:path w="5" h="4">
                  <a:moveTo>
                    <a:pt x="0" y="0"/>
                  </a:moveTo>
                  <a:lnTo>
                    <a:pt x="5" y="4"/>
                  </a:lnTo>
                  <a:lnTo>
                    <a:pt x="1" y="4"/>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0" name="Freeform 309"/>
            <p:cNvSpPr>
              <a:spLocks/>
            </p:cNvSpPr>
            <p:nvPr/>
          </p:nvSpPr>
          <p:spPr bwMode="auto">
            <a:xfrm>
              <a:off x="2956" y="1936"/>
              <a:ext cx="4" cy="5"/>
            </a:xfrm>
            <a:custGeom>
              <a:avLst/>
              <a:gdLst/>
              <a:ahLst/>
              <a:cxnLst>
                <a:cxn ang="0">
                  <a:pos x="3" y="0"/>
                </a:cxn>
                <a:cxn ang="0">
                  <a:pos x="2" y="4"/>
                </a:cxn>
                <a:cxn ang="0">
                  <a:pos x="0" y="1"/>
                </a:cxn>
                <a:cxn ang="0">
                  <a:pos x="3" y="0"/>
                </a:cxn>
              </a:cxnLst>
              <a:rect l="0" t="0" r="r" b="b"/>
              <a:pathLst>
                <a:path w="3" h="4">
                  <a:moveTo>
                    <a:pt x="3" y="0"/>
                  </a:moveTo>
                  <a:lnTo>
                    <a:pt x="2" y="4"/>
                  </a:lnTo>
                  <a:lnTo>
                    <a:pt x="0" y="1"/>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1" name="Freeform 310"/>
            <p:cNvSpPr>
              <a:spLocks/>
            </p:cNvSpPr>
            <p:nvPr/>
          </p:nvSpPr>
          <p:spPr bwMode="auto">
            <a:xfrm>
              <a:off x="2640" y="1770"/>
              <a:ext cx="189" cy="180"/>
            </a:xfrm>
            <a:custGeom>
              <a:avLst/>
              <a:gdLst/>
              <a:ahLst/>
              <a:cxnLst>
                <a:cxn ang="0">
                  <a:pos x="96" y="7"/>
                </a:cxn>
                <a:cxn ang="0">
                  <a:pos x="75" y="0"/>
                </a:cxn>
                <a:cxn ang="0">
                  <a:pos x="59" y="2"/>
                </a:cxn>
                <a:cxn ang="0">
                  <a:pos x="51" y="1"/>
                </a:cxn>
                <a:cxn ang="0">
                  <a:pos x="51" y="2"/>
                </a:cxn>
                <a:cxn ang="0">
                  <a:pos x="47" y="6"/>
                </a:cxn>
                <a:cxn ang="0">
                  <a:pos x="45" y="11"/>
                </a:cxn>
                <a:cxn ang="0">
                  <a:pos x="34" y="11"/>
                </a:cxn>
                <a:cxn ang="0">
                  <a:pos x="29" y="18"/>
                </a:cxn>
                <a:cxn ang="0">
                  <a:pos x="19" y="11"/>
                </a:cxn>
                <a:cxn ang="0">
                  <a:pos x="11" y="17"/>
                </a:cxn>
                <a:cxn ang="0">
                  <a:pos x="3" y="18"/>
                </a:cxn>
                <a:cxn ang="0">
                  <a:pos x="3" y="25"/>
                </a:cxn>
                <a:cxn ang="0">
                  <a:pos x="0" y="32"/>
                </a:cxn>
                <a:cxn ang="0">
                  <a:pos x="0" y="37"/>
                </a:cxn>
                <a:cxn ang="0">
                  <a:pos x="1" y="43"/>
                </a:cxn>
                <a:cxn ang="0">
                  <a:pos x="11" y="49"/>
                </a:cxn>
                <a:cxn ang="0">
                  <a:pos x="11" y="56"/>
                </a:cxn>
                <a:cxn ang="0">
                  <a:pos x="24" y="47"/>
                </a:cxn>
                <a:cxn ang="0">
                  <a:pos x="43" y="50"/>
                </a:cxn>
                <a:cxn ang="0">
                  <a:pos x="54" y="68"/>
                </a:cxn>
                <a:cxn ang="0">
                  <a:pos x="67" y="80"/>
                </a:cxn>
                <a:cxn ang="0">
                  <a:pos x="81" y="92"/>
                </a:cxn>
                <a:cxn ang="0">
                  <a:pos x="84" y="95"/>
                </a:cxn>
                <a:cxn ang="0">
                  <a:pos x="85" y="95"/>
                </a:cxn>
                <a:cxn ang="0">
                  <a:pos x="96" y="99"/>
                </a:cxn>
                <a:cxn ang="0">
                  <a:pos x="114" y="111"/>
                </a:cxn>
                <a:cxn ang="0">
                  <a:pos x="123" y="116"/>
                </a:cxn>
                <a:cxn ang="0">
                  <a:pos x="130" y="122"/>
                </a:cxn>
                <a:cxn ang="0">
                  <a:pos x="139" y="140"/>
                </a:cxn>
                <a:cxn ang="0">
                  <a:pos x="133" y="156"/>
                </a:cxn>
                <a:cxn ang="0">
                  <a:pos x="141" y="161"/>
                </a:cxn>
                <a:cxn ang="0">
                  <a:pos x="147" y="149"/>
                </a:cxn>
                <a:cxn ang="0">
                  <a:pos x="153" y="141"/>
                </a:cxn>
                <a:cxn ang="0">
                  <a:pos x="155" y="138"/>
                </a:cxn>
                <a:cxn ang="0">
                  <a:pos x="147" y="129"/>
                </a:cxn>
                <a:cxn ang="0">
                  <a:pos x="150" y="115"/>
                </a:cxn>
                <a:cxn ang="0">
                  <a:pos x="159" y="117"/>
                </a:cxn>
                <a:cxn ang="0">
                  <a:pos x="169" y="126"/>
                </a:cxn>
                <a:cxn ang="0">
                  <a:pos x="172" y="117"/>
                </a:cxn>
                <a:cxn ang="0">
                  <a:pos x="154" y="108"/>
                </a:cxn>
                <a:cxn ang="0">
                  <a:pos x="135" y="97"/>
                </a:cxn>
                <a:cxn ang="0">
                  <a:pos x="137" y="91"/>
                </a:cxn>
                <a:cxn ang="0">
                  <a:pos x="132" y="89"/>
                </a:cxn>
                <a:cxn ang="0">
                  <a:pos x="113" y="84"/>
                </a:cxn>
                <a:cxn ang="0">
                  <a:pos x="106" y="72"/>
                </a:cxn>
                <a:cxn ang="0">
                  <a:pos x="99" y="61"/>
                </a:cxn>
                <a:cxn ang="0">
                  <a:pos x="84" y="53"/>
                </a:cxn>
                <a:cxn ang="0">
                  <a:pos x="79" y="38"/>
                </a:cxn>
                <a:cxn ang="0">
                  <a:pos x="77" y="30"/>
                </a:cxn>
                <a:cxn ang="0">
                  <a:pos x="89" y="21"/>
                </a:cxn>
                <a:cxn ang="0">
                  <a:pos x="97" y="24"/>
                </a:cxn>
                <a:cxn ang="0">
                  <a:pos x="94" y="13"/>
                </a:cxn>
                <a:cxn ang="0">
                  <a:pos x="96" y="7"/>
                </a:cxn>
                <a:cxn ang="0">
                  <a:pos x="82" y="53"/>
                </a:cxn>
                <a:cxn ang="0">
                  <a:pos x="81" y="53"/>
                </a:cxn>
                <a:cxn ang="0">
                  <a:pos x="81" y="54"/>
                </a:cxn>
                <a:cxn ang="0">
                  <a:pos x="82" y="54"/>
                </a:cxn>
                <a:cxn ang="0">
                  <a:pos x="82" y="53"/>
                </a:cxn>
                <a:cxn ang="0">
                  <a:pos x="96" y="7"/>
                </a:cxn>
                <a:cxn ang="0">
                  <a:pos x="85" y="93"/>
                </a:cxn>
                <a:cxn ang="0">
                  <a:pos x="96" y="7"/>
                </a:cxn>
              </a:cxnLst>
              <a:rect l="0" t="0" r="r" b="b"/>
              <a:pathLst>
                <a:path w="172" h="161">
                  <a:moveTo>
                    <a:pt x="96" y="7"/>
                  </a:moveTo>
                  <a:lnTo>
                    <a:pt x="75" y="0"/>
                  </a:lnTo>
                  <a:lnTo>
                    <a:pt x="59" y="2"/>
                  </a:lnTo>
                  <a:lnTo>
                    <a:pt x="51" y="1"/>
                  </a:lnTo>
                  <a:lnTo>
                    <a:pt x="51" y="2"/>
                  </a:lnTo>
                  <a:lnTo>
                    <a:pt x="47" y="6"/>
                  </a:lnTo>
                  <a:lnTo>
                    <a:pt x="45" y="11"/>
                  </a:lnTo>
                  <a:lnTo>
                    <a:pt x="34" y="11"/>
                  </a:lnTo>
                  <a:lnTo>
                    <a:pt x="29" y="18"/>
                  </a:lnTo>
                  <a:lnTo>
                    <a:pt x="19" y="11"/>
                  </a:lnTo>
                  <a:lnTo>
                    <a:pt x="11" y="17"/>
                  </a:lnTo>
                  <a:lnTo>
                    <a:pt x="3" y="18"/>
                  </a:lnTo>
                  <a:lnTo>
                    <a:pt x="3" y="25"/>
                  </a:lnTo>
                  <a:lnTo>
                    <a:pt x="0" y="32"/>
                  </a:lnTo>
                  <a:lnTo>
                    <a:pt x="0" y="37"/>
                  </a:lnTo>
                  <a:lnTo>
                    <a:pt x="1" y="43"/>
                  </a:lnTo>
                  <a:lnTo>
                    <a:pt x="11" y="49"/>
                  </a:lnTo>
                  <a:lnTo>
                    <a:pt x="11" y="56"/>
                  </a:lnTo>
                  <a:lnTo>
                    <a:pt x="24" y="47"/>
                  </a:lnTo>
                  <a:lnTo>
                    <a:pt x="43" y="50"/>
                  </a:lnTo>
                  <a:lnTo>
                    <a:pt x="54" y="68"/>
                  </a:lnTo>
                  <a:lnTo>
                    <a:pt x="67" y="80"/>
                  </a:lnTo>
                  <a:lnTo>
                    <a:pt x="81" y="92"/>
                  </a:lnTo>
                  <a:lnTo>
                    <a:pt x="84" y="95"/>
                  </a:lnTo>
                  <a:lnTo>
                    <a:pt x="85" y="95"/>
                  </a:lnTo>
                  <a:lnTo>
                    <a:pt x="96" y="99"/>
                  </a:lnTo>
                  <a:lnTo>
                    <a:pt x="114" y="111"/>
                  </a:lnTo>
                  <a:lnTo>
                    <a:pt x="123" y="116"/>
                  </a:lnTo>
                  <a:lnTo>
                    <a:pt x="130" y="122"/>
                  </a:lnTo>
                  <a:lnTo>
                    <a:pt x="139" y="140"/>
                  </a:lnTo>
                  <a:lnTo>
                    <a:pt x="133" y="156"/>
                  </a:lnTo>
                  <a:lnTo>
                    <a:pt x="141" y="161"/>
                  </a:lnTo>
                  <a:lnTo>
                    <a:pt x="147" y="149"/>
                  </a:lnTo>
                  <a:lnTo>
                    <a:pt x="153" y="141"/>
                  </a:lnTo>
                  <a:lnTo>
                    <a:pt x="155" y="138"/>
                  </a:lnTo>
                  <a:lnTo>
                    <a:pt x="147" y="129"/>
                  </a:lnTo>
                  <a:lnTo>
                    <a:pt x="150" y="115"/>
                  </a:lnTo>
                  <a:lnTo>
                    <a:pt x="159" y="117"/>
                  </a:lnTo>
                  <a:lnTo>
                    <a:pt x="169" y="126"/>
                  </a:lnTo>
                  <a:lnTo>
                    <a:pt x="172" y="117"/>
                  </a:lnTo>
                  <a:lnTo>
                    <a:pt x="154" y="108"/>
                  </a:lnTo>
                  <a:lnTo>
                    <a:pt x="135" y="97"/>
                  </a:lnTo>
                  <a:lnTo>
                    <a:pt x="137" y="91"/>
                  </a:lnTo>
                  <a:lnTo>
                    <a:pt x="132" y="89"/>
                  </a:lnTo>
                  <a:lnTo>
                    <a:pt x="113" y="84"/>
                  </a:lnTo>
                  <a:lnTo>
                    <a:pt x="106" y="72"/>
                  </a:lnTo>
                  <a:lnTo>
                    <a:pt x="99" y="61"/>
                  </a:lnTo>
                  <a:lnTo>
                    <a:pt x="84" y="53"/>
                  </a:lnTo>
                  <a:lnTo>
                    <a:pt x="79" y="38"/>
                  </a:lnTo>
                  <a:lnTo>
                    <a:pt x="77" y="30"/>
                  </a:lnTo>
                  <a:lnTo>
                    <a:pt x="89" y="21"/>
                  </a:lnTo>
                  <a:lnTo>
                    <a:pt x="97" y="24"/>
                  </a:lnTo>
                  <a:lnTo>
                    <a:pt x="94" y="13"/>
                  </a:lnTo>
                  <a:lnTo>
                    <a:pt x="96" y="7"/>
                  </a:lnTo>
                  <a:lnTo>
                    <a:pt x="82" y="53"/>
                  </a:lnTo>
                  <a:lnTo>
                    <a:pt x="81" y="53"/>
                  </a:lnTo>
                  <a:lnTo>
                    <a:pt x="81" y="54"/>
                  </a:lnTo>
                  <a:lnTo>
                    <a:pt x="82" y="54"/>
                  </a:lnTo>
                  <a:lnTo>
                    <a:pt x="82" y="53"/>
                  </a:lnTo>
                  <a:lnTo>
                    <a:pt x="96" y="7"/>
                  </a:lnTo>
                  <a:lnTo>
                    <a:pt x="85" y="93"/>
                  </a:lnTo>
                  <a:lnTo>
                    <a:pt x="96" y="7"/>
                  </a:lnTo>
                  <a:close/>
                </a:path>
              </a:pathLst>
            </a:custGeom>
            <a:grpFill/>
            <a:ln w="3175" cmpd="sng">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2" name="Freeform 311"/>
            <p:cNvSpPr>
              <a:spLocks/>
            </p:cNvSpPr>
            <p:nvPr/>
          </p:nvSpPr>
          <p:spPr bwMode="auto">
            <a:xfrm>
              <a:off x="2640" y="1770"/>
              <a:ext cx="189" cy="180"/>
            </a:xfrm>
            <a:custGeom>
              <a:avLst/>
              <a:gdLst/>
              <a:ahLst/>
              <a:cxnLst>
                <a:cxn ang="0">
                  <a:pos x="96" y="7"/>
                </a:cxn>
                <a:cxn ang="0">
                  <a:pos x="75" y="0"/>
                </a:cxn>
                <a:cxn ang="0">
                  <a:pos x="59" y="2"/>
                </a:cxn>
                <a:cxn ang="0">
                  <a:pos x="51" y="1"/>
                </a:cxn>
                <a:cxn ang="0">
                  <a:pos x="51" y="2"/>
                </a:cxn>
                <a:cxn ang="0">
                  <a:pos x="47" y="6"/>
                </a:cxn>
                <a:cxn ang="0">
                  <a:pos x="45" y="11"/>
                </a:cxn>
                <a:cxn ang="0">
                  <a:pos x="34" y="11"/>
                </a:cxn>
                <a:cxn ang="0">
                  <a:pos x="29" y="18"/>
                </a:cxn>
                <a:cxn ang="0">
                  <a:pos x="19" y="11"/>
                </a:cxn>
                <a:cxn ang="0">
                  <a:pos x="11" y="17"/>
                </a:cxn>
                <a:cxn ang="0">
                  <a:pos x="3" y="18"/>
                </a:cxn>
                <a:cxn ang="0">
                  <a:pos x="3" y="25"/>
                </a:cxn>
                <a:cxn ang="0">
                  <a:pos x="0" y="32"/>
                </a:cxn>
                <a:cxn ang="0">
                  <a:pos x="0" y="37"/>
                </a:cxn>
                <a:cxn ang="0">
                  <a:pos x="1" y="43"/>
                </a:cxn>
                <a:cxn ang="0">
                  <a:pos x="11" y="49"/>
                </a:cxn>
                <a:cxn ang="0">
                  <a:pos x="11" y="56"/>
                </a:cxn>
                <a:cxn ang="0">
                  <a:pos x="24" y="47"/>
                </a:cxn>
                <a:cxn ang="0">
                  <a:pos x="43" y="50"/>
                </a:cxn>
                <a:cxn ang="0">
                  <a:pos x="54" y="68"/>
                </a:cxn>
                <a:cxn ang="0">
                  <a:pos x="67" y="80"/>
                </a:cxn>
                <a:cxn ang="0">
                  <a:pos x="81" y="92"/>
                </a:cxn>
                <a:cxn ang="0">
                  <a:pos x="84" y="95"/>
                </a:cxn>
                <a:cxn ang="0">
                  <a:pos x="85" y="95"/>
                </a:cxn>
                <a:cxn ang="0">
                  <a:pos x="96" y="99"/>
                </a:cxn>
                <a:cxn ang="0">
                  <a:pos x="114" y="111"/>
                </a:cxn>
                <a:cxn ang="0">
                  <a:pos x="123" y="116"/>
                </a:cxn>
                <a:cxn ang="0">
                  <a:pos x="130" y="122"/>
                </a:cxn>
                <a:cxn ang="0">
                  <a:pos x="139" y="140"/>
                </a:cxn>
                <a:cxn ang="0">
                  <a:pos x="133" y="156"/>
                </a:cxn>
                <a:cxn ang="0">
                  <a:pos x="141" y="161"/>
                </a:cxn>
                <a:cxn ang="0">
                  <a:pos x="147" y="149"/>
                </a:cxn>
                <a:cxn ang="0">
                  <a:pos x="153" y="141"/>
                </a:cxn>
                <a:cxn ang="0">
                  <a:pos x="155" y="138"/>
                </a:cxn>
                <a:cxn ang="0">
                  <a:pos x="147" y="129"/>
                </a:cxn>
                <a:cxn ang="0">
                  <a:pos x="150" y="115"/>
                </a:cxn>
                <a:cxn ang="0">
                  <a:pos x="159" y="117"/>
                </a:cxn>
                <a:cxn ang="0">
                  <a:pos x="169" y="126"/>
                </a:cxn>
                <a:cxn ang="0">
                  <a:pos x="172" y="117"/>
                </a:cxn>
                <a:cxn ang="0">
                  <a:pos x="154" y="108"/>
                </a:cxn>
                <a:cxn ang="0">
                  <a:pos x="135" y="97"/>
                </a:cxn>
                <a:cxn ang="0">
                  <a:pos x="137" y="91"/>
                </a:cxn>
                <a:cxn ang="0">
                  <a:pos x="132" y="89"/>
                </a:cxn>
                <a:cxn ang="0">
                  <a:pos x="113" y="84"/>
                </a:cxn>
                <a:cxn ang="0">
                  <a:pos x="106" y="72"/>
                </a:cxn>
                <a:cxn ang="0">
                  <a:pos x="99" y="61"/>
                </a:cxn>
                <a:cxn ang="0">
                  <a:pos x="84" y="53"/>
                </a:cxn>
                <a:cxn ang="0">
                  <a:pos x="79" y="38"/>
                </a:cxn>
                <a:cxn ang="0">
                  <a:pos x="77" y="30"/>
                </a:cxn>
                <a:cxn ang="0">
                  <a:pos x="89" y="21"/>
                </a:cxn>
                <a:cxn ang="0">
                  <a:pos x="97" y="24"/>
                </a:cxn>
                <a:cxn ang="0">
                  <a:pos x="94" y="13"/>
                </a:cxn>
                <a:cxn ang="0">
                  <a:pos x="96" y="7"/>
                </a:cxn>
              </a:cxnLst>
              <a:rect l="0" t="0" r="r" b="b"/>
              <a:pathLst>
                <a:path w="172" h="161">
                  <a:moveTo>
                    <a:pt x="96" y="7"/>
                  </a:moveTo>
                  <a:lnTo>
                    <a:pt x="75" y="0"/>
                  </a:lnTo>
                  <a:lnTo>
                    <a:pt x="59" y="2"/>
                  </a:lnTo>
                  <a:lnTo>
                    <a:pt x="51" y="1"/>
                  </a:lnTo>
                  <a:lnTo>
                    <a:pt x="51" y="2"/>
                  </a:lnTo>
                  <a:lnTo>
                    <a:pt x="47" y="6"/>
                  </a:lnTo>
                  <a:lnTo>
                    <a:pt x="45" y="11"/>
                  </a:lnTo>
                  <a:lnTo>
                    <a:pt x="34" y="11"/>
                  </a:lnTo>
                  <a:lnTo>
                    <a:pt x="29" y="18"/>
                  </a:lnTo>
                  <a:lnTo>
                    <a:pt x="19" y="11"/>
                  </a:lnTo>
                  <a:lnTo>
                    <a:pt x="11" y="17"/>
                  </a:lnTo>
                  <a:lnTo>
                    <a:pt x="3" y="18"/>
                  </a:lnTo>
                  <a:lnTo>
                    <a:pt x="3" y="25"/>
                  </a:lnTo>
                  <a:lnTo>
                    <a:pt x="0" y="32"/>
                  </a:lnTo>
                  <a:lnTo>
                    <a:pt x="0" y="37"/>
                  </a:lnTo>
                  <a:lnTo>
                    <a:pt x="1" y="43"/>
                  </a:lnTo>
                  <a:lnTo>
                    <a:pt x="11" y="49"/>
                  </a:lnTo>
                  <a:lnTo>
                    <a:pt x="11" y="56"/>
                  </a:lnTo>
                  <a:lnTo>
                    <a:pt x="24" y="47"/>
                  </a:lnTo>
                  <a:lnTo>
                    <a:pt x="43" y="50"/>
                  </a:lnTo>
                  <a:lnTo>
                    <a:pt x="54" y="68"/>
                  </a:lnTo>
                  <a:lnTo>
                    <a:pt x="67" y="80"/>
                  </a:lnTo>
                  <a:lnTo>
                    <a:pt x="81" y="92"/>
                  </a:lnTo>
                  <a:lnTo>
                    <a:pt x="84" y="95"/>
                  </a:lnTo>
                  <a:lnTo>
                    <a:pt x="85" y="95"/>
                  </a:lnTo>
                  <a:lnTo>
                    <a:pt x="96" y="99"/>
                  </a:lnTo>
                  <a:lnTo>
                    <a:pt x="114" y="111"/>
                  </a:lnTo>
                  <a:lnTo>
                    <a:pt x="123" y="116"/>
                  </a:lnTo>
                  <a:lnTo>
                    <a:pt x="130" y="122"/>
                  </a:lnTo>
                  <a:lnTo>
                    <a:pt x="139" y="140"/>
                  </a:lnTo>
                  <a:lnTo>
                    <a:pt x="133" y="156"/>
                  </a:lnTo>
                  <a:lnTo>
                    <a:pt x="141" y="161"/>
                  </a:lnTo>
                  <a:lnTo>
                    <a:pt x="147" y="149"/>
                  </a:lnTo>
                  <a:lnTo>
                    <a:pt x="153" y="141"/>
                  </a:lnTo>
                  <a:lnTo>
                    <a:pt x="155" y="138"/>
                  </a:lnTo>
                  <a:lnTo>
                    <a:pt x="147" y="129"/>
                  </a:lnTo>
                  <a:lnTo>
                    <a:pt x="150" y="115"/>
                  </a:lnTo>
                  <a:lnTo>
                    <a:pt x="159" y="117"/>
                  </a:lnTo>
                  <a:lnTo>
                    <a:pt x="169" y="126"/>
                  </a:lnTo>
                  <a:lnTo>
                    <a:pt x="172" y="117"/>
                  </a:lnTo>
                  <a:lnTo>
                    <a:pt x="154" y="108"/>
                  </a:lnTo>
                  <a:lnTo>
                    <a:pt x="135" y="97"/>
                  </a:lnTo>
                  <a:lnTo>
                    <a:pt x="137" y="91"/>
                  </a:lnTo>
                  <a:lnTo>
                    <a:pt x="132" y="89"/>
                  </a:lnTo>
                  <a:lnTo>
                    <a:pt x="113" y="84"/>
                  </a:lnTo>
                  <a:lnTo>
                    <a:pt x="106" y="72"/>
                  </a:lnTo>
                  <a:lnTo>
                    <a:pt x="99" y="61"/>
                  </a:lnTo>
                  <a:lnTo>
                    <a:pt x="84" y="53"/>
                  </a:lnTo>
                  <a:lnTo>
                    <a:pt x="79" y="38"/>
                  </a:lnTo>
                  <a:lnTo>
                    <a:pt x="77" y="30"/>
                  </a:lnTo>
                  <a:lnTo>
                    <a:pt x="89" y="21"/>
                  </a:lnTo>
                  <a:lnTo>
                    <a:pt x="97" y="24"/>
                  </a:lnTo>
                  <a:lnTo>
                    <a:pt x="94" y="13"/>
                  </a:lnTo>
                  <a:lnTo>
                    <a:pt x="96"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3" name="Rectangle 312"/>
            <p:cNvSpPr>
              <a:spLocks noChangeArrowheads="1"/>
            </p:cNvSpPr>
            <p:nvPr/>
          </p:nvSpPr>
          <p:spPr bwMode="auto">
            <a:xfrm>
              <a:off x="2729" y="1830"/>
              <a:ext cx="0" cy="0"/>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314" name="Freeform 313"/>
            <p:cNvSpPr>
              <a:spLocks/>
            </p:cNvSpPr>
            <p:nvPr/>
          </p:nvSpPr>
          <p:spPr bwMode="auto">
            <a:xfrm>
              <a:off x="2736" y="1941"/>
              <a:ext cx="51" cy="33"/>
            </a:xfrm>
            <a:custGeom>
              <a:avLst/>
              <a:gdLst/>
              <a:ahLst/>
              <a:cxnLst>
                <a:cxn ang="0">
                  <a:pos x="39" y="18"/>
                </a:cxn>
                <a:cxn ang="0">
                  <a:pos x="39" y="29"/>
                </a:cxn>
                <a:cxn ang="0">
                  <a:pos x="21" y="22"/>
                </a:cxn>
                <a:cxn ang="0">
                  <a:pos x="3" y="14"/>
                </a:cxn>
                <a:cxn ang="0">
                  <a:pos x="0" y="5"/>
                </a:cxn>
                <a:cxn ang="0">
                  <a:pos x="13" y="4"/>
                </a:cxn>
                <a:cxn ang="0">
                  <a:pos x="29" y="3"/>
                </a:cxn>
                <a:cxn ang="0">
                  <a:pos x="45" y="0"/>
                </a:cxn>
                <a:cxn ang="0">
                  <a:pos x="39" y="18"/>
                </a:cxn>
              </a:cxnLst>
              <a:rect l="0" t="0" r="r" b="b"/>
              <a:pathLst>
                <a:path w="45" h="29">
                  <a:moveTo>
                    <a:pt x="39" y="18"/>
                  </a:moveTo>
                  <a:lnTo>
                    <a:pt x="39" y="29"/>
                  </a:lnTo>
                  <a:lnTo>
                    <a:pt x="21" y="22"/>
                  </a:lnTo>
                  <a:lnTo>
                    <a:pt x="3" y="14"/>
                  </a:lnTo>
                  <a:lnTo>
                    <a:pt x="0" y="5"/>
                  </a:lnTo>
                  <a:lnTo>
                    <a:pt x="13" y="4"/>
                  </a:lnTo>
                  <a:lnTo>
                    <a:pt x="29" y="3"/>
                  </a:lnTo>
                  <a:lnTo>
                    <a:pt x="45" y="0"/>
                  </a:lnTo>
                  <a:lnTo>
                    <a:pt x="3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5" name="Freeform 314"/>
            <p:cNvSpPr>
              <a:spLocks/>
            </p:cNvSpPr>
            <p:nvPr/>
          </p:nvSpPr>
          <p:spPr bwMode="auto">
            <a:xfrm>
              <a:off x="2664" y="1883"/>
              <a:ext cx="27" cy="47"/>
            </a:xfrm>
            <a:custGeom>
              <a:avLst/>
              <a:gdLst/>
              <a:ahLst/>
              <a:cxnLst>
                <a:cxn ang="0">
                  <a:pos x="13" y="36"/>
                </a:cxn>
                <a:cxn ang="0">
                  <a:pos x="7" y="42"/>
                </a:cxn>
                <a:cxn ang="0">
                  <a:pos x="4" y="32"/>
                </a:cxn>
                <a:cxn ang="0">
                  <a:pos x="1" y="19"/>
                </a:cxn>
                <a:cxn ang="0">
                  <a:pos x="0" y="6"/>
                </a:cxn>
                <a:cxn ang="0">
                  <a:pos x="14" y="0"/>
                </a:cxn>
                <a:cxn ang="0">
                  <a:pos x="24" y="13"/>
                </a:cxn>
                <a:cxn ang="0">
                  <a:pos x="20" y="34"/>
                </a:cxn>
                <a:cxn ang="0">
                  <a:pos x="13" y="36"/>
                </a:cxn>
              </a:cxnLst>
              <a:rect l="0" t="0" r="r" b="b"/>
              <a:pathLst>
                <a:path w="24" h="42">
                  <a:moveTo>
                    <a:pt x="13" y="36"/>
                  </a:moveTo>
                  <a:lnTo>
                    <a:pt x="7" y="42"/>
                  </a:lnTo>
                  <a:lnTo>
                    <a:pt x="4" y="32"/>
                  </a:lnTo>
                  <a:lnTo>
                    <a:pt x="1" y="19"/>
                  </a:lnTo>
                  <a:lnTo>
                    <a:pt x="0" y="6"/>
                  </a:lnTo>
                  <a:lnTo>
                    <a:pt x="14" y="0"/>
                  </a:lnTo>
                  <a:lnTo>
                    <a:pt x="24" y="13"/>
                  </a:lnTo>
                  <a:lnTo>
                    <a:pt x="20" y="34"/>
                  </a:lnTo>
                  <a:lnTo>
                    <a:pt x="13"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6" name="Freeform 315"/>
            <p:cNvSpPr>
              <a:spLocks/>
            </p:cNvSpPr>
            <p:nvPr/>
          </p:nvSpPr>
          <p:spPr bwMode="auto">
            <a:xfrm>
              <a:off x="2649" y="1834"/>
              <a:ext cx="2" cy="2"/>
            </a:xfrm>
            <a:custGeom>
              <a:avLst/>
              <a:gdLst/>
              <a:ahLst/>
              <a:cxnLst>
                <a:cxn ang="0">
                  <a:pos x="1" y="0"/>
                </a:cxn>
                <a:cxn ang="0">
                  <a:pos x="0" y="0"/>
                </a:cxn>
                <a:cxn ang="0">
                  <a:pos x="1" y="0"/>
                </a:cxn>
              </a:cxnLst>
              <a:rect l="0" t="0" r="r" b="b"/>
              <a:pathLst>
                <a:path w="1">
                  <a:moveTo>
                    <a:pt x="1" y="0"/>
                  </a:move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7" name="Freeform 316"/>
            <p:cNvSpPr>
              <a:spLocks/>
            </p:cNvSpPr>
            <p:nvPr/>
          </p:nvSpPr>
          <p:spPr bwMode="auto">
            <a:xfrm>
              <a:off x="2960" y="1867"/>
              <a:ext cx="309" cy="123"/>
            </a:xfrm>
            <a:custGeom>
              <a:avLst/>
              <a:gdLst/>
              <a:ahLst/>
              <a:cxnLst>
                <a:cxn ang="0">
                  <a:pos x="186" y="93"/>
                </a:cxn>
                <a:cxn ang="0">
                  <a:pos x="159" y="96"/>
                </a:cxn>
                <a:cxn ang="0">
                  <a:pos x="151" y="110"/>
                </a:cxn>
                <a:cxn ang="0">
                  <a:pos x="150" y="106"/>
                </a:cxn>
                <a:cxn ang="0">
                  <a:pos x="144" y="95"/>
                </a:cxn>
                <a:cxn ang="0">
                  <a:pos x="123" y="99"/>
                </a:cxn>
                <a:cxn ang="0">
                  <a:pos x="95" y="102"/>
                </a:cxn>
                <a:cxn ang="0">
                  <a:pos x="69" y="100"/>
                </a:cxn>
                <a:cxn ang="0">
                  <a:pos x="47" y="99"/>
                </a:cxn>
                <a:cxn ang="0">
                  <a:pos x="31" y="95"/>
                </a:cxn>
                <a:cxn ang="0">
                  <a:pos x="33" y="90"/>
                </a:cxn>
                <a:cxn ang="0">
                  <a:pos x="23" y="84"/>
                </a:cxn>
                <a:cxn ang="0">
                  <a:pos x="18" y="75"/>
                </a:cxn>
                <a:cxn ang="0">
                  <a:pos x="4" y="63"/>
                </a:cxn>
                <a:cxn ang="0">
                  <a:pos x="12" y="65"/>
                </a:cxn>
                <a:cxn ang="0">
                  <a:pos x="10" y="56"/>
                </a:cxn>
                <a:cxn ang="0">
                  <a:pos x="0" y="45"/>
                </a:cxn>
                <a:cxn ang="0">
                  <a:pos x="16" y="30"/>
                </a:cxn>
                <a:cxn ang="0">
                  <a:pos x="39" y="28"/>
                </a:cxn>
                <a:cxn ang="0">
                  <a:pos x="45" y="22"/>
                </a:cxn>
                <a:cxn ang="0">
                  <a:pos x="65" y="17"/>
                </a:cxn>
                <a:cxn ang="0">
                  <a:pos x="100" y="3"/>
                </a:cxn>
                <a:cxn ang="0">
                  <a:pos x="123" y="2"/>
                </a:cxn>
                <a:cxn ang="0">
                  <a:pos x="139" y="10"/>
                </a:cxn>
                <a:cxn ang="0">
                  <a:pos x="177" y="18"/>
                </a:cxn>
                <a:cxn ang="0">
                  <a:pos x="217" y="9"/>
                </a:cxn>
                <a:cxn ang="0">
                  <a:pos x="245" y="15"/>
                </a:cxn>
                <a:cxn ang="0">
                  <a:pos x="257" y="35"/>
                </a:cxn>
                <a:cxn ang="0">
                  <a:pos x="264" y="46"/>
                </a:cxn>
                <a:cxn ang="0">
                  <a:pos x="269" y="74"/>
                </a:cxn>
                <a:cxn ang="0">
                  <a:pos x="270" y="88"/>
                </a:cxn>
                <a:cxn ang="0">
                  <a:pos x="246" y="84"/>
                </a:cxn>
                <a:cxn ang="0">
                  <a:pos x="238" y="87"/>
                </a:cxn>
                <a:cxn ang="0">
                  <a:pos x="209" y="93"/>
                </a:cxn>
              </a:cxnLst>
              <a:rect l="0" t="0" r="r" b="b"/>
              <a:pathLst>
                <a:path w="279" h="110">
                  <a:moveTo>
                    <a:pt x="209" y="93"/>
                  </a:moveTo>
                  <a:lnTo>
                    <a:pt x="186" y="93"/>
                  </a:lnTo>
                  <a:lnTo>
                    <a:pt x="163" y="94"/>
                  </a:lnTo>
                  <a:lnTo>
                    <a:pt x="159" y="96"/>
                  </a:lnTo>
                  <a:lnTo>
                    <a:pt x="157" y="104"/>
                  </a:lnTo>
                  <a:lnTo>
                    <a:pt x="151" y="110"/>
                  </a:lnTo>
                  <a:lnTo>
                    <a:pt x="150" y="108"/>
                  </a:lnTo>
                  <a:lnTo>
                    <a:pt x="150" y="106"/>
                  </a:lnTo>
                  <a:lnTo>
                    <a:pt x="151" y="92"/>
                  </a:lnTo>
                  <a:lnTo>
                    <a:pt x="144" y="95"/>
                  </a:lnTo>
                  <a:lnTo>
                    <a:pt x="135" y="95"/>
                  </a:lnTo>
                  <a:lnTo>
                    <a:pt x="123" y="99"/>
                  </a:lnTo>
                  <a:lnTo>
                    <a:pt x="107" y="106"/>
                  </a:lnTo>
                  <a:lnTo>
                    <a:pt x="95" y="102"/>
                  </a:lnTo>
                  <a:lnTo>
                    <a:pt x="71" y="93"/>
                  </a:lnTo>
                  <a:lnTo>
                    <a:pt x="69" y="100"/>
                  </a:lnTo>
                  <a:lnTo>
                    <a:pt x="61" y="104"/>
                  </a:lnTo>
                  <a:lnTo>
                    <a:pt x="47" y="99"/>
                  </a:lnTo>
                  <a:lnTo>
                    <a:pt x="40" y="94"/>
                  </a:lnTo>
                  <a:lnTo>
                    <a:pt x="31" y="95"/>
                  </a:lnTo>
                  <a:lnTo>
                    <a:pt x="24" y="95"/>
                  </a:lnTo>
                  <a:lnTo>
                    <a:pt x="33" y="90"/>
                  </a:lnTo>
                  <a:lnTo>
                    <a:pt x="22" y="89"/>
                  </a:lnTo>
                  <a:lnTo>
                    <a:pt x="23" y="84"/>
                  </a:lnTo>
                  <a:lnTo>
                    <a:pt x="16" y="78"/>
                  </a:lnTo>
                  <a:lnTo>
                    <a:pt x="18" y="75"/>
                  </a:lnTo>
                  <a:lnTo>
                    <a:pt x="5" y="69"/>
                  </a:lnTo>
                  <a:lnTo>
                    <a:pt x="4" y="63"/>
                  </a:lnTo>
                  <a:lnTo>
                    <a:pt x="7" y="63"/>
                  </a:lnTo>
                  <a:lnTo>
                    <a:pt x="12" y="65"/>
                  </a:lnTo>
                  <a:lnTo>
                    <a:pt x="10" y="58"/>
                  </a:lnTo>
                  <a:lnTo>
                    <a:pt x="10" y="56"/>
                  </a:lnTo>
                  <a:lnTo>
                    <a:pt x="9" y="46"/>
                  </a:lnTo>
                  <a:lnTo>
                    <a:pt x="0" y="45"/>
                  </a:lnTo>
                  <a:lnTo>
                    <a:pt x="1" y="33"/>
                  </a:lnTo>
                  <a:lnTo>
                    <a:pt x="16" y="30"/>
                  </a:lnTo>
                  <a:lnTo>
                    <a:pt x="21" y="27"/>
                  </a:lnTo>
                  <a:lnTo>
                    <a:pt x="39" y="28"/>
                  </a:lnTo>
                  <a:lnTo>
                    <a:pt x="49" y="23"/>
                  </a:lnTo>
                  <a:lnTo>
                    <a:pt x="45" y="22"/>
                  </a:lnTo>
                  <a:lnTo>
                    <a:pt x="37" y="16"/>
                  </a:lnTo>
                  <a:lnTo>
                    <a:pt x="65" y="17"/>
                  </a:lnTo>
                  <a:lnTo>
                    <a:pt x="85" y="4"/>
                  </a:lnTo>
                  <a:lnTo>
                    <a:pt x="100" y="3"/>
                  </a:lnTo>
                  <a:lnTo>
                    <a:pt x="114" y="0"/>
                  </a:lnTo>
                  <a:lnTo>
                    <a:pt x="123" y="2"/>
                  </a:lnTo>
                  <a:lnTo>
                    <a:pt x="133" y="6"/>
                  </a:lnTo>
                  <a:lnTo>
                    <a:pt x="139" y="10"/>
                  </a:lnTo>
                  <a:lnTo>
                    <a:pt x="159" y="15"/>
                  </a:lnTo>
                  <a:lnTo>
                    <a:pt x="177" y="18"/>
                  </a:lnTo>
                  <a:lnTo>
                    <a:pt x="196" y="20"/>
                  </a:lnTo>
                  <a:lnTo>
                    <a:pt x="217" y="9"/>
                  </a:lnTo>
                  <a:lnTo>
                    <a:pt x="235" y="8"/>
                  </a:lnTo>
                  <a:lnTo>
                    <a:pt x="245" y="15"/>
                  </a:lnTo>
                  <a:lnTo>
                    <a:pt x="251" y="26"/>
                  </a:lnTo>
                  <a:lnTo>
                    <a:pt x="257" y="35"/>
                  </a:lnTo>
                  <a:lnTo>
                    <a:pt x="270" y="41"/>
                  </a:lnTo>
                  <a:lnTo>
                    <a:pt x="264" y="46"/>
                  </a:lnTo>
                  <a:lnTo>
                    <a:pt x="265" y="56"/>
                  </a:lnTo>
                  <a:lnTo>
                    <a:pt x="269" y="74"/>
                  </a:lnTo>
                  <a:lnTo>
                    <a:pt x="279" y="87"/>
                  </a:lnTo>
                  <a:lnTo>
                    <a:pt x="270" y="88"/>
                  </a:lnTo>
                  <a:lnTo>
                    <a:pt x="267" y="84"/>
                  </a:lnTo>
                  <a:lnTo>
                    <a:pt x="246" y="84"/>
                  </a:lnTo>
                  <a:lnTo>
                    <a:pt x="243" y="88"/>
                  </a:lnTo>
                  <a:lnTo>
                    <a:pt x="238" y="87"/>
                  </a:lnTo>
                  <a:lnTo>
                    <a:pt x="223" y="89"/>
                  </a:lnTo>
                  <a:lnTo>
                    <a:pt x="209" y="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8" name="Freeform 317"/>
            <p:cNvSpPr>
              <a:spLocks/>
            </p:cNvSpPr>
            <p:nvPr/>
          </p:nvSpPr>
          <p:spPr bwMode="auto">
            <a:xfrm>
              <a:off x="2953" y="1867"/>
              <a:ext cx="47" cy="36"/>
            </a:xfrm>
            <a:custGeom>
              <a:avLst/>
              <a:gdLst/>
              <a:ahLst/>
              <a:cxnLst>
                <a:cxn ang="0">
                  <a:pos x="5" y="2"/>
                </a:cxn>
                <a:cxn ang="0">
                  <a:pos x="3" y="5"/>
                </a:cxn>
                <a:cxn ang="0">
                  <a:pos x="6" y="12"/>
                </a:cxn>
                <a:cxn ang="0">
                  <a:pos x="0" y="23"/>
                </a:cxn>
                <a:cxn ang="0">
                  <a:pos x="10" y="24"/>
                </a:cxn>
                <a:cxn ang="0">
                  <a:pos x="5" y="33"/>
                </a:cxn>
                <a:cxn ang="0">
                  <a:pos x="21" y="21"/>
                </a:cxn>
                <a:cxn ang="0">
                  <a:pos x="43" y="17"/>
                </a:cxn>
                <a:cxn ang="0">
                  <a:pos x="36" y="12"/>
                </a:cxn>
                <a:cxn ang="0">
                  <a:pos x="27" y="0"/>
                </a:cxn>
                <a:cxn ang="0">
                  <a:pos x="5" y="2"/>
                </a:cxn>
              </a:cxnLst>
              <a:rect l="0" t="0" r="r" b="b"/>
              <a:pathLst>
                <a:path w="43" h="33">
                  <a:moveTo>
                    <a:pt x="5" y="2"/>
                  </a:moveTo>
                  <a:lnTo>
                    <a:pt x="3" y="5"/>
                  </a:lnTo>
                  <a:lnTo>
                    <a:pt x="6" y="12"/>
                  </a:lnTo>
                  <a:lnTo>
                    <a:pt x="0" y="23"/>
                  </a:lnTo>
                  <a:lnTo>
                    <a:pt x="10" y="24"/>
                  </a:lnTo>
                  <a:lnTo>
                    <a:pt x="5" y="33"/>
                  </a:lnTo>
                  <a:lnTo>
                    <a:pt x="21" y="21"/>
                  </a:lnTo>
                  <a:lnTo>
                    <a:pt x="43" y="17"/>
                  </a:lnTo>
                  <a:lnTo>
                    <a:pt x="36" y="12"/>
                  </a:lnTo>
                  <a:lnTo>
                    <a:pt x="27"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9" name="Freeform 318"/>
            <p:cNvSpPr>
              <a:spLocks/>
            </p:cNvSpPr>
            <p:nvPr/>
          </p:nvSpPr>
          <p:spPr bwMode="auto">
            <a:xfrm>
              <a:off x="2876" y="1596"/>
              <a:ext cx="137" cy="87"/>
            </a:xfrm>
            <a:custGeom>
              <a:avLst/>
              <a:gdLst/>
              <a:ahLst/>
              <a:cxnLst>
                <a:cxn ang="0">
                  <a:pos x="122" y="42"/>
                </a:cxn>
                <a:cxn ang="0">
                  <a:pos x="117" y="47"/>
                </a:cxn>
                <a:cxn ang="0">
                  <a:pos x="121" y="62"/>
                </a:cxn>
                <a:cxn ang="0">
                  <a:pos x="104" y="71"/>
                </a:cxn>
                <a:cxn ang="0">
                  <a:pos x="105" y="78"/>
                </a:cxn>
                <a:cxn ang="0">
                  <a:pos x="81" y="73"/>
                </a:cxn>
                <a:cxn ang="0">
                  <a:pos x="57" y="68"/>
                </a:cxn>
                <a:cxn ang="0">
                  <a:pos x="35" y="68"/>
                </a:cxn>
                <a:cxn ang="0">
                  <a:pos x="11" y="68"/>
                </a:cxn>
                <a:cxn ang="0">
                  <a:pos x="2" y="63"/>
                </a:cxn>
                <a:cxn ang="0">
                  <a:pos x="12" y="51"/>
                </a:cxn>
                <a:cxn ang="0">
                  <a:pos x="0" y="30"/>
                </a:cxn>
                <a:cxn ang="0">
                  <a:pos x="21" y="15"/>
                </a:cxn>
                <a:cxn ang="0">
                  <a:pos x="41" y="2"/>
                </a:cxn>
                <a:cxn ang="0">
                  <a:pos x="60" y="0"/>
                </a:cxn>
                <a:cxn ang="0">
                  <a:pos x="80" y="3"/>
                </a:cxn>
                <a:cxn ang="0">
                  <a:pos x="102" y="7"/>
                </a:cxn>
                <a:cxn ang="0">
                  <a:pos x="104" y="26"/>
                </a:cxn>
                <a:cxn ang="0">
                  <a:pos x="122" y="42"/>
                </a:cxn>
              </a:cxnLst>
              <a:rect l="0" t="0" r="r" b="b"/>
              <a:pathLst>
                <a:path w="122" h="78">
                  <a:moveTo>
                    <a:pt x="122" y="42"/>
                  </a:moveTo>
                  <a:lnTo>
                    <a:pt x="117" y="47"/>
                  </a:lnTo>
                  <a:lnTo>
                    <a:pt x="121" y="62"/>
                  </a:lnTo>
                  <a:lnTo>
                    <a:pt x="104" y="71"/>
                  </a:lnTo>
                  <a:lnTo>
                    <a:pt x="105" y="78"/>
                  </a:lnTo>
                  <a:lnTo>
                    <a:pt x="81" y="73"/>
                  </a:lnTo>
                  <a:lnTo>
                    <a:pt x="57" y="68"/>
                  </a:lnTo>
                  <a:lnTo>
                    <a:pt x="35" y="68"/>
                  </a:lnTo>
                  <a:lnTo>
                    <a:pt x="11" y="68"/>
                  </a:lnTo>
                  <a:lnTo>
                    <a:pt x="2" y="63"/>
                  </a:lnTo>
                  <a:lnTo>
                    <a:pt x="12" y="51"/>
                  </a:lnTo>
                  <a:lnTo>
                    <a:pt x="0" y="30"/>
                  </a:lnTo>
                  <a:lnTo>
                    <a:pt x="21" y="15"/>
                  </a:lnTo>
                  <a:lnTo>
                    <a:pt x="41" y="2"/>
                  </a:lnTo>
                  <a:lnTo>
                    <a:pt x="60" y="0"/>
                  </a:lnTo>
                  <a:lnTo>
                    <a:pt x="80" y="3"/>
                  </a:lnTo>
                  <a:lnTo>
                    <a:pt x="102" y="7"/>
                  </a:lnTo>
                  <a:lnTo>
                    <a:pt x="104" y="26"/>
                  </a:lnTo>
                  <a:lnTo>
                    <a:pt x="122"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0" name="Freeform 319"/>
            <p:cNvSpPr>
              <a:spLocks/>
            </p:cNvSpPr>
            <p:nvPr/>
          </p:nvSpPr>
          <p:spPr bwMode="auto">
            <a:xfrm>
              <a:off x="2653" y="1581"/>
              <a:ext cx="34" cy="40"/>
            </a:xfrm>
            <a:custGeom>
              <a:avLst/>
              <a:gdLst/>
              <a:ahLst/>
              <a:cxnLst>
                <a:cxn ang="0">
                  <a:pos x="18" y="31"/>
                </a:cxn>
                <a:cxn ang="0">
                  <a:pos x="17" y="36"/>
                </a:cxn>
                <a:cxn ang="0">
                  <a:pos x="6" y="34"/>
                </a:cxn>
                <a:cxn ang="0">
                  <a:pos x="4" y="31"/>
                </a:cxn>
                <a:cxn ang="0">
                  <a:pos x="0" y="23"/>
                </a:cxn>
                <a:cxn ang="0">
                  <a:pos x="0" y="6"/>
                </a:cxn>
                <a:cxn ang="0">
                  <a:pos x="7" y="5"/>
                </a:cxn>
                <a:cxn ang="0">
                  <a:pos x="10" y="6"/>
                </a:cxn>
                <a:cxn ang="0">
                  <a:pos x="11" y="3"/>
                </a:cxn>
                <a:cxn ang="0">
                  <a:pos x="21" y="0"/>
                </a:cxn>
                <a:cxn ang="0">
                  <a:pos x="24" y="6"/>
                </a:cxn>
                <a:cxn ang="0">
                  <a:pos x="31" y="7"/>
                </a:cxn>
                <a:cxn ang="0">
                  <a:pos x="29" y="13"/>
                </a:cxn>
                <a:cxn ang="0">
                  <a:pos x="19" y="21"/>
                </a:cxn>
                <a:cxn ang="0">
                  <a:pos x="19" y="23"/>
                </a:cxn>
                <a:cxn ang="0">
                  <a:pos x="18" y="31"/>
                </a:cxn>
              </a:cxnLst>
              <a:rect l="0" t="0" r="r" b="b"/>
              <a:pathLst>
                <a:path w="31" h="36">
                  <a:moveTo>
                    <a:pt x="18" y="31"/>
                  </a:moveTo>
                  <a:lnTo>
                    <a:pt x="17" y="36"/>
                  </a:lnTo>
                  <a:lnTo>
                    <a:pt x="6" y="34"/>
                  </a:lnTo>
                  <a:lnTo>
                    <a:pt x="4" y="31"/>
                  </a:lnTo>
                  <a:lnTo>
                    <a:pt x="0" y="23"/>
                  </a:lnTo>
                  <a:lnTo>
                    <a:pt x="0" y="6"/>
                  </a:lnTo>
                  <a:lnTo>
                    <a:pt x="7" y="5"/>
                  </a:lnTo>
                  <a:lnTo>
                    <a:pt x="10" y="6"/>
                  </a:lnTo>
                  <a:lnTo>
                    <a:pt x="11" y="3"/>
                  </a:lnTo>
                  <a:lnTo>
                    <a:pt x="21" y="0"/>
                  </a:lnTo>
                  <a:lnTo>
                    <a:pt x="24" y="6"/>
                  </a:lnTo>
                  <a:lnTo>
                    <a:pt x="31" y="7"/>
                  </a:lnTo>
                  <a:lnTo>
                    <a:pt x="29" y="13"/>
                  </a:lnTo>
                  <a:lnTo>
                    <a:pt x="19" y="21"/>
                  </a:lnTo>
                  <a:lnTo>
                    <a:pt x="19" y="23"/>
                  </a:lnTo>
                  <a:lnTo>
                    <a:pt x="18" y="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1" name="Freeform 320"/>
            <p:cNvSpPr>
              <a:spLocks/>
            </p:cNvSpPr>
            <p:nvPr/>
          </p:nvSpPr>
          <p:spPr bwMode="auto">
            <a:xfrm>
              <a:off x="2693" y="1596"/>
              <a:ext cx="23" cy="20"/>
            </a:xfrm>
            <a:custGeom>
              <a:avLst/>
              <a:gdLst/>
              <a:ahLst/>
              <a:cxnLst>
                <a:cxn ang="0">
                  <a:pos x="20" y="6"/>
                </a:cxn>
                <a:cxn ang="0">
                  <a:pos x="18" y="2"/>
                </a:cxn>
                <a:cxn ang="0">
                  <a:pos x="14" y="0"/>
                </a:cxn>
                <a:cxn ang="0">
                  <a:pos x="12" y="6"/>
                </a:cxn>
                <a:cxn ang="0">
                  <a:pos x="9" y="4"/>
                </a:cxn>
                <a:cxn ang="0">
                  <a:pos x="3" y="2"/>
                </a:cxn>
                <a:cxn ang="0">
                  <a:pos x="0" y="6"/>
                </a:cxn>
                <a:cxn ang="0">
                  <a:pos x="0" y="9"/>
                </a:cxn>
                <a:cxn ang="0">
                  <a:pos x="11" y="18"/>
                </a:cxn>
                <a:cxn ang="0">
                  <a:pos x="15" y="14"/>
                </a:cxn>
                <a:cxn ang="0">
                  <a:pos x="15" y="10"/>
                </a:cxn>
                <a:cxn ang="0">
                  <a:pos x="20" y="6"/>
                </a:cxn>
              </a:cxnLst>
              <a:rect l="0" t="0" r="r" b="b"/>
              <a:pathLst>
                <a:path w="20" h="18">
                  <a:moveTo>
                    <a:pt x="20" y="6"/>
                  </a:moveTo>
                  <a:lnTo>
                    <a:pt x="18" y="2"/>
                  </a:lnTo>
                  <a:lnTo>
                    <a:pt x="14" y="0"/>
                  </a:lnTo>
                  <a:lnTo>
                    <a:pt x="12" y="6"/>
                  </a:lnTo>
                  <a:lnTo>
                    <a:pt x="9" y="4"/>
                  </a:lnTo>
                  <a:lnTo>
                    <a:pt x="3" y="2"/>
                  </a:lnTo>
                  <a:lnTo>
                    <a:pt x="0" y="6"/>
                  </a:lnTo>
                  <a:lnTo>
                    <a:pt x="0" y="9"/>
                  </a:lnTo>
                  <a:lnTo>
                    <a:pt x="11" y="18"/>
                  </a:lnTo>
                  <a:lnTo>
                    <a:pt x="15" y="14"/>
                  </a:lnTo>
                  <a:lnTo>
                    <a:pt x="15" y="10"/>
                  </a:lnTo>
                  <a:lnTo>
                    <a:pt x="2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2" name="Freeform 321"/>
            <p:cNvSpPr>
              <a:spLocks/>
            </p:cNvSpPr>
            <p:nvPr/>
          </p:nvSpPr>
          <p:spPr bwMode="auto">
            <a:xfrm>
              <a:off x="2653" y="1565"/>
              <a:ext cx="31" cy="20"/>
            </a:xfrm>
            <a:custGeom>
              <a:avLst/>
              <a:gdLst/>
              <a:ahLst/>
              <a:cxnLst>
                <a:cxn ang="0">
                  <a:pos x="23" y="12"/>
                </a:cxn>
                <a:cxn ang="0">
                  <a:pos x="3" y="13"/>
                </a:cxn>
                <a:cxn ang="0">
                  <a:pos x="0" y="18"/>
                </a:cxn>
                <a:cxn ang="0">
                  <a:pos x="2" y="11"/>
                </a:cxn>
                <a:cxn ang="0">
                  <a:pos x="15" y="8"/>
                </a:cxn>
                <a:cxn ang="0">
                  <a:pos x="28" y="0"/>
                </a:cxn>
                <a:cxn ang="0">
                  <a:pos x="23" y="12"/>
                </a:cxn>
              </a:cxnLst>
              <a:rect l="0" t="0" r="r" b="b"/>
              <a:pathLst>
                <a:path w="28" h="18">
                  <a:moveTo>
                    <a:pt x="23" y="12"/>
                  </a:moveTo>
                  <a:lnTo>
                    <a:pt x="3" y="13"/>
                  </a:lnTo>
                  <a:lnTo>
                    <a:pt x="0" y="18"/>
                  </a:lnTo>
                  <a:lnTo>
                    <a:pt x="2" y="11"/>
                  </a:lnTo>
                  <a:lnTo>
                    <a:pt x="15" y="8"/>
                  </a:lnTo>
                  <a:lnTo>
                    <a:pt x="28" y="0"/>
                  </a:lnTo>
                  <a:lnTo>
                    <a:pt x="23"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3" name="Freeform 322"/>
            <p:cNvSpPr>
              <a:spLocks/>
            </p:cNvSpPr>
            <p:nvPr/>
          </p:nvSpPr>
          <p:spPr bwMode="auto">
            <a:xfrm>
              <a:off x="2676" y="1608"/>
              <a:ext cx="13" cy="8"/>
            </a:xfrm>
            <a:custGeom>
              <a:avLst/>
              <a:gdLst/>
              <a:ahLst/>
              <a:cxnLst>
                <a:cxn ang="0">
                  <a:pos x="13" y="4"/>
                </a:cxn>
                <a:cxn ang="0">
                  <a:pos x="9" y="0"/>
                </a:cxn>
                <a:cxn ang="0">
                  <a:pos x="0" y="1"/>
                </a:cxn>
                <a:cxn ang="0">
                  <a:pos x="9" y="9"/>
                </a:cxn>
                <a:cxn ang="0">
                  <a:pos x="13" y="4"/>
                </a:cxn>
              </a:cxnLst>
              <a:rect l="0" t="0" r="r" b="b"/>
              <a:pathLst>
                <a:path w="13" h="9">
                  <a:moveTo>
                    <a:pt x="13" y="4"/>
                  </a:moveTo>
                  <a:lnTo>
                    <a:pt x="9" y="0"/>
                  </a:lnTo>
                  <a:lnTo>
                    <a:pt x="0" y="1"/>
                  </a:lnTo>
                  <a:lnTo>
                    <a:pt x="9" y="9"/>
                  </a:lnTo>
                  <a:lnTo>
                    <a:pt x="13"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4" name="Freeform 323"/>
            <p:cNvSpPr>
              <a:spLocks/>
            </p:cNvSpPr>
            <p:nvPr/>
          </p:nvSpPr>
          <p:spPr bwMode="auto">
            <a:xfrm>
              <a:off x="2707" y="1616"/>
              <a:ext cx="2" cy="5"/>
            </a:xfrm>
            <a:custGeom>
              <a:avLst/>
              <a:gdLst/>
              <a:ahLst/>
              <a:cxnLst>
                <a:cxn ang="0">
                  <a:pos x="3" y="1"/>
                </a:cxn>
                <a:cxn ang="0">
                  <a:pos x="0" y="0"/>
                </a:cxn>
                <a:cxn ang="0">
                  <a:pos x="0" y="3"/>
                </a:cxn>
                <a:cxn ang="0">
                  <a:pos x="3" y="1"/>
                </a:cxn>
              </a:cxnLst>
              <a:rect l="0" t="0" r="r" b="b"/>
              <a:pathLst>
                <a:path w="3" h="3">
                  <a:moveTo>
                    <a:pt x="3" y="1"/>
                  </a:moveTo>
                  <a:lnTo>
                    <a:pt x="0" y="0"/>
                  </a:lnTo>
                  <a:lnTo>
                    <a:pt x="0" y="3"/>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5" name="Freeform 324"/>
            <p:cNvSpPr>
              <a:spLocks/>
            </p:cNvSpPr>
            <p:nvPr/>
          </p:nvSpPr>
          <p:spPr bwMode="auto">
            <a:xfrm>
              <a:off x="2864" y="1532"/>
              <a:ext cx="65" cy="31"/>
            </a:xfrm>
            <a:custGeom>
              <a:avLst/>
              <a:gdLst/>
              <a:ahLst/>
              <a:cxnLst>
                <a:cxn ang="0">
                  <a:pos x="59" y="17"/>
                </a:cxn>
                <a:cxn ang="0">
                  <a:pos x="55" y="2"/>
                </a:cxn>
                <a:cxn ang="0">
                  <a:pos x="24" y="0"/>
                </a:cxn>
                <a:cxn ang="0">
                  <a:pos x="0" y="6"/>
                </a:cxn>
                <a:cxn ang="0">
                  <a:pos x="2" y="12"/>
                </a:cxn>
                <a:cxn ang="0">
                  <a:pos x="11" y="22"/>
                </a:cxn>
                <a:cxn ang="0">
                  <a:pos x="16" y="22"/>
                </a:cxn>
                <a:cxn ang="0">
                  <a:pos x="34" y="24"/>
                </a:cxn>
                <a:cxn ang="0">
                  <a:pos x="53" y="28"/>
                </a:cxn>
                <a:cxn ang="0">
                  <a:pos x="59" y="17"/>
                </a:cxn>
              </a:cxnLst>
              <a:rect l="0" t="0" r="r" b="b"/>
              <a:pathLst>
                <a:path w="59" h="28">
                  <a:moveTo>
                    <a:pt x="59" y="17"/>
                  </a:moveTo>
                  <a:lnTo>
                    <a:pt x="55" y="2"/>
                  </a:lnTo>
                  <a:lnTo>
                    <a:pt x="24" y="0"/>
                  </a:lnTo>
                  <a:lnTo>
                    <a:pt x="0" y="6"/>
                  </a:lnTo>
                  <a:lnTo>
                    <a:pt x="2" y="12"/>
                  </a:lnTo>
                  <a:lnTo>
                    <a:pt x="11" y="22"/>
                  </a:lnTo>
                  <a:lnTo>
                    <a:pt x="16" y="22"/>
                  </a:lnTo>
                  <a:lnTo>
                    <a:pt x="34" y="24"/>
                  </a:lnTo>
                  <a:lnTo>
                    <a:pt x="53" y="28"/>
                  </a:lnTo>
                  <a:lnTo>
                    <a:pt x="59"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6" name="Freeform 325"/>
            <p:cNvSpPr>
              <a:spLocks/>
            </p:cNvSpPr>
            <p:nvPr/>
          </p:nvSpPr>
          <p:spPr bwMode="auto">
            <a:xfrm>
              <a:off x="2836" y="1556"/>
              <a:ext cx="106" cy="45"/>
            </a:xfrm>
            <a:custGeom>
              <a:avLst/>
              <a:gdLst/>
              <a:ahLst/>
              <a:cxnLst>
                <a:cxn ang="0">
                  <a:pos x="49" y="26"/>
                </a:cxn>
                <a:cxn ang="0">
                  <a:pos x="26" y="30"/>
                </a:cxn>
                <a:cxn ang="0">
                  <a:pos x="5" y="32"/>
                </a:cxn>
                <a:cxn ang="0">
                  <a:pos x="0" y="33"/>
                </a:cxn>
                <a:cxn ang="0">
                  <a:pos x="7" y="10"/>
                </a:cxn>
                <a:cxn ang="0">
                  <a:pos x="18" y="10"/>
                </a:cxn>
                <a:cxn ang="0">
                  <a:pos x="35" y="21"/>
                </a:cxn>
                <a:cxn ang="0">
                  <a:pos x="42" y="14"/>
                </a:cxn>
                <a:cxn ang="0">
                  <a:pos x="41" y="0"/>
                </a:cxn>
                <a:cxn ang="0">
                  <a:pos x="59" y="2"/>
                </a:cxn>
                <a:cxn ang="0">
                  <a:pos x="78" y="6"/>
                </a:cxn>
                <a:cxn ang="0">
                  <a:pos x="86" y="18"/>
                </a:cxn>
                <a:cxn ang="0">
                  <a:pos x="96" y="37"/>
                </a:cxn>
                <a:cxn ang="0">
                  <a:pos x="77" y="39"/>
                </a:cxn>
                <a:cxn ang="0">
                  <a:pos x="49" y="26"/>
                </a:cxn>
              </a:cxnLst>
              <a:rect l="0" t="0" r="r" b="b"/>
              <a:pathLst>
                <a:path w="96" h="39">
                  <a:moveTo>
                    <a:pt x="49" y="26"/>
                  </a:moveTo>
                  <a:lnTo>
                    <a:pt x="26" y="30"/>
                  </a:lnTo>
                  <a:lnTo>
                    <a:pt x="5" y="32"/>
                  </a:lnTo>
                  <a:lnTo>
                    <a:pt x="0" y="33"/>
                  </a:lnTo>
                  <a:lnTo>
                    <a:pt x="7" y="10"/>
                  </a:lnTo>
                  <a:lnTo>
                    <a:pt x="18" y="10"/>
                  </a:lnTo>
                  <a:lnTo>
                    <a:pt x="35" y="21"/>
                  </a:lnTo>
                  <a:lnTo>
                    <a:pt x="42" y="14"/>
                  </a:lnTo>
                  <a:lnTo>
                    <a:pt x="41" y="0"/>
                  </a:lnTo>
                  <a:lnTo>
                    <a:pt x="59" y="2"/>
                  </a:lnTo>
                  <a:lnTo>
                    <a:pt x="78" y="6"/>
                  </a:lnTo>
                  <a:lnTo>
                    <a:pt x="86" y="18"/>
                  </a:lnTo>
                  <a:lnTo>
                    <a:pt x="96" y="37"/>
                  </a:lnTo>
                  <a:lnTo>
                    <a:pt x="77" y="39"/>
                  </a:lnTo>
                  <a:lnTo>
                    <a:pt x="49" y="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7" name="Freeform 326"/>
            <p:cNvSpPr>
              <a:spLocks/>
            </p:cNvSpPr>
            <p:nvPr/>
          </p:nvSpPr>
          <p:spPr bwMode="auto">
            <a:xfrm>
              <a:off x="2836" y="1585"/>
              <a:ext cx="86" cy="45"/>
            </a:xfrm>
            <a:custGeom>
              <a:avLst/>
              <a:gdLst/>
              <a:ahLst/>
              <a:cxnLst>
                <a:cxn ang="0">
                  <a:pos x="3" y="29"/>
                </a:cxn>
                <a:cxn ang="0">
                  <a:pos x="0" y="7"/>
                </a:cxn>
                <a:cxn ang="0">
                  <a:pos x="5" y="6"/>
                </a:cxn>
                <a:cxn ang="0">
                  <a:pos x="26" y="4"/>
                </a:cxn>
                <a:cxn ang="0">
                  <a:pos x="49" y="0"/>
                </a:cxn>
                <a:cxn ang="0">
                  <a:pos x="77" y="13"/>
                </a:cxn>
                <a:cxn ang="0">
                  <a:pos x="57" y="26"/>
                </a:cxn>
                <a:cxn ang="0">
                  <a:pos x="36" y="41"/>
                </a:cxn>
                <a:cxn ang="0">
                  <a:pos x="24" y="40"/>
                </a:cxn>
                <a:cxn ang="0">
                  <a:pos x="24" y="32"/>
                </a:cxn>
                <a:cxn ang="0">
                  <a:pos x="12" y="31"/>
                </a:cxn>
                <a:cxn ang="0">
                  <a:pos x="3" y="29"/>
                </a:cxn>
              </a:cxnLst>
              <a:rect l="0" t="0" r="r" b="b"/>
              <a:pathLst>
                <a:path w="77" h="41">
                  <a:moveTo>
                    <a:pt x="3" y="29"/>
                  </a:moveTo>
                  <a:lnTo>
                    <a:pt x="0" y="7"/>
                  </a:lnTo>
                  <a:lnTo>
                    <a:pt x="5" y="6"/>
                  </a:lnTo>
                  <a:lnTo>
                    <a:pt x="26" y="4"/>
                  </a:lnTo>
                  <a:lnTo>
                    <a:pt x="49" y="0"/>
                  </a:lnTo>
                  <a:lnTo>
                    <a:pt x="77" y="13"/>
                  </a:lnTo>
                  <a:lnTo>
                    <a:pt x="57" y="26"/>
                  </a:lnTo>
                  <a:lnTo>
                    <a:pt x="36" y="41"/>
                  </a:lnTo>
                  <a:lnTo>
                    <a:pt x="24" y="40"/>
                  </a:lnTo>
                  <a:lnTo>
                    <a:pt x="24" y="32"/>
                  </a:lnTo>
                  <a:lnTo>
                    <a:pt x="12" y="31"/>
                  </a:lnTo>
                  <a:lnTo>
                    <a:pt x="3" y="2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8" name="Freeform 327"/>
            <p:cNvSpPr>
              <a:spLocks/>
            </p:cNvSpPr>
            <p:nvPr/>
          </p:nvSpPr>
          <p:spPr bwMode="auto">
            <a:xfrm>
              <a:off x="2582" y="1648"/>
              <a:ext cx="58" cy="48"/>
            </a:xfrm>
            <a:custGeom>
              <a:avLst/>
              <a:gdLst/>
              <a:ahLst/>
              <a:cxnLst>
                <a:cxn ang="0">
                  <a:pos x="38" y="27"/>
                </a:cxn>
                <a:cxn ang="0">
                  <a:pos x="50" y="21"/>
                </a:cxn>
                <a:cxn ang="0">
                  <a:pos x="45" y="13"/>
                </a:cxn>
                <a:cxn ang="0">
                  <a:pos x="51" y="3"/>
                </a:cxn>
                <a:cxn ang="0">
                  <a:pos x="34" y="0"/>
                </a:cxn>
                <a:cxn ang="0">
                  <a:pos x="16" y="11"/>
                </a:cxn>
                <a:cxn ang="0">
                  <a:pos x="4" y="29"/>
                </a:cxn>
                <a:cxn ang="0">
                  <a:pos x="0" y="35"/>
                </a:cxn>
                <a:cxn ang="0">
                  <a:pos x="12" y="35"/>
                </a:cxn>
                <a:cxn ang="0">
                  <a:pos x="30" y="36"/>
                </a:cxn>
                <a:cxn ang="0">
                  <a:pos x="32" y="42"/>
                </a:cxn>
                <a:cxn ang="0">
                  <a:pos x="37" y="46"/>
                </a:cxn>
                <a:cxn ang="0">
                  <a:pos x="38" y="27"/>
                </a:cxn>
              </a:cxnLst>
              <a:rect l="0" t="0" r="r" b="b"/>
              <a:pathLst>
                <a:path w="51" h="46">
                  <a:moveTo>
                    <a:pt x="38" y="27"/>
                  </a:moveTo>
                  <a:lnTo>
                    <a:pt x="50" y="21"/>
                  </a:lnTo>
                  <a:lnTo>
                    <a:pt x="45" y="13"/>
                  </a:lnTo>
                  <a:lnTo>
                    <a:pt x="51" y="3"/>
                  </a:lnTo>
                  <a:lnTo>
                    <a:pt x="34" y="0"/>
                  </a:lnTo>
                  <a:lnTo>
                    <a:pt x="16" y="11"/>
                  </a:lnTo>
                  <a:lnTo>
                    <a:pt x="4" y="29"/>
                  </a:lnTo>
                  <a:lnTo>
                    <a:pt x="0" y="35"/>
                  </a:lnTo>
                  <a:lnTo>
                    <a:pt x="12" y="35"/>
                  </a:lnTo>
                  <a:lnTo>
                    <a:pt x="30" y="36"/>
                  </a:lnTo>
                  <a:lnTo>
                    <a:pt x="32" y="42"/>
                  </a:lnTo>
                  <a:lnTo>
                    <a:pt x="37" y="46"/>
                  </a:lnTo>
                  <a:lnTo>
                    <a:pt x="38"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9" name="Freeform 328"/>
            <p:cNvSpPr>
              <a:spLocks/>
            </p:cNvSpPr>
            <p:nvPr/>
          </p:nvSpPr>
          <p:spPr bwMode="auto">
            <a:xfrm>
              <a:off x="2742" y="1621"/>
              <a:ext cx="154" cy="109"/>
            </a:xfrm>
            <a:custGeom>
              <a:avLst/>
              <a:gdLst/>
              <a:ahLst/>
              <a:cxnLst>
                <a:cxn ang="0">
                  <a:pos x="57" y="5"/>
                </a:cxn>
                <a:cxn ang="0">
                  <a:pos x="55" y="0"/>
                </a:cxn>
                <a:cxn ang="0">
                  <a:pos x="37" y="2"/>
                </a:cxn>
                <a:cxn ang="0">
                  <a:pos x="19" y="8"/>
                </a:cxn>
                <a:cxn ang="0">
                  <a:pos x="0" y="11"/>
                </a:cxn>
                <a:cxn ang="0">
                  <a:pos x="6" y="17"/>
                </a:cxn>
                <a:cxn ang="0">
                  <a:pos x="1" y="18"/>
                </a:cxn>
                <a:cxn ang="0">
                  <a:pos x="3" y="34"/>
                </a:cxn>
                <a:cxn ang="0">
                  <a:pos x="10" y="53"/>
                </a:cxn>
                <a:cxn ang="0">
                  <a:pos x="13" y="66"/>
                </a:cxn>
                <a:cxn ang="0">
                  <a:pos x="15" y="66"/>
                </a:cxn>
                <a:cxn ang="0">
                  <a:pos x="33" y="72"/>
                </a:cxn>
                <a:cxn ang="0">
                  <a:pos x="37" y="77"/>
                </a:cxn>
                <a:cxn ang="0">
                  <a:pos x="44" y="77"/>
                </a:cxn>
                <a:cxn ang="0">
                  <a:pos x="54" y="77"/>
                </a:cxn>
                <a:cxn ang="0">
                  <a:pos x="70" y="89"/>
                </a:cxn>
                <a:cxn ang="0">
                  <a:pos x="86" y="90"/>
                </a:cxn>
                <a:cxn ang="0">
                  <a:pos x="88" y="94"/>
                </a:cxn>
                <a:cxn ang="0">
                  <a:pos x="100" y="93"/>
                </a:cxn>
                <a:cxn ang="0">
                  <a:pos x="122" y="98"/>
                </a:cxn>
                <a:cxn ang="0">
                  <a:pos x="124" y="93"/>
                </a:cxn>
                <a:cxn ang="0">
                  <a:pos x="138" y="75"/>
                </a:cxn>
                <a:cxn ang="0">
                  <a:pos x="139" y="66"/>
                </a:cxn>
                <a:cxn ang="0">
                  <a:pos x="132" y="47"/>
                </a:cxn>
                <a:cxn ang="0">
                  <a:pos x="123" y="42"/>
                </a:cxn>
                <a:cxn ang="0">
                  <a:pos x="133" y="30"/>
                </a:cxn>
                <a:cxn ang="0">
                  <a:pos x="121" y="9"/>
                </a:cxn>
                <a:cxn ang="0">
                  <a:pos x="96" y="6"/>
                </a:cxn>
                <a:cxn ang="0">
                  <a:pos x="72" y="5"/>
                </a:cxn>
                <a:cxn ang="0">
                  <a:pos x="57" y="5"/>
                </a:cxn>
              </a:cxnLst>
              <a:rect l="0" t="0" r="r" b="b"/>
              <a:pathLst>
                <a:path w="139" h="98">
                  <a:moveTo>
                    <a:pt x="57" y="5"/>
                  </a:moveTo>
                  <a:lnTo>
                    <a:pt x="55" y="0"/>
                  </a:lnTo>
                  <a:lnTo>
                    <a:pt x="37" y="2"/>
                  </a:lnTo>
                  <a:lnTo>
                    <a:pt x="19" y="8"/>
                  </a:lnTo>
                  <a:lnTo>
                    <a:pt x="0" y="11"/>
                  </a:lnTo>
                  <a:lnTo>
                    <a:pt x="6" y="17"/>
                  </a:lnTo>
                  <a:lnTo>
                    <a:pt x="1" y="18"/>
                  </a:lnTo>
                  <a:lnTo>
                    <a:pt x="3" y="34"/>
                  </a:lnTo>
                  <a:lnTo>
                    <a:pt x="10" y="53"/>
                  </a:lnTo>
                  <a:lnTo>
                    <a:pt x="13" y="66"/>
                  </a:lnTo>
                  <a:lnTo>
                    <a:pt x="15" y="66"/>
                  </a:lnTo>
                  <a:lnTo>
                    <a:pt x="33" y="72"/>
                  </a:lnTo>
                  <a:lnTo>
                    <a:pt x="37" y="77"/>
                  </a:lnTo>
                  <a:lnTo>
                    <a:pt x="44" y="77"/>
                  </a:lnTo>
                  <a:lnTo>
                    <a:pt x="54" y="77"/>
                  </a:lnTo>
                  <a:lnTo>
                    <a:pt x="70" y="89"/>
                  </a:lnTo>
                  <a:lnTo>
                    <a:pt x="86" y="90"/>
                  </a:lnTo>
                  <a:lnTo>
                    <a:pt x="88" y="94"/>
                  </a:lnTo>
                  <a:lnTo>
                    <a:pt x="100" y="93"/>
                  </a:lnTo>
                  <a:lnTo>
                    <a:pt x="122" y="98"/>
                  </a:lnTo>
                  <a:lnTo>
                    <a:pt x="124" y="93"/>
                  </a:lnTo>
                  <a:lnTo>
                    <a:pt x="138" y="75"/>
                  </a:lnTo>
                  <a:lnTo>
                    <a:pt x="139" y="66"/>
                  </a:lnTo>
                  <a:lnTo>
                    <a:pt x="132" y="47"/>
                  </a:lnTo>
                  <a:lnTo>
                    <a:pt x="123" y="42"/>
                  </a:lnTo>
                  <a:lnTo>
                    <a:pt x="133" y="30"/>
                  </a:lnTo>
                  <a:lnTo>
                    <a:pt x="121" y="9"/>
                  </a:lnTo>
                  <a:lnTo>
                    <a:pt x="96" y="6"/>
                  </a:lnTo>
                  <a:lnTo>
                    <a:pt x="72" y="5"/>
                  </a:lnTo>
                  <a:lnTo>
                    <a:pt x="57"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0" name="Freeform 329"/>
            <p:cNvSpPr>
              <a:spLocks/>
            </p:cNvSpPr>
            <p:nvPr/>
          </p:nvSpPr>
          <p:spPr bwMode="auto">
            <a:xfrm>
              <a:off x="2849" y="1745"/>
              <a:ext cx="151" cy="89"/>
            </a:xfrm>
            <a:custGeom>
              <a:avLst/>
              <a:gdLst/>
              <a:ahLst/>
              <a:cxnLst>
                <a:cxn ang="0">
                  <a:pos x="123" y="66"/>
                </a:cxn>
                <a:cxn ang="0">
                  <a:pos x="122" y="79"/>
                </a:cxn>
                <a:cxn ang="0">
                  <a:pos x="95" y="73"/>
                </a:cxn>
                <a:cxn ang="0">
                  <a:pos x="73" y="80"/>
                </a:cxn>
                <a:cxn ang="0">
                  <a:pos x="56" y="78"/>
                </a:cxn>
                <a:cxn ang="0">
                  <a:pos x="41" y="76"/>
                </a:cxn>
                <a:cxn ang="0">
                  <a:pos x="37" y="71"/>
                </a:cxn>
                <a:cxn ang="0">
                  <a:pos x="36" y="65"/>
                </a:cxn>
                <a:cxn ang="0">
                  <a:pos x="31" y="64"/>
                </a:cxn>
                <a:cxn ang="0">
                  <a:pos x="26" y="62"/>
                </a:cxn>
                <a:cxn ang="0">
                  <a:pos x="20" y="59"/>
                </a:cxn>
                <a:cxn ang="0">
                  <a:pos x="0" y="37"/>
                </a:cxn>
                <a:cxn ang="0">
                  <a:pos x="7" y="35"/>
                </a:cxn>
                <a:cxn ang="0">
                  <a:pos x="19" y="19"/>
                </a:cxn>
                <a:cxn ang="0">
                  <a:pos x="32" y="6"/>
                </a:cxn>
                <a:cxn ang="0">
                  <a:pos x="33" y="5"/>
                </a:cxn>
                <a:cxn ang="0">
                  <a:pos x="60" y="7"/>
                </a:cxn>
                <a:cxn ang="0">
                  <a:pos x="84" y="0"/>
                </a:cxn>
                <a:cxn ang="0">
                  <a:pos x="85" y="0"/>
                </a:cxn>
                <a:cxn ang="0">
                  <a:pos x="95" y="11"/>
                </a:cxn>
                <a:cxn ang="0">
                  <a:pos x="105" y="20"/>
                </a:cxn>
                <a:cxn ang="0">
                  <a:pos x="110" y="36"/>
                </a:cxn>
                <a:cxn ang="0">
                  <a:pos x="114" y="50"/>
                </a:cxn>
                <a:cxn ang="0">
                  <a:pos x="126" y="50"/>
                </a:cxn>
                <a:cxn ang="0">
                  <a:pos x="134" y="53"/>
                </a:cxn>
                <a:cxn ang="0">
                  <a:pos x="134" y="58"/>
                </a:cxn>
                <a:cxn ang="0">
                  <a:pos x="128" y="61"/>
                </a:cxn>
                <a:cxn ang="0">
                  <a:pos x="127" y="60"/>
                </a:cxn>
                <a:cxn ang="0">
                  <a:pos x="123" y="66"/>
                </a:cxn>
              </a:cxnLst>
              <a:rect l="0" t="0" r="r" b="b"/>
              <a:pathLst>
                <a:path w="134" h="80">
                  <a:moveTo>
                    <a:pt x="123" y="66"/>
                  </a:moveTo>
                  <a:lnTo>
                    <a:pt x="122" y="79"/>
                  </a:lnTo>
                  <a:lnTo>
                    <a:pt x="95" y="73"/>
                  </a:lnTo>
                  <a:lnTo>
                    <a:pt x="73" y="80"/>
                  </a:lnTo>
                  <a:lnTo>
                    <a:pt x="56" y="78"/>
                  </a:lnTo>
                  <a:lnTo>
                    <a:pt x="41" y="76"/>
                  </a:lnTo>
                  <a:lnTo>
                    <a:pt x="37" y="71"/>
                  </a:lnTo>
                  <a:lnTo>
                    <a:pt x="36" y="65"/>
                  </a:lnTo>
                  <a:lnTo>
                    <a:pt x="31" y="64"/>
                  </a:lnTo>
                  <a:lnTo>
                    <a:pt x="26" y="62"/>
                  </a:lnTo>
                  <a:lnTo>
                    <a:pt x="20" y="59"/>
                  </a:lnTo>
                  <a:lnTo>
                    <a:pt x="0" y="37"/>
                  </a:lnTo>
                  <a:lnTo>
                    <a:pt x="7" y="35"/>
                  </a:lnTo>
                  <a:lnTo>
                    <a:pt x="19" y="19"/>
                  </a:lnTo>
                  <a:lnTo>
                    <a:pt x="32" y="6"/>
                  </a:lnTo>
                  <a:lnTo>
                    <a:pt x="33" y="5"/>
                  </a:lnTo>
                  <a:lnTo>
                    <a:pt x="60" y="7"/>
                  </a:lnTo>
                  <a:lnTo>
                    <a:pt x="84" y="0"/>
                  </a:lnTo>
                  <a:lnTo>
                    <a:pt x="85" y="0"/>
                  </a:lnTo>
                  <a:lnTo>
                    <a:pt x="95" y="11"/>
                  </a:lnTo>
                  <a:lnTo>
                    <a:pt x="105" y="20"/>
                  </a:lnTo>
                  <a:lnTo>
                    <a:pt x="110" y="36"/>
                  </a:lnTo>
                  <a:lnTo>
                    <a:pt x="114" y="50"/>
                  </a:lnTo>
                  <a:lnTo>
                    <a:pt x="126" y="50"/>
                  </a:lnTo>
                  <a:lnTo>
                    <a:pt x="134" y="53"/>
                  </a:lnTo>
                  <a:lnTo>
                    <a:pt x="134" y="58"/>
                  </a:lnTo>
                  <a:lnTo>
                    <a:pt x="128" y="61"/>
                  </a:lnTo>
                  <a:lnTo>
                    <a:pt x="127" y="60"/>
                  </a:lnTo>
                  <a:lnTo>
                    <a:pt x="123" y="6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1" name="Freeform 330"/>
            <p:cNvSpPr>
              <a:spLocks/>
            </p:cNvSpPr>
            <p:nvPr/>
          </p:nvSpPr>
          <p:spPr bwMode="auto">
            <a:xfrm>
              <a:off x="2718" y="1694"/>
              <a:ext cx="102" cy="47"/>
            </a:xfrm>
            <a:custGeom>
              <a:avLst/>
              <a:gdLst/>
              <a:ahLst/>
              <a:cxnLst>
                <a:cxn ang="0">
                  <a:pos x="76" y="12"/>
                </a:cxn>
                <a:cxn ang="0">
                  <a:pos x="92" y="24"/>
                </a:cxn>
                <a:cxn ang="0">
                  <a:pos x="92" y="25"/>
                </a:cxn>
                <a:cxn ang="0">
                  <a:pos x="88" y="29"/>
                </a:cxn>
                <a:cxn ang="0">
                  <a:pos x="84" y="31"/>
                </a:cxn>
                <a:cxn ang="0">
                  <a:pos x="84" y="33"/>
                </a:cxn>
                <a:cxn ang="0">
                  <a:pos x="79" y="37"/>
                </a:cxn>
                <a:cxn ang="0">
                  <a:pos x="72" y="39"/>
                </a:cxn>
                <a:cxn ang="0">
                  <a:pos x="67" y="39"/>
                </a:cxn>
                <a:cxn ang="0">
                  <a:pos x="62" y="39"/>
                </a:cxn>
                <a:cxn ang="0">
                  <a:pos x="40" y="35"/>
                </a:cxn>
                <a:cxn ang="0">
                  <a:pos x="32" y="42"/>
                </a:cxn>
                <a:cxn ang="0">
                  <a:pos x="24" y="39"/>
                </a:cxn>
                <a:cxn ang="0">
                  <a:pos x="4" y="19"/>
                </a:cxn>
                <a:cxn ang="0">
                  <a:pos x="0" y="13"/>
                </a:cxn>
                <a:cxn ang="0">
                  <a:pos x="31" y="0"/>
                </a:cxn>
                <a:cxn ang="0">
                  <a:pos x="35" y="1"/>
                </a:cxn>
                <a:cxn ang="0">
                  <a:pos x="37" y="1"/>
                </a:cxn>
                <a:cxn ang="0">
                  <a:pos x="55" y="7"/>
                </a:cxn>
                <a:cxn ang="0">
                  <a:pos x="59" y="12"/>
                </a:cxn>
                <a:cxn ang="0">
                  <a:pos x="66" y="12"/>
                </a:cxn>
                <a:cxn ang="0">
                  <a:pos x="76" y="12"/>
                </a:cxn>
              </a:cxnLst>
              <a:rect l="0" t="0" r="r" b="b"/>
              <a:pathLst>
                <a:path w="92" h="42">
                  <a:moveTo>
                    <a:pt x="76" y="12"/>
                  </a:moveTo>
                  <a:lnTo>
                    <a:pt x="92" y="24"/>
                  </a:lnTo>
                  <a:lnTo>
                    <a:pt x="92" y="25"/>
                  </a:lnTo>
                  <a:lnTo>
                    <a:pt x="88" y="29"/>
                  </a:lnTo>
                  <a:lnTo>
                    <a:pt x="84" y="31"/>
                  </a:lnTo>
                  <a:lnTo>
                    <a:pt x="84" y="33"/>
                  </a:lnTo>
                  <a:lnTo>
                    <a:pt x="79" y="37"/>
                  </a:lnTo>
                  <a:lnTo>
                    <a:pt x="72" y="39"/>
                  </a:lnTo>
                  <a:lnTo>
                    <a:pt x="67" y="39"/>
                  </a:lnTo>
                  <a:lnTo>
                    <a:pt x="62" y="39"/>
                  </a:lnTo>
                  <a:lnTo>
                    <a:pt x="40" y="35"/>
                  </a:lnTo>
                  <a:lnTo>
                    <a:pt x="32" y="42"/>
                  </a:lnTo>
                  <a:lnTo>
                    <a:pt x="24" y="39"/>
                  </a:lnTo>
                  <a:lnTo>
                    <a:pt x="4" y="19"/>
                  </a:lnTo>
                  <a:lnTo>
                    <a:pt x="0" y="13"/>
                  </a:lnTo>
                  <a:lnTo>
                    <a:pt x="31" y="0"/>
                  </a:lnTo>
                  <a:lnTo>
                    <a:pt x="35" y="1"/>
                  </a:lnTo>
                  <a:lnTo>
                    <a:pt x="37" y="1"/>
                  </a:lnTo>
                  <a:lnTo>
                    <a:pt x="55" y="7"/>
                  </a:lnTo>
                  <a:lnTo>
                    <a:pt x="59" y="12"/>
                  </a:lnTo>
                  <a:lnTo>
                    <a:pt x="66" y="12"/>
                  </a:lnTo>
                  <a:lnTo>
                    <a:pt x="7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2" name="Freeform 331"/>
            <p:cNvSpPr>
              <a:spLocks/>
            </p:cNvSpPr>
            <p:nvPr/>
          </p:nvSpPr>
          <p:spPr bwMode="auto">
            <a:xfrm>
              <a:off x="2569" y="1685"/>
              <a:ext cx="58" cy="36"/>
            </a:xfrm>
            <a:custGeom>
              <a:avLst/>
              <a:gdLst/>
              <a:ahLst/>
              <a:cxnLst>
                <a:cxn ang="0">
                  <a:pos x="11" y="0"/>
                </a:cxn>
                <a:cxn ang="0">
                  <a:pos x="0" y="5"/>
                </a:cxn>
                <a:cxn ang="0">
                  <a:pos x="6" y="11"/>
                </a:cxn>
                <a:cxn ang="0">
                  <a:pos x="24" y="23"/>
                </a:cxn>
                <a:cxn ang="0">
                  <a:pos x="30" y="22"/>
                </a:cxn>
                <a:cxn ang="0">
                  <a:pos x="31" y="24"/>
                </a:cxn>
                <a:cxn ang="0">
                  <a:pos x="45" y="31"/>
                </a:cxn>
                <a:cxn ang="0">
                  <a:pos x="45" y="29"/>
                </a:cxn>
                <a:cxn ang="0">
                  <a:pos x="49" y="22"/>
                </a:cxn>
                <a:cxn ang="0">
                  <a:pos x="50" y="12"/>
                </a:cxn>
                <a:cxn ang="0">
                  <a:pos x="48" y="11"/>
                </a:cxn>
                <a:cxn ang="0">
                  <a:pos x="43" y="7"/>
                </a:cxn>
                <a:cxn ang="0">
                  <a:pos x="41" y="1"/>
                </a:cxn>
                <a:cxn ang="0">
                  <a:pos x="23" y="0"/>
                </a:cxn>
                <a:cxn ang="0">
                  <a:pos x="11" y="0"/>
                </a:cxn>
              </a:cxnLst>
              <a:rect l="0" t="0" r="r" b="b"/>
              <a:pathLst>
                <a:path w="50" h="31">
                  <a:moveTo>
                    <a:pt x="11" y="0"/>
                  </a:moveTo>
                  <a:lnTo>
                    <a:pt x="0" y="5"/>
                  </a:lnTo>
                  <a:lnTo>
                    <a:pt x="6" y="11"/>
                  </a:lnTo>
                  <a:lnTo>
                    <a:pt x="24" y="23"/>
                  </a:lnTo>
                  <a:lnTo>
                    <a:pt x="30" y="22"/>
                  </a:lnTo>
                  <a:lnTo>
                    <a:pt x="31" y="24"/>
                  </a:lnTo>
                  <a:lnTo>
                    <a:pt x="45" y="31"/>
                  </a:lnTo>
                  <a:lnTo>
                    <a:pt x="45" y="29"/>
                  </a:lnTo>
                  <a:lnTo>
                    <a:pt x="49" y="22"/>
                  </a:lnTo>
                  <a:lnTo>
                    <a:pt x="50" y="12"/>
                  </a:lnTo>
                  <a:lnTo>
                    <a:pt x="48" y="11"/>
                  </a:lnTo>
                  <a:lnTo>
                    <a:pt x="43" y="7"/>
                  </a:lnTo>
                  <a:lnTo>
                    <a:pt x="41" y="1"/>
                  </a:lnTo>
                  <a:lnTo>
                    <a:pt x="23" y="0"/>
                  </a:lnTo>
                  <a:lnTo>
                    <a:pt x="1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3" name="Freeform 332"/>
            <p:cNvSpPr>
              <a:spLocks/>
            </p:cNvSpPr>
            <p:nvPr/>
          </p:nvSpPr>
          <p:spPr bwMode="auto">
            <a:xfrm>
              <a:off x="2622" y="1616"/>
              <a:ext cx="134" cy="147"/>
            </a:xfrm>
            <a:custGeom>
              <a:avLst/>
              <a:gdLst/>
              <a:ahLst/>
              <a:cxnLst>
                <a:cxn ang="0">
                  <a:pos x="29" y="24"/>
                </a:cxn>
                <a:cxn ang="0">
                  <a:pos x="31" y="25"/>
                </a:cxn>
                <a:cxn ang="0">
                  <a:pos x="31" y="21"/>
                </a:cxn>
                <a:cxn ang="0">
                  <a:pos x="36" y="19"/>
                </a:cxn>
                <a:cxn ang="0">
                  <a:pos x="45" y="23"/>
                </a:cxn>
                <a:cxn ang="0">
                  <a:pos x="41" y="18"/>
                </a:cxn>
                <a:cxn ang="0">
                  <a:pos x="36" y="11"/>
                </a:cxn>
                <a:cxn ang="0">
                  <a:pos x="35" y="9"/>
                </a:cxn>
                <a:cxn ang="0">
                  <a:pos x="32" y="0"/>
                </a:cxn>
                <a:cxn ang="0">
                  <a:pos x="43" y="2"/>
                </a:cxn>
                <a:cxn ang="0">
                  <a:pos x="47" y="2"/>
                </a:cxn>
                <a:cxn ang="0">
                  <a:pos x="48" y="7"/>
                </a:cxn>
                <a:cxn ang="0">
                  <a:pos x="62" y="9"/>
                </a:cxn>
                <a:cxn ang="0">
                  <a:pos x="62" y="14"/>
                </a:cxn>
                <a:cxn ang="0">
                  <a:pos x="67" y="17"/>
                </a:cxn>
                <a:cxn ang="0">
                  <a:pos x="85" y="8"/>
                </a:cxn>
                <a:cxn ang="0">
                  <a:pos x="85" y="9"/>
                </a:cxn>
                <a:cxn ang="0">
                  <a:pos x="101" y="15"/>
                </a:cxn>
                <a:cxn ang="0">
                  <a:pos x="107" y="14"/>
                </a:cxn>
                <a:cxn ang="0">
                  <a:pos x="113" y="20"/>
                </a:cxn>
                <a:cxn ang="0">
                  <a:pos x="108" y="21"/>
                </a:cxn>
                <a:cxn ang="0">
                  <a:pos x="110" y="37"/>
                </a:cxn>
                <a:cxn ang="0">
                  <a:pos x="117" y="56"/>
                </a:cxn>
                <a:cxn ang="0">
                  <a:pos x="120" y="69"/>
                </a:cxn>
                <a:cxn ang="0">
                  <a:pos x="116" y="68"/>
                </a:cxn>
                <a:cxn ang="0">
                  <a:pos x="85" y="81"/>
                </a:cxn>
                <a:cxn ang="0">
                  <a:pos x="89" y="87"/>
                </a:cxn>
                <a:cxn ang="0">
                  <a:pos x="109" y="107"/>
                </a:cxn>
                <a:cxn ang="0">
                  <a:pos x="98" y="116"/>
                </a:cxn>
                <a:cxn ang="0">
                  <a:pos x="101" y="125"/>
                </a:cxn>
                <a:cxn ang="0">
                  <a:pos x="96" y="127"/>
                </a:cxn>
                <a:cxn ang="0">
                  <a:pos x="79" y="127"/>
                </a:cxn>
                <a:cxn ang="0">
                  <a:pos x="67" y="127"/>
                </a:cxn>
                <a:cxn ang="0">
                  <a:pos x="63" y="131"/>
                </a:cxn>
                <a:cxn ang="0">
                  <a:pos x="51" y="128"/>
                </a:cxn>
                <a:cxn ang="0">
                  <a:pos x="37" y="126"/>
                </a:cxn>
                <a:cxn ang="0">
                  <a:pos x="24" y="127"/>
                </a:cxn>
                <a:cxn ang="0">
                  <a:pos x="30" y="102"/>
                </a:cxn>
                <a:cxn ang="0">
                  <a:pos x="7" y="95"/>
                </a:cxn>
                <a:cxn ang="0">
                  <a:pos x="5" y="93"/>
                </a:cxn>
                <a:cxn ang="0">
                  <a:pos x="5" y="92"/>
                </a:cxn>
                <a:cxn ang="0">
                  <a:pos x="1" y="83"/>
                </a:cxn>
                <a:cxn ang="0">
                  <a:pos x="2" y="73"/>
                </a:cxn>
                <a:cxn ang="0">
                  <a:pos x="0" y="72"/>
                </a:cxn>
                <a:cxn ang="0">
                  <a:pos x="1" y="53"/>
                </a:cxn>
                <a:cxn ang="0">
                  <a:pos x="13" y="47"/>
                </a:cxn>
                <a:cxn ang="0">
                  <a:pos x="8" y="39"/>
                </a:cxn>
                <a:cxn ang="0">
                  <a:pos x="14" y="29"/>
                </a:cxn>
                <a:cxn ang="0">
                  <a:pos x="12" y="27"/>
                </a:cxn>
                <a:cxn ang="0">
                  <a:pos x="14" y="21"/>
                </a:cxn>
                <a:cxn ang="0">
                  <a:pos x="29" y="24"/>
                </a:cxn>
              </a:cxnLst>
              <a:rect l="0" t="0" r="r" b="b"/>
              <a:pathLst>
                <a:path w="120" h="131">
                  <a:moveTo>
                    <a:pt x="29" y="24"/>
                  </a:moveTo>
                  <a:lnTo>
                    <a:pt x="31" y="25"/>
                  </a:lnTo>
                  <a:lnTo>
                    <a:pt x="31" y="21"/>
                  </a:lnTo>
                  <a:lnTo>
                    <a:pt x="36" y="19"/>
                  </a:lnTo>
                  <a:lnTo>
                    <a:pt x="45" y="23"/>
                  </a:lnTo>
                  <a:lnTo>
                    <a:pt x="41" y="18"/>
                  </a:lnTo>
                  <a:lnTo>
                    <a:pt x="36" y="11"/>
                  </a:lnTo>
                  <a:lnTo>
                    <a:pt x="35" y="9"/>
                  </a:lnTo>
                  <a:lnTo>
                    <a:pt x="32" y="0"/>
                  </a:lnTo>
                  <a:lnTo>
                    <a:pt x="43" y="2"/>
                  </a:lnTo>
                  <a:lnTo>
                    <a:pt x="47" y="2"/>
                  </a:lnTo>
                  <a:lnTo>
                    <a:pt x="48" y="7"/>
                  </a:lnTo>
                  <a:lnTo>
                    <a:pt x="62" y="9"/>
                  </a:lnTo>
                  <a:lnTo>
                    <a:pt x="62" y="14"/>
                  </a:lnTo>
                  <a:lnTo>
                    <a:pt x="67" y="17"/>
                  </a:lnTo>
                  <a:lnTo>
                    <a:pt x="85" y="8"/>
                  </a:lnTo>
                  <a:lnTo>
                    <a:pt x="85" y="9"/>
                  </a:lnTo>
                  <a:lnTo>
                    <a:pt x="101" y="15"/>
                  </a:lnTo>
                  <a:lnTo>
                    <a:pt x="107" y="14"/>
                  </a:lnTo>
                  <a:lnTo>
                    <a:pt x="113" y="20"/>
                  </a:lnTo>
                  <a:lnTo>
                    <a:pt x="108" y="21"/>
                  </a:lnTo>
                  <a:lnTo>
                    <a:pt x="110" y="37"/>
                  </a:lnTo>
                  <a:lnTo>
                    <a:pt x="117" y="56"/>
                  </a:lnTo>
                  <a:lnTo>
                    <a:pt x="120" y="69"/>
                  </a:lnTo>
                  <a:lnTo>
                    <a:pt x="116" y="68"/>
                  </a:lnTo>
                  <a:lnTo>
                    <a:pt x="85" y="81"/>
                  </a:lnTo>
                  <a:lnTo>
                    <a:pt x="89" y="87"/>
                  </a:lnTo>
                  <a:lnTo>
                    <a:pt x="109" y="107"/>
                  </a:lnTo>
                  <a:lnTo>
                    <a:pt x="98" y="116"/>
                  </a:lnTo>
                  <a:lnTo>
                    <a:pt x="101" y="125"/>
                  </a:lnTo>
                  <a:lnTo>
                    <a:pt x="96" y="127"/>
                  </a:lnTo>
                  <a:lnTo>
                    <a:pt x="79" y="127"/>
                  </a:lnTo>
                  <a:lnTo>
                    <a:pt x="67" y="127"/>
                  </a:lnTo>
                  <a:lnTo>
                    <a:pt x="63" y="131"/>
                  </a:lnTo>
                  <a:lnTo>
                    <a:pt x="51" y="128"/>
                  </a:lnTo>
                  <a:lnTo>
                    <a:pt x="37" y="126"/>
                  </a:lnTo>
                  <a:lnTo>
                    <a:pt x="24" y="127"/>
                  </a:lnTo>
                  <a:lnTo>
                    <a:pt x="30" y="102"/>
                  </a:lnTo>
                  <a:lnTo>
                    <a:pt x="7" y="95"/>
                  </a:lnTo>
                  <a:lnTo>
                    <a:pt x="5" y="93"/>
                  </a:lnTo>
                  <a:lnTo>
                    <a:pt x="5" y="92"/>
                  </a:lnTo>
                  <a:lnTo>
                    <a:pt x="1" y="83"/>
                  </a:lnTo>
                  <a:lnTo>
                    <a:pt x="2" y="73"/>
                  </a:lnTo>
                  <a:lnTo>
                    <a:pt x="0" y="72"/>
                  </a:lnTo>
                  <a:lnTo>
                    <a:pt x="1" y="53"/>
                  </a:lnTo>
                  <a:lnTo>
                    <a:pt x="13" y="47"/>
                  </a:lnTo>
                  <a:lnTo>
                    <a:pt x="8" y="39"/>
                  </a:lnTo>
                  <a:lnTo>
                    <a:pt x="14" y="29"/>
                  </a:lnTo>
                  <a:lnTo>
                    <a:pt x="12" y="27"/>
                  </a:lnTo>
                  <a:lnTo>
                    <a:pt x="14" y="21"/>
                  </a:lnTo>
                  <a:lnTo>
                    <a:pt x="29"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4" name="Freeform 333"/>
            <p:cNvSpPr>
              <a:spLocks/>
            </p:cNvSpPr>
            <p:nvPr/>
          </p:nvSpPr>
          <p:spPr bwMode="auto">
            <a:xfrm>
              <a:off x="2727" y="1623"/>
              <a:ext cx="9" cy="7"/>
            </a:xfrm>
            <a:custGeom>
              <a:avLst/>
              <a:gdLst/>
              <a:ahLst/>
              <a:cxnLst>
                <a:cxn ang="0">
                  <a:pos x="0" y="5"/>
                </a:cxn>
                <a:cxn ang="0">
                  <a:pos x="9" y="5"/>
                </a:cxn>
                <a:cxn ang="0">
                  <a:pos x="4" y="0"/>
                </a:cxn>
                <a:cxn ang="0">
                  <a:pos x="0" y="5"/>
                </a:cxn>
              </a:cxnLst>
              <a:rect l="0" t="0" r="r" b="b"/>
              <a:pathLst>
                <a:path w="9" h="5">
                  <a:moveTo>
                    <a:pt x="0" y="5"/>
                  </a:moveTo>
                  <a:lnTo>
                    <a:pt x="9" y="5"/>
                  </a:lnTo>
                  <a:lnTo>
                    <a:pt x="4" y="0"/>
                  </a:lnTo>
                  <a:lnTo>
                    <a:pt x="0"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5" name="Freeform 334"/>
            <p:cNvSpPr>
              <a:spLocks/>
            </p:cNvSpPr>
            <p:nvPr/>
          </p:nvSpPr>
          <p:spPr bwMode="auto">
            <a:xfrm>
              <a:off x="2620" y="1710"/>
              <a:ext cx="9" cy="11"/>
            </a:xfrm>
            <a:custGeom>
              <a:avLst/>
              <a:gdLst/>
              <a:ahLst/>
              <a:cxnLst>
                <a:cxn ang="0">
                  <a:pos x="4" y="0"/>
                </a:cxn>
                <a:cxn ang="0">
                  <a:pos x="0" y="7"/>
                </a:cxn>
                <a:cxn ang="0">
                  <a:pos x="0" y="9"/>
                </a:cxn>
                <a:cxn ang="0">
                  <a:pos x="8" y="10"/>
                </a:cxn>
                <a:cxn ang="0">
                  <a:pos x="8" y="9"/>
                </a:cxn>
                <a:cxn ang="0">
                  <a:pos x="4" y="0"/>
                </a:cxn>
              </a:cxnLst>
              <a:rect l="0" t="0" r="r" b="b"/>
              <a:pathLst>
                <a:path w="8" h="10">
                  <a:moveTo>
                    <a:pt x="4" y="0"/>
                  </a:moveTo>
                  <a:lnTo>
                    <a:pt x="0" y="7"/>
                  </a:lnTo>
                  <a:lnTo>
                    <a:pt x="0" y="9"/>
                  </a:lnTo>
                  <a:lnTo>
                    <a:pt x="8" y="10"/>
                  </a:lnTo>
                  <a:lnTo>
                    <a:pt x="8" y="9"/>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6" name="Freeform 335"/>
            <p:cNvSpPr>
              <a:spLocks/>
            </p:cNvSpPr>
            <p:nvPr/>
          </p:nvSpPr>
          <p:spPr bwMode="auto">
            <a:xfrm>
              <a:off x="2942" y="1734"/>
              <a:ext cx="69" cy="69"/>
            </a:xfrm>
            <a:custGeom>
              <a:avLst/>
              <a:gdLst/>
              <a:ahLst/>
              <a:cxnLst>
                <a:cxn ang="0">
                  <a:pos x="12" y="0"/>
                </a:cxn>
                <a:cxn ang="0">
                  <a:pos x="0" y="10"/>
                </a:cxn>
                <a:cxn ang="0">
                  <a:pos x="1" y="10"/>
                </a:cxn>
                <a:cxn ang="0">
                  <a:pos x="11" y="21"/>
                </a:cxn>
                <a:cxn ang="0">
                  <a:pos x="21" y="30"/>
                </a:cxn>
                <a:cxn ang="0">
                  <a:pos x="26" y="46"/>
                </a:cxn>
                <a:cxn ang="0">
                  <a:pos x="30" y="60"/>
                </a:cxn>
                <a:cxn ang="0">
                  <a:pos x="42" y="60"/>
                </a:cxn>
                <a:cxn ang="0">
                  <a:pos x="50" y="63"/>
                </a:cxn>
                <a:cxn ang="0">
                  <a:pos x="49" y="54"/>
                </a:cxn>
                <a:cxn ang="0">
                  <a:pos x="61" y="44"/>
                </a:cxn>
                <a:cxn ang="0">
                  <a:pos x="50" y="33"/>
                </a:cxn>
                <a:cxn ang="0">
                  <a:pos x="38" y="23"/>
                </a:cxn>
                <a:cxn ang="0">
                  <a:pos x="27" y="12"/>
                </a:cxn>
                <a:cxn ang="0">
                  <a:pos x="17" y="2"/>
                </a:cxn>
                <a:cxn ang="0">
                  <a:pos x="12" y="0"/>
                </a:cxn>
              </a:cxnLst>
              <a:rect l="0" t="0" r="r" b="b"/>
              <a:pathLst>
                <a:path w="61" h="63">
                  <a:moveTo>
                    <a:pt x="12" y="0"/>
                  </a:moveTo>
                  <a:lnTo>
                    <a:pt x="0" y="10"/>
                  </a:lnTo>
                  <a:lnTo>
                    <a:pt x="1" y="10"/>
                  </a:lnTo>
                  <a:lnTo>
                    <a:pt x="11" y="21"/>
                  </a:lnTo>
                  <a:lnTo>
                    <a:pt x="21" y="30"/>
                  </a:lnTo>
                  <a:lnTo>
                    <a:pt x="26" y="46"/>
                  </a:lnTo>
                  <a:lnTo>
                    <a:pt x="30" y="60"/>
                  </a:lnTo>
                  <a:lnTo>
                    <a:pt x="42" y="60"/>
                  </a:lnTo>
                  <a:lnTo>
                    <a:pt x="50" y="63"/>
                  </a:lnTo>
                  <a:lnTo>
                    <a:pt x="49" y="54"/>
                  </a:lnTo>
                  <a:lnTo>
                    <a:pt x="61" y="44"/>
                  </a:lnTo>
                  <a:lnTo>
                    <a:pt x="50" y="33"/>
                  </a:lnTo>
                  <a:lnTo>
                    <a:pt x="38" y="23"/>
                  </a:lnTo>
                  <a:lnTo>
                    <a:pt x="27" y="12"/>
                  </a:lnTo>
                  <a:lnTo>
                    <a:pt x="17" y="2"/>
                  </a:lnTo>
                  <a:lnTo>
                    <a:pt x="1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7" name="Freeform 336"/>
            <p:cNvSpPr>
              <a:spLocks/>
            </p:cNvSpPr>
            <p:nvPr/>
          </p:nvSpPr>
          <p:spPr bwMode="auto">
            <a:xfrm>
              <a:off x="2602" y="1330"/>
              <a:ext cx="320" cy="229"/>
            </a:xfrm>
            <a:custGeom>
              <a:avLst/>
              <a:gdLst/>
              <a:ahLst/>
              <a:cxnLst>
                <a:cxn ang="0">
                  <a:pos x="166" y="17"/>
                </a:cxn>
                <a:cxn ang="0">
                  <a:pos x="159" y="18"/>
                </a:cxn>
                <a:cxn ang="0">
                  <a:pos x="150" y="24"/>
                </a:cxn>
                <a:cxn ang="0">
                  <a:pos x="141" y="29"/>
                </a:cxn>
                <a:cxn ang="0">
                  <a:pos x="127" y="38"/>
                </a:cxn>
                <a:cxn ang="0">
                  <a:pos x="129" y="42"/>
                </a:cxn>
                <a:cxn ang="0">
                  <a:pos x="126" y="48"/>
                </a:cxn>
                <a:cxn ang="0">
                  <a:pos x="110" y="51"/>
                </a:cxn>
                <a:cxn ang="0">
                  <a:pos x="120" y="55"/>
                </a:cxn>
                <a:cxn ang="0">
                  <a:pos x="110" y="57"/>
                </a:cxn>
                <a:cxn ang="0">
                  <a:pos x="99" y="65"/>
                </a:cxn>
                <a:cxn ang="0">
                  <a:pos x="91" y="72"/>
                </a:cxn>
                <a:cxn ang="0">
                  <a:pos x="90" y="77"/>
                </a:cxn>
                <a:cxn ang="0">
                  <a:pos x="87" y="89"/>
                </a:cxn>
                <a:cxn ang="0">
                  <a:pos x="75" y="96"/>
                </a:cxn>
                <a:cxn ang="0">
                  <a:pos x="72" y="101"/>
                </a:cxn>
                <a:cxn ang="0">
                  <a:pos x="56" y="113"/>
                </a:cxn>
                <a:cxn ang="0">
                  <a:pos x="73" y="109"/>
                </a:cxn>
                <a:cxn ang="0">
                  <a:pos x="58" y="117"/>
                </a:cxn>
                <a:cxn ang="0">
                  <a:pos x="42" y="121"/>
                </a:cxn>
                <a:cxn ang="0">
                  <a:pos x="37" y="126"/>
                </a:cxn>
                <a:cxn ang="0">
                  <a:pos x="22" y="129"/>
                </a:cxn>
                <a:cxn ang="0">
                  <a:pos x="27" y="131"/>
                </a:cxn>
                <a:cxn ang="0">
                  <a:pos x="24" y="138"/>
                </a:cxn>
                <a:cxn ang="0">
                  <a:pos x="9" y="138"/>
                </a:cxn>
                <a:cxn ang="0">
                  <a:pos x="1" y="139"/>
                </a:cxn>
                <a:cxn ang="0">
                  <a:pos x="0" y="145"/>
                </a:cxn>
                <a:cxn ang="0">
                  <a:pos x="3" y="151"/>
                </a:cxn>
                <a:cxn ang="0">
                  <a:pos x="27" y="152"/>
                </a:cxn>
                <a:cxn ang="0">
                  <a:pos x="26" y="158"/>
                </a:cxn>
                <a:cxn ang="0">
                  <a:pos x="2" y="161"/>
                </a:cxn>
                <a:cxn ang="0">
                  <a:pos x="8" y="163"/>
                </a:cxn>
                <a:cxn ang="0">
                  <a:pos x="8" y="169"/>
                </a:cxn>
                <a:cxn ang="0">
                  <a:pos x="22" y="165"/>
                </a:cxn>
                <a:cxn ang="0">
                  <a:pos x="12" y="176"/>
                </a:cxn>
                <a:cxn ang="0">
                  <a:pos x="6" y="185"/>
                </a:cxn>
                <a:cxn ang="0">
                  <a:pos x="16" y="185"/>
                </a:cxn>
                <a:cxn ang="0">
                  <a:pos x="10" y="198"/>
                </a:cxn>
                <a:cxn ang="0">
                  <a:pos x="60" y="188"/>
                </a:cxn>
                <a:cxn ang="0">
                  <a:pos x="73" y="176"/>
                </a:cxn>
                <a:cxn ang="0">
                  <a:pos x="90" y="175"/>
                </a:cxn>
                <a:cxn ang="0">
                  <a:pos x="97" y="151"/>
                </a:cxn>
                <a:cxn ang="0">
                  <a:pos x="86" y="114"/>
                </a:cxn>
                <a:cxn ang="0">
                  <a:pos x="102" y="99"/>
                </a:cxn>
                <a:cxn ang="0">
                  <a:pos x="120" y="73"/>
                </a:cxn>
                <a:cxn ang="0">
                  <a:pos x="147" y="43"/>
                </a:cxn>
                <a:cxn ang="0">
                  <a:pos x="168" y="30"/>
                </a:cxn>
                <a:cxn ang="0">
                  <a:pos x="194" y="33"/>
                </a:cxn>
                <a:cxn ang="0">
                  <a:pos x="230" y="32"/>
                </a:cxn>
                <a:cxn ang="0">
                  <a:pos x="270" y="20"/>
                </a:cxn>
                <a:cxn ang="0">
                  <a:pos x="289" y="23"/>
                </a:cxn>
                <a:cxn ang="0">
                  <a:pos x="276" y="19"/>
                </a:cxn>
                <a:cxn ang="0">
                  <a:pos x="278" y="6"/>
                </a:cxn>
                <a:cxn ang="0">
                  <a:pos x="256" y="13"/>
                </a:cxn>
                <a:cxn ang="0">
                  <a:pos x="253" y="5"/>
                </a:cxn>
                <a:cxn ang="0">
                  <a:pos x="237" y="11"/>
                </a:cxn>
                <a:cxn ang="0">
                  <a:pos x="225" y="5"/>
                </a:cxn>
                <a:cxn ang="0">
                  <a:pos x="213" y="6"/>
                </a:cxn>
                <a:cxn ang="0">
                  <a:pos x="193" y="12"/>
                </a:cxn>
                <a:cxn ang="0">
                  <a:pos x="186" y="18"/>
                </a:cxn>
              </a:cxnLst>
              <a:rect l="0" t="0" r="r" b="b"/>
              <a:pathLst>
                <a:path w="289" h="205">
                  <a:moveTo>
                    <a:pt x="171" y="21"/>
                  </a:moveTo>
                  <a:lnTo>
                    <a:pt x="166" y="26"/>
                  </a:lnTo>
                  <a:lnTo>
                    <a:pt x="166" y="17"/>
                  </a:lnTo>
                  <a:lnTo>
                    <a:pt x="165" y="21"/>
                  </a:lnTo>
                  <a:lnTo>
                    <a:pt x="162" y="23"/>
                  </a:lnTo>
                  <a:lnTo>
                    <a:pt x="159" y="18"/>
                  </a:lnTo>
                  <a:lnTo>
                    <a:pt x="157" y="21"/>
                  </a:lnTo>
                  <a:lnTo>
                    <a:pt x="158" y="25"/>
                  </a:lnTo>
                  <a:lnTo>
                    <a:pt x="150" y="24"/>
                  </a:lnTo>
                  <a:lnTo>
                    <a:pt x="151" y="26"/>
                  </a:lnTo>
                  <a:lnTo>
                    <a:pt x="145" y="25"/>
                  </a:lnTo>
                  <a:lnTo>
                    <a:pt x="141" y="29"/>
                  </a:lnTo>
                  <a:lnTo>
                    <a:pt x="142" y="35"/>
                  </a:lnTo>
                  <a:lnTo>
                    <a:pt x="140" y="36"/>
                  </a:lnTo>
                  <a:lnTo>
                    <a:pt x="127" y="38"/>
                  </a:lnTo>
                  <a:lnTo>
                    <a:pt x="140" y="39"/>
                  </a:lnTo>
                  <a:lnTo>
                    <a:pt x="138" y="43"/>
                  </a:lnTo>
                  <a:lnTo>
                    <a:pt x="129" y="42"/>
                  </a:lnTo>
                  <a:lnTo>
                    <a:pt x="128" y="43"/>
                  </a:lnTo>
                  <a:lnTo>
                    <a:pt x="126" y="47"/>
                  </a:lnTo>
                  <a:lnTo>
                    <a:pt x="126" y="48"/>
                  </a:lnTo>
                  <a:lnTo>
                    <a:pt x="122" y="44"/>
                  </a:lnTo>
                  <a:lnTo>
                    <a:pt x="118" y="45"/>
                  </a:lnTo>
                  <a:lnTo>
                    <a:pt x="110" y="51"/>
                  </a:lnTo>
                  <a:lnTo>
                    <a:pt x="121" y="50"/>
                  </a:lnTo>
                  <a:lnTo>
                    <a:pt x="117" y="53"/>
                  </a:lnTo>
                  <a:lnTo>
                    <a:pt x="120" y="55"/>
                  </a:lnTo>
                  <a:lnTo>
                    <a:pt x="118" y="55"/>
                  </a:lnTo>
                  <a:lnTo>
                    <a:pt x="111" y="55"/>
                  </a:lnTo>
                  <a:lnTo>
                    <a:pt x="110" y="57"/>
                  </a:lnTo>
                  <a:lnTo>
                    <a:pt x="118" y="61"/>
                  </a:lnTo>
                  <a:lnTo>
                    <a:pt x="109" y="61"/>
                  </a:lnTo>
                  <a:lnTo>
                    <a:pt x="99" y="65"/>
                  </a:lnTo>
                  <a:lnTo>
                    <a:pt x="93" y="68"/>
                  </a:lnTo>
                  <a:lnTo>
                    <a:pt x="94" y="68"/>
                  </a:lnTo>
                  <a:lnTo>
                    <a:pt x="91" y="72"/>
                  </a:lnTo>
                  <a:lnTo>
                    <a:pt x="93" y="73"/>
                  </a:lnTo>
                  <a:lnTo>
                    <a:pt x="100" y="73"/>
                  </a:lnTo>
                  <a:lnTo>
                    <a:pt x="90" y="77"/>
                  </a:lnTo>
                  <a:lnTo>
                    <a:pt x="87" y="81"/>
                  </a:lnTo>
                  <a:lnTo>
                    <a:pt x="87" y="85"/>
                  </a:lnTo>
                  <a:lnTo>
                    <a:pt x="87" y="89"/>
                  </a:lnTo>
                  <a:lnTo>
                    <a:pt x="90" y="90"/>
                  </a:lnTo>
                  <a:lnTo>
                    <a:pt x="75" y="95"/>
                  </a:lnTo>
                  <a:lnTo>
                    <a:pt x="75" y="96"/>
                  </a:lnTo>
                  <a:lnTo>
                    <a:pt x="81" y="93"/>
                  </a:lnTo>
                  <a:lnTo>
                    <a:pt x="78" y="98"/>
                  </a:lnTo>
                  <a:lnTo>
                    <a:pt x="72" y="101"/>
                  </a:lnTo>
                  <a:lnTo>
                    <a:pt x="67" y="102"/>
                  </a:lnTo>
                  <a:lnTo>
                    <a:pt x="60" y="109"/>
                  </a:lnTo>
                  <a:lnTo>
                    <a:pt x="56" y="113"/>
                  </a:lnTo>
                  <a:lnTo>
                    <a:pt x="61" y="116"/>
                  </a:lnTo>
                  <a:lnTo>
                    <a:pt x="68" y="111"/>
                  </a:lnTo>
                  <a:lnTo>
                    <a:pt x="73" y="109"/>
                  </a:lnTo>
                  <a:lnTo>
                    <a:pt x="73" y="114"/>
                  </a:lnTo>
                  <a:lnTo>
                    <a:pt x="63" y="117"/>
                  </a:lnTo>
                  <a:lnTo>
                    <a:pt x="58" y="117"/>
                  </a:lnTo>
                  <a:lnTo>
                    <a:pt x="49" y="116"/>
                  </a:lnTo>
                  <a:lnTo>
                    <a:pt x="48" y="117"/>
                  </a:lnTo>
                  <a:lnTo>
                    <a:pt x="42" y="121"/>
                  </a:lnTo>
                  <a:lnTo>
                    <a:pt x="38" y="125"/>
                  </a:lnTo>
                  <a:lnTo>
                    <a:pt x="39" y="127"/>
                  </a:lnTo>
                  <a:lnTo>
                    <a:pt x="37" y="126"/>
                  </a:lnTo>
                  <a:lnTo>
                    <a:pt x="40" y="129"/>
                  </a:lnTo>
                  <a:lnTo>
                    <a:pt x="24" y="125"/>
                  </a:lnTo>
                  <a:lnTo>
                    <a:pt x="22" y="129"/>
                  </a:lnTo>
                  <a:lnTo>
                    <a:pt x="27" y="129"/>
                  </a:lnTo>
                  <a:lnTo>
                    <a:pt x="32" y="129"/>
                  </a:lnTo>
                  <a:lnTo>
                    <a:pt x="27" y="131"/>
                  </a:lnTo>
                  <a:lnTo>
                    <a:pt x="16" y="133"/>
                  </a:lnTo>
                  <a:lnTo>
                    <a:pt x="25" y="137"/>
                  </a:lnTo>
                  <a:lnTo>
                    <a:pt x="24" y="138"/>
                  </a:lnTo>
                  <a:lnTo>
                    <a:pt x="15" y="134"/>
                  </a:lnTo>
                  <a:lnTo>
                    <a:pt x="16" y="137"/>
                  </a:lnTo>
                  <a:lnTo>
                    <a:pt x="9" y="138"/>
                  </a:lnTo>
                  <a:lnTo>
                    <a:pt x="12" y="139"/>
                  </a:lnTo>
                  <a:lnTo>
                    <a:pt x="4" y="140"/>
                  </a:lnTo>
                  <a:lnTo>
                    <a:pt x="1" y="139"/>
                  </a:lnTo>
                  <a:lnTo>
                    <a:pt x="1" y="143"/>
                  </a:lnTo>
                  <a:lnTo>
                    <a:pt x="18" y="144"/>
                  </a:lnTo>
                  <a:lnTo>
                    <a:pt x="0" y="145"/>
                  </a:lnTo>
                  <a:lnTo>
                    <a:pt x="6" y="150"/>
                  </a:lnTo>
                  <a:lnTo>
                    <a:pt x="2" y="151"/>
                  </a:lnTo>
                  <a:lnTo>
                    <a:pt x="3" y="151"/>
                  </a:lnTo>
                  <a:lnTo>
                    <a:pt x="1" y="155"/>
                  </a:lnTo>
                  <a:lnTo>
                    <a:pt x="19" y="152"/>
                  </a:lnTo>
                  <a:lnTo>
                    <a:pt x="27" y="152"/>
                  </a:lnTo>
                  <a:lnTo>
                    <a:pt x="28" y="151"/>
                  </a:lnTo>
                  <a:lnTo>
                    <a:pt x="30" y="156"/>
                  </a:lnTo>
                  <a:lnTo>
                    <a:pt x="26" y="158"/>
                  </a:lnTo>
                  <a:lnTo>
                    <a:pt x="16" y="156"/>
                  </a:lnTo>
                  <a:lnTo>
                    <a:pt x="0" y="158"/>
                  </a:lnTo>
                  <a:lnTo>
                    <a:pt x="2" y="161"/>
                  </a:lnTo>
                  <a:lnTo>
                    <a:pt x="3" y="162"/>
                  </a:lnTo>
                  <a:lnTo>
                    <a:pt x="0" y="162"/>
                  </a:lnTo>
                  <a:lnTo>
                    <a:pt x="8" y="163"/>
                  </a:lnTo>
                  <a:lnTo>
                    <a:pt x="6" y="167"/>
                  </a:lnTo>
                  <a:lnTo>
                    <a:pt x="2" y="170"/>
                  </a:lnTo>
                  <a:lnTo>
                    <a:pt x="8" y="169"/>
                  </a:lnTo>
                  <a:lnTo>
                    <a:pt x="10" y="173"/>
                  </a:lnTo>
                  <a:lnTo>
                    <a:pt x="16" y="167"/>
                  </a:lnTo>
                  <a:lnTo>
                    <a:pt x="22" y="165"/>
                  </a:lnTo>
                  <a:lnTo>
                    <a:pt x="19" y="171"/>
                  </a:lnTo>
                  <a:lnTo>
                    <a:pt x="18" y="167"/>
                  </a:lnTo>
                  <a:lnTo>
                    <a:pt x="12" y="176"/>
                  </a:lnTo>
                  <a:lnTo>
                    <a:pt x="13" y="177"/>
                  </a:lnTo>
                  <a:lnTo>
                    <a:pt x="6" y="180"/>
                  </a:lnTo>
                  <a:lnTo>
                    <a:pt x="6" y="185"/>
                  </a:lnTo>
                  <a:lnTo>
                    <a:pt x="12" y="182"/>
                  </a:lnTo>
                  <a:lnTo>
                    <a:pt x="15" y="181"/>
                  </a:lnTo>
                  <a:lnTo>
                    <a:pt x="16" y="185"/>
                  </a:lnTo>
                  <a:lnTo>
                    <a:pt x="15" y="189"/>
                  </a:lnTo>
                  <a:lnTo>
                    <a:pt x="9" y="191"/>
                  </a:lnTo>
                  <a:lnTo>
                    <a:pt x="10" y="198"/>
                  </a:lnTo>
                  <a:lnTo>
                    <a:pt x="21" y="204"/>
                  </a:lnTo>
                  <a:lnTo>
                    <a:pt x="39" y="205"/>
                  </a:lnTo>
                  <a:lnTo>
                    <a:pt x="60" y="188"/>
                  </a:lnTo>
                  <a:lnTo>
                    <a:pt x="68" y="188"/>
                  </a:lnTo>
                  <a:lnTo>
                    <a:pt x="68" y="179"/>
                  </a:lnTo>
                  <a:lnTo>
                    <a:pt x="73" y="176"/>
                  </a:lnTo>
                  <a:lnTo>
                    <a:pt x="76" y="187"/>
                  </a:lnTo>
                  <a:lnTo>
                    <a:pt x="82" y="191"/>
                  </a:lnTo>
                  <a:lnTo>
                    <a:pt x="90" y="175"/>
                  </a:lnTo>
                  <a:lnTo>
                    <a:pt x="92" y="161"/>
                  </a:lnTo>
                  <a:lnTo>
                    <a:pt x="92" y="156"/>
                  </a:lnTo>
                  <a:lnTo>
                    <a:pt x="97" y="151"/>
                  </a:lnTo>
                  <a:lnTo>
                    <a:pt x="87" y="145"/>
                  </a:lnTo>
                  <a:lnTo>
                    <a:pt x="87" y="129"/>
                  </a:lnTo>
                  <a:lnTo>
                    <a:pt x="86" y="114"/>
                  </a:lnTo>
                  <a:lnTo>
                    <a:pt x="97" y="107"/>
                  </a:lnTo>
                  <a:lnTo>
                    <a:pt x="108" y="105"/>
                  </a:lnTo>
                  <a:lnTo>
                    <a:pt x="102" y="99"/>
                  </a:lnTo>
                  <a:lnTo>
                    <a:pt x="111" y="79"/>
                  </a:lnTo>
                  <a:lnTo>
                    <a:pt x="109" y="75"/>
                  </a:lnTo>
                  <a:lnTo>
                    <a:pt x="120" y="73"/>
                  </a:lnTo>
                  <a:lnTo>
                    <a:pt x="126" y="63"/>
                  </a:lnTo>
                  <a:lnTo>
                    <a:pt x="132" y="48"/>
                  </a:lnTo>
                  <a:lnTo>
                    <a:pt x="147" y="43"/>
                  </a:lnTo>
                  <a:lnTo>
                    <a:pt x="148" y="38"/>
                  </a:lnTo>
                  <a:lnTo>
                    <a:pt x="169" y="38"/>
                  </a:lnTo>
                  <a:lnTo>
                    <a:pt x="168" y="30"/>
                  </a:lnTo>
                  <a:lnTo>
                    <a:pt x="174" y="30"/>
                  </a:lnTo>
                  <a:lnTo>
                    <a:pt x="181" y="25"/>
                  </a:lnTo>
                  <a:lnTo>
                    <a:pt x="194" y="33"/>
                  </a:lnTo>
                  <a:lnTo>
                    <a:pt x="207" y="36"/>
                  </a:lnTo>
                  <a:lnTo>
                    <a:pt x="223" y="36"/>
                  </a:lnTo>
                  <a:lnTo>
                    <a:pt x="230" y="32"/>
                  </a:lnTo>
                  <a:lnTo>
                    <a:pt x="234" y="21"/>
                  </a:lnTo>
                  <a:lnTo>
                    <a:pt x="250" y="14"/>
                  </a:lnTo>
                  <a:lnTo>
                    <a:pt x="270" y="20"/>
                  </a:lnTo>
                  <a:lnTo>
                    <a:pt x="270" y="30"/>
                  </a:lnTo>
                  <a:lnTo>
                    <a:pt x="282" y="23"/>
                  </a:lnTo>
                  <a:lnTo>
                    <a:pt x="289" y="23"/>
                  </a:lnTo>
                  <a:lnTo>
                    <a:pt x="289" y="18"/>
                  </a:lnTo>
                  <a:lnTo>
                    <a:pt x="282" y="18"/>
                  </a:lnTo>
                  <a:lnTo>
                    <a:pt x="276" y="19"/>
                  </a:lnTo>
                  <a:lnTo>
                    <a:pt x="266" y="13"/>
                  </a:lnTo>
                  <a:lnTo>
                    <a:pt x="289" y="11"/>
                  </a:lnTo>
                  <a:lnTo>
                    <a:pt x="278" y="6"/>
                  </a:lnTo>
                  <a:lnTo>
                    <a:pt x="266" y="3"/>
                  </a:lnTo>
                  <a:lnTo>
                    <a:pt x="259" y="6"/>
                  </a:lnTo>
                  <a:lnTo>
                    <a:pt x="256" y="13"/>
                  </a:lnTo>
                  <a:lnTo>
                    <a:pt x="255" y="8"/>
                  </a:lnTo>
                  <a:lnTo>
                    <a:pt x="254" y="6"/>
                  </a:lnTo>
                  <a:lnTo>
                    <a:pt x="253" y="5"/>
                  </a:lnTo>
                  <a:lnTo>
                    <a:pt x="252" y="0"/>
                  </a:lnTo>
                  <a:lnTo>
                    <a:pt x="244" y="2"/>
                  </a:lnTo>
                  <a:lnTo>
                    <a:pt x="237" y="11"/>
                  </a:lnTo>
                  <a:lnTo>
                    <a:pt x="234" y="2"/>
                  </a:lnTo>
                  <a:lnTo>
                    <a:pt x="220" y="14"/>
                  </a:lnTo>
                  <a:lnTo>
                    <a:pt x="225" y="5"/>
                  </a:lnTo>
                  <a:lnTo>
                    <a:pt x="222" y="3"/>
                  </a:lnTo>
                  <a:lnTo>
                    <a:pt x="213" y="3"/>
                  </a:lnTo>
                  <a:lnTo>
                    <a:pt x="213" y="6"/>
                  </a:lnTo>
                  <a:lnTo>
                    <a:pt x="200" y="14"/>
                  </a:lnTo>
                  <a:lnTo>
                    <a:pt x="192" y="14"/>
                  </a:lnTo>
                  <a:lnTo>
                    <a:pt x="193" y="12"/>
                  </a:lnTo>
                  <a:lnTo>
                    <a:pt x="180" y="13"/>
                  </a:lnTo>
                  <a:lnTo>
                    <a:pt x="188" y="15"/>
                  </a:lnTo>
                  <a:lnTo>
                    <a:pt x="186" y="18"/>
                  </a:lnTo>
                  <a:lnTo>
                    <a:pt x="178" y="18"/>
                  </a:lnTo>
                  <a:lnTo>
                    <a:pt x="171" y="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8" name="Freeform 337"/>
            <p:cNvSpPr>
              <a:spLocks/>
            </p:cNvSpPr>
            <p:nvPr/>
          </p:nvSpPr>
          <p:spPr bwMode="auto">
            <a:xfrm>
              <a:off x="2653" y="1194"/>
              <a:ext cx="120" cy="49"/>
            </a:xfrm>
            <a:custGeom>
              <a:avLst/>
              <a:gdLst/>
              <a:ahLst/>
              <a:cxnLst>
                <a:cxn ang="0">
                  <a:pos x="27" y="4"/>
                </a:cxn>
                <a:cxn ang="0">
                  <a:pos x="12" y="4"/>
                </a:cxn>
                <a:cxn ang="0">
                  <a:pos x="0" y="5"/>
                </a:cxn>
                <a:cxn ang="0">
                  <a:pos x="3" y="11"/>
                </a:cxn>
                <a:cxn ang="0">
                  <a:pos x="11" y="10"/>
                </a:cxn>
                <a:cxn ang="0">
                  <a:pos x="12" y="13"/>
                </a:cxn>
                <a:cxn ang="0">
                  <a:pos x="5" y="15"/>
                </a:cxn>
                <a:cxn ang="0">
                  <a:pos x="18" y="21"/>
                </a:cxn>
                <a:cxn ang="0">
                  <a:pos x="29" y="24"/>
                </a:cxn>
                <a:cxn ang="0">
                  <a:pos x="36" y="21"/>
                </a:cxn>
                <a:cxn ang="0">
                  <a:pos x="45" y="17"/>
                </a:cxn>
                <a:cxn ang="0">
                  <a:pos x="46" y="19"/>
                </a:cxn>
                <a:cxn ang="0">
                  <a:pos x="58" y="17"/>
                </a:cxn>
                <a:cxn ang="0">
                  <a:pos x="59" y="21"/>
                </a:cxn>
                <a:cxn ang="0">
                  <a:pos x="34" y="25"/>
                </a:cxn>
                <a:cxn ang="0">
                  <a:pos x="30" y="29"/>
                </a:cxn>
                <a:cxn ang="0">
                  <a:pos x="61" y="29"/>
                </a:cxn>
                <a:cxn ang="0">
                  <a:pos x="49" y="30"/>
                </a:cxn>
                <a:cxn ang="0">
                  <a:pos x="54" y="33"/>
                </a:cxn>
                <a:cxn ang="0">
                  <a:pos x="35" y="34"/>
                </a:cxn>
                <a:cxn ang="0">
                  <a:pos x="57" y="41"/>
                </a:cxn>
                <a:cxn ang="0">
                  <a:pos x="64" y="46"/>
                </a:cxn>
                <a:cxn ang="0">
                  <a:pos x="67" y="43"/>
                </a:cxn>
                <a:cxn ang="0">
                  <a:pos x="76" y="34"/>
                </a:cxn>
                <a:cxn ang="0">
                  <a:pos x="82" y="27"/>
                </a:cxn>
                <a:cxn ang="0">
                  <a:pos x="84" y="22"/>
                </a:cxn>
                <a:cxn ang="0">
                  <a:pos x="108" y="17"/>
                </a:cxn>
                <a:cxn ang="0">
                  <a:pos x="81" y="11"/>
                </a:cxn>
                <a:cxn ang="0">
                  <a:pos x="77" y="6"/>
                </a:cxn>
                <a:cxn ang="0">
                  <a:pos x="70" y="9"/>
                </a:cxn>
                <a:cxn ang="0">
                  <a:pos x="69" y="5"/>
                </a:cxn>
                <a:cxn ang="0">
                  <a:pos x="54" y="0"/>
                </a:cxn>
                <a:cxn ang="0">
                  <a:pos x="57" y="15"/>
                </a:cxn>
                <a:cxn ang="0">
                  <a:pos x="39" y="4"/>
                </a:cxn>
                <a:cxn ang="0">
                  <a:pos x="31" y="9"/>
                </a:cxn>
                <a:cxn ang="0">
                  <a:pos x="23" y="6"/>
                </a:cxn>
                <a:cxn ang="0">
                  <a:pos x="27" y="4"/>
                </a:cxn>
              </a:cxnLst>
              <a:rect l="0" t="0" r="r" b="b"/>
              <a:pathLst>
                <a:path w="108" h="46">
                  <a:moveTo>
                    <a:pt x="27" y="4"/>
                  </a:moveTo>
                  <a:lnTo>
                    <a:pt x="12" y="4"/>
                  </a:lnTo>
                  <a:lnTo>
                    <a:pt x="0" y="5"/>
                  </a:lnTo>
                  <a:lnTo>
                    <a:pt x="3" y="11"/>
                  </a:lnTo>
                  <a:lnTo>
                    <a:pt x="11" y="10"/>
                  </a:lnTo>
                  <a:lnTo>
                    <a:pt x="12" y="13"/>
                  </a:lnTo>
                  <a:lnTo>
                    <a:pt x="5" y="15"/>
                  </a:lnTo>
                  <a:lnTo>
                    <a:pt x="18" y="21"/>
                  </a:lnTo>
                  <a:lnTo>
                    <a:pt x="29" y="24"/>
                  </a:lnTo>
                  <a:lnTo>
                    <a:pt x="36" y="21"/>
                  </a:lnTo>
                  <a:lnTo>
                    <a:pt x="45" y="17"/>
                  </a:lnTo>
                  <a:lnTo>
                    <a:pt x="46" y="19"/>
                  </a:lnTo>
                  <a:lnTo>
                    <a:pt x="58" y="17"/>
                  </a:lnTo>
                  <a:lnTo>
                    <a:pt x="59" y="21"/>
                  </a:lnTo>
                  <a:lnTo>
                    <a:pt x="34" y="25"/>
                  </a:lnTo>
                  <a:lnTo>
                    <a:pt x="30" y="29"/>
                  </a:lnTo>
                  <a:lnTo>
                    <a:pt x="61" y="29"/>
                  </a:lnTo>
                  <a:lnTo>
                    <a:pt x="49" y="30"/>
                  </a:lnTo>
                  <a:lnTo>
                    <a:pt x="54" y="33"/>
                  </a:lnTo>
                  <a:lnTo>
                    <a:pt x="35" y="34"/>
                  </a:lnTo>
                  <a:lnTo>
                    <a:pt x="57" y="41"/>
                  </a:lnTo>
                  <a:lnTo>
                    <a:pt x="64" y="46"/>
                  </a:lnTo>
                  <a:lnTo>
                    <a:pt x="67" y="43"/>
                  </a:lnTo>
                  <a:lnTo>
                    <a:pt x="76" y="34"/>
                  </a:lnTo>
                  <a:lnTo>
                    <a:pt x="82" y="27"/>
                  </a:lnTo>
                  <a:lnTo>
                    <a:pt x="84" y="22"/>
                  </a:lnTo>
                  <a:lnTo>
                    <a:pt x="108" y="17"/>
                  </a:lnTo>
                  <a:lnTo>
                    <a:pt x="81" y="11"/>
                  </a:lnTo>
                  <a:lnTo>
                    <a:pt x="77" y="6"/>
                  </a:lnTo>
                  <a:lnTo>
                    <a:pt x="70" y="9"/>
                  </a:lnTo>
                  <a:lnTo>
                    <a:pt x="69" y="5"/>
                  </a:lnTo>
                  <a:lnTo>
                    <a:pt x="54" y="0"/>
                  </a:lnTo>
                  <a:lnTo>
                    <a:pt x="57" y="15"/>
                  </a:lnTo>
                  <a:lnTo>
                    <a:pt x="39" y="4"/>
                  </a:lnTo>
                  <a:lnTo>
                    <a:pt x="31" y="9"/>
                  </a:lnTo>
                  <a:lnTo>
                    <a:pt x="23" y="6"/>
                  </a:lnTo>
                  <a:lnTo>
                    <a:pt x="27"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9" name="Freeform 338"/>
            <p:cNvSpPr>
              <a:spLocks/>
            </p:cNvSpPr>
            <p:nvPr/>
          </p:nvSpPr>
          <p:spPr bwMode="auto">
            <a:xfrm>
              <a:off x="2731" y="1188"/>
              <a:ext cx="98" cy="15"/>
            </a:xfrm>
            <a:custGeom>
              <a:avLst/>
              <a:gdLst/>
              <a:ahLst/>
              <a:cxnLst>
                <a:cxn ang="0">
                  <a:pos x="40" y="5"/>
                </a:cxn>
                <a:cxn ang="0">
                  <a:pos x="14" y="2"/>
                </a:cxn>
                <a:cxn ang="0">
                  <a:pos x="10" y="3"/>
                </a:cxn>
                <a:cxn ang="0">
                  <a:pos x="0" y="5"/>
                </a:cxn>
                <a:cxn ang="0">
                  <a:pos x="0" y="6"/>
                </a:cxn>
                <a:cxn ang="0">
                  <a:pos x="36" y="9"/>
                </a:cxn>
                <a:cxn ang="0">
                  <a:pos x="19" y="11"/>
                </a:cxn>
                <a:cxn ang="0">
                  <a:pos x="47" y="15"/>
                </a:cxn>
                <a:cxn ang="0">
                  <a:pos x="77" y="14"/>
                </a:cxn>
                <a:cxn ang="0">
                  <a:pos x="89" y="6"/>
                </a:cxn>
                <a:cxn ang="0">
                  <a:pos x="82" y="4"/>
                </a:cxn>
                <a:cxn ang="0">
                  <a:pos x="53" y="3"/>
                </a:cxn>
                <a:cxn ang="0">
                  <a:pos x="49" y="3"/>
                </a:cxn>
                <a:cxn ang="0">
                  <a:pos x="43" y="0"/>
                </a:cxn>
                <a:cxn ang="0">
                  <a:pos x="41" y="3"/>
                </a:cxn>
                <a:cxn ang="0">
                  <a:pos x="40" y="5"/>
                </a:cxn>
              </a:cxnLst>
              <a:rect l="0" t="0" r="r" b="b"/>
              <a:pathLst>
                <a:path w="89" h="15">
                  <a:moveTo>
                    <a:pt x="40" y="5"/>
                  </a:moveTo>
                  <a:lnTo>
                    <a:pt x="14" y="2"/>
                  </a:lnTo>
                  <a:lnTo>
                    <a:pt x="10" y="3"/>
                  </a:lnTo>
                  <a:lnTo>
                    <a:pt x="0" y="5"/>
                  </a:lnTo>
                  <a:lnTo>
                    <a:pt x="0" y="6"/>
                  </a:lnTo>
                  <a:lnTo>
                    <a:pt x="36" y="9"/>
                  </a:lnTo>
                  <a:lnTo>
                    <a:pt x="19" y="11"/>
                  </a:lnTo>
                  <a:lnTo>
                    <a:pt x="47" y="15"/>
                  </a:lnTo>
                  <a:lnTo>
                    <a:pt x="77" y="14"/>
                  </a:lnTo>
                  <a:lnTo>
                    <a:pt x="89" y="6"/>
                  </a:lnTo>
                  <a:lnTo>
                    <a:pt x="82" y="4"/>
                  </a:lnTo>
                  <a:lnTo>
                    <a:pt x="53" y="3"/>
                  </a:lnTo>
                  <a:lnTo>
                    <a:pt x="49" y="3"/>
                  </a:lnTo>
                  <a:lnTo>
                    <a:pt x="43" y="0"/>
                  </a:lnTo>
                  <a:lnTo>
                    <a:pt x="41" y="3"/>
                  </a:lnTo>
                  <a:lnTo>
                    <a:pt x="40"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0" name="Freeform 339"/>
            <p:cNvSpPr>
              <a:spLocks/>
            </p:cNvSpPr>
            <p:nvPr/>
          </p:nvSpPr>
          <p:spPr bwMode="auto">
            <a:xfrm>
              <a:off x="2767" y="1221"/>
              <a:ext cx="46" cy="11"/>
            </a:xfrm>
            <a:custGeom>
              <a:avLst/>
              <a:gdLst/>
              <a:ahLst/>
              <a:cxnLst>
                <a:cxn ang="0">
                  <a:pos x="33" y="9"/>
                </a:cxn>
                <a:cxn ang="0">
                  <a:pos x="18" y="10"/>
                </a:cxn>
                <a:cxn ang="0">
                  <a:pos x="5" y="10"/>
                </a:cxn>
                <a:cxn ang="0">
                  <a:pos x="9" y="4"/>
                </a:cxn>
                <a:cxn ang="0">
                  <a:pos x="0" y="0"/>
                </a:cxn>
                <a:cxn ang="0">
                  <a:pos x="26" y="0"/>
                </a:cxn>
                <a:cxn ang="0">
                  <a:pos x="42" y="5"/>
                </a:cxn>
                <a:cxn ang="0">
                  <a:pos x="33" y="9"/>
                </a:cxn>
              </a:cxnLst>
              <a:rect l="0" t="0" r="r" b="b"/>
              <a:pathLst>
                <a:path w="42" h="10">
                  <a:moveTo>
                    <a:pt x="33" y="9"/>
                  </a:moveTo>
                  <a:lnTo>
                    <a:pt x="18" y="10"/>
                  </a:lnTo>
                  <a:lnTo>
                    <a:pt x="5" y="10"/>
                  </a:lnTo>
                  <a:lnTo>
                    <a:pt x="9" y="4"/>
                  </a:lnTo>
                  <a:lnTo>
                    <a:pt x="0" y="0"/>
                  </a:lnTo>
                  <a:lnTo>
                    <a:pt x="26" y="0"/>
                  </a:lnTo>
                  <a:lnTo>
                    <a:pt x="42" y="5"/>
                  </a:lnTo>
                  <a:lnTo>
                    <a:pt x="3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1" name="Freeform 340"/>
            <p:cNvSpPr>
              <a:spLocks/>
            </p:cNvSpPr>
            <p:nvPr/>
          </p:nvSpPr>
          <p:spPr bwMode="auto">
            <a:xfrm>
              <a:off x="2727" y="1368"/>
              <a:ext cx="15" cy="8"/>
            </a:xfrm>
            <a:custGeom>
              <a:avLst/>
              <a:gdLst/>
              <a:ahLst/>
              <a:cxnLst>
                <a:cxn ang="0">
                  <a:pos x="9" y="0"/>
                </a:cxn>
                <a:cxn ang="0">
                  <a:pos x="4" y="7"/>
                </a:cxn>
                <a:cxn ang="0">
                  <a:pos x="0" y="9"/>
                </a:cxn>
                <a:cxn ang="0">
                  <a:pos x="6" y="7"/>
                </a:cxn>
                <a:cxn ang="0">
                  <a:pos x="10" y="9"/>
                </a:cxn>
                <a:cxn ang="0">
                  <a:pos x="16" y="3"/>
                </a:cxn>
                <a:cxn ang="0">
                  <a:pos x="10" y="4"/>
                </a:cxn>
                <a:cxn ang="0">
                  <a:pos x="9" y="0"/>
                </a:cxn>
              </a:cxnLst>
              <a:rect l="0" t="0" r="r" b="b"/>
              <a:pathLst>
                <a:path w="16" h="9">
                  <a:moveTo>
                    <a:pt x="9" y="0"/>
                  </a:moveTo>
                  <a:lnTo>
                    <a:pt x="4" y="7"/>
                  </a:lnTo>
                  <a:lnTo>
                    <a:pt x="0" y="9"/>
                  </a:lnTo>
                  <a:lnTo>
                    <a:pt x="6" y="7"/>
                  </a:lnTo>
                  <a:lnTo>
                    <a:pt x="10" y="9"/>
                  </a:lnTo>
                  <a:lnTo>
                    <a:pt x="16" y="3"/>
                  </a:lnTo>
                  <a:lnTo>
                    <a:pt x="10" y="4"/>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2" name="Freeform 341"/>
            <p:cNvSpPr>
              <a:spLocks/>
            </p:cNvSpPr>
            <p:nvPr/>
          </p:nvSpPr>
          <p:spPr bwMode="auto">
            <a:xfrm>
              <a:off x="2796" y="1348"/>
              <a:ext cx="166" cy="177"/>
            </a:xfrm>
            <a:custGeom>
              <a:avLst/>
              <a:gdLst/>
              <a:ahLst/>
              <a:cxnLst>
                <a:cxn ang="0">
                  <a:pos x="127" y="87"/>
                </a:cxn>
                <a:cxn ang="0">
                  <a:pos x="122" y="82"/>
                </a:cxn>
                <a:cxn ang="0">
                  <a:pos x="121" y="67"/>
                </a:cxn>
                <a:cxn ang="0">
                  <a:pos x="106" y="51"/>
                </a:cxn>
                <a:cxn ang="0">
                  <a:pos x="114" y="39"/>
                </a:cxn>
                <a:cxn ang="0">
                  <a:pos x="96" y="29"/>
                </a:cxn>
                <a:cxn ang="0">
                  <a:pos x="96" y="19"/>
                </a:cxn>
                <a:cxn ang="0">
                  <a:pos x="96" y="16"/>
                </a:cxn>
                <a:cxn ang="0">
                  <a:pos x="96" y="6"/>
                </a:cxn>
                <a:cxn ang="0">
                  <a:pos x="76" y="0"/>
                </a:cxn>
                <a:cxn ang="0">
                  <a:pos x="60" y="7"/>
                </a:cxn>
                <a:cxn ang="0">
                  <a:pos x="56" y="18"/>
                </a:cxn>
                <a:cxn ang="0">
                  <a:pos x="49" y="22"/>
                </a:cxn>
                <a:cxn ang="0">
                  <a:pos x="33" y="22"/>
                </a:cxn>
                <a:cxn ang="0">
                  <a:pos x="20" y="19"/>
                </a:cxn>
                <a:cxn ang="0">
                  <a:pos x="7" y="11"/>
                </a:cxn>
                <a:cxn ang="0">
                  <a:pos x="0" y="16"/>
                </a:cxn>
                <a:cxn ang="0">
                  <a:pos x="33" y="30"/>
                </a:cxn>
                <a:cxn ang="0">
                  <a:pos x="45" y="51"/>
                </a:cxn>
                <a:cxn ang="0">
                  <a:pos x="51" y="66"/>
                </a:cxn>
                <a:cxn ang="0">
                  <a:pos x="56" y="65"/>
                </a:cxn>
                <a:cxn ang="0">
                  <a:pos x="62" y="69"/>
                </a:cxn>
                <a:cxn ang="0">
                  <a:pos x="66" y="81"/>
                </a:cxn>
                <a:cxn ang="0">
                  <a:pos x="44" y="96"/>
                </a:cxn>
                <a:cxn ang="0">
                  <a:pos x="36" y="105"/>
                </a:cxn>
                <a:cxn ang="0">
                  <a:pos x="26" y="109"/>
                </a:cxn>
                <a:cxn ang="0">
                  <a:pos x="28" y="127"/>
                </a:cxn>
                <a:cxn ang="0">
                  <a:pos x="32" y="148"/>
                </a:cxn>
                <a:cxn ang="0">
                  <a:pos x="45" y="153"/>
                </a:cxn>
                <a:cxn ang="0">
                  <a:pos x="46" y="155"/>
                </a:cxn>
                <a:cxn ang="0">
                  <a:pos x="51" y="154"/>
                </a:cxn>
                <a:cxn ang="0">
                  <a:pos x="56" y="161"/>
                </a:cxn>
                <a:cxn ang="0">
                  <a:pos x="60" y="159"/>
                </a:cxn>
                <a:cxn ang="0">
                  <a:pos x="91" y="153"/>
                </a:cxn>
                <a:cxn ang="0">
                  <a:pos x="97" y="150"/>
                </a:cxn>
                <a:cxn ang="0">
                  <a:pos x="114" y="150"/>
                </a:cxn>
                <a:cxn ang="0">
                  <a:pos x="123" y="141"/>
                </a:cxn>
                <a:cxn ang="0">
                  <a:pos x="133" y="131"/>
                </a:cxn>
                <a:cxn ang="0">
                  <a:pos x="141" y="121"/>
                </a:cxn>
                <a:cxn ang="0">
                  <a:pos x="151" y="112"/>
                </a:cxn>
                <a:cxn ang="0">
                  <a:pos x="128" y="99"/>
                </a:cxn>
                <a:cxn ang="0">
                  <a:pos x="134" y="94"/>
                </a:cxn>
                <a:cxn ang="0">
                  <a:pos x="127" y="87"/>
                </a:cxn>
              </a:cxnLst>
              <a:rect l="0" t="0" r="r" b="b"/>
              <a:pathLst>
                <a:path w="151" h="161">
                  <a:moveTo>
                    <a:pt x="127" y="87"/>
                  </a:moveTo>
                  <a:lnTo>
                    <a:pt x="122" y="82"/>
                  </a:lnTo>
                  <a:lnTo>
                    <a:pt x="121" y="67"/>
                  </a:lnTo>
                  <a:lnTo>
                    <a:pt x="106" y="51"/>
                  </a:lnTo>
                  <a:lnTo>
                    <a:pt x="114" y="39"/>
                  </a:lnTo>
                  <a:lnTo>
                    <a:pt x="96" y="29"/>
                  </a:lnTo>
                  <a:lnTo>
                    <a:pt x="96" y="19"/>
                  </a:lnTo>
                  <a:lnTo>
                    <a:pt x="96" y="16"/>
                  </a:lnTo>
                  <a:lnTo>
                    <a:pt x="96" y="6"/>
                  </a:lnTo>
                  <a:lnTo>
                    <a:pt x="76" y="0"/>
                  </a:lnTo>
                  <a:lnTo>
                    <a:pt x="60" y="7"/>
                  </a:lnTo>
                  <a:lnTo>
                    <a:pt x="56" y="18"/>
                  </a:lnTo>
                  <a:lnTo>
                    <a:pt x="49" y="22"/>
                  </a:lnTo>
                  <a:lnTo>
                    <a:pt x="33" y="22"/>
                  </a:lnTo>
                  <a:lnTo>
                    <a:pt x="20" y="19"/>
                  </a:lnTo>
                  <a:lnTo>
                    <a:pt x="7" y="11"/>
                  </a:lnTo>
                  <a:lnTo>
                    <a:pt x="0" y="16"/>
                  </a:lnTo>
                  <a:lnTo>
                    <a:pt x="33" y="30"/>
                  </a:lnTo>
                  <a:lnTo>
                    <a:pt x="45" y="51"/>
                  </a:lnTo>
                  <a:lnTo>
                    <a:pt x="51" y="66"/>
                  </a:lnTo>
                  <a:lnTo>
                    <a:pt x="56" y="65"/>
                  </a:lnTo>
                  <a:lnTo>
                    <a:pt x="62" y="69"/>
                  </a:lnTo>
                  <a:lnTo>
                    <a:pt x="66" y="81"/>
                  </a:lnTo>
                  <a:lnTo>
                    <a:pt x="44" y="96"/>
                  </a:lnTo>
                  <a:lnTo>
                    <a:pt x="36" y="105"/>
                  </a:lnTo>
                  <a:lnTo>
                    <a:pt x="26" y="109"/>
                  </a:lnTo>
                  <a:lnTo>
                    <a:pt x="28" y="127"/>
                  </a:lnTo>
                  <a:lnTo>
                    <a:pt x="32" y="148"/>
                  </a:lnTo>
                  <a:lnTo>
                    <a:pt x="45" y="153"/>
                  </a:lnTo>
                  <a:lnTo>
                    <a:pt x="46" y="155"/>
                  </a:lnTo>
                  <a:lnTo>
                    <a:pt x="51" y="154"/>
                  </a:lnTo>
                  <a:lnTo>
                    <a:pt x="56" y="161"/>
                  </a:lnTo>
                  <a:lnTo>
                    <a:pt x="60" y="159"/>
                  </a:lnTo>
                  <a:lnTo>
                    <a:pt x="91" y="153"/>
                  </a:lnTo>
                  <a:lnTo>
                    <a:pt x="97" y="150"/>
                  </a:lnTo>
                  <a:lnTo>
                    <a:pt x="114" y="150"/>
                  </a:lnTo>
                  <a:lnTo>
                    <a:pt x="123" y="141"/>
                  </a:lnTo>
                  <a:lnTo>
                    <a:pt x="133" y="131"/>
                  </a:lnTo>
                  <a:lnTo>
                    <a:pt x="141" y="121"/>
                  </a:lnTo>
                  <a:lnTo>
                    <a:pt x="151" y="112"/>
                  </a:lnTo>
                  <a:lnTo>
                    <a:pt x="128" y="99"/>
                  </a:lnTo>
                  <a:lnTo>
                    <a:pt x="134" y="94"/>
                  </a:lnTo>
                  <a:lnTo>
                    <a:pt x="127"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3" name="Freeform 342"/>
            <p:cNvSpPr>
              <a:spLocks/>
            </p:cNvSpPr>
            <p:nvPr/>
          </p:nvSpPr>
          <p:spPr bwMode="auto">
            <a:xfrm>
              <a:off x="2680" y="1763"/>
              <a:ext cx="2" cy="5"/>
            </a:xfrm>
            <a:custGeom>
              <a:avLst/>
              <a:gdLst/>
              <a:ahLst/>
              <a:cxnLst>
                <a:cxn ang="0">
                  <a:pos x="0" y="0"/>
                </a:cxn>
                <a:cxn ang="0">
                  <a:pos x="0" y="3"/>
                </a:cxn>
                <a:cxn ang="0">
                  <a:pos x="1" y="3"/>
                </a:cxn>
                <a:cxn ang="0">
                  <a:pos x="0" y="0"/>
                </a:cxn>
              </a:cxnLst>
              <a:rect l="0" t="0" r="r" b="b"/>
              <a:pathLst>
                <a:path w="1" h="3">
                  <a:moveTo>
                    <a:pt x="0" y="0"/>
                  </a:moveTo>
                  <a:lnTo>
                    <a:pt x="0" y="3"/>
                  </a:lnTo>
                  <a:lnTo>
                    <a:pt x="1" y="3"/>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4" name="Freeform 343"/>
            <p:cNvSpPr>
              <a:spLocks/>
            </p:cNvSpPr>
            <p:nvPr/>
          </p:nvSpPr>
          <p:spPr bwMode="auto">
            <a:xfrm>
              <a:off x="2680" y="1732"/>
              <a:ext cx="118" cy="49"/>
            </a:xfrm>
            <a:custGeom>
              <a:avLst/>
              <a:gdLst/>
              <a:ahLst/>
              <a:cxnLst>
                <a:cxn ang="0">
                  <a:pos x="39" y="35"/>
                </a:cxn>
                <a:cxn ang="0">
                  <a:pos x="23" y="37"/>
                </a:cxn>
                <a:cxn ang="0">
                  <a:pos x="15" y="36"/>
                </a:cxn>
                <a:cxn ang="0">
                  <a:pos x="3" y="32"/>
                </a:cxn>
                <a:cxn ang="0">
                  <a:pos x="1" y="32"/>
                </a:cxn>
                <a:cxn ang="0">
                  <a:pos x="0" y="29"/>
                </a:cxn>
                <a:cxn ang="0">
                  <a:pos x="1" y="25"/>
                </a:cxn>
                <a:cxn ang="0">
                  <a:pos x="11" y="26"/>
                </a:cxn>
                <a:cxn ang="0">
                  <a:pos x="13" y="28"/>
                </a:cxn>
                <a:cxn ang="0">
                  <a:pos x="17" y="24"/>
                </a:cxn>
                <a:cxn ang="0">
                  <a:pos x="29" y="24"/>
                </a:cxn>
                <a:cxn ang="0">
                  <a:pos x="46" y="24"/>
                </a:cxn>
                <a:cxn ang="0">
                  <a:pos x="51" y="22"/>
                </a:cxn>
                <a:cxn ang="0">
                  <a:pos x="48" y="13"/>
                </a:cxn>
                <a:cxn ang="0">
                  <a:pos x="59" y="4"/>
                </a:cxn>
                <a:cxn ang="0">
                  <a:pos x="67" y="7"/>
                </a:cxn>
                <a:cxn ang="0">
                  <a:pos x="75" y="0"/>
                </a:cxn>
                <a:cxn ang="0">
                  <a:pos x="97" y="4"/>
                </a:cxn>
                <a:cxn ang="0">
                  <a:pos x="107" y="17"/>
                </a:cxn>
                <a:cxn ang="0">
                  <a:pos x="101" y="22"/>
                </a:cxn>
                <a:cxn ang="0">
                  <a:pos x="100" y="23"/>
                </a:cxn>
                <a:cxn ang="0">
                  <a:pos x="95" y="35"/>
                </a:cxn>
                <a:cxn ang="0">
                  <a:pos x="94" y="36"/>
                </a:cxn>
                <a:cxn ang="0">
                  <a:pos x="66" y="43"/>
                </a:cxn>
                <a:cxn ang="0">
                  <a:pos x="60" y="42"/>
                </a:cxn>
                <a:cxn ang="0">
                  <a:pos x="39" y="35"/>
                </a:cxn>
              </a:cxnLst>
              <a:rect l="0" t="0" r="r" b="b"/>
              <a:pathLst>
                <a:path w="107" h="43">
                  <a:moveTo>
                    <a:pt x="39" y="35"/>
                  </a:moveTo>
                  <a:lnTo>
                    <a:pt x="23" y="37"/>
                  </a:lnTo>
                  <a:lnTo>
                    <a:pt x="15" y="36"/>
                  </a:lnTo>
                  <a:lnTo>
                    <a:pt x="3" y="32"/>
                  </a:lnTo>
                  <a:lnTo>
                    <a:pt x="1" y="32"/>
                  </a:lnTo>
                  <a:lnTo>
                    <a:pt x="0" y="29"/>
                  </a:lnTo>
                  <a:lnTo>
                    <a:pt x="1" y="25"/>
                  </a:lnTo>
                  <a:lnTo>
                    <a:pt x="11" y="26"/>
                  </a:lnTo>
                  <a:lnTo>
                    <a:pt x="13" y="28"/>
                  </a:lnTo>
                  <a:lnTo>
                    <a:pt x="17" y="24"/>
                  </a:lnTo>
                  <a:lnTo>
                    <a:pt x="29" y="24"/>
                  </a:lnTo>
                  <a:lnTo>
                    <a:pt x="46" y="24"/>
                  </a:lnTo>
                  <a:lnTo>
                    <a:pt x="51" y="22"/>
                  </a:lnTo>
                  <a:lnTo>
                    <a:pt x="48" y="13"/>
                  </a:lnTo>
                  <a:lnTo>
                    <a:pt x="59" y="4"/>
                  </a:lnTo>
                  <a:lnTo>
                    <a:pt x="67" y="7"/>
                  </a:lnTo>
                  <a:lnTo>
                    <a:pt x="75" y="0"/>
                  </a:lnTo>
                  <a:lnTo>
                    <a:pt x="97" y="4"/>
                  </a:lnTo>
                  <a:lnTo>
                    <a:pt x="107" y="17"/>
                  </a:lnTo>
                  <a:lnTo>
                    <a:pt x="101" y="22"/>
                  </a:lnTo>
                  <a:lnTo>
                    <a:pt x="100" y="23"/>
                  </a:lnTo>
                  <a:lnTo>
                    <a:pt x="95" y="35"/>
                  </a:lnTo>
                  <a:lnTo>
                    <a:pt x="94" y="36"/>
                  </a:lnTo>
                  <a:lnTo>
                    <a:pt x="66" y="43"/>
                  </a:lnTo>
                  <a:lnTo>
                    <a:pt x="60" y="42"/>
                  </a:lnTo>
                  <a:lnTo>
                    <a:pt x="39" y="3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5" name="Freeform 344"/>
            <p:cNvSpPr>
              <a:spLocks/>
            </p:cNvSpPr>
            <p:nvPr/>
          </p:nvSpPr>
          <p:spPr bwMode="auto">
            <a:xfrm>
              <a:off x="2780" y="1803"/>
              <a:ext cx="62" cy="53"/>
            </a:xfrm>
            <a:custGeom>
              <a:avLst/>
              <a:gdLst/>
              <a:ahLst/>
              <a:cxnLst>
                <a:cxn ang="0">
                  <a:pos x="51" y="6"/>
                </a:cxn>
                <a:cxn ang="0">
                  <a:pos x="52" y="8"/>
                </a:cxn>
                <a:cxn ang="0">
                  <a:pos x="51" y="11"/>
                </a:cxn>
                <a:cxn ang="0">
                  <a:pos x="48" y="14"/>
                </a:cxn>
                <a:cxn ang="0">
                  <a:pos x="48" y="15"/>
                </a:cxn>
                <a:cxn ang="0">
                  <a:pos x="51" y="18"/>
                </a:cxn>
                <a:cxn ang="0">
                  <a:pos x="57" y="21"/>
                </a:cxn>
                <a:cxn ang="0">
                  <a:pos x="52" y="24"/>
                </a:cxn>
                <a:cxn ang="0">
                  <a:pos x="56" y="26"/>
                </a:cxn>
                <a:cxn ang="0">
                  <a:pos x="56" y="30"/>
                </a:cxn>
                <a:cxn ang="0">
                  <a:pos x="47" y="31"/>
                </a:cxn>
                <a:cxn ang="0">
                  <a:pos x="51" y="35"/>
                </a:cxn>
                <a:cxn ang="0">
                  <a:pos x="50" y="36"/>
                </a:cxn>
                <a:cxn ang="0">
                  <a:pos x="47" y="35"/>
                </a:cxn>
                <a:cxn ang="0">
                  <a:pos x="44" y="39"/>
                </a:cxn>
                <a:cxn ang="0">
                  <a:pos x="41" y="41"/>
                </a:cxn>
                <a:cxn ang="0">
                  <a:pos x="45" y="45"/>
                </a:cxn>
                <a:cxn ang="0">
                  <a:pos x="41" y="47"/>
                </a:cxn>
                <a:cxn ang="0">
                  <a:pos x="39" y="45"/>
                </a:cxn>
                <a:cxn ang="0">
                  <a:pos x="34" y="43"/>
                </a:cxn>
                <a:cxn ang="0">
                  <a:pos x="30" y="41"/>
                </a:cxn>
                <a:cxn ang="0">
                  <a:pos x="30" y="39"/>
                </a:cxn>
                <a:cxn ang="0">
                  <a:pos x="24" y="35"/>
                </a:cxn>
                <a:cxn ang="0">
                  <a:pos x="23" y="32"/>
                </a:cxn>
                <a:cxn ang="0">
                  <a:pos x="20" y="30"/>
                </a:cxn>
                <a:cxn ang="0">
                  <a:pos x="9" y="20"/>
                </a:cxn>
                <a:cxn ang="0">
                  <a:pos x="9" y="19"/>
                </a:cxn>
                <a:cxn ang="0">
                  <a:pos x="6" y="18"/>
                </a:cxn>
                <a:cxn ang="0">
                  <a:pos x="4" y="11"/>
                </a:cxn>
                <a:cxn ang="0">
                  <a:pos x="0" y="8"/>
                </a:cxn>
                <a:cxn ang="0">
                  <a:pos x="0" y="1"/>
                </a:cxn>
                <a:cxn ang="0">
                  <a:pos x="4" y="0"/>
                </a:cxn>
                <a:cxn ang="0">
                  <a:pos x="8" y="5"/>
                </a:cxn>
                <a:cxn ang="0">
                  <a:pos x="11" y="0"/>
                </a:cxn>
                <a:cxn ang="0">
                  <a:pos x="16" y="0"/>
                </a:cxn>
                <a:cxn ang="0">
                  <a:pos x="20" y="1"/>
                </a:cxn>
                <a:cxn ang="0">
                  <a:pos x="30" y="3"/>
                </a:cxn>
                <a:cxn ang="0">
                  <a:pos x="32" y="1"/>
                </a:cxn>
                <a:cxn ang="0">
                  <a:pos x="34" y="2"/>
                </a:cxn>
                <a:cxn ang="0">
                  <a:pos x="35" y="2"/>
                </a:cxn>
                <a:cxn ang="0">
                  <a:pos x="39" y="2"/>
                </a:cxn>
                <a:cxn ang="0">
                  <a:pos x="41" y="2"/>
                </a:cxn>
                <a:cxn ang="0">
                  <a:pos x="44" y="6"/>
                </a:cxn>
                <a:cxn ang="0">
                  <a:pos x="47" y="6"/>
                </a:cxn>
                <a:cxn ang="0">
                  <a:pos x="51" y="6"/>
                </a:cxn>
              </a:cxnLst>
              <a:rect l="0" t="0" r="r" b="b"/>
              <a:pathLst>
                <a:path w="57" h="47">
                  <a:moveTo>
                    <a:pt x="51" y="6"/>
                  </a:moveTo>
                  <a:lnTo>
                    <a:pt x="52" y="8"/>
                  </a:lnTo>
                  <a:lnTo>
                    <a:pt x="51" y="11"/>
                  </a:lnTo>
                  <a:lnTo>
                    <a:pt x="48" y="14"/>
                  </a:lnTo>
                  <a:lnTo>
                    <a:pt x="48" y="15"/>
                  </a:lnTo>
                  <a:lnTo>
                    <a:pt x="51" y="18"/>
                  </a:lnTo>
                  <a:lnTo>
                    <a:pt x="57" y="21"/>
                  </a:lnTo>
                  <a:lnTo>
                    <a:pt x="52" y="24"/>
                  </a:lnTo>
                  <a:lnTo>
                    <a:pt x="56" y="26"/>
                  </a:lnTo>
                  <a:lnTo>
                    <a:pt x="56" y="30"/>
                  </a:lnTo>
                  <a:lnTo>
                    <a:pt x="47" y="31"/>
                  </a:lnTo>
                  <a:lnTo>
                    <a:pt x="51" y="35"/>
                  </a:lnTo>
                  <a:lnTo>
                    <a:pt x="50" y="36"/>
                  </a:lnTo>
                  <a:lnTo>
                    <a:pt x="47" y="35"/>
                  </a:lnTo>
                  <a:lnTo>
                    <a:pt x="44" y="39"/>
                  </a:lnTo>
                  <a:lnTo>
                    <a:pt x="41" y="41"/>
                  </a:lnTo>
                  <a:lnTo>
                    <a:pt x="45" y="45"/>
                  </a:lnTo>
                  <a:lnTo>
                    <a:pt x="41" y="47"/>
                  </a:lnTo>
                  <a:lnTo>
                    <a:pt x="39" y="45"/>
                  </a:lnTo>
                  <a:lnTo>
                    <a:pt x="34" y="43"/>
                  </a:lnTo>
                  <a:lnTo>
                    <a:pt x="30" y="41"/>
                  </a:lnTo>
                  <a:lnTo>
                    <a:pt x="30" y="39"/>
                  </a:lnTo>
                  <a:lnTo>
                    <a:pt x="24" y="35"/>
                  </a:lnTo>
                  <a:lnTo>
                    <a:pt x="23" y="32"/>
                  </a:lnTo>
                  <a:lnTo>
                    <a:pt x="20" y="30"/>
                  </a:lnTo>
                  <a:lnTo>
                    <a:pt x="9" y="20"/>
                  </a:lnTo>
                  <a:lnTo>
                    <a:pt x="9" y="19"/>
                  </a:lnTo>
                  <a:lnTo>
                    <a:pt x="6" y="18"/>
                  </a:lnTo>
                  <a:lnTo>
                    <a:pt x="4" y="11"/>
                  </a:lnTo>
                  <a:lnTo>
                    <a:pt x="0" y="8"/>
                  </a:lnTo>
                  <a:lnTo>
                    <a:pt x="0" y="1"/>
                  </a:lnTo>
                  <a:lnTo>
                    <a:pt x="4" y="0"/>
                  </a:lnTo>
                  <a:lnTo>
                    <a:pt x="8" y="5"/>
                  </a:lnTo>
                  <a:lnTo>
                    <a:pt x="11" y="0"/>
                  </a:lnTo>
                  <a:lnTo>
                    <a:pt x="16" y="0"/>
                  </a:lnTo>
                  <a:lnTo>
                    <a:pt x="20" y="1"/>
                  </a:lnTo>
                  <a:lnTo>
                    <a:pt x="30" y="3"/>
                  </a:lnTo>
                  <a:lnTo>
                    <a:pt x="32" y="1"/>
                  </a:lnTo>
                  <a:lnTo>
                    <a:pt x="34" y="2"/>
                  </a:lnTo>
                  <a:lnTo>
                    <a:pt x="35" y="2"/>
                  </a:lnTo>
                  <a:lnTo>
                    <a:pt x="39" y="2"/>
                  </a:lnTo>
                  <a:lnTo>
                    <a:pt x="41" y="2"/>
                  </a:lnTo>
                  <a:lnTo>
                    <a:pt x="44" y="6"/>
                  </a:lnTo>
                  <a:lnTo>
                    <a:pt x="47" y="6"/>
                  </a:lnTo>
                  <a:lnTo>
                    <a:pt x="5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6" name="Freeform 345"/>
            <p:cNvSpPr>
              <a:spLocks/>
            </p:cNvSpPr>
            <p:nvPr/>
          </p:nvSpPr>
          <p:spPr bwMode="auto">
            <a:xfrm>
              <a:off x="2747" y="1776"/>
              <a:ext cx="91" cy="74"/>
            </a:xfrm>
            <a:custGeom>
              <a:avLst/>
              <a:gdLst/>
              <a:ahLst/>
              <a:cxnLst>
                <a:cxn ang="0">
                  <a:pos x="74" y="30"/>
                </a:cxn>
                <a:cxn ang="0">
                  <a:pos x="77" y="30"/>
                </a:cxn>
                <a:cxn ang="0">
                  <a:pos x="78" y="26"/>
                </a:cxn>
                <a:cxn ang="0">
                  <a:pos x="82" y="25"/>
                </a:cxn>
                <a:cxn ang="0">
                  <a:pos x="82" y="24"/>
                </a:cxn>
                <a:cxn ang="0">
                  <a:pos x="77" y="23"/>
                </a:cxn>
                <a:cxn ang="0">
                  <a:pos x="76" y="21"/>
                </a:cxn>
                <a:cxn ang="0">
                  <a:pos x="77" y="19"/>
                </a:cxn>
                <a:cxn ang="0">
                  <a:pos x="76" y="19"/>
                </a:cxn>
                <a:cxn ang="0">
                  <a:pos x="72" y="13"/>
                </a:cxn>
                <a:cxn ang="0">
                  <a:pos x="51" y="11"/>
                </a:cxn>
                <a:cxn ang="0">
                  <a:pos x="39" y="0"/>
                </a:cxn>
                <a:cxn ang="0">
                  <a:pos x="38" y="1"/>
                </a:cxn>
                <a:cxn ang="0">
                  <a:pos x="36" y="2"/>
                </a:cxn>
                <a:cxn ang="0">
                  <a:pos x="36" y="3"/>
                </a:cxn>
                <a:cxn ang="0">
                  <a:pos x="32" y="3"/>
                </a:cxn>
                <a:cxn ang="0">
                  <a:pos x="30" y="5"/>
                </a:cxn>
                <a:cxn ang="0">
                  <a:pos x="26" y="6"/>
                </a:cxn>
                <a:cxn ang="0">
                  <a:pos x="27" y="9"/>
                </a:cxn>
                <a:cxn ang="0">
                  <a:pos x="27" y="11"/>
                </a:cxn>
                <a:cxn ang="0">
                  <a:pos x="29" y="13"/>
                </a:cxn>
                <a:cxn ang="0">
                  <a:pos x="27" y="13"/>
                </a:cxn>
                <a:cxn ang="0">
                  <a:pos x="22" y="15"/>
                </a:cxn>
                <a:cxn ang="0">
                  <a:pos x="22" y="17"/>
                </a:cxn>
                <a:cxn ang="0">
                  <a:pos x="23" y="20"/>
                </a:cxn>
                <a:cxn ang="0">
                  <a:pos x="20" y="20"/>
                </a:cxn>
                <a:cxn ang="0">
                  <a:pos x="16" y="18"/>
                </a:cxn>
                <a:cxn ang="0">
                  <a:pos x="15" y="19"/>
                </a:cxn>
                <a:cxn ang="0">
                  <a:pos x="12" y="17"/>
                </a:cxn>
                <a:cxn ang="0">
                  <a:pos x="10" y="20"/>
                </a:cxn>
                <a:cxn ang="0">
                  <a:pos x="4" y="20"/>
                </a:cxn>
                <a:cxn ang="0">
                  <a:pos x="0" y="18"/>
                </a:cxn>
                <a:cxn ang="0">
                  <a:pos x="3" y="24"/>
                </a:cxn>
                <a:cxn ang="0">
                  <a:pos x="6" y="29"/>
                </a:cxn>
                <a:cxn ang="0">
                  <a:pos x="10" y="25"/>
                </a:cxn>
                <a:cxn ang="0">
                  <a:pos x="21" y="42"/>
                </a:cxn>
                <a:cxn ang="0">
                  <a:pos x="26" y="47"/>
                </a:cxn>
                <a:cxn ang="0">
                  <a:pos x="39" y="55"/>
                </a:cxn>
                <a:cxn ang="0">
                  <a:pos x="57" y="65"/>
                </a:cxn>
                <a:cxn ang="0">
                  <a:pos x="59" y="65"/>
                </a:cxn>
                <a:cxn ang="0">
                  <a:pos x="60" y="65"/>
                </a:cxn>
                <a:cxn ang="0">
                  <a:pos x="60" y="63"/>
                </a:cxn>
                <a:cxn ang="0">
                  <a:pos x="54" y="59"/>
                </a:cxn>
                <a:cxn ang="0">
                  <a:pos x="53" y="56"/>
                </a:cxn>
                <a:cxn ang="0">
                  <a:pos x="50" y="54"/>
                </a:cxn>
                <a:cxn ang="0">
                  <a:pos x="39" y="44"/>
                </a:cxn>
                <a:cxn ang="0">
                  <a:pos x="39" y="43"/>
                </a:cxn>
                <a:cxn ang="0">
                  <a:pos x="36" y="42"/>
                </a:cxn>
                <a:cxn ang="0">
                  <a:pos x="34" y="35"/>
                </a:cxn>
                <a:cxn ang="0">
                  <a:pos x="30" y="32"/>
                </a:cxn>
                <a:cxn ang="0">
                  <a:pos x="30" y="25"/>
                </a:cxn>
                <a:cxn ang="0">
                  <a:pos x="34" y="24"/>
                </a:cxn>
                <a:cxn ang="0">
                  <a:pos x="38" y="29"/>
                </a:cxn>
                <a:cxn ang="0">
                  <a:pos x="41" y="24"/>
                </a:cxn>
                <a:cxn ang="0">
                  <a:pos x="46" y="24"/>
                </a:cxn>
                <a:cxn ang="0">
                  <a:pos x="50" y="25"/>
                </a:cxn>
                <a:cxn ang="0">
                  <a:pos x="60" y="27"/>
                </a:cxn>
                <a:cxn ang="0">
                  <a:pos x="62" y="25"/>
                </a:cxn>
                <a:cxn ang="0">
                  <a:pos x="64" y="26"/>
                </a:cxn>
                <a:cxn ang="0">
                  <a:pos x="65" y="26"/>
                </a:cxn>
                <a:cxn ang="0">
                  <a:pos x="69" y="26"/>
                </a:cxn>
                <a:cxn ang="0">
                  <a:pos x="71" y="26"/>
                </a:cxn>
                <a:cxn ang="0">
                  <a:pos x="74" y="30"/>
                </a:cxn>
              </a:cxnLst>
              <a:rect l="0" t="0" r="r" b="b"/>
              <a:pathLst>
                <a:path w="82" h="65">
                  <a:moveTo>
                    <a:pt x="74" y="30"/>
                  </a:moveTo>
                  <a:lnTo>
                    <a:pt x="77" y="30"/>
                  </a:lnTo>
                  <a:lnTo>
                    <a:pt x="78" y="26"/>
                  </a:lnTo>
                  <a:lnTo>
                    <a:pt x="82" y="25"/>
                  </a:lnTo>
                  <a:lnTo>
                    <a:pt x="82" y="24"/>
                  </a:lnTo>
                  <a:lnTo>
                    <a:pt x="77" y="23"/>
                  </a:lnTo>
                  <a:lnTo>
                    <a:pt x="76" y="21"/>
                  </a:lnTo>
                  <a:lnTo>
                    <a:pt x="77" y="19"/>
                  </a:lnTo>
                  <a:lnTo>
                    <a:pt x="76" y="19"/>
                  </a:lnTo>
                  <a:lnTo>
                    <a:pt x="72" y="13"/>
                  </a:lnTo>
                  <a:lnTo>
                    <a:pt x="51" y="11"/>
                  </a:lnTo>
                  <a:lnTo>
                    <a:pt x="39" y="0"/>
                  </a:lnTo>
                  <a:lnTo>
                    <a:pt x="38" y="1"/>
                  </a:lnTo>
                  <a:lnTo>
                    <a:pt x="36" y="2"/>
                  </a:lnTo>
                  <a:lnTo>
                    <a:pt x="36" y="3"/>
                  </a:lnTo>
                  <a:lnTo>
                    <a:pt x="32" y="3"/>
                  </a:lnTo>
                  <a:lnTo>
                    <a:pt x="30" y="5"/>
                  </a:lnTo>
                  <a:lnTo>
                    <a:pt x="26" y="6"/>
                  </a:lnTo>
                  <a:lnTo>
                    <a:pt x="27" y="9"/>
                  </a:lnTo>
                  <a:lnTo>
                    <a:pt x="27" y="11"/>
                  </a:lnTo>
                  <a:lnTo>
                    <a:pt x="29" y="13"/>
                  </a:lnTo>
                  <a:lnTo>
                    <a:pt x="27" y="13"/>
                  </a:lnTo>
                  <a:lnTo>
                    <a:pt x="22" y="15"/>
                  </a:lnTo>
                  <a:lnTo>
                    <a:pt x="22" y="17"/>
                  </a:lnTo>
                  <a:lnTo>
                    <a:pt x="23" y="20"/>
                  </a:lnTo>
                  <a:lnTo>
                    <a:pt x="20" y="20"/>
                  </a:lnTo>
                  <a:lnTo>
                    <a:pt x="16" y="18"/>
                  </a:lnTo>
                  <a:lnTo>
                    <a:pt x="15" y="19"/>
                  </a:lnTo>
                  <a:lnTo>
                    <a:pt x="12" y="17"/>
                  </a:lnTo>
                  <a:lnTo>
                    <a:pt x="10" y="20"/>
                  </a:lnTo>
                  <a:lnTo>
                    <a:pt x="4" y="20"/>
                  </a:lnTo>
                  <a:lnTo>
                    <a:pt x="0" y="18"/>
                  </a:lnTo>
                  <a:lnTo>
                    <a:pt x="3" y="24"/>
                  </a:lnTo>
                  <a:lnTo>
                    <a:pt x="6" y="29"/>
                  </a:lnTo>
                  <a:lnTo>
                    <a:pt x="10" y="25"/>
                  </a:lnTo>
                  <a:lnTo>
                    <a:pt x="21" y="42"/>
                  </a:lnTo>
                  <a:lnTo>
                    <a:pt x="26" y="47"/>
                  </a:lnTo>
                  <a:lnTo>
                    <a:pt x="39" y="55"/>
                  </a:lnTo>
                  <a:lnTo>
                    <a:pt x="57" y="65"/>
                  </a:lnTo>
                  <a:lnTo>
                    <a:pt x="59" y="65"/>
                  </a:lnTo>
                  <a:lnTo>
                    <a:pt x="60" y="65"/>
                  </a:lnTo>
                  <a:lnTo>
                    <a:pt x="60" y="63"/>
                  </a:lnTo>
                  <a:lnTo>
                    <a:pt x="54" y="59"/>
                  </a:lnTo>
                  <a:lnTo>
                    <a:pt x="53" y="56"/>
                  </a:lnTo>
                  <a:lnTo>
                    <a:pt x="50" y="54"/>
                  </a:lnTo>
                  <a:lnTo>
                    <a:pt x="39" y="44"/>
                  </a:lnTo>
                  <a:lnTo>
                    <a:pt x="39" y="43"/>
                  </a:lnTo>
                  <a:lnTo>
                    <a:pt x="36" y="42"/>
                  </a:lnTo>
                  <a:lnTo>
                    <a:pt x="34" y="35"/>
                  </a:lnTo>
                  <a:lnTo>
                    <a:pt x="30" y="32"/>
                  </a:lnTo>
                  <a:lnTo>
                    <a:pt x="30" y="25"/>
                  </a:lnTo>
                  <a:lnTo>
                    <a:pt x="34" y="24"/>
                  </a:lnTo>
                  <a:lnTo>
                    <a:pt x="38" y="29"/>
                  </a:lnTo>
                  <a:lnTo>
                    <a:pt x="41" y="24"/>
                  </a:lnTo>
                  <a:lnTo>
                    <a:pt x="46" y="24"/>
                  </a:lnTo>
                  <a:lnTo>
                    <a:pt x="50" y="25"/>
                  </a:lnTo>
                  <a:lnTo>
                    <a:pt x="60" y="27"/>
                  </a:lnTo>
                  <a:lnTo>
                    <a:pt x="62" y="25"/>
                  </a:lnTo>
                  <a:lnTo>
                    <a:pt x="64" y="26"/>
                  </a:lnTo>
                  <a:lnTo>
                    <a:pt x="65" y="26"/>
                  </a:lnTo>
                  <a:lnTo>
                    <a:pt x="69" y="26"/>
                  </a:lnTo>
                  <a:lnTo>
                    <a:pt x="71" y="26"/>
                  </a:lnTo>
                  <a:lnTo>
                    <a:pt x="74" y="3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7" name="Freeform 346"/>
            <p:cNvSpPr>
              <a:spLocks/>
            </p:cNvSpPr>
            <p:nvPr/>
          </p:nvSpPr>
          <p:spPr bwMode="auto">
            <a:xfrm>
              <a:off x="2802" y="1850"/>
              <a:ext cx="25" cy="11"/>
            </a:xfrm>
            <a:custGeom>
              <a:avLst/>
              <a:gdLst/>
              <a:ahLst/>
              <a:cxnLst>
                <a:cxn ang="0">
                  <a:pos x="21" y="9"/>
                </a:cxn>
                <a:cxn ang="0">
                  <a:pos x="21" y="7"/>
                </a:cxn>
                <a:cxn ang="0">
                  <a:pos x="21" y="6"/>
                </a:cxn>
                <a:cxn ang="0">
                  <a:pos x="19" y="4"/>
                </a:cxn>
                <a:cxn ang="0">
                  <a:pos x="14" y="2"/>
                </a:cxn>
                <a:cxn ang="0">
                  <a:pos x="10" y="0"/>
                </a:cxn>
                <a:cxn ang="0">
                  <a:pos x="9" y="1"/>
                </a:cxn>
                <a:cxn ang="0">
                  <a:pos x="0" y="0"/>
                </a:cxn>
                <a:cxn ang="0">
                  <a:pos x="21" y="9"/>
                </a:cxn>
              </a:cxnLst>
              <a:rect l="0" t="0" r="r" b="b"/>
              <a:pathLst>
                <a:path w="21" h="9">
                  <a:moveTo>
                    <a:pt x="21" y="9"/>
                  </a:moveTo>
                  <a:lnTo>
                    <a:pt x="21" y="7"/>
                  </a:lnTo>
                  <a:lnTo>
                    <a:pt x="21" y="6"/>
                  </a:lnTo>
                  <a:lnTo>
                    <a:pt x="19" y="4"/>
                  </a:lnTo>
                  <a:lnTo>
                    <a:pt x="14" y="2"/>
                  </a:lnTo>
                  <a:lnTo>
                    <a:pt x="10" y="0"/>
                  </a:lnTo>
                  <a:lnTo>
                    <a:pt x="9" y="1"/>
                  </a:lnTo>
                  <a:lnTo>
                    <a:pt x="0" y="0"/>
                  </a:lnTo>
                  <a:lnTo>
                    <a:pt x="21"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8" name="Freeform 347"/>
            <p:cNvSpPr>
              <a:spLocks/>
            </p:cNvSpPr>
            <p:nvPr/>
          </p:nvSpPr>
          <p:spPr bwMode="auto">
            <a:xfrm>
              <a:off x="2458" y="1690"/>
              <a:ext cx="198" cy="169"/>
            </a:xfrm>
            <a:custGeom>
              <a:avLst/>
              <a:gdLst/>
              <a:ahLst/>
              <a:cxnLst>
                <a:cxn ang="0">
                  <a:pos x="174" y="121"/>
                </a:cxn>
                <a:cxn ang="0">
                  <a:pos x="174" y="128"/>
                </a:cxn>
                <a:cxn ang="0">
                  <a:pos x="173" y="128"/>
                </a:cxn>
                <a:cxn ang="0">
                  <a:pos x="172" y="128"/>
                </a:cxn>
                <a:cxn ang="0">
                  <a:pos x="157" y="140"/>
                </a:cxn>
                <a:cxn ang="0">
                  <a:pos x="139" y="134"/>
                </a:cxn>
                <a:cxn ang="0">
                  <a:pos x="134" y="133"/>
                </a:cxn>
                <a:cxn ang="0">
                  <a:pos x="132" y="134"/>
                </a:cxn>
                <a:cxn ang="0">
                  <a:pos x="120" y="134"/>
                </a:cxn>
                <a:cxn ang="0">
                  <a:pos x="112" y="140"/>
                </a:cxn>
                <a:cxn ang="0">
                  <a:pos x="113" y="151"/>
                </a:cxn>
                <a:cxn ang="0">
                  <a:pos x="91" y="151"/>
                </a:cxn>
                <a:cxn ang="0">
                  <a:pos x="92" y="149"/>
                </a:cxn>
                <a:cxn ang="0">
                  <a:pos x="88" y="149"/>
                </a:cxn>
                <a:cxn ang="0">
                  <a:pos x="48" y="140"/>
                </a:cxn>
                <a:cxn ang="0">
                  <a:pos x="41" y="134"/>
                </a:cxn>
                <a:cxn ang="0">
                  <a:pos x="47" y="126"/>
                </a:cxn>
                <a:cxn ang="0">
                  <a:pos x="48" y="111"/>
                </a:cxn>
                <a:cxn ang="0">
                  <a:pos x="50" y="98"/>
                </a:cxn>
                <a:cxn ang="0">
                  <a:pos x="56" y="105"/>
                </a:cxn>
                <a:cxn ang="0">
                  <a:pos x="50" y="92"/>
                </a:cxn>
                <a:cxn ang="0">
                  <a:pos x="50" y="87"/>
                </a:cxn>
                <a:cxn ang="0">
                  <a:pos x="43" y="81"/>
                </a:cxn>
                <a:cxn ang="0">
                  <a:pos x="37" y="69"/>
                </a:cxn>
                <a:cxn ang="0">
                  <a:pos x="38" y="66"/>
                </a:cxn>
                <a:cxn ang="0">
                  <a:pos x="31" y="63"/>
                </a:cxn>
                <a:cxn ang="0">
                  <a:pos x="23" y="61"/>
                </a:cxn>
                <a:cxn ang="0">
                  <a:pos x="11" y="56"/>
                </a:cxn>
                <a:cxn ang="0">
                  <a:pos x="2" y="54"/>
                </a:cxn>
                <a:cxn ang="0">
                  <a:pos x="5" y="49"/>
                </a:cxn>
                <a:cxn ang="0">
                  <a:pos x="6" y="48"/>
                </a:cxn>
                <a:cxn ang="0">
                  <a:pos x="0" y="47"/>
                </a:cxn>
                <a:cxn ang="0">
                  <a:pos x="17" y="41"/>
                </a:cxn>
                <a:cxn ang="0">
                  <a:pos x="28" y="42"/>
                </a:cxn>
                <a:cxn ang="0">
                  <a:pos x="44" y="43"/>
                </a:cxn>
                <a:cxn ang="0">
                  <a:pos x="41" y="26"/>
                </a:cxn>
                <a:cxn ang="0">
                  <a:pos x="46" y="24"/>
                </a:cxn>
                <a:cxn ang="0">
                  <a:pos x="50" y="29"/>
                </a:cxn>
                <a:cxn ang="0">
                  <a:pos x="72" y="29"/>
                </a:cxn>
                <a:cxn ang="0">
                  <a:pos x="67" y="27"/>
                </a:cxn>
                <a:cxn ang="0">
                  <a:pos x="86" y="17"/>
                </a:cxn>
                <a:cxn ang="0">
                  <a:pos x="88" y="5"/>
                </a:cxn>
                <a:cxn ang="0">
                  <a:pos x="101" y="0"/>
                </a:cxn>
                <a:cxn ang="0">
                  <a:pos x="107" y="6"/>
                </a:cxn>
                <a:cxn ang="0">
                  <a:pos x="125" y="18"/>
                </a:cxn>
                <a:cxn ang="0">
                  <a:pos x="131" y="17"/>
                </a:cxn>
                <a:cxn ang="0">
                  <a:pos x="132" y="19"/>
                </a:cxn>
                <a:cxn ang="0">
                  <a:pos x="146" y="26"/>
                </a:cxn>
                <a:cxn ang="0">
                  <a:pos x="154" y="27"/>
                </a:cxn>
                <a:cxn ang="0">
                  <a:pos x="156" y="29"/>
                </a:cxn>
                <a:cxn ang="0">
                  <a:pos x="179" y="36"/>
                </a:cxn>
                <a:cxn ang="0">
                  <a:pos x="173" y="61"/>
                </a:cxn>
                <a:cxn ang="0">
                  <a:pos x="168" y="63"/>
                </a:cxn>
                <a:cxn ang="0">
                  <a:pos x="164" y="66"/>
                </a:cxn>
                <a:cxn ang="0">
                  <a:pos x="152" y="84"/>
                </a:cxn>
                <a:cxn ang="0">
                  <a:pos x="157" y="80"/>
                </a:cxn>
                <a:cxn ang="0">
                  <a:pos x="166" y="90"/>
                </a:cxn>
                <a:cxn ang="0">
                  <a:pos x="166" y="97"/>
                </a:cxn>
                <a:cxn ang="0">
                  <a:pos x="163" y="104"/>
                </a:cxn>
                <a:cxn ang="0">
                  <a:pos x="163" y="109"/>
                </a:cxn>
                <a:cxn ang="0">
                  <a:pos x="164" y="115"/>
                </a:cxn>
                <a:cxn ang="0">
                  <a:pos x="174" y="121"/>
                </a:cxn>
              </a:cxnLst>
              <a:rect l="0" t="0" r="r" b="b"/>
              <a:pathLst>
                <a:path w="179" h="151">
                  <a:moveTo>
                    <a:pt x="174" y="121"/>
                  </a:moveTo>
                  <a:lnTo>
                    <a:pt x="174" y="128"/>
                  </a:lnTo>
                  <a:lnTo>
                    <a:pt x="173" y="128"/>
                  </a:lnTo>
                  <a:lnTo>
                    <a:pt x="172" y="128"/>
                  </a:lnTo>
                  <a:lnTo>
                    <a:pt x="157" y="140"/>
                  </a:lnTo>
                  <a:lnTo>
                    <a:pt x="139" y="134"/>
                  </a:lnTo>
                  <a:lnTo>
                    <a:pt x="134" y="133"/>
                  </a:lnTo>
                  <a:lnTo>
                    <a:pt x="132" y="134"/>
                  </a:lnTo>
                  <a:lnTo>
                    <a:pt x="120" y="134"/>
                  </a:lnTo>
                  <a:lnTo>
                    <a:pt x="112" y="140"/>
                  </a:lnTo>
                  <a:lnTo>
                    <a:pt x="113" y="151"/>
                  </a:lnTo>
                  <a:lnTo>
                    <a:pt x="91" y="151"/>
                  </a:lnTo>
                  <a:lnTo>
                    <a:pt x="92" y="149"/>
                  </a:lnTo>
                  <a:lnTo>
                    <a:pt x="88" y="149"/>
                  </a:lnTo>
                  <a:lnTo>
                    <a:pt x="48" y="140"/>
                  </a:lnTo>
                  <a:lnTo>
                    <a:pt x="41" y="134"/>
                  </a:lnTo>
                  <a:lnTo>
                    <a:pt x="47" y="126"/>
                  </a:lnTo>
                  <a:lnTo>
                    <a:pt x="48" y="111"/>
                  </a:lnTo>
                  <a:lnTo>
                    <a:pt x="50" y="98"/>
                  </a:lnTo>
                  <a:lnTo>
                    <a:pt x="56" y="105"/>
                  </a:lnTo>
                  <a:lnTo>
                    <a:pt x="50" y="92"/>
                  </a:lnTo>
                  <a:lnTo>
                    <a:pt x="50" y="87"/>
                  </a:lnTo>
                  <a:lnTo>
                    <a:pt x="43" y="81"/>
                  </a:lnTo>
                  <a:lnTo>
                    <a:pt x="37" y="69"/>
                  </a:lnTo>
                  <a:lnTo>
                    <a:pt x="38" y="66"/>
                  </a:lnTo>
                  <a:lnTo>
                    <a:pt x="31" y="63"/>
                  </a:lnTo>
                  <a:lnTo>
                    <a:pt x="23" y="61"/>
                  </a:lnTo>
                  <a:lnTo>
                    <a:pt x="11" y="56"/>
                  </a:lnTo>
                  <a:lnTo>
                    <a:pt x="2" y="54"/>
                  </a:lnTo>
                  <a:lnTo>
                    <a:pt x="5" y="49"/>
                  </a:lnTo>
                  <a:lnTo>
                    <a:pt x="6" y="48"/>
                  </a:lnTo>
                  <a:lnTo>
                    <a:pt x="0" y="47"/>
                  </a:lnTo>
                  <a:lnTo>
                    <a:pt x="17" y="41"/>
                  </a:lnTo>
                  <a:lnTo>
                    <a:pt x="28" y="42"/>
                  </a:lnTo>
                  <a:lnTo>
                    <a:pt x="44" y="43"/>
                  </a:lnTo>
                  <a:lnTo>
                    <a:pt x="41" y="26"/>
                  </a:lnTo>
                  <a:lnTo>
                    <a:pt x="46" y="24"/>
                  </a:lnTo>
                  <a:lnTo>
                    <a:pt x="50" y="29"/>
                  </a:lnTo>
                  <a:lnTo>
                    <a:pt x="72" y="29"/>
                  </a:lnTo>
                  <a:lnTo>
                    <a:pt x="67" y="27"/>
                  </a:lnTo>
                  <a:lnTo>
                    <a:pt x="86" y="17"/>
                  </a:lnTo>
                  <a:lnTo>
                    <a:pt x="88" y="5"/>
                  </a:lnTo>
                  <a:lnTo>
                    <a:pt x="101" y="0"/>
                  </a:lnTo>
                  <a:lnTo>
                    <a:pt x="107" y="6"/>
                  </a:lnTo>
                  <a:lnTo>
                    <a:pt x="125" y="18"/>
                  </a:lnTo>
                  <a:lnTo>
                    <a:pt x="131" y="17"/>
                  </a:lnTo>
                  <a:lnTo>
                    <a:pt x="132" y="19"/>
                  </a:lnTo>
                  <a:lnTo>
                    <a:pt x="146" y="26"/>
                  </a:lnTo>
                  <a:lnTo>
                    <a:pt x="154" y="27"/>
                  </a:lnTo>
                  <a:lnTo>
                    <a:pt x="156" y="29"/>
                  </a:lnTo>
                  <a:lnTo>
                    <a:pt x="179" y="36"/>
                  </a:lnTo>
                  <a:lnTo>
                    <a:pt x="173" y="61"/>
                  </a:lnTo>
                  <a:lnTo>
                    <a:pt x="168" y="63"/>
                  </a:lnTo>
                  <a:lnTo>
                    <a:pt x="164" y="66"/>
                  </a:lnTo>
                  <a:lnTo>
                    <a:pt x="152" y="84"/>
                  </a:lnTo>
                  <a:lnTo>
                    <a:pt x="157" y="80"/>
                  </a:lnTo>
                  <a:lnTo>
                    <a:pt x="166" y="90"/>
                  </a:lnTo>
                  <a:lnTo>
                    <a:pt x="166" y="97"/>
                  </a:lnTo>
                  <a:lnTo>
                    <a:pt x="163" y="104"/>
                  </a:lnTo>
                  <a:lnTo>
                    <a:pt x="163" y="109"/>
                  </a:lnTo>
                  <a:lnTo>
                    <a:pt x="164" y="115"/>
                  </a:lnTo>
                  <a:lnTo>
                    <a:pt x="174" y="1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9" name="Freeform 348"/>
            <p:cNvSpPr>
              <a:spLocks/>
            </p:cNvSpPr>
            <p:nvPr/>
          </p:nvSpPr>
          <p:spPr bwMode="auto">
            <a:xfrm>
              <a:off x="2669" y="1850"/>
              <a:ext cx="15" cy="26"/>
            </a:xfrm>
            <a:custGeom>
              <a:avLst/>
              <a:gdLst/>
              <a:ahLst/>
              <a:cxnLst>
                <a:cxn ang="0">
                  <a:pos x="9" y="24"/>
                </a:cxn>
                <a:cxn ang="0">
                  <a:pos x="3" y="20"/>
                </a:cxn>
                <a:cxn ang="0">
                  <a:pos x="0" y="11"/>
                </a:cxn>
                <a:cxn ang="0">
                  <a:pos x="9" y="0"/>
                </a:cxn>
                <a:cxn ang="0">
                  <a:pos x="13" y="11"/>
                </a:cxn>
                <a:cxn ang="0">
                  <a:pos x="9" y="24"/>
                </a:cxn>
              </a:cxnLst>
              <a:rect l="0" t="0" r="r" b="b"/>
              <a:pathLst>
                <a:path w="13" h="24">
                  <a:moveTo>
                    <a:pt x="9" y="24"/>
                  </a:moveTo>
                  <a:lnTo>
                    <a:pt x="3" y="20"/>
                  </a:lnTo>
                  <a:lnTo>
                    <a:pt x="0" y="11"/>
                  </a:lnTo>
                  <a:lnTo>
                    <a:pt x="9" y="0"/>
                  </a:lnTo>
                  <a:lnTo>
                    <a:pt x="13" y="11"/>
                  </a:lnTo>
                  <a:lnTo>
                    <a:pt x="9"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0" name="Freeform 349"/>
            <p:cNvSpPr>
              <a:spLocks/>
            </p:cNvSpPr>
            <p:nvPr/>
          </p:nvSpPr>
          <p:spPr bwMode="auto">
            <a:xfrm>
              <a:off x="2782" y="1741"/>
              <a:ext cx="105" cy="51"/>
            </a:xfrm>
            <a:custGeom>
              <a:avLst/>
              <a:gdLst/>
              <a:ahLst/>
              <a:cxnLst>
                <a:cxn ang="0">
                  <a:pos x="39" y="46"/>
                </a:cxn>
                <a:cxn ang="0">
                  <a:pos x="18" y="44"/>
                </a:cxn>
                <a:cxn ang="0">
                  <a:pos x="6" y="33"/>
                </a:cxn>
                <a:cxn ang="0">
                  <a:pos x="1" y="30"/>
                </a:cxn>
                <a:cxn ang="0">
                  <a:pos x="0" y="28"/>
                </a:cxn>
                <a:cxn ang="0">
                  <a:pos x="1" y="27"/>
                </a:cxn>
                <a:cxn ang="0">
                  <a:pos x="6" y="15"/>
                </a:cxn>
                <a:cxn ang="0">
                  <a:pos x="7" y="14"/>
                </a:cxn>
                <a:cxn ang="0">
                  <a:pos x="13" y="9"/>
                </a:cxn>
                <a:cxn ang="0">
                  <a:pos x="17" y="10"/>
                </a:cxn>
                <a:cxn ang="0">
                  <a:pos x="35" y="11"/>
                </a:cxn>
                <a:cxn ang="0">
                  <a:pos x="57" y="0"/>
                </a:cxn>
                <a:cxn ang="0">
                  <a:pos x="81" y="2"/>
                </a:cxn>
                <a:cxn ang="0">
                  <a:pos x="92" y="10"/>
                </a:cxn>
                <a:cxn ang="0">
                  <a:pos x="79" y="23"/>
                </a:cxn>
                <a:cxn ang="0">
                  <a:pos x="67" y="39"/>
                </a:cxn>
                <a:cxn ang="0">
                  <a:pos x="60" y="41"/>
                </a:cxn>
                <a:cxn ang="0">
                  <a:pos x="39" y="46"/>
                </a:cxn>
              </a:cxnLst>
              <a:rect l="0" t="0" r="r" b="b"/>
              <a:pathLst>
                <a:path w="92" h="46">
                  <a:moveTo>
                    <a:pt x="39" y="46"/>
                  </a:moveTo>
                  <a:lnTo>
                    <a:pt x="18" y="44"/>
                  </a:lnTo>
                  <a:lnTo>
                    <a:pt x="6" y="33"/>
                  </a:lnTo>
                  <a:lnTo>
                    <a:pt x="1" y="30"/>
                  </a:lnTo>
                  <a:lnTo>
                    <a:pt x="0" y="28"/>
                  </a:lnTo>
                  <a:lnTo>
                    <a:pt x="1" y="27"/>
                  </a:lnTo>
                  <a:lnTo>
                    <a:pt x="6" y="15"/>
                  </a:lnTo>
                  <a:lnTo>
                    <a:pt x="7" y="14"/>
                  </a:lnTo>
                  <a:lnTo>
                    <a:pt x="13" y="9"/>
                  </a:lnTo>
                  <a:lnTo>
                    <a:pt x="17" y="10"/>
                  </a:lnTo>
                  <a:lnTo>
                    <a:pt x="35" y="11"/>
                  </a:lnTo>
                  <a:lnTo>
                    <a:pt x="57" y="0"/>
                  </a:lnTo>
                  <a:lnTo>
                    <a:pt x="81" y="2"/>
                  </a:lnTo>
                  <a:lnTo>
                    <a:pt x="92" y="10"/>
                  </a:lnTo>
                  <a:lnTo>
                    <a:pt x="79" y="23"/>
                  </a:lnTo>
                  <a:lnTo>
                    <a:pt x="67" y="39"/>
                  </a:lnTo>
                  <a:lnTo>
                    <a:pt x="60" y="41"/>
                  </a:lnTo>
                  <a:lnTo>
                    <a:pt x="39"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1" name="Freeform 350"/>
            <p:cNvSpPr>
              <a:spLocks/>
            </p:cNvSpPr>
            <p:nvPr/>
          </p:nvSpPr>
          <p:spPr bwMode="auto">
            <a:xfrm>
              <a:off x="2902" y="1228"/>
              <a:ext cx="2093" cy="646"/>
            </a:xfrm>
            <a:custGeom>
              <a:avLst/>
              <a:gdLst/>
              <a:ahLst/>
              <a:cxnLst>
                <a:cxn ang="0">
                  <a:pos x="1624" y="126"/>
                </a:cxn>
                <a:cxn ang="0">
                  <a:pos x="1471" y="99"/>
                </a:cxn>
                <a:cxn ang="0">
                  <a:pos x="1329" y="83"/>
                </a:cxn>
                <a:cxn ang="0">
                  <a:pos x="1222" y="71"/>
                </a:cxn>
                <a:cxn ang="0">
                  <a:pos x="1183" y="84"/>
                </a:cxn>
                <a:cxn ang="0">
                  <a:pos x="1071" y="75"/>
                </a:cxn>
                <a:cxn ang="0">
                  <a:pos x="890" y="52"/>
                </a:cxn>
                <a:cxn ang="0">
                  <a:pos x="873" y="30"/>
                </a:cxn>
                <a:cxn ang="0">
                  <a:pos x="777" y="15"/>
                </a:cxn>
                <a:cxn ang="0">
                  <a:pos x="702" y="18"/>
                </a:cxn>
                <a:cxn ang="0">
                  <a:pos x="597" y="41"/>
                </a:cxn>
                <a:cxn ang="0">
                  <a:pos x="564" y="74"/>
                </a:cxn>
                <a:cxn ang="0">
                  <a:pos x="596" y="84"/>
                </a:cxn>
                <a:cxn ang="0">
                  <a:pos x="511" y="87"/>
                </a:cxn>
                <a:cxn ang="0">
                  <a:pos x="548" y="122"/>
                </a:cxn>
                <a:cxn ang="0">
                  <a:pos x="541" y="144"/>
                </a:cxn>
                <a:cxn ang="0">
                  <a:pos x="511" y="155"/>
                </a:cxn>
                <a:cxn ang="0">
                  <a:pos x="428" y="68"/>
                </a:cxn>
                <a:cxn ang="0">
                  <a:pos x="464" y="125"/>
                </a:cxn>
                <a:cxn ang="0">
                  <a:pos x="360" y="134"/>
                </a:cxn>
                <a:cxn ang="0">
                  <a:pos x="296" y="124"/>
                </a:cxn>
                <a:cxn ang="0">
                  <a:pos x="194" y="147"/>
                </a:cxn>
                <a:cxn ang="0">
                  <a:pos x="180" y="164"/>
                </a:cxn>
                <a:cxn ang="0">
                  <a:pos x="129" y="201"/>
                </a:cxn>
                <a:cxn ang="0">
                  <a:pos x="54" y="155"/>
                </a:cxn>
                <a:cxn ang="0">
                  <a:pos x="46" y="123"/>
                </a:cxn>
                <a:cxn ang="0">
                  <a:pos x="12" y="116"/>
                </a:cxn>
                <a:cxn ang="0">
                  <a:pos x="38" y="201"/>
                </a:cxn>
                <a:cxn ang="0">
                  <a:pos x="27" y="260"/>
                </a:cxn>
                <a:cxn ang="0">
                  <a:pos x="57" y="336"/>
                </a:cxn>
                <a:cxn ang="0">
                  <a:pos x="152" y="416"/>
                </a:cxn>
                <a:cxn ang="0">
                  <a:pos x="206" y="492"/>
                </a:cxn>
                <a:cxn ang="0">
                  <a:pos x="207" y="531"/>
                </a:cxn>
                <a:cxn ang="0">
                  <a:pos x="373" y="582"/>
                </a:cxn>
                <a:cxn ang="0">
                  <a:pos x="362" y="501"/>
                </a:cxn>
                <a:cxn ang="0">
                  <a:pos x="350" y="407"/>
                </a:cxn>
                <a:cxn ang="0">
                  <a:pos x="481" y="396"/>
                </a:cxn>
                <a:cxn ang="0">
                  <a:pos x="585" y="344"/>
                </a:cxn>
                <a:cxn ang="0">
                  <a:pos x="692" y="368"/>
                </a:cxn>
                <a:cxn ang="0">
                  <a:pos x="837" y="438"/>
                </a:cxn>
                <a:cxn ang="0">
                  <a:pos x="963" y="431"/>
                </a:cxn>
                <a:cxn ang="0">
                  <a:pos x="1087" y="432"/>
                </a:cxn>
                <a:cxn ang="0">
                  <a:pos x="1262" y="437"/>
                </a:cxn>
                <a:cxn ang="0">
                  <a:pos x="1312" y="377"/>
                </a:cxn>
                <a:cxn ang="0">
                  <a:pos x="1479" y="456"/>
                </a:cxn>
                <a:cxn ang="0">
                  <a:pos x="1543" y="544"/>
                </a:cxn>
                <a:cxn ang="0">
                  <a:pos x="1570" y="561"/>
                </a:cxn>
                <a:cxn ang="0">
                  <a:pos x="1608" y="450"/>
                </a:cxn>
                <a:cxn ang="0">
                  <a:pos x="1514" y="362"/>
                </a:cxn>
                <a:cxn ang="0">
                  <a:pos x="1472" y="324"/>
                </a:cxn>
                <a:cxn ang="0">
                  <a:pos x="1531" y="276"/>
                </a:cxn>
                <a:cxn ang="0">
                  <a:pos x="1628" y="280"/>
                </a:cxn>
                <a:cxn ang="0">
                  <a:pos x="1672" y="251"/>
                </a:cxn>
                <a:cxn ang="0">
                  <a:pos x="1701" y="228"/>
                </a:cxn>
                <a:cxn ang="0">
                  <a:pos x="1702" y="318"/>
                </a:cxn>
                <a:cxn ang="0">
                  <a:pos x="1807" y="381"/>
                </a:cxn>
                <a:cxn ang="0">
                  <a:pos x="1807" y="333"/>
                </a:cxn>
                <a:cxn ang="0">
                  <a:pos x="1759" y="269"/>
                </a:cxn>
                <a:cxn ang="0">
                  <a:pos x="1828" y="249"/>
                </a:cxn>
                <a:cxn ang="0">
                  <a:pos x="1870" y="218"/>
                </a:cxn>
                <a:cxn ang="0">
                  <a:pos x="1788" y="156"/>
                </a:cxn>
              </a:cxnLst>
              <a:rect l="0" t="0" r="r" b="b"/>
              <a:pathLst>
                <a:path w="1884" h="582">
                  <a:moveTo>
                    <a:pt x="1741" y="124"/>
                  </a:moveTo>
                  <a:lnTo>
                    <a:pt x="1706" y="117"/>
                  </a:lnTo>
                  <a:lnTo>
                    <a:pt x="1670" y="110"/>
                  </a:lnTo>
                  <a:lnTo>
                    <a:pt x="1639" y="110"/>
                  </a:lnTo>
                  <a:lnTo>
                    <a:pt x="1609" y="107"/>
                  </a:lnTo>
                  <a:lnTo>
                    <a:pt x="1620" y="114"/>
                  </a:lnTo>
                  <a:lnTo>
                    <a:pt x="1638" y="124"/>
                  </a:lnTo>
                  <a:lnTo>
                    <a:pt x="1635" y="126"/>
                  </a:lnTo>
                  <a:lnTo>
                    <a:pt x="1624" y="126"/>
                  </a:lnTo>
                  <a:lnTo>
                    <a:pt x="1608" y="120"/>
                  </a:lnTo>
                  <a:lnTo>
                    <a:pt x="1602" y="120"/>
                  </a:lnTo>
                  <a:lnTo>
                    <a:pt x="1584" y="112"/>
                  </a:lnTo>
                  <a:lnTo>
                    <a:pt x="1570" y="116"/>
                  </a:lnTo>
                  <a:lnTo>
                    <a:pt x="1524" y="113"/>
                  </a:lnTo>
                  <a:lnTo>
                    <a:pt x="1522" y="120"/>
                  </a:lnTo>
                  <a:lnTo>
                    <a:pt x="1507" y="113"/>
                  </a:lnTo>
                  <a:lnTo>
                    <a:pt x="1489" y="110"/>
                  </a:lnTo>
                  <a:lnTo>
                    <a:pt x="1471" y="99"/>
                  </a:lnTo>
                  <a:lnTo>
                    <a:pt x="1443" y="93"/>
                  </a:lnTo>
                  <a:lnTo>
                    <a:pt x="1414" y="94"/>
                  </a:lnTo>
                  <a:lnTo>
                    <a:pt x="1387" y="96"/>
                  </a:lnTo>
                  <a:lnTo>
                    <a:pt x="1380" y="94"/>
                  </a:lnTo>
                  <a:lnTo>
                    <a:pt x="1358" y="88"/>
                  </a:lnTo>
                  <a:lnTo>
                    <a:pt x="1351" y="90"/>
                  </a:lnTo>
                  <a:lnTo>
                    <a:pt x="1351" y="87"/>
                  </a:lnTo>
                  <a:lnTo>
                    <a:pt x="1344" y="86"/>
                  </a:lnTo>
                  <a:lnTo>
                    <a:pt x="1329" y="83"/>
                  </a:lnTo>
                  <a:lnTo>
                    <a:pt x="1336" y="81"/>
                  </a:lnTo>
                  <a:lnTo>
                    <a:pt x="1310" y="75"/>
                  </a:lnTo>
                  <a:lnTo>
                    <a:pt x="1294" y="78"/>
                  </a:lnTo>
                  <a:lnTo>
                    <a:pt x="1290" y="78"/>
                  </a:lnTo>
                  <a:lnTo>
                    <a:pt x="1292" y="75"/>
                  </a:lnTo>
                  <a:lnTo>
                    <a:pt x="1291" y="74"/>
                  </a:lnTo>
                  <a:lnTo>
                    <a:pt x="1252" y="71"/>
                  </a:lnTo>
                  <a:lnTo>
                    <a:pt x="1213" y="68"/>
                  </a:lnTo>
                  <a:lnTo>
                    <a:pt x="1222" y="71"/>
                  </a:lnTo>
                  <a:lnTo>
                    <a:pt x="1206" y="75"/>
                  </a:lnTo>
                  <a:lnTo>
                    <a:pt x="1213" y="76"/>
                  </a:lnTo>
                  <a:lnTo>
                    <a:pt x="1218" y="77"/>
                  </a:lnTo>
                  <a:lnTo>
                    <a:pt x="1222" y="82"/>
                  </a:lnTo>
                  <a:lnTo>
                    <a:pt x="1230" y="87"/>
                  </a:lnTo>
                  <a:lnTo>
                    <a:pt x="1209" y="86"/>
                  </a:lnTo>
                  <a:lnTo>
                    <a:pt x="1213" y="89"/>
                  </a:lnTo>
                  <a:lnTo>
                    <a:pt x="1215" y="92"/>
                  </a:lnTo>
                  <a:lnTo>
                    <a:pt x="1183" y="84"/>
                  </a:lnTo>
                  <a:lnTo>
                    <a:pt x="1172" y="88"/>
                  </a:lnTo>
                  <a:lnTo>
                    <a:pt x="1146" y="83"/>
                  </a:lnTo>
                  <a:lnTo>
                    <a:pt x="1141" y="81"/>
                  </a:lnTo>
                  <a:lnTo>
                    <a:pt x="1148" y="90"/>
                  </a:lnTo>
                  <a:lnTo>
                    <a:pt x="1144" y="98"/>
                  </a:lnTo>
                  <a:lnTo>
                    <a:pt x="1126" y="93"/>
                  </a:lnTo>
                  <a:lnTo>
                    <a:pt x="1104" y="83"/>
                  </a:lnTo>
                  <a:lnTo>
                    <a:pt x="1078" y="74"/>
                  </a:lnTo>
                  <a:lnTo>
                    <a:pt x="1071" y="75"/>
                  </a:lnTo>
                  <a:lnTo>
                    <a:pt x="1090" y="88"/>
                  </a:lnTo>
                  <a:lnTo>
                    <a:pt x="1064" y="74"/>
                  </a:lnTo>
                  <a:lnTo>
                    <a:pt x="1022" y="69"/>
                  </a:lnTo>
                  <a:lnTo>
                    <a:pt x="980" y="64"/>
                  </a:lnTo>
                  <a:lnTo>
                    <a:pt x="957" y="59"/>
                  </a:lnTo>
                  <a:lnTo>
                    <a:pt x="961" y="57"/>
                  </a:lnTo>
                  <a:lnTo>
                    <a:pt x="943" y="57"/>
                  </a:lnTo>
                  <a:lnTo>
                    <a:pt x="903" y="58"/>
                  </a:lnTo>
                  <a:lnTo>
                    <a:pt x="890" y="52"/>
                  </a:lnTo>
                  <a:lnTo>
                    <a:pt x="873" y="52"/>
                  </a:lnTo>
                  <a:lnTo>
                    <a:pt x="873" y="50"/>
                  </a:lnTo>
                  <a:lnTo>
                    <a:pt x="854" y="53"/>
                  </a:lnTo>
                  <a:lnTo>
                    <a:pt x="872" y="54"/>
                  </a:lnTo>
                  <a:lnTo>
                    <a:pt x="850" y="60"/>
                  </a:lnTo>
                  <a:lnTo>
                    <a:pt x="829" y="63"/>
                  </a:lnTo>
                  <a:lnTo>
                    <a:pt x="830" y="60"/>
                  </a:lnTo>
                  <a:lnTo>
                    <a:pt x="852" y="46"/>
                  </a:lnTo>
                  <a:lnTo>
                    <a:pt x="873" y="30"/>
                  </a:lnTo>
                  <a:lnTo>
                    <a:pt x="864" y="28"/>
                  </a:lnTo>
                  <a:lnTo>
                    <a:pt x="853" y="24"/>
                  </a:lnTo>
                  <a:lnTo>
                    <a:pt x="870" y="28"/>
                  </a:lnTo>
                  <a:lnTo>
                    <a:pt x="855" y="20"/>
                  </a:lnTo>
                  <a:lnTo>
                    <a:pt x="853" y="21"/>
                  </a:lnTo>
                  <a:lnTo>
                    <a:pt x="844" y="20"/>
                  </a:lnTo>
                  <a:lnTo>
                    <a:pt x="826" y="15"/>
                  </a:lnTo>
                  <a:lnTo>
                    <a:pt x="790" y="14"/>
                  </a:lnTo>
                  <a:lnTo>
                    <a:pt x="777" y="15"/>
                  </a:lnTo>
                  <a:lnTo>
                    <a:pt x="776" y="9"/>
                  </a:lnTo>
                  <a:lnTo>
                    <a:pt x="760" y="8"/>
                  </a:lnTo>
                  <a:lnTo>
                    <a:pt x="742" y="8"/>
                  </a:lnTo>
                  <a:lnTo>
                    <a:pt x="756" y="4"/>
                  </a:lnTo>
                  <a:lnTo>
                    <a:pt x="728" y="0"/>
                  </a:lnTo>
                  <a:lnTo>
                    <a:pt x="711" y="10"/>
                  </a:lnTo>
                  <a:lnTo>
                    <a:pt x="718" y="15"/>
                  </a:lnTo>
                  <a:lnTo>
                    <a:pt x="728" y="16"/>
                  </a:lnTo>
                  <a:lnTo>
                    <a:pt x="702" y="18"/>
                  </a:lnTo>
                  <a:lnTo>
                    <a:pt x="711" y="21"/>
                  </a:lnTo>
                  <a:lnTo>
                    <a:pt x="693" y="22"/>
                  </a:lnTo>
                  <a:lnTo>
                    <a:pt x="676" y="23"/>
                  </a:lnTo>
                  <a:lnTo>
                    <a:pt x="644" y="23"/>
                  </a:lnTo>
                  <a:lnTo>
                    <a:pt x="657" y="23"/>
                  </a:lnTo>
                  <a:lnTo>
                    <a:pt x="632" y="28"/>
                  </a:lnTo>
                  <a:lnTo>
                    <a:pt x="606" y="33"/>
                  </a:lnTo>
                  <a:lnTo>
                    <a:pt x="597" y="35"/>
                  </a:lnTo>
                  <a:lnTo>
                    <a:pt x="597" y="41"/>
                  </a:lnTo>
                  <a:lnTo>
                    <a:pt x="588" y="40"/>
                  </a:lnTo>
                  <a:lnTo>
                    <a:pt x="603" y="45"/>
                  </a:lnTo>
                  <a:lnTo>
                    <a:pt x="594" y="46"/>
                  </a:lnTo>
                  <a:lnTo>
                    <a:pt x="607" y="50"/>
                  </a:lnTo>
                  <a:lnTo>
                    <a:pt x="607" y="52"/>
                  </a:lnTo>
                  <a:lnTo>
                    <a:pt x="576" y="54"/>
                  </a:lnTo>
                  <a:lnTo>
                    <a:pt x="546" y="58"/>
                  </a:lnTo>
                  <a:lnTo>
                    <a:pt x="550" y="64"/>
                  </a:lnTo>
                  <a:lnTo>
                    <a:pt x="564" y="74"/>
                  </a:lnTo>
                  <a:lnTo>
                    <a:pt x="579" y="77"/>
                  </a:lnTo>
                  <a:lnTo>
                    <a:pt x="601" y="84"/>
                  </a:lnTo>
                  <a:lnTo>
                    <a:pt x="610" y="98"/>
                  </a:lnTo>
                  <a:lnTo>
                    <a:pt x="614" y="104"/>
                  </a:lnTo>
                  <a:lnTo>
                    <a:pt x="608" y="104"/>
                  </a:lnTo>
                  <a:lnTo>
                    <a:pt x="598" y="94"/>
                  </a:lnTo>
                  <a:lnTo>
                    <a:pt x="596" y="100"/>
                  </a:lnTo>
                  <a:lnTo>
                    <a:pt x="589" y="90"/>
                  </a:lnTo>
                  <a:lnTo>
                    <a:pt x="596" y="84"/>
                  </a:lnTo>
                  <a:lnTo>
                    <a:pt x="571" y="82"/>
                  </a:lnTo>
                  <a:lnTo>
                    <a:pt x="546" y="74"/>
                  </a:lnTo>
                  <a:lnTo>
                    <a:pt x="525" y="77"/>
                  </a:lnTo>
                  <a:lnTo>
                    <a:pt x="535" y="81"/>
                  </a:lnTo>
                  <a:lnTo>
                    <a:pt x="512" y="81"/>
                  </a:lnTo>
                  <a:lnTo>
                    <a:pt x="518" y="86"/>
                  </a:lnTo>
                  <a:lnTo>
                    <a:pt x="546" y="90"/>
                  </a:lnTo>
                  <a:lnTo>
                    <a:pt x="552" y="94"/>
                  </a:lnTo>
                  <a:lnTo>
                    <a:pt x="511" y="87"/>
                  </a:lnTo>
                  <a:lnTo>
                    <a:pt x="498" y="69"/>
                  </a:lnTo>
                  <a:lnTo>
                    <a:pt x="488" y="68"/>
                  </a:lnTo>
                  <a:lnTo>
                    <a:pt x="498" y="77"/>
                  </a:lnTo>
                  <a:lnTo>
                    <a:pt x="487" y="84"/>
                  </a:lnTo>
                  <a:lnTo>
                    <a:pt x="492" y="90"/>
                  </a:lnTo>
                  <a:lnTo>
                    <a:pt x="508" y="100"/>
                  </a:lnTo>
                  <a:lnTo>
                    <a:pt x="507" y="112"/>
                  </a:lnTo>
                  <a:lnTo>
                    <a:pt x="518" y="123"/>
                  </a:lnTo>
                  <a:lnTo>
                    <a:pt x="548" y="122"/>
                  </a:lnTo>
                  <a:lnTo>
                    <a:pt x="564" y="125"/>
                  </a:lnTo>
                  <a:lnTo>
                    <a:pt x="571" y="136"/>
                  </a:lnTo>
                  <a:lnTo>
                    <a:pt x="576" y="142"/>
                  </a:lnTo>
                  <a:lnTo>
                    <a:pt x="592" y="146"/>
                  </a:lnTo>
                  <a:lnTo>
                    <a:pt x="567" y="142"/>
                  </a:lnTo>
                  <a:lnTo>
                    <a:pt x="558" y="129"/>
                  </a:lnTo>
                  <a:lnTo>
                    <a:pt x="549" y="124"/>
                  </a:lnTo>
                  <a:lnTo>
                    <a:pt x="528" y="128"/>
                  </a:lnTo>
                  <a:lnTo>
                    <a:pt x="541" y="144"/>
                  </a:lnTo>
                  <a:lnTo>
                    <a:pt x="530" y="160"/>
                  </a:lnTo>
                  <a:lnTo>
                    <a:pt x="525" y="162"/>
                  </a:lnTo>
                  <a:lnTo>
                    <a:pt x="518" y="165"/>
                  </a:lnTo>
                  <a:lnTo>
                    <a:pt x="484" y="161"/>
                  </a:lnTo>
                  <a:lnTo>
                    <a:pt x="481" y="158"/>
                  </a:lnTo>
                  <a:lnTo>
                    <a:pt x="502" y="159"/>
                  </a:lnTo>
                  <a:lnTo>
                    <a:pt x="499" y="160"/>
                  </a:lnTo>
                  <a:lnTo>
                    <a:pt x="513" y="159"/>
                  </a:lnTo>
                  <a:lnTo>
                    <a:pt x="511" y="155"/>
                  </a:lnTo>
                  <a:lnTo>
                    <a:pt x="520" y="140"/>
                  </a:lnTo>
                  <a:lnTo>
                    <a:pt x="520" y="132"/>
                  </a:lnTo>
                  <a:lnTo>
                    <a:pt x="500" y="120"/>
                  </a:lnTo>
                  <a:lnTo>
                    <a:pt x="492" y="106"/>
                  </a:lnTo>
                  <a:lnTo>
                    <a:pt x="482" y="92"/>
                  </a:lnTo>
                  <a:lnTo>
                    <a:pt x="470" y="86"/>
                  </a:lnTo>
                  <a:lnTo>
                    <a:pt x="470" y="71"/>
                  </a:lnTo>
                  <a:lnTo>
                    <a:pt x="452" y="66"/>
                  </a:lnTo>
                  <a:lnTo>
                    <a:pt x="428" y="68"/>
                  </a:lnTo>
                  <a:lnTo>
                    <a:pt x="426" y="87"/>
                  </a:lnTo>
                  <a:lnTo>
                    <a:pt x="416" y="94"/>
                  </a:lnTo>
                  <a:lnTo>
                    <a:pt x="420" y="98"/>
                  </a:lnTo>
                  <a:lnTo>
                    <a:pt x="427" y="98"/>
                  </a:lnTo>
                  <a:lnTo>
                    <a:pt x="429" y="107"/>
                  </a:lnTo>
                  <a:lnTo>
                    <a:pt x="433" y="113"/>
                  </a:lnTo>
                  <a:lnTo>
                    <a:pt x="448" y="118"/>
                  </a:lnTo>
                  <a:lnTo>
                    <a:pt x="458" y="125"/>
                  </a:lnTo>
                  <a:lnTo>
                    <a:pt x="464" y="125"/>
                  </a:lnTo>
                  <a:lnTo>
                    <a:pt x="459" y="136"/>
                  </a:lnTo>
                  <a:lnTo>
                    <a:pt x="441" y="126"/>
                  </a:lnTo>
                  <a:lnTo>
                    <a:pt x="412" y="119"/>
                  </a:lnTo>
                  <a:lnTo>
                    <a:pt x="386" y="114"/>
                  </a:lnTo>
                  <a:lnTo>
                    <a:pt x="360" y="111"/>
                  </a:lnTo>
                  <a:lnTo>
                    <a:pt x="355" y="114"/>
                  </a:lnTo>
                  <a:lnTo>
                    <a:pt x="368" y="125"/>
                  </a:lnTo>
                  <a:lnTo>
                    <a:pt x="360" y="130"/>
                  </a:lnTo>
                  <a:lnTo>
                    <a:pt x="360" y="134"/>
                  </a:lnTo>
                  <a:lnTo>
                    <a:pt x="351" y="132"/>
                  </a:lnTo>
                  <a:lnTo>
                    <a:pt x="349" y="125"/>
                  </a:lnTo>
                  <a:lnTo>
                    <a:pt x="332" y="128"/>
                  </a:lnTo>
                  <a:lnTo>
                    <a:pt x="319" y="130"/>
                  </a:lnTo>
                  <a:lnTo>
                    <a:pt x="304" y="135"/>
                  </a:lnTo>
                  <a:lnTo>
                    <a:pt x="285" y="134"/>
                  </a:lnTo>
                  <a:lnTo>
                    <a:pt x="291" y="131"/>
                  </a:lnTo>
                  <a:lnTo>
                    <a:pt x="286" y="126"/>
                  </a:lnTo>
                  <a:lnTo>
                    <a:pt x="296" y="124"/>
                  </a:lnTo>
                  <a:lnTo>
                    <a:pt x="274" y="130"/>
                  </a:lnTo>
                  <a:lnTo>
                    <a:pt x="273" y="132"/>
                  </a:lnTo>
                  <a:lnTo>
                    <a:pt x="249" y="137"/>
                  </a:lnTo>
                  <a:lnTo>
                    <a:pt x="236" y="142"/>
                  </a:lnTo>
                  <a:lnTo>
                    <a:pt x="237" y="144"/>
                  </a:lnTo>
                  <a:lnTo>
                    <a:pt x="226" y="146"/>
                  </a:lnTo>
                  <a:lnTo>
                    <a:pt x="225" y="155"/>
                  </a:lnTo>
                  <a:lnTo>
                    <a:pt x="207" y="156"/>
                  </a:lnTo>
                  <a:lnTo>
                    <a:pt x="194" y="147"/>
                  </a:lnTo>
                  <a:lnTo>
                    <a:pt x="212" y="141"/>
                  </a:lnTo>
                  <a:lnTo>
                    <a:pt x="190" y="130"/>
                  </a:lnTo>
                  <a:lnTo>
                    <a:pt x="166" y="129"/>
                  </a:lnTo>
                  <a:lnTo>
                    <a:pt x="181" y="135"/>
                  </a:lnTo>
                  <a:lnTo>
                    <a:pt x="186" y="152"/>
                  </a:lnTo>
                  <a:lnTo>
                    <a:pt x="192" y="162"/>
                  </a:lnTo>
                  <a:lnTo>
                    <a:pt x="190" y="170"/>
                  </a:lnTo>
                  <a:lnTo>
                    <a:pt x="184" y="170"/>
                  </a:lnTo>
                  <a:lnTo>
                    <a:pt x="180" y="164"/>
                  </a:lnTo>
                  <a:lnTo>
                    <a:pt x="166" y="161"/>
                  </a:lnTo>
                  <a:lnTo>
                    <a:pt x="154" y="171"/>
                  </a:lnTo>
                  <a:lnTo>
                    <a:pt x="142" y="179"/>
                  </a:lnTo>
                  <a:lnTo>
                    <a:pt x="154" y="192"/>
                  </a:lnTo>
                  <a:lnTo>
                    <a:pt x="127" y="189"/>
                  </a:lnTo>
                  <a:lnTo>
                    <a:pt x="109" y="183"/>
                  </a:lnTo>
                  <a:lnTo>
                    <a:pt x="110" y="190"/>
                  </a:lnTo>
                  <a:lnTo>
                    <a:pt x="123" y="196"/>
                  </a:lnTo>
                  <a:lnTo>
                    <a:pt x="129" y="201"/>
                  </a:lnTo>
                  <a:lnTo>
                    <a:pt x="114" y="203"/>
                  </a:lnTo>
                  <a:lnTo>
                    <a:pt x="90" y="191"/>
                  </a:lnTo>
                  <a:lnTo>
                    <a:pt x="81" y="178"/>
                  </a:lnTo>
                  <a:lnTo>
                    <a:pt x="80" y="173"/>
                  </a:lnTo>
                  <a:lnTo>
                    <a:pt x="82" y="173"/>
                  </a:lnTo>
                  <a:lnTo>
                    <a:pt x="66" y="165"/>
                  </a:lnTo>
                  <a:lnTo>
                    <a:pt x="60" y="161"/>
                  </a:lnTo>
                  <a:lnTo>
                    <a:pt x="44" y="153"/>
                  </a:lnTo>
                  <a:lnTo>
                    <a:pt x="54" y="155"/>
                  </a:lnTo>
                  <a:lnTo>
                    <a:pt x="86" y="161"/>
                  </a:lnTo>
                  <a:lnTo>
                    <a:pt x="118" y="168"/>
                  </a:lnTo>
                  <a:lnTo>
                    <a:pt x="148" y="161"/>
                  </a:lnTo>
                  <a:lnTo>
                    <a:pt x="152" y="150"/>
                  </a:lnTo>
                  <a:lnTo>
                    <a:pt x="140" y="142"/>
                  </a:lnTo>
                  <a:lnTo>
                    <a:pt x="106" y="131"/>
                  </a:lnTo>
                  <a:lnTo>
                    <a:pt x="72" y="120"/>
                  </a:lnTo>
                  <a:lnTo>
                    <a:pt x="52" y="122"/>
                  </a:lnTo>
                  <a:lnTo>
                    <a:pt x="46" y="123"/>
                  </a:lnTo>
                  <a:lnTo>
                    <a:pt x="51" y="117"/>
                  </a:lnTo>
                  <a:lnTo>
                    <a:pt x="43" y="118"/>
                  </a:lnTo>
                  <a:lnTo>
                    <a:pt x="33" y="113"/>
                  </a:lnTo>
                  <a:lnTo>
                    <a:pt x="45" y="112"/>
                  </a:lnTo>
                  <a:lnTo>
                    <a:pt x="31" y="110"/>
                  </a:lnTo>
                  <a:lnTo>
                    <a:pt x="25" y="113"/>
                  </a:lnTo>
                  <a:lnTo>
                    <a:pt x="19" y="111"/>
                  </a:lnTo>
                  <a:lnTo>
                    <a:pt x="19" y="116"/>
                  </a:lnTo>
                  <a:lnTo>
                    <a:pt x="12" y="116"/>
                  </a:lnTo>
                  <a:lnTo>
                    <a:pt x="0" y="123"/>
                  </a:lnTo>
                  <a:lnTo>
                    <a:pt x="0" y="126"/>
                  </a:lnTo>
                  <a:lnTo>
                    <a:pt x="0" y="136"/>
                  </a:lnTo>
                  <a:lnTo>
                    <a:pt x="18" y="146"/>
                  </a:lnTo>
                  <a:lnTo>
                    <a:pt x="10" y="158"/>
                  </a:lnTo>
                  <a:lnTo>
                    <a:pt x="25" y="174"/>
                  </a:lnTo>
                  <a:lnTo>
                    <a:pt x="26" y="189"/>
                  </a:lnTo>
                  <a:lnTo>
                    <a:pt x="31" y="194"/>
                  </a:lnTo>
                  <a:lnTo>
                    <a:pt x="38" y="201"/>
                  </a:lnTo>
                  <a:lnTo>
                    <a:pt x="32" y="206"/>
                  </a:lnTo>
                  <a:lnTo>
                    <a:pt x="55" y="219"/>
                  </a:lnTo>
                  <a:lnTo>
                    <a:pt x="45" y="228"/>
                  </a:lnTo>
                  <a:lnTo>
                    <a:pt x="37" y="238"/>
                  </a:lnTo>
                  <a:lnTo>
                    <a:pt x="27" y="248"/>
                  </a:lnTo>
                  <a:lnTo>
                    <a:pt x="18" y="257"/>
                  </a:lnTo>
                  <a:lnTo>
                    <a:pt x="26" y="257"/>
                  </a:lnTo>
                  <a:lnTo>
                    <a:pt x="25" y="257"/>
                  </a:lnTo>
                  <a:lnTo>
                    <a:pt x="27" y="260"/>
                  </a:lnTo>
                  <a:lnTo>
                    <a:pt x="50" y="267"/>
                  </a:lnTo>
                  <a:lnTo>
                    <a:pt x="36" y="266"/>
                  </a:lnTo>
                  <a:lnTo>
                    <a:pt x="25" y="272"/>
                  </a:lnTo>
                  <a:lnTo>
                    <a:pt x="21" y="276"/>
                  </a:lnTo>
                  <a:lnTo>
                    <a:pt x="25" y="291"/>
                  </a:lnTo>
                  <a:lnTo>
                    <a:pt x="19" y="302"/>
                  </a:lnTo>
                  <a:lnTo>
                    <a:pt x="27" y="314"/>
                  </a:lnTo>
                  <a:lnTo>
                    <a:pt x="37" y="333"/>
                  </a:lnTo>
                  <a:lnTo>
                    <a:pt x="57" y="336"/>
                  </a:lnTo>
                  <a:lnTo>
                    <a:pt x="79" y="340"/>
                  </a:lnTo>
                  <a:lnTo>
                    <a:pt x="81" y="359"/>
                  </a:lnTo>
                  <a:lnTo>
                    <a:pt x="99" y="375"/>
                  </a:lnTo>
                  <a:lnTo>
                    <a:pt x="94" y="380"/>
                  </a:lnTo>
                  <a:lnTo>
                    <a:pt x="98" y="395"/>
                  </a:lnTo>
                  <a:lnTo>
                    <a:pt x="109" y="392"/>
                  </a:lnTo>
                  <a:lnTo>
                    <a:pt x="132" y="394"/>
                  </a:lnTo>
                  <a:lnTo>
                    <a:pt x="134" y="400"/>
                  </a:lnTo>
                  <a:lnTo>
                    <a:pt x="152" y="416"/>
                  </a:lnTo>
                  <a:lnTo>
                    <a:pt x="170" y="431"/>
                  </a:lnTo>
                  <a:lnTo>
                    <a:pt x="180" y="430"/>
                  </a:lnTo>
                  <a:lnTo>
                    <a:pt x="200" y="436"/>
                  </a:lnTo>
                  <a:lnTo>
                    <a:pt x="222" y="443"/>
                  </a:lnTo>
                  <a:lnTo>
                    <a:pt x="230" y="467"/>
                  </a:lnTo>
                  <a:lnTo>
                    <a:pt x="219" y="473"/>
                  </a:lnTo>
                  <a:lnTo>
                    <a:pt x="214" y="483"/>
                  </a:lnTo>
                  <a:lnTo>
                    <a:pt x="217" y="486"/>
                  </a:lnTo>
                  <a:lnTo>
                    <a:pt x="206" y="492"/>
                  </a:lnTo>
                  <a:lnTo>
                    <a:pt x="199" y="495"/>
                  </a:lnTo>
                  <a:lnTo>
                    <a:pt x="211" y="504"/>
                  </a:lnTo>
                  <a:lnTo>
                    <a:pt x="206" y="503"/>
                  </a:lnTo>
                  <a:lnTo>
                    <a:pt x="205" y="509"/>
                  </a:lnTo>
                  <a:lnTo>
                    <a:pt x="202" y="504"/>
                  </a:lnTo>
                  <a:lnTo>
                    <a:pt x="201" y="515"/>
                  </a:lnTo>
                  <a:lnTo>
                    <a:pt x="189" y="516"/>
                  </a:lnTo>
                  <a:lnTo>
                    <a:pt x="186" y="520"/>
                  </a:lnTo>
                  <a:lnTo>
                    <a:pt x="207" y="531"/>
                  </a:lnTo>
                  <a:lnTo>
                    <a:pt x="229" y="543"/>
                  </a:lnTo>
                  <a:lnTo>
                    <a:pt x="230" y="540"/>
                  </a:lnTo>
                  <a:lnTo>
                    <a:pt x="246" y="542"/>
                  </a:lnTo>
                  <a:lnTo>
                    <a:pt x="262" y="543"/>
                  </a:lnTo>
                  <a:lnTo>
                    <a:pt x="284" y="552"/>
                  </a:lnTo>
                  <a:lnTo>
                    <a:pt x="306" y="561"/>
                  </a:lnTo>
                  <a:lnTo>
                    <a:pt x="327" y="569"/>
                  </a:lnTo>
                  <a:lnTo>
                    <a:pt x="349" y="578"/>
                  </a:lnTo>
                  <a:lnTo>
                    <a:pt x="373" y="582"/>
                  </a:lnTo>
                  <a:lnTo>
                    <a:pt x="361" y="568"/>
                  </a:lnTo>
                  <a:lnTo>
                    <a:pt x="348" y="555"/>
                  </a:lnTo>
                  <a:lnTo>
                    <a:pt x="346" y="543"/>
                  </a:lnTo>
                  <a:lnTo>
                    <a:pt x="345" y="548"/>
                  </a:lnTo>
                  <a:lnTo>
                    <a:pt x="337" y="534"/>
                  </a:lnTo>
                  <a:lnTo>
                    <a:pt x="332" y="530"/>
                  </a:lnTo>
                  <a:lnTo>
                    <a:pt x="339" y="512"/>
                  </a:lnTo>
                  <a:lnTo>
                    <a:pt x="355" y="506"/>
                  </a:lnTo>
                  <a:lnTo>
                    <a:pt x="362" y="501"/>
                  </a:lnTo>
                  <a:lnTo>
                    <a:pt x="360" y="497"/>
                  </a:lnTo>
                  <a:lnTo>
                    <a:pt x="349" y="480"/>
                  </a:lnTo>
                  <a:lnTo>
                    <a:pt x="332" y="467"/>
                  </a:lnTo>
                  <a:lnTo>
                    <a:pt x="315" y="454"/>
                  </a:lnTo>
                  <a:lnTo>
                    <a:pt x="318" y="435"/>
                  </a:lnTo>
                  <a:lnTo>
                    <a:pt x="320" y="416"/>
                  </a:lnTo>
                  <a:lnTo>
                    <a:pt x="337" y="423"/>
                  </a:lnTo>
                  <a:lnTo>
                    <a:pt x="339" y="416"/>
                  </a:lnTo>
                  <a:lnTo>
                    <a:pt x="350" y="407"/>
                  </a:lnTo>
                  <a:lnTo>
                    <a:pt x="361" y="400"/>
                  </a:lnTo>
                  <a:lnTo>
                    <a:pt x="380" y="399"/>
                  </a:lnTo>
                  <a:lnTo>
                    <a:pt x="399" y="407"/>
                  </a:lnTo>
                  <a:lnTo>
                    <a:pt x="418" y="416"/>
                  </a:lnTo>
                  <a:lnTo>
                    <a:pt x="439" y="414"/>
                  </a:lnTo>
                  <a:lnTo>
                    <a:pt x="466" y="414"/>
                  </a:lnTo>
                  <a:lnTo>
                    <a:pt x="493" y="418"/>
                  </a:lnTo>
                  <a:lnTo>
                    <a:pt x="495" y="413"/>
                  </a:lnTo>
                  <a:lnTo>
                    <a:pt x="481" y="396"/>
                  </a:lnTo>
                  <a:lnTo>
                    <a:pt x="487" y="376"/>
                  </a:lnTo>
                  <a:lnTo>
                    <a:pt x="500" y="377"/>
                  </a:lnTo>
                  <a:lnTo>
                    <a:pt x="483" y="369"/>
                  </a:lnTo>
                  <a:lnTo>
                    <a:pt x="501" y="365"/>
                  </a:lnTo>
                  <a:lnTo>
                    <a:pt x="519" y="363"/>
                  </a:lnTo>
                  <a:lnTo>
                    <a:pt x="536" y="358"/>
                  </a:lnTo>
                  <a:lnTo>
                    <a:pt x="553" y="353"/>
                  </a:lnTo>
                  <a:lnTo>
                    <a:pt x="568" y="348"/>
                  </a:lnTo>
                  <a:lnTo>
                    <a:pt x="585" y="344"/>
                  </a:lnTo>
                  <a:lnTo>
                    <a:pt x="598" y="342"/>
                  </a:lnTo>
                  <a:lnTo>
                    <a:pt x="608" y="353"/>
                  </a:lnTo>
                  <a:lnTo>
                    <a:pt x="634" y="363"/>
                  </a:lnTo>
                  <a:lnTo>
                    <a:pt x="645" y="368"/>
                  </a:lnTo>
                  <a:lnTo>
                    <a:pt x="656" y="370"/>
                  </a:lnTo>
                  <a:lnTo>
                    <a:pt x="674" y="363"/>
                  </a:lnTo>
                  <a:lnTo>
                    <a:pt x="691" y="357"/>
                  </a:lnTo>
                  <a:lnTo>
                    <a:pt x="694" y="359"/>
                  </a:lnTo>
                  <a:lnTo>
                    <a:pt x="692" y="368"/>
                  </a:lnTo>
                  <a:lnTo>
                    <a:pt x="711" y="381"/>
                  </a:lnTo>
                  <a:lnTo>
                    <a:pt x="729" y="393"/>
                  </a:lnTo>
                  <a:lnTo>
                    <a:pt x="748" y="406"/>
                  </a:lnTo>
                  <a:lnTo>
                    <a:pt x="768" y="419"/>
                  </a:lnTo>
                  <a:lnTo>
                    <a:pt x="771" y="414"/>
                  </a:lnTo>
                  <a:lnTo>
                    <a:pt x="781" y="418"/>
                  </a:lnTo>
                  <a:lnTo>
                    <a:pt x="799" y="416"/>
                  </a:lnTo>
                  <a:lnTo>
                    <a:pt x="818" y="428"/>
                  </a:lnTo>
                  <a:lnTo>
                    <a:pt x="837" y="438"/>
                  </a:lnTo>
                  <a:lnTo>
                    <a:pt x="855" y="435"/>
                  </a:lnTo>
                  <a:lnTo>
                    <a:pt x="872" y="452"/>
                  </a:lnTo>
                  <a:lnTo>
                    <a:pt x="883" y="450"/>
                  </a:lnTo>
                  <a:lnTo>
                    <a:pt x="890" y="444"/>
                  </a:lnTo>
                  <a:lnTo>
                    <a:pt x="902" y="438"/>
                  </a:lnTo>
                  <a:lnTo>
                    <a:pt x="916" y="431"/>
                  </a:lnTo>
                  <a:lnTo>
                    <a:pt x="930" y="423"/>
                  </a:lnTo>
                  <a:lnTo>
                    <a:pt x="958" y="425"/>
                  </a:lnTo>
                  <a:lnTo>
                    <a:pt x="963" y="431"/>
                  </a:lnTo>
                  <a:lnTo>
                    <a:pt x="985" y="435"/>
                  </a:lnTo>
                  <a:lnTo>
                    <a:pt x="1005" y="438"/>
                  </a:lnTo>
                  <a:lnTo>
                    <a:pt x="1016" y="430"/>
                  </a:lnTo>
                  <a:lnTo>
                    <a:pt x="1003" y="418"/>
                  </a:lnTo>
                  <a:lnTo>
                    <a:pt x="1006" y="400"/>
                  </a:lnTo>
                  <a:lnTo>
                    <a:pt x="1030" y="406"/>
                  </a:lnTo>
                  <a:lnTo>
                    <a:pt x="1054" y="411"/>
                  </a:lnTo>
                  <a:lnTo>
                    <a:pt x="1065" y="422"/>
                  </a:lnTo>
                  <a:lnTo>
                    <a:pt x="1087" y="432"/>
                  </a:lnTo>
                  <a:lnTo>
                    <a:pt x="1111" y="428"/>
                  </a:lnTo>
                  <a:lnTo>
                    <a:pt x="1130" y="431"/>
                  </a:lnTo>
                  <a:lnTo>
                    <a:pt x="1150" y="436"/>
                  </a:lnTo>
                  <a:lnTo>
                    <a:pt x="1158" y="442"/>
                  </a:lnTo>
                  <a:lnTo>
                    <a:pt x="1186" y="449"/>
                  </a:lnTo>
                  <a:lnTo>
                    <a:pt x="1203" y="447"/>
                  </a:lnTo>
                  <a:lnTo>
                    <a:pt x="1220" y="443"/>
                  </a:lnTo>
                  <a:lnTo>
                    <a:pt x="1236" y="431"/>
                  </a:lnTo>
                  <a:lnTo>
                    <a:pt x="1262" y="437"/>
                  </a:lnTo>
                  <a:lnTo>
                    <a:pt x="1275" y="438"/>
                  </a:lnTo>
                  <a:lnTo>
                    <a:pt x="1296" y="442"/>
                  </a:lnTo>
                  <a:lnTo>
                    <a:pt x="1306" y="431"/>
                  </a:lnTo>
                  <a:lnTo>
                    <a:pt x="1302" y="418"/>
                  </a:lnTo>
                  <a:lnTo>
                    <a:pt x="1300" y="398"/>
                  </a:lnTo>
                  <a:lnTo>
                    <a:pt x="1291" y="390"/>
                  </a:lnTo>
                  <a:lnTo>
                    <a:pt x="1285" y="388"/>
                  </a:lnTo>
                  <a:lnTo>
                    <a:pt x="1294" y="378"/>
                  </a:lnTo>
                  <a:lnTo>
                    <a:pt x="1312" y="377"/>
                  </a:lnTo>
                  <a:lnTo>
                    <a:pt x="1330" y="377"/>
                  </a:lnTo>
                  <a:lnTo>
                    <a:pt x="1365" y="388"/>
                  </a:lnTo>
                  <a:lnTo>
                    <a:pt x="1380" y="401"/>
                  </a:lnTo>
                  <a:lnTo>
                    <a:pt x="1394" y="413"/>
                  </a:lnTo>
                  <a:lnTo>
                    <a:pt x="1408" y="425"/>
                  </a:lnTo>
                  <a:lnTo>
                    <a:pt x="1423" y="437"/>
                  </a:lnTo>
                  <a:lnTo>
                    <a:pt x="1438" y="443"/>
                  </a:lnTo>
                  <a:lnTo>
                    <a:pt x="1464" y="450"/>
                  </a:lnTo>
                  <a:lnTo>
                    <a:pt x="1479" y="456"/>
                  </a:lnTo>
                  <a:lnTo>
                    <a:pt x="1497" y="476"/>
                  </a:lnTo>
                  <a:lnTo>
                    <a:pt x="1519" y="473"/>
                  </a:lnTo>
                  <a:lnTo>
                    <a:pt x="1540" y="465"/>
                  </a:lnTo>
                  <a:lnTo>
                    <a:pt x="1549" y="480"/>
                  </a:lnTo>
                  <a:lnTo>
                    <a:pt x="1551" y="501"/>
                  </a:lnTo>
                  <a:lnTo>
                    <a:pt x="1555" y="522"/>
                  </a:lnTo>
                  <a:lnTo>
                    <a:pt x="1536" y="519"/>
                  </a:lnTo>
                  <a:lnTo>
                    <a:pt x="1533" y="528"/>
                  </a:lnTo>
                  <a:lnTo>
                    <a:pt x="1543" y="544"/>
                  </a:lnTo>
                  <a:lnTo>
                    <a:pt x="1552" y="560"/>
                  </a:lnTo>
                  <a:lnTo>
                    <a:pt x="1546" y="564"/>
                  </a:lnTo>
                  <a:lnTo>
                    <a:pt x="1550" y="569"/>
                  </a:lnTo>
                  <a:lnTo>
                    <a:pt x="1554" y="572"/>
                  </a:lnTo>
                  <a:lnTo>
                    <a:pt x="1551" y="566"/>
                  </a:lnTo>
                  <a:lnTo>
                    <a:pt x="1554" y="566"/>
                  </a:lnTo>
                  <a:lnTo>
                    <a:pt x="1561" y="555"/>
                  </a:lnTo>
                  <a:lnTo>
                    <a:pt x="1566" y="554"/>
                  </a:lnTo>
                  <a:lnTo>
                    <a:pt x="1570" y="561"/>
                  </a:lnTo>
                  <a:lnTo>
                    <a:pt x="1581" y="562"/>
                  </a:lnTo>
                  <a:lnTo>
                    <a:pt x="1598" y="556"/>
                  </a:lnTo>
                  <a:lnTo>
                    <a:pt x="1603" y="544"/>
                  </a:lnTo>
                  <a:lnTo>
                    <a:pt x="1608" y="532"/>
                  </a:lnTo>
                  <a:lnTo>
                    <a:pt x="1610" y="515"/>
                  </a:lnTo>
                  <a:lnTo>
                    <a:pt x="1611" y="498"/>
                  </a:lnTo>
                  <a:lnTo>
                    <a:pt x="1614" y="482"/>
                  </a:lnTo>
                  <a:lnTo>
                    <a:pt x="1615" y="465"/>
                  </a:lnTo>
                  <a:lnTo>
                    <a:pt x="1608" y="450"/>
                  </a:lnTo>
                  <a:lnTo>
                    <a:pt x="1600" y="436"/>
                  </a:lnTo>
                  <a:lnTo>
                    <a:pt x="1592" y="426"/>
                  </a:lnTo>
                  <a:lnTo>
                    <a:pt x="1588" y="414"/>
                  </a:lnTo>
                  <a:lnTo>
                    <a:pt x="1584" y="404"/>
                  </a:lnTo>
                  <a:lnTo>
                    <a:pt x="1574" y="392"/>
                  </a:lnTo>
                  <a:lnTo>
                    <a:pt x="1558" y="382"/>
                  </a:lnTo>
                  <a:lnTo>
                    <a:pt x="1567" y="382"/>
                  </a:lnTo>
                  <a:lnTo>
                    <a:pt x="1532" y="364"/>
                  </a:lnTo>
                  <a:lnTo>
                    <a:pt x="1514" y="362"/>
                  </a:lnTo>
                  <a:lnTo>
                    <a:pt x="1519" y="369"/>
                  </a:lnTo>
                  <a:lnTo>
                    <a:pt x="1507" y="375"/>
                  </a:lnTo>
                  <a:lnTo>
                    <a:pt x="1507" y="369"/>
                  </a:lnTo>
                  <a:lnTo>
                    <a:pt x="1498" y="366"/>
                  </a:lnTo>
                  <a:lnTo>
                    <a:pt x="1497" y="369"/>
                  </a:lnTo>
                  <a:lnTo>
                    <a:pt x="1485" y="358"/>
                  </a:lnTo>
                  <a:lnTo>
                    <a:pt x="1462" y="354"/>
                  </a:lnTo>
                  <a:lnTo>
                    <a:pt x="1467" y="340"/>
                  </a:lnTo>
                  <a:lnTo>
                    <a:pt x="1472" y="324"/>
                  </a:lnTo>
                  <a:lnTo>
                    <a:pt x="1477" y="314"/>
                  </a:lnTo>
                  <a:lnTo>
                    <a:pt x="1480" y="304"/>
                  </a:lnTo>
                  <a:lnTo>
                    <a:pt x="1477" y="296"/>
                  </a:lnTo>
                  <a:lnTo>
                    <a:pt x="1483" y="281"/>
                  </a:lnTo>
                  <a:lnTo>
                    <a:pt x="1500" y="279"/>
                  </a:lnTo>
                  <a:lnTo>
                    <a:pt x="1516" y="275"/>
                  </a:lnTo>
                  <a:lnTo>
                    <a:pt x="1521" y="275"/>
                  </a:lnTo>
                  <a:lnTo>
                    <a:pt x="1528" y="279"/>
                  </a:lnTo>
                  <a:lnTo>
                    <a:pt x="1531" y="276"/>
                  </a:lnTo>
                  <a:lnTo>
                    <a:pt x="1563" y="279"/>
                  </a:lnTo>
                  <a:lnTo>
                    <a:pt x="1563" y="275"/>
                  </a:lnTo>
                  <a:lnTo>
                    <a:pt x="1561" y="272"/>
                  </a:lnTo>
                  <a:lnTo>
                    <a:pt x="1586" y="273"/>
                  </a:lnTo>
                  <a:lnTo>
                    <a:pt x="1605" y="278"/>
                  </a:lnTo>
                  <a:lnTo>
                    <a:pt x="1599" y="280"/>
                  </a:lnTo>
                  <a:lnTo>
                    <a:pt x="1604" y="286"/>
                  </a:lnTo>
                  <a:lnTo>
                    <a:pt x="1617" y="284"/>
                  </a:lnTo>
                  <a:lnTo>
                    <a:pt x="1628" y="280"/>
                  </a:lnTo>
                  <a:lnTo>
                    <a:pt x="1647" y="280"/>
                  </a:lnTo>
                  <a:lnTo>
                    <a:pt x="1644" y="276"/>
                  </a:lnTo>
                  <a:lnTo>
                    <a:pt x="1630" y="275"/>
                  </a:lnTo>
                  <a:lnTo>
                    <a:pt x="1626" y="270"/>
                  </a:lnTo>
                  <a:lnTo>
                    <a:pt x="1626" y="255"/>
                  </a:lnTo>
                  <a:lnTo>
                    <a:pt x="1624" y="238"/>
                  </a:lnTo>
                  <a:lnTo>
                    <a:pt x="1652" y="238"/>
                  </a:lnTo>
                  <a:lnTo>
                    <a:pt x="1658" y="236"/>
                  </a:lnTo>
                  <a:lnTo>
                    <a:pt x="1672" y="251"/>
                  </a:lnTo>
                  <a:lnTo>
                    <a:pt x="1675" y="249"/>
                  </a:lnTo>
                  <a:lnTo>
                    <a:pt x="1683" y="256"/>
                  </a:lnTo>
                  <a:lnTo>
                    <a:pt x="1690" y="240"/>
                  </a:lnTo>
                  <a:lnTo>
                    <a:pt x="1699" y="240"/>
                  </a:lnTo>
                  <a:lnTo>
                    <a:pt x="1684" y="226"/>
                  </a:lnTo>
                  <a:lnTo>
                    <a:pt x="1688" y="224"/>
                  </a:lnTo>
                  <a:lnTo>
                    <a:pt x="1711" y="226"/>
                  </a:lnTo>
                  <a:lnTo>
                    <a:pt x="1713" y="228"/>
                  </a:lnTo>
                  <a:lnTo>
                    <a:pt x="1701" y="228"/>
                  </a:lnTo>
                  <a:lnTo>
                    <a:pt x="1712" y="239"/>
                  </a:lnTo>
                  <a:lnTo>
                    <a:pt x="1722" y="251"/>
                  </a:lnTo>
                  <a:lnTo>
                    <a:pt x="1714" y="256"/>
                  </a:lnTo>
                  <a:lnTo>
                    <a:pt x="1712" y="269"/>
                  </a:lnTo>
                  <a:lnTo>
                    <a:pt x="1708" y="282"/>
                  </a:lnTo>
                  <a:lnTo>
                    <a:pt x="1707" y="299"/>
                  </a:lnTo>
                  <a:lnTo>
                    <a:pt x="1694" y="302"/>
                  </a:lnTo>
                  <a:lnTo>
                    <a:pt x="1700" y="308"/>
                  </a:lnTo>
                  <a:lnTo>
                    <a:pt x="1702" y="318"/>
                  </a:lnTo>
                  <a:lnTo>
                    <a:pt x="1713" y="333"/>
                  </a:lnTo>
                  <a:lnTo>
                    <a:pt x="1725" y="347"/>
                  </a:lnTo>
                  <a:lnTo>
                    <a:pt x="1746" y="365"/>
                  </a:lnTo>
                  <a:lnTo>
                    <a:pt x="1767" y="383"/>
                  </a:lnTo>
                  <a:lnTo>
                    <a:pt x="1788" y="401"/>
                  </a:lnTo>
                  <a:lnTo>
                    <a:pt x="1808" y="418"/>
                  </a:lnTo>
                  <a:lnTo>
                    <a:pt x="1814" y="407"/>
                  </a:lnTo>
                  <a:lnTo>
                    <a:pt x="1802" y="384"/>
                  </a:lnTo>
                  <a:lnTo>
                    <a:pt x="1807" y="381"/>
                  </a:lnTo>
                  <a:lnTo>
                    <a:pt x="1818" y="382"/>
                  </a:lnTo>
                  <a:lnTo>
                    <a:pt x="1814" y="380"/>
                  </a:lnTo>
                  <a:lnTo>
                    <a:pt x="1802" y="363"/>
                  </a:lnTo>
                  <a:lnTo>
                    <a:pt x="1818" y="356"/>
                  </a:lnTo>
                  <a:lnTo>
                    <a:pt x="1796" y="338"/>
                  </a:lnTo>
                  <a:lnTo>
                    <a:pt x="1796" y="328"/>
                  </a:lnTo>
                  <a:lnTo>
                    <a:pt x="1797" y="326"/>
                  </a:lnTo>
                  <a:lnTo>
                    <a:pt x="1797" y="329"/>
                  </a:lnTo>
                  <a:lnTo>
                    <a:pt x="1807" y="333"/>
                  </a:lnTo>
                  <a:lnTo>
                    <a:pt x="1796" y="321"/>
                  </a:lnTo>
                  <a:lnTo>
                    <a:pt x="1789" y="320"/>
                  </a:lnTo>
                  <a:lnTo>
                    <a:pt x="1774" y="302"/>
                  </a:lnTo>
                  <a:lnTo>
                    <a:pt x="1767" y="303"/>
                  </a:lnTo>
                  <a:lnTo>
                    <a:pt x="1754" y="298"/>
                  </a:lnTo>
                  <a:lnTo>
                    <a:pt x="1747" y="280"/>
                  </a:lnTo>
                  <a:lnTo>
                    <a:pt x="1740" y="269"/>
                  </a:lnTo>
                  <a:lnTo>
                    <a:pt x="1748" y="266"/>
                  </a:lnTo>
                  <a:lnTo>
                    <a:pt x="1759" y="269"/>
                  </a:lnTo>
                  <a:lnTo>
                    <a:pt x="1756" y="264"/>
                  </a:lnTo>
                  <a:lnTo>
                    <a:pt x="1762" y="258"/>
                  </a:lnTo>
                  <a:lnTo>
                    <a:pt x="1774" y="269"/>
                  </a:lnTo>
                  <a:lnTo>
                    <a:pt x="1776" y="262"/>
                  </a:lnTo>
                  <a:lnTo>
                    <a:pt x="1798" y="256"/>
                  </a:lnTo>
                  <a:lnTo>
                    <a:pt x="1821" y="266"/>
                  </a:lnTo>
                  <a:lnTo>
                    <a:pt x="1821" y="262"/>
                  </a:lnTo>
                  <a:lnTo>
                    <a:pt x="1827" y="250"/>
                  </a:lnTo>
                  <a:lnTo>
                    <a:pt x="1828" y="249"/>
                  </a:lnTo>
                  <a:lnTo>
                    <a:pt x="1827" y="244"/>
                  </a:lnTo>
                  <a:lnTo>
                    <a:pt x="1830" y="242"/>
                  </a:lnTo>
                  <a:lnTo>
                    <a:pt x="1843" y="233"/>
                  </a:lnTo>
                  <a:lnTo>
                    <a:pt x="1856" y="225"/>
                  </a:lnTo>
                  <a:lnTo>
                    <a:pt x="1849" y="222"/>
                  </a:lnTo>
                  <a:lnTo>
                    <a:pt x="1854" y="222"/>
                  </a:lnTo>
                  <a:lnTo>
                    <a:pt x="1882" y="228"/>
                  </a:lnTo>
                  <a:lnTo>
                    <a:pt x="1884" y="225"/>
                  </a:lnTo>
                  <a:lnTo>
                    <a:pt x="1870" y="218"/>
                  </a:lnTo>
                  <a:lnTo>
                    <a:pt x="1856" y="210"/>
                  </a:lnTo>
                  <a:lnTo>
                    <a:pt x="1849" y="208"/>
                  </a:lnTo>
                  <a:lnTo>
                    <a:pt x="1827" y="195"/>
                  </a:lnTo>
                  <a:lnTo>
                    <a:pt x="1826" y="197"/>
                  </a:lnTo>
                  <a:lnTo>
                    <a:pt x="1810" y="189"/>
                  </a:lnTo>
                  <a:lnTo>
                    <a:pt x="1820" y="190"/>
                  </a:lnTo>
                  <a:lnTo>
                    <a:pt x="1833" y="189"/>
                  </a:lnTo>
                  <a:lnTo>
                    <a:pt x="1810" y="172"/>
                  </a:lnTo>
                  <a:lnTo>
                    <a:pt x="1788" y="156"/>
                  </a:lnTo>
                  <a:lnTo>
                    <a:pt x="1765" y="140"/>
                  </a:lnTo>
                  <a:lnTo>
                    <a:pt x="1741" y="1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2" name="Freeform 351"/>
            <p:cNvSpPr>
              <a:spLocks/>
            </p:cNvSpPr>
            <p:nvPr/>
          </p:nvSpPr>
          <p:spPr bwMode="auto">
            <a:xfrm>
              <a:off x="134" y="1368"/>
              <a:ext cx="151" cy="80"/>
            </a:xfrm>
            <a:custGeom>
              <a:avLst/>
              <a:gdLst/>
              <a:ahLst/>
              <a:cxnLst>
                <a:cxn ang="0">
                  <a:pos x="136" y="43"/>
                </a:cxn>
                <a:cxn ang="0">
                  <a:pos x="132" y="37"/>
                </a:cxn>
                <a:cxn ang="0">
                  <a:pos x="125" y="30"/>
                </a:cxn>
                <a:cxn ang="0">
                  <a:pos x="118" y="29"/>
                </a:cxn>
                <a:cxn ang="0">
                  <a:pos x="118" y="31"/>
                </a:cxn>
                <a:cxn ang="0">
                  <a:pos x="114" y="29"/>
                </a:cxn>
                <a:cxn ang="0">
                  <a:pos x="102" y="30"/>
                </a:cxn>
                <a:cxn ang="0">
                  <a:pos x="94" y="36"/>
                </a:cxn>
                <a:cxn ang="0">
                  <a:pos x="93" y="40"/>
                </a:cxn>
                <a:cxn ang="0">
                  <a:pos x="87" y="40"/>
                </a:cxn>
                <a:cxn ang="0">
                  <a:pos x="92" y="34"/>
                </a:cxn>
                <a:cxn ang="0">
                  <a:pos x="101" y="24"/>
                </a:cxn>
                <a:cxn ang="0">
                  <a:pos x="101" y="16"/>
                </a:cxn>
                <a:cxn ang="0">
                  <a:pos x="90" y="6"/>
                </a:cxn>
                <a:cxn ang="0">
                  <a:pos x="90" y="9"/>
                </a:cxn>
                <a:cxn ang="0">
                  <a:pos x="83" y="0"/>
                </a:cxn>
                <a:cxn ang="0">
                  <a:pos x="63" y="15"/>
                </a:cxn>
                <a:cxn ang="0">
                  <a:pos x="41" y="28"/>
                </a:cxn>
                <a:cxn ang="0">
                  <a:pos x="21" y="42"/>
                </a:cxn>
                <a:cxn ang="0">
                  <a:pos x="0" y="57"/>
                </a:cxn>
                <a:cxn ang="0">
                  <a:pos x="10" y="48"/>
                </a:cxn>
                <a:cxn ang="0">
                  <a:pos x="20" y="43"/>
                </a:cxn>
                <a:cxn ang="0">
                  <a:pos x="26" y="42"/>
                </a:cxn>
                <a:cxn ang="0">
                  <a:pos x="32" y="39"/>
                </a:cxn>
                <a:cxn ang="0">
                  <a:pos x="32" y="42"/>
                </a:cxn>
                <a:cxn ang="0">
                  <a:pos x="35" y="41"/>
                </a:cxn>
                <a:cxn ang="0">
                  <a:pos x="23" y="47"/>
                </a:cxn>
                <a:cxn ang="0">
                  <a:pos x="22" y="53"/>
                </a:cxn>
                <a:cxn ang="0">
                  <a:pos x="46" y="53"/>
                </a:cxn>
                <a:cxn ang="0">
                  <a:pos x="39" y="64"/>
                </a:cxn>
                <a:cxn ang="0">
                  <a:pos x="50" y="67"/>
                </a:cxn>
                <a:cxn ang="0">
                  <a:pos x="58" y="69"/>
                </a:cxn>
                <a:cxn ang="0">
                  <a:pos x="54" y="72"/>
                </a:cxn>
                <a:cxn ang="0">
                  <a:pos x="64" y="70"/>
                </a:cxn>
                <a:cxn ang="0">
                  <a:pos x="70" y="67"/>
                </a:cxn>
                <a:cxn ang="0">
                  <a:pos x="69" y="65"/>
                </a:cxn>
                <a:cxn ang="0">
                  <a:pos x="86" y="57"/>
                </a:cxn>
                <a:cxn ang="0">
                  <a:pos x="92" y="54"/>
                </a:cxn>
                <a:cxn ang="0">
                  <a:pos x="94" y="49"/>
                </a:cxn>
                <a:cxn ang="0">
                  <a:pos x="95" y="53"/>
                </a:cxn>
                <a:cxn ang="0">
                  <a:pos x="104" y="52"/>
                </a:cxn>
                <a:cxn ang="0">
                  <a:pos x="108" y="49"/>
                </a:cxn>
                <a:cxn ang="0">
                  <a:pos x="119" y="49"/>
                </a:cxn>
                <a:cxn ang="0">
                  <a:pos x="136" y="43"/>
                </a:cxn>
              </a:cxnLst>
              <a:rect l="0" t="0" r="r" b="b"/>
              <a:pathLst>
                <a:path w="136" h="72">
                  <a:moveTo>
                    <a:pt x="136" y="43"/>
                  </a:moveTo>
                  <a:lnTo>
                    <a:pt x="132" y="37"/>
                  </a:lnTo>
                  <a:lnTo>
                    <a:pt x="125" y="30"/>
                  </a:lnTo>
                  <a:lnTo>
                    <a:pt x="118" y="29"/>
                  </a:lnTo>
                  <a:lnTo>
                    <a:pt x="118" y="31"/>
                  </a:lnTo>
                  <a:lnTo>
                    <a:pt x="114" y="29"/>
                  </a:lnTo>
                  <a:lnTo>
                    <a:pt x="102" y="30"/>
                  </a:lnTo>
                  <a:lnTo>
                    <a:pt x="94" y="36"/>
                  </a:lnTo>
                  <a:lnTo>
                    <a:pt x="93" y="40"/>
                  </a:lnTo>
                  <a:lnTo>
                    <a:pt x="87" y="40"/>
                  </a:lnTo>
                  <a:lnTo>
                    <a:pt x="92" y="34"/>
                  </a:lnTo>
                  <a:lnTo>
                    <a:pt x="101" y="24"/>
                  </a:lnTo>
                  <a:lnTo>
                    <a:pt x="101" y="16"/>
                  </a:lnTo>
                  <a:lnTo>
                    <a:pt x="90" y="6"/>
                  </a:lnTo>
                  <a:lnTo>
                    <a:pt x="90" y="9"/>
                  </a:lnTo>
                  <a:lnTo>
                    <a:pt x="83" y="0"/>
                  </a:lnTo>
                  <a:lnTo>
                    <a:pt x="63" y="15"/>
                  </a:lnTo>
                  <a:lnTo>
                    <a:pt x="41" y="28"/>
                  </a:lnTo>
                  <a:lnTo>
                    <a:pt x="21" y="42"/>
                  </a:lnTo>
                  <a:lnTo>
                    <a:pt x="0" y="57"/>
                  </a:lnTo>
                  <a:lnTo>
                    <a:pt x="10" y="48"/>
                  </a:lnTo>
                  <a:lnTo>
                    <a:pt x="20" y="43"/>
                  </a:lnTo>
                  <a:lnTo>
                    <a:pt x="26" y="42"/>
                  </a:lnTo>
                  <a:lnTo>
                    <a:pt x="32" y="39"/>
                  </a:lnTo>
                  <a:lnTo>
                    <a:pt x="32" y="42"/>
                  </a:lnTo>
                  <a:lnTo>
                    <a:pt x="35" y="41"/>
                  </a:lnTo>
                  <a:lnTo>
                    <a:pt x="23" y="47"/>
                  </a:lnTo>
                  <a:lnTo>
                    <a:pt x="22" y="53"/>
                  </a:lnTo>
                  <a:lnTo>
                    <a:pt x="46" y="53"/>
                  </a:lnTo>
                  <a:lnTo>
                    <a:pt x="39" y="64"/>
                  </a:lnTo>
                  <a:lnTo>
                    <a:pt x="50" y="67"/>
                  </a:lnTo>
                  <a:lnTo>
                    <a:pt x="58" y="69"/>
                  </a:lnTo>
                  <a:lnTo>
                    <a:pt x="54" y="72"/>
                  </a:lnTo>
                  <a:lnTo>
                    <a:pt x="64" y="70"/>
                  </a:lnTo>
                  <a:lnTo>
                    <a:pt x="70" y="67"/>
                  </a:lnTo>
                  <a:lnTo>
                    <a:pt x="69" y="65"/>
                  </a:lnTo>
                  <a:lnTo>
                    <a:pt x="86" y="57"/>
                  </a:lnTo>
                  <a:lnTo>
                    <a:pt x="92" y="54"/>
                  </a:lnTo>
                  <a:lnTo>
                    <a:pt x="94" y="49"/>
                  </a:lnTo>
                  <a:lnTo>
                    <a:pt x="95" y="53"/>
                  </a:lnTo>
                  <a:lnTo>
                    <a:pt x="104" y="52"/>
                  </a:lnTo>
                  <a:lnTo>
                    <a:pt x="108" y="49"/>
                  </a:lnTo>
                  <a:lnTo>
                    <a:pt x="119" y="49"/>
                  </a:lnTo>
                  <a:lnTo>
                    <a:pt x="136" y="4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3" name="Freeform 352"/>
            <p:cNvSpPr>
              <a:spLocks/>
            </p:cNvSpPr>
            <p:nvPr/>
          </p:nvSpPr>
          <p:spPr bwMode="auto">
            <a:xfrm>
              <a:off x="4637" y="1628"/>
              <a:ext cx="145" cy="162"/>
            </a:xfrm>
            <a:custGeom>
              <a:avLst/>
              <a:gdLst/>
              <a:ahLst/>
              <a:cxnLst>
                <a:cxn ang="0">
                  <a:pos x="115" y="101"/>
                </a:cxn>
                <a:cxn ang="0">
                  <a:pos x="98" y="85"/>
                </a:cxn>
                <a:cxn ang="0">
                  <a:pos x="80" y="70"/>
                </a:cxn>
                <a:cxn ang="0">
                  <a:pos x="62" y="55"/>
                </a:cxn>
                <a:cxn ang="0">
                  <a:pos x="43" y="40"/>
                </a:cxn>
                <a:cxn ang="0">
                  <a:pos x="40" y="34"/>
                </a:cxn>
                <a:cxn ang="0">
                  <a:pos x="22" y="17"/>
                </a:cxn>
                <a:cxn ang="0">
                  <a:pos x="4" y="0"/>
                </a:cxn>
                <a:cxn ang="0">
                  <a:pos x="0" y="3"/>
                </a:cxn>
                <a:cxn ang="0">
                  <a:pos x="13" y="12"/>
                </a:cxn>
                <a:cxn ang="0">
                  <a:pos x="13" y="18"/>
                </a:cxn>
                <a:cxn ang="0">
                  <a:pos x="6" y="18"/>
                </a:cxn>
                <a:cxn ang="0">
                  <a:pos x="20" y="34"/>
                </a:cxn>
                <a:cxn ang="0">
                  <a:pos x="35" y="49"/>
                </a:cxn>
                <a:cxn ang="0">
                  <a:pos x="49" y="64"/>
                </a:cxn>
                <a:cxn ang="0">
                  <a:pos x="62" y="81"/>
                </a:cxn>
                <a:cxn ang="0">
                  <a:pos x="73" y="99"/>
                </a:cxn>
                <a:cxn ang="0">
                  <a:pos x="85" y="113"/>
                </a:cxn>
                <a:cxn ang="0">
                  <a:pos x="97" y="127"/>
                </a:cxn>
                <a:cxn ang="0">
                  <a:pos x="109" y="145"/>
                </a:cxn>
                <a:cxn ang="0">
                  <a:pos x="113" y="145"/>
                </a:cxn>
                <a:cxn ang="0">
                  <a:pos x="112" y="133"/>
                </a:cxn>
                <a:cxn ang="0">
                  <a:pos x="125" y="139"/>
                </a:cxn>
                <a:cxn ang="0">
                  <a:pos x="131" y="147"/>
                </a:cxn>
                <a:cxn ang="0">
                  <a:pos x="120" y="133"/>
                </a:cxn>
                <a:cxn ang="0">
                  <a:pos x="92" y="112"/>
                </a:cxn>
                <a:cxn ang="0">
                  <a:pos x="86" y="89"/>
                </a:cxn>
                <a:cxn ang="0">
                  <a:pos x="91" y="89"/>
                </a:cxn>
                <a:cxn ang="0">
                  <a:pos x="108" y="95"/>
                </a:cxn>
                <a:cxn ang="0">
                  <a:pos x="115" y="101"/>
                </a:cxn>
              </a:cxnLst>
              <a:rect l="0" t="0" r="r" b="b"/>
              <a:pathLst>
                <a:path w="131" h="147">
                  <a:moveTo>
                    <a:pt x="115" y="101"/>
                  </a:moveTo>
                  <a:lnTo>
                    <a:pt x="98" y="85"/>
                  </a:lnTo>
                  <a:lnTo>
                    <a:pt x="80" y="70"/>
                  </a:lnTo>
                  <a:lnTo>
                    <a:pt x="62" y="55"/>
                  </a:lnTo>
                  <a:lnTo>
                    <a:pt x="43" y="40"/>
                  </a:lnTo>
                  <a:lnTo>
                    <a:pt x="40" y="34"/>
                  </a:lnTo>
                  <a:lnTo>
                    <a:pt x="22" y="17"/>
                  </a:lnTo>
                  <a:lnTo>
                    <a:pt x="4" y="0"/>
                  </a:lnTo>
                  <a:lnTo>
                    <a:pt x="0" y="3"/>
                  </a:lnTo>
                  <a:lnTo>
                    <a:pt x="13" y="12"/>
                  </a:lnTo>
                  <a:lnTo>
                    <a:pt x="13" y="18"/>
                  </a:lnTo>
                  <a:lnTo>
                    <a:pt x="6" y="18"/>
                  </a:lnTo>
                  <a:lnTo>
                    <a:pt x="20" y="34"/>
                  </a:lnTo>
                  <a:lnTo>
                    <a:pt x="35" y="49"/>
                  </a:lnTo>
                  <a:lnTo>
                    <a:pt x="49" y="64"/>
                  </a:lnTo>
                  <a:lnTo>
                    <a:pt x="62" y="81"/>
                  </a:lnTo>
                  <a:lnTo>
                    <a:pt x="73" y="99"/>
                  </a:lnTo>
                  <a:lnTo>
                    <a:pt x="85" y="113"/>
                  </a:lnTo>
                  <a:lnTo>
                    <a:pt x="97" y="127"/>
                  </a:lnTo>
                  <a:lnTo>
                    <a:pt x="109" y="145"/>
                  </a:lnTo>
                  <a:lnTo>
                    <a:pt x="113" y="145"/>
                  </a:lnTo>
                  <a:lnTo>
                    <a:pt x="112" y="133"/>
                  </a:lnTo>
                  <a:lnTo>
                    <a:pt x="125" y="139"/>
                  </a:lnTo>
                  <a:lnTo>
                    <a:pt x="131" y="147"/>
                  </a:lnTo>
                  <a:lnTo>
                    <a:pt x="120" y="133"/>
                  </a:lnTo>
                  <a:lnTo>
                    <a:pt x="92" y="112"/>
                  </a:lnTo>
                  <a:lnTo>
                    <a:pt x="86" y="89"/>
                  </a:lnTo>
                  <a:lnTo>
                    <a:pt x="91" y="89"/>
                  </a:lnTo>
                  <a:lnTo>
                    <a:pt x="108" y="95"/>
                  </a:lnTo>
                  <a:lnTo>
                    <a:pt x="115" y="10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4" name="Freeform 353"/>
            <p:cNvSpPr>
              <a:spLocks/>
            </p:cNvSpPr>
            <p:nvPr/>
          </p:nvSpPr>
          <p:spPr bwMode="auto">
            <a:xfrm>
              <a:off x="3180" y="1239"/>
              <a:ext cx="149" cy="55"/>
            </a:xfrm>
            <a:custGeom>
              <a:avLst/>
              <a:gdLst/>
              <a:ahLst/>
              <a:cxnLst>
                <a:cxn ang="0">
                  <a:pos x="135" y="4"/>
                </a:cxn>
                <a:cxn ang="0">
                  <a:pos x="125" y="10"/>
                </a:cxn>
                <a:cxn ang="0">
                  <a:pos x="95" y="17"/>
                </a:cxn>
                <a:cxn ang="0">
                  <a:pos x="65" y="24"/>
                </a:cxn>
                <a:cxn ang="0">
                  <a:pos x="58" y="25"/>
                </a:cxn>
                <a:cxn ang="0">
                  <a:pos x="61" y="28"/>
                </a:cxn>
                <a:cxn ang="0">
                  <a:pos x="59" y="30"/>
                </a:cxn>
                <a:cxn ang="0">
                  <a:pos x="53" y="31"/>
                </a:cxn>
                <a:cxn ang="0">
                  <a:pos x="54" y="34"/>
                </a:cxn>
                <a:cxn ang="0">
                  <a:pos x="42" y="32"/>
                </a:cxn>
                <a:cxn ang="0">
                  <a:pos x="46" y="37"/>
                </a:cxn>
                <a:cxn ang="0">
                  <a:pos x="41" y="40"/>
                </a:cxn>
                <a:cxn ang="0">
                  <a:pos x="45" y="44"/>
                </a:cxn>
                <a:cxn ang="0">
                  <a:pos x="30" y="42"/>
                </a:cxn>
                <a:cxn ang="0">
                  <a:pos x="43" y="46"/>
                </a:cxn>
                <a:cxn ang="0">
                  <a:pos x="36" y="46"/>
                </a:cxn>
                <a:cxn ang="0">
                  <a:pos x="39" y="50"/>
                </a:cxn>
                <a:cxn ang="0">
                  <a:pos x="7" y="48"/>
                </a:cxn>
                <a:cxn ang="0">
                  <a:pos x="13" y="44"/>
                </a:cxn>
                <a:cxn ang="0">
                  <a:pos x="0" y="44"/>
                </a:cxn>
                <a:cxn ang="0">
                  <a:pos x="13" y="37"/>
                </a:cxn>
                <a:cxn ang="0">
                  <a:pos x="17" y="37"/>
                </a:cxn>
                <a:cxn ang="0">
                  <a:pos x="12" y="35"/>
                </a:cxn>
                <a:cxn ang="0">
                  <a:pos x="15" y="32"/>
                </a:cxn>
                <a:cxn ang="0">
                  <a:pos x="22" y="29"/>
                </a:cxn>
                <a:cxn ang="0">
                  <a:pos x="17" y="28"/>
                </a:cxn>
                <a:cxn ang="0">
                  <a:pos x="19" y="25"/>
                </a:cxn>
                <a:cxn ang="0">
                  <a:pos x="12" y="25"/>
                </a:cxn>
                <a:cxn ang="0">
                  <a:pos x="21" y="22"/>
                </a:cxn>
                <a:cxn ang="0">
                  <a:pos x="28" y="19"/>
                </a:cxn>
                <a:cxn ang="0">
                  <a:pos x="53" y="12"/>
                </a:cxn>
                <a:cxn ang="0">
                  <a:pos x="57" y="10"/>
                </a:cxn>
                <a:cxn ang="0">
                  <a:pos x="103" y="4"/>
                </a:cxn>
                <a:cxn ang="0">
                  <a:pos x="123" y="0"/>
                </a:cxn>
                <a:cxn ang="0">
                  <a:pos x="135" y="4"/>
                </a:cxn>
              </a:cxnLst>
              <a:rect l="0" t="0" r="r" b="b"/>
              <a:pathLst>
                <a:path w="135" h="50">
                  <a:moveTo>
                    <a:pt x="135" y="4"/>
                  </a:moveTo>
                  <a:lnTo>
                    <a:pt x="125" y="10"/>
                  </a:lnTo>
                  <a:lnTo>
                    <a:pt x="95" y="17"/>
                  </a:lnTo>
                  <a:lnTo>
                    <a:pt x="65" y="24"/>
                  </a:lnTo>
                  <a:lnTo>
                    <a:pt x="58" y="25"/>
                  </a:lnTo>
                  <a:lnTo>
                    <a:pt x="61" y="28"/>
                  </a:lnTo>
                  <a:lnTo>
                    <a:pt x="59" y="30"/>
                  </a:lnTo>
                  <a:lnTo>
                    <a:pt x="53" y="31"/>
                  </a:lnTo>
                  <a:lnTo>
                    <a:pt x="54" y="34"/>
                  </a:lnTo>
                  <a:lnTo>
                    <a:pt x="42" y="32"/>
                  </a:lnTo>
                  <a:lnTo>
                    <a:pt x="46" y="37"/>
                  </a:lnTo>
                  <a:lnTo>
                    <a:pt x="41" y="40"/>
                  </a:lnTo>
                  <a:lnTo>
                    <a:pt x="45" y="44"/>
                  </a:lnTo>
                  <a:lnTo>
                    <a:pt x="30" y="42"/>
                  </a:lnTo>
                  <a:lnTo>
                    <a:pt x="43" y="46"/>
                  </a:lnTo>
                  <a:lnTo>
                    <a:pt x="36" y="46"/>
                  </a:lnTo>
                  <a:lnTo>
                    <a:pt x="39" y="50"/>
                  </a:lnTo>
                  <a:lnTo>
                    <a:pt x="7" y="48"/>
                  </a:lnTo>
                  <a:lnTo>
                    <a:pt x="13" y="44"/>
                  </a:lnTo>
                  <a:lnTo>
                    <a:pt x="0" y="44"/>
                  </a:lnTo>
                  <a:lnTo>
                    <a:pt x="13" y="37"/>
                  </a:lnTo>
                  <a:lnTo>
                    <a:pt x="17" y="37"/>
                  </a:lnTo>
                  <a:lnTo>
                    <a:pt x="12" y="35"/>
                  </a:lnTo>
                  <a:lnTo>
                    <a:pt x="15" y="32"/>
                  </a:lnTo>
                  <a:lnTo>
                    <a:pt x="22" y="29"/>
                  </a:lnTo>
                  <a:lnTo>
                    <a:pt x="17" y="28"/>
                  </a:lnTo>
                  <a:lnTo>
                    <a:pt x="19" y="25"/>
                  </a:lnTo>
                  <a:lnTo>
                    <a:pt x="12" y="25"/>
                  </a:lnTo>
                  <a:lnTo>
                    <a:pt x="21" y="22"/>
                  </a:lnTo>
                  <a:lnTo>
                    <a:pt x="28" y="19"/>
                  </a:lnTo>
                  <a:lnTo>
                    <a:pt x="53" y="12"/>
                  </a:lnTo>
                  <a:lnTo>
                    <a:pt x="57" y="10"/>
                  </a:lnTo>
                  <a:lnTo>
                    <a:pt x="103" y="4"/>
                  </a:lnTo>
                  <a:lnTo>
                    <a:pt x="123" y="0"/>
                  </a:lnTo>
                  <a:lnTo>
                    <a:pt x="13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5" name="Freeform 354"/>
            <p:cNvSpPr>
              <a:spLocks/>
            </p:cNvSpPr>
            <p:nvPr/>
          </p:nvSpPr>
          <p:spPr bwMode="auto">
            <a:xfrm>
              <a:off x="3167" y="1294"/>
              <a:ext cx="88" cy="42"/>
            </a:xfrm>
            <a:custGeom>
              <a:avLst/>
              <a:gdLst/>
              <a:ahLst/>
              <a:cxnLst>
                <a:cxn ang="0">
                  <a:pos x="80" y="38"/>
                </a:cxn>
                <a:cxn ang="0">
                  <a:pos x="50" y="26"/>
                </a:cxn>
                <a:cxn ang="0">
                  <a:pos x="41" y="10"/>
                </a:cxn>
                <a:cxn ang="0">
                  <a:pos x="41" y="8"/>
                </a:cxn>
                <a:cxn ang="0">
                  <a:pos x="42" y="5"/>
                </a:cxn>
                <a:cxn ang="0">
                  <a:pos x="45" y="2"/>
                </a:cxn>
                <a:cxn ang="0">
                  <a:pos x="16" y="0"/>
                </a:cxn>
                <a:cxn ang="0">
                  <a:pos x="11" y="5"/>
                </a:cxn>
                <a:cxn ang="0">
                  <a:pos x="8" y="10"/>
                </a:cxn>
                <a:cxn ang="0">
                  <a:pos x="11" y="11"/>
                </a:cxn>
                <a:cxn ang="0">
                  <a:pos x="6" y="18"/>
                </a:cxn>
                <a:cxn ang="0">
                  <a:pos x="0" y="21"/>
                </a:cxn>
                <a:cxn ang="0">
                  <a:pos x="8" y="27"/>
                </a:cxn>
                <a:cxn ang="0">
                  <a:pos x="17" y="27"/>
                </a:cxn>
                <a:cxn ang="0">
                  <a:pos x="24" y="27"/>
                </a:cxn>
                <a:cxn ang="0">
                  <a:pos x="29" y="28"/>
                </a:cxn>
                <a:cxn ang="0">
                  <a:pos x="35" y="33"/>
                </a:cxn>
                <a:cxn ang="0">
                  <a:pos x="34" y="34"/>
                </a:cxn>
                <a:cxn ang="0">
                  <a:pos x="45" y="38"/>
                </a:cxn>
                <a:cxn ang="0">
                  <a:pos x="53" y="38"/>
                </a:cxn>
                <a:cxn ang="0">
                  <a:pos x="64" y="39"/>
                </a:cxn>
                <a:cxn ang="0">
                  <a:pos x="75" y="39"/>
                </a:cxn>
                <a:cxn ang="0">
                  <a:pos x="80" y="38"/>
                </a:cxn>
              </a:cxnLst>
              <a:rect l="0" t="0" r="r" b="b"/>
              <a:pathLst>
                <a:path w="80" h="39">
                  <a:moveTo>
                    <a:pt x="80" y="38"/>
                  </a:moveTo>
                  <a:lnTo>
                    <a:pt x="50" y="26"/>
                  </a:lnTo>
                  <a:lnTo>
                    <a:pt x="41" y="10"/>
                  </a:lnTo>
                  <a:lnTo>
                    <a:pt x="41" y="8"/>
                  </a:lnTo>
                  <a:lnTo>
                    <a:pt x="42" y="5"/>
                  </a:lnTo>
                  <a:lnTo>
                    <a:pt x="45" y="2"/>
                  </a:lnTo>
                  <a:lnTo>
                    <a:pt x="16" y="0"/>
                  </a:lnTo>
                  <a:lnTo>
                    <a:pt x="11" y="5"/>
                  </a:lnTo>
                  <a:lnTo>
                    <a:pt x="8" y="10"/>
                  </a:lnTo>
                  <a:lnTo>
                    <a:pt x="11" y="11"/>
                  </a:lnTo>
                  <a:lnTo>
                    <a:pt x="6" y="18"/>
                  </a:lnTo>
                  <a:lnTo>
                    <a:pt x="0" y="21"/>
                  </a:lnTo>
                  <a:lnTo>
                    <a:pt x="8" y="27"/>
                  </a:lnTo>
                  <a:lnTo>
                    <a:pt x="17" y="27"/>
                  </a:lnTo>
                  <a:lnTo>
                    <a:pt x="24" y="27"/>
                  </a:lnTo>
                  <a:lnTo>
                    <a:pt x="29" y="28"/>
                  </a:lnTo>
                  <a:lnTo>
                    <a:pt x="35" y="33"/>
                  </a:lnTo>
                  <a:lnTo>
                    <a:pt x="34" y="34"/>
                  </a:lnTo>
                  <a:lnTo>
                    <a:pt x="45" y="38"/>
                  </a:lnTo>
                  <a:lnTo>
                    <a:pt x="53" y="38"/>
                  </a:lnTo>
                  <a:lnTo>
                    <a:pt x="64" y="39"/>
                  </a:lnTo>
                  <a:lnTo>
                    <a:pt x="75" y="39"/>
                  </a:lnTo>
                  <a:lnTo>
                    <a:pt x="80"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6" name="Freeform 355"/>
            <p:cNvSpPr>
              <a:spLocks/>
            </p:cNvSpPr>
            <p:nvPr/>
          </p:nvSpPr>
          <p:spPr bwMode="auto">
            <a:xfrm>
              <a:off x="4140" y="1250"/>
              <a:ext cx="102" cy="24"/>
            </a:xfrm>
            <a:custGeom>
              <a:avLst/>
              <a:gdLst/>
              <a:ahLst/>
              <a:cxnLst>
                <a:cxn ang="0">
                  <a:pos x="94" y="9"/>
                </a:cxn>
                <a:cxn ang="0">
                  <a:pos x="35" y="0"/>
                </a:cxn>
                <a:cxn ang="0">
                  <a:pos x="42" y="2"/>
                </a:cxn>
                <a:cxn ang="0">
                  <a:pos x="35" y="2"/>
                </a:cxn>
                <a:cxn ang="0">
                  <a:pos x="41" y="6"/>
                </a:cxn>
                <a:cxn ang="0">
                  <a:pos x="12" y="1"/>
                </a:cxn>
                <a:cxn ang="0">
                  <a:pos x="1" y="4"/>
                </a:cxn>
                <a:cxn ang="0">
                  <a:pos x="0" y="6"/>
                </a:cxn>
                <a:cxn ang="0">
                  <a:pos x="6" y="9"/>
                </a:cxn>
                <a:cxn ang="0">
                  <a:pos x="10" y="12"/>
                </a:cxn>
                <a:cxn ang="0">
                  <a:pos x="46" y="21"/>
                </a:cxn>
                <a:cxn ang="0">
                  <a:pos x="47" y="18"/>
                </a:cxn>
                <a:cxn ang="0">
                  <a:pos x="76" y="16"/>
                </a:cxn>
                <a:cxn ang="0">
                  <a:pos x="89" y="16"/>
                </a:cxn>
                <a:cxn ang="0">
                  <a:pos x="83" y="15"/>
                </a:cxn>
                <a:cxn ang="0">
                  <a:pos x="93" y="13"/>
                </a:cxn>
                <a:cxn ang="0">
                  <a:pos x="94" y="9"/>
                </a:cxn>
              </a:cxnLst>
              <a:rect l="0" t="0" r="r" b="b"/>
              <a:pathLst>
                <a:path w="94" h="21">
                  <a:moveTo>
                    <a:pt x="94" y="9"/>
                  </a:moveTo>
                  <a:lnTo>
                    <a:pt x="35" y="0"/>
                  </a:lnTo>
                  <a:lnTo>
                    <a:pt x="42" y="2"/>
                  </a:lnTo>
                  <a:lnTo>
                    <a:pt x="35" y="2"/>
                  </a:lnTo>
                  <a:lnTo>
                    <a:pt x="41" y="6"/>
                  </a:lnTo>
                  <a:lnTo>
                    <a:pt x="12" y="1"/>
                  </a:lnTo>
                  <a:lnTo>
                    <a:pt x="1" y="4"/>
                  </a:lnTo>
                  <a:lnTo>
                    <a:pt x="0" y="6"/>
                  </a:lnTo>
                  <a:lnTo>
                    <a:pt x="6" y="9"/>
                  </a:lnTo>
                  <a:lnTo>
                    <a:pt x="10" y="12"/>
                  </a:lnTo>
                  <a:lnTo>
                    <a:pt x="46" y="21"/>
                  </a:lnTo>
                  <a:lnTo>
                    <a:pt x="47" y="18"/>
                  </a:lnTo>
                  <a:lnTo>
                    <a:pt x="76" y="16"/>
                  </a:lnTo>
                  <a:lnTo>
                    <a:pt x="89" y="16"/>
                  </a:lnTo>
                  <a:lnTo>
                    <a:pt x="83" y="15"/>
                  </a:lnTo>
                  <a:lnTo>
                    <a:pt x="93" y="13"/>
                  </a:lnTo>
                  <a:lnTo>
                    <a:pt x="94"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7" name="Freeform 356"/>
            <p:cNvSpPr>
              <a:spLocks/>
            </p:cNvSpPr>
            <p:nvPr/>
          </p:nvSpPr>
          <p:spPr bwMode="auto">
            <a:xfrm>
              <a:off x="3562" y="1192"/>
              <a:ext cx="80" cy="18"/>
            </a:xfrm>
            <a:custGeom>
              <a:avLst/>
              <a:gdLst/>
              <a:ahLst/>
              <a:cxnLst>
                <a:cxn ang="0">
                  <a:pos x="61" y="5"/>
                </a:cxn>
                <a:cxn ang="0">
                  <a:pos x="43" y="2"/>
                </a:cxn>
                <a:cxn ang="0">
                  <a:pos x="36" y="4"/>
                </a:cxn>
                <a:cxn ang="0">
                  <a:pos x="30" y="0"/>
                </a:cxn>
                <a:cxn ang="0">
                  <a:pos x="3" y="2"/>
                </a:cxn>
                <a:cxn ang="0">
                  <a:pos x="0" y="8"/>
                </a:cxn>
                <a:cxn ang="0">
                  <a:pos x="9" y="8"/>
                </a:cxn>
                <a:cxn ang="0">
                  <a:pos x="24" y="14"/>
                </a:cxn>
                <a:cxn ang="0">
                  <a:pos x="72" y="17"/>
                </a:cxn>
                <a:cxn ang="0">
                  <a:pos x="67" y="12"/>
                </a:cxn>
                <a:cxn ang="0">
                  <a:pos x="61" y="5"/>
                </a:cxn>
              </a:cxnLst>
              <a:rect l="0" t="0" r="r" b="b"/>
              <a:pathLst>
                <a:path w="72" h="17">
                  <a:moveTo>
                    <a:pt x="61" y="5"/>
                  </a:moveTo>
                  <a:lnTo>
                    <a:pt x="43" y="2"/>
                  </a:lnTo>
                  <a:lnTo>
                    <a:pt x="36" y="4"/>
                  </a:lnTo>
                  <a:lnTo>
                    <a:pt x="30" y="0"/>
                  </a:lnTo>
                  <a:lnTo>
                    <a:pt x="3" y="2"/>
                  </a:lnTo>
                  <a:lnTo>
                    <a:pt x="0" y="8"/>
                  </a:lnTo>
                  <a:lnTo>
                    <a:pt x="9" y="8"/>
                  </a:lnTo>
                  <a:lnTo>
                    <a:pt x="24" y="14"/>
                  </a:lnTo>
                  <a:lnTo>
                    <a:pt x="72" y="17"/>
                  </a:lnTo>
                  <a:lnTo>
                    <a:pt x="67" y="12"/>
                  </a:lnTo>
                  <a:lnTo>
                    <a:pt x="61"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8" name="Freeform 357"/>
            <p:cNvSpPr>
              <a:spLocks/>
            </p:cNvSpPr>
            <p:nvPr/>
          </p:nvSpPr>
          <p:spPr bwMode="auto">
            <a:xfrm>
              <a:off x="3653" y="1203"/>
              <a:ext cx="60" cy="20"/>
            </a:xfrm>
            <a:custGeom>
              <a:avLst/>
              <a:gdLst/>
              <a:ahLst/>
              <a:cxnLst>
                <a:cxn ang="0">
                  <a:pos x="53" y="10"/>
                </a:cxn>
                <a:cxn ang="0">
                  <a:pos x="26" y="2"/>
                </a:cxn>
                <a:cxn ang="0">
                  <a:pos x="20" y="7"/>
                </a:cxn>
                <a:cxn ang="0">
                  <a:pos x="15" y="0"/>
                </a:cxn>
                <a:cxn ang="0">
                  <a:pos x="8" y="0"/>
                </a:cxn>
                <a:cxn ang="0">
                  <a:pos x="11" y="2"/>
                </a:cxn>
                <a:cxn ang="0">
                  <a:pos x="0" y="2"/>
                </a:cxn>
                <a:cxn ang="0">
                  <a:pos x="3" y="4"/>
                </a:cxn>
                <a:cxn ang="0">
                  <a:pos x="9" y="8"/>
                </a:cxn>
                <a:cxn ang="0">
                  <a:pos x="2" y="10"/>
                </a:cxn>
                <a:cxn ang="0">
                  <a:pos x="6" y="19"/>
                </a:cxn>
                <a:cxn ang="0">
                  <a:pos x="54" y="12"/>
                </a:cxn>
                <a:cxn ang="0">
                  <a:pos x="53" y="10"/>
                </a:cxn>
              </a:cxnLst>
              <a:rect l="0" t="0" r="r" b="b"/>
              <a:pathLst>
                <a:path w="54" h="19">
                  <a:moveTo>
                    <a:pt x="53" y="10"/>
                  </a:moveTo>
                  <a:lnTo>
                    <a:pt x="26" y="2"/>
                  </a:lnTo>
                  <a:lnTo>
                    <a:pt x="20" y="7"/>
                  </a:lnTo>
                  <a:lnTo>
                    <a:pt x="15" y="0"/>
                  </a:lnTo>
                  <a:lnTo>
                    <a:pt x="8" y="0"/>
                  </a:lnTo>
                  <a:lnTo>
                    <a:pt x="11" y="2"/>
                  </a:lnTo>
                  <a:lnTo>
                    <a:pt x="0" y="2"/>
                  </a:lnTo>
                  <a:lnTo>
                    <a:pt x="3" y="4"/>
                  </a:lnTo>
                  <a:lnTo>
                    <a:pt x="9" y="8"/>
                  </a:lnTo>
                  <a:lnTo>
                    <a:pt x="2" y="10"/>
                  </a:lnTo>
                  <a:lnTo>
                    <a:pt x="6" y="19"/>
                  </a:lnTo>
                  <a:lnTo>
                    <a:pt x="54" y="12"/>
                  </a:lnTo>
                  <a:lnTo>
                    <a:pt x="53"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9" name="Freeform 358"/>
            <p:cNvSpPr>
              <a:spLocks/>
            </p:cNvSpPr>
            <p:nvPr/>
          </p:nvSpPr>
          <p:spPr bwMode="auto">
            <a:xfrm>
              <a:off x="3529" y="1181"/>
              <a:ext cx="64" cy="11"/>
            </a:xfrm>
            <a:custGeom>
              <a:avLst/>
              <a:gdLst/>
              <a:ahLst/>
              <a:cxnLst>
                <a:cxn ang="0">
                  <a:pos x="56" y="5"/>
                </a:cxn>
                <a:cxn ang="0">
                  <a:pos x="31" y="0"/>
                </a:cxn>
                <a:cxn ang="0">
                  <a:pos x="2" y="3"/>
                </a:cxn>
                <a:cxn ang="0">
                  <a:pos x="9" y="4"/>
                </a:cxn>
                <a:cxn ang="0">
                  <a:pos x="8" y="7"/>
                </a:cxn>
                <a:cxn ang="0">
                  <a:pos x="0" y="9"/>
                </a:cxn>
                <a:cxn ang="0">
                  <a:pos x="17" y="9"/>
                </a:cxn>
                <a:cxn ang="0">
                  <a:pos x="12" y="11"/>
                </a:cxn>
                <a:cxn ang="0">
                  <a:pos x="56" y="10"/>
                </a:cxn>
                <a:cxn ang="0">
                  <a:pos x="50" y="7"/>
                </a:cxn>
                <a:cxn ang="0">
                  <a:pos x="56" y="5"/>
                </a:cxn>
              </a:cxnLst>
              <a:rect l="0" t="0" r="r" b="b"/>
              <a:pathLst>
                <a:path w="56" h="11">
                  <a:moveTo>
                    <a:pt x="56" y="5"/>
                  </a:moveTo>
                  <a:lnTo>
                    <a:pt x="31" y="0"/>
                  </a:lnTo>
                  <a:lnTo>
                    <a:pt x="2" y="3"/>
                  </a:lnTo>
                  <a:lnTo>
                    <a:pt x="9" y="4"/>
                  </a:lnTo>
                  <a:lnTo>
                    <a:pt x="8" y="7"/>
                  </a:lnTo>
                  <a:lnTo>
                    <a:pt x="0" y="9"/>
                  </a:lnTo>
                  <a:lnTo>
                    <a:pt x="17" y="9"/>
                  </a:lnTo>
                  <a:lnTo>
                    <a:pt x="12" y="11"/>
                  </a:lnTo>
                  <a:lnTo>
                    <a:pt x="56" y="10"/>
                  </a:lnTo>
                  <a:lnTo>
                    <a:pt x="50" y="7"/>
                  </a:lnTo>
                  <a:lnTo>
                    <a:pt x="56"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0" name="Freeform 359"/>
            <p:cNvSpPr>
              <a:spLocks/>
            </p:cNvSpPr>
            <p:nvPr/>
          </p:nvSpPr>
          <p:spPr bwMode="auto">
            <a:xfrm>
              <a:off x="4253" y="1259"/>
              <a:ext cx="67" cy="11"/>
            </a:xfrm>
            <a:custGeom>
              <a:avLst/>
              <a:gdLst/>
              <a:ahLst/>
              <a:cxnLst>
                <a:cxn ang="0">
                  <a:pos x="59" y="6"/>
                </a:cxn>
                <a:cxn ang="0">
                  <a:pos x="14" y="2"/>
                </a:cxn>
                <a:cxn ang="0">
                  <a:pos x="0" y="0"/>
                </a:cxn>
                <a:cxn ang="0">
                  <a:pos x="5" y="5"/>
                </a:cxn>
                <a:cxn ang="0">
                  <a:pos x="54" y="11"/>
                </a:cxn>
                <a:cxn ang="0">
                  <a:pos x="59" y="6"/>
                </a:cxn>
              </a:cxnLst>
              <a:rect l="0" t="0" r="r" b="b"/>
              <a:pathLst>
                <a:path w="59" h="11">
                  <a:moveTo>
                    <a:pt x="59" y="6"/>
                  </a:moveTo>
                  <a:lnTo>
                    <a:pt x="14" y="2"/>
                  </a:lnTo>
                  <a:lnTo>
                    <a:pt x="0" y="0"/>
                  </a:lnTo>
                  <a:lnTo>
                    <a:pt x="5" y="5"/>
                  </a:lnTo>
                  <a:lnTo>
                    <a:pt x="54" y="11"/>
                  </a:lnTo>
                  <a:lnTo>
                    <a:pt x="5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1" name="Freeform 360"/>
            <p:cNvSpPr>
              <a:spLocks/>
            </p:cNvSpPr>
            <p:nvPr/>
          </p:nvSpPr>
          <p:spPr bwMode="auto">
            <a:xfrm>
              <a:off x="2831" y="1616"/>
              <a:ext cx="31" cy="14"/>
            </a:xfrm>
            <a:custGeom>
              <a:avLst/>
              <a:gdLst/>
              <a:ahLst/>
              <a:cxnLst>
                <a:cxn ang="0">
                  <a:pos x="8" y="0"/>
                </a:cxn>
                <a:cxn ang="0">
                  <a:pos x="7" y="3"/>
                </a:cxn>
                <a:cxn ang="0">
                  <a:pos x="0" y="2"/>
                </a:cxn>
                <a:cxn ang="0">
                  <a:pos x="0" y="3"/>
                </a:cxn>
                <a:cxn ang="0">
                  <a:pos x="1" y="5"/>
                </a:cxn>
                <a:cxn ang="0">
                  <a:pos x="2" y="5"/>
                </a:cxn>
                <a:cxn ang="0">
                  <a:pos x="0" y="6"/>
                </a:cxn>
                <a:cxn ang="0">
                  <a:pos x="0" y="8"/>
                </a:cxn>
                <a:cxn ang="0">
                  <a:pos x="6" y="9"/>
                </a:cxn>
                <a:cxn ang="0">
                  <a:pos x="29" y="11"/>
                </a:cxn>
                <a:cxn ang="0">
                  <a:pos x="29" y="3"/>
                </a:cxn>
                <a:cxn ang="0">
                  <a:pos x="17" y="2"/>
                </a:cxn>
                <a:cxn ang="0">
                  <a:pos x="8" y="0"/>
                </a:cxn>
              </a:cxnLst>
              <a:rect l="0" t="0" r="r" b="b"/>
              <a:pathLst>
                <a:path w="29" h="11">
                  <a:moveTo>
                    <a:pt x="8" y="0"/>
                  </a:moveTo>
                  <a:lnTo>
                    <a:pt x="7" y="3"/>
                  </a:lnTo>
                  <a:lnTo>
                    <a:pt x="0" y="2"/>
                  </a:lnTo>
                  <a:lnTo>
                    <a:pt x="0" y="3"/>
                  </a:lnTo>
                  <a:lnTo>
                    <a:pt x="1" y="5"/>
                  </a:lnTo>
                  <a:lnTo>
                    <a:pt x="2" y="5"/>
                  </a:lnTo>
                  <a:lnTo>
                    <a:pt x="0" y="6"/>
                  </a:lnTo>
                  <a:lnTo>
                    <a:pt x="0" y="8"/>
                  </a:lnTo>
                  <a:lnTo>
                    <a:pt x="6" y="9"/>
                  </a:lnTo>
                  <a:lnTo>
                    <a:pt x="29" y="11"/>
                  </a:lnTo>
                  <a:lnTo>
                    <a:pt x="29" y="3"/>
                  </a:lnTo>
                  <a:lnTo>
                    <a:pt x="17" y="2"/>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2" name="Freeform 361"/>
            <p:cNvSpPr>
              <a:spLocks/>
            </p:cNvSpPr>
            <p:nvPr/>
          </p:nvSpPr>
          <p:spPr bwMode="auto">
            <a:xfrm>
              <a:off x="4224" y="1285"/>
              <a:ext cx="51" cy="11"/>
            </a:xfrm>
            <a:custGeom>
              <a:avLst/>
              <a:gdLst/>
              <a:ahLst/>
              <a:cxnLst>
                <a:cxn ang="0">
                  <a:pos x="46" y="10"/>
                </a:cxn>
                <a:cxn ang="0">
                  <a:pos x="0" y="6"/>
                </a:cxn>
                <a:cxn ang="0">
                  <a:pos x="16" y="0"/>
                </a:cxn>
                <a:cxn ang="0">
                  <a:pos x="41" y="7"/>
                </a:cxn>
                <a:cxn ang="0">
                  <a:pos x="46" y="10"/>
                </a:cxn>
              </a:cxnLst>
              <a:rect l="0" t="0" r="r" b="b"/>
              <a:pathLst>
                <a:path w="46" h="10">
                  <a:moveTo>
                    <a:pt x="46" y="10"/>
                  </a:moveTo>
                  <a:lnTo>
                    <a:pt x="0" y="6"/>
                  </a:lnTo>
                  <a:lnTo>
                    <a:pt x="16" y="0"/>
                  </a:lnTo>
                  <a:lnTo>
                    <a:pt x="41" y="7"/>
                  </a:lnTo>
                  <a:lnTo>
                    <a:pt x="46"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3" name="Freeform 362"/>
            <p:cNvSpPr>
              <a:spLocks/>
            </p:cNvSpPr>
            <p:nvPr/>
          </p:nvSpPr>
          <p:spPr bwMode="auto">
            <a:xfrm>
              <a:off x="3149" y="1356"/>
              <a:ext cx="27" cy="14"/>
            </a:xfrm>
            <a:custGeom>
              <a:avLst/>
              <a:gdLst/>
              <a:ahLst/>
              <a:cxnLst>
                <a:cxn ang="0">
                  <a:pos x="24" y="6"/>
                </a:cxn>
                <a:cxn ang="0">
                  <a:pos x="6" y="12"/>
                </a:cxn>
                <a:cxn ang="0">
                  <a:pos x="0" y="4"/>
                </a:cxn>
                <a:cxn ang="0">
                  <a:pos x="6" y="0"/>
                </a:cxn>
                <a:cxn ang="0">
                  <a:pos x="24" y="6"/>
                </a:cxn>
              </a:cxnLst>
              <a:rect l="0" t="0" r="r" b="b"/>
              <a:pathLst>
                <a:path w="24" h="12">
                  <a:moveTo>
                    <a:pt x="24" y="6"/>
                  </a:moveTo>
                  <a:lnTo>
                    <a:pt x="6" y="12"/>
                  </a:lnTo>
                  <a:lnTo>
                    <a:pt x="0" y="4"/>
                  </a:lnTo>
                  <a:lnTo>
                    <a:pt x="6" y="0"/>
                  </a:lnTo>
                  <a:lnTo>
                    <a:pt x="2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4" name="Freeform 363"/>
            <p:cNvSpPr>
              <a:spLocks/>
            </p:cNvSpPr>
            <p:nvPr/>
          </p:nvSpPr>
          <p:spPr bwMode="auto">
            <a:xfrm>
              <a:off x="280" y="1323"/>
              <a:ext cx="40" cy="9"/>
            </a:xfrm>
            <a:custGeom>
              <a:avLst/>
              <a:gdLst/>
              <a:ahLst/>
              <a:cxnLst>
                <a:cxn ang="0">
                  <a:pos x="33" y="6"/>
                </a:cxn>
                <a:cxn ang="0">
                  <a:pos x="0" y="8"/>
                </a:cxn>
                <a:cxn ang="0">
                  <a:pos x="18" y="0"/>
                </a:cxn>
                <a:cxn ang="0">
                  <a:pos x="35" y="3"/>
                </a:cxn>
                <a:cxn ang="0">
                  <a:pos x="33" y="6"/>
                </a:cxn>
              </a:cxnLst>
              <a:rect l="0" t="0" r="r" b="b"/>
              <a:pathLst>
                <a:path w="35" h="8">
                  <a:moveTo>
                    <a:pt x="33" y="6"/>
                  </a:moveTo>
                  <a:lnTo>
                    <a:pt x="0" y="8"/>
                  </a:lnTo>
                  <a:lnTo>
                    <a:pt x="18" y="0"/>
                  </a:lnTo>
                  <a:lnTo>
                    <a:pt x="35" y="3"/>
                  </a:lnTo>
                  <a:lnTo>
                    <a:pt x="33"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5" name="Freeform 364"/>
            <p:cNvSpPr>
              <a:spLocks/>
            </p:cNvSpPr>
            <p:nvPr/>
          </p:nvSpPr>
          <p:spPr bwMode="auto">
            <a:xfrm>
              <a:off x="3042" y="1183"/>
              <a:ext cx="49" cy="9"/>
            </a:xfrm>
            <a:custGeom>
              <a:avLst/>
              <a:gdLst/>
              <a:ahLst/>
              <a:cxnLst>
                <a:cxn ang="0">
                  <a:pos x="43" y="1"/>
                </a:cxn>
                <a:cxn ang="0">
                  <a:pos x="17" y="5"/>
                </a:cxn>
                <a:cxn ang="0">
                  <a:pos x="8" y="7"/>
                </a:cxn>
                <a:cxn ang="0">
                  <a:pos x="0" y="7"/>
                </a:cxn>
                <a:cxn ang="0">
                  <a:pos x="8" y="5"/>
                </a:cxn>
                <a:cxn ang="0">
                  <a:pos x="24" y="1"/>
                </a:cxn>
                <a:cxn ang="0">
                  <a:pos x="36" y="0"/>
                </a:cxn>
                <a:cxn ang="0">
                  <a:pos x="43" y="1"/>
                </a:cxn>
              </a:cxnLst>
              <a:rect l="0" t="0" r="r" b="b"/>
              <a:pathLst>
                <a:path w="43" h="7">
                  <a:moveTo>
                    <a:pt x="43" y="1"/>
                  </a:moveTo>
                  <a:lnTo>
                    <a:pt x="17" y="5"/>
                  </a:lnTo>
                  <a:lnTo>
                    <a:pt x="8" y="7"/>
                  </a:lnTo>
                  <a:lnTo>
                    <a:pt x="0" y="7"/>
                  </a:lnTo>
                  <a:lnTo>
                    <a:pt x="8" y="5"/>
                  </a:lnTo>
                  <a:lnTo>
                    <a:pt x="24" y="1"/>
                  </a:lnTo>
                  <a:lnTo>
                    <a:pt x="36" y="0"/>
                  </a:lnTo>
                  <a:lnTo>
                    <a:pt x="4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6" name="Freeform 365"/>
            <p:cNvSpPr>
              <a:spLocks/>
            </p:cNvSpPr>
            <p:nvPr/>
          </p:nvSpPr>
          <p:spPr bwMode="auto">
            <a:xfrm>
              <a:off x="4860" y="1801"/>
              <a:ext cx="15" cy="20"/>
            </a:xfrm>
            <a:custGeom>
              <a:avLst/>
              <a:gdLst/>
              <a:ahLst/>
              <a:cxnLst>
                <a:cxn ang="0">
                  <a:pos x="15" y="0"/>
                </a:cxn>
                <a:cxn ang="0">
                  <a:pos x="3" y="5"/>
                </a:cxn>
                <a:cxn ang="0">
                  <a:pos x="0" y="18"/>
                </a:cxn>
                <a:cxn ang="0">
                  <a:pos x="6" y="11"/>
                </a:cxn>
                <a:cxn ang="0">
                  <a:pos x="12" y="3"/>
                </a:cxn>
                <a:cxn ang="0">
                  <a:pos x="15" y="0"/>
                </a:cxn>
              </a:cxnLst>
              <a:rect l="0" t="0" r="r" b="b"/>
              <a:pathLst>
                <a:path w="15" h="18">
                  <a:moveTo>
                    <a:pt x="15" y="0"/>
                  </a:moveTo>
                  <a:lnTo>
                    <a:pt x="3" y="5"/>
                  </a:lnTo>
                  <a:lnTo>
                    <a:pt x="0" y="18"/>
                  </a:lnTo>
                  <a:lnTo>
                    <a:pt x="6" y="11"/>
                  </a:lnTo>
                  <a:lnTo>
                    <a:pt x="12" y="3"/>
                  </a:lnTo>
                  <a:lnTo>
                    <a:pt x="1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7" name="Freeform 366"/>
            <p:cNvSpPr>
              <a:spLocks/>
            </p:cNvSpPr>
            <p:nvPr/>
          </p:nvSpPr>
          <p:spPr bwMode="auto">
            <a:xfrm>
              <a:off x="4762" y="1323"/>
              <a:ext cx="20" cy="11"/>
            </a:xfrm>
            <a:custGeom>
              <a:avLst/>
              <a:gdLst/>
              <a:ahLst/>
              <a:cxnLst>
                <a:cxn ang="0">
                  <a:pos x="3" y="0"/>
                </a:cxn>
                <a:cxn ang="0">
                  <a:pos x="0" y="6"/>
                </a:cxn>
                <a:cxn ang="0">
                  <a:pos x="9" y="10"/>
                </a:cxn>
                <a:cxn ang="0">
                  <a:pos x="17" y="9"/>
                </a:cxn>
                <a:cxn ang="0">
                  <a:pos x="3" y="0"/>
                </a:cxn>
              </a:cxnLst>
              <a:rect l="0" t="0" r="r" b="b"/>
              <a:pathLst>
                <a:path w="17" h="10">
                  <a:moveTo>
                    <a:pt x="3" y="0"/>
                  </a:moveTo>
                  <a:lnTo>
                    <a:pt x="0" y="6"/>
                  </a:lnTo>
                  <a:lnTo>
                    <a:pt x="9" y="10"/>
                  </a:lnTo>
                  <a:lnTo>
                    <a:pt x="17" y="9"/>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8" name="Freeform 367"/>
            <p:cNvSpPr>
              <a:spLocks/>
            </p:cNvSpPr>
            <p:nvPr/>
          </p:nvSpPr>
          <p:spPr bwMode="auto">
            <a:xfrm>
              <a:off x="3269" y="1341"/>
              <a:ext cx="31" cy="9"/>
            </a:xfrm>
            <a:custGeom>
              <a:avLst/>
              <a:gdLst/>
              <a:ahLst/>
              <a:cxnLst>
                <a:cxn ang="0">
                  <a:pos x="28" y="9"/>
                </a:cxn>
                <a:cxn ang="0">
                  <a:pos x="3" y="0"/>
                </a:cxn>
                <a:cxn ang="0">
                  <a:pos x="0" y="3"/>
                </a:cxn>
                <a:cxn ang="0">
                  <a:pos x="18" y="9"/>
                </a:cxn>
                <a:cxn ang="0">
                  <a:pos x="28" y="9"/>
                </a:cxn>
              </a:cxnLst>
              <a:rect l="0" t="0" r="r" b="b"/>
              <a:pathLst>
                <a:path w="28" h="9">
                  <a:moveTo>
                    <a:pt x="28" y="9"/>
                  </a:moveTo>
                  <a:lnTo>
                    <a:pt x="3" y="0"/>
                  </a:lnTo>
                  <a:lnTo>
                    <a:pt x="0" y="3"/>
                  </a:lnTo>
                  <a:lnTo>
                    <a:pt x="18" y="9"/>
                  </a:lnTo>
                  <a:lnTo>
                    <a:pt x="28"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9" name="Freeform 368"/>
            <p:cNvSpPr>
              <a:spLocks/>
            </p:cNvSpPr>
            <p:nvPr/>
          </p:nvSpPr>
          <p:spPr bwMode="auto">
            <a:xfrm>
              <a:off x="2847" y="1550"/>
              <a:ext cx="17" cy="9"/>
            </a:xfrm>
            <a:custGeom>
              <a:avLst/>
              <a:gdLst/>
              <a:ahLst/>
              <a:cxnLst>
                <a:cxn ang="0">
                  <a:pos x="16" y="1"/>
                </a:cxn>
                <a:cxn ang="0">
                  <a:pos x="2" y="7"/>
                </a:cxn>
                <a:cxn ang="0">
                  <a:pos x="0" y="1"/>
                </a:cxn>
                <a:cxn ang="0">
                  <a:pos x="14" y="0"/>
                </a:cxn>
                <a:cxn ang="0">
                  <a:pos x="16" y="1"/>
                </a:cxn>
              </a:cxnLst>
              <a:rect l="0" t="0" r="r" b="b"/>
              <a:pathLst>
                <a:path w="16" h="7">
                  <a:moveTo>
                    <a:pt x="16" y="1"/>
                  </a:moveTo>
                  <a:lnTo>
                    <a:pt x="2" y="7"/>
                  </a:lnTo>
                  <a:lnTo>
                    <a:pt x="0" y="1"/>
                  </a:lnTo>
                  <a:lnTo>
                    <a:pt x="14" y="0"/>
                  </a:lnTo>
                  <a:lnTo>
                    <a:pt x="1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0" name="Freeform 369"/>
            <p:cNvSpPr>
              <a:spLocks/>
            </p:cNvSpPr>
            <p:nvPr/>
          </p:nvSpPr>
          <p:spPr bwMode="auto">
            <a:xfrm>
              <a:off x="4860" y="1536"/>
              <a:ext cx="11" cy="14"/>
            </a:xfrm>
            <a:custGeom>
              <a:avLst/>
              <a:gdLst/>
              <a:ahLst/>
              <a:cxnLst>
                <a:cxn ang="0">
                  <a:pos x="11" y="3"/>
                </a:cxn>
                <a:cxn ang="0">
                  <a:pos x="5" y="11"/>
                </a:cxn>
                <a:cxn ang="0">
                  <a:pos x="0" y="5"/>
                </a:cxn>
                <a:cxn ang="0">
                  <a:pos x="5" y="0"/>
                </a:cxn>
                <a:cxn ang="0">
                  <a:pos x="11" y="3"/>
                </a:cxn>
              </a:cxnLst>
              <a:rect l="0" t="0" r="r" b="b"/>
              <a:pathLst>
                <a:path w="11" h="11">
                  <a:moveTo>
                    <a:pt x="11" y="3"/>
                  </a:moveTo>
                  <a:lnTo>
                    <a:pt x="5" y="11"/>
                  </a:lnTo>
                  <a:lnTo>
                    <a:pt x="0" y="5"/>
                  </a:lnTo>
                  <a:lnTo>
                    <a:pt x="5" y="0"/>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1" name="Freeform 370"/>
            <p:cNvSpPr>
              <a:spLocks/>
            </p:cNvSpPr>
            <p:nvPr/>
          </p:nvSpPr>
          <p:spPr bwMode="auto">
            <a:xfrm>
              <a:off x="4660" y="1350"/>
              <a:ext cx="22" cy="4"/>
            </a:xfrm>
            <a:custGeom>
              <a:avLst/>
              <a:gdLst/>
              <a:ahLst/>
              <a:cxnLst>
                <a:cxn ang="0">
                  <a:pos x="21" y="1"/>
                </a:cxn>
                <a:cxn ang="0">
                  <a:pos x="18" y="3"/>
                </a:cxn>
                <a:cxn ang="0">
                  <a:pos x="0" y="0"/>
                </a:cxn>
                <a:cxn ang="0">
                  <a:pos x="18" y="0"/>
                </a:cxn>
                <a:cxn ang="0">
                  <a:pos x="21" y="1"/>
                </a:cxn>
              </a:cxnLst>
              <a:rect l="0" t="0" r="r" b="b"/>
              <a:pathLst>
                <a:path w="21" h="3">
                  <a:moveTo>
                    <a:pt x="21" y="1"/>
                  </a:moveTo>
                  <a:lnTo>
                    <a:pt x="18" y="3"/>
                  </a:lnTo>
                  <a:lnTo>
                    <a:pt x="0" y="0"/>
                  </a:lnTo>
                  <a:lnTo>
                    <a:pt x="18" y="0"/>
                  </a:lnTo>
                  <a:lnTo>
                    <a:pt x="2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2" name="Freeform 371"/>
            <p:cNvSpPr>
              <a:spLocks/>
            </p:cNvSpPr>
            <p:nvPr/>
          </p:nvSpPr>
          <p:spPr bwMode="auto">
            <a:xfrm>
              <a:off x="3382" y="1292"/>
              <a:ext cx="20" cy="4"/>
            </a:xfrm>
            <a:custGeom>
              <a:avLst/>
              <a:gdLst/>
              <a:ahLst/>
              <a:cxnLst>
                <a:cxn ang="0">
                  <a:pos x="19" y="4"/>
                </a:cxn>
                <a:cxn ang="0">
                  <a:pos x="0" y="5"/>
                </a:cxn>
                <a:cxn ang="0">
                  <a:pos x="2" y="0"/>
                </a:cxn>
                <a:cxn ang="0">
                  <a:pos x="10" y="2"/>
                </a:cxn>
                <a:cxn ang="0">
                  <a:pos x="19" y="4"/>
                </a:cxn>
              </a:cxnLst>
              <a:rect l="0" t="0" r="r" b="b"/>
              <a:pathLst>
                <a:path w="19" h="5">
                  <a:moveTo>
                    <a:pt x="19" y="4"/>
                  </a:moveTo>
                  <a:lnTo>
                    <a:pt x="0" y="5"/>
                  </a:lnTo>
                  <a:lnTo>
                    <a:pt x="2" y="0"/>
                  </a:lnTo>
                  <a:lnTo>
                    <a:pt x="10" y="2"/>
                  </a:lnTo>
                  <a:lnTo>
                    <a:pt x="19"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3" name="Freeform 372"/>
            <p:cNvSpPr>
              <a:spLocks/>
            </p:cNvSpPr>
            <p:nvPr/>
          </p:nvSpPr>
          <p:spPr bwMode="auto">
            <a:xfrm>
              <a:off x="3173" y="1183"/>
              <a:ext cx="34" cy="5"/>
            </a:xfrm>
            <a:custGeom>
              <a:avLst/>
              <a:gdLst/>
              <a:ahLst/>
              <a:cxnLst>
                <a:cxn ang="0">
                  <a:pos x="29" y="0"/>
                </a:cxn>
                <a:cxn ang="0">
                  <a:pos x="0" y="1"/>
                </a:cxn>
                <a:cxn ang="0">
                  <a:pos x="16" y="3"/>
                </a:cxn>
                <a:cxn ang="0">
                  <a:pos x="29" y="0"/>
                </a:cxn>
              </a:cxnLst>
              <a:rect l="0" t="0" r="r" b="b"/>
              <a:pathLst>
                <a:path w="29" h="3">
                  <a:moveTo>
                    <a:pt x="29" y="0"/>
                  </a:moveTo>
                  <a:lnTo>
                    <a:pt x="0" y="1"/>
                  </a:lnTo>
                  <a:lnTo>
                    <a:pt x="16" y="3"/>
                  </a:lnTo>
                  <a:lnTo>
                    <a:pt x="2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4" name="Freeform 373"/>
            <p:cNvSpPr>
              <a:spLocks/>
            </p:cNvSpPr>
            <p:nvPr/>
          </p:nvSpPr>
          <p:spPr bwMode="auto">
            <a:xfrm>
              <a:off x="3207" y="1181"/>
              <a:ext cx="31" cy="2"/>
            </a:xfrm>
            <a:custGeom>
              <a:avLst/>
              <a:gdLst/>
              <a:ahLst/>
              <a:cxnLst>
                <a:cxn ang="0">
                  <a:pos x="28" y="3"/>
                </a:cxn>
                <a:cxn ang="0">
                  <a:pos x="0" y="4"/>
                </a:cxn>
                <a:cxn ang="0">
                  <a:pos x="23" y="0"/>
                </a:cxn>
                <a:cxn ang="0">
                  <a:pos x="28" y="3"/>
                </a:cxn>
              </a:cxnLst>
              <a:rect l="0" t="0" r="r" b="b"/>
              <a:pathLst>
                <a:path w="28" h="4">
                  <a:moveTo>
                    <a:pt x="28" y="3"/>
                  </a:moveTo>
                  <a:lnTo>
                    <a:pt x="0" y="4"/>
                  </a:lnTo>
                  <a:lnTo>
                    <a:pt x="23" y="0"/>
                  </a:lnTo>
                  <a:lnTo>
                    <a:pt x="28"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5" name="Freeform 374"/>
            <p:cNvSpPr>
              <a:spLocks/>
            </p:cNvSpPr>
            <p:nvPr/>
          </p:nvSpPr>
          <p:spPr bwMode="auto">
            <a:xfrm>
              <a:off x="3867" y="1276"/>
              <a:ext cx="22" cy="5"/>
            </a:xfrm>
            <a:custGeom>
              <a:avLst/>
              <a:gdLst/>
              <a:ahLst/>
              <a:cxnLst>
                <a:cxn ang="0">
                  <a:pos x="19" y="0"/>
                </a:cxn>
                <a:cxn ang="0">
                  <a:pos x="0" y="1"/>
                </a:cxn>
                <a:cxn ang="0">
                  <a:pos x="21" y="3"/>
                </a:cxn>
                <a:cxn ang="0">
                  <a:pos x="19" y="0"/>
                </a:cxn>
              </a:cxnLst>
              <a:rect l="0" t="0" r="r" b="b"/>
              <a:pathLst>
                <a:path w="21" h="3">
                  <a:moveTo>
                    <a:pt x="19" y="0"/>
                  </a:moveTo>
                  <a:lnTo>
                    <a:pt x="0" y="1"/>
                  </a:lnTo>
                  <a:lnTo>
                    <a:pt x="21" y="3"/>
                  </a:lnTo>
                  <a:lnTo>
                    <a:pt x="1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6" name="Freeform 375"/>
            <p:cNvSpPr>
              <a:spLocks/>
            </p:cNvSpPr>
            <p:nvPr/>
          </p:nvSpPr>
          <p:spPr bwMode="auto">
            <a:xfrm>
              <a:off x="4904" y="1699"/>
              <a:ext cx="5" cy="11"/>
            </a:xfrm>
            <a:custGeom>
              <a:avLst/>
              <a:gdLst/>
              <a:ahLst/>
              <a:cxnLst>
                <a:cxn ang="0">
                  <a:pos x="5" y="1"/>
                </a:cxn>
                <a:cxn ang="0">
                  <a:pos x="1" y="11"/>
                </a:cxn>
                <a:cxn ang="0">
                  <a:pos x="0" y="0"/>
                </a:cxn>
                <a:cxn ang="0">
                  <a:pos x="5" y="1"/>
                </a:cxn>
              </a:cxnLst>
              <a:rect l="0" t="0" r="r" b="b"/>
              <a:pathLst>
                <a:path w="5" h="11">
                  <a:moveTo>
                    <a:pt x="5" y="1"/>
                  </a:moveTo>
                  <a:lnTo>
                    <a:pt x="1" y="11"/>
                  </a:lnTo>
                  <a:lnTo>
                    <a:pt x="0" y="0"/>
                  </a:lnTo>
                  <a:lnTo>
                    <a:pt x="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7" name="Freeform 376"/>
            <p:cNvSpPr>
              <a:spLocks/>
            </p:cNvSpPr>
            <p:nvPr/>
          </p:nvSpPr>
          <p:spPr bwMode="auto">
            <a:xfrm>
              <a:off x="4846" y="1821"/>
              <a:ext cx="7" cy="11"/>
            </a:xfrm>
            <a:custGeom>
              <a:avLst/>
              <a:gdLst/>
              <a:ahLst/>
              <a:cxnLst>
                <a:cxn ang="0">
                  <a:pos x="6" y="0"/>
                </a:cxn>
                <a:cxn ang="0">
                  <a:pos x="0" y="11"/>
                </a:cxn>
                <a:cxn ang="0">
                  <a:pos x="0" y="3"/>
                </a:cxn>
                <a:cxn ang="0">
                  <a:pos x="6" y="0"/>
                </a:cxn>
              </a:cxnLst>
              <a:rect l="0" t="0" r="r" b="b"/>
              <a:pathLst>
                <a:path w="6" h="11">
                  <a:moveTo>
                    <a:pt x="6" y="0"/>
                  </a:moveTo>
                  <a:lnTo>
                    <a:pt x="0" y="11"/>
                  </a:lnTo>
                  <a:lnTo>
                    <a:pt x="0" y="3"/>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8" name="Freeform 377"/>
            <p:cNvSpPr>
              <a:spLocks/>
            </p:cNvSpPr>
            <p:nvPr/>
          </p:nvSpPr>
          <p:spPr bwMode="auto">
            <a:xfrm>
              <a:off x="4213" y="1281"/>
              <a:ext cx="9" cy="4"/>
            </a:xfrm>
            <a:custGeom>
              <a:avLst/>
              <a:gdLst/>
              <a:ahLst/>
              <a:cxnLst>
                <a:cxn ang="0">
                  <a:pos x="10" y="0"/>
                </a:cxn>
                <a:cxn ang="0">
                  <a:pos x="0" y="0"/>
                </a:cxn>
                <a:cxn ang="0">
                  <a:pos x="10" y="5"/>
                </a:cxn>
                <a:cxn ang="0">
                  <a:pos x="10" y="0"/>
                </a:cxn>
              </a:cxnLst>
              <a:rect l="0" t="0" r="r" b="b"/>
              <a:pathLst>
                <a:path w="10" h="5">
                  <a:moveTo>
                    <a:pt x="10" y="0"/>
                  </a:moveTo>
                  <a:lnTo>
                    <a:pt x="0" y="0"/>
                  </a:lnTo>
                  <a:lnTo>
                    <a:pt x="10" y="5"/>
                  </a:lnTo>
                  <a:lnTo>
                    <a:pt x="1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9" name="Freeform 378"/>
            <p:cNvSpPr>
              <a:spLocks/>
            </p:cNvSpPr>
            <p:nvPr/>
          </p:nvSpPr>
          <p:spPr bwMode="auto">
            <a:xfrm>
              <a:off x="3029" y="1185"/>
              <a:ext cx="31" cy="3"/>
            </a:xfrm>
            <a:custGeom>
              <a:avLst/>
              <a:gdLst/>
              <a:ahLst/>
              <a:cxnLst>
                <a:cxn ang="0">
                  <a:pos x="27" y="0"/>
                </a:cxn>
                <a:cxn ang="0">
                  <a:pos x="0" y="1"/>
                </a:cxn>
                <a:cxn ang="0">
                  <a:pos x="6" y="0"/>
                </a:cxn>
                <a:cxn ang="0">
                  <a:pos x="27" y="0"/>
                </a:cxn>
              </a:cxnLst>
              <a:rect l="0" t="0" r="r" b="b"/>
              <a:pathLst>
                <a:path w="27" h="1">
                  <a:moveTo>
                    <a:pt x="27" y="0"/>
                  </a:moveTo>
                  <a:lnTo>
                    <a:pt x="0" y="1"/>
                  </a:lnTo>
                  <a:lnTo>
                    <a:pt x="6" y="0"/>
                  </a:lnTo>
                  <a:lnTo>
                    <a:pt x="27"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0" name="Freeform 379"/>
            <p:cNvSpPr>
              <a:spLocks/>
            </p:cNvSpPr>
            <p:nvPr/>
          </p:nvSpPr>
          <p:spPr bwMode="auto">
            <a:xfrm>
              <a:off x="3480" y="1308"/>
              <a:ext cx="13" cy="2"/>
            </a:xfrm>
            <a:custGeom>
              <a:avLst/>
              <a:gdLst/>
              <a:ahLst/>
              <a:cxnLst>
                <a:cxn ang="0">
                  <a:pos x="13" y="0"/>
                </a:cxn>
                <a:cxn ang="0">
                  <a:pos x="1" y="3"/>
                </a:cxn>
                <a:cxn ang="0">
                  <a:pos x="0" y="0"/>
                </a:cxn>
                <a:cxn ang="0">
                  <a:pos x="13" y="0"/>
                </a:cxn>
              </a:cxnLst>
              <a:rect l="0" t="0" r="r" b="b"/>
              <a:pathLst>
                <a:path w="13" h="3">
                  <a:moveTo>
                    <a:pt x="13" y="0"/>
                  </a:moveTo>
                  <a:lnTo>
                    <a:pt x="1" y="3"/>
                  </a:lnTo>
                  <a:lnTo>
                    <a:pt x="0" y="0"/>
                  </a:lnTo>
                  <a:lnTo>
                    <a:pt x="1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1" name="Freeform 380"/>
            <p:cNvSpPr>
              <a:spLocks/>
            </p:cNvSpPr>
            <p:nvPr/>
          </p:nvSpPr>
          <p:spPr bwMode="auto">
            <a:xfrm>
              <a:off x="3156" y="1190"/>
              <a:ext cx="22" cy="2"/>
            </a:xfrm>
            <a:custGeom>
              <a:avLst/>
              <a:gdLst/>
              <a:ahLst/>
              <a:cxnLst>
                <a:cxn ang="0">
                  <a:pos x="20" y="0"/>
                </a:cxn>
                <a:cxn ang="0">
                  <a:pos x="0" y="0"/>
                </a:cxn>
                <a:cxn ang="0">
                  <a:pos x="9" y="2"/>
                </a:cxn>
                <a:cxn ang="0">
                  <a:pos x="20" y="0"/>
                </a:cxn>
              </a:cxnLst>
              <a:rect l="0" t="0" r="r" b="b"/>
              <a:pathLst>
                <a:path w="20" h="2">
                  <a:moveTo>
                    <a:pt x="20" y="0"/>
                  </a:moveTo>
                  <a:lnTo>
                    <a:pt x="0" y="0"/>
                  </a:lnTo>
                  <a:lnTo>
                    <a:pt x="9" y="2"/>
                  </a:lnTo>
                  <a:lnTo>
                    <a:pt x="2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2" name="Freeform 381"/>
            <p:cNvSpPr>
              <a:spLocks/>
            </p:cNvSpPr>
            <p:nvPr/>
          </p:nvSpPr>
          <p:spPr bwMode="auto">
            <a:xfrm>
              <a:off x="4966" y="1610"/>
              <a:ext cx="25" cy="13"/>
            </a:xfrm>
            <a:custGeom>
              <a:avLst/>
              <a:gdLst/>
              <a:ahLst/>
              <a:cxnLst>
                <a:cxn ang="0">
                  <a:pos x="23" y="12"/>
                </a:cxn>
                <a:cxn ang="0">
                  <a:pos x="0" y="0"/>
                </a:cxn>
                <a:cxn ang="0">
                  <a:pos x="19" y="8"/>
                </a:cxn>
                <a:cxn ang="0">
                  <a:pos x="23" y="12"/>
                </a:cxn>
              </a:cxnLst>
              <a:rect l="0" t="0" r="r" b="b"/>
              <a:pathLst>
                <a:path w="23" h="12">
                  <a:moveTo>
                    <a:pt x="23" y="12"/>
                  </a:moveTo>
                  <a:lnTo>
                    <a:pt x="0" y="0"/>
                  </a:lnTo>
                  <a:lnTo>
                    <a:pt x="19" y="8"/>
                  </a:lnTo>
                  <a:lnTo>
                    <a:pt x="23"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3" name="Freeform 382"/>
            <p:cNvSpPr>
              <a:spLocks/>
            </p:cNvSpPr>
            <p:nvPr/>
          </p:nvSpPr>
          <p:spPr bwMode="auto">
            <a:xfrm>
              <a:off x="4120" y="1254"/>
              <a:ext cx="13" cy="7"/>
            </a:xfrm>
            <a:custGeom>
              <a:avLst/>
              <a:gdLst/>
              <a:ahLst/>
              <a:cxnLst>
                <a:cxn ang="0">
                  <a:pos x="11" y="4"/>
                </a:cxn>
                <a:cxn ang="0">
                  <a:pos x="0" y="0"/>
                </a:cxn>
                <a:cxn ang="0">
                  <a:pos x="12" y="6"/>
                </a:cxn>
                <a:cxn ang="0">
                  <a:pos x="11" y="4"/>
                </a:cxn>
              </a:cxnLst>
              <a:rect l="0" t="0" r="r" b="b"/>
              <a:pathLst>
                <a:path w="12" h="6">
                  <a:moveTo>
                    <a:pt x="11" y="4"/>
                  </a:moveTo>
                  <a:lnTo>
                    <a:pt x="0" y="0"/>
                  </a:lnTo>
                  <a:lnTo>
                    <a:pt x="12" y="6"/>
                  </a:lnTo>
                  <a:lnTo>
                    <a:pt x="1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4" name="Freeform 383"/>
            <p:cNvSpPr>
              <a:spLocks/>
            </p:cNvSpPr>
            <p:nvPr/>
          </p:nvSpPr>
          <p:spPr bwMode="auto">
            <a:xfrm>
              <a:off x="2847" y="1543"/>
              <a:ext cx="13" cy="2"/>
            </a:xfrm>
            <a:custGeom>
              <a:avLst/>
              <a:gdLst/>
              <a:ahLst/>
              <a:cxnLst>
                <a:cxn ang="0">
                  <a:pos x="11" y="1"/>
                </a:cxn>
                <a:cxn ang="0">
                  <a:pos x="0" y="1"/>
                </a:cxn>
                <a:cxn ang="0">
                  <a:pos x="4" y="0"/>
                </a:cxn>
                <a:cxn ang="0">
                  <a:pos x="11" y="1"/>
                </a:cxn>
              </a:cxnLst>
              <a:rect l="0" t="0" r="r" b="b"/>
              <a:pathLst>
                <a:path w="11" h="1">
                  <a:moveTo>
                    <a:pt x="11" y="1"/>
                  </a:moveTo>
                  <a:lnTo>
                    <a:pt x="0" y="1"/>
                  </a:lnTo>
                  <a:lnTo>
                    <a:pt x="4" y="0"/>
                  </a:lnTo>
                  <a:lnTo>
                    <a:pt x="1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5" name="Rectangle 384"/>
            <p:cNvSpPr>
              <a:spLocks noChangeArrowheads="1"/>
            </p:cNvSpPr>
            <p:nvPr/>
          </p:nvSpPr>
          <p:spPr bwMode="auto">
            <a:xfrm>
              <a:off x="2729" y="1830"/>
              <a:ext cx="0" cy="0"/>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386" name="Freeform 385"/>
            <p:cNvSpPr>
              <a:spLocks/>
            </p:cNvSpPr>
            <p:nvPr/>
          </p:nvSpPr>
          <p:spPr bwMode="auto">
            <a:xfrm>
              <a:off x="2787" y="1721"/>
              <a:ext cx="91" cy="33"/>
            </a:xfrm>
            <a:custGeom>
              <a:avLst/>
              <a:gdLst/>
              <a:ahLst/>
              <a:cxnLst>
                <a:cxn ang="0">
                  <a:pos x="30" y="0"/>
                </a:cxn>
                <a:cxn ang="0">
                  <a:pos x="30" y="1"/>
                </a:cxn>
                <a:cxn ang="0">
                  <a:pos x="26" y="5"/>
                </a:cxn>
                <a:cxn ang="0">
                  <a:pos x="22" y="7"/>
                </a:cxn>
                <a:cxn ang="0">
                  <a:pos x="22" y="9"/>
                </a:cxn>
                <a:cxn ang="0">
                  <a:pos x="17" y="13"/>
                </a:cxn>
                <a:cxn ang="0">
                  <a:pos x="10" y="15"/>
                </a:cxn>
                <a:cxn ang="0">
                  <a:pos x="5" y="15"/>
                </a:cxn>
                <a:cxn ang="0">
                  <a:pos x="0" y="15"/>
                </a:cxn>
                <a:cxn ang="0">
                  <a:pos x="10" y="28"/>
                </a:cxn>
                <a:cxn ang="0">
                  <a:pos x="14" y="29"/>
                </a:cxn>
                <a:cxn ang="0">
                  <a:pos x="32" y="30"/>
                </a:cxn>
                <a:cxn ang="0">
                  <a:pos x="54" y="19"/>
                </a:cxn>
                <a:cxn ang="0">
                  <a:pos x="78" y="21"/>
                </a:cxn>
                <a:cxn ang="0">
                  <a:pos x="82" y="9"/>
                </a:cxn>
                <a:cxn ang="0">
                  <a:pos x="60" y="4"/>
                </a:cxn>
                <a:cxn ang="0">
                  <a:pos x="48" y="5"/>
                </a:cxn>
                <a:cxn ang="0">
                  <a:pos x="46" y="1"/>
                </a:cxn>
                <a:cxn ang="0">
                  <a:pos x="30" y="0"/>
                </a:cxn>
              </a:cxnLst>
              <a:rect l="0" t="0" r="r" b="b"/>
              <a:pathLst>
                <a:path w="82" h="30">
                  <a:moveTo>
                    <a:pt x="30" y="0"/>
                  </a:moveTo>
                  <a:lnTo>
                    <a:pt x="30" y="1"/>
                  </a:lnTo>
                  <a:lnTo>
                    <a:pt x="26" y="5"/>
                  </a:lnTo>
                  <a:lnTo>
                    <a:pt x="22" y="7"/>
                  </a:lnTo>
                  <a:lnTo>
                    <a:pt x="22" y="9"/>
                  </a:lnTo>
                  <a:lnTo>
                    <a:pt x="17" y="13"/>
                  </a:lnTo>
                  <a:lnTo>
                    <a:pt x="10" y="15"/>
                  </a:lnTo>
                  <a:lnTo>
                    <a:pt x="5" y="15"/>
                  </a:lnTo>
                  <a:lnTo>
                    <a:pt x="0" y="15"/>
                  </a:lnTo>
                  <a:lnTo>
                    <a:pt x="10" y="28"/>
                  </a:lnTo>
                  <a:lnTo>
                    <a:pt x="14" y="29"/>
                  </a:lnTo>
                  <a:lnTo>
                    <a:pt x="32" y="30"/>
                  </a:lnTo>
                  <a:lnTo>
                    <a:pt x="54" y="19"/>
                  </a:lnTo>
                  <a:lnTo>
                    <a:pt x="78" y="21"/>
                  </a:lnTo>
                  <a:lnTo>
                    <a:pt x="82" y="9"/>
                  </a:lnTo>
                  <a:lnTo>
                    <a:pt x="60" y="4"/>
                  </a:lnTo>
                  <a:lnTo>
                    <a:pt x="48" y="5"/>
                  </a:lnTo>
                  <a:lnTo>
                    <a:pt x="46" y="1"/>
                  </a:lnTo>
                  <a:lnTo>
                    <a:pt x="3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7" name="Freeform 386"/>
            <p:cNvSpPr>
              <a:spLocks/>
            </p:cNvSpPr>
            <p:nvPr/>
          </p:nvSpPr>
          <p:spPr bwMode="auto">
            <a:xfrm>
              <a:off x="2742" y="1772"/>
              <a:ext cx="47" cy="29"/>
            </a:xfrm>
            <a:custGeom>
              <a:avLst/>
              <a:gdLst/>
              <a:ahLst/>
              <a:cxnLst>
                <a:cxn ang="0">
                  <a:pos x="7" y="25"/>
                </a:cxn>
                <a:cxn ang="0">
                  <a:pos x="13" y="25"/>
                </a:cxn>
                <a:cxn ang="0">
                  <a:pos x="15" y="22"/>
                </a:cxn>
                <a:cxn ang="0">
                  <a:pos x="18" y="24"/>
                </a:cxn>
                <a:cxn ang="0">
                  <a:pos x="19" y="23"/>
                </a:cxn>
                <a:cxn ang="0">
                  <a:pos x="23" y="25"/>
                </a:cxn>
                <a:cxn ang="0">
                  <a:pos x="26" y="25"/>
                </a:cxn>
                <a:cxn ang="0">
                  <a:pos x="25" y="22"/>
                </a:cxn>
                <a:cxn ang="0">
                  <a:pos x="25" y="20"/>
                </a:cxn>
                <a:cxn ang="0">
                  <a:pos x="30" y="18"/>
                </a:cxn>
                <a:cxn ang="0">
                  <a:pos x="32" y="18"/>
                </a:cxn>
                <a:cxn ang="0">
                  <a:pos x="30" y="16"/>
                </a:cxn>
                <a:cxn ang="0">
                  <a:pos x="30" y="14"/>
                </a:cxn>
                <a:cxn ang="0">
                  <a:pos x="29" y="11"/>
                </a:cxn>
                <a:cxn ang="0">
                  <a:pos x="33" y="10"/>
                </a:cxn>
                <a:cxn ang="0">
                  <a:pos x="35" y="8"/>
                </a:cxn>
                <a:cxn ang="0">
                  <a:pos x="39" y="8"/>
                </a:cxn>
                <a:cxn ang="0">
                  <a:pos x="39" y="7"/>
                </a:cxn>
                <a:cxn ang="0">
                  <a:pos x="41" y="6"/>
                </a:cxn>
                <a:cxn ang="0">
                  <a:pos x="42" y="5"/>
                </a:cxn>
                <a:cxn ang="0">
                  <a:pos x="37" y="2"/>
                </a:cxn>
                <a:cxn ang="0">
                  <a:pos x="36" y="0"/>
                </a:cxn>
                <a:cxn ang="0">
                  <a:pos x="8" y="7"/>
                </a:cxn>
                <a:cxn ang="0">
                  <a:pos x="2" y="6"/>
                </a:cxn>
                <a:cxn ang="0">
                  <a:pos x="0" y="12"/>
                </a:cxn>
                <a:cxn ang="0">
                  <a:pos x="3" y="23"/>
                </a:cxn>
                <a:cxn ang="0">
                  <a:pos x="7" y="25"/>
                </a:cxn>
              </a:cxnLst>
              <a:rect l="0" t="0" r="r" b="b"/>
              <a:pathLst>
                <a:path w="42" h="25">
                  <a:moveTo>
                    <a:pt x="7" y="25"/>
                  </a:moveTo>
                  <a:lnTo>
                    <a:pt x="13" y="25"/>
                  </a:lnTo>
                  <a:lnTo>
                    <a:pt x="15" y="22"/>
                  </a:lnTo>
                  <a:lnTo>
                    <a:pt x="18" y="24"/>
                  </a:lnTo>
                  <a:lnTo>
                    <a:pt x="19" y="23"/>
                  </a:lnTo>
                  <a:lnTo>
                    <a:pt x="23" y="25"/>
                  </a:lnTo>
                  <a:lnTo>
                    <a:pt x="26" y="25"/>
                  </a:lnTo>
                  <a:lnTo>
                    <a:pt x="25" y="22"/>
                  </a:lnTo>
                  <a:lnTo>
                    <a:pt x="25" y="20"/>
                  </a:lnTo>
                  <a:lnTo>
                    <a:pt x="30" y="18"/>
                  </a:lnTo>
                  <a:lnTo>
                    <a:pt x="32" y="18"/>
                  </a:lnTo>
                  <a:lnTo>
                    <a:pt x="30" y="16"/>
                  </a:lnTo>
                  <a:lnTo>
                    <a:pt x="30" y="14"/>
                  </a:lnTo>
                  <a:lnTo>
                    <a:pt x="29" y="11"/>
                  </a:lnTo>
                  <a:lnTo>
                    <a:pt x="33" y="10"/>
                  </a:lnTo>
                  <a:lnTo>
                    <a:pt x="35" y="8"/>
                  </a:lnTo>
                  <a:lnTo>
                    <a:pt x="39" y="8"/>
                  </a:lnTo>
                  <a:lnTo>
                    <a:pt x="39" y="7"/>
                  </a:lnTo>
                  <a:lnTo>
                    <a:pt x="41" y="6"/>
                  </a:lnTo>
                  <a:lnTo>
                    <a:pt x="42" y="5"/>
                  </a:lnTo>
                  <a:lnTo>
                    <a:pt x="37" y="2"/>
                  </a:lnTo>
                  <a:lnTo>
                    <a:pt x="36" y="0"/>
                  </a:lnTo>
                  <a:lnTo>
                    <a:pt x="8" y="7"/>
                  </a:lnTo>
                  <a:lnTo>
                    <a:pt x="2" y="6"/>
                  </a:lnTo>
                  <a:lnTo>
                    <a:pt x="0" y="12"/>
                  </a:lnTo>
                  <a:lnTo>
                    <a:pt x="3" y="23"/>
                  </a:lnTo>
                  <a:lnTo>
                    <a:pt x="7" y="2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8" name="Freeform 387"/>
            <p:cNvSpPr>
              <a:spLocks/>
            </p:cNvSpPr>
            <p:nvPr/>
          </p:nvSpPr>
          <p:spPr bwMode="auto">
            <a:xfrm>
              <a:off x="2691" y="1363"/>
              <a:ext cx="162" cy="247"/>
            </a:xfrm>
            <a:custGeom>
              <a:avLst/>
              <a:gdLst/>
              <a:ahLst/>
              <a:cxnLst>
                <a:cxn ang="0">
                  <a:pos x="101" y="85"/>
                </a:cxn>
                <a:cxn ang="0">
                  <a:pos x="84" y="95"/>
                </a:cxn>
                <a:cxn ang="0">
                  <a:pos x="74" y="103"/>
                </a:cxn>
                <a:cxn ang="0">
                  <a:pos x="71" y="115"/>
                </a:cxn>
                <a:cxn ang="0">
                  <a:pos x="90" y="139"/>
                </a:cxn>
                <a:cxn ang="0">
                  <a:pos x="83" y="153"/>
                </a:cxn>
                <a:cxn ang="0">
                  <a:pos x="79" y="151"/>
                </a:cxn>
                <a:cxn ang="0">
                  <a:pos x="91" y="155"/>
                </a:cxn>
                <a:cxn ang="0">
                  <a:pos x="82" y="158"/>
                </a:cxn>
                <a:cxn ang="0">
                  <a:pos x="67" y="165"/>
                </a:cxn>
                <a:cxn ang="0">
                  <a:pos x="71" y="170"/>
                </a:cxn>
                <a:cxn ang="0">
                  <a:pos x="72" y="181"/>
                </a:cxn>
                <a:cxn ang="0">
                  <a:pos x="68" y="193"/>
                </a:cxn>
                <a:cxn ang="0">
                  <a:pos x="44" y="211"/>
                </a:cxn>
                <a:cxn ang="0">
                  <a:pos x="28" y="219"/>
                </a:cxn>
                <a:cxn ang="0">
                  <a:pos x="20" y="195"/>
                </a:cxn>
                <a:cxn ang="0">
                  <a:pos x="8" y="173"/>
                </a:cxn>
                <a:cxn ang="0">
                  <a:pos x="4" y="171"/>
                </a:cxn>
                <a:cxn ang="0">
                  <a:pos x="2" y="161"/>
                </a:cxn>
                <a:cxn ang="0">
                  <a:pos x="12" y="131"/>
                </a:cxn>
                <a:cxn ang="0">
                  <a:pos x="17" y="121"/>
                </a:cxn>
                <a:cxn ang="0">
                  <a:pos x="7" y="99"/>
                </a:cxn>
                <a:cxn ang="0">
                  <a:pos x="17" y="77"/>
                </a:cxn>
                <a:cxn ang="0">
                  <a:pos x="22" y="69"/>
                </a:cxn>
                <a:cxn ang="0">
                  <a:pos x="29" y="45"/>
                </a:cxn>
                <a:cxn ang="0">
                  <a:pos x="46" y="33"/>
                </a:cxn>
                <a:cxn ang="0">
                  <a:pos x="67" y="13"/>
                </a:cxn>
                <a:cxn ang="0">
                  <a:pos x="89" y="8"/>
                </a:cxn>
                <a:cxn ang="0">
                  <a:pos x="94" y="0"/>
                </a:cxn>
                <a:cxn ang="0">
                  <a:pos x="139" y="35"/>
                </a:cxn>
                <a:cxn ang="0">
                  <a:pos x="128" y="49"/>
                </a:cxn>
                <a:cxn ang="0">
                  <a:pos x="122" y="54"/>
                </a:cxn>
                <a:cxn ang="0">
                  <a:pos x="114" y="57"/>
                </a:cxn>
                <a:cxn ang="0">
                  <a:pos x="115" y="73"/>
                </a:cxn>
              </a:cxnLst>
              <a:rect l="0" t="0" r="r" b="b"/>
              <a:pathLst>
                <a:path w="145" h="221">
                  <a:moveTo>
                    <a:pt x="115" y="73"/>
                  </a:moveTo>
                  <a:lnTo>
                    <a:pt x="101" y="85"/>
                  </a:lnTo>
                  <a:lnTo>
                    <a:pt x="90" y="91"/>
                  </a:lnTo>
                  <a:lnTo>
                    <a:pt x="84" y="95"/>
                  </a:lnTo>
                  <a:lnTo>
                    <a:pt x="77" y="96"/>
                  </a:lnTo>
                  <a:lnTo>
                    <a:pt x="74" y="103"/>
                  </a:lnTo>
                  <a:lnTo>
                    <a:pt x="72" y="105"/>
                  </a:lnTo>
                  <a:lnTo>
                    <a:pt x="71" y="115"/>
                  </a:lnTo>
                  <a:lnTo>
                    <a:pt x="76" y="133"/>
                  </a:lnTo>
                  <a:lnTo>
                    <a:pt x="90" y="139"/>
                  </a:lnTo>
                  <a:lnTo>
                    <a:pt x="96" y="146"/>
                  </a:lnTo>
                  <a:lnTo>
                    <a:pt x="83" y="153"/>
                  </a:lnTo>
                  <a:lnTo>
                    <a:pt x="78" y="149"/>
                  </a:lnTo>
                  <a:lnTo>
                    <a:pt x="79" y="151"/>
                  </a:lnTo>
                  <a:lnTo>
                    <a:pt x="62" y="152"/>
                  </a:lnTo>
                  <a:lnTo>
                    <a:pt x="91" y="155"/>
                  </a:lnTo>
                  <a:lnTo>
                    <a:pt x="83" y="161"/>
                  </a:lnTo>
                  <a:lnTo>
                    <a:pt x="82" y="158"/>
                  </a:lnTo>
                  <a:lnTo>
                    <a:pt x="73" y="167"/>
                  </a:lnTo>
                  <a:lnTo>
                    <a:pt x="67" y="165"/>
                  </a:lnTo>
                  <a:lnTo>
                    <a:pt x="72" y="169"/>
                  </a:lnTo>
                  <a:lnTo>
                    <a:pt x="71" y="170"/>
                  </a:lnTo>
                  <a:lnTo>
                    <a:pt x="70" y="176"/>
                  </a:lnTo>
                  <a:lnTo>
                    <a:pt x="72" y="181"/>
                  </a:lnTo>
                  <a:lnTo>
                    <a:pt x="71" y="180"/>
                  </a:lnTo>
                  <a:lnTo>
                    <a:pt x="68" y="193"/>
                  </a:lnTo>
                  <a:lnTo>
                    <a:pt x="66" y="206"/>
                  </a:lnTo>
                  <a:lnTo>
                    <a:pt x="44" y="211"/>
                  </a:lnTo>
                  <a:lnTo>
                    <a:pt x="42" y="221"/>
                  </a:lnTo>
                  <a:lnTo>
                    <a:pt x="28" y="219"/>
                  </a:lnTo>
                  <a:lnTo>
                    <a:pt x="23" y="206"/>
                  </a:lnTo>
                  <a:lnTo>
                    <a:pt x="20" y="195"/>
                  </a:lnTo>
                  <a:lnTo>
                    <a:pt x="7" y="177"/>
                  </a:lnTo>
                  <a:lnTo>
                    <a:pt x="8" y="173"/>
                  </a:lnTo>
                  <a:lnTo>
                    <a:pt x="5" y="171"/>
                  </a:lnTo>
                  <a:lnTo>
                    <a:pt x="4" y="171"/>
                  </a:lnTo>
                  <a:lnTo>
                    <a:pt x="0" y="162"/>
                  </a:lnTo>
                  <a:lnTo>
                    <a:pt x="2" y="161"/>
                  </a:lnTo>
                  <a:lnTo>
                    <a:pt x="10" y="145"/>
                  </a:lnTo>
                  <a:lnTo>
                    <a:pt x="12" y="131"/>
                  </a:lnTo>
                  <a:lnTo>
                    <a:pt x="12" y="126"/>
                  </a:lnTo>
                  <a:lnTo>
                    <a:pt x="17" y="121"/>
                  </a:lnTo>
                  <a:lnTo>
                    <a:pt x="7" y="115"/>
                  </a:lnTo>
                  <a:lnTo>
                    <a:pt x="7" y="99"/>
                  </a:lnTo>
                  <a:lnTo>
                    <a:pt x="6" y="84"/>
                  </a:lnTo>
                  <a:lnTo>
                    <a:pt x="17" y="77"/>
                  </a:lnTo>
                  <a:lnTo>
                    <a:pt x="28" y="75"/>
                  </a:lnTo>
                  <a:lnTo>
                    <a:pt x="22" y="69"/>
                  </a:lnTo>
                  <a:lnTo>
                    <a:pt x="31" y="49"/>
                  </a:lnTo>
                  <a:lnTo>
                    <a:pt x="29" y="45"/>
                  </a:lnTo>
                  <a:lnTo>
                    <a:pt x="40" y="43"/>
                  </a:lnTo>
                  <a:lnTo>
                    <a:pt x="46" y="33"/>
                  </a:lnTo>
                  <a:lnTo>
                    <a:pt x="52" y="18"/>
                  </a:lnTo>
                  <a:lnTo>
                    <a:pt x="67" y="13"/>
                  </a:lnTo>
                  <a:lnTo>
                    <a:pt x="68" y="8"/>
                  </a:lnTo>
                  <a:lnTo>
                    <a:pt x="89" y="8"/>
                  </a:lnTo>
                  <a:lnTo>
                    <a:pt x="88" y="0"/>
                  </a:lnTo>
                  <a:lnTo>
                    <a:pt x="94" y="0"/>
                  </a:lnTo>
                  <a:lnTo>
                    <a:pt x="127" y="14"/>
                  </a:lnTo>
                  <a:lnTo>
                    <a:pt x="139" y="35"/>
                  </a:lnTo>
                  <a:lnTo>
                    <a:pt x="145" y="50"/>
                  </a:lnTo>
                  <a:lnTo>
                    <a:pt x="128" y="49"/>
                  </a:lnTo>
                  <a:lnTo>
                    <a:pt x="124" y="51"/>
                  </a:lnTo>
                  <a:lnTo>
                    <a:pt x="122" y="54"/>
                  </a:lnTo>
                  <a:lnTo>
                    <a:pt x="120" y="53"/>
                  </a:lnTo>
                  <a:lnTo>
                    <a:pt x="114" y="57"/>
                  </a:lnTo>
                  <a:lnTo>
                    <a:pt x="112" y="66"/>
                  </a:lnTo>
                  <a:lnTo>
                    <a:pt x="115"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9" name="Freeform 388"/>
            <p:cNvSpPr>
              <a:spLocks/>
            </p:cNvSpPr>
            <p:nvPr/>
          </p:nvSpPr>
          <p:spPr bwMode="auto">
            <a:xfrm>
              <a:off x="2793" y="1563"/>
              <a:ext cx="9" cy="16"/>
            </a:xfrm>
            <a:custGeom>
              <a:avLst/>
              <a:gdLst/>
              <a:ahLst/>
              <a:cxnLst>
                <a:cxn ang="0">
                  <a:pos x="8" y="0"/>
                </a:cxn>
                <a:cxn ang="0">
                  <a:pos x="8" y="3"/>
                </a:cxn>
                <a:cxn ang="0">
                  <a:pos x="4" y="12"/>
                </a:cxn>
                <a:cxn ang="0">
                  <a:pos x="3" y="13"/>
                </a:cxn>
                <a:cxn ang="0">
                  <a:pos x="0" y="7"/>
                </a:cxn>
                <a:cxn ang="0">
                  <a:pos x="8" y="0"/>
                </a:cxn>
              </a:cxnLst>
              <a:rect l="0" t="0" r="r" b="b"/>
              <a:pathLst>
                <a:path w="8" h="13">
                  <a:moveTo>
                    <a:pt x="8" y="0"/>
                  </a:moveTo>
                  <a:lnTo>
                    <a:pt x="8" y="3"/>
                  </a:lnTo>
                  <a:lnTo>
                    <a:pt x="4" y="12"/>
                  </a:lnTo>
                  <a:lnTo>
                    <a:pt x="3" y="13"/>
                  </a:lnTo>
                  <a:lnTo>
                    <a:pt x="0" y="7"/>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0" name="Freeform 389"/>
            <p:cNvSpPr>
              <a:spLocks/>
            </p:cNvSpPr>
            <p:nvPr/>
          </p:nvSpPr>
          <p:spPr bwMode="auto">
            <a:xfrm>
              <a:off x="2627" y="1756"/>
              <a:ext cx="69" cy="34"/>
            </a:xfrm>
            <a:custGeom>
              <a:avLst/>
              <a:gdLst/>
              <a:ahLst/>
              <a:cxnLst>
                <a:cxn ang="0">
                  <a:pos x="58" y="18"/>
                </a:cxn>
                <a:cxn ang="0">
                  <a:pos x="56" y="23"/>
                </a:cxn>
                <a:cxn ang="0">
                  <a:pos x="45" y="23"/>
                </a:cxn>
                <a:cxn ang="0">
                  <a:pos x="40" y="30"/>
                </a:cxn>
                <a:cxn ang="0">
                  <a:pos x="30" y="23"/>
                </a:cxn>
                <a:cxn ang="0">
                  <a:pos x="22" y="29"/>
                </a:cxn>
                <a:cxn ang="0">
                  <a:pos x="14" y="30"/>
                </a:cxn>
                <a:cxn ang="0">
                  <a:pos x="5" y="20"/>
                </a:cxn>
                <a:cxn ang="0">
                  <a:pos x="0" y="24"/>
                </a:cxn>
                <a:cxn ang="0">
                  <a:pos x="12" y="6"/>
                </a:cxn>
                <a:cxn ang="0">
                  <a:pos x="16" y="3"/>
                </a:cxn>
                <a:cxn ang="0">
                  <a:pos x="21" y="1"/>
                </a:cxn>
                <a:cxn ang="0">
                  <a:pos x="34" y="0"/>
                </a:cxn>
                <a:cxn ang="0">
                  <a:pos x="48" y="2"/>
                </a:cxn>
                <a:cxn ang="0">
                  <a:pos x="47" y="6"/>
                </a:cxn>
                <a:cxn ang="0">
                  <a:pos x="47" y="8"/>
                </a:cxn>
                <a:cxn ang="0">
                  <a:pos x="47" y="9"/>
                </a:cxn>
                <a:cxn ang="0">
                  <a:pos x="50" y="9"/>
                </a:cxn>
                <a:cxn ang="0">
                  <a:pos x="62" y="13"/>
                </a:cxn>
                <a:cxn ang="0">
                  <a:pos x="62" y="14"/>
                </a:cxn>
                <a:cxn ang="0">
                  <a:pos x="58" y="18"/>
                </a:cxn>
              </a:cxnLst>
              <a:rect l="0" t="0" r="r" b="b"/>
              <a:pathLst>
                <a:path w="62" h="30">
                  <a:moveTo>
                    <a:pt x="58" y="18"/>
                  </a:moveTo>
                  <a:lnTo>
                    <a:pt x="56" y="23"/>
                  </a:lnTo>
                  <a:lnTo>
                    <a:pt x="45" y="23"/>
                  </a:lnTo>
                  <a:lnTo>
                    <a:pt x="40" y="30"/>
                  </a:lnTo>
                  <a:lnTo>
                    <a:pt x="30" y="23"/>
                  </a:lnTo>
                  <a:lnTo>
                    <a:pt x="22" y="29"/>
                  </a:lnTo>
                  <a:lnTo>
                    <a:pt x="14" y="30"/>
                  </a:lnTo>
                  <a:lnTo>
                    <a:pt x="5" y="20"/>
                  </a:lnTo>
                  <a:lnTo>
                    <a:pt x="0" y="24"/>
                  </a:lnTo>
                  <a:lnTo>
                    <a:pt x="12" y="6"/>
                  </a:lnTo>
                  <a:lnTo>
                    <a:pt x="16" y="3"/>
                  </a:lnTo>
                  <a:lnTo>
                    <a:pt x="21" y="1"/>
                  </a:lnTo>
                  <a:lnTo>
                    <a:pt x="34" y="0"/>
                  </a:lnTo>
                  <a:lnTo>
                    <a:pt x="48" y="2"/>
                  </a:lnTo>
                  <a:lnTo>
                    <a:pt x="47" y="6"/>
                  </a:lnTo>
                  <a:lnTo>
                    <a:pt x="47" y="8"/>
                  </a:lnTo>
                  <a:lnTo>
                    <a:pt x="47" y="9"/>
                  </a:lnTo>
                  <a:lnTo>
                    <a:pt x="50" y="9"/>
                  </a:lnTo>
                  <a:lnTo>
                    <a:pt x="62" y="13"/>
                  </a:lnTo>
                  <a:lnTo>
                    <a:pt x="62" y="14"/>
                  </a:lnTo>
                  <a:lnTo>
                    <a:pt x="58"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1" name="Freeform 390"/>
            <p:cNvSpPr>
              <a:spLocks/>
            </p:cNvSpPr>
            <p:nvPr/>
          </p:nvSpPr>
          <p:spPr bwMode="auto">
            <a:xfrm>
              <a:off x="2873" y="1663"/>
              <a:ext cx="285" cy="158"/>
            </a:xfrm>
            <a:custGeom>
              <a:avLst/>
              <a:gdLst/>
              <a:ahLst/>
              <a:cxnLst>
                <a:cxn ang="0">
                  <a:pos x="135" y="0"/>
                </a:cxn>
                <a:cxn ang="0">
                  <a:pos x="124" y="3"/>
                </a:cxn>
                <a:cxn ang="0">
                  <a:pos x="107" y="12"/>
                </a:cxn>
                <a:cxn ang="0">
                  <a:pos x="108" y="19"/>
                </a:cxn>
                <a:cxn ang="0">
                  <a:pos x="84" y="14"/>
                </a:cxn>
                <a:cxn ang="0">
                  <a:pos x="60" y="9"/>
                </a:cxn>
                <a:cxn ang="0">
                  <a:pos x="38" y="9"/>
                </a:cxn>
                <a:cxn ang="0">
                  <a:pos x="14" y="9"/>
                </a:cxn>
                <a:cxn ang="0">
                  <a:pos x="21" y="28"/>
                </a:cxn>
                <a:cxn ang="0">
                  <a:pos x="20" y="37"/>
                </a:cxn>
                <a:cxn ang="0">
                  <a:pos x="6" y="55"/>
                </a:cxn>
                <a:cxn ang="0">
                  <a:pos x="4" y="60"/>
                </a:cxn>
                <a:cxn ang="0">
                  <a:pos x="0" y="72"/>
                </a:cxn>
                <a:cxn ang="0">
                  <a:pos x="11" y="80"/>
                </a:cxn>
                <a:cxn ang="0">
                  <a:pos x="12" y="79"/>
                </a:cxn>
                <a:cxn ang="0">
                  <a:pos x="39" y="81"/>
                </a:cxn>
                <a:cxn ang="0">
                  <a:pos x="63" y="74"/>
                </a:cxn>
                <a:cxn ang="0">
                  <a:pos x="75" y="64"/>
                </a:cxn>
                <a:cxn ang="0">
                  <a:pos x="80" y="66"/>
                </a:cxn>
                <a:cxn ang="0">
                  <a:pos x="90" y="76"/>
                </a:cxn>
                <a:cxn ang="0">
                  <a:pos x="101" y="87"/>
                </a:cxn>
                <a:cxn ang="0">
                  <a:pos x="113" y="97"/>
                </a:cxn>
                <a:cxn ang="0">
                  <a:pos x="124" y="108"/>
                </a:cxn>
                <a:cxn ang="0">
                  <a:pos x="136" y="100"/>
                </a:cxn>
                <a:cxn ang="0">
                  <a:pos x="140" y="103"/>
                </a:cxn>
                <a:cxn ang="0">
                  <a:pos x="138" y="94"/>
                </a:cxn>
                <a:cxn ang="0">
                  <a:pos x="141" y="100"/>
                </a:cxn>
                <a:cxn ang="0">
                  <a:pos x="152" y="103"/>
                </a:cxn>
                <a:cxn ang="0">
                  <a:pos x="137" y="104"/>
                </a:cxn>
                <a:cxn ang="0">
                  <a:pos x="143" y="108"/>
                </a:cxn>
                <a:cxn ang="0">
                  <a:pos x="155" y="111"/>
                </a:cxn>
                <a:cxn ang="0">
                  <a:pos x="167" y="114"/>
                </a:cxn>
                <a:cxn ang="0">
                  <a:pos x="153" y="123"/>
                </a:cxn>
                <a:cxn ang="0">
                  <a:pos x="164" y="128"/>
                </a:cxn>
                <a:cxn ang="0">
                  <a:pos x="170" y="134"/>
                </a:cxn>
                <a:cxn ang="0">
                  <a:pos x="172" y="141"/>
                </a:cxn>
                <a:cxn ang="0">
                  <a:pos x="192" y="133"/>
                </a:cxn>
                <a:cxn ang="0">
                  <a:pos x="202" y="132"/>
                </a:cxn>
                <a:cxn ang="0">
                  <a:pos x="210" y="126"/>
                </a:cxn>
                <a:cxn ang="0">
                  <a:pos x="198" y="126"/>
                </a:cxn>
                <a:cxn ang="0">
                  <a:pos x="185" y="115"/>
                </a:cxn>
                <a:cxn ang="0">
                  <a:pos x="189" y="106"/>
                </a:cxn>
                <a:cxn ang="0">
                  <a:pos x="186" y="111"/>
                </a:cxn>
                <a:cxn ang="0">
                  <a:pos x="191" y="108"/>
                </a:cxn>
                <a:cxn ang="0">
                  <a:pos x="210" y="100"/>
                </a:cxn>
                <a:cxn ang="0">
                  <a:pos x="232" y="92"/>
                </a:cxn>
                <a:cxn ang="0">
                  <a:pos x="240" y="91"/>
                </a:cxn>
                <a:cxn ang="0">
                  <a:pos x="245" y="81"/>
                </a:cxn>
                <a:cxn ang="0">
                  <a:pos x="256" y="75"/>
                </a:cxn>
                <a:cxn ang="0">
                  <a:pos x="248" y="51"/>
                </a:cxn>
                <a:cxn ang="0">
                  <a:pos x="226" y="44"/>
                </a:cxn>
                <a:cxn ang="0">
                  <a:pos x="206" y="38"/>
                </a:cxn>
                <a:cxn ang="0">
                  <a:pos x="196" y="39"/>
                </a:cxn>
                <a:cxn ang="0">
                  <a:pos x="178" y="24"/>
                </a:cxn>
                <a:cxn ang="0">
                  <a:pos x="160" y="8"/>
                </a:cxn>
                <a:cxn ang="0">
                  <a:pos x="158" y="2"/>
                </a:cxn>
                <a:cxn ang="0">
                  <a:pos x="135" y="0"/>
                </a:cxn>
              </a:cxnLst>
              <a:rect l="0" t="0" r="r" b="b"/>
              <a:pathLst>
                <a:path w="256" h="141">
                  <a:moveTo>
                    <a:pt x="135" y="0"/>
                  </a:moveTo>
                  <a:lnTo>
                    <a:pt x="124" y="3"/>
                  </a:lnTo>
                  <a:lnTo>
                    <a:pt x="107" y="12"/>
                  </a:lnTo>
                  <a:lnTo>
                    <a:pt x="108" y="19"/>
                  </a:lnTo>
                  <a:lnTo>
                    <a:pt x="84" y="14"/>
                  </a:lnTo>
                  <a:lnTo>
                    <a:pt x="60" y="9"/>
                  </a:lnTo>
                  <a:lnTo>
                    <a:pt x="38" y="9"/>
                  </a:lnTo>
                  <a:lnTo>
                    <a:pt x="14" y="9"/>
                  </a:lnTo>
                  <a:lnTo>
                    <a:pt x="21" y="28"/>
                  </a:lnTo>
                  <a:lnTo>
                    <a:pt x="20" y="37"/>
                  </a:lnTo>
                  <a:lnTo>
                    <a:pt x="6" y="55"/>
                  </a:lnTo>
                  <a:lnTo>
                    <a:pt x="4" y="60"/>
                  </a:lnTo>
                  <a:lnTo>
                    <a:pt x="0" y="72"/>
                  </a:lnTo>
                  <a:lnTo>
                    <a:pt x="11" y="80"/>
                  </a:lnTo>
                  <a:lnTo>
                    <a:pt x="12" y="79"/>
                  </a:lnTo>
                  <a:lnTo>
                    <a:pt x="39" y="81"/>
                  </a:lnTo>
                  <a:lnTo>
                    <a:pt x="63" y="74"/>
                  </a:lnTo>
                  <a:lnTo>
                    <a:pt x="75" y="64"/>
                  </a:lnTo>
                  <a:lnTo>
                    <a:pt x="80" y="66"/>
                  </a:lnTo>
                  <a:lnTo>
                    <a:pt x="90" y="76"/>
                  </a:lnTo>
                  <a:lnTo>
                    <a:pt x="101" y="87"/>
                  </a:lnTo>
                  <a:lnTo>
                    <a:pt x="113" y="97"/>
                  </a:lnTo>
                  <a:lnTo>
                    <a:pt x="124" y="108"/>
                  </a:lnTo>
                  <a:lnTo>
                    <a:pt x="136" y="100"/>
                  </a:lnTo>
                  <a:lnTo>
                    <a:pt x="140" y="103"/>
                  </a:lnTo>
                  <a:lnTo>
                    <a:pt x="138" y="94"/>
                  </a:lnTo>
                  <a:lnTo>
                    <a:pt x="141" y="100"/>
                  </a:lnTo>
                  <a:lnTo>
                    <a:pt x="152" y="103"/>
                  </a:lnTo>
                  <a:lnTo>
                    <a:pt x="137" y="104"/>
                  </a:lnTo>
                  <a:lnTo>
                    <a:pt x="143" y="108"/>
                  </a:lnTo>
                  <a:lnTo>
                    <a:pt x="155" y="111"/>
                  </a:lnTo>
                  <a:lnTo>
                    <a:pt x="167" y="114"/>
                  </a:lnTo>
                  <a:lnTo>
                    <a:pt x="153" y="123"/>
                  </a:lnTo>
                  <a:lnTo>
                    <a:pt x="164" y="128"/>
                  </a:lnTo>
                  <a:lnTo>
                    <a:pt x="170" y="134"/>
                  </a:lnTo>
                  <a:lnTo>
                    <a:pt x="172" y="141"/>
                  </a:lnTo>
                  <a:lnTo>
                    <a:pt x="192" y="133"/>
                  </a:lnTo>
                  <a:lnTo>
                    <a:pt x="202" y="132"/>
                  </a:lnTo>
                  <a:lnTo>
                    <a:pt x="210" y="126"/>
                  </a:lnTo>
                  <a:lnTo>
                    <a:pt x="198" y="126"/>
                  </a:lnTo>
                  <a:lnTo>
                    <a:pt x="185" y="115"/>
                  </a:lnTo>
                  <a:lnTo>
                    <a:pt x="189" y="106"/>
                  </a:lnTo>
                  <a:lnTo>
                    <a:pt x="186" y="111"/>
                  </a:lnTo>
                  <a:lnTo>
                    <a:pt x="191" y="108"/>
                  </a:lnTo>
                  <a:lnTo>
                    <a:pt x="210" y="100"/>
                  </a:lnTo>
                  <a:lnTo>
                    <a:pt x="232" y="92"/>
                  </a:lnTo>
                  <a:lnTo>
                    <a:pt x="240" y="91"/>
                  </a:lnTo>
                  <a:lnTo>
                    <a:pt x="245" y="81"/>
                  </a:lnTo>
                  <a:lnTo>
                    <a:pt x="256" y="75"/>
                  </a:lnTo>
                  <a:lnTo>
                    <a:pt x="248" y="51"/>
                  </a:lnTo>
                  <a:lnTo>
                    <a:pt x="226" y="44"/>
                  </a:lnTo>
                  <a:lnTo>
                    <a:pt x="206" y="38"/>
                  </a:lnTo>
                  <a:lnTo>
                    <a:pt x="196" y="39"/>
                  </a:lnTo>
                  <a:lnTo>
                    <a:pt x="178" y="24"/>
                  </a:lnTo>
                  <a:lnTo>
                    <a:pt x="160" y="8"/>
                  </a:lnTo>
                  <a:lnTo>
                    <a:pt x="158" y="2"/>
                  </a:lnTo>
                  <a:lnTo>
                    <a:pt x="13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2" name="Freeform 391"/>
            <p:cNvSpPr>
              <a:spLocks/>
            </p:cNvSpPr>
            <p:nvPr/>
          </p:nvSpPr>
          <p:spPr bwMode="auto">
            <a:xfrm>
              <a:off x="2827" y="1788"/>
              <a:ext cx="69" cy="82"/>
            </a:xfrm>
            <a:custGeom>
              <a:avLst/>
              <a:gdLst/>
              <a:ahLst/>
              <a:cxnLst>
                <a:cxn ang="0">
                  <a:pos x="11" y="16"/>
                </a:cxn>
                <a:cxn ang="0">
                  <a:pos x="11" y="17"/>
                </a:cxn>
                <a:cxn ang="0">
                  <a:pos x="7" y="18"/>
                </a:cxn>
                <a:cxn ang="0">
                  <a:pos x="6" y="22"/>
                </a:cxn>
                <a:cxn ang="0">
                  <a:pos x="10" y="22"/>
                </a:cxn>
                <a:cxn ang="0">
                  <a:pos x="11" y="24"/>
                </a:cxn>
                <a:cxn ang="0">
                  <a:pos x="10" y="27"/>
                </a:cxn>
                <a:cxn ang="0">
                  <a:pos x="7" y="30"/>
                </a:cxn>
                <a:cxn ang="0">
                  <a:pos x="7" y="31"/>
                </a:cxn>
                <a:cxn ang="0">
                  <a:pos x="10" y="34"/>
                </a:cxn>
                <a:cxn ang="0">
                  <a:pos x="16" y="37"/>
                </a:cxn>
                <a:cxn ang="0">
                  <a:pos x="11" y="40"/>
                </a:cxn>
                <a:cxn ang="0">
                  <a:pos x="15" y="42"/>
                </a:cxn>
                <a:cxn ang="0">
                  <a:pos x="15" y="46"/>
                </a:cxn>
                <a:cxn ang="0">
                  <a:pos x="6" y="47"/>
                </a:cxn>
                <a:cxn ang="0">
                  <a:pos x="10" y="51"/>
                </a:cxn>
                <a:cxn ang="0">
                  <a:pos x="9" y="52"/>
                </a:cxn>
                <a:cxn ang="0">
                  <a:pos x="6" y="51"/>
                </a:cxn>
                <a:cxn ang="0">
                  <a:pos x="3" y="55"/>
                </a:cxn>
                <a:cxn ang="0">
                  <a:pos x="0" y="57"/>
                </a:cxn>
                <a:cxn ang="0">
                  <a:pos x="4" y="61"/>
                </a:cxn>
                <a:cxn ang="0">
                  <a:pos x="0" y="63"/>
                </a:cxn>
                <a:cxn ang="0">
                  <a:pos x="0" y="64"/>
                </a:cxn>
                <a:cxn ang="0">
                  <a:pos x="0" y="66"/>
                </a:cxn>
                <a:cxn ang="0">
                  <a:pos x="10" y="71"/>
                </a:cxn>
                <a:cxn ang="0">
                  <a:pos x="16" y="76"/>
                </a:cxn>
                <a:cxn ang="0">
                  <a:pos x="18" y="64"/>
                </a:cxn>
                <a:cxn ang="0">
                  <a:pos x="27" y="66"/>
                </a:cxn>
                <a:cxn ang="0">
                  <a:pos x="31" y="76"/>
                </a:cxn>
                <a:cxn ang="0">
                  <a:pos x="34" y="75"/>
                </a:cxn>
                <a:cxn ang="0">
                  <a:pos x="34" y="72"/>
                </a:cxn>
                <a:cxn ang="0">
                  <a:pos x="39" y="71"/>
                </a:cxn>
                <a:cxn ang="0">
                  <a:pos x="42" y="72"/>
                </a:cxn>
                <a:cxn ang="0">
                  <a:pos x="45" y="69"/>
                </a:cxn>
                <a:cxn ang="0">
                  <a:pos x="47" y="70"/>
                </a:cxn>
                <a:cxn ang="0">
                  <a:pos x="49" y="70"/>
                </a:cxn>
                <a:cxn ang="0">
                  <a:pos x="52" y="69"/>
                </a:cxn>
                <a:cxn ang="0">
                  <a:pos x="57" y="67"/>
                </a:cxn>
                <a:cxn ang="0">
                  <a:pos x="60" y="71"/>
                </a:cxn>
                <a:cxn ang="0">
                  <a:pos x="63" y="70"/>
                </a:cxn>
                <a:cxn ang="0">
                  <a:pos x="58" y="64"/>
                </a:cxn>
                <a:cxn ang="0">
                  <a:pos x="64" y="54"/>
                </a:cxn>
                <a:cxn ang="0">
                  <a:pos x="58" y="45"/>
                </a:cxn>
                <a:cxn ang="0">
                  <a:pos x="59" y="34"/>
                </a:cxn>
                <a:cxn ang="0">
                  <a:pos x="58" y="28"/>
                </a:cxn>
                <a:cxn ang="0">
                  <a:pos x="53" y="27"/>
                </a:cxn>
                <a:cxn ang="0">
                  <a:pos x="48" y="25"/>
                </a:cxn>
                <a:cxn ang="0">
                  <a:pos x="42" y="22"/>
                </a:cxn>
                <a:cxn ang="0">
                  <a:pos x="22" y="0"/>
                </a:cxn>
                <a:cxn ang="0">
                  <a:pos x="1" y="5"/>
                </a:cxn>
                <a:cxn ang="0">
                  <a:pos x="5" y="11"/>
                </a:cxn>
                <a:cxn ang="0">
                  <a:pos x="6" y="11"/>
                </a:cxn>
                <a:cxn ang="0">
                  <a:pos x="5" y="13"/>
                </a:cxn>
                <a:cxn ang="0">
                  <a:pos x="6" y="15"/>
                </a:cxn>
                <a:cxn ang="0">
                  <a:pos x="11" y="16"/>
                </a:cxn>
              </a:cxnLst>
              <a:rect l="0" t="0" r="r" b="b"/>
              <a:pathLst>
                <a:path w="64" h="76">
                  <a:moveTo>
                    <a:pt x="11" y="16"/>
                  </a:moveTo>
                  <a:lnTo>
                    <a:pt x="11" y="17"/>
                  </a:lnTo>
                  <a:lnTo>
                    <a:pt x="7" y="18"/>
                  </a:lnTo>
                  <a:lnTo>
                    <a:pt x="6" y="22"/>
                  </a:lnTo>
                  <a:lnTo>
                    <a:pt x="10" y="22"/>
                  </a:lnTo>
                  <a:lnTo>
                    <a:pt x="11" y="24"/>
                  </a:lnTo>
                  <a:lnTo>
                    <a:pt x="10" y="27"/>
                  </a:lnTo>
                  <a:lnTo>
                    <a:pt x="7" y="30"/>
                  </a:lnTo>
                  <a:lnTo>
                    <a:pt x="7" y="31"/>
                  </a:lnTo>
                  <a:lnTo>
                    <a:pt x="10" y="34"/>
                  </a:lnTo>
                  <a:lnTo>
                    <a:pt x="16" y="37"/>
                  </a:lnTo>
                  <a:lnTo>
                    <a:pt x="11" y="40"/>
                  </a:lnTo>
                  <a:lnTo>
                    <a:pt x="15" y="42"/>
                  </a:lnTo>
                  <a:lnTo>
                    <a:pt x="15" y="46"/>
                  </a:lnTo>
                  <a:lnTo>
                    <a:pt x="6" y="47"/>
                  </a:lnTo>
                  <a:lnTo>
                    <a:pt x="10" y="51"/>
                  </a:lnTo>
                  <a:lnTo>
                    <a:pt x="9" y="52"/>
                  </a:lnTo>
                  <a:lnTo>
                    <a:pt x="6" y="51"/>
                  </a:lnTo>
                  <a:lnTo>
                    <a:pt x="3" y="55"/>
                  </a:lnTo>
                  <a:lnTo>
                    <a:pt x="0" y="57"/>
                  </a:lnTo>
                  <a:lnTo>
                    <a:pt x="4" y="61"/>
                  </a:lnTo>
                  <a:lnTo>
                    <a:pt x="0" y="63"/>
                  </a:lnTo>
                  <a:lnTo>
                    <a:pt x="0" y="64"/>
                  </a:lnTo>
                  <a:lnTo>
                    <a:pt x="0" y="66"/>
                  </a:lnTo>
                  <a:lnTo>
                    <a:pt x="10" y="71"/>
                  </a:lnTo>
                  <a:lnTo>
                    <a:pt x="16" y="76"/>
                  </a:lnTo>
                  <a:lnTo>
                    <a:pt x="18" y="64"/>
                  </a:lnTo>
                  <a:lnTo>
                    <a:pt x="27" y="66"/>
                  </a:lnTo>
                  <a:lnTo>
                    <a:pt x="31" y="76"/>
                  </a:lnTo>
                  <a:lnTo>
                    <a:pt x="34" y="75"/>
                  </a:lnTo>
                  <a:lnTo>
                    <a:pt x="34" y="72"/>
                  </a:lnTo>
                  <a:lnTo>
                    <a:pt x="39" y="71"/>
                  </a:lnTo>
                  <a:lnTo>
                    <a:pt x="42" y="72"/>
                  </a:lnTo>
                  <a:lnTo>
                    <a:pt x="45" y="69"/>
                  </a:lnTo>
                  <a:lnTo>
                    <a:pt x="47" y="70"/>
                  </a:lnTo>
                  <a:lnTo>
                    <a:pt x="49" y="70"/>
                  </a:lnTo>
                  <a:lnTo>
                    <a:pt x="52" y="69"/>
                  </a:lnTo>
                  <a:lnTo>
                    <a:pt x="57" y="67"/>
                  </a:lnTo>
                  <a:lnTo>
                    <a:pt x="60" y="71"/>
                  </a:lnTo>
                  <a:lnTo>
                    <a:pt x="63" y="70"/>
                  </a:lnTo>
                  <a:lnTo>
                    <a:pt x="58" y="64"/>
                  </a:lnTo>
                  <a:lnTo>
                    <a:pt x="64" y="54"/>
                  </a:lnTo>
                  <a:lnTo>
                    <a:pt x="58" y="45"/>
                  </a:lnTo>
                  <a:lnTo>
                    <a:pt x="59" y="34"/>
                  </a:lnTo>
                  <a:lnTo>
                    <a:pt x="58" y="28"/>
                  </a:lnTo>
                  <a:lnTo>
                    <a:pt x="53" y="27"/>
                  </a:lnTo>
                  <a:lnTo>
                    <a:pt x="48" y="25"/>
                  </a:lnTo>
                  <a:lnTo>
                    <a:pt x="42" y="22"/>
                  </a:lnTo>
                  <a:lnTo>
                    <a:pt x="22" y="0"/>
                  </a:lnTo>
                  <a:lnTo>
                    <a:pt x="1" y="5"/>
                  </a:lnTo>
                  <a:lnTo>
                    <a:pt x="5" y="11"/>
                  </a:lnTo>
                  <a:lnTo>
                    <a:pt x="6" y="11"/>
                  </a:lnTo>
                  <a:lnTo>
                    <a:pt x="5" y="13"/>
                  </a:lnTo>
                  <a:lnTo>
                    <a:pt x="6" y="15"/>
                  </a:lnTo>
                  <a:lnTo>
                    <a:pt x="11"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3" name="Freeform 392"/>
            <p:cNvSpPr>
              <a:spLocks/>
            </p:cNvSpPr>
            <p:nvPr/>
          </p:nvSpPr>
          <p:spPr bwMode="auto">
            <a:xfrm>
              <a:off x="554" y="1316"/>
              <a:ext cx="1144" cy="558"/>
            </a:xfrm>
            <a:custGeom>
              <a:avLst/>
              <a:gdLst/>
              <a:ahLst/>
              <a:cxnLst>
                <a:cxn ang="0">
                  <a:pos x="793" y="84"/>
                </a:cxn>
                <a:cxn ang="0">
                  <a:pos x="839" y="34"/>
                </a:cxn>
                <a:cxn ang="0">
                  <a:pos x="756" y="56"/>
                </a:cxn>
                <a:cxn ang="0">
                  <a:pos x="723" y="32"/>
                </a:cxn>
                <a:cxn ang="0">
                  <a:pos x="721" y="2"/>
                </a:cxn>
                <a:cxn ang="0">
                  <a:pos x="709" y="38"/>
                </a:cxn>
                <a:cxn ang="0">
                  <a:pos x="655" y="75"/>
                </a:cxn>
                <a:cxn ang="0">
                  <a:pos x="666" y="55"/>
                </a:cxn>
                <a:cxn ang="0">
                  <a:pos x="627" y="63"/>
                </a:cxn>
                <a:cxn ang="0">
                  <a:pos x="544" y="52"/>
                </a:cxn>
                <a:cxn ang="0">
                  <a:pos x="509" y="64"/>
                </a:cxn>
                <a:cxn ang="0">
                  <a:pos x="437" y="45"/>
                </a:cxn>
                <a:cxn ang="0">
                  <a:pos x="346" y="36"/>
                </a:cxn>
                <a:cxn ang="0">
                  <a:pos x="288" y="28"/>
                </a:cxn>
                <a:cxn ang="0">
                  <a:pos x="124" y="69"/>
                </a:cxn>
                <a:cxn ang="0">
                  <a:pos x="22" y="188"/>
                </a:cxn>
                <a:cxn ang="0">
                  <a:pos x="72" y="254"/>
                </a:cxn>
                <a:cxn ang="0">
                  <a:pos x="47" y="277"/>
                </a:cxn>
                <a:cxn ang="0">
                  <a:pos x="61" y="298"/>
                </a:cxn>
                <a:cxn ang="0">
                  <a:pos x="63" y="321"/>
                </a:cxn>
                <a:cxn ang="0">
                  <a:pos x="37" y="337"/>
                </a:cxn>
                <a:cxn ang="0">
                  <a:pos x="59" y="344"/>
                </a:cxn>
                <a:cxn ang="0">
                  <a:pos x="70" y="358"/>
                </a:cxn>
                <a:cxn ang="0">
                  <a:pos x="75" y="370"/>
                </a:cxn>
                <a:cxn ang="0">
                  <a:pos x="271" y="373"/>
                </a:cxn>
                <a:cxn ang="0">
                  <a:pos x="468" y="367"/>
                </a:cxn>
                <a:cxn ang="0">
                  <a:pos x="582" y="409"/>
                </a:cxn>
                <a:cxn ang="0">
                  <a:pos x="579" y="495"/>
                </a:cxn>
                <a:cxn ang="0">
                  <a:pos x="695" y="457"/>
                </a:cxn>
                <a:cxn ang="0">
                  <a:pos x="820" y="403"/>
                </a:cxn>
                <a:cxn ang="0">
                  <a:pos x="868" y="428"/>
                </a:cxn>
                <a:cxn ang="0">
                  <a:pos x="841" y="451"/>
                </a:cxn>
                <a:cxn ang="0">
                  <a:pos x="913" y="439"/>
                </a:cxn>
                <a:cxn ang="0">
                  <a:pos x="865" y="408"/>
                </a:cxn>
                <a:cxn ang="0">
                  <a:pos x="891" y="378"/>
                </a:cxn>
                <a:cxn ang="0">
                  <a:pos x="809" y="388"/>
                </a:cxn>
                <a:cxn ang="0">
                  <a:pos x="978" y="337"/>
                </a:cxn>
                <a:cxn ang="0">
                  <a:pos x="1031" y="297"/>
                </a:cxn>
                <a:cxn ang="0">
                  <a:pos x="976" y="295"/>
                </a:cxn>
                <a:cxn ang="0">
                  <a:pos x="987" y="272"/>
                </a:cxn>
                <a:cxn ang="0">
                  <a:pos x="981" y="260"/>
                </a:cxn>
                <a:cxn ang="0">
                  <a:pos x="966" y="238"/>
                </a:cxn>
                <a:cxn ang="0">
                  <a:pos x="966" y="218"/>
                </a:cxn>
                <a:cxn ang="0">
                  <a:pos x="965" y="188"/>
                </a:cxn>
                <a:cxn ang="0">
                  <a:pos x="942" y="201"/>
                </a:cxn>
                <a:cxn ang="0">
                  <a:pos x="899" y="219"/>
                </a:cxn>
                <a:cxn ang="0">
                  <a:pos x="893" y="194"/>
                </a:cxn>
                <a:cxn ang="0">
                  <a:pos x="883" y="160"/>
                </a:cxn>
                <a:cxn ang="0">
                  <a:pos x="810" y="163"/>
                </a:cxn>
                <a:cxn ang="0">
                  <a:pos x="772" y="254"/>
                </a:cxn>
                <a:cxn ang="0">
                  <a:pos x="702" y="327"/>
                </a:cxn>
                <a:cxn ang="0">
                  <a:pos x="682" y="284"/>
                </a:cxn>
                <a:cxn ang="0">
                  <a:pos x="599" y="231"/>
                </a:cxn>
                <a:cxn ang="0">
                  <a:pos x="570" y="201"/>
                </a:cxn>
                <a:cxn ang="0">
                  <a:pos x="647" y="140"/>
                </a:cxn>
                <a:cxn ang="0">
                  <a:pos x="685" y="122"/>
                </a:cxn>
                <a:cxn ang="0">
                  <a:pos x="723" y="96"/>
                </a:cxn>
              </a:cxnLst>
              <a:rect l="0" t="0" r="r" b="b"/>
              <a:pathLst>
                <a:path w="1031" h="502">
                  <a:moveTo>
                    <a:pt x="759" y="87"/>
                  </a:moveTo>
                  <a:lnTo>
                    <a:pt x="753" y="81"/>
                  </a:lnTo>
                  <a:lnTo>
                    <a:pt x="769" y="82"/>
                  </a:lnTo>
                  <a:lnTo>
                    <a:pt x="777" y="86"/>
                  </a:lnTo>
                  <a:lnTo>
                    <a:pt x="785" y="85"/>
                  </a:lnTo>
                  <a:lnTo>
                    <a:pt x="779" y="76"/>
                  </a:lnTo>
                  <a:lnTo>
                    <a:pt x="785" y="78"/>
                  </a:lnTo>
                  <a:lnTo>
                    <a:pt x="789" y="79"/>
                  </a:lnTo>
                  <a:lnTo>
                    <a:pt x="793" y="84"/>
                  </a:lnTo>
                  <a:lnTo>
                    <a:pt x="822" y="73"/>
                  </a:lnTo>
                  <a:lnTo>
                    <a:pt x="827" y="66"/>
                  </a:lnTo>
                  <a:lnTo>
                    <a:pt x="826" y="57"/>
                  </a:lnTo>
                  <a:lnTo>
                    <a:pt x="827" y="52"/>
                  </a:lnTo>
                  <a:lnTo>
                    <a:pt x="841" y="48"/>
                  </a:lnTo>
                  <a:lnTo>
                    <a:pt x="833" y="45"/>
                  </a:lnTo>
                  <a:lnTo>
                    <a:pt x="845" y="40"/>
                  </a:lnTo>
                  <a:lnTo>
                    <a:pt x="826" y="36"/>
                  </a:lnTo>
                  <a:lnTo>
                    <a:pt x="839" y="34"/>
                  </a:lnTo>
                  <a:lnTo>
                    <a:pt x="804" y="33"/>
                  </a:lnTo>
                  <a:lnTo>
                    <a:pt x="801" y="42"/>
                  </a:lnTo>
                  <a:lnTo>
                    <a:pt x="802" y="45"/>
                  </a:lnTo>
                  <a:lnTo>
                    <a:pt x="801" y="48"/>
                  </a:lnTo>
                  <a:lnTo>
                    <a:pt x="790" y="48"/>
                  </a:lnTo>
                  <a:lnTo>
                    <a:pt x="763" y="69"/>
                  </a:lnTo>
                  <a:lnTo>
                    <a:pt x="754" y="70"/>
                  </a:lnTo>
                  <a:lnTo>
                    <a:pt x="751" y="58"/>
                  </a:lnTo>
                  <a:lnTo>
                    <a:pt x="756" y="56"/>
                  </a:lnTo>
                  <a:lnTo>
                    <a:pt x="763" y="45"/>
                  </a:lnTo>
                  <a:lnTo>
                    <a:pt x="753" y="40"/>
                  </a:lnTo>
                  <a:lnTo>
                    <a:pt x="731" y="56"/>
                  </a:lnTo>
                  <a:lnTo>
                    <a:pt x="737" y="43"/>
                  </a:lnTo>
                  <a:lnTo>
                    <a:pt x="732" y="39"/>
                  </a:lnTo>
                  <a:lnTo>
                    <a:pt x="744" y="37"/>
                  </a:lnTo>
                  <a:lnTo>
                    <a:pt x="737" y="34"/>
                  </a:lnTo>
                  <a:lnTo>
                    <a:pt x="724" y="33"/>
                  </a:lnTo>
                  <a:lnTo>
                    <a:pt x="723" y="32"/>
                  </a:lnTo>
                  <a:lnTo>
                    <a:pt x="732" y="27"/>
                  </a:lnTo>
                  <a:lnTo>
                    <a:pt x="732" y="25"/>
                  </a:lnTo>
                  <a:lnTo>
                    <a:pt x="738" y="25"/>
                  </a:lnTo>
                  <a:lnTo>
                    <a:pt x="733" y="16"/>
                  </a:lnTo>
                  <a:lnTo>
                    <a:pt x="738" y="7"/>
                  </a:lnTo>
                  <a:lnTo>
                    <a:pt x="731" y="2"/>
                  </a:lnTo>
                  <a:lnTo>
                    <a:pt x="726" y="2"/>
                  </a:lnTo>
                  <a:lnTo>
                    <a:pt x="730" y="0"/>
                  </a:lnTo>
                  <a:lnTo>
                    <a:pt x="721" y="2"/>
                  </a:lnTo>
                  <a:lnTo>
                    <a:pt x="726" y="2"/>
                  </a:lnTo>
                  <a:lnTo>
                    <a:pt x="708" y="6"/>
                  </a:lnTo>
                  <a:lnTo>
                    <a:pt x="711" y="9"/>
                  </a:lnTo>
                  <a:lnTo>
                    <a:pt x="699" y="9"/>
                  </a:lnTo>
                  <a:lnTo>
                    <a:pt x="694" y="19"/>
                  </a:lnTo>
                  <a:lnTo>
                    <a:pt x="696" y="20"/>
                  </a:lnTo>
                  <a:lnTo>
                    <a:pt x="688" y="22"/>
                  </a:lnTo>
                  <a:lnTo>
                    <a:pt x="683" y="31"/>
                  </a:lnTo>
                  <a:lnTo>
                    <a:pt x="709" y="38"/>
                  </a:lnTo>
                  <a:lnTo>
                    <a:pt x="701" y="40"/>
                  </a:lnTo>
                  <a:lnTo>
                    <a:pt x="702" y="38"/>
                  </a:lnTo>
                  <a:lnTo>
                    <a:pt x="696" y="42"/>
                  </a:lnTo>
                  <a:lnTo>
                    <a:pt x="689" y="48"/>
                  </a:lnTo>
                  <a:lnTo>
                    <a:pt x="701" y="44"/>
                  </a:lnTo>
                  <a:lnTo>
                    <a:pt x="695" y="50"/>
                  </a:lnTo>
                  <a:lnTo>
                    <a:pt x="671" y="58"/>
                  </a:lnTo>
                  <a:lnTo>
                    <a:pt x="661" y="69"/>
                  </a:lnTo>
                  <a:lnTo>
                    <a:pt x="655" y="75"/>
                  </a:lnTo>
                  <a:lnTo>
                    <a:pt x="647" y="75"/>
                  </a:lnTo>
                  <a:lnTo>
                    <a:pt x="648" y="79"/>
                  </a:lnTo>
                  <a:lnTo>
                    <a:pt x="647" y="75"/>
                  </a:lnTo>
                  <a:lnTo>
                    <a:pt x="648" y="75"/>
                  </a:lnTo>
                  <a:lnTo>
                    <a:pt x="657" y="74"/>
                  </a:lnTo>
                  <a:lnTo>
                    <a:pt x="653" y="72"/>
                  </a:lnTo>
                  <a:lnTo>
                    <a:pt x="657" y="68"/>
                  </a:lnTo>
                  <a:lnTo>
                    <a:pt x="651" y="69"/>
                  </a:lnTo>
                  <a:lnTo>
                    <a:pt x="666" y="55"/>
                  </a:lnTo>
                  <a:lnTo>
                    <a:pt x="655" y="57"/>
                  </a:lnTo>
                  <a:lnTo>
                    <a:pt x="658" y="55"/>
                  </a:lnTo>
                  <a:lnTo>
                    <a:pt x="645" y="52"/>
                  </a:lnTo>
                  <a:lnTo>
                    <a:pt x="635" y="56"/>
                  </a:lnTo>
                  <a:lnTo>
                    <a:pt x="637" y="61"/>
                  </a:lnTo>
                  <a:lnTo>
                    <a:pt x="646" y="62"/>
                  </a:lnTo>
                  <a:lnTo>
                    <a:pt x="634" y="63"/>
                  </a:lnTo>
                  <a:lnTo>
                    <a:pt x="630" y="58"/>
                  </a:lnTo>
                  <a:lnTo>
                    <a:pt x="627" y="63"/>
                  </a:lnTo>
                  <a:lnTo>
                    <a:pt x="603" y="62"/>
                  </a:lnTo>
                  <a:lnTo>
                    <a:pt x="580" y="62"/>
                  </a:lnTo>
                  <a:lnTo>
                    <a:pt x="573" y="58"/>
                  </a:lnTo>
                  <a:lnTo>
                    <a:pt x="563" y="57"/>
                  </a:lnTo>
                  <a:lnTo>
                    <a:pt x="559" y="51"/>
                  </a:lnTo>
                  <a:lnTo>
                    <a:pt x="556" y="45"/>
                  </a:lnTo>
                  <a:lnTo>
                    <a:pt x="519" y="54"/>
                  </a:lnTo>
                  <a:lnTo>
                    <a:pt x="526" y="56"/>
                  </a:lnTo>
                  <a:lnTo>
                    <a:pt x="544" y="52"/>
                  </a:lnTo>
                  <a:lnTo>
                    <a:pt x="556" y="51"/>
                  </a:lnTo>
                  <a:lnTo>
                    <a:pt x="533" y="58"/>
                  </a:lnTo>
                  <a:lnTo>
                    <a:pt x="522" y="60"/>
                  </a:lnTo>
                  <a:lnTo>
                    <a:pt x="515" y="78"/>
                  </a:lnTo>
                  <a:lnTo>
                    <a:pt x="510" y="74"/>
                  </a:lnTo>
                  <a:lnTo>
                    <a:pt x="508" y="85"/>
                  </a:lnTo>
                  <a:lnTo>
                    <a:pt x="503" y="73"/>
                  </a:lnTo>
                  <a:lnTo>
                    <a:pt x="511" y="73"/>
                  </a:lnTo>
                  <a:lnTo>
                    <a:pt x="509" y="64"/>
                  </a:lnTo>
                  <a:lnTo>
                    <a:pt x="502" y="68"/>
                  </a:lnTo>
                  <a:lnTo>
                    <a:pt x="502" y="63"/>
                  </a:lnTo>
                  <a:lnTo>
                    <a:pt x="493" y="60"/>
                  </a:lnTo>
                  <a:lnTo>
                    <a:pt x="449" y="64"/>
                  </a:lnTo>
                  <a:lnTo>
                    <a:pt x="432" y="60"/>
                  </a:lnTo>
                  <a:lnTo>
                    <a:pt x="450" y="55"/>
                  </a:lnTo>
                  <a:lnTo>
                    <a:pt x="456" y="54"/>
                  </a:lnTo>
                  <a:lnTo>
                    <a:pt x="444" y="44"/>
                  </a:lnTo>
                  <a:lnTo>
                    <a:pt x="437" y="45"/>
                  </a:lnTo>
                  <a:lnTo>
                    <a:pt x="406" y="38"/>
                  </a:lnTo>
                  <a:lnTo>
                    <a:pt x="377" y="31"/>
                  </a:lnTo>
                  <a:lnTo>
                    <a:pt x="360" y="38"/>
                  </a:lnTo>
                  <a:lnTo>
                    <a:pt x="354" y="37"/>
                  </a:lnTo>
                  <a:lnTo>
                    <a:pt x="359" y="33"/>
                  </a:lnTo>
                  <a:lnTo>
                    <a:pt x="363" y="26"/>
                  </a:lnTo>
                  <a:lnTo>
                    <a:pt x="358" y="28"/>
                  </a:lnTo>
                  <a:lnTo>
                    <a:pt x="353" y="33"/>
                  </a:lnTo>
                  <a:lnTo>
                    <a:pt x="346" y="36"/>
                  </a:lnTo>
                  <a:lnTo>
                    <a:pt x="340" y="39"/>
                  </a:lnTo>
                  <a:lnTo>
                    <a:pt x="335" y="28"/>
                  </a:lnTo>
                  <a:lnTo>
                    <a:pt x="330" y="21"/>
                  </a:lnTo>
                  <a:lnTo>
                    <a:pt x="331" y="25"/>
                  </a:lnTo>
                  <a:lnTo>
                    <a:pt x="306" y="33"/>
                  </a:lnTo>
                  <a:lnTo>
                    <a:pt x="307" y="31"/>
                  </a:lnTo>
                  <a:lnTo>
                    <a:pt x="281" y="34"/>
                  </a:lnTo>
                  <a:lnTo>
                    <a:pt x="307" y="26"/>
                  </a:lnTo>
                  <a:lnTo>
                    <a:pt x="288" y="28"/>
                  </a:lnTo>
                  <a:lnTo>
                    <a:pt x="259" y="36"/>
                  </a:lnTo>
                  <a:lnTo>
                    <a:pt x="229" y="44"/>
                  </a:lnTo>
                  <a:lnTo>
                    <a:pt x="226" y="48"/>
                  </a:lnTo>
                  <a:lnTo>
                    <a:pt x="216" y="46"/>
                  </a:lnTo>
                  <a:lnTo>
                    <a:pt x="214" y="49"/>
                  </a:lnTo>
                  <a:lnTo>
                    <a:pt x="190" y="42"/>
                  </a:lnTo>
                  <a:lnTo>
                    <a:pt x="167" y="33"/>
                  </a:lnTo>
                  <a:lnTo>
                    <a:pt x="145" y="51"/>
                  </a:lnTo>
                  <a:lnTo>
                    <a:pt x="124" y="69"/>
                  </a:lnTo>
                  <a:lnTo>
                    <a:pt x="102" y="87"/>
                  </a:lnTo>
                  <a:lnTo>
                    <a:pt x="81" y="105"/>
                  </a:lnTo>
                  <a:lnTo>
                    <a:pt x="61" y="124"/>
                  </a:lnTo>
                  <a:lnTo>
                    <a:pt x="41" y="144"/>
                  </a:lnTo>
                  <a:lnTo>
                    <a:pt x="21" y="163"/>
                  </a:lnTo>
                  <a:lnTo>
                    <a:pt x="0" y="181"/>
                  </a:lnTo>
                  <a:lnTo>
                    <a:pt x="25" y="181"/>
                  </a:lnTo>
                  <a:lnTo>
                    <a:pt x="19" y="184"/>
                  </a:lnTo>
                  <a:lnTo>
                    <a:pt x="22" y="188"/>
                  </a:lnTo>
                  <a:lnTo>
                    <a:pt x="22" y="205"/>
                  </a:lnTo>
                  <a:lnTo>
                    <a:pt x="34" y="200"/>
                  </a:lnTo>
                  <a:lnTo>
                    <a:pt x="43" y="195"/>
                  </a:lnTo>
                  <a:lnTo>
                    <a:pt x="61" y="189"/>
                  </a:lnTo>
                  <a:lnTo>
                    <a:pt x="66" y="207"/>
                  </a:lnTo>
                  <a:lnTo>
                    <a:pt x="63" y="223"/>
                  </a:lnTo>
                  <a:lnTo>
                    <a:pt x="59" y="238"/>
                  </a:lnTo>
                  <a:lnTo>
                    <a:pt x="66" y="247"/>
                  </a:lnTo>
                  <a:lnTo>
                    <a:pt x="72" y="254"/>
                  </a:lnTo>
                  <a:lnTo>
                    <a:pt x="58" y="270"/>
                  </a:lnTo>
                  <a:lnTo>
                    <a:pt x="71" y="259"/>
                  </a:lnTo>
                  <a:lnTo>
                    <a:pt x="71" y="262"/>
                  </a:lnTo>
                  <a:lnTo>
                    <a:pt x="59" y="270"/>
                  </a:lnTo>
                  <a:lnTo>
                    <a:pt x="61" y="270"/>
                  </a:lnTo>
                  <a:lnTo>
                    <a:pt x="54" y="276"/>
                  </a:lnTo>
                  <a:lnTo>
                    <a:pt x="49" y="276"/>
                  </a:lnTo>
                  <a:lnTo>
                    <a:pt x="49" y="282"/>
                  </a:lnTo>
                  <a:lnTo>
                    <a:pt x="47" y="277"/>
                  </a:lnTo>
                  <a:lnTo>
                    <a:pt x="46" y="284"/>
                  </a:lnTo>
                  <a:lnTo>
                    <a:pt x="53" y="284"/>
                  </a:lnTo>
                  <a:lnTo>
                    <a:pt x="48" y="284"/>
                  </a:lnTo>
                  <a:lnTo>
                    <a:pt x="48" y="288"/>
                  </a:lnTo>
                  <a:lnTo>
                    <a:pt x="45" y="285"/>
                  </a:lnTo>
                  <a:lnTo>
                    <a:pt x="47" y="297"/>
                  </a:lnTo>
                  <a:lnTo>
                    <a:pt x="65" y="286"/>
                  </a:lnTo>
                  <a:lnTo>
                    <a:pt x="58" y="296"/>
                  </a:lnTo>
                  <a:lnTo>
                    <a:pt x="61" y="298"/>
                  </a:lnTo>
                  <a:lnTo>
                    <a:pt x="54" y="296"/>
                  </a:lnTo>
                  <a:lnTo>
                    <a:pt x="52" y="307"/>
                  </a:lnTo>
                  <a:lnTo>
                    <a:pt x="55" y="306"/>
                  </a:lnTo>
                  <a:lnTo>
                    <a:pt x="45" y="316"/>
                  </a:lnTo>
                  <a:lnTo>
                    <a:pt x="51" y="313"/>
                  </a:lnTo>
                  <a:lnTo>
                    <a:pt x="49" y="318"/>
                  </a:lnTo>
                  <a:lnTo>
                    <a:pt x="70" y="307"/>
                  </a:lnTo>
                  <a:lnTo>
                    <a:pt x="64" y="315"/>
                  </a:lnTo>
                  <a:lnTo>
                    <a:pt x="63" y="321"/>
                  </a:lnTo>
                  <a:lnTo>
                    <a:pt x="60" y="315"/>
                  </a:lnTo>
                  <a:lnTo>
                    <a:pt x="45" y="325"/>
                  </a:lnTo>
                  <a:lnTo>
                    <a:pt x="45" y="328"/>
                  </a:lnTo>
                  <a:lnTo>
                    <a:pt x="49" y="326"/>
                  </a:lnTo>
                  <a:lnTo>
                    <a:pt x="59" y="327"/>
                  </a:lnTo>
                  <a:lnTo>
                    <a:pt x="43" y="331"/>
                  </a:lnTo>
                  <a:lnTo>
                    <a:pt x="40" y="332"/>
                  </a:lnTo>
                  <a:lnTo>
                    <a:pt x="46" y="333"/>
                  </a:lnTo>
                  <a:lnTo>
                    <a:pt x="37" y="337"/>
                  </a:lnTo>
                  <a:lnTo>
                    <a:pt x="48" y="340"/>
                  </a:lnTo>
                  <a:lnTo>
                    <a:pt x="52" y="338"/>
                  </a:lnTo>
                  <a:lnTo>
                    <a:pt x="55" y="339"/>
                  </a:lnTo>
                  <a:lnTo>
                    <a:pt x="51" y="342"/>
                  </a:lnTo>
                  <a:lnTo>
                    <a:pt x="57" y="342"/>
                  </a:lnTo>
                  <a:lnTo>
                    <a:pt x="52" y="344"/>
                  </a:lnTo>
                  <a:lnTo>
                    <a:pt x="64" y="340"/>
                  </a:lnTo>
                  <a:lnTo>
                    <a:pt x="66" y="338"/>
                  </a:lnTo>
                  <a:lnTo>
                    <a:pt x="59" y="344"/>
                  </a:lnTo>
                  <a:lnTo>
                    <a:pt x="53" y="344"/>
                  </a:lnTo>
                  <a:lnTo>
                    <a:pt x="52" y="348"/>
                  </a:lnTo>
                  <a:lnTo>
                    <a:pt x="61" y="344"/>
                  </a:lnTo>
                  <a:lnTo>
                    <a:pt x="61" y="348"/>
                  </a:lnTo>
                  <a:lnTo>
                    <a:pt x="71" y="342"/>
                  </a:lnTo>
                  <a:lnTo>
                    <a:pt x="66" y="350"/>
                  </a:lnTo>
                  <a:lnTo>
                    <a:pt x="76" y="346"/>
                  </a:lnTo>
                  <a:lnTo>
                    <a:pt x="63" y="355"/>
                  </a:lnTo>
                  <a:lnTo>
                    <a:pt x="70" y="358"/>
                  </a:lnTo>
                  <a:lnTo>
                    <a:pt x="77" y="351"/>
                  </a:lnTo>
                  <a:lnTo>
                    <a:pt x="72" y="362"/>
                  </a:lnTo>
                  <a:lnTo>
                    <a:pt x="75" y="362"/>
                  </a:lnTo>
                  <a:lnTo>
                    <a:pt x="69" y="362"/>
                  </a:lnTo>
                  <a:lnTo>
                    <a:pt x="75" y="364"/>
                  </a:lnTo>
                  <a:lnTo>
                    <a:pt x="81" y="362"/>
                  </a:lnTo>
                  <a:lnTo>
                    <a:pt x="76" y="367"/>
                  </a:lnTo>
                  <a:lnTo>
                    <a:pt x="81" y="368"/>
                  </a:lnTo>
                  <a:lnTo>
                    <a:pt x="75" y="370"/>
                  </a:lnTo>
                  <a:lnTo>
                    <a:pt x="79" y="373"/>
                  </a:lnTo>
                  <a:lnTo>
                    <a:pt x="103" y="373"/>
                  </a:lnTo>
                  <a:lnTo>
                    <a:pt x="127" y="373"/>
                  </a:lnTo>
                  <a:lnTo>
                    <a:pt x="151" y="373"/>
                  </a:lnTo>
                  <a:lnTo>
                    <a:pt x="175" y="373"/>
                  </a:lnTo>
                  <a:lnTo>
                    <a:pt x="199" y="373"/>
                  </a:lnTo>
                  <a:lnTo>
                    <a:pt x="223" y="373"/>
                  </a:lnTo>
                  <a:lnTo>
                    <a:pt x="247" y="373"/>
                  </a:lnTo>
                  <a:lnTo>
                    <a:pt x="271" y="373"/>
                  </a:lnTo>
                  <a:lnTo>
                    <a:pt x="295" y="373"/>
                  </a:lnTo>
                  <a:lnTo>
                    <a:pt x="319" y="373"/>
                  </a:lnTo>
                  <a:lnTo>
                    <a:pt x="342" y="373"/>
                  </a:lnTo>
                  <a:lnTo>
                    <a:pt x="366" y="373"/>
                  </a:lnTo>
                  <a:lnTo>
                    <a:pt x="390" y="373"/>
                  </a:lnTo>
                  <a:lnTo>
                    <a:pt x="414" y="373"/>
                  </a:lnTo>
                  <a:lnTo>
                    <a:pt x="438" y="373"/>
                  </a:lnTo>
                  <a:lnTo>
                    <a:pt x="462" y="373"/>
                  </a:lnTo>
                  <a:lnTo>
                    <a:pt x="468" y="367"/>
                  </a:lnTo>
                  <a:lnTo>
                    <a:pt x="467" y="376"/>
                  </a:lnTo>
                  <a:lnTo>
                    <a:pt x="483" y="380"/>
                  </a:lnTo>
                  <a:lnTo>
                    <a:pt x="503" y="388"/>
                  </a:lnTo>
                  <a:lnTo>
                    <a:pt x="515" y="386"/>
                  </a:lnTo>
                  <a:lnTo>
                    <a:pt x="527" y="391"/>
                  </a:lnTo>
                  <a:lnTo>
                    <a:pt x="546" y="386"/>
                  </a:lnTo>
                  <a:lnTo>
                    <a:pt x="558" y="394"/>
                  </a:lnTo>
                  <a:lnTo>
                    <a:pt x="570" y="402"/>
                  </a:lnTo>
                  <a:lnTo>
                    <a:pt x="582" y="409"/>
                  </a:lnTo>
                  <a:lnTo>
                    <a:pt x="594" y="417"/>
                  </a:lnTo>
                  <a:lnTo>
                    <a:pt x="595" y="424"/>
                  </a:lnTo>
                  <a:lnTo>
                    <a:pt x="600" y="423"/>
                  </a:lnTo>
                  <a:lnTo>
                    <a:pt x="599" y="428"/>
                  </a:lnTo>
                  <a:lnTo>
                    <a:pt x="610" y="436"/>
                  </a:lnTo>
                  <a:lnTo>
                    <a:pt x="606" y="452"/>
                  </a:lnTo>
                  <a:lnTo>
                    <a:pt x="604" y="469"/>
                  </a:lnTo>
                  <a:lnTo>
                    <a:pt x="597" y="478"/>
                  </a:lnTo>
                  <a:lnTo>
                    <a:pt x="579" y="495"/>
                  </a:lnTo>
                  <a:lnTo>
                    <a:pt x="583" y="502"/>
                  </a:lnTo>
                  <a:lnTo>
                    <a:pt x="599" y="496"/>
                  </a:lnTo>
                  <a:lnTo>
                    <a:pt x="613" y="492"/>
                  </a:lnTo>
                  <a:lnTo>
                    <a:pt x="629" y="487"/>
                  </a:lnTo>
                  <a:lnTo>
                    <a:pt x="645" y="482"/>
                  </a:lnTo>
                  <a:lnTo>
                    <a:pt x="646" y="470"/>
                  </a:lnTo>
                  <a:lnTo>
                    <a:pt x="663" y="469"/>
                  </a:lnTo>
                  <a:lnTo>
                    <a:pt x="681" y="468"/>
                  </a:lnTo>
                  <a:lnTo>
                    <a:pt x="695" y="457"/>
                  </a:lnTo>
                  <a:lnTo>
                    <a:pt x="709" y="446"/>
                  </a:lnTo>
                  <a:lnTo>
                    <a:pt x="737" y="445"/>
                  </a:lnTo>
                  <a:lnTo>
                    <a:pt x="765" y="442"/>
                  </a:lnTo>
                  <a:lnTo>
                    <a:pt x="774" y="436"/>
                  </a:lnTo>
                  <a:lnTo>
                    <a:pt x="787" y="426"/>
                  </a:lnTo>
                  <a:lnTo>
                    <a:pt x="799" y="412"/>
                  </a:lnTo>
                  <a:lnTo>
                    <a:pt x="813" y="400"/>
                  </a:lnTo>
                  <a:lnTo>
                    <a:pt x="814" y="403"/>
                  </a:lnTo>
                  <a:lnTo>
                    <a:pt x="820" y="403"/>
                  </a:lnTo>
                  <a:lnTo>
                    <a:pt x="829" y="406"/>
                  </a:lnTo>
                  <a:lnTo>
                    <a:pt x="823" y="428"/>
                  </a:lnTo>
                  <a:lnTo>
                    <a:pt x="827" y="440"/>
                  </a:lnTo>
                  <a:lnTo>
                    <a:pt x="831" y="442"/>
                  </a:lnTo>
                  <a:lnTo>
                    <a:pt x="844" y="436"/>
                  </a:lnTo>
                  <a:lnTo>
                    <a:pt x="843" y="438"/>
                  </a:lnTo>
                  <a:lnTo>
                    <a:pt x="863" y="432"/>
                  </a:lnTo>
                  <a:lnTo>
                    <a:pt x="867" y="424"/>
                  </a:lnTo>
                  <a:lnTo>
                    <a:pt x="868" y="428"/>
                  </a:lnTo>
                  <a:lnTo>
                    <a:pt x="871" y="428"/>
                  </a:lnTo>
                  <a:lnTo>
                    <a:pt x="861" y="435"/>
                  </a:lnTo>
                  <a:lnTo>
                    <a:pt x="882" y="436"/>
                  </a:lnTo>
                  <a:lnTo>
                    <a:pt x="869" y="441"/>
                  </a:lnTo>
                  <a:lnTo>
                    <a:pt x="868" y="438"/>
                  </a:lnTo>
                  <a:lnTo>
                    <a:pt x="846" y="448"/>
                  </a:lnTo>
                  <a:lnTo>
                    <a:pt x="850" y="447"/>
                  </a:lnTo>
                  <a:lnTo>
                    <a:pt x="837" y="453"/>
                  </a:lnTo>
                  <a:lnTo>
                    <a:pt x="841" y="451"/>
                  </a:lnTo>
                  <a:lnTo>
                    <a:pt x="834" y="459"/>
                  </a:lnTo>
                  <a:lnTo>
                    <a:pt x="839" y="469"/>
                  </a:lnTo>
                  <a:lnTo>
                    <a:pt x="847" y="466"/>
                  </a:lnTo>
                  <a:lnTo>
                    <a:pt x="868" y="450"/>
                  </a:lnTo>
                  <a:lnTo>
                    <a:pt x="870" y="452"/>
                  </a:lnTo>
                  <a:lnTo>
                    <a:pt x="875" y="450"/>
                  </a:lnTo>
                  <a:lnTo>
                    <a:pt x="877" y="451"/>
                  </a:lnTo>
                  <a:lnTo>
                    <a:pt x="895" y="445"/>
                  </a:lnTo>
                  <a:lnTo>
                    <a:pt x="913" y="439"/>
                  </a:lnTo>
                  <a:lnTo>
                    <a:pt x="909" y="436"/>
                  </a:lnTo>
                  <a:lnTo>
                    <a:pt x="913" y="435"/>
                  </a:lnTo>
                  <a:lnTo>
                    <a:pt x="906" y="428"/>
                  </a:lnTo>
                  <a:lnTo>
                    <a:pt x="900" y="430"/>
                  </a:lnTo>
                  <a:lnTo>
                    <a:pt x="888" y="429"/>
                  </a:lnTo>
                  <a:lnTo>
                    <a:pt x="879" y="424"/>
                  </a:lnTo>
                  <a:lnTo>
                    <a:pt x="871" y="422"/>
                  </a:lnTo>
                  <a:lnTo>
                    <a:pt x="871" y="409"/>
                  </a:lnTo>
                  <a:lnTo>
                    <a:pt x="865" y="408"/>
                  </a:lnTo>
                  <a:lnTo>
                    <a:pt x="876" y="396"/>
                  </a:lnTo>
                  <a:lnTo>
                    <a:pt x="864" y="397"/>
                  </a:lnTo>
                  <a:lnTo>
                    <a:pt x="863" y="393"/>
                  </a:lnTo>
                  <a:lnTo>
                    <a:pt x="850" y="391"/>
                  </a:lnTo>
                  <a:lnTo>
                    <a:pt x="853" y="390"/>
                  </a:lnTo>
                  <a:lnTo>
                    <a:pt x="868" y="390"/>
                  </a:lnTo>
                  <a:lnTo>
                    <a:pt x="886" y="384"/>
                  </a:lnTo>
                  <a:lnTo>
                    <a:pt x="887" y="378"/>
                  </a:lnTo>
                  <a:lnTo>
                    <a:pt x="891" y="378"/>
                  </a:lnTo>
                  <a:lnTo>
                    <a:pt x="889" y="374"/>
                  </a:lnTo>
                  <a:lnTo>
                    <a:pt x="874" y="368"/>
                  </a:lnTo>
                  <a:lnTo>
                    <a:pt x="853" y="374"/>
                  </a:lnTo>
                  <a:lnTo>
                    <a:pt x="833" y="380"/>
                  </a:lnTo>
                  <a:lnTo>
                    <a:pt x="819" y="390"/>
                  </a:lnTo>
                  <a:lnTo>
                    <a:pt x="803" y="399"/>
                  </a:lnTo>
                  <a:lnTo>
                    <a:pt x="781" y="411"/>
                  </a:lnTo>
                  <a:lnTo>
                    <a:pt x="796" y="399"/>
                  </a:lnTo>
                  <a:lnTo>
                    <a:pt x="809" y="388"/>
                  </a:lnTo>
                  <a:lnTo>
                    <a:pt x="793" y="382"/>
                  </a:lnTo>
                  <a:lnTo>
                    <a:pt x="808" y="388"/>
                  </a:lnTo>
                  <a:lnTo>
                    <a:pt x="828" y="374"/>
                  </a:lnTo>
                  <a:lnTo>
                    <a:pt x="850" y="367"/>
                  </a:lnTo>
                  <a:lnTo>
                    <a:pt x="865" y="352"/>
                  </a:lnTo>
                  <a:lnTo>
                    <a:pt x="895" y="352"/>
                  </a:lnTo>
                  <a:lnTo>
                    <a:pt x="925" y="351"/>
                  </a:lnTo>
                  <a:lnTo>
                    <a:pt x="953" y="351"/>
                  </a:lnTo>
                  <a:lnTo>
                    <a:pt x="978" y="337"/>
                  </a:lnTo>
                  <a:lnTo>
                    <a:pt x="1002" y="331"/>
                  </a:lnTo>
                  <a:lnTo>
                    <a:pt x="1029" y="318"/>
                  </a:lnTo>
                  <a:lnTo>
                    <a:pt x="1021" y="314"/>
                  </a:lnTo>
                  <a:lnTo>
                    <a:pt x="1029" y="313"/>
                  </a:lnTo>
                  <a:lnTo>
                    <a:pt x="1019" y="310"/>
                  </a:lnTo>
                  <a:lnTo>
                    <a:pt x="1026" y="309"/>
                  </a:lnTo>
                  <a:lnTo>
                    <a:pt x="1026" y="307"/>
                  </a:lnTo>
                  <a:lnTo>
                    <a:pt x="1029" y="302"/>
                  </a:lnTo>
                  <a:lnTo>
                    <a:pt x="1031" y="297"/>
                  </a:lnTo>
                  <a:lnTo>
                    <a:pt x="1021" y="292"/>
                  </a:lnTo>
                  <a:lnTo>
                    <a:pt x="1023" y="291"/>
                  </a:lnTo>
                  <a:lnTo>
                    <a:pt x="1013" y="294"/>
                  </a:lnTo>
                  <a:lnTo>
                    <a:pt x="1015" y="284"/>
                  </a:lnTo>
                  <a:lnTo>
                    <a:pt x="1003" y="285"/>
                  </a:lnTo>
                  <a:lnTo>
                    <a:pt x="1009" y="285"/>
                  </a:lnTo>
                  <a:lnTo>
                    <a:pt x="988" y="292"/>
                  </a:lnTo>
                  <a:lnTo>
                    <a:pt x="970" y="298"/>
                  </a:lnTo>
                  <a:lnTo>
                    <a:pt x="976" y="295"/>
                  </a:lnTo>
                  <a:lnTo>
                    <a:pt x="969" y="291"/>
                  </a:lnTo>
                  <a:lnTo>
                    <a:pt x="978" y="292"/>
                  </a:lnTo>
                  <a:lnTo>
                    <a:pt x="1003" y="283"/>
                  </a:lnTo>
                  <a:lnTo>
                    <a:pt x="987" y="286"/>
                  </a:lnTo>
                  <a:lnTo>
                    <a:pt x="1018" y="277"/>
                  </a:lnTo>
                  <a:lnTo>
                    <a:pt x="999" y="270"/>
                  </a:lnTo>
                  <a:lnTo>
                    <a:pt x="994" y="270"/>
                  </a:lnTo>
                  <a:lnTo>
                    <a:pt x="999" y="266"/>
                  </a:lnTo>
                  <a:lnTo>
                    <a:pt x="987" y="272"/>
                  </a:lnTo>
                  <a:lnTo>
                    <a:pt x="993" y="267"/>
                  </a:lnTo>
                  <a:lnTo>
                    <a:pt x="991" y="266"/>
                  </a:lnTo>
                  <a:lnTo>
                    <a:pt x="984" y="268"/>
                  </a:lnTo>
                  <a:lnTo>
                    <a:pt x="987" y="265"/>
                  </a:lnTo>
                  <a:lnTo>
                    <a:pt x="978" y="268"/>
                  </a:lnTo>
                  <a:lnTo>
                    <a:pt x="982" y="266"/>
                  </a:lnTo>
                  <a:lnTo>
                    <a:pt x="984" y="262"/>
                  </a:lnTo>
                  <a:lnTo>
                    <a:pt x="985" y="256"/>
                  </a:lnTo>
                  <a:lnTo>
                    <a:pt x="981" y="260"/>
                  </a:lnTo>
                  <a:lnTo>
                    <a:pt x="982" y="258"/>
                  </a:lnTo>
                  <a:lnTo>
                    <a:pt x="976" y="250"/>
                  </a:lnTo>
                  <a:lnTo>
                    <a:pt x="967" y="248"/>
                  </a:lnTo>
                  <a:lnTo>
                    <a:pt x="975" y="248"/>
                  </a:lnTo>
                  <a:lnTo>
                    <a:pt x="970" y="244"/>
                  </a:lnTo>
                  <a:lnTo>
                    <a:pt x="973" y="243"/>
                  </a:lnTo>
                  <a:lnTo>
                    <a:pt x="969" y="242"/>
                  </a:lnTo>
                  <a:lnTo>
                    <a:pt x="972" y="242"/>
                  </a:lnTo>
                  <a:lnTo>
                    <a:pt x="966" y="238"/>
                  </a:lnTo>
                  <a:lnTo>
                    <a:pt x="969" y="238"/>
                  </a:lnTo>
                  <a:lnTo>
                    <a:pt x="973" y="241"/>
                  </a:lnTo>
                  <a:lnTo>
                    <a:pt x="983" y="235"/>
                  </a:lnTo>
                  <a:lnTo>
                    <a:pt x="978" y="230"/>
                  </a:lnTo>
                  <a:lnTo>
                    <a:pt x="975" y="228"/>
                  </a:lnTo>
                  <a:lnTo>
                    <a:pt x="979" y="223"/>
                  </a:lnTo>
                  <a:lnTo>
                    <a:pt x="975" y="219"/>
                  </a:lnTo>
                  <a:lnTo>
                    <a:pt x="973" y="217"/>
                  </a:lnTo>
                  <a:lnTo>
                    <a:pt x="966" y="218"/>
                  </a:lnTo>
                  <a:lnTo>
                    <a:pt x="976" y="214"/>
                  </a:lnTo>
                  <a:lnTo>
                    <a:pt x="975" y="211"/>
                  </a:lnTo>
                  <a:lnTo>
                    <a:pt x="963" y="214"/>
                  </a:lnTo>
                  <a:lnTo>
                    <a:pt x="976" y="206"/>
                  </a:lnTo>
                  <a:lnTo>
                    <a:pt x="971" y="202"/>
                  </a:lnTo>
                  <a:lnTo>
                    <a:pt x="966" y="202"/>
                  </a:lnTo>
                  <a:lnTo>
                    <a:pt x="971" y="198"/>
                  </a:lnTo>
                  <a:lnTo>
                    <a:pt x="969" y="195"/>
                  </a:lnTo>
                  <a:lnTo>
                    <a:pt x="965" y="188"/>
                  </a:lnTo>
                  <a:lnTo>
                    <a:pt x="965" y="184"/>
                  </a:lnTo>
                  <a:lnTo>
                    <a:pt x="960" y="186"/>
                  </a:lnTo>
                  <a:lnTo>
                    <a:pt x="964" y="182"/>
                  </a:lnTo>
                  <a:lnTo>
                    <a:pt x="955" y="186"/>
                  </a:lnTo>
                  <a:lnTo>
                    <a:pt x="955" y="190"/>
                  </a:lnTo>
                  <a:lnTo>
                    <a:pt x="948" y="190"/>
                  </a:lnTo>
                  <a:lnTo>
                    <a:pt x="952" y="195"/>
                  </a:lnTo>
                  <a:lnTo>
                    <a:pt x="947" y="198"/>
                  </a:lnTo>
                  <a:lnTo>
                    <a:pt x="942" y="201"/>
                  </a:lnTo>
                  <a:lnTo>
                    <a:pt x="935" y="208"/>
                  </a:lnTo>
                  <a:lnTo>
                    <a:pt x="933" y="213"/>
                  </a:lnTo>
                  <a:lnTo>
                    <a:pt x="930" y="206"/>
                  </a:lnTo>
                  <a:lnTo>
                    <a:pt x="917" y="213"/>
                  </a:lnTo>
                  <a:lnTo>
                    <a:pt x="907" y="220"/>
                  </a:lnTo>
                  <a:lnTo>
                    <a:pt x="909" y="214"/>
                  </a:lnTo>
                  <a:lnTo>
                    <a:pt x="904" y="217"/>
                  </a:lnTo>
                  <a:lnTo>
                    <a:pt x="906" y="211"/>
                  </a:lnTo>
                  <a:lnTo>
                    <a:pt x="899" y="219"/>
                  </a:lnTo>
                  <a:lnTo>
                    <a:pt x="885" y="223"/>
                  </a:lnTo>
                  <a:lnTo>
                    <a:pt x="904" y="214"/>
                  </a:lnTo>
                  <a:lnTo>
                    <a:pt x="901" y="204"/>
                  </a:lnTo>
                  <a:lnTo>
                    <a:pt x="885" y="207"/>
                  </a:lnTo>
                  <a:lnTo>
                    <a:pt x="881" y="207"/>
                  </a:lnTo>
                  <a:lnTo>
                    <a:pt x="887" y="204"/>
                  </a:lnTo>
                  <a:lnTo>
                    <a:pt x="892" y="205"/>
                  </a:lnTo>
                  <a:lnTo>
                    <a:pt x="897" y="196"/>
                  </a:lnTo>
                  <a:lnTo>
                    <a:pt x="893" y="194"/>
                  </a:lnTo>
                  <a:lnTo>
                    <a:pt x="898" y="187"/>
                  </a:lnTo>
                  <a:lnTo>
                    <a:pt x="882" y="184"/>
                  </a:lnTo>
                  <a:lnTo>
                    <a:pt x="901" y="183"/>
                  </a:lnTo>
                  <a:lnTo>
                    <a:pt x="904" y="175"/>
                  </a:lnTo>
                  <a:lnTo>
                    <a:pt x="906" y="171"/>
                  </a:lnTo>
                  <a:lnTo>
                    <a:pt x="901" y="171"/>
                  </a:lnTo>
                  <a:lnTo>
                    <a:pt x="883" y="164"/>
                  </a:lnTo>
                  <a:lnTo>
                    <a:pt x="888" y="159"/>
                  </a:lnTo>
                  <a:lnTo>
                    <a:pt x="883" y="160"/>
                  </a:lnTo>
                  <a:lnTo>
                    <a:pt x="879" y="154"/>
                  </a:lnTo>
                  <a:lnTo>
                    <a:pt x="880" y="152"/>
                  </a:lnTo>
                  <a:lnTo>
                    <a:pt x="868" y="146"/>
                  </a:lnTo>
                  <a:lnTo>
                    <a:pt x="853" y="151"/>
                  </a:lnTo>
                  <a:lnTo>
                    <a:pt x="839" y="151"/>
                  </a:lnTo>
                  <a:lnTo>
                    <a:pt x="844" y="150"/>
                  </a:lnTo>
                  <a:lnTo>
                    <a:pt x="820" y="146"/>
                  </a:lnTo>
                  <a:lnTo>
                    <a:pt x="809" y="158"/>
                  </a:lnTo>
                  <a:lnTo>
                    <a:pt x="810" y="163"/>
                  </a:lnTo>
                  <a:lnTo>
                    <a:pt x="802" y="174"/>
                  </a:lnTo>
                  <a:lnTo>
                    <a:pt x="805" y="174"/>
                  </a:lnTo>
                  <a:lnTo>
                    <a:pt x="802" y="186"/>
                  </a:lnTo>
                  <a:lnTo>
                    <a:pt x="796" y="192"/>
                  </a:lnTo>
                  <a:lnTo>
                    <a:pt x="793" y="193"/>
                  </a:lnTo>
                  <a:lnTo>
                    <a:pt x="773" y="210"/>
                  </a:lnTo>
                  <a:lnTo>
                    <a:pt x="787" y="225"/>
                  </a:lnTo>
                  <a:lnTo>
                    <a:pt x="779" y="240"/>
                  </a:lnTo>
                  <a:lnTo>
                    <a:pt x="772" y="254"/>
                  </a:lnTo>
                  <a:lnTo>
                    <a:pt x="753" y="264"/>
                  </a:lnTo>
                  <a:lnTo>
                    <a:pt x="733" y="272"/>
                  </a:lnTo>
                  <a:lnTo>
                    <a:pt x="724" y="276"/>
                  </a:lnTo>
                  <a:lnTo>
                    <a:pt x="725" y="288"/>
                  </a:lnTo>
                  <a:lnTo>
                    <a:pt x="720" y="312"/>
                  </a:lnTo>
                  <a:lnTo>
                    <a:pt x="713" y="321"/>
                  </a:lnTo>
                  <a:lnTo>
                    <a:pt x="708" y="330"/>
                  </a:lnTo>
                  <a:lnTo>
                    <a:pt x="705" y="333"/>
                  </a:lnTo>
                  <a:lnTo>
                    <a:pt x="702" y="327"/>
                  </a:lnTo>
                  <a:lnTo>
                    <a:pt x="693" y="338"/>
                  </a:lnTo>
                  <a:lnTo>
                    <a:pt x="695" y="343"/>
                  </a:lnTo>
                  <a:lnTo>
                    <a:pt x="685" y="332"/>
                  </a:lnTo>
                  <a:lnTo>
                    <a:pt x="675" y="338"/>
                  </a:lnTo>
                  <a:lnTo>
                    <a:pt x="685" y="330"/>
                  </a:lnTo>
                  <a:lnTo>
                    <a:pt x="675" y="318"/>
                  </a:lnTo>
                  <a:lnTo>
                    <a:pt x="677" y="313"/>
                  </a:lnTo>
                  <a:lnTo>
                    <a:pt x="676" y="301"/>
                  </a:lnTo>
                  <a:lnTo>
                    <a:pt x="682" y="284"/>
                  </a:lnTo>
                  <a:lnTo>
                    <a:pt x="689" y="267"/>
                  </a:lnTo>
                  <a:lnTo>
                    <a:pt x="672" y="266"/>
                  </a:lnTo>
                  <a:lnTo>
                    <a:pt x="655" y="266"/>
                  </a:lnTo>
                  <a:lnTo>
                    <a:pt x="651" y="268"/>
                  </a:lnTo>
                  <a:lnTo>
                    <a:pt x="657" y="264"/>
                  </a:lnTo>
                  <a:lnTo>
                    <a:pt x="645" y="258"/>
                  </a:lnTo>
                  <a:lnTo>
                    <a:pt x="631" y="252"/>
                  </a:lnTo>
                  <a:lnTo>
                    <a:pt x="617" y="237"/>
                  </a:lnTo>
                  <a:lnTo>
                    <a:pt x="599" y="231"/>
                  </a:lnTo>
                  <a:lnTo>
                    <a:pt x="576" y="237"/>
                  </a:lnTo>
                  <a:lnTo>
                    <a:pt x="577" y="236"/>
                  </a:lnTo>
                  <a:lnTo>
                    <a:pt x="574" y="237"/>
                  </a:lnTo>
                  <a:lnTo>
                    <a:pt x="585" y="217"/>
                  </a:lnTo>
                  <a:lnTo>
                    <a:pt x="583" y="207"/>
                  </a:lnTo>
                  <a:lnTo>
                    <a:pt x="571" y="210"/>
                  </a:lnTo>
                  <a:lnTo>
                    <a:pt x="567" y="216"/>
                  </a:lnTo>
                  <a:lnTo>
                    <a:pt x="571" y="207"/>
                  </a:lnTo>
                  <a:lnTo>
                    <a:pt x="570" y="201"/>
                  </a:lnTo>
                  <a:lnTo>
                    <a:pt x="588" y="177"/>
                  </a:lnTo>
                  <a:lnTo>
                    <a:pt x="616" y="159"/>
                  </a:lnTo>
                  <a:lnTo>
                    <a:pt x="617" y="154"/>
                  </a:lnTo>
                  <a:lnTo>
                    <a:pt x="630" y="150"/>
                  </a:lnTo>
                  <a:lnTo>
                    <a:pt x="628" y="148"/>
                  </a:lnTo>
                  <a:lnTo>
                    <a:pt x="633" y="150"/>
                  </a:lnTo>
                  <a:lnTo>
                    <a:pt x="639" y="145"/>
                  </a:lnTo>
                  <a:lnTo>
                    <a:pt x="646" y="144"/>
                  </a:lnTo>
                  <a:lnTo>
                    <a:pt x="647" y="140"/>
                  </a:lnTo>
                  <a:lnTo>
                    <a:pt x="667" y="136"/>
                  </a:lnTo>
                  <a:lnTo>
                    <a:pt x="669" y="132"/>
                  </a:lnTo>
                  <a:lnTo>
                    <a:pt x="654" y="128"/>
                  </a:lnTo>
                  <a:lnTo>
                    <a:pt x="657" y="127"/>
                  </a:lnTo>
                  <a:lnTo>
                    <a:pt x="642" y="124"/>
                  </a:lnTo>
                  <a:lnTo>
                    <a:pt x="642" y="120"/>
                  </a:lnTo>
                  <a:lnTo>
                    <a:pt x="660" y="123"/>
                  </a:lnTo>
                  <a:lnTo>
                    <a:pt x="679" y="127"/>
                  </a:lnTo>
                  <a:lnTo>
                    <a:pt x="685" y="122"/>
                  </a:lnTo>
                  <a:lnTo>
                    <a:pt x="689" y="120"/>
                  </a:lnTo>
                  <a:lnTo>
                    <a:pt x="696" y="122"/>
                  </a:lnTo>
                  <a:lnTo>
                    <a:pt x="696" y="118"/>
                  </a:lnTo>
                  <a:lnTo>
                    <a:pt x="703" y="121"/>
                  </a:lnTo>
                  <a:lnTo>
                    <a:pt x="731" y="106"/>
                  </a:lnTo>
                  <a:lnTo>
                    <a:pt x="735" y="102"/>
                  </a:lnTo>
                  <a:lnTo>
                    <a:pt x="709" y="98"/>
                  </a:lnTo>
                  <a:lnTo>
                    <a:pt x="694" y="91"/>
                  </a:lnTo>
                  <a:lnTo>
                    <a:pt x="723" y="96"/>
                  </a:lnTo>
                  <a:lnTo>
                    <a:pt x="731" y="100"/>
                  </a:lnTo>
                  <a:lnTo>
                    <a:pt x="759"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4" name="Freeform 393"/>
            <p:cNvSpPr>
              <a:spLocks/>
            </p:cNvSpPr>
            <p:nvPr/>
          </p:nvSpPr>
          <p:spPr bwMode="auto">
            <a:xfrm>
              <a:off x="1414" y="1288"/>
              <a:ext cx="313" cy="202"/>
            </a:xfrm>
            <a:custGeom>
              <a:avLst/>
              <a:gdLst/>
              <a:ahLst/>
              <a:cxnLst>
                <a:cxn ang="0">
                  <a:pos x="205" y="41"/>
                </a:cxn>
                <a:cxn ang="0">
                  <a:pos x="195" y="33"/>
                </a:cxn>
                <a:cxn ang="0">
                  <a:pos x="183" y="33"/>
                </a:cxn>
                <a:cxn ang="0">
                  <a:pos x="163" y="39"/>
                </a:cxn>
                <a:cxn ang="0">
                  <a:pos x="168" y="27"/>
                </a:cxn>
                <a:cxn ang="0">
                  <a:pos x="177" y="22"/>
                </a:cxn>
                <a:cxn ang="0">
                  <a:pos x="133" y="23"/>
                </a:cxn>
                <a:cxn ang="0">
                  <a:pos x="130" y="25"/>
                </a:cxn>
                <a:cxn ang="0">
                  <a:pos x="120" y="23"/>
                </a:cxn>
                <a:cxn ang="0">
                  <a:pos x="109" y="22"/>
                </a:cxn>
                <a:cxn ang="0">
                  <a:pos x="94" y="6"/>
                </a:cxn>
                <a:cxn ang="0">
                  <a:pos x="75" y="12"/>
                </a:cxn>
                <a:cxn ang="0">
                  <a:pos x="69" y="21"/>
                </a:cxn>
                <a:cxn ang="0">
                  <a:pos x="61" y="34"/>
                </a:cxn>
                <a:cxn ang="0">
                  <a:pos x="47" y="27"/>
                </a:cxn>
                <a:cxn ang="0">
                  <a:pos x="24" y="15"/>
                </a:cxn>
                <a:cxn ang="0">
                  <a:pos x="5" y="48"/>
                </a:cxn>
                <a:cxn ang="0">
                  <a:pos x="31" y="55"/>
                </a:cxn>
                <a:cxn ang="0">
                  <a:pos x="76" y="53"/>
                </a:cxn>
                <a:cxn ang="0">
                  <a:pos x="115" y="51"/>
                </a:cxn>
                <a:cxn ang="0">
                  <a:pos x="126" y="61"/>
                </a:cxn>
                <a:cxn ang="0">
                  <a:pos x="123" y="76"/>
                </a:cxn>
                <a:cxn ang="0">
                  <a:pos x="153" y="75"/>
                </a:cxn>
                <a:cxn ang="0">
                  <a:pos x="144" y="106"/>
                </a:cxn>
                <a:cxn ang="0">
                  <a:pos x="178" y="114"/>
                </a:cxn>
                <a:cxn ang="0">
                  <a:pos x="137" y="108"/>
                </a:cxn>
                <a:cxn ang="0">
                  <a:pos x="99" y="133"/>
                </a:cxn>
                <a:cxn ang="0">
                  <a:pos x="61" y="139"/>
                </a:cxn>
                <a:cxn ang="0">
                  <a:pos x="103" y="139"/>
                </a:cxn>
                <a:cxn ang="0">
                  <a:pos x="117" y="138"/>
                </a:cxn>
                <a:cxn ang="0">
                  <a:pos x="127" y="154"/>
                </a:cxn>
                <a:cxn ang="0">
                  <a:pos x="148" y="169"/>
                </a:cxn>
                <a:cxn ang="0">
                  <a:pos x="175" y="163"/>
                </a:cxn>
                <a:cxn ang="0">
                  <a:pos x="189" y="163"/>
                </a:cxn>
                <a:cxn ang="0">
                  <a:pos x="205" y="171"/>
                </a:cxn>
                <a:cxn ang="0">
                  <a:pos x="215" y="157"/>
                </a:cxn>
                <a:cxn ang="0">
                  <a:pos x="214" y="144"/>
                </a:cxn>
                <a:cxn ang="0">
                  <a:pos x="208" y="136"/>
                </a:cxn>
                <a:cxn ang="0">
                  <a:pos x="201" y="131"/>
                </a:cxn>
                <a:cxn ang="0">
                  <a:pos x="196" y="120"/>
                </a:cxn>
                <a:cxn ang="0">
                  <a:pos x="205" y="115"/>
                </a:cxn>
                <a:cxn ang="0">
                  <a:pos x="215" y="109"/>
                </a:cxn>
                <a:cxn ang="0">
                  <a:pos x="243" y="112"/>
                </a:cxn>
                <a:cxn ang="0">
                  <a:pos x="226" y="126"/>
                </a:cxn>
                <a:cxn ang="0">
                  <a:pos x="237" y="131"/>
                </a:cxn>
                <a:cxn ang="0">
                  <a:pos x="250" y="118"/>
                </a:cxn>
                <a:cxn ang="0">
                  <a:pos x="259" y="117"/>
                </a:cxn>
                <a:cxn ang="0">
                  <a:pos x="276" y="111"/>
                </a:cxn>
                <a:cxn ang="0">
                  <a:pos x="273" y="102"/>
                </a:cxn>
                <a:cxn ang="0">
                  <a:pos x="257" y="106"/>
                </a:cxn>
                <a:cxn ang="0">
                  <a:pos x="246" y="100"/>
                </a:cxn>
                <a:cxn ang="0">
                  <a:pos x="246" y="96"/>
                </a:cxn>
                <a:cxn ang="0">
                  <a:pos x="246" y="90"/>
                </a:cxn>
                <a:cxn ang="0">
                  <a:pos x="235" y="89"/>
                </a:cxn>
                <a:cxn ang="0">
                  <a:pos x="229" y="84"/>
                </a:cxn>
                <a:cxn ang="0">
                  <a:pos x="210" y="76"/>
                </a:cxn>
                <a:cxn ang="0">
                  <a:pos x="219" y="72"/>
                </a:cxn>
                <a:cxn ang="0">
                  <a:pos x="214" y="67"/>
                </a:cxn>
                <a:cxn ang="0">
                  <a:pos x="221" y="61"/>
                </a:cxn>
                <a:cxn ang="0">
                  <a:pos x="215" y="58"/>
                </a:cxn>
                <a:cxn ang="0">
                  <a:pos x="234" y="47"/>
                </a:cxn>
                <a:cxn ang="0">
                  <a:pos x="202" y="48"/>
                </a:cxn>
              </a:cxnLst>
              <a:rect l="0" t="0" r="r" b="b"/>
              <a:pathLst>
                <a:path w="282" h="183">
                  <a:moveTo>
                    <a:pt x="197" y="48"/>
                  </a:moveTo>
                  <a:lnTo>
                    <a:pt x="193" y="48"/>
                  </a:lnTo>
                  <a:lnTo>
                    <a:pt x="213" y="42"/>
                  </a:lnTo>
                  <a:lnTo>
                    <a:pt x="205" y="41"/>
                  </a:lnTo>
                  <a:lnTo>
                    <a:pt x="190" y="45"/>
                  </a:lnTo>
                  <a:lnTo>
                    <a:pt x="199" y="39"/>
                  </a:lnTo>
                  <a:lnTo>
                    <a:pt x="209" y="37"/>
                  </a:lnTo>
                  <a:lnTo>
                    <a:pt x="195" y="33"/>
                  </a:lnTo>
                  <a:lnTo>
                    <a:pt x="183" y="40"/>
                  </a:lnTo>
                  <a:lnTo>
                    <a:pt x="184" y="36"/>
                  </a:lnTo>
                  <a:lnTo>
                    <a:pt x="178" y="40"/>
                  </a:lnTo>
                  <a:lnTo>
                    <a:pt x="183" y="33"/>
                  </a:lnTo>
                  <a:lnTo>
                    <a:pt x="177" y="36"/>
                  </a:lnTo>
                  <a:lnTo>
                    <a:pt x="183" y="30"/>
                  </a:lnTo>
                  <a:lnTo>
                    <a:pt x="180" y="31"/>
                  </a:lnTo>
                  <a:lnTo>
                    <a:pt x="163" y="39"/>
                  </a:lnTo>
                  <a:lnTo>
                    <a:pt x="171" y="33"/>
                  </a:lnTo>
                  <a:lnTo>
                    <a:pt x="166" y="33"/>
                  </a:lnTo>
                  <a:lnTo>
                    <a:pt x="183" y="27"/>
                  </a:lnTo>
                  <a:lnTo>
                    <a:pt x="168" y="27"/>
                  </a:lnTo>
                  <a:lnTo>
                    <a:pt x="162" y="30"/>
                  </a:lnTo>
                  <a:lnTo>
                    <a:pt x="168" y="24"/>
                  </a:lnTo>
                  <a:lnTo>
                    <a:pt x="157" y="29"/>
                  </a:lnTo>
                  <a:lnTo>
                    <a:pt x="177" y="22"/>
                  </a:lnTo>
                  <a:lnTo>
                    <a:pt x="169" y="18"/>
                  </a:lnTo>
                  <a:lnTo>
                    <a:pt x="142" y="18"/>
                  </a:lnTo>
                  <a:lnTo>
                    <a:pt x="150" y="23"/>
                  </a:lnTo>
                  <a:lnTo>
                    <a:pt x="133" y="23"/>
                  </a:lnTo>
                  <a:lnTo>
                    <a:pt x="138" y="29"/>
                  </a:lnTo>
                  <a:lnTo>
                    <a:pt x="130" y="27"/>
                  </a:lnTo>
                  <a:lnTo>
                    <a:pt x="131" y="28"/>
                  </a:lnTo>
                  <a:lnTo>
                    <a:pt x="130" y="25"/>
                  </a:lnTo>
                  <a:lnTo>
                    <a:pt x="130" y="21"/>
                  </a:lnTo>
                  <a:lnTo>
                    <a:pt x="126" y="22"/>
                  </a:lnTo>
                  <a:lnTo>
                    <a:pt x="120" y="22"/>
                  </a:lnTo>
                  <a:lnTo>
                    <a:pt x="120" y="23"/>
                  </a:lnTo>
                  <a:lnTo>
                    <a:pt x="115" y="23"/>
                  </a:lnTo>
                  <a:lnTo>
                    <a:pt x="109" y="25"/>
                  </a:lnTo>
                  <a:lnTo>
                    <a:pt x="113" y="19"/>
                  </a:lnTo>
                  <a:lnTo>
                    <a:pt x="109" y="22"/>
                  </a:lnTo>
                  <a:lnTo>
                    <a:pt x="124" y="15"/>
                  </a:lnTo>
                  <a:lnTo>
                    <a:pt x="121" y="1"/>
                  </a:lnTo>
                  <a:lnTo>
                    <a:pt x="91" y="4"/>
                  </a:lnTo>
                  <a:lnTo>
                    <a:pt x="94" y="6"/>
                  </a:lnTo>
                  <a:lnTo>
                    <a:pt x="83" y="7"/>
                  </a:lnTo>
                  <a:lnTo>
                    <a:pt x="76" y="9"/>
                  </a:lnTo>
                  <a:lnTo>
                    <a:pt x="88" y="11"/>
                  </a:lnTo>
                  <a:lnTo>
                    <a:pt x="75" y="12"/>
                  </a:lnTo>
                  <a:lnTo>
                    <a:pt x="83" y="16"/>
                  </a:lnTo>
                  <a:lnTo>
                    <a:pt x="66" y="13"/>
                  </a:lnTo>
                  <a:lnTo>
                    <a:pt x="65" y="21"/>
                  </a:lnTo>
                  <a:lnTo>
                    <a:pt x="69" y="21"/>
                  </a:lnTo>
                  <a:lnTo>
                    <a:pt x="71" y="27"/>
                  </a:lnTo>
                  <a:lnTo>
                    <a:pt x="58" y="24"/>
                  </a:lnTo>
                  <a:lnTo>
                    <a:pt x="55" y="28"/>
                  </a:lnTo>
                  <a:lnTo>
                    <a:pt x="61" y="34"/>
                  </a:lnTo>
                  <a:lnTo>
                    <a:pt x="52" y="40"/>
                  </a:lnTo>
                  <a:lnTo>
                    <a:pt x="35" y="40"/>
                  </a:lnTo>
                  <a:lnTo>
                    <a:pt x="57" y="35"/>
                  </a:lnTo>
                  <a:lnTo>
                    <a:pt x="47" y="27"/>
                  </a:lnTo>
                  <a:lnTo>
                    <a:pt x="66" y="9"/>
                  </a:lnTo>
                  <a:lnTo>
                    <a:pt x="84" y="0"/>
                  </a:lnTo>
                  <a:lnTo>
                    <a:pt x="46" y="4"/>
                  </a:lnTo>
                  <a:lnTo>
                    <a:pt x="24" y="15"/>
                  </a:lnTo>
                  <a:lnTo>
                    <a:pt x="0" y="35"/>
                  </a:lnTo>
                  <a:lnTo>
                    <a:pt x="25" y="41"/>
                  </a:lnTo>
                  <a:lnTo>
                    <a:pt x="3" y="41"/>
                  </a:lnTo>
                  <a:lnTo>
                    <a:pt x="5" y="48"/>
                  </a:lnTo>
                  <a:lnTo>
                    <a:pt x="19" y="51"/>
                  </a:lnTo>
                  <a:lnTo>
                    <a:pt x="21" y="51"/>
                  </a:lnTo>
                  <a:lnTo>
                    <a:pt x="25" y="49"/>
                  </a:lnTo>
                  <a:lnTo>
                    <a:pt x="31" y="55"/>
                  </a:lnTo>
                  <a:lnTo>
                    <a:pt x="75" y="57"/>
                  </a:lnTo>
                  <a:lnTo>
                    <a:pt x="64" y="51"/>
                  </a:lnTo>
                  <a:lnTo>
                    <a:pt x="84" y="59"/>
                  </a:lnTo>
                  <a:lnTo>
                    <a:pt x="76" y="53"/>
                  </a:lnTo>
                  <a:lnTo>
                    <a:pt x="109" y="57"/>
                  </a:lnTo>
                  <a:lnTo>
                    <a:pt x="107" y="49"/>
                  </a:lnTo>
                  <a:lnTo>
                    <a:pt x="115" y="46"/>
                  </a:lnTo>
                  <a:lnTo>
                    <a:pt x="115" y="51"/>
                  </a:lnTo>
                  <a:lnTo>
                    <a:pt x="124" y="53"/>
                  </a:lnTo>
                  <a:lnTo>
                    <a:pt x="120" y="58"/>
                  </a:lnTo>
                  <a:lnTo>
                    <a:pt x="130" y="59"/>
                  </a:lnTo>
                  <a:lnTo>
                    <a:pt x="126" y="61"/>
                  </a:lnTo>
                  <a:lnTo>
                    <a:pt x="132" y="60"/>
                  </a:lnTo>
                  <a:lnTo>
                    <a:pt x="135" y="70"/>
                  </a:lnTo>
                  <a:lnTo>
                    <a:pt x="124" y="72"/>
                  </a:lnTo>
                  <a:lnTo>
                    <a:pt x="123" y="76"/>
                  </a:lnTo>
                  <a:lnTo>
                    <a:pt x="137" y="71"/>
                  </a:lnTo>
                  <a:lnTo>
                    <a:pt x="143" y="72"/>
                  </a:lnTo>
                  <a:lnTo>
                    <a:pt x="149" y="78"/>
                  </a:lnTo>
                  <a:lnTo>
                    <a:pt x="153" y="75"/>
                  </a:lnTo>
                  <a:lnTo>
                    <a:pt x="150" y="82"/>
                  </a:lnTo>
                  <a:lnTo>
                    <a:pt x="157" y="83"/>
                  </a:lnTo>
                  <a:lnTo>
                    <a:pt x="155" y="100"/>
                  </a:lnTo>
                  <a:lnTo>
                    <a:pt x="144" y="106"/>
                  </a:lnTo>
                  <a:lnTo>
                    <a:pt x="162" y="107"/>
                  </a:lnTo>
                  <a:lnTo>
                    <a:pt x="171" y="101"/>
                  </a:lnTo>
                  <a:lnTo>
                    <a:pt x="183" y="109"/>
                  </a:lnTo>
                  <a:lnTo>
                    <a:pt x="178" y="114"/>
                  </a:lnTo>
                  <a:lnTo>
                    <a:pt x="165" y="114"/>
                  </a:lnTo>
                  <a:lnTo>
                    <a:pt x="159" y="115"/>
                  </a:lnTo>
                  <a:lnTo>
                    <a:pt x="162" y="109"/>
                  </a:lnTo>
                  <a:lnTo>
                    <a:pt x="137" y="108"/>
                  </a:lnTo>
                  <a:lnTo>
                    <a:pt x="120" y="115"/>
                  </a:lnTo>
                  <a:lnTo>
                    <a:pt x="124" y="124"/>
                  </a:lnTo>
                  <a:lnTo>
                    <a:pt x="96" y="130"/>
                  </a:lnTo>
                  <a:lnTo>
                    <a:pt x="99" y="133"/>
                  </a:lnTo>
                  <a:lnTo>
                    <a:pt x="96" y="136"/>
                  </a:lnTo>
                  <a:lnTo>
                    <a:pt x="96" y="129"/>
                  </a:lnTo>
                  <a:lnTo>
                    <a:pt x="76" y="127"/>
                  </a:lnTo>
                  <a:lnTo>
                    <a:pt x="61" y="139"/>
                  </a:lnTo>
                  <a:lnTo>
                    <a:pt x="76" y="144"/>
                  </a:lnTo>
                  <a:lnTo>
                    <a:pt x="90" y="142"/>
                  </a:lnTo>
                  <a:lnTo>
                    <a:pt x="93" y="139"/>
                  </a:lnTo>
                  <a:lnTo>
                    <a:pt x="103" y="139"/>
                  </a:lnTo>
                  <a:lnTo>
                    <a:pt x="106" y="133"/>
                  </a:lnTo>
                  <a:lnTo>
                    <a:pt x="109" y="138"/>
                  </a:lnTo>
                  <a:lnTo>
                    <a:pt x="109" y="143"/>
                  </a:lnTo>
                  <a:lnTo>
                    <a:pt x="117" y="138"/>
                  </a:lnTo>
                  <a:lnTo>
                    <a:pt x="121" y="139"/>
                  </a:lnTo>
                  <a:lnTo>
                    <a:pt x="119" y="145"/>
                  </a:lnTo>
                  <a:lnTo>
                    <a:pt x="126" y="150"/>
                  </a:lnTo>
                  <a:lnTo>
                    <a:pt x="127" y="154"/>
                  </a:lnTo>
                  <a:lnTo>
                    <a:pt x="136" y="155"/>
                  </a:lnTo>
                  <a:lnTo>
                    <a:pt x="127" y="159"/>
                  </a:lnTo>
                  <a:lnTo>
                    <a:pt x="133" y="163"/>
                  </a:lnTo>
                  <a:lnTo>
                    <a:pt x="148" y="169"/>
                  </a:lnTo>
                  <a:lnTo>
                    <a:pt x="167" y="177"/>
                  </a:lnTo>
                  <a:lnTo>
                    <a:pt x="186" y="183"/>
                  </a:lnTo>
                  <a:lnTo>
                    <a:pt x="186" y="175"/>
                  </a:lnTo>
                  <a:lnTo>
                    <a:pt x="175" y="163"/>
                  </a:lnTo>
                  <a:lnTo>
                    <a:pt x="165" y="153"/>
                  </a:lnTo>
                  <a:lnTo>
                    <a:pt x="178" y="159"/>
                  </a:lnTo>
                  <a:lnTo>
                    <a:pt x="180" y="154"/>
                  </a:lnTo>
                  <a:lnTo>
                    <a:pt x="189" y="163"/>
                  </a:lnTo>
                  <a:lnTo>
                    <a:pt x="190" y="161"/>
                  </a:lnTo>
                  <a:lnTo>
                    <a:pt x="195" y="165"/>
                  </a:lnTo>
                  <a:lnTo>
                    <a:pt x="203" y="168"/>
                  </a:lnTo>
                  <a:lnTo>
                    <a:pt x="205" y="171"/>
                  </a:lnTo>
                  <a:lnTo>
                    <a:pt x="207" y="166"/>
                  </a:lnTo>
                  <a:lnTo>
                    <a:pt x="210" y="165"/>
                  </a:lnTo>
                  <a:lnTo>
                    <a:pt x="213" y="154"/>
                  </a:lnTo>
                  <a:lnTo>
                    <a:pt x="215" y="157"/>
                  </a:lnTo>
                  <a:lnTo>
                    <a:pt x="217" y="153"/>
                  </a:lnTo>
                  <a:lnTo>
                    <a:pt x="219" y="148"/>
                  </a:lnTo>
                  <a:lnTo>
                    <a:pt x="215" y="147"/>
                  </a:lnTo>
                  <a:lnTo>
                    <a:pt x="214" y="144"/>
                  </a:lnTo>
                  <a:lnTo>
                    <a:pt x="215" y="141"/>
                  </a:lnTo>
                  <a:lnTo>
                    <a:pt x="214" y="138"/>
                  </a:lnTo>
                  <a:lnTo>
                    <a:pt x="210" y="137"/>
                  </a:lnTo>
                  <a:lnTo>
                    <a:pt x="208" y="136"/>
                  </a:lnTo>
                  <a:lnTo>
                    <a:pt x="204" y="132"/>
                  </a:lnTo>
                  <a:lnTo>
                    <a:pt x="202" y="133"/>
                  </a:lnTo>
                  <a:lnTo>
                    <a:pt x="204" y="130"/>
                  </a:lnTo>
                  <a:lnTo>
                    <a:pt x="201" y="131"/>
                  </a:lnTo>
                  <a:lnTo>
                    <a:pt x="202" y="126"/>
                  </a:lnTo>
                  <a:lnTo>
                    <a:pt x="202" y="123"/>
                  </a:lnTo>
                  <a:lnTo>
                    <a:pt x="193" y="123"/>
                  </a:lnTo>
                  <a:lnTo>
                    <a:pt x="196" y="120"/>
                  </a:lnTo>
                  <a:lnTo>
                    <a:pt x="195" y="117"/>
                  </a:lnTo>
                  <a:lnTo>
                    <a:pt x="192" y="112"/>
                  </a:lnTo>
                  <a:lnTo>
                    <a:pt x="202" y="119"/>
                  </a:lnTo>
                  <a:lnTo>
                    <a:pt x="205" y="115"/>
                  </a:lnTo>
                  <a:lnTo>
                    <a:pt x="204" y="111"/>
                  </a:lnTo>
                  <a:lnTo>
                    <a:pt x="210" y="109"/>
                  </a:lnTo>
                  <a:lnTo>
                    <a:pt x="209" y="108"/>
                  </a:lnTo>
                  <a:lnTo>
                    <a:pt x="215" y="109"/>
                  </a:lnTo>
                  <a:lnTo>
                    <a:pt x="226" y="114"/>
                  </a:lnTo>
                  <a:lnTo>
                    <a:pt x="229" y="112"/>
                  </a:lnTo>
                  <a:lnTo>
                    <a:pt x="221" y="118"/>
                  </a:lnTo>
                  <a:lnTo>
                    <a:pt x="243" y="112"/>
                  </a:lnTo>
                  <a:lnTo>
                    <a:pt x="233" y="117"/>
                  </a:lnTo>
                  <a:lnTo>
                    <a:pt x="223" y="123"/>
                  </a:lnTo>
                  <a:lnTo>
                    <a:pt x="227" y="123"/>
                  </a:lnTo>
                  <a:lnTo>
                    <a:pt x="226" y="126"/>
                  </a:lnTo>
                  <a:lnTo>
                    <a:pt x="232" y="126"/>
                  </a:lnTo>
                  <a:lnTo>
                    <a:pt x="229" y="131"/>
                  </a:lnTo>
                  <a:lnTo>
                    <a:pt x="233" y="127"/>
                  </a:lnTo>
                  <a:lnTo>
                    <a:pt x="237" y="131"/>
                  </a:lnTo>
                  <a:lnTo>
                    <a:pt x="244" y="132"/>
                  </a:lnTo>
                  <a:lnTo>
                    <a:pt x="244" y="125"/>
                  </a:lnTo>
                  <a:lnTo>
                    <a:pt x="245" y="124"/>
                  </a:lnTo>
                  <a:lnTo>
                    <a:pt x="250" y="118"/>
                  </a:lnTo>
                  <a:lnTo>
                    <a:pt x="255" y="123"/>
                  </a:lnTo>
                  <a:lnTo>
                    <a:pt x="257" y="119"/>
                  </a:lnTo>
                  <a:lnTo>
                    <a:pt x="263" y="118"/>
                  </a:lnTo>
                  <a:lnTo>
                    <a:pt x="259" y="117"/>
                  </a:lnTo>
                  <a:lnTo>
                    <a:pt x="268" y="115"/>
                  </a:lnTo>
                  <a:lnTo>
                    <a:pt x="262" y="113"/>
                  </a:lnTo>
                  <a:lnTo>
                    <a:pt x="268" y="111"/>
                  </a:lnTo>
                  <a:lnTo>
                    <a:pt x="276" y="111"/>
                  </a:lnTo>
                  <a:lnTo>
                    <a:pt x="276" y="109"/>
                  </a:lnTo>
                  <a:lnTo>
                    <a:pt x="275" y="107"/>
                  </a:lnTo>
                  <a:lnTo>
                    <a:pt x="282" y="107"/>
                  </a:lnTo>
                  <a:lnTo>
                    <a:pt x="273" y="102"/>
                  </a:lnTo>
                  <a:lnTo>
                    <a:pt x="269" y="105"/>
                  </a:lnTo>
                  <a:lnTo>
                    <a:pt x="265" y="105"/>
                  </a:lnTo>
                  <a:lnTo>
                    <a:pt x="265" y="102"/>
                  </a:lnTo>
                  <a:lnTo>
                    <a:pt x="257" y="106"/>
                  </a:lnTo>
                  <a:lnTo>
                    <a:pt x="256" y="105"/>
                  </a:lnTo>
                  <a:lnTo>
                    <a:pt x="263" y="97"/>
                  </a:lnTo>
                  <a:lnTo>
                    <a:pt x="258" y="100"/>
                  </a:lnTo>
                  <a:lnTo>
                    <a:pt x="246" y="100"/>
                  </a:lnTo>
                  <a:lnTo>
                    <a:pt x="255" y="97"/>
                  </a:lnTo>
                  <a:lnTo>
                    <a:pt x="245" y="99"/>
                  </a:lnTo>
                  <a:lnTo>
                    <a:pt x="252" y="97"/>
                  </a:lnTo>
                  <a:lnTo>
                    <a:pt x="246" y="96"/>
                  </a:lnTo>
                  <a:lnTo>
                    <a:pt x="256" y="94"/>
                  </a:lnTo>
                  <a:lnTo>
                    <a:pt x="256" y="93"/>
                  </a:lnTo>
                  <a:lnTo>
                    <a:pt x="249" y="90"/>
                  </a:lnTo>
                  <a:lnTo>
                    <a:pt x="246" y="90"/>
                  </a:lnTo>
                  <a:lnTo>
                    <a:pt x="250" y="85"/>
                  </a:lnTo>
                  <a:lnTo>
                    <a:pt x="243" y="90"/>
                  </a:lnTo>
                  <a:lnTo>
                    <a:pt x="240" y="87"/>
                  </a:lnTo>
                  <a:lnTo>
                    <a:pt x="235" y="89"/>
                  </a:lnTo>
                  <a:lnTo>
                    <a:pt x="238" y="85"/>
                  </a:lnTo>
                  <a:lnTo>
                    <a:pt x="231" y="89"/>
                  </a:lnTo>
                  <a:lnTo>
                    <a:pt x="235" y="84"/>
                  </a:lnTo>
                  <a:lnTo>
                    <a:pt x="229" y="84"/>
                  </a:lnTo>
                  <a:lnTo>
                    <a:pt x="225" y="82"/>
                  </a:lnTo>
                  <a:lnTo>
                    <a:pt x="219" y="82"/>
                  </a:lnTo>
                  <a:lnTo>
                    <a:pt x="228" y="79"/>
                  </a:lnTo>
                  <a:lnTo>
                    <a:pt x="210" y="76"/>
                  </a:lnTo>
                  <a:lnTo>
                    <a:pt x="220" y="76"/>
                  </a:lnTo>
                  <a:lnTo>
                    <a:pt x="210" y="73"/>
                  </a:lnTo>
                  <a:lnTo>
                    <a:pt x="223" y="75"/>
                  </a:lnTo>
                  <a:lnTo>
                    <a:pt x="219" y="72"/>
                  </a:lnTo>
                  <a:lnTo>
                    <a:pt x="227" y="71"/>
                  </a:lnTo>
                  <a:lnTo>
                    <a:pt x="214" y="70"/>
                  </a:lnTo>
                  <a:lnTo>
                    <a:pt x="219" y="67"/>
                  </a:lnTo>
                  <a:lnTo>
                    <a:pt x="214" y="67"/>
                  </a:lnTo>
                  <a:lnTo>
                    <a:pt x="223" y="66"/>
                  </a:lnTo>
                  <a:lnTo>
                    <a:pt x="215" y="65"/>
                  </a:lnTo>
                  <a:lnTo>
                    <a:pt x="240" y="67"/>
                  </a:lnTo>
                  <a:lnTo>
                    <a:pt x="221" y="61"/>
                  </a:lnTo>
                  <a:lnTo>
                    <a:pt x="207" y="61"/>
                  </a:lnTo>
                  <a:lnTo>
                    <a:pt x="239" y="59"/>
                  </a:lnTo>
                  <a:lnTo>
                    <a:pt x="233" y="51"/>
                  </a:lnTo>
                  <a:lnTo>
                    <a:pt x="215" y="58"/>
                  </a:lnTo>
                  <a:lnTo>
                    <a:pt x="205" y="60"/>
                  </a:lnTo>
                  <a:lnTo>
                    <a:pt x="226" y="52"/>
                  </a:lnTo>
                  <a:lnTo>
                    <a:pt x="207" y="55"/>
                  </a:lnTo>
                  <a:lnTo>
                    <a:pt x="234" y="47"/>
                  </a:lnTo>
                  <a:lnTo>
                    <a:pt x="219" y="45"/>
                  </a:lnTo>
                  <a:lnTo>
                    <a:pt x="213" y="46"/>
                  </a:lnTo>
                  <a:lnTo>
                    <a:pt x="220" y="42"/>
                  </a:lnTo>
                  <a:lnTo>
                    <a:pt x="202" y="48"/>
                  </a:lnTo>
                  <a:lnTo>
                    <a:pt x="192" y="55"/>
                  </a:lnTo>
                  <a:lnTo>
                    <a:pt x="197" y="4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5" name="Freeform 394"/>
            <p:cNvSpPr>
              <a:spLocks/>
            </p:cNvSpPr>
            <p:nvPr/>
          </p:nvSpPr>
          <p:spPr bwMode="auto">
            <a:xfrm>
              <a:off x="1505" y="1159"/>
              <a:ext cx="382" cy="86"/>
            </a:xfrm>
            <a:custGeom>
              <a:avLst/>
              <a:gdLst/>
              <a:ahLst/>
              <a:cxnLst>
                <a:cxn ang="0">
                  <a:pos x="85" y="56"/>
                </a:cxn>
                <a:cxn ang="0">
                  <a:pos x="64" y="65"/>
                </a:cxn>
                <a:cxn ang="0">
                  <a:pos x="52" y="59"/>
                </a:cxn>
                <a:cxn ang="0">
                  <a:pos x="62" y="55"/>
                </a:cxn>
                <a:cxn ang="0">
                  <a:pos x="42" y="52"/>
                </a:cxn>
                <a:cxn ang="0">
                  <a:pos x="95" y="46"/>
                </a:cxn>
                <a:cxn ang="0">
                  <a:pos x="71" y="30"/>
                </a:cxn>
                <a:cxn ang="0">
                  <a:pos x="103" y="29"/>
                </a:cxn>
                <a:cxn ang="0">
                  <a:pos x="116" y="35"/>
                </a:cxn>
                <a:cxn ang="0">
                  <a:pos x="108" y="28"/>
                </a:cxn>
                <a:cxn ang="0">
                  <a:pos x="157" y="22"/>
                </a:cxn>
                <a:cxn ang="0">
                  <a:pos x="182" y="16"/>
                </a:cxn>
                <a:cxn ang="0">
                  <a:pos x="131" y="20"/>
                </a:cxn>
                <a:cxn ang="0">
                  <a:pos x="78" y="24"/>
                </a:cxn>
                <a:cxn ang="0">
                  <a:pos x="124" y="19"/>
                </a:cxn>
                <a:cxn ang="0">
                  <a:pos x="71" y="25"/>
                </a:cxn>
                <a:cxn ang="0">
                  <a:pos x="55" y="22"/>
                </a:cxn>
                <a:cxn ang="0">
                  <a:pos x="104" y="18"/>
                </a:cxn>
                <a:cxn ang="0">
                  <a:pos x="52" y="18"/>
                </a:cxn>
                <a:cxn ang="0">
                  <a:pos x="84" y="16"/>
                </a:cxn>
                <a:cxn ang="0">
                  <a:pos x="43" y="13"/>
                </a:cxn>
                <a:cxn ang="0">
                  <a:pos x="97" y="8"/>
                </a:cxn>
                <a:cxn ang="0">
                  <a:pos x="164" y="12"/>
                </a:cxn>
                <a:cxn ang="0">
                  <a:pos x="156" y="1"/>
                </a:cxn>
                <a:cxn ang="0">
                  <a:pos x="210" y="4"/>
                </a:cxn>
                <a:cxn ang="0">
                  <a:pos x="198" y="0"/>
                </a:cxn>
                <a:cxn ang="0">
                  <a:pos x="270" y="4"/>
                </a:cxn>
                <a:cxn ang="0">
                  <a:pos x="344" y="7"/>
                </a:cxn>
                <a:cxn ang="0">
                  <a:pos x="295" y="13"/>
                </a:cxn>
                <a:cxn ang="0">
                  <a:pos x="246" y="19"/>
                </a:cxn>
                <a:cxn ang="0">
                  <a:pos x="304" y="16"/>
                </a:cxn>
                <a:cxn ang="0">
                  <a:pos x="251" y="25"/>
                </a:cxn>
                <a:cxn ang="0">
                  <a:pos x="198" y="35"/>
                </a:cxn>
                <a:cxn ang="0">
                  <a:pos x="149" y="40"/>
                </a:cxn>
                <a:cxn ang="0">
                  <a:pos x="176" y="44"/>
                </a:cxn>
                <a:cxn ang="0">
                  <a:pos x="138" y="47"/>
                </a:cxn>
                <a:cxn ang="0">
                  <a:pos x="169" y="49"/>
                </a:cxn>
                <a:cxn ang="0">
                  <a:pos x="126" y="59"/>
                </a:cxn>
                <a:cxn ang="0">
                  <a:pos x="122" y="65"/>
                </a:cxn>
                <a:cxn ang="0">
                  <a:pos x="86" y="67"/>
                </a:cxn>
                <a:cxn ang="0">
                  <a:pos x="115" y="76"/>
                </a:cxn>
                <a:cxn ang="0">
                  <a:pos x="79" y="78"/>
                </a:cxn>
                <a:cxn ang="0">
                  <a:pos x="40" y="78"/>
                </a:cxn>
                <a:cxn ang="0">
                  <a:pos x="0" y="77"/>
                </a:cxn>
                <a:cxn ang="0">
                  <a:pos x="28" y="67"/>
                </a:cxn>
                <a:cxn ang="0">
                  <a:pos x="22" y="61"/>
                </a:cxn>
                <a:cxn ang="0">
                  <a:pos x="64" y="66"/>
                </a:cxn>
                <a:cxn ang="0">
                  <a:pos x="85" y="56"/>
                </a:cxn>
              </a:cxnLst>
              <a:rect l="0" t="0" r="r" b="b"/>
              <a:pathLst>
                <a:path w="344" h="78">
                  <a:moveTo>
                    <a:pt x="85" y="56"/>
                  </a:moveTo>
                  <a:lnTo>
                    <a:pt x="64" y="65"/>
                  </a:lnTo>
                  <a:lnTo>
                    <a:pt x="52" y="59"/>
                  </a:lnTo>
                  <a:lnTo>
                    <a:pt x="62" y="55"/>
                  </a:lnTo>
                  <a:lnTo>
                    <a:pt x="42" y="52"/>
                  </a:lnTo>
                  <a:lnTo>
                    <a:pt x="95" y="46"/>
                  </a:lnTo>
                  <a:lnTo>
                    <a:pt x="71" y="30"/>
                  </a:lnTo>
                  <a:lnTo>
                    <a:pt x="103" y="29"/>
                  </a:lnTo>
                  <a:lnTo>
                    <a:pt x="116" y="35"/>
                  </a:lnTo>
                  <a:lnTo>
                    <a:pt x="108" y="28"/>
                  </a:lnTo>
                  <a:lnTo>
                    <a:pt x="157" y="22"/>
                  </a:lnTo>
                  <a:lnTo>
                    <a:pt x="182" y="16"/>
                  </a:lnTo>
                  <a:lnTo>
                    <a:pt x="131" y="20"/>
                  </a:lnTo>
                  <a:lnTo>
                    <a:pt x="78" y="24"/>
                  </a:lnTo>
                  <a:lnTo>
                    <a:pt x="124" y="19"/>
                  </a:lnTo>
                  <a:lnTo>
                    <a:pt x="71" y="25"/>
                  </a:lnTo>
                  <a:lnTo>
                    <a:pt x="55" y="22"/>
                  </a:lnTo>
                  <a:lnTo>
                    <a:pt x="104" y="18"/>
                  </a:lnTo>
                  <a:lnTo>
                    <a:pt x="52" y="18"/>
                  </a:lnTo>
                  <a:lnTo>
                    <a:pt x="84" y="16"/>
                  </a:lnTo>
                  <a:lnTo>
                    <a:pt x="43" y="13"/>
                  </a:lnTo>
                  <a:lnTo>
                    <a:pt x="97" y="8"/>
                  </a:lnTo>
                  <a:lnTo>
                    <a:pt x="164" y="12"/>
                  </a:lnTo>
                  <a:lnTo>
                    <a:pt x="156" y="1"/>
                  </a:lnTo>
                  <a:lnTo>
                    <a:pt x="210" y="4"/>
                  </a:lnTo>
                  <a:lnTo>
                    <a:pt x="198" y="0"/>
                  </a:lnTo>
                  <a:lnTo>
                    <a:pt x="270" y="4"/>
                  </a:lnTo>
                  <a:lnTo>
                    <a:pt x="344" y="7"/>
                  </a:lnTo>
                  <a:lnTo>
                    <a:pt x="295" y="13"/>
                  </a:lnTo>
                  <a:lnTo>
                    <a:pt x="246" y="19"/>
                  </a:lnTo>
                  <a:lnTo>
                    <a:pt x="304" y="16"/>
                  </a:lnTo>
                  <a:lnTo>
                    <a:pt x="251" y="25"/>
                  </a:lnTo>
                  <a:lnTo>
                    <a:pt x="198" y="35"/>
                  </a:lnTo>
                  <a:lnTo>
                    <a:pt x="149" y="40"/>
                  </a:lnTo>
                  <a:lnTo>
                    <a:pt x="176" y="44"/>
                  </a:lnTo>
                  <a:lnTo>
                    <a:pt x="138" y="47"/>
                  </a:lnTo>
                  <a:lnTo>
                    <a:pt x="169" y="49"/>
                  </a:lnTo>
                  <a:lnTo>
                    <a:pt x="126" y="59"/>
                  </a:lnTo>
                  <a:lnTo>
                    <a:pt x="122" y="65"/>
                  </a:lnTo>
                  <a:lnTo>
                    <a:pt x="86" y="67"/>
                  </a:lnTo>
                  <a:lnTo>
                    <a:pt x="115" y="76"/>
                  </a:lnTo>
                  <a:lnTo>
                    <a:pt x="79" y="78"/>
                  </a:lnTo>
                  <a:lnTo>
                    <a:pt x="40" y="78"/>
                  </a:lnTo>
                  <a:lnTo>
                    <a:pt x="0" y="77"/>
                  </a:lnTo>
                  <a:lnTo>
                    <a:pt x="28" y="67"/>
                  </a:lnTo>
                  <a:lnTo>
                    <a:pt x="22" y="61"/>
                  </a:lnTo>
                  <a:lnTo>
                    <a:pt x="64" y="66"/>
                  </a:lnTo>
                  <a:lnTo>
                    <a:pt x="85"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6" name="Freeform 395"/>
            <p:cNvSpPr>
              <a:spLocks/>
            </p:cNvSpPr>
            <p:nvPr/>
          </p:nvSpPr>
          <p:spPr bwMode="auto">
            <a:xfrm>
              <a:off x="1043" y="1294"/>
              <a:ext cx="213" cy="80"/>
            </a:xfrm>
            <a:custGeom>
              <a:avLst/>
              <a:gdLst/>
              <a:ahLst/>
              <a:cxnLst>
                <a:cxn ang="0">
                  <a:pos x="125" y="65"/>
                </a:cxn>
                <a:cxn ang="0">
                  <a:pos x="117" y="60"/>
                </a:cxn>
                <a:cxn ang="0">
                  <a:pos x="114" y="59"/>
                </a:cxn>
                <a:cxn ang="0">
                  <a:pos x="93" y="66"/>
                </a:cxn>
                <a:cxn ang="0">
                  <a:pos x="61" y="69"/>
                </a:cxn>
                <a:cxn ang="0">
                  <a:pos x="29" y="72"/>
                </a:cxn>
                <a:cxn ang="0">
                  <a:pos x="30" y="64"/>
                </a:cxn>
                <a:cxn ang="0">
                  <a:pos x="0" y="55"/>
                </a:cxn>
                <a:cxn ang="0">
                  <a:pos x="6" y="47"/>
                </a:cxn>
                <a:cxn ang="0">
                  <a:pos x="39" y="46"/>
                </a:cxn>
                <a:cxn ang="0">
                  <a:pos x="73" y="45"/>
                </a:cxn>
                <a:cxn ang="0">
                  <a:pos x="42" y="40"/>
                </a:cxn>
                <a:cxn ang="0">
                  <a:pos x="9" y="39"/>
                </a:cxn>
                <a:cxn ang="0">
                  <a:pos x="6" y="35"/>
                </a:cxn>
                <a:cxn ang="0">
                  <a:pos x="48" y="27"/>
                </a:cxn>
                <a:cxn ang="0">
                  <a:pos x="17" y="28"/>
                </a:cxn>
                <a:cxn ang="0">
                  <a:pos x="25" y="25"/>
                </a:cxn>
                <a:cxn ang="0">
                  <a:pos x="11" y="25"/>
                </a:cxn>
                <a:cxn ang="0">
                  <a:pos x="32" y="16"/>
                </a:cxn>
                <a:cxn ang="0">
                  <a:pos x="30" y="13"/>
                </a:cxn>
                <a:cxn ang="0">
                  <a:pos x="60" y="6"/>
                </a:cxn>
                <a:cxn ang="0">
                  <a:pos x="89" y="0"/>
                </a:cxn>
                <a:cxn ang="0">
                  <a:pos x="91" y="4"/>
                </a:cxn>
                <a:cxn ang="0">
                  <a:pos x="78" y="11"/>
                </a:cxn>
                <a:cxn ang="0">
                  <a:pos x="89" y="10"/>
                </a:cxn>
                <a:cxn ang="0">
                  <a:pos x="99" y="5"/>
                </a:cxn>
                <a:cxn ang="0">
                  <a:pos x="111" y="12"/>
                </a:cxn>
                <a:cxn ang="0">
                  <a:pos x="104" y="16"/>
                </a:cxn>
                <a:cxn ang="0">
                  <a:pos x="109" y="15"/>
                </a:cxn>
                <a:cxn ang="0">
                  <a:pos x="125" y="13"/>
                </a:cxn>
                <a:cxn ang="0">
                  <a:pos x="126" y="10"/>
                </a:cxn>
                <a:cxn ang="0">
                  <a:pos x="128" y="5"/>
                </a:cxn>
                <a:cxn ang="0">
                  <a:pos x="140" y="12"/>
                </a:cxn>
                <a:cxn ang="0">
                  <a:pos x="133" y="25"/>
                </a:cxn>
                <a:cxn ang="0">
                  <a:pos x="145" y="21"/>
                </a:cxn>
                <a:cxn ang="0">
                  <a:pos x="156" y="3"/>
                </a:cxn>
                <a:cxn ang="0">
                  <a:pos x="175" y="3"/>
                </a:cxn>
                <a:cxn ang="0">
                  <a:pos x="177" y="12"/>
                </a:cxn>
                <a:cxn ang="0">
                  <a:pos x="167" y="31"/>
                </a:cxn>
                <a:cxn ang="0">
                  <a:pos x="168" y="41"/>
                </a:cxn>
                <a:cxn ang="0">
                  <a:pos x="171" y="41"/>
                </a:cxn>
                <a:cxn ang="0">
                  <a:pos x="191" y="47"/>
                </a:cxn>
                <a:cxn ang="0">
                  <a:pos x="188" y="51"/>
                </a:cxn>
                <a:cxn ang="0">
                  <a:pos x="180" y="54"/>
                </a:cxn>
                <a:cxn ang="0">
                  <a:pos x="181" y="51"/>
                </a:cxn>
                <a:cxn ang="0">
                  <a:pos x="174" y="53"/>
                </a:cxn>
                <a:cxn ang="0">
                  <a:pos x="169" y="53"/>
                </a:cxn>
                <a:cxn ang="0">
                  <a:pos x="161" y="57"/>
                </a:cxn>
                <a:cxn ang="0">
                  <a:pos x="156" y="57"/>
                </a:cxn>
                <a:cxn ang="0">
                  <a:pos x="151" y="63"/>
                </a:cxn>
                <a:cxn ang="0">
                  <a:pos x="169" y="58"/>
                </a:cxn>
                <a:cxn ang="0">
                  <a:pos x="167" y="60"/>
                </a:cxn>
                <a:cxn ang="0">
                  <a:pos x="161" y="65"/>
                </a:cxn>
                <a:cxn ang="0">
                  <a:pos x="125" y="65"/>
                </a:cxn>
              </a:cxnLst>
              <a:rect l="0" t="0" r="r" b="b"/>
              <a:pathLst>
                <a:path w="191" h="72">
                  <a:moveTo>
                    <a:pt x="125" y="65"/>
                  </a:moveTo>
                  <a:lnTo>
                    <a:pt x="117" y="60"/>
                  </a:lnTo>
                  <a:lnTo>
                    <a:pt x="114" y="59"/>
                  </a:lnTo>
                  <a:lnTo>
                    <a:pt x="93" y="66"/>
                  </a:lnTo>
                  <a:lnTo>
                    <a:pt x="61" y="69"/>
                  </a:lnTo>
                  <a:lnTo>
                    <a:pt x="29" y="72"/>
                  </a:lnTo>
                  <a:lnTo>
                    <a:pt x="30" y="64"/>
                  </a:lnTo>
                  <a:lnTo>
                    <a:pt x="0" y="55"/>
                  </a:lnTo>
                  <a:lnTo>
                    <a:pt x="6" y="47"/>
                  </a:lnTo>
                  <a:lnTo>
                    <a:pt x="39" y="46"/>
                  </a:lnTo>
                  <a:lnTo>
                    <a:pt x="73" y="45"/>
                  </a:lnTo>
                  <a:lnTo>
                    <a:pt x="42" y="40"/>
                  </a:lnTo>
                  <a:lnTo>
                    <a:pt x="9" y="39"/>
                  </a:lnTo>
                  <a:lnTo>
                    <a:pt x="6" y="35"/>
                  </a:lnTo>
                  <a:lnTo>
                    <a:pt x="48" y="27"/>
                  </a:lnTo>
                  <a:lnTo>
                    <a:pt x="17" y="28"/>
                  </a:lnTo>
                  <a:lnTo>
                    <a:pt x="25" y="25"/>
                  </a:lnTo>
                  <a:lnTo>
                    <a:pt x="11" y="25"/>
                  </a:lnTo>
                  <a:lnTo>
                    <a:pt x="32" y="16"/>
                  </a:lnTo>
                  <a:lnTo>
                    <a:pt x="30" y="13"/>
                  </a:lnTo>
                  <a:lnTo>
                    <a:pt x="60" y="6"/>
                  </a:lnTo>
                  <a:lnTo>
                    <a:pt x="89" y="0"/>
                  </a:lnTo>
                  <a:lnTo>
                    <a:pt x="91" y="4"/>
                  </a:lnTo>
                  <a:lnTo>
                    <a:pt x="78" y="11"/>
                  </a:lnTo>
                  <a:lnTo>
                    <a:pt x="89" y="10"/>
                  </a:lnTo>
                  <a:lnTo>
                    <a:pt x="99" y="5"/>
                  </a:lnTo>
                  <a:lnTo>
                    <a:pt x="111" y="12"/>
                  </a:lnTo>
                  <a:lnTo>
                    <a:pt x="104" y="16"/>
                  </a:lnTo>
                  <a:lnTo>
                    <a:pt x="109" y="15"/>
                  </a:lnTo>
                  <a:lnTo>
                    <a:pt x="125" y="13"/>
                  </a:lnTo>
                  <a:lnTo>
                    <a:pt x="126" y="10"/>
                  </a:lnTo>
                  <a:lnTo>
                    <a:pt x="128" y="5"/>
                  </a:lnTo>
                  <a:lnTo>
                    <a:pt x="140" y="12"/>
                  </a:lnTo>
                  <a:lnTo>
                    <a:pt x="133" y="25"/>
                  </a:lnTo>
                  <a:lnTo>
                    <a:pt x="145" y="21"/>
                  </a:lnTo>
                  <a:lnTo>
                    <a:pt x="156" y="3"/>
                  </a:lnTo>
                  <a:lnTo>
                    <a:pt x="175" y="3"/>
                  </a:lnTo>
                  <a:lnTo>
                    <a:pt x="177" y="12"/>
                  </a:lnTo>
                  <a:lnTo>
                    <a:pt x="167" y="31"/>
                  </a:lnTo>
                  <a:lnTo>
                    <a:pt x="168" y="41"/>
                  </a:lnTo>
                  <a:lnTo>
                    <a:pt x="171" y="41"/>
                  </a:lnTo>
                  <a:lnTo>
                    <a:pt x="191" y="47"/>
                  </a:lnTo>
                  <a:lnTo>
                    <a:pt x="188" y="51"/>
                  </a:lnTo>
                  <a:lnTo>
                    <a:pt x="180" y="54"/>
                  </a:lnTo>
                  <a:lnTo>
                    <a:pt x="181" y="51"/>
                  </a:lnTo>
                  <a:lnTo>
                    <a:pt x="174" y="53"/>
                  </a:lnTo>
                  <a:lnTo>
                    <a:pt x="169" y="53"/>
                  </a:lnTo>
                  <a:lnTo>
                    <a:pt x="161" y="57"/>
                  </a:lnTo>
                  <a:lnTo>
                    <a:pt x="156" y="57"/>
                  </a:lnTo>
                  <a:lnTo>
                    <a:pt x="151" y="63"/>
                  </a:lnTo>
                  <a:lnTo>
                    <a:pt x="169" y="58"/>
                  </a:lnTo>
                  <a:lnTo>
                    <a:pt x="167" y="60"/>
                  </a:lnTo>
                  <a:lnTo>
                    <a:pt x="161" y="65"/>
                  </a:lnTo>
                  <a:lnTo>
                    <a:pt x="125" y="6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7" name="Freeform 396"/>
            <p:cNvSpPr>
              <a:spLocks/>
            </p:cNvSpPr>
            <p:nvPr/>
          </p:nvSpPr>
          <p:spPr bwMode="auto">
            <a:xfrm>
              <a:off x="980" y="1276"/>
              <a:ext cx="156" cy="54"/>
            </a:xfrm>
            <a:custGeom>
              <a:avLst/>
              <a:gdLst/>
              <a:ahLst/>
              <a:cxnLst>
                <a:cxn ang="0">
                  <a:pos x="64" y="33"/>
                </a:cxn>
                <a:cxn ang="0">
                  <a:pos x="42" y="44"/>
                </a:cxn>
                <a:cxn ang="0">
                  <a:pos x="11" y="49"/>
                </a:cxn>
                <a:cxn ang="0">
                  <a:pos x="6" y="38"/>
                </a:cxn>
                <a:cxn ang="0">
                  <a:pos x="0" y="33"/>
                </a:cxn>
                <a:cxn ang="0">
                  <a:pos x="21" y="25"/>
                </a:cxn>
                <a:cxn ang="0">
                  <a:pos x="28" y="20"/>
                </a:cxn>
                <a:cxn ang="0">
                  <a:pos x="52" y="9"/>
                </a:cxn>
                <a:cxn ang="0">
                  <a:pos x="51" y="2"/>
                </a:cxn>
                <a:cxn ang="0">
                  <a:pos x="94" y="0"/>
                </a:cxn>
                <a:cxn ang="0">
                  <a:pos x="104" y="3"/>
                </a:cxn>
                <a:cxn ang="0">
                  <a:pos x="107" y="6"/>
                </a:cxn>
                <a:cxn ang="0">
                  <a:pos x="129" y="3"/>
                </a:cxn>
                <a:cxn ang="0">
                  <a:pos x="140" y="14"/>
                </a:cxn>
                <a:cxn ang="0">
                  <a:pos x="108" y="21"/>
                </a:cxn>
                <a:cxn ang="0">
                  <a:pos x="77" y="28"/>
                </a:cxn>
                <a:cxn ang="0">
                  <a:pos x="64" y="33"/>
                </a:cxn>
              </a:cxnLst>
              <a:rect l="0" t="0" r="r" b="b"/>
              <a:pathLst>
                <a:path w="140" h="49">
                  <a:moveTo>
                    <a:pt x="64" y="33"/>
                  </a:moveTo>
                  <a:lnTo>
                    <a:pt x="42" y="44"/>
                  </a:lnTo>
                  <a:lnTo>
                    <a:pt x="11" y="49"/>
                  </a:lnTo>
                  <a:lnTo>
                    <a:pt x="6" y="38"/>
                  </a:lnTo>
                  <a:lnTo>
                    <a:pt x="0" y="33"/>
                  </a:lnTo>
                  <a:lnTo>
                    <a:pt x="21" y="25"/>
                  </a:lnTo>
                  <a:lnTo>
                    <a:pt x="28" y="20"/>
                  </a:lnTo>
                  <a:lnTo>
                    <a:pt x="52" y="9"/>
                  </a:lnTo>
                  <a:lnTo>
                    <a:pt x="51" y="2"/>
                  </a:lnTo>
                  <a:lnTo>
                    <a:pt x="94" y="0"/>
                  </a:lnTo>
                  <a:lnTo>
                    <a:pt x="104" y="3"/>
                  </a:lnTo>
                  <a:lnTo>
                    <a:pt x="107" y="6"/>
                  </a:lnTo>
                  <a:lnTo>
                    <a:pt x="129" y="3"/>
                  </a:lnTo>
                  <a:lnTo>
                    <a:pt x="140" y="14"/>
                  </a:lnTo>
                  <a:lnTo>
                    <a:pt x="108" y="21"/>
                  </a:lnTo>
                  <a:lnTo>
                    <a:pt x="77" y="28"/>
                  </a:lnTo>
                  <a:lnTo>
                    <a:pt x="64" y="3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8" name="Freeform 397"/>
            <p:cNvSpPr>
              <a:spLocks/>
            </p:cNvSpPr>
            <p:nvPr/>
          </p:nvSpPr>
          <p:spPr bwMode="auto">
            <a:xfrm>
              <a:off x="1611" y="1683"/>
              <a:ext cx="103" cy="93"/>
            </a:xfrm>
            <a:custGeom>
              <a:avLst/>
              <a:gdLst/>
              <a:ahLst/>
              <a:cxnLst>
                <a:cxn ang="0">
                  <a:pos x="47" y="67"/>
                </a:cxn>
                <a:cxn ang="0">
                  <a:pos x="48" y="64"/>
                </a:cxn>
                <a:cxn ang="0">
                  <a:pos x="22" y="68"/>
                </a:cxn>
                <a:cxn ang="0">
                  <a:pos x="0" y="66"/>
                </a:cxn>
                <a:cxn ang="0">
                  <a:pos x="5" y="58"/>
                </a:cxn>
                <a:cxn ang="0">
                  <a:pos x="16" y="51"/>
                </a:cxn>
                <a:cxn ang="0">
                  <a:pos x="5" y="51"/>
                </a:cxn>
                <a:cxn ang="0">
                  <a:pos x="10" y="49"/>
                </a:cxn>
                <a:cxn ang="0">
                  <a:pos x="23" y="42"/>
                </a:cxn>
                <a:cxn ang="0">
                  <a:pos x="24" y="43"/>
                </a:cxn>
                <a:cxn ang="0">
                  <a:pos x="26" y="39"/>
                </a:cxn>
                <a:cxn ang="0">
                  <a:pos x="23" y="36"/>
                </a:cxn>
                <a:cxn ang="0">
                  <a:pos x="29" y="33"/>
                </a:cxn>
                <a:cxn ang="0">
                  <a:pos x="43" y="14"/>
                </a:cxn>
                <a:cxn ang="0">
                  <a:pos x="60" y="1"/>
                </a:cxn>
                <a:cxn ang="0">
                  <a:pos x="67" y="0"/>
                </a:cxn>
                <a:cxn ang="0">
                  <a:pos x="73" y="0"/>
                </a:cxn>
                <a:cxn ang="0">
                  <a:pos x="64" y="4"/>
                </a:cxn>
                <a:cxn ang="0">
                  <a:pos x="66" y="7"/>
                </a:cxn>
                <a:cxn ang="0">
                  <a:pos x="60" y="13"/>
                </a:cxn>
                <a:cxn ang="0">
                  <a:pos x="43" y="33"/>
                </a:cxn>
                <a:cxn ang="0">
                  <a:pos x="56" y="24"/>
                </a:cxn>
                <a:cxn ang="0">
                  <a:pos x="54" y="27"/>
                </a:cxn>
                <a:cxn ang="0">
                  <a:pos x="64" y="26"/>
                </a:cxn>
                <a:cxn ang="0">
                  <a:pos x="55" y="31"/>
                </a:cxn>
                <a:cxn ang="0">
                  <a:pos x="55" y="34"/>
                </a:cxn>
                <a:cxn ang="0">
                  <a:pos x="65" y="37"/>
                </a:cxn>
                <a:cxn ang="0">
                  <a:pos x="62" y="40"/>
                </a:cxn>
                <a:cxn ang="0">
                  <a:pos x="76" y="34"/>
                </a:cxn>
                <a:cxn ang="0">
                  <a:pos x="74" y="38"/>
                </a:cxn>
                <a:cxn ang="0">
                  <a:pos x="88" y="37"/>
                </a:cxn>
                <a:cxn ang="0">
                  <a:pos x="78" y="46"/>
                </a:cxn>
                <a:cxn ang="0">
                  <a:pos x="80" y="50"/>
                </a:cxn>
                <a:cxn ang="0">
                  <a:pos x="76" y="54"/>
                </a:cxn>
                <a:cxn ang="0">
                  <a:pos x="92" y="50"/>
                </a:cxn>
                <a:cxn ang="0">
                  <a:pos x="77" y="60"/>
                </a:cxn>
                <a:cxn ang="0">
                  <a:pos x="78" y="62"/>
                </a:cxn>
                <a:cxn ang="0">
                  <a:pos x="77" y="62"/>
                </a:cxn>
                <a:cxn ang="0">
                  <a:pos x="77" y="68"/>
                </a:cxn>
                <a:cxn ang="0">
                  <a:pos x="91" y="57"/>
                </a:cxn>
                <a:cxn ang="0">
                  <a:pos x="84" y="68"/>
                </a:cxn>
                <a:cxn ang="0">
                  <a:pos x="91" y="64"/>
                </a:cxn>
                <a:cxn ang="0">
                  <a:pos x="92" y="69"/>
                </a:cxn>
                <a:cxn ang="0">
                  <a:pos x="80" y="85"/>
                </a:cxn>
                <a:cxn ang="0">
                  <a:pos x="74" y="82"/>
                </a:cxn>
                <a:cxn ang="0">
                  <a:pos x="74" y="76"/>
                </a:cxn>
                <a:cxn ang="0">
                  <a:pos x="67" y="80"/>
                </a:cxn>
                <a:cxn ang="0">
                  <a:pos x="74" y="68"/>
                </a:cxn>
                <a:cxn ang="0">
                  <a:pos x="71" y="63"/>
                </a:cxn>
                <a:cxn ang="0">
                  <a:pos x="64" y="72"/>
                </a:cxn>
                <a:cxn ang="0">
                  <a:pos x="67" y="68"/>
                </a:cxn>
                <a:cxn ang="0">
                  <a:pos x="44" y="81"/>
                </a:cxn>
                <a:cxn ang="0">
                  <a:pos x="44" y="76"/>
                </a:cxn>
                <a:cxn ang="0">
                  <a:pos x="62" y="67"/>
                </a:cxn>
                <a:cxn ang="0">
                  <a:pos x="58" y="68"/>
                </a:cxn>
                <a:cxn ang="0">
                  <a:pos x="61" y="64"/>
                </a:cxn>
                <a:cxn ang="0">
                  <a:pos x="54" y="67"/>
                </a:cxn>
                <a:cxn ang="0">
                  <a:pos x="48" y="70"/>
                </a:cxn>
                <a:cxn ang="0">
                  <a:pos x="42" y="69"/>
                </a:cxn>
                <a:cxn ang="0">
                  <a:pos x="47" y="67"/>
                </a:cxn>
              </a:cxnLst>
              <a:rect l="0" t="0" r="r" b="b"/>
              <a:pathLst>
                <a:path w="92" h="85">
                  <a:moveTo>
                    <a:pt x="47" y="67"/>
                  </a:moveTo>
                  <a:lnTo>
                    <a:pt x="48" y="64"/>
                  </a:lnTo>
                  <a:lnTo>
                    <a:pt x="22" y="68"/>
                  </a:lnTo>
                  <a:lnTo>
                    <a:pt x="0" y="66"/>
                  </a:lnTo>
                  <a:lnTo>
                    <a:pt x="5" y="58"/>
                  </a:lnTo>
                  <a:lnTo>
                    <a:pt x="16" y="51"/>
                  </a:lnTo>
                  <a:lnTo>
                    <a:pt x="5" y="51"/>
                  </a:lnTo>
                  <a:lnTo>
                    <a:pt x="10" y="49"/>
                  </a:lnTo>
                  <a:lnTo>
                    <a:pt x="23" y="42"/>
                  </a:lnTo>
                  <a:lnTo>
                    <a:pt x="24" y="43"/>
                  </a:lnTo>
                  <a:lnTo>
                    <a:pt x="26" y="39"/>
                  </a:lnTo>
                  <a:lnTo>
                    <a:pt x="23" y="36"/>
                  </a:lnTo>
                  <a:lnTo>
                    <a:pt x="29" y="33"/>
                  </a:lnTo>
                  <a:lnTo>
                    <a:pt x="43" y="14"/>
                  </a:lnTo>
                  <a:lnTo>
                    <a:pt x="60" y="1"/>
                  </a:lnTo>
                  <a:lnTo>
                    <a:pt x="67" y="0"/>
                  </a:lnTo>
                  <a:lnTo>
                    <a:pt x="73" y="0"/>
                  </a:lnTo>
                  <a:lnTo>
                    <a:pt x="64" y="4"/>
                  </a:lnTo>
                  <a:lnTo>
                    <a:pt x="66" y="7"/>
                  </a:lnTo>
                  <a:lnTo>
                    <a:pt x="60" y="13"/>
                  </a:lnTo>
                  <a:lnTo>
                    <a:pt x="43" y="33"/>
                  </a:lnTo>
                  <a:lnTo>
                    <a:pt x="56" y="24"/>
                  </a:lnTo>
                  <a:lnTo>
                    <a:pt x="54" y="27"/>
                  </a:lnTo>
                  <a:lnTo>
                    <a:pt x="64" y="26"/>
                  </a:lnTo>
                  <a:lnTo>
                    <a:pt x="55" y="31"/>
                  </a:lnTo>
                  <a:lnTo>
                    <a:pt x="55" y="34"/>
                  </a:lnTo>
                  <a:lnTo>
                    <a:pt x="65" y="37"/>
                  </a:lnTo>
                  <a:lnTo>
                    <a:pt x="62" y="40"/>
                  </a:lnTo>
                  <a:lnTo>
                    <a:pt x="76" y="34"/>
                  </a:lnTo>
                  <a:lnTo>
                    <a:pt x="74" y="38"/>
                  </a:lnTo>
                  <a:lnTo>
                    <a:pt x="88" y="37"/>
                  </a:lnTo>
                  <a:lnTo>
                    <a:pt x="78" y="46"/>
                  </a:lnTo>
                  <a:lnTo>
                    <a:pt x="80" y="50"/>
                  </a:lnTo>
                  <a:lnTo>
                    <a:pt x="76" y="54"/>
                  </a:lnTo>
                  <a:lnTo>
                    <a:pt x="92" y="50"/>
                  </a:lnTo>
                  <a:lnTo>
                    <a:pt x="77" y="60"/>
                  </a:lnTo>
                  <a:lnTo>
                    <a:pt x="78" y="62"/>
                  </a:lnTo>
                  <a:lnTo>
                    <a:pt x="77" y="62"/>
                  </a:lnTo>
                  <a:lnTo>
                    <a:pt x="77" y="68"/>
                  </a:lnTo>
                  <a:lnTo>
                    <a:pt x="91" y="57"/>
                  </a:lnTo>
                  <a:lnTo>
                    <a:pt x="84" y="68"/>
                  </a:lnTo>
                  <a:lnTo>
                    <a:pt x="91" y="64"/>
                  </a:lnTo>
                  <a:lnTo>
                    <a:pt x="92" y="69"/>
                  </a:lnTo>
                  <a:lnTo>
                    <a:pt x="80" y="85"/>
                  </a:lnTo>
                  <a:lnTo>
                    <a:pt x="74" y="82"/>
                  </a:lnTo>
                  <a:lnTo>
                    <a:pt x="74" y="76"/>
                  </a:lnTo>
                  <a:lnTo>
                    <a:pt x="67" y="80"/>
                  </a:lnTo>
                  <a:lnTo>
                    <a:pt x="74" y="68"/>
                  </a:lnTo>
                  <a:lnTo>
                    <a:pt x="71" y="63"/>
                  </a:lnTo>
                  <a:lnTo>
                    <a:pt x="64" y="72"/>
                  </a:lnTo>
                  <a:lnTo>
                    <a:pt x="67" y="68"/>
                  </a:lnTo>
                  <a:lnTo>
                    <a:pt x="44" y="81"/>
                  </a:lnTo>
                  <a:lnTo>
                    <a:pt x="44" y="76"/>
                  </a:lnTo>
                  <a:lnTo>
                    <a:pt x="62" y="67"/>
                  </a:lnTo>
                  <a:lnTo>
                    <a:pt x="58" y="68"/>
                  </a:lnTo>
                  <a:lnTo>
                    <a:pt x="61" y="64"/>
                  </a:lnTo>
                  <a:lnTo>
                    <a:pt x="54" y="67"/>
                  </a:lnTo>
                  <a:lnTo>
                    <a:pt x="48" y="70"/>
                  </a:lnTo>
                  <a:lnTo>
                    <a:pt x="42" y="69"/>
                  </a:lnTo>
                  <a:lnTo>
                    <a:pt x="47" y="6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9" name="Freeform 398"/>
            <p:cNvSpPr>
              <a:spLocks/>
            </p:cNvSpPr>
            <p:nvPr/>
          </p:nvSpPr>
          <p:spPr bwMode="auto">
            <a:xfrm>
              <a:off x="1414" y="1241"/>
              <a:ext cx="180" cy="31"/>
            </a:xfrm>
            <a:custGeom>
              <a:avLst/>
              <a:gdLst/>
              <a:ahLst/>
              <a:cxnLst>
                <a:cxn ang="0">
                  <a:pos x="65" y="15"/>
                </a:cxn>
                <a:cxn ang="0">
                  <a:pos x="48" y="9"/>
                </a:cxn>
                <a:cxn ang="0">
                  <a:pos x="72" y="9"/>
                </a:cxn>
                <a:cxn ang="0">
                  <a:pos x="29" y="6"/>
                </a:cxn>
                <a:cxn ang="0">
                  <a:pos x="37" y="0"/>
                </a:cxn>
                <a:cxn ang="0">
                  <a:pos x="0" y="1"/>
                </a:cxn>
                <a:cxn ang="0">
                  <a:pos x="34" y="6"/>
                </a:cxn>
                <a:cxn ang="0">
                  <a:pos x="28" y="17"/>
                </a:cxn>
                <a:cxn ang="0">
                  <a:pos x="22" y="29"/>
                </a:cxn>
                <a:cxn ang="0">
                  <a:pos x="57" y="28"/>
                </a:cxn>
                <a:cxn ang="0">
                  <a:pos x="90" y="28"/>
                </a:cxn>
                <a:cxn ang="0">
                  <a:pos x="125" y="27"/>
                </a:cxn>
                <a:cxn ang="0">
                  <a:pos x="159" y="27"/>
                </a:cxn>
                <a:cxn ang="0">
                  <a:pos x="163" y="19"/>
                </a:cxn>
                <a:cxn ang="0">
                  <a:pos x="137" y="13"/>
                </a:cxn>
                <a:cxn ang="0">
                  <a:pos x="101" y="15"/>
                </a:cxn>
                <a:cxn ang="0">
                  <a:pos x="65" y="15"/>
                </a:cxn>
              </a:cxnLst>
              <a:rect l="0" t="0" r="r" b="b"/>
              <a:pathLst>
                <a:path w="163" h="29">
                  <a:moveTo>
                    <a:pt x="65" y="15"/>
                  </a:moveTo>
                  <a:lnTo>
                    <a:pt x="48" y="9"/>
                  </a:lnTo>
                  <a:lnTo>
                    <a:pt x="72" y="9"/>
                  </a:lnTo>
                  <a:lnTo>
                    <a:pt x="29" y="6"/>
                  </a:lnTo>
                  <a:lnTo>
                    <a:pt x="37" y="0"/>
                  </a:lnTo>
                  <a:lnTo>
                    <a:pt x="0" y="1"/>
                  </a:lnTo>
                  <a:lnTo>
                    <a:pt x="34" y="6"/>
                  </a:lnTo>
                  <a:lnTo>
                    <a:pt x="28" y="17"/>
                  </a:lnTo>
                  <a:lnTo>
                    <a:pt x="22" y="29"/>
                  </a:lnTo>
                  <a:lnTo>
                    <a:pt x="57" y="28"/>
                  </a:lnTo>
                  <a:lnTo>
                    <a:pt x="90" y="28"/>
                  </a:lnTo>
                  <a:lnTo>
                    <a:pt x="125" y="27"/>
                  </a:lnTo>
                  <a:lnTo>
                    <a:pt x="159" y="27"/>
                  </a:lnTo>
                  <a:lnTo>
                    <a:pt x="163" y="19"/>
                  </a:lnTo>
                  <a:lnTo>
                    <a:pt x="137" y="13"/>
                  </a:lnTo>
                  <a:lnTo>
                    <a:pt x="101" y="15"/>
                  </a:lnTo>
                  <a:lnTo>
                    <a:pt x="65"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0" name="Freeform 399"/>
            <p:cNvSpPr>
              <a:spLocks/>
            </p:cNvSpPr>
            <p:nvPr/>
          </p:nvSpPr>
          <p:spPr bwMode="auto">
            <a:xfrm>
              <a:off x="1476" y="1181"/>
              <a:ext cx="113" cy="40"/>
            </a:xfrm>
            <a:custGeom>
              <a:avLst/>
              <a:gdLst/>
              <a:ahLst/>
              <a:cxnLst>
                <a:cxn ang="0">
                  <a:pos x="21" y="11"/>
                </a:cxn>
                <a:cxn ang="0">
                  <a:pos x="13" y="6"/>
                </a:cxn>
                <a:cxn ang="0">
                  <a:pos x="48" y="0"/>
                </a:cxn>
                <a:cxn ang="0">
                  <a:pos x="92" y="9"/>
                </a:cxn>
                <a:cxn ang="0">
                  <a:pos x="81" y="18"/>
                </a:cxn>
                <a:cxn ang="0">
                  <a:pos x="103" y="22"/>
                </a:cxn>
                <a:cxn ang="0">
                  <a:pos x="66" y="29"/>
                </a:cxn>
                <a:cxn ang="0">
                  <a:pos x="49" y="36"/>
                </a:cxn>
                <a:cxn ang="0">
                  <a:pos x="43" y="31"/>
                </a:cxn>
                <a:cxn ang="0">
                  <a:pos x="42" y="36"/>
                </a:cxn>
                <a:cxn ang="0">
                  <a:pos x="6" y="27"/>
                </a:cxn>
                <a:cxn ang="0">
                  <a:pos x="48" y="22"/>
                </a:cxn>
                <a:cxn ang="0">
                  <a:pos x="0" y="17"/>
                </a:cxn>
                <a:cxn ang="0">
                  <a:pos x="21" y="11"/>
                </a:cxn>
              </a:cxnLst>
              <a:rect l="0" t="0" r="r" b="b"/>
              <a:pathLst>
                <a:path w="103" h="36">
                  <a:moveTo>
                    <a:pt x="21" y="11"/>
                  </a:moveTo>
                  <a:lnTo>
                    <a:pt x="13" y="6"/>
                  </a:lnTo>
                  <a:lnTo>
                    <a:pt x="48" y="0"/>
                  </a:lnTo>
                  <a:lnTo>
                    <a:pt x="92" y="9"/>
                  </a:lnTo>
                  <a:lnTo>
                    <a:pt x="81" y="18"/>
                  </a:lnTo>
                  <a:lnTo>
                    <a:pt x="103" y="22"/>
                  </a:lnTo>
                  <a:lnTo>
                    <a:pt x="66" y="29"/>
                  </a:lnTo>
                  <a:lnTo>
                    <a:pt x="49" y="36"/>
                  </a:lnTo>
                  <a:lnTo>
                    <a:pt x="43" y="31"/>
                  </a:lnTo>
                  <a:lnTo>
                    <a:pt x="42" y="36"/>
                  </a:lnTo>
                  <a:lnTo>
                    <a:pt x="6" y="27"/>
                  </a:lnTo>
                  <a:lnTo>
                    <a:pt x="48" y="22"/>
                  </a:lnTo>
                  <a:lnTo>
                    <a:pt x="0" y="17"/>
                  </a:lnTo>
                  <a:lnTo>
                    <a:pt x="21"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1" name="Freeform 400"/>
            <p:cNvSpPr>
              <a:spLocks/>
            </p:cNvSpPr>
            <p:nvPr/>
          </p:nvSpPr>
          <p:spPr bwMode="auto">
            <a:xfrm>
              <a:off x="1142" y="1241"/>
              <a:ext cx="154" cy="35"/>
            </a:xfrm>
            <a:custGeom>
              <a:avLst/>
              <a:gdLst/>
              <a:ahLst/>
              <a:cxnLst>
                <a:cxn ang="0">
                  <a:pos x="37" y="34"/>
                </a:cxn>
                <a:cxn ang="0">
                  <a:pos x="22" y="29"/>
                </a:cxn>
                <a:cxn ang="0">
                  <a:pos x="68" y="22"/>
                </a:cxn>
                <a:cxn ang="0">
                  <a:pos x="33" y="21"/>
                </a:cxn>
                <a:cxn ang="0">
                  <a:pos x="0" y="21"/>
                </a:cxn>
                <a:cxn ang="0">
                  <a:pos x="32" y="16"/>
                </a:cxn>
                <a:cxn ang="0">
                  <a:pos x="18" y="15"/>
                </a:cxn>
                <a:cxn ang="0">
                  <a:pos x="39" y="12"/>
                </a:cxn>
                <a:cxn ang="0">
                  <a:pos x="30" y="9"/>
                </a:cxn>
                <a:cxn ang="0">
                  <a:pos x="69" y="11"/>
                </a:cxn>
                <a:cxn ang="0">
                  <a:pos x="96" y="18"/>
                </a:cxn>
                <a:cxn ang="0">
                  <a:pos x="97" y="6"/>
                </a:cxn>
                <a:cxn ang="0">
                  <a:pos x="121" y="0"/>
                </a:cxn>
                <a:cxn ang="0">
                  <a:pos x="112" y="15"/>
                </a:cxn>
                <a:cxn ang="0">
                  <a:pos x="139" y="13"/>
                </a:cxn>
                <a:cxn ang="0">
                  <a:pos x="117" y="24"/>
                </a:cxn>
                <a:cxn ang="0">
                  <a:pos x="100" y="23"/>
                </a:cxn>
                <a:cxn ang="0">
                  <a:pos x="69" y="28"/>
                </a:cxn>
                <a:cxn ang="0">
                  <a:pos x="37" y="34"/>
                </a:cxn>
              </a:cxnLst>
              <a:rect l="0" t="0" r="r" b="b"/>
              <a:pathLst>
                <a:path w="139" h="34">
                  <a:moveTo>
                    <a:pt x="37" y="34"/>
                  </a:moveTo>
                  <a:lnTo>
                    <a:pt x="22" y="29"/>
                  </a:lnTo>
                  <a:lnTo>
                    <a:pt x="68" y="22"/>
                  </a:lnTo>
                  <a:lnTo>
                    <a:pt x="33" y="21"/>
                  </a:lnTo>
                  <a:lnTo>
                    <a:pt x="0" y="21"/>
                  </a:lnTo>
                  <a:lnTo>
                    <a:pt x="32" y="16"/>
                  </a:lnTo>
                  <a:lnTo>
                    <a:pt x="18" y="15"/>
                  </a:lnTo>
                  <a:lnTo>
                    <a:pt x="39" y="12"/>
                  </a:lnTo>
                  <a:lnTo>
                    <a:pt x="30" y="9"/>
                  </a:lnTo>
                  <a:lnTo>
                    <a:pt x="69" y="11"/>
                  </a:lnTo>
                  <a:lnTo>
                    <a:pt x="96" y="18"/>
                  </a:lnTo>
                  <a:lnTo>
                    <a:pt x="97" y="6"/>
                  </a:lnTo>
                  <a:lnTo>
                    <a:pt x="121" y="0"/>
                  </a:lnTo>
                  <a:lnTo>
                    <a:pt x="112" y="15"/>
                  </a:lnTo>
                  <a:lnTo>
                    <a:pt x="139" y="13"/>
                  </a:lnTo>
                  <a:lnTo>
                    <a:pt x="117" y="24"/>
                  </a:lnTo>
                  <a:lnTo>
                    <a:pt x="100" y="23"/>
                  </a:lnTo>
                  <a:lnTo>
                    <a:pt x="69" y="28"/>
                  </a:lnTo>
                  <a:lnTo>
                    <a:pt x="37"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2" name="Freeform 401"/>
            <p:cNvSpPr>
              <a:spLocks/>
            </p:cNvSpPr>
            <p:nvPr/>
          </p:nvSpPr>
          <p:spPr bwMode="auto">
            <a:xfrm>
              <a:off x="1347" y="1419"/>
              <a:ext cx="95" cy="49"/>
            </a:xfrm>
            <a:custGeom>
              <a:avLst/>
              <a:gdLst/>
              <a:ahLst/>
              <a:cxnLst>
                <a:cxn ang="0">
                  <a:pos x="62" y="32"/>
                </a:cxn>
                <a:cxn ang="0">
                  <a:pos x="53" y="30"/>
                </a:cxn>
                <a:cxn ang="0">
                  <a:pos x="54" y="28"/>
                </a:cxn>
                <a:cxn ang="0">
                  <a:pos x="47" y="30"/>
                </a:cxn>
                <a:cxn ang="0">
                  <a:pos x="18" y="43"/>
                </a:cxn>
                <a:cxn ang="0">
                  <a:pos x="18" y="35"/>
                </a:cxn>
                <a:cxn ang="0">
                  <a:pos x="0" y="35"/>
                </a:cxn>
                <a:cxn ang="0">
                  <a:pos x="18" y="26"/>
                </a:cxn>
                <a:cxn ang="0">
                  <a:pos x="29" y="13"/>
                </a:cxn>
                <a:cxn ang="0">
                  <a:pos x="41" y="0"/>
                </a:cxn>
                <a:cxn ang="0">
                  <a:pos x="48" y="4"/>
                </a:cxn>
                <a:cxn ang="0">
                  <a:pos x="46" y="10"/>
                </a:cxn>
                <a:cxn ang="0">
                  <a:pos x="53" y="7"/>
                </a:cxn>
                <a:cxn ang="0">
                  <a:pos x="76" y="22"/>
                </a:cxn>
                <a:cxn ang="0">
                  <a:pos x="68" y="30"/>
                </a:cxn>
                <a:cxn ang="0">
                  <a:pos x="86" y="30"/>
                </a:cxn>
                <a:cxn ang="0">
                  <a:pos x="87" y="34"/>
                </a:cxn>
                <a:cxn ang="0">
                  <a:pos x="72" y="38"/>
                </a:cxn>
                <a:cxn ang="0">
                  <a:pos x="62" y="32"/>
                </a:cxn>
              </a:cxnLst>
              <a:rect l="0" t="0" r="r" b="b"/>
              <a:pathLst>
                <a:path w="87" h="43">
                  <a:moveTo>
                    <a:pt x="62" y="32"/>
                  </a:moveTo>
                  <a:lnTo>
                    <a:pt x="53" y="30"/>
                  </a:lnTo>
                  <a:lnTo>
                    <a:pt x="54" y="28"/>
                  </a:lnTo>
                  <a:lnTo>
                    <a:pt x="47" y="30"/>
                  </a:lnTo>
                  <a:lnTo>
                    <a:pt x="18" y="43"/>
                  </a:lnTo>
                  <a:lnTo>
                    <a:pt x="18" y="35"/>
                  </a:lnTo>
                  <a:lnTo>
                    <a:pt x="0" y="35"/>
                  </a:lnTo>
                  <a:lnTo>
                    <a:pt x="18" y="26"/>
                  </a:lnTo>
                  <a:lnTo>
                    <a:pt x="29" y="13"/>
                  </a:lnTo>
                  <a:lnTo>
                    <a:pt x="41" y="0"/>
                  </a:lnTo>
                  <a:lnTo>
                    <a:pt x="48" y="4"/>
                  </a:lnTo>
                  <a:lnTo>
                    <a:pt x="46" y="10"/>
                  </a:lnTo>
                  <a:lnTo>
                    <a:pt x="53" y="7"/>
                  </a:lnTo>
                  <a:lnTo>
                    <a:pt x="76" y="22"/>
                  </a:lnTo>
                  <a:lnTo>
                    <a:pt x="68" y="30"/>
                  </a:lnTo>
                  <a:lnTo>
                    <a:pt x="86" y="30"/>
                  </a:lnTo>
                  <a:lnTo>
                    <a:pt x="87" y="34"/>
                  </a:lnTo>
                  <a:lnTo>
                    <a:pt x="72" y="38"/>
                  </a:lnTo>
                  <a:lnTo>
                    <a:pt x="62" y="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3" name="Freeform 402"/>
            <p:cNvSpPr>
              <a:spLocks/>
            </p:cNvSpPr>
            <p:nvPr/>
          </p:nvSpPr>
          <p:spPr bwMode="auto">
            <a:xfrm>
              <a:off x="1276" y="1288"/>
              <a:ext cx="84" cy="35"/>
            </a:xfrm>
            <a:custGeom>
              <a:avLst/>
              <a:gdLst/>
              <a:ahLst/>
              <a:cxnLst>
                <a:cxn ang="0">
                  <a:pos x="76" y="0"/>
                </a:cxn>
                <a:cxn ang="0">
                  <a:pos x="32" y="0"/>
                </a:cxn>
                <a:cxn ang="0">
                  <a:pos x="37" y="8"/>
                </a:cxn>
                <a:cxn ang="0">
                  <a:pos x="27" y="14"/>
                </a:cxn>
                <a:cxn ang="0">
                  <a:pos x="0" y="14"/>
                </a:cxn>
                <a:cxn ang="0">
                  <a:pos x="15" y="23"/>
                </a:cxn>
                <a:cxn ang="0">
                  <a:pos x="32" y="33"/>
                </a:cxn>
                <a:cxn ang="0">
                  <a:pos x="36" y="28"/>
                </a:cxn>
                <a:cxn ang="0">
                  <a:pos x="56" y="27"/>
                </a:cxn>
                <a:cxn ang="0">
                  <a:pos x="66" y="14"/>
                </a:cxn>
                <a:cxn ang="0">
                  <a:pos x="76" y="0"/>
                </a:cxn>
              </a:cxnLst>
              <a:rect l="0" t="0" r="r" b="b"/>
              <a:pathLst>
                <a:path w="76" h="33">
                  <a:moveTo>
                    <a:pt x="76" y="0"/>
                  </a:moveTo>
                  <a:lnTo>
                    <a:pt x="32" y="0"/>
                  </a:lnTo>
                  <a:lnTo>
                    <a:pt x="37" y="8"/>
                  </a:lnTo>
                  <a:lnTo>
                    <a:pt x="27" y="14"/>
                  </a:lnTo>
                  <a:lnTo>
                    <a:pt x="0" y="14"/>
                  </a:lnTo>
                  <a:lnTo>
                    <a:pt x="15" y="23"/>
                  </a:lnTo>
                  <a:lnTo>
                    <a:pt x="32" y="33"/>
                  </a:lnTo>
                  <a:lnTo>
                    <a:pt x="36" y="28"/>
                  </a:lnTo>
                  <a:lnTo>
                    <a:pt x="56" y="27"/>
                  </a:lnTo>
                  <a:lnTo>
                    <a:pt x="66" y="14"/>
                  </a:lnTo>
                  <a:lnTo>
                    <a:pt x="7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4" name="Freeform 403"/>
            <p:cNvSpPr>
              <a:spLocks/>
            </p:cNvSpPr>
            <p:nvPr/>
          </p:nvSpPr>
          <p:spPr bwMode="auto">
            <a:xfrm>
              <a:off x="1356" y="1281"/>
              <a:ext cx="89" cy="35"/>
            </a:xfrm>
            <a:custGeom>
              <a:avLst/>
              <a:gdLst/>
              <a:ahLst/>
              <a:cxnLst>
                <a:cxn ang="0">
                  <a:pos x="49" y="18"/>
                </a:cxn>
                <a:cxn ang="0">
                  <a:pos x="22" y="20"/>
                </a:cxn>
                <a:cxn ang="0">
                  <a:pos x="26" y="23"/>
                </a:cxn>
                <a:cxn ang="0">
                  <a:pos x="14" y="30"/>
                </a:cxn>
                <a:cxn ang="0">
                  <a:pos x="0" y="32"/>
                </a:cxn>
                <a:cxn ang="0">
                  <a:pos x="2" y="29"/>
                </a:cxn>
                <a:cxn ang="0">
                  <a:pos x="16" y="9"/>
                </a:cxn>
                <a:cxn ang="0">
                  <a:pos x="26" y="8"/>
                </a:cxn>
                <a:cxn ang="0">
                  <a:pos x="25" y="4"/>
                </a:cxn>
                <a:cxn ang="0">
                  <a:pos x="34" y="0"/>
                </a:cxn>
                <a:cxn ang="0">
                  <a:pos x="80" y="4"/>
                </a:cxn>
                <a:cxn ang="0">
                  <a:pos x="68" y="9"/>
                </a:cxn>
                <a:cxn ang="0">
                  <a:pos x="49" y="18"/>
                </a:cxn>
              </a:cxnLst>
              <a:rect l="0" t="0" r="r" b="b"/>
              <a:pathLst>
                <a:path w="80" h="32">
                  <a:moveTo>
                    <a:pt x="49" y="18"/>
                  </a:moveTo>
                  <a:lnTo>
                    <a:pt x="22" y="20"/>
                  </a:lnTo>
                  <a:lnTo>
                    <a:pt x="26" y="23"/>
                  </a:lnTo>
                  <a:lnTo>
                    <a:pt x="14" y="30"/>
                  </a:lnTo>
                  <a:lnTo>
                    <a:pt x="0" y="32"/>
                  </a:lnTo>
                  <a:lnTo>
                    <a:pt x="2" y="29"/>
                  </a:lnTo>
                  <a:lnTo>
                    <a:pt x="16" y="9"/>
                  </a:lnTo>
                  <a:lnTo>
                    <a:pt x="26" y="8"/>
                  </a:lnTo>
                  <a:lnTo>
                    <a:pt x="25" y="4"/>
                  </a:lnTo>
                  <a:lnTo>
                    <a:pt x="34" y="0"/>
                  </a:lnTo>
                  <a:lnTo>
                    <a:pt x="80" y="4"/>
                  </a:lnTo>
                  <a:lnTo>
                    <a:pt x="68" y="9"/>
                  </a:lnTo>
                  <a:lnTo>
                    <a:pt x="4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5" name="Freeform 404"/>
            <p:cNvSpPr>
              <a:spLocks/>
            </p:cNvSpPr>
            <p:nvPr/>
          </p:nvSpPr>
          <p:spPr bwMode="auto">
            <a:xfrm>
              <a:off x="578" y="1696"/>
              <a:ext cx="49" cy="47"/>
            </a:xfrm>
            <a:custGeom>
              <a:avLst/>
              <a:gdLst/>
              <a:ahLst/>
              <a:cxnLst>
                <a:cxn ang="0">
                  <a:pos x="30" y="27"/>
                </a:cxn>
                <a:cxn ang="0">
                  <a:pos x="28" y="30"/>
                </a:cxn>
                <a:cxn ang="0">
                  <a:pos x="16" y="29"/>
                </a:cxn>
                <a:cxn ang="0">
                  <a:pos x="19" y="26"/>
                </a:cxn>
                <a:cxn ang="0">
                  <a:pos x="14" y="25"/>
                </a:cxn>
                <a:cxn ang="0">
                  <a:pos x="8" y="23"/>
                </a:cxn>
                <a:cxn ang="0">
                  <a:pos x="18" y="19"/>
                </a:cxn>
                <a:cxn ang="0">
                  <a:pos x="8" y="15"/>
                </a:cxn>
                <a:cxn ang="0">
                  <a:pos x="8" y="12"/>
                </a:cxn>
                <a:cxn ang="0">
                  <a:pos x="2" y="11"/>
                </a:cxn>
                <a:cxn ang="0">
                  <a:pos x="1" y="8"/>
                </a:cxn>
                <a:cxn ang="0">
                  <a:pos x="8" y="3"/>
                </a:cxn>
                <a:cxn ang="0">
                  <a:pos x="5" y="5"/>
                </a:cxn>
                <a:cxn ang="0">
                  <a:pos x="0" y="0"/>
                </a:cxn>
                <a:cxn ang="0">
                  <a:pos x="14" y="2"/>
                </a:cxn>
                <a:cxn ang="0">
                  <a:pos x="30" y="6"/>
                </a:cxn>
                <a:cxn ang="0">
                  <a:pos x="34" y="14"/>
                </a:cxn>
                <a:cxn ang="0">
                  <a:pos x="41" y="25"/>
                </a:cxn>
                <a:cxn ang="0">
                  <a:pos x="42" y="37"/>
                </a:cxn>
                <a:cxn ang="0">
                  <a:pos x="43" y="41"/>
                </a:cxn>
                <a:cxn ang="0">
                  <a:pos x="22" y="35"/>
                </a:cxn>
                <a:cxn ang="0">
                  <a:pos x="30" y="27"/>
                </a:cxn>
              </a:cxnLst>
              <a:rect l="0" t="0" r="r" b="b"/>
              <a:pathLst>
                <a:path w="43" h="41">
                  <a:moveTo>
                    <a:pt x="30" y="27"/>
                  </a:moveTo>
                  <a:lnTo>
                    <a:pt x="28" y="30"/>
                  </a:lnTo>
                  <a:lnTo>
                    <a:pt x="16" y="29"/>
                  </a:lnTo>
                  <a:lnTo>
                    <a:pt x="19" y="26"/>
                  </a:lnTo>
                  <a:lnTo>
                    <a:pt x="14" y="25"/>
                  </a:lnTo>
                  <a:lnTo>
                    <a:pt x="8" y="23"/>
                  </a:lnTo>
                  <a:lnTo>
                    <a:pt x="18" y="19"/>
                  </a:lnTo>
                  <a:lnTo>
                    <a:pt x="8" y="15"/>
                  </a:lnTo>
                  <a:lnTo>
                    <a:pt x="8" y="12"/>
                  </a:lnTo>
                  <a:lnTo>
                    <a:pt x="2" y="11"/>
                  </a:lnTo>
                  <a:lnTo>
                    <a:pt x="1" y="8"/>
                  </a:lnTo>
                  <a:lnTo>
                    <a:pt x="8" y="3"/>
                  </a:lnTo>
                  <a:lnTo>
                    <a:pt x="5" y="5"/>
                  </a:lnTo>
                  <a:lnTo>
                    <a:pt x="0" y="0"/>
                  </a:lnTo>
                  <a:lnTo>
                    <a:pt x="14" y="2"/>
                  </a:lnTo>
                  <a:lnTo>
                    <a:pt x="30" y="6"/>
                  </a:lnTo>
                  <a:lnTo>
                    <a:pt x="34" y="14"/>
                  </a:lnTo>
                  <a:lnTo>
                    <a:pt x="41" y="25"/>
                  </a:lnTo>
                  <a:lnTo>
                    <a:pt x="42" y="37"/>
                  </a:lnTo>
                  <a:lnTo>
                    <a:pt x="43" y="41"/>
                  </a:lnTo>
                  <a:lnTo>
                    <a:pt x="22" y="35"/>
                  </a:lnTo>
                  <a:lnTo>
                    <a:pt x="3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6" name="Freeform 405"/>
            <p:cNvSpPr>
              <a:spLocks/>
            </p:cNvSpPr>
            <p:nvPr/>
          </p:nvSpPr>
          <p:spPr bwMode="auto">
            <a:xfrm>
              <a:off x="1100" y="1230"/>
              <a:ext cx="111" cy="24"/>
            </a:xfrm>
            <a:custGeom>
              <a:avLst/>
              <a:gdLst/>
              <a:ahLst/>
              <a:cxnLst>
                <a:cxn ang="0">
                  <a:pos x="60" y="12"/>
                </a:cxn>
                <a:cxn ang="0">
                  <a:pos x="63" y="9"/>
                </a:cxn>
                <a:cxn ang="0">
                  <a:pos x="49" y="13"/>
                </a:cxn>
                <a:cxn ang="0">
                  <a:pos x="39" y="17"/>
                </a:cxn>
                <a:cxn ang="0">
                  <a:pos x="36" y="15"/>
                </a:cxn>
                <a:cxn ang="0">
                  <a:pos x="29" y="20"/>
                </a:cxn>
                <a:cxn ang="0">
                  <a:pos x="19" y="21"/>
                </a:cxn>
                <a:cxn ang="0">
                  <a:pos x="19" y="18"/>
                </a:cxn>
                <a:cxn ang="0">
                  <a:pos x="11" y="20"/>
                </a:cxn>
                <a:cxn ang="0">
                  <a:pos x="0" y="19"/>
                </a:cxn>
                <a:cxn ang="0">
                  <a:pos x="6" y="15"/>
                </a:cxn>
                <a:cxn ang="0">
                  <a:pos x="43" y="7"/>
                </a:cxn>
                <a:cxn ang="0">
                  <a:pos x="69" y="1"/>
                </a:cxn>
                <a:cxn ang="0">
                  <a:pos x="85" y="0"/>
                </a:cxn>
                <a:cxn ang="0">
                  <a:pos x="101" y="2"/>
                </a:cxn>
                <a:cxn ang="0">
                  <a:pos x="87" y="6"/>
                </a:cxn>
                <a:cxn ang="0">
                  <a:pos x="89" y="7"/>
                </a:cxn>
                <a:cxn ang="0">
                  <a:pos x="85" y="8"/>
                </a:cxn>
                <a:cxn ang="0">
                  <a:pos x="69" y="12"/>
                </a:cxn>
                <a:cxn ang="0">
                  <a:pos x="60" y="17"/>
                </a:cxn>
                <a:cxn ang="0">
                  <a:pos x="60" y="12"/>
                </a:cxn>
              </a:cxnLst>
              <a:rect l="0" t="0" r="r" b="b"/>
              <a:pathLst>
                <a:path w="101" h="21">
                  <a:moveTo>
                    <a:pt x="60" y="12"/>
                  </a:moveTo>
                  <a:lnTo>
                    <a:pt x="63" y="9"/>
                  </a:lnTo>
                  <a:lnTo>
                    <a:pt x="49" y="13"/>
                  </a:lnTo>
                  <a:lnTo>
                    <a:pt x="39" y="17"/>
                  </a:lnTo>
                  <a:lnTo>
                    <a:pt x="36" y="15"/>
                  </a:lnTo>
                  <a:lnTo>
                    <a:pt x="29" y="20"/>
                  </a:lnTo>
                  <a:lnTo>
                    <a:pt x="19" y="21"/>
                  </a:lnTo>
                  <a:lnTo>
                    <a:pt x="19" y="18"/>
                  </a:lnTo>
                  <a:lnTo>
                    <a:pt x="11" y="20"/>
                  </a:lnTo>
                  <a:lnTo>
                    <a:pt x="0" y="19"/>
                  </a:lnTo>
                  <a:lnTo>
                    <a:pt x="6" y="15"/>
                  </a:lnTo>
                  <a:lnTo>
                    <a:pt x="43" y="7"/>
                  </a:lnTo>
                  <a:lnTo>
                    <a:pt x="69" y="1"/>
                  </a:lnTo>
                  <a:lnTo>
                    <a:pt x="85" y="0"/>
                  </a:lnTo>
                  <a:lnTo>
                    <a:pt x="101" y="2"/>
                  </a:lnTo>
                  <a:lnTo>
                    <a:pt x="87" y="6"/>
                  </a:lnTo>
                  <a:lnTo>
                    <a:pt x="89" y="7"/>
                  </a:lnTo>
                  <a:lnTo>
                    <a:pt x="85" y="8"/>
                  </a:lnTo>
                  <a:lnTo>
                    <a:pt x="69" y="12"/>
                  </a:lnTo>
                  <a:lnTo>
                    <a:pt x="60" y="17"/>
                  </a:lnTo>
                  <a:lnTo>
                    <a:pt x="6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7" name="Freeform 406"/>
            <p:cNvSpPr>
              <a:spLocks/>
            </p:cNvSpPr>
            <p:nvPr/>
          </p:nvSpPr>
          <p:spPr bwMode="auto">
            <a:xfrm>
              <a:off x="1327" y="1243"/>
              <a:ext cx="67" cy="25"/>
            </a:xfrm>
            <a:custGeom>
              <a:avLst/>
              <a:gdLst/>
              <a:ahLst/>
              <a:cxnLst>
                <a:cxn ang="0">
                  <a:pos x="29" y="7"/>
                </a:cxn>
                <a:cxn ang="0">
                  <a:pos x="19" y="4"/>
                </a:cxn>
                <a:cxn ang="0">
                  <a:pos x="23" y="6"/>
                </a:cxn>
                <a:cxn ang="0">
                  <a:pos x="16" y="7"/>
                </a:cxn>
                <a:cxn ang="0">
                  <a:pos x="16" y="9"/>
                </a:cxn>
                <a:cxn ang="0">
                  <a:pos x="15" y="10"/>
                </a:cxn>
                <a:cxn ang="0">
                  <a:pos x="0" y="13"/>
                </a:cxn>
                <a:cxn ang="0">
                  <a:pos x="40" y="13"/>
                </a:cxn>
                <a:cxn ang="0">
                  <a:pos x="16" y="18"/>
                </a:cxn>
                <a:cxn ang="0">
                  <a:pos x="15" y="19"/>
                </a:cxn>
                <a:cxn ang="0">
                  <a:pos x="39" y="21"/>
                </a:cxn>
                <a:cxn ang="0">
                  <a:pos x="41" y="19"/>
                </a:cxn>
                <a:cxn ang="0">
                  <a:pos x="45" y="16"/>
                </a:cxn>
                <a:cxn ang="0">
                  <a:pos x="53" y="16"/>
                </a:cxn>
                <a:cxn ang="0">
                  <a:pos x="55" y="13"/>
                </a:cxn>
                <a:cxn ang="0">
                  <a:pos x="51" y="12"/>
                </a:cxn>
                <a:cxn ang="0">
                  <a:pos x="61" y="4"/>
                </a:cxn>
                <a:cxn ang="0">
                  <a:pos x="59" y="0"/>
                </a:cxn>
                <a:cxn ang="0">
                  <a:pos x="49" y="2"/>
                </a:cxn>
                <a:cxn ang="0">
                  <a:pos x="31" y="2"/>
                </a:cxn>
                <a:cxn ang="0">
                  <a:pos x="39" y="7"/>
                </a:cxn>
                <a:cxn ang="0">
                  <a:pos x="33" y="8"/>
                </a:cxn>
                <a:cxn ang="0">
                  <a:pos x="29" y="7"/>
                </a:cxn>
              </a:cxnLst>
              <a:rect l="0" t="0" r="r" b="b"/>
              <a:pathLst>
                <a:path w="61" h="21">
                  <a:moveTo>
                    <a:pt x="29" y="7"/>
                  </a:moveTo>
                  <a:lnTo>
                    <a:pt x="19" y="4"/>
                  </a:lnTo>
                  <a:lnTo>
                    <a:pt x="23" y="6"/>
                  </a:lnTo>
                  <a:lnTo>
                    <a:pt x="16" y="7"/>
                  </a:lnTo>
                  <a:lnTo>
                    <a:pt x="16" y="9"/>
                  </a:lnTo>
                  <a:lnTo>
                    <a:pt x="15" y="10"/>
                  </a:lnTo>
                  <a:lnTo>
                    <a:pt x="0" y="13"/>
                  </a:lnTo>
                  <a:lnTo>
                    <a:pt x="40" y="13"/>
                  </a:lnTo>
                  <a:lnTo>
                    <a:pt x="16" y="18"/>
                  </a:lnTo>
                  <a:lnTo>
                    <a:pt x="15" y="19"/>
                  </a:lnTo>
                  <a:lnTo>
                    <a:pt x="39" y="21"/>
                  </a:lnTo>
                  <a:lnTo>
                    <a:pt x="41" y="19"/>
                  </a:lnTo>
                  <a:lnTo>
                    <a:pt x="45" y="16"/>
                  </a:lnTo>
                  <a:lnTo>
                    <a:pt x="53" y="16"/>
                  </a:lnTo>
                  <a:lnTo>
                    <a:pt x="55" y="13"/>
                  </a:lnTo>
                  <a:lnTo>
                    <a:pt x="51" y="12"/>
                  </a:lnTo>
                  <a:lnTo>
                    <a:pt x="61" y="4"/>
                  </a:lnTo>
                  <a:lnTo>
                    <a:pt x="59" y="0"/>
                  </a:lnTo>
                  <a:lnTo>
                    <a:pt x="49" y="2"/>
                  </a:lnTo>
                  <a:lnTo>
                    <a:pt x="31" y="2"/>
                  </a:lnTo>
                  <a:lnTo>
                    <a:pt x="39" y="7"/>
                  </a:lnTo>
                  <a:lnTo>
                    <a:pt x="33" y="8"/>
                  </a:lnTo>
                  <a:lnTo>
                    <a:pt x="29"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8" name="Freeform 407"/>
            <p:cNvSpPr>
              <a:spLocks/>
            </p:cNvSpPr>
            <p:nvPr/>
          </p:nvSpPr>
          <p:spPr bwMode="auto">
            <a:xfrm>
              <a:off x="1351" y="1205"/>
              <a:ext cx="63" cy="23"/>
            </a:xfrm>
            <a:custGeom>
              <a:avLst/>
              <a:gdLst/>
              <a:ahLst/>
              <a:cxnLst>
                <a:cxn ang="0">
                  <a:pos x="35" y="4"/>
                </a:cxn>
                <a:cxn ang="0">
                  <a:pos x="36" y="2"/>
                </a:cxn>
                <a:cxn ang="0">
                  <a:pos x="49" y="4"/>
                </a:cxn>
                <a:cxn ang="0">
                  <a:pos x="54" y="5"/>
                </a:cxn>
                <a:cxn ang="0">
                  <a:pos x="52" y="10"/>
                </a:cxn>
                <a:cxn ang="0">
                  <a:pos x="55" y="16"/>
                </a:cxn>
                <a:cxn ang="0">
                  <a:pos x="41" y="19"/>
                </a:cxn>
                <a:cxn ang="0">
                  <a:pos x="26" y="12"/>
                </a:cxn>
                <a:cxn ang="0">
                  <a:pos x="0" y="11"/>
                </a:cxn>
                <a:cxn ang="0">
                  <a:pos x="6" y="8"/>
                </a:cxn>
                <a:cxn ang="0">
                  <a:pos x="19" y="7"/>
                </a:cxn>
                <a:cxn ang="0">
                  <a:pos x="18" y="4"/>
                </a:cxn>
                <a:cxn ang="0">
                  <a:pos x="10" y="4"/>
                </a:cxn>
                <a:cxn ang="0">
                  <a:pos x="6" y="0"/>
                </a:cxn>
                <a:cxn ang="0">
                  <a:pos x="35" y="0"/>
                </a:cxn>
                <a:cxn ang="0">
                  <a:pos x="35" y="4"/>
                </a:cxn>
              </a:cxnLst>
              <a:rect l="0" t="0" r="r" b="b"/>
              <a:pathLst>
                <a:path w="55" h="19">
                  <a:moveTo>
                    <a:pt x="35" y="4"/>
                  </a:moveTo>
                  <a:lnTo>
                    <a:pt x="36" y="2"/>
                  </a:lnTo>
                  <a:lnTo>
                    <a:pt x="49" y="4"/>
                  </a:lnTo>
                  <a:lnTo>
                    <a:pt x="54" y="5"/>
                  </a:lnTo>
                  <a:lnTo>
                    <a:pt x="52" y="10"/>
                  </a:lnTo>
                  <a:lnTo>
                    <a:pt x="55" y="16"/>
                  </a:lnTo>
                  <a:lnTo>
                    <a:pt x="41" y="19"/>
                  </a:lnTo>
                  <a:lnTo>
                    <a:pt x="26" y="12"/>
                  </a:lnTo>
                  <a:lnTo>
                    <a:pt x="0" y="11"/>
                  </a:lnTo>
                  <a:lnTo>
                    <a:pt x="6" y="8"/>
                  </a:lnTo>
                  <a:lnTo>
                    <a:pt x="19" y="7"/>
                  </a:lnTo>
                  <a:lnTo>
                    <a:pt x="18" y="4"/>
                  </a:lnTo>
                  <a:lnTo>
                    <a:pt x="10" y="4"/>
                  </a:lnTo>
                  <a:lnTo>
                    <a:pt x="6" y="0"/>
                  </a:lnTo>
                  <a:lnTo>
                    <a:pt x="35" y="0"/>
                  </a:lnTo>
                  <a:lnTo>
                    <a:pt x="3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9" name="Freeform 408"/>
            <p:cNvSpPr>
              <a:spLocks/>
            </p:cNvSpPr>
            <p:nvPr/>
          </p:nvSpPr>
          <p:spPr bwMode="auto">
            <a:xfrm>
              <a:off x="1256" y="1350"/>
              <a:ext cx="53" cy="24"/>
            </a:xfrm>
            <a:custGeom>
              <a:avLst/>
              <a:gdLst/>
              <a:ahLst/>
              <a:cxnLst>
                <a:cxn ang="0">
                  <a:pos x="42" y="12"/>
                </a:cxn>
                <a:cxn ang="0">
                  <a:pos x="43" y="9"/>
                </a:cxn>
                <a:cxn ang="0">
                  <a:pos x="30" y="0"/>
                </a:cxn>
                <a:cxn ang="0">
                  <a:pos x="22" y="6"/>
                </a:cxn>
                <a:cxn ang="0">
                  <a:pos x="21" y="4"/>
                </a:cxn>
                <a:cxn ang="0">
                  <a:pos x="18" y="9"/>
                </a:cxn>
                <a:cxn ang="0">
                  <a:pos x="0" y="14"/>
                </a:cxn>
                <a:cxn ang="0">
                  <a:pos x="28" y="22"/>
                </a:cxn>
                <a:cxn ang="0">
                  <a:pos x="49" y="16"/>
                </a:cxn>
                <a:cxn ang="0">
                  <a:pos x="43" y="16"/>
                </a:cxn>
                <a:cxn ang="0">
                  <a:pos x="42" y="12"/>
                </a:cxn>
              </a:cxnLst>
              <a:rect l="0" t="0" r="r" b="b"/>
              <a:pathLst>
                <a:path w="49" h="22">
                  <a:moveTo>
                    <a:pt x="42" y="12"/>
                  </a:moveTo>
                  <a:lnTo>
                    <a:pt x="43" y="9"/>
                  </a:lnTo>
                  <a:lnTo>
                    <a:pt x="30" y="0"/>
                  </a:lnTo>
                  <a:lnTo>
                    <a:pt x="22" y="6"/>
                  </a:lnTo>
                  <a:lnTo>
                    <a:pt x="21" y="4"/>
                  </a:lnTo>
                  <a:lnTo>
                    <a:pt x="18" y="9"/>
                  </a:lnTo>
                  <a:lnTo>
                    <a:pt x="0" y="14"/>
                  </a:lnTo>
                  <a:lnTo>
                    <a:pt x="28" y="22"/>
                  </a:lnTo>
                  <a:lnTo>
                    <a:pt x="49" y="16"/>
                  </a:lnTo>
                  <a:lnTo>
                    <a:pt x="43" y="16"/>
                  </a:lnTo>
                  <a:lnTo>
                    <a:pt x="42"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0" name="Freeform 409"/>
            <p:cNvSpPr>
              <a:spLocks/>
            </p:cNvSpPr>
            <p:nvPr/>
          </p:nvSpPr>
          <p:spPr bwMode="auto">
            <a:xfrm>
              <a:off x="1549" y="1290"/>
              <a:ext cx="53" cy="13"/>
            </a:xfrm>
            <a:custGeom>
              <a:avLst/>
              <a:gdLst/>
              <a:ahLst/>
              <a:cxnLst>
                <a:cxn ang="0">
                  <a:pos x="33" y="0"/>
                </a:cxn>
                <a:cxn ang="0">
                  <a:pos x="2" y="0"/>
                </a:cxn>
                <a:cxn ang="0">
                  <a:pos x="0" y="4"/>
                </a:cxn>
                <a:cxn ang="0">
                  <a:pos x="5" y="8"/>
                </a:cxn>
                <a:cxn ang="0">
                  <a:pos x="9" y="13"/>
                </a:cxn>
                <a:cxn ang="0">
                  <a:pos x="48" y="10"/>
                </a:cxn>
                <a:cxn ang="0">
                  <a:pos x="33" y="0"/>
                </a:cxn>
              </a:cxnLst>
              <a:rect l="0" t="0" r="r" b="b"/>
              <a:pathLst>
                <a:path w="48" h="13">
                  <a:moveTo>
                    <a:pt x="33" y="0"/>
                  </a:moveTo>
                  <a:lnTo>
                    <a:pt x="2" y="0"/>
                  </a:lnTo>
                  <a:lnTo>
                    <a:pt x="0" y="4"/>
                  </a:lnTo>
                  <a:lnTo>
                    <a:pt x="5" y="8"/>
                  </a:lnTo>
                  <a:lnTo>
                    <a:pt x="9" y="13"/>
                  </a:lnTo>
                  <a:lnTo>
                    <a:pt x="48" y="10"/>
                  </a:lnTo>
                  <a:lnTo>
                    <a:pt x="3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1" name="Freeform 410"/>
            <p:cNvSpPr>
              <a:spLocks/>
            </p:cNvSpPr>
            <p:nvPr/>
          </p:nvSpPr>
          <p:spPr bwMode="auto">
            <a:xfrm>
              <a:off x="1527" y="1376"/>
              <a:ext cx="33" cy="20"/>
            </a:xfrm>
            <a:custGeom>
              <a:avLst/>
              <a:gdLst/>
              <a:ahLst/>
              <a:cxnLst>
                <a:cxn ang="0">
                  <a:pos x="27" y="11"/>
                </a:cxn>
                <a:cxn ang="0">
                  <a:pos x="4" y="17"/>
                </a:cxn>
                <a:cxn ang="0">
                  <a:pos x="0" y="8"/>
                </a:cxn>
                <a:cxn ang="0">
                  <a:pos x="19" y="0"/>
                </a:cxn>
                <a:cxn ang="0">
                  <a:pos x="30" y="3"/>
                </a:cxn>
                <a:cxn ang="0">
                  <a:pos x="27" y="11"/>
                </a:cxn>
              </a:cxnLst>
              <a:rect l="0" t="0" r="r" b="b"/>
              <a:pathLst>
                <a:path w="30" h="17">
                  <a:moveTo>
                    <a:pt x="27" y="11"/>
                  </a:moveTo>
                  <a:lnTo>
                    <a:pt x="4" y="17"/>
                  </a:lnTo>
                  <a:lnTo>
                    <a:pt x="0" y="8"/>
                  </a:lnTo>
                  <a:lnTo>
                    <a:pt x="19" y="0"/>
                  </a:lnTo>
                  <a:lnTo>
                    <a:pt x="30" y="3"/>
                  </a:lnTo>
                  <a:lnTo>
                    <a:pt x="27"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2" name="Freeform 411"/>
            <p:cNvSpPr>
              <a:spLocks/>
            </p:cNvSpPr>
            <p:nvPr/>
          </p:nvSpPr>
          <p:spPr bwMode="auto">
            <a:xfrm>
              <a:off x="1427" y="1212"/>
              <a:ext cx="38" cy="16"/>
            </a:xfrm>
            <a:custGeom>
              <a:avLst/>
              <a:gdLst/>
              <a:ahLst/>
              <a:cxnLst>
                <a:cxn ang="0">
                  <a:pos x="0" y="6"/>
                </a:cxn>
                <a:cxn ang="0">
                  <a:pos x="4" y="0"/>
                </a:cxn>
                <a:cxn ang="0">
                  <a:pos x="34" y="5"/>
                </a:cxn>
                <a:cxn ang="0">
                  <a:pos x="29" y="8"/>
                </a:cxn>
                <a:cxn ang="0">
                  <a:pos x="4" y="13"/>
                </a:cxn>
                <a:cxn ang="0">
                  <a:pos x="0" y="8"/>
                </a:cxn>
                <a:cxn ang="0">
                  <a:pos x="0" y="6"/>
                </a:cxn>
              </a:cxnLst>
              <a:rect l="0" t="0" r="r" b="b"/>
              <a:pathLst>
                <a:path w="34" h="13">
                  <a:moveTo>
                    <a:pt x="0" y="6"/>
                  </a:moveTo>
                  <a:lnTo>
                    <a:pt x="4" y="0"/>
                  </a:lnTo>
                  <a:lnTo>
                    <a:pt x="34" y="5"/>
                  </a:lnTo>
                  <a:lnTo>
                    <a:pt x="29" y="8"/>
                  </a:lnTo>
                  <a:lnTo>
                    <a:pt x="4" y="13"/>
                  </a:lnTo>
                  <a:lnTo>
                    <a:pt x="0" y="8"/>
                  </a:lnTo>
                  <a:lnTo>
                    <a:pt x="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3" name="Freeform 412"/>
            <p:cNvSpPr>
              <a:spLocks/>
            </p:cNvSpPr>
            <p:nvPr/>
          </p:nvSpPr>
          <p:spPr bwMode="auto">
            <a:xfrm>
              <a:off x="1385" y="1259"/>
              <a:ext cx="37" cy="11"/>
            </a:xfrm>
            <a:custGeom>
              <a:avLst/>
              <a:gdLst/>
              <a:ahLst/>
              <a:cxnLst>
                <a:cxn ang="0">
                  <a:pos x="10" y="11"/>
                </a:cxn>
                <a:cxn ang="0">
                  <a:pos x="0" y="8"/>
                </a:cxn>
                <a:cxn ang="0">
                  <a:pos x="26" y="0"/>
                </a:cxn>
                <a:cxn ang="0">
                  <a:pos x="35" y="7"/>
                </a:cxn>
                <a:cxn ang="0">
                  <a:pos x="31" y="11"/>
                </a:cxn>
                <a:cxn ang="0">
                  <a:pos x="10" y="11"/>
                </a:cxn>
              </a:cxnLst>
              <a:rect l="0" t="0" r="r" b="b"/>
              <a:pathLst>
                <a:path w="35" h="11">
                  <a:moveTo>
                    <a:pt x="10" y="11"/>
                  </a:moveTo>
                  <a:lnTo>
                    <a:pt x="0" y="8"/>
                  </a:lnTo>
                  <a:lnTo>
                    <a:pt x="26" y="0"/>
                  </a:lnTo>
                  <a:lnTo>
                    <a:pt x="35" y="7"/>
                  </a:lnTo>
                  <a:lnTo>
                    <a:pt x="31" y="11"/>
                  </a:lnTo>
                  <a:lnTo>
                    <a:pt x="10"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4" name="Freeform 413"/>
            <p:cNvSpPr>
              <a:spLocks/>
            </p:cNvSpPr>
            <p:nvPr/>
          </p:nvSpPr>
          <p:spPr bwMode="auto">
            <a:xfrm>
              <a:off x="1236" y="1288"/>
              <a:ext cx="31" cy="13"/>
            </a:xfrm>
            <a:custGeom>
              <a:avLst/>
              <a:gdLst/>
              <a:ahLst/>
              <a:cxnLst>
                <a:cxn ang="0">
                  <a:pos x="8" y="12"/>
                </a:cxn>
                <a:cxn ang="0">
                  <a:pos x="0" y="4"/>
                </a:cxn>
                <a:cxn ang="0">
                  <a:pos x="24" y="0"/>
                </a:cxn>
                <a:cxn ang="0">
                  <a:pos x="28" y="3"/>
                </a:cxn>
                <a:cxn ang="0">
                  <a:pos x="8" y="12"/>
                </a:cxn>
              </a:cxnLst>
              <a:rect l="0" t="0" r="r" b="b"/>
              <a:pathLst>
                <a:path w="28" h="12">
                  <a:moveTo>
                    <a:pt x="8" y="12"/>
                  </a:moveTo>
                  <a:lnTo>
                    <a:pt x="0" y="4"/>
                  </a:lnTo>
                  <a:lnTo>
                    <a:pt x="24" y="0"/>
                  </a:lnTo>
                  <a:lnTo>
                    <a:pt x="28" y="3"/>
                  </a:lnTo>
                  <a:lnTo>
                    <a:pt x="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5" name="Freeform 414"/>
            <p:cNvSpPr>
              <a:spLocks/>
            </p:cNvSpPr>
            <p:nvPr/>
          </p:nvSpPr>
          <p:spPr bwMode="auto">
            <a:xfrm>
              <a:off x="1711" y="1152"/>
              <a:ext cx="691" cy="371"/>
            </a:xfrm>
            <a:custGeom>
              <a:avLst/>
              <a:gdLst/>
              <a:ahLst/>
              <a:cxnLst>
                <a:cxn ang="0">
                  <a:pos x="106" y="264"/>
                </a:cxn>
                <a:cxn ang="0">
                  <a:pos x="126" y="259"/>
                </a:cxn>
                <a:cxn ang="0">
                  <a:pos x="110" y="276"/>
                </a:cxn>
                <a:cxn ang="0">
                  <a:pos x="119" y="287"/>
                </a:cxn>
                <a:cxn ang="0">
                  <a:pos x="126" y="304"/>
                </a:cxn>
                <a:cxn ang="0">
                  <a:pos x="131" y="311"/>
                </a:cxn>
                <a:cxn ang="0">
                  <a:pos x="140" y="320"/>
                </a:cxn>
                <a:cxn ang="0">
                  <a:pos x="162" y="324"/>
                </a:cxn>
                <a:cxn ang="0">
                  <a:pos x="170" y="334"/>
                </a:cxn>
                <a:cxn ang="0">
                  <a:pos x="197" y="324"/>
                </a:cxn>
                <a:cxn ang="0">
                  <a:pos x="202" y="314"/>
                </a:cxn>
                <a:cxn ang="0">
                  <a:pos x="214" y="300"/>
                </a:cxn>
                <a:cxn ang="0">
                  <a:pos x="223" y="282"/>
                </a:cxn>
                <a:cxn ang="0">
                  <a:pos x="234" y="272"/>
                </a:cxn>
                <a:cxn ang="0">
                  <a:pos x="257" y="246"/>
                </a:cxn>
                <a:cxn ang="0">
                  <a:pos x="288" y="239"/>
                </a:cxn>
                <a:cxn ang="0">
                  <a:pos x="343" y="217"/>
                </a:cxn>
                <a:cxn ang="0">
                  <a:pos x="394" y="204"/>
                </a:cxn>
                <a:cxn ang="0">
                  <a:pos x="482" y="175"/>
                </a:cxn>
                <a:cxn ang="0">
                  <a:pos x="424" y="162"/>
                </a:cxn>
                <a:cxn ang="0">
                  <a:pos x="424" y="146"/>
                </a:cxn>
                <a:cxn ang="0">
                  <a:pos x="492" y="168"/>
                </a:cxn>
                <a:cxn ang="0">
                  <a:pos x="486" y="148"/>
                </a:cxn>
                <a:cxn ang="0">
                  <a:pos x="440" y="136"/>
                </a:cxn>
                <a:cxn ang="0">
                  <a:pos x="460" y="127"/>
                </a:cxn>
                <a:cxn ang="0">
                  <a:pos x="499" y="128"/>
                </a:cxn>
                <a:cxn ang="0">
                  <a:pos x="532" y="113"/>
                </a:cxn>
                <a:cxn ang="0">
                  <a:pos x="505" y="95"/>
                </a:cxn>
                <a:cxn ang="0">
                  <a:pos x="509" y="85"/>
                </a:cxn>
                <a:cxn ang="0">
                  <a:pos x="544" y="68"/>
                </a:cxn>
                <a:cxn ang="0">
                  <a:pos x="540" y="48"/>
                </a:cxn>
                <a:cxn ang="0">
                  <a:pos x="580" y="31"/>
                </a:cxn>
                <a:cxn ang="0">
                  <a:pos x="545" y="22"/>
                </a:cxn>
                <a:cxn ang="0">
                  <a:pos x="479" y="23"/>
                </a:cxn>
                <a:cxn ang="0">
                  <a:pos x="503" y="7"/>
                </a:cxn>
                <a:cxn ang="0">
                  <a:pos x="383" y="4"/>
                </a:cxn>
                <a:cxn ang="0">
                  <a:pos x="342" y="7"/>
                </a:cxn>
                <a:cxn ang="0">
                  <a:pos x="314" y="16"/>
                </a:cxn>
                <a:cxn ang="0">
                  <a:pos x="221" y="20"/>
                </a:cxn>
                <a:cxn ang="0">
                  <a:pos x="148" y="24"/>
                </a:cxn>
                <a:cxn ang="0">
                  <a:pos x="95" y="41"/>
                </a:cxn>
                <a:cxn ang="0">
                  <a:pos x="19" y="68"/>
                </a:cxn>
                <a:cxn ang="0">
                  <a:pos x="38" y="74"/>
                </a:cxn>
                <a:cxn ang="0">
                  <a:pos x="42" y="89"/>
                </a:cxn>
                <a:cxn ang="0">
                  <a:pos x="132" y="109"/>
                </a:cxn>
                <a:cxn ang="0">
                  <a:pos x="136" y="132"/>
                </a:cxn>
                <a:cxn ang="0">
                  <a:pos x="136" y="152"/>
                </a:cxn>
                <a:cxn ang="0">
                  <a:pos x="160" y="155"/>
                </a:cxn>
                <a:cxn ang="0">
                  <a:pos x="162" y="164"/>
                </a:cxn>
                <a:cxn ang="0">
                  <a:pos x="158" y="184"/>
                </a:cxn>
                <a:cxn ang="0">
                  <a:pos x="152" y="194"/>
                </a:cxn>
                <a:cxn ang="0">
                  <a:pos x="125" y="204"/>
                </a:cxn>
                <a:cxn ang="0">
                  <a:pos x="137" y="210"/>
                </a:cxn>
                <a:cxn ang="0">
                  <a:pos x="126" y="211"/>
                </a:cxn>
                <a:cxn ang="0">
                  <a:pos x="119" y="223"/>
                </a:cxn>
                <a:cxn ang="0">
                  <a:pos x="124" y="228"/>
                </a:cxn>
                <a:cxn ang="0">
                  <a:pos x="104" y="241"/>
                </a:cxn>
              </a:cxnLst>
              <a:rect l="0" t="0" r="r" b="b"/>
              <a:pathLst>
                <a:path w="622" h="334">
                  <a:moveTo>
                    <a:pt x="131" y="242"/>
                  </a:moveTo>
                  <a:lnTo>
                    <a:pt x="115" y="246"/>
                  </a:lnTo>
                  <a:lnTo>
                    <a:pt x="109" y="251"/>
                  </a:lnTo>
                  <a:lnTo>
                    <a:pt x="108" y="254"/>
                  </a:lnTo>
                  <a:lnTo>
                    <a:pt x="119" y="253"/>
                  </a:lnTo>
                  <a:lnTo>
                    <a:pt x="113" y="256"/>
                  </a:lnTo>
                  <a:lnTo>
                    <a:pt x="106" y="264"/>
                  </a:lnTo>
                  <a:lnTo>
                    <a:pt x="115" y="262"/>
                  </a:lnTo>
                  <a:lnTo>
                    <a:pt x="122" y="258"/>
                  </a:lnTo>
                  <a:lnTo>
                    <a:pt x="125" y="250"/>
                  </a:lnTo>
                  <a:lnTo>
                    <a:pt x="127" y="254"/>
                  </a:lnTo>
                  <a:lnTo>
                    <a:pt x="132" y="256"/>
                  </a:lnTo>
                  <a:lnTo>
                    <a:pt x="134" y="263"/>
                  </a:lnTo>
                  <a:lnTo>
                    <a:pt x="126" y="259"/>
                  </a:lnTo>
                  <a:lnTo>
                    <a:pt x="127" y="263"/>
                  </a:lnTo>
                  <a:lnTo>
                    <a:pt x="113" y="266"/>
                  </a:lnTo>
                  <a:lnTo>
                    <a:pt x="125" y="265"/>
                  </a:lnTo>
                  <a:lnTo>
                    <a:pt x="128" y="265"/>
                  </a:lnTo>
                  <a:lnTo>
                    <a:pt x="109" y="269"/>
                  </a:lnTo>
                  <a:lnTo>
                    <a:pt x="115" y="271"/>
                  </a:lnTo>
                  <a:lnTo>
                    <a:pt x="110" y="276"/>
                  </a:lnTo>
                  <a:lnTo>
                    <a:pt x="116" y="275"/>
                  </a:lnTo>
                  <a:lnTo>
                    <a:pt x="113" y="277"/>
                  </a:lnTo>
                  <a:lnTo>
                    <a:pt x="112" y="278"/>
                  </a:lnTo>
                  <a:lnTo>
                    <a:pt x="119" y="280"/>
                  </a:lnTo>
                  <a:lnTo>
                    <a:pt x="112" y="281"/>
                  </a:lnTo>
                  <a:lnTo>
                    <a:pt x="120" y="283"/>
                  </a:lnTo>
                  <a:lnTo>
                    <a:pt x="119" y="287"/>
                  </a:lnTo>
                  <a:lnTo>
                    <a:pt x="124" y="286"/>
                  </a:lnTo>
                  <a:lnTo>
                    <a:pt x="120" y="289"/>
                  </a:lnTo>
                  <a:lnTo>
                    <a:pt x="118" y="292"/>
                  </a:lnTo>
                  <a:lnTo>
                    <a:pt x="124" y="298"/>
                  </a:lnTo>
                  <a:lnTo>
                    <a:pt x="122" y="300"/>
                  </a:lnTo>
                  <a:lnTo>
                    <a:pt x="128" y="300"/>
                  </a:lnTo>
                  <a:lnTo>
                    <a:pt x="126" y="304"/>
                  </a:lnTo>
                  <a:lnTo>
                    <a:pt x="130" y="302"/>
                  </a:lnTo>
                  <a:lnTo>
                    <a:pt x="128" y="306"/>
                  </a:lnTo>
                  <a:lnTo>
                    <a:pt x="131" y="307"/>
                  </a:lnTo>
                  <a:lnTo>
                    <a:pt x="126" y="308"/>
                  </a:lnTo>
                  <a:lnTo>
                    <a:pt x="132" y="308"/>
                  </a:lnTo>
                  <a:lnTo>
                    <a:pt x="130" y="311"/>
                  </a:lnTo>
                  <a:lnTo>
                    <a:pt x="131" y="311"/>
                  </a:lnTo>
                  <a:lnTo>
                    <a:pt x="130" y="314"/>
                  </a:lnTo>
                  <a:lnTo>
                    <a:pt x="136" y="313"/>
                  </a:lnTo>
                  <a:lnTo>
                    <a:pt x="137" y="317"/>
                  </a:lnTo>
                  <a:lnTo>
                    <a:pt x="134" y="318"/>
                  </a:lnTo>
                  <a:lnTo>
                    <a:pt x="136" y="318"/>
                  </a:lnTo>
                  <a:lnTo>
                    <a:pt x="136" y="319"/>
                  </a:lnTo>
                  <a:lnTo>
                    <a:pt x="140" y="320"/>
                  </a:lnTo>
                  <a:lnTo>
                    <a:pt x="149" y="319"/>
                  </a:lnTo>
                  <a:lnTo>
                    <a:pt x="163" y="314"/>
                  </a:lnTo>
                  <a:lnTo>
                    <a:pt x="163" y="317"/>
                  </a:lnTo>
                  <a:lnTo>
                    <a:pt x="169" y="314"/>
                  </a:lnTo>
                  <a:lnTo>
                    <a:pt x="161" y="320"/>
                  </a:lnTo>
                  <a:lnTo>
                    <a:pt x="167" y="319"/>
                  </a:lnTo>
                  <a:lnTo>
                    <a:pt x="162" y="324"/>
                  </a:lnTo>
                  <a:lnTo>
                    <a:pt x="169" y="323"/>
                  </a:lnTo>
                  <a:lnTo>
                    <a:pt x="168" y="325"/>
                  </a:lnTo>
                  <a:lnTo>
                    <a:pt x="173" y="324"/>
                  </a:lnTo>
                  <a:lnTo>
                    <a:pt x="168" y="330"/>
                  </a:lnTo>
                  <a:lnTo>
                    <a:pt x="175" y="326"/>
                  </a:lnTo>
                  <a:lnTo>
                    <a:pt x="168" y="331"/>
                  </a:lnTo>
                  <a:lnTo>
                    <a:pt x="170" y="334"/>
                  </a:lnTo>
                  <a:lnTo>
                    <a:pt x="181" y="329"/>
                  </a:lnTo>
                  <a:lnTo>
                    <a:pt x="191" y="332"/>
                  </a:lnTo>
                  <a:lnTo>
                    <a:pt x="192" y="330"/>
                  </a:lnTo>
                  <a:lnTo>
                    <a:pt x="190" y="328"/>
                  </a:lnTo>
                  <a:lnTo>
                    <a:pt x="181" y="324"/>
                  </a:lnTo>
                  <a:lnTo>
                    <a:pt x="194" y="325"/>
                  </a:lnTo>
                  <a:lnTo>
                    <a:pt x="197" y="324"/>
                  </a:lnTo>
                  <a:lnTo>
                    <a:pt x="194" y="322"/>
                  </a:lnTo>
                  <a:lnTo>
                    <a:pt x="196" y="320"/>
                  </a:lnTo>
                  <a:lnTo>
                    <a:pt x="194" y="319"/>
                  </a:lnTo>
                  <a:lnTo>
                    <a:pt x="202" y="319"/>
                  </a:lnTo>
                  <a:lnTo>
                    <a:pt x="194" y="317"/>
                  </a:lnTo>
                  <a:lnTo>
                    <a:pt x="202" y="317"/>
                  </a:lnTo>
                  <a:lnTo>
                    <a:pt x="202" y="314"/>
                  </a:lnTo>
                  <a:lnTo>
                    <a:pt x="202" y="313"/>
                  </a:lnTo>
                  <a:lnTo>
                    <a:pt x="205" y="312"/>
                  </a:lnTo>
                  <a:lnTo>
                    <a:pt x="203" y="310"/>
                  </a:lnTo>
                  <a:lnTo>
                    <a:pt x="209" y="308"/>
                  </a:lnTo>
                  <a:lnTo>
                    <a:pt x="208" y="306"/>
                  </a:lnTo>
                  <a:lnTo>
                    <a:pt x="212" y="301"/>
                  </a:lnTo>
                  <a:lnTo>
                    <a:pt x="214" y="300"/>
                  </a:lnTo>
                  <a:lnTo>
                    <a:pt x="210" y="295"/>
                  </a:lnTo>
                  <a:lnTo>
                    <a:pt x="212" y="295"/>
                  </a:lnTo>
                  <a:lnTo>
                    <a:pt x="208" y="290"/>
                  </a:lnTo>
                  <a:lnTo>
                    <a:pt x="217" y="287"/>
                  </a:lnTo>
                  <a:lnTo>
                    <a:pt x="226" y="286"/>
                  </a:lnTo>
                  <a:lnTo>
                    <a:pt x="223" y="284"/>
                  </a:lnTo>
                  <a:lnTo>
                    <a:pt x="223" y="282"/>
                  </a:lnTo>
                  <a:lnTo>
                    <a:pt x="228" y="282"/>
                  </a:lnTo>
                  <a:lnTo>
                    <a:pt x="229" y="278"/>
                  </a:lnTo>
                  <a:lnTo>
                    <a:pt x="233" y="280"/>
                  </a:lnTo>
                  <a:lnTo>
                    <a:pt x="230" y="278"/>
                  </a:lnTo>
                  <a:lnTo>
                    <a:pt x="234" y="277"/>
                  </a:lnTo>
                  <a:lnTo>
                    <a:pt x="239" y="275"/>
                  </a:lnTo>
                  <a:lnTo>
                    <a:pt x="234" y="272"/>
                  </a:lnTo>
                  <a:lnTo>
                    <a:pt x="244" y="272"/>
                  </a:lnTo>
                  <a:lnTo>
                    <a:pt x="241" y="266"/>
                  </a:lnTo>
                  <a:lnTo>
                    <a:pt x="234" y="264"/>
                  </a:lnTo>
                  <a:lnTo>
                    <a:pt x="246" y="262"/>
                  </a:lnTo>
                  <a:lnTo>
                    <a:pt x="246" y="252"/>
                  </a:lnTo>
                  <a:lnTo>
                    <a:pt x="258" y="251"/>
                  </a:lnTo>
                  <a:lnTo>
                    <a:pt x="257" y="246"/>
                  </a:lnTo>
                  <a:lnTo>
                    <a:pt x="265" y="245"/>
                  </a:lnTo>
                  <a:lnTo>
                    <a:pt x="270" y="244"/>
                  </a:lnTo>
                  <a:lnTo>
                    <a:pt x="283" y="241"/>
                  </a:lnTo>
                  <a:lnTo>
                    <a:pt x="281" y="240"/>
                  </a:lnTo>
                  <a:lnTo>
                    <a:pt x="289" y="233"/>
                  </a:lnTo>
                  <a:lnTo>
                    <a:pt x="295" y="234"/>
                  </a:lnTo>
                  <a:lnTo>
                    <a:pt x="288" y="239"/>
                  </a:lnTo>
                  <a:lnTo>
                    <a:pt x="295" y="240"/>
                  </a:lnTo>
                  <a:lnTo>
                    <a:pt x="313" y="235"/>
                  </a:lnTo>
                  <a:lnTo>
                    <a:pt x="314" y="232"/>
                  </a:lnTo>
                  <a:lnTo>
                    <a:pt x="319" y="233"/>
                  </a:lnTo>
                  <a:lnTo>
                    <a:pt x="330" y="229"/>
                  </a:lnTo>
                  <a:lnTo>
                    <a:pt x="332" y="227"/>
                  </a:lnTo>
                  <a:lnTo>
                    <a:pt x="343" y="217"/>
                  </a:lnTo>
                  <a:lnTo>
                    <a:pt x="361" y="209"/>
                  </a:lnTo>
                  <a:lnTo>
                    <a:pt x="361" y="204"/>
                  </a:lnTo>
                  <a:lnTo>
                    <a:pt x="364" y="199"/>
                  </a:lnTo>
                  <a:lnTo>
                    <a:pt x="377" y="206"/>
                  </a:lnTo>
                  <a:lnTo>
                    <a:pt x="384" y="204"/>
                  </a:lnTo>
                  <a:lnTo>
                    <a:pt x="390" y="203"/>
                  </a:lnTo>
                  <a:lnTo>
                    <a:pt x="394" y="204"/>
                  </a:lnTo>
                  <a:lnTo>
                    <a:pt x="419" y="198"/>
                  </a:lnTo>
                  <a:lnTo>
                    <a:pt x="444" y="192"/>
                  </a:lnTo>
                  <a:lnTo>
                    <a:pt x="452" y="188"/>
                  </a:lnTo>
                  <a:lnTo>
                    <a:pt x="462" y="184"/>
                  </a:lnTo>
                  <a:lnTo>
                    <a:pt x="467" y="181"/>
                  </a:lnTo>
                  <a:lnTo>
                    <a:pt x="474" y="178"/>
                  </a:lnTo>
                  <a:lnTo>
                    <a:pt x="482" y="175"/>
                  </a:lnTo>
                  <a:lnTo>
                    <a:pt x="448" y="172"/>
                  </a:lnTo>
                  <a:lnTo>
                    <a:pt x="419" y="176"/>
                  </a:lnTo>
                  <a:lnTo>
                    <a:pt x="418" y="174"/>
                  </a:lnTo>
                  <a:lnTo>
                    <a:pt x="438" y="169"/>
                  </a:lnTo>
                  <a:lnTo>
                    <a:pt x="409" y="169"/>
                  </a:lnTo>
                  <a:lnTo>
                    <a:pt x="424" y="163"/>
                  </a:lnTo>
                  <a:lnTo>
                    <a:pt x="424" y="162"/>
                  </a:lnTo>
                  <a:lnTo>
                    <a:pt x="425" y="161"/>
                  </a:lnTo>
                  <a:lnTo>
                    <a:pt x="451" y="160"/>
                  </a:lnTo>
                  <a:lnTo>
                    <a:pt x="450" y="155"/>
                  </a:lnTo>
                  <a:lnTo>
                    <a:pt x="449" y="155"/>
                  </a:lnTo>
                  <a:lnTo>
                    <a:pt x="426" y="154"/>
                  </a:lnTo>
                  <a:lnTo>
                    <a:pt x="433" y="151"/>
                  </a:lnTo>
                  <a:lnTo>
                    <a:pt x="424" y="146"/>
                  </a:lnTo>
                  <a:lnTo>
                    <a:pt x="446" y="154"/>
                  </a:lnTo>
                  <a:lnTo>
                    <a:pt x="466" y="161"/>
                  </a:lnTo>
                  <a:lnTo>
                    <a:pt x="473" y="170"/>
                  </a:lnTo>
                  <a:lnTo>
                    <a:pt x="482" y="168"/>
                  </a:lnTo>
                  <a:lnTo>
                    <a:pt x="485" y="164"/>
                  </a:lnTo>
                  <a:lnTo>
                    <a:pt x="486" y="169"/>
                  </a:lnTo>
                  <a:lnTo>
                    <a:pt x="492" y="168"/>
                  </a:lnTo>
                  <a:lnTo>
                    <a:pt x="492" y="162"/>
                  </a:lnTo>
                  <a:lnTo>
                    <a:pt x="493" y="155"/>
                  </a:lnTo>
                  <a:lnTo>
                    <a:pt x="486" y="156"/>
                  </a:lnTo>
                  <a:lnTo>
                    <a:pt x="490" y="152"/>
                  </a:lnTo>
                  <a:lnTo>
                    <a:pt x="485" y="152"/>
                  </a:lnTo>
                  <a:lnTo>
                    <a:pt x="482" y="151"/>
                  </a:lnTo>
                  <a:lnTo>
                    <a:pt x="486" y="148"/>
                  </a:lnTo>
                  <a:lnTo>
                    <a:pt x="460" y="142"/>
                  </a:lnTo>
                  <a:lnTo>
                    <a:pt x="456" y="144"/>
                  </a:lnTo>
                  <a:lnTo>
                    <a:pt x="456" y="140"/>
                  </a:lnTo>
                  <a:lnTo>
                    <a:pt x="466" y="138"/>
                  </a:lnTo>
                  <a:lnTo>
                    <a:pt x="450" y="137"/>
                  </a:lnTo>
                  <a:lnTo>
                    <a:pt x="443" y="137"/>
                  </a:lnTo>
                  <a:lnTo>
                    <a:pt x="440" y="136"/>
                  </a:lnTo>
                  <a:lnTo>
                    <a:pt x="463" y="132"/>
                  </a:lnTo>
                  <a:lnTo>
                    <a:pt x="439" y="131"/>
                  </a:lnTo>
                  <a:lnTo>
                    <a:pt x="438" y="133"/>
                  </a:lnTo>
                  <a:lnTo>
                    <a:pt x="438" y="131"/>
                  </a:lnTo>
                  <a:lnTo>
                    <a:pt x="445" y="128"/>
                  </a:lnTo>
                  <a:lnTo>
                    <a:pt x="443" y="126"/>
                  </a:lnTo>
                  <a:lnTo>
                    <a:pt x="460" y="127"/>
                  </a:lnTo>
                  <a:lnTo>
                    <a:pt x="466" y="124"/>
                  </a:lnTo>
                  <a:lnTo>
                    <a:pt x="463" y="121"/>
                  </a:lnTo>
                  <a:lnTo>
                    <a:pt x="472" y="124"/>
                  </a:lnTo>
                  <a:lnTo>
                    <a:pt x="482" y="122"/>
                  </a:lnTo>
                  <a:lnTo>
                    <a:pt x="491" y="125"/>
                  </a:lnTo>
                  <a:lnTo>
                    <a:pt x="478" y="124"/>
                  </a:lnTo>
                  <a:lnTo>
                    <a:pt x="499" y="128"/>
                  </a:lnTo>
                  <a:lnTo>
                    <a:pt x="516" y="124"/>
                  </a:lnTo>
                  <a:lnTo>
                    <a:pt x="517" y="120"/>
                  </a:lnTo>
                  <a:lnTo>
                    <a:pt x="502" y="120"/>
                  </a:lnTo>
                  <a:lnTo>
                    <a:pt x="500" y="121"/>
                  </a:lnTo>
                  <a:lnTo>
                    <a:pt x="497" y="115"/>
                  </a:lnTo>
                  <a:lnTo>
                    <a:pt x="503" y="110"/>
                  </a:lnTo>
                  <a:lnTo>
                    <a:pt x="532" y="113"/>
                  </a:lnTo>
                  <a:lnTo>
                    <a:pt x="529" y="108"/>
                  </a:lnTo>
                  <a:lnTo>
                    <a:pt x="517" y="108"/>
                  </a:lnTo>
                  <a:lnTo>
                    <a:pt x="515" y="103"/>
                  </a:lnTo>
                  <a:lnTo>
                    <a:pt x="504" y="103"/>
                  </a:lnTo>
                  <a:lnTo>
                    <a:pt x="516" y="101"/>
                  </a:lnTo>
                  <a:lnTo>
                    <a:pt x="504" y="97"/>
                  </a:lnTo>
                  <a:lnTo>
                    <a:pt x="505" y="95"/>
                  </a:lnTo>
                  <a:lnTo>
                    <a:pt x="530" y="101"/>
                  </a:lnTo>
                  <a:lnTo>
                    <a:pt x="529" y="91"/>
                  </a:lnTo>
                  <a:lnTo>
                    <a:pt x="510" y="91"/>
                  </a:lnTo>
                  <a:lnTo>
                    <a:pt x="532" y="89"/>
                  </a:lnTo>
                  <a:lnTo>
                    <a:pt x="520" y="88"/>
                  </a:lnTo>
                  <a:lnTo>
                    <a:pt x="512" y="85"/>
                  </a:lnTo>
                  <a:lnTo>
                    <a:pt x="509" y="85"/>
                  </a:lnTo>
                  <a:lnTo>
                    <a:pt x="503" y="80"/>
                  </a:lnTo>
                  <a:lnTo>
                    <a:pt x="520" y="79"/>
                  </a:lnTo>
                  <a:lnTo>
                    <a:pt x="550" y="79"/>
                  </a:lnTo>
                  <a:lnTo>
                    <a:pt x="548" y="72"/>
                  </a:lnTo>
                  <a:lnTo>
                    <a:pt x="532" y="72"/>
                  </a:lnTo>
                  <a:lnTo>
                    <a:pt x="524" y="68"/>
                  </a:lnTo>
                  <a:lnTo>
                    <a:pt x="544" y="68"/>
                  </a:lnTo>
                  <a:lnTo>
                    <a:pt x="523" y="65"/>
                  </a:lnTo>
                  <a:lnTo>
                    <a:pt x="518" y="68"/>
                  </a:lnTo>
                  <a:lnTo>
                    <a:pt x="515" y="66"/>
                  </a:lnTo>
                  <a:lnTo>
                    <a:pt x="523" y="55"/>
                  </a:lnTo>
                  <a:lnTo>
                    <a:pt x="539" y="52"/>
                  </a:lnTo>
                  <a:lnTo>
                    <a:pt x="546" y="47"/>
                  </a:lnTo>
                  <a:lnTo>
                    <a:pt x="540" y="48"/>
                  </a:lnTo>
                  <a:lnTo>
                    <a:pt x="548" y="41"/>
                  </a:lnTo>
                  <a:lnTo>
                    <a:pt x="560" y="40"/>
                  </a:lnTo>
                  <a:lnTo>
                    <a:pt x="562" y="36"/>
                  </a:lnTo>
                  <a:lnTo>
                    <a:pt x="539" y="40"/>
                  </a:lnTo>
                  <a:lnTo>
                    <a:pt x="535" y="37"/>
                  </a:lnTo>
                  <a:lnTo>
                    <a:pt x="557" y="35"/>
                  </a:lnTo>
                  <a:lnTo>
                    <a:pt x="580" y="31"/>
                  </a:lnTo>
                  <a:lnTo>
                    <a:pt x="538" y="31"/>
                  </a:lnTo>
                  <a:lnTo>
                    <a:pt x="596" y="28"/>
                  </a:lnTo>
                  <a:lnTo>
                    <a:pt x="594" y="25"/>
                  </a:lnTo>
                  <a:lnTo>
                    <a:pt x="622" y="20"/>
                  </a:lnTo>
                  <a:lnTo>
                    <a:pt x="586" y="17"/>
                  </a:lnTo>
                  <a:lnTo>
                    <a:pt x="566" y="20"/>
                  </a:lnTo>
                  <a:lnTo>
                    <a:pt x="545" y="22"/>
                  </a:lnTo>
                  <a:lnTo>
                    <a:pt x="544" y="20"/>
                  </a:lnTo>
                  <a:lnTo>
                    <a:pt x="504" y="31"/>
                  </a:lnTo>
                  <a:lnTo>
                    <a:pt x="518" y="24"/>
                  </a:lnTo>
                  <a:lnTo>
                    <a:pt x="528" y="17"/>
                  </a:lnTo>
                  <a:lnTo>
                    <a:pt x="512" y="16"/>
                  </a:lnTo>
                  <a:lnTo>
                    <a:pt x="508" y="18"/>
                  </a:lnTo>
                  <a:lnTo>
                    <a:pt x="479" y="23"/>
                  </a:lnTo>
                  <a:lnTo>
                    <a:pt x="493" y="19"/>
                  </a:lnTo>
                  <a:lnTo>
                    <a:pt x="497" y="16"/>
                  </a:lnTo>
                  <a:lnTo>
                    <a:pt x="428" y="19"/>
                  </a:lnTo>
                  <a:lnTo>
                    <a:pt x="449" y="14"/>
                  </a:lnTo>
                  <a:lnTo>
                    <a:pt x="488" y="14"/>
                  </a:lnTo>
                  <a:lnTo>
                    <a:pt x="535" y="11"/>
                  </a:lnTo>
                  <a:lnTo>
                    <a:pt x="503" y="7"/>
                  </a:lnTo>
                  <a:lnTo>
                    <a:pt x="504" y="5"/>
                  </a:lnTo>
                  <a:lnTo>
                    <a:pt x="410" y="6"/>
                  </a:lnTo>
                  <a:lnTo>
                    <a:pt x="422" y="6"/>
                  </a:lnTo>
                  <a:lnTo>
                    <a:pt x="494" y="4"/>
                  </a:lnTo>
                  <a:lnTo>
                    <a:pt x="466" y="0"/>
                  </a:lnTo>
                  <a:lnTo>
                    <a:pt x="377" y="1"/>
                  </a:lnTo>
                  <a:lnTo>
                    <a:pt x="383" y="4"/>
                  </a:lnTo>
                  <a:lnTo>
                    <a:pt x="376" y="5"/>
                  </a:lnTo>
                  <a:lnTo>
                    <a:pt x="373" y="6"/>
                  </a:lnTo>
                  <a:lnTo>
                    <a:pt x="350" y="5"/>
                  </a:lnTo>
                  <a:lnTo>
                    <a:pt x="319" y="4"/>
                  </a:lnTo>
                  <a:lnTo>
                    <a:pt x="324" y="6"/>
                  </a:lnTo>
                  <a:lnTo>
                    <a:pt x="301" y="5"/>
                  </a:lnTo>
                  <a:lnTo>
                    <a:pt x="342" y="7"/>
                  </a:lnTo>
                  <a:lnTo>
                    <a:pt x="361" y="11"/>
                  </a:lnTo>
                  <a:lnTo>
                    <a:pt x="343" y="8"/>
                  </a:lnTo>
                  <a:lnTo>
                    <a:pt x="343" y="10"/>
                  </a:lnTo>
                  <a:lnTo>
                    <a:pt x="314" y="8"/>
                  </a:lnTo>
                  <a:lnTo>
                    <a:pt x="326" y="13"/>
                  </a:lnTo>
                  <a:lnTo>
                    <a:pt x="317" y="13"/>
                  </a:lnTo>
                  <a:lnTo>
                    <a:pt x="314" y="16"/>
                  </a:lnTo>
                  <a:lnTo>
                    <a:pt x="314" y="18"/>
                  </a:lnTo>
                  <a:lnTo>
                    <a:pt x="262" y="11"/>
                  </a:lnTo>
                  <a:lnTo>
                    <a:pt x="258" y="17"/>
                  </a:lnTo>
                  <a:lnTo>
                    <a:pt x="258" y="19"/>
                  </a:lnTo>
                  <a:lnTo>
                    <a:pt x="235" y="16"/>
                  </a:lnTo>
                  <a:lnTo>
                    <a:pt x="224" y="20"/>
                  </a:lnTo>
                  <a:lnTo>
                    <a:pt x="221" y="20"/>
                  </a:lnTo>
                  <a:lnTo>
                    <a:pt x="224" y="13"/>
                  </a:lnTo>
                  <a:lnTo>
                    <a:pt x="173" y="16"/>
                  </a:lnTo>
                  <a:lnTo>
                    <a:pt x="188" y="22"/>
                  </a:lnTo>
                  <a:lnTo>
                    <a:pt x="175" y="19"/>
                  </a:lnTo>
                  <a:lnTo>
                    <a:pt x="151" y="18"/>
                  </a:lnTo>
                  <a:lnTo>
                    <a:pt x="151" y="20"/>
                  </a:lnTo>
                  <a:lnTo>
                    <a:pt x="148" y="24"/>
                  </a:lnTo>
                  <a:lnTo>
                    <a:pt x="128" y="24"/>
                  </a:lnTo>
                  <a:lnTo>
                    <a:pt x="126" y="28"/>
                  </a:lnTo>
                  <a:lnTo>
                    <a:pt x="124" y="25"/>
                  </a:lnTo>
                  <a:lnTo>
                    <a:pt x="74" y="35"/>
                  </a:lnTo>
                  <a:lnTo>
                    <a:pt x="106" y="36"/>
                  </a:lnTo>
                  <a:lnTo>
                    <a:pt x="97" y="37"/>
                  </a:lnTo>
                  <a:lnTo>
                    <a:pt x="95" y="41"/>
                  </a:lnTo>
                  <a:lnTo>
                    <a:pt x="84" y="47"/>
                  </a:lnTo>
                  <a:lnTo>
                    <a:pt x="46" y="52"/>
                  </a:lnTo>
                  <a:lnTo>
                    <a:pt x="5" y="58"/>
                  </a:lnTo>
                  <a:lnTo>
                    <a:pt x="1" y="60"/>
                  </a:lnTo>
                  <a:lnTo>
                    <a:pt x="1" y="64"/>
                  </a:lnTo>
                  <a:lnTo>
                    <a:pt x="23" y="66"/>
                  </a:lnTo>
                  <a:lnTo>
                    <a:pt x="19" y="68"/>
                  </a:lnTo>
                  <a:lnTo>
                    <a:pt x="18" y="70"/>
                  </a:lnTo>
                  <a:lnTo>
                    <a:pt x="34" y="71"/>
                  </a:lnTo>
                  <a:lnTo>
                    <a:pt x="56" y="68"/>
                  </a:lnTo>
                  <a:lnTo>
                    <a:pt x="53" y="73"/>
                  </a:lnTo>
                  <a:lnTo>
                    <a:pt x="26" y="73"/>
                  </a:lnTo>
                  <a:lnTo>
                    <a:pt x="47" y="76"/>
                  </a:lnTo>
                  <a:lnTo>
                    <a:pt x="38" y="74"/>
                  </a:lnTo>
                  <a:lnTo>
                    <a:pt x="0" y="77"/>
                  </a:lnTo>
                  <a:lnTo>
                    <a:pt x="13" y="78"/>
                  </a:lnTo>
                  <a:lnTo>
                    <a:pt x="24" y="82"/>
                  </a:lnTo>
                  <a:lnTo>
                    <a:pt x="12" y="85"/>
                  </a:lnTo>
                  <a:lnTo>
                    <a:pt x="38" y="91"/>
                  </a:lnTo>
                  <a:lnTo>
                    <a:pt x="35" y="89"/>
                  </a:lnTo>
                  <a:lnTo>
                    <a:pt x="42" y="89"/>
                  </a:lnTo>
                  <a:lnTo>
                    <a:pt x="48" y="89"/>
                  </a:lnTo>
                  <a:lnTo>
                    <a:pt x="66" y="86"/>
                  </a:lnTo>
                  <a:lnTo>
                    <a:pt x="74" y="86"/>
                  </a:lnTo>
                  <a:lnTo>
                    <a:pt x="121" y="95"/>
                  </a:lnTo>
                  <a:lnTo>
                    <a:pt x="118" y="100"/>
                  </a:lnTo>
                  <a:lnTo>
                    <a:pt x="128" y="106"/>
                  </a:lnTo>
                  <a:lnTo>
                    <a:pt x="132" y="109"/>
                  </a:lnTo>
                  <a:lnTo>
                    <a:pt x="128" y="113"/>
                  </a:lnTo>
                  <a:lnTo>
                    <a:pt x="124" y="115"/>
                  </a:lnTo>
                  <a:lnTo>
                    <a:pt x="132" y="115"/>
                  </a:lnTo>
                  <a:lnTo>
                    <a:pt x="132" y="121"/>
                  </a:lnTo>
                  <a:lnTo>
                    <a:pt x="133" y="126"/>
                  </a:lnTo>
                  <a:lnTo>
                    <a:pt x="132" y="130"/>
                  </a:lnTo>
                  <a:lnTo>
                    <a:pt x="136" y="132"/>
                  </a:lnTo>
                  <a:lnTo>
                    <a:pt x="133" y="139"/>
                  </a:lnTo>
                  <a:lnTo>
                    <a:pt x="127" y="142"/>
                  </a:lnTo>
                  <a:lnTo>
                    <a:pt x="124" y="146"/>
                  </a:lnTo>
                  <a:lnTo>
                    <a:pt x="131" y="146"/>
                  </a:lnTo>
                  <a:lnTo>
                    <a:pt x="116" y="151"/>
                  </a:lnTo>
                  <a:lnTo>
                    <a:pt x="122" y="156"/>
                  </a:lnTo>
                  <a:lnTo>
                    <a:pt x="136" y="152"/>
                  </a:lnTo>
                  <a:lnTo>
                    <a:pt x="143" y="142"/>
                  </a:lnTo>
                  <a:lnTo>
                    <a:pt x="144" y="150"/>
                  </a:lnTo>
                  <a:lnTo>
                    <a:pt x="151" y="148"/>
                  </a:lnTo>
                  <a:lnTo>
                    <a:pt x="149" y="150"/>
                  </a:lnTo>
                  <a:lnTo>
                    <a:pt x="160" y="152"/>
                  </a:lnTo>
                  <a:lnTo>
                    <a:pt x="149" y="155"/>
                  </a:lnTo>
                  <a:lnTo>
                    <a:pt x="160" y="155"/>
                  </a:lnTo>
                  <a:lnTo>
                    <a:pt x="151" y="158"/>
                  </a:lnTo>
                  <a:lnTo>
                    <a:pt x="157" y="157"/>
                  </a:lnTo>
                  <a:lnTo>
                    <a:pt x="154" y="158"/>
                  </a:lnTo>
                  <a:lnTo>
                    <a:pt x="162" y="162"/>
                  </a:lnTo>
                  <a:lnTo>
                    <a:pt x="155" y="161"/>
                  </a:lnTo>
                  <a:lnTo>
                    <a:pt x="163" y="164"/>
                  </a:lnTo>
                  <a:lnTo>
                    <a:pt x="162" y="164"/>
                  </a:lnTo>
                  <a:lnTo>
                    <a:pt x="162" y="168"/>
                  </a:lnTo>
                  <a:lnTo>
                    <a:pt x="163" y="170"/>
                  </a:lnTo>
                  <a:lnTo>
                    <a:pt x="127" y="164"/>
                  </a:lnTo>
                  <a:lnTo>
                    <a:pt x="125" y="169"/>
                  </a:lnTo>
                  <a:lnTo>
                    <a:pt x="163" y="178"/>
                  </a:lnTo>
                  <a:lnTo>
                    <a:pt x="157" y="181"/>
                  </a:lnTo>
                  <a:lnTo>
                    <a:pt x="158" y="184"/>
                  </a:lnTo>
                  <a:lnTo>
                    <a:pt x="154" y="186"/>
                  </a:lnTo>
                  <a:lnTo>
                    <a:pt x="156" y="188"/>
                  </a:lnTo>
                  <a:lnTo>
                    <a:pt x="160" y="190"/>
                  </a:lnTo>
                  <a:lnTo>
                    <a:pt x="160" y="192"/>
                  </a:lnTo>
                  <a:lnTo>
                    <a:pt x="154" y="190"/>
                  </a:lnTo>
                  <a:lnTo>
                    <a:pt x="148" y="193"/>
                  </a:lnTo>
                  <a:lnTo>
                    <a:pt x="152" y="194"/>
                  </a:lnTo>
                  <a:lnTo>
                    <a:pt x="122" y="202"/>
                  </a:lnTo>
                  <a:lnTo>
                    <a:pt x="125" y="204"/>
                  </a:lnTo>
                  <a:lnTo>
                    <a:pt x="143" y="202"/>
                  </a:lnTo>
                  <a:lnTo>
                    <a:pt x="149" y="199"/>
                  </a:lnTo>
                  <a:lnTo>
                    <a:pt x="144" y="204"/>
                  </a:lnTo>
                  <a:lnTo>
                    <a:pt x="149" y="208"/>
                  </a:lnTo>
                  <a:lnTo>
                    <a:pt x="125" y="204"/>
                  </a:lnTo>
                  <a:lnTo>
                    <a:pt x="120" y="204"/>
                  </a:lnTo>
                  <a:lnTo>
                    <a:pt x="130" y="208"/>
                  </a:lnTo>
                  <a:lnTo>
                    <a:pt x="118" y="206"/>
                  </a:lnTo>
                  <a:lnTo>
                    <a:pt x="109" y="212"/>
                  </a:lnTo>
                  <a:lnTo>
                    <a:pt x="132" y="209"/>
                  </a:lnTo>
                  <a:lnTo>
                    <a:pt x="130" y="209"/>
                  </a:lnTo>
                  <a:lnTo>
                    <a:pt x="137" y="210"/>
                  </a:lnTo>
                  <a:lnTo>
                    <a:pt x="143" y="209"/>
                  </a:lnTo>
                  <a:lnTo>
                    <a:pt x="148" y="209"/>
                  </a:lnTo>
                  <a:lnTo>
                    <a:pt x="142" y="211"/>
                  </a:lnTo>
                  <a:lnTo>
                    <a:pt x="150" y="211"/>
                  </a:lnTo>
                  <a:lnTo>
                    <a:pt x="145" y="212"/>
                  </a:lnTo>
                  <a:lnTo>
                    <a:pt x="148" y="215"/>
                  </a:lnTo>
                  <a:lnTo>
                    <a:pt x="126" y="211"/>
                  </a:lnTo>
                  <a:lnTo>
                    <a:pt x="106" y="217"/>
                  </a:lnTo>
                  <a:lnTo>
                    <a:pt x="133" y="217"/>
                  </a:lnTo>
                  <a:lnTo>
                    <a:pt x="140" y="220"/>
                  </a:lnTo>
                  <a:lnTo>
                    <a:pt x="133" y="218"/>
                  </a:lnTo>
                  <a:lnTo>
                    <a:pt x="104" y="220"/>
                  </a:lnTo>
                  <a:lnTo>
                    <a:pt x="108" y="222"/>
                  </a:lnTo>
                  <a:lnTo>
                    <a:pt x="119" y="223"/>
                  </a:lnTo>
                  <a:lnTo>
                    <a:pt x="113" y="226"/>
                  </a:lnTo>
                  <a:lnTo>
                    <a:pt x="112" y="227"/>
                  </a:lnTo>
                  <a:lnTo>
                    <a:pt x="108" y="227"/>
                  </a:lnTo>
                  <a:lnTo>
                    <a:pt x="115" y="229"/>
                  </a:lnTo>
                  <a:lnTo>
                    <a:pt x="104" y="230"/>
                  </a:lnTo>
                  <a:lnTo>
                    <a:pt x="102" y="234"/>
                  </a:lnTo>
                  <a:lnTo>
                    <a:pt x="124" y="228"/>
                  </a:lnTo>
                  <a:lnTo>
                    <a:pt x="145" y="222"/>
                  </a:lnTo>
                  <a:lnTo>
                    <a:pt x="139" y="224"/>
                  </a:lnTo>
                  <a:lnTo>
                    <a:pt x="102" y="238"/>
                  </a:lnTo>
                  <a:lnTo>
                    <a:pt x="107" y="238"/>
                  </a:lnTo>
                  <a:lnTo>
                    <a:pt x="102" y="239"/>
                  </a:lnTo>
                  <a:lnTo>
                    <a:pt x="121" y="236"/>
                  </a:lnTo>
                  <a:lnTo>
                    <a:pt x="104" y="241"/>
                  </a:lnTo>
                  <a:lnTo>
                    <a:pt x="106" y="244"/>
                  </a:lnTo>
                  <a:lnTo>
                    <a:pt x="108" y="245"/>
                  </a:lnTo>
                  <a:lnTo>
                    <a:pt x="116" y="245"/>
                  </a:lnTo>
                  <a:lnTo>
                    <a:pt x="131" y="2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6" name="Freeform 415"/>
            <p:cNvSpPr>
              <a:spLocks/>
            </p:cNvSpPr>
            <p:nvPr/>
          </p:nvSpPr>
          <p:spPr bwMode="auto">
            <a:xfrm>
              <a:off x="1838" y="1343"/>
              <a:ext cx="35" cy="18"/>
            </a:xfrm>
            <a:custGeom>
              <a:avLst/>
              <a:gdLst/>
              <a:ahLst/>
              <a:cxnLst>
                <a:cxn ang="0">
                  <a:pos x="31" y="10"/>
                </a:cxn>
                <a:cxn ang="0">
                  <a:pos x="7" y="0"/>
                </a:cxn>
                <a:cxn ang="0">
                  <a:pos x="0" y="4"/>
                </a:cxn>
                <a:cxn ang="0">
                  <a:pos x="1" y="4"/>
                </a:cxn>
                <a:cxn ang="0">
                  <a:pos x="0" y="8"/>
                </a:cxn>
                <a:cxn ang="0">
                  <a:pos x="2" y="10"/>
                </a:cxn>
                <a:cxn ang="0">
                  <a:pos x="8" y="13"/>
                </a:cxn>
                <a:cxn ang="0">
                  <a:pos x="5" y="15"/>
                </a:cxn>
                <a:cxn ang="0">
                  <a:pos x="31" y="10"/>
                </a:cxn>
              </a:cxnLst>
              <a:rect l="0" t="0" r="r" b="b"/>
              <a:pathLst>
                <a:path w="31" h="15">
                  <a:moveTo>
                    <a:pt x="31" y="10"/>
                  </a:moveTo>
                  <a:lnTo>
                    <a:pt x="7" y="0"/>
                  </a:lnTo>
                  <a:lnTo>
                    <a:pt x="0" y="4"/>
                  </a:lnTo>
                  <a:lnTo>
                    <a:pt x="1" y="4"/>
                  </a:lnTo>
                  <a:lnTo>
                    <a:pt x="0" y="8"/>
                  </a:lnTo>
                  <a:lnTo>
                    <a:pt x="2" y="10"/>
                  </a:lnTo>
                  <a:lnTo>
                    <a:pt x="8" y="13"/>
                  </a:lnTo>
                  <a:lnTo>
                    <a:pt x="5" y="15"/>
                  </a:lnTo>
                  <a:lnTo>
                    <a:pt x="31"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7" name="Freeform 416"/>
            <p:cNvSpPr>
              <a:spLocks/>
            </p:cNvSpPr>
            <p:nvPr/>
          </p:nvSpPr>
          <p:spPr bwMode="auto">
            <a:xfrm>
              <a:off x="2207" y="1408"/>
              <a:ext cx="142" cy="53"/>
            </a:xfrm>
            <a:custGeom>
              <a:avLst/>
              <a:gdLst/>
              <a:ahLst/>
              <a:cxnLst>
                <a:cxn ang="0">
                  <a:pos x="99" y="0"/>
                </a:cxn>
                <a:cxn ang="0">
                  <a:pos x="96" y="4"/>
                </a:cxn>
                <a:cxn ang="0">
                  <a:pos x="86" y="8"/>
                </a:cxn>
                <a:cxn ang="0">
                  <a:pos x="77" y="5"/>
                </a:cxn>
                <a:cxn ang="0">
                  <a:pos x="76" y="12"/>
                </a:cxn>
                <a:cxn ang="0">
                  <a:pos x="75" y="10"/>
                </a:cxn>
                <a:cxn ang="0">
                  <a:pos x="64" y="6"/>
                </a:cxn>
                <a:cxn ang="0">
                  <a:pos x="60" y="10"/>
                </a:cxn>
                <a:cxn ang="0">
                  <a:pos x="53" y="6"/>
                </a:cxn>
                <a:cxn ang="0">
                  <a:pos x="46" y="15"/>
                </a:cxn>
                <a:cxn ang="0">
                  <a:pos x="39" y="18"/>
                </a:cxn>
                <a:cxn ang="0">
                  <a:pos x="34" y="14"/>
                </a:cxn>
                <a:cxn ang="0">
                  <a:pos x="38" y="10"/>
                </a:cxn>
                <a:cxn ang="0">
                  <a:pos x="21" y="0"/>
                </a:cxn>
                <a:cxn ang="0">
                  <a:pos x="23" y="4"/>
                </a:cxn>
                <a:cxn ang="0">
                  <a:pos x="26" y="10"/>
                </a:cxn>
                <a:cxn ang="0">
                  <a:pos x="16" y="5"/>
                </a:cxn>
                <a:cxn ang="0">
                  <a:pos x="12" y="8"/>
                </a:cxn>
                <a:cxn ang="0">
                  <a:pos x="12" y="10"/>
                </a:cxn>
                <a:cxn ang="0">
                  <a:pos x="15" y="11"/>
                </a:cxn>
                <a:cxn ang="0">
                  <a:pos x="14" y="11"/>
                </a:cxn>
                <a:cxn ang="0">
                  <a:pos x="4" y="11"/>
                </a:cxn>
                <a:cxn ang="0">
                  <a:pos x="8" y="14"/>
                </a:cxn>
                <a:cxn ang="0">
                  <a:pos x="0" y="15"/>
                </a:cxn>
                <a:cxn ang="0">
                  <a:pos x="28" y="16"/>
                </a:cxn>
                <a:cxn ang="0">
                  <a:pos x="23" y="20"/>
                </a:cxn>
                <a:cxn ang="0">
                  <a:pos x="27" y="22"/>
                </a:cxn>
                <a:cxn ang="0">
                  <a:pos x="3" y="24"/>
                </a:cxn>
                <a:cxn ang="0">
                  <a:pos x="22" y="29"/>
                </a:cxn>
                <a:cxn ang="0">
                  <a:pos x="28" y="30"/>
                </a:cxn>
                <a:cxn ang="0">
                  <a:pos x="24" y="33"/>
                </a:cxn>
                <a:cxn ang="0">
                  <a:pos x="28" y="33"/>
                </a:cxn>
                <a:cxn ang="0">
                  <a:pos x="26" y="35"/>
                </a:cxn>
                <a:cxn ang="0">
                  <a:pos x="15" y="40"/>
                </a:cxn>
                <a:cxn ang="0">
                  <a:pos x="24" y="42"/>
                </a:cxn>
                <a:cxn ang="0">
                  <a:pos x="41" y="44"/>
                </a:cxn>
                <a:cxn ang="0">
                  <a:pos x="69" y="48"/>
                </a:cxn>
                <a:cxn ang="0">
                  <a:pos x="88" y="41"/>
                </a:cxn>
                <a:cxn ang="0">
                  <a:pos x="107" y="35"/>
                </a:cxn>
                <a:cxn ang="0">
                  <a:pos x="119" y="28"/>
                </a:cxn>
                <a:cxn ang="0">
                  <a:pos x="125" y="24"/>
                </a:cxn>
                <a:cxn ang="0">
                  <a:pos x="129" y="23"/>
                </a:cxn>
                <a:cxn ang="0">
                  <a:pos x="123" y="21"/>
                </a:cxn>
                <a:cxn ang="0">
                  <a:pos x="129" y="18"/>
                </a:cxn>
                <a:cxn ang="0">
                  <a:pos x="129" y="16"/>
                </a:cxn>
                <a:cxn ang="0">
                  <a:pos x="118" y="16"/>
                </a:cxn>
                <a:cxn ang="0">
                  <a:pos x="120" y="14"/>
                </a:cxn>
                <a:cxn ang="0">
                  <a:pos x="114" y="12"/>
                </a:cxn>
                <a:cxn ang="0">
                  <a:pos x="114" y="8"/>
                </a:cxn>
                <a:cxn ang="0">
                  <a:pos x="119" y="2"/>
                </a:cxn>
                <a:cxn ang="0">
                  <a:pos x="110" y="4"/>
                </a:cxn>
                <a:cxn ang="0">
                  <a:pos x="99" y="0"/>
                </a:cxn>
              </a:cxnLst>
              <a:rect l="0" t="0" r="r" b="b"/>
              <a:pathLst>
                <a:path w="129" h="48">
                  <a:moveTo>
                    <a:pt x="99" y="0"/>
                  </a:moveTo>
                  <a:lnTo>
                    <a:pt x="96" y="4"/>
                  </a:lnTo>
                  <a:lnTo>
                    <a:pt x="86" y="8"/>
                  </a:lnTo>
                  <a:lnTo>
                    <a:pt x="77" y="5"/>
                  </a:lnTo>
                  <a:lnTo>
                    <a:pt x="76" y="12"/>
                  </a:lnTo>
                  <a:lnTo>
                    <a:pt x="75" y="10"/>
                  </a:lnTo>
                  <a:lnTo>
                    <a:pt x="64" y="6"/>
                  </a:lnTo>
                  <a:lnTo>
                    <a:pt x="60" y="10"/>
                  </a:lnTo>
                  <a:lnTo>
                    <a:pt x="53" y="6"/>
                  </a:lnTo>
                  <a:lnTo>
                    <a:pt x="46" y="15"/>
                  </a:lnTo>
                  <a:lnTo>
                    <a:pt x="39" y="18"/>
                  </a:lnTo>
                  <a:lnTo>
                    <a:pt x="34" y="14"/>
                  </a:lnTo>
                  <a:lnTo>
                    <a:pt x="38" y="10"/>
                  </a:lnTo>
                  <a:lnTo>
                    <a:pt x="21" y="0"/>
                  </a:lnTo>
                  <a:lnTo>
                    <a:pt x="23" y="4"/>
                  </a:lnTo>
                  <a:lnTo>
                    <a:pt x="26" y="10"/>
                  </a:lnTo>
                  <a:lnTo>
                    <a:pt x="16" y="5"/>
                  </a:lnTo>
                  <a:lnTo>
                    <a:pt x="12" y="8"/>
                  </a:lnTo>
                  <a:lnTo>
                    <a:pt x="12" y="10"/>
                  </a:lnTo>
                  <a:lnTo>
                    <a:pt x="15" y="11"/>
                  </a:lnTo>
                  <a:lnTo>
                    <a:pt x="14" y="11"/>
                  </a:lnTo>
                  <a:lnTo>
                    <a:pt x="4" y="11"/>
                  </a:lnTo>
                  <a:lnTo>
                    <a:pt x="8" y="14"/>
                  </a:lnTo>
                  <a:lnTo>
                    <a:pt x="0" y="15"/>
                  </a:lnTo>
                  <a:lnTo>
                    <a:pt x="28" y="16"/>
                  </a:lnTo>
                  <a:lnTo>
                    <a:pt x="23" y="20"/>
                  </a:lnTo>
                  <a:lnTo>
                    <a:pt x="27" y="22"/>
                  </a:lnTo>
                  <a:lnTo>
                    <a:pt x="3" y="24"/>
                  </a:lnTo>
                  <a:lnTo>
                    <a:pt x="22" y="29"/>
                  </a:lnTo>
                  <a:lnTo>
                    <a:pt x="28" y="30"/>
                  </a:lnTo>
                  <a:lnTo>
                    <a:pt x="24" y="33"/>
                  </a:lnTo>
                  <a:lnTo>
                    <a:pt x="28" y="33"/>
                  </a:lnTo>
                  <a:lnTo>
                    <a:pt x="26" y="35"/>
                  </a:lnTo>
                  <a:lnTo>
                    <a:pt x="15" y="40"/>
                  </a:lnTo>
                  <a:lnTo>
                    <a:pt x="24" y="42"/>
                  </a:lnTo>
                  <a:lnTo>
                    <a:pt x="41" y="44"/>
                  </a:lnTo>
                  <a:lnTo>
                    <a:pt x="69" y="48"/>
                  </a:lnTo>
                  <a:lnTo>
                    <a:pt x="88" y="41"/>
                  </a:lnTo>
                  <a:lnTo>
                    <a:pt x="107" y="35"/>
                  </a:lnTo>
                  <a:lnTo>
                    <a:pt x="119" y="28"/>
                  </a:lnTo>
                  <a:lnTo>
                    <a:pt x="125" y="24"/>
                  </a:lnTo>
                  <a:lnTo>
                    <a:pt x="129" y="23"/>
                  </a:lnTo>
                  <a:lnTo>
                    <a:pt x="123" y="21"/>
                  </a:lnTo>
                  <a:lnTo>
                    <a:pt x="129" y="18"/>
                  </a:lnTo>
                  <a:lnTo>
                    <a:pt x="129" y="16"/>
                  </a:lnTo>
                  <a:lnTo>
                    <a:pt x="118" y="16"/>
                  </a:lnTo>
                  <a:lnTo>
                    <a:pt x="120" y="14"/>
                  </a:lnTo>
                  <a:lnTo>
                    <a:pt x="114" y="12"/>
                  </a:lnTo>
                  <a:lnTo>
                    <a:pt x="114" y="8"/>
                  </a:lnTo>
                  <a:lnTo>
                    <a:pt x="119" y="2"/>
                  </a:lnTo>
                  <a:lnTo>
                    <a:pt x="110" y="4"/>
                  </a:lnTo>
                  <a:lnTo>
                    <a:pt x="9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8" name="Freeform 417"/>
            <p:cNvSpPr>
              <a:spLocks/>
            </p:cNvSpPr>
            <p:nvPr/>
          </p:nvSpPr>
          <p:spPr bwMode="auto">
            <a:xfrm>
              <a:off x="2376" y="1610"/>
              <a:ext cx="62" cy="71"/>
            </a:xfrm>
            <a:custGeom>
              <a:avLst/>
              <a:gdLst/>
              <a:ahLst/>
              <a:cxnLst>
                <a:cxn ang="0">
                  <a:pos x="55" y="47"/>
                </a:cxn>
                <a:cxn ang="0">
                  <a:pos x="55" y="33"/>
                </a:cxn>
                <a:cxn ang="0">
                  <a:pos x="55" y="20"/>
                </a:cxn>
                <a:cxn ang="0">
                  <a:pos x="48" y="17"/>
                </a:cxn>
                <a:cxn ang="0">
                  <a:pos x="44" y="18"/>
                </a:cxn>
                <a:cxn ang="0">
                  <a:pos x="33" y="15"/>
                </a:cxn>
                <a:cxn ang="0">
                  <a:pos x="43" y="3"/>
                </a:cxn>
                <a:cxn ang="0">
                  <a:pos x="45" y="0"/>
                </a:cxn>
                <a:cxn ang="0">
                  <a:pos x="39" y="2"/>
                </a:cxn>
                <a:cxn ang="0">
                  <a:pos x="35" y="2"/>
                </a:cxn>
                <a:cxn ang="0">
                  <a:pos x="24" y="8"/>
                </a:cxn>
                <a:cxn ang="0">
                  <a:pos x="29" y="11"/>
                </a:cxn>
                <a:cxn ang="0">
                  <a:pos x="24" y="17"/>
                </a:cxn>
                <a:cxn ang="0">
                  <a:pos x="7" y="18"/>
                </a:cxn>
                <a:cxn ang="0">
                  <a:pos x="8" y="24"/>
                </a:cxn>
                <a:cxn ang="0">
                  <a:pos x="2" y="30"/>
                </a:cxn>
                <a:cxn ang="0">
                  <a:pos x="18" y="35"/>
                </a:cxn>
                <a:cxn ang="0">
                  <a:pos x="7" y="45"/>
                </a:cxn>
                <a:cxn ang="0">
                  <a:pos x="18" y="43"/>
                </a:cxn>
                <a:cxn ang="0">
                  <a:pos x="6" y="49"/>
                </a:cxn>
                <a:cxn ang="0">
                  <a:pos x="0" y="53"/>
                </a:cxn>
                <a:cxn ang="0">
                  <a:pos x="3" y="54"/>
                </a:cxn>
                <a:cxn ang="0">
                  <a:pos x="0" y="57"/>
                </a:cxn>
                <a:cxn ang="0">
                  <a:pos x="6" y="60"/>
                </a:cxn>
                <a:cxn ang="0">
                  <a:pos x="3" y="61"/>
                </a:cxn>
                <a:cxn ang="0">
                  <a:pos x="8" y="61"/>
                </a:cxn>
                <a:cxn ang="0">
                  <a:pos x="8" y="63"/>
                </a:cxn>
                <a:cxn ang="0">
                  <a:pos x="23" y="62"/>
                </a:cxn>
                <a:cxn ang="0">
                  <a:pos x="36" y="55"/>
                </a:cxn>
                <a:cxn ang="0">
                  <a:pos x="50" y="54"/>
                </a:cxn>
                <a:cxn ang="0">
                  <a:pos x="55" y="47"/>
                </a:cxn>
              </a:cxnLst>
              <a:rect l="0" t="0" r="r" b="b"/>
              <a:pathLst>
                <a:path w="55" h="63">
                  <a:moveTo>
                    <a:pt x="55" y="47"/>
                  </a:moveTo>
                  <a:lnTo>
                    <a:pt x="55" y="33"/>
                  </a:lnTo>
                  <a:lnTo>
                    <a:pt x="55" y="20"/>
                  </a:lnTo>
                  <a:lnTo>
                    <a:pt x="48" y="17"/>
                  </a:lnTo>
                  <a:lnTo>
                    <a:pt x="44" y="18"/>
                  </a:lnTo>
                  <a:lnTo>
                    <a:pt x="33" y="15"/>
                  </a:lnTo>
                  <a:lnTo>
                    <a:pt x="43" y="3"/>
                  </a:lnTo>
                  <a:lnTo>
                    <a:pt x="45" y="0"/>
                  </a:lnTo>
                  <a:lnTo>
                    <a:pt x="39" y="2"/>
                  </a:lnTo>
                  <a:lnTo>
                    <a:pt x="35" y="2"/>
                  </a:lnTo>
                  <a:lnTo>
                    <a:pt x="24" y="8"/>
                  </a:lnTo>
                  <a:lnTo>
                    <a:pt x="29" y="11"/>
                  </a:lnTo>
                  <a:lnTo>
                    <a:pt x="24" y="17"/>
                  </a:lnTo>
                  <a:lnTo>
                    <a:pt x="7" y="18"/>
                  </a:lnTo>
                  <a:lnTo>
                    <a:pt x="8" y="24"/>
                  </a:lnTo>
                  <a:lnTo>
                    <a:pt x="2" y="30"/>
                  </a:lnTo>
                  <a:lnTo>
                    <a:pt x="18" y="35"/>
                  </a:lnTo>
                  <a:lnTo>
                    <a:pt x="7" y="45"/>
                  </a:lnTo>
                  <a:lnTo>
                    <a:pt x="18" y="43"/>
                  </a:lnTo>
                  <a:lnTo>
                    <a:pt x="6" y="49"/>
                  </a:lnTo>
                  <a:lnTo>
                    <a:pt x="0" y="53"/>
                  </a:lnTo>
                  <a:lnTo>
                    <a:pt x="3" y="54"/>
                  </a:lnTo>
                  <a:lnTo>
                    <a:pt x="0" y="57"/>
                  </a:lnTo>
                  <a:lnTo>
                    <a:pt x="6" y="60"/>
                  </a:lnTo>
                  <a:lnTo>
                    <a:pt x="3" y="61"/>
                  </a:lnTo>
                  <a:lnTo>
                    <a:pt x="8" y="61"/>
                  </a:lnTo>
                  <a:lnTo>
                    <a:pt x="8" y="63"/>
                  </a:lnTo>
                  <a:lnTo>
                    <a:pt x="23" y="62"/>
                  </a:lnTo>
                  <a:lnTo>
                    <a:pt x="36" y="55"/>
                  </a:lnTo>
                  <a:lnTo>
                    <a:pt x="50" y="54"/>
                  </a:lnTo>
                  <a:lnTo>
                    <a:pt x="55" y="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9" name="Freeform 418"/>
            <p:cNvSpPr>
              <a:spLocks/>
            </p:cNvSpPr>
            <p:nvPr/>
          </p:nvSpPr>
          <p:spPr bwMode="auto">
            <a:xfrm>
              <a:off x="2445" y="1550"/>
              <a:ext cx="113" cy="160"/>
            </a:xfrm>
            <a:custGeom>
              <a:avLst/>
              <a:gdLst/>
              <a:ahLst/>
              <a:cxnLst>
                <a:cxn ang="0">
                  <a:pos x="8" y="43"/>
                </a:cxn>
                <a:cxn ang="0">
                  <a:pos x="16" y="44"/>
                </a:cxn>
                <a:cxn ang="0">
                  <a:pos x="12" y="57"/>
                </a:cxn>
                <a:cxn ang="0">
                  <a:pos x="20" y="63"/>
                </a:cxn>
                <a:cxn ang="0">
                  <a:pos x="31" y="66"/>
                </a:cxn>
                <a:cxn ang="0">
                  <a:pos x="38" y="87"/>
                </a:cxn>
                <a:cxn ang="0">
                  <a:pos x="16" y="96"/>
                </a:cxn>
                <a:cxn ang="0">
                  <a:pos x="23" y="102"/>
                </a:cxn>
                <a:cxn ang="0">
                  <a:pos x="8" y="115"/>
                </a:cxn>
                <a:cxn ang="0">
                  <a:pos x="29" y="121"/>
                </a:cxn>
                <a:cxn ang="0">
                  <a:pos x="38" y="122"/>
                </a:cxn>
                <a:cxn ang="0">
                  <a:pos x="13" y="134"/>
                </a:cxn>
                <a:cxn ang="0">
                  <a:pos x="5" y="144"/>
                </a:cxn>
                <a:cxn ang="0">
                  <a:pos x="25" y="141"/>
                </a:cxn>
                <a:cxn ang="0">
                  <a:pos x="42" y="134"/>
                </a:cxn>
                <a:cxn ang="0">
                  <a:pos x="82" y="133"/>
                </a:cxn>
                <a:cxn ang="0">
                  <a:pos x="85" y="120"/>
                </a:cxn>
                <a:cxn ang="0">
                  <a:pos x="102" y="103"/>
                </a:cxn>
                <a:cxn ang="0">
                  <a:pos x="82" y="97"/>
                </a:cxn>
                <a:cxn ang="0">
                  <a:pos x="72" y="82"/>
                </a:cxn>
                <a:cxn ang="0">
                  <a:pos x="76" y="76"/>
                </a:cxn>
                <a:cxn ang="0">
                  <a:pos x="50" y="45"/>
                </a:cxn>
                <a:cxn ang="0">
                  <a:pos x="43" y="39"/>
                </a:cxn>
                <a:cxn ang="0">
                  <a:pos x="41" y="36"/>
                </a:cxn>
                <a:cxn ang="0">
                  <a:pos x="29" y="16"/>
                </a:cxn>
                <a:cxn ang="0">
                  <a:pos x="28" y="13"/>
                </a:cxn>
                <a:cxn ang="0">
                  <a:pos x="17" y="0"/>
                </a:cxn>
                <a:cxn ang="0">
                  <a:pos x="11" y="10"/>
                </a:cxn>
                <a:cxn ang="0">
                  <a:pos x="5" y="18"/>
                </a:cxn>
                <a:cxn ang="0">
                  <a:pos x="5" y="22"/>
                </a:cxn>
                <a:cxn ang="0">
                  <a:pos x="2" y="32"/>
                </a:cxn>
                <a:cxn ang="0">
                  <a:pos x="10" y="31"/>
                </a:cxn>
                <a:cxn ang="0">
                  <a:pos x="1" y="55"/>
                </a:cxn>
              </a:cxnLst>
              <a:rect l="0" t="0" r="r" b="b"/>
              <a:pathLst>
                <a:path w="102" h="144">
                  <a:moveTo>
                    <a:pt x="1" y="55"/>
                  </a:moveTo>
                  <a:lnTo>
                    <a:pt x="8" y="43"/>
                  </a:lnTo>
                  <a:lnTo>
                    <a:pt x="13" y="43"/>
                  </a:lnTo>
                  <a:lnTo>
                    <a:pt x="16" y="44"/>
                  </a:lnTo>
                  <a:lnTo>
                    <a:pt x="14" y="49"/>
                  </a:lnTo>
                  <a:lnTo>
                    <a:pt x="12" y="57"/>
                  </a:lnTo>
                  <a:lnTo>
                    <a:pt x="13" y="66"/>
                  </a:lnTo>
                  <a:lnTo>
                    <a:pt x="20" y="63"/>
                  </a:lnTo>
                  <a:lnTo>
                    <a:pt x="35" y="60"/>
                  </a:lnTo>
                  <a:lnTo>
                    <a:pt x="31" y="66"/>
                  </a:lnTo>
                  <a:lnTo>
                    <a:pt x="37" y="73"/>
                  </a:lnTo>
                  <a:lnTo>
                    <a:pt x="38" y="87"/>
                  </a:lnTo>
                  <a:lnTo>
                    <a:pt x="34" y="88"/>
                  </a:lnTo>
                  <a:lnTo>
                    <a:pt x="16" y="96"/>
                  </a:lnTo>
                  <a:lnTo>
                    <a:pt x="19" y="96"/>
                  </a:lnTo>
                  <a:lnTo>
                    <a:pt x="23" y="102"/>
                  </a:lnTo>
                  <a:lnTo>
                    <a:pt x="11" y="111"/>
                  </a:lnTo>
                  <a:lnTo>
                    <a:pt x="8" y="115"/>
                  </a:lnTo>
                  <a:lnTo>
                    <a:pt x="23" y="117"/>
                  </a:lnTo>
                  <a:lnTo>
                    <a:pt x="29" y="121"/>
                  </a:lnTo>
                  <a:lnTo>
                    <a:pt x="44" y="116"/>
                  </a:lnTo>
                  <a:lnTo>
                    <a:pt x="38" y="122"/>
                  </a:lnTo>
                  <a:lnTo>
                    <a:pt x="26" y="124"/>
                  </a:lnTo>
                  <a:lnTo>
                    <a:pt x="13" y="134"/>
                  </a:lnTo>
                  <a:lnTo>
                    <a:pt x="0" y="142"/>
                  </a:lnTo>
                  <a:lnTo>
                    <a:pt x="5" y="144"/>
                  </a:lnTo>
                  <a:lnTo>
                    <a:pt x="8" y="144"/>
                  </a:lnTo>
                  <a:lnTo>
                    <a:pt x="25" y="141"/>
                  </a:lnTo>
                  <a:lnTo>
                    <a:pt x="30" y="136"/>
                  </a:lnTo>
                  <a:lnTo>
                    <a:pt x="42" y="134"/>
                  </a:lnTo>
                  <a:lnTo>
                    <a:pt x="58" y="133"/>
                  </a:lnTo>
                  <a:lnTo>
                    <a:pt x="82" y="133"/>
                  </a:lnTo>
                  <a:lnTo>
                    <a:pt x="97" y="123"/>
                  </a:lnTo>
                  <a:lnTo>
                    <a:pt x="85" y="120"/>
                  </a:lnTo>
                  <a:lnTo>
                    <a:pt x="90" y="116"/>
                  </a:lnTo>
                  <a:lnTo>
                    <a:pt x="102" y="103"/>
                  </a:lnTo>
                  <a:lnTo>
                    <a:pt x="97" y="97"/>
                  </a:lnTo>
                  <a:lnTo>
                    <a:pt x="82" y="97"/>
                  </a:lnTo>
                  <a:lnTo>
                    <a:pt x="83" y="92"/>
                  </a:lnTo>
                  <a:lnTo>
                    <a:pt x="72" y="82"/>
                  </a:lnTo>
                  <a:lnTo>
                    <a:pt x="77" y="84"/>
                  </a:lnTo>
                  <a:lnTo>
                    <a:pt x="76" y="76"/>
                  </a:lnTo>
                  <a:lnTo>
                    <a:pt x="65" y="67"/>
                  </a:lnTo>
                  <a:lnTo>
                    <a:pt x="50" y="45"/>
                  </a:lnTo>
                  <a:lnTo>
                    <a:pt x="32" y="43"/>
                  </a:lnTo>
                  <a:lnTo>
                    <a:pt x="43" y="39"/>
                  </a:lnTo>
                  <a:lnTo>
                    <a:pt x="36" y="37"/>
                  </a:lnTo>
                  <a:lnTo>
                    <a:pt x="41" y="36"/>
                  </a:lnTo>
                  <a:lnTo>
                    <a:pt x="55" y="16"/>
                  </a:lnTo>
                  <a:lnTo>
                    <a:pt x="29" y="16"/>
                  </a:lnTo>
                  <a:lnTo>
                    <a:pt x="23" y="15"/>
                  </a:lnTo>
                  <a:lnTo>
                    <a:pt x="28" y="13"/>
                  </a:lnTo>
                  <a:lnTo>
                    <a:pt x="38" y="1"/>
                  </a:lnTo>
                  <a:lnTo>
                    <a:pt x="17" y="0"/>
                  </a:lnTo>
                  <a:lnTo>
                    <a:pt x="12" y="4"/>
                  </a:lnTo>
                  <a:lnTo>
                    <a:pt x="11" y="10"/>
                  </a:lnTo>
                  <a:lnTo>
                    <a:pt x="6" y="12"/>
                  </a:lnTo>
                  <a:lnTo>
                    <a:pt x="5" y="18"/>
                  </a:lnTo>
                  <a:lnTo>
                    <a:pt x="5" y="20"/>
                  </a:lnTo>
                  <a:lnTo>
                    <a:pt x="5" y="22"/>
                  </a:lnTo>
                  <a:lnTo>
                    <a:pt x="0" y="30"/>
                  </a:lnTo>
                  <a:lnTo>
                    <a:pt x="2" y="32"/>
                  </a:lnTo>
                  <a:lnTo>
                    <a:pt x="0" y="33"/>
                  </a:lnTo>
                  <a:lnTo>
                    <a:pt x="10" y="31"/>
                  </a:lnTo>
                  <a:lnTo>
                    <a:pt x="8" y="32"/>
                  </a:lnTo>
                  <a:lnTo>
                    <a:pt x="1" y="5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0" name="Freeform 419"/>
            <p:cNvSpPr>
              <a:spLocks/>
            </p:cNvSpPr>
            <p:nvPr/>
          </p:nvSpPr>
          <p:spPr bwMode="auto">
            <a:xfrm>
              <a:off x="2413" y="1612"/>
              <a:ext cx="36" cy="22"/>
            </a:xfrm>
            <a:custGeom>
              <a:avLst/>
              <a:gdLst/>
              <a:ahLst/>
              <a:cxnLst>
                <a:cxn ang="0">
                  <a:pos x="32" y="13"/>
                </a:cxn>
                <a:cxn ang="0">
                  <a:pos x="29" y="10"/>
                </a:cxn>
                <a:cxn ang="0">
                  <a:pos x="21" y="0"/>
                </a:cxn>
                <a:cxn ang="0">
                  <a:pos x="10" y="2"/>
                </a:cxn>
                <a:cxn ang="0">
                  <a:pos x="0" y="14"/>
                </a:cxn>
                <a:cxn ang="0">
                  <a:pos x="11" y="17"/>
                </a:cxn>
                <a:cxn ang="0">
                  <a:pos x="15" y="16"/>
                </a:cxn>
                <a:cxn ang="0">
                  <a:pos x="22" y="19"/>
                </a:cxn>
                <a:cxn ang="0">
                  <a:pos x="32" y="13"/>
                </a:cxn>
              </a:cxnLst>
              <a:rect l="0" t="0" r="r" b="b"/>
              <a:pathLst>
                <a:path w="32" h="19">
                  <a:moveTo>
                    <a:pt x="32" y="13"/>
                  </a:moveTo>
                  <a:lnTo>
                    <a:pt x="29" y="10"/>
                  </a:lnTo>
                  <a:lnTo>
                    <a:pt x="21" y="0"/>
                  </a:lnTo>
                  <a:lnTo>
                    <a:pt x="10" y="2"/>
                  </a:lnTo>
                  <a:lnTo>
                    <a:pt x="0" y="14"/>
                  </a:lnTo>
                  <a:lnTo>
                    <a:pt x="11" y="17"/>
                  </a:lnTo>
                  <a:lnTo>
                    <a:pt x="15" y="16"/>
                  </a:lnTo>
                  <a:lnTo>
                    <a:pt x="22" y="19"/>
                  </a:lnTo>
                  <a:lnTo>
                    <a:pt x="32"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1" name="Freeform 420"/>
            <p:cNvSpPr>
              <a:spLocks/>
            </p:cNvSpPr>
            <p:nvPr/>
          </p:nvSpPr>
          <p:spPr bwMode="auto">
            <a:xfrm>
              <a:off x="2436" y="1568"/>
              <a:ext cx="13" cy="8"/>
            </a:xfrm>
            <a:custGeom>
              <a:avLst/>
              <a:gdLst/>
              <a:ahLst/>
              <a:cxnLst>
                <a:cxn ang="0">
                  <a:pos x="7" y="2"/>
                </a:cxn>
                <a:cxn ang="0">
                  <a:pos x="3" y="0"/>
                </a:cxn>
                <a:cxn ang="0">
                  <a:pos x="0" y="4"/>
                </a:cxn>
                <a:cxn ang="0">
                  <a:pos x="10" y="9"/>
                </a:cxn>
                <a:cxn ang="0">
                  <a:pos x="13" y="6"/>
                </a:cxn>
                <a:cxn ang="0">
                  <a:pos x="7" y="2"/>
                </a:cxn>
              </a:cxnLst>
              <a:rect l="0" t="0" r="r" b="b"/>
              <a:pathLst>
                <a:path w="13" h="9">
                  <a:moveTo>
                    <a:pt x="7" y="2"/>
                  </a:moveTo>
                  <a:lnTo>
                    <a:pt x="3" y="0"/>
                  </a:lnTo>
                  <a:lnTo>
                    <a:pt x="0" y="4"/>
                  </a:lnTo>
                  <a:lnTo>
                    <a:pt x="10" y="9"/>
                  </a:lnTo>
                  <a:lnTo>
                    <a:pt x="13" y="6"/>
                  </a:lnTo>
                  <a:lnTo>
                    <a:pt x="7"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2" name="Freeform 421"/>
            <p:cNvSpPr>
              <a:spLocks/>
            </p:cNvSpPr>
            <p:nvPr/>
          </p:nvSpPr>
          <p:spPr bwMode="auto">
            <a:xfrm>
              <a:off x="2431" y="1554"/>
              <a:ext cx="11" cy="9"/>
            </a:xfrm>
            <a:custGeom>
              <a:avLst/>
              <a:gdLst/>
              <a:ahLst/>
              <a:cxnLst>
                <a:cxn ang="0">
                  <a:pos x="11" y="3"/>
                </a:cxn>
                <a:cxn ang="0">
                  <a:pos x="11" y="0"/>
                </a:cxn>
                <a:cxn ang="0">
                  <a:pos x="2" y="4"/>
                </a:cxn>
                <a:cxn ang="0">
                  <a:pos x="0" y="9"/>
                </a:cxn>
                <a:cxn ang="0">
                  <a:pos x="11" y="3"/>
                </a:cxn>
              </a:cxnLst>
              <a:rect l="0" t="0" r="r" b="b"/>
              <a:pathLst>
                <a:path w="11" h="9">
                  <a:moveTo>
                    <a:pt x="11" y="3"/>
                  </a:moveTo>
                  <a:lnTo>
                    <a:pt x="11" y="0"/>
                  </a:lnTo>
                  <a:lnTo>
                    <a:pt x="2" y="4"/>
                  </a:lnTo>
                  <a:lnTo>
                    <a:pt x="0" y="9"/>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3" name="Freeform 422"/>
            <p:cNvSpPr>
              <a:spLocks/>
            </p:cNvSpPr>
            <p:nvPr/>
          </p:nvSpPr>
          <p:spPr bwMode="auto">
            <a:xfrm>
              <a:off x="2511" y="1514"/>
              <a:ext cx="5" cy="9"/>
            </a:xfrm>
            <a:custGeom>
              <a:avLst/>
              <a:gdLst/>
              <a:ahLst/>
              <a:cxnLst>
                <a:cxn ang="0">
                  <a:pos x="1" y="0"/>
                </a:cxn>
                <a:cxn ang="0">
                  <a:pos x="1" y="3"/>
                </a:cxn>
                <a:cxn ang="0">
                  <a:pos x="0" y="5"/>
                </a:cxn>
                <a:cxn ang="0">
                  <a:pos x="1" y="8"/>
                </a:cxn>
                <a:cxn ang="0">
                  <a:pos x="5" y="0"/>
                </a:cxn>
                <a:cxn ang="0">
                  <a:pos x="1" y="0"/>
                </a:cxn>
              </a:cxnLst>
              <a:rect l="0" t="0" r="r" b="b"/>
              <a:pathLst>
                <a:path w="5" h="8">
                  <a:moveTo>
                    <a:pt x="1" y="0"/>
                  </a:moveTo>
                  <a:lnTo>
                    <a:pt x="1" y="3"/>
                  </a:lnTo>
                  <a:lnTo>
                    <a:pt x="0" y="5"/>
                  </a:lnTo>
                  <a:lnTo>
                    <a:pt x="1" y="8"/>
                  </a:lnTo>
                  <a:lnTo>
                    <a:pt x="5"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4" name="Freeform 423"/>
            <p:cNvSpPr>
              <a:spLocks/>
            </p:cNvSpPr>
            <p:nvPr/>
          </p:nvSpPr>
          <p:spPr bwMode="auto">
            <a:xfrm>
              <a:off x="2442" y="1588"/>
              <a:ext cx="7" cy="4"/>
            </a:xfrm>
            <a:custGeom>
              <a:avLst/>
              <a:gdLst/>
              <a:ahLst/>
              <a:cxnLst>
                <a:cxn ang="0">
                  <a:pos x="0" y="4"/>
                </a:cxn>
                <a:cxn ang="0">
                  <a:pos x="7" y="2"/>
                </a:cxn>
                <a:cxn ang="0">
                  <a:pos x="0" y="0"/>
                </a:cxn>
                <a:cxn ang="0">
                  <a:pos x="0" y="4"/>
                </a:cxn>
              </a:cxnLst>
              <a:rect l="0" t="0" r="r" b="b"/>
              <a:pathLst>
                <a:path w="7" h="4">
                  <a:moveTo>
                    <a:pt x="0" y="4"/>
                  </a:moveTo>
                  <a:lnTo>
                    <a:pt x="7" y="2"/>
                  </a:lnTo>
                  <a:lnTo>
                    <a:pt x="0" y="0"/>
                  </a:lnTo>
                  <a:lnTo>
                    <a:pt x="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5" name="Freeform 424"/>
            <p:cNvSpPr>
              <a:spLocks/>
            </p:cNvSpPr>
            <p:nvPr/>
          </p:nvSpPr>
          <p:spPr bwMode="auto">
            <a:xfrm>
              <a:off x="2465" y="1648"/>
              <a:ext cx="4" cy="2"/>
            </a:xfrm>
            <a:custGeom>
              <a:avLst/>
              <a:gdLst/>
              <a:ahLst/>
              <a:cxnLst>
                <a:cxn ang="0">
                  <a:pos x="5" y="3"/>
                </a:cxn>
                <a:cxn ang="0">
                  <a:pos x="1" y="0"/>
                </a:cxn>
                <a:cxn ang="0">
                  <a:pos x="0" y="4"/>
                </a:cxn>
                <a:cxn ang="0">
                  <a:pos x="5" y="3"/>
                </a:cxn>
              </a:cxnLst>
              <a:rect l="0" t="0" r="r" b="b"/>
              <a:pathLst>
                <a:path w="5" h="4">
                  <a:moveTo>
                    <a:pt x="5" y="3"/>
                  </a:moveTo>
                  <a:lnTo>
                    <a:pt x="1" y="0"/>
                  </a:lnTo>
                  <a:lnTo>
                    <a:pt x="0" y="4"/>
                  </a:lnTo>
                  <a:lnTo>
                    <a:pt x="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6" name="Freeform 425"/>
            <p:cNvSpPr>
              <a:spLocks/>
            </p:cNvSpPr>
            <p:nvPr/>
          </p:nvSpPr>
          <p:spPr bwMode="auto">
            <a:xfrm>
              <a:off x="2556" y="1856"/>
              <a:ext cx="4" cy="3"/>
            </a:xfrm>
            <a:custGeom>
              <a:avLst/>
              <a:gdLst/>
              <a:ahLst/>
              <a:cxnLst>
                <a:cxn ang="0">
                  <a:pos x="4" y="0"/>
                </a:cxn>
                <a:cxn ang="0">
                  <a:pos x="0" y="0"/>
                </a:cxn>
                <a:cxn ang="0">
                  <a:pos x="0" y="1"/>
                </a:cxn>
                <a:cxn ang="0">
                  <a:pos x="3" y="2"/>
                </a:cxn>
                <a:cxn ang="0">
                  <a:pos x="4" y="0"/>
                </a:cxn>
              </a:cxnLst>
              <a:rect l="0" t="0" r="r" b="b"/>
              <a:pathLst>
                <a:path w="4" h="2">
                  <a:moveTo>
                    <a:pt x="4" y="0"/>
                  </a:moveTo>
                  <a:lnTo>
                    <a:pt x="0" y="0"/>
                  </a:lnTo>
                  <a:lnTo>
                    <a:pt x="0" y="1"/>
                  </a:lnTo>
                  <a:lnTo>
                    <a:pt x="3" y="2"/>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7" name="Freeform 426"/>
            <p:cNvSpPr>
              <a:spLocks/>
            </p:cNvSpPr>
            <p:nvPr/>
          </p:nvSpPr>
          <p:spPr bwMode="auto">
            <a:xfrm>
              <a:off x="1442" y="2059"/>
              <a:ext cx="5" cy="2"/>
            </a:xfrm>
            <a:custGeom>
              <a:avLst/>
              <a:gdLst/>
              <a:ahLst/>
              <a:cxnLst>
                <a:cxn ang="0">
                  <a:pos x="2" y="0"/>
                </a:cxn>
                <a:cxn ang="0">
                  <a:pos x="1" y="1"/>
                </a:cxn>
                <a:cxn ang="0">
                  <a:pos x="1" y="2"/>
                </a:cxn>
                <a:cxn ang="0">
                  <a:pos x="0" y="2"/>
                </a:cxn>
                <a:cxn ang="0">
                  <a:pos x="1" y="2"/>
                </a:cxn>
                <a:cxn ang="0">
                  <a:pos x="2" y="1"/>
                </a:cxn>
                <a:cxn ang="0">
                  <a:pos x="2" y="0"/>
                </a:cxn>
              </a:cxnLst>
              <a:rect l="0" t="0" r="r" b="b"/>
              <a:pathLst>
                <a:path w="2" h="2">
                  <a:moveTo>
                    <a:pt x="2" y="0"/>
                  </a:moveTo>
                  <a:lnTo>
                    <a:pt x="1" y="1"/>
                  </a:lnTo>
                  <a:lnTo>
                    <a:pt x="1" y="2"/>
                  </a:lnTo>
                  <a:lnTo>
                    <a:pt x="0" y="2"/>
                  </a:lnTo>
                  <a:lnTo>
                    <a:pt x="1" y="2"/>
                  </a:lnTo>
                  <a:lnTo>
                    <a:pt x="2" y="1"/>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8" name="Freeform 427"/>
            <p:cNvSpPr>
              <a:spLocks/>
            </p:cNvSpPr>
            <p:nvPr/>
          </p:nvSpPr>
          <p:spPr bwMode="auto">
            <a:xfrm>
              <a:off x="2376" y="1867"/>
              <a:ext cx="53" cy="100"/>
            </a:xfrm>
            <a:custGeom>
              <a:avLst/>
              <a:gdLst/>
              <a:ahLst/>
              <a:cxnLst>
                <a:cxn ang="0">
                  <a:pos x="21" y="0"/>
                </a:cxn>
                <a:cxn ang="0">
                  <a:pos x="13" y="0"/>
                </a:cxn>
                <a:cxn ang="0">
                  <a:pos x="13" y="22"/>
                </a:cxn>
                <a:cxn ang="0">
                  <a:pos x="8" y="34"/>
                </a:cxn>
                <a:cxn ang="0">
                  <a:pos x="2" y="47"/>
                </a:cxn>
                <a:cxn ang="0">
                  <a:pos x="0" y="59"/>
                </a:cxn>
                <a:cxn ang="0">
                  <a:pos x="7" y="63"/>
                </a:cxn>
                <a:cxn ang="0">
                  <a:pos x="9" y="64"/>
                </a:cxn>
                <a:cxn ang="0">
                  <a:pos x="8" y="89"/>
                </a:cxn>
                <a:cxn ang="0">
                  <a:pos x="30" y="87"/>
                </a:cxn>
                <a:cxn ang="0">
                  <a:pos x="29" y="82"/>
                </a:cxn>
                <a:cxn ang="0">
                  <a:pos x="35" y="71"/>
                </a:cxn>
                <a:cxn ang="0">
                  <a:pos x="33" y="66"/>
                </a:cxn>
                <a:cxn ang="0">
                  <a:pos x="35" y="57"/>
                </a:cxn>
                <a:cxn ang="0">
                  <a:pos x="29" y="42"/>
                </a:cxn>
                <a:cxn ang="0">
                  <a:pos x="35" y="41"/>
                </a:cxn>
                <a:cxn ang="0">
                  <a:pos x="39" y="20"/>
                </a:cxn>
                <a:cxn ang="0">
                  <a:pos x="48" y="11"/>
                </a:cxn>
                <a:cxn ang="0">
                  <a:pos x="45" y="3"/>
                </a:cxn>
                <a:cxn ang="0">
                  <a:pos x="26" y="2"/>
                </a:cxn>
                <a:cxn ang="0">
                  <a:pos x="21" y="0"/>
                </a:cxn>
              </a:cxnLst>
              <a:rect l="0" t="0" r="r" b="b"/>
              <a:pathLst>
                <a:path w="48" h="89">
                  <a:moveTo>
                    <a:pt x="21" y="0"/>
                  </a:moveTo>
                  <a:lnTo>
                    <a:pt x="13" y="0"/>
                  </a:lnTo>
                  <a:lnTo>
                    <a:pt x="13" y="22"/>
                  </a:lnTo>
                  <a:lnTo>
                    <a:pt x="8" y="34"/>
                  </a:lnTo>
                  <a:lnTo>
                    <a:pt x="2" y="47"/>
                  </a:lnTo>
                  <a:lnTo>
                    <a:pt x="0" y="59"/>
                  </a:lnTo>
                  <a:lnTo>
                    <a:pt x="7" y="63"/>
                  </a:lnTo>
                  <a:lnTo>
                    <a:pt x="9" y="64"/>
                  </a:lnTo>
                  <a:lnTo>
                    <a:pt x="8" y="89"/>
                  </a:lnTo>
                  <a:lnTo>
                    <a:pt x="30" y="87"/>
                  </a:lnTo>
                  <a:lnTo>
                    <a:pt x="29" y="82"/>
                  </a:lnTo>
                  <a:lnTo>
                    <a:pt x="35" y="71"/>
                  </a:lnTo>
                  <a:lnTo>
                    <a:pt x="33" y="66"/>
                  </a:lnTo>
                  <a:lnTo>
                    <a:pt x="35" y="57"/>
                  </a:lnTo>
                  <a:lnTo>
                    <a:pt x="29" y="42"/>
                  </a:lnTo>
                  <a:lnTo>
                    <a:pt x="35" y="41"/>
                  </a:lnTo>
                  <a:lnTo>
                    <a:pt x="39" y="20"/>
                  </a:lnTo>
                  <a:lnTo>
                    <a:pt x="48" y="11"/>
                  </a:lnTo>
                  <a:lnTo>
                    <a:pt x="45" y="3"/>
                  </a:lnTo>
                  <a:lnTo>
                    <a:pt x="26" y="2"/>
                  </a:lnTo>
                  <a:lnTo>
                    <a:pt x="2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9" name="Freeform 428"/>
            <p:cNvSpPr>
              <a:spLocks/>
            </p:cNvSpPr>
            <p:nvPr/>
          </p:nvSpPr>
          <p:spPr bwMode="auto">
            <a:xfrm>
              <a:off x="2387" y="1834"/>
              <a:ext cx="195" cy="149"/>
            </a:xfrm>
            <a:custGeom>
              <a:avLst/>
              <a:gdLst/>
              <a:ahLst/>
              <a:cxnLst>
                <a:cxn ang="0">
                  <a:pos x="36" y="34"/>
                </a:cxn>
                <a:cxn ang="0">
                  <a:pos x="17" y="33"/>
                </a:cxn>
                <a:cxn ang="0">
                  <a:pos x="12" y="31"/>
                </a:cxn>
                <a:cxn ang="0">
                  <a:pos x="4" y="31"/>
                </a:cxn>
                <a:cxn ang="0">
                  <a:pos x="3" y="27"/>
                </a:cxn>
                <a:cxn ang="0">
                  <a:pos x="2" y="23"/>
                </a:cxn>
                <a:cxn ang="0">
                  <a:pos x="2" y="21"/>
                </a:cxn>
                <a:cxn ang="0">
                  <a:pos x="0" y="17"/>
                </a:cxn>
                <a:cxn ang="0">
                  <a:pos x="0" y="10"/>
                </a:cxn>
                <a:cxn ang="0">
                  <a:pos x="22" y="0"/>
                </a:cxn>
                <a:cxn ang="0">
                  <a:pos x="40" y="3"/>
                </a:cxn>
                <a:cxn ang="0">
                  <a:pos x="56" y="4"/>
                </a:cxn>
                <a:cxn ang="0">
                  <a:pos x="72" y="5"/>
                </a:cxn>
                <a:cxn ang="0">
                  <a:pos x="88" y="5"/>
                </a:cxn>
                <a:cxn ang="0">
                  <a:pos x="105" y="6"/>
                </a:cxn>
                <a:cxn ang="0">
                  <a:pos x="112" y="12"/>
                </a:cxn>
                <a:cxn ang="0">
                  <a:pos x="152" y="21"/>
                </a:cxn>
                <a:cxn ang="0">
                  <a:pos x="152" y="22"/>
                </a:cxn>
                <a:cxn ang="0">
                  <a:pos x="155" y="23"/>
                </a:cxn>
                <a:cxn ang="0">
                  <a:pos x="177" y="23"/>
                </a:cxn>
                <a:cxn ang="0">
                  <a:pos x="173" y="36"/>
                </a:cxn>
                <a:cxn ang="0">
                  <a:pos x="158" y="45"/>
                </a:cxn>
                <a:cxn ang="0">
                  <a:pos x="142" y="53"/>
                </a:cxn>
                <a:cxn ang="0">
                  <a:pos x="134" y="65"/>
                </a:cxn>
                <a:cxn ang="0">
                  <a:pos x="125" y="78"/>
                </a:cxn>
                <a:cxn ang="0">
                  <a:pos x="131" y="91"/>
                </a:cxn>
                <a:cxn ang="0">
                  <a:pos x="119" y="106"/>
                </a:cxn>
                <a:cxn ang="0">
                  <a:pos x="116" y="111"/>
                </a:cxn>
                <a:cxn ang="0">
                  <a:pos x="104" y="117"/>
                </a:cxn>
                <a:cxn ang="0">
                  <a:pos x="96" y="124"/>
                </a:cxn>
                <a:cxn ang="0">
                  <a:pos x="80" y="126"/>
                </a:cxn>
                <a:cxn ang="0">
                  <a:pos x="62" y="129"/>
                </a:cxn>
                <a:cxn ang="0">
                  <a:pos x="51" y="136"/>
                </a:cxn>
                <a:cxn ang="0">
                  <a:pos x="50" y="136"/>
                </a:cxn>
                <a:cxn ang="0">
                  <a:pos x="40" y="135"/>
                </a:cxn>
                <a:cxn ang="0">
                  <a:pos x="36" y="123"/>
                </a:cxn>
                <a:cxn ang="0">
                  <a:pos x="26" y="117"/>
                </a:cxn>
                <a:cxn ang="0">
                  <a:pos x="21" y="118"/>
                </a:cxn>
                <a:cxn ang="0">
                  <a:pos x="20" y="113"/>
                </a:cxn>
                <a:cxn ang="0">
                  <a:pos x="26" y="102"/>
                </a:cxn>
                <a:cxn ang="0">
                  <a:pos x="24" y="97"/>
                </a:cxn>
                <a:cxn ang="0">
                  <a:pos x="26" y="88"/>
                </a:cxn>
                <a:cxn ang="0">
                  <a:pos x="20" y="73"/>
                </a:cxn>
                <a:cxn ang="0">
                  <a:pos x="26" y="72"/>
                </a:cxn>
                <a:cxn ang="0">
                  <a:pos x="30" y="51"/>
                </a:cxn>
                <a:cxn ang="0">
                  <a:pos x="39" y="42"/>
                </a:cxn>
                <a:cxn ang="0">
                  <a:pos x="36" y="34"/>
                </a:cxn>
              </a:cxnLst>
              <a:rect l="0" t="0" r="r" b="b"/>
              <a:pathLst>
                <a:path w="177" h="136">
                  <a:moveTo>
                    <a:pt x="36" y="34"/>
                  </a:moveTo>
                  <a:lnTo>
                    <a:pt x="17" y="33"/>
                  </a:lnTo>
                  <a:lnTo>
                    <a:pt x="12" y="31"/>
                  </a:lnTo>
                  <a:lnTo>
                    <a:pt x="4" y="31"/>
                  </a:lnTo>
                  <a:lnTo>
                    <a:pt x="3" y="27"/>
                  </a:lnTo>
                  <a:lnTo>
                    <a:pt x="2" y="23"/>
                  </a:lnTo>
                  <a:lnTo>
                    <a:pt x="2" y="21"/>
                  </a:lnTo>
                  <a:lnTo>
                    <a:pt x="0" y="17"/>
                  </a:lnTo>
                  <a:lnTo>
                    <a:pt x="0" y="10"/>
                  </a:lnTo>
                  <a:lnTo>
                    <a:pt x="22" y="0"/>
                  </a:lnTo>
                  <a:lnTo>
                    <a:pt x="40" y="3"/>
                  </a:lnTo>
                  <a:lnTo>
                    <a:pt x="56" y="4"/>
                  </a:lnTo>
                  <a:lnTo>
                    <a:pt x="72" y="5"/>
                  </a:lnTo>
                  <a:lnTo>
                    <a:pt x="88" y="5"/>
                  </a:lnTo>
                  <a:lnTo>
                    <a:pt x="105" y="6"/>
                  </a:lnTo>
                  <a:lnTo>
                    <a:pt x="112" y="12"/>
                  </a:lnTo>
                  <a:lnTo>
                    <a:pt x="152" y="21"/>
                  </a:lnTo>
                  <a:lnTo>
                    <a:pt x="152" y="22"/>
                  </a:lnTo>
                  <a:lnTo>
                    <a:pt x="155" y="23"/>
                  </a:lnTo>
                  <a:lnTo>
                    <a:pt x="177" y="23"/>
                  </a:lnTo>
                  <a:lnTo>
                    <a:pt x="173" y="36"/>
                  </a:lnTo>
                  <a:lnTo>
                    <a:pt x="158" y="45"/>
                  </a:lnTo>
                  <a:lnTo>
                    <a:pt x="142" y="53"/>
                  </a:lnTo>
                  <a:lnTo>
                    <a:pt x="134" y="65"/>
                  </a:lnTo>
                  <a:lnTo>
                    <a:pt x="125" y="78"/>
                  </a:lnTo>
                  <a:lnTo>
                    <a:pt x="131" y="91"/>
                  </a:lnTo>
                  <a:lnTo>
                    <a:pt x="119" y="106"/>
                  </a:lnTo>
                  <a:lnTo>
                    <a:pt x="116" y="111"/>
                  </a:lnTo>
                  <a:lnTo>
                    <a:pt x="104" y="117"/>
                  </a:lnTo>
                  <a:lnTo>
                    <a:pt x="96" y="124"/>
                  </a:lnTo>
                  <a:lnTo>
                    <a:pt x="80" y="126"/>
                  </a:lnTo>
                  <a:lnTo>
                    <a:pt x="62" y="129"/>
                  </a:lnTo>
                  <a:lnTo>
                    <a:pt x="51" y="136"/>
                  </a:lnTo>
                  <a:lnTo>
                    <a:pt x="50" y="136"/>
                  </a:lnTo>
                  <a:lnTo>
                    <a:pt x="40" y="135"/>
                  </a:lnTo>
                  <a:lnTo>
                    <a:pt x="36" y="123"/>
                  </a:lnTo>
                  <a:lnTo>
                    <a:pt x="26" y="117"/>
                  </a:lnTo>
                  <a:lnTo>
                    <a:pt x="21" y="118"/>
                  </a:lnTo>
                  <a:lnTo>
                    <a:pt x="20" y="113"/>
                  </a:lnTo>
                  <a:lnTo>
                    <a:pt x="26" y="102"/>
                  </a:lnTo>
                  <a:lnTo>
                    <a:pt x="24" y="97"/>
                  </a:lnTo>
                  <a:lnTo>
                    <a:pt x="26" y="88"/>
                  </a:lnTo>
                  <a:lnTo>
                    <a:pt x="20" y="73"/>
                  </a:lnTo>
                  <a:lnTo>
                    <a:pt x="26" y="72"/>
                  </a:lnTo>
                  <a:lnTo>
                    <a:pt x="30" y="51"/>
                  </a:lnTo>
                  <a:lnTo>
                    <a:pt x="39" y="42"/>
                  </a:lnTo>
                  <a:lnTo>
                    <a:pt x="36"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0" name="Freeform 429"/>
            <p:cNvSpPr>
              <a:spLocks/>
            </p:cNvSpPr>
            <p:nvPr/>
          </p:nvSpPr>
          <p:spPr bwMode="auto">
            <a:xfrm>
              <a:off x="2571" y="1910"/>
              <a:ext cx="18" cy="11"/>
            </a:xfrm>
            <a:custGeom>
              <a:avLst/>
              <a:gdLst/>
              <a:ahLst/>
              <a:cxnLst>
                <a:cxn ang="0">
                  <a:pos x="16" y="2"/>
                </a:cxn>
                <a:cxn ang="0">
                  <a:pos x="7" y="8"/>
                </a:cxn>
                <a:cxn ang="0">
                  <a:pos x="0" y="2"/>
                </a:cxn>
                <a:cxn ang="0">
                  <a:pos x="10" y="0"/>
                </a:cxn>
                <a:cxn ang="0">
                  <a:pos x="16" y="2"/>
                </a:cxn>
              </a:cxnLst>
              <a:rect l="0" t="0" r="r" b="b"/>
              <a:pathLst>
                <a:path w="16" h="8">
                  <a:moveTo>
                    <a:pt x="16" y="2"/>
                  </a:moveTo>
                  <a:lnTo>
                    <a:pt x="7" y="8"/>
                  </a:lnTo>
                  <a:lnTo>
                    <a:pt x="0" y="2"/>
                  </a:lnTo>
                  <a:lnTo>
                    <a:pt x="10" y="0"/>
                  </a:lnTo>
                  <a:lnTo>
                    <a:pt x="1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1" name="Freeform 430"/>
            <p:cNvSpPr>
              <a:spLocks/>
            </p:cNvSpPr>
            <p:nvPr/>
          </p:nvSpPr>
          <p:spPr bwMode="auto">
            <a:xfrm>
              <a:off x="514" y="1723"/>
              <a:ext cx="960" cy="480"/>
            </a:xfrm>
            <a:custGeom>
              <a:avLst/>
              <a:gdLst/>
              <a:ahLst/>
              <a:cxnLst>
                <a:cxn ang="0">
                  <a:pos x="855" y="36"/>
                </a:cxn>
                <a:cxn ang="0">
                  <a:pos x="809" y="69"/>
                </a:cxn>
                <a:cxn ang="0">
                  <a:pos x="716" y="101"/>
                </a:cxn>
                <a:cxn ang="0">
                  <a:pos x="648" y="125"/>
                </a:cxn>
                <a:cxn ang="0">
                  <a:pos x="639" y="102"/>
                </a:cxn>
                <a:cxn ang="0">
                  <a:pos x="630" y="57"/>
                </a:cxn>
                <a:cxn ang="0">
                  <a:pos x="581" y="19"/>
                </a:cxn>
                <a:cxn ang="0">
                  <a:pos x="502" y="9"/>
                </a:cxn>
                <a:cxn ang="0">
                  <a:pos x="425" y="6"/>
                </a:cxn>
                <a:cxn ang="0">
                  <a:pos x="306" y="6"/>
                </a:cxn>
                <a:cxn ang="0">
                  <a:pos x="186" y="6"/>
                </a:cxn>
                <a:cxn ang="0">
                  <a:pos x="102" y="35"/>
                </a:cxn>
                <a:cxn ang="0">
                  <a:pos x="93" y="35"/>
                </a:cxn>
                <a:cxn ang="0">
                  <a:pos x="76" y="41"/>
                </a:cxn>
                <a:cxn ang="0">
                  <a:pos x="66" y="54"/>
                </a:cxn>
                <a:cxn ang="0">
                  <a:pos x="27" y="111"/>
                </a:cxn>
                <a:cxn ang="0">
                  <a:pos x="0" y="176"/>
                </a:cxn>
                <a:cxn ang="0">
                  <a:pos x="10" y="200"/>
                </a:cxn>
                <a:cxn ang="0">
                  <a:pos x="10" y="219"/>
                </a:cxn>
                <a:cxn ang="0">
                  <a:pos x="17" y="264"/>
                </a:cxn>
                <a:cxn ang="0">
                  <a:pos x="86" y="296"/>
                </a:cxn>
                <a:cxn ang="0">
                  <a:pos x="154" y="320"/>
                </a:cxn>
                <a:cxn ang="0">
                  <a:pos x="222" y="348"/>
                </a:cxn>
                <a:cxn ang="0">
                  <a:pos x="280" y="367"/>
                </a:cxn>
                <a:cxn ang="0">
                  <a:pos x="320" y="396"/>
                </a:cxn>
                <a:cxn ang="0">
                  <a:pos x="328" y="380"/>
                </a:cxn>
                <a:cxn ang="0">
                  <a:pos x="345" y="372"/>
                </a:cxn>
                <a:cxn ang="0">
                  <a:pos x="374" y="353"/>
                </a:cxn>
                <a:cxn ang="0">
                  <a:pos x="412" y="350"/>
                </a:cxn>
                <a:cxn ang="0">
                  <a:pos x="441" y="351"/>
                </a:cxn>
                <a:cxn ang="0">
                  <a:pos x="454" y="345"/>
                </a:cxn>
                <a:cxn ang="0">
                  <a:pos x="476" y="338"/>
                </a:cxn>
                <a:cxn ang="0">
                  <a:pos x="490" y="338"/>
                </a:cxn>
                <a:cxn ang="0">
                  <a:pos x="515" y="344"/>
                </a:cxn>
                <a:cxn ang="0">
                  <a:pos x="552" y="366"/>
                </a:cxn>
                <a:cxn ang="0">
                  <a:pos x="550" y="392"/>
                </a:cxn>
                <a:cxn ang="0">
                  <a:pos x="557" y="408"/>
                </a:cxn>
                <a:cxn ang="0">
                  <a:pos x="586" y="399"/>
                </a:cxn>
                <a:cxn ang="0">
                  <a:pos x="581" y="354"/>
                </a:cxn>
                <a:cxn ang="0">
                  <a:pos x="591" y="311"/>
                </a:cxn>
                <a:cxn ang="0">
                  <a:pos x="624" y="285"/>
                </a:cxn>
                <a:cxn ang="0">
                  <a:pos x="664" y="252"/>
                </a:cxn>
                <a:cxn ang="0">
                  <a:pos x="687" y="237"/>
                </a:cxn>
                <a:cxn ang="0">
                  <a:pos x="681" y="235"/>
                </a:cxn>
                <a:cxn ang="0">
                  <a:pos x="686" y="219"/>
                </a:cxn>
                <a:cxn ang="0">
                  <a:pos x="687" y="213"/>
                </a:cxn>
                <a:cxn ang="0">
                  <a:pos x="684" y="186"/>
                </a:cxn>
                <a:cxn ang="0">
                  <a:pos x="694" y="179"/>
                </a:cxn>
                <a:cxn ang="0">
                  <a:pos x="699" y="197"/>
                </a:cxn>
                <a:cxn ang="0">
                  <a:pos x="710" y="193"/>
                </a:cxn>
                <a:cxn ang="0">
                  <a:pos x="714" y="183"/>
                </a:cxn>
                <a:cxn ang="0">
                  <a:pos x="741" y="150"/>
                </a:cxn>
                <a:cxn ang="0">
                  <a:pos x="784" y="135"/>
                </a:cxn>
                <a:cxn ang="0">
                  <a:pos x="803" y="133"/>
                </a:cxn>
                <a:cxn ang="0">
                  <a:pos x="819" y="96"/>
                </a:cxn>
                <a:cxn ang="0">
                  <a:pos x="845" y="87"/>
                </a:cxn>
              </a:cxnLst>
              <a:rect l="0" t="0" r="r" b="b"/>
              <a:pathLst>
                <a:path w="864" h="431">
                  <a:moveTo>
                    <a:pt x="863" y="79"/>
                  </a:moveTo>
                  <a:lnTo>
                    <a:pt x="862" y="73"/>
                  </a:lnTo>
                  <a:lnTo>
                    <a:pt x="858" y="61"/>
                  </a:lnTo>
                  <a:lnTo>
                    <a:pt x="864" y="39"/>
                  </a:lnTo>
                  <a:lnTo>
                    <a:pt x="855" y="36"/>
                  </a:lnTo>
                  <a:lnTo>
                    <a:pt x="849" y="36"/>
                  </a:lnTo>
                  <a:lnTo>
                    <a:pt x="848" y="33"/>
                  </a:lnTo>
                  <a:lnTo>
                    <a:pt x="834" y="45"/>
                  </a:lnTo>
                  <a:lnTo>
                    <a:pt x="822" y="59"/>
                  </a:lnTo>
                  <a:lnTo>
                    <a:pt x="809" y="69"/>
                  </a:lnTo>
                  <a:lnTo>
                    <a:pt x="800" y="75"/>
                  </a:lnTo>
                  <a:lnTo>
                    <a:pt x="772" y="78"/>
                  </a:lnTo>
                  <a:lnTo>
                    <a:pt x="744" y="79"/>
                  </a:lnTo>
                  <a:lnTo>
                    <a:pt x="730" y="90"/>
                  </a:lnTo>
                  <a:lnTo>
                    <a:pt x="716" y="101"/>
                  </a:lnTo>
                  <a:lnTo>
                    <a:pt x="698" y="102"/>
                  </a:lnTo>
                  <a:lnTo>
                    <a:pt x="681" y="103"/>
                  </a:lnTo>
                  <a:lnTo>
                    <a:pt x="680" y="115"/>
                  </a:lnTo>
                  <a:lnTo>
                    <a:pt x="664" y="120"/>
                  </a:lnTo>
                  <a:lnTo>
                    <a:pt x="648" y="125"/>
                  </a:lnTo>
                  <a:lnTo>
                    <a:pt x="634" y="129"/>
                  </a:lnTo>
                  <a:lnTo>
                    <a:pt x="618" y="135"/>
                  </a:lnTo>
                  <a:lnTo>
                    <a:pt x="614" y="128"/>
                  </a:lnTo>
                  <a:lnTo>
                    <a:pt x="632" y="111"/>
                  </a:lnTo>
                  <a:lnTo>
                    <a:pt x="639" y="102"/>
                  </a:lnTo>
                  <a:lnTo>
                    <a:pt x="641" y="85"/>
                  </a:lnTo>
                  <a:lnTo>
                    <a:pt x="645" y="69"/>
                  </a:lnTo>
                  <a:lnTo>
                    <a:pt x="634" y="61"/>
                  </a:lnTo>
                  <a:lnTo>
                    <a:pt x="635" y="56"/>
                  </a:lnTo>
                  <a:lnTo>
                    <a:pt x="630" y="57"/>
                  </a:lnTo>
                  <a:lnTo>
                    <a:pt x="629" y="50"/>
                  </a:lnTo>
                  <a:lnTo>
                    <a:pt x="617" y="42"/>
                  </a:lnTo>
                  <a:lnTo>
                    <a:pt x="605" y="35"/>
                  </a:lnTo>
                  <a:lnTo>
                    <a:pt x="593" y="27"/>
                  </a:lnTo>
                  <a:lnTo>
                    <a:pt x="581" y="19"/>
                  </a:lnTo>
                  <a:lnTo>
                    <a:pt x="562" y="24"/>
                  </a:lnTo>
                  <a:lnTo>
                    <a:pt x="550" y="19"/>
                  </a:lnTo>
                  <a:lnTo>
                    <a:pt x="538" y="21"/>
                  </a:lnTo>
                  <a:lnTo>
                    <a:pt x="518" y="13"/>
                  </a:lnTo>
                  <a:lnTo>
                    <a:pt x="502" y="9"/>
                  </a:lnTo>
                  <a:lnTo>
                    <a:pt x="503" y="0"/>
                  </a:lnTo>
                  <a:lnTo>
                    <a:pt x="497" y="6"/>
                  </a:lnTo>
                  <a:lnTo>
                    <a:pt x="473" y="6"/>
                  </a:lnTo>
                  <a:lnTo>
                    <a:pt x="449" y="6"/>
                  </a:lnTo>
                  <a:lnTo>
                    <a:pt x="425" y="6"/>
                  </a:lnTo>
                  <a:lnTo>
                    <a:pt x="401" y="6"/>
                  </a:lnTo>
                  <a:lnTo>
                    <a:pt x="377" y="6"/>
                  </a:lnTo>
                  <a:lnTo>
                    <a:pt x="354" y="6"/>
                  </a:lnTo>
                  <a:lnTo>
                    <a:pt x="330" y="6"/>
                  </a:lnTo>
                  <a:lnTo>
                    <a:pt x="306" y="6"/>
                  </a:lnTo>
                  <a:lnTo>
                    <a:pt x="282" y="6"/>
                  </a:lnTo>
                  <a:lnTo>
                    <a:pt x="258" y="6"/>
                  </a:lnTo>
                  <a:lnTo>
                    <a:pt x="234" y="6"/>
                  </a:lnTo>
                  <a:lnTo>
                    <a:pt x="210" y="6"/>
                  </a:lnTo>
                  <a:lnTo>
                    <a:pt x="186" y="6"/>
                  </a:lnTo>
                  <a:lnTo>
                    <a:pt x="162" y="6"/>
                  </a:lnTo>
                  <a:lnTo>
                    <a:pt x="138" y="6"/>
                  </a:lnTo>
                  <a:lnTo>
                    <a:pt x="114" y="6"/>
                  </a:lnTo>
                  <a:lnTo>
                    <a:pt x="110" y="20"/>
                  </a:lnTo>
                  <a:lnTo>
                    <a:pt x="102" y="35"/>
                  </a:lnTo>
                  <a:lnTo>
                    <a:pt x="92" y="39"/>
                  </a:lnTo>
                  <a:lnTo>
                    <a:pt x="94" y="36"/>
                  </a:lnTo>
                  <a:lnTo>
                    <a:pt x="95" y="38"/>
                  </a:lnTo>
                  <a:lnTo>
                    <a:pt x="106" y="25"/>
                  </a:lnTo>
                  <a:lnTo>
                    <a:pt x="93" y="35"/>
                  </a:lnTo>
                  <a:lnTo>
                    <a:pt x="92" y="35"/>
                  </a:lnTo>
                  <a:lnTo>
                    <a:pt x="100" y="27"/>
                  </a:lnTo>
                  <a:lnTo>
                    <a:pt x="105" y="21"/>
                  </a:lnTo>
                  <a:lnTo>
                    <a:pt x="83" y="17"/>
                  </a:lnTo>
                  <a:lnTo>
                    <a:pt x="76" y="41"/>
                  </a:lnTo>
                  <a:lnTo>
                    <a:pt x="74" y="43"/>
                  </a:lnTo>
                  <a:lnTo>
                    <a:pt x="72" y="47"/>
                  </a:lnTo>
                  <a:lnTo>
                    <a:pt x="71" y="49"/>
                  </a:lnTo>
                  <a:lnTo>
                    <a:pt x="70" y="47"/>
                  </a:lnTo>
                  <a:lnTo>
                    <a:pt x="66" y="54"/>
                  </a:lnTo>
                  <a:lnTo>
                    <a:pt x="76" y="56"/>
                  </a:lnTo>
                  <a:lnTo>
                    <a:pt x="69" y="56"/>
                  </a:lnTo>
                  <a:lnTo>
                    <a:pt x="62" y="65"/>
                  </a:lnTo>
                  <a:lnTo>
                    <a:pt x="44" y="87"/>
                  </a:lnTo>
                  <a:lnTo>
                    <a:pt x="27" y="111"/>
                  </a:lnTo>
                  <a:lnTo>
                    <a:pt x="22" y="126"/>
                  </a:lnTo>
                  <a:lnTo>
                    <a:pt x="17" y="140"/>
                  </a:lnTo>
                  <a:lnTo>
                    <a:pt x="2" y="157"/>
                  </a:lnTo>
                  <a:lnTo>
                    <a:pt x="3" y="163"/>
                  </a:lnTo>
                  <a:lnTo>
                    <a:pt x="0" y="176"/>
                  </a:lnTo>
                  <a:lnTo>
                    <a:pt x="3" y="188"/>
                  </a:lnTo>
                  <a:lnTo>
                    <a:pt x="5" y="199"/>
                  </a:lnTo>
                  <a:lnTo>
                    <a:pt x="4" y="197"/>
                  </a:lnTo>
                  <a:lnTo>
                    <a:pt x="3" y="200"/>
                  </a:lnTo>
                  <a:lnTo>
                    <a:pt x="10" y="200"/>
                  </a:lnTo>
                  <a:lnTo>
                    <a:pt x="14" y="200"/>
                  </a:lnTo>
                  <a:lnTo>
                    <a:pt x="11" y="210"/>
                  </a:lnTo>
                  <a:lnTo>
                    <a:pt x="8" y="207"/>
                  </a:lnTo>
                  <a:lnTo>
                    <a:pt x="5" y="210"/>
                  </a:lnTo>
                  <a:lnTo>
                    <a:pt x="10" y="219"/>
                  </a:lnTo>
                  <a:lnTo>
                    <a:pt x="5" y="227"/>
                  </a:lnTo>
                  <a:lnTo>
                    <a:pt x="9" y="236"/>
                  </a:lnTo>
                  <a:lnTo>
                    <a:pt x="12" y="247"/>
                  </a:lnTo>
                  <a:lnTo>
                    <a:pt x="9" y="263"/>
                  </a:lnTo>
                  <a:lnTo>
                    <a:pt x="17" y="264"/>
                  </a:lnTo>
                  <a:lnTo>
                    <a:pt x="33" y="272"/>
                  </a:lnTo>
                  <a:lnTo>
                    <a:pt x="48" y="284"/>
                  </a:lnTo>
                  <a:lnTo>
                    <a:pt x="48" y="299"/>
                  </a:lnTo>
                  <a:lnTo>
                    <a:pt x="66" y="297"/>
                  </a:lnTo>
                  <a:lnTo>
                    <a:pt x="86" y="296"/>
                  </a:lnTo>
                  <a:lnTo>
                    <a:pt x="96" y="302"/>
                  </a:lnTo>
                  <a:lnTo>
                    <a:pt x="108" y="308"/>
                  </a:lnTo>
                  <a:lnTo>
                    <a:pt x="120" y="314"/>
                  </a:lnTo>
                  <a:lnTo>
                    <a:pt x="132" y="320"/>
                  </a:lnTo>
                  <a:lnTo>
                    <a:pt x="154" y="320"/>
                  </a:lnTo>
                  <a:lnTo>
                    <a:pt x="176" y="320"/>
                  </a:lnTo>
                  <a:lnTo>
                    <a:pt x="179" y="312"/>
                  </a:lnTo>
                  <a:lnTo>
                    <a:pt x="204" y="312"/>
                  </a:lnTo>
                  <a:lnTo>
                    <a:pt x="218" y="330"/>
                  </a:lnTo>
                  <a:lnTo>
                    <a:pt x="222" y="348"/>
                  </a:lnTo>
                  <a:lnTo>
                    <a:pt x="231" y="355"/>
                  </a:lnTo>
                  <a:lnTo>
                    <a:pt x="240" y="362"/>
                  </a:lnTo>
                  <a:lnTo>
                    <a:pt x="251" y="349"/>
                  </a:lnTo>
                  <a:lnTo>
                    <a:pt x="273" y="351"/>
                  </a:lnTo>
                  <a:lnTo>
                    <a:pt x="280" y="367"/>
                  </a:lnTo>
                  <a:lnTo>
                    <a:pt x="286" y="384"/>
                  </a:lnTo>
                  <a:lnTo>
                    <a:pt x="292" y="405"/>
                  </a:lnTo>
                  <a:lnTo>
                    <a:pt x="302" y="414"/>
                  </a:lnTo>
                  <a:lnTo>
                    <a:pt x="321" y="416"/>
                  </a:lnTo>
                  <a:lnTo>
                    <a:pt x="320" y="396"/>
                  </a:lnTo>
                  <a:lnTo>
                    <a:pt x="318" y="393"/>
                  </a:lnTo>
                  <a:lnTo>
                    <a:pt x="317" y="390"/>
                  </a:lnTo>
                  <a:lnTo>
                    <a:pt x="322" y="392"/>
                  </a:lnTo>
                  <a:lnTo>
                    <a:pt x="324" y="383"/>
                  </a:lnTo>
                  <a:lnTo>
                    <a:pt x="328" y="380"/>
                  </a:lnTo>
                  <a:lnTo>
                    <a:pt x="336" y="374"/>
                  </a:lnTo>
                  <a:lnTo>
                    <a:pt x="341" y="371"/>
                  </a:lnTo>
                  <a:lnTo>
                    <a:pt x="341" y="368"/>
                  </a:lnTo>
                  <a:lnTo>
                    <a:pt x="348" y="368"/>
                  </a:lnTo>
                  <a:lnTo>
                    <a:pt x="345" y="372"/>
                  </a:lnTo>
                  <a:lnTo>
                    <a:pt x="353" y="367"/>
                  </a:lnTo>
                  <a:lnTo>
                    <a:pt x="350" y="367"/>
                  </a:lnTo>
                  <a:lnTo>
                    <a:pt x="368" y="355"/>
                  </a:lnTo>
                  <a:lnTo>
                    <a:pt x="370" y="350"/>
                  </a:lnTo>
                  <a:lnTo>
                    <a:pt x="374" y="353"/>
                  </a:lnTo>
                  <a:lnTo>
                    <a:pt x="372" y="354"/>
                  </a:lnTo>
                  <a:lnTo>
                    <a:pt x="384" y="347"/>
                  </a:lnTo>
                  <a:lnTo>
                    <a:pt x="387" y="347"/>
                  </a:lnTo>
                  <a:lnTo>
                    <a:pt x="399" y="349"/>
                  </a:lnTo>
                  <a:lnTo>
                    <a:pt x="412" y="350"/>
                  </a:lnTo>
                  <a:lnTo>
                    <a:pt x="419" y="349"/>
                  </a:lnTo>
                  <a:lnTo>
                    <a:pt x="424" y="355"/>
                  </a:lnTo>
                  <a:lnTo>
                    <a:pt x="434" y="357"/>
                  </a:lnTo>
                  <a:lnTo>
                    <a:pt x="442" y="359"/>
                  </a:lnTo>
                  <a:lnTo>
                    <a:pt x="441" y="351"/>
                  </a:lnTo>
                  <a:lnTo>
                    <a:pt x="453" y="360"/>
                  </a:lnTo>
                  <a:lnTo>
                    <a:pt x="450" y="363"/>
                  </a:lnTo>
                  <a:lnTo>
                    <a:pt x="455" y="357"/>
                  </a:lnTo>
                  <a:lnTo>
                    <a:pt x="449" y="349"/>
                  </a:lnTo>
                  <a:lnTo>
                    <a:pt x="454" y="345"/>
                  </a:lnTo>
                  <a:lnTo>
                    <a:pt x="452" y="344"/>
                  </a:lnTo>
                  <a:lnTo>
                    <a:pt x="450" y="343"/>
                  </a:lnTo>
                  <a:lnTo>
                    <a:pt x="440" y="341"/>
                  </a:lnTo>
                  <a:lnTo>
                    <a:pt x="450" y="341"/>
                  </a:lnTo>
                  <a:lnTo>
                    <a:pt x="476" y="338"/>
                  </a:lnTo>
                  <a:lnTo>
                    <a:pt x="479" y="331"/>
                  </a:lnTo>
                  <a:lnTo>
                    <a:pt x="478" y="339"/>
                  </a:lnTo>
                  <a:lnTo>
                    <a:pt x="485" y="338"/>
                  </a:lnTo>
                  <a:lnTo>
                    <a:pt x="494" y="336"/>
                  </a:lnTo>
                  <a:lnTo>
                    <a:pt x="490" y="338"/>
                  </a:lnTo>
                  <a:lnTo>
                    <a:pt x="504" y="337"/>
                  </a:lnTo>
                  <a:lnTo>
                    <a:pt x="501" y="337"/>
                  </a:lnTo>
                  <a:lnTo>
                    <a:pt x="509" y="339"/>
                  </a:lnTo>
                  <a:lnTo>
                    <a:pt x="513" y="339"/>
                  </a:lnTo>
                  <a:lnTo>
                    <a:pt x="515" y="344"/>
                  </a:lnTo>
                  <a:lnTo>
                    <a:pt x="512" y="342"/>
                  </a:lnTo>
                  <a:lnTo>
                    <a:pt x="515" y="350"/>
                  </a:lnTo>
                  <a:lnTo>
                    <a:pt x="537" y="343"/>
                  </a:lnTo>
                  <a:lnTo>
                    <a:pt x="545" y="354"/>
                  </a:lnTo>
                  <a:lnTo>
                    <a:pt x="552" y="366"/>
                  </a:lnTo>
                  <a:lnTo>
                    <a:pt x="549" y="386"/>
                  </a:lnTo>
                  <a:lnTo>
                    <a:pt x="548" y="383"/>
                  </a:lnTo>
                  <a:lnTo>
                    <a:pt x="549" y="386"/>
                  </a:lnTo>
                  <a:lnTo>
                    <a:pt x="552" y="381"/>
                  </a:lnTo>
                  <a:lnTo>
                    <a:pt x="550" y="392"/>
                  </a:lnTo>
                  <a:lnTo>
                    <a:pt x="554" y="399"/>
                  </a:lnTo>
                  <a:lnTo>
                    <a:pt x="556" y="401"/>
                  </a:lnTo>
                  <a:lnTo>
                    <a:pt x="556" y="407"/>
                  </a:lnTo>
                  <a:lnTo>
                    <a:pt x="560" y="403"/>
                  </a:lnTo>
                  <a:lnTo>
                    <a:pt x="557" y="408"/>
                  </a:lnTo>
                  <a:lnTo>
                    <a:pt x="560" y="417"/>
                  </a:lnTo>
                  <a:lnTo>
                    <a:pt x="567" y="431"/>
                  </a:lnTo>
                  <a:lnTo>
                    <a:pt x="576" y="428"/>
                  </a:lnTo>
                  <a:lnTo>
                    <a:pt x="581" y="414"/>
                  </a:lnTo>
                  <a:lnTo>
                    <a:pt x="586" y="399"/>
                  </a:lnTo>
                  <a:lnTo>
                    <a:pt x="584" y="384"/>
                  </a:lnTo>
                  <a:lnTo>
                    <a:pt x="581" y="368"/>
                  </a:lnTo>
                  <a:lnTo>
                    <a:pt x="584" y="383"/>
                  </a:lnTo>
                  <a:lnTo>
                    <a:pt x="582" y="368"/>
                  </a:lnTo>
                  <a:lnTo>
                    <a:pt x="581" y="354"/>
                  </a:lnTo>
                  <a:lnTo>
                    <a:pt x="580" y="339"/>
                  </a:lnTo>
                  <a:lnTo>
                    <a:pt x="579" y="325"/>
                  </a:lnTo>
                  <a:lnTo>
                    <a:pt x="584" y="321"/>
                  </a:lnTo>
                  <a:lnTo>
                    <a:pt x="585" y="319"/>
                  </a:lnTo>
                  <a:lnTo>
                    <a:pt x="591" y="311"/>
                  </a:lnTo>
                  <a:lnTo>
                    <a:pt x="596" y="302"/>
                  </a:lnTo>
                  <a:lnTo>
                    <a:pt x="597" y="301"/>
                  </a:lnTo>
                  <a:lnTo>
                    <a:pt x="602" y="300"/>
                  </a:lnTo>
                  <a:lnTo>
                    <a:pt x="622" y="285"/>
                  </a:lnTo>
                  <a:lnTo>
                    <a:pt x="624" y="285"/>
                  </a:lnTo>
                  <a:lnTo>
                    <a:pt x="640" y="275"/>
                  </a:lnTo>
                  <a:lnTo>
                    <a:pt x="646" y="272"/>
                  </a:lnTo>
                  <a:lnTo>
                    <a:pt x="657" y="261"/>
                  </a:lnTo>
                  <a:lnTo>
                    <a:pt x="675" y="255"/>
                  </a:lnTo>
                  <a:lnTo>
                    <a:pt x="664" y="252"/>
                  </a:lnTo>
                  <a:lnTo>
                    <a:pt x="671" y="253"/>
                  </a:lnTo>
                  <a:lnTo>
                    <a:pt x="674" y="249"/>
                  </a:lnTo>
                  <a:lnTo>
                    <a:pt x="666" y="245"/>
                  </a:lnTo>
                  <a:lnTo>
                    <a:pt x="682" y="246"/>
                  </a:lnTo>
                  <a:lnTo>
                    <a:pt x="687" y="237"/>
                  </a:lnTo>
                  <a:lnTo>
                    <a:pt x="683" y="240"/>
                  </a:lnTo>
                  <a:lnTo>
                    <a:pt x="678" y="236"/>
                  </a:lnTo>
                  <a:lnTo>
                    <a:pt x="674" y="234"/>
                  </a:lnTo>
                  <a:lnTo>
                    <a:pt x="675" y="234"/>
                  </a:lnTo>
                  <a:lnTo>
                    <a:pt x="681" y="235"/>
                  </a:lnTo>
                  <a:lnTo>
                    <a:pt x="686" y="234"/>
                  </a:lnTo>
                  <a:lnTo>
                    <a:pt x="688" y="235"/>
                  </a:lnTo>
                  <a:lnTo>
                    <a:pt x="689" y="224"/>
                  </a:lnTo>
                  <a:lnTo>
                    <a:pt x="690" y="240"/>
                  </a:lnTo>
                  <a:lnTo>
                    <a:pt x="686" y="219"/>
                  </a:lnTo>
                  <a:lnTo>
                    <a:pt x="680" y="218"/>
                  </a:lnTo>
                  <a:lnTo>
                    <a:pt x="675" y="212"/>
                  </a:lnTo>
                  <a:lnTo>
                    <a:pt x="686" y="217"/>
                  </a:lnTo>
                  <a:lnTo>
                    <a:pt x="681" y="209"/>
                  </a:lnTo>
                  <a:lnTo>
                    <a:pt x="687" y="213"/>
                  </a:lnTo>
                  <a:lnTo>
                    <a:pt x="680" y="199"/>
                  </a:lnTo>
                  <a:lnTo>
                    <a:pt x="689" y="205"/>
                  </a:lnTo>
                  <a:lnTo>
                    <a:pt x="682" y="193"/>
                  </a:lnTo>
                  <a:lnTo>
                    <a:pt x="677" y="193"/>
                  </a:lnTo>
                  <a:lnTo>
                    <a:pt x="684" y="186"/>
                  </a:lnTo>
                  <a:lnTo>
                    <a:pt x="682" y="193"/>
                  </a:lnTo>
                  <a:lnTo>
                    <a:pt x="690" y="198"/>
                  </a:lnTo>
                  <a:lnTo>
                    <a:pt x="688" y="188"/>
                  </a:lnTo>
                  <a:lnTo>
                    <a:pt x="692" y="194"/>
                  </a:lnTo>
                  <a:lnTo>
                    <a:pt x="694" y="179"/>
                  </a:lnTo>
                  <a:lnTo>
                    <a:pt x="704" y="175"/>
                  </a:lnTo>
                  <a:lnTo>
                    <a:pt x="698" y="185"/>
                  </a:lnTo>
                  <a:lnTo>
                    <a:pt x="695" y="189"/>
                  </a:lnTo>
                  <a:lnTo>
                    <a:pt x="694" y="194"/>
                  </a:lnTo>
                  <a:lnTo>
                    <a:pt x="699" y="197"/>
                  </a:lnTo>
                  <a:lnTo>
                    <a:pt x="696" y="201"/>
                  </a:lnTo>
                  <a:lnTo>
                    <a:pt x="698" y="205"/>
                  </a:lnTo>
                  <a:lnTo>
                    <a:pt x="694" y="207"/>
                  </a:lnTo>
                  <a:lnTo>
                    <a:pt x="690" y="213"/>
                  </a:lnTo>
                  <a:lnTo>
                    <a:pt x="710" y="193"/>
                  </a:lnTo>
                  <a:lnTo>
                    <a:pt x="708" y="175"/>
                  </a:lnTo>
                  <a:lnTo>
                    <a:pt x="717" y="167"/>
                  </a:lnTo>
                  <a:lnTo>
                    <a:pt x="710" y="171"/>
                  </a:lnTo>
                  <a:lnTo>
                    <a:pt x="716" y="179"/>
                  </a:lnTo>
                  <a:lnTo>
                    <a:pt x="714" y="183"/>
                  </a:lnTo>
                  <a:lnTo>
                    <a:pt x="732" y="167"/>
                  </a:lnTo>
                  <a:lnTo>
                    <a:pt x="732" y="169"/>
                  </a:lnTo>
                  <a:lnTo>
                    <a:pt x="735" y="157"/>
                  </a:lnTo>
                  <a:lnTo>
                    <a:pt x="742" y="144"/>
                  </a:lnTo>
                  <a:lnTo>
                    <a:pt x="741" y="150"/>
                  </a:lnTo>
                  <a:lnTo>
                    <a:pt x="746" y="147"/>
                  </a:lnTo>
                  <a:lnTo>
                    <a:pt x="762" y="144"/>
                  </a:lnTo>
                  <a:lnTo>
                    <a:pt x="778" y="140"/>
                  </a:lnTo>
                  <a:lnTo>
                    <a:pt x="782" y="135"/>
                  </a:lnTo>
                  <a:lnTo>
                    <a:pt x="784" y="135"/>
                  </a:lnTo>
                  <a:lnTo>
                    <a:pt x="790" y="139"/>
                  </a:lnTo>
                  <a:lnTo>
                    <a:pt x="794" y="140"/>
                  </a:lnTo>
                  <a:lnTo>
                    <a:pt x="803" y="135"/>
                  </a:lnTo>
                  <a:lnTo>
                    <a:pt x="802" y="128"/>
                  </a:lnTo>
                  <a:lnTo>
                    <a:pt x="803" y="133"/>
                  </a:lnTo>
                  <a:lnTo>
                    <a:pt x="795" y="129"/>
                  </a:lnTo>
                  <a:lnTo>
                    <a:pt x="796" y="120"/>
                  </a:lnTo>
                  <a:lnTo>
                    <a:pt x="797" y="116"/>
                  </a:lnTo>
                  <a:lnTo>
                    <a:pt x="814" y="98"/>
                  </a:lnTo>
                  <a:lnTo>
                    <a:pt x="819" y="96"/>
                  </a:lnTo>
                  <a:lnTo>
                    <a:pt x="821" y="97"/>
                  </a:lnTo>
                  <a:lnTo>
                    <a:pt x="834" y="85"/>
                  </a:lnTo>
                  <a:lnTo>
                    <a:pt x="834" y="86"/>
                  </a:lnTo>
                  <a:lnTo>
                    <a:pt x="838" y="86"/>
                  </a:lnTo>
                  <a:lnTo>
                    <a:pt x="845" y="87"/>
                  </a:lnTo>
                  <a:lnTo>
                    <a:pt x="863" y="7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2" name="Freeform 431"/>
            <p:cNvSpPr>
              <a:spLocks/>
            </p:cNvSpPr>
            <p:nvPr/>
          </p:nvSpPr>
          <p:spPr bwMode="auto">
            <a:xfrm>
              <a:off x="127" y="1328"/>
              <a:ext cx="611" cy="293"/>
            </a:xfrm>
            <a:custGeom>
              <a:avLst/>
              <a:gdLst/>
              <a:ahLst/>
              <a:cxnLst>
                <a:cxn ang="0">
                  <a:pos x="442" y="229"/>
                </a:cxn>
                <a:cxn ang="0">
                  <a:pos x="426" y="186"/>
                </a:cxn>
                <a:cxn ang="0">
                  <a:pos x="402" y="175"/>
                </a:cxn>
                <a:cxn ang="0">
                  <a:pos x="424" y="135"/>
                </a:cxn>
                <a:cxn ang="0">
                  <a:pos x="507" y="60"/>
                </a:cxn>
                <a:cxn ang="0">
                  <a:pos x="500" y="16"/>
                </a:cxn>
                <a:cxn ang="0">
                  <a:pos x="429" y="6"/>
                </a:cxn>
                <a:cxn ang="0">
                  <a:pos x="413" y="1"/>
                </a:cxn>
                <a:cxn ang="0">
                  <a:pos x="356" y="10"/>
                </a:cxn>
                <a:cxn ang="0">
                  <a:pos x="324" y="16"/>
                </a:cxn>
                <a:cxn ang="0">
                  <a:pos x="230" y="45"/>
                </a:cxn>
                <a:cxn ang="0">
                  <a:pos x="250" y="72"/>
                </a:cxn>
                <a:cxn ang="0">
                  <a:pos x="242" y="76"/>
                </a:cxn>
                <a:cxn ang="0">
                  <a:pos x="222" y="72"/>
                </a:cxn>
                <a:cxn ang="0">
                  <a:pos x="155" y="94"/>
                </a:cxn>
                <a:cxn ang="0">
                  <a:pos x="220" y="97"/>
                </a:cxn>
                <a:cxn ang="0">
                  <a:pos x="180" y="121"/>
                </a:cxn>
                <a:cxn ang="0">
                  <a:pos x="129" y="135"/>
                </a:cxn>
                <a:cxn ang="0">
                  <a:pos x="96" y="148"/>
                </a:cxn>
                <a:cxn ang="0">
                  <a:pos x="108" y="151"/>
                </a:cxn>
                <a:cxn ang="0">
                  <a:pos x="105" y="163"/>
                </a:cxn>
                <a:cxn ang="0">
                  <a:pos x="81" y="169"/>
                </a:cxn>
                <a:cxn ang="0">
                  <a:pos x="110" y="177"/>
                </a:cxn>
                <a:cxn ang="0">
                  <a:pos x="88" y="199"/>
                </a:cxn>
                <a:cxn ang="0">
                  <a:pos x="137" y="193"/>
                </a:cxn>
                <a:cxn ang="0">
                  <a:pos x="159" y="193"/>
                </a:cxn>
                <a:cxn ang="0">
                  <a:pos x="124" y="217"/>
                </a:cxn>
                <a:cxn ang="0">
                  <a:pos x="57" y="246"/>
                </a:cxn>
                <a:cxn ang="0">
                  <a:pos x="38" y="246"/>
                </a:cxn>
                <a:cxn ang="0">
                  <a:pos x="14" y="258"/>
                </a:cxn>
                <a:cxn ang="0">
                  <a:pos x="34" y="252"/>
                </a:cxn>
                <a:cxn ang="0">
                  <a:pos x="81" y="244"/>
                </a:cxn>
                <a:cxn ang="0">
                  <a:pos x="168" y="210"/>
                </a:cxn>
                <a:cxn ang="0">
                  <a:pos x="228" y="179"/>
                </a:cxn>
                <a:cxn ang="0">
                  <a:pos x="297" y="153"/>
                </a:cxn>
                <a:cxn ang="0">
                  <a:pos x="258" y="166"/>
                </a:cxn>
                <a:cxn ang="0">
                  <a:pos x="238" y="190"/>
                </a:cxn>
                <a:cxn ang="0">
                  <a:pos x="261" y="183"/>
                </a:cxn>
                <a:cxn ang="0">
                  <a:pos x="280" y="178"/>
                </a:cxn>
                <a:cxn ang="0">
                  <a:pos x="294" y="165"/>
                </a:cxn>
                <a:cxn ang="0">
                  <a:pos x="312" y="161"/>
                </a:cxn>
                <a:cxn ang="0">
                  <a:pos x="324" y="163"/>
                </a:cxn>
                <a:cxn ang="0">
                  <a:pos x="323" y="169"/>
                </a:cxn>
                <a:cxn ang="0">
                  <a:pos x="340" y="174"/>
                </a:cxn>
                <a:cxn ang="0">
                  <a:pos x="393" y="178"/>
                </a:cxn>
                <a:cxn ang="0">
                  <a:pos x="389" y="184"/>
                </a:cxn>
                <a:cxn ang="0">
                  <a:pos x="411" y="195"/>
                </a:cxn>
                <a:cxn ang="0">
                  <a:pos x="420" y="201"/>
                </a:cxn>
                <a:cxn ang="0">
                  <a:pos x="434" y="199"/>
                </a:cxn>
                <a:cxn ang="0">
                  <a:pos x="436" y="211"/>
                </a:cxn>
                <a:cxn ang="0">
                  <a:pos x="435" y="215"/>
                </a:cxn>
                <a:cxn ang="0">
                  <a:pos x="435" y="232"/>
                </a:cxn>
                <a:cxn ang="0">
                  <a:pos x="428" y="249"/>
                </a:cxn>
                <a:cxn ang="0">
                  <a:pos x="441" y="255"/>
                </a:cxn>
              </a:cxnLst>
              <a:rect l="0" t="0" r="r" b="b"/>
              <a:pathLst>
                <a:path w="550" h="264">
                  <a:moveTo>
                    <a:pt x="447" y="256"/>
                  </a:moveTo>
                  <a:lnTo>
                    <a:pt x="455" y="245"/>
                  </a:lnTo>
                  <a:lnTo>
                    <a:pt x="449" y="238"/>
                  </a:lnTo>
                  <a:lnTo>
                    <a:pt x="442" y="229"/>
                  </a:lnTo>
                  <a:lnTo>
                    <a:pt x="446" y="214"/>
                  </a:lnTo>
                  <a:lnTo>
                    <a:pt x="449" y="198"/>
                  </a:lnTo>
                  <a:lnTo>
                    <a:pt x="444" y="180"/>
                  </a:lnTo>
                  <a:lnTo>
                    <a:pt x="426" y="186"/>
                  </a:lnTo>
                  <a:lnTo>
                    <a:pt x="417" y="191"/>
                  </a:lnTo>
                  <a:lnTo>
                    <a:pt x="405" y="196"/>
                  </a:lnTo>
                  <a:lnTo>
                    <a:pt x="405" y="179"/>
                  </a:lnTo>
                  <a:lnTo>
                    <a:pt x="402" y="175"/>
                  </a:lnTo>
                  <a:lnTo>
                    <a:pt x="408" y="172"/>
                  </a:lnTo>
                  <a:lnTo>
                    <a:pt x="383" y="172"/>
                  </a:lnTo>
                  <a:lnTo>
                    <a:pt x="404" y="154"/>
                  </a:lnTo>
                  <a:lnTo>
                    <a:pt x="424" y="135"/>
                  </a:lnTo>
                  <a:lnTo>
                    <a:pt x="444" y="115"/>
                  </a:lnTo>
                  <a:lnTo>
                    <a:pt x="464" y="96"/>
                  </a:lnTo>
                  <a:lnTo>
                    <a:pt x="485" y="78"/>
                  </a:lnTo>
                  <a:lnTo>
                    <a:pt x="507" y="60"/>
                  </a:lnTo>
                  <a:lnTo>
                    <a:pt x="528" y="42"/>
                  </a:lnTo>
                  <a:lnTo>
                    <a:pt x="550" y="24"/>
                  </a:lnTo>
                  <a:lnTo>
                    <a:pt x="524" y="18"/>
                  </a:lnTo>
                  <a:lnTo>
                    <a:pt x="500" y="16"/>
                  </a:lnTo>
                  <a:lnTo>
                    <a:pt x="474" y="13"/>
                  </a:lnTo>
                  <a:lnTo>
                    <a:pt x="443" y="11"/>
                  </a:lnTo>
                  <a:lnTo>
                    <a:pt x="441" y="9"/>
                  </a:lnTo>
                  <a:lnTo>
                    <a:pt x="429" y="6"/>
                  </a:lnTo>
                  <a:lnTo>
                    <a:pt x="422" y="6"/>
                  </a:lnTo>
                  <a:lnTo>
                    <a:pt x="418" y="4"/>
                  </a:lnTo>
                  <a:lnTo>
                    <a:pt x="406" y="6"/>
                  </a:lnTo>
                  <a:lnTo>
                    <a:pt x="413" y="1"/>
                  </a:lnTo>
                  <a:lnTo>
                    <a:pt x="406" y="0"/>
                  </a:lnTo>
                  <a:lnTo>
                    <a:pt x="372" y="7"/>
                  </a:lnTo>
                  <a:lnTo>
                    <a:pt x="366" y="7"/>
                  </a:lnTo>
                  <a:lnTo>
                    <a:pt x="356" y="10"/>
                  </a:lnTo>
                  <a:lnTo>
                    <a:pt x="354" y="12"/>
                  </a:lnTo>
                  <a:lnTo>
                    <a:pt x="347" y="16"/>
                  </a:lnTo>
                  <a:lnTo>
                    <a:pt x="352" y="11"/>
                  </a:lnTo>
                  <a:lnTo>
                    <a:pt x="324" y="16"/>
                  </a:lnTo>
                  <a:lnTo>
                    <a:pt x="296" y="25"/>
                  </a:lnTo>
                  <a:lnTo>
                    <a:pt x="268" y="36"/>
                  </a:lnTo>
                  <a:lnTo>
                    <a:pt x="244" y="36"/>
                  </a:lnTo>
                  <a:lnTo>
                    <a:pt x="230" y="45"/>
                  </a:lnTo>
                  <a:lnTo>
                    <a:pt x="240" y="60"/>
                  </a:lnTo>
                  <a:lnTo>
                    <a:pt x="236" y="64"/>
                  </a:lnTo>
                  <a:lnTo>
                    <a:pt x="255" y="66"/>
                  </a:lnTo>
                  <a:lnTo>
                    <a:pt x="250" y="72"/>
                  </a:lnTo>
                  <a:lnTo>
                    <a:pt x="264" y="73"/>
                  </a:lnTo>
                  <a:lnTo>
                    <a:pt x="245" y="72"/>
                  </a:lnTo>
                  <a:lnTo>
                    <a:pt x="244" y="67"/>
                  </a:lnTo>
                  <a:lnTo>
                    <a:pt x="242" y="76"/>
                  </a:lnTo>
                  <a:lnTo>
                    <a:pt x="246" y="79"/>
                  </a:lnTo>
                  <a:lnTo>
                    <a:pt x="238" y="79"/>
                  </a:lnTo>
                  <a:lnTo>
                    <a:pt x="210" y="78"/>
                  </a:lnTo>
                  <a:lnTo>
                    <a:pt x="222" y="72"/>
                  </a:lnTo>
                  <a:lnTo>
                    <a:pt x="191" y="77"/>
                  </a:lnTo>
                  <a:lnTo>
                    <a:pt x="152" y="88"/>
                  </a:lnTo>
                  <a:lnTo>
                    <a:pt x="165" y="93"/>
                  </a:lnTo>
                  <a:lnTo>
                    <a:pt x="155" y="94"/>
                  </a:lnTo>
                  <a:lnTo>
                    <a:pt x="153" y="103"/>
                  </a:lnTo>
                  <a:lnTo>
                    <a:pt x="186" y="103"/>
                  </a:lnTo>
                  <a:lnTo>
                    <a:pt x="191" y="106"/>
                  </a:lnTo>
                  <a:lnTo>
                    <a:pt x="220" y="97"/>
                  </a:lnTo>
                  <a:lnTo>
                    <a:pt x="214" y="105"/>
                  </a:lnTo>
                  <a:lnTo>
                    <a:pt x="208" y="106"/>
                  </a:lnTo>
                  <a:lnTo>
                    <a:pt x="202" y="115"/>
                  </a:lnTo>
                  <a:lnTo>
                    <a:pt x="180" y="121"/>
                  </a:lnTo>
                  <a:lnTo>
                    <a:pt x="149" y="129"/>
                  </a:lnTo>
                  <a:lnTo>
                    <a:pt x="155" y="125"/>
                  </a:lnTo>
                  <a:lnTo>
                    <a:pt x="143" y="127"/>
                  </a:lnTo>
                  <a:lnTo>
                    <a:pt x="129" y="135"/>
                  </a:lnTo>
                  <a:lnTo>
                    <a:pt x="131" y="135"/>
                  </a:lnTo>
                  <a:lnTo>
                    <a:pt x="125" y="137"/>
                  </a:lnTo>
                  <a:lnTo>
                    <a:pt x="104" y="147"/>
                  </a:lnTo>
                  <a:lnTo>
                    <a:pt x="96" y="148"/>
                  </a:lnTo>
                  <a:lnTo>
                    <a:pt x="99" y="150"/>
                  </a:lnTo>
                  <a:lnTo>
                    <a:pt x="90" y="153"/>
                  </a:lnTo>
                  <a:lnTo>
                    <a:pt x="93" y="157"/>
                  </a:lnTo>
                  <a:lnTo>
                    <a:pt x="108" y="151"/>
                  </a:lnTo>
                  <a:lnTo>
                    <a:pt x="94" y="159"/>
                  </a:lnTo>
                  <a:lnTo>
                    <a:pt x="95" y="161"/>
                  </a:lnTo>
                  <a:lnTo>
                    <a:pt x="110" y="162"/>
                  </a:lnTo>
                  <a:lnTo>
                    <a:pt x="105" y="163"/>
                  </a:lnTo>
                  <a:lnTo>
                    <a:pt x="107" y="166"/>
                  </a:lnTo>
                  <a:lnTo>
                    <a:pt x="98" y="166"/>
                  </a:lnTo>
                  <a:lnTo>
                    <a:pt x="92" y="163"/>
                  </a:lnTo>
                  <a:lnTo>
                    <a:pt x="81" y="169"/>
                  </a:lnTo>
                  <a:lnTo>
                    <a:pt x="87" y="180"/>
                  </a:lnTo>
                  <a:lnTo>
                    <a:pt x="110" y="174"/>
                  </a:lnTo>
                  <a:lnTo>
                    <a:pt x="124" y="167"/>
                  </a:lnTo>
                  <a:lnTo>
                    <a:pt x="110" y="177"/>
                  </a:lnTo>
                  <a:lnTo>
                    <a:pt x="100" y="187"/>
                  </a:lnTo>
                  <a:lnTo>
                    <a:pt x="96" y="192"/>
                  </a:lnTo>
                  <a:lnTo>
                    <a:pt x="96" y="193"/>
                  </a:lnTo>
                  <a:lnTo>
                    <a:pt x="88" y="199"/>
                  </a:lnTo>
                  <a:lnTo>
                    <a:pt x="114" y="195"/>
                  </a:lnTo>
                  <a:lnTo>
                    <a:pt x="122" y="196"/>
                  </a:lnTo>
                  <a:lnTo>
                    <a:pt x="122" y="204"/>
                  </a:lnTo>
                  <a:lnTo>
                    <a:pt x="137" y="193"/>
                  </a:lnTo>
                  <a:lnTo>
                    <a:pt x="142" y="193"/>
                  </a:lnTo>
                  <a:lnTo>
                    <a:pt x="132" y="197"/>
                  </a:lnTo>
                  <a:lnTo>
                    <a:pt x="135" y="201"/>
                  </a:lnTo>
                  <a:lnTo>
                    <a:pt x="159" y="193"/>
                  </a:lnTo>
                  <a:lnTo>
                    <a:pt x="136" y="207"/>
                  </a:lnTo>
                  <a:lnTo>
                    <a:pt x="140" y="207"/>
                  </a:lnTo>
                  <a:lnTo>
                    <a:pt x="137" y="207"/>
                  </a:lnTo>
                  <a:lnTo>
                    <a:pt x="124" y="217"/>
                  </a:lnTo>
                  <a:lnTo>
                    <a:pt x="117" y="219"/>
                  </a:lnTo>
                  <a:lnTo>
                    <a:pt x="95" y="231"/>
                  </a:lnTo>
                  <a:lnTo>
                    <a:pt x="60" y="241"/>
                  </a:lnTo>
                  <a:lnTo>
                    <a:pt x="57" y="246"/>
                  </a:lnTo>
                  <a:lnTo>
                    <a:pt x="51" y="246"/>
                  </a:lnTo>
                  <a:lnTo>
                    <a:pt x="48" y="249"/>
                  </a:lnTo>
                  <a:lnTo>
                    <a:pt x="48" y="246"/>
                  </a:lnTo>
                  <a:lnTo>
                    <a:pt x="38" y="246"/>
                  </a:lnTo>
                  <a:lnTo>
                    <a:pt x="0" y="262"/>
                  </a:lnTo>
                  <a:lnTo>
                    <a:pt x="3" y="261"/>
                  </a:lnTo>
                  <a:lnTo>
                    <a:pt x="5" y="262"/>
                  </a:lnTo>
                  <a:lnTo>
                    <a:pt x="14" y="258"/>
                  </a:lnTo>
                  <a:lnTo>
                    <a:pt x="15" y="259"/>
                  </a:lnTo>
                  <a:lnTo>
                    <a:pt x="32" y="252"/>
                  </a:lnTo>
                  <a:lnTo>
                    <a:pt x="39" y="252"/>
                  </a:lnTo>
                  <a:lnTo>
                    <a:pt x="34" y="252"/>
                  </a:lnTo>
                  <a:lnTo>
                    <a:pt x="51" y="250"/>
                  </a:lnTo>
                  <a:lnTo>
                    <a:pt x="62" y="249"/>
                  </a:lnTo>
                  <a:lnTo>
                    <a:pt x="65" y="247"/>
                  </a:lnTo>
                  <a:lnTo>
                    <a:pt x="81" y="244"/>
                  </a:lnTo>
                  <a:lnTo>
                    <a:pt x="86" y="243"/>
                  </a:lnTo>
                  <a:lnTo>
                    <a:pt x="89" y="239"/>
                  </a:lnTo>
                  <a:lnTo>
                    <a:pt x="131" y="223"/>
                  </a:lnTo>
                  <a:lnTo>
                    <a:pt x="168" y="210"/>
                  </a:lnTo>
                  <a:lnTo>
                    <a:pt x="201" y="196"/>
                  </a:lnTo>
                  <a:lnTo>
                    <a:pt x="194" y="192"/>
                  </a:lnTo>
                  <a:lnTo>
                    <a:pt x="222" y="180"/>
                  </a:lnTo>
                  <a:lnTo>
                    <a:pt x="228" y="179"/>
                  </a:lnTo>
                  <a:lnTo>
                    <a:pt x="232" y="173"/>
                  </a:lnTo>
                  <a:lnTo>
                    <a:pt x="256" y="163"/>
                  </a:lnTo>
                  <a:lnTo>
                    <a:pt x="280" y="156"/>
                  </a:lnTo>
                  <a:lnTo>
                    <a:pt x="297" y="153"/>
                  </a:lnTo>
                  <a:lnTo>
                    <a:pt x="286" y="157"/>
                  </a:lnTo>
                  <a:lnTo>
                    <a:pt x="290" y="162"/>
                  </a:lnTo>
                  <a:lnTo>
                    <a:pt x="284" y="161"/>
                  </a:lnTo>
                  <a:lnTo>
                    <a:pt x="258" y="166"/>
                  </a:lnTo>
                  <a:lnTo>
                    <a:pt x="236" y="183"/>
                  </a:lnTo>
                  <a:lnTo>
                    <a:pt x="248" y="180"/>
                  </a:lnTo>
                  <a:lnTo>
                    <a:pt x="230" y="187"/>
                  </a:lnTo>
                  <a:lnTo>
                    <a:pt x="238" y="190"/>
                  </a:lnTo>
                  <a:lnTo>
                    <a:pt x="256" y="181"/>
                  </a:lnTo>
                  <a:lnTo>
                    <a:pt x="251" y="185"/>
                  </a:lnTo>
                  <a:lnTo>
                    <a:pt x="257" y="183"/>
                  </a:lnTo>
                  <a:lnTo>
                    <a:pt x="261" y="183"/>
                  </a:lnTo>
                  <a:lnTo>
                    <a:pt x="263" y="179"/>
                  </a:lnTo>
                  <a:lnTo>
                    <a:pt x="264" y="181"/>
                  </a:lnTo>
                  <a:lnTo>
                    <a:pt x="272" y="177"/>
                  </a:lnTo>
                  <a:lnTo>
                    <a:pt x="280" y="178"/>
                  </a:lnTo>
                  <a:lnTo>
                    <a:pt x="296" y="171"/>
                  </a:lnTo>
                  <a:lnTo>
                    <a:pt x="293" y="169"/>
                  </a:lnTo>
                  <a:lnTo>
                    <a:pt x="298" y="167"/>
                  </a:lnTo>
                  <a:lnTo>
                    <a:pt x="294" y="165"/>
                  </a:lnTo>
                  <a:lnTo>
                    <a:pt x="303" y="162"/>
                  </a:lnTo>
                  <a:lnTo>
                    <a:pt x="316" y="156"/>
                  </a:lnTo>
                  <a:lnTo>
                    <a:pt x="305" y="162"/>
                  </a:lnTo>
                  <a:lnTo>
                    <a:pt x="312" y="161"/>
                  </a:lnTo>
                  <a:lnTo>
                    <a:pt x="311" y="162"/>
                  </a:lnTo>
                  <a:lnTo>
                    <a:pt x="330" y="159"/>
                  </a:lnTo>
                  <a:lnTo>
                    <a:pt x="326" y="160"/>
                  </a:lnTo>
                  <a:lnTo>
                    <a:pt x="324" y="163"/>
                  </a:lnTo>
                  <a:lnTo>
                    <a:pt x="321" y="165"/>
                  </a:lnTo>
                  <a:lnTo>
                    <a:pt x="327" y="165"/>
                  </a:lnTo>
                  <a:lnTo>
                    <a:pt x="328" y="166"/>
                  </a:lnTo>
                  <a:lnTo>
                    <a:pt x="323" y="169"/>
                  </a:lnTo>
                  <a:lnTo>
                    <a:pt x="328" y="172"/>
                  </a:lnTo>
                  <a:lnTo>
                    <a:pt x="341" y="167"/>
                  </a:lnTo>
                  <a:lnTo>
                    <a:pt x="336" y="171"/>
                  </a:lnTo>
                  <a:lnTo>
                    <a:pt x="340" y="174"/>
                  </a:lnTo>
                  <a:lnTo>
                    <a:pt x="357" y="175"/>
                  </a:lnTo>
                  <a:lnTo>
                    <a:pt x="375" y="177"/>
                  </a:lnTo>
                  <a:lnTo>
                    <a:pt x="375" y="181"/>
                  </a:lnTo>
                  <a:lnTo>
                    <a:pt x="393" y="178"/>
                  </a:lnTo>
                  <a:lnTo>
                    <a:pt x="400" y="180"/>
                  </a:lnTo>
                  <a:lnTo>
                    <a:pt x="394" y="183"/>
                  </a:lnTo>
                  <a:lnTo>
                    <a:pt x="398" y="178"/>
                  </a:lnTo>
                  <a:lnTo>
                    <a:pt x="389" y="184"/>
                  </a:lnTo>
                  <a:lnTo>
                    <a:pt x="398" y="195"/>
                  </a:lnTo>
                  <a:lnTo>
                    <a:pt x="407" y="205"/>
                  </a:lnTo>
                  <a:lnTo>
                    <a:pt x="413" y="205"/>
                  </a:lnTo>
                  <a:lnTo>
                    <a:pt x="411" y="195"/>
                  </a:lnTo>
                  <a:lnTo>
                    <a:pt x="417" y="197"/>
                  </a:lnTo>
                  <a:lnTo>
                    <a:pt x="423" y="195"/>
                  </a:lnTo>
                  <a:lnTo>
                    <a:pt x="424" y="196"/>
                  </a:lnTo>
                  <a:lnTo>
                    <a:pt x="420" y="201"/>
                  </a:lnTo>
                  <a:lnTo>
                    <a:pt x="420" y="203"/>
                  </a:lnTo>
                  <a:lnTo>
                    <a:pt x="422" y="207"/>
                  </a:lnTo>
                  <a:lnTo>
                    <a:pt x="436" y="190"/>
                  </a:lnTo>
                  <a:lnTo>
                    <a:pt x="434" y="199"/>
                  </a:lnTo>
                  <a:lnTo>
                    <a:pt x="436" y="207"/>
                  </a:lnTo>
                  <a:lnTo>
                    <a:pt x="440" y="205"/>
                  </a:lnTo>
                  <a:lnTo>
                    <a:pt x="441" y="209"/>
                  </a:lnTo>
                  <a:lnTo>
                    <a:pt x="436" y="211"/>
                  </a:lnTo>
                  <a:lnTo>
                    <a:pt x="444" y="213"/>
                  </a:lnTo>
                  <a:lnTo>
                    <a:pt x="440" y="213"/>
                  </a:lnTo>
                  <a:lnTo>
                    <a:pt x="440" y="217"/>
                  </a:lnTo>
                  <a:lnTo>
                    <a:pt x="435" y="215"/>
                  </a:lnTo>
                  <a:lnTo>
                    <a:pt x="436" y="221"/>
                  </a:lnTo>
                  <a:lnTo>
                    <a:pt x="431" y="222"/>
                  </a:lnTo>
                  <a:lnTo>
                    <a:pt x="432" y="225"/>
                  </a:lnTo>
                  <a:lnTo>
                    <a:pt x="435" y="232"/>
                  </a:lnTo>
                  <a:lnTo>
                    <a:pt x="441" y="240"/>
                  </a:lnTo>
                  <a:lnTo>
                    <a:pt x="435" y="240"/>
                  </a:lnTo>
                  <a:lnTo>
                    <a:pt x="422" y="251"/>
                  </a:lnTo>
                  <a:lnTo>
                    <a:pt x="428" y="249"/>
                  </a:lnTo>
                  <a:lnTo>
                    <a:pt x="446" y="243"/>
                  </a:lnTo>
                  <a:lnTo>
                    <a:pt x="435" y="256"/>
                  </a:lnTo>
                  <a:lnTo>
                    <a:pt x="430" y="257"/>
                  </a:lnTo>
                  <a:lnTo>
                    <a:pt x="441" y="255"/>
                  </a:lnTo>
                  <a:lnTo>
                    <a:pt x="434" y="259"/>
                  </a:lnTo>
                  <a:lnTo>
                    <a:pt x="430" y="264"/>
                  </a:lnTo>
                  <a:lnTo>
                    <a:pt x="447" y="2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3" name="Freeform 432"/>
            <p:cNvSpPr>
              <a:spLocks/>
            </p:cNvSpPr>
            <p:nvPr/>
          </p:nvSpPr>
          <p:spPr bwMode="auto">
            <a:xfrm>
              <a:off x="300" y="1561"/>
              <a:ext cx="43" cy="22"/>
            </a:xfrm>
            <a:custGeom>
              <a:avLst/>
              <a:gdLst/>
              <a:ahLst/>
              <a:cxnLst>
                <a:cxn ang="0">
                  <a:pos x="40" y="6"/>
                </a:cxn>
                <a:cxn ang="0">
                  <a:pos x="36" y="5"/>
                </a:cxn>
                <a:cxn ang="0">
                  <a:pos x="37" y="3"/>
                </a:cxn>
                <a:cxn ang="0">
                  <a:pos x="35" y="3"/>
                </a:cxn>
                <a:cxn ang="0">
                  <a:pos x="31" y="0"/>
                </a:cxn>
                <a:cxn ang="0">
                  <a:pos x="29" y="4"/>
                </a:cxn>
                <a:cxn ang="0">
                  <a:pos x="24" y="4"/>
                </a:cxn>
                <a:cxn ang="0">
                  <a:pos x="18" y="5"/>
                </a:cxn>
                <a:cxn ang="0">
                  <a:pos x="13" y="12"/>
                </a:cxn>
                <a:cxn ang="0">
                  <a:pos x="12" y="6"/>
                </a:cxn>
                <a:cxn ang="0">
                  <a:pos x="1" y="12"/>
                </a:cxn>
                <a:cxn ang="0">
                  <a:pos x="1" y="18"/>
                </a:cxn>
                <a:cxn ang="0">
                  <a:pos x="3" y="16"/>
                </a:cxn>
                <a:cxn ang="0">
                  <a:pos x="7" y="16"/>
                </a:cxn>
                <a:cxn ang="0">
                  <a:pos x="0" y="22"/>
                </a:cxn>
                <a:cxn ang="0">
                  <a:pos x="9" y="16"/>
                </a:cxn>
                <a:cxn ang="0">
                  <a:pos x="25" y="11"/>
                </a:cxn>
                <a:cxn ang="0">
                  <a:pos x="28" y="10"/>
                </a:cxn>
                <a:cxn ang="0">
                  <a:pos x="40" y="6"/>
                </a:cxn>
              </a:cxnLst>
              <a:rect l="0" t="0" r="r" b="b"/>
              <a:pathLst>
                <a:path w="40" h="22">
                  <a:moveTo>
                    <a:pt x="40" y="6"/>
                  </a:moveTo>
                  <a:lnTo>
                    <a:pt x="36" y="5"/>
                  </a:lnTo>
                  <a:lnTo>
                    <a:pt x="37" y="3"/>
                  </a:lnTo>
                  <a:lnTo>
                    <a:pt x="35" y="3"/>
                  </a:lnTo>
                  <a:lnTo>
                    <a:pt x="31" y="0"/>
                  </a:lnTo>
                  <a:lnTo>
                    <a:pt x="29" y="4"/>
                  </a:lnTo>
                  <a:lnTo>
                    <a:pt x="24" y="4"/>
                  </a:lnTo>
                  <a:lnTo>
                    <a:pt x="18" y="5"/>
                  </a:lnTo>
                  <a:lnTo>
                    <a:pt x="13" y="12"/>
                  </a:lnTo>
                  <a:lnTo>
                    <a:pt x="12" y="6"/>
                  </a:lnTo>
                  <a:lnTo>
                    <a:pt x="1" y="12"/>
                  </a:lnTo>
                  <a:lnTo>
                    <a:pt x="1" y="18"/>
                  </a:lnTo>
                  <a:lnTo>
                    <a:pt x="3" y="16"/>
                  </a:lnTo>
                  <a:lnTo>
                    <a:pt x="7" y="16"/>
                  </a:lnTo>
                  <a:lnTo>
                    <a:pt x="0" y="22"/>
                  </a:lnTo>
                  <a:lnTo>
                    <a:pt x="9" y="16"/>
                  </a:lnTo>
                  <a:lnTo>
                    <a:pt x="25" y="11"/>
                  </a:lnTo>
                  <a:lnTo>
                    <a:pt x="28" y="10"/>
                  </a:lnTo>
                  <a:lnTo>
                    <a:pt x="4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4" name="Freeform 433"/>
            <p:cNvSpPr>
              <a:spLocks/>
            </p:cNvSpPr>
            <p:nvPr/>
          </p:nvSpPr>
          <p:spPr bwMode="auto">
            <a:xfrm>
              <a:off x="196" y="1456"/>
              <a:ext cx="38" cy="14"/>
            </a:xfrm>
            <a:custGeom>
              <a:avLst/>
              <a:gdLst/>
              <a:ahLst/>
              <a:cxnLst>
                <a:cxn ang="0">
                  <a:pos x="33" y="6"/>
                </a:cxn>
                <a:cxn ang="0">
                  <a:pos x="16" y="11"/>
                </a:cxn>
                <a:cxn ang="0">
                  <a:pos x="10" y="3"/>
                </a:cxn>
                <a:cxn ang="0">
                  <a:pos x="13" y="7"/>
                </a:cxn>
                <a:cxn ang="0">
                  <a:pos x="0" y="6"/>
                </a:cxn>
                <a:cxn ang="0">
                  <a:pos x="4" y="0"/>
                </a:cxn>
                <a:cxn ang="0">
                  <a:pos x="18" y="0"/>
                </a:cxn>
                <a:cxn ang="0">
                  <a:pos x="33" y="6"/>
                </a:cxn>
              </a:cxnLst>
              <a:rect l="0" t="0" r="r" b="b"/>
              <a:pathLst>
                <a:path w="33" h="11">
                  <a:moveTo>
                    <a:pt x="33" y="6"/>
                  </a:moveTo>
                  <a:lnTo>
                    <a:pt x="16" y="11"/>
                  </a:lnTo>
                  <a:lnTo>
                    <a:pt x="10" y="3"/>
                  </a:lnTo>
                  <a:lnTo>
                    <a:pt x="13" y="7"/>
                  </a:lnTo>
                  <a:lnTo>
                    <a:pt x="0" y="6"/>
                  </a:lnTo>
                  <a:lnTo>
                    <a:pt x="4" y="0"/>
                  </a:lnTo>
                  <a:lnTo>
                    <a:pt x="18" y="0"/>
                  </a:lnTo>
                  <a:lnTo>
                    <a:pt x="33"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5" name="Freeform 434"/>
            <p:cNvSpPr>
              <a:spLocks/>
            </p:cNvSpPr>
            <p:nvPr/>
          </p:nvSpPr>
          <p:spPr bwMode="auto">
            <a:xfrm>
              <a:off x="576" y="1590"/>
              <a:ext cx="18" cy="33"/>
            </a:xfrm>
            <a:custGeom>
              <a:avLst/>
              <a:gdLst/>
              <a:ahLst/>
              <a:cxnLst>
                <a:cxn ang="0">
                  <a:pos x="9" y="26"/>
                </a:cxn>
                <a:cxn ang="0">
                  <a:pos x="7" y="29"/>
                </a:cxn>
                <a:cxn ang="0">
                  <a:pos x="6" y="21"/>
                </a:cxn>
                <a:cxn ang="0">
                  <a:pos x="0" y="18"/>
                </a:cxn>
                <a:cxn ang="0">
                  <a:pos x="6" y="17"/>
                </a:cxn>
                <a:cxn ang="0">
                  <a:pos x="9" y="12"/>
                </a:cxn>
                <a:cxn ang="0">
                  <a:pos x="3" y="13"/>
                </a:cxn>
                <a:cxn ang="0">
                  <a:pos x="10" y="8"/>
                </a:cxn>
                <a:cxn ang="0">
                  <a:pos x="9" y="2"/>
                </a:cxn>
                <a:cxn ang="0">
                  <a:pos x="14" y="0"/>
                </a:cxn>
                <a:cxn ang="0">
                  <a:pos x="16" y="14"/>
                </a:cxn>
                <a:cxn ang="0">
                  <a:pos x="14" y="12"/>
                </a:cxn>
                <a:cxn ang="0">
                  <a:pos x="13" y="15"/>
                </a:cxn>
                <a:cxn ang="0">
                  <a:pos x="9" y="26"/>
                </a:cxn>
              </a:cxnLst>
              <a:rect l="0" t="0" r="r" b="b"/>
              <a:pathLst>
                <a:path w="16" h="29">
                  <a:moveTo>
                    <a:pt x="9" y="26"/>
                  </a:moveTo>
                  <a:lnTo>
                    <a:pt x="7" y="29"/>
                  </a:lnTo>
                  <a:lnTo>
                    <a:pt x="6" y="21"/>
                  </a:lnTo>
                  <a:lnTo>
                    <a:pt x="0" y="18"/>
                  </a:lnTo>
                  <a:lnTo>
                    <a:pt x="6" y="17"/>
                  </a:lnTo>
                  <a:lnTo>
                    <a:pt x="9" y="12"/>
                  </a:lnTo>
                  <a:lnTo>
                    <a:pt x="3" y="13"/>
                  </a:lnTo>
                  <a:lnTo>
                    <a:pt x="10" y="8"/>
                  </a:lnTo>
                  <a:lnTo>
                    <a:pt x="9" y="2"/>
                  </a:lnTo>
                  <a:lnTo>
                    <a:pt x="14" y="0"/>
                  </a:lnTo>
                  <a:lnTo>
                    <a:pt x="16" y="14"/>
                  </a:lnTo>
                  <a:lnTo>
                    <a:pt x="14" y="12"/>
                  </a:lnTo>
                  <a:lnTo>
                    <a:pt x="13" y="15"/>
                  </a:lnTo>
                  <a:lnTo>
                    <a:pt x="9" y="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6" name="Freeform 435"/>
            <p:cNvSpPr>
              <a:spLocks/>
            </p:cNvSpPr>
            <p:nvPr/>
          </p:nvSpPr>
          <p:spPr bwMode="auto">
            <a:xfrm>
              <a:off x="587" y="1556"/>
              <a:ext cx="20" cy="23"/>
            </a:xfrm>
            <a:custGeom>
              <a:avLst/>
              <a:gdLst/>
              <a:ahLst/>
              <a:cxnLst>
                <a:cxn ang="0">
                  <a:pos x="17" y="10"/>
                </a:cxn>
                <a:cxn ang="0">
                  <a:pos x="12" y="12"/>
                </a:cxn>
                <a:cxn ang="0">
                  <a:pos x="0" y="20"/>
                </a:cxn>
                <a:cxn ang="0">
                  <a:pos x="3" y="15"/>
                </a:cxn>
                <a:cxn ang="0">
                  <a:pos x="14" y="0"/>
                </a:cxn>
                <a:cxn ang="0">
                  <a:pos x="18" y="1"/>
                </a:cxn>
                <a:cxn ang="0">
                  <a:pos x="17" y="10"/>
                </a:cxn>
              </a:cxnLst>
              <a:rect l="0" t="0" r="r" b="b"/>
              <a:pathLst>
                <a:path w="18" h="20">
                  <a:moveTo>
                    <a:pt x="17" y="10"/>
                  </a:moveTo>
                  <a:lnTo>
                    <a:pt x="12" y="12"/>
                  </a:lnTo>
                  <a:lnTo>
                    <a:pt x="0" y="20"/>
                  </a:lnTo>
                  <a:lnTo>
                    <a:pt x="3" y="15"/>
                  </a:lnTo>
                  <a:lnTo>
                    <a:pt x="14" y="0"/>
                  </a:lnTo>
                  <a:lnTo>
                    <a:pt x="18" y="1"/>
                  </a:lnTo>
                  <a:lnTo>
                    <a:pt x="17"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7" name="Freeform 436"/>
            <p:cNvSpPr>
              <a:spLocks/>
            </p:cNvSpPr>
            <p:nvPr/>
          </p:nvSpPr>
          <p:spPr bwMode="auto">
            <a:xfrm>
              <a:off x="96" y="1616"/>
              <a:ext cx="29" cy="9"/>
            </a:xfrm>
            <a:custGeom>
              <a:avLst/>
              <a:gdLst/>
              <a:ahLst/>
              <a:cxnLst>
                <a:cxn ang="0">
                  <a:pos x="26" y="6"/>
                </a:cxn>
                <a:cxn ang="0">
                  <a:pos x="21" y="0"/>
                </a:cxn>
                <a:cxn ang="0">
                  <a:pos x="0" y="7"/>
                </a:cxn>
                <a:cxn ang="0">
                  <a:pos x="6" y="8"/>
                </a:cxn>
                <a:cxn ang="0">
                  <a:pos x="26" y="6"/>
                </a:cxn>
              </a:cxnLst>
              <a:rect l="0" t="0" r="r" b="b"/>
              <a:pathLst>
                <a:path w="26" h="8">
                  <a:moveTo>
                    <a:pt x="26" y="6"/>
                  </a:moveTo>
                  <a:lnTo>
                    <a:pt x="21" y="0"/>
                  </a:lnTo>
                  <a:lnTo>
                    <a:pt x="0" y="7"/>
                  </a:lnTo>
                  <a:lnTo>
                    <a:pt x="6" y="8"/>
                  </a:lnTo>
                  <a:lnTo>
                    <a:pt x="2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8" name="Freeform 437"/>
            <p:cNvSpPr>
              <a:spLocks/>
            </p:cNvSpPr>
            <p:nvPr/>
          </p:nvSpPr>
          <p:spPr bwMode="auto">
            <a:xfrm>
              <a:off x="180" y="1516"/>
              <a:ext cx="20" cy="9"/>
            </a:xfrm>
            <a:custGeom>
              <a:avLst/>
              <a:gdLst/>
              <a:ahLst/>
              <a:cxnLst>
                <a:cxn ang="0">
                  <a:pos x="19" y="7"/>
                </a:cxn>
                <a:cxn ang="0">
                  <a:pos x="12" y="8"/>
                </a:cxn>
                <a:cxn ang="0">
                  <a:pos x="0" y="4"/>
                </a:cxn>
                <a:cxn ang="0">
                  <a:pos x="19" y="0"/>
                </a:cxn>
                <a:cxn ang="0">
                  <a:pos x="19" y="7"/>
                </a:cxn>
              </a:cxnLst>
              <a:rect l="0" t="0" r="r" b="b"/>
              <a:pathLst>
                <a:path w="19" h="8">
                  <a:moveTo>
                    <a:pt x="19" y="7"/>
                  </a:moveTo>
                  <a:lnTo>
                    <a:pt x="12" y="8"/>
                  </a:lnTo>
                  <a:lnTo>
                    <a:pt x="0" y="4"/>
                  </a:lnTo>
                  <a:lnTo>
                    <a:pt x="19" y="0"/>
                  </a:lnTo>
                  <a:lnTo>
                    <a:pt x="19"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9" name="Freeform 438"/>
            <p:cNvSpPr>
              <a:spLocks/>
            </p:cNvSpPr>
            <p:nvPr/>
          </p:nvSpPr>
          <p:spPr bwMode="auto">
            <a:xfrm>
              <a:off x="574" y="1554"/>
              <a:ext cx="20" cy="16"/>
            </a:xfrm>
            <a:custGeom>
              <a:avLst/>
              <a:gdLst/>
              <a:ahLst/>
              <a:cxnLst>
                <a:cxn ang="0">
                  <a:pos x="15" y="14"/>
                </a:cxn>
                <a:cxn ang="0">
                  <a:pos x="12" y="10"/>
                </a:cxn>
                <a:cxn ang="0">
                  <a:pos x="9" y="5"/>
                </a:cxn>
                <a:cxn ang="0">
                  <a:pos x="18" y="9"/>
                </a:cxn>
                <a:cxn ang="0">
                  <a:pos x="17" y="6"/>
                </a:cxn>
                <a:cxn ang="0">
                  <a:pos x="12" y="5"/>
                </a:cxn>
                <a:cxn ang="0">
                  <a:pos x="15" y="0"/>
                </a:cxn>
                <a:cxn ang="0">
                  <a:pos x="6" y="4"/>
                </a:cxn>
                <a:cxn ang="0">
                  <a:pos x="5" y="8"/>
                </a:cxn>
                <a:cxn ang="0">
                  <a:pos x="0" y="9"/>
                </a:cxn>
                <a:cxn ang="0">
                  <a:pos x="4" y="15"/>
                </a:cxn>
                <a:cxn ang="0">
                  <a:pos x="6" y="9"/>
                </a:cxn>
                <a:cxn ang="0">
                  <a:pos x="15" y="14"/>
                </a:cxn>
              </a:cxnLst>
              <a:rect l="0" t="0" r="r" b="b"/>
              <a:pathLst>
                <a:path w="18" h="15">
                  <a:moveTo>
                    <a:pt x="15" y="14"/>
                  </a:moveTo>
                  <a:lnTo>
                    <a:pt x="12" y="10"/>
                  </a:lnTo>
                  <a:lnTo>
                    <a:pt x="9" y="5"/>
                  </a:lnTo>
                  <a:lnTo>
                    <a:pt x="18" y="9"/>
                  </a:lnTo>
                  <a:lnTo>
                    <a:pt x="17" y="6"/>
                  </a:lnTo>
                  <a:lnTo>
                    <a:pt x="12" y="5"/>
                  </a:lnTo>
                  <a:lnTo>
                    <a:pt x="15" y="0"/>
                  </a:lnTo>
                  <a:lnTo>
                    <a:pt x="6" y="4"/>
                  </a:lnTo>
                  <a:lnTo>
                    <a:pt x="5" y="8"/>
                  </a:lnTo>
                  <a:lnTo>
                    <a:pt x="0" y="9"/>
                  </a:lnTo>
                  <a:lnTo>
                    <a:pt x="4" y="15"/>
                  </a:lnTo>
                  <a:lnTo>
                    <a:pt x="6" y="9"/>
                  </a:lnTo>
                  <a:lnTo>
                    <a:pt x="15" y="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0" name="Freeform 439"/>
            <p:cNvSpPr>
              <a:spLocks/>
            </p:cNvSpPr>
            <p:nvPr/>
          </p:nvSpPr>
          <p:spPr bwMode="auto">
            <a:xfrm>
              <a:off x="571" y="1570"/>
              <a:ext cx="14" cy="24"/>
            </a:xfrm>
            <a:custGeom>
              <a:avLst/>
              <a:gdLst/>
              <a:ahLst/>
              <a:cxnLst>
                <a:cxn ang="0">
                  <a:pos x="0" y="21"/>
                </a:cxn>
                <a:cxn ang="0">
                  <a:pos x="12" y="0"/>
                </a:cxn>
                <a:cxn ang="0">
                  <a:pos x="4" y="4"/>
                </a:cxn>
                <a:cxn ang="0">
                  <a:pos x="0" y="21"/>
                </a:cxn>
              </a:cxnLst>
              <a:rect l="0" t="0" r="r" b="b"/>
              <a:pathLst>
                <a:path w="12" h="21">
                  <a:moveTo>
                    <a:pt x="0" y="21"/>
                  </a:moveTo>
                  <a:lnTo>
                    <a:pt x="12" y="0"/>
                  </a:lnTo>
                  <a:lnTo>
                    <a:pt x="4" y="4"/>
                  </a:lnTo>
                  <a:lnTo>
                    <a:pt x="0" y="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1" name="Freeform 440"/>
            <p:cNvSpPr>
              <a:spLocks/>
            </p:cNvSpPr>
            <p:nvPr/>
          </p:nvSpPr>
          <p:spPr bwMode="auto">
            <a:xfrm>
              <a:off x="591" y="1576"/>
              <a:ext cx="14" cy="14"/>
            </a:xfrm>
            <a:custGeom>
              <a:avLst/>
              <a:gdLst/>
              <a:ahLst/>
              <a:cxnLst>
                <a:cxn ang="0">
                  <a:pos x="11" y="7"/>
                </a:cxn>
                <a:cxn ang="0">
                  <a:pos x="12" y="5"/>
                </a:cxn>
                <a:cxn ang="0">
                  <a:pos x="5" y="0"/>
                </a:cxn>
                <a:cxn ang="0">
                  <a:pos x="0" y="8"/>
                </a:cxn>
                <a:cxn ang="0">
                  <a:pos x="5" y="11"/>
                </a:cxn>
                <a:cxn ang="0">
                  <a:pos x="7" y="6"/>
                </a:cxn>
                <a:cxn ang="0">
                  <a:pos x="11" y="7"/>
                </a:cxn>
              </a:cxnLst>
              <a:rect l="0" t="0" r="r" b="b"/>
              <a:pathLst>
                <a:path w="12" h="11">
                  <a:moveTo>
                    <a:pt x="11" y="7"/>
                  </a:moveTo>
                  <a:lnTo>
                    <a:pt x="12" y="5"/>
                  </a:lnTo>
                  <a:lnTo>
                    <a:pt x="5" y="0"/>
                  </a:lnTo>
                  <a:lnTo>
                    <a:pt x="0" y="8"/>
                  </a:lnTo>
                  <a:lnTo>
                    <a:pt x="5" y="11"/>
                  </a:lnTo>
                  <a:lnTo>
                    <a:pt x="7" y="6"/>
                  </a:lnTo>
                  <a:lnTo>
                    <a:pt x="11"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2" name="Freeform 441"/>
            <p:cNvSpPr>
              <a:spLocks/>
            </p:cNvSpPr>
            <p:nvPr/>
          </p:nvSpPr>
          <p:spPr bwMode="auto">
            <a:xfrm>
              <a:off x="578" y="1581"/>
              <a:ext cx="13" cy="13"/>
            </a:xfrm>
            <a:custGeom>
              <a:avLst/>
              <a:gdLst/>
              <a:ahLst/>
              <a:cxnLst>
                <a:cxn ang="0">
                  <a:pos x="12" y="4"/>
                </a:cxn>
                <a:cxn ang="0">
                  <a:pos x="0" y="12"/>
                </a:cxn>
                <a:cxn ang="0">
                  <a:pos x="6" y="0"/>
                </a:cxn>
                <a:cxn ang="0">
                  <a:pos x="12" y="4"/>
                </a:cxn>
              </a:cxnLst>
              <a:rect l="0" t="0" r="r" b="b"/>
              <a:pathLst>
                <a:path w="12" h="12">
                  <a:moveTo>
                    <a:pt x="12" y="4"/>
                  </a:moveTo>
                  <a:lnTo>
                    <a:pt x="0" y="12"/>
                  </a:lnTo>
                  <a:lnTo>
                    <a:pt x="6" y="0"/>
                  </a:lnTo>
                  <a:lnTo>
                    <a:pt x="1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3" name="Freeform 442"/>
            <p:cNvSpPr>
              <a:spLocks/>
            </p:cNvSpPr>
            <p:nvPr/>
          </p:nvSpPr>
          <p:spPr bwMode="auto">
            <a:xfrm>
              <a:off x="1334" y="1885"/>
              <a:ext cx="37" cy="9"/>
            </a:xfrm>
            <a:custGeom>
              <a:avLst/>
              <a:gdLst/>
              <a:ahLst/>
              <a:cxnLst>
                <a:cxn ang="0">
                  <a:pos x="35" y="1"/>
                </a:cxn>
                <a:cxn ang="0">
                  <a:pos x="25" y="4"/>
                </a:cxn>
                <a:cxn ang="0">
                  <a:pos x="27" y="0"/>
                </a:cxn>
                <a:cxn ang="0">
                  <a:pos x="0" y="8"/>
                </a:cxn>
                <a:cxn ang="0">
                  <a:pos x="17" y="5"/>
                </a:cxn>
                <a:cxn ang="0">
                  <a:pos x="35" y="1"/>
                </a:cxn>
              </a:cxnLst>
              <a:rect l="0" t="0" r="r" b="b"/>
              <a:pathLst>
                <a:path w="35" h="8">
                  <a:moveTo>
                    <a:pt x="35" y="1"/>
                  </a:moveTo>
                  <a:lnTo>
                    <a:pt x="25" y="4"/>
                  </a:lnTo>
                  <a:lnTo>
                    <a:pt x="27" y="0"/>
                  </a:lnTo>
                  <a:lnTo>
                    <a:pt x="0" y="8"/>
                  </a:lnTo>
                  <a:lnTo>
                    <a:pt x="17" y="5"/>
                  </a:lnTo>
                  <a:lnTo>
                    <a:pt x="3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4" name="Freeform 443"/>
            <p:cNvSpPr>
              <a:spLocks/>
            </p:cNvSpPr>
            <p:nvPr/>
          </p:nvSpPr>
          <p:spPr bwMode="auto">
            <a:xfrm>
              <a:off x="2236" y="2154"/>
              <a:ext cx="146" cy="136"/>
            </a:xfrm>
            <a:custGeom>
              <a:avLst/>
              <a:gdLst/>
              <a:ahLst/>
              <a:cxnLst>
                <a:cxn ang="0">
                  <a:pos x="2" y="114"/>
                </a:cxn>
                <a:cxn ang="0">
                  <a:pos x="0" y="124"/>
                </a:cxn>
                <a:cxn ang="0">
                  <a:pos x="0" y="114"/>
                </a:cxn>
                <a:cxn ang="0">
                  <a:pos x="11" y="91"/>
                </a:cxn>
                <a:cxn ang="0">
                  <a:pos x="21" y="70"/>
                </a:cxn>
                <a:cxn ang="0">
                  <a:pos x="18" y="72"/>
                </a:cxn>
                <a:cxn ang="0">
                  <a:pos x="31" y="58"/>
                </a:cxn>
                <a:cxn ang="0">
                  <a:pos x="36" y="43"/>
                </a:cxn>
                <a:cxn ang="0">
                  <a:pos x="42" y="30"/>
                </a:cxn>
                <a:cxn ang="0">
                  <a:pos x="54" y="18"/>
                </a:cxn>
                <a:cxn ang="0">
                  <a:pos x="63" y="0"/>
                </a:cxn>
                <a:cxn ang="0">
                  <a:pos x="80" y="0"/>
                </a:cxn>
                <a:cxn ang="0">
                  <a:pos x="98" y="0"/>
                </a:cxn>
                <a:cxn ang="0">
                  <a:pos x="115" y="0"/>
                </a:cxn>
                <a:cxn ang="0">
                  <a:pos x="132" y="0"/>
                </a:cxn>
                <a:cxn ang="0">
                  <a:pos x="132" y="7"/>
                </a:cxn>
                <a:cxn ang="0">
                  <a:pos x="132" y="30"/>
                </a:cxn>
                <a:cxn ang="0">
                  <a:pos x="119" y="30"/>
                </a:cxn>
                <a:cxn ang="0">
                  <a:pos x="107" y="30"/>
                </a:cxn>
                <a:cxn ang="0">
                  <a:pos x="93" y="30"/>
                </a:cxn>
                <a:cxn ang="0">
                  <a:pos x="80" y="30"/>
                </a:cxn>
                <a:cxn ang="0">
                  <a:pos x="80" y="53"/>
                </a:cxn>
                <a:cxn ang="0">
                  <a:pos x="79" y="76"/>
                </a:cxn>
                <a:cxn ang="0">
                  <a:pos x="63" y="84"/>
                </a:cxn>
                <a:cxn ang="0">
                  <a:pos x="63" y="99"/>
                </a:cxn>
                <a:cxn ang="0">
                  <a:pos x="63" y="114"/>
                </a:cxn>
                <a:cxn ang="0">
                  <a:pos x="48" y="114"/>
                </a:cxn>
                <a:cxn ang="0">
                  <a:pos x="32" y="114"/>
                </a:cxn>
                <a:cxn ang="0">
                  <a:pos x="17" y="114"/>
                </a:cxn>
                <a:cxn ang="0">
                  <a:pos x="2" y="114"/>
                </a:cxn>
              </a:cxnLst>
              <a:rect l="0" t="0" r="r" b="b"/>
              <a:pathLst>
                <a:path w="132" h="124">
                  <a:moveTo>
                    <a:pt x="2" y="114"/>
                  </a:moveTo>
                  <a:lnTo>
                    <a:pt x="0" y="124"/>
                  </a:lnTo>
                  <a:lnTo>
                    <a:pt x="0" y="114"/>
                  </a:lnTo>
                  <a:lnTo>
                    <a:pt x="11" y="91"/>
                  </a:lnTo>
                  <a:lnTo>
                    <a:pt x="21" y="70"/>
                  </a:lnTo>
                  <a:lnTo>
                    <a:pt x="18" y="72"/>
                  </a:lnTo>
                  <a:lnTo>
                    <a:pt x="31" y="58"/>
                  </a:lnTo>
                  <a:lnTo>
                    <a:pt x="36" y="43"/>
                  </a:lnTo>
                  <a:lnTo>
                    <a:pt x="42" y="30"/>
                  </a:lnTo>
                  <a:lnTo>
                    <a:pt x="54" y="18"/>
                  </a:lnTo>
                  <a:lnTo>
                    <a:pt x="63" y="0"/>
                  </a:lnTo>
                  <a:lnTo>
                    <a:pt x="80" y="0"/>
                  </a:lnTo>
                  <a:lnTo>
                    <a:pt x="98" y="0"/>
                  </a:lnTo>
                  <a:lnTo>
                    <a:pt x="115" y="0"/>
                  </a:lnTo>
                  <a:lnTo>
                    <a:pt x="132" y="0"/>
                  </a:lnTo>
                  <a:lnTo>
                    <a:pt x="132" y="7"/>
                  </a:lnTo>
                  <a:lnTo>
                    <a:pt x="132" y="30"/>
                  </a:lnTo>
                  <a:lnTo>
                    <a:pt x="119" y="30"/>
                  </a:lnTo>
                  <a:lnTo>
                    <a:pt x="107" y="30"/>
                  </a:lnTo>
                  <a:lnTo>
                    <a:pt x="93" y="30"/>
                  </a:lnTo>
                  <a:lnTo>
                    <a:pt x="80" y="30"/>
                  </a:lnTo>
                  <a:lnTo>
                    <a:pt x="80" y="53"/>
                  </a:lnTo>
                  <a:lnTo>
                    <a:pt x="79" y="76"/>
                  </a:lnTo>
                  <a:lnTo>
                    <a:pt x="63" y="84"/>
                  </a:lnTo>
                  <a:lnTo>
                    <a:pt x="63" y="99"/>
                  </a:lnTo>
                  <a:lnTo>
                    <a:pt x="63" y="114"/>
                  </a:lnTo>
                  <a:lnTo>
                    <a:pt x="48" y="114"/>
                  </a:lnTo>
                  <a:lnTo>
                    <a:pt x="32" y="114"/>
                  </a:lnTo>
                  <a:lnTo>
                    <a:pt x="17" y="114"/>
                  </a:lnTo>
                  <a:lnTo>
                    <a:pt x="2" y="1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grpSp>
      <p:sp>
        <p:nvSpPr>
          <p:cNvPr id="445" name="TextBox 599"/>
          <p:cNvSpPr txBox="1"/>
          <p:nvPr/>
        </p:nvSpPr>
        <p:spPr>
          <a:xfrm>
            <a:off x="7495627" y="3948025"/>
            <a:ext cx="4222761" cy="2113259"/>
          </a:xfrm>
          <a:prstGeom prst="roundRect">
            <a:avLst/>
          </a:prstGeom>
          <a:noFill/>
          <a:ln w="28575">
            <a:solidFill>
              <a:schemeClr val="accent1"/>
            </a:solidFill>
            <a:prstDash val="dashDot"/>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endParaRPr lang="en-GB" sz="1869" dirty="0">
              <a:solidFill>
                <a:prstClr val="black"/>
              </a:solidFill>
            </a:endParaRPr>
          </a:p>
        </p:txBody>
      </p:sp>
      <p:grpSp>
        <p:nvGrpSpPr>
          <p:cNvPr id="446" name="Group 445"/>
          <p:cNvGrpSpPr/>
          <p:nvPr/>
        </p:nvGrpSpPr>
        <p:grpSpPr>
          <a:xfrm>
            <a:off x="381805" y="1763278"/>
            <a:ext cx="3779722" cy="4065458"/>
            <a:chOff x="458769" y="1327309"/>
            <a:chExt cx="3847119" cy="4137950"/>
          </a:xfrm>
        </p:grpSpPr>
        <p:sp>
          <p:nvSpPr>
            <p:cNvPr id="447" name="Freeform 446"/>
            <p:cNvSpPr/>
            <p:nvPr/>
          </p:nvSpPr>
          <p:spPr>
            <a:xfrm rot="21365595" flipH="1" flipV="1">
              <a:off x="1361005" y="2521249"/>
              <a:ext cx="1883228" cy="608646"/>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48" name="Freeform 447"/>
            <p:cNvSpPr/>
            <p:nvPr/>
          </p:nvSpPr>
          <p:spPr>
            <a:xfrm rot="21287480" flipH="1" flipV="1">
              <a:off x="1322362" y="4080518"/>
              <a:ext cx="1970135" cy="334088"/>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grpSp>
          <p:nvGrpSpPr>
            <p:cNvPr id="449" name="Group 448"/>
            <p:cNvGrpSpPr/>
            <p:nvPr/>
          </p:nvGrpSpPr>
          <p:grpSpPr>
            <a:xfrm rot="10800000" flipH="1">
              <a:off x="458769" y="1327309"/>
              <a:ext cx="3847119" cy="4137950"/>
              <a:chOff x="3474598" y="1219201"/>
              <a:chExt cx="3702490" cy="4807347"/>
            </a:xfrm>
          </p:grpSpPr>
          <p:sp>
            <p:nvSpPr>
              <p:cNvPr id="450" name="Freeform 449"/>
              <p:cNvSpPr/>
              <p:nvPr/>
            </p:nvSpPr>
            <p:spPr>
              <a:xfrm>
                <a:off x="3494041" y="4040150"/>
                <a:ext cx="886981" cy="484968"/>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1" name="Freeform 450"/>
              <p:cNvSpPr/>
              <p:nvPr/>
            </p:nvSpPr>
            <p:spPr>
              <a:xfrm>
                <a:off x="3483565" y="2413795"/>
                <a:ext cx="873329" cy="516731"/>
              </a:xfrm>
              <a:custGeom>
                <a:avLst/>
                <a:gdLst>
                  <a:gd name="connsiteX0" fmla="*/ 0 w 819150"/>
                  <a:gd name="connsiteY0" fmla="*/ 523875 h 523875"/>
                  <a:gd name="connsiteX1" fmla="*/ 806450 w 819150"/>
                  <a:gd name="connsiteY1" fmla="*/ 339725 h 523875"/>
                  <a:gd name="connsiteX2" fmla="*/ 819150 w 819150"/>
                  <a:gd name="connsiteY2" fmla="*/ 0 h 523875"/>
                  <a:gd name="connsiteX3" fmla="*/ 6350 w 819150"/>
                  <a:gd name="connsiteY3" fmla="*/ 241300 h 523875"/>
                  <a:gd name="connsiteX4" fmla="*/ 0 w 819150"/>
                  <a:gd name="connsiteY4" fmla="*/ 523875 h 523875"/>
                  <a:gd name="connsiteX0" fmla="*/ 0 w 812006"/>
                  <a:gd name="connsiteY0" fmla="*/ 516731 h 516731"/>
                  <a:gd name="connsiteX1" fmla="*/ 806450 w 812006"/>
                  <a:gd name="connsiteY1" fmla="*/ 332581 h 516731"/>
                  <a:gd name="connsiteX2" fmla="*/ 812006 w 812006"/>
                  <a:gd name="connsiteY2" fmla="*/ 0 h 516731"/>
                  <a:gd name="connsiteX3" fmla="*/ 6350 w 812006"/>
                  <a:gd name="connsiteY3" fmla="*/ 234156 h 516731"/>
                  <a:gd name="connsiteX4" fmla="*/ 0 w 812006"/>
                  <a:gd name="connsiteY4" fmla="*/ 516731 h 516731"/>
                  <a:gd name="connsiteX0" fmla="*/ 0 w 813594"/>
                  <a:gd name="connsiteY0" fmla="*/ 516731 h 516731"/>
                  <a:gd name="connsiteX1" fmla="*/ 813594 w 813594"/>
                  <a:gd name="connsiteY1" fmla="*/ 330199 h 516731"/>
                  <a:gd name="connsiteX2" fmla="*/ 812006 w 813594"/>
                  <a:gd name="connsiteY2" fmla="*/ 0 h 516731"/>
                  <a:gd name="connsiteX3" fmla="*/ 6350 w 813594"/>
                  <a:gd name="connsiteY3" fmla="*/ 234156 h 516731"/>
                  <a:gd name="connsiteX4" fmla="*/ 0 w 813594"/>
                  <a:gd name="connsiteY4" fmla="*/ 516731 h 51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94" h="516731">
                    <a:moveTo>
                      <a:pt x="0" y="516731"/>
                    </a:moveTo>
                    <a:lnTo>
                      <a:pt x="813594" y="330199"/>
                    </a:lnTo>
                    <a:cubicBezTo>
                      <a:pt x="813065" y="220133"/>
                      <a:pt x="812535" y="110066"/>
                      <a:pt x="812006" y="0"/>
                    </a:cubicBezTo>
                    <a:lnTo>
                      <a:pt x="6350" y="234156"/>
                    </a:lnTo>
                    <a:cubicBezTo>
                      <a:pt x="5292" y="331523"/>
                      <a:pt x="4233" y="428889"/>
                      <a:pt x="0" y="5167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2" name="Freeform 451"/>
              <p:cNvSpPr/>
              <p:nvPr/>
            </p:nvSpPr>
            <p:spPr>
              <a:xfrm>
                <a:off x="4310063" y="2743200"/>
                <a:ext cx="2376487" cy="1376386"/>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354137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2368550"/>
                  <a:gd name="connsiteY0" fmla="*/ 0 h 1354137"/>
                  <a:gd name="connsiteX1" fmla="*/ 0 w 2368550"/>
                  <a:gd name="connsiteY1" fmla="*/ 1354137 h 1354137"/>
                  <a:gd name="connsiteX2" fmla="*/ 2368550 w 2368550"/>
                  <a:gd name="connsiteY2" fmla="*/ 1320800 h 1354137"/>
                  <a:gd name="connsiteX3" fmla="*/ 1816100 w 2368550"/>
                  <a:gd name="connsiteY3" fmla="*/ 469900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8550" h="1354137">
                    <a:moveTo>
                      <a:pt x="6350" y="0"/>
                    </a:moveTo>
                    <a:cubicBezTo>
                      <a:pt x="4233" y="389467"/>
                      <a:pt x="2117" y="964670"/>
                      <a:pt x="0" y="1354137"/>
                    </a:cubicBezTo>
                    <a:lnTo>
                      <a:pt x="2368550" y="1320800"/>
                    </a:lnTo>
                    <a:lnTo>
                      <a:pt x="2354262" y="379412"/>
                    </a:lnTo>
                    <a:cubicBezTo>
                      <a:pt x="2345266" y="281780"/>
                      <a:pt x="2331508" y="203993"/>
                      <a:pt x="2193925" y="169862"/>
                    </a:cubicBezTo>
                    <a:lnTo>
                      <a:pt x="6350" y="0"/>
                    </a:lnTo>
                    <a:close/>
                  </a:path>
                </a:pathLst>
              </a:custGeom>
              <a:solidFill>
                <a:schemeClr val="accent1">
                  <a:lumMod val="20000"/>
                  <a:lumOff val="8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3" name="Freeform 452"/>
              <p:cNvSpPr/>
              <p:nvPr/>
            </p:nvSpPr>
            <p:spPr>
              <a:xfrm>
                <a:off x="4322764" y="4356465"/>
                <a:ext cx="2854324" cy="1670050"/>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354137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2368550"/>
                  <a:gd name="connsiteY0" fmla="*/ 0 h 1354137"/>
                  <a:gd name="connsiteX1" fmla="*/ 0 w 2368550"/>
                  <a:gd name="connsiteY1" fmla="*/ 1354137 h 1354137"/>
                  <a:gd name="connsiteX2" fmla="*/ 2368550 w 2368550"/>
                  <a:gd name="connsiteY2" fmla="*/ 1320800 h 1354137"/>
                  <a:gd name="connsiteX3" fmla="*/ 1816100 w 2368550"/>
                  <a:gd name="connsiteY3" fmla="*/ 469900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11112 w 2373312"/>
                  <a:gd name="connsiteY0" fmla="*/ 0 h 1520824"/>
                  <a:gd name="connsiteX1" fmla="*/ 0 w 2373312"/>
                  <a:gd name="connsiteY1" fmla="*/ 1520824 h 1520824"/>
                  <a:gd name="connsiteX2" fmla="*/ 2373312 w 2373312"/>
                  <a:gd name="connsiteY2" fmla="*/ 1320800 h 1520824"/>
                  <a:gd name="connsiteX3" fmla="*/ 2359024 w 2373312"/>
                  <a:gd name="connsiteY3" fmla="*/ 379412 h 1520824"/>
                  <a:gd name="connsiteX4" fmla="*/ 2198687 w 2373312"/>
                  <a:gd name="connsiteY4" fmla="*/ 169862 h 1520824"/>
                  <a:gd name="connsiteX5" fmla="*/ 11112 w 2373312"/>
                  <a:gd name="connsiteY5" fmla="*/ 0 h 1520824"/>
                  <a:gd name="connsiteX0" fmla="*/ 1587 w 2363787"/>
                  <a:gd name="connsiteY0" fmla="*/ 0 h 1516062"/>
                  <a:gd name="connsiteX1" fmla="*/ 0 w 2363787"/>
                  <a:gd name="connsiteY1" fmla="*/ 1516062 h 1516062"/>
                  <a:gd name="connsiteX2" fmla="*/ 2363787 w 2363787"/>
                  <a:gd name="connsiteY2" fmla="*/ 1320800 h 1516062"/>
                  <a:gd name="connsiteX3" fmla="*/ 2349499 w 2363787"/>
                  <a:gd name="connsiteY3" fmla="*/ 379412 h 1516062"/>
                  <a:gd name="connsiteX4" fmla="*/ 2189162 w 2363787"/>
                  <a:gd name="connsiteY4" fmla="*/ 169862 h 1516062"/>
                  <a:gd name="connsiteX5" fmla="*/ 1587 w 2363787"/>
                  <a:gd name="connsiteY5" fmla="*/ 0 h 1516062"/>
                  <a:gd name="connsiteX0" fmla="*/ 1587 w 2844799"/>
                  <a:gd name="connsiteY0" fmla="*/ 0 h 1516062"/>
                  <a:gd name="connsiteX1" fmla="*/ 0 w 2844799"/>
                  <a:gd name="connsiteY1" fmla="*/ 1516062 h 1516062"/>
                  <a:gd name="connsiteX2" fmla="*/ 2844799 w 2844799"/>
                  <a:gd name="connsiteY2" fmla="*/ 1063625 h 1516062"/>
                  <a:gd name="connsiteX3" fmla="*/ 2349499 w 2844799"/>
                  <a:gd name="connsiteY3" fmla="*/ 379412 h 1516062"/>
                  <a:gd name="connsiteX4" fmla="*/ 2189162 w 2844799"/>
                  <a:gd name="connsiteY4" fmla="*/ 169862 h 1516062"/>
                  <a:gd name="connsiteX5" fmla="*/ 1587 w 2844799"/>
                  <a:gd name="connsiteY5" fmla="*/ 0 h 1516062"/>
                  <a:gd name="connsiteX0" fmla="*/ 1587 w 2844799"/>
                  <a:gd name="connsiteY0" fmla="*/ 153988 h 1670050"/>
                  <a:gd name="connsiteX1" fmla="*/ 0 w 2844799"/>
                  <a:gd name="connsiteY1" fmla="*/ 1670050 h 1670050"/>
                  <a:gd name="connsiteX2" fmla="*/ 2844799 w 2844799"/>
                  <a:gd name="connsiteY2" fmla="*/ 1217613 h 1670050"/>
                  <a:gd name="connsiteX3" fmla="*/ 2349499 w 2844799"/>
                  <a:gd name="connsiteY3" fmla="*/ 533400 h 1670050"/>
                  <a:gd name="connsiteX4" fmla="*/ 2651124 w 2844799"/>
                  <a:gd name="connsiteY4" fmla="*/ 0 h 1670050"/>
                  <a:gd name="connsiteX5" fmla="*/ 1587 w 2844799"/>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9561 w 2854324"/>
                  <a:gd name="connsiteY2" fmla="*/ 1208088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49226 h 1670050"/>
                  <a:gd name="connsiteX1" fmla="*/ 0 w 2854324"/>
                  <a:gd name="connsiteY1" fmla="*/ 1670050 h 1670050"/>
                  <a:gd name="connsiteX2" fmla="*/ 2849561 w 2854324"/>
                  <a:gd name="connsiteY2" fmla="*/ 1208088 h 1670050"/>
                  <a:gd name="connsiteX3" fmla="*/ 2854324 w 2854324"/>
                  <a:gd name="connsiteY3" fmla="*/ 304800 h 1670050"/>
                  <a:gd name="connsiteX4" fmla="*/ 2651124 w 2854324"/>
                  <a:gd name="connsiteY4" fmla="*/ 0 h 1670050"/>
                  <a:gd name="connsiteX5" fmla="*/ 1587 w 2854324"/>
                  <a:gd name="connsiteY5" fmla="*/ 149226 h 167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4324" h="1670050">
                    <a:moveTo>
                      <a:pt x="1587" y="149226"/>
                    </a:moveTo>
                    <a:cubicBezTo>
                      <a:pt x="-530" y="538693"/>
                      <a:pt x="2117" y="1280583"/>
                      <a:pt x="0" y="1670050"/>
                    </a:cubicBezTo>
                    <a:lnTo>
                      <a:pt x="2849561" y="1208088"/>
                    </a:lnTo>
                    <a:cubicBezTo>
                      <a:pt x="2851149" y="906992"/>
                      <a:pt x="2852736" y="605896"/>
                      <a:pt x="2854324" y="304800"/>
                    </a:cubicBezTo>
                    <a:cubicBezTo>
                      <a:pt x="2850090" y="159543"/>
                      <a:pt x="2826807" y="29368"/>
                      <a:pt x="2651124" y="0"/>
                    </a:cubicBezTo>
                    <a:lnTo>
                      <a:pt x="1587" y="149226"/>
                    </a:lnTo>
                    <a:close/>
                  </a:path>
                </a:pathLst>
              </a:custGeom>
              <a:solidFill>
                <a:schemeClr val="accent1">
                  <a:lumMod val="20000"/>
                  <a:lumOff val="8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4" name="Freeform 453"/>
              <p:cNvSpPr/>
              <p:nvPr/>
            </p:nvSpPr>
            <p:spPr>
              <a:xfrm>
                <a:off x="4318000" y="1219201"/>
                <a:ext cx="1889449" cy="1379224"/>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16100" h="1358900">
                    <a:moveTo>
                      <a:pt x="6350" y="0"/>
                    </a:moveTo>
                    <a:cubicBezTo>
                      <a:pt x="4233" y="389467"/>
                      <a:pt x="2117" y="778933"/>
                      <a:pt x="0" y="1168400"/>
                    </a:cubicBezTo>
                    <a:lnTo>
                      <a:pt x="1816100" y="1358900"/>
                    </a:lnTo>
                    <a:lnTo>
                      <a:pt x="1816100" y="469900"/>
                    </a:lnTo>
                    <a:cubicBezTo>
                      <a:pt x="1797579" y="378618"/>
                      <a:pt x="1750483" y="342106"/>
                      <a:pt x="1689100" y="317500"/>
                    </a:cubicBezTo>
                    <a:lnTo>
                      <a:pt x="6350" y="0"/>
                    </a:lnTo>
                    <a:close/>
                  </a:path>
                </a:pathLst>
              </a:custGeom>
              <a:solidFill>
                <a:schemeClr val="accent1">
                  <a:lumMod val="20000"/>
                  <a:lumOff val="8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5" name="Parallelogram 4"/>
              <p:cNvSpPr/>
              <p:nvPr/>
            </p:nvSpPr>
            <p:spPr>
              <a:xfrm>
                <a:off x="3474598" y="1222375"/>
                <a:ext cx="851609" cy="1461294"/>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4616 w 851468"/>
                  <a:gd name="connsiteY0" fmla="*/ 1422234 h 1422234"/>
                  <a:gd name="connsiteX1" fmla="*/ 0 w 851468"/>
                  <a:gd name="connsiteY1" fmla="*/ 463091 h 1422234"/>
                  <a:gd name="connsiteX2" fmla="*/ 851339 w 851468"/>
                  <a:gd name="connsiteY2" fmla="*/ 0 h 1422234"/>
                  <a:gd name="connsiteX3" fmla="*/ 841668 w 851468"/>
                  <a:gd name="connsiteY3" fmla="*/ 1174584 h 1422234"/>
                  <a:gd name="connsiteX4" fmla="*/ 4616 w 851468"/>
                  <a:gd name="connsiteY4" fmla="*/ 1422234 h 1422234"/>
                  <a:gd name="connsiteX0" fmla="*/ 4616 w 851767"/>
                  <a:gd name="connsiteY0" fmla="*/ 1422234 h 1422234"/>
                  <a:gd name="connsiteX1" fmla="*/ 0 w 851767"/>
                  <a:gd name="connsiteY1" fmla="*/ 463091 h 1422234"/>
                  <a:gd name="connsiteX2" fmla="*/ 851339 w 851767"/>
                  <a:gd name="connsiteY2" fmla="*/ 0 h 1422234"/>
                  <a:gd name="connsiteX3" fmla="*/ 851193 w 851767"/>
                  <a:gd name="connsiteY3" fmla="*/ 1160641 h 1422234"/>
                  <a:gd name="connsiteX4" fmla="*/ 4616 w 851767"/>
                  <a:gd name="connsiteY4" fmla="*/ 1422234 h 1422234"/>
                  <a:gd name="connsiteX0" fmla="*/ 4616 w 851609"/>
                  <a:gd name="connsiteY0" fmla="*/ 1422234 h 1422234"/>
                  <a:gd name="connsiteX1" fmla="*/ 0 w 851609"/>
                  <a:gd name="connsiteY1" fmla="*/ 463091 h 1422234"/>
                  <a:gd name="connsiteX2" fmla="*/ 851339 w 851609"/>
                  <a:gd name="connsiteY2" fmla="*/ 0 h 1422234"/>
                  <a:gd name="connsiteX3" fmla="*/ 848812 w 851609"/>
                  <a:gd name="connsiteY3" fmla="*/ 1169937 h 1422234"/>
                  <a:gd name="connsiteX4" fmla="*/ 4616 w 851609"/>
                  <a:gd name="connsiteY4" fmla="*/ 1422234 h 1422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609" h="1422234">
                    <a:moveTo>
                      <a:pt x="4616" y="1422234"/>
                    </a:moveTo>
                    <a:cubicBezTo>
                      <a:pt x="3077" y="1102520"/>
                      <a:pt x="1539" y="782805"/>
                      <a:pt x="0" y="463091"/>
                    </a:cubicBezTo>
                    <a:lnTo>
                      <a:pt x="851339" y="0"/>
                    </a:lnTo>
                    <a:cubicBezTo>
                      <a:pt x="852878" y="385331"/>
                      <a:pt x="847273" y="784606"/>
                      <a:pt x="848812" y="1169937"/>
                    </a:cubicBezTo>
                    <a:lnTo>
                      <a:pt x="4616" y="1422234"/>
                    </a:lnTo>
                    <a:close/>
                  </a:path>
                </a:pathLst>
              </a:custGeom>
              <a:solidFill>
                <a:schemeClr val="accent1">
                  <a:lumMod val="40000"/>
                  <a:lumOff val="6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6" name="Parallelogram 4"/>
              <p:cNvSpPr/>
              <p:nvPr/>
            </p:nvSpPr>
            <p:spPr>
              <a:xfrm>
                <a:off x="3486583" y="4382399"/>
                <a:ext cx="842465" cy="1644149"/>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155993 h 1403643"/>
                  <a:gd name="connsiteX4" fmla="*/ 252 w 837304"/>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384593 h 1403643"/>
                  <a:gd name="connsiteX4" fmla="*/ 252 w 837304"/>
                  <a:gd name="connsiteY4" fmla="*/ 1403643 h 1403643"/>
                  <a:gd name="connsiteX0" fmla="*/ 252 w 837304"/>
                  <a:gd name="connsiteY0" fmla="*/ 1304583 h 1384593"/>
                  <a:gd name="connsiteX1" fmla="*/ 3256 w 837304"/>
                  <a:gd name="connsiteY1" fmla="*/ 193040 h 1384593"/>
                  <a:gd name="connsiteX2" fmla="*/ 832688 w 837304"/>
                  <a:gd name="connsiteY2" fmla="*/ 0 h 1384593"/>
                  <a:gd name="connsiteX3" fmla="*/ 837304 w 837304"/>
                  <a:gd name="connsiteY3" fmla="*/ 1384593 h 1384593"/>
                  <a:gd name="connsiteX4" fmla="*/ 252 w 837304"/>
                  <a:gd name="connsiteY4" fmla="*/ 1304583 h 138459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44924"/>
                  <a:gd name="connsiteY0" fmla="*/ 1304583 h 1338873"/>
                  <a:gd name="connsiteX1" fmla="*/ 3256 w 844924"/>
                  <a:gd name="connsiteY1" fmla="*/ 193040 h 1338873"/>
                  <a:gd name="connsiteX2" fmla="*/ 832688 w 844924"/>
                  <a:gd name="connsiteY2" fmla="*/ 0 h 1338873"/>
                  <a:gd name="connsiteX3" fmla="*/ 844924 w 844924"/>
                  <a:gd name="connsiteY3" fmla="*/ 1338873 h 1338873"/>
                  <a:gd name="connsiteX4" fmla="*/ 252 w 844924"/>
                  <a:gd name="connsiteY4" fmla="*/ 1304583 h 133887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28172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28172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1223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12236 w 829683"/>
                  <a:gd name="connsiteY4" fmla="*/ 1296963 h 1354113"/>
                  <a:gd name="connsiteX0" fmla="*/ 461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296963 h 1354113"/>
                  <a:gd name="connsiteX0" fmla="*/ 73196 w 829683"/>
                  <a:gd name="connsiteY0" fmla="*/ 1350303 h 1354113"/>
                  <a:gd name="connsiteX1" fmla="*/ 0 w 829683"/>
                  <a:gd name="connsiteY1" fmla="*/ 193040 h 1354113"/>
                  <a:gd name="connsiteX2" fmla="*/ 829432 w 829683"/>
                  <a:gd name="connsiteY2" fmla="*/ 0 h 1354113"/>
                  <a:gd name="connsiteX3" fmla="*/ 826428 w 829683"/>
                  <a:gd name="connsiteY3" fmla="*/ 1354113 h 1354113"/>
                  <a:gd name="connsiteX4" fmla="*/ 73196 w 829683"/>
                  <a:gd name="connsiteY4" fmla="*/ 1350303 h 1354113"/>
                  <a:gd name="connsiteX0" fmla="*/ 4616 w 829683"/>
                  <a:gd name="connsiteY0" fmla="*/ 131982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319823 h 1354113"/>
                  <a:gd name="connsiteX0" fmla="*/ 121 w 825188"/>
                  <a:gd name="connsiteY0" fmla="*/ 1319823 h 1354113"/>
                  <a:gd name="connsiteX1" fmla="*/ 10745 w 825188"/>
                  <a:gd name="connsiteY1" fmla="*/ 78740 h 1354113"/>
                  <a:gd name="connsiteX2" fmla="*/ 824937 w 825188"/>
                  <a:gd name="connsiteY2" fmla="*/ 0 h 1354113"/>
                  <a:gd name="connsiteX3" fmla="*/ 821933 w 825188"/>
                  <a:gd name="connsiteY3" fmla="*/ 1354113 h 1354113"/>
                  <a:gd name="connsiteX4" fmla="*/ 121 w 825188"/>
                  <a:gd name="connsiteY4" fmla="*/ 1319823 h 1354113"/>
                  <a:gd name="connsiteX0" fmla="*/ 121 w 825188"/>
                  <a:gd name="connsiteY0" fmla="*/ 1241083 h 1275373"/>
                  <a:gd name="connsiteX1" fmla="*/ 10745 w 825188"/>
                  <a:gd name="connsiteY1" fmla="*/ 0 h 1275373"/>
                  <a:gd name="connsiteX2" fmla="*/ 824937 w 825188"/>
                  <a:gd name="connsiteY2" fmla="*/ 104140 h 1275373"/>
                  <a:gd name="connsiteX3" fmla="*/ 821933 w 825188"/>
                  <a:gd name="connsiteY3" fmla="*/ 1275373 h 1275373"/>
                  <a:gd name="connsiteX4" fmla="*/ 121 w 825188"/>
                  <a:gd name="connsiteY4" fmla="*/ 1241083 h 1275373"/>
                  <a:gd name="connsiteX0" fmla="*/ 121 w 825188"/>
                  <a:gd name="connsiteY0" fmla="*/ 1241083 h 1641133"/>
                  <a:gd name="connsiteX1" fmla="*/ 10745 w 825188"/>
                  <a:gd name="connsiteY1" fmla="*/ 0 h 1641133"/>
                  <a:gd name="connsiteX2" fmla="*/ 824937 w 825188"/>
                  <a:gd name="connsiteY2" fmla="*/ 104140 h 1641133"/>
                  <a:gd name="connsiteX3" fmla="*/ 821933 w 825188"/>
                  <a:gd name="connsiteY3" fmla="*/ 1641133 h 1641133"/>
                  <a:gd name="connsiteX4" fmla="*/ 121 w 825188"/>
                  <a:gd name="connsiteY4" fmla="*/ 1241083 h 1641133"/>
                  <a:gd name="connsiteX0" fmla="*/ 121 w 825188"/>
                  <a:gd name="connsiteY0" fmla="*/ 1225843 h 1641133"/>
                  <a:gd name="connsiteX1" fmla="*/ 10745 w 825188"/>
                  <a:gd name="connsiteY1" fmla="*/ 0 h 1641133"/>
                  <a:gd name="connsiteX2" fmla="*/ 824937 w 825188"/>
                  <a:gd name="connsiteY2" fmla="*/ 104140 h 1641133"/>
                  <a:gd name="connsiteX3" fmla="*/ 821933 w 825188"/>
                  <a:gd name="connsiteY3" fmla="*/ 1641133 h 1641133"/>
                  <a:gd name="connsiteX4" fmla="*/ 121 w 825188"/>
                  <a:gd name="connsiteY4" fmla="*/ 1225843 h 1641133"/>
                  <a:gd name="connsiteX0" fmla="*/ 251 w 825318"/>
                  <a:gd name="connsiteY0" fmla="*/ 1210603 h 1625893"/>
                  <a:gd name="connsiteX1" fmla="*/ 3255 w 825318"/>
                  <a:gd name="connsiteY1" fmla="*/ 0 h 1625893"/>
                  <a:gd name="connsiteX2" fmla="*/ 825067 w 825318"/>
                  <a:gd name="connsiteY2" fmla="*/ 88900 h 1625893"/>
                  <a:gd name="connsiteX3" fmla="*/ 822063 w 825318"/>
                  <a:gd name="connsiteY3" fmla="*/ 1625893 h 1625893"/>
                  <a:gd name="connsiteX4" fmla="*/ 251 w 825318"/>
                  <a:gd name="connsiteY4" fmla="*/ 1210603 h 1625893"/>
                  <a:gd name="connsiteX0" fmla="*/ 251 w 825318"/>
                  <a:gd name="connsiteY0" fmla="*/ 1245528 h 1660818"/>
                  <a:gd name="connsiteX1" fmla="*/ 3255 w 825318"/>
                  <a:gd name="connsiteY1" fmla="*/ 0 h 1660818"/>
                  <a:gd name="connsiteX2" fmla="*/ 825067 w 825318"/>
                  <a:gd name="connsiteY2" fmla="*/ 123825 h 1660818"/>
                  <a:gd name="connsiteX3" fmla="*/ 822063 w 825318"/>
                  <a:gd name="connsiteY3" fmla="*/ 1660818 h 1660818"/>
                  <a:gd name="connsiteX4" fmla="*/ 251 w 825318"/>
                  <a:gd name="connsiteY4" fmla="*/ 1245528 h 1660818"/>
                  <a:gd name="connsiteX0" fmla="*/ 251 w 825255"/>
                  <a:gd name="connsiteY0" fmla="*/ 1245528 h 1644149"/>
                  <a:gd name="connsiteX1" fmla="*/ 3255 w 825255"/>
                  <a:gd name="connsiteY1" fmla="*/ 0 h 1644149"/>
                  <a:gd name="connsiteX2" fmla="*/ 825067 w 825255"/>
                  <a:gd name="connsiteY2" fmla="*/ 123825 h 1644149"/>
                  <a:gd name="connsiteX3" fmla="*/ 819731 w 825255"/>
                  <a:gd name="connsiteY3" fmla="*/ 1644149 h 1644149"/>
                  <a:gd name="connsiteX4" fmla="*/ 251 w 825255"/>
                  <a:gd name="connsiteY4" fmla="*/ 1245528 h 164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55" h="1644149">
                    <a:moveTo>
                      <a:pt x="251" y="1245528"/>
                    </a:moveTo>
                    <a:cubicBezTo>
                      <a:pt x="-1288" y="925814"/>
                      <a:pt x="4794" y="319714"/>
                      <a:pt x="3255" y="0"/>
                    </a:cubicBezTo>
                    <a:lnTo>
                      <a:pt x="825067" y="123825"/>
                    </a:lnTo>
                    <a:cubicBezTo>
                      <a:pt x="826606" y="509156"/>
                      <a:pt x="818192" y="1258818"/>
                      <a:pt x="819731" y="1644149"/>
                    </a:cubicBezTo>
                    <a:lnTo>
                      <a:pt x="251" y="1245528"/>
                    </a:lnTo>
                    <a:close/>
                  </a:path>
                </a:pathLst>
              </a:custGeom>
              <a:solidFill>
                <a:schemeClr val="accent1">
                  <a:lumMod val="40000"/>
                  <a:lumOff val="60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7" name="Parallelogram 4"/>
              <p:cNvSpPr/>
              <p:nvPr/>
            </p:nvSpPr>
            <p:spPr>
              <a:xfrm>
                <a:off x="3485393" y="2745581"/>
                <a:ext cx="836575" cy="1373982"/>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155993 h 1403643"/>
                  <a:gd name="connsiteX4" fmla="*/ 252 w 837304"/>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384593 h 1403643"/>
                  <a:gd name="connsiteX4" fmla="*/ 252 w 837304"/>
                  <a:gd name="connsiteY4" fmla="*/ 1403643 h 1403643"/>
                  <a:gd name="connsiteX0" fmla="*/ 252 w 837304"/>
                  <a:gd name="connsiteY0" fmla="*/ 1304583 h 1384593"/>
                  <a:gd name="connsiteX1" fmla="*/ 3256 w 837304"/>
                  <a:gd name="connsiteY1" fmla="*/ 193040 h 1384593"/>
                  <a:gd name="connsiteX2" fmla="*/ 832688 w 837304"/>
                  <a:gd name="connsiteY2" fmla="*/ 0 h 1384593"/>
                  <a:gd name="connsiteX3" fmla="*/ 837304 w 837304"/>
                  <a:gd name="connsiteY3" fmla="*/ 1384593 h 1384593"/>
                  <a:gd name="connsiteX4" fmla="*/ 252 w 837304"/>
                  <a:gd name="connsiteY4" fmla="*/ 1304583 h 138459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44924"/>
                  <a:gd name="connsiteY0" fmla="*/ 1304583 h 1338873"/>
                  <a:gd name="connsiteX1" fmla="*/ 3256 w 844924"/>
                  <a:gd name="connsiteY1" fmla="*/ 193040 h 1338873"/>
                  <a:gd name="connsiteX2" fmla="*/ 832688 w 844924"/>
                  <a:gd name="connsiteY2" fmla="*/ 0 h 1338873"/>
                  <a:gd name="connsiteX3" fmla="*/ 844924 w 844924"/>
                  <a:gd name="connsiteY3" fmla="*/ 1338873 h 1338873"/>
                  <a:gd name="connsiteX4" fmla="*/ 252 w 844924"/>
                  <a:gd name="connsiteY4" fmla="*/ 1304583 h 133887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28172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28172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1223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12236 w 829683"/>
                  <a:gd name="connsiteY4" fmla="*/ 1296963 h 1354113"/>
                  <a:gd name="connsiteX0" fmla="*/ 461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296963 h 1354113"/>
                  <a:gd name="connsiteX0" fmla="*/ 4616 w 829683"/>
                  <a:gd name="connsiteY0" fmla="*/ 1319188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319188 h 1354113"/>
                  <a:gd name="connsiteX0" fmla="*/ 1441 w 826508"/>
                  <a:gd name="connsiteY0" fmla="*/ 1319188 h 1354113"/>
                  <a:gd name="connsiteX1" fmla="*/ 0 w 826508"/>
                  <a:gd name="connsiteY1" fmla="*/ 196215 h 1354113"/>
                  <a:gd name="connsiteX2" fmla="*/ 826257 w 826508"/>
                  <a:gd name="connsiteY2" fmla="*/ 0 h 1354113"/>
                  <a:gd name="connsiteX3" fmla="*/ 823253 w 826508"/>
                  <a:gd name="connsiteY3" fmla="*/ 1354113 h 1354113"/>
                  <a:gd name="connsiteX4" fmla="*/ 1441 w 826508"/>
                  <a:gd name="connsiteY4" fmla="*/ 1319188 h 1354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08" h="1354113">
                    <a:moveTo>
                      <a:pt x="1441" y="1319188"/>
                    </a:moveTo>
                    <a:cubicBezTo>
                      <a:pt x="-98" y="999474"/>
                      <a:pt x="1539" y="515929"/>
                      <a:pt x="0" y="196215"/>
                    </a:cubicBezTo>
                    <a:lnTo>
                      <a:pt x="826257" y="0"/>
                    </a:lnTo>
                    <a:cubicBezTo>
                      <a:pt x="827796" y="385331"/>
                      <a:pt x="821714" y="968782"/>
                      <a:pt x="823253" y="1354113"/>
                    </a:cubicBezTo>
                    <a:lnTo>
                      <a:pt x="1441" y="1319188"/>
                    </a:lnTo>
                    <a:close/>
                  </a:path>
                </a:pathLst>
              </a:custGeom>
              <a:solidFill>
                <a:schemeClr val="accent1">
                  <a:lumMod val="40000"/>
                  <a:lumOff val="6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8" name="Down Arrow 457"/>
              <p:cNvSpPr/>
              <p:nvPr/>
            </p:nvSpPr>
            <p:spPr>
              <a:xfrm rot="10635248" flipV="1">
                <a:off x="3513231" y="2021116"/>
                <a:ext cx="269982" cy="375120"/>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pic>
            <p:nvPicPr>
              <p:cNvPr id="459" name="Picture 458"/>
              <p:cNvPicPr>
                <a:picLocks noChangeAspect="1"/>
              </p:cNvPicPr>
              <p:nvPr/>
            </p:nvPicPr>
            <p:blipFill>
              <a:blip r:embed="rId2" cstate="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10800000">
                <a:off x="5656110" y="1876644"/>
                <a:ext cx="566776" cy="566777"/>
              </a:xfrm>
              <a:prstGeom prst="rect">
                <a:avLst/>
              </a:prstGeom>
            </p:spPr>
          </p:pic>
          <p:pic>
            <p:nvPicPr>
              <p:cNvPr id="460" name="Picture 459"/>
              <p:cNvPicPr>
                <a:picLocks noChangeAspect="1"/>
              </p:cNvPicPr>
              <p:nvPr/>
            </p:nvPicPr>
            <p:blipFill>
              <a:blip r:embed="rId3" cstate="print">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5905013" y="3112482"/>
                <a:ext cx="685800" cy="685800"/>
              </a:xfrm>
              <a:prstGeom prst="rect">
                <a:avLst/>
              </a:prstGeom>
            </p:spPr>
          </p:pic>
          <p:pic>
            <p:nvPicPr>
              <p:cNvPr id="461" name="Picture 460"/>
              <p:cNvPicPr>
                <a:picLocks noChangeAspect="1"/>
              </p:cNvPicPr>
              <p:nvPr/>
            </p:nvPicPr>
            <p:blipFill>
              <a:blip r:embed="rId4" cstate="print">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rot="10800000" flipH="1">
                <a:off x="6328896" y="4715851"/>
                <a:ext cx="703089" cy="703089"/>
              </a:xfrm>
              <a:prstGeom prst="rect">
                <a:avLst/>
              </a:prstGeom>
            </p:spPr>
          </p:pic>
          <p:sp>
            <p:nvSpPr>
              <p:cNvPr id="462" name="Down Arrow 461"/>
              <p:cNvSpPr/>
              <p:nvPr/>
            </p:nvSpPr>
            <p:spPr>
              <a:xfrm>
                <a:off x="3533774" y="3627089"/>
                <a:ext cx="211701" cy="413058"/>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63" name="Down Arrow 462"/>
              <p:cNvSpPr/>
              <p:nvPr/>
            </p:nvSpPr>
            <p:spPr>
              <a:xfrm>
                <a:off x="3533775" y="5114189"/>
                <a:ext cx="243131" cy="418271"/>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grpSp>
      </p:grpSp>
      <p:sp>
        <p:nvSpPr>
          <p:cNvPr id="464" name="TextBox 127"/>
          <p:cNvSpPr txBox="1"/>
          <p:nvPr/>
        </p:nvSpPr>
        <p:spPr>
          <a:xfrm>
            <a:off x="467605" y="2544751"/>
            <a:ext cx="716566" cy="332623"/>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2034F</a:t>
            </a:r>
          </a:p>
        </p:txBody>
      </p:sp>
      <p:sp>
        <p:nvSpPr>
          <p:cNvPr id="465" name="TextBox 128"/>
          <p:cNvSpPr txBox="1"/>
          <p:nvPr/>
        </p:nvSpPr>
        <p:spPr>
          <a:xfrm>
            <a:off x="152400" y="1131579"/>
            <a:ext cx="5791200" cy="502920"/>
          </a:xfrm>
          <a:prstGeom prst="rect">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pPr algn="ctr"/>
            <a:r>
              <a:rPr lang="en-GB" sz="1376" b="1" dirty="0">
                <a:solidFill>
                  <a:prstClr val="black"/>
                </a:solidFill>
              </a:rPr>
              <a:t>Western Europe WXYZ Market Value (US$ </a:t>
            </a:r>
            <a:r>
              <a:rPr lang="en-GB" sz="1376" b="1" dirty="0" err="1">
                <a:solidFill>
                  <a:prstClr val="black"/>
                </a:solidFill>
              </a:rPr>
              <a:t>Mn</a:t>
            </a:r>
            <a:r>
              <a:rPr lang="en-GB" sz="1376" b="1" dirty="0">
                <a:solidFill>
                  <a:prstClr val="black"/>
                </a:solidFill>
              </a:rPr>
              <a:t>)</a:t>
            </a:r>
          </a:p>
        </p:txBody>
      </p:sp>
      <p:sp>
        <p:nvSpPr>
          <p:cNvPr id="466" name="TextBox 129"/>
          <p:cNvSpPr txBox="1"/>
          <p:nvPr/>
        </p:nvSpPr>
        <p:spPr>
          <a:xfrm>
            <a:off x="467605" y="3945797"/>
            <a:ext cx="716566" cy="334259"/>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2029F</a:t>
            </a:r>
          </a:p>
        </p:txBody>
      </p:sp>
      <p:sp>
        <p:nvSpPr>
          <p:cNvPr id="467" name="TextBox 130"/>
          <p:cNvSpPr txBox="1"/>
          <p:nvPr/>
        </p:nvSpPr>
        <p:spPr>
          <a:xfrm>
            <a:off x="467605" y="5165028"/>
            <a:ext cx="716566" cy="332623"/>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2024E</a:t>
            </a:r>
          </a:p>
        </p:txBody>
      </p:sp>
      <p:sp>
        <p:nvSpPr>
          <p:cNvPr id="468" name="TextBox 131"/>
          <p:cNvSpPr txBox="1"/>
          <p:nvPr/>
        </p:nvSpPr>
        <p:spPr>
          <a:xfrm>
            <a:off x="1269734" y="2205145"/>
            <a:ext cx="1593183"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solidFill>
                <a:prstClr val="black"/>
              </a:solidFill>
            </a:endParaRPr>
          </a:p>
          <a:p>
            <a:pPr algn="ctr"/>
            <a:r>
              <a:rPr lang="en-US" sz="1800" b="1" dirty="0" err="1">
                <a:solidFill>
                  <a:prstClr val="black"/>
                </a:solidFill>
              </a:rPr>
              <a:t>Mn</a:t>
            </a:r>
            <a:endParaRPr lang="en-US" sz="1800" b="1" dirty="0">
              <a:solidFill>
                <a:prstClr val="black"/>
              </a:solidFill>
            </a:endParaRPr>
          </a:p>
        </p:txBody>
      </p:sp>
      <p:sp>
        <p:nvSpPr>
          <p:cNvPr id="469" name="TextBox 132"/>
          <p:cNvSpPr txBox="1"/>
          <p:nvPr/>
        </p:nvSpPr>
        <p:spPr>
          <a:xfrm>
            <a:off x="1269734" y="3667727"/>
            <a:ext cx="1368961"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p>
          <a:p>
            <a:pPr algn="ctr"/>
            <a:r>
              <a:rPr lang="en-US" sz="1800" b="1" dirty="0" err="1">
                <a:solidFill>
                  <a:prstClr val="black"/>
                </a:solidFill>
              </a:rPr>
              <a:t>Mn</a:t>
            </a:r>
            <a:endParaRPr lang="en-US" sz="1800" b="1" dirty="0">
              <a:solidFill>
                <a:prstClr val="black"/>
              </a:solidFill>
            </a:endParaRPr>
          </a:p>
        </p:txBody>
      </p:sp>
      <p:sp>
        <p:nvSpPr>
          <p:cNvPr id="470" name="TextBox 133"/>
          <p:cNvSpPr txBox="1"/>
          <p:nvPr/>
        </p:nvSpPr>
        <p:spPr>
          <a:xfrm>
            <a:off x="1269734" y="4940208"/>
            <a:ext cx="1368961"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p>
          <a:p>
            <a:pPr algn="ctr"/>
            <a:r>
              <a:rPr lang="en-US" sz="1800" b="1" dirty="0" err="1">
                <a:solidFill>
                  <a:prstClr val="black"/>
                </a:solidFill>
              </a:rPr>
              <a:t>Mn</a:t>
            </a:r>
            <a:endParaRPr lang="en-US" sz="1800" b="1" dirty="0">
              <a:solidFill>
                <a:prstClr val="black"/>
              </a:solidFill>
            </a:endParaRPr>
          </a:p>
        </p:txBody>
      </p:sp>
      <p:cxnSp>
        <p:nvCxnSpPr>
          <p:cNvPr id="471" name="Straight Connector 470"/>
          <p:cNvCxnSpPr/>
          <p:nvPr/>
        </p:nvCxnSpPr>
        <p:spPr>
          <a:xfrm>
            <a:off x="3485260" y="4612987"/>
            <a:ext cx="0" cy="1284684"/>
          </a:xfrm>
          <a:prstGeom prst="line">
            <a:avLst/>
          </a:prstGeom>
          <a:ln w="28575">
            <a:solidFill>
              <a:srgbClr val="A6A6A6"/>
            </a:solidFill>
          </a:ln>
        </p:spPr>
        <p:style>
          <a:lnRef idx="1">
            <a:schemeClr val="accent1"/>
          </a:lnRef>
          <a:fillRef idx="0">
            <a:schemeClr val="accent1"/>
          </a:fillRef>
          <a:effectRef idx="0">
            <a:schemeClr val="accent1"/>
          </a:effectRef>
          <a:fontRef idx="minor">
            <a:schemeClr val="tx1"/>
          </a:fontRef>
        </p:style>
      </p:cxnSp>
      <p:sp>
        <p:nvSpPr>
          <p:cNvPr id="472" name="Chevron 471"/>
          <p:cNvSpPr/>
          <p:nvPr/>
        </p:nvSpPr>
        <p:spPr>
          <a:xfrm>
            <a:off x="3389976" y="5190091"/>
            <a:ext cx="190568" cy="145196"/>
          </a:xfrm>
          <a:prstGeom prst="chevron">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black"/>
              </a:solidFill>
            </a:endParaRPr>
          </a:p>
        </p:txBody>
      </p:sp>
      <p:sp>
        <p:nvSpPr>
          <p:cNvPr id="473" name="TextBox 142"/>
          <p:cNvSpPr txBox="1"/>
          <p:nvPr/>
        </p:nvSpPr>
        <p:spPr>
          <a:xfrm>
            <a:off x="4195599" y="4864062"/>
            <a:ext cx="2768961" cy="1309461"/>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751" b="1" dirty="0">
                <a:solidFill>
                  <a:prstClr val="black"/>
                </a:solidFill>
              </a:rPr>
              <a:t>US$ </a:t>
            </a:r>
            <a:r>
              <a:rPr lang="en-US" sz="2800" b="1" dirty="0"/>
              <a:t>xx</a:t>
            </a:r>
          </a:p>
          <a:p>
            <a:pPr algn="ctr"/>
            <a:r>
              <a:rPr lang="en-US" sz="2751" b="1" dirty="0" err="1">
                <a:solidFill>
                  <a:prstClr val="black"/>
                </a:solidFill>
              </a:rPr>
              <a:t>Mn</a:t>
            </a:r>
            <a:endParaRPr lang="en-US" sz="2751" b="1" dirty="0">
              <a:solidFill>
                <a:prstClr val="black"/>
              </a:solidFill>
            </a:endParaRPr>
          </a:p>
          <a:p>
            <a:pPr algn="ctr"/>
            <a:r>
              <a:rPr lang="en-US" sz="1179" b="1" dirty="0">
                <a:solidFill>
                  <a:prstClr val="black"/>
                </a:solidFill>
              </a:rPr>
              <a:t>Incremental $ Opportunity</a:t>
            </a:r>
          </a:p>
          <a:p>
            <a:pPr algn="ctr"/>
            <a:r>
              <a:rPr lang="en-US" sz="1179" b="1" dirty="0">
                <a:solidFill>
                  <a:prstClr val="black"/>
                </a:solidFill>
              </a:rPr>
              <a:t>2023 - 2033</a:t>
            </a:r>
          </a:p>
        </p:txBody>
      </p:sp>
      <p:sp>
        <p:nvSpPr>
          <p:cNvPr id="474" name="TextBox 292"/>
          <p:cNvSpPr txBox="1"/>
          <p:nvPr/>
        </p:nvSpPr>
        <p:spPr>
          <a:xfrm>
            <a:off x="7228567" y="3995932"/>
            <a:ext cx="55868" cy="2144824"/>
          </a:xfrm>
          <a:prstGeom prst="rect">
            <a:avLst/>
          </a:prstGeom>
          <a:solidFill>
            <a:schemeClr val="accent1"/>
          </a:solidFill>
          <a:effectLst/>
        </p:spPr>
        <p:style>
          <a:lnRef idx="0">
            <a:schemeClr val="accent2"/>
          </a:lnRef>
          <a:fillRef idx="3">
            <a:schemeClr val="accent2"/>
          </a:fillRef>
          <a:effectRef idx="3">
            <a:schemeClr val="accent2"/>
          </a:effectRef>
          <a:fontRef idx="minor">
            <a:schemeClr val="lt1"/>
          </a:fontRef>
        </p:style>
        <p:txBody>
          <a:bodyPr wrap="square" rtlCol="0" anchor="ctr">
            <a:noAutofit/>
          </a:bodyP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GB" sz="982" b="1" dirty="0">
              <a:solidFill>
                <a:sysClr val="windowText" lastClr="000000"/>
              </a:solidFill>
            </a:endParaRPr>
          </a:p>
        </p:txBody>
      </p:sp>
      <p:sp>
        <p:nvSpPr>
          <p:cNvPr id="475" name="TextBox 145"/>
          <p:cNvSpPr txBox="1"/>
          <p:nvPr/>
        </p:nvSpPr>
        <p:spPr>
          <a:xfrm>
            <a:off x="4593421" y="3713072"/>
            <a:ext cx="1291742" cy="947695"/>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3200" b="1" dirty="0"/>
              <a:t>XX</a:t>
            </a:r>
            <a:endParaRPr lang="en-US" sz="3144" b="1" dirty="0">
              <a:solidFill>
                <a:prstClr val="black"/>
              </a:solidFill>
            </a:endParaRPr>
          </a:p>
          <a:p>
            <a:pPr algn="ctr"/>
            <a:r>
              <a:rPr lang="en-US" sz="1179" b="1" dirty="0">
                <a:solidFill>
                  <a:prstClr val="black"/>
                </a:solidFill>
              </a:rPr>
              <a:t>Growth</a:t>
            </a:r>
          </a:p>
          <a:p>
            <a:pPr algn="ctr"/>
            <a:r>
              <a:rPr lang="en-US" sz="1179" b="1" dirty="0">
                <a:solidFill>
                  <a:prstClr val="black"/>
                </a:solidFill>
              </a:rPr>
              <a:t>2023 - 2033</a:t>
            </a:r>
          </a:p>
        </p:txBody>
      </p:sp>
      <p:sp>
        <p:nvSpPr>
          <p:cNvPr id="476" name="TextBox 146"/>
          <p:cNvSpPr txBox="1"/>
          <p:nvPr/>
        </p:nvSpPr>
        <p:spPr>
          <a:xfrm>
            <a:off x="7628974" y="5360012"/>
            <a:ext cx="2768961" cy="400110"/>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IN" sz="2000" b="1" dirty="0"/>
              <a:t>Xx </a:t>
            </a:r>
            <a:r>
              <a:rPr lang="en-US" sz="1572" b="1" dirty="0">
                <a:solidFill>
                  <a:prstClr val="black"/>
                </a:solidFill>
              </a:rPr>
              <a:t>(2034F)</a:t>
            </a:r>
          </a:p>
        </p:txBody>
      </p:sp>
      <p:sp>
        <p:nvSpPr>
          <p:cNvPr id="477" name="TextBox 147"/>
          <p:cNvSpPr txBox="1"/>
          <p:nvPr/>
        </p:nvSpPr>
        <p:spPr>
          <a:xfrm>
            <a:off x="7631502" y="4869943"/>
            <a:ext cx="2288398" cy="400110"/>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IN" sz="2000" b="1" dirty="0"/>
              <a:t>Xx </a:t>
            </a:r>
            <a:r>
              <a:rPr lang="en-US" sz="1572" b="1" dirty="0">
                <a:solidFill>
                  <a:prstClr val="black"/>
                </a:solidFill>
              </a:rPr>
              <a:t>(2024E)</a:t>
            </a:r>
          </a:p>
        </p:txBody>
      </p:sp>
      <p:sp>
        <p:nvSpPr>
          <p:cNvPr id="478" name="TextBox 151"/>
          <p:cNvSpPr txBox="1"/>
          <p:nvPr/>
        </p:nvSpPr>
        <p:spPr>
          <a:xfrm>
            <a:off x="7763358" y="4088829"/>
            <a:ext cx="3699179" cy="334259"/>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GB" sz="1572" b="1" dirty="0">
                <a:solidFill>
                  <a:prstClr val="black"/>
                </a:solidFill>
              </a:rPr>
              <a:t>WXYZ Market </a:t>
            </a:r>
            <a:r>
              <a:rPr lang="en-US" sz="1572" b="1" dirty="0">
                <a:solidFill>
                  <a:prstClr val="black"/>
                </a:solidFill>
              </a:rPr>
              <a:t>Volume (Tons)</a:t>
            </a:r>
          </a:p>
        </p:txBody>
      </p:sp>
      <p:pic>
        <p:nvPicPr>
          <p:cNvPr id="479" name="Picture 478"/>
          <p:cNvPicPr>
            <a:picLocks noChangeAspect="1"/>
          </p:cNvPicPr>
          <p:nvPr/>
        </p:nvPicPr>
        <p:blipFill>
          <a:blip r:embed="rId4"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5790291" y="3885195"/>
            <a:ext cx="573333" cy="581624"/>
          </a:xfrm>
          <a:prstGeom prst="rect">
            <a:avLst/>
          </a:prstGeom>
        </p:spPr>
      </p:pic>
      <p:grpSp>
        <p:nvGrpSpPr>
          <p:cNvPr id="480" name="Group 479"/>
          <p:cNvGrpSpPr/>
          <p:nvPr/>
        </p:nvGrpSpPr>
        <p:grpSpPr>
          <a:xfrm>
            <a:off x="10255825" y="4603620"/>
            <a:ext cx="1005448" cy="1132827"/>
            <a:chOff x="6615292" y="2096313"/>
            <a:chExt cx="1023376" cy="1153027"/>
          </a:xfrm>
        </p:grpSpPr>
        <p:sp>
          <p:nvSpPr>
            <p:cNvPr id="481" name="TextBox 594"/>
            <p:cNvSpPr txBox="1"/>
            <p:nvPr/>
          </p:nvSpPr>
          <p:spPr>
            <a:xfrm>
              <a:off x="6615292" y="2330852"/>
              <a:ext cx="959125" cy="407244"/>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000" b="1" spc="-147" dirty="0">
                  <a:solidFill>
                    <a:srgbClr val="2A5F8F">
                      <a:lumMod val="50000"/>
                    </a:srgbClr>
                  </a:solidFill>
                  <a:cs typeface="FrankRuehl" panose="020E0503060101010101" pitchFamily="34" charset="-79"/>
                </a:rPr>
                <a:t>CAGR </a:t>
              </a:r>
            </a:p>
          </p:txBody>
        </p:sp>
        <p:sp>
          <p:nvSpPr>
            <p:cNvPr id="482" name="TextBox 595"/>
            <p:cNvSpPr txBox="1"/>
            <p:nvPr/>
          </p:nvSpPr>
          <p:spPr>
            <a:xfrm>
              <a:off x="6667912" y="2716790"/>
              <a:ext cx="970756" cy="532550"/>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800" b="1" dirty="0">
                  <a:solidFill>
                    <a:srgbClr val="2A5F8F">
                      <a:lumMod val="50000"/>
                    </a:srgbClr>
                  </a:solidFill>
                  <a:latin typeface="Agency FB" panose="020B0503020202020204" pitchFamily="34" charset="0"/>
                </a:rPr>
                <a:t>xx%</a:t>
              </a:r>
            </a:p>
          </p:txBody>
        </p:sp>
        <p:sp>
          <p:nvSpPr>
            <p:cNvPr id="483" name="TextBox 596"/>
            <p:cNvSpPr txBox="1"/>
            <p:nvPr/>
          </p:nvSpPr>
          <p:spPr>
            <a:xfrm>
              <a:off x="6732162" y="2096313"/>
              <a:ext cx="858124" cy="212931"/>
            </a:xfrm>
            <a:prstGeom prst="rect">
              <a:avLst/>
            </a:prstGeom>
            <a:noFill/>
          </p:spPr>
          <p:txBody>
            <a:bodyPr wrap="square" lIns="0" tIns="0" rIns="0" bIns="0" rtlCol="0">
              <a:no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defTabSz="898398">
                <a:defRPr/>
              </a:pPr>
              <a:r>
                <a:rPr lang="en-GB" sz="1800" b="1" kern="0" dirty="0">
                  <a:solidFill>
                    <a:srgbClr val="2A5F8F">
                      <a:lumMod val="50000"/>
                    </a:srgbClr>
                  </a:solidFill>
                </a:rPr>
                <a:t>Volume</a:t>
              </a:r>
            </a:p>
          </p:txBody>
        </p:sp>
      </p:grpSp>
      <p:grpSp>
        <p:nvGrpSpPr>
          <p:cNvPr id="484" name="Group 483"/>
          <p:cNvGrpSpPr/>
          <p:nvPr/>
        </p:nvGrpSpPr>
        <p:grpSpPr>
          <a:xfrm>
            <a:off x="10896939" y="1965146"/>
            <a:ext cx="1295061" cy="1132827"/>
            <a:chOff x="6615292" y="2096313"/>
            <a:chExt cx="1023376" cy="1153027"/>
          </a:xfrm>
        </p:grpSpPr>
        <p:sp>
          <p:nvSpPr>
            <p:cNvPr id="485" name="TextBox 604"/>
            <p:cNvSpPr txBox="1"/>
            <p:nvPr/>
          </p:nvSpPr>
          <p:spPr>
            <a:xfrm>
              <a:off x="6615292" y="2330852"/>
              <a:ext cx="959125" cy="407245"/>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000" b="1" spc="-147" dirty="0">
                  <a:solidFill>
                    <a:srgbClr val="2A5F8F">
                      <a:lumMod val="50000"/>
                    </a:srgbClr>
                  </a:solidFill>
                  <a:cs typeface="FrankRuehl" panose="020E0503060101010101" pitchFamily="34" charset="-79"/>
                </a:rPr>
                <a:t>CAGR </a:t>
              </a:r>
            </a:p>
          </p:txBody>
        </p:sp>
        <p:sp>
          <p:nvSpPr>
            <p:cNvPr id="486" name="TextBox 605"/>
            <p:cNvSpPr txBox="1"/>
            <p:nvPr/>
          </p:nvSpPr>
          <p:spPr>
            <a:xfrm>
              <a:off x="6667912" y="2716790"/>
              <a:ext cx="970756" cy="532550"/>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800" b="1" dirty="0">
                  <a:solidFill>
                    <a:srgbClr val="2A5F8F">
                      <a:lumMod val="50000"/>
                    </a:srgbClr>
                  </a:solidFill>
                  <a:latin typeface="Agency FB" panose="020B0503020202020204" pitchFamily="34" charset="0"/>
                </a:rPr>
                <a:t>xx%</a:t>
              </a:r>
            </a:p>
          </p:txBody>
        </p:sp>
        <p:sp>
          <p:nvSpPr>
            <p:cNvPr id="487" name="TextBox 606"/>
            <p:cNvSpPr txBox="1"/>
            <p:nvPr/>
          </p:nvSpPr>
          <p:spPr>
            <a:xfrm>
              <a:off x="6732162" y="2096313"/>
              <a:ext cx="725385" cy="248712"/>
            </a:xfrm>
            <a:prstGeom prst="rect">
              <a:avLst/>
            </a:prstGeom>
            <a:noFill/>
          </p:spPr>
          <p:txBody>
            <a:bodyPr wrap="square" lIns="0" tIns="0" rIns="0" bIns="0" rtlCol="0">
              <a:no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defTabSz="898398">
                <a:defRPr/>
              </a:pPr>
              <a:r>
                <a:rPr lang="en-GB" sz="1800" b="1" kern="0" dirty="0">
                  <a:solidFill>
                    <a:srgbClr val="2A5F8F">
                      <a:lumMod val="50000"/>
                    </a:srgbClr>
                  </a:solidFill>
                </a:rPr>
                <a:t>Value</a:t>
              </a:r>
            </a:p>
          </p:txBody>
        </p:sp>
      </p:grpSp>
      <p:sp>
        <p:nvSpPr>
          <p:cNvPr id="488" name="TextBox 597"/>
          <p:cNvSpPr txBox="1"/>
          <p:nvPr/>
        </p:nvSpPr>
        <p:spPr>
          <a:xfrm>
            <a:off x="6248400" y="1131672"/>
            <a:ext cx="5791200" cy="502920"/>
          </a:xfrm>
          <a:prstGeom prst="rect">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pPr algn="ctr"/>
            <a:r>
              <a:rPr lang="en-GB" sz="1376" b="1" dirty="0">
                <a:solidFill>
                  <a:prstClr val="black"/>
                </a:solidFill>
              </a:rPr>
              <a:t>Western Europe WXYZ Market Incremental $ Opportunity, 2019 and 2023-2034</a:t>
            </a:r>
          </a:p>
        </p:txBody>
      </p:sp>
      <p:cxnSp>
        <p:nvCxnSpPr>
          <p:cNvPr id="489" name="Straight Connector 488"/>
          <p:cNvCxnSpPr/>
          <p:nvPr/>
        </p:nvCxnSpPr>
        <p:spPr>
          <a:xfrm>
            <a:off x="7714740" y="5300649"/>
            <a:ext cx="1848801" cy="0"/>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491" name="Content Placeholder 13"/>
          <p:cNvGraphicFramePr>
            <a:graphicFrameLocks/>
          </p:cNvGraphicFramePr>
          <p:nvPr/>
        </p:nvGraphicFramePr>
        <p:xfrm>
          <a:off x="6512366" y="1694610"/>
          <a:ext cx="4585089" cy="1920875"/>
        </p:xfrm>
        <a:graphic>
          <a:graphicData uri="http://schemas.openxmlformats.org/drawingml/2006/chart">
            <c:chart xmlns:c="http://schemas.openxmlformats.org/drawingml/2006/chart" xmlns:r="http://schemas.openxmlformats.org/officeDocument/2006/relationships" r:id="rId5"/>
          </a:graphicData>
        </a:graphic>
      </p:graphicFrame>
      <p:sp>
        <p:nvSpPr>
          <p:cNvPr id="493" name="TextBox 49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228</a:t>
            </a:fld>
            <a:endParaRPr lang="en-GB" dirty="0"/>
          </a:p>
        </p:txBody>
      </p:sp>
    </p:spTree>
    <p:extLst>
      <p:ext uri="{BB962C8B-B14F-4D97-AF65-F5344CB8AC3E}">
        <p14:creationId xmlns:p14="http://schemas.microsoft.com/office/powerpoint/2010/main" val="1319983628"/>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Western Europe WXYZ Market Analysis By Country</a:t>
            </a:r>
          </a:p>
        </p:txBody>
      </p:sp>
      <p:sp>
        <p:nvSpPr>
          <p:cNvPr id="7" name="Text Placeholder 6"/>
          <p:cNvSpPr>
            <a:spLocks noGrp="1"/>
          </p:cNvSpPr>
          <p:nvPr>
            <p:ph type="body" idx="12"/>
          </p:nvPr>
        </p:nvSpPr>
        <p:spPr/>
        <p:txBody>
          <a:bodyPr/>
          <a:lstStyle/>
          <a:p>
            <a:r>
              <a:rPr lang="en-US" sz="1100" dirty="0"/>
              <a:t>Figure XX: Western Europe WXYZ Market Share and BPS Analysis By Country, 2024 &amp; 2034</a:t>
            </a:r>
          </a:p>
        </p:txBody>
      </p:sp>
      <p:sp>
        <p:nvSpPr>
          <p:cNvPr id="9" name="Text Placeholder 8"/>
          <p:cNvSpPr>
            <a:spLocks noGrp="1"/>
          </p:cNvSpPr>
          <p:nvPr>
            <p:ph type="body" idx="14"/>
          </p:nvPr>
        </p:nvSpPr>
        <p:spPr/>
        <p:txBody>
          <a:bodyPr/>
          <a:lstStyle/>
          <a:p>
            <a:r>
              <a:rPr lang="en-US" sz="1100" dirty="0"/>
              <a:t>Figure XX: Western Europe WXYZ Market Y-o-Y Growth Projections By Country, 2024 – 2034</a:t>
            </a:r>
          </a:p>
        </p:txBody>
      </p:sp>
      <p:sp>
        <p:nvSpPr>
          <p:cNvPr id="11" name="Text Placeholder 10"/>
          <p:cNvSpPr>
            <a:spLocks noGrp="1"/>
          </p:cNvSpPr>
          <p:nvPr>
            <p:ph type="body" idx="16"/>
          </p:nvPr>
        </p:nvSpPr>
        <p:spPr/>
        <p:txBody>
          <a:bodyPr/>
          <a:lstStyle/>
          <a:p>
            <a:r>
              <a:rPr lang="en-US" dirty="0"/>
              <a:t>Figure XX: Western Europe WXYZ Market Attractiveness Analysis By Country, 2024 – 2034</a:t>
            </a:r>
          </a:p>
        </p:txBody>
      </p:sp>
      <p:sp>
        <p:nvSpPr>
          <p:cNvPr id="13" name="TextBox 1"/>
          <p:cNvSpPr txBox="1"/>
          <p:nvPr/>
        </p:nvSpPr>
        <p:spPr>
          <a:xfrm>
            <a:off x="734617" y="1639200"/>
            <a:ext cx="71013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XX </a:t>
            </a:r>
            <a:r>
              <a:rPr lang="en-US" sz="1200" b="1" dirty="0" err="1"/>
              <a:t>Mn</a:t>
            </a:r>
            <a:endParaRPr lang="en-US" sz="1200" b="1" dirty="0"/>
          </a:p>
        </p:txBody>
      </p:sp>
      <p:sp>
        <p:nvSpPr>
          <p:cNvPr id="14" name="TextBox 9"/>
          <p:cNvSpPr txBox="1"/>
          <p:nvPr/>
        </p:nvSpPr>
        <p:spPr>
          <a:xfrm>
            <a:off x="2665948" y="1626505"/>
            <a:ext cx="71013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XX </a:t>
            </a:r>
            <a:r>
              <a:rPr lang="en-US" sz="1200" b="1" dirty="0" err="1"/>
              <a:t>Mn</a:t>
            </a:r>
            <a:endParaRPr lang="en-US" sz="1200" b="1" dirty="0"/>
          </a:p>
        </p:txBody>
      </p:sp>
      <p:graphicFrame>
        <p:nvGraphicFramePr>
          <p:cNvPr id="22" name="Content Placeholder 17"/>
          <p:cNvGraphicFramePr>
            <a:graphicFrameLocks noGrp="1"/>
          </p:cNvGraphicFramePr>
          <p:nvPr>
            <p:ph idx="13"/>
            <p:extLst>
              <p:ext uri="{D42A27DB-BD31-4B8C-83A1-F6EECF244321}">
                <p14:modId xmlns:p14="http://schemas.microsoft.com/office/powerpoint/2010/main" val="3653407495"/>
              </p:ext>
            </p:extLst>
          </p:nvPr>
        </p:nvGraphicFramePr>
        <p:xfrm>
          <a:off x="4513263" y="1612901"/>
          <a:ext cx="3109912" cy="4594225"/>
        </p:xfrm>
        <a:graphic>
          <a:graphicData uri="http://schemas.openxmlformats.org/drawingml/2006/chart">
            <c:chart xmlns:c="http://schemas.openxmlformats.org/drawingml/2006/chart" xmlns:r="http://schemas.openxmlformats.org/officeDocument/2006/relationships" r:id="rId2"/>
          </a:graphicData>
        </a:graphic>
      </p:graphicFrame>
      <p:sp>
        <p:nvSpPr>
          <p:cNvPr id="12" name="TextBox 1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5" name="Content Placeholder 14"/>
          <p:cNvGraphicFramePr>
            <a:graphicFrameLocks noGrp="1"/>
          </p:cNvGraphicFramePr>
          <p:nvPr>
            <p:ph idx="1"/>
            <p:extLst>
              <p:ext uri="{D42A27DB-BD31-4B8C-83A1-F6EECF244321}">
                <p14:modId xmlns:p14="http://schemas.microsoft.com/office/powerpoint/2010/main" val="3147826706"/>
              </p:ext>
            </p:extLst>
          </p:nvPr>
        </p:nvGraphicFramePr>
        <p:xfrm>
          <a:off x="152400" y="1639888"/>
          <a:ext cx="3768725" cy="456723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Content Placeholder 19"/>
          <p:cNvGraphicFramePr>
            <a:graphicFrameLocks noGrp="1"/>
          </p:cNvGraphicFramePr>
          <p:nvPr>
            <p:ph idx="15"/>
            <p:extLst>
              <p:ext uri="{D42A27DB-BD31-4B8C-83A1-F6EECF244321}">
                <p14:modId xmlns:p14="http://schemas.microsoft.com/office/powerpoint/2010/main" val="634487308"/>
              </p:ext>
            </p:extLst>
          </p:nvPr>
        </p:nvGraphicFramePr>
        <p:xfrm>
          <a:off x="8274050" y="1612900"/>
          <a:ext cx="3768725" cy="4594225"/>
        </p:xfrm>
        <a:graphic>
          <a:graphicData uri="http://schemas.openxmlformats.org/drawingml/2006/chart">
            <c:chart xmlns:c="http://schemas.openxmlformats.org/drawingml/2006/chart" xmlns:r="http://schemas.openxmlformats.org/officeDocument/2006/relationships" r:id="rId4"/>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229</a:t>
            </a:fld>
            <a:endParaRPr lang="en-GB" dirty="0"/>
          </a:p>
        </p:txBody>
      </p:sp>
    </p:spTree>
    <p:extLst>
      <p:ext uri="{BB962C8B-B14F-4D97-AF65-F5344CB8AC3E}">
        <p14:creationId xmlns:p14="http://schemas.microsoft.com/office/powerpoint/2010/main" val="3509140893"/>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Western Europe WXYZ Market Analysis By Country</a:t>
            </a:r>
          </a:p>
        </p:txBody>
      </p:sp>
      <p:sp>
        <p:nvSpPr>
          <p:cNvPr id="6" name="Text Placeholder 5"/>
          <p:cNvSpPr>
            <a:spLocks noGrp="1"/>
          </p:cNvSpPr>
          <p:nvPr>
            <p:ph type="body" idx="12"/>
          </p:nvPr>
        </p:nvSpPr>
        <p:spPr/>
        <p:txBody>
          <a:bodyPr/>
          <a:lstStyle/>
          <a:p>
            <a:r>
              <a:rPr lang="en-US" sz="1400" dirty="0"/>
              <a:t>Table 13: Western Europe WXYZ Market Size (US$ </a:t>
            </a:r>
            <a:r>
              <a:rPr lang="en-US" sz="1400" dirty="0" err="1"/>
              <a:t>Mn</a:t>
            </a:r>
            <a:r>
              <a:rPr lang="en-US" sz="1400" dirty="0"/>
              <a:t>) and Volume (Tons) Analysis and Forecast By Country, 2019 – 2034</a:t>
            </a:r>
          </a:p>
        </p:txBody>
      </p:sp>
      <p:graphicFrame>
        <p:nvGraphicFramePr>
          <p:cNvPr id="7" name="Content Placeholder 9"/>
          <p:cNvGraphicFramePr>
            <a:graphicFrameLocks/>
          </p:cNvGraphicFramePr>
          <p:nvPr>
            <p:extLst>
              <p:ext uri="{D42A27DB-BD31-4B8C-83A1-F6EECF244321}">
                <p14:modId xmlns:p14="http://schemas.microsoft.com/office/powerpoint/2010/main" val="3296402910"/>
              </p:ext>
            </p:extLst>
          </p:nvPr>
        </p:nvGraphicFramePr>
        <p:xfrm>
          <a:off x="152399" y="1668464"/>
          <a:ext cx="11887207" cy="4380642"/>
        </p:xfrm>
        <a:graphic>
          <a:graphicData uri="http://schemas.openxmlformats.org/drawingml/2006/table">
            <a:tbl>
              <a:tblPr firstRow="1" bandRow="1">
                <a:tableStyleId>{5C22544A-7EE6-4342-B048-85BDC9FD1C3A}</a:tableStyleId>
              </a:tblPr>
              <a:tblGrid>
                <a:gridCol w="897220">
                  <a:extLst>
                    <a:ext uri="{9D8B030D-6E8A-4147-A177-3AD203B41FA5}">
                      <a16:colId xmlns:a16="http://schemas.microsoft.com/office/drawing/2014/main" val="20000"/>
                    </a:ext>
                  </a:extLst>
                </a:gridCol>
                <a:gridCol w="360618">
                  <a:extLst>
                    <a:ext uri="{9D8B030D-6E8A-4147-A177-3AD203B41FA5}">
                      <a16:colId xmlns:a16="http://schemas.microsoft.com/office/drawing/2014/main" val="20018"/>
                    </a:ext>
                  </a:extLst>
                </a:gridCol>
                <a:gridCol w="625257">
                  <a:extLst>
                    <a:ext uri="{9D8B030D-6E8A-4147-A177-3AD203B41FA5}">
                      <a16:colId xmlns:a16="http://schemas.microsoft.com/office/drawing/2014/main" val="20001"/>
                    </a:ext>
                  </a:extLst>
                </a:gridCol>
                <a:gridCol w="625257">
                  <a:extLst>
                    <a:ext uri="{9D8B030D-6E8A-4147-A177-3AD203B41FA5}">
                      <a16:colId xmlns:a16="http://schemas.microsoft.com/office/drawing/2014/main" val="20002"/>
                    </a:ext>
                  </a:extLst>
                </a:gridCol>
                <a:gridCol w="625257">
                  <a:extLst>
                    <a:ext uri="{9D8B030D-6E8A-4147-A177-3AD203B41FA5}">
                      <a16:colId xmlns:a16="http://schemas.microsoft.com/office/drawing/2014/main" val="20003"/>
                    </a:ext>
                  </a:extLst>
                </a:gridCol>
                <a:gridCol w="625257">
                  <a:extLst>
                    <a:ext uri="{9D8B030D-6E8A-4147-A177-3AD203B41FA5}">
                      <a16:colId xmlns:a16="http://schemas.microsoft.com/office/drawing/2014/main" val="20004"/>
                    </a:ext>
                  </a:extLst>
                </a:gridCol>
                <a:gridCol w="625257">
                  <a:extLst>
                    <a:ext uri="{9D8B030D-6E8A-4147-A177-3AD203B41FA5}">
                      <a16:colId xmlns:a16="http://schemas.microsoft.com/office/drawing/2014/main" val="20005"/>
                    </a:ext>
                  </a:extLst>
                </a:gridCol>
                <a:gridCol w="625257">
                  <a:extLst>
                    <a:ext uri="{9D8B030D-6E8A-4147-A177-3AD203B41FA5}">
                      <a16:colId xmlns:a16="http://schemas.microsoft.com/office/drawing/2014/main" val="20006"/>
                    </a:ext>
                  </a:extLst>
                </a:gridCol>
                <a:gridCol w="625257">
                  <a:extLst>
                    <a:ext uri="{9D8B030D-6E8A-4147-A177-3AD203B41FA5}">
                      <a16:colId xmlns:a16="http://schemas.microsoft.com/office/drawing/2014/main" val="20007"/>
                    </a:ext>
                  </a:extLst>
                </a:gridCol>
                <a:gridCol w="625257">
                  <a:extLst>
                    <a:ext uri="{9D8B030D-6E8A-4147-A177-3AD203B41FA5}">
                      <a16:colId xmlns:a16="http://schemas.microsoft.com/office/drawing/2014/main" val="20008"/>
                    </a:ext>
                  </a:extLst>
                </a:gridCol>
                <a:gridCol w="625257">
                  <a:extLst>
                    <a:ext uri="{9D8B030D-6E8A-4147-A177-3AD203B41FA5}">
                      <a16:colId xmlns:a16="http://schemas.microsoft.com/office/drawing/2014/main" val="20009"/>
                    </a:ext>
                  </a:extLst>
                </a:gridCol>
                <a:gridCol w="625257">
                  <a:extLst>
                    <a:ext uri="{9D8B030D-6E8A-4147-A177-3AD203B41FA5}">
                      <a16:colId xmlns:a16="http://schemas.microsoft.com/office/drawing/2014/main" val="20010"/>
                    </a:ext>
                  </a:extLst>
                </a:gridCol>
                <a:gridCol w="625257">
                  <a:extLst>
                    <a:ext uri="{9D8B030D-6E8A-4147-A177-3AD203B41FA5}">
                      <a16:colId xmlns:a16="http://schemas.microsoft.com/office/drawing/2014/main" val="20011"/>
                    </a:ext>
                  </a:extLst>
                </a:gridCol>
                <a:gridCol w="625257">
                  <a:extLst>
                    <a:ext uri="{9D8B030D-6E8A-4147-A177-3AD203B41FA5}">
                      <a16:colId xmlns:a16="http://schemas.microsoft.com/office/drawing/2014/main" val="20012"/>
                    </a:ext>
                  </a:extLst>
                </a:gridCol>
                <a:gridCol w="625257">
                  <a:extLst>
                    <a:ext uri="{9D8B030D-6E8A-4147-A177-3AD203B41FA5}">
                      <a16:colId xmlns:a16="http://schemas.microsoft.com/office/drawing/2014/main" val="20013"/>
                    </a:ext>
                  </a:extLst>
                </a:gridCol>
                <a:gridCol w="625257">
                  <a:extLst>
                    <a:ext uri="{9D8B030D-6E8A-4147-A177-3AD203B41FA5}">
                      <a16:colId xmlns:a16="http://schemas.microsoft.com/office/drawing/2014/main" val="20014"/>
                    </a:ext>
                  </a:extLst>
                </a:gridCol>
                <a:gridCol w="625257">
                  <a:extLst>
                    <a:ext uri="{9D8B030D-6E8A-4147-A177-3AD203B41FA5}">
                      <a16:colId xmlns:a16="http://schemas.microsoft.com/office/drawing/2014/main" val="20015"/>
                    </a:ext>
                  </a:extLst>
                </a:gridCol>
                <a:gridCol w="625257">
                  <a:extLst>
                    <a:ext uri="{9D8B030D-6E8A-4147-A177-3AD203B41FA5}">
                      <a16:colId xmlns:a16="http://schemas.microsoft.com/office/drawing/2014/main" val="20016"/>
                    </a:ext>
                  </a:extLst>
                </a:gridCol>
                <a:gridCol w="625257">
                  <a:extLst>
                    <a:ext uri="{9D8B030D-6E8A-4147-A177-3AD203B41FA5}">
                      <a16:colId xmlns:a16="http://schemas.microsoft.com/office/drawing/2014/main" val="20017"/>
                    </a:ext>
                  </a:extLst>
                </a:gridCol>
              </a:tblGrid>
              <a:tr h="729414">
                <a:tc gridSpan="2">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dirty="0"/>
                        <a:t>Country</a:t>
                      </a:r>
                      <a:endParaRPr lang="en-US" sz="1100" b="1" i="0" baseline="0" dirty="0">
                        <a:solidFill>
                          <a:schemeClr val="tx1"/>
                        </a:solidFill>
                        <a:latin typeface="+mn-lt"/>
                      </a:endParaRPr>
                    </a:p>
                  </a:txBody>
                  <a:tcPr marR="0" marT="0" marB="0" anchor="ctr"/>
                </a:tc>
                <a:tc hMerge="1">
                  <a:txBody>
                    <a:bodyPr/>
                    <a:lstStyle/>
                    <a:p>
                      <a:pPr algn="ctr"/>
                      <a:endParaRPr lang="en-US" sz="10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202846">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algn="l" defTabSz="914400" rtl="0" eaLnBrk="1" latinLnBrk="0" hangingPunct="1"/>
                      <a:r>
                        <a:rPr lang="en-US" sz="1100" b="1" i="0" kern="1200" baseline="0" dirty="0">
                          <a:solidFill>
                            <a:prstClr val="black"/>
                          </a:solidFill>
                          <a:latin typeface="Calibri" panose="020F0502020204030204"/>
                          <a:ea typeface="Malgun Gothic" panose="020B0503020000020004" pitchFamily="34" charset="-127"/>
                          <a:cs typeface=""/>
                        </a:rPr>
                        <a:t>Germany</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202846">
                <a:tc vMerge="1">
                  <a:txBody>
                    <a:bodyPr/>
                    <a:lstStyle/>
                    <a:p>
                      <a:endParaRPr lang="en-US" dirty="0"/>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202846">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IN" sz="1100" b="1" i="0" kern="1200" baseline="0" dirty="0">
                          <a:solidFill>
                            <a:prstClr val="black"/>
                          </a:solidFill>
                          <a:latin typeface="+mn-lt"/>
                          <a:ea typeface="Malgun Gothic" panose="020B0503020000020004" pitchFamily="34" charset="-127"/>
                          <a:cs typeface=""/>
                        </a:rPr>
                        <a:t>Italy</a:t>
                      </a:r>
                      <a:endParaRPr lang="en-US" sz="1100" b="1" i="0" kern="1200" baseline="0" dirty="0">
                        <a:solidFill>
                          <a:prstClr val="black"/>
                        </a:solidFill>
                        <a:latin typeface="+mn-lt"/>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202846">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202846">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algn="l"/>
                      <a:r>
                        <a:rPr lang="en-US" sz="1100" b="1" i="0" baseline="0" dirty="0">
                          <a:latin typeface="+mn-lt"/>
                        </a:rPr>
                        <a:t>France</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202846">
                <a:tc vMerge="1">
                  <a:txBody>
                    <a:bodyPr/>
                    <a:lstStyle/>
                    <a:p>
                      <a:endParaRPr lang="en-US"/>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202846">
                <a:tc rowSpan="2">
                  <a:txBody>
                    <a:bodyPr/>
                    <a:lstStyle/>
                    <a:p>
                      <a:pPr algn="l"/>
                      <a:r>
                        <a:rPr lang="en-IN" sz="1100" b="1" i="0" baseline="0" dirty="0">
                          <a:latin typeface="+mn-lt"/>
                        </a:rPr>
                        <a:t>U.K.</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202846">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202846">
                <a:tc rowSpan="2">
                  <a:txBody>
                    <a:bodyPr/>
                    <a:lstStyle/>
                    <a:p>
                      <a:pPr algn="l"/>
                      <a:r>
                        <a:rPr lang="en-IN" sz="1100" b="1" i="0" baseline="0" dirty="0">
                          <a:latin typeface="+mn-lt"/>
                        </a:rPr>
                        <a:t>Spain</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202846">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202846">
                <a:tc rowSpan="2">
                  <a:txBody>
                    <a:bodyPr/>
                    <a:lstStyle/>
                    <a:p>
                      <a:pPr algn="l"/>
                      <a:r>
                        <a:rPr lang="en-IN" sz="1100" b="1" i="0" baseline="0" dirty="0">
                          <a:latin typeface="+mn-lt"/>
                        </a:rPr>
                        <a:t>BENELUX</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202846">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r h="202846">
                <a:tc rowSpan="2">
                  <a:txBody>
                    <a:bodyPr/>
                    <a:lstStyle/>
                    <a:p>
                      <a:pPr algn="l"/>
                      <a:r>
                        <a:rPr lang="en-IN" sz="1100" b="1" i="0" baseline="0" dirty="0">
                          <a:latin typeface="+mn-lt"/>
                        </a:rPr>
                        <a:t>NORDICS</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7"/>
                  </a:ext>
                </a:extLst>
              </a:tr>
              <a:tr h="202846">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8"/>
                  </a:ext>
                </a:extLst>
              </a:tr>
              <a:tr h="202846">
                <a:tc rowSpan="2">
                  <a:txBody>
                    <a:bodyPr/>
                    <a:lstStyle/>
                    <a:p>
                      <a:pPr algn="l"/>
                      <a:r>
                        <a:rPr lang="en-IN" sz="1100" b="1" i="0" baseline="0" dirty="0">
                          <a:latin typeface="+mn-lt"/>
                        </a:rPr>
                        <a:t>Rest of W. Europe</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9"/>
                  </a:ext>
                </a:extLst>
              </a:tr>
              <a:tr h="202846">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0"/>
                  </a:ext>
                </a:extLst>
              </a:tr>
              <a:tr h="202846">
                <a:tc rowSpan="2">
                  <a:txBody>
                    <a:bodyPr/>
                    <a:lstStyle/>
                    <a:p>
                      <a:pPr algn="l"/>
                      <a:r>
                        <a:rPr lang="en-IN" sz="1100" b="1" i="0" baseline="0" dirty="0">
                          <a:latin typeface="+mn-lt"/>
                        </a:rPr>
                        <a:t>Total</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202846">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8" name="TextBox 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230</a:t>
            </a:fld>
            <a:endParaRPr lang="en-GB" dirty="0"/>
          </a:p>
        </p:txBody>
      </p:sp>
    </p:spTree>
    <p:extLst>
      <p:ext uri="{BB962C8B-B14F-4D97-AF65-F5344CB8AC3E}">
        <p14:creationId xmlns:p14="http://schemas.microsoft.com/office/powerpoint/2010/main" val="1320291811"/>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Western Europe WXYZ Market Absolute $ Opportunity Analysis By Country</a:t>
            </a:r>
            <a:endParaRPr lang="en-IN" dirty="0"/>
          </a:p>
        </p:txBody>
      </p:sp>
      <p:sp>
        <p:nvSpPr>
          <p:cNvPr id="5" name="Text Placeholder 4"/>
          <p:cNvSpPr>
            <a:spLocks noGrp="1"/>
          </p:cNvSpPr>
          <p:nvPr>
            <p:ph type="body" idx="12"/>
          </p:nvPr>
        </p:nvSpPr>
        <p:spPr>
          <a:noFill/>
        </p:spPr>
        <p:txBody>
          <a:bodyPr anchor="ctr"/>
          <a:lstStyle/>
          <a:p>
            <a:r>
              <a:rPr lang="en-US" dirty="0"/>
              <a:t>FIG: Western Europe Incremental $ Opportunity By Country, 2024-2034</a:t>
            </a:r>
          </a:p>
        </p:txBody>
      </p:sp>
      <p:sp>
        <p:nvSpPr>
          <p:cNvPr id="6" name="Text Placeholder 5"/>
          <p:cNvSpPr>
            <a:spLocks noGrp="1"/>
          </p:cNvSpPr>
          <p:nvPr>
            <p:ph type="body" idx="14"/>
          </p:nvPr>
        </p:nvSpPr>
        <p:spPr>
          <a:noFill/>
        </p:spPr>
        <p:txBody>
          <a:bodyPr vert="horz" lIns="91440" tIns="91440" rIns="91440" bIns="91440" rtlCol="0" anchor="ctr">
            <a:noAutofit/>
          </a:bodyPr>
          <a:lstStyle/>
          <a:p>
            <a:pPr algn="ctr"/>
            <a:r>
              <a:rPr lang="en-US" dirty="0"/>
              <a:t>Key Takeaways</a:t>
            </a:r>
          </a:p>
        </p:txBody>
      </p:sp>
      <p:pic>
        <p:nvPicPr>
          <p:cNvPr id="3" name="Picture 2"/>
          <p:cNvPicPr>
            <a:picLocks noChangeAspect="1"/>
          </p:cNvPicPr>
          <p:nvPr/>
        </p:nvPicPr>
        <p:blipFill>
          <a:blip r:embed="rId2"/>
          <a:stretch>
            <a:fillRect/>
          </a:stretch>
        </p:blipFill>
        <p:spPr>
          <a:xfrm>
            <a:off x="6277857" y="1612797"/>
            <a:ext cx="5761743" cy="4399280"/>
          </a:xfrm>
          <a:prstGeom prst="rect">
            <a:avLst/>
          </a:prstGeom>
        </p:spPr>
      </p:pic>
      <p:sp>
        <p:nvSpPr>
          <p:cNvPr id="12" name="TextBox 1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0" name="Content Placeholder 13"/>
          <p:cNvGraphicFramePr>
            <a:graphicFrameLocks noGrp="1"/>
          </p:cNvGraphicFramePr>
          <p:nvPr>
            <p:ph idx="1"/>
            <p:extLst>
              <p:ext uri="{D42A27DB-BD31-4B8C-83A1-F6EECF244321}">
                <p14:modId xmlns:p14="http://schemas.microsoft.com/office/powerpoint/2010/main" val="3329939826"/>
              </p:ext>
            </p:extLst>
          </p:nvPr>
        </p:nvGraphicFramePr>
        <p:xfrm>
          <a:off x="152400" y="1612900"/>
          <a:ext cx="5764213" cy="459422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231</a:t>
            </a:fld>
            <a:endParaRPr lang="en-GB" dirty="0"/>
          </a:p>
        </p:txBody>
      </p:sp>
    </p:spTree>
    <p:extLst>
      <p:ext uri="{BB962C8B-B14F-4D97-AF65-F5344CB8AC3E}">
        <p14:creationId xmlns:p14="http://schemas.microsoft.com/office/powerpoint/2010/main" val="2840526775"/>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232</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232</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Eastern Europe WXYZ Market Analysis 2019 – 2023 and Forecast, 2024 – 2034</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232</a:t>
            </a:r>
          </a:p>
        </p:txBody>
      </p:sp>
    </p:spTree>
    <p:extLst>
      <p:ext uri="{BB962C8B-B14F-4D97-AF65-F5344CB8AC3E}">
        <p14:creationId xmlns:p14="http://schemas.microsoft.com/office/powerpoint/2010/main" val="384063632"/>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Introduction</a:t>
            </a:r>
          </a:p>
        </p:txBody>
      </p:sp>
      <p:grpSp>
        <p:nvGrpSpPr>
          <p:cNvPr id="6" name="Group 5"/>
          <p:cNvGrpSpPr>
            <a:grpSpLocks/>
          </p:cNvGrpSpPr>
          <p:nvPr/>
        </p:nvGrpSpPr>
        <p:grpSpPr bwMode="auto">
          <a:xfrm>
            <a:off x="4199256" y="3530036"/>
            <a:ext cx="7519132" cy="2513907"/>
            <a:chOff x="96" y="1152"/>
            <a:chExt cx="5568" cy="2642"/>
          </a:xfrm>
          <a:solidFill>
            <a:srgbClr val="EBF2F9"/>
          </a:solidFill>
        </p:grpSpPr>
        <p:sp>
          <p:nvSpPr>
            <p:cNvPr id="7" name="Freeform 6"/>
            <p:cNvSpPr>
              <a:spLocks/>
            </p:cNvSpPr>
            <p:nvPr/>
          </p:nvSpPr>
          <p:spPr bwMode="auto">
            <a:xfrm>
              <a:off x="4358" y="2676"/>
              <a:ext cx="6" cy="5"/>
            </a:xfrm>
            <a:custGeom>
              <a:avLst/>
              <a:gdLst/>
              <a:ahLst/>
              <a:cxnLst>
                <a:cxn ang="0">
                  <a:pos x="6" y="1"/>
                </a:cxn>
                <a:cxn ang="0">
                  <a:pos x="0" y="2"/>
                </a:cxn>
                <a:cxn ang="0">
                  <a:pos x="0" y="0"/>
                </a:cxn>
                <a:cxn ang="0">
                  <a:pos x="6" y="1"/>
                </a:cxn>
              </a:cxnLst>
              <a:rect l="0" t="0" r="r" b="b"/>
              <a:pathLst>
                <a:path w="6" h="2">
                  <a:moveTo>
                    <a:pt x="6" y="1"/>
                  </a:moveTo>
                  <a:lnTo>
                    <a:pt x="0" y="2"/>
                  </a:lnTo>
                  <a:lnTo>
                    <a:pt x="0" y="0"/>
                  </a:lnTo>
                  <a:lnTo>
                    <a:pt x="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 name="Freeform 7"/>
            <p:cNvSpPr>
              <a:spLocks/>
            </p:cNvSpPr>
            <p:nvPr/>
          </p:nvSpPr>
          <p:spPr bwMode="auto">
            <a:xfrm>
              <a:off x="4451" y="2619"/>
              <a:ext cx="175" cy="166"/>
            </a:xfrm>
            <a:custGeom>
              <a:avLst/>
              <a:gdLst/>
              <a:ahLst/>
              <a:cxnLst>
                <a:cxn ang="0">
                  <a:pos x="158" y="62"/>
                </a:cxn>
                <a:cxn ang="0">
                  <a:pos x="144" y="61"/>
                </a:cxn>
                <a:cxn ang="0">
                  <a:pos x="143" y="60"/>
                </a:cxn>
                <a:cxn ang="0">
                  <a:pos x="136" y="84"/>
                </a:cxn>
                <a:cxn ang="0">
                  <a:pos x="138" y="85"/>
                </a:cxn>
                <a:cxn ang="0">
                  <a:pos x="134" y="94"/>
                </a:cxn>
                <a:cxn ang="0">
                  <a:pos x="125" y="98"/>
                </a:cxn>
                <a:cxn ang="0">
                  <a:pos x="118" y="110"/>
                </a:cxn>
                <a:cxn ang="0">
                  <a:pos x="118" y="118"/>
                </a:cxn>
                <a:cxn ang="0">
                  <a:pos x="121" y="118"/>
                </a:cxn>
                <a:cxn ang="0">
                  <a:pos x="116" y="124"/>
                </a:cxn>
                <a:cxn ang="0">
                  <a:pos x="114" y="130"/>
                </a:cxn>
                <a:cxn ang="0">
                  <a:pos x="110" y="143"/>
                </a:cxn>
                <a:cxn ang="0">
                  <a:pos x="89" y="150"/>
                </a:cxn>
                <a:cxn ang="0">
                  <a:pos x="86" y="140"/>
                </a:cxn>
                <a:cxn ang="0">
                  <a:pos x="84" y="138"/>
                </a:cxn>
                <a:cxn ang="0">
                  <a:pos x="73" y="138"/>
                </a:cxn>
                <a:cxn ang="0">
                  <a:pos x="64" y="133"/>
                </a:cxn>
                <a:cxn ang="0">
                  <a:pos x="54" y="138"/>
                </a:cxn>
                <a:cxn ang="0">
                  <a:pos x="46" y="139"/>
                </a:cxn>
                <a:cxn ang="0">
                  <a:pos x="42" y="130"/>
                </a:cxn>
                <a:cxn ang="0">
                  <a:pos x="29" y="132"/>
                </a:cxn>
                <a:cxn ang="0">
                  <a:pos x="30" y="131"/>
                </a:cxn>
                <a:cxn ang="0">
                  <a:pos x="26" y="132"/>
                </a:cxn>
                <a:cxn ang="0">
                  <a:pos x="19" y="130"/>
                </a:cxn>
                <a:cxn ang="0">
                  <a:pos x="16" y="112"/>
                </a:cxn>
                <a:cxn ang="0">
                  <a:pos x="16" y="98"/>
                </a:cxn>
                <a:cxn ang="0">
                  <a:pos x="6" y="90"/>
                </a:cxn>
                <a:cxn ang="0">
                  <a:pos x="7" y="90"/>
                </a:cxn>
                <a:cxn ang="0">
                  <a:pos x="4" y="82"/>
                </a:cxn>
                <a:cxn ang="0">
                  <a:pos x="4" y="77"/>
                </a:cxn>
                <a:cxn ang="0">
                  <a:pos x="0" y="62"/>
                </a:cxn>
                <a:cxn ang="0">
                  <a:pos x="5" y="53"/>
                </a:cxn>
                <a:cxn ang="0">
                  <a:pos x="2" y="54"/>
                </a:cxn>
                <a:cxn ang="0">
                  <a:pos x="11" y="41"/>
                </a:cxn>
                <a:cxn ang="0">
                  <a:pos x="14" y="53"/>
                </a:cxn>
                <a:cxn ang="0">
                  <a:pos x="30" y="62"/>
                </a:cxn>
                <a:cxn ang="0">
                  <a:pos x="50" y="58"/>
                </a:cxn>
                <a:cxn ang="0">
                  <a:pos x="56" y="50"/>
                </a:cxn>
                <a:cxn ang="0">
                  <a:pos x="77" y="55"/>
                </a:cxn>
                <a:cxn ang="0">
                  <a:pos x="90" y="49"/>
                </a:cxn>
                <a:cxn ang="0">
                  <a:pos x="97" y="34"/>
                </a:cxn>
                <a:cxn ang="0">
                  <a:pos x="101" y="25"/>
                </a:cxn>
                <a:cxn ang="0">
                  <a:pos x="104" y="12"/>
                </a:cxn>
                <a:cxn ang="0">
                  <a:pos x="108" y="0"/>
                </a:cxn>
                <a:cxn ang="0">
                  <a:pos x="122" y="1"/>
                </a:cxn>
                <a:cxn ang="0">
                  <a:pos x="136" y="4"/>
                </a:cxn>
                <a:cxn ang="0">
                  <a:pos x="134" y="6"/>
                </a:cxn>
                <a:cxn ang="0">
                  <a:pos x="134" y="7"/>
                </a:cxn>
                <a:cxn ang="0">
                  <a:pos x="138" y="13"/>
                </a:cxn>
                <a:cxn ang="0">
                  <a:pos x="134" y="12"/>
                </a:cxn>
                <a:cxn ang="0">
                  <a:pos x="130" y="13"/>
                </a:cxn>
                <a:cxn ang="0">
                  <a:pos x="132" y="20"/>
                </a:cxn>
                <a:cxn ang="0">
                  <a:pos x="144" y="38"/>
                </a:cxn>
                <a:cxn ang="0">
                  <a:pos x="142" y="44"/>
                </a:cxn>
                <a:cxn ang="0">
                  <a:pos x="150" y="53"/>
                </a:cxn>
                <a:cxn ang="0">
                  <a:pos x="158" y="62"/>
                </a:cxn>
              </a:cxnLst>
              <a:rect l="0" t="0" r="r" b="b"/>
              <a:pathLst>
                <a:path w="158" h="150">
                  <a:moveTo>
                    <a:pt x="158" y="62"/>
                  </a:moveTo>
                  <a:lnTo>
                    <a:pt x="144" y="61"/>
                  </a:lnTo>
                  <a:lnTo>
                    <a:pt x="143" y="60"/>
                  </a:lnTo>
                  <a:lnTo>
                    <a:pt x="136" y="84"/>
                  </a:lnTo>
                  <a:lnTo>
                    <a:pt x="138" y="85"/>
                  </a:lnTo>
                  <a:lnTo>
                    <a:pt x="134" y="94"/>
                  </a:lnTo>
                  <a:lnTo>
                    <a:pt x="125" y="98"/>
                  </a:lnTo>
                  <a:lnTo>
                    <a:pt x="118" y="110"/>
                  </a:lnTo>
                  <a:lnTo>
                    <a:pt x="118" y="118"/>
                  </a:lnTo>
                  <a:lnTo>
                    <a:pt x="121" y="118"/>
                  </a:lnTo>
                  <a:lnTo>
                    <a:pt x="116" y="124"/>
                  </a:lnTo>
                  <a:lnTo>
                    <a:pt x="114" y="130"/>
                  </a:lnTo>
                  <a:lnTo>
                    <a:pt x="110" y="143"/>
                  </a:lnTo>
                  <a:lnTo>
                    <a:pt x="89" y="150"/>
                  </a:lnTo>
                  <a:lnTo>
                    <a:pt x="86" y="140"/>
                  </a:lnTo>
                  <a:lnTo>
                    <a:pt x="84" y="138"/>
                  </a:lnTo>
                  <a:lnTo>
                    <a:pt x="73" y="138"/>
                  </a:lnTo>
                  <a:lnTo>
                    <a:pt x="64" y="133"/>
                  </a:lnTo>
                  <a:lnTo>
                    <a:pt x="54" y="138"/>
                  </a:lnTo>
                  <a:lnTo>
                    <a:pt x="46" y="139"/>
                  </a:lnTo>
                  <a:lnTo>
                    <a:pt x="42" y="130"/>
                  </a:lnTo>
                  <a:lnTo>
                    <a:pt x="29" y="132"/>
                  </a:lnTo>
                  <a:lnTo>
                    <a:pt x="30" y="131"/>
                  </a:lnTo>
                  <a:lnTo>
                    <a:pt x="26" y="132"/>
                  </a:lnTo>
                  <a:lnTo>
                    <a:pt x="19" y="130"/>
                  </a:lnTo>
                  <a:lnTo>
                    <a:pt x="16" y="112"/>
                  </a:lnTo>
                  <a:lnTo>
                    <a:pt x="16" y="98"/>
                  </a:lnTo>
                  <a:lnTo>
                    <a:pt x="6" y="90"/>
                  </a:lnTo>
                  <a:lnTo>
                    <a:pt x="7" y="90"/>
                  </a:lnTo>
                  <a:lnTo>
                    <a:pt x="4" y="82"/>
                  </a:lnTo>
                  <a:lnTo>
                    <a:pt x="4" y="77"/>
                  </a:lnTo>
                  <a:lnTo>
                    <a:pt x="0" y="62"/>
                  </a:lnTo>
                  <a:lnTo>
                    <a:pt x="5" y="53"/>
                  </a:lnTo>
                  <a:lnTo>
                    <a:pt x="2" y="54"/>
                  </a:lnTo>
                  <a:lnTo>
                    <a:pt x="11" y="41"/>
                  </a:lnTo>
                  <a:lnTo>
                    <a:pt x="14" y="53"/>
                  </a:lnTo>
                  <a:lnTo>
                    <a:pt x="30" y="62"/>
                  </a:lnTo>
                  <a:lnTo>
                    <a:pt x="50" y="58"/>
                  </a:lnTo>
                  <a:lnTo>
                    <a:pt x="56" y="50"/>
                  </a:lnTo>
                  <a:lnTo>
                    <a:pt x="77" y="55"/>
                  </a:lnTo>
                  <a:lnTo>
                    <a:pt x="90" y="49"/>
                  </a:lnTo>
                  <a:lnTo>
                    <a:pt x="97" y="34"/>
                  </a:lnTo>
                  <a:lnTo>
                    <a:pt x="101" y="25"/>
                  </a:lnTo>
                  <a:lnTo>
                    <a:pt x="104" y="12"/>
                  </a:lnTo>
                  <a:lnTo>
                    <a:pt x="108" y="0"/>
                  </a:lnTo>
                  <a:lnTo>
                    <a:pt x="122" y="1"/>
                  </a:lnTo>
                  <a:lnTo>
                    <a:pt x="136" y="4"/>
                  </a:lnTo>
                  <a:lnTo>
                    <a:pt x="134" y="6"/>
                  </a:lnTo>
                  <a:lnTo>
                    <a:pt x="134" y="7"/>
                  </a:lnTo>
                  <a:lnTo>
                    <a:pt x="138" y="13"/>
                  </a:lnTo>
                  <a:lnTo>
                    <a:pt x="134" y="12"/>
                  </a:lnTo>
                  <a:lnTo>
                    <a:pt x="130" y="13"/>
                  </a:lnTo>
                  <a:lnTo>
                    <a:pt x="132" y="20"/>
                  </a:lnTo>
                  <a:lnTo>
                    <a:pt x="144" y="38"/>
                  </a:lnTo>
                  <a:lnTo>
                    <a:pt x="142" y="44"/>
                  </a:lnTo>
                  <a:lnTo>
                    <a:pt x="150" y="53"/>
                  </a:lnTo>
                  <a:lnTo>
                    <a:pt x="158" y="6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 name="Freeform 8"/>
            <p:cNvSpPr>
              <a:spLocks/>
            </p:cNvSpPr>
            <p:nvPr/>
          </p:nvSpPr>
          <p:spPr bwMode="auto">
            <a:xfrm>
              <a:off x="4206" y="2594"/>
              <a:ext cx="194" cy="227"/>
            </a:xfrm>
            <a:custGeom>
              <a:avLst/>
              <a:gdLst/>
              <a:ahLst/>
              <a:cxnLst>
                <a:cxn ang="0">
                  <a:pos x="173" y="158"/>
                </a:cxn>
                <a:cxn ang="0">
                  <a:pos x="172" y="160"/>
                </a:cxn>
                <a:cxn ang="0">
                  <a:pos x="170" y="182"/>
                </a:cxn>
                <a:cxn ang="0">
                  <a:pos x="167" y="204"/>
                </a:cxn>
                <a:cxn ang="0">
                  <a:pos x="160" y="198"/>
                </a:cxn>
                <a:cxn ang="0">
                  <a:pos x="159" y="202"/>
                </a:cxn>
                <a:cxn ang="0">
                  <a:pos x="150" y="200"/>
                </a:cxn>
                <a:cxn ang="0">
                  <a:pos x="150" y="204"/>
                </a:cxn>
                <a:cxn ang="0">
                  <a:pos x="135" y="189"/>
                </a:cxn>
                <a:cxn ang="0">
                  <a:pos x="126" y="180"/>
                </a:cxn>
                <a:cxn ang="0">
                  <a:pos x="118" y="172"/>
                </a:cxn>
                <a:cxn ang="0">
                  <a:pos x="110" y="164"/>
                </a:cxn>
                <a:cxn ang="0">
                  <a:pos x="101" y="154"/>
                </a:cxn>
                <a:cxn ang="0">
                  <a:pos x="94" y="140"/>
                </a:cxn>
                <a:cxn ang="0">
                  <a:pos x="87" y="125"/>
                </a:cxn>
                <a:cxn ang="0">
                  <a:pos x="84" y="123"/>
                </a:cxn>
                <a:cxn ang="0">
                  <a:pos x="76" y="110"/>
                </a:cxn>
                <a:cxn ang="0">
                  <a:pos x="68" y="96"/>
                </a:cxn>
                <a:cxn ang="0">
                  <a:pos x="63" y="84"/>
                </a:cxn>
                <a:cxn ang="0">
                  <a:pos x="58" y="72"/>
                </a:cxn>
                <a:cxn ang="0">
                  <a:pos x="45" y="59"/>
                </a:cxn>
                <a:cxn ang="0">
                  <a:pos x="35" y="45"/>
                </a:cxn>
                <a:cxn ang="0">
                  <a:pos x="23" y="33"/>
                </a:cxn>
                <a:cxn ang="0">
                  <a:pos x="11" y="21"/>
                </a:cxn>
                <a:cxn ang="0">
                  <a:pos x="0" y="0"/>
                </a:cxn>
                <a:cxn ang="0">
                  <a:pos x="11" y="2"/>
                </a:cxn>
                <a:cxn ang="0">
                  <a:pos x="23" y="4"/>
                </a:cxn>
                <a:cxn ang="0">
                  <a:pos x="35" y="6"/>
                </a:cxn>
                <a:cxn ang="0">
                  <a:pos x="50" y="23"/>
                </a:cxn>
                <a:cxn ang="0">
                  <a:pos x="51" y="27"/>
                </a:cxn>
                <a:cxn ang="0">
                  <a:pos x="65" y="40"/>
                </a:cxn>
                <a:cxn ang="0">
                  <a:pos x="80" y="52"/>
                </a:cxn>
                <a:cxn ang="0">
                  <a:pos x="92" y="65"/>
                </a:cxn>
                <a:cxn ang="0">
                  <a:pos x="90" y="59"/>
                </a:cxn>
                <a:cxn ang="0">
                  <a:pos x="105" y="70"/>
                </a:cxn>
                <a:cxn ang="0">
                  <a:pos x="113" y="81"/>
                </a:cxn>
                <a:cxn ang="0">
                  <a:pos x="128" y="90"/>
                </a:cxn>
                <a:cxn ang="0">
                  <a:pos x="130" y="92"/>
                </a:cxn>
                <a:cxn ang="0">
                  <a:pos x="140" y="100"/>
                </a:cxn>
                <a:cxn ang="0">
                  <a:pos x="132" y="104"/>
                </a:cxn>
                <a:cxn ang="0">
                  <a:pos x="134" y="107"/>
                </a:cxn>
                <a:cxn ang="0">
                  <a:pos x="132" y="110"/>
                </a:cxn>
                <a:cxn ang="0">
                  <a:pos x="135" y="116"/>
                </a:cxn>
                <a:cxn ang="0">
                  <a:pos x="147" y="118"/>
                </a:cxn>
                <a:cxn ang="0">
                  <a:pos x="150" y="131"/>
                </a:cxn>
                <a:cxn ang="0">
                  <a:pos x="153" y="136"/>
                </a:cxn>
                <a:cxn ang="0">
                  <a:pos x="153" y="143"/>
                </a:cxn>
                <a:cxn ang="0">
                  <a:pos x="166" y="143"/>
                </a:cxn>
                <a:cxn ang="0">
                  <a:pos x="173" y="158"/>
                </a:cxn>
              </a:cxnLst>
              <a:rect l="0" t="0" r="r" b="b"/>
              <a:pathLst>
                <a:path w="173" h="204">
                  <a:moveTo>
                    <a:pt x="173" y="158"/>
                  </a:moveTo>
                  <a:lnTo>
                    <a:pt x="172" y="160"/>
                  </a:lnTo>
                  <a:lnTo>
                    <a:pt x="170" y="182"/>
                  </a:lnTo>
                  <a:lnTo>
                    <a:pt x="167" y="204"/>
                  </a:lnTo>
                  <a:lnTo>
                    <a:pt x="160" y="198"/>
                  </a:lnTo>
                  <a:lnTo>
                    <a:pt x="159" y="202"/>
                  </a:lnTo>
                  <a:lnTo>
                    <a:pt x="150" y="200"/>
                  </a:lnTo>
                  <a:lnTo>
                    <a:pt x="150" y="204"/>
                  </a:lnTo>
                  <a:lnTo>
                    <a:pt x="135" y="189"/>
                  </a:lnTo>
                  <a:lnTo>
                    <a:pt x="126" y="180"/>
                  </a:lnTo>
                  <a:lnTo>
                    <a:pt x="118" y="172"/>
                  </a:lnTo>
                  <a:lnTo>
                    <a:pt x="110" y="164"/>
                  </a:lnTo>
                  <a:lnTo>
                    <a:pt x="101" y="154"/>
                  </a:lnTo>
                  <a:lnTo>
                    <a:pt x="94" y="140"/>
                  </a:lnTo>
                  <a:lnTo>
                    <a:pt x="87" y="125"/>
                  </a:lnTo>
                  <a:lnTo>
                    <a:pt x="84" y="123"/>
                  </a:lnTo>
                  <a:lnTo>
                    <a:pt x="76" y="110"/>
                  </a:lnTo>
                  <a:lnTo>
                    <a:pt x="68" y="96"/>
                  </a:lnTo>
                  <a:lnTo>
                    <a:pt x="63" y="84"/>
                  </a:lnTo>
                  <a:lnTo>
                    <a:pt x="58" y="72"/>
                  </a:lnTo>
                  <a:lnTo>
                    <a:pt x="45" y="59"/>
                  </a:lnTo>
                  <a:lnTo>
                    <a:pt x="35" y="45"/>
                  </a:lnTo>
                  <a:lnTo>
                    <a:pt x="23" y="33"/>
                  </a:lnTo>
                  <a:lnTo>
                    <a:pt x="11" y="21"/>
                  </a:lnTo>
                  <a:lnTo>
                    <a:pt x="0" y="0"/>
                  </a:lnTo>
                  <a:lnTo>
                    <a:pt x="11" y="2"/>
                  </a:lnTo>
                  <a:lnTo>
                    <a:pt x="23" y="4"/>
                  </a:lnTo>
                  <a:lnTo>
                    <a:pt x="35" y="6"/>
                  </a:lnTo>
                  <a:lnTo>
                    <a:pt x="50" y="23"/>
                  </a:lnTo>
                  <a:lnTo>
                    <a:pt x="51" y="27"/>
                  </a:lnTo>
                  <a:lnTo>
                    <a:pt x="65" y="40"/>
                  </a:lnTo>
                  <a:lnTo>
                    <a:pt x="80" y="52"/>
                  </a:lnTo>
                  <a:lnTo>
                    <a:pt x="92" y="65"/>
                  </a:lnTo>
                  <a:lnTo>
                    <a:pt x="90" y="59"/>
                  </a:lnTo>
                  <a:lnTo>
                    <a:pt x="105" y="70"/>
                  </a:lnTo>
                  <a:lnTo>
                    <a:pt x="113" y="81"/>
                  </a:lnTo>
                  <a:lnTo>
                    <a:pt x="128" y="90"/>
                  </a:lnTo>
                  <a:lnTo>
                    <a:pt x="130" y="92"/>
                  </a:lnTo>
                  <a:lnTo>
                    <a:pt x="140" y="100"/>
                  </a:lnTo>
                  <a:lnTo>
                    <a:pt x="132" y="104"/>
                  </a:lnTo>
                  <a:lnTo>
                    <a:pt x="134" y="107"/>
                  </a:lnTo>
                  <a:lnTo>
                    <a:pt x="132" y="110"/>
                  </a:lnTo>
                  <a:lnTo>
                    <a:pt x="135" y="116"/>
                  </a:lnTo>
                  <a:lnTo>
                    <a:pt x="147" y="118"/>
                  </a:lnTo>
                  <a:lnTo>
                    <a:pt x="150" y="131"/>
                  </a:lnTo>
                  <a:lnTo>
                    <a:pt x="153" y="136"/>
                  </a:lnTo>
                  <a:lnTo>
                    <a:pt x="153" y="143"/>
                  </a:lnTo>
                  <a:lnTo>
                    <a:pt x="166" y="143"/>
                  </a:lnTo>
                  <a:lnTo>
                    <a:pt x="173" y="15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 name="Freeform 9"/>
            <p:cNvSpPr>
              <a:spLocks/>
            </p:cNvSpPr>
            <p:nvPr/>
          </p:nvSpPr>
          <p:spPr bwMode="auto">
            <a:xfrm>
              <a:off x="4842" y="2714"/>
              <a:ext cx="173" cy="173"/>
            </a:xfrm>
            <a:custGeom>
              <a:avLst/>
              <a:gdLst/>
              <a:ahLst/>
              <a:cxnLst>
                <a:cxn ang="0">
                  <a:pos x="118" y="132"/>
                </a:cxn>
                <a:cxn ang="0">
                  <a:pos x="122" y="138"/>
                </a:cxn>
                <a:cxn ang="0">
                  <a:pos x="139" y="147"/>
                </a:cxn>
                <a:cxn ang="0">
                  <a:pos x="150" y="142"/>
                </a:cxn>
                <a:cxn ang="0">
                  <a:pos x="152" y="113"/>
                </a:cxn>
                <a:cxn ang="0">
                  <a:pos x="154" y="84"/>
                </a:cxn>
                <a:cxn ang="0">
                  <a:pos x="156" y="54"/>
                </a:cxn>
                <a:cxn ang="0">
                  <a:pos x="145" y="37"/>
                </a:cxn>
                <a:cxn ang="0">
                  <a:pos x="106" y="19"/>
                </a:cxn>
                <a:cxn ang="0">
                  <a:pos x="81" y="36"/>
                </a:cxn>
                <a:cxn ang="0">
                  <a:pos x="58" y="47"/>
                </a:cxn>
                <a:cxn ang="0">
                  <a:pos x="51" y="42"/>
                </a:cxn>
                <a:cxn ang="0">
                  <a:pos x="48" y="13"/>
                </a:cxn>
                <a:cxn ang="0">
                  <a:pos x="31" y="4"/>
                </a:cxn>
                <a:cxn ang="0">
                  <a:pos x="2" y="10"/>
                </a:cxn>
                <a:cxn ang="0">
                  <a:pos x="12" y="23"/>
                </a:cxn>
                <a:cxn ang="0">
                  <a:pos x="31" y="34"/>
                </a:cxn>
                <a:cxn ang="0">
                  <a:pos x="42" y="36"/>
                </a:cxn>
                <a:cxn ang="0">
                  <a:pos x="39" y="39"/>
                </a:cxn>
                <a:cxn ang="0">
                  <a:pos x="20" y="42"/>
                </a:cxn>
                <a:cxn ang="0">
                  <a:pos x="27" y="57"/>
                </a:cxn>
                <a:cxn ang="0">
                  <a:pos x="33" y="65"/>
                </a:cxn>
                <a:cxn ang="0">
                  <a:pos x="40" y="59"/>
                </a:cxn>
                <a:cxn ang="0">
                  <a:pos x="57" y="64"/>
                </a:cxn>
                <a:cxn ang="0">
                  <a:pos x="68" y="73"/>
                </a:cxn>
                <a:cxn ang="0">
                  <a:pos x="92" y="83"/>
                </a:cxn>
                <a:cxn ang="0">
                  <a:pos x="109" y="95"/>
                </a:cxn>
                <a:cxn ang="0">
                  <a:pos x="122" y="119"/>
                </a:cxn>
                <a:cxn ang="0">
                  <a:pos x="122" y="123"/>
                </a:cxn>
                <a:cxn ang="0">
                  <a:pos x="117" y="129"/>
                </a:cxn>
                <a:cxn ang="0">
                  <a:pos x="97" y="144"/>
                </a:cxn>
                <a:cxn ang="0">
                  <a:pos x="118" y="131"/>
                </a:cxn>
              </a:cxnLst>
              <a:rect l="0" t="0" r="r" b="b"/>
              <a:pathLst>
                <a:path w="156" h="157">
                  <a:moveTo>
                    <a:pt x="118" y="131"/>
                  </a:moveTo>
                  <a:lnTo>
                    <a:pt x="118" y="132"/>
                  </a:lnTo>
                  <a:lnTo>
                    <a:pt x="117" y="141"/>
                  </a:lnTo>
                  <a:lnTo>
                    <a:pt x="122" y="138"/>
                  </a:lnTo>
                  <a:lnTo>
                    <a:pt x="135" y="136"/>
                  </a:lnTo>
                  <a:lnTo>
                    <a:pt x="139" y="147"/>
                  </a:lnTo>
                  <a:lnTo>
                    <a:pt x="148" y="157"/>
                  </a:lnTo>
                  <a:lnTo>
                    <a:pt x="150" y="142"/>
                  </a:lnTo>
                  <a:lnTo>
                    <a:pt x="151" y="127"/>
                  </a:lnTo>
                  <a:lnTo>
                    <a:pt x="152" y="113"/>
                  </a:lnTo>
                  <a:lnTo>
                    <a:pt x="153" y="99"/>
                  </a:lnTo>
                  <a:lnTo>
                    <a:pt x="154" y="84"/>
                  </a:lnTo>
                  <a:lnTo>
                    <a:pt x="154" y="69"/>
                  </a:lnTo>
                  <a:lnTo>
                    <a:pt x="156" y="54"/>
                  </a:lnTo>
                  <a:lnTo>
                    <a:pt x="156" y="40"/>
                  </a:lnTo>
                  <a:lnTo>
                    <a:pt x="145" y="37"/>
                  </a:lnTo>
                  <a:lnTo>
                    <a:pt x="126" y="28"/>
                  </a:lnTo>
                  <a:lnTo>
                    <a:pt x="106" y="19"/>
                  </a:lnTo>
                  <a:lnTo>
                    <a:pt x="96" y="28"/>
                  </a:lnTo>
                  <a:lnTo>
                    <a:pt x="81" y="36"/>
                  </a:lnTo>
                  <a:lnTo>
                    <a:pt x="64" y="53"/>
                  </a:lnTo>
                  <a:lnTo>
                    <a:pt x="58" y="47"/>
                  </a:lnTo>
                  <a:lnTo>
                    <a:pt x="52" y="39"/>
                  </a:lnTo>
                  <a:lnTo>
                    <a:pt x="51" y="42"/>
                  </a:lnTo>
                  <a:lnTo>
                    <a:pt x="48" y="23"/>
                  </a:lnTo>
                  <a:lnTo>
                    <a:pt x="48" y="13"/>
                  </a:lnTo>
                  <a:lnTo>
                    <a:pt x="46" y="6"/>
                  </a:lnTo>
                  <a:lnTo>
                    <a:pt x="31" y="4"/>
                  </a:lnTo>
                  <a:lnTo>
                    <a:pt x="16" y="0"/>
                  </a:lnTo>
                  <a:lnTo>
                    <a:pt x="2" y="10"/>
                  </a:lnTo>
                  <a:lnTo>
                    <a:pt x="0" y="19"/>
                  </a:lnTo>
                  <a:lnTo>
                    <a:pt x="12" y="23"/>
                  </a:lnTo>
                  <a:lnTo>
                    <a:pt x="20" y="34"/>
                  </a:lnTo>
                  <a:lnTo>
                    <a:pt x="31" y="34"/>
                  </a:lnTo>
                  <a:lnTo>
                    <a:pt x="43" y="33"/>
                  </a:lnTo>
                  <a:lnTo>
                    <a:pt x="42" y="36"/>
                  </a:lnTo>
                  <a:lnTo>
                    <a:pt x="40" y="39"/>
                  </a:lnTo>
                  <a:lnTo>
                    <a:pt x="39" y="39"/>
                  </a:lnTo>
                  <a:lnTo>
                    <a:pt x="34" y="39"/>
                  </a:lnTo>
                  <a:lnTo>
                    <a:pt x="20" y="42"/>
                  </a:lnTo>
                  <a:lnTo>
                    <a:pt x="14" y="46"/>
                  </a:lnTo>
                  <a:lnTo>
                    <a:pt x="27" y="57"/>
                  </a:lnTo>
                  <a:lnTo>
                    <a:pt x="25" y="64"/>
                  </a:lnTo>
                  <a:lnTo>
                    <a:pt x="33" y="65"/>
                  </a:lnTo>
                  <a:lnTo>
                    <a:pt x="43" y="48"/>
                  </a:lnTo>
                  <a:lnTo>
                    <a:pt x="40" y="59"/>
                  </a:lnTo>
                  <a:lnTo>
                    <a:pt x="54" y="64"/>
                  </a:lnTo>
                  <a:lnTo>
                    <a:pt x="57" y="64"/>
                  </a:lnTo>
                  <a:lnTo>
                    <a:pt x="56" y="70"/>
                  </a:lnTo>
                  <a:lnTo>
                    <a:pt x="68" y="73"/>
                  </a:lnTo>
                  <a:lnTo>
                    <a:pt x="80" y="78"/>
                  </a:lnTo>
                  <a:lnTo>
                    <a:pt x="92" y="83"/>
                  </a:lnTo>
                  <a:lnTo>
                    <a:pt x="103" y="88"/>
                  </a:lnTo>
                  <a:lnTo>
                    <a:pt x="109" y="95"/>
                  </a:lnTo>
                  <a:lnTo>
                    <a:pt x="117" y="115"/>
                  </a:lnTo>
                  <a:lnTo>
                    <a:pt x="122" y="119"/>
                  </a:lnTo>
                  <a:lnTo>
                    <a:pt x="114" y="119"/>
                  </a:lnTo>
                  <a:lnTo>
                    <a:pt x="122" y="123"/>
                  </a:lnTo>
                  <a:lnTo>
                    <a:pt x="115" y="124"/>
                  </a:lnTo>
                  <a:lnTo>
                    <a:pt x="117" y="129"/>
                  </a:lnTo>
                  <a:lnTo>
                    <a:pt x="106" y="127"/>
                  </a:lnTo>
                  <a:lnTo>
                    <a:pt x="97" y="144"/>
                  </a:lnTo>
                  <a:lnTo>
                    <a:pt x="111" y="141"/>
                  </a:lnTo>
                  <a:lnTo>
                    <a:pt x="118" y="1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 name="Freeform 10"/>
            <p:cNvSpPr>
              <a:spLocks/>
            </p:cNvSpPr>
            <p:nvPr/>
          </p:nvSpPr>
          <p:spPr bwMode="auto">
            <a:xfrm>
              <a:off x="4626" y="2672"/>
              <a:ext cx="111" cy="147"/>
            </a:xfrm>
            <a:custGeom>
              <a:avLst/>
              <a:gdLst/>
              <a:ahLst/>
              <a:cxnLst>
                <a:cxn ang="0">
                  <a:pos x="101" y="4"/>
                </a:cxn>
                <a:cxn ang="0">
                  <a:pos x="96" y="0"/>
                </a:cxn>
                <a:cxn ang="0">
                  <a:pos x="82" y="16"/>
                </a:cxn>
                <a:cxn ang="0">
                  <a:pos x="61" y="12"/>
                </a:cxn>
                <a:cxn ang="0">
                  <a:pos x="41" y="8"/>
                </a:cxn>
                <a:cxn ang="0">
                  <a:pos x="31" y="8"/>
                </a:cxn>
                <a:cxn ang="0">
                  <a:pos x="25" y="16"/>
                </a:cxn>
                <a:cxn ang="0">
                  <a:pos x="22" y="16"/>
                </a:cxn>
                <a:cxn ang="0">
                  <a:pos x="15" y="30"/>
                </a:cxn>
                <a:cxn ang="0">
                  <a:pos x="16" y="46"/>
                </a:cxn>
                <a:cxn ang="0">
                  <a:pos x="13" y="43"/>
                </a:cxn>
                <a:cxn ang="0">
                  <a:pos x="7" y="60"/>
                </a:cxn>
                <a:cxn ang="0">
                  <a:pos x="0" y="78"/>
                </a:cxn>
                <a:cxn ang="0">
                  <a:pos x="1" y="94"/>
                </a:cxn>
                <a:cxn ang="0">
                  <a:pos x="9" y="95"/>
                </a:cxn>
                <a:cxn ang="0">
                  <a:pos x="9" y="108"/>
                </a:cxn>
                <a:cxn ang="0">
                  <a:pos x="7" y="121"/>
                </a:cxn>
                <a:cxn ang="0">
                  <a:pos x="9" y="132"/>
                </a:cxn>
                <a:cxn ang="0">
                  <a:pos x="23" y="128"/>
                </a:cxn>
                <a:cxn ang="0">
                  <a:pos x="22" y="107"/>
                </a:cxn>
                <a:cxn ang="0">
                  <a:pos x="22" y="85"/>
                </a:cxn>
                <a:cxn ang="0">
                  <a:pos x="31" y="78"/>
                </a:cxn>
                <a:cxn ang="0">
                  <a:pos x="33" y="89"/>
                </a:cxn>
                <a:cxn ang="0">
                  <a:pos x="34" y="96"/>
                </a:cxn>
                <a:cxn ang="0">
                  <a:pos x="41" y="106"/>
                </a:cxn>
                <a:cxn ang="0">
                  <a:pos x="43" y="116"/>
                </a:cxn>
                <a:cxn ang="0">
                  <a:pos x="48" y="114"/>
                </a:cxn>
                <a:cxn ang="0">
                  <a:pos x="59" y="108"/>
                </a:cxn>
                <a:cxn ang="0">
                  <a:pos x="63" y="106"/>
                </a:cxn>
                <a:cxn ang="0">
                  <a:pos x="53" y="91"/>
                </a:cxn>
                <a:cxn ang="0">
                  <a:pos x="55" y="86"/>
                </a:cxn>
                <a:cxn ang="0">
                  <a:pos x="47" y="74"/>
                </a:cxn>
                <a:cxn ang="0">
                  <a:pos x="40" y="62"/>
                </a:cxn>
                <a:cxn ang="0">
                  <a:pos x="46" y="64"/>
                </a:cxn>
                <a:cxn ang="0">
                  <a:pos x="57" y="54"/>
                </a:cxn>
                <a:cxn ang="0">
                  <a:pos x="69" y="46"/>
                </a:cxn>
                <a:cxn ang="0">
                  <a:pos x="72" y="46"/>
                </a:cxn>
                <a:cxn ang="0">
                  <a:pos x="70" y="40"/>
                </a:cxn>
                <a:cxn ang="0">
                  <a:pos x="64" y="42"/>
                </a:cxn>
                <a:cxn ang="0">
                  <a:pos x="45" y="46"/>
                </a:cxn>
                <a:cxn ang="0">
                  <a:pos x="31" y="54"/>
                </a:cxn>
                <a:cxn ang="0">
                  <a:pos x="19" y="37"/>
                </a:cxn>
                <a:cxn ang="0">
                  <a:pos x="25" y="22"/>
                </a:cxn>
                <a:cxn ang="0">
                  <a:pos x="47" y="23"/>
                </a:cxn>
                <a:cxn ang="0">
                  <a:pos x="70" y="24"/>
                </a:cxn>
                <a:cxn ang="0">
                  <a:pos x="91" y="19"/>
                </a:cxn>
                <a:cxn ang="0">
                  <a:pos x="101" y="4"/>
                </a:cxn>
              </a:cxnLst>
              <a:rect l="0" t="0" r="r" b="b"/>
              <a:pathLst>
                <a:path w="101" h="132">
                  <a:moveTo>
                    <a:pt x="101" y="4"/>
                  </a:moveTo>
                  <a:lnTo>
                    <a:pt x="96" y="0"/>
                  </a:lnTo>
                  <a:lnTo>
                    <a:pt x="82" y="16"/>
                  </a:lnTo>
                  <a:lnTo>
                    <a:pt x="61" y="12"/>
                  </a:lnTo>
                  <a:lnTo>
                    <a:pt x="41" y="8"/>
                  </a:lnTo>
                  <a:lnTo>
                    <a:pt x="31" y="8"/>
                  </a:lnTo>
                  <a:lnTo>
                    <a:pt x="25" y="16"/>
                  </a:lnTo>
                  <a:lnTo>
                    <a:pt x="22" y="16"/>
                  </a:lnTo>
                  <a:lnTo>
                    <a:pt x="15" y="30"/>
                  </a:lnTo>
                  <a:lnTo>
                    <a:pt x="16" y="46"/>
                  </a:lnTo>
                  <a:lnTo>
                    <a:pt x="13" y="43"/>
                  </a:lnTo>
                  <a:lnTo>
                    <a:pt x="7" y="60"/>
                  </a:lnTo>
                  <a:lnTo>
                    <a:pt x="0" y="78"/>
                  </a:lnTo>
                  <a:lnTo>
                    <a:pt x="1" y="94"/>
                  </a:lnTo>
                  <a:lnTo>
                    <a:pt x="9" y="95"/>
                  </a:lnTo>
                  <a:lnTo>
                    <a:pt x="9" y="108"/>
                  </a:lnTo>
                  <a:lnTo>
                    <a:pt x="7" y="121"/>
                  </a:lnTo>
                  <a:lnTo>
                    <a:pt x="9" y="132"/>
                  </a:lnTo>
                  <a:lnTo>
                    <a:pt x="23" y="128"/>
                  </a:lnTo>
                  <a:lnTo>
                    <a:pt x="22" y="107"/>
                  </a:lnTo>
                  <a:lnTo>
                    <a:pt x="22" y="85"/>
                  </a:lnTo>
                  <a:lnTo>
                    <a:pt x="31" y="78"/>
                  </a:lnTo>
                  <a:lnTo>
                    <a:pt x="33" y="89"/>
                  </a:lnTo>
                  <a:lnTo>
                    <a:pt x="34" y="96"/>
                  </a:lnTo>
                  <a:lnTo>
                    <a:pt x="41" y="106"/>
                  </a:lnTo>
                  <a:lnTo>
                    <a:pt x="43" y="116"/>
                  </a:lnTo>
                  <a:lnTo>
                    <a:pt x="48" y="114"/>
                  </a:lnTo>
                  <a:lnTo>
                    <a:pt x="59" y="108"/>
                  </a:lnTo>
                  <a:lnTo>
                    <a:pt x="63" y="106"/>
                  </a:lnTo>
                  <a:lnTo>
                    <a:pt x="53" y="91"/>
                  </a:lnTo>
                  <a:lnTo>
                    <a:pt x="55" y="86"/>
                  </a:lnTo>
                  <a:lnTo>
                    <a:pt x="47" y="74"/>
                  </a:lnTo>
                  <a:lnTo>
                    <a:pt x="40" y="62"/>
                  </a:lnTo>
                  <a:lnTo>
                    <a:pt x="46" y="64"/>
                  </a:lnTo>
                  <a:lnTo>
                    <a:pt x="57" y="54"/>
                  </a:lnTo>
                  <a:lnTo>
                    <a:pt x="69" y="46"/>
                  </a:lnTo>
                  <a:lnTo>
                    <a:pt x="72" y="46"/>
                  </a:lnTo>
                  <a:lnTo>
                    <a:pt x="70" y="40"/>
                  </a:lnTo>
                  <a:lnTo>
                    <a:pt x="64" y="42"/>
                  </a:lnTo>
                  <a:lnTo>
                    <a:pt x="45" y="46"/>
                  </a:lnTo>
                  <a:lnTo>
                    <a:pt x="31" y="54"/>
                  </a:lnTo>
                  <a:lnTo>
                    <a:pt x="19" y="37"/>
                  </a:lnTo>
                  <a:lnTo>
                    <a:pt x="25" y="22"/>
                  </a:lnTo>
                  <a:lnTo>
                    <a:pt x="47" y="23"/>
                  </a:lnTo>
                  <a:lnTo>
                    <a:pt x="70" y="24"/>
                  </a:lnTo>
                  <a:lnTo>
                    <a:pt x="91" y="19"/>
                  </a:lnTo>
                  <a:lnTo>
                    <a:pt x="10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 name="Freeform 11"/>
            <p:cNvSpPr>
              <a:spLocks/>
            </p:cNvSpPr>
            <p:nvPr/>
          </p:nvSpPr>
          <p:spPr bwMode="auto">
            <a:xfrm>
              <a:off x="4382" y="2825"/>
              <a:ext cx="162" cy="56"/>
            </a:xfrm>
            <a:custGeom>
              <a:avLst/>
              <a:gdLst/>
              <a:ahLst/>
              <a:cxnLst>
                <a:cxn ang="0">
                  <a:pos x="145" y="49"/>
                </a:cxn>
                <a:cxn ang="0">
                  <a:pos x="143" y="47"/>
                </a:cxn>
                <a:cxn ang="0">
                  <a:pos x="144" y="32"/>
                </a:cxn>
                <a:cxn ang="0">
                  <a:pos x="132" y="31"/>
                </a:cxn>
                <a:cxn ang="0">
                  <a:pos x="120" y="29"/>
                </a:cxn>
                <a:cxn ang="0">
                  <a:pos x="116" y="19"/>
                </a:cxn>
                <a:cxn ang="0">
                  <a:pos x="97" y="12"/>
                </a:cxn>
                <a:cxn ang="0">
                  <a:pos x="90" y="7"/>
                </a:cxn>
                <a:cxn ang="0">
                  <a:pos x="83" y="16"/>
                </a:cxn>
                <a:cxn ang="0">
                  <a:pos x="71" y="16"/>
                </a:cxn>
                <a:cxn ang="0">
                  <a:pos x="57" y="16"/>
                </a:cxn>
                <a:cxn ang="0">
                  <a:pos x="51" y="8"/>
                </a:cxn>
                <a:cxn ang="0">
                  <a:pos x="33" y="0"/>
                </a:cxn>
                <a:cxn ang="0">
                  <a:pos x="13" y="0"/>
                </a:cxn>
                <a:cxn ang="0">
                  <a:pos x="5" y="11"/>
                </a:cxn>
                <a:cxn ang="0">
                  <a:pos x="0" y="13"/>
                </a:cxn>
                <a:cxn ang="0">
                  <a:pos x="17" y="18"/>
                </a:cxn>
                <a:cxn ang="0">
                  <a:pos x="17" y="22"/>
                </a:cxn>
                <a:cxn ang="0">
                  <a:pos x="32" y="26"/>
                </a:cxn>
                <a:cxn ang="0">
                  <a:pos x="49" y="30"/>
                </a:cxn>
                <a:cxn ang="0">
                  <a:pos x="63" y="34"/>
                </a:cxn>
                <a:cxn ang="0">
                  <a:pos x="79" y="37"/>
                </a:cxn>
                <a:cxn ang="0">
                  <a:pos x="99" y="40"/>
                </a:cxn>
                <a:cxn ang="0">
                  <a:pos x="119" y="42"/>
                </a:cxn>
                <a:cxn ang="0">
                  <a:pos x="132" y="46"/>
                </a:cxn>
                <a:cxn ang="0">
                  <a:pos x="145" y="49"/>
                </a:cxn>
              </a:cxnLst>
              <a:rect l="0" t="0" r="r" b="b"/>
              <a:pathLst>
                <a:path w="145" h="49">
                  <a:moveTo>
                    <a:pt x="145" y="49"/>
                  </a:moveTo>
                  <a:lnTo>
                    <a:pt x="143" y="47"/>
                  </a:lnTo>
                  <a:lnTo>
                    <a:pt x="144" y="32"/>
                  </a:lnTo>
                  <a:lnTo>
                    <a:pt x="132" y="31"/>
                  </a:lnTo>
                  <a:lnTo>
                    <a:pt x="120" y="29"/>
                  </a:lnTo>
                  <a:lnTo>
                    <a:pt x="116" y="19"/>
                  </a:lnTo>
                  <a:lnTo>
                    <a:pt x="97" y="12"/>
                  </a:lnTo>
                  <a:lnTo>
                    <a:pt x="90" y="7"/>
                  </a:lnTo>
                  <a:lnTo>
                    <a:pt x="83" y="16"/>
                  </a:lnTo>
                  <a:lnTo>
                    <a:pt x="71" y="16"/>
                  </a:lnTo>
                  <a:lnTo>
                    <a:pt x="57" y="16"/>
                  </a:lnTo>
                  <a:lnTo>
                    <a:pt x="51" y="8"/>
                  </a:lnTo>
                  <a:lnTo>
                    <a:pt x="33" y="0"/>
                  </a:lnTo>
                  <a:lnTo>
                    <a:pt x="13" y="0"/>
                  </a:lnTo>
                  <a:lnTo>
                    <a:pt x="5" y="11"/>
                  </a:lnTo>
                  <a:lnTo>
                    <a:pt x="0" y="13"/>
                  </a:lnTo>
                  <a:lnTo>
                    <a:pt x="17" y="18"/>
                  </a:lnTo>
                  <a:lnTo>
                    <a:pt x="17" y="22"/>
                  </a:lnTo>
                  <a:lnTo>
                    <a:pt x="32" y="26"/>
                  </a:lnTo>
                  <a:lnTo>
                    <a:pt x="49" y="30"/>
                  </a:lnTo>
                  <a:lnTo>
                    <a:pt x="63" y="34"/>
                  </a:lnTo>
                  <a:lnTo>
                    <a:pt x="79" y="37"/>
                  </a:lnTo>
                  <a:lnTo>
                    <a:pt x="99" y="40"/>
                  </a:lnTo>
                  <a:lnTo>
                    <a:pt x="119" y="42"/>
                  </a:lnTo>
                  <a:lnTo>
                    <a:pt x="132" y="46"/>
                  </a:lnTo>
                  <a:lnTo>
                    <a:pt x="145"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 name="Freeform 12"/>
            <p:cNvSpPr>
              <a:spLocks/>
            </p:cNvSpPr>
            <p:nvPr/>
          </p:nvSpPr>
          <p:spPr bwMode="auto">
            <a:xfrm>
              <a:off x="4700" y="2874"/>
              <a:ext cx="66" cy="38"/>
            </a:xfrm>
            <a:custGeom>
              <a:avLst/>
              <a:gdLst/>
              <a:ahLst/>
              <a:cxnLst>
                <a:cxn ang="0">
                  <a:pos x="61" y="0"/>
                </a:cxn>
                <a:cxn ang="0">
                  <a:pos x="39" y="1"/>
                </a:cxn>
                <a:cxn ang="0">
                  <a:pos x="23" y="9"/>
                </a:cxn>
                <a:cxn ang="0">
                  <a:pos x="9" y="17"/>
                </a:cxn>
                <a:cxn ang="0">
                  <a:pos x="1" y="30"/>
                </a:cxn>
                <a:cxn ang="0">
                  <a:pos x="0" y="31"/>
                </a:cxn>
                <a:cxn ang="0">
                  <a:pos x="1" y="35"/>
                </a:cxn>
                <a:cxn ang="0">
                  <a:pos x="22" y="24"/>
                </a:cxn>
                <a:cxn ang="0">
                  <a:pos x="41" y="12"/>
                </a:cxn>
                <a:cxn ang="0">
                  <a:pos x="61" y="0"/>
                </a:cxn>
              </a:cxnLst>
              <a:rect l="0" t="0" r="r" b="b"/>
              <a:pathLst>
                <a:path w="61" h="35">
                  <a:moveTo>
                    <a:pt x="61" y="0"/>
                  </a:moveTo>
                  <a:lnTo>
                    <a:pt x="39" y="1"/>
                  </a:lnTo>
                  <a:lnTo>
                    <a:pt x="23" y="9"/>
                  </a:lnTo>
                  <a:lnTo>
                    <a:pt x="9" y="17"/>
                  </a:lnTo>
                  <a:lnTo>
                    <a:pt x="1" y="30"/>
                  </a:lnTo>
                  <a:lnTo>
                    <a:pt x="0" y="31"/>
                  </a:lnTo>
                  <a:lnTo>
                    <a:pt x="1" y="35"/>
                  </a:lnTo>
                  <a:lnTo>
                    <a:pt x="22" y="24"/>
                  </a:lnTo>
                  <a:lnTo>
                    <a:pt x="41" y="12"/>
                  </a:lnTo>
                  <a:lnTo>
                    <a:pt x="6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 name="Freeform 13"/>
            <p:cNvSpPr>
              <a:spLocks/>
            </p:cNvSpPr>
            <p:nvPr/>
          </p:nvSpPr>
          <p:spPr bwMode="auto">
            <a:xfrm>
              <a:off x="4777" y="2663"/>
              <a:ext cx="25" cy="60"/>
            </a:xfrm>
            <a:custGeom>
              <a:avLst/>
              <a:gdLst/>
              <a:ahLst/>
              <a:cxnLst>
                <a:cxn ang="0">
                  <a:pos x="23" y="34"/>
                </a:cxn>
                <a:cxn ang="0">
                  <a:pos x="13" y="22"/>
                </a:cxn>
                <a:cxn ang="0">
                  <a:pos x="20" y="14"/>
                </a:cxn>
                <a:cxn ang="0">
                  <a:pos x="16" y="10"/>
                </a:cxn>
                <a:cxn ang="0">
                  <a:pos x="11" y="15"/>
                </a:cxn>
                <a:cxn ang="0">
                  <a:pos x="5" y="24"/>
                </a:cxn>
                <a:cxn ang="0">
                  <a:pos x="5" y="19"/>
                </a:cxn>
                <a:cxn ang="0">
                  <a:pos x="8" y="7"/>
                </a:cxn>
                <a:cxn ang="0">
                  <a:pos x="8" y="0"/>
                </a:cxn>
                <a:cxn ang="0">
                  <a:pos x="0" y="13"/>
                </a:cxn>
                <a:cxn ang="0">
                  <a:pos x="2" y="25"/>
                </a:cxn>
                <a:cxn ang="0">
                  <a:pos x="4" y="38"/>
                </a:cxn>
                <a:cxn ang="0">
                  <a:pos x="13" y="54"/>
                </a:cxn>
                <a:cxn ang="0">
                  <a:pos x="7" y="32"/>
                </a:cxn>
                <a:cxn ang="0">
                  <a:pos x="23" y="34"/>
                </a:cxn>
              </a:cxnLst>
              <a:rect l="0" t="0" r="r" b="b"/>
              <a:pathLst>
                <a:path w="23" h="54">
                  <a:moveTo>
                    <a:pt x="23" y="34"/>
                  </a:moveTo>
                  <a:lnTo>
                    <a:pt x="13" y="22"/>
                  </a:lnTo>
                  <a:lnTo>
                    <a:pt x="20" y="14"/>
                  </a:lnTo>
                  <a:lnTo>
                    <a:pt x="16" y="10"/>
                  </a:lnTo>
                  <a:lnTo>
                    <a:pt x="11" y="15"/>
                  </a:lnTo>
                  <a:lnTo>
                    <a:pt x="5" y="24"/>
                  </a:lnTo>
                  <a:lnTo>
                    <a:pt x="5" y="19"/>
                  </a:lnTo>
                  <a:lnTo>
                    <a:pt x="8" y="7"/>
                  </a:lnTo>
                  <a:lnTo>
                    <a:pt x="8" y="0"/>
                  </a:lnTo>
                  <a:lnTo>
                    <a:pt x="0" y="13"/>
                  </a:lnTo>
                  <a:lnTo>
                    <a:pt x="2" y="25"/>
                  </a:lnTo>
                  <a:lnTo>
                    <a:pt x="4" y="38"/>
                  </a:lnTo>
                  <a:lnTo>
                    <a:pt x="13" y="54"/>
                  </a:lnTo>
                  <a:lnTo>
                    <a:pt x="7" y="32"/>
                  </a:lnTo>
                  <a:lnTo>
                    <a:pt x="23"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 name="Freeform 14"/>
            <p:cNvSpPr>
              <a:spLocks/>
            </p:cNvSpPr>
            <p:nvPr/>
          </p:nvSpPr>
          <p:spPr bwMode="auto">
            <a:xfrm>
              <a:off x="4784" y="2763"/>
              <a:ext cx="51" cy="18"/>
            </a:xfrm>
            <a:custGeom>
              <a:avLst/>
              <a:gdLst/>
              <a:ahLst/>
              <a:cxnLst>
                <a:cxn ang="0">
                  <a:pos x="47" y="13"/>
                </a:cxn>
                <a:cxn ang="0">
                  <a:pos x="44" y="16"/>
                </a:cxn>
                <a:cxn ang="0">
                  <a:pos x="25" y="8"/>
                </a:cxn>
                <a:cxn ang="0">
                  <a:pos x="12" y="9"/>
                </a:cxn>
                <a:cxn ang="0">
                  <a:pos x="2" y="6"/>
                </a:cxn>
                <a:cxn ang="0">
                  <a:pos x="0" y="9"/>
                </a:cxn>
                <a:cxn ang="0">
                  <a:pos x="1" y="3"/>
                </a:cxn>
                <a:cxn ang="0">
                  <a:pos x="11" y="0"/>
                </a:cxn>
                <a:cxn ang="0">
                  <a:pos x="25" y="1"/>
                </a:cxn>
                <a:cxn ang="0">
                  <a:pos x="38" y="2"/>
                </a:cxn>
                <a:cxn ang="0">
                  <a:pos x="47" y="13"/>
                </a:cxn>
              </a:cxnLst>
              <a:rect l="0" t="0" r="r" b="b"/>
              <a:pathLst>
                <a:path w="47" h="16">
                  <a:moveTo>
                    <a:pt x="47" y="13"/>
                  </a:moveTo>
                  <a:lnTo>
                    <a:pt x="44" y="16"/>
                  </a:lnTo>
                  <a:lnTo>
                    <a:pt x="25" y="8"/>
                  </a:lnTo>
                  <a:lnTo>
                    <a:pt x="12" y="9"/>
                  </a:lnTo>
                  <a:lnTo>
                    <a:pt x="2" y="6"/>
                  </a:lnTo>
                  <a:lnTo>
                    <a:pt x="0" y="9"/>
                  </a:lnTo>
                  <a:lnTo>
                    <a:pt x="1" y="3"/>
                  </a:lnTo>
                  <a:lnTo>
                    <a:pt x="11" y="0"/>
                  </a:lnTo>
                  <a:lnTo>
                    <a:pt x="25" y="1"/>
                  </a:lnTo>
                  <a:lnTo>
                    <a:pt x="38" y="2"/>
                  </a:lnTo>
                  <a:lnTo>
                    <a:pt x="4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 name="Freeform 15"/>
            <p:cNvSpPr>
              <a:spLocks/>
            </p:cNvSpPr>
            <p:nvPr/>
          </p:nvSpPr>
          <p:spPr bwMode="auto">
            <a:xfrm>
              <a:off x="4635" y="2870"/>
              <a:ext cx="58" cy="11"/>
            </a:xfrm>
            <a:custGeom>
              <a:avLst/>
              <a:gdLst/>
              <a:ahLst/>
              <a:cxnLst>
                <a:cxn ang="0">
                  <a:pos x="51" y="1"/>
                </a:cxn>
                <a:cxn ang="0">
                  <a:pos x="51" y="0"/>
                </a:cxn>
                <a:cxn ang="0">
                  <a:pos x="48" y="0"/>
                </a:cxn>
                <a:cxn ang="0">
                  <a:pos x="43" y="4"/>
                </a:cxn>
                <a:cxn ang="0">
                  <a:pos x="33" y="4"/>
                </a:cxn>
                <a:cxn ang="0">
                  <a:pos x="21" y="2"/>
                </a:cxn>
                <a:cxn ang="0">
                  <a:pos x="8" y="1"/>
                </a:cxn>
                <a:cxn ang="0">
                  <a:pos x="0" y="8"/>
                </a:cxn>
                <a:cxn ang="0">
                  <a:pos x="7" y="10"/>
                </a:cxn>
                <a:cxn ang="0">
                  <a:pos x="22" y="10"/>
                </a:cxn>
                <a:cxn ang="0">
                  <a:pos x="38" y="9"/>
                </a:cxn>
                <a:cxn ang="0">
                  <a:pos x="51" y="1"/>
                </a:cxn>
              </a:cxnLst>
              <a:rect l="0" t="0" r="r" b="b"/>
              <a:pathLst>
                <a:path w="51" h="10">
                  <a:moveTo>
                    <a:pt x="51" y="1"/>
                  </a:moveTo>
                  <a:lnTo>
                    <a:pt x="51" y="0"/>
                  </a:lnTo>
                  <a:lnTo>
                    <a:pt x="48" y="0"/>
                  </a:lnTo>
                  <a:lnTo>
                    <a:pt x="43" y="4"/>
                  </a:lnTo>
                  <a:lnTo>
                    <a:pt x="33" y="4"/>
                  </a:lnTo>
                  <a:lnTo>
                    <a:pt x="21" y="2"/>
                  </a:lnTo>
                  <a:lnTo>
                    <a:pt x="8" y="1"/>
                  </a:lnTo>
                  <a:lnTo>
                    <a:pt x="0" y="8"/>
                  </a:lnTo>
                  <a:lnTo>
                    <a:pt x="7" y="10"/>
                  </a:lnTo>
                  <a:lnTo>
                    <a:pt x="22" y="10"/>
                  </a:lnTo>
                  <a:lnTo>
                    <a:pt x="38" y="9"/>
                  </a:lnTo>
                  <a:lnTo>
                    <a:pt x="5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 name="Freeform 16"/>
            <p:cNvSpPr>
              <a:spLocks/>
            </p:cNvSpPr>
            <p:nvPr/>
          </p:nvSpPr>
          <p:spPr bwMode="auto">
            <a:xfrm>
              <a:off x="4384" y="2736"/>
              <a:ext cx="29" cy="31"/>
            </a:xfrm>
            <a:custGeom>
              <a:avLst/>
              <a:gdLst/>
              <a:ahLst/>
              <a:cxnLst>
                <a:cxn ang="0">
                  <a:pos x="26" y="19"/>
                </a:cxn>
                <a:cxn ang="0">
                  <a:pos x="24" y="27"/>
                </a:cxn>
                <a:cxn ang="0">
                  <a:pos x="11" y="19"/>
                </a:cxn>
                <a:cxn ang="0">
                  <a:pos x="6" y="9"/>
                </a:cxn>
                <a:cxn ang="0">
                  <a:pos x="0" y="7"/>
                </a:cxn>
                <a:cxn ang="0">
                  <a:pos x="7" y="1"/>
                </a:cxn>
                <a:cxn ang="0">
                  <a:pos x="11" y="0"/>
                </a:cxn>
                <a:cxn ang="0">
                  <a:pos x="17" y="14"/>
                </a:cxn>
                <a:cxn ang="0">
                  <a:pos x="26" y="19"/>
                </a:cxn>
              </a:cxnLst>
              <a:rect l="0" t="0" r="r" b="b"/>
              <a:pathLst>
                <a:path w="26" h="27">
                  <a:moveTo>
                    <a:pt x="26" y="19"/>
                  </a:moveTo>
                  <a:lnTo>
                    <a:pt x="24" y="27"/>
                  </a:lnTo>
                  <a:lnTo>
                    <a:pt x="11" y="19"/>
                  </a:lnTo>
                  <a:lnTo>
                    <a:pt x="6" y="9"/>
                  </a:lnTo>
                  <a:lnTo>
                    <a:pt x="0" y="7"/>
                  </a:lnTo>
                  <a:lnTo>
                    <a:pt x="7" y="1"/>
                  </a:lnTo>
                  <a:lnTo>
                    <a:pt x="11" y="0"/>
                  </a:lnTo>
                  <a:lnTo>
                    <a:pt x="17" y="14"/>
                  </a:lnTo>
                  <a:lnTo>
                    <a:pt x="26"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 name="Freeform 17"/>
            <p:cNvSpPr>
              <a:spLocks/>
            </p:cNvSpPr>
            <p:nvPr/>
          </p:nvSpPr>
          <p:spPr bwMode="auto">
            <a:xfrm>
              <a:off x="4582" y="2867"/>
              <a:ext cx="42" cy="18"/>
            </a:xfrm>
            <a:custGeom>
              <a:avLst/>
              <a:gdLst/>
              <a:ahLst/>
              <a:cxnLst>
                <a:cxn ang="0">
                  <a:pos x="38" y="10"/>
                </a:cxn>
                <a:cxn ang="0">
                  <a:pos x="36" y="5"/>
                </a:cxn>
                <a:cxn ang="0">
                  <a:pos x="31" y="6"/>
                </a:cxn>
                <a:cxn ang="0">
                  <a:pos x="16" y="0"/>
                </a:cxn>
                <a:cxn ang="0">
                  <a:pos x="24" y="10"/>
                </a:cxn>
                <a:cxn ang="0">
                  <a:pos x="15" y="9"/>
                </a:cxn>
                <a:cxn ang="0">
                  <a:pos x="3" y="7"/>
                </a:cxn>
                <a:cxn ang="0">
                  <a:pos x="0" y="17"/>
                </a:cxn>
                <a:cxn ang="0">
                  <a:pos x="13" y="15"/>
                </a:cxn>
                <a:cxn ang="0">
                  <a:pos x="26" y="12"/>
                </a:cxn>
                <a:cxn ang="0">
                  <a:pos x="32" y="13"/>
                </a:cxn>
                <a:cxn ang="0">
                  <a:pos x="31" y="12"/>
                </a:cxn>
                <a:cxn ang="0">
                  <a:pos x="38" y="10"/>
                </a:cxn>
              </a:cxnLst>
              <a:rect l="0" t="0" r="r" b="b"/>
              <a:pathLst>
                <a:path w="38" h="17">
                  <a:moveTo>
                    <a:pt x="38" y="10"/>
                  </a:moveTo>
                  <a:lnTo>
                    <a:pt x="36" y="5"/>
                  </a:lnTo>
                  <a:lnTo>
                    <a:pt x="31" y="6"/>
                  </a:lnTo>
                  <a:lnTo>
                    <a:pt x="16" y="0"/>
                  </a:lnTo>
                  <a:lnTo>
                    <a:pt x="24" y="10"/>
                  </a:lnTo>
                  <a:lnTo>
                    <a:pt x="15" y="9"/>
                  </a:lnTo>
                  <a:lnTo>
                    <a:pt x="3" y="7"/>
                  </a:lnTo>
                  <a:lnTo>
                    <a:pt x="0" y="17"/>
                  </a:lnTo>
                  <a:lnTo>
                    <a:pt x="13" y="15"/>
                  </a:lnTo>
                  <a:lnTo>
                    <a:pt x="26" y="12"/>
                  </a:lnTo>
                  <a:lnTo>
                    <a:pt x="32" y="13"/>
                  </a:lnTo>
                  <a:lnTo>
                    <a:pt x="31" y="12"/>
                  </a:lnTo>
                  <a:lnTo>
                    <a:pt x="38"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 name="Freeform 18"/>
            <p:cNvSpPr>
              <a:spLocks/>
            </p:cNvSpPr>
            <p:nvPr/>
          </p:nvSpPr>
          <p:spPr bwMode="auto">
            <a:xfrm>
              <a:off x="4620" y="2894"/>
              <a:ext cx="31" cy="16"/>
            </a:xfrm>
            <a:custGeom>
              <a:avLst/>
              <a:gdLst/>
              <a:ahLst/>
              <a:cxnLst>
                <a:cxn ang="0">
                  <a:pos x="28" y="12"/>
                </a:cxn>
                <a:cxn ang="0">
                  <a:pos x="17" y="15"/>
                </a:cxn>
                <a:cxn ang="0">
                  <a:pos x="4" y="6"/>
                </a:cxn>
                <a:cxn ang="0">
                  <a:pos x="0" y="0"/>
                </a:cxn>
                <a:cxn ang="0">
                  <a:pos x="17" y="0"/>
                </a:cxn>
                <a:cxn ang="0">
                  <a:pos x="28" y="12"/>
                </a:cxn>
              </a:cxnLst>
              <a:rect l="0" t="0" r="r" b="b"/>
              <a:pathLst>
                <a:path w="28" h="15">
                  <a:moveTo>
                    <a:pt x="28" y="12"/>
                  </a:moveTo>
                  <a:lnTo>
                    <a:pt x="17" y="15"/>
                  </a:lnTo>
                  <a:lnTo>
                    <a:pt x="4" y="6"/>
                  </a:lnTo>
                  <a:lnTo>
                    <a:pt x="0" y="0"/>
                  </a:lnTo>
                  <a:lnTo>
                    <a:pt x="17" y="0"/>
                  </a:lnTo>
                  <a:lnTo>
                    <a:pt x="2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 name="Freeform 19"/>
            <p:cNvSpPr>
              <a:spLocks/>
            </p:cNvSpPr>
            <p:nvPr/>
          </p:nvSpPr>
          <p:spPr bwMode="auto">
            <a:xfrm>
              <a:off x="4751" y="2767"/>
              <a:ext cx="22" cy="14"/>
            </a:xfrm>
            <a:custGeom>
              <a:avLst/>
              <a:gdLst/>
              <a:ahLst/>
              <a:cxnLst>
                <a:cxn ang="0">
                  <a:pos x="19" y="6"/>
                </a:cxn>
                <a:cxn ang="0">
                  <a:pos x="12" y="13"/>
                </a:cxn>
                <a:cxn ang="0">
                  <a:pos x="0" y="5"/>
                </a:cxn>
                <a:cxn ang="0">
                  <a:pos x="6" y="0"/>
                </a:cxn>
                <a:cxn ang="0">
                  <a:pos x="19" y="6"/>
                </a:cxn>
              </a:cxnLst>
              <a:rect l="0" t="0" r="r" b="b"/>
              <a:pathLst>
                <a:path w="19" h="13">
                  <a:moveTo>
                    <a:pt x="19" y="6"/>
                  </a:moveTo>
                  <a:lnTo>
                    <a:pt x="12" y="13"/>
                  </a:lnTo>
                  <a:lnTo>
                    <a:pt x="0" y="5"/>
                  </a:lnTo>
                  <a:lnTo>
                    <a:pt x="6" y="0"/>
                  </a:lnTo>
                  <a:lnTo>
                    <a:pt x="1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 name="Freeform 20"/>
            <p:cNvSpPr>
              <a:spLocks/>
            </p:cNvSpPr>
            <p:nvPr/>
          </p:nvSpPr>
          <p:spPr bwMode="auto">
            <a:xfrm>
              <a:off x="4544" y="2867"/>
              <a:ext cx="20" cy="12"/>
            </a:xfrm>
            <a:custGeom>
              <a:avLst/>
              <a:gdLst/>
              <a:ahLst/>
              <a:cxnLst>
                <a:cxn ang="0">
                  <a:pos x="18" y="5"/>
                </a:cxn>
                <a:cxn ang="0">
                  <a:pos x="16" y="2"/>
                </a:cxn>
                <a:cxn ang="0">
                  <a:pos x="0" y="0"/>
                </a:cxn>
                <a:cxn ang="0">
                  <a:pos x="8" y="10"/>
                </a:cxn>
                <a:cxn ang="0">
                  <a:pos x="18" y="5"/>
                </a:cxn>
              </a:cxnLst>
              <a:rect l="0" t="0" r="r" b="b"/>
              <a:pathLst>
                <a:path w="18" h="10">
                  <a:moveTo>
                    <a:pt x="18" y="5"/>
                  </a:moveTo>
                  <a:lnTo>
                    <a:pt x="16" y="2"/>
                  </a:lnTo>
                  <a:lnTo>
                    <a:pt x="0" y="0"/>
                  </a:lnTo>
                  <a:lnTo>
                    <a:pt x="8" y="10"/>
                  </a:lnTo>
                  <a:lnTo>
                    <a:pt x="18"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 name="Freeform 21"/>
            <p:cNvSpPr>
              <a:spLocks/>
            </p:cNvSpPr>
            <p:nvPr/>
          </p:nvSpPr>
          <p:spPr bwMode="auto">
            <a:xfrm>
              <a:off x="4242" y="2676"/>
              <a:ext cx="16" cy="18"/>
            </a:xfrm>
            <a:custGeom>
              <a:avLst/>
              <a:gdLst/>
              <a:ahLst/>
              <a:cxnLst>
                <a:cxn ang="0">
                  <a:pos x="14" y="9"/>
                </a:cxn>
                <a:cxn ang="0">
                  <a:pos x="12" y="16"/>
                </a:cxn>
                <a:cxn ang="0">
                  <a:pos x="0" y="1"/>
                </a:cxn>
                <a:cxn ang="0">
                  <a:pos x="4" y="0"/>
                </a:cxn>
                <a:cxn ang="0">
                  <a:pos x="14" y="9"/>
                </a:cxn>
              </a:cxnLst>
              <a:rect l="0" t="0" r="r" b="b"/>
              <a:pathLst>
                <a:path w="14" h="16">
                  <a:moveTo>
                    <a:pt x="14" y="9"/>
                  </a:moveTo>
                  <a:lnTo>
                    <a:pt x="12" y="16"/>
                  </a:lnTo>
                  <a:lnTo>
                    <a:pt x="0" y="1"/>
                  </a:lnTo>
                  <a:lnTo>
                    <a:pt x="4" y="0"/>
                  </a:lnTo>
                  <a:lnTo>
                    <a:pt x="14"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 name="Freeform 22"/>
            <p:cNvSpPr>
              <a:spLocks/>
            </p:cNvSpPr>
            <p:nvPr/>
          </p:nvSpPr>
          <p:spPr bwMode="auto">
            <a:xfrm>
              <a:off x="4569" y="2870"/>
              <a:ext cx="13" cy="13"/>
            </a:xfrm>
            <a:custGeom>
              <a:avLst/>
              <a:gdLst/>
              <a:ahLst/>
              <a:cxnLst>
                <a:cxn ang="0">
                  <a:pos x="12" y="3"/>
                </a:cxn>
                <a:cxn ang="0">
                  <a:pos x="8" y="0"/>
                </a:cxn>
                <a:cxn ang="0">
                  <a:pos x="0" y="9"/>
                </a:cxn>
                <a:cxn ang="0">
                  <a:pos x="6" y="12"/>
                </a:cxn>
                <a:cxn ang="0">
                  <a:pos x="12" y="3"/>
                </a:cxn>
              </a:cxnLst>
              <a:rect l="0" t="0" r="r" b="b"/>
              <a:pathLst>
                <a:path w="12" h="12">
                  <a:moveTo>
                    <a:pt x="12" y="3"/>
                  </a:moveTo>
                  <a:lnTo>
                    <a:pt x="8" y="0"/>
                  </a:lnTo>
                  <a:lnTo>
                    <a:pt x="0" y="9"/>
                  </a:lnTo>
                  <a:lnTo>
                    <a:pt x="6" y="12"/>
                  </a:lnTo>
                  <a:lnTo>
                    <a:pt x="12"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 name="Freeform 23"/>
            <p:cNvSpPr>
              <a:spLocks/>
            </p:cNvSpPr>
            <p:nvPr/>
          </p:nvSpPr>
          <p:spPr bwMode="auto">
            <a:xfrm>
              <a:off x="4426" y="2756"/>
              <a:ext cx="14" cy="14"/>
            </a:xfrm>
            <a:custGeom>
              <a:avLst/>
              <a:gdLst/>
              <a:ahLst/>
              <a:cxnLst>
                <a:cxn ang="0">
                  <a:pos x="11" y="5"/>
                </a:cxn>
                <a:cxn ang="0">
                  <a:pos x="5" y="9"/>
                </a:cxn>
                <a:cxn ang="0">
                  <a:pos x="0" y="11"/>
                </a:cxn>
                <a:cxn ang="0">
                  <a:pos x="0" y="0"/>
                </a:cxn>
                <a:cxn ang="0">
                  <a:pos x="11" y="5"/>
                </a:cxn>
              </a:cxnLst>
              <a:rect l="0" t="0" r="r" b="b"/>
              <a:pathLst>
                <a:path w="11" h="11">
                  <a:moveTo>
                    <a:pt x="11" y="5"/>
                  </a:moveTo>
                  <a:lnTo>
                    <a:pt x="5" y="9"/>
                  </a:lnTo>
                  <a:lnTo>
                    <a:pt x="0" y="11"/>
                  </a:lnTo>
                  <a:lnTo>
                    <a:pt x="0" y="0"/>
                  </a:lnTo>
                  <a:lnTo>
                    <a:pt x="11"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 name="Freeform 24"/>
            <p:cNvSpPr>
              <a:spLocks/>
            </p:cNvSpPr>
            <p:nvPr/>
          </p:nvSpPr>
          <p:spPr bwMode="auto">
            <a:xfrm>
              <a:off x="4689" y="2794"/>
              <a:ext cx="11" cy="25"/>
            </a:xfrm>
            <a:custGeom>
              <a:avLst/>
              <a:gdLst/>
              <a:ahLst/>
              <a:cxnLst>
                <a:cxn ang="0">
                  <a:pos x="9" y="15"/>
                </a:cxn>
                <a:cxn ang="0">
                  <a:pos x="7" y="14"/>
                </a:cxn>
                <a:cxn ang="0">
                  <a:pos x="7" y="5"/>
                </a:cxn>
                <a:cxn ang="0">
                  <a:pos x="7" y="0"/>
                </a:cxn>
                <a:cxn ang="0">
                  <a:pos x="0" y="22"/>
                </a:cxn>
                <a:cxn ang="0">
                  <a:pos x="9" y="15"/>
                </a:cxn>
              </a:cxnLst>
              <a:rect l="0" t="0" r="r" b="b"/>
              <a:pathLst>
                <a:path w="9" h="22">
                  <a:moveTo>
                    <a:pt x="9" y="15"/>
                  </a:moveTo>
                  <a:lnTo>
                    <a:pt x="7" y="14"/>
                  </a:lnTo>
                  <a:lnTo>
                    <a:pt x="7" y="5"/>
                  </a:lnTo>
                  <a:lnTo>
                    <a:pt x="7" y="0"/>
                  </a:lnTo>
                  <a:lnTo>
                    <a:pt x="0" y="22"/>
                  </a:lnTo>
                  <a:lnTo>
                    <a:pt x="9"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 name="Freeform 25"/>
            <p:cNvSpPr>
              <a:spLocks/>
            </p:cNvSpPr>
            <p:nvPr/>
          </p:nvSpPr>
          <p:spPr bwMode="auto">
            <a:xfrm>
              <a:off x="4895" y="2816"/>
              <a:ext cx="7" cy="14"/>
            </a:xfrm>
            <a:custGeom>
              <a:avLst/>
              <a:gdLst/>
              <a:ahLst/>
              <a:cxnLst>
                <a:cxn ang="0">
                  <a:pos x="6" y="10"/>
                </a:cxn>
                <a:cxn ang="0">
                  <a:pos x="6" y="0"/>
                </a:cxn>
                <a:cxn ang="0">
                  <a:pos x="0" y="2"/>
                </a:cxn>
                <a:cxn ang="0">
                  <a:pos x="0" y="13"/>
                </a:cxn>
                <a:cxn ang="0">
                  <a:pos x="6" y="10"/>
                </a:cxn>
              </a:cxnLst>
              <a:rect l="0" t="0" r="r" b="b"/>
              <a:pathLst>
                <a:path w="6" h="13">
                  <a:moveTo>
                    <a:pt x="6" y="10"/>
                  </a:moveTo>
                  <a:lnTo>
                    <a:pt x="6" y="0"/>
                  </a:lnTo>
                  <a:lnTo>
                    <a:pt x="0" y="2"/>
                  </a:lnTo>
                  <a:lnTo>
                    <a:pt x="0" y="13"/>
                  </a:lnTo>
                  <a:lnTo>
                    <a:pt x="6"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 name="Freeform 26"/>
            <p:cNvSpPr>
              <a:spLocks/>
            </p:cNvSpPr>
            <p:nvPr/>
          </p:nvSpPr>
          <p:spPr bwMode="auto">
            <a:xfrm>
              <a:off x="4271" y="2723"/>
              <a:ext cx="9" cy="16"/>
            </a:xfrm>
            <a:custGeom>
              <a:avLst/>
              <a:gdLst/>
              <a:ahLst/>
              <a:cxnLst>
                <a:cxn ang="0">
                  <a:pos x="8" y="13"/>
                </a:cxn>
                <a:cxn ang="0">
                  <a:pos x="2" y="13"/>
                </a:cxn>
                <a:cxn ang="0">
                  <a:pos x="0" y="0"/>
                </a:cxn>
                <a:cxn ang="0">
                  <a:pos x="8" y="13"/>
                </a:cxn>
              </a:cxnLst>
              <a:rect l="0" t="0" r="r" b="b"/>
              <a:pathLst>
                <a:path w="8" h="13">
                  <a:moveTo>
                    <a:pt x="8" y="13"/>
                  </a:moveTo>
                  <a:lnTo>
                    <a:pt x="2" y="13"/>
                  </a:lnTo>
                  <a:lnTo>
                    <a:pt x="0" y="0"/>
                  </a:lnTo>
                  <a:lnTo>
                    <a:pt x="8"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 name="Freeform 27"/>
            <p:cNvSpPr>
              <a:spLocks/>
            </p:cNvSpPr>
            <p:nvPr/>
          </p:nvSpPr>
          <p:spPr bwMode="auto">
            <a:xfrm>
              <a:off x="4686" y="2799"/>
              <a:ext cx="7" cy="13"/>
            </a:xfrm>
            <a:custGeom>
              <a:avLst/>
              <a:gdLst/>
              <a:ahLst/>
              <a:cxnLst>
                <a:cxn ang="0">
                  <a:pos x="6" y="5"/>
                </a:cxn>
                <a:cxn ang="0">
                  <a:pos x="6" y="0"/>
                </a:cxn>
                <a:cxn ang="0">
                  <a:pos x="3" y="1"/>
                </a:cxn>
                <a:cxn ang="0">
                  <a:pos x="0" y="12"/>
                </a:cxn>
                <a:cxn ang="0">
                  <a:pos x="6" y="5"/>
                </a:cxn>
              </a:cxnLst>
              <a:rect l="0" t="0" r="r" b="b"/>
              <a:pathLst>
                <a:path w="6" h="12">
                  <a:moveTo>
                    <a:pt x="6" y="5"/>
                  </a:moveTo>
                  <a:lnTo>
                    <a:pt x="6" y="0"/>
                  </a:lnTo>
                  <a:lnTo>
                    <a:pt x="3" y="1"/>
                  </a:lnTo>
                  <a:lnTo>
                    <a:pt x="0" y="12"/>
                  </a:lnTo>
                  <a:lnTo>
                    <a:pt x="6"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 name="Freeform 28"/>
            <p:cNvSpPr>
              <a:spLocks/>
            </p:cNvSpPr>
            <p:nvPr/>
          </p:nvSpPr>
          <p:spPr bwMode="auto">
            <a:xfrm>
              <a:off x="4722" y="2739"/>
              <a:ext cx="18" cy="4"/>
            </a:xfrm>
            <a:custGeom>
              <a:avLst/>
              <a:gdLst/>
              <a:ahLst/>
              <a:cxnLst>
                <a:cxn ang="0">
                  <a:pos x="15" y="4"/>
                </a:cxn>
                <a:cxn ang="0">
                  <a:pos x="7" y="0"/>
                </a:cxn>
                <a:cxn ang="0">
                  <a:pos x="0" y="4"/>
                </a:cxn>
                <a:cxn ang="0">
                  <a:pos x="15" y="4"/>
                </a:cxn>
              </a:cxnLst>
              <a:rect l="0" t="0" r="r" b="b"/>
              <a:pathLst>
                <a:path w="15" h="4">
                  <a:moveTo>
                    <a:pt x="15" y="4"/>
                  </a:moveTo>
                  <a:lnTo>
                    <a:pt x="7" y="0"/>
                  </a:lnTo>
                  <a:lnTo>
                    <a:pt x="0" y="4"/>
                  </a:lnTo>
                  <a:lnTo>
                    <a:pt x="1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 name="Freeform 29"/>
            <p:cNvSpPr>
              <a:spLocks/>
            </p:cNvSpPr>
            <p:nvPr/>
          </p:nvSpPr>
          <p:spPr bwMode="auto">
            <a:xfrm>
              <a:off x="4889" y="2830"/>
              <a:ext cx="6" cy="13"/>
            </a:xfrm>
            <a:custGeom>
              <a:avLst/>
              <a:gdLst/>
              <a:ahLst/>
              <a:cxnLst>
                <a:cxn ang="0">
                  <a:pos x="6" y="6"/>
                </a:cxn>
                <a:cxn ang="0">
                  <a:pos x="1" y="11"/>
                </a:cxn>
                <a:cxn ang="0">
                  <a:pos x="0" y="0"/>
                </a:cxn>
                <a:cxn ang="0">
                  <a:pos x="6" y="6"/>
                </a:cxn>
              </a:cxnLst>
              <a:rect l="0" t="0" r="r" b="b"/>
              <a:pathLst>
                <a:path w="6" h="11">
                  <a:moveTo>
                    <a:pt x="6" y="6"/>
                  </a:moveTo>
                  <a:lnTo>
                    <a:pt x="1" y="11"/>
                  </a:lnTo>
                  <a:lnTo>
                    <a:pt x="0" y="0"/>
                  </a:lnTo>
                  <a:lnTo>
                    <a:pt x="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 name="Freeform 30"/>
            <p:cNvSpPr>
              <a:spLocks/>
            </p:cNvSpPr>
            <p:nvPr/>
          </p:nvSpPr>
          <p:spPr bwMode="auto">
            <a:xfrm>
              <a:off x="4513" y="2845"/>
              <a:ext cx="25" cy="2"/>
            </a:xfrm>
            <a:custGeom>
              <a:avLst/>
              <a:gdLst/>
              <a:ahLst/>
              <a:cxnLst>
                <a:cxn ang="0">
                  <a:pos x="22" y="0"/>
                </a:cxn>
                <a:cxn ang="0">
                  <a:pos x="6" y="2"/>
                </a:cxn>
                <a:cxn ang="0">
                  <a:pos x="0" y="0"/>
                </a:cxn>
                <a:cxn ang="0">
                  <a:pos x="22" y="0"/>
                </a:cxn>
              </a:cxnLst>
              <a:rect l="0" t="0" r="r" b="b"/>
              <a:pathLst>
                <a:path w="22" h="2">
                  <a:moveTo>
                    <a:pt x="22" y="0"/>
                  </a:moveTo>
                  <a:lnTo>
                    <a:pt x="6" y="2"/>
                  </a:lnTo>
                  <a:lnTo>
                    <a:pt x="0" y="0"/>
                  </a:lnTo>
                  <a:lnTo>
                    <a:pt x="2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 name="Freeform 31"/>
            <p:cNvSpPr>
              <a:spLocks/>
            </p:cNvSpPr>
            <p:nvPr/>
          </p:nvSpPr>
          <p:spPr bwMode="auto">
            <a:xfrm>
              <a:off x="4540" y="2607"/>
              <a:ext cx="15" cy="16"/>
            </a:xfrm>
            <a:custGeom>
              <a:avLst/>
              <a:gdLst/>
              <a:ahLst/>
              <a:cxnLst>
                <a:cxn ang="0">
                  <a:pos x="9" y="16"/>
                </a:cxn>
                <a:cxn ang="0">
                  <a:pos x="0" y="6"/>
                </a:cxn>
                <a:cxn ang="0">
                  <a:pos x="15" y="0"/>
                </a:cxn>
                <a:cxn ang="0">
                  <a:pos x="15" y="1"/>
                </a:cxn>
                <a:cxn ang="0">
                  <a:pos x="12" y="10"/>
                </a:cxn>
                <a:cxn ang="0">
                  <a:pos x="9" y="16"/>
                </a:cxn>
              </a:cxnLst>
              <a:rect l="0" t="0" r="r" b="b"/>
              <a:pathLst>
                <a:path w="15" h="16">
                  <a:moveTo>
                    <a:pt x="9" y="16"/>
                  </a:moveTo>
                  <a:lnTo>
                    <a:pt x="0" y="6"/>
                  </a:lnTo>
                  <a:lnTo>
                    <a:pt x="15" y="0"/>
                  </a:lnTo>
                  <a:lnTo>
                    <a:pt x="15" y="1"/>
                  </a:lnTo>
                  <a:lnTo>
                    <a:pt x="12" y="10"/>
                  </a:lnTo>
                  <a:lnTo>
                    <a:pt x="9"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 name="Freeform 32"/>
            <p:cNvSpPr>
              <a:spLocks/>
            </p:cNvSpPr>
            <p:nvPr/>
          </p:nvSpPr>
          <p:spPr bwMode="auto">
            <a:xfrm>
              <a:off x="4462" y="2567"/>
              <a:ext cx="169" cy="120"/>
            </a:xfrm>
            <a:custGeom>
              <a:avLst/>
              <a:gdLst/>
              <a:ahLst/>
              <a:cxnLst>
                <a:cxn ang="0">
                  <a:pos x="113" y="0"/>
                </a:cxn>
                <a:cxn ang="0">
                  <a:pos x="122" y="7"/>
                </a:cxn>
                <a:cxn ang="0">
                  <a:pos x="122" y="19"/>
                </a:cxn>
                <a:cxn ang="0">
                  <a:pos x="129" y="16"/>
                </a:cxn>
                <a:cxn ang="0">
                  <a:pos x="129" y="21"/>
                </a:cxn>
                <a:cxn ang="0">
                  <a:pos x="132" y="22"/>
                </a:cxn>
                <a:cxn ang="0">
                  <a:pos x="151" y="30"/>
                </a:cxn>
                <a:cxn ang="0">
                  <a:pos x="134" y="35"/>
                </a:cxn>
                <a:cxn ang="0">
                  <a:pos x="139" y="45"/>
                </a:cxn>
                <a:cxn ang="0">
                  <a:pos x="128" y="47"/>
                </a:cxn>
                <a:cxn ang="0">
                  <a:pos x="125" y="51"/>
                </a:cxn>
                <a:cxn ang="0">
                  <a:pos x="111" y="48"/>
                </a:cxn>
                <a:cxn ang="0">
                  <a:pos x="97" y="47"/>
                </a:cxn>
                <a:cxn ang="0">
                  <a:pos x="93" y="59"/>
                </a:cxn>
                <a:cxn ang="0">
                  <a:pos x="90" y="72"/>
                </a:cxn>
                <a:cxn ang="0">
                  <a:pos x="86" y="81"/>
                </a:cxn>
                <a:cxn ang="0">
                  <a:pos x="79" y="96"/>
                </a:cxn>
                <a:cxn ang="0">
                  <a:pos x="66" y="102"/>
                </a:cxn>
                <a:cxn ang="0">
                  <a:pos x="45" y="97"/>
                </a:cxn>
                <a:cxn ang="0">
                  <a:pos x="39" y="105"/>
                </a:cxn>
                <a:cxn ang="0">
                  <a:pos x="19" y="109"/>
                </a:cxn>
                <a:cxn ang="0">
                  <a:pos x="3" y="100"/>
                </a:cxn>
                <a:cxn ang="0">
                  <a:pos x="0" y="88"/>
                </a:cxn>
                <a:cxn ang="0">
                  <a:pos x="1" y="89"/>
                </a:cxn>
                <a:cxn ang="0">
                  <a:pos x="13" y="96"/>
                </a:cxn>
                <a:cxn ang="0">
                  <a:pos x="25" y="100"/>
                </a:cxn>
                <a:cxn ang="0">
                  <a:pos x="23" y="99"/>
                </a:cxn>
                <a:cxn ang="0">
                  <a:pos x="25" y="95"/>
                </a:cxn>
                <a:cxn ang="0">
                  <a:pos x="26" y="87"/>
                </a:cxn>
                <a:cxn ang="0">
                  <a:pos x="26" y="83"/>
                </a:cxn>
                <a:cxn ang="0">
                  <a:pos x="29" y="77"/>
                </a:cxn>
                <a:cxn ang="0">
                  <a:pos x="39" y="73"/>
                </a:cxn>
                <a:cxn ang="0">
                  <a:pos x="50" y="70"/>
                </a:cxn>
                <a:cxn ang="0">
                  <a:pos x="60" y="57"/>
                </a:cxn>
                <a:cxn ang="0">
                  <a:pos x="69" y="42"/>
                </a:cxn>
                <a:cxn ang="0">
                  <a:pos x="78" y="52"/>
                </a:cxn>
                <a:cxn ang="0">
                  <a:pos x="81" y="46"/>
                </a:cxn>
                <a:cxn ang="0">
                  <a:pos x="84" y="37"/>
                </a:cxn>
                <a:cxn ang="0">
                  <a:pos x="87" y="47"/>
                </a:cxn>
                <a:cxn ang="0">
                  <a:pos x="87" y="40"/>
                </a:cxn>
                <a:cxn ang="0">
                  <a:pos x="91" y="35"/>
                </a:cxn>
                <a:cxn ang="0">
                  <a:pos x="90" y="30"/>
                </a:cxn>
                <a:cxn ang="0">
                  <a:pos x="93" y="25"/>
                </a:cxn>
                <a:cxn ang="0">
                  <a:pos x="101" y="13"/>
                </a:cxn>
                <a:cxn ang="0">
                  <a:pos x="108" y="0"/>
                </a:cxn>
                <a:cxn ang="0">
                  <a:pos x="109" y="5"/>
                </a:cxn>
                <a:cxn ang="0">
                  <a:pos x="113" y="0"/>
                </a:cxn>
              </a:cxnLst>
              <a:rect l="0" t="0" r="r" b="b"/>
              <a:pathLst>
                <a:path w="151" h="109">
                  <a:moveTo>
                    <a:pt x="113" y="0"/>
                  </a:moveTo>
                  <a:lnTo>
                    <a:pt x="122" y="7"/>
                  </a:lnTo>
                  <a:lnTo>
                    <a:pt x="122" y="19"/>
                  </a:lnTo>
                  <a:lnTo>
                    <a:pt x="129" y="16"/>
                  </a:lnTo>
                  <a:lnTo>
                    <a:pt x="129" y="21"/>
                  </a:lnTo>
                  <a:lnTo>
                    <a:pt x="132" y="22"/>
                  </a:lnTo>
                  <a:lnTo>
                    <a:pt x="151" y="30"/>
                  </a:lnTo>
                  <a:lnTo>
                    <a:pt x="134" y="35"/>
                  </a:lnTo>
                  <a:lnTo>
                    <a:pt x="139" y="45"/>
                  </a:lnTo>
                  <a:lnTo>
                    <a:pt x="128" y="47"/>
                  </a:lnTo>
                  <a:lnTo>
                    <a:pt x="125" y="51"/>
                  </a:lnTo>
                  <a:lnTo>
                    <a:pt x="111" y="48"/>
                  </a:lnTo>
                  <a:lnTo>
                    <a:pt x="97" y="47"/>
                  </a:lnTo>
                  <a:lnTo>
                    <a:pt x="93" y="59"/>
                  </a:lnTo>
                  <a:lnTo>
                    <a:pt x="90" y="72"/>
                  </a:lnTo>
                  <a:lnTo>
                    <a:pt x="86" y="81"/>
                  </a:lnTo>
                  <a:lnTo>
                    <a:pt x="79" y="96"/>
                  </a:lnTo>
                  <a:lnTo>
                    <a:pt x="66" y="102"/>
                  </a:lnTo>
                  <a:lnTo>
                    <a:pt x="45" y="97"/>
                  </a:lnTo>
                  <a:lnTo>
                    <a:pt x="39" y="105"/>
                  </a:lnTo>
                  <a:lnTo>
                    <a:pt x="19" y="109"/>
                  </a:lnTo>
                  <a:lnTo>
                    <a:pt x="3" y="100"/>
                  </a:lnTo>
                  <a:lnTo>
                    <a:pt x="0" y="88"/>
                  </a:lnTo>
                  <a:lnTo>
                    <a:pt x="1" y="89"/>
                  </a:lnTo>
                  <a:lnTo>
                    <a:pt x="13" y="96"/>
                  </a:lnTo>
                  <a:lnTo>
                    <a:pt x="25" y="100"/>
                  </a:lnTo>
                  <a:lnTo>
                    <a:pt x="23" y="99"/>
                  </a:lnTo>
                  <a:lnTo>
                    <a:pt x="25" y="95"/>
                  </a:lnTo>
                  <a:lnTo>
                    <a:pt x="26" y="87"/>
                  </a:lnTo>
                  <a:lnTo>
                    <a:pt x="26" y="83"/>
                  </a:lnTo>
                  <a:lnTo>
                    <a:pt x="29" y="77"/>
                  </a:lnTo>
                  <a:lnTo>
                    <a:pt x="39" y="73"/>
                  </a:lnTo>
                  <a:lnTo>
                    <a:pt x="50" y="70"/>
                  </a:lnTo>
                  <a:lnTo>
                    <a:pt x="60" y="57"/>
                  </a:lnTo>
                  <a:lnTo>
                    <a:pt x="69" y="42"/>
                  </a:lnTo>
                  <a:lnTo>
                    <a:pt x="78" y="52"/>
                  </a:lnTo>
                  <a:lnTo>
                    <a:pt x="81" y="46"/>
                  </a:lnTo>
                  <a:lnTo>
                    <a:pt x="84" y="37"/>
                  </a:lnTo>
                  <a:lnTo>
                    <a:pt x="87" y="47"/>
                  </a:lnTo>
                  <a:lnTo>
                    <a:pt x="87" y="40"/>
                  </a:lnTo>
                  <a:lnTo>
                    <a:pt x="91" y="35"/>
                  </a:lnTo>
                  <a:lnTo>
                    <a:pt x="90" y="30"/>
                  </a:lnTo>
                  <a:lnTo>
                    <a:pt x="93" y="25"/>
                  </a:lnTo>
                  <a:lnTo>
                    <a:pt x="101" y="13"/>
                  </a:lnTo>
                  <a:lnTo>
                    <a:pt x="108" y="0"/>
                  </a:lnTo>
                  <a:lnTo>
                    <a:pt x="109" y="5"/>
                  </a:lnTo>
                  <a:lnTo>
                    <a:pt x="11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 name="Freeform 33"/>
            <p:cNvSpPr>
              <a:spLocks/>
            </p:cNvSpPr>
            <p:nvPr/>
          </p:nvSpPr>
          <p:spPr bwMode="auto">
            <a:xfrm>
              <a:off x="4293" y="2574"/>
              <a:ext cx="76" cy="102"/>
            </a:xfrm>
            <a:custGeom>
              <a:avLst/>
              <a:gdLst/>
              <a:ahLst/>
              <a:cxnLst>
                <a:cxn ang="0">
                  <a:pos x="59" y="93"/>
                </a:cxn>
                <a:cxn ang="0">
                  <a:pos x="40" y="80"/>
                </a:cxn>
                <a:cxn ang="0">
                  <a:pos x="21" y="66"/>
                </a:cxn>
                <a:cxn ang="0">
                  <a:pos x="12" y="46"/>
                </a:cxn>
                <a:cxn ang="0">
                  <a:pos x="6" y="24"/>
                </a:cxn>
                <a:cxn ang="0">
                  <a:pos x="0" y="3"/>
                </a:cxn>
                <a:cxn ang="0">
                  <a:pos x="1" y="0"/>
                </a:cxn>
                <a:cxn ang="0">
                  <a:pos x="13" y="6"/>
                </a:cxn>
                <a:cxn ang="0">
                  <a:pos x="15" y="14"/>
                </a:cxn>
                <a:cxn ang="0">
                  <a:pos x="25" y="14"/>
                </a:cxn>
                <a:cxn ang="0">
                  <a:pos x="31" y="6"/>
                </a:cxn>
                <a:cxn ang="0">
                  <a:pos x="41" y="16"/>
                </a:cxn>
                <a:cxn ang="0">
                  <a:pos x="52" y="27"/>
                </a:cxn>
                <a:cxn ang="0">
                  <a:pos x="53" y="44"/>
                </a:cxn>
                <a:cxn ang="0">
                  <a:pos x="55" y="60"/>
                </a:cxn>
                <a:cxn ang="0">
                  <a:pos x="63" y="76"/>
                </a:cxn>
                <a:cxn ang="0">
                  <a:pos x="70" y="92"/>
                </a:cxn>
                <a:cxn ang="0">
                  <a:pos x="64" y="89"/>
                </a:cxn>
                <a:cxn ang="0">
                  <a:pos x="59" y="93"/>
                </a:cxn>
              </a:cxnLst>
              <a:rect l="0" t="0" r="r" b="b"/>
              <a:pathLst>
                <a:path w="70" h="93">
                  <a:moveTo>
                    <a:pt x="59" y="93"/>
                  </a:moveTo>
                  <a:lnTo>
                    <a:pt x="40" y="80"/>
                  </a:lnTo>
                  <a:lnTo>
                    <a:pt x="21" y="66"/>
                  </a:lnTo>
                  <a:lnTo>
                    <a:pt x="12" y="46"/>
                  </a:lnTo>
                  <a:lnTo>
                    <a:pt x="6" y="24"/>
                  </a:lnTo>
                  <a:lnTo>
                    <a:pt x="0" y="3"/>
                  </a:lnTo>
                  <a:lnTo>
                    <a:pt x="1" y="0"/>
                  </a:lnTo>
                  <a:lnTo>
                    <a:pt x="13" y="6"/>
                  </a:lnTo>
                  <a:lnTo>
                    <a:pt x="15" y="14"/>
                  </a:lnTo>
                  <a:lnTo>
                    <a:pt x="25" y="14"/>
                  </a:lnTo>
                  <a:lnTo>
                    <a:pt x="31" y="6"/>
                  </a:lnTo>
                  <a:lnTo>
                    <a:pt x="41" y="16"/>
                  </a:lnTo>
                  <a:lnTo>
                    <a:pt x="52" y="27"/>
                  </a:lnTo>
                  <a:lnTo>
                    <a:pt x="53" y="44"/>
                  </a:lnTo>
                  <a:lnTo>
                    <a:pt x="55" y="60"/>
                  </a:lnTo>
                  <a:lnTo>
                    <a:pt x="63" y="76"/>
                  </a:lnTo>
                  <a:lnTo>
                    <a:pt x="70" y="92"/>
                  </a:lnTo>
                  <a:lnTo>
                    <a:pt x="64" y="89"/>
                  </a:lnTo>
                  <a:lnTo>
                    <a:pt x="59" y="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 name="Freeform 34"/>
            <p:cNvSpPr>
              <a:spLocks/>
            </p:cNvSpPr>
            <p:nvPr/>
          </p:nvSpPr>
          <p:spPr bwMode="auto">
            <a:xfrm>
              <a:off x="5473" y="2714"/>
              <a:ext cx="2" cy="2"/>
            </a:xfrm>
            <a:custGeom>
              <a:avLst/>
              <a:gdLst/>
              <a:ahLst/>
              <a:cxnLst>
                <a:cxn ang="0">
                  <a:pos x="0" y="2"/>
                </a:cxn>
                <a:cxn ang="0">
                  <a:pos x="0" y="0"/>
                </a:cxn>
                <a:cxn ang="0">
                  <a:pos x="0" y="2"/>
                </a:cxn>
              </a:cxnLst>
              <a:rect l="0" t="0" r="r" b="b"/>
              <a:pathLst>
                <a:path h="2">
                  <a:moveTo>
                    <a:pt x="0" y="2"/>
                  </a:moveTo>
                  <a:lnTo>
                    <a:pt x="0" y="0"/>
                  </a:lnTo>
                  <a:lnTo>
                    <a:pt x="0"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 name="Freeform 35"/>
            <p:cNvSpPr>
              <a:spLocks/>
            </p:cNvSpPr>
            <p:nvPr/>
          </p:nvSpPr>
          <p:spPr bwMode="auto">
            <a:xfrm>
              <a:off x="5006" y="2756"/>
              <a:ext cx="171" cy="160"/>
            </a:xfrm>
            <a:custGeom>
              <a:avLst/>
              <a:gdLst/>
              <a:ahLst/>
              <a:cxnLst>
                <a:cxn ang="0">
                  <a:pos x="154" y="137"/>
                </a:cxn>
                <a:cxn ang="0">
                  <a:pos x="148" y="140"/>
                </a:cxn>
                <a:cxn ang="0">
                  <a:pos x="148" y="144"/>
                </a:cxn>
                <a:cxn ang="0">
                  <a:pos x="140" y="141"/>
                </a:cxn>
                <a:cxn ang="0">
                  <a:pos x="124" y="139"/>
                </a:cxn>
                <a:cxn ang="0">
                  <a:pos x="110" y="135"/>
                </a:cxn>
                <a:cxn ang="0">
                  <a:pos x="101" y="126"/>
                </a:cxn>
                <a:cxn ang="0">
                  <a:pos x="93" y="117"/>
                </a:cxn>
                <a:cxn ang="0">
                  <a:pos x="84" y="107"/>
                </a:cxn>
                <a:cxn ang="0">
                  <a:pos x="77" y="96"/>
                </a:cxn>
                <a:cxn ang="0">
                  <a:pos x="57" y="89"/>
                </a:cxn>
                <a:cxn ang="0">
                  <a:pos x="56" y="92"/>
                </a:cxn>
                <a:cxn ang="0">
                  <a:pos x="46" y="89"/>
                </a:cxn>
                <a:cxn ang="0">
                  <a:pos x="47" y="97"/>
                </a:cxn>
                <a:cxn ang="0">
                  <a:pos x="41" y="97"/>
                </a:cxn>
                <a:cxn ang="0">
                  <a:pos x="42" y="101"/>
                </a:cxn>
                <a:cxn ang="0">
                  <a:pos x="21" y="101"/>
                </a:cxn>
                <a:cxn ang="0">
                  <a:pos x="39" y="110"/>
                </a:cxn>
                <a:cxn ang="0">
                  <a:pos x="30" y="117"/>
                </a:cxn>
                <a:cxn ang="0">
                  <a:pos x="16" y="117"/>
                </a:cxn>
                <a:cxn ang="0">
                  <a:pos x="0" y="117"/>
                </a:cxn>
                <a:cxn ang="0">
                  <a:pos x="2" y="102"/>
                </a:cxn>
                <a:cxn ang="0">
                  <a:pos x="3" y="87"/>
                </a:cxn>
                <a:cxn ang="0">
                  <a:pos x="4" y="73"/>
                </a:cxn>
                <a:cxn ang="0">
                  <a:pos x="5" y="59"/>
                </a:cxn>
                <a:cxn ang="0">
                  <a:pos x="6" y="44"/>
                </a:cxn>
                <a:cxn ang="0">
                  <a:pos x="6" y="29"/>
                </a:cxn>
                <a:cxn ang="0">
                  <a:pos x="8" y="14"/>
                </a:cxn>
                <a:cxn ang="0">
                  <a:pos x="8" y="0"/>
                </a:cxn>
                <a:cxn ang="0">
                  <a:pos x="23" y="7"/>
                </a:cxn>
                <a:cxn ang="0">
                  <a:pos x="38" y="13"/>
                </a:cxn>
                <a:cxn ang="0">
                  <a:pos x="53" y="20"/>
                </a:cxn>
                <a:cxn ang="0">
                  <a:pos x="69" y="27"/>
                </a:cxn>
                <a:cxn ang="0">
                  <a:pos x="82" y="44"/>
                </a:cxn>
                <a:cxn ang="0">
                  <a:pos x="83" y="53"/>
                </a:cxn>
                <a:cxn ang="0">
                  <a:pos x="96" y="59"/>
                </a:cxn>
                <a:cxn ang="0">
                  <a:pos x="111" y="65"/>
                </a:cxn>
                <a:cxn ang="0">
                  <a:pos x="112" y="74"/>
                </a:cxn>
                <a:cxn ang="0">
                  <a:pos x="98" y="75"/>
                </a:cxn>
                <a:cxn ang="0">
                  <a:pos x="105" y="91"/>
                </a:cxn>
                <a:cxn ang="0">
                  <a:pos x="116" y="101"/>
                </a:cxn>
                <a:cxn ang="0">
                  <a:pos x="123" y="116"/>
                </a:cxn>
                <a:cxn ang="0">
                  <a:pos x="132" y="117"/>
                </a:cxn>
                <a:cxn ang="0">
                  <a:pos x="131" y="123"/>
                </a:cxn>
                <a:cxn ang="0">
                  <a:pos x="140" y="128"/>
                </a:cxn>
                <a:cxn ang="0">
                  <a:pos x="138" y="132"/>
                </a:cxn>
                <a:cxn ang="0">
                  <a:pos x="154" y="137"/>
                </a:cxn>
              </a:cxnLst>
              <a:rect l="0" t="0" r="r" b="b"/>
              <a:pathLst>
                <a:path w="154" h="144">
                  <a:moveTo>
                    <a:pt x="154" y="137"/>
                  </a:moveTo>
                  <a:lnTo>
                    <a:pt x="148" y="140"/>
                  </a:lnTo>
                  <a:lnTo>
                    <a:pt x="148" y="144"/>
                  </a:lnTo>
                  <a:lnTo>
                    <a:pt x="140" y="141"/>
                  </a:lnTo>
                  <a:lnTo>
                    <a:pt x="124" y="139"/>
                  </a:lnTo>
                  <a:lnTo>
                    <a:pt x="110" y="135"/>
                  </a:lnTo>
                  <a:lnTo>
                    <a:pt x="101" y="126"/>
                  </a:lnTo>
                  <a:lnTo>
                    <a:pt x="93" y="117"/>
                  </a:lnTo>
                  <a:lnTo>
                    <a:pt x="84" y="107"/>
                  </a:lnTo>
                  <a:lnTo>
                    <a:pt x="77" y="96"/>
                  </a:lnTo>
                  <a:lnTo>
                    <a:pt x="57" y="89"/>
                  </a:lnTo>
                  <a:lnTo>
                    <a:pt x="56" y="92"/>
                  </a:lnTo>
                  <a:lnTo>
                    <a:pt x="46" y="89"/>
                  </a:lnTo>
                  <a:lnTo>
                    <a:pt x="47" y="97"/>
                  </a:lnTo>
                  <a:lnTo>
                    <a:pt x="41" y="97"/>
                  </a:lnTo>
                  <a:lnTo>
                    <a:pt x="42" y="101"/>
                  </a:lnTo>
                  <a:lnTo>
                    <a:pt x="21" y="101"/>
                  </a:lnTo>
                  <a:lnTo>
                    <a:pt x="39" y="110"/>
                  </a:lnTo>
                  <a:lnTo>
                    <a:pt x="30" y="117"/>
                  </a:lnTo>
                  <a:lnTo>
                    <a:pt x="16" y="117"/>
                  </a:lnTo>
                  <a:lnTo>
                    <a:pt x="0" y="117"/>
                  </a:lnTo>
                  <a:lnTo>
                    <a:pt x="2" y="102"/>
                  </a:lnTo>
                  <a:lnTo>
                    <a:pt x="3" y="87"/>
                  </a:lnTo>
                  <a:lnTo>
                    <a:pt x="4" y="73"/>
                  </a:lnTo>
                  <a:lnTo>
                    <a:pt x="5" y="59"/>
                  </a:lnTo>
                  <a:lnTo>
                    <a:pt x="6" y="44"/>
                  </a:lnTo>
                  <a:lnTo>
                    <a:pt x="6" y="29"/>
                  </a:lnTo>
                  <a:lnTo>
                    <a:pt x="8" y="14"/>
                  </a:lnTo>
                  <a:lnTo>
                    <a:pt x="8" y="0"/>
                  </a:lnTo>
                  <a:lnTo>
                    <a:pt x="23" y="7"/>
                  </a:lnTo>
                  <a:lnTo>
                    <a:pt x="38" y="13"/>
                  </a:lnTo>
                  <a:lnTo>
                    <a:pt x="53" y="20"/>
                  </a:lnTo>
                  <a:lnTo>
                    <a:pt x="69" y="27"/>
                  </a:lnTo>
                  <a:lnTo>
                    <a:pt x="82" y="44"/>
                  </a:lnTo>
                  <a:lnTo>
                    <a:pt x="83" y="53"/>
                  </a:lnTo>
                  <a:lnTo>
                    <a:pt x="96" y="59"/>
                  </a:lnTo>
                  <a:lnTo>
                    <a:pt x="111" y="65"/>
                  </a:lnTo>
                  <a:lnTo>
                    <a:pt x="112" y="74"/>
                  </a:lnTo>
                  <a:lnTo>
                    <a:pt x="98" y="75"/>
                  </a:lnTo>
                  <a:lnTo>
                    <a:pt x="105" y="91"/>
                  </a:lnTo>
                  <a:lnTo>
                    <a:pt x="116" y="101"/>
                  </a:lnTo>
                  <a:lnTo>
                    <a:pt x="123" y="116"/>
                  </a:lnTo>
                  <a:lnTo>
                    <a:pt x="132" y="117"/>
                  </a:lnTo>
                  <a:lnTo>
                    <a:pt x="131" y="123"/>
                  </a:lnTo>
                  <a:lnTo>
                    <a:pt x="140" y="128"/>
                  </a:lnTo>
                  <a:lnTo>
                    <a:pt x="138" y="132"/>
                  </a:lnTo>
                  <a:lnTo>
                    <a:pt x="154"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 name="Freeform 36"/>
            <p:cNvSpPr>
              <a:spLocks/>
            </p:cNvSpPr>
            <p:nvPr/>
          </p:nvSpPr>
          <p:spPr bwMode="auto">
            <a:xfrm>
              <a:off x="5142" y="2790"/>
              <a:ext cx="73" cy="40"/>
            </a:xfrm>
            <a:custGeom>
              <a:avLst/>
              <a:gdLst/>
              <a:ahLst/>
              <a:cxnLst>
                <a:cxn ang="0">
                  <a:pos x="66" y="1"/>
                </a:cxn>
                <a:cxn ang="0">
                  <a:pos x="61" y="13"/>
                </a:cxn>
                <a:cxn ang="0">
                  <a:pos x="57" y="15"/>
                </a:cxn>
                <a:cxn ang="0">
                  <a:pos x="58" y="21"/>
                </a:cxn>
                <a:cxn ang="0">
                  <a:pos x="48" y="26"/>
                </a:cxn>
                <a:cxn ang="0">
                  <a:pos x="26" y="36"/>
                </a:cxn>
                <a:cxn ang="0">
                  <a:pos x="13" y="32"/>
                </a:cxn>
                <a:cxn ang="0">
                  <a:pos x="3" y="27"/>
                </a:cxn>
                <a:cxn ang="0">
                  <a:pos x="0" y="21"/>
                </a:cxn>
                <a:cxn ang="0">
                  <a:pos x="21" y="23"/>
                </a:cxn>
                <a:cxn ang="0">
                  <a:pos x="27" y="13"/>
                </a:cxn>
                <a:cxn ang="0">
                  <a:pos x="27" y="19"/>
                </a:cxn>
                <a:cxn ang="0">
                  <a:pos x="36" y="23"/>
                </a:cxn>
                <a:cxn ang="0">
                  <a:pos x="51" y="12"/>
                </a:cxn>
                <a:cxn ang="0">
                  <a:pos x="51" y="1"/>
                </a:cxn>
                <a:cxn ang="0">
                  <a:pos x="60" y="0"/>
                </a:cxn>
                <a:cxn ang="0">
                  <a:pos x="66" y="1"/>
                </a:cxn>
              </a:cxnLst>
              <a:rect l="0" t="0" r="r" b="b"/>
              <a:pathLst>
                <a:path w="66" h="36">
                  <a:moveTo>
                    <a:pt x="66" y="1"/>
                  </a:moveTo>
                  <a:lnTo>
                    <a:pt x="61" y="13"/>
                  </a:lnTo>
                  <a:lnTo>
                    <a:pt x="57" y="15"/>
                  </a:lnTo>
                  <a:lnTo>
                    <a:pt x="58" y="21"/>
                  </a:lnTo>
                  <a:lnTo>
                    <a:pt x="48" y="26"/>
                  </a:lnTo>
                  <a:lnTo>
                    <a:pt x="26" y="36"/>
                  </a:lnTo>
                  <a:lnTo>
                    <a:pt x="13" y="32"/>
                  </a:lnTo>
                  <a:lnTo>
                    <a:pt x="3" y="27"/>
                  </a:lnTo>
                  <a:lnTo>
                    <a:pt x="0" y="21"/>
                  </a:lnTo>
                  <a:lnTo>
                    <a:pt x="21" y="23"/>
                  </a:lnTo>
                  <a:lnTo>
                    <a:pt x="27" y="13"/>
                  </a:lnTo>
                  <a:lnTo>
                    <a:pt x="27" y="19"/>
                  </a:lnTo>
                  <a:lnTo>
                    <a:pt x="36" y="23"/>
                  </a:lnTo>
                  <a:lnTo>
                    <a:pt x="51" y="12"/>
                  </a:lnTo>
                  <a:lnTo>
                    <a:pt x="51" y="1"/>
                  </a:lnTo>
                  <a:lnTo>
                    <a:pt x="60" y="0"/>
                  </a:lnTo>
                  <a:lnTo>
                    <a:pt x="6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 name="Freeform 37"/>
            <p:cNvSpPr>
              <a:spLocks/>
            </p:cNvSpPr>
            <p:nvPr/>
          </p:nvSpPr>
          <p:spPr bwMode="auto">
            <a:xfrm>
              <a:off x="5253" y="2814"/>
              <a:ext cx="20" cy="29"/>
            </a:xfrm>
            <a:custGeom>
              <a:avLst/>
              <a:gdLst/>
              <a:ahLst/>
              <a:cxnLst>
                <a:cxn ang="0">
                  <a:pos x="18" y="24"/>
                </a:cxn>
                <a:cxn ang="0">
                  <a:pos x="14" y="27"/>
                </a:cxn>
                <a:cxn ang="0">
                  <a:pos x="4" y="15"/>
                </a:cxn>
                <a:cxn ang="0">
                  <a:pos x="0" y="0"/>
                </a:cxn>
                <a:cxn ang="0">
                  <a:pos x="10" y="12"/>
                </a:cxn>
                <a:cxn ang="0">
                  <a:pos x="18" y="24"/>
                </a:cxn>
              </a:cxnLst>
              <a:rect l="0" t="0" r="r" b="b"/>
              <a:pathLst>
                <a:path w="18" h="27">
                  <a:moveTo>
                    <a:pt x="18" y="24"/>
                  </a:moveTo>
                  <a:lnTo>
                    <a:pt x="14" y="27"/>
                  </a:lnTo>
                  <a:lnTo>
                    <a:pt x="4" y="15"/>
                  </a:lnTo>
                  <a:lnTo>
                    <a:pt x="0" y="0"/>
                  </a:lnTo>
                  <a:lnTo>
                    <a:pt x="10" y="12"/>
                  </a:lnTo>
                  <a:lnTo>
                    <a:pt x="18"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 name="Freeform 38"/>
            <p:cNvSpPr>
              <a:spLocks/>
            </p:cNvSpPr>
            <p:nvPr/>
          </p:nvSpPr>
          <p:spPr bwMode="auto">
            <a:xfrm>
              <a:off x="5189" y="2759"/>
              <a:ext cx="37" cy="42"/>
            </a:xfrm>
            <a:custGeom>
              <a:avLst/>
              <a:gdLst/>
              <a:ahLst/>
              <a:cxnLst>
                <a:cxn ang="0">
                  <a:pos x="33" y="31"/>
                </a:cxn>
                <a:cxn ang="0">
                  <a:pos x="29" y="37"/>
                </a:cxn>
                <a:cxn ang="0">
                  <a:pos x="18" y="16"/>
                </a:cxn>
                <a:cxn ang="0">
                  <a:pos x="9" y="8"/>
                </a:cxn>
                <a:cxn ang="0">
                  <a:pos x="0" y="1"/>
                </a:cxn>
                <a:cxn ang="0">
                  <a:pos x="0" y="0"/>
                </a:cxn>
                <a:cxn ang="0">
                  <a:pos x="12" y="10"/>
                </a:cxn>
                <a:cxn ang="0">
                  <a:pos x="25" y="19"/>
                </a:cxn>
                <a:cxn ang="0">
                  <a:pos x="33" y="31"/>
                </a:cxn>
              </a:cxnLst>
              <a:rect l="0" t="0" r="r" b="b"/>
              <a:pathLst>
                <a:path w="33" h="37">
                  <a:moveTo>
                    <a:pt x="33" y="31"/>
                  </a:moveTo>
                  <a:lnTo>
                    <a:pt x="29" y="37"/>
                  </a:lnTo>
                  <a:lnTo>
                    <a:pt x="18" y="16"/>
                  </a:lnTo>
                  <a:lnTo>
                    <a:pt x="9" y="8"/>
                  </a:lnTo>
                  <a:lnTo>
                    <a:pt x="0" y="1"/>
                  </a:lnTo>
                  <a:lnTo>
                    <a:pt x="0" y="0"/>
                  </a:lnTo>
                  <a:lnTo>
                    <a:pt x="12" y="10"/>
                  </a:lnTo>
                  <a:lnTo>
                    <a:pt x="25" y="19"/>
                  </a:lnTo>
                  <a:lnTo>
                    <a:pt x="33" y="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 name="Freeform 39"/>
            <p:cNvSpPr>
              <a:spLocks/>
            </p:cNvSpPr>
            <p:nvPr/>
          </p:nvSpPr>
          <p:spPr bwMode="auto">
            <a:xfrm>
              <a:off x="5180" y="2901"/>
              <a:ext cx="6" cy="6"/>
            </a:xfrm>
            <a:custGeom>
              <a:avLst/>
              <a:gdLst/>
              <a:ahLst/>
              <a:cxnLst>
                <a:cxn ang="0">
                  <a:pos x="6" y="3"/>
                </a:cxn>
                <a:cxn ang="0">
                  <a:pos x="3" y="5"/>
                </a:cxn>
                <a:cxn ang="0">
                  <a:pos x="0" y="0"/>
                </a:cxn>
                <a:cxn ang="0">
                  <a:pos x="6" y="3"/>
                </a:cxn>
              </a:cxnLst>
              <a:rect l="0" t="0" r="r" b="b"/>
              <a:pathLst>
                <a:path w="6" h="5">
                  <a:moveTo>
                    <a:pt x="6" y="3"/>
                  </a:moveTo>
                  <a:lnTo>
                    <a:pt x="3" y="5"/>
                  </a:lnTo>
                  <a:lnTo>
                    <a:pt x="0" y="0"/>
                  </a:lnTo>
                  <a:lnTo>
                    <a:pt x="6"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 name="Freeform 40"/>
            <p:cNvSpPr>
              <a:spLocks/>
            </p:cNvSpPr>
            <p:nvPr/>
          </p:nvSpPr>
          <p:spPr bwMode="auto">
            <a:xfrm>
              <a:off x="4042" y="2176"/>
              <a:ext cx="87" cy="111"/>
            </a:xfrm>
            <a:custGeom>
              <a:avLst/>
              <a:gdLst/>
              <a:ahLst/>
              <a:cxnLst>
                <a:cxn ang="0">
                  <a:pos x="28" y="84"/>
                </a:cxn>
                <a:cxn ang="0">
                  <a:pos x="27" y="85"/>
                </a:cxn>
                <a:cxn ang="0">
                  <a:pos x="24" y="80"/>
                </a:cxn>
                <a:cxn ang="0">
                  <a:pos x="24" y="82"/>
                </a:cxn>
                <a:cxn ang="0">
                  <a:pos x="19" y="68"/>
                </a:cxn>
                <a:cxn ang="0">
                  <a:pos x="14" y="55"/>
                </a:cxn>
                <a:cxn ang="0">
                  <a:pos x="13" y="44"/>
                </a:cxn>
                <a:cxn ang="0">
                  <a:pos x="1" y="34"/>
                </a:cxn>
                <a:cxn ang="0">
                  <a:pos x="6" y="27"/>
                </a:cxn>
                <a:cxn ang="0">
                  <a:pos x="12" y="24"/>
                </a:cxn>
                <a:cxn ang="0">
                  <a:pos x="0" y="13"/>
                </a:cxn>
                <a:cxn ang="0">
                  <a:pos x="0" y="0"/>
                </a:cxn>
                <a:cxn ang="0">
                  <a:pos x="10" y="3"/>
                </a:cxn>
                <a:cxn ang="0">
                  <a:pos x="15" y="9"/>
                </a:cxn>
                <a:cxn ang="0">
                  <a:pos x="19" y="6"/>
                </a:cxn>
                <a:cxn ang="0">
                  <a:pos x="25" y="20"/>
                </a:cxn>
                <a:cxn ang="0">
                  <a:pos x="42" y="22"/>
                </a:cxn>
                <a:cxn ang="0">
                  <a:pos x="58" y="24"/>
                </a:cxn>
                <a:cxn ang="0">
                  <a:pos x="67" y="30"/>
                </a:cxn>
                <a:cxn ang="0">
                  <a:pos x="64" y="37"/>
                </a:cxn>
                <a:cxn ang="0">
                  <a:pos x="52" y="45"/>
                </a:cxn>
                <a:cxn ang="0">
                  <a:pos x="56" y="60"/>
                </a:cxn>
                <a:cxn ang="0">
                  <a:pos x="58" y="63"/>
                </a:cxn>
                <a:cxn ang="0">
                  <a:pos x="66" y="50"/>
                </a:cxn>
                <a:cxn ang="0">
                  <a:pos x="72" y="66"/>
                </a:cxn>
                <a:cxn ang="0">
                  <a:pos x="78" y="81"/>
                </a:cxn>
                <a:cxn ang="0">
                  <a:pos x="79" y="92"/>
                </a:cxn>
                <a:cxn ang="0">
                  <a:pos x="74" y="96"/>
                </a:cxn>
                <a:cxn ang="0">
                  <a:pos x="76" y="100"/>
                </a:cxn>
                <a:cxn ang="0">
                  <a:pos x="67" y="84"/>
                </a:cxn>
                <a:cxn ang="0">
                  <a:pos x="58" y="67"/>
                </a:cxn>
                <a:cxn ang="0">
                  <a:pos x="48" y="66"/>
                </a:cxn>
                <a:cxn ang="0">
                  <a:pos x="43" y="55"/>
                </a:cxn>
                <a:cxn ang="0">
                  <a:pos x="27" y="45"/>
                </a:cxn>
                <a:cxn ang="0">
                  <a:pos x="22" y="46"/>
                </a:cxn>
                <a:cxn ang="0">
                  <a:pos x="39" y="56"/>
                </a:cxn>
                <a:cxn ang="0">
                  <a:pos x="44" y="67"/>
                </a:cxn>
                <a:cxn ang="0">
                  <a:pos x="45" y="70"/>
                </a:cxn>
                <a:cxn ang="0">
                  <a:pos x="42" y="85"/>
                </a:cxn>
                <a:cxn ang="0">
                  <a:pos x="38" y="80"/>
                </a:cxn>
                <a:cxn ang="0">
                  <a:pos x="36" y="80"/>
                </a:cxn>
                <a:cxn ang="0">
                  <a:pos x="32" y="84"/>
                </a:cxn>
                <a:cxn ang="0">
                  <a:pos x="28" y="84"/>
                </a:cxn>
              </a:cxnLst>
              <a:rect l="0" t="0" r="r" b="b"/>
              <a:pathLst>
                <a:path w="79" h="100">
                  <a:moveTo>
                    <a:pt x="28" y="84"/>
                  </a:moveTo>
                  <a:lnTo>
                    <a:pt x="27" y="85"/>
                  </a:lnTo>
                  <a:lnTo>
                    <a:pt x="24" y="80"/>
                  </a:lnTo>
                  <a:lnTo>
                    <a:pt x="24" y="82"/>
                  </a:lnTo>
                  <a:lnTo>
                    <a:pt x="19" y="68"/>
                  </a:lnTo>
                  <a:lnTo>
                    <a:pt x="14" y="55"/>
                  </a:lnTo>
                  <a:lnTo>
                    <a:pt x="13" y="44"/>
                  </a:lnTo>
                  <a:lnTo>
                    <a:pt x="1" y="34"/>
                  </a:lnTo>
                  <a:lnTo>
                    <a:pt x="6" y="27"/>
                  </a:lnTo>
                  <a:lnTo>
                    <a:pt x="12" y="24"/>
                  </a:lnTo>
                  <a:lnTo>
                    <a:pt x="0" y="13"/>
                  </a:lnTo>
                  <a:lnTo>
                    <a:pt x="0" y="0"/>
                  </a:lnTo>
                  <a:lnTo>
                    <a:pt x="10" y="3"/>
                  </a:lnTo>
                  <a:lnTo>
                    <a:pt x="15" y="9"/>
                  </a:lnTo>
                  <a:lnTo>
                    <a:pt x="19" y="6"/>
                  </a:lnTo>
                  <a:lnTo>
                    <a:pt x="25" y="20"/>
                  </a:lnTo>
                  <a:lnTo>
                    <a:pt x="42" y="22"/>
                  </a:lnTo>
                  <a:lnTo>
                    <a:pt x="58" y="24"/>
                  </a:lnTo>
                  <a:lnTo>
                    <a:pt x="67" y="30"/>
                  </a:lnTo>
                  <a:lnTo>
                    <a:pt x="64" y="37"/>
                  </a:lnTo>
                  <a:lnTo>
                    <a:pt x="52" y="45"/>
                  </a:lnTo>
                  <a:lnTo>
                    <a:pt x="56" y="60"/>
                  </a:lnTo>
                  <a:lnTo>
                    <a:pt x="58" y="63"/>
                  </a:lnTo>
                  <a:lnTo>
                    <a:pt x="66" y="50"/>
                  </a:lnTo>
                  <a:lnTo>
                    <a:pt x="72" y="66"/>
                  </a:lnTo>
                  <a:lnTo>
                    <a:pt x="78" y="81"/>
                  </a:lnTo>
                  <a:lnTo>
                    <a:pt x="79" y="92"/>
                  </a:lnTo>
                  <a:lnTo>
                    <a:pt x="74" y="96"/>
                  </a:lnTo>
                  <a:lnTo>
                    <a:pt x="76" y="100"/>
                  </a:lnTo>
                  <a:lnTo>
                    <a:pt x="67" y="84"/>
                  </a:lnTo>
                  <a:lnTo>
                    <a:pt x="58" y="67"/>
                  </a:lnTo>
                  <a:lnTo>
                    <a:pt x="48" y="66"/>
                  </a:lnTo>
                  <a:lnTo>
                    <a:pt x="43" y="55"/>
                  </a:lnTo>
                  <a:lnTo>
                    <a:pt x="27" y="45"/>
                  </a:lnTo>
                  <a:lnTo>
                    <a:pt x="22" y="46"/>
                  </a:lnTo>
                  <a:lnTo>
                    <a:pt x="39" y="56"/>
                  </a:lnTo>
                  <a:lnTo>
                    <a:pt x="44" y="67"/>
                  </a:lnTo>
                  <a:lnTo>
                    <a:pt x="45" y="70"/>
                  </a:lnTo>
                  <a:lnTo>
                    <a:pt x="42" y="85"/>
                  </a:lnTo>
                  <a:lnTo>
                    <a:pt x="38" y="80"/>
                  </a:lnTo>
                  <a:lnTo>
                    <a:pt x="36" y="80"/>
                  </a:lnTo>
                  <a:lnTo>
                    <a:pt x="32" y="84"/>
                  </a:lnTo>
                  <a:lnTo>
                    <a:pt x="28" y="8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 name="Freeform 41"/>
            <p:cNvSpPr>
              <a:spLocks/>
            </p:cNvSpPr>
            <p:nvPr/>
          </p:nvSpPr>
          <p:spPr bwMode="auto">
            <a:xfrm>
              <a:off x="4046" y="2143"/>
              <a:ext cx="56" cy="27"/>
            </a:xfrm>
            <a:custGeom>
              <a:avLst/>
              <a:gdLst/>
              <a:ahLst/>
              <a:cxnLst>
                <a:cxn ang="0">
                  <a:pos x="33" y="2"/>
                </a:cxn>
                <a:cxn ang="0">
                  <a:pos x="11" y="0"/>
                </a:cxn>
                <a:cxn ang="0">
                  <a:pos x="0" y="15"/>
                </a:cxn>
                <a:cxn ang="0">
                  <a:pos x="3" y="22"/>
                </a:cxn>
                <a:cxn ang="0">
                  <a:pos x="22" y="25"/>
                </a:cxn>
                <a:cxn ang="0">
                  <a:pos x="36" y="24"/>
                </a:cxn>
                <a:cxn ang="0">
                  <a:pos x="51" y="22"/>
                </a:cxn>
                <a:cxn ang="0">
                  <a:pos x="45" y="13"/>
                </a:cxn>
                <a:cxn ang="0">
                  <a:pos x="40" y="7"/>
                </a:cxn>
                <a:cxn ang="0">
                  <a:pos x="33" y="2"/>
                </a:cxn>
              </a:cxnLst>
              <a:rect l="0" t="0" r="r" b="b"/>
              <a:pathLst>
                <a:path w="51" h="25">
                  <a:moveTo>
                    <a:pt x="33" y="2"/>
                  </a:moveTo>
                  <a:lnTo>
                    <a:pt x="11" y="0"/>
                  </a:lnTo>
                  <a:lnTo>
                    <a:pt x="0" y="15"/>
                  </a:lnTo>
                  <a:lnTo>
                    <a:pt x="3" y="22"/>
                  </a:lnTo>
                  <a:lnTo>
                    <a:pt x="22" y="25"/>
                  </a:lnTo>
                  <a:lnTo>
                    <a:pt x="36" y="24"/>
                  </a:lnTo>
                  <a:lnTo>
                    <a:pt x="51" y="22"/>
                  </a:lnTo>
                  <a:lnTo>
                    <a:pt x="45" y="13"/>
                  </a:lnTo>
                  <a:lnTo>
                    <a:pt x="40" y="7"/>
                  </a:lnTo>
                  <a:lnTo>
                    <a:pt x="3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 name="Freeform 42"/>
            <p:cNvSpPr>
              <a:spLocks/>
            </p:cNvSpPr>
            <p:nvPr/>
          </p:nvSpPr>
          <p:spPr bwMode="auto">
            <a:xfrm>
              <a:off x="4320" y="2412"/>
              <a:ext cx="93" cy="84"/>
            </a:xfrm>
            <a:custGeom>
              <a:avLst/>
              <a:gdLst/>
              <a:ahLst/>
              <a:cxnLst>
                <a:cxn ang="0">
                  <a:pos x="59" y="56"/>
                </a:cxn>
                <a:cxn ang="0">
                  <a:pos x="64" y="70"/>
                </a:cxn>
                <a:cxn ang="0">
                  <a:pos x="52" y="68"/>
                </a:cxn>
                <a:cxn ang="0">
                  <a:pos x="48" y="71"/>
                </a:cxn>
                <a:cxn ang="0">
                  <a:pos x="39" y="77"/>
                </a:cxn>
                <a:cxn ang="0">
                  <a:pos x="29" y="74"/>
                </a:cxn>
                <a:cxn ang="0">
                  <a:pos x="24" y="72"/>
                </a:cxn>
                <a:cxn ang="0">
                  <a:pos x="22" y="64"/>
                </a:cxn>
                <a:cxn ang="0">
                  <a:pos x="17" y="68"/>
                </a:cxn>
                <a:cxn ang="0">
                  <a:pos x="14" y="56"/>
                </a:cxn>
                <a:cxn ang="0">
                  <a:pos x="12" y="55"/>
                </a:cxn>
                <a:cxn ang="0">
                  <a:pos x="6" y="41"/>
                </a:cxn>
                <a:cxn ang="0">
                  <a:pos x="0" y="25"/>
                </a:cxn>
                <a:cxn ang="0">
                  <a:pos x="11" y="7"/>
                </a:cxn>
                <a:cxn ang="0">
                  <a:pos x="27" y="7"/>
                </a:cxn>
                <a:cxn ang="0">
                  <a:pos x="44" y="6"/>
                </a:cxn>
                <a:cxn ang="0">
                  <a:pos x="57" y="13"/>
                </a:cxn>
                <a:cxn ang="0">
                  <a:pos x="57" y="8"/>
                </a:cxn>
                <a:cxn ang="0">
                  <a:pos x="63" y="4"/>
                </a:cxn>
                <a:cxn ang="0">
                  <a:pos x="69" y="6"/>
                </a:cxn>
                <a:cxn ang="0">
                  <a:pos x="80" y="0"/>
                </a:cxn>
                <a:cxn ang="0">
                  <a:pos x="81" y="16"/>
                </a:cxn>
                <a:cxn ang="0">
                  <a:pos x="82" y="30"/>
                </a:cxn>
                <a:cxn ang="0">
                  <a:pos x="83" y="44"/>
                </a:cxn>
                <a:cxn ang="0">
                  <a:pos x="68" y="52"/>
                </a:cxn>
                <a:cxn ang="0">
                  <a:pos x="59" y="56"/>
                </a:cxn>
              </a:cxnLst>
              <a:rect l="0" t="0" r="r" b="b"/>
              <a:pathLst>
                <a:path w="83" h="77">
                  <a:moveTo>
                    <a:pt x="59" y="56"/>
                  </a:moveTo>
                  <a:lnTo>
                    <a:pt x="64" y="70"/>
                  </a:lnTo>
                  <a:lnTo>
                    <a:pt x="52" y="68"/>
                  </a:lnTo>
                  <a:lnTo>
                    <a:pt x="48" y="71"/>
                  </a:lnTo>
                  <a:lnTo>
                    <a:pt x="39" y="77"/>
                  </a:lnTo>
                  <a:lnTo>
                    <a:pt x="29" y="74"/>
                  </a:lnTo>
                  <a:lnTo>
                    <a:pt x="24" y="72"/>
                  </a:lnTo>
                  <a:lnTo>
                    <a:pt x="22" y="64"/>
                  </a:lnTo>
                  <a:lnTo>
                    <a:pt x="17" y="68"/>
                  </a:lnTo>
                  <a:lnTo>
                    <a:pt x="14" y="56"/>
                  </a:lnTo>
                  <a:lnTo>
                    <a:pt x="12" y="55"/>
                  </a:lnTo>
                  <a:lnTo>
                    <a:pt x="6" y="41"/>
                  </a:lnTo>
                  <a:lnTo>
                    <a:pt x="0" y="25"/>
                  </a:lnTo>
                  <a:lnTo>
                    <a:pt x="11" y="7"/>
                  </a:lnTo>
                  <a:lnTo>
                    <a:pt x="27" y="7"/>
                  </a:lnTo>
                  <a:lnTo>
                    <a:pt x="44" y="6"/>
                  </a:lnTo>
                  <a:lnTo>
                    <a:pt x="57" y="13"/>
                  </a:lnTo>
                  <a:lnTo>
                    <a:pt x="57" y="8"/>
                  </a:lnTo>
                  <a:lnTo>
                    <a:pt x="63" y="4"/>
                  </a:lnTo>
                  <a:lnTo>
                    <a:pt x="69" y="6"/>
                  </a:lnTo>
                  <a:lnTo>
                    <a:pt x="80" y="0"/>
                  </a:lnTo>
                  <a:lnTo>
                    <a:pt x="81" y="16"/>
                  </a:lnTo>
                  <a:lnTo>
                    <a:pt x="82" y="30"/>
                  </a:lnTo>
                  <a:lnTo>
                    <a:pt x="83" y="44"/>
                  </a:lnTo>
                  <a:lnTo>
                    <a:pt x="68" y="52"/>
                  </a:lnTo>
                  <a:lnTo>
                    <a:pt x="59"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 name="Freeform 43"/>
            <p:cNvSpPr>
              <a:spLocks/>
            </p:cNvSpPr>
            <p:nvPr/>
          </p:nvSpPr>
          <p:spPr bwMode="auto">
            <a:xfrm>
              <a:off x="4493" y="2261"/>
              <a:ext cx="5" cy="2"/>
            </a:xfrm>
            <a:custGeom>
              <a:avLst/>
              <a:gdLst/>
              <a:ahLst/>
              <a:cxnLst>
                <a:cxn ang="0">
                  <a:pos x="4" y="0"/>
                </a:cxn>
                <a:cxn ang="0">
                  <a:pos x="3" y="1"/>
                </a:cxn>
                <a:cxn ang="0">
                  <a:pos x="0" y="1"/>
                </a:cxn>
                <a:cxn ang="0">
                  <a:pos x="4" y="0"/>
                </a:cxn>
              </a:cxnLst>
              <a:rect l="0" t="0" r="r" b="b"/>
              <a:pathLst>
                <a:path w="4" h="1">
                  <a:moveTo>
                    <a:pt x="4" y="0"/>
                  </a:moveTo>
                  <a:lnTo>
                    <a:pt x="3" y="1"/>
                  </a:lnTo>
                  <a:lnTo>
                    <a:pt x="0" y="1"/>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5" name="Freeform 44"/>
            <p:cNvSpPr>
              <a:spLocks/>
            </p:cNvSpPr>
            <p:nvPr/>
          </p:nvSpPr>
          <p:spPr bwMode="auto">
            <a:xfrm>
              <a:off x="4262" y="2259"/>
              <a:ext cx="147" cy="168"/>
            </a:xfrm>
            <a:custGeom>
              <a:avLst/>
              <a:gdLst/>
              <a:ahLst/>
              <a:cxnLst>
                <a:cxn ang="0">
                  <a:pos x="74" y="38"/>
                </a:cxn>
                <a:cxn ang="0">
                  <a:pos x="69" y="34"/>
                </a:cxn>
                <a:cxn ang="0">
                  <a:pos x="60" y="25"/>
                </a:cxn>
                <a:cxn ang="0">
                  <a:pos x="53" y="29"/>
                </a:cxn>
                <a:cxn ang="0">
                  <a:pos x="41" y="19"/>
                </a:cxn>
                <a:cxn ang="0">
                  <a:pos x="38" y="12"/>
                </a:cxn>
                <a:cxn ang="0">
                  <a:pos x="26" y="0"/>
                </a:cxn>
                <a:cxn ang="0">
                  <a:pos x="18" y="0"/>
                </a:cxn>
                <a:cxn ang="0">
                  <a:pos x="21" y="22"/>
                </a:cxn>
                <a:cxn ang="0">
                  <a:pos x="15" y="18"/>
                </a:cxn>
                <a:cxn ang="0">
                  <a:pos x="13" y="14"/>
                </a:cxn>
                <a:cxn ang="0">
                  <a:pos x="6" y="28"/>
                </a:cxn>
                <a:cxn ang="0">
                  <a:pos x="0" y="36"/>
                </a:cxn>
                <a:cxn ang="0">
                  <a:pos x="6" y="38"/>
                </a:cxn>
                <a:cxn ang="0">
                  <a:pos x="7" y="49"/>
                </a:cxn>
                <a:cxn ang="0">
                  <a:pos x="19" y="50"/>
                </a:cxn>
                <a:cxn ang="0">
                  <a:pos x="20" y="68"/>
                </a:cxn>
                <a:cxn ang="0">
                  <a:pos x="21" y="86"/>
                </a:cxn>
                <a:cxn ang="0">
                  <a:pos x="36" y="76"/>
                </a:cxn>
                <a:cxn ang="0">
                  <a:pos x="45" y="79"/>
                </a:cxn>
                <a:cxn ang="0">
                  <a:pos x="53" y="77"/>
                </a:cxn>
                <a:cxn ang="0">
                  <a:pos x="60" y="72"/>
                </a:cxn>
                <a:cxn ang="0">
                  <a:pos x="79" y="88"/>
                </a:cxn>
                <a:cxn ang="0">
                  <a:pos x="81" y="101"/>
                </a:cxn>
                <a:cxn ang="0">
                  <a:pos x="96" y="119"/>
                </a:cxn>
                <a:cxn ang="0">
                  <a:pos x="99" y="134"/>
                </a:cxn>
                <a:cxn ang="0">
                  <a:pos x="95" y="144"/>
                </a:cxn>
                <a:cxn ang="0">
                  <a:pos x="108" y="151"/>
                </a:cxn>
                <a:cxn ang="0">
                  <a:pos x="108" y="146"/>
                </a:cxn>
                <a:cxn ang="0">
                  <a:pos x="114" y="142"/>
                </a:cxn>
                <a:cxn ang="0">
                  <a:pos x="120" y="144"/>
                </a:cxn>
                <a:cxn ang="0">
                  <a:pos x="131" y="138"/>
                </a:cxn>
                <a:cxn ang="0">
                  <a:pos x="128" y="124"/>
                </a:cxn>
                <a:cxn ang="0">
                  <a:pos x="123" y="118"/>
                </a:cxn>
                <a:cxn ang="0">
                  <a:pos x="125" y="114"/>
                </a:cxn>
                <a:cxn ang="0">
                  <a:pos x="110" y="102"/>
                </a:cxn>
                <a:cxn ang="0">
                  <a:pos x="103" y="92"/>
                </a:cxn>
                <a:cxn ang="0">
                  <a:pos x="93" y="80"/>
                </a:cxn>
                <a:cxn ang="0">
                  <a:pos x="84" y="68"/>
                </a:cxn>
                <a:cxn ang="0">
                  <a:pos x="63" y="53"/>
                </a:cxn>
                <a:cxn ang="0">
                  <a:pos x="67" y="48"/>
                </a:cxn>
                <a:cxn ang="0">
                  <a:pos x="75" y="46"/>
                </a:cxn>
                <a:cxn ang="0">
                  <a:pos x="74" y="38"/>
                </a:cxn>
              </a:cxnLst>
              <a:rect l="0" t="0" r="r" b="b"/>
              <a:pathLst>
                <a:path w="131" h="151">
                  <a:moveTo>
                    <a:pt x="74" y="38"/>
                  </a:moveTo>
                  <a:lnTo>
                    <a:pt x="69" y="34"/>
                  </a:lnTo>
                  <a:lnTo>
                    <a:pt x="60" y="25"/>
                  </a:lnTo>
                  <a:lnTo>
                    <a:pt x="53" y="29"/>
                  </a:lnTo>
                  <a:lnTo>
                    <a:pt x="41" y="19"/>
                  </a:lnTo>
                  <a:lnTo>
                    <a:pt x="38" y="12"/>
                  </a:lnTo>
                  <a:lnTo>
                    <a:pt x="26" y="0"/>
                  </a:lnTo>
                  <a:lnTo>
                    <a:pt x="18" y="0"/>
                  </a:lnTo>
                  <a:lnTo>
                    <a:pt x="21" y="22"/>
                  </a:lnTo>
                  <a:lnTo>
                    <a:pt x="15" y="18"/>
                  </a:lnTo>
                  <a:lnTo>
                    <a:pt x="13" y="14"/>
                  </a:lnTo>
                  <a:lnTo>
                    <a:pt x="6" y="28"/>
                  </a:lnTo>
                  <a:lnTo>
                    <a:pt x="0" y="36"/>
                  </a:lnTo>
                  <a:lnTo>
                    <a:pt x="6" y="38"/>
                  </a:lnTo>
                  <a:lnTo>
                    <a:pt x="7" y="49"/>
                  </a:lnTo>
                  <a:lnTo>
                    <a:pt x="19" y="50"/>
                  </a:lnTo>
                  <a:lnTo>
                    <a:pt x="20" y="68"/>
                  </a:lnTo>
                  <a:lnTo>
                    <a:pt x="21" y="86"/>
                  </a:lnTo>
                  <a:lnTo>
                    <a:pt x="36" y="76"/>
                  </a:lnTo>
                  <a:lnTo>
                    <a:pt x="45" y="79"/>
                  </a:lnTo>
                  <a:lnTo>
                    <a:pt x="53" y="77"/>
                  </a:lnTo>
                  <a:lnTo>
                    <a:pt x="60" y="72"/>
                  </a:lnTo>
                  <a:lnTo>
                    <a:pt x="79" y="88"/>
                  </a:lnTo>
                  <a:lnTo>
                    <a:pt x="81" y="101"/>
                  </a:lnTo>
                  <a:lnTo>
                    <a:pt x="96" y="119"/>
                  </a:lnTo>
                  <a:lnTo>
                    <a:pt x="99" y="134"/>
                  </a:lnTo>
                  <a:lnTo>
                    <a:pt x="95" y="144"/>
                  </a:lnTo>
                  <a:lnTo>
                    <a:pt x="108" y="151"/>
                  </a:lnTo>
                  <a:lnTo>
                    <a:pt x="108" y="146"/>
                  </a:lnTo>
                  <a:lnTo>
                    <a:pt x="114" y="142"/>
                  </a:lnTo>
                  <a:lnTo>
                    <a:pt x="120" y="144"/>
                  </a:lnTo>
                  <a:lnTo>
                    <a:pt x="131" y="138"/>
                  </a:lnTo>
                  <a:lnTo>
                    <a:pt x="128" y="124"/>
                  </a:lnTo>
                  <a:lnTo>
                    <a:pt x="123" y="118"/>
                  </a:lnTo>
                  <a:lnTo>
                    <a:pt x="125" y="114"/>
                  </a:lnTo>
                  <a:lnTo>
                    <a:pt x="110" y="102"/>
                  </a:lnTo>
                  <a:lnTo>
                    <a:pt x="103" y="92"/>
                  </a:lnTo>
                  <a:lnTo>
                    <a:pt x="93" y="80"/>
                  </a:lnTo>
                  <a:lnTo>
                    <a:pt x="84" y="68"/>
                  </a:lnTo>
                  <a:lnTo>
                    <a:pt x="63" y="53"/>
                  </a:lnTo>
                  <a:lnTo>
                    <a:pt x="67" y="48"/>
                  </a:lnTo>
                  <a:lnTo>
                    <a:pt x="75" y="46"/>
                  </a:lnTo>
                  <a:lnTo>
                    <a:pt x="74"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6" name="Freeform 45"/>
            <p:cNvSpPr>
              <a:spLocks/>
            </p:cNvSpPr>
            <p:nvPr/>
          </p:nvSpPr>
          <p:spPr bwMode="auto">
            <a:xfrm>
              <a:off x="4124" y="2136"/>
              <a:ext cx="154" cy="367"/>
            </a:xfrm>
            <a:custGeom>
              <a:avLst/>
              <a:gdLst/>
              <a:ahLst/>
              <a:cxnLst>
                <a:cxn ang="0">
                  <a:pos x="76" y="81"/>
                </a:cxn>
                <a:cxn ang="0">
                  <a:pos x="74" y="66"/>
                </a:cxn>
                <a:cxn ang="0">
                  <a:pos x="84" y="45"/>
                </a:cxn>
                <a:cxn ang="0">
                  <a:pos x="78" y="16"/>
                </a:cxn>
                <a:cxn ang="0">
                  <a:pos x="58" y="0"/>
                </a:cxn>
                <a:cxn ang="0">
                  <a:pos x="54" y="14"/>
                </a:cxn>
                <a:cxn ang="0">
                  <a:pos x="55" y="25"/>
                </a:cxn>
                <a:cxn ang="0">
                  <a:pos x="29" y="38"/>
                </a:cxn>
                <a:cxn ang="0">
                  <a:pos x="28" y="61"/>
                </a:cxn>
                <a:cxn ang="0">
                  <a:pos x="11" y="82"/>
                </a:cxn>
                <a:cxn ang="0">
                  <a:pos x="10" y="117"/>
                </a:cxn>
                <a:cxn ang="0">
                  <a:pos x="4" y="117"/>
                </a:cxn>
                <a:cxn ang="0">
                  <a:pos x="0" y="132"/>
                </a:cxn>
                <a:cxn ang="0">
                  <a:pos x="11" y="148"/>
                </a:cxn>
                <a:cxn ang="0">
                  <a:pos x="18" y="156"/>
                </a:cxn>
                <a:cxn ang="0">
                  <a:pos x="26" y="156"/>
                </a:cxn>
                <a:cxn ang="0">
                  <a:pos x="26" y="165"/>
                </a:cxn>
                <a:cxn ang="0">
                  <a:pos x="34" y="165"/>
                </a:cxn>
                <a:cxn ang="0">
                  <a:pos x="44" y="194"/>
                </a:cxn>
                <a:cxn ang="0">
                  <a:pos x="43" y="224"/>
                </a:cxn>
                <a:cxn ang="0">
                  <a:pos x="52" y="225"/>
                </a:cxn>
                <a:cxn ang="0">
                  <a:pos x="58" y="226"/>
                </a:cxn>
                <a:cxn ang="0">
                  <a:pos x="61" y="228"/>
                </a:cxn>
                <a:cxn ang="0">
                  <a:pos x="74" y="213"/>
                </a:cxn>
                <a:cxn ang="0">
                  <a:pos x="83" y="201"/>
                </a:cxn>
                <a:cxn ang="0">
                  <a:pos x="96" y="216"/>
                </a:cxn>
                <a:cxn ang="0">
                  <a:pos x="109" y="266"/>
                </a:cxn>
                <a:cxn ang="0">
                  <a:pos x="115" y="274"/>
                </a:cxn>
                <a:cxn ang="0">
                  <a:pos x="122" y="301"/>
                </a:cxn>
                <a:cxn ang="0">
                  <a:pos x="121" y="330"/>
                </a:cxn>
                <a:cxn ang="0">
                  <a:pos x="131" y="314"/>
                </a:cxn>
                <a:cxn ang="0">
                  <a:pos x="131" y="285"/>
                </a:cxn>
                <a:cxn ang="0">
                  <a:pos x="119" y="259"/>
                </a:cxn>
                <a:cxn ang="0">
                  <a:pos x="110" y="237"/>
                </a:cxn>
                <a:cxn ang="0">
                  <a:pos x="116" y="219"/>
                </a:cxn>
                <a:cxn ang="0">
                  <a:pos x="100" y="199"/>
                </a:cxn>
                <a:cxn ang="0">
                  <a:pos x="91" y="180"/>
                </a:cxn>
                <a:cxn ang="0">
                  <a:pos x="109" y="157"/>
                </a:cxn>
                <a:cxn ang="0">
                  <a:pos x="125" y="146"/>
                </a:cxn>
                <a:cxn ang="0">
                  <a:pos x="138" y="124"/>
                </a:cxn>
                <a:cxn ang="0">
                  <a:pos x="122" y="126"/>
                </a:cxn>
                <a:cxn ang="0">
                  <a:pos x="106" y="112"/>
                </a:cxn>
                <a:cxn ang="0">
                  <a:pos x="97" y="93"/>
                </a:cxn>
                <a:cxn ang="0">
                  <a:pos x="92" y="79"/>
                </a:cxn>
              </a:cxnLst>
              <a:rect l="0" t="0" r="r" b="b"/>
              <a:pathLst>
                <a:path w="138" h="330">
                  <a:moveTo>
                    <a:pt x="92" y="79"/>
                  </a:moveTo>
                  <a:lnTo>
                    <a:pt x="76" y="81"/>
                  </a:lnTo>
                  <a:lnTo>
                    <a:pt x="76" y="73"/>
                  </a:lnTo>
                  <a:lnTo>
                    <a:pt x="74" y="66"/>
                  </a:lnTo>
                  <a:lnTo>
                    <a:pt x="82" y="54"/>
                  </a:lnTo>
                  <a:lnTo>
                    <a:pt x="84" y="45"/>
                  </a:lnTo>
                  <a:lnTo>
                    <a:pt x="80" y="31"/>
                  </a:lnTo>
                  <a:lnTo>
                    <a:pt x="78" y="16"/>
                  </a:lnTo>
                  <a:lnTo>
                    <a:pt x="71" y="13"/>
                  </a:lnTo>
                  <a:lnTo>
                    <a:pt x="58" y="0"/>
                  </a:lnTo>
                  <a:lnTo>
                    <a:pt x="56" y="6"/>
                  </a:lnTo>
                  <a:lnTo>
                    <a:pt x="54" y="14"/>
                  </a:lnTo>
                  <a:lnTo>
                    <a:pt x="53" y="19"/>
                  </a:lnTo>
                  <a:lnTo>
                    <a:pt x="55" y="25"/>
                  </a:lnTo>
                  <a:lnTo>
                    <a:pt x="43" y="22"/>
                  </a:lnTo>
                  <a:lnTo>
                    <a:pt x="29" y="38"/>
                  </a:lnTo>
                  <a:lnTo>
                    <a:pt x="29" y="52"/>
                  </a:lnTo>
                  <a:lnTo>
                    <a:pt x="28" y="61"/>
                  </a:lnTo>
                  <a:lnTo>
                    <a:pt x="20" y="82"/>
                  </a:lnTo>
                  <a:lnTo>
                    <a:pt x="11" y="82"/>
                  </a:lnTo>
                  <a:lnTo>
                    <a:pt x="11" y="98"/>
                  </a:lnTo>
                  <a:lnTo>
                    <a:pt x="10" y="117"/>
                  </a:lnTo>
                  <a:lnTo>
                    <a:pt x="5" y="116"/>
                  </a:lnTo>
                  <a:lnTo>
                    <a:pt x="4" y="117"/>
                  </a:lnTo>
                  <a:lnTo>
                    <a:pt x="5" y="128"/>
                  </a:lnTo>
                  <a:lnTo>
                    <a:pt x="0" y="132"/>
                  </a:lnTo>
                  <a:lnTo>
                    <a:pt x="11" y="147"/>
                  </a:lnTo>
                  <a:lnTo>
                    <a:pt x="11" y="148"/>
                  </a:lnTo>
                  <a:lnTo>
                    <a:pt x="14" y="145"/>
                  </a:lnTo>
                  <a:lnTo>
                    <a:pt x="18" y="156"/>
                  </a:lnTo>
                  <a:lnTo>
                    <a:pt x="19" y="156"/>
                  </a:lnTo>
                  <a:lnTo>
                    <a:pt x="26" y="156"/>
                  </a:lnTo>
                  <a:lnTo>
                    <a:pt x="31" y="163"/>
                  </a:lnTo>
                  <a:lnTo>
                    <a:pt x="26" y="165"/>
                  </a:lnTo>
                  <a:lnTo>
                    <a:pt x="31" y="172"/>
                  </a:lnTo>
                  <a:lnTo>
                    <a:pt x="34" y="165"/>
                  </a:lnTo>
                  <a:lnTo>
                    <a:pt x="40" y="180"/>
                  </a:lnTo>
                  <a:lnTo>
                    <a:pt x="44" y="194"/>
                  </a:lnTo>
                  <a:lnTo>
                    <a:pt x="44" y="208"/>
                  </a:lnTo>
                  <a:lnTo>
                    <a:pt x="43" y="224"/>
                  </a:lnTo>
                  <a:lnTo>
                    <a:pt x="49" y="216"/>
                  </a:lnTo>
                  <a:lnTo>
                    <a:pt x="52" y="225"/>
                  </a:lnTo>
                  <a:lnTo>
                    <a:pt x="54" y="228"/>
                  </a:lnTo>
                  <a:lnTo>
                    <a:pt x="58" y="226"/>
                  </a:lnTo>
                  <a:lnTo>
                    <a:pt x="61" y="225"/>
                  </a:lnTo>
                  <a:lnTo>
                    <a:pt x="61" y="228"/>
                  </a:lnTo>
                  <a:lnTo>
                    <a:pt x="72" y="218"/>
                  </a:lnTo>
                  <a:lnTo>
                    <a:pt x="74" y="213"/>
                  </a:lnTo>
                  <a:lnTo>
                    <a:pt x="78" y="216"/>
                  </a:lnTo>
                  <a:lnTo>
                    <a:pt x="83" y="201"/>
                  </a:lnTo>
                  <a:lnTo>
                    <a:pt x="89" y="210"/>
                  </a:lnTo>
                  <a:lnTo>
                    <a:pt x="96" y="216"/>
                  </a:lnTo>
                  <a:lnTo>
                    <a:pt x="103" y="241"/>
                  </a:lnTo>
                  <a:lnTo>
                    <a:pt x="109" y="266"/>
                  </a:lnTo>
                  <a:lnTo>
                    <a:pt x="110" y="261"/>
                  </a:lnTo>
                  <a:lnTo>
                    <a:pt x="115" y="274"/>
                  </a:lnTo>
                  <a:lnTo>
                    <a:pt x="120" y="288"/>
                  </a:lnTo>
                  <a:lnTo>
                    <a:pt x="122" y="301"/>
                  </a:lnTo>
                  <a:lnTo>
                    <a:pt x="122" y="316"/>
                  </a:lnTo>
                  <a:lnTo>
                    <a:pt x="121" y="330"/>
                  </a:lnTo>
                  <a:lnTo>
                    <a:pt x="125" y="326"/>
                  </a:lnTo>
                  <a:lnTo>
                    <a:pt x="131" y="314"/>
                  </a:lnTo>
                  <a:lnTo>
                    <a:pt x="136" y="303"/>
                  </a:lnTo>
                  <a:lnTo>
                    <a:pt x="131" y="285"/>
                  </a:lnTo>
                  <a:lnTo>
                    <a:pt x="127" y="270"/>
                  </a:lnTo>
                  <a:lnTo>
                    <a:pt x="119" y="259"/>
                  </a:lnTo>
                  <a:lnTo>
                    <a:pt x="110" y="248"/>
                  </a:lnTo>
                  <a:lnTo>
                    <a:pt x="110" y="237"/>
                  </a:lnTo>
                  <a:lnTo>
                    <a:pt x="113" y="230"/>
                  </a:lnTo>
                  <a:lnTo>
                    <a:pt x="116" y="219"/>
                  </a:lnTo>
                  <a:lnTo>
                    <a:pt x="113" y="218"/>
                  </a:lnTo>
                  <a:lnTo>
                    <a:pt x="100" y="199"/>
                  </a:lnTo>
                  <a:lnTo>
                    <a:pt x="86" y="178"/>
                  </a:lnTo>
                  <a:lnTo>
                    <a:pt x="91" y="180"/>
                  </a:lnTo>
                  <a:lnTo>
                    <a:pt x="95" y="159"/>
                  </a:lnTo>
                  <a:lnTo>
                    <a:pt x="109" y="157"/>
                  </a:lnTo>
                  <a:lnTo>
                    <a:pt x="116" y="148"/>
                  </a:lnTo>
                  <a:lnTo>
                    <a:pt x="125" y="146"/>
                  </a:lnTo>
                  <a:lnTo>
                    <a:pt x="131" y="138"/>
                  </a:lnTo>
                  <a:lnTo>
                    <a:pt x="138" y="124"/>
                  </a:lnTo>
                  <a:lnTo>
                    <a:pt x="133" y="122"/>
                  </a:lnTo>
                  <a:lnTo>
                    <a:pt x="122" y="126"/>
                  </a:lnTo>
                  <a:lnTo>
                    <a:pt x="114" y="116"/>
                  </a:lnTo>
                  <a:lnTo>
                    <a:pt x="106" y="112"/>
                  </a:lnTo>
                  <a:lnTo>
                    <a:pt x="108" y="98"/>
                  </a:lnTo>
                  <a:lnTo>
                    <a:pt x="97" y="93"/>
                  </a:lnTo>
                  <a:lnTo>
                    <a:pt x="94" y="81"/>
                  </a:lnTo>
                  <a:lnTo>
                    <a:pt x="92" y="7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7" name="Freeform 46"/>
            <p:cNvSpPr>
              <a:spLocks/>
            </p:cNvSpPr>
            <p:nvPr/>
          </p:nvSpPr>
          <p:spPr bwMode="auto">
            <a:xfrm>
              <a:off x="4620" y="2334"/>
              <a:ext cx="82" cy="120"/>
            </a:xfrm>
            <a:custGeom>
              <a:avLst/>
              <a:gdLst/>
              <a:ahLst/>
              <a:cxnLst>
                <a:cxn ang="0">
                  <a:pos x="15" y="69"/>
                </a:cxn>
                <a:cxn ang="0">
                  <a:pos x="15" y="76"/>
                </a:cxn>
                <a:cxn ang="0">
                  <a:pos x="4" y="58"/>
                </a:cxn>
                <a:cxn ang="0">
                  <a:pos x="0" y="43"/>
                </a:cxn>
                <a:cxn ang="0">
                  <a:pos x="9" y="45"/>
                </a:cxn>
                <a:cxn ang="0">
                  <a:pos x="6" y="27"/>
                </a:cxn>
                <a:cxn ang="0">
                  <a:pos x="5" y="7"/>
                </a:cxn>
                <a:cxn ang="0">
                  <a:pos x="9" y="0"/>
                </a:cxn>
                <a:cxn ang="0">
                  <a:pos x="29" y="5"/>
                </a:cxn>
                <a:cxn ang="0">
                  <a:pos x="31" y="9"/>
                </a:cxn>
                <a:cxn ang="0">
                  <a:pos x="36" y="23"/>
                </a:cxn>
                <a:cxn ang="0">
                  <a:pos x="39" y="34"/>
                </a:cxn>
                <a:cxn ang="0">
                  <a:pos x="35" y="45"/>
                </a:cxn>
                <a:cxn ang="0">
                  <a:pos x="29" y="52"/>
                </a:cxn>
                <a:cxn ang="0">
                  <a:pos x="29" y="65"/>
                </a:cxn>
                <a:cxn ang="0">
                  <a:pos x="39" y="84"/>
                </a:cxn>
                <a:cxn ang="0">
                  <a:pos x="43" y="83"/>
                </a:cxn>
                <a:cxn ang="0">
                  <a:pos x="45" y="81"/>
                </a:cxn>
                <a:cxn ang="0">
                  <a:pos x="53" y="78"/>
                </a:cxn>
                <a:cxn ang="0">
                  <a:pos x="60" y="88"/>
                </a:cxn>
                <a:cxn ang="0">
                  <a:pos x="61" y="84"/>
                </a:cxn>
                <a:cxn ang="0">
                  <a:pos x="69" y="89"/>
                </a:cxn>
                <a:cxn ang="0">
                  <a:pos x="65" y="91"/>
                </a:cxn>
                <a:cxn ang="0">
                  <a:pos x="72" y="100"/>
                </a:cxn>
                <a:cxn ang="0">
                  <a:pos x="76" y="101"/>
                </a:cxn>
                <a:cxn ang="0">
                  <a:pos x="72" y="108"/>
                </a:cxn>
                <a:cxn ang="0">
                  <a:pos x="72" y="103"/>
                </a:cxn>
                <a:cxn ang="0">
                  <a:pos x="61" y="97"/>
                </a:cxn>
                <a:cxn ang="0">
                  <a:pos x="54" y="89"/>
                </a:cxn>
                <a:cxn ang="0">
                  <a:pos x="48" y="87"/>
                </a:cxn>
                <a:cxn ang="0">
                  <a:pos x="51" y="99"/>
                </a:cxn>
                <a:cxn ang="0">
                  <a:pos x="35" y="85"/>
                </a:cxn>
                <a:cxn ang="0">
                  <a:pos x="25" y="90"/>
                </a:cxn>
                <a:cxn ang="0">
                  <a:pos x="18" y="87"/>
                </a:cxn>
                <a:cxn ang="0">
                  <a:pos x="18" y="78"/>
                </a:cxn>
                <a:cxn ang="0">
                  <a:pos x="21" y="71"/>
                </a:cxn>
                <a:cxn ang="0">
                  <a:pos x="15" y="69"/>
                </a:cxn>
              </a:cxnLst>
              <a:rect l="0" t="0" r="r" b="b"/>
              <a:pathLst>
                <a:path w="76" h="108">
                  <a:moveTo>
                    <a:pt x="15" y="69"/>
                  </a:moveTo>
                  <a:lnTo>
                    <a:pt x="15" y="76"/>
                  </a:lnTo>
                  <a:lnTo>
                    <a:pt x="4" y="58"/>
                  </a:lnTo>
                  <a:lnTo>
                    <a:pt x="0" y="43"/>
                  </a:lnTo>
                  <a:lnTo>
                    <a:pt x="9" y="45"/>
                  </a:lnTo>
                  <a:lnTo>
                    <a:pt x="6" y="27"/>
                  </a:lnTo>
                  <a:lnTo>
                    <a:pt x="5" y="7"/>
                  </a:lnTo>
                  <a:lnTo>
                    <a:pt x="9" y="0"/>
                  </a:lnTo>
                  <a:lnTo>
                    <a:pt x="29" y="5"/>
                  </a:lnTo>
                  <a:lnTo>
                    <a:pt x="31" y="9"/>
                  </a:lnTo>
                  <a:lnTo>
                    <a:pt x="36" y="23"/>
                  </a:lnTo>
                  <a:lnTo>
                    <a:pt x="39" y="34"/>
                  </a:lnTo>
                  <a:lnTo>
                    <a:pt x="35" y="45"/>
                  </a:lnTo>
                  <a:lnTo>
                    <a:pt x="29" y="52"/>
                  </a:lnTo>
                  <a:lnTo>
                    <a:pt x="29" y="65"/>
                  </a:lnTo>
                  <a:lnTo>
                    <a:pt x="39" y="84"/>
                  </a:lnTo>
                  <a:lnTo>
                    <a:pt x="43" y="83"/>
                  </a:lnTo>
                  <a:lnTo>
                    <a:pt x="45" y="81"/>
                  </a:lnTo>
                  <a:lnTo>
                    <a:pt x="53" y="78"/>
                  </a:lnTo>
                  <a:lnTo>
                    <a:pt x="60" y="88"/>
                  </a:lnTo>
                  <a:lnTo>
                    <a:pt x="61" y="84"/>
                  </a:lnTo>
                  <a:lnTo>
                    <a:pt x="69" y="89"/>
                  </a:lnTo>
                  <a:lnTo>
                    <a:pt x="65" y="91"/>
                  </a:lnTo>
                  <a:lnTo>
                    <a:pt x="72" y="100"/>
                  </a:lnTo>
                  <a:lnTo>
                    <a:pt x="76" y="101"/>
                  </a:lnTo>
                  <a:lnTo>
                    <a:pt x="72" y="108"/>
                  </a:lnTo>
                  <a:lnTo>
                    <a:pt x="72" y="103"/>
                  </a:lnTo>
                  <a:lnTo>
                    <a:pt x="61" y="97"/>
                  </a:lnTo>
                  <a:lnTo>
                    <a:pt x="54" y="89"/>
                  </a:lnTo>
                  <a:lnTo>
                    <a:pt x="48" y="87"/>
                  </a:lnTo>
                  <a:lnTo>
                    <a:pt x="51" y="99"/>
                  </a:lnTo>
                  <a:lnTo>
                    <a:pt x="35" y="85"/>
                  </a:lnTo>
                  <a:lnTo>
                    <a:pt x="25" y="90"/>
                  </a:lnTo>
                  <a:lnTo>
                    <a:pt x="18" y="87"/>
                  </a:lnTo>
                  <a:lnTo>
                    <a:pt x="18" y="78"/>
                  </a:lnTo>
                  <a:lnTo>
                    <a:pt x="21" y="71"/>
                  </a:lnTo>
                  <a:lnTo>
                    <a:pt x="15"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8" name="Freeform 47"/>
            <p:cNvSpPr>
              <a:spLocks/>
            </p:cNvSpPr>
            <p:nvPr/>
          </p:nvSpPr>
          <p:spPr bwMode="auto">
            <a:xfrm>
              <a:off x="4675" y="2512"/>
              <a:ext cx="80" cy="82"/>
            </a:xfrm>
            <a:custGeom>
              <a:avLst/>
              <a:gdLst/>
              <a:ahLst/>
              <a:cxnLst>
                <a:cxn ang="0">
                  <a:pos x="56" y="73"/>
                </a:cxn>
                <a:cxn ang="0">
                  <a:pos x="54" y="66"/>
                </a:cxn>
                <a:cxn ang="0">
                  <a:pos x="51" y="68"/>
                </a:cxn>
                <a:cxn ang="0">
                  <a:pos x="33" y="58"/>
                </a:cxn>
                <a:cxn ang="0">
                  <a:pos x="36" y="43"/>
                </a:cxn>
                <a:cxn ang="0">
                  <a:pos x="26" y="34"/>
                </a:cxn>
                <a:cxn ang="0">
                  <a:pos x="22" y="38"/>
                </a:cxn>
                <a:cxn ang="0">
                  <a:pos x="19" y="37"/>
                </a:cxn>
                <a:cxn ang="0">
                  <a:pos x="16" y="40"/>
                </a:cxn>
                <a:cxn ang="0">
                  <a:pos x="12" y="35"/>
                </a:cxn>
                <a:cxn ang="0">
                  <a:pos x="4" y="44"/>
                </a:cxn>
                <a:cxn ang="0">
                  <a:pos x="0" y="49"/>
                </a:cxn>
                <a:cxn ang="0">
                  <a:pos x="2" y="36"/>
                </a:cxn>
                <a:cxn ang="0">
                  <a:pos x="14" y="25"/>
                </a:cxn>
                <a:cxn ang="0">
                  <a:pos x="24" y="19"/>
                </a:cxn>
                <a:cxn ang="0">
                  <a:pos x="27" y="29"/>
                </a:cxn>
                <a:cxn ang="0">
                  <a:pos x="34" y="25"/>
                </a:cxn>
                <a:cxn ang="0">
                  <a:pos x="39" y="22"/>
                </a:cxn>
                <a:cxn ang="0">
                  <a:pos x="42" y="13"/>
                </a:cxn>
                <a:cxn ang="0">
                  <a:pos x="49" y="13"/>
                </a:cxn>
                <a:cxn ang="0">
                  <a:pos x="52" y="13"/>
                </a:cxn>
                <a:cxn ang="0">
                  <a:pos x="51" y="0"/>
                </a:cxn>
                <a:cxn ang="0">
                  <a:pos x="63" y="8"/>
                </a:cxn>
                <a:cxn ang="0">
                  <a:pos x="66" y="22"/>
                </a:cxn>
                <a:cxn ang="0">
                  <a:pos x="73" y="43"/>
                </a:cxn>
                <a:cxn ang="0">
                  <a:pos x="69" y="52"/>
                </a:cxn>
                <a:cxn ang="0">
                  <a:pos x="68" y="59"/>
                </a:cxn>
                <a:cxn ang="0">
                  <a:pos x="61" y="44"/>
                </a:cxn>
                <a:cxn ang="0">
                  <a:pos x="56" y="48"/>
                </a:cxn>
                <a:cxn ang="0">
                  <a:pos x="58" y="60"/>
                </a:cxn>
                <a:cxn ang="0">
                  <a:pos x="56" y="73"/>
                </a:cxn>
              </a:cxnLst>
              <a:rect l="0" t="0" r="r" b="b"/>
              <a:pathLst>
                <a:path w="73" h="73">
                  <a:moveTo>
                    <a:pt x="56" y="73"/>
                  </a:moveTo>
                  <a:lnTo>
                    <a:pt x="54" y="66"/>
                  </a:lnTo>
                  <a:lnTo>
                    <a:pt x="51" y="68"/>
                  </a:lnTo>
                  <a:lnTo>
                    <a:pt x="33" y="58"/>
                  </a:lnTo>
                  <a:lnTo>
                    <a:pt x="36" y="43"/>
                  </a:lnTo>
                  <a:lnTo>
                    <a:pt x="26" y="34"/>
                  </a:lnTo>
                  <a:lnTo>
                    <a:pt x="22" y="38"/>
                  </a:lnTo>
                  <a:lnTo>
                    <a:pt x="19" y="37"/>
                  </a:lnTo>
                  <a:lnTo>
                    <a:pt x="16" y="40"/>
                  </a:lnTo>
                  <a:lnTo>
                    <a:pt x="12" y="35"/>
                  </a:lnTo>
                  <a:lnTo>
                    <a:pt x="4" y="44"/>
                  </a:lnTo>
                  <a:lnTo>
                    <a:pt x="0" y="49"/>
                  </a:lnTo>
                  <a:lnTo>
                    <a:pt x="2" y="36"/>
                  </a:lnTo>
                  <a:lnTo>
                    <a:pt x="14" y="25"/>
                  </a:lnTo>
                  <a:lnTo>
                    <a:pt x="24" y="19"/>
                  </a:lnTo>
                  <a:lnTo>
                    <a:pt x="27" y="29"/>
                  </a:lnTo>
                  <a:lnTo>
                    <a:pt x="34" y="25"/>
                  </a:lnTo>
                  <a:lnTo>
                    <a:pt x="39" y="22"/>
                  </a:lnTo>
                  <a:lnTo>
                    <a:pt x="42" y="13"/>
                  </a:lnTo>
                  <a:lnTo>
                    <a:pt x="49" y="13"/>
                  </a:lnTo>
                  <a:lnTo>
                    <a:pt x="52" y="13"/>
                  </a:lnTo>
                  <a:lnTo>
                    <a:pt x="51" y="0"/>
                  </a:lnTo>
                  <a:lnTo>
                    <a:pt x="63" y="8"/>
                  </a:lnTo>
                  <a:lnTo>
                    <a:pt x="66" y="22"/>
                  </a:lnTo>
                  <a:lnTo>
                    <a:pt x="73" y="43"/>
                  </a:lnTo>
                  <a:lnTo>
                    <a:pt x="69" y="52"/>
                  </a:lnTo>
                  <a:lnTo>
                    <a:pt x="68" y="59"/>
                  </a:lnTo>
                  <a:lnTo>
                    <a:pt x="61" y="44"/>
                  </a:lnTo>
                  <a:lnTo>
                    <a:pt x="56" y="48"/>
                  </a:lnTo>
                  <a:lnTo>
                    <a:pt x="58" y="60"/>
                  </a:lnTo>
                  <a:lnTo>
                    <a:pt x="56"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9" name="Freeform 48"/>
            <p:cNvSpPr>
              <a:spLocks/>
            </p:cNvSpPr>
            <p:nvPr/>
          </p:nvSpPr>
          <p:spPr bwMode="auto">
            <a:xfrm>
              <a:off x="4680" y="2490"/>
              <a:ext cx="17" cy="33"/>
            </a:xfrm>
            <a:custGeom>
              <a:avLst/>
              <a:gdLst/>
              <a:ahLst/>
              <a:cxnLst>
                <a:cxn ang="0">
                  <a:pos x="16" y="0"/>
                </a:cxn>
                <a:cxn ang="0">
                  <a:pos x="12" y="22"/>
                </a:cxn>
                <a:cxn ang="0">
                  <a:pos x="12" y="31"/>
                </a:cxn>
                <a:cxn ang="0">
                  <a:pos x="0" y="20"/>
                </a:cxn>
                <a:cxn ang="0">
                  <a:pos x="4" y="15"/>
                </a:cxn>
                <a:cxn ang="0">
                  <a:pos x="6" y="0"/>
                </a:cxn>
                <a:cxn ang="0">
                  <a:pos x="16" y="0"/>
                </a:cxn>
              </a:cxnLst>
              <a:rect l="0" t="0" r="r" b="b"/>
              <a:pathLst>
                <a:path w="16" h="31">
                  <a:moveTo>
                    <a:pt x="16" y="0"/>
                  </a:moveTo>
                  <a:lnTo>
                    <a:pt x="12" y="22"/>
                  </a:lnTo>
                  <a:lnTo>
                    <a:pt x="12" y="31"/>
                  </a:lnTo>
                  <a:lnTo>
                    <a:pt x="0" y="20"/>
                  </a:lnTo>
                  <a:lnTo>
                    <a:pt x="4" y="15"/>
                  </a:lnTo>
                  <a:lnTo>
                    <a:pt x="6" y="0"/>
                  </a:lnTo>
                  <a:lnTo>
                    <a:pt x="1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0" name="Freeform 49"/>
            <p:cNvSpPr>
              <a:spLocks/>
            </p:cNvSpPr>
            <p:nvPr/>
          </p:nvSpPr>
          <p:spPr bwMode="auto">
            <a:xfrm>
              <a:off x="4706" y="2454"/>
              <a:ext cx="29" cy="31"/>
            </a:xfrm>
            <a:custGeom>
              <a:avLst/>
              <a:gdLst/>
              <a:ahLst/>
              <a:cxnLst>
                <a:cxn ang="0">
                  <a:pos x="20" y="27"/>
                </a:cxn>
                <a:cxn ang="0">
                  <a:pos x="12" y="18"/>
                </a:cxn>
                <a:cxn ang="0">
                  <a:pos x="0" y="3"/>
                </a:cxn>
                <a:cxn ang="0">
                  <a:pos x="14" y="0"/>
                </a:cxn>
                <a:cxn ang="0">
                  <a:pos x="20" y="11"/>
                </a:cxn>
                <a:cxn ang="0">
                  <a:pos x="27" y="28"/>
                </a:cxn>
                <a:cxn ang="0">
                  <a:pos x="20" y="27"/>
                </a:cxn>
              </a:cxnLst>
              <a:rect l="0" t="0" r="r" b="b"/>
              <a:pathLst>
                <a:path w="27" h="28">
                  <a:moveTo>
                    <a:pt x="20" y="27"/>
                  </a:moveTo>
                  <a:lnTo>
                    <a:pt x="12" y="18"/>
                  </a:lnTo>
                  <a:lnTo>
                    <a:pt x="0" y="3"/>
                  </a:lnTo>
                  <a:lnTo>
                    <a:pt x="14" y="0"/>
                  </a:lnTo>
                  <a:lnTo>
                    <a:pt x="20" y="11"/>
                  </a:lnTo>
                  <a:lnTo>
                    <a:pt x="27" y="28"/>
                  </a:lnTo>
                  <a:lnTo>
                    <a:pt x="2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1" name="Freeform 50"/>
            <p:cNvSpPr>
              <a:spLocks/>
            </p:cNvSpPr>
            <p:nvPr/>
          </p:nvSpPr>
          <p:spPr bwMode="auto">
            <a:xfrm>
              <a:off x="4666" y="2470"/>
              <a:ext cx="23" cy="26"/>
            </a:xfrm>
            <a:custGeom>
              <a:avLst/>
              <a:gdLst/>
              <a:ahLst/>
              <a:cxnLst>
                <a:cxn ang="0">
                  <a:pos x="20" y="4"/>
                </a:cxn>
                <a:cxn ang="0">
                  <a:pos x="3" y="0"/>
                </a:cxn>
                <a:cxn ang="0">
                  <a:pos x="0" y="1"/>
                </a:cxn>
                <a:cxn ang="0">
                  <a:pos x="5" y="24"/>
                </a:cxn>
                <a:cxn ang="0">
                  <a:pos x="20" y="9"/>
                </a:cxn>
                <a:cxn ang="0">
                  <a:pos x="21" y="8"/>
                </a:cxn>
                <a:cxn ang="0">
                  <a:pos x="20" y="4"/>
                </a:cxn>
              </a:cxnLst>
              <a:rect l="0" t="0" r="r" b="b"/>
              <a:pathLst>
                <a:path w="21" h="24">
                  <a:moveTo>
                    <a:pt x="20" y="4"/>
                  </a:moveTo>
                  <a:lnTo>
                    <a:pt x="3" y="0"/>
                  </a:lnTo>
                  <a:lnTo>
                    <a:pt x="0" y="1"/>
                  </a:lnTo>
                  <a:lnTo>
                    <a:pt x="5" y="24"/>
                  </a:lnTo>
                  <a:lnTo>
                    <a:pt x="20" y="9"/>
                  </a:lnTo>
                  <a:lnTo>
                    <a:pt x="21" y="8"/>
                  </a:lnTo>
                  <a:lnTo>
                    <a:pt x="2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2" name="Freeform 51"/>
            <p:cNvSpPr>
              <a:spLocks/>
            </p:cNvSpPr>
            <p:nvPr/>
          </p:nvSpPr>
          <p:spPr bwMode="auto">
            <a:xfrm>
              <a:off x="4589" y="2481"/>
              <a:ext cx="42" cy="55"/>
            </a:xfrm>
            <a:custGeom>
              <a:avLst/>
              <a:gdLst/>
              <a:ahLst/>
              <a:cxnLst>
                <a:cxn ang="0">
                  <a:pos x="37" y="15"/>
                </a:cxn>
                <a:cxn ang="0">
                  <a:pos x="23" y="29"/>
                </a:cxn>
                <a:cxn ang="0">
                  <a:pos x="12" y="40"/>
                </a:cxn>
                <a:cxn ang="0">
                  <a:pos x="0" y="52"/>
                </a:cxn>
                <a:cxn ang="0">
                  <a:pos x="1" y="48"/>
                </a:cxn>
                <a:cxn ang="0">
                  <a:pos x="13" y="34"/>
                </a:cxn>
                <a:cxn ang="0">
                  <a:pos x="24" y="21"/>
                </a:cxn>
                <a:cxn ang="0">
                  <a:pos x="29" y="9"/>
                </a:cxn>
                <a:cxn ang="0">
                  <a:pos x="30" y="9"/>
                </a:cxn>
                <a:cxn ang="0">
                  <a:pos x="31" y="0"/>
                </a:cxn>
                <a:cxn ang="0">
                  <a:pos x="37" y="15"/>
                </a:cxn>
              </a:cxnLst>
              <a:rect l="0" t="0" r="r" b="b"/>
              <a:pathLst>
                <a:path w="37" h="52">
                  <a:moveTo>
                    <a:pt x="37" y="15"/>
                  </a:moveTo>
                  <a:lnTo>
                    <a:pt x="23" y="29"/>
                  </a:lnTo>
                  <a:lnTo>
                    <a:pt x="12" y="40"/>
                  </a:lnTo>
                  <a:lnTo>
                    <a:pt x="0" y="52"/>
                  </a:lnTo>
                  <a:lnTo>
                    <a:pt x="1" y="48"/>
                  </a:lnTo>
                  <a:lnTo>
                    <a:pt x="13" y="34"/>
                  </a:lnTo>
                  <a:lnTo>
                    <a:pt x="24" y="21"/>
                  </a:lnTo>
                  <a:lnTo>
                    <a:pt x="29" y="9"/>
                  </a:lnTo>
                  <a:lnTo>
                    <a:pt x="30" y="9"/>
                  </a:lnTo>
                  <a:lnTo>
                    <a:pt x="31" y="0"/>
                  </a:lnTo>
                  <a:lnTo>
                    <a:pt x="37"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3" name="Freeform 52"/>
            <p:cNvSpPr>
              <a:spLocks/>
            </p:cNvSpPr>
            <p:nvPr/>
          </p:nvSpPr>
          <p:spPr bwMode="auto">
            <a:xfrm>
              <a:off x="4633" y="2436"/>
              <a:ext cx="24" cy="25"/>
            </a:xfrm>
            <a:custGeom>
              <a:avLst/>
              <a:gdLst/>
              <a:ahLst/>
              <a:cxnLst>
                <a:cxn ang="0">
                  <a:pos x="22" y="14"/>
                </a:cxn>
                <a:cxn ang="0">
                  <a:pos x="18" y="20"/>
                </a:cxn>
                <a:cxn ang="0">
                  <a:pos x="10" y="11"/>
                </a:cxn>
                <a:cxn ang="0">
                  <a:pos x="0" y="0"/>
                </a:cxn>
                <a:cxn ang="0">
                  <a:pos x="17" y="2"/>
                </a:cxn>
                <a:cxn ang="0">
                  <a:pos x="22" y="14"/>
                </a:cxn>
              </a:cxnLst>
              <a:rect l="0" t="0" r="r" b="b"/>
              <a:pathLst>
                <a:path w="22" h="20">
                  <a:moveTo>
                    <a:pt x="22" y="14"/>
                  </a:moveTo>
                  <a:lnTo>
                    <a:pt x="18" y="20"/>
                  </a:lnTo>
                  <a:lnTo>
                    <a:pt x="10" y="11"/>
                  </a:lnTo>
                  <a:lnTo>
                    <a:pt x="0" y="0"/>
                  </a:lnTo>
                  <a:lnTo>
                    <a:pt x="17" y="2"/>
                  </a:lnTo>
                  <a:lnTo>
                    <a:pt x="22" y="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4" name="Freeform 53"/>
            <p:cNvSpPr>
              <a:spLocks/>
            </p:cNvSpPr>
            <p:nvPr/>
          </p:nvSpPr>
          <p:spPr bwMode="auto">
            <a:xfrm>
              <a:off x="4711" y="2476"/>
              <a:ext cx="18" cy="27"/>
            </a:xfrm>
            <a:custGeom>
              <a:avLst/>
              <a:gdLst/>
              <a:ahLst/>
              <a:cxnLst>
                <a:cxn ang="0">
                  <a:pos x="10" y="4"/>
                </a:cxn>
                <a:cxn ang="0">
                  <a:pos x="16" y="21"/>
                </a:cxn>
                <a:cxn ang="0">
                  <a:pos x="12" y="22"/>
                </a:cxn>
                <a:cxn ang="0">
                  <a:pos x="11" y="25"/>
                </a:cxn>
                <a:cxn ang="0">
                  <a:pos x="4" y="10"/>
                </a:cxn>
                <a:cxn ang="0">
                  <a:pos x="0" y="0"/>
                </a:cxn>
                <a:cxn ang="0">
                  <a:pos x="10" y="4"/>
                </a:cxn>
              </a:cxnLst>
              <a:rect l="0" t="0" r="r" b="b"/>
              <a:pathLst>
                <a:path w="16" h="25">
                  <a:moveTo>
                    <a:pt x="10" y="4"/>
                  </a:moveTo>
                  <a:lnTo>
                    <a:pt x="16" y="21"/>
                  </a:lnTo>
                  <a:lnTo>
                    <a:pt x="12" y="22"/>
                  </a:lnTo>
                  <a:lnTo>
                    <a:pt x="11" y="25"/>
                  </a:lnTo>
                  <a:lnTo>
                    <a:pt x="4" y="10"/>
                  </a:lnTo>
                  <a:lnTo>
                    <a:pt x="0" y="0"/>
                  </a:lnTo>
                  <a:lnTo>
                    <a:pt x="1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5" name="Freeform 54"/>
            <p:cNvSpPr>
              <a:spLocks/>
            </p:cNvSpPr>
            <p:nvPr/>
          </p:nvSpPr>
          <p:spPr bwMode="auto">
            <a:xfrm>
              <a:off x="4689" y="2456"/>
              <a:ext cx="15" cy="16"/>
            </a:xfrm>
            <a:custGeom>
              <a:avLst/>
              <a:gdLst/>
              <a:ahLst/>
              <a:cxnLst>
                <a:cxn ang="0">
                  <a:pos x="14" y="13"/>
                </a:cxn>
                <a:cxn ang="0">
                  <a:pos x="2" y="6"/>
                </a:cxn>
                <a:cxn ang="0">
                  <a:pos x="0" y="7"/>
                </a:cxn>
                <a:cxn ang="0">
                  <a:pos x="1" y="0"/>
                </a:cxn>
                <a:cxn ang="0">
                  <a:pos x="14" y="11"/>
                </a:cxn>
                <a:cxn ang="0">
                  <a:pos x="14" y="13"/>
                </a:cxn>
              </a:cxnLst>
              <a:rect l="0" t="0" r="r" b="b"/>
              <a:pathLst>
                <a:path w="14" h="13">
                  <a:moveTo>
                    <a:pt x="14" y="13"/>
                  </a:moveTo>
                  <a:lnTo>
                    <a:pt x="2" y="6"/>
                  </a:lnTo>
                  <a:lnTo>
                    <a:pt x="0" y="7"/>
                  </a:lnTo>
                  <a:lnTo>
                    <a:pt x="1" y="0"/>
                  </a:lnTo>
                  <a:lnTo>
                    <a:pt x="14" y="11"/>
                  </a:lnTo>
                  <a:lnTo>
                    <a:pt x="14"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6" name="Freeform 55"/>
            <p:cNvSpPr>
              <a:spLocks/>
            </p:cNvSpPr>
            <p:nvPr/>
          </p:nvSpPr>
          <p:spPr bwMode="auto">
            <a:xfrm>
              <a:off x="4704" y="2503"/>
              <a:ext cx="13" cy="7"/>
            </a:xfrm>
            <a:custGeom>
              <a:avLst/>
              <a:gdLst/>
              <a:ahLst/>
              <a:cxnLst>
                <a:cxn ang="0">
                  <a:pos x="12" y="6"/>
                </a:cxn>
                <a:cxn ang="0">
                  <a:pos x="10" y="0"/>
                </a:cxn>
                <a:cxn ang="0">
                  <a:pos x="0" y="6"/>
                </a:cxn>
                <a:cxn ang="0">
                  <a:pos x="12" y="6"/>
                </a:cxn>
              </a:cxnLst>
              <a:rect l="0" t="0" r="r" b="b"/>
              <a:pathLst>
                <a:path w="12" h="6">
                  <a:moveTo>
                    <a:pt x="12" y="6"/>
                  </a:moveTo>
                  <a:lnTo>
                    <a:pt x="10" y="0"/>
                  </a:lnTo>
                  <a:lnTo>
                    <a:pt x="0" y="6"/>
                  </a:lnTo>
                  <a:lnTo>
                    <a:pt x="12"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7" name="Freeform 56"/>
            <p:cNvSpPr>
              <a:spLocks/>
            </p:cNvSpPr>
            <p:nvPr/>
          </p:nvSpPr>
          <p:spPr bwMode="auto">
            <a:xfrm>
              <a:off x="4695" y="2481"/>
              <a:ext cx="11" cy="35"/>
            </a:xfrm>
            <a:custGeom>
              <a:avLst/>
              <a:gdLst/>
              <a:ahLst/>
              <a:cxnLst>
                <a:cxn ang="0">
                  <a:pos x="8" y="0"/>
                </a:cxn>
                <a:cxn ang="0">
                  <a:pos x="8" y="9"/>
                </a:cxn>
                <a:cxn ang="0">
                  <a:pos x="5" y="21"/>
                </a:cxn>
                <a:cxn ang="0">
                  <a:pos x="0" y="33"/>
                </a:cxn>
                <a:cxn ang="0">
                  <a:pos x="5" y="16"/>
                </a:cxn>
                <a:cxn ang="0">
                  <a:pos x="8" y="0"/>
                </a:cxn>
              </a:cxnLst>
              <a:rect l="0" t="0" r="r" b="b"/>
              <a:pathLst>
                <a:path w="8" h="33">
                  <a:moveTo>
                    <a:pt x="8" y="0"/>
                  </a:moveTo>
                  <a:lnTo>
                    <a:pt x="8" y="9"/>
                  </a:lnTo>
                  <a:lnTo>
                    <a:pt x="5" y="21"/>
                  </a:lnTo>
                  <a:lnTo>
                    <a:pt x="0" y="33"/>
                  </a:lnTo>
                  <a:lnTo>
                    <a:pt x="5" y="16"/>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8" name="Freeform 57"/>
            <p:cNvSpPr>
              <a:spLocks/>
            </p:cNvSpPr>
            <p:nvPr/>
          </p:nvSpPr>
          <p:spPr bwMode="auto">
            <a:xfrm>
              <a:off x="4220" y="2299"/>
              <a:ext cx="153" cy="291"/>
            </a:xfrm>
            <a:custGeom>
              <a:avLst/>
              <a:gdLst/>
              <a:ahLst/>
              <a:cxnLst>
                <a:cxn ang="0">
                  <a:pos x="46" y="187"/>
                </a:cxn>
                <a:cxn ang="0">
                  <a:pos x="53" y="155"/>
                </a:cxn>
                <a:cxn ang="0">
                  <a:pos x="54" y="126"/>
                </a:cxn>
                <a:cxn ang="0">
                  <a:pos x="69" y="137"/>
                </a:cxn>
                <a:cxn ang="0">
                  <a:pos x="96" y="150"/>
                </a:cxn>
                <a:cxn ang="0">
                  <a:pos x="96" y="143"/>
                </a:cxn>
                <a:cxn ang="0">
                  <a:pos x="101" y="109"/>
                </a:cxn>
                <a:cxn ang="0">
                  <a:pos x="134" y="108"/>
                </a:cxn>
                <a:cxn ang="0">
                  <a:pos x="135" y="83"/>
                </a:cxn>
                <a:cxn ang="0">
                  <a:pos x="118" y="52"/>
                </a:cxn>
                <a:cxn ang="0">
                  <a:pos x="92" y="41"/>
                </a:cxn>
                <a:cxn ang="0">
                  <a:pos x="75" y="40"/>
                </a:cxn>
                <a:cxn ang="0">
                  <a:pos x="59" y="32"/>
                </a:cxn>
                <a:cxn ang="0">
                  <a:pos x="46" y="13"/>
                </a:cxn>
                <a:cxn ang="0">
                  <a:pos x="39" y="0"/>
                </a:cxn>
                <a:cxn ang="0">
                  <a:pos x="23" y="11"/>
                </a:cxn>
                <a:cxn ang="0">
                  <a:pos x="5" y="34"/>
                </a:cxn>
                <a:cxn ang="0">
                  <a:pos x="14" y="53"/>
                </a:cxn>
                <a:cxn ang="0">
                  <a:pos x="30" y="73"/>
                </a:cxn>
                <a:cxn ang="0">
                  <a:pos x="24" y="91"/>
                </a:cxn>
                <a:cxn ang="0">
                  <a:pos x="33" y="113"/>
                </a:cxn>
                <a:cxn ang="0">
                  <a:pos x="45" y="139"/>
                </a:cxn>
                <a:cxn ang="0">
                  <a:pos x="45" y="168"/>
                </a:cxn>
                <a:cxn ang="0">
                  <a:pos x="39" y="184"/>
                </a:cxn>
                <a:cxn ang="0">
                  <a:pos x="34" y="218"/>
                </a:cxn>
                <a:cxn ang="0">
                  <a:pos x="45" y="226"/>
                </a:cxn>
                <a:cxn ang="0">
                  <a:pos x="58" y="240"/>
                </a:cxn>
                <a:cxn ang="0">
                  <a:pos x="66" y="248"/>
                </a:cxn>
                <a:cxn ang="0">
                  <a:pos x="80" y="262"/>
                </a:cxn>
                <a:cxn ang="0">
                  <a:pos x="96" y="254"/>
                </a:cxn>
                <a:cxn ang="0">
                  <a:pos x="76" y="241"/>
                </a:cxn>
                <a:cxn ang="0">
                  <a:pos x="64" y="218"/>
                </a:cxn>
                <a:cxn ang="0">
                  <a:pos x="51" y="200"/>
                </a:cxn>
              </a:cxnLst>
              <a:rect l="0" t="0" r="r" b="b"/>
              <a:pathLst>
                <a:path w="138" h="262">
                  <a:moveTo>
                    <a:pt x="51" y="200"/>
                  </a:moveTo>
                  <a:lnTo>
                    <a:pt x="46" y="187"/>
                  </a:lnTo>
                  <a:lnTo>
                    <a:pt x="50" y="170"/>
                  </a:lnTo>
                  <a:lnTo>
                    <a:pt x="53" y="155"/>
                  </a:lnTo>
                  <a:lnTo>
                    <a:pt x="53" y="140"/>
                  </a:lnTo>
                  <a:lnTo>
                    <a:pt x="54" y="126"/>
                  </a:lnTo>
                  <a:lnTo>
                    <a:pt x="68" y="124"/>
                  </a:lnTo>
                  <a:lnTo>
                    <a:pt x="69" y="137"/>
                  </a:lnTo>
                  <a:lnTo>
                    <a:pt x="81" y="139"/>
                  </a:lnTo>
                  <a:lnTo>
                    <a:pt x="96" y="150"/>
                  </a:lnTo>
                  <a:lnTo>
                    <a:pt x="102" y="157"/>
                  </a:lnTo>
                  <a:lnTo>
                    <a:pt x="96" y="143"/>
                  </a:lnTo>
                  <a:lnTo>
                    <a:pt x="90" y="127"/>
                  </a:lnTo>
                  <a:lnTo>
                    <a:pt x="101" y="109"/>
                  </a:lnTo>
                  <a:lnTo>
                    <a:pt x="117" y="109"/>
                  </a:lnTo>
                  <a:lnTo>
                    <a:pt x="134" y="108"/>
                  </a:lnTo>
                  <a:lnTo>
                    <a:pt x="138" y="98"/>
                  </a:lnTo>
                  <a:lnTo>
                    <a:pt x="135" y="83"/>
                  </a:lnTo>
                  <a:lnTo>
                    <a:pt x="120" y="65"/>
                  </a:lnTo>
                  <a:lnTo>
                    <a:pt x="118" y="52"/>
                  </a:lnTo>
                  <a:lnTo>
                    <a:pt x="99" y="36"/>
                  </a:lnTo>
                  <a:lnTo>
                    <a:pt x="92" y="41"/>
                  </a:lnTo>
                  <a:lnTo>
                    <a:pt x="84" y="43"/>
                  </a:lnTo>
                  <a:lnTo>
                    <a:pt x="75" y="40"/>
                  </a:lnTo>
                  <a:lnTo>
                    <a:pt x="60" y="50"/>
                  </a:lnTo>
                  <a:lnTo>
                    <a:pt x="59" y="32"/>
                  </a:lnTo>
                  <a:lnTo>
                    <a:pt x="58" y="14"/>
                  </a:lnTo>
                  <a:lnTo>
                    <a:pt x="46" y="13"/>
                  </a:lnTo>
                  <a:lnTo>
                    <a:pt x="45" y="2"/>
                  </a:lnTo>
                  <a:lnTo>
                    <a:pt x="39" y="0"/>
                  </a:lnTo>
                  <a:lnTo>
                    <a:pt x="30" y="2"/>
                  </a:lnTo>
                  <a:lnTo>
                    <a:pt x="23" y="11"/>
                  </a:lnTo>
                  <a:lnTo>
                    <a:pt x="9" y="13"/>
                  </a:lnTo>
                  <a:lnTo>
                    <a:pt x="5" y="34"/>
                  </a:lnTo>
                  <a:lnTo>
                    <a:pt x="0" y="32"/>
                  </a:lnTo>
                  <a:lnTo>
                    <a:pt x="14" y="53"/>
                  </a:lnTo>
                  <a:lnTo>
                    <a:pt x="27" y="72"/>
                  </a:lnTo>
                  <a:lnTo>
                    <a:pt x="30" y="73"/>
                  </a:lnTo>
                  <a:lnTo>
                    <a:pt x="27" y="84"/>
                  </a:lnTo>
                  <a:lnTo>
                    <a:pt x="24" y="91"/>
                  </a:lnTo>
                  <a:lnTo>
                    <a:pt x="24" y="102"/>
                  </a:lnTo>
                  <a:lnTo>
                    <a:pt x="33" y="113"/>
                  </a:lnTo>
                  <a:lnTo>
                    <a:pt x="41" y="124"/>
                  </a:lnTo>
                  <a:lnTo>
                    <a:pt x="45" y="139"/>
                  </a:lnTo>
                  <a:lnTo>
                    <a:pt x="50" y="157"/>
                  </a:lnTo>
                  <a:lnTo>
                    <a:pt x="45" y="168"/>
                  </a:lnTo>
                  <a:lnTo>
                    <a:pt x="39" y="180"/>
                  </a:lnTo>
                  <a:lnTo>
                    <a:pt x="39" y="184"/>
                  </a:lnTo>
                  <a:lnTo>
                    <a:pt x="36" y="200"/>
                  </a:lnTo>
                  <a:lnTo>
                    <a:pt x="34" y="218"/>
                  </a:lnTo>
                  <a:lnTo>
                    <a:pt x="36" y="216"/>
                  </a:lnTo>
                  <a:lnTo>
                    <a:pt x="45" y="226"/>
                  </a:lnTo>
                  <a:lnTo>
                    <a:pt x="53" y="235"/>
                  </a:lnTo>
                  <a:lnTo>
                    <a:pt x="58" y="240"/>
                  </a:lnTo>
                  <a:lnTo>
                    <a:pt x="65" y="251"/>
                  </a:lnTo>
                  <a:lnTo>
                    <a:pt x="66" y="248"/>
                  </a:lnTo>
                  <a:lnTo>
                    <a:pt x="78" y="254"/>
                  </a:lnTo>
                  <a:lnTo>
                    <a:pt x="80" y="262"/>
                  </a:lnTo>
                  <a:lnTo>
                    <a:pt x="90" y="262"/>
                  </a:lnTo>
                  <a:lnTo>
                    <a:pt x="96" y="254"/>
                  </a:lnTo>
                  <a:lnTo>
                    <a:pt x="88" y="244"/>
                  </a:lnTo>
                  <a:lnTo>
                    <a:pt x="76" y="241"/>
                  </a:lnTo>
                  <a:lnTo>
                    <a:pt x="68" y="232"/>
                  </a:lnTo>
                  <a:lnTo>
                    <a:pt x="64" y="218"/>
                  </a:lnTo>
                  <a:lnTo>
                    <a:pt x="58" y="202"/>
                  </a:lnTo>
                  <a:lnTo>
                    <a:pt x="51" y="20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9" name="Freeform 58"/>
            <p:cNvSpPr>
              <a:spLocks/>
            </p:cNvSpPr>
            <p:nvPr/>
          </p:nvSpPr>
          <p:spPr bwMode="auto">
            <a:xfrm>
              <a:off x="4293" y="2241"/>
              <a:ext cx="153" cy="291"/>
            </a:xfrm>
            <a:custGeom>
              <a:avLst/>
              <a:gdLst/>
              <a:ahLst/>
              <a:cxnLst>
                <a:cxn ang="0">
                  <a:pos x="43" y="50"/>
                </a:cxn>
                <a:cxn ang="0">
                  <a:pos x="27" y="45"/>
                </a:cxn>
                <a:cxn ang="0">
                  <a:pos x="12" y="28"/>
                </a:cxn>
                <a:cxn ang="0">
                  <a:pos x="4" y="11"/>
                </a:cxn>
                <a:cxn ang="0">
                  <a:pos x="15" y="11"/>
                </a:cxn>
                <a:cxn ang="0">
                  <a:pos x="25" y="12"/>
                </a:cxn>
                <a:cxn ang="0">
                  <a:pos x="34" y="11"/>
                </a:cxn>
                <a:cxn ang="0">
                  <a:pos x="49" y="2"/>
                </a:cxn>
                <a:cxn ang="0">
                  <a:pos x="71" y="20"/>
                </a:cxn>
                <a:cxn ang="0">
                  <a:pos x="93" y="30"/>
                </a:cxn>
                <a:cxn ang="0">
                  <a:pos x="76" y="42"/>
                </a:cxn>
                <a:cxn ang="0">
                  <a:pos x="70" y="59"/>
                </a:cxn>
                <a:cxn ang="0">
                  <a:pos x="76" y="90"/>
                </a:cxn>
                <a:cxn ang="0">
                  <a:pos x="89" y="110"/>
                </a:cxn>
                <a:cxn ang="0">
                  <a:pos x="113" y="130"/>
                </a:cxn>
                <a:cxn ang="0">
                  <a:pos x="131" y="166"/>
                </a:cxn>
                <a:cxn ang="0">
                  <a:pos x="137" y="196"/>
                </a:cxn>
                <a:cxn ang="0">
                  <a:pos x="135" y="210"/>
                </a:cxn>
                <a:cxn ang="0">
                  <a:pos x="112" y="230"/>
                </a:cxn>
                <a:cxn ang="0">
                  <a:pos x="101" y="232"/>
                </a:cxn>
                <a:cxn ang="0">
                  <a:pos x="99" y="239"/>
                </a:cxn>
                <a:cxn ang="0">
                  <a:pos x="93" y="246"/>
                </a:cxn>
                <a:cxn ang="0">
                  <a:pos x="72" y="262"/>
                </a:cxn>
                <a:cxn ang="0">
                  <a:pos x="64" y="231"/>
                </a:cxn>
                <a:cxn ang="0">
                  <a:pos x="77" y="222"/>
                </a:cxn>
                <a:cxn ang="0">
                  <a:pos x="84" y="210"/>
                </a:cxn>
                <a:cxn ang="0">
                  <a:pos x="108" y="198"/>
                </a:cxn>
                <a:cxn ang="0">
                  <a:pos x="106" y="170"/>
                </a:cxn>
                <a:cxn ang="0">
                  <a:pos x="102" y="140"/>
                </a:cxn>
                <a:cxn ang="0">
                  <a:pos x="99" y="130"/>
                </a:cxn>
                <a:cxn ang="0">
                  <a:pos x="77" y="108"/>
                </a:cxn>
                <a:cxn ang="0">
                  <a:pos x="58" y="84"/>
                </a:cxn>
                <a:cxn ang="0">
                  <a:pos x="41" y="64"/>
                </a:cxn>
                <a:cxn ang="0">
                  <a:pos x="48" y="54"/>
                </a:cxn>
              </a:cxnLst>
              <a:rect l="0" t="0" r="r" b="b"/>
              <a:pathLst>
                <a:path w="138" h="262">
                  <a:moveTo>
                    <a:pt x="48" y="54"/>
                  </a:moveTo>
                  <a:lnTo>
                    <a:pt x="43" y="50"/>
                  </a:lnTo>
                  <a:lnTo>
                    <a:pt x="34" y="41"/>
                  </a:lnTo>
                  <a:lnTo>
                    <a:pt x="27" y="45"/>
                  </a:lnTo>
                  <a:lnTo>
                    <a:pt x="15" y="35"/>
                  </a:lnTo>
                  <a:lnTo>
                    <a:pt x="12" y="28"/>
                  </a:lnTo>
                  <a:lnTo>
                    <a:pt x="0" y="16"/>
                  </a:lnTo>
                  <a:lnTo>
                    <a:pt x="4" y="11"/>
                  </a:lnTo>
                  <a:lnTo>
                    <a:pt x="12" y="14"/>
                  </a:lnTo>
                  <a:lnTo>
                    <a:pt x="15" y="11"/>
                  </a:lnTo>
                  <a:lnTo>
                    <a:pt x="22" y="11"/>
                  </a:lnTo>
                  <a:lnTo>
                    <a:pt x="25" y="12"/>
                  </a:lnTo>
                  <a:lnTo>
                    <a:pt x="28" y="11"/>
                  </a:lnTo>
                  <a:lnTo>
                    <a:pt x="34" y="11"/>
                  </a:lnTo>
                  <a:lnTo>
                    <a:pt x="42" y="0"/>
                  </a:lnTo>
                  <a:lnTo>
                    <a:pt x="49" y="2"/>
                  </a:lnTo>
                  <a:lnTo>
                    <a:pt x="69" y="8"/>
                  </a:lnTo>
                  <a:lnTo>
                    <a:pt x="71" y="20"/>
                  </a:lnTo>
                  <a:lnTo>
                    <a:pt x="77" y="24"/>
                  </a:lnTo>
                  <a:lnTo>
                    <a:pt x="93" y="30"/>
                  </a:lnTo>
                  <a:lnTo>
                    <a:pt x="84" y="38"/>
                  </a:lnTo>
                  <a:lnTo>
                    <a:pt x="76" y="42"/>
                  </a:lnTo>
                  <a:lnTo>
                    <a:pt x="76" y="44"/>
                  </a:lnTo>
                  <a:lnTo>
                    <a:pt x="70" y="59"/>
                  </a:lnTo>
                  <a:lnTo>
                    <a:pt x="64" y="75"/>
                  </a:lnTo>
                  <a:lnTo>
                    <a:pt x="76" y="90"/>
                  </a:lnTo>
                  <a:lnTo>
                    <a:pt x="79" y="100"/>
                  </a:lnTo>
                  <a:lnTo>
                    <a:pt x="89" y="110"/>
                  </a:lnTo>
                  <a:lnTo>
                    <a:pt x="100" y="119"/>
                  </a:lnTo>
                  <a:lnTo>
                    <a:pt x="113" y="130"/>
                  </a:lnTo>
                  <a:lnTo>
                    <a:pt x="124" y="142"/>
                  </a:lnTo>
                  <a:lnTo>
                    <a:pt x="131" y="166"/>
                  </a:lnTo>
                  <a:lnTo>
                    <a:pt x="138" y="190"/>
                  </a:lnTo>
                  <a:lnTo>
                    <a:pt x="137" y="196"/>
                  </a:lnTo>
                  <a:lnTo>
                    <a:pt x="137" y="203"/>
                  </a:lnTo>
                  <a:lnTo>
                    <a:pt x="135" y="210"/>
                  </a:lnTo>
                  <a:lnTo>
                    <a:pt x="124" y="220"/>
                  </a:lnTo>
                  <a:lnTo>
                    <a:pt x="112" y="230"/>
                  </a:lnTo>
                  <a:lnTo>
                    <a:pt x="101" y="227"/>
                  </a:lnTo>
                  <a:lnTo>
                    <a:pt x="101" y="232"/>
                  </a:lnTo>
                  <a:lnTo>
                    <a:pt x="101" y="237"/>
                  </a:lnTo>
                  <a:lnTo>
                    <a:pt x="99" y="239"/>
                  </a:lnTo>
                  <a:lnTo>
                    <a:pt x="99" y="246"/>
                  </a:lnTo>
                  <a:lnTo>
                    <a:pt x="93" y="246"/>
                  </a:lnTo>
                  <a:lnTo>
                    <a:pt x="81" y="260"/>
                  </a:lnTo>
                  <a:lnTo>
                    <a:pt x="72" y="262"/>
                  </a:lnTo>
                  <a:lnTo>
                    <a:pt x="75" y="240"/>
                  </a:lnTo>
                  <a:lnTo>
                    <a:pt x="64" y="231"/>
                  </a:lnTo>
                  <a:lnTo>
                    <a:pt x="73" y="225"/>
                  </a:lnTo>
                  <a:lnTo>
                    <a:pt x="77" y="222"/>
                  </a:lnTo>
                  <a:lnTo>
                    <a:pt x="89" y="224"/>
                  </a:lnTo>
                  <a:lnTo>
                    <a:pt x="84" y="210"/>
                  </a:lnTo>
                  <a:lnTo>
                    <a:pt x="93" y="206"/>
                  </a:lnTo>
                  <a:lnTo>
                    <a:pt x="108" y="198"/>
                  </a:lnTo>
                  <a:lnTo>
                    <a:pt x="107" y="184"/>
                  </a:lnTo>
                  <a:lnTo>
                    <a:pt x="106" y="170"/>
                  </a:lnTo>
                  <a:lnTo>
                    <a:pt x="105" y="154"/>
                  </a:lnTo>
                  <a:lnTo>
                    <a:pt x="102" y="140"/>
                  </a:lnTo>
                  <a:lnTo>
                    <a:pt x="97" y="134"/>
                  </a:lnTo>
                  <a:lnTo>
                    <a:pt x="99" y="130"/>
                  </a:lnTo>
                  <a:lnTo>
                    <a:pt x="84" y="118"/>
                  </a:lnTo>
                  <a:lnTo>
                    <a:pt x="77" y="108"/>
                  </a:lnTo>
                  <a:lnTo>
                    <a:pt x="67" y="96"/>
                  </a:lnTo>
                  <a:lnTo>
                    <a:pt x="58" y="84"/>
                  </a:lnTo>
                  <a:lnTo>
                    <a:pt x="37" y="69"/>
                  </a:lnTo>
                  <a:lnTo>
                    <a:pt x="41" y="64"/>
                  </a:lnTo>
                  <a:lnTo>
                    <a:pt x="49" y="62"/>
                  </a:lnTo>
                  <a:lnTo>
                    <a:pt x="48" y="5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0" name="Freeform 59"/>
            <p:cNvSpPr>
              <a:spLocks/>
            </p:cNvSpPr>
            <p:nvPr/>
          </p:nvSpPr>
          <p:spPr bwMode="auto">
            <a:xfrm>
              <a:off x="3402" y="2183"/>
              <a:ext cx="13" cy="33"/>
            </a:xfrm>
            <a:custGeom>
              <a:avLst/>
              <a:gdLst/>
              <a:ahLst/>
              <a:cxnLst>
                <a:cxn ang="0">
                  <a:pos x="7" y="27"/>
                </a:cxn>
                <a:cxn ang="0">
                  <a:pos x="5" y="29"/>
                </a:cxn>
                <a:cxn ang="0">
                  <a:pos x="0" y="25"/>
                </a:cxn>
                <a:cxn ang="0">
                  <a:pos x="0" y="8"/>
                </a:cxn>
                <a:cxn ang="0">
                  <a:pos x="6" y="0"/>
                </a:cxn>
                <a:cxn ang="0">
                  <a:pos x="11" y="15"/>
                </a:cxn>
                <a:cxn ang="0">
                  <a:pos x="7" y="27"/>
                </a:cxn>
              </a:cxnLst>
              <a:rect l="0" t="0" r="r" b="b"/>
              <a:pathLst>
                <a:path w="11" h="29">
                  <a:moveTo>
                    <a:pt x="7" y="27"/>
                  </a:moveTo>
                  <a:lnTo>
                    <a:pt x="5" y="29"/>
                  </a:lnTo>
                  <a:lnTo>
                    <a:pt x="0" y="25"/>
                  </a:lnTo>
                  <a:lnTo>
                    <a:pt x="0" y="8"/>
                  </a:lnTo>
                  <a:lnTo>
                    <a:pt x="6" y="0"/>
                  </a:lnTo>
                  <a:lnTo>
                    <a:pt x="11" y="15"/>
                  </a:lnTo>
                  <a:lnTo>
                    <a:pt x="7"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1" name="Freeform 60"/>
            <p:cNvSpPr>
              <a:spLocks/>
            </p:cNvSpPr>
            <p:nvPr/>
          </p:nvSpPr>
          <p:spPr bwMode="auto">
            <a:xfrm>
              <a:off x="3253" y="1914"/>
              <a:ext cx="356" cy="289"/>
            </a:xfrm>
            <a:custGeom>
              <a:avLst/>
              <a:gdLst/>
              <a:ahLst/>
              <a:cxnLst>
                <a:cxn ang="0">
                  <a:pos x="36" y="106"/>
                </a:cxn>
                <a:cxn ang="0">
                  <a:pos x="40" y="79"/>
                </a:cxn>
                <a:cxn ang="0">
                  <a:pos x="29" y="66"/>
                </a:cxn>
                <a:cxn ang="0">
                  <a:pos x="5" y="33"/>
                </a:cxn>
                <a:cxn ang="0">
                  <a:pos x="0" y="5"/>
                </a:cxn>
                <a:cxn ang="0">
                  <a:pos x="7" y="1"/>
                </a:cxn>
                <a:cxn ang="0">
                  <a:pos x="28" y="15"/>
                </a:cxn>
                <a:cxn ang="0">
                  <a:pos x="54" y="0"/>
                </a:cxn>
                <a:cxn ang="0">
                  <a:pos x="58" y="13"/>
                </a:cxn>
                <a:cxn ang="0">
                  <a:pos x="79" y="39"/>
                </a:cxn>
                <a:cxn ang="0">
                  <a:pos x="111" y="51"/>
                </a:cxn>
                <a:cxn ang="0">
                  <a:pos x="138" y="53"/>
                </a:cxn>
                <a:cxn ang="0">
                  <a:pos x="151" y="48"/>
                </a:cxn>
                <a:cxn ang="0">
                  <a:pos x="154" y="42"/>
                </a:cxn>
                <a:cxn ang="0">
                  <a:pos x="181" y="29"/>
                </a:cxn>
                <a:cxn ang="0">
                  <a:pos x="220" y="36"/>
                </a:cxn>
                <a:cxn ang="0">
                  <a:pos x="246" y="53"/>
                </a:cxn>
                <a:cxn ang="0">
                  <a:pos x="265" y="73"/>
                </a:cxn>
                <a:cxn ang="0">
                  <a:pos x="261" y="96"/>
                </a:cxn>
                <a:cxn ang="0">
                  <a:pos x="267" y="111"/>
                </a:cxn>
                <a:cxn ang="0">
                  <a:pos x="269" y="129"/>
                </a:cxn>
                <a:cxn ang="0">
                  <a:pos x="287" y="149"/>
                </a:cxn>
                <a:cxn ang="0">
                  <a:pos x="279" y="177"/>
                </a:cxn>
                <a:cxn ang="0">
                  <a:pos x="300" y="201"/>
                </a:cxn>
                <a:cxn ang="0">
                  <a:pos x="317" y="225"/>
                </a:cxn>
                <a:cxn ang="0">
                  <a:pos x="322" y="234"/>
                </a:cxn>
                <a:cxn ang="0">
                  <a:pos x="303" y="246"/>
                </a:cxn>
                <a:cxn ang="0">
                  <a:pos x="285" y="258"/>
                </a:cxn>
                <a:cxn ang="0">
                  <a:pos x="251" y="252"/>
                </a:cxn>
                <a:cxn ang="0">
                  <a:pos x="228" y="238"/>
                </a:cxn>
                <a:cxn ang="0">
                  <a:pos x="209" y="231"/>
                </a:cxn>
                <a:cxn ang="0">
                  <a:pos x="172" y="231"/>
                </a:cxn>
                <a:cxn ang="0">
                  <a:pos x="144" y="213"/>
                </a:cxn>
                <a:cxn ang="0">
                  <a:pos x="125" y="190"/>
                </a:cxn>
                <a:cxn ang="0">
                  <a:pos x="105" y="172"/>
                </a:cxn>
                <a:cxn ang="0">
                  <a:pos x="97" y="166"/>
                </a:cxn>
                <a:cxn ang="0">
                  <a:pos x="90" y="174"/>
                </a:cxn>
                <a:cxn ang="0">
                  <a:pos x="81" y="156"/>
                </a:cxn>
                <a:cxn ang="0">
                  <a:pos x="76" y="142"/>
                </a:cxn>
                <a:cxn ang="0">
                  <a:pos x="57" y="126"/>
                </a:cxn>
              </a:cxnLst>
              <a:rect l="0" t="0" r="r" b="b"/>
              <a:pathLst>
                <a:path w="322" h="261">
                  <a:moveTo>
                    <a:pt x="45" y="118"/>
                  </a:moveTo>
                  <a:lnTo>
                    <a:pt x="36" y="106"/>
                  </a:lnTo>
                  <a:lnTo>
                    <a:pt x="35" y="96"/>
                  </a:lnTo>
                  <a:lnTo>
                    <a:pt x="40" y="79"/>
                  </a:lnTo>
                  <a:lnTo>
                    <a:pt x="40" y="71"/>
                  </a:lnTo>
                  <a:lnTo>
                    <a:pt x="29" y="66"/>
                  </a:lnTo>
                  <a:lnTo>
                    <a:pt x="15" y="46"/>
                  </a:lnTo>
                  <a:lnTo>
                    <a:pt x="5" y="33"/>
                  </a:lnTo>
                  <a:lnTo>
                    <a:pt x="1" y="15"/>
                  </a:lnTo>
                  <a:lnTo>
                    <a:pt x="0" y="5"/>
                  </a:lnTo>
                  <a:lnTo>
                    <a:pt x="6" y="0"/>
                  </a:lnTo>
                  <a:lnTo>
                    <a:pt x="7" y="1"/>
                  </a:lnTo>
                  <a:lnTo>
                    <a:pt x="10" y="5"/>
                  </a:lnTo>
                  <a:lnTo>
                    <a:pt x="28" y="15"/>
                  </a:lnTo>
                  <a:lnTo>
                    <a:pt x="40" y="10"/>
                  </a:lnTo>
                  <a:lnTo>
                    <a:pt x="54" y="0"/>
                  </a:lnTo>
                  <a:lnTo>
                    <a:pt x="59" y="10"/>
                  </a:lnTo>
                  <a:lnTo>
                    <a:pt x="58" y="13"/>
                  </a:lnTo>
                  <a:lnTo>
                    <a:pt x="71" y="23"/>
                  </a:lnTo>
                  <a:lnTo>
                    <a:pt x="79" y="39"/>
                  </a:lnTo>
                  <a:lnTo>
                    <a:pt x="96" y="46"/>
                  </a:lnTo>
                  <a:lnTo>
                    <a:pt x="111" y="51"/>
                  </a:lnTo>
                  <a:lnTo>
                    <a:pt x="125" y="55"/>
                  </a:lnTo>
                  <a:lnTo>
                    <a:pt x="138" y="53"/>
                  </a:lnTo>
                  <a:lnTo>
                    <a:pt x="149" y="51"/>
                  </a:lnTo>
                  <a:lnTo>
                    <a:pt x="151" y="48"/>
                  </a:lnTo>
                  <a:lnTo>
                    <a:pt x="149" y="42"/>
                  </a:lnTo>
                  <a:lnTo>
                    <a:pt x="154" y="42"/>
                  </a:lnTo>
                  <a:lnTo>
                    <a:pt x="165" y="31"/>
                  </a:lnTo>
                  <a:lnTo>
                    <a:pt x="181" y="29"/>
                  </a:lnTo>
                  <a:lnTo>
                    <a:pt x="196" y="28"/>
                  </a:lnTo>
                  <a:lnTo>
                    <a:pt x="220" y="36"/>
                  </a:lnTo>
                  <a:lnTo>
                    <a:pt x="233" y="45"/>
                  </a:lnTo>
                  <a:lnTo>
                    <a:pt x="246" y="53"/>
                  </a:lnTo>
                  <a:lnTo>
                    <a:pt x="259" y="55"/>
                  </a:lnTo>
                  <a:lnTo>
                    <a:pt x="265" y="73"/>
                  </a:lnTo>
                  <a:lnTo>
                    <a:pt x="262" y="94"/>
                  </a:lnTo>
                  <a:lnTo>
                    <a:pt x="261" y="96"/>
                  </a:lnTo>
                  <a:lnTo>
                    <a:pt x="261" y="106"/>
                  </a:lnTo>
                  <a:lnTo>
                    <a:pt x="267" y="111"/>
                  </a:lnTo>
                  <a:lnTo>
                    <a:pt x="265" y="114"/>
                  </a:lnTo>
                  <a:lnTo>
                    <a:pt x="269" y="129"/>
                  </a:lnTo>
                  <a:lnTo>
                    <a:pt x="271" y="144"/>
                  </a:lnTo>
                  <a:lnTo>
                    <a:pt x="287" y="149"/>
                  </a:lnTo>
                  <a:lnTo>
                    <a:pt x="289" y="156"/>
                  </a:lnTo>
                  <a:lnTo>
                    <a:pt x="279" y="177"/>
                  </a:lnTo>
                  <a:lnTo>
                    <a:pt x="289" y="189"/>
                  </a:lnTo>
                  <a:lnTo>
                    <a:pt x="300" y="201"/>
                  </a:lnTo>
                  <a:lnTo>
                    <a:pt x="312" y="207"/>
                  </a:lnTo>
                  <a:lnTo>
                    <a:pt x="317" y="225"/>
                  </a:lnTo>
                  <a:lnTo>
                    <a:pt x="322" y="227"/>
                  </a:lnTo>
                  <a:lnTo>
                    <a:pt x="322" y="234"/>
                  </a:lnTo>
                  <a:lnTo>
                    <a:pt x="309" y="240"/>
                  </a:lnTo>
                  <a:lnTo>
                    <a:pt x="303" y="246"/>
                  </a:lnTo>
                  <a:lnTo>
                    <a:pt x="301" y="261"/>
                  </a:lnTo>
                  <a:lnTo>
                    <a:pt x="285" y="258"/>
                  </a:lnTo>
                  <a:lnTo>
                    <a:pt x="268" y="255"/>
                  </a:lnTo>
                  <a:lnTo>
                    <a:pt x="251" y="252"/>
                  </a:lnTo>
                  <a:lnTo>
                    <a:pt x="234" y="250"/>
                  </a:lnTo>
                  <a:lnTo>
                    <a:pt x="228" y="238"/>
                  </a:lnTo>
                  <a:lnTo>
                    <a:pt x="221" y="226"/>
                  </a:lnTo>
                  <a:lnTo>
                    <a:pt x="209" y="231"/>
                  </a:lnTo>
                  <a:lnTo>
                    <a:pt x="196" y="235"/>
                  </a:lnTo>
                  <a:lnTo>
                    <a:pt x="172" y="231"/>
                  </a:lnTo>
                  <a:lnTo>
                    <a:pt x="159" y="221"/>
                  </a:lnTo>
                  <a:lnTo>
                    <a:pt x="144" y="213"/>
                  </a:lnTo>
                  <a:lnTo>
                    <a:pt x="132" y="201"/>
                  </a:lnTo>
                  <a:lnTo>
                    <a:pt x="125" y="190"/>
                  </a:lnTo>
                  <a:lnTo>
                    <a:pt x="111" y="171"/>
                  </a:lnTo>
                  <a:lnTo>
                    <a:pt x="105" y="172"/>
                  </a:lnTo>
                  <a:lnTo>
                    <a:pt x="97" y="167"/>
                  </a:lnTo>
                  <a:lnTo>
                    <a:pt x="97" y="166"/>
                  </a:lnTo>
                  <a:lnTo>
                    <a:pt x="93" y="174"/>
                  </a:lnTo>
                  <a:lnTo>
                    <a:pt x="90" y="174"/>
                  </a:lnTo>
                  <a:lnTo>
                    <a:pt x="85" y="168"/>
                  </a:lnTo>
                  <a:lnTo>
                    <a:pt x="81" y="156"/>
                  </a:lnTo>
                  <a:lnTo>
                    <a:pt x="75" y="156"/>
                  </a:lnTo>
                  <a:lnTo>
                    <a:pt x="76" y="142"/>
                  </a:lnTo>
                  <a:lnTo>
                    <a:pt x="70" y="135"/>
                  </a:lnTo>
                  <a:lnTo>
                    <a:pt x="57" y="126"/>
                  </a:lnTo>
                  <a:lnTo>
                    <a:pt x="45" y="1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2" name="Freeform 61"/>
            <p:cNvSpPr>
              <a:spLocks/>
            </p:cNvSpPr>
            <p:nvPr/>
          </p:nvSpPr>
          <p:spPr bwMode="auto">
            <a:xfrm>
              <a:off x="3180" y="1961"/>
              <a:ext cx="173" cy="162"/>
            </a:xfrm>
            <a:custGeom>
              <a:avLst/>
              <a:gdLst/>
              <a:ahLst/>
              <a:cxnLst>
                <a:cxn ang="0">
                  <a:pos x="101" y="63"/>
                </a:cxn>
                <a:cxn ang="0">
                  <a:pos x="100" y="53"/>
                </a:cxn>
                <a:cxn ang="0">
                  <a:pos x="105" y="36"/>
                </a:cxn>
                <a:cxn ang="0">
                  <a:pos x="105" y="28"/>
                </a:cxn>
                <a:cxn ang="0">
                  <a:pos x="94" y="23"/>
                </a:cxn>
                <a:cxn ang="0">
                  <a:pos x="80" y="3"/>
                </a:cxn>
                <a:cxn ang="0">
                  <a:pos x="71" y="4"/>
                </a:cxn>
                <a:cxn ang="0">
                  <a:pos x="68" y="0"/>
                </a:cxn>
                <a:cxn ang="0">
                  <a:pos x="47" y="0"/>
                </a:cxn>
                <a:cxn ang="0">
                  <a:pos x="44" y="4"/>
                </a:cxn>
                <a:cxn ang="0">
                  <a:pos x="30" y="17"/>
                </a:cxn>
                <a:cxn ang="0">
                  <a:pos x="30" y="34"/>
                </a:cxn>
                <a:cxn ang="0">
                  <a:pos x="30" y="52"/>
                </a:cxn>
                <a:cxn ang="0">
                  <a:pos x="15" y="62"/>
                </a:cxn>
                <a:cxn ang="0">
                  <a:pos x="0" y="70"/>
                </a:cxn>
                <a:cxn ang="0">
                  <a:pos x="10" y="92"/>
                </a:cxn>
                <a:cxn ang="0">
                  <a:pos x="24" y="98"/>
                </a:cxn>
                <a:cxn ang="0">
                  <a:pos x="40" y="105"/>
                </a:cxn>
                <a:cxn ang="0">
                  <a:pos x="54" y="111"/>
                </a:cxn>
                <a:cxn ang="0">
                  <a:pos x="69" y="118"/>
                </a:cxn>
                <a:cxn ang="0">
                  <a:pos x="83" y="131"/>
                </a:cxn>
                <a:cxn ang="0">
                  <a:pos x="99" y="146"/>
                </a:cxn>
                <a:cxn ang="0">
                  <a:pos x="126" y="147"/>
                </a:cxn>
                <a:cxn ang="0">
                  <a:pos x="134" y="132"/>
                </a:cxn>
                <a:cxn ang="0">
                  <a:pos x="147" y="131"/>
                </a:cxn>
                <a:cxn ang="0">
                  <a:pos x="155" y="131"/>
                </a:cxn>
                <a:cxn ang="0">
                  <a:pos x="150" y="125"/>
                </a:cxn>
                <a:cxn ang="0">
                  <a:pos x="146" y="113"/>
                </a:cxn>
                <a:cxn ang="0">
                  <a:pos x="140" y="113"/>
                </a:cxn>
                <a:cxn ang="0">
                  <a:pos x="141" y="99"/>
                </a:cxn>
                <a:cxn ang="0">
                  <a:pos x="135" y="92"/>
                </a:cxn>
                <a:cxn ang="0">
                  <a:pos x="122" y="83"/>
                </a:cxn>
                <a:cxn ang="0">
                  <a:pos x="110" y="75"/>
                </a:cxn>
                <a:cxn ang="0">
                  <a:pos x="101" y="63"/>
                </a:cxn>
              </a:cxnLst>
              <a:rect l="0" t="0" r="r" b="b"/>
              <a:pathLst>
                <a:path w="155" h="147">
                  <a:moveTo>
                    <a:pt x="101" y="63"/>
                  </a:moveTo>
                  <a:lnTo>
                    <a:pt x="100" y="53"/>
                  </a:lnTo>
                  <a:lnTo>
                    <a:pt x="105" y="36"/>
                  </a:lnTo>
                  <a:lnTo>
                    <a:pt x="105" y="28"/>
                  </a:lnTo>
                  <a:lnTo>
                    <a:pt x="94" y="23"/>
                  </a:lnTo>
                  <a:lnTo>
                    <a:pt x="80" y="3"/>
                  </a:lnTo>
                  <a:lnTo>
                    <a:pt x="71" y="4"/>
                  </a:lnTo>
                  <a:lnTo>
                    <a:pt x="68" y="0"/>
                  </a:lnTo>
                  <a:lnTo>
                    <a:pt x="47" y="0"/>
                  </a:lnTo>
                  <a:lnTo>
                    <a:pt x="44" y="4"/>
                  </a:lnTo>
                  <a:lnTo>
                    <a:pt x="30" y="17"/>
                  </a:lnTo>
                  <a:lnTo>
                    <a:pt x="30" y="34"/>
                  </a:lnTo>
                  <a:lnTo>
                    <a:pt x="30" y="52"/>
                  </a:lnTo>
                  <a:lnTo>
                    <a:pt x="15" y="62"/>
                  </a:lnTo>
                  <a:lnTo>
                    <a:pt x="0" y="70"/>
                  </a:lnTo>
                  <a:lnTo>
                    <a:pt x="10" y="92"/>
                  </a:lnTo>
                  <a:lnTo>
                    <a:pt x="24" y="98"/>
                  </a:lnTo>
                  <a:lnTo>
                    <a:pt x="40" y="105"/>
                  </a:lnTo>
                  <a:lnTo>
                    <a:pt x="54" y="111"/>
                  </a:lnTo>
                  <a:lnTo>
                    <a:pt x="69" y="118"/>
                  </a:lnTo>
                  <a:lnTo>
                    <a:pt x="83" y="131"/>
                  </a:lnTo>
                  <a:lnTo>
                    <a:pt x="99" y="146"/>
                  </a:lnTo>
                  <a:lnTo>
                    <a:pt x="126" y="147"/>
                  </a:lnTo>
                  <a:lnTo>
                    <a:pt x="134" y="132"/>
                  </a:lnTo>
                  <a:lnTo>
                    <a:pt x="147" y="131"/>
                  </a:lnTo>
                  <a:lnTo>
                    <a:pt x="155" y="131"/>
                  </a:lnTo>
                  <a:lnTo>
                    <a:pt x="150" y="125"/>
                  </a:lnTo>
                  <a:lnTo>
                    <a:pt x="146" y="113"/>
                  </a:lnTo>
                  <a:lnTo>
                    <a:pt x="140" y="113"/>
                  </a:lnTo>
                  <a:lnTo>
                    <a:pt x="141" y="99"/>
                  </a:lnTo>
                  <a:lnTo>
                    <a:pt x="135" y="92"/>
                  </a:lnTo>
                  <a:lnTo>
                    <a:pt x="122" y="83"/>
                  </a:lnTo>
                  <a:lnTo>
                    <a:pt x="110" y="75"/>
                  </a:lnTo>
                  <a:lnTo>
                    <a:pt x="101" y="6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3" name="Freeform 62"/>
            <p:cNvSpPr>
              <a:spLocks/>
            </p:cNvSpPr>
            <p:nvPr/>
          </p:nvSpPr>
          <p:spPr bwMode="auto">
            <a:xfrm>
              <a:off x="3320" y="2107"/>
              <a:ext cx="33" cy="29"/>
            </a:xfrm>
            <a:custGeom>
              <a:avLst/>
              <a:gdLst/>
              <a:ahLst/>
              <a:cxnLst>
                <a:cxn ang="0">
                  <a:pos x="24" y="7"/>
                </a:cxn>
                <a:cxn ang="0">
                  <a:pos x="20" y="9"/>
                </a:cxn>
                <a:cxn ang="0">
                  <a:pos x="21" y="12"/>
                </a:cxn>
                <a:cxn ang="0">
                  <a:pos x="30" y="27"/>
                </a:cxn>
                <a:cxn ang="0">
                  <a:pos x="17" y="23"/>
                </a:cxn>
                <a:cxn ang="0">
                  <a:pos x="15" y="18"/>
                </a:cxn>
                <a:cxn ang="0">
                  <a:pos x="0" y="16"/>
                </a:cxn>
                <a:cxn ang="0">
                  <a:pos x="8" y="1"/>
                </a:cxn>
                <a:cxn ang="0">
                  <a:pos x="21" y="0"/>
                </a:cxn>
                <a:cxn ang="0">
                  <a:pos x="24" y="7"/>
                </a:cxn>
              </a:cxnLst>
              <a:rect l="0" t="0" r="r" b="b"/>
              <a:pathLst>
                <a:path w="30" h="27">
                  <a:moveTo>
                    <a:pt x="24" y="7"/>
                  </a:moveTo>
                  <a:lnTo>
                    <a:pt x="20" y="9"/>
                  </a:lnTo>
                  <a:lnTo>
                    <a:pt x="21" y="12"/>
                  </a:lnTo>
                  <a:lnTo>
                    <a:pt x="30" y="27"/>
                  </a:lnTo>
                  <a:lnTo>
                    <a:pt x="17" y="23"/>
                  </a:lnTo>
                  <a:lnTo>
                    <a:pt x="15" y="18"/>
                  </a:lnTo>
                  <a:lnTo>
                    <a:pt x="0" y="16"/>
                  </a:lnTo>
                  <a:lnTo>
                    <a:pt x="8" y="1"/>
                  </a:lnTo>
                  <a:lnTo>
                    <a:pt x="21" y="0"/>
                  </a:lnTo>
                  <a:lnTo>
                    <a:pt x="24"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4" name="Freeform 63"/>
            <p:cNvSpPr>
              <a:spLocks/>
            </p:cNvSpPr>
            <p:nvPr/>
          </p:nvSpPr>
          <p:spPr bwMode="auto">
            <a:xfrm>
              <a:off x="3893" y="2096"/>
              <a:ext cx="142" cy="80"/>
            </a:xfrm>
            <a:custGeom>
              <a:avLst/>
              <a:gdLst/>
              <a:ahLst/>
              <a:cxnLst>
                <a:cxn ang="0">
                  <a:pos x="73" y="56"/>
                </a:cxn>
                <a:cxn ang="0">
                  <a:pos x="54" y="54"/>
                </a:cxn>
                <a:cxn ang="0">
                  <a:pos x="39" y="50"/>
                </a:cxn>
                <a:cxn ang="0">
                  <a:pos x="19" y="41"/>
                </a:cxn>
                <a:cxn ang="0">
                  <a:pos x="0" y="30"/>
                </a:cxn>
                <a:cxn ang="0">
                  <a:pos x="0" y="19"/>
                </a:cxn>
                <a:cxn ang="0">
                  <a:pos x="9" y="5"/>
                </a:cxn>
                <a:cxn ang="0">
                  <a:pos x="10" y="6"/>
                </a:cxn>
                <a:cxn ang="0">
                  <a:pos x="16" y="0"/>
                </a:cxn>
                <a:cxn ang="0">
                  <a:pos x="29" y="8"/>
                </a:cxn>
                <a:cxn ang="0">
                  <a:pos x="49" y="23"/>
                </a:cxn>
                <a:cxn ang="0">
                  <a:pos x="55" y="20"/>
                </a:cxn>
                <a:cxn ang="0">
                  <a:pos x="60" y="26"/>
                </a:cxn>
                <a:cxn ang="0">
                  <a:pos x="75" y="32"/>
                </a:cxn>
                <a:cxn ang="0">
                  <a:pos x="77" y="36"/>
                </a:cxn>
                <a:cxn ang="0">
                  <a:pos x="93" y="43"/>
                </a:cxn>
                <a:cxn ang="0">
                  <a:pos x="107" y="44"/>
                </a:cxn>
                <a:cxn ang="0">
                  <a:pos x="125" y="47"/>
                </a:cxn>
                <a:cxn ang="0">
                  <a:pos x="130" y="72"/>
                </a:cxn>
                <a:cxn ang="0">
                  <a:pos x="113" y="71"/>
                </a:cxn>
                <a:cxn ang="0">
                  <a:pos x="93" y="68"/>
                </a:cxn>
                <a:cxn ang="0">
                  <a:pos x="82" y="65"/>
                </a:cxn>
                <a:cxn ang="0">
                  <a:pos x="73" y="56"/>
                </a:cxn>
              </a:cxnLst>
              <a:rect l="0" t="0" r="r" b="b"/>
              <a:pathLst>
                <a:path w="130" h="72">
                  <a:moveTo>
                    <a:pt x="73" y="56"/>
                  </a:moveTo>
                  <a:lnTo>
                    <a:pt x="54" y="54"/>
                  </a:lnTo>
                  <a:lnTo>
                    <a:pt x="39" y="50"/>
                  </a:lnTo>
                  <a:lnTo>
                    <a:pt x="19" y="41"/>
                  </a:lnTo>
                  <a:lnTo>
                    <a:pt x="0" y="30"/>
                  </a:lnTo>
                  <a:lnTo>
                    <a:pt x="0" y="19"/>
                  </a:lnTo>
                  <a:lnTo>
                    <a:pt x="9" y="5"/>
                  </a:lnTo>
                  <a:lnTo>
                    <a:pt x="10" y="6"/>
                  </a:lnTo>
                  <a:lnTo>
                    <a:pt x="16" y="0"/>
                  </a:lnTo>
                  <a:lnTo>
                    <a:pt x="29" y="8"/>
                  </a:lnTo>
                  <a:lnTo>
                    <a:pt x="49" y="23"/>
                  </a:lnTo>
                  <a:lnTo>
                    <a:pt x="55" y="20"/>
                  </a:lnTo>
                  <a:lnTo>
                    <a:pt x="60" y="26"/>
                  </a:lnTo>
                  <a:lnTo>
                    <a:pt x="75" y="32"/>
                  </a:lnTo>
                  <a:lnTo>
                    <a:pt x="77" y="36"/>
                  </a:lnTo>
                  <a:lnTo>
                    <a:pt x="93" y="43"/>
                  </a:lnTo>
                  <a:lnTo>
                    <a:pt x="107" y="44"/>
                  </a:lnTo>
                  <a:lnTo>
                    <a:pt x="125" y="47"/>
                  </a:lnTo>
                  <a:lnTo>
                    <a:pt x="130" y="72"/>
                  </a:lnTo>
                  <a:lnTo>
                    <a:pt x="113" y="71"/>
                  </a:lnTo>
                  <a:lnTo>
                    <a:pt x="93" y="68"/>
                  </a:lnTo>
                  <a:lnTo>
                    <a:pt x="82" y="65"/>
                  </a:lnTo>
                  <a:lnTo>
                    <a:pt x="73"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5" name="Freeform 64"/>
            <p:cNvSpPr>
              <a:spLocks/>
            </p:cNvSpPr>
            <p:nvPr/>
          </p:nvSpPr>
          <p:spPr bwMode="auto">
            <a:xfrm>
              <a:off x="3562" y="1967"/>
              <a:ext cx="260" cy="263"/>
            </a:xfrm>
            <a:custGeom>
              <a:avLst/>
              <a:gdLst/>
              <a:ahLst/>
              <a:cxnLst>
                <a:cxn ang="0">
                  <a:pos x="102" y="217"/>
                </a:cxn>
                <a:cxn ang="0">
                  <a:pos x="116" y="233"/>
                </a:cxn>
                <a:cxn ang="0">
                  <a:pos x="135" y="234"/>
                </a:cxn>
                <a:cxn ang="0">
                  <a:pos x="148" y="229"/>
                </a:cxn>
                <a:cxn ang="0">
                  <a:pos x="169" y="227"/>
                </a:cxn>
                <a:cxn ang="0">
                  <a:pos x="156" y="203"/>
                </a:cxn>
                <a:cxn ang="0">
                  <a:pos x="140" y="185"/>
                </a:cxn>
                <a:cxn ang="0">
                  <a:pos x="154" y="165"/>
                </a:cxn>
                <a:cxn ang="0">
                  <a:pos x="180" y="149"/>
                </a:cxn>
                <a:cxn ang="0">
                  <a:pos x="196" y="120"/>
                </a:cxn>
                <a:cxn ang="0">
                  <a:pos x="200" y="95"/>
                </a:cxn>
                <a:cxn ang="0">
                  <a:pos x="204" y="82"/>
                </a:cxn>
                <a:cxn ang="0">
                  <a:pos x="190" y="71"/>
                </a:cxn>
                <a:cxn ang="0">
                  <a:pos x="187" y="57"/>
                </a:cxn>
                <a:cxn ang="0">
                  <a:pos x="180" y="42"/>
                </a:cxn>
                <a:cxn ang="0">
                  <a:pos x="219" y="40"/>
                </a:cxn>
                <a:cxn ang="0">
                  <a:pos x="213" y="22"/>
                </a:cxn>
                <a:cxn ang="0">
                  <a:pos x="195" y="5"/>
                </a:cxn>
                <a:cxn ang="0">
                  <a:pos x="159" y="4"/>
                </a:cxn>
                <a:cxn ang="0">
                  <a:pos x="134" y="19"/>
                </a:cxn>
                <a:cxn ang="0">
                  <a:pos x="138" y="47"/>
                </a:cxn>
                <a:cxn ang="0">
                  <a:pos x="122" y="57"/>
                </a:cxn>
                <a:cxn ang="0">
                  <a:pos x="118" y="77"/>
                </a:cxn>
                <a:cxn ang="0">
                  <a:pos x="103" y="96"/>
                </a:cxn>
                <a:cxn ang="0">
                  <a:pos x="84" y="107"/>
                </a:cxn>
                <a:cxn ang="0">
                  <a:pos x="81" y="129"/>
                </a:cxn>
                <a:cxn ang="0">
                  <a:pos x="49" y="136"/>
                </a:cxn>
                <a:cxn ang="0">
                  <a:pos x="13" y="132"/>
                </a:cxn>
                <a:cxn ang="0">
                  <a:pos x="10" y="141"/>
                </a:cxn>
                <a:cxn ang="0">
                  <a:pos x="33" y="159"/>
                </a:cxn>
                <a:cxn ang="0">
                  <a:pos x="43" y="179"/>
                </a:cxn>
                <a:cxn ang="0">
                  <a:pos x="30" y="192"/>
                </a:cxn>
                <a:cxn ang="0">
                  <a:pos x="22" y="213"/>
                </a:cxn>
                <a:cxn ang="0">
                  <a:pos x="51" y="211"/>
                </a:cxn>
                <a:cxn ang="0">
                  <a:pos x="80" y="209"/>
                </a:cxn>
              </a:cxnLst>
              <a:rect l="0" t="0" r="r" b="b"/>
              <a:pathLst>
                <a:path w="234" h="238">
                  <a:moveTo>
                    <a:pt x="96" y="208"/>
                  </a:moveTo>
                  <a:lnTo>
                    <a:pt x="102" y="217"/>
                  </a:lnTo>
                  <a:lnTo>
                    <a:pt x="108" y="220"/>
                  </a:lnTo>
                  <a:lnTo>
                    <a:pt x="116" y="233"/>
                  </a:lnTo>
                  <a:lnTo>
                    <a:pt x="128" y="238"/>
                  </a:lnTo>
                  <a:lnTo>
                    <a:pt x="135" y="234"/>
                  </a:lnTo>
                  <a:lnTo>
                    <a:pt x="135" y="228"/>
                  </a:lnTo>
                  <a:lnTo>
                    <a:pt x="148" y="229"/>
                  </a:lnTo>
                  <a:lnTo>
                    <a:pt x="163" y="227"/>
                  </a:lnTo>
                  <a:lnTo>
                    <a:pt x="169" y="227"/>
                  </a:lnTo>
                  <a:lnTo>
                    <a:pt x="162" y="204"/>
                  </a:lnTo>
                  <a:lnTo>
                    <a:pt x="156" y="203"/>
                  </a:lnTo>
                  <a:lnTo>
                    <a:pt x="152" y="191"/>
                  </a:lnTo>
                  <a:lnTo>
                    <a:pt x="140" y="185"/>
                  </a:lnTo>
                  <a:lnTo>
                    <a:pt x="148" y="163"/>
                  </a:lnTo>
                  <a:lnTo>
                    <a:pt x="154" y="165"/>
                  </a:lnTo>
                  <a:lnTo>
                    <a:pt x="170" y="165"/>
                  </a:lnTo>
                  <a:lnTo>
                    <a:pt x="180" y="149"/>
                  </a:lnTo>
                  <a:lnTo>
                    <a:pt x="189" y="133"/>
                  </a:lnTo>
                  <a:lnTo>
                    <a:pt x="196" y="120"/>
                  </a:lnTo>
                  <a:lnTo>
                    <a:pt x="204" y="108"/>
                  </a:lnTo>
                  <a:lnTo>
                    <a:pt x="200" y="95"/>
                  </a:lnTo>
                  <a:lnTo>
                    <a:pt x="211" y="88"/>
                  </a:lnTo>
                  <a:lnTo>
                    <a:pt x="204" y="82"/>
                  </a:lnTo>
                  <a:lnTo>
                    <a:pt x="198" y="76"/>
                  </a:lnTo>
                  <a:lnTo>
                    <a:pt x="190" y="71"/>
                  </a:lnTo>
                  <a:lnTo>
                    <a:pt x="187" y="61"/>
                  </a:lnTo>
                  <a:lnTo>
                    <a:pt x="187" y="57"/>
                  </a:lnTo>
                  <a:lnTo>
                    <a:pt x="180" y="48"/>
                  </a:lnTo>
                  <a:lnTo>
                    <a:pt x="180" y="42"/>
                  </a:lnTo>
                  <a:lnTo>
                    <a:pt x="202" y="46"/>
                  </a:lnTo>
                  <a:lnTo>
                    <a:pt x="219" y="40"/>
                  </a:lnTo>
                  <a:lnTo>
                    <a:pt x="234" y="28"/>
                  </a:lnTo>
                  <a:lnTo>
                    <a:pt x="213" y="22"/>
                  </a:lnTo>
                  <a:lnTo>
                    <a:pt x="202" y="17"/>
                  </a:lnTo>
                  <a:lnTo>
                    <a:pt x="195" y="5"/>
                  </a:lnTo>
                  <a:lnTo>
                    <a:pt x="177" y="0"/>
                  </a:lnTo>
                  <a:lnTo>
                    <a:pt x="159" y="4"/>
                  </a:lnTo>
                  <a:lnTo>
                    <a:pt x="141" y="9"/>
                  </a:lnTo>
                  <a:lnTo>
                    <a:pt x="134" y="19"/>
                  </a:lnTo>
                  <a:lnTo>
                    <a:pt x="142" y="34"/>
                  </a:lnTo>
                  <a:lnTo>
                    <a:pt x="138" y="47"/>
                  </a:lnTo>
                  <a:lnTo>
                    <a:pt x="135" y="55"/>
                  </a:lnTo>
                  <a:lnTo>
                    <a:pt x="122" y="57"/>
                  </a:lnTo>
                  <a:lnTo>
                    <a:pt x="130" y="66"/>
                  </a:lnTo>
                  <a:lnTo>
                    <a:pt x="118" y="77"/>
                  </a:lnTo>
                  <a:lnTo>
                    <a:pt x="117" y="96"/>
                  </a:lnTo>
                  <a:lnTo>
                    <a:pt x="103" y="96"/>
                  </a:lnTo>
                  <a:lnTo>
                    <a:pt x="98" y="101"/>
                  </a:lnTo>
                  <a:lnTo>
                    <a:pt x="84" y="107"/>
                  </a:lnTo>
                  <a:lnTo>
                    <a:pt x="81" y="121"/>
                  </a:lnTo>
                  <a:lnTo>
                    <a:pt x="81" y="129"/>
                  </a:lnTo>
                  <a:lnTo>
                    <a:pt x="66" y="132"/>
                  </a:lnTo>
                  <a:lnTo>
                    <a:pt x="49" y="136"/>
                  </a:lnTo>
                  <a:lnTo>
                    <a:pt x="25" y="137"/>
                  </a:lnTo>
                  <a:lnTo>
                    <a:pt x="13" y="132"/>
                  </a:lnTo>
                  <a:lnTo>
                    <a:pt x="0" y="129"/>
                  </a:lnTo>
                  <a:lnTo>
                    <a:pt x="10" y="141"/>
                  </a:lnTo>
                  <a:lnTo>
                    <a:pt x="21" y="153"/>
                  </a:lnTo>
                  <a:lnTo>
                    <a:pt x="33" y="159"/>
                  </a:lnTo>
                  <a:lnTo>
                    <a:pt x="38" y="177"/>
                  </a:lnTo>
                  <a:lnTo>
                    <a:pt x="43" y="179"/>
                  </a:lnTo>
                  <a:lnTo>
                    <a:pt x="43" y="186"/>
                  </a:lnTo>
                  <a:lnTo>
                    <a:pt x="30" y="192"/>
                  </a:lnTo>
                  <a:lnTo>
                    <a:pt x="24" y="198"/>
                  </a:lnTo>
                  <a:lnTo>
                    <a:pt x="22" y="213"/>
                  </a:lnTo>
                  <a:lnTo>
                    <a:pt x="37" y="211"/>
                  </a:lnTo>
                  <a:lnTo>
                    <a:pt x="51" y="211"/>
                  </a:lnTo>
                  <a:lnTo>
                    <a:pt x="63" y="210"/>
                  </a:lnTo>
                  <a:lnTo>
                    <a:pt x="80" y="209"/>
                  </a:lnTo>
                  <a:lnTo>
                    <a:pt x="96" y="2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6" name="Freeform 65"/>
            <p:cNvSpPr>
              <a:spLocks/>
            </p:cNvSpPr>
            <p:nvPr/>
          </p:nvSpPr>
          <p:spPr bwMode="auto">
            <a:xfrm>
              <a:off x="2951" y="2074"/>
              <a:ext cx="196" cy="196"/>
            </a:xfrm>
            <a:custGeom>
              <a:avLst/>
              <a:gdLst/>
              <a:ahLst/>
              <a:cxnLst>
                <a:cxn ang="0">
                  <a:pos x="139" y="66"/>
                </a:cxn>
                <a:cxn ang="0">
                  <a:pos x="130" y="49"/>
                </a:cxn>
                <a:cxn ang="0">
                  <a:pos x="119" y="33"/>
                </a:cxn>
                <a:cxn ang="0">
                  <a:pos x="116" y="34"/>
                </a:cxn>
                <a:cxn ang="0">
                  <a:pos x="122" y="48"/>
                </a:cxn>
                <a:cxn ang="0">
                  <a:pos x="130" y="61"/>
                </a:cxn>
                <a:cxn ang="0">
                  <a:pos x="137" y="75"/>
                </a:cxn>
                <a:cxn ang="0">
                  <a:pos x="143" y="88"/>
                </a:cxn>
                <a:cxn ang="0">
                  <a:pos x="150" y="100"/>
                </a:cxn>
                <a:cxn ang="0">
                  <a:pos x="157" y="113"/>
                </a:cxn>
                <a:cxn ang="0">
                  <a:pos x="166" y="125"/>
                </a:cxn>
                <a:cxn ang="0">
                  <a:pos x="175" y="138"/>
                </a:cxn>
                <a:cxn ang="0">
                  <a:pos x="173" y="139"/>
                </a:cxn>
                <a:cxn ang="0">
                  <a:pos x="174" y="154"/>
                </a:cxn>
                <a:cxn ang="0">
                  <a:pos x="168" y="160"/>
                </a:cxn>
                <a:cxn ang="0">
                  <a:pos x="164" y="159"/>
                </a:cxn>
                <a:cxn ang="0">
                  <a:pos x="161" y="168"/>
                </a:cxn>
                <a:cxn ang="0">
                  <a:pos x="152" y="171"/>
                </a:cxn>
                <a:cxn ang="0">
                  <a:pos x="149" y="178"/>
                </a:cxn>
                <a:cxn ang="0">
                  <a:pos x="130" y="177"/>
                </a:cxn>
                <a:cxn ang="0">
                  <a:pos x="110" y="174"/>
                </a:cxn>
                <a:cxn ang="0">
                  <a:pos x="109" y="169"/>
                </a:cxn>
                <a:cxn ang="0">
                  <a:pos x="108" y="174"/>
                </a:cxn>
                <a:cxn ang="0">
                  <a:pos x="96" y="174"/>
                </a:cxn>
                <a:cxn ang="0">
                  <a:pos x="83" y="174"/>
                </a:cxn>
                <a:cxn ang="0">
                  <a:pos x="71" y="174"/>
                </a:cxn>
                <a:cxn ang="0">
                  <a:pos x="59" y="174"/>
                </a:cxn>
                <a:cxn ang="0">
                  <a:pos x="47" y="174"/>
                </a:cxn>
                <a:cxn ang="0">
                  <a:pos x="35" y="174"/>
                </a:cxn>
                <a:cxn ang="0">
                  <a:pos x="23" y="174"/>
                </a:cxn>
                <a:cxn ang="0">
                  <a:pos x="11" y="174"/>
                </a:cxn>
                <a:cxn ang="0">
                  <a:pos x="10" y="157"/>
                </a:cxn>
                <a:cxn ang="0">
                  <a:pos x="8" y="141"/>
                </a:cxn>
                <a:cxn ang="0">
                  <a:pos x="7" y="124"/>
                </a:cxn>
                <a:cxn ang="0">
                  <a:pos x="6" y="107"/>
                </a:cxn>
                <a:cxn ang="0">
                  <a:pos x="5" y="90"/>
                </a:cxn>
                <a:cxn ang="0">
                  <a:pos x="4" y="73"/>
                </a:cxn>
                <a:cxn ang="0">
                  <a:pos x="2" y="57"/>
                </a:cxn>
                <a:cxn ang="0">
                  <a:pos x="1" y="39"/>
                </a:cxn>
                <a:cxn ang="0">
                  <a:pos x="1" y="25"/>
                </a:cxn>
                <a:cxn ang="0">
                  <a:pos x="0" y="12"/>
                </a:cxn>
                <a:cxn ang="0">
                  <a:pos x="2" y="0"/>
                </a:cxn>
                <a:cxn ang="0">
                  <a:pos x="13" y="1"/>
                </a:cxn>
                <a:cxn ang="0">
                  <a:pos x="36" y="7"/>
                </a:cxn>
                <a:cxn ang="0">
                  <a:pos x="60" y="15"/>
                </a:cxn>
                <a:cxn ang="0">
                  <a:pos x="80" y="7"/>
                </a:cxn>
                <a:cxn ang="0">
                  <a:pos x="91" y="1"/>
                </a:cxn>
                <a:cxn ang="0">
                  <a:pos x="86" y="5"/>
                </a:cxn>
                <a:cxn ang="0">
                  <a:pos x="94" y="3"/>
                </a:cxn>
                <a:cxn ang="0">
                  <a:pos x="107" y="6"/>
                </a:cxn>
                <a:cxn ang="0">
                  <a:pos x="112" y="10"/>
                </a:cxn>
                <a:cxn ang="0">
                  <a:pos x="119" y="11"/>
                </a:cxn>
                <a:cxn ang="0">
                  <a:pos x="140" y="6"/>
                </a:cxn>
                <a:cxn ang="0">
                  <a:pos x="148" y="23"/>
                </a:cxn>
                <a:cxn ang="0">
                  <a:pos x="155" y="40"/>
                </a:cxn>
                <a:cxn ang="0">
                  <a:pos x="151" y="54"/>
                </a:cxn>
                <a:cxn ang="0">
                  <a:pos x="148" y="69"/>
                </a:cxn>
                <a:cxn ang="0">
                  <a:pos x="139" y="66"/>
                </a:cxn>
              </a:cxnLst>
              <a:rect l="0" t="0" r="r" b="b"/>
              <a:pathLst>
                <a:path w="175" h="178">
                  <a:moveTo>
                    <a:pt x="139" y="66"/>
                  </a:moveTo>
                  <a:lnTo>
                    <a:pt x="130" y="49"/>
                  </a:lnTo>
                  <a:lnTo>
                    <a:pt x="119" y="33"/>
                  </a:lnTo>
                  <a:lnTo>
                    <a:pt x="116" y="34"/>
                  </a:lnTo>
                  <a:lnTo>
                    <a:pt x="122" y="48"/>
                  </a:lnTo>
                  <a:lnTo>
                    <a:pt x="130" y="61"/>
                  </a:lnTo>
                  <a:lnTo>
                    <a:pt x="137" y="75"/>
                  </a:lnTo>
                  <a:lnTo>
                    <a:pt x="143" y="88"/>
                  </a:lnTo>
                  <a:lnTo>
                    <a:pt x="150" y="100"/>
                  </a:lnTo>
                  <a:lnTo>
                    <a:pt x="157" y="113"/>
                  </a:lnTo>
                  <a:lnTo>
                    <a:pt x="166" y="125"/>
                  </a:lnTo>
                  <a:lnTo>
                    <a:pt x="175" y="138"/>
                  </a:lnTo>
                  <a:lnTo>
                    <a:pt x="173" y="139"/>
                  </a:lnTo>
                  <a:lnTo>
                    <a:pt x="174" y="154"/>
                  </a:lnTo>
                  <a:lnTo>
                    <a:pt x="168" y="160"/>
                  </a:lnTo>
                  <a:lnTo>
                    <a:pt x="164" y="159"/>
                  </a:lnTo>
                  <a:lnTo>
                    <a:pt x="161" y="168"/>
                  </a:lnTo>
                  <a:lnTo>
                    <a:pt x="152" y="171"/>
                  </a:lnTo>
                  <a:lnTo>
                    <a:pt x="149" y="178"/>
                  </a:lnTo>
                  <a:lnTo>
                    <a:pt x="130" y="177"/>
                  </a:lnTo>
                  <a:lnTo>
                    <a:pt x="110" y="174"/>
                  </a:lnTo>
                  <a:lnTo>
                    <a:pt x="109" y="169"/>
                  </a:lnTo>
                  <a:lnTo>
                    <a:pt x="108" y="174"/>
                  </a:lnTo>
                  <a:lnTo>
                    <a:pt x="96" y="174"/>
                  </a:lnTo>
                  <a:lnTo>
                    <a:pt x="83" y="174"/>
                  </a:lnTo>
                  <a:lnTo>
                    <a:pt x="71" y="174"/>
                  </a:lnTo>
                  <a:lnTo>
                    <a:pt x="59" y="174"/>
                  </a:lnTo>
                  <a:lnTo>
                    <a:pt x="47" y="174"/>
                  </a:lnTo>
                  <a:lnTo>
                    <a:pt x="35" y="174"/>
                  </a:lnTo>
                  <a:lnTo>
                    <a:pt x="23" y="174"/>
                  </a:lnTo>
                  <a:lnTo>
                    <a:pt x="11" y="174"/>
                  </a:lnTo>
                  <a:lnTo>
                    <a:pt x="10" y="157"/>
                  </a:lnTo>
                  <a:lnTo>
                    <a:pt x="8" y="141"/>
                  </a:lnTo>
                  <a:lnTo>
                    <a:pt x="7" y="124"/>
                  </a:lnTo>
                  <a:lnTo>
                    <a:pt x="6" y="107"/>
                  </a:lnTo>
                  <a:lnTo>
                    <a:pt x="5" y="90"/>
                  </a:lnTo>
                  <a:lnTo>
                    <a:pt x="4" y="73"/>
                  </a:lnTo>
                  <a:lnTo>
                    <a:pt x="2" y="57"/>
                  </a:lnTo>
                  <a:lnTo>
                    <a:pt x="1" y="39"/>
                  </a:lnTo>
                  <a:lnTo>
                    <a:pt x="1" y="25"/>
                  </a:lnTo>
                  <a:lnTo>
                    <a:pt x="0" y="12"/>
                  </a:lnTo>
                  <a:lnTo>
                    <a:pt x="2" y="0"/>
                  </a:lnTo>
                  <a:lnTo>
                    <a:pt x="13" y="1"/>
                  </a:lnTo>
                  <a:lnTo>
                    <a:pt x="36" y="7"/>
                  </a:lnTo>
                  <a:lnTo>
                    <a:pt x="60" y="15"/>
                  </a:lnTo>
                  <a:lnTo>
                    <a:pt x="80" y="7"/>
                  </a:lnTo>
                  <a:lnTo>
                    <a:pt x="91" y="1"/>
                  </a:lnTo>
                  <a:lnTo>
                    <a:pt x="86" y="5"/>
                  </a:lnTo>
                  <a:lnTo>
                    <a:pt x="94" y="3"/>
                  </a:lnTo>
                  <a:lnTo>
                    <a:pt x="107" y="6"/>
                  </a:lnTo>
                  <a:lnTo>
                    <a:pt x="112" y="10"/>
                  </a:lnTo>
                  <a:lnTo>
                    <a:pt x="119" y="11"/>
                  </a:lnTo>
                  <a:lnTo>
                    <a:pt x="140" y="6"/>
                  </a:lnTo>
                  <a:lnTo>
                    <a:pt x="148" y="23"/>
                  </a:lnTo>
                  <a:lnTo>
                    <a:pt x="155" y="40"/>
                  </a:lnTo>
                  <a:lnTo>
                    <a:pt x="151" y="54"/>
                  </a:lnTo>
                  <a:lnTo>
                    <a:pt x="148" y="69"/>
                  </a:lnTo>
                  <a:lnTo>
                    <a:pt x="139" y="6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7" name="Freeform 66"/>
            <p:cNvSpPr>
              <a:spLocks/>
            </p:cNvSpPr>
            <p:nvPr/>
          </p:nvSpPr>
          <p:spPr bwMode="auto">
            <a:xfrm>
              <a:off x="3704" y="1996"/>
              <a:ext cx="482" cy="547"/>
            </a:xfrm>
            <a:custGeom>
              <a:avLst/>
              <a:gdLst/>
              <a:ahLst/>
              <a:cxnLst>
                <a:cxn ang="0">
                  <a:pos x="74" y="18"/>
                </a:cxn>
                <a:cxn ang="0">
                  <a:pos x="59" y="29"/>
                </a:cxn>
                <a:cxn ang="0">
                  <a:pos x="70" y="48"/>
                </a:cxn>
                <a:cxn ang="0">
                  <a:pos x="72" y="67"/>
                </a:cxn>
                <a:cxn ang="0">
                  <a:pos x="61" y="105"/>
                </a:cxn>
                <a:cxn ang="0">
                  <a:pos x="26" y="137"/>
                </a:cxn>
                <a:cxn ang="0">
                  <a:pos x="24" y="163"/>
                </a:cxn>
                <a:cxn ang="0">
                  <a:pos x="41" y="199"/>
                </a:cxn>
                <a:cxn ang="0">
                  <a:pos x="7" y="200"/>
                </a:cxn>
                <a:cxn ang="0">
                  <a:pos x="0" y="211"/>
                </a:cxn>
                <a:cxn ang="0">
                  <a:pos x="17" y="227"/>
                </a:cxn>
                <a:cxn ang="0">
                  <a:pos x="23" y="235"/>
                </a:cxn>
                <a:cxn ang="0">
                  <a:pos x="42" y="264"/>
                </a:cxn>
                <a:cxn ang="0">
                  <a:pos x="66" y="237"/>
                </a:cxn>
                <a:cxn ang="0">
                  <a:pos x="71" y="246"/>
                </a:cxn>
                <a:cxn ang="0">
                  <a:pos x="77" y="260"/>
                </a:cxn>
                <a:cxn ang="0">
                  <a:pos x="83" y="295"/>
                </a:cxn>
                <a:cxn ang="0">
                  <a:pos x="95" y="339"/>
                </a:cxn>
                <a:cxn ang="0">
                  <a:pos x="113" y="381"/>
                </a:cxn>
                <a:cxn ang="0">
                  <a:pos x="136" y="432"/>
                </a:cxn>
                <a:cxn ang="0">
                  <a:pos x="155" y="473"/>
                </a:cxn>
                <a:cxn ang="0">
                  <a:pos x="179" y="482"/>
                </a:cxn>
                <a:cxn ang="0">
                  <a:pos x="192" y="464"/>
                </a:cxn>
                <a:cxn ang="0">
                  <a:pos x="204" y="438"/>
                </a:cxn>
                <a:cxn ang="0">
                  <a:pos x="208" y="396"/>
                </a:cxn>
                <a:cxn ang="0">
                  <a:pos x="211" y="353"/>
                </a:cxn>
                <a:cxn ang="0">
                  <a:pos x="221" y="343"/>
                </a:cxn>
                <a:cxn ang="0">
                  <a:pos x="251" y="312"/>
                </a:cxn>
                <a:cxn ang="0">
                  <a:pos x="288" y="277"/>
                </a:cxn>
                <a:cxn ang="0">
                  <a:pos x="312" y="241"/>
                </a:cxn>
                <a:cxn ang="0">
                  <a:pos x="324" y="247"/>
                </a:cxn>
                <a:cxn ang="0">
                  <a:pos x="323" y="229"/>
                </a:cxn>
                <a:cxn ang="0">
                  <a:pos x="305" y="195"/>
                </a:cxn>
                <a:cxn ang="0">
                  <a:pos x="304" y="174"/>
                </a:cxn>
                <a:cxn ang="0">
                  <a:pos x="319" y="170"/>
                </a:cxn>
                <a:cxn ang="0">
                  <a:pos x="346" y="183"/>
                </a:cxn>
                <a:cxn ang="0">
                  <a:pos x="368" y="198"/>
                </a:cxn>
                <a:cxn ang="0">
                  <a:pos x="362" y="224"/>
                </a:cxn>
                <a:cxn ang="0">
                  <a:pos x="382" y="242"/>
                </a:cxn>
                <a:cxn ang="0">
                  <a:pos x="389" y="223"/>
                </a:cxn>
                <a:cxn ang="0">
                  <a:pos x="406" y="186"/>
                </a:cxn>
                <a:cxn ang="0">
                  <a:pos x="421" y="147"/>
                </a:cxn>
                <a:cxn ang="0">
                  <a:pos x="432" y="139"/>
                </a:cxn>
                <a:cxn ang="0">
                  <a:pos x="418" y="116"/>
                </a:cxn>
                <a:cxn ang="0">
                  <a:pos x="407" y="109"/>
                </a:cxn>
                <a:cxn ang="0">
                  <a:pos x="374" y="122"/>
                </a:cxn>
                <a:cxn ang="0">
                  <a:pos x="348" y="138"/>
                </a:cxn>
                <a:cxn ang="0">
                  <a:pos x="344" y="155"/>
                </a:cxn>
                <a:cxn ang="0">
                  <a:pos x="308" y="146"/>
                </a:cxn>
                <a:cxn ang="0">
                  <a:pos x="299" y="162"/>
                </a:cxn>
                <a:cxn ang="0">
                  <a:pos x="251" y="155"/>
                </a:cxn>
                <a:cxn ang="0">
                  <a:pos x="208" y="140"/>
                </a:cxn>
                <a:cxn ang="0">
                  <a:pos x="169" y="109"/>
                </a:cxn>
                <a:cxn ang="0">
                  <a:pos x="144" y="74"/>
                </a:cxn>
                <a:cxn ang="0">
                  <a:pos x="139" y="54"/>
                </a:cxn>
                <a:cxn ang="0">
                  <a:pos x="132" y="26"/>
                </a:cxn>
                <a:cxn ang="0">
                  <a:pos x="127" y="19"/>
                </a:cxn>
                <a:cxn ang="0">
                  <a:pos x="122" y="6"/>
                </a:cxn>
                <a:cxn ang="0">
                  <a:pos x="106" y="0"/>
                </a:cxn>
              </a:cxnLst>
              <a:rect l="0" t="0" r="r" b="b"/>
              <a:pathLst>
                <a:path w="434" h="491">
                  <a:moveTo>
                    <a:pt x="106" y="0"/>
                  </a:moveTo>
                  <a:lnTo>
                    <a:pt x="91" y="12"/>
                  </a:lnTo>
                  <a:lnTo>
                    <a:pt x="74" y="18"/>
                  </a:lnTo>
                  <a:lnTo>
                    <a:pt x="52" y="14"/>
                  </a:lnTo>
                  <a:lnTo>
                    <a:pt x="52" y="20"/>
                  </a:lnTo>
                  <a:lnTo>
                    <a:pt x="59" y="29"/>
                  </a:lnTo>
                  <a:lnTo>
                    <a:pt x="59" y="33"/>
                  </a:lnTo>
                  <a:lnTo>
                    <a:pt x="62" y="43"/>
                  </a:lnTo>
                  <a:lnTo>
                    <a:pt x="70" y="48"/>
                  </a:lnTo>
                  <a:lnTo>
                    <a:pt x="76" y="54"/>
                  </a:lnTo>
                  <a:lnTo>
                    <a:pt x="83" y="60"/>
                  </a:lnTo>
                  <a:lnTo>
                    <a:pt x="72" y="67"/>
                  </a:lnTo>
                  <a:lnTo>
                    <a:pt x="76" y="80"/>
                  </a:lnTo>
                  <a:lnTo>
                    <a:pt x="68" y="92"/>
                  </a:lnTo>
                  <a:lnTo>
                    <a:pt x="61" y="105"/>
                  </a:lnTo>
                  <a:lnTo>
                    <a:pt x="52" y="121"/>
                  </a:lnTo>
                  <a:lnTo>
                    <a:pt x="42" y="137"/>
                  </a:lnTo>
                  <a:lnTo>
                    <a:pt x="26" y="137"/>
                  </a:lnTo>
                  <a:lnTo>
                    <a:pt x="20" y="135"/>
                  </a:lnTo>
                  <a:lnTo>
                    <a:pt x="12" y="157"/>
                  </a:lnTo>
                  <a:lnTo>
                    <a:pt x="24" y="163"/>
                  </a:lnTo>
                  <a:lnTo>
                    <a:pt x="28" y="175"/>
                  </a:lnTo>
                  <a:lnTo>
                    <a:pt x="34" y="176"/>
                  </a:lnTo>
                  <a:lnTo>
                    <a:pt x="41" y="199"/>
                  </a:lnTo>
                  <a:lnTo>
                    <a:pt x="35" y="199"/>
                  </a:lnTo>
                  <a:lnTo>
                    <a:pt x="20" y="201"/>
                  </a:lnTo>
                  <a:lnTo>
                    <a:pt x="7" y="200"/>
                  </a:lnTo>
                  <a:lnTo>
                    <a:pt x="7" y="206"/>
                  </a:lnTo>
                  <a:lnTo>
                    <a:pt x="0" y="210"/>
                  </a:lnTo>
                  <a:lnTo>
                    <a:pt x="0" y="211"/>
                  </a:lnTo>
                  <a:lnTo>
                    <a:pt x="6" y="209"/>
                  </a:lnTo>
                  <a:lnTo>
                    <a:pt x="4" y="213"/>
                  </a:lnTo>
                  <a:lnTo>
                    <a:pt x="17" y="227"/>
                  </a:lnTo>
                  <a:lnTo>
                    <a:pt x="35" y="224"/>
                  </a:lnTo>
                  <a:lnTo>
                    <a:pt x="34" y="228"/>
                  </a:lnTo>
                  <a:lnTo>
                    <a:pt x="23" y="235"/>
                  </a:lnTo>
                  <a:lnTo>
                    <a:pt x="14" y="234"/>
                  </a:lnTo>
                  <a:lnTo>
                    <a:pt x="29" y="248"/>
                  </a:lnTo>
                  <a:lnTo>
                    <a:pt x="42" y="264"/>
                  </a:lnTo>
                  <a:lnTo>
                    <a:pt x="64" y="258"/>
                  </a:lnTo>
                  <a:lnTo>
                    <a:pt x="65" y="246"/>
                  </a:lnTo>
                  <a:lnTo>
                    <a:pt x="66" y="237"/>
                  </a:lnTo>
                  <a:lnTo>
                    <a:pt x="74" y="237"/>
                  </a:lnTo>
                  <a:lnTo>
                    <a:pt x="72" y="242"/>
                  </a:lnTo>
                  <a:lnTo>
                    <a:pt x="71" y="246"/>
                  </a:lnTo>
                  <a:lnTo>
                    <a:pt x="79" y="246"/>
                  </a:lnTo>
                  <a:lnTo>
                    <a:pt x="74" y="252"/>
                  </a:lnTo>
                  <a:lnTo>
                    <a:pt x="77" y="260"/>
                  </a:lnTo>
                  <a:lnTo>
                    <a:pt x="77" y="272"/>
                  </a:lnTo>
                  <a:lnTo>
                    <a:pt x="82" y="290"/>
                  </a:lnTo>
                  <a:lnTo>
                    <a:pt x="83" y="295"/>
                  </a:lnTo>
                  <a:lnTo>
                    <a:pt x="84" y="300"/>
                  </a:lnTo>
                  <a:lnTo>
                    <a:pt x="89" y="321"/>
                  </a:lnTo>
                  <a:lnTo>
                    <a:pt x="95" y="339"/>
                  </a:lnTo>
                  <a:lnTo>
                    <a:pt x="101" y="356"/>
                  </a:lnTo>
                  <a:lnTo>
                    <a:pt x="104" y="361"/>
                  </a:lnTo>
                  <a:lnTo>
                    <a:pt x="113" y="381"/>
                  </a:lnTo>
                  <a:lnTo>
                    <a:pt x="121" y="402"/>
                  </a:lnTo>
                  <a:lnTo>
                    <a:pt x="128" y="416"/>
                  </a:lnTo>
                  <a:lnTo>
                    <a:pt x="136" y="432"/>
                  </a:lnTo>
                  <a:lnTo>
                    <a:pt x="143" y="446"/>
                  </a:lnTo>
                  <a:lnTo>
                    <a:pt x="148" y="458"/>
                  </a:lnTo>
                  <a:lnTo>
                    <a:pt x="155" y="473"/>
                  </a:lnTo>
                  <a:lnTo>
                    <a:pt x="161" y="486"/>
                  </a:lnTo>
                  <a:lnTo>
                    <a:pt x="170" y="491"/>
                  </a:lnTo>
                  <a:lnTo>
                    <a:pt x="179" y="482"/>
                  </a:lnTo>
                  <a:lnTo>
                    <a:pt x="188" y="473"/>
                  </a:lnTo>
                  <a:lnTo>
                    <a:pt x="198" y="471"/>
                  </a:lnTo>
                  <a:lnTo>
                    <a:pt x="192" y="464"/>
                  </a:lnTo>
                  <a:lnTo>
                    <a:pt x="200" y="451"/>
                  </a:lnTo>
                  <a:lnTo>
                    <a:pt x="205" y="451"/>
                  </a:lnTo>
                  <a:lnTo>
                    <a:pt x="204" y="438"/>
                  </a:lnTo>
                  <a:lnTo>
                    <a:pt x="202" y="425"/>
                  </a:lnTo>
                  <a:lnTo>
                    <a:pt x="205" y="410"/>
                  </a:lnTo>
                  <a:lnTo>
                    <a:pt x="208" y="396"/>
                  </a:lnTo>
                  <a:lnTo>
                    <a:pt x="204" y="379"/>
                  </a:lnTo>
                  <a:lnTo>
                    <a:pt x="203" y="359"/>
                  </a:lnTo>
                  <a:lnTo>
                    <a:pt x="211" y="353"/>
                  </a:lnTo>
                  <a:lnTo>
                    <a:pt x="214" y="351"/>
                  </a:lnTo>
                  <a:lnTo>
                    <a:pt x="217" y="350"/>
                  </a:lnTo>
                  <a:lnTo>
                    <a:pt x="221" y="343"/>
                  </a:lnTo>
                  <a:lnTo>
                    <a:pt x="234" y="338"/>
                  </a:lnTo>
                  <a:lnTo>
                    <a:pt x="236" y="327"/>
                  </a:lnTo>
                  <a:lnTo>
                    <a:pt x="251" y="312"/>
                  </a:lnTo>
                  <a:lnTo>
                    <a:pt x="266" y="296"/>
                  </a:lnTo>
                  <a:lnTo>
                    <a:pt x="278" y="283"/>
                  </a:lnTo>
                  <a:lnTo>
                    <a:pt x="288" y="277"/>
                  </a:lnTo>
                  <a:lnTo>
                    <a:pt x="296" y="264"/>
                  </a:lnTo>
                  <a:lnTo>
                    <a:pt x="298" y="251"/>
                  </a:lnTo>
                  <a:lnTo>
                    <a:pt x="312" y="241"/>
                  </a:lnTo>
                  <a:lnTo>
                    <a:pt x="316" y="248"/>
                  </a:lnTo>
                  <a:lnTo>
                    <a:pt x="320" y="248"/>
                  </a:lnTo>
                  <a:lnTo>
                    <a:pt x="324" y="247"/>
                  </a:lnTo>
                  <a:lnTo>
                    <a:pt x="328" y="248"/>
                  </a:lnTo>
                  <a:lnTo>
                    <a:pt x="328" y="243"/>
                  </a:lnTo>
                  <a:lnTo>
                    <a:pt x="323" y="229"/>
                  </a:lnTo>
                  <a:lnTo>
                    <a:pt x="318" y="216"/>
                  </a:lnTo>
                  <a:lnTo>
                    <a:pt x="317" y="205"/>
                  </a:lnTo>
                  <a:lnTo>
                    <a:pt x="305" y="195"/>
                  </a:lnTo>
                  <a:lnTo>
                    <a:pt x="310" y="188"/>
                  </a:lnTo>
                  <a:lnTo>
                    <a:pt x="316" y="185"/>
                  </a:lnTo>
                  <a:lnTo>
                    <a:pt x="304" y="174"/>
                  </a:lnTo>
                  <a:lnTo>
                    <a:pt x="304" y="161"/>
                  </a:lnTo>
                  <a:lnTo>
                    <a:pt x="314" y="164"/>
                  </a:lnTo>
                  <a:lnTo>
                    <a:pt x="319" y="170"/>
                  </a:lnTo>
                  <a:lnTo>
                    <a:pt x="323" y="167"/>
                  </a:lnTo>
                  <a:lnTo>
                    <a:pt x="329" y="181"/>
                  </a:lnTo>
                  <a:lnTo>
                    <a:pt x="346" y="183"/>
                  </a:lnTo>
                  <a:lnTo>
                    <a:pt x="362" y="185"/>
                  </a:lnTo>
                  <a:lnTo>
                    <a:pt x="371" y="191"/>
                  </a:lnTo>
                  <a:lnTo>
                    <a:pt x="368" y="198"/>
                  </a:lnTo>
                  <a:lnTo>
                    <a:pt x="356" y="206"/>
                  </a:lnTo>
                  <a:lnTo>
                    <a:pt x="360" y="221"/>
                  </a:lnTo>
                  <a:lnTo>
                    <a:pt x="362" y="224"/>
                  </a:lnTo>
                  <a:lnTo>
                    <a:pt x="370" y="211"/>
                  </a:lnTo>
                  <a:lnTo>
                    <a:pt x="376" y="227"/>
                  </a:lnTo>
                  <a:lnTo>
                    <a:pt x="382" y="242"/>
                  </a:lnTo>
                  <a:lnTo>
                    <a:pt x="383" y="241"/>
                  </a:lnTo>
                  <a:lnTo>
                    <a:pt x="388" y="242"/>
                  </a:lnTo>
                  <a:lnTo>
                    <a:pt x="389" y="223"/>
                  </a:lnTo>
                  <a:lnTo>
                    <a:pt x="389" y="207"/>
                  </a:lnTo>
                  <a:lnTo>
                    <a:pt x="398" y="207"/>
                  </a:lnTo>
                  <a:lnTo>
                    <a:pt x="406" y="186"/>
                  </a:lnTo>
                  <a:lnTo>
                    <a:pt x="407" y="177"/>
                  </a:lnTo>
                  <a:lnTo>
                    <a:pt x="407" y="163"/>
                  </a:lnTo>
                  <a:lnTo>
                    <a:pt x="421" y="147"/>
                  </a:lnTo>
                  <a:lnTo>
                    <a:pt x="433" y="150"/>
                  </a:lnTo>
                  <a:lnTo>
                    <a:pt x="431" y="144"/>
                  </a:lnTo>
                  <a:lnTo>
                    <a:pt x="432" y="139"/>
                  </a:lnTo>
                  <a:lnTo>
                    <a:pt x="434" y="131"/>
                  </a:lnTo>
                  <a:lnTo>
                    <a:pt x="418" y="125"/>
                  </a:lnTo>
                  <a:lnTo>
                    <a:pt x="418" y="116"/>
                  </a:lnTo>
                  <a:lnTo>
                    <a:pt x="412" y="115"/>
                  </a:lnTo>
                  <a:lnTo>
                    <a:pt x="413" y="111"/>
                  </a:lnTo>
                  <a:lnTo>
                    <a:pt x="407" y="109"/>
                  </a:lnTo>
                  <a:lnTo>
                    <a:pt x="398" y="114"/>
                  </a:lnTo>
                  <a:lnTo>
                    <a:pt x="385" y="113"/>
                  </a:lnTo>
                  <a:lnTo>
                    <a:pt x="374" y="122"/>
                  </a:lnTo>
                  <a:lnTo>
                    <a:pt x="362" y="133"/>
                  </a:lnTo>
                  <a:lnTo>
                    <a:pt x="349" y="138"/>
                  </a:lnTo>
                  <a:lnTo>
                    <a:pt x="348" y="138"/>
                  </a:lnTo>
                  <a:lnTo>
                    <a:pt x="353" y="144"/>
                  </a:lnTo>
                  <a:lnTo>
                    <a:pt x="359" y="153"/>
                  </a:lnTo>
                  <a:lnTo>
                    <a:pt x="344" y="155"/>
                  </a:lnTo>
                  <a:lnTo>
                    <a:pt x="330" y="156"/>
                  </a:lnTo>
                  <a:lnTo>
                    <a:pt x="311" y="153"/>
                  </a:lnTo>
                  <a:lnTo>
                    <a:pt x="308" y="146"/>
                  </a:lnTo>
                  <a:lnTo>
                    <a:pt x="301" y="132"/>
                  </a:lnTo>
                  <a:lnTo>
                    <a:pt x="294" y="137"/>
                  </a:lnTo>
                  <a:lnTo>
                    <a:pt x="299" y="162"/>
                  </a:lnTo>
                  <a:lnTo>
                    <a:pt x="282" y="161"/>
                  </a:lnTo>
                  <a:lnTo>
                    <a:pt x="262" y="158"/>
                  </a:lnTo>
                  <a:lnTo>
                    <a:pt x="251" y="155"/>
                  </a:lnTo>
                  <a:lnTo>
                    <a:pt x="242" y="146"/>
                  </a:lnTo>
                  <a:lnTo>
                    <a:pt x="223" y="144"/>
                  </a:lnTo>
                  <a:lnTo>
                    <a:pt x="208" y="140"/>
                  </a:lnTo>
                  <a:lnTo>
                    <a:pt x="188" y="131"/>
                  </a:lnTo>
                  <a:lnTo>
                    <a:pt x="169" y="120"/>
                  </a:lnTo>
                  <a:lnTo>
                    <a:pt x="169" y="109"/>
                  </a:lnTo>
                  <a:lnTo>
                    <a:pt x="178" y="95"/>
                  </a:lnTo>
                  <a:lnTo>
                    <a:pt x="163" y="85"/>
                  </a:lnTo>
                  <a:lnTo>
                    <a:pt x="144" y="74"/>
                  </a:lnTo>
                  <a:lnTo>
                    <a:pt x="137" y="72"/>
                  </a:lnTo>
                  <a:lnTo>
                    <a:pt x="130" y="53"/>
                  </a:lnTo>
                  <a:lnTo>
                    <a:pt x="139" y="54"/>
                  </a:lnTo>
                  <a:lnTo>
                    <a:pt x="142" y="47"/>
                  </a:lnTo>
                  <a:lnTo>
                    <a:pt x="132" y="33"/>
                  </a:lnTo>
                  <a:lnTo>
                    <a:pt x="132" y="26"/>
                  </a:lnTo>
                  <a:lnTo>
                    <a:pt x="131" y="25"/>
                  </a:lnTo>
                  <a:lnTo>
                    <a:pt x="131" y="21"/>
                  </a:lnTo>
                  <a:lnTo>
                    <a:pt x="127" y="19"/>
                  </a:lnTo>
                  <a:lnTo>
                    <a:pt x="125" y="15"/>
                  </a:lnTo>
                  <a:lnTo>
                    <a:pt x="124" y="11"/>
                  </a:lnTo>
                  <a:lnTo>
                    <a:pt x="122" y="6"/>
                  </a:lnTo>
                  <a:lnTo>
                    <a:pt x="118" y="5"/>
                  </a:lnTo>
                  <a:lnTo>
                    <a:pt x="110" y="1"/>
                  </a:lnTo>
                  <a:lnTo>
                    <a:pt x="10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8" name="Freeform 67"/>
            <p:cNvSpPr>
              <a:spLocks/>
            </p:cNvSpPr>
            <p:nvPr/>
          </p:nvSpPr>
          <p:spPr bwMode="auto">
            <a:xfrm>
              <a:off x="3107" y="2041"/>
              <a:ext cx="22" cy="75"/>
            </a:xfrm>
            <a:custGeom>
              <a:avLst/>
              <a:gdLst/>
              <a:ahLst/>
              <a:cxnLst>
                <a:cxn ang="0">
                  <a:pos x="15" y="69"/>
                </a:cxn>
                <a:cxn ang="0">
                  <a:pos x="8" y="52"/>
                </a:cxn>
                <a:cxn ang="0">
                  <a:pos x="0" y="35"/>
                </a:cxn>
                <a:cxn ang="0">
                  <a:pos x="6" y="20"/>
                </a:cxn>
                <a:cxn ang="0">
                  <a:pos x="11" y="4"/>
                </a:cxn>
                <a:cxn ang="0">
                  <a:pos x="18" y="0"/>
                </a:cxn>
                <a:cxn ang="0">
                  <a:pos x="20" y="10"/>
                </a:cxn>
                <a:cxn ang="0">
                  <a:pos x="18" y="24"/>
                </a:cxn>
                <a:cxn ang="0">
                  <a:pos x="17" y="39"/>
                </a:cxn>
                <a:cxn ang="0">
                  <a:pos x="17" y="53"/>
                </a:cxn>
                <a:cxn ang="0">
                  <a:pos x="15" y="68"/>
                </a:cxn>
                <a:cxn ang="0">
                  <a:pos x="15" y="69"/>
                </a:cxn>
              </a:cxnLst>
              <a:rect l="0" t="0" r="r" b="b"/>
              <a:pathLst>
                <a:path w="20" h="69">
                  <a:moveTo>
                    <a:pt x="15" y="69"/>
                  </a:moveTo>
                  <a:lnTo>
                    <a:pt x="8" y="52"/>
                  </a:lnTo>
                  <a:lnTo>
                    <a:pt x="0" y="35"/>
                  </a:lnTo>
                  <a:lnTo>
                    <a:pt x="6" y="20"/>
                  </a:lnTo>
                  <a:lnTo>
                    <a:pt x="11" y="4"/>
                  </a:lnTo>
                  <a:lnTo>
                    <a:pt x="18" y="0"/>
                  </a:lnTo>
                  <a:lnTo>
                    <a:pt x="20" y="10"/>
                  </a:lnTo>
                  <a:lnTo>
                    <a:pt x="18" y="24"/>
                  </a:lnTo>
                  <a:lnTo>
                    <a:pt x="17" y="39"/>
                  </a:lnTo>
                  <a:lnTo>
                    <a:pt x="17" y="53"/>
                  </a:lnTo>
                  <a:lnTo>
                    <a:pt x="15" y="68"/>
                  </a:lnTo>
                  <a:lnTo>
                    <a:pt x="15"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9" name="Freeform 68"/>
            <p:cNvSpPr>
              <a:spLocks/>
            </p:cNvSpPr>
            <p:nvPr/>
          </p:nvSpPr>
          <p:spPr bwMode="auto">
            <a:xfrm>
              <a:off x="3122" y="2039"/>
              <a:ext cx="69" cy="84"/>
            </a:xfrm>
            <a:custGeom>
              <a:avLst/>
              <a:gdLst/>
              <a:ahLst/>
              <a:cxnLst>
                <a:cxn ang="0">
                  <a:pos x="24" y="19"/>
                </a:cxn>
                <a:cxn ang="0">
                  <a:pos x="5" y="12"/>
                </a:cxn>
                <a:cxn ang="0">
                  <a:pos x="3" y="26"/>
                </a:cxn>
                <a:cxn ang="0">
                  <a:pos x="2" y="41"/>
                </a:cxn>
                <a:cxn ang="0">
                  <a:pos x="2" y="55"/>
                </a:cxn>
                <a:cxn ang="0">
                  <a:pos x="0" y="70"/>
                </a:cxn>
                <a:cxn ang="0">
                  <a:pos x="1" y="72"/>
                </a:cxn>
                <a:cxn ang="0">
                  <a:pos x="18" y="76"/>
                </a:cxn>
                <a:cxn ang="0">
                  <a:pos x="27" y="64"/>
                </a:cxn>
                <a:cxn ang="0">
                  <a:pos x="38" y="61"/>
                </a:cxn>
                <a:cxn ang="0">
                  <a:pos x="45" y="53"/>
                </a:cxn>
                <a:cxn ang="0">
                  <a:pos x="27" y="35"/>
                </a:cxn>
                <a:cxn ang="0">
                  <a:pos x="44" y="28"/>
                </a:cxn>
                <a:cxn ang="0">
                  <a:pos x="61" y="22"/>
                </a:cxn>
                <a:cxn ang="0">
                  <a:pos x="51" y="0"/>
                </a:cxn>
                <a:cxn ang="0">
                  <a:pos x="37" y="10"/>
                </a:cxn>
                <a:cxn ang="0">
                  <a:pos x="24" y="19"/>
                </a:cxn>
              </a:cxnLst>
              <a:rect l="0" t="0" r="r" b="b"/>
              <a:pathLst>
                <a:path w="61" h="76">
                  <a:moveTo>
                    <a:pt x="24" y="19"/>
                  </a:moveTo>
                  <a:lnTo>
                    <a:pt x="5" y="12"/>
                  </a:lnTo>
                  <a:lnTo>
                    <a:pt x="3" y="26"/>
                  </a:lnTo>
                  <a:lnTo>
                    <a:pt x="2" y="41"/>
                  </a:lnTo>
                  <a:lnTo>
                    <a:pt x="2" y="55"/>
                  </a:lnTo>
                  <a:lnTo>
                    <a:pt x="0" y="70"/>
                  </a:lnTo>
                  <a:lnTo>
                    <a:pt x="1" y="72"/>
                  </a:lnTo>
                  <a:lnTo>
                    <a:pt x="18" y="76"/>
                  </a:lnTo>
                  <a:lnTo>
                    <a:pt x="27" y="64"/>
                  </a:lnTo>
                  <a:lnTo>
                    <a:pt x="38" y="61"/>
                  </a:lnTo>
                  <a:lnTo>
                    <a:pt x="45" y="53"/>
                  </a:lnTo>
                  <a:lnTo>
                    <a:pt x="27" y="35"/>
                  </a:lnTo>
                  <a:lnTo>
                    <a:pt x="44" y="28"/>
                  </a:lnTo>
                  <a:lnTo>
                    <a:pt x="61" y="22"/>
                  </a:lnTo>
                  <a:lnTo>
                    <a:pt x="51" y="0"/>
                  </a:lnTo>
                  <a:lnTo>
                    <a:pt x="37" y="10"/>
                  </a:lnTo>
                  <a:lnTo>
                    <a:pt x="24"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0" name="Freeform 69"/>
            <p:cNvSpPr>
              <a:spLocks/>
            </p:cNvSpPr>
            <p:nvPr/>
          </p:nvSpPr>
          <p:spPr bwMode="auto">
            <a:xfrm>
              <a:off x="3431" y="2207"/>
              <a:ext cx="131" cy="167"/>
            </a:xfrm>
            <a:custGeom>
              <a:avLst/>
              <a:gdLst/>
              <a:ahLst/>
              <a:cxnLst>
                <a:cxn ang="0">
                  <a:pos x="119" y="46"/>
                </a:cxn>
                <a:cxn ang="0">
                  <a:pos x="107" y="35"/>
                </a:cxn>
                <a:cxn ang="0">
                  <a:pos x="95" y="25"/>
                </a:cxn>
                <a:cxn ang="0">
                  <a:pos x="82" y="19"/>
                </a:cxn>
                <a:cxn ang="0">
                  <a:pos x="68" y="13"/>
                </a:cxn>
                <a:cxn ang="0">
                  <a:pos x="61" y="0"/>
                </a:cxn>
                <a:cxn ang="0">
                  <a:pos x="56" y="4"/>
                </a:cxn>
                <a:cxn ang="0">
                  <a:pos x="54" y="0"/>
                </a:cxn>
                <a:cxn ang="0">
                  <a:pos x="56" y="17"/>
                </a:cxn>
                <a:cxn ang="0">
                  <a:pos x="49" y="19"/>
                </a:cxn>
                <a:cxn ang="0">
                  <a:pos x="46" y="41"/>
                </a:cxn>
                <a:cxn ang="0">
                  <a:pos x="54" y="54"/>
                </a:cxn>
                <a:cxn ang="0">
                  <a:pos x="50" y="72"/>
                </a:cxn>
                <a:cxn ang="0">
                  <a:pos x="47" y="90"/>
                </a:cxn>
                <a:cxn ang="0">
                  <a:pos x="36" y="94"/>
                </a:cxn>
                <a:cxn ang="0">
                  <a:pos x="24" y="99"/>
                </a:cxn>
                <a:cxn ang="0">
                  <a:pos x="13" y="103"/>
                </a:cxn>
                <a:cxn ang="0">
                  <a:pos x="2" y="108"/>
                </a:cxn>
                <a:cxn ang="0">
                  <a:pos x="0" y="115"/>
                </a:cxn>
                <a:cxn ang="0">
                  <a:pos x="11" y="133"/>
                </a:cxn>
                <a:cxn ang="0">
                  <a:pos x="22" y="150"/>
                </a:cxn>
                <a:cxn ang="0">
                  <a:pos x="35" y="148"/>
                </a:cxn>
                <a:cxn ang="0">
                  <a:pos x="47" y="144"/>
                </a:cxn>
                <a:cxn ang="0">
                  <a:pos x="55" y="137"/>
                </a:cxn>
                <a:cxn ang="0">
                  <a:pos x="60" y="127"/>
                </a:cxn>
                <a:cxn ang="0">
                  <a:pos x="74" y="124"/>
                </a:cxn>
                <a:cxn ang="0">
                  <a:pos x="80" y="111"/>
                </a:cxn>
                <a:cxn ang="0">
                  <a:pos x="92" y="105"/>
                </a:cxn>
                <a:cxn ang="0">
                  <a:pos x="91" y="85"/>
                </a:cxn>
                <a:cxn ang="0">
                  <a:pos x="97" y="81"/>
                </a:cxn>
                <a:cxn ang="0">
                  <a:pos x="101" y="81"/>
                </a:cxn>
                <a:cxn ang="0">
                  <a:pos x="110" y="64"/>
                </a:cxn>
                <a:cxn ang="0">
                  <a:pos x="119" y="46"/>
                </a:cxn>
              </a:cxnLst>
              <a:rect l="0" t="0" r="r" b="b"/>
              <a:pathLst>
                <a:path w="119" h="150">
                  <a:moveTo>
                    <a:pt x="119" y="46"/>
                  </a:moveTo>
                  <a:lnTo>
                    <a:pt x="107" y="35"/>
                  </a:lnTo>
                  <a:lnTo>
                    <a:pt x="95" y="25"/>
                  </a:lnTo>
                  <a:lnTo>
                    <a:pt x="82" y="19"/>
                  </a:lnTo>
                  <a:lnTo>
                    <a:pt x="68" y="13"/>
                  </a:lnTo>
                  <a:lnTo>
                    <a:pt x="61" y="0"/>
                  </a:lnTo>
                  <a:lnTo>
                    <a:pt x="56" y="4"/>
                  </a:lnTo>
                  <a:lnTo>
                    <a:pt x="54" y="0"/>
                  </a:lnTo>
                  <a:lnTo>
                    <a:pt x="56" y="17"/>
                  </a:lnTo>
                  <a:lnTo>
                    <a:pt x="49" y="19"/>
                  </a:lnTo>
                  <a:lnTo>
                    <a:pt x="46" y="41"/>
                  </a:lnTo>
                  <a:lnTo>
                    <a:pt x="54" y="54"/>
                  </a:lnTo>
                  <a:lnTo>
                    <a:pt x="50" y="72"/>
                  </a:lnTo>
                  <a:lnTo>
                    <a:pt x="47" y="90"/>
                  </a:lnTo>
                  <a:lnTo>
                    <a:pt x="36" y="94"/>
                  </a:lnTo>
                  <a:lnTo>
                    <a:pt x="24" y="99"/>
                  </a:lnTo>
                  <a:lnTo>
                    <a:pt x="13" y="103"/>
                  </a:lnTo>
                  <a:lnTo>
                    <a:pt x="2" y="108"/>
                  </a:lnTo>
                  <a:lnTo>
                    <a:pt x="0" y="115"/>
                  </a:lnTo>
                  <a:lnTo>
                    <a:pt x="11" y="133"/>
                  </a:lnTo>
                  <a:lnTo>
                    <a:pt x="22" y="150"/>
                  </a:lnTo>
                  <a:lnTo>
                    <a:pt x="35" y="148"/>
                  </a:lnTo>
                  <a:lnTo>
                    <a:pt x="47" y="144"/>
                  </a:lnTo>
                  <a:lnTo>
                    <a:pt x="55" y="137"/>
                  </a:lnTo>
                  <a:lnTo>
                    <a:pt x="60" y="127"/>
                  </a:lnTo>
                  <a:lnTo>
                    <a:pt x="74" y="124"/>
                  </a:lnTo>
                  <a:lnTo>
                    <a:pt x="80" y="111"/>
                  </a:lnTo>
                  <a:lnTo>
                    <a:pt x="92" y="105"/>
                  </a:lnTo>
                  <a:lnTo>
                    <a:pt x="91" y="85"/>
                  </a:lnTo>
                  <a:lnTo>
                    <a:pt x="97" y="81"/>
                  </a:lnTo>
                  <a:lnTo>
                    <a:pt x="101" y="81"/>
                  </a:lnTo>
                  <a:lnTo>
                    <a:pt x="110" y="64"/>
                  </a:lnTo>
                  <a:lnTo>
                    <a:pt x="119"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1" name="Freeform 70"/>
            <p:cNvSpPr>
              <a:spLocks/>
            </p:cNvSpPr>
            <p:nvPr/>
          </p:nvSpPr>
          <p:spPr bwMode="auto">
            <a:xfrm>
              <a:off x="3489" y="2181"/>
              <a:ext cx="6" cy="11"/>
            </a:xfrm>
            <a:custGeom>
              <a:avLst/>
              <a:gdLst/>
              <a:ahLst/>
              <a:cxnLst>
                <a:cxn ang="0">
                  <a:pos x="5" y="0"/>
                </a:cxn>
                <a:cxn ang="0">
                  <a:pos x="0" y="8"/>
                </a:cxn>
                <a:cxn ang="0">
                  <a:pos x="5" y="10"/>
                </a:cxn>
                <a:cxn ang="0">
                  <a:pos x="5" y="0"/>
                </a:cxn>
              </a:cxnLst>
              <a:rect l="0" t="0" r="r" b="b"/>
              <a:pathLst>
                <a:path w="5" h="10">
                  <a:moveTo>
                    <a:pt x="5" y="0"/>
                  </a:moveTo>
                  <a:lnTo>
                    <a:pt x="0" y="8"/>
                  </a:lnTo>
                  <a:lnTo>
                    <a:pt x="5" y="10"/>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2" name="Freeform 71"/>
            <p:cNvSpPr>
              <a:spLocks/>
            </p:cNvSpPr>
            <p:nvPr/>
          </p:nvSpPr>
          <p:spPr bwMode="auto">
            <a:xfrm>
              <a:off x="3120" y="2063"/>
              <a:ext cx="371" cy="331"/>
            </a:xfrm>
            <a:custGeom>
              <a:avLst/>
              <a:gdLst/>
              <a:ahLst/>
              <a:cxnLst>
                <a:cxn ang="0">
                  <a:pos x="76" y="178"/>
                </a:cxn>
                <a:cxn ang="0">
                  <a:pos x="65" y="151"/>
                </a:cxn>
                <a:cxn ang="0">
                  <a:pos x="45" y="134"/>
                </a:cxn>
                <a:cxn ang="0">
                  <a:pos x="21" y="94"/>
                </a:cxn>
                <a:cxn ang="0">
                  <a:pos x="0" y="72"/>
                </a:cxn>
                <a:cxn ang="0">
                  <a:pos x="21" y="54"/>
                </a:cxn>
                <a:cxn ang="0">
                  <a:pos x="41" y="39"/>
                </a:cxn>
                <a:cxn ang="0">
                  <a:pos x="30" y="13"/>
                </a:cxn>
                <a:cxn ang="0">
                  <a:pos x="64" y="0"/>
                </a:cxn>
                <a:cxn ang="0">
                  <a:pos x="94" y="13"/>
                </a:cxn>
                <a:cxn ang="0">
                  <a:pos x="123" y="26"/>
                </a:cxn>
                <a:cxn ang="0">
                  <a:pos x="153" y="54"/>
                </a:cxn>
                <a:cxn ang="0">
                  <a:pos x="195" y="57"/>
                </a:cxn>
                <a:cxn ang="0">
                  <a:pos x="210" y="66"/>
                </a:cxn>
                <a:cxn ang="0">
                  <a:pos x="226" y="85"/>
                </a:cxn>
                <a:cxn ang="0">
                  <a:pos x="242" y="109"/>
                </a:cxn>
                <a:cxn ang="0">
                  <a:pos x="255" y="134"/>
                </a:cxn>
                <a:cxn ang="0">
                  <a:pos x="262" y="136"/>
                </a:cxn>
                <a:cxn ang="0">
                  <a:pos x="264" y="141"/>
                </a:cxn>
                <a:cxn ang="0">
                  <a:pos x="266" y="146"/>
                </a:cxn>
                <a:cxn ang="0">
                  <a:pos x="276" y="165"/>
                </a:cxn>
                <a:cxn ang="0">
                  <a:pos x="323" y="174"/>
                </a:cxn>
                <a:cxn ang="0">
                  <a:pos x="334" y="183"/>
                </a:cxn>
                <a:cxn ang="0">
                  <a:pos x="327" y="219"/>
                </a:cxn>
                <a:cxn ang="0">
                  <a:pos x="304" y="228"/>
                </a:cxn>
                <a:cxn ang="0">
                  <a:pos x="282" y="237"/>
                </a:cxn>
                <a:cxn ang="0">
                  <a:pos x="257" y="243"/>
                </a:cxn>
                <a:cxn ang="0">
                  <a:pos x="232" y="250"/>
                </a:cxn>
                <a:cxn ang="0">
                  <a:pos x="215" y="273"/>
                </a:cxn>
                <a:cxn ang="0">
                  <a:pos x="197" y="297"/>
                </a:cxn>
                <a:cxn ang="0">
                  <a:pos x="182" y="272"/>
                </a:cxn>
                <a:cxn ang="0">
                  <a:pos x="149" y="264"/>
                </a:cxn>
                <a:cxn ang="0">
                  <a:pos x="141" y="284"/>
                </a:cxn>
                <a:cxn ang="0">
                  <a:pos x="125" y="258"/>
                </a:cxn>
                <a:cxn ang="0">
                  <a:pos x="100" y="218"/>
                </a:cxn>
              </a:cxnLst>
              <a:rect l="0" t="0" r="r" b="b"/>
              <a:pathLst>
                <a:path w="334" h="297">
                  <a:moveTo>
                    <a:pt x="82" y="202"/>
                  </a:moveTo>
                  <a:lnTo>
                    <a:pt x="76" y="178"/>
                  </a:lnTo>
                  <a:lnTo>
                    <a:pt x="70" y="165"/>
                  </a:lnTo>
                  <a:lnTo>
                    <a:pt x="65" y="151"/>
                  </a:lnTo>
                  <a:lnTo>
                    <a:pt x="54" y="142"/>
                  </a:lnTo>
                  <a:lnTo>
                    <a:pt x="45" y="134"/>
                  </a:lnTo>
                  <a:lnTo>
                    <a:pt x="36" y="115"/>
                  </a:lnTo>
                  <a:lnTo>
                    <a:pt x="21" y="94"/>
                  </a:lnTo>
                  <a:lnTo>
                    <a:pt x="5" y="73"/>
                  </a:lnTo>
                  <a:lnTo>
                    <a:pt x="0" y="72"/>
                  </a:lnTo>
                  <a:lnTo>
                    <a:pt x="4" y="50"/>
                  </a:lnTo>
                  <a:lnTo>
                    <a:pt x="21" y="54"/>
                  </a:lnTo>
                  <a:lnTo>
                    <a:pt x="30" y="42"/>
                  </a:lnTo>
                  <a:lnTo>
                    <a:pt x="41" y="39"/>
                  </a:lnTo>
                  <a:lnTo>
                    <a:pt x="48" y="31"/>
                  </a:lnTo>
                  <a:lnTo>
                    <a:pt x="30" y="13"/>
                  </a:lnTo>
                  <a:lnTo>
                    <a:pt x="47" y="6"/>
                  </a:lnTo>
                  <a:lnTo>
                    <a:pt x="64" y="0"/>
                  </a:lnTo>
                  <a:lnTo>
                    <a:pt x="78" y="6"/>
                  </a:lnTo>
                  <a:lnTo>
                    <a:pt x="94" y="13"/>
                  </a:lnTo>
                  <a:lnTo>
                    <a:pt x="108" y="19"/>
                  </a:lnTo>
                  <a:lnTo>
                    <a:pt x="123" y="26"/>
                  </a:lnTo>
                  <a:lnTo>
                    <a:pt x="137" y="39"/>
                  </a:lnTo>
                  <a:lnTo>
                    <a:pt x="153" y="54"/>
                  </a:lnTo>
                  <a:lnTo>
                    <a:pt x="180" y="55"/>
                  </a:lnTo>
                  <a:lnTo>
                    <a:pt x="195" y="57"/>
                  </a:lnTo>
                  <a:lnTo>
                    <a:pt x="197" y="62"/>
                  </a:lnTo>
                  <a:lnTo>
                    <a:pt x="210" y="66"/>
                  </a:lnTo>
                  <a:lnTo>
                    <a:pt x="219" y="79"/>
                  </a:lnTo>
                  <a:lnTo>
                    <a:pt x="226" y="85"/>
                  </a:lnTo>
                  <a:lnTo>
                    <a:pt x="240" y="99"/>
                  </a:lnTo>
                  <a:lnTo>
                    <a:pt x="242" y="109"/>
                  </a:lnTo>
                  <a:lnTo>
                    <a:pt x="249" y="121"/>
                  </a:lnTo>
                  <a:lnTo>
                    <a:pt x="255" y="134"/>
                  </a:lnTo>
                  <a:lnTo>
                    <a:pt x="260" y="138"/>
                  </a:lnTo>
                  <a:lnTo>
                    <a:pt x="262" y="136"/>
                  </a:lnTo>
                  <a:lnTo>
                    <a:pt x="264" y="136"/>
                  </a:lnTo>
                  <a:lnTo>
                    <a:pt x="264" y="141"/>
                  </a:lnTo>
                  <a:lnTo>
                    <a:pt x="266" y="142"/>
                  </a:lnTo>
                  <a:lnTo>
                    <a:pt x="266" y="146"/>
                  </a:lnTo>
                  <a:lnTo>
                    <a:pt x="270" y="150"/>
                  </a:lnTo>
                  <a:lnTo>
                    <a:pt x="276" y="165"/>
                  </a:lnTo>
                  <a:lnTo>
                    <a:pt x="299" y="170"/>
                  </a:lnTo>
                  <a:lnTo>
                    <a:pt x="323" y="174"/>
                  </a:lnTo>
                  <a:lnTo>
                    <a:pt x="326" y="170"/>
                  </a:lnTo>
                  <a:lnTo>
                    <a:pt x="334" y="183"/>
                  </a:lnTo>
                  <a:lnTo>
                    <a:pt x="330" y="201"/>
                  </a:lnTo>
                  <a:lnTo>
                    <a:pt x="327" y="219"/>
                  </a:lnTo>
                  <a:lnTo>
                    <a:pt x="316" y="223"/>
                  </a:lnTo>
                  <a:lnTo>
                    <a:pt x="304" y="228"/>
                  </a:lnTo>
                  <a:lnTo>
                    <a:pt x="293" y="232"/>
                  </a:lnTo>
                  <a:lnTo>
                    <a:pt x="282" y="237"/>
                  </a:lnTo>
                  <a:lnTo>
                    <a:pt x="269" y="240"/>
                  </a:lnTo>
                  <a:lnTo>
                    <a:pt x="257" y="243"/>
                  </a:lnTo>
                  <a:lnTo>
                    <a:pt x="244" y="247"/>
                  </a:lnTo>
                  <a:lnTo>
                    <a:pt x="232" y="250"/>
                  </a:lnTo>
                  <a:lnTo>
                    <a:pt x="224" y="262"/>
                  </a:lnTo>
                  <a:lnTo>
                    <a:pt x="215" y="273"/>
                  </a:lnTo>
                  <a:lnTo>
                    <a:pt x="206" y="285"/>
                  </a:lnTo>
                  <a:lnTo>
                    <a:pt x="197" y="297"/>
                  </a:lnTo>
                  <a:lnTo>
                    <a:pt x="196" y="279"/>
                  </a:lnTo>
                  <a:lnTo>
                    <a:pt x="182" y="272"/>
                  </a:lnTo>
                  <a:lnTo>
                    <a:pt x="166" y="266"/>
                  </a:lnTo>
                  <a:lnTo>
                    <a:pt x="149" y="264"/>
                  </a:lnTo>
                  <a:lnTo>
                    <a:pt x="146" y="278"/>
                  </a:lnTo>
                  <a:lnTo>
                    <a:pt x="141" y="284"/>
                  </a:lnTo>
                  <a:lnTo>
                    <a:pt x="132" y="271"/>
                  </a:lnTo>
                  <a:lnTo>
                    <a:pt x="125" y="258"/>
                  </a:lnTo>
                  <a:lnTo>
                    <a:pt x="112" y="238"/>
                  </a:lnTo>
                  <a:lnTo>
                    <a:pt x="100" y="218"/>
                  </a:lnTo>
                  <a:lnTo>
                    <a:pt x="82" y="20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3" name="Freeform 72"/>
            <p:cNvSpPr>
              <a:spLocks/>
            </p:cNvSpPr>
            <p:nvPr/>
          </p:nvSpPr>
          <p:spPr bwMode="auto">
            <a:xfrm>
              <a:off x="3415" y="2190"/>
              <a:ext cx="85" cy="66"/>
            </a:xfrm>
            <a:custGeom>
              <a:avLst/>
              <a:gdLst/>
              <a:ahLst/>
              <a:cxnLst>
                <a:cxn ang="0">
                  <a:pos x="0" y="32"/>
                </a:cxn>
                <a:cxn ang="0">
                  <a:pos x="4" y="36"/>
                </a:cxn>
                <a:cxn ang="0">
                  <a:pos x="10" y="51"/>
                </a:cxn>
                <a:cxn ang="0">
                  <a:pos x="33" y="56"/>
                </a:cxn>
                <a:cxn ang="0">
                  <a:pos x="57" y="60"/>
                </a:cxn>
                <a:cxn ang="0">
                  <a:pos x="60" y="56"/>
                </a:cxn>
                <a:cxn ang="0">
                  <a:pos x="63" y="34"/>
                </a:cxn>
                <a:cxn ang="0">
                  <a:pos x="70" y="32"/>
                </a:cxn>
                <a:cxn ang="0">
                  <a:pos x="68" y="15"/>
                </a:cxn>
                <a:cxn ang="0">
                  <a:pos x="70" y="19"/>
                </a:cxn>
                <a:cxn ang="0">
                  <a:pos x="75" y="15"/>
                </a:cxn>
                <a:cxn ang="0">
                  <a:pos x="72" y="2"/>
                </a:cxn>
                <a:cxn ang="0">
                  <a:pos x="67" y="0"/>
                </a:cxn>
                <a:cxn ang="0">
                  <a:pos x="54" y="15"/>
                </a:cxn>
                <a:cxn ang="0">
                  <a:pos x="38" y="31"/>
                </a:cxn>
                <a:cxn ang="0">
                  <a:pos x="14" y="32"/>
                </a:cxn>
                <a:cxn ang="0">
                  <a:pos x="4" y="31"/>
                </a:cxn>
                <a:cxn ang="0">
                  <a:pos x="0" y="28"/>
                </a:cxn>
                <a:cxn ang="0">
                  <a:pos x="0" y="32"/>
                </a:cxn>
              </a:cxnLst>
              <a:rect l="0" t="0" r="r" b="b"/>
              <a:pathLst>
                <a:path w="75" h="60">
                  <a:moveTo>
                    <a:pt x="0" y="32"/>
                  </a:moveTo>
                  <a:lnTo>
                    <a:pt x="4" y="36"/>
                  </a:lnTo>
                  <a:lnTo>
                    <a:pt x="10" y="51"/>
                  </a:lnTo>
                  <a:lnTo>
                    <a:pt x="33" y="56"/>
                  </a:lnTo>
                  <a:lnTo>
                    <a:pt x="57" y="60"/>
                  </a:lnTo>
                  <a:lnTo>
                    <a:pt x="60" y="56"/>
                  </a:lnTo>
                  <a:lnTo>
                    <a:pt x="63" y="34"/>
                  </a:lnTo>
                  <a:lnTo>
                    <a:pt x="70" y="32"/>
                  </a:lnTo>
                  <a:lnTo>
                    <a:pt x="68" y="15"/>
                  </a:lnTo>
                  <a:lnTo>
                    <a:pt x="70" y="19"/>
                  </a:lnTo>
                  <a:lnTo>
                    <a:pt x="75" y="15"/>
                  </a:lnTo>
                  <a:lnTo>
                    <a:pt x="72" y="2"/>
                  </a:lnTo>
                  <a:lnTo>
                    <a:pt x="67" y="0"/>
                  </a:lnTo>
                  <a:lnTo>
                    <a:pt x="54" y="15"/>
                  </a:lnTo>
                  <a:lnTo>
                    <a:pt x="38" y="31"/>
                  </a:lnTo>
                  <a:lnTo>
                    <a:pt x="14" y="32"/>
                  </a:lnTo>
                  <a:lnTo>
                    <a:pt x="4" y="31"/>
                  </a:lnTo>
                  <a:lnTo>
                    <a:pt x="0" y="28"/>
                  </a:lnTo>
                  <a:lnTo>
                    <a:pt x="0" y="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4" name="Freeform 73"/>
            <p:cNvSpPr>
              <a:spLocks/>
            </p:cNvSpPr>
            <p:nvPr/>
          </p:nvSpPr>
          <p:spPr bwMode="auto">
            <a:xfrm>
              <a:off x="3275" y="2327"/>
              <a:ext cx="180" cy="125"/>
            </a:xfrm>
            <a:custGeom>
              <a:avLst/>
              <a:gdLst/>
              <a:ahLst/>
              <a:cxnLst>
                <a:cxn ang="0">
                  <a:pos x="5" y="41"/>
                </a:cxn>
                <a:cxn ang="0">
                  <a:pos x="0" y="47"/>
                </a:cxn>
                <a:cxn ang="0">
                  <a:pos x="0" y="69"/>
                </a:cxn>
                <a:cxn ang="0">
                  <a:pos x="7" y="90"/>
                </a:cxn>
                <a:cxn ang="0">
                  <a:pos x="14" y="113"/>
                </a:cxn>
                <a:cxn ang="0">
                  <a:pos x="33" y="112"/>
                </a:cxn>
                <a:cxn ang="0">
                  <a:pos x="54" y="100"/>
                </a:cxn>
                <a:cxn ang="0">
                  <a:pos x="69" y="95"/>
                </a:cxn>
                <a:cxn ang="0">
                  <a:pos x="86" y="89"/>
                </a:cxn>
                <a:cxn ang="0">
                  <a:pos x="98" y="84"/>
                </a:cxn>
                <a:cxn ang="0">
                  <a:pos x="110" y="78"/>
                </a:cxn>
                <a:cxn ang="0">
                  <a:pos x="122" y="72"/>
                </a:cxn>
                <a:cxn ang="0">
                  <a:pos x="134" y="67"/>
                </a:cxn>
                <a:cxn ang="0">
                  <a:pos x="146" y="61"/>
                </a:cxn>
                <a:cxn ang="0">
                  <a:pos x="147" y="54"/>
                </a:cxn>
                <a:cxn ang="0">
                  <a:pos x="161" y="42"/>
                </a:cxn>
                <a:cxn ang="0">
                  <a:pos x="150" y="25"/>
                </a:cxn>
                <a:cxn ang="0">
                  <a:pos x="139" y="7"/>
                </a:cxn>
                <a:cxn ang="0">
                  <a:pos x="141" y="0"/>
                </a:cxn>
                <a:cxn ang="0">
                  <a:pos x="128" y="3"/>
                </a:cxn>
                <a:cxn ang="0">
                  <a:pos x="116" y="6"/>
                </a:cxn>
                <a:cxn ang="0">
                  <a:pos x="103" y="10"/>
                </a:cxn>
                <a:cxn ang="0">
                  <a:pos x="91" y="13"/>
                </a:cxn>
                <a:cxn ang="0">
                  <a:pos x="83" y="25"/>
                </a:cxn>
                <a:cxn ang="0">
                  <a:pos x="74" y="36"/>
                </a:cxn>
                <a:cxn ang="0">
                  <a:pos x="65" y="48"/>
                </a:cxn>
                <a:cxn ang="0">
                  <a:pos x="56" y="60"/>
                </a:cxn>
                <a:cxn ang="0">
                  <a:pos x="55" y="42"/>
                </a:cxn>
                <a:cxn ang="0">
                  <a:pos x="41" y="35"/>
                </a:cxn>
                <a:cxn ang="0">
                  <a:pos x="25" y="29"/>
                </a:cxn>
                <a:cxn ang="0">
                  <a:pos x="8" y="27"/>
                </a:cxn>
                <a:cxn ang="0">
                  <a:pos x="5" y="41"/>
                </a:cxn>
              </a:cxnLst>
              <a:rect l="0" t="0" r="r" b="b"/>
              <a:pathLst>
                <a:path w="161" h="113">
                  <a:moveTo>
                    <a:pt x="5" y="41"/>
                  </a:moveTo>
                  <a:lnTo>
                    <a:pt x="0" y="47"/>
                  </a:lnTo>
                  <a:lnTo>
                    <a:pt x="0" y="69"/>
                  </a:lnTo>
                  <a:lnTo>
                    <a:pt x="7" y="90"/>
                  </a:lnTo>
                  <a:lnTo>
                    <a:pt x="14" y="113"/>
                  </a:lnTo>
                  <a:lnTo>
                    <a:pt x="33" y="112"/>
                  </a:lnTo>
                  <a:lnTo>
                    <a:pt x="54" y="100"/>
                  </a:lnTo>
                  <a:lnTo>
                    <a:pt x="69" y="95"/>
                  </a:lnTo>
                  <a:lnTo>
                    <a:pt x="86" y="89"/>
                  </a:lnTo>
                  <a:lnTo>
                    <a:pt x="98" y="84"/>
                  </a:lnTo>
                  <a:lnTo>
                    <a:pt x="110" y="78"/>
                  </a:lnTo>
                  <a:lnTo>
                    <a:pt x="122" y="72"/>
                  </a:lnTo>
                  <a:lnTo>
                    <a:pt x="134" y="67"/>
                  </a:lnTo>
                  <a:lnTo>
                    <a:pt x="146" y="61"/>
                  </a:lnTo>
                  <a:lnTo>
                    <a:pt x="147" y="54"/>
                  </a:lnTo>
                  <a:lnTo>
                    <a:pt x="161" y="42"/>
                  </a:lnTo>
                  <a:lnTo>
                    <a:pt x="150" y="25"/>
                  </a:lnTo>
                  <a:lnTo>
                    <a:pt x="139" y="7"/>
                  </a:lnTo>
                  <a:lnTo>
                    <a:pt x="141" y="0"/>
                  </a:lnTo>
                  <a:lnTo>
                    <a:pt x="128" y="3"/>
                  </a:lnTo>
                  <a:lnTo>
                    <a:pt x="116" y="6"/>
                  </a:lnTo>
                  <a:lnTo>
                    <a:pt x="103" y="10"/>
                  </a:lnTo>
                  <a:lnTo>
                    <a:pt x="91" y="13"/>
                  </a:lnTo>
                  <a:lnTo>
                    <a:pt x="83" y="25"/>
                  </a:lnTo>
                  <a:lnTo>
                    <a:pt x="74" y="36"/>
                  </a:lnTo>
                  <a:lnTo>
                    <a:pt x="65" y="48"/>
                  </a:lnTo>
                  <a:lnTo>
                    <a:pt x="56" y="60"/>
                  </a:lnTo>
                  <a:lnTo>
                    <a:pt x="55" y="42"/>
                  </a:lnTo>
                  <a:lnTo>
                    <a:pt x="41" y="35"/>
                  </a:lnTo>
                  <a:lnTo>
                    <a:pt x="25" y="29"/>
                  </a:lnTo>
                  <a:lnTo>
                    <a:pt x="8" y="27"/>
                  </a:lnTo>
                  <a:lnTo>
                    <a:pt x="5" y="4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5" name="Freeform 74"/>
            <p:cNvSpPr>
              <a:spLocks/>
            </p:cNvSpPr>
            <p:nvPr/>
          </p:nvSpPr>
          <p:spPr bwMode="auto">
            <a:xfrm>
              <a:off x="3933" y="2510"/>
              <a:ext cx="38" cy="77"/>
            </a:xfrm>
            <a:custGeom>
              <a:avLst/>
              <a:gdLst/>
              <a:ahLst/>
              <a:cxnLst>
                <a:cxn ang="0">
                  <a:pos x="9" y="2"/>
                </a:cxn>
                <a:cxn ang="0">
                  <a:pos x="15" y="12"/>
                </a:cxn>
                <a:cxn ang="0">
                  <a:pos x="22" y="22"/>
                </a:cxn>
                <a:cxn ang="0">
                  <a:pos x="29" y="37"/>
                </a:cxn>
                <a:cxn ang="0">
                  <a:pos x="35" y="50"/>
                </a:cxn>
                <a:cxn ang="0">
                  <a:pos x="27" y="64"/>
                </a:cxn>
                <a:cxn ang="0">
                  <a:pos x="11" y="69"/>
                </a:cxn>
                <a:cxn ang="0">
                  <a:pos x="3" y="45"/>
                </a:cxn>
                <a:cxn ang="0">
                  <a:pos x="0" y="28"/>
                </a:cxn>
                <a:cxn ang="0">
                  <a:pos x="1" y="30"/>
                </a:cxn>
                <a:cxn ang="0">
                  <a:pos x="4" y="18"/>
                </a:cxn>
                <a:cxn ang="0">
                  <a:pos x="6" y="4"/>
                </a:cxn>
                <a:cxn ang="0">
                  <a:pos x="6" y="3"/>
                </a:cxn>
                <a:cxn ang="0">
                  <a:pos x="3" y="0"/>
                </a:cxn>
                <a:cxn ang="0">
                  <a:pos x="9" y="2"/>
                </a:cxn>
              </a:cxnLst>
              <a:rect l="0" t="0" r="r" b="b"/>
              <a:pathLst>
                <a:path w="35" h="69">
                  <a:moveTo>
                    <a:pt x="9" y="2"/>
                  </a:moveTo>
                  <a:lnTo>
                    <a:pt x="15" y="12"/>
                  </a:lnTo>
                  <a:lnTo>
                    <a:pt x="22" y="22"/>
                  </a:lnTo>
                  <a:lnTo>
                    <a:pt x="29" y="37"/>
                  </a:lnTo>
                  <a:lnTo>
                    <a:pt x="35" y="50"/>
                  </a:lnTo>
                  <a:lnTo>
                    <a:pt x="27" y="64"/>
                  </a:lnTo>
                  <a:lnTo>
                    <a:pt x="11" y="69"/>
                  </a:lnTo>
                  <a:lnTo>
                    <a:pt x="3" y="45"/>
                  </a:lnTo>
                  <a:lnTo>
                    <a:pt x="0" y="28"/>
                  </a:lnTo>
                  <a:lnTo>
                    <a:pt x="1" y="30"/>
                  </a:lnTo>
                  <a:lnTo>
                    <a:pt x="4" y="18"/>
                  </a:lnTo>
                  <a:lnTo>
                    <a:pt x="6" y="4"/>
                  </a:lnTo>
                  <a:lnTo>
                    <a:pt x="6" y="3"/>
                  </a:lnTo>
                  <a:lnTo>
                    <a:pt x="3" y="0"/>
                  </a:lnTo>
                  <a:lnTo>
                    <a:pt x="9"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6" name="Freeform 75"/>
            <p:cNvSpPr>
              <a:spLocks/>
            </p:cNvSpPr>
            <p:nvPr/>
          </p:nvSpPr>
          <p:spPr bwMode="auto">
            <a:xfrm>
              <a:off x="3040" y="2727"/>
              <a:ext cx="36" cy="32"/>
            </a:xfrm>
            <a:custGeom>
              <a:avLst/>
              <a:gdLst/>
              <a:ahLst/>
              <a:cxnLst>
                <a:cxn ang="0">
                  <a:pos x="11" y="6"/>
                </a:cxn>
                <a:cxn ang="0">
                  <a:pos x="5" y="18"/>
                </a:cxn>
                <a:cxn ang="0">
                  <a:pos x="0" y="29"/>
                </a:cxn>
                <a:cxn ang="0">
                  <a:pos x="2" y="29"/>
                </a:cxn>
                <a:cxn ang="0">
                  <a:pos x="3" y="29"/>
                </a:cxn>
                <a:cxn ang="0">
                  <a:pos x="16" y="29"/>
                </a:cxn>
                <a:cxn ang="0">
                  <a:pos x="18" y="23"/>
                </a:cxn>
                <a:cxn ang="0">
                  <a:pos x="27" y="24"/>
                </a:cxn>
                <a:cxn ang="0">
                  <a:pos x="32" y="22"/>
                </a:cxn>
                <a:cxn ang="0">
                  <a:pos x="26" y="0"/>
                </a:cxn>
                <a:cxn ang="0">
                  <a:pos x="16" y="6"/>
                </a:cxn>
                <a:cxn ang="0">
                  <a:pos x="11" y="6"/>
                </a:cxn>
              </a:cxnLst>
              <a:rect l="0" t="0" r="r" b="b"/>
              <a:pathLst>
                <a:path w="32" h="29">
                  <a:moveTo>
                    <a:pt x="11" y="6"/>
                  </a:moveTo>
                  <a:lnTo>
                    <a:pt x="5" y="18"/>
                  </a:lnTo>
                  <a:lnTo>
                    <a:pt x="0" y="29"/>
                  </a:lnTo>
                  <a:lnTo>
                    <a:pt x="2" y="29"/>
                  </a:lnTo>
                  <a:lnTo>
                    <a:pt x="3" y="29"/>
                  </a:lnTo>
                  <a:lnTo>
                    <a:pt x="16" y="29"/>
                  </a:lnTo>
                  <a:lnTo>
                    <a:pt x="18" y="23"/>
                  </a:lnTo>
                  <a:lnTo>
                    <a:pt x="27" y="24"/>
                  </a:lnTo>
                  <a:lnTo>
                    <a:pt x="32" y="22"/>
                  </a:lnTo>
                  <a:lnTo>
                    <a:pt x="26" y="0"/>
                  </a:lnTo>
                  <a:lnTo>
                    <a:pt x="16" y="6"/>
                  </a:lnTo>
                  <a:lnTo>
                    <a:pt x="1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7" name="Freeform 76"/>
            <p:cNvSpPr>
              <a:spLocks/>
            </p:cNvSpPr>
            <p:nvPr/>
          </p:nvSpPr>
          <p:spPr bwMode="auto">
            <a:xfrm>
              <a:off x="3827" y="2667"/>
              <a:ext cx="2" cy="3"/>
            </a:xfrm>
            <a:custGeom>
              <a:avLst/>
              <a:gdLst/>
              <a:ahLst/>
              <a:cxnLst>
                <a:cxn ang="0">
                  <a:pos x="2" y="1"/>
                </a:cxn>
                <a:cxn ang="0">
                  <a:pos x="0" y="1"/>
                </a:cxn>
                <a:cxn ang="0">
                  <a:pos x="2" y="0"/>
                </a:cxn>
                <a:cxn ang="0">
                  <a:pos x="2" y="1"/>
                </a:cxn>
              </a:cxnLst>
              <a:rect l="0" t="0" r="r" b="b"/>
              <a:pathLst>
                <a:path w="2" h="1">
                  <a:moveTo>
                    <a:pt x="2" y="1"/>
                  </a:moveTo>
                  <a:lnTo>
                    <a:pt x="0" y="1"/>
                  </a:lnTo>
                  <a:lnTo>
                    <a:pt x="2" y="0"/>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8" name="Freeform 77"/>
            <p:cNvSpPr>
              <a:spLocks/>
            </p:cNvSpPr>
            <p:nvPr/>
          </p:nvSpPr>
          <p:spPr bwMode="auto">
            <a:xfrm>
              <a:off x="3833" y="2712"/>
              <a:ext cx="2" cy="2"/>
            </a:xfrm>
            <a:custGeom>
              <a:avLst/>
              <a:gdLst/>
              <a:ahLst/>
              <a:cxnLst>
                <a:cxn ang="0">
                  <a:pos x="0" y="0"/>
                </a:cxn>
                <a:cxn ang="0">
                  <a:pos x="1" y="1"/>
                </a:cxn>
                <a:cxn ang="0">
                  <a:pos x="0" y="2"/>
                </a:cxn>
                <a:cxn ang="0">
                  <a:pos x="0" y="0"/>
                </a:cxn>
              </a:cxnLst>
              <a:rect l="0" t="0" r="r" b="b"/>
              <a:pathLst>
                <a:path w="1" h="2">
                  <a:moveTo>
                    <a:pt x="0" y="0"/>
                  </a:moveTo>
                  <a:lnTo>
                    <a:pt x="1" y="1"/>
                  </a:lnTo>
                  <a:lnTo>
                    <a:pt x="0" y="2"/>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9" name="Freeform 78"/>
            <p:cNvSpPr>
              <a:spLocks/>
            </p:cNvSpPr>
            <p:nvPr/>
          </p:nvSpPr>
          <p:spPr bwMode="auto">
            <a:xfrm>
              <a:off x="3829" y="2703"/>
              <a:ext cx="2" cy="2"/>
            </a:xfrm>
            <a:custGeom>
              <a:avLst/>
              <a:gdLst/>
              <a:ahLst/>
              <a:cxnLst>
                <a:cxn ang="0">
                  <a:pos x="1" y="0"/>
                </a:cxn>
                <a:cxn ang="0">
                  <a:pos x="1" y="1"/>
                </a:cxn>
                <a:cxn ang="0">
                  <a:pos x="0" y="0"/>
                </a:cxn>
                <a:cxn ang="0">
                  <a:pos x="1" y="0"/>
                </a:cxn>
              </a:cxnLst>
              <a:rect l="0" t="0" r="r" b="b"/>
              <a:pathLst>
                <a:path w="1" h="1">
                  <a:moveTo>
                    <a:pt x="1" y="0"/>
                  </a:moveTo>
                  <a:lnTo>
                    <a:pt x="1"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0" name="Freeform 79"/>
            <p:cNvSpPr>
              <a:spLocks/>
            </p:cNvSpPr>
            <p:nvPr/>
          </p:nvSpPr>
          <p:spPr bwMode="auto">
            <a:xfrm>
              <a:off x="3822" y="2719"/>
              <a:ext cx="2" cy="2"/>
            </a:xfrm>
            <a:custGeom>
              <a:avLst/>
              <a:gdLst/>
              <a:ahLst/>
              <a:cxnLst>
                <a:cxn ang="0">
                  <a:pos x="1" y="0"/>
                </a:cxn>
                <a:cxn ang="0">
                  <a:pos x="0" y="1"/>
                </a:cxn>
                <a:cxn ang="0">
                  <a:pos x="0" y="0"/>
                </a:cxn>
                <a:cxn ang="0">
                  <a:pos x="1" y="0"/>
                </a:cxn>
              </a:cxnLst>
              <a:rect l="0" t="0" r="r" b="b"/>
              <a:pathLst>
                <a:path w="1" h="1">
                  <a:moveTo>
                    <a:pt x="1" y="0"/>
                  </a:moveTo>
                  <a:lnTo>
                    <a:pt x="0"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1" name="Freeform 80"/>
            <p:cNvSpPr>
              <a:spLocks/>
            </p:cNvSpPr>
            <p:nvPr/>
          </p:nvSpPr>
          <p:spPr bwMode="auto">
            <a:xfrm>
              <a:off x="3822" y="2721"/>
              <a:ext cx="2" cy="2"/>
            </a:xfrm>
            <a:custGeom>
              <a:avLst/>
              <a:gdLst/>
              <a:ahLst/>
              <a:cxnLst>
                <a:cxn ang="0">
                  <a:pos x="1" y="2"/>
                </a:cxn>
                <a:cxn ang="0">
                  <a:pos x="1" y="0"/>
                </a:cxn>
                <a:cxn ang="0">
                  <a:pos x="0" y="2"/>
                </a:cxn>
                <a:cxn ang="0">
                  <a:pos x="1" y="2"/>
                </a:cxn>
              </a:cxnLst>
              <a:rect l="0" t="0" r="r" b="b"/>
              <a:pathLst>
                <a:path w="1" h="2">
                  <a:moveTo>
                    <a:pt x="1" y="2"/>
                  </a:moveTo>
                  <a:lnTo>
                    <a:pt x="1" y="0"/>
                  </a:lnTo>
                  <a:lnTo>
                    <a:pt x="0" y="2"/>
                  </a:lnTo>
                  <a:lnTo>
                    <a:pt x="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2" name="Freeform 81"/>
            <p:cNvSpPr>
              <a:spLocks/>
            </p:cNvSpPr>
            <p:nvPr/>
          </p:nvSpPr>
          <p:spPr bwMode="auto">
            <a:xfrm>
              <a:off x="3822" y="2592"/>
              <a:ext cx="2" cy="2"/>
            </a:xfrm>
            <a:custGeom>
              <a:avLst/>
              <a:gdLst/>
              <a:ahLst/>
              <a:cxnLst>
                <a:cxn ang="0">
                  <a:pos x="1" y="1"/>
                </a:cxn>
                <a:cxn ang="0">
                  <a:pos x="0" y="0"/>
                </a:cxn>
                <a:cxn ang="0">
                  <a:pos x="0" y="1"/>
                </a:cxn>
                <a:cxn ang="0">
                  <a:pos x="1" y="1"/>
                </a:cxn>
              </a:cxnLst>
              <a:rect l="0" t="0" r="r" b="b"/>
              <a:pathLst>
                <a:path w="1" h="1">
                  <a:moveTo>
                    <a:pt x="1" y="1"/>
                  </a:moveTo>
                  <a:lnTo>
                    <a:pt x="0" y="0"/>
                  </a:lnTo>
                  <a:lnTo>
                    <a:pt x="0" y="1"/>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3" name="Freeform 82"/>
            <p:cNvSpPr>
              <a:spLocks/>
            </p:cNvSpPr>
            <p:nvPr/>
          </p:nvSpPr>
          <p:spPr bwMode="auto">
            <a:xfrm>
              <a:off x="3827" y="2719"/>
              <a:ext cx="2" cy="2"/>
            </a:xfrm>
            <a:custGeom>
              <a:avLst/>
              <a:gdLst/>
              <a:ahLst/>
              <a:cxnLst>
                <a:cxn ang="0">
                  <a:pos x="0" y="1"/>
                </a:cxn>
                <a:cxn ang="0">
                  <a:pos x="0" y="0"/>
                </a:cxn>
                <a:cxn ang="0">
                  <a:pos x="0" y="1"/>
                </a:cxn>
              </a:cxnLst>
              <a:rect l="0" t="0" r="r" b="b"/>
              <a:pathLst>
                <a:path h="1">
                  <a:moveTo>
                    <a:pt x="0" y="1"/>
                  </a:moveTo>
                  <a:lnTo>
                    <a:pt x="0" y="0"/>
                  </a:lnTo>
                  <a:lnTo>
                    <a:pt x="0"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4" name="Freeform 83"/>
            <p:cNvSpPr>
              <a:spLocks/>
            </p:cNvSpPr>
            <p:nvPr/>
          </p:nvSpPr>
          <p:spPr bwMode="auto">
            <a:xfrm>
              <a:off x="3833" y="2663"/>
              <a:ext cx="2" cy="2"/>
            </a:xfrm>
            <a:custGeom>
              <a:avLst/>
              <a:gdLst/>
              <a:ahLst/>
              <a:cxnLst>
                <a:cxn ang="0">
                  <a:pos x="1" y="0"/>
                </a:cxn>
                <a:cxn ang="0">
                  <a:pos x="0" y="0"/>
                </a:cxn>
                <a:cxn ang="0">
                  <a:pos x="0" y="1"/>
                </a:cxn>
                <a:cxn ang="0">
                  <a:pos x="1" y="0"/>
                </a:cxn>
              </a:cxnLst>
              <a:rect l="0" t="0" r="r" b="b"/>
              <a:pathLst>
                <a:path w="1" h="1">
                  <a:moveTo>
                    <a:pt x="1" y="0"/>
                  </a:moveTo>
                  <a:lnTo>
                    <a:pt x="0" y="0"/>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5" name="Freeform 84"/>
            <p:cNvSpPr>
              <a:spLocks/>
            </p:cNvSpPr>
            <p:nvPr/>
          </p:nvSpPr>
          <p:spPr bwMode="auto">
            <a:xfrm>
              <a:off x="3820" y="2565"/>
              <a:ext cx="2" cy="2"/>
            </a:xfrm>
            <a:custGeom>
              <a:avLst/>
              <a:gdLst/>
              <a:ahLst/>
              <a:cxnLst>
                <a:cxn ang="0">
                  <a:pos x="1" y="0"/>
                </a:cxn>
                <a:cxn ang="0">
                  <a:pos x="0" y="0"/>
                </a:cxn>
                <a:cxn ang="0">
                  <a:pos x="0" y="2"/>
                </a:cxn>
                <a:cxn ang="0">
                  <a:pos x="1" y="0"/>
                </a:cxn>
              </a:cxnLst>
              <a:rect l="0" t="0" r="r" b="b"/>
              <a:pathLst>
                <a:path w="1" h="2">
                  <a:moveTo>
                    <a:pt x="1" y="0"/>
                  </a:moveTo>
                  <a:lnTo>
                    <a:pt x="0" y="0"/>
                  </a:lnTo>
                  <a:lnTo>
                    <a:pt x="0" y="2"/>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6" name="Freeform 85"/>
            <p:cNvSpPr>
              <a:spLocks/>
            </p:cNvSpPr>
            <p:nvPr/>
          </p:nvSpPr>
          <p:spPr bwMode="auto">
            <a:xfrm>
              <a:off x="3827" y="2670"/>
              <a:ext cx="2" cy="2"/>
            </a:xfrm>
            <a:custGeom>
              <a:avLst/>
              <a:gdLst/>
              <a:ahLst/>
              <a:cxnLst>
                <a:cxn ang="0">
                  <a:pos x="1" y="1"/>
                </a:cxn>
                <a:cxn ang="0">
                  <a:pos x="0" y="0"/>
                </a:cxn>
                <a:cxn ang="0">
                  <a:pos x="0" y="2"/>
                </a:cxn>
                <a:cxn ang="0">
                  <a:pos x="1" y="1"/>
                </a:cxn>
              </a:cxnLst>
              <a:rect l="0" t="0" r="r" b="b"/>
              <a:pathLst>
                <a:path w="1" h="2">
                  <a:moveTo>
                    <a:pt x="1" y="1"/>
                  </a:moveTo>
                  <a:lnTo>
                    <a:pt x="0" y="0"/>
                  </a:lnTo>
                  <a:lnTo>
                    <a:pt x="0" y="2"/>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7" name="Freeform 86"/>
            <p:cNvSpPr>
              <a:spLocks/>
            </p:cNvSpPr>
            <p:nvPr/>
          </p:nvSpPr>
          <p:spPr bwMode="auto">
            <a:xfrm>
              <a:off x="3829" y="2659"/>
              <a:ext cx="2" cy="2"/>
            </a:xfrm>
            <a:custGeom>
              <a:avLst/>
              <a:gdLst/>
              <a:ahLst/>
              <a:cxnLst>
                <a:cxn ang="0">
                  <a:pos x="1" y="0"/>
                </a:cxn>
                <a:cxn ang="0">
                  <a:pos x="0" y="0"/>
                </a:cxn>
                <a:cxn ang="0">
                  <a:pos x="0" y="1"/>
                </a:cxn>
                <a:cxn ang="0">
                  <a:pos x="1" y="0"/>
                </a:cxn>
              </a:cxnLst>
              <a:rect l="0" t="0" r="r" b="b"/>
              <a:pathLst>
                <a:path w="1" h="1">
                  <a:moveTo>
                    <a:pt x="1" y="0"/>
                  </a:moveTo>
                  <a:lnTo>
                    <a:pt x="0" y="0"/>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8" name="Freeform 87"/>
            <p:cNvSpPr>
              <a:spLocks/>
            </p:cNvSpPr>
            <p:nvPr/>
          </p:nvSpPr>
          <p:spPr bwMode="auto">
            <a:xfrm>
              <a:off x="3827" y="2592"/>
              <a:ext cx="2" cy="2"/>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9" name="Freeform 88"/>
            <p:cNvSpPr>
              <a:spLocks/>
            </p:cNvSpPr>
            <p:nvPr/>
          </p:nvSpPr>
          <p:spPr bwMode="auto">
            <a:xfrm>
              <a:off x="3818" y="2572"/>
              <a:ext cx="2" cy="2"/>
            </a:xfrm>
            <a:custGeom>
              <a:avLst/>
              <a:gdLst/>
              <a:ahLst/>
              <a:cxnLst>
                <a:cxn ang="0">
                  <a:pos x="2" y="0"/>
                </a:cxn>
                <a:cxn ang="0">
                  <a:pos x="1" y="0"/>
                </a:cxn>
                <a:cxn ang="0">
                  <a:pos x="0" y="0"/>
                </a:cxn>
                <a:cxn ang="0">
                  <a:pos x="2" y="0"/>
                </a:cxn>
              </a:cxnLst>
              <a:rect l="0" t="0" r="r" b="b"/>
              <a:pathLst>
                <a:path w="2">
                  <a:moveTo>
                    <a:pt x="2" y="0"/>
                  </a:moveTo>
                  <a:lnTo>
                    <a:pt x="1" y="0"/>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0" name="Freeform 89"/>
            <p:cNvSpPr>
              <a:spLocks/>
            </p:cNvSpPr>
            <p:nvPr/>
          </p:nvSpPr>
          <p:spPr bwMode="auto">
            <a:xfrm>
              <a:off x="3813" y="2650"/>
              <a:ext cx="2" cy="2"/>
            </a:xfrm>
            <a:custGeom>
              <a:avLst/>
              <a:gdLst/>
              <a:ahLst/>
              <a:cxnLst>
                <a:cxn ang="0">
                  <a:pos x="2" y="1"/>
                </a:cxn>
                <a:cxn ang="0">
                  <a:pos x="2" y="0"/>
                </a:cxn>
                <a:cxn ang="0">
                  <a:pos x="0" y="0"/>
                </a:cxn>
                <a:cxn ang="0">
                  <a:pos x="2" y="1"/>
                </a:cxn>
              </a:cxnLst>
              <a:rect l="0" t="0" r="r" b="b"/>
              <a:pathLst>
                <a:path w="2" h="1">
                  <a:moveTo>
                    <a:pt x="2" y="1"/>
                  </a:moveTo>
                  <a:lnTo>
                    <a:pt x="2" y="0"/>
                  </a:lnTo>
                  <a:lnTo>
                    <a:pt x="0" y="0"/>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1" name="Freeform 90"/>
            <p:cNvSpPr>
              <a:spLocks/>
            </p:cNvSpPr>
            <p:nvPr/>
          </p:nvSpPr>
          <p:spPr bwMode="auto">
            <a:xfrm>
              <a:off x="3815" y="2563"/>
              <a:ext cx="3" cy="2"/>
            </a:xfrm>
            <a:custGeom>
              <a:avLst/>
              <a:gdLst/>
              <a:ahLst/>
              <a:cxnLst>
                <a:cxn ang="0">
                  <a:pos x="1" y="1"/>
                </a:cxn>
                <a:cxn ang="0">
                  <a:pos x="1" y="0"/>
                </a:cxn>
                <a:cxn ang="0">
                  <a:pos x="0" y="0"/>
                </a:cxn>
                <a:cxn ang="0">
                  <a:pos x="1" y="1"/>
                </a:cxn>
              </a:cxnLst>
              <a:rect l="0" t="0" r="r" b="b"/>
              <a:pathLst>
                <a:path w="1" h="1">
                  <a:moveTo>
                    <a:pt x="1" y="1"/>
                  </a:moveTo>
                  <a:lnTo>
                    <a:pt x="1" y="0"/>
                  </a:ln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2" name="Freeform 91"/>
            <p:cNvSpPr>
              <a:spLocks/>
            </p:cNvSpPr>
            <p:nvPr/>
          </p:nvSpPr>
          <p:spPr bwMode="auto">
            <a:xfrm>
              <a:off x="3827" y="2645"/>
              <a:ext cx="2" cy="2"/>
            </a:xfrm>
            <a:custGeom>
              <a:avLst/>
              <a:gdLst/>
              <a:ahLst/>
              <a:cxnLst>
                <a:cxn ang="0">
                  <a:pos x="1" y="1"/>
                </a:cxn>
                <a:cxn ang="0">
                  <a:pos x="1" y="0"/>
                </a:cxn>
                <a:cxn ang="0">
                  <a:pos x="0" y="0"/>
                </a:cxn>
                <a:cxn ang="0">
                  <a:pos x="1" y="1"/>
                </a:cxn>
              </a:cxnLst>
              <a:rect l="0" t="0" r="r" b="b"/>
              <a:pathLst>
                <a:path w="1" h="1">
                  <a:moveTo>
                    <a:pt x="1" y="1"/>
                  </a:moveTo>
                  <a:lnTo>
                    <a:pt x="1" y="0"/>
                  </a:ln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3" name="Freeform 92"/>
            <p:cNvSpPr>
              <a:spLocks/>
            </p:cNvSpPr>
            <p:nvPr/>
          </p:nvSpPr>
          <p:spPr bwMode="auto">
            <a:xfrm>
              <a:off x="3829" y="2694"/>
              <a:ext cx="2" cy="2"/>
            </a:xfrm>
            <a:custGeom>
              <a:avLst/>
              <a:gdLst/>
              <a:ahLst/>
              <a:cxnLst>
                <a:cxn ang="0">
                  <a:pos x="1" y="0"/>
                </a:cxn>
                <a:cxn ang="0">
                  <a:pos x="1" y="1"/>
                </a:cxn>
                <a:cxn ang="0">
                  <a:pos x="0" y="1"/>
                </a:cxn>
                <a:cxn ang="0">
                  <a:pos x="1" y="0"/>
                </a:cxn>
              </a:cxnLst>
              <a:rect l="0" t="0" r="r" b="b"/>
              <a:pathLst>
                <a:path w="1" h="1">
                  <a:moveTo>
                    <a:pt x="1" y="0"/>
                  </a:moveTo>
                  <a:lnTo>
                    <a:pt x="1" y="1"/>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4" name="Freeform 93"/>
            <p:cNvSpPr>
              <a:spLocks/>
            </p:cNvSpPr>
            <p:nvPr/>
          </p:nvSpPr>
          <p:spPr bwMode="auto">
            <a:xfrm>
              <a:off x="3815" y="2567"/>
              <a:ext cx="3" cy="3"/>
            </a:xfrm>
            <a:custGeom>
              <a:avLst/>
              <a:gdLst/>
              <a:ahLst/>
              <a:cxnLst>
                <a:cxn ang="0">
                  <a:pos x="1" y="0"/>
                </a:cxn>
                <a:cxn ang="0">
                  <a:pos x="1" y="1"/>
                </a:cxn>
                <a:cxn ang="0">
                  <a:pos x="0" y="3"/>
                </a:cxn>
                <a:cxn ang="0">
                  <a:pos x="1" y="0"/>
                </a:cxn>
              </a:cxnLst>
              <a:rect l="0" t="0" r="r" b="b"/>
              <a:pathLst>
                <a:path w="1" h="3">
                  <a:moveTo>
                    <a:pt x="1" y="0"/>
                  </a:moveTo>
                  <a:lnTo>
                    <a:pt x="1" y="1"/>
                  </a:lnTo>
                  <a:lnTo>
                    <a:pt x="0" y="3"/>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5" name="Freeform 94"/>
            <p:cNvSpPr>
              <a:spLocks/>
            </p:cNvSpPr>
            <p:nvPr/>
          </p:nvSpPr>
          <p:spPr bwMode="auto">
            <a:xfrm>
              <a:off x="3827" y="2654"/>
              <a:ext cx="2" cy="2"/>
            </a:xfrm>
            <a:custGeom>
              <a:avLst/>
              <a:gdLst/>
              <a:ahLst/>
              <a:cxnLst>
                <a:cxn ang="0">
                  <a:pos x="2" y="0"/>
                </a:cxn>
                <a:cxn ang="0">
                  <a:pos x="2" y="2"/>
                </a:cxn>
                <a:cxn ang="0">
                  <a:pos x="0" y="0"/>
                </a:cxn>
                <a:cxn ang="0">
                  <a:pos x="2" y="0"/>
                </a:cxn>
              </a:cxnLst>
              <a:rect l="0" t="0" r="r" b="b"/>
              <a:pathLst>
                <a:path w="2" h="2">
                  <a:moveTo>
                    <a:pt x="2" y="0"/>
                  </a:moveTo>
                  <a:lnTo>
                    <a:pt x="2" y="2"/>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6" name="Freeform 95"/>
            <p:cNvSpPr>
              <a:spLocks/>
            </p:cNvSpPr>
            <p:nvPr/>
          </p:nvSpPr>
          <p:spPr bwMode="auto">
            <a:xfrm>
              <a:off x="3827" y="2614"/>
              <a:ext cx="2" cy="2"/>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7" name="Freeform 96"/>
            <p:cNvSpPr>
              <a:spLocks/>
            </p:cNvSpPr>
            <p:nvPr/>
          </p:nvSpPr>
          <p:spPr bwMode="auto">
            <a:xfrm>
              <a:off x="3342" y="2892"/>
              <a:ext cx="7" cy="2"/>
            </a:xfrm>
            <a:custGeom>
              <a:avLst/>
              <a:gdLst/>
              <a:ahLst/>
              <a:cxnLst>
                <a:cxn ang="0">
                  <a:pos x="6" y="0"/>
                </a:cxn>
                <a:cxn ang="0">
                  <a:pos x="4" y="0"/>
                </a:cxn>
                <a:cxn ang="0">
                  <a:pos x="0" y="1"/>
                </a:cxn>
                <a:cxn ang="0">
                  <a:pos x="6" y="0"/>
                </a:cxn>
              </a:cxnLst>
              <a:rect l="0" t="0" r="r" b="b"/>
              <a:pathLst>
                <a:path w="6" h="1">
                  <a:moveTo>
                    <a:pt x="6" y="0"/>
                  </a:moveTo>
                  <a:lnTo>
                    <a:pt x="4" y="0"/>
                  </a:lnTo>
                  <a:lnTo>
                    <a:pt x="0" y="1"/>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8" name="Freeform 97"/>
            <p:cNvSpPr>
              <a:spLocks/>
            </p:cNvSpPr>
            <p:nvPr/>
          </p:nvSpPr>
          <p:spPr bwMode="auto">
            <a:xfrm>
              <a:off x="3395" y="2183"/>
              <a:ext cx="3" cy="4"/>
            </a:xfrm>
            <a:custGeom>
              <a:avLst/>
              <a:gdLst/>
              <a:ahLst/>
              <a:cxnLst>
                <a:cxn ang="0">
                  <a:pos x="0" y="0"/>
                </a:cxn>
                <a:cxn ang="0">
                  <a:pos x="0" y="3"/>
                </a:cxn>
                <a:cxn ang="0">
                  <a:pos x="1" y="1"/>
                </a:cxn>
                <a:cxn ang="0">
                  <a:pos x="0" y="0"/>
                </a:cxn>
              </a:cxnLst>
              <a:rect l="0" t="0" r="r" b="b"/>
              <a:pathLst>
                <a:path w="1" h="3">
                  <a:moveTo>
                    <a:pt x="0" y="0"/>
                  </a:moveTo>
                  <a:lnTo>
                    <a:pt x="0" y="3"/>
                  </a:lnTo>
                  <a:lnTo>
                    <a:pt x="1"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9" name="Freeform 98"/>
            <p:cNvSpPr>
              <a:spLocks/>
            </p:cNvSpPr>
            <p:nvPr/>
          </p:nvSpPr>
          <p:spPr bwMode="auto">
            <a:xfrm>
              <a:off x="2769" y="2236"/>
              <a:ext cx="180" cy="318"/>
            </a:xfrm>
            <a:custGeom>
              <a:avLst/>
              <a:gdLst/>
              <a:ahLst/>
              <a:cxnLst>
                <a:cxn ang="0">
                  <a:pos x="160" y="72"/>
                </a:cxn>
                <a:cxn ang="0">
                  <a:pos x="145" y="63"/>
                </a:cxn>
                <a:cxn ang="0">
                  <a:pos x="129" y="54"/>
                </a:cxn>
                <a:cxn ang="0">
                  <a:pos x="112" y="45"/>
                </a:cxn>
                <a:cxn ang="0">
                  <a:pos x="97" y="36"/>
                </a:cxn>
                <a:cxn ang="0">
                  <a:pos x="81" y="27"/>
                </a:cxn>
                <a:cxn ang="0">
                  <a:pos x="66" y="18"/>
                </a:cxn>
                <a:cxn ang="0">
                  <a:pos x="50" y="9"/>
                </a:cxn>
                <a:cxn ang="0">
                  <a:pos x="34" y="0"/>
                </a:cxn>
                <a:cxn ang="0">
                  <a:pos x="19" y="9"/>
                </a:cxn>
                <a:cxn ang="0">
                  <a:pos x="20" y="22"/>
                </a:cxn>
                <a:cxn ang="0">
                  <a:pos x="22" y="36"/>
                </a:cxn>
                <a:cxn ang="0">
                  <a:pos x="36" y="56"/>
                </a:cxn>
                <a:cxn ang="0">
                  <a:pos x="32" y="64"/>
                </a:cxn>
                <a:cxn ang="0">
                  <a:pos x="31" y="78"/>
                </a:cxn>
                <a:cxn ang="0">
                  <a:pos x="30" y="91"/>
                </a:cxn>
                <a:cxn ang="0">
                  <a:pos x="30" y="105"/>
                </a:cxn>
                <a:cxn ang="0">
                  <a:pos x="28" y="118"/>
                </a:cxn>
                <a:cxn ang="0">
                  <a:pos x="21" y="129"/>
                </a:cxn>
                <a:cxn ang="0">
                  <a:pos x="14" y="140"/>
                </a:cxn>
                <a:cxn ang="0">
                  <a:pos x="7" y="151"/>
                </a:cxn>
                <a:cxn ang="0">
                  <a:pos x="0" y="162"/>
                </a:cxn>
                <a:cxn ang="0">
                  <a:pos x="1" y="176"/>
                </a:cxn>
                <a:cxn ang="0">
                  <a:pos x="8" y="187"/>
                </a:cxn>
                <a:cxn ang="0">
                  <a:pos x="14" y="187"/>
                </a:cxn>
                <a:cxn ang="0">
                  <a:pos x="21" y="205"/>
                </a:cxn>
                <a:cxn ang="0">
                  <a:pos x="24" y="225"/>
                </a:cxn>
                <a:cxn ang="0">
                  <a:pos x="34" y="243"/>
                </a:cxn>
                <a:cxn ang="0">
                  <a:pos x="15" y="243"/>
                </a:cxn>
                <a:cxn ang="0">
                  <a:pos x="8" y="247"/>
                </a:cxn>
                <a:cxn ang="0">
                  <a:pos x="21" y="264"/>
                </a:cxn>
                <a:cxn ang="0">
                  <a:pos x="31" y="286"/>
                </a:cxn>
                <a:cxn ang="0">
                  <a:pos x="46" y="282"/>
                </a:cxn>
                <a:cxn ang="0">
                  <a:pos x="49" y="284"/>
                </a:cxn>
                <a:cxn ang="0">
                  <a:pos x="58" y="283"/>
                </a:cxn>
                <a:cxn ang="0">
                  <a:pos x="80" y="278"/>
                </a:cxn>
                <a:cxn ang="0">
                  <a:pos x="87" y="268"/>
                </a:cxn>
                <a:cxn ang="0">
                  <a:pos x="85" y="264"/>
                </a:cxn>
                <a:cxn ang="0">
                  <a:pos x="108" y="259"/>
                </a:cxn>
                <a:cxn ang="0">
                  <a:pos x="120" y="244"/>
                </a:cxn>
                <a:cxn ang="0">
                  <a:pos x="132" y="230"/>
                </a:cxn>
                <a:cxn ang="0">
                  <a:pos x="147" y="226"/>
                </a:cxn>
                <a:cxn ang="0">
                  <a:pos x="146" y="216"/>
                </a:cxn>
                <a:cxn ang="0">
                  <a:pos x="142" y="206"/>
                </a:cxn>
                <a:cxn ang="0">
                  <a:pos x="136" y="193"/>
                </a:cxn>
                <a:cxn ang="0">
                  <a:pos x="130" y="192"/>
                </a:cxn>
                <a:cxn ang="0">
                  <a:pos x="135" y="178"/>
                </a:cxn>
                <a:cxn ang="0">
                  <a:pos x="138" y="170"/>
                </a:cxn>
                <a:cxn ang="0">
                  <a:pos x="139" y="165"/>
                </a:cxn>
                <a:cxn ang="0">
                  <a:pos x="139" y="159"/>
                </a:cxn>
                <a:cxn ang="0">
                  <a:pos x="147" y="145"/>
                </a:cxn>
                <a:cxn ang="0">
                  <a:pos x="152" y="140"/>
                </a:cxn>
                <a:cxn ang="0">
                  <a:pos x="163" y="140"/>
                </a:cxn>
                <a:cxn ang="0">
                  <a:pos x="162" y="123"/>
                </a:cxn>
                <a:cxn ang="0">
                  <a:pos x="162" y="106"/>
                </a:cxn>
                <a:cxn ang="0">
                  <a:pos x="160" y="88"/>
                </a:cxn>
                <a:cxn ang="0">
                  <a:pos x="160" y="72"/>
                </a:cxn>
              </a:cxnLst>
              <a:rect l="0" t="0" r="r" b="b"/>
              <a:pathLst>
                <a:path w="163" h="286">
                  <a:moveTo>
                    <a:pt x="160" y="72"/>
                  </a:moveTo>
                  <a:lnTo>
                    <a:pt x="145" y="63"/>
                  </a:lnTo>
                  <a:lnTo>
                    <a:pt x="129" y="54"/>
                  </a:lnTo>
                  <a:lnTo>
                    <a:pt x="112" y="45"/>
                  </a:lnTo>
                  <a:lnTo>
                    <a:pt x="97" y="36"/>
                  </a:lnTo>
                  <a:lnTo>
                    <a:pt x="81" y="27"/>
                  </a:lnTo>
                  <a:lnTo>
                    <a:pt x="66" y="18"/>
                  </a:lnTo>
                  <a:lnTo>
                    <a:pt x="50" y="9"/>
                  </a:lnTo>
                  <a:lnTo>
                    <a:pt x="34" y="0"/>
                  </a:lnTo>
                  <a:lnTo>
                    <a:pt x="19" y="9"/>
                  </a:lnTo>
                  <a:lnTo>
                    <a:pt x="20" y="22"/>
                  </a:lnTo>
                  <a:lnTo>
                    <a:pt x="22" y="36"/>
                  </a:lnTo>
                  <a:lnTo>
                    <a:pt x="36" y="56"/>
                  </a:lnTo>
                  <a:lnTo>
                    <a:pt x="32" y="64"/>
                  </a:lnTo>
                  <a:lnTo>
                    <a:pt x="31" y="78"/>
                  </a:lnTo>
                  <a:lnTo>
                    <a:pt x="30" y="91"/>
                  </a:lnTo>
                  <a:lnTo>
                    <a:pt x="30" y="105"/>
                  </a:lnTo>
                  <a:lnTo>
                    <a:pt x="28" y="118"/>
                  </a:lnTo>
                  <a:lnTo>
                    <a:pt x="21" y="129"/>
                  </a:lnTo>
                  <a:lnTo>
                    <a:pt x="14" y="140"/>
                  </a:lnTo>
                  <a:lnTo>
                    <a:pt x="7" y="151"/>
                  </a:lnTo>
                  <a:lnTo>
                    <a:pt x="0" y="162"/>
                  </a:lnTo>
                  <a:lnTo>
                    <a:pt x="1" y="176"/>
                  </a:lnTo>
                  <a:lnTo>
                    <a:pt x="8" y="187"/>
                  </a:lnTo>
                  <a:lnTo>
                    <a:pt x="14" y="187"/>
                  </a:lnTo>
                  <a:lnTo>
                    <a:pt x="21" y="205"/>
                  </a:lnTo>
                  <a:lnTo>
                    <a:pt x="24" y="225"/>
                  </a:lnTo>
                  <a:lnTo>
                    <a:pt x="34" y="243"/>
                  </a:lnTo>
                  <a:lnTo>
                    <a:pt x="15" y="243"/>
                  </a:lnTo>
                  <a:lnTo>
                    <a:pt x="8" y="247"/>
                  </a:lnTo>
                  <a:lnTo>
                    <a:pt x="21" y="264"/>
                  </a:lnTo>
                  <a:lnTo>
                    <a:pt x="31" y="286"/>
                  </a:lnTo>
                  <a:lnTo>
                    <a:pt x="46" y="282"/>
                  </a:lnTo>
                  <a:lnTo>
                    <a:pt x="49" y="284"/>
                  </a:lnTo>
                  <a:lnTo>
                    <a:pt x="58" y="283"/>
                  </a:lnTo>
                  <a:lnTo>
                    <a:pt x="80" y="278"/>
                  </a:lnTo>
                  <a:lnTo>
                    <a:pt x="87" y="268"/>
                  </a:lnTo>
                  <a:lnTo>
                    <a:pt x="85" y="264"/>
                  </a:lnTo>
                  <a:lnTo>
                    <a:pt x="108" y="259"/>
                  </a:lnTo>
                  <a:lnTo>
                    <a:pt x="120" y="244"/>
                  </a:lnTo>
                  <a:lnTo>
                    <a:pt x="132" y="230"/>
                  </a:lnTo>
                  <a:lnTo>
                    <a:pt x="147" y="226"/>
                  </a:lnTo>
                  <a:lnTo>
                    <a:pt x="146" y="216"/>
                  </a:lnTo>
                  <a:lnTo>
                    <a:pt x="142" y="206"/>
                  </a:lnTo>
                  <a:lnTo>
                    <a:pt x="136" y="193"/>
                  </a:lnTo>
                  <a:lnTo>
                    <a:pt x="130" y="192"/>
                  </a:lnTo>
                  <a:lnTo>
                    <a:pt x="135" y="178"/>
                  </a:lnTo>
                  <a:lnTo>
                    <a:pt x="138" y="170"/>
                  </a:lnTo>
                  <a:lnTo>
                    <a:pt x="139" y="165"/>
                  </a:lnTo>
                  <a:lnTo>
                    <a:pt x="139" y="159"/>
                  </a:lnTo>
                  <a:lnTo>
                    <a:pt x="147" y="145"/>
                  </a:lnTo>
                  <a:lnTo>
                    <a:pt x="152" y="140"/>
                  </a:lnTo>
                  <a:lnTo>
                    <a:pt x="163" y="140"/>
                  </a:lnTo>
                  <a:lnTo>
                    <a:pt x="162" y="123"/>
                  </a:lnTo>
                  <a:lnTo>
                    <a:pt x="162" y="106"/>
                  </a:lnTo>
                  <a:lnTo>
                    <a:pt x="160" y="88"/>
                  </a:lnTo>
                  <a:lnTo>
                    <a:pt x="160" y="7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0" name="Freeform 99"/>
            <p:cNvSpPr>
              <a:spLocks/>
            </p:cNvSpPr>
            <p:nvPr/>
          </p:nvSpPr>
          <p:spPr bwMode="auto">
            <a:xfrm>
              <a:off x="3264" y="2454"/>
              <a:ext cx="25" cy="31"/>
            </a:xfrm>
            <a:custGeom>
              <a:avLst/>
              <a:gdLst/>
              <a:ahLst/>
              <a:cxnLst>
                <a:cxn ang="0">
                  <a:pos x="0" y="28"/>
                </a:cxn>
                <a:cxn ang="0">
                  <a:pos x="18" y="28"/>
                </a:cxn>
                <a:cxn ang="0">
                  <a:pos x="22" y="20"/>
                </a:cxn>
                <a:cxn ang="0">
                  <a:pos x="16" y="0"/>
                </a:cxn>
                <a:cxn ang="0">
                  <a:pos x="10" y="2"/>
                </a:cxn>
                <a:cxn ang="0">
                  <a:pos x="0" y="28"/>
                </a:cxn>
              </a:cxnLst>
              <a:rect l="0" t="0" r="r" b="b"/>
              <a:pathLst>
                <a:path w="22" h="28">
                  <a:moveTo>
                    <a:pt x="0" y="28"/>
                  </a:moveTo>
                  <a:lnTo>
                    <a:pt x="18" y="28"/>
                  </a:lnTo>
                  <a:lnTo>
                    <a:pt x="22" y="20"/>
                  </a:lnTo>
                  <a:lnTo>
                    <a:pt x="16" y="0"/>
                  </a:lnTo>
                  <a:lnTo>
                    <a:pt x="10" y="2"/>
                  </a:lnTo>
                  <a:lnTo>
                    <a:pt x="0"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1" name="Freeform 100"/>
            <p:cNvSpPr>
              <a:spLocks/>
            </p:cNvSpPr>
            <p:nvPr/>
          </p:nvSpPr>
          <p:spPr bwMode="auto">
            <a:xfrm>
              <a:off x="3167" y="2347"/>
              <a:ext cx="115" cy="114"/>
            </a:xfrm>
            <a:custGeom>
              <a:avLst/>
              <a:gdLst/>
              <a:ahLst/>
              <a:cxnLst>
                <a:cxn ang="0">
                  <a:pos x="0" y="78"/>
                </a:cxn>
                <a:cxn ang="0">
                  <a:pos x="2" y="65"/>
                </a:cxn>
                <a:cxn ang="0">
                  <a:pos x="4" y="40"/>
                </a:cxn>
                <a:cxn ang="0">
                  <a:pos x="10" y="17"/>
                </a:cxn>
                <a:cxn ang="0">
                  <a:pos x="20" y="10"/>
                </a:cxn>
                <a:cxn ang="0">
                  <a:pos x="29" y="3"/>
                </a:cxn>
                <a:cxn ang="0">
                  <a:pos x="32" y="0"/>
                </a:cxn>
                <a:cxn ang="0">
                  <a:pos x="36" y="12"/>
                </a:cxn>
                <a:cxn ang="0">
                  <a:pos x="41" y="25"/>
                </a:cxn>
                <a:cxn ang="0">
                  <a:pos x="46" y="39"/>
                </a:cxn>
                <a:cxn ang="0">
                  <a:pos x="52" y="52"/>
                </a:cxn>
                <a:cxn ang="0">
                  <a:pos x="52" y="47"/>
                </a:cxn>
                <a:cxn ang="0">
                  <a:pos x="57" y="49"/>
                </a:cxn>
                <a:cxn ang="0">
                  <a:pos x="70" y="59"/>
                </a:cxn>
                <a:cxn ang="0">
                  <a:pos x="87" y="76"/>
                </a:cxn>
                <a:cxn ang="0">
                  <a:pos x="104" y="93"/>
                </a:cxn>
                <a:cxn ang="0">
                  <a:pos x="105" y="96"/>
                </a:cxn>
                <a:cxn ang="0">
                  <a:pos x="104" y="97"/>
                </a:cxn>
                <a:cxn ang="0">
                  <a:pos x="98" y="99"/>
                </a:cxn>
                <a:cxn ang="0">
                  <a:pos x="90" y="102"/>
                </a:cxn>
                <a:cxn ang="0">
                  <a:pos x="89" y="99"/>
                </a:cxn>
                <a:cxn ang="0">
                  <a:pos x="75" y="94"/>
                </a:cxn>
                <a:cxn ang="0">
                  <a:pos x="65" y="83"/>
                </a:cxn>
                <a:cxn ang="0">
                  <a:pos x="60" y="77"/>
                </a:cxn>
                <a:cxn ang="0">
                  <a:pos x="51" y="72"/>
                </a:cxn>
                <a:cxn ang="0">
                  <a:pos x="42" y="70"/>
                </a:cxn>
                <a:cxn ang="0">
                  <a:pos x="33" y="71"/>
                </a:cxn>
                <a:cxn ang="0">
                  <a:pos x="24" y="63"/>
                </a:cxn>
                <a:cxn ang="0">
                  <a:pos x="22" y="77"/>
                </a:cxn>
                <a:cxn ang="0">
                  <a:pos x="15" y="71"/>
                </a:cxn>
                <a:cxn ang="0">
                  <a:pos x="8" y="79"/>
                </a:cxn>
                <a:cxn ang="0">
                  <a:pos x="0" y="78"/>
                </a:cxn>
              </a:cxnLst>
              <a:rect l="0" t="0" r="r" b="b"/>
              <a:pathLst>
                <a:path w="105" h="102">
                  <a:moveTo>
                    <a:pt x="0" y="78"/>
                  </a:moveTo>
                  <a:lnTo>
                    <a:pt x="2" y="65"/>
                  </a:lnTo>
                  <a:lnTo>
                    <a:pt x="4" y="40"/>
                  </a:lnTo>
                  <a:lnTo>
                    <a:pt x="10" y="17"/>
                  </a:lnTo>
                  <a:lnTo>
                    <a:pt x="20" y="10"/>
                  </a:lnTo>
                  <a:lnTo>
                    <a:pt x="29" y="3"/>
                  </a:lnTo>
                  <a:lnTo>
                    <a:pt x="32" y="0"/>
                  </a:lnTo>
                  <a:lnTo>
                    <a:pt x="36" y="12"/>
                  </a:lnTo>
                  <a:lnTo>
                    <a:pt x="41" y="25"/>
                  </a:lnTo>
                  <a:lnTo>
                    <a:pt x="46" y="39"/>
                  </a:lnTo>
                  <a:lnTo>
                    <a:pt x="52" y="52"/>
                  </a:lnTo>
                  <a:lnTo>
                    <a:pt x="52" y="47"/>
                  </a:lnTo>
                  <a:lnTo>
                    <a:pt x="57" y="49"/>
                  </a:lnTo>
                  <a:lnTo>
                    <a:pt x="70" y="59"/>
                  </a:lnTo>
                  <a:lnTo>
                    <a:pt x="87" y="76"/>
                  </a:lnTo>
                  <a:lnTo>
                    <a:pt x="104" y="93"/>
                  </a:lnTo>
                  <a:lnTo>
                    <a:pt x="105" y="96"/>
                  </a:lnTo>
                  <a:lnTo>
                    <a:pt x="104" y="97"/>
                  </a:lnTo>
                  <a:lnTo>
                    <a:pt x="98" y="99"/>
                  </a:lnTo>
                  <a:lnTo>
                    <a:pt x="90" y="102"/>
                  </a:lnTo>
                  <a:lnTo>
                    <a:pt x="89" y="99"/>
                  </a:lnTo>
                  <a:lnTo>
                    <a:pt x="75" y="94"/>
                  </a:lnTo>
                  <a:lnTo>
                    <a:pt x="65" y="83"/>
                  </a:lnTo>
                  <a:lnTo>
                    <a:pt x="60" y="77"/>
                  </a:lnTo>
                  <a:lnTo>
                    <a:pt x="51" y="72"/>
                  </a:lnTo>
                  <a:lnTo>
                    <a:pt x="42" y="70"/>
                  </a:lnTo>
                  <a:lnTo>
                    <a:pt x="33" y="71"/>
                  </a:lnTo>
                  <a:lnTo>
                    <a:pt x="24" y="63"/>
                  </a:lnTo>
                  <a:lnTo>
                    <a:pt x="22" y="77"/>
                  </a:lnTo>
                  <a:lnTo>
                    <a:pt x="15" y="71"/>
                  </a:lnTo>
                  <a:lnTo>
                    <a:pt x="8" y="79"/>
                  </a:lnTo>
                  <a:lnTo>
                    <a:pt x="0" y="7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2" name="Freeform 101"/>
            <p:cNvSpPr>
              <a:spLocks/>
            </p:cNvSpPr>
            <p:nvPr/>
          </p:nvSpPr>
          <p:spPr bwMode="auto">
            <a:xfrm>
              <a:off x="3111" y="2416"/>
              <a:ext cx="262" cy="220"/>
            </a:xfrm>
            <a:custGeom>
              <a:avLst/>
              <a:gdLst/>
              <a:ahLst/>
              <a:cxnLst>
                <a:cxn ang="0">
                  <a:pos x="80" y="193"/>
                </a:cxn>
                <a:cxn ang="0">
                  <a:pos x="61" y="180"/>
                </a:cxn>
                <a:cxn ang="0">
                  <a:pos x="48" y="177"/>
                </a:cxn>
                <a:cxn ang="0">
                  <a:pos x="43" y="163"/>
                </a:cxn>
                <a:cxn ang="0">
                  <a:pos x="34" y="159"/>
                </a:cxn>
                <a:cxn ang="0">
                  <a:pos x="28" y="147"/>
                </a:cxn>
                <a:cxn ang="0">
                  <a:pos x="22" y="135"/>
                </a:cxn>
                <a:cxn ang="0">
                  <a:pos x="6" y="121"/>
                </a:cxn>
                <a:cxn ang="0">
                  <a:pos x="0" y="116"/>
                </a:cxn>
                <a:cxn ang="0">
                  <a:pos x="6" y="109"/>
                </a:cxn>
                <a:cxn ang="0">
                  <a:pos x="18" y="106"/>
                </a:cxn>
                <a:cxn ang="0">
                  <a:pos x="19" y="86"/>
                </a:cxn>
                <a:cxn ang="0">
                  <a:pos x="22" y="67"/>
                </a:cxn>
                <a:cxn ang="0">
                  <a:pos x="30" y="64"/>
                </a:cxn>
                <a:cxn ang="0">
                  <a:pos x="34" y="45"/>
                </a:cxn>
                <a:cxn ang="0">
                  <a:pos x="50" y="15"/>
                </a:cxn>
                <a:cxn ang="0">
                  <a:pos x="58" y="16"/>
                </a:cxn>
                <a:cxn ang="0">
                  <a:pos x="65" y="8"/>
                </a:cxn>
                <a:cxn ang="0">
                  <a:pos x="72" y="14"/>
                </a:cxn>
                <a:cxn ang="0">
                  <a:pos x="74" y="0"/>
                </a:cxn>
                <a:cxn ang="0">
                  <a:pos x="83" y="8"/>
                </a:cxn>
                <a:cxn ang="0">
                  <a:pos x="92" y="7"/>
                </a:cxn>
                <a:cxn ang="0">
                  <a:pos x="101" y="9"/>
                </a:cxn>
                <a:cxn ang="0">
                  <a:pos x="110" y="14"/>
                </a:cxn>
                <a:cxn ang="0">
                  <a:pos x="115" y="20"/>
                </a:cxn>
                <a:cxn ang="0">
                  <a:pos x="125" y="31"/>
                </a:cxn>
                <a:cxn ang="0">
                  <a:pos x="139" y="36"/>
                </a:cxn>
                <a:cxn ang="0">
                  <a:pos x="140" y="39"/>
                </a:cxn>
                <a:cxn ang="0">
                  <a:pos x="148" y="36"/>
                </a:cxn>
                <a:cxn ang="0">
                  <a:pos x="138" y="62"/>
                </a:cxn>
                <a:cxn ang="0">
                  <a:pos x="156" y="62"/>
                </a:cxn>
                <a:cxn ang="0">
                  <a:pos x="154" y="73"/>
                </a:cxn>
                <a:cxn ang="0">
                  <a:pos x="163" y="85"/>
                </a:cxn>
                <a:cxn ang="0">
                  <a:pos x="174" y="98"/>
                </a:cxn>
                <a:cxn ang="0">
                  <a:pos x="186" y="103"/>
                </a:cxn>
                <a:cxn ang="0">
                  <a:pos x="198" y="108"/>
                </a:cxn>
                <a:cxn ang="0">
                  <a:pos x="210" y="112"/>
                </a:cxn>
                <a:cxn ang="0">
                  <a:pos x="221" y="116"/>
                </a:cxn>
                <a:cxn ang="0">
                  <a:pos x="236" y="116"/>
                </a:cxn>
                <a:cxn ang="0">
                  <a:pos x="226" y="130"/>
                </a:cxn>
                <a:cxn ang="0">
                  <a:pos x="214" y="144"/>
                </a:cxn>
                <a:cxn ang="0">
                  <a:pos x="202" y="158"/>
                </a:cxn>
                <a:cxn ang="0">
                  <a:pos x="191" y="172"/>
                </a:cxn>
                <a:cxn ang="0">
                  <a:pos x="178" y="174"/>
                </a:cxn>
                <a:cxn ang="0">
                  <a:pos x="166" y="175"/>
                </a:cxn>
                <a:cxn ang="0">
                  <a:pos x="150" y="184"/>
                </a:cxn>
                <a:cxn ang="0">
                  <a:pos x="143" y="189"/>
                </a:cxn>
                <a:cxn ang="0">
                  <a:pos x="126" y="186"/>
                </a:cxn>
                <a:cxn ang="0">
                  <a:pos x="110" y="190"/>
                </a:cxn>
                <a:cxn ang="0">
                  <a:pos x="102" y="198"/>
                </a:cxn>
                <a:cxn ang="0">
                  <a:pos x="80" y="193"/>
                </a:cxn>
              </a:cxnLst>
              <a:rect l="0" t="0" r="r" b="b"/>
              <a:pathLst>
                <a:path w="236" h="198">
                  <a:moveTo>
                    <a:pt x="80" y="193"/>
                  </a:moveTo>
                  <a:lnTo>
                    <a:pt x="61" y="180"/>
                  </a:lnTo>
                  <a:lnTo>
                    <a:pt x="48" y="177"/>
                  </a:lnTo>
                  <a:lnTo>
                    <a:pt x="43" y="163"/>
                  </a:lnTo>
                  <a:lnTo>
                    <a:pt x="34" y="159"/>
                  </a:lnTo>
                  <a:lnTo>
                    <a:pt x="28" y="147"/>
                  </a:lnTo>
                  <a:lnTo>
                    <a:pt x="22" y="135"/>
                  </a:lnTo>
                  <a:lnTo>
                    <a:pt x="6" y="121"/>
                  </a:lnTo>
                  <a:lnTo>
                    <a:pt x="0" y="116"/>
                  </a:lnTo>
                  <a:lnTo>
                    <a:pt x="6" y="109"/>
                  </a:lnTo>
                  <a:lnTo>
                    <a:pt x="18" y="106"/>
                  </a:lnTo>
                  <a:lnTo>
                    <a:pt x="19" y="86"/>
                  </a:lnTo>
                  <a:lnTo>
                    <a:pt x="22" y="67"/>
                  </a:lnTo>
                  <a:lnTo>
                    <a:pt x="30" y="64"/>
                  </a:lnTo>
                  <a:lnTo>
                    <a:pt x="34" y="45"/>
                  </a:lnTo>
                  <a:lnTo>
                    <a:pt x="50" y="15"/>
                  </a:lnTo>
                  <a:lnTo>
                    <a:pt x="58" y="16"/>
                  </a:lnTo>
                  <a:lnTo>
                    <a:pt x="65" y="8"/>
                  </a:lnTo>
                  <a:lnTo>
                    <a:pt x="72" y="14"/>
                  </a:lnTo>
                  <a:lnTo>
                    <a:pt x="74" y="0"/>
                  </a:lnTo>
                  <a:lnTo>
                    <a:pt x="83" y="8"/>
                  </a:lnTo>
                  <a:lnTo>
                    <a:pt x="92" y="7"/>
                  </a:lnTo>
                  <a:lnTo>
                    <a:pt x="101" y="9"/>
                  </a:lnTo>
                  <a:lnTo>
                    <a:pt x="110" y="14"/>
                  </a:lnTo>
                  <a:lnTo>
                    <a:pt x="115" y="20"/>
                  </a:lnTo>
                  <a:lnTo>
                    <a:pt x="125" y="31"/>
                  </a:lnTo>
                  <a:lnTo>
                    <a:pt x="139" y="36"/>
                  </a:lnTo>
                  <a:lnTo>
                    <a:pt x="140" y="39"/>
                  </a:lnTo>
                  <a:lnTo>
                    <a:pt x="148" y="36"/>
                  </a:lnTo>
                  <a:lnTo>
                    <a:pt x="138" y="62"/>
                  </a:lnTo>
                  <a:lnTo>
                    <a:pt x="156" y="62"/>
                  </a:lnTo>
                  <a:lnTo>
                    <a:pt x="154" y="73"/>
                  </a:lnTo>
                  <a:lnTo>
                    <a:pt x="163" y="85"/>
                  </a:lnTo>
                  <a:lnTo>
                    <a:pt x="174" y="98"/>
                  </a:lnTo>
                  <a:lnTo>
                    <a:pt x="186" y="103"/>
                  </a:lnTo>
                  <a:lnTo>
                    <a:pt x="198" y="108"/>
                  </a:lnTo>
                  <a:lnTo>
                    <a:pt x="210" y="112"/>
                  </a:lnTo>
                  <a:lnTo>
                    <a:pt x="221" y="116"/>
                  </a:lnTo>
                  <a:lnTo>
                    <a:pt x="236" y="116"/>
                  </a:lnTo>
                  <a:lnTo>
                    <a:pt x="226" y="130"/>
                  </a:lnTo>
                  <a:lnTo>
                    <a:pt x="214" y="144"/>
                  </a:lnTo>
                  <a:lnTo>
                    <a:pt x="202" y="158"/>
                  </a:lnTo>
                  <a:lnTo>
                    <a:pt x="191" y="172"/>
                  </a:lnTo>
                  <a:lnTo>
                    <a:pt x="178" y="174"/>
                  </a:lnTo>
                  <a:lnTo>
                    <a:pt x="166" y="175"/>
                  </a:lnTo>
                  <a:lnTo>
                    <a:pt x="150" y="184"/>
                  </a:lnTo>
                  <a:lnTo>
                    <a:pt x="143" y="189"/>
                  </a:lnTo>
                  <a:lnTo>
                    <a:pt x="126" y="186"/>
                  </a:lnTo>
                  <a:lnTo>
                    <a:pt x="110" y="190"/>
                  </a:lnTo>
                  <a:lnTo>
                    <a:pt x="102" y="198"/>
                  </a:lnTo>
                  <a:lnTo>
                    <a:pt x="80" y="1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3" name="Freeform 102"/>
            <p:cNvSpPr>
              <a:spLocks/>
            </p:cNvSpPr>
            <p:nvPr/>
          </p:nvSpPr>
          <p:spPr bwMode="auto">
            <a:xfrm>
              <a:off x="3253" y="2467"/>
              <a:ext cx="176" cy="272"/>
            </a:xfrm>
            <a:custGeom>
              <a:avLst/>
              <a:gdLst/>
              <a:ahLst/>
              <a:cxnLst>
                <a:cxn ang="0">
                  <a:pos x="154" y="34"/>
                </a:cxn>
                <a:cxn ang="0">
                  <a:pos x="149" y="54"/>
                </a:cxn>
                <a:cxn ang="0">
                  <a:pos x="138" y="76"/>
                </a:cxn>
                <a:cxn ang="0">
                  <a:pos x="128" y="96"/>
                </a:cxn>
                <a:cxn ang="0">
                  <a:pos x="117" y="118"/>
                </a:cxn>
                <a:cxn ang="0">
                  <a:pos x="106" y="139"/>
                </a:cxn>
                <a:cxn ang="0">
                  <a:pos x="96" y="150"/>
                </a:cxn>
                <a:cxn ang="0">
                  <a:pos x="87" y="160"/>
                </a:cxn>
                <a:cxn ang="0">
                  <a:pos x="77" y="169"/>
                </a:cxn>
                <a:cxn ang="0">
                  <a:pos x="69" y="179"/>
                </a:cxn>
                <a:cxn ang="0">
                  <a:pos x="57" y="190"/>
                </a:cxn>
                <a:cxn ang="0">
                  <a:pos x="46" y="201"/>
                </a:cxn>
                <a:cxn ang="0">
                  <a:pos x="35" y="211"/>
                </a:cxn>
                <a:cxn ang="0">
                  <a:pos x="24" y="222"/>
                </a:cxn>
                <a:cxn ang="0">
                  <a:pos x="16" y="234"/>
                </a:cxn>
                <a:cxn ang="0">
                  <a:pos x="9" y="245"/>
                </a:cxn>
                <a:cxn ang="0">
                  <a:pos x="0" y="231"/>
                </a:cxn>
                <a:cxn ang="0">
                  <a:pos x="0" y="214"/>
                </a:cxn>
                <a:cxn ang="0">
                  <a:pos x="0" y="197"/>
                </a:cxn>
                <a:cxn ang="0">
                  <a:pos x="0" y="180"/>
                </a:cxn>
                <a:cxn ang="0">
                  <a:pos x="0" y="165"/>
                </a:cxn>
                <a:cxn ang="0">
                  <a:pos x="8" y="154"/>
                </a:cxn>
                <a:cxn ang="0">
                  <a:pos x="15" y="144"/>
                </a:cxn>
                <a:cxn ang="0">
                  <a:pos x="22" y="139"/>
                </a:cxn>
                <a:cxn ang="0">
                  <a:pos x="38" y="130"/>
                </a:cxn>
                <a:cxn ang="0">
                  <a:pos x="50" y="129"/>
                </a:cxn>
                <a:cxn ang="0">
                  <a:pos x="63" y="127"/>
                </a:cxn>
                <a:cxn ang="0">
                  <a:pos x="74" y="113"/>
                </a:cxn>
                <a:cxn ang="0">
                  <a:pos x="86" y="99"/>
                </a:cxn>
                <a:cxn ang="0">
                  <a:pos x="98" y="85"/>
                </a:cxn>
                <a:cxn ang="0">
                  <a:pos x="108" y="71"/>
                </a:cxn>
                <a:cxn ang="0">
                  <a:pos x="93" y="71"/>
                </a:cxn>
                <a:cxn ang="0">
                  <a:pos x="82" y="67"/>
                </a:cxn>
                <a:cxn ang="0">
                  <a:pos x="70" y="63"/>
                </a:cxn>
                <a:cxn ang="0">
                  <a:pos x="58" y="58"/>
                </a:cxn>
                <a:cxn ang="0">
                  <a:pos x="46" y="53"/>
                </a:cxn>
                <a:cxn ang="0">
                  <a:pos x="35" y="40"/>
                </a:cxn>
                <a:cxn ang="0">
                  <a:pos x="26" y="28"/>
                </a:cxn>
                <a:cxn ang="0">
                  <a:pos x="28" y="17"/>
                </a:cxn>
                <a:cxn ang="0">
                  <a:pos x="32" y="9"/>
                </a:cxn>
                <a:cxn ang="0">
                  <a:pos x="42" y="18"/>
                </a:cxn>
                <a:cxn ang="0">
                  <a:pos x="52" y="28"/>
                </a:cxn>
                <a:cxn ang="0">
                  <a:pos x="71" y="21"/>
                </a:cxn>
                <a:cxn ang="0">
                  <a:pos x="87" y="22"/>
                </a:cxn>
                <a:cxn ang="0">
                  <a:pos x="101" y="15"/>
                </a:cxn>
                <a:cxn ang="0">
                  <a:pos x="123" y="10"/>
                </a:cxn>
                <a:cxn ang="0">
                  <a:pos x="146" y="5"/>
                </a:cxn>
                <a:cxn ang="0">
                  <a:pos x="153" y="0"/>
                </a:cxn>
                <a:cxn ang="0">
                  <a:pos x="158" y="5"/>
                </a:cxn>
                <a:cxn ang="0">
                  <a:pos x="156" y="28"/>
                </a:cxn>
                <a:cxn ang="0">
                  <a:pos x="159" y="28"/>
                </a:cxn>
                <a:cxn ang="0">
                  <a:pos x="154" y="34"/>
                </a:cxn>
              </a:cxnLst>
              <a:rect l="0" t="0" r="r" b="b"/>
              <a:pathLst>
                <a:path w="159" h="245">
                  <a:moveTo>
                    <a:pt x="154" y="34"/>
                  </a:moveTo>
                  <a:lnTo>
                    <a:pt x="149" y="54"/>
                  </a:lnTo>
                  <a:lnTo>
                    <a:pt x="138" y="76"/>
                  </a:lnTo>
                  <a:lnTo>
                    <a:pt x="128" y="96"/>
                  </a:lnTo>
                  <a:lnTo>
                    <a:pt x="117" y="118"/>
                  </a:lnTo>
                  <a:lnTo>
                    <a:pt x="106" y="139"/>
                  </a:lnTo>
                  <a:lnTo>
                    <a:pt x="96" y="150"/>
                  </a:lnTo>
                  <a:lnTo>
                    <a:pt x="87" y="160"/>
                  </a:lnTo>
                  <a:lnTo>
                    <a:pt x="77" y="169"/>
                  </a:lnTo>
                  <a:lnTo>
                    <a:pt x="69" y="179"/>
                  </a:lnTo>
                  <a:lnTo>
                    <a:pt x="57" y="190"/>
                  </a:lnTo>
                  <a:lnTo>
                    <a:pt x="46" y="201"/>
                  </a:lnTo>
                  <a:lnTo>
                    <a:pt x="35" y="211"/>
                  </a:lnTo>
                  <a:lnTo>
                    <a:pt x="24" y="222"/>
                  </a:lnTo>
                  <a:lnTo>
                    <a:pt x="16" y="234"/>
                  </a:lnTo>
                  <a:lnTo>
                    <a:pt x="9" y="245"/>
                  </a:lnTo>
                  <a:lnTo>
                    <a:pt x="0" y="231"/>
                  </a:lnTo>
                  <a:lnTo>
                    <a:pt x="0" y="214"/>
                  </a:lnTo>
                  <a:lnTo>
                    <a:pt x="0" y="197"/>
                  </a:lnTo>
                  <a:lnTo>
                    <a:pt x="0" y="180"/>
                  </a:lnTo>
                  <a:lnTo>
                    <a:pt x="0" y="165"/>
                  </a:lnTo>
                  <a:lnTo>
                    <a:pt x="8" y="154"/>
                  </a:lnTo>
                  <a:lnTo>
                    <a:pt x="15" y="144"/>
                  </a:lnTo>
                  <a:lnTo>
                    <a:pt x="22" y="139"/>
                  </a:lnTo>
                  <a:lnTo>
                    <a:pt x="38" y="130"/>
                  </a:lnTo>
                  <a:lnTo>
                    <a:pt x="50" y="129"/>
                  </a:lnTo>
                  <a:lnTo>
                    <a:pt x="63" y="127"/>
                  </a:lnTo>
                  <a:lnTo>
                    <a:pt x="74" y="113"/>
                  </a:lnTo>
                  <a:lnTo>
                    <a:pt x="86" y="99"/>
                  </a:lnTo>
                  <a:lnTo>
                    <a:pt x="98" y="85"/>
                  </a:lnTo>
                  <a:lnTo>
                    <a:pt x="108" y="71"/>
                  </a:lnTo>
                  <a:lnTo>
                    <a:pt x="93" y="71"/>
                  </a:lnTo>
                  <a:lnTo>
                    <a:pt x="82" y="67"/>
                  </a:lnTo>
                  <a:lnTo>
                    <a:pt x="70" y="63"/>
                  </a:lnTo>
                  <a:lnTo>
                    <a:pt x="58" y="58"/>
                  </a:lnTo>
                  <a:lnTo>
                    <a:pt x="46" y="53"/>
                  </a:lnTo>
                  <a:lnTo>
                    <a:pt x="35" y="40"/>
                  </a:lnTo>
                  <a:lnTo>
                    <a:pt x="26" y="28"/>
                  </a:lnTo>
                  <a:lnTo>
                    <a:pt x="28" y="17"/>
                  </a:lnTo>
                  <a:lnTo>
                    <a:pt x="32" y="9"/>
                  </a:lnTo>
                  <a:lnTo>
                    <a:pt x="42" y="18"/>
                  </a:lnTo>
                  <a:lnTo>
                    <a:pt x="52" y="28"/>
                  </a:lnTo>
                  <a:lnTo>
                    <a:pt x="71" y="21"/>
                  </a:lnTo>
                  <a:lnTo>
                    <a:pt x="87" y="22"/>
                  </a:lnTo>
                  <a:lnTo>
                    <a:pt x="101" y="15"/>
                  </a:lnTo>
                  <a:lnTo>
                    <a:pt x="123" y="10"/>
                  </a:lnTo>
                  <a:lnTo>
                    <a:pt x="146" y="5"/>
                  </a:lnTo>
                  <a:lnTo>
                    <a:pt x="153" y="0"/>
                  </a:lnTo>
                  <a:lnTo>
                    <a:pt x="158" y="5"/>
                  </a:lnTo>
                  <a:lnTo>
                    <a:pt x="156" y="28"/>
                  </a:lnTo>
                  <a:lnTo>
                    <a:pt x="159" y="28"/>
                  </a:lnTo>
                  <a:lnTo>
                    <a:pt x="154"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4" name="Freeform 103"/>
            <p:cNvSpPr>
              <a:spLocks/>
            </p:cNvSpPr>
            <p:nvPr/>
          </p:nvSpPr>
          <p:spPr bwMode="auto">
            <a:xfrm>
              <a:off x="2913" y="2243"/>
              <a:ext cx="287" cy="393"/>
            </a:xfrm>
            <a:custGeom>
              <a:avLst/>
              <a:gdLst/>
              <a:ahLst/>
              <a:cxnLst>
                <a:cxn ang="0">
                  <a:pos x="30" y="56"/>
                </a:cxn>
                <a:cxn ang="0">
                  <a:pos x="45" y="38"/>
                </a:cxn>
                <a:cxn ang="0">
                  <a:pos x="57" y="20"/>
                </a:cxn>
                <a:cxn ang="0">
                  <a:pos x="81" y="20"/>
                </a:cxn>
                <a:cxn ang="0">
                  <a:pos x="105" y="20"/>
                </a:cxn>
                <a:cxn ang="0">
                  <a:pos x="130" y="20"/>
                </a:cxn>
                <a:cxn ang="0">
                  <a:pos x="143" y="15"/>
                </a:cxn>
                <a:cxn ang="0">
                  <a:pos x="164" y="23"/>
                </a:cxn>
                <a:cxn ang="0">
                  <a:pos x="186" y="17"/>
                </a:cxn>
                <a:cxn ang="0">
                  <a:pos x="198" y="5"/>
                </a:cxn>
                <a:cxn ang="0">
                  <a:pos x="208" y="0"/>
                </a:cxn>
                <a:cxn ang="0">
                  <a:pos x="228" y="23"/>
                </a:cxn>
                <a:cxn ang="0">
                  <a:pos x="238" y="57"/>
                </a:cxn>
                <a:cxn ang="0">
                  <a:pos x="257" y="95"/>
                </a:cxn>
                <a:cxn ang="0">
                  <a:pos x="238" y="109"/>
                </a:cxn>
                <a:cxn ang="0">
                  <a:pos x="230" y="157"/>
                </a:cxn>
                <a:cxn ang="0">
                  <a:pos x="212" y="200"/>
                </a:cxn>
                <a:cxn ang="0">
                  <a:pos x="200" y="222"/>
                </a:cxn>
                <a:cxn ang="0">
                  <a:pos x="196" y="261"/>
                </a:cxn>
                <a:cxn ang="0">
                  <a:pos x="178" y="271"/>
                </a:cxn>
                <a:cxn ang="0">
                  <a:pos x="200" y="290"/>
                </a:cxn>
                <a:cxn ang="0">
                  <a:pos x="212" y="314"/>
                </a:cxn>
                <a:cxn ang="0">
                  <a:pos x="226" y="332"/>
                </a:cxn>
                <a:cxn ang="0">
                  <a:pos x="201" y="332"/>
                </a:cxn>
                <a:cxn ang="0">
                  <a:pos x="188" y="348"/>
                </a:cxn>
                <a:cxn ang="0">
                  <a:pos x="162" y="350"/>
                </a:cxn>
                <a:cxn ang="0">
                  <a:pos x="147" y="349"/>
                </a:cxn>
                <a:cxn ang="0">
                  <a:pos x="134" y="342"/>
                </a:cxn>
                <a:cxn ang="0">
                  <a:pos x="117" y="336"/>
                </a:cxn>
                <a:cxn ang="0">
                  <a:pos x="95" y="329"/>
                </a:cxn>
                <a:cxn ang="0">
                  <a:pos x="89" y="319"/>
                </a:cxn>
                <a:cxn ang="0">
                  <a:pos x="74" y="297"/>
                </a:cxn>
                <a:cxn ang="0">
                  <a:pos x="57" y="277"/>
                </a:cxn>
                <a:cxn ang="0">
                  <a:pos x="39" y="261"/>
                </a:cxn>
                <a:cxn ang="0">
                  <a:pos x="30" y="241"/>
                </a:cxn>
                <a:cxn ang="0">
                  <a:pos x="17" y="219"/>
                </a:cxn>
                <a:cxn ang="0">
                  <a:pos x="12" y="199"/>
                </a:cxn>
                <a:cxn ang="0">
                  <a:pos x="0" y="185"/>
                </a:cxn>
                <a:cxn ang="0">
                  <a:pos x="8" y="163"/>
                </a:cxn>
                <a:cxn ang="0">
                  <a:pos x="9" y="152"/>
                </a:cxn>
                <a:cxn ang="0">
                  <a:pos x="22" y="133"/>
                </a:cxn>
                <a:cxn ang="0">
                  <a:pos x="32" y="116"/>
                </a:cxn>
                <a:cxn ang="0">
                  <a:pos x="30" y="81"/>
                </a:cxn>
              </a:cxnLst>
              <a:rect l="0" t="0" r="r" b="b"/>
              <a:pathLst>
                <a:path w="257" h="353">
                  <a:moveTo>
                    <a:pt x="30" y="65"/>
                  </a:moveTo>
                  <a:lnTo>
                    <a:pt x="30" y="56"/>
                  </a:lnTo>
                  <a:lnTo>
                    <a:pt x="46" y="56"/>
                  </a:lnTo>
                  <a:lnTo>
                    <a:pt x="45" y="38"/>
                  </a:lnTo>
                  <a:lnTo>
                    <a:pt x="45" y="20"/>
                  </a:lnTo>
                  <a:lnTo>
                    <a:pt x="57" y="20"/>
                  </a:lnTo>
                  <a:lnTo>
                    <a:pt x="69" y="20"/>
                  </a:lnTo>
                  <a:lnTo>
                    <a:pt x="81" y="20"/>
                  </a:lnTo>
                  <a:lnTo>
                    <a:pt x="93" y="20"/>
                  </a:lnTo>
                  <a:lnTo>
                    <a:pt x="105" y="20"/>
                  </a:lnTo>
                  <a:lnTo>
                    <a:pt x="117" y="20"/>
                  </a:lnTo>
                  <a:lnTo>
                    <a:pt x="130" y="20"/>
                  </a:lnTo>
                  <a:lnTo>
                    <a:pt x="142" y="20"/>
                  </a:lnTo>
                  <a:lnTo>
                    <a:pt x="143" y="15"/>
                  </a:lnTo>
                  <a:lnTo>
                    <a:pt x="144" y="20"/>
                  </a:lnTo>
                  <a:lnTo>
                    <a:pt x="164" y="23"/>
                  </a:lnTo>
                  <a:lnTo>
                    <a:pt x="183" y="24"/>
                  </a:lnTo>
                  <a:lnTo>
                    <a:pt x="186" y="17"/>
                  </a:lnTo>
                  <a:lnTo>
                    <a:pt x="195" y="14"/>
                  </a:lnTo>
                  <a:lnTo>
                    <a:pt x="198" y="5"/>
                  </a:lnTo>
                  <a:lnTo>
                    <a:pt x="202" y="6"/>
                  </a:lnTo>
                  <a:lnTo>
                    <a:pt x="208" y="0"/>
                  </a:lnTo>
                  <a:lnTo>
                    <a:pt x="219" y="11"/>
                  </a:lnTo>
                  <a:lnTo>
                    <a:pt x="228" y="23"/>
                  </a:lnTo>
                  <a:lnTo>
                    <a:pt x="234" y="36"/>
                  </a:lnTo>
                  <a:lnTo>
                    <a:pt x="238" y="57"/>
                  </a:lnTo>
                  <a:lnTo>
                    <a:pt x="243" y="78"/>
                  </a:lnTo>
                  <a:lnTo>
                    <a:pt x="257" y="95"/>
                  </a:lnTo>
                  <a:lnTo>
                    <a:pt x="248" y="102"/>
                  </a:lnTo>
                  <a:lnTo>
                    <a:pt x="238" y="109"/>
                  </a:lnTo>
                  <a:lnTo>
                    <a:pt x="232" y="132"/>
                  </a:lnTo>
                  <a:lnTo>
                    <a:pt x="230" y="157"/>
                  </a:lnTo>
                  <a:lnTo>
                    <a:pt x="228" y="170"/>
                  </a:lnTo>
                  <a:lnTo>
                    <a:pt x="212" y="200"/>
                  </a:lnTo>
                  <a:lnTo>
                    <a:pt x="208" y="219"/>
                  </a:lnTo>
                  <a:lnTo>
                    <a:pt x="200" y="222"/>
                  </a:lnTo>
                  <a:lnTo>
                    <a:pt x="197" y="241"/>
                  </a:lnTo>
                  <a:lnTo>
                    <a:pt x="196" y="261"/>
                  </a:lnTo>
                  <a:lnTo>
                    <a:pt x="184" y="264"/>
                  </a:lnTo>
                  <a:lnTo>
                    <a:pt x="178" y="271"/>
                  </a:lnTo>
                  <a:lnTo>
                    <a:pt x="184" y="276"/>
                  </a:lnTo>
                  <a:lnTo>
                    <a:pt x="200" y="290"/>
                  </a:lnTo>
                  <a:lnTo>
                    <a:pt x="206" y="302"/>
                  </a:lnTo>
                  <a:lnTo>
                    <a:pt x="212" y="314"/>
                  </a:lnTo>
                  <a:lnTo>
                    <a:pt x="221" y="318"/>
                  </a:lnTo>
                  <a:lnTo>
                    <a:pt x="226" y="332"/>
                  </a:lnTo>
                  <a:lnTo>
                    <a:pt x="213" y="332"/>
                  </a:lnTo>
                  <a:lnTo>
                    <a:pt x="201" y="332"/>
                  </a:lnTo>
                  <a:lnTo>
                    <a:pt x="195" y="339"/>
                  </a:lnTo>
                  <a:lnTo>
                    <a:pt x="188" y="348"/>
                  </a:lnTo>
                  <a:lnTo>
                    <a:pt x="170" y="348"/>
                  </a:lnTo>
                  <a:lnTo>
                    <a:pt x="162" y="350"/>
                  </a:lnTo>
                  <a:lnTo>
                    <a:pt x="159" y="348"/>
                  </a:lnTo>
                  <a:lnTo>
                    <a:pt x="147" y="349"/>
                  </a:lnTo>
                  <a:lnTo>
                    <a:pt x="146" y="353"/>
                  </a:lnTo>
                  <a:lnTo>
                    <a:pt x="134" y="342"/>
                  </a:lnTo>
                  <a:lnTo>
                    <a:pt x="123" y="331"/>
                  </a:lnTo>
                  <a:lnTo>
                    <a:pt x="117" y="336"/>
                  </a:lnTo>
                  <a:lnTo>
                    <a:pt x="107" y="337"/>
                  </a:lnTo>
                  <a:lnTo>
                    <a:pt x="95" y="329"/>
                  </a:lnTo>
                  <a:lnTo>
                    <a:pt x="92" y="325"/>
                  </a:lnTo>
                  <a:lnTo>
                    <a:pt x="89" y="319"/>
                  </a:lnTo>
                  <a:lnTo>
                    <a:pt x="80" y="307"/>
                  </a:lnTo>
                  <a:lnTo>
                    <a:pt x="74" y="297"/>
                  </a:lnTo>
                  <a:lnTo>
                    <a:pt x="59" y="284"/>
                  </a:lnTo>
                  <a:lnTo>
                    <a:pt x="57" y="277"/>
                  </a:lnTo>
                  <a:lnTo>
                    <a:pt x="42" y="266"/>
                  </a:lnTo>
                  <a:lnTo>
                    <a:pt x="39" y="261"/>
                  </a:lnTo>
                  <a:lnTo>
                    <a:pt x="28" y="259"/>
                  </a:lnTo>
                  <a:lnTo>
                    <a:pt x="30" y="241"/>
                  </a:lnTo>
                  <a:lnTo>
                    <a:pt x="23" y="230"/>
                  </a:lnTo>
                  <a:lnTo>
                    <a:pt x="17" y="219"/>
                  </a:lnTo>
                  <a:lnTo>
                    <a:pt x="16" y="209"/>
                  </a:lnTo>
                  <a:lnTo>
                    <a:pt x="12" y="199"/>
                  </a:lnTo>
                  <a:lnTo>
                    <a:pt x="6" y="186"/>
                  </a:lnTo>
                  <a:lnTo>
                    <a:pt x="0" y="185"/>
                  </a:lnTo>
                  <a:lnTo>
                    <a:pt x="5" y="171"/>
                  </a:lnTo>
                  <a:lnTo>
                    <a:pt x="8" y="163"/>
                  </a:lnTo>
                  <a:lnTo>
                    <a:pt x="9" y="158"/>
                  </a:lnTo>
                  <a:lnTo>
                    <a:pt x="9" y="152"/>
                  </a:lnTo>
                  <a:lnTo>
                    <a:pt x="17" y="138"/>
                  </a:lnTo>
                  <a:lnTo>
                    <a:pt x="22" y="133"/>
                  </a:lnTo>
                  <a:lnTo>
                    <a:pt x="33" y="133"/>
                  </a:lnTo>
                  <a:lnTo>
                    <a:pt x="32" y="116"/>
                  </a:lnTo>
                  <a:lnTo>
                    <a:pt x="32" y="99"/>
                  </a:lnTo>
                  <a:lnTo>
                    <a:pt x="30" y="81"/>
                  </a:lnTo>
                  <a:lnTo>
                    <a:pt x="30" y="6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5" name="Freeform 104"/>
            <p:cNvSpPr>
              <a:spLocks/>
            </p:cNvSpPr>
            <p:nvPr/>
          </p:nvSpPr>
          <p:spPr bwMode="auto">
            <a:xfrm>
              <a:off x="3042" y="2752"/>
              <a:ext cx="31" cy="42"/>
            </a:xfrm>
            <a:custGeom>
              <a:avLst/>
              <a:gdLst/>
              <a:ahLst/>
              <a:cxnLst>
                <a:cxn ang="0">
                  <a:pos x="25" y="10"/>
                </a:cxn>
                <a:cxn ang="0">
                  <a:pos x="25" y="1"/>
                </a:cxn>
                <a:cxn ang="0">
                  <a:pos x="16" y="0"/>
                </a:cxn>
                <a:cxn ang="0">
                  <a:pos x="14" y="6"/>
                </a:cxn>
                <a:cxn ang="0">
                  <a:pos x="1" y="6"/>
                </a:cxn>
                <a:cxn ang="0">
                  <a:pos x="0" y="7"/>
                </a:cxn>
                <a:cxn ang="0">
                  <a:pos x="1" y="8"/>
                </a:cxn>
                <a:cxn ang="0">
                  <a:pos x="3" y="23"/>
                </a:cxn>
                <a:cxn ang="0">
                  <a:pos x="7" y="38"/>
                </a:cxn>
                <a:cxn ang="0">
                  <a:pos x="10" y="38"/>
                </a:cxn>
                <a:cxn ang="0">
                  <a:pos x="19" y="26"/>
                </a:cxn>
                <a:cxn ang="0">
                  <a:pos x="28" y="16"/>
                </a:cxn>
                <a:cxn ang="0">
                  <a:pos x="25" y="10"/>
                </a:cxn>
              </a:cxnLst>
              <a:rect l="0" t="0" r="r" b="b"/>
              <a:pathLst>
                <a:path w="28" h="38">
                  <a:moveTo>
                    <a:pt x="25" y="10"/>
                  </a:moveTo>
                  <a:lnTo>
                    <a:pt x="25" y="1"/>
                  </a:lnTo>
                  <a:lnTo>
                    <a:pt x="16" y="0"/>
                  </a:lnTo>
                  <a:lnTo>
                    <a:pt x="14" y="6"/>
                  </a:lnTo>
                  <a:lnTo>
                    <a:pt x="1" y="6"/>
                  </a:lnTo>
                  <a:lnTo>
                    <a:pt x="0" y="7"/>
                  </a:lnTo>
                  <a:lnTo>
                    <a:pt x="1" y="8"/>
                  </a:lnTo>
                  <a:lnTo>
                    <a:pt x="3" y="23"/>
                  </a:lnTo>
                  <a:lnTo>
                    <a:pt x="7" y="38"/>
                  </a:lnTo>
                  <a:lnTo>
                    <a:pt x="10" y="38"/>
                  </a:lnTo>
                  <a:lnTo>
                    <a:pt x="19" y="26"/>
                  </a:lnTo>
                  <a:lnTo>
                    <a:pt x="28" y="16"/>
                  </a:lnTo>
                  <a:lnTo>
                    <a:pt x="25"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6" name="Freeform 105"/>
            <p:cNvSpPr>
              <a:spLocks/>
            </p:cNvSpPr>
            <p:nvPr/>
          </p:nvSpPr>
          <p:spPr bwMode="auto">
            <a:xfrm>
              <a:off x="2729" y="2634"/>
              <a:ext cx="131" cy="171"/>
            </a:xfrm>
            <a:custGeom>
              <a:avLst/>
              <a:gdLst/>
              <a:ahLst/>
              <a:cxnLst>
                <a:cxn ang="0">
                  <a:pos x="20" y="108"/>
                </a:cxn>
                <a:cxn ang="0">
                  <a:pos x="6" y="109"/>
                </a:cxn>
                <a:cxn ang="0">
                  <a:pos x="7" y="115"/>
                </a:cxn>
                <a:cxn ang="0">
                  <a:pos x="8" y="120"/>
                </a:cxn>
                <a:cxn ang="0">
                  <a:pos x="12" y="127"/>
                </a:cxn>
                <a:cxn ang="0">
                  <a:pos x="8" y="131"/>
                </a:cxn>
                <a:cxn ang="0">
                  <a:pos x="4" y="129"/>
                </a:cxn>
                <a:cxn ang="0">
                  <a:pos x="0" y="136"/>
                </a:cxn>
                <a:cxn ang="0">
                  <a:pos x="13" y="155"/>
                </a:cxn>
                <a:cxn ang="0">
                  <a:pos x="24" y="145"/>
                </a:cxn>
                <a:cxn ang="0">
                  <a:pos x="30" y="148"/>
                </a:cxn>
                <a:cxn ang="0">
                  <a:pos x="38" y="151"/>
                </a:cxn>
                <a:cxn ang="0">
                  <a:pos x="42" y="145"/>
                </a:cxn>
                <a:cxn ang="0">
                  <a:pos x="51" y="144"/>
                </a:cxn>
                <a:cxn ang="0">
                  <a:pos x="54" y="153"/>
                </a:cxn>
                <a:cxn ang="0">
                  <a:pos x="66" y="141"/>
                </a:cxn>
                <a:cxn ang="0">
                  <a:pos x="78" y="129"/>
                </a:cxn>
                <a:cxn ang="0">
                  <a:pos x="80" y="115"/>
                </a:cxn>
                <a:cxn ang="0">
                  <a:pos x="81" y="101"/>
                </a:cxn>
                <a:cxn ang="0">
                  <a:pos x="93" y="87"/>
                </a:cxn>
                <a:cxn ang="0">
                  <a:pos x="104" y="72"/>
                </a:cxn>
                <a:cxn ang="0">
                  <a:pos x="106" y="59"/>
                </a:cxn>
                <a:cxn ang="0">
                  <a:pos x="109" y="45"/>
                </a:cxn>
                <a:cxn ang="0">
                  <a:pos x="111" y="31"/>
                </a:cxn>
                <a:cxn ang="0">
                  <a:pos x="114" y="18"/>
                </a:cxn>
                <a:cxn ang="0">
                  <a:pos x="117" y="3"/>
                </a:cxn>
                <a:cxn ang="0">
                  <a:pos x="105" y="1"/>
                </a:cxn>
                <a:cxn ang="0">
                  <a:pos x="93" y="0"/>
                </a:cxn>
                <a:cxn ang="0">
                  <a:pos x="85" y="6"/>
                </a:cxn>
                <a:cxn ang="0">
                  <a:pos x="79" y="25"/>
                </a:cxn>
                <a:cxn ang="0">
                  <a:pos x="76" y="34"/>
                </a:cxn>
                <a:cxn ang="0">
                  <a:pos x="62" y="30"/>
                </a:cxn>
                <a:cxn ang="0">
                  <a:pos x="49" y="27"/>
                </a:cxn>
                <a:cxn ang="0">
                  <a:pos x="33" y="27"/>
                </a:cxn>
                <a:cxn ang="0">
                  <a:pos x="32" y="43"/>
                </a:cxn>
                <a:cxn ang="0">
                  <a:pos x="49" y="42"/>
                </a:cxn>
                <a:cxn ang="0">
                  <a:pos x="50" y="54"/>
                </a:cxn>
                <a:cxn ang="0">
                  <a:pos x="43" y="64"/>
                </a:cxn>
                <a:cxn ang="0">
                  <a:pos x="52" y="79"/>
                </a:cxn>
                <a:cxn ang="0">
                  <a:pos x="48" y="105"/>
                </a:cxn>
                <a:cxn ang="0">
                  <a:pos x="43" y="109"/>
                </a:cxn>
                <a:cxn ang="0">
                  <a:pos x="40" y="105"/>
                </a:cxn>
                <a:cxn ang="0">
                  <a:pos x="31" y="108"/>
                </a:cxn>
                <a:cxn ang="0">
                  <a:pos x="21" y="97"/>
                </a:cxn>
                <a:cxn ang="0">
                  <a:pos x="20" y="108"/>
                </a:cxn>
              </a:cxnLst>
              <a:rect l="0" t="0" r="r" b="b"/>
              <a:pathLst>
                <a:path w="117" h="155">
                  <a:moveTo>
                    <a:pt x="20" y="108"/>
                  </a:moveTo>
                  <a:lnTo>
                    <a:pt x="6" y="109"/>
                  </a:lnTo>
                  <a:lnTo>
                    <a:pt x="7" y="115"/>
                  </a:lnTo>
                  <a:lnTo>
                    <a:pt x="8" y="120"/>
                  </a:lnTo>
                  <a:lnTo>
                    <a:pt x="12" y="127"/>
                  </a:lnTo>
                  <a:lnTo>
                    <a:pt x="8" y="131"/>
                  </a:lnTo>
                  <a:lnTo>
                    <a:pt x="4" y="129"/>
                  </a:lnTo>
                  <a:lnTo>
                    <a:pt x="0" y="136"/>
                  </a:lnTo>
                  <a:lnTo>
                    <a:pt x="13" y="155"/>
                  </a:lnTo>
                  <a:lnTo>
                    <a:pt x="24" y="145"/>
                  </a:lnTo>
                  <a:lnTo>
                    <a:pt x="30" y="148"/>
                  </a:lnTo>
                  <a:lnTo>
                    <a:pt x="38" y="151"/>
                  </a:lnTo>
                  <a:lnTo>
                    <a:pt x="42" y="145"/>
                  </a:lnTo>
                  <a:lnTo>
                    <a:pt x="51" y="144"/>
                  </a:lnTo>
                  <a:lnTo>
                    <a:pt x="54" y="153"/>
                  </a:lnTo>
                  <a:lnTo>
                    <a:pt x="66" y="141"/>
                  </a:lnTo>
                  <a:lnTo>
                    <a:pt x="78" y="129"/>
                  </a:lnTo>
                  <a:lnTo>
                    <a:pt x="80" y="115"/>
                  </a:lnTo>
                  <a:lnTo>
                    <a:pt x="81" y="101"/>
                  </a:lnTo>
                  <a:lnTo>
                    <a:pt x="93" y="87"/>
                  </a:lnTo>
                  <a:lnTo>
                    <a:pt x="104" y="72"/>
                  </a:lnTo>
                  <a:lnTo>
                    <a:pt x="106" y="59"/>
                  </a:lnTo>
                  <a:lnTo>
                    <a:pt x="109" y="45"/>
                  </a:lnTo>
                  <a:lnTo>
                    <a:pt x="111" y="31"/>
                  </a:lnTo>
                  <a:lnTo>
                    <a:pt x="114" y="18"/>
                  </a:lnTo>
                  <a:lnTo>
                    <a:pt x="117" y="3"/>
                  </a:lnTo>
                  <a:lnTo>
                    <a:pt x="105" y="1"/>
                  </a:lnTo>
                  <a:lnTo>
                    <a:pt x="93" y="0"/>
                  </a:lnTo>
                  <a:lnTo>
                    <a:pt x="85" y="6"/>
                  </a:lnTo>
                  <a:lnTo>
                    <a:pt x="79" y="25"/>
                  </a:lnTo>
                  <a:lnTo>
                    <a:pt x="76" y="34"/>
                  </a:lnTo>
                  <a:lnTo>
                    <a:pt x="62" y="30"/>
                  </a:lnTo>
                  <a:lnTo>
                    <a:pt x="49" y="27"/>
                  </a:lnTo>
                  <a:lnTo>
                    <a:pt x="33" y="27"/>
                  </a:lnTo>
                  <a:lnTo>
                    <a:pt x="32" y="43"/>
                  </a:lnTo>
                  <a:lnTo>
                    <a:pt x="49" y="42"/>
                  </a:lnTo>
                  <a:lnTo>
                    <a:pt x="50" y="54"/>
                  </a:lnTo>
                  <a:lnTo>
                    <a:pt x="43" y="64"/>
                  </a:lnTo>
                  <a:lnTo>
                    <a:pt x="52" y="79"/>
                  </a:lnTo>
                  <a:lnTo>
                    <a:pt x="48" y="105"/>
                  </a:lnTo>
                  <a:lnTo>
                    <a:pt x="43" y="109"/>
                  </a:lnTo>
                  <a:lnTo>
                    <a:pt x="40" y="105"/>
                  </a:lnTo>
                  <a:lnTo>
                    <a:pt x="31" y="108"/>
                  </a:lnTo>
                  <a:lnTo>
                    <a:pt x="21" y="97"/>
                  </a:lnTo>
                  <a:lnTo>
                    <a:pt x="20" y="1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7" name="Freeform 106"/>
            <p:cNvSpPr>
              <a:spLocks/>
            </p:cNvSpPr>
            <p:nvPr/>
          </p:nvSpPr>
          <p:spPr bwMode="auto">
            <a:xfrm>
              <a:off x="3129" y="2614"/>
              <a:ext cx="140" cy="185"/>
            </a:xfrm>
            <a:custGeom>
              <a:avLst/>
              <a:gdLst/>
              <a:ahLst/>
              <a:cxnLst>
                <a:cxn ang="0">
                  <a:pos x="58" y="137"/>
                </a:cxn>
                <a:cxn ang="0">
                  <a:pos x="44" y="127"/>
                </a:cxn>
                <a:cxn ang="0">
                  <a:pos x="30" y="119"/>
                </a:cxn>
                <a:cxn ang="0">
                  <a:pos x="15" y="109"/>
                </a:cxn>
                <a:cxn ang="0">
                  <a:pos x="0" y="101"/>
                </a:cxn>
                <a:cxn ang="0">
                  <a:pos x="0" y="82"/>
                </a:cxn>
                <a:cxn ang="0">
                  <a:pos x="10" y="64"/>
                </a:cxn>
                <a:cxn ang="0">
                  <a:pos x="18" y="49"/>
                </a:cxn>
                <a:cxn ang="0">
                  <a:pos x="13" y="35"/>
                </a:cxn>
                <a:cxn ang="0">
                  <a:pos x="8" y="22"/>
                </a:cxn>
                <a:cxn ang="0">
                  <a:pos x="1" y="7"/>
                </a:cxn>
                <a:cxn ang="0">
                  <a:pos x="7" y="0"/>
                </a:cxn>
                <a:cxn ang="0">
                  <a:pos x="19" y="0"/>
                </a:cxn>
                <a:cxn ang="0">
                  <a:pos x="32" y="0"/>
                </a:cxn>
                <a:cxn ang="0">
                  <a:pos x="45" y="3"/>
                </a:cxn>
                <a:cxn ang="0">
                  <a:pos x="64" y="16"/>
                </a:cxn>
                <a:cxn ang="0">
                  <a:pos x="86" y="21"/>
                </a:cxn>
                <a:cxn ang="0">
                  <a:pos x="94" y="13"/>
                </a:cxn>
                <a:cxn ang="0">
                  <a:pos x="110" y="9"/>
                </a:cxn>
                <a:cxn ang="0">
                  <a:pos x="127" y="12"/>
                </a:cxn>
                <a:cxn ang="0">
                  <a:pos x="120" y="22"/>
                </a:cxn>
                <a:cxn ang="0">
                  <a:pos x="112" y="33"/>
                </a:cxn>
                <a:cxn ang="0">
                  <a:pos x="112" y="48"/>
                </a:cxn>
                <a:cxn ang="0">
                  <a:pos x="112" y="65"/>
                </a:cxn>
                <a:cxn ang="0">
                  <a:pos x="112" y="82"/>
                </a:cxn>
                <a:cxn ang="0">
                  <a:pos x="112" y="99"/>
                </a:cxn>
                <a:cxn ang="0">
                  <a:pos x="121" y="113"/>
                </a:cxn>
                <a:cxn ang="0">
                  <a:pos x="112" y="118"/>
                </a:cxn>
                <a:cxn ang="0">
                  <a:pos x="106" y="129"/>
                </a:cxn>
                <a:cxn ang="0">
                  <a:pos x="99" y="136"/>
                </a:cxn>
                <a:cxn ang="0">
                  <a:pos x="92" y="150"/>
                </a:cxn>
                <a:cxn ang="0">
                  <a:pos x="85" y="166"/>
                </a:cxn>
                <a:cxn ang="0">
                  <a:pos x="84" y="167"/>
                </a:cxn>
                <a:cxn ang="0">
                  <a:pos x="72" y="155"/>
                </a:cxn>
                <a:cxn ang="0">
                  <a:pos x="60" y="143"/>
                </a:cxn>
                <a:cxn ang="0">
                  <a:pos x="58" y="137"/>
                </a:cxn>
              </a:cxnLst>
              <a:rect l="0" t="0" r="r" b="b"/>
              <a:pathLst>
                <a:path w="127" h="167">
                  <a:moveTo>
                    <a:pt x="58" y="137"/>
                  </a:moveTo>
                  <a:lnTo>
                    <a:pt x="44" y="127"/>
                  </a:lnTo>
                  <a:lnTo>
                    <a:pt x="30" y="119"/>
                  </a:lnTo>
                  <a:lnTo>
                    <a:pt x="15" y="109"/>
                  </a:lnTo>
                  <a:lnTo>
                    <a:pt x="0" y="101"/>
                  </a:lnTo>
                  <a:lnTo>
                    <a:pt x="0" y="82"/>
                  </a:lnTo>
                  <a:lnTo>
                    <a:pt x="10" y="64"/>
                  </a:lnTo>
                  <a:lnTo>
                    <a:pt x="18" y="49"/>
                  </a:lnTo>
                  <a:lnTo>
                    <a:pt x="13" y="35"/>
                  </a:lnTo>
                  <a:lnTo>
                    <a:pt x="8" y="22"/>
                  </a:lnTo>
                  <a:lnTo>
                    <a:pt x="1" y="7"/>
                  </a:lnTo>
                  <a:lnTo>
                    <a:pt x="7" y="0"/>
                  </a:lnTo>
                  <a:lnTo>
                    <a:pt x="19" y="0"/>
                  </a:lnTo>
                  <a:lnTo>
                    <a:pt x="32" y="0"/>
                  </a:lnTo>
                  <a:lnTo>
                    <a:pt x="45" y="3"/>
                  </a:lnTo>
                  <a:lnTo>
                    <a:pt x="64" y="16"/>
                  </a:lnTo>
                  <a:lnTo>
                    <a:pt x="86" y="21"/>
                  </a:lnTo>
                  <a:lnTo>
                    <a:pt x="94" y="13"/>
                  </a:lnTo>
                  <a:lnTo>
                    <a:pt x="110" y="9"/>
                  </a:lnTo>
                  <a:lnTo>
                    <a:pt x="127" y="12"/>
                  </a:lnTo>
                  <a:lnTo>
                    <a:pt x="120" y="22"/>
                  </a:lnTo>
                  <a:lnTo>
                    <a:pt x="112" y="33"/>
                  </a:lnTo>
                  <a:lnTo>
                    <a:pt x="112" y="48"/>
                  </a:lnTo>
                  <a:lnTo>
                    <a:pt x="112" y="65"/>
                  </a:lnTo>
                  <a:lnTo>
                    <a:pt x="112" y="82"/>
                  </a:lnTo>
                  <a:lnTo>
                    <a:pt x="112" y="99"/>
                  </a:lnTo>
                  <a:lnTo>
                    <a:pt x="121" y="113"/>
                  </a:lnTo>
                  <a:lnTo>
                    <a:pt x="112" y="118"/>
                  </a:lnTo>
                  <a:lnTo>
                    <a:pt x="106" y="129"/>
                  </a:lnTo>
                  <a:lnTo>
                    <a:pt x="99" y="136"/>
                  </a:lnTo>
                  <a:lnTo>
                    <a:pt x="92" y="150"/>
                  </a:lnTo>
                  <a:lnTo>
                    <a:pt x="85" y="166"/>
                  </a:lnTo>
                  <a:lnTo>
                    <a:pt x="84" y="167"/>
                  </a:lnTo>
                  <a:lnTo>
                    <a:pt x="72" y="155"/>
                  </a:lnTo>
                  <a:lnTo>
                    <a:pt x="60" y="143"/>
                  </a:lnTo>
                  <a:lnTo>
                    <a:pt x="58"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8" name="Freeform 107"/>
            <p:cNvSpPr>
              <a:spLocks/>
            </p:cNvSpPr>
            <p:nvPr/>
          </p:nvSpPr>
          <p:spPr bwMode="auto">
            <a:xfrm>
              <a:off x="5573" y="2643"/>
              <a:ext cx="2" cy="2"/>
            </a:xfrm>
            <a:custGeom>
              <a:avLst/>
              <a:gdLst/>
              <a:ahLst/>
              <a:cxnLst>
                <a:cxn ang="0">
                  <a:pos x="3" y="0"/>
                </a:cxn>
                <a:cxn ang="0">
                  <a:pos x="2" y="1"/>
                </a:cxn>
                <a:cxn ang="0">
                  <a:pos x="0" y="1"/>
                </a:cxn>
                <a:cxn ang="0">
                  <a:pos x="2" y="0"/>
                </a:cxn>
                <a:cxn ang="0">
                  <a:pos x="3" y="0"/>
                </a:cxn>
              </a:cxnLst>
              <a:rect l="0" t="0" r="r" b="b"/>
              <a:pathLst>
                <a:path w="3" h="1">
                  <a:moveTo>
                    <a:pt x="3" y="0"/>
                  </a:moveTo>
                  <a:lnTo>
                    <a:pt x="2" y="1"/>
                  </a:lnTo>
                  <a:lnTo>
                    <a:pt x="0" y="1"/>
                  </a:lnTo>
                  <a:lnTo>
                    <a:pt x="2" y="0"/>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9" name="Freeform 108"/>
            <p:cNvSpPr>
              <a:spLocks/>
            </p:cNvSpPr>
            <p:nvPr/>
          </p:nvSpPr>
          <p:spPr bwMode="auto">
            <a:xfrm>
              <a:off x="5577" y="2667"/>
              <a:ext cx="3" cy="3"/>
            </a:xfrm>
            <a:custGeom>
              <a:avLst/>
              <a:gdLst/>
              <a:ahLst/>
              <a:cxnLst>
                <a:cxn ang="0">
                  <a:pos x="2" y="4"/>
                </a:cxn>
                <a:cxn ang="0">
                  <a:pos x="1" y="4"/>
                </a:cxn>
                <a:cxn ang="0">
                  <a:pos x="2" y="4"/>
                </a:cxn>
                <a:cxn ang="0">
                  <a:pos x="2" y="3"/>
                </a:cxn>
                <a:cxn ang="0">
                  <a:pos x="0" y="0"/>
                </a:cxn>
                <a:cxn ang="0">
                  <a:pos x="1" y="0"/>
                </a:cxn>
                <a:cxn ang="0">
                  <a:pos x="2" y="3"/>
                </a:cxn>
                <a:cxn ang="0">
                  <a:pos x="2" y="4"/>
                </a:cxn>
              </a:cxnLst>
              <a:rect l="0" t="0" r="r" b="b"/>
              <a:pathLst>
                <a:path w="2" h="4">
                  <a:moveTo>
                    <a:pt x="2" y="4"/>
                  </a:moveTo>
                  <a:lnTo>
                    <a:pt x="1" y="4"/>
                  </a:lnTo>
                  <a:lnTo>
                    <a:pt x="2" y="4"/>
                  </a:lnTo>
                  <a:lnTo>
                    <a:pt x="2" y="3"/>
                  </a:lnTo>
                  <a:lnTo>
                    <a:pt x="0" y="0"/>
                  </a:lnTo>
                  <a:lnTo>
                    <a:pt x="1" y="0"/>
                  </a:lnTo>
                  <a:lnTo>
                    <a:pt x="2" y="3"/>
                  </a:lnTo>
                  <a:lnTo>
                    <a:pt x="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0" name="Freeform 109"/>
            <p:cNvSpPr>
              <a:spLocks/>
            </p:cNvSpPr>
            <p:nvPr/>
          </p:nvSpPr>
          <p:spPr bwMode="auto">
            <a:xfrm>
              <a:off x="5584" y="2667"/>
              <a:ext cx="2" cy="3"/>
            </a:xfrm>
            <a:custGeom>
              <a:avLst/>
              <a:gdLst/>
              <a:ahLst/>
              <a:cxnLst>
                <a:cxn ang="0">
                  <a:pos x="1" y="0"/>
                </a:cxn>
                <a:cxn ang="0">
                  <a:pos x="0" y="0"/>
                </a:cxn>
                <a:cxn ang="0">
                  <a:pos x="1" y="0"/>
                </a:cxn>
              </a:cxnLst>
              <a:rect l="0" t="0" r="r" b="b"/>
              <a:pathLst>
                <a:path w="1">
                  <a:moveTo>
                    <a:pt x="1" y="0"/>
                  </a:move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1" name="Freeform 110"/>
            <p:cNvSpPr>
              <a:spLocks/>
            </p:cNvSpPr>
            <p:nvPr/>
          </p:nvSpPr>
          <p:spPr bwMode="auto">
            <a:xfrm>
              <a:off x="5580" y="2674"/>
              <a:ext cx="2" cy="2"/>
            </a:xfrm>
            <a:custGeom>
              <a:avLst/>
              <a:gdLst/>
              <a:ahLst/>
              <a:cxnLst>
                <a:cxn ang="0">
                  <a:pos x="0" y="1"/>
                </a:cxn>
                <a:cxn ang="0">
                  <a:pos x="0" y="0"/>
                </a:cxn>
                <a:cxn ang="0">
                  <a:pos x="0" y="1"/>
                </a:cxn>
              </a:cxnLst>
              <a:rect l="0" t="0" r="r" b="b"/>
              <a:pathLst>
                <a:path h="1">
                  <a:moveTo>
                    <a:pt x="0" y="1"/>
                  </a:moveTo>
                  <a:lnTo>
                    <a:pt x="0" y="0"/>
                  </a:lnTo>
                  <a:lnTo>
                    <a:pt x="0"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2" name="Freeform 111"/>
            <p:cNvSpPr>
              <a:spLocks/>
            </p:cNvSpPr>
            <p:nvPr/>
          </p:nvSpPr>
          <p:spPr bwMode="auto">
            <a:xfrm>
              <a:off x="2580" y="2430"/>
              <a:ext cx="209" cy="189"/>
            </a:xfrm>
            <a:custGeom>
              <a:avLst/>
              <a:gdLst/>
              <a:ahLst/>
              <a:cxnLst>
                <a:cxn ang="0">
                  <a:pos x="124" y="121"/>
                </a:cxn>
                <a:cxn ang="0">
                  <a:pos x="112" y="125"/>
                </a:cxn>
                <a:cxn ang="0">
                  <a:pos x="105" y="135"/>
                </a:cxn>
                <a:cxn ang="0">
                  <a:pos x="99" y="146"/>
                </a:cxn>
                <a:cxn ang="0">
                  <a:pos x="94" y="161"/>
                </a:cxn>
                <a:cxn ang="0">
                  <a:pos x="88" y="159"/>
                </a:cxn>
                <a:cxn ang="0">
                  <a:pos x="89" y="165"/>
                </a:cxn>
                <a:cxn ang="0">
                  <a:pos x="73" y="165"/>
                </a:cxn>
                <a:cxn ang="0">
                  <a:pos x="71" y="164"/>
                </a:cxn>
                <a:cxn ang="0">
                  <a:pos x="69" y="164"/>
                </a:cxn>
                <a:cxn ang="0">
                  <a:pos x="66" y="167"/>
                </a:cxn>
                <a:cxn ang="0">
                  <a:pos x="64" y="162"/>
                </a:cxn>
                <a:cxn ang="0">
                  <a:pos x="64" y="169"/>
                </a:cxn>
                <a:cxn ang="0">
                  <a:pos x="64" y="165"/>
                </a:cxn>
                <a:cxn ang="0">
                  <a:pos x="61" y="167"/>
                </a:cxn>
                <a:cxn ang="0">
                  <a:pos x="57" y="167"/>
                </a:cxn>
                <a:cxn ang="0">
                  <a:pos x="49" y="168"/>
                </a:cxn>
                <a:cxn ang="0">
                  <a:pos x="43" y="151"/>
                </a:cxn>
                <a:cxn ang="0">
                  <a:pos x="45" y="150"/>
                </a:cxn>
                <a:cxn ang="0">
                  <a:pos x="41" y="146"/>
                </a:cxn>
                <a:cxn ang="0">
                  <a:pos x="42" y="146"/>
                </a:cxn>
                <a:cxn ang="0">
                  <a:pos x="39" y="143"/>
                </a:cxn>
                <a:cxn ang="0">
                  <a:pos x="22" y="132"/>
                </a:cxn>
                <a:cxn ang="0">
                  <a:pos x="13" y="131"/>
                </a:cxn>
                <a:cxn ang="0">
                  <a:pos x="16" y="128"/>
                </a:cxn>
                <a:cxn ang="0">
                  <a:pos x="0" y="133"/>
                </a:cxn>
                <a:cxn ang="0">
                  <a:pos x="1" y="108"/>
                </a:cxn>
                <a:cxn ang="0">
                  <a:pos x="3" y="84"/>
                </a:cxn>
                <a:cxn ang="0">
                  <a:pos x="15" y="63"/>
                </a:cxn>
                <a:cxn ang="0">
                  <a:pos x="16" y="48"/>
                </a:cxn>
                <a:cxn ang="0">
                  <a:pos x="13" y="38"/>
                </a:cxn>
                <a:cxn ang="0">
                  <a:pos x="13" y="37"/>
                </a:cxn>
                <a:cxn ang="0">
                  <a:pos x="15" y="30"/>
                </a:cxn>
                <a:cxn ang="0">
                  <a:pos x="19" y="18"/>
                </a:cxn>
                <a:cxn ang="0">
                  <a:pos x="23" y="5"/>
                </a:cxn>
                <a:cxn ang="0">
                  <a:pos x="37" y="0"/>
                </a:cxn>
                <a:cxn ang="0">
                  <a:pos x="53" y="1"/>
                </a:cxn>
                <a:cxn ang="0">
                  <a:pos x="64" y="12"/>
                </a:cxn>
                <a:cxn ang="0">
                  <a:pos x="81" y="7"/>
                </a:cxn>
                <a:cxn ang="0">
                  <a:pos x="93" y="12"/>
                </a:cxn>
                <a:cxn ang="0">
                  <a:pos x="103" y="17"/>
                </a:cxn>
                <a:cxn ang="0">
                  <a:pos x="121" y="8"/>
                </a:cxn>
                <a:cxn ang="0">
                  <a:pos x="138" y="9"/>
                </a:cxn>
                <a:cxn ang="0">
                  <a:pos x="154" y="11"/>
                </a:cxn>
                <a:cxn ang="0">
                  <a:pos x="172" y="1"/>
                </a:cxn>
                <a:cxn ang="0">
                  <a:pos x="179" y="12"/>
                </a:cxn>
                <a:cxn ang="0">
                  <a:pos x="181" y="25"/>
                </a:cxn>
                <a:cxn ang="0">
                  <a:pos x="189" y="32"/>
                </a:cxn>
                <a:cxn ang="0">
                  <a:pos x="184" y="42"/>
                </a:cxn>
                <a:cxn ang="0">
                  <a:pos x="173" y="53"/>
                </a:cxn>
                <a:cxn ang="0">
                  <a:pos x="167" y="65"/>
                </a:cxn>
                <a:cxn ang="0">
                  <a:pos x="162" y="78"/>
                </a:cxn>
                <a:cxn ang="0">
                  <a:pos x="156" y="92"/>
                </a:cxn>
                <a:cxn ang="0">
                  <a:pos x="150" y="102"/>
                </a:cxn>
                <a:cxn ang="0">
                  <a:pos x="144" y="117"/>
                </a:cxn>
                <a:cxn ang="0">
                  <a:pos x="135" y="132"/>
                </a:cxn>
                <a:cxn ang="0">
                  <a:pos x="124" y="121"/>
                </a:cxn>
              </a:cxnLst>
              <a:rect l="0" t="0" r="r" b="b"/>
              <a:pathLst>
                <a:path w="189" h="169">
                  <a:moveTo>
                    <a:pt x="124" y="121"/>
                  </a:moveTo>
                  <a:lnTo>
                    <a:pt x="112" y="125"/>
                  </a:lnTo>
                  <a:lnTo>
                    <a:pt x="105" y="135"/>
                  </a:lnTo>
                  <a:lnTo>
                    <a:pt x="99" y="146"/>
                  </a:lnTo>
                  <a:lnTo>
                    <a:pt x="94" y="161"/>
                  </a:lnTo>
                  <a:lnTo>
                    <a:pt x="88" y="159"/>
                  </a:lnTo>
                  <a:lnTo>
                    <a:pt x="89" y="165"/>
                  </a:lnTo>
                  <a:lnTo>
                    <a:pt x="73" y="165"/>
                  </a:lnTo>
                  <a:lnTo>
                    <a:pt x="71" y="164"/>
                  </a:lnTo>
                  <a:lnTo>
                    <a:pt x="69" y="164"/>
                  </a:lnTo>
                  <a:lnTo>
                    <a:pt x="66" y="167"/>
                  </a:lnTo>
                  <a:lnTo>
                    <a:pt x="64" y="162"/>
                  </a:lnTo>
                  <a:lnTo>
                    <a:pt x="64" y="169"/>
                  </a:lnTo>
                  <a:lnTo>
                    <a:pt x="64" y="165"/>
                  </a:lnTo>
                  <a:lnTo>
                    <a:pt x="61" y="167"/>
                  </a:lnTo>
                  <a:lnTo>
                    <a:pt x="57" y="167"/>
                  </a:lnTo>
                  <a:lnTo>
                    <a:pt x="49" y="168"/>
                  </a:lnTo>
                  <a:lnTo>
                    <a:pt x="43" y="151"/>
                  </a:lnTo>
                  <a:lnTo>
                    <a:pt x="45" y="150"/>
                  </a:lnTo>
                  <a:lnTo>
                    <a:pt x="41" y="146"/>
                  </a:lnTo>
                  <a:lnTo>
                    <a:pt x="42" y="146"/>
                  </a:lnTo>
                  <a:lnTo>
                    <a:pt x="39" y="143"/>
                  </a:lnTo>
                  <a:lnTo>
                    <a:pt x="22" y="132"/>
                  </a:lnTo>
                  <a:lnTo>
                    <a:pt x="13" y="131"/>
                  </a:lnTo>
                  <a:lnTo>
                    <a:pt x="16" y="128"/>
                  </a:lnTo>
                  <a:lnTo>
                    <a:pt x="0" y="133"/>
                  </a:lnTo>
                  <a:lnTo>
                    <a:pt x="1" y="108"/>
                  </a:lnTo>
                  <a:lnTo>
                    <a:pt x="3" y="84"/>
                  </a:lnTo>
                  <a:lnTo>
                    <a:pt x="15" y="63"/>
                  </a:lnTo>
                  <a:lnTo>
                    <a:pt x="16" y="48"/>
                  </a:lnTo>
                  <a:lnTo>
                    <a:pt x="13" y="38"/>
                  </a:lnTo>
                  <a:lnTo>
                    <a:pt x="13" y="37"/>
                  </a:lnTo>
                  <a:lnTo>
                    <a:pt x="15" y="30"/>
                  </a:lnTo>
                  <a:lnTo>
                    <a:pt x="19" y="18"/>
                  </a:lnTo>
                  <a:lnTo>
                    <a:pt x="23" y="5"/>
                  </a:lnTo>
                  <a:lnTo>
                    <a:pt x="37" y="0"/>
                  </a:lnTo>
                  <a:lnTo>
                    <a:pt x="53" y="1"/>
                  </a:lnTo>
                  <a:lnTo>
                    <a:pt x="64" y="12"/>
                  </a:lnTo>
                  <a:lnTo>
                    <a:pt x="81" y="7"/>
                  </a:lnTo>
                  <a:lnTo>
                    <a:pt x="93" y="12"/>
                  </a:lnTo>
                  <a:lnTo>
                    <a:pt x="103" y="17"/>
                  </a:lnTo>
                  <a:lnTo>
                    <a:pt x="121" y="8"/>
                  </a:lnTo>
                  <a:lnTo>
                    <a:pt x="138" y="9"/>
                  </a:lnTo>
                  <a:lnTo>
                    <a:pt x="154" y="11"/>
                  </a:lnTo>
                  <a:lnTo>
                    <a:pt x="172" y="1"/>
                  </a:lnTo>
                  <a:lnTo>
                    <a:pt x="179" y="12"/>
                  </a:lnTo>
                  <a:lnTo>
                    <a:pt x="181" y="25"/>
                  </a:lnTo>
                  <a:lnTo>
                    <a:pt x="189" y="32"/>
                  </a:lnTo>
                  <a:lnTo>
                    <a:pt x="184" y="42"/>
                  </a:lnTo>
                  <a:lnTo>
                    <a:pt x="173" y="53"/>
                  </a:lnTo>
                  <a:lnTo>
                    <a:pt x="167" y="65"/>
                  </a:lnTo>
                  <a:lnTo>
                    <a:pt x="162" y="78"/>
                  </a:lnTo>
                  <a:lnTo>
                    <a:pt x="156" y="92"/>
                  </a:lnTo>
                  <a:lnTo>
                    <a:pt x="150" y="102"/>
                  </a:lnTo>
                  <a:lnTo>
                    <a:pt x="144" y="117"/>
                  </a:lnTo>
                  <a:lnTo>
                    <a:pt x="135" y="132"/>
                  </a:lnTo>
                  <a:lnTo>
                    <a:pt x="124" y="1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3" name="Freeform 112"/>
            <p:cNvSpPr>
              <a:spLocks/>
            </p:cNvSpPr>
            <p:nvPr/>
          </p:nvSpPr>
          <p:spPr bwMode="auto">
            <a:xfrm>
              <a:off x="2547" y="2459"/>
              <a:ext cx="49" cy="122"/>
            </a:xfrm>
            <a:custGeom>
              <a:avLst/>
              <a:gdLst/>
              <a:ahLst/>
              <a:cxnLst>
                <a:cxn ang="0">
                  <a:pos x="3" y="24"/>
                </a:cxn>
                <a:cxn ang="0">
                  <a:pos x="1" y="24"/>
                </a:cxn>
                <a:cxn ang="0">
                  <a:pos x="0" y="32"/>
                </a:cxn>
                <a:cxn ang="0">
                  <a:pos x="9" y="42"/>
                </a:cxn>
                <a:cxn ang="0">
                  <a:pos x="11" y="56"/>
                </a:cxn>
                <a:cxn ang="0">
                  <a:pos x="11" y="70"/>
                </a:cxn>
                <a:cxn ang="0">
                  <a:pos x="12" y="84"/>
                </a:cxn>
                <a:cxn ang="0">
                  <a:pos x="12" y="97"/>
                </a:cxn>
                <a:cxn ang="0">
                  <a:pos x="13" y="110"/>
                </a:cxn>
                <a:cxn ang="0">
                  <a:pos x="30" y="108"/>
                </a:cxn>
                <a:cxn ang="0">
                  <a:pos x="31" y="83"/>
                </a:cxn>
                <a:cxn ang="0">
                  <a:pos x="33" y="59"/>
                </a:cxn>
                <a:cxn ang="0">
                  <a:pos x="45" y="38"/>
                </a:cxn>
                <a:cxn ang="0">
                  <a:pos x="46" y="23"/>
                </a:cxn>
                <a:cxn ang="0">
                  <a:pos x="43" y="13"/>
                </a:cxn>
                <a:cxn ang="0">
                  <a:pos x="43" y="12"/>
                </a:cxn>
                <a:cxn ang="0">
                  <a:pos x="30" y="0"/>
                </a:cxn>
                <a:cxn ang="0">
                  <a:pos x="25" y="6"/>
                </a:cxn>
                <a:cxn ang="0">
                  <a:pos x="25" y="8"/>
                </a:cxn>
                <a:cxn ang="0">
                  <a:pos x="24" y="11"/>
                </a:cxn>
                <a:cxn ang="0">
                  <a:pos x="12" y="18"/>
                </a:cxn>
                <a:cxn ang="0">
                  <a:pos x="3" y="24"/>
                </a:cxn>
              </a:cxnLst>
              <a:rect l="0" t="0" r="r" b="b"/>
              <a:pathLst>
                <a:path w="46" h="110">
                  <a:moveTo>
                    <a:pt x="3" y="24"/>
                  </a:moveTo>
                  <a:lnTo>
                    <a:pt x="1" y="24"/>
                  </a:lnTo>
                  <a:lnTo>
                    <a:pt x="0" y="32"/>
                  </a:lnTo>
                  <a:lnTo>
                    <a:pt x="9" y="42"/>
                  </a:lnTo>
                  <a:lnTo>
                    <a:pt x="11" y="56"/>
                  </a:lnTo>
                  <a:lnTo>
                    <a:pt x="11" y="70"/>
                  </a:lnTo>
                  <a:lnTo>
                    <a:pt x="12" y="84"/>
                  </a:lnTo>
                  <a:lnTo>
                    <a:pt x="12" y="97"/>
                  </a:lnTo>
                  <a:lnTo>
                    <a:pt x="13" y="110"/>
                  </a:lnTo>
                  <a:lnTo>
                    <a:pt x="30" y="108"/>
                  </a:lnTo>
                  <a:lnTo>
                    <a:pt x="31" y="83"/>
                  </a:lnTo>
                  <a:lnTo>
                    <a:pt x="33" y="59"/>
                  </a:lnTo>
                  <a:lnTo>
                    <a:pt x="45" y="38"/>
                  </a:lnTo>
                  <a:lnTo>
                    <a:pt x="46" y="23"/>
                  </a:lnTo>
                  <a:lnTo>
                    <a:pt x="43" y="13"/>
                  </a:lnTo>
                  <a:lnTo>
                    <a:pt x="43" y="12"/>
                  </a:lnTo>
                  <a:lnTo>
                    <a:pt x="30" y="0"/>
                  </a:lnTo>
                  <a:lnTo>
                    <a:pt x="25" y="6"/>
                  </a:lnTo>
                  <a:lnTo>
                    <a:pt x="25" y="8"/>
                  </a:lnTo>
                  <a:lnTo>
                    <a:pt x="24" y="11"/>
                  </a:lnTo>
                  <a:lnTo>
                    <a:pt x="12" y="18"/>
                  </a:lnTo>
                  <a:lnTo>
                    <a:pt x="3"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4" name="Freeform 113"/>
            <p:cNvSpPr>
              <a:spLocks/>
            </p:cNvSpPr>
            <p:nvPr/>
          </p:nvSpPr>
          <p:spPr bwMode="auto">
            <a:xfrm>
              <a:off x="2436" y="2403"/>
              <a:ext cx="137" cy="113"/>
            </a:xfrm>
            <a:custGeom>
              <a:avLst/>
              <a:gdLst/>
              <a:ahLst/>
              <a:cxnLst>
                <a:cxn ang="0">
                  <a:pos x="102" y="73"/>
                </a:cxn>
                <a:cxn ang="0">
                  <a:pos x="97" y="73"/>
                </a:cxn>
                <a:cxn ang="0">
                  <a:pos x="84" y="71"/>
                </a:cxn>
                <a:cxn ang="0">
                  <a:pos x="79" y="72"/>
                </a:cxn>
                <a:cxn ang="0">
                  <a:pos x="61" y="73"/>
                </a:cxn>
                <a:cxn ang="0">
                  <a:pos x="42" y="73"/>
                </a:cxn>
                <a:cxn ang="0">
                  <a:pos x="43" y="87"/>
                </a:cxn>
                <a:cxn ang="0">
                  <a:pos x="44" y="101"/>
                </a:cxn>
                <a:cxn ang="0">
                  <a:pos x="30" y="92"/>
                </a:cxn>
                <a:cxn ang="0">
                  <a:pos x="15" y="97"/>
                </a:cxn>
                <a:cxn ang="0">
                  <a:pos x="6" y="86"/>
                </a:cxn>
                <a:cxn ang="0">
                  <a:pos x="0" y="84"/>
                </a:cxn>
                <a:cxn ang="0">
                  <a:pos x="3" y="60"/>
                </a:cxn>
                <a:cxn ang="0">
                  <a:pos x="8" y="56"/>
                </a:cxn>
                <a:cxn ang="0">
                  <a:pos x="16" y="48"/>
                </a:cxn>
                <a:cxn ang="0">
                  <a:pos x="20" y="41"/>
                </a:cxn>
                <a:cxn ang="0">
                  <a:pos x="22" y="30"/>
                </a:cxn>
                <a:cxn ang="0">
                  <a:pos x="32" y="35"/>
                </a:cxn>
                <a:cxn ang="0">
                  <a:pos x="34" y="27"/>
                </a:cxn>
                <a:cxn ang="0">
                  <a:pos x="38" y="26"/>
                </a:cxn>
                <a:cxn ang="0">
                  <a:pos x="44" y="17"/>
                </a:cxn>
                <a:cxn ang="0">
                  <a:pos x="54" y="17"/>
                </a:cxn>
                <a:cxn ang="0">
                  <a:pos x="55" y="9"/>
                </a:cxn>
                <a:cxn ang="0">
                  <a:pos x="75" y="0"/>
                </a:cxn>
                <a:cxn ang="0">
                  <a:pos x="90" y="2"/>
                </a:cxn>
                <a:cxn ang="0">
                  <a:pos x="92" y="17"/>
                </a:cxn>
                <a:cxn ang="0">
                  <a:pos x="104" y="30"/>
                </a:cxn>
                <a:cxn ang="0">
                  <a:pos x="102" y="31"/>
                </a:cxn>
                <a:cxn ang="0">
                  <a:pos x="102" y="37"/>
                </a:cxn>
                <a:cxn ang="0">
                  <a:pos x="111" y="44"/>
                </a:cxn>
                <a:cxn ang="0">
                  <a:pos x="117" y="43"/>
                </a:cxn>
                <a:cxn ang="0">
                  <a:pos x="121" y="48"/>
                </a:cxn>
                <a:cxn ang="0">
                  <a:pos x="124" y="57"/>
                </a:cxn>
                <a:cxn ang="0">
                  <a:pos x="123" y="60"/>
                </a:cxn>
                <a:cxn ang="0">
                  <a:pos x="111" y="67"/>
                </a:cxn>
                <a:cxn ang="0">
                  <a:pos x="102" y="73"/>
                </a:cxn>
              </a:cxnLst>
              <a:rect l="0" t="0" r="r" b="b"/>
              <a:pathLst>
                <a:path w="124" h="101">
                  <a:moveTo>
                    <a:pt x="102" y="73"/>
                  </a:moveTo>
                  <a:lnTo>
                    <a:pt x="97" y="73"/>
                  </a:lnTo>
                  <a:lnTo>
                    <a:pt x="84" y="71"/>
                  </a:lnTo>
                  <a:lnTo>
                    <a:pt x="79" y="72"/>
                  </a:lnTo>
                  <a:lnTo>
                    <a:pt x="61" y="73"/>
                  </a:lnTo>
                  <a:lnTo>
                    <a:pt x="42" y="73"/>
                  </a:lnTo>
                  <a:lnTo>
                    <a:pt x="43" y="87"/>
                  </a:lnTo>
                  <a:lnTo>
                    <a:pt x="44" y="101"/>
                  </a:lnTo>
                  <a:lnTo>
                    <a:pt x="30" y="92"/>
                  </a:lnTo>
                  <a:lnTo>
                    <a:pt x="15" y="97"/>
                  </a:lnTo>
                  <a:lnTo>
                    <a:pt x="6" y="86"/>
                  </a:lnTo>
                  <a:lnTo>
                    <a:pt x="0" y="84"/>
                  </a:lnTo>
                  <a:lnTo>
                    <a:pt x="3" y="60"/>
                  </a:lnTo>
                  <a:lnTo>
                    <a:pt x="8" y="56"/>
                  </a:lnTo>
                  <a:lnTo>
                    <a:pt x="16" y="48"/>
                  </a:lnTo>
                  <a:lnTo>
                    <a:pt x="20" y="41"/>
                  </a:lnTo>
                  <a:lnTo>
                    <a:pt x="22" y="30"/>
                  </a:lnTo>
                  <a:lnTo>
                    <a:pt x="32" y="35"/>
                  </a:lnTo>
                  <a:lnTo>
                    <a:pt x="34" y="27"/>
                  </a:lnTo>
                  <a:lnTo>
                    <a:pt x="38" y="26"/>
                  </a:lnTo>
                  <a:lnTo>
                    <a:pt x="44" y="17"/>
                  </a:lnTo>
                  <a:lnTo>
                    <a:pt x="54" y="17"/>
                  </a:lnTo>
                  <a:lnTo>
                    <a:pt x="55" y="9"/>
                  </a:lnTo>
                  <a:lnTo>
                    <a:pt x="75" y="0"/>
                  </a:lnTo>
                  <a:lnTo>
                    <a:pt x="90" y="2"/>
                  </a:lnTo>
                  <a:lnTo>
                    <a:pt x="92" y="17"/>
                  </a:lnTo>
                  <a:lnTo>
                    <a:pt x="104" y="30"/>
                  </a:lnTo>
                  <a:lnTo>
                    <a:pt x="102" y="31"/>
                  </a:lnTo>
                  <a:lnTo>
                    <a:pt x="102" y="37"/>
                  </a:lnTo>
                  <a:lnTo>
                    <a:pt x="111" y="44"/>
                  </a:lnTo>
                  <a:lnTo>
                    <a:pt x="117" y="43"/>
                  </a:lnTo>
                  <a:lnTo>
                    <a:pt x="121" y="48"/>
                  </a:lnTo>
                  <a:lnTo>
                    <a:pt x="124" y="57"/>
                  </a:lnTo>
                  <a:lnTo>
                    <a:pt x="123" y="60"/>
                  </a:lnTo>
                  <a:lnTo>
                    <a:pt x="111" y="67"/>
                  </a:lnTo>
                  <a:lnTo>
                    <a:pt x="102"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5" name="Freeform 114"/>
            <p:cNvSpPr>
              <a:spLocks/>
            </p:cNvSpPr>
            <p:nvPr/>
          </p:nvSpPr>
          <p:spPr bwMode="auto">
            <a:xfrm>
              <a:off x="2682" y="2443"/>
              <a:ext cx="134" cy="227"/>
            </a:xfrm>
            <a:custGeom>
              <a:avLst/>
              <a:gdLst/>
              <a:ahLst/>
              <a:cxnLst>
                <a:cxn ang="0">
                  <a:pos x="112" y="56"/>
                </a:cxn>
                <a:cxn ang="0">
                  <a:pos x="93" y="56"/>
                </a:cxn>
                <a:cxn ang="0">
                  <a:pos x="86" y="60"/>
                </a:cxn>
                <a:cxn ang="0">
                  <a:pos x="99" y="77"/>
                </a:cxn>
                <a:cxn ang="0">
                  <a:pos x="109" y="99"/>
                </a:cxn>
                <a:cxn ang="0">
                  <a:pos x="102" y="114"/>
                </a:cxn>
                <a:cxn ang="0">
                  <a:pos x="93" y="128"/>
                </a:cxn>
                <a:cxn ang="0">
                  <a:pos x="99" y="153"/>
                </a:cxn>
                <a:cxn ang="0">
                  <a:pos x="108" y="167"/>
                </a:cxn>
                <a:cxn ang="0">
                  <a:pos x="116" y="179"/>
                </a:cxn>
                <a:cxn ang="0">
                  <a:pos x="121" y="195"/>
                </a:cxn>
                <a:cxn ang="0">
                  <a:pos x="118" y="204"/>
                </a:cxn>
                <a:cxn ang="0">
                  <a:pos x="104" y="200"/>
                </a:cxn>
                <a:cxn ang="0">
                  <a:pos x="91" y="197"/>
                </a:cxn>
                <a:cxn ang="0">
                  <a:pos x="75" y="197"/>
                </a:cxn>
                <a:cxn ang="0">
                  <a:pos x="60" y="197"/>
                </a:cxn>
                <a:cxn ang="0">
                  <a:pos x="44" y="197"/>
                </a:cxn>
                <a:cxn ang="0">
                  <a:pos x="32" y="194"/>
                </a:cxn>
                <a:cxn ang="0">
                  <a:pos x="20" y="193"/>
                </a:cxn>
                <a:cxn ang="0">
                  <a:pos x="20" y="174"/>
                </a:cxn>
                <a:cxn ang="0">
                  <a:pos x="18" y="165"/>
                </a:cxn>
                <a:cxn ang="0">
                  <a:pos x="16" y="163"/>
                </a:cxn>
                <a:cxn ang="0">
                  <a:pos x="7" y="162"/>
                </a:cxn>
                <a:cxn ang="0">
                  <a:pos x="2" y="151"/>
                </a:cxn>
                <a:cxn ang="0">
                  <a:pos x="0" y="152"/>
                </a:cxn>
                <a:cxn ang="0">
                  <a:pos x="1" y="149"/>
                </a:cxn>
                <a:cxn ang="0">
                  <a:pos x="6" y="134"/>
                </a:cxn>
                <a:cxn ang="0">
                  <a:pos x="12" y="123"/>
                </a:cxn>
                <a:cxn ang="0">
                  <a:pos x="19" y="113"/>
                </a:cxn>
                <a:cxn ang="0">
                  <a:pos x="31" y="109"/>
                </a:cxn>
                <a:cxn ang="0">
                  <a:pos x="42" y="120"/>
                </a:cxn>
                <a:cxn ang="0">
                  <a:pos x="51" y="105"/>
                </a:cxn>
                <a:cxn ang="0">
                  <a:pos x="57" y="90"/>
                </a:cxn>
                <a:cxn ang="0">
                  <a:pos x="63" y="80"/>
                </a:cxn>
                <a:cxn ang="0">
                  <a:pos x="69" y="66"/>
                </a:cxn>
                <a:cxn ang="0">
                  <a:pos x="74" y="53"/>
                </a:cxn>
                <a:cxn ang="0">
                  <a:pos x="80" y="41"/>
                </a:cxn>
                <a:cxn ang="0">
                  <a:pos x="91" y="30"/>
                </a:cxn>
                <a:cxn ang="0">
                  <a:pos x="96" y="20"/>
                </a:cxn>
                <a:cxn ang="0">
                  <a:pos x="88" y="13"/>
                </a:cxn>
                <a:cxn ang="0">
                  <a:pos x="86" y="0"/>
                </a:cxn>
                <a:cxn ang="0">
                  <a:pos x="92" y="0"/>
                </a:cxn>
                <a:cxn ang="0">
                  <a:pos x="99" y="18"/>
                </a:cxn>
                <a:cxn ang="0">
                  <a:pos x="102" y="38"/>
                </a:cxn>
                <a:cxn ang="0">
                  <a:pos x="112" y="56"/>
                </a:cxn>
              </a:cxnLst>
              <a:rect l="0" t="0" r="r" b="b"/>
              <a:pathLst>
                <a:path w="121" h="204">
                  <a:moveTo>
                    <a:pt x="112" y="56"/>
                  </a:moveTo>
                  <a:lnTo>
                    <a:pt x="93" y="56"/>
                  </a:lnTo>
                  <a:lnTo>
                    <a:pt x="86" y="60"/>
                  </a:lnTo>
                  <a:lnTo>
                    <a:pt x="99" y="77"/>
                  </a:lnTo>
                  <a:lnTo>
                    <a:pt x="109" y="99"/>
                  </a:lnTo>
                  <a:lnTo>
                    <a:pt x="102" y="114"/>
                  </a:lnTo>
                  <a:lnTo>
                    <a:pt x="93" y="128"/>
                  </a:lnTo>
                  <a:lnTo>
                    <a:pt x="99" y="153"/>
                  </a:lnTo>
                  <a:lnTo>
                    <a:pt x="108" y="167"/>
                  </a:lnTo>
                  <a:lnTo>
                    <a:pt x="116" y="179"/>
                  </a:lnTo>
                  <a:lnTo>
                    <a:pt x="121" y="195"/>
                  </a:lnTo>
                  <a:lnTo>
                    <a:pt x="118" y="204"/>
                  </a:lnTo>
                  <a:lnTo>
                    <a:pt x="104" y="200"/>
                  </a:lnTo>
                  <a:lnTo>
                    <a:pt x="91" y="197"/>
                  </a:lnTo>
                  <a:lnTo>
                    <a:pt x="75" y="197"/>
                  </a:lnTo>
                  <a:lnTo>
                    <a:pt x="60" y="197"/>
                  </a:lnTo>
                  <a:lnTo>
                    <a:pt x="44" y="197"/>
                  </a:lnTo>
                  <a:lnTo>
                    <a:pt x="32" y="194"/>
                  </a:lnTo>
                  <a:lnTo>
                    <a:pt x="20" y="193"/>
                  </a:lnTo>
                  <a:lnTo>
                    <a:pt x="20" y="174"/>
                  </a:lnTo>
                  <a:lnTo>
                    <a:pt x="18" y="165"/>
                  </a:lnTo>
                  <a:lnTo>
                    <a:pt x="16" y="163"/>
                  </a:lnTo>
                  <a:lnTo>
                    <a:pt x="7" y="162"/>
                  </a:lnTo>
                  <a:lnTo>
                    <a:pt x="2" y="151"/>
                  </a:lnTo>
                  <a:lnTo>
                    <a:pt x="0" y="152"/>
                  </a:lnTo>
                  <a:lnTo>
                    <a:pt x="1" y="149"/>
                  </a:lnTo>
                  <a:lnTo>
                    <a:pt x="6" y="134"/>
                  </a:lnTo>
                  <a:lnTo>
                    <a:pt x="12" y="123"/>
                  </a:lnTo>
                  <a:lnTo>
                    <a:pt x="19" y="113"/>
                  </a:lnTo>
                  <a:lnTo>
                    <a:pt x="31" y="109"/>
                  </a:lnTo>
                  <a:lnTo>
                    <a:pt x="42" y="120"/>
                  </a:lnTo>
                  <a:lnTo>
                    <a:pt x="51" y="105"/>
                  </a:lnTo>
                  <a:lnTo>
                    <a:pt x="57" y="90"/>
                  </a:lnTo>
                  <a:lnTo>
                    <a:pt x="63" y="80"/>
                  </a:lnTo>
                  <a:lnTo>
                    <a:pt x="69" y="66"/>
                  </a:lnTo>
                  <a:lnTo>
                    <a:pt x="74" y="53"/>
                  </a:lnTo>
                  <a:lnTo>
                    <a:pt x="80" y="41"/>
                  </a:lnTo>
                  <a:lnTo>
                    <a:pt x="91" y="30"/>
                  </a:lnTo>
                  <a:lnTo>
                    <a:pt x="96" y="20"/>
                  </a:lnTo>
                  <a:lnTo>
                    <a:pt x="88" y="13"/>
                  </a:lnTo>
                  <a:lnTo>
                    <a:pt x="86" y="0"/>
                  </a:lnTo>
                  <a:lnTo>
                    <a:pt x="92" y="0"/>
                  </a:lnTo>
                  <a:lnTo>
                    <a:pt x="99" y="18"/>
                  </a:lnTo>
                  <a:lnTo>
                    <a:pt x="102" y="38"/>
                  </a:lnTo>
                  <a:lnTo>
                    <a:pt x="112"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6" name="Freeform 115"/>
            <p:cNvSpPr>
              <a:spLocks/>
            </p:cNvSpPr>
            <p:nvPr/>
          </p:nvSpPr>
          <p:spPr bwMode="auto">
            <a:xfrm>
              <a:off x="2787" y="2487"/>
              <a:ext cx="229" cy="174"/>
            </a:xfrm>
            <a:custGeom>
              <a:avLst/>
              <a:gdLst/>
              <a:ahLst/>
              <a:cxnLst>
                <a:cxn ang="0">
                  <a:pos x="72" y="42"/>
                </a:cxn>
                <a:cxn ang="0">
                  <a:pos x="70" y="38"/>
                </a:cxn>
                <a:cxn ang="0">
                  <a:pos x="93" y="33"/>
                </a:cxn>
                <a:cxn ang="0">
                  <a:pos x="105" y="18"/>
                </a:cxn>
                <a:cxn ang="0">
                  <a:pos x="117" y="4"/>
                </a:cxn>
                <a:cxn ang="0">
                  <a:pos x="132" y="0"/>
                </a:cxn>
                <a:cxn ang="0">
                  <a:pos x="138" y="11"/>
                </a:cxn>
                <a:cxn ang="0">
                  <a:pos x="145" y="22"/>
                </a:cxn>
                <a:cxn ang="0">
                  <a:pos x="143" y="40"/>
                </a:cxn>
                <a:cxn ang="0">
                  <a:pos x="154" y="42"/>
                </a:cxn>
                <a:cxn ang="0">
                  <a:pos x="157" y="47"/>
                </a:cxn>
                <a:cxn ang="0">
                  <a:pos x="172" y="58"/>
                </a:cxn>
                <a:cxn ang="0">
                  <a:pos x="174" y="65"/>
                </a:cxn>
                <a:cxn ang="0">
                  <a:pos x="189" y="78"/>
                </a:cxn>
                <a:cxn ang="0">
                  <a:pos x="195" y="88"/>
                </a:cxn>
                <a:cxn ang="0">
                  <a:pos x="204" y="100"/>
                </a:cxn>
                <a:cxn ang="0">
                  <a:pos x="207" y="106"/>
                </a:cxn>
                <a:cxn ang="0">
                  <a:pos x="198" y="104"/>
                </a:cxn>
                <a:cxn ang="0">
                  <a:pos x="185" y="102"/>
                </a:cxn>
                <a:cxn ang="0">
                  <a:pos x="173" y="101"/>
                </a:cxn>
                <a:cxn ang="0">
                  <a:pos x="167" y="106"/>
                </a:cxn>
                <a:cxn ang="0">
                  <a:pos x="155" y="106"/>
                </a:cxn>
                <a:cxn ang="0">
                  <a:pos x="139" y="112"/>
                </a:cxn>
                <a:cxn ang="0">
                  <a:pos x="132" y="111"/>
                </a:cxn>
                <a:cxn ang="0">
                  <a:pos x="125" y="122"/>
                </a:cxn>
                <a:cxn ang="0">
                  <a:pos x="111" y="118"/>
                </a:cxn>
                <a:cxn ang="0">
                  <a:pos x="95" y="113"/>
                </a:cxn>
                <a:cxn ang="0">
                  <a:pos x="78" y="104"/>
                </a:cxn>
                <a:cxn ang="0">
                  <a:pos x="66" y="120"/>
                </a:cxn>
                <a:cxn ang="0">
                  <a:pos x="66" y="134"/>
                </a:cxn>
                <a:cxn ang="0">
                  <a:pos x="54" y="132"/>
                </a:cxn>
                <a:cxn ang="0">
                  <a:pos x="42" y="131"/>
                </a:cxn>
                <a:cxn ang="0">
                  <a:pos x="34" y="137"/>
                </a:cxn>
                <a:cxn ang="0">
                  <a:pos x="28" y="156"/>
                </a:cxn>
                <a:cxn ang="0">
                  <a:pos x="23" y="140"/>
                </a:cxn>
                <a:cxn ang="0">
                  <a:pos x="15" y="128"/>
                </a:cxn>
                <a:cxn ang="0">
                  <a:pos x="6" y="114"/>
                </a:cxn>
                <a:cxn ang="0">
                  <a:pos x="0" y="89"/>
                </a:cxn>
                <a:cxn ang="0">
                  <a:pos x="9" y="75"/>
                </a:cxn>
                <a:cxn ang="0">
                  <a:pos x="16" y="60"/>
                </a:cxn>
                <a:cxn ang="0">
                  <a:pos x="31" y="56"/>
                </a:cxn>
                <a:cxn ang="0">
                  <a:pos x="34" y="58"/>
                </a:cxn>
                <a:cxn ang="0">
                  <a:pos x="43" y="57"/>
                </a:cxn>
                <a:cxn ang="0">
                  <a:pos x="65" y="52"/>
                </a:cxn>
                <a:cxn ang="0">
                  <a:pos x="72" y="42"/>
                </a:cxn>
              </a:cxnLst>
              <a:rect l="0" t="0" r="r" b="b"/>
              <a:pathLst>
                <a:path w="207" h="156">
                  <a:moveTo>
                    <a:pt x="72" y="42"/>
                  </a:moveTo>
                  <a:lnTo>
                    <a:pt x="70" y="38"/>
                  </a:lnTo>
                  <a:lnTo>
                    <a:pt x="93" y="33"/>
                  </a:lnTo>
                  <a:lnTo>
                    <a:pt x="105" y="18"/>
                  </a:lnTo>
                  <a:lnTo>
                    <a:pt x="117" y="4"/>
                  </a:lnTo>
                  <a:lnTo>
                    <a:pt x="132" y="0"/>
                  </a:lnTo>
                  <a:lnTo>
                    <a:pt x="138" y="11"/>
                  </a:lnTo>
                  <a:lnTo>
                    <a:pt x="145" y="22"/>
                  </a:lnTo>
                  <a:lnTo>
                    <a:pt x="143" y="40"/>
                  </a:lnTo>
                  <a:lnTo>
                    <a:pt x="154" y="42"/>
                  </a:lnTo>
                  <a:lnTo>
                    <a:pt x="157" y="47"/>
                  </a:lnTo>
                  <a:lnTo>
                    <a:pt x="172" y="58"/>
                  </a:lnTo>
                  <a:lnTo>
                    <a:pt x="174" y="65"/>
                  </a:lnTo>
                  <a:lnTo>
                    <a:pt x="189" y="78"/>
                  </a:lnTo>
                  <a:lnTo>
                    <a:pt x="195" y="88"/>
                  </a:lnTo>
                  <a:lnTo>
                    <a:pt x="204" y="100"/>
                  </a:lnTo>
                  <a:lnTo>
                    <a:pt x="207" y="106"/>
                  </a:lnTo>
                  <a:lnTo>
                    <a:pt x="198" y="104"/>
                  </a:lnTo>
                  <a:lnTo>
                    <a:pt x="185" y="102"/>
                  </a:lnTo>
                  <a:lnTo>
                    <a:pt x="173" y="101"/>
                  </a:lnTo>
                  <a:lnTo>
                    <a:pt x="167" y="106"/>
                  </a:lnTo>
                  <a:lnTo>
                    <a:pt x="155" y="106"/>
                  </a:lnTo>
                  <a:lnTo>
                    <a:pt x="139" y="112"/>
                  </a:lnTo>
                  <a:lnTo>
                    <a:pt x="132" y="111"/>
                  </a:lnTo>
                  <a:lnTo>
                    <a:pt x="125" y="122"/>
                  </a:lnTo>
                  <a:lnTo>
                    <a:pt x="111" y="118"/>
                  </a:lnTo>
                  <a:lnTo>
                    <a:pt x="95" y="113"/>
                  </a:lnTo>
                  <a:lnTo>
                    <a:pt x="78" y="104"/>
                  </a:lnTo>
                  <a:lnTo>
                    <a:pt x="66" y="120"/>
                  </a:lnTo>
                  <a:lnTo>
                    <a:pt x="66" y="134"/>
                  </a:lnTo>
                  <a:lnTo>
                    <a:pt x="54" y="132"/>
                  </a:lnTo>
                  <a:lnTo>
                    <a:pt x="42" y="131"/>
                  </a:lnTo>
                  <a:lnTo>
                    <a:pt x="34" y="137"/>
                  </a:lnTo>
                  <a:lnTo>
                    <a:pt x="28" y="156"/>
                  </a:lnTo>
                  <a:lnTo>
                    <a:pt x="23" y="140"/>
                  </a:lnTo>
                  <a:lnTo>
                    <a:pt x="15" y="128"/>
                  </a:lnTo>
                  <a:lnTo>
                    <a:pt x="6" y="114"/>
                  </a:lnTo>
                  <a:lnTo>
                    <a:pt x="0" y="89"/>
                  </a:lnTo>
                  <a:lnTo>
                    <a:pt x="9" y="75"/>
                  </a:lnTo>
                  <a:lnTo>
                    <a:pt x="16" y="60"/>
                  </a:lnTo>
                  <a:lnTo>
                    <a:pt x="31" y="56"/>
                  </a:lnTo>
                  <a:lnTo>
                    <a:pt x="34" y="58"/>
                  </a:lnTo>
                  <a:lnTo>
                    <a:pt x="43" y="57"/>
                  </a:lnTo>
                  <a:lnTo>
                    <a:pt x="65" y="52"/>
                  </a:lnTo>
                  <a:lnTo>
                    <a:pt x="72"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7" name="Freeform 116"/>
            <p:cNvSpPr>
              <a:spLocks/>
            </p:cNvSpPr>
            <p:nvPr/>
          </p:nvSpPr>
          <p:spPr bwMode="auto">
            <a:xfrm>
              <a:off x="2238" y="2430"/>
              <a:ext cx="51" cy="13"/>
            </a:xfrm>
            <a:custGeom>
              <a:avLst/>
              <a:gdLst/>
              <a:ahLst/>
              <a:cxnLst>
                <a:cxn ang="0">
                  <a:pos x="2" y="5"/>
                </a:cxn>
                <a:cxn ang="0">
                  <a:pos x="0" y="12"/>
                </a:cxn>
                <a:cxn ang="0">
                  <a:pos x="13" y="8"/>
                </a:cxn>
                <a:cxn ang="0">
                  <a:pos x="25" y="3"/>
                </a:cxn>
                <a:cxn ang="0">
                  <a:pos x="46" y="8"/>
                </a:cxn>
                <a:cxn ang="0">
                  <a:pos x="42" y="3"/>
                </a:cxn>
                <a:cxn ang="0">
                  <a:pos x="23" y="0"/>
                </a:cxn>
                <a:cxn ang="0">
                  <a:pos x="20" y="3"/>
                </a:cxn>
                <a:cxn ang="0">
                  <a:pos x="4" y="3"/>
                </a:cxn>
                <a:cxn ang="0">
                  <a:pos x="4" y="5"/>
                </a:cxn>
                <a:cxn ang="0">
                  <a:pos x="18" y="5"/>
                </a:cxn>
                <a:cxn ang="0">
                  <a:pos x="10" y="8"/>
                </a:cxn>
                <a:cxn ang="0">
                  <a:pos x="2" y="5"/>
                </a:cxn>
              </a:cxnLst>
              <a:rect l="0" t="0" r="r" b="b"/>
              <a:pathLst>
                <a:path w="46" h="12">
                  <a:moveTo>
                    <a:pt x="2" y="5"/>
                  </a:moveTo>
                  <a:lnTo>
                    <a:pt x="0" y="12"/>
                  </a:lnTo>
                  <a:lnTo>
                    <a:pt x="13" y="8"/>
                  </a:lnTo>
                  <a:lnTo>
                    <a:pt x="25" y="3"/>
                  </a:lnTo>
                  <a:lnTo>
                    <a:pt x="46" y="8"/>
                  </a:lnTo>
                  <a:lnTo>
                    <a:pt x="42" y="3"/>
                  </a:lnTo>
                  <a:lnTo>
                    <a:pt x="23" y="0"/>
                  </a:lnTo>
                  <a:lnTo>
                    <a:pt x="20" y="3"/>
                  </a:lnTo>
                  <a:lnTo>
                    <a:pt x="4" y="3"/>
                  </a:lnTo>
                  <a:lnTo>
                    <a:pt x="4" y="5"/>
                  </a:lnTo>
                  <a:lnTo>
                    <a:pt x="18" y="5"/>
                  </a:lnTo>
                  <a:lnTo>
                    <a:pt x="10" y="8"/>
                  </a:lnTo>
                  <a:lnTo>
                    <a:pt x="2"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8" name="Freeform 117"/>
            <p:cNvSpPr>
              <a:spLocks/>
            </p:cNvSpPr>
            <p:nvPr/>
          </p:nvSpPr>
          <p:spPr bwMode="auto">
            <a:xfrm>
              <a:off x="2476" y="2483"/>
              <a:ext cx="77" cy="127"/>
            </a:xfrm>
            <a:custGeom>
              <a:avLst/>
              <a:gdLst/>
              <a:ahLst/>
              <a:cxnLst>
                <a:cxn ang="0">
                  <a:pos x="61" y="97"/>
                </a:cxn>
                <a:cxn ang="0">
                  <a:pos x="50" y="100"/>
                </a:cxn>
                <a:cxn ang="0">
                  <a:pos x="38" y="105"/>
                </a:cxn>
                <a:cxn ang="0">
                  <a:pos x="27" y="110"/>
                </a:cxn>
                <a:cxn ang="0">
                  <a:pos x="16" y="114"/>
                </a:cxn>
                <a:cxn ang="0">
                  <a:pos x="1" y="109"/>
                </a:cxn>
                <a:cxn ang="0">
                  <a:pos x="6" y="105"/>
                </a:cxn>
                <a:cxn ang="0">
                  <a:pos x="3" y="91"/>
                </a:cxn>
                <a:cxn ang="0">
                  <a:pos x="0" y="78"/>
                </a:cxn>
                <a:cxn ang="0">
                  <a:pos x="6" y="66"/>
                </a:cxn>
                <a:cxn ang="0">
                  <a:pos x="10" y="52"/>
                </a:cxn>
                <a:cxn ang="0">
                  <a:pos x="8" y="30"/>
                </a:cxn>
                <a:cxn ang="0">
                  <a:pos x="7" y="16"/>
                </a:cxn>
                <a:cxn ang="0">
                  <a:pos x="6" y="2"/>
                </a:cxn>
                <a:cxn ang="0">
                  <a:pos x="25" y="2"/>
                </a:cxn>
                <a:cxn ang="0">
                  <a:pos x="43" y="1"/>
                </a:cxn>
                <a:cxn ang="0">
                  <a:pos x="48" y="0"/>
                </a:cxn>
                <a:cxn ang="0">
                  <a:pos x="50" y="6"/>
                </a:cxn>
                <a:cxn ang="0">
                  <a:pos x="56" y="21"/>
                </a:cxn>
                <a:cxn ang="0">
                  <a:pos x="56" y="30"/>
                </a:cxn>
                <a:cxn ang="0">
                  <a:pos x="57" y="42"/>
                </a:cxn>
                <a:cxn ang="0">
                  <a:pos x="60" y="54"/>
                </a:cxn>
                <a:cxn ang="0">
                  <a:pos x="61" y="68"/>
                </a:cxn>
                <a:cxn ang="0">
                  <a:pos x="61" y="81"/>
                </a:cxn>
                <a:cxn ang="0">
                  <a:pos x="69" y="91"/>
                </a:cxn>
                <a:cxn ang="0">
                  <a:pos x="61" y="97"/>
                </a:cxn>
                <a:cxn ang="0">
                  <a:pos x="55" y="92"/>
                </a:cxn>
                <a:cxn ang="0">
                  <a:pos x="61" y="97"/>
                </a:cxn>
              </a:cxnLst>
              <a:rect l="0" t="0" r="r" b="b"/>
              <a:pathLst>
                <a:path w="69" h="114">
                  <a:moveTo>
                    <a:pt x="61" y="97"/>
                  </a:moveTo>
                  <a:lnTo>
                    <a:pt x="50" y="100"/>
                  </a:lnTo>
                  <a:lnTo>
                    <a:pt x="38" y="105"/>
                  </a:lnTo>
                  <a:lnTo>
                    <a:pt x="27" y="110"/>
                  </a:lnTo>
                  <a:lnTo>
                    <a:pt x="16" y="114"/>
                  </a:lnTo>
                  <a:lnTo>
                    <a:pt x="1" y="109"/>
                  </a:lnTo>
                  <a:lnTo>
                    <a:pt x="6" y="105"/>
                  </a:lnTo>
                  <a:lnTo>
                    <a:pt x="3" y="91"/>
                  </a:lnTo>
                  <a:lnTo>
                    <a:pt x="0" y="78"/>
                  </a:lnTo>
                  <a:lnTo>
                    <a:pt x="6" y="66"/>
                  </a:lnTo>
                  <a:lnTo>
                    <a:pt x="10" y="52"/>
                  </a:lnTo>
                  <a:lnTo>
                    <a:pt x="8" y="30"/>
                  </a:lnTo>
                  <a:lnTo>
                    <a:pt x="7" y="16"/>
                  </a:lnTo>
                  <a:lnTo>
                    <a:pt x="6" y="2"/>
                  </a:lnTo>
                  <a:lnTo>
                    <a:pt x="25" y="2"/>
                  </a:lnTo>
                  <a:lnTo>
                    <a:pt x="43" y="1"/>
                  </a:lnTo>
                  <a:lnTo>
                    <a:pt x="48" y="0"/>
                  </a:lnTo>
                  <a:lnTo>
                    <a:pt x="50" y="6"/>
                  </a:lnTo>
                  <a:lnTo>
                    <a:pt x="56" y="21"/>
                  </a:lnTo>
                  <a:lnTo>
                    <a:pt x="56" y="30"/>
                  </a:lnTo>
                  <a:lnTo>
                    <a:pt x="57" y="42"/>
                  </a:lnTo>
                  <a:lnTo>
                    <a:pt x="60" y="54"/>
                  </a:lnTo>
                  <a:lnTo>
                    <a:pt x="61" y="68"/>
                  </a:lnTo>
                  <a:lnTo>
                    <a:pt x="61" y="81"/>
                  </a:lnTo>
                  <a:lnTo>
                    <a:pt x="69" y="91"/>
                  </a:lnTo>
                  <a:lnTo>
                    <a:pt x="61" y="97"/>
                  </a:lnTo>
                  <a:lnTo>
                    <a:pt x="55" y="92"/>
                  </a:lnTo>
                  <a:lnTo>
                    <a:pt x="61" y="9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9" name="Freeform 118"/>
            <p:cNvSpPr>
              <a:spLocks/>
            </p:cNvSpPr>
            <p:nvPr/>
          </p:nvSpPr>
          <p:spPr bwMode="auto">
            <a:xfrm>
              <a:off x="2267" y="2452"/>
              <a:ext cx="129" cy="109"/>
            </a:xfrm>
            <a:custGeom>
              <a:avLst/>
              <a:gdLst/>
              <a:ahLst/>
              <a:cxnLst>
                <a:cxn ang="0">
                  <a:pos x="105" y="23"/>
                </a:cxn>
                <a:cxn ang="0">
                  <a:pos x="102" y="29"/>
                </a:cxn>
                <a:cxn ang="0">
                  <a:pos x="105" y="29"/>
                </a:cxn>
                <a:cxn ang="0">
                  <a:pos x="112" y="46"/>
                </a:cxn>
                <a:cxn ang="0">
                  <a:pos x="111" y="59"/>
                </a:cxn>
                <a:cxn ang="0">
                  <a:pos x="113" y="62"/>
                </a:cxn>
                <a:cxn ang="0">
                  <a:pos x="114" y="66"/>
                </a:cxn>
                <a:cxn ang="0">
                  <a:pos x="116" y="72"/>
                </a:cxn>
                <a:cxn ang="0">
                  <a:pos x="116" y="77"/>
                </a:cxn>
                <a:cxn ang="0">
                  <a:pos x="108" y="78"/>
                </a:cxn>
                <a:cxn ang="0">
                  <a:pos x="111" y="85"/>
                </a:cxn>
                <a:cxn ang="0">
                  <a:pos x="106" y="91"/>
                </a:cxn>
                <a:cxn ang="0">
                  <a:pos x="105" y="92"/>
                </a:cxn>
                <a:cxn ang="0">
                  <a:pos x="100" y="92"/>
                </a:cxn>
                <a:cxn ang="0">
                  <a:pos x="93" y="97"/>
                </a:cxn>
                <a:cxn ang="0">
                  <a:pos x="89" y="94"/>
                </a:cxn>
                <a:cxn ang="0">
                  <a:pos x="84" y="76"/>
                </a:cxn>
                <a:cxn ang="0">
                  <a:pos x="76" y="76"/>
                </a:cxn>
                <a:cxn ang="0">
                  <a:pos x="70" y="77"/>
                </a:cxn>
                <a:cxn ang="0">
                  <a:pos x="71" y="65"/>
                </a:cxn>
                <a:cxn ang="0">
                  <a:pos x="62" y="48"/>
                </a:cxn>
                <a:cxn ang="0">
                  <a:pos x="40" y="54"/>
                </a:cxn>
                <a:cxn ang="0">
                  <a:pos x="28" y="66"/>
                </a:cxn>
                <a:cxn ang="0">
                  <a:pos x="27" y="60"/>
                </a:cxn>
                <a:cxn ang="0">
                  <a:pos x="23" y="55"/>
                </a:cxn>
                <a:cxn ang="0">
                  <a:pos x="21" y="52"/>
                </a:cxn>
                <a:cxn ang="0">
                  <a:pos x="16" y="47"/>
                </a:cxn>
                <a:cxn ang="0">
                  <a:pos x="8" y="37"/>
                </a:cxn>
                <a:cxn ang="0">
                  <a:pos x="8" y="34"/>
                </a:cxn>
                <a:cxn ang="0">
                  <a:pos x="6" y="35"/>
                </a:cxn>
                <a:cxn ang="0">
                  <a:pos x="5" y="30"/>
                </a:cxn>
                <a:cxn ang="0">
                  <a:pos x="0" y="32"/>
                </a:cxn>
                <a:cxn ang="0">
                  <a:pos x="2" y="31"/>
                </a:cxn>
                <a:cxn ang="0">
                  <a:pos x="5" y="24"/>
                </a:cxn>
                <a:cxn ang="0">
                  <a:pos x="20" y="18"/>
                </a:cxn>
                <a:cxn ang="0">
                  <a:pos x="20" y="8"/>
                </a:cxn>
                <a:cxn ang="0">
                  <a:pos x="22" y="0"/>
                </a:cxn>
                <a:cxn ang="0">
                  <a:pos x="36" y="4"/>
                </a:cxn>
                <a:cxn ang="0">
                  <a:pos x="59" y="5"/>
                </a:cxn>
                <a:cxn ang="0">
                  <a:pos x="57" y="10"/>
                </a:cxn>
                <a:cxn ang="0">
                  <a:pos x="66" y="10"/>
                </a:cxn>
                <a:cxn ang="0">
                  <a:pos x="71" y="12"/>
                </a:cxn>
                <a:cxn ang="0">
                  <a:pos x="81" y="11"/>
                </a:cxn>
                <a:cxn ang="0">
                  <a:pos x="92" y="7"/>
                </a:cxn>
                <a:cxn ang="0">
                  <a:pos x="94" y="4"/>
                </a:cxn>
                <a:cxn ang="0">
                  <a:pos x="99" y="18"/>
                </a:cxn>
                <a:cxn ang="0">
                  <a:pos x="105" y="23"/>
                </a:cxn>
              </a:cxnLst>
              <a:rect l="0" t="0" r="r" b="b"/>
              <a:pathLst>
                <a:path w="116" h="97">
                  <a:moveTo>
                    <a:pt x="105" y="23"/>
                  </a:moveTo>
                  <a:lnTo>
                    <a:pt x="102" y="29"/>
                  </a:lnTo>
                  <a:lnTo>
                    <a:pt x="105" y="29"/>
                  </a:lnTo>
                  <a:lnTo>
                    <a:pt x="112" y="46"/>
                  </a:lnTo>
                  <a:lnTo>
                    <a:pt x="111" y="59"/>
                  </a:lnTo>
                  <a:lnTo>
                    <a:pt x="113" y="62"/>
                  </a:lnTo>
                  <a:lnTo>
                    <a:pt x="114" y="66"/>
                  </a:lnTo>
                  <a:lnTo>
                    <a:pt x="116" y="72"/>
                  </a:lnTo>
                  <a:lnTo>
                    <a:pt x="116" y="77"/>
                  </a:lnTo>
                  <a:lnTo>
                    <a:pt x="108" y="78"/>
                  </a:lnTo>
                  <a:lnTo>
                    <a:pt x="111" y="85"/>
                  </a:lnTo>
                  <a:lnTo>
                    <a:pt x="106" y="91"/>
                  </a:lnTo>
                  <a:lnTo>
                    <a:pt x="105" y="92"/>
                  </a:lnTo>
                  <a:lnTo>
                    <a:pt x="100" y="92"/>
                  </a:lnTo>
                  <a:lnTo>
                    <a:pt x="93" y="97"/>
                  </a:lnTo>
                  <a:lnTo>
                    <a:pt x="89" y="94"/>
                  </a:lnTo>
                  <a:lnTo>
                    <a:pt x="84" y="76"/>
                  </a:lnTo>
                  <a:lnTo>
                    <a:pt x="76" y="76"/>
                  </a:lnTo>
                  <a:lnTo>
                    <a:pt x="70" y="77"/>
                  </a:lnTo>
                  <a:lnTo>
                    <a:pt x="71" y="65"/>
                  </a:lnTo>
                  <a:lnTo>
                    <a:pt x="62" y="48"/>
                  </a:lnTo>
                  <a:lnTo>
                    <a:pt x="40" y="54"/>
                  </a:lnTo>
                  <a:lnTo>
                    <a:pt x="28" y="66"/>
                  </a:lnTo>
                  <a:lnTo>
                    <a:pt x="27" y="60"/>
                  </a:lnTo>
                  <a:lnTo>
                    <a:pt x="23" y="55"/>
                  </a:lnTo>
                  <a:lnTo>
                    <a:pt x="21" y="52"/>
                  </a:lnTo>
                  <a:lnTo>
                    <a:pt x="16" y="47"/>
                  </a:lnTo>
                  <a:lnTo>
                    <a:pt x="8" y="37"/>
                  </a:lnTo>
                  <a:lnTo>
                    <a:pt x="8" y="34"/>
                  </a:lnTo>
                  <a:lnTo>
                    <a:pt x="6" y="35"/>
                  </a:lnTo>
                  <a:lnTo>
                    <a:pt x="5" y="30"/>
                  </a:lnTo>
                  <a:lnTo>
                    <a:pt x="0" y="32"/>
                  </a:lnTo>
                  <a:lnTo>
                    <a:pt x="2" y="31"/>
                  </a:lnTo>
                  <a:lnTo>
                    <a:pt x="5" y="24"/>
                  </a:lnTo>
                  <a:lnTo>
                    <a:pt x="20" y="18"/>
                  </a:lnTo>
                  <a:lnTo>
                    <a:pt x="20" y="8"/>
                  </a:lnTo>
                  <a:lnTo>
                    <a:pt x="22" y="0"/>
                  </a:lnTo>
                  <a:lnTo>
                    <a:pt x="36" y="4"/>
                  </a:lnTo>
                  <a:lnTo>
                    <a:pt x="59" y="5"/>
                  </a:lnTo>
                  <a:lnTo>
                    <a:pt x="57" y="10"/>
                  </a:lnTo>
                  <a:lnTo>
                    <a:pt x="66" y="10"/>
                  </a:lnTo>
                  <a:lnTo>
                    <a:pt x="71" y="12"/>
                  </a:lnTo>
                  <a:lnTo>
                    <a:pt x="81" y="11"/>
                  </a:lnTo>
                  <a:lnTo>
                    <a:pt x="92" y="7"/>
                  </a:lnTo>
                  <a:lnTo>
                    <a:pt x="94" y="4"/>
                  </a:lnTo>
                  <a:lnTo>
                    <a:pt x="99" y="18"/>
                  </a:lnTo>
                  <a:lnTo>
                    <a:pt x="105" y="2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0" name="Freeform 119"/>
            <p:cNvSpPr>
              <a:spLocks/>
            </p:cNvSpPr>
            <p:nvPr/>
          </p:nvSpPr>
          <p:spPr bwMode="auto">
            <a:xfrm>
              <a:off x="2240" y="2452"/>
              <a:ext cx="51" cy="35"/>
            </a:xfrm>
            <a:custGeom>
              <a:avLst/>
              <a:gdLst/>
              <a:ahLst/>
              <a:cxnLst>
                <a:cxn ang="0">
                  <a:pos x="24" y="19"/>
                </a:cxn>
                <a:cxn ang="0">
                  <a:pos x="22" y="24"/>
                </a:cxn>
                <a:cxn ang="0">
                  <a:pos x="24" y="29"/>
                </a:cxn>
                <a:cxn ang="0">
                  <a:pos x="27" y="31"/>
                </a:cxn>
                <a:cxn ang="0">
                  <a:pos x="30" y="24"/>
                </a:cxn>
                <a:cxn ang="0">
                  <a:pos x="45" y="18"/>
                </a:cxn>
                <a:cxn ang="0">
                  <a:pos x="45" y="8"/>
                </a:cxn>
                <a:cxn ang="0">
                  <a:pos x="47" y="0"/>
                </a:cxn>
                <a:cxn ang="0">
                  <a:pos x="34" y="1"/>
                </a:cxn>
                <a:cxn ang="0">
                  <a:pos x="21" y="2"/>
                </a:cxn>
                <a:cxn ang="0">
                  <a:pos x="0" y="7"/>
                </a:cxn>
                <a:cxn ang="0">
                  <a:pos x="7" y="7"/>
                </a:cxn>
                <a:cxn ang="0">
                  <a:pos x="5" y="11"/>
                </a:cxn>
                <a:cxn ang="0">
                  <a:pos x="13" y="12"/>
                </a:cxn>
                <a:cxn ang="0">
                  <a:pos x="12" y="14"/>
                </a:cxn>
                <a:cxn ang="0">
                  <a:pos x="23" y="14"/>
                </a:cxn>
                <a:cxn ang="0">
                  <a:pos x="27" y="17"/>
                </a:cxn>
                <a:cxn ang="0">
                  <a:pos x="18" y="18"/>
                </a:cxn>
                <a:cxn ang="0">
                  <a:pos x="24" y="19"/>
                </a:cxn>
              </a:cxnLst>
              <a:rect l="0" t="0" r="r" b="b"/>
              <a:pathLst>
                <a:path w="47" h="31">
                  <a:moveTo>
                    <a:pt x="24" y="19"/>
                  </a:moveTo>
                  <a:lnTo>
                    <a:pt x="22" y="24"/>
                  </a:lnTo>
                  <a:lnTo>
                    <a:pt x="24" y="29"/>
                  </a:lnTo>
                  <a:lnTo>
                    <a:pt x="27" y="31"/>
                  </a:lnTo>
                  <a:lnTo>
                    <a:pt x="30" y="24"/>
                  </a:lnTo>
                  <a:lnTo>
                    <a:pt x="45" y="18"/>
                  </a:lnTo>
                  <a:lnTo>
                    <a:pt x="45" y="8"/>
                  </a:lnTo>
                  <a:lnTo>
                    <a:pt x="47" y="0"/>
                  </a:lnTo>
                  <a:lnTo>
                    <a:pt x="34" y="1"/>
                  </a:lnTo>
                  <a:lnTo>
                    <a:pt x="21" y="2"/>
                  </a:lnTo>
                  <a:lnTo>
                    <a:pt x="0" y="7"/>
                  </a:lnTo>
                  <a:lnTo>
                    <a:pt x="7" y="7"/>
                  </a:lnTo>
                  <a:lnTo>
                    <a:pt x="5" y="11"/>
                  </a:lnTo>
                  <a:lnTo>
                    <a:pt x="13" y="12"/>
                  </a:lnTo>
                  <a:lnTo>
                    <a:pt x="12" y="14"/>
                  </a:lnTo>
                  <a:lnTo>
                    <a:pt x="23" y="14"/>
                  </a:lnTo>
                  <a:lnTo>
                    <a:pt x="27" y="17"/>
                  </a:lnTo>
                  <a:lnTo>
                    <a:pt x="18" y="18"/>
                  </a:lnTo>
                  <a:lnTo>
                    <a:pt x="24"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1" name="Freeform 120"/>
            <p:cNvSpPr>
              <a:spLocks/>
            </p:cNvSpPr>
            <p:nvPr/>
          </p:nvSpPr>
          <p:spPr bwMode="auto">
            <a:xfrm>
              <a:off x="2382" y="2492"/>
              <a:ext cx="105" cy="127"/>
            </a:xfrm>
            <a:custGeom>
              <a:avLst/>
              <a:gdLst/>
              <a:ahLst/>
              <a:cxnLst>
                <a:cxn ang="0">
                  <a:pos x="53" y="7"/>
                </a:cxn>
                <a:cxn ang="0">
                  <a:pos x="47" y="5"/>
                </a:cxn>
                <a:cxn ang="0">
                  <a:pos x="36" y="7"/>
                </a:cxn>
                <a:cxn ang="0">
                  <a:pos x="33" y="0"/>
                </a:cxn>
                <a:cxn ang="0">
                  <a:pos x="27" y="4"/>
                </a:cxn>
                <a:cxn ang="0">
                  <a:pos x="20" y="8"/>
                </a:cxn>
                <a:cxn ang="0">
                  <a:pos x="11" y="6"/>
                </a:cxn>
                <a:cxn ang="0">
                  <a:pos x="7" y="10"/>
                </a:cxn>
                <a:cxn ang="0">
                  <a:pos x="6" y="23"/>
                </a:cxn>
                <a:cxn ang="0">
                  <a:pos x="8" y="26"/>
                </a:cxn>
                <a:cxn ang="0">
                  <a:pos x="9" y="30"/>
                </a:cxn>
                <a:cxn ang="0">
                  <a:pos x="11" y="36"/>
                </a:cxn>
                <a:cxn ang="0">
                  <a:pos x="11" y="41"/>
                </a:cxn>
                <a:cxn ang="0">
                  <a:pos x="3" y="42"/>
                </a:cxn>
                <a:cxn ang="0">
                  <a:pos x="6" y="49"/>
                </a:cxn>
                <a:cxn ang="0">
                  <a:pos x="1" y="55"/>
                </a:cxn>
                <a:cxn ang="0">
                  <a:pos x="0" y="56"/>
                </a:cxn>
                <a:cxn ang="0">
                  <a:pos x="0" y="72"/>
                </a:cxn>
                <a:cxn ang="0">
                  <a:pos x="0" y="76"/>
                </a:cxn>
                <a:cxn ang="0">
                  <a:pos x="9" y="84"/>
                </a:cxn>
                <a:cxn ang="0">
                  <a:pos x="17" y="92"/>
                </a:cxn>
                <a:cxn ang="0">
                  <a:pos x="14" y="114"/>
                </a:cxn>
                <a:cxn ang="0">
                  <a:pos x="35" y="107"/>
                </a:cxn>
                <a:cxn ang="0">
                  <a:pos x="54" y="100"/>
                </a:cxn>
                <a:cxn ang="0">
                  <a:pos x="49" y="100"/>
                </a:cxn>
                <a:cxn ang="0">
                  <a:pos x="69" y="98"/>
                </a:cxn>
                <a:cxn ang="0">
                  <a:pos x="60" y="98"/>
                </a:cxn>
                <a:cxn ang="0">
                  <a:pos x="72" y="97"/>
                </a:cxn>
                <a:cxn ang="0">
                  <a:pos x="81" y="98"/>
                </a:cxn>
                <a:cxn ang="0">
                  <a:pos x="84" y="101"/>
                </a:cxn>
                <a:cxn ang="0">
                  <a:pos x="89" y="97"/>
                </a:cxn>
                <a:cxn ang="0">
                  <a:pos x="86" y="83"/>
                </a:cxn>
                <a:cxn ang="0">
                  <a:pos x="83" y="70"/>
                </a:cxn>
                <a:cxn ang="0">
                  <a:pos x="89" y="58"/>
                </a:cxn>
                <a:cxn ang="0">
                  <a:pos x="93" y="44"/>
                </a:cxn>
                <a:cxn ang="0">
                  <a:pos x="91" y="22"/>
                </a:cxn>
                <a:cxn ang="0">
                  <a:pos x="77" y="13"/>
                </a:cxn>
                <a:cxn ang="0">
                  <a:pos x="62" y="18"/>
                </a:cxn>
                <a:cxn ang="0">
                  <a:pos x="53" y="7"/>
                </a:cxn>
              </a:cxnLst>
              <a:rect l="0" t="0" r="r" b="b"/>
              <a:pathLst>
                <a:path w="93" h="114">
                  <a:moveTo>
                    <a:pt x="53" y="7"/>
                  </a:moveTo>
                  <a:lnTo>
                    <a:pt x="47" y="5"/>
                  </a:lnTo>
                  <a:lnTo>
                    <a:pt x="36" y="7"/>
                  </a:lnTo>
                  <a:lnTo>
                    <a:pt x="33" y="0"/>
                  </a:lnTo>
                  <a:lnTo>
                    <a:pt x="27" y="4"/>
                  </a:lnTo>
                  <a:lnTo>
                    <a:pt x="20" y="8"/>
                  </a:lnTo>
                  <a:lnTo>
                    <a:pt x="11" y="6"/>
                  </a:lnTo>
                  <a:lnTo>
                    <a:pt x="7" y="10"/>
                  </a:lnTo>
                  <a:lnTo>
                    <a:pt x="6" y="23"/>
                  </a:lnTo>
                  <a:lnTo>
                    <a:pt x="8" y="26"/>
                  </a:lnTo>
                  <a:lnTo>
                    <a:pt x="9" y="30"/>
                  </a:lnTo>
                  <a:lnTo>
                    <a:pt x="11" y="36"/>
                  </a:lnTo>
                  <a:lnTo>
                    <a:pt x="11" y="41"/>
                  </a:lnTo>
                  <a:lnTo>
                    <a:pt x="3" y="42"/>
                  </a:lnTo>
                  <a:lnTo>
                    <a:pt x="6" y="49"/>
                  </a:lnTo>
                  <a:lnTo>
                    <a:pt x="1" y="55"/>
                  </a:lnTo>
                  <a:lnTo>
                    <a:pt x="0" y="56"/>
                  </a:lnTo>
                  <a:lnTo>
                    <a:pt x="0" y="72"/>
                  </a:lnTo>
                  <a:lnTo>
                    <a:pt x="0" y="76"/>
                  </a:lnTo>
                  <a:lnTo>
                    <a:pt x="9" y="84"/>
                  </a:lnTo>
                  <a:lnTo>
                    <a:pt x="17" y="92"/>
                  </a:lnTo>
                  <a:lnTo>
                    <a:pt x="14" y="114"/>
                  </a:lnTo>
                  <a:lnTo>
                    <a:pt x="35" y="107"/>
                  </a:lnTo>
                  <a:lnTo>
                    <a:pt x="54" y="100"/>
                  </a:lnTo>
                  <a:lnTo>
                    <a:pt x="49" y="100"/>
                  </a:lnTo>
                  <a:lnTo>
                    <a:pt x="69" y="98"/>
                  </a:lnTo>
                  <a:lnTo>
                    <a:pt x="60" y="98"/>
                  </a:lnTo>
                  <a:lnTo>
                    <a:pt x="72" y="97"/>
                  </a:lnTo>
                  <a:lnTo>
                    <a:pt x="81" y="98"/>
                  </a:lnTo>
                  <a:lnTo>
                    <a:pt x="84" y="101"/>
                  </a:lnTo>
                  <a:lnTo>
                    <a:pt x="89" y="97"/>
                  </a:lnTo>
                  <a:lnTo>
                    <a:pt x="86" y="83"/>
                  </a:lnTo>
                  <a:lnTo>
                    <a:pt x="83" y="70"/>
                  </a:lnTo>
                  <a:lnTo>
                    <a:pt x="89" y="58"/>
                  </a:lnTo>
                  <a:lnTo>
                    <a:pt x="93" y="44"/>
                  </a:lnTo>
                  <a:lnTo>
                    <a:pt x="91" y="22"/>
                  </a:lnTo>
                  <a:lnTo>
                    <a:pt x="77" y="13"/>
                  </a:lnTo>
                  <a:lnTo>
                    <a:pt x="62" y="18"/>
                  </a:lnTo>
                  <a:lnTo>
                    <a:pt x="53"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2" name="Freeform 121"/>
            <p:cNvSpPr>
              <a:spLocks/>
            </p:cNvSpPr>
            <p:nvPr/>
          </p:nvSpPr>
          <p:spPr bwMode="auto">
            <a:xfrm>
              <a:off x="2298" y="2505"/>
              <a:ext cx="53" cy="62"/>
            </a:xfrm>
            <a:custGeom>
              <a:avLst/>
              <a:gdLst/>
              <a:ahLst/>
              <a:cxnLst>
                <a:cxn ang="0">
                  <a:pos x="48" y="28"/>
                </a:cxn>
                <a:cxn ang="0">
                  <a:pos x="41" y="38"/>
                </a:cxn>
                <a:cxn ang="0">
                  <a:pos x="34" y="49"/>
                </a:cxn>
                <a:cxn ang="0">
                  <a:pos x="29" y="55"/>
                </a:cxn>
                <a:cxn ang="0">
                  <a:pos x="12" y="47"/>
                </a:cxn>
                <a:cxn ang="0">
                  <a:pos x="16" y="44"/>
                </a:cxn>
                <a:cxn ang="0">
                  <a:pos x="12" y="42"/>
                </a:cxn>
                <a:cxn ang="0">
                  <a:pos x="1" y="30"/>
                </a:cxn>
                <a:cxn ang="0">
                  <a:pos x="6" y="26"/>
                </a:cxn>
                <a:cxn ang="0">
                  <a:pos x="1" y="24"/>
                </a:cxn>
                <a:cxn ang="0">
                  <a:pos x="5" y="22"/>
                </a:cxn>
                <a:cxn ang="0">
                  <a:pos x="0" y="18"/>
                </a:cxn>
                <a:cxn ang="0">
                  <a:pos x="12" y="6"/>
                </a:cxn>
                <a:cxn ang="0">
                  <a:pos x="34" y="0"/>
                </a:cxn>
                <a:cxn ang="0">
                  <a:pos x="43" y="17"/>
                </a:cxn>
                <a:cxn ang="0">
                  <a:pos x="42" y="29"/>
                </a:cxn>
                <a:cxn ang="0">
                  <a:pos x="48" y="28"/>
                </a:cxn>
              </a:cxnLst>
              <a:rect l="0" t="0" r="r" b="b"/>
              <a:pathLst>
                <a:path w="48" h="55">
                  <a:moveTo>
                    <a:pt x="48" y="28"/>
                  </a:moveTo>
                  <a:lnTo>
                    <a:pt x="41" y="38"/>
                  </a:lnTo>
                  <a:lnTo>
                    <a:pt x="34" y="49"/>
                  </a:lnTo>
                  <a:lnTo>
                    <a:pt x="29" y="55"/>
                  </a:lnTo>
                  <a:lnTo>
                    <a:pt x="12" y="47"/>
                  </a:lnTo>
                  <a:lnTo>
                    <a:pt x="16" y="44"/>
                  </a:lnTo>
                  <a:lnTo>
                    <a:pt x="12" y="42"/>
                  </a:lnTo>
                  <a:lnTo>
                    <a:pt x="1" y="30"/>
                  </a:lnTo>
                  <a:lnTo>
                    <a:pt x="6" y="26"/>
                  </a:lnTo>
                  <a:lnTo>
                    <a:pt x="1" y="24"/>
                  </a:lnTo>
                  <a:lnTo>
                    <a:pt x="5" y="22"/>
                  </a:lnTo>
                  <a:lnTo>
                    <a:pt x="0" y="18"/>
                  </a:lnTo>
                  <a:lnTo>
                    <a:pt x="12" y="6"/>
                  </a:lnTo>
                  <a:lnTo>
                    <a:pt x="34" y="0"/>
                  </a:lnTo>
                  <a:lnTo>
                    <a:pt x="43" y="17"/>
                  </a:lnTo>
                  <a:lnTo>
                    <a:pt x="42" y="29"/>
                  </a:lnTo>
                  <a:lnTo>
                    <a:pt x="48"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3" name="Freeform 122"/>
            <p:cNvSpPr>
              <a:spLocks/>
            </p:cNvSpPr>
            <p:nvPr/>
          </p:nvSpPr>
          <p:spPr bwMode="auto">
            <a:xfrm>
              <a:off x="2529" y="2483"/>
              <a:ext cx="31" cy="100"/>
            </a:xfrm>
            <a:custGeom>
              <a:avLst/>
              <a:gdLst/>
              <a:ahLst/>
              <a:cxnLst>
                <a:cxn ang="0">
                  <a:pos x="13" y="2"/>
                </a:cxn>
                <a:cxn ang="0">
                  <a:pos x="0" y="0"/>
                </a:cxn>
                <a:cxn ang="0">
                  <a:pos x="2" y="6"/>
                </a:cxn>
                <a:cxn ang="0">
                  <a:pos x="8" y="21"/>
                </a:cxn>
                <a:cxn ang="0">
                  <a:pos x="8" y="30"/>
                </a:cxn>
                <a:cxn ang="0">
                  <a:pos x="9" y="42"/>
                </a:cxn>
                <a:cxn ang="0">
                  <a:pos x="12" y="54"/>
                </a:cxn>
                <a:cxn ang="0">
                  <a:pos x="13" y="68"/>
                </a:cxn>
                <a:cxn ang="0">
                  <a:pos x="13" y="81"/>
                </a:cxn>
                <a:cxn ang="0">
                  <a:pos x="21" y="91"/>
                </a:cxn>
                <a:cxn ang="0">
                  <a:pos x="28" y="88"/>
                </a:cxn>
                <a:cxn ang="0">
                  <a:pos x="27" y="75"/>
                </a:cxn>
                <a:cxn ang="0">
                  <a:pos x="27" y="62"/>
                </a:cxn>
                <a:cxn ang="0">
                  <a:pos x="26" y="48"/>
                </a:cxn>
                <a:cxn ang="0">
                  <a:pos x="26" y="34"/>
                </a:cxn>
                <a:cxn ang="0">
                  <a:pos x="24" y="20"/>
                </a:cxn>
                <a:cxn ang="0">
                  <a:pos x="15" y="10"/>
                </a:cxn>
                <a:cxn ang="0">
                  <a:pos x="16" y="2"/>
                </a:cxn>
                <a:cxn ang="0">
                  <a:pos x="13" y="2"/>
                </a:cxn>
              </a:cxnLst>
              <a:rect l="0" t="0" r="r" b="b"/>
              <a:pathLst>
                <a:path w="28" h="91">
                  <a:moveTo>
                    <a:pt x="13" y="2"/>
                  </a:moveTo>
                  <a:lnTo>
                    <a:pt x="0" y="0"/>
                  </a:lnTo>
                  <a:lnTo>
                    <a:pt x="2" y="6"/>
                  </a:lnTo>
                  <a:lnTo>
                    <a:pt x="8" y="21"/>
                  </a:lnTo>
                  <a:lnTo>
                    <a:pt x="8" y="30"/>
                  </a:lnTo>
                  <a:lnTo>
                    <a:pt x="9" y="42"/>
                  </a:lnTo>
                  <a:lnTo>
                    <a:pt x="12" y="54"/>
                  </a:lnTo>
                  <a:lnTo>
                    <a:pt x="13" y="68"/>
                  </a:lnTo>
                  <a:lnTo>
                    <a:pt x="13" y="81"/>
                  </a:lnTo>
                  <a:lnTo>
                    <a:pt x="21" y="91"/>
                  </a:lnTo>
                  <a:lnTo>
                    <a:pt x="28" y="88"/>
                  </a:lnTo>
                  <a:lnTo>
                    <a:pt x="27" y="75"/>
                  </a:lnTo>
                  <a:lnTo>
                    <a:pt x="27" y="62"/>
                  </a:lnTo>
                  <a:lnTo>
                    <a:pt x="26" y="48"/>
                  </a:lnTo>
                  <a:lnTo>
                    <a:pt x="26" y="34"/>
                  </a:lnTo>
                  <a:lnTo>
                    <a:pt x="24" y="20"/>
                  </a:lnTo>
                  <a:lnTo>
                    <a:pt x="15" y="10"/>
                  </a:lnTo>
                  <a:lnTo>
                    <a:pt x="16" y="2"/>
                  </a:lnTo>
                  <a:lnTo>
                    <a:pt x="1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4" name="Freeform 123"/>
            <p:cNvSpPr>
              <a:spLocks/>
            </p:cNvSpPr>
            <p:nvPr/>
          </p:nvSpPr>
          <p:spPr bwMode="auto">
            <a:xfrm>
              <a:off x="2382" y="1970"/>
              <a:ext cx="356" cy="353"/>
            </a:xfrm>
            <a:custGeom>
              <a:avLst/>
              <a:gdLst/>
              <a:ahLst/>
              <a:cxnLst>
                <a:cxn ang="0">
                  <a:pos x="0" y="165"/>
                </a:cxn>
                <a:cxn ang="0">
                  <a:pos x="15" y="182"/>
                </a:cxn>
                <a:cxn ang="0">
                  <a:pos x="44" y="202"/>
                </a:cxn>
                <a:cxn ang="0">
                  <a:pos x="71" y="222"/>
                </a:cxn>
                <a:cxn ang="0">
                  <a:pos x="93" y="240"/>
                </a:cxn>
                <a:cxn ang="0">
                  <a:pos x="116" y="256"/>
                </a:cxn>
                <a:cxn ang="0">
                  <a:pos x="140" y="274"/>
                </a:cxn>
                <a:cxn ang="0">
                  <a:pos x="151" y="289"/>
                </a:cxn>
                <a:cxn ang="0">
                  <a:pos x="181" y="304"/>
                </a:cxn>
                <a:cxn ang="0">
                  <a:pos x="199" y="318"/>
                </a:cxn>
                <a:cxn ang="0">
                  <a:pos x="224" y="313"/>
                </a:cxn>
                <a:cxn ang="0">
                  <a:pos x="249" y="288"/>
                </a:cxn>
                <a:cxn ang="0">
                  <a:pos x="284" y="264"/>
                </a:cxn>
                <a:cxn ang="0">
                  <a:pos x="319" y="240"/>
                </a:cxn>
                <a:cxn ang="0">
                  <a:pos x="294" y="223"/>
                </a:cxn>
                <a:cxn ang="0">
                  <a:pos x="278" y="193"/>
                </a:cxn>
                <a:cxn ang="0">
                  <a:pos x="284" y="165"/>
                </a:cxn>
                <a:cxn ang="0">
                  <a:pos x="277" y="123"/>
                </a:cxn>
                <a:cxn ang="0">
                  <a:pos x="275" y="103"/>
                </a:cxn>
                <a:cxn ang="0">
                  <a:pos x="258" y="73"/>
                </a:cxn>
                <a:cxn ang="0">
                  <a:pos x="253" y="42"/>
                </a:cxn>
                <a:cxn ang="0">
                  <a:pos x="258" y="4"/>
                </a:cxn>
                <a:cxn ang="0">
                  <a:pos x="237" y="0"/>
                </a:cxn>
                <a:cxn ang="0">
                  <a:pos x="209" y="2"/>
                </a:cxn>
                <a:cxn ang="0">
                  <a:pos x="175" y="2"/>
                </a:cxn>
                <a:cxn ang="0">
                  <a:pos x="137" y="14"/>
                </a:cxn>
                <a:cxn ang="0">
                  <a:pos x="114" y="25"/>
                </a:cxn>
                <a:cxn ang="0">
                  <a:pos x="104" y="36"/>
                </a:cxn>
                <a:cxn ang="0">
                  <a:pos x="108" y="62"/>
                </a:cxn>
                <a:cxn ang="0">
                  <a:pos x="114" y="84"/>
                </a:cxn>
                <a:cxn ang="0">
                  <a:pos x="78" y="92"/>
                </a:cxn>
                <a:cxn ang="0">
                  <a:pos x="67" y="111"/>
                </a:cxn>
                <a:cxn ang="0">
                  <a:pos x="42" y="124"/>
                </a:cxn>
                <a:cxn ang="0">
                  <a:pos x="17" y="138"/>
                </a:cxn>
              </a:cxnLst>
              <a:rect l="0" t="0" r="r" b="b"/>
              <a:pathLst>
                <a:path w="319" h="318">
                  <a:moveTo>
                    <a:pt x="3" y="144"/>
                  </a:moveTo>
                  <a:lnTo>
                    <a:pt x="0" y="165"/>
                  </a:lnTo>
                  <a:lnTo>
                    <a:pt x="0" y="172"/>
                  </a:lnTo>
                  <a:lnTo>
                    <a:pt x="15" y="182"/>
                  </a:lnTo>
                  <a:lnTo>
                    <a:pt x="30" y="193"/>
                  </a:lnTo>
                  <a:lnTo>
                    <a:pt x="44" y="202"/>
                  </a:lnTo>
                  <a:lnTo>
                    <a:pt x="59" y="213"/>
                  </a:lnTo>
                  <a:lnTo>
                    <a:pt x="71" y="222"/>
                  </a:lnTo>
                  <a:lnTo>
                    <a:pt x="81" y="230"/>
                  </a:lnTo>
                  <a:lnTo>
                    <a:pt x="93" y="240"/>
                  </a:lnTo>
                  <a:lnTo>
                    <a:pt x="105" y="248"/>
                  </a:lnTo>
                  <a:lnTo>
                    <a:pt x="116" y="256"/>
                  </a:lnTo>
                  <a:lnTo>
                    <a:pt x="128" y="266"/>
                  </a:lnTo>
                  <a:lnTo>
                    <a:pt x="140" y="274"/>
                  </a:lnTo>
                  <a:lnTo>
                    <a:pt x="151" y="283"/>
                  </a:lnTo>
                  <a:lnTo>
                    <a:pt x="151" y="289"/>
                  </a:lnTo>
                  <a:lnTo>
                    <a:pt x="159" y="295"/>
                  </a:lnTo>
                  <a:lnTo>
                    <a:pt x="181" y="304"/>
                  </a:lnTo>
                  <a:lnTo>
                    <a:pt x="182" y="318"/>
                  </a:lnTo>
                  <a:lnTo>
                    <a:pt x="199" y="318"/>
                  </a:lnTo>
                  <a:lnTo>
                    <a:pt x="212" y="315"/>
                  </a:lnTo>
                  <a:lnTo>
                    <a:pt x="224" y="313"/>
                  </a:lnTo>
                  <a:lnTo>
                    <a:pt x="236" y="300"/>
                  </a:lnTo>
                  <a:lnTo>
                    <a:pt x="249" y="288"/>
                  </a:lnTo>
                  <a:lnTo>
                    <a:pt x="266" y="276"/>
                  </a:lnTo>
                  <a:lnTo>
                    <a:pt x="284" y="264"/>
                  </a:lnTo>
                  <a:lnTo>
                    <a:pt x="301" y="252"/>
                  </a:lnTo>
                  <a:lnTo>
                    <a:pt x="319" y="240"/>
                  </a:lnTo>
                  <a:lnTo>
                    <a:pt x="312" y="225"/>
                  </a:lnTo>
                  <a:lnTo>
                    <a:pt x="294" y="223"/>
                  </a:lnTo>
                  <a:lnTo>
                    <a:pt x="288" y="207"/>
                  </a:lnTo>
                  <a:lnTo>
                    <a:pt x="278" y="193"/>
                  </a:lnTo>
                  <a:lnTo>
                    <a:pt x="285" y="186"/>
                  </a:lnTo>
                  <a:lnTo>
                    <a:pt x="284" y="165"/>
                  </a:lnTo>
                  <a:lnTo>
                    <a:pt x="284" y="145"/>
                  </a:lnTo>
                  <a:lnTo>
                    <a:pt x="277" y="123"/>
                  </a:lnTo>
                  <a:lnTo>
                    <a:pt x="278" y="120"/>
                  </a:lnTo>
                  <a:lnTo>
                    <a:pt x="275" y="103"/>
                  </a:lnTo>
                  <a:lnTo>
                    <a:pt x="270" y="86"/>
                  </a:lnTo>
                  <a:lnTo>
                    <a:pt x="258" y="73"/>
                  </a:lnTo>
                  <a:lnTo>
                    <a:pt x="246" y="55"/>
                  </a:lnTo>
                  <a:lnTo>
                    <a:pt x="253" y="42"/>
                  </a:lnTo>
                  <a:lnTo>
                    <a:pt x="259" y="28"/>
                  </a:lnTo>
                  <a:lnTo>
                    <a:pt x="258" y="4"/>
                  </a:lnTo>
                  <a:lnTo>
                    <a:pt x="261" y="0"/>
                  </a:lnTo>
                  <a:lnTo>
                    <a:pt x="237" y="0"/>
                  </a:lnTo>
                  <a:lnTo>
                    <a:pt x="225" y="0"/>
                  </a:lnTo>
                  <a:lnTo>
                    <a:pt x="209" y="2"/>
                  </a:lnTo>
                  <a:lnTo>
                    <a:pt x="192" y="2"/>
                  </a:lnTo>
                  <a:lnTo>
                    <a:pt x="175" y="2"/>
                  </a:lnTo>
                  <a:lnTo>
                    <a:pt x="156" y="8"/>
                  </a:lnTo>
                  <a:lnTo>
                    <a:pt x="137" y="14"/>
                  </a:lnTo>
                  <a:lnTo>
                    <a:pt x="128" y="18"/>
                  </a:lnTo>
                  <a:lnTo>
                    <a:pt x="114" y="25"/>
                  </a:lnTo>
                  <a:lnTo>
                    <a:pt x="101" y="32"/>
                  </a:lnTo>
                  <a:lnTo>
                    <a:pt x="104" y="36"/>
                  </a:lnTo>
                  <a:lnTo>
                    <a:pt x="105" y="49"/>
                  </a:lnTo>
                  <a:lnTo>
                    <a:pt x="108" y="62"/>
                  </a:lnTo>
                  <a:lnTo>
                    <a:pt x="117" y="79"/>
                  </a:lnTo>
                  <a:lnTo>
                    <a:pt x="114" y="84"/>
                  </a:lnTo>
                  <a:lnTo>
                    <a:pt x="98" y="85"/>
                  </a:lnTo>
                  <a:lnTo>
                    <a:pt x="78" y="92"/>
                  </a:lnTo>
                  <a:lnTo>
                    <a:pt x="78" y="103"/>
                  </a:lnTo>
                  <a:lnTo>
                    <a:pt x="67" y="111"/>
                  </a:lnTo>
                  <a:lnTo>
                    <a:pt x="56" y="118"/>
                  </a:lnTo>
                  <a:lnTo>
                    <a:pt x="42" y="124"/>
                  </a:lnTo>
                  <a:lnTo>
                    <a:pt x="29" y="130"/>
                  </a:lnTo>
                  <a:lnTo>
                    <a:pt x="17" y="138"/>
                  </a:lnTo>
                  <a:lnTo>
                    <a:pt x="3" y="1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5" name="Freeform 124"/>
            <p:cNvSpPr>
              <a:spLocks/>
            </p:cNvSpPr>
            <p:nvPr/>
          </p:nvSpPr>
          <p:spPr bwMode="auto">
            <a:xfrm>
              <a:off x="2289" y="2130"/>
              <a:ext cx="11" cy="11"/>
            </a:xfrm>
            <a:custGeom>
              <a:avLst/>
              <a:gdLst/>
              <a:ahLst/>
              <a:cxnLst>
                <a:cxn ang="0">
                  <a:pos x="9" y="0"/>
                </a:cxn>
                <a:cxn ang="0">
                  <a:pos x="8" y="7"/>
                </a:cxn>
                <a:cxn ang="0">
                  <a:pos x="0" y="9"/>
                </a:cxn>
                <a:cxn ang="0">
                  <a:pos x="9" y="0"/>
                </a:cxn>
              </a:cxnLst>
              <a:rect l="0" t="0" r="r" b="b"/>
              <a:pathLst>
                <a:path w="9" h="9">
                  <a:moveTo>
                    <a:pt x="9" y="0"/>
                  </a:moveTo>
                  <a:lnTo>
                    <a:pt x="8" y="7"/>
                  </a:lnTo>
                  <a:lnTo>
                    <a:pt x="0" y="9"/>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6" name="Freeform 125"/>
            <p:cNvSpPr>
              <a:spLocks/>
            </p:cNvSpPr>
            <p:nvPr/>
          </p:nvSpPr>
          <p:spPr bwMode="auto">
            <a:xfrm>
              <a:off x="2247" y="2136"/>
              <a:ext cx="9" cy="9"/>
            </a:xfrm>
            <a:custGeom>
              <a:avLst/>
              <a:gdLst/>
              <a:ahLst/>
              <a:cxnLst>
                <a:cxn ang="0">
                  <a:pos x="8" y="0"/>
                </a:cxn>
                <a:cxn ang="0">
                  <a:pos x="0" y="7"/>
                </a:cxn>
                <a:cxn ang="0">
                  <a:pos x="0" y="1"/>
                </a:cxn>
                <a:cxn ang="0">
                  <a:pos x="8" y="0"/>
                </a:cxn>
              </a:cxnLst>
              <a:rect l="0" t="0" r="r" b="b"/>
              <a:pathLst>
                <a:path w="8" h="7">
                  <a:moveTo>
                    <a:pt x="8" y="0"/>
                  </a:moveTo>
                  <a:lnTo>
                    <a:pt x="0" y="7"/>
                  </a:lnTo>
                  <a:lnTo>
                    <a:pt x="0" y="1"/>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7" name="Freeform 126"/>
            <p:cNvSpPr>
              <a:spLocks/>
            </p:cNvSpPr>
            <p:nvPr/>
          </p:nvSpPr>
          <p:spPr bwMode="auto">
            <a:xfrm>
              <a:off x="2262" y="2147"/>
              <a:ext cx="7" cy="3"/>
            </a:xfrm>
            <a:custGeom>
              <a:avLst/>
              <a:gdLst/>
              <a:ahLst/>
              <a:cxnLst>
                <a:cxn ang="0">
                  <a:pos x="6" y="0"/>
                </a:cxn>
                <a:cxn ang="0">
                  <a:pos x="5" y="4"/>
                </a:cxn>
                <a:cxn ang="0">
                  <a:pos x="0" y="0"/>
                </a:cxn>
                <a:cxn ang="0">
                  <a:pos x="6" y="0"/>
                </a:cxn>
              </a:cxnLst>
              <a:rect l="0" t="0" r="r" b="b"/>
              <a:pathLst>
                <a:path w="6" h="4">
                  <a:moveTo>
                    <a:pt x="6" y="0"/>
                  </a:moveTo>
                  <a:lnTo>
                    <a:pt x="5" y="4"/>
                  </a:lnTo>
                  <a:lnTo>
                    <a:pt x="0" y="0"/>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8" name="Freeform 127"/>
            <p:cNvSpPr>
              <a:spLocks/>
            </p:cNvSpPr>
            <p:nvPr/>
          </p:nvSpPr>
          <p:spPr bwMode="auto">
            <a:xfrm>
              <a:off x="2300" y="2121"/>
              <a:ext cx="7" cy="2"/>
            </a:xfrm>
            <a:custGeom>
              <a:avLst/>
              <a:gdLst/>
              <a:ahLst/>
              <a:cxnLst>
                <a:cxn ang="0">
                  <a:pos x="4" y="3"/>
                </a:cxn>
                <a:cxn ang="0">
                  <a:pos x="6" y="0"/>
                </a:cxn>
                <a:cxn ang="0">
                  <a:pos x="0" y="3"/>
                </a:cxn>
                <a:cxn ang="0">
                  <a:pos x="4" y="3"/>
                </a:cxn>
              </a:cxnLst>
              <a:rect l="0" t="0" r="r" b="b"/>
              <a:pathLst>
                <a:path w="6" h="3">
                  <a:moveTo>
                    <a:pt x="4" y="3"/>
                  </a:moveTo>
                  <a:lnTo>
                    <a:pt x="6" y="0"/>
                  </a:lnTo>
                  <a:lnTo>
                    <a:pt x="0" y="3"/>
                  </a:lnTo>
                  <a:lnTo>
                    <a:pt x="4"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9" name="Freeform 128"/>
            <p:cNvSpPr>
              <a:spLocks/>
            </p:cNvSpPr>
            <p:nvPr/>
          </p:nvSpPr>
          <p:spPr bwMode="auto">
            <a:xfrm>
              <a:off x="2109" y="2374"/>
              <a:ext cx="4" cy="2"/>
            </a:xfrm>
            <a:custGeom>
              <a:avLst/>
              <a:gdLst/>
              <a:ahLst/>
              <a:cxnLst>
                <a:cxn ang="0">
                  <a:pos x="3" y="1"/>
                </a:cxn>
                <a:cxn ang="0">
                  <a:pos x="1" y="1"/>
                </a:cxn>
                <a:cxn ang="0">
                  <a:pos x="0" y="0"/>
                </a:cxn>
                <a:cxn ang="0">
                  <a:pos x="3" y="1"/>
                </a:cxn>
              </a:cxnLst>
              <a:rect l="0" t="0" r="r" b="b"/>
              <a:pathLst>
                <a:path w="3" h="1">
                  <a:moveTo>
                    <a:pt x="3" y="1"/>
                  </a:moveTo>
                  <a:lnTo>
                    <a:pt x="1" y="1"/>
                  </a:lnTo>
                  <a:lnTo>
                    <a:pt x="0" y="0"/>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0" name="Rectangle 129"/>
            <p:cNvSpPr>
              <a:spLocks noChangeArrowheads="1"/>
            </p:cNvSpPr>
            <p:nvPr/>
          </p:nvSpPr>
          <p:spPr bwMode="auto">
            <a:xfrm>
              <a:off x="2442" y="1983"/>
              <a:ext cx="0" cy="2"/>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131" name="Freeform 130"/>
            <p:cNvSpPr>
              <a:spLocks/>
            </p:cNvSpPr>
            <p:nvPr/>
          </p:nvSpPr>
          <p:spPr bwMode="auto">
            <a:xfrm>
              <a:off x="2691" y="2043"/>
              <a:ext cx="273" cy="273"/>
            </a:xfrm>
            <a:custGeom>
              <a:avLst/>
              <a:gdLst/>
              <a:ahLst/>
              <a:cxnLst>
                <a:cxn ang="0">
                  <a:pos x="230" y="245"/>
                </a:cxn>
                <a:cxn ang="0">
                  <a:pos x="230" y="236"/>
                </a:cxn>
                <a:cxn ang="0">
                  <a:pos x="246" y="236"/>
                </a:cxn>
                <a:cxn ang="0">
                  <a:pos x="245" y="218"/>
                </a:cxn>
                <a:cxn ang="0">
                  <a:pos x="245" y="200"/>
                </a:cxn>
                <a:cxn ang="0">
                  <a:pos x="244" y="183"/>
                </a:cxn>
                <a:cxn ang="0">
                  <a:pos x="242" y="167"/>
                </a:cxn>
                <a:cxn ang="0">
                  <a:pos x="241" y="150"/>
                </a:cxn>
                <a:cxn ang="0">
                  <a:pos x="240" y="133"/>
                </a:cxn>
                <a:cxn ang="0">
                  <a:pos x="239" y="116"/>
                </a:cxn>
                <a:cxn ang="0">
                  <a:pos x="238" y="99"/>
                </a:cxn>
                <a:cxn ang="0">
                  <a:pos x="236" y="83"/>
                </a:cxn>
                <a:cxn ang="0">
                  <a:pos x="235" y="65"/>
                </a:cxn>
                <a:cxn ang="0">
                  <a:pos x="235" y="51"/>
                </a:cxn>
                <a:cxn ang="0">
                  <a:pos x="234" y="38"/>
                </a:cxn>
                <a:cxn ang="0">
                  <a:pos x="236" y="26"/>
                </a:cxn>
                <a:cxn ang="0">
                  <a:pos x="228" y="20"/>
                </a:cxn>
                <a:cxn ang="0">
                  <a:pos x="205" y="14"/>
                </a:cxn>
                <a:cxn ang="0">
                  <a:pos x="202" y="8"/>
                </a:cxn>
                <a:cxn ang="0">
                  <a:pos x="182" y="3"/>
                </a:cxn>
                <a:cxn ang="0">
                  <a:pos x="170" y="11"/>
                </a:cxn>
                <a:cxn ang="0">
                  <a:pos x="160" y="18"/>
                </a:cxn>
                <a:cxn ang="0">
                  <a:pos x="161" y="42"/>
                </a:cxn>
                <a:cxn ang="0">
                  <a:pos x="145" y="51"/>
                </a:cxn>
                <a:cxn ang="0">
                  <a:pos x="127" y="43"/>
                </a:cxn>
                <a:cxn ang="0">
                  <a:pos x="110" y="35"/>
                </a:cxn>
                <a:cxn ang="0">
                  <a:pos x="92" y="30"/>
                </a:cxn>
                <a:cxn ang="0">
                  <a:pos x="85" y="13"/>
                </a:cxn>
                <a:cxn ang="0">
                  <a:pos x="68" y="9"/>
                </a:cxn>
                <a:cxn ang="0">
                  <a:pos x="52" y="5"/>
                </a:cxn>
                <a:cxn ang="0">
                  <a:pos x="30" y="0"/>
                </a:cxn>
                <a:cxn ang="0">
                  <a:pos x="29" y="14"/>
                </a:cxn>
                <a:cxn ang="0">
                  <a:pos x="19" y="23"/>
                </a:cxn>
                <a:cxn ang="0">
                  <a:pos x="10" y="31"/>
                </a:cxn>
                <a:cxn ang="0">
                  <a:pos x="10" y="45"/>
                </a:cxn>
                <a:cxn ang="0">
                  <a:pos x="1" y="53"/>
                </a:cxn>
                <a:cxn ang="0">
                  <a:pos x="0" y="56"/>
                </a:cxn>
                <a:cxn ang="0">
                  <a:pos x="7" y="78"/>
                </a:cxn>
                <a:cxn ang="0">
                  <a:pos x="7" y="98"/>
                </a:cxn>
                <a:cxn ang="0">
                  <a:pos x="8" y="119"/>
                </a:cxn>
                <a:cxn ang="0">
                  <a:pos x="1" y="126"/>
                </a:cxn>
                <a:cxn ang="0">
                  <a:pos x="11" y="140"/>
                </a:cxn>
                <a:cxn ang="0">
                  <a:pos x="17" y="156"/>
                </a:cxn>
                <a:cxn ang="0">
                  <a:pos x="35" y="158"/>
                </a:cxn>
                <a:cxn ang="0">
                  <a:pos x="42" y="173"/>
                </a:cxn>
                <a:cxn ang="0">
                  <a:pos x="64" y="179"/>
                </a:cxn>
                <a:cxn ang="0">
                  <a:pos x="77" y="189"/>
                </a:cxn>
                <a:cxn ang="0">
                  <a:pos x="88" y="182"/>
                </a:cxn>
                <a:cxn ang="0">
                  <a:pos x="104" y="173"/>
                </a:cxn>
                <a:cxn ang="0">
                  <a:pos x="120" y="182"/>
                </a:cxn>
                <a:cxn ang="0">
                  <a:pos x="136" y="191"/>
                </a:cxn>
                <a:cxn ang="0">
                  <a:pos x="151" y="200"/>
                </a:cxn>
                <a:cxn ang="0">
                  <a:pos x="167" y="209"/>
                </a:cxn>
                <a:cxn ang="0">
                  <a:pos x="182" y="218"/>
                </a:cxn>
                <a:cxn ang="0">
                  <a:pos x="199" y="227"/>
                </a:cxn>
                <a:cxn ang="0">
                  <a:pos x="215" y="236"/>
                </a:cxn>
                <a:cxn ang="0">
                  <a:pos x="230" y="245"/>
                </a:cxn>
              </a:cxnLst>
              <a:rect l="0" t="0" r="r" b="b"/>
              <a:pathLst>
                <a:path w="246" h="245">
                  <a:moveTo>
                    <a:pt x="230" y="245"/>
                  </a:moveTo>
                  <a:lnTo>
                    <a:pt x="230" y="236"/>
                  </a:lnTo>
                  <a:lnTo>
                    <a:pt x="246" y="236"/>
                  </a:lnTo>
                  <a:lnTo>
                    <a:pt x="245" y="218"/>
                  </a:lnTo>
                  <a:lnTo>
                    <a:pt x="245" y="200"/>
                  </a:lnTo>
                  <a:lnTo>
                    <a:pt x="244" y="183"/>
                  </a:lnTo>
                  <a:lnTo>
                    <a:pt x="242" y="167"/>
                  </a:lnTo>
                  <a:lnTo>
                    <a:pt x="241" y="150"/>
                  </a:lnTo>
                  <a:lnTo>
                    <a:pt x="240" y="133"/>
                  </a:lnTo>
                  <a:lnTo>
                    <a:pt x="239" y="116"/>
                  </a:lnTo>
                  <a:lnTo>
                    <a:pt x="238" y="99"/>
                  </a:lnTo>
                  <a:lnTo>
                    <a:pt x="236" y="83"/>
                  </a:lnTo>
                  <a:lnTo>
                    <a:pt x="235" y="65"/>
                  </a:lnTo>
                  <a:lnTo>
                    <a:pt x="235" y="51"/>
                  </a:lnTo>
                  <a:lnTo>
                    <a:pt x="234" y="38"/>
                  </a:lnTo>
                  <a:lnTo>
                    <a:pt x="236" y="26"/>
                  </a:lnTo>
                  <a:lnTo>
                    <a:pt x="228" y="20"/>
                  </a:lnTo>
                  <a:lnTo>
                    <a:pt x="205" y="14"/>
                  </a:lnTo>
                  <a:lnTo>
                    <a:pt x="202" y="8"/>
                  </a:lnTo>
                  <a:lnTo>
                    <a:pt x="182" y="3"/>
                  </a:lnTo>
                  <a:lnTo>
                    <a:pt x="170" y="11"/>
                  </a:lnTo>
                  <a:lnTo>
                    <a:pt x="160" y="18"/>
                  </a:lnTo>
                  <a:lnTo>
                    <a:pt x="161" y="42"/>
                  </a:lnTo>
                  <a:lnTo>
                    <a:pt x="145" y="51"/>
                  </a:lnTo>
                  <a:lnTo>
                    <a:pt x="127" y="43"/>
                  </a:lnTo>
                  <a:lnTo>
                    <a:pt x="110" y="35"/>
                  </a:lnTo>
                  <a:lnTo>
                    <a:pt x="92" y="30"/>
                  </a:lnTo>
                  <a:lnTo>
                    <a:pt x="85" y="13"/>
                  </a:lnTo>
                  <a:lnTo>
                    <a:pt x="68" y="9"/>
                  </a:lnTo>
                  <a:lnTo>
                    <a:pt x="52" y="5"/>
                  </a:lnTo>
                  <a:lnTo>
                    <a:pt x="30" y="0"/>
                  </a:lnTo>
                  <a:lnTo>
                    <a:pt x="29" y="14"/>
                  </a:lnTo>
                  <a:lnTo>
                    <a:pt x="19" y="23"/>
                  </a:lnTo>
                  <a:lnTo>
                    <a:pt x="10" y="31"/>
                  </a:lnTo>
                  <a:lnTo>
                    <a:pt x="10" y="45"/>
                  </a:lnTo>
                  <a:lnTo>
                    <a:pt x="1" y="53"/>
                  </a:lnTo>
                  <a:lnTo>
                    <a:pt x="0" y="56"/>
                  </a:lnTo>
                  <a:lnTo>
                    <a:pt x="7" y="78"/>
                  </a:lnTo>
                  <a:lnTo>
                    <a:pt x="7" y="98"/>
                  </a:lnTo>
                  <a:lnTo>
                    <a:pt x="8" y="119"/>
                  </a:lnTo>
                  <a:lnTo>
                    <a:pt x="1" y="126"/>
                  </a:lnTo>
                  <a:lnTo>
                    <a:pt x="11" y="140"/>
                  </a:lnTo>
                  <a:lnTo>
                    <a:pt x="17" y="156"/>
                  </a:lnTo>
                  <a:lnTo>
                    <a:pt x="35" y="158"/>
                  </a:lnTo>
                  <a:lnTo>
                    <a:pt x="42" y="173"/>
                  </a:lnTo>
                  <a:lnTo>
                    <a:pt x="64" y="179"/>
                  </a:lnTo>
                  <a:lnTo>
                    <a:pt x="77" y="189"/>
                  </a:lnTo>
                  <a:lnTo>
                    <a:pt x="88" y="182"/>
                  </a:lnTo>
                  <a:lnTo>
                    <a:pt x="104" y="173"/>
                  </a:lnTo>
                  <a:lnTo>
                    <a:pt x="120" y="182"/>
                  </a:lnTo>
                  <a:lnTo>
                    <a:pt x="136" y="191"/>
                  </a:lnTo>
                  <a:lnTo>
                    <a:pt x="151" y="200"/>
                  </a:lnTo>
                  <a:lnTo>
                    <a:pt x="167" y="209"/>
                  </a:lnTo>
                  <a:lnTo>
                    <a:pt x="182" y="218"/>
                  </a:lnTo>
                  <a:lnTo>
                    <a:pt x="199" y="227"/>
                  </a:lnTo>
                  <a:lnTo>
                    <a:pt x="215" y="236"/>
                  </a:lnTo>
                  <a:lnTo>
                    <a:pt x="230" y="2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2" name="Freeform 131"/>
            <p:cNvSpPr>
              <a:spLocks/>
            </p:cNvSpPr>
            <p:nvPr/>
          </p:nvSpPr>
          <p:spPr bwMode="auto">
            <a:xfrm>
              <a:off x="2318" y="2207"/>
              <a:ext cx="286" cy="296"/>
            </a:xfrm>
            <a:custGeom>
              <a:avLst/>
              <a:gdLst/>
              <a:ahLst/>
              <a:cxnLst>
                <a:cxn ang="0">
                  <a:pos x="56" y="250"/>
                </a:cxn>
                <a:cxn ang="0">
                  <a:pos x="66" y="267"/>
                </a:cxn>
                <a:cxn ang="0">
                  <a:pos x="79" y="265"/>
                </a:cxn>
                <a:cxn ang="0">
                  <a:pos x="92" y="257"/>
                </a:cxn>
                <a:cxn ang="0">
                  <a:pos x="106" y="262"/>
                </a:cxn>
                <a:cxn ang="0">
                  <a:pos x="114" y="234"/>
                </a:cxn>
                <a:cxn ang="0">
                  <a:pos x="126" y="219"/>
                </a:cxn>
                <a:cxn ang="0">
                  <a:pos x="138" y="213"/>
                </a:cxn>
                <a:cxn ang="0">
                  <a:pos x="144" y="204"/>
                </a:cxn>
                <a:cxn ang="0">
                  <a:pos x="160" y="195"/>
                </a:cxn>
                <a:cxn ang="0">
                  <a:pos x="181" y="178"/>
                </a:cxn>
                <a:cxn ang="0">
                  <a:pos x="198" y="180"/>
                </a:cxn>
                <a:cxn ang="0">
                  <a:pos x="230" y="174"/>
                </a:cxn>
                <a:cxn ang="0">
                  <a:pos x="256" y="157"/>
                </a:cxn>
                <a:cxn ang="0">
                  <a:pos x="257" y="131"/>
                </a:cxn>
                <a:cxn ang="0">
                  <a:pos x="258" y="105"/>
                </a:cxn>
                <a:cxn ang="0">
                  <a:pos x="240" y="91"/>
                </a:cxn>
                <a:cxn ang="0">
                  <a:pos x="210" y="76"/>
                </a:cxn>
                <a:cxn ang="0">
                  <a:pos x="199" y="61"/>
                </a:cxn>
                <a:cxn ang="0">
                  <a:pos x="175" y="43"/>
                </a:cxn>
                <a:cxn ang="0">
                  <a:pos x="152" y="27"/>
                </a:cxn>
                <a:cxn ang="0">
                  <a:pos x="130" y="9"/>
                </a:cxn>
                <a:cxn ang="0">
                  <a:pos x="104" y="0"/>
                </a:cxn>
                <a:cxn ang="0">
                  <a:pos x="92" y="19"/>
                </a:cxn>
                <a:cxn ang="0">
                  <a:pos x="96" y="58"/>
                </a:cxn>
                <a:cxn ang="0">
                  <a:pos x="100" y="95"/>
                </a:cxn>
                <a:cxn ang="0">
                  <a:pos x="102" y="133"/>
                </a:cxn>
                <a:cxn ang="0">
                  <a:pos x="108" y="156"/>
                </a:cxn>
                <a:cxn ang="0">
                  <a:pos x="91" y="171"/>
                </a:cxn>
                <a:cxn ang="0">
                  <a:pos x="61" y="171"/>
                </a:cxn>
                <a:cxn ang="0">
                  <a:pos x="44" y="169"/>
                </a:cxn>
                <a:cxn ang="0">
                  <a:pos x="19" y="175"/>
                </a:cxn>
                <a:cxn ang="0">
                  <a:pos x="2" y="185"/>
                </a:cxn>
                <a:cxn ang="0">
                  <a:pos x="4" y="202"/>
                </a:cxn>
                <a:cxn ang="0">
                  <a:pos x="13" y="226"/>
                </a:cxn>
                <a:cxn ang="0">
                  <a:pos x="20" y="231"/>
                </a:cxn>
                <a:cxn ang="0">
                  <a:pos x="35" y="232"/>
                </a:cxn>
                <a:cxn ang="0">
                  <a:pos x="48" y="225"/>
                </a:cxn>
                <a:cxn ang="0">
                  <a:pos x="59" y="244"/>
                </a:cxn>
              </a:cxnLst>
              <a:rect l="0" t="0" r="r" b="b"/>
              <a:pathLst>
                <a:path w="258" h="267">
                  <a:moveTo>
                    <a:pt x="59" y="244"/>
                  </a:moveTo>
                  <a:lnTo>
                    <a:pt x="56" y="250"/>
                  </a:lnTo>
                  <a:lnTo>
                    <a:pt x="59" y="250"/>
                  </a:lnTo>
                  <a:lnTo>
                    <a:pt x="66" y="267"/>
                  </a:lnTo>
                  <a:lnTo>
                    <a:pt x="70" y="263"/>
                  </a:lnTo>
                  <a:lnTo>
                    <a:pt x="79" y="265"/>
                  </a:lnTo>
                  <a:lnTo>
                    <a:pt x="86" y="261"/>
                  </a:lnTo>
                  <a:lnTo>
                    <a:pt x="92" y="257"/>
                  </a:lnTo>
                  <a:lnTo>
                    <a:pt x="95" y="264"/>
                  </a:lnTo>
                  <a:lnTo>
                    <a:pt x="106" y="262"/>
                  </a:lnTo>
                  <a:lnTo>
                    <a:pt x="109" y="238"/>
                  </a:lnTo>
                  <a:lnTo>
                    <a:pt x="114" y="234"/>
                  </a:lnTo>
                  <a:lnTo>
                    <a:pt x="122" y="226"/>
                  </a:lnTo>
                  <a:lnTo>
                    <a:pt x="126" y="219"/>
                  </a:lnTo>
                  <a:lnTo>
                    <a:pt x="128" y="208"/>
                  </a:lnTo>
                  <a:lnTo>
                    <a:pt x="138" y="213"/>
                  </a:lnTo>
                  <a:lnTo>
                    <a:pt x="140" y="205"/>
                  </a:lnTo>
                  <a:lnTo>
                    <a:pt x="144" y="204"/>
                  </a:lnTo>
                  <a:lnTo>
                    <a:pt x="150" y="195"/>
                  </a:lnTo>
                  <a:lnTo>
                    <a:pt x="160" y="195"/>
                  </a:lnTo>
                  <a:lnTo>
                    <a:pt x="161" y="187"/>
                  </a:lnTo>
                  <a:lnTo>
                    <a:pt x="181" y="178"/>
                  </a:lnTo>
                  <a:lnTo>
                    <a:pt x="196" y="180"/>
                  </a:lnTo>
                  <a:lnTo>
                    <a:pt x="198" y="180"/>
                  </a:lnTo>
                  <a:lnTo>
                    <a:pt x="212" y="174"/>
                  </a:lnTo>
                  <a:lnTo>
                    <a:pt x="230" y="174"/>
                  </a:lnTo>
                  <a:lnTo>
                    <a:pt x="247" y="173"/>
                  </a:lnTo>
                  <a:lnTo>
                    <a:pt x="256" y="157"/>
                  </a:lnTo>
                  <a:lnTo>
                    <a:pt x="257" y="144"/>
                  </a:lnTo>
                  <a:lnTo>
                    <a:pt x="257" y="131"/>
                  </a:lnTo>
                  <a:lnTo>
                    <a:pt x="258" y="118"/>
                  </a:lnTo>
                  <a:lnTo>
                    <a:pt x="258" y="105"/>
                  </a:lnTo>
                  <a:lnTo>
                    <a:pt x="241" y="105"/>
                  </a:lnTo>
                  <a:lnTo>
                    <a:pt x="240" y="91"/>
                  </a:lnTo>
                  <a:lnTo>
                    <a:pt x="218" y="82"/>
                  </a:lnTo>
                  <a:lnTo>
                    <a:pt x="210" y="76"/>
                  </a:lnTo>
                  <a:lnTo>
                    <a:pt x="210" y="70"/>
                  </a:lnTo>
                  <a:lnTo>
                    <a:pt x="199" y="61"/>
                  </a:lnTo>
                  <a:lnTo>
                    <a:pt x="187" y="53"/>
                  </a:lnTo>
                  <a:lnTo>
                    <a:pt x="175" y="43"/>
                  </a:lnTo>
                  <a:lnTo>
                    <a:pt x="164" y="35"/>
                  </a:lnTo>
                  <a:lnTo>
                    <a:pt x="152" y="27"/>
                  </a:lnTo>
                  <a:lnTo>
                    <a:pt x="140" y="17"/>
                  </a:lnTo>
                  <a:lnTo>
                    <a:pt x="130" y="9"/>
                  </a:lnTo>
                  <a:lnTo>
                    <a:pt x="118" y="0"/>
                  </a:lnTo>
                  <a:lnTo>
                    <a:pt x="104" y="0"/>
                  </a:lnTo>
                  <a:lnTo>
                    <a:pt x="90" y="0"/>
                  </a:lnTo>
                  <a:lnTo>
                    <a:pt x="92" y="19"/>
                  </a:lnTo>
                  <a:lnTo>
                    <a:pt x="94" y="39"/>
                  </a:lnTo>
                  <a:lnTo>
                    <a:pt x="96" y="58"/>
                  </a:lnTo>
                  <a:lnTo>
                    <a:pt x="97" y="76"/>
                  </a:lnTo>
                  <a:lnTo>
                    <a:pt x="100" y="95"/>
                  </a:lnTo>
                  <a:lnTo>
                    <a:pt x="101" y="114"/>
                  </a:lnTo>
                  <a:lnTo>
                    <a:pt x="102" y="133"/>
                  </a:lnTo>
                  <a:lnTo>
                    <a:pt x="104" y="153"/>
                  </a:lnTo>
                  <a:lnTo>
                    <a:pt x="108" y="156"/>
                  </a:lnTo>
                  <a:lnTo>
                    <a:pt x="106" y="171"/>
                  </a:lnTo>
                  <a:lnTo>
                    <a:pt x="91" y="171"/>
                  </a:lnTo>
                  <a:lnTo>
                    <a:pt x="76" y="171"/>
                  </a:lnTo>
                  <a:lnTo>
                    <a:pt x="61" y="171"/>
                  </a:lnTo>
                  <a:lnTo>
                    <a:pt x="46" y="171"/>
                  </a:lnTo>
                  <a:lnTo>
                    <a:pt x="44" y="169"/>
                  </a:lnTo>
                  <a:lnTo>
                    <a:pt x="22" y="174"/>
                  </a:lnTo>
                  <a:lnTo>
                    <a:pt x="19" y="175"/>
                  </a:lnTo>
                  <a:lnTo>
                    <a:pt x="10" y="169"/>
                  </a:lnTo>
                  <a:lnTo>
                    <a:pt x="2" y="185"/>
                  </a:lnTo>
                  <a:lnTo>
                    <a:pt x="0" y="184"/>
                  </a:lnTo>
                  <a:lnTo>
                    <a:pt x="4" y="202"/>
                  </a:lnTo>
                  <a:lnTo>
                    <a:pt x="8" y="209"/>
                  </a:lnTo>
                  <a:lnTo>
                    <a:pt x="13" y="226"/>
                  </a:lnTo>
                  <a:lnTo>
                    <a:pt x="11" y="231"/>
                  </a:lnTo>
                  <a:lnTo>
                    <a:pt x="20" y="231"/>
                  </a:lnTo>
                  <a:lnTo>
                    <a:pt x="25" y="233"/>
                  </a:lnTo>
                  <a:lnTo>
                    <a:pt x="35" y="232"/>
                  </a:lnTo>
                  <a:lnTo>
                    <a:pt x="46" y="228"/>
                  </a:lnTo>
                  <a:lnTo>
                    <a:pt x="48" y="225"/>
                  </a:lnTo>
                  <a:lnTo>
                    <a:pt x="53" y="239"/>
                  </a:lnTo>
                  <a:lnTo>
                    <a:pt x="59" y="2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3" name="Freeform 132"/>
            <p:cNvSpPr>
              <a:spLocks/>
            </p:cNvSpPr>
            <p:nvPr/>
          </p:nvSpPr>
          <p:spPr bwMode="auto">
            <a:xfrm>
              <a:off x="2769" y="1987"/>
              <a:ext cx="4" cy="3"/>
            </a:xfrm>
            <a:custGeom>
              <a:avLst/>
              <a:gdLst/>
              <a:ahLst/>
              <a:cxnLst>
                <a:cxn ang="0">
                  <a:pos x="3" y="2"/>
                </a:cxn>
                <a:cxn ang="0">
                  <a:pos x="2" y="3"/>
                </a:cxn>
                <a:cxn ang="0">
                  <a:pos x="0" y="0"/>
                </a:cxn>
                <a:cxn ang="0">
                  <a:pos x="3" y="2"/>
                </a:cxn>
              </a:cxnLst>
              <a:rect l="0" t="0" r="r" b="b"/>
              <a:pathLst>
                <a:path w="3" h="3">
                  <a:moveTo>
                    <a:pt x="3" y="2"/>
                  </a:moveTo>
                  <a:lnTo>
                    <a:pt x="2" y="3"/>
                  </a:lnTo>
                  <a:lnTo>
                    <a:pt x="0" y="0"/>
                  </a:lnTo>
                  <a:lnTo>
                    <a:pt x="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4" name="Freeform 133"/>
            <p:cNvSpPr>
              <a:spLocks/>
            </p:cNvSpPr>
            <p:nvPr/>
          </p:nvSpPr>
          <p:spPr bwMode="auto">
            <a:xfrm>
              <a:off x="2236" y="2161"/>
              <a:ext cx="213" cy="251"/>
            </a:xfrm>
            <a:custGeom>
              <a:avLst/>
              <a:gdLst/>
              <a:ahLst/>
              <a:cxnLst>
                <a:cxn ang="0">
                  <a:pos x="9" y="195"/>
                </a:cxn>
                <a:cxn ang="0">
                  <a:pos x="6" y="202"/>
                </a:cxn>
                <a:cxn ang="0">
                  <a:pos x="11" y="180"/>
                </a:cxn>
                <a:cxn ang="0">
                  <a:pos x="14" y="159"/>
                </a:cxn>
                <a:cxn ang="0">
                  <a:pos x="9" y="142"/>
                </a:cxn>
                <a:cxn ang="0">
                  <a:pos x="11" y="123"/>
                </a:cxn>
                <a:cxn ang="0">
                  <a:pos x="1" y="112"/>
                </a:cxn>
                <a:cxn ang="0">
                  <a:pos x="0" y="117"/>
                </a:cxn>
                <a:cxn ang="0">
                  <a:pos x="2" y="107"/>
                </a:cxn>
                <a:cxn ang="0">
                  <a:pos x="17" y="107"/>
                </a:cxn>
                <a:cxn ang="0">
                  <a:pos x="32" y="107"/>
                </a:cxn>
                <a:cxn ang="0">
                  <a:pos x="48" y="107"/>
                </a:cxn>
                <a:cxn ang="0">
                  <a:pos x="63" y="107"/>
                </a:cxn>
                <a:cxn ang="0">
                  <a:pos x="63" y="92"/>
                </a:cxn>
                <a:cxn ang="0">
                  <a:pos x="63" y="77"/>
                </a:cxn>
                <a:cxn ang="0">
                  <a:pos x="79" y="69"/>
                </a:cxn>
                <a:cxn ang="0">
                  <a:pos x="80" y="46"/>
                </a:cxn>
                <a:cxn ang="0">
                  <a:pos x="80" y="23"/>
                </a:cxn>
                <a:cxn ang="0">
                  <a:pos x="93" y="23"/>
                </a:cxn>
                <a:cxn ang="0">
                  <a:pos x="107" y="23"/>
                </a:cxn>
                <a:cxn ang="0">
                  <a:pos x="119" y="23"/>
                </a:cxn>
                <a:cxn ang="0">
                  <a:pos x="132" y="23"/>
                </a:cxn>
                <a:cxn ang="0">
                  <a:pos x="132" y="0"/>
                </a:cxn>
                <a:cxn ang="0">
                  <a:pos x="147" y="10"/>
                </a:cxn>
                <a:cxn ang="0">
                  <a:pos x="162" y="21"/>
                </a:cxn>
                <a:cxn ang="0">
                  <a:pos x="176" y="30"/>
                </a:cxn>
                <a:cxn ang="0">
                  <a:pos x="191" y="41"/>
                </a:cxn>
                <a:cxn ang="0">
                  <a:pos x="177" y="41"/>
                </a:cxn>
                <a:cxn ang="0">
                  <a:pos x="163" y="41"/>
                </a:cxn>
                <a:cxn ang="0">
                  <a:pos x="165" y="60"/>
                </a:cxn>
                <a:cxn ang="0">
                  <a:pos x="167" y="80"/>
                </a:cxn>
                <a:cxn ang="0">
                  <a:pos x="169" y="99"/>
                </a:cxn>
                <a:cxn ang="0">
                  <a:pos x="170" y="117"/>
                </a:cxn>
                <a:cxn ang="0">
                  <a:pos x="173" y="136"/>
                </a:cxn>
                <a:cxn ang="0">
                  <a:pos x="174" y="155"/>
                </a:cxn>
                <a:cxn ang="0">
                  <a:pos x="175" y="174"/>
                </a:cxn>
                <a:cxn ang="0">
                  <a:pos x="177" y="194"/>
                </a:cxn>
                <a:cxn ang="0">
                  <a:pos x="181" y="197"/>
                </a:cxn>
                <a:cxn ang="0">
                  <a:pos x="179" y="212"/>
                </a:cxn>
                <a:cxn ang="0">
                  <a:pos x="164" y="212"/>
                </a:cxn>
                <a:cxn ang="0">
                  <a:pos x="149" y="212"/>
                </a:cxn>
                <a:cxn ang="0">
                  <a:pos x="134" y="212"/>
                </a:cxn>
                <a:cxn ang="0">
                  <a:pos x="119" y="212"/>
                </a:cxn>
                <a:cxn ang="0">
                  <a:pos x="117" y="210"/>
                </a:cxn>
                <a:cxn ang="0">
                  <a:pos x="95" y="215"/>
                </a:cxn>
                <a:cxn ang="0">
                  <a:pos x="92" y="216"/>
                </a:cxn>
                <a:cxn ang="0">
                  <a:pos x="83" y="210"/>
                </a:cxn>
                <a:cxn ang="0">
                  <a:pos x="75" y="226"/>
                </a:cxn>
                <a:cxn ang="0">
                  <a:pos x="73" y="225"/>
                </a:cxn>
                <a:cxn ang="0">
                  <a:pos x="61" y="213"/>
                </a:cxn>
                <a:cxn ang="0">
                  <a:pos x="49" y="200"/>
                </a:cxn>
                <a:cxn ang="0">
                  <a:pos x="35" y="191"/>
                </a:cxn>
                <a:cxn ang="0">
                  <a:pos x="23" y="192"/>
                </a:cxn>
                <a:cxn ang="0">
                  <a:pos x="9" y="195"/>
                </a:cxn>
              </a:cxnLst>
              <a:rect l="0" t="0" r="r" b="b"/>
              <a:pathLst>
                <a:path w="191" h="226">
                  <a:moveTo>
                    <a:pt x="9" y="195"/>
                  </a:moveTo>
                  <a:lnTo>
                    <a:pt x="6" y="202"/>
                  </a:lnTo>
                  <a:lnTo>
                    <a:pt x="11" y="180"/>
                  </a:lnTo>
                  <a:lnTo>
                    <a:pt x="14" y="159"/>
                  </a:lnTo>
                  <a:lnTo>
                    <a:pt x="9" y="142"/>
                  </a:lnTo>
                  <a:lnTo>
                    <a:pt x="11" y="123"/>
                  </a:lnTo>
                  <a:lnTo>
                    <a:pt x="1" y="112"/>
                  </a:lnTo>
                  <a:lnTo>
                    <a:pt x="0" y="117"/>
                  </a:lnTo>
                  <a:lnTo>
                    <a:pt x="2" y="107"/>
                  </a:lnTo>
                  <a:lnTo>
                    <a:pt x="17" y="107"/>
                  </a:lnTo>
                  <a:lnTo>
                    <a:pt x="32" y="107"/>
                  </a:lnTo>
                  <a:lnTo>
                    <a:pt x="48" y="107"/>
                  </a:lnTo>
                  <a:lnTo>
                    <a:pt x="63" y="107"/>
                  </a:lnTo>
                  <a:lnTo>
                    <a:pt x="63" y="92"/>
                  </a:lnTo>
                  <a:lnTo>
                    <a:pt x="63" y="77"/>
                  </a:lnTo>
                  <a:lnTo>
                    <a:pt x="79" y="69"/>
                  </a:lnTo>
                  <a:lnTo>
                    <a:pt x="80" y="46"/>
                  </a:lnTo>
                  <a:lnTo>
                    <a:pt x="80" y="23"/>
                  </a:lnTo>
                  <a:lnTo>
                    <a:pt x="93" y="23"/>
                  </a:lnTo>
                  <a:lnTo>
                    <a:pt x="107" y="23"/>
                  </a:lnTo>
                  <a:lnTo>
                    <a:pt x="119" y="23"/>
                  </a:lnTo>
                  <a:lnTo>
                    <a:pt x="132" y="23"/>
                  </a:lnTo>
                  <a:lnTo>
                    <a:pt x="132" y="0"/>
                  </a:lnTo>
                  <a:lnTo>
                    <a:pt x="147" y="10"/>
                  </a:lnTo>
                  <a:lnTo>
                    <a:pt x="162" y="21"/>
                  </a:lnTo>
                  <a:lnTo>
                    <a:pt x="176" y="30"/>
                  </a:lnTo>
                  <a:lnTo>
                    <a:pt x="191" y="41"/>
                  </a:lnTo>
                  <a:lnTo>
                    <a:pt x="177" y="41"/>
                  </a:lnTo>
                  <a:lnTo>
                    <a:pt x="163" y="41"/>
                  </a:lnTo>
                  <a:lnTo>
                    <a:pt x="165" y="60"/>
                  </a:lnTo>
                  <a:lnTo>
                    <a:pt x="167" y="80"/>
                  </a:lnTo>
                  <a:lnTo>
                    <a:pt x="169" y="99"/>
                  </a:lnTo>
                  <a:lnTo>
                    <a:pt x="170" y="117"/>
                  </a:lnTo>
                  <a:lnTo>
                    <a:pt x="173" y="136"/>
                  </a:lnTo>
                  <a:lnTo>
                    <a:pt x="174" y="155"/>
                  </a:lnTo>
                  <a:lnTo>
                    <a:pt x="175" y="174"/>
                  </a:lnTo>
                  <a:lnTo>
                    <a:pt x="177" y="194"/>
                  </a:lnTo>
                  <a:lnTo>
                    <a:pt x="181" y="197"/>
                  </a:lnTo>
                  <a:lnTo>
                    <a:pt x="179" y="212"/>
                  </a:lnTo>
                  <a:lnTo>
                    <a:pt x="164" y="212"/>
                  </a:lnTo>
                  <a:lnTo>
                    <a:pt x="149" y="212"/>
                  </a:lnTo>
                  <a:lnTo>
                    <a:pt x="134" y="212"/>
                  </a:lnTo>
                  <a:lnTo>
                    <a:pt x="119" y="212"/>
                  </a:lnTo>
                  <a:lnTo>
                    <a:pt x="117" y="210"/>
                  </a:lnTo>
                  <a:lnTo>
                    <a:pt x="95" y="215"/>
                  </a:lnTo>
                  <a:lnTo>
                    <a:pt x="92" y="216"/>
                  </a:lnTo>
                  <a:lnTo>
                    <a:pt x="83" y="210"/>
                  </a:lnTo>
                  <a:lnTo>
                    <a:pt x="75" y="226"/>
                  </a:lnTo>
                  <a:lnTo>
                    <a:pt x="73" y="225"/>
                  </a:lnTo>
                  <a:lnTo>
                    <a:pt x="61" y="213"/>
                  </a:lnTo>
                  <a:lnTo>
                    <a:pt x="49" y="200"/>
                  </a:lnTo>
                  <a:lnTo>
                    <a:pt x="35" y="191"/>
                  </a:lnTo>
                  <a:lnTo>
                    <a:pt x="23" y="192"/>
                  </a:lnTo>
                  <a:lnTo>
                    <a:pt x="9" y="19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5" name="Freeform 134"/>
            <p:cNvSpPr>
              <a:spLocks/>
            </p:cNvSpPr>
            <p:nvPr/>
          </p:nvSpPr>
          <p:spPr bwMode="auto">
            <a:xfrm>
              <a:off x="2307" y="1990"/>
              <a:ext cx="206" cy="164"/>
            </a:xfrm>
            <a:custGeom>
              <a:avLst/>
              <a:gdLst/>
              <a:ahLst/>
              <a:cxnLst>
                <a:cxn ang="0">
                  <a:pos x="96" y="36"/>
                </a:cxn>
                <a:cxn ang="0">
                  <a:pos x="82" y="45"/>
                </a:cxn>
                <a:cxn ang="0">
                  <a:pos x="69" y="54"/>
                </a:cxn>
                <a:cxn ang="0">
                  <a:pos x="60" y="68"/>
                </a:cxn>
                <a:cxn ang="0">
                  <a:pos x="53" y="81"/>
                </a:cxn>
                <a:cxn ang="0">
                  <a:pos x="56" y="98"/>
                </a:cxn>
                <a:cxn ang="0">
                  <a:pos x="48" y="110"/>
                </a:cxn>
                <a:cxn ang="0">
                  <a:pos x="41" y="123"/>
                </a:cxn>
                <a:cxn ang="0">
                  <a:pos x="29" y="132"/>
                </a:cxn>
                <a:cxn ang="0">
                  <a:pos x="17" y="140"/>
                </a:cxn>
                <a:cxn ang="0">
                  <a:pos x="0" y="147"/>
                </a:cxn>
                <a:cxn ang="0">
                  <a:pos x="17" y="147"/>
                </a:cxn>
                <a:cxn ang="0">
                  <a:pos x="35" y="147"/>
                </a:cxn>
                <a:cxn ang="0">
                  <a:pos x="52" y="147"/>
                </a:cxn>
                <a:cxn ang="0">
                  <a:pos x="69" y="147"/>
                </a:cxn>
                <a:cxn ang="0">
                  <a:pos x="72" y="126"/>
                </a:cxn>
                <a:cxn ang="0">
                  <a:pos x="86" y="120"/>
                </a:cxn>
                <a:cxn ang="0">
                  <a:pos x="98" y="112"/>
                </a:cxn>
                <a:cxn ang="0">
                  <a:pos x="111" y="106"/>
                </a:cxn>
                <a:cxn ang="0">
                  <a:pos x="125" y="100"/>
                </a:cxn>
                <a:cxn ang="0">
                  <a:pos x="136" y="93"/>
                </a:cxn>
                <a:cxn ang="0">
                  <a:pos x="147" y="85"/>
                </a:cxn>
                <a:cxn ang="0">
                  <a:pos x="147" y="74"/>
                </a:cxn>
                <a:cxn ang="0">
                  <a:pos x="167" y="67"/>
                </a:cxn>
                <a:cxn ang="0">
                  <a:pos x="183" y="66"/>
                </a:cxn>
                <a:cxn ang="0">
                  <a:pos x="186" y="61"/>
                </a:cxn>
                <a:cxn ang="0">
                  <a:pos x="177" y="44"/>
                </a:cxn>
                <a:cxn ang="0">
                  <a:pos x="174" y="31"/>
                </a:cxn>
                <a:cxn ang="0">
                  <a:pos x="173" y="18"/>
                </a:cxn>
                <a:cxn ang="0">
                  <a:pos x="170" y="14"/>
                </a:cxn>
                <a:cxn ang="0">
                  <a:pos x="159" y="10"/>
                </a:cxn>
                <a:cxn ang="0">
                  <a:pos x="154" y="12"/>
                </a:cxn>
                <a:cxn ang="0">
                  <a:pos x="129" y="9"/>
                </a:cxn>
                <a:cxn ang="0">
                  <a:pos x="120" y="0"/>
                </a:cxn>
                <a:cxn ang="0">
                  <a:pos x="112" y="7"/>
                </a:cxn>
                <a:cxn ang="0">
                  <a:pos x="105" y="21"/>
                </a:cxn>
                <a:cxn ang="0">
                  <a:pos x="96" y="36"/>
                </a:cxn>
              </a:cxnLst>
              <a:rect l="0" t="0" r="r" b="b"/>
              <a:pathLst>
                <a:path w="186" h="147">
                  <a:moveTo>
                    <a:pt x="96" y="36"/>
                  </a:moveTo>
                  <a:lnTo>
                    <a:pt x="82" y="45"/>
                  </a:lnTo>
                  <a:lnTo>
                    <a:pt x="69" y="54"/>
                  </a:lnTo>
                  <a:lnTo>
                    <a:pt x="60" y="68"/>
                  </a:lnTo>
                  <a:lnTo>
                    <a:pt x="53" y="81"/>
                  </a:lnTo>
                  <a:lnTo>
                    <a:pt x="56" y="98"/>
                  </a:lnTo>
                  <a:lnTo>
                    <a:pt x="48" y="110"/>
                  </a:lnTo>
                  <a:lnTo>
                    <a:pt x="41" y="123"/>
                  </a:lnTo>
                  <a:lnTo>
                    <a:pt x="29" y="132"/>
                  </a:lnTo>
                  <a:lnTo>
                    <a:pt x="17" y="140"/>
                  </a:lnTo>
                  <a:lnTo>
                    <a:pt x="0" y="147"/>
                  </a:lnTo>
                  <a:lnTo>
                    <a:pt x="17" y="147"/>
                  </a:lnTo>
                  <a:lnTo>
                    <a:pt x="35" y="147"/>
                  </a:lnTo>
                  <a:lnTo>
                    <a:pt x="52" y="147"/>
                  </a:lnTo>
                  <a:lnTo>
                    <a:pt x="69" y="147"/>
                  </a:lnTo>
                  <a:lnTo>
                    <a:pt x="72" y="126"/>
                  </a:lnTo>
                  <a:lnTo>
                    <a:pt x="86" y="120"/>
                  </a:lnTo>
                  <a:lnTo>
                    <a:pt x="98" y="112"/>
                  </a:lnTo>
                  <a:lnTo>
                    <a:pt x="111" y="106"/>
                  </a:lnTo>
                  <a:lnTo>
                    <a:pt x="125" y="100"/>
                  </a:lnTo>
                  <a:lnTo>
                    <a:pt x="136" y="93"/>
                  </a:lnTo>
                  <a:lnTo>
                    <a:pt x="147" y="85"/>
                  </a:lnTo>
                  <a:lnTo>
                    <a:pt x="147" y="74"/>
                  </a:lnTo>
                  <a:lnTo>
                    <a:pt x="167" y="67"/>
                  </a:lnTo>
                  <a:lnTo>
                    <a:pt x="183" y="66"/>
                  </a:lnTo>
                  <a:lnTo>
                    <a:pt x="186" y="61"/>
                  </a:lnTo>
                  <a:lnTo>
                    <a:pt x="177" y="44"/>
                  </a:lnTo>
                  <a:lnTo>
                    <a:pt x="174" y="31"/>
                  </a:lnTo>
                  <a:lnTo>
                    <a:pt x="173" y="18"/>
                  </a:lnTo>
                  <a:lnTo>
                    <a:pt x="170" y="14"/>
                  </a:lnTo>
                  <a:lnTo>
                    <a:pt x="159" y="10"/>
                  </a:lnTo>
                  <a:lnTo>
                    <a:pt x="154" y="12"/>
                  </a:lnTo>
                  <a:lnTo>
                    <a:pt x="129" y="9"/>
                  </a:lnTo>
                  <a:lnTo>
                    <a:pt x="120" y="0"/>
                  </a:lnTo>
                  <a:lnTo>
                    <a:pt x="112" y="7"/>
                  </a:lnTo>
                  <a:lnTo>
                    <a:pt x="105" y="21"/>
                  </a:lnTo>
                  <a:lnTo>
                    <a:pt x="96"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6" name="Freeform 135"/>
            <p:cNvSpPr>
              <a:spLocks/>
            </p:cNvSpPr>
            <p:nvPr/>
          </p:nvSpPr>
          <p:spPr bwMode="auto">
            <a:xfrm>
              <a:off x="2536" y="2236"/>
              <a:ext cx="273" cy="236"/>
            </a:xfrm>
            <a:custGeom>
              <a:avLst/>
              <a:gdLst/>
              <a:ahLst/>
              <a:cxnLst>
                <a:cxn ang="0">
                  <a:pos x="27" y="194"/>
                </a:cxn>
                <a:cxn ang="0">
                  <a:pos x="21" y="195"/>
                </a:cxn>
                <a:cxn ang="0">
                  <a:pos x="12" y="188"/>
                </a:cxn>
                <a:cxn ang="0">
                  <a:pos x="12" y="182"/>
                </a:cxn>
                <a:cxn ang="0">
                  <a:pos x="14" y="181"/>
                </a:cxn>
                <a:cxn ang="0">
                  <a:pos x="2" y="168"/>
                </a:cxn>
                <a:cxn ang="0">
                  <a:pos x="0" y="153"/>
                </a:cxn>
                <a:cxn ang="0">
                  <a:pos x="2" y="153"/>
                </a:cxn>
                <a:cxn ang="0">
                  <a:pos x="16" y="147"/>
                </a:cxn>
                <a:cxn ang="0">
                  <a:pos x="34" y="147"/>
                </a:cxn>
                <a:cxn ang="0">
                  <a:pos x="51" y="146"/>
                </a:cxn>
                <a:cxn ang="0">
                  <a:pos x="60" y="130"/>
                </a:cxn>
                <a:cxn ang="0">
                  <a:pos x="61" y="117"/>
                </a:cxn>
                <a:cxn ang="0">
                  <a:pos x="61" y="104"/>
                </a:cxn>
                <a:cxn ang="0">
                  <a:pos x="62" y="91"/>
                </a:cxn>
                <a:cxn ang="0">
                  <a:pos x="62" y="78"/>
                </a:cxn>
                <a:cxn ang="0">
                  <a:pos x="75" y="75"/>
                </a:cxn>
                <a:cxn ang="0">
                  <a:pos x="87" y="73"/>
                </a:cxn>
                <a:cxn ang="0">
                  <a:pos x="99" y="60"/>
                </a:cxn>
                <a:cxn ang="0">
                  <a:pos x="112" y="48"/>
                </a:cxn>
                <a:cxn ang="0">
                  <a:pos x="129" y="36"/>
                </a:cxn>
                <a:cxn ang="0">
                  <a:pos x="147" y="24"/>
                </a:cxn>
                <a:cxn ang="0">
                  <a:pos x="164" y="12"/>
                </a:cxn>
                <a:cxn ang="0">
                  <a:pos x="182" y="0"/>
                </a:cxn>
                <a:cxn ang="0">
                  <a:pos x="204" y="6"/>
                </a:cxn>
                <a:cxn ang="0">
                  <a:pos x="217" y="16"/>
                </a:cxn>
                <a:cxn ang="0">
                  <a:pos x="228" y="9"/>
                </a:cxn>
                <a:cxn ang="0">
                  <a:pos x="229" y="9"/>
                </a:cxn>
                <a:cxn ang="0">
                  <a:pos x="230" y="22"/>
                </a:cxn>
                <a:cxn ang="0">
                  <a:pos x="232" y="36"/>
                </a:cxn>
                <a:cxn ang="0">
                  <a:pos x="246" y="56"/>
                </a:cxn>
                <a:cxn ang="0">
                  <a:pos x="242" y="64"/>
                </a:cxn>
                <a:cxn ang="0">
                  <a:pos x="241" y="78"/>
                </a:cxn>
                <a:cxn ang="0">
                  <a:pos x="240" y="91"/>
                </a:cxn>
                <a:cxn ang="0">
                  <a:pos x="240" y="105"/>
                </a:cxn>
                <a:cxn ang="0">
                  <a:pos x="238" y="118"/>
                </a:cxn>
                <a:cxn ang="0">
                  <a:pos x="231" y="129"/>
                </a:cxn>
                <a:cxn ang="0">
                  <a:pos x="224" y="140"/>
                </a:cxn>
                <a:cxn ang="0">
                  <a:pos x="217" y="151"/>
                </a:cxn>
                <a:cxn ang="0">
                  <a:pos x="210" y="162"/>
                </a:cxn>
                <a:cxn ang="0">
                  <a:pos x="211" y="176"/>
                </a:cxn>
                <a:cxn ang="0">
                  <a:pos x="193" y="186"/>
                </a:cxn>
                <a:cxn ang="0">
                  <a:pos x="177" y="184"/>
                </a:cxn>
                <a:cxn ang="0">
                  <a:pos x="160" y="183"/>
                </a:cxn>
                <a:cxn ang="0">
                  <a:pos x="142" y="192"/>
                </a:cxn>
                <a:cxn ang="0">
                  <a:pos x="132" y="187"/>
                </a:cxn>
                <a:cxn ang="0">
                  <a:pos x="120" y="182"/>
                </a:cxn>
                <a:cxn ang="0">
                  <a:pos x="103" y="187"/>
                </a:cxn>
                <a:cxn ang="0">
                  <a:pos x="92" y="176"/>
                </a:cxn>
                <a:cxn ang="0">
                  <a:pos x="76" y="175"/>
                </a:cxn>
                <a:cxn ang="0">
                  <a:pos x="62" y="180"/>
                </a:cxn>
                <a:cxn ang="0">
                  <a:pos x="58" y="193"/>
                </a:cxn>
                <a:cxn ang="0">
                  <a:pos x="54" y="205"/>
                </a:cxn>
                <a:cxn ang="0">
                  <a:pos x="52" y="212"/>
                </a:cxn>
                <a:cxn ang="0">
                  <a:pos x="39" y="200"/>
                </a:cxn>
                <a:cxn ang="0">
                  <a:pos x="34" y="206"/>
                </a:cxn>
                <a:cxn ang="0">
                  <a:pos x="34" y="208"/>
                </a:cxn>
                <a:cxn ang="0">
                  <a:pos x="31" y="199"/>
                </a:cxn>
                <a:cxn ang="0">
                  <a:pos x="27" y="194"/>
                </a:cxn>
              </a:cxnLst>
              <a:rect l="0" t="0" r="r" b="b"/>
              <a:pathLst>
                <a:path w="246" h="212">
                  <a:moveTo>
                    <a:pt x="27" y="194"/>
                  </a:moveTo>
                  <a:lnTo>
                    <a:pt x="21" y="195"/>
                  </a:lnTo>
                  <a:lnTo>
                    <a:pt x="12" y="188"/>
                  </a:lnTo>
                  <a:lnTo>
                    <a:pt x="12" y="182"/>
                  </a:lnTo>
                  <a:lnTo>
                    <a:pt x="14" y="181"/>
                  </a:lnTo>
                  <a:lnTo>
                    <a:pt x="2" y="168"/>
                  </a:lnTo>
                  <a:lnTo>
                    <a:pt x="0" y="153"/>
                  </a:lnTo>
                  <a:lnTo>
                    <a:pt x="2" y="153"/>
                  </a:lnTo>
                  <a:lnTo>
                    <a:pt x="16" y="147"/>
                  </a:lnTo>
                  <a:lnTo>
                    <a:pt x="34" y="147"/>
                  </a:lnTo>
                  <a:lnTo>
                    <a:pt x="51" y="146"/>
                  </a:lnTo>
                  <a:lnTo>
                    <a:pt x="60" y="130"/>
                  </a:lnTo>
                  <a:lnTo>
                    <a:pt x="61" y="117"/>
                  </a:lnTo>
                  <a:lnTo>
                    <a:pt x="61" y="104"/>
                  </a:lnTo>
                  <a:lnTo>
                    <a:pt x="62" y="91"/>
                  </a:lnTo>
                  <a:lnTo>
                    <a:pt x="62" y="78"/>
                  </a:lnTo>
                  <a:lnTo>
                    <a:pt x="75" y="75"/>
                  </a:lnTo>
                  <a:lnTo>
                    <a:pt x="87" y="73"/>
                  </a:lnTo>
                  <a:lnTo>
                    <a:pt x="99" y="60"/>
                  </a:lnTo>
                  <a:lnTo>
                    <a:pt x="112" y="48"/>
                  </a:lnTo>
                  <a:lnTo>
                    <a:pt x="129" y="36"/>
                  </a:lnTo>
                  <a:lnTo>
                    <a:pt x="147" y="24"/>
                  </a:lnTo>
                  <a:lnTo>
                    <a:pt x="164" y="12"/>
                  </a:lnTo>
                  <a:lnTo>
                    <a:pt x="182" y="0"/>
                  </a:lnTo>
                  <a:lnTo>
                    <a:pt x="204" y="6"/>
                  </a:lnTo>
                  <a:lnTo>
                    <a:pt x="217" y="16"/>
                  </a:lnTo>
                  <a:lnTo>
                    <a:pt x="228" y="9"/>
                  </a:lnTo>
                  <a:lnTo>
                    <a:pt x="229" y="9"/>
                  </a:lnTo>
                  <a:lnTo>
                    <a:pt x="230" y="22"/>
                  </a:lnTo>
                  <a:lnTo>
                    <a:pt x="232" y="36"/>
                  </a:lnTo>
                  <a:lnTo>
                    <a:pt x="246" y="56"/>
                  </a:lnTo>
                  <a:lnTo>
                    <a:pt x="242" y="64"/>
                  </a:lnTo>
                  <a:lnTo>
                    <a:pt x="241" y="78"/>
                  </a:lnTo>
                  <a:lnTo>
                    <a:pt x="240" y="91"/>
                  </a:lnTo>
                  <a:lnTo>
                    <a:pt x="240" y="105"/>
                  </a:lnTo>
                  <a:lnTo>
                    <a:pt x="238" y="118"/>
                  </a:lnTo>
                  <a:lnTo>
                    <a:pt x="231" y="129"/>
                  </a:lnTo>
                  <a:lnTo>
                    <a:pt x="224" y="140"/>
                  </a:lnTo>
                  <a:lnTo>
                    <a:pt x="217" y="151"/>
                  </a:lnTo>
                  <a:lnTo>
                    <a:pt x="210" y="162"/>
                  </a:lnTo>
                  <a:lnTo>
                    <a:pt x="211" y="176"/>
                  </a:lnTo>
                  <a:lnTo>
                    <a:pt x="193" y="186"/>
                  </a:lnTo>
                  <a:lnTo>
                    <a:pt x="177" y="184"/>
                  </a:lnTo>
                  <a:lnTo>
                    <a:pt x="160" y="183"/>
                  </a:lnTo>
                  <a:lnTo>
                    <a:pt x="142" y="192"/>
                  </a:lnTo>
                  <a:lnTo>
                    <a:pt x="132" y="187"/>
                  </a:lnTo>
                  <a:lnTo>
                    <a:pt x="120" y="182"/>
                  </a:lnTo>
                  <a:lnTo>
                    <a:pt x="103" y="187"/>
                  </a:lnTo>
                  <a:lnTo>
                    <a:pt x="92" y="176"/>
                  </a:lnTo>
                  <a:lnTo>
                    <a:pt x="76" y="175"/>
                  </a:lnTo>
                  <a:lnTo>
                    <a:pt x="62" y="180"/>
                  </a:lnTo>
                  <a:lnTo>
                    <a:pt x="58" y="193"/>
                  </a:lnTo>
                  <a:lnTo>
                    <a:pt x="54" y="205"/>
                  </a:lnTo>
                  <a:lnTo>
                    <a:pt x="52" y="212"/>
                  </a:lnTo>
                  <a:lnTo>
                    <a:pt x="39" y="200"/>
                  </a:lnTo>
                  <a:lnTo>
                    <a:pt x="34" y="206"/>
                  </a:lnTo>
                  <a:lnTo>
                    <a:pt x="34" y="208"/>
                  </a:lnTo>
                  <a:lnTo>
                    <a:pt x="31" y="199"/>
                  </a:lnTo>
                  <a:lnTo>
                    <a:pt x="27" y="19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7" name="Freeform 136"/>
            <p:cNvSpPr>
              <a:spLocks/>
            </p:cNvSpPr>
            <p:nvPr/>
          </p:nvSpPr>
          <p:spPr bwMode="auto">
            <a:xfrm>
              <a:off x="2227" y="2374"/>
              <a:ext cx="106" cy="87"/>
            </a:xfrm>
            <a:custGeom>
              <a:avLst/>
              <a:gdLst/>
              <a:ahLst/>
              <a:cxnLst>
                <a:cxn ang="0">
                  <a:pos x="18" y="4"/>
                </a:cxn>
                <a:cxn ang="0">
                  <a:pos x="15" y="11"/>
                </a:cxn>
                <a:cxn ang="0">
                  <a:pos x="8" y="23"/>
                </a:cxn>
                <a:cxn ang="0">
                  <a:pos x="0" y="35"/>
                </a:cxn>
                <a:cxn ang="0">
                  <a:pos x="10" y="48"/>
                </a:cxn>
                <a:cxn ang="0">
                  <a:pos x="15" y="45"/>
                </a:cxn>
                <a:cxn ang="0">
                  <a:pos x="11" y="48"/>
                </a:cxn>
                <a:cxn ang="0">
                  <a:pos x="14" y="49"/>
                </a:cxn>
                <a:cxn ang="0">
                  <a:pos x="14" y="55"/>
                </a:cxn>
                <a:cxn ang="0">
                  <a:pos x="30" y="55"/>
                </a:cxn>
                <a:cxn ang="0">
                  <a:pos x="33" y="52"/>
                </a:cxn>
                <a:cxn ang="0">
                  <a:pos x="52" y="55"/>
                </a:cxn>
                <a:cxn ang="0">
                  <a:pos x="56" y="60"/>
                </a:cxn>
                <a:cxn ang="0">
                  <a:pos x="35" y="55"/>
                </a:cxn>
                <a:cxn ang="0">
                  <a:pos x="23" y="60"/>
                </a:cxn>
                <a:cxn ang="0">
                  <a:pos x="10" y="64"/>
                </a:cxn>
                <a:cxn ang="0">
                  <a:pos x="12" y="72"/>
                </a:cxn>
                <a:cxn ang="0">
                  <a:pos x="23" y="71"/>
                </a:cxn>
                <a:cxn ang="0">
                  <a:pos x="29" y="69"/>
                </a:cxn>
                <a:cxn ang="0">
                  <a:pos x="29" y="71"/>
                </a:cxn>
                <a:cxn ang="0">
                  <a:pos x="15" y="72"/>
                </a:cxn>
                <a:cxn ang="0">
                  <a:pos x="11" y="78"/>
                </a:cxn>
                <a:cxn ang="0">
                  <a:pos x="32" y="73"/>
                </a:cxn>
                <a:cxn ang="0">
                  <a:pos x="45" y="72"/>
                </a:cxn>
                <a:cxn ang="0">
                  <a:pos x="58" y="71"/>
                </a:cxn>
                <a:cxn ang="0">
                  <a:pos x="72" y="75"/>
                </a:cxn>
                <a:cxn ang="0">
                  <a:pos x="95" y="76"/>
                </a:cxn>
                <a:cxn ang="0">
                  <a:pos x="90" y="59"/>
                </a:cxn>
                <a:cxn ang="0">
                  <a:pos x="86" y="52"/>
                </a:cxn>
                <a:cxn ang="0">
                  <a:pos x="82" y="34"/>
                </a:cxn>
                <a:cxn ang="0">
                  <a:pos x="70" y="22"/>
                </a:cxn>
                <a:cxn ang="0">
                  <a:pos x="58" y="9"/>
                </a:cxn>
                <a:cxn ang="0">
                  <a:pos x="44" y="0"/>
                </a:cxn>
                <a:cxn ang="0">
                  <a:pos x="32" y="1"/>
                </a:cxn>
                <a:cxn ang="0">
                  <a:pos x="18" y="4"/>
                </a:cxn>
              </a:cxnLst>
              <a:rect l="0" t="0" r="r" b="b"/>
              <a:pathLst>
                <a:path w="95" h="78">
                  <a:moveTo>
                    <a:pt x="18" y="4"/>
                  </a:moveTo>
                  <a:lnTo>
                    <a:pt x="15" y="11"/>
                  </a:lnTo>
                  <a:lnTo>
                    <a:pt x="8" y="23"/>
                  </a:lnTo>
                  <a:lnTo>
                    <a:pt x="0" y="35"/>
                  </a:lnTo>
                  <a:lnTo>
                    <a:pt x="10" y="48"/>
                  </a:lnTo>
                  <a:lnTo>
                    <a:pt x="15" y="45"/>
                  </a:lnTo>
                  <a:lnTo>
                    <a:pt x="11" y="48"/>
                  </a:lnTo>
                  <a:lnTo>
                    <a:pt x="14" y="49"/>
                  </a:lnTo>
                  <a:lnTo>
                    <a:pt x="14" y="55"/>
                  </a:lnTo>
                  <a:lnTo>
                    <a:pt x="30" y="55"/>
                  </a:lnTo>
                  <a:lnTo>
                    <a:pt x="33" y="52"/>
                  </a:lnTo>
                  <a:lnTo>
                    <a:pt x="52" y="55"/>
                  </a:lnTo>
                  <a:lnTo>
                    <a:pt x="56" y="60"/>
                  </a:lnTo>
                  <a:lnTo>
                    <a:pt x="35" y="55"/>
                  </a:lnTo>
                  <a:lnTo>
                    <a:pt x="23" y="60"/>
                  </a:lnTo>
                  <a:lnTo>
                    <a:pt x="10" y="64"/>
                  </a:lnTo>
                  <a:lnTo>
                    <a:pt x="12" y="72"/>
                  </a:lnTo>
                  <a:lnTo>
                    <a:pt x="23" y="71"/>
                  </a:lnTo>
                  <a:lnTo>
                    <a:pt x="29" y="69"/>
                  </a:lnTo>
                  <a:lnTo>
                    <a:pt x="29" y="71"/>
                  </a:lnTo>
                  <a:lnTo>
                    <a:pt x="15" y="72"/>
                  </a:lnTo>
                  <a:lnTo>
                    <a:pt x="11" y="78"/>
                  </a:lnTo>
                  <a:lnTo>
                    <a:pt x="32" y="73"/>
                  </a:lnTo>
                  <a:lnTo>
                    <a:pt x="45" y="72"/>
                  </a:lnTo>
                  <a:lnTo>
                    <a:pt x="58" y="71"/>
                  </a:lnTo>
                  <a:lnTo>
                    <a:pt x="72" y="75"/>
                  </a:lnTo>
                  <a:lnTo>
                    <a:pt x="95" y="76"/>
                  </a:lnTo>
                  <a:lnTo>
                    <a:pt x="90" y="59"/>
                  </a:lnTo>
                  <a:lnTo>
                    <a:pt x="86" y="52"/>
                  </a:lnTo>
                  <a:lnTo>
                    <a:pt x="82" y="34"/>
                  </a:lnTo>
                  <a:lnTo>
                    <a:pt x="70" y="22"/>
                  </a:lnTo>
                  <a:lnTo>
                    <a:pt x="58" y="9"/>
                  </a:lnTo>
                  <a:lnTo>
                    <a:pt x="44" y="0"/>
                  </a:lnTo>
                  <a:lnTo>
                    <a:pt x="32" y="1"/>
                  </a:lnTo>
                  <a:lnTo>
                    <a:pt x="18"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8" name="Freeform 137"/>
            <p:cNvSpPr>
              <a:spLocks/>
            </p:cNvSpPr>
            <p:nvPr/>
          </p:nvSpPr>
          <p:spPr bwMode="auto">
            <a:xfrm>
              <a:off x="2656" y="1963"/>
              <a:ext cx="68" cy="140"/>
            </a:xfrm>
            <a:custGeom>
              <a:avLst/>
              <a:gdLst/>
              <a:ahLst/>
              <a:cxnLst>
                <a:cxn ang="0">
                  <a:pos x="41" y="118"/>
                </a:cxn>
                <a:cxn ang="0">
                  <a:pos x="32" y="126"/>
                </a:cxn>
                <a:cxn ang="0">
                  <a:pos x="29" y="109"/>
                </a:cxn>
                <a:cxn ang="0">
                  <a:pos x="24" y="92"/>
                </a:cxn>
                <a:cxn ang="0">
                  <a:pos x="12" y="79"/>
                </a:cxn>
                <a:cxn ang="0">
                  <a:pos x="0" y="61"/>
                </a:cxn>
                <a:cxn ang="0">
                  <a:pos x="7" y="48"/>
                </a:cxn>
                <a:cxn ang="0">
                  <a:pos x="13" y="34"/>
                </a:cxn>
                <a:cxn ang="0">
                  <a:pos x="12" y="10"/>
                </a:cxn>
                <a:cxn ang="0">
                  <a:pos x="15" y="6"/>
                </a:cxn>
                <a:cxn ang="0">
                  <a:pos x="32" y="0"/>
                </a:cxn>
                <a:cxn ang="0">
                  <a:pos x="38" y="3"/>
                </a:cxn>
                <a:cxn ang="0">
                  <a:pos x="42" y="9"/>
                </a:cxn>
                <a:cxn ang="0">
                  <a:pos x="51" y="3"/>
                </a:cxn>
                <a:cxn ang="0">
                  <a:pos x="44" y="22"/>
                </a:cxn>
                <a:cxn ang="0">
                  <a:pos x="54" y="36"/>
                </a:cxn>
                <a:cxn ang="0">
                  <a:pos x="45" y="46"/>
                </a:cxn>
                <a:cxn ang="0">
                  <a:pos x="38" y="57"/>
                </a:cxn>
                <a:cxn ang="0">
                  <a:pos x="51" y="66"/>
                </a:cxn>
                <a:cxn ang="0">
                  <a:pos x="61" y="73"/>
                </a:cxn>
                <a:cxn ang="0">
                  <a:pos x="60" y="87"/>
                </a:cxn>
                <a:cxn ang="0">
                  <a:pos x="50" y="96"/>
                </a:cxn>
                <a:cxn ang="0">
                  <a:pos x="41" y="104"/>
                </a:cxn>
                <a:cxn ang="0">
                  <a:pos x="41" y="118"/>
                </a:cxn>
              </a:cxnLst>
              <a:rect l="0" t="0" r="r" b="b"/>
              <a:pathLst>
                <a:path w="61" h="126">
                  <a:moveTo>
                    <a:pt x="41" y="118"/>
                  </a:moveTo>
                  <a:lnTo>
                    <a:pt x="32" y="126"/>
                  </a:lnTo>
                  <a:lnTo>
                    <a:pt x="29" y="109"/>
                  </a:lnTo>
                  <a:lnTo>
                    <a:pt x="24" y="92"/>
                  </a:lnTo>
                  <a:lnTo>
                    <a:pt x="12" y="79"/>
                  </a:lnTo>
                  <a:lnTo>
                    <a:pt x="0" y="61"/>
                  </a:lnTo>
                  <a:lnTo>
                    <a:pt x="7" y="48"/>
                  </a:lnTo>
                  <a:lnTo>
                    <a:pt x="13" y="34"/>
                  </a:lnTo>
                  <a:lnTo>
                    <a:pt x="12" y="10"/>
                  </a:lnTo>
                  <a:lnTo>
                    <a:pt x="15" y="6"/>
                  </a:lnTo>
                  <a:lnTo>
                    <a:pt x="32" y="0"/>
                  </a:lnTo>
                  <a:lnTo>
                    <a:pt x="38" y="3"/>
                  </a:lnTo>
                  <a:lnTo>
                    <a:pt x="42" y="9"/>
                  </a:lnTo>
                  <a:lnTo>
                    <a:pt x="51" y="3"/>
                  </a:lnTo>
                  <a:lnTo>
                    <a:pt x="44" y="22"/>
                  </a:lnTo>
                  <a:lnTo>
                    <a:pt x="54" y="36"/>
                  </a:lnTo>
                  <a:lnTo>
                    <a:pt x="45" y="46"/>
                  </a:lnTo>
                  <a:lnTo>
                    <a:pt x="38" y="57"/>
                  </a:lnTo>
                  <a:lnTo>
                    <a:pt x="51" y="66"/>
                  </a:lnTo>
                  <a:lnTo>
                    <a:pt x="61" y="73"/>
                  </a:lnTo>
                  <a:lnTo>
                    <a:pt x="60" y="87"/>
                  </a:lnTo>
                  <a:lnTo>
                    <a:pt x="50" y="96"/>
                  </a:lnTo>
                  <a:lnTo>
                    <a:pt x="41" y="104"/>
                  </a:lnTo>
                  <a:lnTo>
                    <a:pt x="41" y="1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9" name="Freeform 138"/>
            <p:cNvSpPr>
              <a:spLocks/>
            </p:cNvSpPr>
            <p:nvPr/>
          </p:nvSpPr>
          <p:spPr bwMode="auto">
            <a:xfrm>
              <a:off x="2329" y="2536"/>
              <a:ext cx="73" cy="83"/>
            </a:xfrm>
            <a:custGeom>
              <a:avLst/>
              <a:gdLst/>
              <a:ahLst/>
              <a:cxnLst>
                <a:cxn ang="0">
                  <a:pos x="62" y="74"/>
                </a:cxn>
                <a:cxn ang="0">
                  <a:pos x="45" y="63"/>
                </a:cxn>
                <a:cxn ang="0">
                  <a:pos x="29" y="54"/>
                </a:cxn>
                <a:cxn ang="0">
                  <a:pos x="14" y="40"/>
                </a:cxn>
                <a:cxn ang="0">
                  <a:pos x="0" y="27"/>
                </a:cxn>
                <a:cxn ang="0">
                  <a:pos x="5" y="21"/>
                </a:cxn>
                <a:cxn ang="0">
                  <a:pos x="12" y="10"/>
                </a:cxn>
                <a:cxn ang="0">
                  <a:pos x="19" y="0"/>
                </a:cxn>
                <a:cxn ang="0">
                  <a:pos x="27" y="0"/>
                </a:cxn>
                <a:cxn ang="0">
                  <a:pos x="32" y="18"/>
                </a:cxn>
                <a:cxn ang="0">
                  <a:pos x="36" y="21"/>
                </a:cxn>
                <a:cxn ang="0">
                  <a:pos x="43" y="16"/>
                </a:cxn>
                <a:cxn ang="0">
                  <a:pos x="48" y="16"/>
                </a:cxn>
                <a:cxn ang="0">
                  <a:pos x="48" y="32"/>
                </a:cxn>
                <a:cxn ang="0">
                  <a:pos x="48" y="36"/>
                </a:cxn>
                <a:cxn ang="0">
                  <a:pos x="57" y="44"/>
                </a:cxn>
                <a:cxn ang="0">
                  <a:pos x="65" y="52"/>
                </a:cxn>
                <a:cxn ang="0">
                  <a:pos x="62" y="74"/>
                </a:cxn>
              </a:cxnLst>
              <a:rect l="0" t="0" r="r" b="b"/>
              <a:pathLst>
                <a:path w="65" h="74">
                  <a:moveTo>
                    <a:pt x="62" y="74"/>
                  </a:moveTo>
                  <a:lnTo>
                    <a:pt x="45" y="63"/>
                  </a:lnTo>
                  <a:lnTo>
                    <a:pt x="29" y="54"/>
                  </a:lnTo>
                  <a:lnTo>
                    <a:pt x="14" y="40"/>
                  </a:lnTo>
                  <a:lnTo>
                    <a:pt x="0" y="27"/>
                  </a:lnTo>
                  <a:lnTo>
                    <a:pt x="5" y="21"/>
                  </a:lnTo>
                  <a:lnTo>
                    <a:pt x="12" y="10"/>
                  </a:lnTo>
                  <a:lnTo>
                    <a:pt x="19" y="0"/>
                  </a:lnTo>
                  <a:lnTo>
                    <a:pt x="27" y="0"/>
                  </a:lnTo>
                  <a:lnTo>
                    <a:pt x="32" y="18"/>
                  </a:lnTo>
                  <a:lnTo>
                    <a:pt x="36" y="21"/>
                  </a:lnTo>
                  <a:lnTo>
                    <a:pt x="43" y="16"/>
                  </a:lnTo>
                  <a:lnTo>
                    <a:pt x="48" y="16"/>
                  </a:lnTo>
                  <a:lnTo>
                    <a:pt x="48" y="32"/>
                  </a:lnTo>
                  <a:lnTo>
                    <a:pt x="48" y="36"/>
                  </a:lnTo>
                  <a:lnTo>
                    <a:pt x="57" y="44"/>
                  </a:lnTo>
                  <a:lnTo>
                    <a:pt x="65" y="52"/>
                  </a:lnTo>
                  <a:lnTo>
                    <a:pt x="62" y="7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0" name="Freeform 139"/>
            <p:cNvSpPr>
              <a:spLocks/>
            </p:cNvSpPr>
            <p:nvPr/>
          </p:nvSpPr>
          <p:spPr bwMode="auto">
            <a:xfrm>
              <a:off x="1076" y="2514"/>
              <a:ext cx="55" cy="47"/>
            </a:xfrm>
            <a:custGeom>
              <a:avLst/>
              <a:gdLst/>
              <a:ahLst/>
              <a:cxnLst>
                <a:cxn ang="0">
                  <a:pos x="0" y="28"/>
                </a:cxn>
                <a:cxn ang="0">
                  <a:pos x="1" y="14"/>
                </a:cxn>
                <a:cxn ang="0">
                  <a:pos x="0" y="2"/>
                </a:cxn>
                <a:cxn ang="0">
                  <a:pos x="6" y="0"/>
                </a:cxn>
                <a:cxn ang="0">
                  <a:pos x="10" y="8"/>
                </a:cxn>
                <a:cxn ang="0">
                  <a:pos x="18" y="10"/>
                </a:cxn>
                <a:cxn ang="0">
                  <a:pos x="22" y="15"/>
                </a:cxn>
                <a:cxn ang="0">
                  <a:pos x="44" y="6"/>
                </a:cxn>
                <a:cxn ang="0">
                  <a:pos x="46" y="9"/>
                </a:cxn>
                <a:cxn ang="0">
                  <a:pos x="50" y="14"/>
                </a:cxn>
                <a:cxn ang="0">
                  <a:pos x="38" y="24"/>
                </a:cxn>
                <a:cxn ang="0">
                  <a:pos x="45" y="36"/>
                </a:cxn>
                <a:cxn ang="0">
                  <a:pos x="31" y="42"/>
                </a:cxn>
                <a:cxn ang="0">
                  <a:pos x="28" y="32"/>
                </a:cxn>
                <a:cxn ang="0">
                  <a:pos x="26" y="35"/>
                </a:cxn>
                <a:cxn ang="0">
                  <a:pos x="19" y="28"/>
                </a:cxn>
                <a:cxn ang="0">
                  <a:pos x="3" y="23"/>
                </a:cxn>
                <a:cxn ang="0">
                  <a:pos x="0" y="28"/>
                </a:cxn>
              </a:cxnLst>
              <a:rect l="0" t="0" r="r" b="b"/>
              <a:pathLst>
                <a:path w="50" h="42">
                  <a:moveTo>
                    <a:pt x="0" y="28"/>
                  </a:moveTo>
                  <a:lnTo>
                    <a:pt x="1" y="14"/>
                  </a:lnTo>
                  <a:lnTo>
                    <a:pt x="0" y="2"/>
                  </a:lnTo>
                  <a:lnTo>
                    <a:pt x="6" y="0"/>
                  </a:lnTo>
                  <a:lnTo>
                    <a:pt x="10" y="8"/>
                  </a:lnTo>
                  <a:lnTo>
                    <a:pt x="18" y="10"/>
                  </a:lnTo>
                  <a:lnTo>
                    <a:pt x="22" y="15"/>
                  </a:lnTo>
                  <a:lnTo>
                    <a:pt x="44" y="6"/>
                  </a:lnTo>
                  <a:lnTo>
                    <a:pt x="46" y="9"/>
                  </a:lnTo>
                  <a:lnTo>
                    <a:pt x="50" y="14"/>
                  </a:lnTo>
                  <a:lnTo>
                    <a:pt x="38" y="24"/>
                  </a:lnTo>
                  <a:lnTo>
                    <a:pt x="45" y="36"/>
                  </a:lnTo>
                  <a:lnTo>
                    <a:pt x="31" y="42"/>
                  </a:lnTo>
                  <a:lnTo>
                    <a:pt x="28" y="32"/>
                  </a:lnTo>
                  <a:lnTo>
                    <a:pt x="26" y="35"/>
                  </a:lnTo>
                  <a:lnTo>
                    <a:pt x="19" y="28"/>
                  </a:lnTo>
                  <a:lnTo>
                    <a:pt x="3" y="23"/>
                  </a:lnTo>
                  <a:lnTo>
                    <a:pt x="0"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1" name="Freeform 140"/>
            <p:cNvSpPr>
              <a:spLocks/>
            </p:cNvSpPr>
            <p:nvPr/>
          </p:nvSpPr>
          <p:spPr bwMode="auto">
            <a:xfrm>
              <a:off x="1067" y="2243"/>
              <a:ext cx="182" cy="64"/>
            </a:xfrm>
            <a:custGeom>
              <a:avLst/>
              <a:gdLst/>
              <a:ahLst/>
              <a:cxnLst>
                <a:cxn ang="0">
                  <a:pos x="116" y="23"/>
                </a:cxn>
                <a:cxn ang="0">
                  <a:pos x="116" y="24"/>
                </a:cxn>
                <a:cxn ang="0">
                  <a:pos x="100" y="17"/>
                </a:cxn>
                <a:cxn ang="0">
                  <a:pos x="83" y="8"/>
                </a:cxn>
                <a:cxn ang="0">
                  <a:pos x="71" y="3"/>
                </a:cxn>
                <a:cxn ang="0">
                  <a:pos x="60" y="0"/>
                </a:cxn>
                <a:cxn ang="0">
                  <a:pos x="54" y="0"/>
                </a:cxn>
                <a:cxn ang="0">
                  <a:pos x="35" y="3"/>
                </a:cxn>
                <a:cxn ang="0">
                  <a:pos x="17" y="7"/>
                </a:cxn>
                <a:cxn ang="0">
                  <a:pos x="9" y="18"/>
                </a:cxn>
                <a:cxn ang="0">
                  <a:pos x="0" y="23"/>
                </a:cxn>
                <a:cxn ang="0">
                  <a:pos x="6" y="21"/>
                </a:cxn>
                <a:cxn ang="0">
                  <a:pos x="20" y="15"/>
                </a:cxn>
                <a:cxn ang="0">
                  <a:pos x="32" y="9"/>
                </a:cxn>
                <a:cxn ang="0">
                  <a:pos x="52" y="9"/>
                </a:cxn>
                <a:cxn ang="0">
                  <a:pos x="45" y="12"/>
                </a:cxn>
                <a:cxn ang="0">
                  <a:pos x="58" y="17"/>
                </a:cxn>
                <a:cxn ang="0">
                  <a:pos x="66" y="19"/>
                </a:cxn>
                <a:cxn ang="0">
                  <a:pos x="71" y="21"/>
                </a:cxn>
                <a:cxn ang="0">
                  <a:pos x="93" y="26"/>
                </a:cxn>
                <a:cxn ang="0">
                  <a:pos x="98" y="37"/>
                </a:cxn>
                <a:cxn ang="0">
                  <a:pos x="117" y="47"/>
                </a:cxn>
                <a:cxn ang="0">
                  <a:pos x="107" y="57"/>
                </a:cxn>
                <a:cxn ang="0">
                  <a:pos x="123" y="57"/>
                </a:cxn>
                <a:cxn ang="0">
                  <a:pos x="138" y="56"/>
                </a:cxn>
                <a:cxn ang="0">
                  <a:pos x="150" y="55"/>
                </a:cxn>
                <a:cxn ang="0">
                  <a:pos x="164" y="53"/>
                </a:cxn>
                <a:cxn ang="0">
                  <a:pos x="152" y="47"/>
                </a:cxn>
                <a:cxn ang="0">
                  <a:pos x="141" y="41"/>
                </a:cxn>
                <a:cxn ang="0">
                  <a:pos x="140" y="36"/>
                </a:cxn>
                <a:cxn ang="0">
                  <a:pos x="129" y="31"/>
                </a:cxn>
                <a:cxn ang="0">
                  <a:pos x="117" y="27"/>
                </a:cxn>
                <a:cxn ang="0">
                  <a:pos x="116" y="23"/>
                </a:cxn>
              </a:cxnLst>
              <a:rect l="0" t="0" r="r" b="b"/>
              <a:pathLst>
                <a:path w="164" h="57">
                  <a:moveTo>
                    <a:pt x="116" y="23"/>
                  </a:moveTo>
                  <a:lnTo>
                    <a:pt x="116" y="24"/>
                  </a:lnTo>
                  <a:lnTo>
                    <a:pt x="100" y="17"/>
                  </a:lnTo>
                  <a:lnTo>
                    <a:pt x="83" y="8"/>
                  </a:lnTo>
                  <a:lnTo>
                    <a:pt x="71" y="3"/>
                  </a:lnTo>
                  <a:lnTo>
                    <a:pt x="60" y="0"/>
                  </a:lnTo>
                  <a:lnTo>
                    <a:pt x="54" y="0"/>
                  </a:lnTo>
                  <a:lnTo>
                    <a:pt x="35" y="3"/>
                  </a:lnTo>
                  <a:lnTo>
                    <a:pt x="17" y="7"/>
                  </a:lnTo>
                  <a:lnTo>
                    <a:pt x="9" y="18"/>
                  </a:lnTo>
                  <a:lnTo>
                    <a:pt x="0" y="23"/>
                  </a:lnTo>
                  <a:lnTo>
                    <a:pt x="6" y="21"/>
                  </a:lnTo>
                  <a:lnTo>
                    <a:pt x="20" y="15"/>
                  </a:lnTo>
                  <a:lnTo>
                    <a:pt x="32" y="9"/>
                  </a:lnTo>
                  <a:lnTo>
                    <a:pt x="52" y="9"/>
                  </a:lnTo>
                  <a:lnTo>
                    <a:pt x="45" y="12"/>
                  </a:lnTo>
                  <a:lnTo>
                    <a:pt x="58" y="17"/>
                  </a:lnTo>
                  <a:lnTo>
                    <a:pt x="66" y="19"/>
                  </a:lnTo>
                  <a:lnTo>
                    <a:pt x="71" y="21"/>
                  </a:lnTo>
                  <a:lnTo>
                    <a:pt x="93" y="26"/>
                  </a:lnTo>
                  <a:lnTo>
                    <a:pt x="98" y="37"/>
                  </a:lnTo>
                  <a:lnTo>
                    <a:pt x="117" y="47"/>
                  </a:lnTo>
                  <a:lnTo>
                    <a:pt x="107" y="57"/>
                  </a:lnTo>
                  <a:lnTo>
                    <a:pt x="123" y="57"/>
                  </a:lnTo>
                  <a:lnTo>
                    <a:pt x="138" y="56"/>
                  </a:lnTo>
                  <a:lnTo>
                    <a:pt x="150" y="55"/>
                  </a:lnTo>
                  <a:lnTo>
                    <a:pt x="164" y="53"/>
                  </a:lnTo>
                  <a:lnTo>
                    <a:pt x="152" y="47"/>
                  </a:lnTo>
                  <a:lnTo>
                    <a:pt x="141" y="41"/>
                  </a:lnTo>
                  <a:lnTo>
                    <a:pt x="140" y="36"/>
                  </a:lnTo>
                  <a:lnTo>
                    <a:pt x="129" y="31"/>
                  </a:lnTo>
                  <a:lnTo>
                    <a:pt x="117" y="27"/>
                  </a:lnTo>
                  <a:lnTo>
                    <a:pt x="116" y="2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2" name="Freeform 141"/>
            <p:cNvSpPr>
              <a:spLocks/>
            </p:cNvSpPr>
            <p:nvPr/>
          </p:nvSpPr>
          <p:spPr bwMode="auto">
            <a:xfrm>
              <a:off x="1096" y="2267"/>
              <a:ext cx="11" cy="9"/>
            </a:xfrm>
            <a:custGeom>
              <a:avLst/>
              <a:gdLst/>
              <a:ahLst/>
              <a:cxnLst>
                <a:cxn ang="0">
                  <a:pos x="0" y="9"/>
                </a:cxn>
                <a:cxn ang="0">
                  <a:pos x="8" y="7"/>
                </a:cxn>
                <a:cxn ang="0">
                  <a:pos x="2" y="0"/>
                </a:cxn>
                <a:cxn ang="0">
                  <a:pos x="0" y="9"/>
                </a:cxn>
              </a:cxnLst>
              <a:rect l="0" t="0" r="r" b="b"/>
              <a:pathLst>
                <a:path w="8" h="9">
                  <a:moveTo>
                    <a:pt x="0" y="9"/>
                  </a:moveTo>
                  <a:lnTo>
                    <a:pt x="8" y="7"/>
                  </a:lnTo>
                  <a:lnTo>
                    <a:pt x="2" y="0"/>
                  </a:lnTo>
                  <a:lnTo>
                    <a:pt x="0"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3" name="Freeform 142"/>
            <p:cNvSpPr>
              <a:spLocks/>
            </p:cNvSpPr>
            <p:nvPr/>
          </p:nvSpPr>
          <p:spPr bwMode="auto">
            <a:xfrm>
              <a:off x="1120" y="2319"/>
              <a:ext cx="7" cy="2"/>
            </a:xfrm>
            <a:custGeom>
              <a:avLst/>
              <a:gdLst/>
              <a:ahLst/>
              <a:cxnLst>
                <a:cxn ang="0">
                  <a:pos x="5" y="1"/>
                </a:cxn>
                <a:cxn ang="0">
                  <a:pos x="5" y="0"/>
                </a:cxn>
                <a:cxn ang="0">
                  <a:pos x="4" y="0"/>
                </a:cxn>
                <a:cxn ang="0">
                  <a:pos x="3" y="0"/>
                </a:cxn>
                <a:cxn ang="0">
                  <a:pos x="2" y="0"/>
                </a:cxn>
                <a:cxn ang="0">
                  <a:pos x="3" y="0"/>
                </a:cxn>
                <a:cxn ang="0">
                  <a:pos x="3" y="1"/>
                </a:cxn>
                <a:cxn ang="0">
                  <a:pos x="2" y="1"/>
                </a:cxn>
                <a:cxn ang="0">
                  <a:pos x="0" y="1"/>
                </a:cxn>
                <a:cxn ang="0">
                  <a:pos x="0" y="0"/>
                </a:cxn>
                <a:cxn ang="0">
                  <a:pos x="0" y="1"/>
                </a:cxn>
                <a:cxn ang="0">
                  <a:pos x="0" y="2"/>
                </a:cxn>
                <a:cxn ang="0">
                  <a:pos x="0" y="1"/>
                </a:cxn>
                <a:cxn ang="0">
                  <a:pos x="2" y="1"/>
                </a:cxn>
                <a:cxn ang="0">
                  <a:pos x="2" y="2"/>
                </a:cxn>
                <a:cxn ang="0">
                  <a:pos x="3" y="2"/>
                </a:cxn>
                <a:cxn ang="0">
                  <a:pos x="3" y="1"/>
                </a:cxn>
                <a:cxn ang="0">
                  <a:pos x="4" y="1"/>
                </a:cxn>
                <a:cxn ang="0">
                  <a:pos x="5" y="1"/>
                </a:cxn>
              </a:cxnLst>
              <a:rect l="0" t="0" r="r" b="b"/>
              <a:pathLst>
                <a:path w="5" h="2">
                  <a:moveTo>
                    <a:pt x="5" y="1"/>
                  </a:moveTo>
                  <a:lnTo>
                    <a:pt x="5" y="0"/>
                  </a:lnTo>
                  <a:lnTo>
                    <a:pt x="4" y="0"/>
                  </a:lnTo>
                  <a:lnTo>
                    <a:pt x="3" y="0"/>
                  </a:lnTo>
                  <a:lnTo>
                    <a:pt x="2" y="0"/>
                  </a:lnTo>
                  <a:lnTo>
                    <a:pt x="3" y="0"/>
                  </a:lnTo>
                  <a:lnTo>
                    <a:pt x="3" y="1"/>
                  </a:lnTo>
                  <a:lnTo>
                    <a:pt x="2" y="1"/>
                  </a:lnTo>
                  <a:lnTo>
                    <a:pt x="0" y="1"/>
                  </a:lnTo>
                  <a:lnTo>
                    <a:pt x="0" y="0"/>
                  </a:lnTo>
                  <a:lnTo>
                    <a:pt x="0" y="1"/>
                  </a:lnTo>
                  <a:lnTo>
                    <a:pt x="0" y="2"/>
                  </a:lnTo>
                  <a:lnTo>
                    <a:pt x="0" y="1"/>
                  </a:lnTo>
                  <a:lnTo>
                    <a:pt x="2" y="1"/>
                  </a:lnTo>
                  <a:lnTo>
                    <a:pt x="2" y="2"/>
                  </a:lnTo>
                  <a:lnTo>
                    <a:pt x="3" y="2"/>
                  </a:lnTo>
                  <a:lnTo>
                    <a:pt x="3" y="1"/>
                  </a:lnTo>
                  <a:lnTo>
                    <a:pt x="4" y="1"/>
                  </a:lnTo>
                  <a:lnTo>
                    <a:pt x="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4" name="Freeform 143"/>
            <p:cNvSpPr>
              <a:spLocks/>
            </p:cNvSpPr>
            <p:nvPr/>
          </p:nvSpPr>
          <p:spPr bwMode="auto">
            <a:xfrm>
              <a:off x="1147" y="2310"/>
              <a:ext cx="2" cy="2"/>
            </a:xfrm>
            <a:custGeom>
              <a:avLst/>
              <a:gdLst/>
              <a:ahLst/>
              <a:cxnLst>
                <a:cxn ang="0">
                  <a:pos x="3" y="0"/>
                </a:cxn>
                <a:cxn ang="0">
                  <a:pos x="2" y="1"/>
                </a:cxn>
                <a:cxn ang="0">
                  <a:pos x="0" y="1"/>
                </a:cxn>
                <a:cxn ang="0">
                  <a:pos x="2" y="1"/>
                </a:cxn>
                <a:cxn ang="0">
                  <a:pos x="3" y="1"/>
                </a:cxn>
                <a:cxn ang="0">
                  <a:pos x="3" y="0"/>
                </a:cxn>
              </a:cxnLst>
              <a:rect l="0" t="0" r="r" b="b"/>
              <a:pathLst>
                <a:path w="3" h="1">
                  <a:moveTo>
                    <a:pt x="3" y="0"/>
                  </a:moveTo>
                  <a:lnTo>
                    <a:pt x="2" y="1"/>
                  </a:lnTo>
                  <a:lnTo>
                    <a:pt x="0" y="1"/>
                  </a:lnTo>
                  <a:lnTo>
                    <a:pt x="2" y="1"/>
                  </a:lnTo>
                  <a:lnTo>
                    <a:pt x="3" y="1"/>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5" name="Freeform 144"/>
            <p:cNvSpPr>
              <a:spLocks/>
            </p:cNvSpPr>
            <p:nvPr/>
          </p:nvSpPr>
          <p:spPr bwMode="auto">
            <a:xfrm>
              <a:off x="1142" y="2312"/>
              <a:ext cx="5" cy="2"/>
            </a:xfrm>
            <a:custGeom>
              <a:avLst/>
              <a:gdLst/>
              <a:ahLst/>
              <a:cxnLst>
                <a:cxn ang="0">
                  <a:pos x="2" y="0"/>
                </a:cxn>
                <a:cxn ang="0">
                  <a:pos x="1" y="0"/>
                </a:cxn>
                <a:cxn ang="0">
                  <a:pos x="0" y="0"/>
                </a:cxn>
                <a:cxn ang="0">
                  <a:pos x="0" y="1"/>
                </a:cxn>
                <a:cxn ang="0">
                  <a:pos x="1" y="1"/>
                </a:cxn>
                <a:cxn ang="0">
                  <a:pos x="1" y="0"/>
                </a:cxn>
                <a:cxn ang="0">
                  <a:pos x="2" y="0"/>
                </a:cxn>
              </a:cxnLst>
              <a:rect l="0" t="0" r="r" b="b"/>
              <a:pathLst>
                <a:path w="2" h="1">
                  <a:moveTo>
                    <a:pt x="2" y="0"/>
                  </a:moveTo>
                  <a:lnTo>
                    <a:pt x="1" y="0"/>
                  </a:lnTo>
                  <a:lnTo>
                    <a:pt x="0" y="0"/>
                  </a:lnTo>
                  <a:lnTo>
                    <a:pt x="0" y="1"/>
                  </a:lnTo>
                  <a:lnTo>
                    <a:pt x="1" y="1"/>
                  </a:lnTo>
                  <a:lnTo>
                    <a:pt x="1"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6" name="Freeform 145"/>
            <p:cNvSpPr>
              <a:spLocks/>
            </p:cNvSpPr>
            <p:nvPr/>
          </p:nvSpPr>
          <p:spPr bwMode="auto">
            <a:xfrm>
              <a:off x="1409" y="2336"/>
              <a:ext cx="2" cy="3"/>
            </a:xfrm>
            <a:custGeom>
              <a:avLst/>
              <a:gdLst/>
              <a:ahLst/>
              <a:cxnLst>
                <a:cxn ang="0">
                  <a:pos x="2" y="0"/>
                </a:cxn>
                <a:cxn ang="0">
                  <a:pos x="1" y="0"/>
                </a:cxn>
                <a:cxn ang="0">
                  <a:pos x="0" y="0"/>
                </a:cxn>
                <a:cxn ang="0">
                  <a:pos x="0" y="1"/>
                </a:cxn>
                <a:cxn ang="0">
                  <a:pos x="1" y="1"/>
                </a:cxn>
                <a:cxn ang="0">
                  <a:pos x="1" y="0"/>
                </a:cxn>
                <a:cxn ang="0">
                  <a:pos x="2" y="0"/>
                </a:cxn>
              </a:cxnLst>
              <a:rect l="0" t="0" r="r" b="b"/>
              <a:pathLst>
                <a:path w="2" h="1">
                  <a:moveTo>
                    <a:pt x="2" y="0"/>
                  </a:moveTo>
                  <a:lnTo>
                    <a:pt x="1" y="0"/>
                  </a:lnTo>
                  <a:lnTo>
                    <a:pt x="0" y="0"/>
                  </a:lnTo>
                  <a:lnTo>
                    <a:pt x="0" y="1"/>
                  </a:lnTo>
                  <a:lnTo>
                    <a:pt x="1" y="1"/>
                  </a:lnTo>
                  <a:lnTo>
                    <a:pt x="1"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7" name="Freeform 146"/>
            <p:cNvSpPr>
              <a:spLocks/>
            </p:cNvSpPr>
            <p:nvPr/>
          </p:nvSpPr>
          <p:spPr bwMode="auto">
            <a:xfrm>
              <a:off x="1414" y="2330"/>
              <a:ext cx="2" cy="2"/>
            </a:xfrm>
            <a:custGeom>
              <a:avLst/>
              <a:gdLst/>
              <a:ahLst/>
              <a:cxnLst>
                <a:cxn ang="0">
                  <a:pos x="3" y="1"/>
                </a:cxn>
                <a:cxn ang="0">
                  <a:pos x="2" y="1"/>
                </a:cxn>
                <a:cxn ang="0">
                  <a:pos x="2" y="0"/>
                </a:cxn>
                <a:cxn ang="0">
                  <a:pos x="0" y="0"/>
                </a:cxn>
                <a:cxn ang="0">
                  <a:pos x="0" y="1"/>
                </a:cxn>
                <a:cxn ang="0">
                  <a:pos x="0" y="0"/>
                </a:cxn>
                <a:cxn ang="0">
                  <a:pos x="0" y="1"/>
                </a:cxn>
                <a:cxn ang="0">
                  <a:pos x="2" y="1"/>
                </a:cxn>
                <a:cxn ang="0">
                  <a:pos x="3" y="1"/>
                </a:cxn>
              </a:cxnLst>
              <a:rect l="0" t="0" r="r" b="b"/>
              <a:pathLst>
                <a:path w="3" h="1">
                  <a:moveTo>
                    <a:pt x="3" y="1"/>
                  </a:moveTo>
                  <a:lnTo>
                    <a:pt x="2" y="1"/>
                  </a:lnTo>
                  <a:lnTo>
                    <a:pt x="2" y="0"/>
                  </a:lnTo>
                  <a:lnTo>
                    <a:pt x="0" y="0"/>
                  </a:lnTo>
                  <a:lnTo>
                    <a:pt x="0" y="1"/>
                  </a:lnTo>
                  <a:lnTo>
                    <a:pt x="0" y="0"/>
                  </a:lnTo>
                  <a:lnTo>
                    <a:pt x="0" y="1"/>
                  </a:lnTo>
                  <a:lnTo>
                    <a:pt x="2" y="1"/>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8" name="Freeform 147"/>
            <p:cNvSpPr>
              <a:spLocks/>
            </p:cNvSpPr>
            <p:nvPr/>
          </p:nvSpPr>
          <p:spPr bwMode="auto">
            <a:xfrm>
              <a:off x="1414" y="2336"/>
              <a:ext cx="2" cy="3"/>
            </a:xfrm>
            <a:custGeom>
              <a:avLst/>
              <a:gdLst/>
              <a:ahLst/>
              <a:cxnLst>
                <a:cxn ang="0">
                  <a:pos x="3" y="0"/>
                </a:cxn>
                <a:cxn ang="0">
                  <a:pos x="1" y="0"/>
                </a:cxn>
                <a:cxn ang="0">
                  <a:pos x="1" y="1"/>
                </a:cxn>
                <a:cxn ang="0">
                  <a:pos x="0" y="1"/>
                </a:cxn>
                <a:cxn ang="0">
                  <a:pos x="1" y="1"/>
                </a:cxn>
                <a:cxn ang="0">
                  <a:pos x="1" y="0"/>
                </a:cxn>
                <a:cxn ang="0">
                  <a:pos x="3" y="0"/>
                </a:cxn>
              </a:cxnLst>
              <a:rect l="0" t="0" r="r" b="b"/>
              <a:pathLst>
                <a:path w="3" h="1">
                  <a:moveTo>
                    <a:pt x="3" y="0"/>
                  </a:moveTo>
                  <a:lnTo>
                    <a:pt x="1" y="0"/>
                  </a:lnTo>
                  <a:lnTo>
                    <a:pt x="1" y="1"/>
                  </a:lnTo>
                  <a:lnTo>
                    <a:pt x="0" y="1"/>
                  </a:lnTo>
                  <a:lnTo>
                    <a:pt x="1" y="1"/>
                  </a:lnTo>
                  <a:lnTo>
                    <a:pt x="1" y="0"/>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9" name="Freeform 148"/>
            <p:cNvSpPr>
              <a:spLocks/>
            </p:cNvSpPr>
            <p:nvPr/>
          </p:nvSpPr>
          <p:spPr bwMode="auto">
            <a:xfrm>
              <a:off x="1409" y="2339"/>
              <a:ext cx="2" cy="2"/>
            </a:xfrm>
            <a:custGeom>
              <a:avLst/>
              <a:gdLst/>
              <a:ahLst/>
              <a:cxnLst>
                <a:cxn ang="0">
                  <a:pos x="1" y="0"/>
                </a:cxn>
                <a:cxn ang="0">
                  <a:pos x="0" y="0"/>
                </a:cxn>
                <a:cxn ang="0">
                  <a:pos x="0" y="1"/>
                </a:cxn>
                <a:cxn ang="0">
                  <a:pos x="0" y="0"/>
                </a:cxn>
                <a:cxn ang="0">
                  <a:pos x="1" y="0"/>
                </a:cxn>
              </a:cxnLst>
              <a:rect l="0" t="0" r="r" b="b"/>
              <a:pathLst>
                <a:path w="1" h="1">
                  <a:moveTo>
                    <a:pt x="1" y="0"/>
                  </a:moveTo>
                  <a:lnTo>
                    <a:pt x="0" y="0"/>
                  </a:lnTo>
                  <a:lnTo>
                    <a:pt x="0"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0" name="Freeform 149"/>
            <p:cNvSpPr>
              <a:spLocks/>
            </p:cNvSpPr>
            <p:nvPr/>
          </p:nvSpPr>
          <p:spPr bwMode="auto">
            <a:xfrm>
              <a:off x="1282" y="2310"/>
              <a:ext cx="65" cy="44"/>
            </a:xfrm>
            <a:custGeom>
              <a:avLst/>
              <a:gdLst/>
              <a:ahLst/>
              <a:cxnLst>
                <a:cxn ang="0">
                  <a:pos x="5" y="2"/>
                </a:cxn>
                <a:cxn ang="0">
                  <a:pos x="2" y="15"/>
                </a:cxn>
                <a:cxn ang="0">
                  <a:pos x="0" y="21"/>
                </a:cxn>
                <a:cxn ang="0">
                  <a:pos x="1" y="32"/>
                </a:cxn>
                <a:cxn ang="0">
                  <a:pos x="6" y="40"/>
                </a:cxn>
                <a:cxn ang="0">
                  <a:pos x="13" y="30"/>
                </a:cxn>
                <a:cxn ang="0">
                  <a:pos x="20" y="26"/>
                </a:cxn>
                <a:cxn ang="0">
                  <a:pos x="29" y="27"/>
                </a:cxn>
                <a:cxn ang="0">
                  <a:pos x="49" y="28"/>
                </a:cxn>
                <a:cxn ang="0">
                  <a:pos x="56" y="21"/>
                </a:cxn>
                <a:cxn ang="0">
                  <a:pos x="38" y="13"/>
                </a:cxn>
                <a:cxn ang="0">
                  <a:pos x="42" y="9"/>
                </a:cxn>
                <a:cxn ang="0">
                  <a:pos x="33" y="6"/>
                </a:cxn>
                <a:cxn ang="0">
                  <a:pos x="12" y="0"/>
                </a:cxn>
                <a:cxn ang="0">
                  <a:pos x="5" y="2"/>
                </a:cxn>
              </a:cxnLst>
              <a:rect l="0" t="0" r="r" b="b"/>
              <a:pathLst>
                <a:path w="56" h="40">
                  <a:moveTo>
                    <a:pt x="5" y="2"/>
                  </a:moveTo>
                  <a:lnTo>
                    <a:pt x="2" y="15"/>
                  </a:lnTo>
                  <a:lnTo>
                    <a:pt x="0" y="21"/>
                  </a:lnTo>
                  <a:lnTo>
                    <a:pt x="1" y="32"/>
                  </a:lnTo>
                  <a:lnTo>
                    <a:pt x="6" y="40"/>
                  </a:lnTo>
                  <a:lnTo>
                    <a:pt x="13" y="30"/>
                  </a:lnTo>
                  <a:lnTo>
                    <a:pt x="20" y="26"/>
                  </a:lnTo>
                  <a:lnTo>
                    <a:pt x="29" y="27"/>
                  </a:lnTo>
                  <a:lnTo>
                    <a:pt x="49" y="28"/>
                  </a:lnTo>
                  <a:lnTo>
                    <a:pt x="56" y="21"/>
                  </a:lnTo>
                  <a:lnTo>
                    <a:pt x="38" y="13"/>
                  </a:lnTo>
                  <a:lnTo>
                    <a:pt x="42" y="9"/>
                  </a:lnTo>
                  <a:lnTo>
                    <a:pt x="33" y="6"/>
                  </a:lnTo>
                  <a:lnTo>
                    <a:pt x="12"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1" name="Freeform 150"/>
            <p:cNvSpPr>
              <a:spLocks/>
            </p:cNvSpPr>
            <p:nvPr/>
          </p:nvSpPr>
          <p:spPr bwMode="auto">
            <a:xfrm>
              <a:off x="1238" y="2310"/>
              <a:ext cx="51" cy="35"/>
            </a:xfrm>
            <a:custGeom>
              <a:avLst/>
              <a:gdLst/>
              <a:ahLst/>
              <a:cxnLst>
                <a:cxn ang="0">
                  <a:pos x="46" y="2"/>
                </a:cxn>
                <a:cxn ang="0">
                  <a:pos x="43" y="15"/>
                </a:cxn>
                <a:cxn ang="0">
                  <a:pos x="41" y="21"/>
                </a:cxn>
                <a:cxn ang="0">
                  <a:pos x="42" y="32"/>
                </a:cxn>
                <a:cxn ang="0">
                  <a:pos x="26" y="31"/>
                </a:cxn>
                <a:cxn ang="0">
                  <a:pos x="10" y="31"/>
                </a:cxn>
                <a:cxn ang="0">
                  <a:pos x="0" y="25"/>
                </a:cxn>
                <a:cxn ang="0">
                  <a:pos x="8" y="22"/>
                </a:cxn>
                <a:cxn ang="0">
                  <a:pos x="22" y="22"/>
                </a:cxn>
                <a:cxn ang="0">
                  <a:pos x="34" y="24"/>
                </a:cxn>
                <a:cxn ang="0">
                  <a:pos x="29" y="9"/>
                </a:cxn>
                <a:cxn ang="0">
                  <a:pos x="23" y="3"/>
                </a:cxn>
                <a:cxn ang="0">
                  <a:pos x="20" y="0"/>
                </a:cxn>
                <a:cxn ang="0">
                  <a:pos x="36" y="1"/>
                </a:cxn>
                <a:cxn ang="0">
                  <a:pos x="46" y="2"/>
                </a:cxn>
              </a:cxnLst>
              <a:rect l="0" t="0" r="r" b="b"/>
              <a:pathLst>
                <a:path w="46" h="32">
                  <a:moveTo>
                    <a:pt x="46" y="2"/>
                  </a:moveTo>
                  <a:lnTo>
                    <a:pt x="43" y="15"/>
                  </a:lnTo>
                  <a:lnTo>
                    <a:pt x="41" y="21"/>
                  </a:lnTo>
                  <a:lnTo>
                    <a:pt x="42" y="32"/>
                  </a:lnTo>
                  <a:lnTo>
                    <a:pt x="26" y="31"/>
                  </a:lnTo>
                  <a:lnTo>
                    <a:pt x="10" y="31"/>
                  </a:lnTo>
                  <a:lnTo>
                    <a:pt x="0" y="25"/>
                  </a:lnTo>
                  <a:lnTo>
                    <a:pt x="8" y="22"/>
                  </a:lnTo>
                  <a:lnTo>
                    <a:pt x="22" y="22"/>
                  </a:lnTo>
                  <a:lnTo>
                    <a:pt x="34" y="24"/>
                  </a:lnTo>
                  <a:lnTo>
                    <a:pt x="29" y="9"/>
                  </a:lnTo>
                  <a:lnTo>
                    <a:pt x="23" y="3"/>
                  </a:lnTo>
                  <a:lnTo>
                    <a:pt x="20" y="0"/>
                  </a:lnTo>
                  <a:lnTo>
                    <a:pt x="36" y="1"/>
                  </a:lnTo>
                  <a:lnTo>
                    <a:pt x="4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2" name="Freeform 151"/>
            <p:cNvSpPr>
              <a:spLocks/>
            </p:cNvSpPr>
            <p:nvPr/>
          </p:nvSpPr>
          <p:spPr bwMode="auto">
            <a:xfrm>
              <a:off x="1282" y="2270"/>
              <a:ext cx="5" cy="2"/>
            </a:xfrm>
            <a:custGeom>
              <a:avLst/>
              <a:gdLst/>
              <a:ahLst/>
              <a:cxnLst>
                <a:cxn ang="0">
                  <a:pos x="2" y="1"/>
                </a:cxn>
                <a:cxn ang="0">
                  <a:pos x="0" y="1"/>
                </a:cxn>
                <a:cxn ang="0">
                  <a:pos x="0" y="0"/>
                </a:cxn>
                <a:cxn ang="0">
                  <a:pos x="3" y="1"/>
                </a:cxn>
                <a:cxn ang="0">
                  <a:pos x="2" y="1"/>
                </a:cxn>
              </a:cxnLst>
              <a:rect l="0" t="0" r="r" b="b"/>
              <a:pathLst>
                <a:path w="3" h="1">
                  <a:moveTo>
                    <a:pt x="2" y="1"/>
                  </a:moveTo>
                  <a:lnTo>
                    <a:pt x="0" y="1"/>
                  </a:lnTo>
                  <a:lnTo>
                    <a:pt x="0" y="0"/>
                  </a:lnTo>
                  <a:lnTo>
                    <a:pt x="3" y="1"/>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3" name="Freeform 152"/>
            <p:cNvSpPr>
              <a:spLocks/>
            </p:cNvSpPr>
            <p:nvPr/>
          </p:nvSpPr>
          <p:spPr bwMode="auto">
            <a:xfrm>
              <a:off x="1291" y="2270"/>
              <a:ext cx="5" cy="2"/>
            </a:xfrm>
            <a:custGeom>
              <a:avLst/>
              <a:gdLst/>
              <a:ahLst/>
              <a:cxnLst>
                <a:cxn ang="0">
                  <a:pos x="4" y="1"/>
                </a:cxn>
                <a:cxn ang="0">
                  <a:pos x="0" y="0"/>
                </a:cxn>
                <a:cxn ang="0">
                  <a:pos x="4" y="1"/>
                </a:cxn>
              </a:cxnLst>
              <a:rect l="0" t="0" r="r" b="b"/>
              <a:pathLst>
                <a:path w="4" h="1">
                  <a:moveTo>
                    <a:pt x="4" y="1"/>
                  </a:moveTo>
                  <a:lnTo>
                    <a:pt x="0" y="0"/>
                  </a:lnTo>
                  <a:lnTo>
                    <a:pt x="4"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4" name="Freeform 153"/>
            <p:cNvSpPr>
              <a:spLocks/>
            </p:cNvSpPr>
            <p:nvPr/>
          </p:nvSpPr>
          <p:spPr bwMode="auto">
            <a:xfrm>
              <a:off x="1465" y="2425"/>
              <a:ext cx="2" cy="7"/>
            </a:xfrm>
            <a:custGeom>
              <a:avLst/>
              <a:gdLst/>
              <a:ahLst/>
              <a:cxnLst>
                <a:cxn ang="0">
                  <a:pos x="1" y="6"/>
                </a:cxn>
                <a:cxn ang="0">
                  <a:pos x="0" y="2"/>
                </a:cxn>
                <a:cxn ang="0">
                  <a:pos x="2" y="0"/>
                </a:cxn>
                <a:cxn ang="0">
                  <a:pos x="1" y="6"/>
                </a:cxn>
              </a:cxnLst>
              <a:rect l="0" t="0" r="r" b="b"/>
              <a:pathLst>
                <a:path w="2" h="6">
                  <a:moveTo>
                    <a:pt x="1" y="6"/>
                  </a:moveTo>
                  <a:lnTo>
                    <a:pt x="0" y="2"/>
                  </a:lnTo>
                  <a:lnTo>
                    <a:pt x="2" y="0"/>
                  </a:lnTo>
                  <a:lnTo>
                    <a:pt x="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5" name="Freeform 154"/>
            <p:cNvSpPr>
              <a:spLocks/>
            </p:cNvSpPr>
            <p:nvPr/>
          </p:nvSpPr>
          <p:spPr bwMode="auto">
            <a:xfrm>
              <a:off x="1025" y="2483"/>
              <a:ext cx="58" cy="62"/>
            </a:xfrm>
            <a:custGeom>
              <a:avLst/>
              <a:gdLst/>
              <a:ahLst/>
              <a:cxnLst>
                <a:cxn ang="0">
                  <a:pos x="12" y="27"/>
                </a:cxn>
                <a:cxn ang="0">
                  <a:pos x="0" y="13"/>
                </a:cxn>
                <a:cxn ang="0">
                  <a:pos x="2" y="5"/>
                </a:cxn>
                <a:cxn ang="0">
                  <a:pos x="2" y="2"/>
                </a:cxn>
                <a:cxn ang="0">
                  <a:pos x="5" y="0"/>
                </a:cxn>
                <a:cxn ang="0">
                  <a:pos x="26" y="5"/>
                </a:cxn>
                <a:cxn ang="0">
                  <a:pos x="36" y="3"/>
                </a:cxn>
                <a:cxn ang="0">
                  <a:pos x="44" y="15"/>
                </a:cxn>
                <a:cxn ang="0">
                  <a:pos x="52" y="27"/>
                </a:cxn>
                <a:cxn ang="0">
                  <a:pos x="46" y="29"/>
                </a:cxn>
                <a:cxn ang="0">
                  <a:pos x="47" y="41"/>
                </a:cxn>
                <a:cxn ang="0">
                  <a:pos x="46" y="55"/>
                </a:cxn>
                <a:cxn ang="0">
                  <a:pos x="37" y="43"/>
                </a:cxn>
                <a:cxn ang="0">
                  <a:pos x="37" y="48"/>
                </a:cxn>
                <a:cxn ang="0">
                  <a:pos x="35" y="42"/>
                </a:cxn>
                <a:cxn ang="0">
                  <a:pos x="30" y="32"/>
                </a:cxn>
                <a:cxn ang="0">
                  <a:pos x="19" y="24"/>
                </a:cxn>
                <a:cxn ang="0">
                  <a:pos x="10" y="15"/>
                </a:cxn>
                <a:cxn ang="0">
                  <a:pos x="13" y="24"/>
                </a:cxn>
                <a:cxn ang="0">
                  <a:pos x="12" y="27"/>
                </a:cxn>
              </a:cxnLst>
              <a:rect l="0" t="0" r="r" b="b"/>
              <a:pathLst>
                <a:path w="52" h="55">
                  <a:moveTo>
                    <a:pt x="12" y="27"/>
                  </a:moveTo>
                  <a:lnTo>
                    <a:pt x="0" y="13"/>
                  </a:lnTo>
                  <a:lnTo>
                    <a:pt x="2" y="5"/>
                  </a:lnTo>
                  <a:lnTo>
                    <a:pt x="2" y="2"/>
                  </a:lnTo>
                  <a:lnTo>
                    <a:pt x="5" y="0"/>
                  </a:lnTo>
                  <a:lnTo>
                    <a:pt x="26" y="5"/>
                  </a:lnTo>
                  <a:lnTo>
                    <a:pt x="36" y="3"/>
                  </a:lnTo>
                  <a:lnTo>
                    <a:pt x="44" y="15"/>
                  </a:lnTo>
                  <a:lnTo>
                    <a:pt x="52" y="27"/>
                  </a:lnTo>
                  <a:lnTo>
                    <a:pt x="46" y="29"/>
                  </a:lnTo>
                  <a:lnTo>
                    <a:pt x="47" y="41"/>
                  </a:lnTo>
                  <a:lnTo>
                    <a:pt x="46" y="55"/>
                  </a:lnTo>
                  <a:lnTo>
                    <a:pt x="37" y="43"/>
                  </a:lnTo>
                  <a:lnTo>
                    <a:pt x="37" y="48"/>
                  </a:lnTo>
                  <a:lnTo>
                    <a:pt x="35" y="42"/>
                  </a:lnTo>
                  <a:lnTo>
                    <a:pt x="30" y="32"/>
                  </a:lnTo>
                  <a:lnTo>
                    <a:pt x="19" y="24"/>
                  </a:lnTo>
                  <a:lnTo>
                    <a:pt x="10" y="15"/>
                  </a:lnTo>
                  <a:lnTo>
                    <a:pt x="13" y="24"/>
                  </a:lnTo>
                  <a:lnTo>
                    <a:pt x="12"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6" name="Freeform 155"/>
            <p:cNvSpPr>
              <a:spLocks/>
            </p:cNvSpPr>
            <p:nvPr/>
          </p:nvSpPr>
          <p:spPr bwMode="auto">
            <a:xfrm>
              <a:off x="1489" y="2441"/>
              <a:ext cx="5" cy="2"/>
            </a:xfrm>
            <a:custGeom>
              <a:avLst/>
              <a:gdLst/>
              <a:ahLst/>
              <a:cxnLst>
                <a:cxn ang="0">
                  <a:pos x="3" y="4"/>
                </a:cxn>
                <a:cxn ang="0">
                  <a:pos x="1" y="4"/>
                </a:cxn>
                <a:cxn ang="0">
                  <a:pos x="0" y="0"/>
                </a:cxn>
                <a:cxn ang="0">
                  <a:pos x="3" y="3"/>
                </a:cxn>
                <a:cxn ang="0">
                  <a:pos x="3" y="4"/>
                </a:cxn>
              </a:cxnLst>
              <a:rect l="0" t="0" r="r" b="b"/>
              <a:pathLst>
                <a:path w="3" h="4">
                  <a:moveTo>
                    <a:pt x="3" y="4"/>
                  </a:moveTo>
                  <a:lnTo>
                    <a:pt x="1" y="4"/>
                  </a:lnTo>
                  <a:lnTo>
                    <a:pt x="0" y="0"/>
                  </a:lnTo>
                  <a:lnTo>
                    <a:pt x="3" y="3"/>
                  </a:lnTo>
                  <a:lnTo>
                    <a:pt x="3"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7" name="Freeform 156"/>
            <p:cNvSpPr>
              <a:spLocks/>
            </p:cNvSpPr>
            <p:nvPr/>
          </p:nvSpPr>
          <p:spPr bwMode="auto">
            <a:xfrm>
              <a:off x="1460" y="2394"/>
              <a:ext cx="2" cy="9"/>
            </a:xfrm>
            <a:custGeom>
              <a:avLst/>
              <a:gdLst/>
              <a:ahLst/>
              <a:cxnLst>
                <a:cxn ang="0">
                  <a:pos x="4" y="5"/>
                </a:cxn>
                <a:cxn ang="0">
                  <a:pos x="1" y="8"/>
                </a:cxn>
                <a:cxn ang="0">
                  <a:pos x="0" y="0"/>
                </a:cxn>
                <a:cxn ang="0">
                  <a:pos x="3" y="0"/>
                </a:cxn>
                <a:cxn ang="0">
                  <a:pos x="4" y="5"/>
                </a:cxn>
              </a:cxnLst>
              <a:rect l="0" t="0" r="r" b="b"/>
              <a:pathLst>
                <a:path w="4" h="8">
                  <a:moveTo>
                    <a:pt x="4" y="5"/>
                  </a:moveTo>
                  <a:lnTo>
                    <a:pt x="1" y="8"/>
                  </a:lnTo>
                  <a:lnTo>
                    <a:pt x="0" y="0"/>
                  </a:lnTo>
                  <a:lnTo>
                    <a:pt x="3" y="0"/>
                  </a:lnTo>
                  <a:lnTo>
                    <a:pt x="4"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8" name="Freeform 157"/>
            <p:cNvSpPr>
              <a:spLocks/>
            </p:cNvSpPr>
            <p:nvPr/>
          </p:nvSpPr>
          <p:spPr bwMode="auto">
            <a:xfrm>
              <a:off x="956" y="2416"/>
              <a:ext cx="40" cy="27"/>
            </a:xfrm>
            <a:custGeom>
              <a:avLst/>
              <a:gdLst/>
              <a:ahLst/>
              <a:cxnLst>
                <a:cxn ang="0">
                  <a:pos x="35" y="18"/>
                </a:cxn>
                <a:cxn ang="0">
                  <a:pos x="31" y="23"/>
                </a:cxn>
                <a:cxn ang="0">
                  <a:pos x="23" y="20"/>
                </a:cxn>
                <a:cxn ang="0">
                  <a:pos x="12" y="17"/>
                </a:cxn>
                <a:cxn ang="0">
                  <a:pos x="0" y="12"/>
                </a:cxn>
                <a:cxn ang="0">
                  <a:pos x="13" y="0"/>
                </a:cxn>
                <a:cxn ang="0">
                  <a:pos x="23" y="7"/>
                </a:cxn>
                <a:cxn ang="0">
                  <a:pos x="36" y="9"/>
                </a:cxn>
                <a:cxn ang="0">
                  <a:pos x="35" y="18"/>
                </a:cxn>
              </a:cxnLst>
              <a:rect l="0" t="0" r="r" b="b"/>
              <a:pathLst>
                <a:path w="36" h="23">
                  <a:moveTo>
                    <a:pt x="35" y="18"/>
                  </a:moveTo>
                  <a:lnTo>
                    <a:pt x="31" y="23"/>
                  </a:lnTo>
                  <a:lnTo>
                    <a:pt x="23" y="20"/>
                  </a:lnTo>
                  <a:lnTo>
                    <a:pt x="12" y="17"/>
                  </a:lnTo>
                  <a:lnTo>
                    <a:pt x="0" y="12"/>
                  </a:lnTo>
                  <a:lnTo>
                    <a:pt x="13" y="0"/>
                  </a:lnTo>
                  <a:lnTo>
                    <a:pt x="23" y="7"/>
                  </a:lnTo>
                  <a:lnTo>
                    <a:pt x="36" y="9"/>
                  </a:lnTo>
                  <a:lnTo>
                    <a:pt x="35"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9" name="Freeform 158"/>
            <p:cNvSpPr>
              <a:spLocks/>
            </p:cNvSpPr>
            <p:nvPr/>
          </p:nvSpPr>
          <p:spPr bwMode="auto">
            <a:xfrm>
              <a:off x="971" y="2387"/>
              <a:ext cx="109" cy="60"/>
            </a:xfrm>
            <a:custGeom>
              <a:avLst/>
              <a:gdLst/>
              <a:ahLst/>
              <a:cxnLst>
                <a:cxn ang="0">
                  <a:pos x="53" y="36"/>
                </a:cxn>
                <a:cxn ang="0">
                  <a:pos x="47" y="38"/>
                </a:cxn>
                <a:cxn ang="0">
                  <a:pos x="40" y="42"/>
                </a:cxn>
                <a:cxn ang="0">
                  <a:pos x="34" y="53"/>
                </a:cxn>
                <a:cxn ang="0">
                  <a:pos x="30" y="53"/>
                </a:cxn>
                <a:cxn ang="0">
                  <a:pos x="28" y="46"/>
                </a:cxn>
                <a:cxn ang="0">
                  <a:pos x="22" y="45"/>
                </a:cxn>
                <a:cxn ang="0">
                  <a:pos x="23" y="36"/>
                </a:cxn>
                <a:cxn ang="0">
                  <a:pos x="10" y="34"/>
                </a:cxn>
                <a:cxn ang="0">
                  <a:pos x="0" y="27"/>
                </a:cxn>
                <a:cxn ang="0">
                  <a:pos x="10" y="12"/>
                </a:cxn>
                <a:cxn ang="0">
                  <a:pos x="20" y="4"/>
                </a:cxn>
                <a:cxn ang="0">
                  <a:pos x="22" y="4"/>
                </a:cxn>
                <a:cxn ang="0">
                  <a:pos x="37" y="2"/>
                </a:cxn>
                <a:cxn ang="0">
                  <a:pos x="53" y="0"/>
                </a:cxn>
                <a:cxn ang="0">
                  <a:pos x="65" y="2"/>
                </a:cxn>
                <a:cxn ang="0">
                  <a:pos x="78" y="2"/>
                </a:cxn>
                <a:cxn ang="0">
                  <a:pos x="88" y="9"/>
                </a:cxn>
                <a:cxn ang="0">
                  <a:pos x="85" y="8"/>
                </a:cxn>
                <a:cxn ang="0">
                  <a:pos x="86" y="11"/>
                </a:cxn>
                <a:cxn ang="0">
                  <a:pos x="92" y="11"/>
                </a:cxn>
                <a:cxn ang="0">
                  <a:pos x="98" y="17"/>
                </a:cxn>
                <a:cxn ang="0">
                  <a:pos x="85" y="18"/>
                </a:cxn>
                <a:cxn ang="0">
                  <a:pos x="72" y="21"/>
                </a:cxn>
                <a:cxn ang="0">
                  <a:pos x="53" y="36"/>
                </a:cxn>
              </a:cxnLst>
              <a:rect l="0" t="0" r="r" b="b"/>
              <a:pathLst>
                <a:path w="98" h="53">
                  <a:moveTo>
                    <a:pt x="53" y="36"/>
                  </a:moveTo>
                  <a:lnTo>
                    <a:pt x="47" y="38"/>
                  </a:lnTo>
                  <a:lnTo>
                    <a:pt x="40" y="42"/>
                  </a:lnTo>
                  <a:lnTo>
                    <a:pt x="34" y="53"/>
                  </a:lnTo>
                  <a:lnTo>
                    <a:pt x="30" y="53"/>
                  </a:lnTo>
                  <a:lnTo>
                    <a:pt x="28" y="46"/>
                  </a:lnTo>
                  <a:lnTo>
                    <a:pt x="22" y="45"/>
                  </a:lnTo>
                  <a:lnTo>
                    <a:pt x="23" y="36"/>
                  </a:lnTo>
                  <a:lnTo>
                    <a:pt x="10" y="34"/>
                  </a:lnTo>
                  <a:lnTo>
                    <a:pt x="0" y="27"/>
                  </a:lnTo>
                  <a:lnTo>
                    <a:pt x="10" y="12"/>
                  </a:lnTo>
                  <a:lnTo>
                    <a:pt x="20" y="4"/>
                  </a:lnTo>
                  <a:lnTo>
                    <a:pt x="22" y="4"/>
                  </a:lnTo>
                  <a:lnTo>
                    <a:pt x="37" y="2"/>
                  </a:lnTo>
                  <a:lnTo>
                    <a:pt x="53" y="0"/>
                  </a:lnTo>
                  <a:lnTo>
                    <a:pt x="65" y="2"/>
                  </a:lnTo>
                  <a:lnTo>
                    <a:pt x="78" y="2"/>
                  </a:lnTo>
                  <a:lnTo>
                    <a:pt x="88" y="9"/>
                  </a:lnTo>
                  <a:lnTo>
                    <a:pt x="85" y="8"/>
                  </a:lnTo>
                  <a:lnTo>
                    <a:pt x="86" y="11"/>
                  </a:lnTo>
                  <a:lnTo>
                    <a:pt x="92" y="11"/>
                  </a:lnTo>
                  <a:lnTo>
                    <a:pt x="98" y="17"/>
                  </a:lnTo>
                  <a:lnTo>
                    <a:pt x="85" y="18"/>
                  </a:lnTo>
                  <a:lnTo>
                    <a:pt x="72" y="21"/>
                  </a:lnTo>
                  <a:lnTo>
                    <a:pt x="53"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0" name="Freeform 159"/>
            <p:cNvSpPr>
              <a:spLocks/>
            </p:cNvSpPr>
            <p:nvPr/>
          </p:nvSpPr>
          <p:spPr bwMode="auto">
            <a:xfrm>
              <a:off x="1462" y="2410"/>
              <a:ext cx="7" cy="6"/>
            </a:xfrm>
            <a:custGeom>
              <a:avLst/>
              <a:gdLst/>
              <a:ahLst/>
              <a:cxnLst>
                <a:cxn ang="0">
                  <a:pos x="6" y="6"/>
                </a:cxn>
                <a:cxn ang="0">
                  <a:pos x="0" y="0"/>
                </a:cxn>
                <a:cxn ang="0">
                  <a:pos x="7" y="6"/>
                </a:cxn>
                <a:cxn ang="0">
                  <a:pos x="6" y="6"/>
                </a:cxn>
              </a:cxnLst>
              <a:rect l="0" t="0" r="r" b="b"/>
              <a:pathLst>
                <a:path w="7" h="6">
                  <a:moveTo>
                    <a:pt x="6" y="6"/>
                  </a:moveTo>
                  <a:lnTo>
                    <a:pt x="0" y="0"/>
                  </a:lnTo>
                  <a:lnTo>
                    <a:pt x="7" y="6"/>
                  </a:lnTo>
                  <a:lnTo>
                    <a:pt x="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1" name="Freeform 160"/>
            <p:cNvSpPr>
              <a:spLocks/>
            </p:cNvSpPr>
            <p:nvPr/>
          </p:nvSpPr>
          <p:spPr bwMode="auto">
            <a:xfrm>
              <a:off x="998" y="2407"/>
              <a:ext cx="82" cy="83"/>
            </a:xfrm>
            <a:custGeom>
              <a:avLst/>
              <a:gdLst/>
              <a:ahLst/>
              <a:cxnLst>
                <a:cxn ang="0">
                  <a:pos x="29" y="19"/>
                </a:cxn>
                <a:cxn ang="0">
                  <a:pos x="23" y="21"/>
                </a:cxn>
                <a:cxn ang="0">
                  <a:pos x="16" y="25"/>
                </a:cxn>
                <a:cxn ang="0">
                  <a:pos x="10" y="36"/>
                </a:cxn>
                <a:cxn ang="0">
                  <a:pos x="6" y="36"/>
                </a:cxn>
                <a:cxn ang="0">
                  <a:pos x="0" y="37"/>
                </a:cxn>
                <a:cxn ang="0">
                  <a:pos x="14" y="54"/>
                </a:cxn>
                <a:cxn ang="0">
                  <a:pos x="29" y="70"/>
                </a:cxn>
                <a:cxn ang="0">
                  <a:pos x="50" y="75"/>
                </a:cxn>
                <a:cxn ang="0">
                  <a:pos x="60" y="73"/>
                </a:cxn>
                <a:cxn ang="0">
                  <a:pos x="60" y="61"/>
                </a:cxn>
                <a:cxn ang="0">
                  <a:pos x="61" y="52"/>
                </a:cxn>
                <a:cxn ang="0">
                  <a:pos x="64" y="41"/>
                </a:cxn>
                <a:cxn ang="0">
                  <a:pos x="65" y="45"/>
                </a:cxn>
                <a:cxn ang="0">
                  <a:pos x="67" y="31"/>
                </a:cxn>
                <a:cxn ang="0">
                  <a:pos x="70" y="17"/>
                </a:cxn>
                <a:cxn ang="0">
                  <a:pos x="70" y="3"/>
                </a:cxn>
                <a:cxn ang="0">
                  <a:pos x="74" y="0"/>
                </a:cxn>
                <a:cxn ang="0">
                  <a:pos x="61" y="1"/>
                </a:cxn>
                <a:cxn ang="0">
                  <a:pos x="48" y="4"/>
                </a:cxn>
                <a:cxn ang="0">
                  <a:pos x="29" y="19"/>
                </a:cxn>
              </a:cxnLst>
              <a:rect l="0" t="0" r="r" b="b"/>
              <a:pathLst>
                <a:path w="74" h="75">
                  <a:moveTo>
                    <a:pt x="29" y="19"/>
                  </a:moveTo>
                  <a:lnTo>
                    <a:pt x="23" y="21"/>
                  </a:lnTo>
                  <a:lnTo>
                    <a:pt x="16" y="25"/>
                  </a:lnTo>
                  <a:lnTo>
                    <a:pt x="10" y="36"/>
                  </a:lnTo>
                  <a:lnTo>
                    <a:pt x="6" y="36"/>
                  </a:lnTo>
                  <a:lnTo>
                    <a:pt x="0" y="37"/>
                  </a:lnTo>
                  <a:lnTo>
                    <a:pt x="14" y="54"/>
                  </a:lnTo>
                  <a:lnTo>
                    <a:pt x="29" y="70"/>
                  </a:lnTo>
                  <a:lnTo>
                    <a:pt x="50" y="75"/>
                  </a:lnTo>
                  <a:lnTo>
                    <a:pt x="60" y="73"/>
                  </a:lnTo>
                  <a:lnTo>
                    <a:pt x="60" y="61"/>
                  </a:lnTo>
                  <a:lnTo>
                    <a:pt x="61" y="52"/>
                  </a:lnTo>
                  <a:lnTo>
                    <a:pt x="64" y="41"/>
                  </a:lnTo>
                  <a:lnTo>
                    <a:pt x="65" y="45"/>
                  </a:lnTo>
                  <a:lnTo>
                    <a:pt x="67" y="31"/>
                  </a:lnTo>
                  <a:lnTo>
                    <a:pt x="70" y="17"/>
                  </a:lnTo>
                  <a:lnTo>
                    <a:pt x="70" y="3"/>
                  </a:lnTo>
                  <a:lnTo>
                    <a:pt x="74" y="0"/>
                  </a:lnTo>
                  <a:lnTo>
                    <a:pt x="61" y="1"/>
                  </a:lnTo>
                  <a:lnTo>
                    <a:pt x="48" y="4"/>
                  </a:lnTo>
                  <a:lnTo>
                    <a:pt x="29"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2" name="Freeform 161"/>
            <p:cNvSpPr>
              <a:spLocks/>
            </p:cNvSpPr>
            <p:nvPr/>
          </p:nvSpPr>
          <p:spPr bwMode="auto">
            <a:xfrm>
              <a:off x="1460" y="2439"/>
              <a:ext cx="2" cy="4"/>
            </a:xfrm>
            <a:custGeom>
              <a:avLst/>
              <a:gdLst/>
              <a:ahLst/>
              <a:cxnLst>
                <a:cxn ang="0">
                  <a:pos x="2" y="4"/>
                </a:cxn>
                <a:cxn ang="0">
                  <a:pos x="2" y="0"/>
                </a:cxn>
                <a:cxn ang="0">
                  <a:pos x="0" y="2"/>
                </a:cxn>
                <a:cxn ang="0">
                  <a:pos x="2" y="4"/>
                </a:cxn>
              </a:cxnLst>
              <a:rect l="0" t="0" r="r" b="b"/>
              <a:pathLst>
                <a:path w="2" h="4">
                  <a:moveTo>
                    <a:pt x="2" y="4"/>
                  </a:moveTo>
                  <a:lnTo>
                    <a:pt x="2" y="0"/>
                  </a:lnTo>
                  <a:lnTo>
                    <a:pt x="0" y="2"/>
                  </a:lnTo>
                  <a:lnTo>
                    <a:pt x="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3" name="Freeform 162"/>
            <p:cNvSpPr>
              <a:spLocks/>
            </p:cNvSpPr>
            <p:nvPr/>
          </p:nvSpPr>
          <p:spPr bwMode="auto">
            <a:xfrm>
              <a:off x="1442" y="2363"/>
              <a:ext cx="3" cy="2"/>
            </a:xfrm>
            <a:custGeom>
              <a:avLst/>
              <a:gdLst/>
              <a:ahLst/>
              <a:cxnLst>
                <a:cxn ang="0">
                  <a:pos x="1" y="1"/>
                </a:cxn>
                <a:cxn ang="0">
                  <a:pos x="0" y="0"/>
                </a:cxn>
                <a:cxn ang="0">
                  <a:pos x="1" y="1"/>
                </a:cxn>
              </a:cxnLst>
              <a:rect l="0" t="0" r="r" b="b"/>
              <a:pathLst>
                <a:path w="1" h="1">
                  <a:moveTo>
                    <a:pt x="1" y="1"/>
                  </a:move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4" name="Freeform 163"/>
            <p:cNvSpPr>
              <a:spLocks/>
            </p:cNvSpPr>
            <p:nvPr/>
          </p:nvSpPr>
          <p:spPr bwMode="auto">
            <a:xfrm>
              <a:off x="1438" y="2359"/>
              <a:ext cx="4" cy="2"/>
            </a:xfrm>
            <a:custGeom>
              <a:avLst/>
              <a:gdLst/>
              <a:ahLst/>
              <a:cxnLst>
                <a:cxn ang="0">
                  <a:pos x="4" y="2"/>
                </a:cxn>
                <a:cxn ang="0">
                  <a:pos x="0" y="0"/>
                </a:cxn>
                <a:cxn ang="0">
                  <a:pos x="4" y="2"/>
                </a:cxn>
              </a:cxnLst>
              <a:rect l="0" t="0" r="r" b="b"/>
              <a:pathLst>
                <a:path w="4" h="2">
                  <a:moveTo>
                    <a:pt x="4" y="2"/>
                  </a:moveTo>
                  <a:lnTo>
                    <a:pt x="0" y="0"/>
                  </a:lnTo>
                  <a:lnTo>
                    <a:pt x="4"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5" name="Freeform 164"/>
            <p:cNvSpPr>
              <a:spLocks/>
            </p:cNvSpPr>
            <p:nvPr/>
          </p:nvSpPr>
          <p:spPr bwMode="auto">
            <a:xfrm>
              <a:off x="1456" y="2381"/>
              <a:ext cx="4" cy="4"/>
            </a:xfrm>
            <a:custGeom>
              <a:avLst/>
              <a:gdLst/>
              <a:ahLst/>
              <a:cxnLst>
                <a:cxn ang="0">
                  <a:pos x="2" y="0"/>
                </a:cxn>
                <a:cxn ang="0">
                  <a:pos x="3" y="1"/>
                </a:cxn>
                <a:cxn ang="0">
                  <a:pos x="0" y="5"/>
                </a:cxn>
                <a:cxn ang="0">
                  <a:pos x="2" y="0"/>
                </a:cxn>
              </a:cxnLst>
              <a:rect l="0" t="0" r="r" b="b"/>
              <a:pathLst>
                <a:path w="3" h="5">
                  <a:moveTo>
                    <a:pt x="2" y="0"/>
                  </a:moveTo>
                  <a:lnTo>
                    <a:pt x="3" y="1"/>
                  </a:lnTo>
                  <a:lnTo>
                    <a:pt x="0" y="5"/>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6" name="Freeform 165"/>
            <p:cNvSpPr>
              <a:spLocks/>
            </p:cNvSpPr>
            <p:nvPr/>
          </p:nvSpPr>
          <p:spPr bwMode="auto">
            <a:xfrm>
              <a:off x="1434" y="2341"/>
              <a:ext cx="4" cy="2"/>
            </a:xfrm>
            <a:custGeom>
              <a:avLst/>
              <a:gdLst/>
              <a:ahLst/>
              <a:cxnLst>
                <a:cxn ang="0">
                  <a:pos x="4" y="1"/>
                </a:cxn>
                <a:cxn ang="0">
                  <a:pos x="4" y="0"/>
                </a:cxn>
                <a:cxn ang="0">
                  <a:pos x="4" y="1"/>
                </a:cxn>
                <a:cxn ang="0">
                  <a:pos x="3" y="1"/>
                </a:cxn>
                <a:cxn ang="0">
                  <a:pos x="2" y="1"/>
                </a:cxn>
                <a:cxn ang="0">
                  <a:pos x="2" y="3"/>
                </a:cxn>
                <a:cxn ang="0">
                  <a:pos x="0" y="3"/>
                </a:cxn>
                <a:cxn ang="0">
                  <a:pos x="2" y="3"/>
                </a:cxn>
                <a:cxn ang="0">
                  <a:pos x="3" y="3"/>
                </a:cxn>
                <a:cxn ang="0">
                  <a:pos x="3" y="1"/>
                </a:cxn>
                <a:cxn ang="0">
                  <a:pos x="4" y="1"/>
                </a:cxn>
              </a:cxnLst>
              <a:rect l="0" t="0" r="r" b="b"/>
              <a:pathLst>
                <a:path w="4" h="3">
                  <a:moveTo>
                    <a:pt x="4" y="1"/>
                  </a:moveTo>
                  <a:lnTo>
                    <a:pt x="4" y="0"/>
                  </a:lnTo>
                  <a:lnTo>
                    <a:pt x="4" y="1"/>
                  </a:lnTo>
                  <a:lnTo>
                    <a:pt x="3" y="1"/>
                  </a:lnTo>
                  <a:lnTo>
                    <a:pt x="2" y="1"/>
                  </a:lnTo>
                  <a:lnTo>
                    <a:pt x="2" y="3"/>
                  </a:lnTo>
                  <a:lnTo>
                    <a:pt x="0" y="3"/>
                  </a:lnTo>
                  <a:lnTo>
                    <a:pt x="2" y="3"/>
                  </a:lnTo>
                  <a:lnTo>
                    <a:pt x="3" y="3"/>
                  </a:lnTo>
                  <a:lnTo>
                    <a:pt x="3" y="1"/>
                  </a:lnTo>
                  <a:lnTo>
                    <a:pt x="4"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7" name="Freeform 166"/>
            <p:cNvSpPr>
              <a:spLocks/>
            </p:cNvSpPr>
            <p:nvPr/>
          </p:nvSpPr>
          <p:spPr bwMode="auto">
            <a:xfrm>
              <a:off x="1456" y="2363"/>
              <a:ext cx="4" cy="2"/>
            </a:xfrm>
            <a:custGeom>
              <a:avLst/>
              <a:gdLst/>
              <a:ahLst/>
              <a:cxnLst>
                <a:cxn ang="0">
                  <a:pos x="1" y="0"/>
                </a:cxn>
                <a:cxn ang="0">
                  <a:pos x="0" y="1"/>
                </a:cxn>
                <a:cxn ang="0">
                  <a:pos x="0" y="2"/>
                </a:cxn>
                <a:cxn ang="0">
                  <a:pos x="3" y="2"/>
                </a:cxn>
                <a:cxn ang="0">
                  <a:pos x="1" y="0"/>
                </a:cxn>
              </a:cxnLst>
              <a:rect l="0" t="0" r="r" b="b"/>
              <a:pathLst>
                <a:path w="3" h="2">
                  <a:moveTo>
                    <a:pt x="1" y="0"/>
                  </a:moveTo>
                  <a:lnTo>
                    <a:pt x="0" y="1"/>
                  </a:lnTo>
                  <a:lnTo>
                    <a:pt x="0" y="2"/>
                  </a:lnTo>
                  <a:lnTo>
                    <a:pt x="3" y="2"/>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8" name="Freeform 167"/>
            <p:cNvSpPr>
              <a:spLocks/>
            </p:cNvSpPr>
            <p:nvPr/>
          </p:nvSpPr>
          <p:spPr bwMode="auto">
            <a:xfrm>
              <a:off x="1456" y="2352"/>
              <a:ext cx="2" cy="2"/>
            </a:xfrm>
            <a:custGeom>
              <a:avLst/>
              <a:gdLst/>
              <a:ahLst/>
              <a:cxnLst>
                <a:cxn ang="0">
                  <a:pos x="1" y="2"/>
                </a:cxn>
                <a:cxn ang="0">
                  <a:pos x="0" y="1"/>
                </a:cxn>
                <a:cxn ang="0">
                  <a:pos x="0" y="0"/>
                </a:cxn>
                <a:cxn ang="0">
                  <a:pos x="1" y="1"/>
                </a:cxn>
                <a:cxn ang="0">
                  <a:pos x="1" y="2"/>
                </a:cxn>
              </a:cxnLst>
              <a:rect l="0" t="0" r="r" b="b"/>
              <a:pathLst>
                <a:path w="1" h="2">
                  <a:moveTo>
                    <a:pt x="1" y="2"/>
                  </a:moveTo>
                  <a:lnTo>
                    <a:pt x="0" y="1"/>
                  </a:lnTo>
                  <a:lnTo>
                    <a:pt x="0" y="0"/>
                  </a:lnTo>
                  <a:lnTo>
                    <a:pt x="1" y="1"/>
                  </a:lnTo>
                  <a:lnTo>
                    <a:pt x="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9" name="Freeform 168"/>
            <p:cNvSpPr>
              <a:spLocks/>
            </p:cNvSpPr>
            <p:nvPr/>
          </p:nvSpPr>
          <p:spPr bwMode="auto">
            <a:xfrm>
              <a:off x="976" y="2336"/>
              <a:ext cx="24" cy="51"/>
            </a:xfrm>
            <a:custGeom>
              <a:avLst/>
              <a:gdLst/>
              <a:ahLst/>
              <a:cxnLst>
                <a:cxn ang="0">
                  <a:pos x="13" y="38"/>
                </a:cxn>
                <a:cxn ang="0">
                  <a:pos x="5" y="46"/>
                </a:cxn>
                <a:cxn ang="0">
                  <a:pos x="0" y="46"/>
                </a:cxn>
                <a:cxn ang="0">
                  <a:pos x="2" y="30"/>
                </a:cxn>
                <a:cxn ang="0">
                  <a:pos x="6" y="12"/>
                </a:cxn>
                <a:cxn ang="0">
                  <a:pos x="20" y="0"/>
                </a:cxn>
                <a:cxn ang="0">
                  <a:pos x="21" y="3"/>
                </a:cxn>
                <a:cxn ang="0">
                  <a:pos x="17" y="20"/>
                </a:cxn>
                <a:cxn ang="0">
                  <a:pos x="13" y="38"/>
                </a:cxn>
              </a:cxnLst>
              <a:rect l="0" t="0" r="r" b="b"/>
              <a:pathLst>
                <a:path w="21" h="46">
                  <a:moveTo>
                    <a:pt x="13" y="38"/>
                  </a:moveTo>
                  <a:lnTo>
                    <a:pt x="5" y="46"/>
                  </a:lnTo>
                  <a:lnTo>
                    <a:pt x="0" y="46"/>
                  </a:lnTo>
                  <a:lnTo>
                    <a:pt x="2" y="30"/>
                  </a:lnTo>
                  <a:lnTo>
                    <a:pt x="6" y="12"/>
                  </a:lnTo>
                  <a:lnTo>
                    <a:pt x="20" y="0"/>
                  </a:lnTo>
                  <a:lnTo>
                    <a:pt x="21" y="3"/>
                  </a:lnTo>
                  <a:lnTo>
                    <a:pt x="17" y="20"/>
                  </a:lnTo>
                  <a:lnTo>
                    <a:pt x="13"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0" name="Freeform 169"/>
            <p:cNvSpPr>
              <a:spLocks/>
            </p:cNvSpPr>
            <p:nvPr/>
          </p:nvSpPr>
          <p:spPr bwMode="auto">
            <a:xfrm>
              <a:off x="920" y="2350"/>
              <a:ext cx="74" cy="80"/>
            </a:xfrm>
            <a:custGeom>
              <a:avLst/>
              <a:gdLst/>
              <a:ahLst/>
              <a:cxnLst>
                <a:cxn ang="0">
                  <a:pos x="6" y="64"/>
                </a:cxn>
                <a:cxn ang="0">
                  <a:pos x="0" y="58"/>
                </a:cxn>
                <a:cxn ang="0">
                  <a:pos x="3" y="46"/>
                </a:cxn>
                <a:cxn ang="0">
                  <a:pos x="11" y="32"/>
                </a:cxn>
                <a:cxn ang="0">
                  <a:pos x="33" y="28"/>
                </a:cxn>
                <a:cxn ang="0">
                  <a:pos x="21" y="12"/>
                </a:cxn>
                <a:cxn ang="0">
                  <a:pos x="26" y="10"/>
                </a:cxn>
                <a:cxn ang="0">
                  <a:pos x="27" y="0"/>
                </a:cxn>
                <a:cxn ang="0">
                  <a:pos x="42" y="0"/>
                </a:cxn>
                <a:cxn ang="0">
                  <a:pos x="57" y="0"/>
                </a:cxn>
                <a:cxn ang="0">
                  <a:pos x="53" y="18"/>
                </a:cxn>
                <a:cxn ang="0">
                  <a:pos x="51" y="34"/>
                </a:cxn>
                <a:cxn ang="0">
                  <a:pos x="56" y="34"/>
                </a:cxn>
                <a:cxn ang="0">
                  <a:pos x="62" y="36"/>
                </a:cxn>
                <a:cxn ang="0">
                  <a:pos x="66" y="38"/>
                </a:cxn>
                <a:cxn ang="0">
                  <a:pos x="56" y="46"/>
                </a:cxn>
                <a:cxn ang="0">
                  <a:pos x="46" y="61"/>
                </a:cxn>
                <a:cxn ang="0">
                  <a:pos x="33" y="73"/>
                </a:cxn>
                <a:cxn ang="0">
                  <a:pos x="20" y="69"/>
                </a:cxn>
                <a:cxn ang="0">
                  <a:pos x="6" y="64"/>
                </a:cxn>
              </a:cxnLst>
              <a:rect l="0" t="0" r="r" b="b"/>
              <a:pathLst>
                <a:path w="66" h="73">
                  <a:moveTo>
                    <a:pt x="6" y="64"/>
                  </a:moveTo>
                  <a:lnTo>
                    <a:pt x="0" y="58"/>
                  </a:lnTo>
                  <a:lnTo>
                    <a:pt x="3" y="46"/>
                  </a:lnTo>
                  <a:lnTo>
                    <a:pt x="11" y="32"/>
                  </a:lnTo>
                  <a:lnTo>
                    <a:pt x="33" y="28"/>
                  </a:lnTo>
                  <a:lnTo>
                    <a:pt x="21" y="12"/>
                  </a:lnTo>
                  <a:lnTo>
                    <a:pt x="26" y="10"/>
                  </a:lnTo>
                  <a:lnTo>
                    <a:pt x="27" y="0"/>
                  </a:lnTo>
                  <a:lnTo>
                    <a:pt x="42" y="0"/>
                  </a:lnTo>
                  <a:lnTo>
                    <a:pt x="57" y="0"/>
                  </a:lnTo>
                  <a:lnTo>
                    <a:pt x="53" y="18"/>
                  </a:lnTo>
                  <a:lnTo>
                    <a:pt x="51" y="34"/>
                  </a:lnTo>
                  <a:lnTo>
                    <a:pt x="56" y="34"/>
                  </a:lnTo>
                  <a:lnTo>
                    <a:pt x="62" y="36"/>
                  </a:lnTo>
                  <a:lnTo>
                    <a:pt x="66" y="38"/>
                  </a:lnTo>
                  <a:lnTo>
                    <a:pt x="56" y="46"/>
                  </a:lnTo>
                  <a:lnTo>
                    <a:pt x="46" y="61"/>
                  </a:lnTo>
                  <a:lnTo>
                    <a:pt x="33" y="73"/>
                  </a:lnTo>
                  <a:lnTo>
                    <a:pt x="20" y="69"/>
                  </a:lnTo>
                  <a:lnTo>
                    <a:pt x="6" y="6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1" name="Freeform 170"/>
            <p:cNvSpPr>
              <a:spLocks/>
            </p:cNvSpPr>
            <p:nvPr/>
          </p:nvSpPr>
          <p:spPr bwMode="auto">
            <a:xfrm>
              <a:off x="1171" y="2336"/>
              <a:ext cx="36" cy="14"/>
            </a:xfrm>
            <a:custGeom>
              <a:avLst/>
              <a:gdLst/>
              <a:ahLst/>
              <a:cxnLst>
                <a:cxn ang="0">
                  <a:pos x="12" y="0"/>
                </a:cxn>
                <a:cxn ang="0">
                  <a:pos x="0" y="4"/>
                </a:cxn>
                <a:cxn ang="0">
                  <a:pos x="18" y="13"/>
                </a:cxn>
                <a:cxn ang="0">
                  <a:pos x="32" y="10"/>
                </a:cxn>
                <a:cxn ang="0">
                  <a:pos x="12" y="0"/>
                </a:cxn>
              </a:cxnLst>
              <a:rect l="0" t="0" r="r" b="b"/>
              <a:pathLst>
                <a:path w="32" h="13">
                  <a:moveTo>
                    <a:pt x="12" y="0"/>
                  </a:moveTo>
                  <a:lnTo>
                    <a:pt x="0" y="4"/>
                  </a:lnTo>
                  <a:lnTo>
                    <a:pt x="18" y="13"/>
                  </a:lnTo>
                  <a:lnTo>
                    <a:pt x="32" y="10"/>
                  </a:lnTo>
                  <a:lnTo>
                    <a:pt x="1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2" name="Freeform 171"/>
            <p:cNvSpPr>
              <a:spLocks/>
            </p:cNvSpPr>
            <p:nvPr/>
          </p:nvSpPr>
          <p:spPr bwMode="auto">
            <a:xfrm>
              <a:off x="1365" y="2336"/>
              <a:ext cx="29" cy="11"/>
            </a:xfrm>
            <a:custGeom>
              <a:avLst/>
              <a:gdLst/>
              <a:ahLst/>
              <a:cxnLst>
                <a:cxn ang="0">
                  <a:pos x="25" y="4"/>
                </a:cxn>
                <a:cxn ang="0">
                  <a:pos x="23" y="6"/>
                </a:cxn>
                <a:cxn ang="0">
                  <a:pos x="7" y="9"/>
                </a:cxn>
                <a:cxn ang="0">
                  <a:pos x="0" y="7"/>
                </a:cxn>
                <a:cxn ang="0">
                  <a:pos x="2" y="0"/>
                </a:cxn>
                <a:cxn ang="0">
                  <a:pos x="25" y="4"/>
                </a:cxn>
              </a:cxnLst>
              <a:rect l="0" t="0" r="r" b="b"/>
              <a:pathLst>
                <a:path w="25" h="9">
                  <a:moveTo>
                    <a:pt x="25" y="4"/>
                  </a:moveTo>
                  <a:lnTo>
                    <a:pt x="23" y="6"/>
                  </a:lnTo>
                  <a:lnTo>
                    <a:pt x="7" y="9"/>
                  </a:lnTo>
                  <a:lnTo>
                    <a:pt x="0" y="7"/>
                  </a:lnTo>
                  <a:lnTo>
                    <a:pt x="2" y="0"/>
                  </a:lnTo>
                  <a:lnTo>
                    <a:pt x="2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3" name="Freeform 172"/>
            <p:cNvSpPr>
              <a:spLocks/>
            </p:cNvSpPr>
            <p:nvPr/>
          </p:nvSpPr>
          <p:spPr bwMode="auto">
            <a:xfrm>
              <a:off x="1402" y="2350"/>
              <a:ext cx="7" cy="2"/>
            </a:xfrm>
            <a:custGeom>
              <a:avLst/>
              <a:gdLst/>
              <a:ahLst/>
              <a:cxnLst>
                <a:cxn ang="0">
                  <a:pos x="6" y="0"/>
                </a:cxn>
                <a:cxn ang="0">
                  <a:pos x="2" y="0"/>
                </a:cxn>
                <a:cxn ang="0">
                  <a:pos x="0" y="1"/>
                </a:cxn>
                <a:cxn ang="0">
                  <a:pos x="6" y="0"/>
                </a:cxn>
              </a:cxnLst>
              <a:rect l="0" t="0" r="r" b="b"/>
              <a:pathLst>
                <a:path w="6" h="1">
                  <a:moveTo>
                    <a:pt x="6" y="0"/>
                  </a:moveTo>
                  <a:lnTo>
                    <a:pt x="2" y="0"/>
                  </a:lnTo>
                  <a:lnTo>
                    <a:pt x="0" y="1"/>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4" name="Freeform 173"/>
            <p:cNvSpPr>
              <a:spLocks/>
            </p:cNvSpPr>
            <p:nvPr/>
          </p:nvSpPr>
          <p:spPr bwMode="auto">
            <a:xfrm>
              <a:off x="567" y="2054"/>
              <a:ext cx="467" cy="360"/>
            </a:xfrm>
            <a:custGeom>
              <a:avLst/>
              <a:gdLst/>
              <a:ahLst/>
              <a:cxnLst>
                <a:cxn ang="0">
                  <a:pos x="53" y="157"/>
                </a:cxn>
                <a:cxn ang="0">
                  <a:pos x="35" y="114"/>
                </a:cxn>
                <a:cxn ang="0">
                  <a:pos x="14" y="95"/>
                </a:cxn>
                <a:cxn ang="0">
                  <a:pos x="22" y="71"/>
                </a:cxn>
                <a:cxn ang="0">
                  <a:pos x="3" y="25"/>
                </a:cxn>
                <a:cxn ang="0">
                  <a:pos x="38" y="0"/>
                </a:cxn>
                <a:cxn ang="0">
                  <a:pos x="72" y="18"/>
                </a:cxn>
                <a:cxn ang="0">
                  <a:pos x="128" y="24"/>
                </a:cxn>
                <a:cxn ang="0">
                  <a:pos x="170" y="34"/>
                </a:cxn>
                <a:cxn ang="0">
                  <a:pos x="192" y="66"/>
                </a:cxn>
                <a:cxn ang="0">
                  <a:pos x="232" y="71"/>
                </a:cxn>
                <a:cxn ang="0">
                  <a:pos x="254" y="118"/>
                </a:cxn>
                <a:cxn ang="0">
                  <a:pos x="254" y="168"/>
                </a:cxn>
                <a:cxn ang="0">
                  <a:pos x="262" y="226"/>
                </a:cxn>
                <a:cxn ang="0">
                  <a:pos x="273" y="250"/>
                </a:cxn>
                <a:cxn ang="0">
                  <a:pos x="321" y="253"/>
                </a:cxn>
                <a:cxn ang="0">
                  <a:pos x="344" y="251"/>
                </a:cxn>
                <a:cxn ang="0">
                  <a:pos x="362" y="213"/>
                </a:cxn>
                <a:cxn ang="0">
                  <a:pos x="408" y="201"/>
                </a:cxn>
                <a:cxn ang="0">
                  <a:pos x="419" y="207"/>
                </a:cxn>
                <a:cxn ang="0">
                  <a:pos x="402" y="238"/>
                </a:cxn>
                <a:cxn ang="0">
                  <a:pos x="392" y="251"/>
                </a:cxn>
                <a:cxn ang="0">
                  <a:pos x="360" y="267"/>
                </a:cxn>
                <a:cxn ang="0">
                  <a:pos x="339" y="279"/>
                </a:cxn>
                <a:cxn ang="0">
                  <a:pos x="321" y="313"/>
                </a:cxn>
                <a:cxn ang="0">
                  <a:pos x="288" y="294"/>
                </a:cxn>
                <a:cxn ang="0">
                  <a:pos x="278" y="295"/>
                </a:cxn>
                <a:cxn ang="0">
                  <a:pos x="250" y="305"/>
                </a:cxn>
                <a:cxn ang="0">
                  <a:pos x="198" y="280"/>
                </a:cxn>
                <a:cxn ang="0">
                  <a:pos x="160" y="259"/>
                </a:cxn>
                <a:cxn ang="0">
                  <a:pos x="126" y="232"/>
                </a:cxn>
                <a:cxn ang="0">
                  <a:pos x="128" y="211"/>
                </a:cxn>
                <a:cxn ang="0">
                  <a:pos x="122" y="173"/>
                </a:cxn>
                <a:cxn ang="0">
                  <a:pos x="107" y="149"/>
                </a:cxn>
                <a:cxn ang="0">
                  <a:pos x="99" y="136"/>
                </a:cxn>
                <a:cxn ang="0">
                  <a:pos x="84" y="125"/>
                </a:cxn>
                <a:cxn ang="0">
                  <a:pos x="72" y="90"/>
                </a:cxn>
                <a:cxn ang="0">
                  <a:pos x="57" y="63"/>
                </a:cxn>
                <a:cxn ang="0">
                  <a:pos x="41" y="22"/>
                </a:cxn>
                <a:cxn ang="0">
                  <a:pos x="26" y="52"/>
                </a:cxn>
                <a:cxn ang="0">
                  <a:pos x="46" y="95"/>
                </a:cxn>
                <a:cxn ang="0">
                  <a:pos x="54" y="126"/>
                </a:cxn>
                <a:cxn ang="0">
                  <a:pos x="70" y="161"/>
                </a:cxn>
              </a:cxnLst>
              <a:rect l="0" t="0" r="r" b="b"/>
              <a:pathLst>
                <a:path w="419" h="325">
                  <a:moveTo>
                    <a:pt x="74" y="169"/>
                  </a:moveTo>
                  <a:lnTo>
                    <a:pt x="63" y="174"/>
                  </a:lnTo>
                  <a:lnTo>
                    <a:pt x="53" y="157"/>
                  </a:lnTo>
                  <a:lnTo>
                    <a:pt x="39" y="142"/>
                  </a:lnTo>
                  <a:lnTo>
                    <a:pt x="40" y="127"/>
                  </a:lnTo>
                  <a:lnTo>
                    <a:pt x="35" y="114"/>
                  </a:lnTo>
                  <a:lnTo>
                    <a:pt x="30" y="105"/>
                  </a:lnTo>
                  <a:lnTo>
                    <a:pt x="21" y="103"/>
                  </a:lnTo>
                  <a:lnTo>
                    <a:pt x="14" y="95"/>
                  </a:lnTo>
                  <a:lnTo>
                    <a:pt x="6" y="87"/>
                  </a:lnTo>
                  <a:lnTo>
                    <a:pt x="18" y="89"/>
                  </a:lnTo>
                  <a:lnTo>
                    <a:pt x="22" y="71"/>
                  </a:lnTo>
                  <a:lnTo>
                    <a:pt x="14" y="59"/>
                  </a:lnTo>
                  <a:lnTo>
                    <a:pt x="5" y="47"/>
                  </a:lnTo>
                  <a:lnTo>
                    <a:pt x="3" y="25"/>
                  </a:lnTo>
                  <a:lnTo>
                    <a:pt x="0" y="3"/>
                  </a:lnTo>
                  <a:lnTo>
                    <a:pt x="18" y="1"/>
                  </a:lnTo>
                  <a:lnTo>
                    <a:pt x="38" y="0"/>
                  </a:lnTo>
                  <a:lnTo>
                    <a:pt x="48" y="6"/>
                  </a:lnTo>
                  <a:lnTo>
                    <a:pt x="60" y="12"/>
                  </a:lnTo>
                  <a:lnTo>
                    <a:pt x="72" y="18"/>
                  </a:lnTo>
                  <a:lnTo>
                    <a:pt x="84" y="24"/>
                  </a:lnTo>
                  <a:lnTo>
                    <a:pt x="106" y="24"/>
                  </a:lnTo>
                  <a:lnTo>
                    <a:pt x="128" y="24"/>
                  </a:lnTo>
                  <a:lnTo>
                    <a:pt x="131" y="16"/>
                  </a:lnTo>
                  <a:lnTo>
                    <a:pt x="156" y="16"/>
                  </a:lnTo>
                  <a:lnTo>
                    <a:pt x="170" y="34"/>
                  </a:lnTo>
                  <a:lnTo>
                    <a:pt x="174" y="52"/>
                  </a:lnTo>
                  <a:lnTo>
                    <a:pt x="183" y="59"/>
                  </a:lnTo>
                  <a:lnTo>
                    <a:pt x="192" y="66"/>
                  </a:lnTo>
                  <a:lnTo>
                    <a:pt x="203" y="53"/>
                  </a:lnTo>
                  <a:lnTo>
                    <a:pt x="225" y="55"/>
                  </a:lnTo>
                  <a:lnTo>
                    <a:pt x="232" y="71"/>
                  </a:lnTo>
                  <a:lnTo>
                    <a:pt x="238" y="88"/>
                  </a:lnTo>
                  <a:lnTo>
                    <a:pt x="244" y="109"/>
                  </a:lnTo>
                  <a:lnTo>
                    <a:pt x="254" y="118"/>
                  </a:lnTo>
                  <a:lnTo>
                    <a:pt x="273" y="120"/>
                  </a:lnTo>
                  <a:lnTo>
                    <a:pt x="263" y="144"/>
                  </a:lnTo>
                  <a:lnTo>
                    <a:pt x="254" y="168"/>
                  </a:lnTo>
                  <a:lnTo>
                    <a:pt x="251" y="192"/>
                  </a:lnTo>
                  <a:lnTo>
                    <a:pt x="256" y="210"/>
                  </a:lnTo>
                  <a:lnTo>
                    <a:pt x="262" y="226"/>
                  </a:lnTo>
                  <a:lnTo>
                    <a:pt x="267" y="238"/>
                  </a:lnTo>
                  <a:lnTo>
                    <a:pt x="272" y="249"/>
                  </a:lnTo>
                  <a:lnTo>
                    <a:pt x="273" y="250"/>
                  </a:lnTo>
                  <a:lnTo>
                    <a:pt x="290" y="258"/>
                  </a:lnTo>
                  <a:lnTo>
                    <a:pt x="304" y="257"/>
                  </a:lnTo>
                  <a:lnTo>
                    <a:pt x="321" y="253"/>
                  </a:lnTo>
                  <a:lnTo>
                    <a:pt x="332" y="253"/>
                  </a:lnTo>
                  <a:lnTo>
                    <a:pt x="339" y="255"/>
                  </a:lnTo>
                  <a:lnTo>
                    <a:pt x="344" y="251"/>
                  </a:lnTo>
                  <a:lnTo>
                    <a:pt x="341" y="247"/>
                  </a:lnTo>
                  <a:lnTo>
                    <a:pt x="354" y="234"/>
                  </a:lnTo>
                  <a:lnTo>
                    <a:pt x="362" y="213"/>
                  </a:lnTo>
                  <a:lnTo>
                    <a:pt x="378" y="204"/>
                  </a:lnTo>
                  <a:lnTo>
                    <a:pt x="393" y="202"/>
                  </a:lnTo>
                  <a:lnTo>
                    <a:pt x="408" y="201"/>
                  </a:lnTo>
                  <a:lnTo>
                    <a:pt x="412" y="201"/>
                  </a:lnTo>
                  <a:lnTo>
                    <a:pt x="418" y="204"/>
                  </a:lnTo>
                  <a:lnTo>
                    <a:pt x="419" y="207"/>
                  </a:lnTo>
                  <a:lnTo>
                    <a:pt x="405" y="229"/>
                  </a:lnTo>
                  <a:lnTo>
                    <a:pt x="402" y="235"/>
                  </a:lnTo>
                  <a:lnTo>
                    <a:pt x="402" y="238"/>
                  </a:lnTo>
                  <a:lnTo>
                    <a:pt x="402" y="240"/>
                  </a:lnTo>
                  <a:lnTo>
                    <a:pt x="395" y="257"/>
                  </a:lnTo>
                  <a:lnTo>
                    <a:pt x="392" y="251"/>
                  </a:lnTo>
                  <a:lnTo>
                    <a:pt x="389" y="255"/>
                  </a:lnTo>
                  <a:lnTo>
                    <a:pt x="375" y="267"/>
                  </a:lnTo>
                  <a:lnTo>
                    <a:pt x="360" y="267"/>
                  </a:lnTo>
                  <a:lnTo>
                    <a:pt x="345" y="267"/>
                  </a:lnTo>
                  <a:lnTo>
                    <a:pt x="344" y="277"/>
                  </a:lnTo>
                  <a:lnTo>
                    <a:pt x="339" y="279"/>
                  </a:lnTo>
                  <a:lnTo>
                    <a:pt x="351" y="295"/>
                  </a:lnTo>
                  <a:lnTo>
                    <a:pt x="329" y="299"/>
                  </a:lnTo>
                  <a:lnTo>
                    <a:pt x="321" y="313"/>
                  </a:lnTo>
                  <a:lnTo>
                    <a:pt x="318" y="325"/>
                  </a:lnTo>
                  <a:lnTo>
                    <a:pt x="303" y="310"/>
                  </a:lnTo>
                  <a:lnTo>
                    <a:pt x="288" y="294"/>
                  </a:lnTo>
                  <a:lnTo>
                    <a:pt x="294" y="300"/>
                  </a:lnTo>
                  <a:lnTo>
                    <a:pt x="286" y="294"/>
                  </a:lnTo>
                  <a:lnTo>
                    <a:pt x="278" y="295"/>
                  </a:lnTo>
                  <a:lnTo>
                    <a:pt x="281" y="295"/>
                  </a:lnTo>
                  <a:lnTo>
                    <a:pt x="266" y="300"/>
                  </a:lnTo>
                  <a:lnTo>
                    <a:pt x="250" y="305"/>
                  </a:lnTo>
                  <a:lnTo>
                    <a:pt x="233" y="297"/>
                  </a:lnTo>
                  <a:lnTo>
                    <a:pt x="215" y="288"/>
                  </a:lnTo>
                  <a:lnTo>
                    <a:pt x="198" y="280"/>
                  </a:lnTo>
                  <a:lnTo>
                    <a:pt x="180" y="273"/>
                  </a:lnTo>
                  <a:lnTo>
                    <a:pt x="171" y="265"/>
                  </a:lnTo>
                  <a:lnTo>
                    <a:pt x="160" y="259"/>
                  </a:lnTo>
                  <a:lnTo>
                    <a:pt x="148" y="253"/>
                  </a:lnTo>
                  <a:lnTo>
                    <a:pt x="137" y="243"/>
                  </a:lnTo>
                  <a:lnTo>
                    <a:pt x="126" y="232"/>
                  </a:lnTo>
                  <a:lnTo>
                    <a:pt x="124" y="219"/>
                  </a:lnTo>
                  <a:lnTo>
                    <a:pt x="130" y="216"/>
                  </a:lnTo>
                  <a:lnTo>
                    <a:pt x="128" y="211"/>
                  </a:lnTo>
                  <a:lnTo>
                    <a:pt x="132" y="201"/>
                  </a:lnTo>
                  <a:lnTo>
                    <a:pt x="126" y="186"/>
                  </a:lnTo>
                  <a:lnTo>
                    <a:pt x="122" y="173"/>
                  </a:lnTo>
                  <a:lnTo>
                    <a:pt x="112" y="160"/>
                  </a:lnTo>
                  <a:lnTo>
                    <a:pt x="102" y="148"/>
                  </a:lnTo>
                  <a:lnTo>
                    <a:pt x="107" y="149"/>
                  </a:lnTo>
                  <a:lnTo>
                    <a:pt x="100" y="139"/>
                  </a:lnTo>
                  <a:lnTo>
                    <a:pt x="98" y="137"/>
                  </a:lnTo>
                  <a:lnTo>
                    <a:pt x="99" y="136"/>
                  </a:lnTo>
                  <a:lnTo>
                    <a:pt x="88" y="130"/>
                  </a:lnTo>
                  <a:lnTo>
                    <a:pt x="90" y="125"/>
                  </a:lnTo>
                  <a:lnTo>
                    <a:pt x="84" y="125"/>
                  </a:lnTo>
                  <a:lnTo>
                    <a:pt x="89" y="114"/>
                  </a:lnTo>
                  <a:lnTo>
                    <a:pt x="83" y="108"/>
                  </a:lnTo>
                  <a:lnTo>
                    <a:pt x="72" y="90"/>
                  </a:lnTo>
                  <a:lnTo>
                    <a:pt x="72" y="85"/>
                  </a:lnTo>
                  <a:lnTo>
                    <a:pt x="63" y="78"/>
                  </a:lnTo>
                  <a:lnTo>
                    <a:pt x="57" y="63"/>
                  </a:lnTo>
                  <a:lnTo>
                    <a:pt x="51" y="47"/>
                  </a:lnTo>
                  <a:lnTo>
                    <a:pt x="51" y="27"/>
                  </a:lnTo>
                  <a:lnTo>
                    <a:pt x="41" y="22"/>
                  </a:lnTo>
                  <a:lnTo>
                    <a:pt x="29" y="15"/>
                  </a:lnTo>
                  <a:lnTo>
                    <a:pt x="27" y="33"/>
                  </a:lnTo>
                  <a:lnTo>
                    <a:pt x="26" y="52"/>
                  </a:lnTo>
                  <a:lnTo>
                    <a:pt x="33" y="66"/>
                  </a:lnTo>
                  <a:lnTo>
                    <a:pt x="41" y="82"/>
                  </a:lnTo>
                  <a:lnTo>
                    <a:pt x="46" y="95"/>
                  </a:lnTo>
                  <a:lnTo>
                    <a:pt x="50" y="107"/>
                  </a:lnTo>
                  <a:lnTo>
                    <a:pt x="52" y="106"/>
                  </a:lnTo>
                  <a:lnTo>
                    <a:pt x="54" y="126"/>
                  </a:lnTo>
                  <a:lnTo>
                    <a:pt x="58" y="148"/>
                  </a:lnTo>
                  <a:lnTo>
                    <a:pt x="63" y="151"/>
                  </a:lnTo>
                  <a:lnTo>
                    <a:pt x="70" y="161"/>
                  </a:lnTo>
                  <a:lnTo>
                    <a:pt x="74" y="1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5" name="Freeform 174"/>
            <p:cNvSpPr>
              <a:spLocks/>
            </p:cNvSpPr>
            <p:nvPr/>
          </p:nvSpPr>
          <p:spPr bwMode="auto">
            <a:xfrm>
              <a:off x="1187" y="2203"/>
              <a:ext cx="9" cy="16"/>
            </a:xfrm>
            <a:custGeom>
              <a:avLst/>
              <a:gdLst/>
              <a:ahLst/>
              <a:cxnLst>
                <a:cxn ang="0">
                  <a:pos x="9" y="13"/>
                </a:cxn>
                <a:cxn ang="0">
                  <a:pos x="6" y="0"/>
                </a:cxn>
                <a:cxn ang="0">
                  <a:pos x="0" y="10"/>
                </a:cxn>
                <a:cxn ang="0">
                  <a:pos x="3" y="14"/>
                </a:cxn>
                <a:cxn ang="0">
                  <a:pos x="9" y="13"/>
                </a:cxn>
              </a:cxnLst>
              <a:rect l="0" t="0" r="r" b="b"/>
              <a:pathLst>
                <a:path w="9" h="14">
                  <a:moveTo>
                    <a:pt x="9" y="13"/>
                  </a:moveTo>
                  <a:lnTo>
                    <a:pt x="6" y="0"/>
                  </a:lnTo>
                  <a:lnTo>
                    <a:pt x="0" y="10"/>
                  </a:lnTo>
                  <a:lnTo>
                    <a:pt x="3" y="14"/>
                  </a:lnTo>
                  <a:lnTo>
                    <a:pt x="9"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6" name="Freeform 175"/>
            <p:cNvSpPr>
              <a:spLocks/>
            </p:cNvSpPr>
            <p:nvPr/>
          </p:nvSpPr>
          <p:spPr bwMode="auto">
            <a:xfrm>
              <a:off x="1202" y="2167"/>
              <a:ext cx="14" cy="20"/>
            </a:xfrm>
            <a:custGeom>
              <a:avLst/>
              <a:gdLst/>
              <a:ahLst/>
              <a:cxnLst>
                <a:cxn ang="0">
                  <a:pos x="5" y="17"/>
                </a:cxn>
                <a:cxn ang="0">
                  <a:pos x="7" y="10"/>
                </a:cxn>
                <a:cxn ang="0">
                  <a:pos x="0" y="0"/>
                </a:cxn>
                <a:cxn ang="0">
                  <a:pos x="11" y="11"/>
                </a:cxn>
                <a:cxn ang="0">
                  <a:pos x="5" y="17"/>
                </a:cxn>
              </a:cxnLst>
              <a:rect l="0" t="0" r="r" b="b"/>
              <a:pathLst>
                <a:path w="11" h="17">
                  <a:moveTo>
                    <a:pt x="5" y="17"/>
                  </a:moveTo>
                  <a:lnTo>
                    <a:pt x="7" y="10"/>
                  </a:lnTo>
                  <a:lnTo>
                    <a:pt x="0" y="0"/>
                  </a:lnTo>
                  <a:lnTo>
                    <a:pt x="11" y="11"/>
                  </a:lnTo>
                  <a:lnTo>
                    <a:pt x="5"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7" name="Freeform 176"/>
            <p:cNvSpPr>
              <a:spLocks/>
            </p:cNvSpPr>
            <p:nvPr/>
          </p:nvSpPr>
          <p:spPr bwMode="auto">
            <a:xfrm>
              <a:off x="1218" y="2196"/>
              <a:ext cx="9" cy="16"/>
            </a:xfrm>
            <a:custGeom>
              <a:avLst/>
              <a:gdLst/>
              <a:ahLst/>
              <a:cxnLst>
                <a:cxn ang="0">
                  <a:pos x="5" y="13"/>
                </a:cxn>
                <a:cxn ang="0">
                  <a:pos x="7" y="7"/>
                </a:cxn>
                <a:cxn ang="0">
                  <a:pos x="0" y="0"/>
                </a:cxn>
                <a:cxn ang="0">
                  <a:pos x="4" y="5"/>
                </a:cxn>
                <a:cxn ang="0">
                  <a:pos x="6" y="7"/>
                </a:cxn>
                <a:cxn ang="0">
                  <a:pos x="4" y="12"/>
                </a:cxn>
                <a:cxn ang="0">
                  <a:pos x="5" y="13"/>
                </a:cxn>
              </a:cxnLst>
              <a:rect l="0" t="0" r="r" b="b"/>
              <a:pathLst>
                <a:path w="7" h="13">
                  <a:moveTo>
                    <a:pt x="5" y="13"/>
                  </a:moveTo>
                  <a:lnTo>
                    <a:pt x="7" y="7"/>
                  </a:lnTo>
                  <a:lnTo>
                    <a:pt x="0" y="0"/>
                  </a:lnTo>
                  <a:lnTo>
                    <a:pt x="4" y="5"/>
                  </a:lnTo>
                  <a:lnTo>
                    <a:pt x="6" y="7"/>
                  </a:lnTo>
                  <a:lnTo>
                    <a:pt x="4" y="12"/>
                  </a:lnTo>
                  <a:lnTo>
                    <a:pt x="5"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8" name="Freeform 177"/>
            <p:cNvSpPr>
              <a:spLocks/>
            </p:cNvSpPr>
            <p:nvPr/>
          </p:nvSpPr>
          <p:spPr bwMode="auto">
            <a:xfrm>
              <a:off x="1260" y="2281"/>
              <a:ext cx="9" cy="6"/>
            </a:xfrm>
            <a:custGeom>
              <a:avLst/>
              <a:gdLst/>
              <a:ahLst/>
              <a:cxnLst>
                <a:cxn ang="0">
                  <a:pos x="10" y="0"/>
                </a:cxn>
                <a:cxn ang="0">
                  <a:pos x="10" y="3"/>
                </a:cxn>
                <a:cxn ang="0">
                  <a:pos x="0" y="6"/>
                </a:cxn>
                <a:cxn ang="0">
                  <a:pos x="10" y="0"/>
                </a:cxn>
              </a:cxnLst>
              <a:rect l="0" t="0" r="r" b="b"/>
              <a:pathLst>
                <a:path w="10" h="6">
                  <a:moveTo>
                    <a:pt x="10" y="0"/>
                  </a:moveTo>
                  <a:lnTo>
                    <a:pt x="10" y="3"/>
                  </a:lnTo>
                  <a:lnTo>
                    <a:pt x="0" y="6"/>
                  </a:lnTo>
                  <a:lnTo>
                    <a:pt x="1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9" name="Freeform 178"/>
            <p:cNvSpPr>
              <a:spLocks/>
            </p:cNvSpPr>
            <p:nvPr/>
          </p:nvSpPr>
          <p:spPr bwMode="auto">
            <a:xfrm>
              <a:off x="1254" y="2254"/>
              <a:ext cx="6" cy="7"/>
            </a:xfrm>
            <a:custGeom>
              <a:avLst/>
              <a:gdLst/>
              <a:ahLst/>
              <a:cxnLst>
                <a:cxn ang="0">
                  <a:pos x="6" y="2"/>
                </a:cxn>
                <a:cxn ang="0">
                  <a:pos x="4" y="0"/>
                </a:cxn>
                <a:cxn ang="0">
                  <a:pos x="0" y="5"/>
                </a:cxn>
                <a:cxn ang="0">
                  <a:pos x="6" y="2"/>
                </a:cxn>
              </a:cxnLst>
              <a:rect l="0" t="0" r="r" b="b"/>
              <a:pathLst>
                <a:path w="6" h="5">
                  <a:moveTo>
                    <a:pt x="6" y="2"/>
                  </a:moveTo>
                  <a:lnTo>
                    <a:pt x="4" y="0"/>
                  </a:lnTo>
                  <a:lnTo>
                    <a:pt x="0" y="5"/>
                  </a:lnTo>
                  <a:lnTo>
                    <a:pt x="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0" name="Freeform 179"/>
            <p:cNvSpPr>
              <a:spLocks/>
            </p:cNvSpPr>
            <p:nvPr/>
          </p:nvSpPr>
          <p:spPr bwMode="auto">
            <a:xfrm>
              <a:off x="1182" y="2174"/>
              <a:ext cx="18" cy="2"/>
            </a:xfrm>
            <a:custGeom>
              <a:avLst/>
              <a:gdLst/>
              <a:ahLst/>
              <a:cxnLst>
                <a:cxn ang="0">
                  <a:pos x="5" y="0"/>
                </a:cxn>
                <a:cxn ang="0">
                  <a:pos x="15" y="0"/>
                </a:cxn>
                <a:cxn ang="0">
                  <a:pos x="9" y="1"/>
                </a:cxn>
                <a:cxn ang="0">
                  <a:pos x="0" y="0"/>
                </a:cxn>
                <a:cxn ang="0">
                  <a:pos x="5" y="0"/>
                </a:cxn>
              </a:cxnLst>
              <a:rect l="0" t="0" r="r" b="b"/>
              <a:pathLst>
                <a:path w="15" h="1">
                  <a:moveTo>
                    <a:pt x="5" y="0"/>
                  </a:moveTo>
                  <a:lnTo>
                    <a:pt x="15" y="0"/>
                  </a:lnTo>
                  <a:lnTo>
                    <a:pt x="9" y="1"/>
                  </a:lnTo>
                  <a:lnTo>
                    <a:pt x="0" y="0"/>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1" name="Freeform 180"/>
            <p:cNvSpPr>
              <a:spLocks/>
            </p:cNvSpPr>
            <p:nvPr/>
          </p:nvSpPr>
          <p:spPr bwMode="auto">
            <a:xfrm>
              <a:off x="1194" y="2223"/>
              <a:ext cx="6" cy="7"/>
            </a:xfrm>
            <a:custGeom>
              <a:avLst/>
              <a:gdLst/>
              <a:ahLst/>
              <a:cxnLst>
                <a:cxn ang="0">
                  <a:pos x="5" y="4"/>
                </a:cxn>
                <a:cxn ang="0">
                  <a:pos x="3" y="1"/>
                </a:cxn>
                <a:cxn ang="0">
                  <a:pos x="0" y="0"/>
                </a:cxn>
                <a:cxn ang="0">
                  <a:pos x="3" y="6"/>
                </a:cxn>
                <a:cxn ang="0">
                  <a:pos x="5" y="4"/>
                </a:cxn>
              </a:cxnLst>
              <a:rect l="0" t="0" r="r" b="b"/>
              <a:pathLst>
                <a:path w="5" h="6">
                  <a:moveTo>
                    <a:pt x="5" y="4"/>
                  </a:moveTo>
                  <a:lnTo>
                    <a:pt x="3" y="1"/>
                  </a:lnTo>
                  <a:lnTo>
                    <a:pt x="0" y="0"/>
                  </a:lnTo>
                  <a:lnTo>
                    <a:pt x="3" y="6"/>
                  </a:lnTo>
                  <a:lnTo>
                    <a:pt x="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2" name="Freeform 181"/>
            <p:cNvSpPr>
              <a:spLocks/>
            </p:cNvSpPr>
            <p:nvPr/>
          </p:nvSpPr>
          <p:spPr bwMode="auto">
            <a:xfrm>
              <a:off x="4449" y="2921"/>
              <a:ext cx="700" cy="562"/>
            </a:xfrm>
            <a:custGeom>
              <a:avLst/>
              <a:gdLst/>
              <a:ahLst/>
              <a:cxnLst>
                <a:cxn ang="0">
                  <a:pos x="356" y="12"/>
                </a:cxn>
                <a:cxn ang="0">
                  <a:pos x="361" y="25"/>
                </a:cxn>
                <a:cxn ang="0">
                  <a:pos x="333" y="34"/>
                </a:cxn>
                <a:cxn ang="0">
                  <a:pos x="320" y="48"/>
                </a:cxn>
                <a:cxn ang="0">
                  <a:pos x="314" y="72"/>
                </a:cxn>
                <a:cxn ang="0">
                  <a:pos x="301" y="78"/>
                </a:cxn>
                <a:cxn ang="0">
                  <a:pos x="282" y="85"/>
                </a:cxn>
                <a:cxn ang="0">
                  <a:pos x="269" y="58"/>
                </a:cxn>
                <a:cxn ang="0">
                  <a:pos x="254" y="60"/>
                </a:cxn>
                <a:cxn ang="0">
                  <a:pos x="241" y="79"/>
                </a:cxn>
                <a:cxn ang="0">
                  <a:pos x="225" y="90"/>
                </a:cxn>
                <a:cxn ang="0">
                  <a:pos x="224" y="100"/>
                </a:cxn>
                <a:cxn ang="0">
                  <a:pos x="212" y="100"/>
                </a:cxn>
                <a:cxn ang="0">
                  <a:pos x="209" y="129"/>
                </a:cxn>
                <a:cxn ang="0">
                  <a:pos x="183" y="121"/>
                </a:cxn>
                <a:cxn ang="0">
                  <a:pos x="144" y="165"/>
                </a:cxn>
                <a:cxn ang="0">
                  <a:pos x="92" y="175"/>
                </a:cxn>
                <a:cxn ang="0">
                  <a:pos x="44" y="199"/>
                </a:cxn>
                <a:cxn ang="0">
                  <a:pos x="29" y="264"/>
                </a:cxn>
                <a:cxn ang="0">
                  <a:pos x="21" y="267"/>
                </a:cxn>
                <a:cxn ang="0">
                  <a:pos x="19" y="293"/>
                </a:cxn>
                <a:cxn ang="0">
                  <a:pos x="24" y="354"/>
                </a:cxn>
                <a:cxn ang="0">
                  <a:pos x="8" y="411"/>
                </a:cxn>
                <a:cxn ang="0">
                  <a:pos x="21" y="437"/>
                </a:cxn>
                <a:cxn ang="0">
                  <a:pos x="72" y="418"/>
                </a:cxn>
                <a:cxn ang="0">
                  <a:pos x="141" y="402"/>
                </a:cxn>
                <a:cxn ang="0">
                  <a:pos x="219" y="379"/>
                </a:cxn>
                <a:cxn ang="0">
                  <a:pos x="290" y="385"/>
                </a:cxn>
                <a:cxn ang="0">
                  <a:pos x="300" y="414"/>
                </a:cxn>
                <a:cxn ang="0">
                  <a:pos x="308" y="431"/>
                </a:cxn>
                <a:cxn ang="0">
                  <a:pos x="348" y="406"/>
                </a:cxn>
                <a:cxn ang="0">
                  <a:pos x="330" y="439"/>
                </a:cxn>
                <a:cxn ang="0">
                  <a:pos x="343" y="445"/>
                </a:cxn>
                <a:cxn ang="0">
                  <a:pos x="345" y="489"/>
                </a:cxn>
                <a:cxn ang="0">
                  <a:pos x="403" y="495"/>
                </a:cxn>
                <a:cxn ang="0">
                  <a:pos x="410" y="497"/>
                </a:cxn>
                <a:cxn ang="0">
                  <a:pos x="426" y="502"/>
                </a:cxn>
                <a:cxn ang="0">
                  <a:pos x="495" y="471"/>
                </a:cxn>
                <a:cxn ang="0">
                  <a:pos x="549" y="409"/>
                </a:cxn>
                <a:cxn ang="0">
                  <a:pos x="599" y="358"/>
                </a:cxn>
                <a:cxn ang="0">
                  <a:pos x="621" y="299"/>
                </a:cxn>
                <a:cxn ang="0">
                  <a:pos x="623" y="250"/>
                </a:cxn>
                <a:cxn ang="0">
                  <a:pos x="608" y="213"/>
                </a:cxn>
                <a:cxn ang="0">
                  <a:pos x="594" y="193"/>
                </a:cxn>
                <a:cxn ang="0">
                  <a:pos x="575" y="157"/>
                </a:cxn>
                <a:cxn ang="0">
                  <a:pos x="553" y="97"/>
                </a:cxn>
                <a:cxn ang="0">
                  <a:pos x="533" y="65"/>
                </a:cxn>
                <a:cxn ang="0">
                  <a:pos x="525" y="13"/>
                </a:cxn>
                <a:cxn ang="0">
                  <a:pos x="509" y="23"/>
                </a:cxn>
                <a:cxn ang="0">
                  <a:pos x="503" y="43"/>
                </a:cxn>
                <a:cxn ang="0">
                  <a:pos x="497" y="81"/>
                </a:cxn>
                <a:cxn ang="0">
                  <a:pos x="451" y="114"/>
                </a:cxn>
                <a:cxn ang="0">
                  <a:pos x="401" y="72"/>
                </a:cxn>
                <a:cxn ang="0">
                  <a:pos x="422" y="40"/>
                </a:cxn>
                <a:cxn ang="0">
                  <a:pos x="415" y="27"/>
                </a:cxn>
                <a:cxn ang="0">
                  <a:pos x="387" y="24"/>
                </a:cxn>
              </a:cxnLst>
              <a:rect l="0" t="0" r="r" b="b"/>
              <a:pathLst>
                <a:path w="630" h="508">
                  <a:moveTo>
                    <a:pt x="369" y="12"/>
                  </a:moveTo>
                  <a:lnTo>
                    <a:pt x="362" y="11"/>
                  </a:lnTo>
                  <a:lnTo>
                    <a:pt x="357" y="10"/>
                  </a:lnTo>
                  <a:lnTo>
                    <a:pt x="356" y="12"/>
                  </a:lnTo>
                  <a:lnTo>
                    <a:pt x="351" y="10"/>
                  </a:lnTo>
                  <a:lnTo>
                    <a:pt x="357" y="13"/>
                  </a:lnTo>
                  <a:lnTo>
                    <a:pt x="365" y="18"/>
                  </a:lnTo>
                  <a:lnTo>
                    <a:pt x="361" y="25"/>
                  </a:lnTo>
                  <a:lnTo>
                    <a:pt x="356" y="28"/>
                  </a:lnTo>
                  <a:lnTo>
                    <a:pt x="343" y="25"/>
                  </a:lnTo>
                  <a:lnTo>
                    <a:pt x="337" y="28"/>
                  </a:lnTo>
                  <a:lnTo>
                    <a:pt x="333" y="34"/>
                  </a:lnTo>
                  <a:lnTo>
                    <a:pt x="330" y="31"/>
                  </a:lnTo>
                  <a:lnTo>
                    <a:pt x="327" y="35"/>
                  </a:lnTo>
                  <a:lnTo>
                    <a:pt x="321" y="45"/>
                  </a:lnTo>
                  <a:lnTo>
                    <a:pt x="320" y="48"/>
                  </a:lnTo>
                  <a:lnTo>
                    <a:pt x="314" y="54"/>
                  </a:lnTo>
                  <a:lnTo>
                    <a:pt x="307" y="67"/>
                  </a:lnTo>
                  <a:lnTo>
                    <a:pt x="312" y="70"/>
                  </a:lnTo>
                  <a:lnTo>
                    <a:pt x="314" y="72"/>
                  </a:lnTo>
                  <a:lnTo>
                    <a:pt x="309" y="78"/>
                  </a:lnTo>
                  <a:lnTo>
                    <a:pt x="315" y="84"/>
                  </a:lnTo>
                  <a:lnTo>
                    <a:pt x="303" y="75"/>
                  </a:lnTo>
                  <a:lnTo>
                    <a:pt x="301" y="78"/>
                  </a:lnTo>
                  <a:lnTo>
                    <a:pt x="290" y="73"/>
                  </a:lnTo>
                  <a:lnTo>
                    <a:pt x="288" y="82"/>
                  </a:lnTo>
                  <a:lnTo>
                    <a:pt x="284" y="82"/>
                  </a:lnTo>
                  <a:lnTo>
                    <a:pt x="282" y="85"/>
                  </a:lnTo>
                  <a:lnTo>
                    <a:pt x="282" y="81"/>
                  </a:lnTo>
                  <a:lnTo>
                    <a:pt x="285" y="70"/>
                  </a:lnTo>
                  <a:lnTo>
                    <a:pt x="270" y="54"/>
                  </a:lnTo>
                  <a:lnTo>
                    <a:pt x="269" y="58"/>
                  </a:lnTo>
                  <a:lnTo>
                    <a:pt x="261" y="60"/>
                  </a:lnTo>
                  <a:lnTo>
                    <a:pt x="260" y="58"/>
                  </a:lnTo>
                  <a:lnTo>
                    <a:pt x="258" y="60"/>
                  </a:lnTo>
                  <a:lnTo>
                    <a:pt x="254" y="60"/>
                  </a:lnTo>
                  <a:lnTo>
                    <a:pt x="251" y="70"/>
                  </a:lnTo>
                  <a:lnTo>
                    <a:pt x="248" y="65"/>
                  </a:lnTo>
                  <a:lnTo>
                    <a:pt x="240" y="73"/>
                  </a:lnTo>
                  <a:lnTo>
                    <a:pt x="241" y="79"/>
                  </a:lnTo>
                  <a:lnTo>
                    <a:pt x="235" y="78"/>
                  </a:lnTo>
                  <a:lnTo>
                    <a:pt x="237" y="87"/>
                  </a:lnTo>
                  <a:lnTo>
                    <a:pt x="230" y="83"/>
                  </a:lnTo>
                  <a:lnTo>
                    <a:pt x="225" y="90"/>
                  </a:lnTo>
                  <a:lnTo>
                    <a:pt x="227" y="91"/>
                  </a:lnTo>
                  <a:lnTo>
                    <a:pt x="229" y="91"/>
                  </a:lnTo>
                  <a:lnTo>
                    <a:pt x="224" y="95"/>
                  </a:lnTo>
                  <a:lnTo>
                    <a:pt x="224" y="100"/>
                  </a:lnTo>
                  <a:lnTo>
                    <a:pt x="228" y="101"/>
                  </a:lnTo>
                  <a:lnTo>
                    <a:pt x="219" y="101"/>
                  </a:lnTo>
                  <a:lnTo>
                    <a:pt x="216" y="101"/>
                  </a:lnTo>
                  <a:lnTo>
                    <a:pt x="212" y="100"/>
                  </a:lnTo>
                  <a:lnTo>
                    <a:pt x="210" y="103"/>
                  </a:lnTo>
                  <a:lnTo>
                    <a:pt x="212" y="112"/>
                  </a:lnTo>
                  <a:lnTo>
                    <a:pt x="209" y="114"/>
                  </a:lnTo>
                  <a:lnTo>
                    <a:pt x="209" y="129"/>
                  </a:lnTo>
                  <a:lnTo>
                    <a:pt x="204" y="115"/>
                  </a:lnTo>
                  <a:lnTo>
                    <a:pt x="199" y="102"/>
                  </a:lnTo>
                  <a:lnTo>
                    <a:pt x="194" y="107"/>
                  </a:lnTo>
                  <a:lnTo>
                    <a:pt x="183" y="121"/>
                  </a:lnTo>
                  <a:lnTo>
                    <a:pt x="183" y="133"/>
                  </a:lnTo>
                  <a:lnTo>
                    <a:pt x="168" y="150"/>
                  </a:lnTo>
                  <a:lnTo>
                    <a:pt x="156" y="157"/>
                  </a:lnTo>
                  <a:lnTo>
                    <a:pt x="144" y="165"/>
                  </a:lnTo>
                  <a:lnTo>
                    <a:pt x="126" y="168"/>
                  </a:lnTo>
                  <a:lnTo>
                    <a:pt x="111" y="173"/>
                  </a:lnTo>
                  <a:lnTo>
                    <a:pt x="97" y="178"/>
                  </a:lnTo>
                  <a:lnTo>
                    <a:pt x="92" y="175"/>
                  </a:lnTo>
                  <a:lnTo>
                    <a:pt x="71" y="190"/>
                  </a:lnTo>
                  <a:lnTo>
                    <a:pt x="50" y="204"/>
                  </a:lnTo>
                  <a:lnTo>
                    <a:pt x="43" y="210"/>
                  </a:lnTo>
                  <a:lnTo>
                    <a:pt x="44" y="199"/>
                  </a:lnTo>
                  <a:lnTo>
                    <a:pt x="37" y="216"/>
                  </a:lnTo>
                  <a:lnTo>
                    <a:pt x="29" y="235"/>
                  </a:lnTo>
                  <a:lnTo>
                    <a:pt x="27" y="251"/>
                  </a:lnTo>
                  <a:lnTo>
                    <a:pt x="29" y="264"/>
                  </a:lnTo>
                  <a:lnTo>
                    <a:pt x="30" y="276"/>
                  </a:lnTo>
                  <a:lnTo>
                    <a:pt x="26" y="280"/>
                  </a:lnTo>
                  <a:lnTo>
                    <a:pt x="26" y="275"/>
                  </a:lnTo>
                  <a:lnTo>
                    <a:pt x="21" y="267"/>
                  </a:lnTo>
                  <a:lnTo>
                    <a:pt x="21" y="285"/>
                  </a:lnTo>
                  <a:lnTo>
                    <a:pt x="18" y="277"/>
                  </a:lnTo>
                  <a:lnTo>
                    <a:pt x="17" y="276"/>
                  </a:lnTo>
                  <a:lnTo>
                    <a:pt x="19" y="293"/>
                  </a:lnTo>
                  <a:lnTo>
                    <a:pt x="21" y="310"/>
                  </a:lnTo>
                  <a:lnTo>
                    <a:pt x="23" y="325"/>
                  </a:lnTo>
                  <a:lnTo>
                    <a:pt x="25" y="341"/>
                  </a:lnTo>
                  <a:lnTo>
                    <a:pt x="24" y="354"/>
                  </a:lnTo>
                  <a:lnTo>
                    <a:pt x="23" y="367"/>
                  </a:lnTo>
                  <a:lnTo>
                    <a:pt x="20" y="381"/>
                  </a:lnTo>
                  <a:lnTo>
                    <a:pt x="19" y="393"/>
                  </a:lnTo>
                  <a:lnTo>
                    <a:pt x="8" y="411"/>
                  </a:lnTo>
                  <a:lnTo>
                    <a:pt x="1" y="413"/>
                  </a:lnTo>
                  <a:lnTo>
                    <a:pt x="0" y="424"/>
                  </a:lnTo>
                  <a:lnTo>
                    <a:pt x="11" y="430"/>
                  </a:lnTo>
                  <a:lnTo>
                    <a:pt x="21" y="437"/>
                  </a:lnTo>
                  <a:lnTo>
                    <a:pt x="41" y="435"/>
                  </a:lnTo>
                  <a:lnTo>
                    <a:pt x="60" y="427"/>
                  </a:lnTo>
                  <a:lnTo>
                    <a:pt x="62" y="425"/>
                  </a:lnTo>
                  <a:lnTo>
                    <a:pt x="72" y="418"/>
                  </a:lnTo>
                  <a:lnTo>
                    <a:pt x="89" y="418"/>
                  </a:lnTo>
                  <a:lnTo>
                    <a:pt x="105" y="418"/>
                  </a:lnTo>
                  <a:lnTo>
                    <a:pt x="127" y="417"/>
                  </a:lnTo>
                  <a:lnTo>
                    <a:pt x="141" y="402"/>
                  </a:lnTo>
                  <a:lnTo>
                    <a:pt x="162" y="395"/>
                  </a:lnTo>
                  <a:lnTo>
                    <a:pt x="181" y="387"/>
                  </a:lnTo>
                  <a:lnTo>
                    <a:pt x="200" y="383"/>
                  </a:lnTo>
                  <a:lnTo>
                    <a:pt x="219" y="379"/>
                  </a:lnTo>
                  <a:lnTo>
                    <a:pt x="239" y="377"/>
                  </a:lnTo>
                  <a:lnTo>
                    <a:pt x="258" y="373"/>
                  </a:lnTo>
                  <a:lnTo>
                    <a:pt x="269" y="377"/>
                  </a:lnTo>
                  <a:lnTo>
                    <a:pt x="290" y="385"/>
                  </a:lnTo>
                  <a:lnTo>
                    <a:pt x="294" y="390"/>
                  </a:lnTo>
                  <a:lnTo>
                    <a:pt x="296" y="395"/>
                  </a:lnTo>
                  <a:lnTo>
                    <a:pt x="299" y="402"/>
                  </a:lnTo>
                  <a:lnTo>
                    <a:pt x="300" y="414"/>
                  </a:lnTo>
                  <a:lnTo>
                    <a:pt x="301" y="426"/>
                  </a:lnTo>
                  <a:lnTo>
                    <a:pt x="299" y="426"/>
                  </a:lnTo>
                  <a:lnTo>
                    <a:pt x="306" y="433"/>
                  </a:lnTo>
                  <a:lnTo>
                    <a:pt x="308" y="431"/>
                  </a:lnTo>
                  <a:lnTo>
                    <a:pt x="326" y="415"/>
                  </a:lnTo>
                  <a:lnTo>
                    <a:pt x="344" y="401"/>
                  </a:lnTo>
                  <a:lnTo>
                    <a:pt x="351" y="393"/>
                  </a:lnTo>
                  <a:lnTo>
                    <a:pt x="348" y="406"/>
                  </a:lnTo>
                  <a:lnTo>
                    <a:pt x="337" y="420"/>
                  </a:lnTo>
                  <a:lnTo>
                    <a:pt x="326" y="435"/>
                  </a:lnTo>
                  <a:lnTo>
                    <a:pt x="319" y="439"/>
                  </a:lnTo>
                  <a:lnTo>
                    <a:pt x="330" y="439"/>
                  </a:lnTo>
                  <a:lnTo>
                    <a:pt x="343" y="423"/>
                  </a:lnTo>
                  <a:lnTo>
                    <a:pt x="347" y="431"/>
                  </a:lnTo>
                  <a:lnTo>
                    <a:pt x="335" y="445"/>
                  </a:lnTo>
                  <a:lnTo>
                    <a:pt x="343" y="445"/>
                  </a:lnTo>
                  <a:lnTo>
                    <a:pt x="347" y="447"/>
                  </a:lnTo>
                  <a:lnTo>
                    <a:pt x="350" y="454"/>
                  </a:lnTo>
                  <a:lnTo>
                    <a:pt x="344" y="471"/>
                  </a:lnTo>
                  <a:lnTo>
                    <a:pt x="345" y="489"/>
                  </a:lnTo>
                  <a:lnTo>
                    <a:pt x="360" y="495"/>
                  </a:lnTo>
                  <a:lnTo>
                    <a:pt x="371" y="499"/>
                  </a:lnTo>
                  <a:lnTo>
                    <a:pt x="381" y="503"/>
                  </a:lnTo>
                  <a:lnTo>
                    <a:pt x="403" y="495"/>
                  </a:lnTo>
                  <a:lnTo>
                    <a:pt x="403" y="492"/>
                  </a:lnTo>
                  <a:lnTo>
                    <a:pt x="413" y="489"/>
                  </a:lnTo>
                  <a:lnTo>
                    <a:pt x="407" y="496"/>
                  </a:lnTo>
                  <a:lnTo>
                    <a:pt x="410" y="497"/>
                  </a:lnTo>
                  <a:lnTo>
                    <a:pt x="416" y="497"/>
                  </a:lnTo>
                  <a:lnTo>
                    <a:pt x="419" y="505"/>
                  </a:lnTo>
                  <a:lnTo>
                    <a:pt x="422" y="508"/>
                  </a:lnTo>
                  <a:lnTo>
                    <a:pt x="426" y="502"/>
                  </a:lnTo>
                  <a:lnTo>
                    <a:pt x="455" y="487"/>
                  </a:lnTo>
                  <a:lnTo>
                    <a:pt x="469" y="486"/>
                  </a:lnTo>
                  <a:lnTo>
                    <a:pt x="488" y="480"/>
                  </a:lnTo>
                  <a:lnTo>
                    <a:pt x="495" y="471"/>
                  </a:lnTo>
                  <a:lnTo>
                    <a:pt x="512" y="453"/>
                  </a:lnTo>
                  <a:lnTo>
                    <a:pt x="529" y="435"/>
                  </a:lnTo>
                  <a:lnTo>
                    <a:pt x="543" y="415"/>
                  </a:lnTo>
                  <a:lnTo>
                    <a:pt x="549" y="409"/>
                  </a:lnTo>
                  <a:lnTo>
                    <a:pt x="567" y="395"/>
                  </a:lnTo>
                  <a:lnTo>
                    <a:pt x="573" y="390"/>
                  </a:lnTo>
                  <a:lnTo>
                    <a:pt x="587" y="375"/>
                  </a:lnTo>
                  <a:lnTo>
                    <a:pt x="599" y="358"/>
                  </a:lnTo>
                  <a:lnTo>
                    <a:pt x="611" y="341"/>
                  </a:lnTo>
                  <a:lnTo>
                    <a:pt x="620" y="324"/>
                  </a:lnTo>
                  <a:lnTo>
                    <a:pt x="621" y="311"/>
                  </a:lnTo>
                  <a:lnTo>
                    <a:pt x="621" y="299"/>
                  </a:lnTo>
                  <a:lnTo>
                    <a:pt x="626" y="285"/>
                  </a:lnTo>
                  <a:lnTo>
                    <a:pt x="630" y="270"/>
                  </a:lnTo>
                  <a:lnTo>
                    <a:pt x="629" y="259"/>
                  </a:lnTo>
                  <a:lnTo>
                    <a:pt x="623" y="250"/>
                  </a:lnTo>
                  <a:lnTo>
                    <a:pt x="617" y="240"/>
                  </a:lnTo>
                  <a:lnTo>
                    <a:pt x="607" y="229"/>
                  </a:lnTo>
                  <a:lnTo>
                    <a:pt x="611" y="208"/>
                  </a:lnTo>
                  <a:lnTo>
                    <a:pt x="608" y="213"/>
                  </a:lnTo>
                  <a:lnTo>
                    <a:pt x="601" y="205"/>
                  </a:lnTo>
                  <a:lnTo>
                    <a:pt x="599" y="213"/>
                  </a:lnTo>
                  <a:lnTo>
                    <a:pt x="594" y="208"/>
                  </a:lnTo>
                  <a:lnTo>
                    <a:pt x="594" y="193"/>
                  </a:lnTo>
                  <a:lnTo>
                    <a:pt x="588" y="179"/>
                  </a:lnTo>
                  <a:lnTo>
                    <a:pt x="590" y="174"/>
                  </a:lnTo>
                  <a:lnTo>
                    <a:pt x="585" y="169"/>
                  </a:lnTo>
                  <a:lnTo>
                    <a:pt x="575" y="157"/>
                  </a:lnTo>
                  <a:lnTo>
                    <a:pt x="557" y="144"/>
                  </a:lnTo>
                  <a:lnTo>
                    <a:pt x="557" y="127"/>
                  </a:lnTo>
                  <a:lnTo>
                    <a:pt x="557" y="111"/>
                  </a:lnTo>
                  <a:lnTo>
                    <a:pt x="553" y="97"/>
                  </a:lnTo>
                  <a:lnTo>
                    <a:pt x="555" y="81"/>
                  </a:lnTo>
                  <a:lnTo>
                    <a:pt x="552" y="73"/>
                  </a:lnTo>
                  <a:lnTo>
                    <a:pt x="543" y="64"/>
                  </a:lnTo>
                  <a:lnTo>
                    <a:pt x="533" y="65"/>
                  </a:lnTo>
                  <a:lnTo>
                    <a:pt x="531" y="53"/>
                  </a:lnTo>
                  <a:lnTo>
                    <a:pt x="530" y="40"/>
                  </a:lnTo>
                  <a:lnTo>
                    <a:pt x="529" y="24"/>
                  </a:lnTo>
                  <a:lnTo>
                    <a:pt x="525" y="13"/>
                  </a:lnTo>
                  <a:lnTo>
                    <a:pt x="522" y="5"/>
                  </a:lnTo>
                  <a:lnTo>
                    <a:pt x="521" y="0"/>
                  </a:lnTo>
                  <a:lnTo>
                    <a:pt x="512" y="16"/>
                  </a:lnTo>
                  <a:lnTo>
                    <a:pt x="509" y="23"/>
                  </a:lnTo>
                  <a:lnTo>
                    <a:pt x="505" y="33"/>
                  </a:lnTo>
                  <a:lnTo>
                    <a:pt x="507" y="34"/>
                  </a:lnTo>
                  <a:lnTo>
                    <a:pt x="507" y="36"/>
                  </a:lnTo>
                  <a:lnTo>
                    <a:pt x="503" y="43"/>
                  </a:lnTo>
                  <a:lnTo>
                    <a:pt x="501" y="51"/>
                  </a:lnTo>
                  <a:lnTo>
                    <a:pt x="499" y="51"/>
                  </a:lnTo>
                  <a:lnTo>
                    <a:pt x="498" y="66"/>
                  </a:lnTo>
                  <a:lnTo>
                    <a:pt x="497" y="81"/>
                  </a:lnTo>
                  <a:lnTo>
                    <a:pt x="485" y="101"/>
                  </a:lnTo>
                  <a:lnTo>
                    <a:pt x="474" y="121"/>
                  </a:lnTo>
                  <a:lnTo>
                    <a:pt x="462" y="124"/>
                  </a:lnTo>
                  <a:lnTo>
                    <a:pt x="451" y="114"/>
                  </a:lnTo>
                  <a:lnTo>
                    <a:pt x="435" y="103"/>
                  </a:lnTo>
                  <a:lnTo>
                    <a:pt x="419" y="93"/>
                  </a:lnTo>
                  <a:lnTo>
                    <a:pt x="410" y="82"/>
                  </a:lnTo>
                  <a:lnTo>
                    <a:pt x="401" y="72"/>
                  </a:lnTo>
                  <a:lnTo>
                    <a:pt x="411" y="54"/>
                  </a:lnTo>
                  <a:lnTo>
                    <a:pt x="416" y="43"/>
                  </a:lnTo>
                  <a:lnTo>
                    <a:pt x="419" y="46"/>
                  </a:lnTo>
                  <a:lnTo>
                    <a:pt x="422" y="40"/>
                  </a:lnTo>
                  <a:lnTo>
                    <a:pt x="429" y="29"/>
                  </a:lnTo>
                  <a:lnTo>
                    <a:pt x="422" y="23"/>
                  </a:lnTo>
                  <a:lnTo>
                    <a:pt x="416" y="31"/>
                  </a:lnTo>
                  <a:lnTo>
                    <a:pt x="415" y="27"/>
                  </a:lnTo>
                  <a:lnTo>
                    <a:pt x="410" y="27"/>
                  </a:lnTo>
                  <a:lnTo>
                    <a:pt x="413" y="23"/>
                  </a:lnTo>
                  <a:lnTo>
                    <a:pt x="398" y="27"/>
                  </a:lnTo>
                  <a:lnTo>
                    <a:pt x="387" y="24"/>
                  </a:lnTo>
                  <a:lnTo>
                    <a:pt x="380" y="19"/>
                  </a:lnTo>
                  <a:lnTo>
                    <a:pt x="369"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3" name="Freeform 182"/>
            <p:cNvSpPr>
              <a:spLocks/>
            </p:cNvSpPr>
            <p:nvPr/>
          </p:nvSpPr>
          <p:spPr bwMode="auto">
            <a:xfrm>
              <a:off x="4860" y="3518"/>
              <a:ext cx="69" cy="56"/>
            </a:xfrm>
            <a:custGeom>
              <a:avLst/>
              <a:gdLst/>
              <a:ahLst/>
              <a:cxnLst>
                <a:cxn ang="0">
                  <a:pos x="25" y="38"/>
                </a:cxn>
                <a:cxn ang="0">
                  <a:pos x="7" y="50"/>
                </a:cxn>
                <a:cxn ang="0">
                  <a:pos x="0" y="46"/>
                </a:cxn>
                <a:cxn ang="0">
                  <a:pos x="1" y="44"/>
                </a:cxn>
                <a:cxn ang="0">
                  <a:pos x="1" y="29"/>
                </a:cxn>
                <a:cxn ang="0">
                  <a:pos x="4" y="26"/>
                </a:cxn>
                <a:cxn ang="0">
                  <a:pos x="5" y="28"/>
                </a:cxn>
                <a:cxn ang="0">
                  <a:pos x="7" y="16"/>
                </a:cxn>
                <a:cxn ang="0">
                  <a:pos x="9" y="2"/>
                </a:cxn>
                <a:cxn ang="0">
                  <a:pos x="13" y="0"/>
                </a:cxn>
                <a:cxn ang="0">
                  <a:pos x="27" y="5"/>
                </a:cxn>
                <a:cxn ang="0">
                  <a:pos x="40" y="11"/>
                </a:cxn>
                <a:cxn ang="0">
                  <a:pos x="43" y="4"/>
                </a:cxn>
                <a:cxn ang="0">
                  <a:pos x="63" y="2"/>
                </a:cxn>
                <a:cxn ang="0">
                  <a:pos x="48" y="25"/>
                </a:cxn>
                <a:cxn ang="0">
                  <a:pos x="46" y="24"/>
                </a:cxn>
                <a:cxn ang="0">
                  <a:pos x="28" y="43"/>
                </a:cxn>
                <a:cxn ang="0">
                  <a:pos x="30" y="40"/>
                </a:cxn>
                <a:cxn ang="0">
                  <a:pos x="27" y="40"/>
                </a:cxn>
                <a:cxn ang="0">
                  <a:pos x="25" y="38"/>
                </a:cxn>
              </a:cxnLst>
              <a:rect l="0" t="0" r="r" b="b"/>
              <a:pathLst>
                <a:path w="63" h="50">
                  <a:moveTo>
                    <a:pt x="25" y="38"/>
                  </a:moveTo>
                  <a:lnTo>
                    <a:pt x="7" y="50"/>
                  </a:lnTo>
                  <a:lnTo>
                    <a:pt x="0" y="46"/>
                  </a:lnTo>
                  <a:lnTo>
                    <a:pt x="1" y="44"/>
                  </a:lnTo>
                  <a:lnTo>
                    <a:pt x="1" y="29"/>
                  </a:lnTo>
                  <a:lnTo>
                    <a:pt x="4" y="26"/>
                  </a:lnTo>
                  <a:lnTo>
                    <a:pt x="5" y="28"/>
                  </a:lnTo>
                  <a:lnTo>
                    <a:pt x="7" y="16"/>
                  </a:lnTo>
                  <a:lnTo>
                    <a:pt x="9" y="2"/>
                  </a:lnTo>
                  <a:lnTo>
                    <a:pt x="13" y="0"/>
                  </a:lnTo>
                  <a:lnTo>
                    <a:pt x="27" y="5"/>
                  </a:lnTo>
                  <a:lnTo>
                    <a:pt x="40" y="11"/>
                  </a:lnTo>
                  <a:lnTo>
                    <a:pt x="43" y="4"/>
                  </a:lnTo>
                  <a:lnTo>
                    <a:pt x="63" y="2"/>
                  </a:lnTo>
                  <a:lnTo>
                    <a:pt x="48" y="25"/>
                  </a:lnTo>
                  <a:lnTo>
                    <a:pt x="46" y="24"/>
                  </a:lnTo>
                  <a:lnTo>
                    <a:pt x="28" y="43"/>
                  </a:lnTo>
                  <a:lnTo>
                    <a:pt x="30" y="40"/>
                  </a:lnTo>
                  <a:lnTo>
                    <a:pt x="27" y="40"/>
                  </a:lnTo>
                  <a:lnTo>
                    <a:pt x="25"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4" name="Freeform 183"/>
            <p:cNvSpPr>
              <a:spLocks/>
            </p:cNvSpPr>
            <p:nvPr/>
          </p:nvSpPr>
          <p:spPr bwMode="auto">
            <a:xfrm>
              <a:off x="5613" y="3052"/>
              <a:ext cx="22" cy="15"/>
            </a:xfrm>
            <a:custGeom>
              <a:avLst/>
              <a:gdLst/>
              <a:ahLst/>
              <a:cxnLst>
                <a:cxn ang="0">
                  <a:pos x="21" y="13"/>
                </a:cxn>
                <a:cxn ang="0">
                  <a:pos x="0" y="14"/>
                </a:cxn>
                <a:cxn ang="0">
                  <a:pos x="1" y="7"/>
                </a:cxn>
                <a:cxn ang="0">
                  <a:pos x="16" y="0"/>
                </a:cxn>
                <a:cxn ang="0">
                  <a:pos x="21" y="12"/>
                </a:cxn>
                <a:cxn ang="0">
                  <a:pos x="21" y="13"/>
                </a:cxn>
              </a:cxnLst>
              <a:rect l="0" t="0" r="r" b="b"/>
              <a:pathLst>
                <a:path w="21" h="14">
                  <a:moveTo>
                    <a:pt x="21" y="13"/>
                  </a:moveTo>
                  <a:lnTo>
                    <a:pt x="0" y="14"/>
                  </a:lnTo>
                  <a:lnTo>
                    <a:pt x="1" y="7"/>
                  </a:lnTo>
                  <a:lnTo>
                    <a:pt x="16" y="0"/>
                  </a:lnTo>
                  <a:lnTo>
                    <a:pt x="21" y="12"/>
                  </a:lnTo>
                  <a:lnTo>
                    <a:pt x="21"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5" name="Freeform 184"/>
            <p:cNvSpPr>
              <a:spLocks/>
            </p:cNvSpPr>
            <p:nvPr/>
          </p:nvSpPr>
          <p:spPr bwMode="auto">
            <a:xfrm>
              <a:off x="5640" y="3030"/>
              <a:ext cx="24" cy="13"/>
            </a:xfrm>
            <a:custGeom>
              <a:avLst/>
              <a:gdLst/>
              <a:ahLst/>
              <a:cxnLst>
                <a:cxn ang="0">
                  <a:pos x="16" y="8"/>
                </a:cxn>
                <a:cxn ang="0">
                  <a:pos x="22" y="0"/>
                </a:cxn>
                <a:cxn ang="0">
                  <a:pos x="0" y="7"/>
                </a:cxn>
                <a:cxn ang="0">
                  <a:pos x="0" y="12"/>
                </a:cxn>
                <a:cxn ang="0">
                  <a:pos x="16" y="8"/>
                </a:cxn>
              </a:cxnLst>
              <a:rect l="0" t="0" r="r" b="b"/>
              <a:pathLst>
                <a:path w="22" h="12">
                  <a:moveTo>
                    <a:pt x="16" y="8"/>
                  </a:moveTo>
                  <a:lnTo>
                    <a:pt x="22" y="0"/>
                  </a:lnTo>
                  <a:lnTo>
                    <a:pt x="0" y="7"/>
                  </a:lnTo>
                  <a:lnTo>
                    <a:pt x="0" y="12"/>
                  </a:lnTo>
                  <a:lnTo>
                    <a:pt x="16" y="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6" name="Freeform 185"/>
            <p:cNvSpPr>
              <a:spLocks/>
            </p:cNvSpPr>
            <p:nvPr/>
          </p:nvSpPr>
          <p:spPr bwMode="auto">
            <a:xfrm>
              <a:off x="5373" y="3107"/>
              <a:ext cx="38" cy="43"/>
            </a:xfrm>
            <a:custGeom>
              <a:avLst/>
              <a:gdLst/>
              <a:ahLst/>
              <a:cxnLst>
                <a:cxn ang="0">
                  <a:pos x="35" y="38"/>
                </a:cxn>
                <a:cxn ang="0">
                  <a:pos x="27" y="36"/>
                </a:cxn>
                <a:cxn ang="0">
                  <a:pos x="13" y="24"/>
                </a:cxn>
                <a:cxn ang="0">
                  <a:pos x="1" y="11"/>
                </a:cxn>
                <a:cxn ang="0">
                  <a:pos x="0" y="0"/>
                </a:cxn>
                <a:cxn ang="0">
                  <a:pos x="9" y="10"/>
                </a:cxn>
                <a:cxn ang="0">
                  <a:pos x="18" y="18"/>
                </a:cxn>
                <a:cxn ang="0">
                  <a:pos x="27" y="28"/>
                </a:cxn>
                <a:cxn ang="0">
                  <a:pos x="35" y="38"/>
                </a:cxn>
              </a:cxnLst>
              <a:rect l="0" t="0" r="r" b="b"/>
              <a:pathLst>
                <a:path w="35" h="38">
                  <a:moveTo>
                    <a:pt x="35" y="38"/>
                  </a:moveTo>
                  <a:lnTo>
                    <a:pt x="27" y="36"/>
                  </a:lnTo>
                  <a:lnTo>
                    <a:pt x="13" y="24"/>
                  </a:lnTo>
                  <a:lnTo>
                    <a:pt x="1" y="11"/>
                  </a:lnTo>
                  <a:lnTo>
                    <a:pt x="0" y="0"/>
                  </a:lnTo>
                  <a:lnTo>
                    <a:pt x="9" y="10"/>
                  </a:lnTo>
                  <a:lnTo>
                    <a:pt x="18" y="18"/>
                  </a:lnTo>
                  <a:lnTo>
                    <a:pt x="27" y="28"/>
                  </a:lnTo>
                  <a:lnTo>
                    <a:pt x="35"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7" name="Freeform 186"/>
            <p:cNvSpPr>
              <a:spLocks/>
            </p:cNvSpPr>
            <p:nvPr/>
          </p:nvSpPr>
          <p:spPr bwMode="auto">
            <a:xfrm>
              <a:off x="5146" y="3514"/>
              <a:ext cx="198" cy="120"/>
            </a:xfrm>
            <a:custGeom>
              <a:avLst/>
              <a:gdLst/>
              <a:ahLst/>
              <a:cxnLst>
                <a:cxn ang="0">
                  <a:pos x="117" y="59"/>
                </a:cxn>
                <a:cxn ang="0">
                  <a:pos x="111" y="48"/>
                </a:cxn>
                <a:cxn ang="0">
                  <a:pos x="109" y="48"/>
                </a:cxn>
                <a:cxn ang="0">
                  <a:pos x="105" y="51"/>
                </a:cxn>
                <a:cxn ang="0">
                  <a:pos x="111" y="60"/>
                </a:cxn>
                <a:cxn ang="0">
                  <a:pos x="99" y="64"/>
                </a:cxn>
                <a:cxn ang="0">
                  <a:pos x="90" y="65"/>
                </a:cxn>
                <a:cxn ang="0">
                  <a:pos x="88" y="72"/>
                </a:cxn>
                <a:cxn ang="0">
                  <a:pos x="82" y="78"/>
                </a:cxn>
                <a:cxn ang="0">
                  <a:pos x="82" y="79"/>
                </a:cxn>
                <a:cxn ang="0">
                  <a:pos x="61" y="95"/>
                </a:cxn>
                <a:cxn ang="0">
                  <a:pos x="27" y="109"/>
                </a:cxn>
                <a:cxn ang="0">
                  <a:pos x="19" y="106"/>
                </a:cxn>
                <a:cxn ang="0">
                  <a:pos x="6" y="102"/>
                </a:cxn>
                <a:cxn ang="0">
                  <a:pos x="1" y="100"/>
                </a:cxn>
                <a:cxn ang="0">
                  <a:pos x="3" y="99"/>
                </a:cxn>
                <a:cxn ang="0">
                  <a:pos x="0" y="97"/>
                </a:cxn>
                <a:cxn ang="0">
                  <a:pos x="9" y="91"/>
                </a:cxn>
                <a:cxn ang="0">
                  <a:pos x="12" y="89"/>
                </a:cxn>
                <a:cxn ang="0">
                  <a:pos x="17" y="85"/>
                </a:cxn>
                <a:cxn ang="0">
                  <a:pos x="18" y="87"/>
                </a:cxn>
                <a:cxn ang="0">
                  <a:pos x="24" y="79"/>
                </a:cxn>
                <a:cxn ang="0">
                  <a:pos x="30" y="77"/>
                </a:cxn>
                <a:cxn ang="0">
                  <a:pos x="40" y="73"/>
                </a:cxn>
                <a:cxn ang="0">
                  <a:pos x="59" y="63"/>
                </a:cxn>
                <a:cxn ang="0">
                  <a:pos x="67" y="60"/>
                </a:cxn>
                <a:cxn ang="0">
                  <a:pos x="95" y="47"/>
                </a:cxn>
                <a:cxn ang="0">
                  <a:pos x="108" y="41"/>
                </a:cxn>
                <a:cxn ang="0">
                  <a:pos x="125" y="31"/>
                </a:cxn>
                <a:cxn ang="0">
                  <a:pos x="120" y="31"/>
                </a:cxn>
                <a:cxn ang="0">
                  <a:pos x="132" y="23"/>
                </a:cxn>
                <a:cxn ang="0">
                  <a:pos x="162" y="3"/>
                </a:cxn>
                <a:cxn ang="0">
                  <a:pos x="169" y="0"/>
                </a:cxn>
                <a:cxn ang="0">
                  <a:pos x="162" y="4"/>
                </a:cxn>
                <a:cxn ang="0">
                  <a:pos x="161" y="12"/>
                </a:cxn>
                <a:cxn ang="0">
                  <a:pos x="175" y="7"/>
                </a:cxn>
                <a:cxn ang="0">
                  <a:pos x="173" y="11"/>
                </a:cxn>
                <a:cxn ang="0">
                  <a:pos x="175" y="12"/>
                </a:cxn>
                <a:cxn ang="0">
                  <a:pos x="174" y="13"/>
                </a:cxn>
                <a:cxn ang="0">
                  <a:pos x="179" y="12"/>
                </a:cxn>
                <a:cxn ang="0">
                  <a:pos x="171" y="21"/>
                </a:cxn>
                <a:cxn ang="0">
                  <a:pos x="151" y="34"/>
                </a:cxn>
                <a:cxn ang="0">
                  <a:pos x="132" y="46"/>
                </a:cxn>
                <a:cxn ang="0">
                  <a:pos x="124" y="49"/>
                </a:cxn>
                <a:cxn ang="0">
                  <a:pos x="123" y="52"/>
                </a:cxn>
                <a:cxn ang="0">
                  <a:pos x="117" y="52"/>
                </a:cxn>
                <a:cxn ang="0">
                  <a:pos x="123" y="55"/>
                </a:cxn>
                <a:cxn ang="0">
                  <a:pos x="124" y="60"/>
                </a:cxn>
                <a:cxn ang="0">
                  <a:pos x="117" y="59"/>
                </a:cxn>
              </a:cxnLst>
              <a:rect l="0" t="0" r="r" b="b"/>
              <a:pathLst>
                <a:path w="179" h="109">
                  <a:moveTo>
                    <a:pt x="117" y="59"/>
                  </a:moveTo>
                  <a:lnTo>
                    <a:pt x="111" y="48"/>
                  </a:lnTo>
                  <a:lnTo>
                    <a:pt x="109" y="48"/>
                  </a:lnTo>
                  <a:lnTo>
                    <a:pt x="105" y="51"/>
                  </a:lnTo>
                  <a:lnTo>
                    <a:pt x="111" y="60"/>
                  </a:lnTo>
                  <a:lnTo>
                    <a:pt x="99" y="64"/>
                  </a:lnTo>
                  <a:lnTo>
                    <a:pt x="90" y="65"/>
                  </a:lnTo>
                  <a:lnTo>
                    <a:pt x="88" y="72"/>
                  </a:lnTo>
                  <a:lnTo>
                    <a:pt x="82" y="78"/>
                  </a:lnTo>
                  <a:lnTo>
                    <a:pt x="82" y="79"/>
                  </a:lnTo>
                  <a:lnTo>
                    <a:pt x="61" y="95"/>
                  </a:lnTo>
                  <a:lnTo>
                    <a:pt x="27" y="109"/>
                  </a:lnTo>
                  <a:lnTo>
                    <a:pt x="19" y="106"/>
                  </a:lnTo>
                  <a:lnTo>
                    <a:pt x="6" y="102"/>
                  </a:lnTo>
                  <a:lnTo>
                    <a:pt x="1" y="100"/>
                  </a:lnTo>
                  <a:lnTo>
                    <a:pt x="3" y="99"/>
                  </a:lnTo>
                  <a:lnTo>
                    <a:pt x="0" y="97"/>
                  </a:lnTo>
                  <a:lnTo>
                    <a:pt x="9" y="91"/>
                  </a:lnTo>
                  <a:lnTo>
                    <a:pt x="12" y="89"/>
                  </a:lnTo>
                  <a:lnTo>
                    <a:pt x="17" y="85"/>
                  </a:lnTo>
                  <a:lnTo>
                    <a:pt x="18" y="87"/>
                  </a:lnTo>
                  <a:lnTo>
                    <a:pt x="24" y="79"/>
                  </a:lnTo>
                  <a:lnTo>
                    <a:pt x="30" y="77"/>
                  </a:lnTo>
                  <a:lnTo>
                    <a:pt x="40" y="73"/>
                  </a:lnTo>
                  <a:lnTo>
                    <a:pt x="59" y="63"/>
                  </a:lnTo>
                  <a:lnTo>
                    <a:pt x="67" y="60"/>
                  </a:lnTo>
                  <a:lnTo>
                    <a:pt x="95" y="47"/>
                  </a:lnTo>
                  <a:lnTo>
                    <a:pt x="108" y="41"/>
                  </a:lnTo>
                  <a:lnTo>
                    <a:pt x="125" y="31"/>
                  </a:lnTo>
                  <a:lnTo>
                    <a:pt x="120" y="31"/>
                  </a:lnTo>
                  <a:lnTo>
                    <a:pt x="132" y="23"/>
                  </a:lnTo>
                  <a:lnTo>
                    <a:pt x="162" y="3"/>
                  </a:lnTo>
                  <a:lnTo>
                    <a:pt x="169" y="0"/>
                  </a:lnTo>
                  <a:lnTo>
                    <a:pt x="162" y="4"/>
                  </a:lnTo>
                  <a:lnTo>
                    <a:pt x="161" y="12"/>
                  </a:lnTo>
                  <a:lnTo>
                    <a:pt x="175" y="7"/>
                  </a:lnTo>
                  <a:lnTo>
                    <a:pt x="173" y="11"/>
                  </a:lnTo>
                  <a:lnTo>
                    <a:pt x="175" y="12"/>
                  </a:lnTo>
                  <a:lnTo>
                    <a:pt x="174" y="13"/>
                  </a:lnTo>
                  <a:lnTo>
                    <a:pt x="179" y="12"/>
                  </a:lnTo>
                  <a:lnTo>
                    <a:pt x="171" y="21"/>
                  </a:lnTo>
                  <a:lnTo>
                    <a:pt x="151" y="34"/>
                  </a:lnTo>
                  <a:lnTo>
                    <a:pt x="132" y="46"/>
                  </a:lnTo>
                  <a:lnTo>
                    <a:pt x="124" y="49"/>
                  </a:lnTo>
                  <a:lnTo>
                    <a:pt x="123" y="52"/>
                  </a:lnTo>
                  <a:lnTo>
                    <a:pt x="117" y="52"/>
                  </a:lnTo>
                  <a:lnTo>
                    <a:pt x="123" y="55"/>
                  </a:lnTo>
                  <a:lnTo>
                    <a:pt x="124" y="60"/>
                  </a:lnTo>
                  <a:lnTo>
                    <a:pt x="117" y="5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8" name="Freeform 187"/>
            <p:cNvSpPr>
              <a:spLocks/>
            </p:cNvSpPr>
            <p:nvPr/>
          </p:nvSpPr>
          <p:spPr bwMode="auto">
            <a:xfrm>
              <a:off x="5348" y="3394"/>
              <a:ext cx="114" cy="140"/>
            </a:xfrm>
            <a:custGeom>
              <a:avLst/>
              <a:gdLst/>
              <a:ahLst/>
              <a:cxnLst>
                <a:cxn ang="0">
                  <a:pos x="12" y="85"/>
                </a:cxn>
                <a:cxn ang="0">
                  <a:pos x="18" y="94"/>
                </a:cxn>
                <a:cxn ang="0">
                  <a:pos x="23" y="102"/>
                </a:cxn>
                <a:cxn ang="0">
                  <a:pos x="0" y="123"/>
                </a:cxn>
                <a:cxn ang="0">
                  <a:pos x="3" y="127"/>
                </a:cxn>
                <a:cxn ang="0">
                  <a:pos x="25" y="114"/>
                </a:cxn>
                <a:cxn ang="0">
                  <a:pos x="48" y="101"/>
                </a:cxn>
                <a:cxn ang="0">
                  <a:pos x="59" y="88"/>
                </a:cxn>
                <a:cxn ang="0">
                  <a:pos x="74" y="83"/>
                </a:cxn>
                <a:cxn ang="0">
                  <a:pos x="81" y="76"/>
                </a:cxn>
                <a:cxn ang="0">
                  <a:pos x="102" y="58"/>
                </a:cxn>
                <a:cxn ang="0">
                  <a:pos x="99" y="57"/>
                </a:cxn>
                <a:cxn ang="0">
                  <a:pos x="83" y="63"/>
                </a:cxn>
                <a:cxn ang="0">
                  <a:pos x="66" y="54"/>
                </a:cxn>
                <a:cxn ang="0">
                  <a:pos x="71" y="36"/>
                </a:cxn>
                <a:cxn ang="0">
                  <a:pos x="65" y="47"/>
                </a:cxn>
                <a:cxn ang="0">
                  <a:pos x="56" y="42"/>
                </a:cxn>
                <a:cxn ang="0">
                  <a:pos x="59" y="36"/>
                </a:cxn>
                <a:cxn ang="0">
                  <a:pos x="63" y="23"/>
                </a:cxn>
                <a:cxn ang="0">
                  <a:pos x="67" y="16"/>
                </a:cxn>
                <a:cxn ang="0">
                  <a:pos x="65" y="16"/>
                </a:cxn>
                <a:cxn ang="0">
                  <a:pos x="57" y="7"/>
                </a:cxn>
                <a:cxn ang="0">
                  <a:pos x="54" y="1"/>
                </a:cxn>
                <a:cxn ang="0">
                  <a:pos x="54" y="0"/>
                </a:cxn>
                <a:cxn ang="0">
                  <a:pos x="51" y="12"/>
                </a:cxn>
                <a:cxn ang="0">
                  <a:pos x="54" y="17"/>
                </a:cxn>
                <a:cxn ang="0">
                  <a:pos x="50" y="34"/>
                </a:cxn>
                <a:cxn ang="0">
                  <a:pos x="53" y="27"/>
                </a:cxn>
                <a:cxn ang="0">
                  <a:pos x="55" y="30"/>
                </a:cxn>
                <a:cxn ang="0">
                  <a:pos x="55" y="33"/>
                </a:cxn>
                <a:cxn ang="0">
                  <a:pos x="53" y="37"/>
                </a:cxn>
                <a:cxn ang="0">
                  <a:pos x="49" y="46"/>
                </a:cxn>
                <a:cxn ang="0">
                  <a:pos x="55" y="45"/>
                </a:cxn>
                <a:cxn ang="0">
                  <a:pos x="51" y="48"/>
                </a:cxn>
                <a:cxn ang="0">
                  <a:pos x="47" y="57"/>
                </a:cxn>
                <a:cxn ang="0">
                  <a:pos x="32" y="76"/>
                </a:cxn>
                <a:cxn ang="0">
                  <a:pos x="12" y="85"/>
                </a:cxn>
              </a:cxnLst>
              <a:rect l="0" t="0" r="r" b="b"/>
              <a:pathLst>
                <a:path w="102" h="127">
                  <a:moveTo>
                    <a:pt x="12" y="85"/>
                  </a:moveTo>
                  <a:lnTo>
                    <a:pt x="18" y="94"/>
                  </a:lnTo>
                  <a:lnTo>
                    <a:pt x="23" y="102"/>
                  </a:lnTo>
                  <a:lnTo>
                    <a:pt x="0" y="123"/>
                  </a:lnTo>
                  <a:lnTo>
                    <a:pt x="3" y="127"/>
                  </a:lnTo>
                  <a:lnTo>
                    <a:pt x="25" y="114"/>
                  </a:lnTo>
                  <a:lnTo>
                    <a:pt x="48" y="101"/>
                  </a:lnTo>
                  <a:lnTo>
                    <a:pt x="59" y="88"/>
                  </a:lnTo>
                  <a:lnTo>
                    <a:pt x="74" y="83"/>
                  </a:lnTo>
                  <a:lnTo>
                    <a:pt x="81" y="76"/>
                  </a:lnTo>
                  <a:lnTo>
                    <a:pt x="102" y="58"/>
                  </a:lnTo>
                  <a:lnTo>
                    <a:pt x="99" y="57"/>
                  </a:lnTo>
                  <a:lnTo>
                    <a:pt x="83" y="63"/>
                  </a:lnTo>
                  <a:lnTo>
                    <a:pt x="66" y="54"/>
                  </a:lnTo>
                  <a:lnTo>
                    <a:pt x="71" y="36"/>
                  </a:lnTo>
                  <a:lnTo>
                    <a:pt x="65" y="47"/>
                  </a:lnTo>
                  <a:lnTo>
                    <a:pt x="56" y="42"/>
                  </a:lnTo>
                  <a:lnTo>
                    <a:pt x="59" y="36"/>
                  </a:lnTo>
                  <a:lnTo>
                    <a:pt x="63" y="23"/>
                  </a:lnTo>
                  <a:lnTo>
                    <a:pt x="67" y="16"/>
                  </a:lnTo>
                  <a:lnTo>
                    <a:pt x="65" y="16"/>
                  </a:lnTo>
                  <a:lnTo>
                    <a:pt x="57" y="7"/>
                  </a:lnTo>
                  <a:lnTo>
                    <a:pt x="54" y="1"/>
                  </a:lnTo>
                  <a:lnTo>
                    <a:pt x="54" y="0"/>
                  </a:lnTo>
                  <a:lnTo>
                    <a:pt x="51" y="12"/>
                  </a:lnTo>
                  <a:lnTo>
                    <a:pt x="54" y="17"/>
                  </a:lnTo>
                  <a:lnTo>
                    <a:pt x="50" y="34"/>
                  </a:lnTo>
                  <a:lnTo>
                    <a:pt x="53" y="27"/>
                  </a:lnTo>
                  <a:lnTo>
                    <a:pt x="55" y="30"/>
                  </a:lnTo>
                  <a:lnTo>
                    <a:pt x="55" y="33"/>
                  </a:lnTo>
                  <a:lnTo>
                    <a:pt x="53" y="37"/>
                  </a:lnTo>
                  <a:lnTo>
                    <a:pt x="49" y="46"/>
                  </a:lnTo>
                  <a:lnTo>
                    <a:pt x="55" y="45"/>
                  </a:lnTo>
                  <a:lnTo>
                    <a:pt x="51" y="48"/>
                  </a:lnTo>
                  <a:lnTo>
                    <a:pt x="47" y="57"/>
                  </a:lnTo>
                  <a:lnTo>
                    <a:pt x="32" y="76"/>
                  </a:lnTo>
                  <a:lnTo>
                    <a:pt x="12" y="8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9" name="Freeform 188"/>
            <p:cNvSpPr>
              <a:spLocks/>
            </p:cNvSpPr>
            <p:nvPr/>
          </p:nvSpPr>
          <p:spPr bwMode="auto">
            <a:xfrm>
              <a:off x="5144" y="3636"/>
              <a:ext cx="11" cy="7"/>
            </a:xfrm>
            <a:custGeom>
              <a:avLst/>
              <a:gdLst/>
              <a:ahLst/>
              <a:cxnLst>
                <a:cxn ang="0">
                  <a:pos x="11" y="3"/>
                </a:cxn>
                <a:cxn ang="0">
                  <a:pos x="11" y="1"/>
                </a:cxn>
                <a:cxn ang="0">
                  <a:pos x="6" y="0"/>
                </a:cxn>
                <a:cxn ang="0">
                  <a:pos x="0" y="6"/>
                </a:cxn>
                <a:cxn ang="0">
                  <a:pos x="11" y="3"/>
                </a:cxn>
              </a:cxnLst>
              <a:rect l="0" t="0" r="r" b="b"/>
              <a:pathLst>
                <a:path w="11" h="6">
                  <a:moveTo>
                    <a:pt x="11" y="3"/>
                  </a:moveTo>
                  <a:lnTo>
                    <a:pt x="11" y="1"/>
                  </a:lnTo>
                  <a:lnTo>
                    <a:pt x="6" y="0"/>
                  </a:lnTo>
                  <a:lnTo>
                    <a:pt x="0" y="6"/>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0" name="Freeform 189"/>
            <p:cNvSpPr>
              <a:spLocks/>
            </p:cNvSpPr>
            <p:nvPr/>
          </p:nvSpPr>
          <p:spPr bwMode="auto">
            <a:xfrm>
              <a:off x="5333" y="2890"/>
              <a:ext cx="20" cy="13"/>
            </a:xfrm>
            <a:custGeom>
              <a:avLst/>
              <a:gdLst/>
              <a:ahLst/>
              <a:cxnLst>
                <a:cxn ang="0">
                  <a:pos x="17" y="11"/>
                </a:cxn>
                <a:cxn ang="0">
                  <a:pos x="18" y="9"/>
                </a:cxn>
                <a:cxn ang="0">
                  <a:pos x="3" y="0"/>
                </a:cxn>
                <a:cxn ang="0">
                  <a:pos x="0" y="5"/>
                </a:cxn>
                <a:cxn ang="0">
                  <a:pos x="17" y="11"/>
                </a:cxn>
              </a:cxnLst>
              <a:rect l="0" t="0" r="r" b="b"/>
              <a:pathLst>
                <a:path w="18" h="11">
                  <a:moveTo>
                    <a:pt x="17" y="11"/>
                  </a:moveTo>
                  <a:lnTo>
                    <a:pt x="18" y="9"/>
                  </a:lnTo>
                  <a:lnTo>
                    <a:pt x="3" y="0"/>
                  </a:lnTo>
                  <a:lnTo>
                    <a:pt x="0" y="5"/>
                  </a:lnTo>
                  <a:lnTo>
                    <a:pt x="17"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1" name="Freeform 190"/>
            <p:cNvSpPr>
              <a:spLocks/>
            </p:cNvSpPr>
            <p:nvPr/>
          </p:nvSpPr>
          <p:spPr bwMode="auto">
            <a:xfrm>
              <a:off x="5284" y="2839"/>
              <a:ext cx="16" cy="15"/>
            </a:xfrm>
            <a:custGeom>
              <a:avLst/>
              <a:gdLst/>
              <a:ahLst/>
              <a:cxnLst>
                <a:cxn ang="0">
                  <a:pos x="0" y="0"/>
                </a:cxn>
                <a:cxn ang="0">
                  <a:pos x="14" y="13"/>
                </a:cxn>
                <a:cxn ang="0">
                  <a:pos x="5" y="10"/>
                </a:cxn>
                <a:cxn ang="0">
                  <a:pos x="0" y="0"/>
                </a:cxn>
              </a:cxnLst>
              <a:rect l="0" t="0" r="r" b="b"/>
              <a:pathLst>
                <a:path w="14" h="13">
                  <a:moveTo>
                    <a:pt x="0" y="0"/>
                  </a:moveTo>
                  <a:lnTo>
                    <a:pt x="14" y="13"/>
                  </a:lnTo>
                  <a:lnTo>
                    <a:pt x="5" y="10"/>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2" name="Freeform 191"/>
            <p:cNvSpPr>
              <a:spLocks/>
            </p:cNvSpPr>
            <p:nvPr/>
          </p:nvSpPr>
          <p:spPr bwMode="auto">
            <a:xfrm>
              <a:off x="5362" y="2910"/>
              <a:ext cx="13" cy="11"/>
            </a:xfrm>
            <a:custGeom>
              <a:avLst/>
              <a:gdLst/>
              <a:ahLst/>
              <a:cxnLst>
                <a:cxn ang="0">
                  <a:pos x="13" y="10"/>
                </a:cxn>
                <a:cxn ang="0">
                  <a:pos x="1" y="3"/>
                </a:cxn>
                <a:cxn ang="0">
                  <a:pos x="0" y="0"/>
                </a:cxn>
                <a:cxn ang="0">
                  <a:pos x="13" y="8"/>
                </a:cxn>
                <a:cxn ang="0">
                  <a:pos x="13" y="10"/>
                </a:cxn>
              </a:cxnLst>
              <a:rect l="0" t="0" r="r" b="b"/>
              <a:pathLst>
                <a:path w="13" h="10">
                  <a:moveTo>
                    <a:pt x="13" y="10"/>
                  </a:moveTo>
                  <a:lnTo>
                    <a:pt x="1" y="3"/>
                  </a:lnTo>
                  <a:lnTo>
                    <a:pt x="0" y="0"/>
                  </a:lnTo>
                  <a:lnTo>
                    <a:pt x="13" y="8"/>
                  </a:lnTo>
                  <a:lnTo>
                    <a:pt x="13"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3" name="Freeform 192"/>
            <p:cNvSpPr>
              <a:spLocks/>
            </p:cNvSpPr>
            <p:nvPr/>
          </p:nvSpPr>
          <p:spPr bwMode="auto">
            <a:xfrm>
              <a:off x="5295" y="2865"/>
              <a:ext cx="9" cy="11"/>
            </a:xfrm>
            <a:custGeom>
              <a:avLst/>
              <a:gdLst/>
              <a:ahLst/>
              <a:cxnLst>
                <a:cxn ang="0">
                  <a:pos x="8" y="10"/>
                </a:cxn>
                <a:cxn ang="0">
                  <a:pos x="4" y="0"/>
                </a:cxn>
                <a:cxn ang="0">
                  <a:pos x="0" y="4"/>
                </a:cxn>
                <a:cxn ang="0">
                  <a:pos x="3" y="4"/>
                </a:cxn>
                <a:cxn ang="0">
                  <a:pos x="8" y="10"/>
                </a:cxn>
              </a:cxnLst>
              <a:rect l="0" t="0" r="r" b="b"/>
              <a:pathLst>
                <a:path w="8" h="10">
                  <a:moveTo>
                    <a:pt x="8" y="10"/>
                  </a:moveTo>
                  <a:lnTo>
                    <a:pt x="4" y="0"/>
                  </a:lnTo>
                  <a:lnTo>
                    <a:pt x="0" y="4"/>
                  </a:lnTo>
                  <a:lnTo>
                    <a:pt x="3" y="4"/>
                  </a:lnTo>
                  <a:lnTo>
                    <a:pt x="8"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4" name="Freeform 193"/>
            <p:cNvSpPr>
              <a:spLocks/>
            </p:cNvSpPr>
            <p:nvPr/>
          </p:nvSpPr>
          <p:spPr bwMode="auto">
            <a:xfrm>
              <a:off x="5353" y="2870"/>
              <a:ext cx="9" cy="26"/>
            </a:xfrm>
            <a:custGeom>
              <a:avLst/>
              <a:gdLst/>
              <a:ahLst/>
              <a:cxnLst>
                <a:cxn ang="0">
                  <a:pos x="2" y="0"/>
                </a:cxn>
                <a:cxn ang="0">
                  <a:pos x="9" y="23"/>
                </a:cxn>
                <a:cxn ang="0">
                  <a:pos x="0" y="5"/>
                </a:cxn>
                <a:cxn ang="0">
                  <a:pos x="2" y="0"/>
                </a:cxn>
              </a:cxnLst>
              <a:rect l="0" t="0" r="r" b="b"/>
              <a:pathLst>
                <a:path w="9" h="23">
                  <a:moveTo>
                    <a:pt x="2" y="0"/>
                  </a:moveTo>
                  <a:lnTo>
                    <a:pt x="9" y="23"/>
                  </a:lnTo>
                  <a:lnTo>
                    <a:pt x="0" y="5"/>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5" name="Freeform 194"/>
            <p:cNvSpPr>
              <a:spLocks/>
            </p:cNvSpPr>
            <p:nvPr/>
          </p:nvSpPr>
          <p:spPr bwMode="auto">
            <a:xfrm>
              <a:off x="5320" y="2856"/>
              <a:ext cx="20" cy="20"/>
            </a:xfrm>
            <a:custGeom>
              <a:avLst/>
              <a:gdLst/>
              <a:ahLst/>
              <a:cxnLst>
                <a:cxn ang="0">
                  <a:pos x="17" y="18"/>
                </a:cxn>
                <a:cxn ang="0">
                  <a:pos x="19" y="18"/>
                </a:cxn>
                <a:cxn ang="0">
                  <a:pos x="10" y="9"/>
                </a:cxn>
                <a:cxn ang="0">
                  <a:pos x="0" y="0"/>
                </a:cxn>
                <a:cxn ang="0">
                  <a:pos x="9" y="9"/>
                </a:cxn>
                <a:cxn ang="0">
                  <a:pos x="17" y="18"/>
                </a:cxn>
              </a:cxnLst>
              <a:rect l="0" t="0" r="r" b="b"/>
              <a:pathLst>
                <a:path w="19" h="18">
                  <a:moveTo>
                    <a:pt x="17" y="18"/>
                  </a:moveTo>
                  <a:lnTo>
                    <a:pt x="19" y="18"/>
                  </a:lnTo>
                  <a:lnTo>
                    <a:pt x="10" y="9"/>
                  </a:lnTo>
                  <a:lnTo>
                    <a:pt x="0" y="0"/>
                  </a:lnTo>
                  <a:lnTo>
                    <a:pt x="9" y="9"/>
                  </a:lnTo>
                  <a:lnTo>
                    <a:pt x="17"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6" name="Freeform 195"/>
            <p:cNvSpPr>
              <a:spLocks/>
            </p:cNvSpPr>
            <p:nvPr/>
          </p:nvSpPr>
          <p:spPr bwMode="auto">
            <a:xfrm>
              <a:off x="5628" y="2954"/>
              <a:ext cx="3" cy="2"/>
            </a:xfrm>
            <a:custGeom>
              <a:avLst/>
              <a:gdLst/>
              <a:ahLst/>
              <a:cxnLst>
                <a:cxn ang="0">
                  <a:pos x="2" y="0"/>
                </a:cxn>
                <a:cxn ang="0">
                  <a:pos x="1" y="0"/>
                </a:cxn>
                <a:cxn ang="0">
                  <a:pos x="0" y="0"/>
                </a:cxn>
                <a:cxn ang="0">
                  <a:pos x="2" y="0"/>
                </a:cxn>
              </a:cxnLst>
              <a:rect l="0" t="0" r="r" b="b"/>
              <a:pathLst>
                <a:path w="2">
                  <a:moveTo>
                    <a:pt x="2" y="0"/>
                  </a:moveTo>
                  <a:lnTo>
                    <a:pt x="1" y="0"/>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7" name="Freeform 196"/>
            <p:cNvSpPr>
              <a:spLocks/>
            </p:cNvSpPr>
            <p:nvPr/>
          </p:nvSpPr>
          <p:spPr bwMode="auto">
            <a:xfrm>
              <a:off x="5437" y="3001"/>
              <a:ext cx="9" cy="13"/>
            </a:xfrm>
            <a:custGeom>
              <a:avLst/>
              <a:gdLst/>
              <a:ahLst/>
              <a:cxnLst>
                <a:cxn ang="0">
                  <a:pos x="7" y="13"/>
                </a:cxn>
                <a:cxn ang="0">
                  <a:pos x="8" y="5"/>
                </a:cxn>
                <a:cxn ang="0">
                  <a:pos x="6" y="6"/>
                </a:cxn>
                <a:cxn ang="0">
                  <a:pos x="2" y="0"/>
                </a:cxn>
                <a:cxn ang="0">
                  <a:pos x="0" y="13"/>
                </a:cxn>
                <a:cxn ang="0">
                  <a:pos x="7" y="13"/>
                </a:cxn>
              </a:cxnLst>
              <a:rect l="0" t="0" r="r" b="b"/>
              <a:pathLst>
                <a:path w="8" h="13">
                  <a:moveTo>
                    <a:pt x="7" y="13"/>
                  </a:moveTo>
                  <a:lnTo>
                    <a:pt x="8" y="5"/>
                  </a:lnTo>
                  <a:lnTo>
                    <a:pt x="6" y="6"/>
                  </a:lnTo>
                  <a:lnTo>
                    <a:pt x="2" y="0"/>
                  </a:lnTo>
                  <a:lnTo>
                    <a:pt x="0" y="13"/>
                  </a:lnTo>
                  <a:lnTo>
                    <a:pt x="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8" name="Freeform 197"/>
            <p:cNvSpPr>
              <a:spLocks/>
            </p:cNvSpPr>
            <p:nvPr/>
          </p:nvSpPr>
          <p:spPr bwMode="auto">
            <a:xfrm>
              <a:off x="5446" y="3021"/>
              <a:ext cx="7" cy="13"/>
            </a:xfrm>
            <a:custGeom>
              <a:avLst/>
              <a:gdLst/>
              <a:ahLst/>
              <a:cxnLst>
                <a:cxn ang="0">
                  <a:pos x="6" y="12"/>
                </a:cxn>
                <a:cxn ang="0">
                  <a:pos x="0" y="11"/>
                </a:cxn>
                <a:cxn ang="0">
                  <a:pos x="0" y="0"/>
                </a:cxn>
                <a:cxn ang="0">
                  <a:pos x="6" y="12"/>
                </a:cxn>
              </a:cxnLst>
              <a:rect l="0" t="0" r="r" b="b"/>
              <a:pathLst>
                <a:path w="6" h="12">
                  <a:moveTo>
                    <a:pt x="6" y="12"/>
                  </a:moveTo>
                  <a:lnTo>
                    <a:pt x="0" y="11"/>
                  </a:lnTo>
                  <a:lnTo>
                    <a:pt x="0" y="0"/>
                  </a:lnTo>
                  <a:lnTo>
                    <a:pt x="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9" name="Freeform 198"/>
            <p:cNvSpPr>
              <a:spLocks/>
            </p:cNvSpPr>
            <p:nvPr/>
          </p:nvSpPr>
          <p:spPr bwMode="auto">
            <a:xfrm>
              <a:off x="5457" y="3027"/>
              <a:ext cx="5" cy="5"/>
            </a:xfrm>
            <a:custGeom>
              <a:avLst/>
              <a:gdLst/>
              <a:ahLst/>
              <a:cxnLst>
                <a:cxn ang="0">
                  <a:pos x="4" y="0"/>
                </a:cxn>
                <a:cxn ang="0">
                  <a:pos x="1" y="5"/>
                </a:cxn>
                <a:cxn ang="0">
                  <a:pos x="0" y="4"/>
                </a:cxn>
                <a:cxn ang="0">
                  <a:pos x="4" y="0"/>
                </a:cxn>
              </a:cxnLst>
              <a:rect l="0" t="0" r="r" b="b"/>
              <a:pathLst>
                <a:path w="4" h="5">
                  <a:moveTo>
                    <a:pt x="4" y="0"/>
                  </a:moveTo>
                  <a:lnTo>
                    <a:pt x="1" y="5"/>
                  </a:lnTo>
                  <a:lnTo>
                    <a:pt x="0" y="4"/>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0" name="Freeform 199"/>
            <p:cNvSpPr>
              <a:spLocks/>
            </p:cNvSpPr>
            <p:nvPr/>
          </p:nvSpPr>
          <p:spPr bwMode="auto">
            <a:xfrm>
              <a:off x="5464" y="3079"/>
              <a:ext cx="2" cy="4"/>
            </a:xfrm>
            <a:custGeom>
              <a:avLst/>
              <a:gdLst/>
              <a:ahLst/>
              <a:cxnLst>
                <a:cxn ang="0">
                  <a:pos x="2" y="1"/>
                </a:cxn>
                <a:cxn ang="0">
                  <a:pos x="2" y="0"/>
                </a:cxn>
                <a:cxn ang="0">
                  <a:pos x="0" y="5"/>
                </a:cxn>
                <a:cxn ang="0">
                  <a:pos x="2" y="1"/>
                </a:cxn>
              </a:cxnLst>
              <a:rect l="0" t="0" r="r" b="b"/>
              <a:pathLst>
                <a:path w="2" h="5">
                  <a:moveTo>
                    <a:pt x="2" y="1"/>
                  </a:moveTo>
                  <a:lnTo>
                    <a:pt x="2" y="0"/>
                  </a:lnTo>
                  <a:lnTo>
                    <a:pt x="0" y="5"/>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1" name="Freeform 200"/>
            <p:cNvSpPr>
              <a:spLocks/>
            </p:cNvSpPr>
            <p:nvPr/>
          </p:nvSpPr>
          <p:spPr bwMode="auto">
            <a:xfrm>
              <a:off x="2736" y="3043"/>
              <a:ext cx="233" cy="238"/>
            </a:xfrm>
            <a:custGeom>
              <a:avLst/>
              <a:gdLst/>
              <a:ahLst/>
              <a:cxnLst>
                <a:cxn ang="0">
                  <a:pos x="124" y="140"/>
                </a:cxn>
                <a:cxn ang="0">
                  <a:pos x="126" y="115"/>
                </a:cxn>
                <a:cxn ang="0">
                  <a:pos x="127" y="90"/>
                </a:cxn>
                <a:cxn ang="0">
                  <a:pos x="142" y="90"/>
                </a:cxn>
                <a:cxn ang="0">
                  <a:pos x="142" y="73"/>
                </a:cxn>
                <a:cxn ang="0">
                  <a:pos x="144" y="57"/>
                </a:cxn>
                <a:cxn ang="0">
                  <a:pos x="144" y="41"/>
                </a:cxn>
                <a:cxn ang="0">
                  <a:pos x="145" y="24"/>
                </a:cxn>
                <a:cxn ang="0">
                  <a:pos x="163" y="21"/>
                </a:cxn>
                <a:cxn ang="0">
                  <a:pos x="181" y="20"/>
                </a:cxn>
                <a:cxn ang="0">
                  <a:pos x="187" y="26"/>
                </a:cxn>
                <a:cxn ang="0">
                  <a:pos x="199" y="19"/>
                </a:cxn>
                <a:cxn ang="0">
                  <a:pos x="211" y="14"/>
                </a:cxn>
                <a:cxn ang="0">
                  <a:pos x="194" y="9"/>
                </a:cxn>
                <a:cxn ang="0">
                  <a:pos x="183" y="12"/>
                </a:cxn>
                <a:cxn ang="0">
                  <a:pos x="159" y="14"/>
                </a:cxn>
                <a:cxn ang="0">
                  <a:pos x="136" y="18"/>
                </a:cxn>
                <a:cxn ang="0">
                  <a:pos x="121" y="14"/>
                </a:cxn>
                <a:cxn ang="0">
                  <a:pos x="106" y="11"/>
                </a:cxn>
                <a:cxn ang="0">
                  <a:pos x="104" y="7"/>
                </a:cxn>
                <a:cxn ang="0">
                  <a:pos x="86" y="7"/>
                </a:cxn>
                <a:cxn ang="0">
                  <a:pos x="68" y="6"/>
                </a:cxn>
                <a:cxn ang="0">
                  <a:pos x="50" y="6"/>
                </a:cxn>
                <a:cxn ang="0">
                  <a:pos x="31" y="5"/>
                </a:cxn>
                <a:cxn ang="0">
                  <a:pos x="20" y="0"/>
                </a:cxn>
                <a:cxn ang="0">
                  <a:pos x="1" y="5"/>
                </a:cxn>
                <a:cxn ang="0">
                  <a:pos x="0" y="15"/>
                </a:cxn>
                <a:cxn ang="0">
                  <a:pos x="10" y="37"/>
                </a:cxn>
                <a:cxn ang="0">
                  <a:pos x="21" y="59"/>
                </a:cxn>
                <a:cxn ang="0">
                  <a:pos x="31" y="80"/>
                </a:cxn>
                <a:cxn ang="0">
                  <a:pos x="42" y="102"/>
                </a:cxn>
                <a:cxn ang="0">
                  <a:pos x="43" y="111"/>
                </a:cxn>
                <a:cxn ang="0">
                  <a:pos x="40" y="110"/>
                </a:cxn>
                <a:cxn ang="0">
                  <a:pos x="43" y="129"/>
                </a:cxn>
                <a:cxn ang="0">
                  <a:pos x="45" y="147"/>
                </a:cxn>
                <a:cxn ang="0">
                  <a:pos x="48" y="165"/>
                </a:cxn>
                <a:cxn ang="0">
                  <a:pos x="50" y="183"/>
                </a:cxn>
                <a:cxn ang="0">
                  <a:pos x="60" y="197"/>
                </a:cxn>
                <a:cxn ang="0">
                  <a:pos x="68" y="209"/>
                </a:cxn>
                <a:cxn ang="0">
                  <a:pos x="76" y="199"/>
                </a:cxn>
                <a:cxn ang="0">
                  <a:pos x="82" y="210"/>
                </a:cxn>
                <a:cxn ang="0">
                  <a:pos x="105" y="213"/>
                </a:cxn>
                <a:cxn ang="0">
                  <a:pos x="118" y="207"/>
                </a:cxn>
                <a:cxn ang="0">
                  <a:pos x="121" y="191"/>
                </a:cxn>
                <a:cxn ang="0">
                  <a:pos x="122" y="174"/>
                </a:cxn>
                <a:cxn ang="0">
                  <a:pos x="123" y="157"/>
                </a:cxn>
                <a:cxn ang="0">
                  <a:pos x="124" y="140"/>
                </a:cxn>
              </a:cxnLst>
              <a:rect l="0" t="0" r="r" b="b"/>
              <a:pathLst>
                <a:path w="211" h="213">
                  <a:moveTo>
                    <a:pt x="124" y="140"/>
                  </a:moveTo>
                  <a:lnTo>
                    <a:pt x="126" y="115"/>
                  </a:lnTo>
                  <a:lnTo>
                    <a:pt x="127" y="90"/>
                  </a:lnTo>
                  <a:lnTo>
                    <a:pt x="142" y="90"/>
                  </a:lnTo>
                  <a:lnTo>
                    <a:pt x="142" y="73"/>
                  </a:lnTo>
                  <a:lnTo>
                    <a:pt x="144" y="57"/>
                  </a:lnTo>
                  <a:lnTo>
                    <a:pt x="144" y="41"/>
                  </a:lnTo>
                  <a:lnTo>
                    <a:pt x="145" y="24"/>
                  </a:lnTo>
                  <a:lnTo>
                    <a:pt x="163" y="21"/>
                  </a:lnTo>
                  <a:lnTo>
                    <a:pt x="181" y="20"/>
                  </a:lnTo>
                  <a:lnTo>
                    <a:pt x="187" y="26"/>
                  </a:lnTo>
                  <a:lnTo>
                    <a:pt x="199" y="19"/>
                  </a:lnTo>
                  <a:lnTo>
                    <a:pt x="211" y="14"/>
                  </a:lnTo>
                  <a:lnTo>
                    <a:pt x="194" y="9"/>
                  </a:lnTo>
                  <a:lnTo>
                    <a:pt x="183" y="12"/>
                  </a:lnTo>
                  <a:lnTo>
                    <a:pt x="159" y="14"/>
                  </a:lnTo>
                  <a:lnTo>
                    <a:pt x="136" y="18"/>
                  </a:lnTo>
                  <a:lnTo>
                    <a:pt x="121" y="14"/>
                  </a:lnTo>
                  <a:lnTo>
                    <a:pt x="106" y="11"/>
                  </a:lnTo>
                  <a:lnTo>
                    <a:pt x="104" y="7"/>
                  </a:lnTo>
                  <a:lnTo>
                    <a:pt x="86" y="7"/>
                  </a:lnTo>
                  <a:lnTo>
                    <a:pt x="68" y="6"/>
                  </a:lnTo>
                  <a:lnTo>
                    <a:pt x="50" y="6"/>
                  </a:lnTo>
                  <a:lnTo>
                    <a:pt x="31" y="5"/>
                  </a:lnTo>
                  <a:lnTo>
                    <a:pt x="20" y="0"/>
                  </a:lnTo>
                  <a:lnTo>
                    <a:pt x="1" y="5"/>
                  </a:lnTo>
                  <a:lnTo>
                    <a:pt x="0" y="15"/>
                  </a:lnTo>
                  <a:lnTo>
                    <a:pt x="10" y="37"/>
                  </a:lnTo>
                  <a:lnTo>
                    <a:pt x="21" y="59"/>
                  </a:lnTo>
                  <a:lnTo>
                    <a:pt x="31" y="80"/>
                  </a:lnTo>
                  <a:lnTo>
                    <a:pt x="42" y="102"/>
                  </a:lnTo>
                  <a:lnTo>
                    <a:pt x="43" y="111"/>
                  </a:lnTo>
                  <a:lnTo>
                    <a:pt x="40" y="110"/>
                  </a:lnTo>
                  <a:lnTo>
                    <a:pt x="43" y="129"/>
                  </a:lnTo>
                  <a:lnTo>
                    <a:pt x="45" y="147"/>
                  </a:lnTo>
                  <a:lnTo>
                    <a:pt x="48" y="165"/>
                  </a:lnTo>
                  <a:lnTo>
                    <a:pt x="50" y="183"/>
                  </a:lnTo>
                  <a:lnTo>
                    <a:pt x="60" y="197"/>
                  </a:lnTo>
                  <a:lnTo>
                    <a:pt x="68" y="209"/>
                  </a:lnTo>
                  <a:lnTo>
                    <a:pt x="76" y="199"/>
                  </a:lnTo>
                  <a:lnTo>
                    <a:pt x="82" y="210"/>
                  </a:lnTo>
                  <a:lnTo>
                    <a:pt x="105" y="213"/>
                  </a:lnTo>
                  <a:lnTo>
                    <a:pt x="118" y="207"/>
                  </a:lnTo>
                  <a:lnTo>
                    <a:pt x="121" y="191"/>
                  </a:lnTo>
                  <a:lnTo>
                    <a:pt x="122" y="174"/>
                  </a:lnTo>
                  <a:lnTo>
                    <a:pt x="123" y="157"/>
                  </a:lnTo>
                  <a:lnTo>
                    <a:pt x="124" y="14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2" name="Freeform 201"/>
            <p:cNvSpPr>
              <a:spLocks/>
            </p:cNvSpPr>
            <p:nvPr/>
          </p:nvSpPr>
          <p:spPr bwMode="auto">
            <a:xfrm>
              <a:off x="2873" y="3061"/>
              <a:ext cx="163" cy="180"/>
            </a:xfrm>
            <a:custGeom>
              <a:avLst/>
              <a:gdLst/>
              <a:ahLst/>
              <a:cxnLst>
                <a:cxn ang="0">
                  <a:pos x="0" y="126"/>
                </a:cxn>
                <a:cxn ang="0">
                  <a:pos x="2" y="101"/>
                </a:cxn>
                <a:cxn ang="0">
                  <a:pos x="3" y="76"/>
                </a:cxn>
                <a:cxn ang="0">
                  <a:pos x="18" y="76"/>
                </a:cxn>
                <a:cxn ang="0">
                  <a:pos x="18" y="59"/>
                </a:cxn>
                <a:cxn ang="0">
                  <a:pos x="20" y="43"/>
                </a:cxn>
                <a:cxn ang="0">
                  <a:pos x="20" y="27"/>
                </a:cxn>
                <a:cxn ang="0">
                  <a:pos x="21" y="10"/>
                </a:cxn>
                <a:cxn ang="0">
                  <a:pos x="39" y="7"/>
                </a:cxn>
                <a:cxn ang="0">
                  <a:pos x="57" y="6"/>
                </a:cxn>
                <a:cxn ang="0">
                  <a:pos x="63" y="12"/>
                </a:cxn>
                <a:cxn ang="0">
                  <a:pos x="75" y="5"/>
                </a:cxn>
                <a:cxn ang="0">
                  <a:pos x="87" y="0"/>
                </a:cxn>
                <a:cxn ang="0">
                  <a:pos x="96" y="18"/>
                </a:cxn>
                <a:cxn ang="0">
                  <a:pos x="106" y="36"/>
                </a:cxn>
                <a:cxn ang="0">
                  <a:pos x="117" y="45"/>
                </a:cxn>
                <a:cxn ang="0">
                  <a:pos x="120" y="48"/>
                </a:cxn>
                <a:cxn ang="0">
                  <a:pos x="124" y="54"/>
                </a:cxn>
                <a:cxn ang="0">
                  <a:pos x="129" y="69"/>
                </a:cxn>
                <a:cxn ang="0">
                  <a:pos x="143" y="75"/>
                </a:cxn>
                <a:cxn ang="0">
                  <a:pos x="147" y="78"/>
                </a:cxn>
                <a:cxn ang="0">
                  <a:pos x="146" y="79"/>
                </a:cxn>
                <a:cxn ang="0">
                  <a:pos x="125" y="93"/>
                </a:cxn>
                <a:cxn ang="0">
                  <a:pos x="110" y="107"/>
                </a:cxn>
                <a:cxn ang="0">
                  <a:pos x="101" y="123"/>
                </a:cxn>
                <a:cxn ang="0">
                  <a:pos x="92" y="129"/>
                </a:cxn>
                <a:cxn ang="0">
                  <a:pos x="83" y="143"/>
                </a:cxn>
                <a:cxn ang="0">
                  <a:pos x="59" y="141"/>
                </a:cxn>
                <a:cxn ang="0">
                  <a:pos x="47" y="136"/>
                </a:cxn>
                <a:cxn ang="0">
                  <a:pos x="39" y="148"/>
                </a:cxn>
                <a:cxn ang="0">
                  <a:pos x="32" y="160"/>
                </a:cxn>
                <a:cxn ang="0">
                  <a:pos x="15" y="162"/>
                </a:cxn>
                <a:cxn ang="0">
                  <a:pos x="9" y="160"/>
                </a:cxn>
                <a:cxn ang="0">
                  <a:pos x="11" y="143"/>
                </a:cxn>
                <a:cxn ang="0">
                  <a:pos x="0" y="126"/>
                </a:cxn>
              </a:cxnLst>
              <a:rect l="0" t="0" r="r" b="b"/>
              <a:pathLst>
                <a:path w="147" h="162">
                  <a:moveTo>
                    <a:pt x="0" y="126"/>
                  </a:moveTo>
                  <a:lnTo>
                    <a:pt x="2" y="101"/>
                  </a:lnTo>
                  <a:lnTo>
                    <a:pt x="3" y="76"/>
                  </a:lnTo>
                  <a:lnTo>
                    <a:pt x="18" y="76"/>
                  </a:lnTo>
                  <a:lnTo>
                    <a:pt x="18" y="59"/>
                  </a:lnTo>
                  <a:lnTo>
                    <a:pt x="20" y="43"/>
                  </a:lnTo>
                  <a:lnTo>
                    <a:pt x="20" y="27"/>
                  </a:lnTo>
                  <a:lnTo>
                    <a:pt x="21" y="10"/>
                  </a:lnTo>
                  <a:lnTo>
                    <a:pt x="39" y="7"/>
                  </a:lnTo>
                  <a:lnTo>
                    <a:pt x="57" y="6"/>
                  </a:lnTo>
                  <a:lnTo>
                    <a:pt x="63" y="12"/>
                  </a:lnTo>
                  <a:lnTo>
                    <a:pt x="75" y="5"/>
                  </a:lnTo>
                  <a:lnTo>
                    <a:pt x="87" y="0"/>
                  </a:lnTo>
                  <a:lnTo>
                    <a:pt x="96" y="18"/>
                  </a:lnTo>
                  <a:lnTo>
                    <a:pt x="106" y="36"/>
                  </a:lnTo>
                  <a:lnTo>
                    <a:pt x="117" y="45"/>
                  </a:lnTo>
                  <a:lnTo>
                    <a:pt x="120" y="48"/>
                  </a:lnTo>
                  <a:lnTo>
                    <a:pt x="124" y="54"/>
                  </a:lnTo>
                  <a:lnTo>
                    <a:pt x="129" y="69"/>
                  </a:lnTo>
                  <a:lnTo>
                    <a:pt x="143" y="75"/>
                  </a:lnTo>
                  <a:lnTo>
                    <a:pt x="147" y="78"/>
                  </a:lnTo>
                  <a:lnTo>
                    <a:pt x="146" y="79"/>
                  </a:lnTo>
                  <a:lnTo>
                    <a:pt x="125" y="93"/>
                  </a:lnTo>
                  <a:lnTo>
                    <a:pt x="110" y="107"/>
                  </a:lnTo>
                  <a:lnTo>
                    <a:pt x="101" y="123"/>
                  </a:lnTo>
                  <a:lnTo>
                    <a:pt x="92" y="129"/>
                  </a:lnTo>
                  <a:lnTo>
                    <a:pt x="83" y="143"/>
                  </a:lnTo>
                  <a:lnTo>
                    <a:pt x="59" y="141"/>
                  </a:lnTo>
                  <a:lnTo>
                    <a:pt x="47" y="136"/>
                  </a:lnTo>
                  <a:lnTo>
                    <a:pt x="39" y="148"/>
                  </a:lnTo>
                  <a:lnTo>
                    <a:pt x="32" y="160"/>
                  </a:lnTo>
                  <a:lnTo>
                    <a:pt x="15" y="162"/>
                  </a:lnTo>
                  <a:lnTo>
                    <a:pt x="9" y="160"/>
                  </a:lnTo>
                  <a:lnTo>
                    <a:pt x="11" y="143"/>
                  </a:lnTo>
                  <a:lnTo>
                    <a:pt x="0" y="1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3" name="Freeform 202"/>
            <p:cNvSpPr>
              <a:spLocks/>
            </p:cNvSpPr>
            <p:nvPr/>
          </p:nvSpPr>
          <p:spPr bwMode="auto">
            <a:xfrm>
              <a:off x="3289" y="2934"/>
              <a:ext cx="4" cy="9"/>
            </a:xfrm>
            <a:custGeom>
              <a:avLst/>
              <a:gdLst/>
              <a:ahLst/>
              <a:cxnLst>
                <a:cxn ang="0">
                  <a:pos x="3" y="9"/>
                </a:cxn>
                <a:cxn ang="0">
                  <a:pos x="3" y="7"/>
                </a:cxn>
                <a:cxn ang="0">
                  <a:pos x="0" y="0"/>
                </a:cxn>
                <a:cxn ang="0">
                  <a:pos x="3" y="9"/>
                </a:cxn>
              </a:cxnLst>
              <a:rect l="0" t="0" r="r" b="b"/>
              <a:pathLst>
                <a:path w="3" h="9">
                  <a:moveTo>
                    <a:pt x="3" y="9"/>
                  </a:moveTo>
                  <a:lnTo>
                    <a:pt x="3" y="7"/>
                  </a:lnTo>
                  <a:lnTo>
                    <a:pt x="0" y="0"/>
                  </a:lnTo>
                  <a:lnTo>
                    <a:pt x="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4" name="Freeform 203"/>
            <p:cNvSpPr>
              <a:spLocks/>
            </p:cNvSpPr>
            <p:nvPr/>
          </p:nvSpPr>
          <p:spPr bwMode="auto">
            <a:xfrm>
              <a:off x="2989" y="3276"/>
              <a:ext cx="40" cy="40"/>
            </a:xfrm>
            <a:custGeom>
              <a:avLst/>
              <a:gdLst/>
              <a:ahLst/>
              <a:cxnLst>
                <a:cxn ang="0">
                  <a:pos x="15" y="3"/>
                </a:cxn>
                <a:cxn ang="0">
                  <a:pos x="0" y="19"/>
                </a:cxn>
                <a:cxn ang="0">
                  <a:pos x="11" y="35"/>
                </a:cxn>
                <a:cxn ang="0">
                  <a:pos x="17" y="30"/>
                </a:cxn>
                <a:cxn ang="0">
                  <a:pos x="32" y="19"/>
                </a:cxn>
                <a:cxn ang="0">
                  <a:pos x="35" y="7"/>
                </a:cxn>
                <a:cxn ang="0">
                  <a:pos x="21" y="0"/>
                </a:cxn>
                <a:cxn ang="0">
                  <a:pos x="15" y="3"/>
                </a:cxn>
              </a:cxnLst>
              <a:rect l="0" t="0" r="r" b="b"/>
              <a:pathLst>
                <a:path w="35" h="35">
                  <a:moveTo>
                    <a:pt x="15" y="3"/>
                  </a:moveTo>
                  <a:lnTo>
                    <a:pt x="0" y="19"/>
                  </a:lnTo>
                  <a:lnTo>
                    <a:pt x="11" y="35"/>
                  </a:lnTo>
                  <a:lnTo>
                    <a:pt x="17" y="30"/>
                  </a:lnTo>
                  <a:lnTo>
                    <a:pt x="32" y="19"/>
                  </a:lnTo>
                  <a:lnTo>
                    <a:pt x="35" y="7"/>
                  </a:lnTo>
                  <a:lnTo>
                    <a:pt x="21" y="0"/>
                  </a:lnTo>
                  <a:lnTo>
                    <a:pt x="1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5" name="Freeform 204"/>
            <p:cNvSpPr>
              <a:spLocks/>
            </p:cNvSpPr>
            <p:nvPr/>
          </p:nvSpPr>
          <p:spPr bwMode="auto">
            <a:xfrm>
              <a:off x="3278" y="2947"/>
              <a:ext cx="135" cy="267"/>
            </a:xfrm>
            <a:custGeom>
              <a:avLst/>
              <a:gdLst/>
              <a:ahLst/>
              <a:cxnLst>
                <a:cxn ang="0">
                  <a:pos x="44" y="69"/>
                </a:cxn>
                <a:cxn ang="0">
                  <a:pos x="38" y="70"/>
                </a:cxn>
                <a:cxn ang="0">
                  <a:pos x="24" y="77"/>
                </a:cxn>
                <a:cxn ang="0">
                  <a:pos x="20" y="91"/>
                </a:cxn>
                <a:cxn ang="0">
                  <a:pos x="17" y="106"/>
                </a:cxn>
                <a:cxn ang="0">
                  <a:pos x="19" y="124"/>
                </a:cxn>
                <a:cxn ang="0">
                  <a:pos x="22" y="142"/>
                </a:cxn>
                <a:cxn ang="0">
                  <a:pos x="13" y="154"/>
                </a:cxn>
                <a:cxn ang="0">
                  <a:pos x="5" y="166"/>
                </a:cxn>
                <a:cxn ang="0">
                  <a:pos x="0" y="190"/>
                </a:cxn>
                <a:cxn ang="0">
                  <a:pos x="4" y="210"/>
                </a:cxn>
                <a:cxn ang="0">
                  <a:pos x="10" y="233"/>
                </a:cxn>
                <a:cxn ang="0">
                  <a:pos x="30" y="241"/>
                </a:cxn>
                <a:cxn ang="0">
                  <a:pos x="43" y="235"/>
                </a:cxn>
                <a:cxn ang="0">
                  <a:pos x="58" y="228"/>
                </a:cxn>
                <a:cxn ang="0">
                  <a:pos x="62" y="211"/>
                </a:cxn>
                <a:cxn ang="0">
                  <a:pos x="68" y="195"/>
                </a:cxn>
                <a:cxn ang="0">
                  <a:pos x="74" y="179"/>
                </a:cxn>
                <a:cxn ang="0">
                  <a:pos x="80" y="162"/>
                </a:cxn>
                <a:cxn ang="0">
                  <a:pos x="85" y="147"/>
                </a:cxn>
                <a:cxn ang="0">
                  <a:pos x="91" y="130"/>
                </a:cxn>
                <a:cxn ang="0">
                  <a:pos x="97" y="113"/>
                </a:cxn>
                <a:cxn ang="0">
                  <a:pos x="102" y="97"/>
                </a:cxn>
                <a:cxn ang="0">
                  <a:pos x="109" y="85"/>
                </a:cxn>
                <a:cxn ang="0">
                  <a:pos x="108" y="60"/>
                </a:cxn>
                <a:cxn ang="0">
                  <a:pos x="118" y="67"/>
                </a:cxn>
                <a:cxn ang="0">
                  <a:pos x="121" y="58"/>
                </a:cxn>
                <a:cxn ang="0">
                  <a:pos x="116" y="35"/>
                </a:cxn>
                <a:cxn ang="0">
                  <a:pos x="110" y="13"/>
                </a:cxn>
                <a:cxn ang="0">
                  <a:pos x="106" y="0"/>
                </a:cxn>
                <a:cxn ang="0">
                  <a:pos x="102" y="0"/>
                </a:cxn>
                <a:cxn ang="0">
                  <a:pos x="98" y="6"/>
                </a:cxn>
                <a:cxn ang="0">
                  <a:pos x="95" y="24"/>
                </a:cxn>
                <a:cxn ang="0">
                  <a:pos x="89" y="28"/>
                </a:cxn>
                <a:cxn ang="0">
                  <a:pos x="86" y="30"/>
                </a:cxn>
                <a:cxn ang="0">
                  <a:pos x="82" y="28"/>
                </a:cxn>
                <a:cxn ang="0">
                  <a:pos x="83" y="37"/>
                </a:cxn>
                <a:cxn ang="0">
                  <a:pos x="79" y="45"/>
                </a:cxn>
                <a:cxn ang="0">
                  <a:pos x="82" y="47"/>
                </a:cxn>
                <a:cxn ang="0">
                  <a:pos x="73" y="52"/>
                </a:cxn>
                <a:cxn ang="0">
                  <a:pos x="73" y="47"/>
                </a:cxn>
                <a:cxn ang="0">
                  <a:pos x="68" y="59"/>
                </a:cxn>
                <a:cxn ang="0">
                  <a:pos x="66" y="59"/>
                </a:cxn>
                <a:cxn ang="0">
                  <a:pos x="62" y="58"/>
                </a:cxn>
                <a:cxn ang="0">
                  <a:pos x="56" y="67"/>
                </a:cxn>
                <a:cxn ang="0">
                  <a:pos x="44" y="69"/>
                </a:cxn>
              </a:cxnLst>
              <a:rect l="0" t="0" r="r" b="b"/>
              <a:pathLst>
                <a:path w="121" h="241">
                  <a:moveTo>
                    <a:pt x="44" y="69"/>
                  </a:moveTo>
                  <a:lnTo>
                    <a:pt x="38" y="70"/>
                  </a:lnTo>
                  <a:lnTo>
                    <a:pt x="24" y="77"/>
                  </a:lnTo>
                  <a:lnTo>
                    <a:pt x="20" y="91"/>
                  </a:lnTo>
                  <a:lnTo>
                    <a:pt x="17" y="106"/>
                  </a:lnTo>
                  <a:lnTo>
                    <a:pt x="19" y="124"/>
                  </a:lnTo>
                  <a:lnTo>
                    <a:pt x="22" y="142"/>
                  </a:lnTo>
                  <a:lnTo>
                    <a:pt x="13" y="154"/>
                  </a:lnTo>
                  <a:lnTo>
                    <a:pt x="5" y="166"/>
                  </a:lnTo>
                  <a:lnTo>
                    <a:pt x="0" y="190"/>
                  </a:lnTo>
                  <a:lnTo>
                    <a:pt x="4" y="210"/>
                  </a:lnTo>
                  <a:lnTo>
                    <a:pt x="10" y="233"/>
                  </a:lnTo>
                  <a:lnTo>
                    <a:pt x="30" y="241"/>
                  </a:lnTo>
                  <a:lnTo>
                    <a:pt x="43" y="235"/>
                  </a:lnTo>
                  <a:lnTo>
                    <a:pt x="58" y="228"/>
                  </a:lnTo>
                  <a:lnTo>
                    <a:pt x="62" y="211"/>
                  </a:lnTo>
                  <a:lnTo>
                    <a:pt x="68" y="195"/>
                  </a:lnTo>
                  <a:lnTo>
                    <a:pt x="74" y="179"/>
                  </a:lnTo>
                  <a:lnTo>
                    <a:pt x="80" y="162"/>
                  </a:lnTo>
                  <a:lnTo>
                    <a:pt x="85" y="147"/>
                  </a:lnTo>
                  <a:lnTo>
                    <a:pt x="91" y="130"/>
                  </a:lnTo>
                  <a:lnTo>
                    <a:pt x="97" y="113"/>
                  </a:lnTo>
                  <a:lnTo>
                    <a:pt x="102" y="97"/>
                  </a:lnTo>
                  <a:lnTo>
                    <a:pt x="109" y="85"/>
                  </a:lnTo>
                  <a:lnTo>
                    <a:pt x="108" y="60"/>
                  </a:lnTo>
                  <a:lnTo>
                    <a:pt x="118" y="67"/>
                  </a:lnTo>
                  <a:lnTo>
                    <a:pt x="121" y="58"/>
                  </a:lnTo>
                  <a:lnTo>
                    <a:pt x="116" y="35"/>
                  </a:lnTo>
                  <a:lnTo>
                    <a:pt x="110" y="13"/>
                  </a:lnTo>
                  <a:lnTo>
                    <a:pt x="106" y="0"/>
                  </a:lnTo>
                  <a:lnTo>
                    <a:pt x="102" y="0"/>
                  </a:lnTo>
                  <a:lnTo>
                    <a:pt x="98" y="6"/>
                  </a:lnTo>
                  <a:lnTo>
                    <a:pt x="95" y="24"/>
                  </a:lnTo>
                  <a:lnTo>
                    <a:pt x="89" y="28"/>
                  </a:lnTo>
                  <a:lnTo>
                    <a:pt x="86" y="30"/>
                  </a:lnTo>
                  <a:lnTo>
                    <a:pt x="82" y="28"/>
                  </a:lnTo>
                  <a:lnTo>
                    <a:pt x="83" y="37"/>
                  </a:lnTo>
                  <a:lnTo>
                    <a:pt x="79" y="45"/>
                  </a:lnTo>
                  <a:lnTo>
                    <a:pt x="82" y="47"/>
                  </a:lnTo>
                  <a:lnTo>
                    <a:pt x="73" y="52"/>
                  </a:lnTo>
                  <a:lnTo>
                    <a:pt x="73" y="47"/>
                  </a:lnTo>
                  <a:lnTo>
                    <a:pt x="68" y="59"/>
                  </a:lnTo>
                  <a:lnTo>
                    <a:pt x="66" y="59"/>
                  </a:lnTo>
                  <a:lnTo>
                    <a:pt x="62" y="58"/>
                  </a:lnTo>
                  <a:lnTo>
                    <a:pt x="56" y="67"/>
                  </a:lnTo>
                  <a:lnTo>
                    <a:pt x="44"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6" name="Freeform 205"/>
            <p:cNvSpPr>
              <a:spLocks/>
            </p:cNvSpPr>
            <p:nvPr/>
          </p:nvSpPr>
          <p:spPr bwMode="auto">
            <a:xfrm>
              <a:off x="3102" y="2894"/>
              <a:ext cx="56" cy="153"/>
            </a:xfrm>
            <a:custGeom>
              <a:avLst/>
              <a:gdLst/>
              <a:ahLst/>
              <a:cxnLst>
                <a:cxn ang="0">
                  <a:pos x="29" y="97"/>
                </a:cxn>
                <a:cxn ang="0">
                  <a:pos x="23" y="115"/>
                </a:cxn>
                <a:cxn ang="0">
                  <a:pos x="30" y="127"/>
                </a:cxn>
                <a:cxn ang="0">
                  <a:pos x="37" y="138"/>
                </a:cxn>
                <a:cxn ang="0">
                  <a:pos x="36" y="129"/>
                </a:cxn>
                <a:cxn ang="0">
                  <a:pos x="44" y="120"/>
                </a:cxn>
                <a:cxn ang="0">
                  <a:pos x="47" y="107"/>
                </a:cxn>
                <a:cxn ang="0">
                  <a:pos x="49" y="94"/>
                </a:cxn>
                <a:cxn ang="0">
                  <a:pos x="39" y="84"/>
                </a:cxn>
                <a:cxn ang="0">
                  <a:pos x="30" y="73"/>
                </a:cxn>
                <a:cxn ang="0">
                  <a:pos x="27" y="55"/>
                </a:cxn>
                <a:cxn ang="0">
                  <a:pos x="31" y="42"/>
                </a:cxn>
                <a:cxn ang="0">
                  <a:pos x="36" y="39"/>
                </a:cxn>
                <a:cxn ang="0">
                  <a:pos x="37" y="39"/>
                </a:cxn>
                <a:cxn ang="0">
                  <a:pos x="32" y="24"/>
                </a:cxn>
                <a:cxn ang="0">
                  <a:pos x="27" y="6"/>
                </a:cxn>
                <a:cxn ang="0">
                  <a:pos x="21" y="3"/>
                </a:cxn>
                <a:cxn ang="0">
                  <a:pos x="6" y="0"/>
                </a:cxn>
                <a:cxn ang="0">
                  <a:pos x="7" y="4"/>
                </a:cxn>
                <a:cxn ang="0">
                  <a:pos x="17" y="18"/>
                </a:cxn>
                <a:cxn ang="0">
                  <a:pos x="13" y="25"/>
                </a:cxn>
                <a:cxn ang="0">
                  <a:pos x="12" y="39"/>
                </a:cxn>
                <a:cxn ang="0">
                  <a:pos x="11" y="53"/>
                </a:cxn>
                <a:cxn ang="0">
                  <a:pos x="8" y="58"/>
                </a:cxn>
                <a:cxn ang="0">
                  <a:pos x="0" y="75"/>
                </a:cxn>
                <a:cxn ang="0">
                  <a:pos x="7" y="83"/>
                </a:cxn>
                <a:cxn ang="0">
                  <a:pos x="13" y="90"/>
                </a:cxn>
                <a:cxn ang="0">
                  <a:pos x="23" y="90"/>
                </a:cxn>
                <a:cxn ang="0">
                  <a:pos x="29" y="97"/>
                </a:cxn>
              </a:cxnLst>
              <a:rect l="0" t="0" r="r" b="b"/>
              <a:pathLst>
                <a:path w="49" h="138">
                  <a:moveTo>
                    <a:pt x="29" y="97"/>
                  </a:moveTo>
                  <a:lnTo>
                    <a:pt x="23" y="115"/>
                  </a:lnTo>
                  <a:lnTo>
                    <a:pt x="30" y="127"/>
                  </a:lnTo>
                  <a:lnTo>
                    <a:pt x="37" y="138"/>
                  </a:lnTo>
                  <a:lnTo>
                    <a:pt x="36" y="129"/>
                  </a:lnTo>
                  <a:lnTo>
                    <a:pt x="44" y="120"/>
                  </a:lnTo>
                  <a:lnTo>
                    <a:pt x="47" y="107"/>
                  </a:lnTo>
                  <a:lnTo>
                    <a:pt x="49" y="94"/>
                  </a:lnTo>
                  <a:lnTo>
                    <a:pt x="39" y="84"/>
                  </a:lnTo>
                  <a:lnTo>
                    <a:pt x="30" y="73"/>
                  </a:lnTo>
                  <a:lnTo>
                    <a:pt x="27" y="55"/>
                  </a:lnTo>
                  <a:lnTo>
                    <a:pt x="31" y="42"/>
                  </a:lnTo>
                  <a:lnTo>
                    <a:pt x="36" y="39"/>
                  </a:lnTo>
                  <a:lnTo>
                    <a:pt x="37" y="39"/>
                  </a:lnTo>
                  <a:lnTo>
                    <a:pt x="32" y="24"/>
                  </a:lnTo>
                  <a:lnTo>
                    <a:pt x="27" y="6"/>
                  </a:lnTo>
                  <a:lnTo>
                    <a:pt x="21" y="3"/>
                  </a:lnTo>
                  <a:lnTo>
                    <a:pt x="6" y="0"/>
                  </a:lnTo>
                  <a:lnTo>
                    <a:pt x="7" y="4"/>
                  </a:lnTo>
                  <a:lnTo>
                    <a:pt x="17" y="18"/>
                  </a:lnTo>
                  <a:lnTo>
                    <a:pt x="13" y="25"/>
                  </a:lnTo>
                  <a:lnTo>
                    <a:pt x="12" y="39"/>
                  </a:lnTo>
                  <a:lnTo>
                    <a:pt x="11" y="53"/>
                  </a:lnTo>
                  <a:lnTo>
                    <a:pt x="8" y="58"/>
                  </a:lnTo>
                  <a:lnTo>
                    <a:pt x="0" y="75"/>
                  </a:lnTo>
                  <a:lnTo>
                    <a:pt x="7" y="83"/>
                  </a:lnTo>
                  <a:lnTo>
                    <a:pt x="13" y="90"/>
                  </a:lnTo>
                  <a:lnTo>
                    <a:pt x="23" y="90"/>
                  </a:lnTo>
                  <a:lnTo>
                    <a:pt x="29" y="9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7" name="Freeform 206"/>
            <p:cNvSpPr>
              <a:spLocks/>
            </p:cNvSpPr>
            <p:nvPr/>
          </p:nvSpPr>
          <p:spPr bwMode="auto">
            <a:xfrm>
              <a:off x="3060" y="2914"/>
              <a:ext cx="182" cy="327"/>
            </a:xfrm>
            <a:custGeom>
              <a:avLst/>
              <a:gdLst/>
              <a:ahLst/>
              <a:cxnLst>
                <a:cxn ang="0">
                  <a:pos x="66" y="172"/>
                </a:cxn>
                <a:cxn ang="0">
                  <a:pos x="72" y="166"/>
                </a:cxn>
                <a:cxn ang="0">
                  <a:pos x="102" y="136"/>
                </a:cxn>
                <a:cxn ang="0">
                  <a:pos x="130" y="119"/>
                </a:cxn>
                <a:cxn ang="0">
                  <a:pos x="162" y="84"/>
                </a:cxn>
                <a:cxn ang="0">
                  <a:pos x="165" y="71"/>
                </a:cxn>
                <a:cxn ang="0">
                  <a:pos x="165" y="38"/>
                </a:cxn>
                <a:cxn ang="0">
                  <a:pos x="165" y="0"/>
                </a:cxn>
                <a:cxn ang="0">
                  <a:pos x="147" y="9"/>
                </a:cxn>
                <a:cxn ang="0">
                  <a:pos x="123" y="17"/>
                </a:cxn>
                <a:cxn ang="0">
                  <a:pos x="93" y="18"/>
                </a:cxn>
                <a:cxn ang="0">
                  <a:pos x="76" y="20"/>
                </a:cxn>
                <a:cxn ang="0">
                  <a:pos x="67" y="36"/>
                </a:cxn>
                <a:cxn ang="0">
                  <a:pos x="79" y="65"/>
                </a:cxn>
                <a:cxn ang="0">
                  <a:pos x="87" y="88"/>
                </a:cxn>
                <a:cxn ang="0">
                  <a:pos x="76" y="110"/>
                </a:cxn>
                <a:cxn ang="0">
                  <a:pos x="70" y="108"/>
                </a:cxn>
                <a:cxn ang="0">
                  <a:pos x="69" y="78"/>
                </a:cxn>
                <a:cxn ang="0">
                  <a:pos x="53" y="71"/>
                </a:cxn>
                <a:cxn ang="0">
                  <a:pos x="35" y="69"/>
                </a:cxn>
                <a:cxn ang="0">
                  <a:pos x="12" y="78"/>
                </a:cxn>
                <a:cxn ang="0">
                  <a:pos x="3" y="93"/>
                </a:cxn>
                <a:cxn ang="0">
                  <a:pos x="10" y="99"/>
                </a:cxn>
                <a:cxn ang="0">
                  <a:pos x="41" y="112"/>
                </a:cxn>
                <a:cxn ang="0">
                  <a:pos x="37" y="149"/>
                </a:cxn>
                <a:cxn ang="0">
                  <a:pos x="34" y="182"/>
                </a:cxn>
                <a:cxn ang="0">
                  <a:pos x="21" y="206"/>
                </a:cxn>
                <a:cxn ang="0">
                  <a:pos x="13" y="227"/>
                </a:cxn>
                <a:cxn ang="0">
                  <a:pos x="17" y="260"/>
                </a:cxn>
                <a:cxn ang="0">
                  <a:pos x="19" y="294"/>
                </a:cxn>
                <a:cxn ang="0">
                  <a:pos x="31" y="282"/>
                </a:cxn>
                <a:cxn ang="0">
                  <a:pos x="46" y="263"/>
                </a:cxn>
                <a:cxn ang="0">
                  <a:pos x="72" y="248"/>
                </a:cxn>
                <a:cxn ang="0">
                  <a:pos x="75" y="225"/>
                </a:cxn>
                <a:cxn ang="0">
                  <a:pos x="73" y="214"/>
                </a:cxn>
                <a:cxn ang="0">
                  <a:pos x="69" y="184"/>
                </a:cxn>
              </a:cxnLst>
              <a:rect l="0" t="0" r="r" b="b"/>
              <a:pathLst>
                <a:path w="166" h="294">
                  <a:moveTo>
                    <a:pt x="69" y="184"/>
                  </a:moveTo>
                  <a:lnTo>
                    <a:pt x="66" y="172"/>
                  </a:lnTo>
                  <a:lnTo>
                    <a:pt x="66" y="166"/>
                  </a:lnTo>
                  <a:lnTo>
                    <a:pt x="72" y="166"/>
                  </a:lnTo>
                  <a:lnTo>
                    <a:pt x="90" y="152"/>
                  </a:lnTo>
                  <a:lnTo>
                    <a:pt x="102" y="136"/>
                  </a:lnTo>
                  <a:lnTo>
                    <a:pt x="115" y="128"/>
                  </a:lnTo>
                  <a:lnTo>
                    <a:pt x="130" y="119"/>
                  </a:lnTo>
                  <a:lnTo>
                    <a:pt x="149" y="107"/>
                  </a:lnTo>
                  <a:lnTo>
                    <a:pt x="162" y="84"/>
                  </a:lnTo>
                  <a:lnTo>
                    <a:pt x="166" y="71"/>
                  </a:lnTo>
                  <a:lnTo>
                    <a:pt x="165" y="71"/>
                  </a:lnTo>
                  <a:lnTo>
                    <a:pt x="162" y="46"/>
                  </a:lnTo>
                  <a:lnTo>
                    <a:pt x="165" y="38"/>
                  </a:lnTo>
                  <a:lnTo>
                    <a:pt x="163" y="12"/>
                  </a:lnTo>
                  <a:lnTo>
                    <a:pt x="165" y="0"/>
                  </a:lnTo>
                  <a:lnTo>
                    <a:pt x="163" y="0"/>
                  </a:lnTo>
                  <a:lnTo>
                    <a:pt x="147" y="9"/>
                  </a:lnTo>
                  <a:lnTo>
                    <a:pt x="131" y="16"/>
                  </a:lnTo>
                  <a:lnTo>
                    <a:pt x="123" y="17"/>
                  </a:lnTo>
                  <a:lnTo>
                    <a:pt x="111" y="22"/>
                  </a:lnTo>
                  <a:lnTo>
                    <a:pt x="93" y="18"/>
                  </a:lnTo>
                  <a:lnTo>
                    <a:pt x="83" y="20"/>
                  </a:lnTo>
                  <a:lnTo>
                    <a:pt x="76" y="20"/>
                  </a:lnTo>
                  <a:lnTo>
                    <a:pt x="71" y="23"/>
                  </a:lnTo>
                  <a:lnTo>
                    <a:pt x="67" y="36"/>
                  </a:lnTo>
                  <a:lnTo>
                    <a:pt x="70" y="54"/>
                  </a:lnTo>
                  <a:lnTo>
                    <a:pt x="79" y="65"/>
                  </a:lnTo>
                  <a:lnTo>
                    <a:pt x="89" y="75"/>
                  </a:lnTo>
                  <a:lnTo>
                    <a:pt x="87" y="88"/>
                  </a:lnTo>
                  <a:lnTo>
                    <a:pt x="84" y="101"/>
                  </a:lnTo>
                  <a:lnTo>
                    <a:pt x="76" y="110"/>
                  </a:lnTo>
                  <a:lnTo>
                    <a:pt x="77" y="119"/>
                  </a:lnTo>
                  <a:lnTo>
                    <a:pt x="70" y="108"/>
                  </a:lnTo>
                  <a:lnTo>
                    <a:pt x="63" y="96"/>
                  </a:lnTo>
                  <a:lnTo>
                    <a:pt x="69" y="78"/>
                  </a:lnTo>
                  <a:lnTo>
                    <a:pt x="63" y="71"/>
                  </a:lnTo>
                  <a:lnTo>
                    <a:pt x="53" y="71"/>
                  </a:lnTo>
                  <a:lnTo>
                    <a:pt x="47" y="64"/>
                  </a:lnTo>
                  <a:lnTo>
                    <a:pt x="35" y="69"/>
                  </a:lnTo>
                  <a:lnTo>
                    <a:pt x="23" y="74"/>
                  </a:lnTo>
                  <a:lnTo>
                    <a:pt x="12" y="78"/>
                  </a:lnTo>
                  <a:lnTo>
                    <a:pt x="0" y="83"/>
                  </a:lnTo>
                  <a:lnTo>
                    <a:pt x="3" y="93"/>
                  </a:lnTo>
                  <a:lnTo>
                    <a:pt x="3" y="100"/>
                  </a:lnTo>
                  <a:lnTo>
                    <a:pt x="10" y="99"/>
                  </a:lnTo>
                  <a:lnTo>
                    <a:pt x="25" y="106"/>
                  </a:lnTo>
                  <a:lnTo>
                    <a:pt x="41" y="112"/>
                  </a:lnTo>
                  <a:lnTo>
                    <a:pt x="41" y="134"/>
                  </a:lnTo>
                  <a:lnTo>
                    <a:pt x="37" y="149"/>
                  </a:lnTo>
                  <a:lnTo>
                    <a:pt x="40" y="166"/>
                  </a:lnTo>
                  <a:lnTo>
                    <a:pt x="34" y="182"/>
                  </a:lnTo>
                  <a:lnTo>
                    <a:pt x="30" y="196"/>
                  </a:lnTo>
                  <a:lnTo>
                    <a:pt x="21" y="206"/>
                  </a:lnTo>
                  <a:lnTo>
                    <a:pt x="11" y="215"/>
                  </a:lnTo>
                  <a:lnTo>
                    <a:pt x="13" y="227"/>
                  </a:lnTo>
                  <a:lnTo>
                    <a:pt x="17" y="240"/>
                  </a:lnTo>
                  <a:lnTo>
                    <a:pt x="17" y="260"/>
                  </a:lnTo>
                  <a:lnTo>
                    <a:pt x="17" y="278"/>
                  </a:lnTo>
                  <a:lnTo>
                    <a:pt x="19" y="294"/>
                  </a:lnTo>
                  <a:lnTo>
                    <a:pt x="30" y="294"/>
                  </a:lnTo>
                  <a:lnTo>
                    <a:pt x="31" y="282"/>
                  </a:lnTo>
                  <a:lnTo>
                    <a:pt x="27" y="279"/>
                  </a:lnTo>
                  <a:lnTo>
                    <a:pt x="46" y="263"/>
                  </a:lnTo>
                  <a:lnTo>
                    <a:pt x="59" y="256"/>
                  </a:lnTo>
                  <a:lnTo>
                    <a:pt x="72" y="248"/>
                  </a:lnTo>
                  <a:lnTo>
                    <a:pt x="72" y="240"/>
                  </a:lnTo>
                  <a:lnTo>
                    <a:pt x="75" y="225"/>
                  </a:lnTo>
                  <a:lnTo>
                    <a:pt x="76" y="209"/>
                  </a:lnTo>
                  <a:lnTo>
                    <a:pt x="73" y="214"/>
                  </a:lnTo>
                  <a:lnTo>
                    <a:pt x="70" y="200"/>
                  </a:lnTo>
                  <a:lnTo>
                    <a:pt x="69" y="18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8" name="Freeform 207"/>
            <p:cNvSpPr>
              <a:spLocks/>
            </p:cNvSpPr>
            <p:nvPr/>
          </p:nvSpPr>
          <p:spPr bwMode="auto">
            <a:xfrm>
              <a:off x="2811" y="3147"/>
              <a:ext cx="282" cy="251"/>
            </a:xfrm>
            <a:custGeom>
              <a:avLst/>
              <a:gdLst/>
              <a:ahLst/>
              <a:cxnLst>
                <a:cxn ang="0">
                  <a:pos x="55" y="64"/>
                </a:cxn>
                <a:cxn ang="0">
                  <a:pos x="53" y="98"/>
                </a:cxn>
                <a:cxn ang="0">
                  <a:pos x="37" y="120"/>
                </a:cxn>
                <a:cxn ang="0">
                  <a:pos x="8" y="106"/>
                </a:cxn>
                <a:cxn ang="0">
                  <a:pos x="7" y="132"/>
                </a:cxn>
                <a:cxn ang="0">
                  <a:pos x="19" y="165"/>
                </a:cxn>
                <a:cxn ang="0">
                  <a:pos x="19" y="190"/>
                </a:cxn>
                <a:cxn ang="0">
                  <a:pos x="25" y="216"/>
                </a:cxn>
                <a:cxn ang="0">
                  <a:pos x="38" y="221"/>
                </a:cxn>
                <a:cxn ang="0">
                  <a:pos x="64" y="221"/>
                </a:cxn>
                <a:cxn ang="0">
                  <a:pos x="96" y="215"/>
                </a:cxn>
                <a:cxn ang="0">
                  <a:pos x="133" y="212"/>
                </a:cxn>
                <a:cxn ang="0">
                  <a:pos x="160" y="198"/>
                </a:cxn>
                <a:cxn ang="0">
                  <a:pos x="186" y="179"/>
                </a:cxn>
                <a:cxn ang="0">
                  <a:pos x="205" y="158"/>
                </a:cxn>
                <a:cxn ang="0">
                  <a:pos x="227" y="134"/>
                </a:cxn>
                <a:cxn ang="0">
                  <a:pos x="246" y="101"/>
                </a:cxn>
                <a:cxn ang="0">
                  <a:pos x="242" y="84"/>
                </a:cxn>
                <a:cxn ang="0">
                  <a:pos x="223" y="87"/>
                </a:cxn>
                <a:cxn ang="0">
                  <a:pos x="232" y="64"/>
                </a:cxn>
                <a:cxn ang="0">
                  <a:pos x="240" y="50"/>
                </a:cxn>
                <a:cxn ang="0">
                  <a:pos x="236" y="17"/>
                </a:cxn>
                <a:cxn ang="0">
                  <a:pos x="218" y="3"/>
                </a:cxn>
                <a:cxn ang="0">
                  <a:pos x="202" y="0"/>
                </a:cxn>
                <a:cxn ang="0">
                  <a:pos x="166" y="28"/>
                </a:cxn>
                <a:cxn ang="0">
                  <a:pos x="148" y="50"/>
                </a:cxn>
                <a:cxn ang="0">
                  <a:pos x="115" y="62"/>
                </a:cxn>
                <a:cxn ang="0">
                  <a:pos x="95" y="69"/>
                </a:cxn>
                <a:cxn ang="0">
                  <a:pos x="71" y="83"/>
                </a:cxn>
                <a:cxn ang="0">
                  <a:pos x="67" y="64"/>
                </a:cxn>
                <a:cxn ang="0">
                  <a:pos x="176" y="120"/>
                </a:cxn>
                <a:cxn ang="0">
                  <a:pos x="172" y="152"/>
                </a:cxn>
                <a:cxn ang="0">
                  <a:pos x="193" y="136"/>
                </a:cxn>
                <a:cxn ang="0">
                  <a:pos x="182" y="117"/>
                </a:cxn>
                <a:cxn ang="0">
                  <a:pos x="56" y="47"/>
                </a:cxn>
              </a:cxnLst>
              <a:rect l="0" t="0" r="r" b="b"/>
              <a:pathLst>
                <a:path w="253" h="226">
                  <a:moveTo>
                    <a:pt x="56" y="47"/>
                  </a:moveTo>
                  <a:lnTo>
                    <a:pt x="55" y="64"/>
                  </a:lnTo>
                  <a:lnTo>
                    <a:pt x="54" y="81"/>
                  </a:lnTo>
                  <a:lnTo>
                    <a:pt x="53" y="98"/>
                  </a:lnTo>
                  <a:lnTo>
                    <a:pt x="50" y="114"/>
                  </a:lnTo>
                  <a:lnTo>
                    <a:pt x="37" y="120"/>
                  </a:lnTo>
                  <a:lnTo>
                    <a:pt x="14" y="117"/>
                  </a:lnTo>
                  <a:lnTo>
                    <a:pt x="8" y="106"/>
                  </a:lnTo>
                  <a:lnTo>
                    <a:pt x="0" y="116"/>
                  </a:lnTo>
                  <a:lnTo>
                    <a:pt x="7" y="132"/>
                  </a:lnTo>
                  <a:lnTo>
                    <a:pt x="13" y="148"/>
                  </a:lnTo>
                  <a:lnTo>
                    <a:pt x="19" y="165"/>
                  </a:lnTo>
                  <a:lnTo>
                    <a:pt x="25" y="182"/>
                  </a:lnTo>
                  <a:lnTo>
                    <a:pt x="19" y="190"/>
                  </a:lnTo>
                  <a:lnTo>
                    <a:pt x="20" y="198"/>
                  </a:lnTo>
                  <a:lnTo>
                    <a:pt x="25" y="216"/>
                  </a:lnTo>
                  <a:lnTo>
                    <a:pt x="30" y="216"/>
                  </a:lnTo>
                  <a:lnTo>
                    <a:pt x="38" y="221"/>
                  </a:lnTo>
                  <a:lnTo>
                    <a:pt x="48" y="226"/>
                  </a:lnTo>
                  <a:lnTo>
                    <a:pt x="64" y="221"/>
                  </a:lnTo>
                  <a:lnTo>
                    <a:pt x="80" y="215"/>
                  </a:lnTo>
                  <a:lnTo>
                    <a:pt x="96" y="215"/>
                  </a:lnTo>
                  <a:lnTo>
                    <a:pt x="113" y="214"/>
                  </a:lnTo>
                  <a:lnTo>
                    <a:pt x="133" y="212"/>
                  </a:lnTo>
                  <a:lnTo>
                    <a:pt x="143" y="208"/>
                  </a:lnTo>
                  <a:lnTo>
                    <a:pt x="160" y="198"/>
                  </a:lnTo>
                  <a:lnTo>
                    <a:pt x="176" y="189"/>
                  </a:lnTo>
                  <a:lnTo>
                    <a:pt x="186" y="179"/>
                  </a:lnTo>
                  <a:lnTo>
                    <a:pt x="196" y="168"/>
                  </a:lnTo>
                  <a:lnTo>
                    <a:pt x="205" y="158"/>
                  </a:lnTo>
                  <a:lnTo>
                    <a:pt x="216" y="147"/>
                  </a:lnTo>
                  <a:lnTo>
                    <a:pt x="227" y="134"/>
                  </a:lnTo>
                  <a:lnTo>
                    <a:pt x="239" y="119"/>
                  </a:lnTo>
                  <a:lnTo>
                    <a:pt x="246" y="101"/>
                  </a:lnTo>
                  <a:lnTo>
                    <a:pt x="253" y="84"/>
                  </a:lnTo>
                  <a:lnTo>
                    <a:pt x="242" y="84"/>
                  </a:lnTo>
                  <a:lnTo>
                    <a:pt x="239" y="92"/>
                  </a:lnTo>
                  <a:lnTo>
                    <a:pt x="223" y="87"/>
                  </a:lnTo>
                  <a:lnTo>
                    <a:pt x="224" y="74"/>
                  </a:lnTo>
                  <a:lnTo>
                    <a:pt x="232" y="64"/>
                  </a:lnTo>
                  <a:lnTo>
                    <a:pt x="240" y="68"/>
                  </a:lnTo>
                  <a:lnTo>
                    <a:pt x="240" y="50"/>
                  </a:lnTo>
                  <a:lnTo>
                    <a:pt x="240" y="30"/>
                  </a:lnTo>
                  <a:lnTo>
                    <a:pt x="236" y="17"/>
                  </a:lnTo>
                  <a:lnTo>
                    <a:pt x="234" y="5"/>
                  </a:lnTo>
                  <a:lnTo>
                    <a:pt x="218" y="3"/>
                  </a:lnTo>
                  <a:lnTo>
                    <a:pt x="204" y="0"/>
                  </a:lnTo>
                  <a:lnTo>
                    <a:pt x="202" y="0"/>
                  </a:lnTo>
                  <a:lnTo>
                    <a:pt x="181" y="14"/>
                  </a:lnTo>
                  <a:lnTo>
                    <a:pt x="166" y="28"/>
                  </a:lnTo>
                  <a:lnTo>
                    <a:pt x="157" y="44"/>
                  </a:lnTo>
                  <a:lnTo>
                    <a:pt x="148" y="50"/>
                  </a:lnTo>
                  <a:lnTo>
                    <a:pt x="139" y="64"/>
                  </a:lnTo>
                  <a:lnTo>
                    <a:pt x="115" y="62"/>
                  </a:lnTo>
                  <a:lnTo>
                    <a:pt x="103" y="57"/>
                  </a:lnTo>
                  <a:lnTo>
                    <a:pt x="95" y="69"/>
                  </a:lnTo>
                  <a:lnTo>
                    <a:pt x="88" y="81"/>
                  </a:lnTo>
                  <a:lnTo>
                    <a:pt x="71" y="83"/>
                  </a:lnTo>
                  <a:lnTo>
                    <a:pt x="65" y="81"/>
                  </a:lnTo>
                  <a:lnTo>
                    <a:pt x="67" y="64"/>
                  </a:lnTo>
                  <a:lnTo>
                    <a:pt x="56" y="47"/>
                  </a:lnTo>
                  <a:lnTo>
                    <a:pt x="176" y="120"/>
                  </a:lnTo>
                  <a:lnTo>
                    <a:pt x="161" y="136"/>
                  </a:lnTo>
                  <a:lnTo>
                    <a:pt x="172" y="152"/>
                  </a:lnTo>
                  <a:lnTo>
                    <a:pt x="178" y="147"/>
                  </a:lnTo>
                  <a:lnTo>
                    <a:pt x="193" y="136"/>
                  </a:lnTo>
                  <a:lnTo>
                    <a:pt x="196" y="124"/>
                  </a:lnTo>
                  <a:lnTo>
                    <a:pt x="182" y="117"/>
                  </a:lnTo>
                  <a:lnTo>
                    <a:pt x="176" y="120"/>
                  </a:lnTo>
                  <a:lnTo>
                    <a:pt x="56" y="47"/>
                  </a:lnTo>
                  <a:close/>
                </a:path>
              </a:pathLst>
            </a:custGeom>
            <a:grpFill/>
            <a:ln w="3175" cmpd="sng">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9" name="Freeform 208"/>
            <p:cNvSpPr>
              <a:spLocks/>
            </p:cNvSpPr>
            <p:nvPr/>
          </p:nvSpPr>
          <p:spPr bwMode="auto">
            <a:xfrm>
              <a:off x="2811" y="3147"/>
              <a:ext cx="282" cy="251"/>
            </a:xfrm>
            <a:custGeom>
              <a:avLst/>
              <a:gdLst/>
              <a:ahLst/>
              <a:cxnLst>
                <a:cxn ang="0">
                  <a:pos x="56" y="47"/>
                </a:cxn>
                <a:cxn ang="0">
                  <a:pos x="55" y="64"/>
                </a:cxn>
                <a:cxn ang="0">
                  <a:pos x="54" y="81"/>
                </a:cxn>
                <a:cxn ang="0">
                  <a:pos x="53" y="98"/>
                </a:cxn>
                <a:cxn ang="0">
                  <a:pos x="50" y="114"/>
                </a:cxn>
                <a:cxn ang="0">
                  <a:pos x="37" y="120"/>
                </a:cxn>
                <a:cxn ang="0">
                  <a:pos x="14" y="117"/>
                </a:cxn>
                <a:cxn ang="0">
                  <a:pos x="8" y="106"/>
                </a:cxn>
                <a:cxn ang="0">
                  <a:pos x="0" y="116"/>
                </a:cxn>
                <a:cxn ang="0">
                  <a:pos x="7" y="132"/>
                </a:cxn>
                <a:cxn ang="0">
                  <a:pos x="13" y="148"/>
                </a:cxn>
                <a:cxn ang="0">
                  <a:pos x="19" y="165"/>
                </a:cxn>
                <a:cxn ang="0">
                  <a:pos x="25" y="182"/>
                </a:cxn>
                <a:cxn ang="0">
                  <a:pos x="19" y="190"/>
                </a:cxn>
                <a:cxn ang="0">
                  <a:pos x="20" y="198"/>
                </a:cxn>
                <a:cxn ang="0">
                  <a:pos x="25" y="216"/>
                </a:cxn>
                <a:cxn ang="0">
                  <a:pos x="30" y="216"/>
                </a:cxn>
                <a:cxn ang="0">
                  <a:pos x="38" y="221"/>
                </a:cxn>
                <a:cxn ang="0">
                  <a:pos x="48" y="226"/>
                </a:cxn>
                <a:cxn ang="0">
                  <a:pos x="64" y="221"/>
                </a:cxn>
                <a:cxn ang="0">
                  <a:pos x="80" y="215"/>
                </a:cxn>
                <a:cxn ang="0">
                  <a:pos x="96" y="215"/>
                </a:cxn>
                <a:cxn ang="0">
                  <a:pos x="113" y="214"/>
                </a:cxn>
                <a:cxn ang="0">
                  <a:pos x="133" y="212"/>
                </a:cxn>
                <a:cxn ang="0">
                  <a:pos x="143" y="208"/>
                </a:cxn>
                <a:cxn ang="0">
                  <a:pos x="160" y="198"/>
                </a:cxn>
                <a:cxn ang="0">
                  <a:pos x="176" y="189"/>
                </a:cxn>
                <a:cxn ang="0">
                  <a:pos x="186" y="179"/>
                </a:cxn>
                <a:cxn ang="0">
                  <a:pos x="196" y="168"/>
                </a:cxn>
                <a:cxn ang="0">
                  <a:pos x="205" y="158"/>
                </a:cxn>
                <a:cxn ang="0">
                  <a:pos x="216" y="147"/>
                </a:cxn>
                <a:cxn ang="0">
                  <a:pos x="227" y="134"/>
                </a:cxn>
                <a:cxn ang="0">
                  <a:pos x="239" y="119"/>
                </a:cxn>
                <a:cxn ang="0">
                  <a:pos x="246" y="101"/>
                </a:cxn>
                <a:cxn ang="0">
                  <a:pos x="253" y="84"/>
                </a:cxn>
                <a:cxn ang="0">
                  <a:pos x="242" y="84"/>
                </a:cxn>
                <a:cxn ang="0">
                  <a:pos x="239" y="92"/>
                </a:cxn>
                <a:cxn ang="0">
                  <a:pos x="223" y="87"/>
                </a:cxn>
                <a:cxn ang="0">
                  <a:pos x="224" y="74"/>
                </a:cxn>
                <a:cxn ang="0">
                  <a:pos x="232" y="64"/>
                </a:cxn>
                <a:cxn ang="0">
                  <a:pos x="240" y="68"/>
                </a:cxn>
                <a:cxn ang="0">
                  <a:pos x="240" y="50"/>
                </a:cxn>
                <a:cxn ang="0">
                  <a:pos x="240" y="30"/>
                </a:cxn>
                <a:cxn ang="0">
                  <a:pos x="236" y="17"/>
                </a:cxn>
                <a:cxn ang="0">
                  <a:pos x="234" y="5"/>
                </a:cxn>
                <a:cxn ang="0">
                  <a:pos x="218" y="3"/>
                </a:cxn>
                <a:cxn ang="0">
                  <a:pos x="204" y="0"/>
                </a:cxn>
                <a:cxn ang="0">
                  <a:pos x="202" y="0"/>
                </a:cxn>
                <a:cxn ang="0">
                  <a:pos x="181" y="14"/>
                </a:cxn>
                <a:cxn ang="0">
                  <a:pos x="166" y="28"/>
                </a:cxn>
                <a:cxn ang="0">
                  <a:pos x="157" y="44"/>
                </a:cxn>
                <a:cxn ang="0">
                  <a:pos x="148" y="50"/>
                </a:cxn>
                <a:cxn ang="0">
                  <a:pos x="139" y="64"/>
                </a:cxn>
                <a:cxn ang="0">
                  <a:pos x="115" y="62"/>
                </a:cxn>
                <a:cxn ang="0">
                  <a:pos x="103" y="57"/>
                </a:cxn>
                <a:cxn ang="0">
                  <a:pos x="95" y="69"/>
                </a:cxn>
                <a:cxn ang="0">
                  <a:pos x="88" y="81"/>
                </a:cxn>
                <a:cxn ang="0">
                  <a:pos x="71" y="83"/>
                </a:cxn>
                <a:cxn ang="0">
                  <a:pos x="65" y="81"/>
                </a:cxn>
                <a:cxn ang="0">
                  <a:pos x="67" y="64"/>
                </a:cxn>
                <a:cxn ang="0">
                  <a:pos x="56" y="47"/>
                </a:cxn>
              </a:cxnLst>
              <a:rect l="0" t="0" r="r" b="b"/>
              <a:pathLst>
                <a:path w="253" h="226">
                  <a:moveTo>
                    <a:pt x="56" y="47"/>
                  </a:moveTo>
                  <a:lnTo>
                    <a:pt x="55" y="64"/>
                  </a:lnTo>
                  <a:lnTo>
                    <a:pt x="54" y="81"/>
                  </a:lnTo>
                  <a:lnTo>
                    <a:pt x="53" y="98"/>
                  </a:lnTo>
                  <a:lnTo>
                    <a:pt x="50" y="114"/>
                  </a:lnTo>
                  <a:lnTo>
                    <a:pt x="37" y="120"/>
                  </a:lnTo>
                  <a:lnTo>
                    <a:pt x="14" y="117"/>
                  </a:lnTo>
                  <a:lnTo>
                    <a:pt x="8" y="106"/>
                  </a:lnTo>
                  <a:lnTo>
                    <a:pt x="0" y="116"/>
                  </a:lnTo>
                  <a:lnTo>
                    <a:pt x="7" y="132"/>
                  </a:lnTo>
                  <a:lnTo>
                    <a:pt x="13" y="148"/>
                  </a:lnTo>
                  <a:lnTo>
                    <a:pt x="19" y="165"/>
                  </a:lnTo>
                  <a:lnTo>
                    <a:pt x="25" y="182"/>
                  </a:lnTo>
                  <a:lnTo>
                    <a:pt x="19" y="190"/>
                  </a:lnTo>
                  <a:lnTo>
                    <a:pt x="20" y="198"/>
                  </a:lnTo>
                  <a:lnTo>
                    <a:pt x="25" y="216"/>
                  </a:lnTo>
                  <a:lnTo>
                    <a:pt x="30" y="216"/>
                  </a:lnTo>
                  <a:lnTo>
                    <a:pt x="38" y="221"/>
                  </a:lnTo>
                  <a:lnTo>
                    <a:pt x="48" y="226"/>
                  </a:lnTo>
                  <a:lnTo>
                    <a:pt x="64" y="221"/>
                  </a:lnTo>
                  <a:lnTo>
                    <a:pt x="80" y="215"/>
                  </a:lnTo>
                  <a:lnTo>
                    <a:pt x="96" y="215"/>
                  </a:lnTo>
                  <a:lnTo>
                    <a:pt x="113" y="214"/>
                  </a:lnTo>
                  <a:lnTo>
                    <a:pt x="133" y="212"/>
                  </a:lnTo>
                  <a:lnTo>
                    <a:pt x="143" y="208"/>
                  </a:lnTo>
                  <a:lnTo>
                    <a:pt x="160" y="198"/>
                  </a:lnTo>
                  <a:lnTo>
                    <a:pt x="176" y="189"/>
                  </a:lnTo>
                  <a:lnTo>
                    <a:pt x="186" y="179"/>
                  </a:lnTo>
                  <a:lnTo>
                    <a:pt x="196" y="168"/>
                  </a:lnTo>
                  <a:lnTo>
                    <a:pt x="205" y="158"/>
                  </a:lnTo>
                  <a:lnTo>
                    <a:pt x="216" y="147"/>
                  </a:lnTo>
                  <a:lnTo>
                    <a:pt x="227" y="134"/>
                  </a:lnTo>
                  <a:lnTo>
                    <a:pt x="239" y="119"/>
                  </a:lnTo>
                  <a:lnTo>
                    <a:pt x="246" y="101"/>
                  </a:lnTo>
                  <a:lnTo>
                    <a:pt x="253" y="84"/>
                  </a:lnTo>
                  <a:lnTo>
                    <a:pt x="242" y="84"/>
                  </a:lnTo>
                  <a:lnTo>
                    <a:pt x="239" y="92"/>
                  </a:lnTo>
                  <a:lnTo>
                    <a:pt x="223" y="87"/>
                  </a:lnTo>
                  <a:lnTo>
                    <a:pt x="224" y="74"/>
                  </a:lnTo>
                  <a:lnTo>
                    <a:pt x="232" y="64"/>
                  </a:lnTo>
                  <a:lnTo>
                    <a:pt x="240" y="68"/>
                  </a:lnTo>
                  <a:lnTo>
                    <a:pt x="240" y="50"/>
                  </a:lnTo>
                  <a:lnTo>
                    <a:pt x="240" y="30"/>
                  </a:lnTo>
                  <a:lnTo>
                    <a:pt x="236" y="17"/>
                  </a:lnTo>
                  <a:lnTo>
                    <a:pt x="234" y="5"/>
                  </a:lnTo>
                  <a:lnTo>
                    <a:pt x="218" y="3"/>
                  </a:lnTo>
                  <a:lnTo>
                    <a:pt x="204" y="0"/>
                  </a:lnTo>
                  <a:lnTo>
                    <a:pt x="202" y="0"/>
                  </a:lnTo>
                  <a:lnTo>
                    <a:pt x="181" y="14"/>
                  </a:lnTo>
                  <a:lnTo>
                    <a:pt x="166" y="28"/>
                  </a:lnTo>
                  <a:lnTo>
                    <a:pt x="157" y="44"/>
                  </a:lnTo>
                  <a:lnTo>
                    <a:pt x="148" y="50"/>
                  </a:lnTo>
                  <a:lnTo>
                    <a:pt x="139" y="64"/>
                  </a:lnTo>
                  <a:lnTo>
                    <a:pt x="115" y="62"/>
                  </a:lnTo>
                  <a:lnTo>
                    <a:pt x="103" y="57"/>
                  </a:lnTo>
                  <a:lnTo>
                    <a:pt x="95" y="69"/>
                  </a:lnTo>
                  <a:lnTo>
                    <a:pt x="88" y="81"/>
                  </a:lnTo>
                  <a:lnTo>
                    <a:pt x="71" y="83"/>
                  </a:lnTo>
                  <a:lnTo>
                    <a:pt x="65" y="81"/>
                  </a:lnTo>
                  <a:lnTo>
                    <a:pt x="67" y="64"/>
                  </a:lnTo>
                  <a:lnTo>
                    <a:pt x="56" y="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0" name="Freeform 209"/>
            <p:cNvSpPr>
              <a:spLocks/>
            </p:cNvSpPr>
            <p:nvPr/>
          </p:nvSpPr>
          <p:spPr bwMode="auto">
            <a:xfrm>
              <a:off x="2989" y="3276"/>
              <a:ext cx="40" cy="40"/>
            </a:xfrm>
            <a:custGeom>
              <a:avLst/>
              <a:gdLst/>
              <a:ahLst/>
              <a:cxnLst>
                <a:cxn ang="0">
                  <a:pos x="15" y="3"/>
                </a:cxn>
                <a:cxn ang="0">
                  <a:pos x="0" y="19"/>
                </a:cxn>
                <a:cxn ang="0">
                  <a:pos x="11" y="35"/>
                </a:cxn>
                <a:cxn ang="0">
                  <a:pos x="17" y="30"/>
                </a:cxn>
                <a:cxn ang="0">
                  <a:pos x="32" y="19"/>
                </a:cxn>
                <a:cxn ang="0">
                  <a:pos x="35" y="7"/>
                </a:cxn>
                <a:cxn ang="0">
                  <a:pos x="21" y="0"/>
                </a:cxn>
                <a:cxn ang="0">
                  <a:pos x="15" y="3"/>
                </a:cxn>
              </a:cxnLst>
              <a:rect l="0" t="0" r="r" b="b"/>
              <a:pathLst>
                <a:path w="35" h="35">
                  <a:moveTo>
                    <a:pt x="15" y="3"/>
                  </a:moveTo>
                  <a:lnTo>
                    <a:pt x="0" y="19"/>
                  </a:lnTo>
                  <a:lnTo>
                    <a:pt x="11" y="35"/>
                  </a:lnTo>
                  <a:lnTo>
                    <a:pt x="17" y="30"/>
                  </a:lnTo>
                  <a:lnTo>
                    <a:pt x="32" y="19"/>
                  </a:lnTo>
                  <a:lnTo>
                    <a:pt x="35" y="7"/>
                  </a:lnTo>
                  <a:lnTo>
                    <a:pt x="21" y="0"/>
                  </a:lnTo>
                  <a:lnTo>
                    <a:pt x="1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1" name="Freeform 210"/>
            <p:cNvSpPr>
              <a:spLocks/>
            </p:cNvSpPr>
            <p:nvPr/>
          </p:nvSpPr>
          <p:spPr bwMode="auto">
            <a:xfrm>
              <a:off x="2780" y="3156"/>
              <a:ext cx="2" cy="11"/>
            </a:xfrm>
            <a:custGeom>
              <a:avLst/>
              <a:gdLst/>
              <a:ahLst/>
              <a:cxnLst>
                <a:cxn ang="0">
                  <a:pos x="3" y="9"/>
                </a:cxn>
                <a:cxn ang="0">
                  <a:pos x="0" y="8"/>
                </a:cxn>
                <a:cxn ang="0">
                  <a:pos x="2" y="0"/>
                </a:cxn>
                <a:cxn ang="0">
                  <a:pos x="3" y="9"/>
                </a:cxn>
              </a:cxnLst>
              <a:rect l="0" t="0" r="r" b="b"/>
              <a:pathLst>
                <a:path w="3" h="9">
                  <a:moveTo>
                    <a:pt x="3" y="9"/>
                  </a:moveTo>
                  <a:lnTo>
                    <a:pt x="0" y="8"/>
                  </a:lnTo>
                  <a:lnTo>
                    <a:pt x="2" y="0"/>
                  </a:lnTo>
                  <a:lnTo>
                    <a:pt x="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2" name="Freeform 211"/>
            <p:cNvSpPr>
              <a:spLocks/>
            </p:cNvSpPr>
            <p:nvPr/>
          </p:nvSpPr>
          <p:spPr bwMode="auto">
            <a:xfrm>
              <a:off x="3060" y="3218"/>
              <a:ext cx="20" cy="32"/>
            </a:xfrm>
            <a:custGeom>
              <a:avLst/>
              <a:gdLst/>
              <a:ahLst/>
              <a:cxnLst>
                <a:cxn ang="0">
                  <a:pos x="9" y="0"/>
                </a:cxn>
                <a:cxn ang="0">
                  <a:pos x="1" y="10"/>
                </a:cxn>
                <a:cxn ang="0">
                  <a:pos x="0" y="23"/>
                </a:cxn>
                <a:cxn ang="0">
                  <a:pos x="16" y="28"/>
                </a:cxn>
                <a:cxn ang="0">
                  <a:pos x="19" y="20"/>
                </a:cxn>
                <a:cxn ang="0">
                  <a:pos x="17" y="4"/>
                </a:cxn>
                <a:cxn ang="0">
                  <a:pos x="9" y="0"/>
                </a:cxn>
              </a:cxnLst>
              <a:rect l="0" t="0" r="r" b="b"/>
              <a:pathLst>
                <a:path w="19" h="28">
                  <a:moveTo>
                    <a:pt x="9" y="0"/>
                  </a:moveTo>
                  <a:lnTo>
                    <a:pt x="1" y="10"/>
                  </a:lnTo>
                  <a:lnTo>
                    <a:pt x="0" y="23"/>
                  </a:lnTo>
                  <a:lnTo>
                    <a:pt x="16" y="28"/>
                  </a:lnTo>
                  <a:lnTo>
                    <a:pt x="19" y="20"/>
                  </a:lnTo>
                  <a:lnTo>
                    <a:pt x="17" y="4"/>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3" name="Freeform 212"/>
            <p:cNvSpPr>
              <a:spLocks/>
            </p:cNvSpPr>
            <p:nvPr/>
          </p:nvSpPr>
          <p:spPr bwMode="auto">
            <a:xfrm>
              <a:off x="2736" y="2823"/>
              <a:ext cx="215" cy="240"/>
            </a:xfrm>
            <a:custGeom>
              <a:avLst/>
              <a:gdLst/>
              <a:ahLst/>
              <a:cxnLst>
                <a:cxn ang="0">
                  <a:pos x="193" y="127"/>
                </a:cxn>
                <a:cxn ang="0">
                  <a:pos x="177" y="127"/>
                </a:cxn>
                <a:cxn ang="0">
                  <a:pos x="162" y="128"/>
                </a:cxn>
                <a:cxn ang="0">
                  <a:pos x="161" y="141"/>
                </a:cxn>
                <a:cxn ang="0">
                  <a:pos x="161" y="156"/>
                </a:cxn>
                <a:cxn ang="0">
                  <a:pos x="161" y="170"/>
                </a:cxn>
                <a:cxn ang="0">
                  <a:pos x="161" y="184"/>
                </a:cxn>
                <a:cxn ang="0">
                  <a:pos x="171" y="198"/>
                </a:cxn>
                <a:cxn ang="0">
                  <a:pos x="182" y="211"/>
                </a:cxn>
                <a:cxn ang="0">
                  <a:pos x="158" y="213"/>
                </a:cxn>
                <a:cxn ang="0">
                  <a:pos x="135" y="217"/>
                </a:cxn>
                <a:cxn ang="0">
                  <a:pos x="120" y="213"/>
                </a:cxn>
                <a:cxn ang="0">
                  <a:pos x="105" y="210"/>
                </a:cxn>
                <a:cxn ang="0">
                  <a:pos x="103" y="206"/>
                </a:cxn>
                <a:cxn ang="0">
                  <a:pos x="85" y="206"/>
                </a:cxn>
                <a:cxn ang="0">
                  <a:pos x="67" y="205"/>
                </a:cxn>
                <a:cxn ang="0">
                  <a:pos x="49" y="205"/>
                </a:cxn>
                <a:cxn ang="0">
                  <a:pos x="30" y="204"/>
                </a:cxn>
                <a:cxn ang="0">
                  <a:pos x="19" y="199"/>
                </a:cxn>
                <a:cxn ang="0">
                  <a:pos x="0" y="204"/>
                </a:cxn>
                <a:cxn ang="0">
                  <a:pos x="1" y="189"/>
                </a:cxn>
                <a:cxn ang="0">
                  <a:pos x="2" y="175"/>
                </a:cxn>
                <a:cxn ang="0">
                  <a:pos x="9" y="153"/>
                </a:cxn>
                <a:cxn ang="0">
                  <a:pos x="17" y="130"/>
                </a:cxn>
                <a:cxn ang="0">
                  <a:pos x="25" y="118"/>
                </a:cxn>
                <a:cxn ang="0">
                  <a:pos x="32" y="106"/>
                </a:cxn>
                <a:cxn ang="0">
                  <a:pos x="30" y="82"/>
                </a:cxn>
                <a:cxn ang="0">
                  <a:pos x="25" y="68"/>
                </a:cxn>
                <a:cxn ang="0">
                  <a:pos x="21" y="55"/>
                </a:cxn>
                <a:cxn ang="0">
                  <a:pos x="26" y="46"/>
                </a:cxn>
                <a:cxn ang="0">
                  <a:pos x="19" y="25"/>
                </a:cxn>
                <a:cxn ang="0">
                  <a:pos x="11" y="3"/>
                </a:cxn>
                <a:cxn ang="0">
                  <a:pos x="24" y="0"/>
                </a:cxn>
                <a:cxn ang="0">
                  <a:pos x="37" y="0"/>
                </a:cxn>
                <a:cxn ang="0">
                  <a:pos x="51" y="1"/>
                </a:cxn>
                <a:cxn ang="0">
                  <a:pos x="65" y="1"/>
                </a:cxn>
                <a:cxn ang="0">
                  <a:pos x="78" y="2"/>
                </a:cxn>
                <a:cxn ang="0">
                  <a:pos x="84" y="19"/>
                </a:cxn>
                <a:cxn ang="0">
                  <a:pos x="91" y="36"/>
                </a:cxn>
                <a:cxn ang="0">
                  <a:pos x="102" y="39"/>
                </a:cxn>
                <a:cxn ang="0">
                  <a:pos x="121" y="36"/>
                </a:cxn>
                <a:cxn ang="0">
                  <a:pos x="125" y="20"/>
                </a:cxn>
                <a:cxn ang="0">
                  <a:pos x="140" y="21"/>
                </a:cxn>
                <a:cxn ang="0">
                  <a:pos x="140" y="25"/>
                </a:cxn>
                <a:cxn ang="0">
                  <a:pos x="161" y="28"/>
                </a:cxn>
                <a:cxn ang="0">
                  <a:pos x="162" y="49"/>
                </a:cxn>
                <a:cxn ang="0">
                  <a:pos x="162" y="69"/>
                </a:cxn>
                <a:cxn ang="0">
                  <a:pos x="167" y="87"/>
                </a:cxn>
                <a:cxn ang="0">
                  <a:pos x="168" y="94"/>
                </a:cxn>
                <a:cxn ang="0">
                  <a:pos x="181" y="92"/>
                </a:cxn>
                <a:cxn ang="0">
                  <a:pos x="193" y="90"/>
                </a:cxn>
                <a:cxn ang="0">
                  <a:pos x="193" y="108"/>
                </a:cxn>
                <a:cxn ang="0">
                  <a:pos x="193" y="127"/>
                </a:cxn>
              </a:cxnLst>
              <a:rect l="0" t="0" r="r" b="b"/>
              <a:pathLst>
                <a:path w="193" h="217">
                  <a:moveTo>
                    <a:pt x="193" y="127"/>
                  </a:moveTo>
                  <a:lnTo>
                    <a:pt x="177" y="127"/>
                  </a:lnTo>
                  <a:lnTo>
                    <a:pt x="162" y="128"/>
                  </a:lnTo>
                  <a:lnTo>
                    <a:pt x="161" y="141"/>
                  </a:lnTo>
                  <a:lnTo>
                    <a:pt x="161" y="156"/>
                  </a:lnTo>
                  <a:lnTo>
                    <a:pt x="161" y="170"/>
                  </a:lnTo>
                  <a:lnTo>
                    <a:pt x="161" y="184"/>
                  </a:lnTo>
                  <a:lnTo>
                    <a:pt x="171" y="198"/>
                  </a:lnTo>
                  <a:lnTo>
                    <a:pt x="182" y="211"/>
                  </a:lnTo>
                  <a:lnTo>
                    <a:pt x="158" y="213"/>
                  </a:lnTo>
                  <a:lnTo>
                    <a:pt x="135" y="217"/>
                  </a:lnTo>
                  <a:lnTo>
                    <a:pt x="120" y="213"/>
                  </a:lnTo>
                  <a:lnTo>
                    <a:pt x="105" y="210"/>
                  </a:lnTo>
                  <a:lnTo>
                    <a:pt x="103" y="206"/>
                  </a:lnTo>
                  <a:lnTo>
                    <a:pt x="85" y="206"/>
                  </a:lnTo>
                  <a:lnTo>
                    <a:pt x="67" y="205"/>
                  </a:lnTo>
                  <a:lnTo>
                    <a:pt x="49" y="205"/>
                  </a:lnTo>
                  <a:lnTo>
                    <a:pt x="30" y="204"/>
                  </a:lnTo>
                  <a:lnTo>
                    <a:pt x="19" y="199"/>
                  </a:lnTo>
                  <a:lnTo>
                    <a:pt x="0" y="204"/>
                  </a:lnTo>
                  <a:lnTo>
                    <a:pt x="1" y="189"/>
                  </a:lnTo>
                  <a:lnTo>
                    <a:pt x="2" y="175"/>
                  </a:lnTo>
                  <a:lnTo>
                    <a:pt x="9" y="153"/>
                  </a:lnTo>
                  <a:lnTo>
                    <a:pt x="17" y="130"/>
                  </a:lnTo>
                  <a:lnTo>
                    <a:pt x="25" y="118"/>
                  </a:lnTo>
                  <a:lnTo>
                    <a:pt x="32" y="106"/>
                  </a:lnTo>
                  <a:lnTo>
                    <a:pt x="30" y="82"/>
                  </a:lnTo>
                  <a:lnTo>
                    <a:pt x="25" y="68"/>
                  </a:lnTo>
                  <a:lnTo>
                    <a:pt x="21" y="55"/>
                  </a:lnTo>
                  <a:lnTo>
                    <a:pt x="26" y="46"/>
                  </a:lnTo>
                  <a:lnTo>
                    <a:pt x="19" y="25"/>
                  </a:lnTo>
                  <a:lnTo>
                    <a:pt x="11" y="3"/>
                  </a:lnTo>
                  <a:lnTo>
                    <a:pt x="24" y="0"/>
                  </a:lnTo>
                  <a:lnTo>
                    <a:pt x="37" y="0"/>
                  </a:lnTo>
                  <a:lnTo>
                    <a:pt x="51" y="1"/>
                  </a:lnTo>
                  <a:lnTo>
                    <a:pt x="65" y="1"/>
                  </a:lnTo>
                  <a:lnTo>
                    <a:pt x="78" y="2"/>
                  </a:lnTo>
                  <a:lnTo>
                    <a:pt x="84" y="19"/>
                  </a:lnTo>
                  <a:lnTo>
                    <a:pt x="91" y="36"/>
                  </a:lnTo>
                  <a:lnTo>
                    <a:pt x="102" y="39"/>
                  </a:lnTo>
                  <a:lnTo>
                    <a:pt x="121" y="36"/>
                  </a:lnTo>
                  <a:lnTo>
                    <a:pt x="125" y="20"/>
                  </a:lnTo>
                  <a:lnTo>
                    <a:pt x="140" y="21"/>
                  </a:lnTo>
                  <a:lnTo>
                    <a:pt x="140" y="25"/>
                  </a:lnTo>
                  <a:lnTo>
                    <a:pt x="161" y="28"/>
                  </a:lnTo>
                  <a:lnTo>
                    <a:pt x="162" y="49"/>
                  </a:lnTo>
                  <a:lnTo>
                    <a:pt x="162" y="69"/>
                  </a:lnTo>
                  <a:lnTo>
                    <a:pt x="167" y="87"/>
                  </a:lnTo>
                  <a:lnTo>
                    <a:pt x="168" y="94"/>
                  </a:lnTo>
                  <a:lnTo>
                    <a:pt x="181" y="92"/>
                  </a:lnTo>
                  <a:lnTo>
                    <a:pt x="193" y="90"/>
                  </a:lnTo>
                  <a:lnTo>
                    <a:pt x="193" y="108"/>
                  </a:lnTo>
                  <a:lnTo>
                    <a:pt x="193" y="1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4" name="Freeform 213"/>
            <p:cNvSpPr>
              <a:spLocks/>
            </p:cNvSpPr>
            <p:nvPr/>
          </p:nvSpPr>
          <p:spPr bwMode="auto">
            <a:xfrm>
              <a:off x="2742" y="2794"/>
              <a:ext cx="20" cy="27"/>
            </a:xfrm>
            <a:custGeom>
              <a:avLst/>
              <a:gdLst/>
              <a:ahLst/>
              <a:cxnLst>
                <a:cxn ang="0">
                  <a:pos x="2" y="24"/>
                </a:cxn>
                <a:cxn ang="0">
                  <a:pos x="0" y="10"/>
                </a:cxn>
                <a:cxn ang="0">
                  <a:pos x="11" y="0"/>
                </a:cxn>
                <a:cxn ang="0">
                  <a:pos x="17" y="3"/>
                </a:cxn>
                <a:cxn ang="0">
                  <a:pos x="9" y="9"/>
                </a:cxn>
                <a:cxn ang="0">
                  <a:pos x="8" y="23"/>
                </a:cxn>
                <a:cxn ang="0">
                  <a:pos x="2" y="24"/>
                </a:cxn>
              </a:cxnLst>
              <a:rect l="0" t="0" r="r" b="b"/>
              <a:pathLst>
                <a:path w="17" h="24">
                  <a:moveTo>
                    <a:pt x="2" y="24"/>
                  </a:moveTo>
                  <a:lnTo>
                    <a:pt x="0" y="10"/>
                  </a:lnTo>
                  <a:lnTo>
                    <a:pt x="11" y="0"/>
                  </a:lnTo>
                  <a:lnTo>
                    <a:pt x="17" y="3"/>
                  </a:lnTo>
                  <a:lnTo>
                    <a:pt x="9" y="9"/>
                  </a:lnTo>
                  <a:lnTo>
                    <a:pt x="8" y="23"/>
                  </a:lnTo>
                  <a:lnTo>
                    <a:pt x="2"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5" name="Freeform 214"/>
            <p:cNvSpPr>
              <a:spLocks/>
            </p:cNvSpPr>
            <p:nvPr/>
          </p:nvSpPr>
          <p:spPr bwMode="auto">
            <a:xfrm>
              <a:off x="2698" y="2659"/>
              <a:ext cx="33" cy="26"/>
            </a:xfrm>
            <a:custGeom>
              <a:avLst/>
              <a:gdLst/>
              <a:ahLst/>
              <a:cxnLst>
                <a:cxn ang="0">
                  <a:pos x="6" y="24"/>
                </a:cxn>
                <a:cxn ang="0">
                  <a:pos x="0" y="22"/>
                </a:cxn>
                <a:cxn ang="0">
                  <a:pos x="2" y="16"/>
                </a:cxn>
                <a:cxn ang="0">
                  <a:pos x="6" y="0"/>
                </a:cxn>
                <a:cxn ang="0">
                  <a:pos x="18" y="1"/>
                </a:cxn>
                <a:cxn ang="0">
                  <a:pos x="30" y="4"/>
                </a:cxn>
                <a:cxn ang="0">
                  <a:pos x="30" y="24"/>
                </a:cxn>
                <a:cxn ang="0">
                  <a:pos x="18" y="24"/>
                </a:cxn>
                <a:cxn ang="0">
                  <a:pos x="6" y="24"/>
                </a:cxn>
              </a:cxnLst>
              <a:rect l="0" t="0" r="r" b="b"/>
              <a:pathLst>
                <a:path w="30" h="24">
                  <a:moveTo>
                    <a:pt x="6" y="24"/>
                  </a:moveTo>
                  <a:lnTo>
                    <a:pt x="0" y="22"/>
                  </a:lnTo>
                  <a:lnTo>
                    <a:pt x="2" y="16"/>
                  </a:lnTo>
                  <a:lnTo>
                    <a:pt x="6" y="0"/>
                  </a:lnTo>
                  <a:lnTo>
                    <a:pt x="18" y="1"/>
                  </a:lnTo>
                  <a:lnTo>
                    <a:pt x="30" y="4"/>
                  </a:lnTo>
                  <a:lnTo>
                    <a:pt x="30" y="24"/>
                  </a:lnTo>
                  <a:lnTo>
                    <a:pt x="18" y="24"/>
                  </a:lnTo>
                  <a:lnTo>
                    <a:pt x="6"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6" name="Freeform 215"/>
            <p:cNvSpPr>
              <a:spLocks/>
            </p:cNvSpPr>
            <p:nvPr/>
          </p:nvSpPr>
          <p:spPr bwMode="auto">
            <a:xfrm>
              <a:off x="2680" y="2630"/>
              <a:ext cx="9" cy="11"/>
            </a:xfrm>
            <a:custGeom>
              <a:avLst/>
              <a:gdLst/>
              <a:ahLst/>
              <a:cxnLst>
                <a:cxn ang="0">
                  <a:pos x="9" y="1"/>
                </a:cxn>
                <a:cxn ang="0">
                  <a:pos x="6" y="0"/>
                </a:cxn>
                <a:cxn ang="0">
                  <a:pos x="0" y="8"/>
                </a:cxn>
                <a:cxn ang="0">
                  <a:pos x="9" y="1"/>
                </a:cxn>
              </a:cxnLst>
              <a:rect l="0" t="0" r="r" b="b"/>
              <a:pathLst>
                <a:path w="9" h="8">
                  <a:moveTo>
                    <a:pt x="9" y="1"/>
                  </a:moveTo>
                  <a:lnTo>
                    <a:pt x="6" y="0"/>
                  </a:lnTo>
                  <a:lnTo>
                    <a:pt x="0" y="8"/>
                  </a:lnTo>
                  <a:lnTo>
                    <a:pt x="9"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7" name="Freeform 216"/>
            <p:cNvSpPr>
              <a:spLocks/>
            </p:cNvSpPr>
            <p:nvPr/>
          </p:nvSpPr>
          <p:spPr bwMode="auto">
            <a:xfrm>
              <a:off x="2687" y="2663"/>
              <a:ext cx="100" cy="120"/>
            </a:xfrm>
            <a:custGeom>
              <a:avLst/>
              <a:gdLst/>
              <a:ahLst/>
              <a:cxnLst>
                <a:cxn ang="0">
                  <a:pos x="16" y="20"/>
                </a:cxn>
                <a:cxn ang="0">
                  <a:pos x="13" y="27"/>
                </a:cxn>
                <a:cxn ang="0">
                  <a:pos x="9" y="27"/>
                </a:cxn>
                <a:cxn ang="0">
                  <a:pos x="19" y="36"/>
                </a:cxn>
                <a:cxn ang="0">
                  <a:pos x="10" y="34"/>
                </a:cxn>
                <a:cxn ang="0">
                  <a:pos x="5" y="51"/>
                </a:cxn>
                <a:cxn ang="0">
                  <a:pos x="0" y="51"/>
                </a:cxn>
                <a:cxn ang="0">
                  <a:pos x="7" y="63"/>
                </a:cxn>
                <a:cxn ang="0">
                  <a:pos x="11" y="67"/>
                </a:cxn>
                <a:cxn ang="0">
                  <a:pos x="5" y="62"/>
                </a:cxn>
                <a:cxn ang="0">
                  <a:pos x="12" y="73"/>
                </a:cxn>
                <a:cxn ang="0">
                  <a:pos x="10" y="73"/>
                </a:cxn>
                <a:cxn ang="0">
                  <a:pos x="19" y="84"/>
                </a:cxn>
                <a:cxn ang="0">
                  <a:pos x="17" y="82"/>
                </a:cxn>
                <a:cxn ang="0">
                  <a:pos x="28" y="96"/>
                </a:cxn>
                <a:cxn ang="0">
                  <a:pos x="39" y="109"/>
                </a:cxn>
                <a:cxn ang="0">
                  <a:pos x="43" y="102"/>
                </a:cxn>
                <a:cxn ang="0">
                  <a:pos x="47" y="104"/>
                </a:cxn>
                <a:cxn ang="0">
                  <a:pos x="51" y="100"/>
                </a:cxn>
                <a:cxn ang="0">
                  <a:pos x="47" y="93"/>
                </a:cxn>
                <a:cxn ang="0">
                  <a:pos x="46" y="88"/>
                </a:cxn>
                <a:cxn ang="0">
                  <a:pos x="45" y="82"/>
                </a:cxn>
                <a:cxn ang="0">
                  <a:pos x="59" y="81"/>
                </a:cxn>
                <a:cxn ang="0">
                  <a:pos x="60" y="70"/>
                </a:cxn>
                <a:cxn ang="0">
                  <a:pos x="70" y="81"/>
                </a:cxn>
                <a:cxn ang="0">
                  <a:pos x="79" y="78"/>
                </a:cxn>
                <a:cxn ang="0">
                  <a:pos x="82" y="82"/>
                </a:cxn>
                <a:cxn ang="0">
                  <a:pos x="87" y="78"/>
                </a:cxn>
                <a:cxn ang="0">
                  <a:pos x="91" y="52"/>
                </a:cxn>
                <a:cxn ang="0">
                  <a:pos x="82" y="37"/>
                </a:cxn>
                <a:cxn ang="0">
                  <a:pos x="89" y="27"/>
                </a:cxn>
                <a:cxn ang="0">
                  <a:pos x="88" y="15"/>
                </a:cxn>
                <a:cxn ang="0">
                  <a:pos x="71" y="16"/>
                </a:cxn>
                <a:cxn ang="0">
                  <a:pos x="72" y="0"/>
                </a:cxn>
                <a:cxn ang="0">
                  <a:pos x="57" y="0"/>
                </a:cxn>
                <a:cxn ang="0">
                  <a:pos x="41" y="0"/>
                </a:cxn>
                <a:cxn ang="0">
                  <a:pos x="41" y="20"/>
                </a:cxn>
                <a:cxn ang="0">
                  <a:pos x="29" y="20"/>
                </a:cxn>
                <a:cxn ang="0">
                  <a:pos x="17" y="20"/>
                </a:cxn>
                <a:cxn ang="0">
                  <a:pos x="16" y="20"/>
                </a:cxn>
              </a:cxnLst>
              <a:rect l="0" t="0" r="r" b="b"/>
              <a:pathLst>
                <a:path w="91" h="109">
                  <a:moveTo>
                    <a:pt x="16" y="20"/>
                  </a:moveTo>
                  <a:lnTo>
                    <a:pt x="13" y="27"/>
                  </a:lnTo>
                  <a:lnTo>
                    <a:pt x="9" y="27"/>
                  </a:lnTo>
                  <a:lnTo>
                    <a:pt x="19" y="36"/>
                  </a:lnTo>
                  <a:lnTo>
                    <a:pt x="10" y="34"/>
                  </a:lnTo>
                  <a:lnTo>
                    <a:pt x="5" y="51"/>
                  </a:lnTo>
                  <a:lnTo>
                    <a:pt x="0" y="51"/>
                  </a:lnTo>
                  <a:lnTo>
                    <a:pt x="7" y="63"/>
                  </a:lnTo>
                  <a:lnTo>
                    <a:pt x="11" y="67"/>
                  </a:lnTo>
                  <a:lnTo>
                    <a:pt x="5" y="62"/>
                  </a:lnTo>
                  <a:lnTo>
                    <a:pt x="12" y="73"/>
                  </a:lnTo>
                  <a:lnTo>
                    <a:pt x="10" y="73"/>
                  </a:lnTo>
                  <a:lnTo>
                    <a:pt x="19" y="84"/>
                  </a:lnTo>
                  <a:lnTo>
                    <a:pt x="17" y="82"/>
                  </a:lnTo>
                  <a:lnTo>
                    <a:pt x="28" y="96"/>
                  </a:lnTo>
                  <a:lnTo>
                    <a:pt x="39" y="109"/>
                  </a:lnTo>
                  <a:lnTo>
                    <a:pt x="43" y="102"/>
                  </a:lnTo>
                  <a:lnTo>
                    <a:pt x="47" y="104"/>
                  </a:lnTo>
                  <a:lnTo>
                    <a:pt x="51" y="100"/>
                  </a:lnTo>
                  <a:lnTo>
                    <a:pt x="47" y="93"/>
                  </a:lnTo>
                  <a:lnTo>
                    <a:pt x="46" y="88"/>
                  </a:lnTo>
                  <a:lnTo>
                    <a:pt x="45" y="82"/>
                  </a:lnTo>
                  <a:lnTo>
                    <a:pt x="59" y="81"/>
                  </a:lnTo>
                  <a:lnTo>
                    <a:pt x="60" y="70"/>
                  </a:lnTo>
                  <a:lnTo>
                    <a:pt x="70" y="81"/>
                  </a:lnTo>
                  <a:lnTo>
                    <a:pt x="79" y="78"/>
                  </a:lnTo>
                  <a:lnTo>
                    <a:pt x="82" y="82"/>
                  </a:lnTo>
                  <a:lnTo>
                    <a:pt x="87" y="78"/>
                  </a:lnTo>
                  <a:lnTo>
                    <a:pt x="91" y="52"/>
                  </a:lnTo>
                  <a:lnTo>
                    <a:pt x="82" y="37"/>
                  </a:lnTo>
                  <a:lnTo>
                    <a:pt x="89" y="27"/>
                  </a:lnTo>
                  <a:lnTo>
                    <a:pt x="88" y="15"/>
                  </a:lnTo>
                  <a:lnTo>
                    <a:pt x="71" y="16"/>
                  </a:lnTo>
                  <a:lnTo>
                    <a:pt x="72" y="0"/>
                  </a:lnTo>
                  <a:lnTo>
                    <a:pt x="57" y="0"/>
                  </a:lnTo>
                  <a:lnTo>
                    <a:pt x="41" y="0"/>
                  </a:lnTo>
                  <a:lnTo>
                    <a:pt x="41" y="20"/>
                  </a:lnTo>
                  <a:lnTo>
                    <a:pt x="29" y="20"/>
                  </a:lnTo>
                  <a:lnTo>
                    <a:pt x="17" y="20"/>
                  </a:lnTo>
                  <a:lnTo>
                    <a:pt x="16" y="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8" name="Freeform 217"/>
            <p:cNvSpPr>
              <a:spLocks/>
            </p:cNvSpPr>
            <p:nvPr/>
          </p:nvSpPr>
          <p:spPr bwMode="auto">
            <a:xfrm>
              <a:off x="2647" y="2696"/>
              <a:ext cx="4" cy="9"/>
            </a:xfrm>
            <a:custGeom>
              <a:avLst/>
              <a:gdLst/>
              <a:ahLst/>
              <a:cxnLst>
                <a:cxn ang="0">
                  <a:pos x="5" y="2"/>
                </a:cxn>
                <a:cxn ang="0">
                  <a:pos x="1" y="7"/>
                </a:cxn>
                <a:cxn ang="0">
                  <a:pos x="0" y="3"/>
                </a:cxn>
                <a:cxn ang="0">
                  <a:pos x="3" y="0"/>
                </a:cxn>
                <a:cxn ang="0">
                  <a:pos x="5" y="2"/>
                </a:cxn>
              </a:cxnLst>
              <a:rect l="0" t="0" r="r" b="b"/>
              <a:pathLst>
                <a:path w="5" h="7">
                  <a:moveTo>
                    <a:pt x="5" y="2"/>
                  </a:moveTo>
                  <a:lnTo>
                    <a:pt x="1" y="7"/>
                  </a:lnTo>
                  <a:lnTo>
                    <a:pt x="0" y="3"/>
                  </a:lnTo>
                  <a:lnTo>
                    <a:pt x="3"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9" name="Freeform 218"/>
            <p:cNvSpPr>
              <a:spLocks/>
            </p:cNvSpPr>
            <p:nvPr/>
          </p:nvSpPr>
          <p:spPr bwMode="auto">
            <a:xfrm>
              <a:off x="2660" y="2672"/>
              <a:ext cx="2" cy="2"/>
            </a:xfrm>
            <a:custGeom>
              <a:avLst/>
              <a:gdLst/>
              <a:ahLst/>
              <a:cxnLst>
                <a:cxn ang="0">
                  <a:pos x="2" y="2"/>
                </a:cxn>
                <a:cxn ang="0">
                  <a:pos x="0" y="0"/>
                </a:cxn>
                <a:cxn ang="0">
                  <a:pos x="3" y="0"/>
                </a:cxn>
                <a:cxn ang="0">
                  <a:pos x="2" y="2"/>
                </a:cxn>
              </a:cxnLst>
              <a:rect l="0" t="0" r="r" b="b"/>
              <a:pathLst>
                <a:path w="3" h="2">
                  <a:moveTo>
                    <a:pt x="2" y="2"/>
                  </a:moveTo>
                  <a:lnTo>
                    <a:pt x="0" y="0"/>
                  </a:lnTo>
                  <a:lnTo>
                    <a:pt x="3" y="0"/>
                  </a:lnTo>
                  <a:lnTo>
                    <a:pt x="2"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0" name="Freeform 219"/>
            <p:cNvSpPr>
              <a:spLocks/>
            </p:cNvSpPr>
            <p:nvPr/>
          </p:nvSpPr>
          <p:spPr bwMode="auto">
            <a:xfrm>
              <a:off x="3049" y="2725"/>
              <a:ext cx="191" cy="214"/>
            </a:xfrm>
            <a:custGeom>
              <a:avLst/>
              <a:gdLst/>
              <a:ahLst/>
              <a:cxnLst>
                <a:cxn ang="0">
                  <a:pos x="131" y="42"/>
                </a:cxn>
                <a:cxn ang="0">
                  <a:pos x="129" y="36"/>
                </a:cxn>
                <a:cxn ang="0">
                  <a:pos x="115" y="26"/>
                </a:cxn>
                <a:cxn ang="0">
                  <a:pos x="101" y="18"/>
                </a:cxn>
                <a:cxn ang="0">
                  <a:pos x="86" y="8"/>
                </a:cxn>
                <a:cxn ang="0">
                  <a:pos x="71" y="0"/>
                </a:cxn>
                <a:cxn ang="0">
                  <a:pos x="57" y="0"/>
                </a:cxn>
                <a:cxn ang="0">
                  <a:pos x="44" y="0"/>
                </a:cxn>
                <a:cxn ang="0">
                  <a:pos x="30" y="1"/>
                </a:cxn>
                <a:cxn ang="0">
                  <a:pos x="17" y="1"/>
                </a:cxn>
                <a:cxn ang="0">
                  <a:pos x="23" y="23"/>
                </a:cxn>
                <a:cxn ang="0">
                  <a:pos x="18" y="25"/>
                </a:cxn>
                <a:cxn ang="0">
                  <a:pos x="18" y="34"/>
                </a:cxn>
                <a:cxn ang="0">
                  <a:pos x="21" y="40"/>
                </a:cxn>
                <a:cxn ang="0">
                  <a:pos x="12" y="50"/>
                </a:cxn>
                <a:cxn ang="0">
                  <a:pos x="3" y="62"/>
                </a:cxn>
                <a:cxn ang="0">
                  <a:pos x="0" y="62"/>
                </a:cxn>
                <a:cxn ang="0">
                  <a:pos x="0" y="76"/>
                </a:cxn>
                <a:cxn ang="0">
                  <a:pos x="1" y="89"/>
                </a:cxn>
                <a:cxn ang="0">
                  <a:pos x="6" y="103"/>
                </a:cxn>
                <a:cxn ang="0">
                  <a:pos x="13" y="116"/>
                </a:cxn>
                <a:cxn ang="0">
                  <a:pos x="20" y="128"/>
                </a:cxn>
                <a:cxn ang="0">
                  <a:pos x="20" y="132"/>
                </a:cxn>
                <a:cxn ang="0">
                  <a:pos x="37" y="142"/>
                </a:cxn>
                <a:cxn ang="0">
                  <a:pos x="54" y="151"/>
                </a:cxn>
                <a:cxn ang="0">
                  <a:pos x="69" y="154"/>
                </a:cxn>
                <a:cxn ang="0">
                  <a:pos x="75" y="157"/>
                </a:cxn>
                <a:cxn ang="0">
                  <a:pos x="80" y="175"/>
                </a:cxn>
                <a:cxn ang="0">
                  <a:pos x="85" y="190"/>
                </a:cxn>
                <a:cxn ang="0">
                  <a:pos x="91" y="190"/>
                </a:cxn>
                <a:cxn ang="0">
                  <a:pos x="101" y="188"/>
                </a:cxn>
                <a:cxn ang="0">
                  <a:pos x="119" y="192"/>
                </a:cxn>
                <a:cxn ang="0">
                  <a:pos x="131" y="187"/>
                </a:cxn>
                <a:cxn ang="0">
                  <a:pos x="139" y="186"/>
                </a:cxn>
                <a:cxn ang="0">
                  <a:pos x="155" y="179"/>
                </a:cxn>
                <a:cxn ang="0">
                  <a:pos x="171" y="170"/>
                </a:cxn>
                <a:cxn ang="0">
                  <a:pos x="161" y="160"/>
                </a:cxn>
                <a:cxn ang="0">
                  <a:pos x="158" y="142"/>
                </a:cxn>
                <a:cxn ang="0">
                  <a:pos x="156" y="128"/>
                </a:cxn>
                <a:cxn ang="0">
                  <a:pos x="155" y="122"/>
                </a:cxn>
                <a:cxn ang="0">
                  <a:pos x="158" y="106"/>
                </a:cxn>
                <a:cxn ang="0">
                  <a:pos x="147" y="90"/>
                </a:cxn>
                <a:cxn ang="0">
                  <a:pos x="155" y="66"/>
                </a:cxn>
                <a:cxn ang="0">
                  <a:pos x="143" y="54"/>
                </a:cxn>
                <a:cxn ang="0">
                  <a:pos x="131" y="42"/>
                </a:cxn>
              </a:cxnLst>
              <a:rect l="0" t="0" r="r" b="b"/>
              <a:pathLst>
                <a:path w="171" h="192">
                  <a:moveTo>
                    <a:pt x="131" y="42"/>
                  </a:moveTo>
                  <a:lnTo>
                    <a:pt x="129" y="36"/>
                  </a:lnTo>
                  <a:lnTo>
                    <a:pt x="115" y="26"/>
                  </a:lnTo>
                  <a:lnTo>
                    <a:pt x="101" y="18"/>
                  </a:lnTo>
                  <a:lnTo>
                    <a:pt x="86" y="8"/>
                  </a:lnTo>
                  <a:lnTo>
                    <a:pt x="71" y="0"/>
                  </a:lnTo>
                  <a:lnTo>
                    <a:pt x="57" y="0"/>
                  </a:lnTo>
                  <a:lnTo>
                    <a:pt x="44" y="0"/>
                  </a:lnTo>
                  <a:lnTo>
                    <a:pt x="30" y="1"/>
                  </a:lnTo>
                  <a:lnTo>
                    <a:pt x="17" y="1"/>
                  </a:lnTo>
                  <a:lnTo>
                    <a:pt x="23" y="23"/>
                  </a:lnTo>
                  <a:lnTo>
                    <a:pt x="18" y="25"/>
                  </a:lnTo>
                  <a:lnTo>
                    <a:pt x="18" y="34"/>
                  </a:lnTo>
                  <a:lnTo>
                    <a:pt x="21" y="40"/>
                  </a:lnTo>
                  <a:lnTo>
                    <a:pt x="12" y="50"/>
                  </a:lnTo>
                  <a:lnTo>
                    <a:pt x="3" y="62"/>
                  </a:lnTo>
                  <a:lnTo>
                    <a:pt x="0" y="62"/>
                  </a:lnTo>
                  <a:lnTo>
                    <a:pt x="0" y="76"/>
                  </a:lnTo>
                  <a:lnTo>
                    <a:pt x="1" y="89"/>
                  </a:lnTo>
                  <a:lnTo>
                    <a:pt x="6" y="103"/>
                  </a:lnTo>
                  <a:lnTo>
                    <a:pt x="13" y="116"/>
                  </a:lnTo>
                  <a:lnTo>
                    <a:pt x="20" y="128"/>
                  </a:lnTo>
                  <a:lnTo>
                    <a:pt x="20" y="132"/>
                  </a:lnTo>
                  <a:lnTo>
                    <a:pt x="37" y="142"/>
                  </a:lnTo>
                  <a:lnTo>
                    <a:pt x="54" y="151"/>
                  </a:lnTo>
                  <a:lnTo>
                    <a:pt x="69" y="154"/>
                  </a:lnTo>
                  <a:lnTo>
                    <a:pt x="75" y="157"/>
                  </a:lnTo>
                  <a:lnTo>
                    <a:pt x="80" y="175"/>
                  </a:lnTo>
                  <a:lnTo>
                    <a:pt x="85" y="190"/>
                  </a:lnTo>
                  <a:lnTo>
                    <a:pt x="91" y="190"/>
                  </a:lnTo>
                  <a:lnTo>
                    <a:pt x="101" y="188"/>
                  </a:lnTo>
                  <a:lnTo>
                    <a:pt x="119" y="192"/>
                  </a:lnTo>
                  <a:lnTo>
                    <a:pt x="131" y="187"/>
                  </a:lnTo>
                  <a:lnTo>
                    <a:pt x="139" y="186"/>
                  </a:lnTo>
                  <a:lnTo>
                    <a:pt x="155" y="179"/>
                  </a:lnTo>
                  <a:lnTo>
                    <a:pt x="171" y="170"/>
                  </a:lnTo>
                  <a:lnTo>
                    <a:pt x="161" y="160"/>
                  </a:lnTo>
                  <a:lnTo>
                    <a:pt x="158" y="142"/>
                  </a:lnTo>
                  <a:lnTo>
                    <a:pt x="156" y="128"/>
                  </a:lnTo>
                  <a:lnTo>
                    <a:pt x="155" y="122"/>
                  </a:lnTo>
                  <a:lnTo>
                    <a:pt x="158" y="106"/>
                  </a:lnTo>
                  <a:lnTo>
                    <a:pt x="147" y="90"/>
                  </a:lnTo>
                  <a:lnTo>
                    <a:pt x="155" y="66"/>
                  </a:lnTo>
                  <a:lnTo>
                    <a:pt x="143" y="54"/>
                  </a:lnTo>
                  <a:lnTo>
                    <a:pt x="131"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1" name="Freeform 220"/>
            <p:cNvSpPr>
              <a:spLocks/>
            </p:cNvSpPr>
            <p:nvPr/>
          </p:nvSpPr>
          <p:spPr bwMode="auto">
            <a:xfrm>
              <a:off x="3220" y="2821"/>
              <a:ext cx="7" cy="13"/>
            </a:xfrm>
            <a:custGeom>
              <a:avLst/>
              <a:gdLst/>
              <a:ahLst/>
              <a:cxnLst>
                <a:cxn ang="0">
                  <a:pos x="6" y="12"/>
                </a:cxn>
                <a:cxn ang="0">
                  <a:pos x="4" y="0"/>
                </a:cxn>
                <a:cxn ang="0">
                  <a:pos x="0" y="4"/>
                </a:cxn>
                <a:cxn ang="0">
                  <a:pos x="6" y="12"/>
                </a:cxn>
              </a:cxnLst>
              <a:rect l="0" t="0" r="r" b="b"/>
              <a:pathLst>
                <a:path w="6" h="12">
                  <a:moveTo>
                    <a:pt x="6" y="12"/>
                  </a:moveTo>
                  <a:lnTo>
                    <a:pt x="4" y="0"/>
                  </a:lnTo>
                  <a:lnTo>
                    <a:pt x="0" y="4"/>
                  </a:lnTo>
                  <a:lnTo>
                    <a:pt x="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2" name="Freeform 221"/>
            <p:cNvSpPr>
              <a:spLocks/>
            </p:cNvSpPr>
            <p:nvPr/>
          </p:nvSpPr>
          <p:spPr bwMode="auto">
            <a:xfrm>
              <a:off x="3053" y="2621"/>
              <a:ext cx="96" cy="113"/>
            </a:xfrm>
            <a:custGeom>
              <a:avLst/>
              <a:gdLst/>
              <a:ahLst/>
              <a:cxnLst>
                <a:cxn ang="0">
                  <a:pos x="77" y="15"/>
                </a:cxn>
                <a:cxn ang="0">
                  <a:pos x="70" y="0"/>
                </a:cxn>
                <a:cxn ang="0">
                  <a:pos x="63" y="9"/>
                </a:cxn>
                <a:cxn ang="0">
                  <a:pos x="45" y="9"/>
                </a:cxn>
                <a:cxn ang="0">
                  <a:pos x="37" y="11"/>
                </a:cxn>
                <a:cxn ang="0">
                  <a:pos x="34" y="9"/>
                </a:cxn>
                <a:cxn ang="0">
                  <a:pos x="22" y="10"/>
                </a:cxn>
                <a:cxn ang="0">
                  <a:pos x="21" y="14"/>
                </a:cxn>
                <a:cxn ang="0">
                  <a:pos x="19" y="29"/>
                </a:cxn>
                <a:cxn ang="0">
                  <a:pos x="28" y="38"/>
                </a:cxn>
                <a:cxn ang="0">
                  <a:pos x="17" y="48"/>
                </a:cxn>
                <a:cxn ang="0">
                  <a:pos x="7" y="60"/>
                </a:cxn>
                <a:cxn ang="0">
                  <a:pos x="4" y="81"/>
                </a:cxn>
                <a:cxn ang="0">
                  <a:pos x="0" y="101"/>
                </a:cxn>
                <a:cxn ang="0">
                  <a:pos x="5" y="101"/>
                </a:cxn>
                <a:cxn ang="0">
                  <a:pos x="15" y="95"/>
                </a:cxn>
                <a:cxn ang="0">
                  <a:pos x="28" y="95"/>
                </a:cxn>
                <a:cxn ang="0">
                  <a:pos x="42" y="94"/>
                </a:cxn>
                <a:cxn ang="0">
                  <a:pos x="55" y="94"/>
                </a:cxn>
                <a:cxn ang="0">
                  <a:pos x="69" y="94"/>
                </a:cxn>
                <a:cxn ang="0">
                  <a:pos x="69" y="75"/>
                </a:cxn>
                <a:cxn ang="0">
                  <a:pos x="79" y="57"/>
                </a:cxn>
                <a:cxn ang="0">
                  <a:pos x="87" y="42"/>
                </a:cxn>
                <a:cxn ang="0">
                  <a:pos x="82" y="28"/>
                </a:cxn>
                <a:cxn ang="0">
                  <a:pos x="77" y="15"/>
                </a:cxn>
              </a:cxnLst>
              <a:rect l="0" t="0" r="r" b="b"/>
              <a:pathLst>
                <a:path w="87" h="101">
                  <a:moveTo>
                    <a:pt x="77" y="15"/>
                  </a:moveTo>
                  <a:lnTo>
                    <a:pt x="70" y="0"/>
                  </a:lnTo>
                  <a:lnTo>
                    <a:pt x="63" y="9"/>
                  </a:lnTo>
                  <a:lnTo>
                    <a:pt x="45" y="9"/>
                  </a:lnTo>
                  <a:lnTo>
                    <a:pt x="37" y="11"/>
                  </a:lnTo>
                  <a:lnTo>
                    <a:pt x="34" y="9"/>
                  </a:lnTo>
                  <a:lnTo>
                    <a:pt x="22" y="10"/>
                  </a:lnTo>
                  <a:lnTo>
                    <a:pt x="21" y="14"/>
                  </a:lnTo>
                  <a:lnTo>
                    <a:pt x="19" y="29"/>
                  </a:lnTo>
                  <a:lnTo>
                    <a:pt x="28" y="38"/>
                  </a:lnTo>
                  <a:lnTo>
                    <a:pt x="17" y="48"/>
                  </a:lnTo>
                  <a:lnTo>
                    <a:pt x="7" y="60"/>
                  </a:lnTo>
                  <a:lnTo>
                    <a:pt x="4" y="81"/>
                  </a:lnTo>
                  <a:lnTo>
                    <a:pt x="0" y="101"/>
                  </a:lnTo>
                  <a:lnTo>
                    <a:pt x="5" y="101"/>
                  </a:lnTo>
                  <a:lnTo>
                    <a:pt x="15" y="95"/>
                  </a:lnTo>
                  <a:lnTo>
                    <a:pt x="28" y="95"/>
                  </a:lnTo>
                  <a:lnTo>
                    <a:pt x="42" y="94"/>
                  </a:lnTo>
                  <a:lnTo>
                    <a:pt x="55" y="94"/>
                  </a:lnTo>
                  <a:lnTo>
                    <a:pt x="69" y="94"/>
                  </a:lnTo>
                  <a:lnTo>
                    <a:pt x="69" y="75"/>
                  </a:lnTo>
                  <a:lnTo>
                    <a:pt x="79" y="57"/>
                  </a:lnTo>
                  <a:lnTo>
                    <a:pt x="87" y="42"/>
                  </a:lnTo>
                  <a:lnTo>
                    <a:pt x="82" y="28"/>
                  </a:lnTo>
                  <a:lnTo>
                    <a:pt x="77"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3" name="Freeform 222"/>
            <p:cNvSpPr>
              <a:spLocks/>
            </p:cNvSpPr>
            <p:nvPr/>
          </p:nvSpPr>
          <p:spPr bwMode="auto">
            <a:xfrm>
              <a:off x="2747" y="2601"/>
              <a:ext cx="335" cy="373"/>
            </a:xfrm>
            <a:custGeom>
              <a:avLst/>
              <a:gdLst/>
              <a:ahLst/>
              <a:cxnLst>
                <a:cxn ang="0">
                  <a:pos x="270" y="132"/>
                </a:cxn>
                <a:cxn ang="0">
                  <a:pos x="267" y="143"/>
                </a:cxn>
                <a:cxn ang="0">
                  <a:pos x="268" y="145"/>
                </a:cxn>
                <a:cxn ang="0">
                  <a:pos x="274" y="175"/>
                </a:cxn>
                <a:cxn ang="0">
                  <a:pos x="275" y="202"/>
                </a:cxn>
                <a:cxn ang="0">
                  <a:pos x="287" y="229"/>
                </a:cxn>
                <a:cxn ang="0">
                  <a:pos x="279" y="245"/>
                </a:cxn>
                <a:cxn ang="0">
                  <a:pos x="256" y="262"/>
                </a:cxn>
                <a:cxn ang="0">
                  <a:pos x="258" y="293"/>
                </a:cxn>
                <a:cxn ang="0">
                  <a:pos x="271" y="319"/>
                </a:cxn>
                <a:cxn ang="0">
                  <a:pos x="274" y="336"/>
                </a:cxn>
                <a:cxn ang="0">
                  <a:pos x="263" y="335"/>
                </a:cxn>
                <a:cxn ang="0">
                  <a:pos x="240" y="310"/>
                </a:cxn>
                <a:cxn ang="0">
                  <a:pos x="227" y="310"/>
                </a:cxn>
                <a:cxn ang="0">
                  <a:pos x="204" y="297"/>
                </a:cxn>
                <a:cxn ang="0">
                  <a:pos x="185" y="291"/>
                </a:cxn>
                <a:cxn ang="0">
                  <a:pos x="160" y="295"/>
                </a:cxn>
                <a:cxn ang="0">
                  <a:pos x="154" y="270"/>
                </a:cxn>
                <a:cxn ang="0">
                  <a:pos x="153" y="229"/>
                </a:cxn>
                <a:cxn ang="0">
                  <a:pos x="132" y="222"/>
                </a:cxn>
                <a:cxn ang="0">
                  <a:pos x="113" y="237"/>
                </a:cxn>
                <a:cxn ang="0">
                  <a:pos x="83" y="237"/>
                </a:cxn>
                <a:cxn ang="0">
                  <a:pos x="70" y="203"/>
                </a:cxn>
                <a:cxn ang="0">
                  <a:pos x="43" y="202"/>
                </a:cxn>
                <a:cxn ang="0">
                  <a:pos x="16" y="201"/>
                </a:cxn>
                <a:cxn ang="0">
                  <a:pos x="0" y="199"/>
                </a:cxn>
                <a:cxn ang="0">
                  <a:pos x="7" y="184"/>
                </a:cxn>
                <a:cxn ang="0">
                  <a:pos x="23" y="181"/>
                </a:cxn>
                <a:cxn ang="0">
                  <a:pos x="36" y="174"/>
                </a:cxn>
                <a:cxn ang="0">
                  <a:pos x="51" y="171"/>
                </a:cxn>
                <a:cxn ang="0">
                  <a:pos x="65" y="145"/>
                </a:cxn>
                <a:cxn ang="0">
                  <a:pos x="78" y="117"/>
                </a:cxn>
                <a:cxn ang="0">
                  <a:pos x="91" y="89"/>
                </a:cxn>
                <a:cxn ang="0">
                  <a:pos x="96" y="61"/>
                </a:cxn>
                <a:cxn ang="0">
                  <a:pos x="102" y="33"/>
                </a:cxn>
                <a:cxn ang="0">
                  <a:pos x="114" y="3"/>
                </a:cxn>
                <a:cxn ang="0">
                  <a:pos x="147" y="17"/>
                </a:cxn>
                <a:cxn ang="0">
                  <a:pos x="168" y="10"/>
                </a:cxn>
                <a:cxn ang="0">
                  <a:pos x="191" y="5"/>
                </a:cxn>
                <a:cxn ang="0">
                  <a:pos x="209" y="0"/>
                </a:cxn>
                <a:cxn ang="0">
                  <a:pos x="234" y="3"/>
                </a:cxn>
                <a:cxn ang="0">
                  <a:pos x="246" y="9"/>
                </a:cxn>
                <a:cxn ang="0">
                  <a:pos x="268" y="16"/>
                </a:cxn>
                <a:cxn ang="0">
                  <a:pos x="285" y="22"/>
                </a:cxn>
                <a:cxn ang="0">
                  <a:pos x="295" y="48"/>
                </a:cxn>
                <a:cxn ang="0">
                  <a:pos x="293" y="67"/>
                </a:cxn>
                <a:cxn ang="0">
                  <a:pos x="280" y="100"/>
                </a:cxn>
              </a:cxnLst>
              <a:rect l="0" t="0" r="r" b="b"/>
              <a:pathLst>
                <a:path w="304" h="336">
                  <a:moveTo>
                    <a:pt x="276" y="120"/>
                  </a:moveTo>
                  <a:lnTo>
                    <a:pt x="270" y="132"/>
                  </a:lnTo>
                  <a:lnTo>
                    <a:pt x="265" y="143"/>
                  </a:lnTo>
                  <a:lnTo>
                    <a:pt x="267" y="143"/>
                  </a:lnTo>
                  <a:lnTo>
                    <a:pt x="267" y="144"/>
                  </a:lnTo>
                  <a:lnTo>
                    <a:pt x="268" y="145"/>
                  </a:lnTo>
                  <a:lnTo>
                    <a:pt x="270" y="160"/>
                  </a:lnTo>
                  <a:lnTo>
                    <a:pt x="274" y="175"/>
                  </a:lnTo>
                  <a:lnTo>
                    <a:pt x="274" y="189"/>
                  </a:lnTo>
                  <a:lnTo>
                    <a:pt x="275" y="202"/>
                  </a:lnTo>
                  <a:lnTo>
                    <a:pt x="280" y="216"/>
                  </a:lnTo>
                  <a:lnTo>
                    <a:pt x="287" y="229"/>
                  </a:lnTo>
                  <a:lnTo>
                    <a:pt x="294" y="241"/>
                  </a:lnTo>
                  <a:lnTo>
                    <a:pt x="279" y="245"/>
                  </a:lnTo>
                  <a:lnTo>
                    <a:pt x="264" y="249"/>
                  </a:lnTo>
                  <a:lnTo>
                    <a:pt x="256" y="262"/>
                  </a:lnTo>
                  <a:lnTo>
                    <a:pt x="259" y="277"/>
                  </a:lnTo>
                  <a:lnTo>
                    <a:pt x="258" y="293"/>
                  </a:lnTo>
                  <a:lnTo>
                    <a:pt x="256" y="309"/>
                  </a:lnTo>
                  <a:lnTo>
                    <a:pt x="271" y="319"/>
                  </a:lnTo>
                  <a:lnTo>
                    <a:pt x="276" y="313"/>
                  </a:lnTo>
                  <a:lnTo>
                    <a:pt x="274" y="336"/>
                  </a:lnTo>
                  <a:lnTo>
                    <a:pt x="269" y="335"/>
                  </a:lnTo>
                  <a:lnTo>
                    <a:pt x="263" y="335"/>
                  </a:lnTo>
                  <a:lnTo>
                    <a:pt x="250" y="317"/>
                  </a:lnTo>
                  <a:lnTo>
                    <a:pt x="240" y="310"/>
                  </a:lnTo>
                  <a:lnTo>
                    <a:pt x="233" y="304"/>
                  </a:lnTo>
                  <a:lnTo>
                    <a:pt x="227" y="310"/>
                  </a:lnTo>
                  <a:lnTo>
                    <a:pt x="207" y="303"/>
                  </a:lnTo>
                  <a:lnTo>
                    <a:pt x="204" y="297"/>
                  </a:lnTo>
                  <a:lnTo>
                    <a:pt x="191" y="299"/>
                  </a:lnTo>
                  <a:lnTo>
                    <a:pt x="185" y="291"/>
                  </a:lnTo>
                  <a:lnTo>
                    <a:pt x="173" y="293"/>
                  </a:lnTo>
                  <a:lnTo>
                    <a:pt x="160" y="295"/>
                  </a:lnTo>
                  <a:lnTo>
                    <a:pt x="159" y="288"/>
                  </a:lnTo>
                  <a:lnTo>
                    <a:pt x="154" y="270"/>
                  </a:lnTo>
                  <a:lnTo>
                    <a:pt x="154" y="250"/>
                  </a:lnTo>
                  <a:lnTo>
                    <a:pt x="153" y="229"/>
                  </a:lnTo>
                  <a:lnTo>
                    <a:pt x="132" y="226"/>
                  </a:lnTo>
                  <a:lnTo>
                    <a:pt x="132" y="222"/>
                  </a:lnTo>
                  <a:lnTo>
                    <a:pt x="117" y="221"/>
                  </a:lnTo>
                  <a:lnTo>
                    <a:pt x="113" y="237"/>
                  </a:lnTo>
                  <a:lnTo>
                    <a:pt x="94" y="240"/>
                  </a:lnTo>
                  <a:lnTo>
                    <a:pt x="83" y="237"/>
                  </a:lnTo>
                  <a:lnTo>
                    <a:pt x="76" y="220"/>
                  </a:lnTo>
                  <a:lnTo>
                    <a:pt x="70" y="203"/>
                  </a:lnTo>
                  <a:lnTo>
                    <a:pt x="57" y="202"/>
                  </a:lnTo>
                  <a:lnTo>
                    <a:pt x="43" y="202"/>
                  </a:lnTo>
                  <a:lnTo>
                    <a:pt x="29" y="201"/>
                  </a:lnTo>
                  <a:lnTo>
                    <a:pt x="16" y="201"/>
                  </a:lnTo>
                  <a:lnTo>
                    <a:pt x="3" y="202"/>
                  </a:lnTo>
                  <a:lnTo>
                    <a:pt x="0" y="199"/>
                  </a:lnTo>
                  <a:lnTo>
                    <a:pt x="6" y="198"/>
                  </a:lnTo>
                  <a:lnTo>
                    <a:pt x="7" y="184"/>
                  </a:lnTo>
                  <a:lnTo>
                    <a:pt x="15" y="178"/>
                  </a:lnTo>
                  <a:lnTo>
                    <a:pt x="23" y="181"/>
                  </a:lnTo>
                  <a:lnTo>
                    <a:pt x="27" y="175"/>
                  </a:lnTo>
                  <a:lnTo>
                    <a:pt x="36" y="174"/>
                  </a:lnTo>
                  <a:lnTo>
                    <a:pt x="39" y="183"/>
                  </a:lnTo>
                  <a:lnTo>
                    <a:pt x="51" y="171"/>
                  </a:lnTo>
                  <a:lnTo>
                    <a:pt x="63" y="159"/>
                  </a:lnTo>
                  <a:lnTo>
                    <a:pt x="65" y="145"/>
                  </a:lnTo>
                  <a:lnTo>
                    <a:pt x="66" y="131"/>
                  </a:lnTo>
                  <a:lnTo>
                    <a:pt x="78" y="117"/>
                  </a:lnTo>
                  <a:lnTo>
                    <a:pt x="89" y="102"/>
                  </a:lnTo>
                  <a:lnTo>
                    <a:pt x="91" y="89"/>
                  </a:lnTo>
                  <a:lnTo>
                    <a:pt x="94" y="75"/>
                  </a:lnTo>
                  <a:lnTo>
                    <a:pt x="96" y="61"/>
                  </a:lnTo>
                  <a:lnTo>
                    <a:pt x="99" y="48"/>
                  </a:lnTo>
                  <a:lnTo>
                    <a:pt x="102" y="33"/>
                  </a:lnTo>
                  <a:lnTo>
                    <a:pt x="102" y="19"/>
                  </a:lnTo>
                  <a:lnTo>
                    <a:pt x="114" y="3"/>
                  </a:lnTo>
                  <a:lnTo>
                    <a:pt x="131" y="12"/>
                  </a:lnTo>
                  <a:lnTo>
                    <a:pt x="147" y="17"/>
                  </a:lnTo>
                  <a:lnTo>
                    <a:pt x="161" y="21"/>
                  </a:lnTo>
                  <a:lnTo>
                    <a:pt x="168" y="10"/>
                  </a:lnTo>
                  <a:lnTo>
                    <a:pt x="175" y="11"/>
                  </a:lnTo>
                  <a:lnTo>
                    <a:pt x="191" y="5"/>
                  </a:lnTo>
                  <a:lnTo>
                    <a:pt x="203" y="5"/>
                  </a:lnTo>
                  <a:lnTo>
                    <a:pt x="209" y="0"/>
                  </a:lnTo>
                  <a:lnTo>
                    <a:pt x="221" y="1"/>
                  </a:lnTo>
                  <a:lnTo>
                    <a:pt x="234" y="3"/>
                  </a:lnTo>
                  <a:lnTo>
                    <a:pt x="243" y="5"/>
                  </a:lnTo>
                  <a:lnTo>
                    <a:pt x="246" y="9"/>
                  </a:lnTo>
                  <a:lnTo>
                    <a:pt x="258" y="17"/>
                  </a:lnTo>
                  <a:lnTo>
                    <a:pt x="268" y="16"/>
                  </a:lnTo>
                  <a:lnTo>
                    <a:pt x="274" y="11"/>
                  </a:lnTo>
                  <a:lnTo>
                    <a:pt x="285" y="22"/>
                  </a:lnTo>
                  <a:lnTo>
                    <a:pt x="297" y="33"/>
                  </a:lnTo>
                  <a:lnTo>
                    <a:pt x="295" y="48"/>
                  </a:lnTo>
                  <a:lnTo>
                    <a:pt x="304" y="57"/>
                  </a:lnTo>
                  <a:lnTo>
                    <a:pt x="293" y="67"/>
                  </a:lnTo>
                  <a:lnTo>
                    <a:pt x="283" y="79"/>
                  </a:lnTo>
                  <a:lnTo>
                    <a:pt x="280" y="100"/>
                  </a:lnTo>
                  <a:lnTo>
                    <a:pt x="276" y="1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4" name="Freeform 223"/>
            <p:cNvSpPr>
              <a:spLocks/>
            </p:cNvSpPr>
            <p:nvPr/>
          </p:nvSpPr>
          <p:spPr bwMode="auto">
            <a:xfrm>
              <a:off x="2916" y="2867"/>
              <a:ext cx="206" cy="200"/>
            </a:xfrm>
            <a:custGeom>
              <a:avLst/>
              <a:gdLst/>
              <a:ahLst/>
              <a:cxnLst>
                <a:cxn ang="0">
                  <a:pos x="32" y="87"/>
                </a:cxn>
                <a:cxn ang="0">
                  <a:pos x="16" y="87"/>
                </a:cxn>
                <a:cxn ang="0">
                  <a:pos x="1" y="88"/>
                </a:cxn>
                <a:cxn ang="0">
                  <a:pos x="0" y="101"/>
                </a:cxn>
                <a:cxn ang="0">
                  <a:pos x="0" y="116"/>
                </a:cxn>
                <a:cxn ang="0">
                  <a:pos x="0" y="130"/>
                </a:cxn>
                <a:cxn ang="0">
                  <a:pos x="0" y="144"/>
                </a:cxn>
                <a:cxn ang="0">
                  <a:pos x="10" y="158"/>
                </a:cxn>
                <a:cxn ang="0">
                  <a:pos x="21" y="171"/>
                </a:cxn>
                <a:cxn ang="0">
                  <a:pos x="32" y="168"/>
                </a:cxn>
                <a:cxn ang="0">
                  <a:pos x="49" y="173"/>
                </a:cxn>
                <a:cxn ang="0">
                  <a:pos x="72" y="179"/>
                </a:cxn>
                <a:cxn ang="0">
                  <a:pos x="86" y="165"/>
                </a:cxn>
                <a:cxn ang="0">
                  <a:pos x="103" y="152"/>
                </a:cxn>
                <a:cxn ang="0">
                  <a:pos x="108" y="141"/>
                </a:cxn>
                <a:cxn ang="0">
                  <a:pos x="120" y="137"/>
                </a:cxn>
                <a:cxn ang="0">
                  <a:pos x="132" y="135"/>
                </a:cxn>
                <a:cxn ang="0">
                  <a:pos x="129" y="125"/>
                </a:cxn>
                <a:cxn ang="0">
                  <a:pos x="141" y="120"/>
                </a:cxn>
                <a:cxn ang="0">
                  <a:pos x="152" y="116"/>
                </a:cxn>
                <a:cxn ang="0">
                  <a:pos x="164" y="111"/>
                </a:cxn>
                <a:cxn ang="0">
                  <a:pos x="176" y="106"/>
                </a:cxn>
                <a:cxn ang="0">
                  <a:pos x="169" y="98"/>
                </a:cxn>
                <a:cxn ang="0">
                  <a:pos x="177" y="81"/>
                </a:cxn>
                <a:cxn ang="0">
                  <a:pos x="180" y="76"/>
                </a:cxn>
                <a:cxn ang="0">
                  <a:pos x="181" y="62"/>
                </a:cxn>
                <a:cxn ang="0">
                  <a:pos x="182" y="48"/>
                </a:cxn>
                <a:cxn ang="0">
                  <a:pos x="186" y="41"/>
                </a:cxn>
                <a:cxn ang="0">
                  <a:pos x="176" y="27"/>
                </a:cxn>
                <a:cxn ang="0">
                  <a:pos x="175" y="23"/>
                </a:cxn>
                <a:cxn ang="0">
                  <a:pos x="158" y="14"/>
                </a:cxn>
                <a:cxn ang="0">
                  <a:pos x="141" y="4"/>
                </a:cxn>
                <a:cxn ang="0">
                  <a:pos x="141" y="0"/>
                </a:cxn>
                <a:cxn ang="0">
                  <a:pos x="126" y="4"/>
                </a:cxn>
                <a:cxn ang="0">
                  <a:pos x="111" y="8"/>
                </a:cxn>
                <a:cxn ang="0">
                  <a:pos x="103" y="21"/>
                </a:cxn>
                <a:cxn ang="0">
                  <a:pos x="106" y="36"/>
                </a:cxn>
                <a:cxn ang="0">
                  <a:pos x="105" y="52"/>
                </a:cxn>
                <a:cxn ang="0">
                  <a:pos x="103" y="68"/>
                </a:cxn>
                <a:cxn ang="0">
                  <a:pos x="118" y="78"/>
                </a:cxn>
                <a:cxn ang="0">
                  <a:pos x="123" y="72"/>
                </a:cxn>
                <a:cxn ang="0">
                  <a:pos x="121" y="95"/>
                </a:cxn>
                <a:cxn ang="0">
                  <a:pos x="116" y="94"/>
                </a:cxn>
                <a:cxn ang="0">
                  <a:pos x="110" y="94"/>
                </a:cxn>
                <a:cxn ang="0">
                  <a:pos x="97" y="76"/>
                </a:cxn>
                <a:cxn ang="0">
                  <a:pos x="87" y="69"/>
                </a:cxn>
                <a:cxn ang="0">
                  <a:pos x="80" y="63"/>
                </a:cxn>
                <a:cxn ang="0">
                  <a:pos x="74" y="69"/>
                </a:cxn>
                <a:cxn ang="0">
                  <a:pos x="54" y="62"/>
                </a:cxn>
                <a:cxn ang="0">
                  <a:pos x="51" y="56"/>
                </a:cxn>
                <a:cxn ang="0">
                  <a:pos x="38" y="58"/>
                </a:cxn>
                <a:cxn ang="0">
                  <a:pos x="32" y="50"/>
                </a:cxn>
                <a:cxn ang="0">
                  <a:pos x="32" y="68"/>
                </a:cxn>
                <a:cxn ang="0">
                  <a:pos x="32" y="87"/>
                </a:cxn>
              </a:cxnLst>
              <a:rect l="0" t="0" r="r" b="b"/>
              <a:pathLst>
                <a:path w="186" h="179">
                  <a:moveTo>
                    <a:pt x="32" y="87"/>
                  </a:moveTo>
                  <a:lnTo>
                    <a:pt x="16" y="87"/>
                  </a:lnTo>
                  <a:lnTo>
                    <a:pt x="1" y="88"/>
                  </a:lnTo>
                  <a:lnTo>
                    <a:pt x="0" y="101"/>
                  </a:lnTo>
                  <a:lnTo>
                    <a:pt x="0" y="116"/>
                  </a:lnTo>
                  <a:lnTo>
                    <a:pt x="0" y="130"/>
                  </a:lnTo>
                  <a:lnTo>
                    <a:pt x="0" y="144"/>
                  </a:lnTo>
                  <a:lnTo>
                    <a:pt x="10" y="158"/>
                  </a:lnTo>
                  <a:lnTo>
                    <a:pt x="21" y="171"/>
                  </a:lnTo>
                  <a:lnTo>
                    <a:pt x="32" y="168"/>
                  </a:lnTo>
                  <a:lnTo>
                    <a:pt x="49" y="173"/>
                  </a:lnTo>
                  <a:lnTo>
                    <a:pt x="72" y="179"/>
                  </a:lnTo>
                  <a:lnTo>
                    <a:pt x="86" y="165"/>
                  </a:lnTo>
                  <a:lnTo>
                    <a:pt x="103" y="152"/>
                  </a:lnTo>
                  <a:lnTo>
                    <a:pt x="108" y="141"/>
                  </a:lnTo>
                  <a:lnTo>
                    <a:pt x="120" y="137"/>
                  </a:lnTo>
                  <a:lnTo>
                    <a:pt x="132" y="135"/>
                  </a:lnTo>
                  <a:lnTo>
                    <a:pt x="129" y="125"/>
                  </a:lnTo>
                  <a:lnTo>
                    <a:pt x="141" y="120"/>
                  </a:lnTo>
                  <a:lnTo>
                    <a:pt x="152" y="116"/>
                  </a:lnTo>
                  <a:lnTo>
                    <a:pt x="164" y="111"/>
                  </a:lnTo>
                  <a:lnTo>
                    <a:pt x="176" y="106"/>
                  </a:lnTo>
                  <a:lnTo>
                    <a:pt x="169" y="98"/>
                  </a:lnTo>
                  <a:lnTo>
                    <a:pt x="177" y="81"/>
                  </a:lnTo>
                  <a:lnTo>
                    <a:pt x="180" y="76"/>
                  </a:lnTo>
                  <a:lnTo>
                    <a:pt x="181" y="62"/>
                  </a:lnTo>
                  <a:lnTo>
                    <a:pt x="182" y="48"/>
                  </a:lnTo>
                  <a:lnTo>
                    <a:pt x="186" y="41"/>
                  </a:lnTo>
                  <a:lnTo>
                    <a:pt x="176" y="27"/>
                  </a:lnTo>
                  <a:lnTo>
                    <a:pt x="175" y="23"/>
                  </a:lnTo>
                  <a:lnTo>
                    <a:pt x="158" y="14"/>
                  </a:lnTo>
                  <a:lnTo>
                    <a:pt x="141" y="4"/>
                  </a:lnTo>
                  <a:lnTo>
                    <a:pt x="141" y="0"/>
                  </a:lnTo>
                  <a:lnTo>
                    <a:pt x="126" y="4"/>
                  </a:lnTo>
                  <a:lnTo>
                    <a:pt x="111" y="8"/>
                  </a:lnTo>
                  <a:lnTo>
                    <a:pt x="103" y="21"/>
                  </a:lnTo>
                  <a:lnTo>
                    <a:pt x="106" y="36"/>
                  </a:lnTo>
                  <a:lnTo>
                    <a:pt x="105" y="52"/>
                  </a:lnTo>
                  <a:lnTo>
                    <a:pt x="103" y="68"/>
                  </a:lnTo>
                  <a:lnTo>
                    <a:pt x="118" y="78"/>
                  </a:lnTo>
                  <a:lnTo>
                    <a:pt x="123" y="72"/>
                  </a:lnTo>
                  <a:lnTo>
                    <a:pt x="121" y="95"/>
                  </a:lnTo>
                  <a:lnTo>
                    <a:pt x="116" y="94"/>
                  </a:lnTo>
                  <a:lnTo>
                    <a:pt x="110" y="94"/>
                  </a:lnTo>
                  <a:lnTo>
                    <a:pt x="97" y="76"/>
                  </a:lnTo>
                  <a:lnTo>
                    <a:pt x="87" y="69"/>
                  </a:lnTo>
                  <a:lnTo>
                    <a:pt x="80" y="63"/>
                  </a:lnTo>
                  <a:lnTo>
                    <a:pt x="74" y="69"/>
                  </a:lnTo>
                  <a:lnTo>
                    <a:pt x="54" y="62"/>
                  </a:lnTo>
                  <a:lnTo>
                    <a:pt x="51" y="56"/>
                  </a:lnTo>
                  <a:lnTo>
                    <a:pt x="38" y="58"/>
                  </a:lnTo>
                  <a:lnTo>
                    <a:pt x="32" y="50"/>
                  </a:lnTo>
                  <a:lnTo>
                    <a:pt x="32" y="68"/>
                  </a:lnTo>
                  <a:lnTo>
                    <a:pt x="32"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5" name="Freeform 224"/>
            <p:cNvSpPr>
              <a:spLocks/>
            </p:cNvSpPr>
            <p:nvPr/>
          </p:nvSpPr>
          <p:spPr bwMode="auto">
            <a:xfrm>
              <a:off x="2969" y="3016"/>
              <a:ext cx="135" cy="138"/>
            </a:xfrm>
            <a:custGeom>
              <a:avLst/>
              <a:gdLst/>
              <a:ahLst/>
              <a:cxnLst>
                <a:cxn ang="0">
                  <a:pos x="60" y="116"/>
                </a:cxn>
                <a:cxn ang="0">
                  <a:pos x="56" y="113"/>
                </a:cxn>
                <a:cxn ang="0">
                  <a:pos x="42" y="107"/>
                </a:cxn>
                <a:cxn ang="0">
                  <a:pos x="37" y="92"/>
                </a:cxn>
                <a:cxn ang="0">
                  <a:pos x="33" y="86"/>
                </a:cxn>
                <a:cxn ang="0">
                  <a:pos x="30" y="83"/>
                </a:cxn>
                <a:cxn ang="0">
                  <a:pos x="19" y="74"/>
                </a:cxn>
                <a:cxn ang="0">
                  <a:pos x="9" y="56"/>
                </a:cxn>
                <a:cxn ang="0">
                  <a:pos x="0" y="38"/>
                </a:cxn>
                <a:cxn ang="0">
                  <a:pos x="23" y="44"/>
                </a:cxn>
                <a:cxn ang="0">
                  <a:pos x="37" y="30"/>
                </a:cxn>
                <a:cxn ang="0">
                  <a:pos x="54" y="17"/>
                </a:cxn>
                <a:cxn ang="0">
                  <a:pos x="59" y="6"/>
                </a:cxn>
                <a:cxn ang="0">
                  <a:pos x="71" y="2"/>
                </a:cxn>
                <a:cxn ang="0">
                  <a:pos x="83" y="0"/>
                </a:cxn>
                <a:cxn ang="0">
                  <a:pos x="83" y="7"/>
                </a:cxn>
                <a:cxn ang="0">
                  <a:pos x="90" y="6"/>
                </a:cxn>
                <a:cxn ang="0">
                  <a:pos x="105" y="13"/>
                </a:cxn>
                <a:cxn ang="0">
                  <a:pos x="121" y="19"/>
                </a:cxn>
                <a:cxn ang="0">
                  <a:pos x="121" y="41"/>
                </a:cxn>
                <a:cxn ang="0">
                  <a:pos x="117" y="56"/>
                </a:cxn>
                <a:cxn ang="0">
                  <a:pos x="120" y="73"/>
                </a:cxn>
                <a:cxn ang="0">
                  <a:pos x="114" y="89"/>
                </a:cxn>
                <a:cxn ang="0">
                  <a:pos x="110" y="103"/>
                </a:cxn>
                <a:cxn ang="0">
                  <a:pos x="101" y="113"/>
                </a:cxn>
                <a:cxn ang="0">
                  <a:pos x="91" y="122"/>
                </a:cxn>
                <a:cxn ang="0">
                  <a:pos x="75" y="120"/>
                </a:cxn>
                <a:cxn ang="0">
                  <a:pos x="61" y="117"/>
                </a:cxn>
                <a:cxn ang="0">
                  <a:pos x="60" y="116"/>
                </a:cxn>
              </a:cxnLst>
              <a:rect l="0" t="0" r="r" b="b"/>
              <a:pathLst>
                <a:path w="121" h="122">
                  <a:moveTo>
                    <a:pt x="60" y="116"/>
                  </a:moveTo>
                  <a:lnTo>
                    <a:pt x="56" y="113"/>
                  </a:lnTo>
                  <a:lnTo>
                    <a:pt x="42" y="107"/>
                  </a:lnTo>
                  <a:lnTo>
                    <a:pt x="37" y="92"/>
                  </a:lnTo>
                  <a:lnTo>
                    <a:pt x="33" y="86"/>
                  </a:lnTo>
                  <a:lnTo>
                    <a:pt x="30" y="83"/>
                  </a:lnTo>
                  <a:lnTo>
                    <a:pt x="19" y="74"/>
                  </a:lnTo>
                  <a:lnTo>
                    <a:pt x="9" y="56"/>
                  </a:lnTo>
                  <a:lnTo>
                    <a:pt x="0" y="38"/>
                  </a:lnTo>
                  <a:lnTo>
                    <a:pt x="23" y="44"/>
                  </a:lnTo>
                  <a:lnTo>
                    <a:pt x="37" y="30"/>
                  </a:lnTo>
                  <a:lnTo>
                    <a:pt x="54" y="17"/>
                  </a:lnTo>
                  <a:lnTo>
                    <a:pt x="59" y="6"/>
                  </a:lnTo>
                  <a:lnTo>
                    <a:pt x="71" y="2"/>
                  </a:lnTo>
                  <a:lnTo>
                    <a:pt x="83" y="0"/>
                  </a:lnTo>
                  <a:lnTo>
                    <a:pt x="83" y="7"/>
                  </a:lnTo>
                  <a:lnTo>
                    <a:pt x="90" y="6"/>
                  </a:lnTo>
                  <a:lnTo>
                    <a:pt x="105" y="13"/>
                  </a:lnTo>
                  <a:lnTo>
                    <a:pt x="121" y="19"/>
                  </a:lnTo>
                  <a:lnTo>
                    <a:pt x="121" y="41"/>
                  </a:lnTo>
                  <a:lnTo>
                    <a:pt x="117" y="56"/>
                  </a:lnTo>
                  <a:lnTo>
                    <a:pt x="120" y="73"/>
                  </a:lnTo>
                  <a:lnTo>
                    <a:pt x="114" y="89"/>
                  </a:lnTo>
                  <a:lnTo>
                    <a:pt x="110" y="103"/>
                  </a:lnTo>
                  <a:lnTo>
                    <a:pt x="101" y="113"/>
                  </a:lnTo>
                  <a:lnTo>
                    <a:pt x="91" y="122"/>
                  </a:lnTo>
                  <a:lnTo>
                    <a:pt x="75" y="120"/>
                  </a:lnTo>
                  <a:lnTo>
                    <a:pt x="61" y="117"/>
                  </a:lnTo>
                  <a:lnTo>
                    <a:pt x="60" y="1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6" name="Freeform 225"/>
            <p:cNvSpPr>
              <a:spLocks/>
            </p:cNvSpPr>
            <p:nvPr/>
          </p:nvSpPr>
          <p:spPr bwMode="auto">
            <a:xfrm>
              <a:off x="920" y="2705"/>
              <a:ext cx="9" cy="18"/>
            </a:xfrm>
            <a:custGeom>
              <a:avLst/>
              <a:gdLst/>
              <a:ahLst/>
              <a:cxnLst>
                <a:cxn ang="0">
                  <a:pos x="0" y="0"/>
                </a:cxn>
                <a:cxn ang="0">
                  <a:pos x="5" y="10"/>
                </a:cxn>
                <a:cxn ang="0">
                  <a:pos x="0" y="16"/>
                </a:cxn>
                <a:cxn ang="0">
                  <a:pos x="10" y="17"/>
                </a:cxn>
                <a:cxn ang="0">
                  <a:pos x="4" y="0"/>
                </a:cxn>
                <a:cxn ang="0">
                  <a:pos x="0" y="0"/>
                </a:cxn>
              </a:cxnLst>
              <a:rect l="0" t="0" r="r" b="b"/>
              <a:pathLst>
                <a:path w="10" h="17">
                  <a:moveTo>
                    <a:pt x="0" y="0"/>
                  </a:moveTo>
                  <a:lnTo>
                    <a:pt x="5" y="10"/>
                  </a:lnTo>
                  <a:lnTo>
                    <a:pt x="0" y="16"/>
                  </a:lnTo>
                  <a:lnTo>
                    <a:pt x="10" y="17"/>
                  </a:lnTo>
                  <a:lnTo>
                    <a:pt x="4" y="0"/>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7" name="Freeform 226"/>
            <p:cNvSpPr>
              <a:spLocks/>
            </p:cNvSpPr>
            <p:nvPr/>
          </p:nvSpPr>
          <p:spPr bwMode="auto">
            <a:xfrm>
              <a:off x="936" y="2716"/>
              <a:ext cx="7" cy="3"/>
            </a:xfrm>
            <a:custGeom>
              <a:avLst/>
              <a:gdLst/>
              <a:ahLst/>
              <a:cxnLst>
                <a:cxn ang="0">
                  <a:pos x="6" y="1"/>
                </a:cxn>
                <a:cxn ang="0">
                  <a:pos x="4" y="1"/>
                </a:cxn>
                <a:cxn ang="0">
                  <a:pos x="0" y="0"/>
                </a:cxn>
                <a:cxn ang="0">
                  <a:pos x="6" y="1"/>
                </a:cxn>
              </a:cxnLst>
              <a:rect l="0" t="0" r="r" b="b"/>
              <a:pathLst>
                <a:path w="6" h="1">
                  <a:moveTo>
                    <a:pt x="6" y="1"/>
                  </a:moveTo>
                  <a:lnTo>
                    <a:pt x="4" y="1"/>
                  </a:lnTo>
                  <a:lnTo>
                    <a:pt x="0" y="0"/>
                  </a:lnTo>
                  <a:lnTo>
                    <a:pt x="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8" name="Freeform 227"/>
            <p:cNvSpPr>
              <a:spLocks/>
            </p:cNvSpPr>
            <p:nvPr/>
          </p:nvSpPr>
          <p:spPr bwMode="auto">
            <a:xfrm>
              <a:off x="1134" y="2516"/>
              <a:ext cx="40" cy="45"/>
            </a:xfrm>
            <a:custGeom>
              <a:avLst/>
              <a:gdLst/>
              <a:ahLst/>
              <a:cxnLst>
                <a:cxn ang="0">
                  <a:pos x="21" y="22"/>
                </a:cxn>
                <a:cxn ang="0">
                  <a:pos x="27" y="22"/>
                </a:cxn>
                <a:cxn ang="0">
                  <a:pos x="25" y="19"/>
                </a:cxn>
                <a:cxn ang="0">
                  <a:pos x="21" y="18"/>
                </a:cxn>
                <a:cxn ang="0">
                  <a:pos x="16" y="13"/>
                </a:cxn>
                <a:cxn ang="0">
                  <a:pos x="5" y="8"/>
                </a:cxn>
                <a:cxn ang="0">
                  <a:pos x="0" y="4"/>
                </a:cxn>
                <a:cxn ang="0">
                  <a:pos x="0" y="0"/>
                </a:cxn>
                <a:cxn ang="0">
                  <a:pos x="15" y="1"/>
                </a:cxn>
                <a:cxn ang="0">
                  <a:pos x="25" y="8"/>
                </a:cxn>
                <a:cxn ang="0">
                  <a:pos x="36" y="14"/>
                </a:cxn>
                <a:cxn ang="0">
                  <a:pos x="36" y="28"/>
                </a:cxn>
                <a:cxn ang="0">
                  <a:pos x="30" y="33"/>
                </a:cxn>
                <a:cxn ang="0">
                  <a:pos x="27" y="40"/>
                </a:cxn>
                <a:cxn ang="0">
                  <a:pos x="23" y="34"/>
                </a:cxn>
                <a:cxn ang="0">
                  <a:pos x="21" y="22"/>
                </a:cxn>
              </a:cxnLst>
              <a:rect l="0" t="0" r="r" b="b"/>
              <a:pathLst>
                <a:path w="36" h="40">
                  <a:moveTo>
                    <a:pt x="21" y="22"/>
                  </a:moveTo>
                  <a:lnTo>
                    <a:pt x="27" y="22"/>
                  </a:lnTo>
                  <a:lnTo>
                    <a:pt x="25" y="19"/>
                  </a:lnTo>
                  <a:lnTo>
                    <a:pt x="21" y="18"/>
                  </a:lnTo>
                  <a:lnTo>
                    <a:pt x="16" y="13"/>
                  </a:lnTo>
                  <a:lnTo>
                    <a:pt x="5" y="8"/>
                  </a:lnTo>
                  <a:lnTo>
                    <a:pt x="0" y="4"/>
                  </a:lnTo>
                  <a:lnTo>
                    <a:pt x="0" y="0"/>
                  </a:lnTo>
                  <a:lnTo>
                    <a:pt x="15" y="1"/>
                  </a:lnTo>
                  <a:lnTo>
                    <a:pt x="25" y="8"/>
                  </a:lnTo>
                  <a:lnTo>
                    <a:pt x="36" y="14"/>
                  </a:lnTo>
                  <a:lnTo>
                    <a:pt x="36" y="28"/>
                  </a:lnTo>
                  <a:lnTo>
                    <a:pt x="30" y="33"/>
                  </a:lnTo>
                  <a:lnTo>
                    <a:pt x="27" y="40"/>
                  </a:lnTo>
                  <a:lnTo>
                    <a:pt x="23" y="34"/>
                  </a:lnTo>
                  <a:lnTo>
                    <a:pt x="21" y="2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9" name="Freeform 228"/>
            <p:cNvSpPr>
              <a:spLocks/>
            </p:cNvSpPr>
            <p:nvPr/>
          </p:nvSpPr>
          <p:spPr bwMode="auto">
            <a:xfrm>
              <a:off x="1569" y="2590"/>
              <a:ext cx="53" cy="73"/>
            </a:xfrm>
            <a:custGeom>
              <a:avLst/>
              <a:gdLst/>
              <a:ahLst/>
              <a:cxnLst>
                <a:cxn ang="0">
                  <a:pos x="36" y="18"/>
                </a:cxn>
                <a:cxn ang="0">
                  <a:pos x="21" y="3"/>
                </a:cxn>
                <a:cxn ang="0">
                  <a:pos x="11" y="0"/>
                </a:cxn>
                <a:cxn ang="0">
                  <a:pos x="7" y="7"/>
                </a:cxn>
                <a:cxn ang="0">
                  <a:pos x="2" y="21"/>
                </a:cxn>
                <a:cxn ang="0">
                  <a:pos x="8" y="44"/>
                </a:cxn>
                <a:cxn ang="0">
                  <a:pos x="0" y="61"/>
                </a:cxn>
                <a:cxn ang="0">
                  <a:pos x="9" y="63"/>
                </a:cxn>
                <a:cxn ang="0">
                  <a:pos x="25" y="65"/>
                </a:cxn>
                <a:cxn ang="0">
                  <a:pos x="36" y="48"/>
                </a:cxn>
                <a:cxn ang="0">
                  <a:pos x="47" y="31"/>
                </a:cxn>
                <a:cxn ang="0">
                  <a:pos x="42" y="20"/>
                </a:cxn>
                <a:cxn ang="0">
                  <a:pos x="42" y="24"/>
                </a:cxn>
                <a:cxn ang="0">
                  <a:pos x="36" y="18"/>
                </a:cxn>
              </a:cxnLst>
              <a:rect l="0" t="0" r="r" b="b"/>
              <a:pathLst>
                <a:path w="47" h="65">
                  <a:moveTo>
                    <a:pt x="36" y="18"/>
                  </a:moveTo>
                  <a:lnTo>
                    <a:pt x="21" y="3"/>
                  </a:lnTo>
                  <a:lnTo>
                    <a:pt x="11" y="0"/>
                  </a:lnTo>
                  <a:lnTo>
                    <a:pt x="7" y="7"/>
                  </a:lnTo>
                  <a:lnTo>
                    <a:pt x="2" y="21"/>
                  </a:lnTo>
                  <a:lnTo>
                    <a:pt x="8" y="44"/>
                  </a:lnTo>
                  <a:lnTo>
                    <a:pt x="0" y="61"/>
                  </a:lnTo>
                  <a:lnTo>
                    <a:pt x="9" y="63"/>
                  </a:lnTo>
                  <a:lnTo>
                    <a:pt x="25" y="65"/>
                  </a:lnTo>
                  <a:lnTo>
                    <a:pt x="36" y="48"/>
                  </a:lnTo>
                  <a:lnTo>
                    <a:pt x="47" y="31"/>
                  </a:lnTo>
                  <a:lnTo>
                    <a:pt x="42" y="20"/>
                  </a:lnTo>
                  <a:lnTo>
                    <a:pt x="42" y="24"/>
                  </a:lnTo>
                  <a:lnTo>
                    <a:pt x="36"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0" name="Freeform 229"/>
            <p:cNvSpPr>
              <a:spLocks/>
            </p:cNvSpPr>
            <p:nvPr/>
          </p:nvSpPr>
          <p:spPr bwMode="auto">
            <a:xfrm>
              <a:off x="1140" y="2459"/>
              <a:ext cx="214" cy="331"/>
            </a:xfrm>
            <a:custGeom>
              <a:avLst/>
              <a:gdLst/>
              <a:ahLst/>
              <a:cxnLst>
                <a:cxn ang="0">
                  <a:pos x="76" y="28"/>
                </a:cxn>
                <a:cxn ang="0">
                  <a:pos x="69" y="25"/>
                </a:cxn>
                <a:cxn ang="0">
                  <a:pos x="56" y="53"/>
                </a:cxn>
                <a:cxn ang="0">
                  <a:pos x="35" y="79"/>
                </a:cxn>
                <a:cxn ang="0">
                  <a:pos x="29" y="66"/>
                </a:cxn>
                <a:cxn ang="0">
                  <a:pos x="23" y="85"/>
                </a:cxn>
                <a:cxn ang="0">
                  <a:pos x="24" y="100"/>
                </a:cxn>
                <a:cxn ang="0">
                  <a:pos x="24" y="124"/>
                </a:cxn>
                <a:cxn ang="0">
                  <a:pos x="27" y="150"/>
                </a:cxn>
                <a:cxn ang="0">
                  <a:pos x="18" y="173"/>
                </a:cxn>
                <a:cxn ang="0">
                  <a:pos x="5" y="187"/>
                </a:cxn>
                <a:cxn ang="0">
                  <a:pos x="2" y="197"/>
                </a:cxn>
                <a:cxn ang="0">
                  <a:pos x="24" y="215"/>
                </a:cxn>
                <a:cxn ang="0">
                  <a:pos x="58" y="224"/>
                </a:cxn>
                <a:cxn ang="0">
                  <a:pos x="68" y="232"/>
                </a:cxn>
                <a:cxn ang="0">
                  <a:pos x="89" y="254"/>
                </a:cxn>
                <a:cxn ang="0">
                  <a:pos x="112" y="263"/>
                </a:cxn>
                <a:cxn ang="0">
                  <a:pos x="140" y="269"/>
                </a:cxn>
                <a:cxn ang="0">
                  <a:pos x="143" y="298"/>
                </a:cxn>
                <a:cxn ang="0">
                  <a:pos x="150" y="247"/>
                </a:cxn>
                <a:cxn ang="0">
                  <a:pos x="141" y="211"/>
                </a:cxn>
                <a:cxn ang="0">
                  <a:pos x="155" y="206"/>
                </a:cxn>
                <a:cxn ang="0">
                  <a:pos x="144" y="191"/>
                </a:cxn>
                <a:cxn ang="0">
                  <a:pos x="171" y="191"/>
                </a:cxn>
                <a:cxn ang="0">
                  <a:pos x="173" y="191"/>
                </a:cxn>
                <a:cxn ang="0">
                  <a:pos x="188" y="199"/>
                </a:cxn>
                <a:cxn ang="0">
                  <a:pos x="188" y="186"/>
                </a:cxn>
                <a:cxn ang="0">
                  <a:pos x="184" y="163"/>
                </a:cxn>
                <a:cxn ang="0">
                  <a:pos x="180" y="126"/>
                </a:cxn>
                <a:cxn ang="0">
                  <a:pos x="171" y="112"/>
                </a:cxn>
                <a:cxn ang="0">
                  <a:pos x="143" y="96"/>
                </a:cxn>
                <a:cxn ang="0">
                  <a:pos x="118" y="95"/>
                </a:cxn>
                <a:cxn ang="0">
                  <a:pos x="107" y="78"/>
                </a:cxn>
                <a:cxn ang="0">
                  <a:pos x="93" y="58"/>
                </a:cxn>
                <a:cxn ang="0">
                  <a:pos x="108" y="28"/>
                </a:cxn>
                <a:cxn ang="0">
                  <a:pos x="128" y="10"/>
                </a:cxn>
                <a:cxn ang="0">
                  <a:pos x="119" y="1"/>
                </a:cxn>
                <a:cxn ang="0">
                  <a:pos x="90" y="19"/>
                </a:cxn>
              </a:cxnLst>
              <a:rect l="0" t="0" r="r" b="b"/>
              <a:pathLst>
                <a:path w="191" h="298">
                  <a:moveTo>
                    <a:pt x="81" y="20"/>
                  </a:moveTo>
                  <a:lnTo>
                    <a:pt x="76" y="28"/>
                  </a:lnTo>
                  <a:lnTo>
                    <a:pt x="77" y="25"/>
                  </a:lnTo>
                  <a:lnTo>
                    <a:pt x="69" y="25"/>
                  </a:lnTo>
                  <a:lnTo>
                    <a:pt x="57" y="40"/>
                  </a:lnTo>
                  <a:lnTo>
                    <a:pt x="56" y="53"/>
                  </a:lnTo>
                  <a:lnTo>
                    <a:pt x="38" y="70"/>
                  </a:lnTo>
                  <a:lnTo>
                    <a:pt x="35" y="79"/>
                  </a:lnTo>
                  <a:lnTo>
                    <a:pt x="33" y="71"/>
                  </a:lnTo>
                  <a:lnTo>
                    <a:pt x="29" y="66"/>
                  </a:lnTo>
                  <a:lnTo>
                    <a:pt x="29" y="80"/>
                  </a:lnTo>
                  <a:lnTo>
                    <a:pt x="23" y="85"/>
                  </a:lnTo>
                  <a:lnTo>
                    <a:pt x="20" y="92"/>
                  </a:lnTo>
                  <a:lnTo>
                    <a:pt x="24" y="100"/>
                  </a:lnTo>
                  <a:lnTo>
                    <a:pt x="28" y="116"/>
                  </a:lnTo>
                  <a:lnTo>
                    <a:pt x="24" y="124"/>
                  </a:lnTo>
                  <a:lnTo>
                    <a:pt x="26" y="137"/>
                  </a:lnTo>
                  <a:lnTo>
                    <a:pt x="27" y="150"/>
                  </a:lnTo>
                  <a:lnTo>
                    <a:pt x="29" y="152"/>
                  </a:lnTo>
                  <a:lnTo>
                    <a:pt x="18" y="173"/>
                  </a:lnTo>
                  <a:lnTo>
                    <a:pt x="9" y="178"/>
                  </a:lnTo>
                  <a:lnTo>
                    <a:pt x="5" y="187"/>
                  </a:lnTo>
                  <a:lnTo>
                    <a:pt x="0" y="190"/>
                  </a:lnTo>
                  <a:lnTo>
                    <a:pt x="2" y="197"/>
                  </a:lnTo>
                  <a:lnTo>
                    <a:pt x="15" y="206"/>
                  </a:lnTo>
                  <a:lnTo>
                    <a:pt x="24" y="215"/>
                  </a:lnTo>
                  <a:lnTo>
                    <a:pt x="40" y="215"/>
                  </a:lnTo>
                  <a:lnTo>
                    <a:pt x="58" y="224"/>
                  </a:lnTo>
                  <a:lnTo>
                    <a:pt x="59" y="223"/>
                  </a:lnTo>
                  <a:lnTo>
                    <a:pt x="68" y="232"/>
                  </a:lnTo>
                  <a:lnTo>
                    <a:pt x="77" y="240"/>
                  </a:lnTo>
                  <a:lnTo>
                    <a:pt x="89" y="254"/>
                  </a:lnTo>
                  <a:lnTo>
                    <a:pt x="92" y="263"/>
                  </a:lnTo>
                  <a:lnTo>
                    <a:pt x="112" y="263"/>
                  </a:lnTo>
                  <a:lnTo>
                    <a:pt x="124" y="264"/>
                  </a:lnTo>
                  <a:lnTo>
                    <a:pt x="140" y="269"/>
                  </a:lnTo>
                  <a:lnTo>
                    <a:pt x="134" y="290"/>
                  </a:lnTo>
                  <a:lnTo>
                    <a:pt x="143" y="298"/>
                  </a:lnTo>
                  <a:lnTo>
                    <a:pt x="147" y="272"/>
                  </a:lnTo>
                  <a:lnTo>
                    <a:pt x="150" y="247"/>
                  </a:lnTo>
                  <a:lnTo>
                    <a:pt x="144" y="228"/>
                  </a:lnTo>
                  <a:lnTo>
                    <a:pt x="141" y="211"/>
                  </a:lnTo>
                  <a:lnTo>
                    <a:pt x="152" y="211"/>
                  </a:lnTo>
                  <a:lnTo>
                    <a:pt x="155" y="206"/>
                  </a:lnTo>
                  <a:lnTo>
                    <a:pt x="147" y="203"/>
                  </a:lnTo>
                  <a:lnTo>
                    <a:pt x="144" y="191"/>
                  </a:lnTo>
                  <a:lnTo>
                    <a:pt x="158" y="191"/>
                  </a:lnTo>
                  <a:lnTo>
                    <a:pt x="171" y="191"/>
                  </a:lnTo>
                  <a:lnTo>
                    <a:pt x="170" y="188"/>
                  </a:lnTo>
                  <a:lnTo>
                    <a:pt x="173" y="191"/>
                  </a:lnTo>
                  <a:lnTo>
                    <a:pt x="183" y="184"/>
                  </a:lnTo>
                  <a:lnTo>
                    <a:pt x="188" y="199"/>
                  </a:lnTo>
                  <a:lnTo>
                    <a:pt x="191" y="200"/>
                  </a:lnTo>
                  <a:lnTo>
                    <a:pt x="188" y="186"/>
                  </a:lnTo>
                  <a:lnTo>
                    <a:pt x="179" y="172"/>
                  </a:lnTo>
                  <a:lnTo>
                    <a:pt x="184" y="163"/>
                  </a:lnTo>
                  <a:lnTo>
                    <a:pt x="177" y="140"/>
                  </a:lnTo>
                  <a:lnTo>
                    <a:pt x="180" y="126"/>
                  </a:lnTo>
                  <a:lnTo>
                    <a:pt x="184" y="110"/>
                  </a:lnTo>
                  <a:lnTo>
                    <a:pt x="171" y="112"/>
                  </a:lnTo>
                  <a:lnTo>
                    <a:pt x="156" y="113"/>
                  </a:lnTo>
                  <a:lnTo>
                    <a:pt x="143" y="96"/>
                  </a:lnTo>
                  <a:lnTo>
                    <a:pt x="130" y="96"/>
                  </a:lnTo>
                  <a:lnTo>
                    <a:pt x="118" y="95"/>
                  </a:lnTo>
                  <a:lnTo>
                    <a:pt x="107" y="89"/>
                  </a:lnTo>
                  <a:lnTo>
                    <a:pt x="107" y="78"/>
                  </a:lnTo>
                  <a:lnTo>
                    <a:pt x="99" y="58"/>
                  </a:lnTo>
                  <a:lnTo>
                    <a:pt x="93" y="58"/>
                  </a:lnTo>
                  <a:lnTo>
                    <a:pt x="100" y="42"/>
                  </a:lnTo>
                  <a:lnTo>
                    <a:pt x="108" y="28"/>
                  </a:lnTo>
                  <a:lnTo>
                    <a:pt x="117" y="12"/>
                  </a:lnTo>
                  <a:lnTo>
                    <a:pt x="128" y="10"/>
                  </a:lnTo>
                  <a:lnTo>
                    <a:pt x="130" y="0"/>
                  </a:lnTo>
                  <a:lnTo>
                    <a:pt x="119" y="1"/>
                  </a:lnTo>
                  <a:lnTo>
                    <a:pt x="105" y="11"/>
                  </a:lnTo>
                  <a:lnTo>
                    <a:pt x="90" y="19"/>
                  </a:lnTo>
                  <a:lnTo>
                    <a:pt x="81" y="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1" name="Freeform 230"/>
            <p:cNvSpPr>
              <a:spLocks/>
            </p:cNvSpPr>
            <p:nvPr/>
          </p:nvSpPr>
          <p:spPr bwMode="auto">
            <a:xfrm>
              <a:off x="1454" y="2534"/>
              <a:ext cx="82" cy="145"/>
            </a:xfrm>
            <a:custGeom>
              <a:avLst/>
              <a:gdLst/>
              <a:ahLst/>
              <a:cxnLst>
                <a:cxn ang="0">
                  <a:pos x="60" y="94"/>
                </a:cxn>
                <a:cxn ang="0">
                  <a:pos x="53" y="84"/>
                </a:cxn>
                <a:cxn ang="0">
                  <a:pos x="54" y="69"/>
                </a:cxn>
                <a:cxn ang="0">
                  <a:pos x="61" y="64"/>
                </a:cxn>
                <a:cxn ang="0">
                  <a:pos x="64" y="56"/>
                </a:cxn>
                <a:cxn ang="0">
                  <a:pos x="64" y="41"/>
                </a:cxn>
                <a:cxn ang="0">
                  <a:pos x="47" y="30"/>
                </a:cxn>
                <a:cxn ang="0">
                  <a:pos x="43" y="38"/>
                </a:cxn>
                <a:cxn ang="0">
                  <a:pos x="45" y="20"/>
                </a:cxn>
                <a:cxn ang="0">
                  <a:pos x="35" y="12"/>
                </a:cxn>
                <a:cxn ang="0">
                  <a:pos x="27" y="4"/>
                </a:cxn>
                <a:cxn ang="0">
                  <a:pos x="30" y="6"/>
                </a:cxn>
                <a:cxn ang="0">
                  <a:pos x="23" y="0"/>
                </a:cxn>
                <a:cxn ang="0">
                  <a:pos x="25" y="5"/>
                </a:cxn>
                <a:cxn ang="0">
                  <a:pos x="11" y="18"/>
                </a:cxn>
                <a:cxn ang="0">
                  <a:pos x="17" y="26"/>
                </a:cxn>
                <a:cxn ang="0">
                  <a:pos x="6" y="33"/>
                </a:cxn>
                <a:cxn ang="0">
                  <a:pos x="0" y="46"/>
                </a:cxn>
                <a:cxn ang="0">
                  <a:pos x="9" y="60"/>
                </a:cxn>
                <a:cxn ang="0">
                  <a:pos x="18" y="60"/>
                </a:cxn>
                <a:cxn ang="0">
                  <a:pos x="19" y="70"/>
                </a:cxn>
                <a:cxn ang="0">
                  <a:pos x="27" y="80"/>
                </a:cxn>
                <a:cxn ang="0">
                  <a:pos x="22" y="95"/>
                </a:cxn>
                <a:cxn ang="0">
                  <a:pos x="24" y="117"/>
                </a:cxn>
                <a:cxn ang="0">
                  <a:pos x="34" y="130"/>
                </a:cxn>
                <a:cxn ang="0">
                  <a:pos x="43" y="130"/>
                </a:cxn>
                <a:cxn ang="0">
                  <a:pos x="59" y="122"/>
                </a:cxn>
                <a:cxn ang="0">
                  <a:pos x="76" y="119"/>
                </a:cxn>
                <a:cxn ang="0">
                  <a:pos x="69" y="106"/>
                </a:cxn>
                <a:cxn ang="0">
                  <a:pos x="60" y="94"/>
                </a:cxn>
              </a:cxnLst>
              <a:rect l="0" t="0" r="r" b="b"/>
              <a:pathLst>
                <a:path w="76" h="130">
                  <a:moveTo>
                    <a:pt x="60" y="94"/>
                  </a:moveTo>
                  <a:lnTo>
                    <a:pt x="53" y="84"/>
                  </a:lnTo>
                  <a:lnTo>
                    <a:pt x="54" y="69"/>
                  </a:lnTo>
                  <a:lnTo>
                    <a:pt x="61" y="64"/>
                  </a:lnTo>
                  <a:lnTo>
                    <a:pt x="64" y="56"/>
                  </a:lnTo>
                  <a:lnTo>
                    <a:pt x="64" y="41"/>
                  </a:lnTo>
                  <a:lnTo>
                    <a:pt x="47" y="30"/>
                  </a:lnTo>
                  <a:lnTo>
                    <a:pt x="43" y="38"/>
                  </a:lnTo>
                  <a:lnTo>
                    <a:pt x="45" y="20"/>
                  </a:lnTo>
                  <a:lnTo>
                    <a:pt x="35" y="12"/>
                  </a:lnTo>
                  <a:lnTo>
                    <a:pt x="27" y="4"/>
                  </a:lnTo>
                  <a:lnTo>
                    <a:pt x="30" y="6"/>
                  </a:lnTo>
                  <a:lnTo>
                    <a:pt x="23" y="0"/>
                  </a:lnTo>
                  <a:lnTo>
                    <a:pt x="25" y="5"/>
                  </a:lnTo>
                  <a:lnTo>
                    <a:pt x="11" y="18"/>
                  </a:lnTo>
                  <a:lnTo>
                    <a:pt x="17" y="26"/>
                  </a:lnTo>
                  <a:lnTo>
                    <a:pt x="6" y="33"/>
                  </a:lnTo>
                  <a:lnTo>
                    <a:pt x="0" y="46"/>
                  </a:lnTo>
                  <a:lnTo>
                    <a:pt x="9" y="60"/>
                  </a:lnTo>
                  <a:lnTo>
                    <a:pt x="18" y="60"/>
                  </a:lnTo>
                  <a:lnTo>
                    <a:pt x="19" y="70"/>
                  </a:lnTo>
                  <a:lnTo>
                    <a:pt x="27" y="80"/>
                  </a:lnTo>
                  <a:lnTo>
                    <a:pt x="22" y="95"/>
                  </a:lnTo>
                  <a:lnTo>
                    <a:pt x="24" y="117"/>
                  </a:lnTo>
                  <a:lnTo>
                    <a:pt x="34" y="130"/>
                  </a:lnTo>
                  <a:lnTo>
                    <a:pt x="43" y="130"/>
                  </a:lnTo>
                  <a:lnTo>
                    <a:pt x="59" y="122"/>
                  </a:lnTo>
                  <a:lnTo>
                    <a:pt x="76" y="119"/>
                  </a:lnTo>
                  <a:lnTo>
                    <a:pt x="69" y="106"/>
                  </a:lnTo>
                  <a:lnTo>
                    <a:pt x="60" y="9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2" name="Freeform 231"/>
            <p:cNvSpPr>
              <a:spLocks/>
            </p:cNvSpPr>
            <p:nvPr/>
          </p:nvSpPr>
          <p:spPr bwMode="auto">
            <a:xfrm>
              <a:off x="1511" y="2587"/>
              <a:ext cx="69" cy="83"/>
            </a:xfrm>
            <a:custGeom>
              <a:avLst/>
              <a:gdLst/>
              <a:ahLst/>
              <a:cxnLst>
                <a:cxn ang="0">
                  <a:pos x="7" y="46"/>
                </a:cxn>
                <a:cxn ang="0">
                  <a:pos x="0" y="36"/>
                </a:cxn>
                <a:cxn ang="0">
                  <a:pos x="1" y="21"/>
                </a:cxn>
                <a:cxn ang="0">
                  <a:pos x="8" y="16"/>
                </a:cxn>
                <a:cxn ang="0">
                  <a:pos x="11" y="8"/>
                </a:cxn>
                <a:cxn ang="0">
                  <a:pos x="14" y="0"/>
                </a:cxn>
                <a:cxn ang="0">
                  <a:pos x="32" y="2"/>
                </a:cxn>
                <a:cxn ang="0">
                  <a:pos x="47" y="0"/>
                </a:cxn>
                <a:cxn ang="0">
                  <a:pos x="61" y="2"/>
                </a:cxn>
                <a:cxn ang="0">
                  <a:pos x="60" y="10"/>
                </a:cxn>
                <a:cxn ang="0">
                  <a:pos x="55" y="24"/>
                </a:cxn>
                <a:cxn ang="0">
                  <a:pos x="61" y="47"/>
                </a:cxn>
                <a:cxn ang="0">
                  <a:pos x="53" y="64"/>
                </a:cxn>
                <a:cxn ang="0">
                  <a:pos x="43" y="60"/>
                </a:cxn>
                <a:cxn ang="0">
                  <a:pos x="29" y="64"/>
                </a:cxn>
                <a:cxn ang="0">
                  <a:pos x="30" y="74"/>
                </a:cxn>
                <a:cxn ang="0">
                  <a:pos x="23" y="71"/>
                </a:cxn>
                <a:cxn ang="0">
                  <a:pos x="16" y="58"/>
                </a:cxn>
                <a:cxn ang="0">
                  <a:pos x="7" y="46"/>
                </a:cxn>
              </a:cxnLst>
              <a:rect l="0" t="0" r="r" b="b"/>
              <a:pathLst>
                <a:path w="61" h="74">
                  <a:moveTo>
                    <a:pt x="7" y="46"/>
                  </a:moveTo>
                  <a:lnTo>
                    <a:pt x="0" y="36"/>
                  </a:lnTo>
                  <a:lnTo>
                    <a:pt x="1" y="21"/>
                  </a:lnTo>
                  <a:lnTo>
                    <a:pt x="8" y="16"/>
                  </a:lnTo>
                  <a:lnTo>
                    <a:pt x="11" y="8"/>
                  </a:lnTo>
                  <a:lnTo>
                    <a:pt x="14" y="0"/>
                  </a:lnTo>
                  <a:lnTo>
                    <a:pt x="32" y="2"/>
                  </a:lnTo>
                  <a:lnTo>
                    <a:pt x="47" y="0"/>
                  </a:lnTo>
                  <a:lnTo>
                    <a:pt x="61" y="2"/>
                  </a:lnTo>
                  <a:lnTo>
                    <a:pt x="60" y="10"/>
                  </a:lnTo>
                  <a:lnTo>
                    <a:pt x="55" y="24"/>
                  </a:lnTo>
                  <a:lnTo>
                    <a:pt x="61" y="47"/>
                  </a:lnTo>
                  <a:lnTo>
                    <a:pt x="53" y="64"/>
                  </a:lnTo>
                  <a:lnTo>
                    <a:pt x="43" y="60"/>
                  </a:lnTo>
                  <a:lnTo>
                    <a:pt x="29" y="64"/>
                  </a:lnTo>
                  <a:lnTo>
                    <a:pt x="30" y="74"/>
                  </a:lnTo>
                  <a:lnTo>
                    <a:pt x="23" y="71"/>
                  </a:lnTo>
                  <a:lnTo>
                    <a:pt x="16" y="58"/>
                  </a:lnTo>
                  <a:lnTo>
                    <a:pt x="7"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3" name="Freeform 232"/>
            <p:cNvSpPr>
              <a:spLocks/>
            </p:cNvSpPr>
            <p:nvPr/>
          </p:nvSpPr>
          <p:spPr bwMode="auto">
            <a:xfrm>
              <a:off x="1447" y="2490"/>
              <a:ext cx="15" cy="13"/>
            </a:xfrm>
            <a:custGeom>
              <a:avLst/>
              <a:gdLst/>
              <a:ahLst/>
              <a:cxnLst>
                <a:cxn ang="0">
                  <a:pos x="4" y="0"/>
                </a:cxn>
                <a:cxn ang="0">
                  <a:pos x="15" y="0"/>
                </a:cxn>
                <a:cxn ang="0">
                  <a:pos x="10" y="12"/>
                </a:cxn>
                <a:cxn ang="0">
                  <a:pos x="0" y="11"/>
                </a:cxn>
                <a:cxn ang="0">
                  <a:pos x="6" y="3"/>
                </a:cxn>
                <a:cxn ang="0">
                  <a:pos x="4" y="0"/>
                </a:cxn>
              </a:cxnLst>
              <a:rect l="0" t="0" r="r" b="b"/>
              <a:pathLst>
                <a:path w="15" h="12">
                  <a:moveTo>
                    <a:pt x="4" y="0"/>
                  </a:moveTo>
                  <a:lnTo>
                    <a:pt x="15" y="0"/>
                  </a:lnTo>
                  <a:lnTo>
                    <a:pt x="10" y="12"/>
                  </a:lnTo>
                  <a:lnTo>
                    <a:pt x="0" y="11"/>
                  </a:lnTo>
                  <a:lnTo>
                    <a:pt x="6" y="3"/>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4" name="Freeform 233"/>
            <p:cNvSpPr>
              <a:spLocks/>
            </p:cNvSpPr>
            <p:nvPr/>
          </p:nvSpPr>
          <p:spPr bwMode="auto">
            <a:xfrm>
              <a:off x="1242" y="2463"/>
              <a:ext cx="238" cy="227"/>
            </a:xfrm>
            <a:custGeom>
              <a:avLst/>
              <a:gdLst/>
              <a:ahLst/>
              <a:cxnLst>
                <a:cxn ang="0">
                  <a:pos x="176" y="42"/>
                </a:cxn>
                <a:cxn ang="0">
                  <a:pos x="167" y="38"/>
                </a:cxn>
                <a:cxn ang="0">
                  <a:pos x="165" y="32"/>
                </a:cxn>
                <a:cxn ang="0">
                  <a:pos x="164" y="27"/>
                </a:cxn>
                <a:cxn ang="0">
                  <a:pos x="153" y="30"/>
                </a:cxn>
                <a:cxn ang="0">
                  <a:pos x="115" y="30"/>
                </a:cxn>
                <a:cxn ang="0">
                  <a:pos x="86" y="30"/>
                </a:cxn>
                <a:cxn ang="0">
                  <a:pos x="63" y="12"/>
                </a:cxn>
                <a:cxn ang="0">
                  <a:pos x="53" y="7"/>
                </a:cxn>
                <a:cxn ang="0">
                  <a:pos x="56" y="12"/>
                </a:cxn>
                <a:cxn ang="0">
                  <a:pos x="32" y="24"/>
                </a:cxn>
                <a:cxn ang="0">
                  <a:pos x="30" y="56"/>
                </a:cxn>
                <a:cxn ang="0">
                  <a:pos x="29" y="28"/>
                </a:cxn>
                <a:cxn ang="0">
                  <a:pos x="35" y="6"/>
                </a:cxn>
                <a:cxn ang="0">
                  <a:pos x="15" y="24"/>
                </a:cxn>
                <a:cxn ang="0">
                  <a:pos x="0" y="54"/>
                </a:cxn>
                <a:cxn ang="0">
                  <a:pos x="14" y="74"/>
                </a:cxn>
                <a:cxn ang="0">
                  <a:pos x="25" y="91"/>
                </a:cxn>
                <a:cxn ang="0">
                  <a:pos x="50" y="92"/>
                </a:cxn>
                <a:cxn ang="0">
                  <a:pos x="78" y="108"/>
                </a:cxn>
                <a:cxn ang="0">
                  <a:pos x="87" y="122"/>
                </a:cxn>
                <a:cxn ang="0">
                  <a:pos x="91" y="159"/>
                </a:cxn>
                <a:cxn ang="0">
                  <a:pos x="95" y="182"/>
                </a:cxn>
                <a:cxn ang="0">
                  <a:pos x="111" y="204"/>
                </a:cxn>
                <a:cxn ang="0">
                  <a:pos x="122" y="205"/>
                </a:cxn>
                <a:cxn ang="0">
                  <a:pos x="152" y="180"/>
                </a:cxn>
                <a:cxn ang="0">
                  <a:pos x="145" y="171"/>
                </a:cxn>
                <a:cxn ang="0">
                  <a:pos x="134" y="141"/>
                </a:cxn>
                <a:cxn ang="0">
                  <a:pos x="165" y="152"/>
                </a:cxn>
                <a:cxn ang="0">
                  <a:pos x="181" y="140"/>
                </a:cxn>
                <a:cxn ang="0">
                  <a:pos x="198" y="124"/>
                </a:cxn>
                <a:cxn ang="0">
                  <a:pos x="188" y="110"/>
                </a:cxn>
                <a:cxn ang="0">
                  <a:pos x="205" y="90"/>
                </a:cxn>
                <a:cxn ang="0">
                  <a:pos x="213" y="69"/>
                </a:cxn>
                <a:cxn ang="0">
                  <a:pos x="195" y="64"/>
                </a:cxn>
                <a:cxn ang="0">
                  <a:pos x="189" y="63"/>
                </a:cxn>
                <a:cxn ang="0">
                  <a:pos x="198" y="51"/>
                </a:cxn>
                <a:cxn ang="0">
                  <a:pos x="182" y="43"/>
                </a:cxn>
                <a:cxn ang="0">
                  <a:pos x="177" y="44"/>
                </a:cxn>
              </a:cxnLst>
              <a:rect l="0" t="0" r="r" b="b"/>
              <a:pathLst>
                <a:path w="213" h="205">
                  <a:moveTo>
                    <a:pt x="177" y="44"/>
                  </a:moveTo>
                  <a:lnTo>
                    <a:pt x="176" y="42"/>
                  </a:lnTo>
                  <a:lnTo>
                    <a:pt x="173" y="37"/>
                  </a:lnTo>
                  <a:lnTo>
                    <a:pt x="167" y="38"/>
                  </a:lnTo>
                  <a:lnTo>
                    <a:pt x="170" y="37"/>
                  </a:lnTo>
                  <a:lnTo>
                    <a:pt x="165" y="32"/>
                  </a:lnTo>
                  <a:lnTo>
                    <a:pt x="181" y="27"/>
                  </a:lnTo>
                  <a:lnTo>
                    <a:pt x="164" y="27"/>
                  </a:lnTo>
                  <a:lnTo>
                    <a:pt x="147" y="27"/>
                  </a:lnTo>
                  <a:lnTo>
                    <a:pt x="153" y="30"/>
                  </a:lnTo>
                  <a:lnTo>
                    <a:pt x="137" y="37"/>
                  </a:lnTo>
                  <a:lnTo>
                    <a:pt x="115" y="30"/>
                  </a:lnTo>
                  <a:lnTo>
                    <a:pt x="101" y="30"/>
                  </a:lnTo>
                  <a:lnTo>
                    <a:pt x="86" y="30"/>
                  </a:lnTo>
                  <a:lnTo>
                    <a:pt x="80" y="19"/>
                  </a:lnTo>
                  <a:lnTo>
                    <a:pt x="63" y="12"/>
                  </a:lnTo>
                  <a:lnTo>
                    <a:pt x="56" y="0"/>
                  </a:lnTo>
                  <a:lnTo>
                    <a:pt x="53" y="7"/>
                  </a:lnTo>
                  <a:lnTo>
                    <a:pt x="60" y="12"/>
                  </a:lnTo>
                  <a:lnTo>
                    <a:pt x="56" y="12"/>
                  </a:lnTo>
                  <a:lnTo>
                    <a:pt x="35" y="20"/>
                  </a:lnTo>
                  <a:lnTo>
                    <a:pt x="32" y="24"/>
                  </a:lnTo>
                  <a:lnTo>
                    <a:pt x="36" y="46"/>
                  </a:lnTo>
                  <a:lnTo>
                    <a:pt x="30" y="56"/>
                  </a:lnTo>
                  <a:lnTo>
                    <a:pt x="20" y="43"/>
                  </a:lnTo>
                  <a:lnTo>
                    <a:pt x="29" y="28"/>
                  </a:lnTo>
                  <a:lnTo>
                    <a:pt x="25" y="13"/>
                  </a:lnTo>
                  <a:lnTo>
                    <a:pt x="35" y="6"/>
                  </a:lnTo>
                  <a:lnTo>
                    <a:pt x="24" y="8"/>
                  </a:lnTo>
                  <a:lnTo>
                    <a:pt x="15" y="24"/>
                  </a:lnTo>
                  <a:lnTo>
                    <a:pt x="7" y="38"/>
                  </a:lnTo>
                  <a:lnTo>
                    <a:pt x="0" y="54"/>
                  </a:lnTo>
                  <a:lnTo>
                    <a:pt x="6" y="54"/>
                  </a:lnTo>
                  <a:lnTo>
                    <a:pt x="14" y="74"/>
                  </a:lnTo>
                  <a:lnTo>
                    <a:pt x="14" y="85"/>
                  </a:lnTo>
                  <a:lnTo>
                    <a:pt x="25" y="91"/>
                  </a:lnTo>
                  <a:lnTo>
                    <a:pt x="37" y="92"/>
                  </a:lnTo>
                  <a:lnTo>
                    <a:pt x="50" y="92"/>
                  </a:lnTo>
                  <a:lnTo>
                    <a:pt x="63" y="109"/>
                  </a:lnTo>
                  <a:lnTo>
                    <a:pt x="78" y="108"/>
                  </a:lnTo>
                  <a:lnTo>
                    <a:pt x="91" y="106"/>
                  </a:lnTo>
                  <a:lnTo>
                    <a:pt x="87" y="122"/>
                  </a:lnTo>
                  <a:lnTo>
                    <a:pt x="84" y="136"/>
                  </a:lnTo>
                  <a:lnTo>
                    <a:pt x="91" y="159"/>
                  </a:lnTo>
                  <a:lnTo>
                    <a:pt x="86" y="168"/>
                  </a:lnTo>
                  <a:lnTo>
                    <a:pt x="95" y="182"/>
                  </a:lnTo>
                  <a:lnTo>
                    <a:pt x="98" y="196"/>
                  </a:lnTo>
                  <a:lnTo>
                    <a:pt x="111" y="204"/>
                  </a:lnTo>
                  <a:lnTo>
                    <a:pt x="120" y="204"/>
                  </a:lnTo>
                  <a:lnTo>
                    <a:pt x="122" y="205"/>
                  </a:lnTo>
                  <a:lnTo>
                    <a:pt x="138" y="193"/>
                  </a:lnTo>
                  <a:lnTo>
                    <a:pt x="152" y="180"/>
                  </a:lnTo>
                  <a:lnTo>
                    <a:pt x="155" y="175"/>
                  </a:lnTo>
                  <a:lnTo>
                    <a:pt x="145" y="171"/>
                  </a:lnTo>
                  <a:lnTo>
                    <a:pt x="140" y="151"/>
                  </a:lnTo>
                  <a:lnTo>
                    <a:pt x="134" y="141"/>
                  </a:lnTo>
                  <a:lnTo>
                    <a:pt x="150" y="147"/>
                  </a:lnTo>
                  <a:lnTo>
                    <a:pt x="165" y="152"/>
                  </a:lnTo>
                  <a:lnTo>
                    <a:pt x="168" y="146"/>
                  </a:lnTo>
                  <a:lnTo>
                    <a:pt x="181" y="140"/>
                  </a:lnTo>
                  <a:lnTo>
                    <a:pt x="194" y="134"/>
                  </a:lnTo>
                  <a:lnTo>
                    <a:pt x="198" y="124"/>
                  </a:lnTo>
                  <a:lnTo>
                    <a:pt x="197" y="124"/>
                  </a:lnTo>
                  <a:lnTo>
                    <a:pt x="188" y="110"/>
                  </a:lnTo>
                  <a:lnTo>
                    <a:pt x="194" y="97"/>
                  </a:lnTo>
                  <a:lnTo>
                    <a:pt x="205" y="90"/>
                  </a:lnTo>
                  <a:lnTo>
                    <a:pt x="199" y="82"/>
                  </a:lnTo>
                  <a:lnTo>
                    <a:pt x="213" y="69"/>
                  </a:lnTo>
                  <a:lnTo>
                    <a:pt x="211" y="64"/>
                  </a:lnTo>
                  <a:lnTo>
                    <a:pt x="195" y="64"/>
                  </a:lnTo>
                  <a:lnTo>
                    <a:pt x="185" y="64"/>
                  </a:lnTo>
                  <a:lnTo>
                    <a:pt x="189" y="63"/>
                  </a:lnTo>
                  <a:lnTo>
                    <a:pt x="194" y="55"/>
                  </a:lnTo>
                  <a:lnTo>
                    <a:pt x="198" y="51"/>
                  </a:lnTo>
                  <a:lnTo>
                    <a:pt x="188" y="43"/>
                  </a:lnTo>
                  <a:lnTo>
                    <a:pt x="182" y="43"/>
                  </a:lnTo>
                  <a:lnTo>
                    <a:pt x="176" y="39"/>
                  </a:lnTo>
                  <a:lnTo>
                    <a:pt x="177" y="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5" name="Freeform 234"/>
            <p:cNvSpPr>
              <a:spLocks/>
            </p:cNvSpPr>
            <p:nvPr/>
          </p:nvSpPr>
          <p:spPr bwMode="auto">
            <a:xfrm>
              <a:off x="1405" y="2483"/>
              <a:ext cx="9" cy="4"/>
            </a:xfrm>
            <a:custGeom>
              <a:avLst/>
              <a:gdLst/>
              <a:ahLst/>
              <a:cxnLst>
                <a:cxn ang="0">
                  <a:pos x="8" y="2"/>
                </a:cxn>
                <a:cxn ang="0">
                  <a:pos x="0" y="0"/>
                </a:cxn>
                <a:cxn ang="0">
                  <a:pos x="8" y="2"/>
                </a:cxn>
              </a:cxnLst>
              <a:rect l="0" t="0" r="r" b="b"/>
              <a:pathLst>
                <a:path w="8" h="2">
                  <a:moveTo>
                    <a:pt x="8" y="2"/>
                  </a:moveTo>
                  <a:lnTo>
                    <a:pt x="0" y="0"/>
                  </a:lnTo>
                  <a:lnTo>
                    <a:pt x="8"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6" name="Freeform 235"/>
            <p:cNvSpPr>
              <a:spLocks/>
            </p:cNvSpPr>
            <p:nvPr/>
          </p:nvSpPr>
          <p:spPr bwMode="auto">
            <a:xfrm>
              <a:off x="1307" y="2454"/>
              <a:ext cx="2" cy="2"/>
            </a:xfrm>
            <a:custGeom>
              <a:avLst/>
              <a:gdLst/>
              <a:ahLst/>
              <a:cxnLst>
                <a:cxn ang="0">
                  <a:pos x="0" y="0"/>
                </a:cxn>
                <a:cxn ang="0">
                  <a:pos x="0" y="1"/>
                </a:cxn>
                <a:cxn ang="0">
                  <a:pos x="3" y="4"/>
                </a:cxn>
                <a:cxn ang="0">
                  <a:pos x="0" y="0"/>
                </a:cxn>
              </a:cxnLst>
              <a:rect l="0" t="0" r="r" b="b"/>
              <a:pathLst>
                <a:path w="3" h="4">
                  <a:moveTo>
                    <a:pt x="0" y="0"/>
                  </a:moveTo>
                  <a:lnTo>
                    <a:pt x="0" y="1"/>
                  </a:lnTo>
                  <a:lnTo>
                    <a:pt x="3" y="4"/>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7" name="Freeform 236"/>
            <p:cNvSpPr>
              <a:spLocks/>
            </p:cNvSpPr>
            <p:nvPr/>
          </p:nvSpPr>
          <p:spPr bwMode="auto">
            <a:xfrm>
              <a:off x="1449" y="2461"/>
              <a:ext cx="5" cy="4"/>
            </a:xfrm>
            <a:custGeom>
              <a:avLst/>
              <a:gdLst/>
              <a:ahLst/>
              <a:cxnLst>
                <a:cxn ang="0">
                  <a:pos x="2" y="3"/>
                </a:cxn>
                <a:cxn ang="0">
                  <a:pos x="2" y="2"/>
                </a:cxn>
                <a:cxn ang="0">
                  <a:pos x="2" y="0"/>
                </a:cxn>
                <a:cxn ang="0">
                  <a:pos x="1" y="0"/>
                </a:cxn>
                <a:cxn ang="0">
                  <a:pos x="1" y="2"/>
                </a:cxn>
                <a:cxn ang="0">
                  <a:pos x="0" y="2"/>
                </a:cxn>
                <a:cxn ang="0">
                  <a:pos x="0" y="3"/>
                </a:cxn>
                <a:cxn ang="0">
                  <a:pos x="0" y="4"/>
                </a:cxn>
                <a:cxn ang="0">
                  <a:pos x="1" y="4"/>
                </a:cxn>
                <a:cxn ang="0">
                  <a:pos x="2" y="4"/>
                </a:cxn>
                <a:cxn ang="0">
                  <a:pos x="2" y="3"/>
                </a:cxn>
              </a:cxnLst>
              <a:rect l="0" t="0" r="r" b="b"/>
              <a:pathLst>
                <a:path w="2" h="4">
                  <a:moveTo>
                    <a:pt x="2" y="3"/>
                  </a:moveTo>
                  <a:lnTo>
                    <a:pt x="2" y="2"/>
                  </a:lnTo>
                  <a:lnTo>
                    <a:pt x="2" y="0"/>
                  </a:lnTo>
                  <a:lnTo>
                    <a:pt x="1" y="0"/>
                  </a:lnTo>
                  <a:lnTo>
                    <a:pt x="1" y="2"/>
                  </a:lnTo>
                  <a:lnTo>
                    <a:pt x="0" y="2"/>
                  </a:lnTo>
                  <a:lnTo>
                    <a:pt x="0" y="3"/>
                  </a:lnTo>
                  <a:lnTo>
                    <a:pt x="0" y="4"/>
                  </a:lnTo>
                  <a:lnTo>
                    <a:pt x="1" y="4"/>
                  </a:lnTo>
                  <a:lnTo>
                    <a:pt x="2" y="4"/>
                  </a:lnTo>
                  <a:lnTo>
                    <a:pt x="2"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8" name="Freeform 237"/>
            <p:cNvSpPr>
              <a:spLocks/>
            </p:cNvSpPr>
            <p:nvPr/>
          </p:nvSpPr>
          <p:spPr bwMode="auto">
            <a:xfrm>
              <a:off x="1634" y="3723"/>
              <a:ext cx="26" cy="20"/>
            </a:xfrm>
            <a:custGeom>
              <a:avLst/>
              <a:gdLst/>
              <a:ahLst/>
              <a:cxnLst>
                <a:cxn ang="0">
                  <a:pos x="23" y="7"/>
                </a:cxn>
                <a:cxn ang="0">
                  <a:pos x="18" y="3"/>
                </a:cxn>
                <a:cxn ang="0">
                  <a:pos x="14" y="3"/>
                </a:cxn>
                <a:cxn ang="0">
                  <a:pos x="11" y="2"/>
                </a:cxn>
                <a:cxn ang="0">
                  <a:pos x="5" y="0"/>
                </a:cxn>
                <a:cxn ang="0">
                  <a:pos x="5" y="6"/>
                </a:cxn>
                <a:cxn ang="0">
                  <a:pos x="0" y="12"/>
                </a:cxn>
                <a:cxn ang="0">
                  <a:pos x="5" y="17"/>
                </a:cxn>
                <a:cxn ang="0">
                  <a:pos x="8" y="14"/>
                </a:cxn>
                <a:cxn ang="0">
                  <a:pos x="10" y="13"/>
                </a:cxn>
                <a:cxn ang="0">
                  <a:pos x="10" y="11"/>
                </a:cxn>
                <a:cxn ang="0">
                  <a:pos x="23" y="7"/>
                </a:cxn>
              </a:cxnLst>
              <a:rect l="0" t="0" r="r" b="b"/>
              <a:pathLst>
                <a:path w="23" h="17">
                  <a:moveTo>
                    <a:pt x="23" y="7"/>
                  </a:moveTo>
                  <a:lnTo>
                    <a:pt x="18" y="3"/>
                  </a:lnTo>
                  <a:lnTo>
                    <a:pt x="14" y="3"/>
                  </a:lnTo>
                  <a:lnTo>
                    <a:pt x="11" y="2"/>
                  </a:lnTo>
                  <a:lnTo>
                    <a:pt x="5" y="0"/>
                  </a:lnTo>
                  <a:lnTo>
                    <a:pt x="5" y="6"/>
                  </a:lnTo>
                  <a:lnTo>
                    <a:pt x="0" y="12"/>
                  </a:lnTo>
                  <a:lnTo>
                    <a:pt x="5" y="17"/>
                  </a:lnTo>
                  <a:lnTo>
                    <a:pt x="8" y="14"/>
                  </a:lnTo>
                  <a:lnTo>
                    <a:pt x="10" y="13"/>
                  </a:lnTo>
                  <a:lnTo>
                    <a:pt x="10" y="11"/>
                  </a:lnTo>
                  <a:lnTo>
                    <a:pt x="23"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9" name="Freeform 238"/>
            <p:cNvSpPr>
              <a:spLocks/>
            </p:cNvSpPr>
            <p:nvPr/>
          </p:nvSpPr>
          <p:spPr bwMode="auto">
            <a:xfrm>
              <a:off x="1616" y="3725"/>
              <a:ext cx="20" cy="16"/>
            </a:xfrm>
            <a:custGeom>
              <a:avLst/>
              <a:gdLst/>
              <a:ahLst/>
              <a:cxnLst>
                <a:cxn ang="0">
                  <a:pos x="4" y="6"/>
                </a:cxn>
                <a:cxn ang="0">
                  <a:pos x="1" y="1"/>
                </a:cxn>
                <a:cxn ang="0">
                  <a:pos x="18" y="0"/>
                </a:cxn>
                <a:cxn ang="0">
                  <a:pos x="9" y="10"/>
                </a:cxn>
                <a:cxn ang="0">
                  <a:pos x="0" y="13"/>
                </a:cxn>
                <a:cxn ang="0">
                  <a:pos x="4" y="8"/>
                </a:cxn>
                <a:cxn ang="0">
                  <a:pos x="2" y="6"/>
                </a:cxn>
                <a:cxn ang="0">
                  <a:pos x="4" y="6"/>
                </a:cxn>
              </a:cxnLst>
              <a:rect l="0" t="0" r="r" b="b"/>
              <a:pathLst>
                <a:path w="18" h="13">
                  <a:moveTo>
                    <a:pt x="4" y="6"/>
                  </a:moveTo>
                  <a:lnTo>
                    <a:pt x="1" y="1"/>
                  </a:lnTo>
                  <a:lnTo>
                    <a:pt x="18" y="0"/>
                  </a:lnTo>
                  <a:lnTo>
                    <a:pt x="9" y="10"/>
                  </a:lnTo>
                  <a:lnTo>
                    <a:pt x="0" y="13"/>
                  </a:lnTo>
                  <a:lnTo>
                    <a:pt x="4" y="8"/>
                  </a:lnTo>
                  <a:lnTo>
                    <a:pt x="2" y="6"/>
                  </a:lnTo>
                  <a:lnTo>
                    <a:pt x="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0" name="Freeform 239"/>
            <p:cNvSpPr>
              <a:spLocks/>
            </p:cNvSpPr>
            <p:nvPr/>
          </p:nvSpPr>
          <p:spPr bwMode="auto">
            <a:xfrm>
              <a:off x="1314" y="2901"/>
              <a:ext cx="220" cy="260"/>
            </a:xfrm>
            <a:custGeom>
              <a:avLst/>
              <a:gdLst/>
              <a:ahLst/>
              <a:cxnLst>
                <a:cxn ang="0">
                  <a:pos x="132" y="186"/>
                </a:cxn>
                <a:cxn ang="0">
                  <a:pos x="129" y="205"/>
                </a:cxn>
                <a:cxn ang="0">
                  <a:pos x="125" y="225"/>
                </a:cxn>
                <a:cxn ang="0">
                  <a:pos x="121" y="220"/>
                </a:cxn>
                <a:cxn ang="0">
                  <a:pos x="103" y="223"/>
                </a:cxn>
                <a:cxn ang="0">
                  <a:pos x="99" y="233"/>
                </a:cxn>
                <a:cxn ang="0">
                  <a:pos x="91" y="222"/>
                </a:cxn>
                <a:cxn ang="0">
                  <a:pos x="72" y="219"/>
                </a:cxn>
                <a:cxn ang="0">
                  <a:pos x="69" y="216"/>
                </a:cxn>
                <a:cxn ang="0">
                  <a:pos x="55" y="234"/>
                </a:cxn>
                <a:cxn ang="0">
                  <a:pos x="45" y="233"/>
                </a:cxn>
                <a:cxn ang="0">
                  <a:pos x="39" y="217"/>
                </a:cxn>
                <a:cxn ang="0">
                  <a:pos x="31" y="201"/>
                </a:cxn>
                <a:cxn ang="0">
                  <a:pos x="27" y="185"/>
                </a:cxn>
                <a:cxn ang="0">
                  <a:pos x="28" y="172"/>
                </a:cxn>
                <a:cxn ang="0">
                  <a:pos x="19" y="160"/>
                </a:cxn>
                <a:cxn ang="0">
                  <a:pos x="15" y="148"/>
                </a:cxn>
                <a:cxn ang="0">
                  <a:pos x="10" y="139"/>
                </a:cxn>
                <a:cxn ang="0">
                  <a:pos x="10" y="132"/>
                </a:cxn>
                <a:cxn ang="0">
                  <a:pos x="17" y="117"/>
                </a:cxn>
                <a:cxn ang="0">
                  <a:pos x="12" y="115"/>
                </a:cxn>
                <a:cxn ang="0">
                  <a:pos x="10" y="100"/>
                </a:cxn>
                <a:cxn ang="0">
                  <a:pos x="10" y="85"/>
                </a:cxn>
                <a:cxn ang="0">
                  <a:pos x="13" y="76"/>
                </a:cxn>
                <a:cxn ang="0">
                  <a:pos x="13" y="54"/>
                </a:cxn>
                <a:cxn ang="0">
                  <a:pos x="16" y="49"/>
                </a:cxn>
                <a:cxn ang="0">
                  <a:pos x="7" y="35"/>
                </a:cxn>
                <a:cxn ang="0">
                  <a:pos x="0" y="22"/>
                </a:cxn>
                <a:cxn ang="0">
                  <a:pos x="19" y="22"/>
                </a:cxn>
                <a:cxn ang="0">
                  <a:pos x="27" y="17"/>
                </a:cxn>
                <a:cxn ang="0">
                  <a:pos x="40" y="9"/>
                </a:cxn>
                <a:cxn ang="0">
                  <a:pos x="53" y="0"/>
                </a:cxn>
                <a:cxn ang="0">
                  <a:pos x="66" y="1"/>
                </a:cxn>
                <a:cxn ang="0">
                  <a:pos x="67" y="17"/>
                </a:cxn>
                <a:cxn ang="0">
                  <a:pos x="69" y="31"/>
                </a:cxn>
                <a:cxn ang="0">
                  <a:pos x="81" y="45"/>
                </a:cxn>
                <a:cxn ang="0">
                  <a:pos x="93" y="49"/>
                </a:cxn>
                <a:cxn ang="0">
                  <a:pos x="106" y="55"/>
                </a:cxn>
                <a:cxn ang="0">
                  <a:pos x="124" y="67"/>
                </a:cxn>
                <a:cxn ang="0">
                  <a:pos x="142" y="71"/>
                </a:cxn>
                <a:cxn ang="0">
                  <a:pos x="147" y="78"/>
                </a:cxn>
                <a:cxn ang="0">
                  <a:pos x="149" y="96"/>
                </a:cxn>
                <a:cxn ang="0">
                  <a:pos x="145" y="96"/>
                </a:cxn>
                <a:cxn ang="0">
                  <a:pos x="151" y="103"/>
                </a:cxn>
                <a:cxn ang="0">
                  <a:pos x="154" y="117"/>
                </a:cxn>
                <a:cxn ang="0">
                  <a:pos x="168" y="119"/>
                </a:cxn>
                <a:cxn ang="0">
                  <a:pos x="183" y="120"/>
                </a:cxn>
                <a:cxn ang="0">
                  <a:pos x="185" y="136"/>
                </a:cxn>
                <a:cxn ang="0">
                  <a:pos x="195" y="145"/>
                </a:cxn>
                <a:cxn ang="0">
                  <a:pos x="198" y="153"/>
                </a:cxn>
                <a:cxn ang="0">
                  <a:pos x="195" y="166"/>
                </a:cxn>
                <a:cxn ang="0">
                  <a:pos x="191" y="179"/>
                </a:cxn>
                <a:cxn ang="0">
                  <a:pos x="193" y="185"/>
                </a:cxn>
                <a:cxn ang="0">
                  <a:pos x="191" y="187"/>
                </a:cxn>
                <a:cxn ang="0">
                  <a:pos x="191" y="184"/>
                </a:cxn>
                <a:cxn ang="0">
                  <a:pos x="175" y="173"/>
                </a:cxn>
                <a:cxn ang="0">
                  <a:pos x="155" y="175"/>
                </a:cxn>
                <a:cxn ang="0">
                  <a:pos x="135" y="178"/>
                </a:cxn>
                <a:cxn ang="0">
                  <a:pos x="132" y="186"/>
                </a:cxn>
              </a:cxnLst>
              <a:rect l="0" t="0" r="r" b="b"/>
              <a:pathLst>
                <a:path w="198" h="234">
                  <a:moveTo>
                    <a:pt x="132" y="186"/>
                  </a:moveTo>
                  <a:lnTo>
                    <a:pt x="129" y="205"/>
                  </a:lnTo>
                  <a:lnTo>
                    <a:pt x="125" y="225"/>
                  </a:lnTo>
                  <a:lnTo>
                    <a:pt x="121" y="220"/>
                  </a:lnTo>
                  <a:lnTo>
                    <a:pt x="103" y="223"/>
                  </a:lnTo>
                  <a:lnTo>
                    <a:pt x="99" y="233"/>
                  </a:lnTo>
                  <a:lnTo>
                    <a:pt x="91" y="222"/>
                  </a:lnTo>
                  <a:lnTo>
                    <a:pt x="72" y="219"/>
                  </a:lnTo>
                  <a:lnTo>
                    <a:pt x="69" y="216"/>
                  </a:lnTo>
                  <a:lnTo>
                    <a:pt x="55" y="234"/>
                  </a:lnTo>
                  <a:lnTo>
                    <a:pt x="45" y="233"/>
                  </a:lnTo>
                  <a:lnTo>
                    <a:pt x="39" y="217"/>
                  </a:lnTo>
                  <a:lnTo>
                    <a:pt x="31" y="201"/>
                  </a:lnTo>
                  <a:lnTo>
                    <a:pt x="27" y="185"/>
                  </a:lnTo>
                  <a:lnTo>
                    <a:pt x="28" y="172"/>
                  </a:lnTo>
                  <a:lnTo>
                    <a:pt x="19" y="160"/>
                  </a:lnTo>
                  <a:lnTo>
                    <a:pt x="15" y="148"/>
                  </a:lnTo>
                  <a:lnTo>
                    <a:pt x="10" y="139"/>
                  </a:lnTo>
                  <a:lnTo>
                    <a:pt x="10" y="132"/>
                  </a:lnTo>
                  <a:lnTo>
                    <a:pt x="17" y="117"/>
                  </a:lnTo>
                  <a:lnTo>
                    <a:pt x="12" y="115"/>
                  </a:lnTo>
                  <a:lnTo>
                    <a:pt x="10" y="100"/>
                  </a:lnTo>
                  <a:lnTo>
                    <a:pt x="10" y="85"/>
                  </a:lnTo>
                  <a:lnTo>
                    <a:pt x="13" y="76"/>
                  </a:lnTo>
                  <a:lnTo>
                    <a:pt x="13" y="54"/>
                  </a:lnTo>
                  <a:lnTo>
                    <a:pt x="16" y="49"/>
                  </a:lnTo>
                  <a:lnTo>
                    <a:pt x="7" y="35"/>
                  </a:lnTo>
                  <a:lnTo>
                    <a:pt x="0" y="22"/>
                  </a:lnTo>
                  <a:lnTo>
                    <a:pt x="19" y="22"/>
                  </a:lnTo>
                  <a:lnTo>
                    <a:pt x="27" y="17"/>
                  </a:lnTo>
                  <a:lnTo>
                    <a:pt x="40" y="9"/>
                  </a:lnTo>
                  <a:lnTo>
                    <a:pt x="53" y="0"/>
                  </a:lnTo>
                  <a:lnTo>
                    <a:pt x="66" y="1"/>
                  </a:lnTo>
                  <a:lnTo>
                    <a:pt x="67" y="17"/>
                  </a:lnTo>
                  <a:lnTo>
                    <a:pt x="69" y="31"/>
                  </a:lnTo>
                  <a:lnTo>
                    <a:pt x="81" y="45"/>
                  </a:lnTo>
                  <a:lnTo>
                    <a:pt x="93" y="49"/>
                  </a:lnTo>
                  <a:lnTo>
                    <a:pt x="106" y="55"/>
                  </a:lnTo>
                  <a:lnTo>
                    <a:pt x="124" y="67"/>
                  </a:lnTo>
                  <a:lnTo>
                    <a:pt x="142" y="71"/>
                  </a:lnTo>
                  <a:lnTo>
                    <a:pt x="147" y="78"/>
                  </a:lnTo>
                  <a:lnTo>
                    <a:pt x="149" y="96"/>
                  </a:lnTo>
                  <a:lnTo>
                    <a:pt x="145" y="96"/>
                  </a:lnTo>
                  <a:lnTo>
                    <a:pt x="151" y="103"/>
                  </a:lnTo>
                  <a:lnTo>
                    <a:pt x="154" y="117"/>
                  </a:lnTo>
                  <a:lnTo>
                    <a:pt x="168" y="119"/>
                  </a:lnTo>
                  <a:lnTo>
                    <a:pt x="183" y="120"/>
                  </a:lnTo>
                  <a:lnTo>
                    <a:pt x="185" y="136"/>
                  </a:lnTo>
                  <a:lnTo>
                    <a:pt x="195" y="145"/>
                  </a:lnTo>
                  <a:lnTo>
                    <a:pt x="198" y="153"/>
                  </a:lnTo>
                  <a:lnTo>
                    <a:pt x="195" y="166"/>
                  </a:lnTo>
                  <a:lnTo>
                    <a:pt x="191" y="179"/>
                  </a:lnTo>
                  <a:lnTo>
                    <a:pt x="193" y="185"/>
                  </a:lnTo>
                  <a:lnTo>
                    <a:pt x="191" y="187"/>
                  </a:lnTo>
                  <a:lnTo>
                    <a:pt x="191" y="184"/>
                  </a:lnTo>
                  <a:lnTo>
                    <a:pt x="175" y="173"/>
                  </a:lnTo>
                  <a:lnTo>
                    <a:pt x="155" y="175"/>
                  </a:lnTo>
                  <a:lnTo>
                    <a:pt x="135" y="178"/>
                  </a:lnTo>
                  <a:lnTo>
                    <a:pt x="132" y="18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1" name="Freeform 240"/>
            <p:cNvSpPr>
              <a:spLocks/>
            </p:cNvSpPr>
            <p:nvPr/>
          </p:nvSpPr>
          <p:spPr bwMode="auto">
            <a:xfrm>
              <a:off x="1234" y="2601"/>
              <a:ext cx="686" cy="777"/>
            </a:xfrm>
            <a:custGeom>
              <a:avLst/>
              <a:gdLst/>
              <a:ahLst/>
              <a:cxnLst>
                <a:cxn ang="0">
                  <a:pos x="465" y="137"/>
                </a:cxn>
                <a:cxn ang="0">
                  <a:pos x="456" y="122"/>
                </a:cxn>
                <a:cxn ang="0">
                  <a:pos x="436" y="113"/>
                </a:cxn>
                <a:cxn ang="0">
                  <a:pos x="415" y="107"/>
                </a:cxn>
                <a:cxn ang="0">
                  <a:pos x="394" y="125"/>
                </a:cxn>
                <a:cxn ang="0">
                  <a:pos x="373" y="129"/>
                </a:cxn>
                <a:cxn ang="0">
                  <a:pos x="341" y="123"/>
                </a:cxn>
                <a:cxn ang="0">
                  <a:pos x="367" y="83"/>
                </a:cxn>
                <a:cxn ang="0">
                  <a:pos x="363" y="40"/>
                </a:cxn>
                <a:cxn ang="0">
                  <a:pos x="353" y="21"/>
                </a:cxn>
                <a:cxn ang="0">
                  <a:pos x="329" y="56"/>
                </a:cxn>
                <a:cxn ang="0">
                  <a:pos x="280" y="52"/>
                </a:cxn>
                <a:cxn ang="0">
                  <a:pos x="241" y="70"/>
                </a:cxn>
                <a:cxn ang="0">
                  <a:pos x="225" y="20"/>
                </a:cxn>
                <a:cxn ang="0">
                  <a:pos x="208" y="0"/>
                </a:cxn>
                <a:cxn ang="0">
                  <a:pos x="175" y="28"/>
                </a:cxn>
                <a:cxn ang="0">
                  <a:pos x="155" y="47"/>
                </a:cxn>
                <a:cxn ang="0">
                  <a:pos x="132" y="81"/>
                </a:cxn>
                <a:cxn ang="0">
                  <a:pos x="105" y="71"/>
                </a:cxn>
                <a:cxn ang="0">
                  <a:pos x="88" y="63"/>
                </a:cxn>
                <a:cxn ang="0">
                  <a:pos x="72" y="78"/>
                </a:cxn>
                <a:cxn ang="0">
                  <a:pos x="67" y="119"/>
                </a:cxn>
                <a:cxn ang="0">
                  <a:pos x="42" y="173"/>
                </a:cxn>
                <a:cxn ang="0">
                  <a:pos x="9" y="213"/>
                </a:cxn>
                <a:cxn ang="0">
                  <a:pos x="13" y="262"/>
                </a:cxn>
                <a:cxn ang="0">
                  <a:pos x="53" y="264"/>
                </a:cxn>
                <a:cxn ang="0">
                  <a:pos x="91" y="291"/>
                </a:cxn>
                <a:cxn ang="0">
                  <a:pos x="138" y="270"/>
                </a:cxn>
                <a:cxn ang="0">
                  <a:pos x="165" y="318"/>
                </a:cxn>
                <a:cxn ang="0">
                  <a:pos x="219" y="347"/>
                </a:cxn>
                <a:cxn ang="0">
                  <a:pos x="226" y="386"/>
                </a:cxn>
                <a:cxn ang="0">
                  <a:pos x="267" y="414"/>
                </a:cxn>
                <a:cxn ang="0">
                  <a:pos x="265" y="454"/>
                </a:cxn>
                <a:cxn ang="0">
                  <a:pos x="291" y="492"/>
                </a:cxn>
                <a:cxn ang="0">
                  <a:pos x="321" y="524"/>
                </a:cxn>
                <a:cxn ang="0">
                  <a:pos x="337" y="554"/>
                </a:cxn>
                <a:cxn ang="0">
                  <a:pos x="317" y="605"/>
                </a:cxn>
                <a:cxn ang="0">
                  <a:pos x="300" y="635"/>
                </a:cxn>
                <a:cxn ang="0">
                  <a:pos x="349" y="668"/>
                </a:cxn>
                <a:cxn ang="0">
                  <a:pos x="373" y="689"/>
                </a:cxn>
                <a:cxn ang="0">
                  <a:pos x="390" y="647"/>
                </a:cxn>
                <a:cxn ang="0">
                  <a:pos x="394" y="652"/>
                </a:cxn>
                <a:cxn ang="0">
                  <a:pos x="394" y="656"/>
                </a:cxn>
                <a:cxn ang="0">
                  <a:pos x="421" y="604"/>
                </a:cxn>
                <a:cxn ang="0">
                  <a:pos x="419" y="564"/>
                </a:cxn>
                <a:cxn ang="0">
                  <a:pos x="425" y="550"/>
                </a:cxn>
                <a:cxn ang="0">
                  <a:pos x="478" y="512"/>
                </a:cxn>
                <a:cxn ang="0">
                  <a:pos x="499" y="504"/>
                </a:cxn>
                <a:cxn ang="0">
                  <a:pos x="533" y="489"/>
                </a:cxn>
                <a:cxn ang="0">
                  <a:pos x="552" y="417"/>
                </a:cxn>
                <a:cxn ang="0">
                  <a:pos x="557" y="359"/>
                </a:cxn>
                <a:cxn ang="0">
                  <a:pos x="562" y="322"/>
                </a:cxn>
                <a:cxn ang="0">
                  <a:pos x="580" y="298"/>
                </a:cxn>
                <a:cxn ang="0">
                  <a:pos x="616" y="248"/>
                </a:cxn>
                <a:cxn ang="0">
                  <a:pos x="592" y="184"/>
                </a:cxn>
                <a:cxn ang="0">
                  <a:pos x="523" y="144"/>
                </a:cxn>
                <a:cxn ang="0">
                  <a:pos x="468" y="143"/>
                </a:cxn>
              </a:cxnLst>
              <a:rect l="0" t="0" r="r" b="b"/>
              <a:pathLst>
                <a:path w="618" h="700">
                  <a:moveTo>
                    <a:pt x="469" y="137"/>
                  </a:moveTo>
                  <a:lnTo>
                    <a:pt x="467" y="140"/>
                  </a:lnTo>
                  <a:lnTo>
                    <a:pt x="460" y="152"/>
                  </a:lnTo>
                  <a:lnTo>
                    <a:pt x="465" y="137"/>
                  </a:lnTo>
                  <a:lnTo>
                    <a:pt x="462" y="134"/>
                  </a:lnTo>
                  <a:lnTo>
                    <a:pt x="461" y="135"/>
                  </a:lnTo>
                  <a:lnTo>
                    <a:pt x="462" y="126"/>
                  </a:lnTo>
                  <a:lnTo>
                    <a:pt x="456" y="122"/>
                  </a:lnTo>
                  <a:lnTo>
                    <a:pt x="450" y="122"/>
                  </a:lnTo>
                  <a:lnTo>
                    <a:pt x="449" y="119"/>
                  </a:lnTo>
                  <a:lnTo>
                    <a:pt x="443" y="117"/>
                  </a:lnTo>
                  <a:lnTo>
                    <a:pt x="436" y="113"/>
                  </a:lnTo>
                  <a:lnTo>
                    <a:pt x="430" y="111"/>
                  </a:lnTo>
                  <a:lnTo>
                    <a:pt x="425" y="110"/>
                  </a:lnTo>
                  <a:lnTo>
                    <a:pt x="417" y="105"/>
                  </a:lnTo>
                  <a:lnTo>
                    <a:pt x="415" y="107"/>
                  </a:lnTo>
                  <a:lnTo>
                    <a:pt x="406" y="110"/>
                  </a:lnTo>
                  <a:lnTo>
                    <a:pt x="400" y="120"/>
                  </a:lnTo>
                  <a:lnTo>
                    <a:pt x="400" y="123"/>
                  </a:lnTo>
                  <a:lnTo>
                    <a:pt x="394" y="125"/>
                  </a:lnTo>
                  <a:lnTo>
                    <a:pt x="383" y="141"/>
                  </a:lnTo>
                  <a:lnTo>
                    <a:pt x="384" y="128"/>
                  </a:lnTo>
                  <a:lnTo>
                    <a:pt x="379" y="131"/>
                  </a:lnTo>
                  <a:lnTo>
                    <a:pt x="373" y="129"/>
                  </a:lnTo>
                  <a:lnTo>
                    <a:pt x="369" y="129"/>
                  </a:lnTo>
                  <a:lnTo>
                    <a:pt x="363" y="111"/>
                  </a:lnTo>
                  <a:lnTo>
                    <a:pt x="352" y="117"/>
                  </a:lnTo>
                  <a:lnTo>
                    <a:pt x="341" y="123"/>
                  </a:lnTo>
                  <a:lnTo>
                    <a:pt x="335" y="122"/>
                  </a:lnTo>
                  <a:lnTo>
                    <a:pt x="347" y="114"/>
                  </a:lnTo>
                  <a:lnTo>
                    <a:pt x="357" y="95"/>
                  </a:lnTo>
                  <a:lnTo>
                    <a:pt x="367" y="83"/>
                  </a:lnTo>
                  <a:lnTo>
                    <a:pt x="377" y="71"/>
                  </a:lnTo>
                  <a:lnTo>
                    <a:pt x="373" y="62"/>
                  </a:lnTo>
                  <a:lnTo>
                    <a:pt x="365" y="56"/>
                  </a:lnTo>
                  <a:lnTo>
                    <a:pt x="363" y="40"/>
                  </a:lnTo>
                  <a:lnTo>
                    <a:pt x="359" y="24"/>
                  </a:lnTo>
                  <a:lnTo>
                    <a:pt x="358" y="26"/>
                  </a:lnTo>
                  <a:lnTo>
                    <a:pt x="352" y="17"/>
                  </a:lnTo>
                  <a:lnTo>
                    <a:pt x="353" y="21"/>
                  </a:lnTo>
                  <a:lnTo>
                    <a:pt x="351" y="21"/>
                  </a:lnTo>
                  <a:lnTo>
                    <a:pt x="351" y="22"/>
                  </a:lnTo>
                  <a:lnTo>
                    <a:pt x="340" y="39"/>
                  </a:lnTo>
                  <a:lnTo>
                    <a:pt x="329" y="56"/>
                  </a:lnTo>
                  <a:lnTo>
                    <a:pt x="313" y="54"/>
                  </a:lnTo>
                  <a:lnTo>
                    <a:pt x="304" y="52"/>
                  </a:lnTo>
                  <a:lnTo>
                    <a:pt x="294" y="48"/>
                  </a:lnTo>
                  <a:lnTo>
                    <a:pt x="280" y="52"/>
                  </a:lnTo>
                  <a:lnTo>
                    <a:pt x="281" y="62"/>
                  </a:lnTo>
                  <a:lnTo>
                    <a:pt x="274" y="59"/>
                  </a:lnTo>
                  <a:lnTo>
                    <a:pt x="257" y="62"/>
                  </a:lnTo>
                  <a:lnTo>
                    <a:pt x="241" y="70"/>
                  </a:lnTo>
                  <a:lnTo>
                    <a:pt x="232" y="70"/>
                  </a:lnTo>
                  <a:lnTo>
                    <a:pt x="222" y="57"/>
                  </a:lnTo>
                  <a:lnTo>
                    <a:pt x="220" y="35"/>
                  </a:lnTo>
                  <a:lnTo>
                    <a:pt x="225" y="20"/>
                  </a:lnTo>
                  <a:lnTo>
                    <a:pt x="217" y="10"/>
                  </a:lnTo>
                  <a:lnTo>
                    <a:pt x="216" y="0"/>
                  </a:lnTo>
                  <a:lnTo>
                    <a:pt x="207" y="0"/>
                  </a:lnTo>
                  <a:lnTo>
                    <a:pt x="208" y="0"/>
                  </a:lnTo>
                  <a:lnTo>
                    <a:pt x="204" y="10"/>
                  </a:lnTo>
                  <a:lnTo>
                    <a:pt x="191" y="16"/>
                  </a:lnTo>
                  <a:lnTo>
                    <a:pt x="178" y="22"/>
                  </a:lnTo>
                  <a:lnTo>
                    <a:pt x="175" y="28"/>
                  </a:lnTo>
                  <a:lnTo>
                    <a:pt x="160" y="23"/>
                  </a:lnTo>
                  <a:lnTo>
                    <a:pt x="144" y="17"/>
                  </a:lnTo>
                  <a:lnTo>
                    <a:pt x="150" y="27"/>
                  </a:lnTo>
                  <a:lnTo>
                    <a:pt x="155" y="47"/>
                  </a:lnTo>
                  <a:lnTo>
                    <a:pt x="165" y="51"/>
                  </a:lnTo>
                  <a:lnTo>
                    <a:pt x="162" y="56"/>
                  </a:lnTo>
                  <a:lnTo>
                    <a:pt x="148" y="69"/>
                  </a:lnTo>
                  <a:lnTo>
                    <a:pt x="132" y="81"/>
                  </a:lnTo>
                  <a:lnTo>
                    <a:pt x="130" y="80"/>
                  </a:lnTo>
                  <a:lnTo>
                    <a:pt x="121" y="80"/>
                  </a:lnTo>
                  <a:lnTo>
                    <a:pt x="108" y="72"/>
                  </a:lnTo>
                  <a:lnTo>
                    <a:pt x="105" y="71"/>
                  </a:lnTo>
                  <a:lnTo>
                    <a:pt x="100" y="56"/>
                  </a:lnTo>
                  <a:lnTo>
                    <a:pt x="90" y="63"/>
                  </a:lnTo>
                  <a:lnTo>
                    <a:pt x="87" y="60"/>
                  </a:lnTo>
                  <a:lnTo>
                    <a:pt x="88" y="63"/>
                  </a:lnTo>
                  <a:lnTo>
                    <a:pt x="75" y="63"/>
                  </a:lnTo>
                  <a:lnTo>
                    <a:pt x="61" y="63"/>
                  </a:lnTo>
                  <a:lnTo>
                    <a:pt x="64" y="75"/>
                  </a:lnTo>
                  <a:lnTo>
                    <a:pt x="72" y="78"/>
                  </a:lnTo>
                  <a:lnTo>
                    <a:pt x="69" y="83"/>
                  </a:lnTo>
                  <a:lnTo>
                    <a:pt x="58" y="83"/>
                  </a:lnTo>
                  <a:lnTo>
                    <a:pt x="61" y="100"/>
                  </a:lnTo>
                  <a:lnTo>
                    <a:pt x="67" y="119"/>
                  </a:lnTo>
                  <a:lnTo>
                    <a:pt x="64" y="144"/>
                  </a:lnTo>
                  <a:lnTo>
                    <a:pt x="60" y="170"/>
                  </a:lnTo>
                  <a:lnTo>
                    <a:pt x="55" y="170"/>
                  </a:lnTo>
                  <a:lnTo>
                    <a:pt x="42" y="173"/>
                  </a:lnTo>
                  <a:lnTo>
                    <a:pt x="29" y="179"/>
                  </a:lnTo>
                  <a:lnTo>
                    <a:pt x="17" y="185"/>
                  </a:lnTo>
                  <a:lnTo>
                    <a:pt x="12" y="198"/>
                  </a:lnTo>
                  <a:lnTo>
                    <a:pt x="9" y="213"/>
                  </a:lnTo>
                  <a:lnTo>
                    <a:pt x="0" y="227"/>
                  </a:lnTo>
                  <a:lnTo>
                    <a:pt x="7" y="240"/>
                  </a:lnTo>
                  <a:lnTo>
                    <a:pt x="15" y="254"/>
                  </a:lnTo>
                  <a:lnTo>
                    <a:pt x="13" y="262"/>
                  </a:lnTo>
                  <a:lnTo>
                    <a:pt x="21" y="263"/>
                  </a:lnTo>
                  <a:lnTo>
                    <a:pt x="29" y="270"/>
                  </a:lnTo>
                  <a:lnTo>
                    <a:pt x="42" y="274"/>
                  </a:lnTo>
                  <a:lnTo>
                    <a:pt x="53" y="264"/>
                  </a:lnTo>
                  <a:lnTo>
                    <a:pt x="54" y="279"/>
                  </a:lnTo>
                  <a:lnTo>
                    <a:pt x="55" y="292"/>
                  </a:lnTo>
                  <a:lnTo>
                    <a:pt x="72" y="291"/>
                  </a:lnTo>
                  <a:lnTo>
                    <a:pt x="91" y="291"/>
                  </a:lnTo>
                  <a:lnTo>
                    <a:pt x="99" y="286"/>
                  </a:lnTo>
                  <a:lnTo>
                    <a:pt x="112" y="278"/>
                  </a:lnTo>
                  <a:lnTo>
                    <a:pt x="125" y="269"/>
                  </a:lnTo>
                  <a:lnTo>
                    <a:pt x="138" y="270"/>
                  </a:lnTo>
                  <a:lnTo>
                    <a:pt x="139" y="286"/>
                  </a:lnTo>
                  <a:lnTo>
                    <a:pt x="141" y="300"/>
                  </a:lnTo>
                  <a:lnTo>
                    <a:pt x="153" y="314"/>
                  </a:lnTo>
                  <a:lnTo>
                    <a:pt x="165" y="318"/>
                  </a:lnTo>
                  <a:lnTo>
                    <a:pt x="178" y="324"/>
                  </a:lnTo>
                  <a:lnTo>
                    <a:pt x="196" y="336"/>
                  </a:lnTo>
                  <a:lnTo>
                    <a:pt x="214" y="340"/>
                  </a:lnTo>
                  <a:lnTo>
                    <a:pt x="219" y="347"/>
                  </a:lnTo>
                  <a:lnTo>
                    <a:pt x="221" y="365"/>
                  </a:lnTo>
                  <a:lnTo>
                    <a:pt x="217" y="365"/>
                  </a:lnTo>
                  <a:lnTo>
                    <a:pt x="223" y="372"/>
                  </a:lnTo>
                  <a:lnTo>
                    <a:pt x="226" y="386"/>
                  </a:lnTo>
                  <a:lnTo>
                    <a:pt x="240" y="388"/>
                  </a:lnTo>
                  <a:lnTo>
                    <a:pt x="255" y="389"/>
                  </a:lnTo>
                  <a:lnTo>
                    <a:pt x="257" y="405"/>
                  </a:lnTo>
                  <a:lnTo>
                    <a:pt x="267" y="414"/>
                  </a:lnTo>
                  <a:lnTo>
                    <a:pt x="270" y="422"/>
                  </a:lnTo>
                  <a:lnTo>
                    <a:pt x="267" y="435"/>
                  </a:lnTo>
                  <a:lnTo>
                    <a:pt x="263" y="448"/>
                  </a:lnTo>
                  <a:lnTo>
                    <a:pt x="265" y="454"/>
                  </a:lnTo>
                  <a:lnTo>
                    <a:pt x="263" y="456"/>
                  </a:lnTo>
                  <a:lnTo>
                    <a:pt x="267" y="465"/>
                  </a:lnTo>
                  <a:lnTo>
                    <a:pt x="269" y="490"/>
                  </a:lnTo>
                  <a:lnTo>
                    <a:pt x="291" y="492"/>
                  </a:lnTo>
                  <a:lnTo>
                    <a:pt x="303" y="495"/>
                  </a:lnTo>
                  <a:lnTo>
                    <a:pt x="307" y="509"/>
                  </a:lnTo>
                  <a:lnTo>
                    <a:pt x="312" y="524"/>
                  </a:lnTo>
                  <a:lnTo>
                    <a:pt x="321" y="524"/>
                  </a:lnTo>
                  <a:lnTo>
                    <a:pt x="329" y="525"/>
                  </a:lnTo>
                  <a:lnTo>
                    <a:pt x="328" y="539"/>
                  </a:lnTo>
                  <a:lnTo>
                    <a:pt x="328" y="554"/>
                  </a:lnTo>
                  <a:lnTo>
                    <a:pt x="337" y="554"/>
                  </a:lnTo>
                  <a:lnTo>
                    <a:pt x="345" y="576"/>
                  </a:lnTo>
                  <a:lnTo>
                    <a:pt x="335" y="586"/>
                  </a:lnTo>
                  <a:lnTo>
                    <a:pt x="325" y="594"/>
                  </a:lnTo>
                  <a:lnTo>
                    <a:pt x="317" y="605"/>
                  </a:lnTo>
                  <a:lnTo>
                    <a:pt x="309" y="615"/>
                  </a:lnTo>
                  <a:lnTo>
                    <a:pt x="300" y="626"/>
                  </a:lnTo>
                  <a:lnTo>
                    <a:pt x="292" y="636"/>
                  </a:lnTo>
                  <a:lnTo>
                    <a:pt x="300" y="635"/>
                  </a:lnTo>
                  <a:lnTo>
                    <a:pt x="319" y="650"/>
                  </a:lnTo>
                  <a:lnTo>
                    <a:pt x="323" y="650"/>
                  </a:lnTo>
                  <a:lnTo>
                    <a:pt x="333" y="656"/>
                  </a:lnTo>
                  <a:lnTo>
                    <a:pt x="349" y="668"/>
                  </a:lnTo>
                  <a:lnTo>
                    <a:pt x="365" y="680"/>
                  </a:lnTo>
                  <a:lnTo>
                    <a:pt x="364" y="688"/>
                  </a:lnTo>
                  <a:lnTo>
                    <a:pt x="367" y="700"/>
                  </a:lnTo>
                  <a:lnTo>
                    <a:pt x="373" y="689"/>
                  </a:lnTo>
                  <a:lnTo>
                    <a:pt x="378" y="677"/>
                  </a:lnTo>
                  <a:lnTo>
                    <a:pt x="379" y="666"/>
                  </a:lnTo>
                  <a:lnTo>
                    <a:pt x="384" y="656"/>
                  </a:lnTo>
                  <a:lnTo>
                    <a:pt x="390" y="647"/>
                  </a:lnTo>
                  <a:lnTo>
                    <a:pt x="389" y="636"/>
                  </a:lnTo>
                  <a:lnTo>
                    <a:pt x="396" y="639"/>
                  </a:lnTo>
                  <a:lnTo>
                    <a:pt x="400" y="639"/>
                  </a:lnTo>
                  <a:lnTo>
                    <a:pt x="394" y="652"/>
                  </a:lnTo>
                  <a:lnTo>
                    <a:pt x="387" y="665"/>
                  </a:lnTo>
                  <a:lnTo>
                    <a:pt x="382" y="669"/>
                  </a:lnTo>
                  <a:lnTo>
                    <a:pt x="383" y="670"/>
                  </a:lnTo>
                  <a:lnTo>
                    <a:pt x="394" y="656"/>
                  </a:lnTo>
                  <a:lnTo>
                    <a:pt x="405" y="641"/>
                  </a:lnTo>
                  <a:lnTo>
                    <a:pt x="411" y="627"/>
                  </a:lnTo>
                  <a:lnTo>
                    <a:pt x="417" y="612"/>
                  </a:lnTo>
                  <a:lnTo>
                    <a:pt x="421" y="604"/>
                  </a:lnTo>
                  <a:lnTo>
                    <a:pt x="423" y="604"/>
                  </a:lnTo>
                  <a:lnTo>
                    <a:pt x="423" y="590"/>
                  </a:lnTo>
                  <a:lnTo>
                    <a:pt x="423" y="575"/>
                  </a:lnTo>
                  <a:lnTo>
                    <a:pt x="419" y="564"/>
                  </a:lnTo>
                  <a:lnTo>
                    <a:pt x="419" y="558"/>
                  </a:lnTo>
                  <a:lnTo>
                    <a:pt x="421" y="552"/>
                  </a:lnTo>
                  <a:lnTo>
                    <a:pt x="419" y="551"/>
                  </a:lnTo>
                  <a:lnTo>
                    <a:pt x="425" y="550"/>
                  </a:lnTo>
                  <a:lnTo>
                    <a:pt x="439" y="537"/>
                  </a:lnTo>
                  <a:lnTo>
                    <a:pt x="453" y="524"/>
                  </a:lnTo>
                  <a:lnTo>
                    <a:pt x="466" y="520"/>
                  </a:lnTo>
                  <a:lnTo>
                    <a:pt x="478" y="512"/>
                  </a:lnTo>
                  <a:lnTo>
                    <a:pt x="483" y="507"/>
                  </a:lnTo>
                  <a:lnTo>
                    <a:pt x="493" y="507"/>
                  </a:lnTo>
                  <a:lnTo>
                    <a:pt x="489" y="508"/>
                  </a:lnTo>
                  <a:lnTo>
                    <a:pt x="499" y="504"/>
                  </a:lnTo>
                  <a:lnTo>
                    <a:pt x="502" y="503"/>
                  </a:lnTo>
                  <a:lnTo>
                    <a:pt x="519" y="503"/>
                  </a:lnTo>
                  <a:lnTo>
                    <a:pt x="523" y="494"/>
                  </a:lnTo>
                  <a:lnTo>
                    <a:pt x="533" y="489"/>
                  </a:lnTo>
                  <a:lnTo>
                    <a:pt x="535" y="468"/>
                  </a:lnTo>
                  <a:lnTo>
                    <a:pt x="543" y="454"/>
                  </a:lnTo>
                  <a:lnTo>
                    <a:pt x="550" y="441"/>
                  </a:lnTo>
                  <a:lnTo>
                    <a:pt x="552" y="417"/>
                  </a:lnTo>
                  <a:lnTo>
                    <a:pt x="556" y="407"/>
                  </a:lnTo>
                  <a:lnTo>
                    <a:pt x="557" y="390"/>
                  </a:lnTo>
                  <a:lnTo>
                    <a:pt x="558" y="372"/>
                  </a:lnTo>
                  <a:lnTo>
                    <a:pt x="557" y="359"/>
                  </a:lnTo>
                  <a:lnTo>
                    <a:pt x="557" y="346"/>
                  </a:lnTo>
                  <a:lnTo>
                    <a:pt x="555" y="341"/>
                  </a:lnTo>
                  <a:lnTo>
                    <a:pt x="557" y="324"/>
                  </a:lnTo>
                  <a:lnTo>
                    <a:pt x="562" y="322"/>
                  </a:lnTo>
                  <a:lnTo>
                    <a:pt x="563" y="328"/>
                  </a:lnTo>
                  <a:lnTo>
                    <a:pt x="571" y="314"/>
                  </a:lnTo>
                  <a:lnTo>
                    <a:pt x="580" y="299"/>
                  </a:lnTo>
                  <a:lnTo>
                    <a:pt x="580" y="298"/>
                  </a:lnTo>
                  <a:lnTo>
                    <a:pt x="583" y="293"/>
                  </a:lnTo>
                  <a:lnTo>
                    <a:pt x="593" y="281"/>
                  </a:lnTo>
                  <a:lnTo>
                    <a:pt x="603" y="268"/>
                  </a:lnTo>
                  <a:lnTo>
                    <a:pt x="616" y="248"/>
                  </a:lnTo>
                  <a:lnTo>
                    <a:pt x="618" y="222"/>
                  </a:lnTo>
                  <a:lnTo>
                    <a:pt x="612" y="204"/>
                  </a:lnTo>
                  <a:lnTo>
                    <a:pt x="605" y="186"/>
                  </a:lnTo>
                  <a:lnTo>
                    <a:pt x="592" y="184"/>
                  </a:lnTo>
                  <a:lnTo>
                    <a:pt x="580" y="182"/>
                  </a:lnTo>
                  <a:lnTo>
                    <a:pt x="563" y="166"/>
                  </a:lnTo>
                  <a:lnTo>
                    <a:pt x="545" y="152"/>
                  </a:lnTo>
                  <a:lnTo>
                    <a:pt x="523" y="144"/>
                  </a:lnTo>
                  <a:lnTo>
                    <a:pt x="508" y="146"/>
                  </a:lnTo>
                  <a:lnTo>
                    <a:pt x="495" y="142"/>
                  </a:lnTo>
                  <a:lnTo>
                    <a:pt x="480" y="138"/>
                  </a:lnTo>
                  <a:lnTo>
                    <a:pt x="468" y="143"/>
                  </a:lnTo>
                  <a:lnTo>
                    <a:pt x="469"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2" name="Freeform 241"/>
            <p:cNvSpPr>
              <a:spLocks/>
            </p:cNvSpPr>
            <p:nvPr/>
          </p:nvSpPr>
          <p:spPr bwMode="auto">
            <a:xfrm>
              <a:off x="1636" y="2707"/>
              <a:ext cx="44" cy="34"/>
            </a:xfrm>
            <a:custGeom>
              <a:avLst/>
              <a:gdLst/>
              <a:ahLst/>
              <a:cxnLst>
                <a:cxn ang="0">
                  <a:pos x="19" y="28"/>
                </a:cxn>
                <a:cxn ang="0">
                  <a:pos x="17" y="29"/>
                </a:cxn>
                <a:cxn ang="0">
                  <a:pos x="8" y="26"/>
                </a:cxn>
                <a:cxn ang="0">
                  <a:pos x="5" y="30"/>
                </a:cxn>
                <a:cxn ang="0">
                  <a:pos x="0" y="17"/>
                </a:cxn>
                <a:cxn ang="0">
                  <a:pos x="2" y="17"/>
                </a:cxn>
                <a:cxn ang="0">
                  <a:pos x="1" y="10"/>
                </a:cxn>
                <a:cxn ang="0">
                  <a:pos x="6" y="0"/>
                </a:cxn>
                <a:cxn ang="0">
                  <a:pos x="21" y="2"/>
                </a:cxn>
                <a:cxn ang="0">
                  <a:pos x="38" y="4"/>
                </a:cxn>
                <a:cxn ang="0">
                  <a:pos x="30" y="20"/>
                </a:cxn>
                <a:cxn ang="0">
                  <a:pos x="29" y="21"/>
                </a:cxn>
                <a:cxn ang="0">
                  <a:pos x="27" y="26"/>
                </a:cxn>
                <a:cxn ang="0">
                  <a:pos x="25" y="26"/>
                </a:cxn>
                <a:cxn ang="0">
                  <a:pos x="19" y="28"/>
                </a:cxn>
              </a:cxnLst>
              <a:rect l="0" t="0" r="r" b="b"/>
              <a:pathLst>
                <a:path w="38" h="30">
                  <a:moveTo>
                    <a:pt x="19" y="28"/>
                  </a:moveTo>
                  <a:lnTo>
                    <a:pt x="17" y="29"/>
                  </a:lnTo>
                  <a:lnTo>
                    <a:pt x="8" y="26"/>
                  </a:lnTo>
                  <a:lnTo>
                    <a:pt x="5" y="30"/>
                  </a:lnTo>
                  <a:lnTo>
                    <a:pt x="0" y="17"/>
                  </a:lnTo>
                  <a:lnTo>
                    <a:pt x="2" y="17"/>
                  </a:lnTo>
                  <a:lnTo>
                    <a:pt x="1" y="10"/>
                  </a:lnTo>
                  <a:lnTo>
                    <a:pt x="6" y="0"/>
                  </a:lnTo>
                  <a:lnTo>
                    <a:pt x="21" y="2"/>
                  </a:lnTo>
                  <a:lnTo>
                    <a:pt x="38" y="4"/>
                  </a:lnTo>
                  <a:lnTo>
                    <a:pt x="30" y="20"/>
                  </a:lnTo>
                  <a:lnTo>
                    <a:pt x="29" y="21"/>
                  </a:lnTo>
                  <a:lnTo>
                    <a:pt x="27" y="26"/>
                  </a:lnTo>
                  <a:lnTo>
                    <a:pt x="25" y="26"/>
                  </a:lnTo>
                  <a:lnTo>
                    <a:pt x="19"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3" name="Freeform 242"/>
            <p:cNvSpPr>
              <a:spLocks/>
            </p:cNvSpPr>
            <p:nvPr/>
          </p:nvSpPr>
          <p:spPr bwMode="auto">
            <a:xfrm>
              <a:off x="1451" y="3092"/>
              <a:ext cx="147" cy="162"/>
            </a:xfrm>
            <a:custGeom>
              <a:avLst/>
              <a:gdLst/>
              <a:ahLst/>
              <a:cxnLst>
                <a:cxn ang="0">
                  <a:pos x="7" y="13"/>
                </a:cxn>
                <a:cxn ang="0">
                  <a:pos x="4" y="32"/>
                </a:cxn>
                <a:cxn ang="0">
                  <a:pos x="0" y="52"/>
                </a:cxn>
                <a:cxn ang="0">
                  <a:pos x="16" y="66"/>
                </a:cxn>
                <a:cxn ang="0">
                  <a:pos x="31" y="80"/>
                </a:cxn>
                <a:cxn ang="0">
                  <a:pos x="43" y="86"/>
                </a:cxn>
                <a:cxn ang="0">
                  <a:pos x="56" y="92"/>
                </a:cxn>
                <a:cxn ang="0">
                  <a:pos x="71" y="101"/>
                </a:cxn>
                <a:cxn ang="0">
                  <a:pos x="85" y="109"/>
                </a:cxn>
                <a:cxn ang="0">
                  <a:pos x="79" y="126"/>
                </a:cxn>
                <a:cxn ang="0">
                  <a:pos x="73" y="143"/>
                </a:cxn>
                <a:cxn ang="0">
                  <a:pos x="91" y="144"/>
                </a:cxn>
                <a:cxn ang="0">
                  <a:pos x="109" y="145"/>
                </a:cxn>
                <a:cxn ang="0">
                  <a:pos x="120" y="142"/>
                </a:cxn>
                <a:cxn ang="0">
                  <a:pos x="132" y="122"/>
                </a:cxn>
                <a:cxn ang="0">
                  <a:pos x="131" y="112"/>
                </a:cxn>
                <a:cxn ang="0">
                  <a:pos x="131" y="97"/>
                </a:cxn>
                <a:cxn ang="0">
                  <a:pos x="132" y="83"/>
                </a:cxn>
                <a:cxn ang="0">
                  <a:pos x="124" y="82"/>
                </a:cxn>
                <a:cxn ang="0">
                  <a:pos x="115" y="82"/>
                </a:cxn>
                <a:cxn ang="0">
                  <a:pos x="110" y="67"/>
                </a:cxn>
                <a:cxn ang="0">
                  <a:pos x="106" y="53"/>
                </a:cxn>
                <a:cxn ang="0">
                  <a:pos x="94" y="50"/>
                </a:cxn>
                <a:cxn ang="0">
                  <a:pos x="72" y="48"/>
                </a:cxn>
                <a:cxn ang="0">
                  <a:pos x="70" y="23"/>
                </a:cxn>
                <a:cxn ang="0">
                  <a:pos x="66" y="14"/>
                </a:cxn>
                <a:cxn ang="0">
                  <a:pos x="66" y="11"/>
                </a:cxn>
                <a:cxn ang="0">
                  <a:pos x="50" y="0"/>
                </a:cxn>
                <a:cxn ang="0">
                  <a:pos x="30" y="2"/>
                </a:cxn>
                <a:cxn ang="0">
                  <a:pos x="10" y="5"/>
                </a:cxn>
                <a:cxn ang="0">
                  <a:pos x="7" y="13"/>
                </a:cxn>
              </a:cxnLst>
              <a:rect l="0" t="0" r="r" b="b"/>
              <a:pathLst>
                <a:path w="132" h="145">
                  <a:moveTo>
                    <a:pt x="7" y="13"/>
                  </a:moveTo>
                  <a:lnTo>
                    <a:pt x="4" y="32"/>
                  </a:lnTo>
                  <a:lnTo>
                    <a:pt x="0" y="52"/>
                  </a:lnTo>
                  <a:lnTo>
                    <a:pt x="16" y="66"/>
                  </a:lnTo>
                  <a:lnTo>
                    <a:pt x="31" y="80"/>
                  </a:lnTo>
                  <a:lnTo>
                    <a:pt x="43" y="86"/>
                  </a:lnTo>
                  <a:lnTo>
                    <a:pt x="56" y="92"/>
                  </a:lnTo>
                  <a:lnTo>
                    <a:pt x="71" y="101"/>
                  </a:lnTo>
                  <a:lnTo>
                    <a:pt x="85" y="109"/>
                  </a:lnTo>
                  <a:lnTo>
                    <a:pt x="79" y="126"/>
                  </a:lnTo>
                  <a:lnTo>
                    <a:pt x="73" y="143"/>
                  </a:lnTo>
                  <a:lnTo>
                    <a:pt x="91" y="144"/>
                  </a:lnTo>
                  <a:lnTo>
                    <a:pt x="109" y="145"/>
                  </a:lnTo>
                  <a:lnTo>
                    <a:pt x="120" y="142"/>
                  </a:lnTo>
                  <a:lnTo>
                    <a:pt x="132" y="122"/>
                  </a:lnTo>
                  <a:lnTo>
                    <a:pt x="131" y="112"/>
                  </a:lnTo>
                  <a:lnTo>
                    <a:pt x="131" y="97"/>
                  </a:lnTo>
                  <a:lnTo>
                    <a:pt x="132" y="83"/>
                  </a:lnTo>
                  <a:lnTo>
                    <a:pt x="124" y="82"/>
                  </a:lnTo>
                  <a:lnTo>
                    <a:pt x="115" y="82"/>
                  </a:lnTo>
                  <a:lnTo>
                    <a:pt x="110" y="67"/>
                  </a:lnTo>
                  <a:lnTo>
                    <a:pt x="106" y="53"/>
                  </a:lnTo>
                  <a:lnTo>
                    <a:pt x="94" y="50"/>
                  </a:lnTo>
                  <a:lnTo>
                    <a:pt x="72" y="48"/>
                  </a:lnTo>
                  <a:lnTo>
                    <a:pt x="70" y="23"/>
                  </a:lnTo>
                  <a:lnTo>
                    <a:pt x="66" y="14"/>
                  </a:lnTo>
                  <a:lnTo>
                    <a:pt x="66" y="11"/>
                  </a:lnTo>
                  <a:lnTo>
                    <a:pt x="50" y="0"/>
                  </a:lnTo>
                  <a:lnTo>
                    <a:pt x="30" y="2"/>
                  </a:lnTo>
                  <a:lnTo>
                    <a:pt x="10" y="5"/>
                  </a:lnTo>
                  <a:lnTo>
                    <a:pt x="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4" name="Freeform 243"/>
            <p:cNvSpPr>
              <a:spLocks/>
            </p:cNvSpPr>
            <p:nvPr/>
          </p:nvSpPr>
          <p:spPr bwMode="auto">
            <a:xfrm>
              <a:off x="1556" y="3307"/>
              <a:ext cx="84" cy="94"/>
            </a:xfrm>
            <a:custGeom>
              <a:avLst/>
              <a:gdLst/>
              <a:ahLst/>
              <a:cxnLst>
                <a:cxn ang="0">
                  <a:pos x="74" y="45"/>
                </a:cxn>
                <a:cxn ang="0">
                  <a:pos x="58" y="33"/>
                </a:cxn>
                <a:cxn ang="0">
                  <a:pos x="42" y="21"/>
                </a:cxn>
                <a:cxn ang="0">
                  <a:pos x="32" y="15"/>
                </a:cxn>
                <a:cxn ang="0">
                  <a:pos x="28" y="15"/>
                </a:cxn>
                <a:cxn ang="0">
                  <a:pos x="9" y="0"/>
                </a:cxn>
                <a:cxn ang="0">
                  <a:pos x="1" y="1"/>
                </a:cxn>
                <a:cxn ang="0">
                  <a:pos x="1" y="3"/>
                </a:cxn>
                <a:cxn ang="0">
                  <a:pos x="1" y="22"/>
                </a:cxn>
                <a:cxn ang="0">
                  <a:pos x="0" y="42"/>
                </a:cxn>
                <a:cxn ang="0">
                  <a:pos x="1" y="45"/>
                </a:cxn>
                <a:cxn ang="0">
                  <a:pos x="0" y="59"/>
                </a:cxn>
                <a:cxn ang="0">
                  <a:pos x="7" y="73"/>
                </a:cxn>
                <a:cxn ang="0">
                  <a:pos x="26" y="82"/>
                </a:cxn>
                <a:cxn ang="0">
                  <a:pos x="51" y="85"/>
                </a:cxn>
                <a:cxn ang="0">
                  <a:pos x="66" y="81"/>
                </a:cxn>
                <a:cxn ang="0">
                  <a:pos x="76" y="65"/>
                </a:cxn>
                <a:cxn ang="0">
                  <a:pos x="73" y="53"/>
                </a:cxn>
                <a:cxn ang="0">
                  <a:pos x="74" y="45"/>
                </a:cxn>
              </a:cxnLst>
              <a:rect l="0" t="0" r="r" b="b"/>
              <a:pathLst>
                <a:path w="76" h="85">
                  <a:moveTo>
                    <a:pt x="74" y="45"/>
                  </a:moveTo>
                  <a:lnTo>
                    <a:pt x="58" y="33"/>
                  </a:lnTo>
                  <a:lnTo>
                    <a:pt x="42" y="21"/>
                  </a:lnTo>
                  <a:lnTo>
                    <a:pt x="32" y="15"/>
                  </a:lnTo>
                  <a:lnTo>
                    <a:pt x="28" y="15"/>
                  </a:lnTo>
                  <a:lnTo>
                    <a:pt x="9" y="0"/>
                  </a:lnTo>
                  <a:lnTo>
                    <a:pt x="1" y="1"/>
                  </a:lnTo>
                  <a:lnTo>
                    <a:pt x="1" y="3"/>
                  </a:lnTo>
                  <a:lnTo>
                    <a:pt x="1" y="22"/>
                  </a:lnTo>
                  <a:lnTo>
                    <a:pt x="0" y="42"/>
                  </a:lnTo>
                  <a:lnTo>
                    <a:pt x="1" y="45"/>
                  </a:lnTo>
                  <a:lnTo>
                    <a:pt x="0" y="59"/>
                  </a:lnTo>
                  <a:lnTo>
                    <a:pt x="7" y="73"/>
                  </a:lnTo>
                  <a:lnTo>
                    <a:pt x="26" y="82"/>
                  </a:lnTo>
                  <a:lnTo>
                    <a:pt x="51" y="85"/>
                  </a:lnTo>
                  <a:lnTo>
                    <a:pt x="66" y="81"/>
                  </a:lnTo>
                  <a:lnTo>
                    <a:pt x="76" y="65"/>
                  </a:lnTo>
                  <a:lnTo>
                    <a:pt x="73" y="53"/>
                  </a:lnTo>
                  <a:lnTo>
                    <a:pt x="74" y="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5" name="Freeform 244"/>
            <p:cNvSpPr>
              <a:spLocks/>
            </p:cNvSpPr>
            <p:nvPr/>
          </p:nvSpPr>
          <p:spPr bwMode="auto">
            <a:xfrm>
              <a:off x="1345" y="3141"/>
              <a:ext cx="271" cy="604"/>
            </a:xfrm>
            <a:custGeom>
              <a:avLst/>
              <a:gdLst/>
              <a:ahLst/>
              <a:cxnLst>
                <a:cxn ang="0">
                  <a:pos x="136" y="345"/>
                </a:cxn>
                <a:cxn ang="0">
                  <a:pos x="132" y="366"/>
                </a:cxn>
                <a:cxn ang="0">
                  <a:pos x="143" y="367"/>
                </a:cxn>
                <a:cxn ang="0">
                  <a:pos x="151" y="377"/>
                </a:cxn>
                <a:cxn ang="0">
                  <a:pos x="132" y="375"/>
                </a:cxn>
                <a:cxn ang="0">
                  <a:pos x="133" y="394"/>
                </a:cxn>
                <a:cxn ang="0">
                  <a:pos x="132" y="417"/>
                </a:cxn>
                <a:cxn ang="0">
                  <a:pos x="116" y="441"/>
                </a:cxn>
                <a:cxn ang="0">
                  <a:pos x="148" y="457"/>
                </a:cxn>
                <a:cxn ang="0">
                  <a:pos x="148" y="468"/>
                </a:cxn>
                <a:cxn ang="0">
                  <a:pos x="132" y="491"/>
                </a:cxn>
                <a:cxn ang="0">
                  <a:pos x="124" y="502"/>
                </a:cxn>
                <a:cxn ang="0">
                  <a:pos x="127" y="507"/>
                </a:cxn>
                <a:cxn ang="0">
                  <a:pos x="121" y="521"/>
                </a:cxn>
                <a:cxn ang="0">
                  <a:pos x="125" y="531"/>
                </a:cxn>
                <a:cxn ang="0">
                  <a:pos x="143" y="545"/>
                </a:cxn>
                <a:cxn ang="0">
                  <a:pos x="91" y="535"/>
                </a:cxn>
                <a:cxn ang="0">
                  <a:pos x="74" y="514"/>
                </a:cxn>
                <a:cxn ang="0">
                  <a:pos x="52" y="491"/>
                </a:cxn>
                <a:cxn ang="0">
                  <a:pos x="59" y="457"/>
                </a:cxn>
                <a:cxn ang="0">
                  <a:pos x="54" y="424"/>
                </a:cxn>
                <a:cxn ang="0">
                  <a:pos x="44" y="412"/>
                </a:cxn>
                <a:cxn ang="0">
                  <a:pos x="42" y="402"/>
                </a:cxn>
                <a:cxn ang="0">
                  <a:pos x="29" y="373"/>
                </a:cxn>
                <a:cxn ang="0">
                  <a:pos x="22" y="335"/>
                </a:cxn>
                <a:cxn ang="0">
                  <a:pos x="23" y="305"/>
                </a:cxn>
                <a:cxn ang="0">
                  <a:pos x="17" y="280"/>
                </a:cxn>
                <a:cxn ang="0">
                  <a:pos x="20" y="252"/>
                </a:cxn>
                <a:cxn ang="0">
                  <a:pos x="19" y="217"/>
                </a:cxn>
                <a:cxn ang="0">
                  <a:pos x="7" y="192"/>
                </a:cxn>
                <a:cxn ang="0">
                  <a:pos x="1" y="166"/>
                </a:cxn>
                <a:cxn ang="0">
                  <a:pos x="2" y="142"/>
                </a:cxn>
                <a:cxn ang="0">
                  <a:pos x="8" y="113"/>
                </a:cxn>
                <a:cxn ang="0">
                  <a:pos x="19" y="91"/>
                </a:cxn>
                <a:cxn ang="0">
                  <a:pos x="11" y="57"/>
                </a:cxn>
                <a:cxn ang="0">
                  <a:pos x="26" y="40"/>
                </a:cxn>
                <a:cxn ang="0">
                  <a:pos x="26" y="18"/>
                </a:cxn>
                <a:cxn ang="0">
                  <a:pos x="43" y="3"/>
                </a:cxn>
                <a:cxn ang="0">
                  <a:pos x="70" y="17"/>
                </a:cxn>
                <a:cxn ang="0">
                  <a:pos x="92" y="4"/>
                </a:cxn>
                <a:cxn ang="0">
                  <a:pos x="112" y="23"/>
                </a:cxn>
                <a:cxn ang="0">
                  <a:pos x="139" y="43"/>
                </a:cxn>
                <a:cxn ang="0">
                  <a:pos x="167" y="58"/>
                </a:cxn>
                <a:cxn ang="0">
                  <a:pos x="175" y="83"/>
                </a:cxn>
                <a:cxn ang="0">
                  <a:pos x="187" y="101"/>
                </a:cxn>
                <a:cxn ang="0">
                  <a:pos x="216" y="99"/>
                </a:cxn>
                <a:cxn ang="0">
                  <a:pos x="227" y="69"/>
                </a:cxn>
                <a:cxn ang="0">
                  <a:pos x="244" y="91"/>
                </a:cxn>
                <a:cxn ang="0">
                  <a:pos x="224" y="109"/>
                </a:cxn>
                <a:cxn ang="0">
                  <a:pos x="208" y="130"/>
                </a:cxn>
                <a:cxn ang="0">
                  <a:pos x="191" y="151"/>
                </a:cxn>
                <a:cxn ang="0">
                  <a:pos x="191" y="172"/>
                </a:cxn>
                <a:cxn ang="0">
                  <a:pos x="192" y="203"/>
                </a:cxn>
                <a:cxn ang="0">
                  <a:pos x="194" y="232"/>
                </a:cxn>
                <a:cxn ang="0">
                  <a:pos x="217" y="258"/>
                </a:cxn>
                <a:cxn ang="0">
                  <a:pos x="221" y="281"/>
                </a:cxn>
                <a:cxn ang="0">
                  <a:pos x="202" y="300"/>
                </a:cxn>
                <a:cxn ang="0">
                  <a:pos x="176" y="306"/>
                </a:cxn>
                <a:cxn ang="0">
                  <a:pos x="152" y="309"/>
                </a:cxn>
                <a:cxn ang="0">
                  <a:pos x="160" y="337"/>
                </a:cxn>
              </a:cxnLst>
              <a:rect l="0" t="0" r="r" b="b"/>
              <a:pathLst>
                <a:path w="244" h="545">
                  <a:moveTo>
                    <a:pt x="156" y="346"/>
                  </a:moveTo>
                  <a:lnTo>
                    <a:pt x="136" y="345"/>
                  </a:lnTo>
                  <a:lnTo>
                    <a:pt x="120" y="342"/>
                  </a:lnTo>
                  <a:lnTo>
                    <a:pt x="132" y="366"/>
                  </a:lnTo>
                  <a:lnTo>
                    <a:pt x="137" y="369"/>
                  </a:lnTo>
                  <a:lnTo>
                    <a:pt x="143" y="367"/>
                  </a:lnTo>
                  <a:lnTo>
                    <a:pt x="146" y="364"/>
                  </a:lnTo>
                  <a:lnTo>
                    <a:pt x="151" y="377"/>
                  </a:lnTo>
                  <a:lnTo>
                    <a:pt x="143" y="375"/>
                  </a:lnTo>
                  <a:lnTo>
                    <a:pt x="132" y="375"/>
                  </a:lnTo>
                  <a:lnTo>
                    <a:pt x="144" y="381"/>
                  </a:lnTo>
                  <a:lnTo>
                    <a:pt x="133" y="394"/>
                  </a:lnTo>
                  <a:lnTo>
                    <a:pt x="134" y="408"/>
                  </a:lnTo>
                  <a:lnTo>
                    <a:pt x="132" y="417"/>
                  </a:lnTo>
                  <a:lnTo>
                    <a:pt x="116" y="424"/>
                  </a:lnTo>
                  <a:lnTo>
                    <a:pt x="116" y="441"/>
                  </a:lnTo>
                  <a:lnTo>
                    <a:pt x="139" y="453"/>
                  </a:lnTo>
                  <a:lnTo>
                    <a:pt x="148" y="457"/>
                  </a:lnTo>
                  <a:lnTo>
                    <a:pt x="143" y="466"/>
                  </a:lnTo>
                  <a:lnTo>
                    <a:pt x="148" y="468"/>
                  </a:lnTo>
                  <a:lnTo>
                    <a:pt x="140" y="479"/>
                  </a:lnTo>
                  <a:lnTo>
                    <a:pt x="132" y="491"/>
                  </a:lnTo>
                  <a:lnTo>
                    <a:pt x="131" y="504"/>
                  </a:lnTo>
                  <a:lnTo>
                    <a:pt x="124" y="502"/>
                  </a:lnTo>
                  <a:lnTo>
                    <a:pt x="120" y="503"/>
                  </a:lnTo>
                  <a:lnTo>
                    <a:pt x="127" y="507"/>
                  </a:lnTo>
                  <a:lnTo>
                    <a:pt x="121" y="516"/>
                  </a:lnTo>
                  <a:lnTo>
                    <a:pt x="121" y="521"/>
                  </a:lnTo>
                  <a:lnTo>
                    <a:pt x="128" y="532"/>
                  </a:lnTo>
                  <a:lnTo>
                    <a:pt x="125" y="531"/>
                  </a:lnTo>
                  <a:lnTo>
                    <a:pt x="134" y="535"/>
                  </a:lnTo>
                  <a:lnTo>
                    <a:pt x="143" y="545"/>
                  </a:lnTo>
                  <a:lnTo>
                    <a:pt x="119" y="538"/>
                  </a:lnTo>
                  <a:lnTo>
                    <a:pt x="91" y="535"/>
                  </a:lnTo>
                  <a:lnTo>
                    <a:pt x="83" y="527"/>
                  </a:lnTo>
                  <a:lnTo>
                    <a:pt x="74" y="514"/>
                  </a:lnTo>
                  <a:lnTo>
                    <a:pt x="66" y="515"/>
                  </a:lnTo>
                  <a:lnTo>
                    <a:pt x="52" y="491"/>
                  </a:lnTo>
                  <a:lnTo>
                    <a:pt x="61" y="481"/>
                  </a:lnTo>
                  <a:lnTo>
                    <a:pt x="59" y="457"/>
                  </a:lnTo>
                  <a:lnTo>
                    <a:pt x="55" y="437"/>
                  </a:lnTo>
                  <a:lnTo>
                    <a:pt x="54" y="424"/>
                  </a:lnTo>
                  <a:lnTo>
                    <a:pt x="50" y="415"/>
                  </a:lnTo>
                  <a:lnTo>
                    <a:pt x="44" y="412"/>
                  </a:lnTo>
                  <a:lnTo>
                    <a:pt x="54" y="408"/>
                  </a:lnTo>
                  <a:lnTo>
                    <a:pt x="42" y="402"/>
                  </a:lnTo>
                  <a:lnTo>
                    <a:pt x="36" y="383"/>
                  </a:lnTo>
                  <a:lnTo>
                    <a:pt x="29" y="373"/>
                  </a:lnTo>
                  <a:lnTo>
                    <a:pt x="28" y="359"/>
                  </a:lnTo>
                  <a:lnTo>
                    <a:pt x="22" y="335"/>
                  </a:lnTo>
                  <a:lnTo>
                    <a:pt x="20" y="316"/>
                  </a:lnTo>
                  <a:lnTo>
                    <a:pt x="23" y="305"/>
                  </a:lnTo>
                  <a:lnTo>
                    <a:pt x="22" y="294"/>
                  </a:lnTo>
                  <a:lnTo>
                    <a:pt x="17" y="280"/>
                  </a:lnTo>
                  <a:lnTo>
                    <a:pt x="13" y="264"/>
                  </a:lnTo>
                  <a:lnTo>
                    <a:pt x="20" y="252"/>
                  </a:lnTo>
                  <a:lnTo>
                    <a:pt x="17" y="240"/>
                  </a:lnTo>
                  <a:lnTo>
                    <a:pt x="19" y="217"/>
                  </a:lnTo>
                  <a:lnTo>
                    <a:pt x="14" y="207"/>
                  </a:lnTo>
                  <a:lnTo>
                    <a:pt x="7" y="192"/>
                  </a:lnTo>
                  <a:lnTo>
                    <a:pt x="0" y="178"/>
                  </a:lnTo>
                  <a:lnTo>
                    <a:pt x="1" y="166"/>
                  </a:lnTo>
                  <a:lnTo>
                    <a:pt x="4" y="155"/>
                  </a:lnTo>
                  <a:lnTo>
                    <a:pt x="2" y="142"/>
                  </a:lnTo>
                  <a:lnTo>
                    <a:pt x="2" y="129"/>
                  </a:lnTo>
                  <a:lnTo>
                    <a:pt x="8" y="113"/>
                  </a:lnTo>
                  <a:lnTo>
                    <a:pt x="14" y="96"/>
                  </a:lnTo>
                  <a:lnTo>
                    <a:pt x="19" y="91"/>
                  </a:lnTo>
                  <a:lnTo>
                    <a:pt x="13" y="82"/>
                  </a:lnTo>
                  <a:lnTo>
                    <a:pt x="11" y="57"/>
                  </a:lnTo>
                  <a:lnTo>
                    <a:pt x="13" y="47"/>
                  </a:lnTo>
                  <a:lnTo>
                    <a:pt x="26" y="40"/>
                  </a:lnTo>
                  <a:lnTo>
                    <a:pt x="30" y="22"/>
                  </a:lnTo>
                  <a:lnTo>
                    <a:pt x="26" y="18"/>
                  </a:lnTo>
                  <a:lnTo>
                    <a:pt x="40" y="0"/>
                  </a:lnTo>
                  <a:lnTo>
                    <a:pt x="43" y="3"/>
                  </a:lnTo>
                  <a:lnTo>
                    <a:pt x="62" y="6"/>
                  </a:lnTo>
                  <a:lnTo>
                    <a:pt x="70" y="17"/>
                  </a:lnTo>
                  <a:lnTo>
                    <a:pt x="74" y="7"/>
                  </a:lnTo>
                  <a:lnTo>
                    <a:pt x="92" y="4"/>
                  </a:lnTo>
                  <a:lnTo>
                    <a:pt x="96" y="9"/>
                  </a:lnTo>
                  <a:lnTo>
                    <a:pt x="112" y="23"/>
                  </a:lnTo>
                  <a:lnTo>
                    <a:pt x="127" y="37"/>
                  </a:lnTo>
                  <a:lnTo>
                    <a:pt x="139" y="43"/>
                  </a:lnTo>
                  <a:lnTo>
                    <a:pt x="152" y="49"/>
                  </a:lnTo>
                  <a:lnTo>
                    <a:pt x="167" y="58"/>
                  </a:lnTo>
                  <a:lnTo>
                    <a:pt x="181" y="66"/>
                  </a:lnTo>
                  <a:lnTo>
                    <a:pt x="175" y="83"/>
                  </a:lnTo>
                  <a:lnTo>
                    <a:pt x="169" y="100"/>
                  </a:lnTo>
                  <a:lnTo>
                    <a:pt x="187" y="101"/>
                  </a:lnTo>
                  <a:lnTo>
                    <a:pt x="205" y="102"/>
                  </a:lnTo>
                  <a:lnTo>
                    <a:pt x="216" y="99"/>
                  </a:lnTo>
                  <a:lnTo>
                    <a:pt x="228" y="79"/>
                  </a:lnTo>
                  <a:lnTo>
                    <a:pt x="227" y="69"/>
                  </a:lnTo>
                  <a:lnTo>
                    <a:pt x="236" y="69"/>
                  </a:lnTo>
                  <a:lnTo>
                    <a:pt x="244" y="91"/>
                  </a:lnTo>
                  <a:lnTo>
                    <a:pt x="234" y="101"/>
                  </a:lnTo>
                  <a:lnTo>
                    <a:pt x="224" y="109"/>
                  </a:lnTo>
                  <a:lnTo>
                    <a:pt x="216" y="120"/>
                  </a:lnTo>
                  <a:lnTo>
                    <a:pt x="208" y="130"/>
                  </a:lnTo>
                  <a:lnTo>
                    <a:pt x="199" y="141"/>
                  </a:lnTo>
                  <a:lnTo>
                    <a:pt x="191" y="151"/>
                  </a:lnTo>
                  <a:lnTo>
                    <a:pt x="191" y="153"/>
                  </a:lnTo>
                  <a:lnTo>
                    <a:pt x="191" y="172"/>
                  </a:lnTo>
                  <a:lnTo>
                    <a:pt x="190" y="192"/>
                  </a:lnTo>
                  <a:lnTo>
                    <a:pt x="192" y="203"/>
                  </a:lnTo>
                  <a:lnTo>
                    <a:pt x="188" y="211"/>
                  </a:lnTo>
                  <a:lnTo>
                    <a:pt x="194" y="232"/>
                  </a:lnTo>
                  <a:lnTo>
                    <a:pt x="215" y="246"/>
                  </a:lnTo>
                  <a:lnTo>
                    <a:pt x="217" y="258"/>
                  </a:lnTo>
                  <a:lnTo>
                    <a:pt x="227" y="265"/>
                  </a:lnTo>
                  <a:lnTo>
                    <a:pt x="221" y="281"/>
                  </a:lnTo>
                  <a:lnTo>
                    <a:pt x="215" y="297"/>
                  </a:lnTo>
                  <a:lnTo>
                    <a:pt x="202" y="300"/>
                  </a:lnTo>
                  <a:lnTo>
                    <a:pt x="190" y="304"/>
                  </a:lnTo>
                  <a:lnTo>
                    <a:pt x="176" y="306"/>
                  </a:lnTo>
                  <a:lnTo>
                    <a:pt x="164" y="310"/>
                  </a:lnTo>
                  <a:lnTo>
                    <a:pt x="152" y="309"/>
                  </a:lnTo>
                  <a:lnTo>
                    <a:pt x="156" y="315"/>
                  </a:lnTo>
                  <a:lnTo>
                    <a:pt x="160" y="337"/>
                  </a:lnTo>
                  <a:lnTo>
                    <a:pt x="156" y="3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6" name="Freeform 245"/>
            <p:cNvSpPr>
              <a:spLocks/>
            </p:cNvSpPr>
            <p:nvPr/>
          </p:nvSpPr>
          <p:spPr bwMode="auto">
            <a:xfrm>
              <a:off x="1502" y="3750"/>
              <a:ext cx="67" cy="44"/>
            </a:xfrm>
            <a:custGeom>
              <a:avLst/>
              <a:gdLst/>
              <a:ahLst/>
              <a:cxnLst>
                <a:cxn ang="0">
                  <a:pos x="5" y="8"/>
                </a:cxn>
                <a:cxn ang="0">
                  <a:pos x="0" y="0"/>
                </a:cxn>
                <a:cxn ang="0">
                  <a:pos x="7" y="19"/>
                </a:cxn>
                <a:cxn ang="0">
                  <a:pos x="15" y="38"/>
                </a:cxn>
                <a:cxn ang="0">
                  <a:pos x="37" y="38"/>
                </a:cxn>
                <a:cxn ang="0">
                  <a:pos x="59" y="39"/>
                </a:cxn>
                <a:cxn ang="0">
                  <a:pos x="57" y="34"/>
                </a:cxn>
                <a:cxn ang="0">
                  <a:pos x="26" y="24"/>
                </a:cxn>
                <a:cxn ang="0">
                  <a:pos x="5" y="8"/>
                </a:cxn>
              </a:cxnLst>
              <a:rect l="0" t="0" r="r" b="b"/>
              <a:pathLst>
                <a:path w="59" h="39">
                  <a:moveTo>
                    <a:pt x="5" y="8"/>
                  </a:moveTo>
                  <a:lnTo>
                    <a:pt x="0" y="0"/>
                  </a:lnTo>
                  <a:lnTo>
                    <a:pt x="7" y="19"/>
                  </a:lnTo>
                  <a:lnTo>
                    <a:pt x="15" y="38"/>
                  </a:lnTo>
                  <a:lnTo>
                    <a:pt x="37" y="38"/>
                  </a:lnTo>
                  <a:lnTo>
                    <a:pt x="59" y="39"/>
                  </a:lnTo>
                  <a:lnTo>
                    <a:pt x="57" y="34"/>
                  </a:lnTo>
                  <a:lnTo>
                    <a:pt x="26" y="24"/>
                  </a:lnTo>
                  <a:lnTo>
                    <a:pt x="5" y="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7" name="Freeform 246"/>
            <p:cNvSpPr>
              <a:spLocks/>
            </p:cNvSpPr>
            <p:nvPr/>
          </p:nvSpPr>
          <p:spPr bwMode="auto">
            <a:xfrm>
              <a:off x="1309" y="3054"/>
              <a:ext cx="193" cy="720"/>
            </a:xfrm>
            <a:custGeom>
              <a:avLst/>
              <a:gdLst/>
              <a:ahLst/>
              <a:cxnLst>
                <a:cxn ang="0">
                  <a:pos x="18" y="257"/>
                </a:cxn>
                <a:cxn ang="0">
                  <a:pos x="20" y="300"/>
                </a:cxn>
                <a:cxn ang="0">
                  <a:pos x="15" y="348"/>
                </a:cxn>
                <a:cxn ang="0">
                  <a:pos x="22" y="384"/>
                </a:cxn>
                <a:cxn ang="0">
                  <a:pos x="33" y="432"/>
                </a:cxn>
                <a:cxn ang="0">
                  <a:pos x="46" y="432"/>
                </a:cxn>
                <a:cxn ang="0">
                  <a:pos x="54" y="444"/>
                </a:cxn>
                <a:cxn ang="0">
                  <a:pos x="54" y="459"/>
                </a:cxn>
                <a:cxn ang="0">
                  <a:pos x="63" y="484"/>
                </a:cxn>
                <a:cxn ang="0">
                  <a:pos x="61" y="500"/>
                </a:cxn>
                <a:cxn ang="0">
                  <a:pos x="62" y="514"/>
                </a:cxn>
                <a:cxn ang="0">
                  <a:pos x="57" y="515"/>
                </a:cxn>
                <a:cxn ang="0">
                  <a:pos x="49" y="509"/>
                </a:cxn>
                <a:cxn ang="0">
                  <a:pos x="39" y="524"/>
                </a:cxn>
                <a:cxn ang="0">
                  <a:pos x="63" y="532"/>
                </a:cxn>
                <a:cxn ang="0">
                  <a:pos x="56" y="542"/>
                </a:cxn>
                <a:cxn ang="0">
                  <a:pos x="75" y="545"/>
                </a:cxn>
                <a:cxn ang="0">
                  <a:pos x="61" y="546"/>
                </a:cxn>
                <a:cxn ang="0">
                  <a:pos x="75" y="576"/>
                </a:cxn>
                <a:cxn ang="0">
                  <a:pos x="84" y="588"/>
                </a:cxn>
                <a:cxn ang="0">
                  <a:pos x="96" y="604"/>
                </a:cxn>
                <a:cxn ang="0">
                  <a:pos x="102" y="614"/>
                </a:cxn>
                <a:cxn ang="0">
                  <a:pos x="111" y="629"/>
                </a:cxn>
                <a:cxn ang="0">
                  <a:pos x="118" y="636"/>
                </a:cxn>
                <a:cxn ang="0">
                  <a:pos x="148" y="626"/>
                </a:cxn>
                <a:cxn ang="0">
                  <a:pos x="151" y="615"/>
                </a:cxn>
                <a:cxn ang="0">
                  <a:pos x="106" y="591"/>
                </a:cxn>
                <a:cxn ang="0">
                  <a:pos x="93" y="558"/>
                </a:cxn>
                <a:cxn ang="0">
                  <a:pos x="86" y="501"/>
                </a:cxn>
                <a:cxn ang="0">
                  <a:pos x="86" y="485"/>
                </a:cxn>
                <a:cxn ang="0">
                  <a:pos x="61" y="450"/>
                </a:cxn>
                <a:cxn ang="0">
                  <a:pos x="52" y="393"/>
                </a:cxn>
                <a:cxn ang="0">
                  <a:pos x="49" y="357"/>
                </a:cxn>
                <a:cxn ang="0">
                  <a:pos x="49" y="317"/>
                </a:cxn>
                <a:cxn ang="0">
                  <a:pos x="39" y="269"/>
                </a:cxn>
                <a:cxn ang="0">
                  <a:pos x="36" y="232"/>
                </a:cxn>
                <a:cxn ang="0">
                  <a:pos x="40" y="190"/>
                </a:cxn>
                <a:cxn ang="0">
                  <a:pos x="45" y="159"/>
                </a:cxn>
                <a:cxn ang="0">
                  <a:pos x="58" y="117"/>
                </a:cxn>
                <a:cxn ang="0">
                  <a:pos x="48" y="94"/>
                </a:cxn>
                <a:cxn ang="0">
                  <a:pos x="30" y="46"/>
                </a:cxn>
                <a:cxn ang="0">
                  <a:pos x="18" y="9"/>
                </a:cxn>
                <a:cxn ang="0">
                  <a:pos x="3" y="15"/>
                </a:cxn>
                <a:cxn ang="0">
                  <a:pos x="9" y="62"/>
                </a:cxn>
                <a:cxn ang="0">
                  <a:pos x="8" y="108"/>
                </a:cxn>
                <a:cxn ang="0">
                  <a:pos x="10" y="176"/>
                </a:cxn>
                <a:cxn ang="0">
                  <a:pos x="12" y="230"/>
                </a:cxn>
              </a:cxnLst>
              <a:rect l="0" t="0" r="r" b="b"/>
              <a:pathLst>
                <a:path w="175" h="647">
                  <a:moveTo>
                    <a:pt x="12" y="230"/>
                  </a:moveTo>
                  <a:lnTo>
                    <a:pt x="15" y="244"/>
                  </a:lnTo>
                  <a:lnTo>
                    <a:pt x="18" y="257"/>
                  </a:lnTo>
                  <a:lnTo>
                    <a:pt x="20" y="270"/>
                  </a:lnTo>
                  <a:lnTo>
                    <a:pt x="21" y="284"/>
                  </a:lnTo>
                  <a:lnTo>
                    <a:pt x="20" y="300"/>
                  </a:lnTo>
                  <a:lnTo>
                    <a:pt x="18" y="316"/>
                  </a:lnTo>
                  <a:lnTo>
                    <a:pt x="16" y="332"/>
                  </a:lnTo>
                  <a:lnTo>
                    <a:pt x="15" y="348"/>
                  </a:lnTo>
                  <a:lnTo>
                    <a:pt x="12" y="354"/>
                  </a:lnTo>
                  <a:lnTo>
                    <a:pt x="16" y="369"/>
                  </a:lnTo>
                  <a:lnTo>
                    <a:pt x="22" y="384"/>
                  </a:lnTo>
                  <a:lnTo>
                    <a:pt x="26" y="401"/>
                  </a:lnTo>
                  <a:lnTo>
                    <a:pt x="24" y="418"/>
                  </a:lnTo>
                  <a:lnTo>
                    <a:pt x="33" y="432"/>
                  </a:lnTo>
                  <a:lnTo>
                    <a:pt x="34" y="436"/>
                  </a:lnTo>
                  <a:lnTo>
                    <a:pt x="40" y="432"/>
                  </a:lnTo>
                  <a:lnTo>
                    <a:pt x="46" y="432"/>
                  </a:lnTo>
                  <a:lnTo>
                    <a:pt x="51" y="430"/>
                  </a:lnTo>
                  <a:lnTo>
                    <a:pt x="49" y="440"/>
                  </a:lnTo>
                  <a:lnTo>
                    <a:pt x="54" y="444"/>
                  </a:lnTo>
                  <a:lnTo>
                    <a:pt x="51" y="443"/>
                  </a:lnTo>
                  <a:lnTo>
                    <a:pt x="52" y="448"/>
                  </a:lnTo>
                  <a:lnTo>
                    <a:pt x="54" y="459"/>
                  </a:lnTo>
                  <a:lnTo>
                    <a:pt x="55" y="471"/>
                  </a:lnTo>
                  <a:lnTo>
                    <a:pt x="55" y="477"/>
                  </a:lnTo>
                  <a:lnTo>
                    <a:pt x="63" y="484"/>
                  </a:lnTo>
                  <a:lnTo>
                    <a:pt x="58" y="496"/>
                  </a:lnTo>
                  <a:lnTo>
                    <a:pt x="64" y="500"/>
                  </a:lnTo>
                  <a:lnTo>
                    <a:pt x="61" y="500"/>
                  </a:lnTo>
                  <a:lnTo>
                    <a:pt x="61" y="504"/>
                  </a:lnTo>
                  <a:lnTo>
                    <a:pt x="61" y="506"/>
                  </a:lnTo>
                  <a:lnTo>
                    <a:pt x="62" y="514"/>
                  </a:lnTo>
                  <a:lnTo>
                    <a:pt x="63" y="513"/>
                  </a:lnTo>
                  <a:lnTo>
                    <a:pt x="58" y="520"/>
                  </a:lnTo>
                  <a:lnTo>
                    <a:pt x="57" y="515"/>
                  </a:lnTo>
                  <a:lnTo>
                    <a:pt x="51" y="515"/>
                  </a:lnTo>
                  <a:lnTo>
                    <a:pt x="52" y="509"/>
                  </a:lnTo>
                  <a:lnTo>
                    <a:pt x="49" y="509"/>
                  </a:lnTo>
                  <a:lnTo>
                    <a:pt x="44" y="510"/>
                  </a:lnTo>
                  <a:lnTo>
                    <a:pt x="37" y="525"/>
                  </a:lnTo>
                  <a:lnTo>
                    <a:pt x="39" y="524"/>
                  </a:lnTo>
                  <a:lnTo>
                    <a:pt x="44" y="521"/>
                  </a:lnTo>
                  <a:lnTo>
                    <a:pt x="52" y="524"/>
                  </a:lnTo>
                  <a:lnTo>
                    <a:pt x="63" y="532"/>
                  </a:lnTo>
                  <a:lnTo>
                    <a:pt x="58" y="536"/>
                  </a:lnTo>
                  <a:lnTo>
                    <a:pt x="63" y="539"/>
                  </a:lnTo>
                  <a:lnTo>
                    <a:pt x="56" y="542"/>
                  </a:lnTo>
                  <a:lnTo>
                    <a:pt x="69" y="540"/>
                  </a:lnTo>
                  <a:lnTo>
                    <a:pt x="70" y="539"/>
                  </a:lnTo>
                  <a:lnTo>
                    <a:pt x="75" y="545"/>
                  </a:lnTo>
                  <a:lnTo>
                    <a:pt x="75" y="550"/>
                  </a:lnTo>
                  <a:lnTo>
                    <a:pt x="66" y="548"/>
                  </a:lnTo>
                  <a:lnTo>
                    <a:pt x="61" y="546"/>
                  </a:lnTo>
                  <a:lnTo>
                    <a:pt x="68" y="557"/>
                  </a:lnTo>
                  <a:lnTo>
                    <a:pt x="75" y="569"/>
                  </a:lnTo>
                  <a:lnTo>
                    <a:pt x="75" y="576"/>
                  </a:lnTo>
                  <a:lnTo>
                    <a:pt x="79" y="582"/>
                  </a:lnTo>
                  <a:lnTo>
                    <a:pt x="75" y="585"/>
                  </a:lnTo>
                  <a:lnTo>
                    <a:pt x="84" y="588"/>
                  </a:lnTo>
                  <a:lnTo>
                    <a:pt x="88" y="596"/>
                  </a:lnTo>
                  <a:lnTo>
                    <a:pt x="88" y="599"/>
                  </a:lnTo>
                  <a:lnTo>
                    <a:pt x="96" y="604"/>
                  </a:lnTo>
                  <a:lnTo>
                    <a:pt x="99" y="609"/>
                  </a:lnTo>
                  <a:lnTo>
                    <a:pt x="94" y="606"/>
                  </a:lnTo>
                  <a:lnTo>
                    <a:pt x="102" y="614"/>
                  </a:lnTo>
                  <a:lnTo>
                    <a:pt x="103" y="617"/>
                  </a:lnTo>
                  <a:lnTo>
                    <a:pt x="109" y="626"/>
                  </a:lnTo>
                  <a:lnTo>
                    <a:pt x="111" y="629"/>
                  </a:lnTo>
                  <a:lnTo>
                    <a:pt x="118" y="633"/>
                  </a:lnTo>
                  <a:lnTo>
                    <a:pt x="121" y="635"/>
                  </a:lnTo>
                  <a:lnTo>
                    <a:pt x="118" y="636"/>
                  </a:lnTo>
                  <a:lnTo>
                    <a:pt x="127" y="639"/>
                  </a:lnTo>
                  <a:lnTo>
                    <a:pt x="147" y="647"/>
                  </a:lnTo>
                  <a:lnTo>
                    <a:pt x="148" y="626"/>
                  </a:lnTo>
                  <a:lnTo>
                    <a:pt x="160" y="620"/>
                  </a:lnTo>
                  <a:lnTo>
                    <a:pt x="175" y="622"/>
                  </a:lnTo>
                  <a:lnTo>
                    <a:pt x="151" y="615"/>
                  </a:lnTo>
                  <a:lnTo>
                    <a:pt x="123" y="612"/>
                  </a:lnTo>
                  <a:lnTo>
                    <a:pt x="115" y="604"/>
                  </a:lnTo>
                  <a:lnTo>
                    <a:pt x="106" y="591"/>
                  </a:lnTo>
                  <a:lnTo>
                    <a:pt x="98" y="592"/>
                  </a:lnTo>
                  <a:lnTo>
                    <a:pt x="84" y="568"/>
                  </a:lnTo>
                  <a:lnTo>
                    <a:pt x="93" y="558"/>
                  </a:lnTo>
                  <a:lnTo>
                    <a:pt x="91" y="534"/>
                  </a:lnTo>
                  <a:lnTo>
                    <a:pt x="87" y="514"/>
                  </a:lnTo>
                  <a:lnTo>
                    <a:pt x="86" y="501"/>
                  </a:lnTo>
                  <a:lnTo>
                    <a:pt x="82" y="492"/>
                  </a:lnTo>
                  <a:lnTo>
                    <a:pt x="76" y="489"/>
                  </a:lnTo>
                  <a:lnTo>
                    <a:pt x="86" y="485"/>
                  </a:lnTo>
                  <a:lnTo>
                    <a:pt x="74" y="479"/>
                  </a:lnTo>
                  <a:lnTo>
                    <a:pt x="68" y="460"/>
                  </a:lnTo>
                  <a:lnTo>
                    <a:pt x="61" y="450"/>
                  </a:lnTo>
                  <a:lnTo>
                    <a:pt x="60" y="436"/>
                  </a:lnTo>
                  <a:lnTo>
                    <a:pt x="54" y="412"/>
                  </a:lnTo>
                  <a:lnTo>
                    <a:pt x="52" y="393"/>
                  </a:lnTo>
                  <a:lnTo>
                    <a:pt x="55" y="382"/>
                  </a:lnTo>
                  <a:lnTo>
                    <a:pt x="54" y="371"/>
                  </a:lnTo>
                  <a:lnTo>
                    <a:pt x="49" y="357"/>
                  </a:lnTo>
                  <a:lnTo>
                    <a:pt x="45" y="341"/>
                  </a:lnTo>
                  <a:lnTo>
                    <a:pt x="52" y="329"/>
                  </a:lnTo>
                  <a:lnTo>
                    <a:pt x="49" y="317"/>
                  </a:lnTo>
                  <a:lnTo>
                    <a:pt x="51" y="294"/>
                  </a:lnTo>
                  <a:lnTo>
                    <a:pt x="46" y="284"/>
                  </a:lnTo>
                  <a:lnTo>
                    <a:pt x="39" y="269"/>
                  </a:lnTo>
                  <a:lnTo>
                    <a:pt x="32" y="255"/>
                  </a:lnTo>
                  <a:lnTo>
                    <a:pt x="33" y="243"/>
                  </a:lnTo>
                  <a:lnTo>
                    <a:pt x="36" y="232"/>
                  </a:lnTo>
                  <a:lnTo>
                    <a:pt x="34" y="219"/>
                  </a:lnTo>
                  <a:lnTo>
                    <a:pt x="34" y="206"/>
                  </a:lnTo>
                  <a:lnTo>
                    <a:pt x="40" y="190"/>
                  </a:lnTo>
                  <a:lnTo>
                    <a:pt x="46" y="173"/>
                  </a:lnTo>
                  <a:lnTo>
                    <a:pt x="51" y="168"/>
                  </a:lnTo>
                  <a:lnTo>
                    <a:pt x="45" y="159"/>
                  </a:lnTo>
                  <a:lnTo>
                    <a:pt x="43" y="134"/>
                  </a:lnTo>
                  <a:lnTo>
                    <a:pt x="45" y="124"/>
                  </a:lnTo>
                  <a:lnTo>
                    <a:pt x="58" y="117"/>
                  </a:lnTo>
                  <a:lnTo>
                    <a:pt x="62" y="99"/>
                  </a:lnTo>
                  <a:lnTo>
                    <a:pt x="58" y="95"/>
                  </a:lnTo>
                  <a:lnTo>
                    <a:pt x="48" y="94"/>
                  </a:lnTo>
                  <a:lnTo>
                    <a:pt x="42" y="78"/>
                  </a:lnTo>
                  <a:lnTo>
                    <a:pt x="34" y="62"/>
                  </a:lnTo>
                  <a:lnTo>
                    <a:pt x="30" y="46"/>
                  </a:lnTo>
                  <a:lnTo>
                    <a:pt x="31" y="33"/>
                  </a:lnTo>
                  <a:lnTo>
                    <a:pt x="22" y="21"/>
                  </a:lnTo>
                  <a:lnTo>
                    <a:pt x="18" y="9"/>
                  </a:lnTo>
                  <a:lnTo>
                    <a:pt x="13" y="0"/>
                  </a:lnTo>
                  <a:lnTo>
                    <a:pt x="9" y="8"/>
                  </a:lnTo>
                  <a:lnTo>
                    <a:pt x="3" y="15"/>
                  </a:lnTo>
                  <a:lnTo>
                    <a:pt x="0" y="16"/>
                  </a:lnTo>
                  <a:lnTo>
                    <a:pt x="4" y="39"/>
                  </a:lnTo>
                  <a:lnTo>
                    <a:pt x="9" y="62"/>
                  </a:lnTo>
                  <a:lnTo>
                    <a:pt x="9" y="81"/>
                  </a:lnTo>
                  <a:lnTo>
                    <a:pt x="8" y="100"/>
                  </a:lnTo>
                  <a:lnTo>
                    <a:pt x="8" y="108"/>
                  </a:lnTo>
                  <a:lnTo>
                    <a:pt x="10" y="131"/>
                  </a:lnTo>
                  <a:lnTo>
                    <a:pt x="12" y="150"/>
                  </a:lnTo>
                  <a:lnTo>
                    <a:pt x="10" y="176"/>
                  </a:lnTo>
                  <a:lnTo>
                    <a:pt x="10" y="201"/>
                  </a:lnTo>
                  <a:lnTo>
                    <a:pt x="12" y="213"/>
                  </a:lnTo>
                  <a:lnTo>
                    <a:pt x="12" y="23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8" name="Freeform 247"/>
            <p:cNvSpPr>
              <a:spLocks/>
            </p:cNvSpPr>
            <p:nvPr/>
          </p:nvSpPr>
          <p:spPr bwMode="auto">
            <a:xfrm>
              <a:off x="1469" y="3747"/>
              <a:ext cx="51" cy="45"/>
            </a:xfrm>
            <a:custGeom>
              <a:avLst/>
              <a:gdLst/>
              <a:ahLst/>
              <a:cxnLst>
                <a:cxn ang="0">
                  <a:pos x="31" y="2"/>
                </a:cxn>
                <a:cxn ang="0">
                  <a:pos x="38" y="21"/>
                </a:cxn>
                <a:cxn ang="0">
                  <a:pos x="46" y="40"/>
                </a:cxn>
                <a:cxn ang="0">
                  <a:pos x="42" y="39"/>
                </a:cxn>
                <a:cxn ang="0">
                  <a:pos x="34" y="40"/>
                </a:cxn>
                <a:cxn ang="0">
                  <a:pos x="19" y="38"/>
                </a:cxn>
                <a:cxn ang="0">
                  <a:pos x="13" y="38"/>
                </a:cxn>
                <a:cxn ang="0">
                  <a:pos x="0" y="36"/>
                </a:cxn>
                <a:cxn ang="0">
                  <a:pos x="3" y="34"/>
                </a:cxn>
                <a:cxn ang="0">
                  <a:pos x="12" y="32"/>
                </a:cxn>
                <a:cxn ang="0">
                  <a:pos x="16" y="34"/>
                </a:cxn>
                <a:cxn ang="0">
                  <a:pos x="20" y="34"/>
                </a:cxn>
                <a:cxn ang="0">
                  <a:pos x="13" y="30"/>
                </a:cxn>
                <a:cxn ang="0">
                  <a:pos x="22" y="32"/>
                </a:cxn>
                <a:cxn ang="0">
                  <a:pos x="27" y="33"/>
                </a:cxn>
                <a:cxn ang="0">
                  <a:pos x="34" y="34"/>
                </a:cxn>
                <a:cxn ang="0">
                  <a:pos x="37" y="35"/>
                </a:cxn>
                <a:cxn ang="0">
                  <a:pos x="19" y="24"/>
                </a:cxn>
                <a:cxn ang="0">
                  <a:pos x="26" y="16"/>
                </a:cxn>
                <a:cxn ang="0">
                  <a:pos x="15" y="16"/>
                </a:cxn>
                <a:cxn ang="0">
                  <a:pos x="10" y="3"/>
                </a:cxn>
                <a:cxn ang="0">
                  <a:pos x="16" y="0"/>
                </a:cxn>
                <a:cxn ang="0">
                  <a:pos x="31" y="2"/>
                </a:cxn>
              </a:cxnLst>
              <a:rect l="0" t="0" r="r" b="b"/>
              <a:pathLst>
                <a:path w="46" h="40">
                  <a:moveTo>
                    <a:pt x="31" y="2"/>
                  </a:moveTo>
                  <a:lnTo>
                    <a:pt x="38" y="21"/>
                  </a:lnTo>
                  <a:lnTo>
                    <a:pt x="46" y="40"/>
                  </a:lnTo>
                  <a:lnTo>
                    <a:pt x="42" y="39"/>
                  </a:lnTo>
                  <a:lnTo>
                    <a:pt x="34" y="40"/>
                  </a:lnTo>
                  <a:lnTo>
                    <a:pt x="19" y="38"/>
                  </a:lnTo>
                  <a:lnTo>
                    <a:pt x="13" y="38"/>
                  </a:lnTo>
                  <a:lnTo>
                    <a:pt x="0" y="36"/>
                  </a:lnTo>
                  <a:lnTo>
                    <a:pt x="3" y="34"/>
                  </a:lnTo>
                  <a:lnTo>
                    <a:pt x="12" y="32"/>
                  </a:lnTo>
                  <a:lnTo>
                    <a:pt x="16" y="34"/>
                  </a:lnTo>
                  <a:lnTo>
                    <a:pt x="20" y="34"/>
                  </a:lnTo>
                  <a:lnTo>
                    <a:pt x="13" y="30"/>
                  </a:lnTo>
                  <a:lnTo>
                    <a:pt x="22" y="32"/>
                  </a:lnTo>
                  <a:lnTo>
                    <a:pt x="27" y="33"/>
                  </a:lnTo>
                  <a:lnTo>
                    <a:pt x="34" y="34"/>
                  </a:lnTo>
                  <a:lnTo>
                    <a:pt x="37" y="35"/>
                  </a:lnTo>
                  <a:lnTo>
                    <a:pt x="19" y="24"/>
                  </a:lnTo>
                  <a:lnTo>
                    <a:pt x="26" y="16"/>
                  </a:lnTo>
                  <a:lnTo>
                    <a:pt x="15" y="16"/>
                  </a:lnTo>
                  <a:lnTo>
                    <a:pt x="10" y="3"/>
                  </a:lnTo>
                  <a:lnTo>
                    <a:pt x="16" y="0"/>
                  </a:lnTo>
                  <a:lnTo>
                    <a:pt x="3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9" name="Freeform 248"/>
            <p:cNvSpPr>
              <a:spLocks/>
            </p:cNvSpPr>
            <p:nvPr/>
          </p:nvSpPr>
          <p:spPr bwMode="auto">
            <a:xfrm>
              <a:off x="1340" y="3538"/>
              <a:ext cx="16" cy="32"/>
            </a:xfrm>
            <a:custGeom>
              <a:avLst/>
              <a:gdLst/>
              <a:ahLst/>
              <a:cxnLst>
                <a:cxn ang="0">
                  <a:pos x="5" y="0"/>
                </a:cxn>
                <a:cxn ang="0">
                  <a:pos x="0" y="4"/>
                </a:cxn>
                <a:cxn ang="0">
                  <a:pos x="6" y="28"/>
                </a:cxn>
                <a:cxn ang="0">
                  <a:pos x="12" y="25"/>
                </a:cxn>
                <a:cxn ang="0">
                  <a:pos x="14" y="20"/>
                </a:cxn>
                <a:cxn ang="0">
                  <a:pos x="10" y="10"/>
                </a:cxn>
                <a:cxn ang="0">
                  <a:pos x="12" y="8"/>
                </a:cxn>
                <a:cxn ang="0">
                  <a:pos x="5" y="0"/>
                </a:cxn>
              </a:cxnLst>
              <a:rect l="0" t="0" r="r" b="b"/>
              <a:pathLst>
                <a:path w="14" h="28">
                  <a:moveTo>
                    <a:pt x="5" y="0"/>
                  </a:moveTo>
                  <a:lnTo>
                    <a:pt x="0" y="4"/>
                  </a:lnTo>
                  <a:lnTo>
                    <a:pt x="6" y="28"/>
                  </a:lnTo>
                  <a:lnTo>
                    <a:pt x="12" y="25"/>
                  </a:lnTo>
                  <a:lnTo>
                    <a:pt x="14" y="20"/>
                  </a:lnTo>
                  <a:lnTo>
                    <a:pt x="10" y="10"/>
                  </a:lnTo>
                  <a:lnTo>
                    <a:pt x="12" y="8"/>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0" name="Freeform 249"/>
            <p:cNvSpPr>
              <a:spLocks/>
            </p:cNvSpPr>
            <p:nvPr/>
          </p:nvSpPr>
          <p:spPr bwMode="auto">
            <a:xfrm>
              <a:off x="1374" y="3676"/>
              <a:ext cx="15" cy="25"/>
            </a:xfrm>
            <a:custGeom>
              <a:avLst/>
              <a:gdLst/>
              <a:ahLst/>
              <a:cxnLst>
                <a:cxn ang="0">
                  <a:pos x="7" y="0"/>
                </a:cxn>
                <a:cxn ang="0">
                  <a:pos x="0" y="8"/>
                </a:cxn>
                <a:cxn ang="0">
                  <a:pos x="9" y="18"/>
                </a:cxn>
                <a:cxn ang="0">
                  <a:pos x="13" y="21"/>
                </a:cxn>
                <a:cxn ang="0">
                  <a:pos x="15" y="14"/>
                </a:cxn>
                <a:cxn ang="0">
                  <a:pos x="7" y="0"/>
                </a:cxn>
              </a:cxnLst>
              <a:rect l="0" t="0" r="r" b="b"/>
              <a:pathLst>
                <a:path w="15" h="21">
                  <a:moveTo>
                    <a:pt x="7" y="0"/>
                  </a:moveTo>
                  <a:lnTo>
                    <a:pt x="0" y="8"/>
                  </a:lnTo>
                  <a:lnTo>
                    <a:pt x="9" y="18"/>
                  </a:lnTo>
                  <a:lnTo>
                    <a:pt x="13" y="21"/>
                  </a:lnTo>
                  <a:lnTo>
                    <a:pt x="15" y="14"/>
                  </a:lnTo>
                  <a:lnTo>
                    <a:pt x="7"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1" name="Freeform 250"/>
            <p:cNvSpPr>
              <a:spLocks/>
            </p:cNvSpPr>
            <p:nvPr/>
          </p:nvSpPr>
          <p:spPr bwMode="auto">
            <a:xfrm>
              <a:off x="1107" y="2676"/>
              <a:ext cx="100" cy="129"/>
            </a:xfrm>
            <a:custGeom>
              <a:avLst/>
              <a:gdLst/>
              <a:ahLst/>
              <a:cxnLst>
                <a:cxn ang="0">
                  <a:pos x="0" y="45"/>
                </a:cxn>
                <a:cxn ang="0">
                  <a:pos x="3" y="63"/>
                </a:cxn>
                <a:cxn ang="0">
                  <a:pos x="0" y="67"/>
                </a:cxn>
                <a:cxn ang="0">
                  <a:pos x="11" y="72"/>
                </a:cxn>
                <a:cxn ang="0">
                  <a:pos x="15" y="67"/>
                </a:cxn>
                <a:cxn ang="0">
                  <a:pos x="16" y="71"/>
                </a:cxn>
                <a:cxn ang="0">
                  <a:pos x="16" y="83"/>
                </a:cxn>
                <a:cxn ang="0">
                  <a:pos x="10" y="85"/>
                </a:cxn>
                <a:cxn ang="0">
                  <a:pos x="11" y="96"/>
                </a:cxn>
                <a:cxn ang="0">
                  <a:pos x="7" y="104"/>
                </a:cxn>
                <a:cxn ang="0">
                  <a:pos x="13" y="102"/>
                </a:cxn>
                <a:cxn ang="0">
                  <a:pos x="30" y="115"/>
                </a:cxn>
                <a:cxn ang="0">
                  <a:pos x="35" y="108"/>
                </a:cxn>
                <a:cxn ang="0">
                  <a:pos x="37" y="101"/>
                </a:cxn>
                <a:cxn ang="0">
                  <a:pos x="41" y="95"/>
                </a:cxn>
                <a:cxn ang="0">
                  <a:pos x="43" y="84"/>
                </a:cxn>
                <a:cxn ang="0">
                  <a:pos x="45" y="84"/>
                </a:cxn>
                <a:cxn ang="0">
                  <a:pos x="46" y="86"/>
                </a:cxn>
                <a:cxn ang="0">
                  <a:pos x="48" y="86"/>
                </a:cxn>
                <a:cxn ang="0">
                  <a:pos x="47" y="83"/>
                </a:cxn>
                <a:cxn ang="0">
                  <a:pos x="51" y="79"/>
                </a:cxn>
                <a:cxn ang="0">
                  <a:pos x="60" y="74"/>
                </a:cxn>
                <a:cxn ang="0">
                  <a:pos x="77" y="63"/>
                </a:cxn>
                <a:cxn ang="0">
                  <a:pos x="87" y="42"/>
                </a:cxn>
                <a:cxn ang="0">
                  <a:pos x="90" y="43"/>
                </a:cxn>
                <a:cxn ang="0">
                  <a:pos x="84" y="29"/>
                </a:cxn>
                <a:cxn ang="0">
                  <a:pos x="89" y="27"/>
                </a:cxn>
                <a:cxn ang="0">
                  <a:pos x="71" y="18"/>
                </a:cxn>
                <a:cxn ang="0">
                  <a:pos x="55" y="18"/>
                </a:cxn>
                <a:cxn ang="0">
                  <a:pos x="46" y="9"/>
                </a:cxn>
                <a:cxn ang="0">
                  <a:pos x="33" y="0"/>
                </a:cxn>
                <a:cxn ang="0">
                  <a:pos x="27" y="6"/>
                </a:cxn>
                <a:cxn ang="0">
                  <a:pos x="12" y="13"/>
                </a:cxn>
                <a:cxn ang="0">
                  <a:pos x="9" y="27"/>
                </a:cxn>
                <a:cxn ang="0">
                  <a:pos x="7" y="36"/>
                </a:cxn>
                <a:cxn ang="0">
                  <a:pos x="0" y="45"/>
                </a:cxn>
              </a:cxnLst>
              <a:rect l="0" t="0" r="r" b="b"/>
              <a:pathLst>
                <a:path w="90" h="115">
                  <a:moveTo>
                    <a:pt x="0" y="45"/>
                  </a:moveTo>
                  <a:lnTo>
                    <a:pt x="3" y="63"/>
                  </a:lnTo>
                  <a:lnTo>
                    <a:pt x="0" y="67"/>
                  </a:lnTo>
                  <a:lnTo>
                    <a:pt x="11" y="72"/>
                  </a:lnTo>
                  <a:lnTo>
                    <a:pt x="15" y="67"/>
                  </a:lnTo>
                  <a:lnTo>
                    <a:pt x="16" y="71"/>
                  </a:lnTo>
                  <a:lnTo>
                    <a:pt x="16" y="83"/>
                  </a:lnTo>
                  <a:lnTo>
                    <a:pt x="10" y="85"/>
                  </a:lnTo>
                  <a:lnTo>
                    <a:pt x="11" y="96"/>
                  </a:lnTo>
                  <a:lnTo>
                    <a:pt x="7" y="104"/>
                  </a:lnTo>
                  <a:lnTo>
                    <a:pt x="13" y="102"/>
                  </a:lnTo>
                  <a:lnTo>
                    <a:pt x="30" y="115"/>
                  </a:lnTo>
                  <a:lnTo>
                    <a:pt x="35" y="108"/>
                  </a:lnTo>
                  <a:lnTo>
                    <a:pt x="37" y="101"/>
                  </a:lnTo>
                  <a:lnTo>
                    <a:pt x="41" y="95"/>
                  </a:lnTo>
                  <a:lnTo>
                    <a:pt x="43" y="84"/>
                  </a:lnTo>
                  <a:lnTo>
                    <a:pt x="45" y="84"/>
                  </a:lnTo>
                  <a:lnTo>
                    <a:pt x="46" y="86"/>
                  </a:lnTo>
                  <a:lnTo>
                    <a:pt x="48" y="86"/>
                  </a:lnTo>
                  <a:lnTo>
                    <a:pt x="47" y="83"/>
                  </a:lnTo>
                  <a:lnTo>
                    <a:pt x="51" y="79"/>
                  </a:lnTo>
                  <a:lnTo>
                    <a:pt x="60" y="74"/>
                  </a:lnTo>
                  <a:lnTo>
                    <a:pt x="77" y="63"/>
                  </a:lnTo>
                  <a:lnTo>
                    <a:pt x="87" y="42"/>
                  </a:lnTo>
                  <a:lnTo>
                    <a:pt x="90" y="43"/>
                  </a:lnTo>
                  <a:lnTo>
                    <a:pt x="84" y="29"/>
                  </a:lnTo>
                  <a:lnTo>
                    <a:pt x="89" y="27"/>
                  </a:lnTo>
                  <a:lnTo>
                    <a:pt x="71" y="18"/>
                  </a:lnTo>
                  <a:lnTo>
                    <a:pt x="55" y="18"/>
                  </a:lnTo>
                  <a:lnTo>
                    <a:pt x="46" y="9"/>
                  </a:lnTo>
                  <a:lnTo>
                    <a:pt x="33" y="0"/>
                  </a:lnTo>
                  <a:lnTo>
                    <a:pt x="27" y="6"/>
                  </a:lnTo>
                  <a:lnTo>
                    <a:pt x="12" y="13"/>
                  </a:lnTo>
                  <a:lnTo>
                    <a:pt x="9" y="27"/>
                  </a:lnTo>
                  <a:lnTo>
                    <a:pt x="7" y="36"/>
                  </a:lnTo>
                  <a:lnTo>
                    <a:pt x="0" y="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2" name="Freeform 251"/>
            <p:cNvSpPr>
              <a:spLocks/>
            </p:cNvSpPr>
            <p:nvPr/>
          </p:nvSpPr>
          <p:spPr bwMode="auto">
            <a:xfrm>
              <a:off x="1120" y="2761"/>
              <a:ext cx="3" cy="2"/>
            </a:xfrm>
            <a:custGeom>
              <a:avLst/>
              <a:gdLst/>
              <a:ahLst/>
              <a:cxnLst>
                <a:cxn ang="0">
                  <a:pos x="4" y="0"/>
                </a:cxn>
                <a:cxn ang="0">
                  <a:pos x="1" y="3"/>
                </a:cxn>
                <a:cxn ang="0">
                  <a:pos x="0" y="0"/>
                </a:cxn>
                <a:cxn ang="0">
                  <a:pos x="4" y="0"/>
                </a:cxn>
              </a:cxnLst>
              <a:rect l="0" t="0" r="r" b="b"/>
              <a:pathLst>
                <a:path w="4" h="3">
                  <a:moveTo>
                    <a:pt x="4" y="0"/>
                  </a:moveTo>
                  <a:lnTo>
                    <a:pt x="1" y="3"/>
                  </a:lnTo>
                  <a:lnTo>
                    <a:pt x="0" y="0"/>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3" name="Freeform 252"/>
            <p:cNvSpPr>
              <a:spLocks/>
            </p:cNvSpPr>
            <p:nvPr/>
          </p:nvSpPr>
          <p:spPr bwMode="auto">
            <a:xfrm>
              <a:off x="1100" y="2707"/>
              <a:ext cx="231" cy="365"/>
            </a:xfrm>
            <a:custGeom>
              <a:avLst/>
              <a:gdLst/>
              <a:ahLst/>
              <a:cxnLst>
                <a:cxn ang="0">
                  <a:pos x="201" y="259"/>
                </a:cxn>
                <a:cxn ang="0">
                  <a:pos x="203" y="289"/>
                </a:cxn>
                <a:cxn ang="0">
                  <a:pos x="201" y="306"/>
                </a:cxn>
                <a:cxn ang="0">
                  <a:pos x="197" y="321"/>
                </a:cxn>
                <a:cxn ang="0">
                  <a:pos x="188" y="329"/>
                </a:cxn>
                <a:cxn ang="0">
                  <a:pos x="171" y="311"/>
                </a:cxn>
                <a:cxn ang="0">
                  <a:pos x="143" y="295"/>
                </a:cxn>
                <a:cxn ang="0">
                  <a:pos x="117" y="280"/>
                </a:cxn>
                <a:cxn ang="0">
                  <a:pos x="89" y="253"/>
                </a:cxn>
                <a:cxn ang="0">
                  <a:pos x="78" y="225"/>
                </a:cxn>
                <a:cxn ang="0">
                  <a:pos x="60" y="192"/>
                </a:cxn>
                <a:cxn ang="0">
                  <a:pos x="47" y="167"/>
                </a:cxn>
                <a:cxn ang="0">
                  <a:pos x="34" y="141"/>
                </a:cxn>
                <a:cxn ang="0">
                  <a:pos x="16" y="118"/>
                </a:cxn>
                <a:cxn ang="0">
                  <a:pos x="5" y="105"/>
                </a:cxn>
                <a:cxn ang="0">
                  <a:pos x="8" y="70"/>
                </a:cxn>
                <a:cxn ang="0">
                  <a:pos x="16" y="70"/>
                </a:cxn>
                <a:cxn ang="0">
                  <a:pos x="18" y="76"/>
                </a:cxn>
                <a:cxn ang="0">
                  <a:pos x="40" y="82"/>
                </a:cxn>
                <a:cxn ang="0">
                  <a:pos x="46" y="69"/>
                </a:cxn>
                <a:cxn ang="0">
                  <a:pos x="50" y="58"/>
                </a:cxn>
                <a:cxn ang="0">
                  <a:pos x="53" y="60"/>
                </a:cxn>
                <a:cxn ang="0">
                  <a:pos x="56" y="53"/>
                </a:cxn>
                <a:cxn ang="0">
                  <a:pos x="82" y="37"/>
                </a:cxn>
                <a:cxn ang="0">
                  <a:pos x="95" y="17"/>
                </a:cxn>
                <a:cxn ang="0">
                  <a:pos x="94" y="1"/>
                </a:cxn>
                <a:cxn ang="0">
                  <a:pos x="104" y="9"/>
                </a:cxn>
                <a:cxn ang="0">
                  <a:pos x="125" y="31"/>
                </a:cxn>
                <a:cxn ang="0">
                  <a:pos x="148" y="40"/>
                </a:cxn>
                <a:cxn ang="0">
                  <a:pos x="176" y="46"/>
                </a:cxn>
                <a:cxn ang="0">
                  <a:pos x="179" y="75"/>
                </a:cxn>
                <a:cxn ang="0">
                  <a:pos x="161" y="78"/>
                </a:cxn>
                <a:cxn ang="0">
                  <a:pos x="136" y="90"/>
                </a:cxn>
                <a:cxn ang="0">
                  <a:pos x="128" y="118"/>
                </a:cxn>
                <a:cxn ang="0">
                  <a:pos x="126" y="145"/>
                </a:cxn>
                <a:cxn ang="0">
                  <a:pos x="132" y="167"/>
                </a:cxn>
                <a:cxn ang="0">
                  <a:pos x="148" y="175"/>
                </a:cxn>
                <a:cxn ang="0">
                  <a:pos x="172" y="169"/>
                </a:cxn>
                <a:cxn ang="0">
                  <a:pos x="174" y="197"/>
                </a:cxn>
                <a:cxn ang="0">
                  <a:pos x="198" y="209"/>
                </a:cxn>
                <a:cxn ang="0">
                  <a:pos x="204" y="228"/>
                </a:cxn>
              </a:cxnLst>
              <a:rect l="0" t="0" r="r" b="b"/>
              <a:pathLst>
                <a:path w="208" h="329">
                  <a:moveTo>
                    <a:pt x="204" y="250"/>
                  </a:moveTo>
                  <a:lnTo>
                    <a:pt x="201" y="259"/>
                  </a:lnTo>
                  <a:lnTo>
                    <a:pt x="201" y="274"/>
                  </a:lnTo>
                  <a:lnTo>
                    <a:pt x="203" y="289"/>
                  </a:lnTo>
                  <a:lnTo>
                    <a:pt x="208" y="291"/>
                  </a:lnTo>
                  <a:lnTo>
                    <a:pt x="201" y="306"/>
                  </a:lnTo>
                  <a:lnTo>
                    <a:pt x="201" y="313"/>
                  </a:lnTo>
                  <a:lnTo>
                    <a:pt x="197" y="321"/>
                  </a:lnTo>
                  <a:lnTo>
                    <a:pt x="191" y="328"/>
                  </a:lnTo>
                  <a:lnTo>
                    <a:pt x="188" y="329"/>
                  </a:lnTo>
                  <a:lnTo>
                    <a:pt x="178" y="321"/>
                  </a:lnTo>
                  <a:lnTo>
                    <a:pt x="171" y="311"/>
                  </a:lnTo>
                  <a:lnTo>
                    <a:pt x="158" y="304"/>
                  </a:lnTo>
                  <a:lnTo>
                    <a:pt x="143" y="295"/>
                  </a:lnTo>
                  <a:lnTo>
                    <a:pt x="130" y="288"/>
                  </a:lnTo>
                  <a:lnTo>
                    <a:pt x="117" y="280"/>
                  </a:lnTo>
                  <a:lnTo>
                    <a:pt x="102" y="267"/>
                  </a:lnTo>
                  <a:lnTo>
                    <a:pt x="89" y="253"/>
                  </a:lnTo>
                  <a:lnTo>
                    <a:pt x="89" y="244"/>
                  </a:lnTo>
                  <a:lnTo>
                    <a:pt x="78" y="225"/>
                  </a:lnTo>
                  <a:lnTo>
                    <a:pt x="69" y="204"/>
                  </a:lnTo>
                  <a:lnTo>
                    <a:pt x="60" y="192"/>
                  </a:lnTo>
                  <a:lnTo>
                    <a:pt x="53" y="180"/>
                  </a:lnTo>
                  <a:lnTo>
                    <a:pt x="47" y="167"/>
                  </a:lnTo>
                  <a:lnTo>
                    <a:pt x="40" y="154"/>
                  </a:lnTo>
                  <a:lnTo>
                    <a:pt x="34" y="141"/>
                  </a:lnTo>
                  <a:lnTo>
                    <a:pt x="27" y="127"/>
                  </a:lnTo>
                  <a:lnTo>
                    <a:pt x="16" y="118"/>
                  </a:lnTo>
                  <a:lnTo>
                    <a:pt x="4" y="109"/>
                  </a:lnTo>
                  <a:lnTo>
                    <a:pt x="5" y="105"/>
                  </a:lnTo>
                  <a:lnTo>
                    <a:pt x="0" y="81"/>
                  </a:lnTo>
                  <a:lnTo>
                    <a:pt x="8" y="70"/>
                  </a:lnTo>
                  <a:lnTo>
                    <a:pt x="15" y="59"/>
                  </a:lnTo>
                  <a:lnTo>
                    <a:pt x="16" y="70"/>
                  </a:lnTo>
                  <a:lnTo>
                    <a:pt x="12" y="78"/>
                  </a:lnTo>
                  <a:lnTo>
                    <a:pt x="18" y="76"/>
                  </a:lnTo>
                  <a:lnTo>
                    <a:pt x="35" y="89"/>
                  </a:lnTo>
                  <a:lnTo>
                    <a:pt x="40" y="82"/>
                  </a:lnTo>
                  <a:lnTo>
                    <a:pt x="42" y="75"/>
                  </a:lnTo>
                  <a:lnTo>
                    <a:pt x="46" y="69"/>
                  </a:lnTo>
                  <a:lnTo>
                    <a:pt x="48" y="58"/>
                  </a:lnTo>
                  <a:lnTo>
                    <a:pt x="50" y="58"/>
                  </a:lnTo>
                  <a:lnTo>
                    <a:pt x="51" y="60"/>
                  </a:lnTo>
                  <a:lnTo>
                    <a:pt x="53" y="60"/>
                  </a:lnTo>
                  <a:lnTo>
                    <a:pt x="52" y="57"/>
                  </a:lnTo>
                  <a:lnTo>
                    <a:pt x="56" y="53"/>
                  </a:lnTo>
                  <a:lnTo>
                    <a:pt x="65" y="48"/>
                  </a:lnTo>
                  <a:lnTo>
                    <a:pt x="82" y="37"/>
                  </a:lnTo>
                  <a:lnTo>
                    <a:pt x="92" y="16"/>
                  </a:lnTo>
                  <a:lnTo>
                    <a:pt x="95" y="17"/>
                  </a:lnTo>
                  <a:lnTo>
                    <a:pt x="89" y="3"/>
                  </a:lnTo>
                  <a:lnTo>
                    <a:pt x="94" y="1"/>
                  </a:lnTo>
                  <a:lnTo>
                    <a:pt x="95" y="0"/>
                  </a:lnTo>
                  <a:lnTo>
                    <a:pt x="104" y="9"/>
                  </a:lnTo>
                  <a:lnTo>
                    <a:pt x="113" y="17"/>
                  </a:lnTo>
                  <a:lnTo>
                    <a:pt x="125" y="31"/>
                  </a:lnTo>
                  <a:lnTo>
                    <a:pt x="128" y="40"/>
                  </a:lnTo>
                  <a:lnTo>
                    <a:pt x="148" y="40"/>
                  </a:lnTo>
                  <a:lnTo>
                    <a:pt x="160" y="41"/>
                  </a:lnTo>
                  <a:lnTo>
                    <a:pt x="176" y="46"/>
                  </a:lnTo>
                  <a:lnTo>
                    <a:pt x="170" y="67"/>
                  </a:lnTo>
                  <a:lnTo>
                    <a:pt x="179" y="75"/>
                  </a:lnTo>
                  <a:lnTo>
                    <a:pt x="174" y="75"/>
                  </a:lnTo>
                  <a:lnTo>
                    <a:pt x="161" y="78"/>
                  </a:lnTo>
                  <a:lnTo>
                    <a:pt x="148" y="84"/>
                  </a:lnTo>
                  <a:lnTo>
                    <a:pt x="136" y="90"/>
                  </a:lnTo>
                  <a:lnTo>
                    <a:pt x="131" y="103"/>
                  </a:lnTo>
                  <a:lnTo>
                    <a:pt x="128" y="118"/>
                  </a:lnTo>
                  <a:lnTo>
                    <a:pt x="119" y="132"/>
                  </a:lnTo>
                  <a:lnTo>
                    <a:pt x="126" y="145"/>
                  </a:lnTo>
                  <a:lnTo>
                    <a:pt x="134" y="159"/>
                  </a:lnTo>
                  <a:lnTo>
                    <a:pt x="132" y="167"/>
                  </a:lnTo>
                  <a:lnTo>
                    <a:pt x="140" y="168"/>
                  </a:lnTo>
                  <a:lnTo>
                    <a:pt x="148" y="175"/>
                  </a:lnTo>
                  <a:lnTo>
                    <a:pt x="161" y="179"/>
                  </a:lnTo>
                  <a:lnTo>
                    <a:pt x="172" y="169"/>
                  </a:lnTo>
                  <a:lnTo>
                    <a:pt x="173" y="184"/>
                  </a:lnTo>
                  <a:lnTo>
                    <a:pt x="174" y="197"/>
                  </a:lnTo>
                  <a:lnTo>
                    <a:pt x="191" y="196"/>
                  </a:lnTo>
                  <a:lnTo>
                    <a:pt x="198" y="209"/>
                  </a:lnTo>
                  <a:lnTo>
                    <a:pt x="207" y="223"/>
                  </a:lnTo>
                  <a:lnTo>
                    <a:pt x="204" y="228"/>
                  </a:lnTo>
                  <a:lnTo>
                    <a:pt x="204" y="25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4" name="Freeform 253"/>
            <p:cNvSpPr>
              <a:spLocks/>
            </p:cNvSpPr>
            <p:nvPr/>
          </p:nvSpPr>
          <p:spPr bwMode="auto">
            <a:xfrm>
              <a:off x="3731" y="1648"/>
              <a:ext cx="898" cy="653"/>
            </a:xfrm>
            <a:custGeom>
              <a:avLst/>
              <a:gdLst/>
              <a:ahLst/>
              <a:cxnLst>
                <a:cxn ang="0">
                  <a:pos x="324" y="454"/>
                </a:cxn>
                <a:cxn ang="0">
                  <a:pos x="270" y="453"/>
                </a:cxn>
                <a:cxn ang="0">
                  <a:pos x="205" y="432"/>
                </a:cxn>
                <a:cxn ang="0">
                  <a:pos x="155" y="412"/>
                </a:cxn>
                <a:cxn ang="0">
                  <a:pos x="106" y="369"/>
                </a:cxn>
                <a:cxn ang="0">
                  <a:pos x="107" y="337"/>
                </a:cxn>
                <a:cxn ang="0">
                  <a:pos x="94" y="321"/>
                </a:cxn>
                <a:cxn ang="0">
                  <a:pos x="43" y="293"/>
                </a:cxn>
                <a:cxn ang="0">
                  <a:pos x="31" y="283"/>
                </a:cxn>
                <a:cxn ang="0">
                  <a:pos x="17" y="227"/>
                </a:cxn>
                <a:cxn ang="0">
                  <a:pos x="68" y="204"/>
                </a:cxn>
                <a:cxn ang="0">
                  <a:pos x="72" y="166"/>
                </a:cxn>
                <a:cxn ang="0">
                  <a:pos x="88" y="137"/>
                </a:cxn>
                <a:cxn ang="0">
                  <a:pos x="113" y="91"/>
                </a:cxn>
                <a:cxn ang="0">
                  <a:pos x="144" y="82"/>
                </a:cxn>
                <a:cxn ang="0">
                  <a:pos x="208" y="141"/>
                </a:cxn>
                <a:cxn ang="0">
                  <a:pos x="295" y="173"/>
                </a:cxn>
                <a:cxn ang="0">
                  <a:pos x="389" y="191"/>
                </a:cxn>
                <a:cxn ang="0">
                  <a:pos x="452" y="201"/>
                </a:cxn>
                <a:cxn ang="0">
                  <a:pos x="523" y="169"/>
                </a:cxn>
                <a:cxn ang="0">
                  <a:pos x="560" y="138"/>
                </a:cxn>
                <a:cxn ang="0">
                  <a:pos x="569" y="93"/>
                </a:cxn>
                <a:cxn ang="0">
                  <a:pos x="533" y="89"/>
                </a:cxn>
                <a:cxn ang="0">
                  <a:pos x="556" y="41"/>
                </a:cxn>
                <a:cxn ang="0">
                  <a:pos x="566" y="0"/>
                </a:cxn>
                <a:cxn ang="0">
                  <a:pos x="662" y="48"/>
                </a:cxn>
                <a:cxn ang="0">
                  <a:pos x="751" y="99"/>
                </a:cxn>
                <a:cxn ang="0">
                  <a:pos x="809" y="145"/>
                </a:cxn>
                <a:cxn ang="0">
                  <a:pos x="800" y="187"/>
                </a:cxn>
                <a:cxn ang="0">
                  <a:pos x="773" y="201"/>
                </a:cxn>
                <a:cxn ang="0">
                  <a:pos x="738" y="233"/>
                </a:cxn>
                <a:cxn ang="0">
                  <a:pos x="707" y="246"/>
                </a:cxn>
                <a:cxn ang="0">
                  <a:pos x="676" y="233"/>
                </a:cxn>
                <a:cxn ang="0">
                  <a:pos x="676" y="270"/>
                </a:cxn>
                <a:cxn ang="0">
                  <a:pos x="734" y="283"/>
                </a:cxn>
                <a:cxn ang="0">
                  <a:pos x="708" y="311"/>
                </a:cxn>
                <a:cxn ang="0">
                  <a:pos x="764" y="384"/>
                </a:cxn>
                <a:cxn ang="0">
                  <a:pos x="756" y="407"/>
                </a:cxn>
                <a:cxn ang="0">
                  <a:pos x="774" y="424"/>
                </a:cxn>
                <a:cxn ang="0">
                  <a:pos x="778" y="437"/>
                </a:cxn>
                <a:cxn ang="0">
                  <a:pos x="770" y="455"/>
                </a:cxn>
                <a:cxn ang="0">
                  <a:pos x="756" y="485"/>
                </a:cxn>
                <a:cxn ang="0">
                  <a:pos x="758" y="499"/>
                </a:cxn>
                <a:cxn ang="0">
                  <a:pos x="743" y="515"/>
                </a:cxn>
                <a:cxn ang="0">
                  <a:pos x="721" y="540"/>
                </a:cxn>
                <a:cxn ang="0">
                  <a:pos x="700" y="545"/>
                </a:cxn>
                <a:cxn ang="0">
                  <a:pos x="677" y="543"/>
                </a:cxn>
                <a:cxn ang="0">
                  <a:pos x="668" y="562"/>
                </a:cxn>
                <a:cxn ang="0">
                  <a:pos x="640" y="569"/>
                </a:cxn>
                <a:cxn ang="0">
                  <a:pos x="628" y="569"/>
                </a:cxn>
                <a:cxn ang="0">
                  <a:pos x="604" y="563"/>
                </a:cxn>
                <a:cxn ang="0">
                  <a:pos x="554" y="537"/>
                </a:cxn>
                <a:cxn ang="0">
                  <a:pos x="527" y="546"/>
                </a:cxn>
                <a:cxn ang="0">
                  <a:pos x="497" y="551"/>
                </a:cxn>
                <a:cxn ang="0">
                  <a:pos x="476" y="567"/>
                </a:cxn>
                <a:cxn ang="0">
                  <a:pos x="448" y="522"/>
                </a:cxn>
                <a:cxn ang="0">
                  <a:pos x="436" y="495"/>
                </a:cxn>
                <a:cxn ang="0">
                  <a:pos x="412" y="441"/>
                </a:cxn>
                <a:cxn ang="0">
                  <a:pos x="389" y="427"/>
                </a:cxn>
              </a:cxnLst>
              <a:rect l="0" t="0" r="r" b="b"/>
              <a:pathLst>
                <a:path w="809" h="588">
                  <a:moveTo>
                    <a:pt x="361" y="429"/>
                  </a:moveTo>
                  <a:lnTo>
                    <a:pt x="350" y="438"/>
                  </a:lnTo>
                  <a:lnTo>
                    <a:pt x="338" y="449"/>
                  </a:lnTo>
                  <a:lnTo>
                    <a:pt x="325" y="454"/>
                  </a:lnTo>
                  <a:lnTo>
                    <a:pt x="324" y="454"/>
                  </a:lnTo>
                  <a:lnTo>
                    <a:pt x="317" y="449"/>
                  </a:lnTo>
                  <a:lnTo>
                    <a:pt x="295" y="447"/>
                  </a:lnTo>
                  <a:lnTo>
                    <a:pt x="284" y="462"/>
                  </a:lnTo>
                  <a:lnTo>
                    <a:pt x="277" y="448"/>
                  </a:lnTo>
                  <a:lnTo>
                    <a:pt x="270" y="453"/>
                  </a:lnTo>
                  <a:lnTo>
                    <a:pt x="252" y="450"/>
                  </a:lnTo>
                  <a:lnTo>
                    <a:pt x="238" y="449"/>
                  </a:lnTo>
                  <a:lnTo>
                    <a:pt x="222" y="442"/>
                  </a:lnTo>
                  <a:lnTo>
                    <a:pt x="220" y="438"/>
                  </a:lnTo>
                  <a:lnTo>
                    <a:pt x="205" y="432"/>
                  </a:lnTo>
                  <a:lnTo>
                    <a:pt x="200" y="426"/>
                  </a:lnTo>
                  <a:lnTo>
                    <a:pt x="194" y="429"/>
                  </a:lnTo>
                  <a:lnTo>
                    <a:pt x="174" y="414"/>
                  </a:lnTo>
                  <a:lnTo>
                    <a:pt x="161" y="406"/>
                  </a:lnTo>
                  <a:lnTo>
                    <a:pt x="155" y="412"/>
                  </a:lnTo>
                  <a:lnTo>
                    <a:pt x="154" y="411"/>
                  </a:lnTo>
                  <a:lnTo>
                    <a:pt x="139" y="401"/>
                  </a:lnTo>
                  <a:lnTo>
                    <a:pt x="120" y="390"/>
                  </a:lnTo>
                  <a:lnTo>
                    <a:pt x="113" y="388"/>
                  </a:lnTo>
                  <a:lnTo>
                    <a:pt x="106" y="369"/>
                  </a:lnTo>
                  <a:lnTo>
                    <a:pt x="115" y="370"/>
                  </a:lnTo>
                  <a:lnTo>
                    <a:pt x="118" y="363"/>
                  </a:lnTo>
                  <a:lnTo>
                    <a:pt x="108" y="349"/>
                  </a:lnTo>
                  <a:lnTo>
                    <a:pt x="108" y="342"/>
                  </a:lnTo>
                  <a:lnTo>
                    <a:pt x="107" y="337"/>
                  </a:lnTo>
                  <a:lnTo>
                    <a:pt x="103" y="335"/>
                  </a:lnTo>
                  <a:lnTo>
                    <a:pt x="101" y="331"/>
                  </a:lnTo>
                  <a:lnTo>
                    <a:pt x="100" y="327"/>
                  </a:lnTo>
                  <a:lnTo>
                    <a:pt x="98" y="322"/>
                  </a:lnTo>
                  <a:lnTo>
                    <a:pt x="94" y="321"/>
                  </a:lnTo>
                  <a:lnTo>
                    <a:pt x="86" y="317"/>
                  </a:lnTo>
                  <a:lnTo>
                    <a:pt x="82" y="316"/>
                  </a:lnTo>
                  <a:lnTo>
                    <a:pt x="61" y="310"/>
                  </a:lnTo>
                  <a:lnTo>
                    <a:pt x="50" y="305"/>
                  </a:lnTo>
                  <a:lnTo>
                    <a:pt x="43" y="293"/>
                  </a:lnTo>
                  <a:lnTo>
                    <a:pt x="25" y="288"/>
                  </a:lnTo>
                  <a:lnTo>
                    <a:pt x="25" y="285"/>
                  </a:lnTo>
                  <a:lnTo>
                    <a:pt x="29" y="285"/>
                  </a:lnTo>
                  <a:lnTo>
                    <a:pt x="30" y="285"/>
                  </a:lnTo>
                  <a:lnTo>
                    <a:pt x="31" y="283"/>
                  </a:lnTo>
                  <a:lnTo>
                    <a:pt x="23" y="262"/>
                  </a:lnTo>
                  <a:lnTo>
                    <a:pt x="8" y="261"/>
                  </a:lnTo>
                  <a:lnTo>
                    <a:pt x="0" y="246"/>
                  </a:lnTo>
                  <a:lnTo>
                    <a:pt x="6" y="233"/>
                  </a:lnTo>
                  <a:lnTo>
                    <a:pt x="17" y="227"/>
                  </a:lnTo>
                  <a:lnTo>
                    <a:pt x="24" y="226"/>
                  </a:lnTo>
                  <a:lnTo>
                    <a:pt x="32" y="228"/>
                  </a:lnTo>
                  <a:lnTo>
                    <a:pt x="42" y="217"/>
                  </a:lnTo>
                  <a:lnTo>
                    <a:pt x="58" y="213"/>
                  </a:lnTo>
                  <a:lnTo>
                    <a:pt x="68" y="204"/>
                  </a:lnTo>
                  <a:lnTo>
                    <a:pt x="79" y="195"/>
                  </a:lnTo>
                  <a:lnTo>
                    <a:pt x="76" y="186"/>
                  </a:lnTo>
                  <a:lnTo>
                    <a:pt x="79" y="183"/>
                  </a:lnTo>
                  <a:lnTo>
                    <a:pt x="79" y="179"/>
                  </a:lnTo>
                  <a:lnTo>
                    <a:pt x="72" y="166"/>
                  </a:lnTo>
                  <a:lnTo>
                    <a:pt x="66" y="153"/>
                  </a:lnTo>
                  <a:lnTo>
                    <a:pt x="56" y="149"/>
                  </a:lnTo>
                  <a:lnTo>
                    <a:pt x="73" y="142"/>
                  </a:lnTo>
                  <a:lnTo>
                    <a:pt x="94" y="144"/>
                  </a:lnTo>
                  <a:lnTo>
                    <a:pt x="88" y="137"/>
                  </a:lnTo>
                  <a:lnTo>
                    <a:pt x="86" y="123"/>
                  </a:lnTo>
                  <a:lnTo>
                    <a:pt x="84" y="107"/>
                  </a:lnTo>
                  <a:lnTo>
                    <a:pt x="107" y="112"/>
                  </a:lnTo>
                  <a:lnTo>
                    <a:pt x="120" y="109"/>
                  </a:lnTo>
                  <a:lnTo>
                    <a:pt x="113" y="91"/>
                  </a:lnTo>
                  <a:lnTo>
                    <a:pt x="120" y="87"/>
                  </a:lnTo>
                  <a:lnTo>
                    <a:pt x="126" y="75"/>
                  </a:lnTo>
                  <a:lnTo>
                    <a:pt x="137" y="73"/>
                  </a:lnTo>
                  <a:lnTo>
                    <a:pt x="138" y="76"/>
                  </a:lnTo>
                  <a:lnTo>
                    <a:pt x="144" y="82"/>
                  </a:lnTo>
                  <a:lnTo>
                    <a:pt x="164" y="95"/>
                  </a:lnTo>
                  <a:lnTo>
                    <a:pt x="175" y="97"/>
                  </a:lnTo>
                  <a:lnTo>
                    <a:pt x="197" y="112"/>
                  </a:lnTo>
                  <a:lnTo>
                    <a:pt x="202" y="126"/>
                  </a:lnTo>
                  <a:lnTo>
                    <a:pt x="208" y="141"/>
                  </a:lnTo>
                  <a:lnTo>
                    <a:pt x="224" y="143"/>
                  </a:lnTo>
                  <a:lnTo>
                    <a:pt x="241" y="147"/>
                  </a:lnTo>
                  <a:lnTo>
                    <a:pt x="262" y="153"/>
                  </a:lnTo>
                  <a:lnTo>
                    <a:pt x="282" y="159"/>
                  </a:lnTo>
                  <a:lnTo>
                    <a:pt x="295" y="173"/>
                  </a:lnTo>
                  <a:lnTo>
                    <a:pt x="308" y="186"/>
                  </a:lnTo>
                  <a:lnTo>
                    <a:pt x="329" y="187"/>
                  </a:lnTo>
                  <a:lnTo>
                    <a:pt x="348" y="189"/>
                  </a:lnTo>
                  <a:lnTo>
                    <a:pt x="368" y="190"/>
                  </a:lnTo>
                  <a:lnTo>
                    <a:pt x="389" y="191"/>
                  </a:lnTo>
                  <a:lnTo>
                    <a:pt x="395" y="196"/>
                  </a:lnTo>
                  <a:lnTo>
                    <a:pt x="413" y="199"/>
                  </a:lnTo>
                  <a:lnTo>
                    <a:pt x="431" y="203"/>
                  </a:lnTo>
                  <a:lnTo>
                    <a:pt x="442" y="208"/>
                  </a:lnTo>
                  <a:lnTo>
                    <a:pt x="452" y="201"/>
                  </a:lnTo>
                  <a:lnTo>
                    <a:pt x="462" y="195"/>
                  </a:lnTo>
                  <a:lnTo>
                    <a:pt x="480" y="193"/>
                  </a:lnTo>
                  <a:lnTo>
                    <a:pt x="497" y="192"/>
                  </a:lnTo>
                  <a:lnTo>
                    <a:pt x="510" y="180"/>
                  </a:lnTo>
                  <a:lnTo>
                    <a:pt x="523" y="169"/>
                  </a:lnTo>
                  <a:lnTo>
                    <a:pt x="514" y="161"/>
                  </a:lnTo>
                  <a:lnTo>
                    <a:pt x="511" y="144"/>
                  </a:lnTo>
                  <a:lnTo>
                    <a:pt x="533" y="150"/>
                  </a:lnTo>
                  <a:lnTo>
                    <a:pt x="546" y="142"/>
                  </a:lnTo>
                  <a:lnTo>
                    <a:pt x="560" y="138"/>
                  </a:lnTo>
                  <a:lnTo>
                    <a:pt x="563" y="126"/>
                  </a:lnTo>
                  <a:lnTo>
                    <a:pt x="580" y="118"/>
                  </a:lnTo>
                  <a:lnTo>
                    <a:pt x="604" y="118"/>
                  </a:lnTo>
                  <a:lnTo>
                    <a:pt x="600" y="109"/>
                  </a:lnTo>
                  <a:lnTo>
                    <a:pt x="569" y="93"/>
                  </a:lnTo>
                  <a:lnTo>
                    <a:pt x="562" y="100"/>
                  </a:lnTo>
                  <a:lnTo>
                    <a:pt x="557" y="97"/>
                  </a:lnTo>
                  <a:lnTo>
                    <a:pt x="541" y="97"/>
                  </a:lnTo>
                  <a:lnTo>
                    <a:pt x="529" y="90"/>
                  </a:lnTo>
                  <a:lnTo>
                    <a:pt x="533" y="89"/>
                  </a:lnTo>
                  <a:lnTo>
                    <a:pt x="532" y="75"/>
                  </a:lnTo>
                  <a:lnTo>
                    <a:pt x="529" y="61"/>
                  </a:lnTo>
                  <a:lnTo>
                    <a:pt x="550" y="65"/>
                  </a:lnTo>
                  <a:lnTo>
                    <a:pt x="560" y="54"/>
                  </a:lnTo>
                  <a:lnTo>
                    <a:pt x="556" y="41"/>
                  </a:lnTo>
                  <a:lnTo>
                    <a:pt x="554" y="21"/>
                  </a:lnTo>
                  <a:lnTo>
                    <a:pt x="545" y="13"/>
                  </a:lnTo>
                  <a:lnTo>
                    <a:pt x="539" y="11"/>
                  </a:lnTo>
                  <a:lnTo>
                    <a:pt x="548" y="1"/>
                  </a:lnTo>
                  <a:lnTo>
                    <a:pt x="566" y="0"/>
                  </a:lnTo>
                  <a:lnTo>
                    <a:pt x="584" y="0"/>
                  </a:lnTo>
                  <a:lnTo>
                    <a:pt x="619" y="11"/>
                  </a:lnTo>
                  <a:lnTo>
                    <a:pt x="634" y="24"/>
                  </a:lnTo>
                  <a:lnTo>
                    <a:pt x="648" y="36"/>
                  </a:lnTo>
                  <a:lnTo>
                    <a:pt x="662" y="48"/>
                  </a:lnTo>
                  <a:lnTo>
                    <a:pt x="677" y="60"/>
                  </a:lnTo>
                  <a:lnTo>
                    <a:pt x="692" y="66"/>
                  </a:lnTo>
                  <a:lnTo>
                    <a:pt x="718" y="73"/>
                  </a:lnTo>
                  <a:lnTo>
                    <a:pt x="733" y="79"/>
                  </a:lnTo>
                  <a:lnTo>
                    <a:pt x="751" y="99"/>
                  </a:lnTo>
                  <a:lnTo>
                    <a:pt x="773" y="96"/>
                  </a:lnTo>
                  <a:lnTo>
                    <a:pt x="794" y="88"/>
                  </a:lnTo>
                  <a:lnTo>
                    <a:pt x="803" y="103"/>
                  </a:lnTo>
                  <a:lnTo>
                    <a:pt x="805" y="124"/>
                  </a:lnTo>
                  <a:lnTo>
                    <a:pt x="809" y="145"/>
                  </a:lnTo>
                  <a:lnTo>
                    <a:pt x="790" y="142"/>
                  </a:lnTo>
                  <a:lnTo>
                    <a:pt x="787" y="151"/>
                  </a:lnTo>
                  <a:lnTo>
                    <a:pt x="797" y="167"/>
                  </a:lnTo>
                  <a:lnTo>
                    <a:pt x="806" y="183"/>
                  </a:lnTo>
                  <a:lnTo>
                    <a:pt x="800" y="187"/>
                  </a:lnTo>
                  <a:lnTo>
                    <a:pt x="804" y="192"/>
                  </a:lnTo>
                  <a:lnTo>
                    <a:pt x="787" y="183"/>
                  </a:lnTo>
                  <a:lnTo>
                    <a:pt x="787" y="192"/>
                  </a:lnTo>
                  <a:lnTo>
                    <a:pt x="778" y="199"/>
                  </a:lnTo>
                  <a:lnTo>
                    <a:pt x="773" y="201"/>
                  </a:lnTo>
                  <a:lnTo>
                    <a:pt x="779" y="210"/>
                  </a:lnTo>
                  <a:lnTo>
                    <a:pt x="761" y="205"/>
                  </a:lnTo>
                  <a:lnTo>
                    <a:pt x="755" y="208"/>
                  </a:lnTo>
                  <a:lnTo>
                    <a:pt x="746" y="223"/>
                  </a:lnTo>
                  <a:lnTo>
                    <a:pt x="738" y="233"/>
                  </a:lnTo>
                  <a:lnTo>
                    <a:pt x="731" y="238"/>
                  </a:lnTo>
                  <a:lnTo>
                    <a:pt x="721" y="245"/>
                  </a:lnTo>
                  <a:lnTo>
                    <a:pt x="712" y="251"/>
                  </a:lnTo>
                  <a:lnTo>
                    <a:pt x="701" y="256"/>
                  </a:lnTo>
                  <a:lnTo>
                    <a:pt x="707" y="246"/>
                  </a:lnTo>
                  <a:lnTo>
                    <a:pt x="697" y="243"/>
                  </a:lnTo>
                  <a:lnTo>
                    <a:pt x="701" y="225"/>
                  </a:lnTo>
                  <a:lnTo>
                    <a:pt x="692" y="220"/>
                  </a:lnTo>
                  <a:lnTo>
                    <a:pt x="683" y="222"/>
                  </a:lnTo>
                  <a:lnTo>
                    <a:pt x="676" y="233"/>
                  </a:lnTo>
                  <a:lnTo>
                    <a:pt x="668" y="245"/>
                  </a:lnTo>
                  <a:lnTo>
                    <a:pt x="658" y="251"/>
                  </a:lnTo>
                  <a:lnTo>
                    <a:pt x="649" y="252"/>
                  </a:lnTo>
                  <a:lnTo>
                    <a:pt x="654" y="264"/>
                  </a:lnTo>
                  <a:lnTo>
                    <a:pt x="676" y="270"/>
                  </a:lnTo>
                  <a:lnTo>
                    <a:pt x="683" y="285"/>
                  </a:lnTo>
                  <a:lnTo>
                    <a:pt x="694" y="282"/>
                  </a:lnTo>
                  <a:lnTo>
                    <a:pt x="706" y="274"/>
                  </a:lnTo>
                  <a:lnTo>
                    <a:pt x="725" y="281"/>
                  </a:lnTo>
                  <a:lnTo>
                    <a:pt x="734" y="283"/>
                  </a:lnTo>
                  <a:lnTo>
                    <a:pt x="734" y="292"/>
                  </a:lnTo>
                  <a:lnTo>
                    <a:pt x="726" y="291"/>
                  </a:lnTo>
                  <a:lnTo>
                    <a:pt x="716" y="297"/>
                  </a:lnTo>
                  <a:lnTo>
                    <a:pt x="710" y="305"/>
                  </a:lnTo>
                  <a:lnTo>
                    <a:pt x="708" y="311"/>
                  </a:lnTo>
                  <a:lnTo>
                    <a:pt x="706" y="329"/>
                  </a:lnTo>
                  <a:lnTo>
                    <a:pt x="727" y="342"/>
                  </a:lnTo>
                  <a:lnTo>
                    <a:pt x="738" y="355"/>
                  </a:lnTo>
                  <a:lnTo>
                    <a:pt x="748" y="370"/>
                  </a:lnTo>
                  <a:lnTo>
                    <a:pt x="764" y="384"/>
                  </a:lnTo>
                  <a:lnTo>
                    <a:pt x="740" y="377"/>
                  </a:lnTo>
                  <a:lnTo>
                    <a:pt x="742" y="378"/>
                  </a:lnTo>
                  <a:lnTo>
                    <a:pt x="756" y="388"/>
                  </a:lnTo>
                  <a:lnTo>
                    <a:pt x="770" y="397"/>
                  </a:lnTo>
                  <a:lnTo>
                    <a:pt x="756" y="407"/>
                  </a:lnTo>
                  <a:lnTo>
                    <a:pt x="751" y="411"/>
                  </a:lnTo>
                  <a:lnTo>
                    <a:pt x="760" y="412"/>
                  </a:lnTo>
                  <a:lnTo>
                    <a:pt x="769" y="411"/>
                  </a:lnTo>
                  <a:lnTo>
                    <a:pt x="780" y="417"/>
                  </a:lnTo>
                  <a:lnTo>
                    <a:pt x="774" y="424"/>
                  </a:lnTo>
                  <a:lnTo>
                    <a:pt x="780" y="424"/>
                  </a:lnTo>
                  <a:lnTo>
                    <a:pt x="779" y="426"/>
                  </a:lnTo>
                  <a:lnTo>
                    <a:pt x="775" y="430"/>
                  </a:lnTo>
                  <a:lnTo>
                    <a:pt x="776" y="433"/>
                  </a:lnTo>
                  <a:lnTo>
                    <a:pt x="778" y="437"/>
                  </a:lnTo>
                  <a:lnTo>
                    <a:pt x="775" y="437"/>
                  </a:lnTo>
                  <a:lnTo>
                    <a:pt x="779" y="444"/>
                  </a:lnTo>
                  <a:lnTo>
                    <a:pt x="775" y="445"/>
                  </a:lnTo>
                  <a:lnTo>
                    <a:pt x="767" y="449"/>
                  </a:lnTo>
                  <a:lnTo>
                    <a:pt x="770" y="455"/>
                  </a:lnTo>
                  <a:lnTo>
                    <a:pt x="768" y="463"/>
                  </a:lnTo>
                  <a:lnTo>
                    <a:pt x="762" y="477"/>
                  </a:lnTo>
                  <a:lnTo>
                    <a:pt x="760" y="478"/>
                  </a:lnTo>
                  <a:lnTo>
                    <a:pt x="763" y="481"/>
                  </a:lnTo>
                  <a:lnTo>
                    <a:pt x="756" y="485"/>
                  </a:lnTo>
                  <a:lnTo>
                    <a:pt x="755" y="485"/>
                  </a:lnTo>
                  <a:lnTo>
                    <a:pt x="762" y="487"/>
                  </a:lnTo>
                  <a:lnTo>
                    <a:pt x="763" y="497"/>
                  </a:lnTo>
                  <a:lnTo>
                    <a:pt x="758" y="496"/>
                  </a:lnTo>
                  <a:lnTo>
                    <a:pt x="758" y="499"/>
                  </a:lnTo>
                  <a:lnTo>
                    <a:pt x="755" y="503"/>
                  </a:lnTo>
                  <a:lnTo>
                    <a:pt x="754" y="505"/>
                  </a:lnTo>
                  <a:lnTo>
                    <a:pt x="752" y="511"/>
                  </a:lnTo>
                  <a:lnTo>
                    <a:pt x="744" y="513"/>
                  </a:lnTo>
                  <a:lnTo>
                    <a:pt x="743" y="515"/>
                  </a:lnTo>
                  <a:lnTo>
                    <a:pt x="744" y="519"/>
                  </a:lnTo>
                  <a:lnTo>
                    <a:pt x="739" y="525"/>
                  </a:lnTo>
                  <a:lnTo>
                    <a:pt x="726" y="534"/>
                  </a:lnTo>
                  <a:lnTo>
                    <a:pt x="727" y="535"/>
                  </a:lnTo>
                  <a:lnTo>
                    <a:pt x="721" y="540"/>
                  </a:lnTo>
                  <a:lnTo>
                    <a:pt x="713" y="543"/>
                  </a:lnTo>
                  <a:lnTo>
                    <a:pt x="712" y="543"/>
                  </a:lnTo>
                  <a:lnTo>
                    <a:pt x="709" y="545"/>
                  </a:lnTo>
                  <a:lnTo>
                    <a:pt x="702" y="546"/>
                  </a:lnTo>
                  <a:lnTo>
                    <a:pt x="700" y="545"/>
                  </a:lnTo>
                  <a:lnTo>
                    <a:pt x="696" y="547"/>
                  </a:lnTo>
                  <a:lnTo>
                    <a:pt x="694" y="550"/>
                  </a:lnTo>
                  <a:lnTo>
                    <a:pt x="689" y="550"/>
                  </a:lnTo>
                  <a:lnTo>
                    <a:pt x="680" y="538"/>
                  </a:lnTo>
                  <a:lnTo>
                    <a:pt x="677" y="543"/>
                  </a:lnTo>
                  <a:lnTo>
                    <a:pt x="680" y="555"/>
                  </a:lnTo>
                  <a:lnTo>
                    <a:pt x="677" y="550"/>
                  </a:lnTo>
                  <a:lnTo>
                    <a:pt x="677" y="557"/>
                  </a:lnTo>
                  <a:lnTo>
                    <a:pt x="674" y="556"/>
                  </a:lnTo>
                  <a:lnTo>
                    <a:pt x="668" y="562"/>
                  </a:lnTo>
                  <a:lnTo>
                    <a:pt x="665" y="558"/>
                  </a:lnTo>
                  <a:lnTo>
                    <a:pt x="662" y="562"/>
                  </a:lnTo>
                  <a:lnTo>
                    <a:pt x="658" y="561"/>
                  </a:lnTo>
                  <a:lnTo>
                    <a:pt x="648" y="567"/>
                  </a:lnTo>
                  <a:lnTo>
                    <a:pt x="640" y="569"/>
                  </a:lnTo>
                  <a:lnTo>
                    <a:pt x="637" y="570"/>
                  </a:lnTo>
                  <a:lnTo>
                    <a:pt x="636" y="579"/>
                  </a:lnTo>
                  <a:lnTo>
                    <a:pt x="640" y="588"/>
                  </a:lnTo>
                  <a:lnTo>
                    <a:pt x="631" y="587"/>
                  </a:lnTo>
                  <a:lnTo>
                    <a:pt x="628" y="569"/>
                  </a:lnTo>
                  <a:lnTo>
                    <a:pt x="623" y="565"/>
                  </a:lnTo>
                  <a:lnTo>
                    <a:pt x="617" y="567"/>
                  </a:lnTo>
                  <a:lnTo>
                    <a:pt x="611" y="564"/>
                  </a:lnTo>
                  <a:lnTo>
                    <a:pt x="605" y="561"/>
                  </a:lnTo>
                  <a:lnTo>
                    <a:pt x="604" y="563"/>
                  </a:lnTo>
                  <a:lnTo>
                    <a:pt x="598" y="565"/>
                  </a:lnTo>
                  <a:lnTo>
                    <a:pt x="582" y="559"/>
                  </a:lnTo>
                  <a:lnTo>
                    <a:pt x="576" y="555"/>
                  </a:lnTo>
                  <a:lnTo>
                    <a:pt x="574" y="543"/>
                  </a:lnTo>
                  <a:lnTo>
                    <a:pt x="554" y="537"/>
                  </a:lnTo>
                  <a:lnTo>
                    <a:pt x="547" y="535"/>
                  </a:lnTo>
                  <a:lnTo>
                    <a:pt x="539" y="546"/>
                  </a:lnTo>
                  <a:lnTo>
                    <a:pt x="533" y="546"/>
                  </a:lnTo>
                  <a:lnTo>
                    <a:pt x="530" y="547"/>
                  </a:lnTo>
                  <a:lnTo>
                    <a:pt x="527" y="546"/>
                  </a:lnTo>
                  <a:lnTo>
                    <a:pt x="520" y="546"/>
                  </a:lnTo>
                  <a:lnTo>
                    <a:pt x="517" y="549"/>
                  </a:lnTo>
                  <a:lnTo>
                    <a:pt x="509" y="546"/>
                  </a:lnTo>
                  <a:lnTo>
                    <a:pt x="505" y="551"/>
                  </a:lnTo>
                  <a:lnTo>
                    <a:pt x="497" y="551"/>
                  </a:lnTo>
                  <a:lnTo>
                    <a:pt x="500" y="573"/>
                  </a:lnTo>
                  <a:lnTo>
                    <a:pt x="494" y="569"/>
                  </a:lnTo>
                  <a:lnTo>
                    <a:pt x="492" y="565"/>
                  </a:lnTo>
                  <a:lnTo>
                    <a:pt x="487" y="563"/>
                  </a:lnTo>
                  <a:lnTo>
                    <a:pt x="476" y="567"/>
                  </a:lnTo>
                  <a:lnTo>
                    <a:pt x="468" y="557"/>
                  </a:lnTo>
                  <a:lnTo>
                    <a:pt x="460" y="553"/>
                  </a:lnTo>
                  <a:lnTo>
                    <a:pt x="462" y="539"/>
                  </a:lnTo>
                  <a:lnTo>
                    <a:pt x="451" y="534"/>
                  </a:lnTo>
                  <a:lnTo>
                    <a:pt x="448" y="522"/>
                  </a:lnTo>
                  <a:lnTo>
                    <a:pt x="446" y="520"/>
                  </a:lnTo>
                  <a:lnTo>
                    <a:pt x="430" y="522"/>
                  </a:lnTo>
                  <a:lnTo>
                    <a:pt x="430" y="514"/>
                  </a:lnTo>
                  <a:lnTo>
                    <a:pt x="428" y="507"/>
                  </a:lnTo>
                  <a:lnTo>
                    <a:pt x="436" y="495"/>
                  </a:lnTo>
                  <a:lnTo>
                    <a:pt x="438" y="486"/>
                  </a:lnTo>
                  <a:lnTo>
                    <a:pt x="434" y="472"/>
                  </a:lnTo>
                  <a:lnTo>
                    <a:pt x="432" y="457"/>
                  </a:lnTo>
                  <a:lnTo>
                    <a:pt x="425" y="454"/>
                  </a:lnTo>
                  <a:lnTo>
                    <a:pt x="412" y="441"/>
                  </a:lnTo>
                  <a:lnTo>
                    <a:pt x="410" y="447"/>
                  </a:lnTo>
                  <a:lnTo>
                    <a:pt x="394" y="441"/>
                  </a:lnTo>
                  <a:lnTo>
                    <a:pt x="394" y="432"/>
                  </a:lnTo>
                  <a:lnTo>
                    <a:pt x="388" y="431"/>
                  </a:lnTo>
                  <a:lnTo>
                    <a:pt x="389" y="427"/>
                  </a:lnTo>
                  <a:lnTo>
                    <a:pt x="383" y="425"/>
                  </a:lnTo>
                  <a:lnTo>
                    <a:pt x="374" y="430"/>
                  </a:lnTo>
                  <a:lnTo>
                    <a:pt x="361" y="42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5" name="Freeform 254"/>
            <p:cNvSpPr>
              <a:spLocks/>
            </p:cNvSpPr>
            <p:nvPr/>
          </p:nvSpPr>
          <p:spPr bwMode="auto">
            <a:xfrm>
              <a:off x="4415" y="2307"/>
              <a:ext cx="40" cy="34"/>
            </a:xfrm>
            <a:custGeom>
              <a:avLst/>
              <a:gdLst/>
              <a:ahLst/>
              <a:cxnLst>
                <a:cxn ang="0">
                  <a:pos x="26" y="0"/>
                </a:cxn>
                <a:cxn ang="0">
                  <a:pos x="11" y="3"/>
                </a:cxn>
                <a:cxn ang="0">
                  <a:pos x="0" y="10"/>
                </a:cxn>
                <a:cxn ang="0">
                  <a:pos x="1" y="24"/>
                </a:cxn>
                <a:cxn ang="0">
                  <a:pos x="13" y="30"/>
                </a:cxn>
                <a:cxn ang="0">
                  <a:pos x="19" y="29"/>
                </a:cxn>
                <a:cxn ang="0">
                  <a:pos x="29" y="18"/>
                </a:cxn>
                <a:cxn ang="0">
                  <a:pos x="35" y="6"/>
                </a:cxn>
                <a:cxn ang="0">
                  <a:pos x="32" y="0"/>
                </a:cxn>
                <a:cxn ang="0">
                  <a:pos x="26" y="0"/>
                </a:cxn>
              </a:cxnLst>
              <a:rect l="0" t="0" r="r" b="b"/>
              <a:pathLst>
                <a:path w="35" h="30">
                  <a:moveTo>
                    <a:pt x="26" y="0"/>
                  </a:moveTo>
                  <a:lnTo>
                    <a:pt x="11" y="3"/>
                  </a:lnTo>
                  <a:lnTo>
                    <a:pt x="0" y="10"/>
                  </a:lnTo>
                  <a:lnTo>
                    <a:pt x="1" y="24"/>
                  </a:lnTo>
                  <a:lnTo>
                    <a:pt x="13" y="30"/>
                  </a:lnTo>
                  <a:lnTo>
                    <a:pt x="19" y="29"/>
                  </a:lnTo>
                  <a:lnTo>
                    <a:pt x="29" y="18"/>
                  </a:lnTo>
                  <a:lnTo>
                    <a:pt x="35" y="6"/>
                  </a:lnTo>
                  <a:lnTo>
                    <a:pt x="32" y="0"/>
                  </a:lnTo>
                  <a:lnTo>
                    <a:pt x="2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6" name="Freeform 255"/>
            <p:cNvSpPr>
              <a:spLocks/>
            </p:cNvSpPr>
            <p:nvPr/>
          </p:nvSpPr>
          <p:spPr bwMode="auto">
            <a:xfrm>
              <a:off x="4713" y="1879"/>
              <a:ext cx="149" cy="157"/>
            </a:xfrm>
            <a:custGeom>
              <a:avLst/>
              <a:gdLst/>
              <a:ahLst/>
              <a:cxnLst>
                <a:cxn ang="0">
                  <a:pos x="125" y="108"/>
                </a:cxn>
                <a:cxn ang="0">
                  <a:pos x="122" y="103"/>
                </a:cxn>
                <a:cxn ang="0">
                  <a:pos x="123" y="112"/>
                </a:cxn>
                <a:cxn ang="0">
                  <a:pos x="116" y="114"/>
                </a:cxn>
                <a:cxn ang="0">
                  <a:pos x="114" y="121"/>
                </a:cxn>
                <a:cxn ang="0">
                  <a:pos x="111" y="113"/>
                </a:cxn>
                <a:cxn ang="0">
                  <a:pos x="107" y="122"/>
                </a:cxn>
                <a:cxn ang="0">
                  <a:pos x="90" y="121"/>
                </a:cxn>
                <a:cxn ang="0">
                  <a:pos x="86" y="119"/>
                </a:cxn>
                <a:cxn ang="0">
                  <a:pos x="81" y="115"/>
                </a:cxn>
                <a:cxn ang="0">
                  <a:pos x="83" y="124"/>
                </a:cxn>
                <a:cxn ang="0">
                  <a:pos x="87" y="128"/>
                </a:cxn>
                <a:cxn ang="0">
                  <a:pos x="81" y="136"/>
                </a:cxn>
                <a:cxn ang="0">
                  <a:pos x="78" y="143"/>
                </a:cxn>
                <a:cxn ang="0">
                  <a:pos x="64" y="132"/>
                </a:cxn>
                <a:cxn ang="0">
                  <a:pos x="63" y="120"/>
                </a:cxn>
                <a:cxn ang="0">
                  <a:pos x="44" y="122"/>
                </a:cxn>
                <a:cxn ang="0">
                  <a:pos x="23" y="127"/>
                </a:cxn>
                <a:cxn ang="0">
                  <a:pos x="17" y="134"/>
                </a:cxn>
                <a:cxn ang="0">
                  <a:pos x="0" y="132"/>
                </a:cxn>
                <a:cxn ang="0">
                  <a:pos x="3" y="126"/>
                </a:cxn>
                <a:cxn ang="0">
                  <a:pos x="14" y="115"/>
                </a:cxn>
                <a:cxn ang="0">
                  <a:pos x="23" y="106"/>
                </a:cxn>
                <a:cxn ang="0">
                  <a:pos x="38" y="104"/>
                </a:cxn>
                <a:cxn ang="0">
                  <a:pos x="53" y="103"/>
                </a:cxn>
                <a:cxn ang="0">
                  <a:pos x="57" y="106"/>
                </a:cxn>
                <a:cxn ang="0">
                  <a:pos x="65" y="101"/>
                </a:cxn>
                <a:cxn ang="0">
                  <a:pos x="63" y="91"/>
                </a:cxn>
                <a:cxn ang="0">
                  <a:pos x="62" y="77"/>
                </a:cxn>
                <a:cxn ang="0">
                  <a:pos x="68" y="73"/>
                </a:cxn>
                <a:cxn ang="0">
                  <a:pos x="66" y="78"/>
                </a:cxn>
                <a:cxn ang="0">
                  <a:pos x="72" y="84"/>
                </a:cxn>
                <a:cxn ang="0">
                  <a:pos x="80" y="77"/>
                </a:cxn>
                <a:cxn ang="0">
                  <a:pos x="87" y="70"/>
                </a:cxn>
                <a:cxn ang="0">
                  <a:pos x="89" y="56"/>
                </a:cxn>
                <a:cxn ang="0">
                  <a:pos x="90" y="42"/>
                </a:cxn>
                <a:cxn ang="0">
                  <a:pos x="82" y="29"/>
                </a:cxn>
                <a:cxn ang="0">
                  <a:pos x="76" y="13"/>
                </a:cxn>
                <a:cxn ang="0">
                  <a:pos x="77" y="5"/>
                </a:cxn>
                <a:cxn ang="0">
                  <a:pos x="86" y="10"/>
                </a:cxn>
                <a:cxn ang="0">
                  <a:pos x="89" y="7"/>
                </a:cxn>
                <a:cxn ang="0">
                  <a:pos x="87" y="4"/>
                </a:cxn>
                <a:cxn ang="0">
                  <a:pos x="81" y="4"/>
                </a:cxn>
                <a:cxn ang="0">
                  <a:pos x="82" y="0"/>
                </a:cxn>
                <a:cxn ang="0">
                  <a:pos x="89" y="2"/>
                </a:cxn>
                <a:cxn ang="0">
                  <a:pos x="102" y="18"/>
                </a:cxn>
                <a:cxn ang="0">
                  <a:pos x="118" y="34"/>
                </a:cxn>
                <a:cxn ang="0">
                  <a:pos x="119" y="55"/>
                </a:cxn>
                <a:cxn ang="0">
                  <a:pos x="116" y="61"/>
                </a:cxn>
                <a:cxn ang="0">
                  <a:pos x="124" y="84"/>
                </a:cxn>
                <a:cxn ang="0">
                  <a:pos x="135" y="101"/>
                </a:cxn>
                <a:cxn ang="0">
                  <a:pos x="129" y="118"/>
                </a:cxn>
                <a:cxn ang="0">
                  <a:pos x="125" y="108"/>
                </a:cxn>
              </a:cxnLst>
              <a:rect l="0" t="0" r="r" b="b"/>
              <a:pathLst>
                <a:path w="135" h="143">
                  <a:moveTo>
                    <a:pt x="125" y="108"/>
                  </a:moveTo>
                  <a:lnTo>
                    <a:pt x="122" y="103"/>
                  </a:lnTo>
                  <a:lnTo>
                    <a:pt x="123" y="112"/>
                  </a:lnTo>
                  <a:lnTo>
                    <a:pt x="116" y="114"/>
                  </a:lnTo>
                  <a:lnTo>
                    <a:pt x="114" y="121"/>
                  </a:lnTo>
                  <a:lnTo>
                    <a:pt x="111" y="113"/>
                  </a:lnTo>
                  <a:lnTo>
                    <a:pt x="107" y="122"/>
                  </a:lnTo>
                  <a:lnTo>
                    <a:pt x="90" y="121"/>
                  </a:lnTo>
                  <a:lnTo>
                    <a:pt x="86" y="119"/>
                  </a:lnTo>
                  <a:lnTo>
                    <a:pt x="81" y="115"/>
                  </a:lnTo>
                  <a:lnTo>
                    <a:pt x="83" y="124"/>
                  </a:lnTo>
                  <a:lnTo>
                    <a:pt x="87" y="128"/>
                  </a:lnTo>
                  <a:lnTo>
                    <a:pt x="81" y="136"/>
                  </a:lnTo>
                  <a:lnTo>
                    <a:pt x="78" y="143"/>
                  </a:lnTo>
                  <a:lnTo>
                    <a:pt x="64" y="132"/>
                  </a:lnTo>
                  <a:lnTo>
                    <a:pt x="63" y="120"/>
                  </a:lnTo>
                  <a:lnTo>
                    <a:pt x="44" y="122"/>
                  </a:lnTo>
                  <a:lnTo>
                    <a:pt x="23" y="127"/>
                  </a:lnTo>
                  <a:lnTo>
                    <a:pt x="17" y="134"/>
                  </a:lnTo>
                  <a:lnTo>
                    <a:pt x="0" y="132"/>
                  </a:lnTo>
                  <a:lnTo>
                    <a:pt x="3" y="126"/>
                  </a:lnTo>
                  <a:lnTo>
                    <a:pt x="14" y="115"/>
                  </a:lnTo>
                  <a:lnTo>
                    <a:pt x="23" y="106"/>
                  </a:lnTo>
                  <a:lnTo>
                    <a:pt x="38" y="104"/>
                  </a:lnTo>
                  <a:lnTo>
                    <a:pt x="53" y="103"/>
                  </a:lnTo>
                  <a:lnTo>
                    <a:pt x="57" y="106"/>
                  </a:lnTo>
                  <a:lnTo>
                    <a:pt x="65" y="101"/>
                  </a:lnTo>
                  <a:lnTo>
                    <a:pt x="63" y="91"/>
                  </a:lnTo>
                  <a:lnTo>
                    <a:pt x="62" y="77"/>
                  </a:lnTo>
                  <a:lnTo>
                    <a:pt x="68" y="73"/>
                  </a:lnTo>
                  <a:lnTo>
                    <a:pt x="66" y="78"/>
                  </a:lnTo>
                  <a:lnTo>
                    <a:pt x="72" y="84"/>
                  </a:lnTo>
                  <a:lnTo>
                    <a:pt x="80" y="77"/>
                  </a:lnTo>
                  <a:lnTo>
                    <a:pt x="87" y="70"/>
                  </a:lnTo>
                  <a:lnTo>
                    <a:pt x="89" y="56"/>
                  </a:lnTo>
                  <a:lnTo>
                    <a:pt x="90" y="42"/>
                  </a:lnTo>
                  <a:lnTo>
                    <a:pt x="82" y="29"/>
                  </a:lnTo>
                  <a:lnTo>
                    <a:pt x="76" y="13"/>
                  </a:lnTo>
                  <a:lnTo>
                    <a:pt x="77" y="5"/>
                  </a:lnTo>
                  <a:lnTo>
                    <a:pt x="86" y="10"/>
                  </a:lnTo>
                  <a:lnTo>
                    <a:pt x="89" y="7"/>
                  </a:lnTo>
                  <a:lnTo>
                    <a:pt x="87" y="4"/>
                  </a:lnTo>
                  <a:lnTo>
                    <a:pt x="81" y="4"/>
                  </a:lnTo>
                  <a:lnTo>
                    <a:pt x="82" y="0"/>
                  </a:lnTo>
                  <a:lnTo>
                    <a:pt x="89" y="2"/>
                  </a:lnTo>
                  <a:lnTo>
                    <a:pt x="102" y="18"/>
                  </a:lnTo>
                  <a:lnTo>
                    <a:pt x="118" y="34"/>
                  </a:lnTo>
                  <a:lnTo>
                    <a:pt x="119" y="55"/>
                  </a:lnTo>
                  <a:lnTo>
                    <a:pt x="116" y="61"/>
                  </a:lnTo>
                  <a:lnTo>
                    <a:pt x="124" y="84"/>
                  </a:lnTo>
                  <a:lnTo>
                    <a:pt x="135" y="101"/>
                  </a:lnTo>
                  <a:lnTo>
                    <a:pt x="129" y="118"/>
                  </a:lnTo>
                  <a:lnTo>
                    <a:pt x="125" y="1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7" name="Freeform 256"/>
            <p:cNvSpPr>
              <a:spLocks/>
            </p:cNvSpPr>
            <p:nvPr/>
          </p:nvSpPr>
          <p:spPr bwMode="auto">
            <a:xfrm>
              <a:off x="4766" y="1799"/>
              <a:ext cx="87" cy="80"/>
            </a:xfrm>
            <a:custGeom>
              <a:avLst/>
              <a:gdLst/>
              <a:ahLst/>
              <a:cxnLst>
                <a:cxn ang="0">
                  <a:pos x="61" y="28"/>
                </a:cxn>
                <a:cxn ang="0">
                  <a:pos x="47" y="24"/>
                </a:cxn>
                <a:cxn ang="0">
                  <a:pos x="24" y="12"/>
                </a:cxn>
                <a:cxn ang="0">
                  <a:pos x="0" y="0"/>
                </a:cxn>
                <a:cxn ang="0">
                  <a:pos x="5" y="10"/>
                </a:cxn>
                <a:cxn ang="0">
                  <a:pos x="12" y="25"/>
                </a:cxn>
                <a:cxn ang="0">
                  <a:pos x="19" y="40"/>
                </a:cxn>
                <a:cxn ang="0">
                  <a:pos x="9" y="40"/>
                </a:cxn>
                <a:cxn ang="0">
                  <a:pos x="6" y="42"/>
                </a:cxn>
                <a:cxn ang="0">
                  <a:pos x="7" y="49"/>
                </a:cxn>
                <a:cxn ang="0">
                  <a:pos x="10" y="59"/>
                </a:cxn>
                <a:cxn ang="0">
                  <a:pos x="21" y="72"/>
                </a:cxn>
                <a:cxn ang="0">
                  <a:pos x="24" y="68"/>
                </a:cxn>
                <a:cxn ang="0">
                  <a:pos x="31" y="67"/>
                </a:cxn>
                <a:cxn ang="0">
                  <a:pos x="13" y="55"/>
                </a:cxn>
                <a:cxn ang="0">
                  <a:pos x="22" y="55"/>
                </a:cxn>
                <a:cxn ang="0">
                  <a:pos x="28" y="53"/>
                </a:cxn>
                <a:cxn ang="0">
                  <a:pos x="58" y="61"/>
                </a:cxn>
                <a:cxn ang="0">
                  <a:pos x="59" y="58"/>
                </a:cxn>
                <a:cxn ang="0">
                  <a:pos x="66" y="46"/>
                </a:cxn>
                <a:cxn ang="0">
                  <a:pos x="78" y="40"/>
                </a:cxn>
                <a:cxn ang="0">
                  <a:pos x="71" y="35"/>
                </a:cxn>
                <a:cxn ang="0">
                  <a:pos x="65" y="22"/>
                </a:cxn>
                <a:cxn ang="0">
                  <a:pos x="61" y="28"/>
                </a:cxn>
              </a:cxnLst>
              <a:rect l="0" t="0" r="r" b="b"/>
              <a:pathLst>
                <a:path w="78" h="72">
                  <a:moveTo>
                    <a:pt x="61" y="28"/>
                  </a:moveTo>
                  <a:lnTo>
                    <a:pt x="47" y="24"/>
                  </a:lnTo>
                  <a:lnTo>
                    <a:pt x="24" y="12"/>
                  </a:lnTo>
                  <a:lnTo>
                    <a:pt x="0" y="0"/>
                  </a:lnTo>
                  <a:lnTo>
                    <a:pt x="5" y="10"/>
                  </a:lnTo>
                  <a:lnTo>
                    <a:pt x="12" y="25"/>
                  </a:lnTo>
                  <a:lnTo>
                    <a:pt x="19" y="40"/>
                  </a:lnTo>
                  <a:lnTo>
                    <a:pt x="9" y="40"/>
                  </a:lnTo>
                  <a:lnTo>
                    <a:pt x="6" y="42"/>
                  </a:lnTo>
                  <a:lnTo>
                    <a:pt x="7" y="49"/>
                  </a:lnTo>
                  <a:lnTo>
                    <a:pt x="10" y="59"/>
                  </a:lnTo>
                  <a:lnTo>
                    <a:pt x="21" y="72"/>
                  </a:lnTo>
                  <a:lnTo>
                    <a:pt x="24" y="68"/>
                  </a:lnTo>
                  <a:lnTo>
                    <a:pt x="31" y="67"/>
                  </a:lnTo>
                  <a:lnTo>
                    <a:pt x="13" y="55"/>
                  </a:lnTo>
                  <a:lnTo>
                    <a:pt x="22" y="55"/>
                  </a:lnTo>
                  <a:lnTo>
                    <a:pt x="28" y="53"/>
                  </a:lnTo>
                  <a:lnTo>
                    <a:pt x="58" y="61"/>
                  </a:lnTo>
                  <a:lnTo>
                    <a:pt x="59" y="58"/>
                  </a:lnTo>
                  <a:lnTo>
                    <a:pt x="66" y="46"/>
                  </a:lnTo>
                  <a:lnTo>
                    <a:pt x="78" y="40"/>
                  </a:lnTo>
                  <a:lnTo>
                    <a:pt x="71" y="35"/>
                  </a:lnTo>
                  <a:lnTo>
                    <a:pt x="65" y="22"/>
                  </a:lnTo>
                  <a:lnTo>
                    <a:pt x="61"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8" name="Freeform 257"/>
            <p:cNvSpPr>
              <a:spLocks/>
            </p:cNvSpPr>
            <p:nvPr/>
          </p:nvSpPr>
          <p:spPr bwMode="auto">
            <a:xfrm>
              <a:off x="4700" y="2030"/>
              <a:ext cx="42" cy="53"/>
            </a:xfrm>
            <a:custGeom>
              <a:avLst/>
              <a:gdLst/>
              <a:ahLst/>
              <a:cxnLst>
                <a:cxn ang="0">
                  <a:pos x="40" y="16"/>
                </a:cxn>
                <a:cxn ang="0">
                  <a:pos x="39" y="30"/>
                </a:cxn>
                <a:cxn ang="0">
                  <a:pos x="37" y="43"/>
                </a:cxn>
                <a:cxn ang="0">
                  <a:pos x="33" y="49"/>
                </a:cxn>
                <a:cxn ang="0">
                  <a:pos x="27" y="39"/>
                </a:cxn>
                <a:cxn ang="0">
                  <a:pos x="28" y="48"/>
                </a:cxn>
                <a:cxn ang="0">
                  <a:pos x="23" y="43"/>
                </a:cxn>
                <a:cxn ang="0">
                  <a:pos x="19" y="30"/>
                </a:cxn>
                <a:cxn ang="0">
                  <a:pos x="19" y="22"/>
                </a:cxn>
                <a:cxn ang="0">
                  <a:pos x="10" y="13"/>
                </a:cxn>
                <a:cxn ang="0">
                  <a:pos x="15" y="22"/>
                </a:cxn>
                <a:cxn ang="0">
                  <a:pos x="9" y="22"/>
                </a:cxn>
                <a:cxn ang="0">
                  <a:pos x="5" y="15"/>
                </a:cxn>
                <a:cxn ang="0">
                  <a:pos x="7" y="15"/>
                </a:cxn>
                <a:cxn ang="0">
                  <a:pos x="0" y="9"/>
                </a:cxn>
                <a:cxn ang="0">
                  <a:pos x="16" y="0"/>
                </a:cxn>
                <a:cxn ang="0">
                  <a:pos x="25" y="4"/>
                </a:cxn>
                <a:cxn ang="0">
                  <a:pos x="30" y="8"/>
                </a:cxn>
                <a:cxn ang="0">
                  <a:pos x="31" y="10"/>
                </a:cxn>
                <a:cxn ang="0">
                  <a:pos x="40" y="16"/>
                </a:cxn>
              </a:cxnLst>
              <a:rect l="0" t="0" r="r" b="b"/>
              <a:pathLst>
                <a:path w="40" h="49">
                  <a:moveTo>
                    <a:pt x="40" y="16"/>
                  </a:moveTo>
                  <a:lnTo>
                    <a:pt x="39" y="30"/>
                  </a:lnTo>
                  <a:lnTo>
                    <a:pt x="37" y="43"/>
                  </a:lnTo>
                  <a:lnTo>
                    <a:pt x="33" y="49"/>
                  </a:lnTo>
                  <a:lnTo>
                    <a:pt x="27" y="39"/>
                  </a:lnTo>
                  <a:lnTo>
                    <a:pt x="28" y="48"/>
                  </a:lnTo>
                  <a:lnTo>
                    <a:pt x="23" y="43"/>
                  </a:lnTo>
                  <a:lnTo>
                    <a:pt x="19" y="30"/>
                  </a:lnTo>
                  <a:lnTo>
                    <a:pt x="19" y="22"/>
                  </a:lnTo>
                  <a:lnTo>
                    <a:pt x="10" y="13"/>
                  </a:lnTo>
                  <a:lnTo>
                    <a:pt x="15" y="22"/>
                  </a:lnTo>
                  <a:lnTo>
                    <a:pt x="9" y="22"/>
                  </a:lnTo>
                  <a:lnTo>
                    <a:pt x="5" y="15"/>
                  </a:lnTo>
                  <a:lnTo>
                    <a:pt x="7" y="15"/>
                  </a:lnTo>
                  <a:lnTo>
                    <a:pt x="0" y="9"/>
                  </a:lnTo>
                  <a:lnTo>
                    <a:pt x="16" y="0"/>
                  </a:lnTo>
                  <a:lnTo>
                    <a:pt x="25" y="4"/>
                  </a:lnTo>
                  <a:lnTo>
                    <a:pt x="30" y="8"/>
                  </a:lnTo>
                  <a:lnTo>
                    <a:pt x="31" y="10"/>
                  </a:lnTo>
                  <a:lnTo>
                    <a:pt x="40"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9" name="Freeform 258"/>
            <p:cNvSpPr>
              <a:spLocks/>
            </p:cNvSpPr>
            <p:nvPr/>
          </p:nvSpPr>
          <p:spPr bwMode="auto">
            <a:xfrm>
              <a:off x="4740" y="2021"/>
              <a:ext cx="40" cy="31"/>
            </a:xfrm>
            <a:custGeom>
              <a:avLst/>
              <a:gdLst/>
              <a:ahLst/>
              <a:cxnLst>
                <a:cxn ang="0">
                  <a:pos x="29" y="18"/>
                </a:cxn>
                <a:cxn ang="0">
                  <a:pos x="17" y="18"/>
                </a:cxn>
                <a:cxn ang="0">
                  <a:pos x="16" y="29"/>
                </a:cxn>
                <a:cxn ang="0">
                  <a:pos x="6" y="22"/>
                </a:cxn>
                <a:cxn ang="0">
                  <a:pos x="3" y="16"/>
                </a:cxn>
                <a:cxn ang="0">
                  <a:pos x="0" y="17"/>
                </a:cxn>
                <a:cxn ang="0">
                  <a:pos x="9" y="6"/>
                </a:cxn>
                <a:cxn ang="0">
                  <a:pos x="17" y="5"/>
                </a:cxn>
                <a:cxn ang="0">
                  <a:pos x="26" y="0"/>
                </a:cxn>
                <a:cxn ang="0">
                  <a:pos x="33" y="5"/>
                </a:cxn>
                <a:cxn ang="0">
                  <a:pos x="36" y="10"/>
                </a:cxn>
                <a:cxn ang="0">
                  <a:pos x="29" y="18"/>
                </a:cxn>
              </a:cxnLst>
              <a:rect l="0" t="0" r="r" b="b"/>
              <a:pathLst>
                <a:path w="36" h="29">
                  <a:moveTo>
                    <a:pt x="29" y="18"/>
                  </a:moveTo>
                  <a:lnTo>
                    <a:pt x="17" y="18"/>
                  </a:lnTo>
                  <a:lnTo>
                    <a:pt x="16" y="29"/>
                  </a:lnTo>
                  <a:lnTo>
                    <a:pt x="6" y="22"/>
                  </a:lnTo>
                  <a:lnTo>
                    <a:pt x="3" y="16"/>
                  </a:lnTo>
                  <a:lnTo>
                    <a:pt x="0" y="17"/>
                  </a:lnTo>
                  <a:lnTo>
                    <a:pt x="9" y="6"/>
                  </a:lnTo>
                  <a:lnTo>
                    <a:pt x="17" y="5"/>
                  </a:lnTo>
                  <a:lnTo>
                    <a:pt x="26" y="0"/>
                  </a:lnTo>
                  <a:lnTo>
                    <a:pt x="33" y="5"/>
                  </a:lnTo>
                  <a:lnTo>
                    <a:pt x="36" y="10"/>
                  </a:lnTo>
                  <a:lnTo>
                    <a:pt x="2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0" name="Freeform 259"/>
            <p:cNvSpPr>
              <a:spLocks/>
            </p:cNvSpPr>
            <p:nvPr/>
          </p:nvSpPr>
          <p:spPr bwMode="auto">
            <a:xfrm>
              <a:off x="4713" y="2170"/>
              <a:ext cx="9" cy="13"/>
            </a:xfrm>
            <a:custGeom>
              <a:avLst/>
              <a:gdLst/>
              <a:ahLst/>
              <a:cxnLst>
                <a:cxn ang="0">
                  <a:pos x="0" y="12"/>
                </a:cxn>
                <a:cxn ang="0">
                  <a:pos x="8" y="1"/>
                </a:cxn>
                <a:cxn ang="0">
                  <a:pos x="6" y="0"/>
                </a:cxn>
                <a:cxn ang="0">
                  <a:pos x="0" y="12"/>
                </a:cxn>
              </a:cxnLst>
              <a:rect l="0" t="0" r="r" b="b"/>
              <a:pathLst>
                <a:path w="8" h="12">
                  <a:moveTo>
                    <a:pt x="0" y="12"/>
                  </a:moveTo>
                  <a:lnTo>
                    <a:pt x="8" y="1"/>
                  </a:lnTo>
                  <a:lnTo>
                    <a:pt x="6" y="0"/>
                  </a:lnTo>
                  <a:lnTo>
                    <a:pt x="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1" name="Freeform 260"/>
            <p:cNvSpPr>
              <a:spLocks/>
            </p:cNvSpPr>
            <p:nvPr/>
          </p:nvSpPr>
          <p:spPr bwMode="auto">
            <a:xfrm>
              <a:off x="4800" y="1941"/>
              <a:ext cx="2" cy="6"/>
            </a:xfrm>
            <a:custGeom>
              <a:avLst/>
              <a:gdLst/>
              <a:ahLst/>
              <a:cxnLst>
                <a:cxn ang="0">
                  <a:pos x="4" y="6"/>
                </a:cxn>
                <a:cxn ang="0">
                  <a:pos x="0" y="0"/>
                </a:cxn>
                <a:cxn ang="0">
                  <a:pos x="0" y="6"/>
                </a:cxn>
                <a:cxn ang="0">
                  <a:pos x="4" y="6"/>
                </a:cxn>
              </a:cxnLst>
              <a:rect l="0" t="0" r="r" b="b"/>
              <a:pathLst>
                <a:path w="4" h="6">
                  <a:moveTo>
                    <a:pt x="4" y="6"/>
                  </a:moveTo>
                  <a:lnTo>
                    <a:pt x="0" y="0"/>
                  </a:lnTo>
                  <a:lnTo>
                    <a:pt x="0" y="6"/>
                  </a:lnTo>
                  <a:lnTo>
                    <a:pt x="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2" name="Freeform 261"/>
            <p:cNvSpPr>
              <a:spLocks/>
            </p:cNvSpPr>
            <p:nvPr/>
          </p:nvSpPr>
          <p:spPr bwMode="auto">
            <a:xfrm>
              <a:off x="4713" y="2056"/>
              <a:ext cx="2" cy="5"/>
            </a:xfrm>
            <a:custGeom>
              <a:avLst/>
              <a:gdLst/>
              <a:ahLst/>
              <a:cxnLst>
                <a:cxn ang="0">
                  <a:pos x="3" y="0"/>
                </a:cxn>
                <a:cxn ang="0">
                  <a:pos x="4" y="2"/>
                </a:cxn>
                <a:cxn ang="0">
                  <a:pos x="0" y="2"/>
                </a:cxn>
                <a:cxn ang="0">
                  <a:pos x="3" y="0"/>
                </a:cxn>
              </a:cxnLst>
              <a:rect l="0" t="0" r="r" b="b"/>
              <a:pathLst>
                <a:path w="4" h="2">
                  <a:moveTo>
                    <a:pt x="3" y="0"/>
                  </a:moveTo>
                  <a:lnTo>
                    <a:pt x="4" y="2"/>
                  </a:lnTo>
                  <a:lnTo>
                    <a:pt x="0" y="2"/>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3" name="Freeform 262"/>
            <p:cNvSpPr>
              <a:spLocks/>
            </p:cNvSpPr>
            <p:nvPr/>
          </p:nvSpPr>
          <p:spPr bwMode="auto">
            <a:xfrm>
              <a:off x="4551" y="1850"/>
              <a:ext cx="78" cy="100"/>
            </a:xfrm>
            <a:custGeom>
              <a:avLst/>
              <a:gdLst/>
              <a:ahLst/>
              <a:cxnLst>
                <a:cxn ang="0">
                  <a:pos x="18" y="61"/>
                </a:cxn>
                <a:cxn ang="0">
                  <a:pos x="8" y="58"/>
                </a:cxn>
                <a:cxn ang="0">
                  <a:pos x="0" y="50"/>
                </a:cxn>
                <a:cxn ang="0">
                  <a:pos x="8" y="40"/>
                </a:cxn>
                <a:cxn ang="0">
                  <a:pos x="17" y="25"/>
                </a:cxn>
                <a:cxn ang="0">
                  <a:pos x="23" y="22"/>
                </a:cxn>
                <a:cxn ang="0">
                  <a:pos x="41" y="27"/>
                </a:cxn>
                <a:cxn ang="0">
                  <a:pos x="35" y="18"/>
                </a:cxn>
                <a:cxn ang="0">
                  <a:pos x="40" y="16"/>
                </a:cxn>
                <a:cxn ang="0">
                  <a:pos x="49" y="9"/>
                </a:cxn>
                <a:cxn ang="0">
                  <a:pos x="49" y="0"/>
                </a:cxn>
                <a:cxn ang="0">
                  <a:pos x="66" y="9"/>
                </a:cxn>
                <a:cxn ang="0">
                  <a:pos x="70" y="12"/>
                </a:cxn>
                <a:cxn ang="0">
                  <a:pos x="61" y="21"/>
                </a:cxn>
                <a:cxn ang="0">
                  <a:pos x="67" y="38"/>
                </a:cxn>
                <a:cxn ang="0">
                  <a:pos x="60" y="49"/>
                </a:cxn>
                <a:cxn ang="0">
                  <a:pos x="52" y="60"/>
                </a:cxn>
                <a:cxn ang="0">
                  <a:pos x="54" y="67"/>
                </a:cxn>
                <a:cxn ang="0">
                  <a:pos x="71" y="76"/>
                </a:cxn>
                <a:cxn ang="0">
                  <a:pos x="65" y="81"/>
                </a:cxn>
                <a:cxn ang="0">
                  <a:pos x="53" y="87"/>
                </a:cxn>
                <a:cxn ang="0">
                  <a:pos x="53" y="91"/>
                </a:cxn>
                <a:cxn ang="0">
                  <a:pos x="38" y="88"/>
                </a:cxn>
                <a:cxn ang="0">
                  <a:pos x="35" y="91"/>
                </a:cxn>
                <a:cxn ang="0">
                  <a:pos x="28" y="87"/>
                </a:cxn>
                <a:cxn ang="0">
                  <a:pos x="23" y="85"/>
                </a:cxn>
                <a:cxn ang="0">
                  <a:pos x="26" y="75"/>
                </a:cxn>
                <a:cxn ang="0">
                  <a:pos x="28" y="75"/>
                </a:cxn>
                <a:cxn ang="0">
                  <a:pos x="22" y="70"/>
                </a:cxn>
                <a:cxn ang="0">
                  <a:pos x="18" y="61"/>
                </a:cxn>
              </a:cxnLst>
              <a:rect l="0" t="0" r="r" b="b"/>
              <a:pathLst>
                <a:path w="71" h="91">
                  <a:moveTo>
                    <a:pt x="18" y="61"/>
                  </a:moveTo>
                  <a:lnTo>
                    <a:pt x="8" y="58"/>
                  </a:lnTo>
                  <a:lnTo>
                    <a:pt x="0" y="50"/>
                  </a:lnTo>
                  <a:lnTo>
                    <a:pt x="8" y="40"/>
                  </a:lnTo>
                  <a:lnTo>
                    <a:pt x="17" y="25"/>
                  </a:lnTo>
                  <a:lnTo>
                    <a:pt x="23" y="22"/>
                  </a:lnTo>
                  <a:lnTo>
                    <a:pt x="41" y="27"/>
                  </a:lnTo>
                  <a:lnTo>
                    <a:pt x="35" y="18"/>
                  </a:lnTo>
                  <a:lnTo>
                    <a:pt x="40" y="16"/>
                  </a:lnTo>
                  <a:lnTo>
                    <a:pt x="49" y="9"/>
                  </a:lnTo>
                  <a:lnTo>
                    <a:pt x="49" y="0"/>
                  </a:lnTo>
                  <a:lnTo>
                    <a:pt x="66" y="9"/>
                  </a:lnTo>
                  <a:lnTo>
                    <a:pt x="70" y="12"/>
                  </a:lnTo>
                  <a:lnTo>
                    <a:pt x="61" y="21"/>
                  </a:lnTo>
                  <a:lnTo>
                    <a:pt x="67" y="38"/>
                  </a:lnTo>
                  <a:lnTo>
                    <a:pt x="60" y="49"/>
                  </a:lnTo>
                  <a:lnTo>
                    <a:pt x="52" y="60"/>
                  </a:lnTo>
                  <a:lnTo>
                    <a:pt x="54" y="67"/>
                  </a:lnTo>
                  <a:lnTo>
                    <a:pt x="71" y="76"/>
                  </a:lnTo>
                  <a:lnTo>
                    <a:pt x="65" y="81"/>
                  </a:lnTo>
                  <a:lnTo>
                    <a:pt x="53" y="87"/>
                  </a:lnTo>
                  <a:lnTo>
                    <a:pt x="53" y="91"/>
                  </a:lnTo>
                  <a:lnTo>
                    <a:pt x="38" y="88"/>
                  </a:lnTo>
                  <a:lnTo>
                    <a:pt x="35" y="91"/>
                  </a:lnTo>
                  <a:lnTo>
                    <a:pt x="28" y="87"/>
                  </a:lnTo>
                  <a:lnTo>
                    <a:pt x="23" y="85"/>
                  </a:lnTo>
                  <a:lnTo>
                    <a:pt x="26" y="75"/>
                  </a:lnTo>
                  <a:lnTo>
                    <a:pt x="28" y="75"/>
                  </a:lnTo>
                  <a:lnTo>
                    <a:pt x="22" y="70"/>
                  </a:lnTo>
                  <a:lnTo>
                    <a:pt x="18" y="6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4" name="Freeform 263"/>
            <p:cNvSpPr>
              <a:spLocks/>
            </p:cNvSpPr>
            <p:nvPr/>
          </p:nvSpPr>
          <p:spPr bwMode="auto">
            <a:xfrm>
              <a:off x="4609" y="1934"/>
              <a:ext cx="66" cy="85"/>
            </a:xfrm>
            <a:custGeom>
              <a:avLst/>
              <a:gdLst/>
              <a:ahLst/>
              <a:cxnLst>
                <a:cxn ang="0">
                  <a:pos x="35" y="74"/>
                </a:cxn>
                <a:cxn ang="0">
                  <a:pos x="33" y="71"/>
                </a:cxn>
                <a:cxn ang="0">
                  <a:pos x="29" y="74"/>
                </a:cxn>
                <a:cxn ang="0">
                  <a:pos x="25" y="76"/>
                </a:cxn>
                <a:cxn ang="0">
                  <a:pos x="23" y="72"/>
                </a:cxn>
                <a:cxn ang="0">
                  <a:pos x="23" y="70"/>
                </a:cxn>
                <a:cxn ang="0">
                  <a:pos x="23" y="69"/>
                </a:cxn>
                <a:cxn ang="0">
                  <a:pos x="19" y="65"/>
                </a:cxn>
                <a:cxn ang="0">
                  <a:pos x="17" y="54"/>
                </a:cxn>
                <a:cxn ang="0">
                  <a:pos x="15" y="50"/>
                </a:cxn>
                <a:cxn ang="0">
                  <a:pos x="15" y="47"/>
                </a:cxn>
                <a:cxn ang="0">
                  <a:pos x="6" y="36"/>
                </a:cxn>
                <a:cxn ang="0">
                  <a:pos x="2" y="33"/>
                </a:cxn>
                <a:cxn ang="0">
                  <a:pos x="5" y="32"/>
                </a:cxn>
                <a:cxn ang="0">
                  <a:pos x="12" y="34"/>
                </a:cxn>
                <a:cxn ang="0">
                  <a:pos x="11" y="32"/>
                </a:cxn>
                <a:cxn ang="0">
                  <a:pos x="1" y="17"/>
                </a:cxn>
                <a:cxn ang="0">
                  <a:pos x="0" y="15"/>
                </a:cxn>
                <a:cxn ang="0">
                  <a:pos x="0" y="11"/>
                </a:cxn>
                <a:cxn ang="0">
                  <a:pos x="12" y="5"/>
                </a:cxn>
                <a:cxn ang="0">
                  <a:pos x="18" y="0"/>
                </a:cxn>
                <a:cxn ang="0">
                  <a:pos x="35" y="18"/>
                </a:cxn>
                <a:cxn ang="0">
                  <a:pos x="51" y="35"/>
                </a:cxn>
                <a:cxn ang="0">
                  <a:pos x="60" y="60"/>
                </a:cxn>
                <a:cxn ang="0">
                  <a:pos x="54" y="64"/>
                </a:cxn>
                <a:cxn ang="0">
                  <a:pos x="47" y="68"/>
                </a:cxn>
                <a:cxn ang="0">
                  <a:pos x="43" y="66"/>
                </a:cxn>
                <a:cxn ang="0">
                  <a:pos x="41" y="69"/>
                </a:cxn>
                <a:cxn ang="0">
                  <a:pos x="39" y="70"/>
                </a:cxn>
                <a:cxn ang="0">
                  <a:pos x="37" y="71"/>
                </a:cxn>
                <a:cxn ang="0">
                  <a:pos x="35" y="74"/>
                </a:cxn>
              </a:cxnLst>
              <a:rect l="0" t="0" r="r" b="b"/>
              <a:pathLst>
                <a:path w="60" h="76">
                  <a:moveTo>
                    <a:pt x="35" y="74"/>
                  </a:moveTo>
                  <a:lnTo>
                    <a:pt x="33" y="71"/>
                  </a:lnTo>
                  <a:lnTo>
                    <a:pt x="29" y="74"/>
                  </a:lnTo>
                  <a:lnTo>
                    <a:pt x="25" y="76"/>
                  </a:lnTo>
                  <a:lnTo>
                    <a:pt x="23" y="72"/>
                  </a:lnTo>
                  <a:lnTo>
                    <a:pt x="23" y="70"/>
                  </a:lnTo>
                  <a:lnTo>
                    <a:pt x="23" y="69"/>
                  </a:lnTo>
                  <a:lnTo>
                    <a:pt x="19" y="65"/>
                  </a:lnTo>
                  <a:lnTo>
                    <a:pt x="17" y="54"/>
                  </a:lnTo>
                  <a:lnTo>
                    <a:pt x="15" y="50"/>
                  </a:lnTo>
                  <a:lnTo>
                    <a:pt x="15" y="47"/>
                  </a:lnTo>
                  <a:lnTo>
                    <a:pt x="6" y="36"/>
                  </a:lnTo>
                  <a:lnTo>
                    <a:pt x="2" y="33"/>
                  </a:lnTo>
                  <a:lnTo>
                    <a:pt x="5" y="32"/>
                  </a:lnTo>
                  <a:lnTo>
                    <a:pt x="12" y="34"/>
                  </a:lnTo>
                  <a:lnTo>
                    <a:pt x="11" y="32"/>
                  </a:lnTo>
                  <a:lnTo>
                    <a:pt x="1" y="17"/>
                  </a:lnTo>
                  <a:lnTo>
                    <a:pt x="0" y="15"/>
                  </a:lnTo>
                  <a:lnTo>
                    <a:pt x="0" y="11"/>
                  </a:lnTo>
                  <a:lnTo>
                    <a:pt x="12" y="5"/>
                  </a:lnTo>
                  <a:lnTo>
                    <a:pt x="18" y="0"/>
                  </a:lnTo>
                  <a:lnTo>
                    <a:pt x="35" y="18"/>
                  </a:lnTo>
                  <a:lnTo>
                    <a:pt x="51" y="35"/>
                  </a:lnTo>
                  <a:lnTo>
                    <a:pt x="60" y="60"/>
                  </a:lnTo>
                  <a:lnTo>
                    <a:pt x="54" y="64"/>
                  </a:lnTo>
                  <a:lnTo>
                    <a:pt x="47" y="68"/>
                  </a:lnTo>
                  <a:lnTo>
                    <a:pt x="43" y="66"/>
                  </a:lnTo>
                  <a:lnTo>
                    <a:pt x="41" y="69"/>
                  </a:lnTo>
                  <a:lnTo>
                    <a:pt x="39" y="70"/>
                  </a:lnTo>
                  <a:lnTo>
                    <a:pt x="37" y="71"/>
                  </a:lnTo>
                  <a:lnTo>
                    <a:pt x="35" y="7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5" name="Freeform 264"/>
            <p:cNvSpPr>
              <a:spLocks/>
            </p:cNvSpPr>
            <p:nvPr/>
          </p:nvSpPr>
          <p:spPr bwMode="auto">
            <a:xfrm>
              <a:off x="4600" y="2203"/>
              <a:ext cx="24" cy="64"/>
            </a:xfrm>
            <a:custGeom>
              <a:avLst/>
              <a:gdLst/>
              <a:ahLst/>
              <a:cxnLst>
                <a:cxn ang="0">
                  <a:pos x="16" y="57"/>
                </a:cxn>
                <a:cxn ang="0">
                  <a:pos x="3" y="43"/>
                </a:cxn>
                <a:cxn ang="0">
                  <a:pos x="0" y="22"/>
                </a:cxn>
                <a:cxn ang="0">
                  <a:pos x="6" y="12"/>
                </a:cxn>
                <a:cxn ang="0">
                  <a:pos x="12" y="0"/>
                </a:cxn>
                <a:cxn ang="0">
                  <a:pos x="23" y="3"/>
                </a:cxn>
                <a:cxn ang="0">
                  <a:pos x="21" y="16"/>
                </a:cxn>
                <a:cxn ang="0">
                  <a:pos x="19" y="30"/>
                </a:cxn>
                <a:cxn ang="0">
                  <a:pos x="17" y="44"/>
                </a:cxn>
                <a:cxn ang="0">
                  <a:pos x="16" y="57"/>
                </a:cxn>
              </a:cxnLst>
              <a:rect l="0" t="0" r="r" b="b"/>
              <a:pathLst>
                <a:path w="23" h="57">
                  <a:moveTo>
                    <a:pt x="16" y="57"/>
                  </a:moveTo>
                  <a:lnTo>
                    <a:pt x="3" y="43"/>
                  </a:lnTo>
                  <a:lnTo>
                    <a:pt x="0" y="22"/>
                  </a:lnTo>
                  <a:lnTo>
                    <a:pt x="6" y="12"/>
                  </a:lnTo>
                  <a:lnTo>
                    <a:pt x="12" y="0"/>
                  </a:lnTo>
                  <a:lnTo>
                    <a:pt x="23" y="3"/>
                  </a:lnTo>
                  <a:lnTo>
                    <a:pt x="21" y="16"/>
                  </a:lnTo>
                  <a:lnTo>
                    <a:pt x="19" y="30"/>
                  </a:lnTo>
                  <a:lnTo>
                    <a:pt x="17" y="44"/>
                  </a:lnTo>
                  <a:lnTo>
                    <a:pt x="16" y="5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6" name="Freeform 265"/>
            <p:cNvSpPr>
              <a:spLocks/>
            </p:cNvSpPr>
            <p:nvPr/>
          </p:nvSpPr>
          <p:spPr bwMode="auto">
            <a:xfrm>
              <a:off x="3882" y="1672"/>
              <a:ext cx="520" cy="204"/>
            </a:xfrm>
            <a:custGeom>
              <a:avLst/>
              <a:gdLst/>
              <a:ahLst/>
              <a:cxnLst>
                <a:cxn ang="0">
                  <a:pos x="276" y="176"/>
                </a:cxn>
                <a:cxn ang="0">
                  <a:pos x="252" y="168"/>
                </a:cxn>
                <a:cxn ang="0">
                  <a:pos x="211" y="166"/>
                </a:cxn>
                <a:cxn ang="0">
                  <a:pos x="171" y="163"/>
                </a:cxn>
                <a:cxn ang="0">
                  <a:pos x="145" y="136"/>
                </a:cxn>
                <a:cxn ang="0">
                  <a:pos x="104" y="124"/>
                </a:cxn>
                <a:cxn ang="0">
                  <a:pos x="71" y="118"/>
                </a:cxn>
                <a:cxn ang="0">
                  <a:pos x="60" y="89"/>
                </a:cxn>
                <a:cxn ang="0">
                  <a:pos x="27" y="72"/>
                </a:cxn>
                <a:cxn ang="0">
                  <a:pos x="1" y="53"/>
                </a:cxn>
                <a:cxn ang="0">
                  <a:pos x="7" y="44"/>
                </a:cxn>
                <a:cxn ang="0">
                  <a:pos x="33" y="31"/>
                </a:cxn>
                <a:cxn ang="0">
                  <a:pos x="75" y="25"/>
                </a:cxn>
                <a:cxn ang="0">
                  <a:pos x="102" y="35"/>
                </a:cxn>
                <a:cxn ang="0">
                  <a:pos x="133" y="30"/>
                </a:cxn>
                <a:cxn ang="0">
                  <a:pos x="123" y="0"/>
                </a:cxn>
                <a:cxn ang="0">
                  <a:pos x="171" y="11"/>
                </a:cxn>
                <a:cxn ang="0">
                  <a:pos x="204" y="32"/>
                </a:cxn>
                <a:cxn ang="0">
                  <a:pos x="247" y="31"/>
                </a:cxn>
                <a:cxn ang="0">
                  <a:pos x="275" y="42"/>
                </a:cxn>
                <a:cxn ang="0">
                  <a:pos x="320" y="47"/>
                </a:cxn>
                <a:cxn ang="0">
                  <a:pos x="353" y="31"/>
                </a:cxn>
                <a:cxn ang="0">
                  <a:pos x="392" y="38"/>
                </a:cxn>
                <a:cxn ang="0">
                  <a:pos x="396" y="66"/>
                </a:cxn>
                <a:cxn ang="0">
                  <a:pos x="404" y="74"/>
                </a:cxn>
                <a:cxn ang="0">
                  <a:pos x="425" y="77"/>
                </a:cxn>
                <a:cxn ang="0">
                  <a:pos x="463" y="86"/>
                </a:cxn>
                <a:cxn ang="0">
                  <a:pos x="443" y="95"/>
                </a:cxn>
                <a:cxn ang="0">
                  <a:pos x="423" y="115"/>
                </a:cxn>
                <a:cxn ang="0">
                  <a:pos x="396" y="127"/>
                </a:cxn>
                <a:cxn ang="0">
                  <a:pos x="377" y="138"/>
                </a:cxn>
                <a:cxn ang="0">
                  <a:pos x="373" y="157"/>
                </a:cxn>
                <a:cxn ang="0">
                  <a:pos x="343" y="170"/>
                </a:cxn>
                <a:cxn ang="0">
                  <a:pos x="315" y="178"/>
                </a:cxn>
                <a:cxn ang="0">
                  <a:pos x="294" y="180"/>
                </a:cxn>
              </a:cxnLst>
              <a:rect l="0" t="0" r="r" b="b"/>
              <a:pathLst>
                <a:path w="467" h="185">
                  <a:moveTo>
                    <a:pt x="294" y="180"/>
                  </a:moveTo>
                  <a:lnTo>
                    <a:pt x="276" y="176"/>
                  </a:lnTo>
                  <a:lnTo>
                    <a:pt x="258" y="173"/>
                  </a:lnTo>
                  <a:lnTo>
                    <a:pt x="252" y="168"/>
                  </a:lnTo>
                  <a:lnTo>
                    <a:pt x="231" y="167"/>
                  </a:lnTo>
                  <a:lnTo>
                    <a:pt x="211" y="166"/>
                  </a:lnTo>
                  <a:lnTo>
                    <a:pt x="192" y="164"/>
                  </a:lnTo>
                  <a:lnTo>
                    <a:pt x="171" y="163"/>
                  </a:lnTo>
                  <a:lnTo>
                    <a:pt x="158" y="150"/>
                  </a:lnTo>
                  <a:lnTo>
                    <a:pt x="145" y="136"/>
                  </a:lnTo>
                  <a:lnTo>
                    <a:pt x="125" y="130"/>
                  </a:lnTo>
                  <a:lnTo>
                    <a:pt x="104" y="124"/>
                  </a:lnTo>
                  <a:lnTo>
                    <a:pt x="87" y="120"/>
                  </a:lnTo>
                  <a:lnTo>
                    <a:pt x="71" y="118"/>
                  </a:lnTo>
                  <a:lnTo>
                    <a:pt x="65" y="103"/>
                  </a:lnTo>
                  <a:lnTo>
                    <a:pt x="60" y="89"/>
                  </a:lnTo>
                  <a:lnTo>
                    <a:pt x="38" y="74"/>
                  </a:lnTo>
                  <a:lnTo>
                    <a:pt x="27" y="72"/>
                  </a:lnTo>
                  <a:lnTo>
                    <a:pt x="7" y="59"/>
                  </a:lnTo>
                  <a:lnTo>
                    <a:pt x="1" y="53"/>
                  </a:lnTo>
                  <a:lnTo>
                    <a:pt x="0" y="50"/>
                  </a:lnTo>
                  <a:lnTo>
                    <a:pt x="7" y="44"/>
                  </a:lnTo>
                  <a:lnTo>
                    <a:pt x="19" y="38"/>
                  </a:lnTo>
                  <a:lnTo>
                    <a:pt x="33" y="31"/>
                  </a:lnTo>
                  <a:lnTo>
                    <a:pt x="47" y="23"/>
                  </a:lnTo>
                  <a:lnTo>
                    <a:pt x="75" y="25"/>
                  </a:lnTo>
                  <a:lnTo>
                    <a:pt x="80" y="31"/>
                  </a:lnTo>
                  <a:lnTo>
                    <a:pt x="102" y="35"/>
                  </a:lnTo>
                  <a:lnTo>
                    <a:pt x="122" y="38"/>
                  </a:lnTo>
                  <a:lnTo>
                    <a:pt x="133" y="30"/>
                  </a:lnTo>
                  <a:lnTo>
                    <a:pt x="120" y="18"/>
                  </a:lnTo>
                  <a:lnTo>
                    <a:pt x="123" y="0"/>
                  </a:lnTo>
                  <a:lnTo>
                    <a:pt x="147" y="6"/>
                  </a:lnTo>
                  <a:lnTo>
                    <a:pt x="171" y="11"/>
                  </a:lnTo>
                  <a:lnTo>
                    <a:pt x="182" y="22"/>
                  </a:lnTo>
                  <a:lnTo>
                    <a:pt x="204" y="32"/>
                  </a:lnTo>
                  <a:lnTo>
                    <a:pt x="228" y="28"/>
                  </a:lnTo>
                  <a:lnTo>
                    <a:pt x="247" y="31"/>
                  </a:lnTo>
                  <a:lnTo>
                    <a:pt x="267" y="36"/>
                  </a:lnTo>
                  <a:lnTo>
                    <a:pt x="275" y="42"/>
                  </a:lnTo>
                  <a:lnTo>
                    <a:pt x="303" y="49"/>
                  </a:lnTo>
                  <a:lnTo>
                    <a:pt x="320" y="47"/>
                  </a:lnTo>
                  <a:lnTo>
                    <a:pt x="337" y="43"/>
                  </a:lnTo>
                  <a:lnTo>
                    <a:pt x="353" y="31"/>
                  </a:lnTo>
                  <a:lnTo>
                    <a:pt x="379" y="37"/>
                  </a:lnTo>
                  <a:lnTo>
                    <a:pt x="392" y="38"/>
                  </a:lnTo>
                  <a:lnTo>
                    <a:pt x="395" y="52"/>
                  </a:lnTo>
                  <a:lnTo>
                    <a:pt x="396" y="66"/>
                  </a:lnTo>
                  <a:lnTo>
                    <a:pt x="392" y="67"/>
                  </a:lnTo>
                  <a:lnTo>
                    <a:pt x="404" y="74"/>
                  </a:lnTo>
                  <a:lnTo>
                    <a:pt x="420" y="74"/>
                  </a:lnTo>
                  <a:lnTo>
                    <a:pt x="425" y="77"/>
                  </a:lnTo>
                  <a:lnTo>
                    <a:pt x="432" y="70"/>
                  </a:lnTo>
                  <a:lnTo>
                    <a:pt x="463" y="86"/>
                  </a:lnTo>
                  <a:lnTo>
                    <a:pt x="467" y="95"/>
                  </a:lnTo>
                  <a:lnTo>
                    <a:pt x="443" y="95"/>
                  </a:lnTo>
                  <a:lnTo>
                    <a:pt x="426" y="103"/>
                  </a:lnTo>
                  <a:lnTo>
                    <a:pt x="423" y="115"/>
                  </a:lnTo>
                  <a:lnTo>
                    <a:pt x="409" y="119"/>
                  </a:lnTo>
                  <a:lnTo>
                    <a:pt x="396" y="127"/>
                  </a:lnTo>
                  <a:lnTo>
                    <a:pt x="374" y="121"/>
                  </a:lnTo>
                  <a:lnTo>
                    <a:pt x="377" y="138"/>
                  </a:lnTo>
                  <a:lnTo>
                    <a:pt x="386" y="146"/>
                  </a:lnTo>
                  <a:lnTo>
                    <a:pt x="373" y="157"/>
                  </a:lnTo>
                  <a:lnTo>
                    <a:pt x="360" y="169"/>
                  </a:lnTo>
                  <a:lnTo>
                    <a:pt x="343" y="170"/>
                  </a:lnTo>
                  <a:lnTo>
                    <a:pt x="325" y="172"/>
                  </a:lnTo>
                  <a:lnTo>
                    <a:pt x="315" y="178"/>
                  </a:lnTo>
                  <a:lnTo>
                    <a:pt x="305" y="185"/>
                  </a:lnTo>
                  <a:lnTo>
                    <a:pt x="294" y="18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7" name="Freeform 266"/>
            <p:cNvSpPr>
              <a:spLocks/>
            </p:cNvSpPr>
            <p:nvPr/>
          </p:nvSpPr>
          <p:spPr bwMode="auto">
            <a:xfrm>
              <a:off x="3253" y="1608"/>
              <a:ext cx="618" cy="273"/>
            </a:xfrm>
            <a:custGeom>
              <a:avLst/>
              <a:gdLst/>
              <a:ahLst/>
              <a:cxnLst>
                <a:cxn ang="0">
                  <a:pos x="65" y="146"/>
                </a:cxn>
                <a:cxn ang="0">
                  <a:pos x="45" y="155"/>
                </a:cxn>
                <a:cxn ang="0">
                  <a:pos x="17" y="125"/>
                </a:cxn>
                <a:cxn ang="0">
                  <a:pos x="3" y="93"/>
                </a:cxn>
                <a:cxn ang="0">
                  <a:pos x="22" y="81"/>
                </a:cxn>
                <a:cxn ang="0">
                  <a:pos x="35" y="65"/>
                </a:cxn>
                <a:cxn ang="0">
                  <a:pos x="65" y="57"/>
                </a:cxn>
                <a:cxn ang="0">
                  <a:pos x="103" y="74"/>
                </a:cxn>
                <a:cxn ang="0">
                  <a:pos x="151" y="72"/>
                </a:cxn>
                <a:cxn ang="0">
                  <a:pos x="180" y="71"/>
                </a:cxn>
                <a:cxn ang="0">
                  <a:pos x="172" y="34"/>
                </a:cxn>
                <a:cxn ang="0">
                  <a:pos x="168" y="27"/>
                </a:cxn>
                <a:cxn ang="0">
                  <a:pos x="204" y="21"/>
                </a:cxn>
                <a:cxn ang="0">
                  <a:pos x="238" y="11"/>
                </a:cxn>
                <a:cxn ang="0">
                  <a:pos x="270" y="2"/>
                </a:cxn>
                <a:cxn ang="0">
                  <a:pos x="293" y="11"/>
                </a:cxn>
                <a:cxn ang="0">
                  <a:pos x="330" y="26"/>
                </a:cxn>
                <a:cxn ang="0">
                  <a:pos x="359" y="21"/>
                </a:cxn>
                <a:cxn ang="0">
                  <a:pos x="379" y="17"/>
                </a:cxn>
                <a:cxn ang="0">
                  <a:pos x="396" y="39"/>
                </a:cxn>
                <a:cxn ang="0">
                  <a:pos x="433" y="64"/>
                </a:cxn>
                <a:cxn ang="0">
                  <a:pos x="456" y="72"/>
                </a:cxn>
                <a:cxn ang="0">
                  <a:pos x="484" y="74"/>
                </a:cxn>
                <a:cxn ang="0">
                  <a:pos x="522" y="96"/>
                </a:cxn>
                <a:cxn ang="0">
                  <a:pos x="557" y="110"/>
                </a:cxn>
                <a:cxn ang="0">
                  <a:pos x="544" y="126"/>
                </a:cxn>
                <a:cxn ang="0">
                  <a:pos x="538" y="147"/>
                </a:cxn>
                <a:cxn ang="0">
                  <a:pos x="517" y="158"/>
                </a:cxn>
                <a:cxn ang="0">
                  <a:pos x="525" y="179"/>
                </a:cxn>
                <a:cxn ang="0">
                  <a:pos x="487" y="184"/>
                </a:cxn>
                <a:cxn ang="0">
                  <a:pos x="503" y="201"/>
                </a:cxn>
                <a:cxn ang="0">
                  <a:pos x="510" y="218"/>
                </a:cxn>
                <a:cxn ang="0">
                  <a:pos x="489" y="210"/>
                </a:cxn>
                <a:cxn ang="0">
                  <a:pos x="450" y="214"/>
                </a:cxn>
                <a:cxn ang="0">
                  <a:pos x="417" y="213"/>
                </a:cxn>
                <a:cxn ang="0">
                  <a:pos x="394" y="221"/>
                </a:cxn>
                <a:cxn ang="0">
                  <a:pos x="369" y="226"/>
                </a:cxn>
                <a:cxn ang="0">
                  <a:pos x="341" y="246"/>
                </a:cxn>
                <a:cxn ang="0">
                  <a:pos x="313" y="232"/>
                </a:cxn>
                <a:cxn ang="0">
                  <a:pos x="297" y="207"/>
                </a:cxn>
                <a:cxn ang="0">
                  <a:pos x="265" y="204"/>
                </a:cxn>
                <a:cxn ang="0">
                  <a:pos x="235" y="202"/>
                </a:cxn>
                <a:cxn ang="0">
                  <a:pos x="202" y="176"/>
                </a:cxn>
                <a:cxn ang="0">
                  <a:pos x="166" y="172"/>
                </a:cxn>
                <a:cxn ang="0">
                  <a:pos x="151" y="195"/>
                </a:cxn>
                <a:cxn ang="0">
                  <a:pos x="160" y="226"/>
                </a:cxn>
                <a:cxn ang="0">
                  <a:pos x="147" y="237"/>
                </a:cxn>
                <a:cxn ang="0">
                  <a:pos x="131" y="220"/>
                </a:cxn>
                <a:cxn ang="0">
                  <a:pos x="94" y="215"/>
                </a:cxn>
                <a:cxn ang="0">
                  <a:pos x="75" y="194"/>
                </a:cxn>
                <a:cxn ang="0">
                  <a:pos x="84" y="188"/>
                </a:cxn>
                <a:cxn ang="0">
                  <a:pos x="85" y="174"/>
                </a:cxn>
                <a:cxn ang="0">
                  <a:pos x="100" y="167"/>
                </a:cxn>
                <a:cxn ang="0">
                  <a:pos x="77" y="147"/>
                </a:cxn>
              </a:cxnLst>
              <a:rect l="0" t="0" r="r" b="b"/>
              <a:pathLst>
                <a:path w="557" h="246">
                  <a:moveTo>
                    <a:pt x="77" y="147"/>
                  </a:moveTo>
                  <a:lnTo>
                    <a:pt x="65" y="146"/>
                  </a:lnTo>
                  <a:lnTo>
                    <a:pt x="47" y="154"/>
                  </a:lnTo>
                  <a:lnTo>
                    <a:pt x="45" y="155"/>
                  </a:lnTo>
                  <a:lnTo>
                    <a:pt x="34" y="138"/>
                  </a:lnTo>
                  <a:lnTo>
                    <a:pt x="17" y="125"/>
                  </a:lnTo>
                  <a:lnTo>
                    <a:pt x="0" y="112"/>
                  </a:lnTo>
                  <a:lnTo>
                    <a:pt x="3" y="93"/>
                  </a:lnTo>
                  <a:lnTo>
                    <a:pt x="5" y="74"/>
                  </a:lnTo>
                  <a:lnTo>
                    <a:pt x="22" y="81"/>
                  </a:lnTo>
                  <a:lnTo>
                    <a:pt x="24" y="74"/>
                  </a:lnTo>
                  <a:lnTo>
                    <a:pt x="35" y="65"/>
                  </a:lnTo>
                  <a:lnTo>
                    <a:pt x="46" y="58"/>
                  </a:lnTo>
                  <a:lnTo>
                    <a:pt x="65" y="57"/>
                  </a:lnTo>
                  <a:lnTo>
                    <a:pt x="84" y="65"/>
                  </a:lnTo>
                  <a:lnTo>
                    <a:pt x="103" y="74"/>
                  </a:lnTo>
                  <a:lnTo>
                    <a:pt x="124" y="72"/>
                  </a:lnTo>
                  <a:lnTo>
                    <a:pt x="151" y="72"/>
                  </a:lnTo>
                  <a:lnTo>
                    <a:pt x="178" y="76"/>
                  </a:lnTo>
                  <a:lnTo>
                    <a:pt x="180" y="71"/>
                  </a:lnTo>
                  <a:lnTo>
                    <a:pt x="166" y="54"/>
                  </a:lnTo>
                  <a:lnTo>
                    <a:pt x="172" y="34"/>
                  </a:lnTo>
                  <a:lnTo>
                    <a:pt x="185" y="35"/>
                  </a:lnTo>
                  <a:lnTo>
                    <a:pt x="168" y="27"/>
                  </a:lnTo>
                  <a:lnTo>
                    <a:pt x="186" y="23"/>
                  </a:lnTo>
                  <a:lnTo>
                    <a:pt x="204" y="21"/>
                  </a:lnTo>
                  <a:lnTo>
                    <a:pt x="221" y="16"/>
                  </a:lnTo>
                  <a:lnTo>
                    <a:pt x="238" y="11"/>
                  </a:lnTo>
                  <a:lnTo>
                    <a:pt x="253" y="6"/>
                  </a:lnTo>
                  <a:lnTo>
                    <a:pt x="270" y="2"/>
                  </a:lnTo>
                  <a:lnTo>
                    <a:pt x="283" y="0"/>
                  </a:lnTo>
                  <a:lnTo>
                    <a:pt x="293" y="11"/>
                  </a:lnTo>
                  <a:lnTo>
                    <a:pt x="319" y="21"/>
                  </a:lnTo>
                  <a:lnTo>
                    <a:pt x="330" y="26"/>
                  </a:lnTo>
                  <a:lnTo>
                    <a:pt x="341" y="28"/>
                  </a:lnTo>
                  <a:lnTo>
                    <a:pt x="359" y="21"/>
                  </a:lnTo>
                  <a:lnTo>
                    <a:pt x="376" y="15"/>
                  </a:lnTo>
                  <a:lnTo>
                    <a:pt x="379" y="17"/>
                  </a:lnTo>
                  <a:lnTo>
                    <a:pt x="377" y="26"/>
                  </a:lnTo>
                  <a:lnTo>
                    <a:pt x="396" y="39"/>
                  </a:lnTo>
                  <a:lnTo>
                    <a:pt x="414" y="51"/>
                  </a:lnTo>
                  <a:lnTo>
                    <a:pt x="433" y="64"/>
                  </a:lnTo>
                  <a:lnTo>
                    <a:pt x="453" y="77"/>
                  </a:lnTo>
                  <a:lnTo>
                    <a:pt x="456" y="72"/>
                  </a:lnTo>
                  <a:lnTo>
                    <a:pt x="466" y="76"/>
                  </a:lnTo>
                  <a:lnTo>
                    <a:pt x="484" y="74"/>
                  </a:lnTo>
                  <a:lnTo>
                    <a:pt x="503" y="86"/>
                  </a:lnTo>
                  <a:lnTo>
                    <a:pt x="522" y="96"/>
                  </a:lnTo>
                  <a:lnTo>
                    <a:pt x="540" y="93"/>
                  </a:lnTo>
                  <a:lnTo>
                    <a:pt x="557" y="110"/>
                  </a:lnTo>
                  <a:lnTo>
                    <a:pt x="551" y="122"/>
                  </a:lnTo>
                  <a:lnTo>
                    <a:pt x="544" y="126"/>
                  </a:lnTo>
                  <a:lnTo>
                    <a:pt x="551" y="144"/>
                  </a:lnTo>
                  <a:lnTo>
                    <a:pt x="538" y="147"/>
                  </a:lnTo>
                  <a:lnTo>
                    <a:pt x="515" y="142"/>
                  </a:lnTo>
                  <a:lnTo>
                    <a:pt x="517" y="158"/>
                  </a:lnTo>
                  <a:lnTo>
                    <a:pt x="519" y="172"/>
                  </a:lnTo>
                  <a:lnTo>
                    <a:pt x="525" y="179"/>
                  </a:lnTo>
                  <a:lnTo>
                    <a:pt x="504" y="177"/>
                  </a:lnTo>
                  <a:lnTo>
                    <a:pt x="487" y="184"/>
                  </a:lnTo>
                  <a:lnTo>
                    <a:pt x="497" y="188"/>
                  </a:lnTo>
                  <a:lnTo>
                    <a:pt x="503" y="201"/>
                  </a:lnTo>
                  <a:lnTo>
                    <a:pt x="510" y="214"/>
                  </a:lnTo>
                  <a:lnTo>
                    <a:pt x="510" y="218"/>
                  </a:lnTo>
                  <a:lnTo>
                    <a:pt x="507" y="221"/>
                  </a:lnTo>
                  <a:lnTo>
                    <a:pt x="489" y="210"/>
                  </a:lnTo>
                  <a:lnTo>
                    <a:pt x="469" y="212"/>
                  </a:lnTo>
                  <a:lnTo>
                    <a:pt x="450" y="214"/>
                  </a:lnTo>
                  <a:lnTo>
                    <a:pt x="430" y="214"/>
                  </a:lnTo>
                  <a:lnTo>
                    <a:pt x="417" y="213"/>
                  </a:lnTo>
                  <a:lnTo>
                    <a:pt x="408" y="222"/>
                  </a:lnTo>
                  <a:lnTo>
                    <a:pt x="394" y="221"/>
                  </a:lnTo>
                  <a:lnTo>
                    <a:pt x="378" y="219"/>
                  </a:lnTo>
                  <a:lnTo>
                    <a:pt x="369" y="226"/>
                  </a:lnTo>
                  <a:lnTo>
                    <a:pt x="355" y="237"/>
                  </a:lnTo>
                  <a:lnTo>
                    <a:pt x="341" y="246"/>
                  </a:lnTo>
                  <a:lnTo>
                    <a:pt x="328" y="239"/>
                  </a:lnTo>
                  <a:lnTo>
                    <a:pt x="313" y="232"/>
                  </a:lnTo>
                  <a:lnTo>
                    <a:pt x="312" y="218"/>
                  </a:lnTo>
                  <a:lnTo>
                    <a:pt x="297" y="207"/>
                  </a:lnTo>
                  <a:lnTo>
                    <a:pt x="281" y="206"/>
                  </a:lnTo>
                  <a:lnTo>
                    <a:pt x="265" y="204"/>
                  </a:lnTo>
                  <a:lnTo>
                    <a:pt x="251" y="203"/>
                  </a:lnTo>
                  <a:lnTo>
                    <a:pt x="235" y="202"/>
                  </a:lnTo>
                  <a:lnTo>
                    <a:pt x="221" y="185"/>
                  </a:lnTo>
                  <a:lnTo>
                    <a:pt x="202" y="176"/>
                  </a:lnTo>
                  <a:lnTo>
                    <a:pt x="183" y="165"/>
                  </a:lnTo>
                  <a:lnTo>
                    <a:pt x="166" y="172"/>
                  </a:lnTo>
                  <a:lnTo>
                    <a:pt x="148" y="178"/>
                  </a:lnTo>
                  <a:lnTo>
                    <a:pt x="151" y="195"/>
                  </a:lnTo>
                  <a:lnTo>
                    <a:pt x="155" y="210"/>
                  </a:lnTo>
                  <a:lnTo>
                    <a:pt x="160" y="226"/>
                  </a:lnTo>
                  <a:lnTo>
                    <a:pt x="163" y="243"/>
                  </a:lnTo>
                  <a:lnTo>
                    <a:pt x="147" y="237"/>
                  </a:lnTo>
                  <a:lnTo>
                    <a:pt x="130" y="232"/>
                  </a:lnTo>
                  <a:lnTo>
                    <a:pt x="131" y="220"/>
                  </a:lnTo>
                  <a:lnTo>
                    <a:pt x="106" y="220"/>
                  </a:lnTo>
                  <a:lnTo>
                    <a:pt x="94" y="215"/>
                  </a:lnTo>
                  <a:lnTo>
                    <a:pt x="88" y="212"/>
                  </a:lnTo>
                  <a:lnTo>
                    <a:pt x="75" y="194"/>
                  </a:lnTo>
                  <a:lnTo>
                    <a:pt x="67" y="189"/>
                  </a:lnTo>
                  <a:lnTo>
                    <a:pt x="84" y="188"/>
                  </a:lnTo>
                  <a:lnTo>
                    <a:pt x="77" y="182"/>
                  </a:lnTo>
                  <a:lnTo>
                    <a:pt x="85" y="174"/>
                  </a:lnTo>
                  <a:lnTo>
                    <a:pt x="103" y="174"/>
                  </a:lnTo>
                  <a:lnTo>
                    <a:pt x="100" y="167"/>
                  </a:lnTo>
                  <a:lnTo>
                    <a:pt x="96" y="148"/>
                  </a:lnTo>
                  <a:lnTo>
                    <a:pt x="77" y="1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8" name="Freeform 267"/>
            <p:cNvSpPr>
              <a:spLocks/>
            </p:cNvSpPr>
            <p:nvPr/>
          </p:nvSpPr>
          <p:spPr bwMode="auto">
            <a:xfrm>
              <a:off x="3156" y="1827"/>
              <a:ext cx="133" cy="52"/>
            </a:xfrm>
            <a:custGeom>
              <a:avLst/>
              <a:gdLst/>
              <a:ahLst/>
              <a:cxnLst>
                <a:cxn ang="0">
                  <a:pos x="24" y="17"/>
                </a:cxn>
                <a:cxn ang="0">
                  <a:pos x="0" y="3"/>
                </a:cxn>
                <a:cxn ang="0">
                  <a:pos x="1" y="0"/>
                </a:cxn>
                <a:cxn ang="0">
                  <a:pos x="17" y="2"/>
                </a:cxn>
                <a:cxn ang="0">
                  <a:pos x="33" y="3"/>
                </a:cxn>
                <a:cxn ang="0">
                  <a:pos x="55" y="12"/>
                </a:cxn>
                <a:cxn ang="0">
                  <a:pos x="77" y="21"/>
                </a:cxn>
                <a:cxn ang="0">
                  <a:pos x="98" y="29"/>
                </a:cxn>
                <a:cxn ang="0">
                  <a:pos x="120" y="38"/>
                </a:cxn>
                <a:cxn ang="0">
                  <a:pos x="115" y="46"/>
                </a:cxn>
                <a:cxn ang="0">
                  <a:pos x="101" y="45"/>
                </a:cxn>
                <a:cxn ang="0">
                  <a:pos x="79" y="44"/>
                </a:cxn>
                <a:cxn ang="0">
                  <a:pos x="57" y="44"/>
                </a:cxn>
                <a:cxn ang="0">
                  <a:pos x="39" y="45"/>
                </a:cxn>
                <a:cxn ang="0">
                  <a:pos x="38" y="32"/>
                </a:cxn>
                <a:cxn ang="0">
                  <a:pos x="24" y="17"/>
                </a:cxn>
              </a:cxnLst>
              <a:rect l="0" t="0" r="r" b="b"/>
              <a:pathLst>
                <a:path w="120" h="46">
                  <a:moveTo>
                    <a:pt x="24" y="17"/>
                  </a:moveTo>
                  <a:lnTo>
                    <a:pt x="0" y="3"/>
                  </a:lnTo>
                  <a:lnTo>
                    <a:pt x="1" y="0"/>
                  </a:lnTo>
                  <a:lnTo>
                    <a:pt x="17" y="2"/>
                  </a:lnTo>
                  <a:lnTo>
                    <a:pt x="33" y="3"/>
                  </a:lnTo>
                  <a:lnTo>
                    <a:pt x="55" y="12"/>
                  </a:lnTo>
                  <a:lnTo>
                    <a:pt x="77" y="21"/>
                  </a:lnTo>
                  <a:lnTo>
                    <a:pt x="98" y="29"/>
                  </a:lnTo>
                  <a:lnTo>
                    <a:pt x="120" y="38"/>
                  </a:lnTo>
                  <a:lnTo>
                    <a:pt x="115" y="46"/>
                  </a:lnTo>
                  <a:lnTo>
                    <a:pt x="101" y="45"/>
                  </a:lnTo>
                  <a:lnTo>
                    <a:pt x="79" y="44"/>
                  </a:lnTo>
                  <a:lnTo>
                    <a:pt x="57" y="44"/>
                  </a:lnTo>
                  <a:lnTo>
                    <a:pt x="39" y="45"/>
                  </a:lnTo>
                  <a:lnTo>
                    <a:pt x="38" y="32"/>
                  </a:lnTo>
                  <a:lnTo>
                    <a:pt x="24"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9" name="Freeform 268"/>
            <p:cNvSpPr>
              <a:spLocks/>
            </p:cNvSpPr>
            <p:nvPr/>
          </p:nvSpPr>
          <p:spPr bwMode="auto">
            <a:xfrm>
              <a:off x="3662" y="1841"/>
              <a:ext cx="158" cy="80"/>
            </a:xfrm>
            <a:custGeom>
              <a:avLst/>
              <a:gdLst/>
              <a:ahLst/>
              <a:cxnLst>
                <a:cxn ang="0">
                  <a:pos x="46" y="41"/>
                </a:cxn>
                <a:cxn ang="0">
                  <a:pos x="31" y="32"/>
                </a:cxn>
                <a:cxn ang="0">
                  <a:pos x="10" y="29"/>
                </a:cxn>
                <a:cxn ang="0">
                  <a:pos x="0" y="16"/>
                </a:cxn>
                <a:cxn ang="0">
                  <a:pos x="9" y="9"/>
                </a:cxn>
                <a:cxn ang="0">
                  <a:pos x="25" y="11"/>
                </a:cxn>
                <a:cxn ang="0">
                  <a:pos x="39" y="12"/>
                </a:cxn>
                <a:cxn ang="0">
                  <a:pos x="48" y="3"/>
                </a:cxn>
                <a:cxn ang="0">
                  <a:pos x="61" y="4"/>
                </a:cxn>
                <a:cxn ang="0">
                  <a:pos x="81" y="4"/>
                </a:cxn>
                <a:cxn ang="0">
                  <a:pos x="100" y="2"/>
                </a:cxn>
                <a:cxn ang="0">
                  <a:pos x="120" y="0"/>
                </a:cxn>
                <a:cxn ang="0">
                  <a:pos x="138" y="11"/>
                </a:cxn>
                <a:cxn ang="0">
                  <a:pos x="141" y="20"/>
                </a:cxn>
                <a:cxn ang="0">
                  <a:pos x="130" y="29"/>
                </a:cxn>
                <a:cxn ang="0">
                  <a:pos x="120" y="38"/>
                </a:cxn>
                <a:cxn ang="0">
                  <a:pos x="104" y="42"/>
                </a:cxn>
                <a:cxn ang="0">
                  <a:pos x="94" y="53"/>
                </a:cxn>
                <a:cxn ang="0">
                  <a:pos x="86" y="51"/>
                </a:cxn>
                <a:cxn ang="0">
                  <a:pos x="79" y="52"/>
                </a:cxn>
                <a:cxn ang="0">
                  <a:pos x="68" y="58"/>
                </a:cxn>
                <a:cxn ang="0">
                  <a:pos x="62" y="71"/>
                </a:cxn>
                <a:cxn ang="0">
                  <a:pos x="37" y="69"/>
                </a:cxn>
                <a:cxn ang="0">
                  <a:pos x="12" y="65"/>
                </a:cxn>
                <a:cxn ang="0">
                  <a:pos x="10" y="53"/>
                </a:cxn>
                <a:cxn ang="0">
                  <a:pos x="28" y="47"/>
                </a:cxn>
                <a:cxn ang="0">
                  <a:pos x="46" y="41"/>
                </a:cxn>
              </a:cxnLst>
              <a:rect l="0" t="0" r="r" b="b"/>
              <a:pathLst>
                <a:path w="141" h="71">
                  <a:moveTo>
                    <a:pt x="46" y="41"/>
                  </a:moveTo>
                  <a:lnTo>
                    <a:pt x="31" y="32"/>
                  </a:lnTo>
                  <a:lnTo>
                    <a:pt x="10" y="29"/>
                  </a:lnTo>
                  <a:lnTo>
                    <a:pt x="0" y="16"/>
                  </a:lnTo>
                  <a:lnTo>
                    <a:pt x="9" y="9"/>
                  </a:lnTo>
                  <a:lnTo>
                    <a:pt x="25" y="11"/>
                  </a:lnTo>
                  <a:lnTo>
                    <a:pt x="39" y="12"/>
                  </a:lnTo>
                  <a:lnTo>
                    <a:pt x="48" y="3"/>
                  </a:lnTo>
                  <a:lnTo>
                    <a:pt x="61" y="4"/>
                  </a:lnTo>
                  <a:lnTo>
                    <a:pt x="81" y="4"/>
                  </a:lnTo>
                  <a:lnTo>
                    <a:pt x="100" y="2"/>
                  </a:lnTo>
                  <a:lnTo>
                    <a:pt x="120" y="0"/>
                  </a:lnTo>
                  <a:lnTo>
                    <a:pt x="138" y="11"/>
                  </a:lnTo>
                  <a:lnTo>
                    <a:pt x="141" y="20"/>
                  </a:lnTo>
                  <a:lnTo>
                    <a:pt x="130" y="29"/>
                  </a:lnTo>
                  <a:lnTo>
                    <a:pt x="120" y="38"/>
                  </a:lnTo>
                  <a:lnTo>
                    <a:pt x="104" y="42"/>
                  </a:lnTo>
                  <a:lnTo>
                    <a:pt x="94" y="53"/>
                  </a:lnTo>
                  <a:lnTo>
                    <a:pt x="86" y="51"/>
                  </a:lnTo>
                  <a:lnTo>
                    <a:pt x="79" y="52"/>
                  </a:lnTo>
                  <a:lnTo>
                    <a:pt x="68" y="58"/>
                  </a:lnTo>
                  <a:lnTo>
                    <a:pt x="62" y="71"/>
                  </a:lnTo>
                  <a:lnTo>
                    <a:pt x="37" y="69"/>
                  </a:lnTo>
                  <a:lnTo>
                    <a:pt x="12" y="65"/>
                  </a:lnTo>
                  <a:lnTo>
                    <a:pt x="10" y="53"/>
                  </a:lnTo>
                  <a:lnTo>
                    <a:pt x="28" y="47"/>
                  </a:lnTo>
                  <a:lnTo>
                    <a:pt x="46" y="4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0" name="Freeform 269"/>
            <p:cNvSpPr>
              <a:spLocks/>
            </p:cNvSpPr>
            <p:nvPr/>
          </p:nvSpPr>
          <p:spPr bwMode="auto">
            <a:xfrm>
              <a:off x="3369" y="1852"/>
              <a:ext cx="242" cy="149"/>
            </a:xfrm>
            <a:custGeom>
              <a:avLst/>
              <a:gdLst/>
              <a:ahLst/>
              <a:cxnLst>
                <a:cxn ang="0">
                  <a:pos x="206" y="104"/>
                </a:cxn>
                <a:cxn ang="0">
                  <a:pos x="200" y="119"/>
                </a:cxn>
                <a:cxn ang="0">
                  <a:pos x="187" y="126"/>
                </a:cxn>
                <a:cxn ang="0">
                  <a:pos x="182" y="134"/>
                </a:cxn>
                <a:cxn ang="0">
                  <a:pos x="174" y="133"/>
                </a:cxn>
                <a:cxn ang="0">
                  <a:pos x="159" y="128"/>
                </a:cxn>
                <a:cxn ang="0">
                  <a:pos x="153" y="110"/>
                </a:cxn>
                <a:cxn ang="0">
                  <a:pos x="140" y="108"/>
                </a:cxn>
                <a:cxn ang="0">
                  <a:pos x="127" y="100"/>
                </a:cxn>
                <a:cxn ang="0">
                  <a:pos x="114" y="91"/>
                </a:cxn>
                <a:cxn ang="0">
                  <a:pos x="90" y="83"/>
                </a:cxn>
                <a:cxn ang="0">
                  <a:pos x="75" y="84"/>
                </a:cxn>
                <a:cxn ang="0">
                  <a:pos x="59" y="86"/>
                </a:cxn>
                <a:cxn ang="0">
                  <a:pos x="48" y="97"/>
                </a:cxn>
                <a:cxn ang="0">
                  <a:pos x="43" y="97"/>
                </a:cxn>
                <a:cxn ang="0">
                  <a:pos x="39" y="83"/>
                </a:cxn>
                <a:cxn ang="0">
                  <a:pos x="35" y="67"/>
                </a:cxn>
                <a:cxn ang="0">
                  <a:pos x="26" y="61"/>
                </a:cxn>
                <a:cxn ang="0">
                  <a:pos x="25" y="62"/>
                </a:cxn>
                <a:cxn ang="0">
                  <a:pos x="27" y="59"/>
                </a:cxn>
                <a:cxn ang="0">
                  <a:pos x="30" y="56"/>
                </a:cxn>
                <a:cxn ang="0">
                  <a:pos x="26" y="50"/>
                </a:cxn>
                <a:cxn ang="0">
                  <a:pos x="19" y="52"/>
                </a:cxn>
                <a:cxn ang="0">
                  <a:pos x="19" y="53"/>
                </a:cxn>
                <a:cxn ang="0">
                  <a:pos x="14" y="35"/>
                </a:cxn>
                <a:cxn ang="0">
                  <a:pos x="17" y="34"/>
                </a:cxn>
                <a:cxn ang="0">
                  <a:pos x="25" y="34"/>
                </a:cxn>
                <a:cxn ang="0">
                  <a:pos x="32" y="38"/>
                </a:cxn>
                <a:cxn ang="0">
                  <a:pos x="36" y="37"/>
                </a:cxn>
                <a:cxn ang="0">
                  <a:pos x="37" y="35"/>
                </a:cxn>
                <a:cxn ang="0">
                  <a:pos x="39" y="30"/>
                </a:cxn>
                <a:cxn ang="0">
                  <a:pos x="25" y="14"/>
                </a:cxn>
                <a:cxn ang="0">
                  <a:pos x="12" y="13"/>
                </a:cxn>
                <a:cxn ang="0">
                  <a:pos x="13" y="28"/>
                </a:cxn>
                <a:cxn ang="0">
                  <a:pos x="13" y="30"/>
                </a:cxn>
                <a:cxn ang="0">
                  <a:pos x="3" y="11"/>
                </a:cxn>
                <a:cxn ang="0">
                  <a:pos x="5" y="2"/>
                </a:cxn>
                <a:cxn ang="0">
                  <a:pos x="0" y="0"/>
                </a:cxn>
                <a:cxn ang="0">
                  <a:pos x="25" y="0"/>
                </a:cxn>
                <a:cxn ang="0">
                  <a:pos x="24" y="12"/>
                </a:cxn>
                <a:cxn ang="0">
                  <a:pos x="41" y="17"/>
                </a:cxn>
                <a:cxn ang="0">
                  <a:pos x="57" y="23"/>
                </a:cxn>
                <a:cxn ang="0">
                  <a:pos x="78" y="26"/>
                </a:cxn>
                <a:cxn ang="0">
                  <a:pos x="74" y="17"/>
                </a:cxn>
                <a:cxn ang="0">
                  <a:pos x="81" y="13"/>
                </a:cxn>
                <a:cxn ang="0">
                  <a:pos x="93" y="0"/>
                </a:cxn>
                <a:cxn ang="0">
                  <a:pos x="113" y="13"/>
                </a:cxn>
                <a:cxn ang="0">
                  <a:pos x="125" y="31"/>
                </a:cxn>
                <a:cxn ang="0">
                  <a:pos x="144" y="38"/>
                </a:cxn>
                <a:cxn ang="0">
                  <a:pos x="157" y="46"/>
                </a:cxn>
                <a:cxn ang="0">
                  <a:pos x="182" y="61"/>
                </a:cxn>
                <a:cxn ang="0">
                  <a:pos x="207" y="77"/>
                </a:cxn>
                <a:cxn ang="0">
                  <a:pos x="217" y="95"/>
                </a:cxn>
                <a:cxn ang="0">
                  <a:pos x="211" y="100"/>
                </a:cxn>
                <a:cxn ang="0">
                  <a:pos x="206" y="104"/>
                </a:cxn>
              </a:cxnLst>
              <a:rect l="0" t="0" r="r" b="b"/>
              <a:pathLst>
                <a:path w="217" h="134">
                  <a:moveTo>
                    <a:pt x="206" y="104"/>
                  </a:moveTo>
                  <a:lnTo>
                    <a:pt x="200" y="119"/>
                  </a:lnTo>
                  <a:lnTo>
                    <a:pt x="187" y="126"/>
                  </a:lnTo>
                  <a:lnTo>
                    <a:pt x="182" y="134"/>
                  </a:lnTo>
                  <a:lnTo>
                    <a:pt x="174" y="133"/>
                  </a:lnTo>
                  <a:lnTo>
                    <a:pt x="159" y="128"/>
                  </a:lnTo>
                  <a:lnTo>
                    <a:pt x="153" y="110"/>
                  </a:lnTo>
                  <a:lnTo>
                    <a:pt x="140" y="108"/>
                  </a:lnTo>
                  <a:lnTo>
                    <a:pt x="127" y="100"/>
                  </a:lnTo>
                  <a:lnTo>
                    <a:pt x="114" y="91"/>
                  </a:lnTo>
                  <a:lnTo>
                    <a:pt x="90" y="83"/>
                  </a:lnTo>
                  <a:lnTo>
                    <a:pt x="75" y="84"/>
                  </a:lnTo>
                  <a:lnTo>
                    <a:pt x="59" y="86"/>
                  </a:lnTo>
                  <a:lnTo>
                    <a:pt x="48" y="97"/>
                  </a:lnTo>
                  <a:lnTo>
                    <a:pt x="43" y="97"/>
                  </a:lnTo>
                  <a:lnTo>
                    <a:pt x="39" y="83"/>
                  </a:lnTo>
                  <a:lnTo>
                    <a:pt x="35" y="67"/>
                  </a:lnTo>
                  <a:lnTo>
                    <a:pt x="26" y="61"/>
                  </a:lnTo>
                  <a:lnTo>
                    <a:pt x="25" y="62"/>
                  </a:lnTo>
                  <a:lnTo>
                    <a:pt x="27" y="59"/>
                  </a:lnTo>
                  <a:lnTo>
                    <a:pt x="30" y="56"/>
                  </a:lnTo>
                  <a:lnTo>
                    <a:pt x="26" y="50"/>
                  </a:lnTo>
                  <a:lnTo>
                    <a:pt x="19" y="52"/>
                  </a:lnTo>
                  <a:lnTo>
                    <a:pt x="19" y="53"/>
                  </a:lnTo>
                  <a:lnTo>
                    <a:pt x="14" y="35"/>
                  </a:lnTo>
                  <a:lnTo>
                    <a:pt x="17" y="34"/>
                  </a:lnTo>
                  <a:lnTo>
                    <a:pt x="25" y="34"/>
                  </a:lnTo>
                  <a:lnTo>
                    <a:pt x="32" y="38"/>
                  </a:lnTo>
                  <a:lnTo>
                    <a:pt x="36" y="37"/>
                  </a:lnTo>
                  <a:lnTo>
                    <a:pt x="37" y="35"/>
                  </a:lnTo>
                  <a:lnTo>
                    <a:pt x="39" y="30"/>
                  </a:lnTo>
                  <a:lnTo>
                    <a:pt x="25" y="14"/>
                  </a:lnTo>
                  <a:lnTo>
                    <a:pt x="12" y="13"/>
                  </a:lnTo>
                  <a:lnTo>
                    <a:pt x="13" y="28"/>
                  </a:lnTo>
                  <a:lnTo>
                    <a:pt x="13" y="30"/>
                  </a:lnTo>
                  <a:lnTo>
                    <a:pt x="3" y="11"/>
                  </a:lnTo>
                  <a:lnTo>
                    <a:pt x="5" y="2"/>
                  </a:lnTo>
                  <a:lnTo>
                    <a:pt x="0" y="0"/>
                  </a:lnTo>
                  <a:lnTo>
                    <a:pt x="25" y="0"/>
                  </a:lnTo>
                  <a:lnTo>
                    <a:pt x="24" y="12"/>
                  </a:lnTo>
                  <a:lnTo>
                    <a:pt x="41" y="17"/>
                  </a:lnTo>
                  <a:lnTo>
                    <a:pt x="57" y="23"/>
                  </a:lnTo>
                  <a:lnTo>
                    <a:pt x="78" y="26"/>
                  </a:lnTo>
                  <a:lnTo>
                    <a:pt x="74" y="17"/>
                  </a:lnTo>
                  <a:lnTo>
                    <a:pt x="81" y="13"/>
                  </a:lnTo>
                  <a:lnTo>
                    <a:pt x="93" y="0"/>
                  </a:lnTo>
                  <a:lnTo>
                    <a:pt x="113" y="13"/>
                  </a:lnTo>
                  <a:lnTo>
                    <a:pt x="125" y="31"/>
                  </a:lnTo>
                  <a:lnTo>
                    <a:pt x="144" y="38"/>
                  </a:lnTo>
                  <a:lnTo>
                    <a:pt x="157" y="46"/>
                  </a:lnTo>
                  <a:lnTo>
                    <a:pt x="182" y="61"/>
                  </a:lnTo>
                  <a:lnTo>
                    <a:pt x="207" y="77"/>
                  </a:lnTo>
                  <a:lnTo>
                    <a:pt x="217" y="95"/>
                  </a:lnTo>
                  <a:lnTo>
                    <a:pt x="211" y="100"/>
                  </a:lnTo>
                  <a:lnTo>
                    <a:pt x="206" y="10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1" name="Freeform 270"/>
            <p:cNvSpPr>
              <a:spLocks/>
            </p:cNvSpPr>
            <p:nvPr/>
          </p:nvSpPr>
          <p:spPr bwMode="auto">
            <a:xfrm>
              <a:off x="3542" y="1939"/>
              <a:ext cx="222" cy="180"/>
            </a:xfrm>
            <a:custGeom>
              <a:avLst/>
              <a:gdLst/>
              <a:ahLst/>
              <a:cxnLst>
                <a:cxn ang="0">
                  <a:pos x="1" y="71"/>
                </a:cxn>
                <a:cxn ang="0">
                  <a:pos x="0" y="73"/>
                </a:cxn>
                <a:cxn ang="0">
                  <a:pos x="0" y="83"/>
                </a:cxn>
                <a:cxn ang="0">
                  <a:pos x="6" y="88"/>
                </a:cxn>
                <a:cxn ang="0">
                  <a:pos x="4" y="91"/>
                </a:cxn>
                <a:cxn ang="0">
                  <a:pos x="8" y="106"/>
                </a:cxn>
                <a:cxn ang="0">
                  <a:pos x="10" y="121"/>
                </a:cxn>
                <a:cxn ang="0">
                  <a:pos x="26" y="126"/>
                </a:cxn>
                <a:cxn ang="0">
                  <a:pos x="28" y="133"/>
                </a:cxn>
                <a:cxn ang="0">
                  <a:pos x="18" y="154"/>
                </a:cxn>
                <a:cxn ang="0">
                  <a:pos x="31" y="157"/>
                </a:cxn>
                <a:cxn ang="0">
                  <a:pos x="43" y="162"/>
                </a:cxn>
                <a:cxn ang="0">
                  <a:pos x="67" y="161"/>
                </a:cxn>
                <a:cxn ang="0">
                  <a:pos x="84" y="157"/>
                </a:cxn>
                <a:cxn ang="0">
                  <a:pos x="99" y="154"/>
                </a:cxn>
                <a:cxn ang="0">
                  <a:pos x="99" y="146"/>
                </a:cxn>
                <a:cxn ang="0">
                  <a:pos x="102" y="132"/>
                </a:cxn>
                <a:cxn ang="0">
                  <a:pos x="116" y="126"/>
                </a:cxn>
                <a:cxn ang="0">
                  <a:pos x="121" y="121"/>
                </a:cxn>
                <a:cxn ang="0">
                  <a:pos x="135" y="121"/>
                </a:cxn>
                <a:cxn ang="0">
                  <a:pos x="136" y="102"/>
                </a:cxn>
                <a:cxn ang="0">
                  <a:pos x="148" y="91"/>
                </a:cxn>
                <a:cxn ang="0">
                  <a:pos x="140" y="82"/>
                </a:cxn>
                <a:cxn ang="0">
                  <a:pos x="153" y="80"/>
                </a:cxn>
                <a:cxn ang="0">
                  <a:pos x="156" y="72"/>
                </a:cxn>
                <a:cxn ang="0">
                  <a:pos x="160" y="59"/>
                </a:cxn>
                <a:cxn ang="0">
                  <a:pos x="152" y="44"/>
                </a:cxn>
                <a:cxn ang="0">
                  <a:pos x="159" y="34"/>
                </a:cxn>
                <a:cxn ang="0">
                  <a:pos x="177" y="29"/>
                </a:cxn>
                <a:cxn ang="0">
                  <a:pos x="195" y="25"/>
                </a:cxn>
                <a:cxn ang="0">
                  <a:pos x="195" y="22"/>
                </a:cxn>
                <a:cxn ang="0">
                  <a:pos x="199" y="22"/>
                </a:cxn>
                <a:cxn ang="0">
                  <a:pos x="200" y="22"/>
                </a:cxn>
                <a:cxn ang="0">
                  <a:pos x="187" y="20"/>
                </a:cxn>
                <a:cxn ang="0">
                  <a:pos x="182" y="19"/>
                </a:cxn>
                <a:cxn ang="0">
                  <a:pos x="170" y="20"/>
                </a:cxn>
                <a:cxn ang="0">
                  <a:pos x="152" y="30"/>
                </a:cxn>
                <a:cxn ang="0">
                  <a:pos x="146" y="8"/>
                </a:cxn>
                <a:cxn ang="0">
                  <a:pos x="142" y="8"/>
                </a:cxn>
                <a:cxn ang="0">
                  <a:pos x="138" y="0"/>
                </a:cxn>
                <a:cxn ang="0">
                  <a:pos x="130" y="4"/>
                </a:cxn>
                <a:cxn ang="0">
                  <a:pos x="128" y="14"/>
                </a:cxn>
                <a:cxn ang="0">
                  <a:pos x="117" y="19"/>
                </a:cxn>
                <a:cxn ang="0">
                  <a:pos x="114" y="23"/>
                </a:cxn>
                <a:cxn ang="0">
                  <a:pos x="104" y="23"/>
                </a:cxn>
                <a:cxn ang="0">
                  <a:pos x="96" y="24"/>
                </a:cxn>
                <a:cxn ang="0">
                  <a:pos x="91" y="22"/>
                </a:cxn>
                <a:cxn ang="0">
                  <a:pos x="76" y="19"/>
                </a:cxn>
                <a:cxn ang="0">
                  <a:pos x="62" y="17"/>
                </a:cxn>
                <a:cxn ang="0">
                  <a:pos x="56" y="22"/>
                </a:cxn>
                <a:cxn ang="0">
                  <a:pos x="51" y="26"/>
                </a:cxn>
                <a:cxn ang="0">
                  <a:pos x="45" y="41"/>
                </a:cxn>
                <a:cxn ang="0">
                  <a:pos x="32" y="48"/>
                </a:cxn>
                <a:cxn ang="0">
                  <a:pos x="27" y="56"/>
                </a:cxn>
                <a:cxn ang="0">
                  <a:pos x="19" y="55"/>
                </a:cxn>
                <a:cxn ang="0">
                  <a:pos x="4" y="50"/>
                </a:cxn>
                <a:cxn ang="0">
                  <a:pos x="1" y="71"/>
                </a:cxn>
              </a:cxnLst>
              <a:rect l="0" t="0" r="r" b="b"/>
              <a:pathLst>
                <a:path w="200" h="162">
                  <a:moveTo>
                    <a:pt x="1" y="71"/>
                  </a:moveTo>
                  <a:lnTo>
                    <a:pt x="0" y="73"/>
                  </a:lnTo>
                  <a:lnTo>
                    <a:pt x="0" y="83"/>
                  </a:lnTo>
                  <a:lnTo>
                    <a:pt x="6" y="88"/>
                  </a:lnTo>
                  <a:lnTo>
                    <a:pt x="4" y="91"/>
                  </a:lnTo>
                  <a:lnTo>
                    <a:pt x="8" y="106"/>
                  </a:lnTo>
                  <a:lnTo>
                    <a:pt x="10" y="121"/>
                  </a:lnTo>
                  <a:lnTo>
                    <a:pt x="26" y="126"/>
                  </a:lnTo>
                  <a:lnTo>
                    <a:pt x="28" y="133"/>
                  </a:lnTo>
                  <a:lnTo>
                    <a:pt x="18" y="154"/>
                  </a:lnTo>
                  <a:lnTo>
                    <a:pt x="31" y="157"/>
                  </a:lnTo>
                  <a:lnTo>
                    <a:pt x="43" y="162"/>
                  </a:lnTo>
                  <a:lnTo>
                    <a:pt x="67" y="161"/>
                  </a:lnTo>
                  <a:lnTo>
                    <a:pt x="84" y="157"/>
                  </a:lnTo>
                  <a:lnTo>
                    <a:pt x="99" y="154"/>
                  </a:lnTo>
                  <a:lnTo>
                    <a:pt x="99" y="146"/>
                  </a:lnTo>
                  <a:lnTo>
                    <a:pt x="102" y="132"/>
                  </a:lnTo>
                  <a:lnTo>
                    <a:pt x="116" y="126"/>
                  </a:lnTo>
                  <a:lnTo>
                    <a:pt x="121" y="121"/>
                  </a:lnTo>
                  <a:lnTo>
                    <a:pt x="135" y="121"/>
                  </a:lnTo>
                  <a:lnTo>
                    <a:pt x="136" y="102"/>
                  </a:lnTo>
                  <a:lnTo>
                    <a:pt x="148" y="91"/>
                  </a:lnTo>
                  <a:lnTo>
                    <a:pt x="140" y="82"/>
                  </a:lnTo>
                  <a:lnTo>
                    <a:pt x="153" y="80"/>
                  </a:lnTo>
                  <a:lnTo>
                    <a:pt x="156" y="72"/>
                  </a:lnTo>
                  <a:lnTo>
                    <a:pt x="160" y="59"/>
                  </a:lnTo>
                  <a:lnTo>
                    <a:pt x="152" y="44"/>
                  </a:lnTo>
                  <a:lnTo>
                    <a:pt x="159" y="34"/>
                  </a:lnTo>
                  <a:lnTo>
                    <a:pt x="177" y="29"/>
                  </a:lnTo>
                  <a:lnTo>
                    <a:pt x="195" y="25"/>
                  </a:lnTo>
                  <a:lnTo>
                    <a:pt x="195" y="22"/>
                  </a:lnTo>
                  <a:lnTo>
                    <a:pt x="199" y="22"/>
                  </a:lnTo>
                  <a:lnTo>
                    <a:pt x="200" y="22"/>
                  </a:lnTo>
                  <a:lnTo>
                    <a:pt x="187" y="20"/>
                  </a:lnTo>
                  <a:lnTo>
                    <a:pt x="182" y="19"/>
                  </a:lnTo>
                  <a:lnTo>
                    <a:pt x="170" y="20"/>
                  </a:lnTo>
                  <a:lnTo>
                    <a:pt x="152" y="30"/>
                  </a:lnTo>
                  <a:lnTo>
                    <a:pt x="146" y="8"/>
                  </a:lnTo>
                  <a:lnTo>
                    <a:pt x="142" y="8"/>
                  </a:lnTo>
                  <a:lnTo>
                    <a:pt x="138" y="0"/>
                  </a:lnTo>
                  <a:lnTo>
                    <a:pt x="130" y="4"/>
                  </a:lnTo>
                  <a:lnTo>
                    <a:pt x="128" y="14"/>
                  </a:lnTo>
                  <a:lnTo>
                    <a:pt x="117" y="19"/>
                  </a:lnTo>
                  <a:lnTo>
                    <a:pt x="114" y="23"/>
                  </a:lnTo>
                  <a:lnTo>
                    <a:pt x="104" y="23"/>
                  </a:lnTo>
                  <a:lnTo>
                    <a:pt x="96" y="24"/>
                  </a:lnTo>
                  <a:lnTo>
                    <a:pt x="91" y="22"/>
                  </a:lnTo>
                  <a:lnTo>
                    <a:pt x="76" y="19"/>
                  </a:lnTo>
                  <a:lnTo>
                    <a:pt x="62" y="17"/>
                  </a:lnTo>
                  <a:lnTo>
                    <a:pt x="56" y="22"/>
                  </a:lnTo>
                  <a:lnTo>
                    <a:pt x="51" y="26"/>
                  </a:lnTo>
                  <a:lnTo>
                    <a:pt x="45" y="41"/>
                  </a:lnTo>
                  <a:lnTo>
                    <a:pt x="32" y="48"/>
                  </a:lnTo>
                  <a:lnTo>
                    <a:pt x="27" y="56"/>
                  </a:lnTo>
                  <a:lnTo>
                    <a:pt x="19" y="55"/>
                  </a:lnTo>
                  <a:lnTo>
                    <a:pt x="4" y="50"/>
                  </a:lnTo>
                  <a:lnTo>
                    <a:pt x="1" y="7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2" name="Freeform 271"/>
            <p:cNvSpPr>
              <a:spLocks/>
            </p:cNvSpPr>
            <p:nvPr/>
          </p:nvSpPr>
          <p:spPr bwMode="auto">
            <a:xfrm>
              <a:off x="3069" y="1994"/>
              <a:ext cx="35" cy="20"/>
            </a:xfrm>
            <a:custGeom>
              <a:avLst/>
              <a:gdLst/>
              <a:ahLst/>
              <a:cxnLst>
                <a:cxn ang="0">
                  <a:pos x="31" y="0"/>
                </a:cxn>
                <a:cxn ang="0">
                  <a:pos x="12" y="6"/>
                </a:cxn>
                <a:cxn ang="0">
                  <a:pos x="0" y="11"/>
                </a:cxn>
                <a:cxn ang="0">
                  <a:pos x="5" y="19"/>
                </a:cxn>
                <a:cxn ang="0">
                  <a:pos x="23" y="13"/>
                </a:cxn>
                <a:cxn ang="0">
                  <a:pos x="21" y="10"/>
                </a:cxn>
                <a:cxn ang="0">
                  <a:pos x="31" y="0"/>
                </a:cxn>
              </a:cxnLst>
              <a:rect l="0" t="0" r="r" b="b"/>
              <a:pathLst>
                <a:path w="31" h="19">
                  <a:moveTo>
                    <a:pt x="31" y="0"/>
                  </a:moveTo>
                  <a:lnTo>
                    <a:pt x="12" y="6"/>
                  </a:lnTo>
                  <a:lnTo>
                    <a:pt x="0" y="11"/>
                  </a:lnTo>
                  <a:lnTo>
                    <a:pt x="5" y="19"/>
                  </a:lnTo>
                  <a:lnTo>
                    <a:pt x="23" y="13"/>
                  </a:lnTo>
                  <a:lnTo>
                    <a:pt x="21" y="10"/>
                  </a:lnTo>
                  <a:lnTo>
                    <a:pt x="3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3" name="Line 271"/>
            <p:cNvSpPr>
              <a:spLocks noChangeShapeType="1"/>
            </p:cNvSpPr>
            <p:nvPr/>
          </p:nvSpPr>
          <p:spPr bwMode="auto">
            <a:xfrm>
              <a:off x="3753" y="1967"/>
              <a:ext cx="2" cy="5"/>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4" name="Line 272"/>
            <p:cNvSpPr>
              <a:spLocks noChangeShapeType="1"/>
            </p:cNvSpPr>
            <p:nvPr/>
          </p:nvSpPr>
          <p:spPr bwMode="auto">
            <a:xfrm>
              <a:off x="3755" y="1970"/>
              <a:ext cx="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5" name="Line 273"/>
            <p:cNvSpPr>
              <a:spLocks noChangeShapeType="1"/>
            </p:cNvSpPr>
            <p:nvPr/>
          </p:nvSpPr>
          <p:spPr bwMode="auto">
            <a:xfrm flipH="1">
              <a:off x="3749" y="1974"/>
              <a:ext cx="6"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6" name="Line 274"/>
            <p:cNvSpPr>
              <a:spLocks noChangeShapeType="1"/>
            </p:cNvSpPr>
            <p:nvPr/>
          </p:nvSpPr>
          <p:spPr bwMode="auto">
            <a:xfrm flipH="1">
              <a:off x="3747" y="1976"/>
              <a:ext cx="4" cy="5"/>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7" name="Line 275"/>
            <p:cNvSpPr>
              <a:spLocks noChangeShapeType="1"/>
            </p:cNvSpPr>
            <p:nvPr/>
          </p:nvSpPr>
          <p:spPr bwMode="auto">
            <a:xfrm flipH="1">
              <a:off x="3742" y="1981"/>
              <a:ext cx="5"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8" name="Line 276"/>
            <p:cNvSpPr>
              <a:spLocks noChangeShapeType="1"/>
            </p:cNvSpPr>
            <p:nvPr/>
          </p:nvSpPr>
          <p:spPr bwMode="auto">
            <a:xfrm flipH="1">
              <a:off x="3740" y="1981"/>
              <a:ext cx="2" cy="6"/>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9" name="Line 277"/>
            <p:cNvSpPr>
              <a:spLocks noChangeShapeType="1"/>
            </p:cNvSpPr>
            <p:nvPr/>
          </p:nvSpPr>
          <p:spPr bwMode="auto">
            <a:xfrm>
              <a:off x="3740" y="1985"/>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0" name="Line 278"/>
            <p:cNvSpPr>
              <a:spLocks noChangeShapeType="1"/>
            </p:cNvSpPr>
            <p:nvPr/>
          </p:nvSpPr>
          <p:spPr bwMode="auto">
            <a:xfrm>
              <a:off x="3740" y="1990"/>
              <a:ext cx="2" cy="9"/>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1" name="Line 279"/>
            <p:cNvSpPr>
              <a:spLocks noChangeShapeType="1"/>
            </p:cNvSpPr>
            <p:nvPr/>
          </p:nvSpPr>
          <p:spPr bwMode="auto">
            <a:xfrm>
              <a:off x="3742" y="1996"/>
              <a:ext cx="5"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2" name="Line 280"/>
            <p:cNvSpPr>
              <a:spLocks noChangeShapeType="1"/>
            </p:cNvSpPr>
            <p:nvPr/>
          </p:nvSpPr>
          <p:spPr bwMode="auto">
            <a:xfrm>
              <a:off x="3744" y="2001"/>
              <a:ext cx="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3" name="Line 281"/>
            <p:cNvSpPr>
              <a:spLocks noChangeShapeType="1"/>
            </p:cNvSpPr>
            <p:nvPr/>
          </p:nvSpPr>
          <p:spPr bwMode="auto">
            <a:xfrm>
              <a:off x="3755" y="2027"/>
              <a:ext cx="3" cy="3"/>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4" name="Line 282"/>
            <p:cNvSpPr>
              <a:spLocks noChangeShapeType="1"/>
            </p:cNvSpPr>
            <p:nvPr/>
          </p:nvSpPr>
          <p:spPr bwMode="auto">
            <a:xfrm>
              <a:off x="3755" y="2027"/>
              <a:ext cx="9"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5" name="Line 283"/>
            <p:cNvSpPr>
              <a:spLocks noChangeShapeType="1"/>
            </p:cNvSpPr>
            <p:nvPr/>
          </p:nvSpPr>
          <p:spPr bwMode="auto">
            <a:xfrm>
              <a:off x="3762" y="2032"/>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6" name="Line 284"/>
            <p:cNvSpPr>
              <a:spLocks noChangeShapeType="1"/>
            </p:cNvSpPr>
            <p:nvPr/>
          </p:nvSpPr>
          <p:spPr bwMode="auto">
            <a:xfrm>
              <a:off x="3762" y="2036"/>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7" name="Line 285"/>
            <p:cNvSpPr>
              <a:spLocks noChangeShapeType="1"/>
            </p:cNvSpPr>
            <p:nvPr/>
          </p:nvSpPr>
          <p:spPr bwMode="auto">
            <a:xfrm>
              <a:off x="3764" y="2043"/>
              <a:ext cx="7"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8" name="Line 286"/>
            <p:cNvSpPr>
              <a:spLocks noChangeShapeType="1"/>
            </p:cNvSpPr>
            <p:nvPr/>
          </p:nvSpPr>
          <p:spPr bwMode="auto">
            <a:xfrm>
              <a:off x="3769" y="2045"/>
              <a:ext cx="6"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9" name="Line 287"/>
            <p:cNvSpPr>
              <a:spLocks noChangeShapeType="1"/>
            </p:cNvSpPr>
            <p:nvPr/>
          </p:nvSpPr>
          <p:spPr bwMode="auto">
            <a:xfrm flipV="1">
              <a:off x="3851" y="2021"/>
              <a:ext cx="9" cy="6"/>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0" name="Line 288"/>
            <p:cNvSpPr>
              <a:spLocks noChangeShapeType="1"/>
            </p:cNvSpPr>
            <p:nvPr/>
          </p:nvSpPr>
          <p:spPr bwMode="auto">
            <a:xfrm flipV="1">
              <a:off x="3858" y="2012"/>
              <a:ext cx="2" cy="11"/>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1" name="Line 289"/>
            <p:cNvSpPr>
              <a:spLocks noChangeShapeType="1"/>
            </p:cNvSpPr>
            <p:nvPr/>
          </p:nvSpPr>
          <p:spPr bwMode="auto">
            <a:xfrm flipV="1">
              <a:off x="3860" y="1996"/>
              <a:ext cx="2" cy="18"/>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2" name="Line 290"/>
            <p:cNvSpPr>
              <a:spLocks noChangeShapeType="1"/>
            </p:cNvSpPr>
            <p:nvPr/>
          </p:nvSpPr>
          <p:spPr bwMode="auto">
            <a:xfrm flipH="1" flipV="1">
              <a:off x="3849" y="1992"/>
              <a:ext cx="1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3" name="Line 291"/>
            <p:cNvSpPr>
              <a:spLocks noChangeShapeType="1"/>
            </p:cNvSpPr>
            <p:nvPr/>
          </p:nvSpPr>
          <p:spPr bwMode="auto">
            <a:xfrm flipH="1" flipV="1">
              <a:off x="3847" y="1990"/>
              <a:ext cx="2"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4" name="Line 292"/>
            <p:cNvSpPr>
              <a:spLocks noChangeShapeType="1"/>
            </p:cNvSpPr>
            <p:nvPr/>
          </p:nvSpPr>
          <p:spPr bwMode="auto">
            <a:xfrm flipH="1">
              <a:off x="3820" y="1996"/>
              <a:ext cx="2" cy="3"/>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5" name="Freeform 294"/>
            <p:cNvSpPr>
              <a:spLocks/>
            </p:cNvSpPr>
            <p:nvPr/>
          </p:nvSpPr>
          <p:spPr bwMode="auto">
            <a:xfrm>
              <a:off x="3120" y="2014"/>
              <a:ext cx="20" cy="31"/>
            </a:xfrm>
            <a:custGeom>
              <a:avLst/>
              <a:gdLst/>
              <a:ahLst/>
              <a:cxnLst>
                <a:cxn ang="0">
                  <a:pos x="17" y="16"/>
                </a:cxn>
                <a:cxn ang="0">
                  <a:pos x="7" y="25"/>
                </a:cxn>
                <a:cxn ang="0">
                  <a:pos x="0" y="29"/>
                </a:cxn>
                <a:cxn ang="0">
                  <a:pos x="5" y="15"/>
                </a:cxn>
                <a:cxn ang="0">
                  <a:pos x="10" y="0"/>
                </a:cxn>
                <a:cxn ang="0">
                  <a:pos x="19" y="5"/>
                </a:cxn>
                <a:cxn ang="0">
                  <a:pos x="17" y="16"/>
                </a:cxn>
              </a:cxnLst>
              <a:rect l="0" t="0" r="r" b="b"/>
              <a:pathLst>
                <a:path w="19" h="29">
                  <a:moveTo>
                    <a:pt x="17" y="16"/>
                  </a:moveTo>
                  <a:lnTo>
                    <a:pt x="7" y="25"/>
                  </a:lnTo>
                  <a:lnTo>
                    <a:pt x="0" y="29"/>
                  </a:lnTo>
                  <a:lnTo>
                    <a:pt x="5" y="15"/>
                  </a:lnTo>
                  <a:lnTo>
                    <a:pt x="10" y="0"/>
                  </a:lnTo>
                  <a:lnTo>
                    <a:pt x="19" y="5"/>
                  </a:lnTo>
                  <a:lnTo>
                    <a:pt x="17"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6" name="Freeform 295"/>
            <p:cNvSpPr>
              <a:spLocks/>
            </p:cNvSpPr>
            <p:nvPr/>
          </p:nvSpPr>
          <p:spPr bwMode="auto">
            <a:xfrm>
              <a:off x="3127" y="1963"/>
              <a:ext cx="102" cy="98"/>
            </a:xfrm>
            <a:custGeom>
              <a:avLst/>
              <a:gdLst/>
              <a:ahLst/>
              <a:cxnLst>
                <a:cxn ang="0">
                  <a:pos x="59" y="6"/>
                </a:cxn>
                <a:cxn ang="0">
                  <a:pos x="36" y="6"/>
                </a:cxn>
                <a:cxn ang="0">
                  <a:pos x="13" y="7"/>
                </a:cxn>
                <a:cxn ang="0">
                  <a:pos x="9" y="9"/>
                </a:cxn>
                <a:cxn ang="0">
                  <a:pos x="7" y="17"/>
                </a:cxn>
                <a:cxn ang="0">
                  <a:pos x="1" y="23"/>
                </a:cxn>
                <a:cxn ang="0">
                  <a:pos x="0" y="21"/>
                </a:cxn>
                <a:cxn ang="0">
                  <a:pos x="4" y="44"/>
                </a:cxn>
                <a:cxn ang="0">
                  <a:pos x="13" y="49"/>
                </a:cxn>
                <a:cxn ang="0">
                  <a:pos x="11" y="60"/>
                </a:cxn>
                <a:cxn ang="0">
                  <a:pos x="1" y="69"/>
                </a:cxn>
                <a:cxn ang="0">
                  <a:pos x="3" y="79"/>
                </a:cxn>
                <a:cxn ang="0">
                  <a:pos x="22" y="86"/>
                </a:cxn>
                <a:cxn ang="0">
                  <a:pos x="35" y="77"/>
                </a:cxn>
                <a:cxn ang="0">
                  <a:pos x="49" y="67"/>
                </a:cxn>
                <a:cxn ang="0">
                  <a:pos x="64" y="59"/>
                </a:cxn>
                <a:cxn ang="0">
                  <a:pos x="79" y="49"/>
                </a:cxn>
                <a:cxn ang="0">
                  <a:pos x="79" y="31"/>
                </a:cxn>
                <a:cxn ang="0">
                  <a:pos x="79" y="14"/>
                </a:cxn>
                <a:cxn ang="0">
                  <a:pos x="93" y="1"/>
                </a:cxn>
                <a:cxn ang="0">
                  <a:pos x="88" y="0"/>
                </a:cxn>
                <a:cxn ang="0">
                  <a:pos x="73" y="2"/>
                </a:cxn>
                <a:cxn ang="0">
                  <a:pos x="59" y="6"/>
                </a:cxn>
              </a:cxnLst>
              <a:rect l="0" t="0" r="r" b="b"/>
              <a:pathLst>
                <a:path w="93" h="86">
                  <a:moveTo>
                    <a:pt x="59" y="6"/>
                  </a:moveTo>
                  <a:lnTo>
                    <a:pt x="36" y="6"/>
                  </a:lnTo>
                  <a:lnTo>
                    <a:pt x="13" y="7"/>
                  </a:lnTo>
                  <a:lnTo>
                    <a:pt x="9" y="9"/>
                  </a:lnTo>
                  <a:lnTo>
                    <a:pt x="7" y="17"/>
                  </a:lnTo>
                  <a:lnTo>
                    <a:pt x="1" y="23"/>
                  </a:lnTo>
                  <a:lnTo>
                    <a:pt x="0" y="21"/>
                  </a:lnTo>
                  <a:lnTo>
                    <a:pt x="4" y="44"/>
                  </a:lnTo>
                  <a:lnTo>
                    <a:pt x="13" y="49"/>
                  </a:lnTo>
                  <a:lnTo>
                    <a:pt x="11" y="60"/>
                  </a:lnTo>
                  <a:lnTo>
                    <a:pt x="1" y="69"/>
                  </a:lnTo>
                  <a:lnTo>
                    <a:pt x="3" y="79"/>
                  </a:lnTo>
                  <a:lnTo>
                    <a:pt x="22" y="86"/>
                  </a:lnTo>
                  <a:lnTo>
                    <a:pt x="35" y="77"/>
                  </a:lnTo>
                  <a:lnTo>
                    <a:pt x="49" y="67"/>
                  </a:lnTo>
                  <a:lnTo>
                    <a:pt x="64" y="59"/>
                  </a:lnTo>
                  <a:lnTo>
                    <a:pt x="79" y="49"/>
                  </a:lnTo>
                  <a:lnTo>
                    <a:pt x="79" y="31"/>
                  </a:lnTo>
                  <a:lnTo>
                    <a:pt x="79" y="14"/>
                  </a:lnTo>
                  <a:lnTo>
                    <a:pt x="93" y="1"/>
                  </a:lnTo>
                  <a:lnTo>
                    <a:pt x="88" y="0"/>
                  </a:lnTo>
                  <a:lnTo>
                    <a:pt x="73" y="2"/>
                  </a:lnTo>
                  <a:lnTo>
                    <a:pt x="5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7" name="Freeform 296"/>
            <p:cNvSpPr>
              <a:spLocks/>
            </p:cNvSpPr>
            <p:nvPr/>
          </p:nvSpPr>
          <p:spPr bwMode="auto">
            <a:xfrm>
              <a:off x="3629" y="1874"/>
              <a:ext cx="138" cy="98"/>
            </a:xfrm>
            <a:custGeom>
              <a:avLst/>
              <a:gdLst/>
              <a:ahLst/>
              <a:cxnLst>
                <a:cxn ang="0">
                  <a:pos x="104" y="78"/>
                </a:cxn>
                <a:cxn ang="0">
                  <a:pos x="92" y="79"/>
                </a:cxn>
                <a:cxn ang="0">
                  <a:pos x="74" y="89"/>
                </a:cxn>
                <a:cxn ang="0">
                  <a:pos x="68" y="67"/>
                </a:cxn>
                <a:cxn ang="0">
                  <a:pos x="64" y="67"/>
                </a:cxn>
                <a:cxn ang="0">
                  <a:pos x="60" y="59"/>
                </a:cxn>
                <a:cxn ang="0">
                  <a:pos x="52" y="63"/>
                </a:cxn>
                <a:cxn ang="0">
                  <a:pos x="50" y="73"/>
                </a:cxn>
                <a:cxn ang="0">
                  <a:pos x="39" y="78"/>
                </a:cxn>
                <a:cxn ang="0">
                  <a:pos x="36" y="82"/>
                </a:cxn>
                <a:cxn ang="0">
                  <a:pos x="26" y="82"/>
                </a:cxn>
                <a:cxn ang="0">
                  <a:pos x="18" y="83"/>
                </a:cxn>
                <a:cxn ang="0">
                  <a:pos x="13" y="81"/>
                </a:cxn>
                <a:cxn ang="0">
                  <a:pos x="16" y="69"/>
                </a:cxn>
                <a:cxn ang="0">
                  <a:pos x="20" y="57"/>
                </a:cxn>
                <a:cxn ang="0">
                  <a:pos x="16" y="51"/>
                </a:cxn>
                <a:cxn ang="0">
                  <a:pos x="6" y="45"/>
                </a:cxn>
                <a:cxn ang="0">
                  <a:pos x="0" y="37"/>
                </a:cxn>
                <a:cxn ang="0">
                  <a:pos x="14" y="23"/>
                </a:cxn>
                <a:cxn ang="0">
                  <a:pos x="30" y="10"/>
                </a:cxn>
                <a:cxn ang="0">
                  <a:pos x="40" y="0"/>
                </a:cxn>
                <a:cxn ang="0">
                  <a:pos x="61" y="3"/>
                </a:cxn>
                <a:cxn ang="0">
                  <a:pos x="76" y="12"/>
                </a:cxn>
                <a:cxn ang="0">
                  <a:pos x="58" y="18"/>
                </a:cxn>
                <a:cxn ang="0">
                  <a:pos x="40" y="24"/>
                </a:cxn>
                <a:cxn ang="0">
                  <a:pos x="42" y="36"/>
                </a:cxn>
                <a:cxn ang="0">
                  <a:pos x="67" y="40"/>
                </a:cxn>
                <a:cxn ang="0">
                  <a:pos x="92" y="42"/>
                </a:cxn>
                <a:cxn ang="0">
                  <a:pos x="100" y="57"/>
                </a:cxn>
                <a:cxn ang="0">
                  <a:pos x="115" y="58"/>
                </a:cxn>
                <a:cxn ang="0">
                  <a:pos x="123" y="79"/>
                </a:cxn>
                <a:cxn ang="0">
                  <a:pos x="122" y="81"/>
                </a:cxn>
                <a:cxn ang="0">
                  <a:pos x="109" y="79"/>
                </a:cxn>
                <a:cxn ang="0">
                  <a:pos x="104" y="78"/>
                </a:cxn>
              </a:cxnLst>
              <a:rect l="0" t="0" r="r" b="b"/>
              <a:pathLst>
                <a:path w="123" h="89">
                  <a:moveTo>
                    <a:pt x="104" y="78"/>
                  </a:moveTo>
                  <a:lnTo>
                    <a:pt x="92" y="79"/>
                  </a:lnTo>
                  <a:lnTo>
                    <a:pt x="74" y="89"/>
                  </a:lnTo>
                  <a:lnTo>
                    <a:pt x="68" y="67"/>
                  </a:lnTo>
                  <a:lnTo>
                    <a:pt x="64" y="67"/>
                  </a:lnTo>
                  <a:lnTo>
                    <a:pt x="60" y="59"/>
                  </a:lnTo>
                  <a:lnTo>
                    <a:pt x="52" y="63"/>
                  </a:lnTo>
                  <a:lnTo>
                    <a:pt x="50" y="73"/>
                  </a:lnTo>
                  <a:lnTo>
                    <a:pt x="39" y="78"/>
                  </a:lnTo>
                  <a:lnTo>
                    <a:pt x="36" y="82"/>
                  </a:lnTo>
                  <a:lnTo>
                    <a:pt x="26" y="82"/>
                  </a:lnTo>
                  <a:lnTo>
                    <a:pt x="18" y="83"/>
                  </a:lnTo>
                  <a:lnTo>
                    <a:pt x="13" y="81"/>
                  </a:lnTo>
                  <a:lnTo>
                    <a:pt x="16" y="69"/>
                  </a:lnTo>
                  <a:lnTo>
                    <a:pt x="20" y="57"/>
                  </a:lnTo>
                  <a:lnTo>
                    <a:pt x="16" y="51"/>
                  </a:lnTo>
                  <a:lnTo>
                    <a:pt x="6" y="45"/>
                  </a:lnTo>
                  <a:lnTo>
                    <a:pt x="0" y="37"/>
                  </a:lnTo>
                  <a:lnTo>
                    <a:pt x="14" y="23"/>
                  </a:lnTo>
                  <a:lnTo>
                    <a:pt x="30" y="10"/>
                  </a:lnTo>
                  <a:lnTo>
                    <a:pt x="40" y="0"/>
                  </a:lnTo>
                  <a:lnTo>
                    <a:pt x="61" y="3"/>
                  </a:lnTo>
                  <a:lnTo>
                    <a:pt x="76" y="12"/>
                  </a:lnTo>
                  <a:lnTo>
                    <a:pt x="58" y="18"/>
                  </a:lnTo>
                  <a:lnTo>
                    <a:pt x="40" y="24"/>
                  </a:lnTo>
                  <a:lnTo>
                    <a:pt x="42" y="36"/>
                  </a:lnTo>
                  <a:lnTo>
                    <a:pt x="67" y="40"/>
                  </a:lnTo>
                  <a:lnTo>
                    <a:pt x="92" y="42"/>
                  </a:lnTo>
                  <a:lnTo>
                    <a:pt x="100" y="57"/>
                  </a:lnTo>
                  <a:lnTo>
                    <a:pt x="115" y="58"/>
                  </a:lnTo>
                  <a:lnTo>
                    <a:pt x="123" y="79"/>
                  </a:lnTo>
                  <a:lnTo>
                    <a:pt x="122" y="81"/>
                  </a:lnTo>
                  <a:lnTo>
                    <a:pt x="109" y="79"/>
                  </a:lnTo>
                  <a:lnTo>
                    <a:pt x="104" y="7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8" name="Freeform 297"/>
            <p:cNvSpPr>
              <a:spLocks/>
            </p:cNvSpPr>
            <p:nvPr/>
          </p:nvSpPr>
          <p:spPr bwMode="auto">
            <a:xfrm>
              <a:off x="3415" y="1790"/>
              <a:ext cx="258" cy="173"/>
            </a:xfrm>
            <a:custGeom>
              <a:avLst/>
              <a:gdLst/>
              <a:ahLst/>
              <a:cxnLst>
                <a:cxn ang="0">
                  <a:pos x="165" y="132"/>
                </a:cxn>
                <a:cxn ang="0">
                  <a:pos x="140" y="116"/>
                </a:cxn>
                <a:cxn ang="0">
                  <a:pos x="115" y="101"/>
                </a:cxn>
                <a:cxn ang="0">
                  <a:pos x="102" y="93"/>
                </a:cxn>
                <a:cxn ang="0">
                  <a:pos x="83" y="86"/>
                </a:cxn>
                <a:cxn ang="0">
                  <a:pos x="71" y="68"/>
                </a:cxn>
                <a:cxn ang="0">
                  <a:pos x="51" y="55"/>
                </a:cxn>
                <a:cxn ang="0">
                  <a:pos x="39" y="68"/>
                </a:cxn>
                <a:cxn ang="0">
                  <a:pos x="32" y="72"/>
                </a:cxn>
                <a:cxn ang="0">
                  <a:pos x="36" y="81"/>
                </a:cxn>
                <a:cxn ang="0">
                  <a:pos x="15" y="78"/>
                </a:cxn>
                <a:cxn ang="0">
                  <a:pos x="12" y="61"/>
                </a:cxn>
                <a:cxn ang="0">
                  <a:pos x="7" y="45"/>
                </a:cxn>
                <a:cxn ang="0">
                  <a:pos x="3" y="30"/>
                </a:cxn>
                <a:cxn ang="0">
                  <a:pos x="0" y="13"/>
                </a:cxn>
                <a:cxn ang="0">
                  <a:pos x="18" y="7"/>
                </a:cxn>
                <a:cxn ang="0">
                  <a:pos x="35" y="0"/>
                </a:cxn>
                <a:cxn ang="0">
                  <a:pos x="54" y="11"/>
                </a:cxn>
                <a:cxn ang="0">
                  <a:pos x="73" y="20"/>
                </a:cxn>
                <a:cxn ang="0">
                  <a:pos x="87" y="37"/>
                </a:cxn>
                <a:cxn ang="0">
                  <a:pos x="103" y="38"/>
                </a:cxn>
                <a:cxn ang="0">
                  <a:pos x="117" y="39"/>
                </a:cxn>
                <a:cxn ang="0">
                  <a:pos x="133" y="41"/>
                </a:cxn>
                <a:cxn ang="0">
                  <a:pos x="149" y="42"/>
                </a:cxn>
                <a:cxn ang="0">
                  <a:pos x="164" y="53"/>
                </a:cxn>
                <a:cxn ang="0">
                  <a:pos x="165" y="67"/>
                </a:cxn>
                <a:cxn ang="0">
                  <a:pos x="180" y="74"/>
                </a:cxn>
                <a:cxn ang="0">
                  <a:pos x="193" y="81"/>
                </a:cxn>
                <a:cxn ang="0">
                  <a:pos x="207" y="72"/>
                </a:cxn>
                <a:cxn ang="0">
                  <a:pos x="221" y="61"/>
                </a:cxn>
                <a:cxn ang="0">
                  <a:pos x="231" y="74"/>
                </a:cxn>
                <a:cxn ang="0">
                  <a:pos x="221" y="84"/>
                </a:cxn>
                <a:cxn ang="0">
                  <a:pos x="205" y="97"/>
                </a:cxn>
                <a:cxn ang="0">
                  <a:pos x="191" y="111"/>
                </a:cxn>
                <a:cxn ang="0">
                  <a:pos x="197" y="119"/>
                </a:cxn>
                <a:cxn ang="0">
                  <a:pos x="207" y="125"/>
                </a:cxn>
                <a:cxn ang="0">
                  <a:pos x="211" y="131"/>
                </a:cxn>
                <a:cxn ang="0">
                  <a:pos x="207" y="143"/>
                </a:cxn>
                <a:cxn ang="0">
                  <a:pos x="204" y="155"/>
                </a:cxn>
                <a:cxn ang="0">
                  <a:pos x="189" y="152"/>
                </a:cxn>
                <a:cxn ang="0">
                  <a:pos x="175" y="150"/>
                </a:cxn>
                <a:cxn ang="0">
                  <a:pos x="165" y="132"/>
                </a:cxn>
              </a:cxnLst>
              <a:rect l="0" t="0" r="r" b="b"/>
              <a:pathLst>
                <a:path w="231" h="155">
                  <a:moveTo>
                    <a:pt x="165" y="132"/>
                  </a:moveTo>
                  <a:lnTo>
                    <a:pt x="140" y="116"/>
                  </a:lnTo>
                  <a:lnTo>
                    <a:pt x="115" y="101"/>
                  </a:lnTo>
                  <a:lnTo>
                    <a:pt x="102" y="93"/>
                  </a:lnTo>
                  <a:lnTo>
                    <a:pt x="83" y="86"/>
                  </a:lnTo>
                  <a:lnTo>
                    <a:pt x="71" y="68"/>
                  </a:lnTo>
                  <a:lnTo>
                    <a:pt x="51" y="55"/>
                  </a:lnTo>
                  <a:lnTo>
                    <a:pt x="39" y="68"/>
                  </a:lnTo>
                  <a:lnTo>
                    <a:pt x="32" y="72"/>
                  </a:lnTo>
                  <a:lnTo>
                    <a:pt x="36" y="81"/>
                  </a:lnTo>
                  <a:lnTo>
                    <a:pt x="15" y="78"/>
                  </a:lnTo>
                  <a:lnTo>
                    <a:pt x="12" y="61"/>
                  </a:lnTo>
                  <a:lnTo>
                    <a:pt x="7" y="45"/>
                  </a:lnTo>
                  <a:lnTo>
                    <a:pt x="3" y="30"/>
                  </a:lnTo>
                  <a:lnTo>
                    <a:pt x="0" y="13"/>
                  </a:lnTo>
                  <a:lnTo>
                    <a:pt x="18" y="7"/>
                  </a:lnTo>
                  <a:lnTo>
                    <a:pt x="35" y="0"/>
                  </a:lnTo>
                  <a:lnTo>
                    <a:pt x="54" y="11"/>
                  </a:lnTo>
                  <a:lnTo>
                    <a:pt x="73" y="20"/>
                  </a:lnTo>
                  <a:lnTo>
                    <a:pt x="87" y="37"/>
                  </a:lnTo>
                  <a:lnTo>
                    <a:pt x="103" y="38"/>
                  </a:lnTo>
                  <a:lnTo>
                    <a:pt x="117" y="39"/>
                  </a:lnTo>
                  <a:lnTo>
                    <a:pt x="133" y="41"/>
                  </a:lnTo>
                  <a:lnTo>
                    <a:pt x="149" y="42"/>
                  </a:lnTo>
                  <a:lnTo>
                    <a:pt x="164" y="53"/>
                  </a:lnTo>
                  <a:lnTo>
                    <a:pt x="165" y="67"/>
                  </a:lnTo>
                  <a:lnTo>
                    <a:pt x="180" y="74"/>
                  </a:lnTo>
                  <a:lnTo>
                    <a:pt x="193" y="81"/>
                  </a:lnTo>
                  <a:lnTo>
                    <a:pt x="207" y="72"/>
                  </a:lnTo>
                  <a:lnTo>
                    <a:pt x="221" y="61"/>
                  </a:lnTo>
                  <a:lnTo>
                    <a:pt x="231" y="74"/>
                  </a:lnTo>
                  <a:lnTo>
                    <a:pt x="221" y="84"/>
                  </a:lnTo>
                  <a:lnTo>
                    <a:pt x="205" y="97"/>
                  </a:lnTo>
                  <a:lnTo>
                    <a:pt x="191" y="111"/>
                  </a:lnTo>
                  <a:lnTo>
                    <a:pt x="197" y="119"/>
                  </a:lnTo>
                  <a:lnTo>
                    <a:pt x="207" y="125"/>
                  </a:lnTo>
                  <a:lnTo>
                    <a:pt x="211" y="131"/>
                  </a:lnTo>
                  <a:lnTo>
                    <a:pt x="207" y="143"/>
                  </a:lnTo>
                  <a:lnTo>
                    <a:pt x="204" y="155"/>
                  </a:lnTo>
                  <a:lnTo>
                    <a:pt x="189" y="152"/>
                  </a:lnTo>
                  <a:lnTo>
                    <a:pt x="175" y="150"/>
                  </a:lnTo>
                  <a:lnTo>
                    <a:pt x="165" y="1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9" name="Freeform 298"/>
            <p:cNvSpPr>
              <a:spLocks/>
            </p:cNvSpPr>
            <p:nvPr/>
          </p:nvSpPr>
          <p:spPr bwMode="auto">
            <a:xfrm>
              <a:off x="2860" y="1861"/>
              <a:ext cx="40" cy="29"/>
            </a:xfrm>
            <a:custGeom>
              <a:avLst/>
              <a:gdLst/>
              <a:ahLst/>
              <a:cxnLst>
                <a:cxn ang="0">
                  <a:pos x="10" y="27"/>
                </a:cxn>
                <a:cxn ang="0">
                  <a:pos x="0" y="9"/>
                </a:cxn>
                <a:cxn ang="0">
                  <a:pos x="3" y="8"/>
                </a:cxn>
                <a:cxn ang="0">
                  <a:pos x="3" y="5"/>
                </a:cxn>
                <a:cxn ang="0">
                  <a:pos x="8" y="4"/>
                </a:cxn>
                <a:cxn ang="0">
                  <a:pos x="11" y="5"/>
                </a:cxn>
                <a:cxn ang="0">
                  <a:pos x="14" y="2"/>
                </a:cxn>
                <a:cxn ang="0">
                  <a:pos x="16" y="3"/>
                </a:cxn>
                <a:cxn ang="0">
                  <a:pos x="18" y="3"/>
                </a:cxn>
                <a:cxn ang="0">
                  <a:pos x="21" y="2"/>
                </a:cxn>
                <a:cxn ang="0">
                  <a:pos x="26" y="0"/>
                </a:cxn>
                <a:cxn ang="0">
                  <a:pos x="29" y="4"/>
                </a:cxn>
                <a:cxn ang="0">
                  <a:pos x="32" y="3"/>
                </a:cxn>
                <a:cxn ang="0">
                  <a:pos x="34" y="5"/>
                </a:cxn>
                <a:cxn ang="0">
                  <a:pos x="36" y="18"/>
                </a:cxn>
                <a:cxn ang="0">
                  <a:pos x="10" y="27"/>
                </a:cxn>
              </a:cxnLst>
              <a:rect l="0" t="0" r="r" b="b"/>
              <a:pathLst>
                <a:path w="36" h="27">
                  <a:moveTo>
                    <a:pt x="10" y="27"/>
                  </a:moveTo>
                  <a:lnTo>
                    <a:pt x="0" y="9"/>
                  </a:lnTo>
                  <a:lnTo>
                    <a:pt x="3" y="8"/>
                  </a:lnTo>
                  <a:lnTo>
                    <a:pt x="3" y="5"/>
                  </a:lnTo>
                  <a:lnTo>
                    <a:pt x="8" y="4"/>
                  </a:lnTo>
                  <a:lnTo>
                    <a:pt x="11" y="5"/>
                  </a:lnTo>
                  <a:lnTo>
                    <a:pt x="14" y="2"/>
                  </a:lnTo>
                  <a:lnTo>
                    <a:pt x="16" y="3"/>
                  </a:lnTo>
                  <a:lnTo>
                    <a:pt x="18" y="3"/>
                  </a:lnTo>
                  <a:lnTo>
                    <a:pt x="21" y="2"/>
                  </a:lnTo>
                  <a:lnTo>
                    <a:pt x="26" y="0"/>
                  </a:lnTo>
                  <a:lnTo>
                    <a:pt x="29" y="4"/>
                  </a:lnTo>
                  <a:lnTo>
                    <a:pt x="32" y="3"/>
                  </a:lnTo>
                  <a:lnTo>
                    <a:pt x="34" y="5"/>
                  </a:lnTo>
                  <a:lnTo>
                    <a:pt x="36" y="18"/>
                  </a:lnTo>
                  <a:lnTo>
                    <a:pt x="1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0" name="Freeform 299"/>
            <p:cNvSpPr>
              <a:spLocks/>
            </p:cNvSpPr>
            <p:nvPr/>
          </p:nvSpPr>
          <p:spPr bwMode="auto">
            <a:xfrm>
              <a:off x="2889" y="1823"/>
              <a:ext cx="98" cy="58"/>
            </a:xfrm>
            <a:custGeom>
              <a:avLst/>
              <a:gdLst/>
              <a:ahLst/>
              <a:cxnLst>
                <a:cxn ang="0">
                  <a:pos x="5" y="5"/>
                </a:cxn>
                <a:cxn ang="0">
                  <a:pos x="1" y="0"/>
                </a:cxn>
                <a:cxn ang="0">
                  <a:pos x="0" y="11"/>
                </a:cxn>
                <a:cxn ang="0">
                  <a:pos x="6" y="20"/>
                </a:cxn>
                <a:cxn ang="0">
                  <a:pos x="0" y="30"/>
                </a:cxn>
                <a:cxn ang="0">
                  <a:pos x="5" y="36"/>
                </a:cxn>
                <a:cxn ang="0">
                  <a:pos x="7" y="38"/>
                </a:cxn>
                <a:cxn ang="0">
                  <a:pos x="9" y="51"/>
                </a:cxn>
                <a:cxn ang="0">
                  <a:pos x="25" y="49"/>
                </a:cxn>
                <a:cxn ang="0">
                  <a:pos x="50" y="51"/>
                </a:cxn>
                <a:cxn ang="0">
                  <a:pos x="56" y="47"/>
                </a:cxn>
                <a:cxn ang="0">
                  <a:pos x="59" y="44"/>
                </a:cxn>
                <a:cxn ang="0">
                  <a:pos x="61" y="41"/>
                </a:cxn>
                <a:cxn ang="0">
                  <a:pos x="83" y="39"/>
                </a:cxn>
                <a:cxn ang="0">
                  <a:pos x="77" y="32"/>
                </a:cxn>
                <a:cxn ang="0">
                  <a:pos x="79" y="25"/>
                </a:cxn>
                <a:cxn ang="0">
                  <a:pos x="83" y="14"/>
                </a:cxn>
                <a:cxn ang="0">
                  <a:pos x="86" y="8"/>
                </a:cxn>
                <a:cxn ang="0">
                  <a:pos x="59" y="2"/>
                </a:cxn>
                <a:cxn ang="0">
                  <a:pos x="37" y="9"/>
                </a:cxn>
                <a:cxn ang="0">
                  <a:pos x="20" y="7"/>
                </a:cxn>
                <a:cxn ang="0">
                  <a:pos x="5" y="5"/>
                </a:cxn>
              </a:cxnLst>
              <a:rect l="0" t="0" r="r" b="b"/>
              <a:pathLst>
                <a:path w="86" h="51">
                  <a:moveTo>
                    <a:pt x="5" y="5"/>
                  </a:moveTo>
                  <a:lnTo>
                    <a:pt x="1" y="0"/>
                  </a:lnTo>
                  <a:lnTo>
                    <a:pt x="0" y="11"/>
                  </a:lnTo>
                  <a:lnTo>
                    <a:pt x="6" y="20"/>
                  </a:lnTo>
                  <a:lnTo>
                    <a:pt x="0" y="30"/>
                  </a:lnTo>
                  <a:lnTo>
                    <a:pt x="5" y="36"/>
                  </a:lnTo>
                  <a:lnTo>
                    <a:pt x="7" y="38"/>
                  </a:lnTo>
                  <a:lnTo>
                    <a:pt x="9" y="51"/>
                  </a:lnTo>
                  <a:lnTo>
                    <a:pt x="25" y="49"/>
                  </a:lnTo>
                  <a:lnTo>
                    <a:pt x="50" y="51"/>
                  </a:lnTo>
                  <a:lnTo>
                    <a:pt x="56" y="47"/>
                  </a:lnTo>
                  <a:lnTo>
                    <a:pt x="59" y="44"/>
                  </a:lnTo>
                  <a:lnTo>
                    <a:pt x="61" y="41"/>
                  </a:lnTo>
                  <a:lnTo>
                    <a:pt x="83" y="39"/>
                  </a:lnTo>
                  <a:lnTo>
                    <a:pt x="77" y="32"/>
                  </a:lnTo>
                  <a:lnTo>
                    <a:pt x="79" y="25"/>
                  </a:lnTo>
                  <a:lnTo>
                    <a:pt x="83" y="14"/>
                  </a:lnTo>
                  <a:lnTo>
                    <a:pt x="86" y="8"/>
                  </a:lnTo>
                  <a:lnTo>
                    <a:pt x="59" y="2"/>
                  </a:lnTo>
                  <a:lnTo>
                    <a:pt x="37" y="9"/>
                  </a:lnTo>
                  <a:lnTo>
                    <a:pt x="20" y="7"/>
                  </a:lnTo>
                  <a:lnTo>
                    <a:pt x="5"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1" name="Freeform 300"/>
            <p:cNvSpPr>
              <a:spLocks/>
            </p:cNvSpPr>
            <p:nvPr/>
          </p:nvSpPr>
          <p:spPr bwMode="auto">
            <a:xfrm>
              <a:off x="2842" y="1856"/>
              <a:ext cx="29" cy="58"/>
            </a:xfrm>
            <a:custGeom>
              <a:avLst/>
              <a:gdLst/>
              <a:ahLst/>
              <a:cxnLst>
                <a:cxn ang="0">
                  <a:pos x="0" y="12"/>
                </a:cxn>
                <a:cxn ang="0">
                  <a:pos x="2" y="36"/>
                </a:cxn>
                <a:cxn ang="0">
                  <a:pos x="13" y="50"/>
                </a:cxn>
                <a:cxn ang="0">
                  <a:pos x="17" y="45"/>
                </a:cxn>
                <a:cxn ang="0">
                  <a:pos x="25" y="31"/>
                </a:cxn>
                <a:cxn ang="0">
                  <a:pos x="25" y="30"/>
                </a:cxn>
                <a:cxn ang="0">
                  <a:pos x="15" y="12"/>
                </a:cxn>
                <a:cxn ang="0">
                  <a:pos x="11" y="2"/>
                </a:cxn>
                <a:cxn ang="0">
                  <a:pos x="2" y="0"/>
                </a:cxn>
                <a:cxn ang="0">
                  <a:pos x="0" y="12"/>
                </a:cxn>
              </a:cxnLst>
              <a:rect l="0" t="0" r="r" b="b"/>
              <a:pathLst>
                <a:path w="25" h="50">
                  <a:moveTo>
                    <a:pt x="0" y="12"/>
                  </a:moveTo>
                  <a:lnTo>
                    <a:pt x="2" y="36"/>
                  </a:lnTo>
                  <a:lnTo>
                    <a:pt x="13" y="50"/>
                  </a:lnTo>
                  <a:lnTo>
                    <a:pt x="17" y="45"/>
                  </a:lnTo>
                  <a:lnTo>
                    <a:pt x="25" y="31"/>
                  </a:lnTo>
                  <a:lnTo>
                    <a:pt x="25" y="30"/>
                  </a:lnTo>
                  <a:lnTo>
                    <a:pt x="15" y="12"/>
                  </a:lnTo>
                  <a:lnTo>
                    <a:pt x="11" y="2"/>
                  </a:lnTo>
                  <a:lnTo>
                    <a:pt x="2" y="0"/>
                  </a:lnTo>
                  <a:lnTo>
                    <a:pt x="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2" name="Freeform 301"/>
            <p:cNvSpPr>
              <a:spLocks/>
            </p:cNvSpPr>
            <p:nvPr/>
          </p:nvSpPr>
          <p:spPr bwMode="auto">
            <a:xfrm>
              <a:off x="3220" y="1876"/>
              <a:ext cx="75" cy="51"/>
            </a:xfrm>
            <a:custGeom>
              <a:avLst/>
              <a:gdLst/>
              <a:ahLst/>
              <a:cxnLst>
                <a:cxn ang="0">
                  <a:pos x="10" y="7"/>
                </a:cxn>
                <a:cxn ang="0">
                  <a:pos x="0" y="0"/>
                </a:cxn>
                <a:cxn ang="0">
                  <a:pos x="22" y="0"/>
                </a:cxn>
                <a:cxn ang="0">
                  <a:pos x="44" y="1"/>
                </a:cxn>
                <a:cxn ang="0">
                  <a:pos x="58" y="2"/>
                </a:cxn>
                <a:cxn ang="0">
                  <a:pos x="57" y="19"/>
                </a:cxn>
                <a:cxn ang="0">
                  <a:pos x="63" y="21"/>
                </a:cxn>
                <a:cxn ang="0">
                  <a:pos x="58" y="27"/>
                </a:cxn>
                <a:cxn ang="0">
                  <a:pos x="69" y="43"/>
                </a:cxn>
                <a:cxn ang="0">
                  <a:pos x="63" y="45"/>
                </a:cxn>
                <a:cxn ang="0">
                  <a:pos x="58" y="42"/>
                </a:cxn>
                <a:cxn ang="0">
                  <a:pos x="57" y="39"/>
                </a:cxn>
                <a:cxn ang="0">
                  <a:pos x="53" y="37"/>
                </a:cxn>
                <a:cxn ang="0">
                  <a:pos x="50" y="37"/>
                </a:cxn>
                <a:cxn ang="0">
                  <a:pos x="46" y="36"/>
                </a:cxn>
                <a:cxn ang="0">
                  <a:pos x="41" y="33"/>
                </a:cxn>
                <a:cxn ang="0">
                  <a:pos x="35" y="33"/>
                </a:cxn>
                <a:cxn ang="0">
                  <a:pos x="22" y="27"/>
                </a:cxn>
                <a:cxn ang="0">
                  <a:pos x="16" y="18"/>
                </a:cxn>
                <a:cxn ang="0">
                  <a:pos x="10" y="7"/>
                </a:cxn>
              </a:cxnLst>
              <a:rect l="0" t="0" r="r" b="b"/>
              <a:pathLst>
                <a:path w="69" h="45">
                  <a:moveTo>
                    <a:pt x="10" y="7"/>
                  </a:moveTo>
                  <a:lnTo>
                    <a:pt x="0" y="0"/>
                  </a:lnTo>
                  <a:lnTo>
                    <a:pt x="22" y="0"/>
                  </a:lnTo>
                  <a:lnTo>
                    <a:pt x="44" y="1"/>
                  </a:lnTo>
                  <a:lnTo>
                    <a:pt x="58" y="2"/>
                  </a:lnTo>
                  <a:lnTo>
                    <a:pt x="57" y="19"/>
                  </a:lnTo>
                  <a:lnTo>
                    <a:pt x="63" y="21"/>
                  </a:lnTo>
                  <a:lnTo>
                    <a:pt x="58" y="27"/>
                  </a:lnTo>
                  <a:lnTo>
                    <a:pt x="69" y="43"/>
                  </a:lnTo>
                  <a:lnTo>
                    <a:pt x="63" y="45"/>
                  </a:lnTo>
                  <a:lnTo>
                    <a:pt x="58" y="42"/>
                  </a:lnTo>
                  <a:lnTo>
                    <a:pt x="57" y="39"/>
                  </a:lnTo>
                  <a:lnTo>
                    <a:pt x="53" y="37"/>
                  </a:lnTo>
                  <a:lnTo>
                    <a:pt x="50" y="37"/>
                  </a:lnTo>
                  <a:lnTo>
                    <a:pt x="46" y="36"/>
                  </a:lnTo>
                  <a:lnTo>
                    <a:pt x="41" y="33"/>
                  </a:lnTo>
                  <a:lnTo>
                    <a:pt x="35" y="33"/>
                  </a:lnTo>
                  <a:lnTo>
                    <a:pt x="22" y="27"/>
                  </a:lnTo>
                  <a:lnTo>
                    <a:pt x="16" y="18"/>
                  </a:lnTo>
                  <a:lnTo>
                    <a:pt x="10"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3" name="Freeform 302"/>
            <p:cNvSpPr>
              <a:spLocks/>
            </p:cNvSpPr>
            <p:nvPr/>
          </p:nvSpPr>
          <p:spPr bwMode="auto">
            <a:xfrm>
              <a:off x="3282" y="1870"/>
              <a:ext cx="67" cy="69"/>
            </a:xfrm>
            <a:custGeom>
              <a:avLst/>
              <a:gdLst/>
              <a:ahLst/>
              <a:cxnLst>
                <a:cxn ang="0">
                  <a:pos x="12" y="49"/>
                </a:cxn>
                <a:cxn ang="0">
                  <a:pos x="1" y="33"/>
                </a:cxn>
                <a:cxn ang="0">
                  <a:pos x="6" y="27"/>
                </a:cxn>
                <a:cxn ang="0">
                  <a:pos x="0" y="25"/>
                </a:cxn>
                <a:cxn ang="0">
                  <a:pos x="1" y="8"/>
                </a:cxn>
                <a:cxn ang="0">
                  <a:pos x="6" y="0"/>
                </a:cxn>
                <a:cxn ang="0">
                  <a:pos x="30" y="4"/>
                </a:cxn>
                <a:cxn ang="0">
                  <a:pos x="38" y="15"/>
                </a:cxn>
                <a:cxn ang="0">
                  <a:pos x="59" y="27"/>
                </a:cxn>
                <a:cxn ang="0">
                  <a:pos x="49" y="30"/>
                </a:cxn>
                <a:cxn ang="0">
                  <a:pos x="44" y="50"/>
                </a:cxn>
                <a:cxn ang="0">
                  <a:pos x="43" y="62"/>
                </a:cxn>
                <a:cxn ang="0">
                  <a:pos x="30" y="52"/>
                </a:cxn>
                <a:cxn ang="0">
                  <a:pos x="31" y="49"/>
                </a:cxn>
                <a:cxn ang="0">
                  <a:pos x="26" y="39"/>
                </a:cxn>
                <a:cxn ang="0">
                  <a:pos x="12" y="49"/>
                </a:cxn>
              </a:cxnLst>
              <a:rect l="0" t="0" r="r" b="b"/>
              <a:pathLst>
                <a:path w="59" h="62">
                  <a:moveTo>
                    <a:pt x="12" y="49"/>
                  </a:moveTo>
                  <a:lnTo>
                    <a:pt x="1" y="33"/>
                  </a:lnTo>
                  <a:lnTo>
                    <a:pt x="6" y="27"/>
                  </a:lnTo>
                  <a:lnTo>
                    <a:pt x="0" y="25"/>
                  </a:lnTo>
                  <a:lnTo>
                    <a:pt x="1" y="8"/>
                  </a:lnTo>
                  <a:lnTo>
                    <a:pt x="6" y="0"/>
                  </a:lnTo>
                  <a:lnTo>
                    <a:pt x="30" y="4"/>
                  </a:lnTo>
                  <a:lnTo>
                    <a:pt x="38" y="15"/>
                  </a:lnTo>
                  <a:lnTo>
                    <a:pt x="59" y="27"/>
                  </a:lnTo>
                  <a:lnTo>
                    <a:pt x="49" y="30"/>
                  </a:lnTo>
                  <a:lnTo>
                    <a:pt x="44" y="50"/>
                  </a:lnTo>
                  <a:lnTo>
                    <a:pt x="43" y="62"/>
                  </a:lnTo>
                  <a:lnTo>
                    <a:pt x="30" y="52"/>
                  </a:lnTo>
                  <a:lnTo>
                    <a:pt x="31" y="49"/>
                  </a:lnTo>
                  <a:lnTo>
                    <a:pt x="26" y="39"/>
                  </a:lnTo>
                  <a:lnTo>
                    <a:pt x="12"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4" name="Freeform 303"/>
            <p:cNvSpPr>
              <a:spLocks/>
            </p:cNvSpPr>
            <p:nvPr/>
          </p:nvSpPr>
          <p:spPr bwMode="auto">
            <a:xfrm>
              <a:off x="3260" y="1914"/>
              <a:ext cx="29" cy="16"/>
            </a:xfrm>
            <a:custGeom>
              <a:avLst/>
              <a:gdLst/>
              <a:ahLst/>
              <a:cxnLst>
                <a:cxn ang="0">
                  <a:pos x="28" y="12"/>
                </a:cxn>
                <a:cxn ang="0">
                  <a:pos x="22" y="15"/>
                </a:cxn>
                <a:cxn ang="0">
                  <a:pos x="4" y="5"/>
                </a:cxn>
                <a:cxn ang="0">
                  <a:pos x="1" y="1"/>
                </a:cxn>
                <a:cxn ang="0">
                  <a:pos x="0" y="0"/>
                </a:cxn>
                <a:cxn ang="0">
                  <a:pos x="6" y="0"/>
                </a:cxn>
                <a:cxn ang="0">
                  <a:pos x="11" y="3"/>
                </a:cxn>
                <a:cxn ang="0">
                  <a:pos x="15" y="4"/>
                </a:cxn>
                <a:cxn ang="0">
                  <a:pos x="18" y="4"/>
                </a:cxn>
                <a:cxn ang="0">
                  <a:pos x="22" y="6"/>
                </a:cxn>
                <a:cxn ang="0">
                  <a:pos x="23" y="9"/>
                </a:cxn>
                <a:cxn ang="0">
                  <a:pos x="28" y="12"/>
                </a:cxn>
              </a:cxnLst>
              <a:rect l="0" t="0" r="r" b="b"/>
              <a:pathLst>
                <a:path w="28" h="15">
                  <a:moveTo>
                    <a:pt x="28" y="12"/>
                  </a:moveTo>
                  <a:lnTo>
                    <a:pt x="22" y="15"/>
                  </a:lnTo>
                  <a:lnTo>
                    <a:pt x="4" y="5"/>
                  </a:lnTo>
                  <a:lnTo>
                    <a:pt x="1" y="1"/>
                  </a:lnTo>
                  <a:lnTo>
                    <a:pt x="0" y="0"/>
                  </a:lnTo>
                  <a:lnTo>
                    <a:pt x="6" y="0"/>
                  </a:lnTo>
                  <a:lnTo>
                    <a:pt x="11" y="3"/>
                  </a:lnTo>
                  <a:lnTo>
                    <a:pt x="15" y="4"/>
                  </a:lnTo>
                  <a:lnTo>
                    <a:pt x="18" y="4"/>
                  </a:lnTo>
                  <a:lnTo>
                    <a:pt x="22" y="6"/>
                  </a:lnTo>
                  <a:lnTo>
                    <a:pt x="23" y="9"/>
                  </a:lnTo>
                  <a:lnTo>
                    <a:pt x="2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5" name="Freeform 304"/>
            <p:cNvSpPr>
              <a:spLocks/>
            </p:cNvSpPr>
            <p:nvPr/>
          </p:nvSpPr>
          <p:spPr bwMode="auto">
            <a:xfrm>
              <a:off x="2858" y="1874"/>
              <a:ext cx="102" cy="102"/>
            </a:xfrm>
            <a:custGeom>
              <a:avLst/>
              <a:gdLst/>
              <a:ahLst/>
              <a:cxnLst>
                <a:cxn ang="0">
                  <a:pos x="17" y="49"/>
                </a:cxn>
                <a:cxn ang="0">
                  <a:pos x="7" y="45"/>
                </a:cxn>
                <a:cxn ang="0">
                  <a:pos x="0" y="36"/>
                </a:cxn>
                <a:cxn ang="0">
                  <a:pos x="4" y="31"/>
                </a:cxn>
                <a:cxn ang="0">
                  <a:pos x="12" y="17"/>
                </a:cxn>
                <a:cxn ang="0">
                  <a:pos x="12" y="16"/>
                </a:cxn>
                <a:cxn ang="0">
                  <a:pos x="38" y="7"/>
                </a:cxn>
                <a:cxn ang="0">
                  <a:pos x="54" y="5"/>
                </a:cxn>
                <a:cxn ang="0">
                  <a:pos x="79" y="7"/>
                </a:cxn>
                <a:cxn ang="0">
                  <a:pos x="85" y="3"/>
                </a:cxn>
                <a:cxn ang="0">
                  <a:pos x="88" y="0"/>
                </a:cxn>
                <a:cxn ang="0">
                  <a:pos x="91" y="7"/>
                </a:cxn>
                <a:cxn ang="0">
                  <a:pos x="85" y="18"/>
                </a:cxn>
                <a:cxn ang="0">
                  <a:pos x="68" y="15"/>
                </a:cxn>
                <a:cxn ang="0">
                  <a:pos x="53" y="19"/>
                </a:cxn>
                <a:cxn ang="0">
                  <a:pos x="60" y="27"/>
                </a:cxn>
                <a:cxn ang="0">
                  <a:pos x="53" y="28"/>
                </a:cxn>
                <a:cxn ang="0">
                  <a:pos x="54" y="30"/>
                </a:cxn>
                <a:cxn ang="0">
                  <a:pos x="48" y="29"/>
                </a:cxn>
                <a:cxn ang="0">
                  <a:pos x="52" y="33"/>
                </a:cxn>
                <a:cxn ang="0">
                  <a:pos x="41" y="22"/>
                </a:cxn>
                <a:cxn ang="0">
                  <a:pos x="37" y="24"/>
                </a:cxn>
                <a:cxn ang="0">
                  <a:pos x="43" y="40"/>
                </a:cxn>
                <a:cxn ang="0">
                  <a:pos x="47" y="47"/>
                </a:cxn>
                <a:cxn ang="0">
                  <a:pos x="41" y="45"/>
                </a:cxn>
                <a:cxn ang="0">
                  <a:pos x="43" y="51"/>
                </a:cxn>
                <a:cxn ang="0">
                  <a:pos x="40" y="52"/>
                </a:cxn>
                <a:cxn ang="0">
                  <a:pos x="60" y="65"/>
                </a:cxn>
                <a:cxn ang="0">
                  <a:pos x="59" y="71"/>
                </a:cxn>
                <a:cxn ang="0">
                  <a:pos x="52" y="67"/>
                </a:cxn>
                <a:cxn ang="0">
                  <a:pos x="48" y="70"/>
                </a:cxn>
                <a:cxn ang="0">
                  <a:pos x="52" y="77"/>
                </a:cxn>
                <a:cxn ang="0">
                  <a:pos x="43" y="77"/>
                </a:cxn>
                <a:cxn ang="0">
                  <a:pos x="48" y="94"/>
                </a:cxn>
                <a:cxn ang="0">
                  <a:pos x="41" y="90"/>
                </a:cxn>
                <a:cxn ang="0">
                  <a:pos x="38" y="94"/>
                </a:cxn>
                <a:cxn ang="0">
                  <a:pos x="31" y="85"/>
                </a:cxn>
                <a:cxn ang="0">
                  <a:pos x="29" y="89"/>
                </a:cxn>
                <a:cxn ang="0">
                  <a:pos x="22" y="73"/>
                </a:cxn>
                <a:cxn ang="0">
                  <a:pos x="20" y="66"/>
                </a:cxn>
                <a:cxn ang="0">
                  <a:pos x="32" y="63"/>
                </a:cxn>
                <a:cxn ang="0">
                  <a:pos x="46" y="66"/>
                </a:cxn>
                <a:cxn ang="0">
                  <a:pos x="46" y="63"/>
                </a:cxn>
                <a:cxn ang="0">
                  <a:pos x="37" y="59"/>
                </a:cxn>
                <a:cxn ang="0">
                  <a:pos x="20" y="58"/>
                </a:cxn>
                <a:cxn ang="0">
                  <a:pos x="17" y="59"/>
                </a:cxn>
                <a:cxn ang="0">
                  <a:pos x="13" y="51"/>
                </a:cxn>
                <a:cxn ang="0">
                  <a:pos x="17" y="49"/>
                </a:cxn>
              </a:cxnLst>
              <a:rect l="0" t="0" r="r" b="b"/>
              <a:pathLst>
                <a:path w="91" h="94">
                  <a:moveTo>
                    <a:pt x="17" y="49"/>
                  </a:moveTo>
                  <a:lnTo>
                    <a:pt x="7" y="45"/>
                  </a:lnTo>
                  <a:lnTo>
                    <a:pt x="0" y="36"/>
                  </a:lnTo>
                  <a:lnTo>
                    <a:pt x="4" y="31"/>
                  </a:lnTo>
                  <a:lnTo>
                    <a:pt x="12" y="17"/>
                  </a:lnTo>
                  <a:lnTo>
                    <a:pt x="12" y="16"/>
                  </a:lnTo>
                  <a:lnTo>
                    <a:pt x="38" y="7"/>
                  </a:lnTo>
                  <a:lnTo>
                    <a:pt x="54" y="5"/>
                  </a:lnTo>
                  <a:lnTo>
                    <a:pt x="79" y="7"/>
                  </a:lnTo>
                  <a:lnTo>
                    <a:pt x="85" y="3"/>
                  </a:lnTo>
                  <a:lnTo>
                    <a:pt x="88" y="0"/>
                  </a:lnTo>
                  <a:lnTo>
                    <a:pt x="91" y="7"/>
                  </a:lnTo>
                  <a:lnTo>
                    <a:pt x="85" y="18"/>
                  </a:lnTo>
                  <a:lnTo>
                    <a:pt x="68" y="15"/>
                  </a:lnTo>
                  <a:lnTo>
                    <a:pt x="53" y="19"/>
                  </a:lnTo>
                  <a:lnTo>
                    <a:pt x="60" y="27"/>
                  </a:lnTo>
                  <a:lnTo>
                    <a:pt x="53" y="28"/>
                  </a:lnTo>
                  <a:lnTo>
                    <a:pt x="54" y="30"/>
                  </a:lnTo>
                  <a:lnTo>
                    <a:pt x="48" y="29"/>
                  </a:lnTo>
                  <a:lnTo>
                    <a:pt x="52" y="33"/>
                  </a:lnTo>
                  <a:lnTo>
                    <a:pt x="41" y="22"/>
                  </a:lnTo>
                  <a:lnTo>
                    <a:pt x="37" y="24"/>
                  </a:lnTo>
                  <a:lnTo>
                    <a:pt x="43" y="40"/>
                  </a:lnTo>
                  <a:lnTo>
                    <a:pt x="47" y="47"/>
                  </a:lnTo>
                  <a:lnTo>
                    <a:pt x="41" y="45"/>
                  </a:lnTo>
                  <a:lnTo>
                    <a:pt x="43" y="51"/>
                  </a:lnTo>
                  <a:lnTo>
                    <a:pt x="40" y="52"/>
                  </a:lnTo>
                  <a:lnTo>
                    <a:pt x="60" y="65"/>
                  </a:lnTo>
                  <a:lnTo>
                    <a:pt x="59" y="71"/>
                  </a:lnTo>
                  <a:lnTo>
                    <a:pt x="52" y="67"/>
                  </a:lnTo>
                  <a:lnTo>
                    <a:pt x="48" y="70"/>
                  </a:lnTo>
                  <a:lnTo>
                    <a:pt x="52" y="77"/>
                  </a:lnTo>
                  <a:lnTo>
                    <a:pt x="43" y="77"/>
                  </a:lnTo>
                  <a:lnTo>
                    <a:pt x="48" y="94"/>
                  </a:lnTo>
                  <a:lnTo>
                    <a:pt x="41" y="90"/>
                  </a:lnTo>
                  <a:lnTo>
                    <a:pt x="38" y="94"/>
                  </a:lnTo>
                  <a:lnTo>
                    <a:pt x="31" y="85"/>
                  </a:lnTo>
                  <a:lnTo>
                    <a:pt x="29" y="89"/>
                  </a:lnTo>
                  <a:lnTo>
                    <a:pt x="22" y="73"/>
                  </a:lnTo>
                  <a:lnTo>
                    <a:pt x="20" y="66"/>
                  </a:lnTo>
                  <a:lnTo>
                    <a:pt x="32" y="63"/>
                  </a:lnTo>
                  <a:lnTo>
                    <a:pt x="46" y="66"/>
                  </a:lnTo>
                  <a:lnTo>
                    <a:pt x="46" y="63"/>
                  </a:lnTo>
                  <a:lnTo>
                    <a:pt x="37" y="59"/>
                  </a:lnTo>
                  <a:lnTo>
                    <a:pt x="20" y="58"/>
                  </a:lnTo>
                  <a:lnTo>
                    <a:pt x="17" y="59"/>
                  </a:lnTo>
                  <a:lnTo>
                    <a:pt x="13" y="51"/>
                  </a:lnTo>
                  <a:lnTo>
                    <a:pt x="17"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6" name="Freeform 305"/>
            <p:cNvSpPr>
              <a:spLocks/>
            </p:cNvSpPr>
            <p:nvPr/>
          </p:nvSpPr>
          <p:spPr bwMode="auto">
            <a:xfrm>
              <a:off x="2922" y="1996"/>
              <a:ext cx="47" cy="11"/>
            </a:xfrm>
            <a:custGeom>
              <a:avLst/>
              <a:gdLst/>
              <a:ahLst/>
              <a:cxnLst>
                <a:cxn ang="0">
                  <a:pos x="31" y="4"/>
                </a:cxn>
                <a:cxn ang="0">
                  <a:pos x="8" y="0"/>
                </a:cxn>
                <a:cxn ang="0">
                  <a:pos x="1" y="0"/>
                </a:cxn>
                <a:cxn ang="0">
                  <a:pos x="0" y="6"/>
                </a:cxn>
                <a:cxn ang="0">
                  <a:pos x="14" y="8"/>
                </a:cxn>
                <a:cxn ang="0">
                  <a:pos x="29" y="9"/>
                </a:cxn>
                <a:cxn ang="0">
                  <a:pos x="41" y="6"/>
                </a:cxn>
                <a:cxn ang="0">
                  <a:pos x="31" y="4"/>
                </a:cxn>
              </a:cxnLst>
              <a:rect l="0" t="0" r="r" b="b"/>
              <a:pathLst>
                <a:path w="41" h="9">
                  <a:moveTo>
                    <a:pt x="31" y="4"/>
                  </a:moveTo>
                  <a:lnTo>
                    <a:pt x="8" y="0"/>
                  </a:lnTo>
                  <a:lnTo>
                    <a:pt x="1" y="0"/>
                  </a:lnTo>
                  <a:lnTo>
                    <a:pt x="0" y="6"/>
                  </a:lnTo>
                  <a:lnTo>
                    <a:pt x="14" y="8"/>
                  </a:lnTo>
                  <a:lnTo>
                    <a:pt x="29" y="9"/>
                  </a:lnTo>
                  <a:lnTo>
                    <a:pt x="41" y="6"/>
                  </a:lnTo>
                  <a:lnTo>
                    <a:pt x="3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7" name="Freeform 306"/>
            <p:cNvSpPr>
              <a:spLocks/>
            </p:cNvSpPr>
            <p:nvPr/>
          </p:nvSpPr>
          <p:spPr bwMode="auto">
            <a:xfrm>
              <a:off x="2907" y="1927"/>
              <a:ext cx="26" cy="18"/>
            </a:xfrm>
            <a:custGeom>
              <a:avLst/>
              <a:gdLst/>
              <a:ahLst/>
              <a:cxnLst>
                <a:cxn ang="0">
                  <a:pos x="24" y="16"/>
                </a:cxn>
                <a:cxn ang="0">
                  <a:pos x="11" y="4"/>
                </a:cxn>
                <a:cxn ang="0">
                  <a:pos x="0" y="0"/>
                </a:cxn>
                <a:cxn ang="0">
                  <a:pos x="12" y="8"/>
                </a:cxn>
                <a:cxn ang="0">
                  <a:pos x="24" y="16"/>
                </a:cxn>
              </a:cxnLst>
              <a:rect l="0" t="0" r="r" b="b"/>
              <a:pathLst>
                <a:path w="24" h="16">
                  <a:moveTo>
                    <a:pt x="24" y="16"/>
                  </a:moveTo>
                  <a:lnTo>
                    <a:pt x="11" y="4"/>
                  </a:lnTo>
                  <a:lnTo>
                    <a:pt x="0" y="0"/>
                  </a:lnTo>
                  <a:lnTo>
                    <a:pt x="12" y="8"/>
                  </a:lnTo>
                  <a:lnTo>
                    <a:pt x="24"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8" name="Freeform 307"/>
            <p:cNvSpPr>
              <a:spLocks/>
            </p:cNvSpPr>
            <p:nvPr/>
          </p:nvSpPr>
          <p:spPr bwMode="auto">
            <a:xfrm>
              <a:off x="2953" y="1921"/>
              <a:ext cx="11" cy="4"/>
            </a:xfrm>
            <a:custGeom>
              <a:avLst/>
              <a:gdLst/>
              <a:ahLst/>
              <a:cxnLst>
                <a:cxn ang="0">
                  <a:pos x="10" y="4"/>
                </a:cxn>
                <a:cxn ang="0">
                  <a:pos x="4" y="3"/>
                </a:cxn>
                <a:cxn ang="0">
                  <a:pos x="0" y="0"/>
                </a:cxn>
                <a:cxn ang="0">
                  <a:pos x="9" y="2"/>
                </a:cxn>
                <a:cxn ang="0">
                  <a:pos x="10" y="4"/>
                </a:cxn>
              </a:cxnLst>
              <a:rect l="0" t="0" r="r" b="b"/>
              <a:pathLst>
                <a:path w="10" h="4">
                  <a:moveTo>
                    <a:pt x="10" y="4"/>
                  </a:moveTo>
                  <a:lnTo>
                    <a:pt x="4" y="3"/>
                  </a:lnTo>
                  <a:lnTo>
                    <a:pt x="0" y="0"/>
                  </a:lnTo>
                  <a:lnTo>
                    <a:pt x="9" y="2"/>
                  </a:lnTo>
                  <a:lnTo>
                    <a:pt x="1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9" name="Freeform 308"/>
            <p:cNvSpPr>
              <a:spLocks/>
            </p:cNvSpPr>
            <p:nvPr/>
          </p:nvSpPr>
          <p:spPr bwMode="auto">
            <a:xfrm>
              <a:off x="2867" y="1941"/>
              <a:ext cx="4" cy="2"/>
            </a:xfrm>
            <a:custGeom>
              <a:avLst/>
              <a:gdLst/>
              <a:ahLst/>
              <a:cxnLst>
                <a:cxn ang="0">
                  <a:pos x="0" y="0"/>
                </a:cxn>
                <a:cxn ang="0">
                  <a:pos x="5" y="4"/>
                </a:cxn>
                <a:cxn ang="0">
                  <a:pos x="1" y="4"/>
                </a:cxn>
                <a:cxn ang="0">
                  <a:pos x="0" y="0"/>
                </a:cxn>
              </a:cxnLst>
              <a:rect l="0" t="0" r="r" b="b"/>
              <a:pathLst>
                <a:path w="5" h="4">
                  <a:moveTo>
                    <a:pt x="0" y="0"/>
                  </a:moveTo>
                  <a:lnTo>
                    <a:pt x="5" y="4"/>
                  </a:lnTo>
                  <a:lnTo>
                    <a:pt x="1" y="4"/>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0" name="Freeform 309"/>
            <p:cNvSpPr>
              <a:spLocks/>
            </p:cNvSpPr>
            <p:nvPr/>
          </p:nvSpPr>
          <p:spPr bwMode="auto">
            <a:xfrm>
              <a:off x="2956" y="1936"/>
              <a:ext cx="4" cy="5"/>
            </a:xfrm>
            <a:custGeom>
              <a:avLst/>
              <a:gdLst/>
              <a:ahLst/>
              <a:cxnLst>
                <a:cxn ang="0">
                  <a:pos x="3" y="0"/>
                </a:cxn>
                <a:cxn ang="0">
                  <a:pos x="2" y="4"/>
                </a:cxn>
                <a:cxn ang="0">
                  <a:pos x="0" y="1"/>
                </a:cxn>
                <a:cxn ang="0">
                  <a:pos x="3" y="0"/>
                </a:cxn>
              </a:cxnLst>
              <a:rect l="0" t="0" r="r" b="b"/>
              <a:pathLst>
                <a:path w="3" h="4">
                  <a:moveTo>
                    <a:pt x="3" y="0"/>
                  </a:moveTo>
                  <a:lnTo>
                    <a:pt x="2" y="4"/>
                  </a:lnTo>
                  <a:lnTo>
                    <a:pt x="0" y="1"/>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1" name="Freeform 310"/>
            <p:cNvSpPr>
              <a:spLocks/>
            </p:cNvSpPr>
            <p:nvPr/>
          </p:nvSpPr>
          <p:spPr bwMode="auto">
            <a:xfrm>
              <a:off x="2640" y="1770"/>
              <a:ext cx="189" cy="180"/>
            </a:xfrm>
            <a:custGeom>
              <a:avLst/>
              <a:gdLst/>
              <a:ahLst/>
              <a:cxnLst>
                <a:cxn ang="0">
                  <a:pos x="96" y="7"/>
                </a:cxn>
                <a:cxn ang="0">
                  <a:pos x="75" y="0"/>
                </a:cxn>
                <a:cxn ang="0">
                  <a:pos x="59" y="2"/>
                </a:cxn>
                <a:cxn ang="0">
                  <a:pos x="51" y="1"/>
                </a:cxn>
                <a:cxn ang="0">
                  <a:pos x="51" y="2"/>
                </a:cxn>
                <a:cxn ang="0">
                  <a:pos x="47" y="6"/>
                </a:cxn>
                <a:cxn ang="0">
                  <a:pos x="45" y="11"/>
                </a:cxn>
                <a:cxn ang="0">
                  <a:pos x="34" y="11"/>
                </a:cxn>
                <a:cxn ang="0">
                  <a:pos x="29" y="18"/>
                </a:cxn>
                <a:cxn ang="0">
                  <a:pos x="19" y="11"/>
                </a:cxn>
                <a:cxn ang="0">
                  <a:pos x="11" y="17"/>
                </a:cxn>
                <a:cxn ang="0">
                  <a:pos x="3" y="18"/>
                </a:cxn>
                <a:cxn ang="0">
                  <a:pos x="3" y="25"/>
                </a:cxn>
                <a:cxn ang="0">
                  <a:pos x="0" y="32"/>
                </a:cxn>
                <a:cxn ang="0">
                  <a:pos x="0" y="37"/>
                </a:cxn>
                <a:cxn ang="0">
                  <a:pos x="1" y="43"/>
                </a:cxn>
                <a:cxn ang="0">
                  <a:pos x="11" y="49"/>
                </a:cxn>
                <a:cxn ang="0">
                  <a:pos x="11" y="56"/>
                </a:cxn>
                <a:cxn ang="0">
                  <a:pos x="24" y="47"/>
                </a:cxn>
                <a:cxn ang="0">
                  <a:pos x="43" y="50"/>
                </a:cxn>
                <a:cxn ang="0">
                  <a:pos x="54" y="68"/>
                </a:cxn>
                <a:cxn ang="0">
                  <a:pos x="67" y="80"/>
                </a:cxn>
                <a:cxn ang="0">
                  <a:pos x="81" y="92"/>
                </a:cxn>
                <a:cxn ang="0">
                  <a:pos x="84" y="95"/>
                </a:cxn>
                <a:cxn ang="0">
                  <a:pos x="85" y="95"/>
                </a:cxn>
                <a:cxn ang="0">
                  <a:pos x="96" y="99"/>
                </a:cxn>
                <a:cxn ang="0">
                  <a:pos x="114" y="111"/>
                </a:cxn>
                <a:cxn ang="0">
                  <a:pos x="123" y="116"/>
                </a:cxn>
                <a:cxn ang="0">
                  <a:pos x="130" y="122"/>
                </a:cxn>
                <a:cxn ang="0">
                  <a:pos x="139" y="140"/>
                </a:cxn>
                <a:cxn ang="0">
                  <a:pos x="133" y="156"/>
                </a:cxn>
                <a:cxn ang="0">
                  <a:pos x="141" y="161"/>
                </a:cxn>
                <a:cxn ang="0">
                  <a:pos x="147" y="149"/>
                </a:cxn>
                <a:cxn ang="0">
                  <a:pos x="153" y="141"/>
                </a:cxn>
                <a:cxn ang="0">
                  <a:pos x="155" y="138"/>
                </a:cxn>
                <a:cxn ang="0">
                  <a:pos x="147" y="129"/>
                </a:cxn>
                <a:cxn ang="0">
                  <a:pos x="150" y="115"/>
                </a:cxn>
                <a:cxn ang="0">
                  <a:pos x="159" y="117"/>
                </a:cxn>
                <a:cxn ang="0">
                  <a:pos x="169" y="126"/>
                </a:cxn>
                <a:cxn ang="0">
                  <a:pos x="172" y="117"/>
                </a:cxn>
                <a:cxn ang="0">
                  <a:pos x="154" y="108"/>
                </a:cxn>
                <a:cxn ang="0">
                  <a:pos x="135" y="97"/>
                </a:cxn>
                <a:cxn ang="0">
                  <a:pos x="137" y="91"/>
                </a:cxn>
                <a:cxn ang="0">
                  <a:pos x="132" y="89"/>
                </a:cxn>
                <a:cxn ang="0">
                  <a:pos x="113" y="84"/>
                </a:cxn>
                <a:cxn ang="0">
                  <a:pos x="106" y="72"/>
                </a:cxn>
                <a:cxn ang="0">
                  <a:pos x="99" y="61"/>
                </a:cxn>
                <a:cxn ang="0">
                  <a:pos x="84" y="53"/>
                </a:cxn>
                <a:cxn ang="0">
                  <a:pos x="79" y="38"/>
                </a:cxn>
                <a:cxn ang="0">
                  <a:pos x="77" y="30"/>
                </a:cxn>
                <a:cxn ang="0">
                  <a:pos x="89" y="21"/>
                </a:cxn>
                <a:cxn ang="0">
                  <a:pos x="97" y="24"/>
                </a:cxn>
                <a:cxn ang="0">
                  <a:pos x="94" y="13"/>
                </a:cxn>
                <a:cxn ang="0">
                  <a:pos x="96" y="7"/>
                </a:cxn>
                <a:cxn ang="0">
                  <a:pos x="82" y="53"/>
                </a:cxn>
                <a:cxn ang="0">
                  <a:pos x="81" y="53"/>
                </a:cxn>
                <a:cxn ang="0">
                  <a:pos x="81" y="54"/>
                </a:cxn>
                <a:cxn ang="0">
                  <a:pos x="82" y="54"/>
                </a:cxn>
                <a:cxn ang="0">
                  <a:pos x="82" y="53"/>
                </a:cxn>
                <a:cxn ang="0">
                  <a:pos x="96" y="7"/>
                </a:cxn>
                <a:cxn ang="0">
                  <a:pos x="85" y="93"/>
                </a:cxn>
                <a:cxn ang="0">
                  <a:pos x="96" y="7"/>
                </a:cxn>
              </a:cxnLst>
              <a:rect l="0" t="0" r="r" b="b"/>
              <a:pathLst>
                <a:path w="172" h="161">
                  <a:moveTo>
                    <a:pt x="96" y="7"/>
                  </a:moveTo>
                  <a:lnTo>
                    <a:pt x="75" y="0"/>
                  </a:lnTo>
                  <a:lnTo>
                    <a:pt x="59" y="2"/>
                  </a:lnTo>
                  <a:lnTo>
                    <a:pt x="51" y="1"/>
                  </a:lnTo>
                  <a:lnTo>
                    <a:pt x="51" y="2"/>
                  </a:lnTo>
                  <a:lnTo>
                    <a:pt x="47" y="6"/>
                  </a:lnTo>
                  <a:lnTo>
                    <a:pt x="45" y="11"/>
                  </a:lnTo>
                  <a:lnTo>
                    <a:pt x="34" y="11"/>
                  </a:lnTo>
                  <a:lnTo>
                    <a:pt x="29" y="18"/>
                  </a:lnTo>
                  <a:lnTo>
                    <a:pt x="19" y="11"/>
                  </a:lnTo>
                  <a:lnTo>
                    <a:pt x="11" y="17"/>
                  </a:lnTo>
                  <a:lnTo>
                    <a:pt x="3" y="18"/>
                  </a:lnTo>
                  <a:lnTo>
                    <a:pt x="3" y="25"/>
                  </a:lnTo>
                  <a:lnTo>
                    <a:pt x="0" y="32"/>
                  </a:lnTo>
                  <a:lnTo>
                    <a:pt x="0" y="37"/>
                  </a:lnTo>
                  <a:lnTo>
                    <a:pt x="1" y="43"/>
                  </a:lnTo>
                  <a:lnTo>
                    <a:pt x="11" y="49"/>
                  </a:lnTo>
                  <a:lnTo>
                    <a:pt x="11" y="56"/>
                  </a:lnTo>
                  <a:lnTo>
                    <a:pt x="24" y="47"/>
                  </a:lnTo>
                  <a:lnTo>
                    <a:pt x="43" y="50"/>
                  </a:lnTo>
                  <a:lnTo>
                    <a:pt x="54" y="68"/>
                  </a:lnTo>
                  <a:lnTo>
                    <a:pt x="67" y="80"/>
                  </a:lnTo>
                  <a:lnTo>
                    <a:pt x="81" y="92"/>
                  </a:lnTo>
                  <a:lnTo>
                    <a:pt x="84" y="95"/>
                  </a:lnTo>
                  <a:lnTo>
                    <a:pt x="85" y="95"/>
                  </a:lnTo>
                  <a:lnTo>
                    <a:pt x="96" y="99"/>
                  </a:lnTo>
                  <a:lnTo>
                    <a:pt x="114" y="111"/>
                  </a:lnTo>
                  <a:lnTo>
                    <a:pt x="123" y="116"/>
                  </a:lnTo>
                  <a:lnTo>
                    <a:pt x="130" y="122"/>
                  </a:lnTo>
                  <a:lnTo>
                    <a:pt x="139" y="140"/>
                  </a:lnTo>
                  <a:lnTo>
                    <a:pt x="133" y="156"/>
                  </a:lnTo>
                  <a:lnTo>
                    <a:pt x="141" y="161"/>
                  </a:lnTo>
                  <a:lnTo>
                    <a:pt x="147" y="149"/>
                  </a:lnTo>
                  <a:lnTo>
                    <a:pt x="153" y="141"/>
                  </a:lnTo>
                  <a:lnTo>
                    <a:pt x="155" y="138"/>
                  </a:lnTo>
                  <a:lnTo>
                    <a:pt x="147" y="129"/>
                  </a:lnTo>
                  <a:lnTo>
                    <a:pt x="150" y="115"/>
                  </a:lnTo>
                  <a:lnTo>
                    <a:pt x="159" y="117"/>
                  </a:lnTo>
                  <a:lnTo>
                    <a:pt x="169" y="126"/>
                  </a:lnTo>
                  <a:lnTo>
                    <a:pt x="172" y="117"/>
                  </a:lnTo>
                  <a:lnTo>
                    <a:pt x="154" y="108"/>
                  </a:lnTo>
                  <a:lnTo>
                    <a:pt x="135" y="97"/>
                  </a:lnTo>
                  <a:lnTo>
                    <a:pt x="137" y="91"/>
                  </a:lnTo>
                  <a:lnTo>
                    <a:pt x="132" y="89"/>
                  </a:lnTo>
                  <a:lnTo>
                    <a:pt x="113" y="84"/>
                  </a:lnTo>
                  <a:lnTo>
                    <a:pt x="106" y="72"/>
                  </a:lnTo>
                  <a:lnTo>
                    <a:pt x="99" y="61"/>
                  </a:lnTo>
                  <a:lnTo>
                    <a:pt x="84" y="53"/>
                  </a:lnTo>
                  <a:lnTo>
                    <a:pt x="79" y="38"/>
                  </a:lnTo>
                  <a:lnTo>
                    <a:pt x="77" y="30"/>
                  </a:lnTo>
                  <a:lnTo>
                    <a:pt x="89" y="21"/>
                  </a:lnTo>
                  <a:lnTo>
                    <a:pt x="97" y="24"/>
                  </a:lnTo>
                  <a:lnTo>
                    <a:pt x="94" y="13"/>
                  </a:lnTo>
                  <a:lnTo>
                    <a:pt x="96" y="7"/>
                  </a:lnTo>
                  <a:lnTo>
                    <a:pt x="82" y="53"/>
                  </a:lnTo>
                  <a:lnTo>
                    <a:pt x="81" y="53"/>
                  </a:lnTo>
                  <a:lnTo>
                    <a:pt x="81" y="54"/>
                  </a:lnTo>
                  <a:lnTo>
                    <a:pt x="82" y="54"/>
                  </a:lnTo>
                  <a:lnTo>
                    <a:pt x="82" y="53"/>
                  </a:lnTo>
                  <a:lnTo>
                    <a:pt x="96" y="7"/>
                  </a:lnTo>
                  <a:lnTo>
                    <a:pt x="85" y="93"/>
                  </a:lnTo>
                  <a:lnTo>
                    <a:pt x="96" y="7"/>
                  </a:lnTo>
                  <a:close/>
                </a:path>
              </a:pathLst>
            </a:custGeom>
            <a:grpFill/>
            <a:ln w="3175" cmpd="sng">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2" name="Freeform 311"/>
            <p:cNvSpPr>
              <a:spLocks/>
            </p:cNvSpPr>
            <p:nvPr/>
          </p:nvSpPr>
          <p:spPr bwMode="auto">
            <a:xfrm>
              <a:off x="2640" y="1770"/>
              <a:ext cx="189" cy="180"/>
            </a:xfrm>
            <a:custGeom>
              <a:avLst/>
              <a:gdLst/>
              <a:ahLst/>
              <a:cxnLst>
                <a:cxn ang="0">
                  <a:pos x="96" y="7"/>
                </a:cxn>
                <a:cxn ang="0">
                  <a:pos x="75" y="0"/>
                </a:cxn>
                <a:cxn ang="0">
                  <a:pos x="59" y="2"/>
                </a:cxn>
                <a:cxn ang="0">
                  <a:pos x="51" y="1"/>
                </a:cxn>
                <a:cxn ang="0">
                  <a:pos x="51" y="2"/>
                </a:cxn>
                <a:cxn ang="0">
                  <a:pos x="47" y="6"/>
                </a:cxn>
                <a:cxn ang="0">
                  <a:pos x="45" y="11"/>
                </a:cxn>
                <a:cxn ang="0">
                  <a:pos x="34" y="11"/>
                </a:cxn>
                <a:cxn ang="0">
                  <a:pos x="29" y="18"/>
                </a:cxn>
                <a:cxn ang="0">
                  <a:pos x="19" y="11"/>
                </a:cxn>
                <a:cxn ang="0">
                  <a:pos x="11" y="17"/>
                </a:cxn>
                <a:cxn ang="0">
                  <a:pos x="3" y="18"/>
                </a:cxn>
                <a:cxn ang="0">
                  <a:pos x="3" y="25"/>
                </a:cxn>
                <a:cxn ang="0">
                  <a:pos x="0" y="32"/>
                </a:cxn>
                <a:cxn ang="0">
                  <a:pos x="0" y="37"/>
                </a:cxn>
                <a:cxn ang="0">
                  <a:pos x="1" y="43"/>
                </a:cxn>
                <a:cxn ang="0">
                  <a:pos x="11" y="49"/>
                </a:cxn>
                <a:cxn ang="0">
                  <a:pos x="11" y="56"/>
                </a:cxn>
                <a:cxn ang="0">
                  <a:pos x="24" y="47"/>
                </a:cxn>
                <a:cxn ang="0">
                  <a:pos x="43" y="50"/>
                </a:cxn>
                <a:cxn ang="0">
                  <a:pos x="54" y="68"/>
                </a:cxn>
                <a:cxn ang="0">
                  <a:pos x="67" y="80"/>
                </a:cxn>
                <a:cxn ang="0">
                  <a:pos x="81" y="92"/>
                </a:cxn>
                <a:cxn ang="0">
                  <a:pos x="84" y="95"/>
                </a:cxn>
                <a:cxn ang="0">
                  <a:pos x="85" y="95"/>
                </a:cxn>
                <a:cxn ang="0">
                  <a:pos x="96" y="99"/>
                </a:cxn>
                <a:cxn ang="0">
                  <a:pos x="114" y="111"/>
                </a:cxn>
                <a:cxn ang="0">
                  <a:pos x="123" y="116"/>
                </a:cxn>
                <a:cxn ang="0">
                  <a:pos x="130" y="122"/>
                </a:cxn>
                <a:cxn ang="0">
                  <a:pos x="139" y="140"/>
                </a:cxn>
                <a:cxn ang="0">
                  <a:pos x="133" y="156"/>
                </a:cxn>
                <a:cxn ang="0">
                  <a:pos x="141" y="161"/>
                </a:cxn>
                <a:cxn ang="0">
                  <a:pos x="147" y="149"/>
                </a:cxn>
                <a:cxn ang="0">
                  <a:pos x="153" y="141"/>
                </a:cxn>
                <a:cxn ang="0">
                  <a:pos x="155" y="138"/>
                </a:cxn>
                <a:cxn ang="0">
                  <a:pos x="147" y="129"/>
                </a:cxn>
                <a:cxn ang="0">
                  <a:pos x="150" y="115"/>
                </a:cxn>
                <a:cxn ang="0">
                  <a:pos x="159" y="117"/>
                </a:cxn>
                <a:cxn ang="0">
                  <a:pos x="169" y="126"/>
                </a:cxn>
                <a:cxn ang="0">
                  <a:pos x="172" y="117"/>
                </a:cxn>
                <a:cxn ang="0">
                  <a:pos x="154" y="108"/>
                </a:cxn>
                <a:cxn ang="0">
                  <a:pos x="135" y="97"/>
                </a:cxn>
                <a:cxn ang="0">
                  <a:pos x="137" y="91"/>
                </a:cxn>
                <a:cxn ang="0">
                  <a:pos x="132" y="89"/>
                </a:cxn>
                <a:cxn ang="0">
                  <a:pos x="113" y="84"/>
                </a:cxn>
                <a:cxn ang="0">
                  <a:pos x="106" y="72"/>
                </a:cxn>
                <a:cxn ang="0">
                  <a:pos x="99" y="61"/>
                </a:cxn>
                <a:cxn ang="0">
                  <a:pos x="84" y="53"/>
                </a:cxn>
                <a:cxn ang="0">
                  <a:pos x="79" y="38"/>
                </a:cxn>
                <a:cxn ang="0">
                  <a:pos x="77" y="30"/>
                </a:cxn>
                <a:cxn ang="0">
                  <a:pos x="89" y="21"/>
                </a:cxn>
                <a:cxn ang="0">
                  <a:pos x="97" y="24"/>
                </a:cxn>
                <a:cxn ang="0">
                  <a:pos x="94" y="13"/>
                </a:cxn>
                <a:cxn ang="0">
                  <a:pos x="96" y="7"/>
                </a:cxn>
              </a:cxnLst>
              <a:rect l="0" t="0" r="r" b="b"/>
              <a:pathLst>
                <a:path w="172" h="161">
                  <a:moveTo>
                    <a:pt x="96" y="7"/>
                  </a:moveTo>
                  <a:lnTo>
                    <a:pt x="75" y="0"/>
                  </a:lnTo>
                  <a:lnTo>
                    <a:pt x="59" y="2"/>
                  </a:lnTo>
                  <a:lnTo>
                    <a:pt x="51" y="1"/>
                  </a:lnTo>
                  <a:lnTo>
                    <a:pt x="51" y="2"/>
                  </a:lnTo>
                  <a:lnTo>
                    <a:pt x="47" y="6"/>
                  </a:lnTo>
                  <a:lnTo>
                    <a:pt x="45" y="11"/>
                  </a:lnTo>
                  <a:lnTo>
                    <a:pt x="34" y="11"/>
                  </a:lnTo>
                  <a:lnTo>
                    <a:pt x="29" y="18"/>
                  </a:lnTo>
                  <a:lnTo>
                    <a:pt x="19" y="11"/>
                  </a:lnTo>
                  <a:lnTo>
                    <a:pt x="11" y="17"/>
                  </a:lnTo>
                  <a:lnTo>
                    <a:pt x="3" y="18"/>
                  </a:lnTo>
                  <a:lnTo>
                    <a:pt x="3" y="25"/>
                  </a:lnTo>
                  <a:lnTo>
                    <a:pt x="0" y="32"/>
                  </a:lnTo>
                  <a:lnTo>
                    <a:pt x="0" y="37"/>
                  </a:lnTo>
                  <a:lnTo>
                    <a:pt x="1" y="43"/>
                  </a:lnTo>
                  <a:lnTo>
                    <a:pt x="11" y="49"/>
                  </a:lnTo>
                  <a:lnTo>
                    <a:pt x="11" y="56"/>
                  </a:lnTo>
                  <a:lnTo>
                    <a:pt x="24" y="47"/>
                  </a:lnTo>
                  <a:lnTo>
                    <a:pt x="43" y="50"/>
                  </a:lnTo>
                  <a:lnTo>
                    <a:pt x="54" y="68"/>
                  </a:lnTo>
                  <a:lnTo>
                    <a:pt x="67" y="80"/>
                  </a:lnTo>
                  <a:lnTo>
                    <a:pt x="81" y="92"/>
                  </a:lnTo>
                  <a:lnTo>
                    <a:pt x="84" y="95"/>
                  </a:lnTo>
                  <a:lnTo>
                    <a:pt x="85" y="95"/>
                  </a:lnTo>
                  <a:lnTo>
                    <a:pt x="96" y="99"/>
                  </a:lnTo>
                  <a:lnTo>
                    <a:pt x="114" y="111"/>
                  </a:lnTo>
                  <a:lnTo>
                    <a:pt x="123" y="116"/>
                  </a:lnTo>
                  <a:lnTo>
                    <a:pt x="130" y="122"/>
                  </a:lnTo>
                  <a:lnTo>
                    <a:pt x="139" y="140"/>
                  </a:lnTo>
                  <a:lnTo>
                    <a:pt x="133" y="156"/>
                  </a:lnTo>
                  <a:lnTo>
                    <a:pt x="141" y="161"/>
                  </a:lnTo>
                  <a:lnTo>
                    <a:pt x="147" y="149"/>
                  </a:lnTo>
                  <a:lnTo>
                    <a:pt x="153" y="141"/>
                  </a:lnTo>
                  <a:lnTo>
                    <a:pt x="155" y="138"/>
                  </a:lnTo>
                  <a:lnTo>
                    <a:pt x="147" y="129"/>
                  </a:lnTo>
                  <a:lnTo>
                    <a:pt x="150" y="115"/>
                  </a:lnTo>
                  <a:lnTo>
                    <a:pt x="159" y="117"/>
                  </a:lnTo>
                  <a:lnTo>
                    <a:pt x="169" y="126"/>
                  </a:lnTo>
                  <a:lnTo>
                    <a:pt x="172" y="117"/>
                  </a:lnTo>
                  <a:lnTo>
                    <a:pt x="154" y="108"/>
                  </a:lnTo>
                  <a:lnTo>
                    <a:pt x="135" y="97"/>
                  </a:lnTo>
                  <a:lnTo>
                    <a:pt x="137" y="91"/>
                  </a:lnTo>
                  <a:lnTo>
                    <a:pt x="132" y="89"/>
                  </a:lnTo>
                  <a:lnTo>
                    <a:pt x="113" y="84"/>
                  </a:lnTo>
                  <a:lnTo>
                    <a:pt x="106" y="72"/>
                  </a:lnTo>
                  <a:lnTo>
                    <a:pt x="99" y="61"/>
                  </a:lnTo>
                  <a:lnTo>
                    <a:pt x="84" y="53"/>
                  </a:lnTo>
                  <a:lnTo>
                    <a:pt x="79" y="38"/>
                  </a:lnTo>
                  <a:lnTo>
                    <a:pt x="77" y="30"/>
                  </a:lnTo>
                  <a:lnTo>
                    <a:pt x="89" y="21"/>
                  </a:lnTo>
                  <a:lnTo>
                    <a:pt x="97" y="24"/>
                  </a:lnTo>
                  <a:lnTo>
                    <a:pt x="94" y="13"/>
                  </a:lnTo>
                  <a:lnTo>
                    <a:pt x="96"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3" name="Rectangle 312"/>
            <p:cNvSpPr>
              <a:spLocks noChangeArrowheads="1"/>
            </p:cNvSpPr>
            <p:nvPr/>
          </p:nvSpPr>
          <p:spPr bwMode="auto">
            <a:xfrm>
              <a:off x="2729" y="1830"/>
              <a:ext cx="0" cy="0"/>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314" name="Freeform 313"/>
            <p:cNvSpPr>
              <a:spLocks/>
            </p:cNvSpPr>
            <p:nvPr/>
          </p:nvSpPr>
          <p:spPr bwMode="auto">
            <a:xfrm>
              <a:off x="2736" y="1941"/>
              <a:ext cx="51" cy="33"/>
            </a:xfrm>
            <a:custGeom>
              <a:avLst/>
              <a:gdLst/>
              <a:ahLst/>
              <a:cxnLst>
                <a:cxn ang="0">
                  <a:pos x="39" y="18"/>
                </a:cxn>
                <a:cxn ang="0">
                  <a:pos x="39" y="29"/>
                </a:cxn>
                <a:cxn ang="0">
                  <a:pos x="21" y="22"/>
                </a:cxn>
                <a:cxn ang="0">
                  <a:pos x="3" y="14"/>
                </a:cxn>
                <a:cxn ang="0">
                  <a:pos x="0" y="5"/>
                </a:cxn>
                <a:cxn ang="0">
                  <a:pos x="13" y="4"/>
                </a:cxn>
                <a:cxn ang="0">
                  <a:pos x="29" y="3"/>
                </a:cxn>
                <a:cxn ang="0">
                  <a:pos x="45" y="0"/>
                </a:cxn>
                <a:cxn ang="0">
                  <a:pos x="39" y="18"/>
                </a:cxn>
              </a:cxnLst>
              <a:rect l="0" t="0" r="r" b="b"/>
              <a:pathLst>
                <a:path w="45" h="29">
                  <a:moveTo>
                    <a:pt x="39" y="18"/>
                  </a:moveTo>
                  <a:lnTo>
                    <a:pt x="39" y="29"/>
                  </a:lnTo>
                  <a:lnTo>
                    <a:pt x="21" y="22"/>
                  </a:lnTo>
                  <a:lnTo>
                    <a:pt x="3" y="14"/>
                  </a:lnTo>
                  <a:lnTo>
                    <a:pt x="0" y="5"/>
                  </a:lnTo>
                  <a:lnTo>
                    <a:pt x="13" y="4"/>
                  </a:lnTo>
                  <a:lnTo>
                    <a:pt x="29" y="3"/>
                  </a:lnTo>
                  <a:lnTo>
                    <a:pt x="45" y="0"/>
                  </a:lnTo>
                  <a:lnTo>
                    <a:pt x="3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5" name="Freeform 314"/>
            <p:cNvSpPr>
              <a:spLocks/>
            </p:cNvSpPr>
            <p:nvPr/>
          </p:nvSpPr>
          <p:spPr bwMode="auto">
            <a:xfrm>
              <a:off x="2664" y="1883"/>
              <a:ext cx="27" cy="47"/>
            </a:xfrm>
            <a:custGeom>
              <a:avLst/>
              <a:gdLst/>
              <a:ahLst/>
              <a:cxnLst>
                <a:cxn ang="0">
                  <a:pos x="13" y="36"/>
                </a:cxn>
                <a:cxn ang="0">
                  <a:pos x="7" y="42"/>
                </a:cxn>
                <a:cxn ang="0">
                  <a:pos x="4" y="32"/>
                </a:cxn>
                <a:cxn ang="0">
                  <a:pos x="1" y="19"/>
                </a:cxn>
                <a:cxn ang="0">
                  <a:pos x="0" y="6"/>
                </a:cxn>
                <a:cxn ang="0">
                  <a:pos x="14" y="0"/>
                </a:cxn>
                <a:cxn ang="0">
                  <a:pos x="24" y="13"/>
                </a:cxn>
                <a:cxn ang="0">
                  <a:pos x="20" y="34"/>
                </a:cxn>
                <a:cxn ang="0">
                  <a:pos x="13" y="36"/>
                </a:cxn>
              </a:cxnLst>
              <a:rect l="0" t="0" r="r" b="b"/>
              <a:pathLst>
                <a:path w="24" h="42">
                  <a:moveTo>
                    <a:pt x="13" y="36"/>
                  </a:moveTo>
                  <a:lnTo>
                    <a:pt x="7" y="42"/>
                  </a:lnTo>
                  <a:lnTo>
                    <a:pt x="4" y="32"/>
                  </a:lnTo>
                  <a:lnTo>
                    <a:pt x="1" y="19"/>
                  </a:lnTo>
                  <a:lnTo>
                    <a:pt x="0" y="6"/>
                  </a:lnTo>
                  <a:lnTo>
                    <a:pt x="14" y="0"/>
                  </a:lnTo>
                  <a:lnTo>
                    <a:pt x="24" y="13"/>
                  </a:lnTo>
                  <a:lnTo>
                    <a:pt x="20" y="34"/>
                  </a:lnTo>
                  <a:lnTo>
                    <a:pt x="13"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6" name="Freeform 315"/>
            <p:cNvSpPr>
              <a:spLocks/>
            </p:cNvSpPr>
            <p:nvPr/>
          </p:nvSpPr>
          <p:spPr bwMode="auto">
            <a:xfrm>
              <a:off x="2649" y="1834"/>
              <a:ext cx="2" cy="2"/>
            </a:xfrm>
            <a:custGeom>
              <a:avLst/>
              <a:gdLst/>
              <a:ahLst/>
              <a:cxnLst>
                <a:cxn ang="0">
                  <a:pos x="1" y="0"/>
                </a:cxn>
                <a:cxn ang="0">
                  <a:pos x="0" y="0"/>
                </a:cxn>
                <a:cxn ang="0">
                  <a:pos x="1" y="0"/>
                </a:cxn>
              </a:cxnLst>
              <a:rect l="0" t="0" r="r" b="b"/>
              <a:pathLst>
                <a:path w="1">
                  <a:moveTo>
                    <a:pt x="1" y="0"/>
                  </a:move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7" name="Freeform 316"/>
            <p:cNvSpPr>
              <a:spLocks/>
            </p:cNvSpPr>
            <p:nvPr/>
          </p:nvSpPr>
          <p:spPr bwMode="auto">
            <a:xfrm>
              <a:off x="2960" y="1867"/>
              <a:ext cx="309" cy="123"/>
            </a:xfrm>
            <a:custGeom>
              <a:avLst/>
              <a:gdLst/>
              <a:ahLst/>
              <a:cxnLst>
                <a:cxn ang="0">
                  <a:pos x="186" y="93"/>
                </a:cxn>
                <a:cxn ang="0">
                  <a:pos x="159" y="96"/>
                </a:cxn>
                <a:cxn ang="0">
                  <a:pos x="151" y="110"/>
                </a:cxn>
                <a:cxn ang="0">
                  <a:pos x="150" y="106"/>
                </a:cxn>
                <a:cxn ang="0">
                  <a:pos x="144" y="95"/>
                </a:cxn>
                <a:cxn ang="0">
                  <a:pos x="123" y="99"/>
                </a:cxn>
                <a:cxn ang="0">
                  <a:pos x="95" y="102"/>
                </a:cxn>
                <a:cxn ang="0">
                  <a:pos x="69" y="100"/>
                </a:cxn>
                <a:cxn ang="0">
                  <a:pos x="47" y="99"/>
                </a:cxn>
                <a:cxn ang="0">
                  <a:pos x="31" y="95"/>
                </a:cxn>
                <a:cxn ang="0">
                  <a:pos x="33" y="90"/>
                </a:cxn>
                <a:cxn ang="0">
                  <a:pos x="23" y="84"/>
                </a:cxn>
                <a:cxn ang="0">
                  <a:pos x="18" y="75"/>
                </a:cxn>
                <a:cxn ang="0">
                  <a:pos x="4" y="63"/>
                </a:cxn>
                <a:cxn ang="0">
                  <a:pos x="12" y="65"/>
                </a:cxn>
                <a:cxn ang="0">
                  <a:pos x="10" y="56"/>
                </a:cxn>
                <a:cxn ang="0">
                  <a:pos x="0" y="45"/>
                </a:cxn>
                <a:cxn ang="0">
                  <a:pos x="16" y="30"/>
                </a:cxn>
                <a:cxn ang="0">
                  <a:pos x="39" y="28"/>
                </a:cxn>
                <a:cxn ang="0">
                  <a:pos x="45" y="22"/>
                </a:cxn>
                <a:cxn ang="0">
                  <a:pos x="65" y="17"/>
                </a:cxn>
                <a:cxn ang="0">
                  <a:pos x="100" y="3"/>
                </a:cxn>
                <a:cxn ang="0">
                  <a:pos x="123" y="2"/>
                </a:cxn>
                <a:cxn ang="0">
                  <a:pos x="139" y="10"/>
                </a:cxn>
                <a:cxn ang="0">
                  <a:pos x="177" y="18"/>
                </a:cxn>
                <a:cxn ang="0">
                  <a:pos x="217" y="9"/>
                </a:cxn>
                <a:cxn ang="0">
                  <a:pos x="245" y="15"/>
                </a:cxn>
                <a:cxn ang="0">
                  <a:pos x="257" y="35"/>
                </a:cxn>
                <a:cxn ang="0">
                  <a:pos x="264" y="46"/>
                </a:cxn>
                <a:cxn ang="0">
                  <a:pos x="269" y="74"/>
                </a:cxn>
                <a:cxn ang="0">
                  <a:pos x="270" y="88"/>
                </a:cxn>
                <a:cxn ang="0">
                  <a:pos x="246" y="84"/>
                </a:cxn>
                <a:cxn ang="0">
                  <a:pos x="238" y="87"/>
                </a:cxn>
                <a:cxn ang="0">
                  <a:pos x="209" y="93"/>
                </a:cxn>
              </a:cxnLst>
              <a:rect l="0" t="0" r="r" b="b"/>
              <a:pathLst>
                <a:path w="279" h="110">
                  <a:moveTo>
                    <a:pt x="209" y="93"/>
                  </a:moveTo>
                  <a:lnTo>
                    <a:pt x="186" y="93"/>
                  </a:lnTo>
                  <a:lnTo>
                    <a:pt x="163" y="94"/>
                  </a:lnTo>
                  <a:lnTo>
                    <a:pt x="159" y="96"/>
                  </a:lnTo>
                  <a:lnTo>
                    <a:pt x="157" y="104"/>
                  </a:lnTo>
                  <a:lnTo>
                    <a:pt x="151" y="110"/>
                  </a:lnTo>
                  <a:lnTo>
                    <a:pt x="150" y="108"/>
                  </a:lnTo>
                  <a:lnTo>
                    <a:pt x="150" y="106"/>
                  </a:lnTo>
                  <a:lnTo>
                    <a:pt x="151" y="92"/>
                  </a:lnTo>
                  <a:lnTo>
                    <a:pt x="144" y="95"/>
                  </a:lnTo>
                  <a:lnTo>
                    <a:pt x="135" y="95"/>
                  </a:lnTo>
                  <a:lnTo>
                    <a:pt x="123" y="99"/>
                  </a:lnTo>
                  <a:lnTo>
                    <a:pt x="107" y="106"/>
                  </a:lnTo>
                  <a:lnTo>
                    <a:pt x="95" y="102"/>
                  </a:lnTo>
                  <a:lnTo>
                    <a:pt x="71" y="93"/>
                  </a:lnTo>
                  <a:lnTo>
                    <a:pt x="69" y="100"/>
                  </a:lnTo>
                  <a:lnTo>
                    <a:pt x="61" y="104"/>
                  </a:lnTo>
                  <a:lnTo>
                    <a:pt x="47" y="99"/>
                  </a:lnTo>
                  <a:lnTo>
                    <a:pt x="40" y="94"/>
                  </a:lnTo>
                  <a:lnTo>
                    <a:pt x="31" y="95"/>
                  </a:lnTo>
                  <a:lnTo>
                    <a:pt x="24" y="95"/>
                  </a:lnTo>
                  <a:lnTo>
                    <a:pt x="33" y="90"/>
                  </a:lnTo>
                  <a:lnTo>
                    <a:pt x="22" y="89"/>
                  </a:lnTo>
                  <a:lnTo>
                    <a:pt x="23" y="84"/>
                  </a:lnTo>
                  <a:lnTo>
                    <a:pt x="16" y="78"/>
                  </a:lnTo>
                  <a:lnTo>
                    <a:pt x="18" y="75"/>
                  </a:lnTo>
                  <a:lnTo>
                    <a:pt x="5" y="69"/>
                  </a:lnTo>
                  <a:lnTo>
                    <a:pt x="4" y="63"/>
                  </a:lnTo>
                  <a:lnTo>
                    <a:pt x="7" y="63"/>
                  </a:lnTo>
                  <a:lnTo>
                    <a:pt x="12" y="65"/>
                  </a:lnTo>
                  <a:lnTo>
                    <a:pt x="10" y="58"/>
                  </a:lnTo>
                  <a:lnTo>
                    <a:pt x="10" y="56"/>
                  </a:lnTo>
                  <a:lnTo>
                    <a:pt x="9" y="46"/>
                  </a:lnTo>
                  <a:lnTo>
                    <a:pt x="0" y="45"/>
                  </a:lnTo>
                  <a:lnTo>
                    <a:pt x="1" y="33"/>
                  </a:lnTo>
                  <a:lnTo>
                    <a:pt x="16" y="30"/>
                  </a:lnTo>
                  <a:lnTo>
                    <a:pt x="21" y="27"/>
                  </a:lnTo>
                  <a:lnTo>
                    <a:pt x="39" y="28"/>
                  </a:lnTo>
                  <a:lnTo>
                    <a:pt x="49" y="23"/>
                  </a:lnTo>
                  <a:lnTo>
                    <a:pt x="45" y="22"/>
                  </a:lnTo>
                  <a:lnTo>
                    <a:pt x="37" y="16"/>
                  </a:lnTo>
                  <a:lnTo>
                    <a:pt x="65" y="17"/>
                  </a:lnTo>
                  <a:lnTo>
                    <a:pt x="85" y="4"/>
                  </a:lnTo>
                  <a:lnTo>
                    <a:pt x="100" y="3"/>
                  </a:lnTo>
                  <a:lnTo>
                    <a:pt x="114" y="0"/>
                  </a:lnTo>
                  <a:lnTo>
                    <a:pt x="123" y="2"/>
                  </a:lnTo>
                  <a:lnTo>
                    <a:pt x="133" y="6"/>
                  </a:lnTo>
                  <a:lnTo>
                    <a:pt x="139" y="10"/>
                  </a:lnTo>
                  <a:lnTo>
                    <a:pt x="159" y="15"/>
                  </a:lnTo>
                  <a:lnTo>
                    <a:pt x="177" y="18"/>
                  </a:lnTo>
                  <a:lnTo>
                    <a:pt x="196" y="20"/>
                  </a:lnTo>
                  <a:lnTo>
                    <a:pt x="217" y="9"/>
                  </a:lnTo>
                  <a:lnTo>
                    <a:pt x="235" y="8"/>
                  </a:lnTo>
                  <a:lnTo>
                    <a:pt x="245" y="15"/>
                  </a:lnTo>
                  <a:lnTo>
                    <a:pt x="251" y="26"/>
                  </a:lnTo>
                  <a:lnTo>
                    <a:pt x="257" y="35"/>
                  </a:lnTo>
                  <a:lnTo>
                    <a:pt x="270" y="41"/>
                  </a:lnTo>
                  <a:lnTo>
                    <a:pt x="264" y="46"/>
                  </a:lnTo>
                  <a:lnTo>
                    <a:pt x="265" y="56"/>
                  </a:lnTo>
                  <a:lnTo>
                    <a:pt x="269" y="74"/>
                  </a:lnTo>
                  <a:lnTo>
                    <a:pt x="279" y="87"/>
                  </a:lnTo>
                  <a:lnTo>
                    <a:pt x="270" y="88"/>
                  </a:lnTo>
                  <a:lnTo>
                    <a:pt x="267" y="84"/>
                  </a:lnTo>
                  <a:lnTo>
                    <a:pt x="246" y="84"/>
                  </a:lnTo>
                  <a:lnTo>
                    <a:pt x="243" y="88"/>
                  </a:lnTo>
                  <a:lnTo>
                    <a:pt x="238" y="87"/>
                  </a:lnTo>
                  <a:lnTo>
                    <a:pt x="223" y="89"/>
                  </a:lnTo>
                  <a:lnTo>
                    <a:pt x="209" y="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8" name="Freeform 317"/>
            <p:cNvSpPr>
              <a:spLocks/>
            </p:cNvSpPr>
            <p:nvPr/>
          </p:nvSpPr>
          <p:spPr bwMode="auto">
            <a:xfrm>
              <a:off x="2953" y="1867"/>
              <a:ext cx="47" cy="36"/>
            </a:xfrm>
            <a:custGeom>
              <a:avLst/>
              <a:gdLst/>
              <a:ahLst/>
              <a:cxnLst>
                <a:cxn ang="0">
                  <a:pos x="5" y="2"/>
                </a:cxn>
                <a:cxn ang="0">
                  <a:pos x="3" y="5"/>
                </a:cxn>
                <a:cxn ang="0">
                  <a:pos x="6" y="12"/>
                </a:cxn>
                <a:cxn ang="0">
                  <a:pos x="0" y="23"/>
                </a:cxn>
                <a:cxn ang="0">
                  <a:pos x="10" y="24"/>
                </a:cxn>
                <a:cxn ang="0">
                  <a:pos x="5" y="33"/>
                </a:cxn>
                <a:cxn ang="0">
                  <a:pos x="21" y="21"/>
                </a:cxn>
                <a:cxn ang="0">
                  <a:pos x="43" y="17"/>
                </a:cxn>
                <a:cxn ang="0">
                  <a:pos x="36" y="12"/>
                </a:cxn>
                <a:cxn ang="0">
                  <a:pos x="27" y="0"/>
                </a:cxn>
                <a:cxn ang="0">
                  <a:pos x="5" y="2"/>
                </a:cxn>
              </a:cxnLst>
              <a:rect l="0" t="0" r="r" b="b"/>
              <a:pathLst>
                <a:path w="43" h="33">
                  <a:moveTo>
                    <a:pt x="5" y="2"/>
                  </a:moveTo>
                  <a:lnTo>
                    <a:pt x="3" y="5"/>
                  </a:lnTo>
                  <a:lnTo>
                    <a:pt x="6" y="12"/>
                  </a:lnTo>
                  <a:lnTo>
                    <a:pt x="0" y="23"/>
                  </a:lnTo>
                  <a:lnTo>
                    <a:pt x="10" y="24"/>
                  </a:lnTo>
                  <a:lnTo>
                    <a:pt x="5" y="33"/>
                  </a:lnTo>
                  <a:lnTo>
                    <a:pt x="21" y="21"/>
                  </a:lnTo>
                  <a:lnTo>
                    <a:pt x="43" y="17"/>
                  </a:lnTo>
                  <a:lnTo>
                    <a:pt x="36" y="12"/>
                  </a:lnTo>
                  <a:lnTo>
                    <a:pt x="27"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9" name="Freeform 318"/>
            <p:cNvSpPr>
              <a:spLocks/>
            </p:cNvSpPr>
            <p:nvPr/>
          </p:nvSpPr>
          <p:spPr bwMode="auto">
            <a:xfrm>
              <a:off x="2876" y="1596"/>
              <a:ext cx="137" cy="87"/>
            </a:xfrm>
            <a:custGeom>
              <a:avLst/>
              <a:gdLst/>
              <a:ahLst/>
              <a:cxnLst>
                <a:cxn ang="0">
                  <a:pos x="122" y="42"/>
                </a:cxn>
                <a:cxn ang="0">
                  <a:pos x="117" y="47"/>
                </a:cxn>
                <a:cxn ang="0">
                  <a:pos x="121" y="62"/>
                </a:cxn>
                <a:cxn ang="0">
                  <a:pos x="104" y="71"/>
                </a:cxn>
                <a:cxn ang="0">
                  <a:pos x="105" y="78"/>
                </a:cxn>
                <a:cxn ang="0">
                  <a:pos x="81" y="73"/>
                </a:cxn>
                <a:cxn ang="0">
                  <a:pos x="57" y="68"/>
                </a:cxn>
                <a:cxn ang="0">
                  <a:pos x="35" y="68"/>
                </a:cxn>
                <a:cxn ang="0">
                  <a:pos x="11" y="68"/>
                </a:cxn>
                <a:cxn ang="0">
                  <a:pos x="2" y="63"/>
                </a:cxn>
                <a:cxn ang="0">
                  <a:pos x="12" y="51"/>
                </a:cxn>
                <a:cxn ang="0">
                  <a:pos x="0" y="30"/>
                </a:cxn>
                <a:cxn ang="0">
                  <a:pos x="21" y="15"/>
                </a:cxn>
                <a:cxn ang="0">
                  <a:pos x="41" y="2"/>
                </a:cxn>
                <a:cxn ang="0">
                  <a:pos x="60" y="0"/>
                </a:cxn>
                <a:cxn ang="0">
                  <a:pos x="80" y="3"/>
                </a:cxn>
                <a:cxn ang="0">
                  <a:pos x="102" y="7"/>
                </a:cxn>
                <a:cxn ang="0">
                  <a:pos x="104" y="26"/>
                </a:cxn>
                <a:cxn ang="0">
                  <a:pos x="122" y="42"/>
                </a:cxn>
              </a:cxnLst>
              <a:rect l="0" t="0" r="r" b="b"/>
              <a:pathLst>
                <a:path w="122" h="78">
                  <a:moveTo>
                    <a:pt x="122" y="42"/>
                  </a:moveTo>
                  <a:lnTo>
                    <a:pt x="117" y="47"/>
                  </a:lnTo>
                  <a:lnTo>
                    <a:pt x="121" y="62"/>
                  </a:lnTo>
                  <a:lnTo>
                    <a:pt x="104" y="71"/>
                  </a:lnTo>
                  <a:lnTo>
                    <a:pt x="105" y="78"/>
                  </a:lnTo>
                  <a:lnTo>
                    <a:pt x="81" y="73"/>
                  </a:lnTo>
                  <a:lnTo>
                    <a:pt x="57" y="68"/>
                  </a:lnTo>
                  <a:lnTo>
                    <a:pt x="35" y="68"/>
                  </a:lnTo>
                  <a:lnTo>
                    <a:pt x="11" y="68"/>
                  </a:lnTo>
                  <a:lnTo>
                    <a:pt x="2" y="63"/>
                  </a:lnTo>
                  <a:lnTo>
                    <a:pt x="12" y="51"/>
                  </a:lnTo>
                  <a:lnTo>
                    <a:pt x="0" y="30"/>
                  </a:lnTo>
                  <a:lnTo>
                    <a:pt x="21" y="15"/>
                  </a:lnTo>
                  <a:lnTo>
                    <a:pt x="41" y="2"/>
                  </a:lnTo>
                  <a:lnTo>
                    <a:pt x="60" y="0"/>
                  </a:lnTo>
                  <a:lnTo>
                    <a:pt x="80" y="3"/>
                  </a:lnTo>
                  <a:lnTo>
                    <a:pt x="102" y="7"/>
                  </a:lnTo>
                  <a:lnTo>
                    <a:pt x="104" y="26"/>
                  </a:lnTo>
                  <a:lnTo>
                    <a:pt x="122"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0" name="Freeform 319"/>
            <p:cNvSpPr>
              <a:spLocks/>
            </p:cNvSpPr>
            <p:nvPr/>
          </p:nvSpPr>
          <p:spPr bwMode="auto">
            <a:xfrm>
              <a:off x="2653" y="1581"/>
              <a:ext cx="34" cy="40"/>
            </a:xfrm>
            <a:custGeom>
              <a:avLst/>
              <a:gdLst/>
              <a:ahLst/>
              <a:cxnLst>
                <a:cxn ang="0">
                  <a:pos x="18" y="31"/>
                </a:cxn>
                <a:cxn ang="0">
                  <a:pos x="17" y="36"/>
                </a:cxn>
                <a:cxn ang="0">
                  <a:pos x="6" y="34"/>
                </a:cxn>
                <a:cxn ang="0">
                  <a:pos x="4" y="31"/>
                </a:cxn>
                <a:cxn ang="0">
                  <a:pos x="0" y="23"/>
                </a:cxn>
                <a:cxn ang="0">
                  <a:pos x="0" y="6"/>
                </a:cxn>
                <a:cxn ang="0">
                  <a:pos x="7" y="5"/>
                </a:cxn>
                <a:cxn ang="0">
                  <a:pos x="10" y="6"/>
                </a:cxn>
                <a:cxn ang="0">
                  <a:pos x="11" y="3"/>
                </a:cxn>
                <a:cxn ang="0">
                  <a:pos x="21" y="0"/>
                </a:cxn>
                <a:cxn ang="0">
                  <a:pos x="24" y="6"/>
                </a:cxn>
                <a:cxn ang="0">
                  <a:pos x="31" y="7"/>
                </a:cxn>
                <a:cxn ang="0">
                  <a:pos x="29" y="13"/>
                </a:cxn>
                <a:cxn ang="0">
                  <a:pos x="19" y="21"/>
                </a:cxn>
                <a:cxn ang="0">
                  <a:pos x="19" y="23"/>
                </a:cxn>
                <a:cxn ang="0">
                  <a:pos x="18" y="31"/>
                </a:cxn>
              </a:cxnLst>
              <a:rect l="0" t="0" r="r" b="b"/>
              <a:pathLst>
                <a:path w="31" h="36">
                  <a:moveTo>
                    <a:pt x="18" y="31"/>
                  </a:moveTo>
                  <a:lnTo>
                    <a:pt x="17" y="36"/>
                  </a:lnTo>
                  <a:lnTo>
                    <a:pt x="6" y="34"/>
                  </a:lnTo>
                  <a:lnTo>
                    <a:pt x="4" y="31"/>
                  </a:lnTo>
                  <a:lnTo>
                    <a:pt x="0" y="23"/>
                  </a:lnTo>
                  <a:lnTo>
                    <a:pt x="0" y="6"/>
                  </a:lnTo>
                  <a:lnTo>
                    <a:pt x="7" y="5"/>
                  </a:lnTo>
                  <a:lnTo>
                    <a:pt x="10" y="6"/>
                  </a:lnTo>
                  <a:lnTo>
                    <a:pt x="11" y="3"/>
                  </a:lnTo>
                  <a:lnTo>
                    <a:pt x="21" y="0"/>
                  </a:lnTo>
                  <a:lnTo>
                    <a:pt x="24" y="6"/>
                  </a:lnTo>
                  <a:lnTo>
                    <a:pt x="31" y="7"/>
                  </a:lnTo>
                  <a:lnTo>
                    <a:pt x="29" y="13"/>
                  </a:lnTo>
                  <a:lnTo>
                    <a:pt x="19" y="21"/>
                  </a:lnTo>
                  <a:lnTo>
                    <a:pt x="19" y="23"/>
                  </a:lnTo>
                  <a:lnTo>
                    <a:pt x="18" y="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1" name="Freeform 320"/>
            <p:cNvSpPr>
              <a:spLocks/>
            </p:cNvSpPr>
            <p:nvPr/>
          </p:nvSpPr>
          <p:spPr bwMode="auto">
            <a:xfrm>
              <a:off x="2693" y="1596"/>
              <a:ext cx="23" cy="20"/>
            </a:xfrm>
            <a:custGeom>
              <a:avLst/>
              <a:gdLst/>
              <a:ahLst/>
              <a:cxnLst>
                <a:cxn ang="0">
                  <a:pos x="20" y="6"/>
                </a:cxn>
                <a:cxn ang="0">
                  <a:pos x="18" y="2"/>
                </a:cxn>
                <a:cxn ang="0">
                  <a:pos x="14" y="0"/>
                </a:cxn>
                <a:cxn ang="0">
                  <a:pos x="12" y="6"/>
                </a:cxn>
                <a:cxn ang="0">
                  <a:pos x="9" y="4"/>
                </a:cxn>
                <a:cxn ang="0">
                  <a:pos x="3" y="2"/>
                </a:cxn>
                <a:cxn ang="0">
                  <a:pos x="0" y="6"/>
                </a:cxn>
                <a:cxn ang="0">
                  <a:pos x="0" y="9"/>
                </a:cxn>
                <a:cxn ang="0">
                  <a:pos x="11" y="18"/>
                </a:cxn>
                <a:cxn ang="0">
                  <a:pos x="15" y="14"/>
                </a:cxn>
                <a:cxn ang="0">
                  <a:pos x="15" y="10"/>
                </a:cxn>
                <a:cxn ang="0">
                  <a:pos x="20" y="6"/>
                </a:cxn>
              </a:cxnLst>
              <a:rect l="0" t="0" r="r" b="b"/>
              <a:pathLst>
                <a:path w="20" h="18">
                  <a:moveTo>
                    <a:pt x="20" y="6"/>
                  </a:moveTo>
                  <a:lnTo>
                    <a:pt x="18" y="2"/>
                  </a:lnTo>
                  <a:lnTo>
                    <a:pt x="14" y="0"/>
                  </a:lnTo>
                  <a:lnTo>
                    <a:pt x="12" y="6"/>
                  </a:lnTo>
                  <a:lnTo>
                    <a:pt x="9" y="4"/>
                  </a:lnTo>
                  <a:lnTo>
                    <a:pt x="3" y="2"/>
                  </a:lnTo>
                  <a:lnTo>
                    <a:pt x="0" y="6"/>
                  </a:lnTo>
                  <a:lnTo>
                    <a:pt x="0" y="9"/>
                  </a:lnTo>
                  <a:lnTo>
                    <a:pt x="11" y="18"/>
                  </a:lnTo>
                  <a:lnTo>
                    <a:pt x="15" y="14"/>
                  </a:lnTo>
                  <a:lnTo>
                    <a:pt x="15" y="10"/>
                  </a:lnTo>
                  <a:lnTo>
                    <a:pt x="2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2" name="Freeform 321"/>
            <p:cNvSpPr>
              <a:spLocks/>
            </p:cNvSpPr>
            <p:nvPr/>
          </p:nvSpPr>
          <p:spPr bwMode="auto">
            <a:xfrm>
              <a:off x="2653" y="1565"/>
              <a:ext cx="31" cy="20"/>
            </a:xfrm>
            <a:custGeom>
              <a:avLst/>
              <a:gdLst/>
              <a:ahLst/>
              <a:cxnLst>
                <a:cxn ang="0">
                  <a:pos x="23" y="12"/>
                </a:cxn>
                <a:cxn ang="0">
                  <a:pos x="3" y="13"/>
                </a:cxn>
                <a:cxn ang="0">
                  <a:pos x="0" y="18"/>
                </a:cxn>
                <a:cxn ang="0">
                  <a:pos x="2" y="11"/>
                </a:cxn>
                <a:cxn ang="0">
                  <a:pos x="15" y="8"/>
                </a:cxn>
                <a:cxn ang="0">
                  <a:pos x="28" y="0"/>
                </a:cxn>
                <a:cxn ang="0">
                  <a:pos x="23" y="12"/>
                </a:cxn>
              </a:cxnLst>
              <a:rect l="0" t="0" r="r" b="b"/>
              <a:pathLst>
                <a:path w="28" h="18">
                  <a:moveTo>
                    <a:pt x="23" y="12"/>
                  </a:moveTo>
                  <a:lnTo>
                    <a:pt x="3" y="13"/>
                  </a:lnTo>
                  <a:lnTo>
                    <a:pt x="0" y="18"/>
                  </a:lnTo>
                  <a:lnTo>
                    <a:pt x="2" y="11"/>
                  </a:lnTo>
                  <a:lnTo>
                    <a:pt x="15" y="8"/>
                  </a:lnTo>
                  <a:lnTo>
                    <a:pt x="28" y="0"/>
                  </a:lnTo>
                  <a:lnTo>
                    <a:pt x="23"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3" name="Freeform 322"/>
            <p:cNvSpPr>
              <a:spLocks/>
            </p:cNvSpPr>
            <p:nvPr/>
          </p:nvSpPr>
          <p:spPr bwMode="auto">
            <a:xfrm>
              <a:off x="2676" y="1608"/>
              <a:ext cx="13" cy="8"/>
            </a:xfrm>
            <a:custGeom>
              <a:avLst/>
              <a:gdLst/>
              <a:ahLst/>
              <a:cxnLst>
                <a:cxn ang="0">
                  <a:pos x="13" y="4"/>
                </a:cxn>
                <a:cxn ang="0">
                  <a:pos x="9" y="0"/>
                </a:cxn>
                <a:cxn ang="0">
                  <a:pos x="0" y="1"/>
                </a:cxn>
                <a:cxn ang="0">
                  <a:pos x="9" y="9"/>
                </a:cxn>
                <a:cxn ang="0">
                  <a:pos x="13" y="4"/>
                </a:cxn>
              </a:cxnLst>
              <a:rect l="0" t="0" r="r" b="b"/>
              <a:pathLst>
                <a:path w="13" h="9">
                  <a:moveTo>
                    <a:pt x="13" y="4"/>
                  </a:moveTo>
                  <a:lnTo>
                    <a:pt x="9" y="0"/>
                  </a:lnTo>
                  <a:lnTo>
                    <a:pt x="0" y="1"/>
                  </a:lnTo>
                  <a:lnTo>
                    <a:pt x="9" y="9"/>
                  </a:lnTo>
                  <a:lnTo>
                    <a:pt x="13"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4" name="Freeform 323"/>
            <p:cNvSpPr>
              <a:spLocks/>
            </p:cNvSpPr>
            <p:nvPr/>
          </p:nvSpPr>
          <p:spPr bwMode="auto">
            <a:xfrm>
              <a:off x="2707" y="1616"/>
              <a:ext cx="2" cy="5"/>
            </a:xfrm>
            <a:custGeom>
              <a:avLst/>
              <a:gdLst/>
              <a:ahLst/>
              <a:cxnLst>
                <a:cxn ang="0">
                  <a:pos x="3" y="1"/>
                </a:cxn>
                <a:cxn ang="0">
                  <a:pos x="0" y="0"/>
                </a:cxn>
                <a:cxn ang="0">
                  <a:pos x="0" y="3"/>
                </a:cxn>
                <a:cxn ang="0">
                  <a:pos x="3" y="1"/>
                </a:cxn>
              </a:cxnLst>
              <a:rect l="0" t="0" r="r" b="b"/>
              <a:pathLst>
                <a:path w="3" h="3">
                  <a:moveTo>
                    <a:pt x="3" y="1"/>
                  </a:moveTo>
                  <a:lnTo>
                    <a:pt x="0" y="0"/>
                  </a:lnTo>
                  <a:lnTo>
                    <a:pt x="0" y="3"/>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5" name="Freeform 324"/>
            <p:cNvSpPr>
              <a:spLocks/>
            </p:cNvSpPr>
            <p:nvPr/>
          </p:nvSpPr>
          <p:spPr bwMode="auto">
            <a:xfrm>
              <a:off x="2864" y="1532"/>
              <a:ext cx="65" cy="31"/>
            </a:xfrm>
            <a:custGeom>
              <a:avLst/>
              <a:gdLst/>
              <a:ahLst/>
              <a:cxnLst>
                <a:cxn ang="0">
                  <a:pos x="59" y="17"/>
                </a:cxn>
                <a:cxn ang="0">
                  <a:pos x="55" y="2"/>
                </a:cxn>
                <a:cxn ang="0">
                  <a:pos x="24" y="0"/>
                </a:cxn>
                <a:cxn ang="0">
                  <a:pos x="0" y="6"/>
                </a:cxn>
                <a:cxn ang="0">
                  <a:pos x="2" y="12"/>
                </a:cxn>
                <a:cxn ang="0">
                  <a:pos x="11" y="22"/>
                </a:cxn>
                <a:cxn ang="0">
                  <a:pos x="16" y="22"/>
                </a:cxn>
                <a:cxn ang="0">
                  <a:pos x="34" y="24"/>
                </a:cxn>
                <a:cxn ang="0">
                  <a:pos x="53" y="28"/>
                </a:cxn>
                <a:cxn ang="0">
                  <a:pos x="59" y="17"/>
                </a:cxn>
              </a:cxnLst>
              <a:rect l="0" t="0" r="r" b="b"/>
              <a:pathLst>
                <a:path w="59" h="28">
                  <a:moveTo>
                    <a:pt x="59" y="17"/>
                  </a:moveTo>
                  <a:lnTo>
                    <a:pt x="55" y="2"/>
                  </a:lnTo>
                  <a:lnTo>
                    <a:pt x="24" y="0"/>
                  </a:lnTo>
                  <a:lnTo>
                    <a:pt x="0" y="6"/>
                  </a:lnTo>
                  <a:lnTo>
                    <a:pt x="2" y="12"/>
                  </a:lnTo>
                  <a:lnTo>
                    <a:pt x="11" y="22"/>
                  </a:lnTo>
                  <a:lnTo>
                    <a:pt x="16" y="22"/>
                  </a:lnTo>
                  <a:lnTo>
                    <a:pt x="34" y="24"/>
                  </a:lnTo>
                  <a:lnTo>
                    <a:pt x="53" y="28"/>
                  </a:lnTo>
                  <a:lnTo>
                    <a:pt x="59"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6" name="Freeform 325"/>
            <p:cNvSpPr>
              <a:spLocks/>
            </p:cNvSpPr>
            <p:nvPr/>
          </p:nvSpPr>
          <p:spPr bwMode="auto">
            <a:xfrm>
              <a:off x="2836" y="1556"/>
              <a:ext cx="106" cy="45"/>
            </a:xfrm>
            <a:custGeom>
              <a:avLst/>
              <a:gdLst/>
              <a:ahLst/>
              <a:cxnLst>
                <a:cxn ang="0">
                  <a:pos x="49" y="26"/>
                </a:cxn>
                <a:cxn ang="0">
                  <a:pos x="26" y="30"/>
                </a:cxn>
                <a:cxn ang="0">
                  <a:pos x="5" y="32"/>
                </a:cxn>
                <a:cxn ang="0">
                  <a:pos x="0" y="33"/>
                </a:cxn>
                <a:cxn ang="0">
                  <a:pos x="7" y="10"/>
                </a:cxn>
                <a:cxn ang="0">
                  <a:pos x="18" y="10"/>
                </a:cxn>
                <a:cxn ang="0">
                  <a:pos x="35" y="21"/>
                </a:cxn>
                <a:cxn ang="0">
                  <a:pos x="42" y="14"/>
                </a:cxn>
                <a:cxn ang="0">
                  <a:pos x="41" y="0"/>
                </a:cxn>
                <a:cxn ang="0">
                  <a:pos x="59" y="2"/>
                </a:cxn>
                <a:cxn ang="0">
                  <a:pos x="78" y="6"/>
                </a:cxn>
                <a:cxn ang="0">
                  <a:pos x="86" y="18"/>
                </a:cxn>
                <a:cxn ang="0">
                  <a:pos x="96" y="37"/>
                </a:cxn>
                <a:cxn ang="0">
                  <a:pos x="77" y="39"/>
                </a:cxn>
                <a:cxn ang="0">
                  <a:pos x="49" y="26"/>
                </a:cxn>
              </a:cxnLst>
              <a:rect l="0" t="0" r="r" b="b"/>
              <a:pathLst>
                <a:path w="96" h="39">
                  <a:moveTo>
                    <a:pt x="49" y="26"/>
                  </a:moveTo>
                  <a:lnTo>
                    <a:pt x="26" y="30"/>
                  </a:lnTo>
                  <a:lnTo>
                    <a:pt x="5" y="32"/>
                  </a:lnTo>
                  <a:lnTo>
                    <a:pt x="0" y="33"/>
                  </a:lnTo>
                  <a:lnTo>
                    <a:pt x="7" y="10"/>
                  </a:lnTo>
                  <a:lnTo>
                    <a:pt x="18" y="10"/>
                  </a:lnTo>
                  <a:lnTo>
                    <a:pt x="35" y="21"/>
                  </a:lnTo>
                  <a:lnTo>
                    <a:pt x="42" y="14"/>
                  </a:lnTo>
                  <a:lnTo>
                    <a:pt x="41" y="0"/>
                  </a:lnTo>
                  <a:lnTo>
                    <a:pt x="59" y="2"/>
                  </a:lnTo>
                  <a:lnTo>
                    <a:pt x="78" y="6"/>
                  </a:lnTo>
                  <a:lnTo>
                    <a:pt x="86" y="18"/>
                  </a:lnTo>
                  <a:lnTo>
                    <a:pt x="96" y="37"/>
                  </a:lnTo>
                  <a:lnTo>
                    <a:pt x="77" y="39"/>
                  </a:lnTo>
                  <a:lnTo>
                    <a:pt x="49" y="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7" name="Freeform 326"/>
            <p:cNvSpPr>
              <a:spLocks/>
            </p:cNvSpPr>
            <p:nvPr/>
          </p:nvSpPr>
          <p:spPr bwMode="auto">
            <a:xfrm>
              <a:off x="2836" y="1585"/>
              <a:ext cx="86" cy="45"/>
            </a:xfrm>
            <a:custGeom>
              <a:avLst/>
              <a:gdLst/>
              <a:ahLst/>
              <a:cxnLst>
                <a:cxn ang="0">
                  <a:pos x="3" y="29"/>
                </a:cxn>
                <a:cxn ang="0">
                  <a:pos x="0" y="7"/>
                </a:cxn>
                <a:cxn ang="0">
                  <a:pos x="5" y="6"/>
                </a:cxn>
                <a:cxn ang="0">
                  <a:pos x="26" y="4"/>
                </a:cxn>
                <a:cxn ang="0">
                  <a:pos x="49" y="0"/>
                </a:cxn>
                <a:cxn ang="0">
                  <a:pos x="77" y="13"/>
                </a:cxn>
                <a:cxn ang="0">
                  <a:pos x="57" y="26"/>
                </a:cxn>
                <a:cxn ang="0">
                  <a:pos x="36" y="41"/>
                </a:cxn>
                <a:cxn ang="0">
                  <a:pos x="24" y="40"/>
                </a:cxn>
                <a:cxn ang="0">
                  <a:pos x="24" y="32"/>
                </a:cxn>
                <a:cxn ang="0">
                  <a:pos x="12" y="31"/>
                </a:cxn>
                <a:cxn ang="0">
                  <a:pos x="3" y="29"/>
                </a:cxn>
              </a:cxnLst>
              <a:rect l="0" t="0" r="r" b="b"/>
              <a:pathLst>
                <a:path w="77" h="41">
                  <a:moveTo>
                    <a:pt x="3" y="29"/>
                  </a:moveTo>
                  <a:lnTo>
                    <a:pt x="0" y="7"/>
                  </a:lnTo>
                  <a:lnTo>
                    <a:pt x="5" y="6"/>
                  </a:lnTo>
                  <a:lnTo>
                    <a:pt x="26" y="4"/>
                  </a:lnTo>
                  <a:lnTo>
                    <a:pt x="49" y="0"/>
                  </a:lnTo>
                  <a:lnTo>
                    <a:pt x="77" y="13"/>
                  </a:lnTo>
                  <a:lnTo>
                    <a:pt x="57" y="26"/>
                  </a:lnTo>
                  <a:lnTo>
                    <a:pt x="36" y="41"/>
                  </a:lnTo>
                  <a:lnTo>
                    <a:pt x="24" y="40"/>
                  </a:lnTo>
                  <a:lnTo>
                    <a:pt x="24" y="32"/>
                  </a:lnTo>
                  <a:lnTo>
                    <a:pt x="12" y="31"/>
                  </a:lnTo>
                  <a:lnTo>
                    <a:pt x="3" y="2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8" name="Freeform 327"/>
            <p:cNvSpPr>
              <a:spLocks/>
            </p:cNvSpPr>
            <p:nvPr/>
          </p:nvSpPr>
          <p:spPr bwMode="auto">
            <a:xfrm>
              <a:off x="2582" y="1648"/>
              <a:ext cx="58" cy="48"/>
            </a:xfrm>
            <a:custGeom>
              <a:avLst/>
              <a:gdLst/>
              <a:ahLst/>
              <a:cxnLst>
                <a:cxn ang="0">
                  <a:pos x="38" y="27"/>
                </a:cxn>
                <a:cxn ang="0">
                  <a:pos x="50" y="21"/>
                </a:cxn>
                <a:cxn ang="0">
                  <a:pos x="45" y="13"/>
                </a:cxn>
                <a:cxn ang="0">
                  <a:pos x="51" y="3"/>
                </a:cxn>
                <a:cxn ang="0">
                  <a:pos x="34" y="0"/>
                </a:cxn>
                <a:cxn ang="0">
                  <a:pos x="16" y="11"/>
                </a:cxn>
                <a:cxn ang="0">
                  <a:pos x="4" y="29"/>
                </a:cxn>
                <a:cxn ang="0">
                  <a:pos x="0" y="35"/>
                </a:cxn>
                <a:cxn ang="0">
                  <a:pos x="12" y="35"/>
                </a:cxn>
                <a:cxn ang="0">
                  <a:pos x="30" y="36"/>
                </a:cxn>
                <a:cxn ang="0">
                  <a:pos x="32" y="42"/>
                </a:cxn>
                <a:cxn ang="0">
                  <a:pos x="37" y="46"/>
                </a:cxn>
                <a:cxn ang="0">
                  <a:pos x="38" y="27"/>
                </a:cxn>
              </a:cxnLst>
              <a:rect l="0" t="0" r="r" b="b"/>
              <a:pathLst>
                <a:path w="51" h="46">
                  <a:moveTo>
                    <a:pt x="38" y="27"/>
                  </a:moveTo>
                  <a:lnTo>
                    <a:pt x="50" y="21"/>
                  </a:lnTo>
                  <a:lnTo>
                    <a:pt x="45" y="13"/>
                  </a:lnTo>
                  <a:lnTo>
                    <a:pt x="51" y="3"/>
                  </a:lnTo>
                  <a:lnTo>
                    <a:pt x="34" y="0"/>
                  </a:lnTo>
                  <a:lnTo>
                    <a:pt x="16" y="11"/>
                  </a:lnTo>
                  <a:lnTo>
                    <a:pt x="4" y="29"/>
                  </a:lnTo>
                  <a:lnTo>
                    <a:pt x="0" y="35"/>
                  </a:lnTo>
                  <a:lnTo>
                    <a:pt x="12" y="35"/>
                  </a:lnTo>
                  <a:lnTo>
                    <a:pt x="30" y="36"/>
                  </a:lnTo>
                  <a:lnTo>
                    <a:pt x="32" y="42"/>
                  </a:lnTo>
                  <a:lnTo>
                    <a:pt x="37" y="46"/>
                  </a:lnTo>
                  <a:lnTo>
                    <a:pt x="38"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9" name="Freeform 328"/>
            <p:cNvSpPr>
              <a:spLocks/>
            </p:cNvSpPr>
            <p:nvPr/>
          </p:nvSpPr>
          <p:spPr bwMode="auto">
            <a:xfrm>
              <a:off x="2742" y="1621"/>
              <a:ext cx="154" cy="109"/>
            </a:xfrm>
            <a:custGeom>
              <a:avLst/>
              <a:gdLst/>
              <a:ahLst/>
              <a:cxnLst>
                <a:cxn ang="0">
                  <a:pos x="57" y="5"/>
                </a:cxn>
                <a:cxn ang="0">
                  <a:pos x="55" y="0"/>
                </a:cxn>
                <a:cxn ang="0">
                  <a:pos x="37" y="2"/>
                </a:cxn>
                <a:cxn ang="0">
                  <a:pos x="19" y="8"/>
                </a:cxn>
                <a:cxn ang="0">
                  <a:pos x="0" y="11"/>
                </a:cxn>
                <a:cxn ang="0">
                  <a:pos x="6" y="17"/>
                </a:cxn>
                <a:cxn ang="0">
                  <a:pos x="1" y="18"/>
                </a:cxn>
                <a:cxn ang="0">
                  <a:pos x="3" y="34"/>
                </a:cxn>
                <a:cxn ang="0">
                  <a:pos x="10" y="53"/>
                </a:cxn>
                <a:cxn ang="0">
                  <a:pos x="13" y="66"/>
                </a:cxn>
                <a:cxn ang="0">
                  <a:pos x="15" y="66"/>
                </a:cxn>
                <a:cxn ang="0">
                  <a:pos x="33" y="72"/>
                </a:cxn>
                <a:cxn ang="0">
                  <a:pos x="37" y="77"/>
                </a:cxn>
                <a:cxn ang="0">
                  <a:pos x="44" y="77"/>
                </a:cxn>
                <a:cxn ang="0">
                  <a:pos x="54" y="77"/>
                </a:cxn>
                <a:cxn ang="0">
                  <a:pos x="70" y="89"/>
                </a:cxn>
                <a:cxn ang="0">
                  <a:pos x="86" y="90"/>
                </a:cxn>
                <a:cxn ang="0">
                  <a:pos x="88" y="94"/>
                </a:cxn>
                <a:cxn ang="0">
                  <a:pos x="100" y="93"/>
                </a:cxn>
                <a:cxn ang="0">
                  <a:pos x="122" y="98"/>
                </a:cxn>
                <a:cxn ang="0">
                  <a:pos x="124" y="93"/>
                </a:cxn>
                <a:cxn ang="0">
                  <a:pos x="138" y="75"/>
                </a:cxn>
                <a:cxn ang="0">
                  <a:pos x="139" y="66"/>
                </a:cxn>
                <a:cxn ang="0">
                  <a:pos x="132" y="47"/>
                </a:cxn>
                <a:cxn ang="0">
                  <a:pos x="123" y="42"/>
                </a:cxn>
                <a:cxn ang="0">
                  <a:pos x="133" y="30"/>
                </a:cxn>
                <a:cxn ang="0">
                  <a:pos x="121" y="9"/>
                </a:cxn>
                <a:cxn ang="0">
                  <a:pos x="96" y="6"/>
                </a:cxn>
                <a:cxn ang="0">
                  <a:pos x="72" y="5"/>
                </a:cxn>
                <a:cxn ang="0">
                  <a:pos x="57" y="5"/>
                </a:cxn>
              </a:cxnLst>
              <a:rect l="0" t="0" r="r" b="b"/>
              <a:pathLst>
                <a:path w="139" h="98">
                  <a:moveTo>
                    <a:pt x="57" y="5"/>
                  </a:moveTo>
                  <a:lnTo>
                    <a:pt x="55" y="0"/>
                  </a:lnTo>
                  <a:lnTo>
                    <a:pt x="37" y="2"/>
                  </a:lnTo>
                  <a:lnTo>
                    <a:pt x="19" y="8"/>
                  </a:lnTo>
                  <a:lnTo>
                    <a:pt x="0" y="11"/>
                  </a:lnTo>
                  <a:lnTo>
                    <a:pt x="6" y="17"/>
                  </a:lnTo>
                  <a:lnTo>
                    <a:pt x="1" y="18"/>
                  </a:lnTo>
                  <a:lnTo>
                    <a:pt x="3" y="34"/>
                  </a:lnTo>
                  <a:lnTo>
                    <a:pt x="10" y="53"/>
                  </a:lnTo>
                  <a:lnTo>
                    <a:pt x="13" y="66"/>
                  </a:lnTo>
                  <a:lnTo>
                    <a:pt x="15" y="66"/>
                  </a:lnTo>
                  <a:lnTo>
                    <a:pt x="33" y="72"/>
                  </a:lnTo>
                  <a:lnTo>
                    <a:pt x="37" y="77"/>
                  </a:lnTo>
                  <a:lnTo>
                    <a:pt x="44" y="77"/>
                  </a:lnTo>
                  <a:lnTo>
                    <a:pt x="54" y="77"/>
                  </a:lnTo>
                  <a:lnTo>
                    <a:pt x="70" y="89"/>
                  </a:lnTo>
                  <a:lnTo>
                    <a:pt x="86" y="90"/>
                  </a:lnTo>
                  <a:lnTo>
                    <a:pt x="88" y="94"/>
                  </a:lnTo>
                  <a:lnTo>
                    <a:pt x="100" y="93"/>
                  </a:lnTo>
                  <a:lnTo>
                    <a:pt x="122" y="98"/>
                  </a:lnTo>
                  <a:lnTo>
                    <a:pt x="124" y="93"/>
                  </a:lnTo>
                  <a:lnTo>
                    <a:pt x="138" y="75"/>
                  </a:lnTo>
                  <a:lnTo>
                    <a:pt x="139" y="66"/>
                  </a:lnTo>
                  <a:lnTo>
                    <a:pt x="132" y="47"/>
                  </a:lnTo>
                  <a:lnTo>
                    <a:pt x="123" y="42"/>
                  </a:lnTo>
                  <a:lnTo>
                    <a:pt x="133" y="30"/>
                  </a:lnTo>
                  <a:lnTo>
                    <a:pt x="121" y="9"/>
                  </a:lnTo>
                  <a:lnTo>
                    <a:pt x="96" y="6"/>
                  </a:lnTo>
                  <a:lnTo>
                    <a:pt x="72" y="5"/>
                  </a:lnTo>
                  <a:lnTo>
                    <a:pt x="57"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0" name="Freeform 329"/>
            <p:cNvSpPr>
              <a:spLocks/>
            </p:cNvSpPr>
            <p:nvPr/>
          </p:nvSpPr>
          <p:spPr bwMode="auto">
            <a:xfrm>
              <a:off x="2849" y="1745"/>
              <a:ext cx="151" cy="89"/>
            </a:xfrm>
            <a:custGeom>
              <a:avLst/>
              <a:gdLst/>
              <a:ahLst/>
              <a:cxnLst>
                <a:cxn ang="0">
                  <a:pos x="123" y="66"/>
                </a:cxn>
                <a:cxn ang="0">
                  <a:pos x="122" y="79"/>
                </a:cxn>
                <a:cxn ang="0">
                  <a:pos x="95" y="73"/>
                </a:cxn>
                <a:cxn ang="0">
                  <a:pos x="73" y="80"/>
                </a:cxn>
                <a:cxn ang="0">
                  <a:pos x="56" y="78"/>
                </a:cxn>
                <a:cxn ang="0">
                  <a:pos x="41" y="76"/>
                </a:cxn>
                <a:cxn ang="0">
                  <a:pos x="37" y="71"/>
                </a:cxn>
                <a:cxn ang="0">
                  <a:pos x="36" y="65"/>
                </a:cxn>
                <a:cxn ang="0">
                  <a:pos x="31" y="64"/>
                </a:cxn>
                <a:cxn ang="0">
                  <a:pos x="26" y="62"/>
                </a:cxn>
                <a:cxn ang="0">
                  <a:pos x="20" y="59"/>
                </a:cxn>
                <a:cxn ang="0">
                  <a:pos x="0" y="37"/>
                </a:cxn>
                <a:cxn ang="0">
                  <a:pos x="7" y="35"/>
                </a:cxn>
                <a:cxn ang="0">
                  <a:pos x="19" y="19"/>
                </a:cxn>
                <a:cxn ang="0">
                  <a:pos x="32" y="6"/>
                </a:cxn>
                <a:cxn ang="0">
                  <a:pos x="33" y="5"/>
                </a:cxn>
                <a:cxn ang="0">
                  <a:pos x="60" y="7"/>
                </a:cxn>
                <a:cxn ang="0">
                  <a:pos x="84" y="0"/>
                </a:cxn>
                <a:cxn ang="0">
                  <a:pos x="85" y="0"/>
                </a:cxn>
                <a:cxn ang="0">
                  <a:pos x="95" y="11"/>
                </a:cxn>
                <a:cxn ang="0">
                  <a:pos x="105" y="20"/>
                </a:cxn>
                <a:cxn ang="0">
                  <a:pos x="110" y="36"/>
                </a:cxn>
                <a:cxn ang="0">
                  <a:pos x="114" y="50"/>
                </a:cxn>
                <a:cxn ang="0">
                  <a:pos x="126" y="50"/>
                </a:cxn>
                <a:cxn ang="0">
                  <a:pos x="134" y="53"/>
                </a:cxn>
                <a:cxn ang="0">
                  <a:pos x="134" y="58"/>
                </a:cxn>
                <a:cxn ang="0">
                  <a:pos x="128" y="61"/>
                </a:cxn>
                <a:cxn ang="0">
                  <a:pos x="127" y="60"/>
                </a:cxn>
                <a:cxn ang="0">
                  <a:pos x="123" y="66"/>
                </a:cxn>
              </a:cxnLst>
              <a:rect l="0" t="0" r="r" b="b"/>
              <a:pathLst>
                <a:path w="134" h="80">
                  <a:moveTo>
                    <a:pt x="123" y="66"/>
                  </a:moveTo>
                  <a:lnTo>
                    <a:pt x="122" y="79"/>
                  </a:lnTo>
                  <a:lnTo>
                    <a:pt x="95" y="73"/>
                  </a:lnTo>
                  <a:lnTo>
                    <a:pt x="73" y="80"/>
                  </a:lnTo>
                  <a:lnTo>
                    <a:pt x="56" y="78"/>
                  </a:lnTo>
                  <a:lnTo>
                    <a:pt x="41" y="76"/>
                  </a:lnTo>
                  <a:lnTo>
                    <a:pt x="37" y="71"/>
                  </a:lnTo>
                  <a:lnTo>
                    <a:pt x="36" y="65"/>
                  </a:lnTo>
                  <a:lnTo>
                    <a:pt x="31" y="64"/>
                  </a:lnTo>
                  <a:lnTo>
                    <a:pt x="26" y="62"/>
                  </a:lnTo>
                  <a:lnTo>
                    <a:pt x="20" y="59"/>
                  </a:lnTo>
                  <a:lnTo>
                    <a:pt x="0" y="37"/>
                  </a:lnTo>
                  <a:lnTo>
                    <a:pt x="7" y="35"/>
                  </a:lnTo>
                  <a:lnTo>
                    <a:pt x="19" y="19"/>
                  </a:lnTo>
                  <a:lnTo>
                    <a:pt x="32" y="6"/>
                  </a:lnTo>
                  <a:lnTo>
                    <a:pt x="33" y="5"/>
                  </a:lnTo>
                  <a:lnTo>
                    <a:pt x="60" y="7"/>
                  </a:lnTo>
                  <a:lnTo>
                    <a:pt x="84" y="0"/>
                  </a:lnTo>
                  <a:lnTo>
                    <a:pt x="85" y="0"/>
                  </a:lnTo>
                  <a:lnTo>
                    <a:pt x="95" y="11"/>
                  </a:lnTo>
                  <a:lnTo>
                    <a:pt x="105" y="20"/>
                  </a:lnTo>
                  <a:lnTo>
                    <a:pt x="110" y="36"/>
                  </a:lnTo>
                  <a:lnTo>
                    <a:pt x="114" y="50"/>
                  </a:lnTo>
                  <a:lnTo>
                    <a:pt x="126" y="50"/>
                  </a:lnTo>
                  <a:lnTo>
                    <a:pt x="134" y="53"/>
                  </a:lnTo>
                  <a:lnTo>
                    <a:pt x="134" y="58"/>
                  </a:lnTo>
                  <a:lnTo>
                    <a:pt x="128" y="61"/>
                  </a:lnTo>
                  <a:lnTo>
                    <a:pt x="127" y="60"/>
                  </a:lnTo>
                  <a:lnTo>
                    <a:pt x="123" y="6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1" name="Freeform 330"/>
            <p:cNvSpPr>
              <a:spLocks/>
            </p:cNvSpPr>
            <p:nvPr/>
          </p:nvSpPr>
          <p:spPr bwMode="auto">
            <a:xfrm>
              <a:off x="2718" y="1694"/>
              <a:ext cx="102" cy="47"/>
            </a:xfrm>
            <a:custGeom>
              <a:avLst/>
              <a:gdLst/>
              <a:ahLst/>
              <a:cxnLst>
                <a:cxn ang="0">
                  <a:pos x="76" y="12"/>
                </a:cxn>
                <a:cxn ang="0">
                  <a:pos x="92" y="24"/>
                </a:cxn>
                <a:cxn ang="0">
                  <a:pos x="92" y="25"/>
                </a:cxn>
                <a:cxn ang="0">
                  <a:pos x="88" y="29"/>
                </a:cxn>
                <a:cxn ang="0">
                  <a:pos x="84" y="31"/>
                </a:cxn>
                <a:cxn ang="0">
                  <a:pos x="84" y="33"/>
                </a:cxn>
                <a:cxn ang="0">
                  <a:pos x="79" y="37"/>
                </a:cxn>
                <a:cxn ang="0">
                  <a:pos x="72" y="39"/>
                </a:cxn>
                <a:cxn ang="0">
                  <a:pos x="67" y="39"/>
                </a:cxn>
                <a:cxn ang="0">
                  <a:pos x="62" y="39"/>
                </a:cxn>
                <a:cxn ang="0">
                  <a:pos x="40" y="35"/>
                </a:cxn>
                <a:cxn ang="0">
                  <a:pos x="32" y="42"/>
                </a:cxn>
                <a:cxn ang="0">
                  <a:pos x="24" y="39"/>
                </a:cxn>
                <a:cxn ang="0">
                  <a:pos x="4" y="19"/>
                </a:cxn>
                <a:cxn ang="0">
                  <a:pos x="0" y="13"/>
                </a:cxn>
                <a:cxn ang="0">
                  <a:pos x="31" y="0"/>
                </a:cxn>
                <a:cxn ang="0">
                  <a:pos x="35" y="1"/>
                </a:cxn>
                <a:cxn ang="0">
                  <a:pos x="37" y="1"/>
                </a:cxn>
                <a:cxn ang="0">
                  <a:pos x="55" y="7"/>
                </a:cxn>
                <a:cxn ang="0">
                  <a:pos x="59" y="12"/>
                </a:cxn>
                <a:cxn ang="0">
                  <a:pos x="66" y="12"/>
                </a:cxn>
                <a:cxn ang="0">
                  <a:pos x="76" y="12"/>
                </a:cxn>
              </a:cxnLst>
              <a:rect l="0" t="0" r="r" b="b"/>
              <a:pathLst>
                <a:path w="92" h="42">
                  <a:moveTo>
                    <a:pt x="76" y="12"/>
                  </a:moveTo>
                  <a:lnTo>
                    <a:pt x="92" y="24"/>
                  </a:lnTo>
                  <a:lnTo>
                    <a:pt x="92" y="25"/>
                  </a:lnTo>
                  <a:lnTo>
                    <a:pt x="88" y="29"/>
                  </a:lnTo>
                  <a:lnTo>
                    <a:pt x="84" y="31"/>
                  </a:lnTo>
                  <a:lnTo>
                    <a:pt x="84" y="33"/>
                  </a:lnTo>
                  <a:lnTo>
                    <a:pt x="79" y="37"/>
                  </a:lnTo>
                  <a:lnTo>
                    <a:pt x="72" y="39"/>
                  </a:lnTo>
                  <a:lnTo>
                    <a:pt x="67" y="39"/>
                  </a:lnTo>
                  <a:lnTo>
                    <a:pt x="62" y="39"/>
                  </a:lnTo>
                  <a:lnTo>
                    <a:pt x="40" y="35"/>
                  </a:lnTo>
                  <a:lnTo>
                    <a:pt x="32" y="42"/>
                  </a:lnTo>
                  <a:lnTo>
                    <a:pt x="24" y="39"/>
                  </a:lnTo>
                  <a:lnTo>
                    <a:pt x="4" y="19"/>
                  </a:lnTo>
                  <a:lnTo>
                    <a:pt x="0" y="13"/>
                  </a:lnTo>
                  <a:lnTo>
                    <a:pt x="31" y="0"/>
                  </a:lnTo>
                  <a:lnTo>
                    <a:pt x="35" y="1"/>
                  </a:lnTo>
                  <a:lnTo>
                    <a:pt x="37" y="1"/>
                  </a:lnTo>
                  <a:lnTo>
                    <a:pt x="55" y="7"/>
                  </a:lnTo>
                  <a:lnTo>
                    <a:pt x="59" y="12"/>
                  </a:lnTo>
                  <a:lnTo>
                    <a:pt x="66" y="12"/>
                  </a:lnTo>
                  <a:lnTo>
                    <a:pt x="7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2" name="Freeform 331"/>
            <p:cNvSpPr>
              <a:spLocks/>
            </p:cNvSpPr>
            <p:nvPr/>
          </p:nvSpPr>
          <p:spPr bwMode="auto">
            <a:xfrm>
              <a:off x="2569" y="1685"/>
              <a:ext cx="58" cy="36"/>
            </a:xfrm>
            <a:custGeom>
              <a:avLst/>
              <a:gdLst/>
              <a:ahLst/>
              <a:cxnLst>
                <a:cxn ang="0">
                  <a:pos x="11" y="0"/>
                </a:cxn>
                <a:cxn ang="0">
                  <a:pos x="0" y="5"/>
                </a:cxn>
                <a:cxn ang="0">
                  <a:pos x="6" y="11"/>
                </a:cxn>
                <a:cxn ang="0">
                  <a:pos x="24" y="23"/>
                </a:cxn>
                <a:cxn ang="0">
                  <a:pos x="30" y="22"/>
                </a:cxn>
                <a:cxn ang="0">
                  <a:pos x="31" y="24"/>
                </a:cxn>
                <a:cxn ang="0">
                  <a:pos x="45" y="31"/>
                </a:cxn>
                <a:cxn ang="0">
                  <a:pos x="45" y="29"/>
                </a:cxn>
                <a:cxn ang="0">
                  <a:pos x="49" y="22"/>
                </a:cxn>
                <a:cxn ang="0">
                  <a:pos x="50" y="12"/>
                </a:cxn>
                <a:cxn ang="0">
                  <a:pos x="48" y="11"/>
                </a:cxn>
                <a:cxn ang="0">
                  <a:pos x="43" y="7"/>
                </a:cxn>
                <a:cxn ang="0">
                  <a:pos x="41" y="1"/>
                </a:cxn>
                <a:cxn ang="0">
                  <a:pos x="23" y="0"/>
                </a:cxn>
                <a:cxn ang="0">
                  <a:pos x="11" y="0"/>
                </a:cxn>
              </a:cxnLst>
              <a:rect l="0" t="0" r="r" b="b"/>
              <a:pathLst>
                <a:path w="50" h="31">
                  <a:moveTo>
                    <a:pt x="11" y="0"/>
                  </a:moveTo>
                  <a:lnTo>
                    <a:pt x="0" y="5"/>
                  </a:lnTo>
                  <a:lnTo>
                    <a:pt x="6" y="11"/>
                  </a:lnTo>
                  <a:lnTo>
                    <a:pt x="24" y="23"/>
                  </a:lnTo>
                  <a:lnTo>
                    <a:pt x="30" y="22"/>
                  </a:lnTo>
                  <a:lnTo>
                    <a:pt x="31" y="24"/>
                  </a:lnTo>
                  <a:lnTo>
                    <a:pt x="45" y="31"/>
                  </a:lnTo>
                  <a:lnTo>
                    <a:pt x="45" y="29"/>
                  </a:lnTo>
                  <a:lnTo>
                    <a:pt x="49" y="22"/>
                  </a:lnTo>
                  <a:lnTo>
                    <a:pt x="50" y="12"/>
                  </a:lnTo>
                  <a:lnTo>
                    <a:pt x="48" y="11"/>
                  </a:lnTo>
                  <a:lnTo>
                    <a:pt x="43" y="7"/>
                  </a:lnTo>
                  <a:lnTo>
                    <a:pt x="41" y="1"/>
                  </a:lnTo>
                  <a:lnTo>
                    <a:pt x="23" y="0"/>
                  </a:lnTo>
                  <a:lnTo>
                    <a:pt x="1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3" name="Freeform 332"/>
            <p:cNvSpPr>
              <a:spLocks/>
            </p:cNvSpPr>
            <p:nvPr/>
          </p:nvSpPr>
          <p:spPr bwMode="auto">
            <a:xfrm>
              <a:off x="2622" y="1616"/>
              <a:ext cx="134" cy="147"/>
            </a:xfrm>
            <a:custGeom>
              <a:avLst/>
              <a:gdLst/>
              <a:ahLst/>
              <a:cxnLst>
                <a:cxn ang="0">
                  <a:pos x="29" y="24"/>
                </a:cxn>
                <a:cxn ang="0">
                  <a:pos x="31" y="25"/>
                </a:cxn>
                <a:cxn ang="0">
                  <a:pos x="31" y="21"/>
                </a:cxn>
                <a:cxn ang="0">
                  <a:pos x="36" y="19"/>
                </a:cxn>
                <a:cxn ang="0">
                  <a:pos x="45" y="23"/>
                </a:cxn>
                <a:cxn ang="0">
                  <a:pos x="41" y="18"/>
                </a:cxn>
                <a:cxn ang="0">
                  <a:pos x="36" y="11"/>
                </a:cxn>
                <a:cxn ang="0">
                  <a:pos x="35" y="9"/>
                </a:cxn>
                <a:cxn ang="0">
                  <a:pos x="32" y="0"/>
                </a:cxn>
                <a:cxn ang="0">
                  <a:pos x="43" y="2"/>
                </a:cxn>
                <a:cxn ang="0">
                  <a:pos x="47" y="2"/>
                </a:cxn>
                <a:cxn ang="0">
                  <a:pos x="48" y="7"/>
                </a:cxn>
                <a:cxn ang="0">
                  <a:pos x="62" y="9"/>
                </a:cxn>
                <a:cxn ang="0">
                  <a:pos x="62" y="14"/>
                </a:cxn>
                <a:cxn ang="0">
                  <a:pos x="67" y="17"/>
                </a:cxn>
                <a:cxn ang="0">
                  <a:pos x="85" y="8"/>
                </a:cxn>
                <a:cxn ang="0">
                  <a:pos x="85" y="9"/>
                </a:cxn>
                <a:cxn ang="0">
                  <a:pos x="101" y="15"/>
                </a:cxn>
                <a:cxn ang="0">
                  <a:pos x="107" y="14"/>
                </a:cxn>
                <a:cxn ang="0">
                  <a:pos x="113" y="20"/>
                </a:cxn>
                <a:cxn ang="0">
                  <a:pos x="108" y="21"/>
                </a:cxn>
                <a:cxn ang="0">
                  <a:pos x="110" y="37"/>
                </a:cxn>
                <a:cxn ang="0">
                  <a:pos x="117" y="56"/>
                </a:cxn>
                <a:cxn ang="0">
                  <a:pos x="120" y="69"/>
                </a:cxn>
                <a:cxn ang="0">
                  <a:pos x="116" y="68"/>
                </a:cxn>
                <a:cxn ang="0">
                  <a:pos x="85" y="81"/>
                </a:cxn>
                <a:cxn ang="0">
                  <a:pos x="89" y="87"/>
                </a:cxn>
                <a:cxn ang="0">
                  <a:pos x="109" y="107"/>
                </a:cxn>
                <a:cxn ang="0">
                  <a:pos x="98" y="116"/>
                </a:cxn>
                <a:cxn ang="0">
                  <a:pos x="101" y="125"/>
                </a:cxn>
                <a:cxn ang="0">
                  <a:pos x="96" y="127"/>
                </a:cxn>
                <a:cxn ang="0">
                  <a:pos x="79" y="127"/>
                </a:cxn>
                <a:cxn ang="0">
                  <a:pos x="67" y="127"/>
                </a:cxn>
                <a:cxn ang="0">
                  <a:pos x="63" y="131"/>
                </a:cxn>
                <a:cxn ang="0">
                  <a:pos x="51" y="128"/>
                </a:cxn>
                <a:cxn ang="0">
                  <a:pos x="37" y="126"/>
                </a:cxn>
                <a:cxn ang="0">
                  <a:pos x="24" y="127"/>
                </a:cxn>
                <a:cxn ang="0">
                  <a:pos x="30" y="102"/>
                </a:cxn>
                <a:cxn ang="0">
                  <a:pos x="7" y="95"/>
                </a:cxn>
                <a:cxn ang="0">
                  <a:pos x="5" y="93"/>
                </a:cxn>
                <a:cxn ang="0">
                  <a:pos x="5" y="92"/>
                </a:cxn>
                <a:cxn ang="0">
                  <a:pos x="1" y="83"/>
                </a:cxn>
                <a:cxn ang="0">
                  <a:pos x="2" y="73"/>
                </a:cxn>
                <a:cxn ang="0">
                  <a:pos x="0" y="72"/>
                </a:cxn>
                <a:cxn ang="0">
                  <a:pos x="1" y="53"/>
                </a:cxn>
                <a:cxn ang="0">
                  <a:pos x="13" y="47"/>
                </a:cxn>
                <a:cxn ang="0">
                  <a:pos x="8" y="39"/>
                </a:cxn>
                <a:cxn ang="0">
                  <a:pos x="14" y="29"/>
                </a:cxn>
                <a:cxn ang="0">
                  <a:pos x="12" y="27"/>
                </a:cxn>
                <a:cxn ang="0">
                  <a:pos x="14" y="21"/>
                </a:cxn>
                <a:cxn ang="0">
                  <a:pos x="29" y="24"/>
                </a:cxn>
              </a:cxnLst>
              <a:rect l="0" t="0" r="r" b="b"/>
              <a:pathLst>
                <a:path w="120" h="131">
                  <a:moveTo>
                    <a:pt x="29" y="24"/>
                  </a:moveTo>
                  <a:lnTo>
                    <a:pt x="31" y="25"/>
                  </a:lnTo>
                  <a:lnTo>
                    <a:pt x="31" y="21"/>
                  </a:lnTo>
                  <a:lnTo>
                    <a:pt x="36" y="19"/>
                  </a:lnTo>
                  <a:lnTo>
                    <a:pt x="45" y="23"/>
                  </a:lnTo>
                  <a:lnTo>
                    <a:pt x="41" y="18"/>
                  </a:lnTo>
                  <a:lnTo>
                    <a:pt x="36" y="11"/>
                  </a:lnTo>
                  <a:lnTo>
                    <a:pt x="35" y="9"/>
                  </a:lnTo>
                  <a:lnTo>
                    <a:pt x="32" y="0"/>
                  </a:lnTo>
                  <a:lnTo>
                    <a:pt x="43" y="2"/>
                  </a:lnTo>
                  <a:lnTo>
                    <a:pt x="47" y="2"/>
                  </a:lnTo>
                  <a:lnTo>
                    <a:pt x="48" y="7"/>
                  </a:lnTo>
                  <a:lnTo>
                    <a:pt x="62" y="9"/>
                  </a:lnTo>
                  <a:lnTo>
                    <a:pt x="62" y="14"/>
                  </a:lnTo>
                  <a:lnTo>
                    <a:pt x="67" y="17"/>
                  </a:lnTo>
                  <a:lnTo>
                    <a:pt x="85" y="8"/>
                  </a:lnTo>
                  <a:lnTo>
                    <a:pt x="85" y="9"/>
                  </a:lnTo>
                  <a:lnTo>
                    <a:pt x="101" y="15"/>
                  </a:lnTo>
                  <a:lnTo>
                    <a:pt x="107" y="14"/>
                  </a:lnTo>
                  <a:lnTo>
                    <a:pt x="113" y="20"/>
                  </a:lnTo>
                  <a:lnTo>
                    <a:pt x="108" y="21"/>
                  </a:lnTo>
                  <a:lnTo>
                    <a:pt x="110" y="37"/>
                  </a:lnTo>
                  <a:lnTo>
                    <a:pt x="117" y="56"/>
                  </a:lnTo>
                  <a:lnTo>
                    <a:pt x="120" y="69"/>
                  </a:lnTo>
                  <a:lnTo>
                    <a:pt x="116" y="68"/>
                  </a:lnTo>
                  <a:lnTo>
                    <a:pt x="85" y="81"/>
                  </a:lnTo>
                  <a:lnTo>
                    <a:pt x="89" y="87"/>
                  </a:lnTo>
                  <a:lnTo>
                    <a:pt x="109" y="107"/>
                  </a:lnTo>
                  <a:lnTo>
                    <a:pt x="98" y="116"/>
                  </a:lnTo>
                  <a:lnTo>
                    <a:pt x="101" y="125"/>
                  </a:lnTo>
                  <a:lnTo>
                    <a:pt x="96" y="127"/>
                  </a:lnTo>
                  <a:lnTo>
                    <a:pt x="79" y="127"/>
                  </a:lnTo>
                  <a:lnTo>
                    <a:pt x="67" y="127"/>
                  </a:lnTo>
                  <a:lnTo>
                    <a:pt x="63" y="131"/>
                  </a:lnTo>
                  <a:lnTo>
                    <a:pt x="51" y="128"/>
                  </a:lnTo>
                  <a:lnTo>
                    <a:pt x="37" y="126"/>
                  </a:lnTo>
                  <a:lnTo>
                    <a:pt x="24" y="127"/>
                  </a:lnTo>
                  <a:lnTo>
                    <a:pt x="30" y="102"/>
                  </a:lnTo>
                  <a:lnTo>
                    <a:pt x="7" y="95"/>
                  </a:lnTo>
                  <a:lnTo>
                    <a:pt x="5" y="93"/>
                  </a:lnTo>
                  <a:lnTo>
                    <a:pt x="5" y="92"/>
                  </a:lnTo>
                  <a:lnTo>
                    <a:pt x="1" y="83"/>
                  </a:lnTo>
                  <a:lnTo>
                    <a:pt x="2" y="73"/>
                  </a:lnTo>
                  <a:lnTo>
                    <a:pt x="0" y="72"/>
                  </a:lnTo>
                  <a:lnTo>
                    <a:pt x="1" y="53"/>
                  </a:lnTo>
                  <a:lnTo>
                    <a:pt x="13" y="47"/>
                  </a:lnTo>
                  <a:lnTo>
                    <a:pt x="8" y="39"/>
                  </a:lnTo>
                  <a:lnTo>
                    <a:pt x="14" y="29"/>
                  </a:lnTo>
                  <a:lnTo>
                    <a:pt x="12" y="27"/>
                  </a:lnTo>
                  <a:lnTo>
                    <a:pt x="14" y="21"/>
                  </a:lnTo>
                  <a:lnTo>
                    <a:pt x="29"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4" name="Freeform 333"/>
            <p:cNvSpPr>
              <a:spLocks/>
            </p:cNvSpPr>
            <p:nvPr/>
          </p:nvSpPr>
          <p:spPr bwMode="auto">
            <a:xfrm>
              <a:off x="2727" y="1623"/>
              <a:ext cx="9" cy="7"/>
            </a:xfrm>
            <a:custGeom>
              <a:avLst/>
              <a:gdLst/>
              <a:ahLst/>
              <a:cxnLst>
                <a:cxn ang="0">
                  <a:pos x="0" y="5"/>
                </a:cxn>
                <a:cxn ang="0">
                  <a:pos x="9" y="5"/>
                </a:cxn>
                <a:cxn ang="0">
                  <a:pos x="4" y="0"/>
                </a:cxn>
                <a:cxn ang="0">
                  <a:pos x="0" y="5"/>
                </a:cxn>
              </a:cxnLst>
              <a:rect l="0" t="0" r="r" b="b"/>
              <a:pathLst>
                <a:path w="9" h="5">
                  <a:moveTo>
                    <a:pt x="0" y="5"/>
                  </a:moveTo>
                  <a:lnTo>
                    <a:pt x="9" y="5"/>
                  </a:lnTo>
                  <a:lnTo>
                    <a:pt x="4" y="0"/>
                  </a:lnTo>
                  <a:lnTo>
                    <a:pt x="0"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5" name="Freeform 334"/>
            <p:cNvSpPr>
              <a:spLocks/>
            </p:cNvSpPr>
            <p:nvPr/>
          </p:nvSpPr>
          <p:spPr bwMode="auto">
            <a:xfrm>
              <a:off x="2620" y="1710"/>
              <a:ext cx="9" cy="11"/>
            </a:xfrm>
            <a:custGeom>
              <a:avLst/>
              <a:gdLst/>
              <a:ahLst/>
              <a:cxnLst>
                <a:cxn ang="0">
                  <a:pos x="4" y="0"/>
                </a:cxn>
                <a:cxn ang="0">
                  <a:pos x="0" y="7"/>
                </a:cxn>
                <a:cxn ang="0">
                  <a:pos x="0" y="9"/>
                </a:cxn>
                <a:cxn ang="0">
                  <a:pos x="8" y="10"/>
                </a:cxn>
                <a:cxn ang="0">
                  <a:pos x="8" y="9"/>
                </a:cxn>
                <a:cxn ang="0">
                  <a:pos x="4" y="0"/>
                </a:cxn>
              </a:cxnLst>
              <a:rect l="0" t="0" r="r" b="b"/>
              <a:pathLst>
                <a:path w="8" h="10">
                  <a:moveTo>
                    <a:pt x="4" y="0"/>
                  </a:moveTo>
                  <a:lnTo>
                    <a:pt x="0" y="7"/>
                  </a:lnTo>
                  <a:lnTo>
                    <a:pt x="0" y="9"/>
                  </a:lnTo>
                  <a:lnTo>
                    <a:pt x="8" y="10"/>
                  </a:lnTo>
                  <a:lnTo>
                    <a:pt x="8" y="9"/>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6" name="Freeform 335"/>
            <p:cNvSpPr>
              <a:spLocks/>
            </p:cNvSpPr>
            <p:nvPr/>
          </p:nvSpPr>
          <p:spPr bwMode="auto">
            <a:xfrm>
              <a:off x="2942" y="1734"/>
              <a:ext cx="69" cy="69"/>
            </a:xfrm>
            <a:custGeom>
              <a:avLst/>
              <a:gdLst/>
              <a:ahLst/>
              <a:cxnLst>
                <a:cxn ang="0">
                  <a:pos x="12" y="0"/>
                </a:cxn>
                <a:cxn ang="0">
                  <a:pos x="0" y="10"/>
                </a:cxn>
                <a:cxn ang="0">
                  <a:pos x="1" y="10"/>
                </a:cxn>
                <a:cxn ang="0">
                  <a:pos x="11" y="21"/>
                </a:cxn>
                <a:cxn ang="0">
                  <a:pos x="21" y="30"/>
                </a:cxn>
                <a:cxn ang="0">
                  <a:pos x="26" y="46"/>
                </a:cxn>
                <a:cxn ang="0">
                  <a:pos x="30" y="60"/>
                </a:cxn>
                <a:cxn ang="0">
                  <a:pos x="42" y="60"/>
                </a:cxn>
                <a:cxn ang="0">
                  <a:pos x="50" y="63"/>
                </a:cxn>
                <a:cxn ang="0">
                  <a:pos x="49" y="54"/>
                </a:cxn>
                <a:cxn ang="0">
                  <a:pos x="61" y="44"/>
                </a:cxn>
                <a:cxn ang="0">
                  <a:pos x="50" y="33"/>
                </a:cxn>
                <a:cxn ang="0">
                  <a:pos x="38" y="23"/>
                </a:cxn>
                <a:cxn ang="0">
                  <a:pos x="27" y="12"/>
                </a:cxn>
                <a:cxn ang="0">
                  <a:pos x="17" y="2"/>
                </a:cxn>
                <a:cxn ang="0">
                  <a:pos x="12" y="0"/>
                </a:cxn>
              </a:cxnLst>
              <a:rect l="0" t="0" r="r" b="b"/>
              <a:pathLst>
                <a:path w="61" h="63">
                  <a:moveTo>
                    <a:pt x="12" y="0"/>
                  </a:moveTo>
                  <a:lnTo>
                    <a:pt x="0" y="10"/>
                  </a:lnTo>
                  <a:lnTo>
                    <a:pt x="1" y="10"/>
                  </a:lnTo>
                  <a:lnTo>
                    <a:pt x="11" y="21"/>
                  </a:lnTo>
                  <a:lnTo>
                    <a:pt x="21" y="30"/>
                  </a:lnTo>
                  <a:lnTo>
                    <a:pt x="26" y="46"/>
                  </a:lnTo>
                  <a:lnTo>
                    <a:pt x="30" y="60"/>
                  </a:lnTo>
                  <a:lnTo>
                    <a:pt x="42" y="60"/>
                  </a:lnTo>
                  <a:lnTo>
                    <a:pt x="50" y="63"/>
                  </a:lnTo>
                  <a:lnTo>
                    <a:pt x="49" y="54"/>
                  </a:lnTo>
                  <a:lnTo>
                    <a:pt x="61" y="44"/>
                  </a:lnTo>
                  <a:lnTo>
                    <a:pt x="50" y="33"/>
                  </a:lnTo>
                  <a:lnTo>
                    <a:pt x="38" y="23"/>
                  </a:lnTo>
                  <a:lnTo>
                    <a:pt x="27" y="12"/>
                  </a:lnTo>
                  <a:lnTo>
                    <a:pt x="17" y="2"/>
                  </a:lnTo>
                  <a:lnTo>
                    <a:pt x="1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7" name="Freeform 336"/>
            <p:cNvSpPr>
              <a:spLocks/>
            </p:cNvSpPr>
            <p:nvPr/>
          </p:nvSpPr>
          <p:spPr bwMode="auto">
            <a:xfrm>
              <a:off x="2602" y="1330"/>
              <a:ext cx="320" cy="229"/>
            </a:xfrm>
            <a:custGeom>
              <a:avLst/>
              <a:gdLst/>
              <a:ahLst/>
              <a:cxnLst>
                <a:cxn ang="0">
                  <a:pos x="166" y="17"/>
                </a:cxn>
                <a:cxn ang="0">
                  <a:pos x="159" y="18"/>
                </a:cxn>
                <a:cxn ang="0">
                  <a:pos x="150" y="24"/>
                </a:cxn>
                <a:cxn ang="0">
                  <a:pos x="141" y="29"/>
                </a:cxn>
                <a:cxn ang="0">
                  <a:pos x="127" y="38"/>
                </a:cxn>
                <a:cxn ang="0">
                  <a:pos x="129" y="42"/>
                </a:cxn>
                <a:cxn ang="0">
                  <a:pos x="126" y="48"/>
                </a:cxn>
                <a:cxn ang="0">
                  <a:pos x="110" y="51"/>
                </a:cxn>
                <a:cxn ang="0">
                  <a:pos x="120" y="55"/>
                </a:cxn>
                <a:cxn ang="0">
                  <a:pos x="110" y="57"/>
                </a:cxn>
                <a:cxn ang="0">
                  <a:pos x="99" y="65"/>
                </a:cxn>
                <a:cxn ang="0">
                  <a:pos x="91" y="72"/>
                </a:cxn>
                <a:cxn ang="0">
                  <a:pos x="90" y="77"/>
                </a:cxn>
                <a:cxn ang="0">
                  <a:pos x="87" y="89"/>
                </a:cxn>
                <a:cxn ang="0">
                  <a:pos x="75" y="96"/>
                </a:cxn>
                <a:cxn ang="0">
                  <a:pos x="72" y="101"/>
                </a:cxn>
                <a:cxn ang="0">
                  <a:pos x="56" y="113"/>
                </a:cxn>
                <a:cxn ang="0">
                  <a:pos x="73" y="109"/>
                </a:cxn>
                <a:cxn ang="0">
                  <a:pos x="58" y="117"/>
                </a:cxn>
                <a:cxn ang="0">
                  <a:pos x="42" y="121"/>
                </a:cxn>
                <a:cxn ang="0">
                  <a:pos x="37" y="126"/>
                </a:cxn>
                <a:cxn ang="0">
                  <a:pos x="22" y="129"/>
                </a:cxn>
                <a:cxn ang="0">
                  <a:pos x="27" y="131"/>
                </a:cxn>
                <a:cxn ang="0">
                  <a:pos x="24" y="138"/>
                </a:cxn>
                <a:cxn ang="0">
                  <a:pos x="9" y="138"/>
                </a:cxn>
                <a:cxn ang="0">
                  <a:pos x="1" y="139"/>
                </a:cxn>
                <a:cxn ang="0">
                  <a:pos x="0" y="145"/>
                </a:cxn>
                <a:cxn ang="0">
                  <a:pos x="3" y="151"/>
                </a:cxn>
                <a:cxn ang="0">
                  <a:pos x="27" y="152"/>
                </a:cxn>
                <a:cxn ang="0">
                  <a:pos x="26" y="158"/>
                </a:cxn>
                <a:cxn ang="0">
                  <a:pos x="2" y="161"/>
                </a:cxn>
                <a:cxn ang="0">
                  <a:pos x="8" y="163"/>
                </a:cxn>
                <a:cxn ang="0">
                  <a:pos x="8" y="169"/>
                </a:cxn>
                <a:cxn ang="0">
                  <a:pos x="22" y="165"/>
                </a:cxn>
                <a:cxn ang="0">
                  <a:pos x="12" y="176"/>
                </a:cxn>
                <a:cxn ang="0">
                  <a:pos x="6" y="185"/>
                </a:cxn>
                <a:cxn ang="0">
                  <a:pos x="16" y="185"/>
                </a:cxn>
                <a:cxn ang="0">
                  <a:pos x="10" y="198"/>
                </a:cxn>
                <a:cxn ang="0">
                  <a:pos x="60" y="188"/>
                </a:cxn>
                <a:cxn ang="0">
                  <a:pos x="73" y="176"/>
                </a:cxn>
                <a:cxn ang="0">
                  <a:pos x="90" y="175"/>
                </a:cxn>
                <a:cxn ang="0">
                  <a:pos x="97" y="151"/>
                </a:cxn>
                <a:cxn ang="0">
                  <a:pos x="86" y="114"/>
                </a:cxn>
                <a:cxn ang="0">
                  <a:pos x="102" y="99"/>
                </a:cxn>
                <a:cxn ang="0">
                  <a:pos x="120" y="73"/>
                </a:cxn>
                <a:cxn ang="0">
                  <a:pos x="147" y="43"/>
                </a:cxn>
                <a:cxn ang="0">
                  <a:pos x="168" y="30"/>
                </a:cxn>
                <a:cxn ang="0">
                  <a:pos x="194" y="33"/>
                </a:cxn>
                <a:cxn ang="0">
                  <a:pos x="230" y="32"/>
                </a:cxn>
                <a:cxn ang="0">
                  <a:pos x="270" y="20"/>
                </a:cxn>
                <a:cxn ang="0">
                  <a:pos x="289" y="23"/>
                </a:cxn>
                <a:cxn ang="0">
                  <a:pos x="276" y="19"/>
                </a:cxn>
                <a:cxn ang="0">
                  <a:pos x="278" y="6"/>
                </a:cxn>
                <a:cxn ang="0">
                  <a:pos x="256" y="13"/>
                </a:cxn>
                <a:cxn ang="0">
                  <a:pos x="253" y="5"/>
                </a:cxn>
                <a:cxn ang="0">
                  <a:pos x="237" y="11"/>
                </a:cxn>
                <a:cxn ang="0">
                  <a:pos x="225" y="5"/>
                </a:cxn>
                <a:cxn ang="0">
                  <a:pos x="213" y="6"/>
                </a:cxn>
                <a:cxn ang="0">
                  <a:pos x="193" y="12"/>
                </a:cxn>
                <a:cxn ang="0">
                  <a:pos x="186" y="18"/>
                </a:cxn>
              </a:cxnLst>
              <a:rect l="0" t="0" r="r" b="b"/>
              <a:pathLst>
                <a:path w="289" h="205">
                  <a:moveTo>
                    <a:pt x="171" y="21"/>
                  </a:moveTo>
                  <a:lnTo>
                    <a:pt x="166" y="26"/>
                  </a:lnTo>
                  <a:lnTo>
                    <a:pt x="166" y="17"/>
                  </a:lnTo>
                  <a:lnTo>
                    <a:pt x="165" y="21"/>
                  </a:lnTo>
                  <a:lnTo>
                    <a:pt x="162" y="23"/>
                  </a:lnTo>
                  <a:lnTo>
                    <a:pt x="159" y="18"/>
                  </a:lnTo>
                  <a:lnTo>
                    <a:pt x="157" y="21"/>
                  </a:lnTo>
                  <a:lnTo>
                    <a:pt x="158" y="25"/>
                  </a:lnTo>
                  <a:lnTo>
                    <a:pt x="150" y="24"/>
                  </a:lnTo>
                  <a:lnTo>
                    <a:pt x="151" y="26"/>
                  </a:lnTo>
                  <a:lnTo>
                    <a:pt x="145" y="25"/>
                  </a:lnTo>
                  <a:lnTo>
                    <a:pt x="141" y="29"/>
                  </a:lnTo>
                  <a:lnTo>
                    <a:pt x="142" y="35"/>
                  </a:lnTo>
                  <a:lnTo>
                    <a:pt x="140" y="36"/>
                  </a:lnTo>
                  <a:lnTo>
                    <a:pt x="127" y="38"/>
                  </a:lnTo>
                  <a:lnTo>
                    <a:pt x="140" y="39"/>
                  </a:lnTo>
                  <a:lnTo>
                    <a:pt x="138" y="43"/>
                  </a:lnTo>
                  <a:lnTo>
                    <a:pt x="129" y="42"/>
                  </a:lnTo>
                  <a:lnTo>
                    <a:pt x="128" y="43"/>
                  </a:lnTo>
                  <a:lnTo>
                    <a:pt x="126" y="47"/>
                  </a:lnTo>
                  <a:lnTo>
                    <a:pt x="126" y="48"/>
                  </a:lnTo>
                  <a:lnTo>
                    <a:pt x="122" y="44"/>
                  </a:lnTo>
                  <a:lnTo>
                    <a:pt x="118" y="45"/>
                  </a:lnTo>
                  <a:lnTo>
                    <a:pt x="110" y="51"/>
                  </a:lnTo>
                  <a:lnTo>
                    <a:pt x="121" y="50"/>
                  </a:lnTo>
                  <a:lnTo>
                    <a:pt x="117" y="53"/>
                  </a:lnTo>
                  <a:lnTo>
                    <a:pt x="120" y="55"/>
                  </a:lnTo>
                  <a:lnTo>
                    <a:pt x="118" y="55"/>
                  </a:lnTo>
                  <a:lnTo>
                    <a:pt x="111" y="55"/>
                  </a:lnTo>
                  <a:lnTo>
                    <a:pt x="110" y="57"/>
                  </a:lnTo>
                  <a:lnTo>
                    <a:pt x="118" y="61"/>
                  </a:lnTo>
                  <a:lnTo>
                    <a:pt x="109" y="61"/>
                  </a:lnTo>
                  <a:lnTo>
                    <a:pt x="99" y="65"/>
                  </a:lnTo>
                  <a:lnTo>
                    <a:pt x="93" y="68"/>
                  </a:lnTo>
                  <a:lnTo>
                    <a:pt x="94" y="68"/>
                  </a:lnTo>
                  <a:lnTo>
                    <a:pt x="91" y="72"/>
                  </a:lnTo>
                  <a:lnTo>
                    <a:pt x="93" y="73"/>
                  </a:lnTo>
                  <a:lnTo>
                    <a:pt x="100" y="73"/>
                  </a:lnTo>
                  <a:lnTo>
                    <a:pt x="90" y="77"/>
                  </a:lnTo>
                  <a:lnTo>
                    <a:pt x="87" y="81"/>
                  </a:lnTo>
                  <a:lnTo>
                    <a:pt x="87" y="85"/>
                  </a:lnTo>
                  <a:lnTo>
                    <a:pt x="87" y="89"/>
                  </a:lnTo>
                  <a:lnTo>
                    <a:pt x="90" y="90"/>
                  </a:lnTo>
                  <a:lnTo>
                    <a:pt x="75" y="95"/>
                  </a:lnTo>
                  <a:lnTo>
                    <a:pt x="75" y="96"/>
                  </a:lnTo>
                  <a:lnTo>
                    <a:pt x="81" y="93"/>
                  </a:lnTo>
                  <a:lnTo>
                    <a:pt x="78" y="98"/>
                  </a:lnTo>
                  <a:lnTo>
                    <a:pt x="72" y="101"/>
                  </a:lnTo>
                  <a:lnTo>
                    <a:pt x="67" y="102"/>
                  </a:lnTo>
                  <a:lnTo>
                    <a:pt x="60" y="109"/>
                  </a:lnTo>
                  <a:lnTo>
                    <a:pt x="56" y="113"/>
                  </a:lnTo>
                  <a:lnTo>
                    <a:pt x="61" y="116"/>
                  </a:lnTo>
                  <a:lnTo>
                    <a:pt x="68" y="111"/>
                  </a:lnTo>
                  <a:lnTo>
                    <a:pt x="73" y="109"/>
                  </a:lnTo>
                  <a:lnTo>
                    <a:pt x="73" y="114"/>
                  </a:lnTo>
                  <a:lnTo>
                    <a:pt x="63" y="117"/>
                  </a:lnTo>
                  <a:lnTo>
                    <a:pt x="58" y="117"/>
                  </a:lnTo>
                  <a:lnTo>
                    <a:pt x="49" y="116"/>
                  </a:lnTo>
                  <a:lnTo>
                    <a:pt x="48" y="117"/>
                  </a:lnTo>
                  <a:lnTo>
                    <a:pt x="42" y="121"/>
                  </a:lnTo>
                  <a:lnTo>
                    <a:pt x="38" y="125"/>
                  </a:lnTo>
                  <a:lnTo>
                    <a:pt x="39" y="127"/>
                  </a:lnTo>
                  <a:lnTo>
                    <a:pt x="37" y="126"/>
                  </a:lnTo>
                  <a:lnTo>
                    <a:pt x="40" y="129"/>
                  </a:lnTo>
                  <a:lnTo>
                    <a:pt x="24" y="125"/>
                  </a:lnTo>
                  <a:lnTo>
                    <a:pt x="22" y="129"/>
                  </a:lnTo>
                  <a:lnTo>
                    <a:pt x="27" y="129"/>
                  </a:lnTo>
                  <a:lnTo>
                    <a:pt x="32" y="129"/>
                  </a:lnTo>
                  <a:lnTo>
                    <a:pt x="27" y="131"/>
                  </a:lnTo>
                  <a:lnTo>
                    <a:pt x="16" y="133"/>
                  </a:lnTo>
                  <a:lnTo>
                    <a:pt x="25" y="137"/>
                  </a:lnTo>
                  <a:lnTo>
                    <a:pt x="24" y="138"/>
                  </a:lnTo>
                  <a:lnTo>
                    <a:pt x="15" y="134"/>
                  </a:lnTo>
                  <a:lnTo>
                    <a:pt x="16" y="137"/>
                  </a:lnTo>
                  <a:lnTo>
                    <a:pt x="9" y="138"/>
                  </a:lnTo>
                  <a:lnTo>
                    <a:pt x="12" y="139"/>
                  </a:lnTo>
                  <a:lnTo>
                    <a:pt x="4" y="140"/>
                  </a:lnTo>
                  <a:lnTo>
                    <a:pt x="1" y="139"/>
                  </a:lnTo>
                  <a:lnTo>
                    <a:pt x="1" y="143"/>
                  </a:lnTo>
                  <a:lnTo>
                    <a:pt x="18" y="144"/>
                  </a:lnTo>
                  <a:lnTo>
                    <a:pt x="0" y="145"/>
                  </a:lnTo>
                  <a:lnTo>
                    <a:pt x="6" y="150"/>
                  </a:lnTo>
                  <a:lnTo>
                    <a:pt x="2" y="151"/>
                  </a:lnTo>
                  <a:lnTo>
                    <a:pt x="3" y="151"/>
                  </a:lnTo>
                  <a:lnTo>
                    <a:pt x="1" y="155"/>
                  </a:lnTo>
                  <a:lnTo>
                    <a:pt x="19" y="152"/>
                  </a:lnTo>
                  <a:lnTo>
                    <a:pt x="27" y="152"/>
                  </a:lnTo>
                  <a:lnTo>
                    <a:pt x="28" y="151"/>
                  </a:lnTo>
                  <a:lnTo>
                    <a:pt x="30" y="156"/>
                  </a:lnTo>
                  <a:lnTo>
                    <a:pt x="26" y="158"/>
                  </a:lnTo>
                  <a:lnTo>
                    <a:pt x="16" y="156"/>
                  </a:lnTo>
                  <a:lnTo>
                    <a:pt x="0" y="158"/>
                  </a:lnTo>
                  <a:lnTo>
                    <a:pt x="2" y="161"/>
                  </a:lnTo>
                  <a:lnTo>
                    <a:pt x="3" y="162"/>
                  </a:lnTo>
                  <a:lnTo>
                    <a:pt x="0" y="162"/>
                  </a:lnTo>
                  <a:lnTo>
                    <a:pt x="8" y="163"/>
                  </a:lnTo>
                  <a:lnTo>
                    <a:pt x="6" y="167"/>
                  </a:lnTo>
                  <a:lnTo>
                    <a:pt x="2" y="170"/>
                  </a:lnTo>
                  <a:lnTo>
                    <a:pt x="8" y="169"/>
                  </a:lnTo>
                  <a:lnTo>
                    <a:pt x="10" y="173"/>
                  </a:lnTo>
                  <a:lnTo>
                    <a:pt x="16" y="167"/>
                  </a:lnTo>
                  <a:lnTo>
                    <a:pt x="22" y="165"/>
                  </a:lnTo>
                  <a:lnTo>
                    <a:pt x="19" y="171"/>
                  </a:lnTo>
                  <a:lnTo>
                    <a:pt x="18" y="167"/>
                  </a:lnTo>
                  <a:lnTo>
                    <a:pt x="12" y="176"/>
                  </a:lnTo>
                  <a:lnTo>
                    <a:pt x="13" y="177"/>
                  </a:lnTo>
                  <a:lnTo>
                    <a:pt x="6" y="180"/>
                  </a:lnTo>
                  <a:lnTo>
                    <a:pt x="6" y="185"/>
                  </a:lnTo>
                  <a:lnTo>
                    <a:pt x="12" y="182"/>
                  </a:lnTo>
                  <a:lnTo>
                    <a:pt x="15" y="181"/>
                  </a:lnTo>
                  <a:lnTo>
                    <a:pt x="16" y="185"/>
                  </a:lnTo>
                  <a:lnTo>
                    <a:pt x="15" y="189"/>
                  </a:lnTo>
                  <a:lnTo>
                    <a:pt x="9" y="191"/>
                  </a:lnTo>
                  <a:lnTo>
                    <a:pt x="10" y="198"/>
                  </a:lnTo>
                  <a:lnTo>
                    <a:pt x="21" y="204"/>
                  </a:lnTo>
                  <a:lnTo>
                    <a:pt x="39" y="205"/>
                  </a:lnTo>
                  <a:lnTo>
                    <a:pt x="60" y="188"/>
                  </a:lnTo>
                  <a:lnTo>
                    <a:pt x="68" y="188"/>
                  </a:lnTo>
                  <a:lnTo>
                    <a:pt x="68" y="179"/>
                  </a:lnTo>
                  <a:lnTo>
                    <a:pt x="73" y="176"/>
                  </a:lnTo>
                  <a:lnTo>
                    <a:pt x="76" y="187"/>
                  </a:lnTo>
                  <a:lnTo>
                    <a:pt x="82" y="191"/>
                  </a:lnTo>
                  <a:lnTo>
                    <a:pt x="90" y="175"/>
                  </a:lnTo>
                  <a:lnTo>
                    <a:pt x="92" y="161"/>
                  </a:lnTo>
                  <a:lnTo>
                    <a:pt x="92" y="156"/>
                  </a:lnTo>
                  <a:lnTo>
                    <a:pt x="97" y="151"/>
                  </a:lnTo>
                  <a:lnTo>
                    <a:pt x="87" y="145"/>
                  </a:lnTo>
                  <a:lnTo>
                    <a:pt x="87" y="129"/>
                  </a:lnTo>
                  <a:lnTo>
                    <a:pt x="86" y="114"/>
                  </a:lnTo>
                  <a:lnTo>
                    <a:pt x="97" y="107"/>
                  </a:lnTo>
                  <a:lnTo>
                    <a:pt x="108" y="105"/>
                  </a:lnTo>
                  <a:lnTo>
                    <a:pt x="102" y="99"/>
                  </a:lnTo>
                  <a:lnTo>
                    <a:pt x="111" y="79"/>
                  </a:lnTo>
                  <a:lnTo>
                    <a:pt x="109" y="75"/>
                  </a:lnTo>
                  <a:lnTo>
                    <a:pt x="120" y="73"/>
                  </a:lnTo>
                  <a:lnTo>
                    <a:pt x="126" y="63"/>
                  </a:lnTo>
                  <a:lnTo>
                    <a:pt x="132" y="48"/>
                  </a:lnTo>
                  <a:lnTo>
                    <a:pt x="147" y="43"/>
                  </a:lnTo>
                  <a:lnTo>
                    <a:pt x="148" y="38"/>
                  </a:lnTo>
                  <a:lnTo>
                    <a:pt x="169" y="38"/>
                  </a:lnTo>
                  <a:lnTo>
                    <a:pt x="168" y="30"/>
                  </a:lnTo>
                  <a:lnTo>
                    <a:pt x="174" y="30"/>
                  </a:lnTo>
                  <a:lnTo>
                    <a:pt x="181" y="25"/>
                  </a:lnTo>
                  <a:lnTo>
                    <a:pt x="194" y="33"/>
                  </a:lnTo>
                  <a:lnTo>
                    <a:pt x="207" y="36"/>
                  </a:lnTo>
                  <a:lnTo>
                    <a:pt x="223" y="36"/>
                  </a:lnTo>
                  <a:lnTo>
                    <a:pt x="230" y="32"/>
                  </a:lnTo>
                  <a:lnTo>
                    <a:pt x="234" y="21"/>
                  </a:lnTo>
                  <a:lnTo>
                    <a:pt x="250" y="14"/>
                  </a:lnTo>
                  <a:lnTo>
                    <a:pt x="270" y="20"/>
                  </a:lnTo>
                  <a:lnTo>
                    <a:pt x="270" y="30"/>
                  </a:lnTo>
                  <a:lnTo>
                    <a:pt x="282" y="23"/>
                  </a:lnTo>
                  <a:lnTo>
                    <a:pt x="289" y="23"/>
                  </a:lnTo>
                  <a:lnTo>
                    <a:pt x="289" y="18"/>
                  </a:lnTo>
                  <a:lnTo>
                    <a:pt x="282" y="18"/>
                  </a:lnTo>
                  <a:lnTo>
                    <a:pt x="276" y="19"/>
                  </a:lnTo>
                  <a:lnTo>
                    <a:pt x="266" y="13"/>
                  </a:lnTo>
                  <a:lnTo>
                    <a:pt x="289" y="11"/>
                  </a:lnTo>
                  <a:lnTo>
                    <a:pt x="278" y="6"/>
                  </a:lnTo>
                  <a:lnTo>
                    <a:pt x="266" y="3"/>
                  </a:lnTo>
                  <a:lnTo>
                    <a:pt x="259" y="6"/>
                  </a:lnTo>
                  <a:lnTo>
                    <a:pt x="256" y="13"/>
                  </a:lnTo>
                  <a:lnTo>
                    <a:pt x="255" y="8"/>
                  </a:lnTo>
                  <a:lnTo>
                    <a:pt x="254" y="6"/>
                  </a:lnTo>
                  <a:lnTo>
                    <a:pt x="253" y="5"/>
                  </a:lnTo>
                  <a:lnTo>
                    <a:pt x="252" y="0"/>
                  </a:lnTo>
                  <a:lnTo>
                    <a:pt x="244" y="2"/>
                  </a:lnTo>
                  <a:lnTo>
                    <a:pt x="237" y="11"/>
                  </a:lnTo>
                  <a:lnTo>
                    <a:pt x="234" y="2"/>
                  </a:lnTo>
                  <a:lnTo>
                    <a:pt x="220" y="14"/>
                  </a:lnTo>
                  <a:lnTo>
                    <a:pt x="225" y="5"/>
                  </a:lnTo>
                  <a:lnTo>
                    <a:pt x="222" y="3"/>
                  </a:lnTo>
                  <a:lnTo>
                    <a:pt x="213" y="3"/>
                  </a:lnTo>
                  <a:lnTo>
                    <a:pt x="213" y="6"/>
                  </a:lnTo>
                  <a:lnTo>
                    <a:pt x="200" y="14"/>
                  </a:lnTo>
                  <a:lnTo>
                    <a:pt x="192" y="14"/>
                  </a:lnTo>
                  <a:lnTo>
                    <a:pt x="193" y="12"/>
                  </a:lnTo>
                  <a:lnTo>
                    <a:pt x="180" y="13"/>
                  </a:lnTo>
                  <a:lnTo>
                    <a:pt x="188" y="15"/>
                  </a:lnTo>
                  <a:lnTo>
                    <a:pt x="186" y="18"/>
                  </a:lnTo>
                  <a:lnTo>
                    <a:pt x="178" y="18"/>
                  </a:lnTo>
                  <a:lnTo>
                    <a:pt x="171" y="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8" name="Freeform 337"/>
            <p:cNvSpPr>
              <a:spLocks/>
            </p:cNvSpPr>
            <p:nvPr/>
          </p:nvSpPr>
          <p:spPr bwMode="auto">
            <a:xfrm>
              <a:off x="2653" y="1194"/>
              <a:ext cx="120" cy="49"/>
            </a:xfrm>
            <a:custGeom>
              <a:avLst/>
              <a:gdLst/>
              <a:ahLst/>
              <a:cxnLst>
                <a:cxn ang="0">
                  <a:pos x="27" y="4"/>
                </a:cxn>
                <a:cxn ang="0">
                  <a:pos x="12" y="4"/>
                </a:cxn>
                <a:cxn ang="0">
                  <a:pos x="0" y="5"/>
                </a:cxn>
                <a:cxn ang="0">
                  <a:pos x="3" y="11"/>
                </a:cxn>
                <a:cxn ang="0">
                  <a:pos x="11" y="10"/>
                </a:cxn>
                <a:cxn ang="0">
                  <a:pos x="12" y="13"/>
                </a:cxn>
                <a:cxn ang="0">
                  <a:pos x="5" y="15"/>
                </a:cxn>
                <a:cxn ang="0">
                  <a:pos x="18" y="21"/>
                </a:cxn>
                <a:cxn ang="0">
                  <a:pos x="29" y="24"/>
                </a:cxn>
                <a:cxn ang="0">
                  <a:pos x="36" y="21"/>
                </a:cxn>
                <a:cxn ang="0">
                  <a:pos x="45" y="17"/>
                </a:cxn>
                <a:cxn ang="0">
                  <a:pos x="46" y="19"/>
                </a:cxn>
                <a:cxn ang="0">
                  <a:pos x="58" y="17"/>
                </a:cxn>
                <a:cxn ang="0">
                  <a:pos x="59" y="21"/>
                </a:cxn>
                <a:cxn ang="0">
                  <a:pos x="34" y="25"/>
                </a:cxn>
                <a:cxn ang="0">
                  <a:pos x="30" y="29"/>
                </a:cxn>
                <a:cxn ang="0">
                  <a:pos x="61" y="29"/>
                </a:cxn>
                <a:cxn ang="0">
                  <a:pos x="49" y="30"/>
                </a:cxn>
                <a:cxn ang="0">
                  <a:pos x="54" y="33"/>
                </a:cxn>
                <a:cxn ang="0">
                  <a:pos x="35" y="34"/>
                </a:cxn>
                <a:cxn ang="0">
                  <a:pos x="57" y="41"/>
                </a:cxn>
                <a:cxn ang="0">
                  <a:pos x="64" y="46"/>
                </a:cxn>
                <a:cxn ang="0">
                  <a:pos x="67" y="43"/>
                </a:cxn>
                <a:cxn ang="0">
                  <a:pos x="76" y="34"/>
                </a:cxn>
                <a:cxn ang="0">
                  <a:pos x="82" y="27"/>
                </a:cxn>
                <a:cxn ang="0">
                  <a:pos x="84" y="22"/>
                </a:cxn>
                <a:cxn ang="0">
                  <a:pos x="108" y="17"/>
                </a:cxn>
                <a:cxn ang="0">
                  <a:pos x="81" y="11"/>
                </a:cxn>
                <a:cxn ang="0">
                  <a:pos x="77" y="6"/>
                </a:cxn>
                <a:cxn ang="0">
                  <a:pos x="70" y="9"/>
                </a:cxn>
                <a:cxn ang="0">
                  <a:pos x="69" y="5"/>
                </a:cxn>
                <a:cxn ang="0">
                  <a:pos x="54" y="0"/>
                </a:cxn>
                <a:cxn ang="0">
                  <a:pos x="57" y="15"/>
                </a:cxn>
                <a:cxn ang="0">
                  <a:pos x="39" y="4"/>
                </a:cxn>
                <a:cxn ang="0">
                  <a:pos x="31" y="9"/>
                </a:cxn>
                <a:cxn ang="0">
                  <a:pos x="23" y="6"/>
                </a:cxn>
                <a:cxn ang="0">
                  <a:pos x="27" y="4"/>
                </a:cxn>
              </a:cxnLst>
              <a:rect l="0" t="0" r="r" b="b"/>
              <a:pathLst>
                <a:path w="108" h="46">
                  <a:moveTo>
                    <a:pt x="27" y="4"/>
                  </a:moveTo>
                  <a:lnTo>
                    <a:pt x="12" y="4"/>
                  </a:lnTo>
                  <a:lnTo>
                    <a:pt x="0" y="5"/>
                  </a:lnTo>
                  <a:lnTo>
                    <a:pt x="3" y="11"/>
                  </a:lnTo>
                  <a:lnTo>
                    <a:pt x="11" y="10"/>
                  </a:lnTo>
                  <a:lnTo>
                    <a:pt x="12" y="13"/>
                  </a:lnTo>
                  <a:lnTo>
                    <a:pt x="5" y="15"/>
                  </a:lnTo>
                  <a:lnTo>
                    <a:pt x="18" y="21"/>
                  </a:lnTo>
                  <a:lnTo>
                    <a:pt x="29" y="24"/>
                  </a:lnTo>
                  <a:lnTo>
                    <a:pt x="36" y="21"/>
                  </a:lnTo>
                  <a:lnTo>
                    <a:pt x="45" y="17"/>
                  </a:lnTo>
                  <a:lnTo>
                    <a:pt x="46" y="19"/>
                  </a:lnTo>
                  <a:lnTo>
                    <a:pt x="58" y="17"/>
                  </a:lnTo>
                  <a:lnTo>
                    <a:pt x="59" y="21"/>
                  </a:lnTo>
                  <a:lnTo>
                    <a:pt x="34" y="25"/>
                  </a:lnTo>
                  <a:lnTo>
                    <a:pt x="30" y="29"/>
                  </a:lnTo>
                  <a:lnTo>
                    <a:pt x="61" y="29"/>
                  </a:lnTo>
                  <a:lnTo>
                    <a:pt x="49" y="30"/>
                  </a:lnTo>
                  <a:lnTo>
                    <a:pt x="54" y="33"/>
                  </a:lnTo>
                  <a:lnTo>
                    <a:pt x="35" y="34"/>
                  </a:lnTo>
                  <a:lnTo>
                    <a:pt x="57" y="41"/>
                  </a:lnTo>
                  <a:lnTo>
                    <a:pt x="64" y="46"/>
                  </a:lnTo>
                  <a:lnTo>
                    <a:pt x="67" y="43"/>
                  </a:lnTo>
                  <a:lnTo>
                    <a:pt x="76" y="34"/>
                  </a:lnTo>
                  <a:lnTo>
                    <a:pt x="82" y="27"/>
                  </a:lnTo>
                  <a:lnTo>
                    <a:pt x="84" y="22"/>
                  </a:lnTo>
                  <a:lnTo>
                    <a:pt x="108" y="17"/>
                  </a:lnTo>
                  <a:lnTo>
                    <a:pt x="81" y="11"/>
                  </a:lnTo>
                  <a:lnTo>
                    <a:pt x="77" y="6"/>
                  </a:lnTo>
                  <a:lnTo>
                    <a:pt x="70" y="9"/>
                  </a:lnTo>
                  <a:lnTo>
                    <a:pt x="69" y="5"/>
                  </a:lnTo>
                  <a:lnTo>
                    <a:pt x="54" y="0"/>
                  </a:lnTo>
                  <a:lnTo>
                    <a:pt x="57" y="15"/>
                  </a:lnTo>
                  <a:lnTo>
                    <a:pt x="39" y="4"/>
                  </a:lnTo>
                  <a:lnTo>
                    <a:pt x="31" y="9"/>
                  </a:lnTo>
                  <a:lnTo>
                    <a:pt x="23" y="6"/>
                  </a:lnTo>
                  <a:lnTo>
                    <a:pt x="27"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9" name="Freeform 338"/>
            <p:cNvSpPr>
              <a:spLocks/>
            </p:cNvSpPr>
            <p:nvPr/>
          </p:nvSpPr>
          <p:spPr bwMode="auto">
            <a:xfrm>
              <a:off x="2731" y="1188"/>
              <a:ext cx="98" cy="15"/>
            </a:xfrm>
            <a:custGeom>
              <a:avLst/>
              <a:gdLst/>
              <a:ahLst/>
              <a:cxnLst>
                <a:cxn ang="0">
                  <a:pos x="40" y="5"/>
                </a:cxn>
                <a:cxn ang="0">
                  <a:pos x="14" y="2"/>
                </a:cxn>
                <a:cxn ang="0">
                  <a:pos x="10" y="3"/>
                </a:cxn>
                <a:cxn ang="0">
                  <a:pos x="0" y="5"/>
                </a:cxn>
                <a:cxn ang="0">
                  <a:pos x="0" y="6"/>
                </a:cxn>
                <a:cxn ang="0">
                  <a:pos x="36" y="9"/>
                </a:cxn>
                <a:cxn ang="0">
                  <a:pos x="19" y="11"/>
                </a:cxn>
                <a:cxn ang="0">
                  <a:pos x="47" y="15"/>
                </a:cxn>
                <a:cxn ang="0">
                  <a:pos x="77" y="14"/>
                </a:cxn>
                <a:cxn ang="0">
                  <a:pos x="89" y="6"/>
                </a:cxn>
                <a:cxn ang="0">
                  <a:pos x="82" y="4"/>
                </a:cxn>
                <a:cxn ang="0">
                  <a:pos x="53" y="3"/>
                </a:cxn>
                <a:cxn ang="0">
                  <a:pos x="49" y="3"/>
                </a:cxn>
                <a:cxn ang="0">
                  <a:pos x="43" y="0"/>
                </a:cxn>
                <a:cxn ang="0">
                  <a:pos x="41" y="3"/>
                </a:cxn>
                <a:cxn ang="0">
                  <a:pos x="40" y="5"/>
                </a:cxn>
              </a:cxnLst>
              <a:rect l="0" t="0" r="r" b="b"/>
              <a:pathLst>
                <a:path w="89" h="15">
                  <a:moveTo>
                    <a:pt x="40" y="5"/>
                  </a:moveTo>
                  <a:lnTo>
                    <a:pt x="14" y="2"/>
                  </a:lnTo>
                  <a:lnTo>
                    <a:pt x="10" y="3"/>
                  </a:lnTo>
                  <a:lnTo>
                    <a:pt x="0" y="5"/>
                  </a:lnTo>
                  <a:lnTo>
                    <a:pt x="0" y="6"/>
                  </a:lnTo>
                  <a:lnTo>
                    <a:pt x="36" y="9"/>
                  </a:lnTo>
                  <a:lnTo>
                    <a:pt x="19" y="11"/>
                  </a:lnTo>
                  <a:lnTo>
                    <a:pt x="47" y="15"/>
                  </a:lnTo>
                  <a:lnTo>
                    <a:pt x="77" y="14"/>
                  </a:lnTo>
                  <a:lnTo>
                    <a:pt x="89" y="6"/>
                  </a:lnTo>
                  <a:lnTo>
                    <a:pt x="82" y="4"/>
                  </a:lnTo>
                  <a:lnTo>
                    <a:pt x="53" y="3"/>
                  </a:lnTo>
                  <a:lnTo>
                    <a:pt x="49" y="3"/>
                  </a:lnTo>
                  <a:lnTo>
                    <a:pt x="43" y="0"/>
                  </a:lnTo>
                  <a:lnTo>
                    <a:pt x="41" y="3"/>
                  </a:lnTo>
                  <a:lnTo>
                    <a:pt x="40"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0" name="Freeform 339"/>
            <p:cNvSpPr>
              <a:spLocks/>
            </p:cNvSpPr>
            <p:nvPr/>
          </p:nvSpPr>
          <p:spPr bwMode="auto">
            <a:xfrm>
              <a:off x="2767" y="1221"/>
              <a:ext cx="46" cy="11"/>
            </a:xfrm>
            <a:custGeom>
              <a:avLst/>
              <a:gdLst/>
              <a:ahLst/>
              <a:cxnLst>
                <a:cxn ang="0">
                  <a:pos x="33" y="9"/>
                </a:cxn>
                <a:cxn ang="0">
                  <a:pos x="18" y="10"/>
                </a:cxn>
                <a:cxn ang="0">
                  <a:pos x="5" y="10"/>
                </a:cxn>
                <a:cxn ang="0">
                  <a:pos x="9" y="4"/>
                </a:cxn>
                <a:cxn ang="0">
                  <a:pos x="0" y="0"/>
                </a:cxn>
                <a:cxn ang="0">
                  <a:pos x="26" y="0"/>
                </a:cxn>
                <a:cxn ang="0">
                  <a:pos x="42" y="5"/>
                </a:cxn>
                <a:cxn ang="0">
                  <a:pos x="33" y="9"/>
                </a:cxn>
              </a:cxnLst>
              <a:rect l="0" t="0" r="r" b="b"/>
              <a:pathLst>
                <a:path w="42" h="10">
                  <a:moveTo>
                    <a:pt x="33" y="9"/>
                  </a:moveTo>
                  <a:lnTo>
                    <a:pt x="18" y="10"/>
                  </a:lnTo>
                  <a:lnTo>
                    <a:pt x="5" y="10"/>
                  </a:lnTo>
                  <a:lnTo>
                    <a:pt x="9" y="4"/>
                  </a:lnTo>
                  <a:lnTo>
                    <a:pt x="0" y="0"/>
                  </a:lnTo>
                  <a:lnTo>
                    <a:pt x="26" y="0"/>
                  </a:lnTo>
                  <a:lnTo>
                    <a:pt x="42" y="5"/>
                  </a:lnTo>
                  <a:lnTo>
                    <a:pt x="3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1" name="Freeform 340"/>
            <p:cNvSpPr>
              <a:spLocks/>
            </p:cNvSpPr>
            <p:nvPr/>
          </p:nvSpPr>
          <p:spPr bwMode="auto">
            <a:xfrm>
              <a:off x="2727" y="1368"/>
              <a:ext cx="15" cy="8"/>
            </a:xfrm>
            <a:custGeom>
              <a:avLst/>
              <a:gdLst/>
              <a:ahLst/>
              <a:cxnLst>
                <a:cxn ang="0">
                  <a:pos x="9" y="0"/>
                </a:cxn>
                <a:cxn ang="0">
                  <a:pos x="4" y="7"/>
                </a:cxn>
                <a:cxn ang="0">
                  <a:pos x="0" y="9"/>
                </a:cxn>
                <a:cxn ang="0">
                  <a:pos x="6" y="7"/>
                </a:cxn>
                <a:cxn ang="0">
                  <a:pos x="10" y="9"/>
                </a:cxn>
                <a:cxn ang="0">
                  <a:pos x="16" y="3"/>
                </a:cxn>
                <a:cxn ang="0">
                  <a:pos x="10" y="4"/>
                </a:cxn>
                <a:cxn ang="0">
                  <a:pos x="9" y="0"/>
                </a:cxn>
              </a:cxnLst>
              <a:rect l="0" t="0" r="r" b="b"/>
              <a:pathLst>
                <a:path w="16" h="9">
                  <a:moveTo>
                    <a:pt x="9" y="0"/>
                  </a:moveTo>
                  <a:lnTo>
                    <a:pt x="4" y="7"/>
                  </a:lnTo>
                  <a:lnTo>
                    <a:pt x="0" y="9"/>
                  </a:lnTo>
                  <a:lnTo>
                    <a:pt x="6" y="7"/>
                  </a:lnTo>
                  <a:lnTo>
                    <a:pt x="10" y="9"/>
                  </a:lnTo>
                  <a:lnTo>
                    <a:pt x="16" y="3"/>
                  </a:lnTo>
                  <a:lnTo>
                    <a:pt x="10" y="4"/>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2" name="Freeform 341"/>
            <p:cNvSpPr>
              <a:spLocks/>
            </p:cNvSpPr>
            <p:nvPr/>
          </p:nvSpPr>
          <p:spPr bwMode="auto">
            <a:xfrm>
              <a:off x="2796" y="1348"/>
              <a:ext cx="166" cy="177"/>
            </a:xfrm>
            <a:custGeom>
              <a:avLst/>
              <a:gdLst/>
              <a:ahLst/>
              <a:cxnLst>
                <a:cxn ang="0">
                  <a:pos x="127" y="87"/>
                </a:cxn>
                <a:cxn ang="0">
                  <a:pos x="122" y="82"/>
                </a:cxn>
                <a:cxn ang="0">
                  <a:pos x="121" y="67"/>
                </a:cxn>
                <a:cxn ang="0">
                  <a:pos x="106" y="51"/>
                </a:cxn>
                <a:cxn ang="0">
                  <a:pos x="114" y="39"/>
                </a:cxn>
                <a:cxn ang="0">
                  <a:pos x="96" y="29"/>
                </a:cxn>
                <a:cxn ang="0">
                  <a:pos x="96" y="19"/>
                </a:cxn>
                <a:cxn ang="0">
                  <a:pos x="96" y="16"/>
                </a:cxn>
                <a:cxn ang="0">
                  <a:pos x="96" y="6"/>
                </a:cxn>
                <a:cxn ang="0">
                  <a:pos x="76" y="0"/>
                </a:cxn>
                <a:cxn ang="0">
                  <a:pos x="60" y="7"/>
                </a:cxn>
                <a:cxn ang="0">
                  <a:pos x="56" y="18"/>
                </a:cxn>
                <a:cxn ang="0">
                  <a:pos x="49" y="22"/>
                </a:cxn>
                <a:cxn ang="0">
                  <a:pos x="33" y="22"/>
                </a:cxn>
                <a:cxn ang="0">
                  <a:pos x="20" y="19"/>
                </a:cxn>
                <a:cxn ang="0">
                  <a:pos x="7" y="11"/>
                </a:cxn>
                <a:cxn ang="0">
                  <a:pos x="0" y="16"/>
                </a:cxn>
                <a:cxn ang="0">
                  <a:pos x="33" y="30"/>
                </a:cxn>
                <a:cxn ang="0">
                  <a:pos x="45" y="51"/>
                </a:cxn>
                <a:cxn ang="0">
                  <a:pos x="51" y="66"/>
                </a:cxn>
                <a:cxn ang="0">
                  <a:pos x="56" y="65"/>
                </a:cxn>
                <a:cxn ang="0">
                  <a:pos x="62" y="69"/>
                </a:cxn>
                <a:cxn ang="0">
                  <a:pos x="66" y="81"/>
                </a:cxn>
                <a:cxn ang="0">
                  <a:pos x="44" y="96"/>
                </a:cxn>
                <a:cxn ang="0">
                  <a:pos x="36" y="105"/>
                </a:cxn>
                <a:cxn ang="0">
                  <a:pos x="26" y="109"/>
                </a:cxn>
                <a:cxn ang="0">
                  <a:pos x="28" y="127"/>
                </a:cxn>
                <a:cxn ang="0">
                  <a:pos x="32" y="148"/>
                </a:cxn>
                <a:cxn ang="0">
                  <a:pos x="45" y="153"/>
                </a:cxn>
                <a:cxn ang="0">
                  <a:pos x="46" y="155"/>
                </a:cxn>
                <a:cxn ang="0">
                  <a:pos x="51" y="154"/>
                </a:cxn>
                <a:cxn ang="0">
                  <a:pos x="56" y="161"/>
                </a:cxn>
                <a:cxn ang="0">
                  <a:pos x="60" y="159"/>
                </a:cxn>
                <a:cxn ang="0">
                  <a:pos x="91" y="153"/>
                </a:cxn>
                <a:cxn ang="0">
                  <a:pos x="97" y="150"/>
                </a:cxn>
                <a:cxn ang="0">
                  <a:pos x="114" y="150"/>
                </a:cxn>
                <a:cxn ang="0">
                  <a:pos x="123" y="141"/>
                </a:cxn>
                <a:cxn ang="0">
                  <a:pos x="133" y="131"/>
                </a:cxn>
                <a:cxn ang="0">
                  <a:pos x="141" y="121"/>
                </a:cxn>
                <a:cxn ang="0">
                  <a:pos x="151" y="112"/>
                </a:cxn>
                <a:cxn ang="0">
                  <a:pos x="128" y="99"/>
                </a:cxn>
                <a:cxn ang="0">
                  <a:pos x="134" y="94"/>
                </a:cxn>
                <a:cxn ang="0">
                  <a:pos x="127" y="87"/>
                </a:cxn>
              </a:cxnLst>
              <a:rect l="0" t="0" r="r" b="b"/>
              <a:pathLst>
                <a:path w="151" h="161">
                  <a:moveTo>
                    <a:pt x="127" y="87"/>
                  </a:moveTo>
                  <a:lnTo>
                    <a:pt x="122" y="82"/>
                  </a:lnTo>
                  <a:lnTo>
                    <a:pt x="121" y="67"/>
                  </a:lnTo>
                  <a:lnTo>
                    <a:pt x="106" y="51"/>
                  </a:lnTo>
                  <a:lnTo>
                    <a:pt x="114" y="39"/>
                  </a:lnTo>
                  <a:lnTo>
                    <a:pt x="96" y="29"/>
                  </a:lnTo>
                  <a:lnTo>
                    <a:pt x="96" y="19"/>
                  </a:lnTo>
                  <a:lnTo>
                    <a:pt x="96" y="16"/>
                  </a:lnTo>
                  <a:lnTo>
                    <a:pt x="96" y="6"/>
                  </a:lnTo>
                  <a:lnTo>
                    <a:pt x="76" y="0"/>
                  </a:lnTo>
                  <a:lnTo>
                    <a:pt x="60" y="7"/>
                  </a:lnTo>
                  <a:lnTo>
                    <a:pt x="56" y="18"/>
                  </a:lnTo>
                  <a:lnTo>
                    <a:pt x="49" y="22"/>
                  </a:lnTo>
                  <a:lnTo>
                    <a:pt x="33" y="22"/>
                  </a:lnTo>
                  <a:lnTo>
                    <a:pt x="20" y="19"/>
                  </a:lnTo>
                  <a:lnTo>
                    <a:pt x="7" y="11"/>
                  </a:lnTo>
                  <a:lnTo>
                    <a:pt x="0" y="16"/>
                  </a:lnTo>
                  <a:lnTo>
                    <a:pt x="33" y="30"/>
                  </a:lnTo>
                  <a:lnTo>
                    <a:pt x="45" y="51"/>
                  </a:lnTo>
                  <a:lnTo>
                    <a:pt x="51" y="66"/>
                  </a:lnTo>
                  <a:lnTo>
                    <a:pt x="56" y="65"/>
                  </a:lnTo>
                  <a:lnTo>
                    <a:pt x="62" y="69"/>
                  </a:lnTo>
                  <a:lnTo>
                    <a:pt x="66" y="81"/>
                  </a:lnTo>
                  <a:lnTo>
                    <a:pt x="44" y="96"/>
                  </a:lnTo>
                  <a:lnTo>
                    <a:pt x="36" y="105"/>
                  </a:lnTo>
                  <a:lnTo>
                    <a:pt x="26" y="109"/>
                  </a:lnTo>
                  <a:lnTo>
                    <a:pt x="28" y="127"/>
                  </a:lnTo>
                  <a:lnTo>
                    <a:pt x="32" y="148"/>
                  </a:lnTo>
                  <a:lnTo>
                    <a:pt x="45" y="153"/>
                  </a:lnTo>
                  <a:lnTo>
                    <a:pt x="46" y="155"/>
                  </a:lnTo>
                  <a:lnTo>
                    <a:pt x="51" y="154"/>
                  </a:lnTo>
                  <a:lnTo>
                    <a:pt x="56" y="161"/>
                  </a:lnTo>
                  <a:lnTo>
                    <a:pt x="60" y="159"/>
                  </a:lnTo>
                  <a:lnTo>
                    <a:pt x="91" y="153"/>
                  </a:lnTo>
                  <a:lnTo>
                    <a:pt x="97" y="150"/>
                  </a:lnTo>
                  <a:lnTo>
                    <a:pt x="114" y="150"/>
                  </a:lnTo>
                  <a:lnTo>
                    <a:pt x="123" y="141"/>
                  </a:lnTo>
                  <a:lnTo>
                    <a:pt x="133" y="131"/>
                  </a:lnTo>
                  <a:lnTo>
                    <a:pt x="141" y="121"/>
                  </a:lnTo>
                  <a:lnTo>
                    <a:pt x="151" y="112"/>
                  </a:lnTo>
                  <a:lnTo>
                    <a:pt x="128" y="99"/>
                  </a:lnTo>
                  <a:lnTo>
                    <a:pt x="134" y="94"/>
                  </a:lnTo>
                  <a:lnTo>
                    <a:pt x="127"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3" name="Freeform 342"/>
            <p:cNvSpPr>
              <a:spLocks/>
            </p:cNvSpPr>
            <p:nvPr/>
          </p:nvSpPr>
          <p:spPr bwMode="auto">
            <a:xfrm>
              <a:off x="2680" y="1763"/>
              <a:ext cx="2" cy="5"/>
            </a:xfrm>
            <a:custGeom>
              <a:avLst/>
              <a:gdLst/>
              <a:ahLst/>
              <a:cxnLst>
                <a:cxn ang="0">
                  <a:pos x="0" y="0"/>
                </a:cxn>
                <a:cxn ang="0">
                  <a:pos x="0" y="3"/>
                </a:cxn>
                <a:cxn ang="0">
                  <a:pos x="1" y="3"/>
                </a:cxn>
                <a:cxn ang="0">
                  <a:pos x="0" y="0"/>
                </a:cxn>
              </a:cxnLst>
              <a:rect l="0" t="0" r="r" b="b"/>
              <a:pathLst>
                <a:path w="1" h="3">
                  <a:moveTo>
                    <a:pt x="0" y="0"/>
                  </a:moveTo>
                  <a:lnTo>
                    <a:pt x="0" y="3"/>
                  </a:lnTo>
                  <a:lnTo>
                    <a:pt x="1" y="3"/>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4" name="Freeform 343"/>
            <p:cNvSpPr>
              <a:spLocks/>
            </p:cNvSpPr>
            <p:nvPr/>
          </p:nvSpPr>
          <p:spPr bwMode="auto">
            <a:xfrm>
              <a:off x="2680" y="1732"/>
              <a:ext cx="118" cy="49"/>
            </a:xfrm>
            <a:custGeom>
              <a:avLst/>
              <a:gdLst/>
              <a:ahLst/>
              <a:cxnLst>
                <a:cxn ang="0">
                  <a:pos x="39" y="35"/>
                </a:cxn>
                <a:cxn ang="0">
                  <a:pos x="23" y="37"/>
                </a:cxn>
                <a:cxn ang="0">
                  <a:pos x="15" y="36"/>
                </a:cxn>
                <a:cxn ang="0">
                  <a:pos x="3" y="32"/>
                </a:cxn>
                <a:cxn ang="0">
                  <a:pos x="1" y="32"/>
                </a:cxn>
                <a:cxn ang="0">
                  <a:pos x="0" y="29"/>
                </a:cxn>
                <a:cxn ang="0">
                  <a:pos x="1" y="25"/>
                </a:cxn>
                <a:cxn ang="0">
                  <a:pos x="11" y="26"/>
                </a:cxn>
                <a:cxn ang="0">
                  <a:pos x="13" y="28"/>
                </a:cxn>
                <a:cxn ang="0">
                  <a:pos x="17" y="24"/>
                </a:cxn>
                <a:cxn ang="0">
                  <a:pos x="29" y="24"/>
                </a:cxn>
                <a:cxn ang="0">
                  <a:pos x="46" y="24"/>
                </a:cxn>
                <a:cxn ang="0">
                  <a:pos x="51" y="22"/>
                </a:cxn>
                <a:cxn ang="0">
                  <a:pos x="48" y="13"/>
                </a:cxn>
                <a:cxn ang="0">
                  <a:pos x="59" y="4"/>
                </a:cxn>
                <a:cxn ang="0">
                  <a:pos x="67" y="7"/>
                </a:cxn>
                <a:cxn ang="0">
                  <a:pos x="75" y="0"/>
                </a:cxn>
                <a:cxn ang="0">
                  <a:pos x="97" y="4"/>
                </a:cxn>
                <a:cxn ang="0">
                  <a:pos x="107" y="17"/>
                </a:cxn>
                <a:cxn ang="0">
                  <a:pos x="101" y="22"/>
                </a:cxn>
                <a:cxn ang="0">
                  <a:pos x="100" y="23"/>
                </a:cxn>
                <a:cxn ang="0">
                  <a:pos x="95" y="35"/>
                </a:cxn>
                <a:cxn ang="0">
                  <a:pos x="94" y="36"/>
                </a:cxn>
                <a:cxn ang="0">
                  <a:pos x="66" y="43"/>
                </a:cxn>
                <a:cxn ang="0">
                  <a:pos x="60" y="42"/>
                </a:cxn>
                <a:cxn ang="0">
                  <a:pos x="39" y="35"/>
                </a:cxn>
              </a:cxnLst>
              <a:rect l="0" t="0" r="r" b="b"/>
              <a:pathLst>
                <a:path w="107" h="43">
                  <a:moveTo>
                    <a:pt x="39" y="35"/>
                  </a:moveTo>
                  <a:lnTo>
                    <a:pt x="23" y="37"/>
                  </a:lnTo>
                  <a:lnTo>
                    <a:pt x="15" y="36"/>
                  </a:lnTo>
                  <a:lnTo>
                    <a:pt x="3" y="32"/>
                  </a:lnTo>
                  <a:lnTo>
                    <a:pt x="1" y="32"/>
                  </a:lnTo>
                  <a:lnTo>
                    <a:pt x="0" y="29"/>
                  </a:lnTo>
                  <a:lnTo>
                    <a:pt x="1" y="25"/>
                  </a:lnTo>
                  <a:lnTo>
                    <a:pt x="11" y="26"/>
                  </a:lnTo>
                  <a:lnTo>
                    <a:pt x="13" y="28"/>
                  </a:lnTo>
                  <a:lnTo>
                    <a:pt x="17" y="24"/>
                  </a:lnTo>
                  <a:lnTo>
                    <a:pt x="29" y="24"/>
                  </a:lnTo>
                  <a:lnTo>
                    <a:pt x="46" y="24"/>
                  </a:lnTo>
                  <a:lnTo>
                    <a:pt x="51" y="22"/>
                  </a:lnTo>
                  <a:lnTo>
                    <a:pt x="48" y="13"/>
                  </a:lnTo>
                  <a:lnTo>
                    <a:pt x="59" y="4"/>
                  </a:lnTo>
                  <a:lnTo>
                    <a:pt x="67" y="7"/>
                  </a:lnTo>
                  <a:lnTo>
                    <a:pt x="75" y="0"/>
                  </a:lnTo>
                  <a:lnTo>
                    <a:pt x="97" y="4"/>
                  </a:lnTo>
                  <a:lnTo>
                    <a:pt x="107" y="17"/>
                  </a:lnTo>
                  <a:lnTo>
                    <a:pt x="101" y="22"/>
                  </a:lnTo>
                  <a:lnTo>
                    <a:pt x="100" y="23"/>
                  </a:lnTo>
                  <a:lnTo>
                    <a:pt x="95" y="35"/>
                  </a:lnTo>
                  <a:lnTo>
                    <a:pt x="94" y="36"/>
                  </a:lnTo>
                  <a:lnTo>
                    <a:pt x="66" y="43"/>
                  </a:lnTo>
                  <a:lnTo>
                    <a:pt x="60" y="42"/>
                  </a:lnTo>
                  <a:lnTo>
                    <a:pt x="39" y="3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5" name="Freeform 344"/>
            <p:cNvSpPr>
              <a:spLocks/>
            </p:cNvSpPr>
            <p:nvPr/>
          </p:nvSpPr>
          <p:spPr bwMode="auto">
            <a:xfrm>
              <a:off x="2780" y="1803"/>
              <a:ext cx="62" cy="53"/>
            </a:xfrm>
            <a:custGeom>
              <a:avLst/>
              <a:gdLst/>
              <a:ahLst/>
              <a:cxnLst>
                <a:cxn ang="0">
                  <a:pos x="51" y="6"/>
                </a:cxn>
                <a:cxn ang="0">
                  <a:pos x="52" y="8"/>
                </a:cxn>
                <a:cxn ang="0">
                  <a:pos x="51" y="11"/>
                </a:cxn>
                <a:cxn ang="0">
                  <a:pos x="48" y="14"/>
                </a:cxn>
                <a:cxn ang="0">
                  <a:pos x="48" y="15"/>
                </a:cxn>
                <a:cxn ang="0">
                  <a:pos x="51" y="18"/>
                </a:cxn>
                <a:cxn ang="0">
                  <a:pos x="57" y="21"/>
                </a:cxn>
                <a:cxn ang="0">
                  <a:pos x="52" y="24"/>
                </a:cxn>
                <a:cxn ang="0">
                  <a:pos x="56" y="26"/>
                </a:cxn>
                <a:cxn ang="0">
                  <a:pos x="56" y="30"/>
                </a:cxn>
                <a:cxn ang="0">
                  <a:pos x="47" y="31"/>
                </a:cxn>
                <a:cxn ang="0">
                  <a:pos x="51" y="35"/>
                </a:cxn>
                <a:cxn ang="0">
                  <a:pos x="50" y="36"/>
                </a:cxn>
                <a:cxn ang="0">
                  <a:pos x="47" y="35"/>
                </a:cxn>
                <a:cxn ang="0">
                  <a:pos x="44" y="39"/>
                </a:cxn>
                <a:cxn ang="0">
                  <a:pos x="41" y="41"/>
                </a:cxn>
                <a:cxn ang="0">
                  <a:pos x="45" y="45"/>
                </a:cxn>
                <a:cxn ang="0">
                  <a:pos x="41" y="47"/>
                </a:cxn>
                <a:cxn ang="0">
                  <a:pos x="39" y="45"/>
                </a:cxn>
                <a:cxn ang="0">
                  <a:pos x="34" y="43"/>
                </a:cxn>
                <a:cxn ang="0">
                  <a:pos x="30" y="41"/>
                </a:cxn>
                <a:cxn ang="0">
                  <a:pos x="30" y="39"/>
                </a:cxn>
                <a:cxn ang="0">
                  <a:pos x="24" y="35"/>
                </a:cxn>
                <a:cxn ang="0">
                  <a:pos x="23" y="32"/>
                </a:cxn>
                <a:cxn ang="0">
                  <a:pos x="20" y="30"/>
                </a:cxn>
                <a:cxn ang="0">
                  <a:pos x="9" y="20"/>
                </a:cxn>
                <a:cxn ang="0">
                  <a:pos x="9" y="19"/>
                </a:cxn>
                <a:cxn ang="0">
                  <a:pos x="6" y="18"/>
                </a:cxn>
                <a:cxn ang="0">
                  <a:pos x="4" y="11"/>
                </a:cxn>
                <a:cxn ang="0">
                  <a:pos x="0" y="8"/>
                </a:cxn>
                <a:cxn ang="0">
                  <a:pos x="0" y="1"/>
                </a:cxn>
                <a:cxn ang="0">
                  <a:pos x="4" y="0"/>
                </a:cxn>
                <a:cxn ang="0">
                  <a:pos x="8" y="5"/>
                </a:cxn>
                <a:cxn ang="0">
                  <a:pos x="11" y="0"/>
                </a:cxn>
                <a:cxn ang="0">
                  <a:pos x="16" y="0"/>
                </a:cxn>
                <a:cxn ang="0">
                  <a:pos x="20" y="1"/>
                </a:cxn>
                <a:cxn ang="0">
                  <a:pos x="30" y="3"/>
                </a:cxn>
                <a:cxn ang="0">
                  <a:pos x="32" y="1"/>
                </a:cxn>
                <a:cxn ang="0">
                  <a:pos x="34" y="2"/>
                </a:cxn>
                <a:cxn ang="0">
                  <a:pos x="35" y="2"/>
                </a:cxn>
                <a:cxn ang="0">
                  <a:pos x="39" y="2"/>
                </a:cxn>
                <a:cxn ang="0">
                  <a:pos x="41" y="2"/>
                </a:cxn>
                <a:cxn ang="0">
                  <a:pos x="44" y="6"/>
                </a:cxn>
                <a:cxn ang="0">
                  <a:pos x="47" y="6"/>
                </a:cxn>
                <a:cxn ang="0">
                  <a:pos x="51" y="6"/>
                </a:cxn>
              </a:cxnLst>
              <a:rect l="0" t="0" r="r" b="b"/>
              <a:pathLst>
                <a:path w="57" h="47">
                  <a:moveTo>
                    <a:pt x="51" y="6"/>
                  </a:moveTo>
                  <a:lnTo>
                    <a:pt x="52" y="8"/>
                  </a:lnTo>
                  <a:lnTo>
                    <a:pt x="51" y="11"/>
                  </a:lnTo>
                  <a:lnTo>
                    <a:pt x="48" y="14"/>
                  </a:lnTo>
                  <a:lnTo>
                    <a:pt x="48" y="15"/>
                  </a:lnTo>
                  <a:lnTo>
                    <a:pt x="51" y="18"/>
                  </a:lnTo>
                  <a:lnTo>
                    <a:pt x="57" y="21"/>
                  </a:lnTo>
                  <a:lnTo>
                    <a:pt x="52" y="24"/>
                  </a:lnTo>
                  <a:lnTo>
                    <a:pt x="56" y="26"/>
                  </a:lnTo>
                  <a:lnTo>
                    <a:pt x="56" y="30"/>
                  </a:lnTo>
                  <a:lnTo>
                    <a:pt x="47" y="31"/>
                  </a:lnTo>
                  <a:lnTo>
                    <a:pt x="51" y="35"/>
                  </a:lnTo>
                  <a:lnTo>
                    <a:pt x="50" y="36"/>
                  </a:lnTo>
                  <a:lnTo>
                    <a:pt x="47" y="35"/>
                  </a:lnTo>
                  <a:lnTo>
                    <a:pt x="44" y="39"/>
                  </a:lnTo>
                  <a:lnTo>
                    <a:pt x="41" y="41"/>
                  </a:lnTo>
                  <a:lnTo>
                    <a:pt x="45" y="45"/>
                  </a:lnTo>
                  <a:lnTo>
                    <a:pt x="41" y="47"/>
                  </a:lnTo>
                  <a:lnTo>
                    <a:pt x="39" y="45"/>
                  </a:lnTo>
                  <a:lnTo>
                    <a:pt x="34" y="43"/>
                  </a:lnTo>
                  <a:lnTo>
                    <a:pt x="30" y="41"/>
                  </a:lnTo>
                  <a:lnTo>
                    <a:pt x="30" y="39"/>
                  </a:lnTo>
                  <a:lnTo>
                    <a:pt x="24" y="35"/>
                  </a:lnTo>
                  <a:lnTo>
                    <a:pt x="23" y="32"/>
                  </a:lnTo>
                  <a:lnTo>
                    <a:pt x="20" y="30"/>
                  </a:lnTo>
                  <a:lnTo>
                    <a:pt x="9" y="20"/>
                  </a:lnTo>
                  <a:lnTo>
                    <a:pt x="9" y="19"/>
                  </a:lnTo>
                  <a:lnTo>
                    <a:pt x="6" y="18"/>
                  </a:lnTo>
                  <a:lnTo>
                    <a:pt x="4" y="11"/>
                  </a:lnTo>
                  <a:lnTo>
                    <a:pt x="0" y="8"/>
                  </a:lnTo>
                  <a:lnTo>
                    <a:pt x="0" y="1"/>
                  </a:lnTo>
                  <a:lnTo>
                    <a:pt x="4" y="0"/>
                  </a:lnTo>
                  <a:lnTo>
                    <a:pt x="8" y="5"/>
                  </a:lnTo>
                  <a:lnTo>
                    <a:pt x="11" y="0"/>
                  </a:lnTo>
                  <a:lnTo>
                    <a:pt x="16" y="0"/>
                  </a:lnTo>
                  <a:lnTo>
                    <a:pt x="20" y="1"/>
                  </a:lnTo>
                  <a:lnTo>
                    <a:pt x="30" y="3"/>
                  </a:lnTo>
                  <a:lnTo>
                    <a:pt x="32" y="1"/>
                  </a:lnTo>
                  <a:lnTo>
                    <a:pt x="34" y="2"/>
                  </a:lnTo>
                  <a:lnTo>
                    <a:pt x="35" y="2"/>
                  </a:lnTo>
                  <a:lnTo>
                    <a:pt x="39" y="2"/>
                  </a:lnTo>
                  <a:lnTo>
                    <a:pt x="41" y="2"/>
                  </a:lnTo>
                  <a:lnTo>
                    <a:pt x="44" y="6"/>
                  </a:lnTo>
                  <a:lnTo>
                    <a:pt x="47" y="6"/>
                  </a:lnTo>
                  <a:lnTo>
                    <a:pt x="5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6" name="Freeform 345"/>
            <p:cNvSpPr>
              <a:spLocks/>
            </p:cNvSpPr>
            <p:nvPr/>
          </p:nvSpPr>
          <p:spPr bwMode="auto">
            <a:xfrm>
              <a:off x="2747" y="1776"/>
              <a:ext cx="91" cy="74"/>
            </a:xfrm>
            <a:custGeom>
              <a:avLst/>
              <a:gdLst/>
              <a:ahLst/>
              <a:cxnLst>
                <a:cxn ang="0">
                  <a:pos x="74" y="30"/>
                </a:cxn>
                <a:cxn ang="0">
                  <a:pos x="77" y="30"/>
                </a:cxn>
                <a:cxn ang="0">
                  <a:pos x="78" y="26"/>
                </a:cxn>
                <a:cxn ang="0">
                  <a:pos x="82" y="25"/>
                </a:cxn>
                <a:cxn ang="0">
                  <a:pos x="82" y="24"/>
                </a:cxn>
                <a:cxn ang="0">
                  <a:pos x="77" y="23"/>
                </a:cxn>
                <a:cxn ang="0">
                  <a:pos x="76" y="21"/>
                </a:cxn>
                <a:cxn ang="0">
                  <a:pos x="77" y="19"/>
                </a:cxn>
                <a:cxn ang="0">
                  <a:pos x="76" y="19"/>
                </a:cxn>
                <a:cxn ang="0">
                  <a:pos x="72" y="13"/>
                </a:cxn>
                <a:cxn ang="0">
                  <a:pos x="51" y="11"/>
                </a:cxn>
                <a:cxn ang="0">
                  <a:pos x="39" y="0"/>
                </a:cxn>
                <a:cxn ang="0">
                  <a:pos x="38" y="1"/>
                </a:cxn>
                <a:cxn ang="0">
                  <a:pos x="36" y="2"/>
                </a:cxn>
                <a:cxn ang="0">
                  <a:pos x="36" y="3"/>
                </a:cxn>
                <a:cxn ang="0">
                  <a:pos x="32" y="3"/>
                </a:cxn>
                <a:cxn ang="0">
                  <a:pos x="30" y="5"/>
                </a:cxn>
                <a:cxn ang="0">
                  <a:pos x="26" y="6"/>
                </a:cxn>
                <a:cxn ang="0">
                  <a:pos x="27" y="9"/>
                </a:cxn>
                <a:cxn ang="0">
                  <a:pos x="27" y="11"/>
                </a:cxn>
                <a:cxn ang="0">
                  <a:pos x="29" y="13"/>
                </a:cxn>
                <a:cxn ang="0">
                  <a:pos x="27" y="13"/>
                </a:cxn>
                <a:cxn ang="0">
                  <a:pos x="22" y="15"/>
                </a:cxn>
                <a:cxn ang="0">
                  <a:pos x="22" y="17"/>
                </a:cxn>
                <a:cxn ang="0">
                  <a:pos x="23" y="20"/>
                </a:cxn>
                <a:cxn ang="0">
                  <a:pos x="20" y="20"/>
                </a:cxn>
                <a:cxn ang="0">
                  <a:pos x="16" y="18"/>
                </a:cxn>
                <a:cxn ang="0">
                  <a:pos x="15" y="19"/>
                </a:cxn>
                <a:cxn ang="0">
                  <a:pos x="12" y="17"/>
                </a:cxn>
                <a:cxn ang="0">
                  <a:pos x="10" y="20"/>
                </a:cxn>
                <a:cxn ang="0">
                  <a:pos x="4" y="20"/>
                </a:cxn>
                <a:cxn ang="0">
                  <a:pos x="0" y="18"/>
                </a:cxn>
                <a:cxn ang="0">
                  <a:pos x="3" y="24"/>
                </a:cxn>
                <a:cxn ang="0">
                  <a:pos x="6" y="29"/>
                </a:cxn>
                <a:cxn ang="0">
                  <a:pos x="10" y="25"/>
                </a:cxn>
                <a:cxn ang="0">
                  <a:pos x="21" y="42"/>
                </a:cxn>
                <a:cxn ang="0">
                  <a:pos x="26" y="47"/>
                </a:cxn>
                <a:cxn ang="0">
                  <a:pos x="39" y="55"/>
                </a:cxn>
                <a:cxn ang="0">
                  <a:pos x="57" y="65"/>
                </a:cxn>
                <a:cxn ang="0">
                  <a:pos x="59" y="65"/>
                </a:cxn>
                <a:cxn ang="0">
                  <a:pos x="60" y="65"/>
                </a:cxn>
                <a:cxn ang="0">
                  <a:pos x="60" y="63"/>
                </a:cxn>
                <a:cxn ang="0">
                  <a:pos x="54" y="59"/>
                </a:cxn>
                <a:cxn ang="0">
                  <a:pos x="53" y="56"/>
                </a:cxn>
                <a:cxn ang="0">
                  <a:pos x="50" y="54"/>
                </a:cxn>
                <a:cxn ang="0">
                  <a:pos x="39" y="44"/>
                </a:cxn>
                <a:cxn ang="0">
                  <a:pos x="39" y="43"/>
                </a:cxn>
                <a:cxn ang="0">
                  <a:pos x="36" y="42"/>
                </a:cxn>
                <a:cxn ang="0">
                  <a:pos x="34" y="35"/>
                </a:cxn>
                <a:cxn ang="0">
                  <a:pos x="30" y="32"/>
                </a:cxn>
                <a:cxn ang="0">
                  <a:pos x="30" y="25"/>
                </a:cxn>
                <a:cxn ang="0">
                  <a:pos x="34" y="24"/>
                </a:cxn>
                <a:cxn ang="0">
                  <a:pos x="38" y="29"/>
                </a:cxn>
                <a:cxn ang="0">
                  <a:pos x="41" y="24"/>
                </a:cxn>
                <a:cxn ang="0">
                  <a:pos x="46" y="24"/>
                </a:cxn>
                <a:cxn ang="0">
                  <a:pos x="50" y="25"/>
                </a:cxn>
                <a:cxn ang="0">
                  <a:pos x="60" y="27"/>
                </a:cxn>
                <a:cxn ang="0">
                  <a:pos x="62" y="25"/>
                </a:cxn>
                <a:cxn ang="0">
                  <a:pos x="64" y="26"/>
                </a:cxn>
                <a:cxn ang="0">
                  <a:pos x="65" y="26"/>
                </a:cxn>
                <a:cxn ang="0">
                  <a:pos x="69" y="26"/>
                </a:cxn>
                <a:cxn ang="0">
                  <a:pos x="71" y="26"/>
                </a:cxn>
                <a:cxn ang="0">
                  <a:pos x="74" y="30"/>
                </a:cxn>
              </a:cxnLst>
              <a:rect l="0" t="0" r="r" b="b"/>
              <a:pathLst>
                <a:path w="82" h="65">
                  <a:moveTo>
                    <a:pt x="74" y="30"/>
                  </a:moveTo>
                  <a:lnTo>
                    <a:pt x="77" y="30"/>
                  </a:lnTo>
                  <a:lnTo>
                    <a:pt x="78" y="26"/>
                  </a:lnTo>
                  <a:lnTo>
                    <a:pt x="82" y="25"/>
                  </a:lnTo>
                  <a:lnTo>
                    <a:pt x="82" y="24"/>
                  </a:lnTo>
                  <a:lnTo>
                    <a:pt x="77" y="23"/>
                  </a:lnTo>
                  <a:lnTo>
                    <a:pt x="76" y="21"/>
                  </a:lnTo>
                  <a:lnTo>
                    <a:pt x="77" y="19"/>
                  </a:lnTo>
                  <a:lnTo>
                    <a:pt x="76" y="19"/>
                  </a:lnTo>
                  <a:lnTo>
                    <a:pt x="72" y="13"/>
                  </a:lnTo>
                  <a:lnTo>
                    <a:pt x="51" y="11"/>
                  </a:lnTo>
                  <a:lnTo>
                    <a:pt x="39" y="0"/>
                  </a:lnTo>
                  <a:lnTo>
                    <a:pt x="38" y="1"/>
                  </a:lnTo>
                  <a:lnTo>
                    <a:pt x="36" y="2"/>
                  </a:lnTo>
                  <a:lnTo>
                    <a:pt x="36" y="3"/>
                  </a:lnTo>
                  <a:lnTo>
                    <a:pt x="32" y="3"/>
                  </a:lnTo>
                  <a:lnTo>
                    <a:pt x="30" y="5"/>
                  </a:lnTo>
                  <a:lnTo>
                    <a:pt x="26" y="6"/>
                  </a:lnTo>
                  <a:lnTo>
                    <a:pt x="27" y="9"/>
                  </a:lnTo>
                  <a:lnTo>
                    <a:pt x="27" y="11"/>
                  </a:lnTo>
                  <a:lnTo>
                    <a:pt x="29" y="13"/>
                  </a:lnTo>
                  <a:lnTo>
                    <a:pt x="27" y="13"/>
                  </a:lnTo>
                  <a:lnTo>
                    <a:pt x="22" y="15"/>
                  </a:lnTo>
                  <a:lnTo>
                    <a:pt x="22" y="17"/>
                  </a:lnTo>
                  <a:lnTo>
                    <a:pt x="23" y="20"/>
                  </a:lnTo>
                  <a:lnTo>
                    <a:pt x="20" y="20"/>
                  </a:lnTo>
                  <a:lnTo>
                    <a:pt x="16" y="18"/>
                  </a:lnTo>
                  <a:lnTo>
                    <a:pt x="15" y="19"/>
                  </a:lnTo>
                  <a:lnTo>
                    <a:pt x="12" y="17"/>
                  </a:lnTo>
                  <a:lnTo>
                    <a:pt x="10" y="20"/>
                  </a:lnTo>
                  <a:lnTo>
                    <a:pt x="4" y="20"/>
                  </a:lnTo>
                  <a:lnTo>
                    <a:pt x="0" y="18"/>
                  </a:lnTo>
                  <a:lnTo>
                    <a:pt x="3" y="24"/>
                  </a:lnTo>
                  <a:lnTo>
                    <a:pt x="6" y="29"/>
                  </a:lnTo>
                  <a:lnTo>
                    <a:pt x="10" y="25"/>
                  </a:lnTo>
                  <a:lnTo>
                    <a:pt x="21" y="42"/>
                  </a:lnTo>
                  <a:lnTo>
                    <a:pt x="26" y="47"/>
                  </a:lnTo>
                  <a:lnTo>
                    <a:pt x="39" y="55"/>
                  </a:lnTo>
                  <a:lnTo>
                    <a:pt x="57" y="65"/>
                  </a:lnTo>
                  <a:lnTo>
                    <a:pt x="59" y="65"/>
                  </a:lnTo>
                  <a:lnTo>
                    <a:pt x="60" y="65"/>
                  </a:lnTo>
                  <a:lnTo>
                    <a:pt x="60" y="63"/>
                  </a:lnTo>
                  <a:lnTo>
                    <a:pt x="54" y="59"/>
                  </a:lnTo>
                  <a:lnTo>
                    <a:pt x="53" y="56"/>
                  </a:lnTo>
                  <a:lnTo>
                    <a:pt x="50" y="54"/>
                  </a:lnTo>
                  <a:lnTo>
                    <a:pt x="39" y="44"/>
                  </a:lnTo>
                  <a:lnTo>
                    <a:pt x="39" y="43"/>
                  </a:lnTo>
                  <a:lnTo>
                    <a:pt x="36" y="42"/>
                  </a:lnTo>
                  <a:lnTo>
                    <a:pt x="34" y="35"/>
                  </a:lnTo>
                  <a:lnTo>
                    <a:pt x="30" y="32"/>
                  </a:lnTo>
                  <a:lnTo>
                    <a:pt x="30" y="25"/>
                  </a:lnTo>
                  <a:lnTo>
                    <a:pt x="34" y="24"/>
                  </a:lnTo>
                  <a:lnTo>
                    <a:pt x="38" y="29"/>
                  </a:lnTo>
                  <a:lnTo>
                    <a:pt x="41" y="24"/>
                  </a:lnTo>
                  <a:lnTo>
                    <a:pt x="46" y="24"/>
                  </a:lnTo>
                  <a:lnTo>
                    <a:pt x="50" y="25"/>
                  </a:lnTo>
                  <a:lnTo>
                    <a:pt x="60" y="27"/>
                  </a:lnTo>
                  <a:lnTo>
                    <a:pt x="62" y="25"/>
                  </a:lnTo>
                  <a:lnTo>
                    <a:pt x="64" y="26"/>
                  </a:lnTo>
                  <a:lnTo>
                    <a:pt x="65" y="26"/>
                  </a:lnTo>
                  <a:lnTo>
                    <a:pt x="69" y="26"/>
                  </a:lnTo>
                  <a:lnTo>
                    <a:pt x="71" y="26"/>
                  </a:lnTo>
                  <a:lnTo>
                    <a:pt x="74" y="3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7" name="Freeform 346"/>
            <p:cNvSpPr>
              <a:spLocks/>
            </p:cNvSpPr>
            <p:nvPr/>
          </p:nvSpPr>
          <p:spPr bwMode="auto">
            <a:xfrm>
              <a:off x="2802" y="1850"/>
              <a:ext cx="25" cy="11"/>
            </a:xfrm>
            <a:custGeom>
              <a:avLst/>
              <a:gdLst/>
              <a:ahLst/>
              <a:cxnLst>
                <a:cxn ang="0">
                  <a:pos x="21" y="9"/>
                </a:cxn>
                <a:cxn ang="0">
                  <a:pos x="21" y="7"/>
                </a:cxn>
                <a:cxn ang="0">
                  <a:pos x="21" y="6"/>
                </a:cxn>
                <a:cxn ang="0">
                  <a:pos x="19" y="4"/>
                </a:cxn>
                <a:cxn ang="0">
                  <a:pos x="14" y="2"/>
                </a:cxn>
                <a:cxn ang="0">
                  <a:pos x="10" y="0"/>
                </a:cxn>
                <a:cxn ang="0">
                  <a:pos x="9" y="1"/>
                </a:cxn>
                <a:cxn ang="0">
                  <a:pos x="0" y="0"/>
                </a:cxn>
                <a:cxn ang="0">
                  <a:pos x="21" y="9"/>
                </a:cxn>
              </a:cxnLst>
              <a:rect l="0" t="0" r="r" b="b"/>
              <a:pathLst>
                <a:path w="21" h="9">
                  <a:moveTo>
                    <a:pt x="21" y="9"/>
                  </a:moveTo>
                  <a:lnTo>
                    <a:pt x="21" y="7"/>
                  </a:lnTo>
                  <a:lnTo>
                    <a:pt x="21" y="6"/>
                  </a:lnTo>
                  <a:lnTo>
                    <a:pt x="19" y="4"/>
                  </a:lnTo>
                  <a:lnTo>
                    <a:pt x="14" y="2"/>
                  </a:lnTo>
                  <a:lnTo>
                    <a:pt x="10" y="0"/>
                  </a:lnTo>
                  <a:lnTo>
                    <a:pt x="9" y="1"/>
                  </a:lnTo>
                  <a:lnTo>
                    <a:pt x="0" y="0"/>
                  </a:lnTo>
                  <a:lnTo>
                    <a:pt x="21"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8" name="Freeform 347"/>
            <p:cNvSpPr>
              <a:spLocks/>
            </p:cNvSpPr>
            <p:nvPr/>
          </p:nvSpPr>
          <p:spPr bwMode="auto">
            <a:xfrm>
              <a:off x="2458" y="1690"/>
              <a:ext cx="198" cy="169"/>
            </a:xfrm>
            <a:custGeom>
              <a:avLst/>
              <a:gdLst/>
              <a:ahLst/>
              <a:cxnLst>
                <a:cxn ang="0">
                  <a:pos x="174" y="121"/>
                </a:cxn>
                <a:cxn ang="0">
                  <a:pos x="174" y="128"/>
                </a:cxn>
                <a:cxn ang="0">
                  <a:pos x="173" y="128"/>
                </a:cxn>
                <a:cxn ang="0">
                  <a:pos x="172" y="128"/>
                </a:cxn>
                <a:cxn ang="0">
                  <a:pos x="157" y="140"/>
                </a:cxn>
                <a:cxn ang="0">
                  <a:pos x="139" y="134"/>
                </a:cxn>
                <a:cxn ang="0">
                  <a:pos x="134" y="133"/>
                </a:cxn>
                <a:cxn ang="0">
                  <a:pos x="132" y="134"/>
                </a:cxn>
                <a:cxn ang="0">
                  <a:pos x="120" y="134"/>
                </a:cxn>
                <a:cxn ang="0">
                  <a:pos x="112" y="140"/>
                </a:cxn>
                <a:cxn ang="0">
                  <a:pos x="113" y="151"/>
                </a:cxn>
                <a:cxn ang="0">
                  <a:pos x="91" y="151"/>
                </a:cxn>
                <a:cxn ang="0">
                  <a:pos x="92" y="149"/>
                </a:cxn>
                <a:cxn ang="0">
                  <a:pos x="88" y="149"/>
                </a:cxn>
                <a:cxn ang="0">
                  <a:pos x="48" y="140"/>
                </a:cxn>
                <a:cxn ang="0">
                  <a:pos x="41" y="134"/>
                </a:cxn>
                <a:cxn ang="0">
                  <a:pos x="47" y="126"/>
                </a:cxn>
                <a:cxn ang="0">
                  <a:pos x="48" y="111"/>
                </a:cxn>
                <a:cxn ang="0">
                  <a:pos x="50" y="98"/>
                </a:cxn>
                <a:cxn ang="0">
                  <a:pos x="56" y="105"/>
                </a:cxn>
                <a:cxn ang="0">
                  <a:pos x="50" y="92"/>
                </a:cxn>
                <a:cxn ang="0">
                  <a:pos x="50" y="87"/>
                </a:cxn>
                <a:cxn ang="0">
                  <a:pos x="43" y="81"/>
                </a:cxn>
                <a:cxn ang="0">
                  <a:pos x="37" y="69"/>
                </a:cxn>
                <a:cxn ang="0">
                  <a:pos x="38" y="66"/>
                </a:cxn>
                <a:cxn ang="0">
                  <a:pos x="31" y="63"/>
                </a:cxn>
                <a:cxn ang="0">
                  <a:pos x="23" y="61"/>
                </a:cxn>
                <a:cxn ang="0">
                  <a:pos x="11" y="56"/>
                </a:cxn>
                <a:cxn ang="0">
                  <a:pos x="2" y="54"/>
                </a:cxn>
                <a:cxn ang="0">
                  <a:pos x="5" y="49"/>
                </a:cxn>
                <a:cxn ang="0">
                  <a:pos x="6" y="48"/>
                </a:cxn>
                <a:cxn ang="0">
                  <a:pos x="0" y="47"/>
                </a:cxn>
                <a:cxn ang="0">
                  <a:pos x="17" y="41"/>
                </a:cxn>
                <a:cxn ang="0">
                  <a:pos x="28" y="42"/>
                </a:cxn>
                <a:cxn ang="0">
                  <a:pos x="44" y="43"/>
                </a:cxn>
                <a:cxn ang="0">
                  <a:pos x="41" y="26"/>
                </a:cxn>
                <a:cxn ang="0">
                  <a:pos x="46" y="24"/>
                </a:cxn>
                <a:cxn ang="0">
                  <a:pos x="50" y="29"/>
                </a:cxn>
                <a:cxn ang="0">
                  <a:pos x="72" y="29"/>
                </a:cxn>
                <a:cxn ang="0">
                  <a:pos x="67" y="27"/>
                </a:cxn>
                <a:cxn ang="0">
                  <a:pos x="86" y="17"/>
                </a:cxn>
                <a:cxn ang="0">
                  <a:pos x="88" y="5"/>
                </a:cxn>
                <a:cxn ang="0">
                  <a:pos x="101" y="0"/>
                </a:cxn>
                <a:cxn ang="0">
                  <a:pos x="107" y="6"/>
                </a:cxn>
                <a:cxn ang="0">
                  <a:pos x="125" y="18"/>
                </a:cxn>
                <a:cxn ang="0">
                  <a:pos x="131" y="17"/>
                </a:cxn>
                <a:cxn ang="0">
                  <a:pos x="132" y="19"/>
                </a:cxn>
                <a:cxn ang="0">
                  <a:pos x="146" y="26"/>
                </a:cxn>
                <a:cxn ang="0">
                  <a:pos x="154" y="27"/>
                </a:cxn>
                <a:cxn ang="0">
                  <a:pos x="156" y="29"/>
                </a:cxn>
                <a:cxn ang="0">
                  <a:pos x="179" y="36"/>
                </a:cxn>
                <a:cxn ang="0">
                  <a:pos x="173" y="61"/>
                </a:cxn>
                <a:cxn ang="0">
                  <a:pos x="168" y="63"/>
                </a:cxn>
                <a:cxn ang="0">
                  <a:pos x="164" y="66"/>
                </a:cxn>
                <a:cxn ang="0">
                  <a:pos x="152" y="84"/>
                </a:cxn>
                <a:cxn ang="0">
                  <a:pos x="157" y="80"/>
                </a:cxn>
                <a:cxn ang="0">
                  <a:pos x="166" y="90"/>
                </a:cxn>
                <a:cxn ang="0">
                  <a:pos x="166" y="97"/>
                </a:cxn>
                <a:cxn ang="0">
                  <a:pos x="163" y="104"/>
                </a:cxn>
                <a:cxn ang="0">
                  <a:pos x="163" y="109"/>
                </a:cxn>
                <a:cxn ang="0">
                  <a:pos x="164" y="115"/>
                </a:cxn>
                <a:cxn ang="0">
                  <a:pos x="174" y="121"/>
                </a:cxn>
              </a:cxnLst>
              <a:rect l="0" t="0" r="r" b="b"/>
              <a:pathLst>
                <a:path w="179" h="151">
                  <a:moveTo>
                    <a:pt x="174" y="121"/>
                  </a:moveTo>
                  <a:lnTo>
                    <a:pt x="174" y="128"/>
                  </a:lnTo>
                  <a:lnTo>
                    <a:pt x="173" y="128"/>
                  </a:lnTo>
                  <a:lnTo>
                    <a:pt x="172" y="128"/>
                  </a:lnTo>
                  <a:lnTo>
                    <a:pt x="157" y="140"/>
                  </a:lnTo>
                  <a:lnTo>
                    <a:pt x="139" y="134"/>
                  </a:lnTo>
                  <a:lnTo>
                    <a:pt x="134" y="133"/>
                  </a:lnTo>
                  <a:lnTo>
                    <a:pt x="132" y="134"/>
                  </a:lnTo>
                  <a:lnTo>
                    <a:pt x="120" y="134"/>
                  </a:lnTo>
                  <a:lnTo>
                    <a:pt x="112" y="140"/>
                  </a:lnTo>
                  <a:lnTo>
                    <a:pt x="113" y="151"/>
                  </a:lnTo>
                  <a:lnTo>
                    <a:pt x="91" y="151"/>
                  </a:lnTo>
                  <a:lnTo>
                    <a:pt x="92" y="149"/>
                  </a:lnTo>
                  <a:lnTo>
                    <a:pt x="88" y="149"/>
                  </a:lnTo>
                  <a:lnTo>
                    <a:pt x="48" y="140"/>
                  </a:lnTo>
                  <a:lnTo>
                    <a:pt x="41" y="134"/>
                  </a:lnTo>
                  <a:lnTo>
                    <a:pt x="47" y="126"/>
                  </a:lnTo>
                  <a:lnTo>
                    <a:pt x="48" y="111"/>
                  </a:lnTo>
                  <a:lnTo>
                    <a:pt x="50" y="98"/>
                  </a:lnTo>
                  <a:lnTo>
                    <a:pt x="56" y="105"/>
                  </a:lnTo>
                  <a:lnTo>
                    <a:pt x="50" y="92"/>
                  </a:lnTo>
                  <a:lnTo>
                    <a:pt x="50" y="87"/>
                  </a:lnTo>
                  <a:lnTo>
                    <a:pt x="43" y="81"/>
                  </a:lnTo>
                  <a:lnTo>
                    <a:pt x="37" y="69"/>
                  </a:lnTo>
                  <a:lnTo>
                    <a:pt x="38" y="66"/>
                  </a:lnTo>
                  <a:lnTo>
                    <a:pt x="31" y="63"/>
                  </a:lnTo>
                  <a:lnTo>
                    <a:pt x="23" y="61"/>
                  </a:lnTo>
                  <a:lnTo>
                    <a:pt x="11" y="56"/>
                  </a:lnTo>
                  <a:lnTo>
                    <a:pt x="2" y="54"/>
                  </a:lnTo>
                  <a:lnTo>
                    <a:pt x="5" y="49"/>
                  </a:lnTo>
                  <a:lnTo>
                    <a:pt x="6" y="48"/>
                  </a:lnTo>
                  <a:lnTo>
                    <a:pt x="0" y="47"/>
                  </a:lnTo>
                  <a:lnTo>
                    <a:pt x="17" y="41"/>
                  </a:lnTo>
                  <a:lnTo>
                    <a:pt x="28" y="42"/>
                  </a:lnTo>
                  <a:lnTo>
                    <a:pt x="44" y="43"/>
                  </a:lnTo>
                  <a:lnTo>
                    <a:pt x="41" y="26"/>
                  </a:lnTo>
                  <a:lnTo>
                    <a:pt x="46" y="24"/>
                  </a:lnTo>
                  <a:lnTo>
                    <a:pt x="50" y="29"/>
                  </a:lnTo>
                  <a:lnTo>
                    <a:pt x="72" y="29"/>
                  </a:lnTo>
                  <a:lnTo>
                    <a:pt x="67" y="27"/>
                  </a:lnTo>
                  <a:lnTo>
                    <a:pt x="86" y="17"/>
                  </a:lnTo>
                  <a:lnTo>
                    <a:pt x="88" y="5"/>
                  </a:lnTo>
                  <a:lnTo>
                    <a:pt x="101" y="0"/>
                  </a:lnTo>
                  <a:lnTo>
                    <a:pt x="107" y="6"/>
                  </a:lnTo>
                  <a:lnTo>
                    <a:pt x="125" y="18"/>
                  </a:lnTo>
                  <a:lnTo>
                    <a:pt x="131" y="17"/>
                  </a:lnTo>
                  <a:lnTo>
                    <a:pt x="132" y="19"/>
                  </a:lnTo>
                  <a:lnTo>
                    <a:pt x="146" y="26"/>
                  </a:lnTo>
                  <a:lnTo>
                    <a:pt x="154" y="27"/>
                  </a:lnTo>
                  <a:lnTo>
                    <a:pt x="156" y="29"/>
                  </a:lnTo>
                  <a:lnTo>
                    <a:pt x="179" y="36"/>
                  </a:lnTo>
                  <a:lnTo>
                    <a:pt x="173" y="61"/>
                  </a:lnTo>
                  <a:lnTo>
                    <a:pt x="168" y="63"/>
                  </a:lnTo>
                  <a:lnTo>
                    <a:pt x="164" y="66"/>
                  </a:lnTo>
                  <a:lnTo>
                    <a:pt x="152" y="84"/>
                  </a:lnTo>
                  <a:lnTo>
                    <a:pt x="157" y="80"/>
                  </a:lnTo>
                  <a:lnTo>
                    <a:pt x="166" y="90"/>
                  </a:lnTo>
                  <a:lnTo>
                    <a:pt x="166" y="97"/>
                  </a:lnTo>
                  <a:lnTo>
                    <a:pt x="163" y="104"/>
                  </a:lnTo>
                  <a:lnTo>
                    <a:pt x="163" y="109"/>
                  </a:lnTo>
                  <a:lnTo>
                    <a:pt x="164" y="115"/>
                  </a:lnTo>
                  <a:lnTo>
                    <a:pt x="174" y="1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9" name="Freeform 348"/>
            <p:cNvSpPr>
              <a:spLocks/>
            </p:cNvSpPr>
            <p:nvPr/>
          </p:nvSpPr>
          <p:spPr bwMode="auto">
            <a:xfrm>
              <a:off x="2669" y="1850"/>
              <a:ext cx="15" cy="26"/>
            </a:xfrm>
            <a:custGeom>
              <a:avLst/>
              <a:gdLst/>
              <a:ahLst/>
              <a:cxnLst>
                <a:cxn ang="0">
                  <a:pos x="9" y="24"/>
                </a:cxn>
                <a:cxn ang="0">
                  <a:pos x="3" y="20"/>
                </a:cxn>
                <a:cxn ang="0">
                  <a:pos x="0" y="11"/>
                </a:cxn>
                <a:cxn ang="0">
                  <a:pos x="9" y="0"/>
                </a:cxn>
                <a:cxn ang="0">
                  <a:pos x="13" y="11"/>
                </a:cxn>
                <a:cxn ang="0">
                  <a:pos x="9" y="24"/>
                </a:cxn>
              </a:cxnLst>
              <a:rect l="0" t="0" r="r" b="b"/>
              <a:pathLst>
                <a:path w="13" h="24">
                  <a:moveTo>
                    <a:pt x="9" y="24"/>
                  </a:moveTo>
                  <a:lnTo>
                    <a:pt x="3" y="20"/>
                  </a:lnTo>
                  <a:lnTo>
                    <a:pt x="0" y="11"/>
                  </a:lnTo>
                  <a:lnTo>
                    <a:pt x="9" y="0"/>
                  </a:lnTo>
                  <a:lnTo>
                    <a:pt x="13" y="11"/>
                  </a:lnTo>
                  <a:lnTo>
                    <a:pt x="9"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0" name="Freeform 349"/>
            <p:cNvSpPr>
              <a:spLocks/>
            </p:cNvSpPr>
            <p:nvPr/>
          </p:nvSpPr>
          <p:spPr bwMode="auto">
            <a:xfrm>
              <a:off x="2782" y="1741"/>
              <a:ext cx="105" cy="51"/>
            </a:xfrm>
            <a:custGeom>
              <a:avLst/>
              <a:gdLst/>
              <a:ahLst/>
              <a:cxnLst>
                <a:cxn ang="0">
                  <a:pos x="39" y="46"/>
                </a:cxn>
                <a:cxn ang="0">
                  <a:pos x="18" y="44"/>
                </a:cxn>
                <a:cxn ang="0">
                  <a:pos x="6" y="33"/>
                </a:cxn>
                <a:cxn ang="0">
                  <a:pos x="1" y="30"/>
                </a:cxn>
                <a:cxn ang="0">
                  <a:pos x="0" y="28"/>
                </a:cxn>
                <a:cxn ang="0">
                  <a:pos x="1" y="27"/>
                </a:cxn>
                <a:cxn ang="0">
                  <a:pos x="6" y="15"/>
                </a:cxn>
                <a:cxn ang="0">
                  <a:pos x="7" y="14"/>
                </a:cxn>
                <a:cxn ang="0">
                  <a:pos x="13" y="9"/>
                </a:cxn>
                <a:cxn ang="0">
                  <a:pos x="17" y="10"/>
                </a:cxn>
                <a:cxn ang="0">
                  <a:pos x="35" y="11"/>
                </a:cxn>
                <a:cxn ang="0">
                  <a:pos x="57" y="0"/>
                </a:cxn>
                <a:cxn ang="0">
                  <a:pos x="81" y="2"/>
                </a:cxn>
                <a:cxn ang="0">
                  <a:pos x="92" y="10"/>
                </a:cxn>
                <a:cxn ang="0">
                  <a:pos x="79" y="23"/>
                </a:cxn>
                <a:cxn ang="0">
                  <a:pos x="67" y="39"/>
                </a:cxn>
                <a:cxn ang="0">
                  <a:pos x="60" y="41"/>
                </a:cxn>
                <a:cxn ang="0">
                  <a:pos x="39" y="46"/>
                </a:cxn>
              </a:cxnLst>
              <a:rect l="0" t="0" r="r" b="b"/>
              <a:pathLst>
                <a:path w="92" h="46">
                  <a:moveTo>
                    <a:pt x="39" y="46"/>
                  </a:moveTo>
                  <a:lnTo>
                    <a:pt x="18" y="44"/>
                  </a:lnTo>
                  <a:lnTo>
                    <a:pt x="6" y="33"/>
                  </a:lnTo>
                  <a:lnTo>
                    <a:pt x="1" y="30"/>
                  </a:lnTo>
                  <a:lnTo>
                    <a:pt x="0" y="28"/>
                  </a:lnTo>
                  <a:lnTo>
                    <a:pt x="1" y="27"/>
                  </a:lnTo>
                  <a:lnTo>
                    <a:pt x="6" y="15"/>
                  </a:lnTo>
                  <a:lnTo>
                    <a:pt x="7" y="14"/>
                  </a:lnTo>
                  <a:lnTo>
                    <a:pt x="13" y="9"/>
                  </a:lnTo>
                  <a:lnTo>
                    <a:pt x="17" y="10"/>
                  </a:lnTo>
                  <a:lnTo>
                    <a:pt x="35" y="11"/>
                  </a:lnTo>
                  <a:lnTo>
                    <a:pt x="57" y="0"/>
                  </a:lnTo>
                  <a:lnTo>
                    <a:pt x="81" y="2"/>
                  </a:lnTo>
                  <a:lnTo>
                    <a:pt x="92" y="10"/>
                  </a:lnTo>
                  <a:lnTo>
                    <a:pt x="79" y="23"/>
                  </a:lnTo>
                  <a:lnTo>
                    <a:pt x="67" y="39"/>
                  </a:lnTo>
                  <a:lnTo>
                    <a:pt x="60" y="41"/>
                  </a:lnTo>
                  <a:lnTo>
                    <a:pt x="39"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1" name="Freeform 350"/>
            <p:cNvSpPr>
              <a:spLocks/>
            </p:cNvSpPr>
            <p:nvPr/>
          </p:nvSpPr>
          <p:spPr bwMode="auto">
            <a:xfrm>
              <a:off x="2902" y="1228"/>
              <a:ext cx="2093" cy="646"/>
            </a:xfrm>
            <a:custGeom>
              <a:avLst/>
              <a:gdLst/>
              <a:ahLst/>
              <a:cxnLst>
                <a:cxn ang="0">
                  <a:pos x="1624" y="126"/>
                </a:cxn>
                <a:cxn ang="0">
                  <a:pos x="1471" y="99"/>
                </a:cxn>
                <a:cxn ang="0">
                  <a:pos x="1329" y="83"/>
                </a:cxn>
                <a:cxn ang="0">
                  <a:pos x="1222" y="71"/>
                </a:cxn>
                <a:cxn ang="0">
                  <a:pos x="1183" y="84"/>
                </a:cxn>
                <a:cxn ang="0">
                  <a:pos x="1071" y="75"/>
                </a:cxn>
                <a:cxn ang="0">
                  <a:pos x="890" y="52"/>
                </a:cxn>
                <a:cxn ang="0">
                  <a:pos x="873" y="30"/>
                </a:cxn>
                <a:cxn ang="0">
                  <a:pos x="777" y="15"/>
                </a:cxn>
                <a:cxn ang="0">
                  <a:pos x="702" y="18"/>
                </a:cxn>
                <a:cxn ang="0">
                  <a:pos x="597" y="41"/>
                </a:cxn>
                <a:cxn ang="0">
                  <a:pos x="564" y="74"/>
                </a:cxn>
                <a:cxn ang="0">
                  <a:pos x="596" y="84"/>
                </a:cxn>
                <a:cxn ang="0">
                  <a:pos x="511" y="87"/>
                </a:cxn>
                <a:cxn ang="0">
                  <a:pos x="548" y="122"/>
                </a:cxn>
                <a:cxn ang="0">
                  <a:pos x="541" y="144"/>
                </a:cxn>
                <a:cxn ang="0">
                  <a:pos x="511" y="155"/>
                </a:cxn>
                <a:cxn ang="0">
                  <a:pos x="428" y="68"/>
                </a:cxn>
                <a:cxn ang="0">
                  <a:pos x="464" y="125"/>
                </a:cxn>
                <a:cxn ang="0">
                  <a:pos x="360" y="134"/>
                </a:cxn>
                <a:cxn ang="0">
                  <a:pos x="296" y="124"/>
                </a:cxn>
                <a:cxn ang="0">
                  <a:pos x="194" y="147"/>
                </a:cxn>
                <a:cxn ang="0">
                  <a:pos x="180" y="164"/>
                </a:cxn>
                <a:cxn ang="0">
                  <a:pos x="129" y="201"/>
                </a:cxn>
                <a:cxn ang="0">
                  <a:pos x="54" y="155"/>
                </a:cxn>
                <a:cxn ang="0">
                  <a:pos x="46" y="123"/>
                </a:cxn>
                <a:cxn ang="0">
                  <a:pos x="12" y="116"/>
                </a:cxn>
                <a:cxn ang="0">
                  <a:pos x="38" y="201"/>
                </a:cxn>
                <a:cxn ang="0">
                  <a:pos x="27" y="260"/>
                </a:cxn>
                <a:cxn ang="0">
                  <a:pos x="57" y="336"/>
                </a:cxn>
                <a:cxn ang="0">
                  <a:pos x="152" y="416"/>
                </a:cxn>
                <a:cxn ang="0">
                  <a:pos x="206" y="492"/>
                </a:cxn>
                <a:cxn ang="0">
                  <a:pos x="207" y="531"/>
                </a:cxn>
                <a:cxn ang="0">
                  <a:pos x="373" y="582"/>
                </a:cxn>
                <a:cxn ang="0">
                  <a:pos x="362" y="501"/>
                </a:cxn>
                <a:cxn ang="0">
                  <a:pos x="350" y="407"/>
                </a:cxn>
                <a:cxn ang="0">
                  <a:pos x="481" y="396"/>
                </a:cxn>
                <a:cxn ang="0">
                  <a:pos x="585" y="344"/>
                </a:cxn>
                <a:cxn ang="0">
                  <a:pos x="692" y="368"/>
                </a:cxn>
                <a:cxn ang="0">
                  <a:pos x="837" y="438"/>
                </a:cxn>
                <a:cxn ang="0">
                  <a:pos x="963" y="431"/>
                </a:cxn>
                <a:cxn ang="0">
                  <a:pos x="1087" y="432"/>
                </a:cxn>
                <a:cxn ang="0">
                  <a:pos x="1262" y="437"/>
                </a:cxn>
                <a:cxn ang="0">
                  <a:pos x="1312" y="377"/>
                </a:cxn>
                <a:cxn ang="0">
                  <a:pos x="1479" y="456"/>
                </a:cxn>
                <a:cxn ang="0">
                  <a:pos x="1543" y="544"/>
                </a:cxn>
                <a:cxn ang="0">
                  <a:pos x="1570" y="561"/>
                </a:cxn>
                <a:cxn ang="0">
                  <a:pos x="1608" y="450"/>
                </a:cxn>
                <a:cxn ang="0">
                  <a:pos x="1514" y="362"/>
                </a:cxn>
                <a:cxn ang="0">
                  <a:pos x="1472" y="324"/>
                </a:cxn>
                <a:cxn ang="0">
                  <a:pos x="1531" y="276"/>
                </a:cxn>
                <a:cxn ang="0">
                  <a:pos x="1628" y="280"/>
                </a:cxn>
                <a:cxn ang="0">
                  <a:pos x="1672" y="251"/>
                </a:cxn>
                <a:cxn ang="0">
                  <a:pos x="1701" y="228"/>
                </a:cxn>
                <a:cxn ang="0">
                  <a:pos x="1702" y="318"/>
                </a:cxn>
                <a:cxn ang="0">
                  <a:pos x="1807" y="381"/>
                </a:cxn>
                <a:cxn ang="0">
                  <a:pos x="1807" y="333"/>
                </a:cxn>
                <a:cxn ang="0">
                  <a:pos x="1759" y="269"/>
                </a:cxn>
                <a:cxn ang="0">
                  <a:pos x="1828" y="249"/>
                </a:cxn>
                <a:cxn ang="0">
                  <a:pos x="1870" y="218"/>
                </a:cxn>
                <a:cxn ang="0">
                  <a:pos x="1788" y="156"/>
                </a:cxn>
              </a:cxnLst>
              <a:rect l="0" t="0" r="r" b="b"/>
              <a:pathLst>
                <a:path w="1884" h="582">
                  <a:moveTo>
                    <a:pt x="1741" y="124"/>
                  </a:moveTo>
                  <a:lnTo>
                    <a:pt x="1706" y="117"/>
                  </a:lnTo>
                  <a:lnTo>
                    <a:pt x="1670" y="110"/>
                  </a:lnTo>
                  <a:lnTo>
                    <a:pt x="1639" y="110"/>
                  </a:lnTo>
                  <a:lnTo>
                    <a:pt x="1609" y="107"/>
                  </a:lnTo>
                  <a:lnTo>
                    <a:pt x="1620" y="114"/>
                  </a:lnTo>
                  <a:lnTo>
                    <a:pt x="1638" y="124"/>
                  </a:lnTo>
                  <a:lnTo>
                    <a:pt x="1635" y="126"/>
                  </a:lnTo>
                  <a:lnTo>
                    <a:pt x="1624" y="126"/>
                  </a:lnTo>
                  <a:lnTo>
                    <a:pt x="1608" y="120"/>
                  </a:lnTo>
                  <a:lnTo>
                    <a:pt x="1602" y="120"/>
                  </a:lnTo>
                  <a:lnTo>
                    <a:pt x="1584" y="112"/>
                  </a:lnTo>
                  <a:lnTo>
                    <a:pt x="1570" y="116"/>
                  </a:lnTo>
                  <a:lnTo>
                    <a:pt x="1524" y="113"/>
                  </a:lnTo>
                  <a:lnTo>
                    <a:pt x="1522" y="120"/>
                  </a:lnTo>
                  <a:lnTo>
                    <a:pt x="1507" y="113"/>
                  </a:lnTo>
                  <a:lnTo>
                    <a:pt x="1489" y="110"/>
                  </a:lnTo>
                  <a:lnTo>
                    <a:pt x="1471" y="99"/>
                  </a:lnTo>
                  <a:lnTo>
                    <a:pt x="1443" y="93"/>
                  </a:lnTo>
                  <a:lnTo>
                    <a:pt x="1414" y="94"/>
                  </a:lnTo>
                  <a:lnTo>
                    <a:pt x="1387" y="96"/>
                  </a:lnTo>
                  <a:lnTo>
                    <a:pt x="1380" y="94"/>
                  </a:lnTo>
                  <a:lnTo>
                    <a:pt x="1358" y="88"/>
                  </a:lnTo>
                  <a:lnTo>
                    <a:pt x="1351" y="90"/>
                  </a:lnTo>
                  <a:lnTo>
                    <a:pt x="1351" y="87"/>
                  </a:lnTo>
                  <a:lnTo>
                    <a:pt x="1344" y="86"/>
                  </a:lnTo>
                  <a:lnTo>
                    <a:pt x="1329" y="83"/>
                  </a:lnTo>
                  <a:lnTo>
                    <a:pt x="1336" y="81"/>
                  </a:lnTo>
                  <a:lnTo>
                    <a:pt x="1310" y="75"/>
                  </a:lnTo>
                  <a:lnTo>
                    <a:pt x="1294" y="78"/>
                  </a:lnTo>
                  <a:lnTo>
                    <a:pt x="1290" y="78"/>
                  </a:lnTo>
                  <a:lnTo>
                    <a:pt x="1292" y="75"/>
                  </a:lnTo>
                  <a:lnTo>
                    <a:pt x="1291" y="74"/>
                  </a:lnTo>
                  <a:lnTo>
                    <a:pt x="1252" y="71"/>
                  </a:lnTo>
                  <a:lnTo>
                    <a:pt x="1213" y="68"/>
                  </a:lnTo>
                  <a:lnTo>
                    <a:pt x="1222" y="71"/>
                  </a:lnTo>
                  <a:lnTo>
                    <a:pt x="1206" y="75"/>
                  </a:lnTo>
                  <a:lnTo>
                    <a:pt x="1213" y="76"/>
                  </a:lnTo>
                  <a:lnTo>
                    <a:pt x="1218" y="77"/>
                  </a:lnTo>
                  <a:lnTo>
                    <a:pt x="1222" y="82"/>
                  </a:lnTo>
                  <a:lnTo>
                    <a:pt x="1230" y="87"/>
                  </a:lnTo>
                  <a:lnTo>
                    <a:pt x="1209" y="86"/>
                  </a:lnTo>
                  <a:lnTo>
                    <a:pt x="1213" y="89"/>
                  </a:lnTo>
                  <a:lnTo>
                    <a:pt x="1215" y="92"/>
                  </a:lnTo>
                  <a:lnTo>
                    <a:pt x="1183" y="84"/>
                  </a:lnTo>
                  <a:lnTo>
                    <a:pt x="1172" y="88"/>
                  </a:lnTo>
                  <a:lnTo>
                    <a:pt x="1146" y="83"/>
                  </a:lnTo>
                  <a:lnTo>
                    <a:pt x="1141" y="81"/>
                  </a:lnTo>
                  <a:lnTo>
                    <a:pt x="1148" y="90"/>
                  </a:lnTo>
                  <a:lnTo>
                    <a:pt x="1144" y="98"/>
                  </a:lnTo>
                  <a:lnTo>
                    <a:pt x="1126" y="93"/>
                  </a:lnTo>
                  <a:lnTo>
                    <a:pt x="1104" y="83"/>
                  </a:lnTo>
                  <a:lnTo>
                    <a:pt x="1078" y="74"/>
                  </a:lnTo>
                  <a:lnTo>
                    <a:pt x="1071" y="75"/>
                  </a:lnTo>
                  <a:lnTo>
                    <a:pt x="1090" y="88"/>
                  </a:lnTo>
                  <a:lnTo>
                    <a:pt x="1064" y="74"/>
                  </a:lnTo>
                  <a:lnTo>
                    <a:pt x="1022" y="69"/>
                  </a:lnTo>
                  <a:lnTo>
                    <a:pt x="980" y="64"/>
                  </a:lnTo>
                  <a:lnTo>
                    <a:pt x="957" y="59"/>
                  </a:lnTo>
                  <a:lnTo>
                    <a:pt x="961" y="57"/>
                  </a:lnTo>
                  <a:lnTo>
                    <a:pt x="943" y="57"/>
                  </a:lnTo>
                  <a:lnTo>
                    <a:pt x="903" y="58"/>
                  </a:lnTo>
                  <a:lnTo>
                    <a:pt x="890" y="52"/>
                  </a:lnTo>
                  <a:lnTo>
                    <a:pt x="873" y="52"/>
                  </a:lnTo>
                  <a:lnTo>
                    <a:pt x="873" y="50"/>
                  </a:lnTo>
                  <a:lnTo>
                    <a:pt x="854" y="53"/>
                  </a:lnTo>
                  <a:lnTo>
                    <a:pt x="872" y="54"/>
                  </a:lnTo>
                  <a:lnTo>
                    <a:pt x="850" y="60"/>
                  </a:lnTo>
                  <a:lnTo>
                    <a:pt x="829" y="63"/>
                  </a:lnTo>
                  <a:lnTo>
                    <a:pt x="830" y="60"/>
                  </a:lnTo>
                  <a:lnTo>
                    <a:pt x="852" y="46"/>
                  </a:lnTo>
                  <a:lnTo>
                    <a:pt x="873" y="30"/>
                  </a:lnTo>
                  <a:lnTo>
                    <a:pt x="864" y="28"/>
                  </a:lnTo>
                  <a:lnTo>
                    <a:pt x="853" y="24"/>
                  </a:lnTo>
                  <a:lnTo>
                    <a:pt x="870" y="28"/>
                  </a:lnTo>
                  <a:lnTo>
                    <a:pt x="855" y="20"/>
                  </a:lnTo>
                  <a:lnTo>
                    <a:pt x="853" y="21"/>
                  </a:lnTo>
                  <a:lnTo>
                    <a:pt x="844" y="20"/>
                  </a:lnTo>
                  <a:lnTo>
                    <a:pt x="826" y="15"/>
                  </a:lnTo>
                  <a:lnTo>
                    <a:pt x="790" y="14"/>
                  </a:lnTo>
                  <a:lnTo>
                    <a:pt x="777" y="15"/>
                  </a:lnTo>
                  <a:lnTo>
                    <a:pt x="776" y="9"/>
                  </a:lnTo>
                  <a:lnTo>
                    <a:pt x="760" y="8"/>
                  </a:lnTo>
                  <a:lnTo>
                    <a:pt x="742" y="8"/>
                  </a:lnTo>
                  <a:lnTo>
                    <a:pt x="756" y="4"/>
                  </a:lnTo>
                  <a:lnTo>
                    <a:pt x="728" y="0"/>
                  </a:lnTo>
                  <a:lnTo>
                    <a:pt x="711" y="10"/>
                  </a:lnTo>
                  <a:lnTo>
                    <a:pt x="718" y="15"/>
                  </a:lnTo>
                  <a:lnTo>
                    <a:pt x="728" y="16"/>
                  </a:lnTo>
                  <a:lnTo>
                    <a:pt x="702" y="18"/>
                  </a:lnTo>
                  <a:lnTo>
                    <a:pt x="711" y="21"/>
                  </a:lnTo>
                  <a:lnTo>
                    <a:pt x="693" y="22"/>
                  </a:lnTo>
                  <a:lnTo>
                    <a:pt x="676" y="23"/>
                  </a:lnTo>
                  <a:lnTo>
                    <a:pt x="644" y="23"/>
                  </a:lnTo>
                  <a:lnTo>
                    <a:pt x="657" y="23"/>
                  </a:lnTo>
                  <a:lnTo>
                    <a:pt x="632" y="28"/>
                  </a:lnTo>
                  <a:lnTo>
                    <a:pt x="606" y="33"/>
                  </a:lnTo>
                  <a:lnTo>
                    <a:pt x="597" y="35"/>
                  </a:lnTo>
                  <a:lnTo>
                    <a:pt x="597" y="41"/>
                  </a:lnTo>
                  <a:lnTo>
                    <a:pt x="588" y="40"/>
                  </a:lnTo>
                  <a:lnTo>
                    <a:pt x="603" y="45"/>
                  </a:lnTo>
                  <a:lnTo>
                    <a:pt x="594" y="46"/>
                  </a:lnTo>
                  <a:lnTo>
                    <a:pt x="607" y="50"/>
                  </a:lnTo>
                  <a:lnTo>
                    <a:pt x="607" y="52"/>
                  </a:lnTo>
                  <a:lnTo>
                    <a:pt x="576" y="54"/>
                  </a:lnTo>
                  <a:lnTo>
                    <a:pt x="546" y="58"/>
                  </a:lnTo>
                  <a:lnTo>
                    <a:pt x="550" y="64"/>
                  </a:lnTo>
                  <a:lnTo>
                    <a:pt x="564" y="74"/>
                  </a:lnTo>
                  <a:lnTo>
                    <a:pt x="579" y="77"/>
                  </a:lnTo>
                  <a:lnTo>
                    <a:pt x="601" y="84"/>
                  </a:lnTo>
                  <a:lnTo>
                    <a:pt x="610" y="98"/>
                  </a:lnTo>
                  <a:lnTo>
                    <a:pt x="614" y="104"/>
                  </a:lnTo>
                  <a:lnTo>
                    <a:pt x="608" y="104"/>
                  </a:lnTo>
                  <a:lnTo>
                    <a:pt x="598" y="94"/>
                  </a:lnTo>
                  <a:lnTo>
                    <a:pt x="596" y="100"/>
                  </a:lnTo>
                  <a:lnTo>
                    <a:pt x="589" y="90"/>
                  </a:lnTo>
                  <a:lnTo>
                    <a:pt x="596" y="84"/>
                  </a:lnTo>
                  <a:lnTo>
                    <a:pt x="571" y="82"/>
                  </a:lnTo>
                  <a:lnTo>
                    <a:pt x="546" y="74"/>
                  </a:lnTo>
                  <a:lnTo>
                    <a:pt x="525" y="77"/>
                  </a:lnTo>
                  <a:lnTo>
                    <a:pt x="535" y="81"/>
                  </a:lnTo>
                  <a:lnTo>
                    <a:pt x="512" y="81"/>
                  </a:lnTo>
                  <a:lnTo>
                    <a:pt x="518" y="86"/>
                  </a:lnTo>
                  <a:lnTo>
                    <a:pt x="546" y="90"/>
                  </a:lnTo>
                  <a:lnTo>
                    <a:pt x="552" y="94"/>
                  </a:lnTo>
                  <a:lnTo>
                    <a:pt x="511" y="87"/>
                  </a:lnTo>
                  <a:lnTo>
                    <a:pt x="498" y="69"/>
                  </a:lnTo>
                  <a:lnTo>
                    <a:pt x="488" y="68"/>
                  </a:lnTo>
                  <a:lnTo>
                    <a:pt x="498" y="77"/>
                  </a:lnTo>
                  <a:lnTo>
                    <a:pt x="487" y="84"/>
                  </a:lnTo>
                  <a:lnTo>
                    <a:pt x="492" y="90"/>
                  </a:lnTo>
                  <a:lnTo>
                    <a:pt x="508" y="100"/>
                  </a:lnTo>
                  <a:lnTo>
                    <a:pt x="507" y="112"/>
                  </a:lnTo>
                  <a:lnTo>
                    <a:pt x="518" y="123"/>
                  </a:lnTo>
                  <a:lnTo>
                    <a:pt x="548" y="122"/>
                  </a:lnTo>
                  <a:lnTo>
                    <a:pt x="564" y="125"/>
                  </a:lnTo>
                  <a:lnTo>
                    <a:pt x="571" y="136"/>
                  </a:lnTo>
                  <a:lnTo>
                    <a:pt x="576" y="142"/>
                  </a:lnTo>
                  <a:lnTo>
                    <a:pt x="592" y="146"/>
                  </a:lnTo>
                  <a:lnTo>
                    <a:pt x="567" y="142"/>
                  </a:lnTo>
                  <a:lnTo>
                    <a:pt x="558" y="129"/>
                  </a:lnTo>
                  <a:lnTo>
                    <a:pt x="549" y="124"/>
                  </a:lnTo>
                  <a:lnTo>
                    <a:pt x="528" y="128"/>
                  </a:lnTo>
                  <a:lnTo>
                    <a:pt x="541" y="144"/>
                  </a:lnTo>
                  <a:lnTo>
                    <a:pt x="530" y="160"/>
                  </a:lnTo>
                  <a:lnTo>
                    <a:pt x="525" y="162"/>
                  </a:lnTo>
                  <a:lnTo>
                    <a:pt x="518" y="165"/>
                  </a:lnTo>
                  <a:lnTo>
                    <a:pt x="484" y="161"/>
                  </a:lnTo>
                  <a:lnTo>
                    <a:pt x="481" y="158"/>
                  </a:lnTo>
                  <a:lnTo>
                    <a:pt x="502" y="159"/>
                  </a:lnTo>
                  <a:lnTo>
                    <a:pt x="499" y="160"/>
                  </a:lnTo>
                  <a:lnTo>
                    <a:pt x="513" y="159"/>
                  </a:lnTo>
                  <a:lnTo>
                    <a:pt x="511" y="155"/>
                  </a:lnTo>
                  <a:lnTo>
                    <a:pt x="520" y="140"/>
                  </a:lnTo>
                  <a:lnTo>
                    <a:pt x="520" y="132"/>
                  </a:lnTo>
                  <a:lnTo>
                    <a:pt x="500" y="120"/>
                  </a:lnTo>
                  <a:lnTo>
                    <a:pt x="492" y="106"/>
                  </a:lnTo>
                  <a:lnTo>
                    <a:pt x="482" y="92"/>
                  </a:lnTo>
                  <a:lnTo>
                    <a:pt x="470" y="86"/>
                  </a:lnTo>
                  <a:lnTo>
                    <a:pt x="470" y="71"/>
                  </a:lnTo>
                  <a:lnTo>
                    <a:pt x="452" y="66"/>
                  </a:lnTo>
                  <a:lnTo>
                    <a:pt x="428" y="68"/>
                  </a:lnTo>
                  <a:lnTo>
                    <a:pt x="426" y="87"/>
                  </a:lnTo>
                  <a:lnTo>
                    <a:pt x="416" y="94"/>
                  </a:lnTo>
                  <a:lnTo>
                    <a:pt x="420" y="98"/>
                  </a:lnTo>
                  <a:lnTo>
                    <a:pt x="427" y="98"/>
                  </a:lnTo>
                  <a:lnTo>
                    <a:pt x="429" y="107"/>
                  </a:lnTo>
                  <a:lnTo>
                    <a:pt x="433" y="113"/>
                  </a:lnTo>
                  <a:lnTo>
                    <a:pt x="448" y="118"/>
                  </a:lnTo>
                  <a:lnTo>
                    <a:pt x="458" y="125"/>
                  </a:lnTo>
                  <a:lnTo>
                    <a:pt x="464" y="125"/>
                  </a:lnTo>
                  <a:lnTo>
                    <a:pt x="459" y="136"/>
                  </a:lnTo>
                  <a:lnTo>
                    <a:pt x="441" y="126"/>
                  </a:lnTo>
                  <a:lnTo>
                    <a:pt x="412" y="119"/>
                  </a:lnTo>
                  <a:lnTo>
                    <a:pt x="386" y="114"/>
                  </a:lnTo>
                  <a:lnTo>
                    <a:pt x="360" y="111"/>
                  </a:lnTo>
                  <a:lnTo>
                    <a:pt x="355" y="114"/>
                  </a:lnTo>
                  <a:lnTo>
                    <a:pt x="368" y="125"/>
                  </a:lnTo>
                  <a:lnTo>
                    <a:pt x="360" y="130"/>
                  </a:lnTo>
                  <a:lnTo>
                    <a:pt x="360" y="134"/>
                  </a:lnTo>
                  <a:lnTo>
                    <a:pt x="351" y="132"/>
                  </a:lnTo>
                  <a:lnTo>
                    <a:pt x="349" y="125"/>
                  </a:lnTo>
                  <a:lnTo>
                    <a:pt x="332" y="128"/>
                  </a:lnTo>
                  <a:lnTo>
                    <a:pt x="319" y="130"/>
                  </a:lnTo>
                  <a:lnTo>
                    <a:pt x="304" y="135"/>
                  </a:lnTo>
                  <a:lnTo>
                    <a:pt x="285" y="134"/>
                  </a:lnTo>
                  <a:lnTo>
                    <a:pt x="291" y="131"/>
                  </a:lnTo>
                  <a:lnTo>
                    <a:pt x="286" y="126"/>
                  </a:lnTo>
                  <a:lnTo>
                    <a:pt x="296" y="124"/>
                  </a:lnTo>
                  <a:lnTo>
                    <a:pt x="274" y="130"/>
                  </a:lnTo>
                  <a:lnTo>
                    <a:pt x="273" y="132"/>
                  </a:lnTo>
                  <a:lnTo>
                    <a:pt x="249" y="137"/>
                  </a:lnTo>
                  <a:lnTo>
                    <a:pt x="236" y="142"/>
                  </a:lnTo>
                  <a:lnTo>
                    <a:pt x="237" y="144"/>
                  </a:lnTo>
                  <a:lnTo>
                    <a:pt x="226" y="146"/>
                  </a:lnTo>
                  <a:lnTo>
                    <a:pt x="225" y="155"/>
                  </a:lnTo>
                  <a:lnTo>
                    <a:pt x="207" y="156"/>
                  </a:lnTo>
                  <a:lnTo>
                    <a:pt x="194" y="147"/>
                  </a:lnTo>
                  <a:lnTo>
                    <a:pt x="212" y="141"/>
                  </a:lnTo>
                  <a:lnTo>
                    <a:pt x="190" y="130"/>
                  </a:lnTo>
                  <a:lnTo>
                    <a:pt x="166" y="129"/>
                  </a:lnTo>
                  <a:lnTo>
                    <a:pt x="181" y="135"/>
                  </a:lnTo>
                  <a:lnTo>
                    <a:pt x="186" y="152"/>
                  </a:lnTo>
                  <a:lnTo>
                    <a:pt x="192" y="162"/>
                  </a:lnTo>
                  <a:lnTo>
                    <a:pt x="190" y="170"/>
                  </a:lnTo>
                  <a:lnTo>
                    <a:pt x="184" y="170"/>
                  </a:lnTo>
                  <a:lnTo>
                    <a:pt x="180" y="164"/>
                  </a:lnTo>
                  <a:lnTo>
                    <a:pt x="166" y="161"/>
                  </a:lnTo>
                  <a:lnTo>
                    <a:pt x="154" y="171"/>
                  </a:lnTo>
                  <a:lnTo>
                    <a:pt x="142" y="179"/>
                  </a:lnTo>
                  <a:lnTo>
                    <a:pt x="154" y="192"/>
                  </a:lnTo>
                  <a:lnTo>
                    <a:pt x="127" y="189"/>
                  </a:lnTo>
                  <a:lnTo>
                    <a:pt x="109" y="183"/>
                  </a:lnTo>
                  <a:lnTo>
                    <a:pt x="110" y="190"/>
                  </a:lnTo>
                  <a:lnTo>
                    <a:pt x="123" y="196"/>
                  </a:lnTo>
                  <a:lnTo>
                    <a:pt x="129" y="201"/>
                  </a:lnTo>
                  <a:lnTo>
                    <a:pt x="114" y="203"/>
                  </a:lnTo>
                  <a:lnTo>
                    <a:pt x="90" y="191"/>
                  </a:lnTo>
                  <a:lnTo>
                    <a:pt x="81" y="178"/>
                  </a:lnTo>
                  <a:lnTo>
                    <a:pt x="80" y="173"/>
                  </a:lnTo>
                  <a:lnTo>
                    <a:pt x="82" y="173"/>
                  </a:lnTo>
                  <a:lnTo>
                    <a:pt x="66" y="165"/>
                  </a:lnTo>
                  <a:lnTo>
                    <a:pt x="60" y="161"/>
                  </a:lnTo>
                  <a:lnTo>
                    <a:pt x="44" y="153"/>
                  </a:lnTo>
                  <a:lnTo>
                    <a:pt x="54" y="155"/>
                  </a:lnTo>
                  <a:lnTo>
                    <a:pt x="86" y="161"/>
                  </a:lnTo>
                  <a:lnTo>
                    <a:pt x="118" y="168"/>
                  </a:lnTo>
                  <a:lnTo>
                    <a:pt x="148" y="161"/>
                  </a:lnTo>
                  <a:lnTo>
                    <a:pt x="152" y="150"/>
                  </a:lnTo>
                  <a:lnTo>
                    <a:pt x="140" y="142"/>
                  </a:lnTo>
                  <a:lnTo>
                    <a:pt x="106" y="131"/>
                  </a:lnTo>
                  <a:lnTo>
                    <a:pt x="72" y="120"/>
                  </a:lnTo>
                  <a:lnTo>
                    <a:pt x="52" y="122"/>
                  </a:lnTo>
                  <a:lnTo>
                    <a:pt x="46" y="123"/>
                  </a:lnTo>
                  <a:lnTo>
                    <a:pt x="51" y="117"/>
                  </a:lnTo>
                  <a:lnTo>
                    <a:pt x="43" y="118"/>
                  </a:lnTo>
                  <a:lnTo>
                    <a:pt x="33" y="113"/>
                  </a:lnTo>
                  <a:lnTo>
                    <a:pt x="45" y="112"/>
                  </a:lnTo>
                  <a:lnTo>
                    <a:pt x="31" y="110"/>
                  </a:lnTo>
                  <a:lnTo>
                    <a:pt x="25" y="113"/>
                  </a:lnTo>
                  <a:lnTo>
                    <a:pt x="19" y="111"/>
                  </a:lnTo>
                  <a:lnTo>
                    <a:pt x="19" y="116"/>
                  </a:lnTo>
                  <a:lnTo>
                    <a:pt x="12" y="116"/>
                  </a:lnTo>
                  <a:lnTo>
                    <a:pt x="0" y="123"/>
                  </a:lnTo>
                  <a:lnTo>
                    <a:pt x="0" y="126"/>
                  </a:lnTo>
                  <a:lnTo>
                    <a:pt x="0" y="136"/>
                  </a:lnTo>
                  <a:lnTo>
                    <a:pt x="18" y="146"/>
                  </a:lnTo>
                  <a:lnTo>
                    <a:pt x="10" y="158"/>
                  </a:lnTo>
                  <a:lnTo>
                    <a:pt x="25" y="174"/>
                  </a:lnTo>
                  <a:lnTo>
                    <a:pt x="26" y="189"/>
                  </a:lnTo>
                  <a:lnTo>
                    <a:pt x="31" y="194"/>
                  </a:lnTo>
                  <a:lnTo>
                    <a:pt x="38" y="201"/>
                  </a:lnTo>
                  <a:lnTo>
                    <a:pt x="32" y="206"/>
                  </a:lnTo>
                  <a:lnTo>
                    <a:pt x="55" y="219"/>
                  </a:lnTo>
                  <a:lnTo>
                    <a:pt x="45" y="228"/>
                  </a:lnTo>
                  <a:lnTo>
                    <a:pt x="37" y="238"/>
                  </a:lnTo>
                  <a:lnTo>
                    <a:pt x="27" y="248"/>
                  </a:lnTo>
                  <a:lnTo>
                    <a:pt x="18" y="257"/>
                  </a:lnTo>
                  <a:lnTo>
                    <a:pt x="26" y="257"/>
                  </a:lnTo>
                  <a:lnTo>
                    <a:pt x="25" y="257"/>
                  </a:lnTo>
                  <a:lnTo>
                    <a:pt x="27" y="260"/>
                  </a:lnTo>
                  <a:lnTo>
                    <a:pt x="50" y="267"/>
                  </a:lnTo>
                  <a:lnTo>
                    <a:pt x="36" y="266"/>
                  </a:lnTo>
                  <a:lnTo>
                    <a:pt x="25" y="272"/>
                  </a:lnTo>
                  <a:lnTo>
                    <a:pt x="21" y="276"/>
                  </a:lnTo>
                  <a:lnTo>
                    <a:pt x="25" y="291"/>
                  </a:lnTo>
                  <a:lnTo>
                    <a:pt x="19" y="302"/>
                  </a:lnTo>
                  <a:lnTo>
                    <a:pt x="27" y="314"/>
                  </a:lnTo>
                  <a:lnTo>
                    <a:pt x="37" y="333"/>
                  </a:lnTo>
                  <a:lnTo>
                    <a:pt x="57" y="336"/>
                  </a:lnTo>
                  <a:lnTo>
                    <a:pt x="79" y="340"/>
                  </a:lnTo>
                  <a:lnTo>
                    <a:pt x="81" y="359"/>
                  </a:lnTo>
                  <a:lnTo>
                    <a:pt x="99" y="375"/>
                  </a:lnTo>
                  <a:lnTo>
                    <a:pt x="94" y="380"/>
                  </a:lnTo>
                  <a:lnTo>
                    <a:pt x="98" y="395"/>
                  </a:lnTo>
                  <a:lnTo>
                    <a:pt x="109" y="392"/>
                  </a:lnTo>
                  <a:lnTo>
                    <a:pt x="132" y="394"/>
                  </a:lnTo>
                  <a:lnTo>
                    <a:pt x="134" y="400"/>
                  </a:lnTo>
                  <a:lnTo>
                    <a:pt x="152" y="416"/>
                  </a:lnTo>
                  <a:lnTo>
                    <a:pt x="170" y="431"/>
                  </a:lnTo>
                  <a:lnTo>
                    <a:pt x="180" y="430"/>
                  </a:lnTo>
                  <a:lnTo>
                    <a:pt x="200" y="436"/>
                  </a:lnTo>
                  <a:lnTo>
                    <a:pt x="222" y="443"/>
                  </a:lnTo>
                  <a:lnTo>
                    <a:pt x="230" y="467"/>
                  </a:lnTo>
                  <a:lnTo>
                    <a:pt x="219" y="473"/>
                  </a:lnTo>
                  <a:lnTo>
                    <a:pt x="214" y="483"/>
                  </a:lnTo>
                  <a:lnTo>
                    <a:pt x="217" y="486"/>
                  </a:lnTo>
                  <a:lnTo>
                    <a:pt x="206" y="492"/>
                  </a:lnTo>
                  <a:lnTo>
                    <a:pt x="199" y="495"/>
                  </a:lnTo>
                  <a:lnTo>
                    <a:pt x="211" y="504"/>
                  </a:lnTo>
                  <a:lnTo>
                    <a:pt x="206" y="503"/>
                  </a:lnTo>
                  <a:lnTo>
                    <a:pt x="205" y="509"/>
                  </a:lnTo>
                  <a:lnTo>
                    <a:pt x="202" y="504"/>
                  </a:lnTo>
                  <a:lnTo>
                    <a:pt x="201" y="515"/>
                  </a:lnTo>
                  <a:lnTo>
                    <a:pt x="189" y="516"/>
                  </a:lnTo>
                  <a:lnTo>
                    <a:pt x="186" y="520"/>
                  </a:lnTo>
                  <a:lnTo>
                    <a:pt x="207" y="531"/>
                  </a:lnTo>
                  <a:lnTo>
                    <a:pt x="229" y="543"/>
                  </a:lnTo>
                  <a:lnTo>
                    <a:pt x="230" y="540"/>
                  </a:lnTo>
                  <a:lnTo>
                    <a:pt x="246" y="542"/>
                  </a:lnTo>
                  <a:lnTo>
                    <a:pt x="262" y="543"/>
                  </a:lnTo>
                  <a:lnTo>
                    <a:pt x="284" y="552"/>
                  </a:lnTo>
                  <a:lnTo>
                    <a:pt x="306" y="561"/>
                  </a:lnTo>
                  <a:lnTo>
                    <a:pt x="327" y="569"/>
                  </a:lnTo>
                  <a:lnTo>
                    <a:pt x="349" y="578"/>
                  </a:lnTo>
                  <a:lnTo>
                    <a:pt x="373" y="582"/>
                  </a:lnTo>
                  <a:lnTo>
                    <a:pt x="361" y="568"/>
                  </a:lnTo>
                  <a:lnTo>
                    <a:pt x="348" y="555"/>
                  </a:lnTo>
                  <a:lnTo>
                    <a:pt x="346" y="543"/>
                  </a:lnTo>
                  <a:lnTo>
                    <a:pt x="345" y="548"/>
                  </a:lnTo>
                  <a:lnTo>
                    <a:pt x="337" y="534"/>
                  </a:lnTo>
                  <a:lnTo>
                    <a:pt x="332" y="530"/>
                  </a:lnTo>
                  <a:lnTo>
                    <a:pt x="339" y="512"/>
                  </a:lnTo>
                  <a:lnTo>
                    <a:pt x="355" y="506"/>
                  </a:lnTo>
                  <a:lnTo>
                    <a:pt x="362" y="501"/>
                  </a:lnTo>
                  <a:lnTo>
                    <a:pt x="360" y="497"/>
                  </a:lnTo>
                  <a:lnTo>
                    <a:pt x="349" y="480"/>
                  </a:lnTo>
                  <a:lnTo>
                    <a:pt x="332" y="467"/>
                  </a:lnTo>
                  <a:lnTo>
                    <a:pt x="315" y="454"/>
                  </a:lnTo>
                  <a:lnTo>
                    <a:pt x="318" y="435"/>
                  </a:lnTo>
                  <a:lnTo>
                    <a:pt x="320" y="416"/>
                  </a:lnTo>
                  <a:lnTo>
                    <a:pt x="337" y="423"/>
                  </a:lnTo>
                  <a:lnTo>
                    <a:pt x="339" y="416"/>
                  </a:lnTo>
                  <a:lnTo>
                    <a:pt x="350" y="407"/>
                  </a:lnTo>
                  <a:lnTo>
                    <a:pt x="361" y="400"/>
                  </a:lnTo>
                  <a:lnTo>
                    <a:pt x="380" y="399"/>
                  </a:lnTo>
                  <a:lnTo>
                    <a:pt x="399" y="407"/>
                  </a:lnTo>
                  <a:lnTo>
                    <a:pt x="418" y="416"/>
                  </a:lnTo>
                  <a:lnTo>
                    <a:pt x="439" y="414"/>
                  </a:lnTo>
                  <a:lnTo>
                    <a:pt x="466" y="414"/>
                  </a:lnTo>
                  <a:lnTo>
                    <a:pt x="493" y="418"/>
                  </a:lnTo>
                  <a:lnTo>
                    <a:pt x="495" y="413"/>
                  </a:lnTo>
                  <a:lnTo>
                    <a:pt x="481" y="396"/>
                  </a:lnTo>
                  <a:lnTo>
                    <a:pt x="487" y="376"/>
                  </a:lnTo>
                  <a:lnTo>
                    <a:pt x="500" y="377"/>
                  </a:lnTo>
                  <a:lnTo>
                    <a:pt x="483" y="369"/>
                  </a:lnTo>
                  <a:lnTo>
                    <a:pt x="501" y="365"/>
                  </a:lnTo>
                  <a:lnTo>
                    <a:pt x="519" y="363"/>
                  </a:lnTo>
                  <a:lnTo>
                    <a:pt x="536" y="358"/>
                  </a:lnTo>
                  <a:lnTo>
                    <a:pt x="553" y="353"/>
                  </a:lnTo>
                  <a:lnTo>
                    <a:pt x="568" y="348"/>
                  </a:lnTo>
                  <a:lnTo>
                    <a:pt x="585" y="344"/>
                  </a:lnTo>
                  <a:lnTo>
                    <a:pt x="598" y="342"/>
                  </a:lnTo>
                  <a:lnTo>
                    <a:pt x="608" y="353"/>
                  </a:lnTo>
                  <a:lnTo>
                    <a:pt x="634" y="363"/>
                  </a:lnTo>
                  <a:lnTo>
                    <a:pt x="645" y="368"/>
                  </a:lnTo>
                  <a:lnTo>
                    <a:pt x="656" y="370"/>
                  </a:lnTo>
                  <a:lnTo>
                    <a:pt x="674" y="363"/>
                  </a:lnTo>
                  <a:lnTo>
                    <a:pt x="691" y="357"/>
                  </a:lnTo>
                  <a:lnTo>
                    <a:pt x="694" y="359"/>
                  </a:lnTo>
                  <a:lnTo>
                    <a:pt x="692" y="368"/>
                  </a:lnTo>
                  <a:lnTo>
                    <a:pt x="711" y="381"/>
                  </a:lnTo>
                  <a:lnTo>
                    <a:pt x="729" y="393"/>
                  </a:lnTo>
                  <a:lnTo>
                    <a:pt x="748" y="406"/>
                  </a:lnTo>
                  <a:lnTo>
                    <a:pt x="768" y="419"/>
                  </a:lnTo>
                  <a:lnTo>
                    <a:pt x="771" y="414"/>
                  </a:lnTo>
                  <a:lnTo>
                    <a:pt x="781" y="418"/>
                  </a:lnTo>
                  <a:lnTo>
                    <a:pt x="799" y="416"/>
                  </a:lnTo>
                  <a:lnTo>
                    <a:pt x="818" y="428"/>
                  </a:lnTo>
                  <a:lnTo>
                    <a:pt x="837" y="438"/>
                  </a:lnTo>
                  <a:lnTo>
                    <a:pt x="855" y="435"/>
                  </a:lnTo>
                  <a:lnTo>
                    <a:pt x="872" y="452"/>
                  </a:lnTo>
                  <a:lnTo>
                    <a:pt x="883" y="450"/>
                  </a:lnTo>
                  <a:lnTo>
                    <a:pt x="890" y="444"/>
                  </a:lnTo>
                  <a:lnTo>
                    <a:pt x="902" y="438"/>
                  </a:lnTo>
                  <a:lnTo>
                    <a:pt x="916" y="431"/>
                  </a:lnTo>
                  <a:lnTo>
                    <a:pt x="930" y="423"/>
                  </a:lnTo>
                  <a:lnTo>
                    <a:pt x="958" y="425"/>
                  </a:lnTo>
                  <a:lnTo>
                    <a:pt x="963" y="431"/>
                  </a:lnTo>
                  <a:lnTo>
                    <a:pt x="985" y="435"/>
                  </a:lnTo>
                  <a:lnTo>
                    <a:pt x="1005" y="438"/>
                  </a:lnTo>
                  <a:lnTo>
                    <a:pt x="1016" y="430"/>
                  </a:lnTo>
                  <a:lnTo>
                    <a:pt x="1003" y="418"/>
                  </a:lnTo>
                  <a:lnTo>
                    <a:pt x="1006" y="400"/>
                  </a:lnTo>
                  <a:lnTo>
                    <a:pt x="1030" y="406"/>
                  </a:lnTo>
                  <a:lnTo>
                    <a:pt x="1054" y="411"/>
                  </a:lnTo>
                  <a:lnTo>
                    <a:pt x="1065" y="422"/>
                  </a:lnTo>
                  <a:lnTo>
                    <a:pt x="1087" y="432"/>
                  </a:lnTo>
                  <a:lnTo>
                    <a:pt x="1111" y="428"/>
                  </a:lnTo>
                  <a:lnTo>
                    <a:pt x="1130" y="431"/>
                  </a:lnTo>
                  <a:lnTo>
                    <a:pt x="1150" y="436"/>
                  </a:lnTo>
                  <a:lnTo>
                    <a:pt x="1158" y="442"/>
                  </a:lnTo>
                  <a:lnTo>
                    <a:pt x="1186" y="449"/>
                  </a:lnTo>
                  <a:lnTo>
                    <a:pt x="1203" y="447"/>
                  </a:lnTo>
                  <a:lnTo>
                    <a:pt x="1220" y="443"/>
                  </a:lnTo>
                  <a:lnTo>
                    <a:pt x="1236" y="431"/>
                  </a:lnTo>
                  <a:lnTo>
                    <a:pt x="1262" y="437"/>
                  </a:lnTo>
                  <a:lnTo>
                    <a:pt x="1275" y="438"/>
                  </a:lnTo>
                  <a:lnTo>
                    <a:pt x="1296" y="442"/>
                  </a:lnTo>
                  <a:lnTo>
                    <a:pt x="1306" y="431"/>
                  </a:lnTo>
                  <a:lnTo>
                    <a:pt x="1302" y="418"/>
                  </a:lnTo>
                  <a:lnTo>
                    <a:pt x="1300" y="398"/>
                  </a:lnTo>
                  <a:lnTo>
                    <a:pt x="1291" y="390"/>
                  </a:lnTo>
                  <a:lnTo>
                    <a:pt x="1285" y="388"/>
                  </a:lnTo>
                  <a:lnTo>
                    <a:pt x="1294" y="378"/>
                  </a:lnTo>
                  <a:lnTo>
                    <a:pt x="1312" y="377"/>
                  </a:lnTo>
                  <a:lnTo>
                    <a:pt x="1330" y="377"/>
                  </a:lnTo>
                  <a:lnTo>
                    <a:pt x="1365" y="388"/>
                  </a:lnTo>
                  <a:lnTo>
                    <a:pt x="1380" y="401"/>
                  </a:lnTo>
                  <a:lnTo>
                    <a:pt x="1394" y="413"/>
                  </a:lnTo>
                  <a:lnTo>
                    <a:pt x="1408" y="425"/>
                  </a:lnTo>
                  <a:lnTo>
                    <a:pt x="1423" y="437"/>
                  </a:lnTo>
                  <a:lnTo>
                    <a:pt x="1438" y="443"/>
                  </a:lnTo>
                  <a:lnTo>
                    <a:pt x="1464" y="450"/>
                  </a:lnTo>
                  <a:lnTo>
                    <a:pt x="1479" y="456"/>
                  </a:lnTo>
                  <a:lnTo>
                    <a:pt x="1497" y="476"/>
                  </a:lnTo>
                  <a:lnTo>
                    <a:pt x="1519" y="473"/>
                  </a:lnTo>
                  <a:lnTo>
                    <a:pt x="1540" y="465"/>
                  </a:lnTo>
                  <a:lnTo>
                    <a:pt x="1549" y="480"/>
                  </a:lnTo>
                  <a:lnTo>
                    <a:pt x="1551" y="501"/>
                  </a:lnTo>
                  <a:lnTo>
                    <a:pt x="1555" y="522"/>
                  </a:lnTo>
                  <a:lnTo>
                    <a:pt x="1536" y="519"/>
                  </a:lnTo>
                  <a:lnTo>
                    <a:pt x="1533" y="528"/>
                  </a:lnTo>
                  <a:lnTo>
                    <a:pt x="1543" y="544"/>
                  </a:lnTo>
                  <a:lnTo>
                    <a:pt x="1552" y="560"/>
                  </a:lnTo>
                  <a:lnTo>
                    <a:pt x="1546" y="564"/>
                  </a:lnTo>
                  <a:lnTo>
                    <a:pt x="1550" y="569"/>
                  </a:lnTo>
                  <a:lnTo>
                    <a:pt x="1554" y="572"/>
                  </a:lnTo>
                  <a:lnTo>
                    <a:pt x="1551" y="566"/>
                  </a:lnTo>
                  <a:lnTo>
                    <a:pt x="1554" y="566"/>
                  </a:lnTo>
                  <a:lnTo>
                    <a:pt x="1561" y="555"/>
                  </a:lnTo>
                  <a:lnTo>
                    <a:pt x="1566" y="554"/>
                  </a:lnTo>
                  <a:lnTo>
                    <a:pt x="1570" y="561"/>
                  </a:lnTo>
                  <a:lnTo>
                    <a:pt x="1581" y="562"/>
                  </a:lnTo>
                  <a:lnTo>
                    <a:pt x="1598" y="556"/>
                  </a:lnTo>
                  <a:lnTo>
                    <a:pt x="1603" y="544"/>
                  </a:lnTo>
                  <a:lnTo>
                    <a:pt x="1608" y="532"/>
                  </a:lnTo>
                  <a:lnTo>
                    <a:pt x="1610" y="515"/>
                  </a:lnTo>
                  <a:lnTo>
                    <a:pt x="1611" y="498"/>
                  </a:lnTo>
                  <a:lnTo>
                    <a:pt x="1614" y="482"/>
                  </a:lnTo>
                  <a:lnTo>
                    <a:pt x="1615" y="465"/>
                  </a:lnTo>
                  <a:lnTo>
                    <a:pt x="1608" y="450"/>
                  </a:lnTo>
                  <a:lnTo>
                    <a:pt x="1600" y="436"/>
                  </a:lnTo>
                  <a:lnTo>
                    <a:pt x="1592" y="426"/>
                  </a:lnTo>
                  <a:lnTo>
                    <a:pt x="1588" y="414"/>
                  </a:lnTo>
                  <a:lnTo>
                    <a:pt x="1584" y="404"/>
                  </a:lnTo>
                  <a:lnTo>
                    <a:pt x="1574" y="392"/>
                  </a:lnTo>
                  <a:lnTo>
                    <a:pt x="1558" y="382"/>
                  </a:lnTo>
                  <a:lnTo>
                    <a:pt x="1567" y="382"/>
                  </a:lnTo>
                  <a:lnTo>
                    <a:pt x="1532" y="364"/>
                  </a:lnTo>
                  <a:lnTo>
                    <a:pt x="1514" y="362"/>
                  </a:lnTo>
                  <a:lnTo>
                    <a:pt x="1519" y="369"/>
                  </a:lnTo>
                  <a:lnTo>
                    <a:pt x="1507" y="375"/>
                  </a:lnTo>
                  <a:lnTo>
                    <a:pt x="1507" y="369"/>
                  </a:lnTo>
                  <a:lnTo>
                    <a:pt x="1498" y="366"/>
                  </a:lnTo>
                  <a:lnTo>
                    <a:pt x="1497" y="369"/>
                  </a:lnTo>
                  <a:lnTo>
                    <a:pt x="1485" y="358"/>
                  </a:lnTo>
                  <a:lnTo>
                    <a:pt x="1462" y="354"/>
                  </a:lnTo>
                  <a:lnTo>
                    <a:pt x="1467" y="340"/>
                  </a:lnTo>
                  <a:lnTo>
                    <a:pt x="1472" y="324"/>
                  </a:lnTo>
                  <a:lnTo>
                    <a:pt x="1477" y="314"/>
                  </a:lnTo>
                  <a:lnTo>
                    <a:pt x="1480" y="304"/>
                  </a:lnTo>
                  <a:lnTo>
                    <a:pt x="1477" y="296"/>
                  </a:lnTo>
                  <a:lnTo>
                    <a:pt x="1483" y="281"/>
                  </a:lnTo>
                  <a:lnTo>
                    <a:pt x="1500" y="279"/>
                  </a:lnTo>
                  <a:lnTo>
                    <a:pt x="1516" y="275"/>
                  </a:lnTo>
                  <a:lnTo>
                    <a:pt x="1521" y="275"/>
                  </a:lnTo>
                  <a:lnTo>
                    <a:pt x="1528" y="279"/>
                  </a:lnTo>
                  <a:lnTo>
                    <a:pt x="1531" y="276"/>
                  </a:lnTo>
                  <a:lnTo>
                    <a:pt x="1563" y="279"/>
                  </a:lnTo>
                  <a:lnTo>
                    <a:pt x="1563" y="275"/>
                  </a:lnTo>
                  <a:lnTo>
                    <a:pt x="1561" y="272"/>
                  </a:lnTo>
                  <a:lnTo>
                    <a:pt x="1586" y="273"/>
                  </a:lnTo>
                  <a:lnTo>
                    <a:pt x="1605" y="278"/>
                  </a:lnTo>
                  <a:lnTo>
                    <a:pt x="1599" y="280"/>
                  </a:lnTo>
                  <a:lnTo>
                    <a:pt x="1604" y="286"/>
                  </a:lnTo>
                  <a:lnTo>
                    <a:pt x="1617" y="284"/>
                  </a:lnTo>
                  <a:lnTo>
                    <a:pt x="1628" y="280"/>
                  </a:lnTo>
                  <a:lnTo>
                    <a:pt x="1647" y="280"/>
                  </a:lnTo>
                  <a:lnTo>
                    <a:pt x="1644" y="276"/>
                  </a:lnTo>
                  <a:lnTo>
                    <a:pt x="1630" y="275"/>
                  </a:lnTo>
                  <a:lnTo>
                    <a:pt x="1626" y="270"/>
                  </a:lnTo>
                  <a:lnTo>
                    <a:pt x="1626" y="255"/>
                  </a:lnTo>
                  <a:lnTo>
                    <a:pt x="1624" y="238"/>
                  </a:lnTo>
                  <a:lnTo>
                    <a:pt x="1652" y="238"/>
                  </a:lnTo>
                  <a:lnTo>
                    <a:pt x="1658" y="236"/>
                  </a:lnTo>
                  <a:lnTo>
                    <a:pt x="1672" y="251"/>
                  </a:lnTo>
                  <a:lnTo>
                    <a:pt x="1675" y="249"/>
                  </a:lnTo>
                  <a:lnTo>
                    <a:pt x="1683" y="256"/>
                  </a:lnTo>
                  <a:lnTo>
                    <a:pt x="1690" y="240"/>
                  </a:lnTo>
                  <a:lnTo>
                    <a:pt x="1699" y="240"/>
                  </a:lnTo>
                  <a:lnTo>
                    <a:pt x="1684" y="226"/>
                  </a:lnTo>
                  <a:lnTo>
                    <a:pt x="1688" y="224"/>
                  </a:lnTo>
                  <a:lnTo>
                    <a:pt x="1711" y="226"/>
                  </a:lnTo>
                  <a:lnTo>
                    <a:pt x="1713" y="228"/>
                  </a:lnTo>
                  <a:lnTo>
                    <a:pt x="1701" y="228"/>
                  </a:lnTo>
                  <a:lnTo>
                    <a:pt x="1712" y="239"/>
                  </a:lnTo>
                  <a:lnTo>
                    <a:pt x="1722" y="251"/>
                  </a:lnTo>
                  <a:lnTo>
                    <a:pt x="1714" y="256"/>
                  </a:lnTo>
                  <a:lnTo>
                    <a:pt x="1712" y="269"/>
                  </a:lnTo>
                  <a:lnTo>
                    <a:pt x="1708" y="282"/>
                  </a:lnTo>
                  <a:lnTo>
                    <a:pt x="1707" y="299"/>
                  </a:lnTo>
                  <a:lnTo>
                    <a:pt x="1694" y="302"/>
                  </a:lnTo>
                  <a:lnTo>
                    <a:pt x="1700" y="308"/>
                  </a:lnTo>
                  <a:lnTo>
                    <a:pt x="1702" y="318"/>
                  </a:lnTo>
                  <a:lnTo>
                    <a:pt x="1713" y="333"/>
                  </a:lnTo>
                  <a:lnTo>
                    <a:pt x="1725" y="347"/>
                  </a:lnTo>
                  <a:lnTo>
                    <a:pt x="1746" y="365"/>
                  </a:lnTo>
                  <a:lnTo>
                    <a:pt x="1767" y="383"/>
                  </a:lnTo>
                  <a:lnTo>
                    <a:pt x="1788" y="401"/>
                  </a:lnTo>
                  <a:lnTo>
                    <a:pt x="1808" y="418"/>
                  </a:lnTo>
                  <a:lnTo>
                    <a:pt x="1814" y="407"/>
                  </a:lnTo>
                  <a:lnTo>
                    <a:pt x="1802" y="384"/>
                  </a:lnTo>
                  <a:lnTo>
                    <a:pt x="1807" y="381"/>
                  </a:lnTo>
                  <a:lnTo>
                    <a:pt x="1818" y="382"/>
                  </a:lnTo>
                  <a:lnTo>
                    <a:pt x="1814" y="380"/>
                  </a:lnTo>
                  <a:lnTo>
                    <a:pt x="1802" y="363"/>
                  </a:lnTo>
                  <a:lnTo>
                    <a:pt x="1818" y="356"/>
                  </a:lnTo>
                  <a:lnTo>
                    <a:pt x="1796" y="338"/>
                  </a:lnTo>
                  <a:lnTo>
                    <a:pt x="1796" y="328"/>
                  </a:lnTo>
                  <a:lnTo>
                    <a:pt x="1797" y="326"/>
                  </a:lnTo>
                  <a:lnTo>
                    <a:pt x="1797" y="329"/>
                  </a:lnTo>
                  <a:lnTo>
                    <a:pt x="1807" y="333"/>
                  </a:lnTo>
                  <a:lnTo>
                    <a:pt x="1796" y="321"/>
                  </a:lnTo>
                  <a:lnTo>
                    <a:pt x="1789" y="320"/>
                  </a:lnTo>
                  <a:lnTo>
                    <a:pt x="1774" y="302"/>
                  </a:lnTo>
                  <a:lnTo>
                    <a:pt x="1767" y="303"/>
                  </a:lnTo>
                  <a:lnTo>
                    <a:pt x="1754" y="298"/>
                  </a:lnTo>
                  <a:lnTo>
                    <a:pt x="1747" y="280"/>
                  </a:lnTo>
                  <a:lnTo>
                    <a:pt x="1740" y="269"/>
                  </a:lnTo>
                  <a:lnTo>
                    <a:pt x="1748" y="266"/>
                  </a:lnTo>
                  <a:lnTo>
                    <a:pt x="1759" y="269"/>
                  </a:lnTo>
                  <a:lnTo>
                    <a:pt x="1756" y="264"/>
                  </a:lnTo>
                  <a:lnTo>
                    <a:pt x="1762" y="258"/>
                  </a:lnTo>
                  <a:lnTo>
                    <a:pt x="1774" y="269"/>
                  </a:lnTo>
                  <a:lnTo>
                    <a:pt x="1776" y="262"/>
                  </a:lnTo>
                  <a:lnTo>
                    <a:pt x="1798" y="256"/>
                  </a:lnTo>
                  <a:lnTo>
                    <a:pt x="1821" y="266"/>
                  </a:lnTo>
                  <a:lnTo>
                    <a:pt x="1821" y="262"/>
                  </a:lnTo>
                  <a:lnTo>
                    <a:pt x="1827" y="250"/>
                  </a:lnTo>
                  <a:lnTo>
                    <a:pt x="1828" y="249"/>
                  </a:lnTo>
                  <a:lnTo>
                    <a:pt x="1827" y="244"/>
                  </a:lnTo>
                  <a:lnTo>
                    <a:pt x="1830" y="242"/>
                  </a:lnTo>
                  <a:lnTo>
                    <a:pt x="1843" y="233"/>
                  </a:lnTo>
                  <a:lnTo>
                    <a:pt x="1856" y="225"/>
                  </a:lnTo>
                  <a:lnTo>
                    <a:pt x="1849" y="222"/>
                  </a:lnTo>
                  <a:lnTo>
                    <a:pt x="1854" y="222"/>
                  </a:lnTo>
                  <a:lnTo>
                    <a:pt x="1882" y="228"/>
                  </a:lnTo>
                  <a:lnTo>
                    <a:pt x="1884" y="225"/>
                  </a:lnTo>
                  <a:lnTo>
                    <a:pt x="1870" y="218"/>
                  </a:lnTo>
                  <a:lnTo>
                    <a:pt x="1856" y="210"/>
                  </a:lnTo>
                  <a:lnTo>
                    <a:pt x="1849" y="208"/>
                  </a:lnTo>
                  <a:lnTo>
                    <a:pt x="1827" y="195"/>
                  </a:lnTo>
                  <a:lnTo>
                    <a:pt x="1826" y="197"/>
                  </a:lnTo>
                  <a:lnTo>
                    <a:pt x="1810" y="189"/>
                  </a:lnTo>
                  <a:lnTo>
                    <a:pt x="1820" y="190"/>
                  </a:lnTo>
                  <a:lnTo>
                    <a:pt x="1833" y="189"/>
                  </a:lnTo>
                  <a:lnTo>
                    <a:pt x="1810" y="172"/>
                  </a:lnTo>
                  <a:lnTo>
                    <a:pt x="1788" y="156"/>
                  </a:lnTo>
                  <a:lnTo>
                    <a:pt x="1765" y="140"/>
                  </a:lnTo>
                  <a:lnTo>
                    <a:pt x="1741" y="1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2" name="Freeform 351"/>
            <p:cNvSpPr>
              <a:spLocks/>
            </p:cNvSpPr>
            <p:nvPr/>
          </p:nvSpPr>
          <p:spPr bwMode="auto">
            <a:xfrm>
              <a:off x="134" y="1368"/>
              <a:ext cx="151" cy="80"/>
            </a:xfrm>
            <a:custGeom>
              <a:avLst/>
              <a:gdLst/>
              <a:ahLst/>
              <a:cxnLst>
                <a:cxn ang="0">
                  <a:pos x="136" y="43"/>
                </a:cxn>
                <a:cxn ang="0">
                  <a:pos x="132" y="37"/>
                </a:cxn>
                <a:cxn ang="0">
                  <a:pos x="125" y="30"/>
                </a:cxn>
                <a:cxn ang="0">
                  <a:pos x="118" y="29"/>
                </a:cxn>
                <a:cxn ang="0">
                  <a:pos x="118" y="31"/>
                </a:cxn>
                <a:cxn ang="0">
                  <a:pos x="114" y="29"/>
                </a:cxn>
                <a:cxn ang="0">
                  <a:pos x="102" y="30"/>
                </a:cxn>
                <a:cxn ang="0">
                  <a:pos x="94" y="36"/>
                </a:cxn>
                <a:cxn ang="0">
                  <a:pos x="93" y="40"/>
                </a:cxn>
                <a:cxn ang="0">
                  <a:pos x="87" y="40"/>
                </a:cxn>
                <a:cxn ang="0">
                  <a:pos x="92" y="34"/>
                </a:cxn>
                <a:cxn ang="0">
                  <a:pos x="101" y="24"/>
                </a:cxn>
                <a:cxn ang="0">
                  <a:pos x="101" y="16"/>
                </a:cxn>
                <a:cxn ang="0">
                  <a:pos x="90" y="6"/>
                </a:cxn>
                <a:cxn ang="0">
                  <a:pos x="90" y="9"/>
                </a:cxn>
                <a:cxn ang="0">
                  <a:pos x="83" y="0"/>
                </a:cxn>
                <a:cxn ang="0">
                  <a:pos x="63" y="15"/>
                </a:cxn>
                <a:cxn ang="0">
                  <a:pos x="41" y="28"/>
                </a:cxn>
                <a:cxn ang="0">
                  <a:pos x="21" y="42"/>
                </a:cxn>
                <a:cxn ang="0">
                  <a:pos x="0" y="57"/>
                </a:cxn>
                <a:cxn ang="0">
                  <a:pos x="10" y="48"/>
                </a:cxn>
                <a:cxn ang="0">
                  <a:pos x="20" y="43"/>
                </a:cxn>
                <a:cxn ang="0">
                  <a:pos x="26" y="42"/>
                </a:cxn>
                <a:cxn ang="0">
                  <a:pos x="32" y="39"/>
                </a:cxn>
                <a:cxn ang="0">
                  <a:pos x="32" y="42"/>
                </a:cxn>
                <a:cxn ang="0">
                  <a:pos x="35" y="41"/>
                </a:cxn>
                <a:cxn ang="0">
                  <a:pos x="23" y="47"/>
                </a:cxn>
                <a:cxn ang="0">
                  <a:pos x="22" y="53"/>
                </a:cxn>
                <a:cxn ang="0">
                  <a:pos x="46" y="53"/>
                </a:cxn>
                <a:cxn ang="0">
                  <a:pos x="39" y="64"/>
                </a:cxn>
                <a:cxn ang="0">
                  <a:pos x="50" y="67"/>
                </a:cxn>
                <a:cxn ang="0">
                  <a:pos x="58" y="69"/>
                </a:cxn>
                <a:cxn ang="0">
                  <a:pos x="54" y="72"/>
                </a:cxn>
                <a:cxn ang="0">
                  <a:pos x="64" y="70"/>
                </a:cxn>
                <a:cxn ang="0">
                  <a:pos x="70" y="67"/>
                </a:cxn>
                <a:cxn ang="0">
                  <a:pos x="69" y="65"/>
                </a:cxn>
                <a:cxn ang="0">
                  <a:pos x="86" y="57"/>
                </a:cxn>
                <a:cxn ang="0">
                  <a:pos x="92" y="54"/>
                </a:cxn>
                <a:cxn ang="0">
                  <a:pos x="94" y="49"/>
                </a:cxn>
                <a:cxn ang="0">
                  <a:pos x="95" y="53"/>
                </a:cxn>
                <a:cxn ang="0">
                  <a:pos x="104" y="52"/>
                </a:cxn>
                <a:cxn ang="0">
                  <a:pos x="108" y="49"/>
                </a:cxn>
                <a:cxn ang="0">
                  <a:pos x="119" y="49"/>
                </a:cxn>
                <a:cxn ang="0">
                  <a:pos x="136" y="43"/>
                </a:cxn>
              </a:cxnLst>
              <a:rect l="0" t="0" r="r" b="b"/>
              <a:pathLst>
                <a:path w="136" h="72">
                  <a:moveTo>
                    <a:pt x="136" y="43"/>
                  </a:moveTo>
                  <a:lnTo>
                    <a:pt x="132" y="37"/>
                  </a:lnTo>
                  <a:lnTo>
                    <a:pt x="125" y="30"/>
                  </a:lnTo>
                  <a:lnTo>
                    <a:pt x="118" y="29"/>
                  </a:lnTo>
                  <a:lnTo>
                    <a:pt x="118" y="31"/>
                  </a:lnTo>
                  <a:lnTo>
                    <a:pt x="114" y="29"/>
                  </a:lnTo>
                  <a:lnTo>
                    <a:pt x="102" y="30"/>
                  </a:lnTo>
                  <a:lnTo>
                    <a:pt x="94" y="36"/>
                  </a:lnTo>
                  <a:lnTo>
                    <a:pt x="93" y="40"/>
                  </a:lnTo>
                  <a:lnTo>
                    <a:pt x="87" y="40"/>
                  </a:lnTo>
                  <a:lnTo>
                    <a:pt x="92" y="34"/>
                  </a:lnTo>
                  <a:lnTo>
                    <a:pt x="101" y="24"/>
                  </a:lnTo>
                  <a:lnTo>
                    <a:pt x="101" y="16"/>
                  </a:lnTo>
                  <a:lnTo>
                    <a:pt x="90" y="6"/>
                  </a:lnTo>
                  <a:lnTo>
                    <a:pt x="90" y="9"/>
                  </a:lnTo>
                  <a:lnTo>
                    <a:pt x="83" y="0"/>
                  </a:lnTo>
                  <a:lnTo>
                    <a:pt x="63" y="15"/>
                  </a:lnTo>
                  <a:lnTo>
                    <a:pt x="41" y="28"/>
                  </a:lnTo>
                  <a:lnTo>
                    <a:pt x="21" y="42"/>
                  </a:lnTo>
                  <a:lnTo>
                    <a:pt x="0" y="57"/>
                  </a:lnTo>
                  <a:lnTo>
                    <a:pt x="10" y="48"/>
                  </a:lnTo>
                  <a:lnTo>
                    <a:pt x="20" y="43"/>
                  </a:lnTo>
                  <a:lnTo>
                    <a:pt x="26" y="42"/>
                  </a:lnTo>
                  <a:lnTo>
                    <a:pt x="32" y="39"/>
                  </a:lnTo>
                  <a:lnTo>
                    <a:pt x="32" y="42"/>
                  </a:lnTo>
                  <a:lnTo>
                    <a:pt x="35" y="41"/>
                  </a:lnTo>
                  <a:lnTo>
                    <a:pt x="23" y="47"/>
                  </a:lnTo>
                  <a:lnTo>
                    <a:pt x="22" y="53"/>
                  </a:lnTo>
                  <a:lnTo>
                    <a:pt x="46" y="53"/>
                  </a:lnTo>
                  <a:lnTo>
                    <a:pt x="39" y="64"/>
                  </a:lnTo>
                  <a:lnTo>
                    <a:pt x="50" y="67"/>
                  </a:lnTo>
                  <a:lnTo>
                    <a:pt x="58" y="69"/>
                  </a:lnTo>
                  <a:lnTo>
                    <a:pt x="54" y="72"/>
                  </a:lnTo>
                  <a:lnTo>
                    <a:pt x="64" y="70"/>
                  </a:lnTo>
                  <a:lnTo>
                    <a:pt x="70" y="67"/>
                  </a:lnTo>
                  <a:lnTo>
                    <a:pt x="69" y="65"/>
                  </a:lnTo>
                  <a:lnTo>
                    <a:pt x="86" y="57"/>
                  </a:lnTo>
                  <a:lnTo>
                    <a:pt x="92" y="54"/>
                  </a:lnTo>
                  <a:lnTo>
                    <a:pt x="94" y="49"/>
                  </a:lnTo>
                  <a:lnTo>
                    <a:pt x="95" y="53"/>
                  </a:lnTo>
                  <a:lnTo>
                    <a:pt x="104" y="52"/>
                  </a:lnTo>
                  <a:lnTo>
                    <a:pt x="108" y="49"/>
                  </a:lnTo>
                  <a:lnTo>
                    <a:pt x="119" y="49"/>
                  </a:lnTo>
                  <a:lnTo>
                    <a:pt x="136" y="4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3" name="Freeform 352"/>
            <p:cNvSpPr>
              <a:spLocks/>
            </p:cNvSpPr>
            <p:nvPr/>
          </p:nvSpPr>
          <p:spPr bwMode="auto">
            <a:xfrm>
              <a:off x="4637" y="1628"/>
              <a:ext cx="145" cy="162"/>
            </a:xfrm>
            <a:custGeom>
              <a:avLst/>
              <a:gdLst/>
              <a:ahLst/>
              <a:cxnLst>
                <a:cxn ang="0">
                  <a:pos x="115" y="101"/>
                </a:cxn>
                <a:cxn ang="0">
                  <a:pos x="98" y="85"/>
                </a:cxn>
                <a:cxn ang="0">
                  <a:pos x="80" y="70"/>
                </a:cxn>
                <a:cxn ang="0">
                  <a:pos x="62" y="55"/>
                </a:cxn>
                <a:cxn ang="0">
                  <a:pos x="43" y="40"/>
                </a:cxn>
                <a:cxn ang="0">
                  <a:pos x="40" y="34"/>
                </a:cxn>
                <a:cxn ang="0">
                  <a:pos x="22" y="17"/>
                </a:cxn>
                <a:cxn ang="0">
                  <a:pos x="4" y="0"/>
                </a:cxn>
                <a:cxn ang="0">
                  <a:pos x="0" y="3"/>
                </a:cxn>
                <a:cxn ang="0">
                  <a:pos x="13" y="12"/>
                </a:cxn>
                <a:cxn ang="0">
                  <a:pos x="13" y="18"/>
                </a:cxn>
                <a:cxn ang="0">
                  <a:pos x="6" y="18"/>
                </a:cxn>
                <a:cxn ang="0">
                  <a:pos x="20" y="34"/>
                </a:cxn>
                <a:cxn ang="0">
                  <a:pos x="35" y="49"/>
                </a:cxn>
                <a:cxn ang="0">
                  <a:pos x="49" y="64"/>
                </a:cxn>
                <a:cxn ang="0">
                  <a:pos x="62" y="81"/>
                </a:cxn>
                <a:cxn ang="0">
                  <a:pos x="73" y="99"/>
                </a:cxn>
                <a:cxn ang="0">
                  <a:pos x="85" y="113"/>
                </a:cxn>
                <a:cxn ang="0">
                  <a:pos x="97" y="127"/>
                </a:cxn>
                <a:cxn ang="0">
                  <a:pos x="109" y="145"/>
                </a:cxn>
                <a:cxn ang="0">
                  <a:pos x="113" y="145"/>
                </a:cxn>
                <a:cxn ang="0">
                  <a:pos x="112" y="133"/>
                </a:cxn>
                <a:cxn ang="0">
                  <a:pos x="125" y="139"/>
                </a:cxn>
                <a:cxn ang="0">
                  <a:pos x="131" y="147"/>
                </a:cxn>
                <a:cxn ang="0">
                  <a:pos x="120" y="133"/>
                </a:cxn>
                <a:cxn ang="0">
                  <a:pos x="92" y="112"/>
                </a:cxn>
                <a:cxn ang="0">
                  <a:pos x="86" y="89"/>
                </a:cxn>
                <a:cxn ang="0">
                  <a:pos x="91" y="89"/>
                </a:cxn>
                <a:cxn ang="0">
                  <a:pos x="108" y="95"/>
                </a:cxn>
                <a:cxn ang="0">
                  <a:pos x="115" y="101"/>
                </a:cxn>
              </a:cxnLst>
              <a:rect l="0" t="0" r="r" b="b"/>
              <a:pathLst>
                <a:path w="131" h="147">
                  <a:moveTo>
                    <a:pt x="115" y="101"/>
                  </a:moveTo>
                  <a:lnTo>
                    <a:pt x="98" y="85"/>
                  </a:lnTo>
                  <a:lnTo>
                    <a:pt x="80" y="70"/>
                  </a:lnTo>
                  <a:lnTo>
                    <a:pt x="62" y="55"/>
                  </a:lnTo>
                  <a:lnTo>
                    <a:pt x="43" y="40"/>
                  </a:lnTo>
                  <a:lnTo>
                    <a:pt x="40" y="34"/>
                  </a:lnTo>
                  <a:lnTo>
                    <a:pt x="22" y="17"/>
                  </a:lnTo>
                  <a:lnTo>
                    <a:pt x="4" y="0"/>
                  </a:lnTo>
                  <a:lnTo>
                    <a:pt x="0" y="3"/>
                  </a:lnTo>
                  <a:lnTo>
                    <a:pt x="13" y="12"/>
                  </a:lnTo>
                  <a:lnTo>
                    <a:pt x="13" y="18"/>
                  </a:lnTo>
                  <a:lnTo>
                    <a:pt x="6" y="18"/>
                  </a:lnTo>
                  <a:lnTo>
                    <a:pt x="20" y="34"/>
                  </a:lnTo>
                  <a:lnTo>
                    <a:pt x="35" y="49"/>
                  </a:lnTo>
                  <a:lnTo>
                    <a:pt x="49" y="64"/>
                  </a:lnTo>
                  <a:lnTo>
                    <a:pt x="62" y="81"/>
                  </a:lnTo>
                  <a:lnTo>
                    <a:pt x="73" y="99"/>
                  </a:lnTo>
                  <a:lnTo>
                    <a:pt x="85" y="113"/>
                  </a:lnTo>
                  <a:lnTo>
                    <a:pt x="97" y="127"/>
                  </a:lnTo>
                  <a:lnTo>
                    <a:pt x="109" y="145"/>
                  </a:lnTo>
                  <a:lnTo>
                    <a:pt x="113" y="145"/>
                  </a:lnTo>
                  <a:lnTo>
                    <a:pt x="112" y="133"/>
                  </a:lnTo>
                  <a:lnTo>
                    <a:pt x="125" y="139"/>
                  </a:lnTo>
                  <a:lnTo>
                    <a:pt x="131" y="147"/>
                  </a:lnTo>
                  <a:lnTo>
                    <a:pt x="120" y="133"/>
                  </a:lnTo>
                  <a:lnTo>
                    <a:pt x="92" y="112"/>
                  </a:lnTo>
                  <a:lnTo>
                    <a:pt x="86" y="89"/>
                  </a:lnTo>
                  <a:lnTo>
                    <a:pt x="91" y="89"/>
                  </a:lnTo>
                  <a:lnTo>
                    <a:pt x="108" y="95"/>
                  </a:lnTo>
                  <a:lnTo>
                    <a:pt x="115" y="10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4" name="Freeform 353"/>
            <p:cNvSpPr>
              <a:spLocks/>
            </p:cNvSpPr>
            <p:nvPr/>
          </p:nvSpPr>
          <p:spPr bwMode="auto">
            <a:xfrm>
              <a:off x="3180" y="1239"/>
              <a:ext cx="149" cy="55"/>
            </a:xfrm>
            <a:custGeom>
              <a:avLst/>
              <a:gdLst/>
              <a:ahLst/>
              <a:cxnLst>
                <a:cxn ang="0">
                  <a:pos x="135" y="4"/>
                </a:cxn>
                <a:cxn ang="0">
                  <a:pos x="125" y="10"/>
                </a:cxn>
                <a:cxn ang="0">
                  <a:pos x="95" y="17"/>
                </a:cxn>
                <a:cxn ang="0">
                  <a:pos x="65" y="24"/>
                </a:cxn>
                <a:cxn ang="0">
                  <a:pos x="58" y="25"/>
                </a:cxn>
                <a:cxn ang="0">
                  <a:pos x="61" y="28"/>
                </a:cxn>
                <a:cxn ang="0">
                  <a:pos x="59" y="30"/>
                </a:cxn>
                <a:cxn ang="0">
                  <a:pos x="53" y="31"/>
                </a:cxn>
                <a:cxn ang="0">
                  <a:pos x="54" y="34"/>
                </a:cxn>
                <a:cxn ang="0">
                  <a:pos x="42" y="32"/>
                </a:cxn>
                <a:cxn ang="0">
                  <a:pos x="46" y="37"/>
                </a:cxn>
                <a:cxn ang="0">
                  <a:pos x="41" y="40"/>
                </a:cxn>
                <a:cxn ang="0">
                  <a:pos x="45" y="44"/>
                </a:cxn>
                <a:cxn ang="0">
                  <a:pos x="30" y="42"/>
                </a:cxn>
                <a:cxn ang="0">
                  <a:pos x="43" y="46"/>
                </a:cxn>
                <a:cxn ang="0">
                  <a:pos x="36" y="46"/>
                </a:cxn>
                <a:cxn ang="0">
                  <a:pos x="39" y="50"/>
                </a:cxn>
                <a:cxn ang="0">
                  <a:pos x="7" y="48"/>
                </a:cxn>
                <a:cxn ang="0">
                  <a:pos x="13" y="44"/>
                </a:cxn>
                <a:cxn ang="0">
                  <a:pos x="0" y="44"/>
                </a:cxn>
                <a:cxn ang="0">
                  <a:pos x="13" y="37"/>
                </a:cxn>
                <a:cxn ang="0">
                  <a:pos x="17" y="37"/>
                </a:cxn>
                <a:cxn ang="0">
                  <a:pos x="12" y="35"/>
                </a:cxn>
                <a:cxn ang="0">
                  <a:pos x="15" y="32"/>
                </a:cxn>
                <a:cxn ang="0">
                  <a:pos x="22" y="29"/>
                </a:cxn>
                <a:cxn ang="0">
                  <a:pos x="17" y="28"/>
                </a:cxn>
                <a:cxn ang="0">
                  <a:pos x="19" y="25"/>
                </a:cxn>
                <a:cxn ang="0">
                  <a:pos x="12" y="25"/>
                </a:cxn>
                <a:cxn ang="0">
                  <a:pos x="21" y="22"/>
                </a:cxn>
                <a:cxn ang="0">
                  <a:pos x="28" y="19"/>
                </a:cxn>
                <a:cxn ang="0">
                  <a:pos x="53" y="12"/>
                </a:cxn>
                <a:cxn ang="0">
                  <a:pos x="57" y="10"/>
                </a:cxn>
                <a:cxn ang="0">
                  <a:pos x="103" y="4"/>
                </a:cxn>
                <a:cxn ang="0">
                  <a:pos x="123" y="0"/>
                </a:cxn>
                <a:cxn ang="0">
                  <a:pos x="135" y="4"/>
                </a:cxn>
              </a:cxnLst>
              <a:rect l="0" t="0" r="r" b="b"/>
              <a:pathLst>
                <a:path w="135" h="50">
                  <a:moveTo>
                    <a:pt x="135" y="4"/>
                  </a:moveTo>
                  <a:lnTo>
                    <a:pt x="125" y="10"/>
                  </a:lnTo>
                  <a:lnTo>
                    <a:pt x="95" y="17"/>
                  </a:lnTo>
                  <a:lnTo>
                    <a:pt x="65" y="24"/>
                  </a:lnTo>
                  <a:lnTo>
                    <a:pt x="58" y="25"/>
                  </a:lnTo>
                  <a:lnTo>
                    <a:pt x="61" y="28"/>
                  </a:lnTo>
                  <a:lnTo>
                    <a:pt x="59" y="30"/>
                  </a:lnTo>
                  <a:lnTo>
                    <a:pt x="53" y="31"/>
                  </a:lnTo>
                  <a:lnTo>
                    <a:pt x="54" y="34"/>
                  </a:lnTo>
                  <a:lnTo>
                    <a:pt x="42" y="32"/>
                  </a:lnTo>
                  <a:lnTo>
                    <a:pt x="46" y="37"/>
                  </a:lnTo>
                  <a:lnTo>
                    <a:pt x="41" y="40"/>
                  </a:lnTo>
                  <a:lnTo>
                    <a:pt x="45" y="44"/>
                  </a:lnTo>
                  <a:lnTo>
                    <a:pt x="30" y="42"/>
                  </a:lnTo>
                  <a:lnTo>
                    <a:pt x="43" y="46"/>
                  </a:lnTo>
                  <a:lnTo>
                    <a:pt x="36" y="46"/>
                  </a:lnTo>
                  <a:lnTo>
                    <a:pt x="39" y="50"/>
                  </a:lnTo>
                  <a:lnTo>
                    <a:pt x="7" y="48"/>
                  </a:lnTo>
                  <a:lnTo>
                    <a:pt x="13" y="44"/>
                  </a:lnTo>
                  <a:lnTo>
                    <a:pt x="0" y="44"/>
                  </a:lnTo>
                  <a:lnTo>
                    <a:pt x="13" y="37"/>
                  </a:lnTo>
                  <a:lnTo>
                    <a:pt x="17" y="37"/>
                  </a:lnTo>
                  <a:lnTo>
                    <a:pt x="12" y="35"/>
                  </a:lnTo>
                  <a:lnTo>
                    <a:pt x="15" y="32"/>
                  </a:lnTo>
                  <a:lnTo>
                    <a:pt x="22" y="29"/>
                  </a:lnTo>
                  <a:lnTo>
                    <a:pt x="17" y="28"/>
                  </a:lnTo>
                  <a:lnTo>
                    <a:pt x="19" y="25"/>
                  </a:lnTo>
                  <a:lnTo>
                    <a:pt x="12" y="25"/>
                  </a:lnTo>
                  <a:lnTo>
                    <a:pt x="21" y="22"/>
                  </a:lnTo>
                  <a:lnTo>
                    <a:pt x="28" y="19"/>
                  </a:lnTo>
                  <a:lnTo>
                    <a:pt x="53" y="12"/>
                  </a:lnTo>
                  <a:lnTo>
                    <a:pt x="57" y="10"/>
                  </a:lnTo>
                  <a:lnTo>
                    <a:pt x="103" y="4"/>
                  </a:lnTo>
                  <a:lnTo>
                    <a:pt x="123" y="0"/>
                  </a:lnTo>
                  <a:lnTo>
                    <a:pt x="13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5" name="Freeform 354"/>
            <p:cNvSpPr>
              <a:spLocks/>
            </p:cNvSpPr>
            <p:nvPr/>
          </p:nvSpPr>
          <p:spPr bwMode="auto">
            <a:xfrm>
              <a:off x="3167" y="1294"/>
              <a:ext cx="88" cy="42"/>
            </a:xfrm>
            <a:custGeom>
              <a:avLst/>
              <a:gdLst/>
              <a:ahLst/>
              <a:cxnLst>
                <a:cxn ang="0">
                  <a:pos x="80" y="38"/>
                </a:cxn>
                <a:cxn ang="0">
                  <a:pos x="50" y="26"/>
                </a:cxn>
                <a:cxn ang="0">
                  <a:pos x="41" y="10"/>
                </a:cxn>
                <a:cxn ang="0">
                  <a:pos x="41" y="8"/>
                </a:cxn>
                <a:cxn ang="0">
                  <a:pos x="42" y="5"/>
                </a:cxn>
                <a:cxn ang="0">
                  <a:pos x="45" y="2"/>
                </a:cxn>
                <a:cxn ang="0">
                  <a:pos x="16" y="0"/>
                </a:cxn>
                <a:cxn ang="0">
                  <a:pos x="11" y="5"/>
                </a:cxn>
                <a:cxn ang="0">
                  <a:pos x="8" y="10"/>
                </a:cxn>
                <a:cxn ang="0">
                  <a:pos x="11" y="11"/>
                </a:cxn>
                <a:cxn ang="0">
                  <a:pos x="6" y="18"/>
                </a:cxn>
                <a:cxn ang="0">
                  <a:pos x="0" y="21"/>
                </a:cxn>
                <a:cxn ang="0">
                  <a:pos x="8" y="27"/>
                </a:cxn>
                <a:cxn ang="0">
                  <a:pos x="17" y="27"/>
                </a:cxn>
                <a:cxn ang="0">
                  <a:pos x="24" y="27"/>
                </a:cxn>
                <a:cxn ang="0">
                  <a:pos x="29" y="28"/>
                </a:cxn>
                <a:cxn ang="0">
                  <a:pos x="35" y="33"/>
                </a:cxn>
                <a:cxn ang="0">
                  <a:pos x="34" y="34"/>
                </a:cxn>
                <a:cxn ang="0">
                  <a:pos x="45" y="38"/>
                </a:cxn>
                <a:cxn ang="0">
                  <a:pos x="53" y="38"/>
                </a:cxn>
                <a:cxn ang="0">
                  <a:pos x="64" y="39"/>
                </a:cxn>
                <a:cxn ang="0">
                  <a:pos x="75" y="39"/>
                </a:cxn>
                <a:cxn ang="0">
                  <a:pos x="80" y="38"/>
                </a:cxn>
              </a:cxnLst>
              <a:rect l="0" t="0" r="r" b="b"/>
              <a:pathLst>
                <a:path w="80" h="39">
                  <a:moveTo>
                    <a:pt x="80" y="38"/>
                  </a:moveTo>
                  <a:lnTo>
                    <a:pt x="50" y="26"/>
                  </a:lnTo>
                  <a:lnTo>
                    <a:pt x="41" y="10"/>
                  </a:lnTo>
                  <a:lnTo>
                    <a:pt x="41" y="8"/>
                  </a:lnTo>
                  <a:lnTo>
                    <a:pt x="42" y="5"/>
                  </a:lnTo>
                  <a:lnTo>
                    <a:pt x="45" y="2"/>
                  </a:lnTo>
                  <a:lnTo>
                    <a:pt x="16" y="0"/>
                  </a:lnTo>
                  <a:lnTo>
                    <a:pt x="11" y="5"/>
                  </a:lnTo>
                  <a:lnTo>
                    <a:pt x="8" y="10"/>
                  </a:lnTo>
                  <a:lnTo>
                    <a:pt x="11" y="11"/>
                  </a:lnTo>
                  <a:lnTo>
                    <a:pt x="6" y="18"/>
                  </a:lnTo>
                  <a:lnTo>
                    <a:pt x="0" y="21"/>
                  </a:lnTo>
                  <a:lnTo>
                    <a:pt x="8" y="27"/>
                  </a:lnTo>
                  <a:lnTo>
                    <a:pt x="17" y="27"/>
                  </a:lnTo>
                  <a:lnTo>
                    <a:pt x="24" y="27"/>
                  </a:lnTo>
                  <a:lnTo>
                    <a:pt x="29" y="28"/>
                  </a:lnTo>
                  <a:lnTo>
                    <a:pt x="35" y="33"/>
                  </a:lnTo>
                  <a:lnTo>
                    <a:pt x="34" y="34"/>
                  </a:lnTo>
                  <a:lnTo>
                    <a:pt x="45" y="38"/>
                  </a:lnTo>
                  <a:lnTo>
                    <a:pt x="53" y="38"/>
                  </a:lnTo>
                  <a:lnTo>
                    <a:pt x="64" y="39"/>
                  </a:lnTo>
                  <a:lnTo>
                    <a:pt x="75" y="39"/>
                  </a:lnTo>
                  <a:lnTo>
                    <a:pt x="80"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6" name="Freeform 355"/>
            <p:cNvSpPr>
              <a:spLocks/>
            </p:cNvSpPr>
            <p:nvPr/>
          </p:nvSpPr>
          <p:spPr bwMode="auto">
            <a:xfrm>
              <a:off x="4140" y="1250"/>
              <a:ext cx="102" cy="24"/>
            </a:xfrm>
            <a:custGeom>
              <a:avLst/>
              <a:gdLst/>
              <a:ahLst/>
              <a:cxnLst>
                <a:cxn ang="0">
                  <a:pos x="94" y="9"/>
                </a:cxn>
                <a:cxn ang="0">
                  <a:pos x="35" y="0"/>
                </a:cxn>
                <a:cxn ang="0">
                  <a:pos x="42" y="2"/>
                </a:cxn>
                <a:cxn ang="0">
                  <a:pos x="35" y="2"/>
                </a:cxn>
                <a:cxn ang="0">
                  <a:pos x="41" y="6"/>
                </a:cxn>
                <a:cxn ang="0">
                  <a:pos x="12" y="1"/>
                </a:cxn>
                <a:cxn ang="0">
                  <a:pos x="1" y="4"/>
                </a:cxn>
                <a:cxn ang="0">
                  <a:pos x="0" y="6"/>
                </a:cxn>
                <a:cxn ang="0">
                  <a:pos x="6" y="9"/>
                </a:cxn>
                <a:cxn ang="0">
                  <a:pos x="10" y="12"/>
                </a:cxn>
                <a:cxn ang="0">
                  <a:pos x="46" y="21"/>
                </a:cxn>
                <a:cxn ang="0">
                  <a:pos x="47" y="18"/>
                </a:cxn>
                <a:cxn ang="0">
                  <a:pos x="76" y="16"/>
                </a:cxn>
                <a:cxn ang="0">
                  <a:pos x="89" y="16"/>
                </a:cxn>
                <a:cxn ang="0">
                  <a:pos x="83" y="15"/>
                </a:cxn>
                <a:cxn ang="0">
                  <a:pos x="93" y="13"/>
                </a:cxn>
                <a:cxn ang="0">
                  <a:pos x="94" y="9"/>
                </a:cxn>
              </a:cxnLst>
              <a:rect l="0" t="0" r="r" b="b"/>
              <a:pathLst>
                <a:path w="94" h="21">
                  <a:moveTo>
                    <a:pt x="94" y="9"/>
                  </a:moveTo>
                  <a:lnTo>
                    <a:pt x="35" y="0"/>
                  </a:lnTo>
                  <a:lnTo>
                    <a:pt x="42" y="2"/>
                  </a:lnTo>
                  <a:lnTo>
                    <a:pt x="35" y="2"/>
                  </a:lnTo>
                  <a:lnTo>
                    <a:pt x="41" y="6"/>
                  </a:lnTo>
                  <a:lnTo>
                    <a:pt x="12" y="1"/>
                  </a:lnTo>
                  <a:lnTo>
                    <a:pt x="1" y="4"/>
                  </a:lnTo>
                  <a:lnTo>
                    <a:pt x="0" y="6"/>
                  </a:lnTo>
                  <a:lnTo>
                    <a:pt x="6" y="9"/>
                  </a:lnTo>
                  <a:lnTo>
                    <a:pt x="10" y="12"/>
                  </a:lnTo>
                  <a:lnTo>
                    <a:pt x="46" y="21"/>
                  </a:lnTo>
                  <a:lnTo>
                    <a:pt x="47" y="18"/>
                  </a:lnTo>
                  <a:lnTo>
                    <a:pt x="76" y="16"/>
                  </a:lnTo>
                  <a:lnTo>
                    <a:pt x="89" y="16"/>
                  </a:lnTo>
                  <a:lnTo>
                    <a:pt x="83" y="15"/>
                  </a:lnTo>
                  <a:lnTo>
                    <a:pt x="93" y="13"/>
                  </a:lnTo>
                  <a:lnTo>
                    <a:pt x="94"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7" name="Freeform 356"/>
            <p:cNvSpPr>
              <a:spLocks/>
            </p:cNvSpPr>
            <p:nvPr/>
          </p:nvSpPr>
          <p:spPr bwMode="auto">
            <a:xfrm>
              <a:off x="3562" y="1192"/>
              <a:ext cx="80" cy="18"/>
            </a:xfrm>
            <a:custGeom>
              <a:avLst/>
              <a:gdLst/>
              <a:ahLst/>
              <a:cxnLst>
                <a:cxn ang="0">
                  <a:pos x="61" y="5"/>
                </a:cxn>
                <a:cxn ang="0">
                  <a:pos x="43" y="2"/>
                </a:cxn>
                <a:cxn ang="0">
                  <a:pos x="36" y="4"/>
                </a:cxn>
                <a:cxn ang="0">
                  <a:pos x="30" y="0"/>
                </a:cxn>
                <a:cxn ang="0">
                  <a:pos x="3" y="2"/>
                </a:cxn>
                <a:cxn ang="0">
                  <a:pos x="0" y="8"/>
                </a:cxn>
                <a:cxn ang="0">
                  <a:pos x="9" y="8"/>
                </a:cxn>
                <a:cxn ang="0">
                  <a:pos x="24" y="14"/>
                </a:cxn>
                <a:cxn ang="0">
                  <a:pos x="72" y="17"/>
                </a:cxn>
                <a:cxn ang="0">
                  <a:pos x="67" y="12"/>
                </a:cxn>
                <a:cxn ang="0">
                  <a:pos x="61" y="5"/>
                </a:cxn>
              </a:cxnLst>
              <a:rect l="0" t="0" r="r" b="b"/>
              <a:pathLst>
                <a:path w="72" h="17">
                  <a:moveTo>
                    <a:pt x="61" y="5"/>
                  </a:moveTo>
                  <a:lnTo>
                    <a:pt x="43" y="2"/>
                  </a:lnTo>
                  <a:lnTo>
                    <a:pt x="36" y="4"/>
                  </a:lnTo>
                  <a:lnTo>
                    <a:pt x="30" y="0"/>
                  </a:lnTo>
                  <a:lnTo>
                    <a:pt x="3" y="2"/>
                  </a:lnTo>
                  <a:lnTo>
                    <a:pt x="0" y="8"/>
                  </a:lnTo>
                  <a:lnTo>
                    <a:pt x="9" y="8"/>
                  </a:lnTo>
                  <a:lnTo>
                    <a:pt x="24" y="14"/>
                  </a:lnTo>
                  <a:lnTo>
                    <a:pt x="72" y="17"/>
                  </a:lnTo>
                  <a:lnTo>
                    <a:pt x="67" y="12"/>
                  </a:lnTo>
                  <a:lnTo>
                    <a:pt x="61"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8" name="Freeform 357"/>
            <p:cNvSpPr>
              <a:spLocks/>
            </p:cNvSpPr>
            <p:nvPr/>
          </p:nvSpPr>
          <p:spPr bwMode="auto">
            <a:xfrm>
              <a:off x="3653" y="1203"/>
              <a:ext cx="60" cy="20"/>
            </a:xfrm>
            <a:custGeom>
              <a:avLst/>
              <a:gdLst/>
              <a:ahLst/>
              <a:cxnLst>
                <a:cxn ang="0">
                  <a:pos x="53" y="10"/>
                </a:cxn>
                <a:cxn ang="0">
                  <a:pos x="26" y="2"/>
                </a:cxn>
                <a:cxn ang="0">
                  <a:pos x="20" y="7"/>
                </a:cxn>
                <a:cxn ang="0">
                  <a:pos x="15" y="0"/>
                </a:cxn>
                <a:cxn ang="0">
                  <a:pos x="8" y="0"/>
                </a:cxn>
                <a:cxn ang="0">
                  <a:pos x="11" y="2"/>
                </a:cxn>
                <a:cxn ang="0">
                  <a:pos x="0" y="2"/>
                </a:cxn>
                <a:cxn ang="0">
                  <a:pos x="3" y="4"/>
                </a:cxn>
                <a:cxn ang="0">
                  <a:pos x="9" y="8"/>
                </a:cxn>
                <a:cxn ang="0">
                  <a:pos x="2" y="10"/>
                </a:cxn>
                <a:cxn ang="0">
                  <a:pos x="6" y="19"/>
                </a:cxn>
                <a:cxn ang="0">
                  <a:pos x="54" y="12"/>
                </a:cxn>
                <a:cxn ang="0">
                  <a:pos x="53" y="10"/>
                </a:cxn>
              </a:cxnLst>
              <a:rect l="0" t="0" r="r" b="b"/>
              <a:pathLst>
                <a:path w="54" h="19">
                  <a:moveTo>
                    <a:pt x="53" y="10"/>
                  </a:moveTo>
                  <a:lnTo>
                    <a:pt x="26" y="2"/>
                  </a:lnTo>
                  <a:lnTo>
                    <a:pt x="20" y="7"/>
                  </a:lnTo>
                  <a:lnTo>
                    <a:pt x="15" y="0"/>
                  </a:lnTo>
                  <a:lnTo>
                    <a:pt x="8" y="0"/>
                  </a:lnTo>
                  <a:lnTo>
                    <a:pt x="11" y="2"/>
                  </a:lnTo>
                  <a:lnTo>
                    <a:pt x="0" y="2"/>
                  </a:lnTo>
                  <a:lnTo>
                    <a:pt x="3" y="4"/>
                  </a:lnTo>
                  <a:lnTo>
                    <a:pt x="9" y="8"/>
                  </a:lnTo>
                  <a:lnTo>
                    <a:pt x="2" y="10"/>
                  </a:lnTo>
                  <a:lnTo>
                    <a:pt x="6" y="19"/>
                  </a:lnTo>
                  <a:lnTo>
                    <a:pt x="54" y="12"/>
                  </a:lnTo>
                  <a:lnTo>
                    <a:pt x="53"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9" name="Freeform 358"/>
            <p:cNvSpPr>
              <a:spLocks/>
            </p:cNvSpPr>
            <p:nvPr/>
          </p:nvSpPr>
          <p:spPr bwMode="auto">
            <a:xfrm>
              <a:off x="3529" y="1181"/>
              <a:ext cx="64" cy="11"/>
            </a:xfrm>
            <a:custGeom>
              <a:avLst/>
              <a:gdLst/>
              <a:ahLst/>
              <a:cxnLst>
                <a:cxn ang="0">
                  <a:pos x="56" y="5"/>
                </a:cxn>
                <a:cxn ang="0">
                  <a:pos x="31" y="0"/>
                </a:cxn>
                <a:cxn ang="0">
                  <a:pos x="2" y="3"/>
                </a:cxn>
                <a:cxn ang="0">
                  <a:pos x="9" y="4"/>
                </a:cxn>
                <a:cxn ang="0">
                  <a:pos x="8" y="7"/>
                </a:cxn>
                <a:cxn ang="0">
                  <a:pos x="0" y="9"/>
                </a:cxn>
                <a:cxn ang="0">
                  <a:pos x="17" y="9"/>
                </a:cxn>
                <a:cxn ang="0">
                  <a:pos x="12" y="11"/>
                </a:cxn>
                <a:cxn ang="0">
                  <a:pos x="56" y="10"/>
                </a:cxn>
                <a:cxn ang="0">
                  <a:pos x="50" y="7"/>
                </a:cxn>
                <a:cxn ang="0">
                  <a:pos x="56" y="5"/>
                </a:cxn>
              </a:cxnLst>
              <a:rect l="0" t="0" r="r" b="b"/>
              <a:pathLst>
                <a:path w="56" h="11">
                  <a:moveTo>
                    <a:pt x="56" y="5"/>
                  </a:moveTo>
                  <a:lnTo>
                    <a:pt x="31" y="0"/>
                  </a:lnTo>
                  <a:lnTo>
                    <a:pt x="2" y="3"/>
                  </a:lnTo>
                  <a:lnTo>
                    <a:pt x="9" y="4"/>
                  </a:lnTo>
                  <a:lnTo>
                    <a:pt x="8" y="7"/>
                  </a:lnTo>
                  <a:lnTo>
                    <a:pt x="0" y="9"/>
                  </a:lnTo>
                  <a:lnTo>
                    <a:pt x="17" y="9"/>
                  </a:lnTo>
                  <a:lnTo>
                    <a:pt x="12" y="11"/>
                  </a:lnTo>
                  <a:lnTo>
                    <a:pt x="56" y="10"/>
                  </a:lnTo>
                  <a:lnTo>
                    <a:pt x="50" y="7"/>
                  </a:lnTo>
                  <a:lnTo>
                    <a:pt x="56"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0" name="Freeform 359"/>
            <p:cNvSpPr>
              <a:spLocks/>
            </p:cNvSpPr>
            <p:nvPr/>
          </p:nvSpPr>
          <p:spPr bwMode="auto">
            <a:xfrm>
              <a:off x="4253" y="1259"/>
              <a:ext cx="67" cy="11"/>
            </a:xfrm>
            <a:custGeom>
              <a:avLst/>
              <a:gdLst/>
              <a:ahLst/>
              <a:cxnLst>
                <a:cxn ang="0">
                  <a:pos x="59" y="6"/>
                </a:cxn>
                <a:cxn ang="0">
                  <a:pos x="14" y="2"/>
                </a:cxn>
                <a:cxn ang="0">
                  <a:pos x="0" y="0"/>
                </a:cxn>
                <a:cxn ang="0">
                  <a:pos x="5" y="5"/>
                </a:cxn>
                <a:cxn ang="0">
                  <a:pos x="54" y="11"/>
                </a:cxn>
                <a:cxn ang="0">
                  <a:pos x="59" y="6"/>
                </a:cxn>
              </a:cxnLst>
              <a:rect l="0" t="0" r="r" b="b"/>
              <a:pathLst>
                <a:path w="59" h="11">
                  <a:moveTo>
                    <a:pt x="59" y="6"/>
                  </a:moveTo>
                  <a:lnTo>
                    <a:pt x="14" y="2"/>
                  </a:lnTo>
                  <a:lnTo>
                    <a:pt x="0" y="0"/>
                  </a:lnTo>
                  <a:lnTo>
                    <a:pt x="5" y="5"/>
                  </a:lnTo>
                  <a:lnTo>
                    <a:pt x="54" y="11"/>
                  </a:lnTo>
                  <a:lnTo>
                    <a:pt x="5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1" name="Freeform 360"/>
            <p:cNvSpPr>
              <a:spLocks/>
            </p:cNvSpPr>
            <p:nvPr/>
          </p:nvSpPr>
          <p:spPr bwMode="auto">
            <a:xfrm>
              <a:off x="2831" y="1616"/>
              <a:ext cx="31" cy="14"/>
            </a:xfrm>
            <a:custGeom>
              <a:avLst/>
              <a:gdLst/>
              <a:ahLst/>
              <a:cxnLst>
                <a:cxn ang="0">
                  <a:pos x="8" y="0"/>
                </a:cxn>
                <a:cxn ang="0">
                  <a:pos x="7" y="3"/>
                </a:cxn>
                <a:cxn ang="0">
                  <a:pos x="0" y="2"/>
                </a:cxn>
                <a:cxn ang="0">
                  <a:pos x="0" y="3"/>
                </a:cxn>
                <a:cxn ang="0">
                  <a:pos x="1" y="5"/>
                </a:cxn>
                <a:cxn ang="0">
                  <a:pos x="2" y="5"/>
                </a:cxn>
                <a:cxn ang="0">
                  <a:pos x="0" y="6"/>
                </a:cxn>
                <a:cxn ang="0">
                  <a:pos x="0" y="8"/>
                </a:cxn>
                <a:cxn ang="0">
                  <a:pos x="6" y="9"/>
                </a:cxn>
                <a:cxn ang="0">
                  <a:pos x="29" y="11"/>
                </a:cxn>
                <a:cxn ang="0">
                  <a:pos x="29" y="3"/>
                </a:cxn>
                <a:cxn ang="0">
                  <a:pos x="17" y="2"/>
                </a:cxn>
                <a:cxn ang="0">
                  <a:pos x="8" y="0"/>
                </a:cxn>
              </a:cxnLst>
              <a:rect l="0" t="0" r="r" b="b"/>
              <a:pathLst>
                <a:path w="29" h="11">
                  <a:moveTo>
                    <a:pt x="8" y="0"/>
                  </a:moveTo>
                  <a:lnTo>
                    <a:pt x="7" y="3"/>
                  </a:lnTo>
                  <a:lnTo>
                    <a:pt x="0" y="2"/>
                  </a:lnTo>
                  <a:lnTo>
                    <a:pt x="0" y="3"/>
                  </a:lnTo>
                  <a:lnTo>
                    <a:pt x="1" y="5"/>
                  </a:lnTo>
                  <a:lnTo>
                    <a:pt x="2" y="5"/>
                  </a:lnTo>
                  <a:lnTo>
                    <a:pt x="0" y="6"/>
                  </a:lnTo>
                  <a:lnTo>
                    <a:pt x="0" y="8"/>
                  </a:lnTo>
                  <a:lnTo>
                    <a:pt x="6" y="9"/>
                  </a:lnTo>
                  <a:lnTo>
                    <a:pt x="29" y="11"/>
                  </a:lnTo>
                  <a:lnTo>
                    <a:pt x="29" y="3"/>
                  </a:lnTo>
                  <a:lnTo>
                    <a:pt x="17" y="2"/>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2" name="Freeform 361"/>
            <p:cNvSpPr>
              <a:spLocks/>
            </p:cNvSpPr>
            <p:nvPr/>
          </p:nvSpPr>
          <p:spPr bwMode="auto">
            <a:xfrm>
              <a:off x="4224" y="1285"/>
              <a:ext cx="51" cy="11"/>
            </a:xfrm>
            <a:custGeom>
              <a:avLst/>
              <a:gdLst/>
              <a:ahLst/>
              <a:cxnLst>
                <a:cxn ang="0">
                  <a:pos x="46" y="10"/>
                </a:cxn>
                <a:cxn ang="0">
                  <a:pos x="0" y="6"/>
                </a:cxn>
                <a:cxn ang="0">
                  <a:pos x="16" y="0"/>
                </a:cxn>
                <a:cxn ang="0">
                  <a:pos x="41" y="7"/>
                </a:cxn>
                <a:cxn ang="0">
                  <a:pos x="46" y="10"/>
                </a:cxn>
              </a:cxnLst>
              <a:rect l="0" t="0" r="r" b="b"/>
              <a:pathLst>
                <a:path w="46" h="10">
                  <a:moveTo>
                    <a:pt x="46" y="10"/>
                  </a:moveTo>
                  <a:lnTo>
                    <a:pt x="0" y="6"/>
                  </a:lnTo>
                  <a:lnTo>
                    <a:pt x="16" y="0"/>
                  </a:lnTo>
                  <a:lnTo>
                    <a:pt x="41" y="7"/>
                  </a:lnTo>
                  <a:lnTo>
                    <a:pt x="46"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3" name="Freeform 362"/>
            <p:cNvSpPr>
              <a:spLocks/>
            </p:cNvSpPr>
            <p:nvPr/>
          </p:nvSpPr>
          <p:spPr bwMode="auto">
            <a:xfrm>
              <a:off x="3149" y="1356"/>
              <a:ext cx="27" cy="14"/>
            </a:xfrm>
            <a:custGeom>
              <a:avLst/>
              <a:gdLst/>
              <a:ahLst/>
              <a:cxnLst>
                <a:cxn ang="0">
                  <a:pos x="24" y="6"/>
                </a:cxn>
                <a:cxn ang="0">
                  <a:pos x="6" y="12"/>
                </a:cxn>
                <a:cxn ang="0">
                  <a:pos x="0" y="4"/>
                </a:cxn>
                <a:cxn ang="0">
                  <a:pos x="6" y="0"/>
                </a:cxn>
                <a:cxn ang="0">
                  <a:pos x="24" y="6"/>
                </a:cxn>
              </a:cxnLst>
              <a:rect l="0" t="0" r="r" b="b"/>
              <a:pathLst>
                <a:path w="24" h="12">
                  <a:moveTo>
                    <a:pt x="24" y="6"/>
                  </a:moveTo>
                  <a:lnTo>
                    <a:pt x="6" y="12"/>
                  </a:lnTo>
                  <a:lnTo>
                    <a:pt x="0" y="4"/>
                  </a:lnTo>
                  <a:lnTo>
                    <a:pt x="6" y="0"/>
                  </a:lnTo>
                  <a:lnTo>
                    <a:pt x="2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4" name="Freeform 363"/>
            <p:cNvSpPr>
              <a:spLocks/>
            </p:cNvSpPr>
            <p:nvPr/>
          </p:nvSpPr>
          <p:spPr bwMode="auto">
            <a:xfrm>
              <a:off x="280" y="1323"/>
              <a:ext cx="40" cy="9"/>
            </a:xfrm>
            <a:custGeom>
              <a:avLst/>
              <a:gdLst/>
              <a:ahLst/>
              <a:cxnLst>
                <a:cxn ang="0">
                  <a:pos x="33" y="6"/>
                </a:cxn>
                <a:cxn ang="0">
                  <a:pos x="0" y="8"/>
                </a:cxn>
                <a:cxn ang="0">
                  <a:pos x="18" y="0"/>
                </a:cxn>
                <a:cxn ang="0">
                  <a:pos x="35" y="3"/>
                </a:cxn>
                <a:cxn ang="0">
                  <a:pos x="33" y="6"/>
                </a:cxn>
              </a:cxnLst>
              <a:rect l="0" t="0" r="r" b="b"/>
              <a:pathLst>
                <a:path w="35" h="8">
                  <a:moveTo>
                    <a:pt x="33" y="6"/>
                  </a:moveTo>
                  <a:lnTo>
                    <a:pt x="0" y="8"/>
                  </a:lnTo>
                  <a:lnTo>
                    <a:pt x="18" y="0"/>
                  </a:lnTo>
                  <a:lnTo>
                    <a:pt x="35" y="3"/>
                  </a:lnTo>
                  <a:lnTo>
                    <a:pt x="33"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5" name="Freeform 364"/>
            <p:cNvSpPr>
              <a:spLocks/>
            </p:cNvSpPr>
            <p:nvPr/>
          </p:nvSpPr>
          <p:spPr bwMode="auto">
            <a:xfrm>
              <a:off x="3042" y="1183"/>
              <a:ext cx="49" cy="9"/>
            </a:xfrm>
            <a:custGeom>
              <a:avLst/>
              <a:gdLst/>
              <a:ahLst/>
              <a:cxnLst>
                <a:cxn ang="0">
                  <a:pos x="43" y="1"/>
                </a:cxn>
                <a:cxn ang="0">
                  <a:pos x="17" y="5"/>
                </a:cxn>
                <a:cxn ang="0">
                  <a:pos x="8" y="7"/>
                </a:cxn>
                <a:cxn ang="0">
                  <a:pos x="0" y="7"/>
                </a:cxn>
                <a:cxn ang="0">
                  <a:pos x="8" y="5"/>
                </a:cxn>
                <a:cxn ang="0">
                  <a:pos x="24" y="1"/>
                </a:cxn>
                <a:cxn ang="0">
                  <a:pos x="36" y="0"/>
                </a:cxn>
                <a:cxn ang="0">
                  <a:pos x="43" y="1"/>
                </a:cxn>
              </a:cxnLst>
              <a:rect l="0" t="0" r="r" b="b"/>
              <a:pathLst>
                <a:path w="43" h="7">
                  <a:moveTo>
                    <a:pt x="43" y="1"/>
                  </a:moveTo>
                  <a:lnTo>
                    <a:pt x="17" y="5"/>
                  </a:lnTo>
                  <a:lnTo>
                    <a:pt x="8" y="7"/>
                  </a:lnTo>
                  <a:lnTo>
                    <a:pt x="0" y="7"/>
                  </a:lnTo>
                  <a:lnTo>
                    <a:pt x="8" y="5"/>
                  </a:lnTo>
                  <a:lnTo>
                    <a:pt x="24" y="1"/>
                  </a:lnTo>
                  <a:lnTo>
                    <a:pt x="36" y="0"/>
                  </a:lnTo>
                  <a:lnTo>
                    <a:pt x="4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6" name="Freeform 365"/>
            <p:cNvSpPr>
              <a:spLocks/>
            </p:cNvSpPr>
            <p:nvPr/>
          </p:nvSpPr>
          <p:spPr bwMode="auto">
            <a:xfrm>
              <a:off x="4860" y="1801"/>
              <a:ext cx="15" cy="20"/>
            </a:xfrm>
            <a:custGeom>
              <a:avLst/>
              <a:gdLst/>
              <a:ahLst/>
              <a:cxnLst>
                <a:cxn ang="0">
                  <a:pos x="15" y="0"/>
                </a:cxn>
                <a:cxn ang="0">
                  <a:pos x="3" y="5"/>
                </a:cxn>
                <a:cxn ang="0">
                  <a:pos x="0" y="18"/>
                </a:cxn>
                <a:cxn ang="0">
                  <a:pos x="6" y="11"/>
                </a:cxn>
                <a:cxn ang="0">
                  <a:pos x="12" y="3"/>
                </a:cxn>
                <a:cxn ang="0">
                  <a:pos x="15" y="0"/>
                </a:cxn>
              </a:cxnLst>
              <a:rect l="0" t="0" r="r" b="b"/>
              <a:pathLst>
                <a:path w="15" h="18">
                  <a:moveTo>
                    <a:pt x="15" y="0"/>
                  </a:moveTo>
                  <a:lnTo>
                    <a:pt x="3" y="5"/>
                  </a:lnTo>
                  <a:lnTo>
                    <a:pt x="0" y="18"/>
                  </a:lnTo>
                  <a:lnTo>
                    <a:pt x="6" y="11"/>
                  </a:lnTo>
                  <a:lnTo>
                    <a:pt x="12" y="3"/>
                  </a:lnTo>
                  <a:lnTo>
                    <a:pt x="1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7" name="Freeform 366"/>
            <p:cNvSpPr>
              <a:spLocks/>
            </p:cNvSpPr>
            <p:nvPr/>
          </p:nvSpPr>
          <p:spPr bwMode="auto">
            <a:xfrm>
              <a:off x="4762" y="1323"/>
              <a:ext cx="20" cy="11"/>
            </a:xfrm>
            <a:custGeom>
              <a:avLst/>
              <a:gdLst/>
              <a:ahLst/>
              <a:cxnLst>
                <a:cxn ang="0">
                  <a:pos x="3" y="0"/>
                </a:cxn>
                <a:cxn ang="0">
                  <a:pos x="0" y="6"/>
                </a:cxn>
                <a:cxn ang="0">
                  <a:pos x="9" y="10"/>
                </a:cxn>
                <a:cxn ang="0">
                  <a:pos x="17" y="9"/>
                </a:cxn>
                <a:cxn ang="0">
                  <a:pos x="3" y="0"/>
                </a:cxn>
              </a:cxnLst>
              <a:rect l="0" t="0" r="r" b="b"/>
              <a:pathLst>
                <a:path w="17" h="10">
                  <a:moveTo>
                    <a:pt x="3" y="0"/>
                  </a:moveTo>
                  <a:lnTo>
                    <a:pt x="0" y="6"/>
                  </a:lnTo>
                  <a:lnTo>
                    <a:pt x="9" y="10"/>
                  </a:lnTo>
                  <a:lnTo>
                    <a:pt x="17" y="9"/>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8" name="Freeform 367"/>
            <p:cNvSpPr>
              <a:spLocks/>
            </p:cNvSpPr>
            <p:nvPr/>
          </p:nvSpPr>
          <p:spPr bwMode="auto">
            <a:xfrm>
              <a:off x="3269" y="1341"/>
              <a:ext cx="31" cy="9"/>
            </a:xfrm>
            <a:custGeom>
              <a:avLst/>
              <a:gdLst/>
              <a:ahLst/>
              <a:cxnLst>
                <a:cxn ang="0">
                  <a:pos x="28" y="9"/>
                </a:cxn>
                <a:cxn ang="0">
                  <a:pos x="3" y="0"/>
                </a:cxn>
                <a:cxn ang="0">
                  <a:pos x="0" y="3"/>
                </a:cxn>
                <a:cxn ang="0">
                  <a:pos x="18" y="9"/>
                </a:cxn>
                <a:cxn ang="0">
                  <a:pos x="28" y="9"/>
                </a:cxn>
              </a:cxnLst>
              <a:rect l="0" t="0" r="r" b="b"/>
              <a:pathLst>
                <a:path w="28" h="9">
                  <a:moveTo>
                    <a:pt x="28" y="9"/>
                  </a:moveTo>
                  <a:lnTo>
                    <a:pt x="3" y="0"/>
                  </a:lnTo>
                  <a:lnTo>
                    <a:pt x="0" y="3"/>
                  </a:lnTo>
                  <a:lnTo>
                    <a:pt x="18" y="9"/>
                  </a:lnTo>
                  <a:lnTo>
                    <a:pt x="28"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9" name="Freeform 368"/>
            <p:cNvSpPr>
              <a:spLocks/>
            </p:cNvSpPr>
            <p:nvPr/>
          </p:nvSpPr>
          <p:spPr bwMode="auto">
            <a:xfrm>
              <a:off x="2847" y="1550"/>
              <a:ext cx="17" cy="9"/>
            </a:xfrm>
            <a:custGeom>
              <a:avLst/>
              <a:gdLst/>
              <a:ahLst/>
              <a:cxnLst>
                <a:cxn ang="0">
                  <a:pos x="16" y="1"/>
                </a:cxn>
                <a:cxn ang="0">
                  <a:pos x="2" y="7"/>
                </a:cxn>
                <a:cxn ang="0">
                  <a:pos x="0" y="1"/>
                </a:cxn>
                <a:cxn ang="0">
                  <a:pos x="14" y="0"/>
                </a:cxn>
                <a:cxn ang="0">
                  <a:pos x="16" y="1"/>
                </a:cxn>
              </a:cxnLst>
              <a:rect l="0" t="0" r="r" b="b"/>
              <a:pathLst>
                <a:path w="16" h="7">
                  <a:moveTo>
                    <a:pt x="16" y="1"/>
                  </a:moveTo>
                  <a:lnTo>
                    <a:pt x="2" y="7"/>
                  </a:lnTo>
                  <a:lnTo>
                    <a:pt x="0" y="1"/>
                  </a:lnTo>
                  <a:lnTo>
                    <a:pt x="14" y="0"/>
                  </a:lnTo>
                  <a:lnTo>
                    <a:pt x="1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0" name="Freeform 369"/>
            <p:cNvSpPr>
              <a:spLocks/>
            </p:cNvSpPr>
            <p:nvPr/>
          </p:nvSpPr>
          <p:spPr bwMode="auto">
            <a:xfrm>
              <a:off x="4860" y="1536"/>
              <a:ext cx="11" cy="14"/>
            </a:xfrm>
            <a:custGeom>
              <a:avLst/>
              <a:gdLst/>
              <a:ahLst/>
              <a:cxnLst>
                <a:cxn ang="0">
                  <a:pos x="11" y="3"/>
                </a:cxn>
                <a:cxn ang="0">
                  <a:pos x="5" y="11"/>
                </a:cxn>
                <a:cxn ang="0">
                  <a:pos x="0" y="5"/>
                </a:cxn>
                <a:cxn ang="0">
                  <a:pos x="5" y="0"/>
                </a:cxn>
                <a:cxn ang="0">
                  <a:pos x="11" y="3"/>
                </a:cxn>
              </a:cxnLst>
              <a:rect l="0" t="0" r="r" b="b"/>
              <a:pathLst>
                <a:path w="11" h="11">
                  <a:moveTo>
                    <a:pt x="11" y="3"/>
                  </a:moveTo>
                  <a:lnTo>
                    <a:pt x="5" y="11"/>
                  </a:lnTo>
                  <a:lnTo>
                    <a:pt x="0" y="5"/>
                  </a:lnTo>
                  <a:lnTo>
                    <a:pt x="5" y="0"/>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1" name="Freeform 370"/>
            <p:cNvSpPr>
              <a:spLocks/>
            </p:cNvSpPr>
            <p:nvPr/>
          </p:nvSpPr>
          <p:spPr bwMode="auto">
            <a:xfrm>
              <a:off x="4660" y="1350"/>
              <a:ext cx="22" cy="4"/>
            </a:xfrm>
            <a:custGeom>
              <a:avLst/>
              <a:gdLst/>
              <a:ahLst/>
              <a:cxnLst>
                <a:cxn ang="0">
                  <a:pos x="21" y="1"/>
                </a:cxn>
                <a:cxn ang="0">
                  <a:pos x="18" y="3"/>
                </a:cxn>
                <a:cxn ang="0">
                  <a:pos x="0" y="0"/>
                </a:cxn>
                <a:cxn ang="0">
                  <a:pos x="18" y="0"/>
                </a:cxn>
                <a:cxn ang="0">
                  <a:pos x="21" y="1"/>
                </a:cxn>
              </a:cxnLst>
              <a:rect l="0" t="0" r="r" b="b"/>
              <a:pathLst>
                <a:path w="21" h="3">
                  <a:moveTo>
                    <a:pt x="21" y="1"/>
                  </a:moveTo>
                  <a:lnTo>
                    <a:pt x="18" y="3"/>
                  </a:lnTo>
                  <a:lnTo>
                    <a:pt x="0" y="0"/>
                  </a:lnTo>
                  <a:lnTo>
                    <a:pt x="18" y="0"/>
                  </a:lnTo>
                  <a:lnTo>
                    <a:pt x="2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2" name="Freeform 371"/>
            <p:cNvSpPr>
              <a:spLocks/>
            </p:cNvSpPr>
            <p:nvPr/>
          </p:nvSpPr>
          <p:spPr bwMode="auto">
            <a:xfrm>
              <a:off x="3382" y="1292"/>
              <a:ext cx="20" cy="4"/>
            </a:xfrm>
            <a:custGeom>
              <a:avLst/>
              <a:gdLst/>
              <a:ahLst/>
              <a:cxnLst>
                <a:cxn ang="0">
                  <a:pos x="19" y="4"/>
                </a:cxn>
                <a:cxn ang="0">
                  <a:pos x="0" y="5"/>
                </a:cxn>
                <a:cxn ang="0">
                  <a:pos x="2" y="0"/>
                </a:cxn>
                <a:cxn ang="0">
                  <a:pos x="10" y="2"/>
                </a:cxn>
                <a:cxn ang="0">
                  <a:pos x="19" y="4"/>
                </a:cxn>
              </a:cxnLst>
              <a:rect l="0" t="0" r="r" b="b"/>
              <a:pathLst>
                <a:path w="19" h="5">
                  <a:moveTo>
                    <a:pt x="19" y="4"/>
                  </a:moveTo>
                  <a:lnTo>
                    <a:pt x="0" y="5"/>
                  </a:lnTo>
                  <a:lnTo>
                    <a:pt x="2" y="0"/>
                  </a:lnTo>
                  <a:lnTo>
                    <a:pt x="10" y="2"/>
                  </a:lnTo>
                  <a:lnTo>
                    <a:pt x="19"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3" name="Freeform 372"/>
            <p:cNvSpPr>
              <a:spLocks/>
            </p:cNvSpPr>
            <p:nvPr/>
          </p:nvSpPr>
          <p:spPr bwMode="auto">
            <a:xfrm>
              <a:off x="3173" y="1183"/>
              <a:ext cx="34" cy="5"/>
            </a:xfrm>
            <a:custGeom>
              <a:avLst/>
              <a:gdLst/>
              <a:ahLst/>
              <a:cxnLst>
                <a:cxn ang="0">
                  <a:pos x="29" y="0"/>
                </a:cxn>
                <a:cxn ang="0">
                  <a:pos x="0" y="1"/>
                </a:cxn>
                <a:cxn ang="0">
                  <a:pos x="16" y="3"/>
                </a:cxn>
                <a:cxn ang="0">
                  <a:pos x="29" y="0"/>
                </a:cxn>
              </a:cxnLst>
              <a:rect l="0" t="0" r="r" b="b"/>
              <a:pathLst>
                <a:path w="29" h="3">
                  <a:moveTo>
                    <a:pt x="29" y="0"/>
                  </a:moveTo>
                  <a:lnTo>
                    <a:pt x="0" y="1"/>
                  </a:lnTo>
                  <a:lnTo>
                    <a:pt x="16" y="3"/>
                  </a:lnTo>
                  <a:lnTo>
                    <a:pt x="2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4" name="Freeform 373"/>
            <p:cNvSpPr>
              <a:spLocks/>
            </p:cNvSpPr>
            <p:nvPr/>
          </p:nvSpPr>
          <p:spPr bwMode="auto">
            <a:xfrm>
              <a:off x="3207" y="1181"/>
              <a:ext cx="31" cy="2"/>
            </a:xfrm>
            <a:custGeom>
              <a:avLst/>
              <a:gdLst/>
              <a:ahLst/>
              <a:cxnLst>
                <a:cxn ang="0">
                  <a:pos x="28" y="3"/>
                </a:cxn>
                <a:cxn ang="0">
                  <a:pos x="0" y="4"/>
                </a:cxn>
                <a:cxn ang="0">
                  <a:pos x="23" y="0"/>
                </a:cxn>
                <a:cxn ang="0">
                  <a:pos x="28" y="3"/>
                </a:cxn>
              </a:cxnLst>
              <a:rect l="0" t="0" r="r" b="b"/>
              <a:pathLst>
                <a:path w="28" h="4">
                  <a:moveTo>
                    <a:pt x="28" y="3"/>
                  </a:moveTo>
                  <a:lnTo>
                    <a:pt x="0" y="4"/>
                  </a:lnTo>
                  <a:lnTo>
                    <a:pt x="23" y="0"/>
                  </a:lnTo>
                  <a:lnTo>
                    <a:pt x="28"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5" name="Freeform 374"/>
            <p:cNvSpPr>
              <a:spLocks/>
            </p:cNvSpPr>
            <p:nvPr/>
          </p:nvSpPr>
          <p:spPr bwMode="auto">
            <a:xfrm>
              <a:off x="3867" y="1276"/>
              <a:ext cx="22" cy="5"/>
            </a:xfrm>
            <a:custGeom>
              <a:avLst/>
              <a:gdLst/>
              <a:ahLst/>
              <a:cxnLst>
                <a:cxn ang="0">
                  <a:pos x="19" y="0"/>
                </a:cxn>
                <a:cxn ang="0">
                  <a:pos x="0" y="1"/>
                </a:cxn>
                <a:cxn ang="0">
                  <a:pos x="21" y="3"/>
                </a:cxn>
                <a:cxn ang="0">
                  <a:pos x="19" y="0"/>
                </a:cxn>
              </a:cxnLst>
              <a:rect l="0" t="0" r="r" b="b"/>
              <a:pathLst>
                <a:path w="21" h="3">
                  <a:moveTo>
                    <a:pt x="19" y="0"/>
                  </a:moveTo>
                  <a:lnTo>
                    <a:pt x="0" y="1"/>
                  </a:lnTo>
                  <a:lnTo>
                    <a:pt x="21" y="3"/>
                  </a:lnTo>
                  <a:lnTo>
                    <a:pt x="1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6" name="Freeform 375"/>
            <p:cNvSpPr>
              <a:spLocks/>
            </p:cNvSpPr>
            <p:nvPr/>
          </p:nvSpPr>
          <p:spPr bwMode="auto">
            <a:xfrm>
              <a:off x="4904" y="1699"/>
              <a:ext cx="5" cy="11"/>
            </a:xfrm>
            <a:custGeom>
              <a:avLst/>
              <a:gdLst/>
              <a:ahLst/>
              <a:cxnLst>
                <a:cxn ang="0">
                  <a:pos x="5" y="1"/>
                </a:cxn>
                <a:cxn ang="0">
                  <a:pos x="1" y="11"/>
                </a:cxn>
                <a:cxn ang="0">
                  <a:pos x="0" y="0"/>
                </a:cxn>
                <a:cxn ang="0">
                  <a:pos x="5" y="1"/>
                </a:cxn>
              </a:cxnLst>
              <a:rect l="0" t="0" r="r" b="b"/>
              <a:pathLst>
                <a:path w="5" h="11">
                  <a:moveTo>
                    <a:pt x="5" y="1"/>
                  </a:moveTo>
                  <a:lnTo>
                    <a:pt x="1" y="11"/>
                  </a:lnTo>
                  <a:lnTo>
                    <a:pt x="0" y="0"/>
                  </a:lnTo>
                  <a:lnTo>
                    <a:pt x="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7" name="Freeform 376"/>
            <p:cNvSpPr>
              <a:spLocks/>
            </p:cNvSpPr>
            <p:nvPr/>
          </p:nvSpPr>
          <p:spPr bwMode="auto">
            <a:xfrm>
              <a:off x="4846" y="1821"/>
              <a:ext cx="7" cy="11"/>
            </a:xfrm>
            <a:custGeom>
              <a:avLst/>
              <a:gdLst/>
              <a:ahLst/>
              <a:cxnLst>
                <a:cxn ang="0">
                  <a:pos x="6" y="0"/>
                </a:cxn>
                <a:cxn ang="0">
                  <a:pos x="0" y="11"/>
                </a:cxn>
                <a:cxn ang="0">
                  <a:pos x="0" y="3"/>
                </a:cxn>
                <a:cxn ang="0">
                  <a:pos x="6" y="0"/>
                </a:cxn>
              </a:cxnLst>
              <a:rect l="0" t="0" r="r" b="b"/>
              <a:pathLst>
                <a:path w="6" h="11">
                  <a:moveTo>
                    <a:pt x="6" y="0"/>
                  </a:moveTo>
                  <a:lnTo>
                    <a:pt x="0" y="11"/>
                  </a:lnTo>
                  <a:lnTo>
                    <a:pt x="0" y="3"/>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8" name="Freeform 377"/>
            <p:cNvSpPr>
              <a:spLocks/>
            </p:cNvSpPr>
            <p:nvPr/>
          </p:nvSpPr>
          <p:spPr bwMode="auto">
            <a:xfrm>
              <a:off x="4213" y="1281"/>
              <a:ext cx="9" cy="4"/>
            </a:xfrm>
            <a:custGeom>
              <a:avLst/>
              <a:gdLst/>
              <a:ahLst/>
              <a:cxnLst>
                <a:cxn ang="0">
                  <a:pos x="10" y="0"/>
                </a:cxn>
                <a:cxn ang="0">
                  <a:pos x="0" y="0"/>
                </a:cxn>
                <a:cxn ang="0">
                  <a:pos x="10" y="5"/>
                </a:cxn>
                <a:cxn ang="0">
                  <a:pos x="10" y="0"/>
                </a:cxn>
              </a:cxnLst>
              <a:rect l="0" t="0" r="r" b="b"/>
              <a:pathLst>
                <a:path w="10" h="5">
                  <a:moveTo>
                    <a:pt x="10" y="0"/>
                  </a:moveTo>
                  <a:lnTo>
                    <a:pt x="0" y="0"/>
                  </a:lnTo>
                  <a:lnTo>
                    <a:pt x="10" y="5"/>
                  </a:lnTo>
                  <a:lnTo>
                    <a:pt x="1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9" name="Freeform 378"/>
            <p:cNvSpPr>
              <a:spLocks/>
            </p:cNvSpPr>
            <p:nvPr/>
          </p:nvSpPr>
          <p:spPr bwMode="auto">
            <a:xfrm>
              <a:off x="3029" y="1185"/>
              <a:ext cx="31" cy="3"/>
            </a:xfrm>
            <a:custGeom>
              <a:avLst/>
              <a:gdLst/>
              <a:ahLst/>
              <a:cxnLst>
                <a:cxn ang="0">
                  <a:pos x="27" y="0"/>
                </a:cxn>
                <a:cxn ang="0">
                  <a:pos x="0" y="1"/>
                </a:cxn>
                <a:cxn ang="0">
                  <a:pos x="6" y="0"/>
                </a:cxn>
                <a:cxn ang="0">
                  <a:pos x="27" y="0"/>
                </a:cxn>
              </a:cxnLst>
              <a:rect l="0" t="0" r="r" b="b"/>
              <a:pathLst>
                <a:path w="27" h="1">
                  <a:moveTo>
                    <a:pt x="27" y="0"/>
                  </a:moveTo>
                  <a:lnTo>
                    <a:pt x="0" y="1"/>
                  </a:lnTo>
                  <a:lnTo>
                    <a:pt x="6" y="0"/>
                  </a:lnTo>
                  <a:lnTo>
                    <a:pt x="27"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0" name="Freeform 379"/>
            <p:cNvSpPr>
              <a:spLocks/>
            </p:cNvSpPr>
            <p:nvPr/>
          </p:nvSpPr>
          <p:spPr bwMode="auto">
            <a:xfrm>
              <a:off x="3480" y="1308"/>
              <a:ext cx="13" cy="2"/>
            </a:xfrm>
            <a:custGeom>
              <a:avLst/>
              <a:gdLst/>
              <a:ahLst/>
              <a:cxnLst>
                <a:cxn ang="0">
                  <a:pos x="13" y="0"/>
                </a:cxn>
                <a:cxn ang="0">
                  <a:pos x="1" y="3"/>
                </a:cxn>
                <a:cxn ang="0">
                  <a:pos x="0" y="0"/>
                </a:cxn>
                <a:cxn ang="0">
                  <a:pos x="13" y="0"/>
                </a:cxn>
              </a:cxnLst>
              <a:rect l="0" t="0" r="r" b="b"/>
              <a:pathLst>
                <a:path w="13" h="3">
                  <a:moveTo>
                    <a:pt x="13" y="0"/>
                  </a:moveTo>
                  <a:lnTo>
                    <a:pt x="1" y="3"/>
                  </a:lnTo>
                  <a:lnTo>
                    <a:pt x="0" y="0"/>
                  </a:lnTo>
                  <a:lnTo>
                    <a:pt x="1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1" name="Freeform 380"/>
            <p:cNvSpPr>
              <a:spLocks/>
            </p:cNvSpPr>
            <p:nvPr/>
          </p:nvSpPr>
          <p:spPr bwMode="auto">
            <a:xfrm>
              <a:off x="3156" y="1190"/>
              <a:ext cx="22" cy="2"/>
            </a:xfrm>
            <a:custGeom>
              <a:avLst/>
              <a:gdLst/>
              <a:ahLst/>
              <a:cxnLst>
                <a:cxn ang="0">
                  <a:pos x="20" y="0"/>
                </a:cxn>
                <a:cxn ang="0">
                  <a:pos x="0" y="0"/>
                </a:cxn>
                <a:cxn ang="0">
                  <a:pos x="9" y="2"/>
                </a:cxn>
                <a:cxn ang="0">
                  <a:pos x="20" y="0"/>
                </a:cxn>
              </a:cxnLst>
              <a:rect l="0" t="0" r="r" b="b"/>
              <a:pathLst>
                <a:path w="20" h="2">
                  <a:moveTo>
                    <a:pt x="20" y="0"/>
                  </a:moveTo>
                  <a:lnTo>
                    <a:pt x="0" y="0"/>
                  </a:lnTo>
                  <a:lnTo>
                    <a:pt x="9" y="2"/>
                  </a:lnTo>
                  <a:lnTo>
                    <a:pt x="2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2" name="Freeform 381"/>
            <p:cNvSpPr>
              <a:spLocks/>
            </p:cNvSpPr>
            <p:nvPr/>
          </p:nvSpPr>
          <p:spPr bwMode="auto">
            <a:xfrm>
              <a:off x="4966" y="1610"/>
              <a:ext cx="25" cy="13"/>
            </a:xfrm>
            <a:custGeom>
              <a:avLst/>
              <a:gdLst/>
              <a:ahLst/>
              <a:cxnLst>
                <a:cxn ang="0">
                  <a:pos x="23" y="12"/>
                </a:cxn>
                <a:cxn ang="0">
                  <a:pos x="0" y="0"/>
                </a:cxn>
                <a:cxn ang="0">
                  <a:pos x="19" y="8"/>
                </a:cxn>
                <a:cxn ang="0">
                  <a:pos x="23" y="12"/>
                </a:cxn>
              </a:cxnLst>
              <a:rect l="0" t="0" r="r" b="b"/>
              <a:pathLst>
                <a:path w="23" h="12">
                  <a:moveTo>
                    <a:pt x="23" y="12"/>
                  </a:moveTo>
                  <a:lnTo>
                    <a:pt x="0" y="0"/>
                  </a:lnTo>
                  <a:lnTo>
                    <a:pt x="19" y="8"/>
                  </a:lnTo>
                  <a:lnTo>
                    <a:pt x="23"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3" name="Freeform 382"/>
            <p:cNvSpPr>
              <a:spLocks/>
            </p:cNvSpPr>
            <p:nvPr/>
          </p:nvSpPr>
          <p:spPr bwMode="auto">
            <a:xfrm>
              <a:off x="4120" y="1254"/>
              <a:ext cx="13" cy="7"/>
            </a:xfrm>
            <a:custGeom>
              <a:avLst/>
              <a:gdLst/>
              <a:ahLst/>
              <a:cxnLst>
                <a:cxn ang="0">
                  <a:pos x="11" y="4"/>
                </a:cxn>
                <a:cxn ang="0">
                  <a:pos x="0" y="0"/>
                </a:cxn>
                <a:cxn ang="0">
                  <a:pos x="12" y="6"/>
                </a:cxn>
                <a:cxn ang="0">
                  <a:pos x="11" y="4"/>
                </a:cxn>
              </a:cxnLst>
              <a:rect l="0" t="0" r="r" b="b"/>
              <a:pathLst>
                <a:path w="12" h="6">
                  <a:moveTo>
                    <a:pt x="11" y="4"/>
                  </a:moveTo>
                  <a:lnTo>
                    <a:pt x="0" y="0"/>
                  </a:lnTo>
                  <a:lnTo>
                    <a:pt x="12" y="6"/>
                  </a:lnTo>
                  <a:lnTo>
                    <a:pt x="1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4" name="Freeform 383"/>
            <p:cNvSpPr>
              <a:spLocks/>
            </p:cNvSpPr>
            <p:nvPr/>
          </p:nvSpPr>
          <p:spPr bwMode="auto">
            <a:xfrm>
              <a:off x="2847" y="1543"/>
              <a:ext cx="13" cy="2"/>
            </a:xfrm>
            <a:custGeom>
              <a:avLst/>
              <a:gdLst/>
              <a:ahLst/>
              <a:cxnLst>
                <a:cxn ang="0">
                  <a:pos x="11" y="1"/>
                </a:cxn>
                <a:cxn ang="0">
                  <a:pos x="0" y="1"/>
                </a:cxn>
                <a:cxn ang="0">
                  <a:pos x="4" y="0"/>
                </a:cxn>
                <a:cxn ang="0">
                  <a:pos x="11" y="1"/>
                </a:cxn>
              </a:cxnLst>
              <a:rect l="0" t="0" r="r" b="b"/>
              <a:pathLst>
                <a:path w="11" h="1">
                  <a:moveTo>
                    <a:pt x="11" y="1"/>
                  </a:moveTo>
                  <a:lnTo>
                    <a:pt x="0" y="1"/>
                  </a:lnTo>
                  <a:lnTo>
                    <a:pt x="4" y="0"/>
                  </a:lnTo>
                  <a:lnTo>
                    <a:pt x="1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5" name="Rectangle 384"/>
            <p:cNvSpPr>
              <a:spLocks noChangeArrowheads="1"/>
            </p:cNvSpPr>
            <p:nvPr/>
          </p:nvSpPr>
          <p:spPr bwMode="auto">
            <a:xfrm>
              <a:off x="2729" y="1830"/>
              <a:ext cx="0" cy="0"/>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386" name="Freeform 385"/>
            <p:cNvSpPr>
              <a:spLocks/>
            </p:cNvSpPr>
            <p:nvPr/>
          </p:nvSpPr>
          <p:spPr bwMode="auto">
            <a:xfrm>
              <a:off x="2787" y="1721"/>
              <a:ext cx="91" cy="33"/>
            </a:xfrm>
            <a:custGeom>
              <a:avLst/>
              <a:gdLst/>
              <a:ahLst/>
              <a:cxnLst>
                <a:cxn ang="0">
                  <a:pos x="30" y="0"/>
                </a:cxn>
                <a:cxn ang="0">
                  <a:pos x="30" y="1"/>
                </a:cxn>
                <a:cxn ang="0">
                  <a:pos x="26" y="5"/>
                </a:cxn>
                <a:cxn ang="0">
                  <a:pos x="22" y="7"/>
                </a:cxn>
                <a:cxn ang="0">
                  <a:pos x="22" y="9"/>
                </a:cxn>
                <a:cxn ang="0">
                  <a:pos x="17" y="13"/>
                </a:cxn>
                <a:cxn ang="0">
                  <a:pos x="10" y="15"/>
                </a:cxn>
                <a:cxn ang="0">
                  <a:pos x="5" y="15"/>
                </a:cxn>
                <a:cxn ang="0">
                  <a:pos x="0" y="15"/>
                </a:cxn>
                <a:cxn ang="0">
                  <a:pos x="10" y="28"/>
                </a:cxn>
                <a:cxn ang="0">
                  <a:pos x="14" y="29"/>
                </a:cxn>
                <a:cxn ang="0">
                  <a:pos x="32" y="30"/>
                </a:cxn>
                <a:cxn ang="0">
                  <a:pos x="54" y="19"/>
                </a:cxn>
                <a:cxn ang="0">
                  <a:pos x="78" y="21"/>
                </a:cxn>
                <a:cxn ang="0">
                  <a:pos x="82" y="9"/>
                </a:cxn>
                <a:cxn ang="0">
                  <a:pos x="60" y="4"/>
                </a:cxn>
                <a:cxn ang="0">
                  <a:pos x="48" y="5"/>
                </a:cxn>
                <a:cxn ang="0">
                  <a:pos x="46" y="1"/>
                </a:cxn>
                <a:cxn ang="0">
                  <a:pos x="30" y="0"/>
                </a:cxn>
              </a:cxnLst>
              <a:rect l="0" t="0" r="r" b="b"/>
              <a:pathLst>
                <a:path w="82" h="30">
                  <a:moveTo>
                    <a:pt x="30" y="0"/>
                  </a:moveTo>
                  <a:lnTo>
                    <a:pt x="30" y="1"/>
                  </a:lnTo>
                  <a:lnTo>
                    <a:pt x="26" y="5"/>
                  </a:lnTo>
                  <a:lnTo>
                    <a:pt x="22" y="7"/>
                  </a:lnTo>
                  <a:lnTo>
                    <a:pt x="22" y="9"/>
                  </a:lnTo>
                  <a:lnTo>
                    <a:pt x="17" y="13"/>
                  </a:lnTo>
                  <a:lnTo>
                    <a:pt x="10" y="15"/>
                  </a:lnTo>
                  <a:lnTo>
                    <a:pt x="5" y="15"/>
                  </a:lnTo>
                  <a:lnTo>
                    <a:pt x="0" y="15"/>
                  </a:lnTo>
                  <a:lnTo>
                    <a:pt x="10" y="28"/>
                  </a:lnTo>
                  <a:lnTo>
                    <a:pt x="14" y="29"/>
                  </a:lnTo>
                  <a:lnTo>
                    <a:pt x="32" y="30"/>
                  </a:lnTo>
                  <a:lnTo>
                    <a:pt x="54" y="19"/>
                  </a:lnTo>
                  <a:lnTo>
                    <a:pt x="78" y="21"/>
                  </a:lnTo>
                  <a:lnTo>
                    <a:pt x="82" y="9"/>
                  </a:lnTo>
                  <a:lnTo>
                    <a:pt x="60" y="4"/>
                  </a:lnTo>
                  <a:lnTo>
                    <a:pt x="48" y="5"/>
                  </a:lnTo>
                  <a:lnTo>
                    <a:pt x="46" y="1"/>
                  </a:lnTo>
                  <a:lnTo>
                    <a:pt x="3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7" name="Freeform 386"/>
            <p:cNvSpPr>
              <a:spLocks/>
            </p:cNvSpPr>
            <p:nvPr/>
          </p:nvSpPr>
          <p:spPr bwMode="auto">
            <a:xfrm>
              <a:off x="2742" y="1772"/>
              <a:ext cx="47" cy="29"/>
            </a:xfrm>
            <a:custGeom>
              <a:avLst/>
              <a:gdLst/>
              <a:ahLst/>
              <a:cxnLst>
                <a:cxn ang="0">
                  <a:pos x="7" y="25"/>
                </a:cxn>
                <a:cxn ang="0">
                  <a:pos x="13" y="25"/>
                </a:cxn>
                <a:cxn ang="0">
                  <a:pos x="15" y="22"/>
                </a:cxn>
                <a:cxn ang="0">
                  <a:pos x="18" y="24"/>
                </a:cxn>
                <a:cxn ang="0">
                  <a:pos x="19" y="23"/>
                </a:cxn>
                <a:cxn ang="0">
                  <a:pos x="23" y="25"/>
                </a:cxn>
                <a:cxn ang="0">
                  <a:pos x="26" y="25"/>
                </a:cxn>
                <a:cxn ang="0">
                  <a:pos x="25" y="22"/>
                </a:cxn>
                <a:cxn ang="0">
                  <a:pos x="25" y="20"/>
                </a:cxn>
                <a:cxn ang="0">
                  <a:pos x="30" y="18"/>
                </a:cxn>
                <a:cxn ang="0">
                  <a:pos x="32" y="18"/>
                </a:cxn>
                <a:cxn ang="0">
                  <a:pos x="30" y="16"/>
                </a:cxn>
                <a:cxn ang="0">
                  <a:pos x="30" y="14"/>
                </a:cxn>
                <a:cxn ang="0">
                  <a:pos x="29" y="11"/>
                </a:cxn>
                <a:cxn ang="0">
                  <a:pos x="33" y="10"/>
                </a:cxn>
                <a:cxn ang="0">
                  <a:pos x="35" y="8"/>
                </a:cxn>
                <a:cxn ang="0">
                  <a:pos x="39" y="8"/>
                </a:cxn>
                <a:cxn ang="0">
                  <a:pos x="39" y="7"/>
                </a:cxn>
                <a:cxn ang="0">
                  <a:pos x="41" y="6"/>
                </a:cxn>
                <a:cxn ang="0">
                  <a:pos x="42" y="5"/>
                </a:cxn>
                <a:cxn ang="0">
                  <a:pos x="37" y="2"/>
                </a:cxn>
                <a:cxn ang="0">
                  <a:pos x="36" y="0"/>
                </a:cxn>
                <a:cxn ang="0">
                  <a:pos x="8" y="7"/>
                </a:cxn>
                <a:cxn ang="0">
                  <a:pos x="2" y="6"/>
                </a:cxn>
                <a:cxn ang="0">
                  <a:pos x="0" y="12"/>
                </a:cxn>
                <a:cxn ang="0">
                  <a:pos x="3" y="23"/>
                </a:cxn>
                <a:cxn ang="0">
                  <a:pos x="7" y="25"/>
                </a:cxn>
              </a:cxnLst>
              <a:rect l="0" t="0" r="r" b="b"/>
              <a:pathLst>
                <a:path w="42" h="25">
                  <a:moveTo>
                    <a:pt x="7" y="25"/>
                  </a:moveTo>
                  <a:lnTo>
                    <a:pt x="13" y="25"/>
                  </a:lnTo>
                  <a:lnTo>
                    <a:pt x="15" y="22"/>
                  </a:lnTo>
                  <a:lnTo>
                    <a:pt x="18" y="24"/>
                  </a:lnTo>
                  <a:lnTo>
                    <a:pt x="19" y="23"/>
                  </a:lnTo>
                  <a:lnTo>
                    <a:pt x="23" y="25"/>
                  </a:lnTo>
                  <a:lnTo>
                    <a:pt x="26" y="25"/>
                  </a:lnTo>
                  <a:lnTo>
                    <a:pt x="25" y="22"/>
                  </a:lnTo>
                  <a:lnTo>
                    <a:pt x="25" y="20"/>
                  </a:lnTo>
                  <a:lnTo>
                    <a:pt x="30" y="18"/>
                  </a:lnTo>
                  <a:lnTo>
                    <a:pt x="32" y="18"/>
                  </a:lnTo>
                  <a:lnTo>
                    <a:pt x="30" y="16"/>
                  </a:lnTo>
                  <a:lnTo>
                    <a:pt x="30" y="14"/>
                  </a:lnTo>
                  <a:lnTo>
                    <a:pt x="29" y="11"/>
                  </a:lnTo>
                  <a:lnTo>
                    <a:pt x="33" y="10"/>
                  </a:lnTo>
                  <a:lnTo>
                    <a:pt x="35" y="8"/>
                  </a:lnTo>
                  <a:lnTo>
                    <a:pt x="39" y="8"/>
                  </a:lnTo>
                  <a:lnTo>
                    <a:pt x="39" y="7"/>
                  </a:lnTo>
                  <a:lnTo>
                    <a:pt x="41" y="6"/>
                  </a:lnTo>
                  <a:lnTo>
                    <a:pt x="42" y="5"/>
                  </a:lnTo>
                  <a:lnTo>
                    <a:pt x="37" y="2"/>
                  </a:lnTo>
                  <a:lnTo>
                    <a:pt x="36" y="0"/>
                  </a:lnTo>
                  <a:lnTo>
                    <a:pt x="8" y="7"/>
                  </a:lnTo>
                  <a:lnTo>
                    <a:pt x="2" y="6"/>
                  </a:lnTo>
                  <a:lnTo>
                    <a:pt x="0" y="12"/>
                  </a:lnTo>
                  <a:lnTo>
                    <a:pt x="3" y="23"/>
                  </a:lnTo>
                  <a:lnTo>
                    <a:pt x="7" y="2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8" name="Freeform 387"/>
            <p:cNvSpPr>
              <a:spLocks/>
            </p:cNvSpPr>
            <p:nvPr/>
          </p:nvSpPr>
          <p:spPr bwMode="auto">
            <a:xfrm>
              <a:off x="2691" y="1363"/>
              <a:ext cx="162" cy="247"/>
            </a:xfrm>
            <a:custGeom>
              <a:avLst/>
              <a:gdLst/>
              <a:ahLst/>
              <a:cxnLst>
                <a:cxn ang="0">
                  <a:pos x="101" y="85"/>
                </a:cxn>
                <a:cxn ang="0">
                  <a:pos x="84" y="95"/>
                </a:cxn>
                <a:cxn ang="0">
                  <a:pos x="74" y="103"/>
                </a:cxn>
                <a:cxn ang="0">
                  <a:pos x="71" y="115"/>
                </a:cxn>
                <a:cxn ang="0">
                  <a:pos x="90" y="139"/>
                </a:cxn>
                <a:cxn ang="0">
                  <a:pos x="83" y="153"/>
                </a:cxn>
                <a:cxn ang="0">
                  <a:pos x="79" y="151"/>
                </a:cxn>
                <a:cxn ang="0">
                  <a:pos x="91" y="155"/>
                </a:cxn>
                <a:cxn ang="0">
                  <a:pos x="82" y="158"/>
                </a:cxn>
                <a:cxn ang="0">
                  <a:pos x="67" y="165"/>
                </a:cxn>
                <a:cxn ang="0">
                  <a:pos x="71" y="170"/>
                </a:cxn>
                <a:cxn ang="0">
                  <a:pos x="72" y="181"/>
                </a:cxn>
                <a:cxn ang="0">
                  <a:pos x="68" y="193"/>
                </a:cxn>
                <a:cxn ang="0">
                  <a:pos x="44" y="211"/>
                </a:cxn>
                <a:cxn ang="0">
                  <a:pos x="28" y="219"/>
                </a:cxn>
                <a:cxn ang="0">
                  <a:pos x="20" y="195"/>
                </a:cxn>
                <a:cxn ang="0">
                  <a:pos x="8" y="173"/>
                </a:cxn>
                <a:cxn ang="0">
                  <a:pos x="4" y="171"/>
                </a:cxn>
                <a:cxn ang="0">
                  <a:pos x="2" y="161"/>
                </a:cxn>
                <a:cxn ang="0">
                  <a:pos x="12" y="131"/>
                </a:cxn>
                <a:cxn ang="0">
                  <a:pos x="17" y="121"/>
                </a:cxn>
                <a:cxn ang="0">
                  <a:pos x="7" y="99"/>
                </a:cxn>
                <a:cxn ang="0">
                  <a:pos x="17" y="77"/>
                </a:cxn>
                <a:cxn ang="0">
                  <a:pos x="22" y="69"/>
                </a:cxn>
                <a:cxn ang="0">
                  <a:pos x="29" y="45"/>
                </a:cxn>
                <a:cxn ang="0">
                  <a:pos x="46" y="33"/>
                </a:cxn>
                <a:cxn ang="0">
                  <a:pos x="67" y="13"/>
                </a:cxn>
                <a:cxn ang="0">
                  <a:pos x="89" y="8"/>
                </a:cxn>
                <a:cxn ang="0">
                  <a:pos x="94" y="0"/>
                </a:cxn>
                <a:cxn ang="0">
                  <a:pos x="139" y="35"/>
                </a:cxn>
                <a:cxn ang="0">
                  <a:pos x="128" y="49"/>
                </a:cxn>
                <a:cxn ang="0">
                  <a:pos x="122" y="54"/>
                </a:cxn>
                <a:cxn ang="0">
                  <a:pos x="114" y="57"/>
                </a:cxn>
                <a:cxn ang="0">
                  <a:pos x="115" y="73"/>
                </a:cxn>
              </a:cxnLst>
              <a:rect l="0" t="0" r="r" b="b"/>
              <a:pathLst>
                <a:path w="145" h="221">
                  <a:moveTo>
                    <a:pt x="115" y="73"/>
                  </a:moveTo>
                  <a:lnTo>
                    <a:pt x="101" y="85"/>
                  </a:lnTo>
                  <a:lnTo>
                    <a:pt x="90" y="91"/>
                  </a:lnTo>
                  <a:lnTo>
                    <a:pt x="84" y="95"/>
                  </a:lnTo>
                  <a:lnTo>
                    <a:pt x="77" y="96"/>
                  </a:lnTo>
                  <a:lnTo>
                    <a:pt x="74" y="103"/>
                  </a:lnTo>
                  <a:lnTo>
                    <a:pt x="72" y="105"/>
                  </a:lnTo>
                  <a:lnTo>
                    <a:pt x="71" y="115"/>
                  </a:lnTo>
                  <a:lnTo>
                    <a:pt x="76" y="133"/>
                  </a:lnTo>
                  <a:lnTo>
                    <a:pt x="90" y="139"/>
                  </a:lnTo>
                  <a:lnTo>
                    <a:pt x="96" y="146"/>
                  </a:lnTo>
                  <a:lnTo>
                    <a:pt x="83" y="153"/>
                  </a:lnTo>
                  <a:lnTo>
                    <a:pt x="78" y="149"/>
                  </a:lnTo>
                  <a:lnTo>
                    <a:pt x="79" y="151"/>
                  </a:lnTo>
                  <a:lnTo>
                    <a:pt x="62" y="152"/>
                  </a:lnTo>
                  <a:lnTo>
                    <a:pt x="91" y="155"/>
                  </a:lnTo>
                  <a:lnTo>
                    <a:pt x="83" y="161"/>
                  </a:lnTo>
                  <a:lnTo>
                    <a:pt x="82" y="158"/>
                  </a:lnTo>
                  <a:lnTo>
                    <a:pt x="73" y="167"/>
                  </a:lnTo>
                  <a:lnTo>
                    <a:pt x="67" y="165"/>
                  </a:lnTo>
                  <a:lnTo>
                    <a:pt x="72" y="169"/>
                  </a:lnTo>
                  <a:lnTo>
                    <a:pt x="71" y="170"/>
                  </a:lnTo>
                  <a:lnTo>
                    <a:pt x="70" y="176"/>
                  </a:lnTo>
                  <a:lnTo>
                    <a:pt x="72" y="181"/>
                  </a:lnTo>
                  <a:lnTo>
                    <a:pt x="71" y="180"/>
                  </a:lnTo>
                  <a:lnTo>
                    <a:pt x="68" y="193"/>
                  </a:lnTo>
                  <a:lnTo>
                    <a:pt x="66" y="206"/>
                  </a:lnTo>
                  <a:lnTo>
                    <a:pt x="44" y="211"/>
                  </a:lnTo>
                  <a:lnTo>
                    <a:pt x="42" y="221"/>
                  </a:lnTo>
                  <a:lnTo>
                    <a:pt x="28" y="219"/>
                  </a:lnTo>
                  <a:lnTo>
                    <a:pt x="23" y="206"/>
                  </a:lnTo>
                  <a:lnTo>
                    <a:pt x="20" y="195"/>
                  </a:lnTo>
                  <a:lnTo>
                    <a:pt x="7" y="177"/>
                  </a:lnTo>
                  <a:lnTo>
                    <a:pt x="8" y="173"/>
                  </a:lnTo>
                  <a:lnTo>
                    <a:pt x="5" y="171"/>
                  </a:lnTo>
                  <a:lnTo>
                    <a:pt x="4" y="171"/>
                  </a:lnTo>
                  <a:lnTo>
                    <a:pt x="0" y="162"/>
                  </a:lnTo>
                  <a:lnTo>
                    <a:pt x="2" y="161"/>
                  </a:lnTo>
                  <a:lnTo>
                    <a:pt x="10" y="145"/>
                  </a:lnTo>
                  <a:lnTo>
                    <a:pt x="12" y="131"/>
                  </a:lnTo>
                  <a:lnTo>
                    <a:pt x="12" y="126"/>
                  </a:lnTo>
                  <a:lnTo>
                    <a:pt x="17" y="121"/>
                  </a:lnTo>
                  <a:lnTo>
                    <a:pt x="7" y="115"/>
                  </a:lnTo>
                  <a:lnTo>
                    <a:pt x="7" y="99"/>
                  </a:lnTo>
                  <a:lnTo>
                    <a:pt x="6" y="84"/>
                  </a:lnTo>
                  <a:lnTo>
                    <a:pt x="17" y="77"/>
                  </a:lnTo>
                  <a:lnTo>
                    <a:pt x="28" y="75"/>
                  </a:lnTo>
                  <a:lnTo>
                    <a:pt x="22" y="69"/>
                  </a:lnTo>
                  <a:lnTo>
                    <a:pt x="31" y="49"/>
                  </a:lnTo>
                  <a:lnTo>
                    <a:pt x="29" y="45"/>
                  </a:lnTo>
                  <a:lnTo>
                    <a:pt x="40" y="43"/>
                  </a:lnTo>
                  <a:lnTo>
                    <a:pt x="46" y="33"/>
                  </a:lnTo>
                  <a:lnTo>
                    <a:pt x="52" y="18"/>
                  </a:lnTo>
                  <a:lnTo>
                    <a:pt x="67" y="13"/>
                  </a:lnTo>
                  <a:lnTo>
                    <a:pt x="68" y="8"/>
                  </a:lnTo>
                  <a:lnTo>
                    <a:pt x="89" y="8"/>
                  </a:lnTo>
                  <a:lnTo>
                    <a:pt x="88" y="0"/>
                  </a:lnTo>
                  <a:lnTo>
                    <a:pt x="94" y="0"/>
                  </a:lnTo>
                  <a:lnTo>
                    <a:pt x="127" y="14"/>
                  </a:lnTo>
                  <a:lnTo>
                    <a:pt x="139" y="35"/>
                  </a:lnTo>
                  <a:lnTo>
                    <a:pt x="145" y="50"/>
                  </a:lnTo>
                  <a:lnTo>
                    <a:pt x="128" y="49"/>
                  </a:lnTo>
                  <a:lnTo>
                    <a:pt x="124" y="51"/>
                  </a:lnTo>
                  <a:lnTo>
                    <a:pt x="122" y="54"/>
                  </a:lnTo>
                  <a:lnTo>
                    <a:pt x="120" y="53"/>
                  </a:lnTo>
                  <a:lnTo>
                    <a:pt x="114" y="57"/>
                  </a:lnTo>
                  <a:lnTo>
                    <a:pt x="112" y="66"/>
                  </a:lnTo>
                  <a:lnTo>
                    <a:pt x="115"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9" name="Freeform 388"/>
            <p:cNvSpPr>
              <a:spLocks/>
            </p:cNvSpPr>
            <p:nvPr/>
          </p:nvSpPr>
          <p:spPr bwMode="auto">
            <a:xfrm>
              <a:off x="2793" y="1563"/>
              <a:ext cx="9" cy="16"/>
            </a:xfrm>
            <a:custGeom>
              <a:avLst/>
              <a:gdLst/>
              <a:ahLst/>
              <a:cxnLst>
                <a:cxn ang="0">
                  <a:pos x="8" y="0"/>
                </a:cxn>
                <a:cxn ang="0">
                  <a:pos x="8" y="3"/>
                </a:cxn>
                <a:cxn ang="0">
                  <a:pos x="4" y="12"/>
                </a:cxn>
                <a:cxn ang="0">
                  <a:pos x="3" y="13"/>
                </a:cxn>
                <a:cxn ang="0">
                  <a:pos x="0" y="7"/>
                </a:cxn>
                <a:cxn ang="0">
                  <a:pos x="8" y="0"/>
                </a:cxn>
              </a:cxnLst>
              <a:rect l="0" t="0" r="r" b="b"/>
              <a:pathLst>
                <a:path w="8" h="13">
                  <a:moveTo>
                    <a:pt x="8" y="0"/>
                  </a:moveTo>
                  <a:lnTo>
                    <a:pt x="8" y="3"/>
                  </a:lnTo>
                  <a:lnTo>
                    <a:pt x="4" y="12"/>
                  </a:lnTo>
                  <a:lnTo>
                    <a:pt x="3" y="13"/>
                  </a:lnTo>
                  <a:lnTo>
                    <a:pt x="0" y="7"/>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0" name="Freeform 389"/>
            <p:cNvSpPr>
              <a:spLocks/>
            </p:cNvSpPr>
            <p:nvPr/>
          </p:nvSpPr>
          <p:spPr bwMode="auto">
            <a:xfrm>
              <a:off x="2627" y="1756"/>
              <a:ext cx="69" cy="34"/>
            </a:xfrm>
            <a:custGeom>
              <a:avLst/>
              <a:gdLst/>
              <a:ahLst/>
              <a:cxnLst>
                <a:cxn ang="0">
                  <a:pos x="58" y="18"/>
                </a:cxn>
                <a:cxn ang="0">
                  <a:pos x="56" y="23"/>
                </a:cxn>
                <a:cxn ang="0">
                  <a:pos x="45" y="23"/>
                </a:cxn>
                <a:cxn ang="0">
                  <a:pos x="40" y="30"/>
                </a:cxn>
                <a:cxn ang="0">
                  <a:pos x="30" y="23"/>
                </a:cxn>
                <a:cxn ang="0">
                  <a:pos x="22" y="29"/>
                </a:cxn>
                <a:cxn ang="0">
                  <a:pos x="14" y="30"/>
                </a:cxn>
                <a:cxn ang="0">
                  <a:pos x="5" y="20"/>
                </a:cxn>
                <a:cxn ang="0">
                  <a:pos x="0" y="24"/>
                </a:cxn>
                <a:cxn ang="0">
                  <a:pos x="12" y="6"/>
                </a:cxn>
                <a:cxn ang="0">
                  <a:pos x="16" y="3"/>
                </a:cxn>
                <a:cxn ang="0">
                  <a:pos x="21" y="1"/>
                </a:cxn>
                <a:cxn ang="0">
                  <a:pos x="34" y="0"/>
                </a:cxn>
                <a:cxn ang="0">
                  <a:pos x="48" y="2"/>
                </a:cxn>
                <a:cxn ang="0">
                  <a:pos x="47" y="6"/>
                </a:cxn>
                <a:cxn ang="0">
                  <a:pos x="47" y="8"/>
                </a:cxn>
                <a:cxn ang="0">
                  <a:pos x="47" y="9"/>
                </a:cxn>
                <a:cxn ang="0">
                  <a:pos x="50" y="9"/>
                </a:cxn>
                <a:cxn ang="0">
                  <a:pos x="62" y="13"/>
                </a:cxn>
                <a:cxn ang="0">
                  <a:pos x="62" y="14"/>
                </a:cxn>
                <a:cxn ang="0">
                  <a:pos x="58" y="18"/>
                </a:cxn>
              </a:cxnLst>
              <a:rect l="0" t="0" r="r" b="b"/>
              <a:pathLst>
                <a:path w="62" h="30">
                  <a:moveTo>
                    <a:pt x="58" y="18"/>
                  </a:moveTo>
                  <a:lnTo>
                    <a:pt x="56" y="23"/>
                  </a:lnTo>
                  <a:lnTo>
                    <a:pt x="45" y="23"/>
                  </a:lnTo>
                  <a:lnTo>
                    <a:pt x="40" y="30"/>
                  </a:lnTo>
                  <a:lnTo>
                    <a:pt x="30" y="23"/>
                  </a:lnTo>
                  <a:lnTo>
                    <a:pt x="22" y="29"/>
                  </a:lnTo>
                  <a:lnTo>
                    <a:pt x="14" y="30"/>
                  </a:lnTo>
                  <a:lnTo>
                    <a:pt x="5" y="20"/>
                  </a:lnTo>
                  <a:lnTo>
                    <a:pt x="0" y="24"/>
                  </a:lnTo>
                  <a:lnTo>
                    <a:pt x="12" y="6"/>
                  </a:lnTo>
                  <a:lnTo>
                    <a:pt x="16" y="3"/>
                  </a:lnTo>
                  <a:lnTo>
                    <a:pt x="21" y="1"/>
                  </a:lnTo>
                  <a:lnTo>
                    <a:pt x="34" y="0"/>
                  </a:lnTo>
                  <a:lnTo>
                    <a:pt x="48" y="2"/>
                  </a:lnTo>
                  <a:lnTo>
                    <a:pt x="47" y="6"/>
                  </a:lnTo>
                  <a:lnTo>
                    <a:pt x="47" y="8"/>
                  </a:lnTo>
                  <a:lnTo>
                    <a:pt x="47" y="9"/>
                  </a:lnTo>
                  <a:lnTo>
                    <a:pt x="50" y="9"/>
                  </a:lnTo>
                  <a:lnTo>
                    <a:pt x="62" y="13"/>
                  </a:lnTo>
                  <a:lnTo>
                    <a:pt x="62" y="14"/>
                  </a:lnTo>
                  <a:lnTo>
                    <a:pt x="58"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1" name="Freeform 390"/>
            <p:cNvSpPr>
              <a:spLocks/>
            </p:cNvSpPr>
            <p:nvPr/>
          </p:nvSpPr>
          <p:spPr bwMode="auto">
            <a:xfrm>
              <a:off x="2873" y="1663"/>
              <a:ext cx="285" cy="158"/>
            </a:xfrm>
            <a:custGeom>
              <a:avLst/>
              <a:gdLst/>
              <a:ahLst/>
              <a:cxnLst>
                <a:cxn ang="0">
                  <a:pos x="135" y="0"/>
                </a:cxn>
                <a:cxn ang="0">
                  <a:pos x="124" y="3"/>
                </a:cxn>
                <a:cxn ang="0">
                  <a:pos x="107" y="12"/>
                </a:cxn>
                <a:cxn ang="0">
                  <a:pos x="108" y="19"/>
                </a:cxn>
                <a:cxn ang="0">
                  <a:pos x="84" y="14"/>
                </a:cxn>
                <a:cxn ang="0">
                  <a:pos x="60" y="9"/>
                </a:cxn>
                <a:cxn ang="0">
                  <a:pos x="38" y="9"/>
                </a:cxn>
                <a:cxn ang="0">
                  <a:pos x="14" y="9"/>
                </a:cxn>
                <a:cxn ang="0">
                  <a:pos x="21" y="28"/>
                </a:cxn>
                <a:cxn ang="0">
                  <a:pos x="20" y="37"/>
                </a:cxn>
                <a:cxn ang="0">
                  <a:pos x="6" y="55"/>
                </a:cxn>
                <a:cxn ang="0">
                  <a:pos x="4" y="60"/>
                </a:cxn>
                <a:cxn ang="0">
                  <a:pos x="0" y="72"/>
                </a:cxn>
                <a:cxn ang="0">
                  <a:pos x="11" y="80"/>
                </a:cxn>
                <a:cxn ang="0">
                  <a:pos x="12" y="79"/>
                </a:cxn>
                <a:cxn ang="0">
                  <a:pos x="39" y="81"/>
                </a:cxn>
                <a:cxn ang="0">
                  <a:pos x="63" y="74"/>
                </a:cxn>
                <a:cxn ang="0">
                  <a:pos x="75" y="64"/>
                </a:cxn>
                <a:cxn ang="0">
                  <a:pos x="80" y="66"/>
                </a:cxn>
                <a:cxn ang="0">
                  <a:pos x="90" y="76"/>
                </a:cxn>
                <a:cxn ang="0">
                  <a:pos x="101" y="87"/>
                </a:cxn>
                <a:cxn ang="0">
                  <a:pos x="113" y="97"/>
                </a:cxn>
                <a:cxn ang="0">
                  <a:pos x="124" y="108"/>
                </a:cxn>
                <a:cxn ang="0">
                  <a:pos x="136" y="100"/>
                </a:cxn>
                <a:cxn ang="0">
                  <a:pos x="140" y="103"/>
                </a:cxn>
                <a:cxn ang="0">
                  <a:pos x="138" y="94"/>
                </a:cxn>
                <a:cxn ang="0">
                  <a:pos x="141" y="100"/>
                </a:cxn>
                <a:cxn ang="0">
                  <a:pos x="152" y="103"/>
                </a:cxn>
                <a:cxn ang="0">
                  <a:pos x="137" y="104"/>
                </a:cxn>
                <a:cxn ang="0">
                  <a:pos x="143" y="108"/>
                </a:cxn>
                <a:cxn ang="0">
                  <a:pos x="155" y="111"/>
                </a:cxn>
                <a:cxn ang="0">
                  <a:pos x="167" y="114"/>
                </a:cxn>
                <a:cxn ang="0">
                  <a:pos x="153" y="123"/>
                </a:cxn>
                <a:cxn ang="0">
                  <a:pos x="164" y="128"/>
                </a:cxn>
                <a:cxn ang="0">
                  <a:pos x="170" y="134"/>
                </a:cxn>
                <a:cxn ang="0">
                  <a:pos x="172" y="141"/>
                </a:cxn>
                <a:cxn ang="0">
                  <a:pos x="192" y="133"/>
                </a:cxn>
                <a:cxn ang="0">
                  <a:pos x="202" y="132"/>
                </a:cxn>
                <a:cxn ang="0">
                  <a:pos x="210" y="126"/>
                </a:cxn>
                <a:cxn ang="0">
                  <a:pos x="198" y="126"/>
                </a:cxn>
                <a:cxn ang="0">
                  <a:pos x="185" y="115"/>
                </a:cxn>
                <a:cxn ang="0">
                  <a:pos x="189" y="106"/>
                </a:cxn>
                <a:cxn ang="0">
                  <a:pos x="186" y="111"/>
                </a:cxn>
                <a:cxn ang="0">
                  <a:pos x="191" y="108"/>
                </a:cxn>
                <a:cxn ang="0">
                  <a:pos x="210" y="100"/>
                </a:cxn>
                <a:cxn ang="0">
                  <a:pos x="232" y="92"/>
                </a:cxn>
                <a:cxn ang="0">
                  <a:pos x="240" y="91"/>
                </a:cxn>
                <a:cxn ang="0">
                  <a:pos x="245" y="81"/>
                </a:cxn>
                <a:cxn ang="0">
                  <a:pos x="256" y="75"/>
                </a:cxn>
                <a:cxn ang="0">
                  <a:pos x="248" y="51"/>
                </a:cxn>
                <a:cxn ang="0">
                  <a:pos x="226" y="44"/>
                </a:cxn>
                <a:cxn ang="0">
                  <a:pos x="206" y="38"/>
                </a:cxn>
                <a:cxn ang="0">
                  <a:pos x="196" y="39"/>
                </a:cxn>
                <a:cxn ang="0">
                  <a:pos x="178" y="24"/>
                </a:cxn>
                <a:cxn ang="0">
                  <a:pos x="160" y="8"/>
                </a:cxn>
                <a:cxn ang="0">
                  <a:pos x="158" y="2"/>
                </a:cxn>
                <a:cxn ang="0">
                  <a:pos x="135" y="0"/>
                </a:cxn>
              </a:cxnLst>
              <a:rect l="0" t="0" r="r" b="b"/>
              <a:pathLst>
                <a:path w="256" h="141">
                  <a:moveTo>
                    <a:pt x="135" y="0"/>
                  </a:moveTo>
                  <a:lnTo>
                    <a:pt x="124" y="3"/>
                  </a:lnTo>
                  <a:lnTo>
                    <a:pt x="107" y="12"/>
                  </a:lnTo>
                  <a:lnTo>
                    <a:pt x="108" y="19"/>
                  </a:lnTo>
                  <a:lnTo>
                    <a:pt x="84" y="14"/>
                  </a:lnTo>
                  <a:lnTo>
                    <a:pt x="60" y="9"/>
                  </a:lnTo>
                  <a:lnTo>
                    <a:pt x="38" y="9"/>
                  </a:lnTo>
                  <a:lnTo>
                    <a:pt x="14" y="9"/>
                  </a:lnTo>
                  <a:lnTo>
                    <a:pt x="21" y="28"/>
                  </a:lnTo>
                  <a:lnTo>
                    <a:pt x="20" y="37"/>
                  </a:lnTo>
                  <a:lnTo>
                    <a:pt x="6" y="55"/>
                  </a:lnTo>
                  <a:lnTo>
                    <a:pt x="4" y="60"/>
                  </a:lnTo>
                  <a:lnTo>
                    <a:pt x="0" y="72"/>
                  </a:lnTo>
                  <a:lnTo>
                    <a:pt x="11" y="80"/>
                  </a:lnTo>
                  <a:lnTo>
                    <a:pt x="12" y="79"/>
                  </a:lnTo>
                  <a:lnTo>
                    <a:pt x="39" y="81"/>
                  </a:lnTo>
                  <a:lnTo>
                    <a:pt x="63" y="74"/>
                  </a:lnTo>
                  <a:lnTo>
                    <a:pt x="75" y="64"/>
                  </a:lnTo>
                  <a:lnTo>
                    <a:pt x="80" y="66"/>
                  </a:lnTo>
                  <a:lnTo>
                    <a:pt x="90" y="76"/>
                  </a:lnTo>
                  <a:lnTo>
                    <a:pt x="101" y="87"/>
                  </a:lnTo>
                  <a:lnTo>
                    <a:pt x="113" y="97"/>
                  </a:lnTo>
                  <a:lnTo>
                    <a:pt x="124" y="108"/>
                  </a:lnTo>
                  <a:lnTo>
                    <a:pt x="136" y="100"/>
                  </a:lnTo>
                  <a:lnTo>
                    <a:pt x="140" y="103"/>
                  </a:lnTo>
                  <a:lnTo>
                    <a:pt x="138" y="94"/>
                  </a:lnTo>
                  <a:lnTo>
                    <a:pt x="141" y="100"/>
                  </a:lnTo>
                  <a:lnTo>
                    <a:pt x="152" y="103"/>
                  </a:lnTo>
                  <a:lnTo>
                    <a:pt x="137" y="104"/>
                  </a:lnTo>
                  <a:lnTo>
                    <a:pt x="143" y="108"/>
                  </a:lnTo>
                  <a:lnTo>
                    <a:pt x="155" y="111"/>
                  </a:lnTo>
                  <a:lnTo>
                    <a:pt x="167" y="114"/>
                  </a:lnTo>
                  <a:lnTo>
                    <a:pt x="153" y="123"/>
                  </a:lnTo>
                  <a:lnTo>
                    <a:pt x="164" y="128"/>
                  </a:lnTo>
                  <a:lnTo>
                    <a:pt x="170" y="134"/>
                  </a:lnTo>
                  <a:lnTo>
                    <a:pt x="172" y="141"/>
                  </a:lnTo>
                  <a:lnTo>
                    <a:pt x="192" y="133"/>
                  </a:lnTo>
                  <a:lnTo>
                    <a:pt x="202" y="132"/>
                  </a:lnTo>
                  <a:lnTo>
                    <a:pt x="210" y="126"/>
                  </a:lnTo>
                  <a:lnTo>
                    <a:pt x="198" y="126"/>
                  </a:lnTo>
                  <a:lnTo>
                    <a:pt x="185" y="115"/>
                  </a:lnTo>
                  <a:lnTo>
                    <a:pt x="189" y="106"/>
                  </a:lnTo>
                  <a:lnTo>
                    <a:pt x="186" y="111"/>
                  </a:lnTo>
                  <a:lnTo>
                    <a:pt x="191" y="108"/>
                  </a:lnTo>
                  <a:lnTo>
                    <a:pt x="210" y="100"/>
                  </a:lnTo>
                  <a:lnTo>
                    <a:pt x="232" y="92"/>
                  </a:lnTo>
                  <a:lnTo>
                    <a:pt x="240" y="91"/>
                  </a:lnTo>
                  <a:lnTo>
                    <a:pt x="245" y="81"/>
                  </a:lnTo>
                  <a:lnTo>
                    <a:pt x="256" y="75"/>
                  </a:lnTo>
                  <a:lnTo>
                    <a:pt x="248" y="51"/>
                  </a:lnTo>
                  <a:lnTo>
                    <a:pt x="226" y="44"/>
                  </a:lnTo>
                  <a:lnTo>
                    <a:pt x="206" y="38"/>
                  </a:lnTo>
                  <a:lnTo>
                    <a:pt x="196" y="39"/>
                  </a:lnTo>
                  <a:lnTo>
                    <a:pt x="178" y="24"/>
                  </a:lnTo>
                  <a:lnTo>
                    <a:pt x="160" y="8"/>
                  </a:lnTo>
                  <a:lnTo>
                    <a:pt x="158" y="2"/>
                  </a:lnTo>
                  <a:lnTo>
                    <a:pt x="13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2" name="Freeform 391"/>
            <p:cNvSpPr>
              <a:spLocks/>
            </p:cNvSpPr>
            <p:nvPr/>
          </p:nvSpPr>
          <p:spPr bwMode="auto">
            <a:xfrm>
              <a:off x="2827" y="1788"/>
              <a:ext cx="69" cy="82"/>
            </a:xfrm>
            <a:custGeom>
              <a:avLst/>
              <a:gdLst/>
              <a:ahLst/>
              <a:cxnLst>
                <a:cxn ang="0">
                  <a:pos x="11" y="16"/>
                </a:cxn>
                <a:cxn ang="0">
                  <a:pos x="11" y="17"/>
                </a:cxn>
                <a:cxn ang="0">
                  <a:pos x="7" y="18"/>
                </a:cxn>
                <a:cxn ang="0">
                  <a:pos x="6" y="22"/>
                </a:cxn>
                <a:cxn ang="0">
                  <a:pos x="10" y="22"/>
                </a:cxn>
                <a:cxn ang="0">
                  <a:pos x="11" y="24"/>
                </a:cxn>
                <a:cxn ang="0">
                  <a:pos x="10" y="27"/>
                </a:cxn>
                <a:cxn ang="0">
                  <a:pos x="7" y="30"/>
                </a:cxn>
                <a:cxn ang="0">
                  <a:pos x="7" y="31"/>
                </a:cxn>
                <a:cxn ang="0">
                  <a:pos x="10" y="34"/>
                </a:cxn>
                <a:cxn ang="0">
                  <a:pos x="16" y="37"/>
                </a:cxn>
                <a:cxn ang="0">
                  <a:pos x="11" y="40"/>
                </a:cxn>
                <a:cxn ang="0">
                  <a:pos x="15" y="42"/>
                </a:cxn>
                <a:cxn ang="0">
                  <a:pos x="15" y="46"/>
                </a:cxn>
                <a:cxn ang="0">
                  <a:pos x="6" y="47"/>
                </a:cxn>
                <a:cxn ang="0">
                  <a:pos x="10" y="51"/>
                </a:cxn>
                <a:cxn ang="0">
                  <a:pos x="9" y="52"/>
                </a:cxn>
                <a:cxn ang="0">
                  <a:pos x="6" y="51"/>
                </a:cxn>
                <a:cxn ang="0">
                  <a:pos x="3" y="55"/>
                </a:cxn>
                <a:cxn ang="0">
                  <a:pos x="0" y="57"/>
                </a:cxn>
                <a:cxn ang="0">
                  <a:pos x="4" y="61"/>
                </a:cxn>
                <a:cxn ang="0">
                  <a:pos x="0" y="63"/>
                </a:cxn>
                <a:cxn ang="0">
                  <a:pos x="0" y="64"/>
                </a:cxn>
                <a:cxn ang="0">
                  <a:pos x="0" y="66"/>
                </a:cxn>
                <a:cxn ang="0">
                  <a:pos x="10" y="71"/>
                </a:cxn>
                <a:cxn ang="0">
                  <a:pos x="16" y="76"/>
                </a:cxn>
                <a:cxn ang="0">
                  <a:pos x="18" y="64"/>
                </a:cxn>
                <a:cxn ang="0">
                  <a:pos x="27" y="66"/>
                </a:cxn>
                <a:cxn ang="0">
                  <a:pos x="31" y="76"/>
                </a:cxn>
                <a:cxn ang="0">
                  <a:pos x="34" y="75"/>
                </a:cxn>
                <a:cxn ang="0">
                  <a:pos x="34" y="72"/>
                </a:cxn>
                <a:cxn ang="0">
                  <a:pos x="39" y="71"/>
                </a:cxn>
                <a:cxn ang="0">
                  <a:pos x="42" y="72"/>
                </a:cxn>
                <a:cxn ang="0">
                  <a:pos x="45" y="69"/>
                </a:cxn>
                <a:cxn ang="0">
                  <a:pos x="47" y="70"/>
                </a:cxn>
                <a:cxn ang="0">
                  <a:pos x="49" y="70"/>
                </a:cxn>
                <a:cxn ang="0">
                  <a:pos x="52" y="69"/>
                </a:cxn>
                <a:cxn ang="0">
                  <a:pos x="57" y="67"/>
                </a:cxn>
                <a:cxn ang="0">
                  <a:pos x="60" y="71"/>
                </a:cxn>
                <a:cxn ang="0">
                  <a:pos x="63" y="70"/>
                </a:cxn>
                <a:cxn ang="0">
                  <a:pos x="58" y="64"/>
                </a:cxn>
                <a:cxn ang="0">
                  <a:pos x="64" y="54"/>
                </a:cxn>
                <a:cxn ang="0">
                  <a:pos x="58" y="45"/>
                </a:cxn>
                <a:cxn ang="0">
                  <a:pos x="59" y="34"/>
                </a:cxn>
                <a:cxn ang="0">
                  <a:pos x="58" y="28"/>
                </a:cxn>
                <a:cxn ang="0">
                  <a:pos x="53" y="27"/>
                </a:cxn>
                <a:cxn ang="0">
                  <a:pos x="48" y="25"/>
                </a:cxn>
                <a:cxn ang="0">
                  <a:pos x="42" y="22"/>
                </a:cxn>
                <a:cxn ang="0">
                  <a:pos x="22" y="0"/>
                </a:cxn>
                <a:cxn ang="0">
                  <a:pos x="1" y="5"/>
                </a:cxn>
                <a:cxn ang="0">
                  <a:pos x="5" y="11"/>
                </a:cxn>
                <a:cxn ang="0">
                  <a:pos x="6" y="11"/>
                </a:cxn>
                <a:cxn ang="0">
                  <a:pos x="5" y="13"/>
                </a:cxn>
                <a:cxn ang="0">
                  <a:pos x="6" y="15"/>
                </a:cxn>
                <a:cxn ang="0">
                  <a:pos x="11" y="16"/>
                </a:cxn>
              </a:cxnLst>
              <a:rect l="0" t="0" r="r" b="b"/>
              <a:pathLst>
                <a:path w="64" h="76">
                  <a:moveTo>
                    <a:pt x="11" y="16"/>
                  </a:moveTo>
                  <a:lnTo>
                    <a:pt x="11" y="17"/>
                  </a:lnTo>
                  <a:lnTo>
                    <a:pt x="7" y="18"/>
                  </a:lnTo>
                  <a:lnTo>
                    <a:pt x="6" y="22"/>
                  </a:lnTo>
                  <a:lnTo>
                    <a:pt x="10" y="22"/>
                  </a:lnTo>
                  <a:lnTo>
                    <a:pt x="11" y="24"/>
                  </a:lnTo>
                  <a:lnTo>
                    <a:pt x="10" y="27"/>
                  </a:lnTo>
                  <a:lnTo>
                    <a:pt x="7" y="30"/>
                  </a:lnTo>
                  <a:lnTo>
                    <a:pt x="7" y="31"/>
                  </a:lnTo>
                  <a:lnTo>
                    <a:pt x="10" y="34"/>
                  </a:lnTo>
                  <a:lnTo>
                    <a:pt x="16" y="37"/>
                  </a:lnTo>
                  <a:lnTo>
                    <a:pt x="11" y="40"/>
                  </a:lnTo>
                  <a:lnTo>
                    <a:pt x="15" y="42"/>
                  </a:lnTo>
                  <a:lnTo>
                    <a:pt x="15" y="46"/>
                  </a:lnTo>
                  <a:lnTo>
                    <a:pt x="6" y="47"/>
                  </a:lnTo>
                  <a:lnTo>
                    <a:pt x="10" y="51"/>
                  </a:lnTo>
                  <a:lnTo>
                    <a:pt x="9" y="52"/>
                  </a:lnTo>
                  <a:lnTo>
                    <a:pt x="6" y="51"/>
                  </a:lnTo>
                  <a:lnTo>
                    <a:pt x="3" y="55"/>
                  </a:lnTo>
                  <a:lnTo>
                    <a:pt x="0" y="57"/>
                  </a:lnTo>
                  <a:lnTo>
                    <a:pt x="4" y="61"/>
                  </a:lnTo>
                  <a:lnTo>
                    <a:pt x="0" y="63"/>
                  </a:lnTo>
                  <a:lnTo>
                    <a:pt x="0" y="64"/>
                  </a:lnTo>
                  <a:lnTo>
                    <a:pt x="0" y="66"/>
                  </a:lnTo>
                  <a:lnTo>
                    <a:pt x="10" y="71"/>
                  </a:lnTo>
                  <a:lnTo>
                    <a:pt x="16" y="76"/>
                  </a:lnTo>
                  <a:lnTo>
                    <a:pt x="18" y="64"/>
                  </a:lnTo>
                  <a:lnTo>
                    <a:pt x="27" y="66"/>
                  </a:lnTo>
                  <a:lnTo>
                    <a:pt x="31" y="76"/>
                  </a:lnTo>
                  <a:lnTo>
                    <a:pt x="34" y="75"/>
                  </a:lnTo>
                  <a:lnTo>
                    <a:pt x="34" y="72"/>
                  </a:lnTo>
                  <a:lnTo>
                    <a:pt x="39" y="71"/>
                  </a:lnTo>
                  <a:lnTo>
                    <a:pt x="42" y="72"/>
                  </a:lnTo>
                  <a:lnTo>
                    <a:pt x="45" y="69"/>
                  </a:lnTo>
                  <a:lnTo>
                    <a:pt x="47" y="70"/>
                  </a:lnTo>
                  <a:lnTo>
                    <a:pt x="49" y="70"/>
                  </a:lnTo>
                  <a:lnTo>
                    <a:pt x="52" y="69"/>
                  </a:lnTo>
                  <a:lnTo>
                    <a:pt x="57" y="67"/>
                  </a:lnTo>
                  <a:lnTo>
                    <a:pt x="60" y="71"/>
                  </a:lnTo>
                  <a:lnTo>
                    <a:pt x="63" y="70"/>
                  </a:lnTo>
                  <a:lnTo>
                    <a:pt x="58" y="64"/>
                  </a:lnTo>
                  <a:lnTo>
                    <a:pt x="64" y="54"/>
                  </a:lnTo>
                  <a:lnTo>
                    <a:pt x="58" y="45"/>
                  </a:lnTo>
                  <a:lnTo>
                    <a:pt x="59" y="34"/>
                  </a:lnTo>
                  <a:lnTo>
                    <a:pt x="58" y="28"/>
                  </a:lnTo>
                  <a:lnTo>
                    <a:pt x="53" y="27"/>
                  </a:lnTo>
                  <a:lnTo>
                    <a:pt x="48" y="25"/>
                  </a:lnTo>
                  <a:lnTo>
                    <a:pt x="42" y="22"/>
                  </a:lnTo>
                  <a:lnTo>
                    <a:pt x="22" y="0"/>
                  </a:lnTo>
                  <a:lnTo>
                    <a:pt x="1" y="5"/>
                  </a:lnTo>
                  <a:lnTo>
                    <a:pt x="5" y="11"/>
                  </a:lnTo>
                  <a:lnTo>
                    <a:pt x="6" y="11"/>
                  </a:lnTo>
                  <a:lnTo>
                    <a:pt x="5" y="13"/>
                  </a:lnTo>
                  <a:lnTo>
                    <a:pt x="6" y="15"/>
                  </a:lnTo>
                  <a:lnTo>
                    <a:pt x="11"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3" name="Freeform 392"/>
            <p:cNvSpPr>
              <a:spLocks/>
            </p:cNvSpPr>
            <p:nvPr/>
          </p:nvSpPr>
          <p:spPr bwMode="auto">
            <a:xfrm>
              <a:off x="554" y="1316"/>
              <a:ext cx="1144" cy="558"/>
            </a:xfrm>
            <a:custGeom>
              <a:avLst/>
              <a:gdLst/>
              <a:ahLst/>
              <a:cxnLst>
                <a:cxn ang="0">
                  <a:pos x="793" y="84"/>
                </a:cxn>
                <a:cxn ang="0">
                  <a:pos x="839" y="34"/>
                </a:cxn>
                <a:cxn ang="0">
                  <a:pos x="756" y="56"/>
                </a:cxn>
                <a:cxn ang="0">
                  <a:pos x="723" y="32"/>
                </a:cxn>
                <a:cxn ang="0">
                  <a:pos x="721" y="2"/>
                </a:cxn>
                <a:cxn ang="0">
                  <a:pos x="709" y="38"/>
                </a:cxn>
                <a:cxn ang="0">
                  <a:pos x="655" y="75"/>
                </a:cxn>
                <a:cxn ang="0">
                  <a:pos x="666" y="55"/>
                </a:cxn>
                <a:cxn ang="0">
                  <a:pos x="627" y="63"/>
                </a:cxn>
                <a:cxn ang="0">
                  <a:pos x="544" y="52"/>
                </a:cxn>
                <a:cxn ang="0">
                  <a:pos x="509" y="64"/>
                </a:cxn>
                <a:cxn ang="0">
                  <a:pos x="437" y="45"/>
                </a:cxn>
                <a:cxn ang="0">
                  <a:pos x="346" y="36"/>
                </a:cxn>
                <a:cxn ang="0">
                  <a:pos x="288" y="28"/>
                </a:cxn>
                <a:cxn ang="0">
                  <a:pos x="124" y="69"/>
                </a:cxn>
                <a:cxn ang="0">
                  <a:pos x="22" y="188"/>
                </a:cxn>
                <a:cxn ang="0">
                  <a:pos x="72" y="254"/>
                </a:cxn>
                <a:cxn ang="0">
                  <a:pos x="47" y="277"/>
                </a:cxn>
                <a:cxn ang="0">
                  <a:pos x="61" y="298"/>
                </a:cxn>
                <a:cxn ang="0">
                  <a:pos x="63" y="321"/>
                </a:cxn>
                <a:cxn ang="0">
                  <a:pos x="37" y="337"/>
                </a:cxn>
                <a:cxn ang="0">
                  <a:pos x="59" y="344"/>
                </a:cxn>
                <a:cxn ang="0">
                  <a:pos x="70" y="358"/>
                </a:cxn>
                <a:cxn ang="0">
                  <a:pos x="75" y="370"/>
                </a:cxn>
                <a:cxn ang="0">
                  <a:pos x="271" y="373"/>
                </a:cxn>
                <a:cxn ang="0">
                  <a:pos x="468" y="367"/>
                </a:cxn>
                <a:cxn ang="0">
                  <a:pos x="582" y="409"/>
                </a:cxn>
                <a:cxn ang="0">
                  <a:pos x="579" y="495"/>
                </a:cxn>
                <a:cxn ang="0">
                  <a:pos x="695" y="457"/>
                </a:cxn>
                <a:cxn ang="0">
                  <a:pos x="820" y="403"/>
                </a:cxn>
                <a:cxn ang="0">
                  <a:pos x="868" y="428"/>
                </a:cxn>
                <a:cxn ang="0">
                  <a:pos x="841" y="451"/>
                </a:cxn>
                <a:cxn ang="0">
                  <a:pos x="913" y="439"/>
                </a:cxn>
                <a:cxn ang="0">
                  <a:pos x="865" y="408"/>
                </a:cxn>
                <a:cxn ang="0">
                  <a:pos x="891" y="378"/>
                </a:cxn>
                <a:cxn ang="0">
                  <a:pos x="809" y="388"/>
                </a:cxn>
                <a:cxn ang="0">
                  <a:pos x="978" y="337"/>
                </a:cxn>
                <a:cxn ang="0">
                  <a:pos x="1031" y="297"/>
                </a:cxn>
                <a:cxn ang="0">
                  <a:pos x="976" y="295"/>
                </a:cxn>
                <a:cxn ang="0">
                  <a:pos x="987" y="272"/>
                </a:cxn>
                <a:cxn ang="0">
                  <a:pos x="981" y="260"/>
                </a:cxn>
                <a:cxn ang="0">
                  <a:pos x="966" y="238"/>
                </a:cxn>
                <a:cxn ang="0">
                  <a:pos x="966" y="218"/>
                </a:cxn>
                <a:cxn ang="0">
                  <a:pos x="965" y="188"/>
                </a:cxn>
                <a:cxn ang="0">
                  <a:pos x="942" y="201"/>
                </a:cxn>
                <a:cxn ang="0">
                  <a:pos x="899" y="219"/>
                </a:cxn>
                <a:cxn ang="0">
                  <a:pos x="893" y="194"/>
                </a:cxn>
                <a:cxn ang="0">
                  <a:pos x="883" y="160"/>
                </a:cxn>
                <a:cxn ang="0">
                  <a:pos x="810" y="163"/>
                </a:cxn>
                <a:cxn ang="0">
                  <a:pos x="772" y="254"/>
                </a:cxn>
                <a:cxn ang="0">
                  <a:pos x="702" y="327"/>
                </a:cxn>
                <a:cxn ang="0">
                  <a:pos x="682" y="284"/>
                </a:cxn>
                <a:cxn ang="0">
                  <a:pos x="599" y="231"/>
                </a:cxn>
                <a:cxn ang="0">
                  <a:pos x="570" y="201"/>
                </a:cxn>
                <a:cxn ang="0">
                  <a:pos x="647" y="140"/>
                </a:cxn>
                <a:cxn ang="0">
                  <a:pos x="685" y="122"/>
                </a:cxn>
                <a:cxn ang="0">
                  <a:pos x="723" y="96"/>
                </a:cxn>
              </a:cxnLst>
              <a:rect l="0" t="0" r="r" b="b"/>
              <a:pathLst>
                <a:path w="1031" h="502">
                  <a:moveTo>
                    <a:pt x="759" y="87"/>
                  </a:moveTo>
                  <a:lnTo>
                    <a:pt x="753" y="81"/>
                  </a:lnTo>
                  <a:lnTo>
                    <a:pt x="769" y="82"/>
                  </a:lnTo>
                  <a:lnTo>
                    <a:pt x="777" y="86"/>
                  </a:lnTo>
                  <a:lnTo>
                    <a:pt x="785" y="85"/>
                  </a:lnTo>
                  <a:lnTo>
                    <a:pt x="779" y="76"/>
                  </a:lnTo>
                  <a:lnTo>
                    <a:pt x="785" y="78"/>
                  </a:lnTo>
                  <a:lnTo>
                    <a:pt x="789" y="79"/>
                  </a:lnTo>
                  <a:lnTo>
                    <a:pt x="793" y="84"/>
                  </a:lnTo>
                  <a:lnTo>
                    <a:pt x="822" y="73"/>
                  </a:lnTo>
                  <a:lnTo>
                    <a:pt x="827" y="66"/>
                  </a:lnTo>
                  <a:lnTo>
                    <a:pt x="826" y="57"/>
                  </a:lnTo>
                  <a:lnTo>
                    <a:pt x="827" y="52"/>
                  </a:lnTo>
                  <a:lnTo>
                    <a:pt x="841" y="48"/>
                  </a:lnTo>
                  <a:lnTo>
                    <a:pt x="833" y="45"/>
                  </a:lnTo>
                  <a:lnTo>
                    <a:pt x="845" y="40"/>
                  </a:lnTo>
                  <a:lnTo>
                    <a:pt x="826" y="36"/>
                  </a:lnTo>
                  <a:lnTo>
                    <a:pt x="839" y="34"/>
                  </a:lnTo>
                  <a:lnTo>
                    <a:pt x="804" y="33"/>
                  </a:lnTo>
                  <a:lnTo>
                    <a:pt x="801" y="42"/>
                  </a:lnTo>
                  <a:lnTo>
                    <a:pt x="802" y="45"/>
                  </a:lnTo>
                  <a:lnTo>
                    <a:pt x="801" y="48"/>
                  </a:lnTo>
                  <a:lnTo>
                    <a:pt x="790" y="48"/>
                  </a:lnTo>
                  <a:lnTo>
                    <a:pt x="763" y="69"/>
                  </a:lnTo>
                  <a:lnTo>
                    <a:pt x="754" y="70"/>
                  </a:lnTo>
                  <a:lnTo>
                    <a:pt x="751" y="58"/>
                  </a:lnTo>
                  <a:lnTo>
                    <a:pt x="756" y="56"/>
                  </a:lnTo>
                  <a:lnTo>
                    <a:pt x="763" y="45"/>
                  </a:lnTo>
                  <a:lnTo>
                    <a:pt x="753" y="40"/>
                  </a:lnTo>
                  <a:lnTo>
                    <a:pt x="731" y="56"/>
                  </a:lnTo>
                  <a:lnTo>
                    <a:pt x="737" y="43"/>
                  </a:lnTo>
                  <a:lnTo>
                    <a:pt x="732" y="39"/>
                  </a:lnTo>
                  <a:lnTo>
                    <a:pt x="744" y="37"/>
                  </a:lnTo>
                  <a:lnTo>
                    <a:pt x="737" y="34"/>
                  </a:lnTo>
                  <a:lnTo>
                    <a:pt x="724" y="33"/>
                  </a:lnTo>
                  <a:lnTo>
                    <a:pt x="723" y="32"/>
                  </a:lnTo>
                  <a:lnTo>
                    <a:pt x="732" y="27"/>
                  </a:lnTo>
                  <a:lnTo>
                    <a:pt x="732" y="25"/>
                  </a:lnTo>
                  <a:lnTo>
                    <a:pt x="738" y="25"/>
                  </a:lnTo>
                  <a:lnTo>
                    <a:pt x="733" y="16"/>
                  </a:lnTo>
                  <a:lnTo>
                    <a:pt x="738" y="7"/>
                  </a:lnTo>
                  <a:lnTo>
                    <a:pt x="731" y="2"/>
                  </a:lnTo>
                  <a:lnTo>
                    <a:pt x="726" y="2"/>
                  </a:lnTo>
                  <a:lnTo>
                    <a:pt x="730" y="0"/>
                  </a:lnTo>
                  <a:lnTo>
                    <a:pt x="721" y="2"/>
                  </a:lnTo>
                  <a:lnTo>
                    <a:pt x="726" y="2"/>
                  </a:lnTo>
                  <a:lnTo>
                    <a:pt x="708" y="6"/>
                  </a:lnTo>
                  <a:lnTo>
                    <a:pt x="711" y="9"/>
                  </a:lnTo>
                  <a:lnTo>
                    <a:pt x="699" y="9"/>
                  </a:lnTo>
                  <a:lnTo>
                    <a:pt x="694" y="19"/>
                  </a:lnTo>
                  <a:lnTo>
                    <a:pt x="696" y="20"/>
                  </a:lnTo>
                  <a:lnTo>
                    <a:pt x="688" y="22"/>
                  </a:lnTo>
                  <a:lnTo>
                    <a:pt x="683" y="31"/>
                  </a:lnTo>
                  <a:lnTo>
                    <a:pt x="709" y="38"/>
                  </a:lnTo>
                  <a:lnTo>
                    <a:pt x="701" y="40"/>
                  </a:lnTo>
                  <a:lnTo>
                    <a:pt x="702" y="38"/>
                  </a:lnTo>
                  <a:lnTo>
                    <a:pt x="696" y="42"/>
                  </a:lnTo>
                  <a:lnTo>
                    <a:pt x="689" y="48"/>
                  </a:lnTo>
                  <a:lnTo>
                    <a:pt x="701" y="44"/>
                  </a:lnTo>
                  <a:lnTo>
                    <a:pt x="695" y="50"/>
                  </a:lnTo>
                  <a:lnTo>
                    <a:pt x="671" y="58"/>
                  </a:lnTo>
                  <a:lnTo>
                    <a:pt x="661" y="69"/>
                  </a:lnTo>
                  <a:lnTo>
                    <a:pt x="655" y="75"/>
                  </a:lnTo>
                  <a:lnTo>
                    <a:pt x="647" y="75"/>
                  </a:lnTo>
                  <a:lnTo>
                    <a:pt x="648" y="79"/>
                  </a:lnTo>
                  <a:lnTo>
                    <a:pt x="647" y="75"/>
                  </a:lnTo>
                  <a:lnTo>
                    <a:pt x="648" y="75"/>
                  </a:lnTo>
                  <a:lnTo>
                    <a:pt x="657" y="74"/>
                  </a:lnTo>
                  <a:lnTo>
                    <a:pt x="653" y="72"/>
                  </a:lnTo>
                  <a:lnTo>
                    <a:pt x="657" y="68"/>
                  </a:lnTo>
                  <a:lnTo>
                    <a:pt x="651" y="69"/>
                  </a:lnTo>
                  <a:lnTo>
                    <a:pt x="666" y="55"/>
                  </a:lnTo>
                  <a:lnTo>
                    <a:pt x="655" y="57"/>
                  </a:lnTo>
                  <a:lnTo>
                    <a:pt x="658" y="55"/>
                  </a:lnTo>
                  <a:lnTo>
                    <a:pt x="645" y="52"/>
                  </a:lnTo>
                  <a:lnTo>
                    <a:pt x="635" y="56"/>
                  </a:lnTo>
                  <a:lnTo>
                    <a:pt x="637" y="61"/>
                  </a:lnTo>
                  <a:lnTo>
                    <a:pt x="646" y="62"/>
                  </a:lnTo>
                  <a:lnTo>
                    <a:pt x="634" y="63"/>
                  </a:lnTo>
                  <a:lnTo>
                    <a:pt x="630" y="58"/>
                  </a:lnTo>
                  <a:lnTo>
                    <a:pt x="627" y="63"/>
                  </a:lnTo>
                  <a:lnTo>
                    <a:pt x="603" y="62"/>
                  </a:lnTo>
                  <a:lnTo>
                    <a:pt x="580" y="62"/>
                  </a:lnTo>
                  <a:lnTo>
                    <a:pt x="573" y="58"/>
                  </a:lnTo>
                  <a:lnTo>
                    <a:pt x="563" y="57"/>
                  </a:lnTo>
                  <a:lnTo>
                    <a:pt x="559" y="51"/>
                  </a:lnTo>
                  <a:lnTo>
                    <a:pt x="556" y="45"/>
                  </a:lnTo>
                  <a:lnTo>
                    <a:pt x="519" y="54"/>
                  </a:lnTo>
                  <a:lnTo>
                    <a:pt x="526" y="56"/>
                  </a:lnTo>
                  <a:lnTo>
                    <a:pt x="544" y="52"/>
                  </a:lnTo>
                  <a:lnTo>
                    <a:pt x="556" y="51"/>
                  </a:lnTo>
                  <a:lnTo>
                    <a:pt x="533" y="58"/>
                  </a:lnTo>
                  <a:lnTo>
                    <a:pt x="522" y="60"/>
                  </a:lnTo>
                  <a:lnTo>
                    <a:pt x="515" y="78"/>
                  </a:lnTo>
                  <a:lnTo>
                    <a:pt x="510" y="74"/>
                  </a:lnTo>
                  <a:lnTo>
                    <a:pt x="508" y="85"/>
                  </a:lnTo>
                  <a:lnTo>
                    <a:pt x="503" y="73"/>
                  </a:lnTo>
                  <a:lnTo>
                    <a:pt x="511" y="73"/>
                  </a:lnTo>
                  <a:lnTo>
                    <a:pt x="509" y="64"/>
                  </a:lnTo>
                  <a:lnTo>
                    <a:pt x="502" y="68"/>
                  </a:lnTo>
                  <a:lnTo>
                    <a:pt x="502" y="63"/>
                  </a:lnTo>
                  <a:lnTo>
                    <a:pt x="493" y="60"/>
                  </a:lnTo>
                  <a:lnTo>
                    <a:pt x="449" y="64"/>
                  </a:lnTo>
                  <a:lnTo>
                    <a:pt x="432" y="60"/>
                  </a:lnTo>
                  <a:lnTo>
                    <a:pt x="450" y="55"/>
                  </a:lnTo>
                  <a:lnTo>
                    <a:pt x="456" y="54"/>
                  </a:lnTo>
                  <a:lnTo>
                    <a:pt x="444" y="44"/>
                  </a:lnTo>
                  <a:lnTo>
                    <a:pt x="437" y="45"/>
                  </a:lnTo>
                  <a:lnTo>
                    <a:pt x="406" y="38"/>
                  </a:lnTo>
                  <a:lnTo>
                    <a:pt x="377" y="31"/>
                  </a:lnTo>
                  <a:lnTo>
                    <a:pt x="360" y="38"/>
                  </a:lnTo>
                  <a:lnTo>
                    <a:pt x="354" y="37"/>
                  </a:lnTo>
                  <a:lnTo>
                    <a:pt x="359" y="33"/>
                  </a:lnTo>
                  <a:lnTo>
                    <a:pt x="363" y="26"/>
                  </a:lnTo>
                  <a:lnTo>
                    <a:pt x="358" y="28"/>
                  </a:lnTo>
                  <a:lnTo>
                    <a:pt x="353" y="33"/>
                  </a:lnTo>
                  <a:lnTo>
                    <a:pt x="346" y="36"/>
                  </a:lnTo>
                  <a:lnTo>
                    <a:pt x="340" y="39"/>
                  </a:lnTo>
                  <a:lnTo>
                    <a:pt x="335" y="28"/>
                  </a:lnTo>
                  <a:lnTo>
                    <a:pt x="330" y="21"/>
                  </a:lnTo>
                  <a:lnTo>
                    <a:pt x="331" y="25"/>
                  </a:lnTo>
                  <a:lnTo>
                    <a:pt x="306" y="33"/>
                  </a:lnTo>
                  <a:lnTo>
                    <a:pt x="307" y="31"/>
                  </a:lnTo>
                  <a:lnTo>
                    <a:pt x="281" y="34"/>
                  </a:lnTo>
                  <a:lnTo>
                    <a:pt x="307" y="26"/>
                  </a:lnTo>
                  <a:lnTo>
                    <a:pt x="288" y="28"/>
                  </a:lnTo>
                  <a:lnTo>
                    <a:pt x="259" y="36"/>
                  </a:lnTo>
                  <a:lnTo>
                    <a:pt x="229" y="44"/>
                  </a:lnTo>
                  <a:lnTo>
                    <a:pt x="226" y="48"/>
                  </a:lnTo>
                  <a:lnTo>
                    <a:pt x="216" y="46"/>
                  </a:lnTo>
                  <a:lnTo>
                    <a:pt x="214" y="49"/>
                  </a:lnTo>
                  <a:lnTo>
                    <a:pt x="190" y="42"/>
                  </a:lnTo>
                  <a:lnTo>
                    <a:pt x="167" y="33"/>
                  </a:lnTo>
                  <a:lnTo>
                    <a:pt x="145" y="51"/>
                  </a:lnTo>
                  <a:lnTo>
                    <a:pt x="124" y="69"/>
                  </a:lnTo>
                  <a:lnTo>
                    <a:pt x="102" y="87"/>
                  </a:lnTo>
                  <a:lnTo>
                    <a:pt x="81" y="105"/>
                  </a:lnTo>
                  <a:lnTo>
                    <a:pt x="61" y="124"/>
                  </a:lnTo>
                  <a:lnTo>
                    <a:pt x="41" y="144"/>
                  </a:lnTo>
                  <a:lnTo>
                    <a:pt x="21" y="163"/>
                  </a:lnTo>
                  <a:lnTo>
                    <a:pt x="0" y="181"/>
                  </a:lnTo>
                  <a:lnTo>
                    <a:pt x="25" y="181"/>
                  </a:lnTo>
                  <a:lnTo>
                    <a:pt x="19" y="184"/>
                  </a:lnTo>
                  <a:lnTo>
                    <a:pt x="22" y="188"/>
                  </a:lnTo>
                  <a:lnTo>
                    <a:pt x="22" y="205"/>
                  </a:lnTo>
                  <a:lnTo>
                    <a:pt x="34" y="200"/>
                  </a:lnTo>
                  <a:lnTo>
                    <a:pt x="43" y="195"/>
                  </a:lnTo>
                  <a:lnTo>
                    <a:pt x="61" y="189"/>
                  </a:lnTo>
                  <a:lnTo>
                    <a:pt x="66" y="207"/>
                  </a:lnTo>
                  <a:lnTo>
                    <a:pt x="63" y="223"/>
                  </a:lnTo>
                  <a:lnTo>
                    <a:pt x="59" y="238"/>
                  </a:lnTo>
                  <a:lnTo>
                    <a:pt x="66" y="247"/>
                  </a:lnTo>
                  <a:lnTo>
                    <a:pt x="72" y="254"/>
                  </a:lnTo>
                  <a:lnTo>
                    <a:pt x="58" y="270"/>
                  </a:lnTo>
                  <a:lnTo>
                    <a:pt x="71" y="259"/>
                  </a:lnTo>
                  <a:lnTo>
                    <a:pt x="71" y="262"/>
                  </a:lnTo>
                  <a:lnTo>
                    <a:pt x="59" y="270"/>
                  </a:lnTo>
                  <a:lnTo>
                    <a:pt x="61" y="270"/>
                  </a:lnTo>
                  <a:lnTo>
                    <a:pt x="54" y="276"/>
                  </a:lnTo>
                  <a:lnTo>
                    <a:pt x="49" y="276"/>
                  </a:lnTo>
                  <a:lnTo>
                    <a:pt x="49" y="282"/>
                  </a:lnTo>
                  <a:lnTo>
                    <a:pt x="47" y="277"/>
                  </a:lnTo>
                  <a:lnTo>
                    <a:pt x="46" y="284"/>
                  </a:lnTo>
                  <a:lnTo>
                    <a:pt x="53" y="284"/>
                  </a:lnTo>
                  <a:lnTo>
                    <a:pt x="48" y="284"/>
                  </a:lnTo>
                  <a:lnTo>
                    <a:pt x="48" y="288"/>
                  </a:lnTo>
                  <a:lnTo>
                    <a:pt x="45" y="285"/>
                  </a:lnTo>
                  <a:lnTo>
                    <a:pt x="47" y="297"/>
                  </a:lnTo>
                  <a:lnTo>
                    <a:pt x="65" y="286"/>
                  </a:lnTo>
                  <a:lnTo>
                    <a:pt x="58" y="296"/>
                  </a:lnTo>
                  <a:lnTo>
                    <a:pt x="61" y="298"/>
                  </a:lnTo>
                  <a:lnTo>
                    <a:pt x="54" y="296"/>
                  </a:lnTo>
                  <a:lnTo>
                    <a:pt x="52" y="307"/>
                  </a:lnTo>
                  <a:lnTo>
                    <a:pt x="55" y="306"/>
                  </a:lnTo>
                  <a:lnTo>
                    <a:pt x="45" y="316"/>
                  </a:lnTo>
                  <a:lnTo>
                    <a:pt x="51" y="313"/>
                  </a:lnTo>
                  <a:lnTo>
                    <a:pt x="49" y="318"/>
                  </a:lnTo>
                  <a:lnTo>
                    <a:pt x="70" y="307"/>
                  </a:lnTo>
                  <a:lnTo>
                    <a:pt x="64" y="315"/>
                  </a:lnTo>
                  <a:lnTo>
                    <a:pt x="63" y="321"/>
                  </a:lnTo>
                  <a:lnTo>
                    <a:pt x="60" y="315"/>
                  </a:lnTo>
                  <a:lnTo>
                    <a:pt x="45" y="325"/>
                  </a:lnTo>
                  <a:lnTo>
                    <a:pt x="45" y="328"/>
                  </a:lnTo>
                  <a:lnTo>
                    <a:pt x="49" y="326"/>
                  </a:lnTo>
                  <a:lnTo>
                    <a:pt x="59" y="327"/>
                  </a:lnTo>
                  <a:lnTo>
                    <a:pt x="43" y="331"/>
                  </a:lnTo>
                  <a:lnTo>
                    <a:pt x="40" y="332"/>
                  </a:lnTo>
                  <a:lnTo>
                    <a:pt x="46" y="333"/>
                  </a:lnTo>
                  <a:lnTo>
                    <a:pt x="37" y="337"/>
                  </a:lnTo>
                  <a:lnTo>
                    <a:pt x="48" y="340"/>
                  </a:lnTo>
                  <a:lnTo>
                    <a:pt x="52" y="338"/>
                  </a:lnTo>
                  <a:lnTo>
                    <a:pt x="55" y="339"/>
                  </a:lnTo>
                  <a:lnTo>
                    <a:pt x="51" y="342"/>
                  </a:lnTo>
                  <a:lnTo>
                    <a:pt x="57" y="342"/>
                  </a:lnTo>
                  <a:lnTo>
                    <a:pt x="52" y="344"/>
                  </a:lnTo>
                  <a:lnTo>
                    <a:pt x="64" y="340"/>
                  </a:lnTo>
                  <a:lnTo>
                    <a:pt x="66" y="338"/>
                  </a:lnTo>
                  <a:lnTo>
                    <a:pt x="59" y="344"/>
                  </a:lnTo>
                  <a:lnTo>
                    <a:pt x="53" y="344"/>
                  </a:lnTo>
                  <a:lnTo>
                    <a:pt x="52" y="348"/>
                  </a:lnTo>
                  <a:lnTo>
                    <a:pt x="61" y="344"/>
                  </a:lnTo>
                  <a:lnTo>
                    <a:pt x="61" y="348"/>
                  </a:lnTo>
                  <a:lnTo>
                    <a:pt x="71" y="342"/>
                  </a:lnTo>
                  <a:lnTo>
                    <a:pt x="66" y="350"/>
                  </a:lnTo>
                  <a:lnTo>
                    <a:pt x="76" y="346"/>
                  </a:lnTo>
                  <a:lnTo>
                    <a:pt x="63" y="355"/>
                  </a:lnTo>
                  <a:lnTo>
                    <a:pt x="70" y="358"/>
                  </a:lnTo>
                  <a:lnTo>
                    <a:pt x="77" y="351"/>
                  </a:lnTo>
                  <a:lnTo>
                    <a:pt x="72" y="362"/>
                  </a:lnTo>
                  <a:lnTo>
                    <a:pt x="75" y="362"/>
                  </a:lnTo>
                  <a:lnTo>
                    <a:pt x="69" y="362"/>
                  </a:lnTo>
                  <a:lnTo>
                    <a:pt x="75" y="364"/>
                  </a:lnTo>
                  <a:lnTo>
                    <a:pt x="81" y="362"/>
                  </a:lnTo>
                  <a:lnTo>
                    <a:pt x="76" y="367"/>
                  </a:lnTo>
                  <a:lnTo>
                    <a:pt x="81" y="368"/>
                  </a:lnTo>
                  <a:lnTo>
                    <a:pt x="75" y="370"/>
                  </a:lnTo>
                  <a:lnTo>
                    <a:pt x="79" y="373"/>
                  </a:lnTo>
                  <a:lnTo>
                    <a:pt x="103" y="373"/>
                  </a:lnTo>
                  <a:lnTo>
                    <a:pt x="127" y="373"/>
                  </a:lnTo>
                  <a:lnTo>
                    <a:pt x="151" y="373"/>
                  </a:lnTo>
                  <a:lnTo>
                    <a:pt x="175" y="373"/>
                  </a:lnTo>
                  <a:lnTo>
                    <a:pt x="199" y="373"/>
                  </a:lnTo>
                  <a:lnTo>
                    <a:pt x="223" y="373"/>
                  </a:lnTo>
                  <a:lnTo>
                    <a:pt x="247" y="373"/>
                  </a:lnTo>
                  <a:lnTo>
                    <a:pt x="271" y="373"/>
                  </a:lnTo>
                  <a:lnTo>
                    <a:pt x="295" y="373"/>
                  </a:lnTo>
                  <a:lnTo>
                    <a:pt x="319" y="373"/>
                  </a:lnTo>
                  <a:lnTo>
                    <a:pt x="342" y="373"/>
                  </a:lnTo>
                  <a:lnTo>
                    <a:pt x="366" y="373"/>
                  </a:lnTo>
                  <a:lnTo>
                    <a:pt x="390" y="373"/>
                  </a:lnTo>
                  <a:lnTo>
                    <a:pt x="414" y="373"/>
                  </a:lnTo>
                  <a:lnTo>
                    <a:pt x="438" y="373"/>
                  </a:lnTo>
                  <a:lnTo>
                    <a:pt x="462" y="373"/>
                  </a:lnTo>
                  <a:lnTo>
                    <a:pt x="468" y="367"/>
                  </a:lnTo>
                  <a:lnTo>
                    <a:pt x="467" y="376"/>
                  </a:lnTo>
                  <a:lnTo>
                    <a:pt x="483" y="380"/>
                  </a:lnTo>
                  <a:lnTo>
                    <a:pt x="503" y="388"/>
                  </a:lnTo>
                  <a:lnTo>
                    <a:pt x="515" y="386"/>
                  </a:lnTo>
                  <a:lnTo>
                    <a:pt x="527" y="391"/>
                  </a:lnTo>
                  <a:lnTo>
                    <a:pt x="546" y="386"/>
                  </a:lnTo>
                  <a:lnTo>
                    <a:pt x="558" y="394"/>
                  </a:lnTo>
                  <a:lnTo>
                    <a:pt x="570" y="402"/>
                  </a:lnTo>
                  <a:lnTo>
                    <a:pt x="582" y="409"/>
                  </a:lnTo>
                  <a:lnTo>
                    <a:pt x="594" y="417"/>
                  </a:lnTo>
                  <a:lnTo>
                    <a:pt x="595" y="424"/>
                  </a:lnTo>
                  <a:lnTo>
                    <a:pt x="600" y="423"/>
                  </a:lnTo>
                  <a:lnTo>
                    <a:pt x="599" y="428"/>
                  </a:lnTo>
                  <a:lnTo>
                    <a:pt x="610" y="436"/>
                  </a:lnTo>
                  <a:lnTo>
                    <a:pt x="606" y="452"/>
                  </a:lnTo>
                  <a:lnTo>
                    <a:pt x="604" y="469"/>
                  </a:lnTo>
                  <a:lnTo>
                    <a:pt x="597" y="478"/>
                  </a:lnTo>
                  <a:lnTo>
                    <a:pt x="579" y="495"/>
                  </a:lnTo>
                  <a:lnTo>
                    <a:pt x="583" y="502"/>
                  </a:lnTo>
                  <a:lnTo>
                    <a:pt x="599" y="496"/>
                  </a:lnTo>
                  <a:lnTo>
                    <a:pt x="613" y="492"/>
                  </a:lnTo>
                  <a:lnTo>
                    <a:pt x="629" y="487"/>
                  </a:lnTo>
                  <a:lnTo>
                    <a:pt x="645" y="482"/>
                  </a:lnTo>
                  <a:lnTo>
                    <a:pt x="646" y="470"/>
                  </a:lnTo>
                  <a:lnTo>
                    <a:pt x="663" y="469"/>
                  </a:lnTo>
                  <a:lnTo>
                    <a:pt x="681" y="468"/>
                  </a:lnTo>
                  <a:lnTo>
                    <a:pt x="695" y="457"/>
                  </a:lnTo>
                  <a:lnTo>
                    <a:pt x="709" y="446"/>
                  </a:lnTo>
                  <a:lnTo>
                    <a:pt x="737" y="445"/>
                  </a:lnTo>
                  <a:lnTo>
                    <a:pt x="765" y="442"/>
                  </a:lnTo>
                  <a:lnTo>
                    <a:pt x="774" y="436"/>
                  </a:lnTo>
                  <a:lnTo>
                    <a:pt x="787" y="426"/>
                  </a:lnTo>
                  <a:lnTo>
                    <a:pt x="799" y="412"/>
                  </a:lnTo>
                  <a:lnTo>
                    <a:pt x="813" y="400"/>
                  </a:lnTo>
                  <a:lnTo>
                    <a:pt x="814" y="403"/>
                  </a:lnTo>
                  <a:lnTo>
                    <a:pt x="820" y="403"/>
                  </a:lnTo>
                  <a:lnTo>
                    <a:pt x="829" y="406"/>
                  </a:lnTo>
                  <a:lnTo>
                    <a:pt x="823" y="428"/>
                  </a:lnTo>
                  <a:lnTo>
                    <a:pt x="827" y="440"/>
                  </a:lnTo>
                  <a:lnTo>
                    <a:pt x="831" y="442"/>
                  </a:lnTo>
                  <a:lnTo>
                    <a:pt x="844" y="436"/>
                  </a:lnTo>
                  <a:lnTo>
                    <a:pt x="843" y="438"/>
                  </a:lnTo>
                  <a:lnTo>
                    <a:pt x="863" y="432"/>
                  </a:lnTo>
                  <a:lnTo>
                    <a:pt x="867" y="424"/>
                  </a:lnTo>
                  <a:lnTo>
                    <a:pt x="868" y="428"/>
                  </a:lnTo>
                  <a:lnTo>
                    <a:pt x="871" y="428"/>
                  </a:lnTo>
                  <a:lnTo>
                    <a:pt x="861" y="435"/>
                  </a:lnTo>
                  <a:lnTo>
                    <a:pt x="882" y="436"/>
                  </a:lnTo>
                  <a:lnTo>
                    <a:pt x="869" y="441"/>
                  </a:lnTo>
                  <a:lnTo>
                    <a:pt x="868" y="438"/>
                  </a:lnTo>
                  <a:lnTo>
                    <a:pt x="846" y="448"/>
                  </a:lnTo>
                  <a:lnTo>
                    <a:pt x="850" y="447"/>
                  </a:lnTo>
                  <a:lnTo>
                    <a:pt x="837" y="453"/>
                  </a:lnTo>
                  <a:lnTo>
                    <a:pt x="841" y="451"/>
                  </a:lnTo>
                  <a:lnTo>
                    <a:pt x="834" y="459"/>
                  </a:lnTo>
                  <a:lnTo>
                    <a:pt x="839" y="469"/>
                  </a:lnTo>
                  <a:lnTo>
                    <a:pt x="847" y="466"/>
                  </a:lnTo>
                  <a:lnTo>
                    <a:pt x="868" y="450"/>
                  </a:lnTo>
                  <a:lnTo>
                    <a:pt x="870" y="452"/>
                  </a:lnTo>
                  <a:lnTo>
                    <a:pt x="875" y="450"/>
                  </a:lnTo>
                  <a:lnTo>
                    <a:pt x="877" y="451"/>
                  </a:lnTo>
                  <a:lnTo>
                    <a:pt x="895" y="445"/>
                  </a:lnTo>
                  <a:lnTo>
                    <a:pt x="913" y="439"/>
                  </a:lnTo>
                  <a:lnTo>
                    <a:pt x="909" y="436"/>
                  </a:lnTo>
                  <a:lnTo>
                    <a:pt x="913" y="435"/>
                  </a:lnTo>
                  <a:lnTo>
                    <a:pt x="906" y="428"/>
                  </a:lnTo>
                  <a:lnTo>
                    <a:pt x="900" y="430"/>
                  </a:lnTo>
                  <a:lnTo>
                    <a:pt x="888" y="429"/>
                  </a:lnTo>
                  <a:lnTo>
                    <a:pt x="879" y="424"/>
                  </a:lnTo>
                  <a:lnTo>
                    <a:pt x="871" y="422"/>
                  </a:lnTo>
                  <a:lnTo>
                    <a:pt x="871" y="409"/>
                  </a:lnTo>
                  <a:lnTo>
                    <a:pt x="865" y="408"/>
                  </a:lnTo>
                  <a:lnTo>
                    <a:pt x="876" y="396"/>
                  </a:lnTo>
                  <a:lnTo>
                    <a:pt x="864" y="397"/>
                  </a:lnTo>
                  <a:lnTo>
                    <a:pt x="863" y="393"/>
                  </a:lnTo>
                  <a:lnTo>
                    <a:pt x="850" y="391"/>
                  </a:lnTo>
                  <a:lnTo>
                    <a:pt x="853" y="390"/>
                  </a:lnTo>
                  <a:lnTo>
                    <a:pt x="868" y="390"/>
                  </a:lnTo>
                  <a:lnTo>
                    <a:pt x="886" y="384"/>
                  </a:lnTo>
                  <a:lnTo>
                    <a:pt x="887" y="378"/>
                  </a:lnTo>
                  <a:lnTo>
                    <a:pt x="891" y="378"/>
                  </a:lnTo>
                  <a:lnTo>
                    <a:pt x="889" y="374"/>
                  </a:lnTo>
                  <a:lnTo>
                    <a:pt x="874" y="368"/>
                  </a:lnTo>
                  <a:lnTo>
                    <a:pt x="853" y="374"/>
                  </a:lnTo>
                  <a:lnTo>
                    <a:pt x="833" y="380"/>
                  </a:lnTo>
                  <a:lnTo>
                    <a:pt x="819" y="390"/>
                  </a:lnTo>
                  <a:lnTo>
                    <a:pt x="803" y="399"/>
                  </a:lnTo>
                  <a:lnTo>
                    <a:pt x="781" y="411"/>
                  </a:lnTo>
                  <a:lnTo>
                    <a:pt x="796" y="399"/>
                  </a:lnTo>
                  <a:lnTo>
                    <a:pt x="809" y="388"/>
                  </a:lnTo>
                  <a:lnTo>
                    <a:pt x="793" y="382"/>
                  </a:lnTo>
                  <a:lnTo>
                    <a:pt x="808" y="388"/>
                  </a:lnTo>
                  <a:lnTo>
                    <a:pt x="828" y="374"/>
                  </a:lnTo>
                  <a:lnTo>
                    <a:pt x="850" y="367"/>
                  </a:lnTo>
                  <a:lnTo>
                    <a:pt x="865" y="352"/>
                  </a:lnTo>
                  <a:lnTo>
                    <a:pt x="895" y="352"/>
                  </a:lnTo>
                  <a:lnTo>
                    <a:pt x="925" y="351"/>
                  </a:lnTo>
                  <a:lnTo>
                    <a:pt x="953" y="351"/>
                  </a:lnTo>
                  <a:lnTo>
                    <a:pt x="978" y="337"/>
                  </a:lnTo>
                  <a:lnTo>
                    <a:pt x="1002" y="331"/>
                  </a:lnTo>
                  <a:lnTo>
                    <a:pt x="1029" y="318"/>
                  </a:lnTo>
                  <a:lnTo>
                    <a:pt x="1021" y="314"/>
                  </a:lnTo>
                  <a:lnTo>
                    <a:pt x="1029" y="313"/>
                  </a:lnTo>
                  <a:lnTo>
                    <a:pt x="1019" y="310"/>
                  </a:lnTo>
                  <a:lnTo>
                    <a:pt x="1026" y="309"/>
                  </a:lnTo>
                  <a:lnTo>
                    <a:pt x="1026" y="307"/>
                  </a:lnTo>
                  <a:lnTo>
                    <a:pt x="1029" y="302"/>
                  </a:lnTo>
                  <a:lnTo>
                    <a:pt x="1031" y="297"/>
                  </a:lnTo>
                  <a:lnTo>
                    <a:pt x="1021" y="292"/>
                  </a:lnTo>
                  <a:lnTo>
                    <a:pt x="1023" y="291"/>
                  </a:lnTo>
                  <a:lnTo>
                    <a:pt x="1013" y="294"/>
                  </a:lnTo>
                  <a:lnTo>
                    <a:pt x="1015" y="284"/>
                  </a:lnTo>
                  <a:lnTo>
                    <a:pt x="1003" y="285"/>
                  </a:lnTo>
                  <a:lnTo>
                    <a:pt x="1009" y="285"/>
                  </a:lnTo>
                  <a:lnTo>
                    <a:pt x="988" y="292"/>
                  </a:lnTo>
                  <a:lnTo>
                    <a:pt x="970" y="298"/>
                  </a:lnTo>
                  <a:lnTo>
                    <a:pt x="976" y="295"/>
                  </a:lnTo>
                  <a:lnTo>
                    <a:pt x="969" y="291"/>
                  </a:lnTo>
                  <a:lnTo>
                    <a:pt x="978" y="292"/>
                  </a:lnTo>
                  <a:lnTo>
                    <a:pt x="1003" y="283"/>
                  </a:lnTo>
                  <a:lnTo>
                    <a:pt x="987" y="286"/>
                  </a:lnTo>
                  <a:lnTo>
                    <a:pt x="1018" y="277"/>
                  </a:lnTo>
                  <a:lnTo>
                    <a:pt x="999" y="270"/>
                  </a:lnTo>
                  <a:lnTo>
                    <a:pt x="994" y="270"/>
                  </a:lnTo>
                  <a:lnTo>
                    <a:pt x="999" y="266"/>
                  </a:lnTo>
                  <a:lnTo>
                    <a:pt x="987" y="272"/>
                  </a:lnTo>
                  <a:lnTo>
                    <a:pt x="993" y="267"/>
                  </a:lnTo>
                  <a:lnTo>
                    <a:pt x="991" y="266"/>
                  </a:lnTo>
                  <a:lnTo>
                    <a:pt x="984" y="268"/>
                  </a:lnTo>
                  <a:lnTo>
                    <a:pt x="987" y="265"/>
                  </a:lnTo>
                  <a:lnTo>
                    <a:pt x="978" y="268"/>
                  </a:lnTo>
                  <a:lnTo>
                    <a:pt x="982" y="266"/>
                  </a:lnTo>
                  <a:lnTo>
                    <a:pt x="984" y="262"/>
                  </a:lnTo>
                  <a:lnTo>
                    <a:pt x="985" y="256"/>
                  </a:lnTo>
                  <a:lnTo>
                    <a:pt x="981" y="260"/>
                  </a:lnTo>
                  <a:lnTo>
                    <a:pt x="982" y="258"/>
                  </a:lnTo>
                  <a:lnTo>
                    <a:pt x="976" y="250"/>
                  </a:lnTo>
                  <a:lnTo>
                    <a:pt x="967" y="248"/>
                  </a:lnTo>
                  <a:lnTo>
                    <a:pt x="975" y="248"/>
                  </a:lnTo>
                  <a:lnTo>
                    <a:pt x="970" y="244"/>
                  </a:lnTo>
                  <a:lnTo>
                    <a:pt x="973" y="243"/>
                  </a:lnTo>
                  <a:lnTo>
                    <a:pt x="969" y="242"/>
                  </a:lnTo>
                  <a:lnTo>
                    <a:pt x="972" y="242"/>
                  </a:lnTo>
                  <a:lnTo>
                    <a:pt x="966" y="238"/>
                  </a:lnTo>
                  <a:lnTo>
                    <a:pt x="969" y="238"/>
                  </a:lnTo>
                  <a:lnTo>
                    <a:pt x="973" y="241"/>
                  </a:lnTo>
                  <a:lnTo>
                    <a:pt x="983" y="235"/>
                  </a:lnTo>
                  <a:lnTo>
                    <a:pt x="978" y="230"/>
                  </a:lnTo>
                  <a:lnTo>
                    <a:pt x="975" y="228"/>
                  </a:lnTo>
                  <a:lnTo>
                    <a:pt x="979" y="223"/>
                  </a:lnTo>
                  <a:lnTo>
                    <a:pt x="975" y="219"/>
                  </a:lnTo>
                  <a:lnTo>
                    <a:pt x="973" y="217"/>
                  </a:lnTo>
                  <a:lnTo>
                    <a:pt x="966" y="218"/>
                  </a:lnTo>
                  <a:lnTo>
                    <a:pt x="976" y="214"/>
                  </a:lnTo>
                  <a:lnTo>
                    <a:pt x="975" y="211"/>
                  </a:lnTo>
                  <a:lnTo>
                    <a:pt x="963" y="214"/>
                  </a:lnTo>
                  <a:lnTo>
                    <a:pt x="976" y="206"/>
                  </a:lnTo>
                  <a:lnTo>
                    <a:pt x="971" y="202"/>
                  </a:lnTo>
                  <a:lnTo>
                    <a:pt x="966" y="202"/>
                  </a:lnTo>
                  <a:lnTo>
                    <a:pt x="971" y="198"/>
                  </a:lnTo>
                  <a:lnTo>
                    <a:pt x="969" y="195"/>
                  </a:lnTo>
                  <a:lnTo>
                    <a:pt x="965" y="188"/>
                  </a:lnTo>
                  <a:lnTo>
                    <a:pt x="965" y="184"/>
                  </a:lnTo>
                  <a:lnTo>
                    <a:pt x="960" y="186"/>
                  </a:lnTo>
                  <a:lnTo>
                    <a:pt x="964" y="182"/>
                  </a:lnTo>
                  <a:lnTo>
                    <a:pt x="955" y="186"/>
                  </a:lnTo>
                  <a:lnTo>
                    <a:pt x="955" y="190"/>
                  </a:lnTo>
                  <a:lnTo>
                    <a:pt x="948" y="190"/>
                  </a:lnTo>
                  <a:lnTo>
                    <a:pt x="952" y="195"/>
                  </a:lnTo>
                  <a:lnTo>
                    <a:pt x="947" y="198"/>
                  </a:lnTo>
                  <a:lnTo>
                    <a:pt x="942" y="201"/>
                  </a:lnTo>
                  <a:lnTo>
                    <a:pt x="935" y="208"/>
                  </a:lnTo>
                  <a:lnTo>
                    <a:pt x="933" y="213"/>
                  </a:lnTo>
                  <a:lnTo>
                    <a:pt x="930" y="206"/>
                  </a:lnTo>
                  <a:lnTo>
                    <a:pt x="917" y="213"/>
                  </a:lnTo>
                  <a:lnTo>
                    <a:pt x="907" y="220"/>
                  </a:lnTo>
                  <a:lnTo>
                    <a:pt x="909" y="214"/>
                  </a:lnTo>
                  <a:lnTo>
                    <a:pt x="904" y="217"/>
                  </a:lnTo>
                  <a:lnTo>
                    <a:pt x="906" y="211"/>
                  </a:lnTo>
                  <a:lnTo>
                    <a:pt x="899" y="219"/>
                  </a:lnTo>
                  <a:lnTo>
                    <a:pt x="885" y="223"/>
                  </a:lnTo>
                  <a:lnTo>
                    <a:pt x="904" y="214"/>
                  </a:lnTo>
                  <a:lnTo>
                    <a:pt x="901" y="204"/>
                  </a:lnTo>
                  <a:lnTo>
                    <a:pt x="885" y="207"/>
                  </a:lnTo>
                  <a:lnTo>
                    <a:pt x="881" y="207"/>
                  </a:lnTo>
                  <a:lnTo>
                    <a:pt x="887" y="204"/>
                  </a:lnTo>
                  <a:lnTo>
                    <a:pt x="892" y="205"/>
                  </a:lnTo>
                  <a:lnTo>
                    <a:pt x="897" y="196"/>
                  </a:lnTo>
                  <a:lnTo>
                    <a:pt x="893" y="194"/>
                  </a:lnTo>
                  <a:lnTo>
                    <a:pt x="898" y="187"/>
                  </a:lnTo>
                  <a:lnTo>
                    <a:pt x="882" y="184"/>
                  </a:lnTo>
                  <a:lnTo>
                    <a:pt x="901" y="183"/>
                  </a:lnTo>
                  <a:lnTo>
                    <a:pt x="904" y="175"/>
                  </a:lnTo>
                  <a:lnTo>
                    <a:pt x="906" y="171"/>
                  </a:lnTo>
                  <a:lnTo>
                    <a:pt x="901" y="171"/>
                  </a:lnTo>
                  <a:lnTo>
                    <a:pt x="883" y="164"/>
                  </a:lnTo>
                  <a:lnTo>
                    <a:pt x="888" y="159"/>
                  </a:lnTo>
                  <a:lnTo>
                    <a:pt x="883" y="160"/>
                  </a:lnTo>
                  <a:lnTo>
                    <a:pt x="879" y="154"/>
                  </a:lnTo>
                  <a:lnTo>
                    <a:pt x="880" y="152"/>
                  </a:lnTo>
                  <a:lnTo>
                    <a:pt x="868" y="146"/>
                  </a:lnTo>
                  <a:lnTo>
                    <a:pt x="853" y="151"/>
                  </a:lnTo>
                  <a:lnTo>
                    <a:pt x="839" y="151"/>
                  </a:lnTo>
                  <a:lnTo>
                    <a:pt x="844" y="150"/>
                  </a:lnTo>
                  <a:lnTo>
                    <a:pt x="820" y="146"/>
                  </a:lnTo>
                  <a:lnTo>
                    <a:pt x="809" y="158"/>
                  </a:lnTo>
                  <a:lnTo>
                    <a:pt x="810" y="163"/>
                  </a:lnTo>
                  <a:lnTo>
                    <a:pt x="802" y="174"/>
                  </a:lnTo>
                  <a:lnTo>
                    <a:pt x="805" y="174"/>
                  </a:lnTo>
                  <a:lnTo>
                    <a:pt x="802" y="186"/>
                  </a:lnTo>
                  <a:lnTo>
                    <a:pt x="796" y="192"/>
                  </a:lnTo>
                  <a:lnTo>
                    <a:pt x="793" y="193"/>
                  </a:lnTo>
                  <a:lnTo>
                    <a:pt x="773" y="210"/>
                  </a:lnTo>
                  <a:lnTo>
                    <a:pt x="787" y="225"/>
                  </a:lnTo>
                  <a:lnTo>
                    <a:pt x="779" y="240"/>
                  </a:lnTo>
                  <a:lnTo>
                    <a:pt x="772" y="254"/>
                  </a:lnTo>
                  <a:lnTo>
                    <a:pt x="753" y="264"/>
                  </a:lnTo>
                  <a:lnTo>
                    <a:pt x="733" y="272"/>
                  </a:lnTo>
                  <a:lnTo>
                    <a:pt x="724" y="276"/>
                  </a:lnTo>
                  <a:lnTo>
                    <a:pt x="725" y="288"/>
                  </a:lnTo>
                  <a:lnTo>
                    <a:pt x="720" y="312"/>
                  </a:lnTo>
                  <a:lnTo>
                    <a:pt x="713" y="321"/>
                  </a:lnTo>
                  <a:lnTo>
                    <a:pt x="708" y="330"/>
                  </a:lnTo>
                  <a:lnTo>
                    <a:pt x="705" y="333"/>
                  </a:lnTo>
                  <a:lnTo>
                    <a:pt x="702" y="327"/>
                  </a:lnTo>
                  <a:lnTo>
                    <a:pt x="693" y="338"/>
                  </a:lnTo>
                  <a:lnTo>
                    <a:pt x="695" y="343"/>
                  </a:lnTo>
                  <a:lnTo>
                    <a:pt x="685" y="332"/>
                  </a:lnTo>
                  <a:lnTo>
                    <a:pt x="675" y="338"/>
                  </a:lnTo>
                  <a:lnTo>
                    <a:pt x="685" y="330"/>
                  </a:lnTo>
                  <a:lnTo>
                    <a:pt x="675" y="318"/>
                  </a:lnTo>
                  <a:lnTo>
                    <a:pt x="677" y="313"/>
                  </a:lnTo>
                  <a:lnTo>
                    <a:pt x="676" y="301"/>
                  </a:lnTo>
                  <a:lnTo>
                    <a:pt x="682" y="284"/>
                  </a:lnTo>
                  <a:lnTo>
                    <a:pt x="689" y="267"/>
                  </a:lnTo>
                  <a:lnTo>
                    <a:pt x="672" y="266"/>
                  </a:lnTo>
                  <a:lnTo>
                    <a:pt x="655" y="266"/>
                  </a:lnTo>
                  <a:lnTo>
                    <a:pt x="651" y="268"/>
                  </a:lnTo>
                  <a:lnTo>
                    <a:pt x="657" y="264"/>
                  </a:lnTo>
                  <a:lnTo>
                    <a:pt x="645" y="258"/>
                  </a:lnTo>
                  <a:lnTo>
                    <a:pt x="631" y="252"/>
                  </a:lnTo>
                  <a:lnTo>
                    <a:pt x="617" y="237"/>
                  </a:lnTo>
                  <a:lnTo>
                    <a:pt x="599" y="231"/>
                  </a:lnTo>
                  <a:lnTo>
                    <a:pt x="576" y="237"/>
                  </a:lnTo>
                  <a:lnTo>
                    <a:pt x="577" y="236"/>
                  </a:lnTo>
                  <a:lnTo>
                    <a:pt x="574" y="237"/>
                  </a:lnTo>
                  <a:lnTo>
                    <a:pt x="585" y="217"/>
                  </a:lnTo>
                  <a:lnTo>
                    <a:pt x="583" y="207"/>
                  </a:lnTo>
                  <a:lnTo>
                    <a:pt x="571" y="210"/>
                  </a:lnTo>
                  <a:lnTo>
                    <a:pt x="567" y="216"/>
                  </a:lnTo>
                  <a:lnTo>
                    <a:pt x="571" y="207"/>
                  </a:lnTo>
                  <a:lnTo>
                    <a:pt x="570" y="201"/>
                  </a:lnTo>
                  <a:lnTo>
                    <a:pt x="588" y="177"/>
                  </a:lnTo>
                  <a:lnTo>
                    <a:pt x="616" y="159"/>
                  </a:lnTo>
                  <a:lnTo>
                    <a:pt x="617" y="154"/>
                  </a:lnTo>
                  <a:lnTo>
                    <a:pt x="630" y="150"/>
                  </a:lnTo>
                  <a:lnTo>
                    <a:pt x="628" y="148"/>
                  </a:lnTo>
                  <a:lnTo>
                    <a:pt x="633" y="150"/>
                  </a:lnTo>
                  <a:lnTo>
                    <a:pt x="639" y="145"/>
                  </a:lnTo>
                  <a:lnTo>
                    <a:pt x="646" y="144"/>
                  </a:lnTo>
                  <a:lnTo>
                    <a:pt x="647" y="140"/>
                  </a:lnTo>
                  <a:lnTo>
                    <a:pt x="667" y="136"/>
                  </a:lnTo>
                  <a:lnTo>
                    <a:pt x="669" y="132"/>
                  </a:lnTo>
                  <a:lnTo>
                    <a:pt x="654" y="128"/>
                  </a:lnTo>
                  <a:lnTo>
                    <a:pt x="657" y="127"/>
                  </a:lnTo>
                  <a:lnTo>
                    <a:pt x="642" y="124"/>
                  </a:lnTo>
                  <a:lnTo>
                    <a:pt x="642" y="120"/>
                  </a:lnTo>
                  <a:lnTo>
                    <a:pt x="660" y="123"/>
                  </a:lnTo>
                  <a:lnTo>
                    <a:pt x="679" y="127"/>
                  </a:lnTo>
                  <a:lnTo>
                    <a:pt x="685" y="122"/>
                  </a:lnTo>
                  <a:lnTo>
                    <a:pt x="689" y="120"/>
                  </a:lnTo>
                  <a:lnTo>
                    <a:pt x="696" y="122"/>
                  </a:lnTo>
                  <a:lnTo>
                    <a:pt x="696" y="118"/>
                  </a:lnTo>
                  <a:lnTo>
                    <a:pt x="703" y="121"/>
                  </a:lnTo>
                  <a:lnTo>
                    <a:pt x="731" y="106"/>
                  </a:lnTo>
                  <a:lnTo>
                    <a:pt x="735" y="102"/>
                  </a:lnTo>
                  <a:lnTo>
                    <a:pt x="709" y="98"/>
                  </a:lnTo>
                  <a:lnTo>
                    <a:pt x="694" y="91"/>
                  </a:lnTo>
                  <a:lnTo>
                    <a:pt x="723" y="96"/>
                  </a:lnTo>
                  <a:lnTo>
                    <a:pt x="731" y="100"/>
                  </a:lnTo>
                  <a:lnTo>
                    <a:pt x="759"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4" name="Freeform 393"/>
            <p:cNvSpPr>
              <a:spLocks/>
            </p:cNvSpPr>
            <p:nvPr/>
          </p:nvSpPr>
          <p:spPr bwMode="auto">
            <a:xfrm>
              <a:off x="1414" y="1288"/>
              <a:ext cx="313" cy="202"/>
            </a:xfrm>
            <a:custGeom>
              <a:avLst/>
              <a:gdLst/>
              <a:ahLst/>
              <a:cxnLst>
                <a:cxn ang="0">
                  <a:pos x="205" y="41"/>
                </a:cxn>
                <a:cxn ang="0">
                  <a:pos x="195" y="33"/>
                </a:cxn>
                <a:cxn ang="0">
                  <a:pos x="183" y="33"/>
                </a:cxn>
                <a:cxn ang="0">
                  <a:pos x="163" y="39"/>
                </a:cxn>
                <a:cxn ang="0">
                  <a:pos x="168" y="27"/>
                </a:cxn>
                <a:cxn ang="0">
                  <a:pos x="177" y="22"/>
                </a:cxn>
                <a:cxn ang="0">
                  <a:pos x="133" y="23"/>
                </a:cxn>
                <a:cxn ang="0">
                  <a:pos x="130" y="25"/>
                </a:cxn>
                <a:cxn ang="0">
                  <a:pos x="120" y="23"/>
                </a:cxn>
                <a:cxn ang="0">
                  <a:pos x="109" y="22"/>
                </a:cxn>
                <a:cxn ang="0">
                  <a:pos x="94" y="6"/>
                </a:cxn>
                <a:cxn ang="0">
                  <a:pos x="75" y="12"/>
                </a:cxn>
                <a:cxn ang="0">
                  <a:pos x="69" y="21"/>
                </a:cxn>
                <a:cxn ang="0">
                  <a:pos x="61" y="34"/>
                </a:cxn>
                <a:cxn ang="0">
                  <a:pos x="47" y="27"/>
                </a:cxn>
                <a:cxn ang="0">
                  <a:pos x="24" y="15"/>
                </a:cxn>
                <a:cxn ang="0">
                  <a:pos x="5" y="48"/>
                </a:cxn>
                <a:cxn ang="0">
                  <a:pos x="31" y="55"/>
                </a:cxn>
                <a:cxn ang="0">
                  <a:pos x="76" y="53"/>
                </a:cxn>
                <a:cxn ang="0">
                  <a:pos x="115" y="51"/>
                </a:cxn>
                <a:cxn ang="0">
                  <a:pos x="126" y="61"/>
                </a:cxn>
                <a:cxn ang="0">
                  <a:pos x="123" y="76"/>
                </a:cxn>
                <a:cxn ang="0">
                  <a:pos x="153" y="75"/>
                </a:cxn>
                <a:cxn ang="0">
                  <a:pos x="144" y="106"/>
                </a:cxn>
                <a:cxn ang="0">
                  <a:pos x="178" y="114"/>
                </a:cxn>
                <a:cxn ang="0">
                  <a:pos x="137" y="108"/>
                </a:cxn>
                <a:cxn ang="0">
                  <a:pos x="99" y="133"/>
                </a:cxn>
                <a:cxn ang="0">
                  <a:pos x="61" y="139"/>
                </a:cxn>
                <a:cxn ang="0">
                  <a:pos x="103" y="139"/>
                </a:cxn>
                <a:cxn ang="0">
                  <a:pos x="117" y="138"/>
                </a:cxn>
                <a:cxn ang="0">
                  <a:pos x="127" y="154"/>
                </a:cxn>
                <a:cxn ang="0">
                  <a:pos x="148" y="169"/>
                </a:cxn>
                <a:cxn ang="0">
                  <a:pos x="175" y="163"/>
                </a:cxn>
                <a:cxn ang="0">
                  <a:pos x="189" y="163"/>
                </a:cxn>
                <a:cxn ang="0">
                  <a:pos x="205" y="171"/>
                </a:cxn>
                <a:cxn ang="0">
                  <a:pos x="215" y="157"/>
                </a:cxn>
                <a:cxn ang="0">
                  <a:pos x="214" y="144"/>
                </a:cxn>
                <a:cxn ang="0">
                  <a:pos x="208" y="136"/>
                </a:cxn>
                <a:cxn ang="0">
                  <a:pos x="201" y="131"/>
                </a:cxn>
                <a:cxn ang="0">
                  <a:pos x="196" y="120"/>
                </a:cxn>
                <a:cxn ang="0">
                  <a:pos x="205" y="115"/>
                </a:cxn>
                <a:cxn ang="0">
                  <a:pos x="215" y="109"/>
                </a:cxn>
                <a:cxn ang="0">
                  <a:pos x="243" y="112"/>
                </a:cxn>
                <a:cxn ang="0">
                  <a:pos x="226" y="126"/>
                </a:cxn>
                <a:cxn ang="0">
                  <a:pos x="237" y="131"/>
                </a:cxn>
                <a:cxn ang="0">
                  <a:pos x="250" y="118"/>
                </a:cxn>
                <a:cxn ang="0">
                  <a:pos x="259" y="117"/>
                </a:cxn>
                <a:cxn ang="0">
                  <a:pos x="276" y="111"/>
                </a:cxn>
                <a:cxn ang="0">
                  <a:pos x="273" y="102"/>
                </a:cxn>
                <a:cxn ang="0">
                  <a:pos x="257" y="106"/>
                </a:cxn>
                <a:cxn ang="0">
                  <a:pos x="246" y="100"/>
                </a:cxn>
                <a:cxn ang="0">
                  <a:pos x="246" y="96"/>
                </a:cxn>
                <a:cxn ang="0">
                  <a:pos x="246" y="90"/>
                </a:cxn>
                <a:cxn ang="0">
                  <a:pos x="235" y="89"/>
                </a:cxn>
                <a:cxn ang="0">
                  <a:pos x="229" y="84"/>
                </a:cxn>
                <a:cxn ang="0">
                  <a:pos x="210" y="76"/>
                </a:cxn>
                <a:cxn ang="0">
                  <a:pos x="219" y="72"/>
                </a:cxn>
                <a:cxn ang="0">
                  <a:pos x="214" y="67"/>
                </a:cxn>
                <a:cxn ang="0">
                  <a:pos x="221" y="61"/>
                </a:cxn>
                <a:cxn ang="0">
                  <a:pos x="215" y="58"/>
                </a:cxn>
                <a:cxn ang="0">
                  <a:pos x="234" y="47"/>
                </a:cxn>
                <a:cxn ang="0">
                  <a:pos x="202" y="48"/>
                </a:cxn>
              </a:cxnLst>
              <a:rect l="0" t="0" r="r" b="b"/>
              <a:pathLst>
                <a:path w="282" h="183">
                  <a:moveTo>
                    <a:pt x="197" y="48"/>
                  </a:moveTo>
                  <a:lnTo>
                    <a:pt x="193" y="48"/>
                  </a:lnTo>
                  <a:lnTo>
                    <a:pt x="213" y="42"/>
                  </a:lnTo>
                  <a:lnTo>
                    <a:pt x="205" y="41"/>
                  </a:lnTo>
                  <a:lnTo>
                    <a:pt x="190" y="45"/>
                  </a:lnTo>
                  <a:lnTo>
                    <a:pt x="199" y="39"/>
                  </a:lnTo>
                  <a:lnTo>
                    <a:pt x="209" y="37"/>
                  </a:lnTo>
                  <a:lnTo>
                    <a:pt x="195" y="33"/>
                  </a:lnTo>
                  <a:lnTo>
                    <a:pt x="183" y="40"/>
                  </a:lnTo>
                  <a:lnTo>
                    <a:pt x="184" y="36"/>
                  </a:lnTo>
                  <a:lnTo>
                    <a:pt x="178" y="40"/>
                  </a:lnTo>
                  <a:lnTo>
                    <a:pt x="183" y="33"/>
                  </a:lnTo>
                  <a:lnTo>
                    <a:pt x="177" y="36"/>
                  </a:lnTo>
                  <a:lnTo>
                    <a:pt x="183" y="30"/>
                  </a:lnTo>
                  <a:lnTo>
                    <a:pt x="180" y="31"/>
                  </a:lnTo>
                  <a:lnTo>
                    <a:pt x="163" y="39"/>
                  </a:lnTo>
                  <a:lnTo>
                    <a:pt x="171" y="33"/>
                  </a:lnTo>
                  <a:lnTo>
                    <a:pt x="166" y="33"/>
                  </a:lnTo>
                  <a:lnTo>
                    <a:pt x="183" y="27"/>
                  </a:lnTo>
                  <a:lnTo>
                    <a:pt x="168" y="27"/>
                  </a:lnTo>
                  <a:lnTo>
                    <a:pt x="162" y="30"/>
                  </a:lnTo>
                  <a:lnTo>
                    <a:pt x="168" y="24"/>
                  </a:lnTo>
                  <a:lnTo>
                    <a:pt x="157" y="29"/>
                  </a:lnTo>
                  <a:lnTo>
                    <a:pt x="177" y="22"/>
                  </a:lnTo>
                  <a:lnTo>
                    <a:pt x="169" y="18"/>
                  </a:lnTo>
                  <a:lnTo>
                    <a:pt x="142" y="18"/>
                  </a:lnTo>
                  <a:lnTo>
                    <a:pt x="150" y="23"/>
                  </a:lnTo>
                  <a:lnTo>
                    <a:pt x="133" y="23"/>
                  </a:lnTo>
                  <a:lnTo>
                    <a:pt x="138" y="29"/>
                  </a:lnTo>
                  <a:lnTo>
                    <a:pt x="130" y="27"/>
                  </a:lnTo>
                  <a:lnTo>
                    <a:pt x="131" y="28"/>
                  </a:lnTo>
                  <a:lnTo>
                    <a:pt x="130" y="25"/>
                  </a:lnTo>
                  <a:lnTo>
                    <a:pt x="130" y="21"/>
                  </a:lnTo>
                  <a:lnTo>
                    <a:pt x="126" y="22"/>
                  </a:lnTo>
                  <a:lnTo>
                    <a:pt x="120" y="22"/>
                  </a:lnTo>
                  <a:lnTo>
                    <a:pt x="120" y="23"/>
                  </a:lnTo>
                  <a:lnTo>
                    <a:pt x="115" y="23"/>
                  </a:lnTo>
                  <a:lnTo>
                    <a:pt x="109" y="25"/>
                  </a:lnTo>
                  <a:lnTo>
                    <a:pt x="113" y="19"/>
                  </a:lnTo>
                  <a:lnTo>
                    <a:pt x="109" y="22"/>
                  </a:lnTo>
                  <a:lnTo>
                    <a:pt x="124" y="15"/>
                  </a:lnTo>
                  <a:lnTo>
                    <a:pt x="121" y="1"/>
                  </a:lnTo>
                  <a:lnTo>
                    <a:pt x="91" y="4"/>
                  </a:lnTo>
                  <a:lnTo>
                    <a:pt x="94" y="6"/>
                  </a:lnTo>
                  <a:lnTo>
                    <a:pt x="83" y="7"/>
                  </a:lnTo>
                  <a:lnTo>
                    <a:pt x="76" y="9"/>
                  </a:lnTo>
                  <a:lnTo>
                    <a:pt x="88" y="11"/>
                  </a:lnTo>
                  <a:lnTo>
                    <a:pt x="75" y="12"/>
                  </a:lnTo>
                  <a:lnTo>
                    <a:pt x="83" y="16"/>
                  </a:lnTo>
                  <a:lnTo>
                    <a:pt x="66" y="13"/>
                  </a:lnTo>
                  <a:lnTo>
                    <a:pt x="65" y="21"/>
                  </a:lnTo>
                  <a:lnTo>
                    <a:pt x="69" y="21"/>
                  </a:lnTo>
                  <a:lnTo>
                    <a:pt x="71" y="27"/>
                  </a:lnTo>
                  <a:lnTo>
                    <a:pt x="58" y="24"/>
                  </a:lnTo>
                  <a:lnTo>
                    <a:pt x="55" y="28"/>
                  </a:lnTo>
                  <a:lnTo>
                    <a:pt x="61" y="34"/>
                  </a:lnTo>
                  <a:lnTo>
                    <a:pt x="52" y="40"/>
                  </a:lnTo>
                  <a:lnTo>
                    <a:pt x="35" y="40"/>
                  </a:lnTo>
                  <a:lnTo>
                    <a:pt x="57" y="35"/>
                  </a:lnTo>
                  <a:lnTo>
                    <a:pt x="47" y="27"/>
                  </a:lnTo>
                  <a:lnTo>
                    <a:pt x="66" y="9"/>
                  </a:lnTo>
                  <a:lnTo>
                    <a:pt x="84" y="0"/>
                  </a:lnTo>
                  <a:lnTo>
                    <a:pt x="46" y="4"/>
                  </a:lnTo>
                  <a:lnTo>
                    <a:pt x="24" y="15"/>
                  </a:lnTo>
                  <a:lnTo>
                    <a:pt x="0" y="35"/>
                  </a:lnTo>
                  <a:lnTo>
                    <a:pt x="25" y="41"/>
                  </a:lnTo>
                  <a:lnTo>
                    <a:pt x="3" y="41"/>
                  </a:lnTo>
                  <a:lnTo>
                    <a:pt x="5" y="48"/>
                  </a:lnTo>
                  <a:lnTo>
                    <a:pt x="19" y="51"/>
                  </a:lnTo>
                  <a:lnTo>
                    <a:pt x="21" y="51"/>
                  </a:lnTo>
                  <a:lnTo>
                    <a:pt x="25" y="49"/>
                  </a:lnTo>
                  <a:lnTo>
                    <a:pt x="31" y="55"/>
                  </a:lnTo>
                  <a:lnTo>
                    <a:pt x="75" y="57"/>
                  </a:lnTo>
                  <a:lnTo>
                    <a:pt x="64" y="51"/>
                  </a:lnTo>
                  <a:lnTo>
                    <a:pt x="84" y="59"/>
                  </a:lnTo>
                  <a:lnTo>
                    <a:pt x="76" y="53"/>
                  </a:lnTo>
                  <a:lnTo>
                    <a:pt x="109" y="57"/>
                  </a:lnTo>
                  <a:lnTo>
                    <a:pt x="107" y="49"/>
                  </a:lnTo>
                  <a:lnTo>
                    <a:pt x="115" y="46"/>
                  </a:lnTo>
                  <a:lnTo>
                    <a:pt x="115" y="51"/>
                  </a:lnTo>
                  <a:lnTo>
                    <a:pt x="124" y="53"/>
                  </a:lnTo>
                  <a:lnTo>
                    <a:pt x="120" y="58"/>
                  </a:lnTo>
                  <a:lnTo>
                    <a:pt x="130" y="59"/>
                  </a:lnTo>
                  <a:lnTo>
                    <a:pt x="126" y="61"/>
                  </a:lnTo>
                  <a:lnTo>
                    <a:pt x="132" y="60"/>
                  </a:lnTo>
                  <a:lnTo>
                    <a:pt x="135" y="70"/>
                  </a:lnTo>
                  <a:lnTo>
                    <a:pt x="124" y="72"/>
                  </a:lnTo>
                  <a:lnTo>
                    <a:pt x="123" y="76"/>
                  </a:lnTo>
                  <a:lnTo>
                    <a:pt x="137" y="71"/>
                  </a:lnTo>
                  <a:lnTo>
                    <a:pt x="143" y="72"/>
                  </a:lnTo>
                  <a:lnTo>
                    <a:pt x="149" y="78"/>
                  </a:lnTo>
                  <a:lnTo>
                    <a:pt x="153" y="75"/>
                  </a:lnTo>
                  <a:lnTo>
                    <a:pt x="150" y="82"/>
                  </a:lnTo>
                  <a:lnTo>
                    <a:pt x="157" y="83"/>
                  </a:lnTo>
                  <a:lnTo>
                    <a:pt x="155" y="100"/>
                  </a:lnTo>
                  <a:lnTo>
                    <a:pt x="144" y="106"/>
                  </a:lnTo>
                  <a:lnTo>
                    <a:pt x="162" y="107"/>
                  </a:lnTo>
                  <a:lnTo>
                    <a:pt x="171" y="101"/>
                  </a:lnTo>
                  <a:lnTo>
                    <a:pt x="183" y="109"/>
                  </a:lnTo>
                  <a:lnTo>
                    <a:pt x="178" y="114"/>
                  </a:lnTo>
                  <a:lnTo>
                    <a:pt x="165" y="114"/>
                  </a:lnTo>
                  <a:lnTo>
                    <a:pt x="159" y="115"/>
                  </a:lnTo>
                  <a:lnTo>
                    <a:pt x="162" y="109"/>
                  </a:lnTo>
                  <a:lnTo>
                    <a:pt x="137" y="108"/>
                  </a:lnTo>
                  <a:lnTo>
                    <a:pt x="120" y="115"/>
                  </a:lnTo>
                  <a:lnTo>
                    <a:pt x="124" y="124"/>
                  </a:lnTo>
                  <a:lnTo>
                    <a:pt x="96" y="130"/>
                  </a:lnTo>
                  <a:lnTo>
                    <a:pt x="99" y="133"/>
                  </a:lnTo>
                  <a:lnTo>
                    <a:pt x="96" y="136"/>
                  </a:lnTo>
                  <a:lnTo>
                    <a:pt x="96" y="129"/>
                  </a:lnTo>
                  <a:lnTo>
                    <a:pt x="76" y="127"/>
                  </a:lnTo>
                  <a:lnTo>
                    <a:pt x="61" y="139"/>
                  </a:lnTo>
                  <a:lnTo>
                    <a:pt x="76" y="144"/>
                  </a:lnTo>
                  <a:lnTo>
                    <a:pt x="90" y="142"/>
                  </a:lnTo>
                  <a:lnTo>
                    <a:pt x="93" y="139"/>
                  </a:lnTo>
                  <a:lnTo>
                    <a:pt x="103" y="139"/>
                  </a:lnTo>
                  <a:lnTo>
                    <a:pt x="106" y="133"/>
                  </a:lnTo>
                  <a:lnTo>
                    <a:pt x="109" y="138"/>
                  </a:lnTo>
                  <a:lnTo>
                    <a:pt x="109" y="143"/>
                  </a:lnTo>
                  <a:lnTo>
                    <a:pt x="117" y="138"/>
                  </a:lnTo>
                  <a:lnTo>
                    <a:pt x="121" y="139"/>
                  </a:lnTo>
                  <a:lnTo>
                    <a:pt x="119" y="145"/>
                  </a:lnTo>
                  <a:lnTo>
                    <a:pt x="126" y="150"/>
                  </a:lnTo>
                  <a:lnTo>
                    <a:pt x="127" y="154"/>
                  </a:lnTo>
                  <a:lnTo>
                    <a:pt x="136" y="155"/>
                  </a:lnTo>
                  <a:lnTo>
                    <a:pt x="127" y="159"/>
                  </a:lnTo>
                  <a:lnTo>
                    <a:pt x="133" y="163"/>
                  </a:lnTo>
                  <a:lnTo>
                    <a:pt x="148" y="169"/>
                  </a:lnTo>
                  <a:lnTo>
                    <a:pt x="167" y="177"/>
                  </a:lnTo>
                  <a:lnTo>
                    <a:pt x="186" y="183"/>
                  </a:lnTo>
                  <a:lnTo>
                    <a:pt x="186" y="175"/>
                  </a:lnTo>
                  <a:lnTo>
                    <a:pt x="175" y="163"/>
                  </a:lnTo>
                  <a:lnTo>
                    <a:pt x="165" y="153"/>
                  </a:lnTo>
                  <a:lnTo>
                    <a:pt x="178" y="159"/>
                  </a:lnTo>
                  <a:lnTo>
                    <a:pt x="180" y="154"/>
                  </a:lnTo>
                  <a:lnTo>
                    <a:pt x="189" y="163"/>
                  </a:lnTo>
                  <a:lnTo>
                    <a:pt x="190" y="161"/>
                  </a:lnTo>
                  <a:lnTo>
                    <a:pt x="195" y="165"/>
                  </a:lnTo>
                  <a:lnTo>
                    <a:pt x="203" y="168"/>
                  </a:lnTo>
                  <a:lnTo>
                    <a:pt x="205" y="171"/>
                  </a:lnTo>
                  <a:lnTo>
                    <a:pt x="207" y="166"/>
                  </a:lnTo>
                  <a:lnTo>
                    <a:pt x="210" y="165"/>
                  </a:lnTo>
                  <a:lnTo>
                    <a:pt x="213" y="154"/>
                  </a:lnTo>
                  <a:lnTo>
                    <a:pt x="215" y="157"/>
                  </a:lnTo>
                  <a:lnTo>
                    <a:pt x="217" y="153"/>
                  </a:lnTo>
                  <a:lnTo>
                    <a:pt x="219" y="148"/>
                  </a:lnTo>
                  <a:lnTo>
                    <a:pt x="215" y="147"/>
                  </a:lnTo>
                  <a:lnTo>
                    <a:pt x="214" y="144"/>
                  </a:lnTo>
                  <a:lnTo>
                    <a:pt x="215" y="141"/>
                  </a:lnTo>
                  <a:lnTo>
                    <a:pt x="214" y="138"/>
                  </a:lnTo>
                  <a:lnTo>
                    <a:pt x="210" y="137"/>
                  </a:lnTo>
                  <a:lnTo>
                    <a:pt x="208" y="136"/>
                  </a:lnTo>
                  <a:lnTo>
                    <a:pt x="204" y="132"/>
                  </a:lnTo>
                  <a:lnTo>
                    <a:pt x="202" y="133"/>
                  </a:lnTo>
                  <a:lnTo>
                    <a:pt x="204" y="130"/>
                  </a:lnTo>
                  <a:lnTo>
                    <a:pt x="201" y="131"/>
                  </a:lnTo>
                  <a:lnTo>
                    <a:pt x="202" y="126"/>
                  </a:lnTo>
                  <a:lnTo>
                    <a:pt x="202" y="123"/>
                  </a:lnTo>
                  <a:lnTo>
                    <a:pt x="193" y="123"/>
                  </a:lnTo>
                  <a:lnTo>
                    <a:pt x="196" y="120"/>
                  </a:lnTo>
                  <a:lnTo>
                    <a:pt x="195" y="117"/>
                  </a:lnTo>
                  <a:lnTo>
                    <a:pt x="192" y="112"/>
                  </a:lnTo>
                  <a:lnTo>
                    <a:pt x="202" y="119"/>
                  </a:lnTo>
                  <a:lnTo>
                    <a:pt x="205" y="115"/>
                  </a:lnTo>
                  <a:lnTo>
                    <a:pt x="204" y="111"/>
                  </a:lnTo>
                  <a:lnTo>
                    <a:pt x="210" y="109"/>
                  </a:lnTo>
                  <a:lnTo>
                    <a:pt x="209" y="108"/>
                  </a:lnTo>
                  <a:lnTo>
                    <a:pt x="215" y="109"/>
                  </a:lnTo>
                  <a:lnTo>
                    <a:pt x="226" y="114"/>
                  </a:lnTo>
                  <a:lnTo>
                    <a:pt x="229" y="112"/>
                  </a:lnTo>
                  <a:lnTo>
                    <a:pt x="221" y="118"/>
                  </a:lnTo>
                  <a:lnTo>
                    <a:pt x="243" y="112"/>
                  </a:lnTo>
                  <a:lnTo>
                    <a:pt x="233" y="117"/>
                  </a:lnTo>
                  <a:lnTo>
                    <a:pt x="223" y="123"/>
                  </a:lnTo>
                  <a:lnTo>
                    <a:pt x="227" y="123"/>
                  </a:lnTo>
                  <a:lnTo>
                    <a:pt x="226" y="126"/>
                  </a:lnTo>
                  <a:lnTo>
                    <a:pt x="232" y="126"/>
                  </a:lnTo>
                  <a:lnTo>
                    <a:pt x="229" y="131"/>
                  </a:lnTo>
                  <a:lnTo>
                    <a:pt x="233" y="127"/>
                  </a:lnTo>
                  <a:lnTo>
                    <a:pt x="237" y="131"/>
                  </a:lnTo>
                  <a:lnTo>
                    <a:pt x="244" y="132"/>
                  </a:lnTo>
                  <a:lnTo>
                    <a:pt x="244" y="125"/>
                  </a:lnTo>
                  <a:lnTo>
                    <a:pt x="245" y="124"/>
                  </a:lnTo>
                  <a:lnTo>
                    <a:pt x="250" y="118"/>
                  </a:lnTo>
                  <a:lnTo>
                    <a:pt x="255" y="123"/>
                  </a:lnTo>
                  <a:lnTo>
                    <a:pt x="257" y="119"/>
                  </a:lnTo>
                  <a:lnTo>
                    <a:pt x="263" y="118"/>
                  </a:lnTo>
                  <a:lnTo>
                    <a:pt x="259" y="117"/>
                  </a:lnTo>
                  <a:lnTo>
                    <a:pt x="268" y="115"/>
                  </a:lnTo>
                  <a:lnTo>
                    <a:pt x="262" y="113"/>
                  </a:lnTo>
                  <a:lnTo>
                    <a:pt x="268" y="111"/>
                  </a:lnTo>
                  <a:lnTo>
                    <a:pt x="276" y="111"/>
                  </a:lnTo>
                  <a:lnTo>
                    <a:pt x="276" y="109"/>
                  </a:lnTo>
                  <a:lnTo>
                    <a:pt x="275" y="107"/>
                  </a:lnTo>
                  <a:lnTo>
                    <a:pt x="282" y="107"/>
                  </a:lnTo>
                  <a:lnTo>
                    <a:pt x="273" y="102"/>
                  </a:lnTo>
                  <a:lnTo>
                    <a:pt x="269" y="105"/>
                  </a:lnTo>
                  <a:lnTo>
                    <a:pt x="265" y="105"/>
                  </a:lnTo>
                  <a:lnTo>
                    <a:pt x="265" y="102"/>
                  </a:lnTo>
                  <a:lnTo>
                    <a:pt x="257" y="106"/>
                  </a:lnTo>
                  <a:lnTo>
                    <a:pt x="256" y="105"/>
                  </a:lnTo>
                  <a:lnTo>
                    <a:pt x="263" y="97"/>
                  </a:lnTo>
                  <a:lnTo>
                    <a:pt x="258" y="100"/>
                  </a:lnTo>
                  <a:lnTo>
                    <a:pt x="246" y="100"/>
                  </a:lnTo>
                  <a:lnTo>
                    <a:pt x="255" y="97"/>
                  </a:lnTo>
                  <a:lnTo>
                    <a:pt x="245" y="99"/>
                  </a:lnTo>
                  <a:lnTo>
                    <a:pt x="252" y="97"/>
                  </a:lnTo>
                  <a:lnTo>
                    <a:pt x="246" y="96"/>
                  </a:lnTo>
                  <a:lnTo>
                    <a:pt x="256" y="94"/>
                  </a:lnTo>
                  <a:lnTo>
                    <a:pt x="256" y="93"/>
                  </a:lnTo>
                  <a:lnTo>
                    <a:pt x="249" y="90"/>
                  </a:lnTo>
                  <a:lnTo>
                    <a:pt x="246" y="90"/>
                  </a:lnTo>
                  <a:lnTo>
                    <a:pt x="250" y="85"/>
                  </a:lnTo>
                  <a:lnTo>
                    <a:pt x="243" y="90"/>
                  </a:lnTo>
                  <a:lnTo>
                    <a:pt x="240" y="87"/>
                  </a:lnTo>
                  <a:lnTo>
                    <a:pt x="235" y="89"/>
                  </a:lnTo>
                  <a:lnTo>
                    <a:pt x="238" y="85"/>
                  </a:lnTo>
                  <a:lnTo>
                    <a:pt x="231" y="89"/>
                  </a:lnTo>
                  <a:lnTo>
                    <a:pt x="235" y="84"/>
                  </a:lnTo>
                  <a:lnTo>
                    <a:pt x="229" y="84"/>
                  </a:lnTo>
                  <a:lnTo>
                    <a:pt x="225" y="82"/>
                  </a:lnTo>
                  <a:lnTo>
                    <a:pt x="219" y="82"/>
                  </a:lnTo>
                  <a:lnTo>
                    <a:pt x="228" y="79"/>
                  </a:lnTo>
                  <a:lnTo>
                    <a:pt x="210" y="76"/>
                  </a:lnTo>
                  <a:lnTo>
                    <a:pt x="220" y="76"/>
                  </a:lnTo>
                  <a:lnTo>
                    <a:pt x="210" y="73"/>
                  </a:lnTo>
                  <a:lnTo>
                    <a:pt x="223" y="75"/>
                  </a:lnTo>
                  <a:lnTo>
                    <a:pt x="219" y="72"/>
                  </a:lnTo>
                  <a:lnTo>
                    <a:pt x="227" y="71"/>
                  </a:lnTo>
                  <a:lnTo>
                    <a:pt x="214" y="70"/>
                  </a:lnTo>
                  <a:lnTo>
                    <a:pt x="219" y="67"/>
                  </a:lnTo>
                  <a:lnTo>
                    <a:pt x="214" y="67"/>
                  </a:lnTo>
                  <a:lnTo>
                    <a:pt x="223" y="66"/>
                  </a:lnTo>
                  <a:lnTo>
                    <a:pt x="215" y="65"/>
                  </a:lnTo>
                  <a:lnTo>
                    <a:pt x="240" y="67"/>
                  </a:lnTo>
                  <a:lnTo>
                    <a:pt x="221" y="61"/>
                  </a:lnTo>
                  <a:lnTo>
                    <a:pt x="207" y="61"/>
                  </a:lnTo>
                  <a:lnTo>
                    <a:pt x="239" y="59"/>
                  </a:lnTo>
                  <a:lnTo>
                    <a:pt x="233" y="51"/>
                  </a:lnTo>
                  <a:lnTo>
                    <a:pt x="215" y="58"/>
                  </a:lnTo>
                  <a:lnTo>
                    <a:pt x="205" y="60"/>
                  </a:lnTo>
                  <a:lnTo>
                    <a:pt x="226" y="52"/>
                  </a:lnTo>
                  <a:lnTo>
                    <a:pt x="207" y="55"/>
                  </a:lnTo>
                  <a:lnTo>
                    <a:pt x="234" y="47"/>
                  </a:lnTo>
                  <a:lnTo>
                    <a:pt x="219" y="45"/>
                  </a:lnTo>
                  <a:lnTo>
                    <a:pt x="213" y="46"/>
                  </a:lnTo>
                  <a:lnTo>
                    <a:pt x="220" y="42"/>
                  </a:lnTo>
                  <a:lnTo>
                    <a:pt x="202" y="48"/>
                  </a:lnTo>
                  <a:lnTo>
                    <a:pt x="192" y="55"/>
                  </a:lnTo>
                  <a:lnTo>
                    <a:pt x="197" y="4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5" name="Freeform 394"/>
            <p:cNvSpPr>
              <a:spLocks/>
            </p:cNvSpPr>
            <p:nvPr/>
          </p:nvSpPr>
          <p:spPr bwMode="auto">
            <a:xfrm>
              <a:off x="1505" y="1159"/>
              <a:ext cx="382" cy="86"/>
            </a:xfrm>
            <a:custGeom>
              <a:avLst/>
              <a:gdLst/>
              <a:ahLst/>
              <a:cxnLst>
                <a:cxn ang="0">
                  <a:pos x="85" y="56"/>
                </a:cxn>
                <a:cxn ang="0">
                  <a:pos x="64" y="65"/>
                </a:cxn>
                <a:cxn ang="0">
                  <a:pos x="52" y="59"/>
                </a:cxn>
                <a:cxn ang="0">
                  <a:pos x="62" y="55"/>
                </a:cxn>
                <a:cxn ang="0">
                  <a:pos x="42" y="52"/>
                </a:cxn>
                <a:cxn ang="0">
                  <a:pos x="95" y="46"/>
                </a:cxn>
                <a:cxn ang="0">
                  <a:pos x="71" y="30"/>
                </a:cxn>
                <a:cxn ang="0">
                  <a:pos x="103" y="29"/>
                </a:cxn>
                <a:cxn ang="0">
                  <a:pos x="116" y="35"/>
                </a:cxn>
                <a:cxn ang="0">
                  <a:pos x="108" y="28"/>
                </a:cxn>
                <a:cxn ang="0">
                  <a:pos x="157" y="22"/>
                </a:cxn>
                <a:cxn ang="0">
                  <a:pos x="182" y="16"/>
                </a:cxn>
                <a:cxn ang="0">
                  <a:pos x="131" y="20"/>
                </a:cxn>
                <a:cxn ang="0">
                  <a:pos x="78" y="24"/>
                </a:cxn>
                <a:cxn ang="0">
                  <a:pos x="124" y="19"/>
                </a:cxn>
                <a:cxn ang="0">
                  <a:pos x="71" y="25"/>
                </a:cxn>
                <a:cxn ang="0">
                  <a:pos x="55" y="22"/>
                </a:cxn>
                <a:cxn ang="0">
                  <a:pos x="104" y="18"/>
                </a:cxn>
                <a:cxn ang="0">
                  <a:pos x="52" y="18"/>
                </a:cxn>
                <a:cxn ang="0">
                  <a:pos x="84" y="16"/>
                </a:cxn>
                <a:cxn ang="0">
                  <a:pos x="43" y="13"/>
                </a:cxn>
                <a:cxn ang="0">
                  <a:pos x="97" y="8"/>
                </a:cxn>
                <a:cxn ang="0">
                  <a:pos x="164" y="12"/>
                </a:cxn>
                <a:cxn ang="0">
                  <a:pos x="156" y="1"/>
                </a:cxn>
                <a:cxn ang="0">
                  <a:pos x="210" y="4"/>
                </a:cxn>
                <a:cxn ang="0">
                  <a:pos x="198" y="0"/>
                </a:cxn>
                <a:cxn ang="0">
                  <a:pos x="270" y="4"/>
                </a:cxn>
                <a:cxn ang="0">
                  <a:pos x="344" y="7"/>
                </a:cxn>
                <a:cxn ang="0">
                  <a:pos x="295" y="13"/>
                </a:cxn>
                <a:cxn ang="0">
                  <a:pos x="246" y="19"/>
                </a:cxn>
                <a:cxn ang="0">
                  <a:pos x="304" y="16"/>
                </a:cxn>
                <a:cxn ang="0">
                  <a:pos x="251" y="25"/>
                </a:cxn>
                <a:cxn ang="0">
                  <a:pos x="198" y="35"/>
                </a:cxn>
                <a:cxn ang="0">
                  <a:pos x="149" y="40"/>
                </a:cxn>
                <a:cxn ang="0">
                  <a:pos x="176" y="44"/>
                </a:cxn>
                <a:cxn ang="0">
                  <a:pos x="138" y="47"/>
                </a:cxn>
                <a:cxn ang="0">
                  <a:pos x="169" y="49"/>
                </a:cxn>
                <a:cxn ang="0">
                  <a:pos x="126" y="59"/>
                </a:cxn>
                <a:cxn ang="0">
                  <a:pos x="122" y="65"/>
                </a:cxn>
                <a:cxn ang="0">
                  <a:pos x="86" y="67"/>
                </a:cxn>
                <a:cxn ang="0">
                  <a:pos x="115" y="76"/>
                </a:cxn>
                <a:cxn ang="0">
                  <a:pos x="79" y="78"/>
                </a:cxn>
                <a:cxn ang="0">
                  <a:pos x="40" y="78"/>
                </a:cxn>
                <a:cxn ang="0">
                  <a:pos x="0" y="77"/>
                </a:cxn>
                <a:cxn ang="0">
                  <a:pos x="28" y="67"/>
                </a:cxn>
                <a:cxn ang="0">
                  <a:pos x="22" y="61"/>
                </a:cxn>
                <a:cxn ang="0">
                  <a:pos x="64" y="66"/>
                </a:cxn>
                <a:cxn ang="0">
                  <a:pos x="85" y="56"/>
                </a:cxn>
              </a:cxnLst>
              <a:rect l="0" t="0" r="r" b="b"/>
              <a:pathLst>
                <a:path w="344" h="78">
                  <a:moveTo>
                    <a:pt x="85" y="56"/>
                  </a:moveTo>
                  <a:lnTo>
                    <a:pt x="64" y="65"/>
                  </a:lnTo>
                  <a:lnTo>
                    <a:pt x="52" y="59"/>
                  </a:lnTo>
                  <a:lnTo>
                    <a:pt x="62" y="55"/>
                  </a:lnTo>
                  <a:lnTo>
                    <a:pt x="42" y="52"/>
                  </a:lnTo>
                  <a:lnTo>
                    <a:pt x="95" y="46"/>
                  </a:lnTo>
                  <a:lnTo>
                    <a:pt x="71" y="30"/>
                  </a:lnTo>
                  <a:lnTo>
                    <a:pt x="103" y="29"/>
                  </a:lnTo>
                  <a:lnTo>
                    <a:pt x="116" y="35"/>
                  </a:lnTo>
                  <a:lnTo>
                    <a:pt x="108" y="28"/>
                  </a:lnTo>
                  <a:lnTo>
                    <a:pt x="157" y="22"/>
                  </a:lnTo>
                  <a:lnTo>
                    <a:pt x="182" y="16"/>
                  </a:lnTo>
                  <a:lnTo>
                    <a:pt x="131" y="20"/>
                  </a:lnTo>
                  <a:lnTo>
                    <a:pt x="78" y="24"/>
                  </a:lnTo>
                  <a:lnTo>
                    <a:pt x="124" y="19"/>
                  </a:lnTo>
                  <a:lnTo>
                    <a:pt x="71" y="25"/>
                  </a:lnTo>
                  <a:lnTo>
                    <a:pt x="55" y="22"/>
                  </a:lnTo>
                  <a:lnTo>
                    <a:pt x="104" y="18"/>
                  </a:lnTo>
                  <a:lnTo>
                    <a:pt x="52" y="18"/>
                  </a:lnTo>
                  <a:lnTo>
                    <a:pt x="84" y="16"/>
                  </a:lnTo>
                  <a:lnTo>
                    <a:pt x="43" y="13"/>
                  </a:lnTo>
                  <a:lnTo>
                    <a:pt x="97" y="8"/>
                  </a:lnTo>
                  <a:lnTo>
                    <a:pt x="164" y="12"/>
                  </a:lnTo>
                  <a:lnTo>
                    <a:pt x="156" y="1"/>
                  </a:lnTo>
                  <a:lnTo>
                    <a:pt x="210" y="4"/>
                  </a:lnTo>
                  <a:lnTo>
                    <a:pt x="198" y="0"/>
                  </a:lnTo>
                  <a:lnTo>
                    <a:pt x="270" y="4"/>
                  </a:lnTo>
                  <a:lnTo>
                    <a:pt x="344" y="7"/>
                  </a:lnTo>
                  <a:lnTo>
                    <a:pt x="295" y="13"/>
                  </a:lnTo>
                  <a:lnTo>
                    <a:pt x="246" y="19"/>
                  </a:lnTo>
                  <a:lnTo>
                    <a:pt x="304" y="16"/>
                  </a:lnTo>
                  <a:lnTo>
                    <a:pt x="251" y="25"/>
                  </a:lnTo>
                  <a:lnTo>
                    <a:pt x="198" y="35"/>
                  </a:lnTo>
                  <a:lnTo>
                    <a:pt x="149" y="40"/>
                  </a:lnTo>
                  <a:lnTo>
                    <a:pt x="176" y="44"/>
                  </a:lnTo>
                  <a:lnTo>
                    <a:pt x="138" y="47"/>
                  </a:lnTo>
                  <a:lnTo>
                    <a:pt x="169" y="49"/>
                  </a:lnTo>
                  <a:lnTo>
                    <a:pt x="126" y="59"/>
                  </a:lnTo>
                  <a:lnTo>
                    <a:pt x="122" y="65"/>
                  </a:lnTo>
                  <a:lnTo>
                    <a:pt x="86" y="67"/>
                  </a:lnTo>
                  <a:lnTo>
                    <a:pt x="115" y="76"/>
                  </a:lnTo>
                  <a:lnTo>
                    <a:pt x="79" y="78"/>
                  </a:lnTo>
                  <a:lnTo>
                    <a:pt x="40" y="78"/>
                  </a:lnTo>
                  <a:lnTo>
                    <a:pt x="0" y="77"/>
                  </a:lnTo>
                  <a:lnTo>
                    <a:pt x="28" y="67"/>
                  </a:lnTo>
                  <a:lnTo>
                    <a:pt x="22" y="61"/>
                  </a:lnTo>
                  <a:lnTo>
                    <a:pt x="64" y="66"/>
                  </a:lnTo>
                  <a:lnTo>
                    <a:pt x="85"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6" name="Freeform 395"/>
            <p:cNvSpPr>
              <a:spLocks/>
            </p:cNvSpPr>
            <p:nvPr/>
          </p:nvSpPr>
          <p:spPr bwMode="auto">
            <a:xfrm>
              <a:off x="1043" y="1294"/>
              <a:ext cx="213" cy="80"/>
            </a:xfrm>
            <a:custGeom>
              <a:avLst/>
              <a:gdLst/>
              <a:ahLst/>
              <a:cxnLst>
                <a:cxn ang="0">
                  <a:pos x="125" y="65"/>
                </a:cxn>
                <a:cxn ang="0">
                  <a:pos x="117" y="60"/>
                </a:cxn>
                <a:cxn ang="0">
                  <a:pos x="114" y="59"/>
                </a:cxn>
                <a:cxn ang="0">
                  <a:pos x="93" y="66"/>
                </a:cxn>
                <a:cxn ang="0">
                  <a:pos x="61" y="69"/>
                </a:cxn>
                <a:cxn ang="0">
                  <a:pos x="29" y="72"/>
                </a:cxn>
                <a:cxn ang="0">
                  <a:pos x="30" y="64"/>
                </a:cxn>
                <a:cxn ang="0">
                  <a:pos x="0" y="55"/>
                </a:cxn>
                <a:cxn ang="0">
                  <a:pos x="6" y="47"/>
                </a:cxn>
                <a:cxn ang="0">
                  <a:pos x="39" y="46"/>
                </a:cxn>
                <a:cxn ang="0">
                  <a:pos x="73" y="45"/>
                </a:cxn>
                <a:cxn ang="0">
                  <a:pos x="42" y="40"/>
                </a:cxn>
                <a:cxn ang="0">
                  <a:pos x="9" y="39"/>
                </a:cxn>
                <a:cxn ang="0">
                  <a:pos x="6" y="35"/>
                </a:cxn>
                <a:cxn ang="0">
                  <a:pos x="48" y="27"/>
                </a:cxn>
                <a:cxn ang="0">
                  <a:pos x="17" y="28"/>
                </a:cxn>
                <a:cxn ang="0">
                  <a:pos x="25" y="25"/>
                </a:cxn>
                <a:cxn ang="0">
                  <a:pos x="11" y="25"/>
                </a:cxn>
                <a:cxn ang="0">
                  <a:pos x="32" y="16"/>
                </a:cxn>
                <a:cxn ang="0">
                  <a:pos x="30" y="13"/>
                </a:cxn>
                <a:cxn ang="0">
                  <a:pos x="60" y="6"/>
                </a:cxn>
                <a:cxn ang="0">
                  <a:pos x="89" y="0"/>
                </a:cxn>
                <a:cxn ang="0">
                  <a:pos x="91" y="4"/>
                </a:cxn>
                <a:cxn ang="0">
                  <a:pos x="78" y="11"/>
                </a:cxn>
                <a:cxn ang="0">
                  <a:pos x="89" y="10"/>
                </a:cxn>
                <a:cxn ang="0">
                  <a:pos x="99" y="5"/>
                </a:cxn>
                <a:cxn ang="0">
                  <a:pos x="111" y="12"/>
                </a:cxn>
                <a:cxn ang="0">
                  <a:pos x="104" y="16"/>
                </a:cxn>
                <a:cxn ang="0">
                  <a:pos x="109" y="15"/>
                </a:cxn>
                <a:cxn ang="0">
                  <a:pos x="125" y="13"/>
                </a:cxn>
                <a:cxn ang="0">
                  <a:pos x="126" y="10"/>
                </a:cxn>
                <a:cxn ang="0">
                  <a:pos x="128" y="5"/>
                </a:cxn>
                <a:cxn ang="0">
                  <a:pos x="140" y="12"/>
                </a:cxn>
                <a:cxn ang="0">
                  <a:pos x="133" y="25"/>
                </a:cxn>
                <a:cxn ang="0">
                  <a:pos x="145" y="21"/>
                </a:cxn>
                <a:cxn ang="0">
                  <a:pos x="156" y="3"/>
                </a:cxn>
                <a:cxn ang="0">
                  <a:pos x="175" y="3"/>
                </a:cxn>
                <a:cxn ang="0">
                  <a:pos x="177" y="12"/>
                </a:cxn>
                <a:cxn ang="0">
                  <a:pos x="167" y="31"/>
                </a:cxn>
                <a:cxn ang="0">
                  <a:pos x="168" y="41"/>
                </a:cxn>
                <a:cxn ang="0">
                  <a:pos x="171" y="41"/>
                </a:cxn>
                <a:cxn ang="0">
                  <a:pos x="191" y="47"/>
                </a:cxn>
                <a:cxn ang="0">
                  <a:pos x="188" y="51"/>
                </a:cxn>
                <a:cxn ang="0">
                  <a:pos x="180" y="54"/>
                </a:cxn>
                <a:cxn ang="0">
                  <a:pos x="181" y="51"/>
                </a:cxn>
                <a:cxn ang="0">
                  <a:pos x="174" y="53"/>
                </a:cxn>
                <a:cxn ang="0">
                  <a:pos x="169" y="53"/>
                </a:cxn>
                <a:cxn ang="0">
                  <a:pos x="161" y="57"/>
                </a:cxn>
                <a:cxn ang="0">
                  <a:pos x="156" y="57"/>
                </a:cxn>
                <a:cxn ang="0">
                  <a:pos x="151" y="63"/>
                </a:cxn>
                <a:cxn ang="0">
                  <a:pos x="169" y="58"/>
                </a:cxn>
                <a:cxn ang="0">
                  <a:pos x="167" y="60"/>
                </a:cxn>
                <a:cxn ang="0">
                  <a:pos x="161" y="65"/>
                </a:cxn>
                <a:cxn ang="0">
                  <a:pos x="125" y="65"/>
                </a:cxn>
              </a:cxnLst>
              <a:rect l="0" t="0" r="r" b="b"/>
              <a:pathLst>
                <a:path w="191" h="72">
                  <a:moveTo>
                    <a:pt x="125" y="65"/>
                  </a:moveTo>
                  <a:lnTo>
                    <a:pt x="117" y="60"/>
                  </a:lnTo>
                  <a:lnTo>
                    <a:pt x="114" y="59"/>
                  </a:lnTo>
                  <a:lnTo>
                    <a:pt x="93" y="66"/>
                  </a:lnTo>
                  <a:lnTo>
                    <a:pt x="61" y="69"/>
                  </a:lnTo>
                  <a:lnTo>
                    <a:pt x="29" y="72"/>
                  </a:lnTo>
                  <a:lnTo>
                    <a:pt x="30" y="64"/>
                  </a:lnTo>
                  <a:lnTo>
                    <a:pt x="0" y="55"/>
                  </a:lnTo>
                  <a:lnTo>
                    <a:pt x="6" y="47"/>
                  </a:lnTo>
                  <a:lnTo>
                    <a:pt x="39" y="46"/>
                  </a:lnTo>
                  <a:lnTo>
                    <a:pt x="73" y="45"/>
                  </a:lnTo>
                  <a:lnTo>
                    <a:pt x="42" y="40"/>
                  </a:lnTo>
                  <a:lnTo>
                    <a:pt x="9" y="39"/>
                  </a:lnTo>
                  <a:lnTo>
                    <a:pt x="6" y="35"/>
                  </a:lnTo>
                  <a:lnTo>
                    <a:pt x="48" y="27"/>
                  </a:lnTo>
                  <a:lnTo>
                    <a:pt x="17" y="28"/>
                  </a:lnTo>
                  <a:lnTo>
                    <a:pt x="25" y="25"/>
                  </a:lnTo>
                  <a:lnTo>
                    <a:pt x="11" y="25"/>
                  </a:lnTo>
                  <a:lnTo>
                    <a:pt x="32" y="16"/>
                  </a:lnTo>
                  <a:lnTo>
                    <a:pt x="30" y="13"/>
                  </a:lnTo>
                  <a:lnTo>
                    <a:pt x="60" y="6"/>
                  </a:lnTo>
                  <a:lnTo>
                    <a:pt x="89" y="0"/>
                  </a:lnTo>
                  <a:lnTo>
                    <a:pt x="91" y="4"/>
                  </a:lnTo>
                  <a:lnTo>
                    <a:pt x="78" y="11"/>
                  </a:lnTo>
                  <a:lnTo>
                    <a:pt x="89" y="10"/>
                  </a:lnTo>
                  <a:lnTo>
                    <a:pt x="99" y="5"/>
                  </a:lnTo>
                  <a:lnTo>
                    <a:pt x="111" y="12"/>
                  </a:lnTo>
                  <a:lnTo>
                    <a:pt x="104" y="16"/>
                  </a:lnTo>
                  <a:lnTo>
                    <a:pt x="109" y="15"/>
                  </a:lnTo>
                  <a:lnTo>
                    <a:pt x="125" y="13"/>
                  </a:lnTo>
                  <a:lnTo>
                    <a:pt x="126" y="10"/>
                  </a:lnTo>
                  <a:lnTo>
                    <a:pt x="128" y="5"/>
                  </a:lnTo>
                  <a:lnTo>
                    <a:pt x="140" y="12"/>
                  </a:lnTo>
                  <a:lnTo>
                    <a:pt x="133" y="25"/>
                  </a:lnTo>
                  <a:lnTo>
                    <a:pt x="145" y="21"/>
                  </a:lnTo>
                  <a:lnTo>
                    <a:pt x="156" y="3"/>
                  </a:lnTo>
                  <a:lnTo>
                    <a:pt x="175" y="3"/>
                  </a:lnTo>
                  <a:lnTo>
                    <a:pt x="177" y="12"/>
                  </a:lnTo>
                  <a:lnTo>
                    <a:pt x="167" y="31"/>
                  </a:lnTo>
                  <a:lnTo>
                    <a:pt x="168" y="41"/>
                  </a:lnTo>
                  <a:lnTo>
                    <a:pt x="171" y="41"/>
                  </a:lnTo>
                  <a:lnTo>
                    <a:pt x="191" y="47"/>
                  </a:lnTo>
                  <a:lnTo>
                    <a:pt x="188" y="51"/>
                  </a:lnTo>
                  <a:lnTo>
                    <a:pt x="180" y="54"/>
                  </a:lnTo>
                  <a:lnTo>
                    <a:pt x="181" y="51"/>
                  </a:lnTo>
                  <a:lnTo>
                    <a:pt x="174" y="53"/>
                  </a:lnTo>
                  <a:lnTo>
                    <a:pt x="169" y="53"/>
                  </a:lnTo>
                  <a:lnTo>
                    <a:pt x="161" y="57"/>
                  </a:lnTo>
                  <a:lnTo>
                    <a:pt x="156" y="57"/>
                  </a:lnTo>
                  <a:lnTo>
                    <a:pt x="151" y="63"/>
                  </a:lnTo>
                  <a:lnTo>
                    <a:pt x="169" y="58"/>
                  </a:lnTo>
                  <a:lnTo>
                    <a:pt x="167" y="60"/>
                  </a:lnTo>
                  <a:lnTo>
                    <a:pt x="161" y="65"/>
                  </a:lnTo>
                  <a:lnTo>
                    <a:pt x="125" y="6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7" name="Freeform 396"/>
            <p:cNvSpPr>
              <a:spLocks/>
            </p:cNvSpPr>
            <p:nvPr/>
          </p:nvSpPr>
          <p:spPr bwMode="auto">
            <a:xfrm>
              <a:off x="980" y="1276"/>
              <a:ext cx="156" cy="54"/>
            </a:xfrm>
            <a:custGeom>
              <a:avLst/>
              <a:gdLst/>
              <a:ahLst/>
              <a:cxnLst>
                <a:cxn ang="0">
                  <a:pos x="64" y="33"/>
                </a:cxn>
                <a:cxn ang="0">
                  <a:pos x="42" y="44"/>
                </a:cxn>
                <a:cxn ang="0">
                  <a:pos x="11" y="49"/>
                </a:cxn>
                <a:cxn ang="0">
                  <a:pos x="6" y="38"/>
                </a:cxn>
                <a:cxn ang="0">
                  <a:pos x="0" y="33"/>
                </a:cxn>
                <a:cxn ang="0">
                  <a:pos x="21" y="25"/>
                </a:cxn>
                <a:cxn ang="0">
                  <a:pos x="28" y="20"/>
                </a:cxn>
                <a:cxn ang="0">
                  <a:pos x="52" y="9"/>
                </a:cxn>
                <a:cxn ang="0">
                  <a:pos x="51" y="2"/>
                </a:cxn>
                <a:cxn ang="0">
                  <a:pos x="94" y="0"/>
                </a:cxn>
                <a:cxn ang="0">
                  <a:pos x="104" y="3"/>
                </a:cxn>
                <a:cxn ang="0">
                  <a:pos x="107" y="6"/>
                </a:cxn>
                <a:cxn ang="0">
                  <a:pos x="129" y="3"/>
                </a:cxn>
                <a:cxn ang="0">
                  <a:pos x="140" y="14"/>
                </a:cxn>
                <a:cxn ang="0">
                  <a:pos x="108" y="21"/>
                </a:cxn>
                <a:cxn ang="0">
                  <a:pos x="77" y="28"/>
                </a:cxn>
                <a:cxn ang="0">
                  <a:pos x="64" y="33"/>
                </a:cxn>
              </a:cxnLst>
              <a:rect l="0" t="0" r="r" b="b"/>
              <a:pathLst>
                <a:path w="140" h="49">
                  <a:moveTo>
                    <a:pt x="64" y="33"/>
                  </a:moveTo>
                  <a:lnTo>
                    <a:pt x="42" y="44"/>
                  </a:lnTo>
                  <a:lnTo>
                    <a:pt x="11" y="49"/>
                  </a:lnTo>
                  <a:lnTo>
                    <a:pt x="6" y="38"/>
                  </a:lnTo>
                  <a:lnTo>
                    <a:pt x="0" y="33"/>
                  </a:lnTo>
                  <a:lnTo>
                    <a:pt x="21" y="25"/>
                  </a:lnTo>
                  <a:lnTo>
                    <a:pt x="28" y="20"/>
                  </a:lnTo>
                  <a:lnTo>
                    <a:pt x="52" y="9"/>
                  </a:lnTo>
                  <a:lnTo>
                    <a:pt x="51" y="2"/>
                  </a:lnTo>
                  <a:lnTo>
                    <a:pt x="94" y="0"/>
                  </a:lnTo>
                  <a:lnTo>
                    <a:pt x="104" y="3"/>
                  </a:lnTo>
                  <a:lnTo>
                    <a:pt x="107" y="6"/>
                  </a:lnTo>
                  <a:lnTo>
                    <a:pt x="129" y="3"/>
                  </a:lnTo>
                  <a:lnTo>
                    <a:pt x="140" y="14"/>
                  </a:lnTo>
                  <a:lnTo>
                    <a:pt x="108" y="21"/>
                  </a:lnTo>
                  <a:lnTo>
                    <a:pt x="77" y="28"/>
                  </a:lnTo>
                  <a:lnTo>
                    <a:pt x="64" y="3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8" name="Freeform 397"/>
            <p:cNvSpPr>
              <a:spLocks/>
            </p:cNvSpPr>
            <p:nvPr/>
          </p:nvSpPr>
          <p:spPr bwMode="auto">
            <a:xfrm>
              <a:off x="1611" y="1683"/>
              <a:ext cx="103" cy="93"/>
            </a:xfrm>
            <a:custGeom>
              <a:avLst/>
              <a:gdLst/>
              <a:ahLst/>
              <a:cxnLst>
                <a:cxn ang="0">
                  <a:pos x="47" y="67"/>
                </a:cxn>
                <a:cxn ang="0">
                  <a:pos x="48" y="64"/>
                </a:cxn>
                <a:cxn ang="0">
                  <a:pos x="22" y="68"/>
                </a:cxn>
                <a:cxn ang="0">
                  <a:pos x="0" y="66"/>
                </a:cxn>
                <a:cxn ang="0">
                  <a:pos x="5" y="58"/>
                </a:cxn>
                <a:cxn ang="0">
                  <a:pos x="16" y="51"/>
                </a:cxn>
                <a:cxn ang="0">
                  <a:pos x="5" y="51"/>
                </a:cxn>
                <a:cxn ang="0">
                  <a:pos x="10" y="49"/>
                </a:cxn>
                <a:cxn ang="0">
                  <a:pos x="23" y="42"/>
                </a:cxn>
                <a:cxn ang="0">
                  <a:pos x="24" y="43"/>
                </a:cxn>
                <a:cxn ang="0">
                  <a:pos x="26" y="39"/>
                </a:cxn>
                <a:cxn ang="0">
                  <a:pos x="23" y="36"/>
                </a:cxn>
                <a:cxn ang="0">
                  <a:pos x="29" y="33"/>
                </a:cxn>
                <a:cxn ang="0">
                  <a:pos x="43" y="14"/>
                </a:cxn>
                <a:cxn ang="0">
                  <a:pos x="60" y="1"/>
                </a:cxn>
                <a:cxn ang="0">
                  <a:pos x="67" y="0"/>
                </a:cxn>
                <a:cxn ang="0">
                  <a:pos x="73" y="0"/>
                </a:cxn>
                <a:cxn ang="0">
                  <a:pos x="64" y="4"/>
                </a:cxn>
                <a:cxn ang="0">
                  <a:pos x="66" y="7"/>
                </a:cxn>
                <a:cxn ang="0">
                  <a:pos x="60" y="13"/>
                </a:cxn>
                <a:cxn ang="0">
                  <a:pos x="43" y="33"/>
                </a:cxn>
                <a:cxn ang="0">
                  <a:pos x="56" y="24"/>
                </a:cxn>
                <a:cxn ang="0">
                  <a:pos x="54" y="27"/>
                </a:cxn>
                <a:cxn ang="0">
                  <a:pos x="64" y="26"/>
                </a:cxn>
                <a:cxn ang="0">
                  <a:pos x="55" y="31"/>
                </a:cxn>
                <a:cxn ang="0">
                  <a:pos x="55" y="34"/>
                </a:cxn>
                <a:cxn ang="0">
                  <a:pos x="65" y="37"/>
                </a:cxn>
                <a:cxn ang="0">
                  <a:pos x="62" y="40"/>
                </a:cxn>
                <a:cxn ang="0">
                  <a:pos x="76" y="34"/>
                </a:cxn>
                <a:cxn ang="0">
                  <a:pos x="74" y="38"/>
                </a:cxn>
                <a:cxn ang="0">
                  <a:pos x="88" y="37"/>
                </a:cxn>
                <a:cxn ang="0">
                  <a:pos x="78" y="46"/>
                </a:cxn>
                <a:cxn ang="0">
                  <a:pos x="80" y="50"/>
                </a:cxn>
                <a:cxn ang="0">
                  <a:pos x="76" y="54"/>
                </a:cxn>
                <a:cxn ang="0">
                  <a:pos x="92" y="50"/>
                </a:cxn>
                <a:cxn ang="0">
                  <a:pos x="77" y="60"/>
                </a:cxn>
                <a:cxn ang="0">
                  <a:pos x="78" y="62"/>
                </a:cxn>
                <a:cxn ang="0">
                  <a:pos x="77" y="62"/>
                </a:cxn>
                <a:cxn ang="0">
                  <a:pos x="77" y="68"/>
                </a:cxn>
                <a:cxn ang="0">
                  <a:pos x="91" y="57"/>
                </a:cxn>
                <a:cxn ang="0">
                  <a:pos x="84" y="68"/>
                </a:cxn>
                <a:cxn ang="0">
                  <a:pos x="91" y="64"/>
                </a:cxn>
                <a:cxn ang="0">
                  <a:pos x="92" y="69"/>
                </a:cxn>
                <a:cxn ang="0">
                  <a:pos x="80" y="85"/>
                </a:cxn>
                <a:cxn ang="0">
                  <a:pos x="74" y="82"/>
                </a:cxn>
                <a:cxn ang="0">
                  <a:pos x="74" y="76"/>
                </a:cxn>
                <a:cxn ang="0">
                  <a:pos x="67" y="80"/>
                </a:cxn>
                <a:cxn ang="0">
                  <a:pos x="74" y="68"/>
                </a:cxn>
                <a:cxn ang="0">
                  <a:pos x="71" y="63"/>
                </a:cxn>
                <a:cxn ang="0">
                  <a:pos x="64" y="72"/>
                </a:cxn>
                <a:cxn ang="0">
                  <a:pos x="67" y="68"/>
                </a:cxn>
                <a:cxn ang="0">
                  <a:pos x="44" y="81"/>
                </a:cxn>
                <a:cxn ang="0">
                  <a:pos x="44" y="76"/>
                </a:cxn>
                <a:cxn ang="0">
                  <a:pos x="62" y="67"/>
                </a:cxn>
                <a:cxn ang="0">
                  <a:pos x="58" y="68"/>
                </a:cxn>
                <a:cxn ang="0">
                  <a:pos x="61" y="64"/>
                </a:cxn>
                <a:cxn ang="0">
                  <a:pos x="54" y="67"/>
                </a:cxn>
                <a:cxn ang="0">
                  <a:pos x="48" y="70"/>
                </a:cxn>
                <a:cxn ang="0">
                  <a:pos x="42" y="69"/>
                </a:cxn>
                <a:cxn ang="0">
                  <a:pos x="47" y="67"/>
                </a:cxn>
              </a:cxnLst>
              <a:rect l="0" t="0" r="r" b="b"/>
              <a:pathLst>
                <a:path w="92" h="85">
                  <a:moveTo>
                    <a:pt x="47" y="67"/>
                  </a:moveTo>
                  <a:lnTo>
                    <a:pt x="48" y="64"/>
                  </a:lnTo>
                  <a:lnTo>
                    <a:pt x="22" y="68"/>
                  </a:lnTo>
                  <a:lnTo>
                    <a:pt x="0" y="66"/>
                  </a:lnTo>
                  <a:lnTo>
                    <a:pt x="5" y="58"/>
                  </a:lnTo>
                  <a:lnTo>
                    <a:pt x="16" y="51"/>
                  </a:lnTo>
                  <a:lnTo>
                    <a:pt x="5" y="51"/>
                  </a:lnTo>
                  <a:lnTo>
                    <a:pt x="10" y="49"/>
                  </a:lnTo>
                  <a:lnTo>
                    <a:pt x="23" y="42"/>
                  </a:lnTo>
                  <a:lnTo>
                    <a:pt x="24" y="43"/>
                  </a:lnTo>
                  <a:lnTo>
                    <a:pt x="26" y="39"/>
                  </a:lnTo>
                  <a:lnTo>
                    <a:pt x="23" y="36"/>
                  </a:lnTo>
                  <a:lnTo>
                    <a:pt x="29" y="33"/>
                  </a:lnTo>
                  <a:lnTo>
                    <a:pt x="43" y="14"/>
                  </a:lnTo>
                  <a:lnTo>
                    <a:pt x="60" y="1"/>
                  </a:lnTo>
                  <a:lnTo>
                    <a:pt x="67" y="0"/>
                  </a:lnTo>
                  <a:lnTo>
                    <a:pt x="73" y="0"/>
                  </a:lnTo>
                  <a:lnTo>
                    <a:pt x="64" y="4"/>
                  </a:lnTo>
                  <a:lnTo>
                    <a:pt x="66" y="7"/>
                  </a:lnTo>
                  <a:lnTo>
                    <a:pt x="60" y="13"/>
                  </a:lnTo>
                  <a:lnTo>
                    <a:pt x="43" y="33"/>
                  </a:lnTo>
                  <a:lnTo>
                    <a:pt x="56" y="24"/>
                  </a:lnTo>
                  <a:lnTo>
                    <a:pt x="54" y="27"/>
                  </a:lnTo>
                  <a:lnTo>
                    <a:pt x="64" y="26"/>
                  </a:lnTo>
                  <a:lnTo>
                    <a:pt x="55" y="31"/>
                  </a:lnTo>
                  <a:lnTo>
                    <a:pt x="55" y="34"/>
                  </a:lnTo>
                  <a:lnTo>
                    <a:pt x="65" y="37"/>
                  </a:lnTo>
                  <a:lnTo>
                    <a:pt x="62" y="40"/>
                  </a:lnTo>
                  <a:lnTo>
                    <a:pt x="76" y="34"/>
                  </a:lnTo>
                  <a:lnTo>
                    <a:pt x="74" y="38"/>
                  </a:lnTo>
                  <a:lnTo>
                    <a:pt x="88" y="37"/>
                  </a:lnTo>
                  <a:lnTo>
                    <a:pt x="78" y="46"/>
                  </a:lnTo>
                  <a:lnTo>
                    <a:pt x="80" y="50"/>
                  </a:lnTo>
                  <a:lnTo>
                    <a:pt x="76" y="54"/>
                  </a:lnTo>
                  <a:lnTo>
                    <a:pt x="92" y="50"/>
                  </a:lnTo>
                  <a:lnTo>
                    <a:pt x="77" y="60"/>
                  </a:lnTo>
                  <a:lnTo>
                    <a:pt x="78" y="62"/>
                  </a:lnTo>
                  <a:lnTo>
                    <a:pt x="77" y="62"/>
                  </a:lnTo>
                  <a:lnTo>
                    <a:pt x="77" y="68"/>
                  </a:lnTo>
                  <a:lnTo>
                    <a:pt x="91" y="57"/>
                  </a:lnTo>
                  <a:lnTo>
                    <a:pt x="84" y="68"/>
                  </a:lnTo>
                  <a:lnTo>
                    <a:pt x="91" y="64"/>
                  </a:lnTo>
                  <a:lnTo>
                    <a:pt x="92" y="69"/>
                  </a:lnTo>
                  <a:lnTo>
                    <a:pt x="80" y="85"/>
                  </a:lnTo>
                  <a:lnTo>
                    <a:pt x="74" y="82"/>
                  </a:lnTo>
                  <a:lnTo>
                    <a:pt x="74" y="76"/>
                  </a:lnTo>
                  <a:lnTo>
                    <a:pt x="67" y="80"/>
                  </a:lnTo>
                  <a:lnTo>
                    <a:pt x="74" y="68"/>
                  </a:lnTo>
                  <a:lnTo>
                    <a:pt x="71" y="63"/>
                  </a:lnTo>
                  <a:lnTo>
                    <a:pt x="64" y="72"/>
                  </a:lnTo>
                  <a:lnTo>
                    <a:pt x="67" y="68"/>
                  </a:lnTo>
                  <a:lnTo>
                    <a:pt x="44" y="81"/>
                  </a:lnTo>
                  <a:lnTo>
                    <a:pt x="44" y="76"/>
                  </a:lnTo>
                  <a:lnTo>
                    <a:pt x="62" y="67"/>
                  </a:lnTo>
                  <a:lnTo>
                    <a:pt x="58" y="68"/>
                  </a:lnTo>
                  <a:lnTo>
                    <a:pt x="61" y="64"/>
                  </a:lnTo>
                  <a:lnTo>
                    <a:pt x="54" y="67"/>
                  </a:lnTo>
                  <a:lnTo>
                    <a:pt x="48" y="70"/>
                  </a:lnTo>
                  <a:lnTo>
                    <a:pt x="42" y="69"/>
                  </a:lnTo>
                  <a:lnTo>
                    <a:pt x="47" y="6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9" name="Freeform 398"/>
            <p:cNvSpPr>
              <a:spLocks/>
            </p:cNvSpPr>
            <p:nvPr/>
          </p:nvSpPr>
          <p:spPr bwMode="auto">
            <a:xfrm>
              <a:off x="1414" y="1241"/>
              <a:ext cx="180" cy="31"/>
            </a:xfrm>
            <a:custGeom>
              <a:avLst/>
              <a:gdLst/>
              <a:ahLst/>
              <a:cxnLst>
                <a:cxn ang="0">
                  <a:pos x="65" y="15"/>
                </a:cxn>
                <a:cxn ang="0">
                  <a:pos x="48" y="9"/>
                </a:cxn>
                <a:cxn ang="0">
                  <a:pos x="72" y="9"/>
                </a:cxn>
                <a:cxn ang="0">
                  <a:pos x="29" y="6"/>
                </a:cxn>
                <a:cxn ang="0">
                  <a:pos x="37" y="0"/>
                </a:cxn>
                <a:cxn ang="0">
                  <a:pos x="0" y="1"/>
                </a:cxn>
                <a:cxn ang="0">
                  <a:pos x="34" y="6"/>
                </a:cxn>
                <a:cxn ang="0">
                  <a:pos x="28" y="17"/>
                </a:cxn>
                <a:cxn ang="0">
                  <a:pos x="22" y="29"/>
                </a:cxn>
                <a:cxn ang="0">
                  <a:pos x="57" y="28"/>
                </a:cxn>
                <a:cxn ang="0">
                  <a:pos x="90" y="28"/>
                </a:cxn>
                <a:cxn ang="0">
                  <a:pos x="125" y="27"/>
                </a:cxn>
                <a:cxn ang="0">
                  <a:pos x="159" y="27"/>
                </a:cxn>
                <a:cxn ang="0">
                  <a:pos x="163" y="19"/>
                </a:cxn>
                <a:cxn ang="0">
                  <a:pos x="137" y="13"/>
                </a:cxn>
                <a:cxn ang="0">
                  <a:pos x="101" y="15"/>
                </a:cxn>
                <a:cxn ang="0">
                  <a:pos x="65" y="15"/>
                </a:cxn>
              </a:cxnLst>
              <a:rect l="0" t="0" r="r" b="b"/>
              <a:pathLst>
                <a:path w="163" h="29">
                  <a:moveTo>
                    <a:pt x="65" y="15"/>
                  </a:moveTo>
                  <a:lnTo>
                    <a:pt x="48" y="9"/>
                  </a:lnTo>
                  <a:lnTo>
                    <a:pt x="72" y="9"/>
                  </a:lnTo>
                  <a:lnTo>
                    <a:pt x="29" y="6"/>
                  </a:lnTo>
                  <a:lnTo>
                    <a:pt x="37" y="0"/>
                  </a:lnTo>
                  <a:lnTo>
                    <a:pt x="0" y="1"/>
                  </a:lnTo>
                  <a:lnTo>
                    <a:pt x="34" y="6"/>
                  </a:lnTo>
                  <a:lnTo>
                    <a:pt x="28" y="17"/>
                  </a:lnTo>
                  <a:lnTo>
                    <a:pt x="22" y="29"/>
                  </a:lnTo>
                  <a:lnTo>
                    <a:pt x="57" y="28"/>
                  </a:lnTo>
                  <a:lnTo>
                    <a:pt x="90" y="28"/>
                  </a:lnTo>
                  <a:lnTo>
                    <a:pt x="125" y="27"/>
                  </a:lnTo>
                  <a:lnTo>
                    <a:pt x="159" y="27"/>
                  </a:lnTo>
                  <a:lnTo>
                    <a:pt x="163" y="19"/>
                  </a:lnTo>
                  <a:lnTo>
                    <a:pt x="137" y="13"/>
                  </a:lnTo>
                  <a:lnTo>
                    <a:pt x="101" y="15"/>
                  </a:lnTo>
                  <a:lnTo>
                    <a:pt x="65"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0" name="Freeform 399"/>
            <p:cNvSpPr>
              <a:spLocks/>
            </p:cNvSpPr>
            <p:nvPr/>
          </p:nvSpPr>
          <p:spPr bwMode="auto">
            <a:xfrm>
              <a:off x="1476" y="1181"/>
              <a:ext cx="113" cy="40"/>
            </a:xfrm>
            <a:custGeom>
              <a:avLst/>
              <a:gdLst/>
              <a:ahLst/>
              <a:cxnLst>
                <a:cxn ang="0">
                  <a:pos x="21" y="11"/>
                </a:cxn>
                <a:cxn ang="0">
                  <a:pos x="13" y="6"/>
                </a:cxn>
                <a:cxn ang="0">
                  <a:pos x="48" y="0"/>
                </a:cxn>
                <a:cxn ang="0">
                  <a:pos x="92" y="9"/>
                </a:cxn>
                <a:cxn ang="0">
                  <a:pos x="81" y="18"/>
                </a:cxn>
                <a:cxn ang="0">
                  <a:pos x="103" y="22"/>
                </a:cxn>
                <a:cxn ang="0">
                  <a:pos x="66" y="29"/>
                </a:cxn>
                <a:cxn ang="0">
                  <a:pos x="49" y="36"/>
                </a:cxn>
                <a:cxn ang="0">
                  <a:pos x="43" y="31"/>
                </a:cxn>
                <a:cxn ang="0">
                  <a:pos x="42" y="36"/>
                </a:cxn>
                <a:cxn ang="0">
                  <a:pos x="6" y="27"/>
                </a:cxn>
                <a:cxn ang="0">
                  <a:pos x="48" y="22"/>
                </a:cxn>
                <a:cxn ang="0">
                  <a:pos x="0" y="17"/>
                </a:cxn>
                <a:cxn ang="0">
                  <a:pos x="21" y="11"/>
                </a:cxn>
              </a:cxnLst>
              <a:rect l="0" t="0" r="r" b="b"/>
              <a:pathLst>
                <a:path w="103" h="36">
                  <a:moveTo>
                    <a:pt x="21" y="11"/>
                  </a:moveTo>
                  <a:lnTo>
                    <a:pt x="13" y="6"/>
                  </a:lnTo>
                  <a:lnTo>
                    <a:pt x="48" y="0"/>
                  </a:lnTo>
                  <a:lnTo>
                    <a:pt x="92" y="9"/>
                  </a:lnTo>
                  <a:lnTo>
                    <a:pt x="81" y="18"/>
                  </a:lnTo>
                  <a:lnTo>
                    <a:pt x="103" y="22"/>
                  </a:lnTo>
                  <a:lnTo>
                    <a:pt x="66" y="29"/>
                  </a:lnTo>
                  <a:lnTo>
                    <a:pt x="49" y="36"/>
                  </a:lnTo>
                  <a:lnTo>
                    <a:pt x="43" y="31"/>
                  </a:lnTo>
                  <a:lnTo>
                    <a:pt x="42" y="36"/>
                  </a:lnTo>
                  <a:lnTo>
                    <a:pt x="6" y="27"/>
                  </a:lnTo>
                  <a:lnTo>
                    <a:pt x="48" y="22"/>
                  </a:lnTo>
                  <a:lnTo>
                    <a:pt x="0" y="17"/>
                  </a:lnTo>
                  <a:lnTo>
                    <a:pt x="21"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1" name="Freeform 400"/>
            <p:cNvSpPr>
              <a:spLocks/>
            </p:cNvSpPr>
            <p:nvPr/>
          </p:nvSpPr>
          <p:spPr bwMode="auto">
            <a:xfrm>
              <a:off x="1142" y="1241"/>
              <a:ext cx="154" cy="35"/>
            </a:xfrm>
            <a:custGeom>
              <a:avLst/>
              <a:gdLst/>
              <a:ahLst/>
              <a:cxnLst>
                <a:cxn ang="0">
                  <a:pos x="37" y="34"/>
                </a:cxn>
                <a:cxn ang="0">
                  <a:pos x="22" y="29"/>
                </a:cxn>
                <a:cxn ang="0">
                  <a:pos x="68" y="22"/>
                </a:cxn>
                <a:cxn ang="0">
                  <a:pos x="33" y="21"/>
                </a:cxn>
                <a:cxn ang="0">
                  <a:pos x="0" y="21"/>
                </a:cxn>
                <a:cxn ang="0">
                  <a:pos x="32" y="16"/>
                </a:cxn>
                <a:cxn ang="0">
                  <a:pos x="18" y="15"/>
                </a:cxn>
                <a:cxn ang="0">
                  <a:pos x="39" y="12"/>
                </a:cxn>
                <a:cxn ang="0">
                  <a:pos x="30" y="9"/>
                </a:cxn>
                <a:cxn ang="0">
                  <a:pos x="69" y="11"/>
                </a:cxn>
                <a:cxn ang="0">
                  <a:pos x="96" y="18"/>
                </a:cxn>
                <a:cxn ang="0">
                  <a:pos x="97" y="6"/>
                </a:cxn>
                <a:cxn ang="0">
                  <a:pos x="121" y="0"/>
                </a:cxn>
                <a:cxn ang="0">
                  <a:pos x="112" y="15"/>
                </a:cxn>
                <a:cxn ang="0">
                  <a:pos x="139" y="13"/>
                </a:cxn>
                <a:cxn ang="0">
                  <a:pos x="117" y="24"/>
                </a:cxn>
                <a:cxn ang="0">
                  <a:pos x="100" y="23"/>
                </a:cxn>
                <a:cxn ang="0">
                  <a:pos x="69" y="28"/>
                </a:cxn>
                <a:cxn ang="0">
                  <a:pos x="37" y="34"/>
                </a:cxn>
              </a:cxnLst>
              <a:rect l="0" t="0" r="r" b="b"/>
              <a:pathLst>
                <a:path w="139" h="34">
                  <a:moveTo>
                    <a:pt x="37" y="34"/>
                  </a:moveTo>
                  <a:lnTo>
                    <a:pt x="22" y="29"/>
                  </a:lnTo>
                  <a:lnTo>
                    <a:pt x="68" y="22"/>
                  </a:lnTo>
                  <a:lnTo>
                    <a:pt x="33" y="21"/>
                  </a:lnTo>
                  <a:lnTo>
                    <a:pt x="0" y="21"/>
                  </a:lnTo>
                  <a:lnTo>
                    <a:pt x="32" y="16"/>
                  </a:lnTo>
                  <a:lnTo>
                    <a:pt x="18" y="15"/>
                  </a:lnTo>
                  <a:lnTo>
                    <a:pt x="39" y="12"/>
                  </a:lnTo>
                  <a:lnTo>
                    <a:pt x="30" y="9"/>
                  </a:lnTo>
                  <a:lnTo>
                    <a:pt x="69" y="11"/>
                  </a:lnTo>
                  <a:lnTo>
                    <a:pt x="96" y="18"/>
                  </a:lnTo>
                  <a:lnTo>
                    <a:pt x="97" y="6"/>
                  </a:lnTo>
                  <a:lnTo>
                    <a:pt x="121" y="0"/>
                  </a:lnTo>
                  <a:lnTo>
                    <a:pt x="112" y="15"/>
                  </a:lnTo>
                  <a:lnTo>
                    <a:pt x="139" y="13"/>
                  </a:lnTo>
                  <a:lnTo>
                    <a:pt x="117" y="24"/>
                  </a:lnTo>
                  <a:lnTo>
                    <a:pt x="100" y="23"/>
                  </a:lnTo>
                  <a:lnTo>
                    <a:pt x="69" y="28"/>
                  </a:lnTo>
                  <a:lnTo>
                    <a:pt x="37"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2" name="Freeform 401"/>
            <p:cNvSpPr>
              <a:spLocks/>
            </p:cNvSpPr>
            <p:nvPr/>
          </p:nvSpPr>
          <p:spPr bwMode="auto">
            <a:xfrm>
              <a:off x="1347" y="1419"/>
              <a:ext cx="95" cy="49"/>
            </a:xfrm>
            <a:custGeom>
              <a:avLst/>
              <a:gdLst/>
              <a:ahLst/>
              <a:cxnLst>
                <a:cxn ang="0">
                  <a:pos x="62" y="32"/>
                </a:cxn>
                <a:cxn ang="0">
                  <a:pos x="53" y="30"/>
                </a:cxn>
                <a:cxn ang="0">
                  <a:pos x="54" y="28"/>
                </a:cxn>
                <a:cxn ang="0">
                  <a:pos x="47" y="30"/>
                </a:cxn>
                <a:cxn ang="0">
                  <a:pos x="18" y="43"/>
                </a:cxn>
                <a:cxn ang="0">
                  <a:pos x="18" y="35"/>
                </a:cxn>
                <a:cxn ang="0">
                  <a:pos x="0" y="35"/>
                </a:cxn>
                <a:cxn ang="0">
                  <a:pos x="18" y="26"/>
                </a:cxn>
                <a:cxn ang="0">
                  <a:pos x="29" y="13"/>
                </a:cxn>
                <a:cxn ang="0">
                  <a:pos x="41" y="0"/>
                </a:cxn>
                <a:cxn ang="0">
                  <a:pos x="48" y="4"/>
                </a:cxn>
                <a:cxn ang="0">
                  <a:pos x="46" y="10"/>
                </a:cxn>
                <a:cxn ang="0">
                  <a:pos x="53" y="7"/>
                </a:cxn>
                <a:cxn ang="0">
                  <a:pos x="76" y="22"/>
                </a:cxn>
                <a:cxn ang="0">
                  <a:pos x="68" y="30"/>
                </a:cxn>
                <a:cxn ang="0">
                  <a:pos x="86" y="30"/>
                </a:cxn>
                <a:cxn ang="0">
                  <a:pos x="87" y="34"/>
                </a:cxn>
                <a:cxn ang="0">
                  <a:pos x="72" y="38"/>
                </a:cxn>
                <a:cxn ang="0">
                  <a:pos x="62" y="32"/>
                </a:cxn>
              </a:cxnLst>
              <a:rect l="0" t="0" r="r" b="b"/>
              <a:pathLst>
                <a:path w="87" h="43">
                  <a:moveTo>
                    <a:pt x="62" y="32"/>
                  </a:moveTo>
                  <a:lnTo>
                    <a:pt x="53" y="30"/>
                  </a:lnTo>
                  <a:lnTo>
                    <a:pt x="54" y="28"/>
                  </a:lnTo>
                  <a:lnTo>
                    <a:pt x="47" y="30"/>
                  </a:lnTo>
                  <a:lnTo>
                    <a:pt x="18" y="43"/>
                  </a:lnTo>
                  <a:lnTo>
                    <a:pt x="18" y="35"/>
                  </a:lnTo>
                  <a:lnTo>
                    <a:pt x="0" y="35"/>
                  </a:lnTo>
                  <a:lnTo>
                    <a:pt x="18" y="26"/>
                  </a:lnTo>
                  <a:lnTo>
                    <a:pt x="29" y="13"/>
                  </a:lnTo>
                  <a:lnTo>
                    <a:pt x="41" y="0"/>
                  </a:lnTo>
                  <a:lnTo>
                    <a:pt x="48" y="4"/>
                  </a:lnTo>
                  <a:lnTo>
                    <a:pt x="46" y="10"/>
                  </a:lnTo>
                  <a:lnTo>
                    <a:pt x="53" y="7"/>
                  </a:lnTo>
                  <a:lnTo>
                    <a:pt x="76" y="22"/>
                  </a:lnTo>
                  <a:lnTo>
                    <a:pt x="68" y="30"/>
                  </a:lnTo>
                  <a:lnTo>
                    <a:pt x="86" y="30"/>
                  </a:lnTo>
                  <a:lnTo>
                    <a:pt x="87" y="34"/>
                  </a:lnTo>
                  <a:lnTo>
                    <a:pt x="72" y="38"/>
                  </a:lnTo>
                  <a:lnTo>
                    <a:pt x="62" y="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3" name="Freeform 402"/>
            <p:cNvSpPr>
              <a:spLocks/>
            </p:cNvSpPr>
            <p:nvPr/>
          </p:nvSpPr>
          <p:spPr bwMode="auto">
            <a:xfrm>
              <a:off x="1276" y="1288"/>
              <a:ext cx="84" cy="35"/>
            </a:xfrm>
            <a:custGeom>
              <a:avLst/>
              <a:gdLst/>
              <a:ahLst/>
              <a:cxnLst>
                <a:cxn ang="0">
                  <a:pos x="76" y="0"/>
                </a:cxn>
                <a:cxn ang="0">
                  <a:pos x="32" y="0"/>
                </a:cxn>
                <a:cxn ang="0">
                  <a:pos x="37" y="8"/>
                </a:cxn>
                <a:cxn ang="0">
                  <a:pos x="27" y="14"/>
                </a:cxn>
                <a:cxn ang="0">
                  <a:pos x="0" y="14"/>
                </a:cxn>
                <a:cxn ang="0">
                  <a:pos x="15" y="23"/>
                </a:cxn>
                <a:cxn ang="0">
                  <a:pos x="32" y="33"/>
                </a:cxn>
                <a:cxn ang="0">
                  <a:pos x="36" y="28"/>
                </a:cxn>
                <a:cxn ang="0">
                  <a:pos x="56" y="27"/>
                </a:cxn>
                <a:cxn ang="0">
                  <a:pos x="66" y="14"/>
                </a:cxn>
                <a:cxn ang="0">
                  <a:pos x="76" y="0"/>
                </a:cxn>
              </a:cxnLst>
              <a:rect l="0" t="0" r="r" b="b"/>
              <a:pathLst>
                <a:path w="76" h="33">
                  <a:moveTo>
                    <a:pt x="76" y="0"/>
                  </a:moveTo>
                  <a:lnTo>
                    <a:pt x="32" y="0"/>
                  </a:lnTo>
                  <a:lnTo>
                    <a:pt x="37" y="8"/>
                  </a:lnTo>
                  <a:lnTo>
                    <a:pt x="27" y="14"/>
                  </a:lnTo>
                  <a:lnTo>
                    <a:pt x="0" y="14"/>
                  </a:lnTo>
                  <a:lnTo>
                    <a:pt x="15" y="23"/>
                  </a:lnTo>
                  <a:lnTo>
                    <a:pt x="32" y="33"/>
                  </a:lnTo>
                  <a:lnTo>
                    <a:pt x="36" y="28"/>
                  </a:lnTo>
                  <a:lnTo>
                    <a:pt x="56" y="27"/>
                  </a:lnTo>
                  <a:lnTo>
                    <a:pt x="66" y="14"/>
                  </a:lnTo>
                  <a:lnTo>
                    <a:pt x="7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4" name="Freeform 403"/>
            <p:cNvSpPr>
              <a:spLocks/>
            </p:cNvSpPr>
            <p:nvPr/>
          </p:nvSpPr>
          <p:spPr bwMode="auto">
            <a:xfrm>
              <a:off x="1356" y="1281"/>
              <a:ext cx="89" cy="35"/>
            </a:xfrm>
            <a:custGeom>
              <a:avLst/>
              <a:gdLst/>
              <a:ahLst/>
              <a:cxnLst>
                <a:cxn ang="0">
                  <a:pos x="49" y="18"/>
                </a:cxn>
                <a:cxn ang="0">
                  <a:pos x="22" y="20"/>
                </a:cxn>
                <a:cxn ang="0">
                  <a:pos x="26" y="23"/>
                </a:cxn>
                <a:cxn ang="0">
                  <a:pos x="14" y="30"/>
                </a:cxn>
                <a:cxn ang="0">
                  <a:pos x="0" y="32"/>
                </a:cxn>
                <a:cxn ang="0">
                  <a:pos x="2" y="29"/>
                </a:cxn>
                <a:cxn ang="0">
                  <a:pos x="16" y="9"/>
                </a:cxn>
                <a:cxn ang="0">
                  <a:pos x="26" y="8"/>
                </a:cxn>
                <a:cxn ang="0">
                  <a:pos x="25" y="4"/>
                </a:cxn>
                <a:cxn ang="0">
                  <a:pos x="34" y="0"/>
                </a:cxn>
                <a:cxn ang="0">
                  <a:pos x="80" y="4"/>
                </a:cxn>
                <a:cxn ang="0">
                  <a:pos x="68" y="9"/>
                </a:cxn>
                <a:cxn ang="0">
                  <a:pos x="49" y="18"/>
                </a:cxn>
              </a:cxnLst>
              <a:rect l="0" t="0" r="r" b="b"/>
              <a:pathLst>
                <a:path w="80" h="32">
                  <a:moveTo>
                    <a:pt x="49" y="18"/>
                  </a:moveTo>
                  <a:lnTo>
                    <a:pt x="22" y="20"/>
                  </a:lnTo>
                  <a:lnTo>
                    <a:pt x="26" y="23"/>
                  </a:lnTo>
                  <a:lnTo>
                    <a:pt x="14" y="30"/>
                  </a:lnTo>
                  <a:lnTo>
                    <a:pt x="0" y="32"/>
                  </a:lnTo>
                  <a:lnTo>
                    <a:pt x="2" y="29"/>
                  </a:lnTo>
                  <a:lnTo>
                    <a:pt x="16" y="9"/>
                  </a:lnTo>
                  <a:lnTo>
                    <a:pt x="26" y="8"/>
                  </a:lnTo>
                  <a:lnTo>
                    <a:pt x="25" y="4"/>
                  </a:lnTo>
                  <a:lnTo>
                    <a:pt x="34" y="0"/>
                  </a:lnTo>
                  <a:lnTo>
                    <a:pt x="80" y="4"/>
                  </a:lnTo>
                  <a:lnTo>
                    <a:pt x="68" y="9"/>
                  </a:lnTo>
                  <a:lnTo>
                    <a:pt x="4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5" name="Freeform 404"/>
            <p:cNvSpPr>
              <a:spLocks/>
            </p:cNvSpPr>
            <p:nvPr/>
          </p:nvSpPr>
          <p:spPr bwMode="auto">
            <a:xfrm>
              <a:off x="578" y="1696"/>
              <a:ext cx="49" cy="47"/>
            </a:xfrm>
            <a:custGeom>
              <a:avLst/>
              <a:gdLst/>
              <a:ahLst/>
              <a:cxnLst>
                <a:cxn ang="0">
                  <a:pos x="30" y="27"/>
                </a:cxn>
                <a:cxn ang="0">
                  <a:pos x="28" y="30"/>
                </a:cxn>
                <a:cxn ang="0">
                  <a:pos x="16" y="29"/>
                </a:cxn>
                <a:cxn ang="0">
                  <a:pos x="19" y="26"/>
                </a:cxn>
                <a:cxn ang="0">
                  <a:pos x="14" y="25"/>
                </a:cxn>
                <a:cxn ang="0">
                  <a:pos x="8" y="23"/>
                </a:cxn>
                <a:cxn ang="0">
                  <a:pos x="18" y="19"/>
                </a:cxn>
                <a:cxn ang="0">
                  <a:pos x="8" y="15"/>
                </a:cxn>
                <a:cxn ang="0">
                  <a:pos x="8" y="12"/>
                </a:cxn>
                <a:cxn ang="0">
                  <a:pos x="2" y="11"/>
                </a:cxn>
                <a:cxn ang="0">
                  <a:pos x="1" y="8"/>
                </a:cxn>
                <a:cxn ang="0">
                  <a:pos x="8" y="3"/>
                </a:cxn>
                <a:cxn ang="0">
                  <a:pos x="5" y="5"/>
                </a:cxn>
                <a:cxn ang="0">
                  <a:pos x="0" y="0"/>
                </a:cxn>
                <a:cxn ang="0">
                  <a:pos x="14" y="2"/>
                </a:cxn>
                <a:cxn ang="0">
                  <a:pos x="30" y="6"/>
                </a:cxn>
                <a:cxn ang="0">
                  <a:pos x="34" y="14"/>
                </a:cxn>
                <a:cxn ang="0">
                  <a:pos x="41" y="25"/>
                </a:cxn>
                <a:cxn ang="0">
                  <a:pos x="42" y="37"/>
                </a:cxn>
                <a:cxn ang="0">
                  <a:pos x="43" y="41"/>
                </a:cxn>
                <a:cxn ang="0">
                  <a:pos x="22" y="35"/>
                </a:cxn>
                <a:cxn ang="0">
                  <a:pos x="30" y="27"/>
                </a:cxn>
              </a:cxnLst>
              <a:rect l="0" t="0" r="r" b="b"/>
              <a:pathLst>
                <a:path w="43" h="41">
                  <a:moveTo>
                    <a:pt x="30" y="27"/>
                  </a:moveTo>
                  <a:lnTo>
                    <a:pt x="28" y="30"/>
                  </a:lnTo>
                  <a:lnTo>
                    <a:pt x="16" y="29"/>
                  </a:lnTo>
                  <a:lnTo>
                    <a:pt x="19" y="26"/>
                  </a:lnTo>
                  <a:lnTo>
                    <a:pt x="14" y="25"/>
                  </a:lnTo>
                  <a:lnTo>
                    <a:pt x="8" y="23"/>
                  </a:lnTo>
                  <a:lnTo>
                    <a:pt x="18" y="19"/>
                  </a:lnTo>
                  <a:lnTo>
                    <a:pt x="8" y="15"/>
                  </a:lnTo>
                  <a:lnTo>
                    <a:pt x="8" y="12"/>
                  </a:lnTo>
                  <a:lnTo>
                    <a:pt x="2" y="11"/>
                  </a:lnTo>
                  <a:lnTo>
                    <a:pt x="1" y="8"/>
                  </a:lnTo>
                  <a:lnTo>
                    <a:pt x="8" y="3"/>
                  </a:lnTo>
                  <a:lnTo>
                    <a:pt x="5" y="5"/>
                  </a:lnTo>
                  <a:lnTo>
                    <a:pt x="0" y="0"/>
                  </a:lnTo>
                  <a:lnTo>
                    <a:pt x="14" y="2"/>
                  </a:lnTo>
                  <a:lnTo>
                    <a:pt x="30" y="6"/>
                  </a:lnTo>
                  <a:lnTo>
                    <a:pt x="34" y="14"/>
                  </a:lnTo>
                  <a:lnTo>
                    <a:pt x="41" y="25"/>
                  </a:lnTo>
                  <a:lnTo>
                    <a:pt x="42" y="37"/>
                  </a:lnTo>
                  <a:lnTo>
                    <a:pt x="43" y="41"/>
                  </a:lnTo>
                  <a:lnTo>
                    <a:pt x="22" y="35"/>
                  </a:lnTo>
                  <a:lnTo>
                    <a:pt x="3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6" name="Freeform 405"/>
            <p:cNvSpPr>
              <a:spLocks/>
            </p:cNvSpPr>
            <p:nvPr/>
          </p:nvSpPr>
          <p:spPr bwMode="auto">
            <a:xfrm>
              <a:off x="1100" y="1230"/>
              <a:ext cx="111" cy="24"/>
            </a:xfrm>
            <a:custGeom>
              <a:avLst/>
              <a:gdLst/>
              <a:ahLst/>
              <a:cxnLst>
                <a:cxn ang="0">
                  <a:pos x="60" y="12"/>
                </a:cxn>
                <a:cxn ang="0">
                  <a:pos x="63" y="9"/>
                </a:cxn>
                <a:cxn ang="0">
                  <a:pos x="49" y="13"/>
                </a:cxn>
                <a:cxn ang="0">
                  <a:pos x="39" y="17"/>
                </a:cxn>
                <a:cxn ang="0">
                  <a:pos x="36" y="15"/>
                </a:cxn>
                <a:cxn ang="0">
                  <a:pos x="29" y="20"/>
                </a:cxn>
                <a:cxn ang="0">
                  <a:pos x="19" y="21"/>
                </a:cxn>
                <a:cxn ang="0">
                  <a:pos x="19" y="18"/>
                </a:cxn>
                <a:cxn ang="0">
                  <a:pos x="11" y="20"/>
                </a:cxn>
                <a:cxn ang="0">
                  <a:pos x="0" y="19"/>
                </a:cxn>
                <a:cxn ang="0">
                  <a:pos x="6" y="15"/>
                </a:cxn>
                <a:cxn ang="0">
                  <a:pos x="43" y="7"/>
                </a:cxn>
                <a:cxn ang="0">
                  <a:pos x="69" y="1"/>
                </a:cxn>
                <a:cxn ang="0">
                  <a:pos x="85" y="0"/>
                </a:cxn>
                <a:cxn ang="0">
                  <a:pos x="101" y="2"/>
                </a:cxn>
                <a:cxn ang="0">
                  <a:pos x="87" y="6"/>
                </a:cxn>
                <a:cxn ang="0">
                  <a:pos x="89" y="7"/>
                </a:cxn>
                <a:cxn ang="0">
                  <a:pos x="85" y="8"/>
                </a:cxn>
                <a:cxn ang="0">
                  <a:pos x="69" y="12"/>
                </a:cxn>
                <a:cxn ang="0">
                  <a:pos x="60" y="17"/>
                </a:cxn>
                <a:cxn ang="0">
                  <a:pos x="60" y="12"/>
                </a:cxn>
              </a:cxnLst>
              <a:rect l="0" t="0" r="r" b="b"/>
              <a:pathLst>
                <a:path w="101" h="21">
                  <a:moveTo>
                    <a:pt x="60" y="12"/>
                  </a:moveTo>
                  <a:lnTo>
                    <a:pt x="63" y="9"/>
                  </a:lnTo>
                  <a:lnTo>
                    <a:pt x="49" y="13"/>
                  </a:lnTo>
                  <a:lnTo>
                    <a:pt x="39" y="17"/>
                  </a:lnTo>
                  <a:lnTo>
                    <a:pt x="36" y="15"/>
                  </a:lnTo>
                  <a:lnTo>
                    <a:pt x="29" y="20"/>
                  </a:lnTo>
                  <a:lnTo>
                    <a:pt x="19" y="21"/>
                  </a:lnTo>
                  <a:lnTo>
                    <a:pt x="19" y="18"/>
                  </a:lnTo>
                  <a:lnTo>
                    <a:pt x="11" y="20"/>
                  </a:lnTo>
                  <a:lnTo>
                    <a:pt x="0" y="19"/>
                  </a:lnTo>
                  <a:lnTo>
                    <a:pt x="6" y="15"/>
                  </a:lnTo>
                  <a:lnTo>
                    <a:pt x="43" y="7"/>
                  </a:lnTo>
                  <a:lnTo>
                    <a:pt x="69" y="1"/>
                  </a:lnTo>
                  <a:lnTo>
                    <a:pt x="85" y="0"/>
                  </a:lnTo>
                  <a:lnTo>
                    <a:pt x="101" y="2"/>
                  </a:lnTo>
                  <a:lnTo>
                    <a:pt x="87" y="6"/>
                  </a:lnTo>
                  <a:lnTo>
                    <a:pt x="89" y="7"/>
                  </a:lnTo>
                  <a:lnTo>
                    <a:pt x="85" y="8"/>
                  </a:lnTo>
                  <a:lnTo>
                    <a:pt x="69" y="12"/>
                  </a:lnTo>
                  <a:lnTo>
                    <a:pt x="60" y="17"/>
                  </a:lnTo>
                  <a:lnTo>
                    <a:pt x="6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7" name="Freeform 406"/>
            <p:cNvSpPr>
              <a:spLocks/>
            </p:cNvSpPr>
            <p:nvPr/>
          </p:nvSpPr>
          <p:spPr bwMode="auto">
            <a:xfrm>
              <a:off x="1327" y="1243"/>
              <a:ext cx="67" cy="25"/>
            </a:xfrm>
            <a:custGeom>
              <a:avLst/>
              <a:gdLst/>
              <a:ahLst/>
              <a:cxnLst>
                <a:cxn ang="0">
                  <a:pos x="29" y="7"/>
                </a:cxn>
                <a:cxn ang="0">
                  <a:pos x="19" y="4"/>
                </a:cxn>
                <a:cxn ang="0">
                  <a:pos x="23" y="6"/>
                </a:cxn>
                <a:cxn ang="0">
                  <a:pos x="16" y="7"/>
                </a:cxn>
                <a:cxn ang="0">
                  <a:pos x="16" y="9"/>
                </a:cxn>
                <a:cxn ang="0">
                  <a:pos x="15" y="10"/>
                </a:cxn>
                <a:cxn ang="0">
                  <a:pos x="0" y="13"/>
                </a:cxn>
                <a:cxn ang="0">
                  <a:pos x="40" y="13"/>
                </a:cxn>
                <a:cxn ang="0">
                  <a:pos x="16" y="18"/>
                </a:cxn>
                <a:cxn ang="0">
                  <a:pos x="15" y="19"/>
                </a:cxn>
                <a:cxn ang="0">
                  <a:pos x="39" y="21"/>
                </a:cxn>
                <a:cxn ang="0">
                  <a:pos x="41" y="19"/>
                </a:cxn>
                <a:cxn ang="0">
                  <a:pos x="45" y="16"/>
                </a:cxn>
                <a:cxn ang="0">
                  <a:pos x="53" y="16"/>
                </a:cxn>
                <a:cxn ang="0">
                  <a:pos x="55" y="13"/>
                </a:cxn>
                <a:cxn ang="0">
                  <a:pos x="51" y="12"/>
                </a:cxn>
                <a:cxn ang="0">
                  <a:pos x="61" y="4"/>
                </a:cxn>
                <a:cxn ang="0">
                  <a:pos x="59" y="0"/>
                </a:cxn>
                <a:cxn ang="0">
                  <a:pos x="49" y="2"/>
                </a:cxn>
                <a:cxn ang="0">
                  <a:pos x="31" y="2"/>
                </a:cxn>
                <a:cxn ang="0">
                  <a:pos x="39" y="7"/>
                </a:cxn>
                <a:cxn ang="0">
                  <a:pos x="33" y="8"/>
                </a:cxn>
                <a:cxn ang="0">
                  <a:pos x="29" y="7"/>
                </a:cxn>
              </a:cxnLst>
              <a:rect l="0" t="0" r="r" b="b"/>
              <a:pathLst>
                <a:path w="61" h="21">
                  <a:moveTo>
                    <a:pt x="29" y="7"/>
                  </a:moveTo>
                  <a:lnTo>
                    <a:pt x="19" y="4"/>
                  </a:lnTo>
                  <a:lnTo>
                    <a:pt x="23" y="6"/>
                  </a:lnTo>
                  <a:lnTo>
                    <a:pt x="16" y="7"/>
                  </a:lnTo>
                  <a:lnTo>
                    <a:pt x="16" y="9"/>
                  </a:lnTo>
                  <a:lnTo>
                    <a:pt x="15" y="10"/>
                  </a:lnTo>
                  <a:lnTo>
                    <a:pt x="0" y="13"/>
                  </a:lnTo>
                  <a:lnTo>
                    <a:pt x="40" y="13"/>
                  </a:lnTo>
                  <a:lnTo>
                    <a:pt x="16" y="18"/>
                  </a:lnTo>
                  <a:lnTo>
                    <a:pt x="15" y="19"/>
                  </a:lnTo>
                  <a:lnTo>
                    <a:pt x="39" y="21"/>
                  </a:lnTo>
                  <a:lnTo>
                    <a:pt x="41" y="19"/>
                  </a:lnTo>
                  <a:lnTo>
                    <a:pt x="45" y="16"/>
                  </a:lnTo>
                  <a:lnTo>
                    <a:pt x="53" y="16"/>
                  </a:lnTo>
                  <a:lnTo>
                    <a:pt x="55" y="13"/>
                  </a:lnTo>
                  <a:lnTo>
                    <a:pt x="51" y="12"/>
                  </a:lnTo>
                  <a:lnTo>
                    <a:pt x="61" y="4"/>
                  </a:lnTo>
                  <a:lnTo>
                    <a:pt x="59" y="0"/>
                  </a:lnTo>
                  <a:lnTo>
                    <a:pt x="49" y="2"/>
                  </a:lnTo>
                  <a:lnTo>
                    <a:pt x="31" y="2"/>
                  </a:lnTo>
                  <a:lnTo>
                    <a:pt x="39" y="7"/>
                  </a:lnTo>
                  <a:lnTo>
                    <a:pt x="33" y="8"/>
                  </a:lnTo>
                  <a:lnTo>
                    <a:pt x="29"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8" name="Freeform 407"/>
            <p:cNvSpPr>
              <a:spLocks/>
            </p:cNvSpPr>
            <p:nvPr/>
          </p:nvSpPr>
          <p:spPr bwMode="auto">
            <a:xfrm>
              <a:off x="1351" y="1205"/>
              <a:ext cx="63" cy="23"/>
            </a:xfrm>
            <a:custGeom>
              <a:avLst/>
              <a:gdLst/>
              <a:ahLst/>
              <a:cxnLst>
                <a:cxn ang="0">
                  <a:pos x="35" y="4"/>
                </a:cxn>
                <a:cxn ang="0">
                  <a:pos x="36" y="2"/>
                </a:cxn>
                <a:cxn ang="0">
                  <a:pos x="49" y="4"/>
                </a:cxn>
                <a:cxn ang="0">
                  <a:pos x="54" y="5"/>
                </a:cxn>
                <a:cxn ang="0">
                  <a:pos x="52" y="10"/>
                </a:cxn>
                <a:cxn ang="0">
                  <a:pos x="55" y="16"/>
                </a:cxn>
                <a:cxn ang="0">
                  <a:pos x="41" y="19"/>
                </a:cxn>
                <a:cxn ang="0">
                  <a:pos x="26" y="12"/>
                </a:cxn>
                <a:cxn ang="0">
                  <a:pos x="0" y="11"/>
                </a:cxn>
                <a:cxn ang="0">
                  <a:pos x="6" y="8"/>
                </a:cxn>
                <a:cxn ang="0">
                  <a:pos x="19" y="7"/>
                </a:cxn>
                <a:cxn ang="0">
                  <a:pos x="18" y="4"/>
                </a:cxn>
                <a:cxn ang="0">
                  <a:pos x="10" y="4"/>
                </a:cxn>
                <a:cxn ang="0">
                  <a:pos x="6" y="0"/>
                </a:cxn>
                <a:cxn ang="0">
                  <a:pos x="35" y="0"/>
                </a:cxn>
                <a:cxn ang="0">
                  <a:pos x="35" y="4"/>
                </a:cxn>
              </a:cxnLst>
              <a:rect l="0" t="0" r="r" b="b"/>
              <a:pathLst>
                <a:path w="55" h="19">
                  <a:moveTo>
                    <a:pt x="35" y="4"/>
                  </a:moveTo>
                  <a:lnTo>
                    <a:pt x="36" y="2"/>
                  </a:lnTo>
                  <a:lnTo>
                    <a:pt x="49" y="4"/>
                  </a:lnTo>
                  <a:lnTo>
                    <a:pt x="54" y="5"/>
                  </a:lnTo>
                  <a:lnTo>
                    <a:pt x="52" y="10"/>
                  </a:lnTo>
                  <a:lnTo>
                    <a:pt x="55" y="16"/>
                  </a:lnTo>
                  <a:lnTo>
                    <a:pt x="41" y="19"/>
                  </a:lnTo>
                  <a:lnTo>
                    <a:pt x="26" y="12"/>
                  </a:lnTo>
                  <a:lnTo>
                    <a:pt x="0" y="11"/>
                  </a:lnTo>
                  <a:lnTo>
                    <a:pt x="6" y="8"/>
                  </a:lnTo>
                  <a:lnTo>
                    <a:pt x="19" y="7"/>
                  </a:lnTo>
                  <a:lnTo>
                    <a:pt x="18" y="4"/>
                  </a:lnTo>
                  <a:lnTo>
                    <a:pt x="10" y="4"/>
                  </a:lnTo>
                  <a:lnTo>
                    <a:pt x="6" y="0"/>
                  </a:lnTo>
                  <a:lnTo>
                    <a:pt x="35" y="0"/>
                  </a:lnTo>
                  <a:lnTo>
                    <a:pt x="3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9" name="Freeform 408"/>
            <p:cNvSpPr>
              <a:spLocks/>
            </p:cNvSpPr>
            <p:nvPr/>
          </p:nvSpPr>
          <p:spPr bwMode="auto">
            <a:xfrm>
              <a:off x="1256" y="1350"/>
              <a:ext cx="53" cy="24"/>
            </a:xfrm>
            <a:custGeom>
              <a:avLst/>
              <a:gdLst/>
              <a:ahLst/>
              <a:cxnLst>
                <a:cxn ang="0">
                  <a:pos x="42" y="12"/>
                </a:cxn>
                <a:cxn ang="0">
                  <a:pos x="43" y="9"/>
                </a:cxn>
                <a:cxn ang="0">
                  <a:pos x="30" y="0"/>
                </a:cxn>
                <a:cxn ang="0">
                  <a:pos x="22" y="6"/>
                </a:cxn>
                <a:cxn ang="0">
                  <a:pos x="21" y="4"/>
                </a:cxn>
                <a:cxn ang="0">
                  <a:pos x="18" y="9"/>
                </a:cxn>
                <a:cxn ang="0">
                  <a:pos x="0" y="14"/>
                </a:cxn>
                <a:cxn ang="0">
                  <a:pos x="28" y="22"/>
                </a:cxn>
                <a:cxn ang="0">
                  <a:pos x="49" y="16"/>
                </a:cxn>
                <a:cxn ang="0">
                  <a:pos x="43" y="16"/>
                </a:cxn>
                <a:cxn ang="0">
                  <a:pos x="42" y="12"/>
                </a:cxn>
              </a:cxnLst>
              <a:rect l="0" t="0" r="r" b="b"/>
              <a:pathLst>
                <a:path w="49" h="22">
                  <a:moveTo>
                    <a:pt x="42" y="12"/>
                  </a:moveTo>
                  <a:lnTo>
                    <a:pt x="43" y="9"/>
                  </a:lnTo>
                  <a:lnTo>
                    <a:pt x="30" y="0"/>
                  </a:lnTo>
                  <a:lnTo>
                    <a:pt x="22" y="6"/>
                  </a:lnTo>
                  <a:lnTo>
                    <a:pt x="21" y="4"/>
                  </a:lnTo>
                  <a:lnTo>
                    <a:pt x="18" y="9"/>
                  </a:lnTo>
                  <a:lnTo>
                    <a:pt x="0" y="14"/>
                  </a:lnTo>
                  <a:lnTo>
                    <a:pt x="28" y="22"/>
                  </a:lnTo>
                  <a:lnTo>
                    <a:pt x="49" y="16"/>
                  </a:lnTo>
                  <a:lnTo>
                    <a:pt x="43" y="16"/>
                  </a:lnTo>
                  <a:lnTo>
                    <a:pt x="42"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0" name="Freeform 409"/>
            <p:cNvSpPr>
              <a:spLocks/>
            </p:cNvSpPr>
            <p:nvPr/>
          </p:nvSpPr>
          <p:spPr bwMode="auto">
            <a:xfrm>
              <a:off x="1549" y="1290"/>
              <a:ext cx="53" cy="13"/>
            </a:xfrm>
            <a:custGeom>
              <a:avLst/>
              <a:gdLst/>
              <a:ahLst/>
              <a:cxnLst>
                <a:cxn ang="0">
                  <a:pos x="33" y="0"/>
                </a:cxn>
                <a:cxn ang="0">
                  <a:pos x="2" y="0"/>
                </a:cxn>
                <a:cxn ang="0">
                  <a:pos x="0" y="4"/>
                </a:cxn>
                <a:cxn ang="0">
                  <a:pos x="5" y="8"/>
                </a:cxn>
                <a:cxn ang="0">
                  <a:pos x="9" y="13"/>
                </a:cxn>
                <a:cxn ang="0">
                  <a:pos x="48" y="10"/>
                </a:cxn>
                <a:cxn ang="0">
                  <a:pos x="33" y="0"/>
                </a:cxn>
              </a:cxnLst>
              <a:rect l="0" t="0" r="r" b="b"/>
              <a:pathLst>
                <a:path w="48" h="13">
                  <a:moveTo>
                    <a:pt x="33" y="0"/>
                  </a:moveTo>
                  <a:lnTo>
                    <a:pt x="2" y="0"/>
                  </a:lnTo>
                  <a:lnTo>
                    <a:pt x="0" y="4"/>
                  </a:lnTo>
                  <a:lnTo>
                    <a:pt x="5" y="8"/>
                  </a:lnTo>
                  <a:lnTo>
                    <a:pt x="9" y="13"/>
                  </a:lnTo>
                  <a:lnTo>
                    <a:pt x="48" y="10"/>
                  </a:lnTo>
                  <a:lnTo>
                    <a:pt x="3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1" name="Freeform 410"/>
            <p:cNvSpPr>
              <a:spLocks/>
            </p:cNvSpPr>
            <p:nvPr/>
          </p:nvSpPr>
          <p:spPr bwMode="auto">
            <a:xfrm>
              <a:off x="1527" y="1376"/>
              <a:ext cx="33" cy="20"/>
            </a:xfrm>
            <a:custGeom>
              <a:avLst/>
              <a:gdLst/>
              <a:ahLst/>
              <a:cxnLst>
                <a:cxn ang="0">
                  <a:pos x="27" y="11"/>
                </a:cxn>
                <a:cxn ang="0">
                  <a:pos x="4" y="17"/>
                </a:cxn>
                <a:cxn ang="0">
                  <a:pos x="0" y="8"/>
                </a:cxn>
                <a:cxn ang="0">
                  <a:pos x="19" y="0"/>
                </a:cxn>
                <a:cxn ang="0">
                  <a:pos x="30" y="3"/>
                </a:cxn>
                <a:cxn ang="0">
                  <a:pos x="27" y="11"/>
                </a:cxn>
              </a:cxnLst>
              <a:rect l="0" t="0" r="r" b="b"/>
              <a:pathLst>
                <a:path w="30" h="17">
                  <a:moveTo>
                    <a:pt x="27" y="11"/>
                  </a:moveTo>
                  <a:lnTo>
                    <a:pt x="4" y="17"/>
                  </a:lnTo>
                  <a:lnTo>
                    <a:pt x="0" y="8"/>
                  </a:lnTo>
                  <a:lnTo>
                    <a:pt x="19" y="0"/>
                  </a:lnTo>
                  <a:lnTo>
                    <a:pt x="30" y="3"/>
                  </a:lnTo>
                  <a:lnTo>
                    <a:pt x="27"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2" name="Freeform 411"/>
            <p:cNvSpPr>
              <a:spLocks/>
            </p:cNvSpPr>
            <p:nvPr/>
          </p:nvSpPr>
          <p:spPr bwMode="auto">
            <a:xfrm>
              <a:off x="1427" y="1212"/>
              <a:ext cx="38" cy="16"/>
            </a:xfrm>
            <a:custGeom>
              <a:avLst/>
              <a:gdLst/>
              <a:ahLst/>
              <a:cxnLst>
                <a:cxn ang="0">
                  <a:pos x="0" y="6"/>
                </a:cxn>
                <a:cxn ang="0">
                  <a:pos x="4" y="0"/>
                </a:cxn>
                <a:cxn ang="0">
                  <a:pos x="34" y="5"/>
                </a:cxn>
                <a:cxn ang="0">
                  <a:pos x="29" y="8"/>
                </a:cxn>
                <a:cxn ang="0">
                  <a:pos x="4" y="13"/>
                </a:cxn>
                <a:cxn ang="0">
                  <a:pos x="0" y="8"/>
                </a:cxn>
                <a:cxn ang="0">
                  <a:pos x="0" y="6"/>
                </a:cxn>
              </a:cxnLst>
              <a:rect l="0" t="0" r="r" b="b"/>
              <a:pathLst>
                <a:path w="34" h="13">
                  <a:moveTo>
                    <a:pt x="0" y="6"/>
                  </a:moveTo>
                  <a:lnTo>
                    <a:pt x="4" y="0"/>
                  </a:lnTo>
                  <a:lnTo>
                    <a:pt x="34" y="5"/>
                  </a:lnTo>
                  <a:lnTo>
                    <a:pt x="29" y="8"/>
                  </a:lnTo>
                  <a:lnTo>
                    <a:pt x="4" y="13"/>
                  </a:lnTo>
                  <a:lnTo>
                    <a:pt x="0" y="8"/>
                  </a:lnTo>
                  <a:lnTo>
                    <a:pt x="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3" name="Freeform 412"/>
            <p:cNvSpPr>
              <a:spLocks/>
            </p:cNvSpPr>
            <p:nvPr/>
          </p:nvSpPr>
          <p:spPr bwMode="auto">
            <a:xfrm>
              <a:off x="1385" y="1259"/>
              <a:ext cx="37" cy="11"/>
            </a:xfrm>
            <a:custGeom>
              <a:avLst/>
              <a:gdLst/>
              <a:ahLst/>
              <a:cxnLst>
                <a:cxn ang="0">
                  <a:pos x="10" y="11"/>
                </a:cxn>
                <a:cxn ang="0">
                  <a:pos x="0" y="8"/>
                </a:cxn>
                <a:cxn ang="0">
                  <a:pos x="26" y="0"/>
                </a:cxn>
                <a:cxn ang="0">
                  <a:pos x="35" y="7"/>
                </a:cxn>
                <a:cxn ang="0">
                  <a:pos x="31" y="11"/>
                </a:cxn>
                <a:cxn ang="0">
                  <a:pos x="10" y="11"/>
                </a:cxn>
              </a:cxnLst>
              <a:rect l="0" t="0" r="r" b="b"/>
              <a:pathLst>
                <a:path w="35" h="11">
                  <a:moveTo>
                    <a:pt x="10" y="11"/>
                  </a:moveTo>
                  <a:lnTo>
                    <a:pt x="0" y="8"/>
                  </a:lnTo>
                  <a:lnTo>
                    <a:pt x="26" y="0"/>
                  </a:lnTo>
                  <a:lnTo>
                    <a:pt x="35" y="7"/>
                  </a:lnTo>
                  <a:lnTo>
                    <a:pt x="31" y="11"/>
                  </a:lnTo>
                  <a:lnTo>
                    <a:pt x="10"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4" name="Freeform 413"/>
            <p:cNvSpPr>
              <a:spLocks/>
            </p:cNvSpPr>
            <p:nvPr/>
          </p:nvSpPr>
          <p:spPr bwMode="auto">
            <a:xfrm>
              <a:off x="1236" y="1288"/>
              <a:ext cx="31" cy="13"/>
            </a:xfrm>
            <a:custGeom>
              <a:avLst/>
              <a:gdLst/>
              <a:ahLst/>
              <a:cxnLst>
                <a:cxn ang="0">
                  <a:pos x="8" y="12"/>
                </a:cxn>
                <a:cxn ang="0">
                  <a:pos x="0" y="4"/>
                </a:cxn>
                <a:cxn ang="0">
                  <a:pos x="24" y="0"/>
                </a:cxn>
                <a:cxn ang="0">
                  <a:pos x="28" y="3"/>
                </a:cxn>
                <a:cxn ang="0">
                  <a:pos x="8" y="12"/>
                </a:cxn>
              </a:cxnLst>
              <a:rect l="0" t="0" r="r" b="b"/>
              <a:pathLst>
                <a:path w="28" h="12">
                  <a:moveTo>
                    <a:pt x="8" y="12"/>
                  </a:moveTo>
                  <a:lnTo>
                    <a:pt x="0" y="4"/>
                  </a:lnTo>
                  <a:lnTo>
                    <a:pt x="24" y="0"/>
                  </a:lnTo>
                  <a:lnTo>
                    <a:pt x="28" y="3"/>
                  </a:lnTo>
                  <a:lnTo>
                    <a:pt x="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5" name="Freeform 414"/>
            <p:cNvSpPr>
              <a:spLocks/>
            </p:cNvSpPr>
            <p:nvPr/>
          </p:nvSpPr>
          <p:spPr bwMode="auto">
            <a:xfrm>
              <a:off x="1711" y="1152"/>
              <a:ext cx="691" cy="371"/>
            </a:xfrm>
            <a:custGeom>
              <a:avLst/>
              <a:gdLst/>
              <a:ahLst/>
              <a:cxnLst>
                <a:cxn ang="0">
                  <a:pos x="106" y="264"/>
                </a:cxn>
                <a:cxn ang="0">
                  <a:pos x="126" y="259"/>
                </a:cxn>
                <a:cxn ang="0">
                  <a:pos x="110" y="276"/>
                </a:cxn>
                <a:cxn ang="0">
                  <a:pos x="119" y="287"/>
                </a:cxn>
                <a:cxn ang="0">
                  <a:pos x="126" y="304"/>
                </a:cxn>
                <a:cxn ang="0">
                  <a:pos x="131" y="311"/>
                </a:cxn>
                <a:cxn ang="0">
                  <a:pos x="140" y="320"/>
                </a:cxn>
                <a:cxn ang="0">
                  <a:pos x="162" y="324"/>
                </a:cxn>
                <a:cxn ang="0">
                  <a:pos x="170" y="334"/>
                </a:cxn>
                <a:cxn ang="0">
                  <a:pos x="197" y="324"/>
                </a:cxn>
                <a:cxn ang="0">
                  <a:pos x="202" y="314"/>
                </a:cxn>
                <a:cxn ang="0">
                  <a:pos x="214" y="300"/>
                </a:cxn>
                <a:cxn ang="0">
                  <a:pos x="223" y="282"/>
                </a:cxn>
                <a:cxn ang="0">
                  <a:pos x="234" y="272"/>
                </a:cxn>
                <a:cxn ang="0">
                  <a:pos x="257" y="246"/>
                </a:cxn>
                <a:cxn ang="0">
                  <a:pos x="288" y="239"/>
                </a:cxn>
                <a:cxn ang="0">
                  <a:pos x="343" y="217"/>
                </a:cxn>
                <a:cxn ang="0">
                  <a:pos x="394" y="204"/>
                </a:cxn>
                <a:cxn ang="0">
                  <a:pos x="482" y="175"/>
                </a:cxn>
                <a:cxn ang="0">
                  <a:pos x="424" y="162"/>
                </a:cxn>
                <a:cxn ang="0">
                  <a:pos x="424" y="146"/>
                </a:cxn>
                <a:cxn ang="0">
                  <a:pos x="492" y="168"/>
                </a:cxn>
                <a:cxn ang="0">
                  <a:pos x="486" y="148"/>
                </a:cxn>
                <a:cxn ang="0">
                  <a:pos x="440" y="136"/>
                </a:cxn>
                <a:cxn ang="0">
                  <a:pos x="460" y="127"/>
                </a:cxn>
                <a:cxn ang="0">
                  <a:pos x="499" y="128"/>
                </a:cxn>
                <a:cxn ang="0">
                  <a:pos x="532" y="113"/>
                </a:cxn>
                <a:cxn ang="0">
                  <a:pos x="505" y="95"/>
                </a:cxn>
                <a:cxn ang="0">
                  <a:pos x="509" y="85"/>
                </a:cxn>
                <a:cxn ang="0">
                  <a:pos x="544" y="68"/>
                </a:cxn>
                <a:cxn ang="0">
                  <a:pos x="540" y="48"/>
                </a:cxn>
                <a:cxn ang="0">
                  <a:pos x="580" y="31"/>
                </a:cxn>
                <a:cxn ang="0">
                  <a:pos x="545" y="22"/>
                </a:cxn>
                <a:cxn ang="0">
                  <a:pos x="479" y="23"/>
                </a:cxn>
                <a:cxn ang="0">
                  <a:pos x="503" y="7"/>
                </a:cxn>
                <a:cxn ang="0">
                  <a:pos x="383" y="4"/>
                </a:cxn>
                <a:cxn ang="0">
                  <a:pos x="342" y="7"/>
                </a:cxn>
                <a:cxn ang="0">
                  <a:pos x="314" y="16"/>
                </a:cxn>
                <a:cxn ang="0">
                  <a:pos x="221" y="20"/>
                </a:cxn>
                <a:cxn ang="0">
                  <a:pos x="148" y="24"/>
                </a:cxn>
                <a:cxn ang="0">
                  <a:pos x="95" y="41"/>
                </a:cxn>
                <a:cxn ang="0">
                  <a:pos x="19" y="68"/>
                </a:cxn>
                <a:cxn ang="0">
                  <a:pos x="38" y="74"/>
                </a:cxn>
                <a:cxn ang="0">
                  <a:pos x="42" y="89"/>
                </a:cxn>
                <a:cxn ang="0">
                  <a:pos x="132" y="109"/>
                </a:cxn>
                <a:cxn ang="0">
                  <a:pos x="136" y="132"/>
                </a:cxn>
                <a:cxn ang="0">
                  <a:pos x="136" y="152"/>
                </a:cxn>
                <a:cxn ang="0">
                  <a:pos x="160" y="155"/>
                </a:cxn>
                <a:cxn ang="0">
                  <a:pos x="162" y="164"/>
                </a:cxn>
                <a:cxn ang="0">
                  <a:pos x="158" y="184"/>
                </a:cxn>
                <a:cxn ang="0">
                  <a:pos x="152" y="194"/>
                </a:cxn>
                <a:cxn ang="0">
                  <a:pos x="125" y="204"/>
                </a:cxn>
                <a:cxn ang="0">
                  <a:pos x="137" y="210"/>
                </a:cxn>
                <a:cxn ang="0">
                  <a:pos x="126" y="211"/>
                </a:cxn>
                <a:cxn ang="0">
                  <a:pos x="119" y="223"/>
                </a:cxn>
                <a:cxn ang="0">
                  <a:pos x="124" y="228"/>
                </a:cxn>
                <a:cxn ang="0">
                  <a:pos x="104" y="241"/>
                </a:cxn>
              </a:cxnLst>
              <a:rect l="0" t="0" r="r" b="b"/>
              <a:pathLst>
                <a:path w="622" h="334">
                  <a:moveTo>
                    <a:pt x="131" y="242"/>
                  </a:moveTo>
                  <a:lnTo>
                    <a:pt x="115" y="246"/>
                  </a:lnTo>
                  <a:lnTo>
                    <a:pt x="109" y="251"/>
                  </a:lnTo>
                  <a:lnTo>
                    <a:pt x="108" y="254"/>
                  </a:lnTo>
                  <a:lnTo>
                    <a:pt x="119" y="253"/>
                  </a:lnTo>
                  <a:lnTo>
                    <a:pt x="113" y="256"/>
                  </a:lnTo>
                  <a:lnTo>
                    <a:pt x="106" y="264"/>
                  </a:lnTo>
                  <a:lnTo>
                    <a:pt x="115" y="262"/>
                  </a:lnTo>
                  <a:lnTo>
                    <a:pt x="122" y="258"/>
                  </a:lnTo>
                  <a:lnTo>
                    <a:pt x="125" y="250"/>
                  </a:lnTo>
                  <a:lnTo>
                    <a:pt x="127" y="254"/>
                  </a:lnTo>
                  <a:lnTo>
                    <a:pt x="132" y="256"/>
                  </a:lnTo>
                  <a:lnTo>
                    <a:pt x="134" y="263"/>
                  </a:lnTo>
                  <a:lnTo>
                    <a:pt x="126" y="259"/>
                  </a:lnTo>
                  <a:lnTo>
                    <a:pt x="127" y="263"/>
                  </a:lnTo>
                  <a:lnTo>
                    <a:pt x="113" y="266"/>
                  </a:lnTo>
                  <a:lnTo>
                    <a:pt x="125" y="265"/>
                  </a:lnTo>
                  <a:lnTo>
                    <a:pt x="128" y="265"/>
                  </a:lnTo>
                  <a:lnTo>
                    <a:pt x="109" y="269"/>
                  </a:lnTo>
                  <a:lnTo>
                    <a:pt x="115" y="271"/>
                  </a:lnTo>
                  <a:lnTo>
                    <a:pt x="110" y="276"/>
                  </a:lnTo>
                  <a:lnTo>
                    <a:pt x="116" y="275"/>
                  </a:lnTo>
                  <a:lnTo>
                    <a:pt x="113" y="277"/>
                  </a:lnTo>
                  <a:lnTo>
                    <a:pt x="112" y="278"/>
                  </a:lnTo>
                  <a:lnTo>
                    <a:pt x="119" y="280"/>
                  </a:lnTo>
                  <a:lnTo>
                    <a:pt x="112" y="281"/>
                  </a:lnTo>
                  <a:lnTo>
                    <a:pt x="120" y="283"/>
                  </a:lnTo>
                  <a:lnTo>
                    <a:pt x="119" y="287"/>
                  </a:lnTo>
                  <a:lnTo>
                    <a:pt x="124" y="286"/>
                  </a:lnTo>
                  <a:lnTo>
                    <a:pt x="120" y="289"/>
                  </a:lnTo>
                  <a:lnTo>
                    <a:pt x="118" y="292"/>
                  </a:lnTo>
                  <a:lnTo>
                    <a:pt x="124" y="298"/>
                  </a:lnTo>
                  <a:lnTo>
                    <a:pt x="122" y="300"/>
                  </a:lnTo>
                  <a:lnTo>
                    <a:pt x="128" y="300"/>
                  </a:lnTo>
                  <a:lnTo>
                    <a:pt x="126" y="304"/>
                  </a:lnTo>
                  <a:lnTo>
                    <a:pt x="130" y="302"/>
                  </a:lnTo>
                  <a:lnTo>
                    <a:pt x="128" y="306"/>
                  </a:lnTo>
                  <a:lnTo>
                    <a:pt x="131" y="307"/>
                  </a:lnTo>
                  <a:lnTo>
                    <a:pt x="126" y="308"/>
                  </a:lnTo>
                  <a:lnTo>
                    <a:pt x="132" y="308"/>
                  </a:lnTo>
                  <a:lnTo>
                    <a:pt x="130" y="311"/>
                  </a:lnTo>
                  <a:lnTo>
                    <a:pt x="131" y="311"/>
                  </a:lnTo>
                  <a:lnTo>
                    <a:pt x="130" y="314"/>
                  </a:lnTo>
                  <a:lnTo>
                    <a:pt x="136" y="313"/>
                  </a:lnTo>
                  <a:lnTo>
                    <a:pt x="137" y="317"/>
                  </a:lnTo>
                  <a:lnTo>
                    <a:pt x="134" y="318"/>
                  </a:lnTo>
                  <a:lnTo>
                    <a:pt x="136" y="318"/>
                  </a:lnTo>
                  <a:lnTo>
                    <a:pt x="136" y="319"/>
                  </a:lnTo>
                  <a:lnTo>
                    <a:pt x="140" y="320"/>
                  </a:lnTo>
                  <a:lnTo>
                    <a:pt x="149" y="319"/>
                  </a:lnTo>
                  <a:lnTo>
                    <a:pt x="163" y="314"/>
                  </a:lnTo>
                  <a:lnTo>
                    <a:pt x="163" y="317"/>
                  </a:lnTo>
                  <a:lnTo>
                    <a:pt x="169" y="314"/>
                  </a:lnTo>
                  <a:lnTo>
                    <a:pt x="161" y="320"/>
                  </a:lnTo>
                  <a:lnTo>
                    <a:pt x="167" y="319"/>
                  </a:lnTo>
                  <a:lnTo>
                    <a:pt x="162" y="324"/>
                  </a:lnTo>
                  <a:lnTo>
                    <a:pt x="169" y="323"/>
                  </a:lnTo>
                  <a:lnTo>
                    <a:pt x="168" y="325"/>
                  </a:lnTo>
                  <a:lnTo>
                    <a:pt x="173" y="324"/>
                  </a:lnTo>
                  <a:lnTo>
                    <a:pt x="168" y="330"/>
                  </a:lnTo>
                  <a:lnTo>
                    <a:pt x="175" y="326"/>
                  </a:lnTo>
                  <a:lnTo>
                    <a:pt x="168" y="331"/>
                  </a:lnTo>
                  <a:lnTo>
                    <a:pt x="170" y="334"/>
                  </a:lnTo>
                  <a:lnTo>
                    <a:pt x="181" y="329"/>
                  </a:lnTo>
                  <a:lnTo>
                    <a:pt x="191" y="332"/>
                  </a:lnTo>
                  <a:lnTo>
                    <a:pt x="192" y="330"/>
                  </a:lnTo>
                  <a:lnTo>
                    <a:pt x="190" y="328"/>
                  </a:lnTo>
                  <a:lnTo>
                    <a:pt x="181" y="324"/>
                  </a:lnTo>
                  <a:lnTo>
                    <a:pt x="194" y="325"/>
                  </a:lnTo>
                  <a:lnTo>
                    <a:pt x="197" y="324"/>
                  </a:lnTo>
                  <a:lnTo>
                    <a:pt x="194" y="322"/>
                  </a:lnTo>
                  <a:lnTo>
                    <a:pt x="196" y="320"/>
                  </a:lnTo>
                  <a:lnTo>
                    <a:pt x="194" y="319"/>
                  </a:lnTo>
                  <a:lnTo>
                    <a:pt x="202" y="319"/>
                  </a:lnTo>
                  <a:lnTo>
                    <a:pt x="194" y="317"/>
                  </a:lnTo>
                  <a:lnTo>
                    <a:pt x="202" y="317"/>
                  </a:lnTo>
                  <a:lnTo>
                    <a:pt x="202" y="314"/>
                  </a:lnTo>
                  <a:lnTo>
                    <a:pt x="202" y="313"/>
                  </a:lnTo>
                  <a:lnTo>
                    <a:pt x="205" y="312"/>
                  </a:lnTo>
                  <a:lnTo>
                    <a:pt x="203" y="310"/>
                  </a:lnTo>
                  <a:lnTo>
                    <a:pt x="209" y="308"/>
                  </a:lnTo>
                  <a:lnTo>
                    <a:pt x="208" y="306"/>
                  </a:lnTo>
                  <a:lnTo>
                    <a:pt x="212" y="301"/>
                  </a:lnTo>
                  <a:lnTo>
                    <a:pt x="214" y="300"/>
                  </a:lnTo>
                  <a:lnTo>
                    <a:pt x="210" y="295"/>
                  </a:lnTo>
                  <a:lnTo>
                    <a:pt x="212" y="295"/>
                  </a:lnTo>
                  <a:lnTo>
                    <a:pt x="208" y="290"/>
                  </a:lnTo>
                  <a:lnTo>
                    <a:pt x="217" y="287"/>
                  </a:lnTo>
                  <a:lnTo>
                    <a:pt x="226" y="286"/>
                  </a:lnTo>
                  <a:lnTo>
                    <a:pt x="223" y="284"/>
                  </a:lnTo>
                  <a:lnTo>
                    <a:pt x="223" y="282"/>
                  </a:lnTo>
                  <a:lnTo>
                    <a:pt x="228" y="282"/>
                  </a:lnTo>
                  <a:lnTo>
                    <a:pt x="229" y="278"/>
                  </a:lnTo>
                  <a:lnTo>
                    <a:pt x="233" y="280"/>
                  </a:lnTo>
                  <a:lnTo>
                    <a:pt x="230" y="278"/>
                  </a:lnTo>
                  <a:lnTo>
                    <a:pt x="234" y="277"/>
                  </a:lnTo>
                  <a:lnTo>
                    <a:pt x="239" y="275"/>
                  </a:lnTo>
                  <a:lnTo>
                    <a:pt x="234" y="272"/>
                  </a:lnTo>
                  <a:lnTo>
                    <a:pt x="244" y="272"/>
                  </a:lnTo>
                  <a:lnTo>
                    <a:pt x="241" y="266"/>
                  </a:lnTo>
                  <a:lnTo>
                    <a:pt x="234" y="264"/>
                  </a:lnTo>
                  <a:lnTo>
                    <a:pt x="246" y="262"/>
                  </a:lnTo>
                  <a:lnTo>
                    <a:pt x="246" y="252"/>
                  </a:lnTo>
                  <a:lnTo>
                    <a:pt x="258" y="251"/>
                  </a:lnTo>
                  <a:lnTo>
                    <a:pt x="257" y="246"/>
                  </a:lnTo>
                  <a:lnTo>
                    <a:pt x="265" y="245"/>
                  </a:lnTo>
                  <a:lnTo>
                    <a:pt x="270" y="244"/>
                  </a:lnTo>
                  <a:lnTo>
                    <a:pt x="283" y="241"/>
                  </a:lnTo>
                  <a:lnTo>
                    <a:pt x="281" y="240"/>
                  </a:lnTo>
                  <a:lnTo>
                    <a:pt x="289" y="233"/>
                  </a:lnTo>
                  <a:lnTo>
                    <a:pt x="295" y="234"/>
                  </a:lnTo>
                  <a:lnTo>
                    <a:pt x="288" y="239"/>
                  </a:lnTo>
                  <a:lnTo>
                    <a:pt x="295" y="240"/>
                  </a:lnTo>
                  <a:lnTo>
                    <a:pt x="313" y="235"/>
                  </a:lnTo>
                  <a:lnTo>
                    <a:pt x="314" y="232"/>
                  </a:lnTo>
                  <a:lnTo>
                    <a:pt x="319" y="233"/>
                  </a:lnTo>
                  <a:lnTo>
                    <a:pt x="330" y="229"/>
                  </a:lnTo>
                  <a:lnTo>
                    <a:pt x="332" y="227"/>
                  </a:lnTo>
                  <a:lnTo>
                    <a:pt x="343" y="217"/>
                  </a:lnTo>
                  <a:lnTo>
                    <a:pt x="361" y="209"/>
                  </a:lnTo>
                  <a:lnTo>
                    <a:pt x="361" y="204"/>
                  </a:lnTo>
                  <a:lnTo>
                    <a:pt x="364" y="199"/>
                  </a:lnTo>
                  <a:lnTo>
                    <a:pt x="377" y="206"/>
                  </a:lnTo>
                  <a:lnTo>
                    <a:pt x="384" y="204"/>
                  </a:lnTo>
                  <a:lnTo>
                    <a:pt x="390" y="203"/>
                  </a:lnTo>
                  <a:lnTo>
                    <a:pt x="394" y="204"/>
                  </a:lnTo>
                  <a:lnTo>
                    <a:pt x="419" y="198"/>
                  </a:lnTo>
                  <a:lnTo>
                    <a:pt x="444" y="192"/>
                  </a:lnTo>
                  <a:lnTo>
                    <a:pt x="452" y="188"/>
                  </a:lnTo>
                  <a:lnTo>
                    <a:pt x="462" y="184"/>
                  </a:lnTo>
                  <a:lnTo>
                    <a:pt x="467" y="181"/>
                  </a:lnTo>
                  <a:lnTo>
                    <a:pt x="474" y="178"/>
                  </a:lnTo>
                  <a:lnTo>
                    <a:pt x="482" y="175"/>
                  </a:lnTo>
                  <a:lnTo>
                    <a:pt x="448" y="172"/>
                  </a:lnTo>
                  <a:lnTo>
                    <a:pt x="419" y="176"/>
                  </a:lnTo>
                  <a:lnTo>
                    <a:pt x="418" y="174"/>
                  </a:lnTo>
                  <a:lnTo>
                    <a:pt x="438" y="169"/>
                  </a:lnTo>
                  <a:lnTo>
                    <a:pt x="409" y="169"/>
                  </a:lnTo>
                  <a:lnTo>
                    <a:pt x="424" y="163"/>
                  </a:lnTo>
                  <a:lnTo>
                    <a:pt x="424" y="162"/>
                  </a:lnTo>
                  <a:lnTo>
                    <a:pt x="425" y="161"/>
                  </a:lnTo>
                  <a:lnTo>
                    <a:pt x="451" y="160"/>
                  </a:lnTo>
                  <a:lnTo>
                    <a:pt x="450" y="155"/>
                  </a:lnTo>
                  <a:lnTo>
                    <a:pt x="449" y="155"/>
                  </a:lnTo>
                  <a:lnTo>
                    <a:pt x="426" y="154"/>
                  </a:lnTo>
                  <a:lnTo>
                    <a:pt x="433" y="151"/>
                  </a:lnTo>
                  <a:lnTo>
                    <a:pt x="424" y="146"/>
                  </a:lnTo>
                  <a:lnTo>
                    <a:pt x="446" y="154"/>
                  </a:lnTo>
                  <a:lnTo>
                    <a:pt x="466" y="161"/>
                  </a:lnTo>
                  <a:lnTo>
                    <a:pt x="473" y="170"/>
                  </a:lnTo>
                  <a:lnTo>
                    <a:pt x="482" y="168"/>
                  </a:lnTo>
                  <a:lnTo>
                    <a:pt x="485" y="164"/>
                  </a:lnTo>
                  <a:lnTo>
                    <a:pt x="486" y="169"/>
                  </a:lnTo>
                  <a:lnTo>
                    <a:pt x="492" y="168"/>
                  </a:lnTo>
                  <a:lnTo>
                    <a:pt x="492" y="162"/>
                  </a:lnTo>
                  <a:lnTo>
                    <a:pt x="493" y="155"/>
                  </a:lnTo>
                  <a:lnTo>
                    <a:pt x="486" y="156"/>
                  </a:lnTo>
                  <a:lnTo>
                    <a:pt x="490" y="152"/>
                  </a:lnTo>
                  <a:lnTo>
                    <a:pt x="485" y="152"/>
                  </a:lnTo>
                  <a:lnTo>
                    <a:pt x="482" y="151"/>
                  </a:lnTo>
                  <a:lnTo>
                    <a:pt x="486" y="148"/>
                  </a:lnTo>
                  <a:lnTo>
                    <a:pt x="460" y="142"/>
                  </a:lnTo>
                  <a:lnTo>
                    <a:pt x="456" y="144"/>
                  </a:lnTo>
                  <a:lnTo>
                    <a:pt x="456" y="140"/>
                  </a:lnTo>
                  <a:lnTo>
                    <a:pt x="466" y="138"/>
                  </a:lnTo>
                  <a:lnTo>
                    <a:pt x="450" y="137"/>
                  </a:lnTo>
                  <a:lnTo>
                    <a:pt x="443" y="137"/>
                  </a:lnTo>
                  <a:lnTo>
                    <a:pt x="440" y="136"/>
                  </a:lnTo>
                  <a:lnTo>
                    <a:pt x="463" y="132"/>
                  </a:lnTo>
                  <a:lnTo>
                    <a:pt x="439" y="131"/>
                  </a:lnTo>
                  <a:lnTo>
                    <a:pt x="438" y="133"/>
                  </a:lnTo>
                  <a:lnTo>
                    <a:pt x="438" y="131"/>
                  </a:lnTo>
                  <a:lnTo>
                    <a:pt x="445" y="128"/>
                  </a:lnTo>
                  <a:lnTo>
                    <a:pt x="443" y="126"/>
                  </a:lnTo>
                  <a:lnTo>
                    <a:pt x="460" y="127"/>
                  </a:lnTo>
                  <a:lnTo>
                    <a:pt x="466" y="124"/>
                  </a:lnTo>
                  <a:lnTo>
                    <a:pt x="463" y="121"/>
                  </a:lnTo>
                  <a:lnTo>
                    <a:pt x="472" y="124"/>
                  </a:lnTo>
                  <a:lnTo>
                    <a:pt x="482" y="122"/>
                  </a:lnTo>
                  <a:lnTo>
                    <a:pt x="491" y="125"/>
                  </a:lnTo>
                  <a:lnTo>
                    <a:pt x="478" y="124"/>
                  </a:lnTo>
                  <a:lnTo>
                    <a:pt x="499" y="128"/>
                  </a:lnTo>
                  <a:lnTo>
                    <a:pt x="516" y="124"/>
                  </a:lnTo>
                  <a:lnTo>
                    <a:pt x="517" y="120"/>
                  </a:lnTo>
                  <a:lnTo>
                    <a:pt x="502" y="120"/>
                  </a:lnTo>
                  <a:lnTo>
                    <a:pt x="500" y="121"/>
                  </a:lnTo>
                  <a:lnTo>
                    <a:pt x="497" y="115"/>
                  </a:lnTo>
                  <a:lnTo>
                    <a:pt x="503" y="110"/>
                  </a:lnTo>
                  <a:lnTo>
                    <a:pt x="532" y="113"/>
                  </a:lnTo>
                  <a:lnTo>
                    <a:pt x="529" y="108"/>
                  </a:lnTo>
                  <a:lnTo>
                    <a:pt x="517" y="108"/>
                  </a:lnTo>
                  <a:lnTo>
                    <a:pt x="515" y="103"/>
                  </a:lnTo>
                  <a:lnTo>
                    <a:pt x="504" y="103"/>
                  </a:lnTo>
                  <a:lnTo>
                    <a:pt x="516" y="101"/>
                  </a:lnTo>
                  <a:lnTo>
                    <a:pt x="504" y="97"/>
                  </a:lnTo>
                  <a:lnTo>
                    <a:pt x="505" y="95"/>
                  </a:lnTo>
                  <a:lnTo>
                    <a:pt x="530" y="101"/>
                  </a:lnTo>
                  <a:lnTo>
                    <a:pt x="529" y="91"/>
                  </a:lnTo>
                  <a:lnTo>
                    <a:pt x="510" y="91"/>
                  </a:lnTo>
                  <a:lnTo>
                    <a:pt x="532" y="89"/>
                  </a:lnTo>
                  <a:lnTo>
                    <a:pt x="520" y="88"/>
                  </a:lnTo>
                  <a:lnTo>
                    <a:pt x="512" y="85"/>
                  </a:lnTo>
                  <a:lnTo>
                    <a:pt x="509" y="85"/>
                  </a:lnTo>
                  <a:lnTo>
                    <a:pt x="503" y="80"/>
                  </a:lnTo>
                  <a:lnTo>
                    <a:pt x="520" y="79"/>
                  </a:lnTo>
                  <a:lnTo>
                    <a:pt x="550" y="79"/>
                  </a:lnTo>
                  <a:lnTo>
                    <a:pt x="548" y="72"/>
                  </a:lnTo>
                  <a:lnTo>
                    <a:pt x="532" y="72"/>
                  </a:lnTo>
                  <a:lnTo>
                    <a:pt x="524" y="68"/>
                  </a:lnTo>
                  <a:lnTo>
                    <a:pt x="544" y="68"/>
                  </a:lnTo>
                  <a:lnTo>
                    <a:pt x="523" y="65"/>
                  </a:lnTo>
                  <a:lnTo>
                    <a:pt x="518" y="68"/>
                  </a:lnTo>
                  <a:lnTo>
                    <a:pt x="515" y="66"/>
                  </a:lnTo>
                  <a:lnTo>
                    <a:pt x="523" y="55"/>
                  </a:lnTo>
                  <a:lnTo>
                    <a:pt x="539" y="52"/>
                  </a:lnTo>
                  <a:lnTo>
                    <a:pt x="546" y="47"/>
                  </a:lnTo>
                  <a:lnTo>
                    <a:pt x="540" y="48"/>
                  </a:lnTo>
                  <a:lnTo>
                    <a:pt x="548" y="41"/>
                  </a:lnTo>
                  <a:lnTo>
                    <a:pt x="560" y="40"/>
                  </a:lnTo>
                  <a:lnTo>
                    <a:pt x="562" y="36"/>
                  </a:lnTo>
                  <a:lnTo>
                    <a:pt x="539" y="40"/>
                  </a:lnTo>
                  <a:lnTo>
                    <a:pt x="535" y="37"/>
                  </a:lnTo>
                  <a:lnTo>
                    <a:pt x="557" y="35"/>
                  </a:lnTo>
                  <a:lnTo>
                    <a:pt x="580" y="31"/>
                  </a:lnTo>
                  <a:lnTo>
                    <a:pt x="538" y="31"/>
                  </a:lnTo>
                  <a:lnTo>
                    <a:pt x="596" y="28"/>
                  </a:lnTo>
                  <a:lnTo>
                    <a:pt x="594" y="25"/>
                  </a:lnTo>
                  <a:lnTo>
                    <a:pt x="622" y="20"/>
                  </a:lnTo>
                  <a:lnTo>
                    <a:pt x="586" y="17"/>
                  </a:lnTo>
                  <a:lnTo>
                    <a:pt x="566" y="20"/>
                  </a:lnTo>
                  <a:lnTo>
                    <a:pt x="545" y="22"/>
                  </a:lnTo>
                  <a:lnTo>
                    <a:pt x="544" y="20"/>
                  </a:lnTo>
                  <a:lnTo>
                    <a:pt x="504" y="31"/>
                  </a:lnTo>
                  <a:lnTo>
                    <a:pt x="518" y="24"/>
                  </a:lnTo>
                  <a:lnTo>
                    <a:pt x="528" y="17"/>
                  </a:lnTo>
                  <a:lnTo>
                    <a:pt x="512" y="16"/>
                  </a:lnTo>
                  <a:lnTo>
                    <a:pt x="508" y="18"/>
                  </a:lnTo>
                  <a:lnTo>
                    <a:pt x="479" y="23"/>
                  </a:lnTo>
                  <a:lnTo>
                    <a:pt x="493" y="19"/>
                  </a:lnTo>
                  <a:lnTo>
                    <a:pt x="497" y="16"/>
                  </a:lnTo>
                  <a:lnTo>
                    <a:pt x="428" y="19"/>
                  </a:lnTo>
                  <a:lnTo>
                    <a:pt x="449" y="14"/>
                  </a:lnTo>
                  <a:lnTo>
                    <a:pt x="488" y="14"/>
                  </a:lnTo>
                  <a:lnTo>
                    <a:pt x="535" y="11"/>
                  </a:lnTo>
                  <a:lnTo>
                    <a:pt x="503" y="7"/>
                  </a:lnTo>
                  <a:lnTo>
                    <a:pt x="504" y="5"/>
                  </a:lnTo>
                  <a:lnTo>
                    <a:pt x="410" y="6"/>
                  </a:lnTo>
                  <a:lnTo>
                    <a:pt x="422" y="6"/>
                  </a:lnTo>
                  <a:lnTo>
                    <a:pt x="494" y="4"/>
                  </a:lnTo>
                  <a:lnTo>
                    <a:pt x="466" y="0"/>
                  </a:lnTo>
                  <a:lnTo>
                    <a:pt x="377" y="1"/>
                  </a:lnTo>
                  <a:lnTo>
                    <a:pt x="383" y="4"/>
                  </a:lnTo>
                  <a:lnTo>
                    <a:pt x="376" y="5"/>
                  </a:lnTo>
                  <a:lnTo>
                    <a:pt x="373" y="6"/>
                  </a:lnTo>
                  <a:lnTo>
                    <a:pt x="350" y="5"/>
                  </a:lnTo>
                  <a:lnTo>
                    <a:pt x="319" y="4"/>
                  </a:lnTo>
                  <a:lnTo>
                    <a:pt x="324" y="6"/>
                  </a:lnTo>
                  <a:lnTo>
                    <a:pt x="301" y="5"/>
                  </a:lnTo>
                  <a:lnTo>
                    <a:pt x="342" y="7"/>
                  </a:lnTo>
                  <a:lnTo>
                    <a:pt x="361" y="11"/>
                  </a:lnTo>
                  <a:lnTo>
                    <a:pt x="343" y="8"/>
                  </a:lnTo>
                  <a:lnTo>
                    <a:pt x="343" y="10"/>
                  </a:lnTo>
                  <a:lnTo>
                    <a:pt x="314" y="8"/>
                  </a:lnTo>
                  <a:lnTo>
                    <a:pt x="326" y="13"/>
                  </a:lnTo>
                  <a:lnTo>
                    <a:pt x="317" y="13"/>
                  </a:lnTo>
                  <a:lnTo>
                    <a:pt x="314" y="16"/>
                  </a:lnTo>
                  <a:lnTo>
                    <a:pt x="314" y="18"/>
                  </a:lnTo>
                  <a:lnTo>
                    <a:pt x="262" y="11"/>
                  </a:lnTo>
                  <a:lnTo>
                    <a:pt x="258" y="17"/>
                  </a:lnTo>
                  <a:lnTo>
                    <a:pt x="258" y="19"/>
                  </a:lnTo>
                  <a:lnTo>
                    <a:pt x="235" y="16"/>
                  </a:lnTo>
                  <a:lnTo>
                    <a:pt x="224" y="20"/>
                  </a:lnTo>
                  <a:lnTo>
                    <a:pt x="221" y="20"/>
                  </a:lnTo>
                  <a:lnTo>
                    <a:pt x="224" y="13"/>
                  </a:lnTo>
                  <a:lnTo>
                    <a:pt x="173" y="16"/>
                  </a:lnTo>
                  <a:lnTo>
                    <a:pt x="188" y="22"/>
                  </a:lnTo>
                  <a:lnTo>
                    <a:pt x="175" y="19"/>
                  </a:lnTo>
                  <a:lnTo>
                    <a:pt x="151" y="18"/>
                  </a:lnTo>
                  <a:lnTo>
                    <a:pt x="151" y="20"/>
                  </a:lnTo>
                  <a:lnTo>
                    <a:pt x="148" y="24"/>
                  </a:lnTo>
                  <a:lnTo>
                    <a:pt x="128" y="24"/>
                  </a:lnTo>
                  <a:lnTo>
                    <a:pt x="126" y="28"/>
                  </a:lnTo>
                  <a:lnTo>
                    <a:pt x="124" y="25"/>
                  </a:lnTo>
                  <a:lnTo>
                    <a:pt x="74" y="35"/>
                  </a:lnTo>
                  <a:lnTo>
                    <a:pt x="106" y="36"/>
                  </a:lnTo>
                  <a:lnTo>
                    <a:pt x="97" y="37"/>
                  </a:lnTo>
                  <a:lnTo>
                    <a:pt x="95" y="41"/>
                  </a:lnTo>
                  <a:lnTo>
                    <a:pt x="84" y="47"/>
                  </a:lnTo>
                  <a:lnTo>
                    <a:pt x="46" y="52"/>
                  </a:lnTo>
                  <a:lnTo>
                    <a:pt x="5" y="58"/>
                  </a:lnTo>
                  <a:lnTo>
                    <a:pt x="1" y="60"/>
                  </a:lnTo>
                  <a:lnTo>
                    <a:pt x="1" y="64"/>
                  </a:lnTo>
                  <a:lnTo>
                    <a:pt x="23" y="66"/>
                  </a:lnTo>
                  <a:lnTo>
                    <a:pt x="19" y="68"/>
                  </a:lnTo>
                  <a:lnTo>
                    <a:pt x="18" y="70"/>
                  </a:lnTo>
                  <a:lnTo>
                    <a:pt x="34" y="71"/>
                  </a:lnTo>
                  <a:lnTo>
                    <a:pt x="56" y="68"/>
                  </a:lnTo>
                  <a:lnTo>
                    <a:pt x="53" y="73"/>
                  </a:lnTo>
                  <a:lnTo>
                    <a:pt x="26" y="73"/>
                  </a:lnTo>
                  <a:lnTo>
                    <a:pt x="47" y="76"/>
                  </a:lnTo>
                  <a:lnTo>
                    <a:pt x="38" y="74"/>
                  </a:lnTo>
                  <a:lnTo>
                    <a:pt x="0" y="77"/>
                  </a:lnTo>
                  <a:lnTo>
                    <a:pt x="13" y="78"/>
                  </a:lnTo>
                  <a:lnTo>
                    <a:pt x="24" y="82"/>
                  </a:lnTo>
                  <a:lnTo>
                    <a:pt x="12" y="85"/>
                  </a:lnTo>
                  <a:lnTo>
                    <a:pt x="38" y="91"/>
                  </a:lnTo>
                  <a:lnTo>
                    <a:pt x="35" y="89"/>
                  </a:lnTo>
                  <a:lnTo>
                    <a:pt x="42" y="89"/>
                  </a:lnTo>
                  <a:lnTo>
                    <a:pt x="48" y="89"/>
                  </a:lnTo>
                  <a:lnTo>
                    <a:pt x="66" y="86"/>
                  </a:lnTo>
                  <a:lnTo>
                    <a:pt x="74" y="86"/>
                  </a:lnTo>
                  <a:lnTo>
                    <a:pt x="121" y="95"/>
                  </a:lnTo>
                  <a:lnTo>
                    <a:pt x="118" y="100"/>
                  </a:lnTo>
                  <a:lnTo>
                    <a:pt x="128" y="106"/>
                  </a:lnTo>
                  <a:lnTo>
                    <a:pt x="132" y="109"/>
                  </a:lnTo>
                  <a:lnTo>
                    <a:pt x="128" y="113"/>
                  </a:lnTo>
                  <a:lnTo>
                    <a:pt x="124" y="115"/>
                  </a:lnTo>
                  <a:lnTo>
                    <a:pt x="132" y="115"/>
                  </a:lnTo>
                  <a:lnTo>
                    <a:pt x="132" y="121"/>
                  </a:lnTo>
                  <a:lnTo>
                    <a:pt x="133" y="126"/>
                  </a:lnTo>
                  <a:lnTo>
                    <a:pt x="132" y="130"/>
                  </a:lnTo>
                  <a:lnTo>
                    <a:pt x="136" y="132"/>
                  </a:lnTo>
                  <a:lnTo>
                    <a:pt x="133" y="139"/>
                  </a:lnTo>
                  <a:lnTo>
                    <a:pt x="127" y="142"/>
                  </a:lnTo>
                  <a:lnTo>
                    <a:pt x="124" y="146"/>
                  </a:lnTo>
                  <a:lnTo>
                    <a:pt x="131" y="146"/>
                  </a:lnTo>
                  <a:lnTo>
                    <a:pt x="116" y="151"/>
                  </a:lnTo>
                  <a:lnTo>
                    <a:pt x="122" y="156"/>
                  </a:lnTo>
                  <a:lnTo>
                    <a:pt x="136" y="152"/>
                  </a:lnTo>
                  <a:lnTo>
                    <a:pt x="143" y="142"/>
                  </a:lnTo>
                  <a:lnTo>
                    <a:pt x="144" y="150"/>
                  </a:lnTo>
                  <a:lnTo>
                    <a:pt x="151" y="148"/>
                  </a:lnTo>
                  <a:lnTo>
                    <a:pt x="149" y="150"/>
                  </a:lnTo>
                  <a:lnTo>
                    <a:pt x="160" y="152"/>
                  </a:lnTo>
                  <a:lnTo>
                    <a:pt x="149" y="155"/>
                  </a:lnTo>
                  <a:lnTo>
                    <a:pt x="160" y="155"/>
                  </a:lnTo>
                  <a:lnTo>
                    <a:pt x="151" y="158"/>
                  </a:lnTo>
                  <a:lnTo>
                    <a:pt x="157" y="157"/>
                  </a:lnTo>
                  <a:lnTo>
                    <a:pt x="154" y="158"/>
                  </a:lnTo>
                  <a:lnTo>
                    <a:pt x="162" y="162"/>
                  </a:lnTo>
                  <a:lnTo>
                    <a:pt x="155" y="161"/>
                  </a:lnTo>
                  <a:lnTo>
                    <a:pt x="163" y="164"/>
                  </a:lnTo>
                  <a:lnTo>
                    <a:pt x="162" y="164"/>
                  </a:lnTo>
                  <a:lnTo>
                    <a:pt x="162" y="168"/>
                  </a:lnTo>
                  <a:lnTo>
                    <a:pt x="163" y="170"/>
                  </a:lnTo>
                  <a:lnTo>
                    <a:pt x="127" y="164"/>
                  </a:lnTo>
                  <a:lnTo>
                    <a:pt x="125" y="169"/>
                  </a:lnTo>
                  <a:lnTo>
                    <a:pt x="163" y="178"/>
                  </a:lnTo>
                  <a:lnTo>
                    <a:pt x="157" y="181"/>
                  </a:lnTo>
                  <a:lnTo>
                    <a:pt x="158" y="184"/>
                  </a:lnTo>
                  <a:lnTo>
                    <a:pt x="154" y="186"/>
                  </a:lnTo>
                  <a:lnTo>
                    <a:pt x="156" y="188"/>
                  </a:lnTo>
                  <a:lnTo>
                    <a:pt x="160" y="190"/>
                  </a:lnTo>
                  <a:lnTo>
                    <a:pt x="160" y="192"/>
                  </a:lnTo>
                  <a:lnTo>
                    <a:pt x="154" y="190"/>
                  </a:lnTo>
                  <a:lnTo>
                    <a:pt x="148" y="193"/>
                  </a:lnTo>
                  <a:lnTo>
                    <a:pt x="152" y="194"/>
                  </a:lnTo>
                  <a:lnTo>
                    <a:pt x="122" y="202"/>
                  </a:lnTo>
                  <a:lnTo>
                    <a:pt x="125" y="204"/>
                  </a:lnTo>
                  <a:lnTo>
                    <a:pt x="143" y="202"/>
                  </a:lnTo>
                  <a:lnTo>
                    <a:pt x="149" y="199"/>
                  </a:lnTo>
                  <a:lnTo>
                    <a:pt x="144" y="204"/>
                  </a:lnTo>
                  <a:lnTo>
                    <a:pt x="149" y="208"/>
                  </a:lnTo>
                  <a:lnTo>
                    <a:pt x="125" y="204"/>
                  </a:lnTo>
                  <a:lnTo>
                    <a:pt x="120" y="204"/>
                  </a:lnTo>
                  <a:lnTo>
                    <a:pt x="130" y="208"/>
                  </a:lnTo>
                  <a:lnTo>
                    <a:pt x="118" y="206"/>
                  </a:lnTo>
                  <a:lnTo>
                    <a:pt x="109" y="212"/>
                  </a:lnTo>
                  <a:lnTo>
                    <a:pt x="132" y="209"/>
                  </a:lnTo>
                  <a:lnTo>
                    <a:pt x="130" y="209"/>
                  </a:lnTo>
                  <a:lnTo>
                    <a:pt x="137" y="210"/>
                  </a:lnTo>
                  <a:lnTo>
                    <a:pt x="143" y="209"/>
                  </a:lnTo>
                  <a:lnTo>
                    <a:pt x="148" y="209"/>
                  </a:lnTo>
                  <a:lnTo>
                    <a:pt x="142" y="211"/>
                  </a:lnTo>
                  <a:lnTo>
                    <a:pt x="150" y="211"/>
                  </a:lnTo>
                  <a:lnTo>
                    <a:pt x="145" y="212"/>
                  </a:lnTo>
                  <a:lnTo>
                    <a:pt x="148" y="215"/>
                  </a:lnTo>
                  <a:lnTo>
                    <a:pt x="126" y="211"/>
                  </a:lnTo>
                  <a:lnTo>
                    <a:pt x="106" y="217"/>
                  </a:lnTo>
                  <a:lnTo>
                    <a:pt x="133" y="217"/>
                  </a:lnTo>
                  <a:lnTo>
                    <a:pt x="140" y="220"/>
                  </a:lnTo>
                  <a:lnTo>
                    <a:pt x="133" y="218"/>
                  </a:lnTo>
                  <a:lnTo>
                    <a:pt x="104" y="220"/>
                  </a:lnTo>
                  <a:lnTo>
                    <a:pt x="108" y="222"/>
                  </a:lnTo>
                  <a:lnTo>
                    <a:pt x="119" y="223"/>
                  </a:lnTo>
                  <a:lnTo>
                    <a:pt x="113" y="226"/>
                  </a:lnTo>
                  <a:lnTo>
                    <a:pt x="112" y="227"/>
                  </a:lnTo>
                  <a:lnTo>
                    <a:pt x="108" y="227"/>
                  </a:lnTo>
                  <a:lnTo>
                    <a:pt x="115" y="229"/>
                  </a:lnTo>
                  <a:lnTo>
                    <a:pt x="104" y="230"/>
                  </a:lnTo>
                  <a:lnTo>
                    <a:pt x="102" y="234"/>
                  </a:lnTo>
                  <a:lnTo>
                    <a:pt x="124" y="228"/>
                  </a:lnTo>
                  <a:lnTo>
                    <a:pt x="145" y="222"/>
                  </a:lnTo>
                  <a:lnTo>
                    <a:pt x="139" y="224"/>
                  </a:lnTo>
                  <a:lnTo>
                    <a:pt x="102" y="238"/>
                  </a:lnTo>
                  <a:lnTo>
                    <a:pt x="107" y="238"/>
                  </a:lnTo>
                  <a:lnTo>
                    <a:pt x="102" y="239"/>
                  </a:lnTo>
                  <a:lnTo>
                    <a:pt x="121" y="236"/>
                  </a:lnTo>
                  <a:lnTo>
                    <a:pt x="104" y="241"/>
                  </a:lnTo>
                  <a:lnTo>
                    <a:pt x="106" y="244"/>
                  </a:lnTo>
                  <a:lnTo>
                    <a:pt x="108" y="245"/>
                  </a:lnTo>
                  <a:lnTo>
                    <a:pt x="116" y="245"/>
                  </a:lnTo>
                  <a:lnTo>
                    <a:pt x="131" y="2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6" name="Freeform 415"/>
            <p:cNvSpPr>
              <a:spLocks/>
            </p:cNvSpPr>
            <p:nvPr/>
          </p:nvSpPr>
          <p:spPr bwMode="auto">
            <a:xfrm>
              <a:off x="1838" y="1343"/>
              <a:ext cx="35" cy="18"/>
            </a:xfrm>
            <a:custGeom>
              <a:avLst/>
              <a:gdLst/>
              <a:ahLst/>
              <a:cxnLst>
                <a:cxn ang="0">
                  <a:pos x="31" y="10"/>
                </a:cxn>
                <a:cxn ang="0">
                  <a:pos x="7" y="0"/>
                </a:cxn>
                <a:cxn ang="0">
                  <a:pos x="0" y="4"/>
                </a:cxn>
                <a:cxn ang="0">
                  <a:pos x="1" y="4"/>
                </a:cxn>
                <a:cxn ang="0">
                  <a:pos x="0" y="8"/>
                </a:cxn>
                <a:cxn ang="0">
                  <a:pos x="2" y="10"/>
                </a:cxn>
                <a:cxn ang="0">
                  <a:pos x="8" y="13"/>
                </a:cxn>
                <a:cxn ang="0">
                  <a:pos x="5" y="15"/>
                </a:cxn>
                <a:cxn ang="0">
                  <a:pos x="31" y="10"/>
                </a:cxn>
              </a:cxnLst>
              <a:rect l="0" t="0" r="r" b="b"/>
              <a:pathLst>
                <a:path w="31" h="15">
                  <a:moveTo>
                    <a:pt x="31" y="10"/>
                  </a:moveTo>
                  <a:lnTo>
                    <a:pt x="7" y="0"/>
                  </a:lnTo>
                  <a:lnTo>
                    <a:pt x="0" y="4"/>
                  </a:lnTo>
                  <a:lnTo>
                    <a:pt x="1" y="4"/>
                  </a:lnTo>
                  <a:lnTo>
                    <a:pt x="0" y="8"/>
                  </a:lnTo>
                  <a:lnTo>
                    <a:pt x="2" y="10"/>
                  </a:lnTo>
                  <a:lnTo>
                    <a:pt x="8" y="13"/>
                  </a:lnTo>
                  <a:lnTo>
                    <a:pt x="5" y="15"/>
                  </a:lnTo>
                  <a:lnTo>
                    <a:pt x="31"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7" name="Freeform 416"/>
            <p:cNvSpPr>
              <a:spLocks/>
            </p:cNvSpPr>
            <p:nvPr/>
          </p:nvSpPr>
          <p:spPr bwMode="auto">
            <a:xfrm>
              <a:off x="2207" y="1408"/>
              <a:ext cx="142" cy="53"/>
            </a:xfrm>
            <a:custGeom>
              <a:avLst/>
              <a:gdLst/>
              <a:ahLst/>
              <a:cxnLst>
                <a:cxn ang="0">
                  <a:pos x="99" y="0"/>
                </a:cxn>
                <a:cxn ang="0">
                  <a:pos x="96" y="4"/>
                </a:cxn>
                <a:cxn ang="0">
                  <a:pos x="86" y="8"/>
                </a:cxn>
                <a:cxn ang="0">
                  <a:pos x="77" y="5"/>
                </a:cxn>
                <a:cxn ang="0">
                  <a:pos x="76" y="12"/>
                </a:cxn>
                <a:cxn ang="0">
                  <a:pos x="75" y="10"/>
                </a:cxn>
                <a:cxn ang="0">
                  <a:pos x="64" y="6"/>
                </a:cxn>
                <a:cxn ang="0">
                  <a:pos x="60" y="10"/>
                </a:cxn>
                <a:cxn ang="0">
                  <a:pos x="53" y="6"/>
                </a:cxn>
                <a:cxn ang="0">
                  <a:pos x="46" y="15"/>
                </a:cxn>
                <a:cxn ang="0">
                  <a:pos x="39" y="18"/>
                </a:cxn>
                <a:cxn ang="0">
                  <a:pos x="34" y="14"/>
                </a:cxn>
                <a:cxn ang="0">
                  <a:pos x="38" y="10"/>
                </a:cxn>
                <a:cxn ang="0">
                  <a:pos x="21" y="0"/>
                </a:cxn>
                <a:cxn ang="0">
                  <a:pos x="23" y="4"/>
                </a:cxn>
                <a:cxn ang="0">
                  <a:pos x="26" y="10"/>
                </a:cxn>
                <a:cxn ang="0">
                  <a:pos x="16" y="5"/>
                </a:cxn>
                <a:cxn ang="0">
                  <a:pos x="12" y="8"/>
                </a:cxn>
                <a:cxn ang="0">
                  <a:pos x="12" y="10"/>
                </a:cxn>
                <a:cxn ang="0">
                  <a:pos x="15" y="11"/>
                </a:cxn>
                <a:cxn ang="0">
                  <a:pos x="14" y="11"/>
                </a:cxn>
                <a:cxn ang="0">
                  <a:pos x="4" y="11"/>
                </a:cxn>
                <a:cxn ang="0">
                  <a:pos x="8" y="14"/>
                </a:cxn>
                <a:cxn ang="0">
                  <a:pos x="0" y="15"/>
                </a:cxn>
                <a:cxn ang="0">
                  <a:pos x="28" y="16"/>
                </a:cxn>
                <a:cxn ang="0">
                  <a:pos x="23" y="20"/>
                </a:cxn>
                <a:cxn ang="0">
                  <a:pos x="27" y="22"/>
                </a:cxn>
                <a:cxn ang="0">
                  <a:pos x="3" y="24"/>
                </a:cxn>
                <a:cxn ang="0">
                  <a:pos x="22" y="29"/>
                </a:cxn>
                <a:cxn ang="0">
                  <a:pos x="28" y="30"/>
                </a:cxn>
                <a:cxn ang="0">
                  <a:pos x="24" y="33"/>
                </a:cxn>
                <a:cxn ang="0">
                  <a:pos x="28" y="33"/>
                </a:cxn>
                <a:cxn ang="0">
                  <a:pos x="26" y="35"/>
                </a:cxn>
                <a:cxn ang="0">
                  <a:pos x="15" y="40"/>
                </a:cxn>
                <a:cxn ang="0">
                  <a:pos x="24" y="42"/>
                </a:cxn>
                <a:cxn ang="0">
                  <a:pos x="41" y="44"/>
                </a:cxn>
                <a:cxn ang="0">
                  <a:pos x="69" y="48"/>
                </a:cxn>
                <a:cxn ang="0">
                  <a:pos x="88" y="41"/>
                </a:cxn>
                <a:cxn ang="0">
                  <a:pos x="107" y="35"/>
                </a:cxn>
                <a:cxn ang="0">
                  <a:pos x="119" y="28"/>
                </a:cxn>
                <a:cxn ang="0">
                  <a:pos x="125" y="24"/>
                </a:cxn>
                <a:cxn ang="0">
                  <a:pos x="129" y="23"/>
                </a:cxn>
                <a:cxn ang="0">
                  <a:pos x="123" y="21"/>
                </a:cxn>
                <a:cxn ang="0">
                  <a:pos x="129" y="18"/>
                </a:cxn>
                <a:cxn ang="0">
                  <a:pos x="129" y="16"/>
                </a:cxn>
                <a:cxn ang="0">
                  <a:pos x="118" y="16"/>
                </a:cxn>
                <a:cxn ang="0">
                  <a:pos x="120" y="14"/>
                </a:cxn>
                <a:cxn ang="0">
                  <a:pos x="114" y="12"/>
                </a:cxn>
                <a:cxn ang="0">
                  <a:pos x="114" y="8"/>
                </a:cxn>
                <a:cxn ang="0">
                  <a:pos x="119" y="2"/>
                </a:cxn>
                <a:cxn ang="0">
                  <a:pos x="110" y="4"/>
                </a:cxn>
                <a:cxn ang="0">
                  <a:pos x="99" y="0"/>
                </a:cxn>
              </a:cxnLst>
              <a:rect l="0" t="0" r="r" b="b"/>
              <a:pathLst>
                <a:path w="129" h="48">
                  <a:moveTo>
                    <a:pt x="99" y="0"/>
                  </a:moveTo>
                  <a:lnTo>
                    <a:pt x="96" y="4"/>
                  </a:lnTo>
                  <a:lnTo>
                    <a:pt x="86" y="8"/>
                  </a:lnTo>
                  <a:lnTo>
                    <a:pt x="77" y="5"/>
                  </a:lnTo>
                  <a:lnTo>
                    <a:pt x="76" y="12"/>
                  </a:lnTo>
                  <a:lnTo>
                    <a:pt x="75" y="10"/>
                  </a:lnTo>
                  <a:lnTo>
                    <a:pt x="64" y="6"/>
                  </a:lnTo>
                  <a:lnTo>
                    <a:pt x="60" y="10"/>
                  </a:lnTo>
                  <a:lnTo>
                    <a:pt x="53" y="6"/>
                  </a:lnTo>
                  <a:lnTo>
                    <a:pt x="46" y="15"/>
                  </a:lnTo>
                  <a:lnTo>
                    <a:pt x="39" y="18"/>
                  </a:lnTo>
                  <a:lnTo>
                    <a:pt x="34" y="14"/>
                  </a:lnTo>
                  <a:lnTo>
                    <a:pt x="38" y="10"/>
                  </a:lnTo>
                  <a:lnTo>
                    <a:pt x="21" y="0"/>
                  </a:lnTo>
                  <a:lnTo>
                    <a:pt x="23" y="4"/>
                  </a:lnTo>
                  <a:lnTo>
                    <a:pt x="26" y="10"/>
                  </a:lnTo>
                  <a:lnTo>
                    <a:pt x="16" y="5"/>
                  </a:lnTo>
                  <a:lnTo>
                    <a:pt x="12" y="8"/>
                  </a:lnTo>
                  <a:lnTo>
                    <a:pt x="12" y="10"/>
                  </a:lnTo>
                  <a:lnTo>
                    <a:pt x="15" y="11"/>
                  </a:lnTo>
                  <a:lnTo>
                    <a:pt x="14" y="11"/>
                  </a:lnTo>
                  <a:lnTo>
                    <a:pt x="4" y="11"/>
                  </a:lnTo>
                  <a:lnTo>
                    <a:pt x="8" y="14"/>
                  </a:lnTo>
                  <a:lnTo>
                    <a:pt x="0" y="15"/>
                  </a:lnTo>
                  <a:lnTo>
                    <a:pt x="28" y="16"/>
                  </a:lnTo>
                  <a:lnTo>
                    <a:pt x="23" y="20"/>
                  </a:lnTo>
                  <a:lnTo>
                    <a:pt x="27" y="22"/>
                  </a:lnTo>
                  <a:lnTo>
                    <a:pt x="3" y="24"/>
                  </a:lnTo>
                  <a:lnTo>
                    <a:pt x="22" y="29"/>
                  </a:lnTo>
                  <a:lnTo>
                    <a:pt x="28" y="30"/>
                  </a:lnTo>
                  <a:lnTo>
                    <a:pt x="24" y="33"/>
                  </a:lnTo>
                  <a:lnTo>
                    <a:pt x="28" y="33"/>
                  </a:lnTo>
                  <a:lnTo>
                    <a:pt x="26" y="35"/>
                  </a:lnTo>
                  <a:lnTo>
                    <a:pt x="15" y="40"/>
                  </a:lnTo>
                  <a:lnTo>
                    <a:pt x="24" y="42"/>
                  </a:lnTo>
                  <a:lnTo>
                    <a:pt x="41" y="44"/>
                  </a:lnTo>
                  <a:lnTo>
                    <a:pt x="69" y="48"/>
                  </a:lnTo>
                  <a:lnTo>
                    <a:pt x="88" y="41"/>
                  </a:lnTo>
                  <a:lnTo>
                    <a:pt x="107" y="35"/>
                  </a:lnTo>
                  <a:lnTo>
                    <a:pt x="119" y="28"/>
                  </a:lnTo>
                  <a:lnTo>
                    <a:pt x="125" y="24"/>
                  </a:lnTo>
                  <a:lnTo>
                    <a:pt x="129" y="23"/>
                  </a:lnTo>
                  <a:lnTo>
                    <a:pt x="123" y="21"/>
                  </a:lnTo>
                  <a:lnTo>
                    <a:pt x="129" y="18"/>
                  </a:lnTo>
                  <a:lnTo>
                    <a:pt x="129" y="16"/>
                  </a:lnTo>
                  <a:lnTo>
                    <a:pt x="118" y="16"/>
                  </a:lnTo>
                  <a:lnTo>
                    <a:pt x="120" y="14"/>
                  </a:lnTo>
                  <a:lnTo>
                    <a:pt x="114" y="12"/>
                  </a:lnTo>
                  <a:lnTo>
                    <a:pt x="114" y="8"/>
                  </a:lnTo>
                  <a:lnTo>
                    <a:pt x="119" y="2"/>
                  </a:lnTo>
                  <a:lnTo>
                    <a:pt x="110" y="4"/>
                  </a:lnTo>
                  <a:lnTo>
                    <a:pt x="9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8" name="Freeform 417"/>
            <p:cNvSpPr>
              <a:spLocks/>
            </p:cNvSpPr>
            <p:nvPr/>
          </p:nvSpPr>
          <p:spPr bwMode="auto">
            <a:xfrm>
              <a:off x="2376" y="1610"/>
              <a:ext cx="62" cy="71"/>
            </a:xfrm>
            <a:custGeom>
              <a:avLst/>
              <a:gdLst/>
              <a:ahLst/>
              <a:cxnLst>
                <a:cxn ang="0">
                  <a:pos x="55" y="47"/>
                </a:cxn>
                <a:cxn ang="0">
                  <a:pos x="55" y="33"/>
                </a:cxn>
                <a:cxn ang="0">
                  <a:pos x="55" y="20"/>
                </a:cxn>
                <a:cxn ang="0">
                  <a:pos x="48" y="17"/>
                </a:cxn>
                <a:cxn ang="0">
                  <a:pos x="44" y="18"/>
                </a:cxn>
                <a:cxn ang="0">
                  <a:pos x="33" y="15"/>
                </a:cxn>
                <a:cxn ang="0">
                  <a:pos x="43" y="3"/>
                </a:cxn>
                <a:cxn ang="0">
                  <a:pos x="45" y="0"/>
                </a:cxn>
                <a:cxn ang="0">
                  <a:pos x="39" y="2"/>
                </a:cxn>
                <a:cxn ang="0">
                  <a:pos x="35" y="2"/>
                </a:cxn>
                <a:cxn ang="0">
                  <a:pos x="24" y="8"/>
                </a:cxn>
                <a:cxn ang="0">
                  <a:pos x="29" y="11"/>
                </a:cxn>
                <a:cxn ang="0">
                  <a:pos x="24" y="17"/>
                </a:cxn>
                <a:cxn ang="0">
                  <a:pos x="7" y="18"/>
                </a:cxn>
                <a:cxn ang="0">
                  <a:pos x="8" y="24"/>
                </a:cxn>
                <a:cxn ang="0">
                  <a:pos x="2" y="30"/>
                </a:cxn>
                <a:cxn ang="0">
                  <a:pos x="18" y="35"/>
                </a:cxn>
                <a:cxn ang="0">
                  <a:pos x="7" y="45"/>
                </a:cxn>
                <a:cxn ang="0">
                  <a:pos x="18" y="43"/>
                </a:cxn>
                <a:cxn ang="0">
                  <a:pos x="6" y="49"/>
                </a:cxn>
                <a:cxn ang="0">
                  <a:pos x="0" y="53"/>
                </a:cxn>
                <a:cxn ang="0">
                  <a:pos x="3" y="54"/>
                </a:cxn>
                <a:cxn ang="0">
                  <a:pos x="0" y="57"/>
                </a:cxn>
                <a:cxn ang="0">
                  <a:pos x="6" y="60"/>
                </a:cxn>
                <a:cxn ang="0">
                  <a:pos x="3" y="61"/>
                </a:cxn>
                <a:cxn ang="0">
                  <a:pos x="8" y="61"/>
                </a:cxn>
                <a:cxn ang="0">
                  <a:pos x="8" y="63"/>
                </a:cxn>
                <a:cxn ang="0">
                  <a:pos x="23" y="62"/>
                </a:cxn>
                <a:cxn ang="0">
                  <a:pos x="36" y="55"/>
                </a:cxn>
                <a:cxn ang="0">
                  <a:pos x="50" y="54"/>
                </a:cxn>
                <a:cxn ang="0">
                  <a:pos x="55" y="47"/>
                </a:cxn>
              </a:cxnLst>
              <a:rect l="0" t="0" r="r" b="b"/>
              <a:pathLst>
                <a:path w="55" h="63">
                  <a:moveTo>
                    <a:pt x="55" y="47"/>
                  </a:moveTo>
                  <a:lnTo>
                    <a:pt x="55" y="33"/>
                  </a:lnTo>
                  <a:lnTo>
                    <a:pt x="55" y="20"/>
                  </a:lnTo>
                  <a:lnTo>
                    <a:pt x="48" y="17"/>
                  </a:lnTo>
                  <a:lnTo>
                    <a:pt x="44" y="18"/>
                  </a:lnTo>
                  <a:lnTo>
                    <a:pt x="33" y="15"/>
                  </a:lnTo>
                  <a:lnTo>
                    <a:pt x="43" y="3"/>
                  </a:lnTo>
                  <a:lnTo>
                    <a:pt x="45" y="0"/>
                  </a:lnTo>
                  <a:lnTo>
                    <a:pt x="39" y="2"/>
                  </a:lnTo>
                  <a:lnTo>
                    <a:pt x="35" y="2"/>
                  </a:lnTo>
                  <a:lnTo>
                    <a:pt x="24" y="8"/>
                  </a:lnTo>
                  <a:lnTo>
                    <a:pt x="29" y="11"/>
                  </a:lnTo>
                  <a:lnTo>
                    <a:pt x="24" y="17"/>
                  </a:lnTo>
                  <a:lnTo>
                    <a:pt x="7" y="18"/>
                  </a:lnTo>
                  <a:lnTo>
                    <a:pt x="8" y="24"/>
                  </a:lnTo>
                  <a:lnTo>
                    <a:pt x="2" y="30"/>
                  </a:lnTo>
                  <a:lnTo>
                    <a:pt x="18" y="35"/>
                  </a:lnTo>
                  <a:lnTo>
                    <a:pt x="7" y="45"/>
                  </a:lnTo>
                  <a:lnTo>
                    <a:pt x="18" y="43"/>
                  </a:lnTo>
                  <a:lnTo>
                    <a:pt x="6" y="49"/>
                  </a:lnTo>
                  <a:lnTo>
                    <a:pt x="0" y="53"/>
                  </a:lnTo>
                  <a:lnTo>
                    <a:pt x="3" y="54"/>
                  </a:lnTo>
                  <a:lnTo>
                    <a:pt x="0" y="57"/>
                  </a:lnTo>
                  <a:lnTo>
                    <a:pt x="6" y="60"/>
                  </a:lnTo>
                  <a:lnTo>
                    <a:pt x="3" y="61"/>
                  </a:lnTo>
                  <a:lnTo>
                    <a:pt x="8" y="61"/>
                  </a:lnTo>
                  <a:lnTo>
                    <a:pt x="8" y="63"/>
                  </a:lnTo>
                  <a:lnTo>
                    <a:pt x="23" y="62"/>
                  </a:lnTo>
                  <a:lnTo>
                    <a:pt x="36" y="55"/>
                  </a:lnTo>
                  <a:lnTo>
                    <a:pt x="50" y="54"/>
                  </a:lnTo>
                  <a:lnTo>
                    <a:pt x="55" y="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9" name="Freeform 418"/>
            <p:cNvSpPr>
              <a:spLocks/>
            </p:cNvSpPr>
            <p:nvPr/>
          </p:nvSpPr>
          <p:spPr bwMode="auto">
            <a:xfrm>
              <a:off x="2445" y="1550"/>
              <a:ext cx="113" cy="160"/>
            </a:xfrm>
            <a:custGeom>
              <a:avLst/>
              <a:gdLst/>
              <a:ahLst/>
              <a:cxnLst>
                <a:cxn ang="0">
                  <a:pos x="8" y="43"/>
                </a:cxn>
                <a:cxn ang="0">
                  <a:pos x="16" y="44"/>
                </a:cxn>
                <a:cxn ang="0">
                  <a:pos x="12" y="57"/>
                </a:cxn>
                <a:cxn ang="0">
                  <a:pos x="20" y="63"/>
                </a:cxn>
                <a:cxn ang="0">
                  <a:pos x="31" y="66"/>
                </a:cxn>
                <a:cxn ang="0">
                  <a:pos x="38" y="87"/>
                </a:cxn>
                <a:cxn ang="0">
                  <a:pos x="16" y="96"/>
                </a:cxn>
                <a:cxn ang="0">
                  <a:pos x="23" y="102"/>
                </a:cxn>
                <a:cxn ang="0">
                  <a:pos x="8" y="115"/>
                </a:cxn>
                <a:cxn ang="0">
                  <a:pos x="29" y="121"/>
                </a:cxn>
                <a:cxn ang="0">
                  <a:pos x="38" y="122"/>
                </a:cxn>
                <a:cxn ang="0">
                  <a:pos x="13" y="134"/>
                </a:cxn>
                <a:cxn ang="0">
                  <a:pos x="5" y="144"/>
                </a:cxn>
                <a:cxn ang="0">
                  <a:pos x="25" y="141"/>
                </a:cxn>
                <a:cxn ang="0">
                  <a:pos x="42" y="134"/>
                </a:cxn>
                <a:cxn ang="0">
                  <a:pos x="82" y="133"/>
                </a:cxn>
                <a:cxn ang="0">
                  <a:pos x="85" y="120"/>
                </a:cxn>
                <a:cxn ang="0">
                  <a:pos x="102" y="103"/>
                </a:cxn>
                <a:cxn ang="0">
                  <a:pos x="82" y="97"/>
                </a:cxn>
                <a:cxn ang="0">
                  <a:pos x="72" y="82"/>
                </a:cxn>
                <a:cxn ang="0">
                  <a:pos x="76" y="76"/>
                </a:cxn>
                <a:cxn ang="0">
                  <a:pos x="50" y="45"/>
                </a:cxn>
                <a:cxn ang="0">
                  <a:pos x="43" y="39"/>
                </a:cxn>
                <a:cxn ang="0">
                  <a:pos x="41" y="36"/>
                </a:cxn>
                <a:cxn ang="0">
                  <a:pos x="29" y="16"/>
                </a:cxn>
                <a:cxn ang="0">
                  <a:pos x="28" y="13"/>
                </a:cxn>
                <a:cxn ang="0">
                  <a:pos x="17" y="0"/>
                </a:cxn>
                <a:cxn ang="0">
                  <a:pos x="11" y="10"/>
                </a:cxn>
                <a:cxn ang="0">
                  <a:pos x="5" y="18"/>
                </a:cxn>
                <a:cxn ang="0">
                  <a:pos x="5" y="22"/>
                </a:cxn>
                <a:cxn ang="0">
                  <a:pos x="2" y="32"/>
                </a:cxn>
                <a:cxn ang="0">
                  <a:pos x="10" y="31"/>
                </a:cxn>
                <a:cxn ang="0">
                  <a:pos x="1" y="55"/>
                </a:cxn>
              </a:cxnLst>
              <a:rect l="0" t="0" r="r" b="b"/>
              <a:pathLst>
                <a:path w="102" h="144">
                  <a:moveTo>
                    <a:pt x="1" y="55"/>
                  </a:moveTo>
                  <a:lnTo>
                    <a:pt x="8" y="43"/>
                  </a:lnTo>
                  <a:lnTo>
                    <a:pt x="13" y="43"/>
                  </a:lnTo>
                  <a:lnTo>
                    <a:pt x="16" y="44"/>
                  </a:lnTo>
                  <a:lnTo>
                    <a:pt x="14" y="49"/>
                  </a:lnTo>
                  <a:lnTo>
                    <a:pt x="12" y="57"/>
                  </a:lnTo>
                  <a:lnTo>
                    <a:pt x="13" y="66"/>
                  </a:lnTo>
                  <a:lnTo>
                    <a:pt x="20" y="63"/>
                  </a:lnTo>
                  <a:lnTo>
                    <a:pt x="35" y="60"/>
                  </a:lnTo>
                  <a:lnTo>
                    <a:pt x="31" y="66"/>
                  </a:lnTo>
                  <a:lnTo>
                    <a:pt x="37" y="73"/>
                  </a:lnTo>
                  <a:lnTo>
                    <a:pt x="38" y="87"/>
                  </a:lnTo>
                  <a:lnTo>
                    <a:pt x="34" y="88"/>
                  </a:lnTo>
                  <a:lnTo>
                    <a:pt x="16" y="96"/>
                  </a:lnTo>
                  <a:lnTo>
                    <a:pt x="19" y="96"/>
                  </a:lnTo>
                  <a:lnTo>
                    <a:pt x="23" y="102"/>
                  </a:lnTo>
                  <a:lnTo>
                    <a:pt x="11" y="111"/>
                  </a:lnTo>
                  <a:lnTo>
                    <a:pt x="8" y="115"/>
                  </a:lnTo>
                  <a:lnTo>
                    <a:pt x="23" y="117"/>
                  </a:lnTo>
                  <a:lnTo>
                    <a:pt x="29" y="121"/>
                  </a:lnTo>
                  <a:lnTo>
                    <a:pt x="44" y="116"/>
                  </a:lnTo>
                  <a:lnTo>
                    <a:pt x="38" y="122"/>
                  </a:lnTo>
                  <a:lnTo>
                    <a:pt x="26" y="124"/>
                  </a:lnTo>
                  <a:lnTo>
                    <a:pt x="13" y="134"/>
                  </a:lnTo>
                  <a:lnTo>
                    <a:pt x="0" y="142"/>
                  </a:lnTo>
                  <a:lnTo>
                    <a:pt x="5" y="144"/>
                  </a:lnTo>
                  <a:lnTo>
                    <a:pt x="8" y="144"/>
                  </a:lnTo>
                  <a:lnTo>
                    <a:pt x="25" y="141"/>
                  </a:lnTo>
                  <a:lnTo>
                    <a:pt x="30" y="136"/>
                  </a:lnTo>
                  <a:lnTo>
                    <a:pt x="42" y="134"/>
                  </a:lnTo>
                  <a:lnTo>
                    <a:pt x="58" y="133"/>
                  </a:lnTo>
                  <a:lnTo>
                    <a:pt x="82" y="133"/>
                  </a:lnTo>
                  <a:lnTo>
                    <a:pt x="97" y="123"/>
                  </a:lnTo>
                  <a:lnTo>
                    <a:pt x="85" y="120"/>
                  </a:lnTo>
                  <a:lnTo>
                    <a:pt x="90" y="116"/>
                  </a:lnTo>
                  <a:lnTo>
                    <a:pt x="102" y="103"/>
                  </a:lnTo>
                  <a:lnTo>
                    <a:pt x="97" y="97"/>
                  </a:lnTo>
                  <a:lnTo>
                    <a:pt x="82" y="97"/>
                  </a:lnTo>
                  <a:lnTo>
                    <a:pt x="83" y="92"/>
                  </a:lnTo>
                  <a:lnTo>
                    <a:pt x="72" y="82"/>
                  </a:lnTo>
                  <a:lnTo>
                    <a:pt x="77" y="84"/>
                  </a:lnTo>
                  <a:lnTo>
                    <a:pt x="76" y="76"/>
                  </a:lnTo>
                  <a:lnTo>
                    <a:pt x="65" y="67"/>
                  </a:lnTo>
                  <a:lnTo>
                    <a:pt x="50" y="45"/>
                  </a:lnTo>
                  <a:lnTo>
                    <a:pt x="32" y="43"/>
                  </a:lnTo>
                  <a:lnTo>
                    <a:pt x="43" y="39"/>
                  </a:lnTo>
                  <a:lnTo>
                    <a:pt x="36" y="37"/>
                  </a:lnTo>
                  <a:lnTo>
                    <a:pt x="41" y="36"/>
                  </a:lnTo>
                  <a:lnTo>
                    <a:pt x="55" y="16"/>
                  </a:lnTo>
                  <a:lnTo>
                    <a:pt x="29" y="16"/>
                  </a:lnTo>
                  <a:lnTo>
                    <a:pt x="23" y="15"/>
                  </a:lnTo>
                  <a:lnTo>
                    <a:pt x="28" y="13"/>
                  </a:lnTo>
                  <a:lnTo>
                    <a:pt x="38" y="1"/>
                  </a:lnTo>
                  <a:lnTo>
                    <a:pt x="17" y="0"/>
                  </a:lnTo>
                  <a:lnTo>
                    <a:pt x="12" y="4"/>
                  </a:lnTo>
                  <a:lnTo>
                    <a:pt x="11" y="10"/>
                  </a:lnTo>
                  <a:lnTo>
                    <a:pt x="6" y="12"/>
                  </a:lnTo>
                  <a:lnTo>
                    <a:pt x="5" y="18"/>
                  </a:lnTo>
                  <a:lnTo>
                    <a:pt x="5" y="20"/>
                  </a:lnTo>
                  <a:lnTo>
                    <a:pt x="5" y="22"/>
                  </a:lnTo>
                  <a:lnTo>
                    <a:pt x="0" y="30"/>
                  </a:lnTo>
                  <a:lnTo>
                    <a:pt x="2" y="32"/>
                  </a:lnTo>
                  <a:lnTo>
                    <a:pt x="0" y="33"/>
                  </a:lnTo>
                  <a:lnTo>
                    <a:pt x="10" y="31"/>
                  </a:lnTo>
                  <a:lnTo>
                    <a:pt x="8" y="32"/>
                  </a:lnTo>
                  <a:lnTo>
                    <a:pt x="1" y="5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0" name="Freeform 419"/>
            <p:cNvSpPr>
              <a:spLocks/>
            </p:cNvSpPr>
            <p:nvPr/>
          </p:nvSpPr>
          <p:spPr bwMode="auto">
            <a:xfrm>
              <a:off x="2413" y="1612"/>
              <a:ext cx="36" cy="22"/>
            </a:xfrm>
            <a:custGeom>
              <a:avLst/>
              <a:gdLst/>
              <a:ahLst/>
              <a:cxnLst>
                <a:cxn ang="0">
                  <a:pos x="32" y="13"/>
                </a:cxn>
                <a:cxn ang="0">
                  <a:pos x="29" y="10"/>
                </a:cxn>
                <a:cxn ang="0">
                  <a:pos x="21" y="0"/>
                </a:cxn>
                <a:cxn ang="0">
                  <a:pos x="10" y="2"/>
                </a:cxn>
                <a:cxn ang="0">
                  <a:pos x="0" y="14"/>
                </a:cxn>
                <a:cxn ang="0">
                  <a:pos x="11" y="17"/>
                </a:cxn>
                <a:cxn ang="0">
                  <a:pos x="15" y="16"/>
                </a:cxn>
                <a:cxn ang="0">
                  <a:pos x="22" y="19"/>
                </a:cxn>
                <a:cxn ang="0">
                  <a:pos x="32" y="13"/>
                </a:cxn>
              </a:cxnLst>
              <a:rect l="0" t="0" r="r" b="b"/>
              <a:pathLst>
                <a:path w="32" h="19">
                  <a:moveTo>
                    <a:pt x="32" y="13"/>
                  </a:moveTo>
                  <a:lnTo>
                    <a:pt x="29" y="10"/>
                  </a:lnTo>
                  <a:lnTo>
                    <a:pt x="21" y="0"/>
                  </a:lnTo>
                  <a:lnTo>
                    <a:pt x="10" y="2"/>
                  </a:lnTo>
                  <a:lnTo>
                    <a:pt x="0" y="14"/>
                  </a:lnTo>
                  <a:lnTo>
                    <a:pt x="11" y="17"/>
                  </a:lnTo>
                  <a:lnTo>
                    <a:pt x="15" y="16"/>
                  </a:lnTo>
                  <a:lnTo>
                    <a:pt x="22" y="19"/>
                  </a:lnTo>
                  <a:lnTo>
                    <a:pt x="32"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1" name="Freeform 420"/>
            <p:cNvSpPr>
              <a:spLocks/>
            </p:cNvSpPr>
            <p:nvPr/>
          </p:nvSpPr>
          <p:spPr bwMode="auto">
            <a:xfrm>
              <a:off x="2436" y="1568"/>
              <a:ext cx="13" cy="8"/>
            </a:xfrm>
            <a:custGeom>
              <a:avLst/>
              <a:gdLst/>
              <a:ahLst/>
              <a:cxnLst>
                <a:cxn ang="0">
                  <a:pos x="7" y="2"/>
                </a:cxn>
                <a:cxn ang="0">
                  <a:pos x="3" y="0"/>
                </a:cxn>
                <a:cxn ang="0">
                  <a:pos x="0" y="4"/>
                </a:cxn>
                <a:cxn ang="0">
                  <a:pos x="10" y="9"/>
                </a:cxn>
                <a:cxn ang="0">
                  <a:pos x="13" y="6"/>
                </a:cxn>
                <a:cxn ang="0">
                  <a:pos x="7" y="2"/>
                </a:cxn>
              </a:cxnLst>
              <a:rect l="0" t="0" r="r" b="b"/>
              <a:pathLst>
                <a:path w="13" h="9">
                  <a:moveTo>
                    <a:pt x="7" y="2"/>
                  </a:moveTo>
                  <a:lnTo>
                    <a:pt x="3" y="0"/>
                  </a:lnTo>
                  <a:lnTo>
                    <a:pt x="0" y="4"/>
                  </a:lnTo>
                  <a:lnTo>
                    <a:pt x="10" y="9"/>
                  </a:lnTo>
                  <a:lnTo>
                    <a:pt x="13" y="6"/>
                  </a:lnTo>
                  <a:lnTo>
                    <a:pt x="7"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2" name="Freeform 421"/>
            <p:cNvSpPr>
              <a:spLocks/>
            </p:cNvSpPr>
            <p:nvPr/>
          </p:nvSpPr>
          <p:spPr bwMode="auto">
            <a:xfrm>
              <a:off x="2431" y="1554"/>
              <a:ext cx="11" cy="9"/>
            </a:xfrm>
            <a:custGeom>
              <a:avLst/>
              <a:gdLst/>
              <a:ahLst/>
              <a:cxnLst>
                <a:cxn ang="0">
                  <a:pos x="11" y="3"/>
                </a:cxn>
                <a:cxn ang="0">
                  <a:pos x="11" y="0"/>
                </a:cxn>
                <a:cxn ang="0">
                  <a:pos x="2" y="4"/>
                </a:cxn>
                <a:cxn ang="0">
                  <a:pos x="0" y="9"/>
                </a:cxn>
                <a:cxn ang="0">
                  <a:pos x="11" y="3"/>
                </a:cxn>
              </a:cxnLst>
              <a:rect l="0" t="0" r="r" b="b"/>
              <a:pathLst>
                <a:path w="11" h="9">
                  <a:moveTo>
                    <a:pt x="11" y="3"/>
                  </a:moveTo>
                  <a:lnTo>
                    <a:pt x="11" y="0"/>
                  </a:lnTo>
                  <a:lnTo>
                    <a:pt x="2" y="4"/>
                  </a:lnTo>
                  <a:lnTo>
                    <a:pt x="0" y="9"/>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3" name="Freeform 422"/>
            <p:cNvSpPr>
              <a:spLocks/>
            </p:cNvSpPr>
            <p:nvPr/>
          </p:nvSpPr>
          <p:spPr bwMode="auto">
            <a:xfrm>
              <a:off x="2511" y="1514"/>
              <a:ext cx="5" cy="9"/>
            </a:xfrm>
            <a:custGeom>
              <a:avLst/>
              <a:gdLst/>
              <a:ahLst/>
              <a:cxnLst>
                <a:cxn ang="0">
                  <a:pos x="1" y="0"/>
                </a:cxn>
                <a:cxn ang="0">
                  <a:pos x="1" y="3"/>
                </a:cxn>
                <a:cxn ang="0">
                  <a:pos x="0" y="5"/>
                </a:cxn>
                <a:cxn ang="0">
                  <a:pos x="1" y="8"/>
                </a:cxn>
                <a:cxn ang="0">
                  <a:pos x="5" y="0"/>
                </a:cxn>
                <a:cxn ang="0">
                  <a:pos x="1" y="0"/>
                </a:cxn>
              </a:cxnLst>
              <a:rect l="0" t="0" r="r" b="b"/>
              <a:pathLst>
                <a:path w="5" h="8">
                  <a:moveTo>
                    <a:pt x="1" y="0"/>
                  </a:moveTo>
                  <a:lnTo>
                    <a:pt x="1" y="3"/>
                  </a:lnTo>
                  <a:lnTo>
                    <a:pt x="0" y="5"/>
                  </a:lnTo>
                  <a:lnTo>
                    <a:pt x="1" y="8"/>
                  </a:lnTo>
                  <a:lnTo>
                    <a:pt x="5"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4" name="Freeform 423"/>
            <p:cNvSpPr>
              <a:spLocks/>
            </p:cNvSpPr>
            <p:nvPr/>
          </p:nvSpPr>
          <p:spPr bwMode="auto">
            <a:xfrm>
              <a:off x="2442" y="1588"/>
              <a:ext cx="7" cy="4"/>
            </a:xfrm>
            <a:custGeom>
              <a:avLst/>
              <a:gdLst/>
              <a:ahLst/>
              <a:cxnLst>
                <a:cxn ang="0">
                  <a:pos x="0" y="4"/>
                </a:cxn>
                <a:cxn ang="0">
                  <a:pos x="7" y="2"/>
                </a:cxn>
                <a:cxn ang="0">
                  <a:pos x="0" y="0"/>
                </a:cxn>
                <a:cxn ang="0">
                  <a:pos x="0" y="4"/>
                </a:cxn>
              </a:cxnLst>
              <a:rect l="0" t="0" r="r" b="b"/>
              <a:pathLst>
                <a:path w="7" h="4">
                  <a:moveTo>
                    <a:pt x="0" y="4"/>
                  </a:moveTo>
                  <a:lnTo>
                    <a:pt x="7" y="2"/>
                  </a:lnTo>
                  <a:lnTo>
                    <a:pt x="0" y="0"/>
                  </a:lnTo>
                  <a:lnTo>
                    <a:pt x="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5" name="Freeform 424"/>
            <p:cNvSpPr>
              <a:spLocks/>
            </p:cNvSpPr>
            <p:nvPr/>
          </p:nvSpPr>
          <p:spPr bwMode="auto">
            <a:xfrm>
              <a:off x="2465" y="1648"/>
              <a:ext cx="4" cy="2"/>
            </a:xfrm>
            <a:custGeom>
              <a:avLst/>
              <a:gdLst/>
              <a:ahLst/>
              <a:cxnLst>
                <a:cxn ang="0">
                  <a:pos x="5" y="3"/>
                </a:cxn>
                <a:cxn ang="0">
                  <a:pos x="1" y="0"/>
                </a:cxn>
                <a:cxn ang="0">
                  <a:pos x="0" y="4"/>
                </a:cxn>
                <a:cxn ang="0">
                  <a:pos x="5" y="3"/>
                </a:cxn>
              </a:cxnLst>
              <a:rect l="0" t="0" r="r" b="b"/>
              <a:pathLst>
                <a:path w="5" h="4">
                  <a:moveTo>
                    <a:pt x="5" y="3"/>
                  </a:moveTo>
                  <a:lnTo>
                    <a:pt x="1" y="0"/>
                  </a:lnTo>
                  <a:lnTo>
                    <a:pt x="0" y="4"/>
                  </a:lnTo>
                  <a:lnTo>
                    <a:pt x="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6" name="Freeform 425"/>
            <p:cNvSpPr>
              <a:spLocks/>
            </p:cNvSpPr>
            <p:nvPr/>
          </p:nvSpPr>
          <p:spPr bwMode="auto">
            <a:xfrm>
              <a:off x="2556" y="1856"/>
              <a:ext cx="4" cy="3"/>
            </a:xfrm>
            <a:custGeom>
              <a:avLst/>
              <a:gdLst/>
              <a:ahLst/>
              <a:cxnLst>
                <a:cxn ang="0">
                  <a:pos x="4" y="0"/>
                </a:cxn>
                <a:cxn ang="0">
                  <a:pos x="0" y="0"/>
                </a:cxn>
                <a:cxn ang="0">
                  <a:pos x="0" y="1"/>
                </a:cxn>
                <a:cxn ang="0">
                  <a:pos x="3" y="2"/>
                </a:cxn>
                <a:cxn ang="0">
                  <a:pos x="4" y="0"/>
                </a:cxn>
              </a:cxnLst>
              <a:rect l="0" t="0" r="r" b="b"/>
              <a:pathLst>
                <a:path w="4" h="2">
                  <a:moveTo>
                    <a:pt x="4" y="0"/>
                  </a:moveTo>
                  <a:lnTo>
                    <a:pt x="0" y="0"/>
                  </a:lnTo>
                  <a:lnTo>
                    <a:pt x="0" y="1"/>
                  </a:lnTo>
                  <a:lnTo>
                    <a:pt x="3" y="2"/>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7" name="Freeform 426"/>
            <p:cNvSpPr>
              <a:spLocks/>
            </p:cNvSpPr>
            <p:nvPr/>
          </p:nvSpPr>
          <p:spPr bwMode="auto">
            <a:xfrm>
              <a:off x="1442" y="2059"/>
              <a:ext cx="5" cy="2"/>
            </a:xfrm>
            <a:custGeom>
              <a:avLst/>
              <a:gdLst/>
              <a:ahLst/>
              <a:cxnLst>
                <a:cxn ang="0">
                  <a:pos x="2" y="0"/>
                </a:cxn>
                <a:cxn ang="0">
                  <a:pos x="1" y="1"/>
                </a:cxn>
                <a:cxn ang="0">
                  <a:pos x="1" y="2"/>
                </a:cxn>
                <a:cxn ang="0">
                  <a:pos x="0" y="2"/>
                </a:cxn>
                <a:cxn ang="0">
                  <a:pos x="1" y="2"/>
                </a:cxn>
                <a:cxn ang="0">
                  <a:pos x="2" y="1"/>
                </a:cxn>
                <a:cxn ang="0">
                  <a:pos x="2" y="0"/>
                </a:cxn>
              </a:cxnLst>
              <a:rect l="0" t="0" r="r" b="b"/>
              <a:pathLst>
                <a:path w="2" h="2">
                  <a:moveTo>
                    <a:pt x="2" y="0"/>
                  </a:moveTo>
                  <a:lnTo>
                    <a:pt x="1" y="1"/>
                  </a:lnTo>
                  <a:lnTo>
                    <a:pt x="1" y="2"/>
                  </a:lnTo>
                  <a:lnTo>
                    <a:pt x="0" y="2"/>
                  </a:lnTo>
                  <a:lnTo>
                    <a:pt x="1" y="2"/>
                  </a:lnTo>
                  <a:lnTo>
                    <a:pt x="2" y="1"/>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8" name="Freeform 427"/>
            <p:cNvSpPr>
              <a:spLocks/>
            </p:cNvSpPr>
            <p:nvPr/>
          </p:nvSpPr>
          <p:spPr bwMode="auto">
            <a:xfrm>
              <a:off x="2376" y="1867"/>
              <a:ext cx="53" cy="100"/>
            </a:xfrm>
            <a:custGeom>
              <a:avLst/>
              <a:gdLst/>
              <a:ahLst/>
              <a:cxnLst>
                <a:cxn ang="0">
                  <a:pos x="21" y="0"/>
                </a:cxn>
                <a:cxn ang="0">
                  <a:pos x="13" y="0"/>
                </a:cxn>
                <a:cxn ang="0">
                  <a:pos x="13" y="22"/>
                </a:cxn>
                <a:cxn ang="0">
                  <a:pos x="8" y="34"/>
                </a:cxn>
                <a:cxn ang="0">
                  <a:pos x="2" y="47"/>
                </a:cxn>
                <a:cxn ang="0">
                  <a:pos x="0" y="59"/>
                </a:cxn>
                <a:cxn ang="0">
                  <a:pos x="7" y="63"/>
                </a:cxn>
                <a:cxn ang="0">
                  <a:pos x="9" y="64"/>
                </a:cxn>
                <a:cxn ang="0">
                  <a:pos x="8" y="89"/>
                </a:cxn>
                <a:cxn ang="0">
                  <a:pos x="30" y="87"/>
                </a:cxn>
                <a:cxn ang="0">
                  <a:pos x="29" y="82"/>
                </a:cxn>
                <a:cxn ang="0">
                  <a:pos x="35" y="71"/>
                </a:cxn>
                <a:cxn ang="0">
                  <a:pos x="33" y="66"/>
                </a:cxn>
                <a:cxn ang="0">
                  <a:pos x="35" y="57"/>
                </a:cxn>
                <a:cxn ang="0">
                  <a:pos x="29" y="42"/>
                </a:cxn>
                <a:cxn ang="0">
                  <a:pos x="35" y="41"/>
                </a:cxn>
                <a:cxn ang="0">
                  <a:pos x="39" y="20"/>
                </a:cxn>
                <a:cxn ang="0">
                  <a:pos x="48" y="11"/>
                </a:cxn>
                <a:cxn ang="0">
                  <a:pos x="45" y="3"/>
                </a:cxn>
                <a:cxn ang="0">
                  <a:pos x="26" y="2"/>
                </a:cxn>
                <a:cxn ang="0">
                  <a:pos x="21" y="0"/>
                </a:cxn>
              </a:cxnLst>
              <a:rect l="0" t="0" r="r" b="b"/>
              <a:pathLst>
                <a:path w="48" h="89">
                  <a:moveTo>
                    <a:pt x="21" y="0"/>
                  </a:moveTo>
                  <a:lnTo>
                    <a:pt x="13" y="0"/>
                  </a:lnTo>
                  <a:lnTo>
                    <a:pt x="13" y="22"/>
                  </a:lnTo>
                  <a:lnTo>
                    <a:pt x="8" y="34"/>
                  </a:lnTo>
                  <a:lnTo>
                    <a:pt x="2" y="47"/>
                  </a:lnTo>
                  <a:lnTo>
                    <a:pt x="0" y="59"/>
                  </a:lnTo>
                  <a:lnTo>
                    <a:pt x="7" y="63"/>
                  </a:lnTo>
                  <a:lnTo>
                    <a:pt x="9" y="64"/>
                  </a:lnTo>
                  <a:lnTo>
                    <a:pt x="8" y="89"/>
                  </a:lnTo>
                  <a:lnTo>
                    <a:pt x="30" y="87"/>
                  </a:lnTo>
                  <a:lnTo>
                    <a:pt x="29" y="82"/>
                  </a:lnTo>
                  <a:lnTo>
                    <a:pt x="35" y="71"/>
                  </a:lnTo>
                  <a:lnTo>
                    <a:pt x="33" y="66"/>
                  </a:lnTo>
                  <a:lnTo>
                    <a:pt x="35" y="57"/>
                  </a:lnTo>
                  <a:lnTo>
                    <a:pt x="29" y="42"/>
                  </a:lnTo>
                  <a:lnTo>
                    <a:pt x="35" y="41"/>
                  </a:lnTo>
                  <a:lnTo>
                    <a:pt x="39" y="20"/>
                  </a:lnTo>
                  <a:lnTo>
                    <a:pt x="48" y="11"/>
                  </a:lnTo>
                  <a:lnTo>
                    <a:pt x="45" y="3"/>
                  </a:lnTo>
                  <a:lnTo>
                    <a:pt x="26" y="2"/>
                  </a:lnTo>
                  <a:lnTo>
                    <a:pt x="2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9" name="Freeform 428"/>
            <p:cNvSpPr>
              <a:spLocks/>
            </p:cNvSpPr>
            <p:nvPr/>
          </p:nvSpPr>
          <p:spPr bwMode="auto">
            <a:xfrm>
              <a:off x="2387" y="1834"/>
              <a:ext cx="195" cy="149"/>
            </a:xfrm>
            <a:custGeom>
              <a:avLst/>
              <a:gdLst/>
              <a:ahLst/>
              <a:cxnLst>
                <a:cxn ang="0">
                  <a:pos x="36" y="34"/>
                </a:cxn>
                <a:cxn ang="0">
                  <a:pos x="17" y="33"/>
                </a:cxn>
                <a:cxn ang="0">
                  <a:pos x="12" y="31"/>
                </a:cxn>
                <a:cxn ang="0">
                  <a:pos x="4" y="31"/>
                </a:cxn>
                <a:cxn ang="0">
                  <a:pos x="3" y="27"/>
                </a:cxn>
                <a:cxn ang="0">
                  <a:pos x="2" y="23"/>
                </a:cxn>
                <a:cxn ang="0">
                  <a:pos x="2" y="21"/>
                </a:cxn>
                <a:cxn ang="0">
                  <a:pos x="0" y="17"/>
                </a:cxn>
                <a:cxn ang="0">
                  <a:pos x="0" y="10"/>
                </a:cxn>
                <a:cxn ang="0">
                  <a:pos x="22" y="0"/>
                </a:cxn>
                <a:cxn ang="0">
                  <a:pos x="40" y="3"/>
                </a:cxn>
                <a:cxn ang="0">
                  <a:pos x="56" y="4"/>
                </a:cxn>
                <a:cxn ang="0">
                  <a:pos x="72" y="5"/>
                </a:cxn>
                <a:cxn ang="0">
                  <a:pos x="88" y="5"/>
                </a:cxn>
                <a:cxn ang="0">
                  <a:pos x="105" y="6"/>
                </a:cxn>
                <a:cxn ang="0">
                  <a:pos x="112" y="12"/>
                </a:cxn>
                <a:cxn ang="0">
                  <a:pos x="152" y="21"/>
                </a:cxn>
                <a:cxn ang="0">
                  <a:pos x="152" y="22"/>
                </a:cxn>
                <a:cxn ang="0">
                  <a:pos x="155" y="23"/>
                </a:cxn>
                <a:cxn ang="0">
                  <a:pos x="177" y="23"/>
                </a:cxn>
                <a:cxn ang="0">
                  <a:pos x="173" y="36"/>
                </a:cxn>
                <a:cxn ang="0">
                  <a:pos x="158" y="45"/>
                </a:cxn>
                <a:cxn ang="0">
                  <a:pos x="142" y="53"/>
                </a:cxn>
                <a:cxn ang="0">
                  <a:pos x="134" y="65"/>
                </a:cxn>
                <a:cxn ang="0">
                  <a:pos x="125" y="78"/>
                </a:cxn>
                <a:cxn ang="0">
                  <a:pos x="131" y="91"/>
                </a:cxn>
                <a:cxn ang="0">
                  <a:pos x="119" y="106"/>
                </a:cxn>
                <a:cxn ang="0">
                  <a:pos x="116" y="111"/>
                </a:cxn>
                <a:cxn ang="0">
                  <a:pos x="104" y="117"/>
                </a:cxn>
                <a:cxn ang="0">
                  <a:pos x="96" y="124"/>
                </a:cxn>
                <a:cxn ang="0">
                  <a:pos x="80" y="126"/>
                </a:cxn>
                <a:cxn ang="0">
                  <a:pos x="62" y="129"/>
                </a:cxn>
                <a:cxn ang="0">
                  <a:pos x="51" y="136"/>
                </a:cxn>
                <a:cxn ang="0">
                  <a:pos x="50" y="136"/>
                </a:cxn>
                <a:cxn ang="0">
                  <a:pos x="40" y="135"/>
                </a:cxn>
                <a:cxn ang="0">
                  <a:pos x="36" y="123"/>
                </a:cxn>
                <a:cxn ang="0">
                  <a:pos x="26" y="117"/>
                </a:cxn>
                <a:cxn ang="0">
                  <a:pos x="21" y="118"/>
                </a:cxn>
                <a:cxn ang="0">
                  <a:pos x="20" y="113"/>
                </a:cxn>
                <a:cxn ang="0">
                  <a:pos x="26" y="102"/>
                </a:cxn>
                <a:cxn ang="0">
                  <a:pos x="24" y="97"/>
                </a:cxn>
                <a:cxn ang="0">
                  <a:pos x="26" y="88"/>
                </a:cxn>
                <a:cxn ang="0">
                  <a:pos x="20" y="73"/>
                </a:cxn>
                <a:cxn ang="0">
                  <a:pos x="26" y="72"/>
                </a:cxn>
                <a:cxn ang="0">
                  <a:pos x="30" y="51"/>
                </a:cxn>
                <a:cxn ang="0">
                  <a:pos x="39" y="42"/>
                </a:cxn>
                <a:cxn ang="0">
                  <a:pos x="36" y="34"/>
                </a:cxn>
              </a:cxnLst>
              <a:rect l="0" t="0" r="r" b="b"/>
              <a:pathLst>
                <a:path w="177" h="136">
                  <a:moveTo>
                    <a:pt x="36" y="34"/>
                  </a:moveTo>
                  <a:lnTo>
                    <a:pt x="17" y="33"/>
                  </a:lnTo>
                  <a:lnTo>
                    <a:pt x="12" y="31"/>
                  </a:lnTo>
                  <a:lnTo>
                    <a:pt x="4" y="31"/>
                  </a:lnTo>
                  <a:lnTo>
                    <a:pt x="3" y="27"/>
                  </a:lnTo>
                  <a:lnTo>
                    <a:pt x="2" y="23"/>
                  </a:lnTo>
                  <a:lnTo>
                    <a:pt x="2" y="21"/>
                  </a:lnTo>
                  <a:lnTo>
                    <a:pt x="0" y="17"/>
                  </a:lnTo>
                  <a:lnTo>
                    <a:pt x="0" y="10"/>
                  </a:lnTo>
                  <a:lnTo>
                    <a:pt x="22" y="0"/>
                  </a:lnTo>
                  <a:lnTo>
                    <a:pt x="40" y="3"/>
                  </a:lnTo>
                  <a:lnTo>
                    <a:pt x="56" y="4"/>
                  </a:lnTo>
                  <a:lnTo>
                    <a:pt x="72" y="5"/>
                  </a:lnTo>
                  <a:lnTo>
                    <a:pt x="88" y="5"/>
                  </a:lnTo>
                  <a:lnTo>
                    <a:pt x="105" y="6"/>
                  </a:lnTo>
                  <a:lnTo>
                    <a:pt x="112" y="12"/>
                  </a:lnTo>
                  <a:lnTo>
                    <a:pt x="152" y="21"/>
                  </a:lnTo>
                  <a:lnTo>
                    <a:pt x="152" y="22"/>
                  </a:lnTo>
                  <a:lnTo>
                    <a:pt x="155" y="23"/>
                  </a:lnTo>
                  <a:lnTo>
                    <a:pt x="177" y="23"/>
                  </a:lnTo>
                  <a:lnTo>
                    <a:pt x="173" y="36"/>
                  </a:lnTo>
                  <a:lnTo>
                    <a:pt x="158" y="45"/>
                  </a:lnTo>
                  <a:lnTo>
                    <a:pt x="142" y="53"/>
                  </a:lnTo>
                  <a:lnTo>
                    <a:pt x="134" y="65"/>
                  </a:lnTo>
                  <a:lnTo>
                    <a:pt x="125" y="78"/>
                  </a:lnTo>
                  <a:lnTo>
                    <a:pt x="131" y="91"/>
                  </a:lnTo>
                  <a:lnTo>
                    <a:pt x="119" y="106"/>
                  </a:lnTo>
                  <a:lnTo>
                    <a:pt x="116" y="111"/>
                  </a:lnTo>
                  <a:lnTo>
                    <a:pt x="104" y="117"/>
                  </a:lnTo>
                  <a:lnTo>
                    <a:pt x="96" y="124"/>
                  </a:lnTo>
                  <a:lnTo>
                    <a:pt x="80" y="126"/>
                  </a:lnTo>
                  <a:lnTo>
                    <a:pt x="62" y="129"/>
                  </a:lnTo>
                  <a:lnTo>
                    <a:pt x="51" y="136"/>
                  </a:lnTo>
                  <a:lnTo>
                    <a:pt x="50" y="136"/>
                  </a:lnTo>
                  <a:lnTo>
                    <a:pt x="40" y="135"/>
                  </a:lnTo>
                  <a:lnTo>
                    <a:pt x="36" y="123"/>
                  </a:lnTo>
                  <a:lnTo>
                    <a:pt x="26" y="117"/>
                  </a:lnTo>
                  <a:lnTo>
                    <a:pt x="21" y="118"/>
                  </a:lnTo>
                  <a:lnTo>
                    <a:pt x="20" y="113"/>
                  </a:lnTo>
                  <a:lnTo>
                    <a:pt x="26" y="102"/>
                  </a:lnTo>
                  <a:lnTo>
                    <a:pt x="24" y="97"/>
                  </a:lnTo>
                  <a:lnTo>
                    <a:pt x="26" y="88"/>
                  </a:lnTo>
                  <a:lnTo>
                    <a:pt x="20" y="73"/>
                  </a:lnTo>
                  <a:lnTo>
                    <a:pt x="26" y="72"/>
                  </a:lnTo>
                  <a:lnTo>
                    <a:pt x="30" y="51"/>
                  </a:lnTo>
                  <a:lnTo>
                    <a:pt x="39" y="42"/>
                  </a:lnTo>
                  <a:lnTo>
                    <a:pt x="36"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0" name="Freeform 429"/>
            <p:cNvSpPr>
              <a:spLocks/>
            </p:cNvSpPr>
            <p:nvPr/>
          </p:nvSpPr>
          <p:spPr bwMode="auto">
            <a:xfrm>
              <a:off x="2571" y="1910"/>
              <a:ext cx="18" cy="11"/>
            </a:xfrm>
            <a:custGeom>
              <a:avLst/>
              <a:gdLst/>
              <a:ahLst/>
              <a:cxnLst>
                <a:cxn ang="0">
                  <a:pos x="16" y="2"/>
                </a:cxn>
                <a:cxn ang="0">
                  <a:pos x="7" y="8"/>
                </a:cxn>
                <a:cxn ang="0">
                  <a:pos x="0" y="2"/>
                </a:cxn>
                <a:cxn ang="0">
                  <a:pos x="10" y="0"/>
                </a:cxn>
                <a:cxn ang="0">
                  <a:pos x="16" y="2"/>
                </a:cxn>
              </a:cxnLst>
              <a:rect l="0" t="0" r="r" b="b"/>
              <a:pathLst>
                <a:path w="16" h="8">
                  <a:moveTo>
                    <a:pt x="16" y="2"/>
                  </a:moveTo>
                  <a:lnTo>
                    <a:pt x="7" y="8"/>
                  </a:lnTo>
                  <a:lnTo>
                    <a:pt x="0" y="2"/>
                  </a:lnTo>
                  <a:lnTo>
                    <a:pt x="10" y="0"/>
                  </a:lnTo>
                  <a:lnTo>
                    <a:pt x="1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1" name="Freeform 430"/>
            <p:cNvSpPr>
              <a:spLocks/>
            </p:cNvSpPr>
            <p:nvPr/>
          </p:nvSpPr>
          <p:spPr bwMode="auto">
            <a:xfrm>
              <a:off x="514" y="1723"/>
              <a:ext cx="960" cy="480"/>
            </a:xfrm>
            <a:custGeom>
              <a:avLst/>
              <a:gdLst/>
              <a:ahLst/>
              <a:cxnLst>
                <a:cxn ang="0">
                  <a:pos x="855" y="36"/>
                </a:cxn>
                <a:cxn ang="0">
                  <a:pos x="809" y="69"/>
                </a:cxn>
                <a:cxn ang="0">
                  <a:pos x="716" y="101"/>
                </a:cxn>
                <a:cxn ang="0">
                  <a:pos x="648" y="125"/>
                </a:cxn>
                <a:cxn ang="0">
                  <a:pos x="639" y="102"/>
                </a:cxn>
                <a:cxn ang="0">
                  <a:pos x="630" y="57"/>
                </a:cxn>
                <a:cxn ang="0">
                  <a:pos x="581" y="19"/>
                </a:cxn>
                <a:cxn ang="0">
                  <a:pos x="502" y="9"/>
                </a:cxn>
                <a:cxn ang="0">
                  <a:pos x="425" y="6"/>
                </a:cxn>
                <a:cxn ang="0">
                  <a:pos x="306" y="6"/>
                </a:cxn>
                <a:cxn ang="0">
                  <a:pos x="186" y="6"/>
                </a:cxn>
                <a:cxn ang="0">
                  <a:pos x="102" y="35"/>
                </a:cxn>
                <a:cxn ang="0">
                  <a:pos x="93" y="35"/>
                </a:cxn>
                <a:cxn ang="0">
                  <a:pos x="76" y="41"/>
                </a:cxn>
                <a:cxn ang="0">
                  <a:pos x="66" y="54"/>
                </a:cxn>
                <a:cxn ang="0">
                  <a:pos x="27" y="111"/>
                </a:cxn>
                <a:cxn ang="0">
                  <a:pos x="0" y="176"/>
                </a:cxn>
                <a:cxn ang="0">
                  <a:pos x="10" y="200"/>
                </a:cxn>
                <a:cxn ang="0">
                  <a:pos x="10" y="219"/>
                </a:cxn>
                <a:cxn ang="0">
                  <a:pos x="17" y="264"/>
                </a:cxn>
                <a:cxn ang="0">
                  <a:pos x="86" y="296"/>
                </a:cxn>
                <a:cxn ang="0">
                  <a:pos x="154" y="320"/>
                </a:cxn>
                <a:cxn ang="0">
                  <a:pos x="222" y="348"/>
                </a:cxn>
                <a:cxn ang="0">
                  <a:pos x="280" y="367"/>
                </a:cxn>
                <a:cxn ang="0">
                  <a:pos x="320" y="396"/>
                </a:cxn>
                <a:cxn ang="0">
                  <a:pos x="328" y="380"/>
                </a:cxn>
                <a:cxn ang="0">
                  <a:pos x="345" y="372"/>
                </a:cxn>
                <a:cxn ang="0">
                  <a:pos x="374" y="353"/>
                </a:cxn>
                <a:cxn ang="0">
                  <a:pos x="412" y="350"/>
                </a:cxn>
                <a:cxn ang="0">
                  <a:pos x="441" y="351"/>
                </a:cxn>
                <a:cxn ang="0">
                  <a:pos x="454" y="345"/>
                </a:cxn>
                <a:cxn ang="0">
                  <a:pos x="476" y="338"/>
                </a:cxn>
                <a:cxn ang="0">
                  <a:pos x="490" y="338"/>
                </a:cxn>
                <a:cxn ang="0">
                  <a:pos x="515" y="344"/>
                </a:cxn>
                <a:cxn ang="0">
                  <a:pos x="552" y="366"/>
                </a:cxn>
                <a:cxn ang="0">
                  <a:pos x="550" y="392"/>
                </a:cxn>
                <a:cxn ang="0">
                  <a:pos x="557" y="408"/>
                </a:cxn>
                <a:cxn ang="0">
                  <a:pos x="586" y="399"/>
                </a:cxn>
                <a:cxn ang="0">
                  <a:pos x="581" y="354"/>
                </a:cxn>
                <a:cxn ang="0">
                  <a:pos x="591" y="311"/>
                </a:cxn>
                <a:cxn ang="0">
                  <a:pos x="624" y="285"/>
                </a:cxn>
                <a:cxn ang="0">
                  <a:pos x="664" y="252"/>
                </a:cxn>
                <a:cxn ang="0">
                  <a:pos x="687" y="237"/>
                </a:cxn>
                <a:cxn ang="0">
                  <a:pos x="681" y="235"/>
                </a:cxn>
                <a:cxn ang="0">
                  <a:pos x="686" y="219"/>
                </a:cxn>
                <a:cxn ang="0">
                  <a:pos x="687" y="213"/>
                </a:cxn>
                <a:cxn ang="0">
                  <a:pos x="684" y="186"/>
                </a:cxn>
                <a:cxn ang="0">
                  <a:pos x="694" y="179"/>
                </a:cxn>
                <a:cxn ang="0">
                  <a:pos x="699" y="197"/>
                </a:cxn>
                <a:cxn ang="0">
                  <a:pos x="710" y="193"/>
                </a:cxn>
                <a:cxn ang="0">
                  <a:pos x="714" y="183"/>
                </a:cxn>
                <a:cxn ang="0">
                  <a:pos x="741" y="150"/>
                </a:cxn>
                <a:cxn ang="0">
                  <a:pos x="784" y="135"/>
                </a:cxn>
                <a:cxn ang="0">
                  <a:pos x="803" y="133"/>
                </a:cxn>
                <a:cxn ang="0">
                  <a:pos x="819" y="96"/>
                </a:cxn>
                <a:cxn ang="0">
                  <a:pos x="845" y="87"/>
                </a:cxn>
              </a:cxnLst>
              <a:rect l="0" t="0" r="r" b="b"/>
              <a:pathLst>
                <a:path w="864" h="431">
                  <a:moveTo>
                    <a:pt x="863" y="79"/>
                  </a:moveTo>
                  <a:lnTo>
                    <a:pt x="862" y="73"/>
                  </a:lnTo>
                  <a:lnTo>
                    <a:pt x="858" y="61"/>
                  </a:lnTo>
                  <a:lnTo>
                    <a:pt x="864" y="39"/>
                  </a:lnTo>
                  <a:lnTo>
                    <a:pt x="855" y="36"/>
                  </a:lnTo>
                  <a:lnTo>
                    <a:pt x="849" y="36"/>
                  </a:lnTo>
                  <a:lnTo>
                    <a:pt x="848" y="33"/>
                  </a:lnTo>
                  <a:lnTo>
                    <a:pt x="834" y="45"/>
                  </a:lnTo>
                  <a:lnTo>
                    <a:pt x="822" y="59"/>
                  </a:lnTo>
                  <a:lnTo>
                    <a:pt x="809" y="69"/>
                  </a:lnTo>
                  <a:lnTo>
                    <a:pt x="800" y="75"/>
                  </a:lnTo>
                  <a:lnTo>
                    <a:pt x="772" y="78"/>
                  </a:lnTo>
                  <a:lnTo>
                    <a:pt x="744" y="79"/>
                  </a:lnTo>
                  <a:lnTo>
                    <a:pt x="730" y="90"/>
                  </a:lnTo>
                  <a:lnTo>
                    <a:pt x="716" y="101"/>
                  </a:lnTo>
                  <a:lnTo>
                    <a:pt x="698" y="102"/>
                  </a:lnTo>
                  <a:lnTo>
                    <a:pt x="681" y="103"/>
                  </a:lnTo>
                  <a:lnTo>
                    <a:pt x="680" y="115"/>
                  </a:lnTo>
                  <a:lnTo>
                    <a:pt x="664" y="120"/>
                  </a:lnTo>
                  <a:lnTo>
                    <a:pt x="648" y="125"/>
                  </a:lnTo>
                  <a:lnTo>
                    <a:pt x="634" y="129"/>
                  </a:lnTo>
                  <a:lnTo>
                    <a:pt x="618" y="135"/>
                  </a:lnTo>
                  <a:lnTo>
                    <a:pt x="614" y="128"/>
                  </a:lnTo>
                  <a:lnTo>
                    <a:pt x="632" y="111"/>
                  </a:lnTo>
                  <a:lnTo>
                    <a:pt x="639" y="102"/>
                  </a:lnTo>
                  <a:lnTo>
                    <a:pt x="641" y="85"/>
                  </a:lnTo>
                  <a:lnTo>
                    <a:pt x="645" y="69"/>
                  </a:lnTo>
                  <a:lnTo>
                    <a:pt x="634" y="61"/>
                  </a:lnTo>
                  <a:lnTo>
                    <a:pt x="635" y="56"/>
                  </a:lnTo>
                  <a:lnTo>
                    <a:pt x="630" y="57"/>
                  </a:lnTo>
                  <a:lnTo>
                    <a:pt x="629" y="50"/>
                  </a:lnTo>
                  <a:lnTo>
                    <a:pt x="617" y="42"/>
                  </a:lnTo>
                  <a:lnTo>
                    <a:pt x="605" y="35"/>
                  </a:lnTo>
                  <a:lnTo>
                    <a:pt x="593" y="27"/>
                  </a:lnTo>
                  <a:lnTo>
                    <a:pt x="581" y="19"/>
                  </a:lnTo>
                  <a:lnTo>
                    <a:pt x="562" y="24"/>
                  </a:lnTo>
                  <a:lnTo>
                    <a:pt x="550" y="19"/>
                  </a:lnTo>
                  <a:lnTo>
                    <a:pt x="538" y="21"/>
                  </a:lnTo>
                  <a:lnTo>
                    <a:pt x="518" y="13"/>
                  </a:lnTo>
                  <a:lnTo>
                    <a:pt x="502" y="9"/>
                  </a:lnTo>
                  <a:lnTo>
                    <a:pt x="503" y="0"/>
                  </a:lnTo>
                  <a:lnTo>
                    <a:pt x="497" y="6"/>
                  </a:lnTo>
                  <a:lnTo>
                    <a:pt x="473" y="6"/>
                  </a:lnTo>
                  <a:lnTo>
                    <a:pt x="449" y="6"/>
                  </a:lnTo>
                  <a:lnTo>
                    <a:pt x="425" y="6"/>
                  </a:lnTo>
                  <a:lnTo>
                    <a:pt x="401" y="6"/>
                  </a:lnTo>
                  <a:lnTo>
                    <a:pt x="377" y="6"/>
                  </a:lnTo>
                  <a:lnTo>
                    <a:pt x="354" y="6"/>
                  </a:lnTo>
                  <a:lnTo>
                    <a:pt x="330" y="6"/>
                  </a:lnTo>
                  <a:lnTo>
                    <a:pt x="306" y="6"/>
                  </a:lnTo>
                  <a:lnTo>
                    <a:pt x="282" y="6"/>
                  </a:lnTo>
                  <a:lnTo>
                    <a:pt x="258" y="6"/>
                  </a:lnTo>
                  <a:lnTo>
                    <a:pt x="234" y="6"/>
                  </a:lnTo>
                  <a:lnTo>
                    <a:pt x="210" y="6"/>
                  </a:lnTo>
                  <a:lnTo>
                    <a:pt x="186" y="6"/>
                  </a:lnTo>
                  <a:lnTo>
                    <a:pt x="162" y="6"/>
                  </a:lnTo>
                  <a:lnTo>
                    <a:pt x="138" y="6"/>
                  </a:lnTo>
                  <a:lnTo>
                    <a:pt x="114" y="6"/>
                  </a:lnTo>
                  <a:lnTo>
                    <a:pt x="110" y="20"/>
                  </a:lnTo>
                  <a:lnTo>
                    <a:pt x="102" y="35"/>
                  </a:lnTo>
                  <a:lnTo>
                    <a:pt x="92" y="39"/>
                  </a:lnTo>
                  <a:lnTo>
                    <a:pt x="94" y="36"/>
                  </a:lnTo>
                  <a:lnTo>
                    <a:pt x="95" y="38"/>
                  </a:lnTo>
                  <a:lnTo>
                    <a:pt x="106" y="25"/>
                  </a:lnTo>
                  <a:lnTo>
                    <a:pt x="93" y="35"/>
                  </a:lnTo>
                  <a:lnTo>
                    <a:pt x="92" y="35"/>
                  </a:lnTo>
                  <a:lnTo>
                    <a:pt x="100" y="27"/>
                  </a:lnTo>
                  <a:lnTo>
                    <a:pt x="105" y="21"/>
                  </a:lnTo>
                  <a:lnTo>
                    <a:pt x="83" y="17"/>
                  </a:lnTo>
                  <a:lnTo>
                    <a:pt x="76" y="41"/>
                  </a:lnTo>
                  <a:lnTo>
                    <a:pt x="74" y="43"/>
                  </a:lnTo>
                  <a:lnTo>
                    <a:pt x="72" y="47"/>
                  </a:lnTo>
                  <a:lnTo>
                    <a:pt x="71" y="49"/>
                  </a:lnTo>
                  <a:lnTo>
                    <a:pt x="70" y="47"/>
                  </a:lnTo>
                  <a:lnTo>
                    <a:pt x="66" y="54"/>
                  </a:lnTo>
                  <a:lnTo>
                    <a:pt x="76" y="56"/>
                  </a:lnTo>
                  <a:lnTo>
                    <a:pt x="69" y="56"/>
                  </a:lnTo>
                  <a:lnTo>
                    <a:pt x="62" y="65"/>
                  </a:lnTo>
                  <a:lnTo>
                    <a:pt x="44" y="87"/>
                  </a:lnTo>
                  <a:lnTo>
                    <a:pt x="27" y="111"/>
                  </a:lnTo>
                  <a:lnTo>
                    <a:pt x="22" y="126"/>
                  </a:lnTo>
                  <a:lnTo>
                    <a:pt x="17" y="140"/>
                  </a:lnTo>
                  <a:lnTo>
                    <a:pt x="2" y="157"/>
                  </a:lnTo>
                  <a:lnTo>
                    <a:pt x="3" y="163"/>
                  </a:lnTo>
                  <a:lnTo>
                    <a:pt x="0" y="176"/>
                  </a:lnTo>
                  <a:lnTo>
                    <a:pt x="3" y="188"/>
                  </a:lnTo>
                  <a:lnTo>
                    <a:pt x="5" y="199"/>
                  </a:lnTo>
                  <a:lnTo>
                    <a:pt x="4" y="197"/>
                  </a:lnTo>
                  <a:lnTo>
                    <a:pt x="3" y="200"/>
                  </a:lnTo>
                  <a:lnTo>
                    <a:pt x="10" y="200"/>
                  </a:lnTo>
                  <a:lnTo>
                    <a:pt x="14" y="200"/>
                  </a:lnTo>
                  <a:lnTo>
                    <a:pt x="11" y="210"/>
                  </a:lnTo>
                  <a:lnTo>
                    <a:pt x="8" y="207"/>
                  </a:lnTo>
                  <a:lnTo>
                    <a:pt x="5" y="210"/>
                  </a:lnTo>
                  <a:lnTo>
                    <a:pt x="10" y="219"/>
                  </a:lnTo>
                  <a:lnTo>
                    <a:pt x="5" y="227"/>
                  </a:lnTo>
                  <a:lnTo>
                    <a:pt x="9" y="236"/>
                  </a:lnTo>
                  <a:lnTo>
                    <a:pt x="12" y="247"/>
                  </a:lnTo>
                  <a:lnTo>
                    <a:pt x="9" y="263"/>
                  </a:lnTo>
                  <a:lnTo>
                    <a:pt x="17" y="264"/>
                  </a:lnTo>
                  <a:lnTo>
                    <a:pt x="33" y="272"/>
                  </a:lnTo>
                  <a:lnTo>
                    <a:pt x="48" y="284"/>
                  </a:lnTo>
                  <a:lnTo>
                    <a:pt x="48" y="299"/>
                  </a:lnTo>
                  <a:lnTo>
                    <a:pt x="66" y="297"/>
                  </a:lnTo>
                  <a:lnTo>
                    <a:pt x="86" y="296"/>
                  </a:lnTo>
                  <a:lnTo>
                    <a:pt x="96" y="302"/>
                  </a:lnTo>
                  <a:lnTo>
                    <a:pt x="108" y="308"/>
                  </a:lnTo>
                  <a:lnTo>
                    <a:pt x="120" y="314"/>
                  </a:lnTo>
                  <a:lnTo>
                    <a:pt x="132" y="320"/>
                  </a:lnTo>
                  <a:lnTo>
                    <a:pt x="154" y="320"/>
                  </a:lnTo>
                  <a:lnTo>
                    <a:pt x="176" y="320"/>
                  </a:lnTo>
                  <a:lnTo>
                    <a:pt x="179" y="312"/>
                  </a:lnTo>
                  <a:lnTo>
                    <a:pt x="204" y="312"/>
                  </a:lnTo>
                  <a:lnTo>
                    <a:pt x="218" y="330"/>
                  </a:lnTo>
                  <a:lnTo>
                    <a:pt x="222" y="348"/>
                  </a:lnTo>
                  <a:lnTo>
                    <a:pt x="231" y="355"/>
                  </a:lnTo>
                  <a:lnTo>
                    <a:pt x="240" y="362"/>
                  </a:lnTo>
                  <a:lnTo>
                    <a:pt x="251" y="349"/>
                  </a:lnTo>
                  <a:lnTo>
                    <a:pt x="273" y="351"/>
                  </a:lnTo>
                  <a:lnTo>
                    <a:pt x="280" y="367"/>
                  </a:lnTo>
                  <a:lnTo>
                    <a:pt x="286" y="384"/>
                  </a:lnTo>
                  <a:lnTo>
                    <a:pt x="292" y="405"/>
                  </a:lnTo>
                  <a:lnTo>
                    <a:pt x="302" y="414"/>
                  </a:lnTo>
                  <a:lnTo>
                    <a:pt x="321" y="416"/>
                  </a:lnTo>
                  <a:lnTo>
                    <a:pt x="320" y="396"/>
                  </a:lnTo>
                  <a:lnTo>
                    <a:pt x="318" y="393"/>
                  </a:lnTo>
                  <a:lnTo>
                    <a:pt x="317" y="390"/>
                  </a:lnTo>
                  <a:lnTo>
                    <a:pt x="322" y="392"/>
                  </a:lnTo>
                  <a:lnTo>
                    <a:pt x="324" y="383"/>
                  </a:lnTo>
                  <a:lnTo>
                    <a:pt x="328" y="380"/>
                  </a:lnTo>
                  <a:lnTo>
                    <a:pt x="336" y="374"/>
                  </a:lnTo>
                  <a:lnTo>
                    <a:pt x="341" y="371"/>
                  </a:lnTo>
                  <a:lnTo>
                    <a:pt x="341" y="368"/>
                  </a:lnTo>
                  <a:lnTo>
                    <a:pt x="348" y="368"/>
                  </a:lnTo>
                  <a:lnTo>
                    <a:pt x="345" y="372"/>
                  </a:lnTo>
                  <a:lnTo>
                    <a:pt x="353" y="367"/>
                  </a:lnTo>
                  <a:lnTo>
                    <a:pt x="350" y="367"/>
                  </a:lnTo>
                  <a:lnTo>
                    <a:pt x="368" y="355"/>
                  </a:lnTo>
                  <a:lnTo>
                    <a:pt x="370" y="350"/>
                  </a:lnTo>
                  <a:lnTo>
                    <a:pt x="374" y="353"/>
                  </a:lnTo>
                  <a:lnTo>
                    <a:pt x="372" y="354"/>
                  </a:lnTo>
                  <a:lnTo>
                    <a:pt x="384" y="347"/>
                  </a:lnTo>
                  <a:lnTo>
                    <a:pt x="387" y="347"/>
                  </a:lnTo>
                  <a:lnTo>
                    <a:pt x="399" y="349"/>
                  </a:lnTo>
                  <a:lnTo>
                    <a:pt x="412" y="350"/>
                  </a:lnTo>
                  <a:lnTo>
                    <a:pt x="419" y="349"/>
                  </a:lnTo>
                  <a:lnTo>
                    <a:pt x="424" y="355"/>
                  </a:lnTo>
                  <a:lnTo>
                    <a:pt x="434" y="357"/>
                  </a:lnTo>
                  <a:lnTo>
                    <a:pt x="442" y="359"/>
                  </a:lnTo>
                  <a:lnTo>
                    <a:pt x="441" y="351"/>
                  </a:lnTo>
                  <a:lnTo>
                    <a:pt x="453" y="360"/>
                  </a:lnTo>
                  <a:lnTo>
                    <a:pt x="450" y="363"/>
                  </a:lnTo>
                  <a:lnTo>
                    <a:pt x="455" y="357"/>
                  </a:lnTo>
                  <a:lnTo>
                    <a:pt x="449" y="349"/>
                  </a:lnTo>
                  <a:lnTo>
                    <a:pt x="454" y="345"/>
                  </a:lnTo>
                  <a:lnTo>
                    <a:pt x="452" y="344"/>
                  </a:lnTo>
                  <a:lnTo>
                    <a:pt x="450" y="343"/>
                  </a:lnTo>
                  <a:lnTo>
                    <a:pt x="440" y="341"/>
                  </a:lnTo>
                  <a:lnTo>
                    <a:pt x="450" y="341"/>
                  </a:lnTo>
                  <a:lnTo>
                    <a:pt x="476" y="338"/>
                  </a:lnTo>
                  <a:lnTo>
                    <a:pt x="479" y="331"/>
                  </a:lnTo>
                  <a:lnTo>
                    <a:pt x="478" y="339"/>
                  </a:lnTo>
                  <a:lnTo>
                    <a:pt x="485" y="338"/>
                  </a:lnTo>
                  <a:lnTo>
                    <a:pt x="494" y="336"/>
                  </a:lnTo>
                  <a:lnTo>
                    <a:pt x="490" y="338"/>
                  </a:lnTo>
                  <a:lnTo>
                    <a:pt x="504" y="337"/>
                  </a:lnTo>
                  <a:lnTo>
                    <a:pt x="501" y="337"/>
                  </a:lnTo>
                  <a:lnTo>
                    <a:pt x="509" y="339"/>
                  </a:lnTo>
                  <a:lnTo>
                    <a:pt x="513" y="339"/>
                  </a:lnTo>
                  <a:lnTo>
                    <a:pt x="515" y="344"/>
                  </a:lnTo>
                  <a:lnTo>
                    <a:pt x="512" y="342"/>
                  </a:lnTo>
                  <a:lnTo>
                    <a:pt x="515" y="350"/>
                  </a:lnTo>
                  <a:lnTo>
                    <a:pt x="537" y="343"/>
                  </a:lnTo>
                  <a:lnTo>
                    <a:pt x="545" y="354"/>
                  </a:lnTo>
                  <a:lnTo>
                    <a:pt x="552" y="366"/>
                  </a:lnTo>
                  <a:lnTo>
                    <a:pt x="549" y="386"/>
                  </a:lnTo>
                  <a:lnTo>
                    <a:pt x="548" y="383"/>
                  </a:lnTo>
                  <a:lnTo>
                    <a:pt x="549" y="386"/>
                  </a:lnTo>
                  <a:lnTo>
                    <a:pt x="552" y="381"/>
                  </a:lnTo>
                  <a:lnTo>
                    <a:pt x="550" y="392"/>
                  </a:lnTo>
                  <a:lnTo>
                    <a:pt x="554" y="399"/>
                  </a:lnTo>
                  <a:lnTo>
                    <a:pt x="556" y="401"/>
                  </a:lnTo>
                  <a:lnTo>
                    <a:pt x="556" y="407"/>
                  </a:lnTo>
                  <a:lnTo>
                    <a:pt x="560" y="403"/>
                  </a:lnTo>
                  <a:lnTo>
                    <a:pt x="557" y="408"/>
                  </a:lnTo>
                  <a:lnTo>
                    <a:pt x="560" y="417"/>
                  </a:lnTo>
                  <a:lnTo>
                    <a:pt x="567" y="431"/>
                  </a:lnTo>
                  <a:lnTo>
                    <a:pt x="576" y="428"/>
                  </a:lnTo>
                  <a:lnTo>
                    <a:pt x="581" y="414"/>
                  </a:lnTo>
                  <a:lnTo>
                    <a:pt x="586" y="399"/>
                  </a:lnTo>
                  <a:lnTo>
                    <a:pt x="584" y="384"/>
                  </a:lnTo>
                  <a:lnTo>
                    <a:pt x="581" y="368"/>
                  </a:lnTo>
                  <a:lnTo>
                    <a:pt x="584" y="383"/>
                  </a:lnTo>
                  <a:lnTo>
                    <a:pt x="582" y="368"/>
                  </a:lnTo>
                  <a:lnTo>
                    <a:pt x="581" y="354"/>
                  </a:lnTo>
                  <a:lnTo>
                    <a:pt x="580" y="339"/>
                  </a:lnTo>
                  <a:lnTo>
                    <a:pt x="579" y="325"/>
                  </a:lnTo>
                  <a:lnTo>
                    <a:pt x="584" y="321"/>
                  </a:lnTo>
                  <a:lnTo>
                    <a:pt x="585" y="319"/>
                  </a:lnTo>
                  <a:lnTo>
                    <a:pt x="591" y="311"/>
                  </a:lnTo>
                  <a:lnTo>
                    <a:pt x="596" y="302"/>
                  </a:lnTo>
                  <a:lnTo>
                    <a:pt x="597" y="301"/>
                  </a:lnTo>
                  <a:lnTo>
                    <a:pt x="602" y="300"/>
                  </a:lnTo>
                  <a:lnTo>
                    <a:pt x="622" y="285"/>
                  </a:lnTo>
                  <a:lnTo>
                    <a:pt x="624" y="285"/>
                  </a:lnTo>
                  <a:lnTo>
                    <a:pt x="640" y="275"/>
                  </a:lnTo>
                  <a:lnTo>
                    <a:pt x="646" y="272"/>
                  </a:lnTo>
                  <a:lnTo>
                    <a:pt x="657" y="261"/>
                  </a:lnTo>
                  <a:lnTo>
                    <a:pt x="675" y="255"/>
                  </a:lnTo>
                  <a:lnTo>
                    <a:pt x="664" y="252"/>
                  </a:lnTo>
                  <a:lnTo>
                    <a:pt x="671" y="253"/>
                  </a:lnTo>
                  <a:lnTo>
                    <a:pt x="674" y="249"/>
                  </a:lnTo>
                  <a:lnTo>
                    <a:pt x="666" y="245"/>
                  </a:lnTo>
                  <a:lnTo>
                    <a:pt x="682" y="246"/>
                  </a:lnTo>
                  <a:lnTo>
                    <a:pt x="687" y="237"/>
                  </a:lnTo>
                  <a:lnTo>
                    <a:pt x="683" y="240"/>
                  </a:lnTo>
                  <a:lnTo>
                    <a:pt x="678" y="236"/>
                  </a:lnTo>
                  <a:lnTo>
                    <a:pt x="674" y="234"/>
                  </a:lnTo>
                  <a:lnTo>
                    <a:pt x="675" y="234"/>
                  </a:lnTo>
                  <a:lnTo>
                    <a:pt x="681" y="235"/>
                  </a:lnTo>
                  <a:lnTo>
                    <a:pt x="686" y="234"/>
                  </a:lnTo>
                  <a:lnTo>
                    <a:pt x="688" y="235"/>
                  </a:lnTo>
                  <a:lnTo>
                    <a:pt x="689" y="224"/>
                  </a:lnTo>
                  <a:lnTo>
                    <a:pt x="690" y="240"/>
                  </a:lnTo>
                  <a:lnTo>
                    <a:pt x="686" y="219"/>
                  </a:lnTo>
                  <a:lnTo>
                    <a:pt x="680" y="218"/>
                  </a:lnTo>
                  <a:lnTo>
                    <a:pt x="675" y="212"/>
                  </a:lnTo>
                  <a:lnTo>
                    <a:pt x="686" y="217"/>
                  </a:lnTo>
                  <a:lnTo>
                    <a:pt x="681" y="209"/>
                  </a:lnTo>
                  <a:lnTo>
                    <a:pt x="687" y="213"/>
                  </a:lnTo>
                  <a:lnTo>
                    <a:pt x="680" y="199"/>
                  </a:lnTo>
                  <a:lnTo>
                    <a:pt x="689" y="205"/>
                  </a:lnTo>
                  <a:lnTo>
                    <a:pt x="682" y="193"/>
                  </a:lnTo>
                  <a:lnTo>
                    <a:pt x="677" y="193"/>
                  </a:lnTo>
                  <a:lnTo>
                    <a:pt x="684" y="186"/>
                  </a:lnTo>
                  <a:lnTo>
                    <a:pt x="682" y="193"/>
                  </a:lnTo>
                  <a:lnTo>
                    <a:pt x="690" y="198"/>
                  </a:lnTo>
                  <a:lnTo>
                    <a:pt x="688" y="188"/>
                  </a:lnTo>
                  <a:lnTo>
                    <a:pt x="692" y="194"/>
                  </a:lnTo>
                  <a:lnTo>
                    <a:pt x="694" y="179"/>
                  </a:lnTo>
                  <a:lnTo>
                    <a:pt x="704" y="175"/>
                  </a:lnTo>
                  <a:lnTo>
                    <a:pt x="698" y="185"/>
                  </a:lnTo>
                  <a:lnTo>
                    <a:pt x="695" y="189"/>
                  </a:lnTo>
                  <a:lnTo>
                    <a:pt x="694" y="194"/>
                  </a:lnTo>
                  <a:lnTo>
                    <a:pt x="699" y="197"/>
                  </a:lnTo>
                  <a:lnTo>
                    <a:pt x="696" y="201"/>
                  </a:lnTo>
                  <a:lnTo>
                    <a:pt x="698" y="205"/>
                  </a:lnTo>
                  <a:lnTo>
                    <a:pt x="694" y="207"/>
                  </a:lnTo>
                  <a:lnTo>
                    <a:pt x="690" y="213"/>
                  </a:lnTo>
                  <a:lnTo>
                    <a:pt x="710" y="193"/>
                  </a:lnTo>
                  <a:lnTo>
                    <a:pt x="708" y="175"/>
                  </a:lnTo>
                  <a:lnTo>
                    <a:pt x="717" y="167"/>
                  </a:lnTo>
                  <a:lnTo>
                    <a:pt x="710" y="171"/>
                  </a:lnTo>
                  <a:lnTo>
                    <a:pt x="716" y="179"/>
                  </a:lnTo>
                  <a:lnTo>
                    <a:pt x="714" y="183"/>
                  </a:lnTo>
                  <a:lnTo>
                    <a:pt x="732" y="167"/>
                  </a:lnTo>
                  <a:lnTo>
                    <a:pt x="732" y="169"/>
                  </a:lnTo>
                  <a:lnTo>
                    <a:pt x="735" y="157"/>
                  </a:lnTo>
                  <a:lnTo>
                    <a:pt x="742" y="144"/>
                  </a:lnTo>
                  <a:lnTo>
                    <a:pt x="741" y="150"/>
                  </a:lnTo>
                  <a:lnTo>
                    <a:pt x="746" y="147"/>
                  </a:lnTo>
                  <a:lnTo>
                    <a:pt x="762" y="144"/>
                  </a:lnTo>
                  <a:lnTo>
                    <a:pt x="778" y="140"/>
                  </a:lnTo>
                  <a:lnTo>
                    <a:pt x="782" y="135"/>
                  </a:lnTo>
                  <a:lnTo>
                    <a:pt x="784" y="135"/>
                  </a:lnTo>
                  <a:lnTo>
                    <a:pt x="790" y="139"/>
                  </a:lnTo>
                  <a:lnTo>
                    <a:pt x="794" y="140"/>
                  </a:lnTo>
                  <a:lnTo>
                    <a:pt x="803" y="135"/>
                  </a:lnTo>
                  <a:lnTo>
                    <a:pt x="802" y="128"/>
                  </a:lnTo>
                  <a:lnTo>
                    <a:pt x="803" y="133"/>
                  </a:lnTo>
                  <a:lnTo>
                    <a:pt x="795" y="129"/>
                  </a:lnTo>
                  <a:lnTo>
                    <a:pt x="796" y="120"/>
                  </a:lnTo>
                  <a:lnTo>
                    <a:pt x="797" y="116"/>
                  </a:lnTo>
                  <a:lnTo>
                    <a:pt x="814" y="98"/>
                  </a:lnTo>
                  <a:lnTo>
                    <a:pt x="819" y="96"/>
                  </a:lnTo>
                  <a:lnTo>
                    <a:pt x="821" y="97"/>
                  </a:lnTo>
                  <a:lnTo>
                    <a:pt x="834" y="85"/>
                  </a:lnTo>
                  <a:lnTo>
                    <a:pt x="834" y="86"/>
                  </a:lnTo>
                  <a:lnTo>
                    <a:pt x="838" y="86"/>
                  </a:lnTo>
                  <a:lnTo>
                    <a:pt x="845" y="87"/>
                  </a:lnTo>
                  <a:lnTo>
                    <a:pt x="863" y="7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2" name="Freeform 431"/>
            <p:cNvSpPr>
              <a:spLocks/>
            </p:cNvSpPr>
            <p:nvPr/>
          </p:nvSpPr>
          <p:spPr bwMode="auto">
            <a:xfrm>
              <a:off x="127" y="1328"/>
              <a:ext cx="611" cy="293"/>
            </a:xfrm>
            <a:custGeom>
              <a:avLst/>
              <a:gdLst/>
              <a:ahLst/>
              <a:cxnLst>
                <a:cxn ang="0">
                  <a:pos x="442" y="229"/>
                </a:cxn>
                <a:cxn ang="0">
                  <a:pos x="426" y="186"/>
                </a:cxn>
                <a:cxn ang="0">
                  <a:pos x="402" y="175"/>
                </a:cxn>
                <a:cxn ang="0">
                  <a:pos x="424" y="135"/>
                </a:cxn>
                <a:cxn ang="0">
                  <a:pos x="507" y="60"/>
                </a:cxn>
                <a:cxn ang="0">
                  <a:pos x="500" y="16"/>
                </a:cxn>
                <a:cxn ang="0">
                  <a:pos x="429" y="6"/>
                </a:cxn>
                <a:cxn ang="0">
                  <a:pos x="413" y="1"/>
                </a:cxn>
                <a:cxn ang="0">
                  <a:pos x="356" y="10"/>
                </a:cxn>
                <a:cxn ang="0">
                  <a:pos x="324" y="16"/>
                </a:cxn>
                <a:cxn ang="0">
                  <a:pos x="230" y="45"/>
                </a:cxn>
                <a:cxn ang="0">
                  <a:pos x="250" y="72"/>
                </a:cxn>
                <a:cxn ang="0">
                  <a:pos x="242" y="76"/>
                </a:cxn>
                <a:cxn ang="0">
                  <a:pos x="222" y="72"/>
                </a:cxn>
                <a:cxn ang="0">
                  <a:pos x="155" y="94"/>
                </a:cxn>
                <a:cxn ang="0">
                  <a:pos x="220" y="97"/>
                </a:cxn>
                <a:cxn ang="0">
                  <a:pos x="180" y="121"/>
                </a:cxn>
                <a:cxn ang="0">
                  <a:pos x="129" y="135"/>
                </a:cxn>
                <a:cxn ang="0">
                  <a:pos x="96" y="148"/>
                </a:cxn>
                <a:cxn ang="0">
                  <a:pos x="108" y="151"/>
                </a:cxn>
                <a:cxn ang="0">
                  <a:pos x="105" y="163"/>
                </a:cxn>
                <a:cxn ang="0">
                  <a:pos x="81" y="169"/>
                </a:cxn>
                <a:cxn ang="0">
                  <a:pos x="110" y="177"/>
                </a:cxn>
                <a:cxn ang="0">
                  <a:pos x="88" y="199"/>
                </a:cxn>
                <a:cxn ang="0">
                  <a:pos x="137" y="193"/>
                </a:cxn>
                <a:cxn ang="0">
                  <a:pos x="159" y="193"/>
                </a:cxn>
                <a:cxn ang="0">
                  <a:pos x="124" y="217"/>
                </a:cxn>
                <a:cxn ang="0">
                  <a:pos x="57" y="246"/>
                </a:cxn>
                <a:cxn ang="0">
                  <a:pos x="38" y="246"/>
                </a:cxn>
                <a:cxn ang="0">
                  <a:pos x="14" y="258"/>
                </a:cxn>
                <a:cxn ang="0">
                  <a:pos x="34" y="252"/>
                </a:cxn>
                <a:cxn ang="0">
                  <a:pos x="81" y="244"/>
                </a:cxn>
                <a:cxn ang="0">
                  <a:pos x="168" y="210"/>
                </a:cxn>
                <a:cxn ang="0">
                  <a:pos x="228" y="179"/>
                </a:cxn>
                <a:cxn ang="0">
                  <a:pos x="297" y="153"/>
                </a:cxn>
                <a:cxn ang="0">
                  <a:pos x="258" y="166"/>
                </a:cxn>
                <a:cxn ang="0">
                  <a:pos x="238" y="190"/>
                </a:cxn>
                <a:cxn ang="0">
                  <a:pos x="261" y="183"/>
                </a:cxn>
                <a:cxn ang="0">
                  <a:pos x="280" y="178"/>
                </a:cxn>
                <a:cxn ang="0">
                  <a:pos x="294" y="165"/>
                </a:cxn>
                <a:cxn ang="0">
                  <a:pos x="312" y="161"/>
                </a:cxn>
                <a:cxn ang="0">
                  <a:pos x="324" y="163"/>
                </a:cxn>
                <a:cxn ang="0">
                  <a:pos x="323" y="169"/>
                </a:cxn>
                <a:cxn ang="0">
                  <a:pos x="340" y="174"/>
                </a:cxn>
                <a:cxn ang="0">
                  <a:pos x="393" y="178"/>
                </a:cxn>
                <a:cxn ang="0">
                  <a:pos x="389" y="184"/>
                </a:cxn>
                <a:cxn ang="0">
                  <a:pos x="411" y="195"/>
                </a:cxn>
                <a:cxn ang="0">
                  <a:pos x="420" y="201"/>
                </a:cxn>
                <a:cxn ang="0">
                  <a:pos x="434" y="199"/>
                </a:cxn>
                <a:cxn ang="0">
                  <a:pos x="436" y="211"/>
                </a:cxn>
                <a:cxn ang="0">
                  <a:pos x="435" y="215"/>
                </a:cxn>
                <a:cxn ang="0">
                  <a:pos x="435" y="232"/>
                </a:cxn>
                <a:cxn ang="0">
                  <a:pos x="428" y="249"/>
                </a:cxn>
                <a:cxn ang="0">
                  <a:pos x="441" y="255"/>
                </a:cxn>
              </a:cxnLst>
              <a:rect l="0" t="0" r="r" b="b"/>
              <a:pathLst>
                <a:path w="550" h="264">
                  <a:moveTo>
                    <a:pt x="447" y="256"/>
                  </a:moveTo>
                  <a:lnTo>
                    <a:pt x="455" y="245"/>
                  </a:lnTo>
                  <a:lnTo>
                    <a:pt x="449" y="238"/>
                  </a:lnTo>
                  <a:lnTo>
                    <a:pt x="442" y="229"/>
                  </a:lnTo>
                  <a:lnTo>
                    <a:pt x="446" y="214"/>
                  </a:lnTo>
                  <a:lnTo>
                    <a:pt x="449" y="198"/>
                  </a:lnTo>
                  <a:lnTo>
                    <a:pt x="444" y="180"/>
                  </a:lnTo>
                  <a:lnTo>
                    <a:pt x="426" y="186"/>
                  </a:lnTo>
                  <a:lnTo>
                    <a:pt x="417" y="191"/>
                  </a:lnTo>
                  <a:lnTo>
                    <a:pt x="405" y="196"/>
                  </a:lnTo>
                  <a:lnTo>
                    <a:pt x="405" y="179"/>
                  </a:lnTo>
                  <a:lnTo>
                    <a:pt x="402" y="175"/>
                  </a:lnTo>
                  <a:lnTo>
                    <a:pt x="408" y="172"/>
                  </a:lnTo>
                  <a:lnTo>
                    <a:pt x="383" y="172"/>
                  </a:lnTo>
                  <a:lnTo>
                    <a:pt x="404" y="154"/>
                  </a:lnTo>
                  <a:lnTo>
                    <a:pt x="424" y="135"/>
                  </a:lnTo>
                  <a:lnTo>
                    <a:pt x="444" y="115"/>
                  </a:lnTo>
                  <a:lnTo>
                    <a:pt x="464" y="96"/>
                  </a:lnTo>
                  <a:lnTo>
                    <a:pt x="485" y="78"/>
                  </a:lnTo>
                  <a:lnTo>
                    <a:pt x="507" y="60"/>
                  </a:lnTo>
                  <a:lnTo>
                    <a:pt x="528" y="42"/>
                  </a:lnTo>
                  <a:lnTo>
                    <a:pt x="550" y="24"/>
                  </a:lnTo>
                  <a:lnTo>
                    <a:pt x="524" y="18"/>
                  </a:lnTo>
                  <a:lnTo>
                    <a:pt x="500" y="16"/>
                  </a:lnTo>
                  <a:lnTo>
                    <a:pt x="474" y="13"/>
                  </a:lnTo>
                  <a:lnTo>
                    <a:pt x="443" y="11"/>
                  </a:lnTo>
                  <a:lnTo>
                    <a:pt x="441" y="9"/>
                  </a:lnTo>
                  <a:lnTo>
                    <a:pt x="429" y="6"/>
                  </a:lnTo>
                  <a:lnTo>
                    <a:pt x="422" y="6"/>
                  </a:lnTo>
                  <a:lnTo>
                    <a:pt x="418" y="4"/>
                  </a:lnTo>
                  <a:lnTo>
                    <a:pt x="406" y="6"/>
                  </a:lnTo>
                  <a:lnTo>
                    <a:pt x="413" y="1"/>
                  </a:lnTo>
                  <a:lnTo>
                    <a:pt x="406" y="0"/>
                  </a:lnTo>
                  <a:lnTo>
                    <a:pt x="372" y="7"/>
                  </a:lnTo>
                  <a:lnTo>
                    <a:pt x="366" y="7"/>
                  </a:lnTo>
                  <a:lnTo>
                    <a:pt x="356" y="10"/>
                  </a:lnTo>
                  <a:lnTo>
                    <a:pt x="354" y="12"/>
                  </a:lnTo>
                  <a:lnTo>
                    <a:pt x="347" y="16"/>
                  </a:lnTo>
                  <a:lnTo>
                    <a:pt x="352" y="11"/>
                  </a:lnTo>
                  <a:lnTo>
                    <a:pt x="324" y="16"/>
                  </a:lnTo>
                  <a:lnTo>
                    <a:pt x="296" y="25"/>
                  </a:lnTo>
                  <a:lnTo>
                    <a:pt x="268" y="36"/>
                  </a:lnTo>
                  <a:lnTo>
                    <a:pt x="244" y="36"/>
                  </a:lnTo>
                  <a:lnTo>
                    <a:pt x="230" y="45"/>
                  </a:lnTo>
                  <a:lnTo>
                    <a:pt x="240" y="60"/>
                  </a:lnTo>
                  <a:lnTo>
                    <a:pt x="236" y="64"/>
                  </a:lnTo>
                  <a:lnTo>
                    <a:pt x="255" y="66"/>
                  </a:lnTo>
                  <a:lnTo>
                    <a:pt x="250" y="72"/>
                  </a:lnTo>
                  <a:lnTo>
                    <a:pt x="264" y="73"/>
                  </a:lnTo>
                  <a:lnTo>
                    <a:pt x="245" y="72"/>
                  </a:lnTo>
                  <a:lnTo>
                    <a:pt x="244" y="67"/>
                  </a:lnTo>
                  <a:lnTo>
                    <a:pt x="242" y="76"/>
                  </a:lnTo>
                  <a:lnTo>
                    <a:pt x="246" y="79"/>
                  </a:lnTo>
                  <a:lnTo>
                    <a:pt x="238" y="79"/>
                  </a:lnTo>
                  <a:lnTo>
                    <a:pt x="210" y="78"/>
                  </a:lnTo>
                  <a:lnTo>
                    <a:pt x="222" y="72"/>
                  </a:lnTo>
                  <a:lnTo>
                    <a:pt x="191" y="77"/>
                  </a:lnTo>
                  <a:lnTo>
                    <a:pt x="152" y="88"/>
                  </a:lnTo>
                  <a:lnTo>
                    <a:pt x="165" y="93"/>
                  </a:lnTo>
                  <a:lnTo>
                    <a:pt x="155" y="94"/>
                  </a:lnTo>
                  <a:lnTo>
                    <a:pt x="153" y="103"/>
                  </a:lnTo>
                  <a:lnTo>
                    <a:pt x="186" y="103"/>
                  </a:lnTo>
                  <a:lnTo>
                    <a:pt x="191" y="106"/>
                  </a:lnTo>
                  <a:lnTo>
                    <a:pt x="220" y="97"/>
                  </a:lnTo>
                  <a:lnTo>
                    <a:pt x="214" y="105"/>
                  </a:lnTo>
                  <a:lnTo>
                    <a:pt x="208" y="106"/>
                  </a:lnTo>
                  <a:lnTo>
                    <a:pt x="202" y="115"/>
                  </a:lnTo>
                  <a:lnTo>
                    <a:pt x="180" y="121"/>
                  </a:lnTo>
                  <a:lnTo>
                    <a:pt x="149" y="129"/>
                  </a:lnTo>
                  <a:lnTo>
                    <a:pt x="155" y="125"/>
                  </a:lnTo>
                  <a:lnTo>
                    <a:pt x="143" y="127"/>
                  </a:lnTo>
                  <a:lnTo>
                    <a:pt x="129" y="135"/>
                  </a:lnTo>
                  <a:lnTo>
                    <a:pt x="131" y="135"/>
                  </a:lnTo>
                  <a:lnTo>
                    <a:pt x="125" y="137"/>
                  </a:lnTo>
                  <a:lnTo>
                    <a:pt x="104" y="147"/>
                  </a:lnTo>
                  <a:lnTo>
                    <a:pt x="96" y="148"/>
                  </a:lnTo>
                  <a:lnTo>
                    <a:pt x="99" y="150"/>
                  </a:lnTo>
                  <a:lnTo>
                    <a:pt x="90" y="153"/>
                  </a:lnTo>
                  <a:lnTo>
                    <a:pt x="93" y="157"/>
                  </a:lnTo>
                  <a:lnTo>
                    <a:pt x="108" y="151"/>
                  </a:lnTo>
                  <a:lnTo>
                    <a:pt x="94" y="159"/>
                  </a:lnTo>
                  <a:lnTo>
                    <a:pt x="95" y="161"/>
                  </a:lnTo>
                  <a:lnTo>
                    <a:pt x="110" y="162"/>
                  </a:lnTo>
                  <a:lnTo>
                    <a:pt x="105" y="163"/>
                  </a:lnTo>
                  <a:lnTo>
                    <a:pt x="107" y="166"/>
                  </a:lnTo>
                  <a:lnTo>
                    <a:pt x="98" y="166"/>
                  </a:lnTo>
                  <a:lnTo>
                    <a:pt x="92" y="163"/>
                  </a:lnTo>
                  <a:lnTo>
                    <a:pt x="81" y="169"/>
                  </a:lnTo>
                  <a:lnTo>
                    <a:pt x="87" y="180"/>
                  </a:lnTo>
                  <a:lnTo>
                    <a:pt x="110" y="174"/>
                  </a:lnTo>
                  <a:lnTo>
                    <a:pt x="124" y="167"/>
                  </a:lnTo>
                  <a:lnTo>
                    <a:pt x="110" y="177"/>
                  </a:lnTo>
                  <a:lnTo>
                    <a:pt x="100" y="187"/>
                  </a:lnTo>
                  <a:lnTo>
                    <a:pt x="96" y="192"/>
                  </a:lnTo>
                  <a:lnTo>
                    <a:pt x="96" y="193"/>
                  </a:lnTo>
                  <a:lnTo>
                    <a:pt x="88" y="199"/>
                  </a:lnTo>
                  <a:lnTo>
                    <a:pt x="114" y="195"/>
                  </a:lnTo>
                  <a:lnTo>
                    <a:pt x="122" y="196"/>
                  </a:lnTo>
                  <a:lnTo>
                    <a:pt x="122" y="204"/>
                  </a:lnTo>
                  <a:lnTo>
                    <a:pt x="137" y="193"/>
                  </a:lnTo>
                  <a:lnTo>
                    <a:pt x="142" y="193"/>
                  </a:lnTo>
                  <a:lnTo>
                    <a:pt x="132" y="197"/>
                  </a:lnTo>
                  <a:lnTo>
                    <a:pt x="135" y="201"/>
                  </a:lnTo>
                  <a:lnTo>
                    <a:pt x="159" y="193"/>
                  </a:lnTo>
                  <a:lnTo>
                    <a:pt x="136" y="207"/>
                  </a:lnTo>
                  <a:lnTo>
                    <a:pt x="140" y="207"/>
                  </a:lnTo>
                  <a:lnTo>
                    <a:pt x="137" y="207"/>
                  </a:lnTo>
                  <a:lnTo>
                    <a:pt x="124" y="217"/>
                  </a:lnTo>
                  <a:lnTo>
                    <a:pt x="117" y="219"/>
                  </a:lnTo>
                  <a:lnTo>
                    <a:pt x="95" y="231"/>
                  </a:lnTo>
                  <a:lnTo>
                    <a:pt x="60" y="241"/>
                  </a:lnTo>
                  <a:lnTo>
                    <a:pt x="57" y="246"/>
                  </a:lnTo>
                  <a:lnTo>
                    <a:pt x="51" y="246"/>
                  </a:lnTo>
                  <a:lnTo>
                    <a:pt x="48" y="249"/>
                  </a:lnTo>
                  <a:lnTo>
                    <a:pt x="48" y="246"/>
                  </a:lnTo>
                  <a:lnTo>
                    <a:pt x="38" y="246"/>
                  </a:lnTo>
                  <a:lnTo>
                    <a:pt x="0" y="262"/>
                  </a:lnTo>
                  <a:lnTo>
                    <a:pt x="3" y="261"/>
                  </a:lnTo>
                  <a:lnTo>
                    <a:pt x="5" y="262"/>
                  </a:lnTo>
                  <a:lnTo>
                    <a:pt x="14" y="258"/>
                  </a:lnTo>
                  <a:lnTo>
                    <a:pt x="15" y="259"/>
                  </a:lnTo>
                  <a:lnTo>
                    <a:pt x="32" y="252"/>
                  </a:lnTo>
                  <a:lnTo>
                    <a:pt x="39" y="252"/>
                  </a:lnTo>
                  <a:lnTo>
                    <a:pt x="34" y="252"/>
                  </a:lnTo>
                  <a:lnTo>
                    <a:pt x="51" y="250"/>
                  </a:lnTo>
                  <a:lnTo>
                    <a:pt x="62" y="249"/>
                  </a:lnTo>
                  <a:lnTo>
                    <a:pt x="65" y="247"/>
                  </a:lnTo>
                  <a:lnTo>
                    <a:pt x="81" y="244"/>
                  </a:lnTo>
                  <a:lnTo>
                    <a:pt x="86" y="243"/>
                  </a:lnTo>
                  <a:lnTo>
                    <a:pt x="89" y="239"/>
                  </a:lnTo>
                  <a:lnTo>
                    <a:pt x="131" y="223"/>
                  </a:lnTo>
                  <a:lnTo>
                    <a:pt x="168" y="210"/>
                  </a:lnTo>
                  <a:lnTo>
                    <a:pt x="201" y="196"/>
                  </a:lnTo>
                  <a:lnTo>
                    <a:pt x="194" y="192"/>
                  </a:lnTo>
                  <a:lnTo>
                    <a:pt x="222" y="180"/>
                  </a:lnTo>
                  <a:lnTo>
                    <a:pt x="228" y="179"/>
                  </a:lnTo>
                  <a:lnTo>
                    <a:pt x="232" y="173"/>
                  </a:lnTo>
                  <a:lnTo>
                    <a:pt x="256" y="163"/>
                  </a:lnTo>
                  <a:lnTo>
                    <a:pt x="280" y="156"/>
                  </a:lnTo>
                  <a:lnTo>
                    <a:pt x="297" y="153"/>
                  </a:lnTo>
                  <a:lnTo>
                    <a:pt x="286" y="157"/>
                  </a:lnTo>
                  <a:lnTo>
                    <a:pt x="290" y="162"/>
                  </a:lnTo>
                  <a:lnTo>
                    <a:pt x="284" y="161"/>
                  </a:lnTo>
                  <a:lnTo>
                    <a:pt x="258" y="166"/>
                  </a:lnTo>
                  <a:lnTo>
                    <a:pt x="236" y="183"/>
                  </a:lnTo>
                  <a:lnTo>
                    <a:pt x="248" y="180"/>
                  </a:lnTo>
                  <a:lnTo>
                    <a:pt x="230" y="187"/>
                  </a:lnTo>
                  <a:lnTo>
                    <a:pt x="238" y="190"/>
                  </a:lnTo>
                  <a:lnTo>
                    <a:pt x="256" y="181"/>
                  </a:lnTo>
                  <a:lnTo>
                    <a:pt x="251" y="185"/>
                  </a:lnTo>
                  <a:lnTo>
                    <a:pt x="257" y="183"/>
                  </a:lnTo>
                  <a:lnTo>
                    <a:pt x="261" y="183"/>
                  </a:lnTo>
                  <a:lnTo>
                    <a:pt x="263" y="179"/>
                  </a:lnTo>
                  <a:lnTo>
                    <a:pt x="264" y="181"/>
                  </a:lnTo>
                  <a:lnTo>
                    <a:pt x="272" y="177"/>
                  </a:lnTo>
                  <a:lnTo>
                    <a:pt x="280" y="178"/>
                  </a:lnTo>
                  <a:lnTo>
                    <a:pt x="296" y="171"/>
                  </a:lnTo>
                  <a:lnTo>
                    <a:pt x="293" y="169"/>
                  </a:lnTo>
                  <a:lnTo>
                    <a:pt x="298" y="167"/>
                  </a:lnTo>
                  <a:lnTo>
                    <a:pt x="294" y="165"/>
                  </a:lnTo>
                  <a:lnTo>
                    <a:pt x="303" y="162"/>
                  </a:lnTo>
                  <a:lnTo>
                    <a:pt x="316" y="156"/>
                  </a:lnTo>
                  <a:lnTo>
                    <a:pt x="305" y="162"/>
                  </a:lnTo>
                  <a:lnTo>
                    <a:pt x="312" y="161"/>
                  </a:lnTo>
                  <a:lnTo>
                    <a:pt x="311" y="162"/>
                  </a:lnTo>
                  <a:lnTo>
                    <a:pt x="330" y="159"/>
                  </a:lnTo>
                  <a:lnTo>
                    <a:pt x="326" y="160"/>
                  </a:lnTo>
                  <a:lnTo>
                    <a:pt x="324" y="163"/>
                  </a:lnTo>
                  <a:lnTo>
                    <a:pt x="321" y="165"/>
                  </a:lnTo>
                  <a:lnTo>
                    <a:pt x="327" y="165"/>
                  </a:lnTo>
                  <a:lnTo>
                    <a:pt x="328" y="166"/>
                  </a:lnTo>
                  <a:lnTo>
                    <a:pt x="323" y="169"/>
                  </a:lnTo>
                  <a:lnTo>
                    <a:pt x="328" y="172"/>
                  </a:lnTo>
                  <a:lnTo>
                    <a:pt x="341" y="167"/>
                  </a:lnTo>
                  <a:lnTo>
                    <a:pt x="336" y="171"/>
                  </a:lnTo>
                  <a:lnTo>
                    <a:pt x="340" y="174"/>
                  </a:lnTo>
                  <a:lnTo>
                    <a:pt x="357" y="175"/>
                  </a:lnTo>
                  <a:lnTo>
                    <a:pt x="375" y="177"/>
                  </a:lnTo>
                  <a:lnTo>
                    <a:pt x="375" y="181"/>
                  </a:lnTo>
                  <a:lnTo>
                    <a:pt x="393" y="178"/>
                  </a:lnTo>
                  <a:lnTo>
                    <a:pt x="400" y="180"/>
                  </a:lnTo>
                  <a:lnTo>
                    <a:pt x="394" y="183"/>
                  </a:lnTo>
                  <a:lnTo>
                    <a:pt x="398" y="178"/>
                  </a:lnTo>
                  <a:lnTo>
                    <a:pt x="389" y="184"/>
                  </a:lnTo>
                  <a:lnTo>
                    <a:pt x="398" y="195"/>
                  </a:lnTo>
                  <a:lnTo>
                    <a:pt x="407" y="205"/>
                  </a:lnTo>
                  <a:lnTo>
                    <a:pt x="413" y="205"/>
                  </a:lnTo>
                  <a:lnTo>
                    <a:pt x="411" y="195"/>
                  </a:lnTo>
                  <a:lnTo>
                    <a:pt x="417" y="197"/>
                  </a:lnTo>
                  <a:lnTo>
                    <a:pt x="423" y="195"/>
                  </a:lnTo>
                  <a:lnTo>
                    <a:pt x="424" y="196"/>
                  </a:lnTo>
                  <a:lnTo>
                    <a:pt x="420" y="201"/>
                  </a:lnTo>
                  <a:lnTo>
                    <a:pt x="420" y="203"/>
                  </a:lnTo>
                  <a:lnTo>
                    <a:pt x="422" y="207"/>
                  </a:lnTo>
                  <a:lnTo>
                    <a:pt x="436" y="190"/>
                  </a:lnTo>
                  <a:lnTo>
                    <a:pt x="434" y="199"/>
                  </a:lnTo>
                  <a:lnTo>
                    <a:pt x="436" y="207"/>
                  </a:lnTo>
                  <a:lnTo>
                    <a:pt x="440" y="205"/>
                  </a:lnTo>
                  <a:lnTo>
                    <a:pt x="441" y="209"/>
                  </a:lnTo>
                  <a:lnTo>
                    <a:pt x="436" y="211"/>
                  </a:lnTo>
                  <a:lnTo>
                    <a:pt x="444" y="213"/>
                  </a:lnTo>
                  <a:lnTo>
                    <a:pt x="440" y="213"/>
                  </a:lnTo>
                  <a:lnTo>
                    <a:pt x="440" y="217"/>
                  </a:lnTo>
                  <a:lnTo>
                    <a:pt x="435" y="215"/>
                  </a:lnTo>
                  <a:lnTo>
                    <a:pt x="436" y="221"/>
                  </a:lnTo>
                  <a:lnTo>
                    <a:pt x="431" y="222"/>
                  </a:lnTo>
                  <a:lnTo>
                    <a:pt x="432" y="225"/>
                  </a:lnTo>
                  <a:lnTo>
                    <a:pt x="435" y="232"/>
                  </a:lnTo>
                  <a:lnTo>
                    <a:pt x="441" y="240"/>
                  </a:lnTo>
                  <a:lnTo>
                    <a:pt x="435" y="240"/>
                  </a:lnTo>
                  <a:lnTo>
                    <a:pt x="422" y="251"/>
                  </a:lnTo>
                  <a:lnTo>
                    <a:pt x="428" y="249"/>
                  </a:lnTo>
                  <a:lnTo>
                    <a:pt x="446" y="243"/>
                  </a:lnTo>
                  <a:lnTo>
                    <a:pt x="435" y="256"/>
                  </a:lnTo>
                  <a:lnTo>
                    <a:pt x="430" y="257"/>
                  </a:lnTo>
                  <a:lnTo>
                    <a:pt x="441" y="255"/>
                  </a:lnTo>
                  <a:lnTo>
                    <a:pt x="434" y="259"/>
                  </a:lnTo>
                  <a:lnTo>
                    <a:pt x="430" y="264"/>
                  </a:lnTo>
                  <a:lnTo>
                    <a:pt x="447" y="2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3" name="Freeform 432"/>
            <p:cNvSpPr>
              <a:spLocks/>
            </p:cNvSpPr>
            <p:nvPr/>
          </p:nvSpPr>
          <p:spPr bwMode="auto">
            <a:xfrm>
              <a:off x="300" y="1561"/>
              <a:ext cx="43" cy="22"/>
            </a:xfrm>
            <a:custGeom>
              <a:avLst/>
              <a:gdLst/>
              <a:ahLst/>
              <a:cxnLst>
                <a:cxn ang="0">
                  <a:pos x="40" y="6"/>
                </a:cxn>
                <a:cxn ang="0">
                  <a:pos x="36" y="5"/>
                </a:cxn>
                <a:cxn ang="0">
                  <a:pos x="37" y="3"/>
                </a:cxn>
                <a:cxn ang="0">
                  <a:pos x="35" y="3"/>
                </a:cxn>
                <a:cxn ang="0">
                  <a:pos x="31" y="0"/>
                </a:cxn>
                <a:cxn ang="0">
                  <a:pos x="29" y="4"/>
                </a:cxn>
                <a:cxn ang="0">
                  <a:pos x="24" y="4"/>
                </a:cxn>
                <a:cxn ang="0">
                  <a:pos x="18" y="5"/>
                </a:cxn>
                <a:cxn ang="0">
                  <a:pos x="13" y="12"/>
                </a:cxn>
                <a:cxn ang="0">
                  <a:pos x="12" y="6"/>
                </a:cxn>
                <a:cxn ang="0">
                  <a:pos x="1" y="12"/>
                </a:cxn>
                <a:cxn ang="0">
                  <a:pos x="1" y="18"/>
                </a:cxn>
                <a:cxn ang="0">
                  <a:pos x="3" y="16"/>
                </a:cxn>
                <a:cxn ang="0">
                  <a:pos x="7" y="16"/>
                </a:cxn>
                <a:cxn ang="0">
                  <a:pos x="0" y="22"/>
                </a:cxn>
                <a:cxn ang="0">
                  <a:pos x="9" y="16"/>
                </a:cxn>
                <a:cxn ang="0">
                  <a:pos x="25" y="11"/>
                </a:cxn>
                <a:cxn ang="0">
                  <a:pos x="28" y="10"/>
                </a:cxn>
                <a:cxn ang="0">
                  <a:pos x="40" y="6"/>
                </a:cxn>
              </a:cxnLst>
              <a:rect l="0" t="0" r="r" b="b"/>
              <a:pathLst>
                <a:path w="40" h="22">
                  <a:moveTo>
                    <a:pt x="40" y="6"/>
                  </a:moveTo>
                  <a:lnTo>
                    <a:pt x="36" y="5"/>
                  </a:lnTo>
                  <a:lnTo>
                    <a:pt x="37" y="3"/>
                  </a:lnTo>
                  <a:lnTo>
                    <a:pt x="35" y="3"/>
                  </a:lnTo>
                  <a:lnTo>
                    <a:pt x="31" y="0"/>
                  </a:lnTo>
                  <a:lnTo>
                    <a:pt x="29" y="4"/>
                  </a:lnTo>
                  <a:lnTo>
                    <a:pt x="24" y="4"/>
                  </a:lnTo>
                  <a:lnTo>
                    <a:pt x="18" y="5"/>
                  </a:lnTo>
                  <a:lnTo>
                    <a:pt x="13" y="12"/>
                  </a:lnTo>
                  <a:lnTo>
                    <a:pt x="12" y="6"/>
                  </a:lnTo>
                  <a:lnTo>
                    <a:pt x="1" y="12"/>
                  </a:lnTo>
                  <a:lnTo>
                    <a:pt x="1" y="18"/>
                  </a:lnTo>
                  <a:lnTo>
                    <a:pt x="3" y="16"/>
                  </a:lnTo>
                  <a:lnTo>
                    <a:pt x="7" y="16"/>
                  </a:lnTo>
                  <a:lnTo>
                    <a:pt x="0" y="22"/>
                  </a:lnTo>
                  <a:lnTo>
                    <a:pt x="9" y="16"/>
                  </a:lnTo>
                  <a:lnTo>
                    <a:pt x="25" y="11"/>
                  </a:lnTo>
                  <a:lnTo>
                    <a:pt x="28" y="10"/>
                  </a:lnTo>
                  <a:lnTo>
                    <a:pt x="4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4" name="Freeform 433"/>
            <p:cNvSpPr>
              <a:spLocks/>
            </p:cNvSpPr>
            <p:nvPr/>
          </p:nvSpPr>
          <p:spPr bwMode="auto">
            <a:xfrm>
              <a:off x="196" y="1456"/>
              <a:ext cx="38" cy="14"/>
            </a:xfrm>
            <a:custGeom>
              <a:avLst/>
              <a:gdLst/>
              <a:ahLst/>
              <a:cxnLst>
                <a:cxn ang="0">
                  <a:pos x="33" y="6"/>
                </a:cxn>
                <a:cxn ang="0">
                  <a:pos x="16" y="11"/>
                </a:cxn>
                <a:cxn ang="0">
                  <a:pos x="10" y="3"/>
                </a:cxn>
                <a:cxn ang="0">
                  <a:pos x="13" y="7"/>
                </a:cxn>
                <a:cxn ang="0">
                  <a:pos x="0" y="6"/>
                </a:cxn>
                <a:cxn ang="0">
                  <a:pos x="4" y="0"/>
                </a:cxn>
                <a:cxn ang="0">
                  <a:pos x="18" y="0"/>
                </a:cxn>
                <a:cxn ang="0">
                  <a:pos x="33" y="6"/>
                </a:cxn>
              </a:cxnLst>
              <a:rect l="0" t="0" r="r" b="b"/>
              <a:pathLst>
                <a:path w="33" h="11">
                  <a:moveTo>
                    <a:pt x="33" y="6"/>
                  </a:moveTo>
                  <a:lnTo>
                    <a:pt x="16" y="11"/>
                  </a:lnTo>
                  <a:lnTo>
                    <a:pt x="10" y="3"/>
                  </a:lnTo>
                  <a:lnTo>
                    <a:pt x="13" y="7"/>
                  </a:lnTo>
                  <a:lnTo>
                    <a:pt x="0" y="6"/>
                  </a:lnTo>
                  <a:lnTo>
                    <a:pt x="4" y="0"/>
                  </a:lnTo>
                  <a:lnTo>
                    <a:pt x="18" y="0"/>
                  </a:lnTo>
                  <a:lnTo>
                    <a:pt x="33"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5" name="Freeform 434"/>
            <p:cNvSpPr>
              <a:spLocks/>
            </p:cNvSpPr>
            <p:nvPr/>
          </p:nvSpPr>
          <p:spPr bwMode="auto">
            <a:xfrm>
              <a:off x="576" y="1590"/>
              <a:ext cx="18" cy="33"/>
            </a:xfrm>
            <a:custGeom>
              <a:avLst/>
              <a:gdLst/>
              <a:ahLst/>
              <a:cxnLst>
                <a:cxn ang="0">
                  <a:pos x="9" y="26"/>
                </a:cxn>
                <a:cxn ang="0">
                  <a:pos x="7" y="29"/>
                </a:cxn>
                <a:cxn ang="0">
                  <a:pos x="6" y="21"/>
                </a:cxn>
                <a:cxn ang="0">
                  <a:pos x="0" y="18"/>
                </a:cxn>
                <a:cxn ang="0">
                  <a:pos x="6" y="17"/>
                </a:cxn>
                <a:cxn ang="0">
                  <a:pos x="9" y="12"/>
                </a:cxn>
                <a:cxn ang="0">
                  <a:pos x="3" y="13"/>
                </a:cxn>
                <a:cxn ang="0">
                  <a:pos x="10" y="8"/>
                </a:cxn>
                <a:cxn ang="0">
                  <a:pos x="9" y="2"/>
                </a:cxn>
                <a:cxn ang="0">
                  <a:pos x="14" y="0"/>
                </a:cxn>
                <a:cxn ang="0">
                  <a:pos x="16" y="14"/>
                </a:cxn>
                <a:cxn ang="0">
                  <a:pos x="14" y="12"/>
                </a:cxn>
                <a:cxn ang="0">
                  <a:pos x="13" y="15"/>
                </a:cxn>
                <a:cxn ang="0">
                  <a:pos x="9" y="26"/>
                </a:cxn>
              </a:cxnLst>
              <a:rect l="0" t="0" r="r" b="b"/>
              <a:pathLst>
                <a:path w="16" h="29">
                  <a:moveTo>
                    <a:pt x="9" y="26"/>
                  </a:moveTo>
                  <a:lnTo>
                    <a:pt x="7" y="29"/>
                  </a:lnTo>
                  <a:lnTo>
                    <a:pt x="6" y="21"/>
                  </a:lnTo>
                  <a:lnTo>
                    <a:pt x="0" y="18"/>
                  </a:lnTo>
                  <a:lnTo>
                    <a:pt x="6" y="17"/>
                  </a:lnTo>
                  <a:lnTo>
                    <a:pt x="9" y="12"/>
                  </a:lnTo>
                  <a:lnTo>
                    <a:pt x="3" y="13"/>
                  </a:lnTo>
                  <a:lnTo>
                    <a:pt x="10" y="8"/>
                  </a:lnTo>
                  <a:lnTo>
                    <a:pt x="9" y="2"/>
                  </a:lnTo>
                  <a:lnTo>
                    <a:pt x="14" y="0"/>
                  </a:lnTo>
                  <a:lnTo>
                    <a:pt x="16" y="14"/>
                  </a:lnTo>
                  <a:lnTo>
                    <a:pt x="14" y="12"/>
                  </a:lnTo>
                  <a:lnTo>
                    <a:pt x="13" y="15"/>
                  </a:lnTo>
                  <a:lnTo>
                    <a:pt x="9" y="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6" name="Freeform 435"/>
            <p:cNvSpPr>
              <a:spLocks/>
            </p:cNvSpPr>
            <p:nvPr/>
          </p:nvSpPr>
          <p:spPr bwMode="auto">
            <a:xfrm>
              <a:off x="587" y="1556"/>
              <a:ext cx="20" cy="23"/>
            </a:xfrm>
            <a:custGeom>
              <a:avLst/>
              <a:gdLst/>
              <a:ahLst/>
              <a:cxnLst>
                <a:cxn ang="0">
                  <a:pos x="17" y="10"/>
                </a:cxn>
                <a:cxn ang="0">
                  <a:pos x="12" y="12"/>
                </a:cxn>
                <a:cxn ang="0">
                  <a:pos x="0" y="20"/>
                </a:cxn>
                <a:cxn ang="0">
                  <a:pos x="3" y="15"/>
                </a:cxn>
                <a:cxn ang="0">
                  <a:pos x="14" y="0"/>
                </a:cxn>
                <a:cxn ang="0">
                  <a:pos x="18" y="1"/>
                </a:cxn>
                <a:cxn ang="0">
                  <a:pos x="17" y="10"/>
                </a:cxn>
              </a:cxnLst>
              <a:rect l="0" t="0" r="r" b="b"/>
              <a:pathLst>
                <a:path w="18" h="20">
                  <a:moveTo>
                    <a:pt x="17" y="10"/>
                  </a:moveTo>
                  <a:lnTo>
                    <a:pt x="12" y="12"/>
                  </a:lnTo>
                  <a:lnTo>
                    <a:pt x="0" y="20"/>
                  </a:lnTo>
                  <a:lnTo>
                    <a:pt x="3" y="15"/>
                  </a:lnTo>
                  <a:lnTo>
                    <a:pt x="14" y="0"/>
                  </a:lnTo>
                  <a:lnTo>
                    <a:pt x="18" y="1"/>
                  </a:lnTo>
                  <a:lnTo>
                    <a:pt x="17"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7" name="Freeform 436"/>
            <p:cNvSpPr>
              <a:spLocks/>
            </p:cNvSpPr>
            <p:nvPr/>
          </p:nvSpPr>
          <p:spPr bwMode="auto">
            <a:xfrm>
              <a:off x="96" y="1616"/>
              <a:ext cx="29" cy="9"/>
            </a:xfrm>
            <a:custGeom>
              <a:avLst/>
              <a:gdLst/>
              <a:ahLst/>
              <a:cxnLst>
                <a:cxn ang="0">
                  <a:pos x="26" y="6"/>
                </a:cxn>
                <a:cxn ang="0">
                  <a:pos x="21" y="0"/>
                </a:cxn>
                <a:cxn ang="0">
                  <a:pos x="0" y="7"/>
                </a:cxn>
                <a:cxn ang="0">
                  <a:pos x="6" y="8"/>
                </a:cxn>
                <a:cxn ang="0">
                  <a:pos x="26" y="6"/>
                </a:cxn>
              </a:cxnLst>
              <a:rect l="0" t="0" r="r" b="b"/>
              <a:pathLst>
                <a:path w="26" h="8">
                  <a:moveTo>
                    <a:pt x="26" y="6"/>
                  </a:moveTo>
                  <a:lnTo>
                    <a:pt x="21" y="0"/>
                  </a:lnTo>
                  <a:lnTo>
                    <a:pt x="0" y="7"/>
                  </a:lnTo>
                  <a:lnTo>
                    <a:pt x="6" y="8"/>
                  </a:lnTo>
                  <a:lnTo>
                    <a:pt x="2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8" name="Freeform 437"/>
            <p:cNvSpPr>
              <a:spLocks/>
            </p:cNvSpPr>
            <p:nvPr/>
          </p:nvSpPr>
          <p:spPr bwMode="auto">
            <a:xfrm>
              <a:off x="180" y="1516"/>
              <a:ext cx="20" cy="9"/>
            </a:xfrm>
            <a:custGeom>
              <a:avLst/>
              <a:gdLst/>
              <a:ahLst/>
              <a:cxnLst>
                <a:cxn ang="0">
                  <a:pos x="19" y="7"/>
                </a:cxn>
                <a:cxn ang="0">
                  <a:pos x="12" y="8"/>
                </a:cxn>
                <a:cxn ang="0">
                  <a:pos x="0" y="4"/>
                </a:cxn>
                <a:cxn ang="0">
                  <a:pos x="19" y="0"/>
                </a:cxn>
                <a:cxn ang="0">
                  <a:pos x="19" y="7"/>
                </a:cxn>
              </a:cxnLst>
              <a:rect l="0" t="0" r="r" b="b"/>
              <a:pathLst>
                <a:path w="19" h="8">
                  <a:moveTo>
                    <a:pt x="19" y="7"/>
                  </a:moveTo>
                  <a:lnTo>
                    <a:pt x="12" y="8"/>
                  </a:lnTo>
                  <a:lnTo>
                    <a:pt x="0" y="4"/>
                  </a:lnTo>
                  <a:lnTo>
                    <a:pt x="19" y="0"/>
                  </a:lnTo>
                  <a:lnTo>
                    <a:pt x="19"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9" name="Freeform 438"/>
            <p:cNvSpPr>
              <a:spLocks/>
            </p:cNvSpPr>
            <p:nvPr/>
          </p:nvSpPr>
          <p:spPr bwMode="auto">
            <a:xfrm>
              <a:off x="574" y="1554"/>
              <a:ext cx="20" cy="16"/>
            </a:xfrm>
            <a:custGeom>
              <a:avLst/>
              <a:gdLst/>
              <a:ahLst/>
              <a:cxnLst>
                <a:cxn ang="0">
                  <a:pos x="15" y="14"/>
                </a:cxn>
                <a:cxn ang="0">
                  <a:pos x="12" y="10"/>
                </a:cxn>
                <a:cxn ang="0">
                  <a:pos x="9" y="5"/>
                </a:cxn>
                <a:cxn ang="0">
                  <a:pos x="18" y="9"/>
                </a:cxn>
                <a:cxn ang="0">
                  <a:pos x="17" y="6"/>
                </a:cxn>
                <a:cxn ang="0">
                  <a:pos x="12" y="5"/>
                </a:cxn>
                <a:cxn ang="0">
                  <a:pos x="15" y="0"/>
                </a:cxn>
                <a:cxn ang="0">
                  <a:pos x="6" y="4"/>
                </a:cxn>
                <a:cxn ang="0">
                  <a:pos x="5" y="8"/>
                </a:cxn>
                <a:cxn ang="0">
                  <a:pos x="0" y="9"/>
                </a:cxn>
                <a:cxn ang="0">
                  <a:pos x="4" y="15"/>
                </a:cxn>
                <a:cxn ang="0">
                  <a:pos x="6" y="9"/>
                </a:cxn>
                <a:cxn ang="0">
                  <a:pos x="15" y="14"/>
                </a:cxn>
              </a:cxnLst>
              <a:rect l="0" t="0" r="r" b="b"/>
              <a:pathLst>
                <a:path w="18" h="15">
                  <a:moveTo>
                    <a:pt x="15" y="14"/>
                  </a:moveTo>
                  <a:lnTo>
                    <a:pt x="12" y="10"/>
                  </a:lnTo>
                  <a:lnTo>
                    <a:pt x="9" y="5"/>
                  </a:lnTo>
                  <a:lnTo>
                    <a:pt x="18" y="9"/>
                  </a:lnTo>
                  <a:lnTo>
                    <a:pt x="17" y="6"/>
                  </a:lnTo>
                  <a:lnTo>
                    <a:pt x="12" y="5"/>
                  </a:lnTo>
                  <a:lnTo>
                    <a:pt x="15" y="0"/>
                  </a:lnTo>
                  <a:lnTo>
                    <a:pt x="6" y="4"/>
                  </a:lnTo>
                  <a:lnTo>
                    <a:pt x="5" y="8"/>
                  </a:lnTo>
                  <a:lnTo>
                    <a:pt x="0" y="9"/>
                  </a:lnTo>
                  <a:lnTo>
                    <a:pt x="4" y="15"/>
                  </a:lnTo>
                  <a:lnTo>
                    <a:pt x="6" y="9"/>
                  </a:lnTo>
                  <a:lnTo>
                    <a:pt x="15" y="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0" name="Freeform 439"/>
            <p:cNvSpPr>
              <a:spLocks/>
            </p:cNvSpPr>
            <p:nvPr/>
          </p:nvSpPr>
          <p:spPr bwMode="auto">
            <a:xfrm>
              <a:off x="571" y="1570"/>
              <a:ext cx="14" cy="24"/>
            </a:xfrm>
            <a:custGeom>
              <a:avLst/>
              <a:gdLst/>
              <a:ahLst/>
              <a:cxnLst>
                <a:cxn ang="0">
                  <a:pos x="0" y="21"/>
                </a:cxn>
                <a:cxn ang="0">
                  <a:pos x="12" y="0"/>
                </a:cxn>
                <a:cxn ang="0">
                  <a:pos x="4" y="4"/>
                </a:cxn>
                <a:cxn ang="0">
                  <a:pos x="0" y="21"/>
                </a:cxn>
              </a:cxnLst>
              <a:rect l="0" t="0" r="r" b="b"/>
              <a:pathLst>
                <a:path w="12" h="21">
                  <a:moveTo>
                    <a:pt x="0" y="21"/>
                  </a:moveTo>
                  <a:lnTo>
                    <a:pt x="12" y="0"/>
                  </a:lnTo>
                  <a:lnTo>
                    <a:pt x="4" y="4"/>
                  </a:lnTo>
                  <a:lnTo>
                    <a:pt x="0" y="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1" name="Freeform 440"/>
            <p:cNvSpPr>
              <a:spLocks/>
            </p:cNvSpPr>
            <p:nvPr/>
          </p:nvSpPr>
          <p:spPr bwMode="auto">
            <a:xfrm>
              <a:off x="591" y="1576"/>
              <a:ext cx="14" cy="14"/>
            </a:xfrm>
            <a:custGeom>
              <a:avLst/>
              <a:gdLst/>
              <a:ahLst/>
              <a:cxnLst>
                <a:cxn ang="0">
                  <a:pos x="11" y="7"/>
                </a:cxn>
                <a:cxn ang="0">
                  <a:pos x="12" y="5"/>
                </a:cxn>
                <a:cxn ang="0">
                  <a:pos x="5" y="0"/>
                </a:cxn>
                <a:cxn ang="0">
                  <a:pos x="0" y="8"/>
                </a:cxn>
                <a:cxn ang="0">
                  <a:pos x="5" y="11"/>
                </a:cxn>
                <a:cxn ang="0">
                  <a:pos x="7" y="6"/>
                </a:cxn>
                <a:cxn ang="0">
                  <a:pos x="11" y="7"/>
                </a:cxn>
              </a:cxnLst>
              <a:rect l="0" t="0" r="r" b="b"/>
              <a:pathLst>
                <a:path w="12" h="11">
                  <a:moveTo>
                    <a:pt x="11" y="7"/>
                  </a:moveTo>
                  <a:lnTo>
                    <a:pt x="12" y="5"/>
                  </a:lnTo>
                  <a:lnTo>
                    <a:pt x="5" y="0"/>
                  </a:lnTo>
                  <a:lnTo>
                    <a:pt x="0" y="8"/>
                  </a:lnTo>
                  <a:lnTo>
                    <a:pt x="5" y="11"/>
                  </a:lnTo>
                  <a:lnTo>
                    <a:pt x="7" y="6"/>
                  </a:lnTo>
                  <a:lnTo>
                    <a:pt x="11"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2" name="Freeform 441"/>
            <p:cNvSpPr>
              <a:spLocks/>
            </p:cNvSpPr>
            <p:nvPr/>
          </p:nvSpPr>
          <p:spPr bwMode="auto">
            <a:xfrm>
              <a:off x="578" y="1581"/>
              <a:ext cx="13" cy="13"/>
            </a:xfrm>
            <a:custGeom>
              <a:avLst/>
              <a:gdLst/>
              <a:ahLst/>
              <a:cxnLst>
                <a:cxn ang="0">
                  <a:pos x="12" y="4"/>
                </a:cxn>
                <a:cxn ang="0">
                  <a:pos x="0" y="12"/>
                </a:cxn>
                <a:cxn ang="0">
                  <a:pos x="6" y="0"/>
                </a:cxn>
                <a:cxn ang="0">
                  <a:pos x="12" y="4"/>
                </a:cxn>
              </a:cxnLst>
              <a:rect l="0" t="0" r="r" b="b"/>
              <a:pathLst>
                <a:path w="12" h="12">
                  <a:moveTo>
                    <a:pt x="12" y="4"/>
                  </a:moveTo>
                  <a:lnTo>
                    <a:pt x="0" y="12"/>
                  </a:lnTo>
                  <a:lnTo>
                    <a:pt x="6" y="0"/>
                  </a:lnTo>
                  <a:lnTo>
                    <a:pt x="1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3" name="Freeform 442"/>
            <p:cNvSpPr>
              <a:spLocks/>
            </p:cNvSpPr>
            <p:nvPr/>
          </p:nvSpPr>
          <p:spPr bwMode="auto">
            <a:xfrm>
              <a:off x="1334" y="1885"/>
              <a:ext cx="37" cy="9"/>
            </a:xfrm>
            <a:custGeom>
              <a:avLst/>
              <a:gdLst/>
              <a:ahLst/>
              <a:cxnLst>
                <a:cxn ang="0">
                  <a:pos x="35" y="1"/>
                </a:cxn>
                <a:cxn ang="0">
                  <a:pos x="25" y="4"/>
                </a:cxn>
                <a:cxn ang="0">
                  <a:pos x="27" y="0"/>
                </a:cxn>
                <a:cxn ang="0">
                  <a:pos x="0" y="8"/>
                </a:cxn>
                <a:cxn ang="0">
                  <a:pos x="17" y="5"/>
                </a:cxn>
                <a:cxn ang="0">
                  <a:pos x="35" y="1"/>
                </a:cxn>
              </a:cxnLst>
              <a:rect l="0" t="0" r="r" b="b"/>
              <a:pathLst>
                <a:path w="35" h="8">
                  <a:moveTo>
                    <a:pt x="35" y="1"/>
                  </a:moveTo>
                  <a:lnTo>
                    <a:pt x="25" y="4"/>
                  </a:lnTo>
                  <a:lnTo>
                    <a:pt x="27" y="0"/>
                  </a:lnTo>
                  <a:lnTo>
                    <a:pt x="0" y="8"/>
                  </a:lnTo>
                  <a:lnTo>
                    <a:pt x="17" y="5"/>
                  </a:lnTo>
                  <a:lnTo>
                    <a:pt x="3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4" name="Freeform 443"/>
            <p:cNvSpPr>
              <a:spLocks/>
            </p:cNvSpPr>
            <p:nvPr/>
          </p:nvSpPr>
          <p:spPr bwMode="auto">
            <a:xfrm>
              <a:off x="2236" y="2154"/>
              <a:ext cx="146" cy="136"/>
            </a:xfrm>
            <a:custGeom>
              <a:avLst/>
              <a:gdLst/>
              <a:ahLst/>
              <a:cxnLst>
                <a:cxn ang="0">
                  <a:pos x="2" y="114"/>
                </a:cxn>
                <a:cxn ang="0">
                  <a:pos x="0" y="124"/>
                </a:cxn>
                <a:cxn ang="0">
                  <a:pos x="0" y="114"/>
                </a:cxn>
                <a:cxn ang="0">
                  <a:pos x="11" y="91"/>
                </a:cxn>
                <a:cxn ang="0">
                  <a:pos x="21" y="70"/>
                </a:cxn>
                <a:cxn ang="0">
                  <a:pos x="18" y="72"/>
                </a:cxn>
                <a:cxn ang="0">
                  <a:pos x="31" y="58"/>
                </a:cxn>
                <a:cxn ang="0">
                  <a:pos x="36" y="43"/>
                </a:cxn>
                <a:cxn ang="0">
                  <a:pos x="42" y="30"/>
                </a:cxn>
                <a:cxn ang="0">
                  <a:pos x="54" y="18"/>
                </a:cxn>
                <a:cxn ang="0">
                  <a:pos x="63" y="0"/>
                </a:cxn>
                <a:cxn ang="0">
                  <a:pos x="80" y="0"/>
                </a:cxn>
                <a:cxn ang="0">
                  <a:pos x="98" y="0"/>
                </a:cxn>
                <a:cxn ang="0">
                  <a:pos x="115" y="0"/>
                </a:cxn>
                <a:cxn ang="0">
                  <a:pos x="132" y="0"/>
                </a:cxn>
                <a:cxn ang="0">
                  <a:pos x="132" y="7"/>
                </a:cxn>
                <a:cxn ang="0">
                  <a:pos x="132" y="30"/>
                </a:cxn>
                <a:cxn ang="0">
                  <a:pos x="119" y="30"/>
                </a:cxn>
                <a:cxn ang="0">
                  <a:pos x="107" y="30"/>
                </a:cxn>
                <a:cxn ang="0">
                  <a:pos x="93" y="30"/>
                </a:cxn>
                <a:cxn ang="0">
                  <a:pos x="80" y="30"/>
                </a:cxn>
                <a:cxn ang="0">
                  <a:pos x="80" y="53"/>
                </a:cxn>
                <a:cxn ang="0">
                  <a:pos x="79" y="76"/>
                </a:cxn>
                <a:cxn ang="0">
                  <a:pos x="63" y="84"/>
                </a:cxn>
                <a:cxn ang="0">
                  <a:pos x="63" y="99"/>
                </a:cxn>
                <a:cxn ang="0">
                  <a:pos x="63" y="114"/>
                </a:cxn>
                <a:cxn ang="0">
                  <a:pos x="48" y="114"/>
                </a:cxn>
                <a:cxn ang="0">
                  <a:pos x="32" y="114"/>
                </a:cxn>
                <a:cxn ang="0">
                  <a:pos x="17" y="114"/>
                </a:cxn>
                <a:cxn ang="0">
                  <a:pos x="2" y="114"/>
                </a:cxn>
              </a:cxnLst>
              <a:rect l="0" t="0" r="r" b="b"/>
              <a:pathLst>
                <a:path w="132" h="124">
                  <a:moveTo>
                    <a:pt x="2" y="114"/>
                  </a:moveTo>
                  <a:lnTo>
                    <a:pt x="0" y="124"/>
                  </a:lnTo>
                  <a:lnTo>
                    <a:pt x="0" y="114"/>
                  </a:lnTo>
                  <a:lnTo>
                    <a:pt x="11" y="91"/>
                  </a:lnTo>
                  <a:lnTo>
                    <a:pt x="21" y="70"/>
                  </a:lnTo>
                  <a:lnTo>
                    <a:pt x="18" y="72"/>
                  </a:lnTo>
                  <a:lnTo>
                    <a:pt x="31" y="58"/>
                  </a:lnTo>
                  <a:lnTo>
                    <a:pt x="36" y="43"/>
                  </a:lnTo>
                  <a:lnTo>
                    <a:pt x="42" y="30"/>
                  </a:lnTo>
                  <a:lnTo>
                    <a:pt x="54" y="18"/>
                  </a:lnTo>
                  <a:lnTo>
                    <a:pt x="63" y="0"/>
                  </a:lnTo>
                  <a:lnTo>
                    <a:pt x="80" y="0"/>
                  </a:lnTo>
                  <a:lnTo>
                    <a:pt x="98" y="0"/>
                  </a:lnTo>
                  <a:lnTo>
                    <a:pt x="115" y="0"/>
                  </a:lnTo>
                  <a:lnTo>
                    <a:pt x="132" y="0"/>
                  </a:lnTo>
                  <a:lnTo>
                    <a:pt x="132" y="7"/>
                  </a:lnTo>
                  <a:lnTo>
                    <a:pt x="132" y="30"/>
                  </a:lnTo>
                  <a:lnTo>
                    <a:pt x="119" y="30"/>
                  </a:lnTo>
                  <a:lnTo>
                    <a:pt x="107" y="30"/>
                  </a:lnTo>
                  <a:lnTo>
                    <a:pt x="93" y="30"/>
                  </a:lnTo>
                  <a:lnTo>
                    <a:pt x="80" y="30"/>
                  </a:lnTo>
                  <a:lnTo>
                    <a:pt x="80" y="53"/>
                  </a:lnTo>
                  <a:lnTo>
                    <a:pt x="79" y="76"/>
                  </a:lnTo>
                  <a:lnTo>
                    <a:pt x="63" y="84"/>
                  </a:lnTo>
                  <a:lnTo>
                    <a:pt x="63" y="99"/>
                  </a:lnTo>
                  <a:lnTo>
                    <a:pt x="63" y="114"/>
                  </a:lnTo>
                  <a:lnTo>
                    <a:pt x="48" y="114"/>
                  </a:lnTo>
                  <a:lnTo>
                    <a:pt x="32" y="114"/>
                  </a:lnTo>
                  <a:lnTo>
                    <a:pt x="17" y="114"/>
                  </a:lnTo>
                  <a:lnTo>
                    <a:pt x="2" y="1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grpSp>
      <p:sp>
        <p:nvSpPr>
          <p:cNvPr id="445" name="TextBox 599"/>
          <p:cNvSpPr txBox="1"/>
          <p:nvPr/>
        </p:nvSpPr>
        <p:spPr>
          <a:xfrm>
            <a:off x="7495627" y="3948025"/>
            <a:ext cx="4222761" cy="2113259"/>
          </a:xfrm>
          <a:prstGeom prst="roundRect">
            <a:avLst/>
          </a:prstGeom>
          <a:noFill/>
          <a:ln w="28575">
            <a:solidFill>
              <a:schemeClr val="accent1"/>
            </a:solidFill>
            <a:prstDash val="dashDot"/>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endParaRPr lang="en-GB" sz="1869" dirty="0">
              <a:solidFill>
                <a:prstClr val="black"/>
              </a:solidFill>
            </a:endParaRPr>
          </a:p>
        </p:txBody>
      </p:sp>
      <p:grpSp>
        <p:nvGrpSpPr>
          <p:cNvPr id="446" name="Group 445"/>
          <p:cNvGrpSpPr/>
          <p:nvPr/>
        </p:nvGrpSpPr>
        <p:grpSpPr>
          <a:xfrm>
            <a:off x="381805" y="1763278"/>
            <a:ext cx="3779722" cy="4065458"/>
            <a:chOff x="458769" y="1327309"/>
            <a:chExt cx="3847119" cy="4137950"/>
          </a:xfrm>
        </p:grpSpPr>
        <p:sp>
          <p:nvSpPr>
            <p:cNvPr id="447" name="Freeform 446"/>
            <p:cNvSpPr/>
            <p:nvPr/>
          </p:nvSpPr>
          <p:spPr>
            <a:xfrm rot="21365595" flipH="1" flipV="1">
              <a:off x="1361005" y="2521249"/>
              <a:ext cx="1883228" cy="608646"/>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48" name="Freeform 447"/>
            <p:cNvSpPr/>
            <p:nvPr/>
          </p:nvSpPr>
          <p:spPr>
            <a:xfrm rot="21287480" flipH="1" flipV="1">
              <a:off x="1322362" y="4080518"/>
              <a:ext cx="1970135" cy="334088"/>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grpSp>
          <p:nvGrpSpPr>
            <p:cNvPr id="449" name="Group 448"/>
            <p:cNvGrpSpPr/>
            <p:nvPr/>
          </p:nvGrpSpPr>
          <p:grpSpPr>
            <a:xfrm rot="10800000" flipH="1">
              <a:off x="458769" y="1327309"/>
              <a:ext cx="3847119" cy="4137950"/>
              <a:chOff x="3474598" y="1219201"/>
              <a:chExt cx="3702490" cy="4807347"/>
            </a:xfrm>
          </p:grpSpPr>
          <p:sp>
            <p:nvSpPr>
              <p:cNvPr id="450" name="Freeform 449"/>
              <p:cNvSpPr/>
              <p:nvPr/>
            </p:nvSpPr>
            <p:spPr>
              <a:xfrm>
                <a:off x="3494041" y="4040150"/>
                <a:ext cx="886981" cy="484968"/>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1" name="Freeform 450"/>
              <p:cNvSpPr/>
              <p:nvPr/>
            </p:nvSpPr>
            <p:spPr>
              <a:xfrm>
                <a:off x="3483565" y="2413795"/>
                <a:ext cx="873329" cy="516731"/>
              </a:xfrm>
              <a:custGeom>
                <a:avLst/>
                <a:gdLst>
                  <a:gd name="connsiteX0" fmla="*/ 0 w 819150"/>
                  <a:gd name="connsiteY0" fmla="*/ 523875 h 523875"/>
                  <a:gd name="connsiteX1" fmla="*/ 806450 w 819150"/>
                  <a:gd name="connsiteY1" fmla="*/ 339725 h 523875"/>
                  <a:gd name="connsiteX2" fmla="*/ 819150 w 819150"/>
                  <a:gd name="connsiteY2" fmla="*/ 0 h 523875"/>
                  <a:gd name="connsiteX3" fmla="*/ 6350 w 819150"/>
                  <a:gd name="connsiteY3" fmla="*/ 241300 h 523875"/>
                  <a:gd name="connsiteX4" fmla="*/ 0 w 819150"/>
                  <a:gd name="connsiteY4" fmla="*/ 523875 h 523875"/>
                  <a:gd name="connsiteX0" fmla="*/ 0 w 812006"/>
                  <a:gd name="connsiteY0" fmla="*/ 516731 h 516731"/>
                  <a:gd name="connsiteX1" fmla="*/ 806450 w 812006"/>
                  <a:gd name="connsiteY1" fmla="*/ 332581 h 516731"/>
                  <a:gd name="connsiteX2" fmla="*/ 812006 w 812006"/>
                  <a:gd name="connsiteY2" fmla="*/ 0 h 516731"/>
                  <a:gd name="connsiteX3" fmla="*/ 6350 w 812006"/>
                  <a:gd name="connsiteY3" fmla="*/ 234156 h 516731"/>
                  <a:gd name="connsiteX4" fmla="*/ 0 w 812006"/>
                  <a:gd name="connsiteY4" fmla="*/ 516731 h 516731"/>
                  <a:gd name="connsiteX0" fmla="*/ 0 w 813594"/>
                  <a:gd name="connsiteY0" fmla="*/ 516731 h 516731"/>
                  <a:gd name="connsiteX1" fmla="*/ 813594 w 813594"/>
                  <a:gd name="connsiteY1" fmla="*/ 330199 h 516731"/>
                  <a:gd name="connsiteX2" fmla="*/ 812006 w 813594"/>
                  <a:gd name="connsiteY2" fmla="*/ 0 h 516731"/>
                  <a:gd name="connsiteX3" fmla="*/ 6350 w 813594"/>
                  <a:gd name="connsiteY3" fmla="*/ 234156 h 516731"/>
                  <a:gd name="connsiteX4" fmla="*/ 0 w 813594"/>
                  <a:gd name="connsiteY4" fmla="*/ 516731 h 51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94" h="516731">
                    <a:moveTo>
                      <a:pt x="0" y="516731"/>
                    </a:moveTo>
                    <a:lnTo>
                      <a:pt x="813594" y="330199"/>
                    </a:lnTo>
                    <a:cubicBezTo>
                      <a:pt x="813065" y="220133"/>
                      <a:pt x="812535" y="110066"/>
                      <a:pt x="812006" y="0"/>
                    </a:cubicBezTo>
                    <a:lnTo>
                      <a:pt x="6350" y="234156"/>
                    </a:lnTo>
                    <a:cubicBezTo>
                      <a:pt x="5292" y="331523"/>
                      <a:pt x="4233" y="428889"/>
                      <a:pt x="0" y="5167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2" name="Freeform 451"/>
              <p:cNvSpPr/>
              <p:nvPr/>
            </p:nvSpPr>
            <p:spPr>
              <a:xfrm>
                <a:off x="4310063" y="2743200"/>
                <a:ext cx="2376487" cy="1376386"/>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354137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2368550"/>
                  <a:gd name="connsiteY0" fmla="*/ 0 h 1354137"/>
                  <a:gd name="connsiteX1" fmla="*/ 0 w 2368550"/>
                  <a:gd name="connsiteY1" fmla="*/ 1354137 h 1354137"/>
                  <a:gd name="connsiteX2" fmla="*/ 2368550 w 2368550"/>
                  <a:gd name="connsiteY2" fmla="*/ 1320800 h 1354137"/>
                  <a:gd name="connsiteX3" fmla="*/ 1816100 w 2368550"/>
                  <a:gd name="connsiteY3" fmla="*/ 469900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8550" h="1354137">
                    <a:moveTo>
                      <a:pt x="6350" y="0"/>
                    </a:moveTo>
                    <a:cubicBezTo>
                      <a:pt x="4233" y="389467"/>
                      <a:pt x="2117" y="964670"/>
                      <a:pt x="0" y="1354137"/>
                    </a:cubicBezTo>
                    <a:lnTo>
                      <a:pt x="2368550" y="1320800"/>
                    </a:lnTo>
                    <a:lnTo>
                      <a:pt x="2354262" y="379412"/>
                    </a:lnTo>
                    <a:cubicBezTo>
                      <a:pt x="2345266" y="281780"/>
                      <a:pt x="2331508" y="203993"/>
                      <a:pt x="2193925" y="169862"/>
                    </a:cubicBezTo>
                    <a:lnTo>
                      <a:pt x="6350" y="0"/>
                    </a:lnTo>
                    <a:close/>
                  </a:path>
                </a:pathLst>
              </a:custGeom>
              <a:solidFill>
                <a:schemeClr val="accent1">
                  <a:lumMod val="20000"/>
                  <a:lumOff val="8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3" name="Freeform 452"/>
              <p:cNvSpPr/>
              <p:nvPr/>
            </p:nvSpPr>
            <p:spPr>
              <a:xfrm>
                <a:off x="4322764" y="4356465"/>
                <a:ext cx="2854324" cy="1670050"/>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354137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2368550"/>
                  <a:gd name="connsiteY0" fmla="*/ 0 h 1354137"/>
                  <a:gd name="connsiteX1" fmla="*/ 0 w 2368550"/>
                  <a:gd name="connsiteY1" fmla="*/ 1354137 h 1354137"/>
                  <a:gd name="connsiteX2" fmla="*/ 2368550 w 2368550"/>
                  <a:gd name="connsiteY2" fmla="*/ 1320800 h 1354137"/>
                  <a:gd name="connsiteX3" fmla="*/ 1816100 w 2368550"/>
                  <a:gd name="connsiteY3" fmla="*/ 469900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11112 w 2373312"/>
                  <a:gd name="connsiteY0" fmla="*/ 0 h 1520824"/>
                  <a:gd name="connsiteX1" fmla="*/ 0 w 2373312"/>
                  <a:gd name="connsiteY1" fmla="*/ 1520824 h 1520824"/>
                  <a:gd name="connsiteX2" fmla="*/ 2373312 w 2373312"/>
                  <a:gd name="connsiteY2" fmla="*/ 1320800 h 1520824"/>
                  <a:gd name="connsiteX3" fmla="*/ 2359024 w 2373312"/>
                  <a:gd name="connsiteY3" fmla="*/ 379412 h 1520824"/>
                  <a:gd name="connsiteX4" fmla="*/ 2198687 w 2373312"/>
                  <a:gd name="connsiteY4" fmla="*/ 169862 h 1520824"/>
                  <a:gd name="connsiteX5" fmla="*/ 11112 w 2373312"/>
                  <a:gd name="connsiteY5" fmla="*/ 0 h 1520824"/>
                  <a:gd name="connsiteX0" fmla="*/ 1587 w 2363787"/>
                  <a:gd name="connsiteY0" fmla="*/ 0 h 1516062"/>
                  <a:gd name="connsiteX1" fmla="*/ 0 w 2363787"/>
                  <a:gd name="connsiteY1" fmla="*/ 1516062 h 1516062"/>
                  <a:gd name="connsiteX2" fmla="*/ 2363787 w 2363787"/>
                  <a:gd name="connsiteY2" fmla="*/ 1320800 h 1516062"/>
                  <a:gd name="connsiteX3" fmla="*/ 2349499 w 2363787"/>
                  <a:gd name="connsiteY3" fmla="*/ 379412 h 1516062"/>
                  <a:gd name="connsiteX4" fmla="*/ 2189162 w 2363787"/>
                  <a:gd name="connsiteY4" fmla="*/ 169862 h 1516062"/>
                  <a:gd name="connsiteX5" fmla="*/ 1587 w 2363787"/>
                  <a:gd name="connsiteY5" fmla="*/ 0 h 1516062"/>
                  <a:gd name="connsiteX0" fmla="*/ 1587 w 2844799"/>
                  <a:gd name="connsiteY0" fmla="*/ 0 h 1516062"/>
                  <a:gd name="connsiteX1" fmla="*/ 0 w 2844799"/>
                  <a:gd name="connsiteY1" fmla="*/ 1516062 h 1516062"/>
                  <a:gd name="connsiteX2" fmla="*/ 2844799 w 2844799"/>
                  <a:gd name="connsiteY2" fmla="*/ 1063625 h 1516062"/>
                  <a:gd name="connsiteX3" fmla="*/ 2349499 w 2844799"/>
                  <a:gd name="connsiteY3" fmla="*/ 379412 h 1516062"/>
                  <a:gd name="connsiteX4" fmla="*/ 2189162 w 2844799"/>
                  <a:gd name="connsiteY4" fmla="*/ 169862 h 1516062"/>
                  <a:gd name="connsiteX5" fmla="*/ 1587 w 2844799"/>
                  <a:gd name="connsiteY5" fmla="*/ 0 h 1516062"/>
                  <a:gd name="connsiteX0" fmla="*/ 1587 w 2844799"/>
                  <a:gd name="connsiteY0" fmla="*/ 153988 h 1670050"/>
                  <a:gd name="connsiteX1" fmla="*/ 0 w 2844799"/>
                  <a:gd name="connsiteY1" fmla="*/ 1670050 h 1670050"/>
                  <a:gd name="connsiteX2" fmla="*/ 2844799 w 2844799"/>
                  <a:gd name="connsiteY2" fmla="*/ 1217613 h 1670050"/>
                  <a:gd name="connsiteX3" fmla="*/ 2349499 w 2844799"/>
                  <a:gd name="connsiteY3" fmla="*/ 533400 h 1670050"/>
                  <a:gd name="connsiteX4" fmla="*/ 2651124 w 2844799"/>
                  <a:gd name="connsiteY4" fmla="*/ 0 h 1670050"/>
                  <a:gd name="connsiteX5" fmla="*/ 1587 w 2844799"/>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9561 w 2854324"/>
                  <a:gd name="connsiteY2" fmla="*/ 1208088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49226 h 1670050"/>
                  <a:gd name="connsiteX1" fmla="*/ 0 w 2854324"/>
                  <a:gd name="connsiteY1" fmla="*/ 1670050 h 1670050"/>
                  <a:gd name="connsiteX2" fmla="*/ 2849561 w 2854324"/>
                  <a:gd name="connsiteY2" fmla="*/ 1208088 h 1670050"/>
                  <a:gd name="connsiteX3" fmla="*/ 2854324 w 2854324"/>
                  <a:gd name="connsiteY3" fmla="*/ 304800 h 1670050"/>
                  <a:gd name="connsiteX4" fmla="*/ 2651124 w 2854324"/>
                  <a:gd name="connsiteY4" fmla="*/ 0 h 1670050"/>
                  <a:gd name="connsiteX5" fmla="*/ 1587 w 2854324"/>
                  <a:gd name="connsiteY5" fmla="*/ 149226 h 167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4324" h="1670050">
                    <a:moveTo>
                      <a:pt x="1587" y="149226"/>
                    </a:moveTo>
                    <a:cubicBezTo>
                      <a:pt x="-530" y="538693"/>
                      <a:pt x="2117" y="1280583"/>
                      <a:pt x="0" y="1670050"/>
                    </a:cubicBezTo>
                    <a:lnTo>
                      <a:pt x="2849561" y="1208088"/>
                    </a:lnTo>
                    <a:cubicBezTo>
                      <a:pt x="2851149" y="906992"/>
                      <a:pt x="2852736" y="605896"/>
                      <a:pt x="2854324" y="304800"/>
                    </a:cubicBezTo>
                    <a:cubicBezTo>
                      <a:pt x="2850090" y="159543"/>
                      <a:pt x="2826807" y="29368"/>
                      <a:pt x="2651124" y="0"/>
                    </a:cubicBezTo>
                    <a:lnTo>
                      <a:pt x="1587" y="149226"/>
                    </a:lnTo>
                    <a:close/>
                  </a:path>
                </a:pathLst>
              </a:custGeom>
              <a:solidFill>
                <a:schemeClr val="accent1">
                  <a:lumMod val="20000"/>
                  <a:lumOff val="8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4" name="Freeform 453"/>
              <p:cNvSpPr/>
              <p:nvPr/>
            </p:nvSpPr>
            <p:spPr>
              <a:xfrm>
                <a:off x="4318000" y="1219201"/>
                <a:ext cx="1889449" cy="1379224"/>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16100" h="1358900">
                    <a:moveTo>
                      <a:pt x="6350" y="0"/>
                    </a:moveTo>
                    <a:cubicBezTo>
                      <a:pt x="4233" y="389467"/>
                      <a:pt x="2117" y="778933"/>
                      <a:pt x="0" y="1168400"/>
                    </a:cubicBezTo>
                    <a:lnTo>
                      <a:pt x="1816100" y="1358900"/>
                    </a:lnTo>
                    <a:lnTo>
                      <a:pt x="1816100" y="469900"/>
                    </a:lnTo>
                    <a:cubicBezTo>
                      <a:pt x="1797579" y="378618"/>
                      <a:pt x="1750483" y="342106"/>
                      <a:pt x="1689100" y="317500"/>
                    </a:cubicBezTo>
                    <a:lnTo>
                      <a:pt x="6350" y="0"/>
                    </a:lnTo>
                    <a:close/>
                  </a:path>
                </a:pathLst>
              </a:custGeom>
              <a:solidFill>
                <a:schemeClr val="accent1">
                  <a:lumMod val="20000"/>
                  <a:lumOff val="8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5" name="Parallelogram 4"/>
              <p:cNvSpPr/>
              <p:nvPr/>
            </p:nvSpPr>
            <p:spPr>
              <a:xfrm>
                <a:off x="3474598" y="1222375"/>
                <a:ext cx="851609" cy="1461294"/>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4616 w 851468"/>
                  <a:gd name="connsiteY0" fmla="*/ 1422234 h 1422234"/>
                  <a:gd name="connsiteX1" fmla="*/ 0 w 851468"/>
                  <a:gd name="connsiteY1" fmla="*/ 463091 h 1422234"/>
                  <a:gd name="connsiteX2" fmla="*/ 851339 w 851468"/>
                  <a:gd name="connsiteY2" fmla="*/ 0 h 1422234"/>
                  <a:gd name="connsiteX3" fmla="*/ 841668 w 851468"/>
                  <a:gd name="connsiteY3" fmla="*/ 1174584 h 1422234"/>
                  <a:gd name="connsiteX4" fmla="*/ 4616 w 851468"/>
                  <a:gd name="connsiteY4" fmla="*/ 1422234 h 1422234"/>
                  <a:gd name="connsiteX0" fmla="*/ 4616 w 851767"/>
                  <a:gd name="connsiteY0" fmla="*/ 1422234 h 1422234"/>
                  <a:gd name="connsiteX1" fmla="*/ 0 w 851767"/>
                  <a:gd name="connsiteY1" fmla="*/ 463091 h 1422234"/>
                  <a:gd name="connsiteX2" fmla="*/ 851339 w 851767"/>
                  <a:gd name="connsiteY2" fmla="*/ 0 h 1422234"/>
                  <a:gd name="connsiteX3" fmla="*/ 851193 w 851767"/>
                  <a:gd name="connsiteY3" fmla="*/ 1160641 h 1422234"/>
                  <a:gd name="connsiteX4" fmla="*/ 4616 w 851767"/>
                  <a:gd name="connsiteY4" fmla="*/ 1422234 h 1422234"/>
                  <a:gd name="connsiteX0" fmla="*/ 4616 w 851609"/>
                  <a:gd name="connsiteY0" fmla="*/ 1422234 h 1422234"/>
                  <a:gd name="connsiteX1" fmla="*/ 0 w 851609"/>
                  <a:gd name="connsiteY1" fmla="*/ 463091 h 1422234"/>
                  <a:gd name="connsiteX2" fmla="*/ 851339 w 851609"/>
                  <a:gd name="connsiteY2" fmla="*/ 0 h 1422234"/>
                  <a:gd name="connsiteX3" fmla="*/ 848812 w 851609"/>
                  <a:gd name="connsiteY3" fmla="*/ 1169937 h 1422234"/>
                  <a:gd name="connsiteX4" fmla="*/ 4616 w 851609"/>
                  <a:gd name="connsiteY4" fmla="*/ 1422234 h 1422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609" h="1422234">
                    <a:moveTo>
                      <a:pt x="4616" y="1422234"/>
                    </a:moveTo>
                    <a:cubicBezTo>
                      <a:pt x="3077" y="1102520"/>
                      <a:pt x="1539" y="782805"/>
                      <a:pt x="0" y="463091"/>
                    </a:cubicBezTo>
                    <a:lnTo>
                      <a:pt x="851339" y="0"/>
                    </a:lnTo>
                    <a:cubicBezTo>
                      <a:pt x="852878" y="385331"/>
                      <a:pt x="847273" y="784606"/>
                      <a:pt x="848812" y="1169937"/>
                    </a:cubicBezTo>
                    <a:lnTo>
                      <a:pt x="4616" y="1422234"/>
                    </a:lnTo>
                    <a:close/>
                  </a:path>
                </a:pathLst>
              </a:custGeom>
              <a:solidFill>
                <a:schemeClr val="accent1">
                  <a:lumMod val="40000"/>
                  <a:lumOff val="6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6" name="Parallelogram 4"/>
              <p:cNvSpPr/>
              <p:nvPr/>
            </p:nvSpPr>
            <p:spPr>
              <a:xfrm>
                <a:off x="3486583" y="4382399"/>
                <a:ext cx="842465" cy="1644149"/>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155993 h 1403643"/>
                  <a:gd name="connsiteX4" fmla="*/ 252 w 837304"/>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384593 h 1403643"/>
                  <a:gd name="connsiteX4" fmla="*/ 252 w 837304"/>
                  <a:gd name="connsiteY4" fmla="*/ 1403643 h 1403643"/>
                  <a:gd name="connsiteX0" fmla="*/ 252 w 837304"/>
                  <a:gd name="connsiteY0" fmla="*/ 1304583 h 1384593"/>
                  <a:gd name="connsiteX1" fmla="*/ 3256 w 837304"/>
                  <a:gd name="connsiteY1" fmla="*/ 193040 h 1384593"/>
                  <a:gd name="connsiteX2" fmla="*/ 832688 w 837304"/>
                  <a:gd name="connsiteY2" fmla="*/ 0 h 1384593"/>
                  <a:gd name="connsiteX3" fmla="*/ 837304 w 837304"/>
                  <a:gd name="connsiteY3" fmla="*/ 1384593 h 1384593"/>
                  <a:gd name="connsiteX4" fmla="*/ 252 w 837304"/>
                  <a:gd name="connsiteY4" fmla="*/ 1304583 h 138459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44924"/>
                  <a:gd name="connsiteY0" fmla="*/ 1304583 h 1338873"/>
                  <a:gd name="connsiteX1" fmla="*/ 3256 w 844924"/>
                  <a:gd name="connsiteY1" fmla="*/ 193040 h 1338873"/>
                  <a:gd name="connsiteX2" fmla="*/ 832688 w 844924"/>
                  <a:gd name="connsiteY2" fmla="*/ 0 h 1338873"/>
                  <a:gd name="connsiteX3" fmla="*/ 844924 w 844924"/>
                  <a:gd name="connsiteY3" fmla="*/ 1338873 h 1338873"/>
                  <a:gd name="connsiteX4" fmla="*/ 252 w 844924"/>
                  <a:gd name="connsiteY4" fmla="*/ 1304583 h 133887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28172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28172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1223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12236 w 829683"/>
                  <a:gd name="connsiteY4" fmla="*/ 1296963 h 1354113"/>
                  <a:gd name="connsiteX0" fmla="*/ 461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296963 h 1354113"/>
                  <a:gd name="connsiteX0" fmla="*/ 73196 w 829683"/>
                  <a:gd name="connsiteY0" fmla="*/ 1350303 h 1354113"/>
                  <a:gd name="connsiteX1" fmla="*/ 0 w 829683"/>
                  <a:gd name="connsiteY1" fmla="*/ 193040 h 1354113"/>
                  <a:gd name="connsiteX2" fmla="*/ 829432 w 829683"/>
                  <a:gd name="connsiteY2" fmla="*/ 0 h 1354113"/>
                  <a:gd name="connsiteX3" fmla="*/ 826428 w 829683"/>
                  <a:gd name="connsiteY3" fmla="*/ 1354113 h 1354113"/>
                  <a:gd name="connsiteX4" fmla="*/ 73196 w 829683"/>
                  <a:gd name="connsiteY4" fmla="*/ 1350303 h 1354113"/>
                  <a:gd name="connsiteX0" fmla="*/ 4616 w 829683"/>
                  <a:gd name="connsiteY0" fmla="*/ 131982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319823 h 1354113"/>
                  <a:gd name="connsiteX0" fmla="*/ 121 w 825188"/>
                  <a:gd name="connsiteY0" fmla="*/ 1319823 h 1354113"/>
                  <a:gd name="connsiteX1" fmla="*/ 10745 w 825188"/>
                  <a:gd name="connsiteY1" fmla="*/ 78740 h 1354113"/>
                  <a:gd name="connsiteX2" fmla="*/ 824937 w 825188"/>
                  <a:gd name="connsiteY2" fmla="*/ 0 h 1354113"/>
                  <a:gd name="connsiteX3" fmla="*/ 821933 w 825188"/>
                  <a:gd name="connsiteY3" fmla="*/ 1354113 h 1354113"/>
                  <a:gd name="connsiteX4" fmla="*/ 121 w 825188"/>
                  <a:gd name="connsiteY4" fmla="*/ 1319823 h 1354113"/>
                  <a:gd name="connsiteX0" fmla="*/ 121 w 825188"/>
                  <a:gd name="connsiteY0" fmla="*/ 1241083 h 1275373"/>
                  <a:gd name="connsiteX1" fmla="*/ 10745 w 825188"/>
                  <a:gd name="connsiteY1" fmla="*/ 0 h 1275373"/>
                  <a:gd name="connsiteX2" fmla="*/ 824937 w 825188"/>
                  <a:gd name="connsiteY2" fmla="*/ 104140 h 1275373"/>
                  <a:gd name="connsiteX3" fmla="*/ 821933 w 825188"/>
                  <a:gd name="connsiteY3" fmla="*/ 1275373 h 1275373"/>
                  <a:gd name="connsiteX4" fmla="*/ 121 w 825188"/>
                  <a:gd name="connsiteY4" fmla="*/ 1241083 h 1275373"/>
                  <a:gd name="connsiteX0" fmla="*/ 121 w 825188"/>
                  <a:gd name="connsiteY0" fmla="*/ 1241083 h 1641133"/>
                  <a:gd name="connsiteX1" fmla="*/ 10745 w 825188"/>
                  <a:gd name="connsiteY1" fmla="*/ 0 h 1641133"/>
                  <a:gd name="connsiteX2" fmla="*/ 824937 w 825188"/>
                  <a:gd name="connsiteY2" fmla="*/ 104140 h 1641133"/>
                  <a:gd name="connsiteX3" fmla="*/ 821933 w 825188"/>
                  <a:gd name="connsiteY3" fmla="*/ 1641133 h 1641133"/>
                  <a:gd name="connsiteX4" fmla="*/ 121 w 825188"/>
                  <a:gd name="connsiteY4" fmla="*/ 1241083 h 1641133"/>
                  <a:gd name="connsiteX0" fmla="*/ 121 w 825188"/>
                  <a:gd name="connsiteY0" fmla="*/ 1225843 h 1641133"/>
                  <a:gd name="connsiteX1" fmla="*/ 10745 w 825188"/>
                  <a:gd name="connsiteY1" fmla="*/ 0 h 1641133"/>
                  <a:gd name="connsiteX2" fmla="*/ 824937 w 825188"/>
                  <a:gd name="connsiteY2" fmla="*/ 104140 h 1641133"/>
                  <a:gd name="connsiteX3" fmla="*/ 821933 w 825188"/>
                  <a:gd name="connsiteY3" fmla="*/ 1641133 h 1641133"/>
                  <a:gd name="connsiteX4" fmla="*/ 121 w 825188"/>
                  <a:gd name="connsiteY4" fmla="*/ 1225843 h 1641133"/>
                  <a:gd name="connsiteX0" fmla="*/ 251 w 825318"/>
                  <a:gd name="connsiteY0" fmla="*/ 1210603 h 1625893"/>
                  <a:gd name="connsiteX1" fmla="*/ 3255 w 825318"/>
                  <a:gd name="connsiteY1" fmla="*/ 0 h 1625893"/>
                  <a:gd name="connsiteX2" fmla="*/ 825067 w 825318"/>
                  <a:gd name="connsiteY2" fmla="*/ 88900 h 1625893"/>
                  <a:gd name="connsiteX3" fmla="*/ 822063 w 825318"/>
                  <a:gd name="connsiteY3" fmla="*/ 1625893 h 1625893"/>
                  <a:gd name="connsiteX4" fmla="*/ 251 w 825318"/>
                  <a:gd name="connsiteY4" fmla="*/ 1210603 h 1625893"/>
                  <a:gd name="connsiteX0" fmla="*/ 251 w 825318"/>
                  <a:gd name="connsiteY0" fmla="*/ 1245528 h 1660818"/>
                  <a:gd name="connsiteX1" fmla="*/ 3255 w 825318"/>
                  <a:gd name="connsiteY1" fmla="*/ 0 h 1660818"/>
                  <a:gd name="connsiteX2" fmla="*/ 825067 w 825318"/>
                  <a:gd name="connsiteY2" fmla="*/ 123825 h 1660818"/>
                  <a:gd name="connsiteX3" fmla="*/ 822063 w 825318"/>
                  <a:gd name="connsiteY3" fmla="*/ 1660818 h 1660818"/>
                  <a:gd name="connsiteX4" fmla="*/ 251 w 825318"/>
                  <a:gd name="connsiteY4" fmla="*/ 1245528 h 1660818"/>
                  <a:gd name="connsiteX0" fmla="*/ 251 w 825255"/>
                  <a:gd name="connsiteY0" fmla="*/ 1245528 h 1644149"/>
                  <a:gd name="connsiteX1" fmla="*/ 3255 w 825255"/>
                  <a:gd name="connsiteY1" fmla="*/ 0 h 1644149"/>
                  <a:gd name="connsiteX2" fmla="*/ 825067 w 825255"/>
                  <a:gd name="connsiteY2" fmla="*/ 123825 h 1644149"/>
                  <a:gd name="connsiteX3" fmla="*/ 819731 w 825255"/>
                  <a:gd name="connsiteY3" fmla="*/ 1644149 h 1644149"/>
                  <a:gd name="connsiteX4" fmla="*/ 251 w 825255"/>
                  <a:gd name="connsiteY4" fmla="*/ 1245528 h 164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55" h="1644149">
                    <a:moveTo>
                      <a:pt x="251" y="1245528"/>
                    </a:moveTo>
                    <a:cubicBezTo>
                      <a:pt x="-1288" y="925814"/>
                      <a:pt x="4794" y="319714"/>
                      <a:pt x="3255" y="0"/>
                    </a:cubicBezTo>
                    <a:lnTo>
                      <a:pt x="825067" y="123825"/>
                    </a:lnTo>
                    <a:cubicBezTo>
                      <a:pt x="826606" y="509156"/>
                      <a:pt x="818192" y="1258818"/>
                      <a:pt x="819731" y="1644149"/>
                    </a:cubicBezTo>
                    <a:lnTo>
                      <a:pt x="251" y="1245528"/>
                    </a:lnTo>
                    <a:close/>
                  </a:path>
                </a:pathLst>
              </a:custGeom>
              <a:solidFill>
                <a:schemeClr val="accent1">
                  <a:lumMod val="40000"/>
                  <a:lumOff val="60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7" name="Parallelogram 4"/>
              <p:cNvSpPr/>
              <p:nvPr/>
            </p:nvSpPr>
            <p:spPr>
              <a:xfrm>
                <a:off x="3485393" y="2745581"/>
                <a:ext cx="836575" cy="1373982"/>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155993 h 1403643"/>
                  <a:gd name="connsiteX4" fmla="*/ 252 w 837304"/>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384593 h 1403643"/>
                  <a:gd name="connsiteX4" fmla="*/ 252 w 837304"/>
                  <a:gd name="connsiteY4" fmla="*/ 1403643 h 1403643"/>
                  <a:gd name="connsiteX0" fmla="*/ 252 w 837304"/>
                  <a:gd name="connsiteY0" fmla="*/ 1304583 h 1384593"/>
                  <a:gd name="connsiteX1" fmla="*/ 3256 w 837304"/>
                  <a:gd name="connsiteY1" fmla="*/ 193040 h 1384593"/>
                  <a:gd name="connsiteX2" fmla="*/ 832688 w 837304"/>
                  <a:gd name="connsiteY2" fmla="*/ 0 h 1384593"/>
                  <a:gd name="connsiteX3" fmla="*/ 837304 w 837304"/>
                  <a:gd name="connsiteY3" fmla="*/ 1384593 h 1384593"/>
                  <a:gd name="connsiteX4" fmla="*/ 252 w 837304"/>
                  <a:gd name="connsiteY4" fmla="*/ 1304583 h 138459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44924"/>
                  <a:gd name="connsiteY0" fmla="*/ 1304583 h 1338873"/>
                  <a:gd name="connsiteX1" fmla="*/ 3256 w 844924"/>
                  <a:gd name="connsiteY1" fmla="*/ 193040 h 1338873"/>
                  <a:gd name="connsiteX2" fmla="*/ 832688 w 844924"/>
                  <a:gd name="connsiteY2" fmla="*/ 0 h 1338873"/>
                  <a:gd name="connsiteX3" fmla="*/ 844924 w 844924"/>
                  <a:gd name="connsiteY3" fmla="*/ 1338873 h 1338873"/>
                  <a:gd name="connsiteX4" fmla="*/ 252 w 844924"/>
                  <a:gd name="connsiteY4" fmla="*/ 1304583 h 133887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28172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28172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1223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12236 w 829683"/>
                  <a:gd name="connsiteY4" fmla="*/ 1296963 h 1354113"/>
                  <a:gd name="connsiteX0" fmla="*/ 461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296963 h 1354113"/>
                  <a:gd name="connsiteX0" fmla="*/ 4616 w 829683"/>
                  <a:gd name="connsiteY0" fmla="*/ 1319188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319188 h 1354113"/>
                  <a:gd name="connsiteX0" fmla="*/ 1441 w 826508"/>
                  <a:gd name="connsiteY0" fmla="*/ 1319188 h 1354113"/>
                  <a:gd name="connsiteX1" fmla="*/ 0 w 826508"/>
                  <a:gd name="connsiteY1" fmla="*/ 196215 h 1354113"/>
                  <a:gd name="connsiteX2" fmla="*/ 826257 w 826508"/>
                  <a:gd name="connsiteY2" fmla="*/ 0 h 1354113"/>
                  <a:gd name="connsiteX3" fmla="*/ 823253 w 826508"/>
                  <a:gd name="connsiteY3" fmla="*/ 1354113 h 1354113"/>
                  <a:gd name="connsiteX4" fmla="*/ 1441 w 826508"/>
                  <a:gd name="connsiteY4" fmla="*/ 1319188 h 1354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08" h="1354113">
                    <a:moveTo>
                      <a:pt x="1441" y="1319188"/>
                    </a:moveTo>
                    <a:cubicBezTo>
                      <a:pt x="-98" y="999474"/>
                      <a:pt x="1539" y="515929"/>
                      <a:pt x="0" y="196215"/>
                    </a:cubicBezTo>
                    <a:lnTo>
                      <a:pt x="826257" y="0"/>
                    </a:lnTo>
                    <a:cubicBezTo>
                      <a:pt x="827796" y="385331"/>
                      <a:pt x="821714" y="968782"/>
                      <a:pt x="823253" y="1354113"/>
                    </a:cubicBezTo>
                    <a:lnTo>
                      <a:pt x="1441" y="1319188"/>
                    </a:lnTo>
                    <a:close/>
                  </a:path>
                </a:pathLst>
              </a:custGeom>
              <a:solidFill>
                <a:schemeClr val="accent1">
                  <a:lumMod val="40000"/>
                  <a:lumOff val="6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8" name="Down Arrow 457"/>
              <p:cNvSpPr/>
              <p:nvPr/>
            </p:nvSpPr>
            <p:spPr>
              <a:xfrm rot="10635248" flipV="1">
                <a:off x="3513231" y="2021116"/>
                <a:ext cx="269982" cy="375120"/>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pic>
            <p:nvPicPr>
              <p:cNvPr id="459" name="Picture 458"/>
              <p:cNvPicPr>
                <a:picLocks noChangeAspect="1"/>
              </p:cNvPicPr>
              <p:nvPr/>
            </p:nvPicPr>
            <p:blipFill>
              <a:blip r:embed="rId2" cstate="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10800000">
                <a:off x="5656110" y="1876644"/>
                <a:ext cx="566776" cy="566777"/>
              </a:xfrm>
              <a:prstGeom prst="rect">
                <a:avLst/>
              </a:prstGeom>
            </p:spPr>
          </p:pic>
          <p:pic>
            <p:nvPicPr>
              <p:cNvPr id="460" name="Picture 459"/>
              <p:cNvPicPr>
                <a:picLocks noChangeAspect="1"/>
              </p:cNvPicPr>
              <p:nvPr/>
            </p:nvPicPr>
            <p:blipFill>
              <a:blip r:embed="rId3" cstate="print">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5905013" y="3112482"/>
                <a:ext cx="685800" cy="685800"/>
              </a:xfrm>
              <a:prstGeom prst="rect">
                <a:avLst/>
              </a:prstGeom>
            </p:spPr>
          </p:pic>
          <p:pic>
            <p:nvPicPr>
              <p:cNvPr id="461" name="Picture 460"/>
              <p:cNvPicPr>
                <a:picLocks noChangeAspect="1"/>
              </p:cNvPicPr>
              <p:nvPr/>
            </p:nvPicPr>
            <p:blipFill>
              <a:blip r:embed="rId4" cstate="print">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rot="10800000" flipH="1">
                <a:off x="6328896" y="4715851"/>
                <a:ext cx="703089" cy="703089"/>
              </a:xfrm>
              <a:prstGeom prst="rect">
                <a:avLst/>
              </a:prstGeom>
            </p:spPr>
          </p:pic>
          <p:sp>
            <p:nvSpPr>
              <p:cNvPr id="462" name="Down Arrow 461"/>
              <p:cNvSpPr/>
              <p:nvPr/>
            </p:nvSpPr>
            <p:spPr>
              <a:xfrm>
                <a:off x="3533774" y="3627089"/>
                <a:ext cx="211701" cy="413058"/>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63" name="Down Arrow 462"/>
              <p:cNvSpPr/>
              <p:nvPr/>
            </p:nvSpPr>
            <p:spPr>
              <a:xfrm>
                <a:off x="3533775" y="5114189"/>
                <a:ext cx="243131" cy="418271"/>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grpSp>
      </p:grpSp>
      <p:sp>
        <p:nvSpPr>
          <p:cNvPr id="464" name="TextBox 127"/>
          <p:cNvSpPr txBox="1"/>
          <p:nvPr/>
        </p:nvSpPr>
        <p:spPr>
          <a:xfrm>
            <a:off x="467605" y="2544751"/>
            <a:ext cx="716566" cy="332623"/>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2034F</a:t>
            </a:r>
          </a:p>
        </p:txBody>
      </p:sp>
      <p:sp>
        <p:nvSpPr>
          <p:cNvPr id="465" name="TextBox 128"/>
          <p:cNvSpPr txBox="1"/>
          <p:nvPr/>
        </p:nvSpPr>
        <p:spPr>
          <a:xfrm>
            <a:off x="152399" y="1131579"/>
            <a:ext cx="5791201" cy="502920"/>
          </a:xfrm>
          <a:prstGeom prst="rect">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pPr algn="ctr"/>
            <a:r>
              <a:rPr lang="en-GB" sz="1376" b="1" dirty="0">
                <a:solidFill>
                  <a:prstClr val="black"/>
                </a:solidFill>
              </a:rPr>
              <a:t>Eastern Europe WXYZ Market Value (US$ </a:t>
            </a:r>
            <a:r>
              <a:rPr lang="en-GB" sz="1376" b="1" dirty="0" err="1">
                <a:solidFill>
                  <a:prstClr val="black"/>
                </a:solidFill>
              </a:rPr>
              <a:t>Mn</a:t>
            </a:r>
            <a:r>
              <a:rPr lang="en-GB" sz="1376" b="1" dirty="0">
                <a:solidFill>
                  <a:prstClr val="black"/>
                </a:solidFill>
              </a:rPr>
              <a:t>)</a:t>
            </a:r>
          </a:p>
        </p:txBody>
      </p:sp>
      <p:sp>
        <p:nvSpPr>
          <p:cNvPr id="466" name="TextBox 129"/>
          <p:cNvSpPr txBox="1"/>
          <p:nvPr/>
        </p:nvSpPr>
        <p:spPr>
          <a:xfrm>
            <a:off x="467605" y="3945797"/>
            <a:ext cx="716566" cy="334259"/>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2029F</a:t>
            </a:r>
          </a:p>
        </p:txBody>
      </p:sp>
      <p:sp>
        <p:nvSpPr>
          <p:cNvPr id="467" name="TextBox 130"/>
          <p:cNvSpPr txBox="1"/>
          <p:nvPr/>
        </p:nvSpPr>
        <p:spPr>
          <a:xfrm>
            <a:off x="467605" y="5165028"/>
            <a:ext cx="716566" cy="332623"/>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2024E</a:t>
            </a:r>
          </a:p>
        </p:txBody>
      </p:sp>
      <p:sp>
        <p:nvSpPr>
          <p:cNvPr id="468" name="TextBox 131"/>
          <p:cNvSpPr txBox="1"/>
          <p:nvPr/>
        </p:nvSpPr>
        <p:spPr>
          <a:xfrm>
            <a:off x="1269734" y="2205145"/>
            <a:ext cx="1593183"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solidFill>
                <a:prstClr val="black"/>
              </a:solidFill>
            </a:endParaRPr>
          </a:p>
          <a:p>
            <a:pPr algn="ctr"/>
            <a:r>
              <a:rPr lang="en-US" sz="1800" b="1" dirty="0" err="1">
                <a:solidFill>
                  <a:prstClr val="black"/>
                </a:solidFill>
              </a:rPr>
              <a:t>Mn</a:t>
            </a:r>
            <a:endParaRPr lang="en-US" sz="1800" b="1" dirty="0">
              <a:solidFill>
                <a:prstClr val="black"/>
              </a:solidFill>
            </a:endParaRPr>
          </a:p>
        </p:txBody>
      </p:sp>
      <p:sp>
        <p:nvSpPr>
          <p:cNvPr id="469" name="TextBox 132"/>
          <p:cNvSpPr txBox="1"/>
          <p:nvPr/>
        </p:nvSpPr>
        <p:spPr>
          <a:xfrm>
            <a:off x="1269734" y="3667727"/>
            <a:ext cx="1368961"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p>
          <a:p>
            <a:pPr algn="ctr"/>
            <a:r>
              <a:rPr lang="en-US" sz="1800" b="1" dirty="0" err="1">
                <a:solidFill>
                  <a:prstClr val="black"/>
                </a:solidFill>
              </a:rPr>
              <a:t>Mn</a:t>
            </a:r>
            <a:endParaRPr lang="en-US" sz="1800" b="1" dirty="0">
              <a:solidFill>
                <a:prstClr val="black"/>
              </a:solidFill>
            </a:endParaRPr>
          </a:p>
        </p:txBody>
      </p:sp>
      <p:sp>
        <p:nvSpPr>
          <p:cNvPr id="470" name="TextBox 133"/>
          <p:cNvSpPr txBox="1"/>
          <p:nvPr/>
        </p:nvSpPr>
        <p:spPr>
          <a:xfrm>
            <a:off x="1269734" y="4940208"/>
            <a:ext cx="1368961"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p>
          <a:p>
            <a:pPr algn="ctr"/>
            <a:r>
              <a:rPr lang="en-US" sz="1800" b="1" dirty="0" err="1">
                <a:solidFill>
                  <a:prstClr val="black"/>
                </a:solidFill>
              </a:rPr>
              <a:t>Mn</a:t>
            </a:r>
            <a:endParaRPr lang="en-US" sz="1800" b="1" dirty="0">
              <a:solidFill>
                <a:prstClr val="black"/>
              </a:solidFill>
            </a:endParaRPr>
          </a:p>
        </p:txBody>
      </p:sp>
      <p:cxnSp>
        <p:nvCxnSpPr>
          <p:cNvPr id="471" name="Straight Connector 470"/>
          <p:cNvCxnSpPr/>
          <p:nvPr/>
        </p:nvCxnSpPr>
        <p:spPr>
          <a:xfrm>
            <a:off x="3485260" y="4612987"/>
            <a:ext cx="0" cy="1284684"/>
          </a:xfrm>
          <a:prstGeom prst="line">
            <a:avLst/>
          </a:prstGeom>
          <a:ln w="28575">
            <a:solidFill>
              <a:srgbClr val="A6A6A6"/>
            </a:solidFill>
          </a:ln>
        </p:spPr>
        <p:style>
          <a:lnRef idx="1">
            <a:schemeClr val="accent1"/>
          </a:lnRef>
          <a:fillRef idx="0">
            <a:schemeClr val="accent1"/>
          </a:fillRef>
          <a:effectRef idx="0">
            <a:schemeClr val="accent1"/>
          </a:effectRef>
          <a:fontRef idx="minor">
            <a:schemeClr val="tx1"/>
          </a:fontRef>
        </p:style>
      </p:cxnSp>
      <p:sp>
        <p:nvSpPr>
          <p:cNvPr id="472" name="Chevron 471"/>
          <p:cNvSpPr/>
          <p:nvPr/>
        </p:nvSpPr>
        <p:spPr>
          <a:xfrm>
            <a:off x="3389976" y="5190091"/>
            <a:ext cx="190568" cy="145196"/>
          </a:xfrm>
          <a:prstGeom prst="chevron">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black"/>
              </a:solidFill>
            </a:endParaRPr>
          </a:p>
        </p:txBody>
      </p:sp>
      <p:sp>
        <p:nvSpPr>
          <p:cNvPr id="473" name="TextBox 142"/>
          <p:cNvSpPr txBox="1"/>
          <p:nvPr/>
        </p:nvSpPr>
        <p:spPr>
          <a:xfrm>
            <a:off x="4195599" y="4864062"/>
            <a:ext cx="2768961" cy="1309461"/>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751" b="1" dirty="0">
                <a:solidFill>
                  <a:prstClr val="black"/>
                </a:solidFill>
              </a:rPr>
              <a:t>US$ </a:t>
            </a:r>
            <a:r>
              <a:rPr lang="en-US" sz="2800" b="1" dirty="0"/>
              <a:t>xx</a:t>
            </a:r>
          </a:p>
          <a:p>
            <a:pPr algn="ctr"/>
            <a:r>
              <a:rPr lang="en-US" sz="2751" b="1" dirty="0" err="1">
                <a:solidFill>
                  <a:prstClr val="black"/>
                </a:solidFill>
              </a:rPr>
              <a:t>Mn</a:t>
            </a:r>
            <a:endParaRPr lang="en-US" sz="2751" b="1" dirty="0">
              <a:solidFill>
                <a:prstClr val="black"/>
              </a:solidFill>
            </a:endParaRPr>
          </a:p>
          <a:p>
            <a:pPr algn="ctr"/>
            <a:r>
              <a:rPr lang="en-US" sz="1179" b="1" dirty="0">
                <a:solidFill>
                  <a:prstClr val="black"/>
                </a:solidFill>
              </a:rPr>
              <a:t>Incremental $ Opportunity</a:t>
            </a:r>
          </a:p>
          <a:p>
            <a:pPr algn="ctr"/>
            <a:r>
              <a:rPr lang="en-US" sz="1179" b="1" dirty="0">
                <a:solidFill>
                  <a:prstClr val="black"/>
                </a:solidFill>
              </a:rPr>
              <a:t>2023 - 2033</a:t>
            </a:r>
          </a:p>
        </p:txBody>
      </p:sp>
      <p:sp>
        <p:nvSpPr>
          <p:cNvPr id="474" name="TextBox 292"/>
          <p:cNvSpPr txBox="1"/>
          <p:nvPr/>
        </p:nvSpPr>
        <p:spPr>
          <a:xfrm>
            <a:off x="7228567" y="3995932"/>
            <a:ext cx="55868" cy="2144824"/>
          </a:xfrm>
          <a:prstGeom prst="rect">
            <a:avLst/>
          </a:prstGeom>
          <a:solidFill>
            <a:schemeClr val="accent1"/>
          </a:solidFill>
          <a:effectLst/>
        </p:spPr>
        <p:style>
          <a:lnRef idx="0">
            <a:schemeClr val="accent2"/>
          </a:lnRef>
          <a:fillRef idx="3">
            <a:schemeClr val="accent2"/>
          </a:fillRef>
          <a:effectRef idx="3">
            <a:schemeClr val="accent2"/>
          </a:effectRef>
          <a:fontRef idx="minor">
            <a:schemeClr val="lt1"/>
          </a:fontRef>
        </p:style>
        <p:txBody>
          <a:bodyPr wrap="square" rtlCol="0" anchor="ctr">
            <a:noAutofit/>
          </a:bodyP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GB" sz="982" b="1" dirty="0">
              <a:solidFill>
                <a:sysClr val="windowText" lastClr="000000"/>
              </a:solidFill>
            </a:endParaRPr>
          </a:p>
        </p:txBody>
      </p:sp>
      <p:sp>
        <p:nvSpPr>
          <p:cNvPr id="475" name="TextBox 145"/>
          <p:cNvSpPr txBox="1"/>
          <p:nvPr/>
        </p:nvSpPr>
        <p:spPr>
          <a:xfrm>
            <a:off x="4593421" y="3713072"/>
            <a:ext cx="1291742" cy="947695"/>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3200" b="1" dirty="0"/>
              <a:t>XX</a:t>
            </a:r>
            <a:endParaRPr lang="en-US" sz="3144" b="1" dirty="0">
              <a:solidFill>
                <a:prstClr val="black"/>
              </a:solidFill>
            </a:endParaRPr>
          </a:p>
          <a:p>
            <a:pPr algn="ctr"/>
            <a:r>
              <a:rPr lang="en-US" sz="1179" b="1" dirty="0">
                <a:solidFill>
                  <a:prstClr val="black"/>
                </a:solidFill>
              </a:rPr>
              <a:t>Growth</a:t>
            </a:r>
          </a:p>
          <a:p>
            <a:pPr algn="ctr"/>
            <a:r>
              <a:rPr lang="en-US" sz="1179" b="1" dirty="0">
                <a:solidFill>
                  <a:prstClr val="black"/>
                </a:solidFill>
              </a:rPr>
              <a:t>2023 - 2033</a:t>
            </a:r>
          </a:p>
        </p:txBody>
      </p:sp>
      <p:sp>
        <p:nvSpPr>
          <p:cNvPr id="476" name="TextBox 146"/>
          <p:cNvSpPr txBox="1"/>
          <p:nvPr/>
        </p:nvSpPr>
        <p:spPr>
          <a:xfrm>
            <a:off x="7628974" y="5360012"/>
            <a:ext cx="2768961" cy="400110"/>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IN" sz="2000" b="1" dirty="0"/>
              <a:t>Xx </a:t>
            </a:r>
            <a:r>
              <a:rPr lang="en-US" sz="1572" b="1" dirty="0">
                <a:solidFill>
                  <a:prstClr val="black"/>
                </a:solidFill>
              </a:rPr>
              <a:t>(2034F)</a:t>
            </a:r>
          </a:p>
        </p:txBody>
      </p:sp>
      <p:sp>
        <p:nvSpPr>
          <p:cNvPr id="477" name="TextBox 147"/>
          <p:cNvSpPr txBox="1"/>
          <p:nvPr/>
        </p:nvSpPr>
        <p:spPr>
          <a:xfrm>
            <a:off x="7631502" y="4869943"/>
            <a:ext cx="2288398" cy="400110"/>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IN" sz="2000" b="1" dirty="0"/>
              <a:t>Xx </a:t>
            </a:r>
            <a:r>
              <a:rPr lang="en-US" sz="1572" b="1" dirty="0">
                <a:solidFill>
                  <a:prstClr val="black"/>
                </a:solidFill>
              </a:rPr>
              <a:t>(2024E)</a:t>
            </a:r>
          </a:p>
        </p:txBody>
      </p:sp>
      <p:sp>
        <p:nvSpPr>
          <p:cNvPr id="478" name="TextBox 151"/>
          <p:cNvSpPr txBox="1"/>
          <p:nvPr/>
        </p:nvSpPr>
        <p:spPr>
          <a:xfrm>
            <a:off x="7763358" y="4088829"/>
            <a:ext cx="3699179" cy="334259"/>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GB" sz="1572" b="1" dirty="0">
                <a:solidFill>
                  <a:prstClr val="black"/>
                </a:solidFill>
              </a:rPr>
              <a:t>WXYZ Market </a:t>
            </a:r>
            <a:r>
              <a:rPr lang="en-US" sz="1572" b="1" dirty="0">
                <a:solidFill>
                  <a:prstClr val="black"/>
                </a:solidFill>
              </a:rPr>
              <a:t>Volume (Tons)</a:t>
            </a:r>
          </a:p>
        </p:txBody>
      </p:sp>
      <p:pic>
        <p:nvPicPr>
          <p:cNvPr id="479" name="Picture 478"/>
          <p:cNvPicPr>
            <a:picLocks noChangeAspect="1"/>
          </p:cNvPicPr>
          <p:nvPr/>
        </p:nvPicPr>
        <p:blipFill>
          <a:blip r:embed="rId4"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5790291" y="3885195"/>
            <a:ext cx="573333" cy="581624"/>
          </a:xfrm>
          <a:prstGeom prst="rect">
            <a:avLst/>
          </a:prstGeom>
        </p:spPr>
      </p:pic>
      <p:grpSp>
        <p:nvGrpSpPr>
          <p:cNvPr id="480" name="Group 479"/>
          <p:cNvGrpSpPr/>
          <p:nvPr/>
        </p:nvGrpSpPr>
        <p:grpSpPr>
          <a:xfrm>
            <a:off x="10255825" y="4603620"/>
            <a:ext cx="1005448" cy="1132827"/>
            <a:chOff x="6615292" y="2096313"/>
            <a:chExt cx="1023376" cy="1153027"/>
          </a:xfrm>
        </p:grpSpPr>
        <p:sp>
          <p:nvSpPr>
            <p:cNvPr id="481" name="TextBox 594"/>
            <p:cNvSpPr txBox="1"/>
            <p:nvPr/>
          </p:nvSpPr>
          <p:spPr>
            <a:xfrm>
              <a:off x="6615292" y="2330852"/>
              <a:ext cx="959125" cy="407244"/>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000" b="1" spc="-147" dirty="0">
                  <a:solidFill>
                    <a:srgbClr val="2A5F8F">
                      <a:lumMod val="50000"/>
                    </a:srgbClr>
                  </a:solidFill>
                  <a:cs typeface="FrankRuehl" panose="020E0503060101010101" pitchFamily="34" charset="-79"/>
                </a:rPr>
                <a:t>CAGR </a:t>
              </a:r>
            </a:p>
          </p:txBody>
        </p:sp>
        <p:sp>
          <p:nvSpPr>
            <p:cNvPr id="482" name="TextBox 595"/>
            <p:cNvSpPr txBox="1"/>
            <p:nvPr/>
          </p:nvSpPr>
          <p:spPr>
            <a:xfrm>
              <a:off x="6667912" y="2716790"/>
              <a:ext cx="970756" cy="532550"/>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800" b="1" dirty="0">
                  <a:solidFill>
                    <a:srgbClr val="2A5F8F">
                      <a:lumMod val="50000"/>
                    </a:srgbClr>
                  </a:solidFill>
                  <a:latin typeface="Agency FB" panose="020B0503020202020204" pitchFamily="34" charset="0"/>
                </a:rPr>
                <a:t>xx%</a:t>
              </a:r>
            </a:p>
          </p:txBody>
        </p:sp>
        <p:sp>
          <p:nvSpPr>
            <p:cNvPr id="483" name="TextBox 596"/>
            <p:cNvSpPr txBox="1"/>
            <p:nvPr/>
          </p:nvSpPr>
          <p:spPr>
            <a:xfrm>
              <a:off x="6732162" y="2096313"/>
              <a:ext cx="858124" cy="212931"/>
            </a:xfrm>
            <a:prstGeom prst="rect">
              <a:avLst/>
            </a:prstGeom>
            <a:noFill/>
          </p:spPr>
          <p:txBody>
            <a:bodyPr wrap="square" lIns="0" tIns="0" rIns="0" bIns="0" rtlCol="0">
              <a:no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defTabSz="898398">
                <a:defRPr/>
              </a:pPr>
              <a:r>
                <a:rPr lang="en-GB" sz="1800" b="1" kern="0" dirty="0">
                  <a:solidFill>
                    <a:srgbClr val="2A5F8F">
                      <a:lumMod val="50000"/>
                    </a:srgbClr>
                  </a:solidFill>
                </a:rPr>
                <a:t>Volume</a:t>
              </a:r>
            </a:p>
          </p:txBody>
        </p:sp>
      </p:grpSp>
      <p:grpSp>
        <p:nvGrpSpPr>
          <p:cNvPr id="484" name="Group 483"/>
          <p:cNvGrpSpPr/>
          <p:nvPr/>
        </p:nvGrpSpPr>
        <p:grpSpPr>
          <a:xfrm>
            <a:off x="10896939" y="1965146"/>
            <a:ext cx="1295061" cy="1132827"/>
            <a:chOff x="6615292" y="2096313"/>
            <a:chExt cx="1023376" cy="1153027"/>
          </a:xfrm>
        </p:grpSpPr>
        <p:sp>
          <p:nvSpPr>
            <p:cNvPr id="485" name="TextBox 604"/>
            <p:cNvSpPr txBox="1"/>
            <p:nvPr/>
          </p:nvSpPr>
          <p:spPr>
            <a:xfrm>
              <a:off x="6615292" y="2330852"/>
              <a:ext cx="959125" cy="407245"/>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000" b="1" spc="-147" dirty="0">
                  <a:solidFill>
                    <a:srgbClr val="2A5F8F">
                      <a:lumMod val="50000"/>
                    </a:srgbClr>
                  </a:solidFill>
                  <a:cs typeface="FrankRuehl" panose="020E0503060101010101" pitchFamily="34" charset="-79"/>
                </a:rPr>
                <a:t>CAGR </a:t>
              </a:r>
            </a:p>
          </p:txBody>
        </p:sp>
        <p:sp>
          <p:nvSpPr>
            <p:cNvPr id="486" name="TextBox 605"/>
            <p:cNvSpPr txBox="1"/>
            <p:nvPr/>
          </p:nvSpPr>
          <p:spPr>
            <a:xfrm>
              <a:off x="6667912" y="2716790"/>
              <a:ext cx="970756" cy="532550"/>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800" b="1" dirty="0">
                  <a:solidFill>
                    <a:srgbClr val="2A5F8F">
                      <a:lumMod val="50000"/>
                    </a:srgbClr>
                  </a:solidFill>
                  <a:latin typeface="Agency FB" panose="020B0503020202020204" pitchFamily="34" charset="0"/>
                </a:rPr>
                <a:t>xx%</a:t>
              </a:r>
            </a:p>
          </p:txBody>
        </p:sp>
        <p:sp>
          <p:nvSpPr>
            <p:cNvPr id="487" name="TextBox 606"/>
            <p:cNvSpPr txBox="1"/>
            <p:nvPr/>
          </p:nvSpPr>
          <p:spPr>
            <a:xfrm>
              <a:off x="6732162" y="2096313"/>
              <a:ext cx="725385" cy="248712"/>
            </a:xfrm>
            <a:prstGeom prst="rect">
              <a:avLst/>
            </a:prstGeom>
            <a:noFill/>
          </p:spPr>
          <p:txBody>
            <a:bodyPr wrap="square" lIns="0" tIns="0" rIns="0" bIns="0" rtlCol="0">
              <a:no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defTabSz="898398">
                <a:defRPr/>
              </a:pPr>
              <a:r>
                <a:rPr lang="en-GB" sz="1800" b="1" kern="0" dirty="0">
                  <a:solidFill>
                    <a:srgbClr val="2A5F8F">
                      <a:lumMod val="50000"/>
                    </a:srgbClr>
                  </a:solidFill>
                </a:rPr>
                <a:t>Value</a:t>
              </a:r>
            </a:p>
          </p:txBody>
        </p:sp>
      </p:grpSp>
      <p:sp>
        <p:nvSpPr>
          <p:cNvPr id="488" name="TextBox 597"/>
          <p:cNvSpPr txBox="1"/>
          <p:nvPr/>
        </p:nvSpPr>
        <p:spPr>
          <a:xfrm>
            <a:off x="6248400" y="1131672"/>
            <a:ext cx="5791200" cy="502920"/>
          </a:xfrm>
          <a:prstGeom prst="rect">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pPr algn="ctr"/>
            <a:r>
              <a:rPr lang="en-GB" sz="1376" b="1" dirty="0">
                <a:solidFill>
                  <a:prstClr val="black"/>
                </a:solidFill>
              </a:rPr>
              <a:t>Eastern Europe WXYZ Market Incremental $ Opportunity, 2019 and 2023-2034</a:t>
            </a:r>
          </a:p>
        </p:txBody>
      </p:sp>
      <p:cxnSp>
        <p:nvCxnSpPr>
          <p:cNvPr id="489" name="Straight Connector 488"/>
          <p:cNvCxnSpPr/>
          <p:nvPr/>
        </p:nvCxnSpPr>
        <p:spPr>
          <a:xfrm>
            <a:off x="7714740" y="5300649"/>
            <a:ext cx="1848801" cy="0"/>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491" name="Content Placeholder 13"/>
          <p:cNvGraphicFramePr>
            <a:graphicFrameLocks/>
          </p:cNvGraphicFramePr>
          <p:nvPr/>
        </p:nvGraphicFramePr>
        <p:xfrm>
          <a:off x="6512366" y="1694610"/>
          <a:ext cx="4585089" cy="1920875"/>
        </p:xfrm>
        <a:graphic>
          <a:graphicData uri="http://schemas.openxmlformats.org/drawingml/2006/chart">
            <c:chart xmlns:c="http://schemas.openxmlformats.org/drawingml/2006/chart" xmlns:r="http://schemas.openxmlformats.org/officeDocument/2006/relationships" r:id="rId5"/>
          </a:graphicData>
        </a:graphic>
      </p:graphicFrame>
      <p:sp>
        <p:nvSpPr>
          <p:cNvPr id="493" name="TextBox 49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233</a:t>
            </a:fld>
            <a:endParaRPr lang="en-GB" dirty="0"/>
          </a:p>
        </p:txBody>
      </p:sp>
    </p:spTree>
    <p:extLst>
      <p:ext uri="{BB962C8B-B14F-4D97-AF65-F5344CB8AC3E}">
        <p14:creationId xmlns:p14="http://schemas.microsoft.com/office/powerpoint/2010/main" val="3872374306"/>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Eastern Europe WXYZ Market Analysis By Country</a:t>
            </a:r>
          </a:p>
        </p:txBody>
      </p:sp>
      <p:sp>
        <p:nvSpPr>
          <p:cNvPr id="7" name="Text Placeholder 6"/>
          <p:cNvSpPr>
            <a:spLocks noGrp="1"/>
          </p:cNvSpPr>
          <p:nvPr>
            <p:ph type="body" idx="12"/>
          </p:nvPr>
        </p:nvSpPr>
        <p:spPr/>
        <p:txBody>
          <a:bodyPr/>
          <a:lstStyle/>
          <a:p>
            <a:r>
              <a:rPr lang="en-US" sz="1100" dirty="0"/>
              <a:t>Figure XX: Eastern Europe WXYZ Market Share and BPS Analysis By Country, 2024 &amp; 2034</a:t>
            </a:r>
          </a:p>
        </p:txBody>
      </p:sp>
      <p:sp>
        <p:nvSpPr>
          <p:cNvPr id="9" name="Text Placeholder 8"/>
          <p:cNvSpPr>
            <a:spLocks noGrp="1"/>
          </p:cNvSpPr>
          <p:nvPr>
            <p:ph type="body" idx="14"/>
          </p:nvPr>
        </p:nvSpPr>
        <p:spPr/>
        <p:txBody>
          <a:bodyPr/>
          <a:lstStyle/>
          <a:p>
            <a:r>
              <a:rPr lang="en-US" sz="1100" dirty="0"/>
              <a:t>Figure XX: Eastern Europe WXYZ Market Y-o-Y Growth Projections By Country, 2024 – 2034</a:t>
            </a:r>
          </a:p>
        </p:txBody>
      </p:sp>
      <p:sp>
        <p:nvSpPr>
          <p:cNvPr id="11" name="Text Placeholder 10"/>
          <p:cNvSpPr>
            <a:spLocks noGrp="1"/>
          </p:cNvSpPr>
          <p:nvPr>
            <p:ph type="body" idx="16"/>
          </p:nvPr>
        </p:nvSpPr>
        <p:spPr/>
        <p:txBody>
          <a:bodyPr/>
          <a:lstStyle/>
          <a:p>
            <a:r>
              <a:rPr lang="en-US" dirty="0"/>
              <a:t>Figure XX: Eastern Europe WXYZ Market Attractiveness Analysis By Country, 2024 – 2034</a:t>
            </a:r>
          </a:p>
        </p:txBody>
      </p:sp>
      <p:sp>
        <p:nvSpPr>
          <p:cNvPr id="13" name="TextBox 1"/>
          <p:cNvSpPr txBox="1"/>
          <p:nvPr/>
        </p:nvSpPr>
        <p:spPr>
          <a:xfrm>
            <a:off x="776819" y="1651506"/>
            <a:ext cx="71013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XX </a:t>
            </a:r>
            <a:r>
              <a:rPr lang="en-US" sz="1200" b="1" dirty="0" err="1"/>
              <a:t>Mn</a:t>
            </a:r>
            <a:endParaRPr lang="en-US" sz="1200" b="1" dirty="0"/>
          </a:p>
        </p:txBody>
      </p:sp>
      <p:sp>
        <p:nvSpPr>
          <p:cNvPr id="14" name="TextBox 9"/>
          <p:cNvSpPr txBox="1"/>
          <p:nvPr/>
        </p:nvSpPr>
        <p:spPr>
          <a:xfrm>
            <a:off x="2495022" y="1651506"/>
            <a:ext cx="71013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XX </a:t>
            </a:r>
            <a:r>
              <a:rPr lang="en-US" sz="1200" b="1" dirty="0" err="1"/>
              <a:t>Mn</a:t>
            </a:r>
            <a:endParaRPr lang="en-US" sz="1200" b="1" dirty="0"/>
          </a:p>
        </p:txBody>
      </p:sp>
      <p:sp>
        <p:nvSpPr>
          <p:cNvPr id="12" name="TextBox 1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5" name="Content Placeholder 17"/>
          <p:cNvGraphicFramePr>
            <a:graphicFrameLocks noGrp="1"/>
          </p:cNvGraphicFramePr>
          <p:nvPr>
            <p:ph idx="13"/>
            <p:extLst>
              <p:ext uri="{D42A27DB-BD31-4B8C-83A1-F6EECF244321}">
                <p14:modId xmlns:p14="http://schemas.microsoft.com/office/powerpoint/2010/main" val="3915528572"/>
              </p:ext>
            </p:extLst>
          </p:nvPr>
        </p:nvGraphicFramePr>
        <p:xfrm>
          <a:off x="4213225" y="1612900"/>
          <a:ext cx="3768725" cy="459422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6" name="Content Placeholder 19"/>
          <p:cNvGraphicFramePr>
            <a:graphicFrameLocks noGrp="1"/>
          </p:cNvGraphicFramePr>
          <p:nvPr>
            <p:ph idx="15"/>
            <p:extLst>
              <p:ext uri="{D42A27DB-BD31-4B8C-83A1-F6EECF244321}">
                <p14:modId xmlns:p14="http://schemas.microsoft.com/office/powerpoint/2010/main" val="1306138329"/>
              </p:ext>
            </p:extLst>
          </p:nvPr>
        </p:nvGraphicFramePr>
        <p:xfrm>
          <a:off x="8274050" y="1612900"/>
          <a:ext cx="3768725" cy="459422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8" name="Content Placeholder 14"/>
          <p:cNvGraphicFramePr>
            <a:graphicFrameLocks noGrp="1"/>
          </p:cNvGraphicFramePr>
          <p:nvPr>
            <p:ph idx="1"/>
            <p:extLst>
              <p:ext uri="{D42A27DB-BD31-4B8C-83A1-F6EECF244321}">
                <p14:modId xmlns:p14="http://schemas.microsoft.com/office/powerpoint/2010/main" val="3894162791"/>
              </p:ext>
            </p:extLst>
          </p:nvPr>
        </p:nvGraphicFramePr>
        <p:xfrm>
          <a:off x="152400" y="1651506"/>
          <a:ext cx="3768725" cy="4555619"/>
        </p:xfrm>
        <a:graphic>
          <a:graphicData uri="http://schemas.openxmlformats.org/drawingml/2006/chart">
            <c:chart xmlns:c="http://schemas.openxmlformats.org/drawingml/2006/chart" xmlns:r="http://schemas.openxmlformats.org/officeDocument/2006/relationships" r:id="rId4"/>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234</a:t>
            </a:fld>
            <a:endParaRPr lang="en-GB" dirty="0"/>
          </a:p>
        </p:txBody>
      </p:sp>
    </p:spTree>
    <p:extLst>
      <p:ext uri="{BB962C8B-B14F-4D97-AF65-F5344CB8AC3E}">
        <p14:creationId xmlns:p14="http://schemas.microsoft.com/office/powerpoint/2010/main" val="1583683673"/>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Eastern Europe WXYZ Market Analysis By Country</a:t>
            </a:r>
          </a:p>
        </p:txBody>
      </p:sp>
      <p:sp>
        <p:nvSpPr>
          <p:cNvPr id="6" name="Text Placeholder 5"/>
          <p:cNvSpPr>
            <a:spLocks noGrp="1"/>
          </p:cNvSpPr>
          <p:nvPr>
            <p:ph type="body" idx="12"/>
          </p:nvPr>
        </p:nvSpPr>
        <p:spPr/>
        <p:txBody>
          <a:bodyPr/>
          <a:lstStyle/>
          <a:p>
            <a:r>
              <a:rPr lang="en-US" sz="1400" dirty="0"/>
              <a:t>Table 13: Eastern Europe WXYZ Market Size (US$ </a:t>
            </a:r>
            <a:r>
              <a:rPr lang="en-US" sz="1400" dirty="0" err="1"/>
              <a:t>Mn</a:t>
            </a:r>
            <a:r>
              <a:rPr lang="en-US" sz="1400" dirty="0"/>
              <a:t>) and Volume (Tons) Analysis and Forecast By Country, 2019 – 2034</a:t>
            </a:r>
          </a:p>
        </p:txBody>
      </p:sp>
      <p:graphicFrame>
        <p:nvGraphicFramePr>
          <p:cNvPr id="7" name="Content Placeholder 9"/>
          <p:cNvGraphicFramePr>
            <a:graphicFrameLocks/>
          </p:cNvGraphicFramePr>
          <p:nvPr>
            <p:extLst>
              <p:ext uri="{D42A27DB-BD31-4B8C-83A1-F6EECF244321}">
                <p14:modId xmlns:p14="http://schemas.microsoft.com/office/powerpoint/2010/main" val="2761235671"/>
              </p:ext>
            </p:extLst>
          </p:nvPr>
        </p:nvGraphicFramePr>
        <p:xfrm>
          <a:off x="152399" y="1668464"/>
          <a:ext cx="11887207" cy="4366577"/>
        </p:xfrm>
        <a:graphic>
          <a:graphicData uri="http://schemas.openxmlformats.org/drawingml/2006/table">
            <a:tbl>
              <a:tblPr firstRow="1" bandRow="1">
                <a:tableStyleId>{5C22544A-7EE6-4342-B048-85BDC9FD1C3A}</a:tableStyleId>
              </a:tblPr>
              <a:tblGrid>
                <a:gridCol w="897220">
                  <a:extLst>
                    <a:ext uri="{9D8B030D-6E8A-4147-A177-3AD203B41FA5}">
                      <a16:colId xmlns:a16="http://schemas.microsoft.com/office/drawing/2014/main" val="20000"/>
                    </a:ext>
                  </a:extLst>
                </a:gridCol>
                <a:gridCol w="360618">
                  <a:extLst>
                    <a:ext uri="{9D8B030D-6E8A-4147-A177-3AD203B41FA5}">
                      <a16:colId xmlns:a16="http://schemas.microsoft.com/office/drawing/2014/main" val="20018"/>
                    </a:ext>
                  </a:extLst>
                </a:gridCol>
                <a:gridCol w="625257">
                  <a:extLst>
                    <a:ext uri="{9D8B030D-6E8A-4147-A177-3AD203B41FA5}">
                      <a16:colId xmlns:a16="http://schemas.microsoft.com/office/drawing/2014/main" val="20001"/>
                    </a:ext>
                  </a:extLst>
                </a:gridCol>
                <a:gridCol w="625257">
                  <a:extLst>
                    <a:ext uri="{9D8B030D-6E8A-4147-A177-3AD203B41FA5}">
                      <a16:colId xmlns:a16="http://schemas.microsoft.com/office/drawing/2014/main" val="20002"/>
                    </a:ext>
                  </a:extLst>
                </a:gridCol>
                <a:gridCol w="625257">
                  <a:extLst>
                    <a:ext uri="{9D8B030D-6E8A-4147-A177-3AD203B41FA5}">
                      <a16:colId xmlns:a16="http://schemas.microsoft.com/office/drawing/2014/main" val="20003"/>
                    </a:ext>
                  </a:extLst>
                </a:gridCol>
                <a:gridCol w="625257">
                  <a:extLst>
                    <a:ext uri="{9D8B030D-6E8A-4147-A177-3AD203B41FA5}">
                      <a16:colId xmlns:a16="http://schemas.microsoft.com/office/drawing/2014/main" val="20004"/>
                    </a:ext>
                  </a:extLst>
                </a:gridCol>
                <a:gridCol w="625257">
                  <a:extLst>
                    <a:ext uri="{9D8B030D-6E8A-4147-A177-3AD203B41FA5}">
                      <a16:colId xmlns:a16="http://schemas.microsoft.com/office/drawing/2014/main" val="20005"/>
                    </a:ext>
                  </a:extLst>
                </a:gridCol>
                <a:gridCol w="625257">
                  <a:extLst>
                    <a:ext uri="{9D8B030D-6E8A-4147-A177-3AD203B41FA5}">
                      <a16:colId xmlns:a16="http://schemas.microsoft.com/office/drawing/2014/main" val="20006"/>
                    </a:ext>
                  </a:extLst>
                </a:gridCol>
                <a:gridCol w="625257">
                  <a:extLst>
                    <a:ext uri="{9D8B030D-6E8A-4147-A177-3AD203B41FA5}">
                      <a16:colId xmlns:a16="http://schemas.microsoft.com/office/drawing/2014/main" val="20007"/>
                    </a:ext>
                  </a:extLst>
                </a:gridCol>
                <a:gridCol w="625257">
                  <a:extLst>
                    <a:ext uri="{9D8B030D-6E8A-4147-A177-3AD203B41FA5}">
                      <a16:colId xmlns:a16="http://schemas.microsoft.com/office/drawing/2014/main" val="20008"/>
                    </a:ext>
                  </a:extLst>
                </a:gridCol>
                <a:gridCol w="625257">
                  <a:extLst>
                    <a:ext uri="{9D8B030D-6E8A-4147-A177-3AD203B41FA5}">
                      <a16:colId xmlns:a16="http://schemas.microsoft.com/office/drawing/2014/main" val="20009"/>
                    </a:ext>
                  </a:extLst>
                </a:gridCol>
                <a:gridCol w="625257">
                  <a:extLst>
                    <a:ext uri="{9D8B030D-6E8A-4147-A177-3AD203B41FA5}">
                      <a16:colId xmlns:a16="http://schemas.microsoft.com/office/drawing/2014/main" val="20010"/>
                    </a:ext>
                  </a:extLst>
                </a:gridCol>
                <a:gridCol w="625257">
                  <a:extLst>
                    <a:ext uri="{9D8B030D-6E8A-4147-A177-3AD203B41FA5}">
                      <a16:colId xmlns:a16="http://schemas.microsoft.com/office/drawing/2014/main" val="20011"/>
                    </a:ext>
                  </a:extLst>
                </a:gridCol>
                <a:gridCol w="625257">
                  <a:extLst>
                    <a:ext uri="{9D8B030D-6E8A-4147-A177-3AD203B41FA5}">
                      <a16:colId xmlns:a16="http://schemas.microsoft.com/office/drawing/2014/main" val="20012"/>
                    </a:ext>
                  </a:extLst>
                </a:gridCol>
                <a:gridCol w="625257">
                  <a:extLst>
                    <a:ext uri="{9D8B030D-6E8A-4147-A177-3AD203B41FA5}">
                      <a16:colId xmlns:a16="http://schemas.microsoft.com/office/drawing/2014/main" val="20013"/>
                    </a:ext>
                  </a:extLst>
                </a:gridCol>
                <a:gridCol w="625257">
                  <a:extLst>
                    <a:ext uri="{9D8B030D-6E8A-4147-A177-3AD203B41FA5}">
                      <a16:colId xmlns:a16="http://schemas.microsoft.com/office/drawing/2014/main" val="20014"/>
                    </a:ext>
                  </a:extLst>
                </a:gridCol>
                <a:gridCol w="625257">
                  <a:extLst>
                    <a:ext uri="{9D8B030D-6E8A-4147-A177-3AD203B41FA5}">
                      <a16:colId xmlns:a16="http://schemas.microsoft.com/office/drawing/2014/main" val="20015"/>
                    </a:ext>
                  </a:extLst>
                </a:gridCol>
                <a:gridCol w="625257">
                  <a:extLst>
                    <a:ext uri="{9D8B030D-6E8A-4147-A177-3AD203B41FA5}">
                      <a16:colId xmlns:a16="http://schemas.microsoft.com/office/drawing/2014/main" val="20016"/>
                    </a:ext>
                  </a:extLst>
                </a:gridCol>
                <a:gridCol w="625257">
                  <a:extLst>
                    <a:ext uri="{9D8B030D-6E8A-4147-A177-3AD203B41FA5}">
                      <a16:colId xmlns:a16="http://schemas.microsoft.com/office/drawing/2014/main" val="20017"/>
                    </a:ext>
                  </a:extLst>
                </a:gridCol>
              </a:tblGrid>
              <a:tr h="926117">
                <a:tc gridSpan="2">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dirty="0"/>
                        <a:t>Country</a:t>
                      </a:r>
                      <a:endParaRPr lang="en-US" sz="1100" b="1" i="0" baseline="0" dirty="0">
                        <a:solidFill>
                          <a:schemeClr val="tx1"/>
                        </a:solidFill>
                        <a:latin typeface="+mn-lt"/>
                      </a:endParaRPr>
                    </a:p>
                  </a:txBody>
                  <a:tcPr marR="0" marT="0" marB="0" anchor="ctr"/>
                </a:tc>
                <a:tc hMerge="1">
                  <a:txBody>
                    <a:bodyPr/>
                    <a:lstStyle/>
                    <a:p>
                      <a:pPr algn="ctr"/>
                      <a:endParaRPr lang="en-US" sz="10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286705">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algn="l" defTabSz="914400" rtl="0" eaLnBrk="1" latinLnBrk="0" hangingPunct="1"/>
                      <a:r>
                        <a:rPr lang="en-US" sz="1100" b="1" i="0" kern="1200" baseline="0" dirty="0">
                          <a:solidFill>
                            <a:prstClr val="black"/>
                          </a:solidFill>
                          <a:latin typeface="Calibri" panose="020F0502020204030204"/>
                          <a:ea typeface="Malgun Gothic" panose="020B0503020000020004" pitchFamily="34" charset="-127"/>
                          <a:cs typeface=""/>
                        </a:rPr>
                        <a:t>Russia</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286705">
                <a:tc vMerge="1">
                  <a:txBody>
                    <a:bodyPr/>
                    <a:lstStyle/>
                    <a:p>
                      <a:endParaRPr lang="en-US" dirty="0"/>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286705">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IN" sz="1100" b="1" i="0" kern="1200" baseline="0" dirty="0">
                          <a:solidFill>
                            <a:prstClr val="black"/>
                          </a:solidFill>
                          <a:latin typeface="+mn-lt"/>
                          <a:ea typeface="Malgun Gothic" panose="020B0503020000020004" pitchFamily="34" charset="-127"/>
                          <a:cs typeface=""/>
                        </a:rPr>
                        <a:t>Hungary</a:t>
                      </a:r>
                      <a:endParaRPr lang="en-US" sz="1100" b="1" i="0" kern="1200" baseline="0" dirty="0">
                        <a:solidFill>
                          <a:prstClr val="black"/>
                        </a:solidFill>
                        <a:latin typeface="+mn-lt"/>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286705">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286705">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algn="l"/>
                      <a:r>
                        <a:rPr lang="en-US" sz="1100" b="1" i="0" baseline="0" dirty="0">
                          <a:latin typeface="+mn-lt"/>
                        </a:rPr>
                        <a:t>Poland</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286705">
                <a:tc vMerge="1">
                  <a:txBody>
                    <a:bodyPr/>
                    <a:lstStyle/>
                    <a:p>
                      <a:endParaRPr lang="en-US"/>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286705">
                <a:tc rowSpan="2">
                  <a:txBody>
                    <a:bodyPr/>
                    <a:lstStyle/>
                    <a:p>
                      <a:pPr algn="l"/>
                      <a:r>
                        <a:rPr lang="en-IN" sz="1100" b="1" i="0" baseline="0" dirty="0">
                          <a:latin typeface="+mn-lt"/>
                        </a:rPr>
                        <a:t>Balkan &amp; Baltics</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286705">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286705">
                <a:tc rowSpan="2">
                  <a:txBody>
                    <a:bodyPr/>
                    <a:lstStyle/>
                    <a:p>
                      <a:pPr algn="l"/>
                      <a:r>
                        <a:rPr lang="en-IN" sz="1100" b="1" i="0" baseline="0" dirty="0">
                          <a:latin typeface="+mn-lt"/>
                        </a:rPr>
                        <a:t>Rest of E. Europe</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286705">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286705">
                <a:tc rowSpan="2">
                  <a:txBody>
                    <a:bodyPr/>
                    <a:lstStyle/>
                    <a:p>
                      <a:pPr algn="l"/>
                      <a:r>
                        <a:rPr lang="en-IN" sz="1100" b="1" i="0" baseline="0" dirty="0">
                          <a:latin typeface="+mn-lt"/>
                        </a:rPr>
                        <a:t>Total</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1"/>
                  </a:ext>
                </a:extLst>
              </a:tr>
              <a:tr h="286705">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22"/>
                  </a:ext>
                </a:extLst>
              </a:tr>
            </a:tbl>
          </a:graphicData>
        </a:graphic>
      </p:graphicFrame>
      <p:sp>
        <p:nvSpPr>
          <p:cNvPr id="8" name="TextBox 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235</a:t>
            </a:fld>
            <a:endParaRPr lang="en-GB" dirty="0"/>
          </a:p>
        </p:txBody>
      </p:sp>
    </p:spTree>
    <p:extLst>
      <p:ext uri="{BB962C8B-B14F-4D97-AF65-F5344CB8AC3E}">
        <p14:creationId xmlns:p14="http://schemas.microsoft.com/office/powerpoint/2010/main" val="3120639694"/>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Eastern Europe WXYZ Market Absolute $ Opportunity Analysis By Country</a:t>
            </a:r>
            <a:endParaRPr lang="en-IN" dirty="0"/>
          </a:p>
        </p:txBody>
      </p:sp>
      <p:sp>
        <p:nvSpPr>
          <p:cNvPr id="5" name="Text Placeholder 4"/>
          <p:cNvSpPr>
            <a:spLocks noGrp="1"/>
          </p:cNvSpPr>
          <p:nvPr>
            <p:ph type="body" idx="12"/>
          </p:nvPr>
        </p:nvSpPr>
        <p:spPr>
          <a:noFill/>
        </p:spPr>
        <p:txBody>
          <a:bodyPr anchor="ctr"/>
          <a:lstStyle/>
          <a:p>
            <a:r>
              <a:rPr lang="en-US" dirty="0"/>
              <a:t>FIG: Eastern Europe Incremental $ Opportunity By Country, 2024-2034</a:t>
            </a:r>
          </a:p>
        </p:txBody>
      </p:sp>
      <p:sp>
        <p:nvSpPr>
          <p:cNvPr id="6" name="Text Placeholder 5"/>
          <p:cNvSpPr>
            <a:spLocks noGrp="1"/>
          </p:cNvSpPr>
          <p:nvPr>
            <p:ph type="body" idx="14"/>
          </p:nvPr>
        </p:nvSpPr>
        <p:spPr>
          <a:noFill/>
        </p:spPr>
        <p:txBody>
          <a:bodyPr vert="horz" lIns="91440" tIns="91440" rIns="91440" bIns="91440" rtlCol="0" anchor="ctr">
            <a:noAutofit/>
          </a:bodyPr>
          <a:lstStyle/>
          <a:p>
            <a:pPr algn="ctr"/>
            <a:r>
              <a:rPr lang="en-US" dirty="0"/>
              <a:t>Key Takeaways</a:t>
            </a:r>
          </a:p>
        </p:txBody>
      </p:sp>
      <p:pic>
        <p:nvPicPr>
          <p:cNvPr id="3" name="Picture 2"/>
          <p:cNvPicPr>
            <a:picLocks noChangeAspect="1"/>
          </p:cNvPicPr>
          <p:nvPr/>
        </p:nvPicPr>
        <p:blipFill>
          <a:blip r:embed="rId2"/>
          <a:stretch>
            <a:fillRect/>
          </a:stretch>
        </p:blipFill>
        <p:spPr>
          <a:xfrm>
            <a:off x="6277857" y="1612797"/>
            <a:ext cx="5761743" cy="4399280"/>
          </a:xfrm>
          <a:prstGeom prst="rect">
            <a:avLst/>
          </a:prstGeom>
        </p:spPr>
      </p:pic>
      <p:sp>
        <p:nvSpPr>
          <p:cNvPr id="12" name="TextBox 1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0" name="Content Placeholder 13"/>
          <p:cNvGraphicFramePr>
            <a:graphicFrameLocks noGrp="1"/>
          </p:cNvGraphicFramePr>
          <p:nvPr>
            <p:ph idx="1"/>
            <p:extLst>
              <p:ext uri="{D42A27DB-BD31-4B8C-83A1-F6EECF244321}">
                <p14:modId xmlns:p14="http://schemas.microsoft.com/office/powerpoint/2010/main" val="1872273751"/>
              </p:ext>
            </p:extLst>
          </p:nvPr>
        </p:nvGraphicFramePr>
        <p:xfrm>
          <a:off x="152400" y="1612900"/>
          <a:ext cx="5764213" cy="459422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236</a:t>
            </a:fld>
            <a:endParaRPr lang="en-GB" dirty="0"/>
          </a:p>
        </p:txBody>
      </p:sp>
    </p:spTree>
    <p:extLst>
      <p:ext uri="{BB962C8B-B14F-4D97-AF65-F5344CB8AC3E}">
        <p14:creationId xmlns:p14="http://schemas.microsoft.com/office/powerpoint/2010/main" val="3855839446"/>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237</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237</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Middle East and Africa WXYZ Market Analysis 2019 – 2023 and Forecast, 2024 – 2034</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237</a:t>
            </a:r>
          </a:p>
        </p:txBody>
      </p:sp>
    </p:spTree>
    <p:extLst>
      <p:ext uri="{BB962C8B-B14F-4D97-AF65-F5344CB8AC3E}">
        <p14:creationId xmlns:p14="http://schemas.microsoft.com/office/powerpoint/2010/main" val="3220593540"/>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Introduction</a:t>
            </a:r>
          </a:p>
        </p:txBody>
      </p:sp>
      <p:grpSp>
        <p:nvGrpSpPr>
          <p:cNvPr id="6" name="Group 5"/>
          <p:cNvGrpSpPr>
            <a:grpSpLocks/>
          </p:cNvGrpSpPr>
          <p:nvPr/>
        </p:nvGrpSpPr>
        <p:grpSpPr bwMode="auto">
          <a:xfrm>
            <a:off x="4199256" y="3530036"/>
            <a:ext cx="7519132" cy="2513907"/>
            <a:chOff x="96" y="1152"/>
            <a:chExt cx="5568" cy="2642"/>
          </a:xfrm>
          <a:solidFill>
            <a:srgbClr val="EBF2F9"/>
          </a:solidFill>
        </p:grpSpPr>
        <p:sp>
          <p:nvSpPr>
            <p:cNvPr id="7" name="Freeform 6"/>
            <p:cNvSpPr>
              <a:spLocks/>
            </p:cNvSpPr>
            <p:nvPr/>
          </p:nvSpPr>
          <p:spPr bwMode="auto">
            <a:xfrm>
              <a:off x="4358" y="2676"/>
              <a:ext cx="6" cy="5"/>
            </a:xfrm>
            <a:custGeom>
              <a:avLst/>
              <a:gdLst/>
              <a:ahLst/>
              <a:cxnLst>
                <a:cxn ang="0">
                  <a:pos x="6" y="1"/>
                </a:cxn>
                <a:cxn ang="0">
                  <a:pos x="0" y="2"/>
                </a:cxn>
                <a:cxn ang="0">
                  <a:pos x="0" y="0"/>
                </a:cxn>
                <a:cxn ang="0">
                  <a:pos x="6" y="1"/>
                </a:cxn>
              </a:cxnLst>
              <a:rect l="0" t="0" r="r" b="b"/>
              <a:pathLst>
                <a:path w="6" h="2">
                  <a:moveTo>
                    <a:pt x="6" y="1"/>
                  </a:moveTo>
                  <a:lnTo>
                    <a:pt x="0" y="2"/>
                  </a:lnTo>
                  <a:lnTo>
                    <a:pt x="0" y="0"/>
                  </a:lnTo>
                  <a:lnTo>
                    <a:pt x="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 name="Freeform 7"/>
            <p:cNvSpPr>
              <a:spLocks/>
            </p:cNvSpPr>
            <p:nvPr/>
          </p:nvSpPr>
          <p:spPr bwMode="auto">
            <a:xfrm>
              <a:off x="4451" y="2619"/>
              <a:ext cx="175" cy="166"/>
            </a:xfrm>
            <a:custGeom>
              <a:avLst/>
              <a:gdLst/>
              <a:ahLst/>
              <a:cxnLst>
                <a:cxn ang="0">
                  <a:pos x="158" y="62"/>
                </a:cxn>
                <a:cxn ang="0">
                  <a:pos x="144" y="61"/>
                </a:cxn>
                <a:cxn ang="0">
                  <a:pos x="143" y="60"/>
                </a:cxn>
                <a:cxn ang="0">
                  <a:pos x="136" y="84"/>
                </a:cxn>
                <a:cxn ang="0">
                  <a:pos x="138" y="85"/>
                </a:cxn>
                <a:cxn ang="0">
                  <a:pos x="134" y="94"/>
                </a:cxn>
                <a:cxn ang="0">
                  <a:pos x="125" y="98"/>
                </a:cxn>
                <a:cxn ang="0">
                  <a:pos x="118" y="110"/>
                </a:cxn>
                <a:cxn ang="0">
                  <a:pos x="118" y="118"/>
                </a:cxn>
                <a:cxn ang="0">
                  <a:pos x="121" y="118"/>
                </a:cxn>
                <a:cxn ang="0">
                  <a:pos x="116" y="124"/>
                </a:cxn>
                <a:cxn ang="0">
                  <a:pos x="114" y="130"/>
                </a:cxn>
                <a:cxn ang="0">
                  <a:pos x="110" y="143"/>
                </a:cxn>
                <a:cxn ang="0">
                  <a:pos x="89" y="150"/>
                </a:cxn>
                <a:cxn ang="0">
                  <a:pos x="86" y="140"/>
                </a:cxn>
                <a:cxn ang="0">
                  <a:pos x="84" y="138"/>
                </a:cxn>
                <a:cxn ang="0">
                  <a:pos x="73" y="138"/>
                </a:cxn>
                <a:cxn ang="0">
                  <a:pos x="64" y="133"/>
                </a:cxn>
                <a:cxn ang="0">
                  <a:pos x="54" y="138"/>
                </a:cxn>
                <a:cxn ang="0">
                  <a:pos x="46" y="139"/>
                </a:cxn>
                <a:cxn ang="0">
                  <a:pos x="42" y="130"/>
                </a:cxn>
                <a:cxn ang="0">
                  <a:pos x="29" y="132"/>
                </a:cxn>
                <a:cxn ang="0">
                  <a:pos x="30" y="131"/>
                </a:cxn>
                <a:cxn ang="0">
                  <a:pos x="26" y="132"/>
                </a:cxn>
                <a:cxn ang="0">
                  <a:pos x="19" y="130"/>
                </a:cxn>
                <a:cxn ang="0">
                  <a:pos x="16" y="112"/>
                </a:cxn>
                <a:cxn ang="0">
                  <a:pos x="16" y="98"/>
                </a:cxn>
                <a:cxn ang="0">
                  <a:pos x="6" y="90"/>
                </a:cxn>
                <a:cxn ang="0">
                  <a:pos x="7" y="90"/>
                </a:cxn>
                <a:cxn ang="0">
                  <a:pos x="4" y="82"/>
                </a:cxn>
                <a:cxn ang="0">
                  <a:pos x="4" y="77"/>
                </a:cxn>
                <a:cxn ang="0">
                  <a:pos x="0" y="62"/>
                </a:cxn>
                <a:cxn ang="0">
                  <a:pos x="5" y="53"/>
                </a:cxn>
                <a:cxn ang="0">
                  <a:pos x="2" y="54"/>
                </a:cxn>
                <a:cxn ang="0">
                  <a:pos x="11" y="41"/>
                </a:cxn>
                <a:cxn ang="0">
                  <a:pos x="14" y="53"/>
                </a:cxn>
                <a:cxn ang="0">
                  <a:pos x="30" y="62"/>
                </a:cxn>
                <a:cxn ang="0">
                  <a:pos x="50" y="58"/>
                </a:cxn>
                <a:cxn ang="0">
                  <a:pos x="56" y="50"/>
                </a:cxn>
                <a:cxn ang="0">
                  <a:pos x="77" y="55"/>
                </a:cxn>
                <a:cxn ang="0">
                  <a:pos x="90" y="49"/>
                </a:cxn>
                <a:cxn ang="0">
                  <a:pos x="97" y="34"/>
                </a:cxn>
                <a:cxn ang="0">
                  <a:pos x="101" y="25"/>
                </a:cxn>
                <a:cxn ang="0">
                  <a:pos x="104" y="12"/>
                </a:cxn>
                <a:cxn ang="0">
                  <a:pos x="108" y="0"/>
                </a:cxn>
                <a:cxn ang="0">
                  <a:pos x="122" y="1"/>
                </a:cxn>
                <a:cxn ang="0">
                  <a:pos x="136" y="4"/>
                </a:cxn>
                <a:cxn ang="0">
                  <a:pos x="134" y="6"/>
                </a:cxn>
                <a:cxn ang="0">
                  <a:pos x="134" y="7"/>
                </a:cxn>
                <a:cxn ang="0">
                  <a:pos x="138" y="13"/>
                </a:cxn>
                <a:cxn ang="0">
                  <a:pos x="134" y="12"/>
                </a:cxn>
                <a:cxn ang="0">
                  <a:pos x="130" y="13"/>
                </a:cxn>
                <a:cxn ang="0">
                  <a:pos x="132" y="20"/>
                </a:cxn>
                <a:cxn ang="0">
                  <a:pos x="144" y="38"/>
                </a:cxn>
                <a:cxn ang="0">
                  <a:pos x="142" y="44"/>
                </a:cxn>
                <a:cxn ang="0">
                  <a:pos x="150" y="53"/>
                </a:cxn>
                <a:cxn ang="0">
                  <a:pos x="158" y="62"/>
                </a:cxn>
              </a:cxnLst>
              <a:rect l="0" t="0" r="r" b="b"/>
              <a:pathLst>
                <a:path w="158" h="150">
                  <a:moveTo>
                    <a:pt x="158" y="62"/>
                  </a:moveTo>
                  <a:lnTo>
                    <a:pt x="144" y="61"/>
                  </a:lnTo>
                  <a:lnTo>
                    <a:pt x="143" y="60"/>
                  </a:lnTo>
                  <a:lnTo>
                    <a:pt x="136" y="84"/>
                  </a:lnTo>
                  <a:lnTo>
                    <a:pt x="138" y="85"/>
                  </a:lnTo>
                  <a:lnTo>
                    <a:pt x="134" y="94"/>
                  </a:lnTo>
                  <a:lnTo>
                    <a:pt x="125" y="98"/>
                  </a:lnTo>
                  <a:lnTo>
                    <a:pt x="118" y="110"/>
                  </a:lnTo>
                  <a:lnTo>
                    <a:pt x="118" y="118"/>
                  </a:lnTo>
                  <a:lnTo>
                    <a:pt x="121" y="118"/>
                  </a:lnTo>
                  <a:lnTo>
                    <a:pt x="116" y="124"/>
                  </a:lnTo>
                  <a:lnTo>
                    <a:pt x="114" y="130"/>
                  </a:lnTo>
                  <a:lnTo>
                    <a:pt x="110" y="143"/>
                  </a:lnTo>
                  <a:lnTo>
                    <a:pt x="89" y="150"/>
                  </a:lnTo>
                  <a:lnTo>
                    <a:pt x="86" y="140"/>
                  </a:lnTo>
                  <a:lnTo>
                    <a:pt x="84" y="138"/>
                  </a:lnTo>
                  <a:lnTo>
                    <a:pt x="73" y="138"/>
                  </a:lnTo>
                  <a:lnTo>
                    <a:pt x="64" y="133"/>
                  </a:lnTo>
                  <a:lnTo>
                    <a:pt x="54" y="138"/>
                  </a:lnTo>
                  <a:lnTo>
                    <a:pt x="46" y="139"/>
                  </a:lnTo>
                  <a:lnTo>
                    <a:pt x="42" y="130"/>
                  </a:lnTo>
                  <a:lnTo>
                    <a:pt x="29" y="132"/>
                  </a:lnTo>
                  <a:lnTo>
                    <a:pt x="30" y="131"/>
                  </a:lnTo>
                  <a:lnTo>
                    <a:pt x="26" y="132"/>
                  </a:lnTo>
                  <a:lnTo>
                    <a:pt x="19" y="130"/>
                  </a:lnTo>
                  <a:lnTo>
                    <a:pt x="16" y="112"/>
                  </a:lnTo>
                  <a:lnTo>
                    <a:pt x="16" y="98"/>
                  </a:lnTo>
                  <a:lnTo>
                    <a:pt x="6" y="90"/>
                  </a:lnTo>
                  <a:lnTo>
                    <a:pt x="7" y="90"/>
                  </a:lnTo>
                  <a:lnTo>
                    <a:pt x="4" y="82"/>
                  </a:lnTo>
                  <a:lnTo>
                    <a:pt x="4" y="77"/>
                  </a:lnTo>
                  <a:lnTo>
                    <a:pt x="0" y="62"/>
                  </a:lnTo>
                  <a:lnTo>
                    <a:pt x="5" y="53"/>
                  </a:lnTo>
                  <a:lnTo>
                    <a:pt x="2" y="54"/>
                  </a:lnTo>
                  <a:lnTo>
                    <a:pt x="11" y="41"/>
                  </a:lnTo>
                  <a:lnTo>
                    <a:pt x="14" y="53"/>
                  </a:lnTo>
                  <a:lnTo>
                    <a:pt x="30" y="62"/>
                  </a:lnTo>
                  <a:lnTo>
                    <a:pt x="50" y="58"/>
                  </a:lnTo>
                  <a:lnTo>
                    <a:pt x="56" y="50"/>
                  </a:lnTo>
                  <a:lnTo>
                    <a:pt x="77" y="55"/>
                  </a:lnTo>
                  <a:lnTo>
                    <a:pt x="90" y="49"/>
                  </a:lnTo>
                  <a:lnTo>
                    <a:pt x="97" y="34"/>
                  </a:lnTo>
                  <a:lnTo>
                    <a:pt x="101" y="25"/>
                  </a:lnTo>
                  <a:lnTo>
                    <a:pt x="104" y="12"/>
                  </a:lnTo>
                  <a:lnTo>
                    <a:pt x="108" y="0"/>
                  </a:lnTo>
                  <a:lnTo>
                    <a:pt x="122" y="1"/>
                  </a:lnTo>
                  <a:lnTo>
                    <a:pt x="136" y="4"/>
                  </a:lnTo>
                  <a:lnTo>
                    <a:pt x="134" y="6"/>
                  </a:lnTo>
                  <a:lnTo>
                    <a:pt x="134" y="7"/>
                  </a:lnTo>
                  <a:lnTo>
                    <a:pt x="138" y="13"/>
                  </a:lnTo>
                  <a:lnTo>
                    <a:pt x="134" y="12"/>
                  </a:lnTo>
                  <a:lnTo>
                    <a:pt x="130" y="13"/>
                  </a:lnTo>
                  <a:lnTo>
                    <a:pt x="132" y="20"/>
                  </a:lnTo>
                  <a:lnTo>
                    <a:pt x="144" y="38"/>
                  </a:lnTo>
                  <a:lnTo>
                    <a:pt x="142" y="44"/>
                  </a:lnTo>
                  <a:lnTo>
                    <a:pt x="150" y="53"/>
                  </a:lnTo>
                  <a:lnTo>
                    <a:pt x="158" y="6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 name="Freeform 8"/>
            <p:cNvSpPr>
              <a:spLocks/>
            </p:cNvSpPr>
            <p:nvPr/>
          </p:nvSpPr>
          <p:spPr bwMode="auto">
            <a:xfrm>
              <a:off x="4206" y="2594"/>
              <a:ext cx="194" cy="227"/>
            </a:xfrm>
            <a:custGeom>
              <a:avLst/>
              <a:gdLst/>
              <a:ahLst/>
              <a:cxnLst>
                <a:cxn ang="0">
                  <a:pos x="173" y="158"/>
                </a:cxn>
                <a:cxn ang="0">
                  <a:pos x="172" y="160"/>
                </a:cxn>
                <a:cxn ang="0">
                  <a:pos x="170" y="182"/>
                </a:cxn>
                <a:cxn ang="0">
                  <a:pos x="167" y="204"/>
                </a:cxn>
                <a:cxn ang="0">
                  <a:pos x="160" y="198"/>
                </a:cxn>
                <a:cxn ang="0">
                  <a:pos x="159" y="202"/>
                </a:cxn>
                <a:cxn ang="0">
                  <a:pos x="150" y="200"/>
                </a:cxn>
                <a:cxn ang="0">
                  <a:pos x="150" y="204"/>
                </a:cxn>
                <a:cxn ang="0">
                  <a:pos x="135" y="189"/>
                </a:cxn>
                <a:cxn ang="0">
                  <a:pos x="126" y="180"/>
                </a:cxn>
                <a:cxn ang="0">
                  <a:pos x="118" y="172"/>
                </a:cxn>
                <a:cxn ang="0">
                  <a:pos x="110" y="164"/>
                </a:cxn>
                <a:cxn ang="0">
                  <a:pos x="101" y="154"/>
                </a:cxn>
                <a:cxn ang="0">
                  <a:pos x="94" y="140"/>
                </a:cxn>
                <a:cxn ang="0">
                  <a:pos x="87" y="125"/>
                </a:cxn>
                <a:cxn ang="0">
                  <a:pos x="84" y="123"/>
                </a:cxn>
                <a:cxn ang="0">
                  <a:pos x="76" y="110"/>
                </a:cxn>
                <a:cxn ang="0">
                  <a:pos x="68" y="96"/>
                </a:cxn>
                <a:cxn ang="0">
                  <a:pos x="63" y="84"/>
                </a:cxn>
                <a:cxn ang="0">
                  <a:pos x="58" y="72"/>
                </a:cxn>
                <a:cxn ang="0">
                  <a:pos x="45" y="59"/>
                </a:cxn>
                <a:cxn ang="0">
                  <a:pos x="35" y="45"/>
                </a:cxn>
                <a:cxn ang="0">
                  <a:pos x="23" y="33"/>
                </a:cxn>
                <a:cxn ang="0">
                  <a:pos x="11" y="21"/>
                </a:cxn>
                <a:cxn ang="0">
                  <a:pos x="0" y="0"/>
                </a:cxn>
                <a:cxn ang="0">
                  <a:pos x="11" y="2"/>
                </a:cxn>
                <a:cxn ang="0">
                  <a:pos x="23" y="4"/>
                </a:cxn>
                <a:cxn ang="0">
                  <a:pos x="35" y="6"/>
                </a:cxn>
                <a:cxn ang="0">
                  <a:pos x="50" y="23"/>
                </a:cxn>
                <a:cxn ang="0">
                  <a:pos x="51" y="27"/>
                </a:cxn>
                <a:cxn ang="0">
                  <a:pos x="65" y="40"/>
                </a:cxn>
                <a:cxn ang="0">
                  <a:pos x="80" y="52"/>
                </a:cxn>
                <a:cxn ang="0">
                  <a:pos x="92" y="65"/>
                </a:cxn>
                <a:cxn ang="0">
                  <a:pos x="90" y="59"/>
                </a:cxn>
                <a:cxn ang="0">
                  <a:pos x="105" y="70"/>
                </a:cxn>
                <a:cxn ang="0">
                  <a:pos x="113" y="81"/>
                </a:cxn>
                <a:cxn ang="0">
                  <a:pos x="128" y="90"/>
                </a:cxn>
                <a:cxn ang="0">
                  <a:pos x="130" y="92"/>
                </a:cxn>
                <a:cxn ang="0">
                  <a:pos x="140" y="100"/>
                </a:cxn>
                <a:cxn ang="0">
                  <a:pos x="132" y="104"/>
                </a:cxn>
                <a:cxn ang="0">
                  <a:pos x="134" y="107"/>
                </a:cxn>
                <a:cxn ang="0">
                  <a:pos x="132" y="110"/>
                </a:cxn>
                <a:cxn ang="0">
                  <a:pos x="135" y="116"/>
                </a:cxn>
                <a:cxn ang="0">
                  <a:pos x="147" y="118"/>
                </a:cxn>
                <a:cxn ang="0">
                  <a:pos x="150" y="131"/>
                </a:cxn>
                <a:cxn ang="0">
                  <a:pos x="153" y="136"/>
                </a:cxn>
                <a:cxn ang="0">
                  <a:pos x="153" y="143"/>
                </a:cxn>
                <a:cxn ang="0">
                  <a:pos x="166" y="143"/>
                </a:cxn>
                <a:cxn ang="0">
                  <a:pos x="173" y="158"/>
                </a:cxn>
              </a:cxnLst>
              <a:rect l="0" t="0" r="r" b="b"/>
              <a:pathLst>
                <a:path w="173" h="204">
                  <a:moveTo>
                    <a:pt x="173" y="158"/>
                  </a:moveTo>
                  <a:lnTo>
                    <a:pt x="172" y="160"/>
                  </a:lnTo>
                  <a:lnTo>
                    <a:pt x="170" y="182"/>
                  </a:lnTo>
                  <a:lnTo>
                    <a:pt x="167" y="204"/>
                  </a:lnTo>
                  <a:lnTo>
                    <a:pt x="160" y="198"/>
                  </a:lnTo>
                  <a:lnTo>
                    <a:pt x="159" y="202"/>
                  </a:lnTo>
                  <a:lnTo>
                    <a:pt x="150" y="200"/>
                  </a:lnTo>
                  <a:lnTo>
                    <a:pt x="150" y="204"/>
                  </a:lnTo>
                  <a:lnTo>
                    <a:pt x="135" y="189"/>
                  </a:lnTo>
                  <a:lnTo>
                    <a:pt x="126" y="180"/>
                  </a:lnTo>
                  <a:lnTo>
                    <a:pt x="118" y="172"/>
                  </a:lnTo>
                  <a:lnTo>
                    <a:pt x="110" y="164"/>
                  </a:lnTo>
                  <a:lnTo>
                    <a:pt x="101" y="154"/>
                  </a:lnTo>
                  <a:lnTo>
                    <a:pt x="94" y="140"/>
                  </a:lnTo>
                  <a:lnTo>
                    <a:pt x="87" y="125"/>
                  </a:lnTo>
                  <a:lnTo>
                    <a:pt x="84" y="123"/>
                  </a:lnTo>
                  <a:lnTo>
                    <a:pt x="76" y="110"/>
                  </a:lnTo>
                  <a:lnTo>
                    <a:pt x="68" y="96"/>
                  </a:lnTo>
                  <a:lnTo>
                    <a:pt x="63" y="84"/>
                  </a:lnTo>
                  <a:lnTo>
                    <a:pt x="58" y="72"/>
                  </a:lnTo>
                  <a:lnTo>
                    <a:pt x="45" y="59"/>
                  </a:lnTo>
                  <a:lnTo>
                    <a:pt x="35" y="45"/>
                  </a:lnTo>
                  <a:lnTo>
                    <a:pt x="23" y="33"/>
                  </a:lnTo>
                  <a:lnTo>
                    <a:pt x="11" y="21"/>
                  </a:lnTo>
                  <a:lnTo>
                    <a:pt x="0" y="0"/>
                  </a:lnTo>
                  <a:lnTo>
                    <a:pt x="11" y="2"/>
                  </a:lnTo>
                  <a:lnTo>
                    <a:pt x="23" y="4"/>
                  </a:lnTo>
                  <a:lnTo>
                    <a:pt x="35" y="6"/>
                  </a:lnTo>
                  <a:lnTo>
                    <a:pt x="50" y="23"/>
                  </a:lnTo>
                  <a:lnTo>
                    <a:pt x="51" y="27"/>
                  </a:lnTo>
                  <a:lnTo>
                    <a:pt x="65" y="40"/>
                  </a:lnTo>
                  <a:lnTo>
                    <a:pt x="80" y="52"/>
                  </a:lnTo>
                  <a:lnTo>
                    <a:pt x="92" y="65"/>
                  </a:lnTo>
                  <a:lnTo>
                    <a:pt x="90" y="59"/>
                  </a:lnTo>
                  <a:lnTo>
                    <a:pt x="105" y="70"/>
                  </a:lnTo>
                  <a:lnTo>
                    <a:pt x="113" y="81"/>
                  </a:lnTo>
                  <a:lnTo>
                    <a:pt x="128" y="90"/>
                  </a:lnTo>
                  <a:lnTo>
                    <a:pt x="130" y="92"/>
                  </a:lnTo>
                  <a:lnTo>
                    <a:pt x="140" y="100"/>
                  </a:lnTo>
                  <a:lnTo>
                    <a:pt x="132" y="104"/>
                  </a:lnTo>
                  <a:lnTo>
                    <a:pt x="134" y="107"/>
                  </a:lnTo>
                  <a:lnTo>
                    <a:pt x="132" y="110"/>
                  </a:lnTo>
                  <a:lnTo>
                    <a:pt x="135" y="116"/>
                  </a:lnTo>
                  <a:lnTo>
                    <a:pt x="147" y="118"/>
                  </a:lnTo>
                  <a:lnTo>
                    <a:pt x="150" y="131"/>
                  </a:lnTo>
                  <a:lnTo>
                    <a:pt x="153" y="136"/>
                  </a:lnTo>
                  <a:lnTo>
                    <a:pt x="153" y="143"/>
                  </a:lnTo>
                  <a:lnTo>
                    <a:pt x="166" y="143"/>
                  </a:lnTo>
                  <a:lnTo>
                    <a:pt x="173" y="15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 name="Freeform 9"/>
            <p:cNvSpPr>
              <a:spLocks/>
            </p:cNvSpPr>
            <p:nvPr/>
          </p:nvSpPr>
          <p:spPr bwMode="auto">
            <a:xfrm>
              <a:off x="4842" y="2714"/>
              <a:ext cx="173" cy="173"/>
            </a:xfrm>
            <a:custGeom>
              <a:avLst/>
              <a:gdLst/>
              <a:ahLst/>
              <a:cxnLst>
                <a:cxn ang="0">
                  <a:pos x="118" y="132"/>
                </a:cxn>
                <a:cxn ang="0">
                  <a:pos x="122" y="138"/>
                </a:cxn>
                <a:cxn ang="0">
                  <a:pos x="139" y="147"/>
                </a:cxn>
                <a:cxn ang="0">
                  <a:pos x="150" y="142"/>
                </a:cxn>
                <a:cxn ang="0">
                  <a:pos x="152" y="113"/>
                </a:cxn>
                <a:cxn ang="0">
                  <a:pos x="154" y="84"/>
                </a:cxn>
                <a:cxn ang="0">
                  <a:pos x="156" y="54"/>
                </a:cxn>
                <a:cxn ang="0">
                  <a:pos x="145" y="37"/>
                </a:cxn>
                <a:cxn ang="0">
                  <a:pos x="106" y="19"/>
                </a:cxn>
                <a:cxn ang="0">
                  <a:pos x="81" y="36"/>
                </a:cxn>
                <a:cxn ang="0">
                  <a:pos x="58" y="47"/>
                </a:cxn>
                <a:cxn ang="0">
                  <a:pos x="51" y="42"/>
                </a:cxn>
                <a:cxn ang="0">
                  <a:pos x="48" y="13"/>
                </a:cxn>
                <a:cxn ang="0">
                  <a:pos x="31" y="4"/>
                </a:cxn>
                <a:cxn ang="0">
                  <a:pos x="2" y="10"/>
                </a:cxn>
                <a:cxn ang="0">
                  <a:pos x="12" y="23"/>
                </a:cxn>
                <a:cxn ang="0">
                  <a:pos x="31" y="34"/>
                </a:cxn>
                <a:cxn ang="0">
                  <a:pos x="42" y="36"/>
                </a:cxn>
                <a:cxn ang="0">
                  <a:pos x="39" y="39"/>
                </a:cxn>
                <a:cxn ang="0">
                  <a:pos x="20" y="42"/>
                </a:cxn>
                <a:cxn ang="0">
                  <a:pos x="27" y="57"/>
                </a:cxn>
                <a:cxn ang="0">
                  <a:pos x="33" y="65"/>
                </a:cxn>
                <a:cxn ang="0">
                  <a:pos x="40" y="59"/>
                </a:cxn>
                <a:cxn ang="0">
                  <a:pos x="57" y="64"/>
                </a:cxn>
                <a:cxn ang="0">
                  <a:pos x="68" y="73"/>
                </a:cxn>
                <a:cxn ang="0">
                  <a:pos x="92" y="83"/>
                </a:cxn>
                <a:cxn ang="0">
                  <a:pos x="109" y="95"/>
                </a:cxn>
                <a:cxn ang="0">
                  <a:pos x="122" y="119"/>
                </a:cxn>
                <a:cxn ang="0">
                  <a:pos x="122" y="123"/>
                </a:cxn>
                <a:cxn ang="0">
                  <a:pos x="117" y="129"/>
                </a:cxn>
                <a:cxn ang="0">
                  <a:pos x="97" y="144"/>
                </a:cxn>
                <a:cxn ang="0">
                  <a:pos x="118" y="131"/>
                </a:cxn>
              </a:cxnLst>
              <a:rect l="0" t="0" r="r" b="b"/>
              <a:pathLst>
                <a:path w="156" h="157">
                  <a:moveTo>
                    <a:pt x="118" y="131"/>
                  </a:moveTo>
                  <a:lnTo>
                    <a:pt x="118" y="132"/>
                  </a:lnTo>
                  <a:lnTo>
                    <a:pt x="117" y="141"/>
                  </a:lnTo>
                  <a:lnTo>
                    <a:pt x="122" y="138"/>
                  </a:lnTo>
                  <a:lnTo>
                    <a:pt x="135" y="136"/>
                  </a:lnTo>
                  <a:lnTo>
                    <a:pt x="139" y="147"/>
                  </a:lnTo>
                  <a:lnTo>
                    <a:pt x="148" y="157"/>
                  </a:lnTo>
                  <a:lnTo>
                    <a:pt x="150" y="142"/>
                  </a:lnTo>
                  <a:lnTo>
                    <a:pt x="151" y="127"/>
                  </a:lnTo>
                  <a:lnTo>
                    <a:pt x="152" y="113"/>
                  </a:lnTo>
                  <a:lnTo>
                    <a:pt x="153" y="99"/>
                  </a:lnTo>
                  <a:lnTo>
                    <a:pt x="154" y="84"/>
                  </a:lnTo>
                  <a:lnTo>
                    <a:pt x="154" y="69"/>
                  </a:lnTo>
                  <a:lnTo>
                    <a:pt x="156" y="54"/>
                  </a:lnTo>
                  <a:lnTo>
                    <a:pt x="156" y="40"/>
                  </a:lnTo>
                  <a:lnTo>
                    <a:pt x="145" y="37"/>
                  </a:lnTo>
                  <a:lnTo>
                    <a:pt x="126" y="28"/>
                  </a:lnTo>
                  <a:lnTo>
                    <a:pt x="106" y="19"/>
                  </a:lnTo>
                  <a:lnTo>
                    <a:pt x="96" y="28"/>
                  </a:lnTo>
                  <a:lnTo>
                    <a:pt x="81" y="36"/>
                  </a:lnTo>
                  <a:lnTo>
                    <a:pt x="64" y="53"/>
                  </a:lnTo>
                  <a:lnTo>
                    <a:pt x="58" y="47"/>
                  </a:lnTo>
                  <a:lnTo>
                    <a:pt x="52" y="39"/>
                  </a:lnTo>
                  <a:lnTo>
                    <a:pt x="51" y="42"/>
                  </a:lnTo>
                  <a:lnTo>
                    <a:pt x="48" y="23"/>
                  </a:lnTo>
                  <a:lnTo>
                    <a:pt x="48" y="13"/>
                  </a:lnTo>
                  <a:lnTo>
                    <a:pt x="46" y="6"/>
                  </a:lnTo>
                  <a:lnTo>
                    <a:pt x="31" y="4"/>
                  </a:lnTo>
                  <a:lnTo>
                    <a:pt x="16" y="0"/>
                  </a:lnTo>
                  <a:lnTo>
                    <a:pt x="2" y="10"/>
                  </a:lnTo>
                  <a:lnTo>
                    <a:pt x="0" y="19"/>
                  </a:lnTo>
                  <a:lnTo>
                    <a:pt x="12" y="23"/>
                  </a:lnTo>
                  <a:lnTo>
                    <a:pt x="20" y="34"/>
                  </a:lnTo>
                  <a:lnTo>
                    <a:pt x="31" y="34"/>
                  </a:lnTo>
                  <a:lnTo>
                    <a:pt x="43" y="33"/>
                  </a:lnTo>
                  <a:lnTo>
                    <a:pt x="42" y="36"/>
                  </a:lnTo>
                  <a:lnTo>
                    <a:pt x="40" y="39"/>
                  </a:lnTo>
                  <a:lnTo>
                    <a:pt x="39" y="39"/>
                  </a:lnTo>
                  <a:lnTo>
                    <a:pt x="34" y="39"/>
                  </a:lnTo>
                  <a:lnTo>
                    <a:pt x="20" y="42"/>
                  </a:lnTo>
                  <a:lnTo>
                    <a:pt x="14" y="46"/>
                  </a:lnTo>
                  <a:lnTo>
                    <a:pt x="27" y="57"/>
                  </a:lnTo>
                  <a:lnTo>
                    <a:pt x="25" y="64"/>
                  </a:lnTo>
                  <a:lnTo>
                    <a:pt x="33" y="65"/>
                  </a:lnTo>
                  <a:lnTo>
                    <a:pt x="43" y="48"/>
                  </a:lnTo>
                  <a:lnTo>
                    <a:pt x="40" y="59"/>
                  </a:lnTo>
                  <a:lnTo>
                    <a:pt x="54" y="64"/>
                  </a:lnTo>
                  <a:lnTo>
                    <a:pt x="57" y="64"/>
                  </a:lnTo>
                  <a:lnTo>
                    <a:pt x="56" y="70"/>
                  </a:lnTo>
                  <a:lnTo>
                    <a:pt x="68" y="73"/>
                  </a:lnTo>
                  <a:lnTo>
                    <a:pt x="80" y="78"/>
                  </a:lnTo>
                  <a:lnTo>
                    <a:pt x="92" y="83"/>
                  </a:lnTo>
                  <a:lnTo>
                    <a:pt x="103" y="88"/>
                  </a:lnTo>
                  <a:lnTo>
                    <a:pt x="109" y="95"/>
                  </a:lnTo>
                  <a:lnTo>
                    <a:pt x="117" y="115"/>
                  </a:lnTo>
                  <a:lnTo>
                    <a:pt x="122" y="119"/>
                  </a:lnTo>
                  <a:lnTo>
                    <a:pt x="114" y="119"/>
                  </a:lnTo>
                  <a:lnTo>
                    <a:pt x="122" y="123"/>
                  </a:lnTo>
                  <a:lnTo>
                    <a:pt x="115" y="124"/>
                  </a:lnTo>
                  <a:lnTo>
                    <a:pt x="117" y="129"/>
                  </a:lnTo>
                  <a:lnTo>
                    <a:pt x="106" y="127"/>
                  </a:lnTo>
                  <a:lnTo>
                    <a:pt x="97" y="144"/>
                  </a:lnTo>
                  <a:lnTo>
                    <a:pt x="111" y="141"/>
                  </a:lnTo>
                  <a:lnTo>
                    <a:pt x="118" y="1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 name="Freeform 10"/>
            <p:cNvSpPr>
              <a:spLocks/>
            </p:cNvSpPr>
            <p:nvPr/>
          </p:nvSpPr>
          <p:spPr bwMode="auto">
            <a:xfrm>
              <a:off x="4626" y="2672"/>
              <a:ext cx="111" cy="147"/>
            </a:xfrm>
            <a:custGeom>
              <a:avLst/>
              <a:gdLst/>
              <a:ahLst/>
              <a:cxnLst>
                <a:cxn ang="0">
                  <a:pos x="101" y="4"/>
                </a:cxn>
                <a:cxn ang="0">
                  <a:pos x="96" y="0"/>
                </a:cxn>
                <a:cxn ang="0">
                  <a:pos x="82" y="16"/>
                </a:cxn>
                <a:cxn ang="0">
                  <a:pos x="61" y="12"/>
                </a:cxn>
                <a:cxn ang="0">
                  <a:pos x="41" y="8"/>
                </a:cxn>
                <a:cxn ang="0">
                  <a:pos x="31" y="8"/>
                </a:cxn>
                <a:cxn ang="0">
                  <a:pos x="25" y="16"/>
                </a:cxn>
                <a:cxn ang="0">
                  <a:pos x="22" y="16"/>
                </a:cxn>
                <a:cxn ang="0">
                  <a:pos x="15" y="30"/>
                </a:cxn>
                <a:cxn ang="0">
                  <a:pos x="16" y="46"/>
                </a:cxn>
                <a:cxn ang="0">
                  <a:pos x="13" y="43"/>
                </a:cxn>
                <a:cxn ang="0">
                  <a:pos x="7" y="60"/>
                </a:cxn>
                <a:cxn ang="0">
                  <a:pos x="0" y="78"/>
                </a:cxn>
                <a:cxn ang="0">
                  <a:pos x="1" y="94"/>
                </a:cxn>
                <a:cxn ang="0">
                  <a:pos x="9" y="95"/>
                </a:cxn>
                <a:cxn ang="0">
                  <a:pos x="9" y="108"/>
                </a:cxn>
                <a:cxn ang="0">
                  <a:pos x="7" y="121"/>
                </a:cxn>
                <a:cxn ang="0">
                  <a:pos x="9" y="132"/>
                </a:cxn>
                <a:cxn ang="0">
                  <a:pos x="23" y="128"/>
                </a:cxn>
                <a:cxn ang="0">
                  <a:pos x="22" y="107"/>
                </a:cxn>
                <a:cxn ang="0">
                  <a:pos x="22" y="85"/>
                </a:cxn>
                <a:cxn ang="0">
                  <a:pos x="31" y="78"/>
                </a:cxn>
                <a:cxn ang="0">
                  <a:pos x="33" y="89"/>
                </a:cxn>
                <a:cxn ang="0">
                  <a:pos x="34" y="96"/>
                </a:cxn>
                <a:cxn ang="0">
                  <a:pos x="41" y="106"/>
                </a:cxn>
                <a:cxn ang="0">
                  <a:pos x="43" y="116"/>
                </a:cxn>
                <a:cxn ang="0">
                  <a:pos x="48" y="114"/>
                </a:cxn>
                <a:cxn ang="0">
                  <a:pos x="59" y="108"/>
                </a:cxn>
                <a:cxn ang="0">
                  <a:pos x="63" y="106"/>
                </a:cxn>
                <a:cxn ang="0">
                  <a:pos x="53" y="91"/>
                </a:cxn>
                <a:cxn ang="0">
                  <a:pos x="55" y="86"/>
                </a:cxn>
                <a:cxn ang="0">
                  <a:pos x="47" y="74"/>
                </a:cxn>
                <a:cxn ang="0">
                  <a:pos x="40" y="62"/>
                </a:cxn>
                <a:cxn ang="0">
                  <a:pos x="46" y="64"/>
                </a:cxn>
                <a:cxn ang="0">
                  <a:pos x="57" y="54"/>
                </a:cxn>
                <a:cxn ang="0">
                  <a:pos x="69" y="46"/>
                </a:cxn>
                <a:cxn ang="0">
                  <a:pos x="72" y="46"/>
                </a:cxn>
                <a:cxn ang="0">
                  <a:pos x="70" y="40"/>
                </a:cxn>
                <a:cxn ang="0">
                  <a:pos x="64" y="42"/>
                </a:cxn>
                <a:cxn ang="0">
                  <a:pos x="45" y="46"/>
                </a:cxn>
                <a:cxn ang="0">
                  <a:pos x="31" y="54"/>
                </a:cxn>
                <a:cxn ang="0">
                  <a:pos x="19" y="37"/>
                </a:cxn>
                <a:cxn ang="0">
                  <a:pos x="25" y="22"/>
                </a:cxn>
                <a:cxn ang="0">
                  <a:pos x="47" y="23"/>
                </a:cxn>
                <a:cxn ang="0">
                  <a:pos x="70" y="24"/>
                </a:cxn>
                <a:cxn ang="0">
                  <a:pos x="91" y="19"/>
                </a:cxn>
                <a:cxn ang="0">
                  <a:pos x="101" y="4"/>
                </a:cxn>
              </a:cxnLst>
              <a:rect l="0" t="0" r="r" b="b"/>
              <a:pathLst>
                <a:path w="101" h="132">
                  <a:moveTo>
                    <a:pt x="101" y="4"/>
                  </a:moveTo>
                  <a:lnTo>
                    <a:pt x="96" y="0"/>
                  </a:lnTo>
                  <a:lnTo>
                    <a:pt x="82" y="16"/>
                  </a:lnTo>
                  <a:lnTo>
                    <a:pt x="61" y="12"/>
                  </a:lnTo>
                  <a:lnTo>
                    <a:pt x="41" y="8"/>
                  </a:lnTo>
                  <a:lnTo>
                    <a:pt x="31" y="8"/>
                  </a:lnTo>
                  <a:lnTo>
                    <a:pt x="25" y="16"/>
                  </a:lnTo>
                  <a:lnTo>
                    <a:pt x="22" y="16"/>
                  </a:lnTo>
                  <a:lnTo>
                    <a:pt x="15" y="30"/>
                  </a:lnTo>
                  <a:lnTo>
                    <a:pt x="16" y="46"/>
                  </a:lnTo>
                  <a:lnTo>
                    <a:pt x="13" y="43"/>
                  </a:lnTo>
                  <a:lnTo>
                    <a:pt x="7" y="60"/>
                  </a:lnTo>
                  <a:lnTo>
                    <a:pt x="0" y="78"/>
                  </a:lnTo>
                  <a:lnTo>
                    <a:pt x="1" y="94"/>
                  </a:lnTo>
                  <a:lnTo>
                    <a:pt x="9" y="95"/>
                  </a:lnTo>
                  <a:lnTo>
                    <a:pt x="9" y="108"/>
                  </a:lnTo>
                  <a:lnTo>
                    <a:pt x="7" y="121"/>
                  </a:lnTo>
                  <a:lnTo>
                    <a:pt x="9" y="132"/>
                  </a:lnTo>
                  <a:lnTo>
                    <a:pt x="23" y="128"/>
                  </a:lnTo>
                  <a:lnTo>
                    <a:pt x="22" y="107"/>
                  </a:lnTo>
                  <a:lnTo>
                    <a:pt x="22" y="85"/>
                  </a:lnTo>
                  <a:lnTo>
                    <a:pt x="31" y="78"/>
                  </a:lnTo>
                  <a:lnTo>
                    <a:pt x="33" y="89"/>
                  </a:lnTo>
                  <a:lnTo>
                    <a:pt x="34" y="96"/>
                  </a:lnTo>
                  <a:lnTo>
                    <a:pt x="41" y="106"/>
                  </a:lnTo>
                  <a:lnTo>
                    <a:pt x="43" y="116"/>
                  </a:lnTo>
                  <a:lnTo>
                    <a:pt x="48" y="114"/>
                  </a:lnTo>
                  <a:lnTo>
                    <a:pt x="59" y="108"/>
                  </a:lnTo>
                  <a:lnTo>
                    <a:pt x="63" y="106"/>
                  </a:lnTo>
                  <a:lnTo>
                    <a:pt x="53" y="91"/>
                  </a:lnTo>
                  <a:lnTo>
                    <a:pt x="55" y="86"/>
                  </a:lnTo>
                  <a:lnTo>
                    <a:pt x="47" y="74"/>
                  </a:lnTo>
                  <a:lnTo>
                    <a:pt x="40" y="62"/>
                  </a:lnTo>
                  <a:lnTo>
                    <a:pt x="46" y="64"/>
                  </a:lnTo>
                  <a:lnTo>
                    <a:pt x="57" y="54"/>
                  </a:lnTo>
                  <a:lnTo>
                    <a:pt x="69" y="46"/>
                  </a:lnTo>
                  <a:lnTo>
                    <a:pt x="72" y="46"/>
                  </a:lnTo>
                  <a:lnTo>
                    <a:pt x="70" y="40"/>
                  </a:lnTo>
                  <a:lnTo>
                    <a:pt x="64" y="42"/>
                  </a:lnTo>
                  <a:lnTo>
                    <a:pt x="45" y="46"/>
                  </a:lnTo>
                  <a:lnTo>
                    <a:pt x="31" y="54"/>
                  </a:lnTo>
                  <a:lnTo>
                    <a:pt x="19" y="37"/>
                  </a:lnTo>
                  <a:lnTo>
                    <a:pt x="25" y="22"/>
                  </a:lnTo>
                  <a:lnTo>
                    <a:pt x="47" y="23"/>
                  </a:lnTo>
                  <a:lnTo>
                    <a:pt x="70" y="24"/>
                  </a:lnTo>
                  <a:lnTo>
                    <a:pt x="91" y="19"/>
                  </a:lnTo>
                  <a:lnTo>
                    <a:pt x="10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 name="Freeform 11"/>
            <p:cNvSpPr>
              <a:spLocks/>
            </p:cNvSpPr>
            <p:nvPr/>
          </p:nvSpPr>
          <p:spPr bwMode="auto">
            <a:xfrm>
              <a:off x="4382" y="2825"/>
              <a:ext cx="162" cy="56"/>
            </a:xfrm>
            <a:custGeom>
              <a:avLst/>
              <a:gdLst/>
              <a:ahLst/>
              <a:cxnLst>
                <a:cxn ang="0">
                  <a:pos x="145" y="49"/>
                </a:cxn>
                <a:cxn ang="0">
                  <a:pos x="143" y="47"/>
                </a:cxn>
                <a:cxn ang="0">
                  <a:pos x="144" y="32"/>
                </a:cxn>
                <a:cxn ang="0">
                  <a:pos x="132" y="31"/>
                </a:cxn>
                <a:cxn ang="0">
                  <a:pos x="120" y="29"/>
                </a:cxn>
                <a:cxn ang="0">
                  <a:pos x="116" y="19"/>
                </a:cxn>
                <a:cxn ang="0">
                  <a:pos x="97" y="12"/>
                </a:cxn>
                <a:cxn ang="0">
                  <a:pos x="90" y="7"/>
                </a:cxn>
                <a:cxn ang="0">
                  <a:pos x="83" y="16"/>
                </a:cxn>
                <a:cxn ang="0">
                  <a:pos x="71" y="16"/>
                </a:cxn>
                <a:cxn ang="0">
                  <a:pos x="57" y="16"/>
                </a:cxn>
                <a:cxn ang="0">
                  <a:pos x="51" y="8"/>
                </a:cxn>
                <a:cxn ang="0">
                  <a:pos x="33" y="0"/>
                </a:cxn>
                <a:cxn ang="0">
                  <a:pos x="13" y="0"/>
                </a:cxn>
                <a:cxn ang="0">
                  <a:pos x="5" y="11"/>
                </a:cxn>
                <a:cxn ang="0">
                  <a:pos x="0" y="13"/>
                </a:cxn>
                <a:cxn ang="0">
                  <a:pos x="17" y="18"/>
                </a:cxn>
                <a:cxn ang="0">
                  <a:pos x="17" y="22"/>
                </a:cxn>
                <a:cxn ang="0">
                  <a:pos x="32" y="26"/>
                </a:cxn>
                <a:cxn ang="0">
                  <a:pos x="49" y="30"/>
                </a:cxn>
                <a:cxn ang="0">
                  <a:pos x="63" y="34"/>
                </a:cxn>
                <a:cxn ang="0">
                  <a:pos x="79" y="37"/>
                </a:cxn>
                <a:cxn ang="0">
                  <a:pos x="99" y="40"/>
                </a:cxn>
                <a:cxn ang="0">
                  <a:pos x="119" y="42"/>
                </a:cxn>
                <a:cxn ang="0">
                  <a:pos x="132" y="46"/>
                </a:cxn>
                <a:cxn ang="0">
                  <a:pos x="145" y="49"/>
                </a:cxn>
              </a:cxnLst>
              <a:rect l="0" t="0" r="r" b="b"/>
              <a:pathLst>
                <a:path w="145" h="49">
                  <a:moveTo>
                    <a:pt x="145" y="49"/>
                  </a:moveTo>
                  <a:lnTo>
                    <a:pt x="143" y="47"/>
                  </a:lnTo>
                  <a:lnTo>
                    <a:pt x="144" y="32"/>
                  </a:lnTo>
                  <a:lnTo>
                    <a:pt x="132" y="31"/>
                  </a:lnTo>
                  <a:lnTo>
                    <a:pt x="120" y="29"/>
                  </a:lnTo>
                  <a:lnTo>
                    <a:pt x="116" y="19"/>
                  </a:lnTo>
                  <a:lnTo>
                    <a:pt x="97" y="12"/>
                  </a:lnTo>
                  <a:lnTo>
                    <a:pt x="90" y="7"/>
                  </a:lnTo>
                  <a:lnTo>
                    <a:pt x="83" y="16"/>
                  </a:lnTo>
                  <a:lnTo>
                    <a:pt x="71" y="16"/>
                  </a:lnTo>
                  <a:lnTo>
                    <a:pt x="57" y="16"/>
                  </a:lnTo>
                  <a:lnTo>
                    <a:pt x="51" y="8"/>
                  </a:lnTo>
                  <a:lnTo>
                    <a:pt x="33" y="0"/>
                  </a:lnTo>
                  <a:lnTo>
                    <a:pt x="13" y="0"/>
                  </a:lnTo>
                  <a:lnTo>
                    <a:pt x="5" y="11"/>
                  </a:lnTo>
                  <a:lnTo>
                    <a:pt x="0" y="13"/>
                  </a:lnTo>
                  <a:lnTo>
                    <a:pt x="17" y="18"/>
                  </a:lnTo>
                  <a:lnTo>
                    <a:pt x="17" y="22"/>
                  </a:lnTo>
                  <a:lnTo>
                    <a:pt x="32" y="26"/>
                  </a:lnTo>
                  <a:lnTo>
                    <a:pt x="49" y="30"/>
                  </a:lnTo>
                  <a:lnTo>
                    <a:pt x="63" y="34"/>
                  </a:lnTo>
                  <a:lnTo>
                    <a:pt x="79" y="37"/>
                  </a:lnTo>
                  <a:lnTo>
                    <a:pt x="99" y="40"/>
                  </a:lnTo>
                  <a:lnTo>
                    <a:pt x="119" y="42"/>
                  </a:lnTo>
                  <a:lnTo>
                    <a:pt x="132" y="46"/>
                  </a:lnTo>
                  <a:lnTo>
                    <a:pt x="145"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 name="Freeform 12"/>
            <p:cNvSpPr>
              <a:spLocks/>
            </p:cNvSpPr>
            <p:nvPr/>
          </p:nvSpPr>
          <p:spPr bwMode="auto">
            <a:xfrm>
              <a:off x="4700" y="2874"/>
              <a:ext cx="66" cy="38"/>
            </a:xfrm>
            <a:custGeom>
              <a:avLst/>
              <a:gdLst/>
              <a:ahLst/>
              <a:cxnLst>
                <a:cxn ang="0">
                  <a:pos x="61" y="0"/>
                </a:cxn>
                <a:cxn ang="0">
                  <a:pos x="39" y="1"/>
                </a:cxn>
                <a:cxn ang="0">
                  <a:pos x="23" y="9"/>
                </a:cxn>
                <a:cxn ang="0">
                  <a:pos x="9" y="17"/>
                </a:cxn>
                <a:cxn ang="0">
                  <a:pos x="1" y="30"/>
                </a:cxn>
                <a:cxn ang="0">
                  <a:pos x="0" y="31"/>
                </a:cxn>
                <a:cxn ang="0">
                  <a:pos x="1" y="35"/>
                </a:cxn>
                <a:cxn ang="0">
                  <a:pos x="22" y="24"/>
                </a:cxn>
                <a:cxn ang="0">
                  <a:pos x="41" y="12"/>
                </a:cxn>
                <a:cxn ang="0">
                  <a:pos x="61" y="0"/>
                </a:cxn>
              </a:cxnLst>
              <a:rect l="0" t="0" r="r" b="b"/>
              <a:pathLst>
                <a:path w="61" h="35">
                  <a:moveTo>
                    <a:pt x="61" y="0"/>
                  </a:moveTo>
                  <a:lnTo>
                    <a:pt x="39" y="1"/>
                  </a:lnTo>
                  <a:lnTo>
                    <a:pt x="23" y="9"/>
                  </a:lnTo>
                  <a:lnTo>
                    <a:pt x="9" y="17"/>
                  </a:lnTo>
                  <a:lnTo>
                    <a:pt x="1" y="30"/>
                  </a:lnTo>
                  <a:lnTo>
                    <a:pt x="0" y="31"/>
                  </a:lnTo>
                  <a:lnTo>
                    <a:pt x="1" y="35"/>
                  </a:lnTo>
                  <a:lnTo>
                    <a:pt x="22" y="24"/>
                  </a:lnTo>
                  <a:lnTo>
                    <a:pt x="41" y="12"/>
                  </a:lnTo>
                  <a:lnTo>
                    <a:pt x="6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 name="Freeform 13"/>
            <p:cNvSpPr>
              <a:spLocks/>
            </p:cNvSpPr>
            <p:nvPr/>
          </p:nvSpPr>
          <p:spPr bwMode="auto">
            <a:xfrm>
              <a:off x="4777" y="2663"/>
              <a:ext cx="25" cy="60"/>
            </a:xfrm>
            <a:custGeom>
              <a:avLst/>
              <a:gdLst/>
              <a:ahLst/>
              <a:cxnLst>
                <a:cxn ang="0">
                  <a:pos x="23" y="34"/>
                </a:cxn>
                <a:cxn ang="0">
                  <a:pos x="13" y="22"/>
                </a:cxn>
                <a:cxn ang="0">
                  <a:pos x="20" y="14"/>
                </a:cxn>
                <a:cxn ang="0">
                  <a:pos x="16" y="10"/>
                </a:cxn>
                <a:cxn ang="0">
                  <a:pos x="11" y="15"/>
                </a:cxn>
                <a:cxn ang="0">
                  <a:pos x="5" y="24"/>
                </a:cxn>
                <a:cxn ang="0">
                  <a:pos x="5" y="19"/>
                </a:cxn>
                <a:cxn ang="0">
                  <a:pos x="8" y="7"/>
                </a:cxn>
                <a:cxn ang="0">
                  <a:pos x="8" y="0"/>
                </a:cxn>
                <a:cxn ang="0">
                  <a:pos x="0" y="13"/>
                </a:cxn>
                <a:cxn ang="0">
                  <a:pos x="2" y="25"/>
                </a:cxn>
                <a:cxn ang="0">
                  <a:pos x="4" y="38"/>
                </a:cxn>
                <a:cxn ang="0">
                  <a:pos x="13" y="54"/>
                </a:cxn>
                <a:cxn ang="0">
                  <a:pos x="7" y="32"/>
                </a:cxn>
                <a:cxn ang="0">
                  <a:pos x="23" y="34"/>
                </a:cxn>
              </a:cxnLst>
              <a:rect l="0" t="0" r="r" b="b"/>
              <a:pathLst>
                <a:path w="23" h="54">
                  <a:moveTo>
                    <a:pt x="23" y="34"/>
                  </a:moveTo>
                  <a:lnTo>
                    <a:pt x="13" y="22"/>
                  </a:lnTo>
                  <a:lnTo>
                    <a:pt x="20" y="14"/>
                  </a:lnTo>
                  <a:lnTo>
                    <a:pt x="16" y="10"/>
                  </a:lnTo>
                  <a:lnTo>
                    <a:pt x="11" y="15"/>
                  </a:lnTo>
                  <a:lnTo>
                    <a:pt x="5" y="24"/>
                  </a:lnTo>
                  <a:lnTo>
                    <a:pt x="5" y="19"/>
                  </a:lnTo>
                  <a:lnTo>
                    <a:pt x="8" y="7"/>
                  </a:lnTo>
                  <a:lnTo>
                    <a:pt x="8" y="0"/>
                  </a:lnTo>
                  <a:lnTo>
                    <a:pt x="0" y="13"/>
                  </a:lnTo>
                  <a:lnTo>
                    <a:pt x="2" y="25"/>
                  </a:lnTo>
                  <a:lnTo>
                    <a:pt x="4" y="38"/>
                  </a:lnTo>
                  <a:lnTo>
                    <a:pt x="13" y="54"/>
                  </a:lnTo>
                  <a:lnTo>
                    <a:pt x="7" y="32"/>
                  </a:lnTo>
                  <a:lnTo>
                    <a:pt x="23"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 name="Freeform 14"/>
            <p:cNvSpPr>
              <a:spLocks/>
            </p:cNvSpPr>
            <p:nvPr/>
          </p:nvSpPr>
          <p:spPr bwMode="auto">
            <a:xfrm>
              <a:off x="4784" y="2763"/>
              <a:ext cx="51" cy="18"/>
            </a:xfrm>
            <a:custGeom>
              <a:avLst/>
              <a:gdLst/>
              <a:ahLst/>
              <a:cxnLst>
                <a:cxn ang="0">
                  <a:pos x="47" y="13"/>
                </a:cxn>
                <a:cxn ang="0">
                  <a:pos x="44" y="16"/>
                </a:cxn>
                <a:cxn ang="0">
                  <a:pos x="25" y="8"/>
                </a:cxn>
                <a:cxn ang="0">
                  <a:pos x="12" y="9"/>
                </a:cxn>
                <a:cxn ang="0">
                  <a:pos x="2" y="6"/>
                </a:cxn>
                <a:cxn ang="0">
                  <a:pos x="0" y="9"/>
                </a:cxn>
                <a:cxn ang="0">
                  <a:pos x="1" y="3"/>
                </a:cxn>
                <a:cxn ang="0">
                  <a:pos x="11" y="0"/>
                </a:cxn>
                <a:cxn ang="0">
                  <a:pos x="25" y="1"/>
                </a:cxn>
                <a:cxn ang="0">
                  <a:pos x="38" y="2"/>
                </a:cxn>
                <a:cxn ang="0">
                  <a:pos x="47" y="13"/>
                </a:cxn>
              </a:cxnLst>
              <a:rect l="0" t="0" r="r" b="b"/>
              <a:pathLst>
                <a:path w="47" h="16">
                  <a:moveTo>
                    <a:pt x="47" y="13"/>
                  </a:moveTo>
                  <a:lnTo>
                    <a:pt x="44" y="16"/>
                  </a:lnTo>
                  <a:lnTo>
                    <a:pt x="25" y="8"/>
                  </a:lnTo>
                  <a:lnTo>
                    <a:pt x="12" y="9"/>
                  </a:lnTo>
                  <a:lnTo>
                    <a:pt x="2" y="6"/>
                  </a:lnTo>
                  <a:lnTo>
                    <a:pt x="0" y="9"/>
                  </a:lnTo>
                  <a:lnTo>
                    <a:pt x="1" y="3"/>
                  </a:lnTo>
                  <a:lnTo>
                    <a:pt x="11" y="0"/>
                  </a:lnTo>
                  <a:lnTo>
                    <a:pt x="25" y="1"/>
                  </a:lnTo>
                  <a:lnTo>
                    <a:pt x="38" y="2"/>
                  </a:lnTo>
                  <a:lnTo>
                    <a:pt x="4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 name="Freeform 15"/>
            <p:cNvSpPr>
              <a:spLocks/>
            </p:cNvSpPr>
            <p:nvPr/>
          </p:nvSpPr>
          <p:spPr bwMode="auto">
            <a:xfrm>
              <a:off x="4635" y="2870"/>
              <a:ext cx="58" cy="11"/>
            </a:xfrm>
            <a:custGeom>
              <a:avLst/>
              <a:gdLst/>
              <a:ahLst/>
              <a:cxnLst>
                <a:cxn ang="0">
                  <a:pos x="51" y="1"/>
                </a:cxn>
                <a:cxn ang="0">
                  <a:pos x="51" y="0"/>
                </a:cxn>
                <a:cxn ang="0">
                  <a:pos x="48" y="0"/>
                </a:cxn>
                <a:cxn ang="0">
                  <a:pos x="43" y="4"/>
                </a:cxn>
                <a:cxn ang="0">
                  <a:pos x="33" y="4"/>
                </a:cxn>
                <a:cxn ang="0">
                  <a:pos x="21" y="2"/>
                </a:cxn>
                <a:cxn ang="0">
                  <a:pos x="8" y="1"/>
                </a:cxn>
                <a:cxn ang="0">
                  <a:pos x="0" y="8"/>
                </a:cxn>
                <a:cxn ang="0">
                  <a:pos x="7" y="10"/>
                </a:cxn>
                <a:cxn ang="0">
                  <a:pos x="22" y="10"/>
                </a:cxn>
                <a:cxn ang="0">
                  <a:pos x="38" y="9"/>
                </a:cxn>
                <a:cxn ang="0">
                  <a:pos x="51" y="1"/>
                </a:cxn>
              </a:cxnLst>
              <a:rect l="0" t="0" r="r" b="b"/>
              <a:pathLst>
                <a:path w="51" h="10">
                  <a:moveTo>
                    <a:pt x="51" y="1"/>
                  </a:moveTo>
                  <a:lnTo>
                    <a:pt x="51" y="0"/>
                  </a:lnTo>
                  <a:lnTo>
                    <a:pt x="48" y="0"/>
                  </a:lnTo>
                  <a:lnTo>
                    <a:pt x="43" y="4"/>
                  </a:lnTo>
                  <a:lnTo>
                    <a:pt x="33" y="4"/>
                  </a:lnTo>
                  <a:lnTo>
                    <a:pt x="21" y="2"/>
                  </a:lnTo>
                  <a:lnTo>
                    <a:pt x="8" y="1"/>
                  </a:lnTo>
                  <a:lnTo>
                    <a:pt x="0" y="8"/>
                  </a:lnTo>
                  <a:lnTo>
                    <a:pt x="7" y="10"/>
                  </a:lnTo>
                  <a:lnTo>
                    <a:pt x="22" y="10"/>
                  </a:lnTo>
                  <a:lnTo>
                    <a:pt x="38" y="9"/>
                  </a:lnTo>
                  <a:lnTo>
                    <a:pt x="5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 name="Freeform 16"/>
            <p:cNvSpPr>
              <a:spLocks/>
            </p:cNvSpPr>
            <p:nvPr/>
          </p:nvSpPr>
          <p:spPr bwMode="auto">
            <a:xfrm>
              <a:off x="4384" y="2736"/>
              <a:ext cx="29" cy="31"/>
            </a:xfrm>
            <a:custGeom>
              <a:avLst/>
              <a:gdLst/>
              <a:ahLst/>
              <a:cxnLst>
                <a:cxn ang="0">
                  <a:pos x="26" y="19"/>
                </a:cxn>
                <a:cxn ang="0">
                  <a:pos x="24" y="27"/>
                </a:cxn>
                <a:cxn ang="0">
                  <a:pos x="11" y="19"/>
                </a:cxn>
                <a:cxn ang="0">
                  <a:pos x="6" y="9"/>
                </a:cxn>
                <a:cxn ang="0">
                  <a:pos x="0" y="7"/>
                </a:cxn>
                <a:cxn ang="0">
                  <a:pos x="7" y="1"/>
                </a:cxn>
                <a:cxn ang="0">
                  <a:pos x="11" y="0"/>
                </a:cxn>
                <a:cxn ang="0">
                  <a:pos x="17" y="14"/>
                </a:cxn>
                <a:cxn ang="0">
                  <a:pos x="26" y="19"/>
                </a:cxn>
              </a:cxnLst>
              <a:rect l="0" t="0" r="r" b="b"/>
              <a:pathLst>
                <a:path w="26" h="27">
                  <a:moveTo>
                    <a:pt x="26" y="19"/>
                  </a:moveTo>
                  <a:lnTo>
                    <a:pt x="24" y="27"/>
                  </a:lnTo>
                  <a:lnTo>
                    <a:pt x="11" y="19"/>
                  </a:lnTo>
                  <a:lnTo>
                    <a:pt x="6" y="9"/>
                  </a:lnTo>
                  <a:lnTo>
                    <a:pt x="0" y="7"/>
                  </a:lnTo>
                  <a:lnTo>
                    <a:pt x="7" y="1"/>
                  </a:lnTo>
                  <a:lnTo>
                    <a:pt x="11" y="0"/>
                  </a:lnTo>
                  <a:lnTo>
                    <a:pt x="17" y="14"/>
                  </a:lnTo>
                  <a:lnTo>
                    <a:pt x="26"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 name="Freeform 17"/>
            <p:cNvSpPr>
              <a:spLocks/>
            </p:cNvSpPr>
            <p:nvPr/>
          </p:nvSpPr>
          <p:spPr bwMode="auto">
            <a:xfrm>
              <a:off x="4582" y="2867"/>
              <a:ext cx="42" cy="18"/>
            </a:xfrm>
            <a:custGeom>
              <a:avLst/>
              <a:gdLst/>
              <a:ahLst/>
              <a:cxnLst>
                <a:cxn ang="0">
                  <a:pos x="38" y="10"/>
                </a:cxn>
                <a:cxn ang="0">
                  <a:pos x="36" y="5"/>
                </a:cxn>
                <a:cxn ang="0">
                  <a:pos x="31" y="6"/>
                </a:cxn>
                <a:cxn ang="0">
                  <a:pos x="16" y="0"/>
                </a:cxn>
                <a:cxn ang="0">
                  <a:pos x="24" y="10"/>
                </a:cxn>
                <a:cxn ang="0">
                  <a:pos x="15" y="9"/>
                </a:cxn>
                <a:cxn ang="0">
                  <a:pos x="3" y="7"/>
                </a:cxn>
                <a:cxn ang="0">
                  <a:pos x="0" y="17"/>
                </a:cxn>
                <a:cxn ang="0">
                  <a:pos x="13" y="15"/>
                </a:cxn>
                <a:cxn ang="0">
                  <a:pos x="26" y="12"/>
                </a:cxn>
                <a:cxn ang="0">
                  <a:pos x="32" y="13"/>
                </a:cxn>
                <a:cxn ang="0">
                  <a:pos x="31" y="12"/>
                </a:cxn>
                <a:cxn ang="0">
                  <a:pos x="38" y="10"/>
                </a:cxn>
              </a:cxnLst>
              <a:rect l="0" t="0" r="r" b="b"/>
              <a:pathLst>
                <a:path w="38" h="17">
                  <a:moveTo>
                    <a:pt x="38" y="10"/>
                  </a:moveTo>
                  <a:lnTo>
                    <a:pt x="36" y="5"/>
                  </a:lnTo>
                  <a:lnTo>
                    <a:pt x="31" y="6"/>
                  </a:lnTo>
                  <a:lnTo>
                    <a:pt x="16" y="0"/>
                  </a:lnTo>
                  <a:lnTo>
                    <a:pt x="24" y="10"/>
                  </a:lnTo>
                  <a:lnTo>
                    <a:pt x="15" y="9"/>
                  </a:lnTo>
                  <a:lnTo>
                    <a:pt x="3" y="7"/>
                  </a:lnTo>
                  <a:lnTo>
                    <a:pt x="0" y="17"/>
                  </a:lnTo>
                  <a:lnTo>
                    <a:pt x="13" y="15"/>
                  </a:lnTo>
                  <a:lnTo>
                    <a:pt x="26" y="12"/>
                  </a:lnTo>
                  <a:lnTo>
                    <a:pt x="32" y="13"/>
                  </a:lnTo>
                  <a:lnTo>
                    <a:pt x="31" y="12"/>
                  </a:lnTo>
                  <a:lnTo>
                    <a:pt x="38"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 name="Freeform 18"/>
            <p:cNvSpPr>
              <a:spLocks/>
            </p:cNvSpPr>
            <p:nvPr/>
          </p:nvSpPr>
          <p:spPr bwMode="auto">
            <a:xfrm>
              <a:off x="4620" y="2894"/>
              <a:ext cx="31" cy="16"/>
            </a:xfrm>
            <a:custGeom>
              <a:avLst/>
              <a:gdLst/>
              <a:ahLst/>
              <a:cxnLst>
                <a:cxn ang="0">
                  <a:pos x="28" y="12"/>
                </a:cxn>
                <a:cxn ang="0">
                  <a:pos x="17" y="15"/>
                </a:cxn>
                <a:cxn ang="0">
                  <a:pos x="4" y="6"/>
                </a:cxn>
                <a:cxn ang="0">
                  <a:pos x="0" y="0"/>
                </a:cxn>
                <a:cxn ang="0">
                  <a:pos x="17" y="0"/>
                </a:cxn>
                <a:cxn ang="0">
                  <a:pos x="28" y="12"/>
                </a:cxn>
              </a:cxnLst>
              <a:rect l="0" t="0" r="r" b="b"/>
              <a:pathLst>
                <a:path w="28" h="15">
                  <a:moveTo>
                    <a:pt x="28" y="12"/>
                  </a:moveTo>
                  <a:lnTo>
                    <a:pt x="17" y="15"/>
                  </a:lnTo>
                  <a:lnTo>
                    <a:pt x="4" y="6"/>
                  </a:lnTo>
                  <a:lnTo>
                    <a:pt x="0" y="0"/>
                  </a:lnTo>
                  <a:lnTo>
                    <a:pt x="17" y="0"/>
                  </a:lnTo>
                  <a:lnTo>
                    <a:pt x="2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 name="Freeform 19"/>
            <p:cNvSpPr>
              <a:spLocks/>
            </p:cNvSpPr>
            <p:nvPr/>
          </p:nvSpPr>
          <p:spPr bwMode="auto">
            <a:xfrm>
              <a:off x="4751" y="2767"/>
              <a:ext cx="22" cy="14"/>
            </a:xfrm>
            <a:custGeom>
              <a:avLst/>
              <a:gdLst/>
              <a:ahLst/>
              <a:cxnLst>
                <a:cxn ang="0">
                  <a:pos x="19" y="6"/>
                </a:cxn>
                <a:cxn ang="0">
                  <a:pos x="12" y="13"/>
                </a:cxn>
                <a:cxn ang="0">
                  <a:pos x="0" y="5"/>
                </a:cxn>
                <a:cxn ang="0">
                  <a:pos x="6" y="0"/>
                </a:cxn>
                <a:cxn ang="0">
                  <a:pos x="19" y="6"/>
                </a:cxn>
              </a:cxnLst>
              <a:rect l="0" t="0" r="r" b="b"/>
              <a:pathLst>
                <a:path w="19" h="13">
                  <a:moveTo>
                    <a:pt x="19" y="6"/>
                  </a:moveTo>
                  <a:lnTo>
                    <a:pt x="12" y="13"/>
                  </a:lnTo>
                  <a:lnTo>
                    <a:pt x="0" y="5"/>
                  </a:lnTo>
                  <a:lnTo>
                    <a:pt x="6" y="0"/>
                  </a:lnTo>
                  <a:lnTo>
                    <a:pt x="1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 name="Freeform 20"/>
            <p:cNvSpPr>
              <a:spLocks/>
            </p:cNvSpPr>
            <p:nvPr/>
          </p:nvSpPr>
          <p:spPr bwMode="auto">
            <a:xfrm>
              <a:off x="4544" y="2867"/>
              <a:ext cx="20" cy="12"/>
            </a:xfrm>
            <a:custGeom>
              <a:avLst/>
              <a:gdLst/>
              <a:ahLst/>
              <a:cxnLst>
                <a:cxn ang="0">
                  <a:pos x="18" y="5"/>
                </a:cxn>
                <a:cxn ang="0">
                  <a:pos x="16" y="2"/>
                </a:cxn>
                <a:cxn ang="0">
                  <a:pos x="0" y="0"/>
                </a:cxn>
                <a:cxn ang="0">
                  <a:pos x="8" y="10"/>
                </a:cxn>
                <a:cxn ang="0">
                  <a:pos x="18" y="5"/>
                </a:cxn>
              </a:cxnLst>
              <a:rect l="0" t="0" r="r" b="b"/>
              <a:pathLst>
                <a:path w="18" h="10">
                  <a:moveTo>
                    <a:pt x="18" y="5"/>
                  </a:moveTo>
                  <a:lnTo>
                    <a:pt x="16" y="2"/>
                  </a:lnTo>
                  <a:lnTo>
                    <a:pt x="0" y="0"/>
                  </a:lnTo>
                  <a:lnTo>
                    <a:pt x="8" y="10"/>
                  </a:lnTo>
                  <a:lnTo>
                    <a:pt x="18"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 name="Freeform 21"/>
            <p:cNvSpPr>
              <a:spLocks/>
            </p:cNvSpPr>
            <p:nvPr/>
          </p:nvSpPr>
          <p:spPr bwMode="auto">
            <a:xfrm>
              <a:off x="4242" y="2676"/>
              <a:ext cx="16" cy="18"/>
            </a:xfrm>
            <a:custGeom>
              <a:avLst/>
              <a:gdLst/>
              <a:ahLst/>
              <a:cxnLst>
                <a:cxn ang="0">
                  <a:pos x="14" y="9"/>
                </a:cxn>
                <a:cxn ang="0">
                  <a:pos x="12" y="16"/>
                </a:cxn>
                <a:cxn ang="0">
                  <a:pos x="0" y="1"/>
                </a:cxn>
                <a:cxn ang="0">
                  <a:pos x="4" y="0"/>
                </a:cxn>
                <a:cxn ang="0">
                  <a:pos x="14" y="9"/>
                </a:cxn>
              </a:cxnLst>
              <a:rect l="0" t="0" r="r" b="b"/>
              <a:pathLst>
                <a:path w="14" h="16">
                  <a:moveTo>
                    <a:pt x="14" y="9"/>
                  </a:moveTo>
                  <a:lnTo>
                    <a:pt x="12" y="16"/>
                  </a:lnTo>
                  <a:lnTo>
                    <a:pt x="0" y="1"/>
                  </a:lnTo>
                  <a:lnTo>
                    <a:pt x="4" y="0"/>
                  </a:lnTo>
                  <a:lnTo>
                    <a:pt x="14"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 name="Freeform 22"/>
            <p:cNvSpPr>
              <a:spLocks/>
            </p:cNvSpPr>
            <p:nvPr/>
          </p:nvSpPr>
          <p:spPr bwMode="auto">
            <a:xfrm>
              <a:off x="4569" y="2870"/>
              <a:ext cx="13" cy="13"/>
            </a:xfrm>
            <a:custGeom>
              <a:avLst/>
              <a:gdLst/>
              <a:ahLst/>
              <a:cxnLst>
                <a:cxn ang="0">
                  <a:pos x="12" y="3"/>
                </a:cxn>
                <a:cxn ang="0">
                  <a:pos x="8" y="0"/>
                </a:cxn>
                <a:cxn ang="0">
                  <a:pos x="0" y="9"/>
                </a:cxn>
                <a:cxn ang="0">
                  <a:pos x="6" y="12"/>
                </a:cxn>
                <a:cxn ang="0">
                  <a:pos x="12" y="3"/>
                </a:cxn>
              </a:cxnLst>
              <a:rect l="0" t="0" r="r" b="b"/>
              <a:pathLst>
                <a:path w="12" h="12">
                  <a:moveTo>
                    <a:pt x="12" y="3"/>
                  </a:moveTo>
                  <a:lnTo>
                    <a:pt x="8" y="0"/>
                  </a:lnTo>
                  <a:lnTo>
                    <a:pt x="0" y="9"/>
                  </a:lnTo>
                  <a:lnTo>
                    <a:pt x="6" y="12"/>
                  </a:lnTo>
                  <a:lnTo>
                    <a:pt x="12"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 name="Freeform 23"/>
            <p:cNvSpPr>
              <a:spLocks/>
            </p:cNvSpPr>
            <p:nvPr/>
          </p:nvSpPr>
          <p:spPr bwMode="auto">
            <a:xfrm>
              <a:off x="4426" y="2756"/>
              <a:ext cx="14" cy="14"/>
            </a:xfrm>
            <a:custGeom>
              <a:avLst/>
              <a:gdLst/>
              <a:ahLst/>
              <a:cxnLst>
                <a:cxn ang="0">
                  <a:pos x="11" y="5"/>
                </a:cxn>
                <a:cxn ang="0">
                  <a:pos x="5" y="9"/>
                </a:cxn>
                <a:cxn ang="0">
                  <a:pos x="0" y="11"/>
                </a:cxn>
                <a:cxn ang="0">
                  <a:pos x="0" y="0"/>
                </a:cxn>
                <a:cxn ang="0">
                  <a:pos x="11" y="5"/>
                </a:cxn>
              </a:cxnLst>
              <a:rect l="0" t="0" r="r" b="b"/>
              <a:pathLst>
                <a:path w="11" h="11">
                  <a:moveTo>
                    <a:pt x="11" y="5"/>
                  </a:moveTo>
                  <a:lnTo>
                    <a:pt x="5" y="9"/>
                  </a:lnTo>
                  <a:lnTo>
                    <a:pt x="0" y="11"/>
                  </a:lnTo>
                  <a:lnTo>
                    <a:pt x="0" y="0"/>
                  </a:lnTo>
                  <a:lnTo>
                    <a:pt x="11"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 name="Freeform 24"/>
            <p:cNvSpPr>
              <a:spLocks/>
            </p:cNvSpPr>
            <p:nvPr/>
          </p:nvSpPr>
          <p:spPr bwMode="auto">
            <a:xfrm>
              <a:off x="4689" y="2794"/>
              <a:ext cx="11" cy="25"/>
            </a:xfrm>
            <a:custGeom>
              <a:avLst/>
              <a:gdLst/>
              <a:ahLst/>
              <a:cxnLst>
                <a:cxn ang="0">
                  <a:pos x="9" y="15"/>
                </a:cxn>
                <a:cxn ang="0">
                  <a:pos x="7" y="14"/>
                </a:cxn>
                <a:cxn ang="0">
                  <a:pos x="7" y="5"/>
                </a:cxn>
                <a:cxn ang="0">
                  <a:pos x="7" y="0"/>
                </a:cxn>
                <a:cxn ang="0">
                  <a:pos x="0" y="22"/>
                </a:cxn>
                <a:cxn ang="0">
                  <a:pos x="9" y="15"/>
                </a:cxn>
              </a:cxnLst>
              <a:rect l="0" t="0" r="r" b="b"/>
              <a:pathLst>
                <a:path w="9" h="22">
                  <a:moveTo>
                    <a:pt x="9" y="15"/>
                  </a:moveTo>
                  <a:lnTo>
                    <a:pt x="7" y="14"/>
                  </a:lnTo>
                  <a:lnTo>
                    <a:pt x="7" y="5"/>
                  </a:lnTo>
                  <a:lnTo>
                    <a:pt x="7" y="0"/>
                  </a:lnTo>
                  <a:lnTo>
                    <a:pt x="0" y="22"/>
                  </a:lnTo>
                  <a:lnTo>
                    <a:pt x="9"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 name="Freeform 25"/>
            <p:cNvSpPr>
              <a:spLocks/>
            </p:cNvSpPr>
            <p:nvPr/>
          </p:nvSpPr>
          <p:spPr bwMode="auto">
            <a:xfrm>
              <a:off x="4895" y="2816"/>
              <a:ext cx="7" cy="14"/>
            </a:xfrm>
            <a:custGeom>
              <a:avLst/>
              <a:gdLst/>
              <a:ahLst/>
              <a:cxnLst>
                <a:cxn ang="0">
                  <a:pos x="6" y="10"/>
                </a:cxn>
                <a:cxn ang="0">
                  <a:pos x="6" y="0"/>
                </a:cxn>
                <a:cxn ang="0">
                  <a:pos x="0" y="2"/>
                </a:cxn>
                <a:cxn ang="0">
                  <a:pos x="0" y="13"/>
                </a:cxn>
                <a:cxn ang="0">
                  <a:pos x="6" y="10"/>
                </a:cxn>
              </a:cxnLst>
              <a:rect l="0" t="0" r="r" b="b"/>
              <a:pathLst>
                <a:path w="6" h="13">
                  <a:moveTo>
                    <a:pt x="6" y="10"/>
                  </a:moveTo>
                  <a:lnTo>
                    <a:pt x="6" y="0"/>
                  </a:lnTo>
                  <a:lnTo>
                    <a:pt x="0" y="2"/>
                  </a:lnTo>
                  <a:lnTo>
                    <a:pt x="0" y="13"/>
                  </a:lnTo>
                  <a:lnTo>
                    <a:pt x="6"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 name="Freeform 26"/>
            <p:cNvSpPr>
              <a:spLocks/>
            </p:cNvSpPr>
            <p:nvPr/>
          </p:nvSpPr>
          <p:spPr bwMode="auto">
            <a:xfrm>
              <a:off x="4271" y="2723"/>
              <a:ext cx="9" cy="16"/>
            </a:xfrm>
            <a:custGeom>
              <a:avLst/>
              <a:gdLst/>
              <a:ahLst/>
              <a:cxnLst>
                <a:cxn ang="0">
                  <a:pos x="8" y="13"/>
                </a:cxn>
                <a:cxn ang="0">
                  <a:pos x="2" y="13"/>
                </a:cxn>
                <a:cxn ang="0">
                  <a:pos x="0" y="0"/>
                </a:cxn>
                <a:cxn ang="0">
                  <a:pos x="8" y="13"/>
                </a:cxn>
              </a:cxnLst>
              <a:rect l="0" t="0" r="r" b="b"/>
              <a:pathLst>
                <a:path w="8" h="13">
                  <a:moveTo>
                    <a:pt x="8" y="13"/>
                  </a:moveTo>
                  <a:lnTo>
                    <a:pt x="2" y="13"/>
                  </a:lnTo>
                  <a:lnTo>
                    <a:pt x="0" y="0"/>
                  </a:lnTo>
                  <a:lnTo>
                    <a:pt x="8"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 name="Freeform 27"/>
            <p:cNvSpPr>
              <a:spLocks/>
            </p:cNvSpPr>
            <p:nvPr/>
          </p:nvSpPr>
          <p:spPr bwMode="auto">
            <a:xfrm>
              <a:off x="4686" y="2799"/>
              <a:ext cx="7" cy="13"/>
            </a:xfrm>
            <a:custGeom>
              <a:avLst/>
              <a:gdLst/>
              <a:ahLst/>
              <a:cxnLst>
                <a:cxn ang="0">
                  <a:pos x="6" y="5"/>
                </a:cxn>
                <a:cxn ang="0">
                  <a:pos x="6" y="0"/>
                </a:cxn>
                <a:cxn ang="0">
                  <a:pos x="3" y="1"/>
                </a:cxn>
                <a:cxn ang="0">
                  <a:pos x="0" y="12"/>
                </a:cxn>
                <a:cxn ang="0">
                  <a:pos x="6" y="5"/>
                </a:cxn>
              </a:cxnLst>
              <a:rect l="0" t="0" r="r" b="b"/>
              <a:pathLst>
                <a:path w="6" h="12">
                  <a:moveTo>
                    <a:pt x="6" y="5"/>
                  </a:moveTo>
                  <a:lnTo>
                    <a:pt x="6" y="0"/>
                  </a:lnTo>
                  <a:lnTo>
                    <a:pt x="3" y="1"/>
                  </a:lnTo>
                  <a:lnTo>
                    <a:pt x="0" y="12"/>
                  </a:lnTo>
                  <a:lnTo>
                    <a:pt x="6"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 name="Freeform 28"/>
            <p:cNvSpPr>
              <a:spLocks/>
            </p:cNvSpPr>
            <p:nvPr/>
          </p:nvSpPr>
          <p:spPr bwMode="auto">
            <a:xfrm>
              <a:off x="4722" y="2739"/>
              <a:ext cx="18" cy="4"/>
            </a:xfrm>
            <a:custGeom>
              <a:avLst/>
              <a:gdLst/>
              <a:ahLst/>
              <a:cxnLst>
                <a:cxn ang="0">
                  <a:pos x="15" y="4"/>
                </a:cxn>
                <a:cxn ang="0">
                  <a:pos x="7" y="0"/>
                </a:cxn>
                <a:cxn ang="0">
                  <a:pos x="0" y="4"/>
                </a:cxn>
                <a:cxn ang="0">
                  <a:pos x="15" y="4"/>
                </a:cxn>
              </a:cxnLst>
              <a:rect l="0" t="0" r="r" b="b"/>
              <a:pathLst>
                <a:path w="15" h="4">
                  <a:moveTo>
                    <a:pt x="15" y="4"/>
                  </a:moveTo>
                  <a:lnTo>
                    <a:pt x="7" y="0"/>
                  </a:lnTo>
                  <a:lnTo>
                    <a:pt x="0" y="4"/>
                  </a:lnTo>
                  <a:lnTo>
                    <a:pt x="1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 name="Freeform 29"/>
            <p:cNvSpPr>
              <a:spLocks/>
            </p:cNvSpPr>
            <p:nvPr/>
          </p:nvSpPr>
          <p:spPr bwMode="auto">
            <a:xfrm>
              <a:off x="4889" y="2830"/>
              <a:ext cx="6" cy="13"/>
            </a:xfrm>
            <a:custGeom>
              <a:avLst/>
              <a:gdLst/>
              <a:ahLst/>
              <a:cxnLst>
                <a:cxn ang="0">
                  <a:pos x="6" y="6"/>
                </a:cxn>
                <a:cxn ang="0">
                  <a:pos x="1" y="11"/>
                </a:cxn>
                <a:cxn ang="0">
                  <a:pos x="0" y="0"/>
                </a:cxn>
                <a:cxn ang="0">
                  <a:pos x="6" y="6"/>
                </a:cxn>
              </a:cxnLst>
              <a:rect l="0" t="0" r="r" b="b"/>
              <a:pathLst>
                <a:path w="6" h="11">
                  <a:moveTo>
                    <a:pt x="6" y="6"/>
                  </a:moveTo>
                  <a:lnTo>
                    <a:pt x="1" y="11"/>
                  </a:lnTo>
                  <a:lnTo>
                    <a:pt x="0" y="0"/>
                  </a:lnTo>
                  <a:lnTo>
                    <a:pt x="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 name="Freeform 30"/>
            <p:cNvSpPr>
              <a:spLocks/>
            </p:cNvSpPr>
            <p:nvPr/>
          </p:nvSpPr>
          <p:spPr bwMode="auto">
            <a:xfrm>
              <a:off x="4513" y="2845"/>
              <a:ext cx="25" cy="2"/>
            </a:xfrm>
            <a:custGeom>
              <a:avLst/>
              <a:gdLst/>
              <a:ahLst/>
              <a:cxnLst>
                <a:cxn ang="0">
                  <a:pos x="22" y="0"/>
                </a:cxn>
                <a:cxn ang="0">
                  <a:pos x="6" y="2"/>
                </a:cxn>
                <a:cxn ang="0">
                  <a:pos x="0" y="0"/>
                </a:cxn>
                <a:cxn ang="0">
                  <a:pos x="22" y="0"/>
                </a:cxn>
              </a:cxnLst>
              <a:rect l="0" t="0" r="r" b="b"/>
              <a:pathLst>
                <a:path w="22" h="2">
                  <a:moveTo>
                    <a:pt x="22" y="0"/>
                  </a:moveTo>
                  <a:lnTo>
                    <a:pt x="6" y="2"/>
                  </a:lnTo>
                  <a:lnTo>
                    <a:pt x="0" y="0"/>
                  </a:lnTo>
                  <a:lnTo>
                    <a:pt x="2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 name="Freeform 31"/>
            <p:cNvSpPr>
              <a:spLocks/>
            </p:cNvSpPr>
            <p:nvPr/>
          </p:nvSpPr>
          <p:spPr bwMode="auto">
            <a:xfrm>
              <a:off x="4540" y="2607"/>
              <a:ext cx="15" cy="16"/>
            </a:xfrm>
            <a:custGeom>
              <a:avLst/>
              <a:gdLst/>
              <a:ahLst/>
              <a:cxnLst>
                <a:cxn ang="0">
                  <a:pos x="9" y="16"/>
                </a:cxn>
                <a:cxn ang="0">
                  <a:pos x="0" y="6"/>
                </a:cxn>
                <a:cxn ang="0">
                  <a:pos x="15" y="0"/>
                </a:cxn>
                <a:cxn ang="0">
                  <a:pos x="15" y="1"/>
                </a:cxn>
                <a:cxn ang="0">
                  <a:pos x="12" y="10"/>
                </a:cxn>
                <a:cxn ang="0">
                  <a:pos x="9" y="16"/>
                </a:cxn>
              </a:cxnLst>
              <a:rect l="0" t="0" r="r" b="b"/>
              <a:pathLst>
                <a:path w="15" h="16">
                  <a:moveTo>
                    <a:pt x="9" y="16"/>
                  </a:moveTo>
                  <a:lnTo>
                    <a:pt x="0" y="6"/>
                  </a:lnTo>
                  <a:lnTo>
                    <a:pt x="15" y="0"/>
                  </a:lnTo>
                  <a:lnTo>
                    <a:pt x="15" y="1"/>
                  </a:lnTo>
                  <a:lnTo>
                    <a:pt x="12" y="10"/>
                  </a:lnTo>
                  <a:lnTo>
                    <a:pt x="9"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 name="Freeform 32"/>
            <p:cNvSpPr>
              <a:spLocks/>
            </p:cNvSpPr>
            <p:nvPr/>
          </p:nvSpPr>
          <p:spPr bwMode="auto">
            <a:xfrm>
              <a:off x="4462" y="2567"/>
              <a:ext cx="169" cy="120"/>
            </a:xfrm>
            <a:custGeom>
              <a:avLst/>
              <a:gdLst/>
              <a:ahLst/>
              <a:cxnLst>
                <a:cxn ang="0">
                  <a:pos x="113" y="0"/>
                </a:cxn>
                <a:cxn ang="0">
                  <a:pos x="122" y="7"/>
                </a:cxn>
                <a:cxn ang="0">
                  <a:pos x="122" y="19"/>
                </a:cxn>
                <a:cxn ang="0">
                  <a:pos x="129" y="16"/>
                </a:cxn>
                <a:cxn ang="0">
                  <a:pos x="129" y="21"/>
                </a:cxn>
                <a:cxn ang="0">
                  <a:pos x="132" y="22"/>
                </a:cxn>
                <a:cxn ang="0">
                  <a:pos x="151" y="30"/>
                </a:cxn>
                <a:cxn ang="0">
                  <a:pos x="134" y="35"/>
                </a:cxn>
                <a:cxn ang="0">
                  <a:pos x="139" y="45"/>
                </a:cxn>
                <a:cxn ang="0">
                  <a:pos x="128" y="47"/>
                </a:cxn>
                <a:cxn ang="0">
                  <a:pos x="125" y="51"/>
                </a:cxn>
                <a:cxn ang="0">
                  <a:pos x="111" y="48"/>
                </a:cxn>
                <a:cxn ang="0">
                  <a:pos x="97" y="47"/>
                </a:cxn>
                <a:cxn ang="0">
                  <a:pos x="93" y="59"/>
                </a:cxn>
                <a:cxn ang="0">
                  <a:pos x="90" y="72"/>
                </a:cxn>
                <a:cxn ang="0">
                  <a:pos x="86" y="81"/>
                </a:cxn>
                <a:cxn ang="0">
                  <a:pos x="79" y="96"/>
                </a:cxn>
                <a:cxn ang="0">
                  <a:pos x="66" y="102"/>
                </a:cxn>
                <a:cxn ang="0">
                  <a:pos x="45" y="97"/>
                </a:cxn>
                <a:cxn ang="0">
                  <a:pos x="39" y="105"/>
                </a:cxn>
                <a:cxn ang="0">
                  <a:pos x="19" y="109"/>
                </a:cxn>
                <a:cxn ang="0">
                  <a:pos x="3" y="100"/>
                </a:cxn>
                <a:cxn ang="0">
                  <a:pos x="0" y="88"/>
                </a:cxn>
                <a:cxn ang="0">
                  <a:pos x="1" y="89"/>
                </a:cxn>
                <a:cxn ang="0">
                  <a:pos x="13" y="96"/>
                </a:cxn>
                <a:cxn ang="0">
                  <a:pos x="25" y="100"/>
                </a:cxn>
                <a:cxn ang="0">
                  <a:pos x="23" y="99"/>
                </a:cxn>
                <a:cxn ang="0">
                  <a:pos x="25" y="95"/>
                </a:cxn>
                <a:cxn ang="0">
                  <a:pos x="26" y="87"/>
                </a:cxn>
                <a:cxn ang="0">
                  <a:pos x="26" y="83"/>
                </a:cxn>
                <a:cxn ang="0">
                  <a:pos x="29" y="77"/>
                </a:cxn>
                <a:cxn ang="0">
                  <a:pos x="39" y="73"/>
                </a:cxn>
                <a:cxn ang="0">
                  <a:pos x="50" y="70"/>
                </a:cxn>
                <a:cxn ang="0">
                  <a:pos x="60" y="57"/>
                </a:cxn>
                <a:cxn ang="0">
                  <a:pos x="69" y="42"/>
                </a:cxn>
                <a:cxn ang="0">
                  <a:pos x="78" y="52"/>
                </a:cxn>
                <a:cxn ang="0">
                  <a:pos x="81" y="46"/>
                </a:cxn>
                <a:cxn ang="0">
                  <a:pos x="84" y="37"/>
                </a:cxn>
                <a:cxn ang="0">
                  <a:pos x="87" y="47"/>
                </a:cxn>
                <a:cxn ang="0">
                  <a:pos x="87" y="40"/>
                </a:cxn>
                <a:cxn ang="0">
                  <a:pos x="91" y="35"/>
                </a:cxn>
                <a:cxn ang="0">
                  <a:pos x="90" y="30"/>
                </a:cxn>
                <a:cxn ang="0">
                  <a:pos x="93" y="25"/>
                </a:cxn>
                <a:cxn ang="0">
                  <a:pos x="101" y="13"/>
                </a:cxn>
                <a:cxn ang="0">
                  <a:pos x="108" y="0"/>
                </a:cxn>
                <a:cxn ang="0">
                  <a:pos x="109" y="5"/>
                </a:cxn>
                <a:cxn ang="0">
                  <a:pos x="113" y="0"/>
                </a:cxn>
              </a:cxnLst>
              <a:rect l="0" t="0" r="r" b="b"/>
              <a:pathLst>
                <a:path w="151" h="109">
                  <a:moveTo>
                    <a:pt x="113" y="0"/>
                  </a:moveTo>
                  <a:lnTo>
                    <a:pt x="122" y="7"/>
                  </a:lnTo>
                  <a:lnTo>
                    <a:pt x="122" y="19"/>
                  </a:lnTo>
                  <a:lnTo>
                    <a:pt x="129" y="16"/>
                  </a:lnTo>
                  <a:lnTo>
                    <a:pt x="129" y="21"/>
                  </a:lnTo>
                  <a:lnTo>
                    <a:pt x="132" y="22"/>
                  </a:lnTo>
                  <a:lnTo>
                    <a:pt x="151" y="30"/>
                  </a:lnTo>
                  <a:lnTo>
                    <a:pt x="134" y="35"/>
                  </a:lnTo>
                  <a:lnTo>
                    <a:pt x="139" y="45"/>
                  </a:lnTo>
                  <a:lnTo>
                    <a:pt x="128" y="47"/>
                  </a:lnTo>
                  <a:lnTo>
                    <a:pt x="125" y="51"/>
                  </a:lnTo>
                  <a:lnTo>
                    <a:pt x="111" y="48"/>
                  </a:lnTo>
                  <a:lnTo>
                    <a:pt x="97" y="47"/>
                  </a:lnTo>
                  <a:lnTo>
                    <a:pt x="93" y="59"/>
                  </a:lnTo>
                  <a:lnTo>
                    <a:pt x="90" y="72"/>
                  </a:lnTo>
                  <a:lnTo>
                    <a:pt x="86" y="81"/>
                  </a:lnTo>
                  <a:lnTo>
                    <a:pt x="79" y="96"/>
                  </a:lnTo>
                  <a:lnTo>
                    <a:pt x="66" y="102"/>
                  </a:lnTo>
                  <a:lnTo>
                    <a:pt x="45" y="97"/>
                  </a:lnTo>
                  <a:lnTo>
                    <a:pt x="39" y="105"/>
                  </a:lnTo>
                  <a:lnTo>
                    <a:pt x="19" y="109"/>
                  </a:lnTo>
                  <a:lnTo>
                    <a:pt x="3" y="100"/>
                  </a:lnTo>
                  <a:lnTo>
                    <a:pt x="0" y="88"/>
                  </a:lnTo>
                  <a:lnTo>
                    <a:pt x="1" y="89"/>
                  </a:lnTo>
                  <a:lnTo>
                    <a:pt x="13" y="96"/>
                  </a:lnTo>
                  <a:lnTo>
                    <a:pt x="25" y="100"/>
                  </a:lnTo>
                  <a:lnTo>
                    <a:pt x="23" y="99"/>
                  </a:lnTo>
                  <a:lnTo>
                    <a:pt x="25" y="95"/>
                  </a:lnTo>
                  <a:lnTo>
                    <a:pt x="26" y="87"/>
                  </a:lnTo>
                  <a:lnTo>
                    <a:pt x="26" y="83"/>
                  </a:lnTo>
                  <a:lnTo>
                    <a:pt x="29" y="77"/>
                  </a:lnTo>
                  <a:lnTo>
                    <a:pt x="39" y="73"/>
                  </a:lnTo>
                  <a:lnTo>
                    <a:pt x="50" y="70"/>
                  </a:lnTo>
                  <a:lnTo>
                    <a:pt x="60" y="57"/>
                  </a:lnTo>
                  <a:lnTo>
                    <a:pt x="69" y="42"/>
                  </a:lnTo>
                  <a:lnTo>
                    <a:pt x="78" y="52"/>
                  </a:lnTo>
                  <a:lnTo>
                    <a:pt x="81" y="46"/>
                  </a:lnTo>
                  <a:lnTo>
                    <a:pt x="84" y="37"/>
                  </a:lnTo>
                  <a:lnTo>
                    <a:pt x="87" y="47"/>
                  </a:lnTo>
                  <a:lnTo>
                    <a:pt x="87" y="40"/>
                  </a:lnTo>
                  <a:lnTo>
                    <a:pt x="91" y="35"/>
                  </a:lnTo>
                  <a:lnTo>
                    <a:pt x="90" y="30"/>
                  </a:lnTo>
                  <a:lnTo>
                    <a:pt x="93" y="25"/>
                  </a:lnTo>
                  <a:lnTo>
                    <a:pt x="101" y="13"/>
                  </a:lnTo>
                  <a:lnTo>
                    <a:pt x="108" y="0"/>
                  </a:lnTo>
                  <a:lnTo>
                    <a:pt x="109" y="5"/>
                  </a:lnTo>
                  <a:lnTo>
                    <a:pt x="11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 name="Freeform 33"/>
            <p:cNvSpPr>
              <a:spLocks/>
            </p:cNvSpPr>
            <p:nvPr/>
          </p:nvSpPr>
          <p:spPr bwMode="auto">
            <a:xfrm>
              <a:off x="4293" y="2574"/>
              <a:ext cx="76" cy="102"/>
            </a:xfrm>
            <a:custGeom>
              <a:avLst/>
              <a:gdLst/>
              <a:ahLst/>
              <a:cxnLst>
                <a:cxn ang="0">
                  <a:pos x="59" y="93"/>
                </a:cxn>
                <a:cxn ang="0">
                  <a:pos x="40" y="80"/>
                </a:cxn>
                <a:cxn ang="0">
                  <a:pos x="21" y="66"/>
                </a:cxn>
                <a:cxn ang="0">
                  <a:pos x="12" y="46"/>
                </a:cxn>
                <a:cxn ang="0">
                  <a:pos x="6" y="24"/>
                </a:cxn>
                <a:cxn ang="0">
                  <a:pos x="0" y="3"/>
                </a:cxn>
                <a:cxn ang="0">
                  <a:pos x="1" y="0"/>
                </a:cxn>
                <a:cxn ang="0">
                  <a:pos x="13" y="6"/>
                </a:cxn>
                <a:cxn ang="0">
                  <a:pos x="15" y="14"/>
                </a:cxn>
                <a:cxn ang="0">
                  <a:pos x="25" y="14"/>
                </a:cxn>
                <a:cxn ang="0">
                  <a:pos x="31" y="6"/>
                </a:cxn>
                <a:cxn ang="0">
                  <a:pos x="41" y="16"/>
                </a:cxn>
                <a:cxn ang="0">
                  <a:pos x="52" y="27"/>
                </a:cxn>
                <a:cxn ang="0">
                  <a:pos x="53" y="44"/>
                </a:cxn>
                <a:cxn ang="0">
                  <a:pos x="55" y="60"/>
                </a:cxn>
                <a:cxn ang="0">
                  <a:pos x="63" y="76"/>
                </a:cxn>
                <a:cxn ang="0">
                  <a:pos x="70" y="92"/>
                </a:cxn>
                <a:cxn ang="0">
                  <a:pos x="64" y="89"/>
                </a:cxn>
                <a:cxn ang="0">
                  <a:pos x="59" y="93"/>
                </a:cxn>
              </a:cxnLst>
              <a:rect l="0" t="0" r="r" b="b"/>
              <a:pathLst>
                <a:path w="70" h="93">
                  <a:moveTo>
                    <a:pt x="59" y="93"/>
                  </a:moveTo>
                  <a:lnTo>
                    <a:pt x="40" y="80"/>
                  </a:lnTo>
                  <a:lnTo>
                    <a:pt x="21" y="66"/>
                  </a:lnTo>
                  <a:lnTo>
                    <a:pt x="12" y="46"/>
                  </a:lnTo>
                  <a:lnTo>
                    <a:pt x="6" y="24"/>
                  </a:lnTo>
                  <a:lnTo>
                    <a:pt x="0" y="3"/>
                  </a:lnTo>
                  <a:lnTo>
                    <a:pt x="1" y="0"/>
                  </a:lnTo>
                  <a:lnTo>
                    <a:pt x="13" y="6"/>
                  </a:lnTo>
                  <a:lnTo>
                    <a:pt x="15" y="14"/>
                  </a:lnTo>
                  <a:lnTo>
                    <a:pt x="25" y="14"/>
                  </a:lnTo>
                  <a:lnTo>
                    <a:pt x="31" y="6"/>
                  </a:lnTo>
                  <a:lnTo>
                    <a:pt x="41" y="16"/>
                  </a:lnTo>
                  <a:lnTo>
                    <a:pt x="52" y="27"/>
                  </a:lnTo>
                  <a:lnTo>
                    <a:pt x="53" y="44"/>
                  </a:lnTo>
                  <a:lnTo>
                    <a:pt x="55" y="60"/>
                  </a:lnTo>
                  <a:lnTo>
                    <a:pt x="63" y="76"/>
                  </a:lnTo>
                  <a:lnTo>
                    <a:pt x="70" y="92"/>
                  </a:lnTo>
                  <a:lnTo>
                    <a:pt x="64" y="89"/>
                  </a:lnTo>
                  <a:lnTo>
                    <a:pt x="59" y="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 name="Freeform 34"/>
            <p:cNvSpPr>
              <a:spLocks/>
            </p:cNvSpPr>
            <p:nvPr/>
          </p:nvSpPr>
          <p:spPr bwMode="auto">
            <a:xfrm>
              <a:off x="5473" y="2714"/>
              <a:ext cx="2" cy="2"/>
            </a:xfrm>
            <a:custGeom>
              <a:avLst/>
              <a:gdLst/>
              <a:ahLst/>
              <a:cxnLst>
                <a:cxn ang="0">
                  <a:pos x="0" y="2"/>
                </a:cxn>
                <a:cxn ang="0">
                  <a:pos x="0" y="0"/>
                </a:cxn>
                <a:cxn ang="0">
                  <a:pos x="0" y="2"/>
                </a:cxn>
              </a:cxnLst>
              <a:rect l="0" t="0" r="r" b="b"/>
              <a:pathLst>
                <a:path h="2">
                  <a:moveTo>
                    <a:pt x="0" y="2"/>
                  </a:moveTo>
                  <a:lnTo>
                    <a:pt x="0" y="0"/>
                  </a:lnTo>
                  <a:lnTo>
                    <a:pt x="0"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 name="Freeform 35"/>
            <p:cNvSpPr>
              <a:spLocks/>
            </p:cNvSpPr>
            <p:nvPr/>
          </p:nvSpPr>
          <p:spPr bwMode="auto">
            <a:xfrm>
              <a:off x="5006" y="2756"/>
              <a:ext cx="171" cy="160"/>
            </a:xfrm>
            <a:custGeom>
              <a:avLst/>
              <a:gdLst/>
              <a:ahLst/>
              <a:cxnLst>
                <a:cxn ang="0">
                  <a:pos x="154" y="137"/>
                </a:cxn>
                <a:cxn ang="0">
                  <a:pos x="148" y="140"/>
                </a:cxn>
                <a:cxn ang="0">
                  <a:pos x="148" y="144"/>
                </a:cxn>
                <a:cxn ang="0">
                  <a:pos x="140" y="141"/>
                </a:cxn>
                <a:cxn ang="0">
                  <a:pos x="124" y="139"/>
                </a:cxn>
                <a:cxn ang="0">
                  <a:pos x="110" y="135"/>
                </a:cxn>
                <a:cxn ang="0">
                  <a:pos x="101" y="126"/>
                </a:cxn>
                <a:cxn ang="0">
                  <a:pos x="93" y="117"/>
                </a:cxn>
                <a:cxn ang="0">
                  <a:pos x="84" y="107"/>
                </a:cxn>
                <a:cxn ang="0">
                  <a:pos x="77" y="96"/>
                </a:cxn>
                <a:cxn ang="0">
                  <a:pos x="57" y="89"/>
                </a:cxn>
                <a:cxn ang="0">
                  <a:pos x="56" y="92"/>
                </a:cxn>
                <a:cxn ang="0">
                  <a:pos x="46" y="89"/>
                </a:cxn>
                <a:cxn ang="0">
                  <a:pos x="47" y="97"/>
                </a:cxn>
                <a:cxn ang="0">
                  <a:pos x="41" y="97"/>
                </a:cxn>
                <a:cxn ang="0">
                  <a:pos x="42" y="101"/>
                </a:cxn>
                <a:cxn ang="0">
                  <a:pos x="21" y="101"/>
                </a:cxn>
                <a:cxn ang="0">
                  <a:pos x="39" y="110"/>
                </a:cxn>
                <a:cxn ang="0">
                  <a:pos x="30" y="117"/>
                </a:cxn>
                <a:cxn ang="0">
                  <a:pos x="16" y="117"/>
                </a:cxn>
                <a:cxn ang="0">
                  <a:pos x="0" y="117"/>
                </a:cxn>
                <a:cxn ang="0">
                  <a:pos x="2" y="102"/>
                </a:cxn>
                <a:cxn ang="0">
                  <a:pos x="3" y="87"/>
                </a:cxn>
                <a:cxn ang="0">
                  <a:pos x="4" y="73"/>
                </a:cxn>
                <a:cxn ang="0">
                  <a:pos x="5" y="59"/>
                </a:cxn>
                <a:cxn ang="0">
                  <a:pos x="6" y="44"/>
                </a:cxn>
                <a:cxn ang="0">
                  <a:pos x="6" y="29"/>
                </a:cxn>
                <a:cxn ang="0">
                  <a:pos x="8" y="14"/>
                </a:cxn>
                <a:cxn ang="0">
                  <a:pos x="8" y="0"/>
                </a:cxn>
                <a:cxn ang="0">
                  <a:pos x="23" y="7"/>
                </a:cxn>
                <a:cxn ang="0">
                  <a:pos x="38" y="13"/>
                </a:cxn>
                <a:cxn ang="0">
                  <a:pos x="53" y="20"/>
                </a:cxn>
                <a:cxn ang="0">
                  <a:pos x="69" y="27"/>
                </a:cxn>
                <a:cxn ang="0">
                  <a:pos x="82" y="44"/>
                </a:cxn>
                <a:cxn ang="0">
                  <a:pos x="83" y="53"/>
                </a:cxn>
                <a:cxn ang="0">
                  <a:pos x="96" y="59"/>
                </a:cxn>
                <a:cxn ang="0">
                  <a:pos x="111" y="65"/>
                </a:cxn>
                <a:cxn ang="0">
                  <a:pos x="112" y="74"/>
                </a:cxn>
                <a:cxn ang="0">
                  <a:pos x="98" y="75"/>
                </a:cxn>
                <a:cxn ang="0">
                  <a:pos x="105" y="91"/>
                </a:cxn>
                <a:cxn ang="0">
                  <a:pos x="116" y="101"/>
                </a:cxn>
                <a:cxn ang="0">
                  <a:pos x="123" y="116"/>
                </a:cxn>
                <a:cxn ang="0">
                  <a:pos x="132" y="117"/>
                </a:cxn>
                <a:cxn ang="0">
                  <a:pos x="131" y="123"/>
                </a:cxn>
                <a:cxn ang="0">
                  <a:pos x="140" y="128"/>
                </a:cxn>
                <a:cxn ang="0">
                  <a:pos x="138" y="132"/>
                </a:cxn>
                <a:cxn ang="0">
                  <a:pos x="154" y="137"/>
                </a:cxn>
              </a:cxnLst>
              <a:rect l="0" t="0" r="r" b="b"/>
              <a:pathLst>
                <a:path w="154" h="144">
                  <a:moveTo>
                    <a:pt x="154" y="137"/>
                  </a:moveTo>
                  <a:lnTo>
                    <a:pt x="148" y="140"/>
                  </a:lnTo>
                  <a:lnTo>
                    <a:pt x="148" y="144"/>
                  </a:lnTo>
                  <a:lnTo>
                    <a:pt x="140" y="141"/>
                  </a:lnTo>
                  <a:lnTo>
                    <a:pt x="124" y="139"/>
                  </a:lnTo>
                  <a:lnTo>
                    <a:pt x="110" y="135"/>
                  </a:lnTo>
                  <a:lnTo>
                    <a:pt x="101" y="126"/>
                  </a:lnTo>
                  <a:lnTo>
                    <a:pt x="93" y="117"/>
                  </a:lnTo>
                  <a:lnTo>
                    <a:pt x="84" y="107"/>
                  </a:lnTo>
                  <a:lnTo>
                    <a:pt x="77" y="96"/>
                  </a:lnTo>
                  <a:lnTo>
                    <a:pt x="57" y="89"/>
                  </a:lnTo>
                  <a:lnTo>
                    <a:pt x="56" y="92"/>
                  </a:lnTo>
                  <a:lnTo>
                    <a:pt x="46" y="89"/>
                  </a:lnTo>
                  <a:lnTo>
                    <a:pt x="47" y="97"/>
                  </a:lnTo>
                  <a:lnTo>
                    <a:pt x="41" y="97"/>
                  </a:lnTo>
                  <a:lnTo>
                    <a:pt x="42" y="101"/>
                  </a:lnTo>
                  <a:lnTo>
                    <a:pt x="21" y="101"/>
                  </a:lnTo>
                  <a:lnTo>
                    <a:pt x="39" y="110"/>
                  </a:lnTo>
                  <a:lnTo>
                    <a:pt x="30" y="117"/>
                  </a:lnTo>
                  <a:lnTo>
                    <a:pt x="16" y="117"/>
                  </a:lnTo>
                  <a:lnTo>
                    <a:pt x="0" y="117"/>
                  </a:lnTo>
                  <a:lnTo>
                    <a:pt x="2" y="102"/>
                  </a:lnTo>
                  <a:lnTo>
                    <a:pt x="3" y="87"/>
                  </a:lnTo>
                  <a:lnTo>
                    <a:pt x="4" y="73"/>
                  </a:lnTo>
                  <a:lnTo>
                    <a:pt x="5" y="59"/>
                  </a:lnTo>
                  <a:lnTo>
                    <a:pt x="6" y="44"/>
                  </a:lnTo>
                  <a:lnTo>
                    <a:pt x="6" y="29"/>
                  </a:lnTo>
                  <a:lnTo>
                    <a:pt x="8" y="14"/>
                  </a:lnTo>
                  <a:lnTo>
                    <a:pt x="8" y="0"/>
                  </a:lnTo>
                  <a:lnTo>
                    <a:pt x="23" y="7"/>
                  </a:lnTo>
                  <a:lnTo>
                    <a:pt x="38" y="13"/>
                  </a:lnTo>
                  <a:lnTo>
                    <a:pt x="53" y="20"/>
                  </a:lnTo>
                  <a:lnTo>
                    <a:pt x="69" y="27"/>
                  </a:lnTo>
                  <a:lnTo>
                    <a:pt x="82" y="44"/>
                  </a:lnTo>
                  <a:lnTo>
                    <a:pt x="83" y="53"/>
                  </a:lnTo>
                  <a:lnTo>
                    <a:pt x="96" y="59"/>
                  </a:lnTo>
                  <a:lnTo>
                    <a:pt x="111" y="65"/>
                  </a:lnTo>
                  <a:lnTo>
                    <a:pt x="112" y="74"/>
                  </a:lnTo>
                  <a:lnTo>
                    <a:pt x="98" y="75"/>
                  </a:lnTo>
                  <a:lnTo>
                    <a:pt x="105" y="91"/>
                  </a:lnTo>
                  <a:lnTo>
                    <a:pt x="116" y="101"/>
                  </a:lnTo>
                  <a:lnTo>
                    <a:pt x="123" y="116"/>
                  </a:lnTo>
                  <a:lnTo>
                    <a:pt x="132" y="117"/>
                  </a:lnTo>
                  <a:lnTo>
                    <a:pt x="131" y="123"/>
                  </a:lnTo>
                  <a:lnTo>
                    <a:pt x="140" y="128"/>
                  </a:lnTo>
                  <a:lnTo>
                    <a:pt x="138" y="132"/>
                  </a:lnTo>
                  <a:lnTo>
                    <a:pt x="154"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 name="Freeform 36"/>
            <p:cNvSpPr>
              <a:spLocks/>
            </p:cNvSpPr>
            <p:nvPr/>
          </p:nvSpPr>
          <p:spPr bwMode="auto">
            <a:xfrm>
              <a:off x="5142" y="2790"/>
              <a:ext cx="73" cy="40"/>
            </a:xfrm>
            <a:custGeom>
              <a:avLst/>
              <a:gdLst/>
              <a:ahLst/>
              <a:cxnLst>
                <a:cxn ang="0">
                  <a:pos x="66" y="1"/>
                </a:cxn>
                <a:cxn ang="0">
                  <a:pos x="61" y="13"/>
                </a:cxn>
                <a:cxn ang="0">
                  <a:pos x="57" y="15"/>
                </a:cxn>
                <a:cxn ang="0">
                  <a:pos x="58" y="21"/>
                </a:cxn>
                <a:cxn ang="0">
                  <a:pos x="48" y="26"/>
                </a:cxn>
                <a:cxn ang="0">
                  <a:pos x="26" y="36"/>
                </a:cxn>
                <a:cxn ang="0">
                  <a:pos x="13" y="32"/>
                </a:cxn>
                <a:cxn ang="0">
                  <a:pos x="3" y="27"/>
                </a:cxn>
                <a:cxn ang="0">
                  <a:pos x="0" y="21"/>
                </a:cxn>
                <a:cxn ang="0">
                  <a:pos x="21" y="23"/>
                </a:cxn>
                <a:cxn ang="0">
                  <a:pos x="27" y="13"/>
                </a:cxn>
                <a:cxn ang="0">
                  <a:pos x="27" y="19"/>
                </a:cxn>
                <a:cxn ang="0">
                  <a:pos x="36" y="23"/>
                </a:cxn>
                <a:cxn ang="0">
                  <a:pos x="51" y="12"/>
                </a:cxn>
                <a:cxn ang="0">
                  <a:pos x="51" y="1"/>
                </a:cxn>
                <a:cxn ang="0">
                  <a:pos x="60" y="0"/>
                </a:cxn>
                <a:cxn ang="0">
                  <a:pos x="66" y="1"/>
                </a:cxn>
              </a:cxnLst>
              <a:rect l="0" t="0" r="r" b="b"/>
              <a:pathLst>
                <a:path w="66" h="36">
                  <a:moveTo>
                    <a:pt x="66" y="1"/>
                  </a:moveTo>
                  <a:lnTo>
                    <a:pt x="61" y="13"/>
                  </a:lnTo>
                  <a:lnTo>
                    <a:pt x="57" y="15"/>
                  </a:lnTo>
                  <a:lnTo>
                    <a:pt x="58" y="21"/>
                  </a:lnTo>
                  <a:lnTo>
                    <a:pt x="48" y="26"/>
                  </a:lnTo>
                  <a:lnTo>
                    <a:pt x="26" y="36"/>
                  </a:lnTo>
                  <a:lnTo>
                    <a:pt x="13" y="32"/>
                  </a:lnTo>
                  <a:lnTo>
                    <a:pt x="3" y="27"/>
                  </a:lnTo>
                  <a:lnTo>
                    <a:pt x="0" y="21"/>
                  </a:lnTo>
                  <a:lnTo>
                    <a:pt x="21" y="23"/>
                  </a:lnTo>
                  <a:lnTo>
                    <a:pt x="27" y="13"/>
                  </a:lnTo>
                  <a:lnTo>
                    <a:pt x="27" y="19"/>
                  </a:lnTo>
                  <a:lnTo>
                    <a:pt x="36" y="23"/>
                  </a:lnTo>
                  <a:lnTo>
                    <a:pt x="51" y="12"/>
                  </a:lnTo>
                  <a:lnTo>
                    <a:pt x="51" y="1"/>
                  </a:lnTo>
                  <a:lnTo>
                    <a:pt x="60" y="0"/>
                  </a:lnTo>
                  <a:lnTo>
                    <a:pt x="6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 name="Freeform 37"/>
            <p:cNvSpPr>
              <a:spLocks/>
            </p:cNvSpPr>
            <p:nvPr/>
          </p:nvSpPr>
          <p:spPr bwMode="auto">
            <a:xfrm>
              <a:off x="5253" y="2814"/>
              <a:ext cx="20" cy="29"/>
            </a:xfrm>
            <a:custGeom>
              <a:avLst/>
              <a:gdLst/>
              <a:ahLst/>
              <a:cxnLst>
                <a:cxn ang="0">
                  <a:pos x="18" y="24"/>
                </a:cxn>
                <a:cxn ang="0">
                  <a:pos x="14" y="27"/>
                </a:cxn>
                <a:cxn ang="0">
                  <a:pos x="4" y="15"/>
                </a:cxn>
                <a:cxn ang="0">
                  <a:pos x="0" y="0"/>
                </a:cxn>
                <a:cxn ang="0">
                  <a:pos x="10" y="12"/>
                </a:cxn>
                <a:cxn ang="0">
                  <a:pos x="18" y="24"/>
                </a:cxn>
              </a:cxnLst>
              <a:rect l="0" t="0" r="r" b="b"/>
              <a:pathLst>
                <a:path w="18" h="27">
                  <a:moveTo>
                    <a:pt x="18" y="24"/>
                  </a:moveTo>
                  <a:lnTo>
                    <a:pt x="14" y="27"/>
                  </a:lnTo>
                  <a:lnTo>
                    <a:pt x="4" y="15"/>
                  </a:lnTo>
                  <a:lnTo>
                    <a:pt x="0" y="0"/>
                  </a:lnTo>
                  <a:lnTo>
                    <a:pt x="10" y="12"/>
                  </a:lnTo>
                  <a:lnTo>
                    <a:pt x="18"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 name="Freeform 38"/>
            <p:cNvSpPr>
              <a:spLocks/>
            </p:cNvSpPr>
            <p:nvPr/>
          </p:nvSpPr>
          <p:spPr bwMode="auto">
            <a:xfrm>
              <a:off x="5189" y="2759"/>
              <a:ext cx="37" cy="42"/>
            </a:xfrm>
            <a:custGeom>
              <a:avLst/>
              <a:gdLst/>
              <a:ahLst/>
              <a:cxnLst>
                <a:cxn ang="0">
                  <a:pos x="33" y="31"/>
                </a:cxn>
                <a:cxn ang="0">
                  <a:pos x="29" y="37"/>
                </a:cxn>
                <a:cxn ang="0">
                  <a:pos x="18" y="16"/>
                </a:cxn>
                <a:cxn ang="0">
                  <a:pos x="9" y="8"/>
                </a:cxn>
                <a:cxn ang="0">
                  <a:pos x="0" y="1"/>
                </a:cxn>
                <a:cxn ang="0">
                  <a:pos x="0" y="0"/>
                </a:cxn>
                <a:cxn ang="0">
                  <a:pos x="12" y="10"/>
                </a:cxn>
                <a:cxn ang="0">
                  <a:pos x="25" y="19"/>
                </a:cxn>
                <a:cxn ang="0">
                  <a:pos x="33" y="31"/>
                </a:cxn>
              </a:cxnLst>
              <a:rect l="0" t="0" r="r" b="b"/>
              <a:pathLst>
                <a:path w="33" h="37">
                  <a:moveTo>
                    <a:pt x="33" y="31"/>
                  </a:moveTo>
                  <a:lnTo>
                    <a:pt x="29" y="37"/>
                  </a:lnTo>
                  <a:lnTo>
                    <a:pt x="18" y="16"/>
                  </a:lnTo>
                  <a:lnTo>
                    <a:pt x="9" y="8"/>
                  </a:lnTo>
                  <a:lnTo>
                    <a:pt x="0" y="1"/>
                  </a:lnTo>
                  <a:lnTo>
                    <a:pt x="0" y="0"/>
                  </a:lnTo>
                  <a:lnTo>
                    <a:pt x="12" y="10"/>
                  </a:lnTo>
                  <a:lnTo>
                    <a:pt x="25" y="19"/>
                  </a:lnTo>
                  <a:lnTo>
                    <a:pt x="33" y="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 name="Freeform 39"/>
            <p:cNvSpPr>
              <a:spLocks/>
            </p:cNvSpPr>
            <p:nvPr/>
          </p:nvSpPr>
          <p:spPr bwMode="auto">
            <a:xfrm>
              <a:off x="5180" y="2901"/>
              <a:ext cx="6" cy="6"/>
            </a:xfrm>
            <a:custGeom>
              <a:avLst/>
              <a:gdLst/>
              <a:ahLst/>
              <a:cxnLst>
                <a:cxn ang="0">
                  <a:pos x="6" y="3"/>
                </a:cxn>
                <a:cxn ang="0">
                  <a:pos x="3" y="5"/>
                </a:cxn>
                <a:cxn ang="0">
                  <a:pos x="0" y="0"/>
                </a:cxn>
                <a:cxn ang="0">
                  <a:pos x="6" y="3"/>
                </a:cxn>
              </a:cxnLst>
              <a:rect l="0" t="0" r="r" b="b"/>
              <a:pathLst>
                <a:path w="6" h="5">
                  <a:moveTo>
                    <a:pt x="6" y="3"/>
                  </a:moveTo>
                  <a:lnTo>
                    <a:pt x="3" y="5"/>
                  </a:lnTo>
                  <a:lnTo>
                    <a:pt x="0" y="0"/>
                  </a:lnTo>
                  <a:lnTo>
                    <a:pt x="6"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 name="Freeform 40"/>
            <p:cNvSpPr>
              <a:spLocks/>
            </p:cNvSpPr>
            <p:nvPr/>
          </p:nvSpPr>
          <p:spPr bwMode="auto">
            <a:xfrm>
              <a:off x="4042" y="2176"/>
              <a:ext cx="87" cy="111"/>
            </a:xfrm>
            <a:custGeom>
              <a:avLst/>
              <a:gdLst/>
              <a:ahLst/>
              <a:cxnLst>
                <a:cxn ang="0">
                  <a:pos x="28" y="84"/>
                </a:cxn>
                <a:cxn ang="0">
                  <a:pos x="27" y="85"/>
                </a:cxn>
                <a:cxn ang="0">
                  <a:pos x="24" y="80"/>
                </a:cxn>
                <a:cxn ang="0">
                  <a:pos x="24" y="82"/>
                </a:cxn>
                <a:cxn ang="0">
                  <a:pos x="19" y="68"/>
                </a:cxn>
                <a:cxn ang="0">
                  <a:pos x="14" y="55"/>
                </a:cxn>
                <a:cxn ang="0">
                  <a:pos x="13" y="44"/>
                </a:cxn>
                <a:cxn ang="0">
                  <a:pos x="1" y="34"/>
                </a:cxn>
                <a:cxn ang="0">
                  <a:pos x="6" y="27"/>
                </a:cxn>
                <a:cxn ang="0">
                  <a:pos x="12" y="24"/>
                </a:cxn>
                <a:cxn ang="0">
                  <a:pos x="0" y="13"/>
                </a:cxn>
                <a:cxn ang="0">
                  <a:pos x="0" y="0"/>
                </a:cxn>
                <a:cxn ang="0">
                  <a:pos x="10" y="3"/>
                </a:cxn>
                <a:cxn ang="0">
                  <a:pos x="15" y="9"/>
                </a:cxn>
                <a:cxn ang="0">
                  <a:pos x="19" y="6"/>
                </a:cxn>
                <a:cxn ang="0">
                  <a:pos x="25" y="20"/>
                </a:cxn>
                <a:cxn ang="0">
                  <a:pos x="42" y="22"/>
                </a:cxn>
                <a:cxn ang="0">
                  <a:pos x="58" y="24"/>
                </a:cxn>
                <a:cxn ang="0">
                  <a:pos x="67" y="30"/>
                </a:cxn>
                <a:cxn ang="0">
                  <a:pos x="64" y="37"/>
                </a:cxn>
                <a:cxn ang="0">
                  <a:pos x="52" y="45"/>
                </a:cxn>
                <a:cxn ang="0">
                  <a:pos x="56" y="60"/>
                </a:cxn>
                <a:cxn ang="0">
                  <a:pos x="58" y="63"/>
                </a:cxn>
                <a:cxn ang="0">
                  <a:pos x="66" y="50"/>
                </a:cxn>
                <a:cxn ang="0">
                  <a:pos x="72" y="66"/>
                </a:cxn>
                <a:cxn ang="0">
                  <a:pos x="78" y="81"/>
                </a:cxn>
                <a:cxn ang="0">
                  <a:pos x="79" y="92"/>
                </a:cxn>
                <a:cxn ang="0">
                  <a:pos x="74" y="96"/>
                </a:cxn>
                <a:cxn ang="0">
                  <a:pos x="76" y="100"/>
                </a:cxn>
                <a:cxn ang="0">
                  <a:pos x="67" y="84"/>
                </a:cxn>
                <a:cxn ang="0">
                  <a:pos x="58" y="67"/>
                </a:cxn>
                <a:cxn ang="0">
                  <a:pos x="48" y="66"/>
                </a:cxn>
                <a:cxn ang="0">
                  <a:pos x="43" y="55"/>
                </a:cxn>
                <a:cxn ang="0">
                  <a:pos x="27" y="45"/>
                </a:cxn>
                <a:cxn ang="0">
                  <a:pos x="22" y="46"/>
                </a:cxn>
                <a:cxn ang="0">
                  <a:pos x="39" y="56"/>
                </a:cxn>
                <a:cxn ang="0">
                  <a:pos x="44" y="67"/>
                </a:cxn>
                <a:cxn ang="0">
                  <a:pos x="45" y="70"/>
                </a:cxn>
                <a:cxn ang="0">
                  <a:pos x="42" y="85"/>
                </a:cxn>
                <a:cxn ang="0">
                  <a:pos x="38" y="80"/>
                </a:cxn>
                <a:cxn ang="0">
                  <a:pos x="36" y="80"/>
                </a:cxn>
                <a:cxn ang="0">
                  <a:pos x="32" y="84"/>
                </a:cxn>
                <a:cxn ang="0">
                  <a:pos x="28" y="84"/>
                </a:cxn>
              </a:cxnLst>
              <a:rect l="0" t="0" r="r" b="b"/>
              <a:pathLst>
                <a:path w="79" h="100">
                  <a:moveTo>
                    <a:pt x="28" y="84"/>
                  </a:moveTo>
                  <a:lnTo>
                    <a:pt x="27" y="85"/>
                  </a:lnTo>
                  <a:lnTo>
                    <a:pt x="24" y="80"/>
                  </a:lnTo>
                  <a:lnTo>
                    <a:pt x="24" y="82"/>
                  </a:lnTo>
                  <a:lnTo>
                    <a:pt x="19" y="68"/>
                  </a:lnTo>
                  <a:lnTo>
                    <a:pt x="14" y="55"/>
                  </a:lnTo>
                  <a:lnTo>
                    <a:pt x="13" y="44"/>
                  </a:lnTo>
                  <a:lnTo>
                    <a:pt x="1" y="34"/>
                  </a:lnTo>
                  <a:lnTo>
                    <a:pt x="6" y="27"/>
                  </a:lnTo>
                  <a:lnTo>
                    <a:pt x="12" y="24"/>
                  </a:lnTo>
                  <a:lnTo>
                    <a:pt x="0" y="13"/>
                  </a:lnTo>
                  <a:lnTo>
                    <a:pt x="0" y="0"/>
                  </a:lnTo>
                  <a:lnTo>
                    <a:pt x="10" y="3"/>
                  </a:lnTo>
                  <a:lnTo>
                    <a:pt x="15" y="9"/>
                  </a:lnTo>
                  <a:lnTo>
                    <a:pt x="19" y="6"/>
                  </a:lnTo>
                  <a:lnTo>
                    <a:pt x="25" y="20"/>
                  </a:lnTo>
                  <a:lnTo>
                    <a:pt x="42" y="22"/>
                  </a:lnTo>
                  <a:lnTo>
                    <a:pt x="58" y="24"/>
                  </a:lnTo>
                  <a:lnTo>
                    <a:pt x="67" y="30"/>
                  </a:lnTo>
                  <a:lnTo>
                    <a:pt x="64" y="37"/>
                  </a:lnTo>
                  <a:lnTo>
                    <a:pt x="52" y="45"/>
                  </a:lnTo>
                  <a:lnTo>
                    <a:pt x="56" y="60"/>
                  </a:lnTo>
                  <a:lnTo>
                    <a:pt x="58" y="63"/>
                  </a:lnTo>
                  <a:lnTo>
                    <a:pt x="66" y="50"/>
                  </a:lnTo>
                  <a:lnTo>
                    <a:pt x="72" y="66"/>
                  </a:lnTo>
                  <a:lnTo>
                    <a:pt x="78" y="81"/>
                  </a:lnTo>
                  <a:lnTo>
                    <a:pt x="79" y="92"/>
                  </a:lnTo>
                  <a:lnTo>
                    <a:pt x="74" y="96"/>
                  </a:lnTo>
                  <a:lnTo>
                    <a:pt x="76" y="100"/>
                  </a:lnTo>
                  <a:lnTo>
                    <a:pt x="67" y="84"/>
                  </a:lnTo>
                  <a:lnTo>
                    <a:pt x="58" y="67"/>
                  </a:lnTo>
                  <a:lnTo>
                    <a:pt x="48" y="66"/>
                  </a:lnTo>
                  <a:lnTo>
                    <a:pt x="43" y="55"/>
                  </a:lnTo>
                  <a:lnTo>
                    <a:pt x="27" y="45"/>
                  </a:lnTo>
                  <a:lnTo>
                    <a:pt x="22" y="46"/>
                  </a:lnTo>
                  <a:lnTo>
                    <a:pt x="39" y="56"/>
                  </a:lnTo>
                  <a:lnTo>
                    <a:pt x="44" y="67"/>
                  </a:lnTo>
                  <a:lnTo>
                    <a:pt x="45" y="70"/>
                  </a:lnTo>
                  <a:lnTo>
                    <a:pt x="42" y="85"/>
                  </a:lnTo>
                  <a:lnTo>
                    <a:pt x="38" y="80"/>
                  </a:lnTo>
                  <a:lnTo>
                    <a:pt x="36" y="80"/>
                  </a:lnTo>
                  <a:lnTo>
                    <a:pt x="32" y="84"/>
                  </a:lnTo>
                  <a:lnTo>
                    <a:pt x="28" y="8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 name="Freeform 41"/>
            <p:cNvSpPr>
              <a:spLocks/>
            </p:cNvSpPr>
            <p:nvPr/>
          </p:nvSpPr>
          <p:spPr bwMode="auto">
            <a:xfrm>
              <a:off x="4046" y="2143"/>
              <a:ext cx="56" cy="27"/>
            </a:xfrm>
            <a:custGeom>
              <a:avLst/>
              <a:gdLst/>
              <a:ahLst/>
              <a:cxnLst>
                <a:cxn ang="0">
                  <a:pos x="33" y="2"/>
                </a:cxn>
                <a:cxn ang="0">
                  <a:pos x="11" y="0"/>
                </a:cxn>
                <a:cxn ang="0">
                  <a:pos x="0" y="15"/>
                </a:cxn>
                <a:cxn ang="0">
                  <a:pos x="3" y="22"/>
                </a:cxn>
                <a:cxn ang="0">
                  <a:pos x="22" y="25"/>
                </a:cxn>
                <a:cxn ang="0">
                  <a:pos x="36" y="24"/>
                </a:cxn>
                <a:cxn ang="0">
                  <a:pos x="51" y="22"/>
                </a:cxn>
                <a:cxn ang="0">
                  <a:pos x="45" y="13"/>
                </a:cxn>
                <a:cxn ang="0">
                  <a:pos x="40" y="7"/>
                </a:cxn>
                <a:cxn ang="0">
                  <a:pos x="33" y="2"/>
                </a:cxn>
              </a:cxnLst>
              <a:rect l="0" t="0" r="r" b="b"/>
              <a:pathLst>
                <a:path w="51" h="25">
                  <a:moveTo>
                    <a:pt x="33" y="2"/>
                  </a:moveTo>
                  <a:lnTo>
                    <a:pt x="11" y="0"/>
                  </a:lnTo>
                  <a:lnTo>
                    <a:pt x="0" y="15"/>
                  </a:lnTo>
                  <a:lnTo>
                    <a:pt x="3" y="22"/>
                  </a:lnTo>
                  <a:lnTo>
                    <a:pt x="22" y="25"/>
                  </a:lnTo>
                  <a:lnTo>
                    <a:pt x="36" y="24"/>
                  </a:lnTo>
                  <a:lnTo>
                    <a:pt x="51" y="22"/>
                  </a:lnTo>
                  <a:lnTo>
                    <a:pt x="45" y="13"/>
                  </a:lnTo>
                  <a:lnTo>
                    <a:pt x="40" y="7"/>
                  </a:lnTo>
                  <a:lnTo>
                    <a:pt x="3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 name="Freeform 42"/>
            <p:cNvSpPr>
              <a:spLocks/>
            </p:cNvSpPr>
            <p:nvPr/>
          </p:nvSpPr>
          <p:spPr bwMode="auto">
            <a:xfrm>
              <a:off x="4320" y="2412"/>
              <a:ext cx="93" cy="84"/>
            </a:xfrm>
            <a:custGeom>
              <a:avLst/>
              <a:gdLst/>
              <a:ahLst/>
              <a:cxnLst>
                <a:cxn ang="0">
                  <a:pos x="59" y="56"/>
                </a:cxn>
                <a:cxn ang="0">
                  <a:pos x="64" y="70"/>
                </a:cxn>
                <a:cxn ang="0">
                  <a:pos x="52" y="68"/>
                </a:cxn>
                <a:cxn ang="0">
                  <a:pos x="48" y="71"/>
                </a:cxn>
                <a:cxn ang="0">
                  <a:pos x="39" y="77"/>
                </a:cxn>
                <a:cxn ang="0">
                  <a:pos x="29" y="74"/>
                </a:cxn>
                <a:cxn ang="0">
                  <a:pos x="24" y="72"/>
                </a:cxn>
                <a:cxn ang="0">
                  <a:pos x="22" y="64"/>
                </a:cxn>
                <a:cxn ang="0">
                  <a:pos x="17" y="68"/>
                </a:cxn>
                <a:cxn ang="0">
                  <a:pos x="14" y="56"/>
                </a:cxn>
                <a:cxn ang="0">
                  <a:pos x="12" y="55"/>
                </a:cxn>
                <a:cxn ang="0">
                  <a:pos x="6" y="41"/>
                </a:cxn>
                <a:cxn ang="0">
                  <a:pos x="0" y="25"/>
                </a:cxn>
                <a:cxn ang="0">
                  <a:pos x="11" y="7"/>
                </a:cxn>
                <a:cxn ang="0">
                  <a:pos x="27" y="7"/>
                </a:cxn>
                <a:cxn ang="0">
                  <a:pos x="44" y="6"/>
                </a:cxn>
                <a:cxn ang="0">
                  <a:pos x="57" y="13"/>
                </a:cxn>
                <a:cxn ang="0">
                  <a:pos x="57" y="8"/>
                </a:cxn>
                <a:cxn ang="0">
                  <a:pos x="63" y="4"/>
                </a:cxn>
                <a:cxn ang="0">
                  <a:pos x="69" y="6"/>
                </a:cxn>
                <a:cxn ang="0">
                  <a:pos x="80" y="0"/>
                </a:cxn>
                <a:cxn ang="0">
                  <a:pos x="81" y="16"/>
                </a:cxn>
                <a:cxn ang="0">
                  <a:pos x="82" y="30"/>
                </a:cxn>
                <a:cxn ang="0">
                  <a:pos x="83" y="44"/>
                </a:cxn>
                <a:cxn ang="0">
                  <a:pos x="68" y="52"/>
                </a:cxn>
                <a:cxn ang="0">
                  <a:pos x="59" y="56"/>
                </a:cxn>
              </a:cxnLst>
              <a:rect l="0" t="0" r="r" b="b"/>
              <a:pathLst>
                <a:path w="83" h="77">
                  <a:moveTo>
                    <a:pt x="59" y="56"/>
                  </a:moveTo>
                  <a:lnTo>
                    <a:pt x="64" y="70"/>
                  </a:lnTo>
                  <a:lnTo>
                    <a:pt x="52" y="68"/>
                  </a:lnTo>
                  <a:lnTo>
                    <a:pt x="48" y="71"/>
                  </a:lnTo>
                  <a:lnTo>
                    <a:pt x="39" y="77"/>
                  </a:lnTo>
                  <a:lnTo>
                    <a:pt x="29" y="74"/>
                  </a:lnTo>
                  <a:lnTo>
                    <a:pt x="24" y="72"/>
                  </a:lnTo>
                  <a:lnTo>
                    <a:pt x="22" y="64"/>
                  </a:lnTo>
                  <a:lnTo>
                    <a:pt x="17" y="68"/>
                  </a:lnTo>
                  <a:lnTo>
                    <a:pt x="14" y="56"/>
                  </a:lnTo>
                  <a:lnTo>
                    <a:pt x="12" y="55"/>
                  </a:lnTo>
                  <a:lnTo>
                    <a:pt x="6" y="41"/>
                  </a:lnTo>
                  <a:lnTo>
                    <a:pt x="0" y="25"/>
                  </a:lnTo>
                  <a:lnTo>
                    <a:pt x="11" y="7"/>
                  </a:lnTo>
                  <a:lnTo>
                    <a:pt x="27" y="7"/>
                  </a:lnTo>
                  <a:lnTo>
                    <a:pt x="44" y="6"/>
                  </a:lnTo>
                  <a:lnTo>
                    <a:pt x="57" y="13"/>
                  </a:lnTo>
                  <a:lnTo>
                    <a:pt x="57" y="8"/>
                  </a:lnTo>
                  <a:lnTo>
                    <a:pt x="63" y="4"/>
                  </a:lnTo>
                  <a:lnTo>
                    <a:pt x="69" y="6"/>
                  </a:lnTo>
                  <a:lnTo>
                    <a:pt x="80" y="0"/>
                  </a:lnTo>
                  <a:lnTo>
                    <a:pt x="81" y="16"/>
                  </a:lnTo>
                  <a:lnTo>
                    <a:pt x="82" y="30"/>
                  </a:lnTo>
                  <a:lnTo>
                    <a:pt x="83" y="44"/>
                  </a:lnTo>
                  <a:lnTo>
                    <a:pt x="68" y="52"/>
                  </a:lnTo>
                  <a:lnTo>
                    <a:pt x="59"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 name="Freeform 43"/>
            <p:cNvSpPr>
              <a:spLocks/>
            </p:cNvSpPr>
            <p:nvPr/>
          </p:nvSpPr>
          <p:spPr bwMode="auto">
            <a:xfrm>
              <a:off x="4493" y="2261"/>
              <a:ext cx="5" cy="2"/>
            </a:xfrm>
            <a:custGeom>
              <a:avLst/>
              <a:gdLst/>
              <a:ahLst/>
              <a:cxnLst>
                <a:cxn ang="0">
                  <a:pos x="4" y="0"/>
                </a:cxn>
                <a:cxn ang="0">
                  <a:pos x="3" y="1"/>
                </a:cxn>
                <a:cxn ang="0">
                  <a:pos x="0" y="1"/>
                </a:cxn>
                <a:cxn ang="0">
                  <a:pos x="4" y="0"/>
                </a:cxn>
              </a:cxnLst>
              <a:rect l="0" t="0" r="r" b="b"/>
              <a:pathLst>
                <a:path w="4" h="1">
                  <a:moveTo>
                    <a:pt x="4" y="0"/>
                  </a:moveTo>
                  <a:lnTo>
                    <a:pt x="3" y="1"/>
                  </a:lnTo>
                  <a:lnTo>
                    <a:pt x="0" y="1"/>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5" name="Freeform 44"/>
            <p:cNvSpPr>
              <a:spLocks/>
            </p:cNvSpPr>
            <p:nvPr/>
          </p:nvSpPr>
          <p:spPr bwMode="auto">
            <a:xfrm>
              <a:off x="4262" y="2259"/>
              <a:ext cx="147" cy="168"/>
            </a:xfrm>
            <a:custGeom>
              <a:avLst/>
              <a:gdLst/>
              <a:ahLst/>
              <a:cxnLst>
                <a:cxn ang="0">
                  <a:pos x="74" y="38"/>
                </a:cxn>
                <a:cxn ang="0">
                  <a:pos x="69" y="34"/>
                </a:cxn>
                <a:cxn ang="0">
                  <a:pos x="60" y="25"/>
                </a:cxn>
                <a:cxn ang="0">
                  <a:pos x="53" y="29"/>
                </a:cxn>
                <a:cxn ang="0">
                  <a:pos x="41" y="19"/>
                </a:cxn>
                <a:cxn ang="0">
                  <a:pos x="38" y="12"/>
                </a:cxn>
                <a:cxn ang="0">
                  <a:pos x="26" y="0"/>
                </a:cxn>
                <a:cxn ang="0">
                  <a:pos x="18" y="0"/>
                </a:cxn>
                <a:cxn ang="0">
                  <a:pos x="21" y="22"/>
                </a:cxn>
                <a:cxn ang="0">
                  <a:pos x="15" y="18"/>
                </a:cxn>
                <a:cxn ang="0">
                  <a:pos x="13" y="14"/>
                </a:cxn>
                <a:cxn ang="0">
                  <a:pos x="6" y="28"/>
                </a:cxn>
                <a:cxn ang="0">
                  <a:pos x="0" y="36"/>
                </a:cxn>
                <a:cxn ang="0">
                  <a:pos x="6" y="38"/>
                </a:cxn>
                <a:cxn ang="0">
                  <a:pos x="7" y="49"/>
                </a:cxn>
                <a:cxn ang="0">
                  <a:pos x="19" y="50"/>
                </a:cxn>
                <a:cxn ang="0">
                  <a:pos x="20" y="68"/>
                </a:cxn>
                <a:cxn ang="0">
                  <a:pos x="21" y="86"/>
                </a:cxn>
                <a:cxn ang="0">
                  <a:pos x="36" y="76"/>
                </a:cxn>
                <a:cxn ang="0">
                  <a:pos x="45" y="79"/>
                </a:cxn>
                <a:cxn ang="0">
                  <a:pos x="53" y="77"/>
                </a:cxn>
                <a:cxn ang="0">
                  <a:pos x="60" y="72"/>
                </a:cxn>
                <a:cxn ang="0">
                  <a:pos x="79" y="88"/>
                </a:cxn>
                <a:cxn ang="0">
                  <a:pos x="81" y="101"/>
                </a:cxn>
                <a:cxn ang="0">
                  <a:pos x="96" y="119"/>
                </a:cxn>
                <a:cxn ang="0">
                  <a:pos x="99" y="134"/>
                </a:cxn>
                <a:cxn ang="0">
                  <a:pos x="95" y="144"/>
                </a:cxn>
                <a:cxn ang="0">
                  <a:pos x="108" y="151"/>
                </a:cxn>
                <a:cxn ang="0">
                  <a:pos x="108" y="146"/>
                </a:cxn>
                <a:cxn ang="0">
                  <a:pos x="114" y="142"/>
                </a:cxn>
                <a:cxn ang="0">
                  <a:pos x="120" y="144"/>
                </a:cxn>
                <a:cxn ang="0">
                  <a:pos x="131" y="138"/>
                </a:cxn>
                <a:cxn ang="0">
                  <a:pos x="128" y="124"/>
                </a:cxn>
                <a:cxn ang="0">
                  <a:pos x="123" y="118"/>
                </a:cxn>
                <a:cxn ang="0">
                  <a:pos x="125" y="114"/>
                </a:cxn>
                <a:cxn ang="0">
                  <a:pos x="110" y="102"/>
                </a:cxn>
                <a:cxn ang="0">
                  <a:pos x="103" y="92"/>
                </a:cxn>
                <a:cxn ang="0">
                  <a:pos x="93" y="80"/>
                </a:cxn>
                <a:cxn ang="0">
                  <a:pos x="84" y="68"/>
                </a:cxn>
                <a:cxn ang="0">
                  <a:pos x="63" y="53"/>
                </a:cxn>
                <a:cxn ang="0">
                  <a:pos x="67" y="48"/>
                </a:cxn>
                <a:cxn ang="0">
                  <a:pos x="75" y="46"/>
                </a:cxn>
                <a:cxn ang="0">
                  <a:pos x="74" y="38"/>
                </a:cxn>
              </a:cxnLst>
              <a:rect l="0" t="0" r="r" b="b"/>
              <a:pathLst>
                <a:path w="131" h="151">
                  <a:moveTo>
                    <a:pt x="74" y="38"/>
                  </a:moveTo>
                  <a:lnTo>
                    <a:pt x="69" y="34"/>
                  </a:lnTo>
                  <a:lnTo>
                    <a:pt x="60" y="25"/>
                  </a:lnTo>
                  <a:lnTo>
                    <a:pt x="53" y="29"/>
                  </a:lnTo>
                  <a:lnTo>
                    <a:pt x="41" y="19"/>
                  </a:lnTo>
                  <a:lnTo>
                    <a:pt x="38" y="12"/>
                  </a:lnTo>
                  <a:lnTo>
                    <a:pt x="26" y="0"/>
                  </a:lnTo>
                  <a:lnTo>
                    <a:pt x="18" y="0"/>
                  </a:lnTo>
                  <a:lnTo>
                    <a:pt x="21" y="22"/>
                  </a:lnTo>
                  <a:lnTo>
                    <a:pt x="15" y="18"/>
                  </a:lnTo>
                  <a:lnTo>
                    <a:pt x="13" y="14"/>
                  </a:lnTo>
                  <a:lnTo>
                    <a:pt x="6" y="28"/>
                  </a:lnTo>
                  <a:lnTo>
                    <a:pt x="0" y="36"/>
                  </a:lnTo>
                  <a:lnTo>
                    <a:pt x="6" y="38"/>
                  </a:lnTo>
                  <a:lnTo>
                    <a:pt x="7" y="49"/>
                  </a:lnTo>
                  <a:lnTo>
                    <a:pt x="19" y="50"/>
                  </a:lnTo>
                  <a:lnTo>
                    <a:pt x="20" y="68"/>
                  </a:lnTo>
                  <a:lnTo>
                    <a:pt x="21" y="86"/>
                  </a:lnTo>
                  <a:lnTo>
                    <a:pt x="36" y="76"/>
                  </a:lnTo>
                  <a:lnTo>
                    <a:pt x="45" y="79"/>
                  </a:lnTo>
                  <a:lnTo>
                    <a:pt x="53" y="77"/>
                  </a:lnTo>
                  <a:lnTo>
                    <a:pt x="60" y="72"/>
                  </a:lnTo>
                  <a:lnTo>
                    <a:pt x="79" y="88"/>
                  </a:lnTo>
                  <a:lnTo>
                    <a:pt x="81" y="101"/>
                  </a:lnTo>
                  <a:lnTo>
                    <a:pt x="96" y="119"/>
                  </a:lnTo>
                  <a:lnTo>
                    <a:pt x="99" y="134"/>
                  </a:lnTo>
                  <a:lnTo>
                    <a:pt x="95" y="144"/>
                  </a:lnTo>
                  <a:lnTo>
                    <a:pt x="108" y="151"/>
                  </a:lnTo>
                  <a:lnTo>
                    <a:pt x="108" y="146"/>
                  </a:lnTo>
                  <a:lnTo>
                    <a:pt x="114" y="142"/>
                  </a:lnTo>
                  <a:lnTo>
                    <a:pt x="120" y="144"/>
                  </a:lnTo>
                  <a:lnTo>
                    <a:pt x="131" y="138"/>
                  </a:lnTo>
                  <a:lnTo>
                    <a:pt x="128" y="124"/>
                  </a:lnTo>
                  <a:lnTo>
                    <a:pt x="123" y="118"/>
                  </a:lnTo>
                  <a:lnTo>
                    <a:pt x="125" y="114"/>
                  </a:lnTo>
                  <a:lnTo>
                    <a:pt x="110" y="102"/>
                  </a:lnTo>
                  <a:lnTo>
                    <a:pt x="103" y="92"/>
                  </a:lnTo>
                  <a:lnTo>
                    <a:pt x="93" y="80"/>
                  </a:lnTo>
                  <a:lnTo>
                    <a:pt x="84" y="68"/>
                  </a:lnTo>
                  <a:lnTo>
                    <a:pt x="63" y="53"/>
                  </a:lnTo>
                  <a:lnTo>
                    <a:pt x="67" y="48"/>
                  </a:lnTo>
                  <a:lnTo>
                    <a:pt x="75" y="46"/>
                  </a:lnTo>
                  <a:lnTo>
                    <a:pt x="74"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6" name="Freeform 45"/>
            <p:cNvSpPr>
              <a:spLocks/>
            </p:cNvSpPr>
            <p:nvPr/>
          </p:nvSpPr>
          <p:spPr bwMode="auto">
            <a:xfrm>
              <a:off x="4124" y="2136"/>
              <a:ext cx="154" cy="367"/>
            </a:xfrm>
            <a:custGeom>
              <a:avLst/>
              <a:gdLst/>
              <a:ahLst/>
              <a:cxnLst>
                <a:cxn ang="0">
                  <a:pos x="76" y="81"/>
                </a:cxn>
                <a:cxn ang="0">
                  <a:pos x="74" y="66"/>
                </a:cxn>
                <a:cxn ang="0">
                  <a:pos x="84" y="45"/>
                </a:cxn>
                <a:cxn ang="0">
                  <a:pos x="78" y="16"/>
                </a:cxn>
                <a:cxn ang="0">
                  <a:pos x="58" y="0"/>
                </a:cxn>
                <a:cxn ang="0">
                  <a:pos x="54" y="14"/>
                </a:cxn>
                <a:cxn ang="0">
                  <a:pos x="55" y="25"/>
                </a:cxn>
                <a:cxn ang="0">
                  <a:pos x="29" y="38"/>
                </a:cxn>
                <a:cxn ang="0">
                  <a:pos x="28" y="61"/>
                </a:cxn>
                <a:cxn ang="0">
                  <a:pos x="11" y="82"/>
                </a:cxn>
                <a:cxn ang="0">
                  <a:pos x="10" y="117"/>
                </a:cxn>
                <a:cxn ang="0">
                  <a:pos x="4" y="117"/>
                </a:cxn>
                <a:cxn ang="0">
                  <a:pos x="0" y="132"/>
                </a:cxn>
                <a:cxn ang="0">
                  <a:pos x="11" y="148"/>
                </a:cxn>
                <a:cxn ang="0">
                  <a:pos x="18" y="156"/>
                </a:cxn>
                <a:cxn ang="0">
                  <a:pos x="26" y="156"/>
                </a:cxn>
                <a:cxn ang="0">
                  <a:pos x="26" y="165"/>
                </a:cxn>
                <a:cxn ang="0">
                  <a:pos x="34" y="165"/>
                </a:cxn>
                <a:cxn ang="0">
                  <a:pos x="44" y="194"/>
                </a:cxn>
                <a:cxn ang="0">
                  <a:pos x="43" y="224"/>
                </a:cxn>
                <a:cxn ang="0">
                  <a:pos x="52" y="225"/>
                </a:cxn>
                <a:cxn ang="0">
                  <a:pos x="58" y="226"/>
                </a:cxn>
                <a:cxn ang="0">
                  <a:pos x="61" y="228"/>
                </a:cxn>
                <a:cxn ang="0">
                  <a:pos x="74" y="213"/>
                </a:cxn>
                <a:cxn ang="0">
                  <a:pos x="83" y="201"/>
                </a:cxn>
                <a:cxn ang="0">
                  <a:pos x="96" y="216"/>
                </a:cxn>
                <a:cxn ang="0">
                  <a:pos x="109" y="266"/>
                </a:cxn>
                <a:cxn ang="0">
                  <a:pos x="115" y="274"/>
                </a:cxn>
                <a:cxn ang="0">
                  <a:pos x="122" y="301"/>
                </a:cxn>
                <a:cxn ang="0">
                  <a:pos x="121" y="330"/>
                </a:cxn>
                <a:cxn ang="0">
                  <a:pos x="131" y="314"/>
                </a:cxn>
                <a:cxn ang="0">
                  <a:pos x="131" y="285"/>
                </a:cxn>
                <a:cxn ang="0">
                  <a:pos x="119" y="259"/>
                </a:cxn>
                <a:cxn ang="0">
                  <a:pos x="110" y="237"/>
                </a:cxn>
                <a:cxn ang="0">
                  <a:pos x="116" y="219"/>
                </a:cxn>
                <a:cxn ang="0">
                  <a:pos x="100" y="199"/>
                </a:cxn>
                <a:cxn ang="0">
                  <a:pos x="91" y="180"/>
                </a:cxn>
                <a:cxn ang="0">
                  <a:pos x="109" y="157"/>
                </a:cxn>
                <a:cxn ang="0">
                  <a:pos x="125" y="146"/>
                </a:cxn>
                <a:cxn ang="0">
                  <a:pos x="138" y="124"/>
                </a:cxn>
                <a:cxn ang="0">
                  <a:pos x="122" y="126"/>
                </a:cxn>
                <a:cxn ang="0">
                  <a:pos x="106" y="112"/>
                </a:cxn>
                <a:cxn ang="0">
                  <a:pos x="97" y="93"/>
                </a:cxn>
                <a:cxn ang="0">
                  <a:pos x="92" y="79"/>
                </a:cxn>
              </a:cxnLst>
              <a:rect l="0" t="0" r="r" b="b"/>
              <a:pathLst>
                <a:path w="138" h="330">
                  <a:moveTo>
                    <a:pt x="92" y="79"/>
                  </a:moveTo>
                  <a:lnTo>
                    <a:pt x="76" y="81"/>
                  </a:lnTo>
                  <a:lnTo>
                    <a:pt x="76" y="73"/>
                  </a:lnTo>
                  <a:lnTo>
                    <a:pt x="74" y="66"/>
                  </a:lnTo>
                  <a:lnTo>
                    <a:pt x="82" y="54"/>
                  </a:lnTo>
                  <a:lnTo>
                    <a:pt x="84" y="45"/>
                  </a:lnTo>
                  <a:lnTo>
                    <a:pt x="80" y="31"/>
                  </a:lnTo>
                  <a:lnTo>
                    <a:pt x="78" y="16"/>
                  </a:lnTo>
                  <a:lnTo>
                    <a:pt x="71" y="13"/>
                  </a:lnTo>
                  <a:lnTo>
                    <a:pt x="58" y="0"/>
                  </a:lnTo>
                  <a:lnTo>
                    <a:pt x="56" y="6"/>
                  </a:lnTo>
                  <a:lnTo>
                    <a:pt x="54" y="14"/>
                  </a:lnTo>
                  <a:lnTo>
                    <a:pt x="53" y="19"/>
                  </a:lnTo>
                  <a:lnTo>
                    <a:pt x="55" y="25"/>
                  </a:lnTo>
                  <a:lnTo>
                    <a:pt x="43" y="22"/>
                  </a:lnTo>
                  <a:lnTo>
                    <a:pt x="29" y="38"/>
                  </a:lnTo>
                  <a:lnTo>
                    <a:pt x="29" y="52"/>
                  </a:lnTo>
                  <a:lnTo>
                    <a:pt x="28" y="61"/>
                  </a:lnTo>
                  <a:lnTo>
                    <a:pt x="20" y="82"/>
                  </a:lnTo>
                  <a:lnTo>
                    <a:pt x="11" y="82"/>
                  </a:lnTo>
                  <a:lnTo>
                    <a:pt x="11" y="98"/>
                  </a:lnTo>
                  <a:lnTo>
                    <a:pt x="10" y="117"/>
                  </a:lnTo>
                  <a:lnTo>
                    <a:pt x="5" y="116"/>
                  </a:lnTo>
                  <a:lnTo>
                    <a:pt x="4" y="117"/>
                  </a:lnTo>
                  <a:lnTo>
                    <a:pt x="5" y="128"/>
                  </a:lnTo>
                  <a:lnTo>
                    <a:pt x="0" y="132"/>
                  </a:lnTo>
                  <a:lnTo>
                    <a:pt x="11" y="147"/>
                  </a:lnTo>
                  <a:lnTo>
                    <a:pt x="11" y="148"/>
                  </a:lnTo>
                  <a:lnTo>
                    <a:pt x="14" y="145"/>
                  </a:lnTo>
                  <a:lnTo>
                    <a:pt x="18" y="156"/>
                  </a:lnTo>
                  <a:lnTo>
                    <a:pt x="19" y="156"/>
                  </a:lnTo>
                  <a:lnTo>
                    <a:pt x="26" y="156"/>
                  </a:lnTo>
                  <a:lnTo>
                    <a:pt x="31" y="163"/>
                  </a:lnTo>
                  <a:lnTo>
                    <a:pt x="26" y="165"/>
                  </a:lnTo>
                  <a:lnTo>
                    <a:pt x="31" y="172"/>
                  </a:lnTo>
                  <a:lnTo>
                    <a:pt x="34" y="165"/>
                  </a:lnTo>
                  <a:lnTo>
                    <a:pt x="40" y="180"/>
                  </a:lnTo>
                  <a:lnTo>
                    <a:pt x="44" y="194"/>
                  </a:lnTo>
                  <a:lnTo>
                    <a:pt x="44" y="208"/>
                  </a:lnTo>
                  <a:lnTo>
                    <a:pt x="43" y="224"/>
                  </a:lnTo>
                  <a:lnTo>
                    <a:pt x="49" y="216"/>
                  </a:lnTo>
                  <a:lnTo>
                    <a:pt x="52" y="225"/>
                  </a:lnTo>
                  <a:lnTo>
                    <a:pt x="54" y="228"/>
                  </a:lnTo>
                  <a:lnTo>
                    <a:pt x="58" y="226"/>
                  </a:lnTo>
                  <a:lnTo>
                    <a:pt x="61" y="225"/>
                  </a:lnTo>
                  <a:lnTo>
                    <a:pt x="61" y="228"/>
                  </a:lnTo>
                  <a:lnTo>
                    <a:pt x="72" y="218"/>
                  </a:lnTo>
                  <a:lnTo>
                    <a:pt x="74" y="213"/>
                  </a:lnTo>
                  <a:lnTo>
                    <a:pt x="78" y="216"/>
                  </a:lnTo>
                  <a:lnTo>
                    <a:pt x="83" y="201"/>
                  </a:lnTo>
                  <a:lnTo>
                    <a:pt x="89" y="210"/>
                  </a:lnTo>
                  <a:lnTo>
                    <a:pt x="96" y="216"/>
                  </a:lnTo>
                  <a:lnTo>
                    <a:pt x="103" y="241"/>
                  </a:lnTo>
                  <a:lnTo>
                    <a:pt x="109" y="266"/>
                  </a:lnTo>
                  <a:lnTo>
                    <a:pt x="110" y="261"/>
                  </a:lnTo>
                  <a:lnTo>
                    <a:pt x="115" y="274"/>
                  </a:lnTo>
                  <a:lnTo>
                    <a:pt x="120" y="288"/>
                  </a:lnTo>
                  <a:lnTo>
                    <a:pt x="122" y="301"/>
                  </a:lnTo>
                  <a:lnTo>
                    <a:pt x="122" y="316"/>
                  </a:lnTo>
                  <a:lnTo>
                    <a:pt x="121" y="330"/>
                  </a:lnTo>
                  <a:lnTo>
                    <a:pt x="125" y="326"/>
                  </a:lnTo>
                  <a:lnTo>
                    <a:pt x="131" y="314"/>
                  </a:lnTo>
                  <a:lnTo>
                    <a:pt x="136" y="303"/>
                  </a:lnTo>
                  <a:lnTo>
                    <a:pt x="131" y="285"/>
                  </a:lnTo>
                  <a:lnTo>
                    <a:pt x="127" y="270"/>
                  </a:lnTo>
                  <a:lnTo>
                    <a:pt x="119" y="259"/>
                  </a:lnTo>
                  <a:lnTo>
                    <a:pt x="110" y="248"/>
                  </a:lnTo>
                  <a:lnTo>
                    <a:pt x="110" y="237"/>
                  </a:lnTo>
                  <a:lnTo>
                    <a:pt x="113" y="230"/>
                  </a:lnTo>
                  <a:lnTo>
                    <a:pt x="116" y="219"/>
                  </a:lnTo>
                  <a:lnTo>
                    <a:pt x="113" y="218"/>
                  </a:lnTo>
                  <a:lnTo>
                    <a:pt x="100" y="199"/>
                  </a:lnTo>
                  <a:lnTo>
                    <a:pt x="86" y="178"/>
                  </a:lnTo>
                  <a:lnTo>
                    <a:pt x="91" y="180"/>
                  </a:lnTo>
                  <a:lnTo>
                    <a:pt x="95" y="159"/>
                  </a:lnTo>
                  <a:lnTo>
                    <a:pt x="109" y="157"/>
                  </a:lnTo>
                  <a:lnTo>
                    <a:pt x="116" y="148"/>
                  </a:lnTo>
                  <a:lnTo>
                    <a:pt x="125" y="146"/>
                  </a:lnTo>
                  <a:lnTo>
                    <a:pt x="131" y="138"/>
                  </a:lnTo>
                  <a:lnTo>
                    <a:pt x="138" y="124"/>
                  </a:lnTo>
                  <a:lnTo>
                    <a:pt x="133" y="122"/>
                  </a:lnTo>
                  <a:lnTo>
                    <a:pt x="122" y="126"/>
                  </a:lnTo>
                  <a:lnTo>
                    <a:pt x="114" y="116"/>
                  </a:lnTo>
                  <a:lnTo>
                    <a:pt x="106" y="112"/>
                  </a:lnTo>
                  <a:lnTo>
                    <a:pt x="108" y="98"/>
                  </a:lnTo>
                  <a:lnTo>
                    <a:pt x="97" y="93"/>
                  </a:lnTo>
                  <a:lnTo>
                    <a:pt x="94" y="81"/>
                  </a:lnTo>
                  <a:lnTo>
                    <a:pt x="92" y="7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7" name="Freeform 46"/>
            <p:cNvSpPr>
              <a:spLocks/>
            </p:cNvSpPr>
            <p:nvPr/>
          </p:nvSpPr>
          <p:spPr bwMode="auto">
            <a:xfrm>
              <a:off x="4620" y="2334"/>
              <a:ext cx="82" cy="120"/>
            </a:xfrm>
            <a:custGeom>
              <a:avLst/>
              <a:gdLst/>
              <a:ahLst/>
              <a:cxnLst>
                <a:cxn ang="0">
                  <a:pos x="15" y="69"/>
                </a:cxn>
                <a:cxn ang="0">
                  <a:pos x="15" y="76"/>
                </a:cxn>
                <a:cxn ang="0">
                  <a:pos x="4" y="58"/>
                </a:cxn>
                <a:cxn ang="0">
                  <a:pos x="0" y="43"/>
                </a:cxn>
                <a:cxn ang="0">
                  <a:pos x="9" y="45"/>
                </a:cxn>
                <a:cxn ang="0">
                  <a:pos x="6" y="27"/>
                </a:cxn>
                <a:cxn ang="0">
                  <a:pos x="5" y="7"/>
                </a:cxn>
                <a:cxn ang="0">
                  <a:pos x="9" y="0"/>
                </a:cxn>
                <a:cxn ang="0">
                  <a:pos x="29" y="5"/>
                </a:cxn>
                <a:cxn ang="0">
                  <a:pos x="31" y="9"/>
                </a:cxn>
                <a:cxn ang="0">
                  <a:pos x="36" y="23"/>
                </a:cxn>
                <a:cxn ang="0">
                  <a:pos x="39" y="34"/>
                </a:cxn>
                <a:cxn ang="0">
                  <a:pos x="35" y="45"/>
                </a:cxn>
                <a:cxn ang="0">
                  <a:pos x="29" y="52"/>
                </a:cxn>
                <a:cxn ang="0">
                  <a:pos x="29" y="65"/>
                </a:cxn>
                <a:cxn ang="0">
                  <a:pos x="39" y="84"/>
                </a:cxn>
                <a:cxn ang="0">
                  <a:pos x="43" y="83"/>
                </a:cxn>
                <a:cxn ang="0">
                  <a:pos x="45" y="81"/>
                </a:cxn>
                <a:cxn ang="0">
                  <a:pos x="53" y="78"/>
                </a:cxn>
                <a:cxn ang="0">
                  <a:pos x="60" y="88"/>
                </a:cxn>
                <a:cxn ang="0">
                  <a:pos x="61" y="84"/>
                </a:cxn>
                <a:cxn ang="0">
                  <a:pos x="69" y="89"/>
                </a:cxn>
                <a:cxn ang="0">
                  <a:pos x="65" y="91"/>
                </a:cxn>
                <a:cxn ang="0">
                  <a:pos x="72" y="100"/>
                </a:cxn>
                <a:cxn ang="0">
                  <a:pos x="76" y="101"/>
                </a:cxn>
                <a:cxn ang="0">
                  <a:pos x="72" y="108"/>
                </a:cxn>
                <a:cxn ang="0">
                  <a:pos x="72" y="103"/>
                </a:cxn>
                <a:cxn ang="0">
                  <a:pos x="61" y="97"/>
                </a:cxn>
                <a:cxn ang="0">
                  <a:pos x="54" y="89"/>
                </a:cxn>
                <a:cxn ang="0">
                  <a:pos x="48" y="87"/>
                </a:cxn>
                <a:cxn ang="0">
                  <a:pos x="51" y="99"/>
                </a:cxn>
                <a:cxn ang="0">
                  <a:pos x="35" y="85"/>
                </a:cxn>
                <a:cxn ang="0">
                  <a:pos x="25" y="90"/>
                </a:cxn>
                <a:cxn ang="0">
                  <a:pos x="18" y="87"/>
                </a:cxn>
                <a:cxn ang="0">
                  <a:pos x="18" y="78"/>
                </a:cxn>
                <a:cxn ang="0">
                  <a:pos x="21" y="71"/>
                </a:cxn>
                <a:cxn ang="0">
                  <a:pos x="15" y="69"/>
                </a:cxn>
              </a:cxnLst>
              <a:rect l="0" t="0" r="r" b="b"/>
              <a:pathLst>
                <a:path w="76" h="108">
                  <a:moveTo>
                    <a:pt x="15" y="69"/>
                  </a:moveTo>
                  <a:lnTo>
                    <a:pt x="15" y="76"/>
                  </a:lnTo>
                  <a:lnTo>
                    <a:pt x="4" y="58"/>
                  </a:lnTo>
                  <a:lnTo>
                    <a:pt x="0" y="43"/>
                  </a:lnTo>
                  <a:lnTo>
                    <a:pt x="9" y="45"/>
                  </a:lnTo>
                  <a:lnTo>
                    <a:pt x="6" y="27"/>
                  </a:lnTo>
                  <a:lnTo>
                    <a:pt x="5" y="7"/>
                  </a:lnTo>
                  <a:lnTo>
                    <a:pt x="9" y="0"/>
                  </a:lnTo>
                  <a:lnTo>
                    <a:pt x="29" y="5"/>
                  </a:lnTo>
                  <a:lnTo>
                    <a:pt x="31" y="9"/>
                  </a:lnTo>
                  <a:lnTo>
                    <a:pt x="36" y="23"/>
                  </a:lnTo>
                  <a:lnTo>
                    <a:pt x="39" y="34"/>
                  </a:lnTo>
                  <a:lnTo>
                    <a:pt x="35" y="45"/>
                  </a:lnTo>
                  <a:lnTo>
                    <a:pt x="29" y="52"/>
                  </a:lnTo>
                  <a:lnTo>
                    <a:pt x="29" y="65"/>
                  </a:lnTo>
                  <a:lnTo>
                    <a:pt x="39" y="84"/>
                  </a:lnTo>
                  <a:lnTo>
                    <a:pt x="43" y="83"/>
                  </a:lnTo>
                  <a:lnTo>
                    <a:pt x="45" y="81"/>
                  </a:lnTo>
                  <a:lnTo>
                    <a:pt x="53" y="78"/>
                  </a:lnTo>
                  <a:lnTo>
                    <a:pt x="60" y="88"/>
                  </a:lnTo>
                  <a:lnTo>
                    <a:pt x="61" y="84"/>
                  </a:lnTo>
                  <a:lnTo>
                    <a:pt x="69" y="89"/>
                  </a:lnTo>
                  <a:lnTo>
                    <a:pt x="65" y="91"/>
                  </a:lnTo>
                  <a:lnTo>
                    <a:pt x="72" y="100"/>
                  </a:lnTo>
                  <a:lnTo>
                    <a:pt x="76" y="101"/>
                  </a:lnTo>
                  <a:lnTo>
                    <a:pt x="72" y="108"/>
                  </a:lnTo>
                  <a:lnTo>
                    <a:pt x="72" y="103"/>
                  </a:lnTo>
                  <a:lnTo>
                    <a:pt x="61" y="97"/>
                  </a:lnTo>
                  <a:lnTo>
                    <a:pt x="54" y="89"/>
                  </a:lnTo>
                  <a:lnTo>
                    <a:pt x="48" y="87"/>
                  </a:lnTo>
                  <a:lnTo>
                    <a:pt x="51" y="99"/>
                  </a:lnTo>
                  <a:lnTo>
                    <a:pt x="35" y="85"/>
                  </a:lnTo>
                  <a:lnTo>
                    <a:pt x="25" y="90"/>
                  </a:lnTo>
                  <a:lnTo>
                    <a:pt x="18" y="87"/>
                  </a:lnTo>
                  <a:lnTo>
                    <a:pt x="18" y="78"/>
                  </a:lnTo>
                  <a:lnTo>
                    <a:pt x="21" y="71"/>
                  </a:lnTo>
                  <a:lnTo>
                    <a:pt x="15"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8" name="Freeform 47"/>
            <p:cNvSpPr>
              <a:spLocks/>
            </p:cNvSpPr>
            <p:nvPr/>
          </p:nvSpPr>
          <p:spPr bwMode="auto">
            <a:xfrm>
              <a:off x="4675" y="2512"/>
              <a:ext cx="80" cy="82"/>
            </a:xfrm>
            <a:custGeom>
              <a:avLst/>
              <a:gdLst/>
              <a:ahLst/>
              <a:cxnLst>
                <a:cxn ang="0">
                  <a:pos x="56" y="73"/>
                </a:cxn>
                <a:cxn ang="0">
                  <a:pos x="54" y="66"/>
                </a:cxn>
                <a:cxn ang="0">
                  <a:pos x="51" y="68"/>
                </a:cxn>
                <a:cxn ang="0">
                  <a:pos x="33" y="58"/>
                </a:cxn>
                <a:cxn ang="0">
                  <a:pos x="36" y="43"/>
                </a:cxn>
                <a:cxn ang="0">
                  <a:pos x="26" y="34"/>
                </a:cxn>
                <a:cxn ang="0">
                  <a:pos x="22" y="38"/>
                </a:cxn>
                <a:cxn ang="0">
                  <a:pos x="19" y="37"/>
                </a:cxn>
                <a:cxn ang="0">
                  <a:pos x="16" y="40"/>
                </a:cxn>
                <a:cxn ang="0">
                  <a:pos x="12" y="35"/>
                </a:cxn>
                <a:cxn ang="0">
                  <a:pos x="4" y="44"/>
                </a:cxn>
                <a:cxn ang="0">
                  <a:pos x="0" y="49"/>
                </a:cxn>
                <a:cxn ang="0">
                  <a:pos x="2" y="36"/>
                </a:cxn>
                <a:cxn ang="0">
                  <a:pos x="14" y="25"/>
                </a:cxn>
                <a:cxn ang="0">
                  <a:pos x="24" y="19"/>
                </a:cxn>
                <a:cxn ang="0">
                  <a:pos x="27" y="29"/>
                </a:cxn>
                <a:cxn ang="0">
                  <a:pos x="34" y="25"/>
                </a:cxn>
                <a:cxn ang="0">
                  <a:pos x="39" y="22"/>
                </a:cxn>
                <a:cxn ang="0">
                  <a:pos x="42" y="13"/>
                </a:cxn>
                <a:cxn ang="0">
                  <a:pos x="49" y="13"/>
                </a:cxn>
                <a:cxn ang="0">
                  <a:pos x="52" y="13"/>
                </a:cxn>
                <a:cxn ang="0">
                  <a:pos x="51" y="0"/>
                </a:cxn>
                <a:cxn ang="0">
                  <a:pos x="63" y="8"/>
                </a:cxn>
                <a:cxn ang="0">
                  <a:pos x="66" y="22"/>
                </a:cxn>
                <a:cxn ang="0">
                  <a:pos x="73" y="43"/>
                </a:cxn>
                <a:cxn ang="0">
                  <a:pos x="69" y="52"/>
                </a:cxn>
                <a:cxn ang="0">
                  <a:pos x="68" y="59"/>
                </a:cxn>
                <a:cxn ang="0">
                  <a:pos x="61" y="44"/>
                </a:cxn>
                <a:cxn ang="0">
                  <a:pos x="56" y="48"/>
                </a:cxn>
                <a:cxn ang="0">
                  <a:pos x="58" y="60"/>
                </a:cxn>
                <a:cxn ang="0">
                  <a:pos x="56" y="73"/>
                </a:cxn>
              </a:cxnLst>
              <a:rect l="0" t="0" r="r" b="b"/>
              <a:pathLst>
                <a:path w="73" h="73">
                  <a:moveTo>
                    <a:pt x="56" y="73"/>
                  </a:moveTo>
                  <a:lnTo>
                    <a:pt x="54" y="66"/>
                  </a:lnTo>
                  <a:lnTo>
                    <a:pt x="51" y="68"/>
                  </a:lnTo>
                  <a:lnTo>
                    <a:pt x="33" y="58"/>
                  </a:lnTo>
                  <a:lnTo>
                    <a:pt x="36" y="43"/>
                  </a:lnTo>
                  <a:lnTo>
                    <a:pt x="26" y="34"/>
                  </a:lnTo>
                  <a:lnTo>
                    <a:pt x="22" y="38"/>
                  </a:lnTo>
                  <a:lnTo>
                    <a:pt x="19" y="37"/>
                  </a:lnTo>
                  <a:lnTo>
                    <a:pt x="16" y="40"/>
                  </a:lnTo>
                  <a:lnTo>
                    <a:pt x="12" y="35"/>
                  </a:lnTo>
                  <a:lnTo>
                    <a:pt x="4" y="44"/>
                  </a:lnTo>
                  <a:lnTo>
                    <a:pt x="0" y="49"/>
                  </a:lnTo>
                  <a:lnTo>
                    <a:pt x="2" y="36"/>
                  </a:lnTo>
                  <a:lnTo>
                    <a:pt x="14" y="25"/>
                  </a:lnTo>
                  <a:lnTo>
                    <a:pt x="24" y="19"/>
                  </a:lnTo>
                  <a:lnTo>
                    <a:pt x="27" y="29"/>
                  </a:lnTo>
                  <a:lnTo>
                    <a:pt x="34" y="25"/>
                  </a:lnTo>
                  <a:lnTo>
                    <a:pt x="39" y="22"/>
                  </a:lnTo>
                  <a:lnTo>
                    <a:pt x="42" y="13"/>
                  </a:lnTo>
                  <a:lnTo>
                    <a:pt x="49" y="13"/>
                  </a:lnTo>
                  <a:lnTo>
                    <a:pt x="52" y="13"/>
                  </a:lnTo>
                  <a:lnTo>
                    <a:pt x="51" y="0"/>
                  </a:lnTo>
                  <a:lnTo>
                    <a:pt x="63" y="8"/>
                  </a:lnTo>
                  <a:lnTo>
                    <a:pt x="66" y="22"/>
                  </a:lnTo>
                  <a:lnTo>
                    <a:pt x="73" y="43"/>
                  </a:lnTo>
                  <a:lnTo>
                    <a:pt x="69" y="52"/>
                  </a:lnTo>
                  <a:lnTo>
                    <a:pt x="68" y="59"/>
                  </a:lnTo>
                  <a:lnTo>
                    <a:pt x="61" y="44"/>
                  </a:lnTo>
                  <a:lnTo>
                    <a:pt x="56" y="48"/>
                  </a:lnTo>
                  <a:lnTo>
                    <a:pt x="58" y="60"/>
                  </a:lnTo>
                  <a:lnTo>
                    <a:pt x="56"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9" name="Freeform 48"/>
            <p:cNvSpPr>
              <a:spLocks/>
            </p:cNvSpPr>
            <p:nvPr/>
          </p:nvSpPr>
          <p:spPr bwMode="auto">
            <a:xfrm>
              <a:off x="4680" y="2490"/>
              <a:ext cx="17" cy="33"/>
            </a:xfrm>
            <a:custGeom>
              <a:avLst/>
              <a:gdLst/>
              <a:ahLst/>
              <a:cxnLst>
                <a:cxn ang="0">
                  <a:pos x="16" y="0"/>
                </a:cxn>
                <a:cxn ang="0">
                  <a:pos x="12" y="22"/>
                </a:cxn>
                <a:cxn ang="0">
                  <a:pos x="12" y="31"/>
                </a:cxn>
                <a:cxn ang="0">
                  <a:pos x="0" y="20"/>
                </a:cxn>
                <a:cxn ang="0">
                  <a:pos x="4" y="15"/>
                </a:cxn>
                <a:cxn ang="0">
                  <a:pos x="6" y="0"/>
                </a:cxn>
                <a:cxn ang="0">
                  <a:pos x="16" y="0"/>
                </a:cxn>
              </a:cxnLst>
              <a:rect l="0" t="0" r="r" b="b"/>
              <a:pathLst>
                <a:path w="16" h="31">
                  <a:moveTo>
                    <a:pt x="16" y="0"/>
                  </a:moveTo>
                  <a:lnTo>
                    <a:pt x="12" y="22"/>
                  </a:lnTo>
                  <a:lnTo>
                    <a:pt x="12" y="31"/>
                  </a:lnTo>
                  <a:lnTo>
                    <a:pt x="0" y="20"/>
                  </a:lnTo>
                  <a:lnTo>
                    <a:pt x="4" y="15"/>
                  </a:lnTo>
                  <a:lnTo>
                    <a:pt x="6" y="0"/>
                  </a:lnTo>
                  <a:lnTo>
                    <a:pt x="1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0" name="Freeform 49"/>
            <p:cNvSpPr>
              <a:spLocks/>
            </p:cNvSpPr>
            <p:nvPr/>
          </p:nvSpPr>
          <p:spPr bwMode="auto">
            <a:xfrm>
              <a:off x="4706" y="2454"/>
              <a:ext cx="29" cy="31"/>
            </a:xfrm>
            <a:custGeom>
              <a:avLst/>
              <a:gdLst/>
              <a:ahLst/>
              <a:cxnLst>
                <a:cxn ang="0">
                  <a:pos x="20" y="27"/>
                </a:cxn>
                <a:cxn ang="0">
                  <a:pos x="12" y="18"/>
                </a:cxn>
                <a:cxn ang="0">
                  <a:pos x="0" y="3"/>
                </a:cxn>
                <a:cxn ang="0">
                  <a:pos x="14" y="0"/>
                </a:cxn>
                <a:cxn ang="0">
                  <a:pos x="20" y="11"/>
                </a:cxn>
                <a:cxn ang="0">
                  <a:pos x="27" y="28"/>
                </a:cxn>
                <a:cxn ang="0">
                  <a:pos x="20" y="27"/>
                </a:cxn>
              </a:cxnLst>
              <a:rect l="0" t="0" r="r" b="b"/>
              <a:pathLst>
                <a:path w="27" h="28">
                  <a:moveTo>
                    <a:pt x="20" y="27"/>
                  </a:moveTo>
                  <a:lnTo>
                    <a:pt x="12" y="18"/>
                  </a:lnTo>
                  <a:lnTo>
                    <a:pt x="0" y="3"/>
                  </a:lnTo>
                  <a:lnTo>
                    <a:pt x="14" y="0"/>
                  </a:lnTo>
                  <a:lnTo>
                    <a:pt x="20" y="11"/>
                  </a:lnTo>
                  <a:lnTo>
                    <a:pt x="27" y="28"/>
                  </a:lnTo>
                  <a:lnTo>
                    <a:pt x="2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1" name="Freeform 50"/>
            <p:cNvSpPr>
              <a:spLocks/>
            </p:cNvSpPr>
            <p:nvPr/>
          </p:nvSpPr>
          <p:spPr bwMode="auto">
            <a:xfrm>
              <a:off x="4666" y="2470"/>
              <a:ext cx="23" cy="26"/>
            </a:xfrm>
            <a:custGeom>
              <a:avLst/>
              <a:gdLst/>
              <a:ahLst/>
              <a:cxnLst>
                <a:cxn ang="0">
                  <a:pos x="20" y="4"/>
                </a:cxn>
                <a:cxn ang="0">
                  <a:pos x="3" y="0"/>
                </a:cxn>
                <a:cxn ang="0">
                  <a:pos x="0" y="1"/>
                </a:cxn>
                <a:cxn ang="0">
                  <a:pos x="5" y="24"/>
                </a:cxn>
                <a:cxn ang="0">
                  <a:pos x="20" y="9"/>
                </a:cxn>
                <a:cxn ang="0">
                  <a:pos x="21" y="8"/>
                </a:cxn>
                <a:cxn ang="0">
                  <a:pos x="20" y="4"/>
                </a:cxn>
              </a:cxnLst>
              <a:rect l="0" t="0" r="r" b="b"/>
              <a:pathLst>
                <a:path w="21" h="24">
                  <a:moveTo>
                    <a:pt x="20" y="4"/>
                  </a:moveTo>
                  <a:lnTo>
                    <a:pt x="3" y="0"/>
                  </a:lnTo>
                  <a:lnTo>
                    <a:pt x="0" y="1"/>
                  </a:lnTo>
                  <a:lnTo>
                    <a:pt x="5" y="24"/>
                  </a:lnTo>
                  <a:lnTo>
                    <a:pt x="20" y="9"/>
                  </a:lnTo>
                  <a:lnTo>
                    <a:pt x="21" y="8"/>
                  </a:lnTo>
                  <a:lnTo>
                    <a:pt x="2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2" name="Freeform 51"/>
            <p:cNvSpPr>
              <a:spLocks/>
            </p:cNvSpPr>
            <p:nvPr/>
          </p:nvSpPr>
          <p:spPr bwMode="auto">
            <a:xfrm>
              <a:off x="4589" y="2481"/>
              <a:ext cx="42" cy="55"/>
            </a:xfrm>
            <a:custGeom>
              <a:avLst/>
              <a:gdLst/>
              <a:ahLst/>
              <a:cxnLst>
                <a:cxn ang="0">
                  <a:pos x="37" y="15"/>
                </a:cxn>
                <a:cxn ang="0">
                  <a:pos x="23" y="29"/>
                </a:cxn>
                <a:cxn ang="0">
                  <a:pos x="12" y="40"/>
                </a:cxn>
                <a:cxn ang="0">
                  <a:pos x="0" y="52"/>
                </a:cxn>
                <a:cxn ang="0">
                  <a:pos x="1" y="48"/>
                </a:cxn>
                <a:cxn ang="0">
                  <a:pos x="13" y="34"/>
                </a:cxn>
                <a:cxn ang="0">
                  <a:pos x="24" y="21"/>
                </a:cxn>
                <a:cxn ang="0">
                  <a:pos x="29" y="9"/>
                </a:cxn>
                <a:cxn ang="0">
                  <a:pos x="30" y="9"/>
                </a:cxn>
                <a:cxn ang="0">
                  <a:pos x="31" y="0"/>
                </a:cxn>
                <a:cxn ang="0">
                  <a:pos x="37" y="15"/>
                </a:cxn>
              </a:cxnLst>
              <a:rect l="0" t="0" r="r" b="b"/>
              <a:pathLst>
                <a:path w="37" h="52">
                  <a:moveTo>
                    <a:pt x="37" y="15"/>
                  </a:moveTo>
                  <a:lnTo>
                    <a:pt x="23" y="29"/>
                  </a:lnTo>
                  <a:lnTo>
                    <a:pt x="12" y="40"/>
                  </a:lnTo>
                  <a:lnTo>
                    <a:pt x="0" y="52"/>
                  </a:lnTo>
                  <a:lnTo>
                    <a:pt x="1" y="48"/>
                  </a:lnTo>
                  <a:lnTo>
                    <a:pt x="13" y="34"/>
                  </a:lnTo>
                  <a:lnTo>
                    <a:pt x="24" y="21"/>
                  </a:lnTo>
                  <a:lnTo>
                    <a:pt x="29" y="9"/>
                  </a:lnTo>
                  <a:lnTo>
                    <a:pt x="30" y="9"/>
                  </a:lnTo>
                  <a:lnTo>
                    <a:pt x="31" y="0"/>
                  </a:lnTo>
                  <a:lnTo>
                    <a:pt x="37"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3" name="Freeform 52"/>
            <p:cNvSpPr>
              <a:spLocks/>
            </p:cNvSpPr>
            <p:nvPr/>
          </p:nvSpPr>
          <p:spPr bwMode="auto">
            <a:xfrm>
              <a:off x="4633" y="2436"/>
              <a:ext cx="24" cy="25"/>
            </a:xfrm>
            <a:custGeom>
              <a:avLst/>
              <a:gdLst/>
              <a:ahLst/>
              <a:cxnLst>
                <a:cxn ang="0">
                  <a:pos x="22" y="14"/>
                </a:cxn>
                <a:cxn ang="0">
                  <a:pos x="18" y="20"/>
                </a:cxn>
                <a:cxn ang="0">
                  <a:pos x="10" y="11"/>
                </a:cxn>
                <a:cxn ang="0">
                  <a:pos x="0" y="0"/>
                </a:cxn>
                <a:cxn ang="0">
                  <a:pos x="17" y="2"/>
                </a:cxn>
                <a:cxn ang="0">
                  <a:pos x="22" y="14"/>
                </a:cxn>
              </a:cxnLst>
              <a:rect l="0" t="0" r="r" b="b"/>
              <a:pathLst>
                <a:path w="22" h="20">
                  <a:moveTo>
                    <a:pt x="22" y="14"/>
                  </a:moveTo>
                  <a:lnTo>
                    <a:pt x="18" y="20"/>
                  </a:lnTo>
                  <a:lnTo>
                    <a:pt x="10" y="11"/>
                  </a:lnTo>
                  <a:lnTo>
                    <a:pt x="0" y="0"/>
                  </a:lnTo>
                  <a:lnTo>
                    <a:pt x="17" y="2"/>
                  </a:lnTo>
                  <a:lnTo>
                    <a:pt x="22" y="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4" name="Freeform 53"/>
            <p:cNvSpPr>
              <a:spLocks/>
            </p:cNvSpPr>
            <p:nvPr/>
          </p:nvSpPr>
          <p:spPr bwMode="auto">
            <a:xfrm>
              <a:off x="4711" y="2476"/>
              <a:ext cx="18" cy="27"/>
            </a:xfrm>
            <a:custGeom>
              <a:avLst/>
              <a:gdLst/>
              <a:ahLst/>
              <a:cxnLst>
                <a:cxn ang="0">
                  <a:pos x="10" y="4"/>
                </a:cxn>
                <a:cxn ang="0">
                  <a:pos x="16" y="21"/>
                </a:cxn>
                <a:cxn ang="0">
                  <a:pos x="12" y="22"/>
                </a:cxn>
                <a:cxn ang="0">
                  <a:pos x="11" y="25"/>
                </a:cxn>
                <a:cxn ang="0">
                  <a:pos x="4" y="10"/>
                </a:cxn>
                <a:cxn ang="0">
                  <a:pos x="0" y="0"/>
                </a:cxn>
                <a:cxn ang="0">
                  <a:pos x="10" y="4"/>
                </a:cxn>
              </a:cxnLst>
              <a:rect l="0" t="0" r="r" b="b"/>
              <a:pathLst>
                <a:path w="16" h="25">
                  <a:moveTo>
                    <a:pt x="10" y="4"/>
                  </a:moveTo>
                  <a:lnTo>
                    <a:pt x="16" y="21"/>
                  </a:lnTo>
                  <a:lnTo>
                    <a:pt x="12" y="22"/>
                  </a:lnTo>
                  <a:lnTo>
                    <a:pt x="11" y="25"/>
                  </a:lnTo>
                  <a:lnTo>
                    <a:pt x="4" y="10"/>
                  </a:lnTo>
                  <a:lnTo>
                    <a:pt x="0" y="0"/>
                  </a:lnTo>
                  <a:lnTo>
                    <a:pt x="1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5" name="Freeform 54"/>
            <p:cNvSpPr>
              <a:spLocks/>
            </p:cNvSpPr>
            <p:nvPr/>
          </p:nvSpPr>
          <p:spPr bwMode="auto">
            <a:xfrm>
              <a:off x="4689" y="2456"/>
              <a:ext cx="15" cy="16"/>
            </a:xfrm>
            <a:custGeom>
              <a:avLst/>
              <a:gdLst/>
              <a:ahLst/>
              <a:cxnLst>
                <a:cxn ang="0">
                  <a:pos x="14" y="13"/>
                </a:cxn>
                <a:cxn ang="0">
                  <a:pos x="2" y="6"/>
                </a:cxn>
                <a:cxn ang="0">
                  <a:pos x="0" y="7"/>
                </a:cxn>
                <a:cxn ang="0">
                  <a:pos x="1" y="0"/>
                </a:cxn>
                <a:cxn ang="0">
                  <a:pos x="14" y="11"/>
                </a:cxn>
                <a:cxn ang="0">
                  <a:pos x="14" y="13"/>
                </a:cxn>
              </a:cxnLst>
              <a:rect l="0" t="0" r="r" b="b"/>
              <a:pathLst>
                <a:path w="14" h="13">
                  <a:moveTo>
                    <a:pt x="14" y="13"/>
                  </a:moveTo>
                  <a:lnTo>
                    <a:pt x="2" y="6"/>
                  </a:lnTo>
                  <a:lnTo>
                    <a:pt x="0" y="7"/>
                  </a:lnTo>
                  <a:lnTo>
                    <a:pt x="1" y="0"/>
                  </a:lnTo>
                  <a:lnTo>
                    <a:pt x="14" y="11"/>
                  </a:lnTo>
                  <a:lnTo>
                    <a:pt x="14"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6" name="Freeform 55"/>
            <p:cNvSpPr>
              <a:spLocks/>
            </p:cNvSpPr>
            <p:nvPr/>
          </p:nvSpPr>
          <p:spPr bwMode="auto">
            <a:xfrm>
              <a:off x="4704" y="2503"/>
              <a:ext cx="13" cy="7"/>
            </a:xfrm>
            <a:custGeom>
              <a:avLst/>
              <a:gdLst/>
              <a:ahLst/>
              <a:cxnLst>
                <a:cxn ang="0">
                  <a:pos x="12" y="6"/>
                </a:cxn>
                <a:cxn ang="0">
                  <a:pos x="10" y="0"/>
                </a:cxn>
                <a:cxn ang="0">
                  <a:pos x="0" y="6"/>
                </a:cxn>
                <a:cxn ang="0">
                  <a:pos x="12" y="6"/>
                </a:cxn>
              </a:cxnLst>
              <a:rect l="0" t="0" r="r" b="b"/>
              <a:pathLst>
                <a:path w="12" h="6">
                  <a:moveTo>
                    <a:pt x="12" y="6"/>
                  </a:moveTo>
                  <a:lnTo>
                    <a:pt x="10" y="0"/>
                  </a:lnTo>
                  <a:lnTo>
                    <a:pt x="0" y="6"/>
                  </a:lnTo>
                  <a:lnTo>
                    <a:pt x="12"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7" name="Freeform 56"/>
            <p:cNvSpPr>
              <a:spLocks/>
            </p:cNvSpPr>
            <p:nvPr/>
          </p:nvSpPr>
          <p:spPr bwMode="auto">
            <a:xfrm>
              <a:off x="4695" y="2481"/>
              <a:ext cx="11" cy="35"/>
            </a:xfrm>
            <a:custGeom>
              <a:avLst/>
              <a:gdLst/>
              <a:ahLst/>
              <a:cxnLst>
                <a:cxn ang="0">
                  <a:pos x="8" y="0"/>
                </a:cxn>
                <a:cxn ang="0">
                  <a:pos x="8" y="9"/>
                </a:cxn>
                <a:cxn ang="0">
                  <a:pos x="5" y="21"/>
                </a:cxn>
                <a:cxn ang="0">
                  <a:pos x="0" y="33"/>
                </a:cxn>
                <a:cxn ang="0">
                  <a:pos x="5" y="16"/>
                </a:cxn>
                <a:cxn ang="0">
                  <a:pos x="8" y="0"/>
                </a:cxn>
              </a:cxnLst>
              <a:rect l="0" t="0" r="r" b="b"/>
              <a:pathLst>
                <a:path w="8" h="33">
                  <a:moveTo>
                    <a:pt x="8" y="0"/>
                  </a:moveTo>
                  <a:lnTo>
                    <a:pt x="8" y="9"/>
                  </a:lnTo>
                  <a:lnTo>
                    <a:pt x="5" y="21"/>
                  </a:lnTo>
                  <a:lnTo>
                    <a:pt x="0" y="33"/>
                  </a:lnTo>
                  <a:lnTo>
                    <a:pt x="5" y="16"/>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8" name="Freeform 57"/>
            <p:cNvSpPr>
              <a:spLocks/>
            </p:cNvSpPr>
            <p:nvPr/>
          </p:nvSpPr>
          <p:spPr bwMode="auto">
            <a:xfrm>
              <a:off x="4220" y="2299"/>
              <a:ext cx="153" cy="291"/>
            </a:xfrm>
            <a:custGeom>
              <a:avLst/>
              <a:gdLst/>
              <a:ahLst/>
              <a:cxnLst>
                <a:cxn ang="0">
                  <a:pos x="46" y="187"/>
                </a:cxn>
                <a:cxn ang="0">
                  <a:pos x="53" y="155"/>
                </a:cxn>
                <a:cxn ang="0">
                  <a:pos x="54" y="126"/>
                </a:cxn>
                <a:cxn ang="0">
                  <a:pos x="69" y="137"/>
                </a:cxn>
                <a:cxn ang="0">
                  <a:pos x="96" y="150"/>
                </a:cxn>
                <a:cxn ang="0">
                  <a:pos x="96" y="143"/>
                </a:cxn>
                <a:cxn ang="0">
                  <a:pos x="101" y="109"/>
                </a:cxn>
                <a:cxn ang="0">
                  <a:pos x="134" y="108"/>
                </a:cxn>
                <a:cxn ang="0">
                  <a:pos x="135" y="83"/>
                </a:cxn>
                <a:cxn ang="0">
                  <a:pos x="118" y="52"/>
                </a:cxn>
                <a:cxn ang="0">
                  <a:pos x="92" y="41"/>
                </a:cxn>
                <a:cxn ang="0">
                  <a:pos x="75" y="40"/>
                </a:cxn>
                <a:cxn ang="0">
                  <a:pos x="59" y="32"/>
                </a:cxn>
                <a:cxn ang="0">
                  <a:pos x="46" y="13"/>
                </a:cxn>
                <a:cxn ang="0">
                  <a:pos x="39" y="0"/>
                </a:cxn>
                <a:cxn ang="0">
                  <a:pos x="23" y="11"/>
                </a:cxn>
                <a:cxn ang="0">
                  <a:pos x="5" y="34"/>
                </a:cxn>
                <a:cxn ang="0">
                  <a:pos x="14" y="53"/>
                </a:cxn>
                <a:cxn ang="0">
                  <a:pos x="30" y="73"/>
                </a:cxn>
                <a:cxn ang="0">
                  <a:pos x="24" y="91"/>
                </a:cxn>
                <a:cxn ang="0">
                  <a:pos x="33" y="113"/>
                </a:cxn>
                <a:cxn ang="0">
                  <a:pos x="45" y="139"/>
                </a:cxn>
                <a:cxn ang="0">
                  <a:pos x="45" y="168"/>
                </a:cxn>
                <a:cxn ang="0">
                  <a:pos x="39" y="184"/>
                </a:cxn>
                <a:cxn ang="0">
                  <a:pos x="34" y="218"/>
                </a:cxn>
                <a:cxn ang="0">
                  <a:pos x="45" y="226"/>
                </a:cxn>
                <a:cxn ang="0">
                  <a:pos x="58" y="240"/>
                </a:cxn>
                <a:cxn ang="0">
                  <a:pos x="66" y="248"/>
                </a:cxn>
                <a:cxn ang="0">
                  <a:pos x="80" y="262"/>
                </a:cxn>
                <a:cxn ang="0">
                  <a:pos x="96" y="254"/>
                </a:cxn>
                <a:cxn ang="0">
                  <a:pos x="76" y="241"/>
                </a:cxn>
                <a:cxn ang="0">
                  <a:pos x="64" y="218"/>
                </a:cxn>
                <a:cxn ang="0">
                  <a:pos x="51" y="200"/>
                </a:cxn>
              </a:cxnLst>
              <a:rect l="0" t="0" r="r" b="b"/>
              <a:pathLst>
                <a:path w="138" h="262">
                  <a:moveTo>
                    <a:pt x="51" y="200"/>
                  </a:moveTo>
                  <a:lnTo>
                    <a:pt x="46" y="187"/>
                  </a:lnTo>
                  <a:lnTo>
                    <a:pt x="50" y="170"/>
                  </a:lnTo>
                  <a:lnTo>
                    <a:pt x="53" y="155"/>
                  </a:lnTo>
                  <a:lnTo>
                    <a:pt x="53" y="140"/>
                  </a:lnTo>
                  <a:lnTo>
                    <a:pt x="54" y="126"/>
                  </a:lnTo>
                  <a:lnTo>
                    <a:pt x="68" y="124"/>
                  </a:lnTo>
                  <a:lnTo>
                    <a:pt x="69" y="137"/>
                  </a:lnTo>
                  <a:lnTo>
                    <a:pt x="81" y="139"/>
                  </a:lnTo>
                  <a:lnTo>
                    <a:pt x="96" y="150"/>
                  </a:lnTo>
                  <a:lnTo>
                    <a:pt x="102" y="157"/>
                  </a:lnTo>
                  <a:lnTo>
                    <a:pt x="96" y="143"/>
                  </a:lnTo>
                  <a:lnTo>
                    <a:pt x="90" y="127"/>
                  </a:lnTo>
                  <a:lnTo>
                    <a:pt x="101" y="109"/>
                  </a:lnTo>
                  <a:lnTo>
                    <a:pt x="117" y="109"/>
                  </a:lnTo>
                  <a:lnTo>
                    <a:pt x="134" y="108"/>
                  </a:lnTo>
                  <a:lnTo>
                    <a:pt x="138" y="98"/>
                  </a:lnTo>
                  <a:lnTo>
                    <a:pt x="135" y="83"/>
                  </a:lnTo>
                  <a:lnTo>
                    <a:pt x="120" y="65"/>
                  </a:lnTo>
                  <a:lnTo>
                    <a:pt x="118" y="52"/>
                  </a:lnTo>
                  <a:lnTo>
                    <a:pt x="99" y="36"/>
                  </a:lnTo>
                  <a:lnTo>
                    <a:pt x="92" y="41"/>
                  </a:lnTo>
                  <a:lnTo>
                    <a:pt x="84" y="43"/>
                  </a:lnTo>
                  <a:lnTo>
                    <a:pt x="75" y="40"/>
                  </a:lnTo>
                  <a:lnTo>
                    <a:pt x="60" y="50"/>
                  </a:lnTo>
                  <a:lnTo>
                    <a:pt x="59" y="32"/>
                  </a:lnTo>
                  <a:lnTo>
                    <a:pt x="58" y="14"/>
                  </a:lnTo>
                  <a:lnTo>
                    <a:pt x="46" y="13"/>
                  </a:lnTo>
                  <a:lnTo>
                    <a:pt x="45" y="2"/>
                  </a:lnTo>
                  <a:lnTo>
                    <a:pt x="39" y="0"/>
                  </a:lnTo>
                  <a:lnTo>
                    <a:pt x="30" y="2"/>
                  </a:lnTo>
                  <a:lnTo>
                    <a:pt x="23" y="11"/>
                  </a:lnTo>
                  <a:lnTo>
                    <a:pt x="9" y="13"/>
                  </a:lnTo>
                  <a:lnTo>
                    <a:pt x="5" y="34"/>
                  </a:lnTo>
                  <a:lnTo>
                    <a:pt x="0" y="32"/>
                  </a:lnTo>
                  <a:lnTo>
                    <a:pt x="14" y="53"/>
                  </a:lnTo>
                  <a:lnTo>
                    <a:pt x="27" y="72"/>
                  </a:lnTo>
                  <a:lnTo>
                    <a:pt x="30" y="73"/>
                  </a:lnTo>
                  <a:lnTo>
                    <a:pt x="27" y="84"/>
                  </a:lnTo>
                  <a:lnTo>
                    <a:pt x="24" y="91"/>
                  </a:lnTo>
                  <a:lnTo>
                    <a:pt x="24" y="102"/>
                  </a:lnTo>
                  <a:lnTo>
                    <a:pt x="33" y="113"/>
                  </a:lnTo>
                  <a:lnTo>
                    <a:pt x="41" y="124"/>
                  </a:lnTo>
                  <a:lnTo>
                    <a:pt x="45" y="139"/>
                  </a:lnTo>
                  <a:lnTo>
                    <a:pt x="50" y="157"/>
                  </a:lnTo>
                  <a:lnTo>
                    <a:pt x="45" y="168"/>
                  </a:lnTo>
                  <a:lnTo>
                    <a:pt x="39" y="180"/>
                  </a:lnTo>
                  <a:lnTo>
                    <a:pt x="39" y="184"/>
                  </a:lnTo>
                  <a:lnTo>
                    <a:pt x="36" y="200"/>
                  </a:lnTo>
                  <a:lnTo>
                    <a:pt x="34" y="218"/>
                  </a:lnTo>
                  <a:lnTo>
                    <a:pt x="36" y="216"/>
                  </a:lnTo>
                  <a:lnTo>
                    <a:pt x="45" y="226"/>
                  </a:lnTo>
                  <a:lnTo>
                    <a:pt x="53" y="235"/>
                  </a:lnTo>
                  <a:lnTo>
                    <a:pt x="58" y="240"/>
                  </a:lnTo>
                  <a:lnTo>
                    <a:pt x="65" y="251"/>
                  </a:lnTo>
                  <a:lnTo>
                    <a:pt x="66" y="248"/>
                  </a:lnTo>
                  <a:lnTo>
                    <a:pt x="78" y="254"/>
                  </a:lnTo>
                  <a:lnTo>
                    <a:pt x="80" y="262"/>
                  </a:lnTo>
                  <a:lnTo>
                    <a:pt x="90" y="262"/>
                  </a:lnTo>
                  <a:lnTo>
                    <a:pt x="96" y="254"/>
                  </a:lnTo>
                  <a:lnTo>
                    <a:pt x="88" y="244"/>
                  </a:lnTo>
                  <a:lnTo>
                    <a:pt x="76" y="241"/>
                  </a:lnTo>
                  <a:lnTo>
                    <a:pt x="68" y="232"/>
                  </a:lnTo>
                  <a:lnTo>
                    <a:pt x="64" y="218"/>
                  </a:lnTo>
                  <a:lnTo>
                    <a:pt x="58" y="202"/>
                  </a:lnTo>
                  <a:lnTo>
                    <a:pt x="51" y="20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59" name="Freeform 58"/>
            <p:cNvSpPr>
              <a:spLocks/>
            </p:cNvSpPr>
            <p:nvPr/>
          </p:nvSpPr>
          <p:spPr bwMode="auto">
            <a:xfrm>
              <a:off x="4293" y="2241"/>
              <a:ext cx="153" cy="291"/>
            </a:xfrm>
            <a:custGeom>
              <a:avLst/>
              <a:gdLst/>
              <a:ahLst/>
              <a:cxnLst>
                <a:cxn ang="0">
                  <a:pos x="43" y="50"/>
                </a:cxn>
                <a:cxn ang="0">
                  <a:pos x="27" y="45"/>
                </a:cxn>
                <a:cxn ang="0">
                  <a:pos x="12" y="28"/>
                </a:cxn>
                <a:cxn ang="0">
                  <a:pos x="4" y="11"/>
                </a:cxn>
                <a:cxn ang="0">
                  <a:pos x="15" y="11"/>
                </a:cxn>
                <a:cxn ang="0">
                  <a:pos x="25" y="12"/>
                </a:cxn>
                <a:cxn ang="0">
                  <a:pos x="34" y="11"/>
                </a:cxn>
                <a:cxn ang="0">
                  <a:pos x="49" y="2"/>
                </a:cxn>
                <a:cxn ang="0">
                  <a:pos x="71" y="20"/>
                </a:cxn>
                <a:cxn ang="0">
                  <a:pos x="93" y="30"/>
                </a:cxn>
                <a:cxn ang="0">
                  <a:pos x="76" y="42"/>
                </a:cxn>
                <a:cxn ang="0">
                  <a:pos x="70" y="59"/>
                </a:cxn>
                <a:cxn ang="0">
                  <a:pos x="76" y="90"/>
                </a:cxn>
                <a:cxn ang="0">
                  <a:pos x="89" y="110"/>
                </a:cxn>
                <a:cxn ang="0">
                  <a:pos x="113" y="130"/>
                </a:cxn>
                <a:cxn ang="0">
                  <a:pos x="131" y="166"/>
                </a:cxn>
                <a:cxn ang="0">
                  <a:pos x="137" y="196"/>
                </a:cxn>
                <a:cxn ang="0">
                  <a:pos x="135" y="210"/>
                </a:cxn>
                <a:cxn ang="0">
                  <a:pos x="112" y="230"/>
                </a:cxn>
                <a:cxn ang="0">
                  <a:pos x="101" y="232"/>
                </a:cxn>
                <a:cxn ang="0">
                  <a:pos x="99" y="239"/>
                </a:cxn>
                <a:cxn ang="0">
                  <a:pos x="93" y="246"/>
                </a:cxn>
                <a:cxn ang="0">
                  <a:pos x="72" y="262"/>
                </a:cxn>
                <a:cxn ang="0">
                  <a:pos x="64" y="231"/>
                </a:cxn>
                <a:cxn ang="0">
                  <a:pos x="77" y="222"/>
                </a:cxn>
                <a:cxn ang="0">
                  <a:pos x="84" y="210"/>
                </a:cxn>
                <a:cxn ang="0">
                  <a:pos x="108" y="198"/>
                </a:cxn>
                <a:cxn ang="0">
                  <a:pos x="106" y="170"/>
                </a:cxn>
                <a:cxn ang="0">
                  <a:pos x="102" y="140"/>
                </a:cxn>
                <a:cxn ang="0">
                  <a:pos x="99" y="130"/>
                </a:cxn>
                <a:cxn ang="0">
                  <a:pos x="77" y="108"/>
                </a:cxn>
                <a:cxn ang="0">
                  <a:pos x="58" y="84"/>
                </a:cxn>
                <a:cxn ang="0">
                  <a:pos x="41" y="64"/>
                </a:cxn>
                <a:cxn ang="0">
                  <a:pos x="48" y="54"/>
                </a:cxn>
              </a:cxnLst>
              <a:rect l="0" t="0" r="r" b="b"/>
              <a:pathLst>
                <a:path w="138" h="262">
                  <a:moveTo>
                    <a:pt x="48" y="54"/>
                  </a:moveTo>
                  <a:lnTo>
                    <a:pt x="43" y="50"/>
                  </a:lnTo>
                  <a:lnTo>
                    <a:pt x="34" y="41"/>
                  </a:lnTo>
                  <a:lnTo>
                    <a:pt x="27" y="45"/>
                  </a:lnTo>
                  <a:lnTo>
                    <a:pt x="15" y="35"/>
                  </a:lnTo>
                  <a:lnTo>
                    <a:pt x="12" y="28"/>
                  </a:lnTo>
                  <a:lnTo>
                    <a:pt x="0" y="16"/>
                  </a:lnTo>
                  <a:lnTo>
                    <a:pt x="4" y="11"/>
                  </a:lnTo>
                  <a:lnTo>
                    <a:pt x="12" y="14"/>
                  </a:lnTo>
                  <a:lnTo>
                    <a:pt x="15" y="11"/>
                  </a:lnTo>
                  <a:lnTo>
                    <a:pt x="22" y="11"/>
                  </a:lnTo>
                  <a:lnTo>
                    <a:pt x="25" y="12"/>
                  </a:lnTo>
                  <a:lnTo>
                    <a:pt x="28" y="11"/>
                  </a:lnTo>
                  <a:lnTo>
                    <a:pt x="34" y="11"/>
                  </a:lnTo>
                  <a:lnTo>
                    <a:pt x="42" y="0"/>
                  </a:lnTo>
                  <a:lnTo>
                    <a:pt x="49" y="2"/>
                  </a:lnTo>
                  <a:lnTo>
                    <a:pt x="69" y="8"/>
                  </a:lnTo>
                  <a:lnTo>
                    <a:pt x="71" y="20"/>
                  </a:lnTo>
                  <a:lnTo>
                    <a:pt x="77" y="24"/>
                  </a:lnTo>
                  <a:lnTo>
                    <a:pt x="93" y="30"/>
                  </a:lnTo>
                  <a:lnTo>
                    <a:pt x="84" y="38"/>
                  </a:lnTo>
                  <a:lnTo>
                    <a:pt x="76" y="42"/>
                  </a:lnTo>
                  <a:lnTo>
                    <a:pt x="76" y="44"/>
                  </a:lnTo>
                  <a:lnTo>
                    <a:pt x="70" y="59"/>
                  </a:lnTo>
                  <a:lnTo>
                    <a:pt x="64" y="75"/>
                  </a:lnTo>
                  <a:lnTo>
                    <a:pt x="76" y="90"/>
                  </a:lnTo>
                  <a:lnTo>
                    <a:pt x="79" y="100"/>
                  </a:lnTo>
                  <a:lnTo>
                    <a:pt x="89" y="110"/>
                  </a:lnTo>
                  <a:lnTo>
                    <a:pt x="100" y="119"/>
                  </a:lnTo>
                  <a:lnTo>
                    <a:pt x="113" y="130"/>
                  </a:lnTo>
                  <a:lnTo>
                    <a:pt x="124" y="142"/>
                  </a:lnTo>
                  <a:lnTo>
                    <a:pt x="131" y="166"/>
                  </a:lnTo>
                  <a:lnTo>
                    <a:pt x="138" y="190"/>
                  </a:lnTo>
                  <a:lnTo>
                    <a:pt x="137" y="196"/>
                  </a:lnTo>
                  <a:lnTo>
                    <a:pt x="137" y="203"/>
                  </a:lnTo>
                  <a:lnTo>
                    <a:pt x="135" y="210"/>
                  </a:lnTo>
                  <a:lnTo>
                    <a:pt x="124" y="220"/>
                  </a:lnTo>
                  <a:lnTo>
                    <a:pt x="112" y="230"/>
                  </a:lnTo>
                  <a:lnTo>
                    <a:pt x="101" y="227"/>
                  </a:lnTo>
                  <a:lnTo>
                    <a:pt x="101" y="232"/>
                  </a:lnTo>
                  <a:lnTo>
                    <a:pt x="101" y="237"/>
                  </a:lnTo>
                  <a:lnTo>
                    <a:pt x="99" y="239"/>
                  </a:lnTo>
                  <a:lnTo>
                    <a:pt x="99" y="246"/>
                  </a:lnTo>
                  <a:lnTo>
                    <a:pt x="93" y="246"/>
                  </a:lnTo>
                  <a:lnTo>
                    <a:pt x="81" y="260"/>
                  </a:lnTo>
                  <a:lnTo>
                    <a:pt x="72" y="262"/>
                  </a:lnTo>
                  <a:lnTo>
                    <a:pt x="75" y="240"/>
                  </a:lnTo>
                  <a:lnTo>
                    <a:pt x="64" y="231"/>
                  </a:lnTo>
                  <a:lnTo>
                    <a:pt x="73" y="225"/>
                  </a:lnTo>
                  <a:lnTo>
                    <a:pt x="77" y="222"/>
                  </a:lnTo>
                  <a:lnTo>
                    <a:pt x="89" y="224"/>
                  </a:lnTo>
                  <a:lnTo>
                    <a:pt x="84" y="210"/>
                  </a:lnTo>
                  <a:lnTo>
                    <a:pt x="93" y="206"/>
                  </a:lnTo>
                  <a:lnTo>
                    <a:pt x="108" y="198"/>
                  </a:lnTo>
                  <a:lnTo>
                    <a:pt x="107" y="184"/>
                  </a:lnTo>
                  <a:lnTo>
                    <a:pt x="106" y="170"/>
                  </a:lnTo>
                  <a:lnTo>
                    <a:pt x="105" y="154"/>
                  </a:lnTo>
                  <a:lnTo>
                    <a:pt x="102" y="140"/>
                  </a:lnTo>
                  <a:lnTo>
                    <a:pt x="97" y="134"/>
                  </a:lnTo>
                  <a:lnTo>
                    <a:pt x="99" y="130"/>
                  </a:lnTo>
                  <a:lnTo>
                    <a:pt x="84" y="118"/>
                  </a:lnTo>
                  <a:lnTo>
                    <a:pt x="77" y="108"/>
                  </a:lnTo>
                  <a:lnTo>
                    <a:pt x="67" y="96"/>
                  </a:lnTo>
                  <a:lnTo>
                    <a:pt x="58" y="84"/>
                  </a:lnTo>
                  <a:lnTo>
                    <a:pt x="37" y="69"/>
                  </a:lnTo>
                  <a:lnTo>
                    <a:pt x="41" y="64"/>
                  </a:lnTo>
                  <a:lnTo>
                    <a:pt x="49" y="62"/>
                  </a:lnTo>
                  <a:lnTo>
                    <a:pt x="48" y="5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0" name="Freeform 59"/>
            <p:cNvSpPr>
              <a:spLocks/>
            </p:cNvSpPr>
            <p:nvPr/>
          </p:nvSpPr>
          <p:spPr bwMode="auto">
            <a:xfrm>
              <a:off x="3402" y="2183"/>
              <a:ext cx="13" cy="33"/>
            </a:xfrm>
            <a:custGeom>
              <a:avLst/>
              <a:gdLst/>
              <a:ahLst/>
              <a:cxnLst>
                <a:cxn ang="0">
                  <a:pos x="7" y="27"/>
                </a:cxn>
                <a:cxn ang="0">
                  <a:pos x="5" y="29"/>
                </a:cxn>
                <a:cxn ang="0">
                  <a:pos x="0" y="25"/>
                </a:cxn>
                <a:cxn ang="0">
                  <a:pos x="0" y="8"/>
                </a:cxn>
                <a:cxn ang="0">
                  <a:pos x="6" y="0"/>
                </a:cxn>
                <a:cxn ang="0">
                  <a:pos x="11" y="15"/>
                </a:cxn>
                <a:cxn ang="0">
                  <a:pos x="7" y="27"/>
                </a:cxn>
              </a:cxnLst>
              <a:rect l="0" t="0" r="r" b="b"/>
              <a:pathLst>
                <a:path w="11" h="29">
                  <a:moveTo>
                    <a:pt x="7" y="27"/>
                  </a:moveTo>
                  <a:lnTo>
                    <a:pt x="5" y="29"/>
                  </a:lnTo>
                  <a:lnTo>
                    <a:pt x="0" y="25"/>
                  </a:lnTo>
                  <a:lnTo>
                    <a:pt x="0" y="8"/>
                  </a:lnTo>
                  <a:lnTo>
                    <a:pt x="6" y="0"/>
                  </a:lnTo>
                  <a:lnTo>
                    <a:pt x="11" y="15"/>
                  </a:lnTo>
                  <a:lnTo>
                    <a:pt x="7"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1" name="Freeform 60"/>
            <p:cNvSpPr>
              <a:spLocks/>
            </p:cNvSpPr>
            <p:nvPr/>
          </p:nvSpPr>
          <p:spPr bwMode="auto">
            <a:xfrm>
              <a:off x="3253" y="1914"/>
              <a:ext cx="356" cy="289"/>
            </a:xfrm>
            <a:custGeom>
              <a:avLst/>
              <a:gdLst/>
              <a:ahLst/>
              <a:cxnLst>
                <a:cxn ang="0">
                  <a:pos x="36" y="106"/>
                </a:cxn>
                <a:cxn ang="0">
                  <a:pos x="40" y="79"/>
                </a:cxn>
                <a:cxn ang="0">
                  <a:pos x="29" y="66"/>
                </a:cxn>
                <a:cxn ang="0">
                  <a:pos x="5" y="33"/>
                </a:cxn>
                <a:cxn ang="0">
                  <a:pos x="0" y="5"/>
                </a:cxn>
                <a:cxn ang="0">
                  <a:pos x="7" y="1"/>
                </a:cxn>
                <a:cxn ang="0">
                  <a:pos x="28" y="15"/>
                </a:cxn>
                <a:cxn ang="0">
                  <a:pos x="54" y="0"/>
                </a:cxn>
                <a:cxn ang="0">
                  <a:pos x="58" y="13"/>
                </a:cxn>
                <a:cxn ang="0">
                  <a:pos x="79" y="39"/>
                </a:cxn>
                <a:cxn ang="0">
                  <a:pos x="111" y="51"/>
                </a:cxn>
                <a:cxn ang="0">
                  <a:pos x="138" y="53"/>
                </a:cxn>
                <a:cxn ang="0">
                  <a:pos x="151" y="48"/>
                </a:cxn>
                <a:cxn ang="0">
                  <a:pos x="154" y="42"/>
                </a:cxn>
                <a:cxn ang="0">
                  <a:pos x="181" y="29"/>
                </a:cxn>
                <a:cxn ang="0">
                  <a:pos x="220" y="36"/>
                </a:cxn>
                <a:cxn ang="0">
                  <a:pos x="246" y="53"/>
                </a:cxn>
                <a:cxn ang="0">
                  <a:pos x="265" y="73"/>
                </a:cxn>
                <a:cxn ang="0">
                  <a:pos x="261" y="96"/>
                </a:cxn>
                <a:cxn ang="0">
                  <a:pos x="267" y="111"/>
                </a:cxn>
                <a:cxn ang="0">
                  <a:pos x="269" y="129"/>
                </a:cxn>
                <a:cxn ang="0">
                  <a:pos x="287" y="149"/>
                </a:cxn>
                <a:cxn ang="0">
                  <a:pos x="279" y="177"/>
                </a:cxn>
                <a:cxn ang="0">
                  <a:pos x="300" y="201"/>
                </a:cxn>
                <a:cxn ang="0">
                  <a:pos x="317" y="225"/>
                </a:cxn>
                <a:cxn ang="0">
                  <a:pos x="322" y="234"/>
                </a:cxn>
                <a:cxn ang="0">
                  <a:pos x="303" y="246"/>
                </a:cxn>
                <a:cxn ang="0">
                  <a:pos x="285" y="258"/>
                </a:cxn>
                <a:cxn ang="0">
                  <a:pos x="251" y="252"/>
                </a:cxn>
                <a:cxn ang="0">
                  <a:pos x="228" y="238"/>
                </a:cxn>
                <a:cxn ang="0">
                  <a:pos x="209" y="231"/>
                </a:cxn>
                <a:cxn ang="0">
                  <a:pos x="172" y="231"/>
                </a:cxn>
                <a:cxn ang="0">
                  <a:pos x="144" y="213"/>
                </a:cxn>
                <a:cxn ang="0">
                  <a:pos x="125" y="190"/>
                </a:cxn>
                <a:cxn ang="0">
                  <a:pos x="105" y="172"/>
                </a:cxn>
                <a:cxn ang="0">
                  <a:pos x="97" y="166"/>
                </a:cxn>
                <a:cxn ang="0">
                  <a:pos x="90" y="174"/>
                </a:cxn>
                <a:cxn ang="0">
                  <a:pos x="81" y="156"/>
                </a:cxn>
                <a:cxn ang="0">
                  <a:pos x="76" y="142"/>
                </a:cxn>
                <a:cxn ang="0">
                  <a:pos x="57" y="126"/>
                </a:cxn>
              </a:cxnLst>
              <a:rect l="0" t="0" r="r" b="b"/>
              <a:pathLst>
                <a:path w="322" h="261">
                  <a:moveTo>
                    <a:pt x="45" y="118"/>
                  </a:moveTo>
                  <a:lnTo>
                    <a:pt x="36" y="106"/>
                  </a:lnTo>
                  <a:lnTo>
                    <a:pt x="35" y="96"/>
                  </a:lnTo>
                  <a:lnTo>
                    <a:pt x="40" y="79"/>
                  </a:lnTo>
                  <a:lnTo>
                    <a:pt x="40" y="71"/>
                  </a:lnTo>
                  <a:lnTo>
                    <a:pt x="29" y="66"/>
                  </a:lnTo>
                  <a:lnTo>
                    <a:pt x="15" y="46"/>
                  </a:lnTo>
                  <a:lnTo>
                    <a:pt x="5" y="33"/>
                  </a:lnTo>
                  <a:lnTo>
                    <a:pt x="1" y="15"/>
                  </a:lnTo>
                  <a:lnTo>
                    <a:pt x="0" y="5"/>
                  </a:lnTo>
                  <a:lnTo>
                    <a:pt x="6" y="0"/>
                  </a:lnTo>
                  <a:lnTo>
                    <a:pt x="7" y="1"/>
                  </a:lnTo>
                  <a:lnTo>
                    <a:pt x="10" y="5"/>
                  </a:lnTo>
                  <a:lnTo>
                    <a:pt x="28" y="15"/>
                  </a:lnTo>
                  <a:lnTo>
                    <a:pt x="40" y="10"/>
                  </a:lnTo>
                  <a:lnTo>
                    <a:pt x="54" y="0"/>
                  </a:lnTo>
                  <a:lnTo>
                    <a:pt x="59" y="10"/>
                  </a:lnTo>
                  <a:lnTo>
                    <a:pt x="58" y="13"/>
                  </a:lnTo>
                  <a:lnTo>
                    <a:pt x="71" y="23"/>
                  </a:lnTo>
                  <a:lnTo>
                    <a:pt x="79" y="39"/>
                  </a:lnTo>
                  <a:lnTo>
                    <a:pt x="96" y="46"/>
                  </a:lnTo>
                  <a:lnTo>
                    <a:pt x="111" y="51"/>
                  </a:lnTo>
                  <a:lnTo>
                    <a:pt x="125" y="55"/>
                  </a:lnTo>
                  <a:lnTo>
                    <a:pt x="138" y="53"/>
                  </a:lnTo>
                  <a:lnTo>
                    <a:pt x="149" y="51"/>
                  </a:lnTo>
                  <a:lnTo>
                    <a:pt x="151" y="48"/>
                  </a:lnTo>
                  <a:lnTo>
                    <a:pt x="149" y="42"/>
                  </a:lnTo>
                  <a:lnTo>
                    <a:pt x="154" y="42"/>
                  </a:lnTo>
                  <a:lnTo>
                    <a:pt x="165" y="31"/>
                  </a:lnTo>
                  <a:lnTo>
                    <a:pt x="181" y="29"/>
                  </a:lnTo>
                  <a:lnTo>
                    <a:pt x="196" y="28"/>
                  </a:lnTo>
                  <a:lnTo>
                    <a:pt x="220" y="36"/>
                  </a:lnTo>
                  <a:lnTo>
                    <a:pt x="233" y="45"/>
                  </a:lnTo>
                  <a:lnTo>
                    <a:pt x="246" y="53"/>
                  </a:lnTo>
                  <a:lnTo>
                    <a:pt x="259" y="55"/>
                  </a:lnTo>
                  <a:lnTo>
                    <a:pt x="265" y="73"/>
                  </a:lnTo>
                  <a:lnTo>
                    <a:pt x="262" y="94"/>
                  </a:lnTo>
                  <a:lnTo>
                    <a:pt x="261" y="96"/>
                  </a:lnTo>
                  <a:lnTo>
                    <a:pt x="261" y="106"/>
                  </a:lnTo>
                  <a:lnTo>
                    <a:pt x="267" y="111"/>
                  </a:lnTo>
                  <a:lnTo>
                    <a:pt x="265" y="114"/>
                  </a:lnTo>
                  <a:lnTo>
                    <a:pt x="269" y="129"/>
                  </a:lnTo>
                  <a:lnTo>
                    <a:pt x="271" y="144"/>
                  </a:lnTo>
                  <a:lnTo>
                    <a:pt x="287" y="149"/>
                  </a:lnTo>
                  <a:lnTo>
                    <a:pt x="289" y="156"/>
                  </a:lnTo>
                  <a:lnTo>
                    <a:pt x="279" y="177"/>
                  </a:lnTo>
                  <a:lnTo>
                    <a:pt x="289" y="189"/>
                  </a:lnTo>
                  <a:lnTo>
                    <a:pt x="300" y="201"/>
                  </a:lnTo>
                  <a:lnTo>
                    <a:pt x="312" y="207"/>
                  </a:lnTo>
                  <a:lnTo>
                    <a:pt x="317" y="225"/>
                  </a:lnTo>
                  <a:lnTo>
                    <a:pt x="322" y="227"/>
                  </a:lnTo>
                  <a:lnTo>
                    <a:pt x="322" y="234"/>
                  </a:lnTo>
                  <a:lnTo>
                    <a:pt x="309" y="240"/>
                  </a:lnTo>
                  <a:lnTo>
                    <a:pt x="303" y="246"/>
                  </a:lnTo>
                  <a:lnTo>
                    <a:pt x="301" y="261"/>
                  </a:lnTo>
                  <a:lnTo>
                    <a:pt x="285" y="258"/>
                  </a:lnTo>
                  <a:lnTo>
                    <a:pt x="268" y="255"/>
                  </a:lnTo>
                  <a:lnTo>
                    <a:pt x="251" y="252"/>
                  </a:lnTo>
                  <a:lnTo>
                    <a:pt x="234" y="250"/>
                  </a:lnTo>
                  <a:lnTo>
                    <a:pt x="228" y="238"/>
                  </a:lnTo>
                  <a:lnTo>
                    <a:pt x="221" y="226"/>
                  </a:lnTo>
                  <a:lnTo>
                    <a:pt x="209" y="231"/>
                  </a:lnTo>
                  <a:lnTo>
                    <a:pt x="196" y="235"/>
                  </a:lnTo>
                  <a:lnTo>
                    <a:pt x="172" y="231"/>
                  </a:lnTo>
                  <a:lnTo>
                    <a:pt x="159" y="221"/>
                  </a:lnTo>
                  <a:lnTo>
                    <a:pt x="144" y="213"/>
                  </a:lnTo>
                  <a:lnTo>
                    <a:pt x="132" y="201"/>
                  </a:lnTo>
                  <a:lnTo>
                    <a:pt x="125" y="190"/>
                  </a:lnTo>
                  <a:lnTo>
                    <a:pt x="111" y="171"/>
                  </a:lnTo>
                  <a:lnTo>
                    <a:pt x="105" y="172"/>
                  </a:lnTo>
                  <a:lnTo>
                    <a:pt x="97" y="167"/>
                  </a:lnTo>
                  <a:lnTo>
                    <a:pt x="97" y="166"/>
                  </a:lnTo>
                  <a:lnTo>
                    <a:pt x="93" y="174"/>
                  </a:lnTo>
                  <a:lnTo>
                    <a:pt x="90" y="174"/>
                  </a:lnTo>
                  <a:lnTo>
                    <a:pt x="85" y="168"/>
                  </a:lnTo>
                  <a:lnTo>
                    <a:pt x="81" y="156"/>
                  </a:lnTo>
                  <a:lnTo>
                    <a:pt x="75" y="156"/>
                  </a:lnTo>
                  <a:lnTo>
                    <a:pt x="76" y="142"/>
                  </a:lnTo>
                  <a:lnTo>
                    <a:pt x="70" y="135"/>
                  </a:lnTo>
                  <a:lnTo>
                    <a:pt x="57" y="126"/>
                  </a:lnTo>
                  <a:lnTo>
                    <a:pt x="45" y="1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2" name="Freeform 61"/>
            <p:cNvSpPr>
              <a:spLocks/>
            </p:cNvSpPr>
            <p:nvPr/>
          </p:nvSpPr>
          <p:spPr bwMode="auto">
            <a:xfrm>
              <a:off x="3180" y="1961"/>
              <a:ext cx="173" cy="162"/>
            </a:xfrm>
            <a:custGeom>
              <a:avLst/>
              <a:gdLst/>
              <a:ahLst/>
              <a:cxnLst>
                <a:cxn ang="0">
                  <a:pos x="101" y="63"/>
                </a:cxn>
                <a:cxn ang="0">
                  <a:pos x="100" y="53"/>
                </a:cxn>
                <a:cxn ang="0">
                  <a:pos x="105" y="36"/>
                </a:cxn>
                <a:cxn ang="0">
                  <a:pos x="105" y="28"/>
                </a:cxn>
                <a:cxn ang="0">
                  <a:pos x="94" y="23"/>
                </a:cxn>
                <a:cxn ang="0">
                  <a:pos x="80" y="3"/>
                </a:cxn>
                <a:cxn ang="0">
                  <a:pos x="71" y="4"/>
                </a:cxn>
                <a:cxn ang="0">
                  <a:pos x="68" y="0"/>
                </a:cxn>
                <a:cxn ang="0">
                  <a:pos x="47" y="0"/>
                </a:cxn>
                <a:cxn ang="0">
                  <a:pos x="44" y="4"/>
                </a:cxn>
                <a:cxn ang="0">
                  <a:pos x="30" y="17"/>
                </a:cxn>
                <a:cxn ang="0">
                  <a:pos x="30" y="34"/>
                </a:cxn>
                <a:cxn ang="0">
                  <a:pos x="30" y="52"/>
                </a:cxn>
                <a:cxn ang="0">
                  <a:pos x="15" y="62"/>
                </a:cxn>
                <a:cxn ang="0">
                  <a:pos x="0" y="70"/>
                </a:cxn>
                <a:cxn ang="0">
                  <a:pos x="10" y="92"/>
                </a:cxn>
                <a:cxn ang="0">
                  <a:pos x="24" y="98"/>
                </a:cxn>
                <a:cxn ang="0">
                  <a:pos x="40" y="105"/>
                </a:cxn>
                <a:cxn ang="0">
                  <a:pos x="54" y="111"/>
                </a:cxn>
                <a:cxn ang="0">
                  <a:pos x="69" y="118"/>
                </a:cxn>
                <a:cxn ang="0">
                  <a:pos x="83" y="131"/>
                </a:cxn>
                <a:cxn ang="0">
                  <a:pos x="99" y="146"/>
                </a:cxn>
                <a:cxn ang="0">
                  <a:pos x="126" y="147"/>
                </a:cxn>
                <a:cxn ang="0">
                  <a:pos x="134" y="132"/>
                </a:cxn>
                <a:cxn ang="0">
                  <a:pos x="147" y="131"/>
                </a:cxn>
                <a:cxn ang="0">
                  <a:pos x="155" y="131"/>
                </a:cxn>
                <a:cxn ang="0">
                  <a:pos x="150" y="125"/>
                </a:cxn>
                <a:cxn ang="0">
                  <a:pos x="146" y="113"/>
                </a:cxn>
                <a:cxn ang="0">
                  <a:pos x="140" y="113"/>
                </a:cxn>
                <a:cxn ang="0">
                  <a:pos x="141" y="99"/>
                </a:cxn>
                <a:cxn ang="0">
                  <a:pos x="135" y="92"/>
                </a:cxn>
                <a:cxn ang="0">
                  <a:pos x="122" y="83"/>
                </a:cxn>
                <a:cxn ang="0">
                  <a:pos x="110" y="75"/>
                </a:cxn>
                <a:cxn ang="0">
                  <a:pos x="101" y="63"/>
                </a:cxn>
              </a:cxnLst>
              <a:rect l="0" t="0" r="r" b="b"/>
              <a:pathLst>
                <a:path w="155" h="147">
                  <a:moveTo>
                    <a:pt x="101" y="63"/>
                  </a:moveTo>
                  <a:lnTo>
                    <a:pt x="100" y="53"/>
                  </a:lnTo>
                  <a:lnTo>
                    <a:pt x="105" y="36"/>
                  </a:lnTo>
                  <a:lnTo>
                    <a:pt x="105" y="28"/>
                  </a:lnTo>
                  <a:lnTo>
                    <a:pt x="94" y="23"/>
                  </a:lnTo>
                  <a:lnTo>
                    <a:pt x="80" y="3"/>
                  </a:lnTo>
                  <a:lnTo>
                    <a:pt x="71" y="4"/>
                  </a:lnTo>
                  <a:lnTo>
                    <a:pt x="68" y="0"/>
                  </a:lnTo>
                  <a:lnTo>
                    <a:pt x="47" y="0"/>
                  </a:lnTo>
                  <a:lnTo>
                    <a:pt x="44" y="4"/>
                  </a:lnTo>
                  <a:lnTo>
                    <a:pt x="30" y="17"/>
                  </a:lnTo>
                  <a:lnTo>
                    <a:pt x="30" y="34"/>
                  </a:lnTo>
                  <a:lnTo>
                    <a:pt x="30" y="52"/>
                  </a:lnTo>
                  <a:lnTo>
                    <a:pt x="15" y="62"/>
                  </a:lnTo>
                  <a:lnTo>
                    <a:pt x="0" y="70"/>
                  </a:lnTo>
                  <a:lnTo>
                    <a:pt x="10" y="92"/>
                  </a:lnTo>
                  <a:lnTo>
                    <a:pt x="24" y="98"/>
                  </a:lnTo>
                  <a:lnTo>
                    <a:pt x="40" y="105"/>
                  </a:lnTo>
                  <a:lnTo>
                    <a:pt x="54" y="111"/>
                  </a:lnTo>
                  <a:lnTo>
                    <a:pt x="69" y="118"/>
                  </a:lnTo>
                  <a:lnTo>
                    <a:pt x="83" y="131"/>
                  </a:lnTo>
                  <a:lnTo>
                    <a:pt x="99" y="146"/>
                  </a:lnTo>
                  <a:lnTo>
                    <a:pt x="126" y="147"/>
                  </a:lnTo>
                  <a:lnTo>
                    <a:pt x="134" y="132"/>
                  </a:lnTo>
                  <a:lnTo>
                    <a:pt x="147" y="131"/>
                  </a:lnTo>
                  <a:lnTo>
                    <a:pt x="155" y="131"/>
                  </a:lnTo>
                  <a:lnTo>
                    <a:pt x="150" y="125"/>
                  </a:lnTo>
                  <a:lnTo>
                    <a:pt x="146" y="113"/>
                  </a:lnTo>
                  <a:lnTo>
                    <a:pt x="140" y="113"/>
                  </a:lnTo>
                  <a:lnTo>
                    <a:pt x="141" y="99"/>
                  </a:lnTo>
                  <a:lnTo>
                    <a:pt x="135" y="92"/>
                  </a:lnTo>
                  <a:lnTo>
                    <a:pt x="122" y="83"/>
                  </a:lnTo>
                  <a:lnTo>
                    <a:pt x="110" y="75"/>
                  </a:lnTo>
                  <a:lnTo>
                    <a:pt x="101" y="6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3" name="Freeform 62"/>
            <p:cNvSpPr>
              <a:spLocks/>
            </p:cNvSpPr>
            <p:nvPr/>
          </p:nvSpPr>
          <p:spPr bwMode="auto">
            <a:xfrm>
              <a:off x="3320" y="2107"/>
              <a:ext cx="33" cy="29"/>
            </a:xfrm>
            <a:custGeom>
              <a:avLst/>
              <a:gdLst/>
              <a:ahLst/>
              <a:cxnLst>
                <a:cxn ang="0">
                  <a:pos x="24" y="7"/>
                </a:cxn>
                <a:cxn ang="0">
                  <a:pos x="20" y="9"/>
                </a:cxn>
                <a:cxn ang="0">
                  <a:pos x="21" y="12"/>
                </a:cxn>
                <a:cxn ang="0">
                  <a:pos x="30" y="27"/>
                </a:cxn>
                <a:cxn ang="0">
                  <a:pos x="17" y="23"/>
                </a:cxn>
                <a:cxn ang="0">
                  <a:pos x="15" y="18"/>
                </a:cxn>
                <a:cxn ang="0">
                  <a:pos x="0" y="16"/>
                </a:cxn>
                <a:cxn ang="0">
                  <a:pos x="8" y="1"/>
                </a:cxn>
                <a:cxn ang="0">
                  <a:pos x="21" y="0"/>
                </a:cxn>
                <a:cxn ang="0">
                  <a:pos x="24" y="7"/>
                </a:cxn>
              </a:cxnLst>
              <a:rect l="0" t="0" r="r" b="b"/>
              <a:pathLst>
                <a:path w="30" h="27">
                  <a:moveTo>
                    <a:pt x="24" y="7"/>
                  </a:moveTo>
                  <a:lnTo>
                    <a:pt x="20" y="9"/>
                  </a:lnTo>
                  <a:lnTo>
                    <a:pt x="21" y="12"/>
                  </a:lnTo>
                  <a:lnTo>
                    <a:pt x="30" y="27"/>
                  </a:lnTo>
                  <a:lnTo>
                    <a:pt x="17" y="23"/>
                  </a:lnTo>
                  <a:lnTo>
                    <a:pt x="15" y="18"/>
                  </a:lnTo>
                  <a:lnTo>
                    <a:pt x="0" y="16"/>
                  </a:lnTo>
                  <a:lnTo>
                    <a:pt x="8" y="1"/>
                  </a:lnTo>
                  <a:lnTo>
                    <a:pt x="21" y="0"/>
                  </a:lnTo>
                  <a:lnTo>
                    <a:pt x="24"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4" name="Freeform 63"/>
            <p:cNvSpPr>
              <a:spLocks/>
            </p:cNvSpPr>
            <p:nvPr/>
          </p:nvSpPr>
          <p:spPr bwMode="auto">
            <a:xfrm>
              <a:off x="3893" y="2096"/>
              <a:ext cx="142" cy="80"/>
            </a:xfrm>
            <a:custGeom>
              <a:avLst/>
              <a:gdLst/>
              <a:ahLst/>
              <a:cxnLst>
                <a:cxn ang="0">
                  <a:pos x="73" y="56"/>
                </a:cxn>
                <a:cxn ang="0">
                  <a:pos x="54" y="54"/>
                </a:cxn>
                <a:cxn ang="0">
                  <a:pos x="39" y="50"/>
                </a:cxn>
                <a:cxn ang="0">
                  <a:pos x="19" y="41"/>
                </a:cxn>
                <a:cxn ang="0">
                  <a:pos x="0" y="30"/>
                </a:cxn>
                <a:cxn ang="0">
                  <a:pos x="0" y="19"/>
                </a:cxn>
                <a:cxn ang="0">
                  <a:pos x="9" y="5"/>
                </a:cxn>
                <a:cxn ang="0">
                  <a:pos x="10" y="6"/>
                </a:cxn>
                <a:cxn ang="0">
                  <a:pos x="16" y="0"/>
                </a:cxn>
                <a:cxn ang="0">
                  <a:pos x="29" y="8"/>
                </a:cxn>
                <a:cxn ang="0">
                  <a:pos x="49" y="23"/>
                </a:cxn>
                <a:cxn ang="0">
                  <a:pos x="55" y="20"/>
                </a:cxn>
                <a:cxn ang="0">
                  <a:pos x="60" y="26"/>
                </a:cxn>
                <a:cxn ang="0">
                  <a:pos x="75" y="32"/>
                </a:cxn>
                <a:cxn ang="0">
                  <a:pos x="77" y="36"/>
                </a:cxn>
                <a:cxn ang="0">
                  <a:pos x="93" y="43"/>
                </a:cxn>
                <a:cxn ang="0">
                  <a:pos x="107" y="44"/>
                </a:cxn>
                <a:cxn ang="0">
                  <a:pos x="125" y="47"/>
                </a:cxn>
                <a:cxn ang="0">
                  <a:pos x="130" y="72"/>
                </a:cxn>
                <a:cxn ang="0">
                  <a:pos x="113" y="71"/>
                </a:cxn>
                <a:cxn ang="0">
                  <a:pos x="93" y="68"/>
                </a:cxn>
                <a:cxn ang="0">
                  <a:pos x="82" y="65"/>
                </a:cxn>
                <a:cxn ang="0">
                  <a:pos x="73" y="56"/>
                </a:cxn>
              </a:cxnLst>
              <a:rect l="0" t="0" r="r" b="b"/>
              <a:pathLst>
                <a:path w="130" h="72">
                  <a:moveTo>
                    <a:pt x="73" y="56"/>
                  </a:moveTo>
                  <a:lnTo>
                    <a:pt x="54" y="54"/>
                  </a:lnTo>
                  <a:lnTo>
                    <a:pt x="39" y="50"/>
                  </a:lnTo>
                  <a:lnTo>
                    <a:pt x="19" y="41"/>
                  </a:lnTo>
                  <a:lnTo>
                    <a:pt x="0" y="30"/>
                  </a:lnTo>
                  <a:lnTo>
                    <a:pt x="0" y="19"/>
                  </a:lnTo>
                  <a:lnTo>
                    <a:pt x="9" y="5"/>
                  </a:lnTo>
                  <a:lnTo>
                    <a:pt x="10" y="6"/>
                  </a:lnTo>
                  <a:lnTo>
                    <a:pt x="16" y="0"/>
                  </a:lnTo>
                  <a:lnTo>
                    <a:pt x="29" y="8"/>
                  </a:lnTo>
                  <a:lnTo>
                    <a:pt x="49" y="23"/>
                  </a:lnTo>
                  <a:lnTo>
                    <a:pt x="55" y="20"/>
                  </a:lnTo>
                  <a:lnTo>
                    <a:pt x="60" y="26"/>
                  </a:lnTo>
                  <a:lnTo>
                    <a:pt x="75" y="32"/>
                  </a:lnTo>
                  <a:lnTo>
                    <a:pt x="77" y="36"/>
                  </a:lnTo>
                  <a:lnTo>
                    <a:pt x="93" y="43"/>
                  </a:lnTo>
                  <a:lnTo>
                    <a:pt x="107" y="44"/>
                  </a:lnTo>
                  <a:lnTo>
                    <a:pt x="125" y="47"/>
                  </a:lnTo>
                  <a:lnTo>
                    <a:pt x="130" y="72"/>
                  </a:lnTo>
                  <a:lnTo>
                    <a:pt x="113" y="71"/>
                  </a:lnTo>
                  <a:lnTo>
                    <a:pt x="93" y="68"/>
                  </a:lnTo>
                  <a:lnTo>
                    <a:pt x="82" y="65"/>
                  </a:lnTo>
                  <a:lnTo>
                    <a:pt x="73"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5" name="Freeform 64"/>
            <p:cNvSpPr>
              <a:spLocks/>
            </p:cNvSpPr>
            <p:nvPr/>
          </p:nvSpPr>
          <p:spPr bwMode="auto">
            <a:xfrm>
              <a:off x="3562" y="1967"/>
              <a:ext cx="260" cy="263"/>
            </a:xfrm>
            <a:custGeom>
              <a:avLst/>
              <a:gdLst/>
              <a:ahLst/>
              <a:cxnLst>
                <a:cxn ang="0">
                  <a:pos x="102" y="217"/>
                </a:cxn>
                <a:cxn ang="0">
                  <a:pos x="116" y="233"/>
                </a:cxn>
                <a:cxn ang="0">
                  <a:pos x="135" y="234"/>
                </a:cxn>
                <a:cxn ang="0">
                  <a:pos x="148" y="229"/>
                </a:cxn>
                <a:cxn ang="0">
                  <a:pos x="169" y="227"/>
                </a:cxn>
                <a:cxn ang="0">
                  <a:pos x="156" y="203"/>
                </a:cxn>
                <a:cxn ang="0">
                  <a:pos x="140" y="185"/>
                </a:cxn>
                <a:cxn ang="0">
                  <a:pos x="154" y="165"/>
                </a:cxn>
                <a:cxn ang="0">
                  <a:pos x="180" y="149"/>
                </a:cxn>
                <a:cxn ang="0">
                  <a:pos x="196" y="120"/>
                </a:cxn>
                <a:cxn ang="0">
                  <a:pos x="200" y="95"/>
                </a:cxn>
                <a:cxn ang="0">
                  <a:pos x="204" y="82"/>
                </a:cxn>
                <a:cxn ang="0">
                  <a:pos x="190" y="71"/>
                </a:cxn>
                <a:cxn ang="0">
                  <a:pos x="187" y="57"/>
                </a:cxn>
                <a:cxn ang="0">
                  <a:pos x="180" y="42"/>
                </a:cxn>
                <a:cxn ang="0">
                  <a:pos x="219" y="40"/>
                </a:cxn>
                <a:cxn ang="0">
                  <a:pos x="213" y="22"/>
                </a:cxn>
                <a:cxn ang="0">
                  <a:pos x="195" y="5"/>
                </a:cxn>
                <a:cxn ang="0">
                  <a:pos x="159" y="4"/>
                </a:cxn>
                <a:cxn ang="0">
                  <a:pos x="134" y="19"/>
                </a:cxn>
                <a:cxn ang="0">
                  <a:pos x="138" y="47"/>
                </a:cxn>
                <a:cxn ang="0">
                  <a:pos x="122" y="57"/>
                </a:cxn>
                <a:cxn ang="0">
                  <a:pos x="118" y="77"/>
                </a:cxn>
                <a:cxn ang="0">
                  <a:pos x="103" y="96"/>
                </a:cxn>
                <a:cxn ang="0">
                  <a:pos x="84" y="107"/>
                </a:cxn>
                <a:cxn ang="0">
                  <a:pos x="81" y="129"/>
                </a:cxn>
                <a:cxn ang="0">
                  <a:pos x="49" y="136"/>
                </a:cxn>
                <a:cxn ang="0">
                  <a:pos x="13" y="132"/>
                </a:cxn>
                <a:cxn ang="0">
                  <a:pos x="10" y="141"/>
                </a:cxn>
                <a:cxn ang="0">
                  <a:pos x="33" y="159"/>
                </a:cxn>
                <a:cxn ang="0">
                  <a:pos x="43" y="179"/>
                </a:cxn>
                <a:cxn ang="0">
                  <a:pos x="30" y="192"/>
                </a:cxn>
                <a:cxn ang="0">
                  <a:pos x="22" y="213"/>
                </a:cxn>
                <a:cxn ang="0">
                  <a:pos x="51" y="211"/>
                </a:cxn>
                <a:cxn ang="0">
                  <a:pos x="80" y="209"/>
                </a:cxn>
              </a:cxnLst>
              <a:rect l="0" t="0" r="r" b="b"/>
              <a:pathLst>
                <a:path w="234" h="238">
                  <a:moveTo>
                    <a:pt x="96" y="208"/>
                  </a:moveTo>
                  <a:lnTo>
                    <a:pt x="102" y="217"/>
                  </a:lnTo>
                  <a:lnTo>
                    <a:pt x="108" y="220"/>
                  </a:lnTo>
                  <a:lnTo>
                    <a:pt x="116" y="233"/>
                  </a:lnTo>
                  <a:lnTo>
                    <a:pt x="128" y="238"/>
                  </a:lnTo>
                  <a:lnTo>
                    <a:pt x="135" y="234"/>
                  </a:lnTo>
                  <a:lnTo>
                    <a:pt x="135" y="228"/>
                  </a:lnTo>
                  <a:lnTo>
                    <a:pt x="148" y="229"/>
                  </a:lnTo>
                  <a:lnTo>
                    <a:pt x="163" y="227"/>
                  </a:lnTo>
                  <a:lnTo>
                    <a:pt x="169" y="227"/>
                  </a:lnTo>
                  <a:lnTo>
                    <a:pt x="162" y="204"/>
                  </a:lnTo>
                  <a:lnTo>
                    <a:pt x="156" y="203"/>
                  </a:lnTo>
                  <a:lnTo>
                    <a:pt x="152" y="191"/>
                  </a:lnTo>
                  <a:lnTo>
                    <a:pt x="140" y="185"/>
                  </a:lnTo>
                  <a:lnTo>
                    <a:pt x="148" y="163"/>
                  </a:lnTo>
                  <a:lnTo>
                    <a:pt x="154" y="165"/>
                  </a:lnTo>
                  <a:lnTo>
                    <a:pt x="170" y="165"/>
                  </a:lnTo>
                  <a:lnTo>
                    <a:pt x="180" y="149"/>
                  </a:lnTo>
                  <a:lnTo>
                    <a:pt x="189" y="133"/>
                  </a:lnTo>
                  <a:lnTo>
                    <a:pt x="196" y="120"/>
                  </a:lnTo>
                  <a:lnTo>
                    <a:pt x="204" y="108"/>
                  </a:lnTo>
                  <a:lnTo>
                    <a:pt x="200" y="95"/>
                  </a:lnTo>
                  <a:lnTo>
                    <a:pt x="211" y="88"/>
                  </a:lnTo>
                  <a:lnTo>
                    <a:pt x="204" y="82"/>
                  </a:lnTo>
                  <a:lnTo>
                    <a:pt x="198" y="76"/>
                  </a:lnTo>
                  <a:lnTo>
                    <a:pt x="190" y="71"/>
                  </a:lnTo>
                  <a:lnTo>
                    <a:pt x="187" y="61"/>
                  </a:lnTo>
                  <a:lnTo>
                    <a:pt x="187" y="57"/>
                  </a:lnTo>
                  <a:lnTo>
                    <a:pt x="180" y="48"/>
                  </a:lnTo>
                  <a:lnTo>
                    <a:pt x="180" y="42"/>
                  </a:lnTo>
                  <a:lnTo>
                    <a:pt x="202" y="46"/>
                  </a:lnTo>
                  <a:lnTo>
                    <a:pt x="219" y="40"/>
                  </a:lnTo>
                  <a:lnTo>
                    <a:pt x="234" y="28"/>
                  </a:lnTo>
                  <a:lnTo>
                    <a:pt x="213" y="22"/>
                  </a:lnTo>
                  <a:lnTo>
                    <a:pt x="202" y="17"/>
                  </a:lnTo>
                  <a:lnTo>
                    <a:pt x="195" y="5"/>
                  </a:lnTo>
                  <a:lnTo>
                    <a:pt x="177" y="0"/>
                  </a:lnTo>
                  <a:lnTo>
                    <a:pt x="159" y="4"/>
                  </a:lnTo>
                  <a:lnTo>
                    <a:pt x="141" y="9"/>
                  </a:lnTo>
                  <a:lnTo>
                    <a:pt x="134" y="19"/>
                  </a:lnTo>
                  <a:lnTo>
                    <a:pt x="142" y="34"/>
                  </a:lnTo>
                  <a:lnTo>
                    <a:pt x="138" y="47"/>
                  </a:lnTo>
                  <a:lnTo>
                    <a:pt x="135" y="55"/>
                  </a:lnTo>
                  <a:lnTo>
                    <a:pt x="122" y="57"/>
                  </a:lnTo>
                  <a:lnTo>
                    <a:pt x="130" y="66"/>
                  </a:lnTo>
                  <a:lnTo>
                    <a:pt x="118" y="77"/>
                  </a:lnTo>
                  <a:lnTo>
                    <a:pt x="117" y="96"/>
                  </a:lnTo>
                  <a:lnTo>
                    <a:pt x="103" y="96"/>
                  </a:lnTo>
                  <a:lnTo>
                    <a:pt x="98" y="101"/>
                  </a:lnTo>
                  <a:lnTo>
                    <a:pt x="84" y="107"/>
                  </a:lnTo>
                  <a:lnTo>
                    <a:pt x="81" y="121"/>
                  </a:lnTo>
                  <a:lnTo>
                    <a:pt x="81" y="129"/>
                  </a:lnTo>
                  <a:lnTo>
                    <a:pt x="66" y="132"/>
                  </a:lnTo>
                  <a:lnTo>
                    <a:pt x="49" y="136"/>
                  </a:lnTo>
                  <a:lnTo>
                    <a:pt x="25" y="137"/>
                  </a:lnTo>
                  <a:lnTo>
                    <a:pt x="13" y="132"/>
                  </a:lnTo>
                  <a:lnTo>
                    <a:pt x="0" y="129"/>
                  </a:lnTo>
                  <a:lnTo>
                    <a:pt x="10" y="141"/>
                  </a:lnTo>
                  <a:lnTo>
                    <a:pt x="21" y="153"/>
                  </a:lnTo>
                  <a:lnTo>
                    <a:pt x="33" y="159"/>
                  </a:lnTo>
                  <a:lnTo>
                    <a:pt x="38" y="177"/>
                  </a:lnTo>
                  <a:lnTo>
                    <a:pt x="43" y="179"/>
                  </a:lnTo>
                  <a:lnTo>
                    <a:pt x="43" y="186"/>
                  </a:lnTo>
                  <a:lnTo>
                    <a:pt x="30" y="192"/>
                  </a:lnTo>
                  <a:lnTo>
                    <a:pt x="24" y="198"/>
                  </a:lnTo>
                  <a:lnTo>
                    <a:pt x="22" y="213"/>
                  </a:lnTo>
                  <a:lnTo>
                    <a:pt x="37" y="211"/>
                  </a:lnTo>
                  <a:lnTo>
                    <a:pt x="51" y="211"/>
                  </a:lnTo>
                  <a:lnTo>
                    <a:pt x="63" y="210"/>
                  </a:lnTo>
                  <a:lnTo>
                    <a:pt x="80" y="209"/>
                  </a:lnTo>
                  <a:lnTo>
                    <a:pt x="96" y="2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6" name="Freeform 65"/>
            <p:cNvSpPr>
              <a:spLocks/>
            </p:cNvSpPr>
            <p:nvPr/>
          </p:nvSpPr>
          <p:spPr bwMode="auto">
            <a:xfrm>
              <a:off x="2951" y="2074"/>
              <a:ext cx="196" cy="196"/>
            </a:xfrm>
            <a:custGeom>
              <a:avLst/>
              <a:gdLst/>
              <a:ahLst/>
              <a:cxnLst>
                <a:cxn ang="0">
                  <a:pos x="139" y="66"/>
                </a:cxn>
                <a:cxn ang="0">
                  <a:pos x="130" y="49"/>
                </a:cxn>
                <a:cxn ang="0">
                  <a:pos x="119" y="33"/>
                </a:cxn>
                <a:cxn ang="0">
                  <a:pos x="116" y="34"/>
                </a:cxn>
                <a:cxn ang="0">
                  <a:pos x="122" y="48"/>
                </a:cxn>
                <a:cxn ang="0">
                  <a:pos x="130" y="61"/>
                </a:cxn>
                <a:cxn ang="0">
                  <a:pos x="137" y="75"/>
                </a:cxn>
                <a:cxn ang="0">
                  <a:pos x="143" y="88"/>
                </a:cxn>
                <a:cxn ang="0">
                  <a:pos x="150" y="100"/>
                </a:cxn>
                <a:cxn ang="0">
                  <a:pos x="157" y="113"/>
                </a:cxn>
                <a:cxn ang="0">
                  <a:pos x="166" y="125"/>
                </a:cxn>
                <a:cxn ang="0">
                  <a:pos x="175" y="138"/>
                </a:cxn>
                <a:cxn ang="0">
                  <a:pos x="173" y="139"/>
                </a:cxn>
                <a:cxn ang="0">
                  <a:pos x="174" y="154"/>
                </a:cxn>
                <a:cxn ang="0">
                  <a:pos x="168" y="160"/>
                </a:cxn>
                <a:cxn ang="0">
                  <a:pos x="164" y="159"/>
                </a:cxn>
                <a:cxn ang="0">
                  <a:pos x="161" y="168"/>
                </a:cxn>
                <a:cxn ang="0">
                  <a:pos x="152" y="171"/>
                </a:cxn>
                <a:cxn ang="0">
                  <a:pos x="149" y="178"/>
                </a:cxn>
                <a:cxn ang="0">
                  <a:pos x="130" y="177"/>
                </a:cxn>
                <a:cxn ang="0">
                  <a:pos x="110" y="174"/>
                </a:cxn>
                <a:cxn ang="0">
                  <a:pos x="109" y="169"/>
                </a:cxn>
                <a:cxn ang="0">
                  <a:pos x="108" y="174"/>
                </a:cxn>
                <a:cxn ang="0">
                  <a:pos x="96" y="174"/>
                </a:cxn>
                <a:cxn ang="0">
                  <a:pos x="83" y="174"/>
                </a:cxn>
                <a:cxn ang="0">
                  <a:pos x="71" y="174"/>
                </a:cxn>
                <a:cxn ang="0">
                  <a:pos x="59" y="174"/>
                </a:cxn>
                <a:cxn ang="0">
                  <a:pos x="47" y="174"/>
                </a:cxn>
                <a:cxn ang="0">
                  <a:pos x="35" y="174"/>
                </a:cxn>
                <a:cxn ang="0">
                  <a:pos x="23" y="174"/>
                </a:cxn>
                <a:cxn ang="0">
                  <a:pos x="11" y="174"/>
                </a:cxn>
                <a:cxn ang="0">
                  <a:pos x="10" y="157"/>
                </a:cxn>
                <a:cxn ang="0">
                  <a:pos x="8" y="141"/>
                </a:cxn>
                <a:cxn ang="0">
                  <a:pos x="7" y="124"/>
                </a:cxn>
                <a:cxn ang="0">
                  <a:pos x="6" y="107"/>
                </a:cxn>
                <a:cxn ang="0">
                  <a:pos x="5" y="90"/>
                </a:cxn>
                <a:cxn ang="0">
                  <a:pos x="4" y="73"/>
                </a:cxn>
                <a:cxn ang="0">
                  <a:pos x="2" y="57"/>
                </a:cxn>
                <a:cxn ang="0">
                  <a:pos x="1" y="39"/>
                </a:cxn>
                <a:cxn ang="0">
                  <a:pos x="1" y="25"/>
                </a:cxn>
                <a:cxn ang="0">
                  <a:pos x="0" y="12"/>
                </a:cxn>
                <a:cxn ang="0">
                  <a:pos x="2" y="0"/>
                </a:cxn>
                <a:cxn ang="0">
                  <a:pos x="13" y="1"/>
                </a:cxn>
                <a:cxn ang="0">
                  <a:pos x="36" y="7"/>
                </a:cxn>
                <a:cxn ang="0">
                  <a:pos x="60" y="15"/>
                </a:cxn>
                <a:cxn ang="0">
                  <a:pos x="80" y="7"/>
                </a:cxn>
                <a:cxn ang="0">
                  <a:pos x="91" y="1"/>
                </a:cxn>
                <a:cxn ang="0">
                  <a:pos x="86" y="5"/>
                </a:cxn>
                <a:cxn ang="0">
                  <a:pos x="94" y="3"/>
                </a:cxn>
                <a:cxn ang="0">
                  <a:pos x="107" y="6"/>
                </a:cxn>
                <a:cxn ang="0">
                  <a:pos x="112" y="10"/>
                </a:cxn>
                <a:cxn ang="0">
                  <a:pos x="119" y="11"/>
                </a:cxn>
                <a:cxn ang="0">
                  <a:pos x="140" y="6"/>
                </a:cxn>
                <a:cxn ang="0">
                  <a:pos x="148" y="23"/>
                </a:cxn>
                <a:cxn ang="0">
                  <a:pos x="155" y="40"/>
                </a:cxn>
                <a:cxn ang="0">
                  <a:pos x="151" y="54"/>
                </a:cxn>
                <a:cxn ang="0">
                  <a:pos x="148" y="69"/>
                </a:cxn>
                <a:cxn ang="0">
                  <a:pos x="139" y="66"/>
                </a:cxn>
              </a:cxnLst>
              <a:rect l="0" t="0" r="r" b="b"/>
              <a:pathLst>
                <a:path w="175" h="178">
                  <a:moveTo>
                    <a:pt x="139" y="66"/>
                  </a:moveTo>
                  <a:lnTo>
                    <a:pt x="130" y="49"/>
                  </a:lnTo>
                  <a:lnTo>
                    <a:pt x="119" y="33"/>
                  </a:lnTo>
                  <a:lnTo>
                    <a:pt x="116" y="34"/>
                  </a:lnTo>
                  <a:lnTo>
                    <a:pt x="122" y="48"/>
                  </a:lnTo>
                  <a:lnTo>
                    <a:pt x="130" y="61"/>
                  </a:lnTo>
                  <a:lnTo>
                    <a:pt x="137" y="75"/>
                  </a:lnTo>
                  <a:lnTo>
                    <a:pt x="143" y="88"/>
                  </a:lnTo>
                  <a:lnTo>
                    <a:pt x="150" y="100"/>
                  </a:lnTo>
                  <a:lnTo>
                    <a:pt x="157" y="113"/>
                  </a:lnTo>
                  <a:lnTo>
                    <a:pt x="166" y="125"/>
                  </a:lnTo>
                  <a:lnTo>
                    <a:pt x="175" y="138"/>
                  </a:lnTo>
                  <a:lnTo>
                    <a:pt x="173" y="139"/>
                  </a:lnTo>
                  <a:lnTo>
                    <a:pt x="174" y="154"/>
                  </a:lnTo>
                  <a:lnTo>
                    <a:pt x="168" y="160"/>
                  </a:lnTo>
                  <a:lnTo>
                    <a:pt x="164" y="159"/>
                  </a:lnTo>
                  <a:lnTo>
                    <a:pt x="161" y="168"/>
                  </a:lnTo>
                  <a:lnTo>
                    <a:pt x="152" y="171"/>
                  </a:lnTo>
                  <a:lnTo>
                    <a:pt x="149" y="178"/>
                  </a:lnTo>
                  <a:lnTo>
                    <a:pt x="130" y="177"/>
                  </a:lnTo>
                  <a:lnTo>
                    <a:pt x="110" y="174"/>
                  </a:lnTo>
                  <a:lnTo>
                    <a:pt x="109" y="169"/>
                  </a:lnTo>
                  <a:lnTo>
                    <a:pt x="108" y="174"/>
                  </a:lnTo>
                  <a:lnTo>
                    <a:pt x="96" y="174"/>
                  </a:lnTo>
                  <a:lnTo>
                    <a:pt x="83" y="174"/>
                  </a:lnTo>
                  <a:lnTo>
                    <a:pt x="71" y="174"/>
                  </a:lnTo>
                  <a:lnTo>
                    <a:pt x="59" y="174"/>
                  </a:lnTo>
                  <a:lnTo>
                    <a:pt x="47" y="174"/>
                  </a:lnTo>
                  <a:lnTo>
                    <a:pt x="35" y="174"/>
                  </a:lnTo>
                  <a:lnTo>
                    <a:pt x="23" y="174"/>
                  </a:lnTo>
                  <a:lnTo>
                    <a:pt x="11" y="174"/>
                  </a:lnTo>
                  <a:lnTo>
                    <a:pt x="10" y="157"/>
                  </a:lnTo>
                  <a:lnTo>
                    <a:pt x="8" y="141"/>
                  </a:lnTo>
                  <a:lnTo>
                    <a:pt x="7" y="124"/>
                  </a:lnTo>
                  <a:lnTo>
                    <a:pt x="6" y="107"/>
                  </a:lnTo>
                  <a:lnTo>
                    <a:pt x="5" y="90"/>
                  </a:lnTo>
                  <a:lnTo>
                    <a:pt x="4" y="73"/>
                  </a:lnTo>
                  <a:lnTo>
                    <a:pt x="2" y="57"/>
                  </a:lnTo>
                  <a:lnTo>
                    <a:pt x="1" y="39"/>
                  </a:lnTo>
                  <a:lnTo>
                    <a:pt x="1" y="25"/>
                  </a:lnTo>
                  <a:lnTo>
                    <a:pt x="0" y="12"/>
                  </a:lnTo>
                  <a:lnTo>
                    <a:pt x="2" y="0"/>
                  </a:lnTo>
                  <a:lnTo>
                    <a:pt x="13" y="1"/>
                  </a:lnTo>
                  <a:lnTo>
                    <a:pt x="36" y="7"/>
                  </a:lnTo>
                  <a:lnTo>
                    <a:pt x="60" y="15"/>
                  </a:lnTo>
                  <a:lnTo>
                    <a:pt x="80" y="7"/>
                  </a:lnTo>
                  <a:lnTo>
                    <a:pt x="91" y="1"/>
                  </a:lnTo>
                  <a:lnTo>
                    <a:pt x="86" y="5"/>
                  </a:lnTo>
                  <a:lnTo>
                    <a:pt x="94" y="3"/>
                  </a:lnTo>
                  <a:lnTo>
                    <a:pt x="107" y="6"/>
                  </a:lnTo>
                  <a:lnTo>
                    <a:pt x="112" y="10"/>
                  </a:lnTo>
                  <a:lnTo>
                    <a:pt x="119" y="11"/>
                  </a:lnTo>
                  <a:lnTo>
                    <a:pt x="140" y="6"/>
                  </a:lnTo>
                  <a:lnTo>
                    <a:pt x="148" y="23"/>
                  </a:lnTo>
                  <a:lnTo>
                    <a:pt x="155" y="40"/>
                  </a:lnTo>
                  <a:lnTo>
                    <a:pt x="151" y="54"/>
                  </a:lnTo>
                  <a:lnTo>
                    <a:pt x="148" y="69"/>
                  </a:lnTo>
                  <a:lnTo>
                    <a:pt x="139" y="6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7" name="Freeform 66"/>
            <p:cNvSpPr>
              <a:spLocks/>
            </p:cNvSpPr>
            <p:nvPr/>
          </p:nvSpPr>
          <p:spPr bwMode="auto">
            <a:xfrm>
              <a:off x="3704" y="1996"/>
              <a:ext cx="482" cy="547"/>
            </a:xfrm>
            <a:custGeom>
              <a:avLst/>
              <a:gdLst/>
              <a:ahLst/>
              <a:cxnLst>
                <a:cxn ang="0">
                  <a:pos x="74" y="18"/>
                </a:cxn>
                <a:cxn ang="0">
                  <a:pos x="59" y="29"/>
                </a:cxn>
                <a:cxn ang="0">
                  <a:pos x="70" y="48"/>
                </a:cxn>
                <a:cxn ang="0">
                  <a:pos x="72" y="67"/>
                </a:cxn>
                <a:cxn ang="0">
                  <a:pos x="61" y="105"/>
                </a:cxn>
                <a:cxn ang="0">
                  <a:pos x="26" y="137"/>
                </a:cxn>
                <a:cxn ang="0">
                  <a:pos x="24" y="163"/>
                </a:cxn>
                <a:cxn ang="0">
                  <a:pos x="41" y="199"/>
                </a:cxn>
                <a:cxn ang="0">
                  <a:pos x="7" y="200"/>
                </a:cxn>
                <a:cxn ang="0">
                  <a:pos x="0" y="211"/>
                </a:cxn>
                <a:cxn ang="0">
                  <a:pos x="17" y="227"/>
                </a:cxn>
                <a:cxn ang="0">
                  <a:pos x="23" y="235"/>
                </a:cxn>
                <a:cxn ang="0">
                  <a:pos x="42" y="264"/>
                </a:cxn>
                <a:cxn ang="0">
                  <a:pos x="66" y="237"/>
                </a:cxn>
                <a:cxn ang="0">
                  <a:pos x="71" y="246"/>
                </a:cxn>
                <a:cxn ang="0">
                  <a:pos x="77" y="260"/>
                </a:cxn>
                <a:cxn ang="0">
                  <a:pos x="83" y="295"/>
                </a:cxn>
                <a:cxn ang="0">
                  <a:pos x="95" y="339"/>
                </a:cxn>
                <a:cxn ang="0">
                  <a:pos x="113" y="381"/>
                </a:cxn>
                <a:cxn ang="0">
                  <a:pos x="136" y="432"/>
                </a:cxn>
                <a:cxn ang="0">
                  <a:pos x="155" y="473"/>
                </a:cxn>
                <a:cxn ang="0">
                  <a:pos x="179" y="482"/>
                </a:cxn>
                <a:cxn ang="0">
                  <a:pos x="192" y="464"/>
                </a:cxn>
                <a:cxn ang="0">
                  <a:pos x="204" y="438"/>
                </a:cxn>
                <a:cxn ang="0">
                  <a:pos x="208" y="396"/>
                </a:cxn>
                <a:cxn ang="0">
                  <a:pos x="211" y="353"/>
                </a:cxn>
                <a:cxn ang="0">
                  <a:pos x="221" y="343"/>
                </a:cxn>
                <a:cxn ang="0">
                  <a:pos x="251" y="312"/>
                </a:cxn>
                <a:cxn ang="0">
                  <a:pos x="288" y="277"/>
                </a:cxn>
                <a:cxn ang="0">
                  <a:pos x="312" y="241"/>
                </a:cxn>
                <a:cxn ang="0">
                  <a:pos x="324" y="247"/>
                </a:cxn>
                <a:cxn ang="0">
                  <a:pos x="323" y="229"/>
                </a:cxn>
                <a:cxn ang="0">
                  <a:pos x="305" y="195"/>
                </a:cxn>
                <a:cxn ang="0">
                  <a:pos x="304" y="174"/>
                </a:cxn>
                <a:cxn ang="0">
                  <a:pos x="319" y="170"/>
                </a:cxn>
                <a:cxn ang="0">
                  <a:pos x="346" y="183"/>
                </a:cxn>
                <a:cxn ang="0">
                  <a:pos x="368" y="198"/>
                </a:cxn>
                <a:cxn ang="0">
                  <a:pos x="362" y="224"/>
                </a:cxn>
                <a:cxn ang="0">
                  <a:pos x="382" y="242"/>
                </a:cxn>
                <a:cxn ang="0">
                  <a:pos x="389" y="223"/>
                </a:cxn>
                <a:cxn ang="0">
                  <a:pos x="406" y="186"/>
                </a:cxn>
                <a:cxn ang="0">
                  <a:pos x="421" y="147"/>
                </a:cxn>
                <a:cxn ang="0">
                  <a:pos x="432" y="139"/>
                </a:cxn>
                <a:cxn ang="0">
                  <a:pos x="418" y="116"/>
                </a:cxn>
                <a:cxn ang="0">
                  <a:pos x="407" y="109"/>
                </a:cxn>
                <a:cxn ang="0">
                  <a:pos x="374" y="122"/>
                </a:cxn>
                <a:cxn ang="0">
                  <a:pos x="348" y="138"/>
                </a:cxn>
                <a:cxn ang="0">
                  <a:pos x="344" y="155"/>
                </a:cxn>
                <a:cxn ang="0">
                  <a:pos x="308" y="146"/>
                </a:cxn>
                <a:cxn ang="0">
                  <a:pos x="299" y="162"/>
                </a:cxn>
                <a:cxn ang="0">
                  <a:pos x="251" y="155"/>
                </a:cxn>
                <a:cxn ang="0">
                  <a:pos x="208" y="140"/>
                </a:cxn>
                <a:cxn ang="0">
                  <a:pos x="169" y="109"/>
                </a:cxn>
                <a:cxn ang="0">
                  <a:pos x="144" y="74"/>
                </a:cxn>
                <a:cxn ang="0">
                  <a:pos x="139" y="54"/>
                </a:cxn>
                <a:cxn ang="0">
                  <a:pos x="132" y="26"/>
                </a:cxn>
                <a:cxn ang="0">
                  <a:pos x="127" y="19"/>
                </a:cxn>
                <a:cxn ang="0">
                  <a:pos x="122" y="6"/>
                </a:cxn>
                <a:cxn ang="0">
                  <a:pos x="106" y="0"/>
                </a:cxn>
              </a:cxnLst>
              <a:rect l="0" t="0" r="r" b="b"/>
              <a:pathLst>
                <a:path w="434" h="491">
                  <a:moveTo>
                    <a:pt x="106" y="0"/>
                  </a:moveTo>
                  <a:lnTo>
                    <a:pt x="91" y="12"/>
                  </a:lnTo>
                  <a:lnTo>
                    <a:pt x="74" y="18"/>
                  </a:lnTo>
                  <a:lnTo>
                    <a:pt x="52" y="14"/>
                  </a:lnTo>
                  <a:lnTo>
                    <a:pt x="52" y="20"/>
                  </a:lnTo>
                  <a:lnTo>
                    <a:pt x="59" y="29"/>
                  </a:lnTo>
                  <a:lnTo>
                    <a:pt x="59" y="33"/>
                  </a:lnTo>
                  <a:lnTo>
                    <a:pt x="62" y="43"/>
                  </a:lnTo>
                  <a:lnTo>
                    <a:pt x="70" y="48"/>
                  </a:lnTo>
                  <a:lnTo>
                    <a:pt x="76" y="54"/>
                  </a:lnTo>
                  <a:lnTo>
                    <a:pt x="83" y="60"/>
                  </a:lnTo>
                  <a:lnTo>
                    <a:pt x="72" y="67"/>
                  </a:lnTo>
                  <a:lnTo>
                    <a:pt x="76" y="80"/>
                  </a:lnTo>
                  <a:lnTo>
                    <a:pt x="68" y="92"/>
                  </a:lnTo>
                  <a:lnTo>
                    <a:pt x="61" y="105"/>
                  </a:lnTo>
                  <a:lnTo>
                    <a:pt x="52" y="121"/>
                  </a:lnTo>
                  <a:lnTo>
                    <a:pt x="42" y="137"/>
                  </a:lnTo>
                  <a:lnTo>
                    <a:pt x="26" y="137"/>
                  </a:lnTo>
                  <a:lnTo>
                    <a:pt x="20" y="135"/>
                  </a:lnTo>
                  <a:lnTo>
                    <a:pt x="12" y="157"/>
                  </a:lnTo>
                  <a:lnTo>
                    <a:pt x="24" y="163"/>
                  </a:lnTo>
                  <a:lnTo>
                    <a:pt x="28" y="175"/>
                  </a:lnTo>
                  <a:lnTo>
                    <a:pt x="34" y="176"/>
                  </a:lnTo>
                  <a:lnTo>
                    <a:pt x="41" y="199"/>
                  </a:lnTo>
                  <a:lnTo>
                    <a:pt x="35" y="199"/>
                  </a:lnTo>
                  <a:lnTo>
                    <a:pt x="20" y="201"/>
                  </a:lnTo>
                  <a:lnTo>
                    <a:pt x="7" y="200"/>
                  </a:lnTo>
                  <a:lnTo>
                    <a:pt x="7" y="206"/>
                  </a:lnTo>
                  <a:lnTo>
                    <a:pt x="0" y="210"/>
                  </a:lnTo>
                  <a:lnTo>
                    <a:pt x="0" y="211"/>
                  </a:lnTo>
                  <a:lnTo>
                    <a:pt x="6" y="209"/>
                  </a:lnTo>
                  <a:lnTo>
                    <a:pt x="4" y="213"/>
                  </a:lnTo>
                  <a:lnTo>
                    <a:pt x="17" y="227"/>
                  </a:lnTo>
                  <a:lnTo>
                    <a:pt x="35" y="224"/>
                  </a:lnTo>
                  <a:lnTo>
                    <a:pt x="34" y="228"/>
                  </a:lnTo>
                  <a:lnTo>
                    <a:pt x="23" y="235"/>
                  </a:lnTo>
                  <a:lnTo>
                    <a:pt x="14" y="234"/>
                  </a:lnTo>
                  <a:lnTo>
                    <a:pt x="29" y="248"/>
                  </a:lnTo>
                  <a:lnTo>
                    <a:pt x="42" y="264"/>
                  </a:lnTo>
                  <a:lnTo>
                    <a:pt x="64" y="258"/>
                  </a:lnTo>
                  <a:lnTo>
                    <a:pt x="65" y="246"/>
                  </a:lnTo>
                  <a:lnTo>
                    <a:pt x="66" y="237"/>
                  </a:lnTo>
                  <a:lnTo>
                    <a:pt x="74" y="237"/>
                  </a:lnTo>
                  <a:lnTo>
                    <a:pt x="72" y="242"/>
                  </a:lnTo>
                  <a:lnTo>
                    <a:pt x="71" y="246"/>
                  </a:lnTo>
                  <a:lnTo>
                    <a:pt x="79" y="246"/>
                  </a:lnTo>
                  <a:lnTo>
                    <a:pt x="74" y="252"/>
                  </a:lnTo>
                  <a:lnTo>
                    <a:pt x="77" y="260"/>
                  </a:lnTo>
                  <a:lnTo>
                    <a:pt x="77" y="272"/>
                  </a:lnTo>
                  <a:lnTo>
                    <a:pt x="82" y="290"/>
                  </a:lnTo>
                  <a:lnTo>
                    <a:pt x="83" y="295"/>
                  </a:lnTo>
                  <a:lnTo>
                    <a:pt x="84" y="300"/>
                  </a:lnTo>
                  <a:lnTo>
                    <a:pt x="89" y="321"/>
                  </a:lnTo>
                  <a:lnTo>
                    <a:pt x="95" y="339"/>
                  </a:lnTo>
                  <a:lnTo>
                    <a:pt x="101" y="356"/>
                  </a:lnTo>
                  <a:lnTo>
                    <a:pt x="104" y="361"/>
                  </a:lnTo>
                  <a:lnTo>
                    <a:pt x="113" y="381"/>
                  </a:lnTo>
                  <a:lnTo>
                    <a:pt x="121" y="402"/>
                  </a:lnTo>
                  <a:lnTo>
                    <a:pt x="128" y="416"/>
                  </a:lnTo>
                  <a:lnTo>
                    <a:pt x="136" y="432"/>
                  </a:lnTo>
                  <a:lnTo>
                    <a:pt x="143" y="446"/>
                  </a:lnTo>
                  <a:lnTo>
                    <a:pt x="148" y="458"/>
                  </a:lnTo>
                  <a:lnTo>
                    <a:pt x="155" y="473"/>
                  </a:lnTo>
                  <a:lnTo>
                    <a:pt x="161" y="486"/>
                  </a:lnTo>
                  <a:lnTo>
                    <a:pt x="170" y="491"/>
                  </a:lnTo>
                  <a:lnTo>
                    <a:pt x="179" y="482"/>
                  </a:lnTo>
                  <a:lnTo>
                    <a:pt x="188" y="473"/>
                  </a:lnTo>
                  <a:lnTo>
                    <a:pt x="198" y="471"/>
                  </a:lnTo>
                  <a:lnTo>
                    <a:pt x="192" y="464"/>
                  </a:lnTo>
                  <a:lnTo>
                    <a:pt x="200" y="451"/>
                  </a:lnTo>
                  <a:lnTo>
                    <a:pt x="205" y="451"/>
                  </a:lnTo>
                  <a:lnTo>
                    <a:pt x="204" y="438"/>
                  </a:lnTo>
                  <a:lnTo>
                    <a:pt x="202" y="425"/>
                  </a:lnTo>
                  <a:lnTo>
                    <a:pt x="205" y="410"/>
                  </a:lnTo>
                  <a:lnTo>
                    <a:pt x="208" y="396"/>
                  </a:lnTo>
                  <a:lnTo>
                    <a:pt x="204" y="379"/>
                  </a:lnTo>
                  <a:lnTo>
                    <a:pt x="203" y="359"/>
                  </a:lnTo>
                  <a:lnTo>
                    <a:pt x="211" y="353"/>
                  </a:lnTo>
                  <a:lnTo>
                    <a:pt x="214" y="351"/>
                  </a:lnTo>
                  <a:lnTo>
                    <a:pt x="217" y="350"/>
                  </a:lnTo>
                  <a:lnTo>
                    <a:pt x="221" y="343"/>
                  </a:lnTo>
                  <a:lnTo>
                    <a:pt x="234" y="338"/>
                  </a:lnTo>
                  <a:lnTo>
                    <a:pt x="236" y="327"/>
                  </a:lnTo>
                  <a:lnTo>
                    <a:pt x="251" y="312"/>
                  </a:lnTo>
                  <a:lnTo>
                    <a:pt x="266" y="296"/>
                  </a:lnTo>
                  <a:lnTo>
                    <a:pt x="278" y="283"/>
                  </a:lnTo>
                  <a:lnTo>
                    <a:pt x="288" y="277"/>
                  </a:lnTo>
                  <a:lnTo>
                    <a:pt x="296" y="264"/>
                  </a:lnTo>
                  <a:lnTo>
                    <a:pt x="298" y="251"/>
                  </a:lnTo>
                  <a:lnTo>
                    <a:pt x="312" y="241"/>
                  </a:lnTo>
                  <a:lnTo>
                    <a:pt x="316" y="248"/>
                  </a:lnTo>
                  <a:lnTo>
                    <a:pt x="320" y="248"/>
                  </a:lnTo>
                  <a:lnTo>
                    <a:pt x="324" y="247"/>
                  </a:lnTo>
                  <a:lnTo>
                    <a:pt x="328" y="248"/>
                  </a:lnTo>
                  <a:lnTo>
                    <a:pt x="328" y="243"/>
                  </a:lnTo>
                  <a:lnTo>
                    <a:pt x="323" y="229"/>
                  </a:lnTo>
                  <a:lnTo>
                    <a:pt x="318" y="216"/>
                  </a:lnTo>
                  <a:lnTo>
                    <a:pt x="317" y="205"/>
                  </a:lnTo>
                  <a:lnTo>
                    <a:pt x="305" y="195"/>
                  </a:lnTo>
                  <a:lnTo>
                    <a:pt x="310" y="188"/>
                  </a:lnTo>
                  <a:lnTo>
                    <a:pt x="316" y="185"/>
                  </a:lnTo>
                  <a:lnTo>
                    <a:pt x="304" y="174"/>
                  </a:lnTo>
                  <a:lnTo>
                    <a:pt x="304" y="161"/>
                  </a:lnTo>
                  <a:lnTo>
                    <a:pt x="314" y="164"/>
                  </a:lnTo>
                  <a:lnTo>
                    <a:pt x="319" y="170"/>
                  </a:lnTo>
                  <a:lnTo>
                    <a:pt x="323" y="167"/>
                  </a:lnTo>
                  <a:lnTo>
                    <a:pt x="329" y="181"/>
                  </a:lnTo>
                  <a:lnTo>
                    <a:pt x="346" y="183"/>
                  </a:lnTo>
                  <a:lnTo>
                    <a:pt x="362" y="185"/>
                  </a:lnTo>
                  <a:lnTo>
                    <a:pt x="371" y="191"/>
                  </a:lnTo>
                  <a:lnTo>
                    <a:pt x="368" y="198"/>
                  </a:lnTo>
                  <a:lnTo>
                    <a:pt x="356" y="206"/>
                  </a:lnTo>
                  <a:lnTo>
                    <a:pt x="360" y="221"/>
                  </a:lnTo>
                  <a:lnTo>
                    <a:pt x="362" y="224"/>
                  </a:lnTo>
                  <a:lnTo>
                    <a:pt x="370" y="211"/>
                  </a:lnTo>
                  <a:lnTo>
                    <a:pt x="376" y="227"/>
                  </a:lnTo>
                  <a:lnTo>
                    <a:pt x="382" y="242"/>
                  </a:lnTo>
                  <a:lnTo>
                    <a:pt x="383" y="241"/>
                  </a:lnTo>
                  <a:lnTo>
                    <a:pt x="388" y="242"/>
                  </a:lnTo>
                  <a:lnTo>
                    <a:pt x="389" y="223"/>
                  </a:lnTo>
                  <a:lnTo>
                    <a:pt x="389" y="207"/>
                  </a:lnTo>
                  <a:lnTo>
                    <a:pt x="398" y="207"/>
                  </a:lnTo>
                  <a:lnTo>
                    <a:pt x="406" y="186"/>
                  </a:lnTo>
                  <a:lnTo>
                    <a:pt x="407" y="177"/>
                  </a:lnTo>
                  <a:lnTo>
                    <a:pt x="407" y="163"/>
                  </a:lnTo>
                  <a:lnTo>
                    <a:pt x="421" y="147"/>
                  </a:lnTo>
                  <a:lnTo>
                    <a:pt x="433" y="150"/>
                  </a:lnTo>
                  <a:lnTo>
                    <a:pt x="431" y="144"/>
                  </a:lnTo>
                  <a:lnTo>
                    <a:pt x="432" y="139"/>
                  </a:lnTo>
                  <a:lnTo>
                    <a:pt x="434" y="131"/>
                  </a:lnTo>
                  <a:lnTo>
                    <a:pt x="418" y="125"/>
                  </a:lnTo>
                  <a:lnTo>
                    <a:pt x="418" y="116"/>
                  </a:lnTo>
                  <a:lnTo>
                    <a:pt x="412" y="115"/>
                  </a:lnTo>
                  <a:lnTo>
                    <a:pt x="413" y="111"/>
                  </a:lnTo>
                  <a:lnTo>
                    <a:pt x="407" y="109"/>
                  </a:lnTo>
                  <a:lnTo>
                    <a:pt x="398" y="114"/>
                  </a:lnTo>
                  <a:lnTo>
                    <a:pt x="385" y="113"/>
                  </a:lnTo>
                  <a:lnTo>
                    <a:pt x="374" y="122"/>
                  </a:lnTo>
                  <a:lnTo>
                    <a:pt x="362" y="133"/>
                  </a:lnTo>
                  <a:lnTo>
                    <a:pt x="349" y="138"/>
                  </a:lnTo>
                  <a:lnTo>
                    <a:pt x="348" y="138"/>
                  </a:lnTo>
                  <a:lnTo>
                    <a:pt x="353" y="144"/>
                  </a:lnTo>
                  <a:lnTo>
                    <a:pt x="359" y="153"/>
                  </a:lnTo>
                  <a:lnTo>
                    <a:pt x="344" y="155"/>
                  </a:lnTo>
                  <a:lnTo>
                    <a:pt x="330" y="156"/>
                  </a:lnTo>
                  <a:lnTo>
                    <a:pt x="311" y="153"/>
                  </a:lnTo>
                  <a:lnTo>
                    <a:pt x="308" y="146"/>
                  </a:lnTo>
                  <a:lnTo>
                    <a:pt x="301" y="132"/>
                  </a:lnTo>
                  <a:lnTo>
                    <a:pt x="294" y="137"/>
                  </a:lnTo>
                  <a:lnTo>
                    <a:pt x="299" y="162"/>
                  </a:lnTo>
                  <a:lnTo>
                    <a:pt x="282" y="161"/>
                  </a:lnTo>
                  <a:lnTo>
                    <a:pt x="262" y="158"/>
                  </a:lnTo>
                  <a:lnTo>
                    <a:pt x="251" y="155"/>
                  </a:lnTo>
                  <a:lnTo>
                    <a:pt x="242" y="146"/>
                  </a:lnTo>
                  <a:lnTo>
                    <a:pt x="223" y="144"/>
                  </a:lnTo>
                  <a:lnTo>
                    <a:pt x="208" y="140"/>
                  </a:lnTo>
                  <a:lnTo>
                    <a:pt x="188" y="131"/>
                  </a:lnTo>
                  <a:lnTo>
                    <a:pt x="169" y="120"/>
                  </a:lnTo>
                  <a:lnTo>
                    <a:pt x="169" y="109"/>
                  </a:lnTo>
                  <a:lnTo>
                    <a:pt x="178" y="95"/>
                  </a:lnTo>
                  <a:lnTo>
                    <a:pt x="163" y="85"/>
                  </a:lnTo>
                  <a:lnTo>
                    <a:pt x="144" y="74"/>
                  </a:lnTo>
                  <a:lnTo>
                    <a:pt x="137" y="72"/>
                  </a:lnTo>
                  <a:lnTo>
                    <a:pt x="130" y="53"/>
                  </a:lnTo>
                  <a:lnTo>
                    <a:pt x="139" y="54"/>
                  </a:lnTo>
                  <a:lnTo>
                    <a:pt x="142" y="47"/>
                  </a:lnTo>
                  <a:lnTo>
                    <a:pt x="132" y="33"/>
                  </a:lnTo>
                  <a:lnTo>
                    <a:pt x="132" y="26"/>
                  </a:lnTo>
                  <a:lnTo>
                    <a:pt x="131" y="25"/>
                  </a:lnTo>
                  <a:lnTo>
                    <a:pt x="131" y="21"/>
                  </a:lnTo>
                  <a:lnTo>
                    <a:pt x="127" y="19"/>
                  </a:lnTo>
                  <a:lnTo>
                    <a:pt x="125" y="15"/>
                  </a:lnTo>
                  <a:lnTo>
                    <a:pt x="124" y="11"/>
                  </a:lnTo>
                  <a:lnTo>
                    <a:pt x="122" y="6"/>
                  </a:lnTo>
                  <a:lnTo>
                    <a:pt x="118" y="5"/>
                  </a:lnTo>
                  <a:lnTo>
                    <a:pt x="110" y="1"/>
                  </a:lnTo>
                  <a:lnTo>
                    <a:pt x="10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8" name="Freeform 67"/>
            <p:cNvSpPr>
              <a:spLocks/>
            </p:cNvSpPr>
            <p:nvPr/>
          </p:nvSpPr>
          <p:spPr bwMode="auto">
            <a:xfrm>
              <a:off x="3107" y="2041"/>
              <a:ext cx="22" cy="75"/>
            </a:xfrm>
            <a:custGeom>
              <a:avLst/>
              <a:gdLst/>
              <a:ahLst/>
              <a:cxnLst>
                <a:cxn ang="0">
                  <a:pos x="15" y="69"/>
                </a:cxn>
                <a:cxn ang="0">
                  <a:pos x="8" y="52"/>
                </a:cxn>
                <a:cxn ang="0">
                  <a:pos x="0" y="35"/>
                </a:cxn>
                <a:cxn ang="0">
                  <a:pos x="6" y="20"/>
                </a:cxn>
                <a:cxn ang="0">
                  <a:pos x="11" y="4"/>
                </a:cxn>
                <a:cxn ang="0">
                  <a:pos x="18" y="0"/>
                </a:cxn>
                <a:cxn ang="0">
                  <a:pos x="20" y="10"/>
                </a:cxn>
                <a:cxn ang="0">
                  <a:pos x="18" y="24"/>
                </a:cxn>
                <a:cxn ang="0">
                  <a:pos x="17" y="39"/>
                </a:cxn>
                <a:cxn ang="0">
                  <a:pos x="17" y="53"/>
                </a:cxn>
                <a:cxn ang="0">
                  <a:pos x="15" y="68"/>
                </a:cxn>
                <a:cxn ang="0">
                  <a:pos x="15" y="69"/>
                </a:cxn>
              </a:cxnLst>
              <a:rect l="0" t="0" r="r" b="b"/>
              <a:pathLst>
                <a:path w="20" h="69">
                  <a:moveTo>
                    <a:pt x="15" y="69"/>
                  </a:moveTo>
                  <a:lnTo>
                    <a:pt x="8" y="52"/>
                  </a:lnTo>
                  <a:lnTo>
                    <a:pt x="0" y="35"/>
                  </a:lnTo>
                  <a:lnTo>
                    <a:pt x="6" y="20"/>
                  </a:lnTo>
                  <a:lnTo>
                    <a:pt x="11" y="4"/>
                  </a:lnTo>
                  <a:lnTo>
                    <a:pt x="18" y="0"/>
                  </a:lnTo>
                  <a:lnTo>
                    <a:pt x="20" y="10"/>
                  </a:lnTo>
                  <a:lnTo>
                    <a:pt x="18" y="24"/>
                  </a:lnTo>
                  <a:lnTo>
                    <a:pt x="17" y="39"/>
                  </a:lnTo>
                  <a:lnTo>
                    <a:pt x="17" y="53"/>
                  </a:lnTo>
                  <a:lnTo>
                    <a:pt x="15" y="68"/>
                  </a:lnTo>
                  <a:lnTo>
                    <a:pt x="15"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69" name="Freeform 68"/>
            <p:cNvSpPr>
              <a:spLocks/>
            </p:cNvSpPr>
            <p:nvPr/>
          </p:nvSpPr>
          <p:spPr bwMode="auto">
            <a:xfrm>
              <a:off x="3122" y="2039"/>
              <a:ext cx="69" cy="84"/>
            </a:xfrm>
            <a:custGeom>
              <a:avLst/>
              <a:gdLst/>
              <a:ahLst/>
              <a:cxnLst>
                <a:cxn ang="0">
                  <a:pos x="24" y="19"/>
                </a:cxn>
                <a:cxn ang="0">
                  <a:pos x="5" y="12"/>
                </a:cxn>
                <a:cxn ang="0">
                  <a:pos x="3" y="26"/>
                </a:cxn>
                <a:cxn ang="0">
                  <a:pos x="2" y="41"/>
                </a:cxn>
                <a:cxn ang="0">
                  <a:pos x="2" y="55"/>
                </a:cxn>
                <a:cxn ang="0">
                  <a:pos x="0" y="70"/>
                </a:cxn>
                <a:cxn ang="0">
                  <a:pos x="1" y="72"/>
                </a:cxn>
                <a:cxn ang="0">
                  <a:pos x="18" y="76"/>
                </a:cxn>
                <a:cxn ang="0">
                  <a:pos x="27" y="64"/>
                </a:cxn>
                <a:cxn ang="0">
                  <a:pos x="38" y="61"/>
                </a:cxn>
                <a:cxn ang="0">
                  <a:pos x="45" y="53"/>
                </a:cxn>
                <a:cxn ang="0">
                  <a:pos x="27" y="35"/>
                </a:cxn>
                <a:cxn ang="0">
                  <a:pos x="44" y="28"/>
                </a:cxn>
                <a:cxn ang="0">
                  <a:pos x="61" y="22"/>
                </a:cxn>
                <a:cxn ang="0">
                  <a:pos x="51" y="0"/>
                </a:cxn>
                <a:cxn ang="0">
                  <a:pos x="37" y="10"/>
                </a:cxn>
                <a:cxn ang="0">
                  <a:pos x="24" y="19"/>
                </a:cxn>
              </a:cxnLst>
              <a:rect l="0" t="0" r="r" b="b"/>
              <a:pathLst>
                <a:path w="61" h="76">
                  <a:moveTo>
                    <a:pt x="24" y="19"/>
                  </a:moveTo>
                  <a:lnTo>
                    <a:pt x="5" y="12"/>
                  </a:lnTo>
                  <a:lnTo>
                    <a:pt x="3" y="26"/>
                  </a:lnTo>
                  <a:lnTo>
                    <a:pt x="2" y="41"/>
                  </a:lnTo>
                  <a:lnTo>
                    <a:pt x="2" y="55"/>
                  </a:lnTo>
                  <a:lnTo>
                    <a:pt x="0" y="70"/>
                  </a:lnTo>
                  <a:lnTo>
                    <a:pt x="1" y="72"/>
                  </a:lnTo>
                  <a:lnTo>
                    <a:pt x="18" y="76"/>
                  </a:lnTo>
                  <a:lnTo>
                    <a:pt x="27" y="64"/>
                  </a:lnTo>
                  <a:lnTo>
                    <a:pt x="38" y="61"/>
                  </a:lnTo>
                  <a:lnTo>
                    <a:pt x="45" y="53"/>
                  </a:lnTo>
                  <a:lnTo>
                    <a:pt x="27" y="35"/>
                  </a:lnTo>
                  <a:lnTo>
                    <a:pt x="44" y="28"/>
                  </a:lnTo>
                  <a:lnTo>
                    <a:pt x="61" y="22"/>
                  </a:lnTo>
                  <a:lnTo>
                    <a:pt x="51" y="0"/>
                  </a:lnTo>
                  <a:lnTo>
                    <a:pt x="37" y="10"/>
                  </a:lnTo>
                  <a:lnTo>
                    <a:pt x="24"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0" name="Freeform 69"/>
            <p:cNvSpPr>
              <a:spLocks/>
            </p:cNvSpPr>
            <p:nvPr/>
          </p:nvSpPr>
          <p:spPr bwMode="auto">
            <a:xfrm>
              <a:off x="3431" y="2207"/>
              <a:ext cx="131" cy="167"/>
            </a:xfrm>
            <a:custGeom>
              <a:avLst/>
              <a:gdLst/>
              <a:ahLst/>
              <a:cxnLst>
                <a:cxn ang="0">
                  <a:pos x="119" y="46"/>
                </a:cxn>
                <a:cxn ang="0">
                  <a:pos x="107" y="35"/>
                </a:cxn>
                <a:cxn ang="0">
                  <a:pos x="95" y="25"/>
                </a:cxn>
                <a:cxn ang="0">
                  <a:pos x="82" y="19"/>
                </a:cxn>
                <a:cxn ang="0">
                  <a:pos x="68" y="13"/>
                </a:cxn>
                <a:cxn ang="0">
                  <a:pos x="61" y="0"/>
                </a:cxn>
                <a:cxn ang="0">
                  <a:pos x="56" y="4"/>
                </a:cxn>
                <a:cxn ang="0">
                  <a:pos x="54" y="0"/>
                </a:cxn>
                <a:cxn ang="0">
                  <a:pos x="56" y="17"/>
                </a:cxn>
                <a:cxn ang="0">
                  <a:pos x="49" y="19"/>
                </a:cxn>
                <a:cxn ang="0">
                  <a:pos x="46" y="41"/>
                </a:cxn>
                <a:cxn ang="0">
                  <a:pos x="54" y="54"/>
                </a:cxn>
                <a:cxn ang="0">
                  <a:pos x="50" y="72"/>
                </a:cxn>
                <a:cxn ang="0">
                  <a:pos x="47" y="90"/>
                </a:cxn>
                <a:cxn ang="0">
                  <a:pos x="36" y="94"/>
                </a:cxn>
                <a:cxn ang="0">
                  <a:pos x="24" y="99"/>
                </a:cxn>
                <a:cxn ang="0">
                  <a:pos x="13" y="103"/>
                </a:cxn>
                <a:cxn ang="0">
                  <a:pos x="2" y="108"/>
                </a:cxn>
                <a:cxn ang="0">
                  <a:pos x="0" y="115"/>
                </a:cxn>
                <a:cxn ang="0">
                  <a:pos x="11" y="133"/>
                </a:cxn>
                <a:cxn ang="0">
                  <a:pos x="22" y="150"/>
                </a:cxn>
                <a:cxn ang="0">
                  <a:pos x="35" y="148"/>
                </a:cxn>
                <a:cxn ang="0">
                  <a:pos x="47" y="144"/>
                </a:cxn>
                <a:cxn ang="0">
                  <a:pos x="55" y="137"/>
                </a:cxn>
                <a:cxn ang="0">
                  <a:pos x="60" y="127"/>
                </a:cxn>
                <a:cxn ang="0">
                  <a:pos x="74" y="124"/>
                </a:cxn>
                <a:cxn ang="0">
                  <a:pos x="80" y="111"/>
                </a:cxn>
                <a:cxn ang="0">
                  <a:pos x="92" y="105"/>
                </a:cxn>
                <a:cxn ang="0">
                  <a:pos x="91" y="85"/>
                </a:cxn>
                <a:cxn ang="0">
                  <a:pos x="97" y="81"/>
                </a:cxn>
                <a:cxn ang="0">
                  <a:pos x="101" y="81"/>
                </a:cxn>
                <a:cxn ang="0">
                  <a:pos x="110" y="64"/>
                </a:cxn>
                <a:cxn ang="0">
                  <a:pos x="119" y="46"/>
                </a:cxn>
              </a:cxnLst>
              <a:rect l="0" t="0" r="r" b="b"/>
              <a:pathLst>
                <a:path w="119" h="150">
                  <a:moveTo>
                    <a:pt x="119" y="46"/>
                  </a:moveTo>
                  <a:lnTo>
                    <a:pt x="107" y="35"/>
                  </a:lnTo>
                  <a:lnTo>
                    <a:pt x="95" y="25"/>
                  </a:lnTo>
                  <a:lnTo>
                    <a:pt x="82" y="19"/>
                  </a:lnTo>
                  <a:lnTo>
                    <a:pt x="68" y="13"/>
                  </a:lnTo>
                  <a:lnTo>
                    <a:pt x="61" y="0"/>
                  </a:lnTo>
                  <a:lnTo>
                    <a:pt x="56" y="4"/>
                  </a:lnTo>
                  <a:lnTo>
                    <a:pt x="54" y="0"/>
                  </a:lnTo>
                  <a:lnTo>
                    <a:pt x="56" y="17"/>
                  </a:lnTo>
                  <a:lnTo>
                    <a:pt x="49" y="19"/>
                  </a:lnTo>
                  <a:lnTo>
                    <a:pt x="46" y="41"/>
                  </a:lnTo>
                  <a:lnTo>
                    <a:pt x="54" y="54"/>
                  </a:lnTo>
                  <a:lnTo>
                    <a:pt x="50" y="72"/>
                  </a:lnTo>
                  <a:lnTo>
                    <a:pt x="47" y="90"/>
                  </a:lnTo>
                  <a:lnTo>
                    <a:pt x="36" y="94"/>
                  </a:lnTo>
                  <a:lnTo>
                    <a:pt x="24" y="99"/>
                  </a:lnTo>
                  <a:lnTo>
                    <a:pt x="13" y="103"/>
                  </a:lnTo>
                  <a:lnTo>
                    <a:pt x="2" y="108"/>
                  </a:lnTo>
                  <a:lnTo>
                    <a:pt x="0" y="115"/>
                  </a:lnTo>
                  <a:lnTo>
                    <a:pt x="11" y="133"/>
                  </a:lnTo>
                  <a:lnTo>
                    <a:pt x="22" y="150"/>
                  </a:lnTo>
                  <a:lnTo>
                    <a:pt x="35" y="148"/>
                  </a:lnTo>
                  <a:lnTo>
                    <a:pt x="47" y="144"/>
                  </a:lnTo>
                  <a:lnTo>
                    <a:pt x="55" y="137"/>
                  </a:lnTo>
                  <a:lnTo>
                    <a:pt x="60" y="127"/>
                  </a:lnTo>
                  <a:lnTo>
                    <a:pt x="74" y="124"/>
                  </a:lnTo>
                  <a:lnTo>
                    <a:pt x="80" y="111"/>
                  </a:lnTo>
                  <a:lnTo>
                    <a:pt x="92" y="105"/>
                  </a:lnTo>
                  <a:lnTo>
                    <a:pt x="91" y="85"/>
                  </a:lnTo>
                  <a:lnTo>
                    <a:pt x="97" y="81"/>
                  </a:lnTo>
                  <a:lnTo>
                    <a:pt x="101" y="81"/>
                  </a:lnTo>
                  <a:lnTo>
                    <a:pt x="110" y="64"/>
                  </a:lnTo>
                  <a:lnTo>
                    <a:pt x="119"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1" name="Freeform 70"/>
            <p:cNvSpPr>
              <a:spLocks/>
            </p:cNvSpPr>
            <p:nvPr/>
          </p:nvSpPr>
          <p:spPr bwMode="auto">
            <a:xfrm>
              <a:off x="3489" y="2181"/>
              <a:ext cx="6" cy="11"/>
            </a:xfrm>
            <a:custGeom>
              <a:avLst/>
              <a:gdLst/>
              <a:ahLst/>
              <a:cxnLst>
                <a:cxn ang="0">
                  <a:pos x="5" y="0"/>
                </a:cxn>
                <a:cxn ang="0">
                  <a:pos x="0" y="8"/>
                </a:cxn>
                <a:cxn ang="0">
                  <a:pos x="5" y="10"/>
                </a:cxn>
                <a:cxn ang="0">
                  <a:pos x="5" y="0"/>
                </a:cxn>
              </a:cxnLst>
              <a:rect l="0" t="0" r="r" b="b"/>
              <a:pathLst>
                <a:path w="5" h="10">
                  <a:moveTo>
                    <a:pt x="5" y="0"/>
                  </a:moveTo>
                  <a:lnTo>
                    <a:pt x="0" y="8"/>
                  </a:lnTo>
                  <a:lnTo>
                    <a:pt x="5" y="10"/>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2" name="Freeform 71"/>
            <p:cNvSpPr>
              <a:spLocks/>
            </p:cNvSpPr>
            <p:nvPr/>
          </p:nvSpPr>
          <p:spPr bwMode="auto">
            <a:xfrm>
              <a:off x="3120" y="2063"/>
              <a:ext cx="371" cy="331"/>
            </a:xfrm>
            <a:custGeom>
              <a:avLst/>
              <a:gdLst/>
              <a:ahLst/>
              <a:cxnLst>
                <a:cxn ang="0">
                  <a:pos x="76" y="178"/>
                </a:cxn>
                <a:cxn ang="0">
                  <a:pos x="65" y="151"/>
                </a:cxn>
                <a:cxn ang="0">
                  <a:pos x="45" y="134"/>
                </a:cxn>
                <a:cxn ang="0">
                  <a:pos x="21" y="94"/>
                </a:cxn>
                <a:cxn ang="0">
                  <a:pos x="0" y="72"/>
                </a:cxn>
                <a:cxn ang="0">
                  <a:pos x="21" y="54"/>
                </a:cxn>
                <a:cxn ang="0">
                  <a:pos x="41" y="39"/>
                </a:cxn>
                <a:cxn ang="0">
                  <a:pos x="30" y="13"/>
                </a:cxn>
                <a:cxn ang="0">
                  <a:pos x="64" y="0"/>
                </a:cxn>
                <a:cxn ang="0">
                  <a:pos x="94" y="13"/>
                </a:cxn>
                <a:cxn ang="0">
                  <a:pos x="123" y="26"/>
                </a:cxn>
                <a:cxn ang="0">
                  <a:pos x="153" y="54"/>
                </a:cxn>
                <a:cxn ang="0">
                  <a:pos x="195" y="57"/>
                </a:cxn>
                <a:cxn ang="0">
                  <a:pos x="210" y="66"/>
                </a:cxn>
                <a:cxn ang="0">
                  <a:pos x="226" y="85"/>
                </a:cxn>
                <a:cxn ang="0">
                  <a:pos x="242" y="109"/>
                </a:cxn>
                <a:cxn ang="0">
                  <a:pos x="255" y="134"/>
                </a:cxn>
                <a:cxn ang="0">
                  <a:pos x="262" y="136"/>
                </a:cxn>
                <a:cxn ang="0">
                  <a:pos x="264" y="141"/>
                </a:cxn>
                <a:cxn ang="0">
                  <a:pos x="266" y="146"/>
                </a:cxn>
                <a:cxn ang="0">
                  <a:pos x="276" y="165"/>
                </a:cxn>
                <a:cxn ang="0">
                  <a:pos x="323" y="174"/>
                </a:cxn>
                <a:cxn ang="0">
                  <a:pos x="334" y="183"/>
                </a:cxn>
                <a:cxn ang="0">
                  <a:pos x="327" y="219"/>
                </a:cxn>
                <a:cxn ang="0">
                  <a:pos x="304" y="228"/>
                </a:cxn>
                <a:cxn ang="0">
                  <a:pos x="282" y="237"/>
                </a:cxn>
                <a:cxn ang="0">
                  <a:pos x="257" y="243"/>
                </a:cxn>
                <a:cxn ang="0">
                  <a:pos x="232" y="250"/>
                </a:cxn>
                <a:cxn ang="0">
                  <a:pos x="215" y="273"/>
                </a:cxn>
                <a:cxn ang="0">
                  <a:pos x="197" y="297"/>
                </a:cxn>
                <a:cxn ang="0">
                  <a:pos x="182" y="272"/>
                </a:cxn>
                <a:cxn ang="0">
                  <a:pos x="149" y="264"/>
                </a:cxn>
                <a:cxn ang="0">
                  <a:pos x="141" y="284"/>
                </a:cxn>
                <a:cxn ang="0">
                  <a:pos x="125" y="258"/>
                </a:cxn>
                <a:cxn ang="0">
                  <a:pos x="100" y="218"/>
                </a:cxn>
              </a:cxnLst>
              <a:rect l="0" t="0" r="r" b="b"/>
              <a:pathLst>
                <a:path w="334" h="297">
                  <a:moveTo>
                    <a:pt x="82" y="202"/>
                  </a:moveTo>
                  <a:lnTo>
                    <a:pt x="76" y="178"/>
                  </a:lnTo>
                  <a:lnTo>
                    <a:pt x="70" y="165"/>
                  </a:lnTo>
                  <a:lnTo>
                    <a:pt x="65" y="151"/>
                  </a:lnTo>
                  <a:lnTo>
                    <a:pt x="54" y="142"/>
                  </a:lnTo>
                  <a:lnTo>
                    <a:pt x="45" y="134"/>
                  </a:lnTo>
                  <a:lnTo>
                    <a:pt x="36" y="115"/>
                  </a:lnTo>
                  <a:lnTo>
                    <a:pt x="21" y="94"/>
                  </a:lnTo>
                  <a:lnTo>
                    <a:pt x="5" y="73"/>
                  </a:lnTo>
                  <a:lnTo>
                    <a:pt x="0" y="72"/>
                  </a:lnTo>
                  <a:lnTo>
                    <a:pt x="4" y="50"/>
                  </a:lnTo>
                  <a:lnTo>
                    <a:pt x="21" y="54"/>
                  </a:lnTo>
                  <a:lnTo>
                    <a:pt x="30" y="42"/>
                  </a:lnTo>
                  <a:lnTo>
                    <a:pt x="41" y="39"/>
                  </a:lnTo>
                  <a:lnTo>
                    <a:pt x="48" y="31"/>
                  </a:lnTo>
                  <a:lnTo>
                    <a:pt x="30" y="13"/>
                  </a:lnTo>
                  <a:lnTo>
                    <a:pt x="47" y="6"/>
                  </a:lnTo>
                  <a:lnTo>
                    <a:pt x="64" y="0"/>
                  </a:lnTo>
                  <a:lnTo>
                    <a:pt x="78" y="6"/>
                  </a:lnTo>
                  <a:lnTo>
                    <a:pt x="94" y="13"/>
                  </a:lnTo>
                  <a:lnTo>
                    <a:pt x="108" y="19"/>
                  </a:lnTo>
                  <a:lnTo>
                    <a:pt x="123" y="26"/>
                  </a:lnTo>
                  <a:lnTo>
                    <a:pt x="137" y="39"/>
                  </a:lnTo>
                  <a:lnTo>
                    <a:pt x="153" y="54"/>
                  </a:lnTo>
                  <a:lnTo>
                    <a:pt x="180" y="55"/>
                  </a:lnTo>
                  <a:lnTo>
                    <a:pt x="195" y="57"/>
                  </a:lnTo>
                  <a:lnTo>
                    <a:pt x="197" y="62"/>
                  </a:lnTo>
                  <a:lnTo>
                    <a:pt x="210" y="66"/>
                  </a:lnTo>
                  <a:lnTo>
                    <a:pt x="219" y="79"/>
                  </a:lnTo>
                  <a:lnTo>
                    <a:pt x="226" y="85"/>
                  </a:lnTo>
                  <a:lnTo>
                    <a:pt x="240" y="99"/>
                  </a:lnTo>
                  <a:lnTo>
                    <a:pt x="242" y="109"/>
                  </a:lnTo>
                  <a:lnTo>
                    <a:pt x="249" y="121"/>
                  </a:lnTo>
                  <a:lnTo>
                    <a:pt x="255" y="134"/>
                  </a:lnTo>
                  <a:lnTo>
                    <a:pt x="260" y="138"/>
                  </a:lnTo>
                  <a:lnTo>
                    <a:pt x="262" y="136"/>
                  </a:lnTo>
                  <a:lnTo>
                    <a:pt x="264" y="136"/>
                  </a:lnTo>
                  <a:lnTo>
                    <a:pt x="264" y="141"/>
                  </a:lnTo>
                  <a:lnTo>
                    <a:pt x="266" y="142"/>
                  </a:lnTo>
                  <a:lnTo>
                    <a:pt x="266" y="146"/>
                  </a:lnTo>
                  <a:lnTo>
                    <a:pt x="270" y="150"/>
                  </a:lnTo>
                  <a:lnTo>
                    <a:pt x="276" y="165"/>
                  </a:lnTo>
                  <a:lnTo>
                    <a:pt x="299" y="170"/>
                  </a:lnTo>
                  <a:lnTo>
                    <a:pt x="323" y="174"/>
                  </a:lnTo>
                  <a:lnTo>
                    <a:pt x="326" y="170"/>
                  </a:lnTo>
                  <a:lnTo>
                    <a:pt x="334" y="183"/>
                  </a:lnTo>
                  <a:lnTo>
                    <a:pt x="330" y="201"/>
                  </a:lnTo>
                  <a:lnTo>
                    <a:pt x="327" y="219"/>
                  </a:lnTo>
                  <a:lnTo>
                    <a:pt x="316" y="223"/>
                  </a:lnTo>
                  <a:lnTo>
                    <a:pt x="304" y="228"/>
                  </a:lnTo>
                  <a:lnTo>
                    <a:pt x="293" y="232"/>
                  </a:lnTo>
                  <a:lnTo>
                    <a:pt x="282" y="237"/>
                  </a:lnTo>
                  <a:lnTo>
                    <a:pt x="269" y="240"/>
                  </a:lnTo>
                  <a:lnTo>
                    <a:pt x="257" y="243"/>
                  </a:lnTo>
                  <a:lnTo>
                    <a:pt x="244" y="247"/>
                  </a:lnTo>
                  <a:lnTo>
                    <a:pt x="232" y="250"/>
                  </a:lnTo>
                  <a:lnTo>
                    <a:pt x="224" y="262"/>
                  </a:lnTo>
                  <a:lnTo>
                    <a:pt x="215" y="273"/>
                  </a:lnTo>
                  <a:lnTo>
                    <a:pt x="206" y="285"/>
                  </a:lnTo>
                  <a:lnTo>
                    <a:pt x="197" y="297"/>
                  </a:lnTo>
                  <a:lnTo>
                    <a:pt x="196" y="279"/>
                  </a:lnTo>
                  <a:lnTo>
                    <a:pt x="182" y="272"/>
                  </a:lnTo>
                  <a:lnTo>
                    <a:pt x="166" y="266"/>
                  </a:lnTo>
                  <a:lnTo>
                    <a:pt x="149" y="264"/>
                  </a:lnTo>
                  <a:lnTo>
                    <a:pt x="146" y="278"/>
                  </a:lnTo>
                  <a:lnTo>
                    <a:pt x="141" y="284"/>
                  </a:lnTo>
                  <a:lnTo>
                    <a:pt x="132" y="271"/>
                  </a:lnTo>
                  <a:lnTo>
                    <a:pt x="125" y="258"/>
                  </a:lnTo>
                  <a:lnTo>
                    <a:pt x="112" y="238"/>
                  </a:lnTo>
                  <a:lnTo>
                    <a:pt x="100" y="218"/>
                  </a:lnTo>
                  <a:lnTo>
                    <a:pt x="82" y="20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3" name="Freeform 72"/>
            <p:cNvSpPr>
              <a:spLocks/>
            </p:cNvSpPr>
            <p:nvPr/>
          </p:nvSpPr>
          <p:spPr bwMode="auto">
            <a:xfrm>
              <a:off x="3415" y="2190"/>
              <a:ext cx="85" cy="66"/>
            </a:xfrm>
            <a:custGeom>
              <a:avLst/>
              <a:gdLst/>
              <a:ahLst/>
              <a:cxnLst>
                <a:cxn ang="0">
                  <a:pos x="0" y="32"/>
                </a:cxn>
                <a:cxn ang="0">
                  <a:pos x="4" y="36"/>
                </a:cxn>
                <a:cxn ang="0">
                  <a:pos x="10" y="51"/>
                </a:cxn>
                <a:cxn ang="0">
                  <a:pos x="33" y="56"/>
                </a:cxn>
                <a:cxn ang="0">
                  <a:pos x="57" y="60"/>
                </a:cxn>
                <a:cxn ang="0">
                  <a:pos x="60" y="56"/>
                </a:cxn>
                <a:cxn ang="0">
                  <a:pos x="63" y="34"/>
                </a:cxn>
                <a:cxn ang="0">
                  <a:pos x="70" y="32"/>
                </a:cxn>
                <a:cxn ang="0">
                  <a:pos x="68" y="15"/>
                </a:cxn>
                <a:cxn ang="0">
                  <a:pos x="70" y="19"/>
                </a:cxn>
                <a:cxn ang="0">
                  <a:pos x="75" y="15"/>
                </a:cxn>
                <a:cxn ang="0">
                  <a:pos x="72" y="2"/>
                </a:cxn>
                <a:cxn ang="0">
                  <a:pos x="67" y="0"/>
                </a:cxn>
                <a:cxn ang="0">
                  <a:pos x="54" y="15"/>
                </a:cxn>
                <a:cxn ang="0">
                  <a:pos x="38" y="31"/>
                </a:cxn>
                <a:cxn ang="0">
                  <a:pos x="14" y="32"/>
                </a:cxn>
                <a:cxn ang="0">
                  <a:pos x="4" y="31"/>
                </a:cxn>
                <a:cxn ang="0">
                  <a:pos x="0" y="28"/>
                </a:cxn>
                <a:cxn ang="0">
                  <a:pos x="0" y="32"/>
                </a:cxn>
              </a:cxnLst>
              <a:rect l="0" t="0" r="r" b="b"/>
              <a:pathLst>
                <a:path w="75" h="60">
                  <a:moveTo>
                    <a:pt x="0" y="32"/>
                  </a:moveTo>
                  <a:lnTo>
                    <a:pt x="4" y="36"/>
                  </a:lnTo>
                  <a:lnTo>
                    <a:pt x="10" y="51"/>
                  </a:lnTo>
                  <a:lnTo>
                    <a:pt x="33" y="56"/>
                  </a:lnTo>
                  <a:lnTo>
                    <a:pt x="57" y="60"/>
                  </a:lnTo>
                  <a:lnTo>
                    <a:pt x="60" y="56"/>
                  </a:lnTo>
                  <a:lnTo>
                    <a:pt x="63" y="34"/>
                  </a:lnTo>
                  <a:lnTo>
                    <a:pt x="70" y="32"/>
                  </a:lnTo>
                  <a:lnTo>
                    <a:pt x="68" y="15"/>
                  </a:lnTo>
                  <a:lnTo>
                    <a:pt x="70" y="19"/>
                  </a:lnTo>
                  <a:lnTo>
                    <a:pt x="75" y="15"/>
                  </a:lnTo>
                  <a:lnTo>
                    <a:pt x="72" y="2"/>
                  </a:lnTo>
                  <a:lnTo>
                    <a:pt x="67" y="0"/>
                  </a:lnTo>
                  <a:lnTo>
                    <a:pt x="54" y="15"/>
                  </a:lnTo>
                  <a:lnTo>
                    <a:pt x="38" y="31"/>
                  </a:lnTo>
                  <a:lnTo>
                    <a:pt x="14" y="32"/>
                  </a:lnTo>
                  <a:lnTo>
                    <a:pt x="4" y="31"/>
                  </a:lnTo>
                  <a:lnTo>
                    <a:pt x="0" y="28"/>
                  </a:lnTo>
                  <a:lnTo>
                    <a:pt x="0" y="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4" name="Freeform 73"/>
            <p:cNvSpPr>
              <a:spLocks/>
            </p:cNvSpPr>
            <p:nvPr/>
          </p:nvSpPr>
          <p:spPr bwMode="auto">
            <a:xfrm>
              <a:off x="3275" y="2327"/>
              <a:ext cx="180" cy="125"/>
            </a:xfrm>
            <a:custGeom>
              <a:avLst/>
              <a:gdLst/>
              <a:ahLst/>
              <a:cxnLst>
                <a:cxn ang="0">
                  <a:pos x="5" y="41"/>
                </a:cxn>
                <a:cxn ang="0">
                  <a:pos x="0" y="47"/>
                </a:cxn>
                <a:cxn ang="0">
                  <a:pos x="0" y="69"/>
                </a:cxn>
                <a:cxn ang="0">
                  <a:pos x="7" y="90"/>
                </a:cxn>
                <a:cxn ang="0">
                  <a:pos x="14" y="113"/>
                </a:cxn>
                <a:cxn ang="0">
                  <a:pos x="33" y="112"/>
                </a:cxn>
                <a:cxn ang="0">
                  <a:pos x="54" y="100"/>
                </a:cxn>
                <a:cxn ang="0">
                  <a:pos x="69" y="95"/>
                </a:cxn>
                <a:cxn ang="0">
                  <a:pos x="86" y="89"/>
                </a:cxn>
                <a:cxn ang="0">
                  <a:pos x="98" y="84"/>
                </a:cxn>
                <a:cxn ang="0">
                  <a:pos x="110" y="78"/>
                </a:cxn>
                <a:cxn ang="0">
                  <a:pos x="122" y="72"/>
                </a:cxn>
                <a:cxn ang="0">
                  <a:pos x="134" y="67"/>
                </a:cxn>
                <a:cxn ang="0">
                  <a:pos x="146" y="61"/>
                </a:cxn>
                <a:cxn ang="0">
                  <a:pos x="147" y="54"/>
                </a:cxn>
                <a:cxn ang="0">
                  <a:pos x="161" y="42"/>
                </a:cxn>
                <a:cxn ang="0">
                  <a:pos x="150" y="25"/>
                </a:cxn>
                <a:cxn ang="0">
                  <a:pos x="139" y="7"/>
                </a:cxn>
                <a:cxn ang="0">
                  <a:pos x="141" y="0"/>
                </a:cxn>
                <a:cxn ang="0">
                  <a:pos x="128" y="3"/>
                </a:cxn>
                <a:cxn ang="0">
                  <a:pos x="116" y="6"/>
                </a:cxn>
                <a:cxn ang="0">
                  <a:pos x="103" y="10"/>
                </a:cxn>
                <a:cxn ang="0">
                  <a:pos x="91" y="13"/>
                </a:cxn>
                <a:cxn ang="0">
                  <a:pos x="83" y="25"/>
                </a:cxn>
                <a:cxn ang="0">
                  <a:pos x="74" y="36"/>
                </a:cxn>
                <a:cxn ang="0">
                  <a:pos x="65" y="48"/>
                </a:cxn>
                <a:cxn ang="0">
                  <a:pos x="56" y="60"/>
                </a:cxn>
                <a:cxn ang="0">
                  <a:pos x="55" y="42"/>
                </a:cxn>
                <a:cxn ang="0">
                  <a:pos x="41" y="35"/>
                </a:cxn>
                <a:cxn ang="0">
                  <a:pos x="25" y="29"/>
                </a:cxn>
                <a:cxn ang="0">
                  <a:pos x="8" y="27"/>
                </a:cxn>
                <a:cxn ang="0">
                  <a:pos x="5" y="41"/>
                </a:cxn>
              </a:cxnLst>
              <a:rect l="0" t="0" r="r" b="b"/>
              <a:pathLst>
                <a:path w="161" h="113">
                  <a:moveTo>
                    <a:pt x="5" y="41"/>
                  </a:moveTo>
                  <a:lnTo>
                    <a:pt x="0" y="47"/>
                  </a:lnTo>
                  <a:lnTo>
                    <a:pt x="0" y="69"/>
                  </a:lnTo>
                  <a:lnTo>
                    <a:pt x="7" y="90"/>
                  </a:lnTo>
                  <a:lnTo>
                    <a:pt x="14" y="113"/>
                  </a:lnTo>
                  <a:lnTo>
                    <a:pt x="33" y="112"/>
                  </a:lnTo>
                  <a:lnTo>
                    <a:pt x="54" y="100"/>
                  </a:lnTo>
                  <a:lnTo>
                    <a:pt x="69" y="95"/>
                  </a:lnTo>
                  <a:lnTo>
                    <a:pt x="86" y="89"/>
                  </a:lnTo>
                  <a:lnTo>
                    <a:pt x="98" y="84"/>
                  </a:lnTo>
                  <a:lnTo>
                    <a:pt x="110" y="78"/>
                  </a:lnTo>
                  <a:lnTo>
                    <a:pt x="122" y="72"/>
                  </a:lnTo>
                  <a:lnTo>
                    <a:pt x="134" y="67"/>
                  </a:lnTo>
                  <a:lnTo>
                    <a:pt x="146" y="61"/>
                  </a:lnTo>
                  <a:lnTo>
                    <a:pt x="147" y="54"/>
                  </a:lnTo>
                  <a:lnTo>
                    <a:pt x="161" y="42"/>
                  </a:lnTo>
                  <a:lnTo>
                    <a:pt x="150" y="25"/>
                  </a:lnTo>
                  <a:lnTo>
                    <a:pt x="139" y="7"/>
                  </a:lnTo>
                  <a:lnTo>
                    <a:pt x="141" y="0"/>
                  </a:lnTo>
                  <a:lnTo>
                    <a:pt x="128" y="3"/>
                  </a:lnTo>
                  <a:lnTo>
                    <a:pt x="116" y="6"/>
                  </a:lnTo>
                  <a:lnTo>
                    <a:pt x="103" y="10"/>
                  </a:lnTo>
                  <a:lnTo>
                    <a:pt x="91" y="13"/>
                  </a:lnTo>
                  <a:lnTo>
                    <a:pt x="83" y="25"/>
                  </a:lnTo>
                  <a:lnTo>
                    <a:pt x="74" y="36"/>
                  </a:lnTo>
                  <a:lnTo>
                    <a:pt x="65" y="48"/>
                  </a:lnTo>
                  <a:lnTo>
                    <a:pt x="56" y="60"/>
                  </a:lnTo>
                  <a:lnTo>
                    <a:pt x="55" y="42"/>
                  </a:lnTo>
                  <a:lnTo>
                    <a:pt x="41" y="35"/>
                  </a:lnTo>
                  <a:lnTo>
                    <a:pt x="25" y="29"/>
                  </a:lnTo>
                  <a:lnTo>
                    <a:pt x="8" y="27"/>
                  </a:lnTo>
                  <a:lnTo>
                    <a:pt x="5" y="4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5" name="Freeform 74"/>
            <p:cNvSpPr>
              <a:spLocks/>
            </p:cNvSpPr>
            <p:nvPr/>
          </p:nvSpPr>
          <p:spPr bwMode="auto">
            <a:xfrm>
              <a:off x="3933" y="2510"/>
              <a:ext cx="38" cy="77"/>
            </a:xfrm>
            <a:custGeom>
              <a:avLst/>
              <a:gdLst/>
              <a:ahLst/>
              <a:cxnLst>
                <a:cxn ang="0">
                  <a:pos x="9" y="2"/>
                </a:cxn>
                <a:cxn ang="0">
                  <a:pos x="15" y="12"/>
                </a:cxn>
                <a:cxn ang="0">
                  <a:pos x="22" y="22"/>
                </a:cxn>
                <a:cxn ang="0">
                  <a:pos x="29" y="37"/>
                </a:cxn>
                <a:cxn ang="0">
                  <a:pos x="35" y="50"/>
                </a:cxn>
                <a:cxn ang="0">
                  <a:pos x="27" y="64"/>
                </a:cxn>
                <a:cxn ang="0">
                  <a:pos x="11" y="69"/>
                </a:cxn>
                <a:cxn ang="0">
                  <a:pos x="3" y="45"/>
                </a:cxn>
                <a:cxn ang="0">
                  <a:pos x="0" y="28"/>
                </a:cxn>
                <a:cxn ang="0">
                  <a:pos x="1" y="30"/>
                </a:cxn>
                <a:cxn ang="0">
                  <a:pos x="4" y="18"/>
                </a:cxn>
                <a:cxn ang="0">
                  <a:pos x="6" y="4"/>
                </a:cxn>
                <a:cxn ang="0">
                  <a:pos x="6" y="3"/>
                </a:cxn>
                <a:cxn ang="0">
                  <a:pos x="3" y="0"/>
                </a:cxn>
                <a:cxn ang="0">
                  <a:pos x="9" y="2"/>
                </a:cxn>
              </a:cxnLst>
              <a:rect l="0" t="0" r="r" b="b"/>
              <a:pathLst>
                <a:path w="35" h="69">
                  <a:moveTo>
                    <a:pt x="9" y="2"/>
                  </a:moveTo>
                  <a:lnTo>
                    <a:pt x="15" y="12"/>
                  </a:lnTo>
                  <a:lnTo>
                    <a:pt x="22" y="22"/>
                  </a:lnTo>
                  <a:lnTo>
                    <a:pt x="29" y="37"/>
                  </a:lnTo>
                  <a:lnTo>
                    <a:pt x="35" y="50"/>
                  </a:lnTo>
                  <a:lnTo>
                    <a:pt x="27" y="64"/>
                  </a:lnTo>
                  <a:lnTo>
                    <a:pt x="11" y="69"/>
                  </a:lnTo>
                  <a:lnTo>
                    <a:pt x="3" y="45"/>
                  </a:lnTo>
                  <a:lnTo>
                    <a:pt x="0" y="28"/>
                  </a:lnTo>
                  <a:lnTo>
                    <a:pt x="1" y="30"/>
                  </a:lnTo>
                  <a:lnTo>
                    <a:pt x="4" y="18"/>
                  </a:lnTo>
                  <a:lnTo>
                    <a:pt x="6" y="4"/>
                  </a:lnTo>
                  <a:lnTo>
                    <a:pt x="6" y="3"/>
                  </a:lnTo>
                  <a:lnTo>
                    <a:pt x="3" y="0"/>
                  </a:lnTo>
                  <a:lnTo>
                    <a:pt x="9"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6" name="Freeform 75"/>
            <p:cNvSpPr>
              <a:spLocks/>
            </p:cNvSpPr>
            <p:nvPr/>
          </p:nvSpPr>
          <p:spPr bwMode="auto">
            <a:xfrm>
              <a:off x="3040" y="2727"/>
              <a:ext cx="36" cy="32"/>
            </a:xfrm>
            <a:custGeom>
              <a:avLst/>
              <a:gdLst/>
              <a:ahLst/>
              <a:cxnLst>
                <a:cxn ang="0">
                  <a:pos x="11" y="6"/>
                </a:cxn>
                <a:cxn ang="0">
                  <a:pos x="5" y="18"/>
                </a:cxn>
                <a:cxn ang="0">
                  <a:pos x="0" y="29"/>
                </a:cxn>
                <a:cxn ang="0">
                  <a:pos x="2" y="29"/>
                </a:cxn>
                <a:cxn ang="0">
                  <a:pos x="3" y="29"/>
                </a:cxn>
                <a:cxn ang="0">
                  <a:pos x="16" y="29"/>
                </a:cxn>
                <a:cxn ang="0">
                  <a:pos x="18" y="23"/>
                </a:cxn>
                <a:cxn ang="0">
                  <a:pos x="27" y="24"/>
                </a:cxn>
                <a:cxn ang="0">
                  <a:pos x="32" y="22"/>
                </a:cxn>
                <a:cxn ang="0">
                  <a:pos x="26" y="0"/>
                </a:cxn>
                <a:cxn ang="0">
                  <a:pos x="16" y="6"/>
                </a:cxn>
                <a:cxn ang="0">
                  <a:pos x="11" y="6"/>
                </a:cxn>
              </a:cxnLst>
              <a:rect l="0" t="0" r="r" b="b"/>
              <a:pathLst>
                <a:path w="32" h="29">
                  <a:moveTo>
                    <a:pt x="11" y="6"/>
                  </a:moveTo>
                  <a:lnTo>
                    <a:pt x="5" y="18"/>
                  </a:lnTo>
                  <a:lnTo>
                    <a:pt x="0" y="29"/>
                  </a:lnTo>
                  <a:lnTo>
                    <a:pt x="2" y="29"/>
                  </a:lnTo>
                  <a:lnTo>
                    <a:pt x="3" y="29"/>
                  </a:lnTo>
                  <a:lnTo>
                    <a:pt x="16" y="29"/>
                  </a:lnTo>
                  <a:lnTo>
                    <a:pt x="18" y="23"/>
                  </a:lnTo>
                  <a:lnTo>
                    <a:pt x="27" y="24"/>
                  </a:lnTo>
                  <a:lnTo>
                    <a:pt x="32" y="22"/>
                  </a:lnTo>
                  <a:lnTo>
                    <a:pt x="26" y="0"/>
                  </a:lnTo>
                  <a:lnTo>
                    <a:pt x="16" y="6"/>
                  </a:lnTo>
                  <a:lnTo>
                    <a:pt x="1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7" name="Freeform 76"/>
            <p:cNvSpPr>
              <a:spLocks/>
            </p:cNvSpPr>
            <p:nvPr/>
          </p:nvSpPr>
          <p:spPr bwMode="auto">
            <a:xfrm>
              <a:off x="3827" y="2667"/>
              <a:ext cx="2" cy="3"/>
            </a:xfrm>
            <a:custGeom>
              <a:avLst/>
              <a:gdLst/>
              <a:ahLst/>
              <a:cxnLst>
                <a:cxn ang="0">
                  <a:pos x="2" y="1"/>
                </a:cxn>
                <a:cxn ang="0">
                  <a:pos x="0" y="1"/>
                </a:cxn>
                <a:cxn ang="0">
                  <a:pos x="2" y="0"/>
                </a:cxn>
                <a:cxn ang="0">
                  <a:pos x="2" y="1"/>
                </a:cxn>
              </a:cxnLst>
              <a:rect l="0" t="0" r="r" b="b"/>
              <a:pathLst>
                <a:path w="2" h="1">
                  <a:moveTo>
                    <a:pt x="2" y="1"/>
                  </a:moveTo>
                  <a:lnTo>
                    <a:pt x="0" y="1"/>
                  </a:lnTo>
                  <a:lnTo>
                    <a:pt x="2" y="0"/>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8" name="Freeform 77"/>
            <p:cNvSpPr>
              <a:spLocks/>
            </p:cNvSpPr>
            <p:nvPr/>
          </p:nvSpPr>
          <p:spPr bwMode="auto">
            <a:xfrm>
              <a:off x="3833" y="2712"/>
              <a:ext cx="2" cy="2"/>
            </a:xfrm>
            <a:custGeom>
              <a:avLst/>
              <a:gdLst/>
              <a:ahLst/>
              <a:cxnLst>
                <a:cxn ang="0">
                  <a:pos x="0" y="0"/>
                </a:cxn>
                <a:cxn ang="0">
                  <a:pos x="1" y="1"/>
                </a:cxn>
                <a:cxn ang="0">
                  <a:pos x="0" y="2"/>
                </a:cxn>
                <a:cxn ang="0">
                  <a:pos x="0" y="0"/>
                </a:cxn>
              </a:cxnLst>
              <a:rect l="0" t="0" r="r" b="b"/>
              <a:pathLst>
                <a:path w="1" h="2">
                  <a:moveTo>
                    <a:pt x="0" y="0"/>
                  </a:moveTo>
                  <a:lnTo>
                    <a:pt x="1" y="1"/>
                  </a:lnTo>
                  <a:lnTo>
                    <a:pt x="0" y="2"/>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79" name="Freeform 78"/>
            <p:cNvSpPr>
              <a:spLocks/>
            </p:cNvSpPr>
            <p:nvPr/>
          </p:nvSpPr>
          <p:spPr bwMode="auto">
            <a:xfrm>
              <a:off x="3829" y="2703"/>
              <a:ext cx="2" cy="2"/>
            </a:xfrm>
            <a:custGeom>
              <a:avLst/>
              <a:gdLst/>
              <a:ahLst/>
              <a:cxnLst>
                <a:cxn ang="0">
                  <a:pos x="1" y="0"/>
                </a:cxn>
                <a:cxn ang="0">
                  <a:pos x="1" y="1"/>
                </a:cxn>
                <a:cxn ang="0">
                  <a:pos x="0" y="0"/>
                </a:cxn>
                <a:cxn ang="0">
                  <a:pos x="1" y="0"/>
                </a:cxn>
              </a:cxnLst>
              <a:rect l="0" t="0" r="r" b="b"/>
              <a:pathLst>
                <a:path w="1" h="1">
                  <a:moveTo>
                    <a:pt x="1" y="0"/>
                  </a:moveTo>
                  <a:lnTo>
                    <a:pt x="1"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0" name="Freeform 79"/>
            <p:cNvSpPr>
              <a:spLocks/>
            </p:cNvSpPr>
            <p:nvPr/>
          </p:nvSpPr>
          <p:spPr bwMode="auto">
            <a:xfrm>
              <a:off x="3822" y="2719"/>
              <a:ext cx="2" cy="2"/>
            </a:xfrm>
            <a:custGeom>
              <a:avLst/>
              <a:gdLst/>
              <a:ahLst/>
              <a:cxnLst>
                <a:cxn ang="0">
                  <a:pos x="1" y="0"/>
                </a:cxn>
                <a:cxn ang="0">
                  <a:pos x="0" y="1"/>
                </a:cxn>
                <a:cxn ang="0">
                  <a:pos x="0" y="0"/>
                </a:cxn>
                <a:cxn ang="0">
                  <a:pos x="1" y="0"/>
                </a:cxn>
              </a:cxnLst>
              <a:rect l="0" t="0" r="r" b="b"/>
              <a:pathLst>
                <a:path w="1" h="1">
                  <a:moveTo>
                    <a:pt x="1" y="0"/>
                  </a:moveTo>
                  <a:lnTo>
                    <a:pt x="0"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1" name="Freeform 80"/>
            <p:cNvSpPr>
              <a:spLocks/>
            </p:cNvSpPr>
            <p:nvPr/>
          </p:nvSpPr>
          <p:spPr bwMode="auto">
            <a:xfrm>
              <a:off x="3822" y="2721"/>
              <a:ext cx="2" cy="2"/>
            </a:xfrm>
            <a:custGeom>
              <a:avLst/>
              <a:gdLst/>
              <a:ahLst/>
              <a:cxnLst>
                <a:cxn ang="0">
                  <a:pos x="1" y="2"/>
                </a:cxn>
                <a:cxn ang="0">
                  <a:pos x="1" y="0"/>
                </a:cxn>
                <a:cxn ang="0">
                  <a:pos x="0" y="2"/>
                </a:cxn>
                <a:cxn ang="0">
                  <a:pos x="1" y="2"/>
                </a:cxn>
              </a:cxnLst>
              <a:rect l="0" t="0" r="r" b="b"/>
              <a:pathLst>
                <a:path w="1" h="2">
                  <a:moveTo>
                    <a:pt x="1" y="2"/>
                  </a:moveTo>
                  <a:lnTo>
                    <a:pt x="1" y="0"/>
                  </a:lnTo>
                  <a:lnTo>
                    <a:pt x="0" y="2"/>
                  </a:lnTo>
                  <a:lnTo>
                    <a:pt x="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2" name="Freeform 81"/>
            <p:cNvSpPr>
              <a:spLocks/>
            </p:cNvSpPr>
            <p:nvPr/>
          </p:nvSpPr>
          <p:spPr bwMode="auto">
            <a:xfrm>
              <a:off x="3822" y="2592"/>
              <a:ext cx="2" cy="2"/>
            </a:xfrm>
            <a:custGeom>
              <a:avLst/>
              <a:gdLst/>
              <a:ahLst/>
              <a:cxnLst>
                <a:cxn ang="0">
                  <a:pos x="1" y="1"/>
                </a:cxn>
                <a:cxn ang="0">
                  <a:pos x="0" y="0"/>
                </a:cxn>
                <a:cxn ang="0">
                  <a:pos x="0" y="1"/>
                </a:cxn>
                <a:cxn ang="0">
                  <a:pos x="1" y="1"/>
                </a:cxn>
              </a:cxnLst>
              <a:rect l="0" t="0" r="r" b="b"/>
              <a:pathLst>
                <a:path w="1" h="1">
                  <a:moveTo>
                    <a:pt x="1" y="1"/>
                  </a:moveTo>
                  <a:lnTo>
                    <a:pt x="0" y="0"/>
                  </a:lnTo>
                  <a:lnTo>
                    <a:pt x="0" y="1"/>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3" name="Freeform 82"/>
            <p:cNvSpPr>
              <a:spLocks/>
            </p:cNvSpPr>
            <p:nvPr/>
          </p:nvSpPr>
          <p:spPr bwMode="auto">
            <a:xfrm>
              <a:off x="3827" y="2719"/>
              <a:ext cx="2" cy="2"/>
            </a:xfrm>
            <a:custGeom>
              <a:avLst/>
              <a:gdLst/>
              <a:ahLst/>
              <a:cxnLst>
                <a:cxn ang="0">
                  <a:pos x="0" y="1"/>
                </a:cxn>
                <a:cxn ang="0">
                  <a:pos x="0" y="0"/>
                </a:cxn>
                <a:cxn ang="0">
                  <a:pos x="0" y="1"/>
                </a:cxn>
              </a:cxnLst>
              <a:rect l="0" t="0" r="r" b="b"/>
              <a:pathLst>
                <a:path h="1">
                  <a:moveTo>
                    <a:pt x="0" y="1"/>
                  </a:moveTo>
                  <a:lnTo>
                    <a:pt x="0" y="0"/>
                  </a:lnTo>
                  <a:lnTo>
                    <a:pt x="0"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4" name="Freeform 83"/>
            <p:cNvSpPr>
              <a:spLocks/>
            </p:cNvSpPr>
            <p:nvPr/>
          </p:nvSpPr>
          <p:spPr bwMode="auto">
            <a:xfrm>
              <a:off x="3833" y="2663"/>
              <a:ext cx="2" cy="2"/>
            </a:xfrm>
            <a:custGeom>
              <a:avLst/>
              <a:gdLst/>
              <a:ahLst/>
              <a:cxnLst>
                <a:cxn ang="0">
                  <a:pos x="1" y="0"/>
                </a:cxn>
                <a:cxn ang="0">
                  <a:pos x="0" y="0"/>
                </a:cxn>
                <a:cxn ang="0">
                  <a:pos x="0" y="1"/>
                </a:cxn>
                <a:cxn ang="0">
                  <a:pos x="1" y="0"/>
                </a:cxn>
              </a:cxnLst>
              <a:rect l="0" t="0" r="r" b="b"/>
              <a:pathLst>
                <a:path w="1" h="1">
                  <a:moveTo>
                    <a:pt x="1" y="0"/>
                  </a:moveTo>
                  <a:lnTo>
                    <a:pt x="0" y="0"/>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5" name="Freeform 84"/>
            <p:cNvSpPr>
              <a:spLocks/>
            </p:cNvSpPr>
            <p:nvPr/>
          </p:nvSpPr>
          <p:spPr bwMode="auto">
            <a:xfrm>
              <a:off x="3820" y="2565"/>
              <a:ext cx="2" cy="2"/>
            </a:xfrm>
            <a:custGeom>
              <a:avLst/>
              <a:gdLst/>
              <a:ahLst/>
              <a:cxnLst>
                <a:cxn ang="0">
                  <a:pos x="1" y="0"/>
                </a:cxn>
                <a:cxn ang="0">
                  <a:pos x="0" y="0"/>
                </a:cxn>
                <a:cxn ang="0">
                  <a:pos x="0" y="2"/>
                </a:cxn>
                <a:cxn ang="0">
                  <a:pos x="1" y="0"/>
                </a:cxn>
              </a:cxnLst>
              <a:rect l="0" t="0" r="r" b="b"/>
              <a:pathLst>
                <a:path w="1" h="2">
                  <a:moveTo>
                    <a:pt x="1" y="0"/>
                  </a:moveTo>
                  <a:lnTo>
                    <a:pt x="0" y="0"/>
                  </a:lnTo>
                  <a:lnTo>
                    <a:pt x="0" y="2"/>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6" name="Freeform 85"/>
            <p:cNvSpPr>
              <a:spLocks/>
            </p:cNvSpPr>
            <p:nvPr/>
          </p:nvSpPr>
          <p:spPr bwMode="auto">
            <a:xfrm>
              <a:off x="3827" y="2670"/>
              <a:ext cx="2" cy="2"/>
            </a:xfrm>
            <a:custGeom>
              <a:avLst/>
              <a:gdLst/>
              <a:ahLst/>
              <a:cxnLst>
                <a:cxn ang="0">
                  <a:pos x="1" y="1"/>
                </a:cxn>
                <a:cxn ang="0">
                  <a:pos x="0" y="0"/>
                </a:cxn>
                <a:cxn ang="0">
                  <a:pos x="0" y="2"/>
                </a:cxn>
                <a:cxn ang="0">
                  <a:pos x="1" y="1"/>
                </a:cxn>
              </a:cxnLst>
              <a:rect l="0" t="0" r="r" b="b"/>
              <a:pathLst>
                <a:path w="1" h="2">
                  <a:moveTo>
                    <a:pt x="1" y="1"/>
                  </a:moveTo>
                  <a:lnTo>
                    <a:pt x="0" y="0"/>
                  </a:lnTo>
                  <a:lnTo>
                    <a:pt x="0" y="2"/>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7" name="Freeform 86"/>
            <p:cNvSpPr>
              <a:spLocks/>
            </p:cNvSpPr>
            <p:nvPr/>
          </p:nvSpPr>
          <p:spPr bwMode="auto">
            <a:xfrm>
              <a:off x="3829" y="2659"/>
              <a:ext cx="2" cy="2"/>
            </a:xfrm>
            <a:custGeom>
              <a:avLst/>
              <a:gdLst/>
              <a:ahLst/>
              <a:cxnLst>
                <a:cxn ang="0">
                  <a:pos x="1" y="0"/>
                </a:cxn>
                <a:cxn ang="0">
                  <a:pos x="0" y="0"/>
                </a:cxn>
                <a:cxn ang="0">
                  <a:pos x="0" y="1"/>
                </a:cxn>
                <a:cxn ang="0">
                  <a:pos x="1" y="0"/>
                </a:cxn>
              </a:cxnLst>
              <a:rect l="0" t="0" r="r" b="b"/>
              <a:pathLst>
                <a:path w="1" h="1">
                  <a:moveTo>
                    <a:pt x="1" y="0"/>
                  </a:moveTo>
                  <a:lnTo>
                    <a:pt x="0" y="0"/>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8" name="Freeform 87"/>
            <p:cNvSpPr>
              <a:spLocks/>
            </p:cNvSpPr>
            <p:nvPr/>
          </p:nvSpPr>
          <p:spPr bwMode="auto">
            <a:xfrm>
              <a:off x="3827" y="2592"/>
              <a:ext cx="2" cy="2"/>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89" name="Freeform 88"/>
            <p:cNvSpPr>
              <a:spLocks/>
            </p:cNvSpPr>
            <p:nvPr/>
          </p:nvSpPr>
          <p:spPr bwMode="auto">
            <a:xfrm>
              <a:off x="3818" y="2572"/>
              <a:ext cx="2" cy="2"/>
            </a:xfrm>
            <a:custGeom>
              <a:avLst/>
              <a:gdLst/>
              <a:ahLst/>
              <a:cxnLst>
                <a:cxn ang="0">
                  <a:pos x="2" y="0"/>
                </a:cxn>
                <a:cxn ang="0">
                  <a:pos x="1" y="0"/>
                </a:cxn>
                <a:cxn ang="0">
                  <a:pos x="0" y="0"/>
                </a:cxn>
                <a:cxn ang="0">
                  <a:pos x="2" y="0"/>
                </a:cxn>
              </a:cxnLst>
              <a:rect l="0" t="0" r="r" b="b"/>
              <a:pathLst>
                <a:path w="2">
                  <a:moveTo>
                    <a:pt x="2" y="0"/>
                  </a:moveTo>
                  <a:lnTo>
                    <a:pt x="1" y="0"/>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0" name="Freeform 89"/>
            <p:cNvSpPr>
              <a:spLocks/>
            </p:cNvSpPr>
            <p:nvPr/>
          </p:nvSpPr>
          <p:spPr bwMode="auto">
            <a:xfrm>
              <a:off x="3813" y="2650"/>
              <a:ext cx="2" cy="2"/>
            </a:xfrm>
            <a:custGeom>
              <a:avLst/>
              <a:gdLst/>
              <a:ahLst/>
              <a:cxnLst>
                <a:cxn ang="0">
                  <a:pos x="2" y="1"/>
                </a:cxn>
                <a:cxn ang="0">
                  <a:pos x="2" y="0"/>
                </a:cxn>
                <a:cxn ang="0">
                  <a:pos x="0" y="0"/>
                </a:cxn>
                <a:cxn ang="0">
                  <a:pos x="2" y="1"/>
                </a:cxn>
              </a:cxnLst>
              <a:rect l="0" t="0" r="r" b="b"/>
              <a:pathLst>
                <a:path w="2" h="1">
                  <a:moveTo>
                    <a:pt x="2" y="1"/>
                  </a:moveTo>
                  <a:lnTo>
                    <a:pt x="2" y="0"/>
                  </a:lnTo>
                  <a:lnTo>
                    <a:pt x="0" y="0"/>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1" name="Freeform 90"/>
            <p:cNvSpPr>
              <a:spLocks/>
            </p:cNvSpPr>
            <p:nvPr/>
          </p:nvSpPr>
          <p:spPr bwMode="auto">
            <a:xfrm>
              <a:off x="3815" y="2563"/>
              <a:ext cx="3" cy="2"/>
            </a:xfrm>
            <a:custGeom>
              <a:avLst/>
              <a:gdLst/>
              <a:ahLst/>
              <a:cxnLst>
                <a:cxn ang="0">
                  <a:pos x="1" y="1"/>
                </a:cxn>
                <a:cxn ang="0">
                  <a:pos x="1" y="0"/>
                </a:cxn>
                <a:cxn ang="0">
                  <a:pos x="0" y="0"/>
                </a:cxn>
                <a:cxn ang="0">
                  <a:pos x="1" y="1"/>
                </a:cxn>
              </a:cxnLst>
              <a:rect l="0" t="0" r="r" b="b"/>
              <a:pathLst>
                <a:path w="1" h="1">
                  <a:moveTo>
                    <a:pt x="1" y="1"/>
                  </a:moveTo>
                  <a:lnTo>
                    <a:pt x="1" y="0"/>
                  </a:ln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2" name="Freeform 91"/>
            <p:cNvSpPr>
              <a:spLocks/>
            </p:cNvSpPr>
            <p:nvPr/>
          </p:nvSpPr>
          <p:spPr bwMode="auto">
            <a:xfrm>
              <a:off x="3827" y="2645"/>
              <a:ext cx="2" cy="2"/>
            </a:xfrm>
            <a:custGeom>
              <a:avLst/>
              <a:gdLst/>
              <a:ahLst/>
              <a:cxnLst>
                <a:cxn ang="0">
                  <a:pos x="1" y="1"/>
                </a:cxn>
                <a:cxn ang="0">
                  <a:pos x="1" y="0"/>
                </a:cxn>
                <a:cxn ang="0">
                  <a:pos x="0" y="0"/>
                </a:cxn>
                <a:cxn ang="0">
                  <a:pos x="1" y="1"/>
                </a:cxn>
              </a:cxnLst>
              <a:rect l="0" t="0" r="r" b="b"/>
              <a:pathLst>
                <a:path w="1" h="1">
                  <a:moveTo>
                    <a:pt x="1" y="1"/>
                  </a:moveTo>
                  <a:lnTo>
                    <a:pt x="1" y="0"/>
                  </a:ln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3" name="Freeform 92"/>
            <p:cNvSpPr>
              <a:spLocks/>
            </p:cNvSpPr>
            <p:nvPr/>
          </p:nvSpPr>
          <p:spPr bwMode="auto">
            <a:xfrm>
              <a:off x="3829" y="2694"/>
              <a:ext cx="2" cy="2"/>
            </a:xfrm>
            <a:custGeom>
              <a:avLst/>
              <a:gdLst/>
              <a:ahLst/>
              <a:cxnLst>
                <a:cxn ang="0">
                  <a:pos x="1" y="0"/>
                </a:cxn>
                <a:cxn ang="0">
                  <a:pos x="1" y="1"/>
                </a:cxn>
                <a:cxn ang="0">
                  <a:pos x="0" y="1"/>
                </a:cxn>
                <a:cxn ang="0">
                  <a:pos x="1" y="0"/>
                </a:cxn>
              </a:cxnLst>
              <a:rect l="0" t="0" r="r" b="b"/>
              <a:pathLst>
                <a:path w="1" h="1">
                  <a:moveTo>
                    <a:pt x="1" y="0"/>
                  </a:moveTo>
                  <a:lnTo>
                    <a:pt x="1" y="1"/>
                  </a:lnTo>
                  <a:lnTo>
                    <a:pt x="0" y="1"/>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4" name="Freeform 93"/>
            <p:cNvSpPr>
              <a:spLocks/>
            </p:cNvSpPr>
            <p:nvPr/>
          </p:nvSpPr>
          <p:spPr bwMode="auto">
            <a:xfrm>
              <a:off x="3815" y="2567"/>
              <a:ext cx="3" cy="3"/>
            </a:xfrm>
            <a:custGeom>
              <a:avLst/>
              <a:gdLst/>
              <a:ahLst/>
              <a:cxnLst>
                <a:cxn ang="0">
                  <a:pos x="1" y="0"/>
                </a:cxn>
                <a:cxn ang="0">
                  <a:pos x="1" y="1"/>
                </a:cxn>
                <a:cxn ang="0">
                  <a:pos x="0" y="3"/>
                </a:cxn>
                <a:cxn ang="0">
                  <a:pos x="1" y="0"/>
                </a:cxn>
              </a:cxnLst>
              <a:rect l="0" t="0" r="r" b="b"/>
              <a:pathLst>
                <a:path w="1" h="3">
                  <a:moveTo>
                    <a:pt x="1" y="0"/>
                  </a:moveTo>
                  <a:lnTo>
                    <a:pt x="1" y="1"/>
                  </a:lnTo>
                  <a:lnTo>
                    <a:pt x="0" y="3"/>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5" name="Freeform 94"/>
            <p:cNvSpPr>
              <a:spLocks/>
            </p:cNvSpPr>
            <p:nvPr/>
          </p:nvSpPr>
          <p:spPr bwMode="auto">
            <a:xfrm>
              <a:off x="3827" y="2654"/>
              <a:ext cx="2" cy="2"/>
            </a:xfrm>
            <a:custGeom>
              <a:avLst/>
              <a:gdLst/>
              <a:ahLst/>
              <a:cxnLst>
                <a:cxn ang="0">
                  <a:pos x="2" y="0"/>
                </a:cxn>
                <a:cxn ang="0">
                  <a:pos x="2" y="2"/>
                </a:cxn>
                <a:cxn ang="0">
                  <a:pos x="0" y="0"/>
                </a:cxn>
                <a:cxn ang="0">
                  <a:pos x="2" y="0"/>
                </a:cxn>
              </a:cxnLst>
              <a:rect l="0" t="0" r="r" b="b"/>
              <a:pathLst>
                <a:path w="2" h="2">
                  <a:moveTo>
                    <a:pt x="2" y="0"/>
                  </a:moveTo>
                  <a:lnTo>
                    <a:pt x="2" y="2"/>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6" name="Freeform 95"/>
            <p:cNvSpPr>
              <a:spLocks/>
            </p:cNvSpPr>
            <p:nvPr/>
          </p:nvSpPr>
          <p:spPr bwMode="auto">
            <a:xfrm>
              <a:off x="3827" y="2614"/>
              <a:ext cx="2" cy="2"/>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7" name="Freeform 96"/>
            <p:cNvSpPr>
              <a:spLocks/>
            </p:cNvSpPr>
            <p:nvPr/>
          </p:nvSpPr>
          <p:spPr bwMode="auto">
            <a:xfrm>
              <a:off x="3342" y="2892"/>
              <a:ext cx="7" cy="2"/>
            </a:xfrm>
            <a:custGeom>
              <a:avLst/>
              <a:gdLst/>
              <a:ahLst/>
              <a:cxnLst>
                <a:cxn ang="0">
                  <a:pos x="6" y="0"/>
                </a:cxn>
                <a:cxn ang="0">
                  <a:pos x="4" y="0"/>
                </a:cxn>
                <a:cxn ang="0">
                  <a:pos x="0" y="1"/>
                </a:cxn>
                <a:cxn ang="0">
                  <a:pos x="6" y="0"/>
                </a:cxn>
              </a:cxnLst>
              <a:rect l="0" t="0" r="r" b="b"/>
              <a:pathLst>
                <a:path w="6" h="1">
                  <a:moveTo>
                    <a:pt x="6" y="0"/>
                  </a:moveTo>
                  <a:lnTo>
                    <a:pt x="4" y="0"/>
                  </a:lnTo>
                  <a:lnTo>
                    <a:pt x="0" y="1"/>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8" name="Freeform 97"/>
            <p:cNvSpPr>
              <a:spLocks/>
            </p:cNvSpPr>
            <p:nvPr/>
          </p:nvSpPr>
          <p:spPr bwMode="auto">
            <a:xfrm>
              <a:off x="3395" y="2183"/>
              <a:ext cx="3" cy="4"/>
            </a:xfrm>
            <a:custGeom>
              <a:avLst/>
              <a:gdLst/>
              <a:ahLst/>
              <a:cxnLst>
                <a:cxn ang="0">
                  <a:pos x="0" y="0"/>
                </a:cxn>
                <a:cxn ang="0">
                  <a:pos x="0" y="3"/>
                </a:cxn>
                <a:cxn ang="0">
                  <a:pos x="1" y="1"/>
                </a:cxn>
                <a:cxn ang="0">
                  <a:pos x="0" y="0"/>
                </a:cxn>
              </a:cxnLst>
              <a:rect l="0" t="0" r="r" b="b"/>
              <a:pathLst>
                <a:path w="1" h="3">
                  <a:moveTo>
                    <a:pt x="0" y="0"/>
                  </a:moveTo>
                  <a:lnTo>
                    <a:pt x="0" y="3"/>
                  </a:lnTo>
                  <a:lnTo>
                    <a:pt x="1" y="1"/>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99" name="Freeform 98"/>
            <p:cNvSpPr>
              <a:spLocks/>
            </p:cNvSpPr>
            <p:nvPr/>
          </p:nvSpPr>
          <p:spPr bwMode="auto">
            <a:xfrm>
              <a:off x="2769" y="2236"/>
              <a:ext cx="180" cy="318"/>
            </a:xfrm>
            <a:custGeom>
              <a:avLst/>
              <a:gdLst/>
              <a:ahLst/>
              <a:cxnLst>
                <a:cxn ang="0">
                  <a:pos x="160" y="72"/>
                </a:cxn>
                <a:cxn ang="0">
                  <a:pos x="145" y="63"/>
                </a:cxn>
                <a:cxn ang="0">
                  <a:pos x="129" y="54"/>
                </a:cxn>
                <a:cxn ang="0">
                  <a:pos x="112" y="45"/>
                </a:cxn>
                <a:cxn ang="0">
                  <a:pos x="97" y="36"/>
                </a:cxn>
                <a:cxn ang="0">
                  <a:pos x="81" y="27"/>
                </a:cxn>
                <a:cxn ang="0">
                  <a:pos x="66" y="18"/>
                </a:cxn>
                <a:cxn ang="0">
                  <a:pos x="50" y="9"/>
                </a:cxn>
                <a:cxn ang="0">
                  <a:pos x="34" y="0"/>
                </a:cxn>
                <a:cxn ang="0">
                  <a:pos x="19" y="9"/>
                </a:cxn>
                <a:cxn ang="0">
                  <a:pos x="20" y="22"/>
                </a:cxn>
                <a:cxn ang="0">
                  <a:pos x="22" y="36"/>
                </a:cxn>
                <a:cxn ang="0">
                  <a:pos x="36" y="56"/>
                </a:cxn>
                <a:cxn ang="0">
                  <a:pos x="32" y="64"/>
                </a:cxn>
                <a:cxn ang="0">
                  <a:pos x="31" y="78"/>
                </a:cxn>
                <a:cxn ang="0">
                  <a:pos x="30" y="91"/>
                </a:cxn>
                <a:cxn ang="0">
                  <a:pos x="30" y="105"/>
                </a:cxn>
                <a:cxn ang="0">
                  <a:pos x="28" y="118"/>
                </a:cxn>
                <a:cxn ang="0">
                  <a:pos x="21" y="129"/>
                </a:cxn>
                <a:cxn ang="0">
                  <a:pos x="14" y="140"/>
                </a:cxn>
                <a:cxn ang="0">
                  <a:pos x="7" y="151"/>
                </a:cxn>
                <a:cxn ang="0">
                  <a:pos x="0" y="162"/>
                </a:cxn>
                <a:cxn ang="0">
                  <a:pos x="1" y="176"/>
                </a:cxn>
                <a:cxn ang="0">
                  <a:pos x="8" y="187"/>
                </a:cxn>
                <a:cxn ang="0">
                  <a:pos x="14" y="187"/>
                </a:cxn>
                <a:cxn ang="0">
                  <a:pos x="21" y="205"/>
                </a:cxn>
                <a:cxn ang="0">
                  <a:pos x="24" y="225"/>
                </a:cxn>
                <a:cxn ang="0">
                  <a:pos x="34" y="243"/>
                </a:cxn>
                <a:cxn ang="0">
                  <a:pos x="15" y="243"/>
                </a:cxn>
                <a:cxn ang="0">
                  <a:pos x="8" y="247"/>
                </a:cxn>
                <a:cxn ang="0">
                  <a:pos x="21" y="264"/>
                </a:cxn>
                <a:cxn ang="0">
                  <a:pos x="31" y="286"/>
                </a:cxn>
                <a:cxn ang="0">
                  <a:pos x="46" y="282"/>
                </a:cxn>
                <a:cxn ang="0">
                  <a:pos x="49" y="284"/>
                </a:cxn>
                <a:cxn ang="0">
                  <a:pos x="58" y="283"/>
                </a:cxn>
                <a:cxn ang="0">
                  <a:pos x="80" y="278"/>
                </a:cxn>
                <a:cxn ang="0">
                  <a:pos x="87" y="268"/>
                </a:cxn>
                <a:cxn ang="0">
                  <a:pos x="85" y="264"/>
                </a:cxn>
                <a:cxn ang="0">
                  <a:pos x="108" y="259"/>
                </a:cxn>
                <a:cxn ang="0">
                  <a:pos x="120" y="244"/>
                </a:cxn>
                <a:cxn ang="0">
                  <a:pos x="132" y="230"/>
                </a:cxn>
                <a:cxn ang="0">
                  <a:pos x="147" y="226"/>
                </a:cxn>
                <a:cxn ang="0">
                  <a:pos x="146" y="216"/>
                </a:cxn>
                <a:cxn ang="0">
                  <a:pos x="142" y="206"/>
                </a:cxn>
                <a:cxn ang="0">
                  <a:pos x="136" y="193"/>
                </a:cxn>
                <a:cxn ang="0">
                  <a:pos x="130" y="192"/>
                </a:cxn>
                <a:cxn ang="0">
                  <a:pos x="135" y="178"/>
                </a:cxn>
                <a:cxn ang="0">
                  <a:pos x="138" y="170"/>
                </a:cxn>
                <a:cxn ang="0">
                  <a:pos x="139" y="165"/>
                </a:cxn>
                <a:cxn ang="0">
                  <a:pos x="139" y="159"/>
                </a:cxn>
                <a:cxn ang="0">
                  <a:pos x="147" y="145"/>
                </a:cxn>
                <a:cxn ang="0">
                  <a:pos x="152" y="140"/>
                </a:cxn>
                <a:cxn ang="0">
                  <a:pos x="163" y="140"/>
                </a:cxn>
                <a:cxn ang="0">
                  <a:pos x="162" y="123"/>
                </a:cxn>
                <a:cxn ang="0">
                  <a:pos x="162" y="106"/>
                </a:cxn>
                <a:cxn ang="0">
                  <a:pos x="160" y="88"/>
                </a:cxn>
                <a:cxn ang="0">
                  <a:pos x="160" y="72"/>
                </a:cxn>
              </a:cxnLst>
              <a:rect l="0" t="0" r="r" b="b"/>
              <a:pathLst>
                <a:path w="163" h="286">
                  <a:moveTo>
                    <a:pt x="160" y="72"/>
                  </a:moveTo>
                  <a:lnTo>
                    <a:pt x="145" y="63"/>
                  </a:lnTo>
                  <a:lnTo>
                    <a:pt x="129" y="54"/>
                  </a:lnTo>
                  <a:lnTo>
                    <a:pt x="112" y="45"/>
                  </a:lnTo>
                  <a:lnTo>
                    <a:pt x="97" y="36"/>
                  </a:lnTo>
                  <a:lnTo>
                    <a:pt x="81" y="27"/>
                  </a:lnTo>
                  <a:lnTo>
                    <a:pt x="66" y="18"/>
                  </a:lnTo>
                  <a:lnTo>
                    <a:pt x="50" y="9"/>
                  </a:lnTo>
                  <a:lnTo>
                    <a:pt x="34" y="0"/>
                  </a:lnTo>
                  <a:lnTo>
                    <a:pt x="19" y="9"/>
                  </a:lnTo>
                  <a:lnTo>
                    <a:pt x="20" y="22"/>
                  </a:lnTo>
                  <a:lnTo>
                    <a:pt x="22" y="36"/>
                  </a:lnTo>
                  <a:lnTo>
                    <a:pt x="36" y="56"/>
                  </a:lnTo>
                  <a:lnTo>
                    <a:pt x="32" y="64"/>
                  </a:lnTo>
                  <a:lnTo>
                    <a:pt x="31" y="78"/>
                  </a:lnTo>
                  <a:lnTo>
                    <a:pt x="30" y="91"/>
                  </a:lnTo>
                  <a:lnTo>
                    <a:pt x="30" y="105"/>
                  </a:lnTo>
                  <a:lnTo>
                    <a:pt x="28" y="118"/>
                  </a:lnTo>
                  <a:lnTo>
                    <a:pt x="21" y="129"/>
                  </a:lnTo>
                  <a:lnTo>
                    <a:pt x="14" y="140"/>
                  </a:lnTo>
                  <a:lnTo>
                    <a:pt x="7" y="151"/>
                  </a:lnTo>
                  <a:lnTo>
                    <a:pt x="0" y="162"/>
                  </a:lnTo>
                  <a:lnTo>
                    <a:pt x="1" y="176"/>
                  </a:lnTo>
                  <a:lnTo>
                    <a:pt x="8" y="187"/>
                  </a:lnTo>
                  <a:lnTo>
                    <a:pt x="14" y="187"/>
                  </a:lnTo>
                  <a:lnTo>
                    <a:pt x="21" y="205"/>
                  </a:lnTo>
                  <a:lnTo>
                    <a:pt x="24" y="225"/>
                  </a:lnTo>
                  <a:lnTo>
                    <a:pt x="34" y="243"/>
                  </a:lnTo>
                  <a:lnTo>
                    <a:pt x="15" y="243"/>
                  </a:lnTo>
                  <a:lnTo>
                    <a:pt x="8" y="247"/>
                  </a:lnTo>
                  <a:lnTo>
                    <a:pt x="21" y="264"/>
                  </a:lnTo>
                  <a:lnTo>
                    <a:pt x="31" y="286"/>
                  </a:lnTo>
                  <a:lnTo>
                    <a:pt x="46" y="282"/>
                  </a:lnTo>
                  <a:lnTo>
                    <a:pt x="49" y="284"/>
                  </a:lnTo>
                  <a:lnTo>
                    <a:pt x="58" y="283"/>
                  </a:lnTo>
                  <a:lnTo>
                    <a:pt x="80" y="278"/>
                  </a:lnTo>
                  <a:lnTo>
                    <a:pt x="87" y="268"/>
                  </a:lnTo>
                  <a:lnTo>
                    <a:pt x="85" y="264"/>
                  </a:lnTo>
                  <a:lnTo>
                    <a:pt x="108" y="259"/>
                  </a:lnTo>
                  <a:lnTo>
                    <a:pt x="120" y="244"/>
                  </a:lnTo>
                  <a:lnTo>
                    <a:pt x="132" y="230"/>
                  </a:lnTo>
                  <a:lnTo>
                    <a:pt x="147" y="226"/>
                  </a:lnTo>
                  <a:lnTo>
                    <a:pt x="146" y="216"/>
                  </a:lnTo>
                  <a:lnTo>
                    <a:pt x="142" y="206"/>
                  </a:lnTo>
                  <a:lnTo>
                    <a:pt x="136" y="193"/>
                  </a:lnTo>
                  <a:lnTo>
                    <a:pt x="130" y="192"/>
                  </a:lnTo>
                  <a:lnTo>
                    <a:pt x="135" y="178"/>
                  </a:lnTo>
                  <a:lnTo>
                    <a:pt x="138" y="170"/>
                  </a:lnTo>
                  <a:lnTo>
                    <a:pt x="139" y="165"/>
                  </a:lnTo>
                  <a:lnTo>
                    <a:pt x="139" y="159"/>
                  </a:lnTo>
                  <a:lnTo>
                    <a:pt x="147" y="145"/>
                  </a:lnTo>
                  <a:lnTo>
                    <a:pt x="152" y="140"/>
                  </a:lnTo>
                  <a:lnTo>
                    <a:pt x="163" y="140"/>
                  </a:lnTo>
                  <a:lnTo>
                    <a:pt x="162" y="123"/>
                  </a:lnTo>
                  <a:lnTo>
                    <a:pt x="162" y="106"/>
                  </a:lnTo>
                  <a:lnTo>
                    <a:pt x="160" y="88"/>
                  </a:lnTo>
                  <a:lnTo>
                    <a:pt x="160" y="7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0" name="Freeform 99"/>
            <p:cNvSpPr>
              <a:spLocks/>
            </p:cNvSpPr>
            <p:nvPr/>
          </p:nvSpPr>
          <p:spPr bwMode="auto">
            <a:xfrm>
              <a:off x="3264" y="2454"/>
              <a:ext cx="25" cy="31"/>
            </a:xfrm>
            <a:custGeom>
              <a:avLst/>
              <a:gdLst/>
              <a:ahLst/>
              <a:cxnLst>
                <a:cxn ang="0">
                  <a:pos x="0" y="28"/>
                </a:cxn>
                <a:cxn ang="0">
                  <a:pos x="18" y="28"/>
                </a:cxn>
                <a:cxn ang="0">
                  <a:pos x="22" y="20"/>
                </a:cxn>
                <a:cxn ang="0">
                  <a:pos x="16" y="0"/>
                </a:cxn>
                <a:cxn ang="0">
                  <a:pos x="10" y="2"/>
                </a:cxn>
                <a:cxn ang="0">
                  <a:pos x="0" y="28"/>
                </a:cxn>
              </a:cxnLst>
              <a:rect l="0" t="0" r="r" b="b"/>
              <a:pathLst>
                <a:path w="22" h="28">
                  <a:moveTo>
                    <a:pt x="0" y="28"/>
                  </a:moveTo>
                  <a:lnTo>
                    <a:pt x="18" y="28"/>
                  </a:lnTo>
                  <a:lnTo>
                    <a:pt x="22" y="20"/>
                  </a:lnTo>
                  <a:lnTo>
                    <a:pt x="16" y="0"/>
                  </a:lnTo>
                  <a:lnTo>
                    <a:pt x="10" y="2"/>
                  </a:lnTo>
                  <a:lnTo>
                    <a:pt x="0"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1" name="Freeform 100"/>
            <p:cNvSpPr>
              <a:spLocks/>
            </p:cNvSpPr>
            <p:nvPr/>
          </p:nvSpPr>
          <p:spPr bwMode="auto">
            <a:xfrm>
              <a:off x="3167" y="2347"/>
              <a:ext cx="115" cy="114"/>
            </a:xfrm>
            <a:custGeom>
              <a:avLst/>
              <a:gdLst/>
              <a:ahLst/>
              <a:cxnLst>
                <a:cxn ang="0">
                  <a:pos x="0" y="78"/>
                </a:cxn>
                <a:cxn ang="0">
                  <a:pos x="2" y="65"/>
                </a:cxn>
                <a:cxn ang="0">
                  <a:pos x="4" y="40"/>
                </a:cxn>
                <a:cxn ang="0">
                  <a:pos x="10" y="17"/>
                </a:cxn>
                <a:cxn ang="0">
                  <a:pos x="20" y="10"/>
                </a:cxn>
                <a:cxn ang="0">
                  <a:pos x="29" y="3"/>
                </a:cxn>
                <a:cxn ang="0">
                  <a:pos x="32" y="0"/>
                </a:cxn>
                <a:cxn ang="0">
                  <a:pos x="36" y="12"/>
                </a:cxn>
                <a:cxn ang="0">
                  <a:pos x="41" y="25"/>
                </a:cxn>
                <a:cxn ang="0">
                  <a:pos x="46" y="39"/>
                </a:cxn>
                <a:cxn ang="0">
                  <a:pos x="52" y="52"/>
                </a:cxn>
                <a:cxn ang="0">
                  <a:pos x="52" y="47"/>
                </a:cxn>
                <a:cxn ang="0">
                  <a:pos x="57" y="49"/>
                </a:cxn>
                <a:cxn ang="0">
                  <a:pos x="70" y="59"/>
                </a:cxn>
                <a:cxn ang="0">
                  <a:pos x="87" y="76"/>
                </a:cxn>
                <a:cxn ang="0">
                  <a:pos x="104" y="93"/>
                </a:cxn>
                <a:cxn ang="0">
                  <a:pos x="105" y="96"/>
                </a:cxn>
                <a:cxn ang="0">
                  <a:pos x="104" y="97"/>
                </a:cxn>
                <a:cxn ang="0">
                  <a:pos x="98" y="99"/>
                </a:cxn>
                <a:cxn ang="0">
                  <a:pos x="90" y="102"/>
                </a:cxn>
                <a:cxn ang="0">
                  <a:pos x="89" y="99"/>
                </a:cxn>
                <a:cxn ang="0">
                  <a:pos x="75" y="94"/>
                </a:cxn>
                <a:cxn ang="0">
                  <a:pos x="65" y="83"/>
                </a:cxn>
                <a:cxn ang="0">
                  <a:pos x="60" y="77"/>
                </a:cxn>
                <a:cxn ang="0">
                  <a:pos x="51" y="72"/>
                </a:cxn>
                <a:cxn ang="0">
                  <a:pos x="42" y="70"/>
                </a:cxn>
                <a:cxn ang="0">
                  <a:pos x="33" y="71"/>
                </a:cxn>
                <a:cxn ang="0">
                  <a:pos x="24" y="63"/>
                </a:cxn>
                <a:cxn ang="0">
                  <a:pos x="22" y="77"/>
                </a:cxn>
                <a:cxn ang="0">
                  <a:pos x="15" y="71"/>
                </a:cxn>
                <a:cxn ang="0">
                  <a:pos x="8" y="79"/>
                </a:cxn>
                <a:cxn ang="0">
                  <a:pos x="0" y="78"/>
                </a:cxn>
              </a:cxnLst>
              <a:rect l="0" t="0" r="r" b="b"/>
              <a:pathLst>
                <a:path w="105" h="102">
                  <a:moveTo>
                    <a:pt x="0" y="78"/>
                  </a:moveTo>
                  <a:lnTo>
                    <a:pt x="2" y="65"/>
                  </a:lnTo>
                  <a:lnTo>
                    <a:pt x="4" y="40"/>
                  </a:lnTo>
                  <a:lnTo>
                    <a:pt x="10" y="17"/>
                  </a:lnTo>
                  <a:lnTo>
                    <a:pt x="20" y="10"/>
                  </a:lnTo>
                  <a:lnTo>
                    <a:pt x="29" y="3"/>
                  </a:lnTo>
                  <a:lnTo>
                    <a:pt x="32" y="0"/>
                  </a:lnTo>
                  <a:lnTo>
                    <a:pt x="36" y="12"/>
                  </a:lnTo>
                  <a:lnTo>
                    <a:pt x="41" y="25"/>
                  </a:lnTo>
                  <a:lnTo>
                    <a:pt x="46" y="39"/>
                  </a:lnTo>
                  <a:lnTo>
                    <a:pt x="52" y="52"/>
                  </a:lnTo>
                  <a:lnTo>
                    <a:pt x="52" y="47"/>
                  </a:lnTo>
                  <a:lnTo>
                    <a:pt x="57" y="49"/>
                  </a:lnTo>
                  <a:lnTo>
                    <a:pt x="70" y="59"/>
                  </a:lnTo>
                  <a:lnTo>
                    <a:pt x="87" y="76"/>
                  </a:lnTo>
                  <a:lnTo>
                    <a:pt x="104" y="93"/>
                  </a:lnTo>
                  <a:lnTo>
                    <a:pt x="105" y="96"/>
                  </a:lnTo>
                  <a:lnTo>
                    <a:pt x="104" y="97"/>
                  </a:lnTo>
                  <a:lnTo>
                    <a:pt x="98" y="99"/>
                  </a:lnTo>
                  <a:lnTo>
                    <a:pt x="90" y="102"/>
                  </a:lnTo>
                  <a:lnTo>
                    <a:pt x="89" y="99"/>
                  </a:lnTo>
                  <a:lnTo>
                    <a:pt x="75" y="94"/>
                  </a:lnTo>
                  <a:lnTo>
                    <a:pt x="65" y="83"/>
                  </a:lnTo>
                  <a:lnTo>
                    <a:pt x="60" y="77"/>
                  </a:lnTo>
                  <a:lnTo>
                    <a:pt x="51" y="72"/>
                  </a:lnTo>
                  <a:lnTo>
                    <a:pt x="42" y="70"/>
                  </a:lnTo>
                  <a:lnTo>
                    <a:pt x="33" y="71"/>
                  </a:lnTo>
                  <a:lnTo>
                    <a:pt x="24" y="63"/>
                  </a:lnTo>
                  <a:lnTo>
                    <a:pt x="22" y="77"/>
                  </a:lnTo>
                  <a:lnTo>
                    <a:pt x="15" y="71"/>
                  </a:lnTo>
                  <a:lnTo>
                    <a:pt x="8" y="79"/>
                  </a:lnTo>
                  <a:lnTo>
                    <a:pt x="0" y="7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2" name="Freeform 101"/>
            <p:cNvSpPr>
              <a:spLocks/>
            </p:cNvSpPr>
            <p:nvPr/>
          </p:nvSpPr>
          <p:spPr bwMode="auto">
            <a:xfrm>
              <a:off x="3111" y="2416"/>
              <a:ext cx="262" cy="220"/>
            </a:xfrm>
            <a:custGeom>
              <a:avLst/>
              <a:gdLst/>
              <a:ahLst/>
              <a:cxnLst>
                <a:cxn ang="0">
                  <a:pos x="80" y="193"/>
                </a:cxn>
                <a:cxn ang="0">
                  <a:pos x="61" y="180"/>
                </a:cxn>
                <a:cxn ang="0">
                  <a:pos x="48" y="177"/>
                </a:cxn>
                <a:cxn ang="0">
                  <a:pos x="43" y="163"/>
                </a:cxn>
                <a:cxn ang="0">
                  <a:pos x="34" y="159"/>
                </a:cxn>
                <a:cxn ang="0">
                  <a:pos x="28" y="147"/>
                </a:cxn>
                <a:cxn ang="0">
                  <a:pos x="22" y="135"/>
                </a:cxn>
                <a:cxn ang="0">
                  <a:pos x="6" y="121"/>
                </a:cxn>
                <a:cxn ang="0">
                  <a:pos x="0" y="116"/>
                </a:cxn>
                <a:cxn ang="0">
                  <a:pos x="6" y="109"/>
                </a:cxn>
                <a:cxn ang="0">
                  <a:pos x="18" y="106"/>
                </a:cxn>
                <a:cxn ang="0">
                  <a:pos x="19" y="86"/>
                </a:cxn>
                <a:cxn ang="0">
                  <a:pos x="22" y="67"/>
                </a:cxn>
                <a:cxn ang="0">
                  <a:pos x="30" y="64"/>
                </a:cxn>
                <a:cxn ang="0">
                  <a:pos x="34" y="45"/>
                </a:cxn>
                <a:cxn ang="0">
                  <a:pos x="50" y="15"/>
                </a:cxn>
                <a:cxn ang="0">
                  <a:pos x="58" y="16"/>
                </a:cxn>
                <a:cxn ang="0">
                  <a:pos x="65" y="8"/>
                </a:cxn>
                <a:cxn ang="0">
                  <a:pos x="72" y="14"/>
                </a:cxn>
                <a:cxn ang="0">
                  <a:pos x="74" y="0"/>
                </a:cxn>
                <a:cxn ang="0">
                  <a:pos x="83" y="8"/>
                </a:cxn>
                <a:cxn ang="0">
                  <a:pos x="92" y="7"/>
                </a:cxn>
                <a:cxn ang="0">
                  <a:pos x="101" y="9"/>
                </a:cxn>
                <a:cxn ang="0">
                  <a:pos x="110" y="14"/>
                </a:cxn>
                <a:cxn ang="0">
                  <a:pos x="115" y="20"/>
                </a:cxn>
                <a:cxn ang="0">
                  <a:pos x="125" y="31"/>
                </a:cxn>
                <a:cxn ang="0">
                  <a:pos x="139" y="36"/>
                </a:cxn>
                <a:cxn ang="0">
                  <a:pos x="140" y="39"/>
                </a:cxn>
                <a:cxn ang="0">
                  <a:pos x="148" y="36"/>
                </a:cxn>
                <a:cxn ang="0">
                  <a:pos x="138" y="62"/>
                </a:cxn>
                <a:cxn ang="0">
                  <a:pos x="156" y="62"/>
                </a:cxn>
                <a:cxn ang="0">
                  <a:pos x="154" y="73"/>
                </a:cxn>
                <a:cxn ang="0">
                  <a:pos x="163" y="85"/>
                </a:cxn>
                <a:cxn ang="0">
                  <a:pos x="174" y="98"/>
                </a:cxn>
                <a:cxn ang="0">
                  <a:pos x="186" y="103"/>
                </a:cxn>
                <a:cxn ang="0">
                  <a:pos x="198" y="108"/>
                </a:cxn>
                <a:cxn ang="0">
                  <a:pos x="210" y="112"/>
                </a:cxn>
                <a:cxn ang="0">
                  <a:pos x="221" y="116"/>
                </a:cxn>
                <a:cxn ang="0">
                  <a:pos x="236" y="116"/>
                </a:cxn>
                <a:cxn ang="0">
                  <a:pos x="226" y="130"/>
                </a:cxn>
                <a:cxn ang="0">
                  <a:pos x="214" y="144"/>
                </a:cxn>
                <a:cxn ang="0">
                  <a:pos x="202" y="158"/>
                </a:cxn>
                <a:cxn ang="0">
                  <a:pos x="191" y="172"/>
                </a:cxn>
                <a:cxn ang="0">
                  <a:pos x="178" y="174"/>
                </a:cxn>
                <a:cxn ang="0">
                  <a:pos x="166" y="175"/>
                </a:cxn>
                <a:cxn ang="0">
                  <a:pos x="150" y="184"/>
                </a:cxn>
                <a:cxn ang="0">
                  <a:pos x="143" y="189"/>
                </a:cxn>
                <a:cxn ang="0">
                  <a:pos x="126" y="186"/>
                </a:cxn>
                <a:cxn ang="0">
                  <a:pos x="110" y="190"/>
                </a:cxn>
                <a:cxn ang="0">
                  <a:pos x="102" y="198"/>
                </a:cxn>
                <a:cxn ang="0">
                  <a:pos x="80" y="193"/>
                </a:cxn>
              </a:cxnLst>
              <a:rect l="0" t="0" r="r" b="b"/>
              <a:pathLst>
                <a:path w="236" h="198">
                  <a:moveTo>
                    <a:pt x="80" y="193"/>
                  </a:moveTo>
                  <a:lnTo>
                    <a:pt x="61" y="180"/>
                  </a:lnTo>
                  <a:lnTo>
                    <a:pt x="48" y="177"/>
                  </a:lnTo>
                  <a:lnTo>
                    <a:pt x="43" y="163"/>
                  </a:lnTo>
                  <a:lnTo>
                    <a:pt x="34" y="159"/>
                  </a:lnTo>
                  <a:lnTo>
                    <a:pt x="28" y="147"/>
                  </a:lnTo>
                  <a:lnTo>
                    <a:pt x="22" y="135"/>
                  </a:lnTo>
                  <a:lnTo>
                    <a:pt x="6" y="121"/>
                  </a:lnTo>
                  <a:lnTo>
                    <a:pt x="0" y="116"/>
                  </a:lnTo>
                  <a:lnTo>
                    <a:pt x="6" y="109"/>
                  </a:lnTo>
                  <a:lnTo>
                    <a:pt x="18" y="106"/>
                  </a:lnTo>
                  <a:lnTo>
                    <a:pt x="19" y="86"/>
                  </a:lnTo>
                  <a:lnTo>
                    <a:pt x="22" y="67"/>
                  </a:lnTo>
                  <a:lnTo>
                    <a:pt x="30" y="64"/>
                  </a:lnTo>
                  <a:lnTo>
                    <a:pt x="34" y="45"/>
                  </a:lnTo>
                  <a:lnTo>
                    <a:pt x="50" y="15"/>
                  </a:lnTo>
                  <a:lnTo>
                    <a:pt x="58" y="16"/>
                  </a:lnTo>
                  <a:lnTo>
                    <a:pt x="65" y="8"/>
                  </a:lnTo>
                  <a:lnTo>
                    <a:pt x="72" y="14"/>
                  </a:lnTo>
                  <a:lnTo>
                    <a:pt x="74" y="0"/>
                  </a:lnTo>
                  <a:lnTo>
                    <a:pt x="83" y="8"/>
                  </a:lnTo>
                  <a:lnTo>
                    <a:pt x="92" y="7"/>
                  </a:lnTo>
                  <a:lnTo>
                    <a:pt x="101" y="9"/>
                  </a:lnTo>
                  <a:lnTo>
                    <a:pt x="110" y="14"/>
                  </a:lnTo>
                  <a:lnTo>
                    <a:pt x="115" y="20"/>
                  </a:lnTo>
                  <a:lnTo>
                    <a:pt x="125" y="31"/>
                  </a:lnTo>
                  <a:lnTo>
                    <a:pt x="139" y="36"/>
                  </a:lnTo>
                  <a:lnTo>
                    <a:pt x="140" y="39"/>
                  </a:lnTo>
                  <a:lnTo>
                    <a:pt x="148" y="36"/>
                  </a:lnTo>
                  <a:lnTo>
                    <a:pt x="138" y="62"/>
                  </a:lnTo>
                  <a:lnTo>
                    <a:pt x="156" y="62"/>
                  </a:lnTo>
                  <a:lnTo>
                    <a:pt x="154" y="73"/>
                  </a:lnTo>
                  <a:lnTo>
                    <a:pt x="163" y="85"/>
                  </a:lnTo>
                  <a:lnTo>
                    <a:pt x="174" y="98"/>
                  </a:lnTo>
                  <a:lnTo>
                    <a:pt x="186" y="103"/>
                  </a:lnTo>
                  <a:lnTo>
                    <a:pt x="198" y="108"/>
                  </a:lnTo>
                  <a:lnTo>
                    <a:pt x="210" y="112"/>
                  </a:lnTo>
                  <a:lnTo>
                    <a:pt x="221" y="116"/>
                  </a:lnTo>
                  <a:lnTo>
                    <a:pt x="236" y="116"/>
                  </a:lnTo>
                  <a:lnTo>
                    <a:pt x="226" y="130"/>
                  </a:lnTo>
                  <a:lnTo>
                    <a:pt x="214" y="144"/>
                  </a:lnTo>
                  <a:lnTo>
                    <a:pt x="202" y="158"/>
                  </a:lnTo>
                  <a:lnTo>
                    <a:pt x="191" y="172"/>
                  </a:lnTo>
                  <a:lnTo>
                    <a:pt x="178" y="174"/>
                  </a:lnTo>
                  <a:lnTo>
                    <a:pt x="166" y="175"/>
                  </a:lnTo>
                  <a:lnTo>
                    <a:pt x="150" y="184"/>
                  </a:lnTo>
                  <a:lnTo>
                    <a:pt x="143" y="189"/>
                  </a:lnTo>
                  <a:lnTo>
                    <a:pt x="126" y="186"/>
                  </a:lnTo>
                  <a:lnTo>
                    <a:pt x="110" y="190"/>
                  </a:lnTo>
                  <a:lnTo>
                    <a:pt x="102" y="198"/>
                  </a:lnTo>
                  <a:lnTo>
                    <a:pt x="80" y="1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3" name="Freeform 102"/>
            <p:cNvSpPr>
              <a:spLocks/>
            </p:cNvSpPr>
            <p:nvPr/>
          </p:nvSpPr>
          <p:spPr bwMode="auto">
            <a:xfrm>
              <a:off x="3253" y="2467"/>
              <a:ext cx="176" cy="272"/>
            </a:xfrm>
            <a:custGeom>
              <a:avLst/>
              <a:gdLst/>
              <a:ahLst/>
              <a:cxnLst>
                <a:cxn ang="0">
                  <a:pos x="154" y="34"/>
                </a:cxn>
                <a:cxn ang="0">
                  <a:pos x="149" y="54"/>
                </a:cxn>
                <a:cxn ang="0">
                  <a:pos x="138" y="76"/>
                </a:cxn>
                <a:cxn ang="0">
                  <a:pos x="128" y="96"/>
                </a:cxn>
                <a:cxn ang="0">
                  <a:pos x="117" y="118"/>
                </a:cxn>
                <a:cxn ang="0">
                  <a:pos x="106" y="139"/>
                </a:cxn>
                <a:cxn ang="0">
                  <a:pos x="96" y="150"/>
                </a:cxn>
                <a:cxn ang="0">
                  <a:pos x="87" y="160"/>
                </a:cxn>
                <a:cxn ang="0">
                  <a:pos x="77" y="169"/>
                </a:cxn>
                <a:cxn ang="0">
                  <a:pos x="69" y="179"/>
                </a:cxn>
                <a:cxn ang="0">
                  <a:pos x="57" y="190"/>
                </a:cxn>
                <a:cxn ang="0">
                  <a:pos x="46" y="201"/>
                </a:cxn>
                <a:cxn ang="0">
                  <a:pos x="35" y="211"/>
                </a:cxn>
                <a:cxn ang="0">
                  <a:pos x="24" y="222"/>
                </a:cxn>
                <a:cxn ang="0">
                  <a:pos x="16" y="234"/>
                </a:cxn>
                <a:cxn ang="0">
                  <a:pos x="9" y="245"/>
                </a:cxn>
                <a:cxn ang="0">
                  <a:pos x="0" y="231"/>
                </a:cxn>
                <a:cxn ang="0">
                  <a:pos x="0" y="214"/>
                </a:cxn>
                <a:cxn ang="0">
                  <a:pos x="0" y="197"/>
                </a:cxn>
                <a:cxn ang="0">
                  <a:pos x="0" y="180"/>
                </a:cxn>
                <a:cxn ang="0">
                  <a:pos x="0" y="165"/>
                </a:cxn>
                <a:cxn ang="0">
                  <a:pos x="8" y="154"/>
                </a:cxn>
                <a:cxn ang="0">
                  <a:pos x="15" y="144"/>
                </a:cxn>
                <a:cxn ang="0">
                  <a:pos x="22" y="139"/>
                </a:cxn>
                <a:cxn ang="0">
                  <a:pos x="38" y="130"/>
                </a:cxn>
                <a:cxn ang="0">
                  <a:pos x="50" y="129"/>
                </a:cxn>
                <a:cxn ang="0">
                  <a:pos x="63" y="127"/>
                </a:cxn>
                <a:cxn ang="0">
                  <a:pos x="74" y="113"/>
                </a:cxn>
                <a:cxn ang="0">
                  <a:pos x="86" y="99"/>
                </a:cxn>
                <a:cxn ang="0">
                  <a:pos x="98" y="85"/>
                </a:cxn>
                <a:cxn ang="0">
                  <a:pos x="108" y="71"/>
                </a:cxn>
                <a:cxn ang="0">
                  <a:pos x="93" y="71"/>
                </a:cxn>
                <a:cxn ang="0">
                  <a:pos x="82" y="67"/>
                </a:cxn>
                <a:cxn ang="0">
                  <a:pos x="70" y="63"/>
                </a:cxn>
                <a:cxn ang="0">
                  <a:pos x="58" y="58"/>
                </a:cxn>
                <a:cxn ang="0">
                  <a:pos x="46" y="53"/>
                </a:cxn>
                <a:cxn ang="0">
                  <a:pos x="35" y="40"/>
                </a:cxn>
                <a:cxn ang="0">
                  <a:pos x="26" y="28"/>
                </a:cxn>
                <a:cxn ang="0">
                  <a:pos x="28" y="17"/>
                </a:cxn>
                <a:cxn ang="0">
                  <a:pos x="32" y="9"/>
                </a:cxn>
                <a:cxn ang="0">
                  <a:pos x="42" y="18"/>
                </a:cxn>
                <a:cxn ang="0">
                  <a:pos x="52" y="28"/>
                </a:cxn>
                <a:cxn ang="0">
                  <a:pos x="71" y="21"/>
                </a:cxn>
                <a:cxn ang="0">
                  <a:pos x="87" y="22"/>
                </a:cxn>
                <a:cxn ang="0">
                  <a:pos x="101" y="15"/>
                </a:cxn>
                <a:cxn ang="0">
                  <a:pos x="123" y="10"/>
                </a:cxn>
                <a:cxn ang="0">
                  <a:pos x="146" y="5"/>
                </a:cxn>
                <a:cxn ang="0">
                  <a:pos x="153" y="0"/>
                </a:cxn>
                <a:cxn ang="0">
                  <a:pos x="158" y="5"/>
                </a:cxn>
                <a:cxn ang="0">
                  <a:pos x="156" y="28"/>
                </a:cxn>
                <a:cxn ang="0">
                  <a:pos x="159" y="28"/>
                </a:cxn>
                <a:cxn ang="0">
                  <a:pos x="154" y="34"/>
                </a:cxn>
              </a:cxnLst>
              <a:rect l="0" t="0" r="r" b="b"/>
              <a:pathLst>
                <a:path w="159" h="245">
                  <a:moveTo>
                    <a:pt x="154" y="34"/>
                  </a:moveTo>
                  <a:lnTo>
                    <a:pt x="149" y="54"/>
                  </a:lnTo>
                  <a:lnTo>
                    <a:pt x="138" y="76"/>
                  </a:lnTo>
                  <a:lnTo>
                    <a:pt x="128" y="96"/>
                  </a:lnTo>
                  <a:lnTo>
                    <a:pt x="117" y="118"/>
                  </a:lnTo>
                  <a:lnTo>
                    <a:pt x="106" y="139"/>
                  </a:lnTo>
                  <a:lnTo>
                    <a:pt x="96" y="150"/>
                  </a:lnTo>
                  <a:lnTo>
                    <a:pt x="87" y="160"/>
                  </a:lnTo>
                  <a:lnTo>
                    <a:pt x="77" y="169"/>
                  </a:lnTo>
                  <a:lnTo>
                    <a:pt x="69" y="179"/>
                  </a:lnTo>
                  <a:lnTo>
                    <a:pt x="57" y="190"/>
                  </a:lnTo>
                  <a:lnTo>
                    <a:pt x="46" y="201"/>
                  </a:lnTo>
                  <a:lnTo>
                    <a:pt x="35" y="211"/>
                  </a:lnTo>
                  <a:lnTo>
                    <a:pt x="24" y="222"/>
                  </a:lnTo>
                  <a:lnTo>
                    <a:pt x="16" y="234"/>
                  </a:lnTo>
                  <a:lnTo>
                    <a:pt x="9" y="245"/>
                  </a:lnTo>
                  <a:lnTo>
                    <a:pt x="0" y="231"/>
                  </a:lnTo>
                  <a:lnTo>
                    <a:pt x="0" y="214"/>
                  </a:lnTo>
                  <a:lnTo>
                    <a:pt x="0" y="197"/>
                  </a:lnTo>
                  <a:lnTo>
                    <a:pt x="0" y="180"/>
                  </a:lnTo>
                  <a:lnTo>
                    <a:pt x="0" y="165"/>
                  </a:lnTo>
                  <a:lnTo>
                    <a:pt x="8" y="154"/>
                  </a:lnTo>
                  <a:lnTo>
                    <a:pt x="15" y="144"/>
                  </a:lnTo>
                  <a:lnTo>
                    <a:pt x="22" y="139"/>
                  </a:lnTo>
                  <a:lnTo>
                    <a:pt x="38" y="130"/>
                  </a:lnTo>
                  <a:lnTo>
                    <a:pt x="50" y="129"/>
                  </a:lnTo>
                  <a:lnTo>
                    <a:pt x="63" y="127"/>
                  </a:lnTo>
                  <a:lnTo>
                    <a:pt x="74" y="113"/>
                  </a:lnTo>
                  <a:lnTo>
                    <a:pt x="86" y="99"/>
                  </a:lnTo>
                  <a:lnTo>
                    <a:pt x="98" y="85"/>
                  </a:lnTo>
                  <a:lnTo>
                    <a:pt x="108" y="71"/>
                  </a:lnTo>
                  <a:lnTo>
                    <a:pt x="93" y="71"/>
                  </a:lnTo>
                  <a:lnTo>
                    <a:pt x="82" y="67"/>
                  </a:lnTo>
                  <a:lnTo>
                    <a:pt x="70" y="63"/>
                  </a:lnTo>
                  <a:lnTo>
                    <a:pt x="58" y="58"/>
                  </a:lnTo>
                  <a:lnTo>
                    <a:pt x="46" y="53"/>
                  </a:lnTo>
                  <a:lnTo>
                    <a:pt x="35" y="40"/>
                  </a:lnTo>
                  <a:lnTo>
                    <a:pt x="26" y="28"/>
                  </a:lnTo>
                  <a:lnTo>
                    <a:pt x="28" y="17"/>
                  </a:lnTo>
                  <a:lnTo>
                    <a:pt x="32" y="9"/>
                  </a:lnTo>
                  <a:lnTo>
                    <a:pt x="42" y="18"/>
                  </a:lnTo>
                  <a:lnTo>
                    <a:pt x="52" y="28"/>
                  </a:lnTo>
                  <a:lnTo>
                    <a:pt x="71" y="21"/>
                  </a:lnTo>
                  <a:lnTo>
                    <a:pt x="87" y="22"/>
                  </a:lnTo>
                  <a:lnTo>
                    <a:pt x="101" y="15"/>
                  </a:lnTo>
                  <a:lnTo>
                    <a:pt x="123" y="10"/>
                  </a:lnTo>
                  <a:lnTo>
                    <a:pt x="146" y="5"/>
                  </a:lnTo>
                  <a:lnTo>
                    <a:pt x="153" y="0"/>
                  </a:lnTo>
                  <a:lnTo>
                    <a:pt x="158" y="5"/>
                  </a:lnTo>
                  <a:lnTo>
                    <a:pt x="156" y="28"/>
                  </a:lnTo>
                  <a:lnTo>
                    <a:pt x="159" y="28"/>
                  </a:lnTo>
                  <a:lnTo>
                    <a:pt x="154"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4" name="Freeform 103"/>
            <p:cNvSpPr>
              <a:spLocks/>
            </p:cNvSpPr>
            <p:nvPr/>
          </p:nvSpPr>
          <p:spPr bwMode="auto">
            <a:xfrm>
              <a:off x="2913" y="2243"/>
              <a:ext cx="287" cy="393"/>
            </a:xfrm>
            <a:custGeom>
              <a:avLst/>
              <a:gdLst/>
              <a:ahLst/>
              <a:cxnLst>
                <a:cxn ang="0">
                  <a:pos x="30" y="56"/>
                </a:cxn>
                <a:cxn ang="0">
                  <a:pos x="45" y="38"/>
                </a:cxn>
                <a:cxn ang="0">
                  <a:pos x="57" y="20"/>
                </a:cxn>
                <a:cxn ang="0">
                  <a:pos x="81" y="20"/>
                </a:cxn>
                <a:cxn ang="0">
                  <a:pos x="105" y="20"/>
                </a:cxn>
                <a:cxn ang="0">
                  <a:pos x="130" y="20"/>
                </a:cxn>
                <a:cxn ang="0">
                  <a:pos x="143" y="15"/>
                </a:cxn>
                <a:cxn ang="0">
                  <a:pos x="164" y="23"/>
                </a:cxn>
                <a:cxn ang="0">
                  <a:pos x="186" y="17"/>
                </a:cxn>
                <a:cxn ang="0">
                  <a:pos x="198" y="5"/>
                </a:cxn>
                <a:cxn ang="0">
                  <a:pos x="208" y="0"/>
                </a:cxn>
                <a:cxn ang="0">
                  <a:pos x="228" y="23"/>
                </a:cxn>
                <a:cxn ang="0">
                  <a:pos x="238" y="57"/>
                </a:cxn>
                <a:cxn ang="0">
                  <a:pos x="257" y="95"/>
                </a:cxn>
                <a:cxn ang="0">
                  <a:pos x="238" y="109"/>
                </a:cxn>
                <a:cxn ang="0">
                  <a:pos x="230" y="157"/>
                </a:cxn>
                <a:cxn ang="0">
                  <a:pos x="212" y="200"/>
                </a:cxn>
                <a:cxn ang="0">
                  <a:pos x="200" y="222"/>
                </a:cxn>
                <a:cxn ang="0">
                  <a:pos x="196" y="261"/>
                </a:cxn>
                <a:cxn ang="0">
                  <a:pos x="178" y="271"/>
                </a:cxn>
                <a:cxn ang="0">
                  <a:pos x="200" y="290"/>
                </a:cxn>
                <a:cxn ang="0">
                  <a:pos x="212" y="314"/>
                </a:cxn>
                <a:cxn ang="0">
                  <a:pos x="226" y="332"/>
                </a:cxn>
                <a:cxn ang="0">
                  <a:pos x="201" y="332"/>
                </a:cxn>
                <a:cxn ang="0">
                  <a:pos x="188" y="348"/>
                </a:cxn>
                <a:cxn ang="0">
                  <a:pos x="162" y="350"/>
                </a:cxn>
                <a:cxn ang="0">
                  <a:pos x="147" y="349"/>
                </a:cxn>
                <a:cxn ang="0">
                  <a:pos x="134" y="342"/>
                </a:cxn>
                <a:cxn ang="0">
                  <a:pos x="117" y="336"/>
                </a:cxn>
                <a:cxn ang="0">
                  <a:pos x="95" y="329"/>
                </a:cxn>
                <a:cxn ang="0">
                  <a:pos x="89" y="319"/>
                </a:cxn>
                <a:cxn ang="0">
                  <a:pos x="74" y="297"/>
                </a:cxn>
                <a:cxn ang="0">
                  <a:pos x="57" y="277"/>
                </a:cxn>
                <a:cxn ang="0">
                  <a:pos x="39" y="261"/>
                </a:cxn>
                <a:cxn ang="0">
                  <a:pos x="30" y="241"/>
                </a:cxn>
                <a:cxn ang="0">
                  <a:pos x="17" y="219"/>
                </a:cxn>
                <a:cxn ang="0">
                  <a:pos x="12" y="199"/>
                </a:cxn>
                <a:cxn ang="0">
                  <a:pos x="0" y="185"/>
                </a:cxn>
                <a:cxn ang="0">
                  <a:pos x="8" y="163"/>
                </a:cxn>
                <a:cxn ang="0">
                  <a:pos x="9" y="152"/>
                </a:cxn>
                <a:cxn ang="0">
                  <a:pos x="22" y="133"/>
                </a:cxn>
                <a:cxn ang="0">
                  <a:pos x="32" y="116"/>
                </a:cxn>
                <a:cxn ang="0">
                  <a:pos x="30" y="81"/>
                </a:cxn>
              </a:cxnLst>
              <a:rect l="0" t="0" r="r" b="b"/>
              <a:pathLst>
                <a:path w="257" h="353">
                  <a:moveTo>
                    <a:pt x="30" y="65"/>
                  </a:moveTo>
                  <a:lnTo>
                    <a:pt x="30" y="56"/>
                  </a:lnTo>
                  <a:lnTo>
                    <a:pt x="46" y="56"/>
                  </a:lnTo>
                  <a:lnTo>
                    <a:pt x="45" y="38"/>
                  </a:lnTo>
                  <a:lnTo>
                    <a:pt x="45" y="20"/>
                  </a:lnTo>
                  <a:lnTo>
                    <a:pt x="57" y="20"/>
                  </a:lnTo>
                  <a:lnTo>
                    <a:pt x="69" y="20"/>
                  </a:lnTo>
                  <a:lnTo>
                    <a:pt x="81" y="20"/>
                  </a:lnTo>
                  <a:lnTo>
                    <a:pt x="93" y="20"/>
                  </a:lnTo>
                  <a:lnTo>
                    <a:pt x="105" y="20"/>
                  </a:lnTo>
                  <a:lnTo>
                    <a:pt x="117" y="20"/>
                  </a:lnTo>
                  <a:lnTo>
                    <a:pt x="130" y="20"/>
                  </a:lnTo>
                  <a:lnTo>
                    <a:pt x="142" y="20"/>
                  </a:lnTo>
                  <a:lnTo>
                    <a:pt x="143" y="15"/>
                  </a:lnTo>
                  <a:lnTo>
                    <a:pt x="144" y="20"/>
                  </a:lnTo>
                  <a:lnTo>
                    <a:pt x="164" y="23"/>
                  </a:lnTo>
                  <a:lnTo>
                    <a:pt x="183" y="24"/>
                  </a:lnTo>
                  <a:lnTo>
                    <a:pt x="186" y="17"/>
                  </a:lnTo>
                  <a:lnTo>
                    <a:pt x="195" y="14"/>
                  </a:lnTo>
                  <a:lnTo>
                    <a:pt x="198" y="5"/>
                  </a:lnTo>
                  <a:lnTo>
                    <a:pt x="202" y="6"/>
                  </a:lnTo>
                  <a:lnTo>
                    <a:pt x="208" y="0"/>
                  </a:lnTo>
                  <a:lnTo>
                    <a:pt x="219" y="11"/>
                  </a:lnTo>
                  <a:lnTo>
                    <a:pt x="228" y="23"/>
                  </a:lnTo>
                  <a:lnTo>
                    <a:pt x="234" y="36"/>
                  </a:lnTo>
                  <a:lnTo>
                    <a:pt x="238" y="57"/>
                  </a:lnTo>
                  <a:lnTo>
                    <a:pt x="243" y="78"/>
                  </a:lnTo>
                  <a:lnTo>
                    <a:pt x="257" y="95"/>
                  </a:lnTo>
                  <a:lnTo>
                    <a:pt x="248" y="102"/>
                  </a:lnTo>
                  <a:lnTo>
                    <a:pt x="238" y="109"/>
                  </a:lnTo>
                  <a:lnTo>
                    <a:pt x="232" y="132"/>
                  </a:lnTo>
                  <a:lnTo>
                    <a:pt x="230" y="157"/>
                  </a:lnTo>
                  <a:lnTo>
                    <a:pt x="228" y="170"/>
                  </a:lnTo>
                  <a:lnTo>
                    <a:pt x="212" y="200"/>
                  </a:lnTo>
                  <a:lnTo>
                    <a:pt x="208" y="219"/>
                  </a:lnTo>
                  <a:lnTo>
                    <a:pt x="200" y="222"/>
                  </a:lnTo>
                  <a:lnTo>
                    <a:pt x="197" y="241"/>
                  </a:lnTo>
                  <a:lnTo>
                    <a:pt x="196" y="261"/>
                  </a:lnTo>
                  <a:lnTo>
                    <a:pt x="184" y="264"/>
                  </a:lnTo>
                  <a:lnTo>
                    <a:pt x="178" y="271"/>
                  </a:lnTo>
                  <a:lnTo>
                    <a:pt x="184" y="276"/>
                  </a:lnTo>
                  <a:lnTo>
                    <a:pt x="200" y="290"/>
                  </a:lnTo>
                  <a:lnTo>
                    <a:pt x="206" y="302"/>
                  </a:lnTo>
                  <a:lnTo>
                    <a:pt x="212" y="314"/>
                  </a:lnTo>
                  <a:lnTo>
                    <a:pt x="221" y="318"/>
                  </a:lnTo>
                  <a:lnTo>
                    <a:pt x="226" y="332"/>
                  </a:lnTo>
                  <a:lnTo>
                    <a:pt x="213" y="332"/>
                  </a:lnTo>
                  <a:lnTo>
                    <a:pt x="201" y="332"/>
                  </a:lnTo>
                  <a:lnTo>
                    <a:pt x="195" y="339"/>
                  </a:lnTo>
                  <a:lnTo>
                    <a:pt x="188" y="348"/>
                  </a:lnTo>
                  <a:lnTo>
                    <a:pt x="170" y="348"/>
                  </a:lnTo>
                  <a:lnTo>
                    <a:pt x="162" y="350"/>
                  </a:lnTo>
                  <a:lnTo>
                    <a:pt x="159" y="348"/>
                  </a:lnTo>
                  <a:lnTo>
                    <a:pt x="147" y="349"/>
                  </a:lnTo>
                  <a:lnTo>
                    <a:pt x="146" y="353"/>
                  </a:lnTo>
                  <a:lnTo>
                    <a:pt x="134" y="342"/>
                  </a:lnTo>
                  <a:lnTo>
                    <a:pt x="123" y="331"/>
                  </a:lnTo>
                  <a:lnTo>
                    <a:pt x="117" y="336"/>
                  </a:lnTo>
                  <a:lnTo>
                    <a:pt x="107" y="337"/>
                  </a:lnTo>
                  <a:lnTo>
                    <a:pt x="95" y="329"/>
                  </a:lnTo>
                  <a:lnTo>
                    <a:pt x="92" y="325"/>
                  </a:lnTo>
                  <a:lnTo>
                    <a:pt x="89" y="319"/>
                  </a:lnTo>
                  <a:lnTo>
                    <a:pt x="80" y="307"/>
                  </a:lnTo>
                  <a:lnTo>
                    <a:pt x="74" y="297"/>
                  </a:lnTo>
                  <a:lnTo>
                    <a:pt x="59" y="284"/>
                  </a:lnTo>
                  <a:lnTo>
                    <a:pt x="57" y="277"/>
                  </a:lnTo>
                  <a:lnTo>
                    <a:pt x="42" y="266"/>
                  </a:lnTo>
                  <a:lnTo>
                    <a:pt x="39" y="261"/>
                  </a:lnTo>
                  <a:lnTo>
                    <a:pt x="28" y="259"/>
                  </a:lnTo>
                  <a:lnTo>
                    <a:pt x="30" y="241"/>
                  </a:lnTo>
                  <a:lnTo>
                    <a:pt x="23" y="230"/>
                  </a:lnTo>
                  <a:lnTo>
                    <a:pt x="17" y="219"/>
                  </a:lnTo>
                  <a:lnTo>
                    <a:pt x="16" y="209"/>
                  </a:lnTo>
                  <a:lnTo>
                    <a:pt x="12" y="199"/>
                  </a:lnTo>
                  <a:lnTo>
                    <a:pt x="6" y="186"/>
                  </a:lnTo>
                  <a:lnTo>
                    <a:pt x="0" y="185"/>
                  </a:lnTo>
                  <a:lnTo>
                    <a:pt x="5" y="171"/>
                  </a:lnTo>
                  <a:lnTo>
                    <a:pt x="8" y="163"/>
                  </a:lnTo>
                  <a:lnTo>
                    <a:pt x="9" y="158"/>
                  </a:lnTo>
                  <a:lnTo>
                    <a:pt x="9" y="152"/>
                  </a:lnTo>
                  <a:lnTo>
                    <a:pt x="17" y="138"/>
                  </a:lnTo>
                  <a:lnTo>
                    <a:pt x="22" y="133"/>
                  </a:lnTo>
                  <a:lnTo>
                    <a:pt x="33" y="133"/>
                  </a:lnTo>
                  <a:lnTo>
                    <a:pt x="32" y="116"/>
                  </a:lnTo>
                  <a:lnTo>
                    <a:pt x="32" y="99"/>
                  </a:lnTo>
                  <a:lnTo>
                    <a:pt x="30" y="81"/>
                  </a:lnTo>
                  <a:lnTo>
                    <a:pt x="30" y="6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5" name="Freeform 104"/>
            <p:cNvSpPr>
              <a:spLocks/>
            </p:cNvSpPr>
            <p:nvPr/>
          </p:nvSpPr>
          <p:spPr bwMode="auto">
            <a:xfrm>
              <a:off x="3042" y="2752"/>
              <a:ext cx="31" cy="42"/>
            </a:xfrm>
            <a:custGeom>
              <a:avLst/>
              <a:gdLst/>
              <a:ahLst/>
              <a:cxnLst>
                <a:cxn ang="0">
                  <a:pos x="25" y="10"/>
                </a:cxn>
                <a:cxn ang="0">
                  <a:pos x="25" y="1"/>
                </a:cxn>
                <a:cxn ang="0">
                  <a:pos x="16" y="0"/>
                </a:cxn>
                <a:cxn ang="0">
                  <a:pos x="14" y="6"/>
                </a:cxn>
                <a:cxn ang="0">
                  <a:pos x="1" y="6"/>
                </a:cxn>
                <a:cxn ang="0">
                  <a:pos x="0" y="7"/>
                </a:cxn>
                <a:cxn ang="0">
                  <a:pos x="1" y="8"/>
                </a:cxn>
                <a:cxn ang="0">
                  <a:pos x="3" y="23"/>
                </a:cxn>
                <a:cxn ang="0">
                  <a:pos x="7" y="38"/>
                </a:cxn>
                <a:cxn ang="0">
                  <a:pos x="10" y="38"/>
                </a:cxn>
                <a:cxn ang="0">
                  <a:pos x="19" y="26"/>
                </a:cxn>
                <a:cxn ang="0">
                  <a:pos x="28" y="16"/>
                </a:cxn>
                <a:cxn ang="0">
                  <a:pos x="25" y="10"/>
                </a:cxn>
              </a:cxnLst>
              <a:rect l="0" t="0" r="r" b="b"/>
              <a:pathLst>
                <a:path w="28" h="38">
                  <a:moveTo>
                    <a:pt x="25" y="10"/>
                  </a:moveTo>
                  <a:lnTo>
                    <a:pt x="25" y="1"/>
                  </a:lnTo>
                  <a:lnTo>
                    <a:pt x="16" y="0"/>
                  </a:lnTo>
                  <a:lnTo>
                    <a:pt x="14" y="6"/>
                  </a:lnTo>
                  <a:lnTo>
                    <a:pt x="1" y="6"/>
                  </a:lnTo>
                  <a:lnTo>
                    <a:pt x="0" y="7"/>
                  </a:lnTo>
                  <a:lnTo>
                    <a:pt x="1" y="8"/>
                  </a:lnTo>
                  <a:lnTo>
                    <a:pt x="3" y="23"/>
                  </a:lnTo>
                  <a:lnTo>
                    <a:pt x="7" y="38"/>
                  </a:lnTo>
                  <a:lnTo>
                    <a:pt x="10" y="38"/>
                  </a:lnTo>
                  <a:lnTo>
                    <a:pt x="19" y="26"/>
                  </a:lnTo>
                  <a:lnTo>
                    <a:pt x="28" y="16"/>
                  </a:lnTo>
                  <a:lnTo>
                    <a:pt x="25"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6" name="Freeform 105"/>
            <p:cNvSpPr>
              <a:spLocks/>
            </p:cNvSpPr>
            <p:nvPr/>
          </p:nvSpPr>
          <p:spPr bwMode="auto">
            <a:xfrm>
              <a:off x="2729" y="2634"/>
              <a:ext cx="131" cy="171"/>
            </a:xfrm>
            <a:custGeom>
              <a:avLst/>
              <a:gdLst/>
              <a:ahLst/>
              <a:cxnLst>
                <a:cxn ang="0">
                  <a:pos x="20" y="108"/>
                </a:cxn>
                <a:cxn ang="0">
                  <a:pos x="6" y="109"/>
                </a:cxn>
                <a:cxn ang="0">
                  <a:pos x="7" y="115"/>
                </a:cxn>
                <a:cxn ang="0">
                  <a:pos x="8" y="120"/>
                </a:cxn>
                <a:cxn ang="0">
                  <a:pos x="12" y="127"/>
                </a:cxn>
                <a:cxn ang="0">
                  <a:pos x="8" y="131"/>
                </a:cxn>
                <a:cxn ang="0">
                  <a:pos x="4" y="129"/>
                </a:cxn>
                <a:cxn ang="0">
                  <a:pos x="0" y="136"/>
                </a:cxn>
                <a:cxn ang="0">
                  <a:pos x="13" y="155"/>
                </a:cxn>
                <a:cxn ang="0">
                  <a:pos x="24" y="145"/>
                </a:cxn>
                <a:cxn ang="0">
                  <a:pos x="30" y="148"/>
                </a:cxn>
                <a:cxn ang="0">
                  <a:pos x="38" y="151"/>
                </a:cxn>
                <a:cxn ang="0">
                  <a:pos x="42" y="145"/>
                </a:cxn>
                <a:cxn ang="0">
                  <a:pos x="51" y="144"/>
                </a:cxn>
                <a:cxn ang="0">
                  <a:pos x="54" y="153"/>
                </a:cxn>
                <a:cxn ang="0">
                  <a:pos x="66" y="141"/>
                </a:cxn>
                <a:cxn ang="0">
                  <a:pos x="78" y="129"/>
                </a:cxn>
                <a:cxn ang="0">
                  <a:pos x="80" y="115"/>
                </a:cxn>
                <a:cxn ang="0">
                  <a:pos x="81" y="101"/>
                </a:cxn>
                <a:cxn ang="0">
                  <a:pos x="93" y="87"/>
                </a:cxn>
                <a:cxn ang="0">
                  <a:pos x="104" y="72"/>
                </a:cxn>
                <a:cxn ang="0">
                  <a:pos x="106" y="59"/>
                </a:cxn>
                <a:cxn ang="0">
                  <a:pos x="109" y="45"/>
                </a:cxn>
                <a:cxn ang="0">
                  <a:pos x="111" y="31"/>
                </a:cxn>
                <a:cxn ang="0">
                  <a:pos x="114" y="18"/>
                </a:cxn>
                <a:cxn ang="0">
                  <a:pos x="117" y="3"/>
                </a:cxn>
                <a:cxn ang="0">
                  <a:pos x="105" y="1"/>
                </a:cxn>
                <a:cxn ang="0">
                  <a:pos x="93" y="0"/>
                </a:cxn>
                <a:cxn ang="0">
                  <a:pos x="85" y="6"/>
                </a:cxn>
                <a:cxn ang="0">
                  <a:pos x="79" y="25"/>
                </a:cxn>
                <a:cxn ang="0">
                  <a:pos x="76" y="34"/>
                </a:cxn>
                <a:cxn ang="0">
                  <a:pos x="62" y="30"/>
                </a:cxn>
                <a:cxn ang="0">
                  <a:pos x="49" y="27"/>
                </a:cxn>
                <a:cxn ang="0">
                  <a:pos x="33" y="27"/>
                </a:cxn>
                <a:cxn ang="0">
                  <a:pos x="32" y="43"/>
                </a:cxn>
                <a:cxn ang="0">
                  <a:pos x="49" y="42"/>
                </a:cxn>
                <a:cxn ang="0">
                  <a:pos x="50" y="54"/>
                </a:cxn>
                <a:cxn ang="0">
                  <a:pos x="43" y="64"/>
                </a:cxn>
                <a:cxn ang="0">
                  <a:pos x="52" y="79"/>
                </a:cxn>
                <a:cxn ang="0">
                  <a:pos x="48" y="105"/>
                </a:cxn>
                <a:cxn ang="0">
                  <a:pos x="43" y="109"/>
                </a:cxn>
                <a:cxn ang="0">
                  <a:pos x="40" y="105"/>
                </a:cxn>
                <a:cxn ang="0">
                  <a:pos x="31" y="108"/>
                </a:cxn>
                <a:cxn ang="0">
                  <a:pos x="21" y="97"/>
                </a:cxn>
                <a:cxn ang="0">
                  <a:pos x="20" y="108"/>
                </a:cxn>
              </a:cxnLst>
              <a:rect l="0" t="0" r="r" b="b"/>
              <a:pathLst>
                <a:path w="117" h="155">
                  <a:moveTo>
                    <a:pt x="20" y="108"/>
                  </a:moveTo>
                  <a:lnTo>
                    <a:pt x="6" y="109"/>
                  </a:lnTo>
                  <a:lnTo>
                    <a:pt x="7" y="115"/>
                  </a:lnTo>
                  <a:lnTo>
                    <a:pt x="8" y="120"/>
                  </a:lnTo>
                  <a:lnTo>
                    <a:pt x="12" y="127"/>
                  </a:lnTo>
                  <a:lnTo>
                    <a:pt x="8" y="131"/>
                  </a:lnTo>
                  <a:lnTo>
                    <a:pt x="4" y="129"/>
                  </a:lnTo>
                  <a:lnTo>
                    <a:pt x="0" y="136"/>
                  </a:lnTo>
                  <a:lnTo>
                    <a:pt x="13" y="155"/>
                  </a:lnTo>
                  <a:lnTo>
                    <a:pt x="24" y="145"/>
                  </a:lnTo>
                  <a:lnTo>
                    <a:pt x="30" y="148"/>
                  </a:lnTo>
                  <a:lnTo>
                    <a:pt x="38" y="151"/>
                  </a:lnTo>
                  <a:lnTo>
                    <a:pt x="42" y="145"/>
                  </a:lnTo>
                  <a:lnTo>
                    <a:pt x="51" y="144"/>
                  </a:lnTo>
                  <a:lnTo>
                    <a:pt x="54" y="153"/>
                  </a:lnTo>
                  <a:lnTo>
                    <a:pt x="66" y="141"/>
                  </a:lnTo>
                  <a:lnTo>
                    <a:pt x="78" y="129"/>
                  </a:lnTo>
                  <a:lnTo>
                    <a:pt x="80" y="115"/>
                  </a:lnTo>
                  <a:lnTo>
                    <a:pt x="81" y="101"/>
                  </a:lnTo>
                  <a:lnTo>
                    <a:pt x="93" y="87"/>
                  </a:lnTo>
                  <a:lnTo>
                    <a:pt x="104" y="72"/>
                  </a:lnTo>
                  <a:lnTo>
                    <a:pt x="106" y="59"/>
                  </a:lnTo>
                  <a:lnTo>
                    <a:pt x="109" y="45"/>
                  </a:lnTo>
                  <a:lnTo>
                    <a:pt x="111" y="31"/>
                  </a:lnTo>
                  <a:lnTo>
                    <a:pt x="114" y="18"/>
                  </a:lnTo>
                  <a:lnTo>
                    <a:pt x="117" y="3"/>
                  </a:lnTo>
                  <a:lnTo>
                    <a:pt x="105" y="1"/>
                  </a:lnTo>
                  <a:lnTo>
                    <a:pt x="93" y="0"/>
                  </a:lnTo>
                  <a:lnTo>
                    <a:pt x="85" y="6"/>
                  </a:lnTo>
                  <a:lnTo>
                    <a:pt x="79" y="25"/>
                  </a:lnTo>
                  <a:lnTo>
                    <a:pt x="76" y="34"/>
                  </a:lnTo>
                  <a:lnTo>
                    <a:pt x="62" y="30"/>
                  </a:lnTo>
                  <a:lnTo>
                    <a:pt x="49" y="27"/>
                  </a:lnTo>
                  <a:lnTo>
                    <a:pt x="33" y="27"/>
                  </a:lnTo>
                  <a:lnTo>
                    <a:pt x="32" y="43"/>
                  </a:lnTo>
                  <a:lnTo>
                    <a:pt x="49" y="42"/>
                  </a:lnTo>
                  <a:lnTo>
                    <a:pt x="50" y="54"/>
                  </a:lnTo>
                  <a:lnTo>
                    <a:pt x="43" y="64"/>
                  </a:lnTo>
                  <a:lnTo>
                    <a:pt x="52" y="79"/>
                  </a:lnTo>
                  <a:lnTo>
                    <a:pt x="48" y="105"/>
                  </a:lnTo>
                  <a:lnTo>
                    <a:pt x="43" y="109"/>
                  </a:lnTo>
                  <a:lnTo>
                    <a:pt x="40" y="105"/>
                  </a:lnTo>
                  <a:lnTo>
                    <a:pt x="31" y="108"/>
                  </a:lnTo>
                  <a:lnTo>
                    <a:pt x="21" y="97"/>
                  </a:lnTo>
                  <a:lnTo>
                    <a:pt x="20" y="1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7" name="Freeform 106"/>
            <p:cNvSpPr>
              <a:spLocks/>
            </p:cNvSpPr>
            <p:nvPr/>
          </p:nvSpPr>
          <p:spPr bwMode="auto">
            <a:xfrm>
              <a:off x="3129" y="2614"/>
              <a:ext cx="140" cy="185"/>
            </a:xfrm>
            <a:custGeom>
              <a:avLst/>
              <a:gdLst/>
              <a:ahLst/>
              <a:cxnLst>
                <a:cxn ang="0">
                  <a:pos x="58" y="137"/>
                </a:cxn>
                <a:cxn ang="0">
                  <a:pos x="44" y="127"/>
                </a:cxn>
                <a:cxn ang="0">
                  <a:pos x="30" y="119"/>
                </a:cxn>
                <a:cxn ang="0">
                  <a:pos x="15" y="109"/>
                </a:cxn>
                <a:cxn ang="0">
                  <a:pos x="0" y="101"/>
                </a:cxn>
                <a:cxn ang="0">
                  <a:pos x="0" y="82"/>
                </a:cxn>
                <a:cxn ang="0">
                  <a:pos x="10" y="64"/>
                </a:cxn>
                <a:cxn ang="0">
                  <a:pos x="18" y="49"/>
                </a:cxn>
                <a:cxn ang="0">
                  <a:pos x="13" y="35"/>
                </a:cxn>
                <a:cxn ang="0">
                  <a:pos x="8" y="22"/>
                </a:cxn>
                <a:cxn ang="0">
                  <a:pos x="1" y="7"/>
                </a:cxn>
                <a:cxn ang="0">
                  <a:pos x="7" y="0"/>
                </a:cxn>
                <a:cxn ang="0">
                  <a:pos x="19" y="0"/>
                </a:cxn>
                <a:cxn ang="0">
                  <a:pos x="32" y="0"/>
                </a:cxn>
                <a:cxn ang="0">
                  <a:pos x="45" y="3"/>
                </a:cxn>
                <a:cxn ang="0">
                  <a:pos x="64" y="16"/>
                </a:cxn>
                <a:cxn ang="0">
                  <a:pos x="86" y="21"/>
                </a:cxn>
                <a:cxn ang="0">
                  <a:pos x="94" y="13"/>
                </a:cxn>
                <a:cxn ang="0">
                  <a:pos x="110" y="9"/>
                </a:cxn>
                <a:cxn ang="0">
                  <a:pos x="127" y="12"/>
                </a:cxn>
                <a:cxn ang="0">
                  <a:pos x="120" y="22"/>
                </a:cxn>
                <a:cxn ang="0">
                  <a:pos x="112" y="33"/>
                </a:cxn>
                <a:cxn ang="0">
                  <a:pos x="112" y="48"/>
                </a:cxn>
                <a:cxn ang="0">
                  <a:pos x="112" y="65"/>
                </a:cxn>
                <a:cxn ang="0">
                  <a:pos x="112" y="82"/>
                </a:cxn>
                <a:cxn ang="0">
                  <a:pos x="112" y="99"/>
                </a:cxn>
                <a:cxn ang="0">
                  <a:pos x="121" y="113"/>
                </a:cxn>
                <a:cxn ang="0">
                  <a:pos x="112" y="118"/>
                </a:cxn>
                <a:cxn ang="0">
                  <a:pos x="106" y="129"/>
                </a:cxn>
                <a:cxn ang="0">
                  <a:pos x="99" y="136"/>
                </a:cxn>
                <a:cxn ang="0">
                  <a:pos x="92" y="150"/>
                </a:cxn>
                <a:cxn ang="0">
                  <a:pos x="85" y="166"/>
                </a:cxn>
                <a:cxn ang="0">
                  <a:pos x="84" y="167"/>
                </a:cxn>
                <a:cxn ang="0">
                  <a:pos x="72" y="155"/>
                </a:cxn>
                <a:cxn ang="0">
                  <a:pos x="60" y="143"/>
                </a:cxn>
                <a:cxn ang="0">
                  <a:pos x="58" y="137"/>
                </a:cxn>
              </a:cxnLst>
              <a:rect l="0" t="0" r="r" b="b"/>
              <a:pathLst>
                <a:path w="127" h="167">
                  <a:moveTo>
                    <a:pt x="58" y="137"/>
                  </a:moveTo>
                  <a:lnTo>
                    <a:pt x="44" y="127"/>
                  </a:lnTo>
                  <a:lnTo>
                    <a:pt x="30" y="119"/>
                  </a:lnTo>
                  <a:lnTo>
                    <a:pt x="15" y="109"/>
                  </a:lnTo>
                  <a:lnTo>
                    <a:pt x="0" y="101"/>
                  </a:lnTo>
                  <a:lnTo>
                    <a:pt x="0" y="82"/>
                  </a:lnTo>
                  <a:lnTo>
                    <a:pt x="10" y="64"/>
                  </a:lnTo>
                  <a:lnTo>
                    <a:pt x="18" y="49"/>
                  </a:lnTo>
                  <a:lnTo>
                    <a:pt x="13" y="35"/>
                  </a:lnTo>
                  <a:lnTo>
                    <a:pt x="8" y="22"/>
                  </a:lnTo>
                  <a:lnTo>
                    <a:pt x="1" y="7"/>
                  </a:lnTo>
                  <a:lnTo>
                    <a:pt x="7" y="0"/>
                  </a:lnTo>
                  <a:lnTo>
                    <a:pt x="19" y="0"/>
                  </a:lnTo>
                  <a:lnTo>
                    <a:pt x="32" y="0"/>
                  </a:lnTo>
                  <a:lnTo>
                    <a:pt x="45" y="3"/>
                  </a:lnTo>
                  <a:lnTo>
                    <a:pt x="64" y="16"/>
                  </a:lnTo>
                  <a:lnTo>
                    <a:pt x="86" y="21"/>
                  </a:lnTo>
                  <a:lnTo>
                    <a:pt x="94" y="13"/>
                  </a:lnTo>
                  <a:lnTo>
                    <a:pt x="110" y="9"/>
                  </a:lnTo>
                  <a:lnTo>
                    <a:pt x="127" y="12"/>
                  </a:lnTo>
                  <a:lnTo>
                    <a:pt x="120" y="22"/>
                  </a:lnTo>
                  <a:lnTo>
                    <a:pt x="112" y="33"/>
                  </a:lnTo>
                  <a:lnTo>
                    <a:pt x="112" y="48"/>
                  </a:lnTo>
                  <a:lnTo>
                    <a:pt x="112" y="65"/>
                  </a:lnTo>
                  <a:lnTo>
                    <a:pt x="112" y="82"/>
                  </a:lnTo>
                  <a:lnTo>
                    <a:pt x="112" y="99"/>
                  </a:lnTo>
                  <a:lnTo>
                    <a:pt x="121" y="113"/>
                  </a:lnTo>
                  <a:lnTo>
                    <a:pt x="112" y="118"/>
                  </a:lnTo>
                  <a:lnTo>
                    <a:pt x="106" y="129"/>
                  </a:lnTo>
                  <a:lnTo>
                    <a:pt x="99" y="136"/>
                  </a:lnTo>
                  <a:lnTo>
                    <a:pt x="92" y="150"/>
                  </a:lnTo>
                  <a:lnTo>
                    <a:pt x="85" y="166"/>
                  </a:lnTo>
                  <a:lnTo>
                    <a:pt x="84" y="167"/>
                  </a:lnTo>
                  <a:lnTo>
                    <a:pt x="72" y="155"/>
                  </a:lnTo>
                  <a:lnTo>
                    <a:pt x="60" y="143"/>
                  </a:lnTo>
                  <a:lnTo>
                    <a:pt x="58"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8" name="Freeform 107"/>
            <p:cNvSpPr>
              <a:spLocks/>
            </p:cNvSpPr>
            <p:nvPr/>
          </p:nvSpPr>
          <p:spPr bwMode="auto">
            <a:xfrm>
              <a:off x="5573" y="2643"/>
              <a:ext cx="2" cy="2"/>
            </a:xfrm>
            <a:custGeom>
              <a:avLst/>
              <a:gdLst/>
              <a:ahLst/>
              <a:cxnLst>
                <a:cxn ang="0">
                  <a:pos x="3" y="0"/>
                </a:cxn>
                <a:cxn ang="0">
                  <a:pos x="2" y="1"/>
                </a:cxn>
                <a:cxn ang="0">
                  <a:pos x="0" y="1"/>
                </a:cxn>
                <a:cxn ang="0">
                  <a:pos x="2" y="0"/>
                </a:cxn>
                <a:cxn ang="0">
                  <a:pos x="3" y="0"/>
                </a:cxn>
              </a:cxnLst>
              <a:rect l="0" t="0" r="r" b="b"/>
              <a:pathLst>
                <a:path w="3" h="1">
                  <a:moveTo>
                    <a:pt x="3" y="0"/>
                  </a:moveTo>
                  <a:lnTo>
                    <a:pt x="2" y="1"/>
                  </a:lnTo>
                  <a:lnTo>
                    <a:pt x="0" y="1"/>
                  </a:lnTo>
                  <a:lnTo>
                    <a:pt x="2" y="0"/>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09" name="Freeform 108"/>
            <p:cNvSpPr>
              <a:spLocks/>
            </p:cNvSpPr>
            <p:nvPr/>
          </p:nvSpPr>
          <p:spPr bwMode="auto">
            <a:xfrm>
              <a:off x="5577" y="2667"/>
              <a:ext cx="3" cy="3"/>
            </a:xfrm>
            <a:custGeom>
              <a:avLst/>
              <a:gdLst/>
              <a:ahLst/>
              <a:cxnLst>
                <a:cxn ang="0">
                  <a:pos x="2" y="4"/>
                </a:cxn>
                <a:cxn ang="0">
                  <a:pos x="1" y="4"/>
                </a:cxn>
                <a:cxn ang="0">
                  <a:pos x="2" y="4"/>
                </a:cxn>
                <a:cxn ang="0">
                  <a:pos x="2" y="3"/>
                </a:cxn>
                <a:cxn ang="0">
                  <a:pos x="0" y="0"/>
                </a:cxn>
                <a:cxn ang="0">
                  <a:pos x="1" y="0"/>
                </a:cxn>
                <a:cxn ang="0">
                  <a:pos x="2" y="3"/>
                </a:cxn>
                <a:cxn ang="0">
                  <a:pos x="2" y="4"/>
                </a:cxn>
              </a:cxnLst>
              <a:rect l="0" t="0" r="r" b="b"/>
              <a:pathLst>
                <a:path w="2" h="4">
                  <a:moveTo>
                    <a:pt x="2" y="4"/>
                  </a:moveTo>
                  <a:lnTo>
                    <a:pt x="1" y="4"/>
                  </a:lnTo>
                  <a:lnTo>
                    <a:pt x="2" y="4"/>
                  </a:lnTo>
                  <a:lnTo>
                    <a:pt x="2" y="3"/>
                  </a:lnTo>
                  <a:lnTo>
                    <a:pt x="0" y="0"/>
                  </a:lnTo>
                  <a:lnTo>
                    <a:pt x="1" y="0"/>
                  </a:lnTo>
                  <a:lnTo>
                    <a:pt x="2" y="3"/>
                  </a:lnTo>
                  <a:lnTo>
                    <a:pt x="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0" name="Freeform 109"/>
            <p:cNvSpPr>
              <a:spLocks/>
            </p:cNvSpPr>
            <p:nvPr/>
          </p:nvSpPr>
          <p:spPr bwMode="auto">
            <a:xfrm>
              <a:off x="5584" y="2667"/>
              <a:ext cx="2" cy="3"/>
            </a:xfrm>
            <a:custGeom>
              <a:avLst/>
              <a:gdLst/>
              <a:ahLst/>
              <a:cxnLst>
                <a:cxn ang="0">
                  <a:pos x="1" y="0"/>
                </a:cxn>
                <a:cxn ang="0">
                  <a:pos x="0" y="0"/>
                </a:cxn>
                <a:cxn ang="0">
                  <a:pos x="1" y="0"/>
                </a:cxn>
              </a:cxnLst>
              <a:rect l="0" t="0" r="r" b="b"/>
              <a:pathLst>
                <a:path w="1">
                  <a:moveTo>
                    <a:pt x="1" y="0"/>
                  </a:move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1" name="Freeform 110"/>
            <p:cNvSpPr>
              <a:spLocks/>
            </p:cNvSpPr>
            <p:nvPr/>
          </p:nvSpPr>
          <p:spPr bwMode="auto">
            <a:xfrm>
              <a:off x="5580" y="2674"/>
              <a:ext cx="2" cy="2"/>
            </a:xfrm>
            <a:custGeom>
              <a:avLst/>
              <a:gdLst/>
              <a:ahLst/>
              <a:cxnLst>
                <a:cxn ang="0">
                  <a:pos x="0" y="1"/>
                </a:cxn>
                <a:cxn ang="0">
                  <a:pos x="0" y="0"/>
                </a:cxn>
                <a:cxn ang="0">
                  <a:pos x="0" y="1"/>
                </a:cxn>
              </a:cxnLst>
              <a:rect l="0" t="0" r="r" b="b"/>
              <a:pathLst>
                <a:path h="1">
                  <a:moveTo>
                    <a:pt x="0" y="1"/>
                  </a:moveTo>
                  <a:lnTo>
                    <a:pt x="0" y="0"/>
                  </a:lnTo>
                  <a:lnTo>
                    <a:pt x="0"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2" name="Freeform 111"/>
            <p:cNvSpPr>
              <a:spLocks/>
            </p:cNvSpPr>
            <p:nvPr/>
          </p:nvSpPr>
          <p:spPr bwMode="auto">
            <a:xfrm>
              <a:off x="2580" y="2430"/>
              <a:ext cx="209" cy="189"/>
            </a:xfrm>
            <a:custGeom>
              <a:avLst/>
              <a:gdLst/>
              <a:ahLst/>
              <a:cxnLst>
                <a:cxn ang="0">
                  <a:pos x="124" y="121"/>
                </a:cxn>
                <a:cxn ang="0">
                  <a:pos x="112" y="125"/>
                </a:cxn>
                <a:cxn ang="0">
                  <a:pos x="105" y="135"/>
                </a:cxn>
                <a:cxn ang="0">
                  <a:pos x="99" y="146"/>
                </a:cxn>
                <a:cxn ang="0">
                  <a:pos x="94" y="161"/>
                </a:cxn>
                <a:cxn ang="0">
                  <a:pos x="88" y="159"/>
                </a:cxn>
                <a:cxn ang="0">
                  <a:pos x="89" y="165"/>
                </a:cxn>
                <a:cxn ang="0">
                  <a:pos x="73" y="165"/>
                </a:cxn>
                <a:cxn ang="0">
                  <a:pos x="71" y="164"/>
                </a:cxn>
                <a:cxn ang="0">
                  <a:pos x="69" y="164"/>
                </a:cxn>
                <a:cxn ang="0">
                  <a:pos x="66" y="167"/>
                </a:cxn>
                <a:cxn ang="0">
                  <a:pos x="64" y="162"/>
                </a:cxn>
                <a:cxn ang="0">
                  <a:pos x="64" y="169"/>
                </a:cxn>
                <a:cxn ang="0">
                  <a:pos x="64" y="165"/>
                </a:cxn>
                <a:cxn ang="0">
                  <a:pos x="61" y="167"/>
                </a:cxn>
                <a:cxn ang="0">
                  <a:pos x="57" y="167"/>
                </a:cxn>
                <a:cxn ang="0">
                  <a:pos x="49" y="168"/>
                </a:cxn>
                <a:cxn ang="0">
                  <a:pos x="43" y="151"/>
                </a:cxn>
                <a:cxn ang="0">
                  <a:pos x="45" y="150"/>
                </a:cxn>
                <a:cxn ang="0">
                  <a:pos x="41" y="146"/>
                </a:cxn>
                <a:cxn ang="0">
                  <a:pos x="42" y="146"/>
                </a:cxn>
                <a:cxn ang="0">
                  <a:pos x="39" y="143"/>
                </a:cxn>
                <a:cxn ang="0">
                  <a:pos x="22" y="132"/>
                </a:cxn>
                <a:cxn ang="0">
                  <a:pos x="13" y="131"/>
                </a:cxn>
                <a:cxn ang="0">
                  <a:pos x="16" y="128"/>
                </a:cxn>
                <a:cxn ang="0">
                  <a:pos x="0" y="133"/>
                </a:cxn>
                <a:cxn ang="0">
                  <a:pos x="1" y="108"/>
                </a:cxn>
                <a:cxn ang="0">
                  <a:pos x="3" y="84"/>
                </a:cxn>
                <a:cxn ang="0">
                  <a:pos x="15" y="63"/>
                </a:cxn>
                <a:cxn ang="0">
                  <a:pos x="16" y="48"/>
                </a:cxn>
                <a:cxn ang="0">
                  <a:pos x="13" y="38"/>
                </a:cxn>
                <a:cxn ang="0">
                  <a:pos x="13" y="37"/>
                </a:cxn>
                <a:cxn ang="0">
                  <a:pos x="15" y="30"/>
                </a:cxn>
                <a:cxn ang="0">
                  <a:pos x="19" y="18"/>
                </a:cxn>
                <a:cxn ang="0">
                  <a:pos x="23" y="5"/>
                </a:cxn>
                <a:cxn ang="0">
                  <a:pos x="37" y="0"/>
                </a:cxn>
                <a:cxn ang="0">
                  <a:pos x="53" y="1"/>
                </a:cxn>
                <a:cxn ang="0">
                  <a:pos x="64" y="12"/>
                </a:cxn>
                <a:cxn ang="0">
                  <a:pos x="81" y="7"/>
                </a:cxn>
                <a:cxn ang="0">
                  <a:pos x="93" y="12"/>
                </a:cxn>
                <a:cxn ang="0">
                  <a:pos x="103" y="17"/>
                </a:cxn>
                <a:cxn ang="0">
                  <a:pos x="121" y="8"/>
                </a:cxn>
                <a:cxn ang="0">
                  <a:pos x="138" y="9"/>
                </a:cxn>
                <a:cxn ang="0">
                  <a:pos x="154" y="11"/>
                </a:cxn>
                <a:cxn ang="0">
                  <a:pos x="172" y="1"/>
                </a:cxn>
                <a:cxn ang="0">
                  <a:pos x="179" y="12"/>
                </a:cxn>
                <a:cxn ang="0">
                  <a:pos x="181" y="25"/>
                </a:cxn>
                <a:cxn ang="0">
                  <a:pos x="189" y="32"/>
                </a:cxn>
                <a:cxn ang="0">
                  <a:pos x="184" y="42"/>
                </a:cxn>
                <a:cxn ang="0">
                  <a:pos x="173" y="53"/>
                </a:cxn>
                <a:cxn ang="0">
                  <a:pos x="167" y="65"/>
                </a:cxn>
                <a:cxn ang="0">
                  <a:pos x="162" y="78"/>
                </a:cxn>
                <a:cxn ang="0">
                  <a:pos x="156" y="92"/>
                </a:cxn>
                <a:cxn ang="0">
                  <a:pos x="150" y="102"/>
                </a:cxn>
                <a:cxn ang="0">
                  <a:pos x="144" y="117"/>
                </a:cxn>
                <a:cxn ang="0">
                  <a:pos x="135" y="132"/>
                </a:cxn>
                <a:cxn ang="0">
                  <a:pos x="124" y="121"/>
                </a:cxn>
              </a:cxnLst>
              <a:rect l="0" t="0" r="r" b="b"/>
              <a:pathLst>
                <a:path w="189" h="169">
                  <a:moveTo>
                    <a:pt x="124" y="121"/>
                  </a:moveTo>
                  <a:lnTo>
                    <a:pt x="112" y="125"/>
                  </a:lnTo>
                  <a:lnTo>
                    <a:pt x="105" y="135"/>
                  </a:lnTo>
                  <a:lnTo>
                    <a:pt x="99" y="146"/>
                  </a:lnTo>
                  <a:lnTo>
                    <a:pt x="94" y="161"/>
                  </a:lnTo>
                  <a:lnTo>
                    <a:pt x="88" y="159"/>
                  </a:lnTo>
                  <a:lnTo>
                    <a:pt x="89" y="165"/>
                  </a:lnTo>
                  <a:lnTo>
                    <a:pt x="73" y="165"/>
                  </a:lnTo>
                  <a:lnTo>
                    <a:pt x="71" y="164"/>
                  </a:lnTo>
                  <a:lnTo>
                    <a:pt x="69" y="164"/>
                  </a:lnTo>
                  <a:lnTo>
                    <a:pt x="66" y="167"/>
                  </a:lnTo>
                  <a:lnTo>
                    <a:pt x="64" y="162"/>
                  </a:lnTo>
                  <a:lnTo>
                    <a:pt x="64" y="169"/>
                  </a:lnTo>
                  <a:lnTo>
                    <a:pt x="64" y="165"/>
                  </a:lnTo>
                  <a:lnTo>
                    <a:pt x="61" y="167"/>
                  </a:lnTo>
                  <a:lnTo>
                    <a:pt x="57" y="167"/>
                  </a:lnTo>
                  <a:lnTo>
                    <a:pt x="49" y="168"/>
                  </a:lnTo>
                  <a:lnTo>
                    <a:pt x="43" y="151"/>
                  </a:lnTo>
                  <a:lnTo>
                    <a:pt x="45" y="150"/>
                  </a:lnTo>
                  <a:lnTo>
                    <a:pt x="41" y="146"/>
                  </a:lnTo>
                  <a:lnTo>
                    <a:pt x="42" y="146"/>
                  </a:lnTo>
                  <a:lnTo>
                    <a:pt x="39" y="143"/>
                  </a:lnTo>
                  <a:lnTo>
                    <a:pt x="22" y="132"/>
                  </a:lnTo>
                  <a:lnTo>
                    <a:pt x="13" y="131"/>
                  </a:lnTo>
                  <a:lnTo>
                    <a:pt x="16" y="128"/>
                  </a:lnTo>
                  <a:lnTo>
                    <a:pt x="0" y="133"/>
                  </a:lnTo>
                  <a:lnTo>
                    <a:pt x="1" y="108"/>
                  </a:lnTo>
                  <a:lnTo>
                    <a:pt x="3" y="84"/>
                  </a:lnTo>
                  <a:lnTo>
                    <a:pt x="15" y="63"/>
                  </a:lnTo>
                  <a:lnTo>
                    <a:pt x="16" y="48"/>
                  </a:lnTo>
                  <a:lnTo>
                    <a:pt x="13" y="38"/>
                  </a:lnTo>
                  <a:lnTo>
                    <a:pt x="13" y="37"/>
                  </a:lnTo>
                  <a:lnTo>
                    <a:pt x="15" y="30"/>
                  </a:lnTo>
                  <a:lnTo>
                    <a:pt x="19" y="18"/>
                  </a:lnTo>
                  <a:lnTo>
                    <a:pt x="23" y="5"/>
                  </a:lnTo>
                  <a:lnTo>
                    <a:pt x="37" y="0"/>
                  </a:lnTo>
                  <a:lnTo>
                    <a:pt x="53" y="1"/>
                  </a:lnTo>
                  <a:lnTo>
                    <a:pt x="64" y="12"/>
                  </a:lnTo>
                  <a:lnTo>
                    <a:pt x="81" y="7"/>
                  </a:lnTo>
                  <a:lnTo>
                    <a:pt x="93" y="12"/>
                  </a:lnTo>
                  <a:lnTo>
                    <a:pt x="103" y="17"/>
                  </a:lnTo>
                  <a:lnTo>
                    <a:pt x="121" y="8"/>
                  </a:lnTo>
                  <a:lnTo>
                    <a:pt x="138" y="9"/>
                  </a:lnTo>
                  <a:lnTo>
                    <a:pt x="154" y="11"/>
                  </a:lnTo>
                  <a:lnTo>
                    <a:pt x="172" y="1"/>
                  </a:lnTo>
                  <a:lnTo>
                    <a:pt x="179" y="12"/>
                  </a:lnTo>
                  <a:lnTo>
                    <a:pt x="181" y="25"/>
                  </a:lnTo>
                  <a:lnTo>
                    <a:pt x="189" y="32"/>
                  </a:lnTo>
                  <a:lnTo>
                    <a:pt x="184" y="42"/>
                  </a:lnTo>
                  <a:lnTo>
                    <a:pt x="173" y="53"/>
                  </a:lnTo>
                  <a:lnTo>
                    <a:pt x="167" y="65"/>
                  </a:lnTo>
                  <a:lnTo>
                    <a:pt x="162" y="78"/>
                  </a:lnTo>
                  <a:lnTo>
                    <a:pt x="156" y="92"/>
                  </a:lnTo>
                  <a:lnTo>
                    <a:pt x="150" y="102"/>
                  </a:lnTo>
                  <a:lnTo>
                    <a:pt x="144" y="117"/>
                  </a:lnTo>
                  <a:lnTo>
                    <a:pt x="135" y="132"/>
                  </a:lnTo>
                  <a:lnTo>
                    <a:pt x="124" y="1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3" name="Freeform 112"/>
            <p:cNvSpPr>
              <a:spLocks/>
            </p:cNvSpPr>
            <p:nvPr/>
          </p:nvSpPr>
          <p:spPr bwMode="auto">
            <a:xfrm>
              <a:off x="2547" y="2459"/>
              <a:ext cx="49" cy="122"/>
            </a:xfrm>
            <a:custGeom>
              <a:avLst/>
              <a:gdLst/>
              <a:ahLst/>
              <a:cxnLst>
                <a:cxn ang="0">
                  <a:pos x="3" y="24"/>
                </a:cxn>
                <a:cxn ang="0">
                  <a:pos x="1" y="24"/>
                </a:cxn>
                <a:cxn ang="0">
                  <a:pos x="0" y="32"/>
                </a:cxn>
                <a:cxn ang="0">
                  <a:pos x="9" y="42"/>
                </a:cxn>
                <a:cxn ang="0">
                  <a:pos x="11" y="56"/>
                </a:cxn>
                <a:cxn ang="0">
                  <a:pos x="11" y="70"/>
                </a:cxn>
                <a:cxn ang="0">
                  <a:pos x="12" y="84"/>
                </a:cxn>
                <a:cxn ang="0">
                  <a:pos x="12" y="97"/>
                </a:cxn>
                <a:cxn ang="0">
                  <a:pos x="13" y="110"/>
                </a:cxn>
                <a:cxn ang="0">
                  <a:pos x="30" y="108"/>
                </a:cxn>
                <a:cxn ang="0">
                  <a:pos x="31" y="83"/>
                </a:cxn>
                <a:cxn ang="0">
                  <a:pos x="33" y="59"/>
                </a:cxn>
                <a:cxn ang="0">
                  <a:pos x="45" y="38"/>
                </a:cxn>
                <a:cxn ang="0">
                  <a:pos x="46" y="23"/>
                </a:cxn>
                <a:cxn ang="0">
                  <a:pos x="43" y="13"/>
                </a:cxn>
                <a:cxn ang="0">
                  <a:pos x="43" y="12"/>
                </a:cxn>
                <a:cxn ang="0">
                  <a:pos x="30" y="0"/>
                </a:cxn>
                <a:cxn ang="0">
                  <a:pos x="25" y="6"/>
                </a:cxn>
                <a:cxn ang="0">
                  <a:pos x="25" y="8"/>
                </a:cxn>
                <a:cxn ang="0">
                  <a:pos x="24" y="11"/>
                </a:cxn>
                <a:cxn ang="0">
                  <a:pos x="12" y="18"/>
                </a:cxn>
                <a:cxn ang="0">
                  <a:pos x="3" y="24"/>
                </a:cxn>
              </a:cxnLst>
              <a:rect l="0" t="0" r="r" b="b"/>
              <a:pathLst>
                <a:path w="46" h="110">
                  <a:moveTo>
                    <a:pt x="3" y="24"/>
                  </a:moveTo>
                  <a:lnTo>
                    <a:pt x="1" y="24"/>
                  </a:lnTo>
                  <a:lnTo>
                    <a:pt x="0" y="32"/>
                  </a:lnTo>
                  <a:lnTo>
                    <a:pt x="9" y="42"/>
                  </a:lnTo>
                  <a:lnTo>
                    <a:pt x="11" y="56"/>
                  </a:lnTo>
                  <a:lnTo>
                    <a:pt x="11" y="70"/>
                  </a:lnTo>
                  <a:lnTo>
                    <a:pt x="12" y="84"/>
                  </a:lnTo>
                  <a:lnTo>
                    <a:pt x="12" y="97"/>
                  </a:lnTo>
                  <a:lnTo>
                    <a:pt x="13" y="110"/>
                  </a:lnTo>
                  <a:lnTo>
                    <a:pt x="30" y="108"/>
                  </a:lnTo>
                  <a:lnTo>
                    <a:pt x="31" y="83"/>
                  </a:lnTo>
                  <a:lnTo>
                    <a:pt x="33" y="59"/>
                  </a:lnTo>
                  <a:lnTo>
                    <a:pt x="45" y="38"/>
                  </a:lnTo>
                  <a:lnTo>
                    <a:pt x="46" y="23"/>
                  </a:lnTo>
                  <a:lnTo>
                    <a:pt x="43" y="13"/>
                  </a:lnTo>
                  <a:lnTo>
                    <a:pt x="43" y="12"/>
                  </a:lnTo>
                  <a:lnTo>
                    <a:pt x="30" y="0"/>
                  </a:lnTo>
                  <a:lnTo>
                    <a:pt x="25" y="6"/>
                  </a:lnTo>
                  <a:lnTo>
                    <a:pt x="25" y="8"/>
                  </a:lnTo>
                  <a:lnTo>
                    <a:pt x="24" y="11"/>
                  </a:lnTo>
                  <a:lnTo>
                    <a:pt x="12" y="18"/>
                  </a:lnTo>
                  <a:lnTo>
                    <a:pt x="3"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4" name="Freeform 113"/>
            <p:cNvSpPr>
              <a:spLocks/>
            </p:cNvSpPr>
            <p:nvPr/>
          </p:nvSpPr>
          <p:spPr bwMode="auto">
            <a:xfrm>
              <a:off x="2436" y="2403"/>
              <a:ext cx="137" cy="113"/>
            </a:xfrm>
            <a:custGeom>
              <a:avLst/>
              <a:gdLst/>
              <a:ahLst/>
              <a:cxnLst>
                <a:cxn ang="0">
                  <a:pos x="102" y="73"/>
                </a:cxn>
                <a:cxn ang="0">
                  <a:pos x="97" y="73"/>
                </a:cxn>
                <a:cxn ang="0">
                  <a:pos x="84" y="71"/>
                </a:cxn>
                <a:cxn ang="0">
                  <a:pos x="79" y="72"/>
                </a:cxn>
                <a:cxn ang="0">
                  <a:pos x="61" y="73"/>
                </a:cxn>
                <a:cxn ang="0">
                  <a:pos x="42" y="73"/>
                </a:cxn>
                <a:cxn ang="0">
                  <a:pos x="43" y="87"/>
                </a:cxn>
                <a:cxn ang="0">
                  <a:pos x="44" y="101"/>
                </a:cxn>
                <a:cxn ang="0">
                  <a:pos x="30" y="92"/>
                </a:cxn>
                <a:cxn ang="0">
                  <a:pos x="15" y="97"/>
                </a:cxn>
                <a:cxn ang="0">
                  <a:pos x="6" y="86"/>
                </a:cxn>
                <a:cxn ang="0">
                  <a:pos x="0" y="84"/>
                </a:cxn>
                <a:cxn ang="0">
                  <a:pos x="3" y="60"/>
                </a:cxn>
                <a:cxn ang="0">
                  <a:pos x="8" y="56"/>
                </a:cxn>
                <a:cxn ang="0">
                  <a:pos x="16" y="48"/>
                </a:cxn>
                <a:cxn ang="0">
                  <a:pos x="20" y="41"/>
                </a:cxn>
                <a:cxn ang="0">
                  <a:pos x="22" y="30"/>
                </a:cxn>
                <a:cxn ang="0">
                  <a:pos x="32" y="35"/>
                </a:cxn>
                <a:cxn ang="0">
                  <a:pos x="34" y="27"/>
                </a:cxn>
                <a:cxn ang="0">
                  <a:pos x="38" y="26"/>
                </a:cxn>
                <a:cxn ang="0">
                  <a:pos x="44" y="17"/>
                </a:cxn>
                <a:cxn ang="0">
                  <a:pos x="54" y="17"/>
                </a:cxn>
                <a:cxn ang="0">
                  <a:pos x="55" y="9"/>
                </a:cxn>
                <a:cxn ang="0">
                  <a:pos x="75" y="0"/>
                </a:cxn>
                <a:cxn ang="0">
                  <a:pos x="90" y="2"/>
                </a:cxn>
                <a:cxn ang="0">
                  <a:pos x="92" y="17"/>
                </a:cxn>
                <a:cxn ang="0">
                  <a:pos x="104" y="30"/>
                </a:cxn>
                <a:cxn ang="0">
                  <a:pos x="102" y="31"/>
                </a:cxn>
                <a:cxn ang="0">
                  <a:pos x="102" y="37"/>
                </a:cxn>
                <a:cxn ang="0">
                  <a:pos x="111" y="44"/>
                </a:cxn>
                <a:cxn ang="0">
                  <a:pos x="117" y="43"/>
                </a:cxn>
                <a:cxn ang="0">
                  <a:pos x="121" y="48"/>
                </a:cxn>
                <a:cxn ang="0">
                  <a:pos x="124" y="57"/>
                </a:cxn>
                <a:cxn ang="0">
                  <a:pos x="123" y="60"/>
                </a:cxn>
                <a:cxn ang="0">
                  <a:pos x="111" y="67"/>
                </a:cxn>
                <a:cxn ang="0">
                  <a:pos x="102" y="73"/>
                </a:cxn>
              </a:cxnLst>
              <a:rect l="0" t="0" r="r" b="b"/>
              <a:pathLst>
                <a:path w="124" h="101">
                  <a:moveTo>
                    <a:pt x="102" y="73"/>
                  </a:moveTo>
                  <a:lnTo>
                    <a:pt x="97" y="73"/>
                  </a:lnTo>
                  <a:lnTo>
                    <a:pt x="84" y="71"/>
                  </a:lnTo>
                  <a:lnTo>
                    <a:pt x="79" y="72"/>
                  </a:lnTo>
                  <a:lnTo>
                    <a:pt x="61" y="73"/>
                  </a:lnTo>
                  <a:lnTo>
                    <a:pt x="42" y="73"/>
                  </a:lnTo>
                  <a:lnTo>
                    <a:pt x="43" y="87"/>
                  </a:lnTo>
                  <a:lnTo>
                    <a:pt x="44" y="101"/>
                  </a:lnTo>
                  <a:lnTo>
                    <a:pt x="30" y="92"/>
                  </a:lnTo>
                  <a:lnTo>
                    <a:pt x="15" y="97"/>
                  </a:lnTo>
                  <a:lnTo>
                    <a:pt x="6" y="86"/>
                  </a:lnTo>
                  <a:lnTo>
                    <a:pt x="0" y="84"/>
                  </a:lnTo>
                  <a:lnTo>
                    <a:pt x="3" y="60"/>
                  </a:lnTo>
                  <a:lnTo>
                    <a:pt x="8" y="56"/>
                  </a:lnTo>
                  <a:lnTo>
                    <a:pt x="16" y="48"/>
                  </a:lnTo>
                  <a:lnTo>
                    <a:pt x="20" y="41"/>
                  </a:lnTo>
                  <a:lnTo>
                    <a:pt x="22" y="30"/>
                  </a:lnTo>
                  <a:lnTo>
                    <a:pt x="32" y="35"/>
                  </a:lnTo>
                  <a:lnTo>
                    <a:pt x="34" y="27"/>
                  </a:lnTo>
                  <a:lnTo>
                    <a:pt x="38" y="26"/>
                  </a:lnTo>
                  <a:lnTo>
                    <a:pt x="44" y="17"/>
                  </a:lnTo>
                  <a:lnTo>
                    <a:pt x="54" y="17"/>
                  </a:lnTo>
                  <a:lnTo>
                    <a:pt x="55" y="9"/>
                  </a:lnTo>
                  <a:lnTo>
                    <a:pt x="75" y="0"/>
                  </a:lnTo>
                  <a:lnTo>
                    <a:pt x="90" y="2"/>
                  </a:lnTo>
                  <a:lnTo>
                    <a:pt x="92" y="17"/>
                  </a:lnTo>
                  <a:lnTo>
                    <a:pt x="104" y="30"/>
                  </a:lnTo>
                  <a:lnTo>
                    <a:pt x="102" y="31"/>
                  </a:lnTo>
                  <a:lnTo>
                    <a:pt x="102" y="37"/>
                  </a:lnTo>
                  <a:lnTo>
                    <a:pt x="111" y="44"/>
                  </a:lnTo>
                  <a:lnTo>
                    <a:pt x="117" y="43"/>
                  </a:lnTo>
                  <a:lnTo>
                    <a:pt x="121" y="48"/>
                  </a:lnTo>
                  <a:lnTo>
                    <a:pt x="124" y="57"/>
                  </a:lnTo>
                  <a:lnTo>
                    <a:pt x="123" y="60"/>
                  </a:lnTo>
                  <a:lnTo>
                    <a:pt x="111" y="67"/>
                  </a:lnTo>
                  <a:lnTo>
                    <a:pt x="102"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5" name="Freeform 114"/>
            <p:cNvSpPr>
              <a:spLocks/>
            </p:cNvSpPr>
            <p:nvPr/>
          </p:nvSpPr>
          <p:spPr bwMode="auto">
            <a:xfrm>
              <a:off x="2682" y="2443"/>
              <a:ext cx="134" cy="227"/>
            </a:xfrm>
            <a:custGeom>
              <a:avLst/>
              <a:gdLst/>
              <a:ahLst/>
              <a:cxnLst>
                <a:cxn ang="0">
                  <a:pos x="112" y="56"/>
                </a:cxn>
                <a:cxn ang="0">
                  <a:pos x="93" y="56"/>
                </a:cxn>
                <a:cxn ang="0">
                  <a:pos x="86" y="60"/>
                </a:cxn>
                <a:cxn ang="0">
                  <a:pos x="99" y="77"/>
                </a:cxn>
                <a:cxn ang="0">
                  <a:pos x="109" y="99"/>
                </a:cxn>
                <a:cxn ang="0">
                  <a:pos x="102" y="114"/>
                </a:cxn>
                <a:cxn ang="0">
                  <a:pos x="93" y="128"/>
                </a:cxn>
                <a:cxn ang="0">
                  <a:pos x="99" y="153"/>
                </a:cxn>
                <a:cxn ang="0">
                  <a:pos x="108" y="167"/>
                </a:cxn>
                <a:cxn ang="0">
                  <a:pos x="116" y="179"/>
                </a:cxn>
                <a:cxn ang="0">
                  <a:pos x="121" y="195"/>
                </a:cxn>
                <a:cxn ang="0">
                  <a:pos x="118" y="204"/>
                </a:cxn>
                <a:cxn ang="0">
                  <a:pos x="104" y="200"/>
                </a:cxn>
                <a:cxn ang="0">
                  <a:pos x="91" y="197"/>
                </a:cxn>
                <a:cxn ang="0">
                  <a:pos x="75" y="197"/>
                </a:cxn>
                <a:cxn ang="0">
                  <a:pos x="60" y="197"/>
                </a:cxn>
                <a:cxn ang="0">
                  <a:pos x="44" y="197"/>
                </a:cxn>
                <a:cxn ang="0">
                  <a:pos x="32" y="194"/>
                </a:cxn>
                <a:cxn ang="0">
                  <a:pos x="20" y="193"/>
                </a:cxn>
                <a:cxn ang="0">
                  <a:pos x="20" y="174"/>
                </a:cxn>
                <a:cxn ang="0">
                  <a:pos x="18" y="165"/>
                </a:cxn>
                <a:cxn ang="0">
                  <a:pos x="16" y="163"/>
                </a:cxn>
                <a:cxn ang="0">
                  <a:pos x="7" y="162"/>
                </a:cxn>
                <a:cxn ang="0">
                  <a:pos x="2" y="151"/>
                </a:cxn>
                <a:cxn ang="0">
                  <a:pos x="0" y="152"/>
                </a:cxn>
                <a:cxn ang="0">
                  <a:pos x="1" y="149"/>
                </a:cxn>
                <a:cxn ang="0">
                  <a:pos x="6" y="134"/>
                </a:cxn>
                <a:cxn ang="0">
                  <a:pos x="12" y="123"/>
                </a:cxn>
                <a:cxn ang="0">
                  <a:pos x="19" y="113"/>
                </a:cxn>
                <a:cxn ang="0">
                  <a:pos x="31" y="109"/>
                </a:cxn>
                <a:cxn ang="0">
                  <a:pos x="42" y="120"/>
                </a:cxn>
                <a:cxn ang="0">
                  <a:pos x="51" y="105"/>
                </a:cxn>
                <a:cxn ang="0">
                  <a:pos x="57" y="90"/>
                </a:cxn>
                <a:cxn ang="0">
                  <a:pos x="63" y="80"/>
                </a:cxn>
                <a:cxn ang="0">
                  <a:pos x="69" y="66"/>
                </a:cxn>
                <a:cxn ang="0">
                  <a:pos x="74" y="53"/>
                </a:cxn>
                <a:cxn ang="0">
                  <a:pos x="80" y="41"/>
                </a:cxn>
                <a:cxn ang="0">
                  <a:pos x="91" y="30"/>
                </a:cxn>
                <a:cxn ang="0">
                  <a:pos x="96" y="20"/>
                </a:cxn>
                <a:cxn ang="0">
                  <a:pos x="88" y="13"/>
                </a:cxn>
                <a:cxn ang="0">
                  <a:pos x="86" y="0"/>
                </a:cxn>
                <a:cxn ang="0">
                  <a:pos x="92" y="0"/>
                </a:cxn>
                <a:cxn ang="0">
                  <a:pos x="99" y="18"/>
                </a:cxn>
                <a:cxn ang="0">
                  <a:pos x="102" y="38"/>
                </a:cxn>
                <a:cxn ang="0">
                  <a:pos x="112" y="56"/>
                </a:cxn>
              </a:cxnLst>
              <a:rect l="0" t="0" r="r" b="b"/>
              <a:pathLst>
                <a:path w="121" h="204">
                  <a:moveTo>
                    <a:pt x="112" y="56"/>
                  </a:moveTo>
                  <a:lnTo>
                    <a:pt x="93" y="56"/>
                  </a:lnTo>
                  <a:lnTo>
                    <a:pt x="86" y="60"/>
                  </a:lnTo>
                  <a:lnTo>
                    <a:pt x="99" y="77"/>
                  </a:lnTo>
                  <a:lnTo>
                    <a:pt x="109" y="99"/>
                  </a:lnTo>
                  <a:lnTo>
                    <a:pt x="102" y="114"/>
                  </a:lnTo>
                  <a:lnTo>
                    <a:pt x="93" y="128"/>
                  </a:lnTo>
                  <a:lnTo>
                    <a:pt x="99" y="153"/>
                  </a:lnTo>
                  <a:lnTo>
                    <a:pt x="108" y="167"/>
                  </a:lnTo>
                  <a:lnTo>
                    <a:pt x="116" y="179"/>
                  </a:lnTo>
                  <a:lnTo>
                    <a:pt x="121" y="195"/>
                  </a:lnTo>
                  <a:lnTo>
                    <a:pt x="118" y="204"/>
                  </a:lnTo>
                  <a:lnTo>
                    <a:pt x="104" y="200"/>
                  </a:lnTo>
                  <a:lnTo>
                    <a:pt x="91" y="197"/>
                  </a:lnTo>
                  <a:lnTo>
                    <a:pt x="75" y="197"/>
                  </a:lnTo>
                  <a:lnTo>
                    <a:pt x="60" y="197"/>
                  </a:lnTo>
                  <a:lnTo>
                    <a:pt x="44" y="197"/>
                  </a:lnTo>
                  <a:lnTo>
                    <a:pt x="32" y="194"/>
                  </a:lnTo>
                  <a:lnTo>
                    <a:pt x="20" y="193"/>
                  </a:lnTo>
                  <a:lnTo>
                    <a:pt x="20" y="174"/>
                  </a:lnTo>
                  <a:lnTo>
                    <a:pt x="18" y="165"/>
                  </a:lnTo>
                  <a:lnTo>
                    <a:pt x="16" y="163"/>
                  </a:lnTo>
                  <a:lnTo>
                    <a:pt x="7" y="162"/>
                  </a:lnTo>
                  <a:lnTo>
                    <a:pt x="2" y="151"/>
                  </a:lnTo>
                  <a:lnTo>
                    <a:pt x="0" y="152"/>
                  </a:lnTo>
                  <a:lnTo>
                    <a:pt x="1" y="149"/>
                  </a:lnTo>
                  <a:lnTo>
                    <a:pt x="6" y="134"/>
                  </a:lnTo>
                  <a:lnTo>
                    <a:pt x="12" y="123"/>
                  </a:lnTo>
                  <a:lnTo>
                    <a:pt x="19" y="113"/>
                  </a:lnTo>
                  <a:lnTo>
                    <a:pt x="31" y="109"/>
                  </a:lnTo>
                  <a:lnTo>
                    <a:pt x="42" y="120"/>
                  </a:lnTo>
                  <a:lnTo>
                    <a:pt x="51" y="105"/>
                  </a:lnTo>
                  <a:lnTo>
                    <a:pt x="57" y="90"/>
                  </a:lnTo>
                  <a:lnTo>
                    <a:pt x="63" y="80"/>
                  </a:lnTo>
                  <a:lnTo>
                    <a:pt x="69" y="66"/>
                  </a:lnTo>
                  <a:lnTo>
                    <a:pt x="74" y="53"/>
                  </a:lnTo>
                  <a:lnTo>
                    <a:pt x="80" y="41"/>
                  </a:lnTo>
                  <a:lnTo>
                    <a:pt x="91" y="30"/>
                  </a:lnTo>
                  <a:lnTo>
                    <a:pt x="96" y="20"/>
                  </a:lnTo>
                  <a:lnTo>
                    <a:pt x="88" y="13"/>
                  </a:lnTo>
                  <a:lnTo>
                    <a:pt x="86" y="0"/>
                  </a:lnTo>
                  <a:lnTo>
                    <a:pt x="92" y="0"/>
                  </a:lnTo>
                  <a:lnTo>
                    <a:pt x="99" y="18"/>
                  </a:lnTo>
                  <a:lnTo>
                    <a:pt x="102" y="38"/>
                  </a:lnTo>
                  <a:lnTo>
                    <a:pt x="112"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6" name="Freeform 115"/>
            <p:cNvSpPr>
              <a:spLocks/>
            </p:cNvSpPr>
            <p:nvPr/>
          </p:nvSpPr>
          <p:spPr bwMode="auto">
            <a:xfrm>
              <a:off x="2787" y="2487"/>
              <a:ext cx="229" cy="174"/>
            </a:xfrm>
            <a:custGeom>
              <a:avLst/>
              <a:gdLst/>
              <a:ahLst/>
              <a:cxnLst>
                <a:cxn ang="0">
                  <a:pos x="72" y="42"/>
                </a:cxn>
                <a:cxn ang="0">
                  <a:pos x="70" y="38"/>
                </a:cxn>
                <a:cxn ang="0">
                  <a:pos x="93" y="33"/>
                </a:cxn>
                <a:cxn ang="0">
                  <a:pos x="105" y="18"/>
                </a:cxn>
                <a:cxn ang="0">
                  <a:pos x="117" y="4"/>
                </a:cxn>
                <a:cxn ang="0">
                  <a:pos x="132" y="0"/>
                </a:cxn>
                <a:cxn ang="0">
                  <a:pos x="138" y="11"/>
                </a:cxn>
                <a:cxn ang="0">
                  <a:pos x="145" y="22"/>
                </a:cxn>
                <a:cxn ang="0">
                  <a:pos x="143" y="40"/>
                </a:cxn>
                <a:cxn ang="0">
                  <a:pos x="154" y="42"/>
                </a:cxn>
                <a:cxn ang="0">
                  <a:pos x="157" y="47"/>
                </a:cxn>
                <a:cxn ang="0">
                  <a:pos x="172" y="58"/>
                </a:cxn>
                <a:cxn ang="0">
                  <a:pos x="174" y="65"/>
                </a:cxn>
                <a:cxn ang="0">
                  <a:pos x="189" y="78"/>
                </a:cxn>
                <a:cxn ang="0">
                  <a:pos x="195" y="88"/>
                </a:cxn>
                <a:cxn ang="0">
                  <a:pos x="204" y="100"/>
                </a:cxn>
                <a:cxn ang="0">
                  <a:pos x="207" y="106"/>
                </a:cxn>
                <a:cxn ang="0">
                  <a:pos x="198" y="104"/>
                </a:cxn>
                <a:cxn ang="0">
                  <a:pos x="185" y="102"/>
                </a:cxn>
                <a:cxn ang="0">
                  <a:pos x="173" y="101"/>
                </a:cxn>
                <a:cxn ang="0">
                  <a:pos x="167" y="106"/>
                </a:cxn>
                <a:cxn ang="0">
                  <a:pos x="155" y="106"/>
                </a:cxn>
                <a:cxn ang="0">
                  <a:pos x="139" y="112"/>
                </a:cxn>
                <a:cxn ang="0">
                  <a:pos x="132" y="111"/>
                </a:cxn>
                <a:cxn ang="0">
                  <a:pos x="125" y="122"/>
                </a:cxn>
                <a:cxn ang="0">
                  <a:pos x="111" y="118"/>
                </a:cxn>
                <a:cxn ang="0">
                  <a:pos x="95" y="113"/>
                </a:cxn>
                <a:cxn ang="0">
                  <a:pos x="78" y="104"/>
                </a:cxn>
                <a:cxn ang="0">
                  <a:pos x="66" y="120"/>
                </a:cxn>
                <a:cxn ang="0">
                  <a:pos x="66" y="134"/>
                </a:cxn>
                <a:cxn ang="0">
                  <a:pos x="54" y="132"/>
                </a:cxn>
                <a:cxn ang="0">
                  <a:pos x="42" y="131"/>
                </a:cxn>
                <a:cxn ang="0">
                  <a:pos x="34" y="137"/>
                </a:cxn>
                <a:cxn ang="0">
                  <a:pos x="28" y="156"/>
                </a:cxn>
                <a:cxn ang="0">
                  <a:pos x="23" y="140"/>
                </a:cxn>
                <a:cxn ang="0">
                  <a:pos x="15" y="128"/>
                </a:cxn>
                <a:cxn ang="0">
                  <a:pos x="6" y="114"/>
                </a:cxn>
                <a:cxn ang="0">
                  <a:pos x="0" y="89"/>
                </a:cxn>
                <a:cxn ang="0">
                  <a:pos x="9" y="75"/>
                </a:cxn>
                <a:cxn ang="0">
                  <a:pos x="16" y="60"/>
                </a:cxn>
                <a:cxn ang="0">
                  <a:pos x="31" y="56"/>
                </a:cxn>
                <a:cxn ang="0">
                  <a:pos x="34" y="58"/>
                </a:cxn>
                <a:cxn ang="0">
                  <a:pos x="43" y="57"/>
                </a:cxn>
                <a:cxn ang="0">
                  <a:pos x="65" y="52"/>
                </a:cxn>
                <a:cxn ang="0">
                  <a:pos x="72" y="42"/>
                </a:cxn>
              </a:cxnLst>
              <a:rect l="0" t="0" r="r" b="b"/>
              <a:pathLst>
                <a:path w="207" h="156">
                  <a:moveTo>
                    <a:pt x="72" y="42"/>
                  </a:moveTo>
                  <a:lnTo>
                    <a:pt x="70" y="38"/>
                  </a:lnTo>
                  <a:lnTo>
                    <a:pt x="93" y="33"/>
                  </a:lnTo>
                  <a:lnTo>
                    <a:pt x="105" y="18"/>
                  </a:lnTo>
                  <a:lnTo>
                    <a:pt x="117" y="4"/>
                  </a:lnTo>
                  <a:lnTo>
                    <a:pt x="132" y="0"/>
                  </a:lnTo>
                  <a:lnTo>
                    <a:pt x="138" y="11"/>
                  </a:lnTo>
                  <a:lnTo>
                    <a:pt x="145" y="22"/>
                  </a:lnTo>
                  <a:lnTo>
                    <a:pt x="143" y="40"/>
                  </a:lnTo>
                  <a:lnTo>
                    <a:pt x="154" y="42"/>
                  </a:lnTo>
                  <a:lnTo>
                    <a:pt x="157" y="47"/>
                  </a:lnTo>
                  <a:lnTo>
                    <a:pt x="172" y="58"/>
                  </a:lnTo>
                  <a:lnTo>
                    <a:pt x="174" y="65"/>
                  </a:lnTo>
                  <a:lnTo>
                    <a:pt x="189" y="78"/>
                  </a:lnTo>
                  <a:lnTo>
                    <a:pt x="195" y="88"/>
                  </a:lnTo>
                  <a:lnTo>
                    <a:pt x="204" y="100"/>
                  </a:lnTo>
                  <a:lnTo>
                    <a:pt x="207" y="106"/>
                  </a:lnTo>
                  <a:lnTo>
                    <a:pt x="198" y="104"/>
                  </a:lnTo>
                  <a:lnTo>
                    <a:pt x="185" y="102"/>
                  </a:lnTo>
                  <a:lnTo>
                    <a:pt x="173" y="101"/>
                  </a:lnTo>
                  <a:lnTo>
                    <a:pt x="167" y="106"/>
                  </a:lnTo>
                  <a:lnTo>
                    <a:pt x="155" y="106"/>
                  </a:lnTo>
                  <a:lnTo>
                    <a:pt x="139" y="112"/>
                  </a:lnTo>
                  <a:lnTo>
                    <a:pt x="132" y="111"/>
                  </a:lnTo>
                  <a:lnTo>
                    <a:pt x="125" y="122"/>
                  </a:lnTo>
                  <a:lnTo>
                    <a:pt x="111" y="118"/>
                  </a:lnTo>
                  <a:lnTo>
                    <a:pt x="95" y="113"/>
                  </a:lnTo>
                  <a:lnTo>
                    <a:pt x="78" y="104"/>
                  </a:lnTo>
                  <a:lnTo>
                    <a:pt x="66" y="120"/>
                  </a:lnTo>
                  <a:lnTo>
                    <a:pt x="66" y="134"/>
                  </a:lnTo>
                  <a:lnTo>
                    <a:pt x="54" y="132"/>
                  </a:lnTo>
                  <a:lnTo>
                    <a:pt x="42" y="131"/>
                  </a:lnTo>
                  <a:lnTo>
                    <a:pt x="34" y="137"/>
                  </a:lnTo>
                  <a:lnTo>
                    <a:pt x="28" y="156"/>
                  </a:lnTo>
                  <a:lnTo>
                    <a:pt x="23" y="140"/>
                  </a:lnTo>
                  <a:lnTo>
                    <a:pt x="15" y="128"/>
                  </a:lnTo>
                  <a:lnTo>
                    <a:pt x="6" y="114"/>
                  </a:lnTo>
                  <a:lnTo>
                    <a:pt x="0" y="89"/>
                  </a:lnTo>
                  <a:lnTo>
                    <a:pt x="9" y="75"/>
                  </a:lnTo>
                  <a:lnTo>
                    <a:pt x="16" y="60"/>
                  </a:lnTo>
                  <a:lnTo>
                    <a:pt x="31" y="56"/>
                  </a:lnTo>
                  <a:lnTo>
                    <a:pt x="34" y="58"/>
                  </a:lnTo>
                  <a:lnTo>
                    <a:pt x="43" y="57"/>
                  </a:lnTo>
                  <a:lnTo>
                    <a:pt x="65" y="52"/>
                  </a:lnTo>
                  <a:lnTo>
                    <a:pt x="72"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7" name="Freeform 116"/>
            <p:cNvSpPr>
              <a:spLocks/>
            </p:cNvSpPr>
            <p:nvPr/>
          </p:nvSpPr>
          <p:spPr bwMode="auto">
            <a:xfrm>
              <a:off x="2238" y="2430"/>
              <a:ext cx="51" cy="13"/>
            </a:xfrm>
            <a:custGeom>
              <a:avLst/>
              <a:gdLst/>
              <a:ahLst/>
              <a:cxnLst>
                <a:cxn ang="0">
                  <a:pos x="2" y="5"/>
                </a:cxn>
                <a:cxn ang="0">
                  <a:pos x="0" y="12"/>
                </a:cxn>
                <a:cxn ang="0">
                  <a:pos x="13" y="8"/>
                </a:cxn>
                <a:cxn ang="0">
                  <a:pos x="25" y="3"/>
                </a:cxn>
                <a:cxn ang="0">
                  <a:pos x="46" y="8"/>
                </a:cxn>
                <a:cxn ang="0">
                  <a:pos x="42" y="3"/>
                </a:cxn>
                <a:cxn ang="0">
                  <a:pos x="23" y="0"/>
                </a:cxn>
                <a:cxn ang="0">
                  <a:pos x="20" y="3"/>
                </a:cxn>
                <a:cxn ang="0">
                  <a:pos x="4" y="3"/>
                </a:cxn>
                <a:cxn ang="0">
                  <a:pos x="4" y="5"/>
                </a:cxn>
                <a:cxn ang="0">
                  <a:pos x="18" y="5"/>
                </a:cxn>
                <a:cxn ang="0">
                  <a:pos x="10" y="8"/>
                </a:cxn>
                <a:cxn ang="0">
                  <a:pos x="2" y="5"/>
                </a:cxn>
              </a:cxnLst>
              <a:rect l="0" t="0" r="r" b="b"/>
              <a:pathLst>
                <a:path w="46" h="12">
                  <a:moveTo>
                    <a:pt x="2" y="5"/>
                  </a:moveTo>
                  <a:lnTo>
                    <a:pt x="0" y="12"/>
                  </a:lnTo>
                  <a:lnTo>
                    <a:pt x="13" y="8"/>
                  </a:lnTo>
                  <a:lnTo>
                    <a:pt x="25" y="3"/>
                  </a:lnTo>
                  <a:lnTo>
                    <a:pt x="46" y="8"/>
                  </a:lnTo>
                  <a:lnTo>
                    <a:pt x="42" y="3"/>
                  </a:lnTo>
                  <a:lnTo>
                    <a:pt x="23" y="0"/>
                  </a:lnTo>
                  <a:lnTo>
                    <a:pt x="20" y="3"/>
                  </a:lnTo>
                  <a:lnTo>
                    <a:pt x="4" y="3"/>
                  </a:lnTo>
                  <a:lnTo>
                    <a:pt x="4" y="5"/>
                  </a:lnTo>
                  <a:lnTo>
                    <a:pt x="18" y="5"/>
                  </a:lnTo>
                  <a:lnTo>
                    <a:pt x="10" y="8"/>
                  </a:lnTo>
                  <a:lnTo>
                    <a:pt x="2"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8" name="Freeform 117"/>
            <p:cNvSpPr>
              <a:spLocks/>
            </p:cNvSpPr>
            <p:nvPr/>
          </p:nvSpPr>
          <p:spPr bwMode="auto">
            <a:xfrm>
              <a:off x="2476" y="2483"/>
              <a:ext cx="77" cy="127"/>
            </a:xfrm>
            <a:custGeom>
              <a:avLst/>
              <a:gdLst/>
              <a:ahLst/>
              <a:cxnLst>
                <a:cxn ang="0">
                  <a:pos x="61" y="97"/>
                </a:cxn>
                <a:cxn ang="0">
                  <a:pos x="50" y="100"/>
                </a:cxn>
                <a:cxn ang="0">
                  <a:pos x="38" y="105"/>
                </a:cxn>
                <a:cxn ang="0">
                  <a:pos x="27" y="110"/>
                </a:cxn>
                <a:cxn ang="0">
                  <a:pos x="16" y="114"/>
                </a:cxn>
                <a:cxn ang="0">
                  <a:pos x="1" y="109"/>
                </a:cxn>
                <a:cxn ang="0">
                  <a:pos x="6" y="105"/>
                </a:cxn>
                <a:cxn ang="0">
                  <a:pos x="3" y="91"/>
                </a:cxn>
                <a:cxn ang="0">
                  <a:pos x="0" y="78"/>
                </a:cxn>
                <a:cxn ang="0">
                  <a:pos x="6" y="66"/>
                </a:cxn>
                <a:cxn ang="0">
                  <a:pos x="10" y="52"/>
                </a:cxn>
                <a:cxn ang="0">
                  <a:pos x="8" y="30"/>
                </a:cxn>
                <a:cxn ang="0">
                  <a:pos x="7" y="16"/>
                </a:cxn>
                <a:cxn ang="0">
                  <a:pos x="6" y="2"/>
                </a:cxn>
                <a:cxn ang="0">
                  <a:pos x="25" y="2"/>
                </a:cxn>
                <a:cxn ang="0">
                  <a:pos x="43" y="1"/>
                </a:cxn>
                <a:cxn ang="0">
                  <a:pos x="48" y="0"/>
                </a:cxn>
                <a:cxn ang="0">
                  <a:pos x="50" y="6"/>
                </a:cxn>
                <a:cxn ang="0">
                  <a:pos x="56" y="21"/>
                </a:cxn>
                <a:cxn ang="0">
                  <a:pos x="56" y="30"/>
                </a:cxn>
                <a:cxn ang="0">
                  <a:pos x="57" y="42"/>
                </a:cxn>
                <a:cxn ang="0">
                  <a:pos x="60" y="54"/>
                </a:cxn>
                <a:cxn ang="0">
                  <a:pos x="61" y="68"/>
                </a:cxn>
                <a:cxn ang="0">
                  <a:pos x="61" y="81"/>
                </a:cxn>
                <a:cxn ang="0">
                  <a:pos x="69" y="91"/>
                </a:cxn>
                <a:cxn ang="0">
                  <a:pos x="61" y="97"/>
                </a:cxn>
                <a:cxn ang="0">
                  <a:pos x="55" y="92"/>
                </a:cxn>
                <a:cxn ang="0">
                  <a:pos x="61" y="97"/>
                </a:cxn>
              </a:cxnLst>
              <a:rect l="0" t="0" r="r" b="b"/>
              <a:pathLst>
                <a:path w="69" h="114">
                  <a:moveTo>
                    <a:pt x="61" y="97"/>
                  </a:moveTo>
                  <a:lnTo>
                    <a:pt x="50" y="100"/>
                  </a:lnTo>
                  <a:lnTo>
                    <a:pt x="38" y="105"/>
                  </a:lnTo>
                  <a:lnTo>
                    <a:pt x="27" y="110"/>
                  </a:lnTo>
                  <a:lnTo>
                    <a:pt x="16" y="114"/>
                  </a:lnTo>
                  <a:lnTo>
                    <a:pt x="1" y="109"/>
                  </a:lnTo>
                  <a:lnTo>
                    <a:pt x="6" y="105"/>
                  </a:lnTo>
                  <a:lnTo>
                    <a:pt x="3" y="91"/>
                  </a:lnTo>
                  <a:lnTo>
                    <a:pt x="0" y="78"/>
                  </a:lnTo>
                  <a:lnTo>
                    <a:pt x="6" y="66"/>
                  </a:lnTo>
                  <a:lnTo>
                    <a:pt x="10" y="52"/>
                  </a:lnTo>
                  <a:lnTo>
                    <a:pt x="8" y="30"/>
                  </a:lnTo>
                  <a:lnTo>
                    <a:pt x="7" y="16"/>
                  </a:lnTo>
                  <a:lnTo>
                    <a:pt x="6" y="2"/>
                  </a:lnTo>
                  <a:lnTo>
                    <a:pt x="25" y="2"/>
                  </a:lnTo>
                  <a:lnTo>
                    <a:pt x="43" y="1"/>
                  </a:lnTo>
                  <a:lnTo>
                    <a:pt x="48" y="0"/>
                  </a:lnTo>
                  <a:lnTo>
                    <a:pt x="50" y="6"/>
                  </a:lnTo>
                  <a:lnTo>
                    <a:pt x="56" y="21"/>
                  </a:lnTo>
                  <a:lnTo>
                    <a:pt x="56" y="30"/>
                  </a:lnTo>
                  <a:lnTo>
                    <a:pt x="57" y="42"/>
                  </a:lnTo>
                  <a:lnTo>
                    <a:pt x="60" y="54"/>
                  </a:lnTo>
                  <a:lnTo>
                    <a:pt x="61" y="68"/>
                  </a:lnTo>
                  <a:lnTo>
                    <a:pt x="61" y="81"/>
                  </a:lnTo>
                  <a:lnTo>
                    <a:pt x="69" y="91"/>
                  </a:lnTo>
                  <a:lnTo>
                    <a:pt x="61" y="97"/>
                  </a:lnTo>
                  <a:lnTo>
                    <a:pt x="55" y="92"/>
                  </a:lnTo>
                  <a:lnTo>
                    <a:pt x="61" y="9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19" name="Freeform 118"/>
            <p:cNvSpPr>
              <a:spLocks/>
            </p:cNvSpPr>
            <p:nvPr/>
          </p:nvSpPr>
          <p:spPr bwMode="auto">
            <a:xfrm>
              <a:off x="2267" y="2452"/>
              <a:ext cx="129" cy="109"/>
            </a:xfrm>
            <a:custGeom>
              <a:avLst/>
              <a:gdLst/>
              <a:ahLst/>
              <a:cxnLst>
                <a:cxn ang="0">
                  <a:pos x="105" y="23"/>
                </a:cxn>
                <a:cxn ang="0">
                  <a:pos x="102" y="29"/>
                </a:cxn>
                <a:cxn ang="0">
                  <a:pos x="105" y="29"/>
                </a:cxn>
                <a:cxn ang="0">
                  <a:pos x="112" y="46"/>
                </a:cxn>
                <a:cxn ang="0">
                  <a:pos x="111" y="59"/>
                </a:cxn>
                <a:cxn ang="0">
                  <a:pos x="113" y="62"/>
                </a:cxn>
                <a:cxn ang="0">
                  <a:pos x="114" y="66"/>
                </a:cxn>
                <a:cxn ang="0">
                  <a:pos x="116" y="72"/>
                </a:cxn>
                <a:cxn ang="0">
                  <a:pos x="116" y="77"/>
                </a:cxn>
                <a:cxn ang="0">
                  <a:pos x="108" y="78"/>
                </a:cxn>
                <a:cxn ang="0">
                  <a:pos x="111" y="85"/>
                </a:cxn>
                <a:cxn ang="0">
                  <a:pos x="106" y="91"/>
                </a:cxn>
                <a:cxn ang="0">
                  <a:pos x="105" y="92"/>
                </a:cxn>
                <a:cxn ang="0">
                  <a:pos x="100" y="92"/>
                </a:cxn>
                <a:cxn ang="0">
                  <a:pos x="93" y="97"/>
                </a:cxn>
                <a:cxn ang="0">
                  <a:pos x="89" y="94"/>
                </a:cxn>
                <a:cxn ang="0">
                  <a:pos x="84" y="76"/>
                </a:cxn>
                <a:cxn ang="0">
                  <a:pos x="76" y="76"/>
                </a:cxn>
                <a:cxn ang="0">
                  <a:pos x="70" y="77"/>
                </a:cxn>
                <a:cxn ang="0">
                  <a:pos x="71" y="65"/>
                </a:cxn>
                <a:cxn ang="0">
                  <a:pos x="62" y="48"/>
                </a:cxn>
                <a:cxn ang="0">
                  <a:pos x="40" y="54"/>
                </a:cxn>
                <a:cxn ang="0">
                  <a:pos x="28" y="66"/>
                </a:cxn>
                <a:cxn ang="0">
                  <a:pos x="27" y="60"/>
                </a:cxn>
                <a:cxn ang="0">
                  <a:pos x="23" y="55"/>
                </a:cxn>
                <a:cxn ang="0">
                  <a:pos x="21" y="52"/>
                </a:cxn>
                <a:cxn ang="0">
                  <a:pos x="16" y="47"/>
                </a:cxn>
                <a:cxn ang="0">
                  <a:pos x="8" y="37"/>
                </a:cxn>
                <a:cxn ang="0">
                  <a:pos x="8" y="34"/>
                </a:cxn>
                <a:cxn ang="0">
                  <a:pos x="6" y="35"/>
                </a:cxn>
                <a:cxn ang="0">
                  <a:pos x="5" y="30"/>
                </a:cxn>
                <a:cxn ang="0">
                  <a:pos x="0" y="32"/>
                </a:cxn>
                <a:cxn ang="0">
                  <a:pos x="2" y="31"/>
                </a:cxn>
                <a:cxn ang="0">
                  <a:pos x="5" y="24"/>
                </a:cxn>
                <a:cxn ang="0">
                  <a:pos x="20" y="18"/>
                </a:cxn>
                <a:cxn ang="0">
                  <a:pos x="20" y="8"/>
                </a:cxn>
                <a:cxn ang="0">
                  <a:pos x="22" y="0"/>
                </a:cxn>
                <a:cxn ang="0">
                  <a:pos x="36" y="4"/>
                </a:cxn>
                <a:cxn ang="0">
                  <a:pos x="59" y="5"/>
                </a:cxn>
                <a:cxn ang="0">
                  <a:pos x="57" y="10"/>
                </a:cxn>
                <a:cxn ang="0">
                  <a:pos x="66" y="10"/>
                </a:cxn>
                <a:cxn ang="0">
                  <a:pos x="71" y="12"/>
                </a:cxn>
                <a:cxn ang="0">
                  <a:pos x="81" y="11"/>
                </a:cxn>
                <a:cxn ang="0">
                  <a:pos x="92" y="7"/>
                </a:cxn>
                <a:cxn ang="0">
                  <a:pos x="94" y="4"/>
                </a:cxn>
                <a:cxn ang="0">
                  <a:pos x="99" y="18"/>
                </a:cxn>
                <a:cxn ang="0">
                  <a:pos x="105" y="23"/>
                </a:cxn>
              </a:cxnLst>
              <a:rect l="0" t="0" r="r" b="b"/>
              <a:pathLst>
                <a:path w="116" h="97">
                  <a:moveTo>
                    <a:pt x="105" y="23"/>
                  </a:moveTo>
                  <a:lnTo>
                    <a:pt x="102" y="29"/>
                  </a:lnTo>
                  <a:lnTo>
                    <a:pt x="105" y="29"/>
                  </a:lnTo>
                  <a:lnTo>
                    <a:pt x="112" y="46"/>
                  </a:lnTo>
                  <a:lnTo>
                    <a:pt x="111" y="59"/>
                  </a:lnTo>
                  <a:lnTo>
                    <a:pt x="113" y="62"/>
                  </a:lnTo>
                  <a:lnTo>
                    <a:pt x="114" y="66"/>
                  </a:lnTo>
                  <a:lnTo>
                    <a:pt x="116" y="72"/>
                  </a:lnTo>
                  <a:lnTo>
                    <a:pt x="116" y="77"/>
                  </a:lnTo>
                  <a:lnTo>
                    <a:pt x="108" y="78"/>
                  </a:lnTo>
                  <a:lnTo>
                    <a:pt x="111" y="85"/>
                  </a:lnTo>
                  <a:lnTo>
                    <a:pt x="106" y="91"/>
                  </a:lnTo>
                  <a:lnTo>
                    <a:pt x="105" y="92"/>
                  </a:lnTo>
                  <a:lnTo>
                    <a:pt x="100" y="92"/>
                  </a:lnTo>
                  <a:lnTo>
                    <a:pt x="93" y="97"/>
                  </a:lnTo>
                  <a:lnTo>
                    <a:pt x="89" y="94"/>
                  </a:lnTo>
                  <a:lnTo>
                    <a:pt x="84" y="76"/>
                  </a:lnTo>
                  <a:lnTo>
                    <a:pt x="76" y="76"/>
                  </a:lnTo>
                  <a:lnTo>
                    <a:pt x="70" y="77"/>
                  </a:lnTo>
                  <a:lnTo>
                    <a:pt x="71" y="65"/>
                  </a:lnTo>
                  <a:lnTo>
                    <a:pt x="62" y="48"/>
                  </a:lnTo>
                  <a:lnTo>
                    <a:pt x="40" y="54"/>
                  </a:lnTo>
                  <a:lnTo>
                    <a:pt x="28" y="66"/>
                  </a:lnTo>
                  <a:lnTo>
                    <a:pt x="27" y="60"/>
                  </a:lnTo>
                  <a:lnTo>
                    <a:pt x="23" y="55"/>
                  </a:lnTo>
                  <a:lnTo>
                    <a:pt x="21" y="52"/>
                  </a:lnTo>
                  <a:lnTo>
                    <a:pt x="16" y="47"/>
                  </a:lnTo>
                  <a:lnTo>
                    <a:pt x="8" y="37"/>
                  </a:lnTo>
                  <a:lnTo>
                    <a:pt x="8" y="34"/>
                  </a:lnTo>
                  <a:lnTo>
                    <a:pt x="6" y="35"/>
                  </a:lnTo>
                  <a:lnTo>
                    <a:pt x="5" y="30"/>
                  </a:lnTo>
                  <a:lnTo>
                    <a:pt x="0" y="32"/>
                  </a:lnTo>
                  <a:lnTo>
                    <a:pt x="2" y="31"/>
                  </a:lnTo>
                  <a:lnTo>
                    <a:pt x="5" y="24"/>
                  </a:lnTo>
                  <a:lnTo>
                    <a:pt x="20" y="18"/>
                  </a:lnTo>
                  <a:lnTo>
                    <a:pt x="20" y="8"/>
                  </a:lnTo>
                  <a:lnTo>
                    <a:pt x="22" y="0"/>
                  </a:lnTo>
                  <a:lnTo>
                    <a:pt x="36" y="4"/>
                  </a:lnTo>
                  <a:lnTo>
                    <a:pt x="59" y="5"/>
                  </a:lnTo>
                  <a:lnTo>
                    <a:pt x="57" y="10"/>
                  </a:lnTo>
                  <a:lnTo>
                    <a:pt x="66" y="10"/>
                  </a:lnTo>
                  <a:lnTo>
                    <a:pt x="71" y="12"/>
                  </a:lnTo>
                  <a:lnTo>
                    <a:pt x="81" y="11"/>
                  </a:lnTo>
                  <a:lnTo>
                    <a:pt x="92" y="7"/>
                  </a:lnTo>
                  <a:lnTo>
                    <a:pt x="94" y="4"/>
                  </a:lnTo>
                  <a:lnTo>
                    <a:pt x="99" y="18"/>
                  </a:lnTo>
                  <a:lnTo>
                    <a:pt x="105" y="2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0" name="Freeform 119"/>
            <p:cNvSpPr>
              <a:spLocks/>
            </p:cNvSpPr>
            <p:nvPr/>
          </p:nvSpPr>
          <p:spPr bwMode="auto">
            <a:xfrm>
              <a:off x="2240" y="2452"/>
              <a:ext cx="51" cy="35"/>
            </a:xfrm>
            <a:custGeom>
              <a:avLst/>
              <a:gdLst/>
              <a:ahLst/>
              <a:cxnLst>
                <a:cxn ang="0">
                  <a:pos x="24" y="19"/>
                </a:cxn>
                <a:cxn ang="0">
                  <a:pos x="22" y="24"/>
                </a:cxn>
                <a:cxn ang="0">
                  <a:pos x="24" y="29"/>
                </a:cxn>
                <a:cxn ang="0">
                  <a:pos x="27" y="31"/>
                </a:cxn>
                <a:cxn ang="0">
                  <a:pos x="30" y="24"/>
                </a:cxn>
                <a:cxn ang="0">
                  <a:pos x="45" y="18"/>
                </a:cxn>
                <a:cxn ang="0">
                  <a:pos x="45" y="8"/>
                </a:cxn>
                <a:cxn ang="0">
                  <a:pos x="47" y="0"/>
                </a:cxn>
                <a:cxn ang="0">
                  <a:pos x="34" y="1"/>
                </a:cxn>
                <a:cxn ang="0">
                  <a:pos x="21" y="2"/>
                </a:cxn>
                <a:cxn ang="0">
                  <a:pos x="0" y="7"/>
                </a:cxn>
                <a:cxn ang="0">
                  <a:pos x="7" y="7"/>
                </a:cxn>
                <a:cxn ang="0">
                  <a:pos x="5" y="11"/>
                </a:cxn>
                <a:cxn ang="0">
                  <a:pos x="13" y="12"/>
                </a:cxn>
                <a:cxn ang="0">
                  <a:pos x="12" y="14"/>
                </a:cxn>
                <a:cxn ang="0">
                  <a:pos x="23" y="14"/>
                </a:cxn>
                <a:cxn ang="0">
                  <a:pos x="27" y="17"/>
                </a:cxn>
                <a:cxn ang="0">
                  <a:pos x="18" y="18"/>
                </a:cxn>
                <a:cxn ang="0">
                  <a:pos x="24" y="19"/>
                </a:cxn>
              </a:cxnLst>
              <a:rect l="0" t="0" r="r" b="b"/>
              <a:pathLst>
                <a:path w="47" h="31">
                  <a:moveTo>
                    <a:pt x="24" y="19"/>
                  </a:moveTo>
                  <a:lnTo>
                    <a:pt x="22" y="24"/>
                  </a:lnTo>
                  <a:lnTo>
                    <a:pt x="24" y="29"/>
                  </a:lnTo>
                  <a:lnTo>
                    <a:pt x="27" y="31"/>
                  </a:lnTo>
                  <a:lnTo>
                    <a:pt x="30" y="24"/>
                  </a:lnTo>
                  <a:lnTo>
                    <a:pt x="45" y="18"/>
                  </a:lnTo>
                  <a:lnTo>
                    <a:pt x="45" y="8"/>
                  </a:lnTo>
                  <a:lnTo>
                    <a:pt x="47" y="0"/>
                  </a:lnTo>
                  <a:lnTo>
                    <a:pt x="34" y="1"/>
                  </a:lnTo>
                  <a:lnTo>
                    <a:pt x="21" y="2"/>
                  </a:lnTo>
                  <a:lnTo>
                    <a:pt x="0" y="7"/>
                  </a:lnTo>
                  <a:lnTo>
                    <a:pt x="7" y="7"/>
                  </a:lnTo>
                  <a:lnTo>
                    <a:pt x="5" y="11"/>
                  </a:lnTo>
                  <a:lnTo>
                    <a:pt x="13" y="12"/>
                  </a:lnTo>
                  <a:lnTo>
                    <a:pt x="12" y="14"/>
                  </a:lnTo>
                  <a:lnTo>
                    <a:pt x="23" y="14"/>
                  </a:lnTo>
                  <a:lnTo>
                    <a:pt x="27" y="17"/>
                  </a:lnTo>
                  <a:lnTo>
                    <a:pt x="18" y="18"/>
                  </a:lnTo>
                  <a:lnTo>
                    <a:pt x="24"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1" name="Freeform 120"/>
            <p:cNvSpPr>
              <a:spLocks/>
            </p:cNvSpPr>
            <p:nvPr/>
          </p:nvSpPr>
          <p:spPr bwMode="auto">
            <a:xfrm>
              <a:off x="2382" y="2492"/>
              <a:ext cx="105" cy="127"/>
            </a:xfrm>
            <a:custGeom>
              <a:avLst/>
              <a:gdLst/>
              <a:ahLst/>
              <a:cxnLst>
                <a:cxn ang="0">
                  <a:pos x="53" y="7"/>
                </a:cxn>
                <a:cxn ang="0">
                  <a:pos x="47" y="5"/>
                </a:cxn>
                <a:cxn ang="0">
                  <a:pos x="36" y="7"/>
                </a:cxn>
                <a:cxn ang="0">
                  <a:pos x="33" y="0"/>
                </a:cxn>
                <a:cxn ang="0">
                  <a:pos x="27" y="4"/>
                </a:cxn>
                <a:cxn ang="0">
                  <a:pos x="20" y="8"/>
                </a:cxn>
                <a:cxn ang="0">
                  <a:pos x="11" y="6"/>
                </a:cxn>
                <a:cxn ang="0">
                  <a:pos x="7" y="10"/>
                </a:cxn>
                <a:cxn ang="0">
                  <a:pos x="6" y="23"/>
                </a:cxn>
                <a:cxn ang="0">
                  <a:pos x="8" y="26"/>
                </a:cxn>
                <a:cxn ang="0">
                  <a:pos x="9" y="30"/>
                </a:cxn>
                <a:cxn ang="0">
                  <a:pos x="11" y="36"/>
                </a:cxn>
                <a:cxn ang="0">
                  <a:pos x="11" y="41"/>
                </a:cxn>
                <a:cxn ang="0">
                  <a:pos x="3" y="42"/>
                </a:cxn>
                <a:cxn ang="0">
                  <a:pos x="6" y="49"/>
                </a:cxn>
                <a:cxn ang="0">
                  <a:pos x="1" y="55"/>
                </a:cxn>
                <a:cxn ang="0">
                  <a:pos x="0" y="56"/>
                </a:cxn>
                <a:cxn ang="0">
                  <a:pos x="0" y="72"/>
                </a:cxn>
                <a:cxn ang="0">
                  <a:pos x="0" y="76"/>
                </a:cxn>
                <a:cxn ang="0">
                  <a:pos x="9" y="84"/>
                </a:cxn>
                <a:cxn ang="0">
                  <a:pos x="17" y="92"/>
                </a:cxn>
                <a:cxn ang="0">
                  <a:pos x="14" y="114"/>
                </a:cxn>
                <a:cxn ang="0">
                  <a:pos x="35" y="107"/>
                </a:cxn>
                <a:cxn ang="0">
                  <a:pos x="54" y="100"/>
                </a:cxn>
                <a:cxn ang="0">
                  <a:pos x="49" y="100"/>
                </a:cxn>
                <a:cxn ang="0">
                  <a:pos x="69" y="98"/>
                </a:cxn>
                <a:cxn ang="0">
                  <a:pos x="60" y="98"/>
                </a:cxn>
                <a:cxn ang="0">
                  <a:pos x="72" y="97"/>
                </a:cxn>
                <a:cxn ang="0">
                  <a:pos x="81" y="98"/>
                </a:cxn>
                <a:cxn ang="0">
                  <a:pos x="84" y="101"/>
                </a:cxn>
                <a:cxn ang="0">
                  <a:pos x="89" y="97"/>
                </a:cxn>
                <a:cxn ang="0">
                  <a:pos x="86" y="83"/>
                </a:cxn>
                <a:cxn ang="0">
                  <a:pos x="83" y="70"/>
                </a:cxn>
                <a:cxn ang="0">
                  <a:pos x="89" y="58"/>
                </a:cxn>
                <a:cxn ang="0">
                  <a:pos x="93" y="44"/>
                </a:cxn>
                <a:cxn ang="0">
                  <a:pos x="91" y="22"/>
                </a:cxn>
                <a:cxn ang="0">
                  <a:pos x="77" y="13"/>
                </a:cxn>
                <a:cxn ang="0">
                  <a:pos x="62" y="18"/>
                </a:cxn>
                <a:cxn ang="0">
                  <a:pos x="53" y="7"/>
                </a:cxn>
              </a:cxnLst>
              <a:rect l="0" t="0" r="r" b="b"/>
              <a:pathLst>
                <a:path w="93" h="114">
                  <a:moveTo>
                    <a:pt x="53" y="7"/>
                  </a:moveTo>
                  <a:lnTo>
                    <a:pt x="47" y="5"/>
                  </a:lnTo>
                  <a:lnTo>
                    <a:pt x="36" y="7"/>
                  </a:lnTo>
                  <a:lnTo>
                    <a:pt x="33" y="0"/>
                  </a:lnTo>
                  <a:lnTo>
                    <a:pt x="27" y="4"/>
                  </a:lnTo>
                  <a:lnTo>
                    <a:pt x="20" y="8"/>
                  </a:lnTo>
                  <a:lnTo>
                    <a:pt x="11" y="6"/>
                  </a:lnTo>
                  <a:lnTo>
                    <a:pt x="7" y="10"/>
                  </a:lnTo>
                  <a:lnTo>
                    <a:pt x="6" y="23"/>
                  </a:lnTo>
                  <a:lnTo>
                    <a:pt x="8" y="26"/>
                  </a:lnTo>
                  <a:lnTo>
                    <a:pt x="9" y="30"/>
                  </a:lnTo>
                  <a:lnTo>
                    <a:pt x="11" y="36"/>
                  </a:lnTo>
                  <a:lnTo>
                    <a:pt x="11" y="41"/>
                  </a:lnTo>
                  <a:lnTo>
                    <a:pt x="3" y="42"/>
                  </a:lnTo>
                  <a:lnTo>
                    <a:pt x="6" y="49"/>
                  </a:lnTo>
                  <a:lnTo>
                    <a:pt x="1" y="55"/>
                  </a:lnTo>
                  <a:lnTo>
                    <a:pt x="0" y="56"/>
                  </a:lnTo>
                  <a:lnTo>
                    <a:pt x="0" y="72"/>
                  </a:lnTo>
                  <a:lnTo>
                    <a:pt x="0" y="76"/>
                  </a:lnTo>
                  <a:lnTo>
                    <a:pt x="9" y="84"/>
                  </a:lnTo>
                  <a:lnTo>
                    <a:pt x="17" y="92"/>
                  </a:lnTo>
                  <a:lnTo>
                    <a:pt x="14" y="114"/>
                  </a:lnTo>
                  <a:lnTo>
                    <a:pt x="35" y="107"/>
                  </a:lnTo>
                  <a:lnTo>
                    <a:pt x="54" y="100"/>
                  </a:lnTo>
                  <a:lnTo>
                    <a:pt x="49" y="100"/>
                  </a:lnTo>
                  <a:lnTo>
                    <a:pt x="69" y="98"/>
                  </a:lnTo>
                  <a:lnTo>
                    <a:pt x="60" y="98"/>
                  </a:lnTo>
                  <a:lnTo>
                    <a:pt x="72" y="97"/>
                  </a:lnTo>
                  <a:lnTo>
                    <a:pt x="81" y="98"/>
                  </a:lnTo>
                  <a:lnTo>
                    <a:pt x="84" y="101"/>
                  </a:lnTo>
                  <a:lnTo>
                    <a:pt x="89" y="97"/>
                  </a:lnTo>
                  <a:lnTo>
                    <a:pt x="86" y="83"/>
                  </a:lnTo>
                  <a:lnTo>
                    <a:pt x="83" y="70"/>
                  </a:lnTo>
                  <a:lnTo>
                    <a:pt x="89" y="58"/>
                  </a:lnTo>
                  <a:lnTo>
                    <a:pt x="93" y="44"/>
                  </a:lnTo>
                  <a:lnTo>
                    <a:pt x="91" y="22"/>
                  </a:lnTo>
                  <a:lnTo>
                    <a:pt x="77" y="13"/>
                  </a:lnTo>
                  <a:lnTo>
                    <a:pt x="62" y="18"/>
                  </a:lnTo>
                  <a:lnTo>
                    <a:pt x="53"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2" name="Freeform 121"/>
            <p:cNvSpPr>
              <a:spLocks/>
            </p:cNvSpPr>
            <p:nvPr/>
          </p:nvSpPr>
          <p:spPr bwMode="auto">
            <a:xfrm>
              <a:off x="2298" y="2505"/>
              <a:ext cx="53" cy="62"/>
            </a:xfrm>
            <a:custGeom>
              <a:avLst/>
              <a:gdLst/>
              <a:ahLst/>
              <a:cxnLst>
                <a:cxn ang="0">
                  <a:pos x="48" y="28"/>
                </a:cxn>
                <a:cxn ang="0">
                  <a:pos x="41" y="38"/>
                </a:cxn>
                <a:cxn ang="0">
                  <a:pos x="34" y="49"/>
                </a:cxn>
                <a:cxn ang="0">
                  <a:pos x="29" y="55"/>
                </a:cxn>
                <a:cxn ang="0">
                  <a:pos x="12" y="47"/>
                </a:cxn>
                <a:cxn ang="0">
                  <a:pos x="16" y="44"/>
                </a:cxn>
                <a:cxn ang="0">
                  <a:pos x="12" y="42"/>
                </a:cxn>
                <a:cxn ang="0">
                  <a:pos x="1" y="30"/>
                </a:cxn>
                <a:cxn ang="0">
                  <a:pos x="6" y="26"/>
                </a:cxn>
                <a:cxn ang="0">
                  <a:pos x="1" y="24"/>
                </a:cxn>
                <a:cxn ang="0">
                  <a:pos x="5" y="22"/>
                </a:cxn>
                <a:cxn ang="0">
                  <a:pos x="0" y="18"/>
                </a:cxn>
                <a:cxn ang="0">
                  <a:pos x="12" y="6"/>
                </a:cxn>
                <a:cxn ang="0">
                  <a:pos x="34" y="0"/>
                </a:cxn>
                <a:cxn ang="0">
                  <a:pos x="43" y="17"/>
                </a:cxn>
                <a:cxn ang="0">
                  <a:pos x="42" y="29"/>
                </a:cxn>
                <a:cxn ang="0">
                  <a:pos x="48" y="28"/>
                </a:cxn>
              </a:cxnLst>
              <a:rect l="0" t="0" r="r" b="b"/>
              <a:pathLst>
                <a:path w="48" h="55">
                  <a:moveTo>
                    <a:pt x="48" y="28"/>
                  </a:moveTo>
                  <a:lnTo>
                    <a:pt x="41" y="38"/>
                  </a:lnTo>
                  <a:lnTo>
                    <a:pt x="34" y="49"/>
                  </a:lnTo>
                  <a:lnTo>
                    <a:pt x="29" y="55"/>
                  </a:lnTo>
                  <a:lnTo>
                    <a:pt x="12" y="47"/>
                  </a:lnTo>
                  <a:lnTo>
                    <a:pt x="16" y="44"/>
                  </a:lnTo>
                  <a:lnTo>
                    <a:pt x="12" y="42"/>
                  </a:lnTo>
                  <a:lnTo>
                    <a:pt x="1" y="30"/>
                  </a:lnTo>
                  <a:lnTo>
                    <a:pt x="6" y="26"/>
                  </a:lnTo>
                  <a:lnTo>
                    <a:pt x="1" y="24"/>
                  </a:lnTo>
                  <a:lnTo>
                    <a:pt x="5" y="22"/>
                  </a:lnTo>
                  <a:lnTo>
                    <a:pt x="0" y="18"/>
                  </a:lnTo>
                  <a:lnTo>
                    <a:pt x="12" y="6"/>
                  </a:lnTo>
                  <a:lnTo>
                    <a:pt x="34" y="0"/>
                  </a:lnTo>
                  <a:lnTo>
                    <a:pt x="43" y="17"/>
                  </a:lnTo>
                  <a:lnTo>
                    <a:pt x="42" y="29"/>
                  </a:lnTo>
                  <a:lnTo>
                    <a:pt x="48"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3" name="Freeform 122"/>
            <p:cNvSpPr>
              <a:spLocks/>
            </p:cNvSpPr>
            <p:nvPr/>
          </p:nvSpPr>
          <p:spPr bwMode="auto">
            <a:xfrm>
              <a:off x="2529" y="2483"/>
              <a:ext cx="31" cy="100"/>
            </a:xfrm>
            <a:custGeom>
              <a:avLst/>
              <a:gdLst/>
              <a:ahLst/>
              <a:cxnLst>
                <a:cxn ang="0">
                  <a:pos x="13" y="2"/>
                </a:cxn>
                <a:cxn ang="0">
                  <a:pos x="0" y="0"/>
                </a:cxn>
                <a:cxn ang="0">
                  <a:pos x="2" y="6"/>
                </a:cxn>
                <a:cxn ang="0">
                  <a:pos x="8" y="21"/>
                </a:cxn>
                <a:cxn ang="0">
                  <a:pos x="8" y="30"/>
                </a:cxn>
                <a:cxn ang="0">
                  <a:pos x="9" y="42"/>
                </a:cxn>
                <a:cxn ang="0">
                  <a:pos x="12" y="54"/>
                </a:cxn>
                <a:cxn ang="0">
                  <a:pos x="13" y="68"/>
                </a:cxn>
                <a:cxn ang="0">
                  <a:pos x="13" y="81"/>
                </a:cxn>
                <a:cxn ang="0">
                  <a:pos x="21" y="91"/>
                </a:cxn>
                <a:cxn ang="0">
                  <a:pos x="28" y="88"/>
                </a:cxn>
                <a:cxn ang="0">
                  <a:pos x="27" y="75"/>
                </a:cxn>
                <a:cxn ang="0">
                  <a:pos x="27" y="62"/>
                </a:cxn>
                <a:cxn ang="0">
                  <a:pos x="26" y="48"/>
                </a:cxn>
                <a:cxn ang="0">
                  <a:pos x="26" y="34"/>
                </a:cxn>
                <a:cxn ang="0">
                  <a:pos x="24" y="20"/>
                </a:cxn>
                <a:cxn ang="0">
                  <a:pos x="15" y="10"/>
                </a:cxn>
                <a:cxn ang="0">
                  <a:pos x="16" y="2"/>
                </a:cxn>
                <a:cxn ang="0">
                  <a:pos x="13" y="2"/>
                </a:cxn>
              </a:cxnLst>
              <a:rect l="0" t="0" r="r" b="b"/>
              <a:pathLst>
                <a:path w="28" h="91">
                  <a:moveTo>
                    <a:pt x="13" y="2"/>
                  </a:moveTo>
                  <a:lnTo>
                    <a:pt x="0" y="0"/>
                  </a:lnTo>
                  <a:lnTo>
                    <a:pt x="2" y="6"/>
                  </a:lnTo>
                  <a:lnTo>
                    <a:pt x="8" y="21"/>
                  </a:lnTo>
                  <a:lnTo>
                    <a:pt x="8" y="30"/>
                  </a:lnTo>
                  <a:lnTo>
                    <a:pt x="9" y="42"/>
                  </a:lnTo>
                  <a:lnTo>
                    <a:pt x="12" y="54"/>
                  </a:lnTo>
                  <a:lnTo>
                    <a:pt x="13" y="68"/>
                  </a:lnTo>
                  <a:lnTo>
                    <a:pt x="13" y="81"/>
                  </a:lnTo>
                  <a:lnTo>
                    <a:pt x="21" y="91"/>
                  </a:lnTo>
                  <a:lnTo>
                    <a:pt x="28" y="88"/>
                  </a:lnTo>
                  <a:lnTo>
                    <a:pt x="27" y="75"/>
                  </a:lnTo>
                  <a:lnTo>
                    <a:pt x="27" y="62"/>
                  </a:lnTo>
                  <a:lnTo>
                    <a:pt x="26" y="48"/>
                  </a:lnTo>
                  <a:lnTo>
                    <a:pt x="26" y="34"/>
                  </a:lnTo>
                  <a:lnTo>
                    <a:pt x="24" y="20"/>
                  </a:lnTo>
                  <a:lnTo>
                    <a:pt x="15" y="10"/>
                  </a:lnTo>
                  <a:lnTo>
                    <a:pt x="16" y="2"/>
                  </a:lnTo>
                  <a:lnTo>
                    <a:pt x="1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4" name="Freeform 123"/>
            <p:cNvSpPr>
              <a:spLocks/>
            </p:cNvSpPr>
            <p:nvPr/>
          </p:nvSpPr>
          <p:spPr bwMode="auto">
            <a:xfrm>
              <a:off x="2382" y="1970"/>
              <a:ext cx="356" cy="353"/>
            </a:xfrm>
            <a:custGeom>
              <a:avLst/>
              <a:gdLst/>
              <a:ahLst/>
              <a:cxnLst>
                <a:cxn ang="0">
                  <a:pos x="0" y="165"/>
                </a:cxn>
                <a:cxn ang="0">
                  <a:pos x="15" y="182"/>
                </a:cxn>
                <a:cxn ang="0">
                  <a:pos x="44" y="202"/>
                </a:cxn>
                <a:cxn ang="0">
                  <a:pos x="71" y="222"/>
                </a:cxn>
                <a:cxn ang="0">
                  <a:pos x="93" y="240"/>
                </a:cxn>
                <a:cxn ang="0">
                  <a:pos x="116" y="256"/>
                </a:cxn>
                <a:cxn ang="0">
                  <a:pos x="140" y="274"/>
                </a:cxn>
                <a:cxn ang="0">
                  <a:pos x="151" y="289"/>
                </a:cxn>
                <a:cxn ang="0">
                  <a:pos x="181" y="304"/>
                </a:cxn>
                <a:cxn ang="0">
                  <a:pos x="199" y="318"/>
                </a:cxn>
                <a:cxn ang="0">
                  <a:pos x="224" y="313"/>
                </a:cxn>
                <a:cxn ang="0">
                  <a:pos x="249" y="288"/>
                </a:cxn>
                <a:cxn ang="0">
                  <a:pos x="284" y="264"/>
                </a:cxn>
                <a:cxn ang="0">
                  <a:pos x="319" y="240"/>
                </a:cxn>
                <a:cxn ang="0">
                  <a:pos x="294" y="223"/>
                </a:cxn>
                <a:cxn ang="0">
                  <a:pos x="278" y="193"/>
                </a:cxn>
                <a:cxn ang="0">
                  <a:pos x="284" y="165"/>
                </a:cxn>
                <a:cxn ang="0">
                  <a:pos x="277" y="123"/>
                </a:cxn>
                <a:cxn ang="0">
                  <a:pos x="275" y="103"/>
                </a:cxn>
                <a:cxn ang="0">
                  <a:pos x="258" y="73"/>
                </a:cxn>
                <a:cxn ang="0">
                  <a:pos x="253" y="42"/>
                </a:cxn>
                <a:cxn ang="0">
                  <a:pos x="258" y="4"/>
                </a:cxn>
                <a:cxn ang="0">
                  <a:pos x="237" y="0"/>
                </a:cxn>
                <a:cxn ang="0">
                  <a:pos x="209" y="2"/>
                </a:cxn>
                <a:cxn ang="0">
                  <a:pos x="175" y="2"/>
                </a:cxn>
                <a:cxn ang="0">
                  <a:pos x="137" y="14"/>
                </a:cxn>
                <a:cxn ang="0">
                  <a:pos x="114" y="25"/>
                </a:cxn>
                <a:cxn ang="0">
                  <a:pos x="104" y="36"/>
                </a:cxn>
                <a:cxn ang="0">
                  <a:pos x="108" y="62"/>
                </a:cxn>
                <a:cxn ang="0">
                  <a:pos x="114" y="84"/>
                </a:cxn>
                <a:cxn ang="0">
                  <a:pos x="78" y="92"/>
                </a:cxn>
                <a:cxn ang="0">
                  <a:pos x="67" y="111"/>
                </a:cxn>
                <a:cxn ang="0">
                  <a:pos x="42" y="124"/>
                </a:cxn>
                <a:cxn ang="0">
                  <a:pos x="17" y="138"/>
                </a:cxn>
              </a:cxnLst>
              <a:rect l="0" t="0" r="r" b="b"/>
              <a:pathLst>
                <a:path w="319" h="318">
                  <a:moveTo>
                    <a:pt x="3" y="144"/>
                  </a:moveTo>
                  <a:lnTo>
                    <a:pt x="0" y="165"/>
                  </a:lnTo>
                  <a:lnTo>
                    <a:pt x="0" y="172"/>
                  </a:lnTo>
                  <a:lnTo>
                    <a:pt x="15" y="182"/>
                  </a:lnTo>
                  <a:lnTo>
                    <a:pt x="30" y="193"/>
                  </a:lnTo>
                  <a:lnTo>
                    <a:pt x="44" y="202"/>
                  </a:lnTo>
                  <a:lnTo>
                    <a:pt x="59" y="213"/>
                  </a:lnTo>
                  <a:lnTo>
                    <a:pt x="71" y="222"/>
                  </a:lnTo>
                  <a:lnTo>
                    <a:pt x="81" y="230"/>
                  </a:lnTo>
                  <a:lnTo>
                    <a:pt x="93" y="240"/>
                  </a:lnTo>
                  <a:lnTo>
                    <a:pt x="105" y="248"/>
                  </a:lnTo>
                  <a:lnTo>
                    <a:pt x="116" y="256"/>
                  </a:lnTo>
                  <a:lnTo>
                    <a:pt x="128" y="266"/>
                  </a:lnTo>
                  <a:lnTo>
                    <a:pt x="140" y="274"/>
                  </a:lnTo>
                  <a:lnTo>
                    <a:pt x="151" y="283"/>
                  </a:lnTo>
                  <a:lnTo>
                    <a:pt x="151" y="289"/>
                  </a:lnTo>
                  <a:lnTo>
                    <a:pt x="159" y="295"/>
                  </a:lnTo>
                  <a:lnTo>
                    <a:pt x="181" y="304"/>
                  </a:lnTo>
                  <a:lnTo>
                    <a:pt x="182" y="318"/>
                  </a:lnTo>
                  <a:lnTo>
                    <a:pt x="199" y="318"/>
                  </a:lnTo>
                  <a:lnTo>
                    <a:pt x="212" y="315"/>
                  </a:lnTo>
                  <a:lnTo>
                    <a:pt x="224" y="313"/>
                  </a:lnTo>
                  <a:lnTo>
                    <a:pt x="236" y="300"/>
                  </a:lnTo>
                  <a:lnTo>
                    <a:pt x="249" y="288"/>
                  </a:lnTo>
                  <a:lnTo>
                    <a:pt x="266" y="276"/>
                  </a:lnTo>
                  <a:lnTo>
                    <a:pt x="284" y="264"/>
                  </a:lnTo>
                  <a:lnTo>
                    <a:pt x="301" y="252"/>
                  </a:lnTo>
                  <a:lnTo>
                    <a:pt x="319" y="240"/>
                  </a:lnTo>
                  <a:lnTo>
                    <a:pt x="312" y="225"/>
                  </a:lnTo>
                  <a:lnTo>
                    <a:pt x="294" y="223"/>
                  </a:lnTo>
                  <a:lnTo>
                    <a:pt x="288" y="207"/>
                  </a:lnTo>
                  <a:lnTo>
                    <a:pt x="278" y="193"/>
                  </a:lnTo>
                  <a:lnTo>
                    <a:pt x="285" y="186"/>
                  </a:lnTo>
                  <a:lnTo>
                    <a:pt x="284" y="165"/>
                  </a:lnTo>
                  <a:lnTo>
                    <a:pt x="284" y="145"/>
                  </a:lnTo>
                  <a:lnTo>
                    <a:pt x="277" y="123"/>
                  </a:lnTo>
                  <a:lnTo>
                    <a:pt x="278" y="120"/>
                  </a:lnTo>
                  <a:lnTo>
                    <a:pt x="275" y="103"/>
                  </a:lnTo>
                  <a:lnTo>
                    <a:pt x="270" y="86"/>
                  </a:lnTo>
                  <a:lnTo>
                    <a:pt x="258" y="73"/>
                  </a:lnTo>
                  <a:lnTo>
                    <a:pt x="246" y="55"/>
                  </a:lnTo>
                  <a:lnTo>
                    <a:pt x="253" y="42"/>
                  </a:lnTo>
                  <a:lnTo>
                    <a:pt x="259" y="28"/>
                  </a:lnTo>
                  <a:lnTo>
                    <a:pt x="258" y="4"/>
                  </a:lnTo>
                  <a:lnTo>
                    <a:pt x="261" y="0"/>
                  </a:lnTo>
                  <a:lnTo>
                    <a:pt x="237" y="0"/>
                  </a:lnTo>
                  <a:lnTo>
                    <a:pt x="225" y="0"/>
                  </a:lnTo>
                  <a:lnTo>
                    <a:pt x="209" y="2"/>
                  </a:lnTo>
                  <a:lnTo>
                    <a:pt x="192" y="2"/>
                  </a:lnTo>
                  <a:lnTo>
                    <a:pt x="175" y="2"/>
                  </a:lnTo>
                  <a:lnTo>
                    <a:pt x="156" y="8"/>
                  </a:lnTo>
                  <a:lnTo>
                    <a:pt x="137" y="14"/>
                  </a:lnTo>
                  <a:lnTo>
                    <a:pt x="128" y="18"/>
                  </a:lnTo>
                  <a:lnTo>
                    <a:pt x="114" y="25"/>
                  </a:lnTo>
                  <a:lnTo>
                    <a:pt x="101" y="32"/>
                  </a:lnTo>
                  <a:lnTo>
                    <a:pt x="104" y="36"/>
                  </a:lnTo>
                  <a:lnTo>
                    <a:pt x="105" y="49"/>
                  </a:lnTo>
                  <a:lnTo>
                    <a:pt x="108" y="62"/>
                  </a:lnTo>
                  <a:lnTo>
                    <a:pt x="117" y="79"/>
                  </a:lnTo>
                  <a:lnTo>
                    <a:pt x="114" y="84"/>
                  </a:lnTo>
                  <a:lnTo>
                    <a:pt x="98" y="85"/>
                  </a:lnTo>
                  <a:lnTo>
                    <a:pt x="78" y="92"/>
                  </a:lnTo>
                  <a:lnTo>
                    <a:pt x="78" y="103"/>
                  </a:lnTo>
                  <a:lnTo>
                    <a:pt x="67" y="111"/>
                  </a:lnTo>
                  <a:lnTo>
                    <a:pt x="56" y="118"/>
                  </a:lnTo>
                  <a:lnTo>
                    <a:pt x="42" y="124"/>
                  </a:lnTo>
                  <a:lnTo>
                    <a:pt x="29" y="130"/>
                  </a:lnTo>
                  <a:lnTo>
                    <a:pt x="17" y="138"/>
                  </a:lnTo>
                  <a:lnTo>
                    <a:pt x="3" y="1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5" name="Freeform 124"/>
            <p:cNvSpPr>
              <a:spLocks/>
            </p:cNvSpPr>
            <p:nvPr/>
          </p:nvSpPr>
          <p:spPr bwMode="auto">
            <a:xfrm>
              <a:off x="2289" y="2130"/>
              <a:ext cx="11" cy="11"/>
            </a:xfrm>
            <a:custGeom>
              <a:avLst/>
              <a:gdLst/>
              <a:ahLst/>
              <a:cxnLst>
                <a:cxn ang="0">
                  <a:pos x="9" y="0"/>
                </a:cxn>
                <a:cxn ang="0">
                  <a:pos x="8" y="7"/>
                </a:cxn>
                <a:cxn ang="0">
                  <a:pos x="0" y="9"/>
                </a:cxn>
                <a:cxn ang="0">
                  <a:pos x="9" y="0"/>
                </a:cxn>
              </a:cxnLst>
              <a:rect l="0" t="0" r="r" b="b"/>
              <a:pathLst>
                <a:path w="9" h="9">
                  <a:moveTo>
                    <a:pt x="9" y="0"/>
                  </a:moveTo>
                  <a:lnTo>
                    <a:pt x="8" y="7"/>
                  </a:lnTo>
                  <a:lnTo>
                    <a:pt x="0" y="9"/>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6" name="Freeform 125"/>
            <p:cNvSpPr>
              <a:spLocks/>
            </p:cNvSpPr>
            <p:nvPr/>
          </p:nvSpPr>
          <p:spPr bwMode="auto">
            <a:xfrm>
              <a:off x="2247" y="2136"/>
              <a:ext cx="9" cy="9"/>
            </a:xfrm>
            <a:custGeom>
              <a:avLst/>
              <a:gdLst/>
              <a:ahLst/>
              <a:cxnLst>
                <a:cxn ang="0">
                  <a:pos x="8" y="0"/>
                </a:cxn>
                <a:cxn ang="0">
                  <a:pos x="0" y="7"/>
                </a:cxn>
                <a:cxn ang="0">
                  <a:pos x="0" y="1"/>
                </a:cxn>
                <a:cxn ang="0">
                  <a:pos x="8" y="0"/>
                </a:cxn>
              </a:cxnLst>
              <a:rect l="0" t="0" r="r" b="b"/>
              <a:pathLst>
                <a:path w="8" h="7">
                  <a:moveTo>
                    <a:pt x="8" y="0"/>
                  </a:moveTo>
                  <a:lnTo>
                    <a:pt x="0" y="7"/>
                  </a:lnTo>
                  <a:lnTo>
                    <a:pt x="0" y="1"/>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7" name="Freeform 126"/>
            <p:cNvSpPr>
              <a:spLocks/>
            </p:cNvSpPr>
            <p:nvPr/>
          </p:nvSpPr>
          <p:spPr bwMode="auto">
            <a:xfrm>
              <a:off x="2262" y="2147"/>
              <a:ext cx="7" cy="3"/>
            </a:xfrm>
            <a:custGeom>
              <a:avLst/>
              <a:gdLst/>
              <a:ahLst/>
              <a:cxnLst>
                <a:cxn ang="0">
                  <a:pos x="6" y="0"/>
                </a:cxn>
                <a:cxn ang="0">
                  <a:pos x="5" y="4"/>
                </a:cxn>
                <a:cxn ang="0">
                  <a:pos x="0" y="0"/>
                </a:cxn>
                <a:cxn ang="0">
                  <a:pos x="6" y="0"/>
                </a:cxn>
              </a:cxnLst>
              <a:rect l="0" t="0" r="r" b="b"/>
              <a:pathLst>
                <a:path w="6" h="4">
                  <a:moveTo>
                    <a:pt x="6" y="0"/>
                  </a:moveTo>
                  <a:lnTo>
                    <a:pt x="5" y="4"/>
                  </a:lnTo>
                  <a:lnTo>
                    <a:pt x="0" y="0"/>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8" name="Freeform 127"/>
            <p:cNvSpPr>
              <a:spLocks/>
            </p:cNvSpPr>
            <p:nvPr/>
          </p:nvSpPr>
          <p:spPr bwMode="auto">
            <a:xfrm>
              <a:off x="2300" y="2121"/>
              <a:ext cx="7" cy="2"/>
            </a:xfrm>
            <a:custGeom>
              <a:avLst/>
              <a:gdLst/>
              <a:ahLst/>
              <a:cxnLst>
                <a:cxn ang="0">
                  <a:pos x="4" y="3"/>
                </a:cxn>
                <a:cxn ang="0">
                  <a:pos x="6" y="0"/>
                </a:cxn>
                <a:cxn ang="0">
                  <a:pos x="0" y="3"/>
                </a:cxn>
                <a:cxn ang="0">
                  <a:pos x="4" y="3"/>
                </a:cxn>
              </a:cxnLst>
              <a:rect l="0" t="0" r="r" b="b"/>
              <a:pathLst>
                <a:path w="6" h="3">
                  <a:moveTo>
                    <a:pt x="4" y="3"/>
                  </a:moveTo>
                  <a:lnTo>
                    <a:pt x="6" y="0"/>
                  </a:lnTo>
                  <a:lnTo>
                    <a:pt x="0" y="3"/>
                  </a:lnTo>
                  <a:lnTo>
                    <a:pt x="4"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29" name="Freeform 128"/>
            <p:cNvSpPr>
              <a:spLocks/>
            </p:cNvSpPr>
            <p:nvPr/>
          </p:nvSpPr>
          <p:spPr bwMode="auto">
            <a:xfrm>
              <a:off x="2109" y="2374"/>
              <a:ext cx="4" cy="2"/>
            </a:xfrm>
            <a:custGeom>
              <a:avLst/>
              <a:gdLst/>
              <a:ahLst/>
              <a:cxnLst>
                <a:cxn ang="0">
                  <a:pos x="3" y="1"/>
                </a:cxn>
                <a:cxn ang="0">
                  <a:pos x="1" y="1"/>
                </a:cxn>
                <a:cxn ang="0">
                  <a:pos x="0" y="0"/>
                </a:cxn>
                <a:cxn ang="0">
                  <a:pos x="3" y="1"/>
                </a:cxn>
              </a:cxnLst>
              <a:rect l="0" t="0" r="r" b="b"/>
              <a:pathLst>
                <a:path w="3" h="1">
                  <a:moveTo>
                    <a:pt x="3" y="1"/>
                  </a:moveTo>
                  <a:lnTo>
                    <a:pt x="1" y="1"/>
                  </a:lnTo>
                  <a:lnTo>
                    <a:pt x="0" y="0"/>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0" name="Rectangle 129"/>
            <p:cNvSpPr>
              <a:spLocks noChangeArrowheads="1"/>
            </p:cNvSpPr>
            <p:nvPr/>
          </p:nvSpPr>
          <p:spPr bwMode="auto">
            <a:xfrm>
              <a:off x="2442" y="1983"/>
              <a:ext cx="0" cy="2"/>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131" name="Freeform 130"/>
            <p:cNvSpPr>
              <a:spLocks/>
            </p:cNvSpPr>
            <p:nvPr/>
          </p:nvSpPr>
          <p:spPr bwMode="auto">
            <a:xfrm>
              <a:off x="2691" y="2043"/>
              <a:ext cx="273" cy="273"/>
            </a:xfrm>
            <a:custGeom>
              <a:avLst/>
              <a:gdLst/>
              <a:ahLst/>
              <a:cxnLst>
                <a:cxn ang="0">
                  <a:pos x="230" y="245"/>
                </a:cxn>
                <a:cxn ang="0">
                  <a:pos x="230" y="236"/>
                </a:cxn>
                <a:cxn ang="0">
                  <a:pos x="246" y="236"/>
                </a:cxn>
                <a:cxn ang="0">
                  <a:pos x="245" y="218"/>
                </a:cxn>
                <a:cxn ang="0">
                  <a:pos x="245" y="200"/>
                </a:cxn>
                <a:cxn ang="0">
                  <a:pos x="244" y="183"/>
                </a:cxn>
                <a:cxn ang="0">
                  <a:pos x="242" y="167"/>
                </a:cxn>
                <a:cxn ang="0">
                  <a:pos x="241" y="150"/>
                </a:cxn>
                <a:cxn ang="0">
                  <a:pos x="240" y="133"/>
                </a:cxn>
                <a:cxn ang="0">
                  <a:pos x="239" y="116"/>
                </a:cxn>
                <a:cxn ang="0">
                  <a:pos x="238" y="99"/>
                </a:cxn>
                <a:cxn ang="0">
                  <a:pos x="236" y="83"/>
                </a:cxn>
                <a:cxn ang="0">
                  <a:pos x="235" y="65"/>
                </a:cxn>
                <a:cxn ang="0">
                  <a:pos x="235" y="51"/>
                </a:cxn>
                <a:cxn ang="0">
                  <a:pos x="234" y="38"/>
                </a:cxn>
                <a:cxn ang="0">
                  <a:pos x="236" y="26"/>
                </a:cxn>
                <a:cxn ang="0">
                  <a:pos x="228" y="20"/>
                </a:cxn>
                <a:cxn ang="0">
                  <a:pos x="205" y="14"/>
                </a:cxn>
                <a:cxn ang="0">
                  <a:pos x="202" y="8"/>
                </a:cxn>
                <a:cxn ang="0">
                  <a:pos x="182" y="3"/>
                </a:cxn>
                <a:cxn ang="0">
                  <a:pos x="170" y="11"/>
                </a:cxn>
                <a:cxn ang="0">
                  <a:pos x="160" y="18"/>
                </a:cxn>
                <a:cxn ang="0">
                  <a:pos x="161" y="42"/>
                </a:cxn>
                <a:cxn ang="0">
                  <a:pos x="145" y="51"/>
                </a:cxn>
                <a:cxn ang="0">
                  <a:pos x="127" y="43"/>
                </a:cxn>
                <a:cxn ang="0">
                  <a:pos x="110" y="35"/>
                </a:cxn>
                <a:cxn ang="0">
                  <a:pos x="92" y="30"/>
                </a:cxn>
                <a:cxn ang="0">
                  <a:pos x="85" y="13"/>
                </a:cxn>
                <a:cxn ang="0">
                  <a:pos x="68" y="9"/>
                </a:cxn>
                <a:cxn ang="0">
                  <a:pos x="52" y="5"/>
                </a:cxn>
                <a:cxn ang="0">
                  <a:pos x="30" y="0"/>
                </a:cxn>
                <a:cxn ang="0">
                  <a:pos x="29" y="14"/>
                </a:cxn>
                <a:cxn ang="0">
                  <a:pos x="19" y="23"/>
                </a:cxn>
                <a:cxn ang="0">
                  <a:pos x="10" y="31"/>
                </a:cxn>
                <a:cxn ang="0">
                  <a:pos x="10" y="45"/>
                </a:cxn>
                <a:cxn ang="0">
                  <a:pos x="1" y="53"/>
                </a:cxn>
                <a:cxn ang="0">
                  <a:pos x="0" y="56"/>
                </a:cxn>
                <a:cxn ang="0">
                  <a:pos x="7" y="78"/>
                </a:cxn>
                <a:cxn ang="0">
                  <a:pos x="7" y="98"/>
                </a:cxn>
                <a:cxn ang="0">
                  <a:pos x="8" y="119"/>
                </a:cxn>
                <a:cxn ang="0">
                  <a:pos x="1" y="126"/>
                </a:cxn>
                <a:cxn ang="0">
                  <a:pos x="11" y="140"/>
                </a:cxn>
                <a:cxn ang="0">
                  <a:pos x="17" y="156"/>
                </a:cxn>
                <a:cxn ang="0">
                  <a:pos x="35" y="158"/>
                </a:cxn>
                <a:cxn ang="0">
                  <a:pos x="42" y="173"/>
                </a:cxn>
                <a:cxn ang="0">
                  <a:pos x="64" y="179"/>
                </a:cxn>
                <a:cxn ang="0">
                  <a:pos x="77" y="189"/>
                </a:cxn>
                <a:cxn ang="0">
                  <a:pos x="88" y="182"/>
                </a:cxn>
                <a:cxn ang="0">
                  <a:pos x="104" y="173"/>
                </a:cxn>
                <a:cxn ang="0">
                  <a:pos x="120" y="182"/>
                </a:cxn>
                <a:cxn ang="0">
                  <a:pos x="136" y="191"/>
                </a:cxn>
                <a:cxn ang="0">
                  <a:pos x="151" y="200"/>
                </a:cxn>
                <a:cxn ang="0">
                  <a:pos x="167" y="209"/>
                </a:cxn>
                <a:cxn ang="0">
                  <a:pos x="182" y="218"/>
                </a:cxn>
                <a:cxn ang="0">
                  <a:pos x="199" y="227"/>
                </a:cxn>
                <a:cxn ang="0">
                  <a:pos x="215" y="236"/>
                </a:cxn>
                <a:cxn ang="0">
                  <a:pos x="230" y="245"/>
                </a:cxn>
              </a:cxnLst>
              <a:rect l="0" t="0" r="r" b="b"/>
              <a:pathLst>
                <a:path w="246" h="245">
                  <a:moveTo>
                    <a:pt x="230" y="245"/>
                  </a:moveTo>
                  <a:lnTo>
                    <a:pt x="230" y="236"/>
                  </a:lnTo>
                  <a:lnTo>
                    <a:pt x="246" y="236"/>
                  </a:lnTo>
                  <a:lnTo>
                    <a:pt x="245" y="218"/>
                  </a:lnTo>
                  <a:lnTo>
                    <a:pt x="245" y="200"/>
                  </a:lnTo>
                  <a:lnTo>
                    <a:pt x="244" y="183"/>
                  </a:lnTo>
                  <a:lnTo>
                    <a:pt x="242" y="167"/>
                  </a:lnTo>
                  <a:lnTo>
                    <a:pt x="241" y="150"/>
                  </a:lnTo>
                  <a:lnTo>
                    <a:pt x="240" y="133"/>
                  </a:lnTo>
                  <a:lnTo>
                    <a:pt x="239" y="116"/>
                  </a:lnTo>
                  <a:lnTo>
                    <a:pt x="238" y="99"/>
                  </a:lnTo>
                  <a:lnTo>
                    <a:pt x="236" y="83"/>
                  </a:lnTo>
                  <a:lnTo>
                    <a:pt x="235" y="65"/>
                  </a:lnTo>
                  <a:lnTo>
                    <a:pt x="235" y="51"/>
                  </a:lnTo>
                  <a:lnTo>
                    <a:pt x="234" y="38"/>
                  </a:lnTo>
                  <a:lnTo>
                    <a:pt x="236" y="26"/>
                  </a:lnTo>
                  <a:lnTo>
                    <a:pt x="228" y="20"/>
                  </a:lnTo>
                  <a:lnTo>
                    <a:pt x="205" y="14"/>
                  </a:lnTo>
                  <a:lnTo>
                    <a:pt x="202" y="8"/>
                  </a:lnTo>
                  <a:lnTo>
                    <a:pt x="182" y="3"/>
                  </a:lnTo>
                  <a:lnTo>
                    <a:pt x="170" y="11"/>
                  </a:lnTo>
                  <a:lnTo>
                    <a:pt x="160" y="18"/>
                  </a:lnTo>
                  <a:lnTo>
                    <a:pt x="161" y="42"/>
                  </a:lnTo>
                  <a:lnTo>
                    <a:pt x="145" y="51"/>
                  </a:lnTo>
                  <a:lnTo>
                    <a:pt x="127" y="43"/>
                  </a:lnTo>
                  <a:lnTo>
                    <a:pt x="110" y="35"/>
                  </a:lnTo>
                  <a:lnTo>
                    <a:pt x="92" y="30"/>
                  </a:lnTo>
                  <a:lnTo>
                    <a:pt x="85" y="13"/>
                  </a:lnTo>
                  <a:lnTo>
                    <a:pt x="68" y="9"/>
                  </a:lnTo>
                  <a:lnTo>
                    <a:pt x="52" y="5"/>
                  </a:lnTo>
                  <a:lnTo>
                    <a:pt x="30" y="0"/>
                  </a:lnTo>
                  <a:lnTo>
                    <a:pt x="29" y="14"/>
                  </a:lnTo>
                  <a:lnTo>
                    <a:pt x="19" y="23"/>
                  </a:lnTo>
                  <a:lnTo>
                    <a:pt x="10" y="31"/>
                  </a:lnTo>
                  <a:lnTo>
                    <a:pt x="10" y="45"/>
                  </a:lnTo>
                  <a:lnTo>
                    <a:pt x="1" y="53"/>
                  </a:lnTo>
                  <a:lnTo>
                    <a:pt x="0" y="56"/>
                  </a:lnTo>
                  <a:lnTo>
                    <a:pt x="7" y="78"/>
                  </a:lnTo>
                  <a:lnTo>
                    <a:pt x="7" y="98"/>
                  </a:lnTo>
                  <a:lnTo>
                    <a:pt x="8" y="119"/>
                  </a:lnTo>
                  <a:lnTo>
                    <a:pt x="1" y="126"/>
                  </a:lnTo>
                  <a:lnTo>
                    <a:pt x="11" y="140"/>
                  </a:lnTo>
                  <a:lnTo>
                    <a:pt x="17" y="156"/>
                  </a:lnTo>
                  <a:lnTo>
                    <a:pt x="35" y="158"/>
                  </a:lnTo>
                  <a:lnTo>
                    <a:pt x="42" y="173"/>
                  </a:lnTo>
                  <a:lnTo>
                    <a:pt x="64" y="179"/>
                  </a:lnTo>
                  <a:lnTo>
                    <a:pt x="77" y="189"/>
                  </a:lnTo>
                  <a:lnTo>
                    <a:pt x="88" y="182"/>
                  </a:lnTo>
                  <a:lnTo>
                    <a:pt x="104" y="173"/>
                  </a:lnTo>
                  <a:lnTo>
                    <a:pt x="120" y="182"/>
                  </a:lnTo>
                  <a:lnTo>
                    <a:pt x="136" y="191"/>
                  </a:lnTo>
                  <a:lnTo>
                    <a:pt x="151" y="200"/>
                  </a:lnTo>
                  <a:lnTo>
                    <a:pt x="167" y="209"/>
                  </a:lnTo>
                  <a:lnTo>
                    <a:pt x="182" y="218"/>
                  </a:lnTo>
                  <a:lnTo>
                    <a:pt x="199" y="227"/>
                  </a:lnTo>
                  <a:lnTo>
                    <a:pt x="215" y="236"/>
                  </a:lnTo>
                  <a:lnTo>
                    <a:pt x="230" y="2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2" name="Freeform 131"/>
            <p:cNvSpPr>
              <a:spLocks/>
            </p:cNvSpPr>
            <p:nvPr/>
          </p:nvSpPr>
          <p:spPr bwMode="auto">
            <a:xfrm>
              <a:off x="2318" y="2207"/>
              <a:ext cx="286" cy="296"/>
            </a:xfrm>
            <a:custGeom>
              <a:avLst/>
              <a:gdLst/>
              <a:ahLst/>
              <a:cxnLst>
                <a:cxn ang="0">
                  <a:pos x="56" y="250"/>
                </a:cxn>
                <a:cxn ang="0">
                  <a:pos x="66" y="267"/>
                </a:cxn>
                <a:cxn ang="0">
                  <a:pos x="79" y="265"/>
                </a:cxn>
                <a:cxn ang="0">
                  <a:pos x="92" y="257"/>
                </a:cxn>
                <a:cxn ang="0">
                  <a:pos x="106" y="262"/>
                </a:cxn>
                <a:cxn ang="0">
                  <a:pos x="114" y="234"/>
                </a:cxn>
                <a:cxn ang="0">
                  <a:pos x="126" y="219"/>
                </a:cxn>
                <a:cxn ang="0">
                  <a:pos x="138" y="213"/>
                </a:cxn>
                <a:cxn ang="0">
                  <a:pos x="144" y="204"/>
                </a:cxn>
                <a:cxn ang="0">
                  <a:pos x="160" y="195"/>
                </a:cxn>
                <a:cxn ang="0">
                  <a:pos x="181" y="178"/>
                </a:cxn>
                <a:cxn ang="0">
                  <a:pos x="198" y="180"/>
                </a:cxn>
                <a:cxn ang="0">
                  <a:pos x="230" y="174"/>
                </a:cxn>
                <a:cxn ang="0">
                  <a:pos x="256" y="157"/>
                </a:cxn>
                <a:cxn ang="0">
                  <a:pos x="257" y="131"/>
                </a:cxn>
                <a:cxn ang="0">
                  <a:pos x="258" y="105"/>
                </a:cxn>
                <a:cxn ang="0">
                  <a:pos x="240" y="91"/>
                </a:cxn>
                <a:cxn ang="0">
                  <a:pos x="210" y="76"/>
                </a:cxn>
                <a:cxn ang="0">
                  <a:pos x="199" y="61"/>
                </a:cxn>
                <a:cxn ang="0">
                  <a:pos x="175" y="43"/>
                </a:cxn>
                <a:cxn ang="0">
                  <a:pos x="152" y="27"/>
                </a:cxn>
                <a:cxn ang="0">
                  <a:pos x="130" y="9"/>
                </a:cxn>
                <a:cxn ang="0">
                  <a:pos x="104" y="0"/>
                </a:cxn>
                <a:cxn ang="0">
                  <a:pos x="92" y="19"/>
                </a:cxn>
                <a:cxn ang="0">
                  <a:pos x="96" y="58"/>
                </a:cxn>
                <a:cxn ang="0">
                  <a:pos x="100" y="95"/>
                </a:cxn>
                <a:cxn ang="0">
                  <a:pos x="102" y="133"/>
                </a:cxn>
                <a:cxn ang="0">
                  <a:pos x="108" y="156"/>
                </a:cxn>
                <a:cxn ang="0">
                  <a:pos x="91" y="171"/>
                </a:cxn>
                <a:cxn ang="0">
                  <a:pos x="61" y="171"/>
                </a:cxn>
                <a:cxn ang="0">
                  <a:pos x="44" y="169"/>
                </a:cxn>
                <a:cxn ang="0">
                  <a:pos x="19" y="175"/>
                </a:cxn>
                <a:cxn ang="0">
                  <a:pos x="2" y="185"/>
                </a:cxn>
                <a:cxn ang="0">
                  <a:pos x="4" y="202"/>
                </a:cxn>
                <a:cxn ang="0">
                  <a:pos x="13" y="226"/>
                </a:cxn>
                <a:cxn ang="0">
                  <a:pos x="20" y="231"/>
                </a:cxn>
                <a:cxn ang="0">
                  <a:pos x="35" y="232"/>
                </a:cxn>
                <a:cxn ang="0">
                  <a:pos x="48" y="225"/>
                </a:cxn>
                <a:cxn ang="0">
                  <a:pos x="59" y="244"/>
                </a:cxn>
              </a:cxnLst>
              <a:rect l="0" t="0" r="r" b="b"/>
              <a:pathLst>
                <a:path w="258" h="267">
                  <a:moveTo>
                    <a:pt x="59" y="244"/>
                  </a:moveTo>
                  <a:lnTo>
                    <a:pt x="56" y="250"/>
                  </a:lnTo>
                  <a:lnTo>
                    <a:pt x="59" y="250"/>
                  </a:lnTo>
                  <a:lnTo>
                    <a:pt x="66" y="267"/>
                  </a:lnTo>
                  <a:lnTo>
                    <a:pt x="70" y="263"/>
                  </a:lnTo>
                  <a:lnTo>
                    <a:pt x="79" y="265"/>
                  </a:lnTo>
                  <a:lnTo>
                    <a:pt x="86" y="261"/>
                  </a:lnTo>
                  <a:lnTo>
                    <a:pt x="92" y="257"/>
                  </a:lnTo>
                  <a:lnTo>
                    <a:pt x="95" y="264"/>
                  </a:lnTo>
                  <a:lnTo>
                    <a:pt x="106" y="262"/>
                  </a:lnTo>
                  <a:lnTo>
                    <a:pt x="109" y="238"/>
                  </a:lnTo>
                  <a:lnTo>
                    <a:pt x="114" y="234"/>
                  </a:lnTo>
                  <a:lnTo>
                    <a:pt x="122" y="226"/>
                  </a:lnTo>
                  <a:lnTo>
                    <a:pt x="126" y="219"/>
                  </a:lnTo>
                  <a:lnTo>
                    <a:pt x="128" y="208"/>
                  </a:lnTo>
                  <a:lnTo>
                    <a:pt x="138" y="213"/>
                  </a:lnTo>
                  <a:lnTo>
                    <a:pt x="140" y="205"/>
                  </a:lnTo>
                  <a:lnTo>
                    <a:pt x="144" y="204"/>
                  </a:lnTo>
                  <a:lnTo>
                    <a:pt x="150" y="195"/>
                  </a:lnTo>
                  <a:lnTo>
                    <a:pt x="160" y="195"/>
                  </a:lnTo>
                  <a:lnTo>
                    <a:pt x="161" y="187"/>
                  </a:lnTo>
                  <a:lnTo>
                    <a:pt x="181" y="178"/>
                  </a:lnTo>
                  <a:lnTo>
                    <a:pt x="196" y="180"/>
                  </a:lnTo>
                  <a:lnTo>
                    <a:pt x="198" y="180"/>
                  </a:lnTo>
                  <a:lnTo>
                    <a:pt x="212" y="174"/>
                  </a:lnTo>
                  <a:lnTo>
                    <a:pt x="230" y="174"/>
                  </a:lnTo>
                  <a:lnTo>
                    <a:pt x="247" y="173"/>
                  </a:lnTo>
                  <a:lnTo>
                    <a:pt x="256" y="157"/>
                  </a:lnTo>
                  <a:lnTo>
                    <a:pt x="257" y="144"/>
                  </a:lnTo>
                  <a:lnTo>
                    <a:pt x="257" y="131"/>
                  </a:lnTo>
                  <a:lnTo>
                    <a:pt x="258" y="118"/>
                  </a:lnTo>
                  <a:lnTo>
                    <a:pt x="258" y="105"/>
                  </a:lnTo>
                  <a:lnTo>
                    <a:pt x="241" y="105"/>
                  </a:lnTo>
                  <a:lnTo>
                    <a:pt x="240" y="91"/>
                  </a:lnTo>
                  <a:lnTo>
                    <a:pt x="218" y="82"/>
                  </a:lnTo>
                  <a:lnTo>
                    <a:pt x="210" y="76"/>
                  </a:lnTo>
                  <a:lnTo>
                    <a:pt x="210" y="70"/>
                  </a:lnTo>
                  <a:lnTo>
                    <a:pt x="199" y="61"/>
                  </a:lnTo>
                  <a:lnTo>
                    <a:pt x="187" y="53"/>
                  </a:lnTo>
                  <a:lnTo>
                    <a:pt x="175" y="43"/>
                  </a:lnTo>
                  <a:lnTo>
                    <a:pt x="164" y="35"/>
                  </a:lnTo>
                  <a:lnTo>
                    <a:pt x="152" y="27"/>
                  </a:lnTo>
                  <a:lnTo>
                    <a:pt x="140" y="17"/>
                  </a:lnTo>
                  <a:lnTo>
                    <a:pt x="130" y="9"/>
                  </a:lnTo>
                  <a:lnTo>
                    <a:pt x="118" y="0"/>
                  </a:lnTo>
                  <a:lnTo>
                    <a:pt x="104" y="0"/>
                  </a:lnTo>
                  <a:lnTo>
                    <a:pt x="90" y="0"/>
                  </a:lnTo>
                  <a:lnTo>
                    <a:pt x="92" y="19"/>
                  </a:lnTo>
                  <a:lnTo>
                    <a:pt x="94" y="39"/>
                  </a:lnTo>
                  <a:lnTo>
                    <a:pt x="96" y="58"/>
                  </a:lnTo>
                  <a:lnTo>
                    <a:pt x="97" y="76"/>
                  </a:lnTo>
                  <a:lnTo>
                    <a:pt x="100" y="95"/>
                  </a:lnTo>
                  <a:lnTo>
                    <a:pt x="101" y="114"/>
                  </a:lnTo>
                  <a:lnTo>
                    <a:pt x="102" y="133"/>
                  </a:lnTo>
                  <a:lnTo>
                    <a:pt x="104" y="153"/>
                  </a:lnTo>
                  <a:lnTo>
                    <a:pt x="108" y="156"/>
                  </a:lnTo>
                  <a:lnTo>
                    <a:pt x="106" y="171"/>
                  </a:lnTo>
                  <a:lnTo>
                    <a:pt x="91" y="171"/>
                  </a:lnTo>
                  <a:lnTo>
                    <a:pt x="76" y="171"/>
                  </a:lnTo>
                  <a:lnTo>
                    <a:pt x="61" y="171"/>
                  </a:lnTo>
                  <a:lnTo>
                    <a:pt x="46" y="171"/>
                  </a:lnTo>
                  <a:lnTo>
                    <a:pt x="44" y="169"/>
                  </a:lnTo>
                  <a:lnTo>
                    <a:pt x="22" y="174"/>
                  </a:lnTo>
                  <a:lnTo>
                    <a:pt x="19" y="175"/>
                  </a:lnTo>
                  <a:lnTo>
                    <a:pt x="10" y="169"/>
                  </a:lnTo>
                  <a:lnTo>
                    <a:pt x="2" y="185"/>
                  </a:lnTo>
                  <a:lnTo>
                    <a:pt x="0" y="184"/>
                  </a:lnTo>
                  <a:lnTo>
                    <a:pt x="4" y="202"/>
                  </a:lnTo>
                  <a:lnTo>
                    <a:pt x="8" y="209"/>
                  </a:lnTo>
                  <a:lnTo>
                    <a:pt x="13" y="226"/>
                  </a:lnTo>
                  <a:lnTo>
                    <a:pt x="11" y="231"/>
                  </a:lnTo>
                  <a:lnTo>
                    <a:pt x="20" y="231"/>
                  </a:lnTo>
                  <a:lnTo>
                    <a:pt x="25" y="233"/>
                  </a:lnTo>
                  <a:lnTo>
                    <a:pt x="35" y="232"/>
                  </a:lnTo>
                  <a:lnTo>
                    <a:pt x="46" y="228"/>
                  </a:lnTo>
                  <a:lnTo>
                    <a:pt x="48" y="225"/>
                  </a:lnTo>
                  <a:lnTo>
                    <a:pt x="53" y="239"/>
                  </a:lnTo>
                  <a:lnTo>
                    <a:pt x="59" y="2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3" name="Freeform 132"/>
            <p:cNvSpPr>
              <a:spLocks/>
            </p:cNvSpPr>
            <p:nvPr/>
          </p:nvSpPr>
          <p:spPr bwMode="auto">
            <a:xfrm>
              <a:off x="2769" y="1987"/>
              <a:ext cx="4" cy="3"/>
            </a:xfrm>
            <a:custGeom>
              <a:avLst/>
              <a:gdLst/>
              <a:ahLst/>
              <a:cxnLst>
                <a:cxn ang="0">
                  <a:pos x="3" y="2"/>
                </a:cxn>
                <a:cxn ang="0">
                  <a:pos x="2" y="3"/>
                </a:cxn>
                <a:cxn ang="0">
                  <a:pos x="0" y="0"/>
                </a:cxn>
                <a:cxn ang="0">
                  <a:pos x="3" y="2"/>
                </a:cxn>
              </a:cxnLst>
              <a:rect l="0" t="0" r="r" b="b"/>
              <a:pathLst>
                <a:path w="3" h="3">
                  <a:moveTo>
                    <a:pt x="3" y="2"/>
                  </a:moveTo>
                  <a:lnTo>
                    <a:pt x="2" y="3"/>
                  </a:lnTo>
                  <a:lnTo>
                    <a:pt x="0" y="0"/>
                  </a:lnTo>
                  <a:lnTo>
                    <a:pt x="3"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4" name="Freeform 133"/>
            <p:cNvSpPr>
              <a:spLocks/>
            </p:cNvSpPr>
            <p:nvPr/>
          </p:nvSpPr>
          <p:spPr bwMode="auto">
            <a:xfrm>
              <a:off x="2236" y="2161"/>
              <a:ext cx="213" cy="251"/>
            </a:xfrm>
            <a:custGeom>
              <a:avLst/>
              <a:gdLst/>
              <a:ahLst/>
              <a:cxnLst>
                <a:cxn ang="0">
                  <a:pos x="9" y="195"/>
                </a:cxn>
                <a:cxn ang="0">
                  <a:pos x="6" y="202"/>
                </a:cxn>
                <a:cxn ang="0">
                  <a:pos x="11" y="180"/>
                </a:cxn>
                <a:cxn ang="0">
                  <a:pos x="14" y="159"/>
                </a:cxn>
                <a:cxn ang="0">
                  <a:pos x="9" y="142"/>
                </a:cxn>
                <a:cxn ang="0">
                  <a:pos x="11" y="123"/>
                </a:cxn>
                <a:cxn ang="0">
                  <a:pos x="1" y="112"/>
                </a:cxn>
                <a:cxn ang="0">
                  <a:pos x="0" y="117"/>
                </a:cxn>
                <a:cxn ang="0">
                  <a:pos x="2" y="107"/>
                </a:cxn>
                <a:cxn ang="0">
                  <a:pos x="17" y="107"/>
                </a:cxn>
                <a:cxn ang="0">
                  <a:pos x="32" y="107"/>
                </a:cxn>
                <a:cxn ang="0">
                  <a:pos x="48" y="107"/>
                </a:cxn>
                <a:cxn ang="0">
                  <a:pos x="63" y="107"/>
                </a:cxn>
                <a:cxn ang="0">
                  <a:pos x="63" y="92"/>
                </a:cxn>
                <a:cxn ang="0">
                  <a:pos x="63" y="77"/>
                </a:cxn>
                <a:cxn ang="0">
                  <a:pos x="79" y="69"/>
                </a:cxn>
                <a:cxn ang="0">
                  <a:pos x="80" y="46"/>
                </a:cxn>
                <a:cxn ang="0">
                  <a:pos x="80" y="23"/>
                </a:cxn>
                <a:cxn ang="0">
                  <a:pos x="93" y="23"/>
                </a:cxn>
                <a:cxn ang="0">
                  <a:pos x="107" y="23"/>
                </a:cxn>
                <a:cxn ang="0">
                  <a:pos x="119" y="23"/>
                </a:cxn>
                <a:cxn ang="0">
                  <a:pos x="132" y="23"/>
                </a:cxn>
                <a:cxn ang="0">
                  <a:pos x="132" y="0"/>
                </a:cxn>
                <a:cxn ang="0">
                  <a:pos x="147" y="10"/>
                </a:cxn>
                <a:cxn ang="0">
                  <a:pos x="162" y="21"/>
                </a:cxn>
                <a:cxn ang="0">
                  <a:pos x="176" y="30"/>
                </a:cxn>
                <a:cxn ang="0">
                  <a:pos x="191" y="41"/>
                </a:cxn>
                <a:cxn ang="0">
                  <a:pos x="177" y="41"/>
                </a:cxn>
                <a:cxn ang="0">
                  <a:pos x="163" y="41"/>
                </a:cxn>
                <a:cxn ang="0">
                  <a:pos x="165" y="60"/>
                </a:cxn>
                <a:cxn ang="0">
                  <a:pos x="167" y="80"/>
                </a:cxn>
                <a:cxn ang="0">
                  <a:pos x="169" y="99"/>
                </a:cxn>
                <a:cxn ang="0">
                  <a:pos x="170" y="117"/>
                </a:cxn>
                <a:cxn ang="0">
                  <a:pos x="173" y="136"/>
                </a:cxn>
                <a:cxn ang="0">
                  <a:pos x="174" y="155"/>
                </a:cxn>
                <a:cxn ang="0">
                  <a:pos x="175" y="174"/>
                </a:cxn>
                <a:cxn ang="0">
                  <a:pos x="177" y="194"/>
                </a:cxn>
                <a:cxn ang="0">
                  <a:pos x="181" y="197"/>
                </a:cxn>
                <a:cxn ang="0">
                  <a:pos x="179" y="212"/>
                </a:cxn>
                <a:cxn ang="0">
                  <a:pos x="164" y="212"/>
                </a:cxn>
                <a:cxn ang="0">
                  <a:pos x="149" y="212"/>
                </a:cxn>
                <a:cxn ang="0">
                  <a:pos x="134" y="212"/>
                </a:cxn>
                <a:cxn ang="0">
                  <a:pos x="119" y="212"/>
                </a:cxn>
                <a:cxn ang="0">
                  <a:pos x="117" y="210"/>
                </a:cxn>
                <a:cxn ang="0">
                  <a:pos x="95" y="215"/>
                </a:cxn>
                <a:cxn ang="0">
                  <a:pos x="92" y="216"/>
                </a:cxn>
                <a:cxn ang="0">
                  <a:pos x="83" y="210"/>
                </a:cxn>
                <a:cxn ang="0">
                  <a:pos x="75" y="226"/>
                </a:cxn>
                <a:cxn ang="0">
                  <a:pos x="73" y="225"/>
                </a:cxn>
                <a:cxn ang="0">
                  <a:pos x="61" y="213"/>
                </a:cxn>
                <a:cxn ang="0">
                  <a:pos x="49" y="200"/>
                </a:cxn>
                <a:cxn ang="0">
                  <a:pos x="35" y="191"/>
                </a:cxn>
                <a:cxn ang="0">
                  <a:pos x="23" y="192"/>
                </a:cxn>
                <a:cxn ang="0">
                  <a:pos x="9" y="195"/>
                </a:cxn>
              </a:cxnLst>
              <a:rect l="0" t="0" r="r" b="b"/>
              <a:pathLst>
                <a:path w="191" h="226">
                  <a:moveTo>
                    <a:pt x="9" y="195"/>
                  </a:moveTo>
                  <a:lnTo>
                    <a:pt x="6" y="202"/>
                  </a:lnTo>
                  <a:lnTo>
                    <a:pt x="11" y="180"/>
                  </a:lnTo>
                  <a:lnTo>
                    <a:pt x="14" y="159"/>
                  </a:lnTo>
                  <a:lnTo>
                    <a:pt x="9" y="142"/>
                  </a:lnTo>
                  <a:lnTo>
                    <a:pt x="11" y="123"/>
                  </a:lnTo>
                  <a:lnTo>
                    <a:pt x="1" y="112"/>
                  </a:lnTo>
                  <a:lnTo>
                    <a:pt x="0" y="117"/>
                  </a:lnTo>
                  <a:lnTo>
                    <a:pt x="2" y="107"/>
                  </a:lnTo>
                  <a:lnTo>
                    <a:pt x="17" y="107"/>
                  </a:lnTo>
                  <a:lnTo>
                    <a:pt x="32" y="107"/>
                  </a:lnTo>
                  <a:lnTo>
                    <a:pt x="48" y="107"/>
                  </a:lnTo>
                  <a:lnTo>
                    <a:pt x="63" y="107"/>
                  </a:lnTo>
                  <a:lnTo>
                    <a:pt x="63" y="92"/>
                  </a:lnTo>
                  <a:lnTo>
                    <a:pt x="63" y="77"/>
                  </a:lnTo>
                  <a:lnTo>
                    <a:pt x="79" y="69"/>
                  </a:lnTo>
                  <a:lnTo>
                    <a:pt x="80" y="46"/>
                  </a:lnTo>
                  <a:lnTo>
                    <a:pt x="80" y="23"/>
                  </a:lnTo>
                  <a:lnTo>
                    <a:pt x="93" y="23"/>
                  </a:lnTo>
                  <a:lnTo>
                    <a:pt x="107" y="23"/>
                  </a:lnTo>
                  <a:lnTo>
                    <a:pt x="119" y="23"/>
                  </a:lnTo>
                  <a:lnTo>
                    <a:pt x="132" y="23"/>
                  </a:lnTo>
                  <a:lnTo>
                    <a:pt x="132" y="0"/>
                  </a:lnTo>
                  <a:lnTo>
                    <a:pt x="147" y="10"/>
                  </a:lnTo>
                  <a:lnTo>
                    <a:pt x="162" y="21"/>
                  </a:lnTo>
                  <a:lnTo>
                    <a:pt x="176" y="30"/>
                  </a:lnTo>
                  <a:lnTo>
                    <a:pt x="191" y="41"/>
                  </a:lnTo>
                  <a:lnTo>
                    <a:pt x="177" y="41"/>
                  </a:lnTo>
                  <a:lnTo>
                    <a:pt x="163" y="41"/>
                  </a:lnTo>
                  <a:lnTo>
                    <a:pt x="165" y="60"/>
                  </a:lnTo>
                  <a:lnTo>
                    <a:pt x="167" y="80"/>
                  </a:lnTo>
                  <a:lnTo>
                    <a:pt x="169" y="99"/>
                  </a:lnTo>
                  <a:lnTo>
                    <a:pt x="170" y="117"/>
                  </a:lnTo>
                  <a:lnTo>
                    <a:pt x="173" y="136"/>
                  </a:lnTo>
                  <a:lnTo>
                    <a:pt x="174" y="155"/>
                  </a:lnTo>
                  <a:lnTo>
                    <a:pt x="175" y="174"/>
                  </a:lnTo>
                  <a:lnTo>
                    <a:pt x="177" y="194"/>
                  </a:lnTo>
                  <a:lnTo>
                    <a:pt x="181" y="197"/>
                  </a:lnTo>
                  <a:lnTo>
                    <a:pt x="179" y="212"/>
                  </a:lnTo>
                  <a:lnTo>
                    <a:pt x="164" y="212"/>
                  </a:lnTo>
                  <a:lnTo>
                    <a:pt x="149" y="212"/>
                  </a:lnTo>
                  <a:lnTo>
                    <a:pt x="134" y="212"/>
                  </a:lnTo>
                  <a:lnTo>
                    <a:pt x="119" y="212"/>
                  </a:lnTo>
                  <a:lnTo>
                    <a:pt x="117" y="210"/>
                  </a:lnTo>
                  <a:lnTo>
                    <a:pt x="95" y="215"/>
                  </a:lnTo>
                  <a:lnTo>
                    <a:pt x="92" y="216"/>
                  </a:lnTo>
                  <a:lnTo>
                    <a:pt x="83" y="210"/>
                  </a:lnTo>
                  <a:lnTo>
                    <a:pt x="75" y="226"/>
                  </a:lnTo>
                  <a:lnTo>
                    <a:pt x="73" y="225"/>
                  </a:lnTo>
                  <a:lnTo>
                    <a:pt x="61" y="213"/>
                  </a:lnTo>
                  <a:lnTo>
                    <a:pt x="49" y="200"/>
                  </a:lnTo>
                  <a:lnTo>
                    <a:pt x="35" y="191"/>
                  </a:lnTo>
                  <a:lnTo>
                    <a:pt x="23" y="192"/>
                  </a:lnTo>
                  <a:lnTo>
                    <a:pt x="9" y="19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5" name="Freeform 134"/>
            <p:cNvSpPr>
              <a:spLocks/>
            </p:cNvSpPr>
            <p:nvPr/>
          </p:nvSpPr>
          <p:spPr bwMode="auto">
            <a:xfrm>
              <a:off x="2307" y="1990"/>
              <a:ext cx="206" cy="164"/>
            </a:xfrm>
            <a:custGeom>
              <a:avLst/>
              <a:gdLst/>
              <a:ahLst/>
              <a:cxnLst>
                <a:cxn ang="0">
                  <a:pos x="96" y="36"/>
                </a:cxn>
                <a:cxn ang="0">
                  <a:pos x="82" y="45"/>
                </a:cxn>
                <a:cxn ang="0">
                  <a:pos x="69" y="54"/>
                </a:cxn>
                <a:cxn ang="0">
                  <a:pos x="60" y="68"/>
                </a:cxn>
                <a:cxn ang="0">
                  <a:pos x="53" y="81"/>
                </a:cxn>
                <a:cxn ang="0">
                  <a:pos x="56" y="98"/>
                </a:cxn>
                <a:cxn ang="0">
                  <a:pos x="48" y="110"/>
                </a:cxn>
                <a:cxn ang="0">
                  <a:pos x="41" y="123"/>
                </a:cxn>
                <a:cxn ang="0">
                  <a:pos x="29" y="132"/>
                </a:cxn>
                <a:cxn ang="0">
                  <a:pos x="17" y="140"/>
                </a:cxn>
                <a:cxn ang="0">
                  <a:pos x="0" y="147"/>
                </a:cxn>
                <a:cxn ang="0">
                  <a:pos x="17" y="147"/>
                </a:cxn>
                <a:cxn ang="0">
                  <a:pos x="35" y="147"/>
                </a:cxn>
                <a:cxn ang="0">
                  <a:pos x="52" y="147"/>
                </a:cxn>
                <a:cxn ang="0">
                  <a:pos x="69" y="147"/>
                </a:cxn>
                <a:cxn ang="0">
                  <a:pos x="72" y="126"/>
                </a:cxn>
                <a:cxn ang="0">
                  <a:pos x="86" y="120"/>
                </a:cxn>
                <a:cxn ang="0">
                  <a:pos x="98" y="112"/>
                </a:cxn>
                <a:cxn ang="0">
                  <a:pos x="111" y="106"/>
                </a:cxn>
                <a:cxn ang="0">
                  <a:pos x="125" y="100"/>
                </a:cxn>
                <a:cxn ang="0">
                  <a:pos x="136" y="93"/>
                </a:cxn>
                <a:cxn ang="0">
                  <a:pos x="147" y="85"/>
                </a:cxn>
                <a:cxn ang="0">
                  <a:pos x="147" y="74"/>
                </a:cxn>
                <a:cxn ang="0">
                  <a:pos x="167" y="67"/>
                </a:cxn>
                <a:cxn ang="0">
                  <a:pos x="183" y="66"/>
                </a:cxn>
                <a:cxn ang="0">
                  <a:pos x="186" y="61"/>
                </a:cxn>
                <a:cxn ang="0">
                  <a:pos x="177" y="44"/>
                </a:cxn>
                <a:cxn ang="0">
                  <a:pos x="174" y="31"/>
                </a:cxn>
                <a:cxn ang="0">
                  <a:pos x="173" y="18"/>
                </a:cxn>
                <a:cxn ang="0">
                  <a:pos x="170" y="14"/>
                </a:cxn>
                <a:cxn ang="0">
                  <a:pos x="159" y="10"/>
                </a:cxn>
                <a:cxn ang="0">
                  <a:pos x="154" y="12"/>
                </a:cxn>
                <a:cxn ang="0">
                  <a:pos x="129" y="9"/>
                </a:cxn>
                <a:cxn ang="0">
                  <a:pos x="120" y="0"/>
                </a:cxn>
                <a:cxn ang="0">
                  <a:pos x="112" y="7"/>
                </a:cxn>
                <a:cxn ang="0">
                  <a:pos x="105" y="21"/>
                </a:cxn>
                <a:cxn ang="0">
                  <a:pos x="96" y="36"/>
                </a:cxn>
              </a:cxnLst>
              <a:rect l="0" t="0" r="r" b="b"/>
              <a:pathLst>
                <a:path w="186" h="147">
                  <a:moveTo>
                    <a:pt x="96" y="36"/>
                  </a:moveTo>
                  <a:lnTo>
                    <a:pt x="82" y="45"/>
                  </a:lnTo>
                  <a:lnTo>
                    <a:pt x="69" y="54"/>
                  </a:lnTo>
                  <a:lnTo>
                    <a:pt x="60" y="68"/>
                  </a:lnTo>
                  <a:lnTo>
                    <a:pt x="53" y="81"/>
                  </a:lnTo>
                  <a:lnTo>
                    <a:pt x="56" y="98"/>
                  </a:lnTo>
                  <a:lnTo>
                    <a:pt x="48" y="110"/>
                  </a:lnTo>
                  <a:lnTo>
                    <a:pt x="41" y="123"/>
                  </a:lnTo>
                  <a:lnTo>
                    <a:pt x="29" y="132"/>
                  </a:lnTo>
                  <a:lnTo>
                    <a:pt x="17" y="140"/>
                  </a:lnTo>
                  <a:lnTo>
                    <a:pt x="0" y="147"/>
                  </a:lnTo>
                  <a:lnTo>
                    <a:pt x="17" y="147"/>
                  </a:lnTo>
                  <a:lnTo>
                    <a:pt x="35" y="147"/>
                  </a:lnTo>
                  <a:lnTo>
                    <a:pt x="52" y="147"/>
                  </a:lnTo>
                  <a:lnTo>
                    <a:pt x="69" y="147"/>
                  </a:lnTo>
                  <a:lnTo>
                    <a:pt x="72" y="126"/>
                  </a:lnTo>
                  <a:lnTo>
                    <a:pt x="86" y="120"/>
                  </a:lnTo>
                  <a:lnTo>
                    <a:pt x="98" y="112"/>
                  </a:lnTo>
                  <a:lnTo>
                    <a:pt x="111" y="106"/>
                  </a:lnTo>
                  <a:lnTo>
                    <a:pt x="125" y="100"/>
                  </a:lnTo>
                  <a:lnTo>
                    <a:pt x="136" y="93"/>
                  </a:lnTo>
                  <a:lnTo>
                    <a:pt x="147" y="85"/>
                  </a:lnTo>
                  <a:lnTo>
                    <a:pt x="147" y="74"/>
                  </a:lnTo>
                  <a:lnTo>
                    <a:pt x="167" y="67"/>
                  </a:lnTo>
                  <a:lnTo>
                    <a:pt x="183" y="66"/>
                  </a:lnTo>
                  <a:lnTo>
                    <a:pt x="186" y="61"/>
                  </a:lnTo>
                  <a:lnTo>
                    <a:pt x="177" y="44"/>
                  </a:lnTo>
                  <a:lnTo>
                    <a:pt x="174" y="31"/>
                  </a:lnTo>
                  <a:lnTo>
                    <a:pt x="173" y="18"/>
                  </a:lnTo>
                  <a:lnTo>
                    <a:pt x="170" y="14"/>
                  </a:lnTo>
                  <a:lnTo>
                    <a:pt x="159" y="10"/>
                  </a:lnTo>
                  <a:lnTo>
                    <a:pt x="154" y="12"/>
                  </a:lnTo>
                  <a:lnTo>
                    <a:pt x="129" y="9"/>
                  </a:lnTo>
                  <a:lnTo>
                    <a:pt x="120" y="0"/>
                  </a:lnTo>
                  <a:lnTo>
                    <a:pt x="112" y="7"/>
                  </a:lnTo>
                  <a:lnTo>
                    <a:pt x="105" y="21"/>
                  </a:lnTo>
                  <a:lnTo>
                    <a:pt x="96"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6" name="Freeform 135"/>
            <p:cNvSpPr>
              <a:spLocks/>
            </p:cNvSpPr>
            <p:nvPr/>
          </p:nvSpPr>
          <p:spPr bwMode="auto">
            <a:xfrm>
              <a:off x="2536" y="2236"/>
              <a:ext cx="273" cy="236"/>
            </a:xfrm>
            <a:custGeom>
              <a:avLst/>
              <a:gdLst/>
              <a:ahLst/>
              <a:cxnLst>
                <a:cxn ang="0">
                  <a:pos x="27" y="194"/>
                </a:cxn>
                <a:cxn ang="0">
                  <a:pos x="21" y="195"/>
                </a:cxn>
                <a:cxn ang="0">
                  <a:pos x="12" y="188"/>
                </a:cxn>
                <a:cxn ang="0">
                  <a:pos x="12" y="182"/>
                </a:cxn>
                <a:cxn ang="0">
                  <a:pos x="14" y="181"/>
                </a:cxn>
                <a:cxn ang="0">
                  <a:pos x="2" y="168"/>
                </a:cxn>
                <a:cxn ang="0">
                  <a:pos x="0" y="153"/>
                </a:cxn>
                <a:cxn ang="0">
                  <a:pos x="2" y="153"/>
                </a:cxn>
                <a:cxn ang="0">
                  <a:pos x="16" y="147"/>
                </a:cxn>
                <a:cxn ang="0">
                  <a:pos x="34" y="147"/>
                </a:cxn>
                <a:cxn ang="0">
                  <a:pos x="51" y="146"/>
                </a:cxn>
                <a:cxn ang="0">
                  <a:pos x="60" y="130"/>
                </a:cxn>
                <a:cxn ang="0">
                  <a:pos x="61" y="117"/>
                </a:cxn>
                <a:cxn ang="0">
                  <a:pos x="61" y="104"/>
                </a:cxn>
                <a:cxn ang="0">
                  <a:pos x="62" y="91"/>
                </a:cxn>
                <a:cxn ang="0">
                  <a:pos x="62" y="78"/>
                </a:cxn>
                <a:cxn ang="0">
                  <a:pos x="75" y="75"/>
                </a:cxn>
                <a:cxn ang="0">
                  <a:pos x="87" y="73"/>
                </a:cxn>
                <a:cxn ang="0">
                  <a:pos x="99" y="60"/>
                </a:cxn>
                <a:cxn ang="0">
                  <a:pos x="112" y="48"/>
                </a:cxn>
                <a:cxn ang="0">
                  <a:pos x="129" y="36"/>
                </a:cxn>
                <a:cxn ang="0">
                  <a:pos x="147" y="24"/>
                </a:cxn>
                <a:cxn ang="0">
                  <a:pos x="164" y="12"/>
                </a:cxn>
                <a:cxn ang="0">
                  <a:pos x="182" y="0"/>
                </a:cxn>
                <a:cxn ang="0">
                  <a:pos x="204" y="6"/>
                </a:cxn>
                <a:cxn ang="0">
                  <a:pos x="217" y="16"/>
                </a:cxn>
                <a:cxn ang="0">
                  <a:pos x="228" y="9"/>
                </a:cxn>
                <a:cxn ang="0">
                  <a:pos x="229" y="9"/>
                </a:cxn>
                <a:cxn ang="0">
                  <a:pos x="230" y="22"/>
                </a:cxn>
                <a:cxn ang="0">
                  <a:pos x="232" y="36"/>
                </a:cxn>
                <a:cxn ang="0">
                  <a:pos x="246" y="56"/>
                </a:cxn>
                <a:cxn ang="0">
                  <a:pos x="242" y="64"/>
                </a:cxn>
                <a:cxn ang="0">
                  <a:pos x="241" y="78"/>
                </a:cxn>
                <a:cxn ang="0">
                  <a:pos x="240" y="91"/>
                </a:cxn>
                <a:cxn ang="0">
                  <a:pos x="240" y="105"/>
                </a:cxn>
                <a:cxn ang="0">
                  <a:pos x="238" y="118"/>
                </a:cxn>
                <a:cxn ang="0">
                  <a:pos x="231" y="129"/>
                </a:cxn>
                <a:cxn ang="0">
                  <a:pos x="224" y="140"/>
                </a:cxn>
                <a:cxn ang="0">
                  <a:pos x="217" y="151"/>
                </a:cxn>
                <a:cxn ang="0">
                  <a:pos x="210" y="162"/>
                </a:cxn>
                <a:cxn ang="0">
                  <a:pos x="211" y="176"/>
                </a:cxn>
                <a:cxn ang="0">
                  <a:pos x="193" y="186"/>
                </a:cxn>
                <a:cxn ang="0">
                  <a:pos x="177" y="184"/>
                </a:cxn>
                <a:cxn ang="0">
                  <a:pos x="160" y="183"/>
                </a:cxn>
                <a:cxn ang="0">
                  <a:pos x="142" y="192"/>
                </a:cxn>
                <a:cxn ang="0">
                  <a:pos x="132" y="187"/>
                </a:cxn>
                <a:cxn ang="0">
                  <a:pos x="120" y="182"/>
                </a:cxn>
                <a:cxn ang="0">
                  <a:pos x="103" y="187"/>
                </a:cxn>
                <a:cxn ang="0">
                  <a:pos x="92" y="176"/>
                </a:cxn>
                <a:cxn ang="0">
                  <a:pos x="76" y="175"/>
                </a:cxn>
                <a:cxn ang="0">
                  <a:pos x="62" y="180"/>
                </a:cxn>
                <a:cxn ang="0">
                  <a:pos x="58" y="193"/>
                </a:cxn>
                <a:cxn ang="0">
                  <a:pos x="54" y="205"/>
                </a:cxn>
                <a:cxn ang="0">
                  <a:pos x="52" y="212"/>
                </a:cxn>
                <a:cxn ang="0">
                  <a:pos x="39" y="200"/>
                </a:cxn>
                <a:cxn ang="0">
                  <a:pos x="34" y="206"/>
                </a:cxn>
                <a:cxn ang="0">
                  <a:pos x="34" y="208"/>
                </a:cxn>
                <a:cxn ang="0">
                  <a:pos x="31" y="199"/>
                </a:cxn>
                <a:cxn ang="0">
                  <a:pos x="27" y="194"/>
                </a:cxn>
              </a:cxnLst>
              <a:rect l="0" t="0" r="r" b="b"/>
              <a:pathLst>
                <a:path w="246" h="212">
                  <a:moveTo>
                    <a:pt x="27" y="194"/>
                  </a:moveTo>
                  <a:lnTo>
                    <a:pt x="21" y="195"/>
                  </a:lnTo>
                  <a:lnTo>
                    <a:pt x="12" y="188"/>
                  </a:lnTo>
                  <a:lnTo>
                    <a:pt x="12" y="182"/>
                  </a:lnTo>
                  <a:lnTo>
                    <a:pt x="14" y="181"/>
                  </a:lnTo>
                  <a:lnTo>
                    <a:pt x="2" y="168"/>
                  </a:lnTo>
                  <a:lnTo>
                    <a:pt x="0" y="153"/>
                  </a:lnTo>
                  <a:lnTo>
                    <a:pt x="2" y="153"/>
                  </a:lnTo>
                  <a:lnTo>
                    <a:pt x="16" y="147"/>
                  </a:lnTo>
                  <a:lnTo>
                    <a:pt x="34" y="147"/>
                  </a:lnTo>
                  <a:lnTo>
                    <a:pt x="51" y="146"/>
                  </a:lnTo>
                  <a:lnTo>
                    <a:pt x="60" y="130"/>
                  </a:lnTo>
                  <a:lnTo>
                    <a:pt x="61" y="117"/>
                  </a:lnTo>
                  <a:lnTo>
                    <a:pt x="61" y="104"/>
                  </a:lnTo>
                  <a:lnTo>
                    <a:pt x="62" y="91"/>
                  </a:lnTo>
                  <a:lnTo>
                    <a:pt x="62" y="78"/>
                  </a:lnTo>
                  <a:lnTo>
                    <a:pt x="75" y="75"/>
                  </a:lnTo>
                  <a:lnTo>
                    <a:pt x="87" y="73"/>
                  </a:lnTo>
                  <a:lnTo>
                    <a:pt x="99" y="60"/>
                  </a:lnTo>
                  <a:lnTo>
                    <a:pt x="112" y="48"/>
                  </a:lnTo>
                  <a:lnTo>
                    <a:pt x="129" y="36"/>
                  </a:lnTo>
                  <a:lnTo>
                    <a:pt x="147" y="24"/>
                  </a:lnTo>
                  <a:lnTo>
                    <a:pt x="164" y="12"/>
                  </a:lnTo>
                  <a:lnTo>
                    <a:pt x="182" y="0"/>
                  </a:lnTo>
                  <a:lnTo>
                    <a:pt x="204" y="6"/>
                  </a:lnTo>
                  <a:lnTo>
                    <a:pt x="217" y="16"/>
                  </a:lnTo>
                  <a:lnTo>
                    <a:pt x="228" y="9"/>
                  </a:lnTo>
                  <a:lnTo>
                    <a:pt x="229" y="9"/>
                  </a:lnTo>
                  <a:lnTo>
                    <a:pt x="230" y="22"/>
                  </a:lnTo>
                  <a:lnTo>
                    <a:pt x="232" y="36"/>
                  </a:lnTo>
                  <a:lnTo>
                    <a:pt x="246" y="56"/>
                  </a:lnTo>
                  <a:lnTo>
                    <a:pt x="242" y="64"/>
                  </a:lnTo>
                  <a:lnTo>
                    <a:pt x="241" y="78"/>
                  </a:lnTo>
                  <a:lnTo>
                    <a:pt x="240" y="91"/>
                  </a:lnTo>
                  <a:lnTo>
                    <a:pt x="240" y="105"/>
                  </a:lnTo>
                  <a:lnTo>
                    <a:pt x="238" y="118"/>
                  </a:lnTo>
                  <a:lnTo>
                    <a:pt x="231" y="129"/>
                  </a:lnTo>
                  <a:lnTo>
                    <a:pt x="224" y="140"/>
                  </a:lnTo>
                  <a:lnTo>
                    <a:pt x="217" y="151"/>
                  </a:lnTo>
                  <a:lnTo>
                    <a:pt x="210" y="162"/>
                  </a:lnTo>
                  <a:lnTo>
                    <a:pt x="211" y="176"/>
                  </a:lnTo>
                  <a:lnTo>
                    <a:pt x="193" y="186"/>
                  </a:lnTo>
                  <a:lnTo>
                    <a:pt x="177" y="184"/>
                  </a:lnTo>
                  <a:lnTo>
                    <a:pt x="160" y="183"/>
                  </a:lnTo>
                  <a:lnTo>
                    <a:pt x="142" y="192"/>
                  </a:lnTo>
                  <a:lnTo>
                    <a:pt x="132" y="187"/>
                  </a:lnTo>
                  <a:lnTo>
                    <a:pt x="120" y="182"/>
                  </a:lnTo>
                  <a:lnTo>
                    <a:pt x="103" y="187"/>
                  </a:lnTo>
                  <a:lnTo>
                    <a:pt x="92" y="176"/>
                  </a:lnTo>
                  <a:lnTo>
                    <a:pt x="76" y="175"/>
                  </a:lnTo>
                  <a:lnTo>
                    <a:pt x="62" y="180"/>
                  </a:lnTo>
                  <a:lnTo>
                    <a:pt x="58" y="193"/>
                  </a:lnTo>
                  <a:lnTo>
                    <a:pt x="54" y="205"/>
                  </a:lnTo>
                  <a:lnTo>
                    <a:pt x="52" y="212"/>
                  </a:lnTo>
                  <a:lnTo>
                    <a:pt x="39" y="200"/>
                  </a:lnTo>
                  <a:lnTo>
                    <a:pt x="34" y="206"/>
                  </a:lnTo>
                  <a:lnTo>
                    <a:pt x="34" y="208"/>
                  </a:lnTo>
                  <a:lnTo>
                    <a:pt x="31" y="199"/>
                  </a:lnTo>
                  <a:lnTo>
                    <a:pt x="27" y="19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7" name="Freeform 136"/>
            <p:cNvSpPr>
              <a:spLocks/>
            </p:cNvSpPr>
            <p:nvPr/>
          </p:nvSpPr>
          <p:spPr bwMode="auto">
            <a:xfrm>
              <a:off x="2227" y="2374"/>
              <a:ext cx="106" cy="87"/>
            </a:xfrm>
            <a:custGeom>
              <a:avLst/>
              <a:gdLst/>
              <a:ahLst/>
              <a:cxnLst>
                <a:cxn ang="0">
                  <a:pos x="18" y="4"/>
                </a:cxn>
                <a:cxn ang="0">
                  <a:pos x="15" y="11"/>
                </a:cxn>
                <a:cxn ang="0">
                  <a:pos x="8" y="23"/>
                </a:cxn>
                <a:cxn ang="0">
                  <a:pos x="0" y="35"/>
                </a:cxn>
                <a:cxn ang="0">
                  <a:pos x="10" y="48"/>
                </a:cxn>
                <a:cxn ang="0">
                  <a:pos x="15" y="45"/>
                </a:cxn>
                <a:cxn ang="0">
                  <a:pos x="11" y="48"/>
                </a:cxn>
                <a:cxn ang="0">
                  <a:pos x="14" y="49"/>
                </a:cxn>
                <a:cxn ang="0">
                  <a:pos x="14" y="55"/>
                </a:cxn>
                <a:cxn ang="0">
                  <a:pos x="30" y="55"/>
                </a:cxn>
                <a:cxn ang="0">
                  <a:pos x="33" y="52"/>
                </a:cxn>
                <a:cxn ang="0">
                  <a:pos x="52" y="55"/>
                </a:cxn>
                <a:cxn ang="0">
                  <a:pos x="56" y="60"/>
                </a:cxn>
                <a:cxn ang="0">
                  <a:pos x="35" y="55"/>
                </a:cxn>
                <a:cxn ang="0">
                  <a:pos x="23" y="60"/>
                </a:cxn>
                <a:cxn ang="0">
                  <a:pos x="10" y="64"/>
                </a:cxn>
                <a:cxn ang="0">
                  <a:pos x="12" y="72"/>
                </a:cxn>
                <a:cxn ang="0">
                  <a:pos x="23" y="71"/>
                </a:cxn>
                <a:cxn ang="0">
                  <a:pos x="29" y="69"/>
                </a:cxn>
                <a:cxn ang="0">
                  <a:pos x="29" y="71"/>
                </a:cxn>
                <a:cxn ang="0">
                  <a:pos x="15" y="72"/>
                </a:cxn>
                <a:cxn ang="0">
                  <a:pos x="11" y="78"/>
                </a:cxn>
                <a:cxn ang="0">
                  <a:pos x="32" y="73"/>
                </a:cxn>
                <a:cxn ang="0">
                  <a:pos x="45" y="72"/>
                </a:cxn>
                <a:cxn ang="0">
                  <a:pos x="58" y="71"/>
                </a:cxn>
                <a:cxn ang="0">
                  <a:pos x="72" y="75"/>
                </a:cxn>
                <a:cxn ang="0">
                  <a:pos x="95" y="76"/>
                </a:cxn>
                <a:cxn ang="0">
                  <a:pos x="90" y="59"/>
                </a:cxn>
                <a:cxn ang="0">
                  <a:pos x="86" y="52"/>
                </a:cxn>
                <a:cxn ang="0">
                  <a:pos x="82" y="34"/>
                </a:cxn>
                <a:cxn ang="0">
                  <a:pos x="70" y="22"/>
                </a:cxn>
                <a:cxn ang="0">
                  <a:pos x="58" y="9"/>
                </a:cxn>
                <a:cxn ang="0">
                  <a:pos x="44" y="0"/>
                </a:cxn>
                <a:cxn ang="0">
                  <a:pos x="32" y="1"/>
                </a:cxn>
                <a:cxn ang="0">
                  <a:pos x="18" y="4"/>
                </a:cxn>
              </a:cxnLst>
              <a:rect l="0" t="0" r="r" b="b"/>
              <a:pathLst>
                <a:path w="95" h="78">
                  <a:moveTo>
                    <a:pt x="18" y="4"/>
                  </a:moveTo>
                  <a:lnTo>
                    <a:pt x="15" y="11"/>
                  </a:lnTo>
                  <a:lnTo>
                    <a:pt x="8" y="23"/>
                  </a:lnTo>
                  <a:lnTo>
                    <a:pt x="0" y="35"/>
                  </a:lnTo>
                  <a:lnTo>
                    <a:pt x="10" y="48"/>
                  </a:lnTo>
                  <a:lnTo>
                    <a:pt x="15" y="45"/>
                  </a:lnTo>
                  <a:lnTo>
                    <a:pt x="11" y="48"/>
                  </a:lnTo>
                  <a:lnTo>
                    <a:pt x="14" y="49"/>
                  </a:lnTo>
                  <a:lnTo>
                    <a:pt x="14" y="55"/>
                  </a:lnTo>
                  <a:lnTo>
                    <a:pt x="30" y="55"/>
                  </a:lnTo>
                  <a:lnTo>
                    <a:pt x="33" y="52"/>
                  </a:lnTo>
                  <a:lnTo>
                    <a:pt x="52" y="55"/>
                  </a:lnTo>
                  <a:lnTo>
                    <a:pt x="56" y="60"/>
                  </a:lnTo>
                  <a:lnTo>
                    <a:pt x="35" y="55"/>
                  </a:lnTo>
                  <a:lnTo>
                    <a:pt x="23" y="60"/>
                  </a:lnTo>
                  <a:lnTo>
                    <a:pt x="10" y="64"/>
                  </a:lnTo>
                  <a:lnTo>
                    <a:pt x="12" y="72"/>
                  </a:lnTo>
                  <a:lnTo>
                    <a:pt x="23" y="71"/>
                  </a:lnTo>
                  <a:lnTo>
                    <a:pt x="29" y="69"/>
                  </a:lnTo>
                  <a:lnTo>
                    <a:pt x="29" y="71"/>
                  </a:lnTo>
                  <a:lnTo>
                    <a:pt x="15" y="72"/>
                  </a:lnTo>
                  <a:lnTo>
                    <a:pt x="11" y="78"/>
                  </a:lnTo>
                  <a:lnTo>
                    <a:pt x="32" y="73"/>
                  </a:lnTo>
                  <a:lnTo>
                    <a:pt x="45" y="72"/>
                  </a:lnTo>
                  <a:lnTo>
                    <a:pt x="58" y="71"/>
                  </a:lnTo>
                  <a:lnTo>
                    <a:pt x="72" y="75"/>
                  </a:lnTo>
                  <a:lnTo>
                    <a:pt x="95" y="76"/>
                  </a:lnTo>
                  <a:lnTo>
                    <a:pt x="90" y="59"/>
                  </a:lnTo>
                  <a:lnTo>
                    <a:pt x="86" y="52"/>
                  </a:lnTo>
                  <a:lnTo>
                    <a:pt x="82" y="34"/>
                  </a:lnTo>
                  <a:lnTo>
                    <a:pt x="70" y="22"/>
                  </a:lnTo>
                  <a:lnTo>
                    <a:pt x="58" y="9"/>
                  </a:lnTo>
                  <a:lnTo>
                    <a:pt x="44" y="0"/>
                  </a:lnTo>
                  <a:lnTo>
                    <a:pt x="32" y="1"/>
                  </a:lnTo>
                  <a:lnTo>
                    <a:pt x="18"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8" name="Freeform 137"/>
            <p:cNvSpPr>
              <a:spLocks/>
            </p:cNvSpPr>
            <p:nvPr/>
          </p:nvSpPr>
          <p:spPr bwMode="auto">
            <a:xfrm>
              <a:off x="2656" y="1963"/>
              <a:ext cx="68" cy="140"/>
            </a:xfrm>
            <a:custGeom>
              <a:avLst/>
              <a:gdLst/>
              <a:ahLst/>
              <a:cxnLst>
                <a:cxn ang="0">
                  <a:pos x="41" y="118"/>
                </a:cxn>
                <a:cxn ang="0">
                  <a:pos x="32" y="126"/>
                </a:cxn>
                <a:cxn ang="0">
                  <a:pos x="29" y="109"/>
                </a:cxn>
                <a:cxn ang="0">
                  <a:pos x="24" y="92"/>
                </a:cxn>
                <a:cxn ang="0">
                  <a:pos x="12" y="79"/>
                </a:cxn>
                <a:cxn ang="0">
                  <a:pos x="0" y="61"/>
                </a:cxn>
                <a:cxn ang="0">
                  <a:pos x="7" y="48"/>
                </a:cxn>
                <a:cxn ang="0">
                  <a:pos x="13" y="34"/>
                </a:cxn>
                <a:cxn ang="0">
                  <a:pos x="12" y="10"/>
                </a:cxn>
                <a:cxn ang="0">
                  <a:pos x="15" y="6"/>
                </a:cxn>
                <a:cxn ang="0">
                  <a:pos x="32" y="0"/>
                </a:cxn>
                <a:cxn ang="0">
                  <a:pos x="38" y="3"/>
                </a:cxn>
                <a:cxn ang="0">
                  <a:pos x="42" y="9"/>
                </a:cxn>
                <a:cxn ang="0">
                  <a:pos x="51" y="3"/>
                </a:cxn>
                <a:cxn ang="0">
                  <a:pos x="44" y="22"/>
                </a:cxn>
                <a:cxn ang="0">
                  <a:pos x="54" y="36"/>
                </a:cxn>
                <a:cxn ang="0">
                  <a:pos x="45" y="46"/>
                </a:cxn>
                <a:cxn ang="0">
                  <a:pos x="38" y="57"/>
                </a:cxn>
                <a:cxn ang="0">
                  <a:pos x="51" y="66"/>
                </a:cxn>
                <a:cxn ang="0">
                  <a:pos x="61" y="73"/>
                </a:cxn>
                <a:cxn ang="0">
                  <a:pos x="60" y="87"/>
                </a:cxn>
                <a:cxn ang="0">
                  <a:pos x="50" y="96"/>
                </a:cxn>
                <a:cxn ang="0">
                  <a:pos x="41" y="104"/>
                </a:cxn>
                <a:cxn ang="0">
                  <a:pos x="41" y="118"/>
                </a:cxn>
              </a:cxnLst>
              <a:rect l="0" t="0" r="r" b="b"/>
              <a:pathLst>
                <a:path w="61" h="126">
                  <a:moveTo>
                    <a:pt x="41" y="118"/>
                  </a:moveTo>
                  <a:lnTo>
                    <a:pt x="32" y="126"/>
                  </a:lnTo>
                  <a:lnTo>
                    <a:pt x="29" y="109"/>
                  </a:lnTo>
                  <a:lnTo>
                    <a:pt x="24" y="92"/>
                  </a:lnTo>
                  <a:lnTo>
                    <a:pt x="12" y="79"/>
                  </a:lnTo>
                  <a:lnTo>
                    <a:pt x="0" y="61"/>
                  </a:lnTo>
                  <a:lnTo>
                    <a:pt x="7" y="48"/>
                  </a:lnTo>
                  <a:lnTo>
                    <a:pt x="13" y="34"/>
                  </a:lnTo>
                  <a:lnTo>
                    <a:pt x="12" y="10"/>
                  </a:lnTo>
                  <a:lnTo>
                    <a:pt x="15" y="6"/>
                  </a:lnTo>
                  <a:lnTo>
                    <a:pt x="32" y="0"/>
                  </a:lnTo>
                  <a:lnTo>
                    <a:pt x="38" y="3"/>
                  </a:lnTo>
                  <a:lnTo>
                    <a:pt x="42" y="9"/>
                  </a:lnTo>
                  <a:lnTo>
                    <a:pt x="51" y="3"/>
                  </a:lnTo>
                  <a:lnTo>
                    <a:pt x="44" y="22"/>
                  </a:lnTo>
                  <a:lnTo>
                    <a:pt x="54" y="36"/>
                  </a:lnTo>
                  <a:lnTo>
                    <a:pt x="45" y="46"/>
                  </a:lnTo>
                  <a:lnTo>
                    <a:pt x="38" y="57"/>
                  </a:lnTo>
                  <a:lnTo>
                    <a:pt x="51" y="66"/>
                  </a:lnTo>
                  <a:lnTo>
                    <a:pt x="61" y="73"/>
                  </a:lnTo>
                  <a:lnTo>
                    <a:pt x="60" y="87"/>
                  </a:lnTo>
                  <a:lnTo>
                    <a:pt x="50" y="96"/>
                  </a:lnTo>
                  <a:lnTo>
                    <a:pt x="41" y="104"/>
                  </a:lnTo>
                  <a:lnTo>
                    <a:pt x="41" y="1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39" name="Freeform 138"/>
            <p:cNvSpPr>
              <a:spLocks/>
            </p:cNvSpPr>
            <p:nvPr/>
          </p:nvSpPr>
          <p:spPr bwMode="auto">
            <a:xfrm>
              <a:off x="2329" y="2536"/>
              <a:ext cx="73" cy="83"/>
            </a:xfrm>
            <a:custGeom>
              <a:avLst/>
              <a:gdLst/>
              <a:ahLst/>
              <a:cxnLst>
                <a:cxn ang="0">
                  <a:pos x="62" y="74"/>
                </a:cxn>
                <a:cxn ang="0">
                  <a:pos x="45" y="63"/>
                </a:cxn>
                <a:cxn ang="0">
                  <a:pos x="29" y="54"/>
                </a:cxn>
                <a:cxn ang="0">
                  <a:pos x="14" y="40"/>
                </a:cxn>
                <a:cxn ang="0">
                  <a:pos x="0" y="27"/>
                </a:cxn>
                <a:cxn ang="0">
                  <a:pos x="5" y="21"/>
                </a:cxn>
                <a:cxn ang="0">
                  <a:pos x="12" y="10"/>
                </a:cxn>
                <a:cxn ang="0">
                  <a:pos x="19" y="0"/>
                </a:cxn>
                <a:cxn ang="0">
                  <a:pos x="27" y="0"/>
                </a:cxn>
                <a:cxn ang="0">
                  <a:pos x="32" y="18"/>
                </a:cxn>
                <a:cxn ang="0">
                  <a:pos x="36" y="21"/>
                </a:cxn>
                <a:cxn ang="0">
                  <a:pos x="43" y="16"/>
                </a:cxn>
                <a:cxn ang="0">
                  <a:pos x="48" y="16"/>
                </a:cxn>
                <a:cxn ang="0">
                  <a:pos x="48" y="32"/>
                </a:cxn>
                <a:cxn ang="0">
                  <a:pos x="48" y="36"/>
                </a:cxn>
                <a:cxn ang="0">
                  <a:pos x="57" y="44"/>
                </a:cxn>
                <a:cxn ang="0">
                  <a:pos x="65" y="52"/>
                </a:cxn>
                <a:cxn ang="0">
                  <a:pos x="62" y="74"/>
                </a:cxn>
              </a:cxnLst>
              <a:rect l="0" t="0" r="r" b="b"/>
              <a:pathLst>
                <a:path w="65" h="74">
                  <a:moveTo>
                    <a:pt x="62" y="74"/>
                  </a:moveTo>
                  <a:lnTo>
                    <a:pt x="45" y="63"/>
                  </a:lnTo>
                  <a:lnTo>
                    <a:pt x="29" y="54"/>
                  </a:lnTo>
                  <a:lnTo>
                    <a:pt x="14" y="40"/>
                  </a:lnTo>
                  <a:lnTo>
                    <a:pt x="0" y="27"/>
                  </a:lnTo>
                  <a:lnTo>
                    <a:pt x="5" y="21"/>
                  </a:lnTo>
                  <a:lnTo>
                    <a:pt x="12" y="10"/>
                  </a:lnTo>
                  <a:lnTo>
                    <a:pt x="19" y="0"/>
                  </a:lnTo>
                  <a:lnTo>
                    <a:pt x="27" y="0"/>
                  </a:lnTo>
                  <a:lnTo>
                    <a:pt x="32" y="18"/>
                  </a:lnTo>
                  <a:lnTo>
                    <a:pt x="36" y="21"/>
                  </a:lnTo>
                  <a:lnTo>
                    <a:pt x="43" y="16"/>
                  </a:lnTo>
                  <a:lnTo>
                    <a:pt x="48" y="16"/>
                  </a:lnTo>
                  <a:lnTo>
                    <a:pt x="48" y="32"/>
                  </a:lnTo>
                  <a:lnTo>
                    <a:pt x="48" y="36"/>
                  </a:lnTo>
                  <a:lnTo>
                    <a:pt x="57" y="44"/>
                  </a:lnTo>
                  <a:lnTo>
                    <a:pt x="65" y="52"/>
                  </a:lnTo>
                  <a:lnTo>
                    <a:pt x="62" y="7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0" name="Freeform 139"/>
            <p:cNvSpPr>
              <a:spLocks/>
            </p:cNvSpPr>
            <p:nvPr/>
          </p:nvSpPr>
          <p:spPr bwMode="auto">
            <a:xfrm>
              <a:off x="1076" y="2514"/>
              <a:ext cx="55" cy="47"/>
            </a:xfrm>
            <a:custGeom>
              <a:avLst/>
              <a:gdLst/>
              <a:ahLst/>
              <a:cxnLst>
                <a:cxn ang="0">
                  <a:pos x="0" y="28"/>
                </a:cxn>
                <a:cxn ang="0">
                  <a:pos x="1" y="14"/>
                </a:cxn>
                <a:cxn ang="0">
                  <a:pos x="0" y="2"/>
                </a:cxn>
                <a:cxn ang="0">
                  <a:pos x="6" y="0"/>
                </a:cxn>
                <a:cxn ang="0">
                  <a:pos x="10" y="8"/>
                </a:cxn>
                <a:cxn ang="0">
                  <a:pos x="18" y="10"/>
                </a:cxn>
                <a:cxn ang="0">
                  <a:pos x="22" y="15"/>
                </a:cxn>
                <a:cxn ang="0">
                  <a:pos x="44" y="6"/>
                </a:cxn>
                <a:cxn ang="0">
                  <a:pos x="46" y="9"/>
                </a:cxn>
                <a:cxn ang="0">
                  <a:pos x="50" y="14"/>
                </a:cxn>
                <a:cxn ang="0">
                  <a:pos x="38" y="24"/>
                </a:cxn>
                <a:cxn ang="0">
                  <a:pos x="45" y="36"/>
                </a:cxn>
                <a:cxn ang="0">
                  <a:pos x="31" y="42"/>
                </a:cxn>
                <a:cxn ang="0">
                  <a:pos x="28" y="32"/>
                </a:cxn>
                <a:cxn ang="0">
                  <a:pos x="26" y="35"/>
                </a:cxn>
                <a:cxn ang="0">
                  <a:pos x="19" y="28"/>
                </a:cxn>
                <a:cxn ang="0">
                  <a:pos x="3" y="23"/>
                </a:cxn>
                <a:cxn ang="0">
                  <a:pos x="0" y="28"/>
                </a:cxn>
              </a:cxnLst>
              <a:rect l="0" t="0" r="r" b="b"/>
              <a:pathLst>
                <a:path w="50" h="42">
                  <a:moveTo>
                    <a:pt x="0" y="28"/>
                  </a:moveTo>
                  <a:lnTo>
                    <a:pt x="1" y="14"/>
                  </a:lnTo>
                  <a:lnTo>
                    <a:pt x="0" y="2"/>
                  </a:lnTo>
                  <a:lnTo>
                    <a:pt x="6" y="0"/>
                  </a:lnTo>
                  <a:lnTo>
                    <a:pt x="10" y="8"/>
                  </a:lnTo>
                  <a:lnTo>
                    <a:pt x="18" y="10"/>
                  </a:lnTo>
                  <a:lnTo>
                    <a:pt x="22" y="15"/>
                  </a:lnTo>
                  <a:lnTo>
                    <a:pt x="44" y="6"/>
                  </a:lnTo>
                  <a:lnTo>
                    <a:pt x="46" y="9"/>
                  </a:lnTo>
                  <a:lnTo>
                    <a:pt x="50" y="14"/>
                  </a:lnTo>
                  <a:lnTo>
                    <a:pt x="38" y="24"/>
                  </a:lnTo>
                  <a:lnTo>
                    <a:pt x="45" y="36"/>
                  </a:lnTo>
                  <a:lnTo>
                    <a:pt x="31" y="42"/>
                  </a:lnTo>
                  <a:lnTo>
                    <a:pt x="28" y="32"/>
                  </a:lnTo>
                  <a:lnTo>
                    <a:pt x="26" y="35"/>
                  </a:lnTo>
                  <a:lnTo>
                    <a:pt x="19" y="28"/>
                  </a:lnTo>
                  <a:lnTo>
                    <a:pt x="3" y="23"/>
                  </a:lnTo>
                  <a:lnTo>
                    <a:pt x="0"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1" name="Freeform 140"/>
            <p:cNvSpPr>
              <a:spLocks/>
            </p:cNvSpPr>
            <p:nvPr/>
          </p:nvSpPr>
          <p:spPr bwMode="auto">
            <a:xfrm>
              <a:off x="1067" y="2243"/>
              <a:ext cx="182" cy="64"/>
            </a:xfrm>
            <a:custGeom>
              <a:avLst/>
              <a:gdLst/>
              <a:ahLst/>
              <a:cxnLst>
                <a:cxn ang="0">
                  <a:pos x="116" y="23"/>
                </a:cxn>
                <a:cxn ang="0">
                  <a:pos x="116" y="24"/>
                </a:cxn>
                <a:cxn ang="0">
                  <a:pos x="100" y="17"/>
                </a:cxn>
                <a:cxn ang="0">
                  <a:pos x="83" y="8"/>
                </a:cxn>
                <a:cxn ang="0">
                  <a:pos x="71" y="3"/>
                </a:cxn>
                <a:cxn ang="0">
                  <a:pos x="60" y="0"/>
                </a:cxn>
                <a:cxn ang="0">
                  <a:pos x="54" y="0"/>
                </a:cxn>
                <a:cxn ang="0">
                  <a:pos x="35" y="3"/>
                </a:cxn>
                <a:cxn ang="0">
                  <a:pos x="17" y="7"/>
                </a:cxn>
                <a:cxn ang="0">
                  <a:pos x="9" y="18"/>
                </a:cxn>
                <a:cxn ang="0">
                  <a:pos x="0" y="23"/>
                </a:cxn>
                <a:cxn ang="0">
                  <a:pos x="6" y="21"/>
                </a:cxn>
                <a:cxn ang="0">
                  <a:pos x="20" y="15"/>
                </a:cxn>
                <a:cxn ang="0">
                  <a:pos x="32" y="9"/>
                </a:cxn>
                <a:cxn ang="0">
                  <a:pos x="52" y="9"/>
                </a:cxn>
                <a:cxn ang="0">
                  <a:pos x="45" y="12"/>
                </a:cxn>
                <a:cxn ang="0">
                  <a:pos x="58" y="17"/>
                </a:cxn>
                <a:cxn ang="0">
                  <a:pos x="66" y="19"/>
                </a:cxn>
                <a:cxn ang="0">
                  <a:pos x="71" y="21"/>
                </a:cxn>
                <a:cxn ang="0">
                  <a:pos x="93" y="26"/>
                </a:cxn>
                <a:cxn ang="0">
                  <a:pos x="98" y="37"/>
                </a:cxn>
                <a:cxn ang="0">
                  <a:pos x="117" y="47"/>
                </a:cxn>
                <a:cxn ang="0">
                  <a:pos x="107" y="57"/>
                </a:cxn>
                <a:cxn ang="0">
                  <a:pos x="123" y="57"/>
                </a:cxn>
                <a:cxn ang="0">
                  <a:pos x="138" y="56"/>
                </a:cxn>
                <a:cxn ang="0">
                  <a:pos x="150" y="55"/>
                </a:cxn>
                <a:cxn ang="0">
                  <a:pos x="164" y="53"/>
                </a:cxn>
                <a:cxn ang="0">
                  <a:pos x="152" y="47"/>
                </a:cxn>
                <a:cxn ang="0">
                  <a:pos x="141" y="41"/>
                </a:cxn>
                <a:cxn ang="0">
                  <a:pos x="140" y="36"/>
                </a:cxn>
                <a:cxn ang="0">
                  <a:pos x="129" y="31"/>
                </a:cxn>
                <a:cxn ang="0">
                  <a:pos x="117" y="27"/>
                </a:cxn>
                <a:cxn ang="0">
                  <a:pos x="116" y="23"/>
                </a:cxn>
              </a:cxnLst>
              <a:rect l="0" t="0" r="r" b="b"/>
              <a:pathLst>
                <a:path w="164" h="57">
                  <a:moveTo>
                    <a:pt x="116" y="23"/>
                  </a:moveTo>
                  <a:lnTo>
                    <a:pt x="116" y="24"/>
                  </a:lnTo>
                  <a:lnTo>
                    <a:pt x="100" y="17"/>
                  </a:lnTo>
                  <a:lnTo>
                    <a:pt x="83" y="8"/>
                  </a:lnTo>
                  <a:lnTo>
                    <a:pt x="71" y="3"/>
                  </a:lnTo>
                  <a:lnTo>
                    <a:pt x="60" y="0"/>
                  </a:lnTo>
                  <a:lnTo>
                    <a:pt x="54" y="0"/>
                  </a:lnTo>
                  <a:lnTo>
                    <a:pt x="35" y="3"/>
                  </a:lnTo>
                  <a:lnTo>
                    <a:pt x="17" y="7"/>
                  </a:lnTo>
                  <a:lnTo>
                    <a:pt x="9" y="18"/>
                  </a:lnTo>
                  <a:lnTo>
                    <a:pt x="0" y="23"/>
                  </a:lnTo>
                  <a:lnTo>
                    <a:pt x="6" y="21"/>
                  </a:lnTo>
                  <a:lnTo>
                    <a:pt x="20" y="15"/>
                  </a:lnTo>
                  <a:lnTo>
                    <a:pt x="32" y="9"/>
                  </a:lnTo>
                  <a:lnTo>
                    <a:pt x="52" y="9"/>
                  </a:lnTo>
                  <a:lnTo>
                    <a:pt x="45" y="12"/>
                  </a:lnTo>
                  <a:lnTo>
                    <a:pt x="58" y="17"/>
                  </a:lnTo>
                  <a:lnTo>
                    <a:pt x="66" y="19"/>
                  </a:lnTo>
                  <a:lnTo>
                    <a:pt x="71" y="21"/>
                  </a:lnTo>
                  <a:lnTo>
                    <a:pt x="93" y="26"/>
                  </a:lnTo>
                  <a:lnTo>
                    <a:pt x="98" y="37"/>
                  </a:lnTo>
                  <a:lnTo>
                    <a:pt x="117" y="47"/>
                  </a:lnTo>
                  <a:lnTo>
                    <a:pt x="107" y="57"/>
                  </a:lnTo>
                  <a:lnTo>
                    <a:pt x="123" y="57"/>
                  </a:lnTo>
                  <a:lnTo>
                    <a:pt x="138" y="56"/>
                  </a:lnTo>
                  <a:lnTo>
                    <a:pt x="150" y="55"/>
                  </a:lnTo>
                  <a:lnTo>
                    <a:pt x="164" y="53"/>
                  </a:lnTo>
                  <a:lnTo>
                    <a:pt x="152" y="47"/>
                  </a:lnTo>
                  <a:lnTo>
                    <a:pt x="141" y="41"/>
                  </a:lnTo>
                  <a:lnTo>
                    <a:pt x="140" y="36"/>
                  </a:lnTo>
                  <a:lnTo>
                    <a:pt x="129" y="31"/>
                  </a:lnTo>
                  <a:lnTo>
                    <a:pt x="117" y="27"/>
                  </a:lnTo>
                  <a:lnTo>
                    <a:pt x="116" y="2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2" name="Freeform 141"/>
            <p:cNvSpPr>
              <a:spLocks/>
            </p:cNvSpPr>
            <p:nvPr/>
          </p:nvSpPr>
          <p:spPr bwMode="auto">
            <a:xfrm>
              <a:off x="1096" y="2267"/>
              <a:ext cx="11" cy="9"/>
            </a:xfrm>
            <a:custGeom>
              <a:avLst/>
              <a:gdLst/>
              <a:ahLst/>
              <a:cxnLst>
                <a:cxn ang="0">
                  <a:pos x="0" y="9"/>
                </a:cxn>
                <a:cxn ang="0">
                  <a:pos x="8" y="7"/>
                </a:cxn>
                <a:cxn ang="0">
                  <a:pos x="2" y="0"/>
                </a:cxn>
                <a:cxn ang="0">
                  <a:pos x="0" y="9"/>
                </a:cxn>
              </a:cxnLst>
              <a:rect l="0" t="0" r="r" b="b"/>
              <a:pathLst>
                <a:path w="8" h="9">
                  <a:moveTo>
                    <a:pt x="0" y="9"/>
                  </a:moveTo>
                  <a:lnTo>
                    <a:pt x="8" y="7"/>
                  </a:lnTo>
                  <a:lnTo>
                    <a:pt x="2" y="0"/>
                  </a:lnTo>
                  <a:lnTo>
                    <a:pt x="0"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3" name="Freeform 142"/>
            <p:cNvSpPr>
              <a:spLocks/>
            </p:cNvSpPr>
            <p:nvPr/>
          </p:nvSpPr>
          <p:spPr bwMode="auto">
            <a:xfrm>
              <a:off x="1120" y="2319"/>
              <a:ext cx="7" cy="2"/>
            </a:xfrm>
            <a:custGeom>
              <a:avLst/>
              <a:gdLst/>
              <a:ahLst/>
              <a:cxnLst>
                <a:cxn ang="0">
                  <a:pos x="5" y="1"/>
                </a:cxn>
                <a:cxn ang="0">
                  <a:pos x="5" y="0"/>
                </a:cxn>
                <a:cxn ang="0">
                  <a:pos x="4" y="0"/>
                </a:cxn>
                <a:cxn ang="0">
                  <a:pos x="3" y="0"/>
                </a:cxn>
                <a:cxn ang="0">
                  <a:pos x="2" y="0"/>
                </a:cxn>
                <a:cxn ang="0">
                  <a:pos x="3" y="0"/>
                </a:cxn>
                <a:cxn ang="0">
                  <a:pos x="3" y="1"/>
                </a:cxn>
                <a:cxn ang="0">
                  <a:pos x="2" y="1"/>
                </a:cxn>
                <a:cxn ang="0">
                  <a:pos x="0" y="1"/>
                </a:cxn>
                <a:cxn ang="0">
                  <a:pos x="0" y="0"/>
                </a:cxn>
                <a:cxn ang="0">
                  <a:pos x="0" y="1"/>
                </a:cxn>
                <a:cxn ang="0">
                  <a:pos x="0" y="2"/>
                </a:cxn>
                <a:cxn ang="0">
                  <a:pos x="0" y="1"/>
                </a:cxn>
                <a:cxn ang="0">
                  <a:pos x="2" y="1"/>
                </a:cxn>
                <a:cxn ang="0">
                  <a:pos x="2" y="2"/>
                </a:cxn>
                <a:cxn ang="0">
                  <a:pos x="3" y="2"/>
                </a:cxn>
                <a:cxn ang="0">
                  <a:pos x="3" y="1"/>
                </a:cxn>
                <a:cxn ang="0">
                  <a:pos x="4" y="1"/>
                </a:cxn>
                <a:cxn ang="0">
                  <a:pos x="5" y="1"/>
                </a:cxn>
              </a:cxnLst>
              <a:rect l="0" t="0" r="r" b="b"/>
              <a:pathLst>
                <a:path w="5" h="2">
                  <a:moveTo>
                    <a:pt x="5" y="1"/>
                  </a:moveTo>
                  <a:lnTo>
                    <a:pt x="5" y="0"/>
                  </a:lnTo>
                  <a:lnTo>
                    <a:pt x="4" y="0"/>
                  </a:lnTo>
                  <a:lnTo>
                    <a:pt x="3" y="0"/>
                  </a:lnTo>
                  <a:lnTo>
                    <a:pt x="2" y="0"/>
                  </a:lnTo>
                  <a:lnTo>
                    <a:pt x="3" y="0"/>
                  </a:lnTo>
                  <a:lnTo>
                    <a:pt x="3" y="1"/>
                  </a:lnTo>
                  <a:lnTo>
                    <a:pt x="2" y="1"/>
                  </a:lnTo>
                  <a:lnTo>
                    <a:pt x="0" y="1"/>
                  </a:lnTo>
                  <a:lnTo>
                    <a:pt x="0" y="0"/>
                  </a:lnTo>
                  <a:lnTo>
                    <a:pt x="0" y="1"/>
                  </a:lnTo>
                  <a:lnTo>
                    <a:pt x="0" y="2"/>
                  </a:lnTo>
                  <a:lnTo>
                    <a:pt x="0" y="1"/>
                  </a:lnTo>
                  <a:lnTo>
                    <a:pt x="2" y="1"/>
                  </a:lnTo>
                  <a:lnTo>
                    <a:pt x="2" y="2"/>
                  </a:lnTo>
                  <a:lnTo>
                    <a:pt x="3" y="2"/>
                  </a:lnTo>
                  <a:lnTo>
                    <a:pt x="3" y="1"/>
                  </a:lnTo>
                  <a:lnTo>
                    <a:pt x="4" y="1"/>
                  </a:lnTo>
                  <a:lnTo>
                    <a:pt x="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4" name="Freeform 143"/>
            <p:cNvSpPr>
              <a:spLocks/>
            </p:cNvSpPr>
            <p:nvPr/>
          </p:nvSpPr>
          <p:spPr bwMode="auto">
            <a:xfrm>
              <a:off x="1147" y="2310"/>
              <a:ext cx="2" cy="2"/>
            </a:xfrm>
            <a:custGeom>
              <a:avLst/>
              <a:gdLst/>
              <a:ahLst/>
              <a:cxnLst>
                <a:cxn ang="0">
                  <a:pos x="3" y="0"/>
                </a:cxn>
                <a:cxn ang="0">
                  <a:pos x="2" y="1"/>
                </a:cxn>
                <a:cxn ang="0">
                  <a:pos x="0" y="1"/>
                </a:cxn>
                <a:cxn ang="0">
                  <a:pos x="2" y="1"/>
                </a:cxn>
                <a:cxn ang="0">
                  <a:pos x="3" y="1"/>
                </a:cxn>
                <a:cxn ang="0">
                  <a:pos x="3" y="0"/>
                </a:cxn>
              </a:cxnLst>
              <a:rect l="0" t="0" r="r" b="b"/>
              <a:pathLst>
                <a:path w="3" h="1">
                  <a:moveTo>
                    <a:pt x="3" y="0"/>
                  </a:moveTo>
                  <a:lnTo>
                    <a:pt x="2" y="1"/>
                  </a:lnTo>
                  <a:lnTo>
                    <a:pt x="0" y="1"/>
                  </a:lnTo>
                  <a:lnTo>
                    <a:pt x="2" y="1"/>
                  </a:lnTo>
                  <a:lnTo>
                    <a:pt x="3" y="1"/>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5" name="Freeform 144"/>
            <p:cNvSpPr>
              <a:spLocks/>
            </p:cNvSpPr>
            <p:nvPr/>
          </p:nvSpPr>
          <p:spPr bwMode="auto">
            <a:xfrm>
              <a:off x="1142" y="2312"/>
              <a:ext cx="5" cy="2"/>
            </a:xfrm>
            <a:custGeom>
              <a:avLst/>
              <a:gdLst/>
              <a:ahLst/>
              <a:cxnLst>
                <a:cxn ang="0">
                  <a:pos x="2" y="0"/>
                </a:cxn>
                <a:cxn ang="0">
                  <a:pos x="1" y="0"/>
                </a:cxn>
                <a:cxn ang="0">
                  <a:pos x="0" y="0"/>
                </a:cxn>
                <a:cxn ang="0">
                  <a:pos x="0" y="1"/>
                </a:cxn>
                <a:cxn ang="0">
                  <a:pos x="1" y="1"/>
                </a:cxn>
                <a:cxn ang="0">
                  <a:pos x="1" y="0"/>
                </a:cxn>
                <a:cxn ang="0">
                  <a:pos x="2" y="0"/>
                </a:cxn>
              </a:cxnLst>
              <a:rect l="0" t="0" r="r" b="b"/>
              <a:pathLst>
                <a:path w="2" h="1">
                  <a:moveTo>
                    <a:pt x="2" y="0"/>
                  </a:moveTo>
                  <a:lnTo>
                    <a:pt x="1" y="0"/>
                  </a:lnTo>
                  <a:lnTo>
                    <a:pt x="0" y="0"/>
                  </a:lnTo>
                  <a:lnTo>
                    <a:pt x="0" y="1"/>
                  </a:lnTo>
                  <a:lnTo>
                    <a:pt x="1" y="1"/>
                  </a:lnTo>
                  <a:lnTo>
                    <a:pt x="1"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6" name="Freeform 145"/>
            <p:cNvSpPr>
              <a:spLocks/>
            </p:cNvSpPr>
            <p:nvPr/>
          </p:nvSpPr>
          <p:spPr bwMode="auto">
            <a:xfrm>
              <a:off x="1409" y="2336"/>
              <a:ext cx="2" cy="3"/>
            </a:xfrm>
            <a:custGeom>
              <a:avLst/>
              <a:gdLst/>
              <a:ahLst/>
              <a:cxnLst>
                <a:cxn ang="0">
                  <a:pos x="2" y="0"/>
                </a:cxn>
                <a:cxn ang="0">
                  <a:pos x="1" y="0"/>
                </a:cxn>
                <a:cxn ang="0">
                  <a:pos x="0" y="0"/>
                </a:cxn>
                <a:cxn ang="0">
                  <a:pos x="0" y="1"/>
                </a:cxn>
                <a:cxn ang="0">
                  <a:pos x="1" y="1"/>
                </a:cxn>
                <a:cxn ang="0">
                  <a:pos x="1" y="0"/>
                </a:cxn>
                <a:cxn ang="0">
                  <a:pos x="2" y="0"/>
                </a:cxn>
              </a:cxnLst>
              <a:rect l="0" t="0" r="r" b="b"/>
              <a:pathLst>
                <a:path w="2" h="1">
                  <a:moveTo>
                    <a:pt x="2" y="0"/>
                  </a:moveTo>
                  <a:lnTo>
                    <a:pt x="1" y="0"/>
                  </a:lnTo>
                  <a:lnTo>
                    <a:pt x="0" y="0"/>
                  </a:lnTo>
                  <a:lnTo>
                    <a:pt x="0" y="1"/>
                  </a:lnTo>
                  <a:lnTo>
                    <a:pt x="1" y="1"/>
                  </a:lnTo>
                  <a:lnTo>
                    <a:pt x="1"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7" name="Freeform 146"/>
            <p:cNvSpPr>
              <a:spLocks/>
            </p:cNvSpPr>
            <p:nvPr/>
          </p:nvSpPr>
          <p:spPr bwMode="auto">
            <a:xfrm>
              <a:off x="1414" y="2330"/>
              <a:ext cx="2" cy="2"/>
            </a:xfrm>
            <a:custGeom>
              <a:avLst/>
              <a:gdLst/>
              <a:ahLst/>
              <a:cxnLst>
                <a:cxn ang="0">
                  <a:pos x="3" y="1"/>
                </a:cxn>
                <a:cxn ang="0">
                  <a:pos x="2" y="1"/>
                </a:cxn>
                <a:cxn ang="0">
                  <a:pos x="2" y="0"/>
                </a:cxn>
                <a:cxn ang="0">
                  <a:pos x="0" y="0"/>
                </a:cxn>
                <a:cxn ang="0">
                  <a:pos x="0" y="1"/>
                </a:cxn>
                <a:cxn ang="0">
                  <a:pos x="0" y="0"/>
                </a:cxn>
                <a:cxn ang="0">
                  <a:pos x="0" y="1"/>
                </a:cxn>
                <a:cxn ang="0">
                  <a:pos x="2" y="1"/>
                </a:cxn>
                <a:cxn ang="0">
                  <a:pos x="3" y="1"/>
                </a:cxn>
              </a:cxnLst>
              <a:rect l="0" t="0" r="r" b="b"/>
              <a:pathLst>
                <a:path w="3" h="1">
                  <a:moveTo>
                    <a:pt x="3" y="1"/>
                  </a:moveTo>
                  <a:lnTo>
                    <a:pt x="2" y="1"/>
                  </a:lnTo>
                  <a:lnTo>
                    <a:pt x="2" y="0"/>
                  </a:lnTo>
                  <a:lnTo>
                    <a:pt x="0" y="0"/>
                  </a:lnTo>
                  <a:lnTo>
                    <a:pt x="0" y="1"/>
                  </a:lnTo>
                  <a:lnTo>
                    <a:pt x="0" y="0"/>
                  </a:lnTo>
                  <a:lnTo>
                    <a:pt x="0" y="1"/>
                  </a:lnTo>
                  <a:lnTo>
                    <a:pt x="2" y="1"/>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8" name="Freeform 147"/>
            <p:cNvSpPr>
              <a:spLocks/>
            </p:cNvSpPr>
            <p:nvPr/>
          </p:nvSpPr>
          <p:spPr bwMode="auto">
            <a:xfrm>
              <a:off x="1414" y="2336"/>
              <a:ext cx="2" cy="3"/>
            </a:xfrm>
            <a:custGeom>
              <a:avLst/>
              <a:gdLst/>
              <a:ahLst/>
              <a:cxnLst>
                <a:cxn ang="0">
                  <a:pos x="3" y="0"/>
                </a:cxn>
                <a:cxn ang="0">
                  <a:pos x="1" y="0"/>
                </a:cxn>
                <a:cxn ang="0">
                  <a:pos x="1" y="1"/>
                </a:cxn>
                <a:cxn ang="0">
                  <a:pos x="0" y="1"/>
                </a:cxn>
                <a:cxn ang="0">
                  <a:pos x="1" y="1"/>
                </a:cxn>
                <a:cxn ang="0">
                  <a:pos x="1" y="0"/>
                </a:cxn>
                <a:cxn ang="0">
                  <a:pos x="3" y="0"/>
                </a:cxn>
              </a:cxnLst>
              <a:rect l="0" t="0" r="r" b="b"/>
              <a:pathLst>
                <a:path w="3" h="1">
                  <a:moveTo>
                    <a:pt x="3" y="0"/>
                  </a:moveTo>
                  <a:lnTo>
                    <a:pt x="1" y="0"/>
                  </a:lnTo>
                  <a:lnTo>
                    <a:pt x="1" y="1"/>
                  </a:lnTo>
                  <a:lnTo>
                    <a:pt x="0" y="1"/>
                  </a:lnTo>
                  <a:lnTo>
                    <a:pt x="1" y="1"/>
                  </a:lnTo>
                  <a:lnTo>
                    <a:pt x="1" y="0"/>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49" name="Freeform 148"/>
            <p:cNvSpPr>
              <a:spLocks/>
            </p:cNvSpPr>
            <p:nvPr/>
          </p:nvSpPr>
          <p:spPr bwMode="auto">
            <a:xfrm>
              <a:off x="1409" y="2339"/>
              <a:ext cx="2" cy="2"/>
            </a:xfrm>
            <a:custGeom>
              <a:avLst/>
              <a:gdLst/>
              <a:ahLst/>
              <a:cxnLst>
                <a:cxn ang="0">
                  <a:pos x="1" y="0"/>
                </a:cxn>
                <a:cxn ang="0">
                  <a:pos x="0" y="0"/>
                </a:cxn>
                <a:cxn ang="0">
                  <a:pos x="0" y="1"/>
                </a:cxn>
                <a:cxn ang="0">
                  <a:pos x="0" y="0"/>
                </a:cxn>
                <a:cxn ang="0">
                  <a:pos x="1" y="0"/>
                </a:cxn>
              </a:cxnLst>
              <a:rect l="0" t="0" r="r" b="b"/>
              <a:pathLst>
                <a:path w="1" h="1">
                  <a:moveTo>
                    <a:pt x="1" y="0"/>
                  </a:moveTo>
                  <a:lnTo>
                    <a:pt x="0" y="0"/>
                  </a:lnTo>
                  <a:lnTo>
                    <a:pt x="0" y="1"/>
                  </a:ln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0" name="Freeform 149"/>
            <p:cNvSpPr>
              <a:spLocks/>
            </p:cNvSpPr>
            <p:nvPr/>
          </p:nvSpPr>
          <p:spPr bwMode="auto">
            <a:xfrm>
              <a:off x="1282" y="2310"/>
              <a:ext cx="65" cy="44"/>
            </a:xfrm>
            <a:custGeom>
              <a:avLst/>
              <a:gdLst/>
              <a:ahLst/>
              <a:cxnLst>
                <a:cxn ang="0">
                  <a:pos x="5" y="2"/>
                </a:cxn>
                <a:cxn ang="0">
                  <a:pos x="2" y="15"/>
                </a:cxn>
                <a:cxn ang="0">
                  <a:pos x="0" y="21"/>
                </a:cxn>
                <a:cxn ang="0">
                  <a:pos x="1" y="32"/>
                </a:cxn>
                <a:cxn ang="0">
                  <a:pos x="6" y="40"/>
                </a:cxn>
                <a:cxn ang="0">
                  <a:pos x="13" y="30"/>
                </a:cxn>
                <a:cxn ang="0">
                  <a:pos x="20" y="26"/>
                </a:cxn>
                <a:cxn ang="0">
                  <a:pos x="29" y="27"/>
                </a:cxn>
                <a:cxn ang="0">
                  <a:pos x="49" y="28"/>
                </a:cxn>
                <a:cxn ang="0">
                  <a:pos x="56" y="21"/>
                </a:cxn>
                <a:cxn ang="0">
                  <a:pos x="38" y="13"/>
                </a:cxn>
                <a:cxn ang="0">
                  <a:pos x="42" y="9"/>
                </a:cxn>
                <a:cxn ang="0">
                  <a:pos x="33" y="6"/>
                </a:cxn>
                <a:cxn ang="0">
                  <a:pos x="12" y="0"/>
                </a:cxn>
                <a:cxn ang="0">
                  <a:pos x="5" y="2"/>
                </a:cxn>
              </a:cxnLst>
              <a:rect l="0" t="0" r="r" b="b"/>
              <a:pathLst>
                <a:path w="56" h="40">
                  <a:moveTo>
                    <a:pt x="5" y="2"/>
                  </a:moveTo>
                  <a:lnTo>
                    <a:pt x="2" y="15"/>
                  </a:lnTo>
                  <a:lnTo>
                    <a:pt x="0" y="21"/>
                  </a:lnTo>
                  <a:lnTo>
                    <a:pt x="1" y="32"/>
                  </a:lnTo>
                  <a:lnTo>
                    <a:pt x="6" y="40"/>
                  </a:lnTo>
                  <a:lnTo>
                    <a:pt x="13" y="30"/>
                  </a:lnTo>
                  <a:lnTo>
                    <a:pt x="20" y="26"/>
                  </a:lnTo>
                  <a:lnTo>
                    <a:pt x="29" y="27"/>
                  </a:lnTo>
                  <a:lnTo>
                    <a:pt x="49" y="28"/>
                  </a:lnTo>
                  <a:lnTo>
                    <a:pt x="56" y="21"/>
                  </a:lnTo>
                  <a:lnTo>
                    <a:pt x="38" y="13"/>
                  </a:lnTo>
                  <a:lnTo>
                    <a:pt x="42" y="9"/>
                  </a:lnTo>
                  <a:lnTo>
                    <a:pt x="33" y="6"/>
                  </a:lnTo>
                  <a:lnTo>
                    <a:pt x="12"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1" name="Freeform 150"/>
            <p:cNvSpPr>
              <a:spLocks/>
            </p:cNvSpPr>
            <p:nvPr/>
          </p:nvSpPr>
          <p:spPr bwMode="auto">
            <a:xfrm>
              <a:off x="1238" y="2310"/>
              <a:ext cx="51" cy="35"/>
            </a:xfrm>
            <a:custGeom>
              <a:avLst/>
              <a:gdLst/>
              <a:ahLst/>
              <a:cxnLst>
                <a:cxn ang="0">
                  <a:pos x="46" y="2"/>
                </a:cxn>
                <a:cxn ang="0">
                  <a:pos x="43" y="15"/>
                </a:cxn>
                <a:cxn ang="0">
                  <a:pos x="41" y="21"/>
                </a:cxn>
                <a:cxn ang="0">
                  <a:pos x="42" y="32"/>
                </a:cxn>
                <a:cxn ang="0">
                  <a:pos x="26" y="31"/>
                </a:cxn>
                <a:cxn ang="0">
                  <a:pos x="10" y="31"/>
                </a:cxn>
                <a:cxn ang="0">
                  <a:pos x="0" y="25"/>
                </a:cxn>
                <a:cxn ang="0">
                  <a:pos x="8" y="22"/>
                </a:cxn>
                <a:cxn ang="0">
                  <a:pos x="22" y="22"/>
                </a:cxn>
                <a:cxn ang="0">
                  <a:pos x="34" y="24"/>
                </a:cxn>
                <a:cxn ang="0">
                  <a:pos x="29" y="9"/>
                </a:cxn>
                <a:cxn ang="0">
                  <a:pos x="23" y="3"/>
                </a:cxn>
                <a:cxn ang="0">
                  <a:pos x="20" y="0"/>
                </a:cxn>
                <a:cxn ang="0">
                  <a:pos x="36" y="1"/>
                </a:cxn>
                <a:cxn ang="0">
                  <a:pos x="46" y="2"/>
                </a:cxn>
              </a:cxnLst>
              <a:rect l="0" t="0" r="r" b="b"/>
              <a:pathLst>
                <a:path w="46" h="32">
                  <a:moveTo>
                    <a:pt x="46" y="2"/>
                  </a:moveTo>
                  <a:lnTo>
                    <a:pt x="43" y="15"/>
                  </a:lnTo>
                  <a:lnTo>
                    <a:pt x="41" y="21"/>
                  </a:lnTo>
                  <a:lnTo>
                    <a:pt x="42" y="32"/>
                  </a:lnTo>
                  <a:lnTo>
                    <a:pt x="26" y="31"/>
                  </a:lnTo>
                  <a:lnTo>
                    <a:pt x="10" y="31"/>
                  </a:lnTo>
                  <a:lnTo>
                    <a:pt x="0" y="25"/>
                  </a:lnTo>
                  <a:lnTo>
                    <a:pt x="8" y="22"/>
                  </a:lnTo>
                  <a:lnTo>
                    <a:pt x="22" y="22"/>
                  </a:lnTo>
                  <a:lnTo>
                    <a:pt x="34" y="24"/>
                  </a:lnTo>
                  <a:lnTo>
                    <a:pt x="29" y="9"/>
                  </a:lnTo>
                  <a:lnTo>
                    <a:pt x="23" y="3"/>
                  </a:lnTo>
                  <a:lnTo>
                    <a:pt x="20" y="0"/>
                  </a:lnTo>
                  <a:lnTo>
                    <a:pt x="36" y="1"/>
                  </a:lnTo>
                  <a:lnTo>
                    <a:pt x="4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2" name="Freeform 151"/>
            <p:cNvSpPr>
              <a:spLocks/>
            </p:cNvSpPr>
            <p:nvPr/>
          </p:nvSpPr>
          <p:spPr bwMode="auto">
            <a:xfrm>
              <a:off x="1282" y="2270"/>
              <a:ext cx="5" cy="2"/>
            </a:xfrm>
            <a:custGeom>
              <a:avLst/>
              <a:gdLst/>
              <a:ahLst/>
              <a:cxnLst>
                <a:cxn ang="0">
                  <a:pos x="2" y="1"/>
                </a:cxn>
                <a:cxn ang="0">
                  <a:pos x="0" y="1"/>
                </a:cxn>
                <a:cxn ang="0">
                  <a:pos x="0" y="0"/>
                </a:cxn>
                <a:cxn ang="0">
                  <a:pos x="3" y="1"/>
                </a:cxn>
                <a:cxn ang="0">
                  <a:pos x="2" y="1"/>
                </a:cxn>
              </a:cxnLst>
              <a:rect l="0" t="0" r="r" b="b"/>
              <a:pathLst>
                <a:path w="3" h="1">
                  <a:moveTo>
                    <a:pt x="2" y="1"/>
                  </a:moveTo>
                  <a:lnTo>
                    <a:pt x="0" y="1"/>
                  </a:lnTo>
                  <a:lnTo>
                    <a:pt x="0" y="0"/>
                  </a:lnTo>
                  <a:lnTo>
                    <a:pt x="3" y="1"/>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3" name="Freeform 152"/>
            <p:cNvSpPr>
              <a:spLocks/>
            </p:cNvSpPr>
            <p:nvPr/>
          </p:nvSpPr>
          <p:spPr bwMode="auto">
            <a:xfrm>
              <a:off x="1291" y="2270"/>
              <a:ext cx="5" cy="2"/>
            </a:xfrm>
            <a:custGeom>
              <a:avLst/>
              <a:gdLst/>
              <a:ahLst/>
              <a:cxnLst>
                <a:cxn ang="0">
                  <a:pos x="4" y="1"/>
                </a:cxn>
                <a:cxn ang="0">
                  <a:pos x="0" y="0"/>
                </a:cxn>
                <a:cxn ang="0">
                  <a:pos x="4" y="1"/>
                </a:cxn>
              </a:cxnLst>
              <a:rect l="0" t="0" r="r" b="b"/>
              <a:pathLst>
                <a:path w="4" h="1">
                  <a:moveTo>
                    <a:pt x="4" y="1"/>
                  </a:moveTo>
                  <a:lnTo>
                    <a:pt x="0" y="0"/>
                  </a:lnTo>
                  <a:lnTo>
                    <a:pt x="4"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4" name="Freeform 153"/>
            <p:cNvSpPr>
              <a:spLocks/>
            </p:cNvSpPr>
            <p:nvPr/>
          </p:nvSpPr>
          <p:spPr bwMode="auto">
            <a:xfrm>
              <a:off x="1465" y="2425"/>
              <a:ext cx="2" cy="7"/>
            </a:xfrm>
            <a:custGeom>
              <a:avLst/>
              <a:gdLst/>
              <a:ahLst/>
              <a:cxnLst>
                <a:cxn ang="0">
                  <a:pos x="1" y="6"/>
                </a:cxn>
                <a:cxn ang="0">
                  <a:pos x="0" y="2"/>
                </a:cxn>
                <a:cxn ang="0">
                  <a:pos x="2" y="0"/>
                </a:cxn>
                <a:cxn ang="0">
                  <a:pos x="1" y="6"/>
                </a:cxn>
              </a:cxnLst>
              <a:rect l="0" t="0" r="r" b="b"/>
              <a:pathLst>
                <a:path w="2" h="6">
                  <a:moveTo>
                    <a:pt x="1" y="6"/>
                  </a:moveTo>
                  <a:lnTo>
                    <a:pt x="0" y="2"/>
                  </a:lnTo>
                  <a:lnTo>
                    <a:pt x="2" y="0"/>
                  </a:lnTo>
                  <a:lnTo>
                    <a:pt x="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5" name="Freeform 154"/>
            <p:cNvSpPr>
              <a:spLocks/>
            </p:cNvSpPr>
            <p:nvPr/>
          </p:nvSpPr>
          <p:spPr bwMode="auto">
            <a:xfrm>
              <a:off x="1025" y="2483"/>
              <a:ext cx="58" cy="62"/>
            </a:xfrm>
            <a:custGeom>
              <a:avLst/>
              <a:gdLst/>
              <a:ahLst/>
              <a:cxnLst>
                <a:cxn ang="0">
                  <a:pos x="12" y="27"/>
                </a:cxn>
                <a:cxn ang="0">
                  <a:pos x="0" y="13"/>
                </a:cxn>
                <a:cxn ang="0">
                  <a:pos x="2" y="5"/>
                </a:cxn>
                <a:cxn ang="0">
                  <a:pos x="2" y="2"/>
                </a:cxn>
                <a:cxn ang="0">
                  <a:pos x="5" y="0"/>
                </a:cxn>
                <a:cxn ang="0">
                  <a:pos x="26" y="5"/>
                </a:cxn>
                <a:cxn ang="0">
                  <a:pos x="36" y="3"/>
                </a:cxn>
                <a:cxn ang="0">
                  <a:pos x="44" y="15"/>
                </a:cxn>
                <a:cxn ang="0">
                  <a:pos x="52" y="27"/>
                </a:cxn>
                <a:cxn ang="0">
                  <a:pos x="46" y="29"/>
                </a:cxn>
                <a:cxn ang="0">
                  <a:pos x="47" y="41"/>
                </a:cxn>
                <a:cxn ang="0">
                  <a:pos x="46" y="55"/>
                </a:cxn>
                <a:cxn ang="0">
                  <a:pos x="37" y="43"/>
                </a:cxn>
                <a:cxn ang="0">
                  <a:pos x="37" y="48"/>
                </a:cxn>
                <a:cxn ang="0">
                  <a:pos x="35" y="42"/>
                </a:cxn>
                <a:cxn ang="0">
                  <a:pos x="30" y="32"/>
                </a:cxn>
                <a:cxn ang="0">
                  <a:pos x="19" y="24"/>
                </a:cxn>
                <a:cxn ang="0">
                  <a:pos x="10" y="15"/>
                </a:cxn>
                <a:cxn ang="0">
                  <a:pos x="13" y="24"/>
                </a:cxn>
                <a:cxn ang="0">
                  <a:pos x="12" y="27"/>
                </a:cxn>
              </a:cxnLst>
              <a:rect l="0" t="0" r="r" b="b"/>
              <a:pathLst>
                <a:path w="52" h="55">
                  <a:moveTo>
                    <a:pt x="12" y="27"/>
                  </a:moveTo>
                  <a:lnTo>
                    <a:pt x="0" y="13"/>
                  </a:lnTo>
                  <a:lnTo>
                    <a:pt x="2" y="5"/>
                  </a:lnTo>
                  <a:lnTo>
                    <a:pt x="2" y="2"/>
                  </a:lnTo>
                  <a:lnTo>
                    <a:pt x="5" y="0"/>
                  </a:lnTo>
                  <a:lnTo>
                    <a:pt x="26" y="5"/>
                  </a:lnTo>
                  <a:lnTo>
                    <a:pt x="36" y="3"/>
                  </a:lnTo>
                  <a:lnTo>
                    <a:pt x="44" y="15"/>
                  </a:lnTo>
                  <a:lnTo>
                    <a:pt x="52" y="27"/>
                  </a:lnTo>
                  <a:lnTo>
                    <a:pt x="46" y="29"/>
                  </a:lnTo>
                  <a:lnTo>
                    <a:pt x="47" y="41"/>
                  </a:lnTo>
                  <a:lnTo>
                    <a:pt x="46" y="55"/>
                  </a:lnTo>
                  <a:lnTo>
                    <a:pt x="37" y="43"/>
                  </a:lnTo>
                  <a:lnTo>
                    <a:pt x="37" y="48"/>
                  </a:lnTo>
                  <a:lnTo>
                    <a:pt x="35" y="42"/>
                  </a:lnTo>
                  <a:lnTo>
                    <a:pt x="30" y="32"/>
                  </a:lnTo>
                  <a:lnTo>
                    <a:pt x="19" y="24"/>
                  </a:lnTo>
                  <a:lnTo>
                    <a:pt x="10" y="15"/>
                  </a:lnTo>
                  <a:lnTo>
                    <a:pt x="13" y="24"/>
                  </a:lnTo>
                  <a:lnTo>
                    <a:pt x="12"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6" name="Freeform 155"/>
            <p:cNvSpPr>
              <a:spLocks/>
            </p:cNvSpPr>
            <p:nvPr/>
          </p:nvSpPr>
          <p:spPr bwMode="auto">
            <a:xfrm>
              <a:off x="1489" y="2441"/>
              <a:ext cx="5" cy="2"/>
            </a:xfrm>
            <a:custGeom>
              <a:avLst/>
              <a:gdLst/>
              <a:ahLst/>
              <a:cxnLst>
                <a:cxn ang="0">
                  <a:pos x="3" y="4"/>
                </a:cxn>
                <a:cxn ang="0">
                  <a:pos x="1" y="4"/>
                </a:cxn>
                <a:cxn ang="0">
                  <a:pos x="0" y="0"/>
                </a:cxn>
                <a:cxn ang="0">
                  <a:pos x="3" y="3"/>
                </a:cxn>
                <a:cxn ang="0">
                  <a:pos x="3" y="4"/>
                </a:cxn>
              </a:cxnLst>
              <a:rect l="0" t="0" r="r" b="b"/>
              <a:pathLst>
                <a:path w="3" h="4">
                  <a:moveTo>
                    <a:pt x="3" y="4"/>
                  </a:moveTo>
                  <a:lnTo>
                    <a:pt x="1" y="4"/>
                  </a:lnTo>
                  <a:lnTo>
                    <a:pt x="0" y="0"/>
                  </a:lnTo>
                  <a:lnTo>
                    <a:pt x="3" y="3"/>
                  </a:lnTo>
                  <a:lnTo>
                    <a:pt x="3"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7" name="Freeform 156"/>
            <p:cNvSpPr>
              <a:spLocks/>
            </p:cNvSpPr>
            <p:nvPr/>
          </p:nvSpPr>
          <p:spPr bwMode="auto">
            <a:xfrm>
              <a:off x="1460" y="2394"/>
              <a:ext cx="2" cy="9"/>
            </a:xfrm>
            <a:custGeom>
              <a:avLst/>
              <a:gdLst/>
              <a:ahLst/>
              <a:cxnLst>
                <a:cxn ang="0">
                  <a:pos x="4" y="5"/>
                </a:cxn>
                <a:cxn ang="0">
                  <a:pos x="1" y="8"/>
                </a:cxn>
                <a:cxn ang="0">
                  <a:pos x="0" y="0"/>
                </a:cxn>
                <a:cxn ang="0">
                  <a:pos x="3" y="0"/>
                </a:cxn>
                <a:cxn ang="0">
                  <a:pos x="4" y="5"/>
                </a:cxn>
              </a:cxnLst>
              <a:rect l="0" t="0" r="r" b="b"/>
              <a:pathLst>
                <a:path w="4" h="8">
                  <a:moveTo>
                    <a:pt x="4" y="5"/>
                  </a:moveTo>
                  <a:lnTo>
                    <a:pt x="1" y="8"/>
                  </a:lnTo>
                  <a:lnTo>
                    <a:pt x="0" y="0"/>
                  </a:lnTo>
                  <a:lnTo>
                    <a:pt x="3" y="0"/>
                  </a:lnTo>
                  <a:lnTo>
                    <a:pt x="4"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8" name="Freeform 157"/>
            <p:cNvSpPr>
              <a:spLocks/>
            </p:cNvSpPr>
            <p:nvPr/>
          </p:nvSpPr>
          <p:spPr bwMode="auto">
            <a:xfrm>
              <a:off x="956" y="2416"/>
              <a:ext cx="40" cy="27"/>
            </a:xfrm>
            <a:custGeom>
              <a:avLst/>
              <a:gdLst/>
              <a:ahLst/>
              <a:cxnLst>
                <a:cxn ang="0">
                  <a:pos x="35" y="18"/>
                </a:cxn>
                <a:cxn ang="0">
                  <a:pos x="31" y="23"/>
                </a:cxn>
                <a:cxn ang="0">
                  <a:pos x="23" y="20"/>
                </a:cxn>
                <a:cxn ang="0">
                  <a:pos x="12" y="17"/>
                </a:cxn>
                <a:cxn ang="0">
                  <a:pos x="0" y="12"/>
                </a:cxn>
                <a:cxn ang="0">
                  <a:pos x="13" y="0"/>
                </a:cxn>
                <a:cxn ang="0">
                  <a:pos x="23" y="7"/>
                </a:cxn>
                <a:cxn ang="0">
                  <a:pos x="36" y="9"/>
                </a:cxn>
                <a:cxn ang="0">
                  <a:pos x="35" y="18"/>
                </a:cxn>
              </a:cxnLst>
              <a:rect l="0" t="0" r="r" b="b"/>
              <a:pathLst>
                <a:path w="36" h="23">
                  <a:moveTo>
                    <a:pt x="35" y="18"/>
                  </a:moveTo>
                  <a:lnTo>
                    <a:pt x="31" y="23"/>
                  </a:lnTo>
                  <a:lnTo>
                    <a:pt x="23" y="20"/>
                  </a:lnTo>
                  <a:lnTo>
                    <a:pt x="12" y="17"/>
                  </a:lnTo>
                  <a:lnTo>
                    <a:pt x="0" y="12"/>
                  </a:lnTo>
                  <a:lnTo>
                    <a:pt x="13" y="0"/>
                  </a:lnTo>
                  <a:lnTo>
                    <a:pt x="23" y="7"/>
                  </a:lnTo>
                  <a:lnTo>
                    <a:pt x="36" y="9"/>
                  </a:lnTo>
                  <a:lnTo>
                    <a:pt x="35"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59" name="Freeform 158"/>
            <p:cNvSpPr>
              <a:spLocks/>
            </p:cNvSpPr>
            <p:nvPr/>
          </p:nvSpPr>
          <p:spPr bwMode="auto">
            <a:xfrm>
              <a:off x="971" y="2387"/>
              <a:ext cx="109" cy="60"/>
            </a:xfrm>
            <a:custGeom>
              <a:avLst/>
              <a:gdLst/>
              <a:ahLst/>
              <a:cxnLst>
                <a:cxn ang="0">
                  <a:pos x="53" y="36"/>
                </a:cxn>
                <a:cxn ang="0">
                  <a:pos x="47" y="38"/>
                </a:cxn>
                <a:cxn ang="0">
                  <a:pos x="40" y="42"/>
                </a:cxn>
                <a:cxn ang="0">
                  <a:pos x="34" y="53"/>
                </a:cxn>
                <a:cxn ang="0">
                  <a:pos x="30" y="53"/>
                </a:cxn>
                <a:cxn ang="0">
                  <a:pos x="28" y="46"/>
                </a:cxn>
                <a:cxn ang="0">
                  <a:pos x="22" y="45"/>
                </a:cxn>
                <a:cxn ang="0">
                  <a:pos x="23" y="36"/>
                </a:cxn>
                <a:cxn ang="0">
                  <a:pos x="10" y="34"/>
                </a:cxn>
                <a:cxn ang="0">
                  <a:pos x="0" y="27"/>
                </a:cxn>
                <a:cxn ang="0">
                  <a:pos x="10" y="12"/>
                </a:cxn>
                <a:cxn ang="0">
                  <a:pos x="20" y="4"/>
                </a:cxn>
                <a:cxn ang="0">
                  <a:pos x="22" y="4"/>
                </a:cxn>
                <a:cxn ang="0">
                  <a:pos x="37" y="2"/>
                </a:cxn>
                <a:cxn ang="0">
                  <a:pos x="53" y="0"/>
                </a:cxn>
                <a:cxn ang="0">
                  <a:pos x="65" y="2"/>
                </a:cxn>
                <a:cxn ang="0">
                  <a:pos x="78" y="2"/>
                </a:cxn>
                <a:cxn ang="0">
                  <a:pos x="88" y="9"/>
                </a:cxn>
                <a:cxn ang="0">
                  <a:pos x="85" y="8"/>
                </a:cxn>
                <a:cxn ang="0">
                  <a:pos x="86" y="11"/>
                </a:cxn>
                <a:cxn ang="0">
                  <a:pos x="92" y="11"/>
                </a:cxn>
                <a:cxn ang="0">
                  <a:pos x="98" y="17"/>
                </a:cxn>
                <a:cxn ang="0">
                  <a:pos x="85" y="18"/>
                </a:cxn>
                <a:cxn ang="0">
                  <a:pos x="72" y="21"/>
                </a:cxn>
                <a:cxn ang="0">
                  <a:pos x="53" y="36"/>
                </a:cxn>
              </a:cxnLst>
              <a:rect l="0" t="0" r="r" b="b"/>
              <a:pathLst>
                <a:path w="98" h="53">
                  <a:moveTo>
                    <a:pt x="53" y="36"/>
                  </a:moveTo>
                  <a:lnTo>
                    <a:pt x="47" y="38"/>
                  </a:lnTo>
                  <a:lnTo>
                    <a:pt x="40" y="42"/>
                  </a:lnTo>
                  <a:lnTo>
                    <a:pt x="34" y="53"/>
                  </a:lnTo>
                  <a:lnTo>
                    <a:pt x="30" y="53"/>
                  </a:lnTo>
                  <a:lnTo>
                    <a:pt x="28" y="46"/>
                  </a:lnTo>
                  <a:lnTo>
                    <a:pt x="22" y="45"/>
                  </a:lnTo>
                  <a:lnTo>
                    <a:pt x="23" y="36"/>
                  </a:lnTo>
                  <a:lnTo>
                    <a:pt x="10" y="34"/>
                  </a:lnTo>
                  <a:lnTo>
                    <a:pt x="0" y="27"/>
                  </a:lnTo>
                  <a:lnTo>
                    <a:pt x="10" y="12"/>
                  </a:lnTo>
                  <a:lnTo>
                    <a:pt x="20" y="4"/>
                  </a:lnTo>
                  <a:lnTo>
                    <a:pt x="22" y="4"/>
                  </a:lnTo>
                  <a:lnTo>
                    <a:pt x="37" y="2"/>
                  </a:lnTo>
                  <a:lnTo>
                    <a:pt x="53" y="0"/>
                  </a:lnTo>
                  <a:lnTo>
                    <a:pt x="65" y="2"/>
                  </a:lnTo>
                  <a:lnTo>
                    <a:pt x="78" y="2"/>
                  </a:lnTo>
                  <a:lnTo>
                    <a:pt x="88" y="9"/>
                  </a:lnTo>
                  <a:lnTo>
                    <a:pt x="85" y="8"/>
                  </a:lnTo>
                  <a:lnTo>
                    <a:pt x="86" y="11"/>
                  </a:lnTo>
                  <a:lnTo>
                    <a:pt x="92" y="11"/>
                  </a:lnTo>
                  <a:lnTo>
                    <a:pt x="98" y="17"/>
                  </a:lnTo>
                  <a:lnTo>
                    <a:pt x="85" y="18"/>
                  </a:lnTo>
                  <a:lnTo>
                    <a:pt x="72" y="21"/>
                  </a:lnTo>
                  <a:lnTo>
                    <a:pt x="53"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0" name="Freeform 159"/>
            <p:cNvSpPr>
              <a:spLocks/>
            </p:cNvSpPr>
            <p:nvPr/>
          </p:nvSpPr>
          <p:spPr bwMode="auto">
            <a:xfrm>
              <a:off x="1462" y="2410"/>
              <a:ext cx="7" cy="6"/>
            </a:xfrm>
            <a:custGeom>
              <a:avLst/>
              <a:gdLst/>
              <a:ahLst/>
              <a:cxnLst>
                <a:cxn ang="0">
                  <a:pos x="6" y="6"/>
                </a:cxn>
                <a:cxn ang="0">
                  <a:pos x="0" y="0"/>
                </a:cxn>
                <a:cxn ang="0">
                  <a:pos x="7" y="6"/>
                </a:cxn>
                <a:cxn ang="0">
                  <a:pos x="6" y="6"/>
                </a:cxn>
              </a:cxnLst>
              <a:rect l="0" t="0" r="r" b="b"/>
              <a:pathLst>
                <a:path w="7" h="6">
                  <a:moveTo>
                    <a:pt x="6" y="6"/>
                  </a:moveTo>
                  <a:lnTo>
                    <a:pt x="0" y="0"/>
                  </a:lnTo>
                  <a:lnTo>
                    <a:pt x="7" y="6"/>
                  </a:lnTo>
                  <a:lnTo>
                    <a:pt x="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1" name="Freeform 160"/>
            <p:cNvSpPr>
              <a:spLocks/>
            </p:cNvSpPr>
            <p:nvPr/>
          </p:nvSpPr>
          <p:spPr bwMode="auto">
            <a:xfrm>
              <a:off x="998" y="2407"/>
              <a:ext cx="82" cy="83"/>
            </a:xfrm>
            <a:custGeom>
              <a:avLst/>
              <a:gdLst/>
              <a:ahLst/>
              <a:cxnLst>
                <a:cxn ang="0">
                  <a:pos x="29" y="19"/>
                </a:cxn>
                <a:cxn ang="0">
                  <a:pos x="23" y="21"/>
                </a:cxn>
                <a:cxn ang="0">
                  <a:pos x="16" y="25"/>
                </a:cxn>
                <a:cxn ang="0">
                  <a:pos x="10" y="36"/>
                </a:cxn>
                <a:cxn ang="0">
                  <a:pos x="6" y="36"/>
                </a:cxn>
                <a:cxn ang="0">
                  <a:pos x="0" y="37"/>
                </a:cxn>
                <a:cxn ang="0">
                  <a:pos x="14" y="54"/>
                </a:cxn>
                <a:cxn ang="0">
                  <a:pos x="29" y="70"/>
                </a:cxn>
                <a:cxn ang="0">
                  <a:pos x="50" y="75"/>
                </a:cxn>
                <a:cxn ang="0">
                  <a:pos x="60" y="73"/>
                </a:cxn>
                <a:cxn ang="0">
                  <a:pos x="60" y="61"/>
                </a:cxn>
                <a:cxn ang="0">
                  <a:pos x="61" y="52"/>
                </a:cxn>
                <a:cxn ang="0">
                  <a:pos x="64" y="41"/>
                </a:cxn>
                <a:cxn ang="0">
                  <a:pos x="65" y="45"/>
                </a:cxn>
                <a:cxn ang="0">
                  <a:pos x="67" y="31"/>
                </a:cxn>
                <a:cxn ang="0">
                  <a:pos x="70" y="17"/>
                </a:cxn>
                <a:cxn ang="0">
                  <a:pos x="70" y="3"/>
                </a:cxn>
                <a:cxn ang="0">
                  <a:pos x="74" y="0"/>
                </a:cxn>
                <a:cxn ang="0">
                  <a:pos x="61" y="1"/>
                </a:cxn>
                <a:cxn ang="0">
                  <a:pos x="48" y="4"/>
                </a:cxn>
                <a:cxn ang="0">
                  <a:pos x="29" y="19"/>
                </a:cxn>
              </a:cxnLst>
              <a:rect l="0" t="0" r="r" b="b"/>
              <a:pathLst>
                <a:path w="74" h="75">
                  <a:moveTo>
                    <a:pt x="29" y="19"/>
                  </a:moveTo>
                  <a:lnTo>
                    <a:pt x="23" y="21"/>
                  </a:lnTo>
                  <a:lnTo>
                    <a:pt x="16" y="25"/>
                  </a:lnTo>
                  <a:lnTo>
                    <a:pt x="10" y="36"/>
                  </a:lnTo>
                  <a:lnTo>
                    <a:pt x="6" y="36"/>
                  </a:lnTo>
                  <a:lnTo>
                    <a:pt x="0" y="37"/>
                  </a:lnTo>
                  <a:lnTo>
                    <a:pt x="14" y="54"/>
                  </a:lnTo>
                  <a:lnTo>
                    <a:pt x="29" y="70"/>
                  </a:lnTo>
                  <a:lnTo>
                    <a:pt x="50" y="75"/>
                  </a:lnTo>
                  <a:lnTo>
                    <a:pt x="60" y="73"/>
                  </a:lnTo>
                  <a:lnTo>
                    <a:pt x="60" y="61"/>
                  </a:lnTo>
                  <a:lnTo>
                    <a:pt x="61" y="52"/>
                  </a:lnTo>
                  <a:lnTo>
                    <a:pt x="64" y="41"/>
                  </a:lnTo>
                  <a:lnTo>
                    <a:pt x="65" y="45"/>
                  </a:lnTo>
                  <a:lnTo>
                    <a:pt x="67" y="31"/>
                  </a:lnTo>
                  <a:lnTo>
                    <a:pt x="70" y="17"/>
                  </a:lnTo>
                  <a:lnTo>
                    <a:pt x="70" y="3"/>
                  </a:lnTo>
                  <a:lnTo>
                    <a:pt x="74" y="0"/>
                  </a:lnTo>
                  <a:lnTo>
                    <a:pt x="61" y="1"/>
                  </a:lnTo>
                  <a:lnTo>
                    <a:pt x="48" y="4"/>
                  </a:lnTo>
                  <a:lnTo>
                    <a:pt x="29" y="1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2" name="Freeform 161"/>
            <p:cNvSpPr>
              <a:spLocks/>
            </p:cNvSpPr>
            <p:nvPr/>
          </p:nvSpPr>
          <p:spPr bwMode="auto">
            <a:xfrm>
              <a:off x="1460" y="2439"/>
              <a:ext cx="2" cy="4"/>
            </a:xfrm>
            <a:custGeom>
              <a:avLst/>
              <a:gdLst/>
              <a:ahLst/>
              <a:cxnLst>
                <a:cxn ang="0">
                  <a:pos x="2" y="4"/>
                </a:cxn>
                <a:cxn ang="0">
                  <a:pos x="2" y="0"/>
                </a:cxn>
                <a:cxn ang="0">
                  <a:pos x="0" y="2"/>
                </a:cxn>
                <a:cxn ang="0">
                  <a:pos x="2" y="4"/>
                </a:cxn>
              </a:cxnLst>
              <a:rect l="0" t="0" r="r" b="b"/>
              <a:pathLst>
                <a:path w="2" h="4">
                  <a:moveTo>
                    <a:pt x="2" y="4"/>
                  </a:moveTo>
                  <a:lnTo>
                    <a:pt x="2" y="0"/>
                  </a:lnTo>
                  <a:lnTo>
                    <a:pt x="0" y="2"/>
                  </a:lnTo>
                  <a:lnTo>
                    <a:pt x="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3" name="Freeform 162"/>
            <p:cNvSpPr>
              <a:spLocks/>
            </p:cNvSpPr>
            <p:nvPr/>
          </p:nvSpPr>
          <p:spPr bwMode="auto">
            <a:xfrm>
              <a:off x="1442" y="2363"/>
              <a:ext cx="3" cy="2"/>
            </a:xfrm>
            <a:custGeom>
              <a:avLst/>
              <a:gdLst/>
              <a:ahLst/>
              <a:cxnLst>
                <a:cxn ang="0">
                  <a:pos x="1" y="1"/>
                </a:cxn>
                <a:cxn ang="0">
                  <a:pos x="0" y="0"/>
                </a:cxn>
                <a:cxn ang="0">
                  <a:pos x="1" y="1"/>
                </a:cxn>
              </a:cxnLst>
              <a:rect l="0" t="0" r="r" b="b"/>
              <a:pathLst>
                <a:path w="1" h="1">
                  <a:moveTo>
                    <a:pt x="1" y="1"/>
                  </a:moveTo>
                  <a:lnTo>
                    <a:pt x="0" y="0"/>
                  </a:lnTo>
                  <a:lnTo>
                    <a:pt x="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4" name="Freeform 163"/>
            <p:cNvSpPr>
              <a:spLocks/>
            </p:cNvSpPr>
            <p:nvPr/>
          </p:nvSpPr>
          <p:spPr bwMode="auto">
            <a:xfrm>
              <a:off x="1438" y="2359"/>
              <a:ext cx="4" cy="2"/>
            </a:xfrm>
            <a:custGeom>
              <a:avLst/>
              <a:gdLst/>
              <a:ahLst/>
              <a:cxnLst>
                <a:cxn ang="0">
                  <a:pos x="4" y="2"/>
                </a:cxn>
                <a:cxn ang="0">
                  <a:pos x="0" y="0"/>
                </a:cxn>
                <a:cxn ang="0">
                  <a:pos x="4" y="2"/>
                </a:cxn>
              </a:cxnLst>
              <a:rect l="0" t="0" r="r" b="b"/>
              <a:pathLst>
                <a:path w="4" h="2">
                  <a:moveTo>
                    <a:pt x="4" y="2"/>
                  </a:moveTo>
                  <a:lnTo>
                    <a:pt x="0" y="0"/>
                  </a:lnTo>
                  <a:lnTo>
                    <a:pt x="4"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5" name="Freeform 164"/>
            <p:cNvSpPr>
              <a:spLocks/>
            </p:cNvSpPr>
            <p:nvPr/>
          </p:nvSpPr>
          <p:spPr bwMode="auto">
            <a:xfrm>
              <a:off x="1456" y="2381"/>
              <a:ext cx="4" cy="4"/>
            </a:xfrm>
            <a:custGeom>
              <a:avLst/>
              <a:gdLst/>
              <a:ahLst/>
              <a:cxnLst>
                <a:cxn ang="0">
                  <a:pos x="2" y="0"/>
                </a:cxn>
                <a:cxn ang="0">
                  <a:pos x="3" y="1"/>
                </a:cxn>
                <a:cxn ang="0">
                  <a:pos x="0" y="5"/>
                </a:cxn>
                <a:cxn ang="0">
                  <a:pos x="2" y="0"/>
                </a:cxn>
              </a:cxnLst>
              <a:rect l="0" t="0" r="r" b="b"/>
              <a:pathLst>
                <a:path w="3" h="5">
                  <a:moveTo>
                    <a:pt x="2" y="0"/>
                  </a:moveTo>
                  <a:lnTo>
                    <a:pt x="3" y="1"/>
                  </a:lnTo>
                  <a:lnTo>
                    <a:pt x="0" y="5"/>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6" name="Freeform 165"/>
            <p:cNvSpPr>
              <a:spLocks/>
            </p:cNvSpPr>
            <p:nvPr/>
          </p:nvSpPr>
          <p:spPr bwMode="auto">
            <a:xfrm>
              <a:off x="1434" y="2341"/>
              <a:ext cx="4" cy="2"/>
            </a:xfrm>
            <a:custGeom>
              <a:avLst/>
              <a:gdLst/>
              <a:ahLst/>
              <a:cxnLst>
                <a:cxn ang="0">
                  <a:pos x="4" y="1"/>
                </a:cxn>
                <a:cxn ang="0">
                  <a:pos x="4" y="0"/>
                </a:cxn>
                <a:cxn ang="0">
                  <a:pos x="4" y="1"/>
                </a:cxn>
                <a:cxn ang="0">
                  <a:pos x="3" y="1"/>
                </a:cxn>
                <a:cxn ang="0">
                  <a:pos x="2" y="1"/>
                </a:cxn>
                <a:cxn ang="0">
                  <a:pos x="2" y="3"/>
                </a:cxn>
                <a:cxn ang="0">
                  <a:pos x="0" y="3"/>
                </a:cxn>
                <a:cxn ang="0">
                  <a:pos x="2" y="3"/>
                </a:cxn>
                <a:cxn ang="0">
                  <a:pos x="3" y="3"/>
                </a:cxn>
                <a:cxn ang="0">
                  <a:pos x="3" y="1"/>
                </a:cxn>
                <a:cxn ang="0">
                  <a:pos x="4" y="1"/>
                </a:cxn>
              </a:cxnLst>
              <a:rect l="0" t="0" r="r" b="b"/>
              <a:pathLst>
                <a:path w="4" h="3">
                  <a:moveTo>
                    <a:pt x="4" y="1"/>
                  </a:moveTo>
                  <a:lnTo>
                    <a:pt x="4" y="0"/>
                  </a:lnTo>
                  <a:lnTo>
                    <a:pt x="4" y="1"/>
                  </a:lnTo>
                  <a:lnTo>
                    <a:pt x="3" y="1"/>
                  </a:lnTo>
                  <a:lnTo>
                    <a:pt x="2" y="1"/>
                  </a:lnTo>
                  <a:lnTo>
                    <a:pt x="2" y="3"/>
                  </a:lnTo>
                  <a:lnTo>
                    <a:pt x="0" y="3"/>
                  </a:lnTo>
                  <a:lnTo>
                    <a:pt x="2" y="3"/>
                  </a:lnTo>
                  <a:lnTo>
                    <a:pt x="3" y="3"/>
                  </a:lnTo>
                  <a:lnTo>
                    <a:pt x="3" y="1"/>
                  </a:lnTo>
                  <a:lnTo>
                    <a:pt x="4"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7" name="Freeform 166"/>
            <p:cNvSpPr>
              <a:spLocks/>
            </p:cNvSpPr>
            <p:nvPr/>
          </p:nvSpPr>
          <p:spPr bwMode="auto">
            <a:xfrm>
              <a:off x="1456" y="2363"/>
              <a:ext cx="4" cy="2"/>
            </a:xfrm>
            <a:custGeom>
              <a:avLst/>
              <a:gdLst/>
              <a:ahLst/>
              <a:cxnLst>
                <a:cxn ang="0">
                  <a:pos x="1" y="0"/>
                </a:cxn>
                <a:cxn ang="0">
                  <a:pos x="0" y="1"/>
                </a:cxn>
                <a:cxn ang="0">
                  <a:pos x="0" y="2"/>
                </a:cxn>
                <a:cxn ang="0">
                  <a:pos x="3" y="2"/>
                </a:cxn>
                <a:cxn ang="0">
                  <a:pos x="1" y="0"/>
                </a:cxn>
              </a:cxnLst>
              <a:rect l="0" t="0" r="r" b="b"/>
              <a:pathLst>
                <a:path w="3" h="2">
                  <a:moveTo>
                    <a:pt x="1" y="0"/>
                  </a:moveTo>
                  <a:lnTo>
                    <a:pt x="0" y="1"/>
                  </a:lnTo>
                  <a:lnTo>
                    <a:pt x="0" y="2"/>
                  </a:lnTo>
                  <a:lnTo>
                    <a:pt x="3" y="2"/>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8" name="Freeform 167"/>
            <p:cNvSpPr>
              <a:spLocks/>
            </p:cNvSpPr>
            <p:nvPr/>
          </p:nvSpPr>
          <p:spPr bwMode="auto">
            <a:xfrm>
              <a:off x="1456" y="2352"/>
              <a:ext cx="2" cy="2"/>
            </a:xfrm>
            <a:custGeom>
              <a:avLst/>
              <a:gdLst/>
              <a:ahLst/>
              <a:cxnLst>
                <a:cxn ang="0">
                  <a:pos x="1" y="2"/>
                </a:cxn>
                <a:cxn ang="0">
                  <a:pos x="0" y="1"/>
                </a:cxn>
                <a:cxn ang="0">
                  <a:pos x="0" y="0"/>
                </a:cxn>
                <a:cxn ang="0">
                  <a:pos x="1" y="1"/>
                </a:cxn>
                <a:cxn ang="0">
                  <a:pos x="1" y="2"/>
                </a:cxn>
              </a:cxnLst>
              <a:rect l="0" t="0" r="r" b="b"/>
              <a:pathLst>
                <a:path w="1" h="2">
                  <a:moveTo>
                    <a:pt x="1" y="2"/>
                  </a:moveTo>
                  <a:lnTo>
                    <a:pt x="0" y="1"/>
                  </a:lnTo>
                  <a:lnTo>
                    <a:pt x="0" y="0"/>
                  </a:lnTo>
                  <a:lnTo>
                    <a:pt x="1" y="1"/>
                  </a:lnTo>
                  <a:lnTo>
                    <a:pt x="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69" name="Freeform 168"/>
            <p:cNvSpPr>
              <a:spLocks/>
            </p:cNvSpPr>
            <p:nvPr/>
          </p:nvSpPr>
          <p:spPr bwMode="auto">
            <a:xfrm>
              <a:off x="976" y="2336"/>
              <a:ext cx="24" cy="51"/>
            </a:xfrm>
            <a:custGeom>
              <a:avLst/>
              <a:gdLst/>
              <a:ahLst/>
              <a:cxnLst>
                <a:cxn ang="0">
                  <a:pos x="13" y="38"/>
                </a:cxn>
                <a:cxn ang="0">
                  <a:pos x="5" y="46"/>
                </a:cxn>
                <a:cxn ang="0">
                  <a:pos x="0" y="46"/>
                </a:cxn>
                <a:cxn ang="0">
                  <a:pos x="2" y="30"/>
                </a:cxn>
                <a:cxn ang="0">
                  <a:pos x="6" y="12"/>
                </a:cxn>
                <a:cxn ang="0">
                  <a:pos x="20" y="0"/>
                </a:cxn>
                <a:cxn ang="0">
                  <a:pos x="21" y="3"/>
                </a:cxn>
                <a:cxn ang="0">
                  <a:pos x="17" y="20"/>
                </a:cxn>
                <a:cxn ang="0">
                  <a:pos x="13" y="38"/>
                </a:cxn>
              </a:cxnLst>
              <a:rect l="0" t="0" r="r" b="b"/>
              <a:pathLst>
                <a:path w="21" h="46">
                  <a:moveTo>
                    <a:pt x="13" y="38"/>
                  </a:moveTo>
                  <a:lnTo>
                    <a:pt x="5" y="46"/>
                  </a:lnTo>
                  <a:lnTo>
                    <a:pt x="0" y="46"/>
                  </a:lnTo>
                  <a:lnTo>
                    <a:pt x="2" y="30"/>
                  </a:lnTo>
                  <a:lnTo>
                    <a:pt x="6" y="12"/>
                  </a:lnTo>
                  <a:lnTo>
                    <a:pt x="20" y="0"/>
                  </a:lnTo>
                  <a:lnTo>
                    <a:pt x="21" y="3"/>
                  </a:lnTo>
                  <a:lnTo>
                    <a:pt x="17" y="20"/>
                  </a:lnTo>
                  <a:lnTo>
                    <a:pt x="13"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0" name="Freeform 169"/>
            <p:cNvSpPr>
              <a:spLocks/>
            </p:cNvSpPr>
            <p:nvPr/>
          </p:nvSpPr>
          <p:spPr bwMode="auto">
            <a:xfrm>
              <a:off x="920" y="2350"/>
              <a:ext cx="74" cy="80"/>
            </a:xfrm>
            <a:custGeom>
              <a:avLst/>
              <a:gdLst/>
              <a:ahLst/>
              <a:cxnLst>
                <a:cxn ang="0">
                  <a:pos x="6" y="64"/>
                </a:cxn>
                <a:cxn ang="0">
                  <a:pos x="0" y="58"/>
                </a:cxn>
                <a:cxn ang="0">
                  <a:pos x="3" y="46"/>
                </a:cxn>
                <a:cxn ang="0">
                  <a:pos x="11" y="32"/>
                </a:cxn>
                <a:cxn ang="0">
                  <a:pos x="33" y="28"/>
                </a:cxn>
                <a:cxn ang="0">
                  <a:pos x="21" y="12"/>
                </a:cxn>
                <a:cxn ang="0">
                  <a:pos x="26" y="10"/>
                </a:cxn>
                <a:cxn ang="0">
                  <a:pos x="27" y="0"/>
                </a:cxn>
                <a:cxn ang="0">
                  <a:pos x="42" y="0"/>
                </a:cxn>
                <a:cxn ang="0">
                  <a:pos x="57" y="0"/>
                </a:cxn>
                <a:cxn ang="0">
                  <a:pos x="53" y="18"/>
                </a:cxn>
                <a:cxn ang="0">
                  <a:pos x="51" y="34"/>
                </a:cxn>
                <a:cxn ang="0">
                  <a:pos x="56" y="34"/>
                </a:cxn>
                <a:cxn ang="0">
                  <a:pos x="62" y="36"/>
                </a:cxn>
                <a:cxn ang="0">
                  <a:pos x="66" y="38"/>
                </a:cxn>
                <a:cxn ang="0">
                  <a:pos x="56" y="46"/>
                </a:cxn>
                <a:cxn ang="0">
                  <a:pos x="46" y="61"/>
                </a:cxn>
                <a:cxn ang="0">
                  <a:pos x="33" y="73"/>
                </a:cxn>
                <a:cxn ang="0">
                  <a:pos x="20" y="69"/>
                </a:cxn>
                <a:cxn ang="0">
                  <a:pos x="6" y="64"/>
                </a:cxn>
              </a:cxnLst>
              <a:rect l="0" t="0" r="r" b="b"/>
              <a:pathLst>
                <a:path w="66" h="73">
                  <a:moveTo>
                    <a:pt x="6" y="64"/>
                  </a:moveTo>
                  <a:lnTo>
                    <a:pt x="0" y="58"/>
                  </a:lnTo>
                  <a:lnTo>
                    <a:pt x="3" y="46"/>
                  </a:lnTo>
                  <a:lnTo>
                    <a:pt x="11" y="32"/>
                  </a:lnTo>
                  <a:lnTo>
                    <a:pt x="33" y="28"/>
                  </a:lnTo>
                  <a:lnTo>
                    <a:pt x="21" y="12"/>
                  </a:lnTo>
                  <a:lnTo>
                    <a:pt x="26" y="10"/>
                  </a:lnTo>
                  <a:lnTo>
                    <a:pt x="27" y="0"/>
                  </a:lnTo>
                  <a:lnTo>
                    <a:pt x="42" y="0"/>
                  </a:lnTo>
                  <a:lnTo>
                    <a:pt x="57" y="0"/>
                  </a:lnTo>
                  <a:lnTo>
                    <a:pt x="53" y="18"/>
                  </a:lnTo>
                  <a:lnTo>
                    <a:pt x="51" y="34"/>
                  </a:lnTo>
                  <a:lnTo>
                    <a:pt x="56" y="34"/>
                  </a:lnTo>
                  <a:lnTo>
                    <a:pt x="62" y="36"/>
                  </a:lnTo>
                  <a:lnTo>
                    <a:pt x="66" y="38"/>
                  </a:lnTo>
                  <a:lnTo>
                    <a:pt x="56" y="46"/>
                  </a:lnTo>
                  <a:lnTo>
                    <a:pt x="46" y="61"/>
                  </a:lnTo>
                  <a:lnTo>
                    <a:pt x="33" y="73"/>
                  </a:lnTo>
                  <a:lnTo>
                    <a:pt x="20" y="69"/>
                  </a:lnTo>
                  <a:lnTo>
                    <a:pt x="6" y="6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1" name="Freeform 170"/>
            <p:cNvSpPr>
              <a:spLocks/>
            </p:cNvSpPr>
            <p:nvPr/>
          </p:nvSpPr>
          <p:spPr bwMode="auto">
            <a:xfrm>
              <a:off x="1171" y="2336"/>
              <a:ext cx="36" cy="14"/>
            </a:xfrm>
            <a:custGeom>
              <a:avLst/>
              <a:gdLst/>
              <a:ahLst/>
              <a:cxnLst>
                <a:cxn ang="0">
                  <a:pos x="12" y="0"/>
                </a:cxn>
                <a:cxn ang="0">
                  <a:pos x="0" y="4"/>
                </a:cxn>
                <a:cxn ang="0">
                  <a:pos x="18" y="13"/>
                </a:cxn>
                <a:cxn ang="0">
                  <a:pos x="32" y="10"/>
                </a:cxn>
                <a:cxn ang="0">
                  <a:pos x="12" y="0"/>
                </a:cxn>
              </a:cxnLst>
              <a:rect l="0" t="0" r="r" b="b"/>
              <a:pathLst>
                <a:path w="32" h="13">
                  <a:moveTo>
                    <a:pt x="12" y="0"/>
                  </a:moveTo>
                  <a:lnTo>
                    <a:pt x="0" y="4"/>
                  </a:lnTo>
                  <a:lnTo>
                    <a:pt x="18" y="13"/>
                  </a:lnTo>
                  <a:lnTo>
                    <a:pt x="32" y="10"/>
                  </a:lnTo>
                  <a:lnTo>
                    <a:pt x="1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2" name="Freeform 171"/>
            <p:cNvSpPr>
              <a:spLocks/>
            </p:cNvSpPr>
            <p:nvPr/>
          </p:nvSpPr>
          <p:spPr bwMode="auto">
            <a:xfrm>
              <a:off x="1365" y="2336"/>
              <a:ext cx="29" cy="11"/>
            </a:xfrm>
            <a:custGeom>
              <a:avLst/>
              <a:gdLst/>
              <a:ahLst/>
              <a:cxnLst>
                <a:cxn ang="0">
                  <a:pos x="25" y="4"/>
                </a:cxn>
                <a:cxn ang="0">
                  <a:pos x="23" y="6"/>
                </a:cxn>
                <a:cxn ang="0">
                  <a:pos x="7" y="9"/>
                </a:cxn>
                <a:cxn ang="0">
                  <a:pos x="0" y="7"/>
                </a:cxn>
                <a:cxn ang="0">
                  <a:pos x="2" y="0"/>
                </a:cxn>
                <a:cxn ang="0">
                  <a:pos x="25" y="4"/>
                </a:cxn>
              </a:cxnLst>
              <a:rect l="0" t="0" r="r" b="b"/>
              <a:pathLst>
                <a:path w="25" h="9">
                  <a:moveTo>
                    <a:pt x="25" y="4"/>
                  </a:moveTo>
                  <a:lnTo>
                    <a:pt x="23" y="6"/>
                  </a:lnTo>
                  <a:lnTo>
                    <a:pt x="7" y="9"/>
                  </a:lnTo>
                  <a:lnTo>
                    <a:pt x="0" y="7"/>
                  </a:lnTo>
                  <a:lnTo>
                    <a:pt x="2" y="0"/>
                  </a:lnTo>
                  <a:lnTo>
                    <a:pt x="2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3" name="Freeform 172"/>
            <p:cNvSpPr>
              <a:spLocks/>
            </p:cNvSpPr>
            <p:nvPr/>
          </p:nvSpPr>
          <p:spPr bwMode="auto">
            <a:xfrm>
              <a:off x="1402" y="2350"/>
              <a:ext cx="7" cy="2"/>
            </a:xfrm>
            <a:custGeom>
              <a:avLst/>
              <a:gdLst/>
              <a:ahLst/>
              <a:cxnLst>
                <a:cxn ang="0">
                  <a:pos x="6" y="0"/>
                </a:cxn>
                <a:cxn ang="0">
                  <a:pos x="2" y="0"/>
                </a:cxn>
                <a:cxn ang="0">
                  <a:pos x="0" y="1"/>
                </a:cxn>
                <a:cxn ang="0">
                  <a:pos x="6" y="0"/>
                </a:cxn>
              </a:cxnLst>
              <a:rect l="0" t="0" r="r" b="b"/>
              <a:pathLst>
                <a:path w="6" h="1">
                  <a:moveTo>
                    <a:pt x="6" y="0"/>
                  </a:moveTo>
                  <a:lnTo>
                    <a:pt x="2" y="0"/>
                  </a:lnTo>
                  <a:lnTo>
                    <a:pt x="0" y="1"/>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4" name="Freeform 173"/>
            <p:cNvSpPr>
              <a:spLocks/>
            </p:cNvSpPr>
            <p:nvPr/>
          </p:nvSpPr>
          <p:spPr bwMode="auto">
            <a:xfrm>
              <a:off x="567" y="2054"/>
              <a:ext cx="467" cy="360"/>
            </a:xfrm>
            <a:custGeom>
              <a:avLst/>
              <a:gdLst/>
              <a:ahLst/>
              <a:cxnLst>
                <a:cxn ang="0">
                  <a:pos x="53" y="157"/>
                </a:cxn>
                <a:cxn ang="0">
                  <a:pos x="35" y="114"/>
                </a:cxn>
                <a:cxn ang="0">
                  <a:pos x="14" y="95"/>
                </a:cxn>
                <a:cxn ang="0">
                  <a:pos x="22" y="71"/>
                </a:cxn>
                <a:cxn ang="0">
                  <a:pos x="3" y="25"/>
                </a:cxn>
                <a:cxn ang="0">
                  <a:pos x="38" y="0"/>
                </a:cxn>
                <a:cxn ang="0">
                  <a:pos x="72" y="18"/>
                </a:cxn>
                <a:cxn ang="0">
                  <a:pos x="128" y="24"/>
                </a:cxn>
                <a:cxn ang="0">
                  <a:pos x="170" y="34"/>
                </a:cxn>
                <a:cxn ang="0">
                  <a:pos x="192" y="66"/>
                </a:cxn>
                <a:cxn ang="0">
                  <a:pos x="232" y="71"/>
                </a:cxn>
                <a:cxn ang="0">
                  <a:pos x="254" y="118"/>
                </a:cxn>
                <a:cxn ang="0">
                  <a:pos x="254" y="168"/>
                </a:cxn>
                <a:cxn ang="0">
                  <a:pos x="262" y="226"/>
                </a:cxn>
                <a:cxn ang="0">
                  <a:pos x="273" y="250"/>
                </a:cxn>
                <a:cxn ang="0">
                  <a:pos x="321" y="253"/>
                </a:cxn>
                <a:cxn ang="0">
                  <a:pos x="344" y="251"/>
                </a:cxn>
                <a:cxn ang="0">
                  <a:pos x="362" y="213"/>
                </a:cxn>
                <a:cxn ang="0">
                  <a:pos x="408" y="201"/>
                </a:cxn>
                <a:cxn ang="0">
                  <a:pos x="419" y="207"/>
                </a:cxn>
                <a:cxn ang="0">
                  <a:pos x="402" y="238"/>
                </a:cxn>
                <a:cxn ang="0">
                  <a:pos x="392" y="251"/>
                </a:cxn>
                <a:cxn ang="0">
                  <a:pos x="360" y="267"/>
                </a:cxn>
                <a:cxn ang="0">
                  <a:pos x="339" y="279"/>
                </a:cxn>
                <a:cxn ang="0">
                  <a:pos x="321" y="313"/>
                </a:cxn>
                <a:cxn ang="0">
                  <a:pos x="288" y="294"/>
                </a:cxn>
                <a:cxn ang="0">
                  <a:pos x="278" y="295"/>
                </a:cxn>
                <a:cxn ang="0">
                  <a:pos x="250" y="305"/>
                </a:cxn>
                <a:cxn ang="0">
                  <a:pos x="198" y="280"/>
                </a:cxn>
                <a:cxn ang="0">
                  <a:pos x="160" y="259"/>
                </a:cxn>
                <a:cxn ang="0">
                  <a:pos x="126" y="232"/>
                </a:cxn>
                <a:cxn ang="0">
                  <a:pos x="128" y="211"/>
                </a:cxn>
                <a:cxn ang="0">
                  <a:pos x="122" y="173"/>
                </a:cxn>
                <a:cxn ang="0">
                  <a:pos x="107" y="149"/>
                </a:cxn>
                <a:cxn ang="0">
                  <a:pos x="99" y="136"/>
                </a:cxn>
                <a:cxn ang="0">
                  <a:pos x="84" y="125"/>
                </a:cxn>
                <a:cxn ang="0">
                  <a:pos x="72" y="90"/>
                </a:cxn>
                <a:cxn ang="0">
                  <a:pos x="57" y="63"/>
                </a:cxn>
                <a:cxn ang="0">
                  <a:pos x="41" y="22"/>
                </a:cxn>
                <a:cxn ang="0">
                  <a:pos x="26" y="52"/>
                </a:cxn>
                <a:cxn ang="0">
                  <a:pos x="46" y="95"/>
                </a:cxn>
                <a:cxn ang="0">
                  <a:pos x="54" y="126"/>
                </a:cxn>
                <a:cxn ang="0">
                  <a:pos x="70" y="161"/>
                </a:cxn>
              </a:cxnLst>
              <a:rect l="0" t="0" r="r" b="b"/>
              <a:pathLst>
                <a:path w="419" h="325">
                  <a:moveTo>
                    <a:pt x="74" y="169"/>
                  </a:moveTo>
                  <a:lnTo>
                    <a:pt x="63" y="174"/>
                  </a:lnTo>
                  <a:lnTo>
                    <a:pt x="53" y="157"/>
                  </a:lnTo>
                  <a:lnTo>
                    <a:pt x="39" y="142"/>
                  </a:lnTo>
                  <a:lnTo>
                    <a:pt x="40" y="127"/>
                  </a:lnTo>
                  <a:lnTo>
                    <a:pt x="35" y="114"/>
                  </a:lnTo>
                  <a:lnTo>
                    <a:pt x="30" y="105"/>
                  </a:lnTo>
                  <a:lnTo>
                    <a:pt x="21" y="103"/>
                  </a:lnTo>
                  <a:lnTo>
                    <a:pt x="14" y="95"/>
                  </a:lnTo>
                  <a:lnTo>
                    <a:pt x="6" y="87"/>
                  </a:lnTo>
                  <a:lnTo>
                    <a:pt x="18" y="89"/>
                  </a:lnTo>
                  <a:lnTo>
                    <a:pt x="22" y="71"/>
                  </a:lnTo>
                  <a:lnTo>
                    <a:pt x="14" y="59"/>
                  </a:lnTo>
                  <a:lnTo>
                    <a:pt x="5" y="47"/>
                  </a:lnTo>
                  <a:lnTo>
                    <a:pt x="3" y="25"/>
                  </a:lnTo>
                  <a:lnTo>
                    <a:pt x="0" y="3"/>
                  </a:lnTo>
                  <a:lnTo>
                    <a:pt x="18" y="1"/>
                  </a:lnTo>
                  <a:lnTo>
                    <a:pt x="38" y="0"/>
                  </a:lnTo>
                  <a:lnTo>
                    <a:pt x="48" y="6"/>
                  </a:lnTo>
                  <a:lnTo>
                    <a:pt x="60" y="12"/>
                  </a:lnTo>
                  <a:lnTo>
                    <a:pt x="72" y="18"/>
                  </a:lnTo>
                  <a:lnTo>
                    <a:pt x="84" y="24"/>
                  </a:lnTo>
                  <a:lnTo>
                    <a:pt x="106" y="24"/>
                  </a:lnTo>
                  <a:lnTo>
                    <a:pt x="128" y="24"/>
                  </a:lnTo>
                  <a:lnTo>
                    <a:pt x="131" y="16"/>
                  </a:lnTo>
                  <a:lnTo>
                    <a:pt x="156" y="16"/>
                  </a:lnTo>
                  <a:lnTo>
                    <a:pt x="170" y="34"/>
                  </a:lnTo>
                  <a:lnTo>
                    <a:pt x="174" y="52"/>
                  </a:lnTo>
                  <a:lnTo>
                    <a:pt x="183" y="59"/>
                  </a:lnTo>
                  <a:lnTo>
                    <a:pt x="192" y="66"/>
                  </a:lnTo>
                  <a:lnTo>
                    <a:pt x="203" y="53"/>
                  </a:lnTo>
                  <a:lnTo>
                    <a:pt x="225" y="55"/>
                  </a:lnTo>
                  <a:lnTo>
                    <a:pt x="232" y="71"/>
                  </a:lnTo>
                  <a:lnTo>
                    <a:pt x="238" y="88"/>
                  </a:lnTo>
                  <a:lnTo>
                    <a:pt x="244" y="109"/>
                  </a:lnTo>
                  <a:lnTo>
                    <a:pt x="254" y="118"/>
                  </a:lnTo>
                  <a:lnTo>
                    <a:pt x="273" y="120"/>
                  </a:lnTo>
                  <a:lnTo>
                    <a:pt x="263" y="144"/>
                  </a:lnTo>
                  <a:lnTo>
                    <a:pt x="254" y="168"/>
                  </a:lnTo>
                  <a:lnTo>
                    <a:pt x="251" y="192"/>
                  </a:lnTo>
                  <a:lnTo>
                    <a:pt x="256" y="210"/>
                  </a:lnTo>
                  <a:lnTo>
                    <a:pt x="262" y="226"/>
                  </a:lnTo>
                  <a:lnTo>
                    <a:pt x="267" y="238"/>
                  </a:lnTo>
                  <a:lnTo>
                    <a:pt x="272" y="249"/>
                  </a:lnTo>
                  <a:lnTo>
                    <a:pt x="273" y="250"/>
                  </a:lnTo>
                  <a:lnTo>
                    <a:pt x="290" y="258"/>
                  </a:lnTo>
                  <a:lnTo>
                    <a:pt x="304" y="257"/>
                  </a:lnTo>
                  <a:lnTo>
                    <a:pt x="321" y="253"/>
                  </a:lnTo>
                  <a:lnTo>
                    <a:pt x="332" y="253"/>
                  </a:lnTo>
                  <a:lnTo>
                    <a:pt x="339" y="255"/>
                  </a:lnTo>
                  <a:lnTo>
                    <a:pt x="344" y="251"/>
                  </a:lnTo>
                  <a:lnTo>
                    <a:pt x="341" y="247"/>
                  </a:lnTo>
                  <a:lnTo>
                    <a:pt x="354" y="234"/>
                  </a:lnTo>
                  <a:lnTo>
                    <a:pt x="362" y="213"/>
                  </a:lnTo>
                  <a:lnTo>
                    <a:pt x="378" y="204"/>
                  </a:lnTo>
                  <a:lnTo>
                    <a:pt x="393" y="202"/>
                  </a:lnTo>
                  <a:lnTo>
                    <a:pt x="408" y="201"/>
                  </a:lnTo>
                  <a:lnTo>
                    <a:pt x="412" y="201"/>
                  </a:lnTo>
                  <a:lnTo>
                    <a:pt x="418" y="204"/>
                  </a:lnTo>
                  <a:lnTo>
                    <a:pt x="419" y="207"/>
                  </a:lnTo>
                  <a:lnTo>
                    <a:pt x="405" y="229"/>
                  </a:lnTo>
                  <a:lnTo>
                    <a:pt x="402" y="235"/>
                  </a:lnTo>
                  <a:lnTo>
                    <a:pt x="402" y="238"/>
                  </a:lnTo>
                  <a:lnTo>
                    <a:pt x="402" y="240"/>
                  </a:lnTo>
                  <a:lnTo>
                    <a:pt x="395" y="257"/>
                  </a:lnTo>
                  <a:lnTo>
                    <a:pt x="392" y="251"/>
                  </a:lnTo>
                  <a:lnTo>
                    <a:pt x="389" y="255"/>
                  </a:lnTo>
                  <a:lnTo>
                    <a:pt x="375" y="267"/>
                  </a:lnTo>
                  <a:lnTo>
                    <a:pt x="360" y="267"/>
                  </a:lnTo>
                  <a:lnTo>
                    <a:pt x="345" y="267"/>
                  </a:lnTo>
                  <a:lnTo>
                    <a:pt x="344" y="277"/>
                  </a:lnTo>
                  <a:lnTo>
                    <a:pt x="339" y="279"/>
                  </a:lnTo>
                  <a:lnTo>
                    <a:pt x="351" y="295"/>
                  </a:lnTo>
                  <a:lnTo>
                    <a:pt x="329" y="299"/>
                  </a:lnTo>
                  <a:lnTo>
                    <a:pt x="321" y="313"/>
                  </a:lnTo>
                  <a:lnTo>
                    <a:pt x="318" y="325"/>
                  </a:lnTo>
                  <a:lnTo>
                    <a:pt x="303" y="310"/>
                  </a:lnTo>
                  <a:lnTo>
                    <a:pt x="288" y="294"/>
                  </a:lnTo>
                  <a:lnTo>
                    <a:pt x="294" y="300"/>
                  </a:lnTo>
                  <a:lnTo>
                    <a:pt x="286" y="294"/>
                  </a:lnTo>
                  <a:lnTo>
                    <a:pt x="278" y="295"/>
                  </a:lnTo>
                  <a:lnTo>
                    <a:pt x="281" y="295"/>
                  </a:lnTo>
                  <a:lnTo>
                    <a:pt x="266" y="300"/>
                  </a:lnTo>
                  <a:lnTo>
                    <a:pt x="250" y="305"/>
                  </a:lnTo>
                  <a:lnTo>
                    <a:pt x="233" y="297"/>
                  </a:lnTo>
                  <a:lnTo>
                    <a:pt x="215" y="288"/>
                  </a:lnTo>
                  <a:lnTo>
                    <a:pt x="198" y="280"/>
                  </a:lnTo>
                  <a:lnTo>
                    <a:pt x="180" y="273"/>
                  </a:lnTo>
                  <a:lnTo>
                    <a:pt x="171" y="265"/>
                  </a:lnTo>
                  <a:lnTo>
                    <a:pt x="160" y="259"/>
                  </a:lnTo>
                  <a:lnTo>
                    <a:pt x="148" y="253"/>
                  </a:lnTo>
                  <a:lnTo>
                    <a:pt x="137" y="243"/>
                  </a:lnTo>
                  <a:lnTo>
                    <a:pt x="126" y="232"/>
                  </a:lnTo>
                  <a:lnTo>
                    <a:pt x="124" y="219"/>
                  </a:lnTo>
                  <a:lnTo>
                    <a:pt x="130" y="216"/>
                  </a:lnTo>
                  <a:lnTo>
                    <a:pt x="128" y="211"/>
                  </a:lnTo>
                  <a:lnTo>
                    <a:pt x="132" y="201"/>
                  </a:lnTo>
                  <a:lnTo>
                    <a:pt x="126" y="186"/>
                  </a:lnTo>
                  <a:lnTo>
                    <a:pt x="122" y="173"/>
                  </a:lnTo>
                  <a:lnTo>
                    <a:pt x="112" y="160"/>
                  </a:lnTo>
                  <a:lnTo>
                    <a:pt x="102" y="148"/>
                  </a:lnTo>
                  <a:lnTo>
                    <a:pt x="107" y="149"/>
                  </a:lnTo>
                  <a:lnTo>
                    <a:pt x="100" y="139"/>
                  </a:lnTo>
                  <a:lnTo>
                    <a:pt x="98" y="137"/>
                  </a:lnTo>
                  <a:lnTo>
                    <a:pt x="99" y="136"/>
                  </a:lnTo>
                  <a:lnTo>
                    <a:pt x="88" y="130"/>
                  </a:lnTo>
                  <a:lnTo>
                    <a:pt x="90" y="125"/>
                  </a:lnTo>
                  <a:lnTo>
                    <a:pt x="84" y="125"/>
                  </a:lnTo>
                  <a:lnTo>
                    <a:pt x="89" y="114"/>
                  </a:lnTo>
                  <a:lnTo>
                    <a:pt x="83" y="108"/>
                  </a:lnTo>
                  <a:lnTo>
                    <a:pt x="72" y="90"/>
                  </a:lnTo>
                  <a:lnTo>
                    <a:pt x="72" y="85"/>
                  </a:lnTo>
                  <a:lnTo>
                    <a:pt x="63" y="78"/>
                  </a:lnTo>
                  <a:lnTo>
                    <a:pt x="57" y="63"/>
                  </a:lnTo>
                  <a:lnTo>
                    <a:pt x="51" y="47"/>
                  </a:lnTo>
                  <a:lnTo>
                    <a:pt x="51" y="27"/>
                  </a:lnTo>
                  <a:lnTo>
                    <a:pt x="41" y="22"/>
                  </a:lnTo>
                  <a:lnTo>
                    <a:pt x="29" y="15"/>
                  </a:lnTo>
                  <a:lnTo>
                    <a:pt x="27" y="33"/>
                  </a:lnTo>
                  <a:lnTo>
                    <a:pt x="26" y="52"/>
                  </a:lnTo>
                  <a:lnTo>
                    <a:pt x="33" y="66"/>
                  </a:lnTo>
                  <a:lnTo>
                    <a:pt x="41" y="82"/>
                  </a:lnTo>
                  <a:lnTo>
                    <a:pt x="46" y="95"/>
                  </a:lnTo>
                  <a:lnTo>
                    <a:pt x="50" y="107"/>
                  </a:lnTo>
                  <a:lnTo>
                    <a:pt x="52" y="106"/>
                  </a:lnTo>
                  <a:lnTo>
                    <a:pt x="54" y="126"/>
                  </a:lnTo>
                  <a:lnTo>
                    <a:pt x="58" y="148"/>
                  </a:lnTo>
                  <a:lnTo>
                    <a:pt x="63" y="151"/>
                  </a:lnTo>
                  <a:lnTo>
                    <a:pt x="70" y="161"/>
                  </a:lnTo>
                  <a:lnTo>
                    <a:pt x="74" y="1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5" name="Freeform 174"/>
            <p:cNvSpPr>
              <a:spLocks/>
            </p:cNvSpPr>
            <p:nvPr/>
          </p:nvSpPr>
          <p:spPr bwMode="auto">
            <a:xfrm>
              <a:off x="1187" y="2203"/>
              <a:ext cx="9" cy="16"/>
            </a:xfrm>
            <a:custGeom>
              <a:avLst/>
              <a:gdLst/>
              <a:ahLst/>
              <a:cxnLst>
                <a:cxn ang="0">
                  <a:pos x="9" y="13"/>
                </a:cxn>
                <a:cxn ang="0">
                  <a:pos x="6" y="0"/>
                </a:cxn>
                <a:cxn ang="0">
                  <a:pos x="0" y="10"/>
                </a:cxn>
                <a:cxn ang="0">
                  <a:pos x="3" y="14"/>
                </a:cxn>
                <a:cxn ang="0">
                  <a:pos x="9" y="13"/>
                </a:cxn>
              </a:cxnLst>
              <a:rect l="0" t="0" r="r" b="b"/>
              <a:pathLst>
                <a:path w="9" h="14">
                  <a:moveTo>
                    <a:pt x="9" y="13"/>
                  </a:moveTo>
                  <a:lnTo>
                    <a:pt x="6" y="0"/>
                  </a:lnTo>
                  <a:lnTo>
                    <a:pt x="0" y="10"/>
                  </a:lnTo>
                  <a:lnTo>
                    <a:pt x="3" y="14"/>
                  </a:lnTo>
                  <a:lnTo>
                    <a:pt x="9"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6" name="Freeform 175"/>
            <p:cNvSpPr>
              <a:spLocks/>
            </p:cNvSpPr>
            <p:nvPr/>
          </p:nvSpPr>
          <p:spPr bwMode="auto">
            <a:xfrm>
              <a:off x="1202" y="2167"/>
              <a:ext cx="14" cy="20"/>
            </a:xfrm>
            <a:custGeom>
              <a:avLst/>
              <a:gdLst/>
              <a:ahLst/>
              <a:cxnLst>
                <a:cxn ang="0">
                  <a:pos x="5" y="17"/>
                </a:cxn>
                <a:cxn ang="0">
                  <a:pos x="7" y="10"/>
                </a:cxn>
                <a:cxn ang="0">
                  <a:pos x="0" y="0"/>
                </a:cxn>
                <a:cxn ang="0">
                  <a:pos x="11" y="11"/>
                </a:cxn>
                <a:cxn ang="0">
                  <a:pos x="5" y="17"/>
                </a:cxn>
              </a:cxnLst>
              <a:rect l="0" t="0" r="r" b="b"/>
              <a:pathLst>
                <a:path w="11" h="17">
                  <a:moveTo>
                    <a:pt x="5" y="17"/>
                  </a:moveTo>
                  <a:lnTo>
                    <a:pt x="7" y="10"/>
                  </a:lnTo>
                  <a:lnTo>
                    <a:pt x="0" y="0"/>
                  </a:lnTo>
                  <a:lnTo>
                    <a:pt x="11" y="11"/>
                  </a:lnTo>
                  <a:lnTo>
                    <a:pt x="5"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7" name="Freeform 176"/>
            <p:cNvSpPr>
              <a:spLocks/>
            </p:cNvSpPr>
            <p:nvPr/>
          </p:nvSpPr>
          <p:spPr bwMode="auto">
            <a:xfrm>
              <a:off x="1218" y="2196"/>
              <a:ext cx="9" cy="16"/>
            </a:xfrm>
            <a:custGeom>
              <a:avLst/>
              <a:gdLst/>
              <a:ahLst/>
              <a:cxnLst>
                <a:cxn ang="0">
                  <a:pos x="5" y="13"/>
                </a:cxn>
                <a:cxn ang="0">
                  <a:pos x="7" y="7"/>
                </a:cxn>
                <a:cxn ang="0">
                  <a:pos x="0" y="0"/>
                </a:cxn>
                <a:cxn ang="0">
                  <a:pos x="4" y="5"/>
                </a:cxn>
                <a:cxn ang="0">
                  <a:pos x="6" y="7"/>
                </a:cxn>
                <a:cxn ang="0">
                  <a:pos x="4" y="12"/>
                </a:cxn>
                <a:cxn ang="0">
                  <a:pos x="5" y="13"/>
                </a:cxn>
              </a:cxnLst>
              <a:rect l="0" t="0" r="r" b="b"/>
              <a:pathLst>
                <a:path w="7" h="13">
                  <a:moveTo>
                    <a:pt x="5" y="13"/>
                  </a:moveTo>
                  <a:lnTo>
                    <a:pt x="7" y="7"/>
                  </a:lnTo>
                  <a:lnTo>
                    <a:pt x="0" y="0"/>
                  </a:lnTo>
                  <a:lnTo>
                    <a:pt x="4" y="5"/>
                  </a:lnTo>
                  <a:lnTo>
                    <a:pt x="6" y="7"/>
                  </a:lnTo>
                  <a:lnTo>
                    <a:pt x="4" y="12"/>
                  </a:lnTo>
                  <a:lnTo>
                    <a:pt x="5"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8" name="Freeform 177"/>
            <p:cNvSpPr>
              <a:spLocks/>
            </p:cNvSpPr>
            <p:nvPr/>
          </p:nvSpPr>
          <p:spPr bwMode="auto">
            <a:xfrm>
              <a:off x="1260" y="2281"/>
              <a:ext cx="9" cy="6"/>
            </a:xfrm>
            <a:custGeom>
              <a:avLst/>
              <a:gdLst/>
              <a:ahLst/>
              <a:cxnLst>
                <a:cxn ang="0">
                  <a:pos x="10" y="0"/>
                </a:cxn>
                <a:cxn ang="0">
                  <a:pos x="10" y="3"/>
                </a:cxn>
                <a:cxn ang="0">
                  <a:pos x="0" y="6"/>
                </a:cxn>
                <a:cxn ang="0">
                  <a:pos x="10" y="0"/>
                </a:cxn>
              </a:cxnLst>
              <a:rect l="0" t="0" r="r" b="b"/>
              <a:pathLst>
                <a:path w="10" h="6">
                  <a:moveTo>
                    <a:pt x="10" y="0"/>
                  </a:moveTo>
                  <a:lnTo>
                    <a:pt x="10" y="3"/>
                  </a:lnTo>
                  <a:lnTo>
                    <a:pt x="0" y="6"/>
                  </a:lnTo>
                  <a:lnTo>
                    <a:pt x="1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79" name="Freeform 178"/>
            <p:cNvSpPr>
              <a:spLocks/>
            </p:cNvSpPr>
            <p:nvPr/>
          </p:nvSpPr>
          <p:spPr bwMode="auto">
            <a:xfrm>
              <a:off x="1254" y="2254"/>
              <a:ext cx="6" cy="7"/>
            </a:xfrm>
            <a:custGeom>
              <a:avLst/>
              <a:gdLst/>
              <a:ahLst/>
              <a:cxnLst>
                <a:cxn ang="0">
                  <a:pos x="6" y="2"/>
                </a:cxn>
                <a:cxn ang="0">
                  <a:pos x="4" y="0"/>
                </a:cxn>
                <a:cxn ang="0">
                  <a:pos x="0" y="5"/>
                </a:cxn>
                <a:cxn ang="0">
                  <a:pos x="6" y="2"/>
                </a:cxn>
              </a:cxnLst>
              <a:rect l="0" t="0" r="r" b="b"/>
              <a:pathLst>
                <a:path w="6" h="5">
                  <a:moveTo>
                    <a:pt x="6" y="2"/>
                  </a:moveTo>
                  <a:lnTo>
                    <a:pt x="4" y="0"/>
                  </a:lnTo>
                  <a:lnTo>
                    <a:pt x="0" y="5"/>
                  </a:lnTo>
                  <a:lnTo>
                    <a:pt x="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0" name="Freeform 179"/>
            <p:cNvSpPr>
              <a:spLocks/>
            </p:cNvSpPr>
            <p:nvPr/>
          </p:nvSpPr>
          <p:spPr bwMode="auto">
            <a:xfrm>
              <a:off x="1182" y="2174"/>
              <a:ext cx="18" cy="2"/>
            </a:xfrm>
            <a:custGeom>
              <a:avLst/>
              <a:gdLst/>
              <a:ahLst/>
              <a:cxnLst>
                <a:cxn ang="0">
                  <a:pos x="5" y="0"/>
                </a:cxn>
                <a:cxn ang="0">
                  <a:pos x="15" y="0"/>
                </a:cxn>
                <a:cxn ang="0">
                  <a:pos x="9" y="1"/>
                </a:cxn>
                <a:cxn ang="0">
                  <a:pos x="0" y="0"/>
                </a:cxn>
                <a:cxn ang="0">
                  <a:pos x="5" y="0"/>
                </a:cxn>
              </a:cxnLst>
              <a:rect l="0" t="0" r="r" b="b"/>
              <a:pathLst>
                <a:path w="15" h="1">
                  <a:moveTo>
                    <a:pt x="5" y="0"/>
                  </a:moveTo>
                  <a:lnTo>
                    <a:pt x="15" y="0"/>
                  </a:lnTo>
                  <a:lnTo>
                    <a:pt x="9" y="1"/>
                  </a:lnTo>
                  <a:lnTo>
                    <a:pt x="0" y="0"/>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1" name="Freeform 180"/>
            <p:cNvSpPr>
              <a:spLocks/>
            </p:cNvSpPr>
            <p:nvPr/>
          </p:nvSpPr>
          <p:spPr bwMode="auto">
            <a:xfrm>
              <a:off x="1194" y="2223"/>
              <a:ext cx="6" cy="7"/>
            </a:xfrm>
            <a:custGeom>
              <a:avLst/>
              <a:gdLst/>
              <a:ahLst/>
              <a:cxnLst>
                <a:cxn ang="0">
                  <a:pos x="5" y="4"/>
                </a:cxn>
                <a:cxn ang="0">
                  <a:pos x="3" y="1"/>
                </a:cxn>
                <a:cxn ang="0">
                  <a:pos x="0" y="0"/>
                </a:cxn>
                <a:cxn ang="0">
                  <a:pos x="3" y="6"/>
                </a:cxn>
                <a:cxn ang="0">
                  <a:pos x="5" y="4"/>
                </a:cxn>
              </a:cxnLst>
              <a:rect l="0" t="0" r="r" b="b"/>
              <a:pathLst>
                <a:path w="5" h="6">
                  <a:moveTo>
                    <a:pt x="5" y="4"/>
                  </a:moveTo>
                  <a:lnTo>
                    <a:pt x="3" y="1"/>
                  </a:lnTo>
                  <a:lnTo>
                    <a:pt x="0" y="0"/>
                  </a:lnTo>
                  <a:lnTo>
                    <a:pt x="3" y="6"/>
                  </a:lnTo>
                  <a:lnTo>
                    <a:pt x="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2" name="Freeform 181"/>
            <p:cNvSpPr>
              <a:spLocks/>
            </p:cNvSpPr>
            <p:nvPr/>
          </p:nvSpPr>
          <p:spPr bwMode="auto">
            <a:xfrm>
              <a:off x="4449" y="2921"/>
              <a:ext cx="700" cy="562"/>
            </a:xfrm>
            <a:custGeom>
              <a:avLst/>
              <a:gdLst/>
              <a:ahLst/>
              <a:cxnLst>
                <a:cxn ang="0">
                  <a:pos x="356" y="12"/>
                </a:cxn>
                <a:cxn ang="0">
                  <a:pos x="361" y="25"/>
                </a:cxn>
                <a:cxn ang="0">
                  <a:pos x="333" y="34"/>
                </a:cxn>
                <a:cxn ang="0">
                  <a:pos x="320" y="48"/>
                </a:cxn>
                <a:cxn ang="0">
                  <a:pos x="314" y="72"/>
                </a:cxn>
                <a:cxn ang="0">
                  <a:pos x="301" y="78"/>
                </a:cxn>
                <a:cxn ang="0">
                  <a:pos x="282" y="85"/>
                </a:cxn>
                <a:cxn ang="0">
                  <a:pos x="269" y="58"/>
                </a:cxn>
                <a:cxn ang="0">
                  <a:pos x="254" y="60"/>
                </a:cxn>
                <a:cxn ang="0">
                  <a:pos x="241" y="79"/>
                </a:cxn>
                <a:cxn ang="0">
                  <a:pos x="225" y="90"/>
                </a:cxn>
                <a:cxn ang="0">
                  <a:pos x="224" y="100"/>
                </a:cxn>
                <a:cxn ang="0">
                  <a:pos x="212" y="100"/>
                </a:cxn>
                <a:cxn ang="0">
                  <a:pos x="209" y="129"/>
                </a:cxn>
                <a:cxn ang="0">
                  <a:pos x="183" y="121"/>
                </a:cxn>
                <a:cxn ang="0">
                  <a:pos x="144" y="165"/>
                </a:cxn>
                <a:cxn ang="0">
                  <a:pos x="92" y="175"/>
                </a:cxn>
                <a:cxn ang="0">
                  <a:pos x="44" y="199"/>
                </a:cxn>
                <a:cxn ang="0">
                  <a:pos x="29" y="264"/>
                </a:cxn>
                <a:cxn ang="0">
                  <a:pos x="21" y="267"/>
                </a:cxn>
                <a:cxn ang="0">
                  <a:pos x="19" y="293"/>
                </a:cxn>
                <a:cxn ang="0">
                  <a:pos x="24" y="354"/>
                </a:cxn>
                <a:cxn ang="0">
                  <a:pos x="8" y="411"/>
                </a:cxn>
                <a:cxn ang="0">
                  <a:pos x="21" y="437"/>
                </a:cxn>
                <a:cxn ang="0">
                  <a:pos x="72" y="418"/>
                </a:cxn>
                <a:cxn ang="0">
                  <a:pos x="141" y="402"/>
                </a:cxn>
                <a:cxn ang="0">
                  <a:pos x="219" y="379"/>
                </a:cxn>
                <a:cxn ang="0">
                  <a:pos x="290" y="385"/>
                </a:cxn>
                <a:cxn ang="0">
                  <a:pos x="300" y="414"/>
                </a:cxn>
                <a:cxn ang="0">
                  <a:pos x="308" y="431"/>
                </a:cxn>
                <a:cxn ang="0">
                  <a:pos x="348" y="406"/>
                </a:cxn>
                <a:cxn ang="0">
                  <a:pos x="330" y="439"/>
                </a:cxn>
                <a:cxn ang="0">
                  <a:pos x="343" y="445"/>
                </a:cxn>
                <a:cxn ang="0">
                  <a:pos x="345" y="489"/>
                </a:cxn>
                <a:cxn ang="0">
                  <a:pos x="403" y="495"/>
                </a:cxn>
                <a:cxn ang="0">
                  <a:pos x="410" y="497"/>
                </a:cxn>
                <a:cxn ang="0">
                  <a:pos x="426" y="502"/>
                </a:cxn>
                <a:cxn ang="0">
                  <a:pos x="495" y="471"/>
                </a:cxn>
                <a:cxn ang="0">
                  <a:pos x="549" y="409"/>
                </a:cxn>
                <a:cxn ang="0">
                  <a:pos x="599" y="358"/>
                </a:cxn>
                <a:cxn ang="0">
                  <a:pos x="621" y="299"/>
                </a:cxn>
                <a:cxn ang="0">
                  <a:pos x="623" y="250"/>
                </a:cxn>
                <a:cxn ang="0">
                  <a:pos x="608" y="213"/>
                </a:cxn>
                <a:cxn ang="0">
                  <a:pos x="594" y="193"/>
                </a:cxn>
                <a:cxn ang="0">
                  <a:pos x="575" y="157"/>
                </a:cxn>
                <a:cxn ang="0">
                  <a:pos x="553" y="97"/>
                </a:cxn>
                <a:cxn ang="0">
                  <a:pos x="533" y="65"/>
                </a:cxn>
                <a:cxn ang="0">
                  <a:pos x="525" y="13"/>
                </a:cxn>
                <a:cxn ang="0">
                  <a:pos x="509" y="23"/>
                </a:cxn>
                <a:cxn ang="0">
                  <a:pos x="503" y="43"/>
                </a:cxn>
                <a:cxn ang="0">
                  <a:pos x="497" y="81"/>
                </a:cxn>
                <a:cxn ang="0">
                  <a:pos x="451" y="114"/>
                </a:cxn>
                <a:cxn ang="0">
                  <a:pos x="401" y="72"/>
                </a:cxn>
                <a:cxn ang="0">
                  <a:pos x="422" y="40"/>
                </a:cxn>
                <a:cxn ang="0">
                  <a:pos x="415" y="27"/>
                </a:cxn>
                <a:cxn ang="0">
                  <a:pos x="387" y="24"/>
                </a:cxn>
              </a:cxnLst>
              <a:rect l="0" t="0" r="r" b="b"/>
              <a:pathLst>
                <a:path w="630" h="508">
                  <a:moveTo>
                    <a:pt x="369" y="12"/>
                  </a:moveTo>
                  <a:lnTo>
                    <a:pt x="362" y="11"/>
                  </a:lnTo>
                  <a:lnTo>
                    <a:pt x="357" y="10"/>
                  </a:lnTo>
                  <a:lnTo>
                    <a:pt x="356" y="12"/>
                  </a:lnTo>
                  <a:lnTo>
                    <a:pt x="351" y="10"/>
                  </a:lnTo>
                  <a:lnTo>
                    <a:pt x="357" y="13"/>
                  </a:lnTo>
                  <a:lnTo>
                    <a:pt x="365" y="18"/>
                  </a:lnTo>
                  <a:lnTo>
                    <a:pt x="361" y="25"/>
                  </a:lnTo>
                  <a:lnTo>
                    <a:pt x="356" y="28"/>
                  </a:lnTo>
                  <a:lnTo>
                    <a:pt x="343" y="25"/>
                  </a:lnTo>
                  <a:lnTo>
                    <a:pt x="337" y="28"/>
                  </a:lnTo>
                  <a:lnTo>
                    <a:pt x="333" y="34"/>
                  </a:lnTo>
                  <a:lnTo>
                    <a:pt x="330" y="31"/>
                  </a:lnTo>
                  <a:lnTo>
                    <a:pt x="327" y="35"/>
                  </a:lnTo>
                  <a:lnTo>
                    <a:pt x="321" y="45"/>
                  </a:lnTo>
                  <a:lnTo>
                    <a:pt x="320" y="48"/>
                  </a:lnTo>
                  <a:lnTo>
                    <a:pt x="314" y="54"/>
                  </a:lnTo>
                  <a:lnTo>
                    <a:pt x="307" y="67"/>
                  </a:lnTo>
                  <a:lnTo>
                    <a:pt x="312" y="70"/>
                  </a:lnTo>
                  <a:lnTo>
                    <a:pt x="314" y="72"/>
                  </a:lnTo>
                  <a:lnTo>
                    <a:pt x="309" y="78"/>
                  </a:lnTo>
                  <a:lnTo>
                    <a:pt x="315" y="84"/>
                  </a:lnTo>
                  <a:lnTo>
                    <a:pt x="303" y="75"/>
                  </a:lnTo>
                  <a:lnTo>
                    <a:pt x="301" y="78"/>
                  </a:lnTo>
                  <a:lnTo>
                    <a:pt x="290" y="73"/>
                  </a:lnTo>
                  <a:lnTo>
                    <a:pt x="288" y="82"/>
                  </a:lnTo>
                  <a:lnTo>
                    <a:pt x="284" y="82"/>
                  </a:lnTo>
                  <a:lnTo>
                    <a:pt x="282" y="85"/>
                  </a:lnTo>
                  <a:lnTo>
                    <a:pt x="282" y="81"/>
                  </a:lnTo>
                  <a:lnTo>
                    <a:pt x="285" y="70"/>
                  </a:lnTo>
                  <a:lnTo>
                    <a:pt x="270" y="54"/>
                  </a:lnTo>
                  <a:lnTo>
                    <a:pt x="269" y="58"/>
                  </a:lnTo>
                  <a:lnTo>
                    <a:pt x="261" y="60"/>
                  </a:lnTo>
                  <a:lnTo>
                    <a:pt x="260" y="58"/>
                  </a:lnTo>
                  <a:lnTo>
                    <a:pt x="258" y="60"/>
                  </a:lnTo>
                  <a:lnTo>
                    <a:pt x="254" y="60"/>
                  </a:lnTo>
                  <a:lnTo>
                    <a:pt x="251" y="70"/>
                  </a:lnTo>
                  <a:lnTo>
                    <a:pt x="248" y="65"/>
                  </a:lnTo>
                  <a:lnTo>
                    <a:pt x="240" y="73"/>
                  </a:lnTo>
                  <a:lnTo>
                    <a:pt x="241" y="79"/>
                  </a:lnTo>
                  <a:lnTo>
                    <a:pt x="235" y="78"/>
                  </a:lnTo>
                  <a:lnTo>
                    <a:pt x="237" y="87"/>
                  </a:lnTo>
                  <a:lnTo>
                    <a:pt x="230" y="83"/>
                  </a:lnTo>
                  <a:lnTo>
                    <a:pt x="225" y="90"/>
                  </a:lnTo>
                  <a:lnTo>
                    <a:pt x="227" y="91"/>
                  </a:lnTo>
                  <a:lnTo>
                    <a:pt x="229" y="91"/>
                  </a:lnTo>
                  <a:lnTo>
                    <a:pt x="224" y="95"/>
                  </a:lnTo>
                  <a:lnTo>
                    <a:pt x="224" y="100"/>
                  </a:lnTo>
                  <a:lnTo>
                    <a:pt x="228" y="101"/>
                  </a:lnTo>
                  <a:lnTo>
                    <a:pt x="219" y="101"/>
                  </a:lnTo>
                  <a:lnTo>
                    <a:pt x="216" y="101"/>
                  </a:lnTo>
                  <a:lnTo>
                    <a:pt x="212" y="100"/>
                  </a:lnTo>
                  <a:lnTo>
                    <a:pt x="210" y="103"/>
                  </a:lnTo>
                  <a:lnTo>
                    <a:pt x="212" y="112"/>
                  </a:lnTo>
                  <a:lnTo>
                    <a:pt x="209" y="114"/>
                  </a:lnTo>
                  <a:lnTo>
                    <a:pt x="209" y="129"/>
                  </a:lnTo>
                  <a:lnTo>
                    <a:pt x="204" y="115"/>
                  </a:lnTo>
                  <a:lnTo>
                    <a:pt x="199" y="102"/>
                  </a:lnTo>
                  <a:lnTo>
                    <a:pt x="194" y="107"/>
                  </a:lnTo>
                  <a:lnTo>
                    <a:pt x="183" y="121"/>
                  </a:lnTo>
                  <a:lnTo>
                    <a:pt x="183" y="133"/>
                  </a:lnTo>
                  <a:lnTo>
                    <a:pt x="168" y="150"/>
                  </a:lnTo>
                  <a:lnTo>
                    <a:pt x="156" y="157"/>
                  </a:lnTo>
                  <a:lnTo>
                    <a:pt x="144" y="165"/>
                  </a:lnTo>
                  <a:lnTo>
                    <a:pt x="126" y="168"/>
                  </a:lnTo>
                  <a:lnTo>
                    <a:pt x="111" y="173"/>
                  </a:lnTo>
                  <a:lnTo>
                    <a:pt x="97" y="178"/>
                  </a:lnTo>
                  <a:lnTo>
                    <a:pt x="92" y="175"/>
                  </a:lnTo>
                  <a:lnTo>
                    <a:pt x="71" y="190"/>
                  </a:lnTo>
                  <a:lnTo>
                    <a:pt x="50" y="204"/>
                  </a:lnTo>
                  <a:lnTo>
                    <a:pt x="43" y="210"/>
                  </a:lnTo>
                  <a:lnTo>
                    <a:pt x="44" y="199"/>
                  </a:lnTo>
                  <a:lnTo>
                    <a:pt x="37" y="216"/>
                  </a:lnTo>
                  <a:lnTo>
                    <a:pt x="29" y="235"/>
                  </a:lnTo>
                  <a:lnTo>
                    <a:pt x="27" y="251"/>
                  </a:lnTo>
                  <a:lnTo>
                    <a:pt x="29" y="264"/>
                  </a:lnTo>
                  <a:lnTo>
                    <a:pt x="30" y="276"/>
                  </a:lnTo>
                  <a:lnTo>
                    <a:pt x="26" y="280"/>
                  </a:lnTo>
                  <a:lnTo>
                    <a:pt x="26" y="275"/>
                  </a:lnTo>
                  <a:lnTo>
                    <a:pt x="21" y="267"/>
                  </a:lnTo>
                  <a:lnTo>
                    <a:pt x="21" y="285"/>
                  </a:lnTo>
                  <a:lnTo>
                    <a:pt x="18" y="277"/>
                  </a:lnTo>
                  <a:lnTo>
                    <a:pt x="17" y="276"/>
                  </a:lnTo>
                  <a:lnTo>
                    <a:pt x="19" y="293"/>
                  </a:lnTo>
                  <a:lnTo>
                    <a:pt x="21" y="310"/>
                  </a:lnTo>
                  <a:lnTo>
                    <a:pt x="23" y="325"/>
                  </a:lnTo>
                  <a:lnTo>
                    <a:pt x="25" y="341"/>
                  </a:lnTo>
                  <a:lnTo>
                    <a:pt x="24" y="354"/>
                  </a:lnTo>
                  <a:lnTo>
                    <a:pt x="23" y="367"/>
                  </a:lnTo>
                  <a:lnTo>
                    <a:pt x="20" y="381"/>
                  </a:lnTo>
                  <a:lnTo>
                    <a:pt x="19" y="393"/>
                  </a:lnTo>
                  <a:lnTo>
                    <a:pt x="8" y="411"/>
                  </a:lnTo>
                  <a:lnTo>
                    <a:pt x="1" y="413"/>
                  </a:lnTo>
                  <a:lnTo>
                    <a:pt x="0" y="424"/>
                  </a:lnTo>
                  <a:lnTo>
                    <a:pt x="11" y="430"/>
                  </a:lnTo>
                  <a:lnTo>
                    <a:pt x="21" y="437"/>
                  </a:lnTo>
                  <a:lnTo>
                    <a:pt x="41" y="435"/>
                  </a:lnTo>
                  <a:lnTo>
                    <a:pt x="60" y="427"/>
                  </a:lnTo>
                  <a:lnTo>
                    <a:pt x="62" y="425"/>
                  </a:lnTo>
                  <a:lnTo>
                    <a:pt x="72" y="418"/>
                  </a:lnTo>
                  <a:lnTo>
                    <a:pt x="89" y="418"/>
                  </a:lnTo>
                  <a:lnTo>
                    <a:pt x="105" y="418"/>
                  </a:lnTo>
                  <a:lnTo>
                    <a:pt x="127" y="417"/>
                  </a:lnTo>
                  <a:lnTo>
                    <a:pt x="141" y="402"/>
                  </a:lnTo>
                  <a:lnTo>
                    <a:pt x="162" y="395"/>
                  </a:lnTo>
                  <a:lnTo>
                    <a:pt x="181" y="387"/>
                  </a:lnTo>
                  <a:lnTo>
                    <a:pt x="200" y="383"/>
                  </a:lnTo>
                  <a:lnTo>
                    <a:pt x="219" y="379"/>
                  </a:lnTo>
                  <a:lnTo>
                    <a:pt x="239" y="377"/>
                  </a:lnTo>
                  <a:lnTo>
                    <a:pt x="258" y="373"/>
                  </a:lnTo>
                  <a:lnTo>
                    <a:pt x="269" y="377"/>
                  </a:lnTo>
                  <a:lnTo>
                    <a:pt x="290" y="385"/>
                  </a:lnTo>
                  <a:lnTo>
                    <a:pt x="294" y="390"/>
                  </a:lnTo>
                  <a:lnTo>
                    <a:pt x="296" y="395"/>
                  </a:lnTo>
                  <a:lnTo>
                    <a:pt x="299" y="402"/>
                  </a:lnTo>
                  <a:lnTo>
                    <a:pt x="300" y="414"/>
                  </a:lnTo>
                  <a:lnTo>
                    <a:pt x="301" y="426"/>
                  </a:lnTo>
                  <a:lnTo>
                    <a:pt x="299" y="426"/>
                  </a:lnTo>
                  <a:lnTo>
                    <a:pt x="306" y="433"/>
                  </a:lnTo>
                  <a:lnTo>
                    <a:pt x="308" y="431"/>
                  </a:lnTo>
                  <a:lnTo>
                    <a:pt x="326" y="415"/>
                  </a:lnTo>
                  <a:lnTo>
                    <a:pt x="344" y="401"/>
                  </a:lnTo>
                  <a:lnTo>
                    <a:pt x="351" y="393"/>
                  </a:lnTo>
                  <a:lnTo>
                    <a:pt x="348" y="406"/>
                  </a:lnTo>
                  <a:lnTo>
                    <a:pt x="337" y="420"/>
                  </a:lnTo>
                  <a:lnTo>
                    <a:pt x="326" y="435"/>
                  </a:lnTo>
                  <a:lnTo>
                    <a:pt x="319" y="439"/>
                  </a:lnTo>
                  <a:lnTo>
                    <a:pt x="330" y="439"/>
                  </a:lnTo>
                  <a:lnTo>
                    <a:pt x="343" y="423"/>
                  </a:lnTo>
                  <a:lnTo>
                    <a:pt x="347" y="431"/>
                  </a:lnTo>
                  <a:lnTo>
                    <a:pt x="335" y="445"/>
                  </a:lnTo>
                  <a:lnTo>
                    <a:pt x="343" y="445"/>
                  </a:lnTo>
                  <a:lnTo>
                    <a:pt x="347" y="447"/>
                  </a:lnTo>
                  <a:lnTo>
                    <a:pt x="350" y="454"/>
                  </a:lnTo>
                  <a:lnTo>
                    <a:pt x="344" y="471"/>
                  </a:lnTo>
                  <a:lnTo>
                    <a:pt x="345" y="489"/>
                  </a:lnTo>
                  <a:lnTo>
                    <a:pt x="360" y="495"/>
                  </a:lnTo>
                  <a:lnTo>
                    <a:pt x="371" y="499"/>
                  </a:lnTo>
                  <a:lnTo>
                    <a:pt x="381" y="503"/>
                  </a:lnTo>
                  <a:lnTo>
                    <a:pt x="403" y="495"/>
                  </a:lnTo>
                  <a:lnTo>
                    <a:pt x="403" y="492"/>
                  </a:lnTo>
                  <a:lnTo>
                    <a:pt x="413" y="489"/>
                  </a:lnTo>
                  <a:lnTo>
                    <a:pt x="407" y="496"/>
                  </a:lnTo>
                  <a:lnTo>
                    <a:pt x="410" y="497"/>
                  </a:lnTo>
                  <a:lnTo>
                    <a:pt x="416" y="497"/>
                  </a:lnTo>
                  <a:lnTo>
                    <a:pt x="419" y="505"/>
                  </a:lnTo>
                  <a:lnTo>
                    <a:pt x="422" y="508"/>
                  </a:lnTo>
                  <a:lnTo>
                    <a:pt x="426" y="502"/>
                  </a:lnTo>
                  <a:lnTo>
                    <a:pt x="455" y="487"/>
                  </a:lnTo>
                  <a:lnTo>
                    <a:pt x="469" y="486"/>
                  </a:lnTo>
                  <a:lnTo>
                    <a:pt x="488" y="480"/>
                  </a:lnTo>
                  <a:lnTo>
                    <a:pt x="495" y="471"/>
                  </a:lnTo>
                  <a:lnTo>
                    <a:pt x="512" y="453"/>
                  </a:lnTo>
                  <a:lnTo>
                    <a:pt x="529" y="435"/>
                  </a:lnTo>
                  <a:lnTo>
                    <a:pt x="543" y="415"/>
                  </a:lnTo>
                  <a:lnTo>
                    <a:pt x="549" y="409"/>
                  </a:lnTo>
                  <a:lnTo>
                    <a:pt x="567" y="395"/>
                  </a:lnTo>
                  <a:lnTo>
                    <a:pt x="573" y="390"/>
                  </a:lnTo>
                  <a:lnTo>
                    <a:pt x="587" y="375"/>
                  </a:lnTo>
                  <a:lnTo>
                    <a:pt x="599" y="358"/>
                  </a:lnTo>
                  <a:lnTo>
                    <a:pt x="611" y="341"/>
                  </a:lnTo>
                  <a:lnTo>
                    <a:pt x="620" y="324"/>
                  </a:lnTo>
                  <a:lnTo>
                    <a:pt x="621" y="311"/>
                  </a:lnTo>
                  <a:lnTo>
                    <a:pt x="621" y="299"/>
                  </a:lnTo>
                  <a:lnTo>
                    <a:pt x="626" y="285"/>
                  </a:lnTo>
                  <a:lnTo>
                    <a:pt x="630" y="270"/>
                  </a:lnTo>
                  <a:lnTo>
                    <a:pt x="629" y="259"/>
                  </a:lnTo>
                  <a:lnTo>
                    <a:pt x="623" y="250"/>
                  </a:lnTo>
                  <a:lnTo>
                    <a:pt x="617" y="240"/>
                  </a:lnTo>
                  <a:lnTo>
                    <a:pt x="607" y="229"/>
                  </a:lnTo>
                  <a:lnTo>
                    <a:pt x="611" y="208"/>
                  </a:lnTo>
                  <a:lnTo>
                    <a:pt x="608" y="213"/>
                  </a:lnTo>
                  <a:lnTo>
                    <a:pt x="601" y="205"/>
                  </a:lnTo>
                  <a:lnTo>
                    <a:pt x="599" y="213"/>
                  </a:lnTo>
                  <a:lnTo>
                    <a:pt x="594" y="208"/>
                  </a:lnTo>
                  <a:lnTo>
                    <a:pt x="594" y="193"/>
                  </a:lnTo>
                  <a:lnTo>
                    <a:pt x="588" y="179"/>
                  </a:lnTo>
                  <a:lnTo>
                    <a:pt x="590" y="174"/>
                  </a:lnTo>
                  <a:lnTo>
                    <a:pt x="585" y="169"/>
                  </a:lnTo>
                  <a:lnTo>
                    <a:pt x="575" y="157"/>
                  </a:lnTo>
                  <a:lnTo>
                    <a:pt x="557" y="144"/>
                  </a:lnTo>
                  <a:lnTo>
                    <a:pt x="557" y="127"/>
                  </a:lnTo>
                  <a:lnTo>
                    <a:pt x="557" y="111"/>
                  </a:lnTo>
                  <a:lnTo>
                    <a:pt x="553" y="97"/>
                  </a:lnTo>
                  <a:lnTo>
                    <a:pt x="555" y="81"/>
                  </a:lnTo>
                  <a:lnTo>
                    <a:pt x="552" y="73"/>
                  </a:lnTo>
                  <a:lnTo>
                    <a:pt x="543" y="64"/>
                  </a:lnTo>
                  <a:lnTo>
                    <a:pt x="533" y="65"/>
                  </a:lnTo>
                  <a:lnTo>
                    <a:pt x="531" y="53"/>
                  </a:lnTo>
                  <a:lnTo>
                    <a:pt x="530" y="40"/>
                  </a:lnTo>
                  <a:lnTo>
                    <a:pt x="529" y="24"/>
                  </a:lnTo>
                  <a:lnTo>
                    <a:pt x="525" y="13"/>
                  </a:lnTo>
                  <a:lnTo>
                    <a:pt x="522" y="5"/>
                  </a:lnTo>
                  <a:lnTo>
                    <a:pt x="521" y="0"/>
                  </a:lnTo>
                  <a:lnTo>
                    <a:pt x="512" y="16"/>
                  </a:lnTo>
                  <a:lnTo>
                    <a:pt x="509" y="23"/>
                  </a:lnTo>
                  <a:lnTo>
                    <a:pt x="505" y="33"/>
                  </a:lnTo>
                  <a:lnTo>
                    <a:pt x="507" y="34"/>
                  </a:lnTo>
                  <a:lnTo>
                    <a:pt x="507" y="36"/>
                  </a:lnTo>
                  <a:lnTo>
                    <a:pt x="503" y="43"/>
                  </a:lnTo>
                  <a:lnTo>
                    <a:pt x="501" y="51"/>
                  </a:lnTo>
                  <a:lnTo>
                    <a:pt x="499" y="51"/>
                  </a:lnTo>
                  <a:lnTo>
                    <a:pt x="498" y="66"/>
                  </a:lnTo>
                  <a:lnTo>
                    <a:pt x="497" y="81"/>
                  </a:lnTo>
                  <a:lnTo>
                    <a:pt x="485" y="101"/>
                  </a:lnTo>
                  <a:lnTo>
                    <a:pt x="474" y="121"/>
                  </a:lnTo>
                  <a:lnTo>
                    <a:pt x="462" y="124"/>
                  </a:lnTo>
                  <a:lnTo>
                    <a:pt x="451" y="114"/>
                  </a:lnTo>
                  <a:lnTo>
                    <a:pt x="435" y="103"/>
                  </a:lnTo>
                  <a:lnTo>
                    <a:pt x="419" y="93"/>
                  </a:lnTo>
                  <a:lnTo>
                    <a:pt x="410" y="82"/>
                  </a:lnTo>
                  <a:lnTo>
                    <a:pt x="401" y="72"/>
                  </a:lnTo>
                  <a:lnTo>
                    <a:pt x="411" y="54"/>
                  </a:lnTo>
                  <a:lnTo>
                    <a:pt x="416" y="43"/>
                  </a:lnTo>
                  <a:lnTo>
                    <a:pt x="419" y="46"/>
                  </a:lnTo>
                  <a:lnTo>
                    <a:pt x="422" y="40"/>
                  </a:lnTo>
                  <a:lnTo>
                    <a:pt x="429" y="29"/>
                  </a:lnTo>
                  <a:lnTo>
                    <a:pt x="422" y="23"/>
                  </a:lnTo>
                  <a:lnTo>
                    <a:pt x="416" y="31"/>
                  </a:lnTo>
                  <a:lnTo>
                    <a:pt x="415" y="27"/>
                  </a:lnTo>
                  <a:lnTo>
                    <a:pt x="410" y="27"/>
                  </a:lnTo>
                  <a:lnTo>
                    <a:pt x="413" y="23"/>
                  </a:lnTo>
                  <a:lnTo>
                    <a:pt x="398" y="27"/>
                  </a:lnTo>
                  <a:lnTo>
                    <a:pt x="387" y="24"/>
                  </a:lnTo>
                  <a:lnTo>
                    <a:pt x="380" y="19"/>
                  </a:lnTo>
                  <a:lnTo>
                    <a:pt x="369"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3" name="Freeform 182"/>
            <p:cNvSpPr>
              <a:spLocks/>
            </p:cNvSpPr>
            <p:nvPr/>
          </p:nvSpPr>
          <p:spPr bwMode="auto">
            <a:xfrm>
              <a:off x="4860" y="3518"/>
              <a:ext cx="69" cy="56"/>
            </a:xfrm>
            <a:custGeom>
              <a:avLst/>
              <a:gdLst/>
              <a:ahLst/>
              <a:cxnLst>
                <a:cxn ang="0">
                  <a:pos x="25" y="38"/>
                </a:cxn>
                <a:cxn ang="0">
                  <a:pos x="7" y="50"/>
                </a:cxn>
                <a:cxn ang="0">
                  <a:pos x="0" y="46"/>
                </a:cxn>
                <a:cxn ang="0">
                  <a:pos x="1" y="44"/>
                </a:cxn>
                <a:cxn ang="0">
                  <a:pos x="1" y="29"/>
                </a:cxn>
                <a:cxn ang="0">
                  <a:pos x="4" y="26"/>
                </a:cxn>
                <a:cxn ang="0">
                  <a:pos x="5" y="28"/>
                </a:cxn>
                <a:cxn ang="0">
                  <a:pos x="7" y="16"/>
                </a:cxn>
                <a:cxn ang="0">
                  <a:pos x="9" y="2"/>
                </a:cxn>
                <a:cxn ang="0">
                  <a:pos x="13" y="0"/>
                </a:cxn>
                <a:cxn ang="0">
                  <a:pos x="27" y="5"/>
                </a:cxn>
                <a:cxn ang="0">
                  <a:pos x="40" y="11"/>
                </a:cxn>
                <a:cxn ang="0">
                  <a:pos x="43" y="4"/>
                </a:cxn>
                <a:cxn ang="0">
                  <a:pos x="63" y="2"/>
                </a:cxn>
                <a:cxn ang="0">
                  <a:pos x="48" y="25"/>
                </a:cxn>
                <a:cxn ang="0">
                  <a:pos x="46" y="24"/>
                </a:cxn>
                <a:cxn ang="0">
                  <a:pos x="28" y="43"/>
                </a:cxn>
                <a:cxn ang="0">
                  <a:pos x="30" y="40"/>
                </a:cxn>
                <a:cxn ang="0">
                  <a:pos x="27" y="40"/>
                </a:cxn>
                <a:cxn ang="0">
                  <a:pos x="25" y="38"/>
                </a:cxn>
              </a:cxnLst>
              <a:rect l="0" t="0" r="r" b="b"/>
              <a:pathLst>
                <a:path w="63" h="50">
                  <a:moveTo>
                    <a:pt x="25" y="38"/>
                  </a:moveTo>
                  <a:lnTo>
                    <a:pt x="7" y="50"/>
                  </a:lnTo>
                  <a:lnTo>
                    <a:pt x="0" y="46"/>
                  </a:lnTo>
                  <a:lnTo>
                    <a:pt x="1" y="44"/>
                  </a:lnTo>
                  <a:lnTo>
                    <a:pt x="1" y="29"/>
                  </a:lnTo>
                  <a:lnTo>
                    <a:pt x="4" y="26"/>
                  </a:lnTo>
                  <a:lnTo>
                    <a:pt x="5" y="28"/>
                  </a:lnTo>
                  <a:lnTo>
                    <a:pt x="7" y="16"/>
                  </a:lnTo>
                  <a:lnTo>
                    <a:pt x="9" y="2"/>
                  </a:lnTo>
                  <a:lnTo>
                    <a:pt x="13" y="0"/>
                  </a:lnTo>
                  <a:lnTo>
                    <a:pt x="27" y="5"/>
                  </a:lnTo>
                  <a:lnTo>
                    <a:pt x="40" y="11"/>
                  </a:lnTo>
                  <a:lnTo>
                    <a:pt x="43" y="4"/>
                  </a:lnTo>
                  <a:lnTo>
                    <a:pt x="63" y="2"/>
                  </a:lnTo>
                  <a:lnTo>
                    <a:pt x="48" y="25"/>
                  </a:lnTo>
                  <a:lnTo>
                    <a:pt x="46" y="24"/>
                  </a:lnTo>
                  <a:lnTo>
                    <a:pt x="28" y="43"/>
                  </a:lnTo>
                  <a:lnTo>
                    <a:pt x="30" y="40"/>
                  </a:lnTo>
                  <a:lnTo>
                    <a:pt x="27" y="40"/>
                  </a:lnTo>
                  <a:lnTo>
                    <a:pt x="25"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4" name="Freeform 183"/>
            <p:cNvSpPr>
              <a:spLocks/>
            </p:cNvSpPr>
            <p:nvPr/>
          </p:nvSpPr>
          <p:spPr bwMode="auto">
            <a:xfrm>
              <a:off x="5613" y="3052"/>
              <a:ext cx="22" cy="15"/>
            </a:xfrm>
            <a:custGeom>
              <a:avLst/>
              <a:gdLst/>
              <a:ahLst/>
              <a:cxnLst>
                <a:cxn ang="0">
                  <a:pos x="21" y="13"/>
                </a:cxn>
                <a:cxn ang="0">
                  <a:pos x="0" y="14"/>
                </a:cxn>
                <a:cxn ang="0">
                  <a:pos x="1" y="7"/>
                </a:cxn>
                <a:cxn ang="0">
                  <a:pos x="16" y="0"/>
                </a:cxn>
                <a:cxn ang="0">
                  <a:pos x="21" y="12"/>
                </a:cxn>
                <a:cxn ang="0">
                  <a:pos x="21" y="13"/>
                </a:cxn>
              </a:cxnLst>
              <a:rect l="0" t="0" r="r" b="b"/>
              <a:pathLst>
                <a:path w="21" h="14">
                  <a:moveTo>
                    <a:pt x="21" y="13"/>
                  </a:moveTo>
                  <a:lnTo>
                    <a:pt x="0" y="14"/>
                  </a:lnTo>
                  <a:lnTo>
                    <a:pt x="1" y="7"/>
                  </a:lnTo>
                  <a:lnTo>
                    <a:pt x="16" y="0"/>
                  </a:lnTo>
                  <a:lnTo>
                    <a:pt x="21" y="12"/>
                  </a:lnTo>
                  <a:lnTo>
                    <a:pt x="21"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5" name="Freeform 184"/>
            <p:cNvSpPr>
              <a:spLocks/>
            </p:cNvSpPr>
            <p:nvPr/>
          </p:nvSpPr>
          <p:spPr bwMode="auto">
            <a:xfrm>
              <a:off x="5640" y="3030"/>
              <a:ext cx="24" cy="13"/>
            </a:xfrm>
            <a:custGeom>
              <a:avLst/>
              <a:gdLst/>
              <a:ahLst/>
              <a:cxnLst>
                <a:cxn ang="0">
                  <a:pos x="16" y="8"/>
                </a:cxn>
                <a:cxn ang="0">
                  <a:pos x="22" y="0"/>
                </a:cxn>
                <a:cxn ang="0">
                  <a:pos x="0" y="7"/>
                </a:cxn>
                <a:cxn ang="0">
                  <a:pos x="0" y="12"/>
                </a:cxn>
                <a:cxn ang="0">
                  <a:pos x="16" y="8"/>
                </a:cxn>
              </a:cxnLst>
              <a:rect l="0" t="0" r="r" b="b"/>
              <a:pathLst>
                <a:path w="22" h="12">
                  <a:moveTo>
                    <a:pt x="16" y="8"/>
                  </a:moveTo>
                  <a:lnTo>
                    <a:pt x="22" y="0"/>
                  </a:lnTo>
                  <a:lnTo>
                    <a:pt x="0" y="7"/>
                  </a:lnTo>
                  <a:lnTo>
                    <a:pt x="0" y="12"/>
                  </a:lnTo>
                  <a:lnTo>
                    <a:pt x="16" y="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6" name="Freeform 185"/>
            <p:cNvSpPr>
              <a:spLocks/>
            </p:cNvSpPr>
            <p:nvPr/>
          </p:nvSpPr>
          <p:spPr bwMode="auto">
            <a:xfrm>
              <a:off x="5373" y="3107"/>
              <a:ext cx="38" cy="43"/>
            </a:xfrm>
            <a:custGeom>
              <a:avLst/>
              <a:gdLst/>
              <a:ahLst/>
              <a:cxnLst>
                <a:cxn ang="0">
                  <a:pos x="35" y="38"/>
                </a:cxn>
                <a:cxn ang="0">
                  <a:pos x="27" y="36"/>
                </a:cxn>
                <a:cxn ang="0">
                  <a:pos x="13" y="24"/>
                </a:cxn>
                <a:cxn ang="0">
                  <a:pos x="1" y="11"/>
                </a:cxn>
                <a:cxn ang="0">
                  <a:pos x="0" y="0"/>
                </a:cxn>
                <a:cxn ang="0">
                  <a:pos x="9" y="10"/>
                </a:cxn>
                <a:cxn ang="0">
                  <a:pos x="18" y="18"/>
                </a:cxn>
                <a:cxn ang="0">
                  <a:pos x="27" y="28"/>
                </a:cxn>
                <a:cxn ang="0">
                  <a:pos x="35" y="38"/>
                </a:cxn>
              </a:cxnLst>
              <a:rect l="0" t="0" r="r" b="b"/>
              <a:pathLst>
                <a:path w="35" h="38">
                  <a:moveTo>
                    <a:pt x="35" y="38"/>
                  </a:moveTo>
                  <a:lnTo>
                    <a:pt x="27" y="36"/>
                  </a:lnTo>
                  <a:lnTo>
                    <a:pt x="13" y="24"/>
                  </a:lnTo>
                  <a:lnTo>
                    <a:pt x="1" y="11"/>
                  </a:lnTo>
                  <a:lnTo>
                    <a:pt x="0" y="0"/>
                  </a:lnTo>
                  <a:lnTo>
                    <a:pt x="9" y="10"/>
                  </a:lnTo>
                  <a:lnTo>
                    <a:pt x="18" y="18"/>
                  </a:lnTo>
                  <a:lnTo>
                    <a:pt x="27" y="28"/>
                  </a:lnTo>
                  <a:lnTo>
                    <a:pt x="35"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7" name="Freeform 186"/>
            <p:cNvSpPr>
              <a:spLocks/>
            </p:cNvSpPr>
            <p:nvPr/>
          </p:nvSpPr>
          <p:spPr bwMode="auto">
            <a:xfrm>
              <a:off x="5146" y="3514"/>
              <a:ext cx="198" cy="120"/>
            </a:xfrm>
            <a:custGeom>
              <a:avLst/>
              <a:gdLst/>
              <a:ahLst/>
              <a:cxnLst>
                <a:cxn ang="0">
                  <a:pos x="117" y="59"/>
                </a:cxn>
                <a:cxn ang="0">
                  <a:pos x="111" y="48"/>
                </a:cxn>
                <a:cxn ang="0">
                  <a:pos x="109" y="48"/>
                </a:cxn>
                <a:cxn ang="0">
                  <a:pos x="105" y="51"/>
                </a:cxn>
                <a:cxn ang="0">
                  <a:pos x="111" y="60"/>
                </a:cxn>
                <a:cxn ang="0">
                  <a:pos x="99" y="64"/>
                </a:cxn>
                <a:cxn ang="0">
                  <a:pos x="90" y="65"/>
                </a:cxn>
                <a:cxn ang="0">
                  <a:pos x="88" y="72"/>
                </a:cxn>
                <a:cxn ang="0">
                  <a:pos x="82" y="78"/>
                </a:cxn>
                <a:cxn ang="0">
                  <a:pos x="82" y="79"/>
                </a:cxn>
                <a:cxn ang="0">
                  <a:pos x="61" y="95"/>
                </a:cxn>
                <a:cxn ang="0">
                  <a:pos x="27" y="109"/>
                </a:cxn>
                <a:cxn ang="0">
                  <a:pos x="19" y="106"/>
                </a:cxn>
                <a:cxn ang="0">
                  <a:pos x="6" y="102"/>
                </a:cxn>
                <a:cxn ang="0">
                  <a:pos x="1" y="100"/>
                </a:cxn>
                <a:cxn ang="0">
                  <a:pos x="3" y="99"/>
                </a:cxn>
                <a:cxn ang="0">
                  <a:pos x="0" y="97"/>
                </a:cxn>
                <a:cxn ang="0">
                  <a:pos x="9" y="91"/>
                </a:cxn>
                <a:cxn ang="0">
                  <a:pos x="12" y="89"/>
                </a:cxn>
                <a:cxn ang="0">
                  <a:pos x="17" y="85"/>
                </a:cxn>
                <a:cxn ang="0">
                  <a:pos x="18" y="87"/>
                </a:cxn>
                <a:cxn ang="0">
                  <a:pos x="24" y="79"/>
                </a:cxn>
                <a:cxn ang="0">
                  <a:pos x="30" y="77"/>
                </a:cxn>
                <a:cxn ang="0">
                  <a:pos x="40" y="73"/>
                </a:cxn>
                <a:cxn ang="0">
                  <a:pos x="59" y="63"/>
                </a:cxn>
                <a:cxn ang="0">
                  <a:pos x="67" y="60"/>
                </a:cxn>
                <a:cxn ang="0">
                  <a:pos x="95" y="47"/>
                </a:cxn>
                <a:cxn ang="0">
                  <a:pos x="108" y="41"/>
                </a:cxn>
                <a:cxn ang="0">
                  <a:pos x="125" y="31"/>
                </a:cxn>
                <a:cxn ang="0">
                  <a:pos x="120" y="31"/>
                </a:cxn>
                <a:cxn ang="0">
                  <a:pos x="132" y="23"/>
                </a:cxn>
                <a:cxn ang="0">
                  <a:pos x="162" y="3"/>
                </a:cxn>
                <a:cxn ang="0">
                  <a:pos x="169" y="0"/>
                </a:cxn>
                <a:cxn ang="0">
                  <a:pos x="162" y="4"/>
                </a:cxn>
                <a:cxn ang="0">
                  <a:pos x="161" y="12"/>
                </a:cxn>
                <a:cxn ang="0">
                  <a:pos x="175" y="7"/>
                </a:cxn>
                <a:cxn ang="0">
                  <a:pos x="173" y="11"/>
                </a:cxn>
                <a:cxn ang="0">
                  <a:pos x="175" y="12"/>
                </a:cxn>
                <a:cxn ang="0">
                  <a:pos x="174" y="13"/>
                </a:cxn>
                <a:cxn ang="0">
                  <a:pos x="179" y="12"/>
                </a:cxn>
                <a:cxn ang="0">
                  <a:pos x="171" y="21"/>
                </a:cxn>
                <a:cxn ang="0">
                  <a:pos x="151" y="34"/>
                </a:cxn>
                <a:cxn ang="0">
                  <a:pos x="132" y="46"/>
                </a:cxn>
                <a:cxn ang="0">
                  <a:pos x="124" y="49"/>
                </a:cxn>
                <a:cxn ang="0">
                  <a:pos x="123" y="52"/>
                </a:cxn>
                <a:cxn ang="0">
                  <a:pos x="117" y="52"/>
                </a:cxn>
                <a:cxn ang="0">
                  <a:pos x="123" y="55"/>
                </a:cxn>
                <a:cxn ang="0">
                  <a:pos x="124" y="60"/>
                </a:cxn>
                <a:cxn ang="0">
                  <a:pos x="117" y="59"/>
                </a:cxn>
              </a:cxnLst>
              <a:rect l="0" t="0" r="r" b="b"/>
              <a:pathLst>
                <a:path w="179" h="109">
                  <a:moveTo>
                    <a:pt x="117" y="59"/>
                  </a:moveTo>
                  <a:lnTo>
                    <a:pt x="111" y="48"/>
                  </a:lnTo>
                  <a:lnTo>
                    <a:pt x="109" y="48"/>
                  </a:lnTo>
                  <a:lnTo>
                    <a:pt x="105" y="51"/>
                  </a:lnTo>
                  <a:lnTo>
                    <a:pt x="111" y="60"/>
                  </a:lnTo>
                  <a:lnTo>
                    <a:pt x="99" y="64"/>
                  </a:lnTo>
                  <a:lnTo>
                    <a:pt x="90" y="65"/>
                  </a:lnTo>
                  <a:lnTo>
                    <a:pt x="88" y="72"/>
                  </a:lnTo>
                  <a:lnTo>
                    <a:pt x="82" y="78"/>
                  </a:lnTo>
                  <a:lnTo>
                    <a:pt x="82" y="79"/>
                  </a:lnTo>
                  <a:lnTo>
                    <a:pt x="61" y="95"/>
                  </a:lnTo>
                  <a:lnTo>
                    <a:pt x="27" y="109"/>
                  </a:lnTo>
                  <a:lnTo>
                    <a:pt x="19" y="106"/>
                  </a:lnTo>
                  <a:lnTo>
                    <a:pt x="6" y="102"/>
                  </a:lnTo>
                  <a:lnTo>
                    <a:pt x="1" y="100"/>
                  </a:lnTo>
                  <a:lnTo>
                    <a:pt x="3" y="99"/>
                  </a:lnTo>
                  <a:lnTo>
                    <a:pt x="0" y="97"/>
                  </a:lnTo>
                  <a:lnTo>
                    <a:pt x="9" y="91"/>
                  </a:lnTo>
                  <a:lnTo>
                    <a:pt x="12" y="89"/>
                  </a:lnTo>
                  <a:lnTo>
                    <a:pt x="17" y="85"/>
                  </a:lnTo>
                  <a:lnTo>
                    <a:pt x="18" y="87"/>
                  </a:lnTo>
                  <a:lnTo>
                    <a:pt x="24" y="79"/>
                  </a:lnTo>
                  <a:lnTo>
                    <a:pt x="30" y="77"/>
                  </a:lnTo>
                  <a:lnTo>
                    <a:pt x="40" y="73"/>
                  </a:lnTo>
                  <a:lnTo>
                    <a:pt x="59" y="63"/>
                  </a:lnTo>
                  <a:lnTo>
                    <a:pt x="67" y="60"/>
                  </a:lnTo>
                  <a:lnTo>
                    <a:pt x="95" y="47"/>
                  </a:lnTo>
                  <a:lnTo>
                    <a:pt x="108" y="41"/>
                  </a:lnTo>
                  <a:lnTo>
                    <a:pt x="125" y="31"/>
                  </a:lnTo>
                  <a:lnTo>
                    <a:pt x="120" y="31"/>
                  </a:lnTo>
                  <a:lnTo>
                    <a:pt x="132" y="23"/>
                  </a:lnTo>
                  <a:lnTo>
                    <a:pt x="162" y="3"/>
                  </a:lnTo>
                  <a:lnTo>
                    <a:pt x="169" y="0"/>
                  </a:lnTo>
                  <a:lnTo>
                    <a:pt x="162" y="4"/>
                  </a:lnTo>
                  <a:lnTo>
                    <a:pt x="161" y="12"/>
                  </a:lnTo>
                  <a:lnTo>
                    <a:pt x="175" y="7"/>
                  </a:lnTo>
                  <a:lnTo>
                    <a:pt x="173" y="11"/>
                  </a:lnTo>
                  <a:lnTo>
                    <a:pt x="175" y="12"/>
                  </a:lnTo>
                  <a:lnTo>
                    <a:pt x="174" y="13"/>
                  </a:lnTo>
                  <a:lnTo>
                    <a:pt x="179" y="12"/>
                  </a:lnTo>
                  <a:lnTo>
                    <a:pt x="171" y="21"/>
                  </a:lnTo>
                  <a:lnTo>
                    <a:pt x="151" y="34"/>
                  </a:lnTo>
                  <a:lnTo>
                    <a:pt x="132" y="46"/>
                  </a:lnTo>
                  <a:lnTo>
                    <a:pt x="124" y="49"/>
                  </a:lnTo>
                  <a:lnTo>
                    <a:pt x="123" y="52"/>
                  </a:lnTo>
                  <a:lnTo>
                    <a:pt x="117" y="52"/>
                  </a:lnTo>
                  <a:lnTo>
                    <a:pt x="123" y="55"/>
                  </a:lnTo>
                  <a:lnTo>
                    <a:pt x="124" y="60"/>
                  </a:lnTo>
                  <a:lnTo>
                    <a:pt x="117" y="5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8" name="Freeform 187"/>
            <p:cNvSpPr>
              <a:spLocks/>
            </p:cNvSpPr>
            <p:nvPr/>
          </p:nvSpPr>
          <p:spPr bwMode="auto">
            <a:xfrm>
              <a:off x="5348" y="3394"/>
              <a:ext cx="114" cy="140"/>
            </a:xfrm>
            <a:custGeom>
              <a:avLst/>
              <a:gdLst/>
              <a:ahLst/>
              <a:cxnLst>
                <a:cxn ang="0">
                  <a:pos x="12" y="85"/>
                </a:cxn>
                <a:cxn ang="0">
                  <a:pos x="18" y="94"/>
                </a:cxn>
                <a:cxn ang="0">
                  <a:pos x="23" y="102"/>
                </a:cxn>
                <a:cxn ang="0">
                  <a:pos x="0" y="123"/>
                </a:cxn>
                <a:cxn ang="0">
                  <a:pos x="3" y="127"/>
                </a:cxn>
                <a:cxn ang="0">
                  <a:pos x="25" y="114"/>
                </a:cxn>
                <a:cxn ang="0">
                  <a:pos x="48" y="101"/>
                </a:cxn>
                <a:cxn ang="0">
                  <a:pos x="59" y="88"/>
                </a:cxn>
                <a:cxn ang="0">
                  <a:pos x="74" y="83"/>
                </a:cxn>
                <a:cxn ang="0">
                  <a:pos x="81" y="76"/>
                </a:cxn>
                <a:cxn ang="0">
                  <a:pos x="102" y="58"/>
                </a:cxn>
                <a:cxn ang="0">
                  <a:pos x="99" y="57"/>
                </a:cxn>
                <a:cxn ang="0">
                  <a:pos x="83" y="63"/>
                </a:cxn>
                <a:cxn ang="0">
                  <a:pos x="66" y="54"/>
                </a:cxn>
                <a:cxn ang="0">
                  <a:pos x="71" y="36"/>
                </a:cxn>
                <a:cxn ang="0">
                  <a:pos x="65" y="47"/>
                </a:cxn>
                <a:cxn ang="0">
                  <a:pos x="56" y="42"/>
                </a:cxn>
                <a:cxn ang="0">
                  <a:pos x="59" y="36"/>
                </a:cxn>
                <a:cxn ang="0">
                  <a:pos x="63" y="23"/>
                </a:cxn>
                <a:cxn ang="0">
                  <a:pos x="67" y="16"/>
                </a:cxn>
                <a:cxn ang="0">
                  <a:pos x="65" y="16"/>
                </a:cxn>
                <a:cxn ang="0">
                  <a:pos x="57" y="7"/>
                </a:cxn>
                <a:cxn ang="0">
                  <a:pos x="54" y="1"/>
                </a:cxn>
                <a:cxn ang="0">
                  <a:pos x="54" y="0"/>
                </a:cxn>
                <a:cxn ang="0">
                  <a:pos x="51" y="12"/>
                </a:cxn>
                <a:cxn ang="0">
                  <a:pos x="54" y="17"/>
                </a:cxn>
                <a:cxn ang="0">
                  <a:pos x="50" y="34"/>
                </a:cxn>
                <a:cxn ang="0">
                  <a:pos x="53" y="27"/>
                </a:cxn>
                <a:cxn ang="0">
                  <a:pos x="55" y="30"/>
                </a:cxn>
                <a:cxn ang="0">
                  <a:pos x="55" y="33"/>
                </a:cxn>
                <a:cxn ang="0">
                  <a:pos x="53" y="37"/>
                </a:cxn>
                <a:cxn ang="0">
                  <a:pos x="49" y="46"/>
                </a:cxn>
                <a:cxn ang="0">
                  <a:pos x="55" y="45"/>
                </a:cxn>
                <a:cxn ang="0">
                  <a:pos x="51" y="48"/>
                </a:cxn>
                <a:cxn ang="0">
                  <a:pos x="47" y="57"/>
                </a:cxn>
                <a:cxn ang="0">
                  <a:pos x="32" y="76"/>
                </a:cxn>
                <a:cxn ang="0">
                  <a:pos x="12" y="85"/>
                </a:cxn>
              </a:cxnLst>
              <a:rect l="0" t="0" r="r" b="b"/>
              <a:pathLst>
                <a:path w="102" h="127">
                  <a:moveTo>
                    <a:pt x="12" y="85"/>
                  </a:moveTo>
                  <a:lnTo>
                    <a:pt x="18" y="94"/>
                  </a:lnTo>
                  <a:lnTo>
                    <a:pt x="23" y="102"/>
                  </a:lnTo>
                  <a:lnTo>
                    <a:pt x="0" y="123"/>
                  </a:lnTo>
                  <a:lnTo>
                    <a:pt x="3" y="127"/>
                  </a:lnTo>
                  <a:lnTo>
                    <a:pt x="25" y="114"/>
                  </a:lnTo>
                  <a:lnTo>
                    <a:pt x="48" y="101"/>
                  </a:lnTo>
                  <a:lnTo>
                    <a:pt x="59" y="88"/>
                  </a:lnTo>
                  <a:lnTo>
                    <a:pt x="74" y="83"/>
                  </a:lnTo>
                  <a:lnTo>
                    <a:pt x="81" y="76"/>
                  </a:lnTo>
                  <a:lnTo>
                    <a:pt x="102" y="58"/>
                  </a:lnTo>
                  <a:lnTo>
                    <a:pt x="99" y="57"/>
                  </a:lnTo>
                  <a:lnTo>
                    <a:pt x="83" y="63"/>
                  </a:lnTo>
                  <a:lnTo>
                    <a:pt x="66" y="54"/>
                  </a:lnTo>
                  <a:lnTo>
                    <a:pt x="71" y="36"/>
                  </a:lnTo>
                  <a:lnTo>
                    <a:pt x="65" y="47"/>
                  </a:lnTo>
                  <a:lnTo>
                    <a:pt x="56" y="42"/>
                  </a:lnTo>
                  <a:lnTo>
                    <a:pt x="59" y="36"/>
                  </a:lnTo>
                  <a:lnTo>
                    <a:pt x="63" y="23"/>
                  </a:lnTo>
                  <a:lnTo>
                    <a:pt x="67" y="16"/>
                  </a:lnTo>
                  <a:lnTo>
                    <a:pt x="65" y="16"/>
                  </a:lnTo>
                  <a:lnTo>
                    <a:pt x="57" y="7"/>
                  </a:lnTo>
                  <a:lnTo>
                    <a:pt x="54" y="1"/>
                  </a:lnTo>
                  <a:lnTo>
                    <a:pt x="54" y="0"/>
                  </a:lnTo>
                  <a:lnTo>
                    <a:pt x="51" y="12"/>
                  </a:lnTo>
                  <a:lnTo>
                    <a:pt x="54" y="17"/>
                  </a:lnTo>
                  <a:lnTo>
                    <a:pt x="50" y="34"/>
                  </a:lnTo>
                  <a:lnTo>
                    <a:pt x="53" y="27"/>
                  </a:lnTo>
                  <a:lnTo>
                    <a:pt x="55" y="30"/>
                  </a:lnTo>
                  <a:lnTo>
                    <a:pt x="55" y="33"/>
                  </a:lnTo>
                  <a:lnTo>
                    <a:pt x="53" y="37"/>
                  </a:lnTo>
                  <a:lnTo>
                    <a:pt x="49" y="46"/>
                  </a:lnTo>
                  <a:lnTo>
                    <a:pt x="55" y="45"/>
                  </a:lnTo>
                  <a:lnTo>
                    <a:pt x="51" y="48"/>
                  </a:lnTo>
                  <a:lnTo>
                    <a:pt x="47" y="57"/>
                  </a:lnTo>
                  <a:lnTo>
                    <a:pt x="32" y="76"/>
                  </a:lnTo>
                  <a:lnTo>
                    <a:pt x="12" y="8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89" name="Freeform 188"/>
            <p:cNvSpPr>
              <a:spLocks/>
            </p:cNvSpPr>
            <p:nvPr/>
          </p:nvSpPr>
          <p:spPr bwMode="auto">
            <a:xfrm>
              <a:off x="5144" y="3636"/>
              <a:ext cx="11" cy="7"/>
            </a:xfrm>
            <a:custGeom>
              <a:avLst/>
              <a:gdLst/>
              <a:ahLst/>
              <a:cxnLst>
                <a:cxn ang="0">
                  <a:pos x="11" y="3"/>
                </a:cxn>
                <a:cxn ang="0">
                  <a:pos x="11" y="1"/>
                </a:cxn>
                <a:cxn ang="0">
                  <a:pos x="6" y="0"/>
                </a:cxn>
                <a:cxn ang="0">
                  <a:pos x="0" y="6"/>
                </a:cxn>
                <a:cxn ang="0">
                  <a:pos x="11" y="3"/>
                </a:cxn>
              </a:cxnLst>
              <a:rect l="0" t="0" r="r" b="b"/>
              <a:pathLst>
                <a:path w="11" h="6">
                  <a:moveTo>
                    <a:pt x="11" y="3"/>
                  </a:moveTo>
                  <a:lnTo>
                    <a:pt x="11" y="1"/>
                  </a:lnTo>
                  <a:lnTo>
                    <a:pt x="6" y="0"/>
                  </a:lnTo>
                  <a:lnTo>
                    <a:pt x="0" y="6"/>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0" name="Freeform 189"/>
            <p:cNvSpPr>
              <a:spLocks/>
            </p:cNvSpPr>
            <p:nvPr/>
          </p:nvSpPr>
          <p:spPr bwMode="auto">
            <a:xfrm>
              <a:off x="5333" y="2890"/>
              <a:ext cx="20" cy="13"/>
            </a:xfrm>
            <a:custGeom>
              <a:avLst/>
              <a:gdLst/>
              <a:ahLst/>
              <a:cxnLst>
                <a:cxn ang="0">
                  <a:pos x="17" y="11"/>
                </a:cxn>
                <a:cxn ang="0">
                  <a:pos x="18" y="9"/>
                </a:cxn>
                <a:cxn ang="0">
                  <a:pos x="3" y="0"/>
                </a:cxn>
                <a:cxn ang="0">
                  <a:pos x="0" y="5"/>
                </a:cxn>
                <a:cxn ang="0">
                  <a:pos x="17" y="11"/>
                </a:cxn>
              </a:cxnLst>
              <a:rect l="0" t="0" r="r" b="b"/>
              <a:pathLst>
                <a:path w="18" h="11">
                  <a:moveTo>
                    <a:pt x="17" y="11"/>
                  </a:moveTo>
                  <a:lnTo>
                    <a:pt x="18" y="9"/>
                  </a:lnTo>
                  <a:lnTo>
                    <a:pt x="3" y="0"/>
                  </a:lnTo>
                  <a:lnTo>
                    <a:pt x="0" y="5"/>
                  </a:lnTo>
                  <a:lnTo>
                    <a:pt x="17"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1" name="Freeform 190"/>
            <p:cNvSpPr>
              <a:spLocks/>
            </p:cNvSpPr>
            <p:nvPr/>
          </p:nvSpPr>
          <p:spPr bwMode="auto">
            <a:xfrm>
              <a:off x="5284" y="2839"/>
              <a:ext cx="16" cy="15"/>
            </a:xfrm>
            <a:custGeom>
              <a:avLst/>
              <a:gdLst/>
              <a:ahLst/>
              <a:cxnLst>
                <a:cxn ang="0">
                  <a:pos x="0" y="0"/>
                </a:cxn>
                <a:cxn ang="0">
                  <a:pos x="14" y="13"/>
                </a:cxn>
                <a:cxn ang="0">
                  <a:pos x="5" y="10"/>
                </a:cxn>
                <a:cxn ang="0">
                  <a:pos x="0" y="0"/>
                </a:cxn>
              </a:cxnLst>
              <a:rect l="0" t="0" r="r" b="b"/>
              <a:pathLst>
                <a:path w="14" h="13">
                  <a:moveTo>
                    <a:pt x="0" y="0"/>
                  </a:moveTo>
                  <a:lnTo>
                    <a:pt x="14" y="13"/>
                  </a:lnTo>
                  <a:lnTo>
                    <a:pt x="5" y="10"/>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2" name="Freeform 191"/>
            <p:cNvSpPr>
              <a:spLocks/>
            </p:cNvSpPr>
            <p:nvPr/>
          </p:nvSpPr>
          <p:spPr bwMode="auto">
            <a:xfrm>
              <a:off x="5362" y="2910"/>
              <a:ext cx="13" cy="11"/>
            </a:xfrm>
            <a:custGeom>
              <a:avLst/>
              <a:gdLst/>
              <a:ahLst/>
              <a:cxnLst>
                <a:cxn ang="0">
                  <a:pos x="13" y="10"/>
                </a:cxn>
                <a:cxn ang="0">
                  <a:pos x="1" y="3"/>
                </a:cxn>
                <a:cxn ang="0">
                  <a:pos x="0" y="0"/>
                </a:cxn>
                <a:cxn ang="0">
                  <a:pos x="13" y="8"/>
                </a:cxn>
                <a:cxn ang="0">
                  <a:pos x="13" y="10"/>
                </a:cxn>
              </a:cxnLst>
              <a:rect l="0" t="0" r="r" b="b"/>
              <a:pathLst>
                <a:path w="13" h="10">
                  <a:moveTo>
                    <a:pt x="13" y="10"/>
                  </a:moveTo>
                  <a:lnTo>
                    <a:pt x="1" y="3"/>
                  </a:lnTo>
                  <a:lnTo>
                    <a:pt x="0" y="0"/>
                  </a:lnTo>
                  <a:lnTo>
                    <a:pt x="13" y="8"/>
                  </a:lnTo>
                  <a:lnTo>
                    <a:pt x="13"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3" name="Freeform 192"/>
            <p:cNvSpPr>
              <a:spLocks/>
            </p:cNvSpPr>
            <p:nvPr/>
          </p:nvSpPr>
          <p:spPr bwMode="auto">
            <a:xfrm>
              <a:off x="5295" y="2865"/>
              <a:ext cx="9" cy="11"/>
            </a:xfrm>
            <a:custGeom>
              <a:avLst/>
              <a:gdLst/>
              <a:ahLst/>
              <a:cxnLst>
                <a:cxn ang="0">
                  <a:pos x="8" y="10"/>
                </a:cxn>
                <a:cxn ang="0">
                  <a:pos x="4" y="0"/>
                </a:cxn>
                <a:cxn ang="0">
                  <a:pos x="0" y="4"/>
                </a:cxn>
                <a:cxn ang="0">
                  <a:pos x="3" y="4"/>
                </a:cxn>
                <a:cxn ang="0">
                  <a:pos x="8" y="10"/>
                </a:cxn>
              </a:cxnLst>
              <a:rect l="0" t="0" r="r" b="b"/>
              <a:pathLst>
                <a:path w="8" h="10">
                  <a:moveTo>
                    <a:pt x="8" y="10"/>
                  </a:moveTo>
                  <a:lnTo>
                    <a:pt x="4" y="0"/>
                  </a:lnTo>
                  <a:lnTo>
                    <a:pt x="0" y="4"/>
                  </a:lnTo>
                  <a:lnTo>
                    <a:pt x="3" y="4"/>
                  </a:lnTo>
                  <a:lnTo>
                    <a:pt x="8"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4" name="Freeform 193"/>
            <p:cNvSpPr>
              <a:spLocks/>
            </p:cNvSpPr>
            <p:nvPr/>
          </p:nvSpPr>
          <p:spPr bwMode="auto">
            <a:xfrm>
              <a:off x="5353" y="2870"/>
              <a:ext cx="9" cy="26"/>
            </a:xfrm>
            <a:custGeom>
              <a:avLst/>
              <a:gdLst/>
              <a:ahLst/>
              <a:cxnLst>
                <a:cxn ang="0">
                  <a:pos x="2" y="0"/>
                </a:cxn>
                <a:cxn ang="0">
                  <a:pos x="9" y="23"/>
                </a:cxn>
                <a:cxn ang="0">
                  <a:pos x="0" y="5"/>
                </a:cxn>
                <a:cxn ang="0">
                  <a:pos x="2" y="0"/>
                </a:cxn>
              </a:cxnLst>
              <a:rect l="0" t="0" r="r" b="b"/>
              <a:pathLst>
                <a:path w="9" h="23">
                  <a:moveTo>
                    <a:pt x="2" y="0"/>
                  </a:moveTo>
                  <a:lnTo>
                    <a:pt x="9" y="23"/>
                  </a:lnTo>
                  <a:lnTo>
                    <a:pt x="0" y="5"/>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5" name="Freeform 194"/>
            <p:cNvSpPr>
              <a:spLocks/>
            </p:cNvSpPr>
            <p:nvPr/>
          </p:nvSpPr>
          <p:spPr bwMode="auto">
            <a:xfrm>
              <a:off x="5320" y="2856"/>
              <a:ext cx="20" cy="20"/>
            </a:xfrm>
            <a:custGeom>
              <a:avLst/>
              <a:gdLst/>
              <a:ahLst/>
              <a:cxnLst>
                <a:cxn ang="0">
                  <a:pos x="17" y="18"/>
                </a:cxn>
                <a:cxn ang="0">
                  <a:pos x="19" y="18"/>
                </a:cxn>
                <a:cxn ang="0">
                  <a:pos x="10" y="9"/>
                </a:cxn>
                <a:cxn ang="0">
                  <a:pos x="0" y="0"/>
                </a:cxn>
                <a:cxn ang="0">
                  <a:pos x="9" y="9"/>
                </a:cxn>
                <a:cxn ang="0">
                  <a:pos x="17" y="18"/>
                </a:cxn>
              </a:cxnLst>
              <a:rect l="0" t="0" r="r" b="b"/>
              <a:pathLst>
                <a:path w="19" h="18">
                  <a:moveTo>
                    <a:pt x="17" y="18"/>
                  </a:moveTo>
                  <a:lnTo>
                    <a:pt x="19" y="18"/>
                  </a:lnTo>
                  <a:lnTo>
                    <a:pt x="10" y="9"/>
                  </a:lnTo>
                  <a:lnTo>
                    <a:pt x="0" y="0"/>
                  </a:lnTo>
                  <a:lnTo>
                    <a:pt x="9" y="9"/>
                  </a:lnTo>
                  <a:lnTo>
                    <a:pt x="17"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6" name="Freeform 195"/>
            <p:cNvSpPr>
              <a:spLocks/>
            </p:cNvSpPr>
            <p:nvPr/>
          </p:nvSpPr>
          <p:spPr bwMode="auto">
            <a:xfrm>
              <a:off x="5628" y="2954"/>
              <a:ext cx="3" cy="2"/>
            </a:xfrm>
            <a:custGeom>
              <a:avLst/>
              <a:gdLst/>
              <a:ahLst/>
              <a:cxnLst>
                <a:cxn ang="0">
                  <a:pos x="2" y="0"/>
                </a:cxn>
                <a:cxn ang="0">
                  <a:pos x="1" y="0"/>
                </a:cxn>
                <a:cxn ang="0">
                  <a:pos x="0" y="0"/>
                </a:cxn>
                <a:cxn ang="0">
                  <a:pos x="2" y="0"/>
                </a:cxn>
              </a:cxnLst>
              <a:rect l="0" t="0" r="r" b="b"/>
              <a:pathLst>
                <a:path w="2">
                  <a:moveTo>
                    <a:pt x="2" y="0"/>
                  </a:moveTo>
                  <a:lnTo>
                    <a:pt x="1" y="0"/>
                  </a:lnTo>
                  <a:lnTo>
                    <a:pt x="0" y="0"/>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7" name="Freeform 196"/>
            <p:cNvSpPr>
              <a:spLocks/>
            </p:cNvSpPr>
            <p:nvPr/>
          </p:nvSpPr>
          <p:spPr bwMode="auto">
            <a:xfrm>
              <a:off x="5437" y="3001"/>
              <a:ext cx="9" cy="13"/>
            </a:xfrm>
            <a:custGeom>
              <a:avLst/>
              <a:gdLst/>
              <a:ahLst/>
              <a:cxnLst>
                <a:cxn ang="0">
                  <a:pos x="7" y="13"/>
                </a:cxn>
                <a:cxn ang="0">
                  <a:pos x="8" y="5"/>
                </a:cxn>
                <a:cxn ang="0">
                  <a:pos x="6" y="6"/>
                </a:cxn>
                <a:cxn ang="0">
                  <a:pos x="2" y="0"/>
                </a:cxn>
                <a:cxn ang="0">
                  <a:pos x="0" y="13"/>
                </a:cxn>
                <a:cxn ang="0">
                  <a:pos x="7" y="13"/>
                </a:cxn>
              </a:cxnLst>
              <a:rect l="0" t="0" r="r" b="b"/>
              <a:pathLst>
                <a:path w="8" h="13">
                  <a:moveTo>
                    <a:pt x="7" y="13"/>
                  </a:moveTo>
                  <a:lnTo>
                    <a:pt x="8" y="5"/>
                  </a:lnTo>
                  <a:lnTo>
                    <a:pt x="6" y="6"/>
                  </a:lnTo>
                  <a:lnTo>
                    <a:pt x="2" y="0"/>
                  </a:lnTo>
                  <a:lnTo>
                    <a:pt x="0" y="13"/>
                  </a:lnTo>
                  <a:lnTo>
                    <a:pt x="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8" name="Freeform 197"/>
            <p:cNvSpPr>
              <a:spLocks/>
            </p:cNvSpPr>
            <p:nvPr/>
          </p:nvSpPr>
          <p:spPr bwMode="auto">
            <a:xfrm>
              <a:off x="5446" y="3021"/>
              <a:ext cx="7" cy="13"/>
            </a:xfrm>
            <a:custGeom>
              <a:avLst/>
              <a:gdLst/>
              <a:ahLst/>
              <a:cxnLst>
                <a:cxn ang="0">
                  <a:pos x="6" y="12"/>
                </a:cxn>
                <a:cxn ang="0">
                  <a:pos x="0" y="11"/>
                </a:cxn>
                <a:cxn ang="0">
                  <a:pos x="0" y="0"/>
                </a:cxn>
                <a:cxn ang="0">
                  <a:pos x="6" y="12"/>
                </a:cxn>
              </a:cxnLst>
              <a:rect l="0" t="0" r="r" b="b"/>
              <a:pathLst>
                <a:path w="6" h="12">
                  <a:moveTo>
                    <a:pt x="6" y="12"/>
                  </a:moveTo>
                  <a:lnTo>
                    <a:pt x="0" y="11"/>
                  </a:lnTo>
                  <a:lnTo>
                    <a:pt x="0" y="0"/>
                  </a:lnTo>
                  <a:lnTo>
                    <a:pt x="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199" name="Freeform 198"/>
            <p:cNvSpPr>
              <a:spLocks/>
            </p:cNvSpPr>
            <p:nvPr/>
          </p:nvSpPr>
          <p:spPr bwMode="auto">
            <a:xfrm>
              <a:off x="5457" y="3027"/>
              <a:ext cx="5" cy="5"/>
            </a:xfrm>
            <a:custGeom>
              <a:avLst/>
              <a:gdLst/>
              <a:ahLst/>
              <a:cxnLst>
                <a:cxn ang="0">
                  <a:pos x="4" y="0"/>
                </a:cxn>
                <a:cxn ang="0">
                  <a:pos x="1" y="5"/>
                </a:cxn>
                <a:cxn ang="0">
                  <a:pos x="0" y="4"/>
                </a:cxn>
                <a:cxn ang="0">
                  <a:pos x="4" y="0"/>
                </a:cxn>
              </a:cxnLst>
              <a:rect l="0" t="0" r="r" b="b"/>
              <a:pathLst>
                <a:path w="4" h="5">
                  <a:moveTo>
                    <a:pt x="4" y="0"/>
                  </a:moveTo>
                  <a:lnTo>
                    <a:pt x="1" y="5"/>
                  </a:lnTo>
                  <a:lnTo>
                    <a:pt x="0" y="4"/>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0" name="Freeform 199"/>
            <p:cNvSpPr>
              <a:spLocks/>
            </p:cNvSpPr>
            <p:nvPr/>
          </p:nvSpPr>
          <p:spPr bwMode="auto">
            <a:xfrm>
              <a:off x="5464" y="3079"/>
              <a:ext cx="2" cy="4"/>
            </a:xfrm>
            <a:custGeom>
              <a:avLst/>
              <a:gdLst/>
              <a:ahLst/>
              <a:cxnLst>
                <a:cxn ang="0">
                  <a:pos x="2" y="1"/>
                </a:cxn>
                <a:cxn ang="0">
                  <a:pos x="2" y="0"/>
                </a:cxn>
                <a:cxn ang="0">
                  <a:pos x="0" y="5"/>
                </a:cxn>
                <a:cxn ang="0">
                  <a:pos x="2" y="1"/>
                </a:cxn>
              </a:cxnLst>
              <a:rect l="0" t="0" r="r" b="b"/>
              <a:pathLst>
                <a:path w="2" h="5">
                  <a:moveTo>
                    <a:pt x="2" y="1"/>
                  </a:moveTo>
                  <a:lnTo>
                    <a:pt x="2" y="0"/>
                  </a:lnTo>
                  <a:lnTo>
                    <a:pt x="0" y="5"/>
                  </a:lnTo>
                  <a:lnTo>
                    <a:pt x="2"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1" name="Freeform 200"/>
            <p:cNvSpPr>
              <a:spLocks/>
            </p:cNvSpPr>
            <p:nvPr/>
          </p:nvSpPr>
          <p:spPr bwMode="auto">
            <a:xfrm>
              <a:off x="2736" y="3043"/>
              <a:ext cx="233" cy="238"/>
            </a:xfrm>
            <a:custGeom>
              <a:avLst/>
              <a:gdLst/>
              <a:ahLst/>
              <a:cxnLst>
                <a:cxn ang="0">
                  <a:pos x="124" y="140"/>
                </a:cxn>
                <a:cxn ang="0">
                  <a:pos x="126" y="115"/>
                </a:cxn>
                <a:cxn ang="0">
                  <a:pos x="127" y="90"/>
                </a:cxn>
                <a:cxn ang="0">
                  <a:pos x="142" y="90"/>
                </a:cxn>
                <a:cxn ang="0">
                  <a:pos x="142" y="73"/>
                </a:cxn>
                <a:cxn ang="0">
                  <a:pos x="144" y="57"/>
                </a:cxn>
                <a:cxn ang="0">
                  <a:pos x="144" y="41"/>
                </a:cxn>
                <a:cxn ang="0">
                  <a:pos x="145" y="24"/>
                </a:cxn>
                <a:cxn ang="0">
                  <a:pos x="163" y="21"/>
                </a:cxn>
                <a:cxn ang="0">
                  <a:pos x="181" y="20"/>
                </a:cxn>
                <a:cxn ang="0">
                  <a:pos x="187" y="26"/>
                </a:cxn>
                <a:cxn ang="0">
                  <a:pos x="199" y="19"/>
                </a:cxn>
                <a:cxn ang="0">
                  <a:pos x="211" y="14"/>
                </a:cxn>
                <a:cxn ang="0">
                  <a:pos x="194" y="9"/>
                </a:cxn>
                <a:cxn ang="0">
                  <a:pos x="183" y="12"/>
                </a:cxn>
                <a:cxn ang="0">
                  <a:pos x="159" y="14"/>
                </a:cxn>
                <a:cxn ang="0">
                  <a:pos x="136" y="18"/>
                </a:cxn>
                <a:cxn ang="0">
                  <a:pos x="121" y="14"/>
                </a:cxn>
                <a:cxn ang="0">
                  <a:pos x="106" y="11"/>
                </a:cxn>
                <a:cxn ang="0">
                  <a:pos x="104" y="7"/>
                </a:cxn>
                <a:cxn ang="0">
                  <a:pos x="86" y="7"/>
                </a:cxn>
                <a:cxn ang="0">
                  <a:pos x="68" y="6"/>
                </a:cxn>
                <a:cxn ang="0">
                  <a:pos x="50" y="6"/>
                </a:cxn>
                <a:cxn ang="0">
                  <a:pos x="31" y="5"/>
                </a:cxn>
                <a:cxn ang="0">
                  <a:pos x="20" y="0"/>
                </a:cxn>
                <a:cxn ang="0">
                  <a:pos x="1" y="5"/>
                </a:cxn>
                <a:cxn ang="0">
                  <a:pos x="0" y="15"/>
                </a:cxn>
                <a:cxn ang="0">
                  <a:pos x="10" y="37"/>
                </a:cxn>
                <a:cxn ang="0">
                  <a:pos x="21" y="59"/>
                </a:cxn>
                <a:cxn ang="0">
                  <a:pos x="31" y="80"/>
                </a:cxn>
                <a:cxn ang="0">
                  <a:pos x="42" y="102"/>
                </a:cxn>
                <a:cxn ang="0">
                  <a:pos x="43" y="111"/>
                </a:cxn>
                <a:cxn ang="0">
                  <a:pos x="40" y="110"/>
                </a:cxn>
                <a:cxn ang="0">
                  <a:pos x="43" y="129"/>
                </a:cxn>
                <a:cxn ang="0">
                  <a:pos x="45" y="147"/>
                </a:cxn>
                <a:cxn ang="0">
                  <a:pos x="48" y="165"/>
                </a:cxn>
                <a:cxn ang="0">
                  <a:pos x="50" y="183"/>
                </a:cxn>
                <a:cxn ang="0">
                  <a:pos x="60" y="197"/>
                </a:cxn>
                <a:cxn ang="0">
                  <a:pos x="68" y="209"/>
                </a:cxn>
                <a:cxn ang="0">
                  <a:pos x="76" y="199"/>
                </a:cxn>
                <a:cxn ang="0">
                  <a:pos x="82" y="210"/>
                </a:cxn>
                <a:cxn ang="0">
                  <a:pos x="105" y="213"/>
                </a:cxn>
                <a:cxn ang="0">
                  <a:pos x="118" y="207"/>
                </a:cxn>
                <a:cxn ang="0">
                  <a:pos x="121" y="191"/>
                </a:cxn>
                <a:cxn ang="0">
                  <a:pos x="122" y="174"/>
                </a:cxn>
                <a:cxn ang="0">
                  <a:pos x="123" y="157"/>
                </a:cxn>
                <a:cxn ang="0">
                  <a:pos x="124" y="140"/>
                </a:cxn>
              </a:cxnLst>
              <a:rect l="0" t="0" r="r" b="b"/>
              <a:pathLst>
                <a:path w="211" h="213">
                  <a:moveTo>
                    <a:pt x="124" y="140"/>
                  </a:moveTo>
                  <a:lnTo>
                    <a:pt x="126" y="115"/>
                  </a:lnTo>
                  <a:lnTo>
                    <a:pt x="127" y="90"/>
                  </a:lnTo>
                  <a:lnTo>
                    <a:pt x="142" y="90"/>
                  </a:lnTo>
                  <a:lnTo>
                    <a:pt x="142" y="73"/>
                  </a:lnTo>
                  <a:lnTo>
                    <a:pt x="144" y="57"/>
                  </a:lnTo>
                  <a:lnTo>
                    <a:pt x="144" y="41"/>
                  </a:lnTo>
                  <a:lnTo>
                    <a:pt x="145" y="24"/>
                  </a:lnTo>
                  <a:lnTo>
                    <a:pt x="163" y="21"/>
                  </a:lnTo>
                  <a:lnTo>
                    <a:pt x="181" y="20"/>
                  </a:lnTo>
                  <a:lnTo>
                    <a:pt x="187" y="26"/>
                  </a:lnTo>
                  <a:lnTo>
                    <a:pt x="199" y="19"/>
                  </a:lnTo>
                  <a:lnTo>
                    <a:pt x="211" y="14"/>
                  </a:lnTo>
                  <a:lnTo>
                    <a:pt x="194" y="9"/>
                  </a:lnTo>
                  <a:lnTo>
                    <a:pt x="183" y="12"/>
                  </a:lnTo>
                  <a:lnTo>
                    <a:pt x="159" y="14"/>
                  </a:lnTo>
                  <a:lnTo>
                    <a:pt x="136" y="18"/>
                  </a:lnTo>
                  <a:lnTo>
                    <a:pt x="121" y="14"/>
                  </a:lnTo>
                  <a:lnTo>
                    <a:pt x="106" y="11"/>
                  </a:lnTo>
                  <a:lnTo>
                    <a:pt x="104" y="7"/>
                  </a:lnTo>
                  <a:lnTo>
                    <a:pt x="86" y="7"/>
                  </a:lnTo>
                  <a:lnTo>
                    <a:pt x="68" y="6"/>
                  </a:lnTo>
                  <a:lnTo>
                    <a:pt x="50" y="6"/>
                  </a:lnTo>
                  <a:lnTo>
                    <a:pt x="31" y="5"/>
                  </a:lnTo>
                  <a:lnTo>
                    <a:pt x="20" y="0"/>
                  </a:lnTo>
                  <a:lnTo>
                    <a:pt x="1" y="5"/>
                  </a:lnTo>
                  <a:lnTo>
                    <a:pt x="0" y="15"/>
                  </a:lnTo>
                  <a:lnTo>
                    <a:pt x="10" y="37"/>
                  </a:lnTo>
                  <a:lnTo>
                    <a:pt x="21" y="59"/>
                  </a:lnTo>
                  <a:lnTo>
                    <a:pt x="31" y="80"/>
                  </a:lnTo>
                  <a:lnTo>
                    <a:pt x="42" y="102"/>
                  </a:lnTo>
                  <a:lnTo>
                    <a:pt x="43" y="111"/>
                  </a:lnTo>
                  <a:lnTo>
                    <a:pt x="40" y="110"/>
                  </a:lnTo>
                  <a:lnTo>
                    <a:pt x="43" y="129"/>
                  </a:lnTo>
                  <a:lnTo>
                    <a:pt x="45" y="147"/>
                  </a:lnTo>
                  <a:lnTo>
                    <a:pt x="48" y="165"/>
                  </a:lnTo>
                  <a:lnTo>
                    <a:pt x="50" y="183"/>
                  </a:lnTo>
                  <a:lnTo>
                    <a:pt x="60" y="197"/>
                  </a:lnTo>
                  <a:lnTo>
                    <a:pt x="68" y="209"/>
                  </a:lnTo>
                  <a:lnTo>
                    <a:pt x="76" y="199"/>
                  </a:lnTo>
                  <a:lnTo>
                    <a:pt x="82" y="210"/>
                  </a:lnTo>
                  <a:lnTo>
                    <a:pt x="105" y="213"/>
                  </a:lnTo>
                  <a:lnTo>
                    <a:pt x="118" y="207"/>
                  </a:lnTo>
                  <a:lnTo>
                    <a:pt x="121" y="191"/>
                  </a:lnTo>
                  <a:lnTo>
                    <a:pt x="122" y="174"/>
                  </a:lnTo>
                  <a:lnTo>
                    <a:pt x="123" y="157"/>
                  </a:lnTo>
                  <a:lnTo>
                    <a:pt x="124" y="14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2" name="Freeform 201"/>
            <p:cNvSpPr>
              <a:spLocks/>
            </p:cNvSpPr>
            <p:nvPr/>
          </p:nvSpPr>
          <p:spPr bwMode="auto">
            <a:xfrm>
              <a:off x="2873" y="3061"/>
              <a:ext cx="163" cy="180"/>
            </a:xfrm>
            <a:custGeom>
              <a:avLst/>
              <a:gdLst/>
              <a:ahLst/>
              <a:cxnLst>
                <a:cxn ang="0">
                  <a:pos x="0" y="126"/>
                </a:cxn>
                <a:cxn ang="0">
                  <a:pos x="2" y="101"/>
                </a:cxn>
                <a:cxn ang="0">
                  <a:pos x="3" y="76"/>
                </a:cxn>
                <a:cxn ang="0">
                  <a:pos x="18" y="76"/>
                </a:cxn>
                <a:cxn ang="0">
                  <a:pos x="18" y="59"/>
                </a:cxn>
                <a:cxn ang="0">
                  <a:pos x="20" y="43"/>
                </a:cxn>
                <a:cxn ang="0">
                  <a:pos x="20" y="27"/>
                </a:cxn>
                <a:cxn ang="0">
                  <a:pos x="21" y="10"/>
                </a:cxn>
                <a:cxn ang="0">
                  <a:pos x="39" y="7"/>
                </a:cxn>
                <a:cxn ang="0">
                  <a:pos x="57" y="6"/>
                </a:cxn>
                <a:cxn ang="0">
                  <a:pos x="63" y="12"/>
                </a:cxn>
                <a:cxn ang="0">
                  <a:pos x="75" y="5"/>
                </a:cxn>
                <a:cxn ang="0">
                  <a:pos x="87" y="0"/>
                </a:cxn>
                <a:cxn ang="0">
                  <a:pos x="96" y="18"/>
                </a:cxn>
                <a:cxn ang="0">
                  <a:pos x="106" y="36"/>
                </a:cxn>
                <a:cxn ang="0">
                  <a:pos x="117" y="45"/>
                </a:cxn>
                <a:cxn ang="0">
                  <a:pos x="120" y="48"/>
                </a:cxn>
                <a:cxn ang="0">
                  <a:pos x="124" y="54"/>
                </a:cxn>
                <a:cxn ang="0">
                  <a:pos x="129" y="69"/>
                </a:cxn>
                <a:cxn ang="0">
                  <a:pos x="143" y="75"/>
                </a:cxn>
                <a:cxn ang="0">
                  <a:pos x="147" y="78"/>
                </a:cxn>
                <a:cxn ang="0">
                  <a:pos x="146" y="79"/>
                </a:cxn>
                <a:cxn ang="0">
                  <a:pos x="125" y="93"/>
                </a:cxn>
                <a:cxn ang="0">
                  <a:pos x="110" y="107"/>
                </a:cxn>
                <a:cxn ang="0">
                  <a:pos x="101" y="123"/>
                </a:cxn>
                <a:cxn ang="0">
                  <a:pos x="92" y="129"/>
                </a:cxn>
                <a:cxn ang="0">
                  <a:pos x="83" y="143"/>
                </a:cxn>
                <a:cxn ang="0">
                  <a:pos x="59" y="141"/>
                </a:cxn>
                <a:cxn ang="0">
                  <a:pos x="47" y="136"/>
                </a:cxn>
                <a:cxn ang="0">
                  <a:pos x="39" y="148"/>
                </a:cxn>
                <a:cxn ang="0">
                  <a:pos x="32" y="160"/>
                </a:cxn>
                <a:cxn ang="0">
                  <a:pos x="15" y="162"/>
                </a:cxn>
                <a:cxn ang="0">
                  <a:pos x="9" y="160"/>
                </a:cxn>
                <a:cxn ang="0">
                  <a:pos x="11" y="143"/>
                </a:cxn>
                <a:cxn ang="0">
                  <a:pos x="0" y="126"/>
                </a:cxn>
              </a:cxnLst>
              <a:rect l="0" t="0" r="r" b="b"/>
              <a:pathLst>
                <a:path w="147" h="162">
                  <a:moveTo>
                    <a:pt x="0" y="126"/>
                  </a:moveTo>
                  <a:lnTo>
                    <a:pt x="2" y="101"/>
                  </a:lnTo>
                  <a:lnTo>
                    <a:pt x="3" y="76"/>
                  </a:lnTo>
                  <a:lnTo>
                    <a:pt x="18" y="76"/>
                  </a:lnTo>
                  <a:lnTo>
                    <a:pt x="18" y="59"/>
                  </a:lnTo>
                  <a:lnTo>
                    <a:pt x="20" y="43"/>
                  </a:lnTo>
                  <a:lnTo>
                    <a:pt x="20" y="27"/>
                  </a:lnTo>
                  <a:lnTo>
                    <a:pt x="21" y="10"/>
                  </a:lnTo>
                  <a:lnTo>
                    <a:pt x="39" y="7"/>
                  </a:lnTo>
                  <a:lnTo>
                    <a:pt x="57" y="6"/>
                  </a:lnTo>
                  <a:lnTo>
                    <a:pt x="63" y="12"/>
                  </a:lnTo>
                  <a:lnTo>
                    <a:pt x="75" y="5"/>
                  </a:lnTo>
                  <a:lnTo>
                    <a:pt x="87" y="0"/>
                  </a:lnTo>
                  <a:lnTo>
                    <a:pt x="96" y="18"/>
                  </a:lnTo>
                  <a:lnTo>
                    <a:pt x="106" y="36"/>
                  </a:lnTo>
                  <a:lnTo>
                    <a:pt x="117" y="45"/>
                  </a:lnTo>
                  <a:lnTo>
                    <a:pt x="120" y="48"/>
                  </a:lnTo>
                  <a:lnTo>
                    <a:pt x="124" y="54"/>
                  </a:lnTo>
                  <a:lnTo>
                    <a:pt x="129" y="69"/>
                  </a:lnTo>
                  <a:lnTo>
                    <a:pt x="143" y="75"/>
                  </a:lnTo>
                  <a:lnTo>
                    <a:pt x="147" y="78"/>
                  </a:lnTo>
                  <a:lnTo>
                    <a:pt x="146" y="79"/>
                  </a:lnTo>
                  <a:lnTo>
                    <a:pt x="125" y="93"/>
                  </a:lnTo>
                  <a:lnTo>
                    <a:pt x="110" y="107"/>
                  </a:lnTo>
                  <a:lnTo>
                    <a:pt x="101" y="123"/>
                  </a:lnTo>
                  <a:lnTo>
                    <a:pt x="92" y="129"/>
                  </a:lnTo>
                  <a:lnTo>
                    <a:pt x="83" y="143"/>
                  </a:lnTo>
                  <a:lnTo>
                    <a:pt x="59" y="141"/>
                  </a:lnTo>
                  <a:lnTo>
                    <a:pt x="47" y="136"/>
                  </a:lnTo>
                  <a:lnTo>
                    <a:pt x="39" y="148"/>
                  </a:lnTo>
                  <a:lnTo>
                    <a:pt x="32" y="160"/>
                  </a:lnTo>
                  <a:lnTo>
                    <a:pt x="15" y="162"/>
                  </a:lnTo>
                  <a:lnTo>
                    <a:pt x="9" y="160"/>
                  </a:lnTo>
                  <a:lnTo>
                    <a:pt x="11" y="143"/>
                  </a:lnTo>
                  <a:lnTo>
                    <a:pt x="0" y="1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3" name="Freeform 202"/>
            <p:cNvSpPr>
              <a:spLocks/>
            </p:cNvSpPr>
            <p:nvPr/>
          </p:nvSpPr>
          <p:spPr bwMode="auto">
            <a:xfrm>
              <a:off x="3289" y="2934"/>
              <a:ext cx="4" cy="9"/>
            </a:xfrm>
            <a:custGeom>
              <a:avLst/>
              <a:gdLst/>
              <a:ahLst/>
              <a:cxnLst>
                <a:cxn ang="0">
                  <a:pos x="3" y="9"/>
                </a:cxn>
                <a:cxn ang="0">
                  <a:pos x="3" y="7"/>
                </a:cxn>
                <a:cxn ang="0">
                  <a:pos x="0" y="0"/>
                </a:cxn>
                <a:cxn ang="0">
                  <a:pos x="3" y="9"/>
                </a:cxn>
              </a:cxnLst>
              <a:rect l="0" t="0" r="r" b="b"/>
              <a:pathLst>
                <a:path w="3" h="9">
                  <a:moveTo>
                    <a:pt x="3" y="9"/>
                  </a:moveTo>
                  <a:lnTo>
                    <a:pt x="3" y="7"/>
                  </a:lnTo>
                  <a:lnTo>
                    <a:pt x="0" y="0"/>
                  </a:lnTo>
                  <a:lnTo>
                    <a:pt x="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4" name="Freeform 203"/>
            <p:cNvSpPr>
              <a:spLocks/>
            </p:cNvSpPr>
            <p:nvPr/>
          </p:nvSpPr>
          <p:spPr bwMode="auto">
            <a:xfrm>
              <a:off x="2989" y="3276"/>
              <a:ext cx="40" cy="40"/>
            </a:xfrm>
            <a:custGeom>
              <a:avLst/>
              <a:gdLst/>
              <a:ahLst/>
              <a:cxnLst>
                <a:cxn ang="0">
                  <a:pos x="15" y="3"/>
                </a:cxn>
                <a:cxn ang="0">
                  <a:pos x="0" y="19"/>
                </a:cxn>
                <a:cxn ang="0">
                  <a:pos x="11" y="35"/>
                </a:cxn>
                <a:cxn ang="0">
                  <a:pos x="17" y="30"/>
                </a:cxn>
                <a:cxn ang="0">
                  <a:pos x="32" y="19"/>
                </a:cxn>
                <a:cxn ang="0">
                  <a:pos x="35" y="7"/>
                </a:cxn>
                <a:cxn ang="0">
                  <a:pos x="21" y="0"/>
                </a:cxn>
                <a:cxn ang="0">
                  <a:pos x="15" y="3"/>
                </a:cxn>
              </a:cxnLst>
              <a:rect l="0" t="0" r="r" b="b"/>
              <a:pathLst>
                <a:path w="35" h="35">
                  <a:moveTo>
                    <a:pt x="15" y="3"/>
                  </a:moveTo>
                  <a:lnTo>
                    <a:pt x="0" y="19"/>
                  </a:lnTo>
                  <a:lnTo>
                    <a:pt x="11" y="35"/>
                  </a:lnTo>
                  <a:lnTo>
                    <a:pt x="17" y="30"/>
                  </a:lnTo>
                  <a:lnTo>
                    <a:pt x="32" y="19"/>
                  </a:lnTo>
                  <a:lnTo>
                    <a:pt x="35" y="7"/>
                  </a:lnTo>
                  <a:lnTo>
                    <a:pt x="21" y="0"/>
                  </a:lnTo>
                  <a:lnTo>
                    <a:pt x="1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5" name="Freeform 204"/>
            <p:cNvSpPr>
              <a:spLocks/>
            </p:cNvSpPr>
            <p:nvPr/>
          </p:nvSpPr>
          <p:spPr bwMode="auto">
            <a:xfrm>
              <a:off x="3278" y="2947"/>
              <a:ext cx="135" cy="267"/>
            </a:xfrm>
            <a:custGeom>
              <a:avLst/>
              <a:gdLst/>
              <a:ahLst/>
              <a:cxnLst>
                <a:cxn ang="0">
                  <a:pos x="44" y="69"/>
                </a:cxn>
                <a:cxn ang="0">
                  <a:pos x="38" y="70"/>
                </a:cxn>
                <a:cxn ang="0">
                  <a:pos x="24" y="77"/>
                </a:cxn>
                <a:cxn ang="0">
                  <a:pos x="20" y="91"/>
                </a:cxn>
                <a:cxn ang="0">
                  <a:pos x="17" y="106"/>
                </a:cxn>
                <a:cxn ang="0">
                  <a:pos x="19" y="124"/>
                </a:cxn>
                <a:cxn ang="0">
                  <a:pos x="22" y="142"/>
                </a:cxn>
                <a:cxn ang="0">
                  <a:pos x="13" y="154"/>
                </a:cxn>
                <a:cxn ang="0">
                  <a:pos x="5" y="166"/>
                </a:cxn>
                <a:cxn ang="0">
                  <a:pos x="0" y="190"/>
                </a:cxn>
                <a:cxn ang="0">
                  <a:pos x="4" y="210"/>
                </a:cxn>
                <a:cxn ang="0">
                  <a:pos x="10" y="233"/>
                </a:cxn>
                <a:cxn ang="0">
                  <a:pos x="30" y="241"/>
                </a:cxn>
                <a:cxn ang="0">
                  <a:pos x="43" y="235"/>
                </a:cxn>
                <a:cxn ang="0">
                  <a:pos x="58" y="228"/>
                </a:cxn>
                <a:cxn ang="0">
                  <a:pos x="62" y="211"/>
                </a:cxn>
                <a:cxn ang="0">
                  <a:pos x="68" y="195"/>
                </a:cxn>
                <a:cxn ang="0">
                  <a:pos x="74" y="179"/>
                </a:cxn>
                <a:cxn ang="0">
                  <a:pos x="80" y="162"/>
                </a:cxn>
                <a:cxn ang="0">
                  <a:pos x="85" y="147"/>
                </a:cxn>
                <a:cxn ang="0">
                  <a:pos x="91" y="130"/>
                </a:cxn>
                <a:cxn ang="0">
                  <a:pos x="97" y="113"/>
                </a:cxn>
                <a:cxn ang="0">
                  <a:pos x="102" y="97"/>
                </a:cxn>
                <a:cxn ang="0">
                  <a:pos x="109" y="85"/>
                </a:cxn>
                <a:cxn ang="0">
                  <a:pos x="108" y="60"/>
                </a:cxn>
                <a:cxn ang="0">
                  <a:pos x="118" y="67"/>
                </a:cxn>
                <a:cxn ang="0">
                  <a:pos x="121" y="58"/>
                </a:cxn>
                <a:cxn ang="0">
                  <a:pos x="116" y="35"/>
                </a:cxn>
                <a:cxn ang="0">
                  <a:pos x="110" y="13"/>
                </a:cxn>
                <a:cxn ang="0">
                  <a:pos x="106" y="0"/>
                </a:cxn>
                <a:cxn ang="0">
                  <a:pos x="102" y="0"/>
                </a:cxn>
                <a:cxn ang="0">
                  <a:pos x="98" y="6"/>
                </a:cxn>
                <a:cxn ang="0">
                  <a:pos x="95" y="24"/>
                </a:cxn>
                <a:cxn ang="0">
                  <a:pos x="89" y="28"/>
                </a:cxn>
                <a:cxn ang="0">
                  <a:pos x="86" y="30"/>
                </a:cxn>
                <a:cxn ang="0">
                  <a:pos x="82" y="28"/>
                </a:cxn>
                <a:cxn ang="0">
                  <a:pos x="83" y="37"/>
                </a:cxn>
                <a:cxn ang="0">
                  <a:pos x="79" y="45"/>
                </a:cxn>
                <a:cxn ang="0">
                  <a:pos x="82" y="47"/>
                </a:cxn>
                <a:cxn ang="0">
                  <a:pos x="73" y="52"/>
                </a:cxn>
                <a:cxn ang="0">
                  <a:pos x="73" y="47"/>
                </a:cxn>
                <a:cxn ang="0">
                  <a:pos x="68" y="59"/>
                </a:cxn>
                <a:cxn ang="0">
                  <a:pos x="66" y="59"/>
                </a:cxn>
                <a:cxn ang="0">
                  <a:pos x="62" y="58"/>
                </a:cxn>
                <a:cxn ang="0">
                  <a:pos x="56" y="67"/>
                </a:cxn>
                <a:cxn ang="0">
                  <a:pos x="44" y="69"/>
                </a:cxn>
              </a:cxnLst>
              <a:rect l="0" t="0" r="r" b="b"/>
              <a:pathLst>
                <a:path w="121" h="241">
                  <a:moveTo>
                    <a:pt x="44" y="69"/>
                  </a:moveTo>
                  <a:lnTo>
                    <a:pt x="38" y="70"/>
                  </a:lnTo>
                  <a:lnTo>
                    <a:pt x="24" y="77"/>
                  </a:lnTo>
                  <a:lnTo>
                    <a:pt x="20" y="91"/>
                  </a:lnTo>
                  <a:lnTo>
                    <a:pt x="17" y="106"/>
                  </a:lnTo>
                  <a:lnTo>
                    <a:pt x="19" y="124"/>
                  </a:lnTo>
                  <a:lnTo>
                    <a:pt x="22" y="142"/>
                  </a:lnTo>
                  <a:lnTo>
                    <a:pt x="13" y="154"/>
                  </a:lnTo>
                  <a:lnTo>
                    <a:pt x="5" y="166"/>
                  </a:lnTo>
                  <a:lnTo>
                    <a:pt x="0" y="190"/>
                  </a:lnTo>
                  <a:lnTo>
                    <a:pt x="4" y="210"/>
                  </a:lnTo>
                  <a:lnTo>
                    <a:pt x="10" y="233"/>
                  </a:lnTo>
                  <a:lnTo>
                    <a:pt x="30" y="241"/>
                  </a:lnTo>
                  <a:lnTo>
                    <a:pt x="43" y="235"/>
                  </a:lnTo>
                  <a:lnTo>
                    <a:pt x="58" y="228"/>
                  </a:lnTo>
                  <a:lnTo>
                    <a:pt x="62" y="211"/>
                  </a:lnTo>
                  <a:lnTo>
                    <a:pt x="68" y="195"/>
                  </a:lnTo>
                  <a:lnTo>
                    <a:pt x="74" y="179"/>
                  </a:lnTo>
                  <a:lnTo>
                    <a:pt x="80" y="162"/>
                  </a:lnTo>
                  <a:lnTo>
                    <a:pt x="85" y="147"/>
                  </a:lnTo>
                  <a:lnTo>
                    <a:pt x="91" y="130"/>
                  </a:lnTo>
                  <a:lnTo>
                    <a:pt x="97" y="113"/>
                  </a:lnTo>
                  <a:lnTo>
                    <a:pt x="102" y="97"/>
                  </a:lnTo>
                  <a:lnTo>
                    <a:pt x="109" y="85"/>
                  </a:lnTo>
                  <a:lnTo>
                    <a:pt x="108" y="60"/>
                  </a:lnTo>
                  <a:lnTo>
                    <a:pt x="118" y="67"/>
                  </a:lnTo>
                  <a:lnTo>
                    <a:pt x="121" y="58"/>
                  </a:lnTo>
                  <a:lnTo>
                    <a:pt x="116" y="35"/>
                  </a:lnTo>
                  <a:lnTo>
                    <a:pt x="110" y="13"/>
                  </a:lnTo>
                  <a:lnTo>
                    <a:pt x="106" y="0"/>
                  </a:lnTo>
                  <a:lnTo>
                    <a:pt x="102" y="0"/>
                  </a:lnTo>
                  <a:lnTo>
                    <a:pt x="98" y="6"/>
                  </a:lnTo>
                  <a:lnTo>
                    <a:pt x="95" y="24"/>
                  </a:lnTo>
                  <a:lnTo>
                    <a:pt x="89" y="28"/>
                  </a:lnTo>
                  <a:lnTo>
                    <a:pt x="86" y="30"/>
                  </a:lnTo>
                  <a:lnTo>
                    <a:pt x="82" y="28"/>
                  </a:lnTo>
                  <a:lnTo>
                    <a:pt x="83" y="37"/>
                  </a:lnTo>
                  <a:lnTo>
                    <a:pt x="79" y="45"/>
                  </a:lnTo>
                  <a:lnTo>
                    <a:pt x="82" y="47"/>
                  </a:lnTo>
                  <a:lnTo>
                    <a:pt x="73" y="52"/>
                  </a:lnTo>
                  <a:lnTo>
                    <a:pt x="73" y="47"/>
                  </a:lnTo>
                  <a:lnTo>
                    <a:pt x="68" y="59"/>
                  </a:lnTo>
                  <a:lnTo>
                    <a:pt x="66" y="59"/>
                  </a:lnTo>
                  <a:lnTo>
                    <a:pt x="62" y="58"/>
                  </a:lnTo>
                  <a:lnTo>
                    <a:pt x="56" y="67"/>
                  </a:lnTo>
                  <a:lnTo>
                    <a:pt x="44" y="6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6" name="Freeform 205"/>
            <p:cNvSpPr>
              <a:spLocks/>
            </p:cNvSpPr>
            <p:nvPr/>
          </p:nvSpPr>
          <p:spPr bwMode="auto">
            <a:xfrm>
              <a:off x="3102" y="2894"/>
              <a:ext cx="56" cy="153"/>
            </a:xfrm>
            <a:custGeom>
              <a:avLst/>
              <a:gdLst/>
              <a:ahLst/>
              <a:cxnLst>
                <a:cxn ang="0">
                  <a:pos x="29" y="97"/>
                </a:cxn>
                <a:cxn ang="0">
                  <a:pos x="23" y="115"/>
                </a:cxn>
                <a:cxn ang="0">
                  <a:pos x="30" y="127"/>
                </a:cxn>
                <a:cxn ang="0">
                  <a:pos x="37" y="138"/>
                </a:cxn>
                <a:cxn ang="0">
                  <a:pos x="36" y="129"/>
                </a:cxn>
                <a:cxn ang="0">
                  <a:pos x="44" y="120"/>
                </a:cxn>
                <a:cxn ang="0">
                  <a:pos x="47" y="107"/>
                </a:cxn>
                <a:cxn ang="0">
                  <a:pos x="49" y="94"/>
                </a:cxn>
                <a:cxn ang="0">
                  <a:pos x="39" y="84"/>
                </a:cxn>
                <a:cxn ang="0">
                  <a:pos x="30" y="73"/>
                </a:cxn>
                <a:cxn ang="0">
                  <a:pos x="27" y="55"/>
                </a:cxn>
                <a:cxn ang="0">
                  <a:pos x="31" y="42"/>
                </a:cxn>
                <a:cxn ang="0">
                  <a:pos x="36" y="39"/>
                </a:cxn>
                <a:cxn ang="0">
                  <a:pos x="37" y="39"/>
                </a:cxn>
                <a:cxn ang="0">
                  <a:pos x="32" y="24"/>
                </a:cxn>
                <a:cxn ang="0">
                  <a:pos x="27" y="6"/>
                </a:cxn>
                <a:cxn ang="0">
                  <a:pos x="21" y="3"/>
                </a:cxn>
                <a:cxn ang="0">
                  <a:pos x="6" y="0"/>
                </a:cxn>
                <a:cxn ang="0">
                  <a:pos x="7" y="4"/>
                </a:cxn>
                <a:cxn ang="0">
                  <a:pos x="17" y="18"/>
                </a:cxn>
                <a:cxn ang="0">
                  <a:pos x="13" y="25"/>
                </a:cxn>
                <a:cxn ang="0">
                  <a:pos x="12" y="39"/>
                </a:cxn>
                <a:cxn ang="0">
                  <a:pos x="11" y="53"/>
                </a:cxn>
                <a:cxn ang="0">
                  <a:pos x="8" y="58"/>
                </a:cxn>
                <a:cxn ang="0">
                  <a:pos x="0" y="75"/>
                </a:cxn>
                <a:cxn ang="0">
                  <a:pos x="7" y="83"/>
                </a:cxn>
                <a:cxn ang="0">
                  <a:pos x="13" y="90"/>
                </a:cxn>
                <a:cxn ang="0">
                  <a:pos x="23" y="90"/>
                </a:cxn>
                <a:cxn ang="0">
                  <a:pos x="29" y="97"/>
                </a:cxn>
              </a:cxnLst>
              <a:rect l="0" t="0" r="r" b="b"/>
              <a:pathLst>
                <a:path w="49" h="138">
                  <a:moveTo>
                    <a:pt x="29" y="97"/>
                  </a:moveTo>
                  <a:lnTo>
                    <a:pt x="23" y="115"/>
                  </a:lnTo>
                  <a:lnTo>
                    <a:pt x="30" y="127"/>
                  </a:lnTo>
                  <a:lnTo>
                    <a:pt x="37" y="138"/>
                  </a:lnTo>
                  <a:lnTo>
                    <a:pt x="36" y="129"/>
                  </a:lnTo>
                  <a:lnTo>
                    <a:pt x="44" y="120"/>
                  </a:lnTo>
                  <a:lnTo>
                    <a:pt x="47" y="107"/>
                  </a:lnTo>
                  <a:lnTo>
                    <a:pt x="49" y="94"/>
                  </a:lnTo>
                  <a:lnTo>
                    <a:pt x="39" y="84"/>
                  </a:lnTo>
                  <a:lnTo>
                    <a:pt x="30" y="73"/>
                  </a:lnTo>
                  <a:lnTo>
                    <a:pt x="27" y="55"/>
                  </a:lnTo>
                  <a:lnTo>
                    <a:pt x="31" y="42"/>
                  </a:lnTo>
                  <a:lnTo>
                    <a:pt x="36" y="39"/>
                  </a:lnTo>
                  <a:lnTo>
                    <a:pt x="37" y="39"/>
                  </a:lnTo>
                  <a:lnTo>
                    <a:pt x="32" y="24"/>
                  </a:lnTo>
                  <a:lnTo>
                    <a:pt x="27" y="6"/>
                  </a:lnTo>
                  <a:lnTo>
                    <a:pt x="21" y="3"/>
                  </a:lnTo>
                  <a:lnTo>
                    <a:pt x="6" y="0"/>
                  </a:lnTo>
                  <a:lnTo>
                    <a:pt x="7" y="4"/>
                  </a:lnTo>
                  <a:lnTo>
                    <a:pt x="17" y="18"/>
                  </a:lnTo>
                  <a:lnTo>
                    <a:pt x="13" y="25"/>
                  </a:lnTo>
                  <a:lnTo>
                    <a:pt x="12" y="39"/>
                  </a:lnTo>
                  <a:lnTo>
                    <a:pt x="11" y="53"/>
                  </a:lnTo>
                  <a:lnTo>
                    <a:pt x="8" y="58"/>
                  </a:lnTo>
                  <a:lnTo>
                    <a:pt x="0" y="75"/>
                  </a:lnTo>
                  <a:lnTo>
                    <a:pt x="7" y="83"/>
                  </a:lnTo>
                  <a:lnTo>
                    <a:pt x="13" y="90"/>
                  </a:lnTo>
                  <a:lnTo>
                    <a:pt x="23" y="90"/>
                  </a:lnTo>
                  <a:lnTo>
                    <a:pt x="29" y="9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7" name="Freeform 206"/>
            <p:cNvSpPr>
              <a:spLocks/>
            </p:cNvSpPr>
            <p:nvPr/>
          </p:nvSpPr>
          <p:spPr bwMode="auto">
            <a:xfrm>
              <a:off x="3060" y="2914"/>
              <a:ext cx="182" cy="327"/>
            </a:xfrm>
            <a:custGeom>
              <a:avLst/>
              <a:gdLst/>
              <a:ahLst/>
              <a:cxnLst>
                <a:cxn ang="0">
                  <a:pos x="66" y="172"/>
                </a:cxn>
                <a:cxn ang="0">
                  <a:pos x="72" y="166"/>
                </a:cxn>
                <a:cxn ang="0">
                  <a:pos x="102" y="136"/>
                </a:cxn>
                <a:cxn ang="0">
                  <a:pos x="130" y="119"/>
                </a:cxn>
                <a:cxn ang="0">
                  <a:pos x="162" y="84"/>
                </a:cxn>
                <a:cxn ang="0">
                  <a:pos x="165" y="71"/>
                </a:cxn>
                <a:cxn ang="0">
                  <a:pos x="165" y="38"/>
                </a:cxn>
                <a:cxn ang="0">
                  <a:pos x="165" y="0"/>
                </a:cxn>
                <a:cxn ang="0">
                  <a:pos x="147" y="9"/>
                </a:cxn>
                <a:cxn ang="0">
                  <a:pos x="123" y="17"/>
                </a:cxn>
                <a:cxn ang="0">
                  <a:pos x="93" y="18"/>
                </a:cxn>
                <a:cxn ang="0">
                  <a:pos x="76" y="20"/>
                </a:cxn>
                <a:cxn ang="0">
                  <a:pos x="67" y="36"/>
                </a:cxn>
                <a:cxn ang="0">
                  <a:pos x="79" y="65"/>
                </a:cxn>
                <a:cxn ang="0">
                  <a:pos x="87" y="88"/>
                </a:cxn>
                <a:cxn ang="0">
                  <a:pos x="76" y="110"/>
                </a:cxn>
                <a:cxn ang="0">
                  <a:pos x="70" y="108"/>
                </a:cxn>
                <a:cxn ang="0">
                  <a:pos x="69" y="78"/>
                </a:cxn>
                <a:cxn ang="0">
                  <a:pos x="53" y="71"/>
                </a:cxn>
                <a:cxn ang="0">
                  <a:pos x="35" y="69"/>
                </a:cxn>
                <a:cxn ang="0">
                  <a:pos x="12" y="78"/>
                </a:cxn>
                <a:cxn ang="0">
                  <a:pos x="3" y="93"/>
                </a:cxn>
                <a:cxn ang="0">
                  <a:pos x="10" y="99"/>
                </a:cxn>
                <a:cxn ang="0">
                  <a:pos x="41" y="112"/>
                </a:cxn>
                <a:cxn ang="0">
                  <a:pos x="37" y="149"/>
                </a:cxn>
                <a:cxn ang="0">
                  <a:pos x="34" y="182"/>
                </a:cxn>
                <a:cxn ang="0">
                  <a:pos x="21" y="206"/>
                </a:cxn>
                <a:cxn ang="0">
                  <a:pos x="13" y="227"/>
                </a:cxn>
                <a:cxn ang="0">
                  <a:pos x="17" y="260"/>
                </a:cxn>
                <a:cxn ang="0">
                  <a:pos x="19" y="294"/>
                </a:cxn>
                <a:cxn ang="0">
                  <a:pos x="31" y="282"/>
                </a:cxn>
                <a:cxn ang="0">
                  <a:pos x="46" y="263"/>
                </a:cxn>
                <a:cxn ang="0">
                  <a:pos x="72" y="248"/>
                </a:cxn>
                <a:cxn ang="0">
                  <a:pos x="75" y="225"/>
                </a:cxn>
                <a:cxn ang="0">
                  <a:pos x="73" y="214"/>
                </a:cxn>
                <a:cxn ang="0">
                  <a:pos x="69" y="184"/>
                </a:cxn>
              </a:cxnLst>
              <a:rect l="0" t="0" r="r" b="b"/>
              <a:pathLst>
                <a:path w="166" h="294">
                  <a:moveTo>
                    <a:pt x="69" y="184"/>
                  </a:moveTo>
                  <a:lnTo>
                    <a:pt x="66" y="172"/>
                  </a:lnTo>
                  <a:lnTo>
                    <a:pt x="66" y="166"/>
                  </a:lnTo>
                  <a:lnTo>
                    <a:pt x="72" y="166"/>
                  </a:lnTo>
                  <a:lnTo>
                    <a:pt x="90" y="152"/>
                  </a:lnTo>
                  <a:lnTo>
                    <a:pt x="102" y="136"/>
                  </a:lnTo>
                  <a:lnTo>
                    <a:pt x="115" y="128"/>
                  </a:lnTo>
                  <a:lnTo>
                    <a:pt x="130" y="119"/>
                  </a:lnTo>
                  <a:lnTo>
                    <a:pt x="149" y="107"/>
                  </a:lnTo>
                  <a:lnTo>
                    <a:pt x="162" y="84"/>
                  </a:lnTo>
                  <a:lnTo>
                    <a:pt x="166" y="71"/>
                  </a:lnTo>
                  <a:lnTo>
                    <a:pt x="165" y="71"/>
                  </a:lnTo>
                  <a:lnTo>
                    <a:pt x="162" y="46"/>
                  </a:lnTo>
                  <a:lnTo>
                    <a:pt x="165" y="38"/>
                  </a:lnTo>
                  <a:lnTo>
                    <a:pt x="163" y="12"/>
                  </a:lnTo>
                  <a:lnTo>
                    <a:pt x="165" y="0"/>
                  </a:lnTo>
                  <a:lnTo>
                    <a:pt x="163" y="0"/>
                  </a:lnTo>
                  <a:lnTo>
                    <a:pt x="147" y="9"/>
                  </a:lnTo>
                  <a:lnTo>
                    <a:pt x="131" y="16"/>
                  </a:lnTo>
                  <a:lnTo>
                    <a:pt x="123" y="17"/>
                  </a:lnTo>
                  <a:lnTo>
                    <a:pt x="111" y="22"/>
                  </a:lnTo>
                  <a:lnTo>
                    <a:pt x="93" y="18"/>
                  </a:lnTo>
                  <a:lnTo>
                    <a:pt x="83" y="20"/>
                  </a:lnTo>
                  <a:lnTo>
                    <a:pt x="76" y="20"/>
                  </a:lnTo>
                  <a:lnTo>
                    <a:pt x="71" y="23"/>
                  </a:lnTo>
                  <a:lnTo>
                    <a:pt x="67" y="36"/>
                  </a:lnTo>
                  <a:lnTo>
                    <a:pt x="70" y="54"/>
                  </a:lnTo>
                  <a:lnTo>
                    <a:pt x="79" y="65"/>
                  </a:lnTo>
                  <a:lnTo>
                    <a:pt x="89" y="75"/>
                  </a:lnTo>
                  <a:lnTo>
                    <a:pt x="87" y="88"/>
                  </a:lnTo>
                  <a:lnTo>
                    <a:pt x="84" y="101"/>
                  </a:lnTo>
                  <a:lnTo>
                    <a:pt x="76" y="110"/>
                  </a:lnTo>
                  <a:lnTo>
                    <a:pt x="77" y="119"/>
                  </a:lnTo>
                  <a:lnTo>
                    <a:pt x="70" y="108"/>
                  </a:lnTo>
                  <a:lnTo>
                    <a:pt x="63" y="96"/>
                  </a:lnTo>
                  <a:lnTo>
                    <a:pt x="69" y="78"/>
                  </a:lnTo>
                  <a:lnTo>
                    <a:pt x="63" y="71"/>
                  </a:lnTo>
                  <a:lnTo>
                    <a:pt x="53" y="71"/>
                  </a:lnTo>
                  <a:lnTo>
                    <a:pt x="47" y="64"/>
                  </a:lnTo>
                  <a:lnTo>
                    <a:pt x="35" y="69"/>
                  </a:lnTo>
                  <a:lnTo>
                    <a:pt x="23" y="74"/>
                  </a:lnTo>
                  <a:lnTo>
                    <a:pt x="12" y="78"/>
                  </a:lnTo>
                  <a:lnTo>
                    <a:pt x="0" y="83"/>
                  </a:lnTo>
                  <a:lnTo>
                    <a:pt x="3" y="93"/>
                  </a:lnTo>
                  <a:lnTo>
                    <a:pt x="3" y="100"/>
                  </a:lnTo>
                  <a:lnTo>
                    <a:pt x="10" y="99"/>
                  </a:lnTo>
                  <a:lnTo>
                    <a:pt x="25" y="106"/>
                  </a:lnTo>
                  <a:lnTo>
                    <a:pt x="41" y="112"/>
                  </a:lnTo>
                  <a:lnTo>
                    <a:pt x="41" y="134"/>
                  </a:lnTo>
                  <a:lnTo>
                    <a:pt x="37" y="149"/>
                  </a:lnTo>
                  <a:lnTo>
                    <a:pt x="40" y="166"/>
                  </a:lnTo>
                  <a:lnTo>
                    <a:pt x="34" y="182"/>
                  </a:lnTo>
                  <a:lnTo>
                    <a:pt x="30" y="196"/>
                  </a:lnTo>
                  <a:lnTo>
                    <a:pt x="21" y="206"/>
                  </a:lnTo>
                  <a:lnTo>
                    <a:pt x="11" y="215"/>
                  </a:lnTo>
                  <a:lnTo>
                    <a:pt x="13" y="227"/>
                  </a:lnTo>
                  <a:lnTo>
                    <a:pt x="17" y="240"/>
                  </a:lnTo>
                  <a:lnTo>
                    <a:pt x="17" y="260"/>
                  </a:lnTo>
                  <a:lnTo>
                    <a:pt x="17" y="278"/>
                  </a:lnTo>
                  <a:lnTo>
                    <a:pt x="19" y="294"/>
                  </a:lnTo>
                  <a:lnTo>
                    <a:pt x="30" y="294"/>
                  </a:lnTo>
                  <a:lnTo>
                    <a:pt x="31" y="282"/>
                  </a:lnTo>
                  <a:lnTo>
                    <a:pt x="27" y="279"/>
                  </a:lnTo>
                  <a:lnTo>
                    <a:pt x="46" y="263"/>
                  </a:lnTo>
                  <a:lnTo>
                    <a:pt x="59" y="256"/>
                  </a:lnTo>
                  <a:lnTo>
                    <a:pt x="72" y="248"/>
                  </a:lnTo>
                  <a:lnTo>
                    <a:pt x="72" y="240"/>
                  </a:lnTo>
                  <a:lnTo>
                    <a:pt x="75" y="225"/>
                  </a:lnTo>
                  <a:lnTo>
                    <a:pt x="76" y="209"/>
                  </a:lnTo>
                  <a:lnTo>
                    <a:pt x="73" y="214"/>
                  </a:lnTo>
                  <a:lnTo>
                    <a:pt x="70" y="200"/>
                  </a:lnTo>
                  <a:lnTo>
                    <a:pt x="69" y="18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8" name="Freeform 207"/>
            <p:cNvSpPr>
              <a:spLocks/>
            </p:cNvSpPr>
            <p:nvPr/>
          </p:nvSpPr>
          <p:spPr bwMode="auto">
            <a:xfrm>
              <a:off x="2811" y="3147"/>
              <a:ext cx="282" cy="251"/>
            </a:xfrm>
            <a:custGeom>
              <a:avLst/>
              <a:gdLst/>
              <a:ahLst/>
              <a:cxnLst>
                <a:cxn ang="0">
                  <a:pos x="55" y="64"/>
                </a:cxn>
                <a:cxn ang="0">
                  <a:pos x="53" y="98"/>
                </a:cxn>
                <a:cxn ang="0">
                  <a:pos x="37" y="120"/>
                </a:cxn>
                <a:cxn ang="0">
                  <a:pos x="8" y="106"/>
                </a:cxn>
                <a:cxn ang="0">
                  <a:pos x="7" y="132"/>
                </a:cxn>
                <a:cxn ang="0">
                  <a:pos x="19" y="165"/>
                </a:cxn>
                <a:cxn ang="0">
                  <a:pos x="19" y="190"/>
                </a:cxn>
                <a:cxn ang="0">
                  <a:pos x="25" y="216"/>
                </a:cxn>
                <a:cxn ang="0">
                  <a:pos x="38" y="221"/>
                </a:cxn>
                <a:cxn ang="0">
                  <a:pos x="64" y="221"/>
                </a:cxn>
                <a:cxn ang="0">
                  <a:pos x="96" y="215"/>
                </a:cxn>
                <a:cxn ang="0">
                  <a:pos x="133" y="212"/>
                </a:cxn>
                <a:cxn ang="0">
                  <a:pos x="160" y="198"/>
                </a:cxn>
                <a:cxn ang="0">
                  <a:pos x="186" y="179"/>
                </a:cxn>
                <a:cxn ang="0">
                  <a:pos x="205" y="158"/>
                </a:cxn>
                <a:cxn ang="0">
                  <a:pos x="227" y="134"/>
                </a:cxn>
                <a:cxn ang="0">
                  <a:pos x="246" y="101"/>
                </a:cxn>
                <a:cxn ang="0">
                  <a:pos x="242" y="84"/>
                </a:cxn>
                <a:cxn ang="0">
                  <a:pos x="223" y="87"/>
                </a:cxn>
                <a:cxn ang="0">
                  <a:pos x="232" y="64"/>
                </a:cxn>
                <a:cxn ang="0">
                  <a:pos x="240" y="50"/>
                </a:cxn>
                <a:cxn ang="0">
                  <a:pos x="236" y="17"/>
                </a:cxn>
                <a:cxn ang="0">
                  <a:pos x="218" y="3"/>
                </a:cxn>
                <a:cxn ang="0">
                  <a:pos x="202" y="0"/>
                </a:cxn>
                <a:cxn ang="0">
                  <a:pos x="166" y="28"/>
                </a:cxn>
                <a:cxn ang="0">
                  <a:pos x="148" y="50"/>
                </a:cxn>
                <a:cxn ang="0">
                  <a:pos x="115" y="62"/>
                </a:cxn>
                <a:cxn ang="0">
                  <a:pos x="95" y="69"/>
                </a:cxn>
                <a:cxn ang="0">
                  <a:pos x="71" y="83"/>
                </a:cxn>
                <a:cxn ang="0">
                  <a:pos x="67" y="64"/>
                </a:cxn>
                <a:cxn ang="0">
                  <a:pos x="176" y="120"/>
                </a:cxn>
                <a:cxn ang="0">
                  <a:pos x="172" y="152"/>
                </a:cxn>
                <a:cxn ang="0">
                  <a:pos x="193" y="136"/>
                </a:cxn>
                <a:cxn ang="0">
                  <a:pos x="182" y="117"/>
                </a:cxn>
                <a:cxn ang="0">
                  <a:pos x="56" y="47"/>
                </a:cxn>
              </a:cxnLst>
              <a:rect l="0" t="0" r="r" b="b"/>
              <a:pathLst>
                <a:path w="253" h="226">
                  <a:moveTo>
                    <a:pt x="56" y="47"/>
                  </a:moveTo>
                  <a:lnTo>
                    <a:pt x="55" y="64"/>
                  </a:lnTo>
                  <a:lnTo>
                    <a:pt x="54" y="81"/>
                  </a:lnTo>
                  <a:lnTo>
                    <a:pt x="53" y="98"/>
                  </a:lnTo>
                  <a:lnTo>
                    <a:pt x="50" y="114"/>
                  </a:lnTo>
                  <a:lnTo>
                    <a:pt x="37" y="120"/>
                  </a:lnTo>
                  <a:lnTo>
                    <a:pt x="14" y="117"/>
                  </a:lnTo>
                  <a:lnTo>
                    <a:pt x="8" y="106"/>
                  </a:lnTo>
                  <a:lnTo>
                    <a:pt x="0" y="116"/>
                  </a:lnTo>
                  <a:lnTo>
                    <a:pt x="7" y="132"/>
                  </a:lnTo>
                  <a:lnTo>
                    <a:pt x="13" y="148"/>
                  </a:lnTo>
                  <a:lnTo>
                    <a:pt x="19" y="165"/>
                  </a:lnTo>
                  <a:lnTo>
                    <a:pt x="25" y="182"/>
                  </a:lnTo>
                  <a:lnTo>
                    <a:pt x="19" y="190"/>
                  </a:lnTo>
                  <a:lnTo>
                    <a:pt x="20" y="198"/>
                  </a:lnTo>
                  <a:lnTo>
                    <a:pt x="25" y="216"/>
                  </a:lnTo>
                  <a:lnTo>
                    <a:pt x="30" y="216"/>
                  </a:lnTo>
                  <a:lnTo>
                    <a:pt x="38" y="221"/>
                  </a:lnTo>
                  <a:lnTo>
                    <a:pt x="48" y="226"/>
                  </a:lnTo>
                  <a:lnTo>
                    <a:pt x="64" y="221"/>
                  </a:lnTo>
                  <a:lnTo>
                    <a:pt x="80" y="215"/>
                  </a:lnTo>
                  <a:lnTo>
                    <a:pt x="96" y="215"/>
                  </a:lnTo>
                  <a:lnTo>
                    <a:pt x="113" y="214"/>
                  </a:lnTo>
                  <a:lnTo>
                    <a:pt x="133" y="212"/>
                  </a:lnTo>
                  <a:lnTo>
                    <a:pt x="143" y="208"/>
                  </a:lnTo>
                  <a:lnTo>
                    <a:pt x="160" y="198"/>
                  </a:lnTo>
                  <a:lnTo>
                    <a:pt x="176" y="189"/>
                  </a:lnTo>
                  <a:lnTo>
                    <a:pt x="186" y="179"/>
                  </a:lnTo>
                  <a:lnTo>
                    <a:pt x="196" y="168"/>
                  </a:lnTo>
                  <a:lnTo>
                    <a:pt x="205" y="158"/>
                  </a:lnTo>
                  <a:lnTo>
                    <a:pt x="216" y="147"/>
                  </a:lnTo>
                  <a:lnTo>
                    <a:pt x="227" y="134"/>
                  </a:lnTo>
                  <a:lnTo>
                    <a:pt x="239" y="119"/>
                  </a:lnTo>
                  <a:lnTo>
                    <a:pt x="246" y="101"/>
                  </a:lnTo>
                  <a:lnTo>
                    <a:pt x="253" y="84"/>
                  </a:lnTo>
                  <a:lnTo>
                    <a:pt x="242" y="84"/>
                  </a:lnTo>
                  <a:lnTo>
                    <a:pt x="239" y="92"/>
                  </a:lnTo>
                  <a:lnTo>
                    <a:pt x="223" y="87"/>
                  </a:lnTo>
                  <a:lnTo>
                    <a:pt x="224" y="74"/>
                  </a:lnTo>
                  <a:lnTo>
                    <a:pt x="232" y="64"/>
                  </a:lnTo>
                  <a:lnTo>
                    <a:pt x="240" y="68"/>
                  </a:lnTo>
                  <a:lnTo>
                    <a:pt x="240" y="50"/>
                  </a:lnTo>
                  <a:lnTo>
                    <a:pt x="240" y="30"/>
                  </a:lnTo>
                  <a:lnTo>
                    <a:pt x="236" y="17"/>
                  </a:lnTo>
                  <a:lnTo>
                    <a:pt x="234" y="5"/>
                  </a:lnTo>
                  <a:lnTo>
                    <a:pt x="218" y="3"/>
                  </a:lnTo>
                  <a:lnTo>
                    <a:pt x="204" y="0"/>
                  </a:lnTo>
                  <a:lnTo>
                    <a:pt x="202" y="0"/>
                  </a:lnTo>
                  <a:lnTo>
                    <a:pt x="181" y="14"/>
                  </a:lnTo>
                  <a:lnTo>
                    <a:pt x="166" y="28"/>
                  </a:lnTo>
                  <a:lnTo>
                    <a:pt x="157" y="44"/>
                  </a:lnTo>
                  <a:lnTo>
                    <a:pt x="148" y="50"/>
                  </a:lnTo>
                  <a:lnTo>
                    <a:pt x="139" y="64"/>
                  </a:lnTo>
                  <a:lnTo>
                    <a:pt x="115" y="62"/>
                  </a:lnTo>
                  <a:lnTo>
                    <a:pt x="103" y="57"/>
                  </a:lnTo>
                  <a:lnTo>
                    <a:pt x="95" y="69"/>
                  </a:lnTo>
                  <a:lnTo>
                    <a:pt x="88" y="81"/>
                  </a:lnTo>
                  <a:lnTo>
                    <a:pt x="71" y="83"/>
                  </a:lnTo>
                  <a:lnTo>
                    <a:pt x="65" y="81"/>
                  </a:lnTo>
                  <a:lnTo>
                    <a:pt x="67" y="64"/>
                  </a:lnTo>
                  <a:lnTo>
                    <a:pt x="56" y="47"/>
                  </a:lnTo>
                  <a:lnTo>
                    <a:pt x="176" y="120"/>
                  </a:lnTo>
                  <a:lnTo>
                    <a:pt x="161" y="136"/>
                  </a:lnTo>
                  <a:lnTo>
                    <a:pt x="172" y="152"/>
                  </a:lnTo>
                  <a:lnTo>
                    <a:pt x="178" y="147"/>
                  </a:lnTo>
                  <a:lnTo>
                    <a:pt x="193" y="136"/>
                  </a:lnTo>
                  <a:lnTo>
                    <a:pt x="196" y="124"/>
                  </a:lnTo>
                  <a:lnTo>
                    <a:pt x="182" y="117"/>
                  </a:lnTo>
                  <a:lnTo>
                    <a:pt x="176" y="120"/>
                  </a:lnTo>
                  <a:lnTo>
                    <a:pt x="56" y="47"/>
                  </a:lnTo>
                  <a:close/>
                </a:path>
              </a:pathLst>
            </a:custGeom>
            <a:grpFill/>
            <a:ln w="3175" cmpd="sng">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09" name="Freeform 208"/>
            <p:cNvSpPr>
              <a:spLocks/>
            </p:cNvSpPr>
            <p:nvPr/>
          </p:nvSpPr>
          <p:spPr bwMode="auto">
            <a:xfrm>
              <a:off x="2811" y="3147"/>
              <a:ext cx="282" cy="251"/>
            </a:xfrm>
            <a:custGeom>
              <a:avLst/>
              <a:gdLst/>
              <a:ahLst/>
              <a:cxnLst>
                <a:cxn ang="0">
                  <a:pos x="56" y="47"/>
                </a:cxn>
                <a:cxn ang="0">
                  <a:pos x="55" y="64"/>
                </a:cxn>
                <a:cxn ang="0">
                  <a:pos x="54" y="81"/>
                </a:cxn>
                <a:cxn ang="0">
                  <a:pos x="53" y="98"/>
                </a:cxn>
                <a:cxn ang="0">
                  <a:pos x="50" y="114"/>
                </a:cxn>
                <a:cxn ang="0">
                  <a:pos x="37" y="120"/>
                </a:cxn>
                <a:cxn ang="0">
                  <a:pos x="14" y="117"/>
                </a:cxn>
                <a:cxn ang="0">
                  <a:pos x="8" y="106"/>
                </a:cxn>
                <a:cxn ang="0">
                  <a:pos x="0" y="116"/>
                </a:cxn>
                <a:cxn ang="0">
                  <a:pos x="7" y="132"/>
                </a:cxn>
                <a:cxn ang="0">
                  <a:pos x="13" y="148"/>
                </a:cxn>
                <a:cxn ang="0">
                  <a:pos x="19" y="165"/>
                </a:cxn>
                <a:cxn ang="0">
                  <a:pos x="25" y="182"/>
                </a:cxn>
                <a:cxn ang="0">
                  <a:pos x="19" y="190"/>
                </a:cxn>
                <a:cxn ang="0">
                  <a:pos x="20" y="198"/>
                </a:cxn>
                <a:cxn ang="0">
                  <a:pos x="25" y="216"/>
                </a:cxn>
                <a:cxn ang="0">
                  <a:pos x="30" y="216"/>
                </a:cxn>
                <a:cxn ang="0">
                  <a:pos x="38" y="221"/>
                </a:cxn>
                <a:cxn ang="0">
                  <a:pos x="48" y="226"/>
                </a:cxn>
                <a:cxn ang="0">
                  <a:pos x="64" y="221"/>
                </a:cxn>
                <a:cxn ang="0">
                  <a:pos x="80" y="215"/>
                </a:cxn>
                <a:cxn ang="0">
                  <a:pos x="96" y="215"/>
                </a:cxn>
                <a:cxn ang="0">
                  <a:pos x="113" y="214"/>
                </a:cxn>
                <a:cxn ang="0">
                  <a:pos x="133" y="212"/>
                </a:cxn>
                <a:cxn ang="0">
                  <a:pos x="143" y="208"/>
                </a:cxn>
                <a:cxn ang="0">
                  <a:pos x="160" y="198"/>
                </a:cxn>
                <a:cxn ang="0">
                  <a:pos x="176" y="189"/>
                </a:cxn>
                <a:cxn ang="0">
                  <a:pos x="186" y="179"/>
                </a:cxn>
                <a:cxn ang="0">
                  <a:pos x="196" y="168"/>
                </a:cxn>
                <a:cxn ang="0">
                  <a:pos x="205" y="158"/>
                </a:cxn>
                <a:cxn ang="0">
                  <a:pos x="216" y="147"/>
                </a:cxn>
                <a:cxn ang="0">
                  <a:pos x="227" y="134"/>
                </a:cxn>
                <a:cxn ang="0">
                  <a:pos x="239" y="119"/>
                </a:cxn>
                <a:cxn ang="0">
                  <a:pos x="246" y="101"/>
                </a:cxn>
                <a:cxn ang="0">
                  <a:pos x="253" y="84"/>
                </a:cxn>
                <a:cxn ang="0">
                  <a:pos x="242" y="84"/>
                </a:cxn>
                <a:cxn ang="0">
                  <a:pos x="239" y="92"/>
                </a:cxn>
                <a:cxn ang="0">
                  <a:pos x="223" y="87"/>
                </a:cxn>
                <a:cxn ang="0">
                  <a:pos x="224" y="74"/>
                </a:cxn>
                <a:cxn ang="0">
                  <a:pos x="232" y="64"/>
                </a:cxn>
                <a:cxn ang="0">
                  <a:pos x="240" y="68"/>
                </a:cxn>
                <a:cxn ang="0">
                  <a:pos x="240" y="50"/>
                </a:cxn>
                <a:cxn ang="0">
                  <a:pos x="240" y="30"/>
                </a:cxn>
                <a:cxn ang="0">
                  <a:pos x="236" y="17"/>
                </a:cxn>
                <a:cxn ang="0">
                  <a:pos x="234" y="5"/>
                </a:cxn>
                <a:cxn ang="0">
                  <a:pos x="218" y="3"/>
                </a:cxn>
                <a:cxn ang="0">
                  <a:pos x="204" y="0"/>
                </a:cxn>
                <a:cxn ang="0">
                  <a:pos x="202" y="0"/>
                </a:cxn>
                <a:cxn ang="0">
                  <a:pos x="181" y="14"/>
                </a:cxn>
                <a:cxn ang="0">
                  <a:pos x="166" y="28"/>
                </a:cxn>
                <a:cxn ang="0">
                  <a:pos x="157" y="44"/>
                </a:cxn>
                <a:cxn ang="0">
                  <a:pos x="148" y="50"/>
                </a:cxn>
                <a:cxn ang="0">
                  <a:pos x="139" y="64"/>
                </a:cxn>
                <a:cxn ang="0">
                  <a:pos x="115" y="62"/>
                </a:cxn>
                <a:cxn ang="0">
                  <a:pos x="103" y="57"/>
                </a:cxn>
                <a:cxn ang="0">
                  <a:pos x="95" y="69"/>
                </a:cxn>
                <a:cxn ang="0">
                  <a:pos x="88" y="81"/>
                </a:cxn>
                <a:cxn ang="0">
                  <a:pos x="71" y="83"/>
                </a:cxn>
                <a:cxn ang="0">
                  <a:pos x="65" y="81"/>
                </a:cxn>
                <a:cxn ang="0">
                  <a:pos x="67" y="64"/>
                </a:cxn>
                <a:cxn ang="0">
                  <a:pos x="56" y="47"/>
                </a:cxn>
              </a:cxnLst>
              <a:rect l="0" t="0" r="r" b="b"/>
              <a:pathLst>
                <a:path w="253" h="226">
                  <a:moveTo>
                    <a:pt x="56" y="47"/>
                  </a:moveTo>
                  <a:lnTo>
                    <a:pt x="55" y="64"/>
                  </a:lnTo>
                  <a:lnTo>
                    <a:pt x="54" y="81"/>
                  </a:lnTo>
                  <a:lnTo>
                    <a:pt x="53" y="98"/>
                  </a:lnTo>
                  <a:lnTo>
                    <a:pt x="50" y="114"/>
                  </a:lnTo>
                  <a:lnTo>
                    <a:pt x="37" y="120"/>
                  </a:lnTo>
                  <a:lnTo>
                    <a:pt x="14" y="117"/>
                  </a:lnTo>
                  <a:lnTo>
                    <a:pt x="8" y="106"/>
                  </a:lnTo>
                  <a:lnTo>
                    <a:pt x="0" y="116"/>
                  </a:lnTo>
                  <a:lnTo>
                    <a:pt x="7" y="132"/>
                  </a:lnTo>
                  <a:lnTo>
                    <a:pt x="13" y="148"/>
                  </a:lnTo>
                  <a:lnTo>
                    <a:pt x="19" y="165"/>
                  </a:lnTo>
                  <a:lnTo>
                    <a:pt x="25" y="182"/>
                  </a:lnTo>
                  <a:lnTo>
                    <a:pt x="19" y="190"/>
                  </a:lnTo>
                  <a:lnTo>
                    <a:pt x="20" y="198"/>
                  </a:lnTo>
                  <a:lnTo>
                    <a:pt x="25" y="216"/>
                  </a:lnTo>
                  <a:lnTo>
                    <a:pt x="30" y="216"/>
                  </a:lnTo>
                  <a:lnTo>
                    <a:pt x="38" y="221"/>
                  </a:lnTo>
                  <a:lnTo>
                    <a:pt x="48" y="226"/>
                  </a:lnTo>
                  <a:lnTo>
                    <a:pt x="64" y="221"/>
                  </a:lnTo>
                  <a:lnTo>
                    <a:pt x="80" y="215"/>
                  </a:lnTo>
                  <a:lnTo>
                    <a:pt x="96" y="215"/>
                  </a:lnTo>
                  <a:lnTo>
                    <a:pt x="113" y="214"/>
                  </a:lnTo>
                  <a:lnTo>
                    <a:pt x="133" y="212"/>
                  </a:lnTo>
                  <a:lnTo>
                    <a:pt x="143" y="208"/>
                  </a:lnTo>
                  <a:lnTo>
                    <a:pt x="160" y="198"/>
                  </a:lnTo>
                  <a:lnTo>
                    <a:pt x="176" y="189"/>
                  </a:lnTo>
                  <a:lnTo>
                    <a:pt x="186" y="179"/>
                  </a:lnTo>
                  <a:lnTo>
                    <a:pt x="196" y="168"/>
                  </a:lnTo>
                  <a:lnTo>
                    <a:pt x="205" y="158"/>
                  </a:lnTo>
                  <a:lnTo>
                    <a:pt x="216" y="147"/>
                  </a:lnTo>
                  <a:lnTo>
                    <a:pt x="227" y="134"/>
                  </a:lnTo>
                  <a:lnTo>
                    <a:pt x="239" y="119"/>
                  </a:lnTo>
                  <a:lnTo>
                    <a:pt x="246" y="101"/>
                  </a:lnTo>
                  <a:lnTo>
                    <a:pt x="253" y="84"/>
                  </a:lnTo>
                  <a:lnTo>
                    <a:pt x="242" y="84"/>
                  </a:lnTo>
                  <a:lnTo>
                    <a:pt x="239" y="92"/>
                  </a:lnTo>
                  <a:lnTo>
                    <a:pt x="223" y="87"/>
                  </a:lnTo>
                  <a:lnTo>
                    <a:pt x="224" y="74"/>
                  </a:lnTo>
                  <a:lnTo>
                    <a:pt x="232" y="64"/>
                  </a:lnTo>
                  <a:lnTo>
                    <a:pt x="240" y="68"/>
                  </a:lnTo>
                  <a:lnTo>
                    <a:pt x="240" y="50"/>
                  </a:lnTo>
                  <a:lnTo>
                    <a:pt x="240" y="30"/>
                  </a:lnTo>
                  <a:lnTo>
                    <a:pt x="236" y="17"/>
                  </a:lnTo>
                  <a:lnTo>
                    <a:pt x="234" y="5"/>
                  </a:lnTo>
                  <a:lnTo>
                    <a:pt x="218" y="3"/>
                  </a:lnTo>
                  <a:lnTo>
                    <a:pt x="204" y="0"/>
                  </a:lnTo>
                  <a:lnTo>
                    <a:pt x="202" y="0"/>
                  </a:lnTo>
                  <a:lnTo>
                    <a:pt x="181" y="14"/>
                  </a:lnTo>
                  <a:lnTo>
                    <a:pt x="166" y="28"/>
                  </a:lnTo>
                  <a:lnTo>
                    <a:pt x="157" y="44"/>
                  </a:lnTo>
                  <a:lnTo>
                    <a:pt x="148" y="50"/>
                  </a:lnTo>
                  <a:lnTo>
                    <a:pt x="139" y="64"/>
                  </a:lnTo>
                  <a:lnTo>
                    <a:pt x="115" y="62"/>
                  </a:lnTo>
                  <a:lnTo>
                    <a:pt x="103" y="57"/>
                  </a:lnTo>
                  <a:lnTo>
                    <a:pt x="95" y="69"/>
                  </a:lnTo>
                  <a:lnTo>
                    <a:pt x="88" y="81"/>
                  </a:lnTo>
                  <a:lnTo>
                    <a:pt x="71" y="83"/>
                  </a:lnTo>
                  <a:lnTo>
                    <a:pt x="65" y="81"/>
                  </a:lnTo>
                  <a:lnTo>
                    <a:pt x="67" y="64"/>
                  </a:lnTo>
                  <a:lnTo>
                    <a:pt x="56" y="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0" name="Freeform 209"/>
            <p:cNvSpPr>
              <a:spLocks/>
            </p:cNvSpPr>
            <p:nvPr/>
          </p:nvSpPr>
          <p:spPr bwMode="auto">
            <a:xfrm>
              <a:off x="2989" y="3276"/>
              <a:ext cx="40" cy="40"/>
            </a:xfrm>
            <a:custGeom>
              <a:avLst/>
              <a:gdLst/>
              <a:ahLst/>
              <a:cxnLst>
                <a:cxn ang="0">
                  <a:pos x="15" y="3"/>
                </a:cxn>
                <a:cxn ang="0">
                  <a:pos x="0" y="19"/>
                </a:cxn>
                <a:cxn ang="0">
                  <a:pos x="11" y="35"/>
                </a:cxn>
                <a:cxn ang="0">
                  <a:pos x="17" y="30"/>
                </a:cxn>
                <a:cxn ang="0">
                  <a:pos x="32" y="19"/>
                </a:cxn>
                <a:cxn ang="0">
                  <a:pos x="35" y="7"/>
                </a:cxn>
                <a:cxn ang="0">
                  <a:pos x="21" y="0"/>
                </a:cxn>
                <a:cxn ang="0">
                  <a:pos x="15" y="3"/>
                </a:cxn>
              </a:cxnLst>
              <a:rect l="0" t="0" r="r" b="b"/>
              <a:pathLst>
                <a:path w="35" h="35">
                  <a:moveTo>
                    <a:pt x="15" y="3"/>
                  </a:moveTo>
                  <a:lnTo>
                    <a:pt x="0" y="19"/>
                  </a:lnTo>
                  <a:lnTo>
                    <a:pt x="11" y="35"/>
                  </a:lnTo>
                  <a:lnTo>
                    <a:pt x="17" y="30"/>
                  </a:lnTo>
                  <a:lnTo>
                    <a:pt x="32" y="19"/>
                  </a:lnTo>
                  <a:lnTo>
                    <a:pt x="35" y="7"/>
                  </a:lnTo>
                  <a:lnTo>
                    <a:pt x="21" y="0"/>
                  </a:lnTo>
                  <a:lnTo>
                    <a:pt x="1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1" name="Freeform 210"/>
            <p:cNvSpPr>
              <a:spLocks/>
            </p:cNvSpPr>
            <p:nvPr/>
          </p:nvSpPr>
          <p:spPr bwMode="auto">
            <a:xfrm>
              <a:off x="2780" y="3156"/>
              <a:ext cx="2" cy="11"/>
            </a:xfrm>
            <a:custGeom>
              <a:avLst/>
              <a:gdLst/>
              <a:ahLst/>
              <a:cxnLst>
                <a:cxn ang="0">
                  <a:pos x="3" y="9"/>
                </a:cxn>
                <a:cxn ang="0">
                  <a:pos x="0" y="8"/>
                </a:cxn>
                <a:cxn ang="0">
                  <a:pos x="2" y="0"/>
                </a:cxn>
                <a:cxn ang="0">
                  <a:pos x="3" y="9"/>
                </a:cxn>
              </a:cxnLst>
              <a:rect l="0" t="0" r="r" b="b"/>
              <a:pathLst>
                <a:path w="3" h="9">
                  <a:moveTo>
                    <a:pt x="3" y="9"/>
                  </a:moveTo>
                  <a:lnTo>
                    <a:pt x="0" y="8"/>
                  </a:lnTo>
                  <a:lnTo>
                    <a:pt x="2" y="0"/>
                  </a:lnTo>
                  <a:lnTo>
                    <a:pt x="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2" name="Freeform 211"/>
            <p:cNvSpPr>
              <a:spLocks/>
            </p:cNvSpPr>
            <p:nvPr/>
          </p:nvSpPr>
          <p:spPr bwMode="auto">
            <a:xfrm>
              <a:off x="3060" y="3218"/>
              <a:ext cx="20" cy="32"/>
            </a:xfrm>
            <a:custGeom>
              <a:avLst/>
              <a:gdLst/>
              <a:ahLst/>
              <a:cxnLst>
                <a:cxn ang="0">
                  <a:pos x="9" y="0"/>
                </a:cxn>
                <a:cxn ang="0">
                  <a:pos x="1" y="10"/>
                </a:cxn>
                <a:cxn ang="0">
                  <a:pos x="0" y="23"/>
                </a:cxn>
                <a:cxn ang="0">
                  <a:pos x="16" y="28"/>
                </a:cxn>
                <a:cxn ang="0">
                  <a:pos x="19" y="20"/>
                </a:cxn>
                <a:cxn ang="0">
                  <a:pos x="17" y="4"/>
                </a:cxn>
                <a:cxn ang="0">
                  <a:pos x="9" y="0"/>
                </a:cxn>
              </a:cxnLst>
              <a:rect l="0" t="0" r="r" b="b"/>
              <a:pathLst>
                <a:path w="19" h="28">
                  <a:moveTo>
                    <a:pt x="9" y="0"/>
                  </a:moveTo>
                  <a:lnTo>
                    <a:pt x="1" y="10"/>
                  </a:lnTo>
                  <a:lnTo>
                    <a:pt x="0" y="23"/>
                  </a:lnTo>
                  <a:lnTo>
                    <a:pt x="16" y="28"/>
                  </a:lnTo>
                  <a:lnTo>
                    <a:pt x="19" y="20"/>
                  </a:lnTo>
                  <a:lnTo>
                    <a:pt x="17" y="4"/>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3" name="Freeform 212"/>
            <p:cNvSpPr>
              <a:spLocks/>
            </p:cNvSpPr>
            <p:nvPr/>
          </p:nvSpPr>
          <p:spPr bwMode="auto">
            <a:xfrm>
              <a:off x="2736" y="2823"/>
              <a:ext cx="215" cy="240"/>
            </a:xfrm>
            <a:custGeom>
              <a:avLst/>
              <a:gdLst/>
              <a:ahLst/>
              <a:cxnLst>
                <a:cxn ang="0">
                  <a:pos x="193" y="127"/>
                </a:cxn>
                <a:cxn ang="0">
                  <a:pos x="177" y="127"/>
                </a:cxn>
                <a:cxn ang="0">
                  <a:pos x="162" y="128"/>
                </a:cxn>
                <a:cxn ang="0">
                  <a:pos x="161" y="141"/>
                </a:cxn>
                <a:cxn ang="0">
                  <a:pos x="161" y="156"/>
                </a:cxn>
                <a:cxn ang="0">
                  <a:pos x="161" y="170"/>
                </a:cxn>
                <a:cxn ang="0">
                  <a:pos x="161" y="184"/>
                </a:cxn>
                <a:cxn ang="0">
                  <a:pos x="171" y="198"/>
                </a:cxn>
                <a:cxn ang="0">
                  <a:pos x="182" y="211"/>
                </a:cxn>
                <a:cxn ang="0">
                  <a:pos x="158" y="213"/>
                </a:cxn>
                <a:cxn ang="0">
                  <a:pos x="135" y="217"/>
                </a:cxn>
                <a:cxn ang="0">
                  <a:pos x="120" y="213"/>
                </a:cxn>
                <a:cxn ang="0">
                  <a:pos x="105" y="210"/>
                </a:cxn>
                <a:cxn ang="0">
                  <a:pos x="103" y="206"/>
                </a:cxn>
                <a:cxn ang="0">
                  <a:pos x="85" y="206"/>
                </a:cxn>
                <a:cxn ang="0">
                  <a:pos x="67" y="205"/>
                </a:cxn>
                <a:cxn ang="0">
                  <a:pos x="49" y="205"/>
                </a:cxn>
                <a:cxn ang="0">
                  <a:pos x="30" y="204"/>
                </a:cxn>
                <a:cxn ang="0">
                  <a:pos x="19" y="199"/>
                </a:cxn>
                <a:cxn ang="0">
                  <a:pos x="0" y="204"/>
                </a:cxn>
                <a:cxn ang="0">
                  <a:pos x="1" y="189"/>
                </a:cxn>
                <a:cxn ang="0">
                  <a:pos x="2" y="175"/>
                </a:cxn>
                <a:cxn ang="0">
                  <a:pos x="9" y="153"/>
                </a:cxn>
                <a:cxn ang="0">
                  <a:pos x="17" y="130"/>
                </a:cxn>
                <a:cxn ang="0">
                  <a:pos x="25" y="118"/>
                </a:cxn>
                <a:cxn ang="0">
                  <a:pos x="32" y="106"/>
                </a:cxn>
                <a:cxn ang="0">
                  <a:pos x="30" y="82"/>
                </a:cxn>
                <a:cxn ang="0">
                  <a:pos x="25" y="68"/>
                </a:cxn>
                <a:cxn ang="0">
                  <a:pos x="21" y="55"/>
                </a:cxn>
                <a:cxn ang="0">
                  <a:pos x="26" y="46"/>
                </a:cxn>
                <a:cxn ang="0">
                  <a:pos x="19" y="25"/>
                </a:cxn>
                <a:cxn ang="0">
                  <a:pos x="11" y="3"/>
                </a:cxn>
                <a:cxn ang="0">
                  <a:pos x="24" y="0"/>
                </a:cxn>
                <a:cxn ang="0">
                  <a:pos x="37" y="0"/>
                </a:cxn>
                <a:cxn ang="0">
                  <a:pos x="51" y="1"/>
                </a:cxn>
                <a:cxn ang="0">
                  <a:pos x="65" y="1"/>
                </a:cxn>
                <a:cxn ang="0">
                  <a:pos x="78" y="2"/>
                </a:cxn>
                <a:cxn ang="0">
                  <a:pos x="84" y="19"/>
                </a:cxn>
                <a:cxn ang="0">
                  <a:pos x="91" y="36"/>
                </a:cxn>
                <a:cxn ang="0">
                  <a:pos x="102" y="39"/>
                </a:cxn>
                <a:cxn ang="0">
                  <a:pos x="121" y="36"/>
                </a:cxn>
                <a:cxn ang="0">
                  <a:pos x="125" y="20"/>
                </a:cxn>
                <a:cxn ang="0">
                  <a:pos x="140" y="21"/>
                </a:cxn>
                <a:cxn ang="0">
                  <a:pos x="140" y="25"/>
                </a:cxn>
                <a:cxn ang="0">
                  <a:pos x="161" y="28"/>
                </a:cxn>
                <a:cxn ang="0">
                  <a:pos x="162" y="49"/>
                </a:cxn>
                <a:cxn ang="0">
                  <a:pos x="162" y="69"/>
                </a:cxn>
                <a:cxn ang="0">
                  <a:pos x="167" y="87"/>
                </a:cxn>
                <a:cxn ang="0">
                  <a:pos x="168" y="94"/>
                </a:cxn>
                <a:cxn ang="0">
                  <a:pos x="181" y="92"/>
                </a:cxn>
                <a:cxn ang="0">
                  <a:pos x="193" y="90"/>
                </a:cxn>
                <a:cxn ang="0">
                  <a:pos x="193" y="108"/>
                </a:cxn>
                <a:cxn ang="0">
                  <a:pos x="193" y="127"/>
                </a:cxn>
              </a:cxnLst>
              <a:rect l="0" t="0" r="r" b="b"/>
              <a:pathLst>
                <a:path w="193" h="217">
                  <a:moveTo>
                    <a:pt x="193" y="127"/>
                  </a:moveTo>
                  <a:lnTo>
                    <a:pt x="177" y="127"/>
                  </a:lnTo>
                  <a:lnTo>
                    <a:pt x="162" y="128"/>
                  </a:lnTo>
                  <a:lnTo>
                    <a:pt x="161" y="141"/>
                  </a:lnTo>
                  <a:lnTo>
                    <a:pt x="161" y="156"/>
                  </a:lnTo>
                  <a:lnTo>
                    <a:pt x="161" y="170"/>
                  </a:lnTo>
                  <a:lnTo>
                    <a:pt x="161" y="184"/>
                  </a:lnTo>
                  <a:lnTo>
                    <a:pt x="171" y="198"/>
                  </a:lnTo>
                  <a:lnTo>
                    <a:pt x="182" y="211"/>
                  </a:lnTo>
                  <a:lnTo>
                    <a:pt x="158" y="213"/>
                  </a:lnTo>
                  <a:lnTo>
                    <a:pt x="135" y="217"/>
                  </a:lnTo>
                  <a:lnTo>
                    <a:pt x="120" y="213"/>
                  </a:lnTo>
                  <a:lnTo>
                    <a:pt x="105" y="210"/>
                  </a:lnTo>
                  <a:lnTo>
                    <a:pt x="103" y="206"/>
                  </a:lnTo>
                  <a:lnTo>
                    <a:pt x="85" y="206"/>
                  </a:lnTo>
                  <a:lnTo>
                    <a:pt x="67" y="205"/>
                  </a:lnTo>
                  <a:lnTo>
                    <a:pt x="49" y="205"/>
                  </a:lnTo>
                  <a:lnTo>
                    <a:pt x="30" y="204"/>
                  </a:lnTo>
                  <a:lnTo>
                    <a:pt x="19" y="199"/>
                  </a:lnTo>
                  <a:lnTo>
                    <a:pt x="0" y="204"/>
                  </a:lnTo>
                  <a:lnTo>
                    <a:pt x="1" y="189"/>
                  </a:lnTo>
                  <a:lnTo>
                    <a:pt x="2" y="175"/>
                  </a:lnTo>
                  <a:lnTo>
                    <a:pt x="9" y="153"/>
                  </a:lnTo>
                  <a:lnTo>
                    <a:pt x="17" y="130"/>
                  </a:lnTo>
                  <a:lnTo>
                    <a:pt x="25" y="118"/>
                  </a:lnTo>
                  <a:lnTo>
                    <a:pt x="32" y="106"/>
                  </a:lnTo>
                  <a:lnTo>
                    <a:pt x="30" y="82"/>
                  </a:lnTo>
                  <a:lnTo>
                    <a:pt x="25" y="68"/>
                  </a:lnTo>
                  <a:lnTo>
                    <a:pt x="21" y="55"/>
                  </a:lnTo>
                  <a:lnTo>
                    <a:pt x="26" y="46"/>
                  </a:lnTo>
                  <a:lnTo>
                    <a:pt x="19" y="25"/>
                  </a:lnTo>
                  <a:lnTo>
                    <a:pt x="11" y="3"/>
                  </a:lnTo>
                  <a:lnTo>
                    <a:pt x="24" y="0"/>
                  </a:lnTo>
                  <a:lnTo>
                    <a:pt x="37" y="0"/>
                  </a:lnTo>
                  <a:lnTo>
                    <a:pt x="51" y="1"/>
                  </a:lnTo>
                  <a:lnTo>
                    <a:pt x="65" y="1"/>
                  </a:lnTo>
                  <a:lnTo>
                    <a:pt x="78" y="2"/>
                  </a:lnTo>
                  <a:lnTo>
                    <a:pt x="84" y="19"/>
                  </a:lnTo>
                  <a:lnTo>
                    <a:pt x="91" y="36"/>
                  </a:lnTo>
                  <a:lnTo>
                    <a:pt x="102" y="39"/>
                  </a:lnTo>
                  <a:lnTo>
                    <a:pt x="121" y="36"/>
                  </a:lnTo>
                  <a:lnTo>
                    <a:pt x="125" y="20"/>
                  </a:lnTo>
                  <a:lnTo>
                    <a:pt x="140" y="21"/>
                  </a:lnTo>
                  <a:lnTo>
                    <a:pt x="140" y="25"/>
                  </a:lnTo>
                  <a:lnTo>
                    <a:pt x="161" y="28"/>
                  </a:lnTo>
                  <a:lnTo>
                    <a:pt x="162" y="49"/>
                  </a:lnTo>
                  <a:lnTo>
                    <a:pt x="162" y="69"/>
                  </a:lnTo>
                  <a:lnTo>
                    <a:pt x="167" y="87"/>
                  </a:lnTo>
                  <a:lnTo>
                    <a:pt x="168" y="94"/>
                  </a:lnTo>
                  <a:lnTo>
                    <a:pt x="181" y="92"/>
                  </a:lnTo>
                  <a:lnTo>
                    <a:pt x="193" y="90"/>
                  </a:lnTo>
                  <a:lnTo>
                    <a:pt x="193" y="108"/>
                  </a:lnTo>
                  <a:lnTo>
                    <a:pt x="193" y="1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4" name="Freeform 213"/>
            <p:cNvSpPr>
              <a:spLocks/>
            </p:cNvSpPr>
            <p:nvPr/>
          </p:nvSpPr>
          <p:spPr bwMode="auto">
            <a:xfrm>
              <a:off x="2742" y="2794"/>
              <a:ext cx="20" cy="27"/>
            </a:xfrm>
            <a:custGeom>
              <a:avLst/>
              <a:gdLst/>
              <a:ahLst/>
              <a:cxnLst>
                <a:cxn ang="0">
                  <a:pos x="2" y="24"/>
                </a:cxn>
                <a:cxn ang="0">
                  <a:pos x="0" y="10"/>
                </a:cxn>
                <a:cxn ang="0">
                  <a:pos x="11" y="0"/>
                </a:cxn>
                <a:cxn ang="0">
                  <a:pos x="17" y="3"/>
                </a:cxn>
                <a:cxn ang="0">
                  <a:pos x="9" y="9"/>
                </a:cxn>
                <a:cxn ang="0">
                  <a:pos x="8" y="23"/>
                </a:cxn>
                <a:cxn ang="0">
                  <a:pos x="2" y="24"/>
                </a:cxn>
              </a:cxnLst>
              <a:rect l="0" t="0" r="r" b="b"/>
              <a:pathLst>
                <a:path w="17" h="24">
                  <a:moveTo>
                    <a:pt x="2" y="24"/>
                  </a:moveTo>
                  <a:lnTo>
                    <a:pt x="0" y="10"/>
                  </a:lnTo>
                  <a:lnTo>
                    <a:pt x="11" y="0"/>
                  </a:lnTo>
                  <a:lnTo>
                    <a:pt x="17" y="3"/>
                  </a:lnTo>
                  <a:lnTo>
                    <a:pt x="9" y="9"/>
                  </a:lnTo>
                  <a:lnTo>
                    <a:pt x="8" y="23"/>
                  </a:lnTo>
                  <a:lnTo>
                    <a:pt x="2"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5" name="Freeform 214"/>
            <p:cNvSpPr>
              <a:spLocks/>
            </p:cNvSpPr>
            <p:nvPr/>
          </p:nvSpPr>
          <p:spPr bwMode="auto">
            <a:xfrm>
              <a:off x="2698" y="2659"/>
              <a:ext cx="33" cy="26"/>
            </a:xfrm>
            <a:custGeom>
              <a:avLst/>
              <a:gdLst/>
              <a:ahLst/>
              <a:cxnLst>
                <a:cxn ang="0">
                  <a:pos x="6" y="24"/>
                </a:cxn>
                <a:cxn ang="0">
                  <a:pos x="0" y="22"/>
                </a:cxn>
                <a:cxn ang="0">
                  <a:pos x="2" y="16"/>
                </a:cxn>
                <a:cxn ang="0">
                  <a:pos x="6" y="0"/>
                </a:cxn>
                <a:cxn ang="0">
                  <a:pos x="18" y="1"/>
                </a:cxn>
                <a:cxn ang="0">
                  <a:pos x="30" y="4"/>
                </a:cxn>
                <a:cxn ang="0">
                  <a:pos x="30" y="24"/>
                </a:cxn>
                <a:cxn ang="0">
                  <a:pos x="18" y="24"/>
                </a:cxn>
                <a:cxn ang="0">
                  <a:pos x="6" y="24"/>
                </a:cxn>
              </a:cxnLst>
              <a:rect l="0" t="0" r="r" b="b"/>
              <a:pathLst>
                <a:path w="30" h="24">
                  <a:moveTo>
                    <a:pt x="6" y="24"/>
                  </a:moveTo>
                  <a:lnTo>
                    <a:pt x="0" y="22"/>
                  </a:lnTo>
                  <a:lnTo>
                    <a:pt x="2" y="16"/>
                  </a:lnTo>
                  <a:lnTo>
                    <a:pt x="6" y="0"/>
                  </a:lnTo>
                  <a:lnTo>
                    <a:pt x="18" y="1"/>
                  </a:lnTo>
                  <a:lnTo>
                    <a:pt x="30" y="4"/>
                  </a:lnTo>
                  <a:lnTo>
                    <a:pt x="30" y="24"/>
                  </a:lnTo>
                  <a:lnTo>
                    <a:pt x="18" y="24"/>
                  </a:lnTo>
                  <a:lnTo>
                    <a:pt x="6"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6" name="Freeform 215"/>
            <p:cNvSpPr>
              <a:spLocks/>
            </p:cNvSpPr>
            <p:nvPr/>
          </p:nvSpPr>
          <p:spPr bwMode="auto">
            <a:xfrm>
              <a:off x="2680" y="2630"/>
              <a:ext cx="9" cy="11"/>
            </a:xfrm>
            <a:custGeom>
              <a:avLst/>
              <a:gdLst/>
              <a:ahLst/>
              <a:cxnLst>
                <a:cxn ang="0">
                  <a:pos x="9" y="1"/>
                </a:cxn>
                <a:cxn ang="0">
                  <a:pos x="6" y="0"/>
                </a:cxn>
                <a:cxn ang="0">
                  <a:pos x="0" y="8"/>
                </a:cxn>
                <a:cxn ang="0">
                  <a:pos x="9" y="1"/>
                </a:cxn>
              </a:cxnLst>
              <a:rect l="0" t="0" r="r" b="b"/>
              <a:pathLst>
                <a:path w="9" h="8">
                  <a:moveTo>
                    <a:pt x="9" y="1"/>
                  </a:moveTo>
                  <a:lnTo>
                    <a:pt x="6" y="0"/>
                  </a:lnTo>
                  <a:lnTo>
                    <a:pt x="0" y="8"/>
                  </a:lnTo>
                  <a:lnTo>
                    <a:pt x="9"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7" name="Freeform 216"/>
            <p:cNvSpPr>
              <a:spLocks/>
            </p:cNvSpPr>
            <p:nvPr/>
          </p:nvSpPr>
          <p:spPr bwMode="auto">
            <a:xfrm>
              <a:off x="2687" y="2663"/>
              <a:ext cx="100" cy="120"/>
            </a:xfrm>
            <a:custGeom>
              <a:avLst/>
              <a:gdLst/>
              <a:ahLst/>
              <a:cxnLst>
                <a:cxn ang="0">
                  <a:pos x="16" y="20"/>
                </a:cxn>
                <a:cxn ang="0">
                  <a:pos x="13" y="27"/>
                </a:cxn>
                <a:cxn ang="0">
                  <a:pos x="9" y="27"/>
                </a:cxn>
                <a:cxn ang="0">
                  <a:pos x="19" y="36"/>
                </a:cxn>
                <a:cxn ang="0">
                  <a:pos x="10" y="34"/>
                </a:cxn>
                <a:cxn ang="0">
                  <a:pos x="5" y="51"/>
                </a:cxn>
                <a:cxn ang="0">
                  <a:pos x="0" y="51"/>
                </a:cxn>
                <a:cxn ang="0">
                  <a:pos x="7" y="63"/>
                </a:cxn>
                <a:cxn ang="0">
                  <a:pos x="11" y="67"/>
                </a:cxn>
                <a:cxn ang="0">
                  <a:pos x="5" y="62"/>
                </a:cxn>
                <a:cxn ang="0">
                  <a:pos x="12" y="73"/>
                </a:cxn>
                <a:cxn ang="0">
                  <a:pos x="10" y="73"/>
                </a:cxn>
                <a:cxn ang="0">
                  <a:pos x="19" y="84"/>
                </a:cxn>
                <a:cxn ang="0">
                  <a:pos x="17" y="82"/>
                </a:cxn>
                <a:cxn ang="0">
                  <a:pos x="28" y="96"/>
                </a:cxn>
                <a:cxn ang="0">
                  <a:pos x="39" y="109"/>
                </a:cxn>
                <a:cxn ang="0">
                  <a:pos x="43" y="102"/>
                </a:cxn>
                <a:cxn ang="0">
                  <a:pos x="47" y="104"/>
                </a:cxn>
                <a:cxn ang="0">
                  <a:pos x="51" y="100"/>
                </a:cxn>
                <a:cxn ang="0">
                  <a:pos x="47" y="93"/>
                </a:cxn>
                <a:cxn ang="0">
                  <a:pos x="46" y="88"/>
                </a:cxn>
                <a:cxn ang="0">
                  <a:pos x="45" y="82"/>
                </a:cxn>
                <a:cxn ang="0">
                  <a:pos x="59" y="81"/>
                </a:cxn>
                <a:cxn ang="0">
                  <a:pos x="60" y="70"/>
                </a:cxn>
                <a:cxn ang="0">
                  <a:pos x="70" y="81"/>
                </a:cxn>
                <a:cxn ang="0">
                  <a:pos x="79" y="78"/>
                </a:cxn>
                <a:cxn ang="0">
                  <a:pos x="82" y="82"/>
                </a:cxn>
                <a:cxn ang="0">
                  <a:pos x="87" y="78"/>
                </a:cxn>
                <a:cxn ang="0">
                  <a:pos x="91" y="52"/>
                </a:cxn>
                <a:cxn ang="0">
                  <a:pos x="82" y="37"/>
                </a:cxn>
                <a:cxn ang="0">
                  <a:pos x="89" y="27"/>
                </a:cxn>
                <a:cxn ang="0">
                  <a:pos x="88" y="15"/>
                </a:cxn>
                <a:cxn ang="0">
                  <a:pos x="71" y="16"/>
                </a:cxn>
                <a:cxn ang="0">
                  <a:pos x="72" y="0"/>
                </a:cxn>
                <a:cxn ang="0">
                  <a:pos x="57" y="0"/>
                </a:cxn>
                <a:cxn ang="0">
                  <a:pos x="41" y="0"/>
                </a:cxn>
                <a:cxn ang="0">
                  <a:pos x="41" y="20"/>
                </a:cxn>
                <a:cxn ang="0">
                  <a:pos x="29" y="20"/>
                </a:cxn>
                <a:cxn ang="0">
                  <a:pos x="17" y="20"/>
                </a:cxn>
                <a:cxn ang="0">
                  <a:pos x="16" y="20"/>
                </a:cxn>
              </a:cxnLst>
              <a:rect l="0" t="0" r="r" b="b"/>
              <a:pathLst>
                <a:path w="91" h="109">
                  <a:moveTo>
                    <a:pt x="16" y="20"/>
                  </a:moveTo>
                  <a:lnTo>
                    <a:pt x="13" y="27"/>
                  </a:lnTo>
                  <a:lnTo>
                    <a:pt x="9" y="27"/>
                  </a:lnTo>
                  <a:lnTo>
                    <a:pt x="19" y="36"/>
                  </a:lnTo>
                  <a:lnTo>
                    <a:pt x="10" y="34"/>
                  </a:lnTo>
                  <a:lnTo>
                    <a:pt x="5" y="51"/>
                  </a:lnTo>
                  <a:lnTo>
                    <a:pt x="0" y="51"/>
                  </a:lnTo>
                  <a:lnTo>
                    <a:pt x="7" y="63"/>
                  </a:lnTo>
                  <a:lnTo>
                    <a:pt x="11" y="67"/>
                  </a:lnTo>
                  <a:lnTo>
                    <a:pt x="5" y="62"/>
                  </a:lnTo>
                  <a:lnTo>
                    <a:pt x="12" y="73"/>
                  </a:lnTo>
                  <a:lnTo>
                    <a:pt x="10" y="73"/>
                  </a:lnTo>
                  <a:lnTo>
                    <a:pt x="19" y="84"/>
                  </a:lnTo>
                  <a:lnTo>
                    <a:pt x="17" y="82"/>
                  </a:lnTo>
                  <a:lnTo>
                    <a:pt x="28" y="96"/>
                  </a:lnTo>
                  <a:lnTo>
                    <a:pt x="39" y="109"/>
                  </a:lnTo>
                  <a:lnTo>
                    <a:pt x="43" y="102"/>
                  </a:lnTo>
                  <a:lnTo>
                    <a:pt x="47" y="104"/>
                  </a:lnTo>
                  <a:lnTo>
                    <a:pt x="51" y="100"/>
                  </a:lnTo>
                  <a:lnTo>
                    <a:pt x="47" y="93"/>
                  </a:lnTo>
                  <a:lnTo>
                    <a:pt x="46" y="88"/>
                  </a:lnTo>
                  <a:lnTo>
                    <a:pt x="45" y="82"/>
                  </a:lnTo>
                  <a:lnTo>
                    <a:pt x="59" y="81"/>
                  </a:lnTo>
                  <a:lnTo>
                    <a:pt x="60" y="70"/>
                  </a:lnTo>
                  <a:lnTo>
                    <a:pt x="70" y="81"/>
                  </a:lnTo>
                  <a:lnTo>
                    <a:pt x="79" y="78"/>
                  </a:lnTo>
                  <a:lnTo>
                    <a:pt x="82" y="82"/>
                  </a:lnTo>
                  <a:lnTo>
                    <a:pt x="87" y="78"/>
                  </a:lnTo>
                  <a:lnTo>
                    <a:pt x="91" y="52"/>
                  </a:lnTo>
                  <a:lnTo>
                    <a:pt x="82" y="37"/>
                  </a:lnTo>
                  <a:lnTo>
                    <a:pt x="89" y="27"/>
                  </a:lnTo>
                  <a:lnTo>
                    <a:pt x="88" y="15"/>
                  </a:lnTo>
                  <a:lnTo>
                    <a:pt x="71" y="16"/>
                  </a:lnTo>
                  <a:lnTo>
                    <a:pt x="72" y="0"/>
                  </a:lnTo>
                  <a:lnTo>
                    <a:pt x="57" y="0"/>
                  </a:lnTo>
                  <a:lnTo>
                    <a:pt x="41" y="0"/>
                  </a:lnTo>
                  <a:lnTo>
                    <a:pt x="41" y="20"/>
                  </a:lnTo>
                  <a:lnTo>
                    <a:pt x="29" y="20"/>
                  </a:lnTo>
                  <a:lnTo>
                    <a:pt x="17" y="20"/>
                  </a:lnTo>
                  <a:lnTo>
                    <a:pt x="16" y="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8" name="Freeform 217"/>
            <p:cNvSpPr>
              <a:spLocks/>
            </p:cNvSpPr>
            <p:nvPr/>
          </p:nvSpPr>
          <p:spPr bwMode="auto">
            <a:xfrm>
              <a:off x="2647" y="2696"/>
              <a:ext cx="4" cy="9"/>
            </a:xfrm>
            <a:custGeom>
              <a:avLst/>
              <a:gdLst/>
              <a:ahLst/>
              <a:cxnLst>
                <a:cxn ang="0">
                  <a:pos x="5" y="2"/>
                </a:cxn>
                <a:cxn ang="0">
                  <a:pos x="1" y="7"/>
                </a:cxn>
                <a:cxn ang="0">
                  <a:pos x="0" y="3"/>
                </a:cxn>
                <a:cxn ang="0">
                  <a:pos x="3" y="0"/>
                </a:cxn>
                <a:cxn ang="0">
                  <a:pos x="5" y="2"/>
                </a:cxn>
              </a:cxnLst>
              <a:rect l="0" t="0" r="r" b="b"/>
              <a:pathLst>
                <a:path w="5" h="7">
                  <a:moveTo>
                    <a:pt x="5" y="2"/>
                  </a:moveTo>
                  <a:lnTo>
                    <a:pt x="1" y="7"/>
                  </a:lnTo>
                  <a:lnTo>
                    <a:pt x="0" y="3"/>
                  </a:lnTo>
                  <a:lnTo>
                    <a:pt x="3"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19" name="Freeform 218"/>
            <p:cNvSpPr>
              <a:spLocks/>
            </p:cNvSpPr>
            <p:nvPr/>
          </p:nvSpPr>
          <p:spPr bwMode="auto">
            <a:xfrm>
              <a:off x="2660" y="2672"/>
              <a:ext cx="2" cy="2"/>
            </a:xfrm>
            <a:custGeom>
              <a:avLst/>
              <a:gdLst/>
              <a:ahLst/>
              <a:cxnLst>
                <a:cxn ang="0">
                  <a:pos x="2" y="2"/>
                </a:cxn>
                <a:cxn ang="0">
                  <a:pos x="0" y="0"/>
                </a:cxn>
                <a:cxn ang="0">
                  <a:pos x="3" y="0"/>
                </a:cxn>
                <a:cxn ang="0">
                  <a:pos x="2" y="2"/>
                </a:cxn>
              </a:cxnLst>
              <a:rect l="0" t="0" r="r" b="b"/>
              <a:pathLst>
                <a:path w="3" h="2">
                  <a:moveTo>
                    <a:pt x="2" y="2"/>
                  </a:moveTo>
                  <a:lnTo>
                    <a:pt x="0" y="0"/>
                  </a:lnTo>
                  <a:lnTo>
                    <a:pt x="3" y="0"/>
                  </a:lnTo>
                  <a:lnTo>
                    <a:pt x="2"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0" name="Freeform 219"/>
            <p:cNvSpPr>
              <a:spLocks/>
            </p:cNvSpPr>
            <p:nvPr/>
          </p:nvSpPr>
          <p:spPr bwMode="auto">
            <a:xfrm>
              <a:off x="3049" y="2725"/>
              <a:ext cx="191" cy="214"/>
            </a:xfrm>
            <a:custGeom>
              <a:avLst/>
              <a:gdLst/>
              <a:ahLst/>
              <a:cxnLst>
                <a:cxn ang="0">
                  <a:pos x="131" y="42"/>
                </a:cxn>
                <a:cxn ang="0">
                  <a:pos x="129" y="36"/>
                </a:cxn>
                <a:cxn ang="0">
                  <a:pos x="115" y="26"/>
                </a:cxn>
                <a:cxn ang="0">
                  <a:pos x="101" y="18"/>
                </a:cxn>
                <a:cxn ang="0">
                  <a:pos x="86" y="8"/>
                </a:cxn>
                <a:cxn ang="0">
                  <a:pos x="71" y="0"/>
                </a:cxn>
                <a:cxn ang="0">
                  <a:pos x="57" y="0"/>
                </a:cxn>
                <a:cxn ang="0">
                  <a:pos x="44" y="0"/>
                </a:cxn>
                <a:cxn ang="0">
                  <a:pos x="30" y="1"/>
                </a:cxn>
                <a:cxn ang="0">
                  <a:pos x="17" y="1"/>
                </a:cxn>
                <a:cxn ang="0">
                  <a:pos x="23" y="23"/>
                </a:cxn>
                <a:cxn ang="0">
                  <a:pos x="18" y="25"/>
                </a:cxn>
                <a:cxn ang="0">
                  <a:pos x="18" y="34"/>
                </a:cxn>
                <a:cxn ang="0">
                  <a:pos x="21" y="40"/>
                </a:cxn>
                <a:cxn ang="0">
                  <a:pos x="12" y="50"/>
                </a:cxn>
                <a:cxn ang="0">
                  <a:pos x="3" y="62"/>
                </a:cxn>
                <a:cxn ang="0">
                  <a:pos x="0" y="62"/>
                </a:cxn>
                <a:cxn ang="0">
                  <a:pos x="0" y="76"/>
                </a:cxn>
                <a:cxn ang="0">
                  <a:pos x="1" y="89"/>
                </a:cxn>
                <a:cxn ang="0">
                  <a:pos x="6" y="103"/>
                </a:cxn>
                <a:cxn ang="0">
                  <a:pos x="13" y="116"/>
                </a:cxn>
                <a:cxn ang="0">
                  <a:pos x="20" y="128"/>
                </a:cxn>
                <a:cxn ang="0">
                  <a:pos x="20" y="132"/>
                </a:cxn>
                <a:cxn ang="0">
                  <a:pos x="37" y="142"/>
                </a:cxn>
                <a:cxn ang="0">
                  <a:pos x="54" y="151"/>
                </a:cxn>
                <a:cxn ang="0">
                  <a:pos x="69" y="154"/>
                </a:cxn>
                <a:cxn ang="0">
                  <a:pos x="75" y="157"/>
                </a:cxn>
                <a:cxn ang="0">
                  <a:pos x="80" y="175"/>
                </a:cxn>
                <a:cxn ang="0">
                  <a:pos x="85" y="190"/>
                </a:cxn>
                <a:cxn ang="0">
                  <a:pos x="91" y="190"/>
                </a:cxn>
                <a:cxn ang="0">
                  <a:pos x="101" y="188"/>
                </a:cxn>
                <a:cxn ang="0">
                  <a:pos x="119" y="192"/>
                </a:cxn>
                <a:cxn ang="0">
                  <a:pos x="131" y="187"/>
                </a:cxn>
                <a:cxn ang="0">
                  <a:pos x="139" y="186"/>
                </a:cxn>
                <a:cxn ang="0">
                  <a:pos x="155" y="179"/>
                </a:cxn>
                <a:cxn ang="0">
                  <a:pos x="171" y="170"/>
                </a:cxn>
                <a:cxn ang="0">
                  <a:pos x="161" y="160"/>
                </a:cxn>
                <a:cxn ang="0">
                  <a:pos x="158" y="142"/>
                </a:cxn>
                <a:cxn ang="0">
                  <a:pos x="156" y="128"/>
                </a:cxn>
                <a:cxn ang="0">
                  <a:pos x="155" y="122"/>
                </a:cxn>
                <a:cxn ang="0">
                  <a:pos x="158" y="106"/>
                </a:cxn>
                <a:cxn ang="0">
                  <a:pos x="147" y="90"/>
                </a:cxn>
                <a:cxn ang="0">
                  <a:pos x="155" y="66"/>
                </a:cxn>
                <a:cxn ang="0">
                  <a:pos x="143" y="54"/>
                </a:cxn>
                <a:cxn ang="0">
                  <a:pos x="131" y="42"/>
                </a:cxn>
              </a:cxnLst>
              <a:rect l="0" t="0" r="r" b="b"/>
              <a:pathLst>
                <a:path w="171" h="192">
                  <a:moveTo>
                    <a:pt x="131" y="42"/>
                  </a:moveTo>
                  <a:lnTo>
                    <a:pt x="129" y="36"/>
                  </a:lnTo>
                  <a:lnTo>
                    <a:pt x="115" y="26"/>
                  </a:lnTo>
                  <a:lnTo>
                    <a:pt x="101" y="18"/>
                  </a:lnTo>
                  <a:lnTo>
                    <a:pt x="86" y="8"/>
                  </a:lnTo>
                  <a:lnTo>
                    <a:pt x="71" y="0"/>
                  </a:lnTo>
                  <a:lnTo>
                    <a:pt x="57" y="0"/>
                  </a:lnTo>
                  <a:lnTo>
                    <a:pt x="44" y="0"/>
                  </a:lnTo>
                  <a:lnTo>
                    <a:pt x="30" y="1"/>
                  </a:lnTo>
                  <a:lnTo>
                    <a:pt x="17" y="1"/>
                  </a:lnTo>
                  <a:lnTo>
                    <a:pt x="23" y="23"/>
                  </a:lnTo>
                  <a:lnTo>
                    <a:pt x="18" y="25"/>
                  </a:lnTo>
                  <a:lnTo>
                    <a:pt x="18" y="34"/>
                  </a:lnTo>
                  <a:lnTo>
                    <a:pt x="21" y="40"/>
                  </a:lnTo>
                  <a:lnTo>
                    <a:pt x="12" y="50"/>
                  </a:lnTo>
                  <a:lnTo>
                    <a:pt x="3" y="62"/>
                  </a:lnTo>
                  <a:lnTo>
                    <a:pt x="0" y="62"/>
                  </a:lnTo>
                  <a:lnTo>
                    <a:pt x="0" y="76"/>
                  </a:lnTo>
                  <a:lnTo>
                    <a:pt x="1" y="89"/>
                  </a:lnTo>
                  <a:lnTo>
                    <a:pt x="6" y="103"/>
                  </a:lnTo>
                  <a:lnTo>
                    <a:pt x="13" y="116"/>
                  </a:lnTo>
                  <a:lnTo>
                    <a:pt x="20" y="128"/>
                  </a:lnTo>
                  <a:lnTo>
                    <a:pt x="20" y="132"/>
                  </a:lnTo>
                  <a:lnTo>
                    <a:pt x="37" y="142"/>
                  </a:lnTo>
                  <a:lnTo>
                    <a:pt x="54" y="151"/>
                  </a:lnTo>
                  <a:lnTo>
                    <a:pt x="69" y="154"/>
                  </a:lnTo>
                  <a:lnTo>
                    <a:pt x="75" y="157"/>
                  </a:lnTo>
                  <a:lnTo>
                    <a:pt x="80" y="175"/>
                  </a:lnTo>
                  <a:lnTo>
                    <a:pt x="85" y="190"/>
                  </a:lnTo>
                  <a:lnTo>
                    <a:pt x="91" y="190"/>
                  </a:lnTo>
                  <a:lnTo>
                    <a:pt x="101" y="188"/>
                  </a:lnTo>
                  <a:lnTo>
                    <a:pt x="119" y="192"/>
                  </a:lnTo>
                  <a:lnTo>
                    <a:pt x="131" y="187"/>
                  </a:lnTo>
                  <a:lnTo>
                    <a:pt x="139" y="186"/>
                  </a:lnTo>
                  <a:lnTo>
                    <a:pt x="155" y="179"/>
                  </a:lnTo>
                  <a:lnTo>
                    <a:pt x="171" y="170"/>
                  </a:lnTo>
                  <a:lnTo>
                    <a:pt x="161" y="160"/>
                  </a:lnTo>
                  <a:lnTo>
                    <a:pt x="158" y="142"/>
                  </a:lnTo>
                  <a:lnTo>
                    <a:pt x="156" y="128"/>
                  </a:lnTo>
                  <a:lnTo>
                    <a:pt x="155" y="122"/>
                  </a:lnTo>
                  <a:lnTo>
                    <a:pt x="158" y="106"/>
                  </a:lnTo>
                  <a:lnTo>
                    <a:pt x="147" y="90"/>
                  </a:lnTo>
                  <a:lnTo>
                    <a:pt x="155" y="66"/>
                  </a:lnTo>
                  <a:lnTo>
                    <a:pt x="143" y="54"/>
                  </a:lnTo>
                  <a:lnTo>
                    <a:pt x="131"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1" name="Freeform 220"/>
            <p:cNvSpPr>
              <a:spLocks/>
            </p:cNvSpPr>
            <p:nvPr/>
          </p:nvSpPr>
          <p:spPr bwMode="auto">
            <a:xfrm>
              <a:off x="3220" y="2821"/>
              <a:ext cx="7" cy="13"/>
            </a:xfrm>
            <a:custGeom>
              <a:avLst/>
              <a:gdLst/>
              <a:ahLst/>
              <a:cxnLst>
                <a:cxn ang="0">
                  <a:pos x="6" y="12"/>
                </a:cxn>
                <a:cxn ang="0">
                  <a:pos x="4" y="0"/>
                </a:cxn>
                <a:cxn ang="0">
                  <a:pos x="0" y="4"/>
                </a:cxn>
                <a:cxn ang="0">
                  <a:pos x="6" y="12"/>
                </a:cxn>
              </a:cxnLst>
              <a:rect l="0" t="0" r="r" b="b"/>
              <a:pathLst>
                <a:path w="6" h="12">
                  <a:moveTo>
                    <a:pt x="6" y="12"/>
                  </a:moveTo>
                  <a:lnTo>
                    <a:pt x="4" y="0"/>
                  </a:lnTo>
                  <a:lnTo>
                    <a:pt x="0" y="4"/>
                  </a:lnTo>
                  <a:lnTo>
                    <a:pt x="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2" name="Freeform 221"/>
            <p:cNvSpPr>
              <a:spLocks/>
            </p:cNvSpPr>
            <p:nvPr/>
          </p:nvSpPr>
          <p:spPr bwMode="auto">
            <a:xfrm>
              <a:off x="3053" y="2621"/>
              <a:ext cx="96" cy="113"/>
            </a:xfrm>
            <a:custGeom>
              <a:avLst/>
              <a:gdLst/>
              <a:ahLst/>
              <a:cxnLst>
                <a:cxn ang="0">
                  <a:pos x="77" y="15"/>
                </a:cxn>
                <a:cxn ang="0">
                  <a:pos x="70" y="0"/>
                </a:cxn>
                <a:cxn ang="0">
                  <a:pos x="63" y="9"/>
                </a:cxn>
                <a:cxn ang="0">
                  <a:pos x="45" y="9"/>
                </a:cxn>
                <a:cxn ang="0">
                  <a:pos x="37" y="11"/>
                </a:cxn>
                <a:cxn ang="0">
                  <a:pos x="34" y="9"/>
                </a:cxn>
                <a:cxn ang="0">
                  <a:pos x="22" y="10"/>
                </a:cxn>
                <a:cxn ang="0">
                  <a:pos x="21" y="14"/>
                </a:cxn>
                <a:cxn ang="0">
                  <a:pos x="19" y="29"/>
                </a:cxn>
                <a:cxn ang="0">
                  <a:pos x="28" y="38"/>
                </a:cxn>
                <a:cxn ang="0">
                  <a:pos x="17" y="48"/>
                </a:cxn>
                <a:cxn ang="0">
                  <a:pos x="7" y="60"/>
                </a:cxn>
                <a:cxn ang="0">
                  <a:pos x="4" y="81"/>
                </a:cxn>
                <a:cxn ang="0">
                  <a:pos x="0" y="101"/>
                </a:cxn>
                <a:cxn ang="0">
                  <a:pos x="5" y="101"/>
                </a:cxn>
                <a:cxn ang="0">
                  <a:pos x="15" y="95"/>
                </a:cxn>
                <a:cxn ang="0">
                  <a:pos x="28" y="95"/>
                </a:cxn>
                <a:cxn ang="0">
                  <a:pos x="42" y="94"/>
                </a:cxn>
                <a:cxn ang="0">
                  <a:pos x="55" y="94"/>
                </a:cxn>
                <a:cxn ang="0">
                  <a:pos x="69" y="94"/>
                </a:cxn>
                <a:cxn ang="0">
                  <a:pos x="69" y="75"/>
                </a:cxn>
                <a:cxn ang="0">
                  <a:pos x="79" y="57"/>
                </a:cxn>
                <a:cxn ang="0">
                  <a:pos x="87" y="42"/>
                </a:cxn>
                <a:cxn ang="0">
                  <a:pos x="82" y="28"/>
                </a:cxn>
                <a:cxn ang="0">
                  <a:pos x="77" y="15"/>
                </a:cxn>
              </a:cxnLst>
              <a:rect l="0" t="0" r="r" b="b"/>
              <a:pathLst>
                <a:path w="87" h="101">
                  <a:moveTo>
                    <a:pt x="77" y="15"/>
                  </a:moveTo>
                  <a:lnTo>
                    <a:pt x="70" y="0"/>
                  </a:lnTo>
                  <a:lnTo>
                    <a:pt x="63" y="9"/>
                  </a:lnTo>
                  <a:lnTo>
                    <a:pt x="45" y="9"/>
                  </a:lnTo>
                  <a:lnTo>
                    <a:pt x="37" y="11"/>
                  </a:lnTo>
                  <a:lnTo>
                    <a:pt x="34" y="9"/>
                  </a:lnTo>
                  <a:lnTo>
                    <a:pt x="22" y="10"/>
                  </a:lnTo>
                  <a:lnTo>
                    <a:pt x="21" y="14"/>
                  </a:lnTo>
                  <a:lnTo>
                    <a:pt x="19" y="29"/>
                  </a:lnTo>
                  <a:lnTo>
                    <a:pt x="28" y="38"/>
                  </a:lnTo>
                  <a:lnTo>
                    <a:pt x="17" y="48"/>
                  </a:lnTo>
                  <a:lnTo>
                    <a:pt x="7" y="60"/>
                  </a:lnTo>
                  <a:lnTo>
                    <a:pt x="4" y="81"/>
                  </a:lnTo>
                  <a:lnTo>
                    <a:pt x="0" y="101"/>
                  </a:lnTo>
                  <a:lnTo>
                    <a:pt x="5" y="101"/>
                  </a:lnTo>
                  <a:lnTo>
                    <a:pt x="15" y="95"/>
                  </a:lnTo>
                  <a:lnTo>
                    <a:pt x="28" y="95"/>
                  </a:lnTo>
                  <a:lnTo>
                    <a:pt x="42" y="94"/>
                  </a:lnTo>
                  <a:lnTo>
                    <a:pt x="55" y="94"/>
                  </a:lnTo>
                  <a:lnTo>
                    <a:pt x="69" y="94"/>
                  </a:lnTo>
                  <a:lnTo>
                    <a:pt x="69" y="75"/>
                  </a:lnTo>
                  <a:lnTo>
                    <a:pt x="79" y="57"/>
                  </a:lnTo>
                  <a:lnTo>
                    <a:pt x="87" y="42"/>
                  </a:lnTo>
                  <a:lnTo>
                    <a:pt x="82" y="28"/>
                  </a:lnTo>
                  <a:lnTo>
                    <a:pt x="77"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3" name="Freeform 222"/>
            <p:cNvSpPr>
              <a:spLocks/>
            </p:cNvSpPr>
            <p:nvPr/>
          </p:nvSpPr>
          <p:spPr bwMode="auto">
            <a:xfrm>
              <a:off x="2747" y="2601"/>
              <a:ext cx="335" cy="373"/>
            </a:xfrm>
            <a:custGeom>
              <a:avLst/>
              <a:gdLst/>
              <a:ahLst/>
              <a:cxnLst>
                <a:cxn ang="0">
                  <a:pos x="270" y="132"/>
                </a:cxn>
                <a:cxn ang="0">
                  <a:pos x="267" y="143"/>
                </a:cxn>
                <a:cxn ang="0">
                  <a:pos x="268" y="145"/>
                </a:cxn>
                <a:cxn ang="0">
                  <a:pos x="274" y="175"/>
                </a:cxn>
                <a:cxn ang="0">
                  <a:pos x="275" y="202"/>
                </a:cxn>
                <a:cxn ang="0">
                  <a:pos x="287" y="229"/>
                </a:cxn>
                <a:cxn ang="0">
                  <a:pos x="279" y="245"/>
                </a:cxn>
                <a:cxn ang="0">
                  <a:pos x="256" y="262"/>
                </a:cxn>
                <a:cxn ang="0">
                  <a:pos x="258" y="293"/>
                </a:cxn>
                <a:cxn ang="0">
                  <a:pos x="271" y="319"/>
                </a:cxn>
                <a:cxn ang="0">
                  <a:pos x="274" y="336"/>
                </a:cxn>
                <a:cxn ang="0">
                  <a:pos x="263" y="335"/>
                </a:cxn>
                <a:cxn ang="0">
                  <a:pos x="240" y="310"/>
                </a:cxn>
                <a:cxn ang="0">
                  <a:pos x="227" y="310"/>
                </a:cxn>
                <a:cxn ang="0">
                  <a:pos x="204" y="297"/>
                </a:cxn>
                <a:cxn ang="0">
                  <a:pos x="185" y="291"/>
                </a:cxn>
                <a:cxn ang="0">
                  <a:pos x="160" y="295"/>
                </a:cxn>
                <a:cxn ang="0">
                  <a:pos x="154" y="270"/>
                </a:cxn>
                <a:cxn ang="0">
                  <a:pos x="153" y="229"/>
                </a:cxn>
                <a:cxn ang="0">
                  <a:pos x="132" y="222"/>
                </a:cxn>
                <a:cxn ang="0">
                  <a:pos x="113" y="237"/>
                </a:cxn>
                <a:cxn ang="0">
                  <a:pos x="83" y="237"/>
                </a:cxn>
                <a:cxn ang="0">
                  <a:pos x="70" y="203"/>
                </a:cxn>
                <a:cxn ang="0">
                  <a:pos x="43" y="202"/>
                </a:cxn>
                <a:cxn ang="0">
                  <a:pos x="16" y="201"/>
                </a:cxn>
                <a:cxn ang="0">
                  <a:pos x="0" y="199"/>
                </a:cxn>
                <a:cxn ang="0">
                  <a:pos x="7" y="184"/>
                </a:cxn>
                <a:cxn ang="0">
                  <a:pos x="23" y="181"/>
                </a:cxn>
                <a:cxn ang="0">
                  <a:pos x="36" y="174"/>
                </a:cxn>
                <a:cxn ang="0">
                  <a:pos x="51" y="171"/>
                </a:cxn>
                <a:cxn ang="0">
                  <a:pos x="65" y="145"/>
                </a:cxn>
                <a:cxn ang="0">
                  <a:pos x="78" y="117"/>
                </a:cxn>
                <a:cxn ang="0">
                  <a:pos x="91" y="89"/>
                </a:cxn>
                <a:cxn ang="0">
                  <a:pos x="96" y="61"/>
                </a:cxn>
                <a:cxn ang="0">
                  <a:pos x="102" y="33"/>
                </a:cxn>
                <a:cxn ang="0">
                  <a:pos x="114" y="3"/>
                </a:cxn>
                <a:cxn ang="0">
                  <a:pos x="147" y="17"/>
                </a:cxn>
                <a:cxn ang="0">
                  <a:pos x="168" y="10"/>
                </a:cxn>
                <a:cxn ang="0">
                  <a:pos x="191" y="5"/>
                </a:cxn>
                <a:cxn ang="0">
                  <a:pos x="209" y="0"/>
                </a:cxn>
                <a:cxn ang="0">
                  <a:pos x="234" y="3"/>
                </a:cxn>
                <a:cxn ang="0">
                  <a:pos x="246" y="9"/>
                </a:cxn>
                <a:cxn ang="0">
                  <a:pos x="268" y="16"/>
                </a:cxn>
                <a:cxn ang="0">
                  <a:pos x="285" y="22"/>
                </a:cxn>
                <a:cxn ang="0">
                  <a:pos x="295" y="48"/>
                </a:cxn>
                <a:cxn ang="0">
                  <a:pos x="293" y="67"/>
                </a:cxn>
                <a:cxn ang="0">
                  <a:pos x="280" y="100"/>
                </a:cxn>
              </a:cxnLst>
              <a:rect l="0" t="0" r="r" b="b"/>
              <a:pathLst>
                <a:path w="304" h="336">
                  <a:moveTo>
                    <a:pt x="276" y="120"/>
                  </a:moveTo>
                  <a:lnTo>
                    <a:pt x="270" y="132"/>
                  </a:lnTo>
                  <a:lnTo>
                    <a:pt x="265" y="143"/>
                  </a:lnTo>
                  <a:lnTo>
                    <a:pt x="267" y="143"/>
                  </a:lnTo>
                  <a:lnTo>
                    <a:pt x="267" y="144"/>
                  </a:lnTo>
                  <a:lnTo>
                    <a:pt x="268" y="145"/>
                  </a:lnTo>
                  <a:lnTo>
                    <a:pt x="270" y="160"/>
                  </a:lnTo>
                  <a:lnTo>
                    <a:pt x="274" y="175"/>
                  </a:lnTo>
                  <a:lnTo>
                    <a:pt x="274" y="189"/>
                  </a:lnTo>
                  <a:lnTo>
                    <a:pt x="275" y="202"/>
                  </a:lnTo>
                  <a:lnTo>
                    <a:pt x="280" y="216"/>
                  </a:lnTo>
                  <a:lnTo>
                    <a:pt x="287" y="229"/>
                  </a:lnTo>
                  <a:lnTo>
                    <a:pt x="294" y="241"/>
                  </a:lnTo>
                  <a:lnTo>
                    <a:pt x="279" y="245"/>
                  </a:lnTo>
                  <a:lnTo>
                    <a:pt x="264" y="249"/>
                  </a:lnTo>
                  <a:lnTo>
                    <a:pt x="256" y="262"/>
                  </a:lnTo>
                  <a:lnTo>
                    <a:pt x="259" y="277"/>
                  </a:lnTo>
                  <a:lnTo>
                    <a:pt x="258" y="293"/>
                  </a:lnTo>
                  <a:lnTo>
                    <a:pt x="256" y="309"/>
                  </a:lnTo>
                  <a:lnTo>
                    <a:pt x="271" y="319"/>
                  </a:lnTo>
                  <a:lnTo>
                    <a:pt x="276" y="313"/>
                  </a:lnTo>
                  <a:lnTo>
                    <a:pt x="274" y="336"/>
                  </a:lnTo>
                  <a:lnTo>
                    <a:pt x="269" y="335"/>
                  </a:lnTo>
                  <a:lnTo>
                    <a:pt x="263" y="335"/>
                  </a:lnTo>
                  <a:lnTo>
                    <a:pt x="250" y="317"/>
                  </a:lnTo>
                  <a:lnTo>
                    <a:pt x="240" y="310"/>
                  </a:lnTo>
                  <a:lnTo>
                    <a:pt x="233" y="304"/>
                  </a:lnTo>
                  <a:lnTo>
                    <a:pt x="227" y="310"/>
                  </a:lnTo>
                  <a:lnTo>
                    <a:pt x="207" y="303"/>
                  </a:lnTo>
                  <a:lnTo>
                    <a:pt x="204" y="297"/>
                  </a:lnTo>
                  <a:lnTo>
                    <a:pt x="191" y="299"/>
                  </a:lnTo>
                  <a:lnTo>
                    <a:pt x="185" y="291"/>
                  </a:lnTo>
                  <a:lnTo>
                    <a:pt x="173" y="293"/>
                  </a:lnTo>
                  <a:lnTo>
                    <a:pt x="160" y="295"/>
                  </a:lnTo>
                  <a:lnTo>
                    <a:pt x="159" y="288"/>
                  </a:lnTo>
                  <a:lnTo>
                    <a:pt x="154" y="270"/>
                  </a:lnTo>
                  <a:lnTo>
                    <a:pt x="154" y="250"/>
                  </a:lnTo>
                  <a:lnTo>
                    <a:pt x="153" y="229"/>
                  </a:lnTo>
                  <a:lnTo>
                    <a:pt x="132" y="226"/>
                  </a:lnTo>
                  <a:lnTo>
                    <a:pt x="132" y="222"/>
                  </a:lnTo>
                  <a:lnTo>
                    <a:pt x="117" y="221"/>
                  </a:lnTo>
                  <a:lnTo>
                    <a:pt x="113" y="237"/>
                  </a:lnTo>
                  <a:lnTo>
                    <a:pt x="94" y="240"/>
                  </a:lnTo>
                  <a:lnTo>
                    <a:pt x="83" y="237"/>
                  </a:lnTo>
                  <a:lnTo>
                    <a:pt x="76" y="220"/>
                  </a:lnTo>
                  <a:lnTo>
                    <a:pt x="70" y="203"/>
                  </a:lnTo>
                  <a:lnTo>
                    <a:pt x="57" y="202"/>
                  </a:lnTo>
                  <a:lnTo>
                    <a:pt x="43" y="202"/>
                  </a:lnTo>
                  <a:lnTo>
                    <a:pt x="29" y="201"/>
                  </a:lnTo>
                  <a:lnTo>
                    <a:pt x="16" y="201"/>
                  </a:lnTo>
                  <a:lnTo>
                    <a:pt x="3" y="202"/>
                  </a:lnTo>
                  <a:lnTo>
                    <a:pt x="0" y="199"/>
                  </a:lnTo>
                  <a:lnTo>
                    <a:pt x="6" y="198"/>
                  </a:lnTo>
                  <a:lnTo>
                    <a:pt x="7" y="184"/>
                  </a:lnTo>
                  <a:lnTo>
                    <a:pt x="15" y="178"/>
                  </a:lnTo>
                  <a:lnTo>
                    <a:pt x="23" y="181"/>
                  </a:lnTo>
                  <a:lnTo>
                    <a:pt x="27" y="175"/>
                  </a:lnTo>
                  <a:lnTo>
                    <a:pt x="36" y="174"/>
                  </a:lnTo>
                  <a:lnTo>
                    <a:pt x="39" y="183"/>
                  </a:lnTo>
                  <a:lnTo>
                    <a:pt x="51" y="171"/>
                  </a:lnTo>
                  <a:lnTo>
                    <a:pt x="63" y="159"/>
                  </a:lnTo>
                  <a:lnTo>
                    <a:pt x="65" y="145"/>
                  </a:lnTo>
                  <a:lnTo>
                    <a:pt x="66" y="131"/>
                  </a:lnTo>
                  <a:lnTo>
                    <a:pt x="78" y="117"/>
                  </a:lnTo>
                  <a:lnTo>
                    <a:pt x="89" y="102"/>
                  </a:lnTo>
                  <a:lnTo>
                    <a:pt x="91" y="89"/>
                  </a:lnTo>
                  <a:lnTo>
                    <a:pt x="94" y="75"/>
                  </a:lnTo>
                  <a:lnTo>
                    <a:pt x="96" y="61"/>
                  </a:lnTo>
                  <a:lnTo>
                    <a:pt x="99" y="48"/>
                  </a:lnTo>
                  <a:lnTo>
                    <a:pt x="102" y="33"/>
                  </a:lnTo>
                  <a:lnTo>
                    <a:pt x="102" y="19"/>
                  </a:lnTo>
                  <a:lnTo>
                    <a:pt x="114" y="3"/>
                  </a:lnTo>
                  <a:lnTo>
                    <a:pt x="131" y="12"/>
                  </a:lnTo>
                  <a:lnTo>
                    <a:pt x="147" y="17"/>
                  </a:lnTo>
                  <a:lnTo>
                    <a:pt x="161" y="21"/>
                  </a:lnTo>
                  <a:lnTo>
                    <a:pt x="168" y="10"/>
                  </a:lnTo>
                  <a:lnTo>
                    <a:pt x="175" y="11"/>
                  </a:lnTo>
                  <a:lnTo>
                    <a:pt x="191" y="5"/>
                  </a:lnTo>
                  <a:lnTo>
                    <a:pt x="203" y="5"/>
                  </a:lnTo>
                  <a:lnTo>
                    <a:pt x="209" y="0"/>
                  </a:lnTo>
                  <a:lnTo>
                    <a:pt x="221" y="1"/>
                  </a:lnTo>
                  <a:lnTo>
                    <a:pt x="234" y="3"/>
                  </a:lnTo>
                  <a:lnTo>
                    <a:pt x="243" y="5"/>
                  </a:lnTo>
                  <a:lnTo>
                    <a:pt x="246" y="9"/>
                  </a:lnTo>
                  <a:lnTo>
                    <a:pt x="258" y="17"/>
                  </a:lnTo>
                  <a:lnTo>
                    <a:pt x="268" y="16"/>
                  </a:lnTo>
                  <a:lnTo>
                    <a:pt x="274" y="11"/>
                  </a:lnTo>
                  <a:lnTo>
                    <a:pt x="285" y="22"/>
                  </a:lnTo>
                  <a:lnTo>
                    <a:pt x="297" y="33"/>
                  </a:lnTo>
                  <a:lnTo>
                    <a:pt x="295" y="48"/>
                  </a:lnTo>
                  <a:lnTo>
                    <a:pt x="304" y="57"/>
                  </a:lnTo>
                  <a:lnTo>
                    <a:pt x="293" y="67"/>
                  </a:lnTo>
                  <a:lnTo>
                    <a:pt x="283" y="79"/>
                  </a:lnTo>
                  <a:lnTo>
                    <a:pt x="280" y="100"/>
                  </a:lnTo>
                  <a:lnTo>
                    <a:pt x="276" y="1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4" name="Freeform 223"/>
            <p:cNvSpPr>
              <a:spLocks/>
            </p:cNvSpPr>
            <p:nvPr/>
          </p:nvSpPr>
          <p:spPr bwMode="auto">
            <a:xfrm>
              <a:off x="2916" y="2867"/>
              <a:ext cx="206" cy="200"/>
            </a:xfrm>
            <a:custGeom>
              <a:avLst/>
              <a:gdLst/>
              <a:ahLst/>
              <a:cxnLst>
                <a:cxn ang="0">
                  <a:pos x="32" y="87"/>
                </a:cxn>
                <a:cxn ang="0">
                  <a:pos x="16" y="87"/>
                </a:cxn>
                <a:cxn ang="0">
                  <a:pos x="1" y="88"/>
                </a:cxn>
                <a:cxn ang="0">
                  <a:pos x="0" y="101"/>
                </a:cxn>
                <a:cxn ang="0">
                  <a:pos x="0" y="116"/>
                </a:cxn>
                <a:cxn ang="0">
                  <a:pos x="0" y="130"/>
                </a:cxn>
                <a:cxn ang="0">
                  <a:pos x="0" y="144"/>
                </a:cxn>
                <a:cxn ang="0">
                  <a:pos x="10" y="158"/>
                </a:cxn>
                <a:cxn ang="0">
                  <a:pos x="21" y="171"/>
                </a:cxn>
                <a:cxn ang="0">
                  <a:pos x="32" y="168"/>
                </a:cxn>
                <a:cxn ang="0">
                  <a:pos x="49" y="173"/>
                </a:cxn>
                <a:cxn ang="0">
                  <a:pos x="72" y="179"/>
                </a:cxn>
                <a:cxn ang="0">
                  <a:pos x="86" y="165"/>
                </a:cxn>
                <a:cxn ang="0">
                  <a:pos x="103" y="152"/>
                </a:cxn>
                <a:cxn ang="0">
                  <a:pos x="108" y="141"/>
                </a:cxn>
                <a:cxn ang="0">
                  <a:pos x="120" y="137"/>
                </a:cxn>
                <a:cxn ang="0">
                  <a:pos x="132" y="135"/>
                </a:cxn>
                <a:cxn ang="0">
                  <a:pos x="129" y="125"/>
                </a:cxn>
                <a:cxn ang="0">
                  <a:pos x="141" y="120"/>
                </a:cxn>
                <a:cxn ang="0">
                  <a:pos x="152" y="116"/>
                </a:cxn>
                <a:cxn ang="0">
                  <a:pos x="164" y="111"/>
                </a:cxn>
                <a:cxn ang="0">
                  <a:pos x="176" y="106"/>
                </a:cxn>
                <a:cxn ang="0">
                  <a:pos x="169" y="98"/>
                </a:cxn>
                <a:cxn ang="0">
                  <a:pos x="177" y="81"/>
                </a:cxn>
                <a:cxn ang="0">
                  <a:pos x="180" y="76"/>
                </a:cxn>
                <a:cxn ang="0">
                  <a:pos x="181" y="62"/>
                </a:cxn>
                <a:cxn ang="0">
                  <a:pos x="182" y="48"/>
                </a:cxn>
                <a:cxn ang="0">
                  <a:pos x="186" y="41"/>
                </a:cxn>
                <a:cxn ang="0">
                  <a:pos x="176" y="27"/>
                </a:cxn>
                <a:cxn ang="0">
                  <a:pos x="175" y="23"/>
                </a:cxn>
                <a:cxn ang="0">
                  <a:pos x="158" y="14"/>
                </a:cxn>
                <a:cxn ang="0">
                  <a:pos x="141" y="4"/>
                </a:cxn>
                <a:cxn ang="0">
                  <a:pos x="141" y="0"/>
                </a:cxn>
                <a:cxn ang="0">
                  <a:pos x="126" y="4"/>
                </a:cxn>
                <a:cxn ang="0">
                  <a:pos x="111" y="8"/>
                </a:cxn>
                <a:cxn ang="0">
                  <a:pos x="103" y="21"/>
                </a:cxn>
                <a:cxn ang="0">
                  <a:pos x="106" y="36"/>
                </a:cxn>
                <a:cxn ang="0">
                  <a:pos x="105" y="52"/>
                </a:cxn>
                <a:cxn ang="0">
                  <a:pos x="103" y="68"/>
                </a:cxn>
                <a:cxn ang="0">
                  <a:pos x="118" y="78"/>
                </a:cxn>
                <a:cxn ang="0">
                  <a:pos x="123" y="72"/>
                </a:cxn>
                <a:cxn ang="0">
                  <a:pos x="121" y="95"/>
                </a:cxn>
                <a:cxn ang="0">
                  <a:pos x="116" y="94"/>
                </a:cxn>
                <a:cxn ang="0">
                  <a:pos x="110" y="94"/>
                </a:cxn>
                <a:cxn ang="0">
                  <a:pos x="97" y="76"/>
                </a:cxn>
                <a:cxn ang="0">
                  <a:pos x="87" y="69"/>
                </a:cxn>
                <a:cxn ang="0">
                  <a:pos x="80" y="63"/>
                </a:cxn>
                <a:cxn ang="0">
                  <a:pos x="74" y="69"/>
                </a:cxn>
                <a:cxn ang="0">
                  <a:pos x="54" y="62"/>
                </a:cxn>
                <a:cxn ang="0">
                  <a:pos x="51" y="56"/>
                </a:cxn>
                <a:cxn ang="0">
                  <a:pos x="38" y="58"/>
                </a:cxn>
                <a:cxn ang="0">
                  <a:pos x="32" y="50"/>
                </a:cxn>
                <a:cxn ang="0">
                  <a:pos x="32" y="68"/>
                </a:cxn>
                <a:cxn ang="0">
                  <a:pos x="32" y="87"/>
                </a:cxn>
              </a:cxnLst>
              <a:rect l="0" t="0" r="r" b="b"/>
              <a:pathLst>
                <a:path w="186" h="179">
                  <a:moveTo>
                    <a:pt x="32" y="87"/>
                  </a:moveTo>
                  <a:lnTo>
                    <a:pt x="16" y="87"/>
                  </a:lnTo>
                  <a:lnTo>
                    <a:pt x="1" y="88"/>
                  </a:lnTo>
                  <a:lnTo>
                    <a:pt x="0" y="101"/>
                  </a:lnTo>
                  <a:lnTo>
                    <a:pt x="0" y="116"/>
                  </a:lnTo>
                  <a:lnTo>
                    <a:pt x="0" y="130"/>
                  </a:lnTo>
                  <a:lnTo>
                    <a:pt x="0" y="144"/>
                  </a:lnTo>
                  <a:lnTo>
                    <a:pt x="10" y="158"/>
                  </a:lnTo>
                  <a:lnTo>
                    <a:pt x="21" y="171"/>
                  </a:lnTo>
                  <a:lnTo>
                    <a:pt x="32" y="168"/>
                  </a:lnTo>
                  <a:lnTo>
                    <a:pt x="49" y="173"/>
                  </a:lnTo>
                  <a:lnTo>
                    <a:pt x="72" y="179"/>
                  </a:lnTo>
                  <a:lnTo>
                    <a:pt x="86" y="165"/>
                  </a:lnTo>
                  <a:lnTo>
                    <a:pt x="103" y="152"/>
                  </a:lnTo>
                  <a:lnTo>
                    <a:pt x="108" y="141"/>
                  </a:lnTo>
                  <a:lnTo>
                    <a:pt x="120" y="137"/>
                  </a:lnTo>
                  <a:lnTo>
                    <a:pt x="132" y="135"/>
                  </a:lnTo>
                  <a:lnTo>
                    <a:pt x="129" y="125"/>
                  </a:lnTo>
                  <a:lnTo>
                    <a:pt x="141" y="120"/>
                  </a:lnTo>
                  <a:lnTo>
                    <a:pt x="152" y="116"/>
                  </a:lnTo>
                  <a:lnTo>
                    <a:pt x="164" y="111"/>
                  </a:lnTo>
                  <a:lnTo>
                    <a:pt x="176" y="106"/>
                  </a:lnTo>
                  <a:lnTo>
                    <a:pt x="169" y="98"/>
                  </a:lnTo>
                  <a:lnTo>
                    <a:pt x="177" y="81"/>
                  </a:lnTo>
                  <a:lnTo>
                    <a:pt x="180" y="76"/>
                  </a:lnTo>
                  <a:lnTo>
                    <a:pt x="181" y="62"/>
                  </a:lnTo>
                  <a:lnTo>
                    <a:pt x="182" y="48"/>
                  </a:lnTo>
                  <a:lnTo>
                    <a:pt x="186" y="41"/>
                  </a:lnTo>
                  <a:lnTo>
                    <a:pt x="176" y="27"/>
                  </a:lnTo>
                  <a:lnTo>
                    <a:pt x="175" y="23"/>
                  </a:lnTo>
                  <a:lnTo>
                    <a:pt x="158" y="14"/>
                  </a:lnTo>
                  <a:lnTo>
                    <a:pt x="141" y="4"/>
                  </a:lnTo>
                  <a:lnTo>
                    <a:pt x="141" y="0"/>
                  </a:lnTo>
                  <a:lnTo>
                    <a:pt x="126" y="4"/>
                  </a:lnTo>
                  <a:lnTo>
                    <a:pt x="111" y="8"/>
                  </a:lnTo>
                  <a:lnTo>
                    <a:pt x="103" y="21"/>
                  </a:lnTo>
                  <a:lnTo>
                    <a:pt x="106" y="36"/>
                  </a:lnTo>
                  <a:lnTo>
                    <a:pt x="105" y="52"/>
                  </a:lnTo>
                  <a:lnTo>
                    <a:pt x="103" y="68"/>
                  </a:lnTo>
                  <a:lnTo>
                    <a:pt x="118" y="78"/>
                  </a:lnTo>
                  <a:lnTo>
                    <a:pt x="123" y="72"/>
                  </a:lnTo>
                  <a:lnTo>
                    <a:pt x="121" y="95"/>
                  </a:lnTo>
                  <a:lnTo>
                    <a:pt x="116" y="94"/>
                  </a:lnTo>
                  <a:lnTo>
                    <a:pt x="110" y="94"/>
                  </a:lnTo>
                  <a:lnTo>
                    <a:pt x="97" y="76"/>
                  </a:lnTo>
                  <a:lnTo>
                    <a:pt x="87" y="69"/>
                  </a:lnTo>
                  <a:lnTo>
                    <a:pt x="80" y="63"/>
                  </a:lnTo>
                  <a:lnTo>
                    <a:pt x="74" y="69"/>
                  </a:lnTo>
                  <a:lnTo>
                    <a:pt x="54" y="62"/>
                  </a:lnTo>
                  <a:lnTo>
                    <a:pt x="51" y="56"/>
                  </a:lnTo>
                  <a:lnTo>
                    <a:pt x="38" y="58"/>
                  </a:lnTo>
                  <a:lnTo>
                    <a:pt x="32" y="50"/>
                  </a:lnTo>
                  <a:lnTo>
                    <a:pt x="32" y="68"/>
                  </a:lnTo>
                  <a:lnTo>
                    <a:pt x="32"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5" name="Freeform 224"/>
            <p:cNvSpPr>
              <a:spLocks/>
            </p:cNvSpPr>
            <p:nvPr/>
          </p:nvSpPr>
          <p:spPr bwMode="auto">
            <a:xfrm>
              <a:off x="2969" y="3016"/>
              <a:ext cx="135" cy="138"/>
            </a:xfrm>
            <a:custGeom>
              <a:avLst/>
              <a:gdLst/>
              <a:ahLst/>
              <a:cxnLst>
                <a:cxn ang="0">
                  <a:pos x="60" y="116"/>
                </a:cxn>
                <a:cxn ang="0">
                  <a:pos x="56" y="113"/>
                </a:cxn>
                <a:cxn ang="0">
                  <a:pos x="42" y="107"/>
                </a:cxn>
                <a:cxn ang="0">
                  <a:pos x="37" y="92"/>
                </a:cxn>
                <a:cxn ang="0">
                  <a:pos x="33" y="86"/>
                </a:cxn>
                <a:cxn ang="0">
                  <a:pos x="30" y="83"/>
                </a:cxn>
                <a:cxn ang="0">
                  <a:pos x="19" y="74"/>
                </a:cxn>
                <a:cxn ang="0">
                  <a:pos x="9" y="56"/>
                </a:cxn>
                <a:cxn ang="0">
                  <a:pos x="0" y="38"/>
                </a:cxn>
                <a:cxn ang="0">
                  <a:pos x="23" y="44"/>
                </a:cxn>
                <a:cxn ang="0">
                  <a:pos x="37" y="30"/>
                </a:cxn>
                <a:cxn ang="0">
                  <a:pos x="54" y="17"/>
                </a:cxn>
                <a:cxn ang="0">
                  <a:pos x="59" y="6"/>
                </a:cxn>
                <a:cxn ang="0">
                  <a:pos x="71" y="2"/>
                </a:cxn>
                <a:cxn ang="0">
                  <a:pos x="83" y="0"/>
                </a:cxn>
                <a:cxn ang="0">
                  <a:pos x="83" y="7"/>
                </a:cxn>
                <a:cxn ang="0">
                  <a:pos x="90" y="6"/>
                </a:cxn>
                <a:cxn ang="0">
                  <a:pos x="105" y="13"/>
                </a:cxn>
                <a:cxn ang="0">
                  <a:pos x="121" y="19"/>
                </a:cxn>
                <a:cxn ang="0">
                  <a:pos x="121" y="41"/>
                </a:cxn>
                <a:cxn ang="0">
                  <a:pos x="117" y="56"/>
                </a:cxn>
                <a:cxn ang="0">
                  <a:pos x="120" y="73"/>
                </a:cxn>
                <a:cxn ang="0">
                  <a:pos x="114" y="89"/>
                </a:cxn>
                <a:cxn ang="0">
                  <a:pos x="110" y="103"/>
                </a:cxn>
                <a:cxn ang="0">
                  <a:pos x="101" y="113"/>
                </a:cxn>
                <a:cxn ang="0">
                  <a:pos x="91" y="122"/>
                </a:cxn>
                <a:cxn ang="0">
                  <a:pos x="75" y="120"/>
                </a:cxn>
                <a:cxn ang="0">
                  <a:pos x="61" y="117"/>
                </a:cxn>
                <a:cxn ang="0">
                  <a:pos x="60" y="116"/>
                </a:cxn>
              </a:cxnLst>
              <a:rect l="0" t="0" r="r" b="b"/>
              <a:pathLst>
                <a:path w="121" h="122">
                  <a:moveTo>
                    <a:pt x="60" y="116"/>
                  </a:moveTo>
                  <a:lnTo>
                    <a:pt x="56" y="113"/>
                  </a:lnTo>
                  <a:lnTo>
                    <a:pt x="42" y="107"/>
                  </a:lnTo>
                  <a:lnTo>
                    <a:pt x="37" y="92"/>
                  </a:lnTo>
                  <a:lnTo>
                    <a:pt x="33" y="86"/>
                  </a:lnTo>
                  <a:lnTo>
                    <a:pt x="30" y="83"/>
                  </a:lnTo>
                  <a:lnTo>
                    <a:pt x="19" y="74"/>
                  </a:lnTo>
                  <a:lnTo>
                    <a:pt x="9" y="56"/>
                  </a:lnTo>
                  <a:lnTo>
                    <a:pt x="0" y="38"/>
                  </a:lnTo>
                  <a:lnTo>
                    <a:pt x="23" y="44"/>
                  </a:lnTo>
                  <a:lnTo>
                    <a:pt x="37" y="30"/>
                  </a:lnTo>
                  <a:lnTo>
                    <a:pt x="54" y="17"/>
                  </a:lnTo>
                  <a:lnTo>
                    <a:pt x="59" y="6"/>
                  </a:lnTo>
                  <a:lnTo>
                    <a:pt x="71" y="2"/>
                  </a:lnTo>
                  <a:lnTo>
                    <a:pt x="83" y="0"/>
                  </a:lnTo>
                  <a:lnTo>
                    <a:pt x="83" y="7"/>
                  </a:lnTo>
                  <a:lnTo>
                    <a:pt x="90" y="6"/>
                  </a:lnTo>
                  <a:lnTo>
                    <a:pt x="105" y="13"/>
                  </a:lnTo>
                  <a:lnTo>
                    <a:pt x="121" y="19"/>
                  </a:lnTo>
                  <a:lnTo>
                    <a:pt x="121" y="41"/>
                  </a:lnTo>
                  <a:lnTo>
                    <a:pt x="117" y="56"/>
                  </a:lnTo>
                  <a:lnTo>
                    <a:pt x="120" y="73"/>
                  </a:lnTo>
                  <a:lnTo>
                    <a:pt x="114" y="89"/>
                  </a:lnTo>
                  <a:lnTo>
                    <a:pt x="110" y="103"/>
                  </a:lnTo>
                  <a:lnTo>
                    <a:pt x="101" y="113"/>
                  </a:lnTo>
                  <a:lnTo>
                    <a:pt x="91" y="122"/>
                  </a:lnTo>
                  <a:lnTo>
                    <a:pt x="75" y="120"/>
                  </a:lnTo>
                  <a:lnTo>
                    <a:pt x="61" y="117"/>
                  </a:lnTo>
                  <a:lnTo>
                    <a:pt x="60" y="1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6" name="Freeform 225"/>
            <p:cNvSpPr>
              <a:spLocks/>
            </p:cNvSpPr>
            <p:nvPr/>
          </p:nvSpPr>
          <p:spPr bwMode="auto">
            <a:xfrm>
              <a:off x="920" y="2705"/>
              <a:ext cx="9" cy="18"/>
            </a:xfrm>
            <a:custGeom>
              <a:avLst/>
              <a:gdLst/>
              <a:ahLst/>
              <a:cxnLst>
                <a:cxn ang="0">
                  <a:pos x="0" y="0"/>
                </a:cxn>
                <a:cxn ang="0">
                  <a:pos x="5" y="10"/>
                </a:cxn>
                <a:cxn ang="0">
                  <a:pos x="0" y="16"/>
                </a:cxn>
                <a:cxn ang="0">
                  <a:pos x="10" y="17"/>
                </a:cxn>
                <a:cxn ang="0">
                  <a:pos x="4" y="0"/>
                </a:cxn>
                <a:cxn ang="0">
                  <a:pos x="0" y="0"/>
                </a:cxn>
              </a:cxnLst>
              <a:rect l="0" t="0" r="r" b="b"/>
              <a:pathLst>
                <a:path w="10" h="17">
                  <a:moveTo>
                    <a:pt x="0" y="0"/>
                  </a:moveTo>
                  <a:lnTo>
                    <a:pt x="5" y="10"/>
                  </a:lnTo>
                  <a:lnTo>
                    <a:pt x="0" y="16"/>
                  </a:lnTo>
                  <a:lnTo>
                    <a:pt x="10" y="17"/>
                  </a:lnTo>
                  <a:lnTo>
                    <a:pt x="4" y="0"/>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7" name="Freeform 226"/>
            <p:cNvSpPr>
              <a:spLocks/>
            </p:cNvSpPr>
            <p:nvPr/>
          </p:nvSpPr>
          <p:spPr bwMode="auto">
            <a:xfrm>
              <a:off x="936" y="2716"/>
              <a:ext cx="7" cy="3"/>
            </a:xfrm>
            <a:custGeom>
              <a:avLst/>
              <a:gdLst/>
              <a:ahLst/>
              <a:cxnLst>
                <a:cxn ang="0">
                  <a:pos x="6" y="1"/>
                </a:cxn>
                <a:cxn ang="0">
                  <a:pos x="4" y="1"/>
                </a:cxn>
                <a:cxn ang="0">
                  <a:pos x="0" y="0"/>
                </a:cxn>
                <a:cxn ang="0">
                  <a:pos x="6" y="1"/>
                </a:cxn>
              </a:cxnLst>
              <a:rect l="0" t="0" r="r" b="b"/>
              <a:pathLst>
                <a:path w="6" h="1">
                  <a:moveTo>
                    <a:pt x="6" y="1"/>
                  </a:moveTo>
                  <a:lnTo>
                    <a:pt x="4" y="1"/>
                  </a:lnTo>
                  <a:lnTo>
                    <a:pt x="0" y="0"/>
                  </a:lnTo>
                  <a:lnTo>
                    <a:pt x="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8" name="Freeform 227"/>
            <p:cNvSpPr>
              <a:spLocks/>
            </p:cNvSpPr>
            <p:nvPr/>
          </p:nvSpPr>
          <p:spPr bwMode="auto">
            <a:xfrm>
              <a:off x="1134" y="2516"/>
              <a:ext cx="40" cy="45"/>
            </a:xfrm>
            <a:custGeom>
              <a:avLst/>
              <a:gdLst/>
              <a:ahLst/>
              <a:cxnLst>
                <a:cxn ang="0">
                  <a:pos x="21" y="22"/>
                </a:cxn>
                <a:cxn ang="0">
                  <a:pos x="27" y="22"/>
                </a:cxn>
                <a:cxn ang="0">
                  <a:pos x="25" y="19"/>
                </a:cxn>
                <a:cxn ang="0">
                  <a:pos x="21" y="18"/>
                </a:cxn>
                <a:cxn ang="0">
                  <a:pos x="16" y="13"/>
                </a:cxn>
                <a:cxn ang="0">
                  <a:pos x="5" y="8"/>
                </a:cxn>
                <a:cxn ang="0">
                  <a:pos x="0" y="4"/>
                </a:cxn>
                <a:cxn ang="0">
                  <a:pos x="0" y="0"/>
                </a:cxn>
                <a:cxn ang="0">
                  <a:pos x="15" y="1"/>
                </a:cxn>
                <a:cxn ang="0">
                  <a:pos x="25" y="8"/>
                </a:cxn>
                <a:cxn ang="0">
                  <a:pos x="36" y="14"/>
                </a:cxn>
                <a:cxn ang="0">
                  <a:pos x="36" y="28"/>
                </a:cxn>
                <a:cxn ang="0">
                  <a:pos x="30" y="33"/>
                </a:cxn>
                <a:cxn ang="0">
                  <a:pos x="27" y="40"/>
                </a:cxn>
                <a:cxn ang="0">
                  <a:pos x="23" y="34"/>
                </a:cxn>
                <a:cxn ang="0">
                  <a:pos x="21" y="22"/>
                </a:cxn>
              </a:cxnLst>
              <a:rect l="0" t="0" r="r" b="b"/>
              <a:pathLst>
                <a:path w="36" h="40">
                  <a:moveTo>
                    <a:pt x="21" y="22"/>
                  </a:moveTo>
                  <a:lnTo>
                    <a:pt x="27" y="22"/>
                  </a:lnTo>
                  <a:lnTo>
                    <a:pt x="25" y="19"/>
                  </a:lnTo>
                  <a:lnTo>
                    <a:pt x="21" y="18"/>
                  </a:lnTo>
                  <a:lnTo>
                    <a:pt x="16" y="13"/>
                  </a:lnTo>
                  <a:lnTo>
                    <a:pt x="5" y="8"/>
                  </a:lnTo>
                  <a:lnTo>
                    <a:pt x="0" y="4"/>
                  </a:lnTo>
                  <a:lnTo>
                    <a:pt x="0" y="0"/>
                  </a:lnTo>
                  <a:lnTo>
                    <a:pt x="15" y="1"/>
                  </a:lnTo>
                  <a:lnTo>
                    <a:pt x="25" y="8"/>
                  </a:lnTo>
                  <a:lnTo>
                    <a:pt x="36" y="14"/>
                  </a:lnTo>
                  <a:lnTo>
                    <a:pt x="36" y="28"/>
                  </a:lnTo>
                  <a:lnTo>
                    <a:pt x="30" y="33"/>
                  </a:lnTo>
                  <a:lnTo>
                    <a:pt x="27" y="40"/>
                  </a:lnTo>
                  <a:lnTo>
                    <a:pt x="23" y="34"/>
                  </a:lnTo>
                  <a:lnTo>
                    <a:pt x="21" y="2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29" name="Freeform 228"/>
            <p:cNvSpPr>
              <a:spLocks/>
            </p:cNvSpPr>
            <p:nvPr/>
          </p:nvSpPr>
          <p:spPr bwMode="auto">
            <a:xfrm>
              <a:off x="1569" y="2590"/>
              <a:ext cx="53" cy="73"/>
            </a:xfrm>
            <a:custGeom>
              <a:avLst/>
              <a:gdLst/>
              <a:ahLst/>
              <a:cxnLst>
                <a:cxn ang="0">
                  <a:pos x="36" y="18"/>
                </a:cxn>
                <a:cxn ang="0">
                  <a:pos x="21" y="3"/>
                </a:cxn>
                <a:cxn ang="0">
                  <a:pos x="11" y="0"/>
                </a:cxn>
                <a:cxn ang="0">
                  <a:pos x="7" y="7"/>
                </a:cxn>
                <a:cxn ang="0">
                  <a:pos x="2" y="21"/>
                </a:cxn>
                <a:cxn ang="0">
                  <a:pos x="8" y="44"/>
                </a:cxn>
                <a:cxn ang="0">
                  <a:pos x="0" y="61"/>
                </a:cxn>
                <a:cxn ang="0">
                  <a:pos x="9" y="63"/>
                </a:cxn>
                <a:cxn ang="0">
                  <a:pos x="25" y="65"/>
                </a:cxn>
                <a:cxn ang="0">
                  <a:pos x="36" y="48"/>
                </a:cxn>
                <a:cxn ang="0">
                  <a:pos x="47" y="31"/>
                </a:cxn>
                <a:cxn ang="0">
                  <a:pos x="42" y="20"/>
                </a:cxn>
                <a:cxn ang="0">
                  <a:pos x="42" y="24"/>
                </a:cxn>
                <a:cxn ang="0">
                  <a:pos x="36" y="18"/>
                </a:cxn>
              </a:cxnLst>
              <a:rect l="0" t="0" r="r" b="b"/>
              <a:pathLst>
                <a:path w="47" h="65">
                  <a:moveTo>
                    <a:pt x="36" y="18"/>
                  </a:moveTo>
                  <a:lnTo>
                    <a:pt x="21" y="3"/>
                  </a:lnTo>
                  <a:lnTo>
                    <a:pt x="11" y="0"/>
                  </a:lnTo>
                  <a:lnTo>
                    <a:pt x="7" y="7"/>
                  </a:lnTo>
                  <a:lnTo>
                    <a:pt x="2" y="21"/>
                  </a:lnTo>
                  <a:lnTo>
                    <a:pt x="8" y="44"/>
                  </a:lnTo>
                  <a:lnTo>
                    <a:pt x="0" y="61"/>
                  </a:lnTo>
                  <a:lnTo>
                    <a:pt x="9" y="63"/>
                  </a:lnTo>
                  <a:lnTo>
                    <a:pt x="25" y="65"/>
                  </a:lnTo>
                  <a:lnTo>
                    <a:pt x="36" y="48"/>
                  </a:lnTo>
                  <a:lnTo>
                    <a:pt x="47" y="31"/>
                  </a:lnTo>
                  <a:lnTo>
                    <a:pt x="42" y="20"/>
                  </a:lnTo>
                  <a:lnTo>
                    <a:pt x="42" y="24"/>
                  </a:lnTo>
                  <a:lnTo>
                    <a:pt x="36"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0" name="Freeform 229"/>
            <p:cNvSpPr>
              <a:spLocks/>
            </p:cNvSpPr>
            <p:nvPr/>
          </p:nvSpPr>
          <p:spPr bwMode="auto">
            <a:xfrm>
              <a:off x="1140" y="2459"/>
              <a:ext cx="214" cy="331"/>
            </a:xfrm>
            <a:custGeom>
              <a:avLst/>
              <a:gdLst/>
              <a:ahLst/>
              <a:cxnLst>
                <a:cxn ang="0">
                  <a:pos x="76" y="28"/>
                </a:cxn>
                <a:cxn ang="0">
                  <a:pos x="69" y="25"/>
                </a:cxn>
                <a:cxn ang="0">
                  <a:pos x="56" y="53"/>
                </a:cxn>
                <a:cxn ang="0">
                  <a:pos x="35" y="79"/>
                </a:cxn>
                <a:cxn ang="0">
                  <a:pos x="29" y="66"/>
                </a:cxn>
                <a:cxn ang="0">
                  <a:pos x="23" y="85"/>
                </a:cxn>
                <a:cxn ang="0">
                  <a:pos x="24" y="100"/>
                </a:cxn>
                <a:cxn ang="0">
                  <a:pos x="24" y="124"/>
                </a:cxn>
                <a:cxn ang="0">
                  <a:pos x="27" y="150"/>
                </a:cxn>
                <a:cxn ang="0">
                  <a:pos x="18" y="173"/>
                </a:cxn>
                <a:cxn ang="0">
                  <a:pos x="5" y="187"/>
                </a:cxn>
                <a:cxn ang="0">
                  <a:pos x="2" y="197"/>
                </a:cxn>
                <a:cxn ang="0">
                  <a:pos x="24" y="215"/>
                </a:cxn>
                <a:cxn ang="0">
                  <a:pos x="58" y="224"/>
                </a:cxn>
                <a:cxn ang="0">
                  <a:pos x="68" y="232"/>
                </a:cxn>
                <a:cxn ang="0">
                  <a:pos x="89" y="254"/>
                </a:cxn>
                <a:cxn ang="0">
                  <a:pos x="112" y="263"/>
                </a:cxn>
                <a:cxn ang="0">
                  <a:pos x="140" y="269"/>
                </a:cxn>
                <a:cxn ang="0">
                  <a:pos x="143" y="298"/>
                </a:cxn>
                <a:cxn ang="0">
                  <a:pos x="150" y="247"/>
                </a:cxn>
                <a:cxn ang="0">
                  <a:pos x="141" y="211"/>
                </a:cxn>
                <a:cxn ang="0">
                  <a:pos x="155" y="206"/>
                </a:cxn>
                <a:cxn ang="0">
                  <a:pos x="144" y="191"/>
                </a:cxn>
                <a:cxn ang="0">
                  <a:pos x="171" y="191"/>
                </a:cxn>
                <a:cxn ang="0">
                  <a:pos x="173" y="191"/>
                </a:cxn>
                <a:cxn ang="0">
                  <a:pos x="188" y="199"/>
                </a:cxn>
                <a:cxn ang="0">
                  <a:pos x="188" y="186"/>
                </a:cxn>
                <a:cxn ang="0">
                  <a:pos x="184" y="163"/>
                </a:cxn>
                <a:cxn ang="0">
                  <a:pos x="180" y="126"/>
                </a:cxn>
                <a:cxn ang="0">
                  <a:pos x="171" y="112"/>
                </a:cxn>
                <a:cxn ang="0">
                  <a:pos x="143" y="96"/>
                </a:cxn>
                <a:cxn ang="0">
                  <a:pos x="118" y="95"/>
                </a:cxn>
                <a:cxn ang="0">
                  <a:pos x="107" y="78"/>
                </a:cxn>
                <a:cxn ang="0">
                  <a:pos x="93" y="58"/>
                </a:cxn>
                <a:cxn ang="0">
                  <a:pos x="108" y="28"/>
                </a:cxn>
                <a:cxn ang="0">
                  <a:pos x="128" y="10"/>
                </a:cxn>
                <a:cxn ang="0">
                  <a:pos x="119" y="1"/>
                </a:cxn>
                <a:cxn ang="0">
                  <a:pos x="90" y="19"/>
                </a:cxn>
              </a:cxnLst>
              <a:rect l="0" t="0" r="r" b="b"/>
              <a:pathLst>
                <a:path w="191" h="298">
                  <a:moveTo>
                    <a:pt x="81" y="20"/>
                  </a:moveTo>
                  <a:lnTo>
                    <a:pt x="76" y="28"/>
                  </a:lnTo>
                  <a:lnTo>
                    <a:pt x="77" y="25"/>
                  </a:lnTo>
                  <a:lnTo>
                    <a:pt x="69" y="25"/>
                  </a:lnTo>
                  <a:lnTo>
                    <a:pt x="57" y="40"/>
                  </a:lnTo>
                  <a:lnTo>
                    <a:pt x="56" y="53"/>
                  </a:lnTo>
                  <a:lnTo>
                    <a:pt x="38" y="70"/>
                  </a:lnTo>
                  <a:lnTo>
                    <a:pt x="35" y="79"/>
                  </a:lnTo>
                  <a:lnTo>
                    <a:pt x="33" y="71"/>
                  </a:lnTo>
                  <a:lnTo>
                    <a:pt x="29" y="66"/>
                  </a:lnTo>
                  <a:lnTo>
                    <a:pt x="29" y="80"/>
                  </a:lnTo>
                  <a:lnTo>
                    <a:pt x="23" y="85"/>
                  </a:lnTo>
                  <a:lnTo>
                    <a:pt x="20" y="92"/>
                  </a:lnTo>
                  <a:lnTo>
                    <a:pt x="24" y="100"/>
                  </a:lnTo>
                  <a:lnTo>
                    <a:pt x="28" y="116"/>
                  </a:lnTo>
                  <a:lnTo>
                    <a:pt x="24" y="124"/>
                  </a:lnTo>
                  <a:lnTo>
                    <a:pt x="26" y="137"/>
                  </a:lnTo>
                  <a:lnTo>
                    <a:pt x="27" y="150"/>
                  </a:lnTo>
                  <a:lnTo>
                    <a:pt x="29" y="152"/>
                  </a:lnTo>
                  <a:lnTo>
                    <a:pt x="18" y="173"/>
                  </a:lnTo>
                  <a:lnTo>
                    <a:pt x="9" y="178"/>
                  </a:lnTo>
                  <a:lnTo>
                    <a:pt x="5" y="187"/>
                  </a:lnTo>
                  <a:lnTo>
                    <a:pt x="0" y="190"/>
                  </a:lnTo>
                  <a:lnTo>
                    <a:pt x="2" y="197"/>
                  </a:lnTo>
                  <a:lnTo>
                    <a:pt x="15" y="206"/>
                  </a:lnTo>
                  <a:lnTo>
                    <a:pt x="24" y="215"/>
                  </a:lnTo>
                  <a:lnTo>
                    <a:pt x="40" y="215"/>
                  </a:lnTo>
                  <a:lnTo>
                    <a:pt x="58" y="224"/>
                  </a:lnTo>
                  <a:lnTo>
                    <a:pt x="59" y="223"/>
                  </a:lnTo>
                  <a:lnTo>
                    <a:pt x="68" y="232"/>
                  </a:lnTo>
                  <a:lnTo>
                    <a:pt x="77" y="240"/>
                  </a:lnTo>
                  <a:lnTo>
                    <a:pt x="89" y="254"/>
                  </a:lnTo>
                  <a:lnTo>
                    <a:pt x="92" y="263"/>
                  </a:lnTo>
                  <a:lnTo>
                    <a:pt x="112" y="263"/>
                  </a:lnTo>
                  <a:lnTo>
                    <a:pt x="124" y="264"/>
                  </a:lnTo>
                  <a:lnTo>
                    <a:pt x="140" y="269"/>
                  </a:lnTo>
                  <a:lnTo>
                    <a:pt x="134" y="290"/>
                  </a:lnTo>
                  <a:lnTo>
                    <a:pt x="143" y="298"/>
                  </a:lnTo>
                  <a:lnTo>
                    <a:pt x="147" y="272"/>
                  </a:lnTo>
                  <a:lnTo>
                    <a:pt x="150" y="247"/>
                  </a:lnTo>
                  <a:lnTo>
                    <a:pt x="144" y="228"/>
                  </a:lnTo>
                  <a:lnTo>
                    <a:pt x="141" y="211"/>
                  </a:lnTo>
                  <a:lnTo>
                    <a:pt x="152" y="211"/>
                  </a:lnTo>
                  <a:lnTo>
                    <a:pt x="155" y="206"/>
                  </a:lnTo>
                  <a:lnTo>
                    <a:pt x="147" y="203"/>
                  </a:lnTo>
                  <a:lnTo>
                    <a:pt x="144" y="191"/>
                  </a:lnTo>
                  <a:lnTo>
                    <a:pt x="158" y="191"/>
                  </a:lnTo>
                  <a:lnTo>
                    <a:pt x="171" y="191"/>
                  </a:lnTo>
                  <a:lnTo>
                    <a:pt x="170" y="188"/>
                  </a:lnTo>
                  <a:lnTo>
                    <a:pt x="173" y="191"/>
                  </a:lnTo>
                  <a:lnTo>
                    <a:pt x="183" y="184"/>
                  </a:lnTo>
                  <a:lnTo>
                    <a:pt x="188" y="199"/>
                  </a:lnTo>
                  <a:lnTo>
                    <a:pt x="191" y="200"/>
                  </a:lnTo>
                  <a:lnTo>
                    <a:pt x="188" y="186"/>
                  </a:lnTo>
                  <a:lnTo>
                    <a:pt x="179" y="172"/>
                  </a:lnTo>
                  <a:lnTo>
                    <a:pt x="184" y="163"/>
                  </a:lnTo>
                  <a:lnTo>
                    <a:pt x="177" y="140"/>
                  </a:lnTo>
                  <a:lnTo>
                    <a:pt x="180" y="126"/>
                  </a:lnTo>
                  <a:lnTo>
                    <a:pt x="184" y="110"/>
                  </a:lnTo>
                  <a:lnTo>
                    <a:pt x="171" y="112"/>
                  </a:lnTo>
                  <a:lnTo>
                    <a:pt x="156" y="113"/>
                  </a:lnTo>
                  <a:lnTo>
                    <a:pt x="143" y="96"/>
                  </a:lnTo>
                  <a:lnTo>
                    <a:pt x="130" y="96"/>
                  </a:lnTo>
                  <a:lnTo>
                    <a:pt x="118" y="95"/>
                  </a:lnTo>
                  <a:lnTo>
                    <a:pt x="107" y="89"/>
                  </a:lnTo>
                  <a:lnTo>
                    <a:pt x="107" y="78"/>
                  </a:lnTo>
                  <a:lnTo>
                    <a:pt x="99" y="58"/>
                  </a:lnTo>
                  <a:lnTo>
                    <a:pt x="93" y="58"/>
                  </a:lnTo>
                  <a:lnTo>
                    <a:pt x="100" y="42"/>
                  </a:lnTo>
                  <a:lnTo>
                    <a:pt x="108" y="28"/>
                  </a:lnTo>
                  <a:lnTo>
                    <a:pt x="117" y="12"/>
                  </a:lnTo>
                  <a:lnTo>
                    <a:pt x="128" y="10"/>
                  </a:lnTo>
                  <a:lnTo>
                    <a:pt x="130" y="0"/>
                  </a:lnTo>
                  <a:lnTo>
                    <a:pt x="119" y="1"/>
                  </a:lnTo>
                  <a:lnTo>
                    <a:pt x="105" y="11"/>
                  </a:lnTo>
                  <a:lnTo>
                    <a:pt x="90" y="19"/>
                  </a:lnTo>
                  <a:lnTo>
                    <a:pt x="81" y="2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1" name="Freeform 230"/>
            <p:cNvSpPr>
              <a:spLocks/>
            </p:cNvSpPr>
            <p:nvPr/>
          </p:nvSpPr>
          <p:spPr bwMode="auto">
            <a:xfrm>
              <a:off x="1454" y="2534"/>
              <a:ext cx="82" cy="145"/>
            </a:xfrm>
            <a:custGeom>
              <a:avLst/>
              <a:gdLst/>
              <a:ahLst/>
              <a:cxnLst>
                <a:cxn ang="0">
                  <a:pos x="60" y="94"/>
                </a:cxn>
                <a:cxn ang="0">
                  <a:pos x="53" y="84"/>
                </a:cxn>
                <a:cxn ang="0">
                  <a:pos x="54" y="69"/>
                </a:cxn>
                <a:cxn ang="0">
                  <a:pos x="61" y="64"/>
                </a:cxn>
                <a:cxn ang="0">
                  <a:pos x="64" y="56"/>
                </a:cxn>
                <a:cxn ang="0">
                  <a:pos x="64" y="41"/>
                </a:cxn>
                <a:cxn ang="0">
                  <a:pos x="47" y="30"/>
                </a:cxn>
                <a:cxn ang="0">
                  <a:pos x="43" y="38"/>
                </a:cxn>
                <a:cxn ang="0">
                  <a:pos x="45" y="20"/>
                </a:cxn>
                <a:cxn ang="0">
                  <a:pos x="35" y="12"/>
                </a:cxn>
                <a:cxn ang="0">
                  <a:pos x="27" y="4"/>
                </a:cxn>
                <a:cxn ang="0">
                  <a:pos x="30" y="6"/>
                </a:cxn>
                <a:cxn ang="0">
                  <a:pos x="23" y="0"/>
                </a:cxn>
                <a:cxn ang="0">
                  <a:pos x="25" y="5"/>
                </a:cxn>
                <a:cxn ang="0">
                  <a:pos x="11" y="18"/>
                </a:cxn>
                <a:cxn ang="0">
                  <a:pos x="17" y="26"/>
                </a:cxn>
                <a:cxn ang="0">
                  <a:pos x="6" y="33"/>
                </a:cxn>
                <a:cxn ang="0">
                  <a:pos x="0" y="46"/>
                </a:cxn>
                <a:cxn ang="0">
                  <a:pos x="9" y="60"/>
                </a:cxn>
                <a:cxn ang="0">
                  <a:pos x="18" y="60"/>
                </a:cxn>
                <a:cxn ang="0">
                  <a:pos x="19" y="70"/>
                </a:cxn>
                <a:cxn ang="0">
                  <a:pos x="27" y="80"/>
                </a:cxn>
                <a:cxn ang="0">
                  <a:pos x="22" y="95"/>
                </a:cxn>
                <a:cxn ang="0">
                  <a:pos x="24" y="117"/>
                </a:cxn>
                <a:cxn ang="0">
                  <a:pos x="34" y="130"/>
                </a:cxn>
                <a:cxn ang="0">
                  <a:pos x="43" y="130"/>
                </a:cxn>
                <a:cxn ang="0">
                  <a:pos x="59" y="122"/>
                </a:cxn>
                <a:cxn ang="0">
                  <a:pos x="76" y="119"/>
                </a:cxn>
                <a:cxn ang="0">
                  <a:pos x="69" y="106"/>
                </a:cxn>
                <a:cxn ang="0">
                  <a:pos x="60" y="94"/>
                </a:cxn>
              </a:cxnLst>
              <a:rect l="0" t="0" r="r" b="b"/>
              <a:pathLst>
                <a:path w="76" h="130">
                  <a:moveTo>
                    <a:pt x="60" y="94"/>
                  </a:moveTo>
                  <a:lnTo>
                    <a:pt x="53" y="84"/>
                  </a:lnTo>
                  <a:lnTo>
                    <a:pt x="54" y="69"/>
                  </a:lnTo>
                  <a:lnTo>
                    <a:pt x="61" y="64"/>
                  </a:lnTo>
                  <a:lnTo>
                    <a:pt x="64" y="56"/>
                  </a:lnTo>
                  <a:lnTo>
                    <a:pt x="64" y="41"/>
                  </a:lnTo>
                  <a:lnTo>
                    <a:pt x="47" y="30"/>
                  </a:lnTo>
                  <a:lnTo>
                    <a:pt x="43" y="38"/>
                  </a:lnTo>
                  <a:lnTo>
                    <a:pt x="45" y="20"/>
                  </a:lnTo>
                  <a:lnTo>
                    <a:pt x="35" y="12"/>
                  </a:lnTo>
                  <a:lnTo>
                    <a:pt x="27" y="4"/>
                  </a:lnTo>
                  <a:lnTo>
                    <a:pt x="30" y="6"/>
                  </a:lnTo>
                  <a:lnTo>
                    <a:pt x="23" y="0"/>
                  </a:lnTo>
                  <a:lnTo>
                    <a:pt x="25" y="5"/>
                  </a:lnTo>
                  <a:lnTo>
                    <a:pt x="11" y="18"/>
                  </a:lnTo>
                  <a:lnTo>
                    <a:pt x="17" y="26"/>
                  </a:lnTo>
                  <a:lnTo>
                    <a:pt x="6" y="33"/>
                  </a:lnTo>
                  <a:lnTo>
                    <a:pt x="0" y="46"/>
                  </a:lnTo>
                  <a:lnTo>
                    <a:pt x="9" y="60"/>
                  </a:lnTo>
                  <a:lnTo>
                    <a:pt x="18" y="60"/>
                  </a:lnTo>
                  <a:lnTo>
                    <a:pt x="19" y="70"/>
                  </a:lnTo>
                  <a:lnTo>
                    <a:pt x="27" y="80"/>
                  </a:lnTo>
                  <a:lnTo>
                    <a:pt x="22" y="95"/>
                  </a:lnTo>
                  <a:lnTo>
                    <a:pt x="24" y="117"/>
                  </a:lnTo>
                  <a:lnTo>
                    <a:pt x="34" y="130"/>
                  </a:lnTo>
                  <a:lnTo>
                    <a:pt x="43" y="130"/>
                  </a:lnTo>
                  <a:lnTo>
                    <a:pt x="59" y="122"/>
                  </a:lnTo>
                  <a:lnTo>
                    <a:pt x="76" y="119"/>
                  </a:lnTo>
                  <a:lnTo>
                    <a:pt x="69" y="106"/>
                  </a:lnTo>
                  <a:lnTo>
                    <a:pt x="60" y="9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2" name="Freeform 231"/>
            <p:cNvSpPr>
              <a:spLocks/>
            </p:cNvSpPr>
            <p:nvPr/>
          </p:nvSpPr>
          <p:spPr bwMode="auto">
            <a:xfrm>
              <a:off x="1511" y="2587"/>
              <a:ext cx="69" cy="83"/>
            </a:xfrm>
            <a:custGeom>
              <a:avLst/>
              <a:gdLst/>
              <a:ahLst/>
              <a:cxnLst>
                <a:cxn ang="0">
                  <a:pos x="7" y="46"/>
                </a:cxn>
                <a:cxn ang="0">
                  <a:pos x="0" y="36"/>
                </a:cxn>
                <a:cxn ang="0">
                  <a:pos x="1" y="21"/>
                </a:cxn>
                <a:cxn ang="0">
                  <a:pos x="8" y="16"/>
                </a:cxn>
                <a:cxn ang="0">
                  <a:pos x="11" y="8"/>
                </a:cxn>
                <a:cxn ang="0">
                  <a:pos x="14" y="0"/>
                </a:cxn>
                <a:cxn ang="0">
                  <a:pos x="32" y="2"/>
                </a:cxn>
                <a:cxn ang="0">
                  <a:pos x="47" y="0"/>
                </a:cxn>
                <a:cxn ang="0">
                  <a:pos x="61" y="2"/>
                </a:cxn>
                <a:cxn ang="0">
                  <a:pos x="60" y="10"/>
                </a:cxn>
                <a:cxn ang="0">
                  <a:pos x="55" y="24"/>
                </a:cxn>
                <a:cxn ang="0">
                  <a:pos x="61" y="47"/>
                </a:cxn>
                <a:cxn ang="0">
                  <a:pos x="53" y="64"/>
                </a:cxn>
                <a:cxn ang="0">
                  <a:pos x="43" y="60"/>
                </a:cxn>
                <a:cxn ang="0">
                  <a:pos x="29" y="64"/>
                </a:cxn>
                <a:cxn ang="0">
                  <a:pos x="30" y="74"/>
                </a:cxn>
                <a:cxn ang="0">
                  <a:pos x="23" y="71"/>
                </a:cxn>
                <a:cxn ang="0">
                  <a:pos x="16" y="58"/>
                </a:cxn>
                <a:cxn ang="0">
                  <a:pos x="7" y="46"/>
                </a:cxn>
              </a:cxnLst>
              <a:rect l="0" t="0" r="r" b="b"/>
              <a:pathLst>
                <a:path w="61" h="74">
                  <a:moveTo>
                    <a:pt x="7" y="46"/>
                  </a:moveTo>
                  <a:lnTo>
                    <a:pt x="0" y="36"/>
                  </a:lnTo>
                  <a:lnTo>
                    <a:pt x="1" y="21"/>
                  </a:lnTo>
                  <a:lnTo>
                    <a:pt x="8" y="16"/>
                  </a:lnTo>
                  <a:lnTo>
                    <a:pt x="11" y="8"/>
                  </a:lnTo>
                  <a:lnTo>
                    <a:pt x="14" y="0"/>
                  </a:lnTo>
                  <a:lnTo>
                    <a:pt x="32" y="2"/>
                  </a:lnTo>
                  <a:lnTo>
                    <a:pt x="47" y="0"/>
                  </a:lnTo>
                  <a:lnTo>
                    <a:pt x="61" y="2"/>
                  </a:lnTo>
                  <a:lnTo>
                    <a:pt x="60" y="10"/>
                  </a:lnTo>
                  <a:lnTo>
                    <a:pt x="55" y="24"/>
                  </a:lnTo>
                  <a:lnTo>
                    <a:pt x="61" y="47"/>
                  </a:lnTo>
                  <a:lnTo>
                    <a:pt x="53" y="64"/>
                  </a:lnTo>
                  <a:lnTo>
                    <a:pt x="43" y="60"/>
                  </a:lnTo>
                  <a:lnTo>
                    <a:pt x="29" y="64"/>
                  </a:lnTo>
                  <a:lnTo>
                    <a:pt x="30" y="74"/>
                  </a:lnTo>
                  <a:lnTo>
                    <a:pt x="23" y="71"/>
                  </a:lnTo>
                  <a:lnTo>
                    <a:pt x="16" y="58"/>
                  </a:lnTo>
                  <a:lnTo>
                    <a:pt x="7"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3" name="Freeform 232"/>
            <p:cNvSpPr>
              <a:spLocks/>
            </p:cNvSpPr>
            <p:nvPr/>
          </p:nvSpPr>
          <p:spPr bwMode="auto">
            <a:xfrm>
              <a:off x="1447" y="2490"/>
              <a:ext cx="15" cy="13"/>
            </a:xfrm>
            <a:custGeom>
              <a:avLst/>
              <a:gdLst/>
              <a:ahLst/>
              <a:cxnLst>
                <a:cxn ang="0">
                  <a:pos x="4" y="0"/>
                </a:cxn>
                <a:cxn ang="0">
                  <a:pos x="15" y="0"/>
                </a:cxn>
                <a:cxn ang="0">
                  <a:pos x="10" y="12"/>
                </a:cxn>
                <a:cxn ang="0">
                  <a:pos x="0" y="11"/>
                </a:cxn>
                <a:cxn ang="0">
                  <a:pos x="6" y="3"/>
                </a:cxn>
                <a:cxn ang="0">
                  <a:pos x="4" y="0"/>
                </a:cxn>
              </a:cxnLst>
              <a:rect l="0" t="0" r="r" b="b"/>
              <a:pathLst>
                <a:path w="15" h="12">
                  <a:moveTo>
                    <a:pt x="4" y="0"/>
                  </a:moveTo>
                  <a:lnTo>
                    <a:pt x="15" y="0"/>
                  </a:lnTo>
                  <a:lnTo>
                    <a:pt x="10" y="12"/>
                  </a:lnTo>
                  <a:lnTo>
                    <a:pt x="0" y="11"/>
                  </a:lnTo>
                  <a:lnTo>
                    <a:pt x="6" y="3"/>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4" name="Freeform 233"/>
            <p:cNvSpPr>
              <a:spLocks/>
            </p:cNvSpPr>
            <p:nvPr/>
          </p:nvSpPr>
          <p:spPr bwMode="auto">
            <a:xfrm>
              <a:off x="1242" y="2463"/>
              <a:ext cx="238" cy="227"/>
            </a:xfrm>
            <a:custGeom>
              <a:avLst/>
              <a:gdLst/>
              <a:ahLst/>
              <a:cxnLst>
                <a:cxn ang="0">
                  <a:pos x="176" y="42"/>
                </a:cxn>
                <a:cxn ang="0">
                  <a:pos x="167" y="38"/>
                </a:cxn>
                <a:cxn ang="0">
                  <a:pos x="165" y="32"/>
                </a:cxn>
                <a:cxn ang="0">
                  <a:pos x="164" y="27"/>
                </a:cxn>
                <a:cxn ang="0">
                  <a:pos x="153" y="30"/>
                </a:cxn>
                <a:cxn ang="0">
                  <a:pos x="115" y="30"/>
                </a:cxn>
                <a:cxn ang="0">
                  <a:pos x="86" y="30"/>
                </a:cxn>
                <a:cxn ang="0">
                  <a:pos x="63" y="12"/>
                </a:cxn>
                <a:cxn ang="0">
                  <a:pos x="53" y="7"/>
                </a:cxn>
                <a:cxn ang="0">
                  <a:pos x="56" y="12"/>
                </a:cxn>
                <a:cxn ang="0">
                  <a:pos x="32" y="24"/>
                </a:cxn>
                <a:cxn ang="0">
                  <a:pos x="30" y="56"/>
                </a:cxn>
                <a:cxn ang="0">
                  <a:pos x="29" y="28"/>
                </a:cxn>
                <a:cxn ang="0">
                  <a:pos x="35" y="6"/>
                </a:cxn>
                <a:cxn ang="0">
                  <a:pos x="15" y="24"/>
                </a:cxn>
                <a:cxn ang="0">
                  <a:pos x="0" y="54"/>
                </a:cxn>
                <a:cxn ang="0">
                  <a:pos x="14" y="74"/>
                </a:cxn>
                <a:cxn ang="0">
                  <a:pos x="25" y="91"/>
                </a:cxn>
                <a:cxn ang="0">
                  <a:pos x="50" y="92"/>
                </a:cxn>
                <a:cxn ang="0">
                  <a:pos x="78" y="108"/>
                </a:cxn>
                <a:cxn ang="0">
                  <a:pos x="87" y="122"/>
                </a:cxn>
                <a:cxn ang="0">
                  <a:pos x="91" y="159"/>
                </a:cxn>
                <a:cxn ang="0">
                  <a:pos x="95" y="182"/>
                </a:cxn>
                <a:cxn ang="0">
                  <a:pos x="111" y="204"/>
                </a:cxn>
                <a:cxn ang="0">
                  <a:pos x="122" y="205"/>
                </a:cxn>
                <a:cxn ang="0">
                  <a:pos x="152" y="180"/>
                </a:cxn>
                <a:cxn ang="0">
                  <a:pos x="145" y="171"/>
                </a:cxn>
                <a:cxn ang="0">
                  <a:pos x="134" y="141"/>
                </a:cxn>
                <a:cxn ang="0">
                  <a:pos x="165" y="152"/>
                </a:cxn>
                <a:cxn ang="0">
                  <a:pos x="181" y="140"/>
                </a:cxn>
                <a:cxn ang="0">
                  <a:pos x="198" y="124"/>
                </a:cxn>
                <a:cxn ang="0">
                  <a:pos x="188" y="110"/>
                </a:cxn>
                <a:cxn ang="0">
                  <a:pos x="205" y="90"/>
                </a:cxn>
                <a:cxn ang="0">
                  <a:pos x="213" y="69"/>
                </a:cxn>
                <a:cxn ang="0">
                  <a:pos x="195" y="64"/>
                </a:cxn>
                <a:cxn ang="0">
                  <a:pos x="189" y="63"/>
                </a:cxn>
                <a:cxn ang="0">
                  <a:pos x="198" y="51"/>
                </a:cxn>
                <a:cxn ang="0">
                  <a:pos x="182" y="43"/>
                </a:cxn>
                <a:cxn ang="0">
                  <a:pos x="177" y="44"/>
                </a:cxn>
              </a:cxnLst>
              <a:rect l="0" t="0" r="r" b="b"/>
              <a:pathLst>
                <a:path w="213" h="205">
                  <a:moveTo>
                    <a:pt x="177" y="44"/>
                  </a:moveTo>
                  <a:lnTo>
                    <a:pt x="176" y="42"/>
                  </a:lnTo>
                  <a:lnTo>
                    <a:pt x="173" y="37"/>
                  </a:lnTo>
                  <a:lnTo>
                    <a:pt x="167" y="38"/>
                  </a:lnTo>
                  <a:lnTo>
                    <a:pt x="170" y="37"/>
                  </a:lnTo>
                  <a:lnTo>
                    <a:pt x="165" y="32"/>
                  </a:lnTo>
                  <a:lnTo>
                    <a:pt x="181" y="27"/>
                  </a:lnTo>
                  <a:lnTo>
                    <a:pt x="164" y="27"/>
                  </a:lnTo>
                  <a:lnTo>
                    <a:pt x="147" y="27"/>
                  </a:lnTo>
                  <a:lnTo>
                    <a:pt x="153" y="30"/>
                  </a:lnTo>
                  <a:lnTo>
                    <a:pt x="137" y="37"/>
                  </a:lnTo>
                  <a:lnTo>
                    <a:pt x="115" y="30"/>
                  </a:lnTo>
                  <a:lnTo>
                    <a:pt x="101" y="30"/>
                  </a:lnTo>
                  <a:lnTo>
                    <a:pt x="86" y="30"/>
                  </a:lnTo>
                  <a:lnTo>
                    <a:pt x="80" y="19"/>
                  </a:lnTo>
                  <a:lnTo>
                    <a:pt x="63" y="12"/>
                  </a:lnTo>
                  <a:lnTo>
                    <a:pt x="56" y="0"/>
                  </a:lnTo>
                  <a:lnTo>
                    <a:pt x="53" y="7"/>
                  </a:lnTo>
                  <a:lnTo>
                    <a:pt x="60" y="12"/>
                  </a:lnTo>
                  <a:lnTo>
                    <a:pt x="56" y="12"/>
                  </a:lnTo>
                  <a:lnTo>
                    <a:pt x="35" y="20"/>
                  </a:lnTo>
                  <a:lnTo>
                    <a:pt x="32" y="24"/>
                  </a:lnTo>
                  <a:lnTo>
                    <a:pt x="36" y="46"/>
                  </a:lnTo>
                  <a:lnTo>
                    <a:pt x="30" y="56"/>
                  </a:lnTo>
                  <a:lnTo>
                    <a:pt x="20" y="43"/>
                  </a:lnTo>
                  <a:lnTo>
                    <a:pt x="29" y="28"/>
                  </a:lnTo>
                  <a:lnTo>
                    <a:pt x="25" y="13"/>
                  </a:lnTo>
                  <a:lnTo>
                    <a:pt x="35" y="6"/>
                  </a:lnTo>
                  <a:lnTo>
                    <a:pt x="24" y="8"/>
                  </a:lnTo>
                  <a:lnTo>
                    <a:pt x="15" y="24"/>
                  </a:lnTo>
                  <a:lnTo>
                    <a:pt x="7" y="38"/>
                  </a:lnTo>
                  <a:lnTo>
                    <a:pt x="0" y="54"/>
                  </a:lnTo>
                  <a:lnTo>
                    <a:pt x="6" y="54"/>
                  </a:lnTo>
                  <a:lnTo>
                    <a:pt x="14" y="74"/>
                  </a:lnTo>
                  <a:lnTo>
                    <a:pt x="14" y="85"/>
                  </a:lnTo>
                  <a:lnTo>
                    <a:pt x="25" y="91"/>
                  </a:lnTo>
                  <a:lnTo>
                    <a:pt x="37" y="92"/>
                  </a:lnTo>
                  <a:lnTo>
                    <a:pt x="50" y="92"/>
                  </a:lnTo>
                  <a:lnTo>
                    <a:pt x="63" y="109"/>
                  </a:lnTo>
                  <a:lnTo>
                    <a:pt x="78" y="108"/>
                  </a:lnTo>
                  <a:lnTo>
                    <a:pt x="91" y="106"/>
                  </a:lnTo>
                  <a:lnTo>
                    <a:pt x="87" y="122"/>
                  </a:lnTo>
                  <a:lnTo>
                    <a:pt x="84" y="136"/>
                  </a:lnTo>
                  <a:lnTo>
                    <a:pt x="91" y="159"/>
                  </a:lnTo>
                  <a:lnTo>
                    <a:pt x="86" y="168"/>
                  </a:lnTo>
                  <a:lnTo>
                    <a:pt x="95" y="182"/>
                  </a:lnTo>
                  <a:lnTo>
                    <a:pt x="98" y="196"/>
                  </a:lnTo>
                  <a:lnTo>
                    <a:pt x="111" y="204"/>
                  </a:lnTo>
                  <a:lnTo>
                    <a:pt x="120" y="204"/>
                  </a:lnTo>
                  <a:lnTo>
                    <a:pt x="122" y="205"/>
                  </a:lnTo>
                  <a:lnTo>
                    <a:pt x="138" y="193"/>
                  </a:lnTo>
                  <a:lnTo>
                    <a:pt x="152" y="180"/>
                  </a:lnTo>
                  <a:lnTo>
                    <a:pt x="155" y="175"/>
                  </a:lnTo>
                  <a:lnTo>
                    <a:pt x="145" y="171"/>
                  </a:lnTo>
                  <a:lnTo>
                    <a:pt x="140" y="151"/>
                  </a:lnTo>
                  <a:lnTo>
                    <a:pt x="134" y="141"/>
                  </a:lnTo>
                  <a:lnTo>
                    <a:pt x="150" y="147"/>
                  </a:lnTo>
                  <a:lnTo>
                    <a:pt x="165" y="152"/>
                  </a:lnTo>
                  <a:lnTo>
                    <a:pt x="168" y="146"/>
                  </a:lnTo>
                  <a:lnTo>
                    <a:pt x="181" y="140"/>
                  </a:lnTo>
                  <a:lnTo>
                    <a:pt x="194" y="134"/>
                  </a:lnTo>
                  <a:lnTo>
                    <a:pt x="198" y="124"/>
                  </a:lnTo>
                  <a:lnTo>
                    <a:pt x="197" y="124"/>
                  </a:lnTo>
                  <a:lnTo>
                    <a:pt x="188" y="110"/>
                  </a:lnTo>
                  <a:lnTo>
                    <a:pt x="194" y="97"/>
                  </a:lnTo>
                  <a:lnTo>
                    <a:pt x="205" y="90"/>
                  </a:lnTo>
                  <a:lnTo>
                    <a:pt x="199" y="82"/>
                  </a:lnTo>
                  <a:lnTo>
                    <a:pt x="213" y="69"/>
                  </a:lnTo>
                  <a:lnTo>
                    <a:pt x="211" y="64"/>
                  </a:lnTo>
                  <a:lnTo>
                    <a:pt x="195" y="64"/>
                  </a:lnTo>
                  <a:lnTo>
                    <a:pt x="185" y="64"/>
                  </a:lnTo>
                  <a:lnTo>
                    <a:pt x="189" y="63"/>
                  </a:lnTo>
                  <a:lnTo>
                    <a:pt x="194" y="55"/>
                  </a:lnTo>
                  <a:lnTo>
                    <a:pt x="198" y="51"/>
                  </a:lnTo>
                  <a:lnTo>
                    <a:pt x="188" y="43"/>
                  </a:lnTo>
                  <a:lnTo>
                    <a:pt x="182" y="43"/>
                  </a:lnTo>
                  <a:lnTo>
                    <a:pt x="176" y="39"/>
                  </a:lnTo>
                  <a:lnTo>
                    <a:pt x="177" y="4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5" name="Freeform 234"/>
            <p:cNvSpPr>
              <a:spLocks/>
            </p:cNvSpPr>
            <p:nvPr/>
          </p:nvSpPr>
          <p:spPr bwMode="auto">
            <a:xfrm>
              <a:off x="1405" y="2483"/>
              <a:ext cx="9" cy="4"/>
            </a:xfrm>
            <a:custGeom>
              <a:avLst/>
              <a:gdLst/>
              <a:ahLst/>
              <a:cxnLst>
                <a:cxn ang="0">
                  <a:pos x="8" y="2"/>
                </a:cxn>
                <a:cxn ang="0">
                  <a:pos x="0" y="0"/>
                </a:cxn>
                <a:cxn ang="0">
                  <a:pos x="8" y="2"/>
                </a:cxn>
              </a:cxnLst>
              <a:rect l="0" t="0" r="r" b="b"/>
              <a:pathLst>
                <a:path w="8" h="2">
                  <a:moveTo>
                    <a:pt x="8" y="2"/>
                  </a:moveTo>
                  <a:lnTo>
                    <a:pt x="0" y="0"/>
                  </a:lnTo>
                  <a:lnTo>
                    <a:pt x="8"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6" name="Freeform 235"/>
            <p:cNvSpPr>
              <a:spLocks/>
            </p:cNvSpPr>
            <p:nvPr/>
          </p:nvSpPr>
          <p:spPr bwMode="auto">
            <a:xfrm>
              <a:off x="1307" y="2454"/>
              <a:ext cx="2" cy="2"/>
            </a:xfrm>
            <a:custGeom>
              <a:avLst/>
              <a:gdLst/>
              <a:ahLst/>
              <a:cxnLst>
                <a:cxn ang="0">
                  <a:pos x="0" y="0"/>
                </a:cxn>
                <a:cxn ang="0">
                  <a:pos x="0" y="1"/>
                </a:cxn>
                <a:cxn ang="0">
                  <a:pos x="3" y="4"/>
                </a:cxn>
                <a:cxn ang="0">
                  <a:pos x="0" y="0"/>
                </a:cxn>
              </a:cxnLst>
              <a:rect l="0" t="0" r="r" b="b"/>
              <a:pathLst>
                <a:path w="3" h="4">
                  <a:moveTo>
                    <a:pt x="0" y="0"/>
                  </a:moveTo>
                  <a:lnTo>
                    <a:pt x="0" y="1"/>
                  </a:lnTo>
                  <a:lnTo>
                    <a:pt x="3" y="4"/>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7" name="Freeform 236"/>
            <p:cNvSpPr>
              <a:spLocks/>
            </p:cNvSpPr>
            <p:nvPr/>
          </p:nvSpPr>
          <p:spPr bwMode="auto">
            <a:xfrm>
              <a:off x="1449" y="2461"/>
              <a:ext cx="5" cy="4"/>
            </a:xfrm>
            <a:custGeom>
              <a:avLst/>
              <a:gdLst/>
              <a:ahLst/>
              <a:cxnLst>
                <a:cxn ang="0">
                  <a:pos x="2" y="3"/>
                </a:cxn>
                <a:cxn ang="0">
                  <a:pos x="2" y="2"/>
                </a:cxn>
                <a:cxn ang="0">
                  <a:pos x="2" y="0"/>
                </a:cxn>
                <a:cxn ang="0">
                  <a:pos x="1" y="0"/>
                </a:cxn>
                <a:cxn ang="0">
                  <a:pos x="1" y="2"/>
                </a:cxn>
                <a:cxn ang="0">
                  <a:pos x="0" y="2"/>
                </a:cxn>
                <a:cxn ang="0">
                  <a:pos x="0" y="3"/>
                </a:cxn>
                <a:cxn ang="0">
                  <a:pos x="0" y="4"/>
                </a:cxn>
                <a:cxn ang="0">
                  <a:pos x="1" y="4"/>
                </a:cxn>
                <a:cxn ang="0">
                  <a:pos x="2" y="4"/>
                </a:cxn>
                <a:cxn ang="0">
                  <a:pos x="2" y="3"/>
                </a:cxn>
              </a:cxnLst>
              <a:rect l="0" t="0" r="r" b="b"/>
              <a:pathLst>
                <a:path w="2" h="4">
                  <a:moveTo>
                    <a:pt x="2" y="3"/>
                  </a:moveTo>
                  <a:lnTo>
                    <a:pt x="2" y="2"/>
                  </a:lnTo>
                  <a:lnTo>
                    <a:pt x="2" y="0"/>
                  </a:lnTo>
                  <a:lnTo>
                    <a:pt x="1" y="0"/>
                  </a:lnTo>
                  <a:lnTo>
                    <a:pt x="1" y="2"/>
                  </a:lnTo>
                  <a:lnTo>
                    <a:pt x="0" y="2"/>
                  </a:lnTo>
                  <a:lnTo>
                    <a:pt x="0" y="3"/>
                  </a:lnTo>
                  <a:lnTo>
                    <a:pt x="0" y="4"/>
                  </a:lnTo>
                  <a:lnTo>
                    <a:pt x="1" y="4"/>
                  </a:lnTo>
                  <a:lnTo>
                    <a:pt x="2" y="4"/>
                  </a:lnTo>
                  <a:lnTo>
                    <a:pt x="2"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8" name="Freeform 237"/>
            <p:cNvSpPr>
              <a:spLocks/>
            </p:cNvSpPr>
            <p:nvPr/>
          </p:nvSpPr>
          <p:spPr bwMode="auto">
            <a:xfrm>
              <a:off x="1634" y="3723"/>
              <a:ext cx="26" cy="20"/>
            </a:xfrm>
            <a:custGeom>
              <a:avLst/>
              <a:gdLst/>
              <a:ahLst/>
              <a:cxnLst>
                <a:cxn ang="0">
                  <a:pos x="23" y="7"/>
                </a:cxn>
                <a:cxn ang="0">
                  <a:pos x="18" y="3"/>
                </a:cxn>
                <a:cxn ang="0">
                  <a:pos x="14" y="3"/>
                </a:cxn>
                <a:cxn ang="0">
                  <a:pos x="11" y="2"/>
                </a:cxn>
                <a:cxn ang="0">
                  <a:pos x="5" y="0"/>
                </a:cxn>
                <a:cxn ang="0">
                  <a:pos x="5" y="6"/>
                </a:cxn>
                <a:cxn ang="0">
                  <a:pos x="0" y="12"/>
                </a:cxn>
                <a:cxn ang="0">
                  <a:pos x="5" y="17"/>
                </a:cxn>
                <a:cxn ang="0">
                  <a:pos x="8" y="14"/>
                </a:cxn>
                <a:cxn ang="0">
                  <a:pos x="10" y="13"/>
                </a:cxn>
                <a:cxn ang="0">
                  <a:pos x="10" y="11"/>
                </a:cxn>
                <a:cxn ang="0">
                  <a:pos x="23" y="7"/>
                </a:cxn>
              </a:cxnLst>
              <a:rect l="0" t="0" r="r" b="b"/>
              <a:pathLst>
                <a:path w="23" h="17">
                  <a:moveTo>
                    <a:pt x="23" y="7"/>
                  </a:moveTo>
                  <a:lnTo>
                    <a:pt x="18" y="3"/>
                  </a:lnTo>
                  <a:lnTo>
                    <a:pt x="14" y="3"/>
                  </a:lnTo>
                  <a:lnTo>
                    <a:pt x="11" y="2"/>
                  </a:lnTo>
                  <a:lnTo>
                    <a:pt x="5" y="0"/>
                  </a:lnTo>
                  <a:lnTo>
                    <a:pt x="5" y="6"/>
                  </a:lnTo>
                  <a:lnTo>
                    <a:pt x="0" y="12"/>
                  </a:lnTo>
                  <a:lnTo>
                    <a:pt x="5" y="17"/>
                  </a:lnTo>
                  <a:lnTo>
                    <a:pt x="8" y="14"/>
                  </a:lnTo>
                  <a:lnTo>
                    <a:pt x="10" y="13"/>
                  </a:lnTo>
                  <a:lnTo>
                    <a:pt x="10" y="11"/>
                  </a:lnTo>
                  <a:lnTo>
                    <a:pt x="23"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39" name="Freeform 238"/>
            <p:cNvSpPr>
              <a:spLocks/>
            </p:cNvSpPr>
            <p:nvPr/>
          </p:nvSpPr>
          <p:spPr bwMode="auto">
            <a:xfrm>
              <a:off x="1616" y="3725"/>
              <a:ext cx="20" cy="16"/>
            </a:xfrm>
            <a:custGeom>
              <a:avLst/>
              <a:gdLst/>
              <a:ahLst/>
              <a:cxnLst>
                <a:cxn ang="0">
                  <a:pos x="4" y="6"/>
                </a:cxn>
                <a:cxn ang="0">
                  <a:pos x="1" y="1"/>
                </a:cxn>
                <a:cxn ang="0">
                  <a:pos x="18" y="0"/>
                </a:cxn>
                <a:cxn ang="0">
                  <a:pos x="9" y="10"/>
                </a:cxn>
                <a:cxn ang="0">
                  <a:pos x="0" y="13"/>
                </a:cxn>
                <a:cxn ang="0">
                  <a:pos x="4" y="8"/>
                </a:cxn>
                <a:cxn ang="0">
                  <a:pos x="2" y="6"/>
                </a:cxn>
                <a:cxn ang="0">
                  <a:pos x="4" y="6"/>
                </a:cxn>
              </a:cxnLst>
              <a:rect l="0" t="0" r="r" b="b"/>
              <a:pathLst>
                <a:path w="18" h="13">
                  <a:moveTo>
                    <a:pt x="4" y="6"/>
                  </a:moveTo>
                  <a:lnTo>
                    <a:pt x="1" y="1"/>
                  </a:lnTo>
                  <a:lnTo>
                    <a:pt x="18" y="0"/>
                  </a:lnTo>
                  <a:lnTo>
                    <a:pt x="9" y="10"/>
                  </a:lnTo>
                  <a:lnTo>
                    <a:pt x="0" y="13"/>
                  </a:lnTo>
                  <a:lnTo>
                    <a:pt x="4" y="8"/>
                  </a:lnTo>
                  <a:lnTo>
                    <a:pt x="2" y="6"/>
                  </a:lnTo>
                  <a:lnTo>
                    <a:pt x="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0" name="Freeform 239"/>
            <p:cNvSpPr>
              <a:spLocks/>
            </p:cNvSpPr>
            <p:nvPr/>
          </p:nvSpPr>
          <p:spPr bwMode="auto">
            <a:xfrm>
              <a:off x="1314" y="2901"/>
              <a:ext cx="220" cy="260"/>
            </a:xfrm>
            <a:custGeom>
              <a:avLst/>
              <a:gdLst/>
              <a:ahLst/>
              <a:cxnLst>
                <a:cxn ang="0">
                  <a:pos x="132" y="186"/>
                </a:cxn>
                <a:cxn ang="0">
                  <a:pos x="129" y="205"/>
                </a:cxn>
                <a:cxn ang="0">
                  <a:pos x="125" y="225"/>
                </a:cxn>
                <a:cxn ang="0">
                  <a:pos x="121" y="220"/>
                </a:cxn>
                <a:cxn ang="0">
                  <a:pos x="103" y="223"/>
                </a:cxn>
                <a:cxn ang="0">
                  <a:pos x="99" y="233"/>
                </a:cxn>
                <a:cxn ang="0">
                  <a:pos x="91" y="222"/>
                </a:cxn>
                <a:cxn ang="0">
                  <a:pos x="72" y="219"/>
                </a:cxn>
                <a:cxn ang="0">
                  <a:pos x="69" y="216"/>
                </a:cxn>
                <a:cxn ang="0">
                  <a:pos x="55" y="234"/>
                </a:cxn>
                <a:cxn ang="0">
                  <a:pos x="45" y="233"/>
                </a:cxn>
                <a:cxn ang="0">
                  <a:pos x="39" y="217"/>
                </a:cxn>
                <a:cxn ang="0">
                  <a:pos x="31" y="201"/>
                </a:cxn>
                <a:cxn ang="0">
                  <a:pos x="27" y="185"/>
                </a:cxn>
                <a:cxn ang="0">
                  <a:pos x="28" y="172"/>
                </a:cxn>
                <a:cxn ang="0">
                  <a:pos x="19" y="160"/>
                </a:cxn>
                <a:cxn ang="0">
                  <a:pos x="15" y="148"/>
                </a:cxn>
                <a:cxn ang="0">
                  <a:pos x="10" y="139"/>
                </a:cxn>
                <a:cxn ang="0">
                  <a:pos x="10" y="132"/>
                </a:cxn>
                <a:cxn ang="0">
                  <a:pos x="17" y="117"/>
                </a:cxn>
                <a:cxn ang="0">
                  <a:pos x="12" y="115"/>
                </a:cxn>
                <a:cxn ang="0">
                  <a:pos x="10" y="100"/>
                </a:cxn>
                <a:cxn ang="0">
                  <a:pos x="10" y="85"/>
                </a:cxn>
                <a:cxn ang="0">
                  <a:pos x="13" y="76"/>
                </a:cxn>
                <a:cxn ang="0">
                  <a:pos x="13" y="54"/>
                </a:cxn>
                <a:cxn ang="0">
                  <a:pos x="16" y="49"/>
                </a:cxn>
                <a:cxn ang="0">
                  <a:pos x="7" y="35"/>
                </a:cxn>
                <a:cxn ang="0">
                  <a:pos x="0" y="22"/>
                </a:cxn>
                <a:cxn ang="0">
                  <a:pos x="19" y="22"/>
                </a:cxn>
                <a:cxn ang="0">
                  <a:pos x="27" y="17"/>
                </a:cxn>
                <a:cxn ang="0">
                  <a:pos x="40" y="9"/>
                </a:cxn>
                <a:cxn ang="0">
                  <a:pos x="53" y="0"/>
                </a:cxn>
                <a:cxn ang="0">
                  <a:pos x="66" y="1"/>
                </a:cxn>
                <a:cxn ang="0">
                  <a:pos x="67" y="17"/>
                </a:cxn>
                <a:cxn ang="0">
                  <a:pos x="69" y="31"/>
                </a:cxn>
                <a:cxn ang="0">
                  <a:pos x="81" y="45"/>
                </a:cxn>
                <a:cxn ang="0">
                  <a:pos x="93" y="49"/>
                </a:cxn>
                <a:cxn ang="0">
                  <a:pos x="106" y="55"/>
                </a:cxn>
                <a:cxn ang="0">
                  <a:pos x="124" y="67"/>
                </a:cxn>
                <a:cxn ang="0">
                  <a:pos x="142" y="71"/>
                </a:cxn>
                <a:cxn ang="0">
                  <a:pos x="147" y="78"/>
                </a:cxn>
                <a:cxn ang="0">
                  <a:pos x="149" y="96"/>
                </a:cxn>
                <a:cxn ang="0">
                  <a:pos x="145" y="96"/>
                </a:cxn>
                <a:cxn ang="0">
                  <a:pos x="151" y="103"/>
                </a:cxn>
                <a:cxn ang="0">
                  <a:pos x="154" y="117"/>
                </a:cxn>
                <a:cxn ang="0">
                  <a:pos x="168" y="119"/>
                </a:cxn>
                <a:cxn ang="0">
                  <a:pos x="183" y="120"/>
                </a:cxn>
                <a:cxn ang="0">
                  <a:pos x="185" y="136"/>
                </a:cxn>
                <a:cxn ang="0">
                  <a:pos x="195" y="145"/>
                </a:cxn>
                <a:cxn ang="0">
                  <a:pos x="198" y="153"/>
                </a:cxn>
                <a:cxn ang="0">
                  <a:pos x="195" y="166"/>
                </a:cxn>
                <a:cxn ang="0">
                  <a:pos x="191" y="179"/>
                </a:cxn>
                <a:cxn ang="0">
                  <a:pos x="193" y="185"/>
                </a:cxn>
                <a:cxn ang="0">
                  <a:pos x="191" y="187"/>
                </a:cxn>
                <a:cxn ang="0">
                  <a:pos x="191" y="184"/>
                </a:cxn>
                <a:cxn ang="0">
                  <a:pos x="175" y="173"/>
                </a:cxn>
                <a:cxn ang="0">
                  <a:pos x="155" y="175"/>
                </a:cxn>
                <a:cxn ang="0">
                  <a:pos x="135" y="178"/>
                </a:cxn>
                <a:cxn ang="0">
                  <a:pos x="132" y="186"/>
                </a:cxn>
              </a:cxnLst>
              <a:rect l="0" t="0" r="r" b="b"/>
              <a:pathLst>
                <a:path w="198" h="234">
                  <a:moveTo>
                    <a:pt x="132" y="186"/>
                  </a:moveTo>
                  <a:lnTo>
                    <a:pt x="129" y="205"/>
                  </a:lnTo>
                  <a:lnTo>
                    <a:pt x="125" y="225"/>
                  </a:lnTo>
                  <a:lnTo>
                    <a:pt x="121" y="220"/>
                  </a:lnTo>
                  <a:lnTo>
                    <a:pt x="103" y="223"/>
                  </a:lnTo>
                  <a:lnTo>
                    <a:pt x="99" y="233"/>
                  </a:lnTo>
                  <a:lnTo>
                    <a:pt x="91" y="222"/>
                  </a:lnTo>
                  <a:lnTo>
                    <a:pt x="72" y="219"/>
                  </a:lnTo>
                  <a:lnTo>
                    <a:pt x="69" y="216"/>
                  </a:lnTo>
                  <a:lnTo>
                    <a:pt x="55" y="234"/>
                  </a:lnTo>
                  <a:lnTo>
                    <a:pt x="45" y="233"/>
                  </a:lnTo>
                  <a:lnTo>
                    <a:pt x="39" y="217"/>
                  </a:lnTo>
                  <a:lnTo>
                    <a:pt x="31" y="201"/>
                  </a:lnTo>
                  <a:lnTo>
                    <a:pt x="27" y="185"/>
                  </a:lnTo>
                  <a:lnTo>
                    <a:pt x="28" y="172"/>
                  </a:lnTo>
                  <a:lnTo>
                    <a:pt x="19" y="160"/>
                  </a:lnTo>
                  <a:lnTo>
                    <a:pt x="15" y="148"/>
                  </a:lnTo>
                  <a:lnTo>
                    <a:pt x="10" y="139"/>
                  </a:lnTo>
                  <a:lnTo>
                    <a:pt x="10" y="132"/>
                  </a:lnTo>
                  <a:lnTo>
                    <a:pt x="17" y="117"/>
                  </a:lnTo>
                  <a:lnTo>
                    <a:pt x="12" y="115"/>
                  </a:lnTo>
                  <a:lnTo>
                    <a:pt x="10" y="100"/>
                  </a:lnTo>
                  <a:lnTo>
                    <a:pt x="10" y="85"/>
                  </a:lnTo>
                  <a:lnTo>
                    <a:pt x="13" y="76"/>
                  </a:lnTo>
                  <a:lnTo>
                    <a:pt x="13" y="54"/>
                  </a:lnTo>
                  <a:lnTo>
                    <a:pt x="16" y="49"/>
                  </a:lnTo>
                  <a:lnTo>
                    <a:pt x="7" y="35"/>
                  </a:lnTo>
                  <a:lnTo>
                    <a:pt x="0" y="22"/>
                  </a:lnTo>
                  <a:lnTo>
                    <a:pt x="19" y="22"/>
                  </a:lnTo>
                  <a:lnTo>
                    <a:pt x="27" y="17"/>
                  </a:lnTo>
                  <a:lnTo>
                    <a:pt x="40" y="9"/>
                  </a:lnTo>
                  <a:lnTo>
                    <a:pt x="53" y="0"/>
                  </a:lnTo>
                  <a:lnTo>
                    <a:pt x="66" y="1"/>
                  </a:lnTo>
                  <a:lnTo>
                    <a:pt x="67" y="17"/>
                  </a:lnTo>
                  <a:lnTo>
                    <a:pt x="69" y="31"/>
                  </a:lnTo>
                  <a:lnTo>
                    <a:pt x="81" y="45"/>
                  </a:lnTo>
                  <a:lnTo>
                    <a:pt x="93" y="49"/>
                  </a:lnTo>
                  <a:lnTo>
                    <a:pt x="106" y="55"/>
                  </a:lnTo>
                  <a:lnTo>
                    <a:pt x="124" y="67"/>
                  </a:lnTo>
                  <a:lnTo>
                    <a:pt x="142" y="71"/>
                  </a:lnTo>
                  <a:lnTo>
                    <a:pt x="147" y="78"/>
                  </a:lnTo>
                  <a:lnTo>
                    <a:pt x="149" y="96"/>
                  </a:lnTo>
                  <a:lnTo>
                    <a:pt x="145" y="96"/>
                  </a:lnTo>
                  <a:lnTo>
                    <a:pt x="151" y="103"/>
                  </a:lnTo>
                  <a:lnTo>
                    <a:pt x="154" y="117"/>
                  </a:lnTo>
                  <a:lnTo>
                    <a:pt x="168" y="119"/>
                  </a:lnTo>
                  <a:lnTo>
                    <a:pt x="183" y="120"/>
                  </a:lnTo>
                  <a:lnTo>
                    <a:pt x="185" y="136"/>
                  </a:lnTo>
                  <a:lnTo>
                    <a:pt x="195" y="145"/>
                  </a:lnTo>
                  <a:lnTo>
                    <a:pt x="198" y="153"/>
                  </a:lnTo>
                  <a:lnTo>
                    <a:pt x="195" y="166"/>
                  </a:lnTo>
                  <a:lnTo>
                    <a:pt x="191" y="179"/>
                  </a:lnTo>
                  <a:lnTo>
                    <a:pt x="193" y="185"/>
                  </a:lnTo>
                  <a:lnTo>
                    <a:pt x="191" y="187"/>
                  </a:lnTo>
                  <a:lnTo>
                    <a:pt x="191" y="184"/>
                  </a:lnTo>
                  <a:lnTo>
                    <a:pt x="175" y="173"/>
                  </a:lnTo>
                  <a:lnTo>
                    <a:pt x="155" y="175"/>
                  </a:lnTo>
                  <a:lnTo>
                    <a:pt x="135" y="178"/>
                  </a:lnTo>
                  <a:lnTo>
                    <a:pt x="132" y="18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1" name="Freeform 240"/>
            <p:cNvSpPr>
              <a:spLocks/>
            </p:cNvSpPr>
            <p:nvPr/>
          </p:nvSpPr>
          <p:spPr bwMode="auto">
            <a:xfrm>
              <a:off x="1234" y="2601"/>
              <a:ext cx="686" cy="777"/>
            </a:xfrm>
            <a:custGeom>
              <a:avLst/>
              <a:gdLst/>
              <a:ahLst/>
              <a:cxnLst>
                <a:cxn ang="0">
                  <a:pos x="465" y="137"/>
                </a:cxn>
                <a:cxn ang="0">
                  <a:pos x="456" y="122"/>
                </a:cxn>
                <a:cxn ang="0">
                  <a:pos x="436" y="113"/>
                </a:cxn>
                <a:cxn ang="0">
                  <a:pos x="415" y="107"/>
                </a:cxn>
                <a:cxn ang="0">
                  <a:pos x="394" y="125"/>
                </a:cxn>
                <a:cxn ang="0">
                  <a:pos x="373" y="129"/>
                </a:cxn>
                <a:cxn ang="0">
                  <a:pos x="341" y="123"/>
                </a:cxn>
                <a:cxn ang="0">
                  <a:pos x="367" y="83"/>
                </a:cxn>
                <a:cxn ang="0">
                  <a:pos x="363" y="40"/>
                </a:cxn>
                <a:cxn ang="0">
                  <a:pos x="353" y="21"/>
                </a:cxn>
                <a:cxn ang="0">
                  <a:pos x="329" y="56"/>
                </a:cxn>
                <a:cxn ang="0">
                  <a:pos x="280" y="52"/>
                </a:cxn>
                <a:cxn ang="0">
                  <a:pos x="241" y="70"/>
                </a:cxn>
                <a:cxn ang="0">
                  <a:pos x="225" y="20"/>
                </a:cxn>
                <a:cxn ang="0">
                  <a:pos x="208" y="0"/>
                </a:cxn>
                <a:cxn ang="0">
                  <a:pos x="175" y="28"/>
                </a:cxn>
                <a:cxn ang="0">
                  <a:pos x="155" y="47"/>
                </a:cxn>
                <a:cxn ang="0">
                  <a:pos x="132" y="81"/>
                </a:cxn>
                <a:cxn ang="0">
                  <a:pos x="105" y="71"/>
                </a:cxn>
                <a:cxn ang="0">
                  <a:pos x="88" y="63"/>
                </a:cxn>
                <a:cxn ang="0">
                  <a:pos x="72" y="78"/>
                </a:cxn>
                <a:cxn ang="0">
                  <a:pos x="67" y="119"/>
                </a:cxn>
                <a:cxn ang="0">
                  <a:pos x="42" y="173"/>
                </a:cxn>
                <a:cxn ang="0">
                  <a:pos x="9" y="213"/>
                </a:cxn>
                <a:cxn ang="0">
                  <a:pos x="13" y="262"/>
                </a:cxn>
                <a:cxn ang="0">
                  <a:pos x="53" y="264"/>
                </a:cxn>
                <a:cxn ang="0">
                  <a:pos x="91" y="291"/>
                </a:cxn>
                <a:cxn ang="0">
                  <a:pos x="138" y="270"/>
                </a:cxn>
                <a:cxn ang="0">
                  <a:pos x="165" y="318"/>
                </a:cxn>
                <a:cxn ang="0">
                  <a:pos x="219" y="347"/>
                </a:cxn>
                <a:cxn ang="0">
                  <a:pos x="226" y="386"/>
                </a:cxn>
                <a:cxn ang="0">
                  <a:pos x="267" y="414"/>
                </a:cxn>
                <a:cxn ang="0">
                  <a:pos x="265" y="454"/>
                </a:cxn>
                <a:cxn ang="0">
                  <a:pos x="291" y="492"/>
                </a:cxn>
                <a:cxn ang="0">
                  <a:pos x="321" y="524"/>
                </a:cxn>
                <a:cxn ang="0">
                  <a:pos x="337" y="554"/>
                </a:cxn>
                <a:cxn ang="0">
                  <a:pos x="317" y="605"/>
                </a:cxn>
                <a:cxn ang="0">
                  <a:pos x="300" y="635"/>
                </a:cxn>
                <a:cxn ang="0">
                  <a:pos x="349" y="668"/>
                </a:cxn>
                <a:cxn ang="0">
                  <a:pos x="373" y="689"/>
                </a:cxn>
                <a:cxn ang="0">
                  <a:pos x="390" y="647"/>
                </a:cxn>
                <a:cxn ang="0">
                  <a:pos x="394" y="652"/>
                </a:cxn>
                <a:cxn ang="0">
                  <a:pos x="394" y="656"/>
                </a:cxn>
                <a:cxn ang="0">
                  <a:pos x="421" y="604"/>
                </a:cxn>
                <a:cxn ang="0">
                  <a:pos x="419" y="564"/>
                </a:cxn>
                <a:cxn ang="0">
                  <a:pos x="425" y="550"/>
                </a:cxn>
                <a:cxn ang="0">
                  <a:pos x="478" y="512"/>
                </a:cxn>
                <a:cxn ang="0">
                  <a:pos x="499" y="504"/>
                </a:cxn>
                <a:cxn ang="0">
                  <a:pos x="533" y="489"/>
                </a:cxn>
                <a:cxn ang="0">
                  <a:pos x="552" y="417"/>
                </a:cxn>
                <a:cxn ang="0">
                  <a:pos x="557" y="359"/>
                </a:cxn>
                <a:cxn ang="0">
                  <a:pos x="562" y="322"/>
                </a:cxn>
                <a:cxn ang="0">
                  <a:pos x="580" y="298"/>
                </a:cxn>
                <a:cxn ang="0">
                  <a:pos x="616" y="248"/>
                </a:cxn>
                <a:cxn ang="0">
                  <a:pos x="592" y="184"/>
                </a:cxn>
                <a:cxn ang="0">
                  <a:pos x="523" y="144"/>
                </a:cxn>
                <a:cxn ang="0">
                  <a:pos x="468" y="143"/>
                </a:cxn>
              </a:cxnLst>
              <a:rect l="0" t="0" r="r" b="b"/>
              <a:pathLst>
                <a:path w="618" h="700">
                  <a:moveTo>
                    <a:pt x="469" y="137"/>
                  </a:moveTo>
                  <a:lnTo>
                    <a:pt x="467" y="140"/>
                  </a:lnTo>
                  <a:lnTo>
                    <a:pt x="460" y="152"/>
                  </a:lnTo>
                  <a:lnTo>
                    <a:pt x="465" y="137"/>
                  </a:lnTo>
                  <a:lnTo>
                    <a:pt x="462" y="134"/>
                  </a:lnTo>
                  <a:lnTo>
                    <a:pt x="461" y="135"/>
                  </a:lnTo>
                  <a:lnTo>
                    <a:pt x="462" y="126"/>
                  </a:lnTo>
                  <a:lnTo>
                    <a:pt x="456" y="122"/>
                  </a:lnTo>
                  <a:lnTo>
                    <a:pt x="450" y="122"/>
                  </a:lnTo>
                  <a:lnTo>
                    <a:pt x="449" y="119"/>
                  </a:lnTo>
                  <a:lnTo>
                    <a:pt x="443" y="117"/>
                  </a:lnTo>
                  <a:lnTo>
                    <a:pt x="436" y="113"/>
                  </a:lnTo>
                  <a:lnTo>
                    <a:pt x="430" y="111"/>
                  </a:lnTo>
                  <a:lnTo>
                    <a:pt x="425" y="110"/>
                  </a:lnTo>
                  <a:lnTo>
                    <a:pt x="417" y="105"/>
                  </a:lnTo>
                  <a:lnTo>
                    <a:pt x="415" y="107"/>
                  </a:lnTo>
                  <a:lnTo>
                    <a:pt x="406" y="110"/>
                  </a:lnTo>
                  <a:lnTo>
                    <a:pt x="400" y="120"/>
                  </a:lnTo>
                  <a:lnTo>
                    <a:pt x="400" y="123"/>
                  </a:lnTo>
                  <a:lnTo>
                    <a:pt x="394" y="125"/>
                  </a:lnTo>
                  <a:lnTo>
                    <a:pt x="383" y="141"/>
                  </a:lnTo>
                  <a:lnTo>
                    <a:pt x="384" y="128"/>
                  </a:lnTo>
                  <a:lnTo>
                    <a:pt x="379" y="131"/>
                  </a:lnTo>
                  <a:lnTo>
                    <a:pt x="373" y="129"/>
                  </a:lnTo>
                  <a:lnTo>
                    <a:pt x="369" y="129"/>
                  </a:lnTo>
                  <a:lnTo>
                    <a:pt x="363" y="111"/>
                  </a:lnTo>
                  <a:lnTo>
                    <a:pt x="352" y="117"/>
                  </a:lnTo>
                  <a:lnTo>
                    <a:pt x="341" y="123"/>
                  </a:lnTo>
                  <a:lnTo>
                    <a:pt x="335" y="122"/>
                  </a:lnTo>
                  <a:lnTo>
                    <a:pt x="347" y="114"/>
                  </a:lnTo>
                  <a:lnTo>
                    <a:pt x="357" y="95"/>
                  </a:lnTo>
                  <a:lnTo>
                    <a:pt x="367" y="83"/>
                  </a:lnTo>
                  <a:lnTo>
                    <a:pt x="377" y="71"/>
                  </a:lnTo>
                  <a:lnTo>
                    <a:pt x="373" y="62"/>
                  </a:lnTo>
                  <a:lnTo>
                    <a:pt x="365" y="56"/>
                  </a:lnTo>
                  <a:lnTo>
                    <a:pt x="363" y="40"/>
                  </a:lnTo>
                  <a:lnTo>
                    <a:pt x="359" y="24"/>
                  </a:lnTo>
                  <a:lnTo>
                    <a:pt x="358" y="26"/>
                  </a:lnTo>
                  <a:lnTo>
                    <a:pt x="352" y="17"/>
                  </a:lnTo>
                  <a:lnTo>
                    <a:pt x="353" y="21"/>
                  </a:lnTo>
                  <a:lnTo>
                    <a:pt x="351" y="21"/>
                  </a:lnTo>
                  <a:lnTo>
                    <a:pt x="351" y="22"/>
                  </a:lnTo>
                  <a:lnTo>
                    <a:pt x="340" y="39"/>
                  </a:lnTo>
                  <a:lnTo>
                    <a:pt x="329" y="56"/>
                  </a:lnTo>
                  <a:lnTo>
                    <a:pt x="313" y="54"/>
                  </a:lnTo>
                  <a:lnTo>
                    <a:pt x="304" y="52"/>
                  </a:lnTo>
                  <a:lnTo>
                    <a:pt x="294" y="48"/>
                  </a:lnTo>
                  <a:lnTo>
                    <a:pt x="280" y="52"/>
                  </a:lnTo>
                  <a:lnTo>
                    <a:pt x="281" y="62"/>
                  </a:lnTo>
                  <a:lnTo>
                    <a:pt x="274" y="59"/>
                  </a:lnTo>
                  <a:lnTo>
                    <a:pt x="257" y="62"/>
                  </a:lnTo>
                  <a:lnTo>
                    <a:pt x="241" y="70"/>
                  </a:lnTo>
                  <a:lnTo>
                    <a:pt x="232" y="70"/>
                  </a:lnTo>
                  <a:lnTo>
                    <a:pt x="222" y="57"/>
                  </a:lnTo>
                  <a:lnTo>
                    <a:pt x="220" y="35"/>
                  </a:lnTo>
                  <a:lnTo>
                    <a:pt x="225" y="20"/>
                  </a:lnTo>
                  <a:lnTo>
                    <a:pt x="217" y="10"/>
                  </a:lnTo>
                  <a:lnTo>
                    <a:pt x="216" y="0"/>
                  </a:lnTo>
                  <a:lnTo>
                    <a:pt x="207" y="0"/>
                  </a:lnTo>
                  <a:lnTo>
                    <a:pt x="208" y="0"/>
                  </a:lnTo>
                  <a:lnTo>
                    <a:pt x="204" y="10"/>
                  </a:lnTo>
                  <a:lnTo>
                    <a:pt x="191" y="16"/>
                  </a:lnTo>
                  <a:lnTo>
                    <a:pt x="178" y="22"/>
                  </a:lnTo>
                  <a:lnTo>
                    <a:pt x="175" y="28"/>
                  </a:lnTo>
                  <a:lnTo>
                    <a:pt x="160" y="23"/>
                  </a:lnTo>
                  <a:lnTo>
                    <a:pt x="144" y="17"/>
                  </a:lnTo>
                  <a:lnTo>
                    <a:pt x="150" y="27"/>
                  </a:lnTo>
                  <a:lnTo>
                    <a:pt x="155" y="47"/>
                  </a:lnTo>
                  <a:lnTo>
                    <a:pt x="165" y="51"/>
                  </a:lnTo>
                  <a:lnTo>
                    <a:pt x="162" y="56"/>
                  </a:lnTo>
                  <a:lnTo>
                    <a:pt x="148" y="69"/>
                  </a:lnTo>
                  <a:lnTo>
                    <a:pt x="132" y="81"/>
                  </a:lnTo>
                  <a:lnTo>
                    <a:pt x="130" y="80"/>
                  </a:lnTo>
                  <a:lnTo>
                    <a:pt x="121" y="80"/>
                  </a:lnTo>
                  <a:lnTo>
                    <a:pt x="108" y="72"/>
                  </a:lnTo>
                  <a:lnTo>
                    <a:pt x="105" y="71"/>
                  </a:lnTo>
                  <a:lnTo>
                    <a:pt x="100" y="56"/>
                  </a:lnTo>
                  <a:lnTo>
                    <a:pt x="90" y="63"/>
                  </a:lnTo>
                  <a:lnTo>
                    <a:pt x="87" y="60"/>
                  </a:lnTo>
                  <a:lnTo>
                    <a:pt x="88" y="63"/>
                  </a:lnTo>
                  <a:lnTo>
                    <a:pt x="75" y="63"/>
                  </a:lnTo>
                  <a:lnTo>
                    <a:pt x="61" y="63"/>
                  </a:lnTo>
                  <a:lnTo>
                    <a:pt x="64" y="75"/>
                  </a:lnTo>
                  <a:lnTo>
                    <a:pt x="72" y="78"/>
                  </a:lnTo>
                  <a:lnTo>
                    <a:pt x="69" y="83"/>
                  </a:lnTo>
                  <a:lnTo>
                    <a:pt x="58" y="83"/>
                  </a:lnTo>
                  <a:lnTo>
                    <a:pt x="61" y="100"/>
                  </a:lnTo>
                  <a:lnTo>
                    <a:pt x="67" y="119"/>
                  </a:lnTo>
                  <a:lnTo>
                    <a:pt x="64" y="144"/>
                  </a:lnTo>
                  <a:lnTo>
                    <a:pt x="60" y="170"/>
                  </a:lnTo>
                  <a:lnTo>
                    <a:pt x="55" y="170"/>
                  </a:lnTo>
                  <a:lnTo>
                    <a:pt x="42" y="173"/>
                  </a:lnTo>
                  <a:lnTo>
                    <a:pt x="29" y="179"/>
                  </a:lnTo>
                  <a:lnTo>
                    <a:pt x="17" y="185"/>
                  </a:lnTo>
                  <a:lnTo>
                    <a:pt x="12" y="198"/>
                  </a:lnTo>
                  <a:lnTo>
                    <a:pt x="9" y="213"/>
                  </a:lnTo>
                  <a:lnTo>
                    <a:pt x="0" y="227"/>
                  </a:lnTo>
                  <a:lnTo>
                    <a:pt x="7" y="240"/>
                  </a:lnTo>
                  <a:lnTo>
                    <a:pt x="15" y="254"/>
                  </a:lnTo>
                  <a:lnTo>
                    <a:pt x="13" y="262"/>
                  </a:lnTo>
                  <a:lnTo>
                    <a:pt x="21" y="263"/>
                  </a:lnTo>
                  <a:lnTo>
                    <a:pt x="29" y="270"/>
                  </a:lnTo>
                  <a:lnTo>
                    <a:pt x="42" y="274"/>
                  </a:lnTo>
                  <a:lnTo>
                    <a:pt x="53" y="264"/>
                  </a:lnTo>
                  <a:lnTo>
                    <a:pt x="54" y="279"/>
                  </a:lnTo>
                  <a:lnTo>
                    <a:pt x="55" y="292"/>
                  </a:lnTo>
                  <a:lnTo>
                    <a:pt x="72" y="291"/>
                  </a:lnTo>
                  <a:lnTo>
                    <a:pt x="91" y="291"/>
                  </a:lnTo>
                  <a:lnTo>
                    <a:pt x="99" y="286"/>
                  </a:lnTo>
                  <a:lnTo>
                    <a:pt x="112" y="278"/>
                  </a:lnTo>
                  <a:lnTo>
                    <a:pt x="125" y="269"/>
                  </a:lnTo>
                  <a:lnTo>
                    <a:pt x="138" y="270"/>
                  </a:lnTo>
                  <a:lnTo>
                    <a:pt x="139" y="286"/>
                  </a:lnTo>
                  <a:lnTo>
                    <a:pt x="141" y="300"/>
                  </a:lnTo>
                  <a:lnTo>
                    <a:pt x="153" y="314"/>
                  </a:lnTo>
                  <a:lnTo>
                    <a:pt x="165" y="318"/>
                  </a:lnTo>
                  <a:lnTo>
                    <a:pt x="178" y="324"/>
                  </a:lnTo>
                  <a:lnTo>
                    <a:pt x="196" y="336"/>
                  </a:lnTo>
                  <a:lnTo>
                    <a:pt x="214" y="340"/>
                  </a:lnTo>
                  <a:lnTo>
                    <a:pt x="219" y="347"/>
                  </a:lnTo>
                  <a:lnTo>
                    <a:pt x="221" y="365"/>
                  </a:lnTo>
                  <a:lnTo>
                    <a:pt x="217" y="365"/>
                  </a:lnTo>
                  <a:lnTo>
                    <a:pt x="223" y="372"/>
                  </a:lnTo>
                  <a:lnTo>
                    <a:pt x="226" y="386"/>
                  </a:lnTo>
                  <a:lnTo>
                    <a:pt x="240" y="388"/>
                  </a:lnTo>
                  <a:lnTo>
                    <a:pt x="255" y="389"/>
                  </a:lnTo>
                  <a:lnTo>
                    <a:pt x="257" y="405"/>
                  </a:lnTo>
                  <a:lnTo>
                    <a:pt x="267" y="414"/>
                  </a:lnTo>
                  <a:lnTo>
                    <a:pt x="270" y="422"/>
                  </a:lnTo>
                  <a:lnTo>
                    <a:pt x="267" y="435"/>
                  </a:lnTo>
                  <a:lnTo>
                    <a:pt x="263" y="448"/>
                  </a:lnTo>
                  <a:lnTo>
                    <a:pt x="265" y="454"/>
                  </a:lnTo>
                  <a:lnTo>
                    <a:pt x="263" y="456"/>
                  </a:lnTo>
                  <a:lnTo>
                    <a:pt x="267" y="465"/>
                  </a:lnTo>
                  <a:lnTo>
                    <a:pt x="269" y="490"/>
                  </a:lnTo>
                  <a:lnTo>
                    <a:pt x="291" y="492"/>
                  </a:lnTo>
                  <a:lnTo>
                    <a:pt x="303" y="495"/>
                  </a:lnTo>
                  <a:lnTo>
                    <a:pt x="307" y="509"/>
                  </a:lnTo>
                  <a:lnTo>
                    <a:pt x="312" y="524"/>
                  </a:lnTo>
                  <a:lnTo>
                    <a:pt x="321" y="524"/>
                  </a:lnTo>
                  <a:lnTo>
                    <a:pt x="329" y="525"/>
                  </a:lnTo>
                  <a:lnTo>
                    <a:pt x="328" y="539"/>
                  </a:lnTo>
                  <a:lnTo>
                    <a:pt x="328" y="554"/>
                  </a:lnTo>
                  <a:lnTo>
                    <a:pt x="337" y="554"/>
                  </a:lnTo>
                  <a:lnTo>
                    <a:pt x="345" y="576"/>
                  </a:lnTo>
                  <a:lnTo>
                    <a:pt x="335" y="586"/>
                  </a:lnTo>
                  <a:lnTo>
                    <a:pt x="325" y="594"/>
                  </a:lnTo>
                  <a:lnTo>
                    <a:pt x="317" y="605"/>
                  </a:lnTo>
                  <a:lnTo>
                    <a:pt x="309" y="615"/>
                  </a:lnTo>
                  <a:lnTo>
                    <a:pt x="300" y="626"/>
                  </a:lnTo>
                  <a:lnTo>
                    <a:pt x="292" y="636"/>
                  </a:lnTo>
                  <a:lnTo>
                    <a:pt x="300" y="635"/>
                  </a:lnTo>
                  <a:lnTo>
                    <a:pt x="319" y="650"/>
                  </a:lnTo>
                  <a:lnTo>
                    <a:pt x="323" y="650"/>
                  </a:lnTo>
                  <a:lnTo>
                    <a:pt x="333" y="656"/>
                  </a:lnTo>
                  <a:lnTo>
                    <a:pt x="349" y="668"/>
                  </a:lnTo>
                  <a:lnTo>
                    <a:pt x="365" y="680"/>
                  </a:lnTo>
                  <a:lnTo>
                    <a:pt x="364" y="688"/>
                  </a:lnTo>
                  <a:lnTo>
                    <a:pt x="367" y="700"/>
                  </a:lnTo>
                  <a:lnTo>
                    <a:pt x="373" y="689"/>
                  </a:lnTo>
                  <a:lnTo>
                    <a:pt x="378" y="677"/>
                  </a:lnTo>
                  <a:lnTo>
                    <a:pt x="379" y="666"/>
                  </a:lnTo>
                  <a:lnTo>
                    <a:pt x="384" y="656"/>
                  </a:lnTo>
                  <a:lnTo>
                    <a:pt x="390" y="647"/>
                  </a:lnTo>
                  <a:lnTo>
                    <a:pt x="389" y="636"/>
                  </a:lnTo>
                  <a:lnTo>
                    <a:pt x="396" y="639"/>
                  </a:lnTo>
                  <a:lnTo>
                    <a:pt x="400" y="639"/>
                  </a:lnTo>
                  <a:lnTo>
                    <a:pt x="394" y="652"/>
                  </a:lnTo>
                  <a:lnTo>
                    <a:pt x="387" y="665"/>
                  </a:lnTo>
                  <a:lnTo>
                    <a:pt x="382" y="669"/>
                  </a:lnTo>
                  <a:lnTo>
                    <a:pt x="383" y="670"/>
                  </a:lnTo>
                  <a:lnTo>
                    <a:pt x="394" y="656"/>
                  </a:lnTo>
                  <a:lnTo>
                    <a:pt x="405" y="641"/>
                  </a:lnTo>
                  <a:lnTo>
                    <a:pt x="411" y="627"/>
                  </a:lnTo>
                  <a:lnTo>
                    <a:pt x="417" y="612"/>
                  </a:lnTo>
                  <a:lnTo>
                    <a:pt x="421" y="604"/>
                  </a:lnTo>
                  <a:lnTo>
                    <a:pt x="423" y="604"/>
                  </a:lnTo>
                  <a:lnTo>
                    <a:pt x="423" y="590"/>
                  </a:lnTo>
                  <a:lnTo>
                    <a:pt x="423" y="575"/>
                  </a:lnTo>
                  <a:lnTo>
                    <a:pt x="419" y="564"/>
                  </a:lnTo>
                  <a:lnTo>
                    <a:pt x="419" y="558"/>
                  </a:lnTo>
                  <a:lnTo>
                    <a:pt x="421" y="552"/>
                  </a:lnTo>
                  <a:lnTo>
                    <a:pt x="419" y="551"/>
                  </a:lnTo>
                  <a:lnTo>
                    <a:pt x="425" y="550"/>
                  </a:lnTo>
                  <a:lnTo>
                    <a:pt x="439" y="537"/>
                  </a:lnTo>
                  <a:lnTo>
                    <a:pt x="453" y="524"/>
                  </a:lnTo>
                  <a:lnTo>
                    <a:pt x="466" y="520"/>
                  </a:lnTo>
                  <a:lnTo>
                    <a:pt x="478" y="512"/>
                  </a:lnTo>
                  <a:lnTo>
                    <a:pt x="483" y="507"/>
                  </a:lnTo>
                  <a:lnTo>
                    <a:pt x="493" y="507"/>
                  </a:lnTo>
                  <a:lnTo>
                    <a:pt x="489" y="508"/>
                  </a:lnTo>
                  <a:lnTo>
                    <a:pt x="499" y="504"/>
                  </a:lnTo>
                  <a:lnTo>
                    <a:pt x="502" y="503"/>
                  </a:lnTo>
                  <a:lnTo>
                    <a:pt x="519" y="503"/>
                  </a:lnTo>
                  <a:lnTo>
                    <a:pt x="523" y="494"/>
                  </a:lnTo>
                  <a:lnTo>
                    <a:pt x="533" y="489"/>
                  </a:lnTo>
                  <a:lnTo>
                    <a:pt x="535" y="468"/>
                  </a:lnTo>
                  <a:lnTo>
                    <a:pt x="543" y="454"/>
                  </a:lnTo>
                  <a:lnTo>
                    <a:pt x="550" y="441"/>
                  </a:lnTo>
                  <a:lnTo>
                    <a:pt x="552" y="417"/>
                  </a:lnTo>
                  <a:lnTo>
                    <a:pt x="556" y="407"/>
                  </a:lnTo>
                  <a:lnTo>
                    <a:pt x="557" y="390"/>
                  </a:lnTo>
                  <a:lnTo>
                    <a:pt x="558" y="372"/>
                  </a:lnTo>
                  <a:lnTo>
                    <a:pt x="557" y="359"/>
                  </a:lnTo>
                  <a:lnTo>
                    <a:pt x="557" y="346"/>
                  </a:lnTo>
                  <a:lnTo>
                    <a:pt x="555" y="341"/>
                  </a:lnTo>
                  <a:lnTo>
                    <a:pt x="557" y="324"/>
                  </a:lnTo>
                  <a:lnTo>
                    <a:pt x="562" y="322"/>
                  </a:lnTo>
                  <a:lnTo>
                    <a:pt x="563" y="328"/>
                  </a:lnTo>
                  <a:lnTo>
                    <a:pt x="571" y="314"/>
                  </a:lnTo>
                  <a:lnTo>
                    <a:pt x="580" y="299"/>
                  </a:lnTo>
                  <a:lnTo>
                    <a:pt x="580" y="298"/>
                  </a:lnTo>
                  <a:lnTo>
                    <a:pt x="583" y="293"/>
                  </a:lnTo>
                  <a:lnTo>
                    <a:pt x="593" y="281"/>
                  </a:lnTo>
                  <a:lnTo>
                    <a:pt x="603" y="268"/>
                  </a:lnTo>
                  <a:lnTo>
                    <a:pt x="616" y="248"/>
                  </a:lnTo>
                  <a:lnTo>
                    <a:pt x="618" y="222"/>
                  </a:lnTo>
                  <a:lnTo>
                    <a:pt x="612" y="204"/>
                  </a:lnTo>
                  <a:lnTo>
                    <a:pt x="605" y="186"/>
                  </a:lnTo>
                  <a:lnTo>
                    <a:pt x="592" y="184"/>
                  </a:lnTo>
                  <a:lnTo>
                    <a:pt x="580" y="182"/>
                  </a:lnTo>
                  <a:lnTo>
                    <a:pt x="563" y="166"/>
                  </a:lnTo>
                  <a:lnTo>
                    <a:pt x="545" y="152"/>
                  </a:lnTo>
                  <a:lnTo>
                    <a:pt x="523" y="144"/>
                  </a:lnTo>
                  <a:lnTo>
                    <a:pt x="508" y="146"/>
                  </a:lnTo>
                  <a:lnTo>
                    <a:pt x="495" y="142"/>
                  </a:lnTo>
                  <a:lnTo>
                    <a:pt x="480" y="138"/>
                  </a:lnTo>
                  <a:lnTo>
                    <a:pt x="468" y="143"/>
                  </a:lnTo>
                  <a:lnTo>
                    <a:pt x="469" y="13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2" name="Freeform 241"/>
            <p:cNvSpPr>
              <a:spLocks/>
            </p:cNvSpPr>
            <p:nvPr/>
          </p:nvSpPr>
          <p:spPr bwMode="auto">
            <a:xfrm>
              <a:off x="1636" y="2707"/>
              <a:ext cx="44" cy="34"/>
            </a:xfrm>
            <a:custGeom>
              <a:avLst/>
              <a:gdLst/>
              <a:ahLst/>
              <a:cxnLst>
                <a:cxn ang="0">
                  <a:pos x="19" y="28"/>
                </a:cxn>
                <a:cxn ang="0">
                  <a:pos x="17" y="29"/>
                </a:cxn>
                <a:cxn ang="0">
                  <a:pos x="8" y="26"/>
                </a:cxn>
                <a:cxn ang="0">
                  <a:pos x="5" y="30"/>
                </a:cxn>
                <a:cxn ang="0">
                  <a:pos x="0" y="17"/>
                </a:cxn>
                <a:cxn ang="0">
                  <a:pos x="2" y="17"/>
                </a:cxn>
                <a:cxn ang="0">
                  <a:pos x="1" y="10"/>
                </a:cxn>
                <a:cxn ang="0">
                  <a:pos x="6" y="0"/>
                </a:cxn>
                <a:cxn ang="0">
                  <a:pos x="21" y="2"/>
                </a:cxn>
                <a:cxn ang="0">
                  <a:pos x="38" y="4"/>
                </a:cxn>
                <a:cxn ang="0">
                  <a:pos x="30" y="20"/>
                </a:cxn>
                <a:cxn ang="0">
                  <a:pos x="29" y="21"/>
                </a:cxn>
                <a:cxn ang="0">
                  <a:pos x="27" y="26"/>
                </a:cxn>
                <a:cxn ang="0">
                  <a:pos x="25" y="26"/>
                </a:cxn>
                <a:cxn ang="0">
                  <a:pos x="19" y="28"/>
                </a:cxn>
              </a:cxnLst>
              <a:rect l="0" t="0" r="r" b="b"/>
              <a:pathLst>
                <a:path w="38" h="30">
                  <a:moveTo>
                    <a:pt x="19" y="28"/>
                  </a:moveTo>
                  <a:lnTo>
                    <a:pt x="17" y="29"/>
                  </a:lnTo>
                  <a:lnTo>
                    <a:pt x="8" y="26"/>
                  </a:lnTo>
                  <a:lnTo>
                    <a:pt x="5" y="30"/>
                  </a:lnTo>
                  <a:lnTo>
                    <a:pt x="0" y="17"/>
                  </a:lnTo>
                  <a:lnTo>
                    <a:pt x="2" y="17"/>
                  </a:lnTo>
                  <a:lnTo>
                    <a:pt x="1" y="10"/>
                  </a:lnTo>
                  <a:lnTo>
                    <a:pt x="6" y="0"/>
                  </a:lnTo>
                  <a:lnTo>
                    <a:pt x="21" y="2"/>
                  </a:lnTo>
                  <a:lnTo>
                    <a:pt x="38" y="4"/>
                  </a:lnTo>
                  <a:lnTo>
                    <a:pt x="30" y="20"/>
                  </a:lnTo>
                  <a:lnTo>
                    <a:pt x="29" y="21"/>
                  </a:lnTo>
                  <a:lnTo>
                    <a:pt x="27" y="26"/>
                  </a:lnTo>
                  <a:lnTo>
                    <a:pt x="25" y="26"/>
                  </a:lnTo>
                  <a:lnTo>
                    <a:pt x="19"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3" name="Freeform 242"/>
            <p:cNvSpPr>
              <a:spLocks/>
            </p:cNvSpPr>
            <p:nvPr/>
          </p:nvSpPr>
          <p:spPr bwMode="auto">
            <a:xfrm>
              <a:off x="1451" y="3092"/>
              <a:ext cx="147" cy="162"/>
            </a:xfrm>
            <a:custGeom>
              <a:avLst/>
              <a:gdLst/>
              <a:ahLst/>
              <a:cxnLst>
                <a:cxn ang="0">
                  <a:pos x="7" y="13"/>
                </a:cxn>
                <a:cxn ang="0">
                  <a:pos x="4" y="32"/>
                </a:cxn>
                <a:cxn ang="0">
                  <a:pos x="0" y="52"/>
                </a:cxn>
                <a:cxn ang="0">
                  <a:pos x="16" y="66"/>
                </a:cxn>
                <a:cxn ang="0">
                  <a:pos x="31" y="80"/>
                </a:cxn>
                <a:cxn ang="0">
                  <a:pos x="43" y="86"/>
                </a:cxn>
                <a:cxn ang="0">
                  <a:pos x="56" y="92"/>
                </a:cxn>
                <a:cxn ang="0">
                  <a:pos x="71" y="101"/>
                </a:cxn>
                <a:cxn ang="0">
                  <a:pos x="85" y="109"/>
                </a:cxn>
                <a:cxn ang="0">
                  <a:pos x="79" y="126"/>
                </a:cxn>
                <a:cxn ang="0">
                  <a:pos x="73" y="143"/>
                </a:cxn>
                <a:cxn ang="0">
                  <a:pos x="91" y="144"/>
                </a:cxn>
                <a:cxn ang="0">
                  <a:pos x="109" y="145"/>
                </a:cxn>
                <a:cxn ang="0">
                  <a:pos x="120" y="142"/>
                </a:cxn>
                <a:cxn ang="0">
                  <a:pos x="132" y="122"/>
                </a:cxn>
                <a:cxn ang="0">
                  <a:pos x="131" y="112"/>
                </a:cxn>
                <a:cxn ang="0">
                  <a:pos x="131" y="97"/>
                </a:cxn>
                <a:cxn ang="0">
                  <a:pos x="132" y="83"/>
                </a:cxn>
                <a:cxn ang="0">
                  <a:pos x="124" y="82"/>
                </a:cxn>
                <a:cxn ang="0">
                  <a:pos x="115" y="82"/>
                </a:cxn>
                <a:cxn ang="0">
                  <a:pos x="110" y="67"/>
                </a:cxn>
                <a:cxn ang="0">
                  <a:pos x="106" y="53"/>
                </a:cxn>
                <a:cxn ang="0">
                  <a:pos x="94" y="50"/>
                </a:cxn>
                <a:cxn ang="0">
                  <a:pos x="72" y="48"/>
                </a:cxn>
                <a:cxn ang="0">
                  <a:pos x="70" y="23"/>
                </a:cxn>
                <a:cxn ang="0">
                  <a:pos x="66" y="14"/>
                </a:cxn>
                <a:cxn ang="0">
                  <a:pos x="66" y="11"/>
                </a:cxn>
                <a:cxn ang="0">
                  <a:pos x="50" y="0"/>
                </a:cxn>
                <a:cxn ang="0">
                  <a:pos x="30" y="2"/>
                </a:cxn>
                <a:cxn ang="0">
                  <a:pos x="10" y="5"/>
                </a:cxn>
                <a:cxn ang="0">
                  <a:pos x="7" y="13"/>
                </a:cxn>
              </a:cxnLst>
              <a:rect l="0" t="0" r="r" b="b"/>
              <a:pathLst>
                <a:path w="132" h="145">
                  <a:moveTo>
                    <a:pt x="7" y="13"/>
                  </a:moveTo>
                  <a:lnTo>
                    <a:pt x="4" y="32"/>
                  </a:lnTo>
                  <a:lnTo>
                    <a:pt x="0" y="52"/>
                  </a:lnTo>
                  <a:lnTo>
                    <a:pt x="16" y="66"/>
                  </a:lnTo>
                  <a:lnTo>
                    <a:pt x="31" y="80"/>
                  </a:lnTo>
                  <a:lnTo>
                    <a:pt x="43" y="86"/>
                  </a:lnTo>
                  <a:lnTo>
                    <a:pt x="56" y="92"/>
                  </a:lnTo>
                  <a:lnTo>
                    <a:pt x="71" y="101"/>
                  </a:lnTo>
                  <a:lnTo>
                    <a:pt x="85" y="109"/>
                  </a:lnTo>
                  <a:lnTo>
                    <a:pt x="79" y="126"/>
                  </a:lnTo>
                  <a:lnTo>
                    <a:pt x="73" y="143"/>
                  </a:lnTo>
                  <a:lnTo>
                    <a:pt x="91" y="144"/>
                  </a:lnTo>
                  <a:lnTo>
                    <a:pt x="109" y="145"/>
                  </a:lnTo>
                  <a:lnTo>
                    <a:pt x="120" y="142"/>
                  </a:lnTo>
                  <a:lnTo>
                    <a:pt x="132" y="122"/>
                  </a:lnTo>
                  <a:lnTo>
                    <a:pt x="131" y="112"/>
                  </a:lnTo>
                  <a:lnTo>
                    <a:pt x="131" y="97"/>
                  </a:lnTo>
                  <a:lnTo>
                    <a:pt x="132" y="83"/>
                  </a:lnTo>
                  <a:lnTo>
                    <a:pt x="124" y="82"/>
                  </a:lnTo>
                  <a:lnTo>
                    <a:pt x="115" y="82"/>
                  </a:lnTo>
                  <a:lnTo>
                    <a:pt x="110" y="67"/>
                  </a:lnTo>
                  <a:lnTo>
                    <a:pt x="106" y="53"/>
                  </a:lnTo>
                  <a:lnTo>
                    <a:pt x="94" y="50"/>
                  </a:lnTo>
                  <a:lnTo>
                    <a:pt x="72" y="48"/>
                  </a:lnTo>
                  <a:lnTo>
                    <a:pt x="70" y="23"/>
                  </a:lnTo>
                  <a:lnTo>
                    <a:pt x="66" y="14"/>
                  </a:lnTo>
                  <a:lnTo>
                    <a:pt x="66" y="11"/>
                  </a:lnTo>
                  <a:lnTo>
                    <a:pt x="50" y="0"/>
                  </a:lnTo>
                  <a:lnTo>
                    <a:pt x="30" y="2"/>
                  </a:lnTo>
                  <a:lnTo>
                    <a:pt x="10" y="5"/>
                  </a:lnTo>
                  <a:lnTo>
                    <a:pt x="7"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4" name="Freeform 243"/>
            <p:cNvSpPr>
              <a:spLocks/>
            </p:cNvSpPr>
            <p:nvPr/>
          </p:nvSpPr>
          <p:spPr bwMode="auto">
            <a:xfrm>
              <a:off x="1556" y="3307"/>
              <a:ext cx="84" cy="94"/>
            </a:xfrm>
            <a:custGeom>
              <a:avLst/>
              <a:gdLst/>
              <a:ahLst/>
              <a:cxnLst>
                <a:cxn ang="0">
                  <a:pos x="74" y="45"/>
                </a:cxn>
                <a:cxn ang="0">
                  <a:pos x="58" y="33"/>
                </a:cxn>
                <a:cxn ang="0">
                  <a:pos x="42" y="21"/>
                </a:cxn>
                <a:cxn ang="0">
                  <a:pos x="32" y="15"/>
                </a:cxn>
                <a:cxn ang="0">
                  <a:pos x="28" y="15"/>
                </a:cxn>
                <a:cxn ang="0">
                  <a:pos x="9" y="0"/>
                </a:cxn>
                <a:cxn ang="0">
                  <a:pos x="1" y="1"/>
                </a:cxn>
                <a:cxn ang="0">
                  <a:pos x="1" y="3"/>
                </a:cxn>
                <a:cxn ang="0">
                  <a:pos x="1" y="22"/>
                </a:cxn>
                <a:cxn ang="0">
                  <a:pos x="0" y="42"/>
                </a:cxn>
                <a:cxn ang="0">
                  <a:pos x="1" y="45"/>
                </a:cxn>
                <a:cxn ang="0">
                  <a:pos x="0" y="59"/>
                </a:cxn>
                <a:cxn ang="0">
                  <a:pos x="7" y="73"/>
                </a:cxn>
                <a:cxn ang="0">
                  <a:pos x="26" y="82"/>
                </a:cxn>
                <a:cxn ang="0">
                  <a:pos x="51" y="85"/>
                </a:cxn>
                <a:cxn ang="0">
                  <a:pos x="66" y="81"/>
                </a:cxn>
                <a:cxn ang="0">
                  <a:pos x="76" y="65"/>
                </a:cxn>
                <a:cxn ang="0">
                  <a:pos x="73" y="53"/>
                </a:cxn>
                <a:cxn ang="0">
                  <a:pos x="74" y="45"/>
                </a:cxn>
              </a:cxnLst>
              <a:rect l="0" t="0" r="r" b="b"/>
              <a:pathLst>
                <a:path w="76" h="85">
                  <a:moveTo>
                    <a:pt x="74" y="45"/>
                  </a:moveTo>
                  <a:lnTo>
                    <a:pt x="58" y="33"/>
                  </a:lnTo>
                  <a:lnTo>
                    <a:pt x="42" y="21"/>
                  </a:lnTo>
                  <a:lnTo>
                    <a:pt x="32" y="15"/>
                  </a:lnTo>
                  <a:lnTo>
                    <a:pt x="28" y="15"/>
                  </a:lnTo>
                  <a:lnTo>
                    <a:pt x="9" y="0"/>
                  </a:lnTo>
                  <a:lnTo>
                    <a:pt x="1" y="1"/>
                  </a:lnTo>
                  <a:lnTo>
                    <a:pt x="1" y="3"/>
                  </a:lnTo>
                  <a:lnTo>
                    <a:pt x="1" y="22"/>
                  </a:lnTo>
                  <a:lnTo>
                    <a:pt x="0" y="42"/>
                  </a:lnTo>
                  <a:lnTo>
                    <a:pt x="1" y="45"/>
                  </a:lnTo>
                  <a:lnTo>
                    <a:pt x="0" y="59"/>
                  </a:lnTo>
                  <a:lnTo>
                    <a:pt x="7" y="73"/>
                  </a:lnTo>
                  <a:lnTo>
                    <a:pt x="26" y="82"/>
                  </a:lnTo>
                  <a:lnTo>
                    <a:pt x="51" y="85"/>
                  </a:lnTo>
                  <a:lnTo>
                    <a:pt x="66" y="81"/>
                  </a:lnTo>
                  <a:lnTo>
                    <a:pt x="76" y="65"/>
                  </a:lnTo>
                  <a:lnTo>
                    <a:pt x="73" y="53"/>
                  </a:lnTo>
                  <a:lnTo>
                    <a:pt x="74" y="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5" name="Freeform 244"/>
            <p:cNvSpPr>
              <a:spLocks/>
            </p:cNvSpPr>
            <p:nvPr/>
          </p:nvSpPr>
          <p:spPr bwMode="auto">
            <a:xfrm>
              <a:off x="1345" y="3141"/>
              <a:ext cx="271" cy="604"/>
            </a:xfrm>
            <a:custGeom>
              <a:avLst/>
              <a:gdLst/>
              <a:ahLst/>
              <a:cxnLst>
                <a:cxn ang="0">
                  <a:pos x="136" y="345"/>
                </a:cxn>
                <a:cxn ang="0">
                  <a:pos x="132" y="366"/>
                </a:cxn>
                <a:cxn ang="0">
                  <a:pos x="143" y="367"/>
                </a:cxn>
                <a:cxn ang="0">
                  <a:pos x="151" y="377"/>
                </a:cxn>
                <a:cxn ang="0">
                  <a:pos x="132" y="375"/>
                </a:cxn>
                <a:cxn ang="0">
                  <a:pos x="133" y="394"/>
                </a:cxn>
                <a:cxn ang="0">
                  <a:pos x="132" y="417"/>
                </a:cxn>
                <a:cxn ang="0">
                  <a:pos x="116" y="441"/>
                </a:cxn>
                <a:cxn ang="0">
                  <a:pos x="148" y="457"/>
                </a:cxn>
                <a:cxn ang="0">
                  <a:pos x="148" y="468"/>
                </a:cxn>
                <a:cxn ang="0">
                  <a:pos x="132" y="491"/>
                </a:cxn>
                <a:cxn ang="0">
                  <a:pos x="124" y="502"/>
                </a:cxn>
                <a:cxn ang="0">
                  <a:pos x="127" y="507"/>
                </a:cxn>
                <a:cxn ang="0">
                  <a:pos x="121" y="521"/>
                </a:cxn>
                <a:cxn ang="0">
                  <a:pos x="125" y="531"/>
                </a:cxn>
                <a:cxn ang="0">
                  <a:pos x="143" y="545"/>
                </a:cxn>
                <a:cxn ang="0">
                  <a:pos x="91" y="535"/>
                </a:cxn>
                <a:cxn ang="0">
                  <a:pos x="74" y="514"/>
                </a:cxn>
                <a:cxn ang="0">
                  <a:pos x="52" y="491"/>
                </a:cxn>
                <a:cxn ang="0">
                  <a:pos x="59" y="457"/>
                </a:cxn>
                <a:cxn ang="0">
                  <a:pos x="54" y="424"/>
                </a:cxn>
                <a:cxn ang="0">
                  <a:pos x="44" y="412"/>
                </a:cxn>
                <a:cxn ang="0">
                  <a:pos x="42" y="402"/>
                </a:cxn>
                <a:cxn ang="0">
                  <a:pos x="29" y="373"/>
                </a:cxn>
                <a:cxn ang="0">
                  <a:pos x="22" y="335"/>
                </a:cxn>
                <a:cxn ang="0">
                  <a:pos x="23" y="305"/>
                </a:cxn>
                <a:cxn ang="0">
                  <a:pos x="17" y="280"/>
                </a:cxn>
                <a:cxn ang="0">
                  <a:pos x="20" y="252"/>
                </a:cxn>
                <a:cxn ang="0">
                  <a:pos x="19" y="217"/>
                </a:cxn>
                <a:cxn ang="0">
                  <a:pos x="7" y="192"/>
                </a:cxn>
                <a:cxn ang="0">
                  <a:pos x="1" y="166"/>
                </a:cxn>
                <a:cxn ang="0">
                  <a:pos x="2" y="142"/>
                </a:cxn>
                <a:cxn ang="0">
                  <a:pos x="8" y="113"/>
                </a:cxn>
                <a:cxn ang="0">
                  <a:pos x="19" y="91"/>
                </a:cxn>
                <a:cxn ang="0">
                  <a:pos x="11" y="57"/>
                </a:cxn>
                <a:cxn ang="0">
                  <a:pos x="26" y="40"/>
                </a:cxn>
                <a:cxn ang="0">
                  <a:pos x="26" y="18"/>
                </a:cxn>
                <a:cxn ang="0">
                  <a:pos x="43" y="3"/>
                </a:cxn>
                <a:cxn ang="0">
                  <a:pos x="70" y="17"/>
                </a:cxn>
                <a:cxn ang="0">
                  <a:pos x="92" y="4"/>
                </a:cxn>
                <a:cxn ang="0">
                  <a:pos x="112" y="23"/>
                </a:cxn>
                <a:cxn ang="0">
                  <a:pos x="139" y="43"/>
                </a:cxn>
                <a:cxn ang="0">
                  <a:pos x="167" y="58"/>
                </a:cxn>
                <a:cxn ang="0">
                  <a:pos x="175" y="83"/>
                </a:cxn>
                <a:cxn ang="0">
                  <a:pos x="187" y="101"/>
                </a:cxn>
                <a:cxn ang="0">
                  <a:pos x="216" y="99"/>
                </a:cxn>
                <a:cxn ang="0">
                  <a:pos x="227" y="69"/>
                </a:cxn>
                <a:cxn ang="0">
                  <a:pos x="244" y="91"/>
                </a:cxn>
                <a:cxn ang="0">
                  <a:pos x="224" y="109"/>
                </a:cxn>
                <a:cxn ang="0">
                  <a:pos x="208" y="130"/>
                </a:cxn>
                <a:cxn ang="0">
                  <a:pos x="191" y="151"/>
                </a:cxn>
                <a:cxn ang="0">
                  <a:pos x="191" y="172"/>
                </a:cxn>
                <a:cxn ang="0">
                  <a:pos x="192" y="203"/>
                </a:cxn>
                <a:cxn ang="0">
                  <a:pos x="194" y="232"/>
                </a:cxn>
                <a:cxn ang="0">
                  <a:pos x="217" y="258"/>
                </a:cxn>
                <a:cxn ang="0">
                  <a:pos x="221" y="281"/>
                </a:cxn>
                <a:cxn ang="0">
                  <a:pos x="202" y="300"/>
                </a:cxn>
                <a:cxn ang="0">
                  <a:pos x="176" y="306"/>
                </a:cxn>
                <a:cxn ang="0">
                  <a:pos x="152" y="309"/>
                </a:cxn>
                <a:cxn ang="0">
                  <a:pos x="160" y="337"/>
                </a:cxn>
              </a:cxnLst>
              <a:rect l="0" t="0" r="r" b="b"/>
              <a:pathLst>
                <a:path w="244" h="545">
                  <a:moveTo>
                    <a:pt x="156" y="346"/>
                  </a:moveTo>
                  <a:lnTo>
                    <a:pt x="136" y="345"/>
                  </a:lnTo>
                  <a:lnTo>
                    <a:pt x="120" y="342"/>
                  </a:lnTo>
                  <a:lnTo>
                    <a:pt x="132" y="366"/>
                  </a:lnTo>
                  <a:lnTo>
                    <a:pt x="137" y="369"/>
                  </a:lnTo>
                  <a:lnTo>
                    <a:pt x="143" y="367"/>
                  </a:lnTo>
                  <a:lnTo>
                    <a:pt x="146" y="364"/>
                  </a:lnTo>
                  <a:lnTo>
                    <a:pt x="151" y="377"/>
                  </a:lnTo>
                  <a:lnTo>
                    <a:pt x="143" y="375"/>
                  </a:lnTo>
                  <a:lnTo>
                    <a:pt x="132" y="375"/>
                  </a:lnTo>
                  <a:lnTo>
                    <a:pt x="144" y="381"/>
                  </a:lnTo>
                  <a:lnTo>
                    <a:pt x="133" y="394"/>
                  </a:lnTo>
                  <a:lnTo>
                    <a:pt x="134" y="408"/>
                  </a:lnTo>
                  <a:lnTo>
                    <a:pt x="132" y="417"/>
                  </a:lnTo>
                  <a:lnTo>
                    <a:pt x="116" y="424"/>
                  </a:lnTo>
                  <a:lnTo>
                    <a:pt x="116" y="441"/>
                  </a:lnTo>
                  <a:lnTo>
                    <a:pt x="139" y="453"/>
                  </a:lnTo>
                  <a:lnTo>
                    <a:pt x="148" y="457"/>
                  </a:lnTo>
                  <a:lnTo>
                    <a:pt x="143" y="466"/>
                  </a:lnTo>
                  <a:lnTo>
                    <a:pt x="148" y="468"/>
                  </a:lnTo>
                  <a:lnTo>
                    <a:pt x="140" y="479"/>
                  </a:lnTo>
                  <a:lnTo>
                    <a:pt x="132" y="491"/>
                  </a:lnTo>
                  <a:lnTo>
                    <a:pt x="131" y="504"/>
                  </a:lnTo>
                  <a:lnTo>
                    <a:pt x="124" y="502"/>
                  </a:lnTo>
                  <a:lnTo>
                    <a:pt x="120" y="503"/>
                  </a:lnTo>
                  <a:lnTo>
                    <a:pt x="127" y="507"/>
                  </a:lnTo>
                  <a:lnTo>
                    <a:pt x="121" y="516"/>
                  </a:lnTo>
                  <a:lnTo>
                    <a:pt x="121" y="521"/>
                  </a:lnTo>
                  <a:lnTo>
                    <a:pt x="128" y="532"/>
                  </a:lnTo>
                  <a:lnTo>
                    <a:pt x="125" y="531"/>
                  </a:lnTo>
                  <a:lnTo>
                    <a:pt x="134" y="535"/>
                  </a:lnTo>
                  <a:lnTo>
                    <a:pt x="143" y="545"/>
                  </a:lnTo>
                  <a:lnTo>
                    <a:pt x="119" y="538"/>
                  </a:lnTo>
                  <a:lnTo>
                    <a:pt x="91" y="535"/>
                  </a:lnTo>
                  <a:lnTo>
                    <a:pt x="83" y="527"/>
                  </a:lnTo>
                  <a:lnTo>
                    <a:pt x="74" y="514"/>
                  </a:lnTo>
                  <a:lnTo>
                    <a:pt x="66" y="515"/>
                  </a:lnTo>
                  <a:lnTo>
                    <a:pt x="52" y="491"/>
                  </a:lnTo>
                  <a:lnTo>
                    <a:pt x="61" y="481"/>
                  </a:lnTo>
                  <a:lnTo>
                    <a:pt x="59" y="457"/>
                  </a:lnTo>
                  <a:lnTo>
                    <a:pt x="55" y="437"/>
                  </a:lnTo>
                  <a:lnTo>
                    <a:pt x="54" y="424"/>
                  </a:lnTo>
                  <a:lnTo>
                    <a:pt x="50" y="415"/>
                  </a:lnTo>
                  <a:lnTo>
                    <a:pt x="44" y="412"/>
                  </a:lnTo>
                  <a:lnTo>
                    <a:pt x="54" y="408"/>
                  </a:lnTo>
                  <a:lnTo>
                    <a:pt x="42" y="402"/>
                  </a:lnTo>
                  <a:lnTo>
                    <a:pt x="36" y="383"/>
                  </a:lnTo>
                  <a:lnTo>
                    <a:pt x="29" y="373"/>
                  </a:lnTo>
                  <a:lnTo>
                    <a:pt x="28" y="359"/>
                  </a:lnTo>
                  <a:lnTo>
                    <a:pt x="22" y="335"/>
                  </a:lnTo>
                  <a:lnTo>
                    <a:pt x="20" y="316"/>
                  </a:lnTo>
                  <a:lnTo>
                    <a:pt x="23" y="305"/>
                  </a:lnTo>
                  <a:lnTo>
                    <a:pt x="22" y="294"/>
                  </a:lnTo>
                  <a:lnTo>
                    <a:pt x="17" y="280"/>
                  </a:lnTo>
                  <a:lnTo>
                    <a:pt x="13" y="264"/>
                  </a:lnTo>
                  <a:lnTo>
                    <a:pt x="20" y="252"/>
                  </a:lnTo>
                  <a:lnTo>
                    <a:pt x="17" y="240"/>
                  </a:lnTo>
                  <a:lnTo>
                    <a:pt x="19" y="217"/>
                  </a:lnTo>
                  <a:lnTo>
                    <a:pt x="14" y="207"/>
                  </a:lnTo>
                  <a:lnTo>
                    <a:pt x="7" y="192"/>
                  </a:lnTo>
                  <a:lnTo>
                    <a:pt x="0" y="178"/>
                  </a:lnTo>
                  <a:lnTo>
                    <a:pt x="1" y="166"/>
                  </a:lnTo>
                  <a:lnTo>
                    <a:pt x="4" y="155"/>
                  </a:lnTo>
                  <a:lnTo>
                    <a:pt x="2" y="142"/>
                  </a:lnTo>
                  <a:lnTo>
                    <a:pt x="2" y="129"/>
                  </a:lnTo>
                  <a:lnTo>
                    <a:pt x="8" y="113"/>
                  </a:lnTo>
                  <a:lnTo>
                    <a:pt x="14" y="96"/>
                  </a:lnTo>
                  <a:lnTo>
                    <a:pt x="19" y="91"/>
                  </a:lnTo>
                  <a:lnTo>
                    <a:pt x="13" y="82"/>
                  </a:lnTo>
                  <a:lnTo>
                    <a:pt x="11" y="57"/>
                  </a:lnTo>
                  <a:lnTo>
                    <a:pt x="13" y="47"/>
                  </a:lnTo>
                  <a:lnTo>
                    <a:pt x="26" y="40"/>
                  </a:lnTo>
                  <a:lnTo>
                    <a:pt x="30" y="22"/>
                  </a:lnTo>
                  <a:lnTo>
                    <a:pt x="26" y="18"/>
                  </a:lnTo>
                  <a:lnTo>
                    <a:pt x="40" y="0"/>
                  </a:lnTo>
                  <a:lnTo>
                    <a:pt x="43" y="3"/>
                  </a:lnTo>
                  <a:lnTo>
                    <a:pt x="62" y="6"/>
                  </a:lnTo>
                  <a:lnTo>
                    <a:pt x="70" y="17"/>
                  </a:lnTo>
                  <a:lnTo>
                    <a:pt x="74" y="7"/>
                  </a:lnTo>
                  <a:lnTo>
                    <a:pt x="92" y="4"/>
                  </a:lnTo>
                  <a:lnTo>
                    <a:pt x="96" y="9"/>
                  </a:lnTo>
                  <a:lnTo>
                    <a:pt x="112" y="23"/>
                  </a:lnTo>
                  <a:lnTo>
                    <a:pt x="127" y="37"/>
                  </a:lnTo>
                  <a:lnTo>
                    <a:pt x="139" y="43"/>
                  </a:lnTo>
                  <a:lnTo>
                    <a:pt x="152" y="49"/>
                  </a:lnTo>
                  <a:lnTo>
                    <a:pt x="167" y="58"/>
                  </a:lnTo>
                  <a:lnTo>
                    <a:pt x="181" y="66"/>
                  </a:lnTo>
                  <a:lnTo>
                    <a:pt x="175" y="83"/>
                  </a:lnTo>
                  <a:lnTo>
                    <a:pt x="169" y="100"/>
                  </a:lnTo>
                  <a:lnTo>
                    <a:pt x="187" y="101"/>
                  </a:lnTo>
                  <a:lnTo>
                    <a:pt x="205" y="102"/>
                  </a:lnTo>
                  <a:lnTo>
                    <a:pt x="216" y="99"/>
                  </a:lnTo>
                  <a:lnTo>
                    <a:pt x="228" y="79"/>
                  </a:lnTo>
                  <a:lnTo>
                    <a:pt x="227" y="69"/>
                  </a:lnTo>
                  <a:lnTo>
                    <a:pt x="236" y="69"/>
                  </a:lnTo>
                  <a:lnTo>
                    <a:pt x="244" y="91"/>
                  </a:lnTo>
                  <a:lnTo>
                    <a:pt x="234" y="101"/>
                  </a:lnTo>
                  <a:lnTo>
                    <a:pt x="224" y="109"/>
                  </a:lnTo>
                  <a:lnTo>
                    <a:pt x="216" y="120"/>
                  </a:lnTo>
                  <a:lnTo>
                    <a:pt x="208" y="130"/>
                  </a:lnTo>
                  <a:lnTo>
                    <a:pt x="199" y="141"/>
                  </a:lnTo>
                  <a:lnTo>
                    <a:pt x="191" y="151"/>
                  </a:lnTo>
                  <a:lnTo>
                    <a:pt x="191" y="153"/>
                  </a:lnTo>
                  <a:lnTo>
                    <a:pt x="191" y="172"/>
                  </a:lnTo>
                  <a:lnTo>
                    <a:pt x="190" y="192"/>
                  </a:lnTo>
                  <a:lnTo>
                    <a:pt x="192" y="203"/>
                  </a:lnTo>
                  <a:lnTo>
                    <a:pt x="188" y="211"/>
                  </a:lnTo>
                  <a:lnTo>
                    <a:pt x="194" y="232"/>
                  </a:lnTo>
                  <a:lnTo>
                    <a:pt x="215" y="246"/>
                  </a:lnTo>
                  <a:lnTo>
                    <a:pt x="217" y="258"/>
                  </a:lnTo>
                  <a:lnTo>
                    <a:pt x="227" y="265"/>
                  </a:lnTo>
                  <a:lnTo>
                    <a:pt x="221" y="281"/>
                  </a:lnTo>
                  <a:lnTo>
                    <a:pt x="215" y="297"/>
                  </a:lnTo>
                  <a:lnTo>
                    <a:pt x="202" y="300"/>
                  </a:lnTo>
                  <a:lnTo>
                    <a:pt x="190" y="304"/>
                  </a:lnTo>
                  <a:lnTo>
                    <a:pt x="176" y="306"/>
                  </a:lnTo>
                  <a:lnTo>
                    <a:pt x="164" y="310"/>
                  </a:lnTo>
                  <a:lnTo>
                    <a:pt x="152" y="309"/>
                  </a:lnTo>
                  <a:lnTo>
                    <a:pt x="156" y="315"/>
                  </a:lnTo>
                  <a:lnTo>
                    <a:pt x="160" y="337"/>
                  </a:lnTo>
                  <a:lnTo>
                    <a:pt x="156" y="3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6" name="Freeform 245"/>
            <p:cNvSpPr>
              <a:spLocks/>
            </p:cNvSpPr>
            <p:nvPr/>
          </p:nvSpPr>
          <p:spPr bwMode="auto">
            <a:xfrm>
              <a:off x="1502" y="3750"/>
              <a:ext cx="67" cy="44"/>
            </a:xfrm>
            <a:custGeom>
              <a:avLst/>
              <a:gdLst/>
              <a:ahLst/>
              <a:cxnLst>
                <a:cxn ang="0">
                  <a:pos x="5" y="8"/>
                </a:cxn>
                <a:cxn ang="0">
                  <a:pos x="0" y="0"/>
                </a:cxn>
                <a:cxn ang="0">
                  <a:pos x="7" y="19"/>
                </a:cxn>
                <a:cxn ang="0">
                  <a:pos x="15" y="38"/>
                </a:cxn>
                <a:cxn ang="0">
                  <a:pos x="37" y="38"/>
                </a:cxn>
                <a:cxn ang="0">
                  <a:pos x="59" y="39"/>
                </a:cxn>
                <a:cxn ang="0">
                  <a:pos x="57" y="34"/>
                </a:cxn>
                <a:cxn ang="0">
                  <a:pos x="26" y="24"/>
                </a:cxn>
                <a:cxn ang="0">
                  <a:pos x="5" y="8"/>
                </a:cxn>
              </a:cxnLst>
              <a:rect l="0" t="0" r="r" b="b"/>
              <a:pathLst>
                <a:path w="59" h="39">
                  <a:moveTo>
                    <a:pt x="5" y="8"/>
                  </a:moveTo>
                  <a:lnTo>
                    <a:pt x="0" y="0"/>
                  </a:lnTo>
                  <a:lnTo>
                    <a:pt x="7" y="19"/>
                  </a:lnTo>
                  <a:lnTo>
                    <a:pt x="15" y="38"/>
                  </a:lnTo>
                  <a:lnTo>
                    <a:pt x="37" y="38"/>
                  </a:lnTo>
                  <a:lnTo>
                    <a:pt x="59" y="39"/>
                  </a:lnTo>
                  <a:lnTo>
                    <a:pt x="57" y="34"/>
                  </a:lnTo>
                  <a:lnTo>
                    <a:pt x="26" y="24"/>
                  </a:lnTo>
                  <a:lnTo>
                    <a:pt x="5" y="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7" name="Freeform 246"/>
            <p:cNvSpPr>
              <a:spLocks/>
            </p:cNvSpPr>
            <p:nvPr/>
          </p:nvSpPr>
          <p:spPr bwMode="auto">
            <a:xfrm>
              <a:off x="1309" y="3054"/>
              <a:ext cx="193" cy="720"/>
            </a:xfrm>
            <a:custGeom>
              <a:avLst/>
              <a:gdLst/>
              <a:ahLst/>
              <a:cxnLst>
                <a:cxn ang="0">
                  <a:pos x="18" y="257"/>
                </a:cxn>
                <a:cxn ang="0">
                  <a:pos x="20" y="300"/>
                </a:cxn>
                <a:cxn ang="0">
                  <a:pos x="15" y="348"/>
                </a:cxn>
                <a:cxn ang="0">
                  <a:pos x="22" y="384"/>
                </a:cxn>
                <a:cxn ang="0">
                  <a:pos x="33" y="432"/>
                </a:cxn>
                <a:cxn ang="0">
                  <a:pos x="46" y="432"/>
                </a:cxn>
                <a:cxn ang="0">
                  <a:pos x="54" y="444"/>
                </a:cxn>
                <a:cxn ang="0">
                  <a:pos x="54" y="459"/>
                </a:cxn>
                <a:cxn ang="0">
                  <a:pos x="63" y="484"/>
                </a:cxn>
                <a:cxn ang="0">
                  <a:pos x="61" y="500"/>
                </a:cxn>
                <a:cxn ang="0">
                  <a:pos x="62" y="514"/>
                </a:cxn>
                <a:cxn ang="0">
                  <a:pos x="57" y="515"/>
                </a:cxn>
                <a:cxn ang="0">
                  <a:pos x="49" y="509"/>
                </a:cxn>
                <a:cxn ang="0">
                  <a:pos x="39" y="524"/>
                </a:cxn>
                <a:cxn ang="0">
                  <a:pos x="63" y="532"/>
                </a:cxn>
                <a:cxn ang="0">
                  <a:pos x="56" y="542"/>
                </a:cxn>
                <a:cxn ang="0">
                  <a:pos x="75" y="545"/>
                </a:cxn>
                <a:cxn ang="0">
                  <a:pos x="61" y="546"/>
                </a:cxn>
                <a:cxn ang="0">
                  <a:pos x="75" y="576"/>
                </a:cxn>
                <a:cxn ang="0">
                  <a:pos x="84" y="588"/>
                </a:cxn>
                <a:cxn ang="0">
                  <a:pos x="96" y="604"/>
                </a:cxn>
                <a:cxn ang="0">
                  <a:pos x="102" y="614"/>
                </a:cxn>
                <a:cxn ang="0">
                  <a:pos x="111" y="629"/>
                </a:cxn>
                <a:cxn ang="0">
                  <a:pos x="118" y="636"/>
                </a:cxn>
                <a:cxn ang="0">
                  <a:pos x="148" y="626"/>
                </a:cxn>
                <a:cxn ang="0">
                  <a:pos x="151" y="615"/>
                </a:cxn>
                <a:cxn ang="0">
                  <a:pos x="106" y="591"/>
                </a:cxn>
                <a:cxn ang="0">
                  <a:pos x="93" y="558"/>
                </a:cxn>
                <a:cxn ang="0">
                  <a:pos x="86" y="501"/>
                </a:cxn>
                <a:cxn ang="0">
                  <a:pos x="86" y="485"/>
                </a:cxn>
                <a:cxn ang="0">
                  <a:pos x="61" y="450"/>
                </a:cxn>
                <a:cxn ang="0">
                  <a:pos x="52" y="393"/>
                </a:cxn>
                <a:cxn ang="0">
                  <a:pos x="49" y="357"/>
                </a:cxn>
                <a:cxn ang="0">
                  <a:pos x="49" y="317"/>
                </a:cxn>
                <a:cxn ang="0">
                  <a:pos x="39" y="269"/>
                </a:cxn>
                <a:cxn ang="0">
                  <a:pos x="36" y="232"/>
                </a:cxn>
                <a:cxn ang="0">
                  <a:pos x="40" y="190"/>
                </a:cxn>
                <a:cxn ang="0">
                  <a:pos x="45" y="159"/>
                </a:cxn>
                <a:cxn ang="0">
                  <a:pos x="58" y="117"/>
                </a:cxn>
                <a:cxn ang="0">
                  <a:pos x="48" y="94"/>
                </a:cxn>
                <a:cxn ang="0">
                  <a:pos x="30" y="46"/>
                </a:cxn>
                <a:cxn ang="0">
                  <a:pos x="18" y="9"/>
                </a:cxn>
                <a:cxn ang="0">
                  <a:pos x="3" y="15"/>
                </a:cxn>
                <a:cxn ang="0">
                  <a:pos x="9" y="62"/>
                </a:cxn>
                <a:cxn ang="0">
                  <a:pos x="8" y="108"/>
                </a:cxn>
                <a:cxn ang="0">
                  <a:pos x="10" y="176"/>
                </a:cxn>
                <a:cxn ang="0">
                  <a:pos x="12" y="230"/>
                </a:cxn>
              </a:cxnLst>
              <a:rect l="0" t="0" r="r" b="b"/>
              <a:pathLst>
                <a:path w="175" h="647">
                  <a:moveTo>
                    <a:pt x="12" y="230"/>
                  </a:moveTo>
                  <a:lnTo>
                    <a:pt x="15" y="244"/>
                  </a:lnTo>
                  <a:lnTo>
                    <a:pt x="18" y="257"/>
                  </a:lnTo>
                  <a:lnTo>
                    <a:pt x="20" y="270"/>
                  </a:lnTo>
                  <a:lnTo>
                    <a:pt x="21" y="284"/>
                  </a:lnTo>
                  <a:lnTo>
                    <a:pt x="20" y="300"/>
                  </a:lnTo>
                  <a:lnTo>
                    <a:pt x="18" y="316"/>
                  </a:lnTo>
                  <a:lnTo>
                    <a:pt x="16" y="332"/>
                  </a:lnTo>
                  <a:lnTo>
                    <a:pt x="15" y="348"/>
                  </a:lnTo>
                  <a:lnTo>
                    <a:pt x="12" y="354"/>
                  </a:lnTo>
                  <a:lnTo>
                    <a:pt x="16" y="369"/>
                  </a:lnTo>
                  <a:lnTo>
                    <a:pt x="22" y="384"/>
                  </a:lnTo>
                  <a:lnTo>
                    <a:pt x="26" y="401"/>
                  </a:lnTo>
                  <a:lnTo>
                    <a:pt x="24" y="418"/>
                  </a:lnTo>
                  <a:lnTo>
                    <a:pt x="33" y="432"/>
                  </a:lnTo>
                  <a:lnTo>
                    <a:pt x="34" y="436"/>
                  </a:lnTo>
                  <a:lnTo>
                    <a:pt x="40" y="432"/>
                  </a:lnTo>
                  <a:lnTo>
                    <a:pt x="46" y="432"/>
                  </a:lnTo>
                  <a:lnTo>
                    <a:pt x="51" y="430"/>
                  </a:lnTo>
                  <a:lnTo>
                    <a:pt x="49" y="440"/>
                  </a:lnTo>
                  <a:lnTo>
                    <a:pt x="54" y="444"/>
                  </a:lnTo>
                  <a:lnTo>
                    <a:pt x="51" y="443"/>
                  </a:lnTo>
                  <a:lnTo>
                    <a:pt x="52" y="448"/>
                  </a:lnTo>
                  <a:lnTo>
                    <a:pt x="54" y="459"/>
                  </a:lnTo>
                  <a:lnTo>
                    <a:pt x="55" y="471"/>
                  </a:lnTo>
                  <a:lnTo>
                    <a:pt x="55" y="477"/>
                  </a:lnTo>
                  <a:lnTo>
                    <a:pt x="63" y="484"/>
                  </a:lnTo>
                  <a:lnTo>
                    <a:pt x="58" y="496"/>
                  </a:lnTo>
                  <a:lnTo>
                    <a:pt x="64" y="500"/>
                  </a:lnTo>
                  <a:lnTo>
                    <a:pt x="61" y="500"/>
                  </a:lnTo>
                  <a:lnTo>
                    <a:pt x="61" y="504"/>
                  </a:lnTo>
                  <a:lnTo>
                    <a:pt x="61" y="506"/>
                  </a:lnTo>
                  <a:lnTo>
                    <a:pt x="62" y="514"/>
                  </a:lnTo>
                  <a:lnTo>
                    <a:pt x="63" y="513"/>
                  </a:lnTo>
                  <a:lnTo>
                    <a:pt x="58" y="520"/>
                  </a:lnTo>
                  <a:lnTo>
                    <a:pt x="57" y="515"/>
                  </a:lnTo>
                  <a:lnTo>
                    <a:pt x="51" y="515"/>
                  </a:lnTo>
                  <a:lnTo>
                    <a:pt x="52" y="509"/>
                  </a:lnTo>
                  <a:lnTo>
                    <a:pt x="49" y="509"/>
                  </a:lnTo>
                  <a:lnTo>
                    <a:pt x="44" y="510"/>
                  </a:lnTo>
                  <a:lnTo>
                    <a:pt x="37" y="525"/>
                  </a:lnTo>
                  <a:lnTo>
                    <a:pt x="39" y="524"/>
                  </a:lnTo>
                  <a:lnTo>
                    <a:pt x="44" y="521"/>
                  </a:lnTo>
                  <a:lnTo>
                    <a:pt x="52" y="524"/>
                  </a:lnTo>
                  <a:lnTo>
                    <a:pt x="63" y="532"/>
                  </a:lnTo>
                  <a:lnTo>
                    <a:pt x="58" y="536"/>
                  </a:lnTo>
                  <a:lnTo>
                    <a:pt x="63" y="539"/>
                  </a:lnTo>
                  <a:lnTo>
                    <a:pt x="56" y="542"/>
                  </a:lnTo>
                  <a:lnTo>
                    <a:pt x="69" y="540"/>
                  </a:lnTo>
                  <a:lnTo>
                    <a:pt x="70" y="539"/>
                  </a:lnTo>
                  <a:lnTo>
                    <a:pt x="75" y="545"/>
                  </a:lnTo>
                  <a:lnTo>
                    <a:pt x="75" y="550"/>
                  </a:lnTo>
                  <a:lnTo>
                    <a:pt x="66" y="548"/>
                  </a:lnTo>
                  <a:lnTo>
                    <a:pt x="61" y="546"/>
                  </a:lnTo>
                  <a:lnTo>
                    <a:pt x="68" y="557"/>
                  </a:lnTo>
                  <a:lnTo>
                    <a:pt x="75" y="569"/>
                  </a:lnTo>
                  <a:lnTo>
                    <a:pt x="75" y="576"/>
                  </a:lnTo>
                  <a:lnTo>
                    <a:pt x="79" y="582"/>
                  </a:lnTo>
                  <a:lnTo>
                    <a:pt x="75" y="585"/>
                  </a:lnTo>
                  <a:lnTo>
                    <a:pt x="84" y="588"/>
                  </a:lnTo>
                  <a:lnTo>
                    <a:pt x="88" y="596"/>
                  </a:lnTo>
                  <a:lnTo>
                    <a:pt x="88" y="599"/>
                  </a:lnTo>
                  <a:lnTo>
                    <a:pt x="96" y="604"/>
                  </a:lnTo>
                  <a:lnTo>
                    <a:pt x="99" y="609"/>
                  </a:lnTo>
                  <a:lnTo>
                    <a:pt x="94" y="606"/>
                  </a:lnTo>
                  <a:lnTo>
                    <a:pt x="102" y="614"/>
                  </a:lnTo>
                  <a:lnTo>
                    <a:pt x="103" y="617"/>
                  </a:lnTo>
                  <a:lnTo>
                    <a:pt x="109" y="626"/>
                  </a:lnTo>
                  <a:lnTo>
                    <a:pt x="111" y="629"/>
                  </a:lnTo>
                  <a:lnTo>
                    <a:pt x="118" y="633"/>
                  </a:lnTo>
                  <a:lnTo>
                    <a:pt x="121" y="635"/>
                  </a:lnTo>
                  <a:lnTo>
                    <a:pt x="118" y="636"/>
                  </a:lnTo>
                  <a:lnTo>
                    <a:pt x="127" y="639"/>
                  </a:lnTo>
                  <a:lnTo>
                    <a:pt x="147" y="647"/>
                  </a:lnTo>
                  <a:lnTo>
                    <a:pt x="148" y="626"/>
                  </a:lnTo>
                  <a:lnTo>
                    <a:pt x="160" y="620"/>
                  </a:lnTo>
                  <a:lnTo>
                    <a:pt x="175" y="622"/>
                  </a:lnTo>
                  <a:lnTo>
                    <a:pt x="151" y="615"/>
                  </a:lnTo>
                  <a:lnTo>
                    <a:pt x="123" y="612"/>
                  </a:lnTo>
                  <a:lnTo>
                    <a:pt x="115" y="604"/>
                  </a:lnTo>
                  <a:lnTo>
                    <a:pt x="106" y="591"/>
                  </a:lnTo>
                  <a:lnTo>
                    <a:pt x="98" y="592"/>
                  </a:lnTo>
                  <a:lnTo>
                    <a:pt x="84" y="568"/>
                  </a:lnTo>
                  <a:lnTo>
                    <a:pt x="93" y="558"/>
                  </a:lnTo>
                  <a:lnTo>
                    <a:pt x="91" y="534"/>
                  </a:lnTo>
                  <a:lnTo>
                    <a:pt x="87" y="514"/>
                  </a:lnTo>
                  <a:lnTo>
                    <a:pt x="86" y="501"/>
                  </a:lnTo>
                  <a:lnTo>
                    <a:pt x="82" y="492"/>
                  </a:lnTo>
                  <a:lnTo>
                    <a:pt x="76" y="489"/>
                  </a:lnTo>
                  <a:lnTo>
                    <a:pt x="86" y="485"/>
                  </a:lnTo>
                  <a:lnTo>
                    <a:pt x="74" y="479"/>
                  </a:lnTo>
                  <a:lnTo>
                    <a:pt x="68" y="460"/>
                  </a:lnTo>
                  <a:lnTo>
                    <a:pt x="61" y="450"/>
                  </a:lnTo>
                  <a:lnTo>
                    <a:pt x="60" y="436"/>
                  </a:lnTo>
                  <a:lnTo>
                    <a:pt x="54" y="412"/>
                  </a:lnTo>
                  <a:lnTo>
                    <a:pt x="52" y="393"/>
                  </a:lnTo>
                  <a:lnTo>
                    <a:pt x="55" y="382"/>
                  </a:lnTo>
                  <a:lnTo>
                    <a:pt x="54" y="371"/>
                  </a:lnTo>
                  <a:lnTo>
                    <a:pt x="49" y="357"/>
                  </a:lnTo>
                  <a:lnTo>
                    <a:pt x="45" y="341"/>
                  </a:lnTo>
                  <a:lnTo>
                    <a:pt x="52" y="329"/>
                  </a:lnTo>
                  <a:lnTo>
                    <a:pt x="49" y="317"/>
                  </a:lnTo>
                  <a:lnTo>
                    <a:pt x="51" y="294"/>
                  </a:lnTo>
                  <a:lnTo>
                    <a:pt x="46" y="284"/>
                  </a:lnTo>
                  <a:lnTo>
                    <a:pt x="39" y="269"/>
                  </a:lnTo>
                  <a:lnTo>
                    <a:pt x="32" y="255"/>
                  </a:lnTo>
                  <a:lnTo>
                    <a:pt x="33" y="243"/>
                  </a:lnTo>
                  <a:lnTo>
                    <a:pt x="36" y="232"/>
                  </a:lnTo>
                  <a:lnTo>
                    <a:pt x="34" y="219"/>
                  </a:lnTo>
                  <a:lnTo>
                    <a:pt x="34" y="206"/>
                  </a:lnTo>
                  <a:lnTo>
                    <a:pt x="40" y="190"/>
                  </a:lnTo>
                  <a:lnTo>
                    <a:pt x="46" y="173"/>
                  </a:lnTo>
                  <a:lnTo>
                    <a:pt x="51" y="168"/>
                  </a:lnTo>
                  <a:lnTo>
                    <a:pt x="45" y="159"/>
                  </a:lnTo>
                  <a:lnTo>
                    <a:pt x="43" y="134"/>
                  </a:lnTo>
                  <a:lnTo>
                    <a:pt x="45" y="124"/>
                  </a:lnTo>
                  <a:lnTo>
                    <a:pt x="58" y="117"/>
                  </a:lnTo>
                  <a:lnTo>
                    <a:pt x="62" y="99"/>
                  </a:lnTo>
                  <a:lnTo>
                    <a:pt x="58" y="95"/>
                  </a:lnTo>
                  <a:lnTo>
                    <a:pt x="48" y="94"/>
                  </a:lnTo>
                  <a:lnTo>
                    <a:pt x="42" y="78"/>
                  </a:lnTo>
                  <a:lnTo>
                    <a:pt x="34" y="62"/>
                  </a:lnTo>
                  <a:lnTo>
                    <a:pt x="30" y="46"/>
                  </a:lnTo>
                  <a:lnTo>
                    <a:pt x="31" y="33"/>
                  </a:lnTo>
                  <a:lnTo>
                    <a:pt x="22" y="21"/>
                  </a:lnTo>
                  <a:lnTo>
                    <a:pt x="18" y="9"/>
                  </a:lnTo>
                  <a:lnTo>
                    <a:pt x="13" y="0"/>
                  </a:lnTo>
                  <a:lnTo>
                    <a:pt x="9" y="8"/>
                  </a:lnTo>
                  <a:lnTo>
                    <a:pt x="3" y="15"/>
                  </a:lnTo>
                  <a:lnTo>
                    <a:pt x="0" y="16"/>
                  </a:lnTo>
                  <a:lnTo>
                    <a:pt x="4" y="39"/>
                  </a:lnTo>
                  <a:lnTo>
                    <a:pt x="9" y="62"/>
                  </a:lnTo>
                  <a:lnTo>
                    <a:pt x="9" y="81"/>
                  </a:lnTo>
                  <a:lnTo>
                    <a:pt x="8" y="100"/>
                  </a:lnTo>
                  <a:lnTo>
                    <a:pt x="8" y="108"/>
                  </a:lnTo>
                  <a:lnTo>
                    <a:pt x="10" y="131"/>
                  </a:lnTo>
                  <a:lnTo>
                    <a:pt x="12" y="150"/>
                  </a:lnTo>
                  <a:lnTo>
                    <a:pt x="10" y="176"/>
                  </a:lnTo>
                  <a:lnTo>
                    <a:pt x="10" y="201"/>
                  </a:lnTo>
                  <a:lnTo>
                    <a:pt x="12" y="213"/>
                  </a:lnTo>
                  <a:lnTo>
                    <a:pt x="12" y="23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8" name="Freeform 247"/>
            <p:cNvSpPr>
              <a:spLocks/>
            </p:cNvSpPr>
            <p:nvPr/>
          </p:nvSpPr>
          <p:spPr bwMode="auto">
            <a:xfrm>
              <a:off x="1469" y="3747"/>
              <a:ext cx="51" cy="45"/>
            </a:xfrm>
            <a:custGeom>
              <a:avLst/>
              <a:gdLst/>
              <a:ahLst/>
              <a:cxnLst>
                <a:cxn ang="0">
                  <a:pos x="31" y="2"/>
                </a:cxn>
                <a:cxn ang="0">
                  <a:pos x="38" y="21"/>
                </a:cxn>
                <a:cxn ang="0">
                  <a:pos x="46" y="40"/>
                </a:cxn>
                <a:cxn ang="0">
                  <a:pos x="42" y="39"/>
                </a:cxn>
                <a:cxn ang="0">
                  <a:pos x="34" y="40"/>
                </a:cxn>
                <a:cxn ang="0">
                  <a:pos x="19" y="38"/>
                </a:cxn>
                <a:cxn ang="0">
                  <a:pos x="13" y="38"/>
                </a:cxn>
                <a:cxn ang="0">
                  <a:pos x="0" y="36"/>
                </a:cxn>
                <a:cxn ang="0">
                  <a:pos x="3" y="34"/>
                </a:cxn>
                <a:cxn ang="0">
                  <a:pos x="12" y="32"/>
                </a:cxn>
                <a:cxn ang="0">
                  <a:pos x="16" y="34"/>
                </a:cxn>
                <a:cxn ang="0">
                  <a:pos x="20" y="34"/>
                </a:cxn>
                <a:cxn ang="0">
                  <a:pos x="13" y="30"/>
                </a:cxn>
                <a:cxn ang="0">
                  <a:pos x="22" y="32"/>
                </a:cxn>
                <a:cxn ang="0">
                  <a:pos x="27" y="33"/>
                </a:cxn>
                <a:cxn ang="0">
                  <a:pos x="34" y="34"/>
                </a:cxn>
                <a:cxn ang="0">
                  <a:pos x="37" y="35"/>
                </a:cxn>
                <a:cxn ang="0">
                  <a:pos x="19" y="24"/>
                </a:cxn>
                <a:cxn ang="0">
                  <a:pos x="26" y="16"/>
                </a:cxn>
                <a:cxn ang="0">
                  <a:pos x="15" y="16"/>
                </a:cxn>
                <a:cxn ang="0">
                  <a:pos x="10" y="3"/>
                </a:cxn>
                <a:cxn ang="0">
                  <a:pos x="16" y="0"/>
                </a:cxn>
                <a:cxn ang="0">
                  <a:pos x="31" y="2"/>
                </a:cxn>
              </a:cxnLst>
              <a:rect l="0" t="0" r="r" b="b"/>
              <a:pathLst>
                <a:path w="46" h="40">
                  <a:moveTo>
                    <a:pt x="31" y="2"/>
                  </a:moveTo>
                  <a:lnTo>
                    <a:pt x="38" y="21"/>
                  </a:lnTo>
                  <a:lnTo>
                    <a:pt x="46" y="40"/>
                  </a:lnTo>
                  <a:lnTo>
                    <a:pt x="42" y="39"/>
                  </a:lnTo>
                  <a:lnTo>
                    <a:pt x="34" y="40"/>
                  </a:lnTo>
                  <a:lnTo>
                    <a:pt x="19" y="38"/>
                  </a:lnTo>
                  <a:lnTo>
                    <a:pt x="13" y="38"/>
                  </a:lnTo>
                  <a:lnTo>
                    <a:pt x="0" y="36"/>
                  </a:lnTo>
                  <a:lnTo>
                    <a:pt x="3" y="34"/>
                  </a:lnTo>
                  <a:lnTo>
                    <a:pt x="12" y="32"/>
                  </a:lnTo>
                  <a:lnTo>
                    <a:pt x="16" y="34"/>
                  </a:lnTo>
                  <a:lnTo>
                    <a:pt x="20" y="34"/>
                  </a:lnTo>
                  <a:lnTo>
                    <a:pt x="13" y="30"/>
                  </a:lnTo>
                  <a:lnTo>
                    <a:pt x="22" y="32"/>
                  </a:lnTo>
                  <a:lnTo>
                    <a:pt x="27" y="33"/>
                  </a:lnTo>
                  <a:lnTo>
                    <a:pt x="34" y="34"/>
                  </a:lnTo>
                  <a:lnTo>
                    <a:pt x="37" y="35"/>
                  </a:lnTo>
                  <a:lnTo>
                    <a:pt x="19" y="24"/>
                  </a:lnTo>
                  <a:lnTo>
                    <a:pt x="26" y="16"/>
                  </a:lnTo>
                  <a:lnTo>
                    <a:pt x="15" y="16"/>
                  </a:lnTo>
                  <a:lnTo>
                    <a:pt x="10" y="3"/>
                  </a:lnTo>
                  <a:lnTo>
                    <a:pt x="16" y="0"/>
                  </a:lnTo>
                  <a:lnTo>
                    <a:pt x="31"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49" name="Freeform 248"/>
            <p:cNvSpPr>
              <a:spLocks/>
            </p:cNvSpPr>
            <p:nvPr/>
          </p:nvSpPr>
          <p:spPr bwMode="auto">
            <a:xfrm>
              <a:off x="1340" y="3538"/>
              <a:ext cx="16" cy="32"/>
            </a:xfrm>
            <a:custGeom>
              <a:avLst/>
              <a:gdLst/>
              <a:ahLst/>
              <a:cxnLst>
                <a:cxn ang="0">
                  <a:pos x="5" y="0"/>
                </a:cxn>
                <a:cxn ang="0">
                  <a:pos x="0" y="4"/>
                </a:cxn>
                <a:cxn ang="0">
                  <a:pos x="6" y="28"/>
                </a:cxn>
                <a:cxn ang="0">
                  <a:pos x="12" y="25"/>
                </a:cxn>
                <a:cxn ang="0">
                  <a:pos x="14" y="20"/>
                </a:cxn>
                <a:cxn ang="0">
                  <a:pos x="10" y="10"/>
                </a:cxn>
                <a:cxn ang="0">
                  <a:pos x="12" y="8"/>
                </a:cxn>
                <a:cxn ang="0">
                  <a:pos x="5" y="0"/>
                </a:cxn>
              </a:cxnLst>
              <a:rect l="0" t="0" r="r" b="b"/>
              <a:pathLst>
                <a:path w="14" h="28">
                  <a:moveTo>
                    <a:pt x="5" y="0"/>
                  </a:moveTo>
                  <a:lnTo>
                    <a:pt x="0" y="4"/>
                  </a:lnTo>
                  <a:lnTo>
                    <a:pt x="6" y="28"/>
                  </a:lnTo>
                  <a:lnTo>
                    <a:pt x="12" y="25"/>
                  </a:lnTo>
                  <a:lnTo>
                    <a:pt x="14" y="20"/>
                  </a:lnTo>
                  <a:lnTo>
                    <a:pt x="10" y="10"/>
                  </a:lnTo>
                  <a:lnTo>
                    <a:pt x="12" y="8"/>
                  </a:lnTo>
                  <a:lnTo>
                    <a:pt x="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0" name="Freeform 249"/>
            <p:cNvSpPr>
              <a:spLocks/>
            </p:cNvSpPr>
            <p:nvPr/>
          </p:nvSpPr>
          <p:spPr bwMode="auto">
            <a:xfrm>
              <a:off x="1374" y="3676"/>
              <a:ext cx="15" cy="25"/>
            </a:xfrm>
            <a:custGeom>
              <a:avLst/>
              <a:gdLst/>
              <a:ahLst/>
              <a:cxnLst>
                <a:cxn ang="0">
                  <a:pos x="7" y="0"/>
                </a:cxn>
                <a:cxn ang="0">
                  <a:pos x="0" y="8"/>
                </a:cxn>
                <a:cxn ang="0">
                  <a:pos x="9" y="18"/>
                </a:cxn>
                <a:cxn ang="0">
                  <a:pos x="13" y="21"/>
                </a:cxn>
                <a:cxn ang="0">
                  <a:pos x="15" y="14"/>
                </a:cxn>
                <a:cxn ang="0">
                  <a:pos x="7" y="0"/>
                </a:cxn>
              </a:cxnLst>
              <a:rect l="0" t="0" r="r" b="b"/>
              <a:pathLst>
                <a:path w="15" h="21">
                  <a:moveTo>
                    <a:pt x="7" y="0"/>
                  </a:moveTo>
                  <a:lnTo>
                    <a:pt x="0" y="8"/>
                  </a:lnTo>
                  <a:lnTo>
                    <a:pt x="9" y="18"/>
                  </a:lnTo>
                  <a:lnTo>
                    <a:pt x="13" y="21"/>
                  </a:lnTo>
                  <a:lnTo>
                    <a:pt x="15" y="14"/>
                  </a:lnTo>
                  <a:lnTo>
                    <a:pt x="7"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1" name="Freeform 250"/>
            <p:cNvSpPr>
              <a:spLocks/>
            </p:cNvSpPr>
            <p:nvPr/>
          </p:nvSpPr>
          <p:spPr bwMode="auto">
            <a:xfrm>
              <a:off x="1107" y="2676"/>
              <a:ext cx="100" cy="129"/>
            </a:xfrm>
            <a:custGeom>
              <a:avLst/>
              <a:gdLst/>
              <a:ahLst/>
              <a:cxnLst>
                <a:cxn ang="0">
                  <a:pos x="0" y="45"/>
                </a:cxn>
                <a:cxn ang="0">
                  <a:pos x="3" y="63"/>
                </a:cxn>
                <a:cxn ang="0">
                  <a:pos x="0" y="67"/>
                </a:cxn>
                <a:cxn ang="0">
                  <a:pos x="11" y="72"/>
                </a:cxn>
                <a:cxn ang="0">
                  <a:pos x="15" y="67"/>
                </a:cxn>
                <a:cxn ang="0">
                  <a:pos x="16" y="71"/>
                </a:cxn>
                <a:cxn ang="0">
                  <a:pos x="16" y="83"/>
                </a:cxn>
                <a:cxn ang="0">
                  <a:pos x="10" y="85"/>
                </a:cxn>
                <a:cxn ang="0">
                  <a:pos x="11" y="96"/>
                </a:cxn>
                <a:cxn ang="0">
                  <a:pos x="7" y="104"/>
                </a:cxn>
                <a:cxn ang="0">
                  <a:pos x="13" y="102"/>
                </a:cxn>
                <a:cxn ang="0">
                  <a:pos x="30" y="115"/>
                </a:cxn>
                <a:cxn ang="0">
                  <a:pos x="35" y="108"/>
                </a:cxn>
                <a:cxn ang="0">
                  <a:pos x="37" y="101"/>
                </a:cxn>
                <a:cxn ang="0">
                  <a:pos x="41" y="95"/>
                </a:cxn>
                <a:cxn ang="0">
                  <a:pos x="43" y="84"/>
                </a:cxn>
                <a:cxn ang="0">
                  <a:pos x="45" y="84"/>
                </a:cxn>
                <a:cxn ang="0">
                  <a:pos x="46" y="86"/>
                </a:cxn>
                <a:cxn ang="0">
                  <a:pos x="48" y="86"/>
                </a:cxn>
                <a:cxn ang="0">
                  <a:pos x="47" y="83"/>
                </a:cxn>
                <a:cxn ang="0">
                  <a:pos x="51" y="79"/>
                </a:cxn>
                <a:cxn ang="0">
                  <a:pos x="60" y="74"/>
                </a:cxn>
                <a:cxn ang="0">
                  <a:pos x="77" y="63"/>
                </a:cxn>
                <a:cxn ang="0">
                  <a:pos x="87" y="42"/>
                </a:cxn>
                <a:cxn ang="0">
                  <a:pos x="90" y="43"/>
                </a:cxn>
                <a:cxn ang="0">
                  <a:pos x="84" y="29"/>
                </a:cxn>
                <a:cxn ang="0">
                  <a:pos x="89" y="27"/>
                </a:cxn>
                <a:cxn ang="0">
                  <a:pos x="71" y="18"/>
                </a:cxn>
                <a:cxn ang="0">
                  <a:pos x="55" y="18"/>
                </a:cxn>
                <a:cxn ang="0">
                  <a:pos x="46" y="9"/>
                </a:cxn>
                <a:cxn ang="0">
                  <a:pos x="33" y="0"/>
                </a:cxn>
                <a:cxn ang="0">
                  <a:pos x="27" y="6"/>
                </a:cxn>
                <a:cxn ang="0">
                  <a:pos x="12" y="13"/>
                </a:cxn>
                <a:cxn ang="0">
                  <a:pos x="9" y="27"/>
                </a:cxn>
                <a:cxn ang="0">
                  <a:pos x="7" y="36"/>
                </a:cxn>
                <a:cxn ang="0">
                  <a:pos x="0" y="45"/>
                </a:cxn>
              </a:cxnLst>
              <a:rect l="0" t="0" r="r" b="b"/>
              <a:pathLst>
                <a:path w="90" h="115">
                  <a:moveTo>
                    <a:pt x="0" y="45"/>
                  </a:moveTo>
                  <a:lnTo>
                    <a:pt x="3" y="63"/>
                  </a:lnTo>
                  <a:lnTo>
                    <a:pt x="0" y="67"/>
                  </a:lnTo>
                  <a:lnTo>
                    <a:pt x="11" y="72"/>
                  </a:lnTo>
                  <a:lnTo>
                    <a:pt x="15" y="67"/>
                  </a:lnTo>
                  <a:lnTo>
                    <a:pt x="16" y="71"/>
                  </a:lnTo>
                  <a:lnTo>
                    <a:pt x="16" y="83"/>
                  </a:lnTo>
                  <a:lnTo>
                    <a:pt x="10" y="85"/>
                  </a:lnTo>
                  <a:lnTo>
                    <a:pt x="11" y="96"/>
                  </a:lnTo>
                  <a:lnTo>
                    <a:pt x="7" y="104"/>
                  </a:lnTo>
                  <a:lnTo>
                    <a:pt x="13" y="102"/>
                  </a:lnTo>
                  <a:lnTo>
                    <a:pt x="30" y="115"/>
                  </a:lnTo>
                  <a:lnTo>
                    <a:pt x="35" y="108"/>
                  </a:lnTo>
                  <a:lnTo>
                    <a:pt x="37" y="101"/>
                  </a:lnTo>
                  <a:lnTo>
                    <a:pt x="41" y="95"/>
                  </a:lnTo>
                  <a:lnTo>
                    <a:pt x="43" y="84"/>
                  </a:lnTo>
                  <a:lnTo>
                    <a:pt x="45" y="84"/>
                  </a:lnTo>
                  <a:lnTo>
                    <a:pt x="46" y="86"/>
                  </a:lnTo>
                  <a:lnTo>
                    <a:pt x="48" y="86"/>
                  </a:lnTo>
                  <a:lnTo>
                    <a:pt x="47" y="83"/>
                  </a:lnTo>
                  <a:lnTo>
                    <a:pt x="51" y="79"/>
                  </a:lnTo>
                  <a:lnTo>
                    <a:pt x="60" y="74"/>
                  </a:lnTo>
                  <a:lnTo>
                    <a:pt x="77" y="63"/>
                  </a:lnTo>
                  <a:lnTo>
                    <a:pt x="87" y="42"/>
                  </a:lnTo>
                  <a:lnTo>
                    <a:pt x="90" y="43"/>
                  </a:lnTo>
                  <a:lnTo>
                    <a:pt x="84" y="29"/>
                  </a:lnTo>
                  <a:lnTo>
                    <a:pt x="89" y="27"/>
                  </a:lnTo>
                  <a:lnTo>
                    <a:pt x="71" y="18"/>
                  </a:lnTo>
                  <a:lnTo>
                    <a:pt x="55" y="18"/>
                  </a:lnTo>
                  <a:lnTo>
                    <a:pt x="46" y="9"/>
                  </a:lnTo>
                  <a:lnTo>
                    <a:pt x="33" y="0"/>
                  </a:lnTo>
                  <a:lnTo>
                    <a:pt x="27" y="6"/>
                  </a:lnTo>
                  <a:lnTo>
                    <a:pt x="12" y="13"/>
                  </a:lnTo>
                  <a:lnTo>
                    <a:pt x="9" y="27"/>
                  </a:lnTo>
                  <a:lnTo>
                    <a:pt x="7" y="36"/>
                  </a:lnTo>
                  <a:lnTo>
                    <a:pt x="0" y="4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2" name="Freeform 251"/>
            <p:cNvSpPr>
              <a:spLocks/>
            </p:cNvSpPr>
            <p:nvPr/>
          </p:nvSpPr>
          <p:spPr bwMode="auto">
            <a:xfrm>
              <a:off x="1120" y="2761"/>
              <a:ext cx="3" cy="2"/>
            </a:xfrm>
            <a:custGeom>
              <a:avLst/>
              <a:gdLst/>
              <a:ahLst/>
              <a:cxnLst>
                <a:cxn ang="0">
                  <a:pos x="4" y="0"/>
                </a:cxn>
                <a:cxn ang="0">
                  <a:pos x="1" y="3"/>
                </a:cxn>
                <a:cxn ang="0">
                  <a:pos x="0" y="0"/>
                </a:cxn>
                <a:cxn ang="0">
                  <a:pos x="4" y="0"/>
                </a:cxn>
              </a:cxnLst>
              <a:rect l="0" t="0" r="r" b="b"/>
              <a:pathLst>
                <a:path w="4" h="3">
                  <a:moveTo>
                    <a:pt x="4" y="0"/>
                  </a:moveTo>
                  <a:lnTo>
                    <a:pt x="1" y="3"/>
                  </a:lnTo>
                  <a:lnTo>
                    <a:pt x="0" y="0"/>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3" name="Freeform 252"/>
            <p:cNvSpPr>
              <a:spLocks/>
            </p:cNvSpPr>
            <p:nvPr/>
          </p:nvSpPr>
          <p:spPr bwMode="auto">
            <a:xfrm>
              <a:off x="1100" y="2707"/>
              <a:ext cx="231" cy="365"/>
            </a:xfrm>
            <a:custGeom>
              <a:avLst/>
              <a:gdLst/>
              <a:ahLst/>
              <a:cxnLst>
                <a:cxn ang="0">
                  <a:pos x="201" y="259"/>
                </a:cxn>
                <a:cxn ang="0">
                  <a:pos x="203" y="289"/>
                </a:cxn>
                <a:cxn ang="0">
                  <a:pos x="201" y="306"/>
                </a:cxn>
                <a:cxn ang="0">
                  <a:pos x="197" y="321"/>
                </a:cxn>
                <a:cxn ang="0">
                  <a:pos x="188" y="329"/>
                </a:cxn>
                <a:cxn ang="0">
                  <a:pos x="171" y="311"/>
                </a:cxn>
                <a:cxn ang="0">
                  <a:pos x="143" y="295"/>
                </a:cxn>
                <a:cxn ang="0">
                  <a:pos x="117" y="280"/>
                </a:cxn>
                <a:cxn ang="0">
                  <a:pos x="89" y="253"/>
                </a:cxn>
                <a:cxn ang="0">
                  <a:pos x="78" y="225"/>
                </a:cxn>
                <a:cxn ang="0">
                  <a:pos x="60" y="192"/>
                </a:cxn>
                <a:cxn ang="0">
                  <a:pos x="47" y="167"/>
                </a:cxn>
                <a:cxn ang="0">
                  <a:pos x="34" y="141"/>
                </a:cxn>
                <a:cxn ang="0">
                  <a:pos x="16" y="118"/>
                </a:cxn>
                <a:cxn ang="0">
                  <a:pos x="5" y="105"/>
                </a:cxn>
                <a:cxn ang="0">
                  <a:pos x="8" y="70"/>
                </a:cxn>
                <a:cxn ang="0">
                  <a:pos x="16" y="70"/>
                </a:cxn>
                <a:cxn ang="0">
                  <a:pos x="18" y="76"/>
                </a:cxn>
                <a:cxn ang="0">
                  <a:pos x="40" y="82"/>
                </a:cxn>
                <a:cxn ang="0">
                  <a:pos x="46" y="69"/>
                </a:cxn>
                <a:cxn ang="0">
                  <a:pos x="50" y="58"/>
                </a:cxn>
                <a:cxn ang="0">
                  <a:pos x="53" y="60"/>
                </a:cxn>
                <a:cxn ang="0">
                  <a:pos x="56" y="53"/>
                </a:cxn>
                <a:cxn ang="0">
                  <a:pos x="82" y="37"/>
                </a:cxn>
                <a:cxn ang="0">
                  <a:pos x="95" y="17"/>
                </a:cxn>
                <a:cxn ang="0">
                  <a:pos x="94" y="1"/>
                </a:cxn>
                <a:cxn ang="0">
                  <a:pos x="104" y="9"/>
                </a:cxn>
                <a:cxn ang="0">
                  <a:pos x="125" y="31"/>
                </a:cxn>
                <a:cxn ang="0">
                  <a:pos x="148" y="40"/>
                </a:cxn>
                <a:cxn ang="0">
                  <a:pos x="176" y="46"/>
                </a:cxn>
                <a:cxn ang="0">
                  <a:pos x="179" y="75"/>
                </a:cxn>
                <a:cxn ang="0">
                  <a:pos x="161" y="78"/>
                </a:cxn>
                <a:cxn ang="0">
                  <a:pos x="136" y="90"/>
                </a:cxn>
                <a:cxn ang="0">
                  <a:pos x="128" y="118"/>
                </a:cxn>
                <a:cxn ang="0">
                  <a:pos x="126" y="145"/>
                </a:cxn>
                <a:cxn ang="0">
                  <a:pos x="132" y="167"/>
                </a:cxn>
                <a:cxn ang="0">
                  <a:pos x="148" y="175"/>
                </a:cxn>
                <a:cxn ang="0">
                  <a:pos x="172" y="169"/>
                </a:cxn>
                <a:cxn ang="0">
                  <a:pos x="174" y="197"/>
                </a:cxn>
                <a:cxn ang="0">
                  <a:pos x="198" y="209"/>
                </a:cxn>
                <a:cxn ang="0">
                  <a:pos x="204" y="228"/>
                </a:cxn>
              </a:cxnLst>
              <a:rect l="0" t="0" r="r" b="b"/>
              <a:pathLst>
                <a:path w="208" h="329">
                  <a:moveTo>
                    <a:pt x="204" y="250"/>
                  </a:moveTo>
                  <a:lnTo>
                    <a:pt x="201" y="259"/>
                  </a:lnTo>
                  <a:lnTo>
                    <a:pt x="201" y="274"/>
                  </a:lnTo>
                  <a:lnTo>
                    <a:pt x="203" y="289"/>
                  </a:lnTo>
                  <a:lnTo>
                    <a:pt x="208" y="291"/>
                  </a:lnTo>
                  <a:lnTo>
                    <a:pt x="201" y="306"/>
                  </a:lnTo>
                  <a:lnTo>
                    <a:pt x="201" y="313"/>
                  </a:lnTo>
                  <a:lnTo>
                    <a:pt x="197" y="321"/>
                  </a:lnTo>
                  <a:lnTo>
                    <a:pt x="191" y="328"/>
                  </a:lnTo>
                  <a:lnTo>
                    <a:pt x="188" y="329"/>
                  </a:lnTo>
                  <a:lnTo>
                    <a:pt x="178" y="321"/>
                  </a:lnTo>
                  <a:lnTo>
                    <a:pt x="171" y="311"/>
                  </a:lnTo>
                  <a:lnTo>
                    <a:pt x="158" y="304"/>
                  </a:lnTo>
                  <a:lnTo>
                    <a:pt x="143" y="295"/>
                  </a:lnTo>
                  <a:lnTo>
                    <a:pt x="130" y="288"/>
                  </a:lnTo>
                  <a:lnTo>
                    <a:pt x="117" y="280"/>
                  </a:lnTo>
                  <a:lnTo>
                    <a:pt x="102" y="267"/>
                  </a:lnTo>
                  <a:lnTo>
                    <a:pt x="89" y="253"/>
                  </a:lnTo>
                  <a:lnTo>
                    <a:pt x="89" y="244"/>
                  </a:lnTo>
                  <a:lnTo>
                    <a:pt x="78" y="225"/>
                  </a:lnTo>
                  <a:lnTo>
                    <a:pt x="69" y="204"/>
                  </a:lnTo>
                  <a:lnTo>
                    <a:pt x="60" y="192"/>
                  </a:lnTo>
                  <a:lnTo>
                    <a:pt x="53" y="180"/>
                  </a:lnTo>
                  <a:lnTo>
                    <a:pt x="47" y="167"/>
                  </a:lnTo>
                  <a:lnTo>
                    <a:pt x="40" y="154"/>
                  </a:lnTo>
                  <a:lnTo>
                    <a:pt x="34" y="141"/>
                  </a:lnTo>
                  <a:lnTo>
                    <a:pt x="27" y="127"/>
                  </a:lnTo>
                  <a:lnTo>
                    <a:pt x="16" y="118"/>
                  </a:lnTo>
                  <a:lnTo>
                    <a:pt x="4" y="109"/>
                  </a:lnTo>
                  <a:lnTo>
                    <a:pt x="5" y="105"/>
                  </a:lnTo>
                  <a:lnTo>
                    <a:pt x="0" y="81"/>
                  </a:lnTo>
                  <a:lnTo>
                    <a:pt x="8" y="70"/>
                  </a:lnTo>
                  <a:lnTo>
                    <a:pt x="15" y="59"/>
                  </a:lnTo>
                  <a:lnTo>
                    <a:pt x="16" y="70"/>
                  </a:lnTo>
                  <a:lnTo>
                    <a:pt x="12" y="78"/>
                  </a:lnTo>
                  <a:lnTo>
                    <a:pt x="18" y="76"/>
                  </a:lnTo>
                  <a:lnTo>
                    <a:pt x="35" y="89"/>
                  </a:lnTo>
                  <a:lnTo>
                    <a:pt x="40" y="82"/>
                  </a:lnTo>
                  <a:lnTo>
                    <a:pt x="42" y="75"/>
                  </a:lnTo>
                  <a:lnTo>
                    <a:pt x="46" y="69"/>
                  </a:lnTo>
                  <a:lnTo>
                    <a:pt x="48" y="58"/>
                  </a:lnTo>
                  <a:lnTo>
                    <a:pt x="50" y="58"/>
                  </a:lnTo>
                  <a:lnTo>
                    <a:pt x="51" y="60"/>
                  </a:lnTo>
                  <a:lnTo>
                    <a:pt x="53" y="60"/>
                  </a:lnTo>
                  <a:lnTo>
                    <a:pt x="52" y="57"/>
                  </a:lnTo>
                  <a:lnTo>
                    <a:pt x="56" y="53"/>
                  </a:lnTo>
                  <a:lnTo>
                    <a:pt x="65" y="48"/>
                  </a:lnTo>
                  <a:lnTo>
                    <a:pt x="82" y="37"/>
                  </a:lnTo>
                  <a:lnTo>
                    <a:pt x="92" y="16"/>
                  </a:lnTo>
                  <a:lnTo>
                    <a:pt x="95" y="17"/>
                  </a:lnTo>
                  <a:lnTo>
                    <a:pt x="89" y="3"/>
                  </a:lnTo>
                  <a:lnTo>
                    <a:pt x="94" y="1"/>
                  </a:lnTo>
                  <a:lnTo>
                    <a:pt x="95" y="0"/>
                  </a:lnTo>
                  <a:lnTo>
                    <a:pt x="104" y="9"/>
                  </a:lnTo>
                  <a:lnTo>
                    <a:pt x="113" y="17"/>
                  </a:lnTo>
                  <a:lnTo>
                    <a:pt x="125" y="31"/>
                  </a:lnTo>
                  <a:lnTo>
                    <a:pt x="128" y="40"/>
                  </a:lnTo>
                  <a:lnTo>
                    <a:pt x="148" y="40"/>
                  </a:lnTo>
                  <a:lnTo>
                    <a:pt x="160" y="41"/>
                  </a:lnTo>
                  <a:lnTo>
                    <a:pt x="176" y="46"/>
                  </a:lnTo>
                  <a:lnTo>
                    <a:pt x="170" y="67"/>
                  </a:lnTo>
                  <a:lnTo>
                    <a:pt x="179" y="75"/>
                  </a:lnTo>
                  <a:lnTo>
                    <a:pt x="174" y="75"/>
                  </a:lnTo>
                  <a:lnTo>
                    <a:pt x="161" y="78"/>
                  </a:lnTo>
                  <a:lnTo>
                    <a:pt x="148" y="84"/>
                  </a:lnTo>
                  <a:lnTo>
                    <a:pt x="136" y="90"/>
                  </a:lnTo>
                  <a:lnTo>
                    <a:pt x="131" y="103"/>
                  </a:lnTo>
                  <a:lnTo>
                    <a:pt x="128" y="118"/>
                  </a:lnTo>
                  <a:lnTo>
                    <a:pt x="119" y="132"/>
                  </a:lnTo>
                  <a:lnTo>
                    <a:pt x="126" y="145"/>
                  </a:lnTo>
                  <a:lnTo>
                    <a:pt x="134" y="159"/>
                  </a:lnTo>
                  <a:lnTo>
                    <a:pt x="132" y="167"/>
                  </a:lnTo>
                  <a:lnTo>
                    <a:pt x="140" y="168"/>
                  </a:lnTo>
                  <a:lnTo>
                    <a:pt x="148" y="175"/>
                  </a:lnTo>
                  <a:lnTo>
                    <a:pt x="161" y="179"/>
                  </a:lnTo>
                  <a:lnTo>
                    <a:pt x="172" y="169"/>
                  </a:lnTo>
                  <a:lnTo>
                    <a:pt x="173" y="184"/>
                  </a:lnTo>
                  <a:lnTo>
                    <a:pt x="174" y="197"/>
                  </a:lnTo>
                  <a:lnTo>
                    <a:pt x="191" y="196"/>
                  </a:lnTo>
                  <a:lnTo>
                    <a:pt x="198" y="209"/>
                  </a:lnTo>
                  <a:lnTo>
                    <a:pt x="207" y="223"/>
                  </a:lnTo>
                  <a:lnTo>
                    <a:pt x="204" y="228"/>
                  </a:lnTo>
                  <a:lnTo>
                    <a:pt x="204" y="25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4" name="Freeform 253"/>
            <p:cNvSpPr>
              <a:spLocks/>
            </p:cNvSpPr>
            <p:nvPr/>
          </p:nvSpPr>
          <p:spPr bwMode="auto">
            <a:xfrm>
              <a:off x="3731" y="1648"/>
              <a:ext cx="898" cy="653"/>
            </a:xfrm>
            <a:custGeom>
              <a:avLst/>
              <a:gdLst/>
              <a:ahLst/>
              <a:cxnLst>
                <a:cxn ang="0">
                  <a:pos x="324" y="454"/>
                </a:cxn>
                <a:cxn ang="0">
                  <a:pos x="270" y="453"/>
                </a:cxn>
                <a:cxn ang="0">
                  <a:pos x="205" y="432"/>
                </a:cxn>
                <a:cxn ang="0">
                  <a:pos x="155" y="412"/>
                </a:cxn>
                <a:cxn ang="0">
                  <a:pos x="106" y="369"/>
                </a:cxn>
                <a:cxn ang="0">
                  <a:pos x="107" y="337"/>
                </a:cxn>
                <a:cxn ang="0">
                  <a:pos x="94" y="321"/>
                </a:cxn>
                <a:cxn ang="0">
                  <a:pos x="43" y="293"/>
                </a:cxn>
                <a:cxn ang="0">
                  <a:pos x="31" y="283"/>
                </a:cxn>
                <a:cxn ang="0">
                  <a:pos x="17" y="227"/>
                </a:cxn>
                <a:cxn ang="0">
                  <a:pos x="68" y="204"/>
                </a:cxn>
                <a:cxn ang="0">
                  <a:pos x="72" y="166"/>
                </a:cxn>
                <a:cxn ang="0">
                  <a:pos x="88" y="137"/>
                </a:cxn>
                <a:cxn ang="0">
                  <a:pos x="113" y="91"/>
                </a:cxn>
                <a:cxn ang="0">
                  <a:pos x="144" y="82"/>
                </a:cxn>
                <a:cxn ang="0">
                  <a:pos x="208" y="141"/>
                </a:cxn>
                <a:cxn ang="0">
                  <a:pos x="295" y="173"/>
                </a:cxn>
                <a:cxn ang="0">
                  <a:pos x="389" y="191"/>
                </a:cxn>
                <a:cxn ang="0">
                  <a:pos x="452" y="201"/>
                </a:cxn>
                <a:cxn ang="0">
                  <a:pos x="523" y="169"/>
                </a:cxn>
                <a:cxn ang="0">
                  <a:pos x="560" y="138"/>
                </a:cxn>
                <a:cxn ang="0">
                  <a:pos x="569" y="93"/>
                </a:cxn>
                <a:cxn ang="0">
                  <a:pos x="533" y="89"/>
                </a:cxn>
                <a:cxn ang="0">
                  <a:pos x="556" y="41"/>
                </a:cxn>
                <a:cxn ang="0">
                  <a:pos x="566" y="0"/>
                </a:cxn>
                <a:cxn ang="0">
                  <a:pos x="662" y="48"/>
                </a:cxn>
                <a:cxn ang="0">
                  <a:pos x="751" y="99"/>
                </a:cxn>
                <a:cxn ang="0">
                  <a:pos x="809" y="145"/>
                </a:cxn>
                <a:cxn ang="0">
                  <a:pos x="800" y="187"/>
                </a:cxn>
                <a:cxn ang="0">
                  <a:pos x="773" y="201"/>
                </a:cxn>
                <a:cxn ang="0">
                  <a:pos x="738" y="233"/>
                </a:cxn>
                <a:cxn ang="0">
                  <a:pos x="707" y="246"/>
                </a:cxn>
                <a:cxn ang="0">
                  <a:pos x="676" y="233"/>
                </a:cxn>
                <a:cxn ang="0">
                  <a:pos x="676" y="270"/>
                </a:cxn>
                <a:cxn ang="0">
                  <a:pos x="734" y="283"/>
                </a:cxn>
                <a:cxn ang="0">
                  <a:pos x="708" y="311"/>
                </a:cxn>
                <a:cxn ang="0">
                  <a:pos x="764" y="384"/>
                </a:cxn>
                <a:cxn ang="0">
                  <a:pos x="756" y="407"/>
                </a:cxn>
                <a:cxn ang="0">
                  <a:pos x="774" y="424"/>
                </a:cxn>
                <a:cxn ang="0">
                  <a:pos x="778" y="437"/>
                </a:cxn>
                <a:cxn ang="0">
                  <a:pos x="770" y="455"/>
                </a:cxn>
                <a:cxn ang="0">
                  <a:pos x="756" y="485"/>
                </a:cxn>
                <a:cxn ang="0">
                  <a:pos x="758" y="499"/>
                </a:cxn>
                <a:cxn ang="0">
                  <a:pos x="743" y="515"/>
                </a:cxn>
                <a:cxn ang="0">
                  <a:pos x="721" y="540"/>
                </a:cxn>
                <a:cxn ang="0">
                  <a:pos x="700" y="545"/>
                </a:cxn>
                <a:cxn ang="0">
                  <a:pos x="677" y="543"/>
                </a:cxn>
                <a:cxn ang="0">
                  <a:pos x="668" y="562"/>
                </a:cxn>
                <a:cxn ang="0">
                  <a:pos x="640" y="569"/>
                </a:cxn>
                <a:cxn ang="0">
                  <a:pos x="628" y="569"/>
                </a:cxn>
                <a:cxn ang="0">
                  <a:pos x="604" y="563"/>
                </a:cxn>
                <a:cxn ang="0">
                  <a:pos x="554" y="537"/>
                </a:cxn>
                <a:cxn ang="0">
                  <a:pos x="527" y="546"/>
                </a:cxn>
                <a:cxn ang="0">
                  <a:pos x="497" y="551"/>
                </a:cxn>
                <a:cxn ang="0">
                  <a:pos x="476" y="567"/>
                </a:cxn>
                <a:cxn ang="0">
                  <a:pos x="448" y="522"/>
                </a:cxn>
                <a:cxn ang="0">
                  <a:pos x="436" y="495"/>
                </a:cxn>
                <a:cxn ang="0">
                  <a:pos x="412" y="441"/>
                </a:cxn>
                <a:cxn ang="0">
                  <a:pos x="389" y="427"/>
                </a:cxn>
              </a:cxnLst>
              <a:rect l="0" t="0" r="r" b="b"/>
              <a:pathLst>
                <a:path w="809" h="588">
                  <a:moveTo>
                    <a:pt x="361" y="429"/>
                  </a:moveTo>
                  <a:lnTo>
                    <a:pt x="350" y="438"/>
                  </a:lnTo>
                  <a:lnTo>
                    <a:pt x="338" y="449"/>
                  </a:lnTo>
                  <a:lnTo>
                    <a:pt x="325" y="454"/>
                  </a:lnTo>
                  <a:lnTo>
                    <a:pt x="324" y="454"/>
                  </a:lnTo>
                  <a:lnTo>
                    <a:pt x="317" y="449"/>
                  </a:lnTo>
                  <a:lnTo>
                    <a:pt x="295" y="447"/>
                  </a:lnTo>
                  <a:lnTo>
                    <a:pt x="284" y="462"/>
                  </a:lnTo>
                  <a:lnTo>
                    <a:pt x="277" y="448"/>
                  </a:lnTo>
                  <a:lnTo>
                    <a:pt x="270" y="453"/>
                  </a:lnTo>
                  <a:lnTo>
                    <a:pt x="252" y="450"/>
                  </a:lnTo>
                  <a:lnTo>
                    <a:pt x="238" y="449"/>
                  </a:lnTo>
                  <a:lnTo>
                    <a:pt x="222" y="442"/>
                  </a:lnTo>
                  <a:lnTo>
                    <a:pt x="220" y="438"/>
                  </a:lnTo>
                  <a:lnTo>
                    <a:pt x="205" y="432"/>
                  </a:lnTo>
                  <a:lnTo>
                    <a:pt x="200" y="426"/>
                  </a:lnTo>
                  <a:lnTo>
                    <a:pt x="194" y="429"/>
                  </a:lnTo>
                  <a:lnTo>
                    <a:pt x="174" y="414"/>
                  </a:lnTo>
                  <a:lnTo>
                    <a:pt x="161" y="406"/>
                  </a:lnTo>
                  <a:lnTo>
                    <a:pt x="155" y="412"/>
                  </a:lnTo>
                  <a:lnTo>
                    <a:pt x="154" y="411"/>
                  </a:lnTo>
                  <a:lnTo>
                    <a:pt x="139" y="401"/>
                  </a:lnTo>
                  <a:lnTo>
                    <a:pt x="120" y="390"/>
                  </a:lnTo>
                  <a:lnTo>
                    <a:pt x="113" y="388"/>
                  </a:lnTo>
                  <a:lnTo>
                    <a:pt x="106" y="369"/>
                  </a:lnTo>
                  <a:lnTo>
                    <a:pt x="115" y="370"/>
                  </a:lnTo>
                  <a:lnTo>
                    <a:pt x="118" y="363"/>
                  </a:lnTo>
                  <a:lnTo>
                    <a:pt x="108" y="349"/>
                  </a:lnTo>
                  <a:lnTo>
                    <a:pt x="108" y="342"/>
                  </a:lnTo>
                  <a:lnTo>
                    <a:pt x="107" y="337"/>
                  </a:lnTo>
                  <a:lnTo>
                    <a:pt x="103" y="335"/>
                  </a:lnTo>
                  <a:lnTo>
                    <a:pt x="101" y="331"/>
                  </a:lnTo>
                  <a:lnTo>
                    <a:pt x="100" y="327"/>
                  </a:lnTo>
                  <a:lnTo>
                    <a:pt x="98" y="322"/>
                  </a:lnTo>
                  <a:lnTo>
                    <a:pt x="94" y="321"/>
                  </a:lnTo>
                  <a:lnTo>
                    <a:pt x="86" y="317"/>
                  </a:lnTo>
                  <a:lnTo>
                    <a:pt x="82" y="316"/>
                  </a:lnTo>
                  <a:lnTo>
                    <a:pt x="61" y="310"/>
                  </a:lnTo>
                  <a:lnTo>
                    <a:pt x="50" y="305"/>
                  </a:lnTo>
                  <a:lnTo>
                    <a:pt x="43" y="293"/>
                  </a:lnTo>
                  <a:lnTo>
                    <a:pt x="25" y="288"/>
                  </a:lnTo>
                  <a:lnTo>
                    <a:pt x="25" y="285"/>
                  </a:lnTo>
                  <a:lnTo>
                    <a:pt x="29" y="285"/>
                  </a:lnTo>
                  <a:lnTo>
                    <a:pt x="30" y="285"/>
                  </a:lnTo>
                  <a:lnTo>
                    <a:pt x="31" y="283"/>
                  </a:lnTo>
                  <a:lnTo>
                    <a:pt x="23" y="262"/>
                  </a:lnTo>
                  <a:lnTo>
                    <a:pt x="8" y="261"/>
                  </a:lnTo>
                  <a:lnTo>
                    <a:pt x="0" y="246"/>
                  </a:lnTo>
                  <a:lnTo>
                    <a:pt x="6" y="233"/>
                  </a:lnTo>
                  <a:lnTo>
                    <a:pt x="17" y="227"/>
                  </a:lnTo>
                  <a:lnTo>
                    <a:pt x="24" y="226"/>
                  </a:lnTo>
                  <a:lnTo>
                    <a:pt x="32" y="228"/>
                  </a:lnTo>
                  <a:lnTo>
                    <a:pt x="42" y="217"/>
                  </a:lnTo>
                  <a:lnTo>
                    <a:pt x="58" y="213"/>
                  </a:lnTo>
                  <a:lnTo>
                    <a:pt x="68" y="204"/>
                  </a:lnTo>
                  <a:lnTo>
                    <a:pt x="79" y="195"/>
                  </a:lnTo>
                  <a:lnTo>
                    <a:pt x="76" y="186"/>
                  </a:lnTo>
                  <a:lnTo>
                    <a:pt x="79" y="183"/>
                  </a:lnTo>
                  <a:lnTo>
                    <a:pt x="79" y="179"/>
                  </a:lnTo>
                  <a:lnTo>
                    <a:pt x="72" y="166"/>
                  </a:lnTo>
                  <a:lnTo>
                    <a:pt x="66" y="153"/>
                  </a:lnTo>
                  <a:lnTo>
                    <a:pt x="56" y="149"/>
                  </a:lnTo>
                  <a:lnTo>
                    <a:pt x="73" y="142"/>
                  </a:lnTo>
                  <a:lnTo>
                    <a:pt x="94" y="144"/>
                  </a:lnTo>
                  <a:lnTo>
                    <a:pt x="88" y="137"/>
                  </a:lnTo>
                  <a:lnTo>
                    <a:pt x="86" y="123"/>
                  </a:lnTo>
                  <a:lnTo>
                    <a:pt x="84" y="107"/>
                  </a:lnTo>
                  <a:lnTo>
                    <a:pt x="107" y="112"/>
                  </a:lnTo>
                  <a:lnTo>
                    <a:pt x="120" y="109"/>
                  </a:lnTo>
                  <a:lnTo>
                    <a:pt x="113" y="91"/>
                  </a:lnTo>
                  <a:lnTo>
                    <a:pt x="120" y="87"/>
                  </a:lnTo>
                  <a:lnTo>
                    <a:pt x="126" y="75"/>
                  </a:lnTo>
                  <a:lnTo>
                    <a:pt x="137" y="73"/>
                  </a:lnTo>
                  <a:lnTo>
                    <a:pt x="138" y="76"/>
                  </a:lnTo>
                  <a:lnTo>
                    <a:pt x="144" y="82"/>
                  </a:lnTo>
                  <a:lnTo>
                    <a:pt x="164" y="95"/>
                  </a:lnTo>
                  <a:lnTo>
                    <a:pt x="175" y="97"/>
                  </a:lnTo>
                  <a:lnTo>
                    <a:pt x="197" y="112"/>
                  </a:lnTo>
                  <a:lnTo>
                    <a:pt x="202" y="126"/>
                  </a:lnTo>
                  <a:lnTo>
                    <a:pt x="208" y="141"/>
                  </a:lnTo>
                  <a:lnTo>
                    <a:pt x="224" y="143"/>
                  </a:lnTo>
                  <a:lnTo>
                    <a:pt x="241" y="147"/>
                  </a:lnTo>
                  <a:lnTo>
                    <a:pt x="262" y="153"/>
                  </a:lnTo>
                  <a:lnTo>
                    <a:pt x="282" y="159"/>
                  </a:lnTo>
                  <a:lnTo>
                    <a:pt x="295" y="173"/>
                  </a:lnTo>
                  <a:lnTo>
                    <a:pt x="308" y="186"/>
                  </a:lnTo>
                  <a:lnTo>
                    <a:pt x="329" y="187"/>
                  </a:lnTo>
                  <a:lnTo>
                    <a:pt x="348" y="189"/>
                  </a:lnTo>
                  <a:lnTo>
                    <a:pt x="368" y="190"/>
                  </a:lnTo>
                  <a:lnTo>
                    <a:pt x="389" y="191"/>
                  </a:lnTo>
                  <a:lnTo>
                    <a:pt x="395" y="196"/>
                  </a:lnTo>
                  <a:lnTo>
                    <a:pt x="413" y="199"/>
                  </a:lnTo>
                  <a:lnTo>
                    <a:pt x="431" y="203"/>
                  </a:lnTo>
                  <a:lnTo>
                    <a:pt x="442" y="208"/>
                  </a:lnTo>
                  <a:lnTo>
                    <a:pt x="452" y="201"/>
                  </a:lnTo>
                  <a:lnTo>
                    <a:pt x="462" y="195"/>
                  </a:lnTo>
                  <a:lnTo>
                    <a:pt x="480" y="193"/>
                  </a:lnTo>
                  <a:lnTo>
                    <a:pt x="497" y="192"/>
                  </a:lnTo>
                  <a:lnTo>
                    <a:pt x="510" y="180"/>
                  </a:lnTo>
                  <a:lnTo>
                    <a:pt x="523" y="169"/>
                  </a:lnTo>
                  <a:lnTo>
                    <a:pt x="514" y="161"/>
                  </a:lnTo>
                  <a:lnTo>
                    <a:pt x="511" y="144"/>
                  </a:lnTo>
                  <a:lnTo>
                    <a:pt x="533" y="150"/>
                  </a:lnTo>
                  <a:lnTo>
                    <a:pt x="546" y="142"/>
                  </a:lnTo>
                  <a:lnTo>
                    <a:pt x="560" y="138"/>
                  </a:lnTo>
                  <a:lnTo>
                    <a:pt x="563" y="126"/>
                  </a:lnTo>
                  <a:lnTo>
                    <a:pt x="580" y="118"/>
                  </a:lnTo>
                  <a:lnTo>
                    <a:pt x="604" y="118"/>
                  </a:lnTo>
                  <a:lnTo>
                    <a:pt x="600" y="109"/>
                  </a:lnTo>
                  <a:lnTo>
                    <a:pt x="569" y="93"/>
                  </a:lnTo>
                  <a:lnTo>
                    <a:pt x="562" y="100"/>
                  </a:lnTo>
                  <a:lnTo>
                    <a:pt x="557" y="97"/>
                  </a:lnTo>
                  <a:lnTo>
                    <a:pt x="541" y="97"/>
                  </a:lnTo>
                  <a:lnTo>
                    <a:pt x="529" y="90"/>
                  </a:lnTo>
                  <a:lnTo>
                    <a:pt x="533" y="89"/>
                  </a:lnTo>
                  <a:lnTo>
                    <a:pt x="532" y="75"/>
                  </a:lnTo>
                  <a:lnTo>
                    <a:pt x="529" y="61"/>
                  </a:lnTo>
                  <a:lnTo>
                    <a:pt x="550" y="65"/>
                  </a:lnTo>
                  <a:lnTo>
                    <a:pt x="560" y="54"/>
                  </a:lnTo>
                  <a:lnTo>
                    <a:pt x="556" y="41"/>
                  </a:lnTo>
                  <a:lnTo>
                    <a:pt x="554" y="21"/>
                  </a:lnTo>
                  <a:lnTo>
                    <a:pt x="545" y="13"/>
                  </a:lnTo>
                  <a:lnTo>
                    <a:pt x="539" y="11"/>
                  </a:lnTo>
                  <a:lnTo>
                    <a:pt x="548" y="1"/>
                  </a:lnTo>
                  <a:lnTo>
                    <a:pt x="566" y="0"/>
                  </a:lnTo>
                  <a:lnTo>
                    <a:pt x="584" y="0"/>
                  </a:lnTo>
                  <a:lnTo>
                    <a:pt x="619" y="11"/>
                  </a:lnTo>
                  <a:lnTo>
                    <a:pt x="634" y="24"/>
                  </a:lnTo>
                  <a:lnTo>
                    <a:pt x="648" y="36"/>
                  </a:lnTo>
                  <a:lnTo>
                    <a:pt x="662" y="48"/>
                  </a:lnTo>
                  <a:lnTo>
                    <a:pt x="677" y="60"/>
                  </a:lnTo>
                  <a:lnTo>
                    <a:pt x="692" y="66"/>
                  </a:lnTo>
                  <a:lnTo>
                    <a:pt x="718" y="73"/>
                  </a:lnTo>
                  <a:lnTo>
                    <a:pt x="733" y="79"/>
                  </a:lnTo>
                  <a:lnTo>
                    <a:pt x="751" y="99"/>
                  </a:lnTo>
                  <a:lnTo>
                    <a:pt x="773" y="96"/>
                  </a:lnTo>
                  <a:lnTo>
                    <a:pt x="794" y="88"/>
                  </a:lnTo>
                  <a:lnTo>
                    <a:pt x="803" y="103"/>
                  </a:lnTo>
                  <a:lnTo>
                    <a:pt x="805" y="124"/>
                  </a:lnTo>
                  <a:lnTo>
                    <a:pt x="809" y="145"/>
                  </a:lnTo>
                  <a:lnTo>
                    <a:pt x="790" y="142"/>
                  </a:lnTo>
                  <a:lnTo>
                    <a:pt x="787" y="151"/>
                  </a:lnTo>
                  <a:lnTo>
                    <a:pt x="797" y="167"/>
                  </a:lnTo>
                  <a:lnTo>
                    <a:pt x="806" y="183"/>
                  </a:lnTo>
                  <a:lnTo>
                    <a:pt x="800" y="187"/>
                  </a:lnTo>
                  <a:lnTo>
                    <a:pt x="804" y="192"/>
                  </a:lnTo>
                  <a:lnTo>
                    <a:pt x="787" y="183"/>
                  </a:lnTo>
                  <a:lnTo>
                    <a:pt x="787" y="192"/>
                  </a:lnTo>
                  <a:lnTo>
                    <a:pt x="778" y="199"/>
                  </a:lnTo>
                  <a:lnTo>
                    <a:pt x="773" y="201"/>
                  </a:lnTo>
                  <a:lnTo>
                    <a:pt x="779" y="210"/>
                  </a:lnTo>
                  <a:lnTo>
                    <a:pt x="761" y="205"/>
                  </a:lnTo>
                  <a:lnTo>
                    <a:pt x="755" y="208"/>
                  </a:lnTo>
                  <a:lnTo>
                    <a:pt x="746" y="223"/>
                  </a:lnTo>
                  <a:lnTo>
                    <a:pt x="738" y="233"/>
                  </a:lnTo>
                  <a:lnTo>
                    <a:pt x="731" y="238"/>
                  </a:lnTo>
                  <a:lnTo>
                    <a:pt x="721" y="245"/>
                  </a:lnTo>
                  <a:lnTo>
                    <a:pt x="712" y="251"/>
                  </a:lnTo>
                  <a:lnTo>
                    <a:pt x="701" y="256"/>
                  </a:lnTo>
                  <a:lnTo>
                    <a:pt x="707" y="246"/>
                  </a:lnTo>
                  <a:lnTo>
                    <a:pt x="697" y="243"/>
                  </a:lnTo>
                  <a:lnTo>
                    <a:pt x="701" y="225"/>
                  </a:lnTo>
                  <a:lnTo>
                    <a:pt x="692" y="220"/>
                  </a:lnTo>
                  <a:lnTo>
                    <a:pt x="683" y="222"/>
                  </a:lnTo>
                  <a:lnTo>
                    <a:pt x="676" y="233"/>
                  </a:lnTo>
                  <a:lnTo>
                    <a:pt x="668" y="245"/>
                  </a:lnTo>
                  <a:lnTo>
                    <a:pt x="658" y="251"/>
                  </a:lnTo>
                  <a:lnTo>
                    <a:pt x="649" y="252"/>
                  </a:lnTo>
                  <a:lnTo>
                    <a:pt x="654" y="264"/>
                  </a:lnTo>
                  <a:lnTo>
                    <a:pt x="676" y="270"/>
                  </a:lnTo>
                  <a:lnTo>
                    <a:pt x="683" y="285"/>
                  </a:lnTo>
                  <a:lnTo>
                    <a:pt x="694" y="282"/>
                  </a:lnTo>
                  <a:lnTo>
                    <a:pt x="706" y="274"/>
                  </a:lnTo>
                  <a:lnTo>
                    <a:pt x="725" y="281"/>
                  </a:lnTo>
                  <a:lnTo>
                    <a:pt x="734" y="283"/>
                  </a:lnTo>
                  <a:lnTo>
                    <a:pt x="734" y="292"/>
                  </a:lnTo>
                  <a:lnTo>
                    <a:pt x="726" y="291"/>
                  </a:lnTo>
                  <a:lnTo>
                    <a:pt x="716" y="297"/>
                  </a:lnTo>
                  <a:lnTo>
                    <a:pt x="710" y="305"/>
                  </a:lnTo>
                  <a:lnTo>
                    <a:pt x="708" y="311"/>
                  </a:lnTo>
                  <a:lnTo>
                    <a:pt x="706" y="329"/>
                  </a:lnTo>
                  <a:lnTo>
                    <a:pt x="727" y="342"/>
                  </a:lnTo>
                  <a:lnTo>
                    <a:pt x="738" y="355"/>
                  </a:lnTo>
                  <a:lnTo>
                    <a:pt x="748" y="370"/>
                  </a:lnTo>
                  <a:lnTo>
                    <a:pt x="764" y="384"/>
                  </a:lnTo>
                  <a:lnTo>
                    <a:pt x="740" y="377"/>
                  </a:lnTo>
                  <a:lnTo>
                    <a:pt x="742" y="378"/>
                  </a:lnTo>
                  <a:lnTo>
                    <a:pt x="756" y="388"/>
                  </a:lnTo>
                  <a:lnTo>
                    <a:pt x="770" y="397"/>
                  </a:lnTo>
                  <a:lnTo>
                    <a:pt x="756" y="407"/>
                  </a:lnTo>
                  <a:lnTo>
                    <a:pt x="751" y="411"/>
                  </a:lnTo>
                  <a:lnTo>
                    <a:pt x="760" y="412"/>
                  </a:lnTo>
                  <a:lnTo>
                    <a:pt x="769" y="411"/>
                  </a:lnTo>
                  <a:lnTo>
                    <a:pt x="780" y="417"/>
                  </a:lnTo>
                  <a:lnTo>
                    <a:pt x="774" y="424"/>
                  </a:lnTo>
                  <a:lnTo>
                    <a:pt x="780" y="424"/>
                  </a:lnTo>
                  <a:lnTo>
                    <a:pt x="779" y="426"/>
                  </a:lnTo>
                  <a:lnTo>
                    <a:pt x="775" y="430"/>
                  </a:lnTo>
                  <a:lnTo>
                    <a:pt x="776" y="433"/>
                  </a:lnTo>
                  <a:lnTo>
                    <a:pt x="778" y="437"/>
                  </a:lnTo>
                  <a:lnTo>
                    <a:pt x="775" y="437"/>
                  </a:lnTo>
                  <a:lnTo>
                    <a:pt x="779" y="444"/>
                  </a:lnTo>
                  <a:lnTo>
                    <a:pt x="775" y="445"/>
                  </a:lnTo>
                  <a:lnTo>
                    <a:pt x="767" y="449"/>
                  </a:lnTo>
                  <a:lnTo>
                    <a:pt x="770" y="455"/>
                  </a:lnTo>
                  <a:lnTo>
                    <a:pt x="768" y="463"/>
                  </a:lnTo>
                  <a:lnTo>
                    <a:pt x="762" y="477"/>
                  </a:lnTo>
                  <a:lnTo>
                    <a:pt x="760" y="478"/>
                  </a:lnTo>
                  <a:lnTo>
                    <a:pt x="763" y="481"/>
                  </a:lnTo>
                  <a:lnTo>
                    <a:pt x="756" y="485"/>
                  </a:lnTo>
                  <a:lnTo>
                    <a:pt x="755" y="485"/>
                  </a:lnTo>
                  <a:lnTo>
                    <a:pt x="762" y="487"/>
                  </a:lnTo>
                  <a:lnTo>
                    <a:pt x="763" y="497"/>
                  </a:lnTo>
                  <a:lnTo>
                    <a:pt x="758" y="496"/>
                  </a:lnTo>
                  <a:lnTo>
                    <a:pt x="758" y="499"/>
                  </a:lnTo>
                  <a:lnTo>
                    <a:pt x="755" y="503"/>
                  </a:lnTo>
                  <a:lnTo>
                    <a:pt x="754" y="505"/>
                  </a:lnTo>
                  <a:lnTo>
                    <a:pt x="752" y="511"/>
                  </a:lnTo>
                  <a:lnTo>
                    <a:pt x="744" y="513"/>
                  </a:lnTo>
                  <a:lnTo>
                    <a:pt x="743" y="515"/>
                  </a:lnTo>
                  <a:lnTo>
                    <a:pt x="744" y="519"/>
                  </a:lnTo>
                  <a:lnTo>
                    <a:pt x="739" y="525"/>
                  </a:lnTo>
                  <a:lnTo>
                    <a:pt x="726" y="534"/>
                  </a:lnTo>
                  <a:lnTo>
                    <a:pt x="727" y="535"/>
                  </a:lnTo>
                  <a:lnTo>
                    <a:pt x="721" y="540"/>
                  </a:lnTo>
                  <a:lnTo>
                    <a:pt x="713" y="543"/>
                  </a:lnTo>
                  <a:lnTo>
                    <a:pt x="712" y="543"/>
                  </a:lnTo>
                  <a:lnTo>
                    <a:pt x="709" y="545"/>
                  </a:lnTo>
                  <a:lnTo>
                    <a:pt x="702" y="546"/>
                  </a:lnTo>
                  <a:lnTo>
                    <a:pt x="700" y="545"/>
                  </a:lnTo>
                  <a:lnTo>
                    <a:pt x="696" y="547"/>
                  </a:lnTo>
                  <a:lnTo>
                    <a:pt x="694" y="550"/>
                  </a:lnTo>
                  <a:lnTo>
                    <a:pt x="689" y="550"/>
                  </a:lnTo>
                  <a:lnTo>
                    <a:pt x="680" y="538"/>
                  </a:lnTo>
                  <a:lnTo>
                    <a:pt x="677" y="543"/>
                  </a:lnTo>
                  <a:lnTo>
                    <a:pt x="680" y="555"/>
                  </a:lnTo>
                  <a:lnTo>
                    <a:pt x="677" y="550"/>
                  </a:lnTo>
                  <a:lnTo>
                    <a:pt x="677" y="557"/>
                  </a:lnTo>
                  <a:lnTo>
                    <a:pt x="674" y="556"/>
                  </a:lnTo>
                  <a:lnTo>
                    <a:pt x="668" y="562"/>
                  </a:lnTo>
                  <a:lnTo>
                    <a:pt x="665" y="558"/>
                  </a:lnTo>
                  <a:lnTo>
                    <a:pt x="662" y="562"/>
                  </a:lnTo>
                  <a:lnTo>
                    <a:pt x="658" y="561"/>
                  </a:lnTo>
                  <a:lnTo>
                    <a:pt x="648" y="567"/>
                  </a:lnTo>
                  <a:lnTo>
                    <a:pt x="640" y="569"/>
                  </a:lnTo>
                  <a:lnTo>
                    <a:pt x="637" y="570"/>
                  </a:lnTo>
                  <a:lnTo>
                    <a:pt x="636" y="579"/>
                  </a:lnTo>
                  <a:lnTo>
                    <a:pt x="640" y="588"/>
                  </a:lnTo>
                  <a:lnTo>
                    <a:pt x="631" y="587"/>
                  </a:lnTo>
                  <a:lnTo>
                    <a:pt x="628" y="569"/>
                  </a:lnTo>
                  <a:lnTo>
                    <a:pt x="623" y="565"/>
                  </a:lnTo>
                  <a:lnTo>
                    <a:pt x="617" y="567"/>
                  </a:lnTo>
                  <a:lnTo>
                    <a:pt x="611" y="564"/>
                  </a:lnTo>
                  <a:lnTo>
                    <a:pt x="605" y="561"/>
                  </a:lnTo>
                  <a:lnTo>
                    <a:pt x="604" y="563"/>
                  </a:lnTo>
                  <a:lnTo>
                    <a:pt x="598" y="565"/>
                  </a:lnTo>
                  <a:lnTo>
                    <a:pt x="582" y="559"/>
                  </a:lnTo>
                  <a:lnTo>
                    <a:pt x="576" y="555"/>
                  </a:lnTo>
                  <a:lnTo>
                    <a:pt x="574" y="543"/>
                  </a:lnTo>
                  <a:lnTo>
                    <a:pt x="554" y="537"/>
                  </a:lnTo>
                  <a:lnTo>
                    <a:pt x="547" y="535"/>
                  </a:lnTo>
                  <a:lnTo>
                    <a:pt x="539" y="546"/>
                  </a:lnTo>
                  <a:lnTo>
                    <a:pt x="533" y="546"/>
                  </a:lnTo>
                  <a:lnTo>
                    <a:pt x="530" y="547"/>
                  </a:lnTo>
                  <a:lnTo>
                    <a:pt x="527" y="546"/>
                  </a:lnTo>
                  <a:lnTo>
                    <a:pt x="520" y="546"/>
                  </a:lnTo>
                  <a:lnTo>
                    <a:pt x="517" y="549"/>
                  </a:lnTo>
                  <a:lnTo>
                    <a:pt x="509" y="546"/>
                  </a:lnTo>
                  <a:lnTo>
                    <a:pt x="505" y="551"/>
                  </a:lnTo>
                  <a:lnTo>
                    <a:pt x="497" y="551"/>
                  </a:lnTo>
                  <a:lnTo>
                    <a:pt x="500" y="573"/>
                  </a:lnTo>
                  <a:lnTo>
                    <a:pt x="494" y="569"/>
                  </a:lnTo>
                  <a:lnTo>
                    <a:pt x="492" y="565"/>
                  </a:lnTo>
                  <a:lnTo>
                    <a:pt x="487" y="563"/>
                  </a:lnTo>
                  <a:lnTo>
                    <a:pt x="476" y="567"/>
                  </a:lnTo>
                  <a:lnTo>
                    <a:pt x="468" y="557"/>
                  </a:lnTo>
                  <a:lnTo>
                    <a:pt x="460" y="553"/>
                  </a:lnTo>
                  <a:lnTo>
                    <a:pt x="462" y="539"/>
                  </a:lnTo>
                  <a:lnTo>
                    <a:pt x="451" y="534"/>
                  </a:lnTo>
                  <a:lnTo>
                    <a:pt x="448" y="522"/>
                  </a:lnTo>
                  <a:lnTo>
                    <a:pt x="446" y="520"/>
                  </a:lnTo>
                  <a:lnTo>
                    <a:pt x="430" y="522"/>
                  </a:lnTo>
                  <a:lnTo>
                    <a:pt x="430" y="514"/>
                  </a:lnTo>
                  <a:lnTo>
                    <a:pt x="428" y="507"/>
                  </a:lnTo>
                  <a:lnTo>
                    <a:pt x="436" y="495"/>
                  </a:lnTo>
                  <a:lnTo>
                    <a:pt x="438" y="486"/>
                  </a:lnTo>
                  <a:lnTo>
                    <a:pt x="434" y="472"/>
                  </a:lnTo>
                  <a:lnTo>
                    <a:pt x="432" y="457"/>
                  </a:lnTo>
                  <a:lnTo>
                    <a:pt x="425" y="454"/>
                  </a:lnTo>
                  <a:lnTo>
                    <a:pt x="412" y="441"/>
                  </a:lnTo>
                  <a:lnTo>
                    <a:pt x="410" y="447"/>
                  </a:lnTo>
                  <a:lnTo>
                    <a:pt x="394" y="441"/>
                  </a:lnTo>
                  <a:lnTo>
                    <a:pt x="394" y="432"/>
                  </a:lnTo>
                  <a:lnTo>
                    <a:pt x="388" y="431"/>
                  </a:lnTo>
                  <a:lnTo>
                    <a:pt x="389" y="427"/>
                  </a:lnTo>
                  <a:lnTo>
                    <a:pt x="383" y="425"/>
                  </a:lnTo>
                  <a:lnTo>
                    <a:pt x="374" y="430"/>
                  </a:lnTo>
                  <a:lnTo>
                    <a:pt x="361" y="42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5" name="Freeform 254"/>
            <p:cNvSpPr>
              <a:spLocks/>
            </p:cNvSpPr>
            <p:nvPr/>
          </p:nvSpPr>
          <p:spPr bwMode="auto">
            <a:xfrm>
              <a:off x="4415" y="2307"/>
              <a:ext cx="40" cy="34"/>
            </a:xfrm>
            <a:custGeom>
              <a:avLst/>
              <a:gdLst/>
              <a:ahLst/>
              <a:cxnLst>
                <a:cxn ang="0">
                  <a:pos x="26" y="0"/>
                </a:cxn>
                <a:cxn ang="0">
                  <a:pos x="11" y="3"/>
                </a:cxn>
                <a:cxn ang="0">
                  <a:pos x="0" y="10"/>
                </a:cxn>
                <a:cxn ang="0">
                  <a:pos x="1" y="24"/>
                </a:cxn>
                <a:cxn ang="0">
                  <a:pos x="13" y="30"/>
                </a:cxn>
                <a:cxn ang="0">
                  <a:pos x="19" y="29"/>
                </a:cxn>
                <a:cxn ang="0">
                  <a:pos x="29" y="18"/>
                </a:cxn>
                <a:cxn ang="0">
                  <a:pos x="35" y="6"/>
                </a:cxn>
                <a:cxn ang="0">
                  <a:pos x="32" y="0"/>
                </a:cxn>
                <a:cxn ang="0">
                  <a:pos x="26" y="0"/>
                </a:cxn>
              </a:cxnLst>
              <a:rect l="0" t="0" r="r" b="b"/>
              <a:pathLst>
                <a:path w="35" h="30">
                  <a:moveTo>
                    <a:pt x="26" y="0"/>
                  </a:moveTo>
                  <a:lnTo>
                    <a:pt x="11" y="3"/>
                  </a:lnTo>
                  <a:lnTo>
                    <a:pt x="0" y="10"/>
                  </a:lnTo>
                  <a:lnTo>
                    <a:pt x="1" y="24"/>
                  </a:lnTo>
                  <a:lnTo>
                    <a:pt x="13" y="30"/>
                  </a:lnTo>
                  <a:lnTo>
                    <a:pt x="19" y="29"/>
                  </a:lnTo>
                  <a:lnTo>
                    <a:pt x="29" y="18"/>
                  </a:lnTo>
                  <a:lnTo>
                    <a:pt x="35" y="6"/>
                  </a:lnTo>
                  <a:lnTo>
                    <a:pt x="32" y="0"/>
                  </a:lnTo>
                  <a:lnTo>
                    <a:pt x="2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6" name="Freeform 255"/>
            <p:cNvSpPr>
              <a:spLocks/>
            </p:cNvSpPr>
            <p:nvPr/>
          </p:nvSpPr>
          <p:spPr bwMode="auto">
            <a:xfrm>
              <a:off x="4713" y="1879"/>
              <a:ext cx="149" cy="157"/>
            </a:xfrm>
            <a:custGeom>
              <a:avLst/>
              <a:gdLst/>
              <a:ahLst/>
              <a:cxnLst>
                <a:cxn ang="0">
                  <a:pos x="125" y="108"/>
                </a:cxn>
                <a:cxn ang="0">
                  <a:pos x="122" y="103"/>
                </a:cxn>
                <a:cxn ang="0">
                  <a:pos x="123" y="112"/>
                </a:cxn>
                <a:cxn ang="0">
                  <a:pos x="116" y="114"/>
                </a:cxn>
                <a:cxn ang="0">
                  <a:pos x="114" y="121"/>
                </a:cxn>
                <a:cxn ang="0">
                  <a:pos x="111" y="113"/>
                </a:cxn>
                <a:cxn ang="0">
                  <a:pos x="107" y="122"/>
                </a:cxn>
                <a:cxn ang="0">
                  <a:pos x="90" y="121"/>
                </a:cxn>
                <a:cxn ang="0">
                  <a:pos x="86" y="119"/>
                </a:cxn>
                <a:cxn ang="0">
                  <a:pos x="81" y="115"/>
                </a:cxn>
                <a:cxn ang="0">
                  <a:pos x="83" y="124"/>
                </a:cxn>
                <a:cxn ang="0">
                  <a:pos x="87" y="128"/>
                </a:cxn>
                <a:cxn ang="0">
                  <a:pos x="81" y="136"/>
                </a:cxn>
                <a:cxn ang="0">
                  <a:pos x="78" y="143"/>
                </a:cxn>
                <a:cxn ang="0">
                  <a:pos x="64" y="132"/>
                </a:cxn>
                <a:cxn ang="0">
                  <a:pos x="63" y="120"/>
                </a:cxn>
                <a:cxn ang="0">
                  <a:pos x="44" y="122"/>
                </a:cxn>
                <a:cxn ang="0">
                  <a:pos x="23" y="127"/>
                </a:cxn>
                <a:cxn ang="0">
                  <a:pos x="17" y="134"/>
                </a:cxn>
                <a:cxn ang="0">
                  <a:pos x="0" y="132"/>
                </a:cxn>
                <a:cxn ang="0">
                  <a:pos x="3" y="126"/>
                </a:cxn>
                <a:cxn ang="0">
                  <a:pos x="14" y="115"/>
                </a:cxn>
                <a:cxn ang="0">
                  <a:pos x="23" y="106"/>
                </a:cxn>
                <a:cxn ang="0">
                  <a:pos x="38" y="104"/>
                </a:cxn>
                <a:cxn ang="0">
                  <a:pos x="53" y="103"/>
                </a:cxn>
                <a:cxn ang="0">
                  <a:pos x="57" y="106"/>
                </a:cxn>
                <a:cxn ang="0">
                  <a:pos x="65" y="101"/>
                </a:cxn>
                <a:cxn ang="0">
                  <a:pos x="63" y="91"/>
                </a:cxn>
                <a:cxn ang="0">
                  <a:pos x="62" y="77"/>
                </a:cxn>
                <a:cxn ang="0">
                  <a:pos x="68" y="73"/>
                </a:cxn>
                <a:cxn ang="0">
                  <a:pos x="66" y="78"/>
                </a:cxn>
                <a:cxn ang="0">
                  <a:pos x="72" y="84"/>
                </a:cxn>
                <a:cxn ang="0">
                  <a:pos x="80" y="77"/>
                </a:cxn>
                <a:cxn ang="0">
                  <a:pos x="87" y="70"/>
                </a:cxn>
                <a:cxn ang="0">
                  <a:pos x="89" y="56"/>
                </a:cxn>
                <a:cxn ang="0">
                  <a:pos x="90" y="42"/>
                </a:cxn>
                <a:cxn ang="0">
                  <a:pos x="82" y="29"/>
                </a:cxn>
                <a:cxn ang="0">
                  <a:pos x="76" y="13"/>
                </a:cxn>
                <a:cxn ang="0">
                  <a:pos x="77" y="5"/>
                </a:cxn>
                <a:cxn ang="0">
                  <a:pos x="86" y="10"/>
                </a:cxn>
                <a:cxn ang="0">
                  <a:pos x="89" y="7"/>
                </a:cxn>
                <a:cxn ang="0">
                  <a:pos x="87" y="4"/>
                </a:cxn>
                <a:cxn ang="0">
                  <a:pos x="81" y="4"/>
                </a:cxn>
                <a:cxn ang="0">
                  <a:pos x="82" y="0"/>
                </a:cxn>
                <a:cxn ang="0">
                  <a:pos x="89" y="2"/>
                </a:cxn>
                <a:cxn ang="0">
                  <a:pos x="102" y="18"/>
                </a:cxn>
                <a:cxn ang="0">
                  <a:pos x="118" y="34"/>
                </a:cxn>
                <a:cxn ang="0">
                  <a:pos x="119" y="55"/>
                </a:cxn>
                <a:cxn ang="0">
                  <a:pos x="116" y="61"/>
                </a:cxn>
                <a:cxn ang="0">
                  <a:pos x="124" y="84"/>
                </a:cxn>
                <a:cxn ang="0">
                  <a:pos x="135" y="101"/>
                </a:cxn>
                <a:cxn ang="0">
                  <a:pos x="129" y="118"/>
                </a:cxn>
                <a:cxn ang="0">
                  <a:pos x="125" y="108"/>
                </a:cxn>
              </a:cxnLst>
              <a:rect l="0" t="0" r="r" b="b"/>
              <a:pathLst>
                <a:path w="135" h="143">
                  <a:moveTo>
                    <a:pt x="125" y="108"/>
                  </a:moveTo>
                  <a:lnTo>
                    <a:pt x="122" y="103"/>
                  </a:lnTo>
                  <a:lnTo>
                    <a:pt x="123" y="112"/>
                  </a:lnTo>
                  <a:lnTo>
                    <a:pt x="116" y="114"/>
                  </a:lnTo>
                  <a:lnTo>
                    <a:pt x="114" y="121"/>
                  </a:lnTo>
                  <a:lnTo>
                    <a:pt x="111" y="113"/>
                  </a:lnTo>
                  <a:lnTo>
                    <a:pt x="107" y="122"/>
                  </a:lnTo>
                  <a:lnTo>
                    <a:pt x="90" y="121"/>
                  </a:lnTo>
                  <a:lnTo>
                    <a:pt x="86" y="119"/>
                  </a:lnTo>
                  <a:lnTo>
                    <a:pt x="81" y="115"/>
                  </a:lnTo>
                  <a:lnTo>
                    <a:pt x="83" y="124"/>
                  </a:lnTo>
                  <a:lnTo>
                    <a:pt x="87" y="128"/>
                  </a:lnTo>
                  <a:lnTo>
                    <a:pt x="81" y="136"/>
                  </a:lnTo>
                  <a:lnTo>
                    <a:pt x="78" y="143"/>
                  </a:lnTo>
                  <a:lnTo>
                    <a:pt x="64" y="132"/>
                  </a:lnTo>
                  <a:lnTo>
                    <a:pt x="63" y="120"/>
                  </a:lnTo>
                  <a:lnTo>
                    <a:pt x="44" y="122"/>
                  </a:lnTo>
                  <a:lnTo>
                    <a:pt x="23" y="127"/>
                  </a:lnTo>
                  <a:lnTo>
                    <a:pt x="17" y="134"/>
                  </a:lnTo>
                  <a:lnTo>
                    <a:pt x="0" y="132"/>
                  </a:lnTo>
                  <a:lnTo>
                    <a:pt x="3" y="126"/>
                  </a:lnTo>
                  <a:lnTo>
                    <a:pt x="14" y="115"/>
                  </a:lnTo>
                  <a:lnTo>
                    <a:pt x="23" y="106"/>
                  </a:lnTo>
                  <a:lnTo>
                    <a:pt x="38" y="104"/>
                  </a:lnTo>
                  <a:lnTo>
                    <a:pt x="53" y="103"/>
                  </a:lnTo>
                  <a:lnTo>
                    <a:pt x="57" y="106"/>
                  </a:lnTo>
                  <a:lnTo>
                    <a:pt x="65" y="101"/>
                  </a:lnTo>
                  <a:lnTo>
                    <a:pt x="63" y="91"/>
                  </a:lnTo>
                  <a:lnTo>
                    <a:pt x="62" y="77"/>
                  </a:lnTo>
                  <a:lnTo>
                    <a:pt x="68" y="73"/>
                  </a:lnTo>
                  <a:lnTo>
                    <a:pt x="66" y="78"/>
                  </a:lnTo>
                  <a:lnTo>
                    <a:pt x="72" y="84"/>
                  </a:lnTo>
                  <a:lnTo>
                    <a:pt x="80" y="77"/>
                  </a:lnTo>
                  <a:lnTo>
                    <a:pt x="87" y="70"/>
                  </a:lnTo>
                  <a:lnTo>
                    <a:pt x="89" y="56"/>
                  </a:lnTo>
                  <a:lnTo>
                    <a:pt x="90" y="42"/>
                  </a:lnTo>
                  <a:lnTo>
                    <a:pt x="82" y="29"/>
                  </a:lnTo>
                  <a:lnTo>
                    <a:pt x="76" y="13"/>
                  </a:lnTo>
                  <a:lnTo>
                    <a:pt x="77" y="5"/>
                  </a:lnTo>
                  <a:lnTo>
                    <a:pt x="86" y="10"/>
                  </a:lnTo>
                  <a:lnTo>
                    <a:pt x="89" y="7"/>
                  </a:lnTo>
                  <a:lnTo>
                    <a:pt x="87" y="4"/>
                  </a:lnTo>
                  <a:lnTo>
                    <a:pt x="81" y="4"/>
                  </a:lnTo>
                  <a:lnTo>
                    <a:pt x="82" y="0"/>
                  </a:lnTo>
                  <a:lnTo>
                    <a:pt x="89" y="2"/>
                  </a:lnTo>
                  <a:lnTo>
                    <a:pt x="102" y="18"/>
                  </a:lnTo>
                  <a:lnTo>
                    <a:pt x="118" y="34"/>
                  </a:lnTo>
                  <a:lnTo>
                    <a:pt x="119" y="55"/>
                  </a:lnTo>
                  <a:lnTo>
                    <a:pt x="116" y="61"/>
                  </a:lnTo>
                  <a:lnTo>
                    <a:pt x="124" y="84"/>
                  </a:lnTo>
                  <a:lnTo>
                    <a:pt x="135" y="101"/>
                  </a:lnTo>
                  <a:lnTo>
                    <a:pt x="129" y="118"/>
                  </a:lnTo>
                  <a:lnTo>
                    <a:pt x="125" y="10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7" name="Freeform 256"/>
            <p:cNvSpPr>
              <a:spLocks/>
            </p:cNvSpPr>
            <p:nvPr/>
          </p:nvSpPr>
          <p:spPr bwMode="auto">
            <a:xfrm>
              <a:off x="4766" y="1799"/>
              <a:ext cx="87" cy="80"/>
            </a:xfrm>
            <a:custGeom>
              <a:avLst/>
              <a:gdLst/>
              <a:ahLst/>
              <a:cxnLst>
                <a:cxn ang="0">
                  <a:pos x="61" y="28"/>
                </a:cxn>
                <a:cxn ang="0">
                  <a:pos x="47" y="24"/>
                </a:cxn>
                <a:cxn ang="0">
                  <a:pos x="24" y="12"/>
                </a:cxn>
                <a:cxn ang="0">
                  <a:pos x="0" y="0"/>
                </a:cxn>
                <a:cxn ang="0">
                  <a:pos x="5" y="10"/>
                </a:cxn>
                <a:cxn ang="0">
                  <a:pos x="12" y="25"/>
                </a:cxn>
                <a:cxn ang="0">
                  <a:pos x="19" y="40"/>
                </a:cxn>
                <a:cxn ang="0">
                  <a:pos x="9" y="40"/>
                </a:cxn>
                <a:cxn ang="0">
                  <a:pos x="6" y="42"/>
                </a:cxn>
                <a:cxn ang="0">
                  <a:pos x="7" y="49"/>
                </a:cxn>
                <a:cxn ang="0">
                  <a:pos x="10" y="59"/>
                </a:cxn>
                <a:cxn ang="0">
                  <a:pos x="21" y="72"/>
                </a:cxn>
                <a:cxn ang="0">
                  <a:pos x="24" y="68"/>
                </a:cxn>
                <a:cxn ang="0">
                  <a:pos x="31" y="67"/>
                </a:cxn>
                <a:cxn ang="0">
                  <a:pos x="13" y="55"/>
                </a:cxn>
                <a:cxn ang="0">
                  <a:pos x="22" y="55"/>
                </a:cxn>
                <a:cxn ang="0">
                  <a:pos x="28" y="53"/>
                </a:cxn>
                <a:cxn ang="0">
                  <a:pos x="58" y="61"/>
                </a:cxn>
                <a:cxn ang="0">
                  <a:pos x="59" y="58"/>
                </a:cxn>
                <a:cxn ang="0">
                  <a:pos x="66" y="46"/>
                </a:cxn>
                <a:cxn ang="0">
                  <a:pos x="78" y="40"/>
                </a:cxn>
                <a:cxn ang="0">
                  <a:pos x="71" y="35"/>
                </a:cxn>
                <a:cxn ang="0">
                  <a:pos x="65" y="22"/>
                </a:cxn>
                <a:cxn ang="0">
                  <a:pos x="61" y="28"/>
                </a:cxn>
              </a:cxnLst>
              <a:rect l="0" t="0" r="r" b="b"/>
              <a:pathLst>
                <a:path w="78" h="72">
                  <a:moveTo>
                    <a:pt x="61" y="28"/>
                  </a:moveTo>
                  <a:lnTo>
                    <a:pt x="47" y="24"/>
                  </a:lnTo>
                  <a:lnTo>
                    <a:pt x="24" y="12"/>
                  </a:lnTo>
                  <a:lnTo>
                    <a:pt x="0" y="0"/>
                  </a:lnTo>
                  <a:lnTo>
                    <a:pt x="5" y="10"/>
                  </a:lnTo>
                  <a:lnTo>
                    <a:pt x="12" y="25"/>
                  </a:lnTo>
                  <a:lnTo>
                    <a:pt x="19" y="40"/>
                  </a:lnTo>
                  <a:lnTo>
                    <a:pt x="9" y="40"/>
                  </a:lnTo>
                  <a:lnTo>
                    <a:pt x="6" y="42"/>
                  </a:lnTo>
                  <a:lnTo>
                    <a:pt x="7" y="49"/>
                  </a:lnTo>
                  <a:lnTo>
                    <a:pt x="10" y="59"/>
                  </a:lnTo>
                  <a:lnTo>
                    <a:pt x="21" y="72"/>
                  </a:lnTo>
                  <a:lnTo>
                    <a:pt x="24" y="68"/>
                  </a:lnTo>
                  <a:lnTo>
                    <a:pt x="31" y="67"/>
                  </a:lnTo>
                  <a:lnTo>
                    <a:pt x="13" y="55"/>
                  </a:lnTo>
                  <a:lnTo>
                    <a:pt x="22" y="55"/>
                  </a:lnTo>
                  <a:lnTo>
                    <a:pt x="28" y="53"/>
                  </a:lnTo>
                  <a:lnTo>
                    <a:pt x="58" y="61"/>
                  </a:lnTo>
                  <a:lnTo>
                    <a:pt x="59" y="58"/>
                  </a:lnTo>
                  <a:lnTo>
                    <a:pt x="66" y="46"/>
                  </a:lnTo>
                  <a:lnTo>
                    <a:pt x="78" y="40"/>
                  </a:lnTo>
                  <a:lnTo>
                    <a:pt x="71" y="35"/>
                  </a:lnTo>
                  <a:lnTo>
                    <a:pt x="65" y="22"/>
                  </a:lnTo>
                  <a:lnTo>
                    <a:pt x="61" y="2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8" name="Freeform 257"/>
            <p:cNvSpPr>
              <a:spLocks/>
            </p:cNvSpPr>
            <p:nvPr/>
          </p:nvSpPr>
          <p:spPr bwMode="auto">
            <a:xfrm>
              <a:off x="4700" y="2030"/>
              <a:ext cx="42" cy="53"/>
            </a:xfrm>
            <a:custGeom>
              <a:avLst/>
              <a:gdLst/>
              <a:ahLst/>
              <a:cxnLst>
                <a:cxn ang="0">
                  <a:pos x="40" y="16"/>
                </a:cxn>
                <a:cxn ang="0">
                  <a:pos x="39" y="30"/>
                </a:cxn>
                <a:cxn ang="0">
                  <a:pos x="37" y="43"/>
                </a:cxn>
                <a:cxn ang="0">
                  <a:pos x="33" y="49"/>
                </a:cxn>
                <a:cxn ang="0">
                  <a:pos x="27" y="39"/>
                </a:cxn>
                <a:cxn ang="0">
                  <a:pos x="28" y="48"/>
                </a:cxn>
                <a:cxn ang="0">
                  <a:pos x="23" y="43"/>
                </a:cxn>
                <a:cxn ang="0">
                  <a:pos x="19" y="30"/>
                </a:cxn>
                <a:cxn ang="0">
                  <a:pos x="19" y="22"/>
                </a:cxn>
                <a:cxn ang="0">
                  <a:pos x="10" y="13"/>
                </a:cxn>
                <a:cxn ang="0">
                  <a:pos x="15" y="22"/>
                </a:cxn>
                <a:cxn ang="0">
                  <a:pos x="9" y="22"/>
                </a:cxn>
                <a:cxn ang="0">
                  <a:pos x="5" y="15"/>
                </a:cxn>
                <a:cxn ang="0">
                  <a:pos x="7" y="15"/>
                </a:cxn>
                <a:cxn ang="0">
                  <a:pos x="0" y="9"/>
                </a:cxn>
                <a:cxn ang="0">
                  <a:pos x="16" y="0"/>
                </a:cxn>
                <a:cxn ang="0">
                  <a:pos x="25" y="4"/>
                </a:cxn>
                <a:cxn ang="0">
                  <a:pos x="30" y="8"/>
                </a:cxn>
                <a:cxn ang="0">
                  <a:pos x="31" y="10"/>
                </a:cxn>
                <a:cxn ang="0">
                  <a:pos x="40" y="16"/>
                </a:cxn>
              </a:cxnLst>
              <a:rect l="0" t="0" r="r" b="b"/>
              <a:pathLst>
                <a:path w="40" h="49">
                  <a:moveTo>
                    <a:pt x="40" y="16"/>
                  </a:moveTo>
                  <a:lnTo>
                    <a:pt x="39" y="30"/>
                  </a:lnTo>
                  <a:lnTo>
                    <a:pt x="37" y="43"/>
                  </a:lnTo>
                  <a:lnTo>
                    <a:pt x="33" y="49"/>
                  </a:lnTo>
                  <a:lnTo>
                    <a:pt x="27" y="39"/>
                  </a:lnTo>
                  <a:lnTo>
                    <a:pt x="28" y="48"/>
                  </a:lnTo>
                  <a:lnTo>
                    <a:pt x="23" y="43"/>
                  </a:lnTo>
                  <a:lnTo>
                    <a:pt x="19" y="30"/>
                  </a:lnTo>
                  <a:lnTo>
                    <a:pt x="19" y="22"/>
                  </a:lnTo>
                  <a:lnTo>
                    <a:pt x="10" y="13"/>
                  </a:lnTo>
                  <a:lnTo>
                    <a:pt x="15" y="22"/>
                  </a:lnTo>
                  <a:lnTo>
                    <a:pt x="9" y="22"/>
                  </a:lnTo>
                  <a:lnTo>
                    <a:pt x="5" y="15"/>
                  </a:lnTo>
                  <a:lnTo>
                    <a:pt x="7" y="15"/>
                  </a:lnTo>
                  <a:lnTo>
                    <a:pt x="0" y="9"/>
                  </a:lnTo>
                  <a:lnTo>
                    <a:pt x="16" y="0"/>
                  </a:lnTo>
                  <a:lnTo>
                    <a:pt x="25" y="4"/>
                  </a:lnTo>
                  <a:lnTo>
                    <a:pt x="30" y="8"/>
                  </a:lnTo>
                  <a:lnTo>
                    <a:pt x="31" y="10"/>
                  </a:lnTo>
                  <a:lnTo>
                    <a:pt x="40"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59" name="Freeform 258"/>
            <p:cNvSpPr>
              <a:spLocks/>
            </p:cNvSpPr>
            <p:nvPr/>
          </p:nvSpPr>
          <p:spPr bwMode="auto">
            <a:xfrm>
              <a:off x="4740" y="2021"/>
              <a:ext cx="40" cy="31"/>
            </a:xfrm>
            <a:custGeom>
              <a:avLst/>
              <a:gdLst/>
              <a:ahLst/>
              <a:cxnLst>
                <a:cxn ang="0">
                  <a:pos x="29" y="18"/>
                </a:cxn>
                <a:cxn ang="0">
                  <a:pos x="17" y="18"/>
                </a:cxn>
                <a:cxn ang="0">
                  <a:pos x="16" y="29"/>
                </a:cxn>
                <a:cxn ang="0">
                  <a:pos x="6" y="22"/>
                </a:cxn>
                <a:cxn ang="0">
                  <a:pos x="3" y="16"/>
                </a:cxn>
                <a:cxn ang="0">
                  <a:pos x="0" y="17"/>
                </a:cxn>
                <a:cxn ang="0">
                  <a:pos x="9" y="6"/>
                </a:cxn>
                <a:cxn ang="0">
                  <a:pos x="17" y="5"/>
                </a:cxn>
                <a:cxn ang="0">
                  <a:pos x="26" y="0"/>
                </a:cxn>
                <a:cxn ang="0">
                  <a:pos x="33" y="5"/>
                </a:cxn>
                <a:cxn ang="0">
                  <a:pos x="36" y="10"/>
                </a:cxn>
                <a:cxn ang="0">
                  <a:pos x="29" y="18"/>
                </a:cxn>
              </a:cxnLst>
              <a:rect l="0" t="0" r="r" b="b"/>
              <a:pathLst>
                <a:path w="36" h="29">
                  <a:moveTo>
                    <a:pt x="29" y="18"/>
                  </a:moveTo>
                  <a:lnTo>
                    <a:pt x="17" y="18"/>
                  </a:lnTo>
                  <a:lnTo>
                    <a:pt x="16" y="29"/>
                  </a:lnTo>
                  <a:lnTo>
                    <a:pt x="6" y="22"/>
                  </a:lnTo>
                  <a:lnTo>
                    <a:pt x="3" y="16"/>
                  </a:lnTo>
                  <a:lnTo>
                    <a:pt x="0" y="17"/>
                  </a:lnTo>
                  <a:lnTo>
                    <a:pt x="9" y="6"/>
                  </a:lnTo>
                  <a:lnTo>
                    <a:pt x="17" y="5"/>
                  </a:lnTo>
                  <a:lnTo>
                    <a:pt x="26" y="0"/>
                  </a:lnTo>
                  <a:lnTo>
                    <a:pt x="33" y="5"/>
                  </a:lnTo>
                  <a:lnTo>
                    <a:pt x="36" y="10"/>
                  </a:lnTo>
                  <a:lnTo>
                    <a:pt x="2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0" name="Freeform 259"/>
            <p:cNvSpPr>
              <a:spLocks/>
            </p:cNvSpPr>
            <p:nvPr/>
          </p:nvSpPr>
          <p:spPr bwMode="auto">
            <a:xfrm>
              <a:off x="4713" y="2170"/>
              <a:ext cx="9" cy="13"/>
            </a:xfrm>
            <a:custGeom>
              <a:avLst/>
              <a:gdLst/>
              <a:ahLst/>
              <a:cxnLst>
                <a:cxn ang="0">
                  <a:pos x="0" y="12"/>
                </a:cxn>
                <a:cxn ang="0">
                  <a:pos x="8" y="1"/>
                </a:cxn>
                <a:cxn ang="0">
                  <a:pos x="6" y="0"/>
                </a:cxn>
                <a:cxn ang="0">
                  <a:pos x="0" y="12"/>
                </a:cxn>
              </a:cxnLst>
              <a:rect l="0" t="0" r="r" b="b"/>
              <a:pathLst>
                <a:path w="8" h="12">
                  <a:moveTo>
                    <a:pt x="0" y="12"/>
                  </a:moveTo>
                  <a:lnTo>
                    <a:pt x="8" y="1"/>
                  </a:lnTo>
                  <a:lnTo>
                    <a:pt x="6" y="0"/>
                  </a:lnTo>
                  <a:lnTo>
                    <a:pt x="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1" name="Freeform 260"/>
            <p:cNvSpPr>
              <a:spLocks/>
            </p:cNvSpPr>
            <p:nvPr/>
          </p:nvSpPr>
          <p:spPr bwMode="auto">
            <a:xfrm>
              <a:off x="4800" y="1941"/>
              <a:ext cx="2" cy="6"/>
            </a:xfrm>
            <a:custGeom>
              <a:avLst/>
              <a:gdLst/>
              <a:ahLst/>
              <a:cxnLst>
                <a:cxn ang="0">
                  <a:pos x="4" y="6"/>
                </a:cxn>
                <a:cxn ang="0">
                  <a:pos x="0" y="0"/>
                </a:cxn>
                <a:cxn ang="0">
                  <a:pos x="0" y="6"/>
                </a:cxn>
                <a:cxn ang="0">
                  <a:pos x="4" y="6"/>
                </a:cxn>
              </a:cxnLst>
              <a:rect l="0" t="0" r="r" b="b"/>
              <a:pathLst>
                <a:path w="4" h="6">
                  <a:moveTo>
                    <a:pt x="4" y="6"/>
                  </a:moveTo>
                  <a:lnTo>
                    <a:pt x="0" y="0"/>
                  </a:lnTo>
                  <a:lnTo>
                    <a:pt x="0" y="6"/>
                  </a:lnTo>
                  <a:lnTo>
                    <a:pt x="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2" name="Freeform 261"/>
            <p:cNvSpPr>
              <a:spLocks/>
            </p:cNvSpPr>
            <p:nvPr/>
          </p:nvSpPr>
          <p:spPr bwMode="auto">
            <a:xfrm>
              <a:off x="4713" y="2056"/>
              <a:ext cx="2" cy="5"/>
            </a:xfrm>
            <a:custGeom>
              <a:avLst/>
              <a:gdLst/>
              <a:ahLst/>
              <a:cxnLst>
                <a:cxn ang="0">
                  <a:pos x="3" y="0"/>
                </a:cxn>
                <a:cxn ang="0">
                  <a:pos x="4" y="2"/>
                </a:cxn>
                <a:cxn ang="0">
                  <a:pos x="0" y="2"/>
                </a:cxn>
                <a:cxn ang="0">
                  <a:pos x="3" y="0"/>
                </a:cxn>
              </a:cxnLst>
              <a:rect l="0" t="0" r="r" b="b"/>
              <a:pathLst>
                <a:path w="4" h="2">
                  <a:moveTo>
                    <a:pt x="3" y="0"/>
                  </a:moveTo>
                  <a:lnTo>
                    <a:pt x="4" y="2"/>
                  </a:lnTo>
                  <a:lnTo>
                    <a:pt x="0" y="2"/>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3" name="Freeform 262"/>
            <p:cNvSpPr>
              <a:spLocks/>
            </p:cNvSpPr>
            <p:nvPr/>
          </p:nvSpPr>
          <p:spPr bwMode="auto">
            <a:xfrm>
              <a:off x="4551" y="1850"/>
              <a:ext cx="78" cy="100"/>
            </a:xfrm>
            <a:custGeom>
              <a:avLst/>
              <a:gdLst/>
              <a:ahLst/>
              <a:cxnLst>
                <a:cxn ang="0">
                  <a:pos x="18" y="61"/>
                </a:cxn>
                <a:cxn ang="0">
                  <a:pos x="8" y="58"/>
                </a:cxn>
                <a:cxn ang="0">
                  <a:pos x="0" y="50"/>
                </a:cxn>
                <a:cxn ang="0">
                  <a:pos x="8" y="40"/>
                </a:cxn>
                <a:cxn ang="0">
                  <a:pos x="17" y="25"/>
                </a:cxn>
                <a:cxn ang="0">
                  <a:pos x="23" y="22"/>
                </a:cxn>
                <a:cxn ang="0">
                  <a:pos x="41" y="27"/>
                </a:cxn>
                <a:cxn ang="0">
                  <a:pos x="35" y="18"/>
                </a:cxn>
                <a:cxn ang="0">
                  <a:pos x="40" y="16"/>
                </a:cxn>
                <a:cxn ang="0">
                  <a:pos x="49" y="9"/>
                </a:cxn>
                <a:cxn ang="0">
                  <a:pos x="49" y="0"/>
                </a:cxn>
                <a:cxn ang="0">
                  <a:pos x="66" y="9"/>
                </a:cxn>
                <a:cxn ang="0">
                  <a:pos x="70" y="12"/>
                </a:cxn>
                <a:cxn ang="0">
                  <a:pos x="61" y="21"/>
                </a:cxn>
                <a:cxn ang="0">
                  <a:pos x="67" y="38"/>
                </a:cxn>
                <a:cxn ang="0">
                  <a:pos x="60" y="49"/>
                </a:cxn>
                <a:cxn ang="0">
                  <a:pos x="52" y="60"/>
                </a:cxn>
                <a:cxn ang="0">
                  <a:pos x="54" y="67"/>
                </a:cxn>
                <a:cxn ang="0">
                  <a:pos x="71" y="76"/>
                </a:cxn>
                <a:cxn ang="0">
                  <a:pos x="65" y="81"/>
                </a:cxn>
                <a:cxn ang="0">
                  <a:pos x="53" y="87"/>
                </a:cxn>
                <a:cxn ang="0">
                  <a:pos x="53" y="91"/>
                </a:cxn>
                <a:cxn ang="0">
                  <a:pos x="38" y="88"/>
                </a:cxn>
                <a:cxn ang="0">
                  <a:pos x="35" y="91"/>
                </a:cxn>
                <a:cxn ang="0">
                  <a:pos x="28" y="87"/>
                </a:cxn>
                <a:cxn ang="0">
                  <a:pos x="23" y="85"/>
                </a:cxn>
                <a:cxn ang="0">
                  <a:pos x="26" y="75"/>
                </a:cxn>
                <a:cxn ang="0">
                  <a:pos x="28" y="75"/>
                </a:cxn>
                <a:cxn ang="0">
                  <a:pos x="22" y="70"/>
                </a:cxn>
                <a:cxn ang="0">
                  <a:pos x="18" y="61"/>
                </a:cxn>
              </a:cxnLst>
              <a:rect l="0" t="0" r="r" b="b"/>
              <a:pathLst>
                <a:path w="71" h="91">
                  <a:moveTo>
                    <a:pt x="18" y="61"/>
                  </a:moveTo>
                  <a:lnTo>
                    <a:pt x="8" y="58"/>
                  </a:lnTo>
                  <a:lnTo>
                    <a:pt x="0" y="50"/>
                  </a:lnTo>
                  <a:lnTo>
                    <a:pt x="8" y="40"/>
                  </a:lnTo>
                  <a:lnTo>
                    <a:pt x="17" y="25"/>
                  </a:lnTo>
                  <a:lnTo>
                    <a:pt x="23" y="22"/>
                  </a:lnTo>
                  <a:lnTo>
                    <a:pt x="41" y="27"/>
                  </a:lnTo>
                  <a:lnTo>
                    <a:pt x="35" y="18"/>
                  </a:lnTo>
                  <a:lnTo>
                    <a:pt x="40" y="16"/>
                  </a:lnTo>
                  <a:lnTo>
                    <a:pt x="49" y="9"/>
                  </a:lnTo>
                  <a:lnTo>
                    <a:pt x="49" y="0"/>
                  </a:lnTo>
                  <a:lnTo>
                    <a:pt x="66" y="9"/>
                  </a:lnTo>
                  <a:lnTo>
                    <a:pt x="70" y="12"/>
                  </a:lnTo>
                  <a:lnTo>
                    <a:pt x="61" y="21"/>
                  </a:lnTo>
                  <a:lnTo>
                    <a:pt x="67" y="38"/>
                  </a:lnTo>
                  <a:lnTo>
                    <a:pt x="60" y="49"/>
                  </a:lnTo>
                  <a:lnTo>
                    <a:pt x="52" y="60"/>
                  </a:lnTo>
                  <a:lnTo>
                    <a:pt x="54" y="67"/>
                  </a:lnTo>
                  <a:lnTo>
                    <a:pt x="71" y="76"/>
                  </a:lnTo>
                  <a:lnTo>
                    <a:pt x="65" y="81"/>
                  </a:lnTo>
                  <a:lnTo>
                    <a:pt x="53" y="87"/>
                  </a:lnTo>
                  <a:lnTo>
                    <a:pt x="53" y="91"/>
                  </a:lnTo>
                  <a:lnTo>
                    <a:pt x="38" y="88"/>
                  </a:lnTo>
                  <a:lnTo>
                    <a:pt x="35" y="91"/>
                  </a:lnTo>
                  <a:lnTo>
                    <a:pt x="28" y="87"/>
                  </a:lnTo>
                  <a:lnTo>
                    <a:pt x="23" y="85"/>
                  </a:lnTo>
                  <a:lnTo>
                    <a:pt x="26" y="75"/>
                  </a:lnTo>
                  <a:lnTo>
                    <a:pt x="28" y="75"/>
                  </a:lnTo>
                  <a:lnTo>
                    <a:pt x="22" y="70"/>
                  </a:lnTo>
                  <a:lnTo>
                    <a:pt x="18" y="6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4" name="Freeform 263"/>
            <p:cNvSpPr>
              <a:spLocks/>
            </p:cNvSpPr>
            <p:nvPr/>
          </p:nvSpPr>
          <p:spPr bwMode="auto">
            <a:xfrm>
              <a:off x="4609" y="1934"/>
              <a:ext cx="66" cy="85"/>
            </a:xfrm>
            <a:custGeom>
              <a:avLst/>
              <a:gdLst/>
              <a:ahLst/>
              <a:cxnLst>
                <a:cxn ang="0">
                  <a:pos x="35" y="74"/>
                </a:cxn>
                <a:cxn ang="0">
                  <a:pos x="33" y="71"/>
                </a:cxn>
                <a:cxn ang="0">
                  <a:pos x="29" y="74"/>
                </a:cxn>
                <a:cxn ang="0">
                  <a:pos x="25" y="76"/>
                </a:cxn>
                <a:cxn ang="0">
                  <a:pos x="23" y="72"/>
                </a:cxn>
                <a:cxn ang="0">
                  <a:pos x="23" y="70"/>
                </a:cxn>
                <a:cxn ang="0">
                  <a:pos x="23" y="69"/>
                </a:cxn>
                <a:cxn ang="0">
                  <a:pos x="19" y="65"/>
                </a:cxn>
                <a:cxn ang="0">
                  <a:pos x="17" y="54"/>
                </a:cxn>
                <a:cxn ang="0">
                  <a:pos x="15" y="50"/>
                </a:cxn>
                <a:cxn ang="0">
                  <a:pos x="15" y="47"/>
                </a:cxn>
                <a:cxn ang="0">
                  <a:pos x="6" y="36"/>
                </a:cxn>
                <a:cxn ang="0">
                  <a:pos x="2" y="33"/>
                </a:cxn>
                <a:cxn ang="0">
                  <a:pos x="5" y="32"/>
                </a:cxn>
                <a:cxn ang="0">
                  <a:pos x="12" y="34"/>
                </a:cxn>
                <a:cxn ang="0">
                  <a:pos x="11" y="32"/>
                </a:cxn>
                <a:cxn ang="0">
                  <a:pos x="1" y="17"/>
                </a:cxn>
                <a:cxn ang="0">
                  <a:pos x="0" y="15"/>
                </a:cxn>
                <a:cxn ang="0">
                  <a:pos x="0" y="11"/>
                </a:cxn>
                <a:cxn ang="0">
                  <a:pos x="12" y="5"/>
                </a:cxn>
                <a:cxn ang="0">
                  <a:pos x="18" y="0"/>
                </a:cxn>
                <a:cxn ang="0">
                  <a:pos x="35" y="18"/>
                </a:cxn>
                <a:cxn ang="0">
                  <a:pos x="51" y="35"/>
                </a:cxn>
                <a:cxn ang="0">
                  <a:pos x="60" y="60"/>
                </a:cxn>
                <a:cxn ang="0">
                  <a:pos x="54" y="64"/>
                </a:cxn>
                <a:cxn ang="0">
                  <a:pos x="47" y="68"/>
                </a:cxn>
                <a:cxn ang="0">
                  <a:pos x="43" y="66"/>
                </a:cxn>
                <a:cxn ang="0">
                  <a:pos x="41" y="69"/>
                </a:cxn>
                <a:cxn ang="0">
                  <a:pos x="39" y="70"/>
                </a:cxn>
                <a:cxn ang="0">
                  <a:pos x="37" y="71"/>
                </a:cxn>
                <a:cxn ang="0">
                  <a:pos x="35" y="74"/>
                </a:cxn>
              </a:cxnLst>
              <a:rect l="0" t="0" r="r" b="b"/>
              <a:pathLst>
                <a:path w="60" h="76">
                  <a:moveTo>
                    <a:pt x="35" y="74"/>
                  </a:moveTo>
                  <a:lnTo>
                    <a:pt x="33" y="71"/>
                  </a:lnTo>
                  <a:lnTo>
                    <a:pt x="29" y="74"/>
                  </a:lnTo>
                  <a:lnTo>
                    <a:pt x="25" y="76"/>
                  </a:lnTo>
                  <a:lnTo>
                    <a:pt x="23" y="72"/>
                  </a:lnTo>
                  <a:lnTo>
                    <a:pt x="23" y="70"/>
                  </a:lnTo>
                  <a:lnTo>
                    <a:pt x="23" y="69"/>
                  </a:lnTo>
                  <a:lnTo>
                    <a:pt x="19" y="65"/>
                  </a:lnTo>
                  <a:lnTo>
                    <a:pt x="17" y="54"/>
                  </a:lnTo>
                  <a:lnTo>
                    <a:pt x="15" y="50"/>
                  </a:lnTo>
                  <a:lnTo>
                    <a:pt x="15" y="47"/>
                  </a:lnTo>
                  <a:lnTo>
                    <a:pt x="6" y="36"/>
                  </a:lnTo>
                  <a:lnTo>
                    <a:pt x="2" y="33"/>
                  </a:lnTo>
                  <a:lnTo>
                    <a:pt x="5" y="32"/>
                  </a:lnTo>
                  <a:lnTo>
                    <a:pt x="12" y="34"/>
                  </a:lnTo>
                  <a:lnTo>
                    <a:pt x="11" y="32"/>
                  </a:lnTo>
                  <a:lnTo>
                    <a:pt x="1" y="17"/>
                  </a:lnTo>
                  <a:lnTo>
                    <a:pt x="0" y="15"/>
                  </a:lnTo>
                  <a:lnTo>
                    <a:pt x="0" y="11"/>
                  </a:lnTo>
                  <a:lnTo>
                    <a:pt x="12" y="5"/>
                  </a:lnTo>
                  <a:lnTo>
                    <a:pt x="18" y="0"/>
                  </a:lnTo>
                  <a:lnTo>
                    <a:pt x="35" y="18"/>
                  </a:lnTo>
                  <a:lnTo>
                    <a:pt x="51" y="35"/>
                  </a:lnTo>
                  <a:lnTo>
                    <a:pt x="60" y="60"/>
                  </a:lnTo>
                  <a:lnTo>
                    <a:pt x="54" y="64"/>
                  </a:lnTo>
                  <a:lnTo>
                    <a:pt x="47" y="68"/>
                  </a:lnTo>
                  <a:lnTo>
                    <a:pt x="43" y="66"/>
                  </a:lnTo>
                  <a:lnTo>
                    <a:pt x="41" y="69"/>
                  </a:lnTo>
                  <a:lnTo>
                    <a:pt x="39" y="70"/>
                  </a:lnTo>
                  <a:lnTo>
                    <a:pt x="37" y="71"/>
                  </a:lnTo>
                  <a:lnTo>
                    <a:pt x="35" y="7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5" name="Freeform 264"/>
            <p:cNvSpPr>
              <a:spLocks/>
            </p:cNvSpPr>
            <p:nvPr/>
          </p:nvSpPr>
          <p:spPr bwMode="auto">
            <a:xfrm>
              <a:off x="4600" y="2203"/>
              <a:ext cx="24" cy="64"/>
            </a:xfrm>
            <a:custGeom>
              <a:avLst/>
              <a:gdLst/>
              <a:ahLst/>
              <a:cxnLst>
                <a:cxn ang="0">
                  <a:pos x="16" y="57"/>
                </a:cxn>
                <a:cxn ang="0">
                  <a:pos x="3" y="43"/>
                </a:cxn>
                <a:cxn ang="0">
                  <a:pos x="0" y="22"/>
                </a:cxn>
                <a:cxn ang="0">
                  <a:pos x="6" y="12"/>
                </a:cxn>
                <a:cxn ang="0">
                  <a:pos x="12" y="0"/>
                </a:cxn>
                <a:cxn ang="0">
                  <a:pos x="23" y="3"/>
                </a:cxn>
                <a:cxn ang="0">
                  <a:pos x="21" y="16"/>
                </a:cxn>
                <a:cxn ang="0">
                  <a:pos x="19" y="30"/>
                </a:cxn>
                <a:cxn ang="0">
                  <a:pos x="17" y="44"/>
                </a:cxn>
                <a:cxn ang="0">
                  <a:pos x="16" y="57"/>
                </a:cxn>
              </a:cxnLst>
              <a:rect l="0" t="0" r="r" b="b"/>
              <a:pathLst>
                <a:path w="23" h="57">
                  <a:moveTo>
                    <a:pt x="16" y="57"/>
                  </a:moveTo>
                  <a:lnTo>
                    <a:pt x="3" y="43"/>
                  </a:lnTo>
                  <a:lnTo>
                    <a:pt x="0" y="22"/>
                  </a:lnTo>
                  <a:lnTo>
                    <a:pt x="6" y="12"/>
                  </a:lnTo>
                  <a:lnTo>
                    <a:pt x="12" y="0"/>
                  </a:lnTo>
                  <a:lnTo>
                    <a:pt x="23" y="3"/>
                  </a:lnTo>
                  <a:lnTo>
                    <a:pt x="21" y="16"/>
                  </a:lnTo>
                  <a:lnTo>
                    <a:pt x="19" y="30"/>
                  </a:lnTo>
                  <a:lnTo>
                    <a:pt x="17" y="44"/>
                  </a:lnTo>
                  <a:lnTo>
                    <a:pt x="16" y="5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6" name="Freeform 265"/>
            <p:cNvSpPr>
              <a:spLocks/>
            </p:cNvSpPr>
            <p:nvPr/>
          </p:nvSpPr>
          <p:spPr bwMode="auto">
            <a:xfrm>
              <a:off x="3882" y="1672"/>
              <a:ext cx="520" cy="204"/>
            </a:xfrm>
            <a:custGeom>
              <a:avLst/>
              <a:gdLst/>
              <a:ahLst/>
              <a:cxnLst>
                <a:cxn ang="0">
                  <a:pos x="276" y="176"/>
                </a:cxn>
                <a:cxn ang="0">
                  <a:pos x="252" y="168"/>
                </a:cxn>
                <a:cxn ang="0">
                  <a:pos x="211" y="166"/>
                </a:cxn>
                <a:cxn ang="0">
                  <a:pos x="171" y="163"/>
                </a:cxn>
                <a:cxn ang="0">
                  <a:pos x="145" y="136"/>
                </a:cxn>
                <a:cxn ang="0">
                  <a:pos x="104" y="124"/>
                </a:cxn>
                <a:cxn ang="0">
                  <a:pos x="71" y="118"/>
                </a:cxn>
                <a:cxn ang="0">
                  <a:pos x="60" y="89"/>
                </a:cxn>
                <a:cxn ang="0">
                  <a:pos x="27" y="72"/>
                </a:cxn>
                <a:cxn ang="0">
                  <a:pos x="1" y="53"/>
                </a:cxn>
                <a:cxn ang="0">
                  <a:pos x="7" y="44"/>
                </a:cxn>
                <a:cxn ang="0">
                  <a:pos x="33" y="31"/>
                </a:cxn>
                <a:cxn ang="0">
                  <a:pos x="75" y="25"/>
                </a:cxn>
                <a:cxn ang="0">
                  <a:pos x="102" y="35"/>
                </a:cxn>
                <a:cxn ang="0">
                  <a:pos x="133" y="30"/>
                </a:cxn>
                <a:cxn ang="0">
                  <a:pos x="123" y="0"/>
                </a:cxn>
                <a:cxn ang="0">
                  <a:pos x="171" y="11"/>
                </a:cxn>
                <a:cxn ang="0">
                  <a:pos x="204" y="32"/>
                </a:cxn>
                <a:cxn ang="0">
                  <a:pos x="247" y="31"/>
                </a:cxn>
                <a:cxn ang="0">
                  <a:pos x="275" y="42"/>
                </a:cxn>
                <a:cxn ang="0">
                  <a:pos x="320" y="47"/>
                </a:cxn>
                <a:cxn ang="0">
                  <a:pos x="353" y="31"/>
                </a:cxn>
                <a:cxn ang="0">
                  <a:pos x="392" y="38"/>
                </a:cxn>
                <a:cxn ang="0">
                  <a:pos x="396" y="66"/>
                </a:cxn>
                <a:cxn ang="0">
                  <a:pos x="404" y="74"/>
                </a:cxn>
                <a:cxn ang="0">
                  <a:pos x="425" y="77"/>
                </a:cxn>
                <a:cxn ang="0">
                  <a:pos x="463" y="86"/>
                </a:cxn>
                <a:cxn ang="0">
                  <a:pos x="443" y="95"/>
                </a:cxn>
                <a:cxn ang="0">
                  <a:pos x="423" y="115"/>
                </a:cxn>
                <a:cxn ang="0">
                  <a:pos x="396" y="127"/>
                </a:cxn>
                <a:cxn ang="0">
                  <a:pos x="377" y="138"/>
                </a:cxn>
                <a:cxn ang="0">
                  <a:pos x="373" y="157"/>
                </a:cxn>
                <a:cxn ang="0">
                  <a:pos x="343" y="170"/>
                </a:cxn>
                <a:cxn ang="0">
                  <a:pos x="315" y="178"/>
                </a:cxn>
                <a:cxn ang="0">
                  <a:pos x="294" y="180"/>
                </a:cxn>
              </a:cxnLst>
              <a:rect l="0" t="0" r="r" b="b"/>
              <a:pathLst>
                <a:path w="467" h="185">
                  <a:moveTo>
                    <a:pt x="294" y="180"/>
                  </a:moveTo>
                  <a:lnTo>
                    <a:pt x="276" y="176"/>
                  </a:lnTo>
                  <a:lnTo>
                    <a:pt x="258" y="173"/>
                  </a:lnTo>
                  <a:lnTo>
                    <a:pt x="252" y="168"/>
                  </a:lnTo>
                  <a:lnTo>
                    <a:pt x="231" y="167"/>
                  </a:lnTo>
                  <a:lnTo>
                    <a:pt x="211" y="166"/>
                  </a:lnTo>
                  <a:lnTo>
                    <a:pt x="192" y="164"/>
                  </a:lnTo>
                  <a:lnTo>
                    <a:pt x="171" y="163"/>
                  </a:lnTo>
                  <a:lnTo>
                    <a:pt x="158" y="150"/>
                  </a:lnTo>
                  <a:lnTo>
                    <a:pt x="145" y="136"/>
                  </a:lnTo>
                  <a:lnTo>
                    <a:pt x="125" y="130"/>
                  </a:lnTo>
                  <a:lnTo>
                    <a:pt x="104" y="124"/>
                  </a:lnTo>
                  <a:lnTo>
                    <a:pt x="87" y="120"/>
                  </a:lnTo>
                  <a:lnTo>
                    <a:pt x="71" y="118"/>
                  </a:lnTo>
                  <a:lnTo>
                    <a:pt x="65" y="103"/>
                  </a:lnTo>
                  <a:lnTo>
                    <a:pt x="60" y="89"/>
                  </a:lnTo>
                  <a:lnTo>
                    <a:pt x="38" y="74"/>
                  </a:lnTo>
                  <a:lnTo>
                    <a:pt x="27" y="72"/>
                  </a:lnTo>
                  <a:lnTo>
                    <a:pt x="7" y="59"/>
                  </a:lnTo>
                  <a:lnTo>
                    <a:pt x="1" y="53"/>
                  </a:lnTo>
                  <a:lnTo>
                    <a:pt x="0" y="50"/>
                  </a:lnTo>
                  <a:lnTo>
                    <a:pt x="7" y="44"/>
                  </a:lnTo>
                  <a:lnTo>
                    <a:pt x="19" y="38"/>
                  </a:lnTo>
                  <a:lnTo>
                    <a:pt x="33" y="31"/>
                  </a:lnTo>
                  <a:lnTo>
                    <a:pt x="47" y="23"/>
                  </a:lnTo>
                  <a:lnTo>
                    <a:pt x="75" y="25"/>
                  </a:lnTo>
                  <a:lnTo>
                    <a:pt x="80" y="31"/>
                  </a:lnTo>
                  <a:lnTo>
                    <a:pt x="102" y="35"/>
                  </a:lnTo>
                  <a:lnTo>
                    <a:pt x="122" y="38"/>
                  </a:lnTo>
                  <a:lnTo>
                    <a:pt x="133" y="30"/>
                  </a:lnTo>
                  <a:lnTo>
                    <a:pt x="120" y="18"/>
                  </a:lnTo>
                  <a:lnTo>
                    <a:pt x="123" y="0"/>
                  </a:lnTo>
                  <a:lnTo>
                    <a:pt x="147" y="6"/>
                  </a:lnTo>
                  <a:lnTo>
                    <a:pt x="171" y="11"/>
                  </a:lnTo>
                  <a:lnTo>
                    <a:pt x="182" y="22"/>
                  </a:lnTo>
                  <a:lnTo>
                    <a:pt x="204" y="32"/>
                  </a:lnTo>
                  <a:lnTo>
                    <a:pt x="228" y="28"/>
                  </a:lnTo>
                  <a:lnTo>
                    <a:pt x="247" y="31"/>
                  </a:lnTo>
                  <a:lnTo>
                    <a:pt x="267" y="36"/>
                  </a:lnTo>
                  <a:lnTo>
                    <a:pt x="275" y="42"/>
                  </a:lnTo>
                  <a:lnTo>
                    <a:pt x="303" y="49"/>
                  </a:lnTo>
                  <a:lnTo>
                    <a:pt x="320" y="47"/>
                  </a:lnTo>
                  <a:lnTo>
                    <a:pt x="337" y="43"/>
                  </a:lnTo>
                  <a:lnTo>
                    <a:pt x="353" y="31"/>
                  </a:lnTo>
                  <a:lnTo>
                    <a:pt x="379" y="37"/>
                  </a:lnTo>
                  <a:lnTo>
                    <a:pt x="392" y="38"/>
                  </a:lnTo>
                  <a:lnTo>
                    <a:pt x="395" y="52"/>
                  </a:lnTo>
                  <a:lnTo>
                    <a:pt x="396" y="66"/>
                  </a:lnTo>
                  <a:lnTo>
                    <a:pt x="392" y="67"/>
                  </a:lnTo>
                  <a:lnTo>
                    <a:pt x="404" y="74"/>
                  </a:lnTo>
                  <a:lnTo>
                    <a:pt x="420" y="74"/>
                  </a:lnTo>
                  <a:lnTo>
                    <a:pt x="425" y="77"/>
                  </a:lnTo>
                  <a:lnTo>
                    <a:pt x="432" y="70"/>
                  </a:lnTo>
                  <a:lnTo>
                    <a:pt x="463" y="86"/>
                  </a:lnTo>
                  <a:lnTo>
                    <a:pt x="467" y="95"/>
                  </a:lnTo>
                  <a:lnTo>
                    <a:pt x="443" y="95"/>
                  </a:lnTo>
                  <a:lnTo>
                    <a:pt x="426" y="103"/>
                  </a:lnTo>
                  <a:lnTo>
                    <a:pt x="423" y="115"/>
                  </a:lnTo>
                  <a:lnTo>
                    <a:pt x="409" y="119"/>
                  </a:lnTo>
                  <a:lnTo>
                    <a:pt x="396" y="127"/>
                  </a:lnTo>
                  <a:lnTo>
                    <a:pt x="374" y="121"/>
                  </a:lnTo>
                  <a:lnTo>
                    <a:pt x="377" y="138"/>
                  </a:lnTo>
                  <a:lnTo>
                    <a:pt x="386" y="146"/>
                  </a:lnTo>
                  <a:lnTo>
                    <a:pt x="373" y="157"/>
                  </a:lnTo>
                  <a:lnTo>
                    <a:pt x="360" y="169"/>
                  </a:lnTo>
                  <a:lnTo>
                    <a:pt x="343" y="170"/>
                  </a:lnTo>
                  <a:lnTo>
                    <a:pt x="325" y="172"/>
                  </a:lnTo>
                  <a:lnTo>
                    <a:pt x="315" y="178"/>
                  </a:lnTo>
                  <a:lnTo>
                    <a:pt x="305" y="185"/>
                  </a:lnTo>
                  <a:lnTo>
                    <a:pt x="294" y="18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7" name="Freeform 266"/>
            <p:cNvSpPr>
              <a:spLocks/>
            </p:cNvSpPr>
            <p:nvPr/>
          </p:nvSpPr>
          <p:spPr bwMode="auto">
            <a:xfrm>
              <a:off x="3253" y="1608"/>
              <a:ext cx="618" cy="273"/>
            </a:xfrm>
            <a:custGeom>
              <a:avLst/>
              <a:gdLst/>
              <a:ahLst/>
              <a:cxnLst>
                <a:cxn ang="0">
                  <a:pos x="65" y="146"/>
                </a:cxn>
                <a:cxn ang="0">
                  <a:pos x="45" y="155"/>
                </a:cxn>
                <a:cxn ang="0">
                  <a:pos x="17" y="125"/>
                </a:cxn>
                <a:cxn ang="0">
                  <a:pos x="3" y="93"/>
                </a:cxn>
                <a:cxn ang="0">
                  <a:pos x="22" y="81"/>
                </a:cxn>
                <a:cxn ang="0">
                  <a:pos x="35" y="65"/>
                </a:cxn>
                <a:cxn ang="0">
                  <a:pos x="65" y="57"/>
                </a:cxn>
                <a:cxn ang="0">
                  <a:pos x="103" y="74"/>
                </a:cxn>
                <a:cxn ang="0">
                  <a:pos x="151" y="72"/>
                </a:cxn>
                <a:cxn ang="0">
                  <a:pos x="180" y="71"/>
                </a:cxn>
                <a:cxn ang="0">
                  <a:pos x="172" y="34"/>
                </a:cxn>
                <a:cxn ang="0">
                  <a:pos x="168" y="27"/>
                </a:cxn>
                <a:cxn ang="0">
                  <a:pos x="204" y="21"/>
                </a:cxn>
                <a:cxn ang="0">
                  <a:pos x="238" y="11"/>
                </a:cxn>
                <a:cxn ang="0">
                  <a:pos x="270" y="2"/>
                </a:cxn>
                <a:cxn ang="0">
                  <a:pos x="293" y="11"/>
                </a:cxn>
                <a:cxn ang="0">
                  <a:pos x="330" y="26"/>
                </a:cxn>
                <a:cxn ang="0">
                  <a:pos x="359" y="21"/>
                </a:cxn>
                <a:cxn ang="0">
                  <a:pos x="379" y="17"/>
                </a:cxn>
                <a:cxn ang="0">
                  <a:pos x="396" y="39"/>
                </a:cxn>
                <a:cxn ang="0">
                  <a:pos x="433" y="64"/>
                </a:cxn>
                <a:cxn ang="0">
                  <a:pos x="456" y="72"/>
                </a:cxn>
                <a:cxn ang="0">
                  <a:pos x="484" y="74"/>
                </a:cxn>
                <a:cxn ang="0">
                  <a:pos x="522" y="96"/>
                </a:cxn>
                <a:cxn ang="0">
                  <a:pos x="557" y="110"/>
                </a:cxn>
                <a:cxn ang="0">
                  <a:pos x="544" y="126"/>
                </a:cxn>
                <a:cxn ang="0">
                  <a:pos x="538" y="147"/>
                </a:cxn>
                <a:cxn ang="0">
                  <a:pos x="517" y="158"/>
                </a:cxn>
                <a:cxn ang="0">
                  <a:pos x="525" y="179"/>
                </a:cxn>
                <a:cxn ang="0">
                  <a:pos x="487" y="184"/>
                </a:cxn>
                <a:cxn ang="0">
                  <a:pos x="503" y="201"/>
                </a:cxn>
                <a:cxn ang="0">
                  <a:pos x="510" y="218"/>
                </a:cxn>
                <a:cxn ang="0">
                  <a:pos x="489" y="210"/>
                </a:cxn>
                <a:cxn ang="0">
                  <a:pos x="450" y="214"/>
                </a:cxn>
                <a:cxn ang="0">
                  <a:pos x="417" y="213"/>
                </a:cxn>
                <a:cxn ang="0">
                  <a:pos x="394" y="221"/>
                </a:cxn>
                <a:cxn ang="0">
                  <a:pos x="369" y="226"/>
                </a:cxn>
                <a:cxn ang="0">
                  <a:pos x="341" y="246"/>
                </a:cxn>
                <a:cxn ang="0">
                  <a:pos x="313" y="232"/>
                </a:cxn>
                <a:cxn ang="0">
                  <a:pos x="297" y="207"/>
                </a:cxn>
                <a:cxn ang="0">
                  <a:pos x="265" y="204"/>
                </a:cxn>
                <a:cxn ang="0">
                  <a:pos x="235" y="202"/>
                </a:cxn>
                <a:cxn ang="0">
                  <a:pos x="202" y="176"/>
                </a:cxn>
                <a:cxn ang="0">
                  <a:pos x="166" y="172"/>
                </a:cxn>
                <a:cxn ang="0">
                  <a:pos x="151" y="195"/>
                </a:cxn>
                <a:cxn ang="0">
                  <a:pos x="160" y="226"/>
                </a:cxn>
                <a:cxn ang="0">
                  <a:pos x="147" y="237"/>
                </a:cxn>
                <a:cxn ang="0">
                  <a:pos x="131" y="220"/>
                </a:cxn>
                <a:cxn ang="0">
                  <a:pos x="94" y="215"/>
                </a:cxn>
                <a:cxn ang="0">
                  <a:pos x="75" y="194"/>
                </a:cxn>
                <a:cxn ang="0">
                  <a:pos x="84" y="188"/>
                </a:cxn>
                <a:cxn ang="0">
                  <a:pos x="85" y="174"/>
                </a:cxn>
                <a:cxn ang="0">
                  <a:pos x="100" y="167"/>
                </a:cxn>
                <a:cxn ang="0">
                  <a:pos x="77" y="147"/>
                </a:cxn>
              </a:cxnLst>
              <a:rect l="0" t="0" r="r" b="b"/>
              <a:pathLst>
                <a:path w="557" h="246">
                  <a:moveTo>
                    <a:pt x="77" y="147"/>
                  </a:moveTo>
                  <a:lnTo>
                    <a:pt x="65" y="146"/>
                  </a:lnTo>
                  <a:lnTo>
                    <a:pt x="47" y="154"/>
                  </a:lnTo>
                  <a:lnTo>
                    <a:pt x="45" y="155"/>
                  </a:lnTo>
                  <a:lnTo>
                    <a:pt x="34" y="138"/>
                  </a:lnTo>
                  <a:lnTo>
                    <a:pt x="17" y="125"/>
                  </a:lnTo>
                  <a:lnTo>
                    <a:pt x="0" y="112"/>
                  </a:lnTo>
                  <a:lnTo>
                    <a:pt x="3" y="93"/>
                  </a:lnTo>
                  <a:lnTo>
                    <a:pt x="5" y="74"/>
                  </a:lnTo>
                  <a:lnTo>
                    <a:pt x="22" y="81"/>
                  </a:lnTo>
                  <a:lnTo>
                    <a:pt x="24" y="74"/>
                  </a:lnTo>
                  <a:lnTo>
                    <a:pt x="35" y="65"/>
                  </a:lnTo>
                  <a:lnTo>
                    <a:pt x="46" y="58"/>
                  </a:lnTo>
                  <a:lnTo>
                    <a:pt x="65" y="57"/>
                  </a:lnTo>
                  <a:lnTo>
                    <a:pt x="84" y="65"/>
                  </a:lnTo>
                  <a:lnTo>
                    <a:pt x="103" y="74"/>
                  </a:lnTo>
                  <a:lnTo>
                    <a:pt x="124" y="72"/>
                  </a:lnTo>
                  <a:lnTo>
                    <a:pt x="151" y="72"/>
                  </a:lnTo>
                  <a:lnTo>
                    <a:pt x="178" y="76"/>
                  </a:lnTo>
                  <a:lnTo>
                    <a:pt x="180" y="71"/>
                  </a:lnTo>
                  <a:lnTo>
                    <a:pt x="166" y="54"/>
                  </a:lnTo>
                  <a:lnTo>
                    <a:pt x="172" y="34"/>
                  </a:lnTo>
                  <a:lnTo>
                    <a:pt x="185" y="35"/>
                  </a:lnTo>
                  <a:lnTo>
                    <a:pt x="168" y="27"/>
                  </a:lnTo>
                  <a:lnTo>
                    <a:pt x="186" y="23"/>
                  </a:lnTo>
                  <a:lnTo>
                    <a:pt x="204" y="21"/>
                  </a:lnTo>
                  <a:lnTo>
                    <a:pt x="221" y="16"/>
                  </a:lnTo>
                  <a:lnTo>
                    <a:pt x="238" y="11"/>
                  </a:lnTo>
                  <a:lnTo>
                    <a:pt x="253" y="6"/>
                  </a:lnTo>
                  <a:lnTo>
                    <a:pt x="270" y="2"/>
                  </a:lnTo>
                  <a:lnTo>
                    <a:pt x="283" y="0"/>
                  </a:lnTo>
                  <a:lnTo>
                    <a:pt x="293" y="11"/>
                  </a:lnTo>
                  <a:lnTo>
                    <a:pt x="319" y="21"/>
                  </a:lnTo>
                  <a:lnTo>
                    <a:pt x="330" y="26"/>
                  </a:lnTo>
                  <a:lnTo>
                    <a:pt x="341" y="28"/>
                  </a:lnTo>
                  <a:lnTo>
                    <a:pt x="359" y="21"/>
                  </a:lnTo>
                  <a:lnTo>
                    <a:pt x="376" y="15"/>
                  </a:lnTo>
                  <a:lnTo>
                    <a:pt x="379" y="17"/>
                  </a:lnTo>
                  <a:lnTo>
                    <a:pt x="377" y="26"/>
                  </a:lnTo>
                  <a:lnTo>
                    <a:pt x="396" y="39"/>
                  </a:lnTo>
                  <a:lnTo>
                    <a:pt x="414" y="51"/>
                  </a:lnTo>
                  <a:lnTo>
                    <a:pt x="433" y="64"/>
                  </a:lnTo>
                  <a:lnTo>
                    <a:pt x="453" y="77"/>
                  </a:lnTo>
                  <a:lnTo>
                    <a:pt x="456" y="72"/>
                  </a:lnTo>
                  <a:lnTo>
                    <a:pt x="466" y="76"/>
                  </a:lnTo>
                  <a:lnTo>
                    <a:pt x="484" y="74"/>
                  </a:lnTo>
                  <a:lnTo>
                    <a:pt x="503" y="86"/>
                  </a:lnTo>
                  <a:lnTo>
                    <a:pt x="522" y="96"/>
                  </a:lnTo>
                  <a:lnTo>
                    <a:pt x="540" y="93"/>
                  </a:lnTo>
                  <a:lnTo>
                    <a:pt x="557" y="110"/>
                  </a:lnTo>
                  <a:lnTo>
                    <a:pt x="551" y="122"/>
                  </a:lnTo>
                  <a:lnTo>
                    <a:pt x="544" y="126"/>
                  </a:lnTo>
                  <a:lnTo>
                    <a:pt x="551" y="144"/>
                  </a:lnTo>
                  <a:lnTo>
                    <a:pt x="538" y="147"/>
                  </a:lnTo>
                  <a:lnTo>
                    <a:pt x="515" y="142"/>
                  </a:lnTo>
                  <a:lnTo>
                    <a:pt x="517" y="158"/>
                  </a:lnTo>
                  <a:lnTo>
                    <a:pt x="519" y="172"/>
                  </a:lnTo>
                  <a:lnTo>
                    <a:pt x="525" y="179"/>
                  </a:lnTo>
                  <a:lnTo>
                    <a:pt x="504" y="177"/>
                  </a:lnTo>
                  <a:lnTo>
                    <a:pt x="487" y="184"/>
                  </a:lnTo>
                  <a:lnTo>
                    <a:pt x="497" y="188"/>
                  </a:lnTo>
                  <a:lnTo>
                    <a:pt x="503" y="201"/>
                  </a:lnTo>
                  <a:lnTo>
                    <a:pt x="510" y="214"/>
                  </a:lnTo>
                  <a:lnTo>
                    <a:pt x="510" y="218"/>
                  </a:lnTo>
                  <a:lnTo>
                    <a:pt x="507" y="221"/>
                  </a:lnTo>
                  <a:lnTo>
                    <a:pt x="489" y="210"/>
                  </a:lnTo>
                  <a:lnTo>
                    <a:pt x="469" y="212"/>
                  </a:lnTo>
                  <a:lnTo>
                    <a:pt x="450" y="214"/>
                  </a:lnTo>
                  <a:lnTo>
                    <a:pt x="430" y="214"/>
                  </a:lnTo>
                  <a:lnTo>
                    <a:pt x="417" y="213"/>
                  </a:lnTo>
                  <a:lnTo>
                    <a:pt x="408" y="222"/>
                  </a:lnTo>
                  <a:lnTo>
                    <a:pt x="394" y="221"/>
                  </a:lnTo>
                  <a:lnTo>
                    <a:pt x="378" y="219"/>
                  </a:lnTo>
                  <a:lnTo>
                    <a:pt x="369" y="226"/>
                  </a:lnTo>
                  <a:lnTo>
                    <a:pt x="355" y="237"/>
                  </a:lnTo>
                  <a:lnTo>
                    <a:pt x="341" y="246"/>
                  </a:lnTo>
                  <a:lnTo>
                    <a:pt x="328" y="239"/>
                  </a:lnTo>
                  <a:lnTo>
                    <a:pt x="313" y="232"/>
                  </a:lnTo>
                  <a:lnTo>
                    <a:pt x="312" y="218"/>
                  </a:lnTo>
                  <a:lnTo>
                    <a:pt x="297" y="207"/>
                  </a:lnTo>
                  <a:lnTo>
                    <a:pt x="281" y="206"/>
                  </a:lnTo>
                  <a:lnTo>
                    <a:pt x="265" y="204"/>
                  </a:lnTo>
                  <a:lnTo>
                    <a:pt x="251" y="203"/>
                  </a:lnTo>
                  <a:lnTo>
                    <a:pt x="235" y="202"/>
                  </a:lnTo>
                  <a:lnTo>
                    <a:pt x="221" y="185"/>
                  </a:lnTo>
                  <a:lnTo>
                    <a:pt x="202" y="176"/>
                  </a:lnTo>
                  <a:lnTo>
                    <a:pt x="183" y="165"/>
                  </a:lnTo>
                  <a:lnTo>
                    <a:pt x="166" y="172"/>
                  </a:lnTo>
                  <a:lnTo>
                    <a:pt x="148" y="178"/>
                  </a:lnTo>
                  <a:lnTo>
                    <a:pt x="151" y="195"/>
                  </a:lnTo>
                  <a:lnTo>
                    <a:pt x="155" y="210"/>
                  </a:lnTo>
                  <a:lnTo>
                    <a:pt x="160" y="226"/>
                  </a:lnTo>
                  <a:lnTo>
                    <a:pt x="163" y="243"/>
                  </a:lnTo>
                  <a:lnTo>
                    <a:pt x="147" y="237"/>
                  </a:lnTo>
                  <a:lnTo>
                    <a:pt x="130" y="232"/>
                  </a:lnTo>
                  <a:lnTo>
                    <a:pt x="131" y="220"/>
                  </a:lnTo>
                  <a:lnTo>
                    <a:pt x="106" y="220"/>
                  </a:lnTo>
                  <a:lnTo>
                    <a:pt x="94" y="215"/>
                  </a:lnTo>
                  <a:lnTo>
                    <a:pt x="88" y="212"/>
                  </a:lnTo>
                  <a:lnTo>
                    <a:pt x="75" y="194"/>
                  </a:lnTo>
                  <a:lnTo>
                    <a:pt x="67" y="189"/>
                  </a:lnTo>
                  <a:lnTo>
                    <a:pt x="84" y="188"/>
                  </a:lnTo>
                  <a:lnTo>
                    <a:pt x="77" y="182"/>
                  </a:lnTo>
                  <a:lnTo>
                    <a:pt x="85" y="174"/>
                  </a:lnTo>
                  <a:lnTo>
                    <a:pt x="103" y="174"/>
                  </a:lnTo>
                  <a:lnTo>
                    <a:pt x="100" y="167"/>
                  </a:lnTo>
                  <a:lnTo>
                    <a:pt x="96" y="148"/>
                  </a:lnTo>
                  <a:lnTo>
                    <a:pt x="77" y="1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8" name="Freeform 267"/>
            <p:cNvSpPr>
              <a:spLocks/>
            </p:cNvSpPr>
            <p:nvPr/>
          </p:nvSpPr>
          <p:spPr bwMode="auto">
            <a:xfrm>
              <a:off x="3156" y="1827"/>
              <a:ext cx="133" cy="52"/>
            </a:xfrm>
            <a:custGeom>
              <a:avLst/>
              <a:gdLst/>
              <a:ahLst/>
              <a:cxnLst>
                <a:cxn ang="0">
                  <a:pos x="24" y="17"/>
                </a:cxn>
                <a:cxn ang="0">
                  <a:pos x="0" y="3"/>
                </a:cxn>
                <a:cxn ang="0">
                  <a:pos x="1" y="0"/>
                </a:cxn>
                <a:cxn ang="0">
                  <a:pos x="17" y="2"/>
                </a:cxn>
                <a:cxn ang="0">
                  <a:pos x="33" y="3"/>
                </a:cxn>
                <a:cxn ang="0">
                  <a:pos x="55" y="12"/>
                </a:cxn>
                <a:cxn ang="0">
                  <a:pos x="77" y="21"/>
                </a:cxn>
                <a:cxn ang="0">
                  <a:pos x="98" y="29"/>
                </a:cxn>
                <a:cxn ang="0">
                  <a:pos x="120" y="38"/>
                </a:cxn>
                <a:cxn ang="0">
                  <a:pos x="115" y="46"/>
                </a:cxn>
                <a:cxn ang="0">
                  <a:pos x="101" y="45"/>
                </a:cxn>
                <a:cxn ang="0">
                  <a:pos x="79" y="44"/>
                </a:cxn>
                <a:cxn ang="0">
                  <a:pos x="57" y="44"/>
                </a:cxn>
                <a:cxn ang="0">
                  <a:pos x="39" y="45"/>
                </a:cxn>
                <a:cxn ang="0">
                  <a:pos x="38" y="32"/>
                </a:cxn>
                <a:cxn ang="0">
                  <a:pos x="24" y="17"/>
                </a:cxn>
              </a:cxnLst>
              <a:rect l="0" t="0" r="r" b="b"/>
              <a:pathLst>
                <a:path w="120" h="46">
                  <a:moveTo>
                    <a:pt x="24" y="17"/>
                  </a:moveTo>
                  <a:lnTo>
                    <a:pt x="0" y="3"/>
                  </a:lnTo>
                  <a:lnTo>
                    <a:pt x="1" y="0"/>
                  </a:lnTo>
                  <a:lnTo>
                    <a:pt x="17" y="2"/>
                  </a:lnTo>
                  <a:lnTo>
                    <a:pt x="33" y="3"/>
                  </a:lnTo>
                  <a:lnTo>
                    <a:pt x="55" y="12"/>
                  </a:lnTo>
                  <a:lnTo>
                    <a:pt x="77" y="21"/>
                  </a:lnTo>
                  <a:lnTo>
                    <a:pt x="98" y="29"/>
                  </a:lnTo>
                  <a:lnTo>
                    <a:pt x="120" y="38"/>
                  </a:lnTo>
                  <a:lnTo>
                    <a:pt x="115" y="46"/>
                  </a:lnTo>
                  <a:lnTo>
                    <a:pt x="101" y="45"/>
                  </a:lnTo>
                  <a:lnTo>
                    <a:pt x="79" y="44"/>
                  </a:lnTo>
                  <a:lnTo>
                    <a:pt x="57" y="44"/>
                  </a:lnTo>
                  <a:lnTo>
                    <a:pt x="39" y="45"/>
                  </a:lnTo>
                  <a:lnTo>
                    <a:pt x="38" y="32"/>
                  </a:lnTo>
                  <a:lnTo>
                    <a:pt x="24"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69" name="Freeform 268"/>
            <p:cNvSpPr>
              <a:spLocks/>
            </p:cNvSpPr>
            <p:nvPr/>
          </p:nvSpPr>
          <p:spPr bwMode="auto">
            <a:xfrm>
              <a:off x="3662" y="1841"/>
              <a:ext cx="158" cy="80"/>
            </a:xfrm>
            <a:custGeom>
              <a:avLst/>
              <a:gdLst/>
              <a:ahLst/>
              <a:cxnLst>
                <a:cxn ang="0">
                  <a:pos x="46" y="41"/>
                </a:cxn>
                <a:cxn ang="0">
                  <a:pos x="31" y="32"/>
                </a:cxn>
                <a:cxn ang="0">
                  <a:pos x="10" y="29"/>
                </a:cxn>
                <a:cxn ang="0">
                  <a:pos x="0" y="16"/>
                </a:cxn>
                <a:cxn ang="0">
                  <a:pos x="9" y="9"/>
                </a:cxn>
                <a:cxn ang="0">
                  <a:pos x="25" y="11"/>
                </a:cxn>
                <a:cxn ang="0">
                  <a:pos x="39" y="12"/>
                </a:cxn>
                <a:cxn ang="0">
                  <a:pos x="48" y="3"/>
                </a:cxn>
                <a:cxn ang="0">
                  <a:pos x="61" y="4"/>
                </a:cxn>
                <a:cxn ang="0">
                  <a:pos x="81" y="4"/>
                </a:cxn>
                <a:cxn ang="0">
                  <a:pos x="100" y="2"/>
                </a:cxn>
                <a:cxn ang="0">
                  <a:pos x="120" y="0"/>
                </a:cxn>
                <a:cxn ang="0">
                  <a:pos x="138" y="11"/>
                </a:cxn>
                <a:cxn ang="0">
                  <a:pos x="141" y="20"/>
                </a:cxn>
                <a:cxn ang="0">
                  <a:pos x="130" y="29"/>
                </a:cxn>
                <a:cxn ang="0">
                  <a:pos x="120" y="38"/>
                </a:cxn>
                <a:cxn ang="0">
                  <a:pos x="104" y="42"/>
                </a:cxn>
                <a:cxn ang="0">
                  <a:pos x="94" y="53"/>
                </a:cxn>
                <a:cxn ang="0">
                  <a:pos x="86" y="51"/>
                </a:cxn>
                <a:cxn ang="0">
                  <a:pos x="79" y="52"/>
                </a:cxn>
                <a:cxn ang="0">
                  <a:pos x="68" y="58"/>
                </a:cxn>
                <a:cxn ang="0">
                  <a:pos x="62" y="71"/>
                </a:cxn>
                <a:cxn ang="0">
                  <a:pos x="37" y="69"/>
                </a:cxn>
                <a:cxn ang="0">
                  <a:pos x="12" y="65"/>
                </a:cxn>
                <a:cxn ang="0">
                  <a:pos x="10" y="53"/>
                </a:cxn>
                <a:cxn ang="0">
                  <a:pos x="28" y="47"/>
                </a:cxn>
                <a:cxn ang="0">
                  <a:pos x="46" y="41"/>
                </a:cxn>
              </a:cxnLst>
              <a:rect l="0" t="0" r="r" b="b"/>
              <a:pathLst>
                <a:path w="141" h="71">
                  <a:moveTo>
                    <a:pt x="46" y="41"/>
                  </a:moveTo>
                  <a:lnTo>
                    <a:pt x="31" y="32"/>
                  </a:lnTo>
                  <a:lnTo>
                    <a:pt x="10" y="29"/>
                  </a:lnTo>
                  <a:lnTo>
                    <a:pt x="0" y="16"/>
                  </a:lnTo>
                  <a:lnTo>
                    <a:pt x="9" y="9"/>
                  </a:lnTo>
                  <a:lnTo>
                    <a:pt x="25" y="11"/>
                  </a:lnTo>
                  <a:lnTo>
                    <a:pt x="39" y="12"/>
                  </a:lnTo>
                  <a:lnTo>
                    <a:pt x="48" y="3"/>
                  </a:lnTo>
                  <a:lnTo>
                    <a:pt x="61" y="4"/>
                  </a:lnTo>
                  <a:lnTo>
                    <a:pt x="81" y="4"/>
                  </a:lnTo>
                  <a:lnTo>
                    <a:pt x="100" y="2"/>
                  </a:lnTo>
                  <a:lnTo>
                    <a:pt x="120" y="0"/>
                  </a:lnTo>
                  <a:lnTo>
                    <a:pt x="138" y="11"/>
                  </a:lnTo>
                  <a:lnTo>
                    <a:pt x="141" y="20"/>
                  </a:lnTo>
                  <a:lnTo>
                    <a:pt x="130" y="29"/>
                  </a:lnTo>
                  <a:lnTo>
                    <a:pt x="120" y="38"/>
                  </a:lnTo>
                  <a:lnTo>
                    <a:pt x="104" y="42"/>
                  </a:lnTo>
                  <a:lnTo>
                    <a:pt x="94" y="53"/>
                  </a:lnTo>
                  <a:lnTo>
                    <a:pt x="86" y="51"/>
                  </a:lnTo>
                  <a:lnTo>
                    <a:pt x="79" y="52"/>
                  </a:lnTo>
                  <a:lnTo>
                    <a:pt x="68" y="58"/>
                  </a:lnTo>
                  <a:lnTo>
                    <a:pt x="62" y="71"/>
                  </a:lnTo>
                  <a:lnTo>
                    <a:pt x="37" y="69"/>
                  </a:lnTo>
                  <a:lnTo>
                    <a:pt x="12" y="65"/>
                  </a:lnTo>
                  <a:lnTo>
                    <a:pt x="10" y="53"/>
                  </a:lnTo>
                  <a:lnTo>
                    <a:pt x="28" y="47"/>
                  </a:lnTo>
                  <a:lnTo>
                    <a:pt x="46" y="4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0" name="Freeform 269"/>
            <p:cNvSpPr>
              <a:spLocks/>
            </p:cNvSpPr>
            <p:nvPr/>
          </p:nvSpPr>
          <p:spPr bwMode="auto">
            <a:xfrm>
              <a:off x="3369" y="1852"/>
              <a:ext cx="242" cy="149"/>
            </a:xfrm>
            <a:custGeom>
              <a:avLst/>
              <a:gdLst/>
              <a:ahLst/>
              <a:cxnLst>
                <a:cxn ang="0">
                  <a:pos x="206" y="104"/>
                </a:cxn>
                <a:cxn ang="0">
                  <a:pos x="200" y="119"/>
                </a:cxn>
                <a:cxn ang="0">
                  <a:pos x="187" y="126"/>
                </a:cxn>
                <a:cxn ang="0">
                  <a:pos x="182" y="134"/>
                </a:cxn>
                <a:cxn ang="0">
                  <a:pos x="174" y="133"/>
                </a:cxn>
                <a:cxn ang="0">
                  <a:pos x="159" y="128"/>
                </a:cxn>
                <a:cxn ang="0">
                  <a:pos x="153" y="110"/>
                </a:cxn>
                <a:cxn ang="0">
                  <a:pos x="140" y="108"/>
                </a:cxn>
                <a:cxn ang="0">
                  <a:pos x="127" y="100"/>
                </a:cxn>
                <a:cxn ang="0">
                  <a:pos x="114" y="91"/>
                </a:cxn>
                <a:cxn ang="0">
                  <a:pos x="90" y="83"/>
                </a:cxn>
                <a:cxn ang="0">
                  <a:pos x="75" y="84"/>
                </a:cxn>
                <a:cxn ang="0">
                  <a:pos x="59" y="86"/>
                </a:cxn>
                <a:cxn ang="0">
                  <a:pos x="48" y="97"/>
                </a:cxn>
                <a:cxn ang="0">
                  <a:pos x="43" y="97"/>
                </a:cxn>
                <a:cxn ang="0">
                  <a:pos x="39" y="83"/>
                </a:cxn>
                <a:cxn ang="0">
                  <a:pos x="35" y="67"/>
                </a:cxn>
                <a:cxn ang="0">
                  <a:pos x="26" y="61"/>
                </a:cxn>
                <a:cxn ang="0">
                  <a:pos x="25" y="62"/>
                </a:cxn>
                <a:cxn ang="0">
                  <a:pos x="27" y="59"/>
                </a:cxn>
                <a:cxn ang="0">
                  <a:pos x="30" y="56"/>
                </a:cxn>
                <a:cxn ang="0">
                  <a:pos x="26" y="50"/>
                </a:cxn>
                <a:cxn ang="0">
                  <a:pos x="19" y="52"/>
                </a:cxn>
                <a:cxn ang="0">
                  <a:pos x="19" y="53"/>
                </a:cxn>
                <a:cxn ang="0">
                  <a:pos x="14" y="35"/>
                </a:cxn>
                <a:cxn ang="0">
                  <a:pos x="17" y="34"/>
                </a:cxn>
                <a:cxn ang="0">
                  <a:pos x="25" y="34"/>
                </a:cxn>
                <a:cxn ang="0">
                  <a:pos x="32" y="38"/>
                </a:cxn>
                <a:cxn ang="0">
                  <a:pos x="36" y="37"/>
                </a:cxn>
                <a:cxn ang="0">
                  <a:pos x="37" y="35"/>
                </a:cxn>
                <a:cxn ang="0">
                  <a:pos x="39" y="30"/>
                </a:cxn>
                <a:cxn ang="0">
                  <a:pos x="25" y="14"/>
                </a:cxn>
                <a:cxn ang="0">
                  <a:pos x="12" y="13"/>
                </a:cxn>
                <a:cxn ang="0">
                  <a:pos x="13" y="28"/>
                </a:cxn>
                <a:cxn ang="0">
                  <a:pos x="13" y="30"/>
                </a:cxn>
                <a:cxn ang="0">
                  <a:pos x="3" y="11"/>
                </a:cxn>
                <a:cxn ang="0">
                  <a:pos x="5" y="2"/>
                </a:cxn>
                <a:cxn ang="0">
                  <a:pos x="0" y="0"/>
                </a:cxn>
                <a:cxn ang="0">
                  <a:pos x="25" y="0"/>
                </a:cxn>
                <a:cxn ang="0">
                  <a:pos x="24" y="12"/>
                </a:cxn>
                <a:cxn ang="0">
                  <a:pos x="41" y="17"/>
                </a:cxn>
                <a:cxn ang="0">
                  <a:pos x="57" y="23"/>
                </a:cxn>
                <a:cxn ang="0">
                  <a:pos x="78" y="26"/>
                </a:cxn>
                <a:cxn ang="0">
                  <a:pos x="74" y="17"/>
                </a:cxn>
                <a:cxn ang="0">
                  <a:pos x="81" y="13"/>
                </a:cxn>
                <a:cxn ang="0">
                  <a:pos x="93" y="0"/>
                </a:cxn>
                <a:cxn ang="0">
                  <a:pos x="113" y="13"/>
                </a:cxn>
                <a:cxn ang="0">
                  <a:pos x="125" y="31"/>
                </a:cxn>
                <a:cxn ang="0">
                  <a:pos x="144" y="38"/>
                </a:cxn>
                <a:cxn ang="0">
                  <a:pos x="157" y="46"/>
                </a:cxn>
                <a:cxn ang="0">
                  <a:pos x="182" y="61"/>
                </a:cxn>
                <a:cxn ang="0">
                  <a:pos x="207" y="77"/>
                </a:cxn>
                <a:cxn ang="0">
                  <a:pos x="217" y="95"/>
                </a:cxn>
                <a:cxn ang="0">
                  <a:pos x="211" y="100"/>
                </a:cxn>
                <a:cxn ang="0">
                  <a:pos x="206" y="104"/>
                </a:cxn>
              </a:cxnLst>
              <a:rect l="0" t="0" r="r" b="b"/>
              <a:pathLst>
                <a:path w="217" h="134">
                  <a:moveTo>
                    <a:pt x="206" y="104"/>
                  </a:moveTo>
                  <a:lnTo>
                    <a:pt x="200" y="119"/>
                  </a:lnTo>
                  <a:lnTo>
                    <a:pt x="187" y="126"/>
                  </a:lnTo>
                  <a:lnTo>
                    <a:pt x="182" y="134"/>
                  </a:lnTo>
                  <a:lnTo>
                    <a:pt x="174" y="133"/>
                  </a:lnTo>
                  <a:lnTo>
                    <a:pt x="159" y="128"/>
                  </a:lnTo>
                  <a:lnTo>
                    <a:pt x="153" y="110"/>
                  </a:lnTo>
                  <a:lnTo>
                    <a:pt x="140" y="108"/>
                  </a:lnTo>
                  <a:lnTo>
                    <a:pt x="127" y="100"/>
                  </a:lnTo>
                  <a:lnTo>
                    <a:pt x="114" y="91"/>
                  </a:lnTo>
                  <a:lnTo>
                    <a:pt x="90" y="83"/>
                  </a:lnTo>
                  <a:lnTo>
                    <a:pt x="75" y="84"/>
                  </a:lnTo>
                  <a:lnTo>
                    <a:pt x="59" y="86"/>
                  </a:lnTo>
                  <a:lnTo>
                    <a:pt x="48" y="97"/>
                  </a:lnTo>
                  <a:lnTo>
                    <a:pt x="43" y="97"/>
                  </a:lnTo>
                  <a:lnTo>
                    <a:pt x="39" y="83"/>
                  </a:lnTo>
                  <a:lnTo>
                    <a:pt x="35" y="67"/>
                  </a:lnTo>
                  <a:lnTo>
                    <a:pt x="26" y="61"/>
                  </a:lnTo>
                  <a:lnTo>
                    <a:pt x="25" y="62"/>
                  </a:lnTo>
                  <a:lnTo>
                    <a:pt x="27" y="59"/>
                  </a:lnTo>
                  <a:lnTo>
                    <a:pt x="30" y="56"/>
                  </a:lnTo>
                  <a:lnTo>
                    <a:pt x="26" y="50"/>
                  </a:lnTo>
                  <a:lnTo>
                    <a:pt x="19" y="52"/>
                  </a:lnTo>
                  <a:lnTo>
                    <a:pt x="19" y="53"/>
                  </a:lnTo>
                  <a:lnTo>
                    <a:pt x="14" y="35"/>
                  </a:lnTo>
                  <a:lnTo>
                    <a:pt x="17" y="34"/>
                  </a:lnTo>
                  <a:lnTo>
                    <a:pt x="25" y="34"/>
                  </a:lnTo>
                  <a:lnTo>
                    <a:pt x="32" y="38"/>
                  </a:lnTo>
                  <a:lnTo>
                    <a:pt x="36" y="37"/>
                  </a:lnTo>
                  <a:lnTo>
                    <a:pt x="37" y="35"/>
                  </a:lnTo>
                  <a:lnTo>
                    <a:pt x="39" y="30"/>
                  </a:lnTo>
                  <a:lnTo>
                    <a:pt x="25" y="14"/>
                  </a:lnTo>
                  <a:lnTo>
                    <a:pt x="12" y="13"/>
                  </a:lnTo>
                  <a:lnTo>
                    <a:pt x="13" y="28"/>
                  </a:lnTo>
                  <a:lnTo>
                    <a:pt x="13" y="30"/>
                  </a:lnTo>
                  <a:lnTo>
                    <a:pt x="3" y="11"/>
                  </a:lnTo>
                  <a:lnTo>
                    <a:pt x="5" y="2"/>
                  </a:lnTo>
                  <a:lnTo>
                    <a:pt x="0" y="0"/>
                  </a:lnTo>
                  <a:lnTo>
                    <a:pt x="25" y="0"/>
                  </a:lnTo>
                  <a:lnTo>
                    <a:pt x="24" y="12"/>
                  </a:lnTo>
                  <a:lnTo>
                    <a:pt x="41" y="17"/>
                  </a:lnTo>
                  <a:lnTo>
                    <a:pt x="57" y="23"/>
                  </a:lnTo>
                  <a:lnTo>
                    <a:pt x="78" y="26"/>
                  </a:lnTo>
                  <a:lnTo>
                    <a:pt x="74" y="17"/>
                  </a:lnTo>
                  <a:lnTo>
                    <a:pt x="81" y="13"/>
                  </a:lnTo>
                  <a:lnTo>
                    <a:pt x="93" y="0"/>
                  </a:lnTo>
                  <a:lnTo>
                    <a:pt x="113" y="13"/>
                  </a:lnTo>
                  <a:lnTo>
                    <a:pt x="125" y="31"/>
                  </a:lnTo>
                  <a:lnTo>
                    <a:pt x="144" y="38"/>
                  </a:lnTo>
                  <a:lnTo>
                    <a:pt x="157" y="46"/>
                  </a:lnTo>
                  <a:lnTo>
                    <a:pt x="182" y="61"/>
                  </a:lnTo>
                  <a:lnTo>
                    <a:pt x="207" y="77"/>
                  </a:lnTo>
                  <a:lnTo>
                    <a:pt x="217" y="95"/>
                  </a:lnTo>
                  <a:lnTo>
                    <a:pt x="211" y="100"/>
                  </a:lnTo>
                  <a:lnTo>
                    <a:pt x="206" y="10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1" name="Freeform 270"/>
            <p:cNvSpPr>
              <a:spLocks/>
            </p:cNvSpPr>
            <p:nvPr/>
          </p:nvSpPr>
          <p:spPr bwMode="auto">
            <a:xfrm>
              <a:off x="3542" y="1939"/>
              <a:ext cx="222" cy="180"/>
            </a:xfrm>
            <a:custGeom>
              <a:avLst/>
              <a:gdLst/>
              <a:ahLst/>
              <a:cxnLst>
                <a:cxn ang="0">
                  <a:pos x="1" y="71"/>
                </a:cxn>
                <a:cxn ang="0">
                  <a:pos x="0" y="73"/>
                </a:cxn>
                <a:cxn ang="0">
                  <a:pos x="0" y="83"/>
                </a:cxn>
                <a:cxn ang="0">
                  <a:pos x="6" y="88"/>
                </a:cxn>
                <a:cxn ang="0">
                  <a:pos x="4" y="91"/>
                </a:cxn>
                <a:cxn ang="0">
                  <a:pos x="8" y="106"/>
                </a:cxn>
                <a:cxn ang="0">
                  <a:pos x="10" y="121"/>
                </a:cxn>
                <a:cxn ang="0">
                  <a:pos x="26" y="126"/>
                </a:cxn>
                <a:cxn ang="0">
                  <a:pos x="28" y="133"/>
                </a:cxn>
                <a:cxn ang="0">
                  <a:pos x="18" y="154"/>
                </a:cxn>
                <a:cxn ang="0">
                  <a:pos x="31" y="157"/>
                </a:cxn>
                <a:cxn ang="0">
                  <a:pos x="43" y="162"/>
                </a:cxn>
                <a:cxn ang="0">
                  <a:pos x="67" y="161"/>
                </a:cxn>
                <a:cxn ang="0">
                  <a:pos x="84" y="157"/>
                </a:cxn>
                <a:cxn ang="0">
                  <a:pos x="99" y="154"/>
                </a:cxn>
                <a:cxn ang="0">
                  <a:pos x="99" y="146"/>
                </a:cxn>
                <a:cxn ang="0">
                  <a:pos x="102" y="132"/>
                </a:cxn>
                <a:cxn ang="0">
                  <a:pos x="116" y="126"/>
                </a:cxn>
                <a:cxn ang="0">
                  <a:pos x="121" y="121"/>
                </a:cxn>
                <a:cxn ang="0">
                  <a:pos x="135" y="121"/>
                </a:cxn>
                <a:cxn ang="0">
                  <a:pos x="136" y="102"/>
                </a:cxn>
                <a:cxn ang="0">
                  <a:pos x="148" y="91"/>
                </a:cxn>
                <a:cxn ang="0">
                  <a:pos x="140" y="82"/>
                </a:cxn>
                <a:cxn ang="0">
                  <a:pos x="153" y="80"/>
                </a:cxn>
                <a:cxn ang="0">
                  <a:pos x="156" y="72"/>
                </a:cxn>
                <a:cxn ang="0">
                  <a:pos x="160" y="59"/>
                </a:cxn>
                <a:cxn ang="0">
                  <a:pos x="152" y="44"/>
                </a:cxn>
                <a:cxn ang="0">
                  <a:pos x="159" y="34"/>
                </a:cxn>
                <a:cxn ang="0">
                  <a:pos x="177" y="29"/>
                </a:cxn>
                <a:cxn ang="0">
                  <a:pos x="195" y="25"/>
                </a:cxn>
                <a:cxn ang="0">
                  <a:pos x="195" y="22"/>
                </a:cxn>
                <a:cxn ang="0">
                  <a:pos x="199" y="22"/>
                </a:cxn>
                <a:cxn ang="0">
                  <a:pos x="200" y="22"/>
                </a:cxn>
                <a:cxn ang="0">
                  <a:pos x="187" y="20"/>
                </a:cxn>
                <a:cxn ang="0">
                  <a:pos x="182" y="19"/>
                </a:cxn>
                <a:cxn ang="0">
                  <a:pos x="170" y="20"/>
                </a:cxn>
                <a:cxn ang="0">
                  <a:pos x="152" y="30"/>
                </a:cxn>
                <a:cxn ang="0">
                  <a:pos x="146" y="8"/>
                </a:cxn>
                <a:cxn ang="0">
                  <a:pos x="142" y="8"/>
                </a:cxn>
                <a:cxn ang="0">
                  <a:pos x="138" y="0"/>
                </a:cxn>
                <a:cxn ang="0">
                  <a:pos x="130" y="4"/>
                </a:cxn>
                <a:cxn ang="0">
                  <a:pos x="128" y="14"/>
                </a:cxn>
                <a:cxn ang="0">
                  <a:pos x="117" y="19"/>
                </a:cxn>
                <a:cxn ang="0">
                  <a:pos x="114" y="23"/>
                </a:cxn>
                <a:cxn ang="0">
                  <a:pos x="104" y="23"/>
                </a:cxn>
                <a:cxn ang="0">
                  <a:pos x="96" y="24"/>
                </a:cxn>
                <a:cxn ang="0">
                  <a:pos x="91" y="22"/>
                </a:cxn>
                <a:cxn ang="0">
                  <a:pos x="76" y="19"/>
                </a:cxn>
                <a:cxn ang="0">
                  <a:pos x="62" y="17"/>
                </a:cxn>
                <a:cxn ang="0">
                  <a:pos x="56" y="22"/>
                </a:cxn>
                <a:cxn ang="0">
                  <a:pos x="51" y="26"/>
                </a:cxn>
                <a:cxn ang="0">
                  <a:pos x="45" y="41"/>
                </a:cxn>
                <a:cxn ang="0">
                  <a:pos x="32" y="48"/>
                </a:cxn>
                <a:cxn ang="0">
                  <a:pos x="27" y="56"/>
                </a:cxn>
                <a:cxn ang="0">
                  <a:pos x="19" y="55"/>
                </a:cxn>
                <a:cxn ang="0">
                  <a:pos x="4" y="50"/>
                </a:cxn>
                <a:cxn ang="0">
                  <a:pos x="1" y="71"/>
                </a:cxn>
              </a:cxnLst>
              <a:rect l="0" t="0" r="r" b="b"/>
              <a:pathLst>
                <a:path w="200" h="162">
                  <a:moveTo>
                    <a:pt x="1" y="71"/>
                  </a:moveTo>
                  <a:lnTo>
                    <a:pt x="0" y="73"/>
                  </a:lnTo>
                  <a:lnTo>
                    <a:pt x="0" y="83"/>
                  </a:lnTo>
                  <a:lnTo>
                    <a:pt x="6" y="88"/>
                  </a:lnTo>
                  <a:lnTo>
                    <a:pt x="4" y="91"/>
                  </a:lnTo>
                  <a:lnTo>
                    <a:pt x="8" y="106"/>
                  </a:lnTo>
                  <a:lnTo>
                    <a:pt x="10" y="121"/>
                  </a:lnTo>
                  <a:lnTo>
                    <a:pt x="26" y="126"/>
                  </a:lnTo>
                  <a:lnTo>
                    <a:pt x="28" y="133"/>
                  </a:lnTo>
                  <a:lnTo>
                    <a:pt x="18" y="154"/>
                  </a:lnTo>
                  <a:lnTo>
                    <a:pt x="31" y="157"/>
                  </a:lnTo>
                  <a:lnTo>
                    <a:pt x="43" y="162"/>
                  </a:lnTo>
                  <a:lnTo>
                    <a:pt x="67" y="161"/>
                  </a:lnTo>
                  <a:lnTo>
                    <a:pt x="84" y="157"/>
                  </a:lnTo>
                  <a:lnTo>
                    <a:pt x="99" y="154"/>
                  </a:lnTo>
                  <a:lnTo>
                    <a:pt x="99" y="146"/>
                  </a:lnTo>
                  <a:lnTo>
                    <a:pt x="102" y="132"/>
                  </a:lnTo>
                  <a:lnTo>
                    <a:pt x="116" y="126"/>
                  </a:lnTo>
                  <a:lnTo>
                    <a:pt x="121" y="121"/>
                  </a:lnTo>
                  <a:lnTo>
                    <a:pt x="135" y="121"/>
                  </a:lnTo>
                  <a:lnTo>
                    <a:pt x="136" y="102"/>
                  </a:lnTo>
                  <a:lnTo>
                    <a:pt x="148" y="91"/>
                  </a:lnTo>
                  <a:lnTo>
                    <a:pt x="140" y="82"/>
                  </a:lnTo>
                  <a:lnTo>
                    <a:pt x="153" y="80"/>
                  </a:lnTo>
                  <a:lnTo>
                    <a:pt x="156" y="72"/>
                  </a:lnTo>
                  <a:lnTo>
                    <a:pt x="160" y="59"/>
                  </a:lnTo>
                  <a:lnTo>
                    <a:pt x="152" y="44"/>
                  </a:lnTo>
                  <a:lnTo>
                    <a:pt x="159" y="34"/>
                  </a:lnTo>
                  <a:lnTo>
                    <a:pt x="177" y="29"/>
                  </a:lnTo>
                  <a:lnTo>
                    <a:pt x="195" y="25"/>
                  </a:lnTo>
                  <a:lnTo>
                    <a:pt x="195" y="22"/>
                  </a:lnTo>
                  <a:lnTo>
                    <a:pt x="199" y="22"/>
                  </a:lnTo>
                  <a:lnTo>
                    <a:pt x="200" y="22"/>
                  </a:lnTo>
                  <a:lnTo>
                    <a:pt x="187" y="20"/>
                  </a:lnTo>
                  <a:lnTo>
                    <a:pt x="182" y="19"/>
                  </a:lnTo>
                  <a:lnTo>
                    <a:pt x="170" y="20"/>
                  </a:lnTo>
                  <a:lnTo>
                    <a:pt x="152" y="30"/>
                  </a:lnTo>
                  <a:lnTo>
                    <a:pt x="146" y="8"/>
                  </a:lnTo>
                  <a:lnTo>
                    <a:pt x="142" y="8"/>
                  </a:lnTo>
                  <a:lnTo>
                    <a:pt x="138" y="0"/>
                  </a:lnTo>
                  <a:lnTo>
                    <a:pt x="130" y="4"/>
                  </a:lnTo>
                  <a:lnTo>
                    <a:pt x="128" y="14"/>
                  </a:lnTo>
                  <a:lnTo>
                    <a:pt x="117" y="19"/>
                  </a:lnTo>
                  <a:lnTo>
                    <a:pt x="114" y="23"/>
                  </a:lnTo>
                  <a:lnTo>
                    <a:pt x="104" y="23"/>
                  </a:lnTo>
                  <a:lnTo>
                    <a:pt x="96" y="24"/>
                  </a:lnTo>
                  <a:lnTo>
                    <a:pt x="91" y="22"/>
                  </a:lnTo>
                  <a:lnTo>
                    <a:pt x="76" y="19"/>
                  </a:lnTo>
                  <a:lnTo>
                    <a:pt x="62" y="17"/>
                  </a:lnTo>
                  <a:lnTo>
                    <a:pt x="56" y="22"/>
                  </a:lnTo>
                  <a:lnTo>
                    <a:pt x="51" y="26"/>
                  </a:lnTo>
                  <a:lnTo>
                    <a:pt x="45" y="41"/>
                  </a:lnTo>
                  <a:lnTo>
                    <a:pt x="32" y="48"/>
                  </a:lnTo>
                  <a:lnTo>
                    <a:pt x="27" y="56"/>
                  </a:lnTo>
                  <a:lnTo>
                    <a:pt x="19" y="55"/>
                  </a:lnTo>
                  <a:lnTo>
                    <a:pt x="4" y="50"/>
                  </a:lnTo>
                  <a:lnTo>
                    <a:pt x="1" y="7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2" name="Freeform 271"/>
            <p:cNvSpPr>
              <a:spLocks/>
            </p:cNvSpPr>
            <p:nvPr/>
          </p:nvSpPr>
          <p:spPr bwMode="auto">
            <a:xfrm>
              <a:off x="3069" y="1994"/>
              <a:ext cx="35" cy="20"/>
            </a:xfrm>
            <a:custGeom>
              <a:avLst/>
              <a:gdLst/>
              <a:ahLst/>
              <a:cxnLst>
                <a:cxn ang="0">
                  <a:pos x="31" y="0"/>
                </a:cxn>
                <a:cxn ang="0">
                  <a:pos x="12" y="6"/>
                </a:cxn>
                <a:cxn ang="0">
                  <a:pos x="0" y="11"/>
                </a:cxn>
                <a:cxn ang="0">
                  <a:pos x="5" y="19"/>
                </a:cxn>
                <a:cxn ang="0">
                  <a:pos x="23" y="13"/>
                </a:cxn>
                <a:cxn ang="0">
                  <a:pos x="21" y="10"/>
                </a:cxn>
                <a:cxn ang="0">
                  <a:pos x="31" y="0"/>
                </a:cxn>
              </a:cxnLst>
              <a:rect l="0" t="0" r="r" b="b"/>
              <a:pathLst>
                <a:path w="31" h="19">
                  <a:moveTo>
                    <a:pt x="31" y="0"/>
                  </a:moveTo>
                  <a:lnTo>
                    <a:pt x="12" y="6"/>
                  </a:lnTo>
                  <a:lnTo>
                    <a:pt x="0" y="11"/>
                  </a:lnTo>
                  <a:lnTo>
                    <a:pt x="5" y="19"/>
                  </a:lnTo>
                  <a:lnTo>
                    <a:pt x="23" y="13"/>
                  </a:lnTo>
                  <a:lnTo>
                    <a:pt x="21" y="10"/>
                  </a:lnTo>
                  <a:lnTo>
                    <a:pt x="3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3" name="Line 271"/>
            <p:cNvSpPr>
              <a:spLocks noChangeShapeType="1"/>
            </p:cNvSpPr>
            <p:nvPr/>
          </p:nvSpPr>
          <p:spPr bwMode="auto">
            <a:xfrm>
              <a:off x="3753" y="1967"/>
              <a:ext cx="2" cy="5"/>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4" name="Line 272"/>
            <p:cNvSpPr>
              <a:spLocks noChangeShapeType="1"/>
            </p:cNvSpPr>
            <p:nvPr/>
          </p:nvSpPr>
          <p:spPr bwMode="auto">
            <a:xfrm>
              <a:off x="3755" y="1970"/>
              <a:ext cx="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5" name="Line 273"/>
            <p:cNvSpPr>
              <a:spLocks noChangeShapeType="1"/>
            </p:cNvSpPr>
            <p:nvPr/>
          </p:nvSpPr>
          <p:spPr bwMode="auto">
            <a:xfrm flipH="1">
              <a:off x="3749" y="1974"/>
              <a:ext cx="6"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6" name="Line 274"/>
            <p:cNvSpPr>
              <a:spLocks noChangeShapeType="1"/>
            </p:cNvSpPr>
            <p:nvPr/>
          </p:nvSpPr>
          <p:spPr bwMode="auto">
            <a:xfrm flipH="1">
              <a:off x="3747" y="1976"/>
              <a:ext cx="4" cy="5"/>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7" name="Line 275"/>
            <p:cNvSpPr>
              <a:spLocks noChangeShapeType="1"/>
            </p:cNvSpPr>
            <p:nvPr/>
          </p:nvSpPr>
          <p:spPr bwMode="auto">
            <a:xfrm flipH="1">
              <a:off x="3742" y="1981"/>
              <a:ext cx="5"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8" name="Line 276"/>
            <p:cNvSpPr>
              <a:spLocks noChangeShapeType="1"/>
            </p:cNvSpPr>
            <p:nvPr/>
          </p:nvSpPr>
          <p:spPr bwMode="auto">
            <a:xfrm flipH="1">
              <a:off x="3740" y="1981"/>
              <a:ext cx="2" cy="6"/>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79" name="Line 277"/>
            <p:cNvSpPr>
              <a:spLocks noChangeShapeType="1"/>
            </p:cNvSpPr>
            <p:nvPr/>
          </p:nvSpPr>
          <p:spPr bwMode="auto">
            <a:xfrm>
              <a:off x="3740" y="1985"/>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0" name="Line 278"/>
            <p:cNvSpPr>
              <a:spLocks noChangeShapeType="1"/>
            </p:cNvSpPr>
            <p:nvPr/>
          </p:nvSpPr>
          <p:spPr bwMode="auto">
            <a:xfrm>
              <a:off x="3740" y="1990"/>
              <a:ext cx="2" cy="9"/>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1" name="Line 279"/>
            <p:cNvSpPr>
              <a:spLocks noChangeShapeType="1"/>
            </p:cNvSpPr>
            <p:nvPr/>
          </p:nvSpPr>
          <p:spPr bwMode="auto">
            <a:xfrm>
              <a:off x="3742" y="1996"/>
              <a:ext cx="5"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2" name="Line 280"/>
            <p:cNvSpPr>
              <a:spLocks noChangeShapeType="1"/>
            </p:cNvSpPr>
            <p:nvPr/>
          </p:nvSpPr>
          <p:spPr bwMode="auto">
            <a:xfrm>
              <a:off x="3744" y="2001"/>
              <a:ext cx="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3" name="Line 281"/>
            <p:cNvSpPr>
              <a:spLocks noChangeShapeType="1"/>
            </p:cNvSpPr>
            <p:nvPr/>
          </p:nvSpPr>
          <p:spPr bwMode="auto">
            <a:xfrm>
              <a:off x="3755" y="2027"/>
              <a:ext cx="3" cy="3"/>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4" name="Line 282"/>
            <p:cNvSpPr>
              <a:spLocks noChangeShapeType="1"/>
            </p:cNvSpPr>
            <p:nvPr/>
          </p:nvSpPr>
          <p:spPr bwMode="auto">
            <a:xfrm>
              <a:off x="3755" y="2027"/>
              <a:ext cx="9"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5" name="Line 283"/>
            <p:cNvSpPr>
              <a:spLocks noChangeShapeType="1"/>
            </p:cNvSpPr>
            <p:nvPr/>
          </p:nvSpPr>
          <p:spPr bwMode="auto">
            <a:xfrm>
              <a:off x="3762" y="2032"/>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6" name="Line 284"/>
            <p:cNvSpPr>
              <a:spLocks noChangeShapeType="1"/>
            </p:cNvSpPr>
            <p:nvPr/>
          </p:nvSpPr>
          <p:spPr bwMode="auto">
            <a:xfrm>
              <a:off x="3762" y="2036"/>
              <a:ext cx="2" cy="7"/>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7" name="Line 285"/>
            <p:cNvSpPr>
              <a:spLocks noChangeShapeType="1"/>
            </p:cNvSpPr>
            <p:nvPr/>
          </p:nvSpPr>
          <p:spPr bwMode="auto">
            <a:xfrm>
              <a:off x="3764" y="2043"/>
              <a:ext cx="7"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8" name="Line 286"/>
            <p:cNvSpPr>
              <a:spLocks noChangeShapeType="1"/>
            </p:cNvSpPr>
            <p:nvPr/>
          </p:nvSpPr>
          <p:spPr bwMode="auto">
            <a:xfrm>
              <a:off x="3769" y="2045"/>
              <a:ext cx="6"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89" name="Line 287"/>
            <p:cNvSpPr>
              <a:spLocks noChangeShapeType="1"/>
            </p:cNvSpPr>
            <p:nvPr/>
          </p:nvSpPr>
          <p:spPr bwMode="auto">
            <a:xfrm flipV="1">
              <a:off x="3851" y="2021"/>
              <a:ext cx="9" cy="6"/>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0" name="Line 288"/>
            <p:cNvSpPr>
              <a:spLocks noChangeShapeType="1"/>
            </p:cNvSpPr>
            <p:nvPr/>
          </p:nvSpPr>
          <p:spPr bwMode="auto">
            <a:xfrm flipV="1">
              <a:off x="3858" y="2012"/>
              <a:ext cx="2" cy="11"/>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1" name="Line 289"/>
            <p:cNvSpPr>
              <a:spLocks noChangeShapeType="1"/>
            </p:cNvSpPr>
            <p:nvPr/>
          </p:nvSpPr>
          <p:spPr bwMode="auto">
            <a:xfrm flipV="1">
              <a:off x="3860" y="1996"/>
              <a:ext cx="2" cy="18"/>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2" name="Line 290"/>
            <p:cNvSpPr>
              <a:spLocks noChangeShapeType="1"/>
            </p:cNvSpPr>
            <p:nvPr/>
          </p:nvSpPr>
          <p:spPr bwMode="auto">
            <a:xfrm flipH="1" flipV="1">
              <a:off x="3849" y="1992"/>
              <a:ext cx="13" cy="4"/>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3" name="Line 291"/>
            <p:cNvSpPr>
              <a:spLocks noChangeShapeType="1"/>
            </p:cNvSpPr>
            <p:nvPr/>
          </p:nvSpPr>
          <p:spPr bwMode="auto">
            <a:xfrm flipH="1" flipV="1">
              <a:off x="3847" y="1990"/>
              <a:ext cx="2" cy="2"/>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4" name="Line 292"/>
            <p:cNvSpPr>
              <a:spLocks noChangeShapeType="1"/>
            </p:cNvSpPr>
            <p:nvPr/>
          </p:nvSpPr>
          <p:spPr bwMode="auto">
            <a:xfrm flipH="1">
              <a:off x="3820" y="1996"/>
              <a:ext cx="2" cy="3"/>
            </a:xfrm>
            <a:prstGeom prst="line">
              <a:avLst/>
            </a:prstGeom>
            <a:grpFill/>
            <a:ln w="3175">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5" name="Freeform 294"/>
            <p:cNvSpPr>
              <a:spLocks/>
            </p:cNvSpPr>
            <p:nvPr/>
          </p:nvSpPr>
          <p:spPr bwMode="auto">
            <a:xfrm>
              <a:off x="3120" y="2014"/>
              <a:ext cx="20" cy="31"/>
            </a:xfrm>
            <a:custGeom>
              <a:avLst/>
              <a:gdLst/>
              <a:ahLst/>
              <a:cxnLst>
                <a:cxn ang="0">
                  <a:pos x="17" y="16"/>
                </a:cxn>
                <a:cxn ang="0">
                  <a:pos x="7" y="25"/>
                </a:cxn>
                <a:cxn ang="0">
                  <a:pos x="0" y="29"/>
                </a:cxn>
                <a:cxn ang="0">
                  <a:pos x="5" y="15"/>
                </a:cxn>
                <a:cxn ang="0">
                  <a:pos x="10" y="0"/>
                </a:cxn>
                <a:cxn ang="0">
                  <a:pos x="19" y="5"/>
                </a:cxn>
                <a:cxn ang="0">
                  <a:pos x="17" y="16"/>
                </a:cxn>
              </a:cxnLst>
              <a:rect l="0" t="0" r="r" b="b"/>
              <a:pathLst>
                <a:path w="19" h="29">
                  <a:moveTo>
                    <a:pt x="17" y="16"/>
                  </a:moveTo>
                  <a:lnTo>
                    <a:pt x="7" y="25"/>
                  </a:lnTo>
                  <a:lnTo>
                    <a:pt x="0" y="29"/>
                  </a:lnTo>
                  <a:lnTo>
                    <a:pt x="5" y="15"/>
                  </a:lnTo>
                  <a:lnTo>
                    <a:pt x="10" y="0"/>
                  </a:lnTo>
                  <a:lnTo>
                    <a:pt x="19" y="5"/>
                  </a:lnTo>
                  <a:lnTo>
                    <a:pt x="17"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6" name="Freeform 295"/>
            <p:cNvSpPr>
              <a:spLocks/>
            </p:cNvSpPr>
            <p:nvPr/>
          </p:nvSpPr>
          <p:spPr bwMode="auto">
            <a:xfrm>
              <a:off x="3127" y="1963"/>
              <a:ext cx="102" cy="98"/>
            </a:xfrm>
            <a:custGeom>
              <a:avLst/>
              <a:gdLst/>
              <a:ahLst/>
              <a:cxnLst>
                <a:cxn ang="0">
                  <a:pos x="59" y="6"/>
                </a:cxn>
                <a:cxn ang="0">
                  <a:pos x="36" y="6"/>
                </a:cxn>
                <a:cxn ang="0">
                  <a:pos x="13" y="7"/>
                </a:cxn>
                <a:cxn ang="0">
                  <a:pos x="9" y="9"/>
                </a:cxn>
                <a:cxn ang="0">
                  <a:pos x="7" y="17"/>
                </a:cxn>
                <a:cxn ang="0">
                  <a:pos x="1" y="23"/>
                </a:cxn>
                <a:cxn ang="0">
                  <a:pos x="0" y="21"/>
                </a:cxn>
                <a:cxn ang="0">
                  <a:pos x="4" y="44"/>
                </a:cxn>
                <a:cxn ang="0">
                  <a:pos x="13" y="49"/>
                </a:cxn>
                <a:cxn ang="0">
                  <a:pos x="11" y="60"/>
                </a:cxn>
                <a:cxn ang="0">
                  <a:pos x="1" y="69"/>
                </a:cxn>
                <a:cxn ang="0">
                  <a:pos x="3" y="79"/>
                </a:cxn>
                <a:cxn ang="0">
                  <a:pos x="22" y="86"/>
                </a:cxn>
                <a:cxn ang="0">
                  <a:pos x="35" y="77"/>
                </a:cxn>
                <a:cxn ang="0">
                  <a:pos x="49" y="67"/>
                </a:cxn>
                <a:cxn ang="0">
                  <a:pos x="64" y="59"/>
                </a:cxn>
                <a:cxn ang="0">
                  <a:pos x="79" y="49"/>
                </a:cxn>
                <a:cxn ang="0">
                  <a:pos x="79" y="31"/>
                </a:cxn>
                <a:cxn ang="0">
                  <a:pos x="79" y="14"/>
                </a:cxn>
                <a:cxn ang="0">
                  <a:pos x="93" y="1"/>
                </a:cxn>
                <a:cxn ang="0">
                  <a:pos x="88" y="0"/>
                </a:cxn>
                <a:cxn ang="0">
                  <a:pos x="73" y="2"/>
                </a:cxn>
                <a:cxn ang="0">
                  <a:pos x="59" y="6"/>
                </a:cxn>
              </a:cxnLst>
              <a:rect l="0" t="0" r="r" b="b"/>
              <a:pathLst>
                <a:path w="93" h="86">
                  <a:moveTo>
                    <a:pt x="59" y="6"/>
                  </a:moveTo>
                  <a:lnTo>
                    <a:pt x="36" y="6"/>
                  </a:lnTo>
                  <a:lnTo>
                    <a:pt x="13" y="7"/>
                  </a:lnTo>
                  <a:lnTo>
                    <a:pt x="9" y="9"/>
                  </a:lnTo>
                  <a:lnTo>
                    <a:pt x="7" y="17"/>
                  </a:lnTo>
                  <a:lnTo>
                    <a:pt x="1" y="23"/>
                  </a:lnTo>
                  <a:lnTo>
                    <a:pt x="0" y="21"/>
                  </a:lnTo>
                  <a:lnTo>
                    <a:pt x="4" y="44"/>
                  </a:lnTo>
                  <a:lnTo>
                    <a:pt x="13" y="49"/>
                  </a:lnTo>
                  <a:lnTo>
                    <a:pt x="11" y="60"/>
                  </a:lnTo>
                  <a:lnTo>
                    <a:pt x="1" y="69"/>
                  </a:lnTo>
                  <a:lnTo>
                    <a:pt x="3" y="79"/>
                  </a:lnTo>
                  <a:lnTo>
                    <a:pt x="22" y="86"/>
                  </a:lnTo>
                  <a:lnTo>
                    <a:pt x="35" y="77"/>
                  </a:lnTo>
                  <a:lnTo>
                    <a:pt x="49" y="67"/>
                  </a:lnTo>
                  <a:lnTo>
                    <a:pt x="64" y="59"/>
                  </a:lnTo>
                  <a:lnTo>
                    <a:pt x="79" y="49"/>
                  </a:lnTo>
                  <a:lnTo>
                    <a:pt x="79" y="31"/>
                  </a:lnTo>
                  <a:lnTo>
                    <a:pt x="79" y="14"/>
                  </a:lnTo>
                  <a:lnTo>
                    <a:pt x="93" y="1"/>
                  </a:lnTo>
                  <a:lnTo>
                    <a:pt x="88" y="0"/>
                  </a:lnTo>
                  <a:lnTo>
                    <a:pt x="73" y="2"/>
                  </a:lnTo>
                  <a:lnTo>
                    <a:pt x="5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7" name="Freeform 296"/>
            <p:cNvSpPr>
              <a:spLocks/>
            </p:cNvSpPr>
            <p:nvPr/>
          </p:nvSpPr>
          <p:spPr bwMode="auto">
            <a:xfrm>
              <a:off x="3629" y="1874"/>
              <a:ext cx="138" cy="98"/>
            </a:xfrm>
            <a:custGeom>
              <a:avLst/>
              <a:gdLst/>
              <a:ahLst/>
              <a:cxnLst>
                <a:cxn ang="0">
                  <a:pos x="104" y="78"/>
                </a:cxn>
                <a:cxn ang="0">
                  <a:pos x="92" y="79"/>
                </a:cxn>
                <a:cxn ang="0">
                  <a:pos x="74" y="89"/>
                </a:cxn>
                <a:cxn ang="0">
                  <a:pos x="68" y="67"/>
                </a:cxn>
                <a:cxn ang="0">
                  <a:pos x="64" y="67"/>
                </a:cxn>
                <a:cxn ang="0">
                  <a:pos x="60" y="59"/>
                </a:cxn>
                <a:cxn ang="0">
                  <a:pos x="52" y="63"/>
                </a:cxn>
                <a:cxn ang="0">
                  <a:pos x="50" y="73"/>
                </a:cxn>
                <a:cxn ang="0">
                  <a:pos x="39" y="78"/>
                </a:cxn>
                <a:cxn ang="0">
                  <a:pos x="36" y="82"/>
                </a:cxn>
                <a:cxn ang="0">
                  <a:pos x="26" y="82"/>
                </a:cxn>
                <a:cxn ang="0">
                  <a:pos x="18" y="83"/>
                </a:cxn>
                <a:cxn ang="0">
                  <a:pos x="13" y="81"/>
                </a:cxn>
                <a:cxn ang="0">
                  <a:pos x="16" y="69"/>
                </a:cxn>
                <a:cxn ang="0">
                  <a:pos x="20" y="57"/>
                </a:cxn>
                <a:cxn ang="0">
                  <a:pos x="16" y="51"/>
                </a:cxn>
                <a:cxn ang="0">
                  <a:pos x="6" y="45"/>
                </a:cxn>
                <a:cxn ang="0">
                  <a:pos x="0" y="37"/>
                </a:cxn>
                <a:cxn ang="0">
                  <a:pos x="14" y="23"/>
                </a:cxn>
                <a:cxn ang="0">
                  <a:pos x="30" y="10"/>
                </a:cxn>
                <a:cxn ang="0">
                  <a:pos x="40" y="0"/>
                </a:cxn>
                <a:cxn ang="0">
                  <a:pos x="61" y="3"/>
                </a:cxn>
                <a:cxn ang="0">
                  <a:pos x="76" y="12"/>
                </a:cxn>
                <a:cxn ang="0">
                  <a:pos x="58" y="18"/>
                </a:cxn>
                <a:cxn ang="0">
                  <a:pos x="40" y="24"/>
                </a:cxn>
                <a:cxn ang="0">
                  <a:pos x="42" y="36"/>
                </a:cxn>
                <a:cxn ang="0">
                  <a:pos x="67" y="40"/>
                </a:cxn>
                <a:cxn ang="0">
                  <a:pos x="92" y="42"/>
                </a:cxn>
                <a:cxn ang="0">
                  <a:pos x="100" y="57"/>
                </a:cxn>
                <a:cxn ang="0">
                  <a:pos x="115" y="58"/>
                </a:cxn>
                <a:cxn ang="0">
                  <a:pos x="123" y="79"/>
                </a:cxn>
                <a:cxn ang="0">
                  <a:pos x="122" y="81"/>
                </a:cxn>
                <a:cxn ang="0">
                  <a:pos x="109" y="79"/>
                </a:cxn>
                <a:cxn ang="0">
                  <a:pos x="104" y="78"/>
                </a:cxn>
              </a:cxnLst>
              <a:rect l="0" t="0" r="r" b="b"/>
              <a:pathLst>
                <a:path w="123" h="89">
                  <a:moveTo>
                    <a:pt x="104" y="78"/>
                  </a:moveTo>
                  <a:lnTo>
                    <a:pt x="92" y="79"/>
                  </a:lnTo>
                  <a:lnTo>
                    <a:pt x="74" y="89"/>
                  </a:lnTo>
                  <a:lnTo>
                    <a:pt x="68" y="67"/>
                  </a:lnTo>
                  <a:lnTo>
                    <a:pt x="64" y="67"/>
                  </a:lnTo>
                  <a:lnTo>
                    <a:pt x="60" y="59"/>
                  </a:lnTo>
                  <a:lnTo>
                    <a:pt x="52" y="63"/>
                  </a:lnTo>
                  <a:lnTo>
                    <a:pt x="50" y="73"/>
                  </a:lnTo>
                  <a:lnTo>
                    <a:pt x="39" y="78"/>
                  </a:lnTo>
                  <a:lnTo>
                    <a:pt x="36" y="82"/>
                  </a:lnTo>
                  <a:lnTo>
                    <a:pt x="26" y="82"/>
                  </a:lnTo>
                  <a:lnTo>
                    <a:pt x="18" y="83"/>
                  </a:lnTo>
                  <a:lnTo>
                    <a:pt x="13" y="81"/>
                  </a:lnTo>
                  <a:lnTo>
                    <a:pt x="16" y="69"/>
                  </a:lnTo>
                  <a:lnTo>
                    <a:pt x="20" y="57"/>
                  </a:lnTo>
                  <a:lnTo>
                    <a:pt x="16" y="51"/>
                  </a:lnTo>
                  <a:lnTo>
                    <a:pt x="6" y="45"/>
                  </a:lnTo>
                  <a:lnTo>
                    <a:pt x="0" y="37"/>
                  </a:lnTo>
                  <a:lnTo>
                    <a:pt x="14" y="23"/>
                  </a:lnTo>
                  <a:lnTo>
                    <a:pt x="30" y="10"/>
                  </a:lnTo>
                  <a:lnTo>
                    <a:pt x="40" y="0"/>
                  </a:lnTo>
                  <a:lnTo>
                    <a:pt x="61" y="3"/>
                  </a:lnTo>
                  <a:lnTo>
                    <a:pt x="76" y="12"/>
                  </a:lnTo>
                  <a:lnTo>
                    <a:pt x="58" y="18"/>
                  </a:lnTo>
                  <a:lnTo>
                    <a:pt x="40" y="24"/>
                  </a:lnTo>
                  <a:lnTo>
                    <a:pt x="42" y="36"/>
                  </a:lnTo>
                  <a:lnTo>
                    <a:pt x="67" y="40"/>
                  </a:lnTo>
                  <a:lnTo>
                    <a:pt x="92" y="42"/>
                  </a:lnTo>
                  <a:lnTo>
                    <a:pt x="100" y="57"/>
                  </a:lnTo>
                  <a:lnTo>
                    <a:pt x="115" y="58"/>
                  </a:lnTo>
                  <a:lnTo>
                    <a:pt x="123" y="79"/>
                  </a:lnTo>
                  <a:lnTo>
                    <a:pt x="122" y="81"/>
                  </a:lnTo>
                  <a:lnTo>
                    <a:pt x="109" y="79"/>
                  </a:lnTo>
                  <a:lnTo>
                    <a:pt x="104" y="7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8" name="Freeform 297"/>
            <p:cNvSpPr>
              <a:spLocks/>
            </p:cNvSpPr>
            <p:nvPr/>
          </p:nvSpPr>
          <p:spPr bwMode="auto">
            <a:xfrm>
              <a:off x="3415" y="1790"/>
              <a:ext cx="258" cy="173"/>
            </a:xfrm>
            <a:custGeom>
              <a:avLst/>
              <a:gdLst/>
              <a:ahLst/>
              <a:cxnLst>
                <a:cxn ang="0">
                  <a:pos x="165" y="132"/>
                </a:cxn>
                <a:cxn ang="0">
                  <a:pos x="140" y="116"/>
                </a:cxn>
                <a:cxn ang="0">
                  <a:pos x="115" y="101"/>
                </a:cxn>
                <a:cxn ang="0">
                  <a:pos x="102" y="93"/>
                </a:cxn>
                <a:cxn ang="0">
                  <a:pos x="83" y="86"/>
                </a:cxn>
                <a:cxn ang="0">
                  <a:pos x="71" y="68"/>
                </a:cxn>
                <a:cxn ang="0">
                  <a:pos x="51" y="55"/>
                </a:cxn>
                <a:cxn ang="0">
                  <a:pos x="39" y="68"/>
                </a:cxn>
                <a:cxn ang="0">
                  <a:pos x="32" y="72"/>
                </a:cxn>
                <a:cxn ang="0">
                  <a:pos x="36" y="81"/>
                </a:cxn>
                <a:cxn ang="0">
                  <a:pos x="15" y="78"/>
                </a:cxn>
                <a:cxn ang="0">
                  <a:pos x="12" y="61"/>
                </a:cxn>
                <a:cxn ang="0">
                  <a:pos x="7" y="45"/>
                </a:cxn>
                <a:cxn ang="0">
                  <a:pos x="3" y="30"/>
                </a:cxn>
                <a:cxn ang="0">
                  <a:pos x="0" y="13"/>
                </a:cxn>
                <a:cxn ang="0">
                  <a:pos x="18" y="7"/>
                </a:cxn>
                <a:cxn ang="0">
                  <a:pos x="35" y="0"/>
                </a:cxn>
                <a:cxn ang="0">
                  <a:pos x="54" y="11"/>
                </a:cxn>
                <a:cxn ang="0">
                  <a:pos x="73" y="20"/>
                </a:cxn>
                <a:cxn ang="0">
                  <a:pos x="87" y="37"/>
                </a:cxn>
                <a:cxn ang="0">
                  <a:pos x="103" y="38"/>
                </a:cxn>
                <a:cxn ang="0">
                  <a:pos x="117" y="39"/>
                </a:cxn>
                <a:cxn ang="0">
                  <a:pos x="133" y="41"/>
                </a:cxn>
                <a:cxn ang="0">
                  <a:pos x="149" y="42"/>
                </a:cxn>
                <a:cxn ang="0">
                  <a:pos x="164" y="53"/>
                </a:cxn>
                <a:cxn ang="0">
                  <a:pos x="165" y="67"/>
                </a:cxn>
                <a:cxn ang="0">
                  <a:pos x="180" y="74"/>
                </a:cxn>
                <a:cxn ang="0">
                  <a:pos x="193" y="81"/>
                </a:cxn>
                <a:cxn ang="0">
                  <a:pos x="207" y="72"/>
                </a:cxn>
                <a:cxn ang="0">
                  <a:pos x="221" y="61"/>
                </a:cxn>
                <a:cxn ang="0">
                  <a:pos x="231" y="74"/>
                </a:cxn>
                <a:cxn ang="0">
                  <a:pos x="221" y="84"/>
                </a:cxn>
                <a:cxn ang="0">
                  <a:pos x="205" y="97"/>
                </a:cxn>
                <a:cxn ang="0">
                  <a:pos x="191" y="111"/>
                </a:cxn>
                <a:cxn ang="0">
                  <a:pos x="197" y="119"/>
                </a:cxn>
                <a:cxn ang="0">
                  <a:pos x="207" y="125"/>
                </a:cxn>
                <a:cxn ang="0">
                  <a:pos x="211" y="131"/>
                </a:cxn>
                <a:cxn ang="0">
                  <a:pos x="207" y="143"/>
                </a:cxn>
                <a:cxn ang="0">
                  <a:pos x="204" y="155"/>
                </a:cxn>
                <a:cxn ang="0">
                  <a:pos x="189" y="152"/>
                </a:cxn>
                <a:cxn ang="0">
                  <a:pos x="175" y="150"/>
                </a:cxn>
                <a:cxn ang="0">
                  <a:pos x="165" y="132"/>
                </a:cxn>
              </a:cxnLst>
              <a:rect l="0" t="0" r="r" b="b"/>
              <a:pathLst>
                <a:path w="231" h="155">
                  <a:moveTo>
                    <a:pt x="165" y="132"/>
                  </a:moveTo>
                  <a:lnTo>
                    <a:pt x="140" y="116"/>
                  </a:lnTo>
                  <a:lnTo>
                    <a:pt x="115" y="101"/>
                  </a:lnTo>
                  <a:lnTo>
                    <a:pt x="102" y="93"/>
                  </a:lnTo>
                  <a:lnTo>
                    <a:pt x="83" y="86"/>
                  </a:lnTo>
                  <a:lnTo>
                    <a:pt x="71" y="68"/>
                  </a:lnTo>
                  <a:lnTo>
                    <a:pt x="51" y="55"/>
                  </a:lnTo>
                  <a:lnTo>
                    <a:pt x="39" y="68"/>
                  </a:lnTo>
                  <a:lnTo>
                    <a:pt x="32" y="72"/>
                  </a:lnTo>
                  <a:lnTo>
                    <a:pt x="36" y="81"/>
                  </a:lnTo>
                  <a:lnTo>
                    <a:pt x="15" y="78"/>
                  </a:lnTo>
                  <a:lnTo>
                    <a:pt x="12" y="61"/>
                  </a:lnTo>
                  <a:lnTo>
                    <a:pt x="7" y="45"/>
                  </a:lnTo>
                  <a:lnTo>
                    <a:pt x="3" y="30"/>
                  </a:lnTo>
                  <a:lnTo>
                    <a:pt x="0" y="13"/>
                  </a:lnTo>
                  <a:lnTo>
                    <a:pt x="18" y="7"/>
                  </a:lnTo>
                  <a:lnTo>
                    <a:pt x="35" y="0"/>
                  </a:lnTo>
                  <a:lnTo>
                    <a:pt x="54" y="11"/>
                  </a:lnTo>
                  <a:lnTo>
                    <a:pt x="73" y="20"/>
                  </a:lnTo>
                  <a:lnTo>
                    <a:pt x="87" y="37"/>
                  </a:lnTo>
                  <a:lnTo>
                    <a:pt x="103" y="38"/>
                  </a:lnTo>
                  <a:lnTo>
                    <a:pt x="117" y="39"/>
                  </a:lnTo>
                  <a:lnTo>
                    <a:pt x="133" y="41"/>
                  </a:lnTo>
                  <a:lnTo>
                    <a:pt x="149" y="42"/>
                  </a:lnTo>
                  <a:lnTo>
                    <a:pt x="164" y="53"/>
                  </a:lnTo>
                  <a:lnTo>
                    <a:pt x="165" y="67"/>
                  </a:lnTo>
                  <a:lnTo>
                    <a:pt x="180" y="74"/>
                  </a:lnTo>
                  <a:lnTo>
                    <a:pt x="193" y="81"/>
                  </a:lnTo>
                  <a:lnTo>
                    <a:pt x="207" y="72"/>
                  </a:lnTo>
                  <a:lnTo>
                    <a:pt x="221" y="61"/>
                  </a:lnTo>
                  <a:lnTo>
                    <a:pt x="231" y="74"/>
                  </a:lnTo>
                  <a:lnTo>
                    <a:pt x="221" y="84"/>
                  </a:lnTo>
                  <a:lnTo>
                    <a:pt x="205" y="97"/>
                  </a:lnTo>
                  <a:lnTo>
                    <a:pt x="191" y="111"/>
                  </a:lnTo>
                  <a:lnTo>
                    <a:pt x="197" y="119"/>
                  </a:lnTo>
                  <a:lnTo>
                    <a:pt x="207" y="125"/>
                  </a:lnTo>
                  <a:lnTo>
                    <a:pt x="211" y="131"/>
                  </a:lnTo>
                  <a:lnTo>
                    <a:pt x="207" y="143"/>
                  </a:lnTo>
                  <a:lnTo>
                    <a:pt x="204" y="155"/>
                  </a:lnTo>
                  <a:lnTo>
                    <a:pt x="189" y="152"/>
                  </a:lnTo>
                  <a:lnTo>
                    <a:pt x="175" y="150"/>
                  </a:lnTo>
                  <a:lnTo>
                    <a:pt x="165" y="1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299" name="Freeform 298"/>
            <p:cNvSpPr>
              <a:spLocks/>
            </p:cNvSpPr>
            <p:nvPr/>
          </p:nvSpPr>
          <p:spPr bwMode="auto">
            <a:xfrm>
              <a:off x="2860" y="1861"/>
              <a:ext cx="40" cy="29"/>
            </a:xfrm>
            <a:custGeom>
              <a:avLst/>
              <a:gdLst/>
              <a:ahLst/>
              <a:cxnLst>
                <a:cxn ang="0">
                  <a:pos x="10" y="27"/>
                </a:cxn>
                <a:cxn ang="0">
                  <a:pos x="0" y="9"/>
                </a:cxn>
                <a:cxn ang="0">
                  <a:pos x="3" y="8"/>
                </a:cxn>
                <a:cxn ang="0">
                  <a:pos x="3" y="5"/>
                </a:cxn>
                <a:cxn ang="0">
                  <a:pos x="8" y="4"/>
                </a:cxn>
                <a:cxn ang="0">
                  <a:pos x="11" y="5"/>
                </a:cxn>
                <a:cxn ang="0">
                  <a:pos x="14" y="2"/>
                </a:cxn>
                <a:cxn ang="0">
                  <a:pos x="16" y="3"/>
                </a:cxn>
                <a:cxn ang="0">
                  <a:pos x="18" y="3"/>
                </a:cxn>
                <a:cxn ang="0">
                  <a:pos x="21" y="2"/>
                </a:cxn>
                <a:cxn ang="0">
                  <a:pos x="26" y="0"/>
                </a:cxn>
                <a:cxn ang="0">
                  <a:pos x="29" y="4"/>
                </a:cxn>
                <a:cxn ang="0">
                  <a:pos x="32" y="3"/>
                </a:cxn>
                <a:cxn ang="0">
                  <a:pos x="34" y="5"/>
                </a:cxn>
                <a:cxn ang="0">
                  <a:pos x="36" y="18"/>
                </a:cxn>
                <a:cxn ang="0">
                  <a:pos x="10" y="27"/>
                </a:cxn>
              </a:cxnLst>
              <a:rect l="0" t="0" r="r" b="b"/>
              <a:pathLst>
                <a:path w="36" h="27">
                  <a:moveTo>
                    <a:pt x="10" y="27"/>
                  </a:moveTo>
                  <a:lnTo>
                    <a:pt x="0" y="9"/>
                  </a:lnTo>
                  <a:lnTo>
                    <a:pt x="3" y="8"/>
                  </a:lnTo>
                  <a:lnTo>
                    <a:pt x="3" y="5"/>
                  </a:lnTo>
                  <a:lnTo>
                    <a:pt x="8" y="4"/>
                  </a:lnTo>
                  <a:lnTo>
                    <a:pt x="11" y="5"/>
                  </a:lnTo>
                  <a:lnTo>
                    <a:pt x="14" y="2"/>
                  </a:lnTo>
                  <a:lnTo>
                    <a:pt x="16" y="3"/>
                  </a:lnTo>
                  <a:lnTo>
                    <a:pt x="18" y="3"/>
                  </a:lnTo>
                  <a:lnTo>
                    <a:pt x="21" y="2"/>
                  </a:lnTo>
                  <a:lnTo>
                    <a:pt x="26" y="0"/>
                  </a:lnTo>
                  <a:lnTo>
                    <a:pt x="29" y="4"/>
                  </a:lnTo>
                  <a:lnTo>
                    <a:pt x="32" y="3"/>
                  </a:lnTo>
                  <a:lnTo>
                    <a:pt x="34" y="5"/>
                  </a:lnTo>
                  <a:lnTo>
                    <a:pt x="36" y="18"/>
                  </a:lnTo>
                  <a:lnTo>
                    <a:pt x="1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0" name="Freeform 299"/>
            <p:cNvSpPr>
              <a:spLocks/>
            </p:cNvSpPr>
            <p:nvPr/>
          </p:nvSpPr>
          <p:spPr bwMode="auto">
            <a:xfrm>
              <a:off x="2889" y="1823"/>
              <a:ext cx="98" cy="58"/>
            </a:xfrm>
            <a:custGeom>
              <a:avLst/>
              <a:gdLst/>
              <a:ahLst/>
              <a:cxnLst>
                <a:cxn ang="0">
                  <a:pos x="5" y="5"/>
                </a:cxn>
                <a:cxn ang="0">
                  <a:pos x="1" y="0"/>
                </a:cxn>
                <a:cxn ang="0">
                  <a:pos x="0" y="11"/>
                </a:cxn>
                <a:cxn ang="0">
                  <a:pos x="6" y="20"/>
                </a:cxn>
                <a:cxn ang="0">
                  <a:pos x="0" y="30"/>
                </a:cxn>
                <a:cxn ang="0">
                  <a:pos x="5" y="36"/>
                </a:cxn>
                <a:cxn ang="0">
                  <a:pos x="7" y="38"/>
                </a:cxn>
                <a:cxn ang="0">
                  <a:pos x="9" y="51"/>
                </a:cxn>
                <a:cxn ang="0">
                  <a:pos x="25" y="49"/>
                </a:cxn>
                <a:cxn ang="0">
                  <a:pos x="50" y="51"/>
                </a:cxn>
                <a:cxn ang="0">
                  <a:pos x="56" y="47"/>
                </a:cxn>
                <a:cxn ang="0">
                  <a:pos x="59" y="44"/>
                </a:cxn>
                <a:cxn ang="0">
                  <a:pos x="61" y="41"/>
                </a:cxn>
                <a:cxn ang="0">
                  <a:pos x="83" y="39"/>
                </a:cxn>
                <a:cxn ang="0">
                  <a:pos x="77" y="32"/>
                </a:cxn>
                <a:cxn ang="0">
                  <a:pos x="79" y="25"/>
                </a:cxn>
                <a:cxn ang="0">
                  <a:pos x="83" y="14"/>
                </a:cxn>
                <a:cxn ang="0">
                  <a:pos x="86" y="8"/>
                </a:cxn>
                <a:cxn ang="0">
                  <a:pos x="59" y="2"/>
                </a:cxn>
                <a:cxn ang="0">
                  <a:pos x="37" y="9"/>
                </a:cxn>
                <a:cxn ang="0">
                  <a:pos x="20" y="7"/>
                </a:cxn>
                <a:cxn ang="0">
                  <a:pos x="5" y="5"/>
                </a:cxn>
              </a:cxnLst>
              <a:rect l="0" t="0" r="r" b="b"/>
              <a:pathLst>
                <a:path w="86" h="51">
                  <a:moveTo>
                    <a:pt x="5" y="5"/>
                  </a:moveTo>
                  <a:lnTo>
                    <a:pt x="1" y="0"/>
                  </a:lnTo>
                  <a:lnTo>
                    <a:pt x="0" y="11"/>
                  </a:lnTo>
                  <a:lnTo>
                    <a:pt x="6" y="20"/>
                  </a:lnTo>
                  <a:lnTo>
                    <a:pt x="0" y="30"/>
                  </a:lnTo>
                  <a:lnTo>
                    <a:pt x="5" y="36"/>
                  </a:lnTo>
                  <a:lnTo>
                    <a:pt x="7" y="38"/>
                  </a:lnTo>
                  <a:lnTo>
                    <a:pt x="9" y="51"/>
                  </a:lnTo>
                  <a:lnTo>
                    <a:pt x="25" y="49"/>
                  </a:lnTo>
                  <a:lnTo>
                    <a:pt x="50" y="51"/>
                  </a:lnTo>
                  <a:lnTo>
                    <a:pt x="56" y="47"/>
                  </a:lnTo>
                  <a:lnTo>
                    <a:pt x="59" y="44"/>
                  </a:lnTo>
                  <a:lnTo>
                    <a:pt x="61" y="41"/>
                  </a:lnTo>
                  <a:lnTo>
                    <a:pt x="83" y="39"/>
                  </a:lnTo>
                  <a:lnTo>
                    <a:pt x="77" y="32"/>
                  </a:lnTo>
                  <a:lnTo>
                    <a:pt x="79" y="25"/>
                  </a:lnTo>
                  <a:lnTo>
                    <a:pt x="83" y="14"/>
                  </a:lnTo>
                  <a:lnTo>
                    <a:pt x="86" y="8"/>
                  </a:lnTo>
                  <a:lnTo>
                    <a:pt x="59" y="2"/>
                  </a:lnTo>
                  <a:lnTo>
                    <a:pt x="37" y="9"/>
                  </a:lnTo>
                  <a:lnTo>
                    <a:pt x="20" y="7"/>
                  </a:lnTo>
                  <a:lnTo>
                    <a:pt x="5"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1" name="Freeform 300"/>
            <p:cNvSpPr>
              <a:spLocks/>
            </p:cNvSpPr>
            <p:nvPr/>
          </p:nvSpPr>
          <p:spPr bwMode="auto">
            <a:xfrm>
              <a:off x="2842" y="1856"/>
              <a:ext cx="29" cy="58"/>
            </a:xfrm>
            <a:custGeom>
              <a:avLst/>
              <a:gdLst/>
              <a:ahLst/>
              <a:cxnLst>
                <a:cxn ang="0">
                  <a:pos x="0" y="12"/>
                </a:cxn>
                <a:cxn ang="0">
                  <a:pos x="2" y="36"/>
                </a:cxn>
                <a:cxn ang="0">
                  <a:pos x="13" y="50"/>
                </a:cxn>
                <a:cxn ang="0">
                  <a:pos x="17" y="45"/>
                </a:cxn>
                <a:cxn ang="0">
                  <a:pos x="25" y="31"/>
                </a:cxn>
                <a:cxn ang="0">
                  <a:pos x="25" y="30"/>
                </a:cxn>
                <a:cxn ang="0">
                  <a:pos x="15" y="12"/>
                </a:cxn>
                <a:cxn ang="0">
                  <a:pos x="11" y="2"/>
                </a:cxn>
                <a:cxn ang="0">
                  <a:pos x="2" y="0"/>
                </a:cxn>
                <a:cxn ang="0">
                  <a:pos x="0" y="12"/>
                </a:cxn>
              </a:cxnLst>
              <a:rect l="0" t="0" r="r" b="b"/>
              <a:pathLst>
                <a:path w="25" h="50">
                  <a:moveTo>
                    <a:pt x="0" y="12"/>
                  </a:moveTo>
                  <a:lnTo>
                    <a:pt x="2" y="36"/>
                  </a:lnTo>
                  <a:lnTo>
                    <a:pt x="13" y="50"/>
                  </a:lnTo>
                  <a:lnTo>
                    <a:pt x="17" y="45"/>
                  </a:lnTo>
                  <a:lnTo>
                    <a:pt x="25" y="31"/>
                  </a:lnTo>
                  <a:lnTo>
                    <a:pt x="25" y="30"/>
                  </a:lnTo>
                  <a:lnTo>
                    <a:pt x="15" y="12"/>
                  </a:lnTo>
                  <a:lnTo>
                    <a:pt x="11" y="2"/>
                  </a:lnTo>
                  <a:lnTo>
                    <a:pt x="2" y="0"/>
                  </a:lnTo>
                  <a:lnTo>
                    <a:pt x="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2" name="Freeform 301"/>
            <p:cNvSpPr>
              <a:spLocks/>
            </p:cNvSpPr>
            <p:nvPr/>
          </p:nvSpPr>
          <p:spPr bwMode="auto">
            <a:xfrm>
              <a:off x="3220" y="1876"/>
              <a:ext cx="75" cy="51"/>
            </a:xfrm>
            <a:custGeom>
              <a:avLst/>
              <a:gdLst/>
              <a:ahLst/>
              <a:cxnLst>
                <a:cxn ang="0">
                  <a:pos x="10" y="7"/>
                </a:cxn>
                <a:cxn ang="0">
                  <a:pos x="0" y="0"/>
                </a:cxn>
                <a:cxn ang="0">
                  <a:pos x="22" y="0"/>
                </a:cxn>
                <a:cxn ang="0">
                  <a:pos x="44" y="1"/>
                </a:cxn>
                <a:cxn ang="0">
                  <a:pos x="58" y="2"/>
                </a:cxn>
                <a:cxn ang="0">
                  <a:pos x="57" y="19"/>
                </a:cxn>
                <a:cxn ang="0">
                  <a:pos x="63" y="21"/>
                </a:cxn>
                <a:cxn ang="0">
                  <a:pos x="58" y="27"/>
                </a:cxn>
                <a:cxn ang="0">
                  <a:pos x="69" y="43"/>
                </a:cxn>
                <a:cxn ang="0">
                  <a:pos x="63" y="45"/>
                </a:cxn>
                <a:cxn ang="0">
                  <a:pos x="58" y="42"/>
                </a:cxn>
                <a:cxn ang="0">
                  <a:pos x="57" y="39"/>
                </a:cxn>
                <a:cxn ang="0">
                  <a:pos x="53" y="37"/>
                </a:cxn>
                <a:cxn ang="0">
                  <a:pos x="50" y="37"/>
                </a:cxn>
                <a:cxn ang="0">
                  <a:pos x="46" y="36"/>
                </a:cxn>
                <a:cxn ang="0">
                  <a:pos x="41" y="33"/>
                </a:cxn>
                <a:cxn ang="0">
                  <a:pos x="35" y="33"/>
                </a:cxn>
                <a:cxn ang="0">
                  <a:pos x="22" y="27"/>
                </a:cxn>
                <a:cxn ang="0">
                  <a:pos x="16" y="18"/>
                </a:cxn>
                <a:cxn ang="0">
                  <a:pos x="10" y="7"/>
                </a:cxn>
              </a:cxnLst>
              <a:rect l="0" t="0" r="r" b="b"/>
              <a:pathLst>
                <a:path w="69" h="45">
                  <a:moveTo>
                    <a:pt x="10" y="7"/>
                  </a:moveTo>
                  <a:lnTo>
                    <a:pt x="0" y="0"/>
                  </a:lnTo>
                  <a:lnTo>
                    <a:pt x="22" y="0"/>
                  </a:lnTo>
                  <a:lnTo>
                    <a:pt x="44" y="1"/>
                  </a:lnTo>
                  <a:lnTo>
                    <a:pt x="58" y="2"/>
                  </a:lnTo>
                  <a:lnTo>
                    <a:pt x="57" y="19"/>
                  </a:lnTo>
                  <a:lnTo>
                    <a:pt x="63" y="21"/>
                  </a:lnTo>
                  <a:lnTo>
                    <a:pt x="58" y="27"/>
                  </a:lnTo>
                  <a:lnTo>
                    <a:pt x="69" y="43"/>
                  </a:lnTo>
                  <a:lnTo>
                    <a:pt x="63" y="45"/>
                  </a:lnTo>
                  <a:lnTo>
                    <a:pt x="58" y="42"/>
                  </a:lnTo>
                  <a:lnTo>
                    <a:pt x="57" y="39"/>
                  </a:lnTo>
                  <a:lnTo>
                    <a:pt x="53" y="37"/>
                  </a:lnTo>
                  <a:lnTo>
                    <a:pt x="50" y="37"/>
                  </a:lnTo>
                  <a:lnTo>
                    <a:pt x="46" y="36"/>
                  </a:lnTo>
                  <a:lnTo>
                    <a:pt x="41" y="33"/>
                  </a:lnTo>
                  <a:lnTo>
                    <a:pt x="35" y="33"/>
                  </a:lnTo>
                  <a:lnTo>
                    <a:pt x="22" y="27"/>
                  </a:lnTo>
                  <a:lnTo>
                    <a:pt x="16" y="18"/>
                  </a:lnTo>
                  <a:lnTo>
                    <a:pt x="10"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3" name="Freeform 302"/>
            <p:cNvSpPr>
              <a:spLocks/>
            </p:cNvSpPr>
            <p:nvPr/>
          </p:nvSpPr>
          <p:spPr bwMode="auto">
            <a:xfrm>
              <a:off x="3282" y="1870"/>
              <a:ext cx="67" cy="69"/>
            </a:xfrm>
            <a:custGeom>
              <a:avLst/>
              <a:gdLst/>
              <a:ahLst/>
              <a:cxnLst>
                <a:cxn ang="0">
                  <a:pos x="12" y="49"/>
                </a:cxn>
                <a:cxn ang="0">
                  <a:pos x="1" y="33"/>
                </a:cxn>
                <a:cxn ang="0">
                  <a:pos x="6" y="27"/>
                </a:cxn>
                <a:cxn ang="0">
                  <a:pos x="0" y="25"/>
                </a:cxn>
                <a:cxn ang="0">
                  <a:pos x="1" y="8"/>
                </a:cxn>
                <a:cxn ang="0">
                  <a:pos x="6" y="0"/>
                </a:cxn>
                <a:cxn ang="0">
                  <a:pos x="30" y="4"/>
                </a:cxn>
                <a:cxn ang="0">
                  <a:pos x="38" y="15"/>
                </a:cxn>
                <a:cxn ang="0">
                  <a:pos x="59" y="27"/>
                </a:cxn>
                <a:cxn ang="0">
                  <a:pos x="49" y="30"/>
                </a:cxn>
                <a:cxn ang="0">
                  <a:pos x="44" y="50"/>
                </a:cxn>
                <a:cxn ang="0">
                  <a:pos x="43" y="62"/>
                </a:cxn>
                <a:cxn ang="0">
                  <a:pos x="30" y="52"/>
                </a:cxn>
                <a:cxn ang="0">
                  <a:pos x="31" y="49"/>
                </a:cxn>
                <a:cxn ang="0">
                  <a:pos x="26" y="39"/>
                </a:cxn>
                <a:cxn ang="0">
                  <a:pos x="12" y="49"/>
                </a:cxn>
              </a:cxnLst>
              <a:rect l="0" t="0" r="r" b="b"/>
              <a:pathLst>
                <a:path w="59" h="62">
                  <a:moveTo>
                    <a:pt x="12" y="49"/>
                  </a:moveTo>
                  <a:lnTo>
                    <a:pt x="1" y="33"/>
                  </a:lnTo>
                  <a:lnTo>
                    <a:pt x="6" y="27"/>
                  </a:lnTo>
                  <a:lnTo>
                    <a:pt x="0" y="25"/>
                  </a:lnTo>
                  <a:lnTo>
                    <a:pt x="1" y="8"/>
                  </a:lnTo>
                  <a:lnTo>
                    <a:pt x="6" y="0"/>
                  </a:lnTo>
                  <a:lnTo>
                    <a:pt x="30" y="4"/>
                  </a:lnTo>
                  <a:lnTo>
                    <a:pt x="38" y="15"/>
                  </a:lnTo>
                  <a:lnTo>
                    <a:pt x="59" y="27"/>
                  </a:lnTo>
                  <a:lnTo>
                    <a:pt x="49" y="30"/>
                  </a:lnTo>
                  <a:lnTo>
                    <a:pt x="44" y="50"/>
                  </a:lnTo>
                  <a:lnTo>
                    <a:pt x="43" y="62"/>
                  </a:lnTo>
                  <a:lnTo>
                    <a:pt x="30" y="52"/>
                  </a:lnTo>
                  <a:lnTo>
                    <a:pt x="31" y="49"/>
                  </a:lnTo>
                  <a:lnTo>
                    <a:pt x="26" y="39"/>
                  </a:lnTo>
                  <a:lnTo>
                    <a:pt x="12"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4" name="Freeform 303"/>
            <p:cNvSpPr>
              <a:spLocks/>
            </p:cNvSpPr>
            <p:nvPr/>
          </p:nvSpPr>
          <p:spPr bwMode="auto">
            <a:xfrm>
              <a:off x="3260" y="1914"/>
              <a:ext cx="29" cy="16"/>
            </a:xfrm>
            <a:custGeom>
              <a:avLst/>
              <a:gdLst/>
              <a:ahLst/>
              <a:cxnLst>
                <a:cxn ang="0">
                  <a:pos x="28" y="12"/>
                </a:cxn>
                <a:cxn ang="0">
                  <a:pos x="22" y="15"/>
                </a:cxn>
                <a:cxn ang="0">
                  <a:pos x="4" y="5"/>
                </a:cxn>
                <a:cxn ang="0">
                  <a:pos x="1" y="1"/>
                </a:cxn>
                <a:cxn ang="0">
                  <a:pos x="0" y="0"/>
                </a:cxn>
                <a:cxn ang="0">
                  <a:pos x="6" y="0"/>
                </a:cxn>
                <a:cxn ang="0">
                  <a:pos x="11" y="3"/>
                </a:cxn>
                <a:cxn ang="0">
                  <a:pos x="15" y="4"/>
                </a:cxn>
                <a:cxn ang="0">
                  <a:pos x="18" y="4"/>
                </a:cxn>
                <a:cxn ang="0">
                  <a:pos x="22" y="6"/>
                </a:cxn>
                <a:cxn ang="0">
                  <a:pos x="23" y="9"/>
                </a:cxn>
                <a:cxn ang="0">
                  <a:pos x="28" y="12"/>
                </a:cxn>
              </a:cxnLst>
              <a:rect l="0" t="0" r="r" b="b"/>
              <a:pathLst>
                <a:path w="28" h="15">
                  <a:moveTo>
                    <a:pt x="28" y="12"/>
                  </a:moveTo>
                  <a:lnTo>
                    <a:pt x="22" y="15"/>
                  </a:lnTo>
                  <a:lnTo>
                    <a:pt x="4" y="5"/>
                  </a:lnTo>
                  <a:lnTo>
                    <a:pt x="1" y="1"/>
                  </a:lnTo>
                  <a:lnTo>
                    <a:pt x="0" y="0"/>
                  </a:lnTo>
                  <a:lnTo>
                    <a:pt x="6" y="0"/>
                  </a:lnTo>
                  <a:lnTo>
                    <a:pt x="11" y="3"/>
                  </a:lnTo>
                  <a:lnTo>
                    <a:pt x="15" y="4"/>
                  </a:lnTo>
                  <a:lnTo>
                    <a:pt x="18" y="4"/>
                  </a:lnTo>
                  <a:lnTo>
                    <a:pt x="22" y="6"/>
                  </a:lnTo>
                  <a:lnTo>
                    <a:pt x="23" y="9"/>
                  </a:lnTo>
                  <a:lnTo>
                    <a:pt x="2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5" name="Freeform 304"/>
            <p:cNvSpPr>
              <a:spLocks/>
            </p:cNvSpPr>
            <p:nvPr/>
          </p:nvSpPr>
          <p:spPr bwMode="auto">
            <a:xfrm>
              <a:off x="2858" y="1874"/>
              <a:ext cx="102" cy="102"/>
            </a:xfrm>
            <a:custGeom>
              <a:avLst/>
              <a:gdLst/>
              <a:ahLst/>
              <a:cxnLst>
                <a:cxn ang="0">
                  <a:pos x="17" y="49"/>
                </a:cxn>
                <a:cxn ang="0">
                  <a:pos x="7" y="45"/>
                </a:cxn>
                <a:cxn ang="0">
                  <a:pos x="0" y="36"/>
                </a:cxn>
                <a:cxn ang="0">
                  <a:pos x="4" y="31"/>
                </a:cxn>
                <a:cxn ang="0">
                  <a:pos x="12" y="17"/>
                </a:cxn>
                <a:cxn ang="0">
                  <a:pos x="12" y="16"/>
                </a:cxn>
                <a:cxn ang="0">
                  <a:pos x="38" y="7"/>
                </a:cxn>
                <a:cxn ang="0">
                  <a:pos x="54" y="5"/>
                </a:cxn>
                <a:cxn ang="0">
                  <a:pos x="79" y="7"/>
                </a:cxn>
                <a:cxn ang="0">
                  <a:pos x="85" y="3"/>
                </a:cxn>
                <a:cxn ang="0">
                  <a:pos x="88" y="0"/>
                </a:cxn>
                <a:cxn ang="0">
                  <a:pos x="91" y="7"/>
                </a:cxn>
                <a:cxn ang="0">
                  <a:pos x="85" y="18"/>
                </a:cxn>
                <a:cxn ang="0">
                  <a:pos x="68" y="15"/>
                </a:cxn>
                <a:cxn ang="0">
                  <a:pos x="53" y="19"/>
                </a:cxn>
                <a:cxn ang="0">
                  <a:pos x="60" y="27"/>
                </a:cxn>
                <a:cxn ang="0">
                  <a:pos x="53" y="28"/>
                </a:cxn>
                <a:cxn ang="0">
                  <a:pos x="54" y="30"/>
                </a:cxn>
                <a:cxn ang="0">
                  <a:pos x="48" y="29"/>
                </a:cxn>
                <a:cxn ang="0">
                  <a:pos x="52" y="33"/>
                </a:cxn>
                <a:cxn ang="0">
                  <a:pos x="41" y="22"/>
                </a:cxn>
                <a:cxn ang="0">
                  <a:pos x="37" y="24"/>
                </a:cxn>
                <a:cxn ang="0">
                  <a:pos x="43" y="40"/>
                </a:cxn>
                <a:cxn ang="0">
                  <a:pos x="47" y="47"/>
                </a:cxn>
                <a:cxn ang="0">
                  <a:pos x="41" y="45"/>
                </a:cxn>
                <a:cxn ang="0">
                  <a:pos x="43" y="51"/>
                </a:cxn>
                <a:cxn ang="0">
                  <a:pos x="40" y="52"/>
                </a:cxn>
                <a:cxn ang="0">
                  <a:pos x="60" y="65"/>
                </a:cxn>
                <a:cxn ang="0">
                  <a:pos x="59" y="71"/>
                </a:cxn>
                <a:cxn ang="0">
                  <a:pos x="52" y="67"/>
                </a:cxn>
                <a:cxn ang="0">
                  <a:pos x="48" y="70"/>
                </a:cxn>
                <a:cxn ang="0">
                  <a:pos x="52" y="77"/>
                </a:cxn>
                <a:cxn ang="0">
                  <a:pos x="43" y="77"/>
                </a:cxn>
                <a:cxn ang="0">
                  <a:pos x="48" y="94"/>
                </a:cxn>
                <a:cxn ang="0">
                  <a:pos x="41" y="90"/>
                </a:cxn>
                <a:cxn ang="0">
                  <a:pos x="38" y="94"/>
                </a:cxn>
                <a:cxn ang="0">
                  <a:pos x="31" y="85"/>
                </a:cxn>
                <a:cxn ang="0">
                  <a:pos x="29" y="89"/>
                </a:cxn>
                <a:cxn ang="0">
                  <a:pos x="22" y="73"/>
                </a:cxn>
                <a:cxn ang="0">
                  <a:pos x="20" y="66"/>
                </a:cxn>
                <a:cxn ang="0">
                  <a:pos x="32" y="63"/>
                </a:cxn>
                <a:cxn ang="0">
                  <a:pos x="46" y="66"/>
                </a:cxn>
                <a:cxn ang="0">
                  <a:pos x="46" y="63"/>
                </a:cxn>
                <a:cxn ang="0">
                  <a:pos x="37" y="59"/>
                </a:cxn>
                <a:cxn ang="0">
                  <a:pos x="20" y="58"/>
                </a:cxn>
                <a:cxn ang="0">
                  <a:pos x="17" y="59"/>
                </a:cxn>
                <a:cxn ang="0">
                  <a:pos x="13" y="51"/>
                </a:cxn>
                <a:cxn ang="0">
                  <a:pos x="17" y="49"/>
                </a:cxn>
              </a:cxnLst>
              <a:rect l="0" t="0" r="r" b="b"/>
              <a:pathLst>
                <a:path w="91" h="94">
                  <a:moveTo>
                    <a:pt x="17" y="49"/>
                  </a:moveTo>
                  <a:lnTo>
                    <a:pt x="7" y="45"/>
                  </a:lnTo>
                  <a:lnTo>
                    <a:pt x="0" y="36"/>
                  </a:lnTo>
                  <a:lnTo>
                    <a:pt x="4" y="31"/>
                  </a:lnTo>
                  <a:lnTo>
                    <a:pt x="12" y="17"/>
                  </a:lnTo>
                  <a:lnTo>
                    <a:pt x="12" y="16"/>
                  </a:lnTo>
                  <a:lnTo>
                    <a:pt x="38" y="7"/>
                  </a:lnTo>
                  <a:lnTo>
                    <a:pt x="54" y="5"/>
                  </a:lnTo>
                  <a:lnTo>
                    <a:pt x="79" y="7"/>
                  </a:lnTo>
                  <a:lnTo>
                    <a:pt x="85" y="3"/>
                  </a:lnTo>
                  <a:lnTo>
                    <a:pt x="88" y="0"/>
                  </a:lnTo>
                  <a:lnTo>
                    <a:pt x="91" y="7"/>
                  </a:lnTo>
                  <a:lnTo>
                    <a:pt x="85" y="18"/>
                  </a:lnTo>
                  <a:lnTo>
                    <a:pt x="68" y="15"/>
                  </a:lnTo>
                  <a:lnTo>
                    <a:pt x="53" y="19"/>
                  </a:lnTo>
                  <a:lnTo>
                    <a:pt x="60" y="27"/>
                  </a:lnTo>
                  <a:lnTo>
                    <a:pt x="53" y="28"/>
                  </a:lnTo>
                  <a:lnTo>
                    <a:pt x="54" y="30"/>
                  </a:lnTo>
                  <a:lnTo>
                    <a:pt x="48" y="29"/>
                  </a:lnTo>
                  <a:lnTo>
                    <a:pt x="52" y="33"/>
                  </a:lnTo>
                  <a:lnTo>
                    <a:pt x="41" y="22"/>
                  </a:lnTo>
                  <a:lnTo>
                    <a:pt x="37" y="24"/>
                  </a:lnTo>
                  <a:lnTo>
                    <a:pt x="43" y="40"/>
                  </a:lnTo>
                  <a:lnTo>
                    <a:pt x="47" y="47"/>
                  </a:lnTo>
                  <a:lnTo>
                    <a:pt x="41" y="45"/>
                  </a:lnTo>
                  <a:lnTo>
                    <a:pt x="43" y="51"/>
                  </a:lnTo>
                  <a:lnTo>
                    <a:pt x="40" y="52"/>
                  </a:lnTo>
                  <a:lnTo>
                    <a:pt x="60" y="65"/>
                  </a:lnTo>
                  <a:lnTo>
                    <a:pt x="59" y="71"/>
                  </a:lnTo>
                  <a:lnTo>
                    <a:pt x="52" y="67"/>
                  </a:lnTo>
                  <a:lnTo>
                    <a:pt x="48" y="70"/>
                  </a:lnTo>
                  <a:lnTo>
                    <a:pt x="52" y="77"/>
                  </a:lnTo>
                  <a:lnTo>
                    <a:pt x="43" y="77"/>
                  </a:lnTo>
                  <a:lnTo>
                    <a:pt x="48" y="94"/>
                  </a:lnTo>
                  <a:lnTo>
                    <a:pt x="41" y="90"/>
                  </a:lnTo>
                  <a:lnTo>
                    <a:pt x="38" y="94"/>
                  </a:lnTo>
                  <a:lnTo>
                    <a:pt x="31" y="85"/>
                  </a:lnTo>
                  <a:lnTo>
                    <a:pt x="29" y="89"/>
                  </a:lnTo>
                  <a:lnTo>
                    <a:pt x="22" y="73"/>
                  </a:lnTo>
                  <a:lnTo>
                    <a:pt x="20" y="66"/>
                  </a:lnTo>
                  <a:lnTo>
                    <a:pt x="32" y="63"/>
                  </a:lnTo>
                  <a:lnTo>
                    <a:pt x="46" y="66"/>
                  </a:lnTo>
                  <a:lnTo>
                    <a:pt x="46" y="63"/>
                  </a:lnTo>
                  <a:lnTo>
                    <a:pt x="37" y="59"/>
                  </a:lnTo>
                  <a:lnTo>
                    <a:pt x="20" y="58"/>
                  </a:lnTo>
                  <a:lnTo>
                    <a:pt x="17" y="59"/>
                  </a:lnTo>
                  <a:lnTo>
                    <a:pt x="13" y="51"/>
                  </a:lnTo>
                  <a:lnTo>
                    <a:pt x="17" y="4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6" name="Freeform 305"/>
            <p:cNvSpPr>
              <a:spLocks/>
            </p:cNvSpPr>
            <p:nvPr/>
          </p:nvSpPr>
          <p:spPr bwMode="auto">
            <a:xfrm>
              <a:off x="2922" y="1996"/>
              <a:ext cx="47" cy="11"/>
            </a:xfrm>
            <a:custGeom>
              <a:avLst/>
              <a:gdLst/>
              <a:ahLst/>
              <a:cxnLst>
                <a:cxn ang="0">
                  <a:pos x="31" y="4"/>
                </a:cxn>
                <a:cxn ang="0">
                  <a:pos x="8" y="0"/>
                </a:cxn>
                <a:cxn ang="0">
                  <a:pos x="1" y="0"/>
                </a:cxn>
                <a:cxn ang="0">
                  <a:pos x="0" y="6"/>
                </a:cxn>
                <a:cxn ang="0">
                  <a:pos x="14" y="8"/>
                </a:cxn>
                <a:cxn ang="0">
                  <a:pos x="29" y="9"/>
                </a:cxn>
                <a:cxn ang="0">
                  <a:pos x="41" y="6"/>
                </a:cxn>
                <a:cxn ang="0">
                  <a:pos x="31" y="4"/>
                </a:cxn>
              </a:cxnLst>
              <a:rect l="0" t="0" r="r" b="b"/>
              <a:pathLst>
                <a:path w="41" h="9">
                  <a:moveTo>
                    <a:pt x="31" y="4"/>
                  </a:moveTo>
                  <a:lnTo>
                    <a:pt x="8" y="0"/>
                  </a:lnTo>
                  <a:lnTo>
                    <a:pt x="1" y="0"/>
                  </a:lnTo>
                  <a:lnTo>
                    <a:pt x="0" y="6"/>
                  </a:lnTo>
                  <a:lnTo>
                    <a:pt x="14" y="8"/>
                  </a:lnTo>
                  <a:lnTo>
                    <a:pt x="29" y="9"/>
                  </a:lnTo>
                  <a:lnTo>
                    <a:pt x="41" y="6"/>
                  </a:lnTo>
                  <a:lnTo>
                    <a:pt x="3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7" name="Freeform 306"/>
            <p:cNvSpPr>
              <a:spLocks/>
            </p:cNvSpPr>
            <p:nvPr/>
          </p:nvSpPr>
          <p:spPr bwMode="auto">
            <a:xfrm>
              <a:off x="2907" y="1927"/>
              <a:ext cx="26" cy="18"/>
            </a:xfrm>
            <a:custGeom>
              <a:avLst/>
              <a:gdLst/>
              <a:ahLst/>
              <a:cxnLst>
                <a:cxn ang="0">
                  <a:pos x="24" y="16"/>
                </a:cxn>
                <a:cxn ang="0">
                  <a:pos x="11" y="4"/>
                </a:cxn>
                <a:cxn ang="0">
                  <a:pos x="0" y="0"/>
                </a:cxn>
                <a:cxn ang="0">
                  <a:pos x="12" y="8"/>
                </a:cxn>
                <a:cxn ang="0">
                  <a:pos x="24" y="16"/>
                </a:cxn>
              </a:cxnLst>
              <a:rect l="0" t="0" r="r" b="b"/>
              <a:pathLst>
                <a:path w="24" h="16">
                  <a:moveTo>
                    <a:pt x="24" y="16"/>
                  </a:moveTo>
                  <a:lnTo>
                    <a:pt x="11" y="4"/>
                  </a:lnTo>
                  <a:lnTo>
                    <a:pt x="0" y="0"/>
                  </a:lnTo>
                  <a:lnTo>
                    <a:pt x="12" y="8"/>
                  </a:lnTo>
                  <a:lnTo>
                    <a:pt x="24"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8" name="Freeform 307"/>
            <p:cNvSpPr>
              <a:spLocks/>
            </p:cNvSpPr>
            <p:nvPr/>
          </p:nvSpPr>
          <p:spPr bwMode="auto">
            <a:xfrm>
              <a:off x="2953" y="1921"/>
              <a:ext cx="11" cy="4"/>
            </a:xfrm>
            <a:custGeom>
              <a:avLst/>
              <a:gdLst/>
              <a:ahLst/>
              <a:cxnLst>
                <a:cxn ang="0">
                  <a:pos x="10" y="4"/>
                </a:cxn>
                <a:cxn ang="0">
                  <a:pos x="4" y="3"/>
                </a:cxn>
                <a:cxn ang="0">
                  <a:pos x="0" y="0"/>
                </a:cxn>
                <a:cxn ang="0">
                  <a:pos x="9" y="2"/>
                </a:cxn>
                <a:cxn ang="0">
                  <a:pos x="10" y="4"/>
                </a:cxn>
              </a:cxnLst>
              <a:rect l="0" t="0" r="r" b="b"/>
              <a:pathLst>
                <a:path w="10" h="4">
                  <a:moveTo>
                    <a:pt x="10" y="4"/>
                  </a:moveTo>
                  <a:lnTo>
                    <a:pt x="4" y="3"/>
                  </a:lnTo>
                  <a:lnTo>
                    <a:pt x="0" y="0"/>
                  </a:lnTo>
                  <a:lnTo>
                    <a:pt x="9" y="2"/>
                  </a:lnTo>
                  <a:lnTo>
                    <a:pt x="1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09" name="Freeform 308"/>
            <p:cNvSpPr>
              <a:spLocks/>
            </p:cNvSpPr>
            <p:nvPr/>
          </p:nvSpPr>
          <p:spPr bwMode="auto">
            <a:xfrm>
              <a:off x="2867" y="1941"/>
              <a:ext cx="4" cy="2"/>
            </a:xfrm>
            <a:custGeom>
              <a:avLst/>
              <a:gdLst/>
              <a:ahLst/>
              <a:cxnLst>
                <a:cxn ang="0">
                  <a:pos x="0" y="0"/>
                </a:cxn>
                <a:cxn ang="0">
                  <a:pos x="5" y="4"/>
                </a:cxn>
                <a:cxn ang="0">
                  <a:pos x="1" y="4"/>
                </a:cxn>
                <a:cxn ang="0">
                  <a:pos x="0" y="0"/>
                </a:cxn>
              </a:cxnLst>
              <a:rect l="0" t="0" r="r" b="b"/>
              <a:pathLst>
                <a:path w="5" h="4">
                  <a:moveTo>
                    <a:pt x="0" y="0"/>
                  </a:moveTo>
                  <a:lnTo>
                    <a:pt x="5" y="4"/>
                  </a:lnTo>
                  <a:lnTo>
                    <a:pt x="1" y="4"/>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0" name="Freeform 309"/>
            <p:cNvSpPr>
              <a:spLocks/>
            </p:cNvSpPr>
            <p:nvPr/>
          </p:nvSpPr>
          <p:spPr bwMode="auto">
            <a:xfrm>
              <a:off x="2956" y="1936"/>
              <a:ext cx="4" cy="5"/>
            </a:xfrm>
            <a:custGeom>
              <a:avLst/>
              <a:gdLst/>
              <a:ahLst/>
              <a:cxnLst>
                <a:cxn ang="0">
                  <a:pos x="3" y="0"/>
                </a:cxn>
                <a:cxn ang="0">
                  <a:pos x="2" y="4"/>
                </a:cxn>
                <a:cxn ang="0">
                  <a:pos x="0" y="1"/>
                </a:cxn>
                <a:cxn ang="0">
                  <a:pos x="3" y="0"/>
                </a:cxn>
              </a:cxnLst>
              <a:rect l="0" t="0" r="r" b="b"/>
              <a:pathLst>
                <a:path w="3" h="4">
                  <a:moveTo>
                    <a:pt x="3" y="0"/>
                  </a:moveTo>
                  <a:lnTo>
                    <a:pt x="2" y="4"/>
                  </a:lnTo>
                  <a:lnTo>
                    <a:pt x="0" y="1"/>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1" name="Freeform 310"/>
            <p:cNvSpPr>
              <a:spLocks/>
            </p:cNvSpPr>
            <p:nvPr/>
          </p:nvSpPr>
          <p:spPr bwMode="auto">
            <a:xfrm>
              <a:off x="2640" y="1770"/>
              <a:ext cx="189" cy="180"/>
            </a:xfrm>
            <a:custGeom>
              <a:avLst/>
              <a:gdLst/>
              <a:ahLst/>
              <a:cxnLst>
                <a:cxn ang="0">
                  <a:pos x="96" y="7"/>
                </a:cxn>
                <a:cxn ang="0">
                  <a:pos x="75" y="0"/>
                </a:cxn>
                <a:cxn ang="0">
                  <a:pos x="59" y="2"/>
                </a:cxn>
                <a:cxn ang="0">
                  <a:pos x="51" y="1"/>
                </a:cxn>
                <a:cxn ang="0">
                  <a:pos x="51" y="2"/>
                </a:cxn>
                <a:cxn ang="0">
                  <a:pos x="47" y="6"/>
                </a:cxn>
                <a:cxn ang="0">
                  <a:pos x="45" y="11"/>
                </a:cxn>
                <a:cxn ang="0">
                  <a:pos x="34" y="11"/>
                </a:cxn>
                <a:cxn ang="0">
                  <a:pos x="29" y="18"/>
                </a:cxn>
                <a:cxn ang="0">
                  <a:pos x="19" y="11"/>
                </a:cxn>
                <a:cxn ang="0">
                  <a:pos x="11" y="17"/>
                </a:cxn>
                <a:cxn ang="0">
                  <a:pos x="3" y="18"/>
                </a:cxn>
                <a:cxn ang="0">
                  <a:pos x="3" y="25"/>
                </a:cxn>
                <a:cxn ang="0">
                  <a:pos x="0" y="32"/>
                </a:cxn>
                <a:cxn ang="0">
                  <a:pos x="0" y="37"/>
                </a:cxn>
                <a:cxn ang="0">
                  <a:pos x="1" y="43"/>
                </a:cxn>
                <a:cxn ang="0">
                  <a:pos x="11" y="49"/>
                </a:cxn>
                <a:cxn ang="0">
                  <a:pos x="11" y="56"/>
                </a:cxn>
                <a:cxn ang="0">
                  <a:pos x="24" y="47"/>
                </a:cxn>
                <a:cxn ang="0">
                  <a:pos x="43" y="50"/>
                </a:cxn>
                <a:cxn ang="0">
                  <a:pos x="54" y="68"/>
                </a:cxn>
                <a:cxn ang="0">
                  <a:pos x="67" y="80"/>
                </a:cxn>
                <a:cxn ang="0">
                  <a:pos x="81" y="92"/>
                </a:cxn>
                <a:cxn ang="0">
                  <a:pos x="84" y="95"/>
                </a:cxn>
                <a:cxn ang="0">
                  <a:pos x="85" y="95"/>
                </a:cxn>
                <a:cxn ang="0">
                  <a:pos x="96" y="99"/>
                </a:cxn>
                <a:cxn ang="0">
                  <a:pos x="114" y="111"/>
                </a:cxn>
                <a:cxn ang="0">
                  <a:pos x="123" y="116"/>
                </a:cxn>
                <a:cxn ang="0">
                  <a:pos x="130" y="122"/>
                </a:cxn>
                <a:cxn ang="0">
                  <a:pos x="139" y="140"/>
                </a:cxn>
                <a:cxn ang="0">
                  <a:pos x="133" y="156"/>
                </a:cxn>
                <a:cxn ang="0">
                  <a:pos x="141" y="161"/>
                </a:cxn>
                <a:cxn ang="0">
                  <a:pos x="147" y="149"/>
                </a:cxn>
                <a:cxn ang="0">
                  <a:pos x="153" y="141"/>
                </a:cxn>
                <a:cxn ang="0">
                  <a:pos x="155" y="138"/>
                </a:cxn>
                <a:cxn ang="0">
                  <a:pos x="147" y="129"/>
                </a:cxn>
                <a:cxn ang="0">
                  <a:pos x="150" y="115"/>
                </a:cxn>
                <a:cxn ang="0">
                  <a:pos x="159" y="117"/>
                </a:cxn>
                <a:cxn ang="0">
                  <a:pos x="169" y="126"/>
                </a:cxn>
                <a:cxn ang="0">
                  <a:pos x="172" y="117"/>
                </a:cxn>
                <a:cxn ang="0">
                  <a:pos x="154" y="108"/>
                </a:cxn>
                <a:cxn ang="0">
                  <a:pos x="135" y="97"/>
                </a:cxn>
                <a:cxn ang="0">
                  <a:pos x="137" y="91"/>
                </a:cxn>
                <a:cxn ang="0">
                  <a:pos x="132" y="89"/>
                </a:cxn>
                <a:cxn ang="0">
                  <a:pos x="113" y="84"/>
                </a:cxn>
                <a:cxn ang="0">
                  <a:pos x="106" y="72"/>
                </a:cxn>
                <a:cxn ang="0">
                  <a:pos x="99" y="61"/>
                </a:cxn>
                <a:cxn ang="0">
                  <a:pos x="84" y="53"/>
                </a:cxn>
                <a:cxn ang="0">
                  <a:pos x="79" y="38"/>
                </a:cxn>
                <a:cxn ang="0">
                  <a:pos x="77" y="30"/>
                </a:cxn>
                <a:cxn ang="0">
                  <a:pos x="89" y="21"/>
                </a:cxn>
                <a:cxn ang="0">
                  <a:pos x="97" y="24"/>
                </a:cxn>
                <a:cxn ang="0">
                  <a:pos x="94" y="13"/>
                </a:cxn>
                <a:cxn ang="0">
                  <a:pos x="96" y="7"/>
                </a:cxn>
                <a:cxn ang="0">
                  <a:pos x="82" y="53"/>
                </a:cxn>
                <a:cxn ang="0">
                  <a:pos x="81" y="53"/>
                </a:cxn>
                <a:cxn ang="0">
                  <a:pos x="81" y="54"/>
                </a:cxn>
                <a:cxn ang="0">
                  <a:pos x="82" y="54"/>
                </a:cxn>
                <a:cxn ang="0">
                  <a:pos x="82" y="53"/>
                </a:cxn>
                <a:cxn ang="0">
                  <a:pos x="96" y="7"/>
                </a:cxn>
                <a:cxn ang="0">
                  <a:pos x="85" y="93"/>
                </a:cxn>
                <a:cxn ang="0">
                  <a:pos x="96" y="7"/>
                </a:cxn>
              </a:cxnLst>
              <a:rect l="0" t="0" r="r" b="b"/>
              <a:pathLst>
                <a:path w="172" h="161">
                  <a:moveTo>
                    <a:pt x="96" y="7"/>
                  </a:moveTo>
                  <a:lnTo>
                    <a:pt x="75" y="0"/>
                  </a:lnTo>
                  <a:lnTo>
                    <a:pt x="59" y="2"/>
                  </a:lnTo>
                  <a:lnTo>
                    <a:pt x="51" y="1"/>
                  </a:lnTo>
                  <a:lnTo>
                    <a:pt x="51" y="2"/>
                  </a:lnTo>
                  <a:lnTo>
                    <a:pt x="47" y="6"/>
                  </a:lnTo>
                  <a:lnTo>
                    <a:pt x="45" y="11"/>
                  </a:lnTo>
                  <a:lnTo>
                    <a:pt x="34" y="11"/>
                  </a:lnTo>
                  <a:lnTo>
                    <a:pt x="29" y="18"/>
                  </a:lnTo>
                  <a:lnTo>
                    <a:pt x="19" y="11"/>
                  </a:lnTo>
                  <a:lnTo>
                    <a:pt x="11" y="17"/>
                  </a:lnTo>
                  <a:lnTo>
                    <a:pt x="3" y="18"/>
                  </a:lnTo>
                  <a:lnTo>
                    <a:pt x="3" y="25"/>
                  </a:lnTo>
                  <a:lnTo>
                    <a:pt x="0" y="32"/>
                  </a:lnTo>
                  <a:lnTo>
                    <a:pt x="0" y="37"/>
                  </a:lnTo>
                  <a:lnTo>
                    <a:pt x="1" y="43"/>
                  </a:lnTo>
                  <a:lnTo>
                    <a:pt x="11" y="49"/>
                  </a:lnTo>
                  <a:lnTo>
                    <a:pt x="11" y="56"/>
                  </a:lnTo>
                  <a:lnTo>
                    <a:pt x="24" y="47"/>
                  </a:lnTo>
                  <a:lnTo>
                    <a:pt x="43" y="50"/>
                  </a:lnTo>
                  <a:lnTo>
                    <a:pt x="54" y="68"/>
                  </a:lnTo>
                  <a:lnTo>
                    <a:pt x="67" y="80"/>
                  </a:lnTo>
                  <a:lnTo>
                    <a:pt x="81" y="92"/>
                  </a:lnTo>
                  <a:lnTo>
                    <a:pt x="84" y="95"/>
                  </a:lnTo>
                  <a:lnTo>
                    <a:pt x="85" y="95"/>
                  </a:lnTo>
                  <a:lnTo>
                    <a:pt x="96" y="99"/>
                  </a:lnTo>
                  <a:lnTo>
                    <a:pt x="114" y="111"/>
                  </a:lnTo>
                  <a:lnTo>
                    <a:pt x="123" y="116"/>
                  </a:lnTo>
                  <a:lnTo>
                    <a:pt x="130" y="122"/>
                  </a:lnTo>
                  <a:lnTo>
                    <a:pt x="139" y="140"/>
                  </a:lnTo>
                  <a:lnTo>
                    <a:pt x="133" y="156"/>
                  </a:lnTo>
                  <a:lnTo>
                    <a:pt x="141" y="161"/>
                  </a:lnTo>
                  <a:lnTo>
                    <a:pt x="147" y="149"/>
                  </a:lnTo>
                  <a:lnTo>
                    <a:pt x="153" y="141"/>
                  </a:lnTo>
                  <a:lnTo>
                    <a:pt x="155" y="138"/>
                  </a:lnTo>
                  <a:lnTo>
                    <a:pt x="147" y="129"/>
                  </a:lnTo>
                  <a:lnTo>
                    <a:pt x="150" y="115"/>
                  </a:lnTo>
                  <a:lnTo>
                    <a:pt x="159" y="117"/>
                  </a:lnTo>
                  <a:lnTo>
                    <a:pt x="169" y="126"/>
                  </a:lnTo>
                  <a:lnTo>
                    <a:pt x="172" y="117"/>
                  </a:lnTo>
                  <a:lnTo>
                    <a:pt x="154" y="108"/>
                  </a:lnTo>
                  <a:lnTo>
                    <a:pt x="135" y="97"/>
                  </a:lnTo>
                  <a:lnTo>
                    <a:pt x="137" y="91"/>
                  </a:lnTo>
                  <a:lnTo>
                    <a:pt x="132" y="89"/>
                  </a:lnTo>
                  <a:lnTo>
                    <a:pt x="113" y="84"/>
                  </a:lnTo>
                  <a:lnTo>
                    <a:pt x="106" y="72"/>
                  </a:lnTo>
                  <a:lnTo>
                    <a:pt x="99" y="61"/>
                  </a:lnTo>
                  <a:lnTo>
                    <a:pt x="84" y="53"/>
                  </a:lnTo>
                  <a:lnTo>
                    <a:pt x="79" y="38"/>
                  </a:lnTo>
                  <a:lnTo>
                    <a:pt x="77" y="30"/>
                  </a:lnTo>
                  <a:lnTo>
                    <a:pt x="89" y="21"/>
                  </a:lnTo>
                  <a:lnTo>
                    <a:pt x="97" y="24"/>
                  </a:lnTo>
                  <a:lnTo>
                    <a:pt x="94" y="13"/>
                  </a:lnTo>
                  <a:lnTo>
                    <a:pt x="96" y="7"/>
                  </a:lnTo>
                  <a:lnTo>
                    <a:pt x="82" y="53"/>
                  </a:lnTo>
                  <a:lnTo>
                    <a:pt x="81" y="53"/>
                  </a:lnTo>
                  <a:lnTo>
                    <a:pt x="81" y="54"/>
                  </a:lnTo>
                  <a:lnTo>
                    <a:pt x="82" y="54"/>
                  </a:lnTo>
                  <a:lnTo>
                    <a:pt x="82" y="53"/>
                  </a:lnTo>
                  <a:lnTo>
                    <a:pt x="96" y="7"/>
                  </a:lnTo>
                  <a:lnTo>
                    <a:pt x="85" y="93"/>
                  </a:lnTo>
                  <a:lnTo>
                    <a:pt x="96" y="7"/>
                  </a:lnTo>
                  <a:close/>
                </a:path>
              </a:pathLst>
            </a:custGeom>
            <a:grpFill/>
            <a:ln w="3175" cmpd="sng">
              <a:solidFill>
                <a:srgbClr val="EBF2F9"/>
              </a:solidFill>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2" name="Freeform 311"/>
            <p:cNvSpPr>
              <a:spLocks/>
            </p:cNvSpPr>
            <p:nvPr/>
          </p:nvSpPr>
          <p:spPr bwMode="auto">
            <a:xfrm>
              <a:off x="2640" y="1770"/>
              <a:ext cx="189" cy="180"/>
            </a:xfrm>
            <a:custGeom>
              <a:avLst/>
              <a:gdLst/>
              <a:ahLst/>
              <a:cxnLst>
                <a:cxn ang="0">
                  <a:pos x="96" y="7"/>
                </a:cxn>
                <a:cxn ang="0">
                  <a:pos x="75" y="0"/>
                </a:cxn>
                <a:cxn ang="0">
                  <a:pos x="59" y="2"/>
                </a:cxn>
                <a:cxn ang="0">
                  <a:pos x="51" y="1"/>
                </a:cxn>
                <a:cxn ang="0">
                  <a:pos x="51" y="2"/>
                </a:cxn>
                <a:cxn ang="0">
                  <a:pos x="47" y="6"/>
                </a:cxn>
                <a:cxn ang="0">
                  <a:pos x="45" y="11"/>
                </a:cxn>
                <a:cxn ang="0">
                  <a:pos x="34" y="11"/>
                </a:cxn>
                <a:cxn ang="0">
                  <a:pos x="29" y="18"/>
                </a:cxn>
                <a:cxn ang="0">
                  <a:pos x="19" y="11"/>
                </a:cxn>
                <a:cxn ang="0">
                  <a:pos x="11" y="17"/>
                </a:cxn>
                <a:cxn ang="0">
                  <a:pos x="3" y="18"/>
                </a:cxn>
                <a:cxn ang="0">
                  <a:pos x="3" y="25"/>
                </a:cxn>
                <a:cxn ang="0">
                  <a:pos x="0" y="32"/>
                </a:cxn>
                <a:cxn ang="0">
                  <a:pos x="0" y="37"/>
                </a:cxn>
                <a:cxn ang="0">
                  <a:pos x="1" y="43"/>
                </a:cxn>
                <a:cxn ang="0">
                  <a:pos x="11" y="49"/>
                </a:cxn>
                <a:cxn ang="0">
                  <a:pos x="11" y="56"/>
                </a:cxn>
                <a:cxn ang="0">
                  <a:pos x="24" y="47"/>
                </a:cxn>
                <a:cxn ang="0">
                  <a:pos x="43" y="50"/>
                </a:cxn>
                <a:cxn ang="0">
                  <a:pos x="54" y="68"/>
                </a:cxn>
                <a:cxn ang="0">
                  <a:pos x="67" y="80"/>
                </a:cxn>
                <a:cxn ang="0">
                  <a:pos x="81" y="92"/>
                </a:cxn>
                <a:cxn ang="0">
                  <a:pos x="84" y="95"/>
                </a:cxn>
                <a:cxn ang="0">
                  <a:pos x="85" y="95"/>
                </a:cxn>
                <a:cxn ang="0">
                  <a:pos x="96" y="99"/>
                </a:cxn>
                <a:cxn ang="0">
                  <a:pos x="114" y="111"/>
                </a:cxn>
                <a:cxn ang="0">
                  <a:pos x="123" y="116"/>
                </a:cxn>
                <a:cxn ang="0">
                  <a:pos x="130" y="122"/>
                </a:cxn>
                <a:cxn ang="0">
                  <a:pos x="139" y="140"/>
                </a:cxn>
                <a:cxn ang="0">
                  <a:pos x="133" y="156"/>
                </a:cxn>
                <a:cxn ang="0">
                  <a:pos x="141" y="161"/>
                </a:cxn>
                <a:cxn ang="0">
                  <a:pos x="147" y="149"/>
                </a:cxn>
                <a:cxn ang="0">
                  <a:pos x="153" y="141"/>
                </a:cxn>
                <a:cxn ang="0">
                  <a:pos x="155" y="138"/>
                </a:cxn>
                <a:cxn ang="0">
                  <a:pos x="147" y="129"/>
                </a:cxn>
                <a:cxn ang="0">
                  <a:pos x="150" y="115"/>
                </a:cxn>
                <a:cxn ang="0">
                  <a:pos x="159" y="117"/>
                </a:cxn>
                <a:cxn ang="0">
                  <a:pos x="169" y="126"/>
                </a:cxn>
                <a:cxn ang="0">
                  <a:pos x="172" y="117"/>
                </a:cxn>
                <a:cxn ang="0">
                  <a:pos x="154" y="108"/>
                </a:cxn>
                <a:cxn ang="0">
                  <a:pos x="135" y="97"/>
                </a:cxn>
                <a:cxn ang="0">
                  <a:pos x="137" y="91"/>
                </a:cxn>
                <a:cxn ang="0">
                  <a:pos x="132" y="89"/>
                </a:cxn>
                <a:cxn ang="0">
                  <a:pos x="113" y="84"/>
                </a:cxn>
                <a:cxn ang="0">
                  <a:pos x="106" y="72"/>
                </a:cxn>
                <a:cxn ang="0">
                  <a:pos x="99" y="61"/>
                </a:cxn>
                <a:cxn ang="0">
                  <a:pos x="84" y="53"/>
                </a:cxn>
                <a:cxn ang="0">
                  <a:pos x="79" y="38"/>
                </a:cxn>
                <a:cxn ang="0">
                  <a:pos x="77" y="30"/>
                </a:cxn>
                <a:cxn ang="0">
                  <a:pos x="89" y="21"/>
                </a:cxn>
                <a:cxn ang="0">
                  <a:pos x="97" y="24"/>
                </a:cxn>
                <a:cxn ang="0">
                  <a:pos x="94" y="13"/>
                </a:cxn>
                <a:cxn ang="0">
                  <a:pos x="96" y="7"/>
                </a:cxn>
              </a:cxnLst>
              <a:rect l="0" t="0" r="r" b="b"/>
              <a:pathLst>
                <a:path w="172" h="161">
                  <a:moveTo>
                    <a:pt x="96" y="7"/>
                  </a:moveTo>
                  <a:lnTo>
                    <a:pt x="75" y="0"/>
                  </a:lnTo>
                  <a:lnTo>
                    <a:pt x="59" y="2"/>
                  </a:lnTo>
                  <a:lnTo>
                    <a:pt x="51" y="1"/>
                  </a:lnTo>
                  <a:lnTo>
                    <a:pt x="51" y="2"/>
                  </a:lnTo>
                  <a:lnTo>
                    <a:pt x="47" y="6"/>
                  </a:lnTo>
                  <a:lnTo>
                    <a:pt x="45" y="11"/>
                  </a:lnTo>
                  <a:lnTo>
                    <a:pt x="34" y="11"/>
                  </a:lnTo>
                  <a:lnTo>
                    <a:pt x="29" y="18"/>
                  </a:lnTo>
                  <a:lnTo>
                    <a:pt x="19" y="11"/>
                  </a:lnTo>
                  <a:lnTo>
                    <a:pt x="11" y="17"/>
                  </a:lnTo>
                  <a:lnTo>
                    <a:pt x="3" y="18"/>
                  </a:lnTo>
                  <a:lnTo>
                    <a:pt x="3" y="25"/>
                  </a:lnTo>
                  <a:lnTo>
                    <a:pt x="0" y="32"/>
                  </a:lnTo>
                  <a:lnTo>
                    <a:pt x="0" y="37"/>
                  </a:lnTo>
                  <a:lnTo>
                    <a:pt x="1" y="43"/>
                  </a:lnTo>
                  <a:lnTo>
                    <a:pt x="11" y="49"/>
                  </a:lnTo>
                  <a:lnTo>
                    <a:pt x="11" y="56"/>
                  </a:lnTo>
                  <a:lnTo>
                    <a:pt x="24" y="47"/>
                  </a:lnTo>
                  <a:lnTo>
                    <a:pt x="43" y="50"/>
                  </a:lnTo>
                  <a:lnTo>
                    <a:pt x="54" y="68"/>
                  </a:lnTo>
                  <a:lnTo>
                    <a:pt x="67" y="80"/>
                  </a:lnTo>
                  <a:lnTo>
                    <a:pt x="81" y="92"/>
                  </a:lnTo>
                  <a:lnTo>
                    <a:pt x="84" y="95"/>
                  </a:lnTo>
                  <a:lnTo>
                    <a:pt x="85" y="95"/>
                  </a:lnTo>
                  <a:lnTo>
                    <a:pt x="96" y="99"/>
                  </a:lnTo>
                  <a:lnTo>
                    <a:pt x="114" y="111"/>
                  </a:lnTo>
                  <a:lnTo>
                    <a:pt x="123" y="116"/>
                  </a:lnTo>
                  <a:lnTo>
                    <a:pt x="130" y="122"/>
                  </a:lnTo>
                  <a:lnTo>
                    <a:pt x="139" y="140"/>
                  </a:lnTo>
                  <a:lnTo>
                    <a:pt x="133" y="156"/>
                  </a:lnTo>
                  <a:lnTo>
                    <a:pt x="141" y="161"/>
                  </a:lnTo>
                  <a:lnTo>
                    <a:pt x="147" y="149"/>
                  </a:lnTo>
                  <a:lnTo>
                    <a:pt x="153" y="141"/>
                  </a:lnTo>
                  <a:lnTo>
                    <a:pt x="155" y="138"/>
                  </a:lnTo>
                  <a:lnTo>
                    <a:pt x="147" y="129"/>
                  </a:lnTo>
                  <a:lnTo>
                    <a:pt x="150" y="115"/>
                  </a:lnTo>
                  <a:lnTo>
                    <a:pt x="159" y="117"/>
                  </a:lnTo>
                  <a:lnTo>
                    <a:pt x="169" y="126"/>
                  </a:lnTo>
                  <a:lnTo>
                    <a:pt x="172" y="117"/>
                  </a:lnTo>
                  <a:lnTo>
                    <a:pt x="154" y="108"/>
                  </a:lnTo>
                  <a:lnTo>
                    <a:pt x="135" y="97"/>
                  </a:lnTo>
                  <a:lnTo>
                    <a:pt x="137" y="91"/>
                  </a:lnTo>
                  <a:lnTo>
                    <a:pt x="132" y="89"/>
                  </a:lnTo>
                  <a:lnTo>
                    <a:pt x="113" y="84"/>
                  </a:lnTo>
                  <a:lnTo>
                    <a:pt x="106" y="72"/>
                  </a:lnTo>
                  <a:lnTo>
                    <a:pt x="99" y="61"/>
                  </a:lnTo>
                  <a:lnTo>
                    <a:pt x="84" y="53"/>
                  </a:lnTo>
                  <a:lnTo>
                    <a:pt x="79" y="38"/>
                  </a:lnTo>
                  <a:lnTo>
                    <a:pt x="77" y="30"/>
                  </a:lnTo>
                  <a:lnTo>
                    <a:pt x="89" y="21"/>
                  </a:lnTo>
                  <a:lnTo>
                    <a:pt x="97" y="24"/>
                  </a:lnTo>
                  <a:lnTo>
                    <a:pt x="94" y="13"/>
                  </a:lnTo>
                  <a:lnTo>
                    <a:pt x="96"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3" name="Rectangle 312"/>
            <p:cNvSpPr>
              <a:spLocks noChangeArrowheads="1"/>
            </p:cNvSpPr>
            <p:nvPr/>
          </p:nvSpPr>
          <p:spPr bwMode="auto">
            <a:xfrm>
              <a:off x="2729" y="1830"/>
              <a:ext cx="0" cy="0"/>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314" name="Freeform 313"/>
            <p:cNvSpPr>
              <a:spLocks/>
            </p:cNvSpPr>
            <p:nvPr/>
          </p:nvSpPr>
          <p:spPr bwMode="auto">
            <a:xfrm>
              <a:off x="2736" y="1941"/>
              <a:ext cx="51" cy="33"/>
            </a:xfrm>
            <a:custGeom>
              <a:avLst/>
              <a:gdLst/>
              <a:ahLst/>
              <a:cxnLst>
                <a:cxn ang="0">
                  <a:pos x="39" y="18"/>
                </a:cxn>
                <a:cxn ang="0">
                  <a:pos x="39" y="29"/>
                </a:cxn>
                <a:cxn ang="0">
                  <a:pos x="21" y="22"/>
                </a:cxn>
                <a:cxn ang="0">
                  <a:pos x="3" y="14"/>
                </a:cxn>
                <a:cxn ang="0">
                  <a:pos x="0" y="5"/>
                </a:cxn>
                <a:cxn ang="0">
                  <a:pos x="13" y="4"/>
                </a:cxn>
                <a:cxn ang="0">
                  <a:pos x="29" y="3"/>
                </a:cxn>
                <a:cxn ang="0">
                  <a:pos x="45" y="0"/>
                </a:cxn>
                <a:cxn ang="0">
                  <a:pos x="39" y="18"/>
                </a:cxn>
              </a:cxnLst>
              <a:rect l="0" t="0" r="r" b="b"/>
              <a:pathLst>
                <a:path w="45" h="29">
                  <a:moveTo>
                    <a:pt x="39" y="18"/>
                  </a:moveTo>
                  <a:lnTo>
                    <a:pt x="39" y="29"/>
                  </a:lnTo>
                  <a:lnTo>
                    <a:pt x="21" y="22"/>
                  </a:lnTo>
                  <a:lnTo>
                    <a:pt x="3" y="14"/>
                  </a:lnTo>
                  <a:lnTo>
                    <a:pt x="0" y="5"/>
                  </a:lnTo>
                  <a:lnTo>
                    <a:pt x="13" y="4"/>
                  </a:lnTo>
                  <a:lnTo>
                    <a:pt x="29" y="3"/>
                  </a:lnTo>
                  <a:lnTo>
                    <a:pt x="45" y="0"/>
                  </a:lnTo>
                  <a:lnTo>
                    <a:pt x="3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5" name="Freeform 314"/>
            <p:cNvSpPr>
              <a:spLocks/>
            </p:cNvSpPr>
            <p:nvPr/>
          </p:nvSpPr>
          <p:spPr bwMode="auto">
            <a:xfrm>
              <a:off x="2664" y="1883"/>
              <a:ext cx="27" cy="47"/>
            </a:xfrm>
            <a:custGeom>
              <a:avLst/>
              <a:gdLst/>
              <a:ahLst/>
              <a:cxnLst>
                <a:cxn ang="0">
                  <a:pos x="13" y="36"/>
                </a:cxn>
                <a:cxn ang="0">
                  <a:pos x="7" y="42"/>
                </a:cxn>
                <a:cxn ang="0">
                  <a:pos x="4" y="32"/>
                </a:cxn>
                <a:cxn ang="0">
                  <a:pos x="1" y="19"/>
                </a:cxn>
                <a:cxn ang="0">
                  <a:pos x="0" y="6"/>
                </a:cxn>
                <a:cxn ang="0">
                  <a:pos x="14" y="0"/>
                </a:cxn>
                <a:cxn ang="0">
                  <a:pos x="24" y="13"/>
                </a:cxn>
                <a:cxn ang="0">
                  <a:pos x="20" y="34"/>
                </a:cxn>
                <a:cxn ang="0">
                  <a:pos x="13" y="36"/>
                </a:cxn>
              </a:cxnLst>
              <a:rect l="0" t="0" r="r" b="b"/>
              <a:pathLst>
                <a:path w="24" h="42">
                  <a:moveTo>
                    <a:pt x="13" y="36"/>
                  </a:moveTo>
                  <a:lnTo>
                    <a:pt x="7" y="42"/>
                  </a:lnTo>
                  <a:lnTo>
                    <a:pt x="4" y="32"/>
                  </a:lnTo>
                  <a:lnTo>
                    <a:pt x="1" y="19"/>
                  </a:lnTo>
                  <a:lnTo>
                    <a:pt x="0" y="6"/>
                  </a:lnTo>
                  <a:lnTo>
                    <a:pt x="14" y="0"/>
                  </a:lnTo>
                  <a:lnTo>
                    <a:pt x="24" y="13"/>
                  </a:lnTo>
                  <a:lnTo>
                    <a:pt x="20" y="34"/>
                  </a:lnTo>
                  <a:lnTo>
                    <a:pt x="13" y="3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6" name="Freeform 315"/>
            <p:cNvSpPr>
              <a:spLocks/>
            </p:cNvSpPr>
            <p:nvPr/>
          </p:nvSpPr>
          <p:spPr bwMode="auto">
            <a:xfrm>
              <a:off x="2649" y="1834"/>
              <a:ext cx="2" cy="2"/>
            </a:xfrm>
            <a:custGeom>
              <a:avLst/>
              <a:gdLst/>
              <a:ahLst/>
              <a:cxnLst>
                <a:cxn ang="0">
                  <a:pos x="1" y="0"/>
                </a:cxn>
                <a:cxn ang="0">
                  <a:pos x="0" y="0"/>
                </a:cxn>
                <a:cxn ang="0">
                  <a:pos x="1" y="0"/>
                </a:cxn>
              </a:cxnLst>
              <a:rect l="0" t="0" r="r" b="b"/>
              <a:pathLst>
                <a:path w="1">
                  <a:moveTo>
                    <a:pt x="1" y="0"/>
                  </a:moveTo>
                  <a:lnTo>
                    <a:pt x="0"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7" name="Freeform 316"/>
            <p:cNvSpPr>
              <a:spLocks/>
            </p:cNvSpPr>
            <p:nvPr/>
          </p:nvSpPr>
          <p:spPr bwMode="auto">
            <a:xfrm>
              <a:off x="2960" y="1867"/>
              <a:ext cx="309" cy="123"/>
            </a:xfrm>
            <a:custGeom>
              <a:avLst/>
              <a:gdLst/>
              <a:ahLst/>
              <a:cxnLst>
                <a:cxn ang="0">
                  <a:pos x="186" y="93"/>
                </a:cxn>
                <a:cxn ang="0">
                  <a:pos x="159" y="96"/>
                </a:cxn>
                <a:cxn ang="0">
                  <a:pos x="151" y="110"/>
                </a:cxn>
                <a:cxn ang="0">
                  <a:pos x="150" y="106"/>
                </a:cxn>
                <a:cxn ang="0">
                  <a:pos x="144" y="95"/>
                </a:cxn>
                <a:cxn ang="0">
                  <a:pos x="123" y="99"/>
                </a:cxn>
                <a:cxn ang="0">
                  <a:pos x="95" y="102"/>
                </a:cxn>
                <a:cxn ang="0">
                  <a:pos x="69" y="100"/>
                </a:cxn>
                <a:cxn ang="0">
                  <a:pos x="47" y="99"/>
                </a:cxn>
                <a:cxn ang="0">
                  <a:pos x="31" y="95"/>
                </a:cxn>
                <a:cxn ang="0">
                  <a:pos x="33" y="90"/>
                </a:cxn>
                <a:cxn ang="0">
                  <a:pos x="23" y="84"/>
                </a:cxn>
                <a:cxn ang="0">
                  <a:pos x="18" y="75"/>
                </a:cxn>
                <a:cxn ang="0">
                  <a:pos x="4" y="63"/>
                </a:cxn>
                <a:cxn ang="0">
                  <a:pos x="12" y="65"/>
                </a:cxn>
                <a:cxn ang="0">
                  <a:pos x="10" y="56"/>
                </a:cxn>
                <a:cxn ang="0">
                  <a:pos x="0" y="45"/>
                </a:cxn>
                <a:cxn ang="0">
                  <a:pos x="16" y="30"/>
                </a:cxn>
                <a:cxn ang="0">
                  <a:pos x="39" y="28"/>
                </a:cxn>
                <a:cxn ang="0">
                  <a:pos x="45" y="22"/>
                </a:cxn>
                <a:cxn ang="0">
                  <a:pos x="65" y="17"/>
                </a:cxn>
                <a:cxn ang="0">
                  <a:pos x="100" y="3"/>
                </a:cxn>
                <a:cxn ang="0">
                  <a:pos x="123" y="2"/>
                </a:cxn>
                <a:cxn ang="0">
                  <a:pos x="139" y="10"/>
                </a:cxn>
                <a:cxn ang="0">
                  <a:pos x="177" y="18"/>
                </a:cxn>
                <a:cxn ang="0">
                  <a:pos x="217" y="9"/>
                </a:cxn>
                <a:cxn ang="0">
                  <a:pos x="245" y="15"/>
                </a:cxn>
                <a:cxn ang="0">
                  <a:pos x="257" y="35"/>
                </a:cxn>
                <a:cxn ang="0">
                  <a:pos x="264" y="46"/>
                </a:cxn>
                <a:cxn ang="0">
                  <a:pos x="269" y="74"/>
                </a:cxn>
                <a:cxn ang="0">
                  <a:pos x="270" y="88"/>
                </a:cxn>
                <a:cxn ang="0">
                  <a:pos x="246" y="84"/>
                </a:cxn>
                <a:cxn ang="0">
                  <a:pos x="238" y="87"/>
                </a:cxn>
                <a:cxn ang="0">
                  <a:pos x="209" y="93"/>
                </a:cxn>
              </a:cxnLst>
              <a:rect l="0" t="0" r="r" b="b"/>
              <a:pathLst>
                <a:path w="279" h="110">
                  <a:moveTo>
                    <a:pt x="209" y="93"/>
                  </a:moveTo>
                  <a:lnTo>
                    <a:pt x="186" y="93"/>
                  </a:lnTo>
                  <a:lnTo>
                    <a:pt x="163" y="94"/>
                  </a:lnTo>
                  <a:lnTo>
                    <a:pt x="159" y="96"/>
                  </a:lnTo>
                  <a:lnTo>
                    <a:pt x="157" y="104"/>
                  </a:lnTo>
                  <a:lnTo>
                    <a:pt x="151" y="110"/>
                  </a:lnTo>
                  <a:lnTo>
                    <a:pt x="150" y="108"/>
                  </a:lnTo>
                  <a:lnTo>
                    <a:pt x="150" y="106"/>
                  </a:lnTo>
                  <a:lnTo>
                    <a:pt x="151" y="92"/>
                  </a:lnTo>
                  <a:lnTo>
                    <a:pt x="144" y="95"/>
                  </a:lnTo>
                  <a:lnTo>
                    <a:pt x="135" y="95"/>
                  </a:lnTo>
                  <a:lnTo>
                    <a:pt x="123" y="99"/>
                  </a:lnTo>
                  <a:lnTo>
                    <a:pt x="107" y="106"/>
                  </a:lnTo>
                  <a:lnTo>
                    <a:pt x="95" y="102"/>
                  </a:lnTo>
                  <a:lnTo>
                    <a:pt x="71" y="93"/>
                  </a:lnTo>
                  <a:lnTo>
                    <a:pt x="69" y="100"/>
                  </a:lnTo>
                  <a:lnTo>
                    <a:pt x="61" y="104"/>
                  </a:lnTo>
                  <a:lnTo>
                    <a:pt x="47" y="99"/>
                  </a:lnTo>
                  <a:lnTo>
                    <a:pt x="40" y="94"/>
                  </a:lnTo>
                  <a:lnTo>
                    <a:pt x="31" y="95"/>
                  </a:lnTo>
                  <a:lnTo>
                    <a:pt x="24" y="95"/>
                  </a:lnTo>
                  <a:lnTo>
                    <a:pt x="33" y="90"/>
                  </a:lnTo>
                  <a:lnTo>
                    <a:pt x="22" y="89"/>
                  </a:lnTo>
                  <a:lnTo>
                    <a:pt x="23" y="84"/>
                  </a:lnTo>
                  <a:lnTo>
                    <a:pt x="16" y="78"/>
                  </a:lnTo>
                  <a:lnTo>
                    <a:pt x="18" y="75"/>
                  </a:lnTo>
                  <a:lnTo>
                    <a:pt x="5" y="69"/>
                  </a:lnTo>
                  <a:lnTo>
                    <a:pt x="4" y="63"/>
                  </a:lnTo>
                  <a:lnTo>
                    <a:pt x="7" y="63"/>
                  </a:lnTo>
                  <a:lnTo>
                    <a:pt x="12" y="65"/>
                  </a:lnTo>
                  <a:lnTo>
                    <a:pt x="10" y="58"/>
                  </a:lnTo>
                  <a:lnTo>
                    <a:pt x="10" y="56"/>
                  </a:lnTo>
                  <a:lnTo>
                    <a:pt x="9" y="46"/>
                  </a:lnTo>
                  <a:lnTo>
                    <a:pt x="0" y="45"/>
                  </a:lnTo>
                  <a:lnTo>
                    <a:pt x="1" y="33"/>
                  </a:lnTo>
                  <a:lnTo>
                    <a:pt x="16" y="30"/>
                  </a:lnTo>
                  <a:lnTo>
                    <a:pt x="21" y="27"/>
                  </a:lnTo>
                  <a:lnTo>
                    <a:pt x="39" y="28"/>
                  </a:lnTo>
                  <a:lnTo>
                    <a:pt x="49" y="23"/>
                  </a:lnTo>
                  <a:lnTo>
                    <a:pt x="45" y="22"/>
                  </a:lnTo>
                  <a:lnTo>
                    <a:pt x="37" y="16"/>
                  </a:lnTo>
                  <a:lnTo>
                    <a:pt x="65" y="17"/>
                  </a:lnTo>
                  <a:lnTo>
                    <a:pt x="85" y="4"/>
                  </a:lnTo>
                  <a:lnTo>
                    <a:pt x="100" y="3"/>
                  </a:lnTo>
                  <a:lnTo>
                    <a:pt x="114" y="0"/>
                  </a:lnTo>
                  <a:lnTo>
                    <a:pt x="123" y="2"/>
                  </a:lnTo>
                  <a:lnTo>
                    <a:pt x="133" y="6"/>
                  </a:lnTo>
                  <a:lnTo>
                    <a:pt x="139" y="10"/>
                  </a:lnTo>
                  <a:lnTo>
                    <a:pt x="159" y="15"/>
                  </a:lnTo>
                  <a:lnTo>
                    <a:pt x="177" y="18"/>
                  </a:lnTo>
                  <a:lnTo>
                    <a:pt x="196" y="20"/>
                  </a:lnTo>
                  <a:lnTo>
                    <a:pt x="217" y="9"/>
                  </a:lnTo>
                  <a:lnTo>
                    <a:pt x="235" y="8"/>
                  </a:lnTo>
                  <a:lnTo>
                    <a:pt x="245" y="15"/>
                  </a:lnTo>
                  <a:lnTo>
                    <a:pt x="251" y="26"/>
                  </a:lnTo>
                  <a:lnTo>
                    <a:pt x="257" y="35"/>
                  </a:lnTo>
                  <a:lnTo>
                    <a:pt x="270" y="41"/>
                  </a:lnTo>
                  <a:lnTo>
                    <a:pt x="264" y="46"/>
                  </a:lnTo>
                  <a:lnTo>
                    <a:pt x="265" y="56"/>
                  </a:lnTo>
                  <a:lnTo>
                    <a:pt x="269" y="74"/>
                  </a:lnTo>
                  <a:lnTo>
                    <a:pt x="279" y="87"/>
                  </a:lnTo>
                  <a:lnTo>
                    <a:pt x="270" y="88"/>
                  </a:lnTo>
                  <a:lnTo>
                    <a:pt x="267" y="84"/>
                  </a:lnTo>
                  <a:lnTo>
                    <a:pt x="246" y="84"/>
                  </a:lnTo>
                  <a:lnTo>
                    <a:pt x="243" y="88"/>
                  </a:lnTo>
                  <a:lnTo>
                    <a:pt x="238" y="87"/>
                  </a:lnTo>
                  <a:lnTo>
                    <a:pt x="223" y="89"/>
                  </a:lnTo>
                  <a:lnTo>
                    <a:pt x="209" y="9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8" name="Freeform 317"/>
            <p:cNvSpPr>
              <a:spLocks/>
            </p:cNvSpPr>
            <p:nvPr/>
          </p:nvSpPr>
          <p:spPr bwMode="auto">
            <a:xfrm>
              <a:off x="2953" y="1867"/>
              <a:ext cx="47" cy="36"/>
            </a:xfrm>
            <a:custGeom>
              <a:avLst/>
              <a:gdLst/>
              <a:ahLst/>
              <a:cxnLst>
                <a:cxn ang="0">
                  <a:pos x="5" y="2"/>
                </a:cxn>
                <a:cxn ang="0">
                  <a:pos x="3" y="5"/>
                </a:cxn>
                <a:cxn ang="0">
                  <a:pos x="6" y="12"/>
                </a:cxn>
                <a:cxn ang="0">
                  <a:pos x="0" y="23"/>
                </a:cxn>
                <a:cxn ang="0">
                  <a:pos x="10" y="24"/>
                </a:cxn>
                <a:cxn ang="0">
                  <a:pos x="5" y="33"/>
                </a:cxn>
                <a:cxn ang="0">
                  <a:pos x="21" y="21"/>
                </a:cxn>
                <a:cxn ang="0">
                  <a:pos x="43" y="17"/>
                </a:cxn>
                <a:cxn ang="0">
                  <a:pos x="36" y="12"/>
                </a:cxn>
                <a:cxn ang="0">
                  <a:pos x="27" y="0"/>
                </a:cxn>
                <a:cxn ang="0">
                  <a:pos x="5" y="2"/>
                </a:cxn>
              </a:cxnLst>
              <a:rect l="0" t="0" r="r" b="b"/>
              <a:pathLst>
                <a:path w="43" h="33">
                  <a:moveTo>
                    <a:pt x="5" y="2"/>
                  </a:moveTo>
                  <a:lnTo>
                    <a:pt x="3" y="5"/>
                  </a:lnTo>
                  <a:lnTo>
                    <a:pt x="6" y="12"/>
                  </a:lnTo>
                  <a:lnTo>
                    <a:pt x="0" y="23"/>
                  </a:lnTo>
                  <a:lnTo>
                    <a:pt x="10" y="24"/>
                  </a:lnTo>
                  <a:lnTo>
                    <a:pt x="5" y="33"/>
                  </a:lnTo>
                  <a:lnTo>
                    <a:pt x="21" y="21"/>
                  </a:lnTo>
                  <a:lnTo>
                    <a:pt x="43" y="17"/>
                  </a:lnTo>
                  <a:lnTo>
                    <a:pt x="36" y="12"/>
                  </a:lnTo>
                  <a:lnTo>
                    <a:pt x="27" y="0"/>
                  </a:lnTo>
                  <a:lnTo>
                    <a:pt x="5"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19" name="Freeform 318"/>
            <p:cNvSpPr>
              <a:spLocks/>
            </p:cNvSpPr>
            <p:nvPr/>
          </p:nvSpPr>
          <p:spPr bwMode="auto">
            <a:xfrm>
              <a:off x="2876" y="1596"/>
              <a:ext cx="137" cy="87"/>
            </a:xfrm>
            <a:custGeom>
              <a:avLst/>
              <a:gdLst/>
              <a:ahLst/>
              <a:cxnLst>
                <a:cxn ang="0">
                  <a:pos x="122" y="42"/>
                </a:cxn>
                <a:cxn ang="0">
                  <a:pos x="117" y="47"/>
                </a:cxn>
                <a:cxn ang="0">
                  <a:pos x="121" y="62"/>
                </a:cxn>
                <a:cxn ang="0">
                  <a:pos x="104" y="71"/>
                </a:cxn>
                <a:cxn ang="0">
                  <a:pos x="105" y="78"/>
                </a:cxn>
                <a:cxn ang="0">
                  <a:pos x="81" y="73"/>
                </a:cxn>
                <a:cxn ang="0">
                  <a:pos x="57" y="68"/>
                </a:cxn>
                <a:cxn ang="0">
                  <a:pos x="35" y="68"/>
                </a:cxn>
                <a:cxn ang="0">
                  <a:pos x="11" y="68"/>
                </a:cxn>
                <a:cxn ang="0">
                  <a:pos x="2" y="63"/>
                </a:cxn>
                <a:cxn ang="0">
                  <a:pos x="12" y="51"/>
                </a:cxn>
                <a:cxn ang="0">
                  <a:pos x="0" y="30"/>
                </a:cxn>
                <a:cxn ang="0">
                  <a:pos x="21" y="15"/>
                </a:cxn>
                <a:cxn ang="0">
                  <a:pos x="41" y="2"/>
                </a:cxn>
                <a:cxn ang="0">
                  <a:pos x="60" y="0"/>
                </a:cxn>
                <a:cxn ang="0">
                  <a:pos x="80" y="3"/>
                </a:cxn>
                <a:cxn ang="0">
                  <a:pos x="102" y="7"/>
                </a:cxn>
                <a:cxn ang="0">
                  <a:pos x="104" y="26"/>
                </a:cxn>
                <a:cxn ang="0">
                  <a:pos x="122" y="42"/>
                </a:cxn>
              </a:cxnLst>
              <a:rect l="0" t="0" r="r" b="b"/>
              <a:pathLst>
                <a:path w="122" h="78">
                  <a:moveTo>
                    <a:pt x="122" y="42"/>
                  </a:moveTo>
                  <a:lnTo>
                    <a:pt x="117" y="47"/>
                  </a:lnTo>
                  <a:lnTo>
                    <a:pt x="121" y="62"/>
                  </a:lnTo>
                  <a:lnTo>
                    <a:pt x="104" y="71"/>
                  </a:lnTo>
                  <a:lnTo>
                    <a:pt x="105" y="78"/>
                  </a:lnTo>
                  <a:lnTo>
                    <a:pt x="81" y="73"/>
                  </a:lnTo>
                  <a:lnTo>
                    <a:pt x="57" y="68"/>
                  </a:lnTo>
                  <a:lnTo>
                    <a:pt x="35" y="68"/>
                  </a:lnTo>
                  <a:lnTo>
                    <a:pt x="11" y="68"/>
                  </a:lnTo>
                  <a:lnTo>
                    <a:pt x="2" y="63"/>
                  </a:lnTo>
                  <a:lnTo>
                    <a:pt x="12" y="51"/>
                  </a:lnTo>
                  <a:lnTo>
                    <a:pt x="0" y="30"/>
                  </a:lnTo>
                  <a:lnTo>
                    <a:pt x="21" y="15"/>
                  </a:lnTo>
                  <a:lnTo>
                    <a:pt x="41" y="2"/>
                  </a:lnTo>
                  <a:lnTo>
                    <a:pt x="60" y="0"/>
                  </a:lnTo>
                  <a:lnTo>
                    <a:pt x="80" y="3"/>
                  </a:lnTo>
                  <a:lnTo>
                    <a:pt x="102" y="7"/>
                  </a:lnTo>
                  <a:lnTo>
                    <a:pt x="104" y="26"/>
                  </a:lnTo>
                  <a:lnTo>
                    <a:pt x="122" y="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0" name="Freeform 319"/>
            <p:cNvSpPr>
              <a:spLocks/>
            </p:cNvSpPr>
            <p:nvPr/>
          </p:nvSpPr>
          <p:spPr bwMode="auto">
            <a:xfrm>
              <a:off x="2653" y="1581"/>
              <a:ext cx="34" cy="40"/>
            </a:xfrm>
            <a:custGeom>
              <a:avLst/>
              <a:gdLst/>
              <a:ahLst/>
              <a:cxnLst>
                <a:cxn ang="0">
                  <a:pos x="18" y="31"/>
                </a:cxn>
                <a:cxn ang="0">
                  <a:pos x="17" y="36"/>
                </a:cxn>
                <a:cxn ang="0">
                  <a:pos x="6" y="34"/>
                </a:cxn>
                <a:cxn ang="0">
                  <a:pos x="4" y="31"/>
                </a:cxn>
                <a:cxn ang="0">
                  <a:pos x="0" y="23"/>
                </a:cxn>
                <a:cxn ang="0">
                  <a:pos x="0" y="6"/>
                </a:cxn>
                <a:cxn ang="0">
                  <a:pos x="7" y="5"/>
                </a:cxn>
                <a:cxn ang="0">
                  <a:pos x="10" y="6"/>
                </a:cxn>
                <a:cxn ang="0">
                  <a:pos x="11" y="3"/>
                </a:cxn>
                <a:cxn ang="0">
                  <a:pos x="21" y="0"/>
                </a:cxn>
                <a:cxn ang="0">
                  <a:pos x="24" y="6"/>
                </a:cxn>
                <a:cxn ang="0">
                  <a:pos x="31" y="7"/>
                </a:cxn>
                <a:cxn ang="0">
                  <a:pos x="29" y="13"/>
                </a:cxn>
                <a:cxn ang="0">
                  <a:pos x="19" y="21"/>
                </a:cxn>
                <a:cxn ang="0">
                  <a:pos x="19" y="23"/>
                </a:cxn>
                <a:cxn ang="0">
                  <a:pos x="18" y="31"/>
                </a:cxn>
              </a:cxnLst>
              <a:rect l="0" t="0" r="r" b="b"/>
              <a:pathLst>
                <a:path w="31" h="36">
                  <a:moveTo>
                    <a:pt x="18" y="31"/>
                  </a:moveTo>
                  <a:lnTo>
                    <a:pt x="17" y="36"/>
                  </a:lnTo>
                  <a:lnTo>
                    <a:pt x="6" y="34"/>
                  </a:lnTo>
                  <a:lnTo>
                    <a:pt x="4" y="31"/>
                  </a:lnTo>
                  <a:lnTo>
                    <a:pt x="0" y="23"/>
                  </a:lnTo>
                  <a:lnTo>
                    <a:pt x="0" y="6"/>
                  </a:lnTo>
                  <a:lnTo>
                    <a:pt x="7" y="5"/>
                  </a:lnTo>
                  <a:lnTo>
                    <a:pt x="10" y="6"/>
                  </a:lnTo>
                  <a:lnTo>
                    <a:pt x="11" y="3"/>
                  </a:lnTo>
                  <a:lnTo>
                    <a:pt x="21" y="0"/>
                  </a:lnTo>
                  <a:lnTo>
                    <a:pt x="24" y="6"/>
                  </a:lnTo>
                  <a:lnTo>
                    <a:pt x="31" y="7"/>
                  </a:lnTo>
                  <a:lnTo>
                    <a:pt x="29" y="13"/>
                  </a:lnTo>
                  <a:lnTo>
                    <a:pt x="19" y="21"/>
                  </a:lnTo>
                  <a:lnTo>
                    <a:pt x="19" y="23"/>
                  </a:lnTo>
                  <a:lnTo>
                    <a:pt x="18" y="3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1" name="Freeform 320"/>
            <p:cNvSpPr>
              <a:spLocks/>
            </p:cNvSpPr>
            <p:nvPr/>
          </p:nvSpPr>
          <p:spPr bwMode="auto">
            <a:xfrm>
              <a:off x="2693" y="1596"/>
              <a:ext cx="23" cy="20"/>
            </a:xfrm>
            <a:custGeom>
              <a:avLst/>
              <a:gdLst/>
              <a:ahLst/>
              <a:cxnLst>
                <a:cxn ang="0">
                  <a:pos x="20" y="6"/>
                </a:cxn>
                <a:cxn ang="0">
                  <a:pos x="18" y="2"/>
                </a:cxn>
                <a:cxn ang="0">
                  <a:pos x="14" y="0"/>
                </a:cxn>
                <a:cxn ang="0">
                  <a:pos x="12" y="6"/>
                </a:cxn>
                <a:cxn ang="0">
                  <a:pos x="9" y="4"/>
                </a:cxn>
                <a:cxn ang="0">
                  <a:pos x="3" y="2"/>
                </a:cxn>
                <a:cxn ang="0">
                  <a:pos x="0" y="6"/>
                </a:cxn>
                <a:cxn ang="0">
                  <a:pos x="0" y="9"/>
                </a:cxn>
                <a:cxn ang="0">
                  <a:pos x="11" y="18"/>
                </a:cxn>
                <a:cxn ang="0">
                  <a:pos x="15" y="14"/>
                </a:cxn>
                <a:cxn ang="0">
                  <a:pos x="15" y="10"/>
                </a:cxn>
                <a:cxn ang="0">
                  <a:pos x="20" y="6"/>
                </a:cxn>
              </a:cxnLst>
              <a:rect l="0" t="0" r="r" b="b"/>
              <a:pathLst>
                <a:path w="20" h="18">
                  <a:moveTo>
                    <a:pt x="20" y="6"/>
                  </a:moveTo>
                  <a:lnTo>
                    <a:pt x="18" y="2"/>
                  </a:lnTo>
                  <a:lnTo>
                    <a:pt x="14" y="0"/>
                  </a:lnTo>
                  <a:lnTo>
                    <a:pt x="12" y="6"/>
                  </a:lnTo>
                  <a:lnTo>
                    <a:pt x="9" y="4"/>
                  </a:lnTo>
                  <a:lnTo>
                    <a:pt x="3" y="2"/>
                  </a:lnTo>
                  <a:lnTo>
                    <a:pt x="0" y="6"/>
                  </a:lnTo>
                  <a:lnTo>
                    <a:pt x="0" y="9"/>
                  </a:lnTo>
                  <a:lnTo>
                    <a:pt x="11" y="18"/>
                  </a:lnTo>
                  <a:lnTo>
                    <a:pt x="15" y="14"/>
                  </a:lnTo>
                  <a:lnTo>
                    <a:pt x="15" y="10"/>
                  </a:lnTo>
                  <a:lnTo>
                    <a:pt x="2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2" name="Freeform 321"/>
            <p:cNvSpPr>
              <a:spLocks/>
            </p:cNvSpPr>
            <p:nvPr/>
          </p:nvSpPr>
          <p:spPr bwMode="auto">
            <a:xfrm>
              <a:off x="2653" y="1565"/>
              <a:ext cx="31" cy="20"/>
            </a:xfrm>
            <a:custGeom>
              <a:avLst/>
              <a:gdLst/>
              <a:ahLst/>
              <a:cxnLst>
                <a:cxn ang="0">
                  <a:pos x="23" y="12"/>
                </a:cxn>
                <a:cxn ang="0">
                  <a:pos x="3" y="13"/>
                </a:cxn>
                <a:cxn ang="0">
                  <a:pos x="0" y="18"/>
                </a:cxn>
                <a:cxn ang="0">
                  <a:pos x="2" y="11"/>
                </a:cxn>
                <a:cxn ang="0">
                  <a:pos x="15" y="8"/>
                </a:cxn>
                <a:cxn ang="0">
                  <a:pos x="28" y="0"/>
                </a:cxn>
                <a:cxn ang="0">
                  <a:pos x="23" y="12"/>
                </a:cxn>
              </a:cxnLst>
              <a:rect l="0" t="0" r="r" b="b"/>
              <a:pathLst>
                <a:path w="28" h="18">
                  <a:moveTo>
                    <a:pt x="23" y="12"/>
                  </a:moveTo>
                  <a:lnTo>
                    <a:pt x="3" y="13"/>
                  </a:lnTo>
                  <a:lnTo>
                    <a:pt x="0" y="18"/>
                  </a:lnTo>
                  <a:lnTo>
                    <a:pt x="2" y="11"/>
                  </a:lnTo>
                  <a:lnTo>
                    <a:pt x="15" y="8"/>
                  </a:lnTo>
                  <a:lnTo>
                    <a:pt x="28" y="0"/>
                  </a:lnTo>
                  <a:lnTo>
                    <a:pt x="23"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3" name="Freeform 322"/>
            <p:cNvSpPr>
              <a:spLocks/>
            </p:cNvSpPr>
            <p:nvPr/>
          </p:nvSpPr>
          <p:spPr bwMode="auto">
            <a:xfrm>
              <a:off x="2676" y="1608"/>
              <a:ext cx="13" cy="8"/>
            </a:xfrm>
            <a:custGeom>
              <a:avLst/>
              <a:gdLst/>
              <a:ahLst/>
              <a:cxnLst>
                <a:cxn ang="0">
                  <a:pos x="13" y="4"/>
                </a:cxn>
                <a:cxn ang="0">
                  <a:pos x="9" y="0"/>
                </a:cxn>
                <a:cxn ang="0">
                  <a:pos x="0" y="1"/>
                </a:cxn>
                <a:cxn ang="0">
                  <a:pos x="9" y="9"/>
                </a:cxn>
                <a:cxn ang="0">
                  <a:pos x="13" y="4"/>
                </a:cxn>
              </a:cxnLst>
              <a:rect l="0" t="0" r="r" b="b"/>
              <a:pathLst>
                <a:path w="13" h="9">
                  <a:moveTo>
                    <a:pt x="13" y="4"/>
                  </a:moveTo>
                  <a:lnTo>
                    <a:pt x="9" y="0"/>
                  </a:lnTo>
                  <a:lnTo>
                    <a:pt x="0" y="1"/>
                  </a:lnTo>
                  <a:lnTo>
                    <a:pt x="9" y="9"/>
                  </a:lnTo>
                  <a:lnTo>
                    <a:pt x="13"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4" name="Freeform 323"/>
            <p:cNvSpPr>
              <a:spLocks/>
            </p:cNvSpPr>
            <p:nvPr/>
          </p:nvSpPr>
          <p:spPr bwMode="auto">
            <a:xfrm>
              <a:off x="2707" y="1616"/>
              <a:ext cx="2" cy="5"/>
            </a:xfrm>
            <a:custGeom>
              <a:avLst/>
              <a:gdLst/>
              <a:ahLst/>
              <a:cxnLst>
                <a:cxn ang="0">
                  <a:pos x="3" y="1"/>
                </a:cxn>
                <a:cxn ang="0">
                  <a:pos x="0" y="0"/>
                </a:cxn>
                <a:cxn ang="0">
                  <a:pos x="0" y="3"/>
                </a:cxn>
                <a:cxn ang="0">
                  <a:pos x="3" y="1"/>
                </a:cxn>
              </a:cxnLst>
              <a:rect l="0" t="0" r="r" b="b"/>
              <a:pathLst>
                <a:path w="3" h="3">
                  <a:moveTo>
                    <a:pt x="3" y="1"/>
                  </a:moveTo>
                  <a:lnTo>
                    <a:pt x="0" y="0"/>
                  </a:lnTo>
                  <a:lnTo>
                    <a:pt x="0" y="3"/>
                  </a:lnTo>
                  <a:lnTo>
                    <a:pt x="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5" name="Freeform 324"/>
            <p:cNvSpPr>
              <a:spLocks/>
            </p:cNvSpPr>
            <p:nvPr/>
          </p:nvSpPr>
          <p:spPr bwMode="auto">
            <a:xfrm>
              <a:off x="2864" y="1532"/>
              <a:ext cx="65" cy="31"/>
            </a:xfrm>
            <a:custGeom>
              <a:avLst/>
              <a:gdLst/>
              <a:ahLst/>
              <a:cxnLst>
                <a:cxn ang="0">
                  <a:pos x="59" y="17"/>
                </a:cxn>
                <a:cxn ang="0">
                  <a:pos x="55" y="2"/>
                </a:cxn>
                <a:cxn ang="0">
                  <a:pos x="24" y="0"/>
                </a:cxn>
                <a:cxn ang="0">
                  <a:pos x="0" y="6"/>
                </a:cxn>
                <a:cxn ang="0">
                  <a:pos x="2" y="12"/>
                </a:cxn>
                <a:cxn ang="0">
                  <a:pos x="11" y="22"/>
                </a:cxn>
                <a:cxn ang="0">
                  <a:pos x="16" y="22"/>
                </a:cxn>
                <a:cxn ang="0">
                  <a:pos x="34" y="24"/>
                </a:cxn>
                <a:cxn ang="0">
                  <a:pos x="53" y="28"/>
                </a:cxn>
                <a:cxn ang="0">
                  <a:pos x="59" y="17"/>
                </a:cxn>
              </a:cxnLst>
              <a:rect l="0" t="0" r="r" b="b"/>
              <a:pathLst>
                <a:path w="59" h="28">
                  <a:moveTo>
                    <a:pt x="59" y="17"/>
                  </a:moveTo>
                  <a:lnTo>
                    <a:pt x="55" y="2"/>
                  </a:lnTo>
                  <a:lnTo>
                    <a:pt x="24" y="0"/>
                  </a:lnTo>
                  <a:lnTo>
                    <a:pt x="0" y="6"/>
                  </a:lnTo>
                  <a:lnTo>
                    <a:pt x="2" y="12"/>
                  </a:lnTo>
                  <a:lnTo>
                    <a:pt x="11" y="22"/>
                  </a:lnTo>
                  <a:lnTo>
                    <a:pt x="16" y="22"/>
                  </a:lnTo>
                  <a:lnTo>
                    <a:pt x="34" y="24"/>
                  </a:lnTo>
                  <a:lnTo>
                    <a:pt x="53" y="28"/>
                  </a:lnTo>
                  <a:lnTo>
                    <a:pt x="59" y="1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6" name="Freeform 325"/>
            <p:cNvSpPr>
              <a:spLocks/>
            </p:cNvSpPr>
            <p:nvPr/>
          </p:nvSpPr>
          <p:spPr bwMode="auto">
            <a:xfrm>
              <a:off x="2836" y="1556"/>
              <a:ext cx="106" cy="45"/>
            </a:xfrm>
            <a:custGeom>
              <a:avLst/>
              <a:gdLst/>
              <a:ahLst/>
              <a:cxnLst>
                <a:cxn ang="0">
                  <a:pos x="49" y="26"/>
                </a:cxn>
                <a:cxn ang="0">
                  <a:pos x="26" y="30"/>
                </a:cxn>
                <a:cxn ang="0">
                  <a:pos x="5" y="32"/>
                </a:cxn>
                <a:cxn ang="0">
                  <a:pos x="0" y="33"/>
                </a:cxn>
                <a:cxn ang="0">
                  <a:pos x="7" y="10"/>
                </a:cxn>
                <a:cxn ang="0">
                  <a:pos x="18" y="10"/>
                </a:cxn>
                <a:cxn ang="0">
                  <a:pos x="35" y="21"/>
                </a:cxn>
                <a:cxn ang="0">
                  <a:pos x="42" y="14"/>
                </a:cxn>
                <a:cxn ang="0">
                  <a:pos x="41" y="0"/>
                </a:cxn>
                <a:cxn ang="0">
                  <a:pos x="59" y="2"/>
                </a:cxn>
                <a:cxn ang="0">
                  <a:pos x="78" y="6"/>
                </a:cxn>
                <a:cxn ang="0">
                  <a:pos x="86" y="18"/>
                </a:cxn>
                <a:cxn ang="0">
                  <a:pos x="96" y="37"/>
                </a:cxn>
                <a:cxn ang="0">
                  <a:pos x="77" y="39"/>
                </a:cxn>
                <a:cxn ang="0">
                  <a:pos x="49" y="26"/>
                </a:cxn>
              </a:cxnLst>
              <a:rect l="0" t="0" r="r" b="b"/>
              <a:pathLst>
                <a:path w="96" h="39">
                  <a:moveTo>
                    <a:pt x="49" y="26"/>
                  </a:moveTo>
                  <a:lnTo>
                    <a:pt x="26" y="30"/>
                  </a:lnTo>
                  <a:lnTo>
                    <a:pt x="5" y="32"/>
                  </a:lnTo>
                  <a:lnTo>
                    <a:pt x="0" y="33"/>
                  </a:lnTo>
                  <a:lnTo>
                    <a:pt x="7" y="10"/>
                  </a:lnTo>
                  <a:lnTo>
                    <a:pt x="18" y="10"/>
                  </a:lnTo>
                  <a:lnTo>
                    <a:pt x="35" y="21"/>
                  </a:lnTo>
                  <a:lnTo>
                    <a:pt x="42" y="14"/>
                  </a:lnTo>
                  <a:lnTo>
                    <a:pt x="41" y="0"/>
                  </a:lnTo>
                  <a:lnTo>
                    <a:pt x="59" y="2"/>
                  </a:lnTo>
                  <a:lnTo>
                    <a:pt x="78" y="6"/>
                  </a:lnTo>
                  <a:lnTo>
                    <a:pt x="86" y="18"/>
                  </a:lnTo>
                  <a:lnTo>
                    <a:pt x="96" y="37"/>
                  </a:lnTo>
                  <a:lnTo>
                    <a:pt x="77" y="39"/>
                  </a:lnTo>
                  <a:lnTo>
                    <a:pt x="49" y="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7" name="Freeform 326"/>
            <p:cNvSpPr>
              <a:spLocks/>
            </p:cNvSpPr>
            <p:nvPr/>
          </p:nvSpPr>
          <p:spPr bwMode="auto">
            <a:xfrm>
              <a:off x="2836" y="1585"/>
              <a:ext cx="86" cy="45"/>
            </a:xfrm>
            <a:custGeom>
              <a:avLst/>
              <a:gdLst/>
              <a:ahLst/>
              <a:cxnLst>
                <a:cxn ang="0">
                  <a:pos x="3" y="29"/>
                </a:cxn>
                <a:cxn ang="0">
                  <a:pos x="0" y="7"/>
                </a:cxn>
                <a:cxn ang="0">
                  <a:pos x="5" y="6"/>
                </a:cxn>
                <a:cxn ang="0">
                  <a:pos x="26" y="4"/>
                </a:cxn>
                <a:cxn ang="0">
                  <a:pos x="49" y="0"/>
                </a:cxn>
                <a:cxn ang="0">
                  <a:pos x="77" y="13"/>
                </a:cxn>
                <a:cxn ang="0">
                  <a:pos x="57" y="26"/>
                </a:cxn>
                <a:cxn ang="0">
                  <a:pos x="36" y="41"/>
                </a:cxn>
                <a:cxn ang="0">
                  <a:pos x="24" y="40"/>
                </a:cxn>
                <a:cxn ang="0">
                  <a:pos x="24" y="32"/>
                </a:cxn>
                <a:cxn ang="0">
                  <a:pos x="12" y="31"/>
                </a:cxn>
                <a:cxn ang="0">
                  <a:pos x="3" y="29"/>
                </a:cxn>
              </a:cxnLst>
              <a:rect l="0" t="0" r="r" b="b"/>
              <a:pathLst>
                <a:path w="77" h="41">
                  <a:moveTo>
                    <a:pt x="3" y="29"/>
                  </a:moveTo>
                  <a:lnTo>
                    <a:pt x="0" y="7"/>
                  </a:lnTo>
                  <a:lnTo>
                    <a:pt x="5" y="6"/>
                  </a:lnTo>
                  <a:lnTo>
                    <a:pt x="26" y="4"/>
                  </a:lnTo>
                  <a:lnTo>
                    <a:pt x="49" y="0"/>
                  </a:lnTo>
                  <a:lnTo>
                    <a:pt x="77" y="13"/>
                  </a:lnTo>
                  <a:lnTo>
                    <a:pt x="57" y="26"/>
                  </a:lnTo>
                  <a:lnTo>
                    <a:pt x="36" y="41"/>
                  </a:lnTo>
                  <a:lnTo>
                    <a:pt x="24" y="40"/>
                  </a:lnTo>
                  <a:lnTo>
                    <a:pt x="24" y="32"/>
                  </a:lnTo>
                  <a:lnTo>
                    <a:pt x="12" y="31"/>
                  </a:lnTo>
                  <a:lnTo>
                    <a:pt x="3" y="2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8" name="Freeform 327"/>
            <p:cNvSpPr>
              <a:spLocks/>
            </p:cNvSpPr>
            <p:nvPr/>
          </p:nvSpPr>
          <p:spPr bwMode="auto">
            <a:xfrm>
              <a:off x="2582" y="1648"/>
              <a:ext cx="58" cy="48"/>
            </a:xfrm>
            <a:custGeom>
              <a:avLst/>
              <a:gdLst/>
              <a:ahLst/>
              <a:cxnLst>
                <a:cxn ang="0">
                  <a:pos x="38" y="27"/>
                </a:cxn>
                <a:cxn ang="0">
                  <a:pos x="50" y="21"/>
                </a:cxn>
                <a:cxn ang="0">
                  <a:pos x="45" y="13"/>
                </a:cxn>
                <a:cxn ang="0">
                  <a:pos x="51" y="3"/>
                </a:cxn>
                <a:cxn ang="0">
                  <a:pos x="34" y="0"/>
                </a:cxn>
                <a:cxn ang="0">
                  <a:pos x="16" y="11"/>
                </a:cxn>
                <a:cxn ang="0">
                  <a:pos x="4" y="29"/>
                </a:cxn>
                <a:cxn ang="0">
                  <a:pos x="0" y="35"/>
                </a:cxn>
                <a:cxn ang="0">
                  <a:pos x="12" y="35"/>
                </a:cxn>
                <a:cxn ang="0">
                  <a:pos x="30" y="36"/>
                </a:cxn>
                <a:cxn ang="0">
                  <a:pos x="32" y="42"/>
                </a:cxn>
                <a:cxn ang="0">
                  <a:pos x="37" y="46"/>
                </a:cxn>
                <a:cxn ang="0">
                  <a:pos x="38" y="27"/>
                </a:cxn>
              </a:cxnLst>
              <a:rect l="0" t="0" r="r" b="b"/>
              <a:pathLst>
                <a:path w="51" h="46">
                  <a:moveTo>
                    <a:pt x="38" y="27"/>
                  </a:moveTo>
                  <a:lnTo>
                    <a:pt x="50" y="21"/>
                  </a:lnTo>
                  <a:lnTo>
                    <a:pt x="45" y="13"/>
                  </a:lnTo>
                  <a:lnTo>
                    <a:pt x="51" y="3"/>
                  </a:lnTo>
                  <a:lnTo>
                    <a:pt x="34" y="0"/>
                  </a:lnTo>
                  <a:lnTo>
                    <a:pt x="16" y="11"/>
                  </a:lnTo>
                  <a:lnTo>
                    <a:pt x="4" y="29"/>
                  </a:lnTo>
                  <a:lnTo>
                    <a:pt x="0" y="35"/>
                  </a:lnTo>
                  <a:lnTo>
                    <a:pt x="12" y="35"/>
                  </a:lnTo>
                  <a:lnTo>
                    <a:pt x="30" y="36"/>
                  </a:lnTo>
                  <a:lnTo>
                    <a:pt x="32" y="42"/>
                  </a:lnTo>
                  <a:lnTo>
                    <a:pt x="37" y="46"/>
                  </a:lnTo>
                  <a:lnTo>
                    <a:pt x="38"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29" name="Freeform 328"/>
            <p:cNvSpPr>
              <a:spLocks/>
            </p:cNvSpPr>
            <p:nvPr/>
          </p:nvSpPr>
          <p:spPr bwMode="auto">
            <a:xfrm>
              <a:off x="2742" y="1621"/>
              <a:ext cx="154" cy="109"/>
            </a:xfrm>
            <a:custGeom>
              <a:avLst/>
              <a:gdLst/>
              <a:ahLst/>
              <a:cxnLst>
                <a:cxn ang="0">
                  <a:pos x="57" y="5"/>
                </a:cxn>
                <a:cxn ang="0">
                  <a:pos x="55" y="0"/>
                </a:cxn>
                <a:cxn ang="0">
                  <a:pos x="37" y="2"/>
                </a:cxn>
                <a:cxn ang="0">
                  <a:pos x="19" y="8"/>
                </a:cxn>
                <a:cxn ang="0">
                  <a:pos x="0" y="11"/>
                </a:cxn>
                <a:cxn ang="0">
                  <a:pos x="6" y="17"/>
                </a:cxn>
                <a:cxn ang="0">
                  <a:pos x="1" y="18"/>
                </a:cxn>
                <a:cxn ang="0">
                  <a:pos x="3" y="34"/>
                </a:cxn>
                <a:cxn ang="0">
                  <a:pos x="10" y="53"/>
                </a:cxn>
                <a:cxn ang="0">
                  <a:pos x="13" y="66"/>
                </a:cxn>
                <a:cxn ang="0">
                  <a:pos x="15" y="66"/>
                </a:cxn>
                <a:cxn ang="0">
                  <a:pos x="33" y="72"/>
                </a:cxn>
                <a:cxn ang="0">
                  <a:pos x="37" y="77"/>
                </a:cxn>
                <a:cxn ang="0">
                  <a:pos x="44" y="77"/>
                </a:cxn>
                <a:cxn ang="0">
                  <a:pos x="54" y="77"/>
                </a:cxn>
                <a:cxn ang="0">
                  <a:pos x="70" y="89"/>
                </a:cxn>
                <a:cxn ang="0">
                  <a:pos x="86" y="90"/>
                </a:cxn>
                <a:cxn ang="0">
                  <a:pos x="88" y="94"/>
                </a:cxn>
                <a:cxn ang="0">
                  <a:pos x="100" y="93"/>
                </a:cxn>
                <a:cxn ang="0">
                  <a:pos x="122" y="98"/>
                </a:cxn>
                <a:cxn ang="0">
                  <a:pos x="124" y="93"/>
                </a:cxn>
                <a:cxn ang="0">
                  <a:pos x="138" y="75"/>
                </a:cxn>
                <a:cxn ang="0">
                  <a:pos x="139" y="66"/>
                </a:cxn>
                <a:cxn ang="0">
                  <a:pos x="132" y="47"/>
                </a:cxn>
                <a:cxn ang="0">
                  <a:pos x="123" y="42"/>
                </a:cxn>
                <a:cxn ang="0">
                  <a:pos x="133" y="30"/>
                </a:cxn>
                <a:cxn ang="0">
                  <a:pos x="121" y="9"/>
                </a:cxn>
                <a:cxn ang="0">
                  <a:pos x="96" y="6"/>
                </a:cxn>
                <a:cxn ang="0">
                  <a:pos x="72" y="5"/>
                </a:cxn>
                <a:cxn ang="0">
                  <a:pos x="57" y="5"/>
                </a:cxn>
              </a:cxnLst>
              <a:rect l="0" t="0" r="r" b="b"/>
              <a:pathLst>
                <a:path w="139" h="98">
                  <a:moveTo>
                    <a:pt x="57" y="5"/>
                  </a:moveTo>
                  <a:lnTo>
                    <a:pt x="55" y="0"/>
                  </a:lnTo>
                  <a:lnTo>
                    <a:pt x="37" y="2"/>
                  </a:lnTo>
                  <a:lnTo>
                    <a:pt x="19" y="8"/>
                  </a:lnTo>
                  <a:lnTo>
                    <a:pt x="0" y="11"/>
                  </a:lnTo>
                  <a:lnTo>
                    <a:pt x="6" y="17"/>
                  </a:lnTo>
                  <a:lnTo>
                    <a:pt x="1" y="18"/>
                  </a:lnTo>
                  <a:lnTo>
                    <a:pt x="3" y="34"/>
                  </a:lnTo>
                  <a:lnTo>
                    <a:pt x="10" y="53"/>
                  </a:lnTo>
                  <a:lnTo>
                    <a:pt x="13" y="66"/>
                  </a:lnTo>
                  <a:lnTo>
                    <a:pt x="15" y="66"/>
                  </a:lnTo>
                  <a:lnTo>
                    <a:pt x="33" y="72"/>
                  </a:lnTo>
                  <a:lnTo>
                    <a:pt x="37" y="77"/>
                  </a:lnTo>
                  <a:lnTo>
                    <a:pt x="44" y="77"/>
                  </a:lnTo>
                  <a:lnTo>
                    <a:pt x="54" y="77"/>
                  </a:lnTo>
                  <a:lnTo>
                    <a:pt x="70" y="89"/>
                  </a:lnTo>
                  <a:lnTo>
                    <a:pt x="86" y="90"/>
                  </a:lnTo>
                  <a:lnTo>
                    <a:pt x="88" y="94"/>
                  </a:lnTo>
                  <a:lnTo>
                    <a:pt x="100" y="93"/>
                  </a:lnTo>
                  <a:lnTo>
                    <a:pt x="122" y="98"/>
                  </a:lnTo>
                  <a:lnTo>
                    <a:pt x="124" y="93"/>
                  </a:lnTo>
                  <a:lnTo>
                    <a:pt x="138" y="75"/>
                  </a:lnTo>
                  <a:lnTo>
                    <a:pt x="139" y="66"/>
                  </a:lnTo>
                  <a:lnTo>
                    <a:pt x="132" y="47"/>
                  </a:lnTo>
                  <a:lnTo>
                    <a:pt x="123" y="42"/>
                  </a:lnTo>
                  <a:lnTo>
                    <a:pt x="133" y="30"/>
                  </a:lnTo>
                  <a:lnTo>
                    <a:pt x="121" y="9"/>
                  </a:lnTo>
                  <a:lnTo>
                    <a:pt x="96" y="6"/>
                  </a:lnTo>
                  <a:lnTo>
                    <a:pt x="72" y="5"/>
                  </a:lnTo>
                  <a:lnTo>
                    <a:pt x="57"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0" name="Freeform 329"/>
            <p:cNvSpPr>
              <a:spLocks/>
            </p:cNvSpPr>
            <p:nvPr/>
          </p:nvSpPr>
          <p:spPr bwMode="auto">
            <a:xfrm>
              <a:off x="2849" y="1745"/>
              <a:ext cx="151" cy="89"/>
            </a:xfrm>
            <a:custGeom>
              <a:avLst/>
              <a:gdLst/>
              <a:ahLst/>
              <a:cxnLst>
                <a:cxn ang="0">
                  <a:pos x="123" y="66"/>
                </a:cxn>
                <a:cxn ang="0">
                  <a:pos x="122" y="79"/>
                </a:cxn>
                <a:cxn ang="0">
                  <a:pos x="95" y="73"/>
                </a:cxn>
                <a:cxn ang="0">
                  <a:pos x="73" y="80"/>
                </a:cxn>
                <a:cxn ang="0">
                  <a:pos x="56" y="78"/>
                </a:cxn>
                <a:cxn ang="0">
                  <a:pos x="41" y="76"/>
                </a:cxn>
                <a:cxn ang="0">
                  <a:pos x="37" y="71"/>
                </a:cxn>
                <a:cxn ang="0">
                  <a:pos x="36" y="65"/>
                </a:cxn>
                <a:cxn ang="0">
                  <a:pos x="31" y="64"/>
                </a:cxn>
                <a:cxn ang="0">
                  <a:pos x="26" y="62"/>
                </a:cxn>
                <a:cxn ang="0">
                  <a:pos x="20" y="59"/>
                </a:cxn>
                <a:cxn ang="0">
                  <a:pos x="0" y="37"/>
                </a:cxn>
                <a:cxn ang="0">
                  <a:pos x="7" y="35"/>
                </a:cxn>
                <a:cxn ang="0">
                  <a:pos x="19" y="19"/>
                </a:cxn>
                <a:cxn ang="0">
                  <a:pos x="32" y="6"/>
                </a:cxn>
                <a:cxn ang="0">
                  <a:pos x="33" y="5"/>
                </a:cxn>
                <a:cxn ang="0">
                  <a:pos x="60" y="7"/>
                </a:cxn>
                <a:cxn ang="0">
                  <a:pos x="84" y="0"/>
                </a:cxn>
                <a:cxn ang="0">
                  <a:pos x="85" y="0"/>
                </a:cxn>
                <a:cxn ang="0">
                  <a:pos x="95" y="11"/>
                </a:cxn>
                <a:cxn ang="0">
                  <a:pos x="105" y="20"/>
                </a:cxn>
                <a:cxn ang="0">
                  <a:pos x="110" y="36"/>
                </a:cxn>
                <a:cxn ang="0">
                  <a:pos x="114" y="50"/>
                </a:cxn>
                <a:cxn ang="0">
                  <a:pos x="126" y="50"/>
                </a:cxn>
                <a:cxn ang="0">
                  <a:pos x="134" y="53"/>
                </a:cxn>
                <a:cxn ang="0">
                  <a:pos x="134" y="58"/>
                </a:cxn>
                <a:cxn ang="0">
                  <a:pos x="128" y="61"/>
                </a:cxn>
                <a:cxn ang="0">
                  <a:pos x="127" y="60"/>
                </a:cxn>
                <a:cxn ang="0">
                  <a:pos x="123" y="66"/>
                </a:cxn>
              </a:cxnLst>
              <a:rect l="0" t="0" r="r" b="b"/>
              <a:pathLst>
                <a:path w="134" h="80">
                  <a:moveTo>
                    <a:pt x="123" y="66"/>
                  </a:moveTo>
                  <a:lnTo>
                    <a:pt x="122" y="79"/>
                  </a:lnTo>
                  <a:lnTo>
                    <a:pt x="95" y="73"/>
                  </a:lnTo>
                  <a:lnTo>
                    <a:pt x="73" y="80"/>
                  </a:lnTo>
                  <a:lnTo>
                    <a:pt x="56" y="78"/>
                  </a:lnTo>
                  <a:lnTo>
                    <a:pt x="41" y="76"/>
                  </a:lnTo>
                  <a:lnTo>
                    <a:pt x="37" y="71"/>
                  </a:lnTo>
                  <a:lnTo>
                    <a:pt x="36" y="65"/>
                  </a:lnTo>
                  <a:lnTo>
                    <a:pt x="31" y="64"/>
                  </a:lnTo>
                  <a:lnTo>
                    <a:pt x="26" y="62"/>
                  </a:lnTo>
                  <a:lnTo>
                    <a:pt x="20" y="59"/>
                  </a:lnTo>
                  <a:lnTo>
                    <a:pt x="0" y="37"/>
                  </a:lnTo>
                  <a:lnTo>
                    <a:pt x="7" y="35"/>
                  </a:lnTo>
                  <a:lnTo>
                    <a:pt x="19" y="19"/>
                  </a:lnTo>
                  <a:lnTo>
                    <a:pt x="32" y="6"/>
                  </a:lnTo>
                  <a:lnTo>
                    <a:pt x="33" y="5"/>
                  </a:lnTo>
                  <a:lnTo>
                    <a:pt x="60" y="7"/>
                  </a:lnTo>
                  <a:lnTo>
                    <a:pt x="84" y="0"/>
                  </a:lnTo>
                  <a:lnTo>
                    <a:pt x="85" y="0"/>
                  </a:lnTo>
                  <a:lnTo>
                    <a:pt x="95" y="11"/>
                  </a:lnTo>
                  <a:lnTo>
                    <a:pt x="105" y="20"/>
                  </a:lnTo>
                  <a:lnTo>
                    <a:pt x="110" y="36"/>
                  </a:lnTo>
                  <a:lnTo>
                    <a:pt x="114" y="50"/>
                  </a:lnTo>
                  <a:lnTo>
                    <a:pt x="126" y="50"/>
                  </a:lnTo>
                  <a:lnTo>
                    <a:pt x="134" y="53"/>
                  </a:lnTo>
                  <a:lnTo>
                    <a:pt x="134" y="58"/>
                  </a:lnTo>
                  <a:lnTo>
                    <a:pt x="128" y="61"/>
                  </a:lnTo>
                  <a:lnTo>
                    <a:pt x="127" y="60"/>
                  </a:lnTo>
                  <a:lnTo>
                    <a:pt x="123" y="6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1" name="Freeform 330"/>
            <p:cNvSpPr>
              <a:spLocks/>
            </p:cNvSpPr>
            <p:nvPr/>
          </p:nvSpPr>
          <p:spPr bwMode="auto">
            <a:xfrm>
              <a:off x="2718" y="1694"/>
              <a:ext cx="102" cy="47"/>
            </a:xfrm>
            <a:custGeom>
              <a:avLst/>
              <a:gdLst/>
              <a:ahLst/>
              <a:cxnLst>
                <a:cxn ang="0">
                  <a:pos x="76" y="12"/>
                </a:cxn>
                <a:cxn ang="0">
                  <a:pos x="92" y="24"/>
                </a:cxn>
                <a:cxn ang="0">
                  <a:pos x="92" y="25"/>
                </a:cxn>
                <a:cxn ang="0">
                  <a:pos x="88" y="29"/>
                </a:cxn>
                <a:cxn ang="0">
                  <a:pos x="84" y="31"/>
                </a:cxn>
                <a:cxn ang="0">
                  <a:pos x="84" y="33"/>
                </a:cxn>
                <a:cxn ang="0">
                  <a:pos x="79" y="37"/>
                </a:cxn>
                <a:cxn ang="0">
                  <a:pos x="72" y="39"/>
                </a:cxn>
                <a:cxn ang="0">
                  <a:pos x="67" y="39"/>
                </a:cxn>
                <a:cxn ang="0">
                  <a:pos x="62" y="39"/>
                </a:cxn>
                <a:cxn ang="0">
                  <a:pos x="40" y="35"/>
                </a:cxn>
                <a:cxn ang="0">
                  <a:pos x="32" y="42"/>
                </a:cxn>
                <a:cxn ang="0">
                  <a:pos x="24" y="39"/>
                </a:cxn>
                <a:cxn ang="0">
                  <a:pos x="4" y="19"/>
                </a:cxn>
                <a:cxn ang="0">
                  <a:pos x="0" y="13"/>
                </a:cxn>
                <a:cxn ang="0">
                  <a:pos x="31" y="0"/>
                </a:cxn>
                <a:cxn ang="0">
                  <a:pos x="35" y="1"/>
                </a:cxn>
                <a:cxn ang="0">
                  <a:pos x="37" y="1"/>
                </a:cxn>
                <a:cxn ang="0">
                  <a:pos x="55" y="7"/>
                </a:cxn>
                <a:cxn ang="0">
                  <a:pos x="59" y="12"/>
                </a:cxn>
                <a:cxn ang="0">
                  <a:pos x="66" y="12"/>
                </a:cxn>
                <a:cxn ang="0">
                  <a:pos x="76" y="12"/>
                </a:cxn>
              </a:cxnLst>
              <a:rect l="0" t="0" r="r" b="b"/>
              <a:pathLst>
                <a:path w="92" h="42">
                  <a:moveTo>
                    <a:pt x="76" y="12"/>
                  </a:moveTo>
                  <a:lnTo>
                    <a:pt x="92" y="24"/>
                  </a:lnTo>
                  <a:lnTo>
                    <a:pt x="92" y="25"/>
                  </a:lnTo>
                  <a:lnTo>
                    <a:pt x="88" y="29"/>
                  </a:lnTo>
                  <a:lnTo>
                    <a:pt x="84" y="31"/>
                  </a:lnTo>
                  <a:lnTo>
                    <a:pt x="84" y="33"/>
                  </a:lnTo>
                  <a:lnTo>
                    <a:pt x="79" y="37"/>
                  </a:lnTo>
                  <a:lnTo>
                    <a:pt x="72" y="39"/>
                  </a:lnTo>
                  <a:lnTo>
                    <a:pt x="67" y="39"/>
                  </a:lnTo>
                  <a:lnTo>
                    <a:pt x="62" y="39"/>
                  </a:lnTo>
                  <a:lnTo>
                    <a:pt x="40" y="35"/>
                  </a:lnTo>
                  <a:lnTo>
                    <a:pt x="32" y="42"/>
                  </a:lnTo>
                  <a:lnTo>
                    <a:pt x="24" y="39"/>
                  </a:lnTo>
                  <a:lnTo>
                    <a:pt x="4" y="19"/>
                  </a:lnTo>
                  <a:lnTo>
                    <a:pt x="0" y="13"/>
                  </a:lnTo>
                  <a:lnTo>
                    <a:pt x="31" y="0"/>
                  </a:lnTo>
                  <a:lnTo>
                    <a:pt x="35" y="1"/>
                  </a:lnTo>
                  <a:lnTo>
                    <a:pt x="37" y="1"/>
                  </a:lnTo>
                  <a:lnTo>
                    <a:pt x="55" y="7"/>
                  </a:lnTo>
                  <a:lnTo>
                    <a:pt x="59" y="12"/>
                  </a:lnTo>
                  <a:lnTo>
                    <a:pt x="66" y="12"/>
                  </a:lnTo>
                  <a:lnTo>
                    <a:pt x="76"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2" name="Freeform 331"/>
            <p:cNvSpPr>
              <a:spLocks/>
            </p:cNvSpPr>
            <p:nvPr/>
          </p:nvSpPr>
          <p:spPr bwMode="auto">
            <a:xfrm>
              <a:off x="2569" y="1685"/>
              <a:ext cx="58" cy="36"/>
            </a:xfrm>
            <a:custGeom>
              <a:avLst/>
              <a:gdLst/>
              <a:ahLst/>
              <a:cxnLst>
                <a:cxn ang="0">
                  <a:pos x="11" y="0"/>
                </a:cxn>
                <a:cxn ang="0">
                  <a:pos x="0" y="5"/>
                </a:cxn>
                <a:cxn ang="0">
                  <a:pos x="6" y="11"/>
                </a:cxn>
                <a:cxn ang="0">
                  <a:pos x="24" y="23"/>
                </a:cxn>
                <a:cxn ang="0">
                  <a:pos x="30" y="22"/>
                </a:cxn>
                <a:cxn ang="0">
                  <a:pos x="31" y="24"/>
                </a:cxn>
                <a:cxn ang="0">
                  <a:pos x="45" y="31"/>
                </a:cxn>
                <a:cxn ang="0">
                  <a:pos x="45" y="29"/>
                </a:cxn>
                <a:cxn ang="0">
                  <a:pos x="49" y="22"/>
                </a:cxn>
                <a:cxn ang="0">
                  <a:pos x="50" y="12"/>
                </a:cxn>
                <a:cxn ang="0">
                  <a:pos x="48" y="11"/>
                </a:cxn>
                <a:cxn ang="0">
                  <a:pos x="43" y="7"/>
                </a:cxn>
                <a:cxn ang="0">
                  <a:pos x="41" y="1"/>
                </a:cxn>
                <a:cxn ang="0">
                  <a:pos x="23" y="0"/>
                </a:cxn>
                <a:cxn ang="0">
                  <a:pos x="11" y="0"/>
                </a:cxn>
              </a:cxnLst>
              <a:rect l="0" t="0" r="r" b="b"/>
              <a:pathLst>
                <a:path w="50" h="31">
                  <a:moveTo>
                    <a:pt x="11" y="0"/>
                  </a:moveTo>
                  <a:lnTo>
                    <a:pt x="0" y="5"/>
                  </a:lnTo>
                  <a:lnTo>
                    <a:pt x="6" y="11"/>
                  </a:lnTo>
                  <a:lnTo>
                    <a:pt x="24" y="23"/>
                  </a:lnTo>
                  <a:lnTo>
                    <a:pt x="30" y="22"/>
                  </a:lnTo>
                  <a:lnTo>
                    <a:pt x="31" y="24"/>
                  </a:lnTo>
                  <a:lnTo>
                    <a:pt x="45" y="31"/>
                  </a:lnTo>
                  <a:lnTo>
                    <a:pt x="45" y="29"/>
                  </a:lnTo>
                  <a:lnTo>
                    <a:pt x="49" y="22"/>
                  </a:lnTo>
                  <a:lnTo>
                    <a:pt x="50" y="12"/>
                  </a:lnTo>
                  <a:lnTo>
                    <a:pt x="48" y="11"/>
                  </a:lnTo>
                  <a:lnTo>
                    <a:pt x="43" y="7"/>
                  </a:lnTo>
                  <a:lnTo>
                    <a:pt x="41" y="1"/>
                  </a:lnTo>
                  <a:lnTo>
                    <a:pt x="23" y="0"/>
                  </a:lnTo>
                  <a:lnTo>
                    <a:pt x="1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3" name="Freeform 332"/>
            <p:cNvSpPr>
              <a:spLocks/>
            </p:cNvSpPr>
            <p:nvPr/>
          </p:nvSpPr>
          <p:spPr bwMode="auto">
            <a:xfrm>
              <a:off x="2622" y="1616"/>
              <a:ext cx="134" cy="147"/>
            </a:xfrm>
            <a:custGeom>
              <a:avLst/>
              <a:gdLst/>
              <a:ahLst/>
              <a:cxnLst>
                <a:cxn ang="0">
                  <a:pos x="29" y="24"/>
                </a:cxn>
                <a:cxn ang="0">
                  <a:pos x="31" y="25"/>
                </a:cxn>
                <a:cxn ang="0">
                  <a:pos x="31" y="21"/>
                </a:cxn>
                <a:cxn ang="0">
                  <a:pos x="36" y="19"/>
                </a:cxn>
                <a:cxn ang="0">
                  <a:pos x="45" y="23"/>
                </a:cxn>
                <a:cxn ang="0">
                  <a:pos x="41" y="18"/>
                </a:cxn>
                <a:cxn ang="0">
                  <a:pos x="36" y="11"/>
                </a:cxn>
                <a:cxn ang="0">
                  <a:pos x="35" y="9"/>
                </a:cxn>
                <a:cxn ang="0">
                  <a:pos x="32" y="0"/>
                </a:cxn>
                <a:cxn ang="0">
                  <a:pos x="43" y="2"/>
                </a:cxn>
                <a:cxn ang="0">
                  <a:pos x="47" y="2"/>
                </a:cxn>
                <a:cxn ang="0">
                  <a:pos x="48" y="7"/>
                </a:cxn>
                <a:cxn ang="0">
                  <a:pos x="62" y="9"/>
                </a:cxn>
                <a:cxn ang="0">
                  <a:pos x="62" y="14"/>
                </a:cxn>
                <a:cxn ang="0">
                  <a:pos x="67" y="17"/>
                </a:cxn>
                <a:cxn ang="0">
                  <a:pos x="85" y="8"/>
                </a:cxn>
                <a:cxn ang="0">
                  <a:pos x="85" y="9"/>
                </a:cxn>
                <a:cxn ang="0">
                  <a:pos x="101" y="15"/>
                </a:cxn>
                <a:cxn ang="0">
                  <a:pos x="107" y="14"/>
                </a:cxn>
                <a:cxn ang="0">
                  <a:pos x="113" y="20"/>
                </a:cxn>
                <a:cxn ang="0">
                  <a:pos x="108" y="21"/>
                </a:cxn>
                <a:cxn ang="0">
                  <a:pos x="110" y="37"/>
                </a:cxn>
                <a:cxn ang="0">
                  <a:pos x="117" y="56"/>
                </a:cxn>
                <a:cxn ang="0">
                  <a:pos x="120" y="69"/>
                </a:cxn>
                <a:cxn ang="0">
                  <a:pos x="116" y="68"/>
                </a:cxn>
                <a:cxn ang="0">
                  <a:pos x="85" y="81"/>
                </a:cxn>
                <a:cxn ang="0">
                  <a:pos x="89" y="87"/>
                </a:cxn>
                <a:cxn ang="0">
                  <a:pos x="109" y="107"/>
                </a:cxn>
                <a:cxn ang="0">
                  <a:pos x="98" y="116"/>
                </a:cxn>
                <a:cxn ang="0">
                  <a:pos x="101" y="125"/>
                </a:cxn>
                <a:cxn ang="0">
                  <a:pos x="96" y="127"/>
                </a:cxn>
                <a:cxn ang="0">
                  <a:pos x="79" y="127"/>
                </a:cxn>
                <a:cxn ang="0">
                  <a:pos x="67" y="127"/>
                </a:cxn>
                <a:cxn ang="0">
                  <a:pos x="63" y="131"/>
                </a:cxn>
                <a:cxn ang="0">
                  <a:pos x="51" y="128"/>
                </a:cxn>
                <a:cxn ang="0">
                  <a:pos x="37" y="126"/>
                </a:cxn>
                <a:cxn ang="0">
                  <a:pos x="24" y="127"/>
                </a:cxn>
                <a:cxn ang="0">
                  <a:pos x="30" y="102"/>
                </a:cxn>
                <a:cxn ang="0">
                  <a:pos x="7" y="95"/>
                </a:cxn>
                <a:cxn ang="0">
                  <a:pos x="5" y="93"/>
                </a:cxn>
                <a:cxn ang="0">
                  <a:pos x="5" y="92"/>
                </a:cxn>
                <a:cxn ang="0">
                  <a:pos x="1" y="83"/>
                </a:cxn>
                <a:cxn ang="0">
                  <a:pos x="2" y="73"/>
                </a:cxn>
                <a:cxn ang="0">
                  <a:pos x="0" y="72"/>
                </a:cxn>
                <a:cxn ang="0">
                  <a:pos x="1" y="53"/>
                </a:cxn>
                <a:cxn ang="0">
                  <a:pos x="13" y="47"/>
                </a:cxn>
                <a:cxn ang="0">
                  <a:pos x="8" y="39"/>
                </a:cxn>
                <a:cxn ang="0">
                  <a:pos x="14" y="29"/>
                </a:cxn>
                <a:cxn ang="0">
                  <a:pos x="12" y="27"/>
                </a:cxn>
                <a:cxn ang="0">
                  <a:pos x="14" y="21"/>
                </a:cxn>
                <a:cxn ang="0">
                  <a:pos x="29" y="24"/>
                </a:cxn>
              </a:cxnLst>
              <a:rect l="0" t="0" r="r" b="b"/>
              <a:pathLst>
                <a:path w="120" h="131">
                  <a:moveTo>
                    <a:pt x="29" y="24"/>
                  </a:moveTo>
                  <a:lnTo>
                    <a:pt x="31" y="25"/>
                  </a:lnTo>
                  <a:lnTo>
                    <a:pt x="31" y="21"/>
                  </a:lnTo>
                  <a:lnTo>
                    <a:pt x="36" y="19"/>
                  </a:lnTo>
                  <a:lnTo>
                    <a:pt x="45" y="23"/>
                  </a:lnTo>
                  <a:lnTo>
                    <a:pt x="41" y="18"/>
                  </a:lnTo>
                  <a:lnTo>
                    <a:pt x="36" y="11"/>
                  </a:lnTo>
                  <a:lnTo>
                    <a:pt x="35" y="9"/>
                  </a:lnTo>
                  <a:lnTo>
                    <a:pt x="32" y="0"/>
                  </a:lnTo>
                  <a:lnTo>
                    <a:pt x="43" y="2"/>
                  </a:lnTo>
                  <a:lnTo>
                    <a:pt x="47" y="2"/>
                  </a:lnTo>
                  <a:lnTo>
                    <a:pt x="48" y="7"/>
                  </a:lnTo>
                  <a:lnTo>
                    <a:pt x="62" y="9"/>
                  </a:lnTo>
                  <a:lnTo>
                    <a:pt x="62" y="14"/>
                  </a:lnTo>
                  <a:lnTo>
                    <a:pt x="67" y="17"/>
                  </a:lnTo>
                  <a:lnTo>
                    <a:pt x="85" y="8"/>
                  </a:lnTo>
                  <a:lnTo>
                    <a:pt x="85" y="9"/>
                  </a:lnTo>
                  <a:lnTo>
                    <a:pt x="101" y="15"/>
                  </a:lnTo>
                  <a:lnTo>
                    <a:pt x="107" y="14"/>
                  </a:lnTo>
                  <a:lnTo>
                    <a:pt x="113" y="20"/>
                  </a:lnTo>
                  <a:lnTo>
                    <a:pt x="108" y="21"/>
                  </a:lnTo>
                  <a:lnTo>
                    <a:pt x="110" y="37"/>
                  </a:lnTo>
                  <a:lnTo>
                    <a:pt x="117" y="56"/>
                  </a:lnTo>
                  <a:lnTo>
                    <a:pt x="120" y="69"/>
                  </a:lnTo>
                  <a:lnTo>
                    <a:pt x="116" y="68"/>
                  </a:lnTo>
                  <a:lnTo>
                    <a:pt x="85" y="81"/>
                  </a:lnTo>
                  <a:lnTo>
                    <a:pt x="89" y="87"/>
                  </a:lnTo>
                  <a:lnTo>
                    <a:pt x="109" y="107"/>
                  </a:lnTo>
                  <a:lnTo>
                    <a:pt x="98" y="116"/>
                  </a:lnTo>
                  <a:lnTo>
                    <a:pt x="101" y="125"/>
                  </a:lnTo>
                  <a:lnTo>
                    <a:pt x="96" y="127"/>
                  </a:lnTo>
                  <a:lnTo>
                    <a:pt x="79" y="127"/>
                  </a:lnTo>
                  <a:lnTo>
                    <a:pt x="67" y="127"/>
                  </a:lnTo>
                  <a:lnTo>
                    <a:pt x="63" y="131"/>
                  </a:lnTo>
                  <a:lnTo>
                    <a:pt x="51" y="128"/>
                  </a:lnTo>
                  <a:lnTo>
                    <a:pt x="37" y="126"/>
                  </a:lnTo>
                  <a:lnTo>
                    <a:pt x="24" y="127"/>
                  </a:lnTo>
                  <a:lnTo>
                    <a:pt x="30" y="102"/>
                  </a:lnTo>
                  <a:lnTo>
                    <a:pt x="7" y="95"/>
                  </a:lnTo>
                  <a:lnTo>
                    <a:pt x="5" y="93"/>
                  </a:lnTo>
                  <a:lnTo>
                    <a:pt x="5" y="92"/>
                  </a:lnTo>
                  <a:lnTo>
                    <a:pt x="1" y="83"/>
                  </a:lnTo>
                  <a:lnTo>
                    <a:pt x="2" y="73"/>
                  </a:lnTo>
                  <a:lnTo>
                    <a:pt x="0" y="72"/>
                  </a:lnTo>
                  <a:lnTo>
                    <a:pt x="1" y="53"/>
                  </a:lnTo>
                  <a:lnTo>
                    <a:pt x="13" y="47"/>
                  </a:lnTo>
                  <a:lnTo>
                    <a:pt x="8" y="39"/>
                  </a:lnTo>
                  <a:lnTo>
                    <a:pt x="14" y="29"/>
                  </a:lnTo>
                  <a:lnTo>
                    <a:pt x="12" y="27"/>
                  </a:lnTo>
                  <a:lnTo>
                    <a:pt x="14" y="21"/>
                  </a:lnTo>
                  <a:lnTo>
                    <a:pt x="29"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4" name="Freeform 333"/>
            <p:cNvSpPr>
              <a:spLocks/>
            </p:cNvSpPr>
            <p:nvPr/>
          </p:nvSpPr>
          <p:spPr bwMode="auto">
            <a:xfrm>
              <a:off x="2727" y="1623"/>
              <a:ext cx="9" cy="7"/>
            </a:xfrm>
            <a:custGeom>
              <a:avLst/>
              <a:gdLst/>
              <a:ahLst/>
              <a:cxnLst>
                <a:cxn ang="0">
                  <a:pos x="0" y="5"/>
                </a:cxn>
                <a:cxn ang="0">
                  <a:pos x="9" y="5"/>
                </a:cxn>
                <a:cxn ang="0">
                  <a:pos x="4" y="0"/>
                </a:cxn>
                <a:cxn ang="0">
                  <a:pos x="0" y="5"/>
                </a:cxn>
              </a:cxnLst>
              <a:rect l="0" t="0" r="r" b="b"/>
              <a:pathLst>
                <a:path w="9" h="5">
                  <a:moveTo>
                    <a:pt x="0" y="5"/>
                  </a:moveTo>
                  <a:lnTo>
                    <a:pt x="9" y="5"/>
                  </a:lnTo>
                  <a:lnTo>
                    <a:pt x="4" y="0"/>
                  </a:lnTo>
                  <a:lnTo>
                    <a:pt x="0"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5" name="Freeform 334"/>
            <p:cNvSpPr>
              <a:spLocks/>
            </p:cNvSpPr>
            <p:nvPr/>
          </p:nvSpPr>
          <p:spPr bwMode="auto">
            <a:xfrm>
              <a:off x="2620" y="1710"/>
              <a:ext cx="9" cy="11"/>
            </a:xfrm>
            <a:custGeom>
              <a:avLst/>
              <a:gdLst/>
              <a:ahLst/>
              <a:cxnLst>
                <a:cxn ang="0">
                  <a:pos x="4" y="0"/>
                </a:cxn>
                <a:cxn ang="0">
                  <a:pos x="0" y="7"/>
                </a:cxn>
                <a:cxn ang="0">
                  <a:pos x="0" y="9"/>
                </a:cxn>
                <a:cxn ang="0">
                  <a:pos x="8" y="10"/>
                </a:cxn>
                <a:cxn ang="0">
                  <a:pos x="8" y="9"/>
                </a:cxn>
                <a:cxn ang="0">
                  <a:pos x="4" y="0"/>
                </a:cxn>
              </a:cxnLst>
              <a:rect l="0" t="0" r="r" b="b"/>
              <a:pathLst>
                <a:path w="8" h="10">
                  <a:moveTo>
                    <a:pt x="4" y="0"/>
                  </a:moveTo>
                  <a:lnTo>
                    <a:pt x="0" y="7"/>
                  </a:lnTo>
                  <a:lnTo>
                    <a:pt x="0" y="9"/>
                  </a:lnTo>
                  <a:lnTo>
                    <a:pt x="8" y="10"/>
                  </a:lnTo>
                  <a:lnTo>
                    <a:pt x="8" y="9"/>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6" name="Freeform 335"/>
            <p:cNvSpPr>
              <a:spLocks/>
            </p:cNvSpPr>
            <p:nvPr/>
          </p:nvSpPr>
          <p:spPr bwMode="auto">
            <a:xfrm>
              <a:off x="2942" y="1734"/>
              <a:ext cx="69" cy="69"/>
            </a:xfrm>
            <a:custGeom>
              <a:avLst/>
              <a:gdLst/>
              <a:ahLst/>
              <a:cxnLst>
                <a:cxn ang="0">
                  <a:pos x="12" y="0"/>
                </a:cxn>
                <a:cxn ang="0">
                  <a:pos x="0" y="10"/>
                </a:cxn>
                <a:cxn ang="0">
                  <a:pos x="1" y="10"/>
                </a:cxn>
                <a:cxn ang="0">
                  <a:pos x="11" y="21"/>
                </a:cxn>
                <a:cxn ang="0">
                  <a:pos x="21" y="30"/>
                </a:cxn>
                <a:cxn ang="0">
                  <a:pos x="26" y="46"/>
                </a:cxn>
                <a:cxn ang="0">
                  <a:pos x="30" y="60"/>
                </a:cxn>
                <a:cxn ang="0">
                  <a:pos x="42" y="60"/>
                </a:cxn>
                <a:cxn ang="0">
                  <a:pos x="50" y="63"/>
                </a:cxn>
                <a:cxn ang="0">
                  <a:pos x="49" y="54"/>
                </a:cxn>
                <a:cxn ang="0">
                  <a:pos x="61" y="44"/>
                </a:cxn>
                <a:cxn ang="0">
                  <a:pos x="50" y="33"/>
                </a:cxn>
                <a:cxn ang="0">
                  <a:pos x="38" y="23"/>
                </a:cxn>
                <a:cxn ang="0">
                  <a:pos x="27" y="12"/>
                </a:cxn>
                <a:cxn ang="0">
                  <a:pos x="17" y="2"/>
                </a:cxn>
                <a:cxn ang="0">
                  <a:pos x="12" y="0"/>
                </a:cxn>
              </a:cxnLst>
              <a:rect l="0" t="0" r="r" b="b"/>
              <a:pathLst>
                <a:path w="61" h="63">
                  <a:moveTo>
                    <a:pt x="12" y="0"/>
                  </a:moveTo>
                  <a:lnTo>
                    <a:pt x="0" y="10"/>
                  </a:lnTo>
                  <a:lnTo>
                    <a:pt x="1" y="10"/>
                  </a:lnTo>
                  <a:lnTo>
                    <a:pt x="11" y="21"/>
                  </a:lnTo>
                  <a:lnTo>
                    <a:pt x="21" y="30"/>
                  </a:lnTo>
                  <a:lnTo>
                    <a:pt x="26" y="46"/>
                  </a:lnTo>
                  <a:lnTo>
                    <a:pt x="30" y="60"/>
                  </a:lnTo>
                  <a:lnTo>
                    <a:pt x="42" y="60"/>
                  </a:lnTo>
                  <a:lnTo>
                    <a:pt x="50" y="63"/>
                  </a:lnTo>
                  <a:lnTo>
                    <a:pt x="49" y="54"/>
                  </a:lnTo>
                  <a:lnTo>
                    <a:pt x="61" y="44"/>
                  </a:lnTo>
                  <a:lnTo>
                    <a:pt x="50" y="33"/>
                  </a:lnTo>
                  <a:lnTo>
                    <a:pt x="38" y="23"/>
                  </a:lnTo>
                  <a:lnTo>
                    <a:pt x="27" y="12"/>
                  </a:lnTo>
                  <a:lnTo>
                    <a:pt x="17" y="2"/>
                  </a:lnTo>
                  <a:lnTo>
                    <a:pt x="1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7" name="Freeform 336"/>
            <p:cNvSpPr>
              <a:spLocks/>
            </p:cNvSpPr>
            <p:nvPr/>
          </p:nvSpPr>
          <p:spPr bwMode="auto">
            <a:xfrm>
              <a:off x="2602" y="1330"/>
              <a:ext cx="320" cy="229"/>
            </a:xfrm>
            <a:custGeom>
              <a:avLst/>
              <a:gdLst/>
              <a:ahLst/>
              <a:cxnLst>
                <a:cxn ang="0">
                  <a:pos x="166" y="17"/>
                </a:cxn>
                <a:cxn ang="0">
                  <a:pos x="159" y="18"/>
                </a:cxn>
                <a:cxn ang="0">
                  <a:pos x="150" y="24"/>
                </a:cxn>
                <a:cxn ang="0">
                  <a:pos x="141" y="29"/>
                </a:cxn>
                <a:cxn ang="0">
                  <a:pos x="127" y="38"/>
                </a:cxn>
                <a:cxn ang="0">
                  <a:pos x="129" y="42"/>
                </a:cxn>
                <a:cxn ang="0">
                  <a:pos x="126" y="48"/>
                </a:cxn>
                <a:cxn ang="0">
                  <a:pos x="110" y="51"/>
                </a:cxn>
                <a:cxn ang="0">
                  <a:pos x="120" y="55"/>
                </a:cxn>
                <a:cxn ang="0">
                  <a:pos x="110" y="57"/>
                </a:cxn>
                <a:cxn ang="0">
                  <a:pos x="99" y="65"/>
                </a:cxn>
                <a:cxn ang="0">
                  <a:pos x="91" y="72"/>
                </a:cxn>
                <a:cxn ang="0">
                  <a:pos x="90" y="77"/>
                </a:cxn>
                <a:cxn ang="0">
                  <a:pos x="87" y="89"/>
                </a:cxn>
                <a:cxn ang="0">
                  <a:pos x="75" y="96"/>
                </a:cxn>
                <a:cxn ang="0">
                  <a:pos x="72" y="101"/>
                </a:cxn>
                <a:cxn ang="0">
                  <a:pos x="56" y="113"/>
                </a:cxn>
                <a:cxn ang="0">
                  <a:pos x="73" y="109"/>
                </a:cxn>
                <a:cxn ang="0">
                  <a:pos x="58" y="117"/>
                </a:cxn>
                <a:cxn ang="0">
                  <a:pos x="42" y="121"/>
                </a:cxn>
                <a:cxn ang="0">
                  <a:pos x="37" y="126"/>
                </a:cxn>
                <a:cxn ang="0">
                  <a:pos x="22" y="129"/>
                </a:cxn>
                <a:cxn ang="0">
                  <a:pos x="27" y="131"/>
                </a:cxn>
                <a:cxn ang="0">
                  <a:pos x="24" y="138"/>
                </a:cxn>
                <a:cxn ang="0">
                  <a:pos x="9" y="138"/>
                </a:cxn>
                <a:cxn ang="0">
                  <a:pos x="1" y="139"/>
                </a:cxn>
                <a:cxn ang="0">
                  <a:pos x="0" y="145"/>
                </a:cxn>
                <a:cxn ang="0">
                  <a:pos x="3" y="151"/>
                </a:cxn>
                <a:cxn ang="0">
                  <a:pos x="27" y="152"/>
                </a:cxn>
                <a:cxn ang="0">
                  <a:pos x="26" y="158"/>
                </a:cxn>
                <a:cxn ang="0">
                  <a:pos x="2" y="161"/>
                </a:cxn>
                <a:cxn ang="0">
                  <a:pos x="8" y="163"/>
                </a:cxn>
                <a:cxn ang="0">
                  <a:pos x="8" y="169"/>
                </a:cxn>
                <a:cxn ang="0">
                  <a:pos x="22" y="165"/>
                </a:cxn>
                <a:cxn ang="0">
                  <a:pos x="12" y="176"/>
                </a:cxn>
                <a:cxn ang="0">
                  <a:pos x="6" y="185"/>
                </a:cxn>
                <a:cxn ang="0">
                  <a:pos x="16" y="185"/>
                </a:cxn>
                <a:cxn ang="0">
                  <a:pos x="10" y="198"/>
                </a:cxn>
                <a:cxn ang="0">
                  <a:pos x="60" y="188"/>
                </a:cxn>
                <a:cxn ang="0">
                  <a:pos x="73" y="176"/>
                </a:cxn>
                <a:cxn ang="0">
                  <a:pos x="90" y="175"/>
                </a:cxn>
                <a:cxn ang="0">
                  <a:pos x="97" y="151"/>
                </a:cxn>
                <a:cxn ang="0">
                  <a:pos x="86" y="114"/>
                </a:cxn>
                <a:cxn ang="0">
                  <a:pos x="102" y="99"/>
                </a:cxn>
                <a:cxn ang="0">
                  <a:pos x="120" y="73"/>
                </a:cxn>
                <a:cxn ang="0">
                  <a:pos x="147" y="43"/>
                </a:cxn>
                <a:cxn ang="0">
                  <a:pos x="168" y="30"/>
                </a:cxn>
                <a:cxn ang="0">
                  <a:pos x="194" y="33"/>
                </a:cxn>
                <a:cxn ang="0">
                  <a:pos x="230" y="32"/>
                </a:cxn>
                <a:cxn ang="0">
                  <a:pos x="270" y="20"/>
                </a:cxn>
                <a:cxn ang="0">
                  <a:pos x="289" y="23"/>
                </a:cxn>
                <a:cxn ang="0">
                  <a:pos x="276" y="19"/>
                </a:cxn>
                <a:cxn ang="0">
                  <a:pos x="278" y="6"/>
                </a:cxn>
                <a:cxn ang="0">
                  <a:pos x="256" y="13"/>
                </a:cxn>
                <a:cxn ang="0">
                  <a:pos x="253" y="5"/>
                </a:cxn>
                <a:cxn ang="0">
                  <a:pos x="237" y="11"/>
                </a:cxn>
                <a:cxn ang="0">
                  <a:pos x="225" y="5"/>
                </a:cxn>
                <a:cxn ang="0">
                  <a:pos x="213" y="6"/>
                </a:cxn>
                <a:cxn ang="0">
                  <a:pos x="193" y="12"/>
                </a:cxn>
                <a:cxn ang="0">
                  <a:pos x="186" y="18"/>
                </a:cxn>
              </a:cxnLst>
              <a:rect l="0" t="0" r="r" b="b"/>
              <a:pathLst>
                <a:path w="289" h="205">
                  <a:moveTo>
                    <a:pt x="171" y="21"/>
                  </a:moveTo>
                  <a:lnTo>
                    <a:pt x="166" y="26"/>
                  </a:lnTo>
                  <a:lnTo>
                    <a:pt x="166" y="17"/>
                  </a:lnTo>
                  <a:lnTo>
                    <a:pt x="165" y="21"/>
                  </a:lnTo>
                  <a:lnTo>
                    <a:pt x="162" y="23"/>
                  </a:lnTo>
                  <a:lnTo>
                    <a:pt x="159" y="18"/>
                  </a:lnTo>
                  <a:lnTo>
                    <a:pt x="157" y="21"/>
                  </a:lnTo>
                  <a:lnTo>
                    <a:pt x="158" y="25"/>
                  </a:lnTo>
                  <a:lnTo>
                    <a:pt x="150" y="24"/>
                  </a:lnTo>
                  <a:lnTo>
                    <a:pt x="151" y="26"/>
                  </a:lnTo>
                  <a:lnTo>
                    <a:pt x="145" y="25"/>
                  </a:lnTo>
                  <a:lnTo>
                    <a:pt x="141" y="29"/>
                  </a:lnTo>
                  <a:lnTo>
                    <a:pt x="142" y="35"/>
                  </a:lnTo>
                  <a:lnTo>
                    <a:pt x="140" y="36"/>
                  </a:lnTo>
                  <a:lnTo>
                    <a:pt x="127" y="38"/>
                  </a:lnTo>
                  <a:lnTo>
                    <a:pt x="140" y="39"/>
                  </a:lnTo>
                  <a:lnTo>
                    <a:pt x="138" y="43"/>
                  </a:lnTo>
                  <a:lnTo>
                    <a:pt x="129" y="42"/>
                  </a:lnTo>
                  <a:lnTo>
                    <a:pt x="128" y="43"/>
                  </a:lnTo>
                  <a:lnTo>
                    <a:pt x="126" y="47"/>
                  </a:lnTo>
                  <a:lnTo>
                    <a:pt x="126" y="48"/>
                  </a:lnTo>
                  <a:lnTo>
                    <a:pt x="122" y="44"/>
                  </a:lnTo>
                  <a:lnTo>
                    <a:pt x="118" y="45"/>
                  </a:lnTo>
                  <a:lnTo>
                    <a:pt x="110" y="51"/>
                  </a:lnTo>
                  <a:lnTo>
                    <a:pt x="121" y="50"/>
                  </a:lnTo>
                  <a:lnTo>
                    <a:pt x="117" y="53"/>
                  </a:lnTo>
                  <a:lnTo>
                    <a:pt x="120" y="55"/>
                  </a:lnTo>
                  <a:lnTo>
                    <a:pt x="118" y="55"/>
                  </a:lnTo>
                  <a:lnTo>
                    <a:pt x="111" y="55"/>
                  </a:lnTo>
                  <a:lnTo>
                    <a:pt x="110" y="57"/>
                  </a:lnTo>
                  <a:lnTo>
                    <a:pt x="118" y="61"/>
                  </a:lnTo>
                  <a:lnTo>
                    <a:pt x="109" y="61"/>
                  </a:lnTo>
                  <a:lnTo>
                    <a:pt x="99" y="65"/>
                  </a:lnTo>
                  <a:lnTo>
                    <a:pt x="93" y="68"/>
                  </a:lnTo>
                  <a:lnTo>
                    <a:pt x="94" y="68"/>
                  </a:lnTo>
                  <a:lnTo>
                    <a:pt x="91" y="72"/>
                  </a:lnTo>
                  <a:lnTo>
                    <a:pt x="93" y="73"/>
                  </a:lnTo>
                  <a:lnTo>
                    <a:pt x="100" y="73"/>
                  </a:lnTo>
                  <a:lnTo>
                    <a:pt x="90" y="77"/>
                  </a:lnTo>
                  <a:lnTo>
                    <a:pt x="87" y="81"/>
                  </a:lnTo>
                  <a:lnTo>
                    <a:pt x="87" y="85"/>
                  </a:lnTo>
                  <a:lnTo>
                    <a:pt x="87" y="89"/>
                  </a:lnTo>
                  <a:lnTo>
                    <a:pt x="90" y="90"/>
                  </a:lnTo>
                  <a:lnTo>
                    <a:pt x="75" y="95"/>
                  </a:lnTo>
                  <a:lnTo>
                    <a:pt x="75" y="96"/>
                  </a:lnTo>
                  <a:lnTo>
                    <a:pt x="81" y="93"/>
                  </a:lnTo>
                  <a:lnTo>
                    <a:pt x="78" y="98"/>
                  </a:lnTo>
                  <a:lnTo>
                    <a:pt x="72" y="101"/>
                  </a:lnTo>
                  <a:lnTo>
                    <a:pt x="67" y="102"/>
                  </a:lnTo>
                  <a:lnTo>
                    <a:pt x="60" y="109"/>
                  </a:lnTo>
                  <a:lnTo>
                    <a:pt x="56" y="113"/>
                  </a:lnTo>
                  <a:lnTo>
                    <a:pt x="61" y="116"/>
                  </a:lnTo>
                  <a:lnTo>
                    <a:pt x="68" y="111"/>
                  </a:lnTo>
                  <a:lnTo>
                    <a:pt x="73" y="109"/>
                  </a:lnTo>
                  <a:lnTo>
                    <a:pt x="73" y="114"/>
                  </a:lnTo>
                  <a:lnTo>
                    <a:pt x="63" y="117"/>
                  </a:lnTo>
                  <a:lnTo>
                    <a:pt x="58" y="117"/>
                  </a:lnTo>
                  <a:lnTo>
                    <a:pt x="49" y="116"/>
                  </a:lnTo>
                  <a:lnTo>
                    <a:pt x="48" y="117"/>
                  </a:lnTo>
                  <a:lnTo>
                    <a:pt x="42" y="121"/>
                  </a:lnTo>
                  <a:lnTo>
                    <a:pt x="38" y="125"/>
                  </a:lnTo>
                  <a:lnTo>
                    <a:pt x="39" y="127"/>
                  </a:lnTo>
                  <a:lnTo>
                    <a:pt x="37" y="126"/>
                  </a:lnTo>
                  <a:lnTo>
                    <a:pt x="40" y="129"/>
                  </a:lnTo>
                  <a:lnTo>
                    <a:pt x="24" y="125"/>
                  </a:lnTo>
                  <a:lnTo>
                    <a:pt x="22" y="129"/>
                  </a:lnTo>
                  <a:lnTo>
                    <a:pt x="27" y="129"/>
                  </a:lnTo>
                  <a:lnTo>
                    <a:pt x="32" y="129"/>
                  </a:lnTo>
                  <a:lnTo>
                    <a:pt x="27" y="131"/>
                  </a:lnTo>
                  <a:lnTo>
                    <a:pt x="16" y="133"/>
                  </a:lnTo>
                  <a:lnTo>
                    <a:pt x="25" y="137"/>
                  </a:lnTo>
                  <a:lnTo>
                    <a:pt x="24" y="138"/>
                  </a:lnTo>
                  <a:lnTo>
                    <a:pt x="15" y="134"/>
                  </a:lnTo>
                  <a:lnTo>
                    <a:pt x="16" y="137"/>
                  </a:lnTo>
                  <a:lnTo>
                    <a:pt x="9" y="138"/>
                  </a:lnTo>
                  <a:lnTo>
                    <a:pt x="12" y="139"/>
                  </a:lnTo>
                  <a:lnTo>
                    <a:pt x="4" y="140"/>
                  </a:lnTo>
                  <a:lnTo>
                    <a:pt x="1" y="139"/>
                  </a:lnTo>
                  <a:lnTo>
                    <a:pt x="1" y="143"/>
                  </a:lnTo>
                  <a:lnTo>
                    <a:pt x="18" y="144"/>
                  </a:lnTo>
                  <a:lnTo>
                    <a:pt x="0" y="145"/>
                  </a:lnTo>
                  <a:lnTo>
                    <a:pt x="6" y="150"/>
                  </a:lnTo>
                  <a:lnTo>
                    <a:pt x="2" y="151"/>
                  </a:lnTo>
                  <a:lnTo>
                    <a:pt x="3" y="151"/>
                  </a:lnTo>
                  <a:lnTo>
                    <a:pt x="1" y="155"/>
                  </a:lnTo>
                  <a:lnTo>
                    <a:pt x="19" y="152"/>
                  </a:lnTo>
                  <a:lnTo>
                    <a:pt x="27" y="152"/>
                  </a:lnTo>
                  <a:lnTo>
                    <a:pt x="28" y="151"/>
                  </a:lnTo>
                  <a:lnTo>
                    <a:pt x="30" y="156"/>
                  </a:lnTo>
                  <a:lnTo>
                    <a:pt x="26" y="158"/>
                  </a:lnTo>
                  <a:lnTo>
                    <a:pt x="16" y="156"/>
                  </a:lnTo>
                  <a:lnTo>
                    <a:pt x="0" y="158"/>
                  </a:lnTo>
                  <a:lnTo>
                    <a:pt x="2" y="161"/>
                  </a:lnTo>
                  <a:lnTo>
                    <a:pt x="3" y="162"/>
                  </a:lnTo>
                  <a:lnTo>
                    <a:pt x="0" y="162"/>
                  </a:lnTo>
                  <a:lnTo>
                    <a:pt x="8" y="163"/>
                  </a:lnTo>
                  <a:lnTo>
                    <a:pt x="6" y="167"/>
                  </a:lnTo>
                  <a:lnTo>
                    <a:pt x="2" y="170"/>
                  </a:lnTo>
                  <a:lnTo>
                    <a:pt x="8" y="169"/>
                  </a:lnTo>
                  <a:lnTo>
                    <a:pt x="10" y="173"/>
                  </a:lnTo>
                  <a:lnTo>
                    <a:pt x="16" y="167"/>
                  </a:lnTo>
                  <a:lnTo>
                    <a:pt x="22" y="165"/>
                  </a:lnTo>
                  <a:lnTo>
                    <a:pt x="19" y="171"/>
                  </a:lnTo>
                  <a:lnTo>
                    <a:pt x="18" y="167"/>
                  </a:lnTo>
                  <a:lnTo>
                    <a:pt x="12" y="176"/>
                  </a:lnTo>
                  <a:lnTo>
                    <a:pt x="13" y="177"/>
                  </a:lnTo>
                  <a:lnTo>
                    <a:pt x="6" y="180"/>
                  </a:lnTo>
                  <a:lnTo>
                    <a:pt x="6" y="185"/>
                  </a:lnTo>
                  <a:lnTo>
                    <a:pt x="12" y="182"/>
                  </a:lnTo>
                  <a:lnTo>
                    <a:pt x="15" y="181"/>
                  </a:lnTo>
                  <a:lnTo>
                    <a:pt x="16" y="185"/>
                  </a:lnTo>
                  <a:lnTo>
                    <a:pt x="15" y="189"/>
                  </a:lnTo>
                  <a:lnTo>
                    <a:pt x="9" y="191"/>
                  </a:lnTo>
                  <a:lnTo>
                    <a:pt x="10" y="198"/>
                  </a:lnTo>
                  <a:lnTo>
                    <a:pt x="21" y="204"/>
                  </a:lnTo>
                  <a:lnTo>
                    <a:pt x="39" y="205"/>
                  </a:lnTo>
                  <a:lnTo>
                    <a:pt x="60" y="188"/>
                  </a:lnTo>
                  <a:lnTo>
                    <a:pt x="68" y="188"/>
                  </a:lnTo>
                  <a:lnTo>
                    <a:pt x="68" y="179"/>
                  </a:lnTo>
                  <a:lnTo>
                    <a:pt x="73" y="176"/>
                  </a:lnTo>
                  <a:lnTo>
                    <a:pt x="76" y="187"/>
                  </a:lnTo>
                  <a:lnTo>
                    <a:pt x="82" y="191"/>
                  </a:lnTo>
                  <a:lnTo>
                    <a:pt x="90" y="175"/>
                  </a:lnTo>
                  <a:lnTo>
                    <a:pt x="92" y="161"/>
                  </a:lnTo>
                  <a:lnTo>
                    <a:pt x="92" y="156"/>
                  </a:lnTo>
                  <a:lnTo>
                    <a:pt x="97" y="151"/>
                  </a:lnTo>
                  <a:lnTo>
                    <a:pt x="87" y="145"/>
                  </a:lnTo>
                  <a:lnTo>
                    <a:pt x="87" y="129"/>
                  </a:lnTo>
                  <a:lnTo>
                    <a:pt x="86" y="114"/>
                  </a:lnTo>
                  <a:lnTo>
                    <a:pt x="97" y="107"/>
                  </a:lnTo>
                  <a:lnTo>
                    <a:pt x="108" y="105"/>
                  </a:lnTo>
                  <a:lnTo>
                    <a:pt x="102" y="99"/>
                  </a:lnTo>
                  <a:lnTo>
                    <a:pt x="111" y="79"/>
                  </a:lnTo>
                  <a:lnTo>
                    <a:pt x="109" y="75"/>
                  </a:lnTo>
                  <a:lnTo>
                    <a:pt x="120" y="73"/>
                  </a:lnTo>
                  <a:lnTo>
                    <a:pt x="126" y="63"/>
                  </a:lnTo>
                  <a:lnTo>
                    <a:pt x="132" y="48"/>
                  </a:lnTo>
                  <a:lnTo>
                    <a:pt x="147" y="43"/>
                  </a:lnTo>
                  <a:lnTo>
                    <a:pt x="148" y="38"/>
                  </a:lnTo>
                  <a:lnTo>
                    <a:pt x="169" y="38"/>
                  </a:lnTo>
                  <a:lnTo>
                    <a:pt x="168" y="30"/>
                  </a:lnTo>
                  <a:lnTo>
                    <a:pt x="174" y="30"/>
                  </a:lnTo>
                  <a:lnTo>
                    <a:pt x="181" y="25"/>
                  </a:lnTo>
                  <a:lnTo>
                    <a:pt x="194" y="33"/>
                  </a:lnTo>
                  <a:lnTo>
                    <a:pt x="207" y="36"/>
                  </a:lnTo>
                  <a:lnTo>
                    <a:pt x="223" y="36"/>
                  </a:lnTo>
                  <a:lnTo>
                    <a:pt x="230" y="32"/>
                  </a:lnTo>
                  <a:lnTo>
                    <a:pt x="234" y="21"/>
                  </a:lnTo>
                  <a:lnTo>
                    <a:pt x="250" y="14"/>
                  </a:lnTo>
                  <a:lnTo>
                    <a:pt x="270" y="20"/>
                  </a:lnTo>
                  <a:lnTo>
                    <a:pt x="270" y="30"/>
                  </a:lnTo>
                  <a:lnTo>
                    <a:pt x="282" y="23"/>
                  </a:lnTo>
                  <a:lnTo>
                    <a:pt x="289" y="23"/>
                  </a:lnTo>
                  <a:lnTo>
                    <a:pt x="289" y="18"/>
                  </a:lnTo>
                  <a:lnTo>
                    <a:pt x="282" y="18"/>
                  </a:lnTo>
                  <a:lnTo>
                    <a:pt x="276" y="19"/>
                  </a:lnTo>
                  <a:lnTo>
                    <a:pt x="266" y="13"/>
                  </a:lnTo>
                  <a:lnTo>
                    <a:pt x="289" y="11"/>
                  </a:lnTo>
                  <a:lnTo>
                    <a:pt x="278" y="6"/>
                  </a:lnTo>
                  <a:lnTo>
                    <a:pt x="266" y="3"/>
                  </a:lnTo>
                  <a:lnTo>
                    <a:pt x="259" y="6"/>
                  </a:lnTo>
                  <a:lnTo>
                    <a:pt x="256" y="13"/>
                  </a:lnTo>
                  <a:lnTo>
                    <a:pt x="255" y="8"/>
                  </a:lnTo>
                  <a:lnTo>
                    <a:pt x="254" y="6"/>
                  </a:lnTo>
                  <a:lnTo>
                    <a:pt x="253" y="5"/>
                  </a:lnTo>
                  <a:lnTo>
                    <a:pt x="252" y="0"/>
                  </a:lnTo>
                  <a:lnTo>
                    <a:pt x="244" y="2"/>
                  </a:lnTo>
                  <a:lnTo>
                    <a:pt x="237" y="11"/>
                  </a:lnTo>
                  <a:lnTo>
                    <a:pt x="234" y="2"/>
                  </a:lnTo>
                  <a:lnTo>
                    <a:pt x="220" y="14"/>
                  </a:lnTo>
                  <a:lnTo>
                    <a:pt x="225" y="5"/>
                  </a:lnTo>
                  <a:lnTo>
                    <a:pt x="222" y="3"/>
                  </a:lnTo>
                  <a:lnTo>
                    <a:pt x="213" y="3"/>
                  </a:lnTo>
                  <a:lnTo>
                    <a:pt x="213" y="6"/>
                  </a:lnTo>
                  <a:lnTo>
                    <a:pt x="200" y="14"/>
                  </a:lnTo>
                  <a:lnTo>
                    <a:pt x="192" y="14"/>
                  </a:lnTo>
                  <a:lnTo>
                    <a:pt x="193" y="12"/>
                  </a:lnTo>
                  <a:lnTo>
                    <a:pt x="180" y="13"/>
                  </a:lnTo>
                  <a:lnTo>
                    <a:pt x="188" y="15"/>
                  </a:lnTo>
                  <a:lnTo>
                    <a:pt x="186" y="18"/>
                  </a:lnTo>
                  <a:lnTo>
                    <a:pt x="178" y="18"/>
                  </a:lnTo>
                  <a:lnTo>
                    <a:pt x="171" y="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8" name="Freeform 337"/>
            <p:cNvSpPr>
              <a:spLocks/>
            </p:cNvSpPr>
            <p:nvPr/>
          </p:nvSpPr>
          <p:spPr bwMode="auto">
            <a:xfrm>
              <a:off x="2653" y="1194"/>
              <a:ext cx="120" cy="49"/>
            </a:xfrm>
            <a:custGeom>
              <a:avLst/>
              <a:gdLst/>
              <a:ahLst/>
              <a:cxnLst>
                <a:cxn ang="0">
                  <a:pos x="27" y="4"/>
                </a:cxn>
                <a:cxn ang="0">
                  <a:pos x="12" y="4"/>
                </a:cxn>
                <a:cxn ang="0">
                  <a:pos x="0" y="5"/>
                </a:cxn>
                <a:cxn ang="0">
                  <a:pos x="3" y="11"/>
                </a:cxn>
                <a:cxn ang="0">
                  <a:pos x="11" y="10"/>
                </a:cxn>
                <a:cxn ang="0">
                  <a:pos x="12" y="13"/>
                </a:cxn>
                <a:cxn ang="0">
                  <a:pos x="5" y="15"/>
                </a:cxn>
                <a:cxn ang="0">
                  <a:pos x="18" y="21"/>
                </a:cxn>
                <a:cxn ang="0">
                  <a:pos x="29" y="24"/>
                </a:cxn>
                <a:cxn ang="0">
                  <a:pos x="36" y="21"/>
                </a:cxn>
                <a:cxn ang="0">
                  <a:pos x="45" y="17"/>
                </a:cxn>
                <a:cxn ang="0">
                  <a:pos x="46" y="19"/>
                </a:cxn>
                <a:cxn ang="0">
                  <a:pos x="58" y="17"/>
                </a:cxn>
                <a:cxn ang="0">
                  <a:pos x="59" y="21"/>
                </a:cxn>
                <a:cxn ang="0">
                  <a:pos x="34" y="25"/>
                </a:cxn>
                <a:cxn ang="0">
                  <a:pos x="30" y="29"/>
                </a:cxn>
                <a:cxn ang="0">
                  <a:pos x="61" y="29"/>
                </a:cxn>
                <a:cxn ang="0">
                  <a:pos x="49" y="30"/>
                </a:cxn>
                <a:cxn ang="0">
                  <a:pos x="54" y="33"/>
                </a:cxn>
                <a:cxn ang="0">
                  <a:pos x="35" y="34"/>
                </a:cxn>
                <a:cxn ang="0">
                  <a:pos x="57" y="41"/>
                </a:cxn>
                <a:cxn ang="0">
                  <a:pos x="64" y="46"/>
                </a:cxn>
                <a:cxn ang="0">
                  <a:pos x="67" y="43"/>
                </a:cxn>
                <a:cxn ang="0">
                  <a:pos x="76" y="34"/>
                </a:cxn>
                <a:cxn ang="0">
                  <a:pos x="82" y="27"/>
                </a:cxn>
                <a:cxn ang="0">
                  <a:pos x="84" y="22"/>
                </a:cxn>
                <a:cxn ang="0">
                  <a:pos x="108" y="17"/>
                </a:cxn>
                <a:cxn ang="0">
                  <a:pos x="81" y="11"/>
                </a:cxn>
                <a:cxn ang="0">
                  <a:pos x="77" y="6"/>
                </a:cxn>
                <a:cxn ang="0">
                  <a:pos x="70" y="9"/>
                </a:cxn>
                <a:cxn ang="0">
                  <a:pos x="69" y="5"/>
                </a:cxn>
                <a:cxn ang="0">
                  <a:pos x="54" y="0"/>
                </a:cxn>
                <a:cxn ang="0">
                  <a:pos x="57" y="15"/>
                </a:cxn>
                <a:cxn ang="0">
                  <a:pos x="39" y="4"/>
                </a:cxn>
                <a:cxn ang="0">
                  <a:pos x="31" y="9"/>
                </a:cxn>
                <a:cxn ang="0">
                  <a:pos x="23" y="6"/>
                </a:cxn>
                <a:cxn ang="0">
                  <a:pos x="27" y="4"/>
                </a:cxn>
              </a:cxnLst>
              <a:rect l="0" t="0" r="r" b="b"/>
              <a:pathLst>
                <a:path w="108" h="46">
                  <a:moveTo>
                    <a:pt x="27" y="4"/>
                  </a:moveTo>
                  <a:lnTo>
                    <a:pt x="12" y="4"/>
                  </a:lnTo>
                  <a:lnTo>
                    <a:pt x="0" y="5"/>
                  </a:lnTo>
                  <a:lnTo>
                    <a:pt x="3" y="11"/>
                  </a:lnTo>
                  <a:lnTo>
                    <a:pt x="11" y="10"/>
                  </a:lnTo>
                  <a:lnTo>
                    <a:pt x="12" y="13"/>
                  </a:lnTo>
                  <a:lnTo>
                    <a:pt x="5" y="15"/>
                  </a:lnTo>
                  <a:lnTo>
                    <a:pt x="18" y="21"/>
                  </a:lnTo>
                  <a:lnTo>
                    <a:pt x="29" y="24"/>
                  </a:lnTo>
                  <a:lnTo>
                    <a:pt x="36" y="21"/>
                  </a:lnTo>
                  <a:lnTo>
                    <a:pt x="45" y="17"/>
                  </a:lnTo>
                  <a:lnTo>
                    <a:pt x="46" y="19"/>
                  </a:lnTo>
                  <a:lnTo>
                    <a:pt x="58" y="17"/>
                  </a:lnTo>
                  <a:lnTo>
                    <a:pt x="59" y="21"/>
                  </a:lnTo>
                  <a:lnTo>
                    <a:pt x="34" y="25"/>
                  </a:lnTo>
                  <a:lnTo>
                    <a:pt x="30" y="29"/>
                  </a:lnTo>
                  <a:lnTo>
                    <a:pt x="61" y="29"/>
                  </a:lnTo>
                  <a:lnTo>
                    <a:pt x="49" y="30"/>
                  </a:lnTo>
                  <a:lnTo>
                    <a:pt x="54" y="33"/>
                  </a:lnTo>
                  <a:lnTo>
                    <a:pt x="35" y="34"/>
                  </a:lnTo>
                  <a:lnTo>
                    <a:pt x="57" y="41"/>
                  </a:lnTo>
                  <a:lnTo>
                    <a:pt x="64" y="46"/>
                  </a:lnTo>
                  <a:lnTo>
                    <a:pt x="67" y="43"/>
                  </a:lnTo>
                  <a:lnTo>
                    <a:pt x="76" y="34"/>
                  </a:lnTo>
                  <a:lnTo>
                    <a:pt x="82" y="27"/>
                  </a:lnTo>
                  <a:lnTo>
                    <a:pt x="84" y="22"/>
                  </a:lnTo>
                  <a:lnTo>
                    <a:pt x="108" y="17"/>
                  </a:lnTo>
                  <a:lnTo>
                    <a:pt x="81" y="11"/>
                  </a:lnTo>
                  <a:lnTo>
                    <a:pt x="77" y="6"/>
                  </a:lnTo>
                  <a:lnTo>
                    <a:pt x="70" y="9"/>
                  </a:lnTo>
                  <a:lnTo>
                    <a:pt x="69" y="5"/>
                  </a:lnTo>
                  <a:lnTo>
                    <a:pt x="54" y="0"/>
                  </a:lnTo>
                  <a:lnTo>
                    <a:pt x="57" y="15"/>
                  </a:lnTo>
                  <a:lnTo>
                    <a:pt x="39" y="4"/>
                  </a:lnTo>
                  <a:lnTo>
                    <a:pt x="31" y="9"/>
                  </a:lnTo>
                  <a:lnTo>
                    <a:pt x="23" y="6"/>
                  </a:lnTo>
                  <a:lnTo>
                    <a:pt x="27"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39" name="Freeform 338"/>
            <p:cNvSpPr>
              <a:spLocks/>
            </p:cNvSpPr>
            <p:nvPr/>
          </p:nvSpPr>
          <p:spPr bwMode="auto">
            <a:xfrm>
              <a:off x="2731" y="1188"/>
              <a:ext cx="98" cy="15"/>
            </a:xfrm>
            <a:custGeom>
              <a:avLst/>
              <a:gdLst/>
              <a:ahLst/>
              <a:cxnLst>
                <a:cxn ang="0">
                  <a:pos x="40" y="5"/>
                </a:cxn>
                <a:cxn ang="0">
                  <a:pos x="14" y="2"/>
                </a:cxn>
                <a:cxn ang="0">
                  <a:pos x="10" y="3"/>
                </a:cxn>
                <a:cxn ang="0">
                  <a:pos x="0" y="5"/>
                </a:cxn>
                <a:cxn ang="0">
                  <a:pos x="0" y="6"/>
                </a:cxn>
                <a:cxn ang="0">
                  <a:pos x="36" y="9"/>
                </a:cxn>
                <a:cxn ang="0">
                  <a:pos x="19" y="11"/>
                </a:cxn>
                <a:cxn ang="0">
                  <a:pos x="47" y="15"/>
                </a:cxn>
                <a:cxn ang="0">
                  <a:pos x="77" y="14"/>
                </a:cxn>
                <a:cxn ang="0">
                  <a:pos x="89" y="6"/>
                </a:cxn>
                <a:cxn ang="0">
                  <a:pos x="82" y="4"/>
                </a:cxn>
                <a:cxn ang="0">
                  <a:pos x="53" y="3"/>
                </a:cxn>
                <a:cxn ang="0">
                  <a:pos x="49" y="3"/>
                </a:cxn>
                <a:cxn ang="0">
                  <a:pos x="43" y="0"/>
                </a:cxn>
                <a:cxn ang="0">
                  <a:pos x="41" y="3"/>
                </a:cxn>
                <a:cxn ang="0">
                  <a:pos x="40" y="5"/>
                </a:cxn>
              </a:cxnLst>
              <a:rect l="0" t="0" r="r" b="b"/>
              <a:pathLst>
                <a:path w="89" h="15">
                  <a:moveTo>
                    <a:pt x="40" y="5"/>
                  </a:moveTo>
                  <a:lnTo>
                    <a:pt x="14" y="2"/>
                  </a:lnTo>
                  <a:lnTo>
                    <a:pt x="10" y="3"/>
                  </a:lnTo>
                  <a:lnTo>
                    <a:pt x="0" y="5"/>
                  </a:lnTo>
                  <a:lnTo>
                    <a:pt x="0" y="6"/>
                  </a:lnTo>
                  <a:lnTo>
                    <a:pt x="36" y="9"/>
                  </a:lnTo>
                  <a:lnTo>
                    <a:pt x="19" y="11"/>
                  </a:lnTo>
                  <a:lnTo>
                    <a:pt x="47" y="15"/>
                  </a:lnTo>
                  <a:lnTo>
                    <a:pt x="77" y="14"/>
                  </a:lnTo>
                  <a:lnTo>
                    <a:pt x="89" y="6"/>
                  </a:lnTo>
                  <a:lnTo>
                    <a:pt x="82" y="4"/>
                  </a:lnTo>
                  <a:lnTo>
                    <a:pt x="53" y="3"/>
                  </a:lnTo>
                  <a:lnTo>
                    <a:pt x="49" y="3"/>
                  </a:lnTo>
                  <a:lnTo>
                    <a:pt x="43" y="0"/>
                  </a:lnTo>
                  <a:lnTo>
                    <a:pt x="41" y="3"/>
                  </a:lnTo>
                  <a:lnTo>
                    <a:pt x="40"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0" name="Freeform 339"/>
            <p:cNvSpPr>
              <a:spLocks/>
            </p:cNvSpPr>
            <p:nvPr/>
          </p:nvSpPr>
          <p:spPr bwMode="auto">
            <a:xfrm>
              <a:off x="2767" y="1221"/>
              <a:ext cx="46" cy="11"/>
            </a:xfrm>
            <a:custGeom>
              <a:avLst/>
              <a:gdLst/>
              <a:ahLst/>
              <a:cxnLst>
                <a:cxn ang="0">
                  <a:pos x="33" y="9"/>
                </a:cxn>
                <a:cxn ang="0">
                  <a:pos x="18" y="10"/>
                </a:cxn>
                <a:cxn ang="0">
                  <a:pos x="5" y="10"/>
                </a:cxn>
                <a:cxn ang="0">
                  <a:pos x="9" y="4"/>
                </a:cxn>
                <a:cxn ang="0">
                  <a:pos x="0" y="0"/>
                </a:cxn>
                <a:cxn ang="0">
                  <a:pos x="26" y="0"/>
                </a:cxn>
                <a:cxn ang="0">
                  <a:pos x="42" y="5"/>
                </a:cxn>
                <a:cxn ang="0">
                  <a:pos x="33" y="9"/>
                </a:cxn>
              </a:cxnLst>
              <a:rect l="0" t="0" r="r" b="b"/>
              <a:pathLst>
                <a:path w="42" h="10">
                  <a:moveTo>
                    <a:pt x="33" y="9"/>
                  </a:moveTo>
                  <a:lnTo>
                    <a:pt x="18" y="10"/>
                  </a:lnTo>
                  <a:lnTo>
                    <a:pt x="5" y="10"/>
                  </a:lnTo>
                  <a:lnTo>
                    <a:pt x="9" y="4"/>
                  </a:lnTo>
                  <a:lnTo>
                    <a:pt x="0" y="0"/>
                  </a:lnTo>
                  <a:lnTo>
                    <a:pt x="26" y="0"/>
                  </a:lnTo>
                  <a:lnTo>
                    <a:pt x="42" y="5"/>
                  </a:lnTo>
                  <a:lnTo>
                    <a:pt x="33"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1" name="Freeform 340"/>
            <p:cNvSpPr>
              <a:spLocks/>
            </p:cNvSpPr>
            <p:nvPr/>
          </p:nvSpPr>
          <p:spPr bwMode="auto">
            <a:xfrm>
              <a:off x="2727" y="1368"/>
              <a:ext cx="15" cy="8"/>
            </a:xfrm>
            <a:custGeom>
              <a:avLst/>
              <a:gdLst/>
              <a:ahLst/>
              <a:cxnLst>
                <a:cxn ang="0">
                  <a:pos x="9" y="0"/>
                </a:cxn>
                <a:cxn ang="0">
                  <a:pos x="4" y="7"/>
                </a:cxn>
                <a:cxn ang="0">
                  <a:pos x="0" y="9"/>
                </a:cxn>
                <a:cxn ang="0">
                  <a:pos x="6" y="7"/>
                </a:cxn>
                <a:cxn ang="0">
                  <a:pos x="10" y="9"/>
                </a:cxn>
                <a:cxn ang="0">
                  <a:pos x="16" y="3"/>
                </a:cxn>
                <a:cxn ang="0">
                  <a:pos x="10" y="4"/>
                </a:cxn>
                <a:cxn ang="0">
                  <a:pos x="9" y="0"/>
                </a:cxn>
              </a:cxnLst>
              <a:rect l="0" t="0" r="r" b="b"/>
              <a:pathLst>
                <a:path w="16" h="9">
                  <a:moveTo>
                    <a:pt x="9" y="0"/>
                  </a:moveTo>
                  <a:lnTo>
                    <a:pt x="4" y="7"/>
                  </a:lnTo>
                  <a:lnTo>
                    <a:pt x="0" y="9"/>
                  </a:lnTo>
                  <a:lnTo>
                    <a:pt x="6" y="7"/>
                  </a:lnTo>
                  <a:lnTo>
                    <a:pt x="10" y="9"/>
                  </a:lnTo>
                  <a:lnTo>
                    <a:pt x="16" y="3"/>
                  </a:lnTo>
                  <a:lnTo>
                    <a:pt x="10" y="4"/>
                  </a:lnTo>
                  <a:lnTo>
                    <a:pt x="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2" name="Freeform 341"/>
            <p:cNvSpPr>
              <a:spLocks/>
            </p:cNvSpPr>
            <p:nvPr/>
          </p:nvSpPr>
          <p:spPr bwMode="auto">
            <a:xfrm>
              <a:off x="2796" y="1348"/>
              <a:ext cx="166" cy="177"/>
            </a:xfrm>
            <a:custGeom>
              <a:avLst/>
              <a:gdLst/>
              <a:ahLst/>
              <a:cxnLst>
                <a:cxn ang="0">
                  <a:pos x="127" y="87"/>
                </a:cxn>
                <a:cxn ang="0">
                  <a:pos x="122" y="82"/>
                </a:cxn>
                <a:cxn ang="0">
                  <a:pos x="121" y="67"/>
                </a:cxn>
                <a:cxn ang="0">
                  <a:pos x="106" y="51"/>
                </a:cxn>
                <a:cxn ang="0">
                  <a:pos x="114" y="39"/>
                </a:cxn>
                <a:cxn ang="0">
                  <a:pos x="96" y="29"/>
                </a:cxn>
                <a:cxn ang="0">
                  <a:pos x="96" y="19"/>
                </a:cxn>
                <a:cxn ang="0">
                  <a:pos x="96" y="16"/>
                </a:cxn>
                <a:cxn ang="0">
                  <a:pos x="96" y="6"/>
                </a:cxn>
                <a:cxn ang="0">
                  <a:pos x="76" y="0"/>
                </a:cxn>
                <a:cxn ang="0">
                  <a:pos x="60" y="7"/>
                </a:cxn>
                <a:cxn ang="0">
                  <a:pos x="56" y="18"/>
                </a:cxn>
                <a:cxn ang="0">
                  <a:pos x="49" y="22"/>
                </a:cxn>
                <a:cxn ang="0">
                  <a:pos x="33" y="22"/>
                </a:cxn>
                <a:cxn ang="0">
                  <a:pos x="20" y="19"/>
                </a:cxn>
                <a:cxn ang="0">
                  <a:pos x="7" y="11"/>
                </a:cxn>
                <a:cxn ang="0">
                  <a:pos x="0" y="16"/>
                </a:cxn>
                <a:cxn ang="0">
                  <a:pos x="33" y="30"/>
                </a:cxn>
                <a:cxn ang="0">
                  <a:pos x="45" y="51"/>
                </a:cxn>
                <a:cxn ang="0">
                  <a:pos x="51" y="66"/>
                </a:cxn>
                <a:cxn ang="0">
                  <a:pos x="56" y="65"/>
                </a:cxn>
                <a:cxn ang="0">
                  <a:pos x="62" y="69"/>
                </a:cxn>
                <a:cxn ang="0">
                  <a:pos x="66" y="81"/>
                </a:cxn>
                <a:cxn ang="0">
                  <a:pos x="44" y="96"/>
                </a:cxn>
                <a:cxn ang="0">
                  <a:pos x="36" y="105"/>
                </a:cxn>
                <a:cxn ang="0">
                  <a:pos x="26" y="109"/>
                </a:cxn>
                <a:cxn ang="0">
                  <a:pos x="28" y="127"/>
                </a:cxn>
                <a:cxn ang="0">
                  <a:pos x="32" y="148"/>
                </a:cxn>
                <a:cxn ang="0">
                  <a:pos x="45" y="153"/>
                </a:cxn>
                <a:cxn ang="0">
                  <a:pos x="46" y="155"/>
                </a:cxn>
                <a:cxn ang="0">
                  <a:pos x="51" y="154"/>
                </a:cxn>
                <a:cxn ang="0">
                  <a:pos x="56" y="161"/>
                </a:cxn>
                <a:cxn ang="0">
                  <a:pos x="60" y="159"/>
                </a:cxn>
                <a:cxn ang="0">
                  <a:pos x="91" y="153"/>
                </a:cxn>
                <a:cxn ang="0">
                  <a:pos x="97" y="150"/>
                </a:cxn>
                <a:cxn ang="0">
                  <a:pos x="114" y="150"/>
                </a:cxn>
                <a:cxn ang="0">
                  <a:pos x="123" y="141"/>
                </a:cxn>
                <a:cxn ang="0">
                  <a:pos x="133" y="131"/>
                </a:cxn>
                <a:cxn ang="0">
                  <a:pos x="141" y="121"/>
                </a:cxn>
                <a:cxn ang="0">
                  <a:pos x="151" y="112"/>
                </a:cxn>
                <a:cxn ang="0">
                  <a:pos x="128" y="99"/>
                </a:cxn>
                <a:cxn ang="0">
                  <a:pos x="134" y="94"/>
                </a:cxn>
                <a:cxn ang="0">
                  <a:pos x="127" y="87"/>
                </a:cxn>
              </a:cxnLst>
              <a:rect l="0" t="0" r="r" b="b"/>
              <a:pathLst>
                <a:path w="151" h="161">
                  <a:moveTo>
                    <a:pt x="127" y="87"/>
                  </a:moveTo>
                  <a:lnTo>
                    <a:pt x="122" y="82"/>
                  </a:lnTo>
                  <a:lnTo>
                    <a:pt x="121" y="67"/>
                  </a:lnTo>
                  <a:lnTo>
                    <a:pt x="106" y="51"/>
                  </a:lnTo>
                  <a:lnTo>
                    <a:pt x="114" y="39"/>
                  </a:lnTo>
                  <a:lnTo>
                    <a:pt x="96" y="29"/>
                  </a:lnTo>
                  <a:lnTo>
                    <a:pt x="96" y="19"/>
                  </a:lnTo>
                  <a:lnTo>
                    <a:pt x="96" y="16"/>
                  </a:lnTo>
                  <a:lnTo>
                    <a:pt x="96" y="6"/>
                  </a:lnTo>
                  <a:lnTo>
                    <a:pt x="76" y="0"/>
                  </a:lnTo>
                  <a:lnTo>
                    <a:pt x="60" y="7"/>
                  </a:lnTo>
                  <a:lnTo>
                    <a:pt x="56" y="18"/>
                  </a:lnTo>
                  <a:lnTo>
                    <a:pt x="49" y="22"/>
                  </a:lnTo>
                  <a:lnTo>
                    <a:pt x="33" y="22"/>
                  </a:lnTo>
                  <a:lnTo>
                    <a:pt x="20" y="19"/>
                  </a:lnTo>
                  <a:lnTo>
                    <a:pt x="7" y="11"/>
                  </a:lnTo>
                  <a:lnTo>
                    <a:pt x="0" y="16"/>
                  </a:lnTo>
                  <a:lnTo>
                    <a:pt x="33" y="30"/>
                  </a:lnTo>
                  <a:lnTo>
                    <a:pt x="45" y="51"/>
                  </a:lnTo>
                  <a:lnTo>
                    <a:pt x="51" y="66"/>
                  </a:lnTo>
                  <a:lnTo>
                    <a:pt x="56" y="65"/>
                  </a:lnTo>
                  <a:lnTo>
                    <a:pt x="62" y="69"/>
                  </a:lnTo>
                  <a:lnTo>
                    <a:pt x="66" y="81"/>
                  </a:lnTo>
                  <a:lnTo>
                    <a:pt x="44" y="96"/>
                  </a:lnTo>
                  <a:lnTo>
                    <a:pt x="36" y="105"/>
                  </a:lnTo>
                  <a:lnTo>
                    <a:pt x="26" y="109"/>
                  </a:lnTo>
                  <a:lnTo>
                    <a:pt x="28" y="127"/>
                  </a:lnTo>
                  <a:lnTo>
                    <a:pt x="32" y="148"/>
                  </a:lnTo>
                  <a:lnTo>
                    <a:pt x="45" y="153"/>
                  </a:lnTo>
                  <a:lnTo>
                    <a:pt x="46" y="155"/>
                  </a:lnTo>
                  <a:lnTo>
                    <a:pt x="51" y="154"/>
                  </a:lnTo>
                  <a:lnTo>
                    <a:pt x="56" y="161"/>
                  </a:lnTo>
                  <a:lnTo>
                    <a:pt x="60" y="159"/>
                  </a:lnTo>
                  <a:lnTo>
                    <a:pt x="91" y="153"/>
                  </a:lnTo>
                  <a:lnTo>
                    <a:pt x="97" y="150"/>
                  </a:lnTo>
                  <a:lnTo>
                    <a:pt x="114" y="150"/>
                  </a:lnTo>
                  <a:lnTo>
                    <a:pt x="123" y="141"/>
                  </a:lnTo>
                  <a:lnTo>
                    <a:pt x="133" y="131"/>
                  </a:lnTo>
                  <a:lnTo>
                    <a:pt x="141" y="121"/>
                  </a:lnTo>
                  <a:lnTo>
                    <a:pt x="151" y="112"/>
                  </a:lnTo>
                  <a:lnTo>
                    <a:pt x="128" y="99"/>
                  </a:lnTo>
                  <a:lnTo>
                    <a:pt x="134" y="94"/>
                  </a:lnTo>
                  <a:lnTo>
                    <a:pt x="127"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3" name="Freeform 342"/>
            <p:cNvSpPr>
              <a:spLocks/>
            </p:cNvSpPr>
            <p:nvPr/>
          </p:nvSpPr>
          <p:spPr bwMode="auto">
            <a:xfrm>
              <a:off x="2680" y="1763"/>
              <a:ext cx="2" cy="5"/>
            </a:xfrm>
            <a:custGeom>
              <a:avLst/>
              <a:gdLst/>
              <a:ahLst/>
              <a:cxnLst>
                <a:cxn ang="0">
                  <a:pos x="0" y="0"/>
                </a:cxn>
                <a:cxn ang="0">
                  <a:pos x="0" y="3"/>
                </a:cxn>
                <a:cxn ang="0">
                  <a:pos x="1" y="3"/>
                </a:cxn>
                <a:cxn ang="0">
                  <a:pos x="0" y="0"/>
                </a:cxn>
              </a:cxnLst>
              <a:rect l="0" t="0" r="r" b="b"/>
              <a:pathLst>
                <a:path w="1" h="3">
                  <a:moveTo>
                    <a:pt x="0" y="0"/>
                  </a:moveTo>
                  <a:lnTo>
                    <a:pt x="0" y="3"/>
                  </a:lnTo>
                  <a:lnTo>
                    <a:pt x="1" y="3"/>
                  </a:lnTo>
                  <a:lnTo>
                    <a:pt x="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4" name="Freeform 343"/>
            <p:cNvSpPr>
              <a:spLocks/>
            </p:cNvSpPr>
            <p:nvPr/>
          </p:nvSpPr>
          <p:spPr bwMode="auto">
            <a:xfrm>
              <a:off x="2680" y="1732"/>
              <a:ext cx="118" cy="49"/>
            </a:xfrm>
            <a:custGeom>
              <a:avLst/>
              <a:gdLst/>
              <a:ahLst/>
              <a:cxnLst>
                <a:cxn ang="0">
                  <a:pos x="39" y="35"/>
                </a:cxn>
                <a:cxn ang="0">
                  <a:pos x="23" y="37"/>
                </a:cxn>
                <a:cxn ang="0">
                  <a:pos x="15" y="36"/>
                </a:cxn>
                <a:cxn ang="0">
                  <a:pos x="3" y="32"/>
                </a:cxn>
                <a:cxn ang="0">
                  <a:pos x="1" y="32"/>
                </a:cxn>
                <a:cxn ang="0">
                  <a:pos x="0" y="29"/>
                </a:cxn>
                <a:cxn ang="0">
                  <a:pos x="1" y="25"/>
                </a:cxn>
                <a:cxn ang="0">
                  <a:pos x="11" y="26"/>
                </a:cxn>
                <a:cxn ang="0">
                  <a:pos x="13" y="28"/>
                </a:cxn>
                <a:cxn ang="0">
                  <a:pos x="17" y="24"/>
                </a:cxn>
                <a:cxn ang="0">
                  <a:pos x="29" y="24"/>
                </a:cxn>
                <a:cxn ang="0">
                  <a:pos x="46" y="24"/>
                </a:cxn>
                <a:cxn ang="0">
                  <a:pos x="51" y="22"/>
                </a:cxn>
                <a:cxn ang="0">
                  <a:pos x="48" y="13"/>
                </a:cxn>
                <a:cxn ang="0">
                  <a:pos x="59" y="4"/>
                </a:cxn>
                <a:cxn ang="0">
                  <a:pos x="67" y="7"/>
                </a:cxn>
                <a:cxn ang="0">
                  <a:pos x="75" y="0"/>
                </a:cxn>
                <a:cxn ang="0">
                  <a:pos x="97" y="4"/>
                </a:cxn>
                <a:cxn ang="0">
                  <a:pos x="107" y="17"/>
                </a:cxn>
                <a:cxn ang="0">
                  <a:pos x="101" y="22"/>
                </a:cxn>
                <a:cxn ang="0">
                  <a:pos x="100" y="23"/>
                </a:cxn>
                <a:cxn ang="0">
                  <a:pos x="95" y="35"/>
                </a:cxn>
                <a:cxn ang="0">
                  <a:pos x="94" y="36"/>
                </a:cxn>
                <a:cxn ang="0">
                  <a:pos x="66" y="43"/>
                </a:cxn>
                <a:cxn ang="0">
                  <a:pos x="60" y="42"/>
                </a:cxn>
                <a:cxn ang="0">
                  <a:pos x="39" y="35"/>
                </a:cxn>
              </a:cxnLst>
              <a:rect l="0" t="0" r="r" b="b"/>
              <a:pathLst>
                <a:path w="107" h="43">
                  <a:moveTo>
                    <a:pt x="39" y="35"/>
                  </a:moveTo>
                  <a:lnTo>
                    <a:pt x="23" y="37"/>
                  </a:lnTo>
                  <a:lnTo>
                    <a:pt x="15" y="36"/>
                  </a:lnTo>
                  <a:lnTo>
                    <a:pt x="3" y="32"/>
                  </a:lnTo>
                  <a:lnTo>
                    <a:pt x="1" y="32"/>
                  </a:lnTo>
                  <a:lnTo>
                    <a:pt x="0" y="29"/>
                  </a:lnTo>
                  <a:lnTo>
                    <a:pt x="1" y="25"/>
                  </a:lnTo>
                  <a:lnTo>
                    <a:pt x="11" y="26"/>
                  </a:lnTo>
                  <a:lnTo>
                    <a:pt x="13" y="28"/>
                  </a:lnTo>
                  <a:lnTo>
                    <a:pt x="17" y="24"/>
                  </a:lnTo>
                  <a:lnTo>
                    <a:pt x="29" y="24"/>
                  </a:lnTo>
                  <a:lnTo>
                    <a:pt x="46" y="24"/>
                  </a:lnTo>
                  <a:lnTo>
                    <a:pt x="51" y="22"/>
                  </a:lnTo>
                  <a:lnTo>
                    <a:pt x="48" y="13"/>
                  </a:lnTo>
                  <a:lnTo>
                    <a:pt x="59" y="4"/>
                  </a:lnTo>
                  <a:lnTo>
                    <a:pt x="67" y="7"/>
                  </a:lnTo>
                  <a:lnTo>
                    <a:pt x="75" y="0"/>
                  </a:lnTo>
                  <a:lnTo>
                    <a:pt x="97" y="4"/>
                  </a:lnTo>
                  <a:lnTo>
                    <a:pt x="107" y="17"/>
                  </a:lnTo>
                  <a:lnTo>
                    <a:pt x="101" y="22"/>
                  </a:lnTo>
                  <a:lnTo>
                    <a:pt x="100" y="23"/>
                  </a:lnTo>
                  <a:lnTo>
                    <a:pt x="95" y="35"/>
                  </a:lnTo>
                  <a:lnTo>
                    <a:pt x="94" y="36"/>
                  </a:lnTo>
                  <a:lnTo>
                    <a:pt x="66" y="43"/>
                  </a:lnTo>
                  <a:lnTo>
                    <a:pt x="60" y="42"/>
                  </a:lnTo>
                  <a:lnTo>
                    <a:pt x="39" y="3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5" name="Freeform 344"/>
            <p:cNvSpPr>
              <a:spLocks/>
            </p:cNvSpPr>
            <p:nvPr/>
          </p:nvSpPr>
          <p:spPr bwMode="auto">
            <a:xfrm>
              <a:off x="2780" y="1803"/>
              <a:ext cx="62" cy="53"/>
            </a:xfrm>
            <a:custGeom>
              <a:avLst/>
              <a:gdLst/>
              <a:ahLst/>
              <a:cxnLst>
                <a:cxn ang="0">
                  <a:pos x="51" y="6"/>
                </a:cxn>
                <a:cxn ang="0">
                  <a:pos x="52" y="8"/>
                </a:cxn>
                <a:cxn ang="0">
                  <a:pos x="51" y="11"/>
                </a:cxn>
                <a:cxn ang="0">
                  <a:pos x="48" y="14"/>
                </a:cxn>
                <a:cxn ang="0">
                  <a:pos x="48" y="15"/>
                </a:cxn>
                <a:cxn ang="0">
                  <a:pos x="51" y="18"/>
                </a:cxn>
                <a:cxn ang="0">
                  <a:pos x="57" y="21"/>
                </a:cxn>
                <a:cxn ang="0">
                  <a:pos x="52" y="24"/>
                </a:cxn>
                <a:cxn ang="0">
                  <a:pos x="56" y="26"/>
                </a:cxn>
                <a:cxn ang="0">
                  <a:pos x="56" y="30"/>
                </a:cxn>
                <a:cxn ang="0">
                  <a:pos x="47" y="31"/>
                </a:cxn>
                <a:cxn ang="0">
                  <a:pos x="51" y="35"/>
                </a:cxn>
                <a:cxn ang="0">
                  <a:pos x="50" y="36"/>
                </a:cxn>
                <a:cxn ang="0">
                  <a:pos x="47" y="35"/>
                </a:cxn>
                <a:cxn ang="0">
                  <a:pos x="44" y="39"/>
                </a:cxn>
                <a:cxn ang="0">
                  <a:pos x="41" y="41"/>
                </a:cxn>
                <a:cxn ang="0">
                  <a:pos x="45" y="45"/>
                </a:cxn>
                <a:cxn ang="0">
                  <a:pos x="41" y="47"/>
                </a:cxn>
                <a:cxn ang="0">
                  <a:pos x="39" y="45"/>
                </a:cxn>
                <a:cxn ang="0">
                  <a:pos x="34" y="43"/>
                </a:cxn>
                <a:cxn ang="0">
                  <a:pos x="30" y="41"/>
                </a:cxn>
                <a:cxn ang="0">
                  <a:pos x="30" y="39"/>
                </a:cxn>
                <a:cxn ang="0">
                  <a:pos x="24" y="35"/>
                </a:cxn>
                <a:cxn ang="0">
                  <a:pos x="23" y="32"/>
                </a:cxn>
                <a:cxn ang="0">
                  <a:pos x="20" y="30"/>
                </a:cxn>
                <a:cxn ang="0">
                  <a:pos x="9" y="20"/>
                </a:cxn>
                <a:cxn ang="0">
                  <a:pos x="9" y="19"/>
                </a:cxn>
                <a:cxn ang="0">
                  <a:pos x="6" y="18"/>
                </a:cxn>
                <a:cxn ang="0">
                  <a:pos x="4" y="11"/>
                </a:cxn>
                <a:cxn ang="0">
                  <a:pos x="0" y="8"/>
                </a:cxn>
                <a:cxn ang="0">
                  <a:pos x="0" y="1"/>
                </a:cxn>
                <a:cxn ang="0">
                  <a:pos x="4" y="0"/>
                </a:cxn>
                <a:cxn ang="0">
                  <a:pos x="8" y="5"/>
                </a:cxn>
                <a:cxn ang="0">
                  <a:pos x="11" y="0"/>
                </a:cxn>
                <a:cxn ang="0">
                  <a:pos x="16" y="0"/>
                </a:cxn>
                <a:cxn ang="0">
                  <a:pos x="20" y="1"/>
                </a:cxn>
                <a:cxn ang="0">
                  <a:pos x="30" y="3"/>
                </a:cxn>
                <a:cxn ang="0">
                  <a:pos x="32" y="1"/>
                </a:cxn>
                <a:cxn ang="0">
                  <a:pos x="34" y="2"/>
                </a:cxn>
                <a:cxn ang="0">
                  <a:pos x="35" y="2"/>
                </a:cxn>
                <a:cxn ang="0">
                  <a:pos x="39" y="2"/>
                </a:cxn>
                <a:cxn ang="0">
                  <a:pos x="41" y="2"/>
                </a:cxn>
                <a:cxn ang="0">
                  <a:pos x="44" y="6"/>
                </a:cxn>
                <a:cxn ang="0">
                  <a:pos x="47" y="6"/>
                </a:cxn>
                <a:cxn ang="0">
                  <a:pos x="51" y="6"/>
                </a:cxn>
              </a:cxnLst>
              <a:rect l="0" t="0" r="r" b="b"/>
              <a:pathLst>
                <a:path w="57" h="47">
                  <a:moveTo>
                    <a:pt x="51" y="6"/>
                  </a:moveTo>
                  <a:lnTo>
                    <a:pt x="52" y="8"/>
                  </a:lnTo>
                  <a:lnTo>
                    <a:pt x="51" y="11"/>
                  </a:lnTo>
                  <a:lnTo>
                    <a:pt x="48" y="14"/>
                  </a:lnTo>
                  <a:lnTo>
                    <a:pt x="48" y="15"/>
                  </a:lnTo>
                  <a:lnTo>
                    <a:pt x="51" y="18"/>
                  </a:lnTo>
                  <a:lnTo>
                    <a:pt x="57" y="21"/>
                  </a:lnTo>
                  <a:lnTo>
                    <a:pt x="52" y="24"/>
                  </a:lnTo>
                  <a:lnTo>
                    <a:pt x="56" y="26"/>
                  </a:lnTo>
                  <a:lnTo>
                    <a:pt x="56" y="30"/>
                  </a:lnTo>
                  <a:lnTo>
                    <a:pt x="47" y="31"/>
                  </a:lnTo>
                  <a:lnTo>
                    <a:pt x="51" y="35"/>
                  </a:lnTo>
                  <a:lnTo>
                    <a:pt x="50" y="36"/>
                  </a:lnTo>
                  <a:lnTo>
                    <a:pt x="47" y="35"/>
                  </a:lnTo>
                  <a:lnTo>
                    <a:pt x="44" y="39"/>
                  </a:lnTo>
                  <a:lnTo>
                    <a:pt x="41" y="41"/>
                  </a:lnTo>
                  <a:lnTo>
                    <a:pt x="45" y="45"/>
                  </a:lnTo>
                  <a:lnTo>
                    <a:pt x="41" y="47"/>
                  </a:lnTo>
                  <a:lnTo>
                    <a:pt x="39" y="45"/>
                  </a:lnTo>
                  <a:lnTo>
                    <a:pt x="34" y="43"/>
                  </a:lnTo>
                  <a:lnTo>
                    <a:pt x="30" y="41"/>
                  </a:lnTo>
                  <a:lnTo>
                    <a:pt x="30" y="39"/>
                  </a:lnTo>
                  <a:lnTo>
                    <a:pt x="24" y="35"/>
                  </a:lnTo>
                  <a:lnTo>
                    <a:pt x="23" y="32"/>
                  </a:lnTo>
                  <a:lnTo>
                    <a:pt x="20" y="30"/>
                  </a:lnTo>
                  <a:lnTo>
                    <a:pt x="9" y="20"/>
                  </a:lnTo>
                  <a:lnTo>
                    <a:pt x="9" y="19"/>
                  </a:lnTo>
                  <a:lnTo>
                    <a:pt x="6" y="18"/>
                  </a:lnTo>
                  <a:lnTo>
                    <a:pt x="4" y="11"/>
                  </a:lnTo>
                  <a:lnTo>
                    <a:pt x="0" y="8"/>
                  </a:lnTo>
                  <a:lnTo>
                    <a:pt x="0" y="1"/>
                  </a:lnTo>
                  <a:lnTo>
                    <a:pt x="4" y="0"/>
                  </a:lnTo>
                  <a:lnTo>
                    <a:pt x="8" y="5"/>
                  </a:lnTo>
                  <a:lnTo>
                    <a:pt x="11" y="0"/>
                  </a:lnTo>
                  <a:lnTo>
                    <a:pt x="16" y="0"/>
                  </a:lnTo>
                  <a:lnTo>
                    <a:pt x="20" y="1"/>
                  </a:lnTo>
                  <a:lnTo>
                    <a:pt x="30" y="3"/>
                  </a:lnTo>
                  <a:lnTo>
                    <a:pt x="32" y="1"/>
                  </a:lnTo>
                  <a:lnTo>
                    <a:pt x="34" y="2"/>
                  </a:lnTo>
                  <a:lnTo>
                    <a:pt x="35" y="2"/>
                  </a:lnTo>
                  <a:lnTo>
                    <a:pt x="39" y="2"/>
                  </a:lnTo>
                  <a:lnTo>
                    <a:pt x="41" y="2"/>
                  </a:lnTo>
                  <a:lnTo>
                    <a:pt x="44" y="6"/>
                  </a:lnTo>
                  <a:lnTo>
                    <a:pt x="47" y="6"/>
                  </a:lnTo>
                  <a:lnTo>
                    <a:pt x="51"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6" name="Freeform 345"/>
            <p:cNvSpPr>
              <a:spLocks/>
            </p:cNvSpPr>
            <p:nvPr/>
          </p:nvSpPr>
          <p:spPr bwMode="auto">
            <a:xfrm>
              <a:off x="2747" y="1776"/>
              <a:ext cx="91" cy="74"/>
            </a:xfrm>
            <a:custGeom>
              <a:avLst/>
              <a:gdLst/>
              <a:ahLst/>
              <a:cxnLst>
                <a:cxn ang="0">
                  <a:pos x="74" y="30"/>
                </a:cxn>
                <a:cxn ang="0">
                  <a:pos x="77" y="30"/>
                </a:cxn>
                <a:cxn ang="0">
                  <a:pos x="78" y="26"/>
                </a:cxn>
                <a:cxn ang="0">
                  <a:pos x="82" y="25"/>
                </a:cxn>
                <a:cxn ang="0">
                  <a:pos x="82" y="24"/>
                </a:cxn>
                <a:cxn ang="0">
                  <a:pos x="77" y="23"/>
                </a:cxn>
                <a:cxn ang="0">
                  <a:pos x="76" y="21"/>
                </a:cxn>
                <a:cxn ang="0">
                  <a:pos x="77" y="19"/>
                </a:cxn>
                <a:cxn ang="0">
                  <a:pos x="76" y="19"/>
                </a:cxn>
                <a:cxn ang="0">
                  <a:pos x="72" y="13"/>
                </a:cxn>
                <a:cxn ang="0">
                  <a:pos x="51" y="11"/>
                </a:cxn>
                <a:cxn ang="0">
                  <a:pos x="39" y="0"/>
                </a:cxn>
                <a:cxn ang="0">
                  <a:pos x="38" y="1"/>
                </a:cxn>
                <a:cxn ang="0">
                  <a:pos x="36" y="2"/>
                </a:cxn>
                <a:cxn ang="0">
                  <a:pos x="36" y="3"/>
                </a:cxn>
                <a:cxn ang="0">
                  <a:pos x="32" y="3"/>
                </a:cxn>
                <a:cxn ang="0">
                  <a:pos x="30" y="5"/>
                </a:cxn>
                <a:cxn ang="0">
                  <a:pos x="26" y="6"/>
                </a:cxn>
                <a:cxn ang="0">
                  <a:pos x="27" y="9"/>
                </a:cxn>
                <a:cxn ang="0">
                  <a:pos x="27" y="11"/>
                </a:cxn>
                <a:cxn ang="0">
                  <a:pos x="29" y="13"/>
                </a:cxn>
                <a:cxn ang="0">
                  <a:pos x="27" y="13"/>
                </a:cxn>
                <a:cxn ang="0">
                  <a:pos x="22" y="15"/>
                </a:cxn>
                <a:cxn ang="0">
                  <a:pos x="22" y="17"/>
                </a:cxn>
                <a:cxn ang="0">
                  <a:pos x="23" y="20"/>
                </a:cxn>
                <a:cxn ang="0">
                  <a:pos x="20" y="20"/>
                </a:cxn>
                <a:cxn ang="0">
                  <a:pos x="16" y="18"/>
                </a:cxn>
                <a:cxn ang="0">
                  <a:pos x="15" y="19"/>
                </a:cxn>
                <a:cxn ang="0">
                  <a:pos x="12" y="17"/>
                </a:cxn>
                <a:cxn ang="0">
                  <a:pos x="10" y="20"/>
                </a:cxn>
                <a:cxn ang="0">
                  <a:pos x="4" y="20"/>
                </a:cxn>
                <a:cxn ang="0">
                  <a:pos x="0" y="18"/>
                </a:cxn>
                <a:cxn ang="0">
                  <a:pos x="3" y="24"/>
                </a:cxn>
                <a:cxn ang="0">
                  <a:pos x="6" y="29"/>
                </a:cxn>
                <a:cxn ang="0">
                  <a:pos x="10" y="25"/>
                </a:cxn>
                <a:cxn ang="0">
                  <a:pos x="21" y="42"/>
                </a:cxn>
                <a:cxn ang="0">
                  <a:pos x="26" y="47"/>
                </a:cxn>
                <a:cxn ang="0">
                  <a:pos x="39" y="55"/>
                </a:cxn>
                <a:cxn ang="0">
                  <a:pos x="57" y="65"/>
                </a:cxn>
                <a:cxn ang="0">
                  <a:pos x="59" y="65"/>
                </a:cxn>
                <a:cxn ang="0">
                  <a:pos x="60" y="65"/>
                </a:cxn>
                <a:cxn ang="0">
                  <a:pos x="60" y="63"/>
                </a:cxn>
                <a:cxn ang="0">
                  <a:pos x="54" y="59"/>
                </a:cxn>
                <a:cxn ang="0">
                  <a:pos x="53" y="56"/>
                </a:cxn>
                <a:cxn ang="0">
                  <a:pos x="50" y="54"/>
                </a:cxn>
                <a:cxn ang="0">
                  <a:pos x="39" y="44"/>
                </a:cxn>
                <a:cxn ang="0">
                  <a:pos x="39" y="43"/>
                </a:cxn>
                <a:cxn ang="0">
                  <a:pos x="36" y="42"/>
                </a:cxn>
                <a:cxn ang="0">
                  <a:pos x="34" y="35"/>
                </a:cxn>
                <a:cxn ang="0">
                  <a:pos x="30" y="32"/>
                </a:cxn>
                <a:cxn ang="0">
                  <a:pos x="30" y="25"/>
                </a:cxn>
                <a:cxn ang="0">
                  <a:pos x="34" y="24"/>
                </a:cxn>
                <a:cxn ang="0">
                  <a:pos x="38" y="29"/>
                </a:cxn>
                <a:cxn ang="0">
                  <a:pos x="41" y="24"/>
                </a:cxn>
                <a:cxn ang="0">
                  <a:pos x="46" y="24"/>
                </a:cxn>
                <a:cxn ang="0">
                  <a:pos x="50" y="25"/>
                </a:cxn>
                <a:cxn ang="0">
                  <a:pos x="60" y="27"/>
                </a:cxn>
                <a:cxn ang="0">
                  <a:pos x="62" y="25"/>
                </a:cxn>
                <a:cxn ang="0">
                  <a:pos x="64" y="26"/>
                </a:cxn>
                <a:cxn ang="0">
                  <a:pos x="65" y="26"/>
                </a:cxn>
                <a:cxn ang="0">
                  <a:pos x="69" y="26"/>
                </a:cxn>
                <a:cxn ang="0">
                  <a:pos x="71" y="26"/>
                </a:cxn>
                <a:cxn ang="0">
                  <a:pos x="74" y="30"/>
                </a:cxn>
              </a:cxnLst>
              <a:rect l="0" t="0" r="r" b="b"/>
              <a:pathLst>
                <a:path w="82" h="65">
                  <a:moveTo>
                    <a:pt x="74" y="30"/>
                  </a:moveTo>
                  <a:lnTo>
                    <a:pt x="77" y="30"/>
                  </a:lnTo>
                  <a:lnTo>
                    <a:pt x="78" y="26"/>
                  </a:lnTo>
                  <a:lnTo>
                    <a:pt x="82" y="25"/>
                  </a:lnTo>
                  <a:lnTo>
                    <a:pt x="82" y="24"/>
                  </a:lnTo>
                  <a:lnTo>
                    <a:pt x="77" y="23"/>
                  </a:lnTo>
                  <a:lnTo>
                    <a:pt x="76" y="21"/>
                  </a:lnTo>
                  <a:lnTo>
                    <a:pt x="77" y="19"/>
                  </a:lnTo>
                  <a:lnTo>
                    <a:pt x="76" y="19"/>
                  </a:lnTo>
                  <a:lnTo>
                    <a:pt x="72" y="13"/>
                  </a:lnTo>
                  <a:lnTo>
                    <a:pt x="51" y="11"/>
                  </a:lnTo>
                  <a:lnTo>
                    <a:pt x="39" y="0"/>
                  </a:lnTo>
                  <a:lnTo>
                    <a:pt x="38" y="1"/>
                  </a:lnTo>
                  <a:lnTo>
                    <a:pt x="36" y="2"/>
                  </a:lnTo>
                  <a:lnTo>
                    <a:pt x="36" y="3"/>
                  </a:lnTo>
                  <a:lnTo>
                    <a:pt x="32" y="3"/>
                  </a:lnTo>
                  <a:lnTo>
                    <a:pt x="30" y="5"/>
                  </a:lnTo>
                  <a:lnTo>
                    <a:pt x="26" y="6"/>
                  </a:lnTo>
                  <a:lnTo>
                    <a:pt x="27" y="9"/>
                  </a:lnTo>
                  <a:lnTo>
                    <a:pt x="27" y="11"/>
                  </a:lnTo>
                  <a:lnTo>
                    <a:pt x="29" y="13"/>
                  </a:lnTo>
                  <a:lnTo>
                    <a:pt x="27" y="13"/>
                  </a:lnTo>
                  <a:lnTo>
                    <a:pt x="22" y="15"/>
                  </a:lnTo>
                  <a:lnTo>
                    <a:pt x="22" y="17"/>
                  </a:lnTo>
                  <a:lnTo>
                    <a:pt x="23" y="20"/>
                  </a:lnTo>
                  <a:lnTo>
                    <a:pt x="20" y="20"/>
                  </a:lnTo>
                  <a:lnTo>
                    <a:pt x="16" y="18"/>
                  </a:lnTo>
                  <a:lnTo>
                    <a:pt x="15" y="19"/>
                  </a:lnTo>
                  <a:lnTo>
                    <a:pt x="12" y="17"/>
                  </a:lnTo>
                  <a:lnTo>
                    <a:pt x="10" y="20"/>
                  </a:lnTo>
                  <a:lnTo>
                    <a:pt x="4" y="20"/>
                  </a:lnTo>
                  <a:lnTo>
                    <a:pt x="0" y="18"/>
                  </a:lnTo>
                  <a:lnTo>
                    <a:pt x="3" y="24"/>
                  </a:lnTo>
                  <a:lnTo>
                    <a:pt x="6" y="29"/>
                  </a:lnTo>
                  <a:lnTo>
                    <a:pt x="10" y="25"/>
                  </a:lnTo>
                  <a:lnTo>
                    <a:pt x="21" y="42"/>
                  </a:lnTo>
                  <a:lnTo>
                    <a:pt x="26" y="47"/>
                  </a:lnTo>
                  <a:lnTo>
                    <a:pt x="39" y="55"/>
                  </a:lnTo>
                  <a:lnTo>
                    <a:pt x="57" y="65"/>
                  </a:lnTo>
                  <a:lnTo>
                    <a:pt x="59" y="65"/>
                  </a:lnTo>
                  <a:lnTo>
                    <a:pt x="60" y="65"/>
                  </a:lnTo>
                  <a:lnTo>
                    <a:pt x="60" y="63"/>
                  </a:lnTo>
                  <a:lnTo>
                    <a:pt x="54" y="59"/>
                  </a:lnTo>
                  <a:lnTo>
                    <a:pt x="53" y="56"/>
                  </a:lnTo>
                  <a:lnTo>
                    <a:pt x="50" y="54"/>
                  </a:lnTo>
                  <a:lnTo>
                    <a:pt x="39" y="44"/>
                  </a:lnTo>
                  <a:lnTo>
                    <a:pt x="39" y="43"/>
                  </a:lnTo>
                  <a:lnTo>
                    <a:pt x="36" y="42"/>
                  </a:lnTo>
                  <a:lnTo>
                    <a:pt x="34" y="35"/>
                  </a:lnTo>
                  <a:lnTo>
                    <a:pt x="30" y="32"/>
                  </a:lnTo>
                  <a:lnTo>
                    <a:pt x="30" y="25"/>
                  </a:lnTo>
                  <a:lnTo>
                    <a:pt x="34" y="24"/>
                  </a:lnTo>
                  <a:lnTo>
                    <a:pt x="38" y="29"/>
                  </a:lnTo>
                  <a:lnTo>
                    <a:pt x="41" y="24"/>
                  </a:lnTo>
                  <a:lnTo>
                    <a:pt x="46" y="24"/>
                  </a:lnTo>
                  <a:lnTo>
                    <a:pt x="50" y="25"/>
                  </a:lnTo>
                  <a:lnTo>
                    <a:pt x="60" y="27"/>
                  </a:lnTo>
                  <a:lnTo>
                    <a:pt x="62" y="25"/>
                  </a:lnTo>
                  <a:lnTo>
                    <a:pt x="64" y="26"/>
                  </a:lnTo>
                  <a:lnTo>
                    <a:pt x="65" y="26"/>
                  </a:lnTo>
                  <a:lnTo>
                    <a:pt x="69" y="26"/>
                  </a:lnTo>
                  <a:lnTo>
                    <a:pt x="71" y="26"/>
                  </a:lnTo>
                  <a:lnTo>
                    <a:pt x="74" y="3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7" name="Freeform 346"/>
            <p:cNvSpPr>
              <a:spLocks/>
            </p:cNvSpPr>
            <p:nvPr/>
          </p:nvSpPr>
          <p:spPr bwMode="auto">
            <a:xfrm>
              <a:off x="2802" y="1850"/>
              <a:ext cx="25" cy="11"/>
            </a:xfrm>
            <a:custGeom>
              <a:avLst/>
              <a:gdLst/>
              <a:ahLst/>
              <a:cxnLst>
                <a:cxn ang="0">
                  <a:pos x="21" y="9"/>
                </a:cxn>
                <a:cxn ang="0">
                  <a:pos x="21" y="7"/>
                </a:cxn>
                <a:cxn ang="0">
                  <a:pos x="21" y="6"/>
                </a:cxn>
                <a:cxn ang="0">
                  <a:pos x="19" y="4"/>
                </a:cxn>
                <a:cxn ang="0">
                  <a:pos x="14" y="2"/>
                </a:cxn>
                <a:cxn ang="0">
                  <a:pos x="10" y="0"/>
                </a:cxn>
                <a:cxn ang="0">
                  <a:pos x="9" y="1"/>
                </a:cxn>
                <a:cxn ang="0">
                  <a:pos x="0" y="0"/>
                </a:cxn>
                <a:cxn ang="0">
                  <a:pos x="21" y="9"/>
                </a:cxn>
              </a:cxnLst>
              <a:rect l="0" t="0" r="r" b="b"/>
              <a:pathLst>
                <a:path w="21" h="9">
                  <a:moveTo>
                    <a:pt x="21" y="9"/>
                  </a:moveTo>
                  <a:lnTo>
                    <a:pt x="21" y="7"/>
                  </a:lnTo>
                  <a:lnTo>
                    <a:pt x="21" y="6"/>
                  </a:lnTo>
                  <a:lnTo>
                    <a:pt x="19" y="4"/>
                  </a:lnTo>
                  <a:lnTo>
                    <a:pt x="14" y="2"/>
                  </a:lnTo>
                  <a:lnTo>
                    <a:pt x="10" y="0"/>
                  </a:lnTo>
                  <a:lnTo>
                    <a:pt x="9" y="1"/>
                  </a:lnTo>
                  <a:lnTo>
                    <a:pt x="0" y="0"/>
                  </a:lnTo>
                  <a:lnTo>
                    <a:pt x="21"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8" name="Freeform 347"/>
            <p:cNvSpPr>
              <a:spLocks/>
            </p:cNvSpPr>
            <p:nvPr/>
          </p:nvSpPr>
          <p:spPr bwMode="auto">
            <a:xfrm>
              <a:off x="2458" y="1690"/>
              <a:ext cx="198" cy="169"/>
            </a:xfrm>
            <a:custGeom>
              <a:avLst/>
              <a:gdLst/>
              <a:ahLst/>
              <a:cxnLst>
                <a:cxn ang="0">
                  <a:pos x="174" y="121"/>
                </a:cxn>
                <a:cxn ang="0">
                  <a:pos x="174" y="128"/>
                </a:cxn>
                <a:cxn ang="0">
                  <a:pos x="173" y="128"/>
                </a:cxn>
                <a:cxn ang="0">
                  <a:pos x="172" y="128"/>
                </a:cxn>
                <a:cxn ang="0">
                  <a:pos x="157" y="140"/>
                </a:cxn>
                <a:cxn ang="0">
                  <a:pos x="139" y="134"/>
                </a:cxn>
                <a:cxn ang="0">
                  <a:pos x="134" y="133"/>
                </a:cxn>
                <a:cxn ang="0">
                  <a:pos x="132" y="134"/>
                </a:cxn>
                <a:cxn ang="0">
                  <a:pos x="120" y="134"/>
                </a:cxn>
                <a:cxn ang="0">
                  <a:pos x="112" y="140"/>
                </a:cxn>
                <a:cxn ang="0">
                  <a:pos x="113" y="151"/>
                </a:cxn>
                <a:cxn ang="0">
                  <a:pos x="91" y="151"/>
                </a:cxn>
                <a:cxn ang="0">
                  <a:pos x="92" y="149"/>
                </a:cxn>
                <a:cxn ang="0">
                  <a:pos x="88" y="149"/>
                </a:cxn>
                <a:cxn ang="0">
                  <a:pos x="48" y="140"/>
                </a:cxn>
                <a:cxn ang="0">
                  <a:pos x="41" y="134"/>
                </a:cxn>
                <a:cxn ang="0">
                  <a:pos x="47" y="126"/>
                </a:cxn>
                <a:cxn ang="0">
                  <a:pos x="48" y="111"/>
                </a:cxn>
                <a:cxn ang="0">
                  <a:pos x="50" y="98"/>
                </a:cxn>
                <a:cxn ang="0">
                  <a:pos x="56" y="105"/>
                </a:cxn>
                <a:cxn ang="0">
                  <a:pos x="50" y="92"/>
                </a:cxn>
                <a:cxn ang="0">
                  <a:pos x="50" y="87"/>
                </a:cxn>
                <a:cxn ang="0">
                  <a:pos x="43" y="81"/>
                </a:cxn>
                <a:cxn ang="0">
                  <a:pos x="37" y="69"/>
                </a:cxn>
                <a:cxn ang="0">
                  <a:pos x="38" y="66"/>
                </a:cxn>
                <a:cxn ang="0">
                  <a:pos x="31" y="63"/>
                </a:cxn>
                <a:cxn ang="0">
                  <a:pos x="23" y="61"/>
                </a:cxn>
                <a:cxn ang="0">
                  <a:pos x="11" y="56"/>
                </a:cxn>
                <a:cxn ang="0">
                  <a:pos x="2" y="54"/>
                </a:cxn>
                <a:cxn ang="0">
                  <a:pos x="5" y="49"/>
                </a:cxn>
                <a:cxn ang="0">
                  <a:pos x="6" y="48"/>
                </a:cxn>
                <a:cxn ang="0">
                  <a:pos x="0" y="47"/>
                </a:cxn>
                <a:cxn ang="0">
                  <a:pos x="17" y="41"/>
                </a:cxn>
                <a:cxn ang="0">
                  <a:pos x="28" y="42"/>
                </a:cxn>
                <a:cxn ang="0">
                  <a:pos x="44" y="43"/>
                </a:cxn>
                <a:cxn ang="0">
                  <a:pos x="41" y="26"/>
                </a:cxn>
                <a:cxn ang="0">
                  <a:pos x="46" y="24"/>
                </a:cxn>
                <a:cxn ang="0">
                  <a:pos x="50" y="29"/>
                </a:cxn>
                <a:cxn ang="0">
                  <a:pos x="72" y="29"/>
                </a:cxn>
                <a:cxn ang="0">
                  <a:pos x="67" y="27"/>
                </a:cxn>
                <a:cxn ang="0">
                  <a:pos x="86" y="17"/>
                </a:cxn>
                <a:cxn ang="0">
                  <a:pos x="88" y="5"/>
                </a:cxn>
                <a:cxn ang="0">
                  <a:pos x="101" y="0"/>
                </a:cxn>
                <a:cxn ang="0">
                  <a:pos x="107" y="6"/>
                </a:cxn>
                <a:cxn ang="0">
                  <a:pos x="125" y="18"/>
                </a:cxn>
                <a:cxn ang="0">
                  <a:pos x="131" y="17"/>
                </a:cxn>
                <a:cxn ang="0">
                  <a:pos x="132" y="19"/>
                </a:cxn>
                <a:cxn ang="0">
                  <a:pos x="146" y="26"/>
                </a:cxn>
                <a:cxn ang="0">
                  <a:pos x="154" y="27"/>
                </a:cxn>
                <a:cxn ang="0">
                  <a:pos x="156" y="29"/>
                </a:cxn>
                <a:cxn ang="0">
                  <a:pos x="179" y="36"/>
                </a:cxn>
                <a:cxn ang="0">
                  <a:pos x="173" y="61"/>
                </a:cxn>
                <a:cxn ang="0">
                  <a:pos x="168" y="63"/>
                </a:cxn>
                <a:cxn ang="0">
                  <a:pos x="164" y="66"/>
                </a:cxn>
                <a:cxn ang="0">
                  <a:pos x="152" y="84"/>
                </a:cxn>
                <a:cxn ang="0">
                  <a:pos x="157" y="80"/>
                </a:cxn>
                <a:cxn ang="0">
                  <a:pos x="166" y="90"/>
                </a:cxn>
                <a:cxn ang="0">
                  <a:pos x="166" y="97"/>
                </a:cxn>
                <a:cxn ang="0">
                  <a:pos x="163" y="104"/>
                </a:cxn>
                <a:cxn ang="0">
                  <a:pos x="163" y="109"/>
                </a:cxn>
                <a:cxn ang="0">
                  <a:pos x="164" y="115"/>
                </a:cxn>
                <a:cxn ang="0">
                  <a:pos x="174" y="121"/>
                </a:cxn>
              </a:cxnLst>
              <a:rect l="0" t="0" r="r" b="b"/>
              <a:pathLst>
                <a:path w="179" h="151">
                  <a:moveTo>
                    <a:pt x="174" y="121"/>
                  </a:moveTo>
                  <a:lnTo>
                    <a:pt x="174" y="128"/>
                  </a:lnTo>
                  <a:lnTo>
                    <a:pt x="173" y="128"/>
                  </a:lnTo>
                  <a:lnTo>
                    <a:pt x="172" y="128"/>
                  </a:lnTo>
                  <a:lnTo>
                    <a:pt x="157" y="140"/>
                  </a:lnTo>
                  <a:lnTo>
                    <a:pt x="139" y="134"/>
                  </a:lnTo>
                  <a:lnTo>
                    <a:pt x="134" y="133"/>
                  </a:lnTo>
                  <a:lnTo>
                    <a:pt x="132" y="134"/>
                  </a:lnTo>
                  <a:lnTo>
                    <a:pt x="120" y="134"/>
                  </a:lnTo>
                  <a:lnTo>
                    <a:pt x="112" y="140"/>
                  </a:lnTo>
                  <a:lnTo>
                    <a:pt x="113" y="151"/>
                  </a:lnTo>
                  <a:lnTo>
                    <a:pt x="91" y="151"/>
                  </a:lnTo>
                  <a:lnTo>
                    <a:pt x="92" y="149"/>
                  </a:lnTo>
                  <a:lnTo>
                    <a:pt x="88" y="149"/>
                  </a:lnTo>
                  <a:lnTo>
                    <a:pt x="48" y="140"/>
                  </a:lnTo>
                  <a:lnTo>
                    <a:pt x="41" y="134"/>
                  </a:lnTo>
                  <a:lnTo>
                    <a:pt x="47" y="126"/>
                  </a:lnTo>
                  <a:lnTo>
                    <a:pt x="48" y="111"/>
                  </a:lnTo>
                  <a:lnTo>
                    <a:pt x="50" y="98"/>
                  </a:lnTo>
                  <a:lnTo>
                    <a:pt x="56" y="105"/>
                  </a:lnTo>
                  <a:lnTo>
                    <a:pt x="50" y="92"/>
                  </a:lnTo>
                  <a:lnTo>
                    <a:pt x="50" y="87"/>
                  </a:lnTo>
                  <a:lnTo>
                    <a:pt x="43" y="81"/>
                  </a:lnTo>
                  <a:lnTo>
                    <a:pt x="37" y="69"/>
                  </a:lnTo>
                  <a:lnTo>
                    <a:pt x="38" y="66"/>
                  </a:lnTo>
                  <a:lnTo>
                    <a:pt x="31" y="63"/>
                  </a:lnTo>
                  <a:lnTo>
                    <a:pt x="23" y="61"/>
                  </a:lnTo>
                  <a:lnTo>
                    <a:pt x="11" y="56"/>
                  </a:lnTo>
                  <a:lnTo>
                    <a:pt x="2" y="54"/>
                  </a:lnTo>
                  <a:lnTo>
                    <a:pt x="5" y="49"/>
                  </a:lnTo>
                  <a:lnTo>
                    <a:pt x="6" y="48"/>
                  </a:lnTo>
                  <a:lnTo>
                    <a:pt x="0" y="47"/>
                  </a:lnTo>
                  <a:lnTo>
                    <a:pt x="17" y="41"/>
                  </a:lnTo>
                  <a:lnTo>
                    <a:pt x="28" y="42"/>
                  </a:lnTo>
                  <a:lnTo>
                    <a:pt x="44" y="43"/>
                  </a:lnTo>
                  <a:lnTo>
                    <a:pt x="41" y="26"/>
                  </a:lnTo>
                  <a:lnTo>
                    <a:pt x="46" y="24"/>
                  </a:lnTo>
                  <a:lnTo>
                    <a:pt x="50" y="29"/>
                  </a:lnTo>
                  <a:lnTo>
                    <a:pt x="72" y="29"/>
                  </a:lnTo>
                  <a:lnTo>
                    <a:pt x="67" y="27"/>
                  </a:lnTo>
                  <a:lnTo>
                    <a:pt x="86" y="17"/>
                  </a:lnTo>
                  <a:lnTo>
                    <a:pt x="88" y="5"/>
                  </a:lnTo>
                  <a:lnTo>
                    <a:pt x="101" y="0"/>
                  </a:lnTo>
                  <a:lnTo>
                    <a:pt x="107" y="6"/>
                  </a:lnTo>
                  <a:lnTo>
                    <a:pt x="125" y="18"/>
                  </a:lnTo>
                  <a:lnTo>
                    <a:pt x="131" y="17"/>
                  </a:lnTo>
                  <a:lnTo>
                    <a:pt x="132" y="19"/>
                  </a:lnTo>
                  <a:lnTo>
                    <a:pt x="146" y="26"/>
                  </a:lnTo>
                  <a:lnTo>
                    <a:pt x="154" y="27"/>
                  </a:lnTo>
                  <a:lnTo>
                    <a:pt x="156" y="29"/>
                  </a:lnTo>
                  <a:lnTo>
                    <a:pt x="179" y="36"/>
                  </a:lnTo>
                  <a:lnTo>
                    <a:pt x="173" y="61"/>
                  </a:lnTo>
                  <a:lnTo>
                    <a:pt x="168" y="63"/>
                  </a:lnTo>
                  <a:lnTo>
                    <a:pt x="164" y="66"/>
                  </a:lnTo>
                  <a:lnTo>
                    <a:pt x="152" y="84"/>
                  </a:lnTo>
                  <a:lnTo>
                    <a:pt x="157" y="80"/>
                  </a:lnTo>
                  <a:lnTo>
                    <a:pt x="166" y="90"/>
                  </a:lnTo>
                  <a:lnTo>
                    <a:pt x="166" y="97"/>
                  </a:lnTo>
                  <a:lnTo>
                    <a:pt x="163" y="104"/>
                  </a:lnTo>
                  <a:lnTo>
                    <a:pt x="163" y="109"/>
                  </a:lnTo>
                  <a:lnTo>
                    <a:pt x="164" y="115"/>
                  </a:lnTo>
                  <a:lnTo>
                    <a:pt x="174" y="1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49" name="Freeform 348"/>
            <p:cNvSpPr>
              <a:spLocks/>
            </p:cNvSpPr>
            <p:nvPr/>
          </p:nvSpPr>
          <p:spPr bwMode="auto">
            <a:xfrm>
              <a:off x="2669" y="1850"/>
              <a:ext cx="15" cy="26"/>
            </a:xfrm>
            <a:custGeom>
              <a:avLst/>
              <a:gdLst/>
              <a:ahLst/>
              <a:cxnLst>
                <a:cxn ang="0">
                  <a:pos x="9" y="24"/>
                </a:cxn>
                <a:cxn ang="0">
                  <a:pos x="3" y="20"/>
                </a:cxn>
                <a:cxn ang="0">
                  <a:pos x="0" y="11"/>
                </a:cxn>
                <a:cxn ang="0">
                  <a:pos x="9" y="0"/>
                </a:cxn>
                <a:cxn ang="0">
                  <a:pos x="13" y="11"/>
                </a:cxn>
                <a:cxn ang="0">
                  <a:pos x="9" y="24"/>
                </a:cxn>
              </a:cxnLst>
              <a:rect l="0" t="0" r="r" b="b"/>
              <a:pathLst>
                <a:path w="13" h="24">
                  <a:moveTo>
                    <a:pt x="9" y="24"/>
                  </a:moveTo>
                  <a:lnTo>
                    <a:pt x="3" y="20"/>
                  </a:lnTo>
                  <a:lnTo>
                    <a:pt x="0" y="11"/>
                  </a:lnTo>
                  <a:lnTo>
                    <a:pt x="9" y="0"/>
                  </a:lnTo>
                  <a:lnTo>
                    <a:pt x="13" y="11"/>
                  </a:lnTo>
                  <a:lnTo>
                    <a:pt x="9" y="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0" name="Freeform 349"/>
            <p:cNvSpPr>
              <a:spLocks/>
            </p:cNvSpPr>
            <p:nvPr/>
          </p:nvSpPr>
          <p:spPr bwMode="auto">
            <a:xfrm>
              <a:off x="2782" y="1741"/>
              <a:ext cx="105" cy="51"/>
            </a:xfrm>
            <a:custGeom>
              <a:avLst/>
              <a:gdLst/>
              <a:ahLst/>
              <a:cxnLst>
                <a:cxn ang="0">
                  <a:pos x="39" y="46"/>
                </a:cxn>
                <a:cxn ang="0">
                  <a:pos x="18" y="44"/>
                </a:cxn>
                <a:cxn ang="0">
                  <a:pos x="6" y="33"/>
                </a:cxn>
                <a:cxn ang="0">
                  <a:pos x="1" y="30"/>
                </a:cxn>
                <a:cxn ang="0">
                  <a:pos x="0" y="28"/>
                </a:cxn>
                <a:cxn ang="0">
                  <a:pos x="1" y="27"/>
                </a:cxn>
                <a:cxn ang="0">
                  <a:pos x="6" y="15"/>
                </a:cxn>
                <a:cxn ang="0">
                  <a:pos x="7" y="14"/>
                </a:cxn>
                <a:cxn ang="0">
                  <a:pos x="13" y="9"/>
                </a:cxn>
                <a:cxn ang="0">
                  <a:pos x="17" y="10"/>
                </a:cxn>
                <a:cxn ang="0">
                  <a:pos x="35" y="11"/>
                </a:cxn>
                <a:cxn ang="0">
                  <a:pos x="57" y="0"/>
                </a:cxn>
                <a:cxn ang="0">
                  <a:pos x="81" y="2"/>
                </a:cxn>
                <a:cxn ang="0">
                  <a:pos x="92" y="10"/>
                </a:cxn>
                <a:cxn ang="0">
                  <a:pos x="79" y="23"/>
                </a:cxn>
                <a:cxn ang="0">
                  <a:pos x="67" y="39"/>
                </a:cxn>
                <a:cxn ang="0">
                  <a:pos x="60" y="41"/>
                </a:cxn>
                <a:cxn ang="0">
                  <a:pos x="39" y="46"/>
                </a:cxn>
              </a:cxnLst>
              <a:rect l="0" t="0" r="r" b="b"/>
              <a:pathLst>
                <a:path w="92" h="46">
                  <a:moveTo>
                    <a:pt x="39" y="46"/>
                  </a:moveTo>
                  <a:lnTo>
                    <a:pt x="18" y="44"/>
                  </a:lnTo>
                  <a:lnTo>
                    <a:pt x="6" y="33"/>
                  </a:lnTo>
                  <a:lnTo>
                    <a:pt x="1" y="30"/>
                  </a:lnTo>
                  <a:lnTo>
                    <a:pt x="0" y="28"/>
                  </a:lnTo>
                  <a:lnTo>
                    <a:pt x="1" y="27"/>
                  </a:lnTo>
                  <a:lnTo>
                    <a:pt x="6" y="15"/>
                  </a:lnTo>
                  <a:lnTo>
                    <a:pt x="7" y="14"/>
                  </a:lnTo>
                  <a:lnTo>
                    <a:pt x="13" y="9"/>
                  </a:lnTo>
                  <a:lnTo>
                    <a:pt x="17" y="10"/>
                  </a:lnTo>
                  <a:lnTo>
                    <a:pt x="35" y="11"/>
                  </a:lnTo>
                  <a:lnTo>
                    <a:pt x="57" y="0"/>
                  </a:lnTo>
                  <a:lnTo>
                    <a:pt x="81" y="2"/>
                  </a:lnTo>
                  <a:lnTo>
                    <a:pt x="92" y="10"/>
                  </a:lnTo>
                  <a:lnTo>
                    <a:pt x="79" y="23"/>
                  </a:lnTo>
                  <a:lnTo>
                    <a:pt x="67" y="39"/>
                  </a:lnTo>
                  <a:lnTo>
                    <a:pt x="60" y="41"/>
                  </a:lnTo>
                  <a:lnTo>
                    <a:pt x="39" y="4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1" name="Freeform 350"/>
            <p:cNvSpPr>
              <a:spLocks/>
            </p:cNvSpPr>
            <p:nvPr/>
          </p:nvSpPr>
          <p:spPr bwMode="auto">
            <a:xfrm>
              <a:off x="2902" y="1228"/>
              <a:ext cx="2093" cy="646"/>
            </a:xfrm>
            <a:custGeom>
              <a:avLst/>
              <a:gdLst/>
              <a:ahLst/>
              <a:cxnLst>
                <a:cxn ang="0">
                  <a:pos x="1624" y="126"/>
                </a:cxn>
                <a:cxn ang="0">
                  <a:pos x="1471" y="99"/>
                </a:cxn>
                <a:cxn ang="0">
                  <a:pos x="1329" y="83"/>
                </a:cxn>
                <a:cxn ang="0">
                  <a:pos x="1222" y="71"/>
                </a:cxn>
                <a:cxn ang="0">
                  <a:pos x="1183" y="84"/>
                </a:cxn>
                <a:cxn ang="0">
                  <a:pos x="1071" y="75"/>
                </a:cxn>
                <a:cxn ang="0">
                  <a:pos x="890" y="52"/>
                </a:cxn>
                <a:cxn ang="0">
                  <a:pos x="873" y="30"/>
                </a:cxn>
                <a:cxn ang="0">
                  <a:pos x="777" y="15"/>
                </a:cxn>
                <a:cxn ang="0">
                  <a:pos x="702" y="18"/>
                </a:cxn>
                <a:cxn ang="0">
                  <a:pos x="597" y="41"/>
                </a:cxn>
                <a:cxn ang="0">
                  <a:pos x="564" y="74"/>
                </a:cxn>
                <a:cxn ang="0">
                  <a:pos x="596" y="84"/>
                </a:cxn>
                <a:cxn ang="0">
                  <a:pos x="511" y="87"/>
                </a:cxn>
                <a:cxn ang="0">
                  <a:pos x="548" y="122"/>
                </a:cxn>
                <a:cxn ang="0">
                  <a:pos x="541" y="144"/>
                </a:cxn>
                <a:cxn ang="0">
                  <a:pos x="511" y="155"/>
                </a:cxn>
                <a:cxn ang="0">
                  <a:pos x="428" y="68"/>
                </a:cxn>
                <a:cxn ang="0">
                  <a:pos x="464" y="125"/>
                </a:cxn>
                <a:cxn ang="0">
                  <a:pos x="360" y="134"/>
                </a:cxn>
                <a:cxn ang="0">
                  <a:pos x="296" y="124"/>
                </a:cxn>
                <a:cxn ang="0">
                  <a:pos x="194" y="147"/>
                </a:cxn>
                <a:cxn ang="0">
                  <a:pos x="180" y="164"/>
                </a:cxn>
                <a:cxn ang="0">
                  <a:pos x="129" y="201"/>
                </a:cxn>
                <a:cxn ang="0">
                  <a:pos x="54" y="155"/>
                </a:cxn>
                <a:cxn ang="0">
                  <a:pos x="46" y="123"/>
                </a:cxn>
                <a:cxn ang="0">
                  <a:pos x="12" y="116"/>
                </a:cxn>
                <a:cxn ang="0">
                  <a:pos x="38" y="201"/>
                </a:cxn>
                <a:cxn ang="0">
                  <a:pos x="27" y="260"/>
                </a:cxn>
                <a:cxn ang="0">
                  <a:pos x="57" y="336"/>
                </a:cxn>
                <a:cxn ang="0">
                  <a:pos x="152" y="416"/>
                </a:cxn>
                <a:cxn ang="0">
                  <a:pos x="206" y="492"/>
                </a:cxn>
                <a:cxn ang="0">
                  <a:pos x="207" y="531"/>
                </a:cxn>
                <a:cxn ang="0">
                  <a:pos x="373" y="582"/>
                </a:cxn>
                <a:cxn ang="0">
                  <a:pos x="362" y="501"/>
                </a:cxn>
                <a:cxn ang="0">
                  <a:pos x="350" y="407"/>
                </a:cxn>
                <a:cxn ang="0">
                  <a:pos x="481" y="396"/>
                </a:cxn>
                <a:cxn ang="0">
                  <a:pos x="585" y="344"/>
                </a:cxn>
                <a:cxn ang="0">
                  <a:pos x="692" y="368"/>
                </a:cxn>
                <a:cxn ang="0">
                  <a:pos x="837" y="438"/>
                </a:cxn>
                <a:cxn ang="0">
                  <a:pos x="963" y="431"/>
                </a:cxn>
                <a:cxn ang="0">
                  <a:pos x="1087" y="432"/>
                </a:cxn>
                <a:cxn ang="0">
                  <a:pos x="1262" y="437"/>
                </a:cxn>
                <a:cxn ang="0">
                  <a:pos x="1312" y="377"/>
                </a:cxn>
                <a:cxn ang="0">
                  <a:pos x="1479" y="456"/>
                </a:cxn>
                <a:cxn ang="0">
                  <a:pos x="1543" y="544"/>
                </a:cxn>
                <a:cxn ang="0">
                  <a:pos x="1570" y="561"/>
                </a:cxn>
                <a:cxn ang="0">
                  <a:pos x="1608" y="450"/>
                </a:cxn>
                <a:cxn ang="0">
                  <a:pos x="1514" y="362"/>
                </a:cxn>
                <a:cxn ang="0">
                  <a:pos x="1472" y="324"/>
                </a:cxn>
                <a:cxn ang="0">
                  <a:pos x="1531" y="276"/>
                </a:cxn>
                <a:cxn ang="0">
                  <a:pos x="1628" y="280"/>
                </a:cxn>
                <a:cxn ang="0">
                  <a:pos x="1672" y="251"/>
                </a:cxn>
                <a:cxn ang="0">
                  <a:pos x="1701" y="228"/>
                </a:cxn>
                <a:cxn ang="0">
                  <a:pos x="1702" y="318"/>
                </a:cxn>
                <a:cxn ang="0">
                  <a:pos x="1807" y="381"/>
                </a:cxn>
                <a:cxn ang="0">
                  <a:pos x="1807" y="333"/>
                </a:cxn>
                <a:cxn ang="0">
                  <a:pos x="1759" y="269"/>
                </a:cxn>
                <a:cxn ang="0">
                  <a:pos x="1828" y="249"/>
                </a:cxn>
                <a:cxn ang="0">
                  <a:pos x="1870" y="218"/>
                </a:cxn>
                <a:cxn ang="0">
                  <a:pos x="1788" y="156"/>
                </a:cxn>
              </a:cxnLst>
              <a:rect l="0" t="0" r="r" b="b"/>
              <a:pathLst>
                <a:path w="1884" h="582">
                  <a:moveTo>
                    <a:pt x="1741" y="124"/>
                  </a:moveTo>
                  <a:lnTo>
                    <a:pt x="1706" y="117"/>
                  </a:lnTo>
                  <a:lnTo>
                    <a:pt x="1670" y="110"/>
                  </a:lnTo>
                  <a:lnTo>
                    <a:pt x="1639" y="110"/>
                  </a:lnTo>
                  <a:lnTo>
                    <a:pt x="1609" y="107"/>
                  </a:lnTo>
                  <a:lnTo>
                    <a:pt x="1620" y="114"/>
                  </a:lnTo>
                  <a:lnTo>
                    <a:pt x="1638" y="124"/>
                  </a:lnTo>
                  <a:lnTo>
                    <a:pt x="1635" y="126"/>
                  </a:lnTo>
                  <a:lnTo>
                    <a:pt x="1624" y="126"/>
                  </a:lnTo>
                  <a:lnTo>
                    <a:pt x="1608" y="120"/>
                  </a:lnTo>
                  <a:lnTo>
                    <a:pt x="1602" y="120"/>
                  </a:lnTo>
                  <a:lnTo>
                    <a:pt x="1584" y="112"/>
                  </a:lnTo>
                  <a:lnTo>
                    <a:pt x="1570" y="116"/>
                  </a:lnTo>
                  <a:lnTo>
                    <a:pt x="1524" y="113"/>
                  </a:lnTo>
                  <a:lnTo>
                    <a:pt x="1522" y="120"/>
                  </a:lnTo>
                  <a:lnTo>
                    <a:pt x="1507" y="113"/>
                  </a:lnTo>
                  <a:lnTo>
                    <a:pt x="1489" y="110"/>
                  </a:lnTo>
                  <a:lnTo>
                    <a:pt x="1471" y="99"/>
                  </a:lnTo>
                  <a:lnTo>
                    <a:pt x="1443" y="93"/>
                  </a:lnTo>
                  <a:lnTo>
                    <a:pt x="1414" y="94"/>
                  </a:lnTo>
                  <a:lnTo>
                    <a:pt x="1387" y="96"/>
                  </a:lnTo>
                  <a:lnTo>
                    <a:pt x="1380" y="94"/>
                  </a:lnTo>
                  <a:lnTo>
                    <a:pt x="1358" y="88"/>
                  </a:lnTo>
                  <a:lnTo>
                    <a:pt x="1351" y="90"/>
                  </a:lnTo>
                  <a:lnTo>
                    <a:pt x="1351" y="87"/>
                  </a:lnTo>
                  <a:lnTo>
                    <a:pt x="1344" y="86"/>
                  </a:lnTo>
                  <a:lnTo>
                    <a:pt x="1329" y="83"/>
                  </a:lnTo>
                  <a:lnTo>
                    <a:pt x="1336" y="81"/>
                  </a:lnTo>
                  <a:lnTo>
                    <a:pt x="1310" y="75"/>
                  </a:lnTo>
                  <a:lnTo>
                    <a:pt x="1294" y="78"/>
                  </a:lnTo>
                  <a:lnTo>
                    <a:pt x="1290" y="78"/>
                  </a:lnTo>
                  <a:lnTo>
                    <a:pt x="1292" y="75"/>
                  </a:lnTo>
                  <a:lnTo>
                    <a:pt x="1291" y="74"/>
                  </a:lnTo>
                  <a:lnTo>
                    <a:pt x="1252" y="71"/>
                  </a:lnTo>
                  <a:lnTo>
                    <a:pt x="1213" y="68"/>
                  </a:lnTo>
                  <a:lnTo>
                    <a:pt x="1222" y="71"/>
                  </a:lnTo>
                  <a:lnTo>
                    <a:pt x="1206" y="75"/>
                  </a:lnTo>
                  <a:lnTo>
                    <a:pt x="1213" y="76"/>
                  </a:lnTo>
                  <a:lnTo>
                    <a:pt x="1218" y="77"/>
                  </a:lnTo>
                  <a:lnTo>
                    <a:pt x="1222" y="82"/>
                  </a:lnTo>
                  <a:lnTo>
                    <a:pt x="1230" y="87"/>
                  </a:lnTo>
                  <a:lnTo>
                    <a:pt x="1209" y="86"/>
                  </a:lnTo>
                  <a:lnTo>
                    <a:pt x="1213" y="89"/>
                  </a:lnTo>
                  <a:lnTo>
                    <a:pt x="1215" y="92"/>
                  </a:lnTo>
                  <a:lnTo>
                    <a:pt x="1183" y="84"/>
                  </a:lnTo>
                  <a:lnTo>
                    <a:pt x="1172" y="88"/>
                  </a:lnTo>
                  <a:lnTo>
                    <a:pt x="1146" y="83"/>
                  </a:lnTo>
                  <a:lnTo>
                    <a:pt x="1141" y="81"/>
                  </a:lnTo>
                  <a:lnTo>
                    <a:pt x="1148" y="90"/>
                  </a:lnTo>
                  <a:lnTo>
                    <a:pt x="1144" y="98"/>
                  </a:lnTo>
                  <a:lnTo>
                    <a:pt x="1126" y="93"/>
                  </a:lnTo>
                  <a:lnTo>
                    <a:pt x="1104" y="83"/>
                  </a:lnTo>
                  <a:lnTo>
                    <a:pt x="1078" y="74"/>
                  </a:lnTo>
                  <a:lnTo>
                    <a:pt x="1071" y="75"/>
                  </a:lnTo>
                  <a:lnTo>
                    <a:pt x="1090" y="88"/>
                  </a:lnTo>
                  <a:lnTo>
                    <a:pt x="1064" y="74"/>
                  </a:lnTo>
                  <a:lnTo>
                    <a:pt x="1022" y="69"/>
                  </a:lnTo>
                  <a:lnTo>
                    <a:pt x="980" y="64"/>
                  </a:lnTo>
                  <a:lnTo>
                    <a:pt x="957" y="59"/>
                  </a:lnTo>
                  <a:lnTo>
                    <a:pt x="961" y="57"/>
                  </a:lnTo>
                  <a:lnTo>
                    <a:pt x="943" y="57"/>
                  </a:lnTo>
                  <a:lnTo>
                    <a:pt x="903" y="58"/>
                  </a:lnTo>
                  <a:lnTo>
                    <a:pt x="890" y="52"/>
                  </a:lnTo>
                  <a:lnTo>
                    <a:pt x="873" y="52"/>
                  </a:lnTo>
                  <a:lnTo>
                    <a:pt x="873" y="50"/>
                  </a:lnTo>
                  <a:lnTo>
                    <a:pt x="854" y="53"/>
                  </a:lnTo>
                  <a:lnTo>
                    <a:pt x="872" y="54"/>
                  </a:lnTo>
                  <a:lnTo>
                    <a:pt x="850" y="60"/>
                  </a:lnTo>
                  <a:lnTo>
                    <a:pt x="829" y="63"/>
                  </a:lnTo>
                  <a:lnTo>
                    <a:pt x="830" y="60"/>
                  </a:lnTo>
                  <a:lnTo>
                    <a:pt x="852" y="46"/>
                  </a:lnTo>
                  <a:lnTo>
                    <a:pt x="873" y="30"/>
                  </a:lnTo>
                  <a:lnTo>
                    <a:pt x="864" y="28"/>
                  </a:lnTo>
                  <a:lnTo>
                    <a:pt x="853" y="24"/>
                  </a:lnTo>
                  <a:lnTo>
                    <a:pt x="870" y="28"/>
                  </a:lnTo>
                  <a:lnTo>
                    <a:pt x="855" y="20"/>
                  </a:lnTo>
                  <a:lnTo>
                    <a:pt x="853" y="21"/>
                  </a:lnTo>
                  <a:lnTo>
                    <a:pt x="844" y="20"/>
                  </a:lnTo>
                  <a:lnTo>
                    <a:pt x="826" y="15"/>
                  </a:lnTo>
                  <a:lnTo>
                    <a:pt x="790" y="14"/>
                  </a:lnTo>
                  <a:lnTo>
                    <a:pt x="777" y="15"/>
                  </a:lnTo>
                  <a:lnTo>
                    <a:pt x="776" y="9"/>
                  </a:lnTo>
                  <a:lnTo>
                    <a:pt x="760" y="8"/>
                  </a:lnTo>
                  <a:lnTo>
                    <a:pt x="742" y="8"/>
                  </a:lnTo>
                  <a:lnTo>
                    <a:pt x="756" y="4"/>
                  </a:lnTo>
                  <a:lnTo>
                    <a:pt x="728" y="0"/>
                  </a:lnTo>
                  <a:lnTo>
                    <a:pt x="711" y="10"/>
                  </a:lnTo>
                  <a:lnTo>
                    <a:pt x="718" y="15"/>
                  </a:lnTo>
                  <a:lnTo>
                    <a:pt x="728" y="16"/>
                  </a:lnTo>
                  <a:lnTo>
                    <a:pt x="702" y="18"/>
                  </a:lnTo>
                  <a:lnTo>
                    <a:pt x="711" y="21"/>
                  </a:lnTo>
                  <a:lnTo>
                    <a:pt x="693" y="22"/>
                  </a:lnTo>
                  <a:lnTo>
                    <a:pt x="676" y="23"/>
                  </a:lnTo>
                  <a:lnTo>
                    <a:pt x="644" y="23"/>
                  </a:lnTo>
                  <a:lnTo>
                    <a:pt x="657" y="23"/>
                  </a:lnTo>
                  <a:lnTo>
                    <a:pt x="632" y="28"/>
                  </a:lnTo>
                  <a:lnTo>
                    <a:pt x="606" y="33"/>
                  </a:lnTo>
                  <a:lnTo>
                    <a:pt x="597" y="35"/>
                  </a:lnTo>
                  <a:lnTo>
                    <a:pt x="597" y="41"/>
                  </a:lnTo>
                  <a:lnTo>
                    <a:pt x="588" y="40"/>
                  </a:lnTo>
                  <a:lnTo>
                    <a:pt x="603" y="45"/>
                  </a:lnTo>
                  <a:lnTo>
                    <a:pt x="594" y="46"/>
                  </a:lnTo>
                  <a:lnTo>
                    <a:pt x="607" y="50"/>
                  </a:lnTo>
                  <a:lnTo>
                    <a:pt x="607" y="52"/>
                  </a:lnTo>
                  <a:lnTo>
                    <a:pt x="576" y="54"/>
                  </a:lnTo>
                  <a:lnTo>
                    <a:pt x="546" y="58"/>
                  </a:lnTo>
                  <a:lnTo>
                    <a:pt x="550" y="64"/>
                  </a:lnTo>
                  <a:lnTo>
                    <a:pt x="564" y="74"/>
                  </a:lnTo>
                  <a:lnTo>
                    <a:pt x="579" y="77"/>
                  </a:lnTo>
                  <a:lnTo>
                    <a:pt x="601" y="84"/>
                  </a:lnTo>
                  <a:lnTo>
                    <a:pt x="610" y="98"/>
                  </a:lnTo>
                  <a:lnTo>
                    <a:pt x="614" y="104"/>
                  </a:lnTo>
                  <a:lnTo>
                    <a:pt x="608" y="104"/>
                  </a:lnTo>
                  <a:lnTo>
                    <a:pt x="598" y="94"/>
                  </a:lnTo>
                  <a:lnTo>
                    <a:pt x="596" y="100"/>
                  </a:lnTo>
                  <a:lnTo>
                    <a:pt x="589" y="90"/>
                  </a:lnTo>
                  <a:lnTo>
                    <a:pt x="596" y="84"/>
                  </a:lnTo>
                  <a:lnTo>
                    <a:pt x="571" y="82"/>
                  </a:lnTo>
                  <a:lnTo>
                    <a:pt x="546" y="74"/>
                  </a:lnTo>
                  <a:lnTo>
                    <a:pt x="525" y="77"/>
                  </a:lnTo>
                  <a:lnTo>
                    <a:pt x="535" y="81"/>
                  </a:lnTo>
                  <a:lnTo>
                    <a:pt x="512" y="81"/>
                  </a:lnTo>
                  <a:lnTo>
                    <a:pt x="518" y="86"/>
                  </a:lnTo>
                  <a:lnTo>
                    <a:pt x="546" y="90"/>
                  </a:lnTo>
                  <a:lnTo>
                    <a:pt x="552" y="94"/>
                  </a:lnTo>
                  <a:lnTo>
                    <a:pt x="511" y="87"/>
                  </a:lnTo>
                  <a:lnTo>
                    <a:pt x="498" y="69"/>
                  </a:lnTo>
                  <a:lnTo>
                    <a:pt x="488" y="68"/>
                  </a:lnTo>
                  <a:lnTo>
                    <a:pt x="498" y="77"/>
                  </a:lnTo>
                  <a:lnTo>
                    <a:pt x="487" y="84"/>
                  </a:lnTo>
                  <a:lnTo>
                    <a:pt x="492" y="90"/>
                  </a:lnTo>
                  <a:lnTo>
                    <a:pt x="508" y="100"/>
                  </a:lnTo>
                  <a:lnTo>
                    <a:pt x="507" y="112"/>
                  </a:lnTo>
                  <a:lnTo>
                    <a:pt x="518" y="123"/>
                  </a:lnTo>
                  <a:lnTo>
                    <a:pt x="548" y="122"/>
                  </a:lnTo>
                  <a:lnTo>
                    <a:pt x="564" y="125"/>
                  </a:lnTo>
                  <a:lnTo>
                    <a:pt x="571" y="136"/>
                  </a:lnTo>
                  <a:lnTo>
                    <a:pt x="576" y="142"/>
                  </a:lnTo>
                  <a:lnTo>
                    <a:pt x="592" y="146"/>
                  </a:lnTo>
                  <a:lnTo>
                    <a:pt x="567" y="142"/>
                  </a:lnTo>
                  <a:lnTo>
                    <a:pt x="558" y="129"/>
                  </a:lnTo>
                  <a:lnTo>
                    <a:pt x="549" y="124"/>
                  </a:lnTo>
                  <a:lnTo>
                    <a:pt x="528" y="128"/>
                  </a:lnTo>
                  <a:lnTo>
                    <a:pt x="541" y="144"/>
                  </a:lnTo>
                  <a:lnTo>
                    <a:pt x="530" y="160"/>
                  </a:lnTo>
                  <a:lnTo>
                    <a:pt x="525" y="162"/>
                  </a:lnTo>
                  <a:lnTo>
                    <a:pt x="518" y="165"/>
                  </a:lnTo>
                  <a:lnTo>
                    <a:pt x="484" y="161"/>
                  </a:lnTo>
                  <a:lnTo>
                    <a:pt x="481" y="158"/>
                  </a:lnTo>
                  <a:lnTo>
                    <a:pt x="502" y="159"/>
                  </a:lnTo>
                  <a:lnTo>
                    <a:pt x="499" y="160"/>
                  </a:lnTo>
                  <a:lnTo>
                    <a:pt x="513" y="159"/>
                  </a:lnTo>
                  <a:lnTo>
                    <a:pt x="511" y="155"/>
                  </a:lnTo>
                  <a:lnTo>
                    <a:pt x="520" y="140"/>
                  </a:lnTo>
                  <a:lnTo>
                    <a:pt x="520" y="132"/>
                  </a:lnTo>
                  <a:lnTo>
                    <a:pt x="500" y="120"/>
                  </a:lnTo>
                  <a:lnTo>
                    <a:pt x="492" y="106"/>
                  </a:lnTo>
                  <a:lnTo>
                    <a:pt x="482" y="92"/>
                  </a:lnTo>
                  <a:lnTo>
                    <a:pt x="470" y="86"/>
                  </a:lnTo>
                  <a:lnTo>
                    <a:pt x="470" y="71"/>
                  </a:lnTo>
                  <a:lnTo>
                    <a:pt x="452" y="66"/>
                  </a:lnTo>
                  <a:lnTo>
                    <a:pt x="428" y="68"/>
                  </a:lnTo>
                  <a:lnTo>
                    <a:pt x="426" y="87"/>
                  </a:lnTo>
                  <a:lnTo>
                    <a:pt x="416" y="94"/>
                  </a:lnTo>
                  <a:lnTo>
                    <a:pt x="420" y="98"/>
                  </a:lnTo>
                  <a:lnTo>
                    <a:pt x="427" y="98"/>
                  </a:lnTo>
                  <a:lnTo>
                    <a:pt x="429" y="107"/>
                  </a:lnTo>
                  <a:lnTo>
                    <a:pt x="433" y="113"/>
                  </a:lnTo>
                  <a:lnTo>
                    <a:pt x="448" y="118"/>
                  </a:lnTo>
                  <a:lnTo>
                    <a:pt x="458" y="125"/>
                  </a:lnTo>
                  <a:lnTo>
                    <a:pt x="464" y="125"/>
                  </a:lnTo>
                  <a:lnTo>
                    <a:pt x="459" y="136"/>
                  </a:lnTo>
                  <a:lnTo>
                    <a:pt x="441" y="126"/>
                  </a:lnTo>
                  <a:lnTo>
                    <a:pt x="412" y="119"/>
                  </a:lnTo>
                  <a:lnTo>
                    <a:pt x="386" y="114"/>
                  </a:lnTo>
                  <a:lnTo>
                    <a:pt x="360" y="111"/>
                  </a:lnTo>
                  <a:lnTo>
                    <a:pt x="355" y="114"/>
                  </a:lnTo>
                  <a:lnTo>
                    <a:pt x="368" y="125"/>
                  </a:lnTo>
                  <a:lnTo>
                    <a:pt x="360" y="130"/>
                  </a:lnTo>
                  <a:lnTo>
                    <a:pt x="360" y="134"/>
                  </a:lnTo>
                  <a:lnTo>
                    <a:pt x="351" y="132"/>
                  </a:lnTo>
                  <a:lnTo>
                    <a:pt x="349" y="125"/>
                  </a:lnTo>
                  <a:lnTo>
                    <a:pt x="332" y="128"/>
                  </a:lnTo>
                  <a:lnTo>
                    <a:pt x="319" y="130"/>
                  </a:lnTo>
                  <a:lnTo>
                    <a:pt x="304" y="135"/>
                  </a:lnTo>
                  <a:lnTo>
                    <a:pt x="285" y="134"/>
                  </a:lnTo>
                  <a:lnTo>
                    <a:pt x="291" y="131"/>
                  </a:lnTo>
                  <a:lnTo>
                    <a:pt x="286" y="126"/>
                  </a:lnTo>
                  <a:lnTo>
                    <a:pt x="296" y="124"/>
                  </a:lnTo>
                  <a:lnTo>
                    <a:pt x="274" y="130"/>
                  </a:lnTo>
                  <a:lnTo>
                    <a:pt x="273" y="132"/>
                  </a:lnTo>
                  <a:lnTo>
                    <a:pt x="249" y="137"/>
                  </a:lnTo>
                  <a:lnTo>
                    <a:pt x="236" y="142"/>
                  </a:lnTo>
                  <a:lnTo>
                    <a:pt x="237" y="144"/>
                  </a:lnTo>
                  <a:lnTo>
                    <a:pt x="226" y="146"/>
                  </a:lnTo>
                  <a:lnTo>
                    <a:pt x="225" y="155"/>
                  </a:lnTo>
                  <a:lnTo>
                    <a:pt x="207" y="156"/>
                  </a:lnTo>
                  <a:lnTo>
                    <a:pt x="194" y="147"/>
                  </a:lnTo>
                  <a:lnTo>
                    <a:pt x="212" y="141"/>
                  </a:lnTo>
                  <a:lnTo>
                    <a:pt x="190" y="130"/>
                  </a:lnTo>
                  <a:lnTo>
                    <a:pt x="166" y="129"/>
                  </a:lnTo>
                  <a:lnTo>
                    <a:pt x="181" y="135"/>
                  </a:lnTo>
                  <a:lnTo>
                    <a:pt x="186" y="152"/>
                  </a:lnTo>
                  <a:lnTo>
                    <a:pt x="192" y="162"/>
                  </a:lnTo>
                  <a:lnTo>
                    <a:pt x="190" y="170"/>
                  </a:lnTo>
                  <a:lnTo>
                    <a:pt x="184" y="170"/>
                  </a:lnTo>
                  <a:lnTo>
                    <a:pt x="180" y="164"/>
                  </a:lnTo>
                  <a:lnTo>
                    <a:pt x="166" y="161"/>
                  </a:lnTo>
                  <a:lnTo>
                    <a:pt x="154" y="171"/>
                  </a:lnTo>
                  <a:lnTo>
                    <a:pt x="142" y="179"/>
                  </a:lnTo>
                  <a:lnTo>
                    <a:pt x="154" y="192"/>
                  </a:lnTo>
                  <a:lnTo>
                    <a:pt x="127" y="189"/>
                  </a:lnTo>
                  <a:lnTo>
                    <a:pt x="109" y="183"/>
                  </a:lnTo>
                  <a:lnTo>
                    <a:pt x="110" y="190"/>
                  </a:lnTo>
                  <a:lnTo>
                    <a:pt x="123" y="196"/>
                  </a:lnTo>
                  <a:lnTo>
                    <a:pt x="129" y="201"/>
                  </a:lnTo>
                  <a:lnTo>
                    <a:pt x="114" y="203"/>
                  </a:lnTo>
                  <a:lnTo>
                    <a:pt x="90" y="191"/>
                  </a:lnTo>
                  <a:lnTo>
                    <a:pt x="81" y="178"/>
                  </a:lnTo>
                  <a:lnTo>
                    <a:pt x="80" y="173"/>
                  </a:lnTo>
                  <a:lnTo>
                    <a:pt x="82" y="173"/>
                  </a:lnTo>
                  <a:lnTo>
                    <a:pt x="66" y="165"/>
                  </a:lnTo>
                  <a:lnTo>
                    <a:pt x="60" y="161"/>
                  </a:lnTo>
                  <a:lnTo>
                    <a:pt x="44" y="153"/>
                  </a:lnTo>
                  <a:lnTo>
                    <a:pt x="54" y="155"/>
                  </a:lnTo>
                  <a:lnTo>
                    <a:pt x="86" y="161"/>
                  </a:lnTo>
                  <a:lnTo>
                    <a:pt x="118" y="168"/>
                  </a:lnTo>
                  <a:lnTo>
                    <a:pt x="148" y="161"/>
                  </a:lnTo>
                  <a:lnTo>
                    <a:pt x="152" y="150"/>
                  </a:lnTo>
                  <a:lnTo>
                    <a:pt x="140" y="142"/>
                  </a:lnTo>
                  <a:lnTo>
                    <a:pt x="106" y="131"/>
                  </a:lnTo>
                  <a:lnTo>
                    <a:pt x="72" y="120"/>
                  </a:lnTo>
                  <a:lnTo>
                    <a:pt x="52" y="122"/>
                  </a:lnTo>
                  <a:lnTo>
                    <a:pt x="46" y="123"/>
                  </a:lnTo>
                  <a:lnTo>
                    <a:pt x="51" y="117"/>
                  </a:lnTo>
                  <a:lnTo>
                    <a:pt x="43" y="118"/>
                  </a:lnTo>
                  <a:lnTo>
                    <a:pt x="33" y="113"/>
                  </a:lnTo>
                  <a:lnTo>
                    <a:pt x="45" y="112"/>
                  </a:lnTo>
                  <a:lnTo>
                    <a:pt x="31" y="110"/>
                  </a:lnTo>
                  <a:lnTo>
                    <a:pt x="25" y="113"/>
                  </a:lnTo>
                  <a:lnTo>
                    <a:pt x="19" y="111"/>
                  </a:lnTo>
                  <a:lnTo>
                    <a:pt x="19" y="116"/>
                  </a:lnTo>
                  <a:lnTo>
                    <a:pt x="12" y="116"/>
                  </a:lnTo>
                  <a:lnTo>
                    <a:pt x="0" y="123"/>
                  </a:lnTo>
                  <a:lnTo>
                    <a:pt x="0" y="126"/>
                  </a:lnTo>
                  <a:lnTo>
                    <a:pt x="0" y="136"/>
                  </a:lnTo>
                  <a:lnTo>
                    <a:pt x="18" y="146"/>
                  </a:lnTo>
                  <a:lnTo>
                    <a:pt x="10" y="158"/>
                  </a:lnTo>
                  <a:lnTo>
                    <a:pt x="25" y="174"/>
                  </a:lnTo>
                  <a:lnTo>
                    <a:pt x="26" y="189"/>
                  </a:lnTo>
                  <a:lnTo>
                    <a:pt x="31" y="194"/>
                  </a:lnTo>
                  <a:lnTo>
                    <a:pt x="38" y="201"/>
                  </a:lnTo>
                  <a:lnTo>
                    <a:pt x="32" y="206"/>
                  </a:lnTo>
                  <a:lnTo>
                    <a:pt x="55" y="219"/>
                  </a:lnTo>
                  <a:lnTo>
                    <a:pt x="45" y="228"/>
                  </a:lnTo>
                  <a:lnTo>
                    <a:pt x="37" y="238"/>
                  </a:lnTo>
                  <a:lnTo>
                    <a:pt x="27" y="248"/>
                  </a:lnTo>
                  <a:lnTo>
                    <a:pt x="18" y="257"/>
                  </a:lnTo>
                  <a:lnTo>
                    <a:pt x="26" y="257"/>
                  </a:lnTo>
                  <a:lnTo>
                    <a:pt x="25" y="257"/>
                  </a:lnTo>
                  <a:lnTo>
                    <a:pt x="27" y="260"/>
                  </a:lnTo>
                  <a:lnTo>
                    <a:pt x="50" y="267"/>
                  </a:lnTo>
                  <a:lnTo>
                    <a:pt x="36" y="266"/>
                  </a:lnTo>
                  <a:lnTo>
                    <a:pt x="25" y="272"/>
                  </a:lnTo>
                  <a:lnTo>
                    <a:pt x="21" y="276"/>
                  </a:lnTo>
                  <a:lnTo>
                    <a:pt x="25" y="291"/>
                  </a:lnTo>
                  <a:lnTo>
                    <a:pt x="19" y="302"/>
                  </a:lnTo>
                  <a:lnTo>
                    <a:pt x="27" y="314"/>
                  </a:lnTo>
                  <a:lnTo>
                    <a:pt x="37" y="333"/>
                  </a:lnTo>
                  <a:lnTo>
                    <a:pt x="57" y="336"/>
                  </a:lnTo>
                  <a:lnTo>
                    <a:pt x="79" y="340"/>
                  </a:lnTo>
                  <a:lnTo>
                    <a:pt x="81" y="359"/>
                  </a:lnTo>
                  <a:lnTo>
                    <a:pt x="99" y="375"/>
                  </a:lnTo>
                  <a:lnTo>
                    <a:pt x="94" y="380"/>
                  </a:lnTo>
                  <a:lnTo>
                    <a:pt x="98" y="395"/>
                  </a:lnTo>
                  <a:lnTo>
                    <a:pt x="109" y="392"/>
                  </a:lnTo>
                  <a:lnTo>
                    <a:pt x="132" y="394"/>
                  </a:lnTo>
                  <a:lnTo>
                    <a:pt x="134" y="400"/>
                  </a:lnTo>
                  <a:lnTo>
                    <a:pt x="152" y="416"/>
                  </a:lnTo>
                  <a:lnTo>
                    <a:pt x="170" y="431"/>
                  </a:lnTo>
                  <a:lnTo>
                    <a:pt x="180" y="430"/>
                  </a:lnTo>
                  <a:lnTo>
                    <a:pt x="200" y="436"/>
                  </a:lnTo>
                  <a:lnTo>
                    <a:pt x="222" y="443"/>
                  </a:lnTo>
                  <a:lnTo>
                    <a:pt x="230" y="467"/>
                  </a:lnTo>
                  <a:lnTo>
                    <a:pt x="219" y="473"/>
                  </a:lnTo>
                  <a:lnTo>
                    <a:pt x="214" y="483"/>
                  </a:lnTo>
                  <a:lnTo>
                    <a:pt x="217" y="486"/>
                  </a:lnTo>
                  <a:lnTo>
                    <a:pt x="206" y="492"/>
                  </a:lnTo>
                  <a:lnTo>
                    <a:pt x="199" y="495"/>
                  </a:lnTo>
                  <a:lnTo>
                    <a:pt x="211" y="504"/>
                  </a:lnTo>
                  <a:lnTo>
                    <a:pt x="206" y="503"/>
                  </a:lnTo>
                  <a:lnTo>
                    <a:pt x="205" y="509"/>
                  </a:lnTo>
                  <a:lnTo>
                    <a:pt x="202" y="504"/>
                  </a:lnTo>
                  <a:lnTo>
                    <a:pt x="201" y="515"/>
                  </a:lnTo>
                  <a:lnTo>
                    <a:pt x="189" y="516"/>
                  </a:lnTo>
                  <a:lnTo>
                    <a:pt x="186" y="520"/>
                  </a:lnTo>
                  <a:lnTo>
                    <a:pt x="207" y="531"/>
                  </a:lnTo>
                  <a:lnTo>
                    <a:pt x="229" y="543"/>
                  </a:lnTo>
                  <a:lnTo>
                    <a:pt x="230" y="540"/>
                  </a:lnTo>
                  <a:lnTo>
                    <a:pt x="246" y="542"/>
                  </a:lnTo>
                  <a:lnTo>
                    <a:pt x="262" y="543"/>
                  </a:lnTo>
                  <a:lnTo>
                    <a:pt x="284" y="552"/>
                  </a:lnTo>
                  <a:lnTo>
                    <a:pt x="306" y="561"/>
                  </a:lnTo>
                  <a:lnTo>
                    <a:pt x="327" y="569"/>
                  </a:lnTo>
                  <a:lnTo>
                    <a:pt x="349" y="578"/>
                  </a:lnTo>
                  <a:lnTo>
                    <a:pt x="373" y="582"/>
                  </a:lnTo>
                  <a:lnTo>
                    <a:pt x="361" y="568"/>
                  </a:lnTo>
                  <a:lnTo>
                    <a:pt x="348" y="555"/>
                  </a:lnTo>
                  <a:lnTo>
                    <a:pt x="346" y="543"/>
                  </a:lnTo>
                  <a:lnTo>
                    <a:pt x="345" y="548"/>
                  </a:lnTo>
                  <a:lnTo>
                    <a:pt x="337" y="534"/>
                  </a:lnTo>
                  <a:lnTo>
                    <a:pt x="332" y="530"/>
                  </a:lnTo>
                  <a:lnTo>
                    <a:pt x="339" y="512"/>
                  </a:lnTo>
                  <a:lnTo>
                    <a:pt x="355" y="506"/>
                  </a:lnTo>
                  <a:lnTo>
                    <a:pt x="362" y="501"/>
                  </a:lnTo>
                  <a:lnTo>
                    <a:pt x="360" y="497"/>
                  </a:lnTo>
                  <a:lnTo>
                    <a:pt x="349" y="480"/>
                  </a:lnTo>
                  <a:lnTo>
                    <a:pt x="332" y="467"/>
                  </a:lnTo>
                  <a:lnTo>
                    <a:pt x="315" y="454"/>
                  </a:lnTo>
                  <a:lnTo>
                    <a:pt x="318" y="435"/>
                  </a:lnTo>
                  <a:lnTo>
                    <a:pt x="320" y="416"/>
                  </a:lnTo>
                  <a:lnTo>
                    <a:pt x="337" y="423"/>
                  </a:lnTo>
                  <a:lnTo>
                    <a:pt x="339" y="416"/>
                  </a:lnTo>
                  <a:lnTo>
                    <a:pt x="350" y="407"/>
                  </a:lnTo>
                  <a:lnTo>
                    <a:pt x="361" y="400"/>
                  </a:lnTo>
                  <a:lnTo>
                    <a:pt x="380" y="399"/>
                  </a:lnTo>
                  <a:lnTo>
                    <a:pt x="399" y="407"/>
                  </a:lnTo>
                  <a:lnTo>
                    <a:pt x="418" y="416"/>
                  </a:lnTo>
                  <a:lnTo>
                    <a:pt x="439" y="414"/>
                  </a:lnTo>
                  <a:lnTo>
                    <a:pt x="466" y="414"/>
                  </a:lnTo>
                  <a:lnTo>
                    <a:pt x="493" y="418"/>
                  </a:lnTo>
                  <a:lnTo>
                    <a:pt x="495" y="413"/>
                  </a:lnTo>
                  <a:lnTo>
                    <a:pt x="481" y="396"/>
                  </a:lnTo>
                  <a:lnTo>
                    <a:pt x="487" y="376"/>
                  </a:lnTo>
                  <a:lnTo>
                    <a:pt x="500" y="377"/>
                  </a:lnTo>
                  <a:lnTo>
                    <a:pt x="483" y="369"/>
                  </a:lnTo>
                  <a:lnTo>
                    <a:pt x="501" y="365"/>
                  </a:lnTo>
                  <a:lnTo>
                    <a:pt x="519" y="363"/>
                  </a:lnTo>
                  <a:lnTo>
                    <a:pt x="536" y="358"/>
                  </a:lnTo>
                  <a:lnTo>
                    <a:pt x="553" y="353"/>
                  </a:lnTo>
                  <a:lnTo>
                    <a:pt x="568" y="348"/>
                  </a:lnTo>
                  <a:lnTo>
                    <a:pt x="585" y="344"/>
                  </a:lnTo>
                  <a:lnTo>
                    <a:pt x="598" y="342"/>
                  </a:lnTo>
                  <a:lnTo>
                    <a:pt x="608" y="353"/>
                  </a:lnTo>
                  <a:lnTo>
                    <a:pt x="634" y="363"/>
                  </a:lnTo>
                  <a:lnTo>
                    <a:pt x="645" y="368"/>
                  </a:lnTo>
                  <a:lnTo>
                    <a:pt x="656" y="370"/>
                  </a:lnTo>
                  <a:lnTo>
                    <a:pt x="674" y="363"/>
                  </a:lnTo>
                  <a:lnTo>
                    <a:pt x="691" y="357"/>
                  </a:lnTo>
                  <a:lnTo>
                    <a:pt x="694" y="359"/>
                  </a:lnTo>
                  <a:lnTo>
                    <a:pt x="692" y="368"/>
                  </a:lnTo>
                  <a:lnTo>
                    <a:pt x="711" y="381"/>
                  </a:lnTo>
                  <a:lnTo>
                    <a:pt x="729" y="393"/>
                  </a:lnTo>
                  <a:lnTo>
                    <a:pt x="748" y="406"/>
                  </a:lnTo>
                  <a:lnTo>
                    <a:pt x="768" y="419"/>
                  </a:lnTo>
                  <a:lnTo>
                    <a:pt x="771" y="414"/>
                  </a:lnTo>
                  <a:lnTo>
                    <a:pt x="781" y="418"/>
                  </a:lnTo>
                  <a:lnTo>
                    <a:pt x="799" y="416"/>
                  </a:lnTo>
                  <a:lnTo>
                    <a:pt x="818" y="428"/>
                  </a:lnTo>
                  <a:lnTo>
                    <a:pt x="837" y="438"/>
                  </a:lnTo>
                  <a:lnTo>
                    <a:pt x="855" y="435"/>
                  </a:lnTo>
                  <a:lnTo>
                    <a:pt x="872" y="452"/>
                  </a:lnTo>
                  <a:lnTo>
                    <a:pt x="883" y="450"/>
                  </a:lnTo>
                  <a:lnTo>
                    <a:pt x="890" y="444"/>
                  </a:lnTo>
                  <a:lnTo>
                    <a:pt x="902" y="438"/>
                  </a:lnTo>
                  <a:lnTo>
                    <a:pt x="916" y="431"/>
                  </a:lnTo>
                  <a:lnTo>
                    <a:pt x="930" y="423"/>
                  </a:lnTo>
                  <a:lnTo>
                    <a:pt x="958" y="425"/>
                  </a:lnTo>
                  <a:lnTo>
                    <a:pt x="963" y="431"/>
                  </a:lnTo>
                  <a:lnTo>
                    <a:pt x="985" y="435"/>
                  </a:lnTo>
                  <a:lnTo>
                    <a:pt x="1005" y="438"/>
                  </a:lnTo>
                  <a:lnTo>
                    <a:pt x="1016" y="430"/>
                  </a:lnTo>
                  <a:lnTo>
                    <a:pt x="1003" y="418"/>
                  </a:lnTo>
                  <a:lnTo>
                    <a:pt x="1006" y="400"/>
                  </a:lnTo>
                  <a:lnTo>
                    <a:pt x="1030" y="406"/>
                  </a:lnTo>
                  <a:lnTo>
                    <a:pt x="1054" y="411"/>
                  </a:lnTo>
                  <a:lnTo>
                    <a:pt x="1065" y="422"/>
                  </a:lnTo>
                  <a:lnTo>
                    <a:pt x="1087" y="432"/>
                  </a:lnTo>
                  <a:lnTo>
                    <a:pt x="1111" y="428"/>
                  </a:lnTo>
                  <a:lnTo>
                    <a:pt x="1130" y="431"/>
                  </a:lnTo>
                  <a:lnTo>
                    <a:pt x="1150" y="436"/>
                  </a:lnTo>
                  <a:lnTo>
                    <a:pt x="1158" y="442"/>
                  </a:lnTo>
                  <a:lnTo>
                    <a:pt x="1186" y="449"/>
                  </a:lnTo>
                  <a:lnTo>
                    <a:pt x="1203" y="447"/>
                  </a:lnTo>
                  <a:lnTo>
                    <a:pt x="1220" y="443"/>
                  </a:lnTo>
                  <a:lnTo>
                    <a:pt x="1236" y="431"/>
                  </a:lnTo>
                  <a:lnTo>
                    <a:pt x="1262" y="437"/>
                  </a:lnTo>
                  <a:lnTo>
                    <a:pt x="1275" y="438"/>
                  </a:lnTo>
                  <a:lnTo>
                    <a:pt x="1296" y="442"/>
                  </a:lnTo>
                  <a:lnTo>
                    <a:pt x="1306" y="431"/>
                  </a:lnTo>
                  <a:lnTo>
                    <a:pt x="1302" y="418"/>
                  </a:lnTo>
                  <a:lnTo>
                    <a:pt x="1300" y="398"/>
                  </a:lnTo>
                  <a:lnTo>
                    <a:pt x="1291" y="390"/>
                  </a:lnTo>
                  <a:lnTo>
                    <a:pt x="1285" y="388"/>
                  </a:lnTo>
                  <a:lnTo>
                    <a:pt x="1294" y="378"/>
                  </a:lnTo>
                  <a:lnTo>
                    <a:pt x="1312" y="377"/>
                  </a:lnTo>
                  <a:lnTo>
                    <a:pt x="1330" y="377"/>
                  </a:lnTo>
                  <a:lnTo>
                    <a:pt x="1365" y="388"/>
                  </a:lnTo>
                  <a:lnTo>
                    <a:pt x="1380" y="401"/>
                  </a:lnTo>
                  <a:lnTo>
                    <a:pt x="1394" y="413"/>
                  </a:lnTo>
                  <a:lnTo>
                    <a:pt x="1408" y="425"/>
                  </a:lnTo>
                  <a:lnTo>
                    <a:pt x="1423" y="437"/>
                  </a:lnTo>
                  <a:lnTo>
                    <a:pt x="1438" y="443"/>
                  </a:lnTo>
                  <a:lnTo>
                    <a:pt x="1464" y="450"/>
                  </a:lnTo>
                  <a:lnTo>
                    <a:pt x="1479" y="456"/>
                  </a:lnTo>
                  <a:lnTo>
                    <a:pt x="1497" y="476"/>
                  </a:lnTo>
                  <a:lnTo>
                    <a:pt x="1519" y="473"/>
                  </a:lnTo>
                  <a:lnTo>
                    <a:pt x="1540" y="465"/>
                  </a:lnTo>
                  <a:lnTo>
                    <a:pt x="1549" y="480"/>
                  </a:lnTo>
                  <a:lnTo>
                    <a:pt x="1551" y="501"/>
                  </a:lnTo>
                  <a:lnTo>
                    <a:pt x="1555" y="522"/>
                  </a:lnTo>
                  <a:lnTo>
                    <a:pt x="1536" y="519"/>
                  </a:lnTo>
                  <a:lnTo>
                    <a:pt x="1533" y="528"/>
                  </a:lnTo>
                  <a:lnTo>
                    <a:pt x="1543" y="544"/>
                  </a:lnTo>
                  <a:lnTo>
                    <a:pt x="1552" y="560"/>
                  </a:lnTo>
                  <a:lnTo>
                    <a:pt x="1546" y="564"/>
                  </a:lnTo>
                  <a:lnTo>
                    <a:pt x="1550" y="569"/>
                  </a:lnTo>
                  <a:lnTo>
                    <a:pt x="1554" y="572"/>
                  </a:lnTo>
                  <a:lnTo>
                    <a:pt x="1551" y="566"/>
                  </a:lnTo>
                  <a:lnTo>
                    <a:pt x="1554" y="566"/>
                  </a:lnTo>
                  <a:lnTo>
                    <a:pt x="1561" y="555"/>
                  </a:lnTo>
                  <a:lnTo>
                    <a:pt x="1566" y="554"/>
                  </a:lnTo>
                  <a:lnTo>
                    <a:pt x="1570" y="561"/>
                  </a:lnTo>
                  <a:lnTo>
                    <a:pt x="1581" y="562"/>
                  </a:lnTo>
                  <a:lnTo>
                    <a:pt x="1598" y="556"/>
                  </a:lnTo>
                  <a:lnTo>
                    <a:pt x="1603" y="544"/>
                  </a:lnTo>
                  <a:lnTo>
                    <a:pt x="1608" y="532"/>
                  </a:lnTo>
                  <a:lnTo>
                    <a:pt x="1610" y="515"/>
                  </a:lnTo>
                  <a:lnTo>
                    <a:pt x="1611" y="498"/>
                  </a:lnTo>
                  <a:lnTo>
                    <a:pt x="1614" y="482"/>
                  </a:lnTo>
                  <a:lnTo>
                    <a:pt x="1615" y="465"/>
                  </a:lnTo>
                  <a:lnTo>
                    <a:pt x="1608" y="450"/>
                  </a:lnTo>
                  <a:lnTo>
                    <a:pt x="1600" y="436"/>
                  </a:lnTo>
                  <a:lnTo>
                    <a:pt x="1592" y="426"/>
                  </a:lnTo>
                  <a:lnTo>
                    <a:pt x="1588" y="414"/>
                  </a:lnTo>
                  <a:lnTo>
                    <a:pt x="1584" y="404"/>
                  </a:lnTo>
                  <a:lnTo>
                    <a:pt x="1574" y="392"/>
                  </a:lnTo>
                  <a:lnTo>
                    <a:pt x="1558" y="382"/>
                  </a:lnTo>
                  <a:lnTo>
                    <a:pt x="1567" y="382"/>
                  </a:lnTo>
                  <a:lnTo>
                    <a:pt x="1532" y="364"/>
                  </a:lnTo>
                  <a:lnTo>
                    <a:pt x="1514" y="362"/>
                  </a:lnTo>
                  <a:lnTo>
                    <a:pt x="1519" y="369"/>
                  </a:lnTo>
                  <a:lnTo>
                    <a:pt x="1507" y="375"/>
                  </a:lnTo>
                  <a:lnTo>
                    <a:pt x="1507" y="369"/>
                  </a:lnTo>
                  <a:lnTo>
                    <a:pt x="1498" y="366"/>
                  </a:lnTo>
                  <a:lnTo>
                    <a:pt x="1497" y="369"/>
                  </a:lnTo>
                  <a:lnTo>
                    <a:pt x="1485" y="358"/>
                  </a:lnTo>
                  <a:lnTo>
                    <a:pt x="1462" y="354"/>
                  </a:lnTo>
                  <a:lnTo>
                    <a:pt x="1467" y="340"/>
                  </a:lnTo>
                  <a:lnTo>
                    <a:pt x="1472" y="324"/>
                  </a:lnTo>
                  <a:lnTo>
                    <a:pt x="1477" y="314"/>
                  </a:lnTo>
                  <a:lnTo>
                    <a:pt x="1480" y="304"/>
                  </a:lnTo>
                  <a:lnTo>
                    <a:pt x="1477" y="296"/>
                  </a:lnTo>
                  <a:lnTo>
                    <a:pt x="1483" y="281"/>
                  </a:lnTo>
                  <a:lnTo>
                    <a:pt x="1500" y="279"/>
                  </a:lnTo>
                  <a:lnTo>
                    <a:pt x="1516" y="275"/>
                  </a:lnTo>
                  <a:lnTo>
                    <a:pt x="1521" y="275"/>
                  </a:lnTo>
                  <a:lnTo>
                    <a:pt x="1528" y="279"/>
                  </a:lnTo>
                  <a:lnTo>
                    <a:pt x="1531" y="276"/>
                  </a:lnTo>
                  <a:lnTo>
                    <a:pt x="1563" y="279"/>
                  </a:lnTo>
                  <a:lnTo>
                    <a:pt x="1563" y="275"/>
                  </a:lnTo>
                  <a:lnTo>
                    <a:pt x="1561" y="272"/>
                  </a:lnTo>
                  <a:lnTo>
                    <a:pt x="1586" y="273"/>
                  </a:lnTo>
                  <a:lnTo>
                    <a:pt x="1605" y="278"/>
                  </a:lnTo>
                  <a:lnTo>
                    <a:pt x="1599" y="280"/>
                  </a:lnTo>
                  <a:lnTo>
                    <a:pt x="1604" y="286"/>
                  </a:lnTo>
                  <a:lnTo>
                    <a:pt x="1617" y="284"/>
                  </a:lnTo>
                  <a:lnTo>
                    <a:pt x="1628" y="280"/>
                  </a:lnTo>
                  <a:lnTo>
                    <a:pt x="1647" y="280"/>
                  </a:lnTo>
                  <a:lnTo>
                    <a:pt x="1644" y="276"/>
                  </a:lnTo>
                  <a:lnTo>
                    <a:pt x="1630" y="275"/>
                  </a:lnTo>
                  <a:lnTo>
                    <a:pt x="1626" y="270"/>
                  </a:lnTo>
                  <a:lnTo>
                    <a:pt x="1626" y="255"/>
                  </a:lnTo>
                  <a:lnTo>
                    <a:pt x="1624" y="238"/>
                  </a:lnTo>
                  <a:lnTo>
                    <a:pt x="1652" y="238"/>
                  </a:lnTo>
                  <a:lnTo>
                    <a:pt x="1658" y="236"/>
                  </a:lnTo>
                  <a:lnTo>
                    <a:pt x="1672" y="251"/>
                  </a:lnTo>
                  <a:lnTo>
                    <a:pt x="1675" y="249"/>
                  </a:lnTo>
                  <a:lnTo>
                    <a:pt x="1683" y="256"/>
                  </a:lnTo>
                  <a:lnTo>
                    <a:pt x="1690" y="240"/>
                  </a:lnTo>
                  <a:lnTo>
                    <a:pt x="1699" y="240"/>
                  </a:lnTo>
                  <a:lnTo>
                    <a:pt x="1684" y="226"/>
                  </a:lnTo>
                  <a:lnTo>
                    <a:pt x="1688" y="224"/>
                  </a:lnTo>
                  <a:lnTo>
                    <a:pt x="1711" y="226"/>
                  </a:lnTo>
                  <a:lnTo>
                    <a:pt x="1713" y="228"/>
                  </a:lnTo>
                  <a:lnTo>
                    <a:pt x="1701" y="228"/>
                  </a:lnTo>
                  <a:lnTo>
                    <a:pt x="1712" y="239"/>
                  </a:lnTo>
                  <a:lnTo>
                    <a:pt x="1722" y="251"/>
                  </a:lnTo>
                  <a:lnTo>
                    <a:pt x="1714" y="256"/>
                  </a:lnTo>
                  <a:lnTo>
                    <a:pt x="1712" y="269"/>
                  </a:lnTo>
                  <a:lnTo>
                    <a:pt x="1708" y="282"/>
                  </a:lnTo>
                  <a:lnTo>
                    <a:pt x="1707" y="299"/>
                  </a:lnTo>
                  <a:lnTo>
                    <a:pt x="1694" y="302"/>
                  </a:lnTo>
                  <a:lnTo>
                    <a:pt x="1700" y="308"/>
                  </a:lnTo>
                  <a:lnTo>
                    <a:pt x="1702" y="318"/>
                  </a:lnTo>
                  <a:lnTo>
                    <a:pt x="1713" y="333"/>
                  </a:lnTo>
                  <a:lnTo>
                    <a:pt x="1725" y="347"/>
                  </a:lnTo>
                  <a:lnTo>
                    <a:pt x="1746" y="365"/>
                  </a:lnTo>
                  <a:lnTo>
                    <a:pt x="1767" y="383"/>
                  </a:lnTo>
                  <a:lnTo>
                    <a:pt x="1788" y="401"/>
                  </a:lnTo>
                  <a:lnTo>
                    <a:pt x="1808" y="418"/>
                  </a:lnTo>
                  <a:lnTo>
                    <a:pt x="1814" y="407"/>
                  </a:lnTo>
                  <a:lnTo>
                    <a:pt x="1802" y="384"/>
                  </a:lnTo>
                  <a:lnTo>
                    <a:pt x="1807" y="381"/>
                  </a:lnTo>
                  <a:lnTo>
                    <a:pt x="1818" y="382"/>
                  </a:lnTo>
                  <a:lnTo>
                    <a:pt x="1814" y="380"/>
                  </a:lnTo>
                  <a:lnTo>
                    <a:pt x="1802" y="363"/>
                  </a:lnTo>
                  <a:lnTo>
                    <a:pt x="1818" y="356"/>
                  </a:lnTo>
                  <a:lnTo>
                    <a:pt x="1796" y="338"/>
                  </a:lnTo>
                  <a:lnTo>
                    <a:pt x="1796" y="328"/>
                  </a:lnTo>
                  <a:lnTo>
                    <a:pt x="1797" y="326"/>
                  </a:lnTo>
                  <a:lnTo>
                    <a:pt x="1797" y="329"/>
                  </a:lnTo>
                  <a:lnTo>
                    <a:pt x="1807" y="333"/>
                  </a:lnTo>
                  <a:lnTo>
                    <a:pt x="1796" y="321"/>
                  </a:lnTo>
                  <a:lnTo>
                    <a:pt x="1789" y="320"/>
                  </a:lnTo>
                  <a:lnTo>
                    <a:pt x="1774" y="302"/>
                  </a:lnTo>
                  <a:lnTo>
                    <a:pt x="1767" y="303"/>
                  </a:lnTo>
                  <a:lnTo>
                    <a:pt x="1754" y="298"/>
                  </a:lnTo>
                  <a:lnTo>
                    <a:pt x="1747" y="280"/>
                  </a:lnTo>
                  <a:lnTo>
                    <a:pt x="1740" y="269"/>
                  </a:lnTo>
                  <a:lnTo>
                    <a:pt x="1748" y="266"/>
                  </a:lnTo>
                  <a:lnTo>
                    <a:pt x="1759" y="269"/>
                  </a:lnTo>
                  <a:lnTo>
                    <a:pt x="1756" y="264"/>
                  </a:lnTo>
                  <a:lnTo>
                    <a:pt x="1762" y="258"/>
                  </a:lnTo>
                  <a:lnTo>
                    <a:pt x="1774" y="269"/>
                  </a:lnTo>
                  <a:lnTo>
                    <a:pt x="1776" y="262"/>
                  </a:lnTo>
                  <a:lnTo>
                    <a:pt x="1798" y="256"/>
                  </a:lnTo>
                  <a:lnTo>
                    <a:pt x="1821" y="266"/>
                  </a:lnTo>
                  <a:lnTo>
                    <a:pt x="1821" y="262"/>
                  </a:lnTo>
                  <a:lnTo>
                    <a:pt x="1827" y="250"/>
                  </a:lnTo>
                  <a:lnTo>
                    <a:pt x="1828" y="249"/>
                  </a:lnTo>
                  <a:lnTo>
                    <a:pt x="1827" y="244"/>
                  </a:lnTo>
                  <a:lnTo>
                    <a:pt x="1830" y="242"/>
                  </a:lnTo>
                  <a:lnTo>
                    <a:pt x="1843" y="233"/>
                  </a:lnTo>
                  <a:lnTo>
                    <a:pt x="1856" y="225"/>
                  </a:lnTo>
                  <a:lnTo>
                    <a:pt x="1849" y="222"/>
                  </a:lnTo>
                  <a:lnTo>
                    <a:pt x="1854" y="222"/>
                  </a:lnTo>
                  <a:lnTo>
                    <a:pt x="1882" y="228"/>
                  </a:lnTo>
                  <a:lnTo>
                    <a:pt x="1884" y="225"/>
                  </a:lnTo>
                  <a:lnTo>
                    <a:pt x="1870" y="218"/>
                  </a:lnTo>
                  <a:lnTo>
                    <a:pt x="1856" y="210"/>
                  </a:lnTo>
                  <a:lnTo>
                    <a:pt x="1849" y="208"/>
                  </a:lnTo>
                  <a:lnTo>
                    <a:pt x="1827" y="195"/>
                  </a:lnTo>
                  <a:lnTo>
                    <a:pt x="1826" y="197"/>
                  </a:lnTo>
                  <a:lnTo>
                    <a:pt x="1810" y="189"/>
                  </a:lnTo>
                  <a:lnTo>
                    <a:pt x="1820" y="190"/>
                  </a:lnTo>
                  <a:lnTo>
                    <a:pt x="1833" y="189"/>
                  </a:lnTo>
                  <a:lnTo>
                    <a:pt x="1810" y="172"/>
                  </a:lnTo>
                  <a:lnTo>
                    <a:pt x="1788" y="156"/>
                  </a:lnTo>
                  <a:lnTo>
                    <a:pt x="1765" y="140"/>
                  </a:lnTo>
                  <a:lnTo>
                    <a:pt x="1741" y="12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2" name="Freeform 351"/>
            <p:cNvSpPr>
              <a:spLocks/>
            </p:cNvSpPr>
            <p:nvPr/>
          </p:nvSpPr>
          <p:spPr bwMode="auto">
            <a:xfrm>
              <a:off x="134" y="1368"/>
              <a:ext cx="151" cy="80"/>
            </a:xfrm>
            <a:custGeom>
              <a:avLst/>
              <a:gdLst/>
              <a:ahLst/>
              <a:cxnLst>
                <a:cxn ang="0">
                  <a:pos x="136" y="43"/>
                </a:cxn>
                <a:cxn ang="0">
                  <a:pos x="132" y="37"/>
                </a:cxn>
                <a:cxn ang="0">
                  <a:pos x="125" y="30"/>
                </a:cxn>
                <a:cxn ang="0">
                  <a:pos x="118" y="29"/>
                </a:cxn>
                <a:cxn ang="0">
                  <a:pos x="118" y="31"/>
                </a:cxn>
                <a:cxn ang="0">
                  <a:pos x="114" y="29"/>
                </a:cxn>
                <a:cxn ang="0">
                  <a:pos x="102" y="30"/>
                </a:cxn>
                <a:cxn ang="0">
                  <a:pos x="94" y="36"/>
                </a:cxn>
                <a:cxn ang="0">
                  <a:pos x="93" y="40"/>
                </a:cxn>
                <a:cxn ang="0">
                  <a:pos x="87" y="40"/>
                </a:cxn>
                <a:cxn ang="0">
                  <a:pos x="92" y="34"/>
                </a:cxn>
                <a:cxn ang="0">
                  <a:pos x="101" y="24"/>
                </a:cxn>
                <a:cxn ang="0">
                  <a:pos x="101" y="16"/>
                </a:cxn>
                <a:cxn ang="0">
                  <a:pos x="90" y="6"/>
                </a:cxn>
                <a:cxn ang="0">
                  <a:pos x="90" y="9"/>
                </a:cxn>
                <a:cxn ang="0">
                  <a:pos x="83" y="0"/>
                </a:cxn>
                <a:cxn ang="0">
                  <a:pos x="63" y="15"/>
                </a:cxn>
                <a:cxn ang="0">
                  <a:pos x="41" y="28"/>
                </a:cxn>
                <a:cxn ang="0">
                  <a:pos x="21" y="42"/>
                </a:cxn>
                <a:cxn ang="0">
                  <a:pos x="0" y="57"/>
                </a:cxn>
                <a:cxn ang="0">
                  <a:pos x="10" y="48"/>
                </a:cxn>
                <a:cxn ang="0">
                  <a:pos x="20" y="43"/>
                </a:cxn>
                <a:cxn ang="0">
                  <a:pos x="26" y="42"/>
                </a:cxn>
                <a:cxn ang="0">
                  <a:pos x="32" y="39"/>
                </a:cxn>
                <a:cxn ang="0">
                  <a:pos x="32" y="42"/>
                </a:cxn>
                <a:cxn ang="0">
                  <a:pos x="35" y="41"/>
                </a:cxn>
                <a:cxn ang="0">
                  <a:pos x="23" y="47"/>
                </a:cxn>
                <a:cxn ang="0">
                  <a:pos x="22" y="53"/>
                </a:cxn>
                <a:cxn ang="0">
                  <a:pos x="46" y="53"/>
                </a:cxn>
                <a:cxn ang="0">
                  <a:pos x="39" y="64"/>
                </a:cxn>
                <a:cxn ang="0">
                  <a:pos x="50" y="67"/>
                </a:cxn>
                <a:cxn ang="0">
                  <a:pos x="58" y="69"/>
                </a:cxn>
                <a:cxn ang="0">
                  <a:pos x="54" y="72"/>
                </a:cxn>
                <a:cxn ang="0">
                  <a:pos x="64" y="70"/>
                </a:cxn>
                <a:cxn ang="0">
                  <a:pos x="70" y="67"/>
                </a:cxn>
                <a:cxn ang="0">
                  <a:pos x="69" y="65"/>
                </a:cxn>
                <a:cxn ang="0">
                  <a:pos x="86" y="57"/>
                </a:cxn>
                <a:cxn ang="0">
                  <a:pos x="92" y="54"/>
                </a:cxn>
                <a:cxn ang="0">
                  <a:pos x="94" y="49"/>
                </a:cxn>
                <a:cxn ang="0">
                  <a:pos x="95" y="53"/>
                </a:cxn>
                <a:cxn ang="0">
                  <a:pos x="104" y="52"/>
                </a:cxn>
                <a:cxn ang="0">
                  <a:pos x="108" y="49"/>
                </a:cxn>
                <a:cxn ang="0">
                  <a:pos x="119" y="49"/>
                </a:cxn>
                <a:cxn ang="0">
                  <a:pos x="136" y="43"/>
                </a:cxn>
              </a:cxnLst>
              <a:rect l="0" t="0" r="r" b="b"/>
              <a:pathLst>
                <a:path w="136" h="72">
                  <a:moveTo>
                    <a:pt x="136" y="43"/>
                  </a:moveTo>
                  <a:lnTo>
                    <a:pt x="132" y="37"/>
                  </a:lnTo>
                  <a:lnTo>
                    <a:pt x="125" y="30"/>
                  </a:lnTo>
                  <a:lnTo>
                    <a:pt x="118" y="29"/>
                  </a:lnTo>
                  <a:lnTo>
                    <a:pt x="118" y="31"/>
                  </a:lnTo>
                  <a:lnTo>
                    <a:pt x="114" y="29"/>
                  </a:lnTo>
                  <a:lnTo>
                    <a:pt x="102" y="30"/>
                  </a:lnTo>
                  <a:lnTo>
                    <a:pt x="94" y="36"/>
                  </a:lnTo>
                  <a:lnTo>
                    <a:pt x="93" y="40"/>
                  </a:lnTo>
                  <a:lnTo>
                    <a:pt x="87" y="40"/>
                  </a:lnTo>
                  <a:lnTo>
                    <a:pt x="92" y="34"/>
                  </a:lnTo>
                  <a:lnTo>
                    <a:pt x="101" y="24"/>
                  </a:lnTo>
                  <a:lnTo>
                    <a:pt x="101" y="16"/>
                  </a:lnTo>
                  <a:lnTo>
                    <a:pt x="90" y="6"/>
                  </a:lnTo>
                  <a:lnTo>
                    <a:pt x="90" y="9"/>
                  </a:lnTo>
                  <a:lnTo>
                    <a:pt x="83" y="0"/>
                  </a:lnTo>
                  <a:lnTo>
                    <a:pt x="63" y="15"/>
                  </a:lnTo>
                  <a:lnTo>
                    <a:pt x="41" y="28"/>
                  </a:lnTo>
                  <a:lnTo>
                    <a:pt x="21" y="42"/>
                  </a:lnTo>
                  <a:lnTo>
                    <a:pt x="0" y="57"/>
                  </a:lnTo>
                  <a:lnTo>
                    <a:pt x="10" y="48"/>
                  </a:lnTo>
                  <a:lnTo>
                    <a:pt x="20" y="43"/>
                  </a:lnTo>
                  <a:lnTo>
                    <a:pt x="26" y="42"/>
                  </a:lnTo>
                  <a:lnTo>
                    <a:pt x="32" y="39"/>
                  </a:lnTo>
                  <a:lnTo>
                    <a:pt x="32" y="42"/>
                  </a:lnTo>
                  <a:lnTo>
                    <a:pt x="35" y="41"/>
                  </a:lnTo>
                  <a:lnTo>
                    <a:pt x="23" y="47"/>
                  </a:lnTo>
                  <a:lnTo>
                    <a:pt x="22" y="53"/>
                  </a:lnTo>
                  <a:lnTo>
                    <a:pt x="46" y="53"/>
                  </a:lnTo>
                  <a:lnTo>
                    <a:pt x="39" y="64"/>
                  </a:lnTo>
                  <a:lnTo>
                    <a:pt x="50" y="67"/>
                  </a:lnTo>
                  <a:lnTo>
                    <a:pt x="58" y="69"/>
                  </a:lnTo>
                  <a:lnTo>
                    <a:pt x="54" y="72"/>
                  </a:lnTo>
                  <a:lnTo>
                    <a:pt x="64" y="70"/>
                  </a:lnTo>
                  <a:lnTo>
                    <a:pt x="70" y="67"/>
                  </a:lnTo>
                  <a:lnTo>
                    <a:pt x="69" y="65"/>
                  </a:lnTo>
                  <a:lnTo>
                    <a:pt x="86" y="57"/>
                  </a:lnTo>
                  <a:lnTo>
                    <a:pt x="92" y="54"/>
                  </a:lnTo>
                  <a:lnTo>
                    <a:pt x="94" y="49"/>
                  </a:lnTo>
                  <a:lnTo>
                    <a:pt x="95" y="53"/>
                  </a:lnTo>
                  <a:lnTo>
                    <a:pt x="104" y="52"/>
                  </a:lnTo>
                  <a:lnTo>
                    <a:pt x="108" y="49"/>
                  </a:lnTo>
                  <a:lnTo>
                    <a:pt x="119" y="49"/>
                  </a:lnTo>
                  <a:lnTo>
                    <a:pt x="136" y="4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3" name="Freeform 352"/>
            <p:cNvSpPr>
              <a:spLocks/>
            </p:cNvSpPr>
            <p:nvPr/>
          </p:nvSpPr>
          <p:spPr bwMode="auto">
            <a:xfrm>
              <a:off x="4637" y="1628"/>
              <a:ext cx="145" cy="162"/>
            </a:xfrm>
            <a:custGeom>
              <a:avLst/>
              <a:gdLst/>
              <a:ahLst/>
              <a:cxnLst>
                <a:cxn ang="0">
                  <a:pos x="115" y="101"/>
                </a:cxn>
                <a:cxn ang="0">
                  <a:pos x="98" y="85"/>
                </a:cxn>
                <a:cxn ang="0">
                  <a:pos x="80" y="70"/>
                </a:cxn>
                <a:cxn ang="0">
                  <a:pos x="62" y="55"/>
                </a:cxn>
                <a:cxn ang="0">
                  <a:pos x="43" y="40"/>
                </a:cxn>
                <a:cxn ang="0">
                  <a:pos x="40" y="34"/>
                </a:cxn>
                <a:cxn ang="0">
                  <a:pos x="22" y="17"/>
                </a:cxn>
                <a:cxn ang="0">
                  <a:pos x="4" y="0"/>
                </a:cxn>
                <a:cxn ang="0">
                  <a:pos x="0" y="3"/>
                </a:cxn>
                <a:cxn ang="0">
                  <a:pos x="13" y="12"/>
                </a:cxn>
                <a:cxn ang="0">
                  <a:pos x="13" y="18"/>
                </a:cxn>
                <a:cxn ang="0">
                  <a:pos x="6" y="18"/>
                </a:cxn>
                <a:cxn ang="0">
                  <a:pos x="20" y="34"/>
                </a:cxn>
                <a:cxn ang="0">
                  <a:pos x="35" y="49"/>
                </a:cxn>
                <a:cxn ang="0">
                  <a:pos x="49" y="64"/>
                </a:cxn>
                <a:cxn ang="0">
                  <a:pos x="62" y="81"/>
                </a:cxn>
                <a:cxn ang="0">
                  <a:pos x="73" y="99"/>
                </a:cxn>
                <a:cxn ang="0">
                  <a:pos x="85" y="113"/>
                </a:cxn>
                <a:cxn ang="0">
                  <a:pos x="97" y="127"/>
                </a:cxn>
                <a:cxn ang="0">
                  <a:pos x="109" y="145"/>
                </a:cxn>
                <a:cxn ang="0">
                  <a:pos x="113" y="145"/>
                </a:cxn>
                <a:cxn ang="0">
                  <a:pos x="112" y="133"/>
                </a:cxn>
                <a:cxn ang="0">
                  <a:pos x="125" y="139"/>
                </a:cxn>
                <a:cxn ang="0">
                  <a:pos x="131" y="147"/>
                </a:cxn>
                <a:cxn ang="0">
                  <a:pos x="120" y="133"/>
                </a:cxn>
                <a:cxn ang="0">
                  <a:pos x="92" y="112"/>
                </a:cxn>
                <a:cxn ang="0">
                  <a:pos x="86" y="89"/>
                </a:cxn>
                <a:cxn ang="0">
                  <a:pos x="91" y="89"/>
                </a:cxn>
                <a:cxn ang="0">
                  <a:pos x="108" y="95"/>
                </a:cxn>
                <a:cxn ang="0">
                  <a:pos x="115" y="101"/>
                </a:cxn>
              </a:cxnLst>
              <a:rect l="0" t="0" r="r" b="b"/>
              <a:pathLst>
                <a:path w="131" h="147">
                  <a:moveTo>
                    <a:pt x="115" y="101"/>
                  </a:moveTo>
                  <a:lnTo>
                    <a:pt x="98" y="85"/>
                  </a:lnTo>
                  <a:lnTo>
                    <a:pt x="80" y="70"/>
                  </a:lnTo>
                  <a:lnTo>
                    <a:pt x="62" y="55"/>
                  </a:lnTo>
                  <a:lnTo>
                    <a:pt x="43" y="40"/>
                  </a:lnTo>
                  <a:lnTo>
                    <a:pt x="40" y="34"/>
                  </a:lnTo>
                  <a:lnTo>
                    <a:pt x="22" y="17"/>
                  </a:lnTo>
                  <a:lnTo>
                    <a:pt x="4" y="0"/>
                  </a:lnTo>
                  <a:lnTo>
                    <a:pt x="0" y="3"/>
                  </a:lnTo>
                  <a:lnTo>
                    <a:pt x="13" y="12"/>
                  </a:lnTo>
                  <a:lnTo>
                    <a:pt x="13" y="18"/>
                  </a:lnTo>
                  <a:lnTo>
                    <a:pt x="6" y="18"/>
                  </a:lnTo>
                  <a:lnTo>
                    <a:pt x="20" y="34"/>
                  </a:lnTo>
                  <a:lnTo>
                    <a:pt x="35" y="49"/>
                  </a:lnTo>
                  <a:lnTo>
                    <a:pt x="49" y="64"/>
                  </a:lnTo>
                  <a:lnTo>
                    <a:pt x="62" y="81"/>
                  </a:lnTo>
                  <a:lnTo>
                    <a:pt x="73" y="99"/>
                  </a:lnTo>
                  <a:lnTo>
                    <a:pt x="85" y="113"/>
                  </a:lnTo>
                  <a:lnTo>
                    <a:pt x="97" y="127"/>
                  </a:lnTo>
                  <a:lnTo>
                    <a:pt x="109" y="145"/>
                  </a:lnTo>
                  <a:lnTo>
                    <a:pt x="113" y="145"/>
                  </a:lnTo>
                  <a:lnTo>
                    <a:pt x="112" y="133"/>
                  </a:lnTo>
                  <a:lnTo>
                    <a:pt x="125" y="139"/>
                  </a:lnTo>
                  <a:lnTo>
                    <a:pt x="131" y="147"/>
                  </a:lnTo>
                  <a:lnTo>
                    <a:pt x="120" y="133"/>
                  </a:lnTo>
                  <a:lnTo>
                    <a:pt x="92" y="112"/>
                  </a:lnTo>
                  <a:lnTo>
                    <a:pt x="86" y="89"/>
                  </a:lnTo>
                  <a:lnTo>
                    <a:pt x="91" y="89"/>
                  </a:lnTo>
                  <a:lnTo>
                    <a:pt x="108" y="95"/>
                  </a:lnTo>
                  <a:lnTo>
                    <a:pt x="115" y="10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4" name="Freeform 353"/>
            <p:cNvSpPr>
              <a:spLocks/>
            </p:cNvSpPr>
            <p:nvPr/>
          </p:nvSpPr>
          <p:spPr bwMode="auto">
            <a:xfrm>
              <a:off x="3180" y="1239"/>
              <a:ext cx="149" cy="55"/>
            </a:xfrm>
            <a:custGeom>
              <a:avLst/>
              <a:gdLst/>
              <a:ahLst/>
              <a:cxnLst>
                <a:cxn ang="0">
                  <a:pos x="135" y="4"/>
                </a:cxn>
                <a:cxn ang="0">
                  <a:pos x="125" y="10"/>
                </a:cxn>
                <a:cxn ang="0">
                  <a:pos x="95" y="17"/>
                </a:cxn>
                <a:cxn ang="0">
                  <a:pos x="65" y="24"/>
                </a:cxn>
                <a:cxn ang="0">
                  <a:pos x="58" y="25"/>
                </a:cxn>
                <a:cxn ang="0">
                  <a:pos x="61" y="28"/>
                </a:cxn>
                <a:cxn ang="0">
                  <a:pos x="59" y="30"/>
                </a:cxn>
                <a:cxn ang="0">
                  <a:pos x="53" y="31"/>
                </a:cxn>
                <a:cxn ang="0">
                  <a:pos x="54" y="34"/>
                </a:cxn>
                <a:cxn ang="0">
                  <a:pos x="42" y="32"/>
                </a:cxn>
                <a:cxn ang="0">
                  <a:pos x="46" y="37"/>
                </a:cxn>
                <a:cxn ang="0">
                  <a:pos x="41" y="40"/>
                </a:cxn>
                <a:cxn ang="0">
                  <a:pos x="45" y="44"/>
                </a:cxn>
                <a:cxn ang="0">
                  <a:pos x="30" y="42"/>
                </a:cxn>
                <a:cxn ang="0">
                  <a:pos x="43" y="46"/>
                </a:cxn>
                <a:cxn ang="0">
                  <a:pos x="36" y="46"/>
                </a:cxn>
                <a:cxn ang="0">
                  <a:pos x="39" y="50"/>
                </a:cxn>
                <a:cxn ang="0">
                  <a:pos x="7" y="48"/>
                </a:cxn>
                <a:cxn ang="0">
                  <a:pos x="13" y="44"/>
                </a:cxn>
                <a:cxn ang="0">
                  <a:pos x="0" y="44"/>
                </a:cxn>
                <a:cxn ang="0">
                  <a:pos x="13" y="37"/>
                </a:cxn>
                <a:cxn ang="0">
                  <a:pos x="17" y="37"/>
                </a:cxn>
                <a:cxn ang="0">
                  <a:pos x="12" y="35"/>
                </a:cxn>
                <a:cxn ang="0">
                  <a:pos x="15" y="32"/>
                </a:cxn>
                <a:cxn ang="0">
                  <a:pos x="22" y="29"/>
                </a:cxn>
                <a:cxn ang="0">
                  <a:pos x="17" y="28"/>
                </a:cxn>
                <a:cxn ang="0">
                  <a:pos x="19" y="25"/>
                </a:cxn>
                <a:cxn ang="0">
                  <a:pos x="12" y="25"/>
                </a:cxn>
                <a:cxn ang="0">
                  <a:pos x="21" y="22"/>
                </a:cxn>
                <a:cxn ang="0">
                  <a:pos x="28" y="19"/>
                </a:cxn>
                <a:cxn ang="0">
                  <a:pos x="53" y="12"/>
                </a:cxn>
                <a:cxn ang="0">
                  <a:pos x="57" y="10"/>
                </a:cxn>
                <a:cxn ang="0">
                  <a:pos x="103" y="4"/>
                </a:cxn>
                <a:cxn ang="0">
                  <a:pos x="123" y="0"/>
                </a:cxn>
                <a:cxn ang="0">
                  <a:pos x="135" y="4"/>
                </a:cxn>
              </a:cxnLst>
              <a:rect l="0" t="0" r="r" b="b"/>
              <a:pathLst>
                <a:path w="135" h="50">
                  <a:moveTo>
                    <a:pt x="135" y="4"/>
                  </a:moveTo>
                  <a:lnTo>
                    <a:pt x="125" y="10"/>
                  </a:lnTo>
                  <a:lnTo>
                    <a:pt x="95" y="17"/>
                  </a:lnTo>
                  <a:lnTo>
                    <a:pt x="65" y="24"/>
                  </a:lnTo>
                  <a:lnTo>
                    <a:pt x="58" y="25"/>
                  </a:lnTo>
                  <a:lnTo>
                    <a:pt x="61" y="28"/>
                  </a:lnTo>
                  <a:lnTo>
                    <a:pt x="59" y="30"/>
                  </a:lnTo>
                  <a:lnTo>
                    <a:pt x="53" y="31"/>
                  </a:lnTo>
                  <a:lnTo>
                    <a:pt x="54" y="34"/>
                  </a:lnTo>
                  <a:lnTo>
                    <a:pt x="42" y="32"/>
                  </a:lnTo>
                  <a:lnTo>
                    <a:pt x="46" y="37"/>
                  </a:lnTo>
                  <a:lnTo>
                    <a:pt x="41" y="40"/>
                  </a:lnTo>
                  <a:lnTo>
                    <a:pt x="45" y="44"/>
                  </a:lnTo>
                  <a:lnTo>
                    <a:pt x="30" y="42"/>
                  </a:lnTo>
                  <a:lnTo>
                    <a:pt x="43" y="46"/>
                  </a:lnTo>
                  <a:lnTo>
                    <a:pt x="36" y="46"/>
                  </a:lnTo>
                  <a:lnTo>
                    <a:pt x="39" y="50"/>
                  </a:lnTo>
                  <a:lnTo>
                    <a:pt x="7" y="48"/>
                  </a:lnTo>
                  <a:lnTo>
                    <a:pt x="13" y="44"/>
                  </a:lnTo>
                  <a:lnTo>
                    <a:pt x="0" y="44"/>
                  </a:lnTo>
                  <a:lnTo>
                    <a:pt x="13" y="37"/>
                  </a:lnTo>
                  <a:lnTo>
                    <a:pt x="17" y="37"/>
                  </a:lnTo>
                  <a:lnTo>
                    <a:pt x="12" y="35"/>
                  </a:lnTo>
                  <a:lnTo>
                    <a:pt x="15" y="32"/>
                  </a:lnTo>
                  <a:lnTo>
                    <a:pt x="22" y="29"/>
                  </a:lnTo>
                  <a:lnTo>
                    <a:pt x="17" y="28"/>
                  </a:lnTo>
                  <a:lnTo>
                    <a:pt x="19" y="25"/>
                  </a:lnTo>
                  <a:lnTo>
                    <a:pt x="12" y="25"/>
                  </a:lnTo>
                  <a:lnTo>
                    <a:pt x="21" y="22"/>
                  </a:lnTo>
                  <a:lnTo>
                    <a:pt x="28" y="19"/>
                  </a:lnTo>
                  <a:lnTo>
                    <a:pt x="53" y="12"/>
                  </a:lnTo>
                  <a:lnTo>
                    <a:pt x="57" y="10"/>
                  </a:lnTo>
                  <a:lnTo>
                    <a:pt x="103" y="4"/>
                  </a:lnTo>
                  <a:lnTo>
                    <a:pt x="123" y="0"/>
                  </a:lnTo>
                  <a:lnTo>
                    <a:pt x="13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5" name="Freeform 354"/>
            <p:cNvSpPr>
              <a:spLocks/>
            </p:cNvSpPr>
            <p:nvPr/>
          </p:nvSpPr>
          <p:spPr bwMode="auto">
            <a:xfrm>
              <a:off x="3167" y="1294"/>
              <a:ext cx="88" cy="42"/>
            </a:xfrm>
            <a:custGeom>
              <a:avLst/>
              <a:gdLst/>
              <a:ahLst/>
              <a:cxnLst>
                <a:cxn ang="0">
                  <a:pos x="80" y="38"/>
                </a:cxn>
                <a:cxn ang="0">
                  <a:pos x="50" y="26"/>
                </a:cxn>
                <a:cxn ang="0">
                  <a:pos x="41" y="10"/>
                </a:cxn>
                <a:cxn ang="0">
                  <a:pos x="41" y="8"/>
                </a:cxn>
                <a:cxn ang="0">
                  <a:pos x="42" y="5"/>
                </a:cxn>
                <a:cxn ang="0">
                  <a:pos x="45" y="2"/>
                </a:cxn>
                <a:cxn ang="0">
                  <a:pos x="16" y="0"/>
                </a:cxn>
                <a:cxn ang="0">
                  <a:pos x="11" y="5"/>
                </a:cxn>
                <a:cxn ang="0">
                  <a:pos x="8" y="10"/>
                </a:cxn>
                <a:cxn ang="0">
                  <a:pos x="11" y="11"/>
                </a:cxn>
                <a:cxn ang="0">
                  <a:pos x="6" y="18"/>
                </a:cxn>
                <a:cxn ang="0">
                  <a:pos x="0" y="21"/>
                </a:cxn>
                <a:cxn ang="0">
                  <a:pos x="8" y="27"/>
                </a:cxn>
                <a:cxn ang="0">
                  <a:pos x="17" y="27"/>
                </a:cxn>
                <a:cxn ang="0">
                  <a:pos x="24" y="27"/>
                </a:cxn>
                <a:cxn ang="0">
                  <a:pos x="29" y="28"/>
                </a:cxn>
                <a:cxn ang="0">
                  <a:pos x="35" y="33"/>
                </a:cxn>
                <a:cxn ang="0">
                  <a:pos x="34" y="34"/>
                </a:cxn>
                <a:cxn ang="0">
                  <a:pos x="45" y="38"/>
                </a:cxn>
                <a:cxn ang="0">
                  <a:pos x="53" y="38"/>
                </a:cxn>
                <a:cxn ang="0">
                  <a:pos x="64" y="39"/>
                </a:cxn>
                <a:cxn ang="0">
                  <a:pos x="75" y="39"/>
                </a:cxn>
                <a:cxn ang="0">
                  <a:pos x="80" y="38"/>
                </a:cxn>
              </a:cxnLst>
              <a:rect l="0" t="0" r="r" b="b"/>
              <a:pathLst>
                <a:path w="80" h="39">
                  <a:moveTo>
                    <a:pt x="80" y="38"/>
                  </a:moveTo>
                  <a:lnTo>
                    <a:pt x="50" y="26"/>
                  </a:lnTo>
                  <a:lnTo>
                    <a:pt x="41" y="10"/>
                  </a:lnTo>
                  <a:lnTo>
                    <a:pt x="41" y="8"/>
                  </a:lnTo>
                  <a:lnTo>
                    <a:pt x="42" y="5"/>
                  </a:lnTo>
                  <a:lnTo>
                    <a:pt x="45" y="2"/>
                  </a:lnTo>
                  <a:lnTo>
                    <a:pt x="16" y="0"/>
                  </a:lnTo>
                  <a:lnTo>
                    <a:pt x="11" y="5"/>
                  </a:lnTo>
                  <a:lnTo>
                    <a:pt x="8" y="10"/>
                  </a:lnTo>
                  <a:lnTo>
                    <a:pt x="11" y="11"/>
                  </a:lnTo>
                  <a:lnTo>
                    <a:pt x="6" y="18"/>
                  </a:lnTo>
                  <a:lnTo>
                    <a:pt x="0" y="21"/>
                  </a:lnTo>
                  <a:lnTo>
                    <a:pt x="8" y="27"/>
                  </a:lnTo>
                  <a:lnTo>
                    <a:pt x="17" y="27"/>
                  </a:lnTo>
                  <a:lnTo>
                    <a:pt x="24" y="27"/>
                  </a:lnTo>
                  <a:lnTo>
                    <a:pt x="29" y="28"/>
                  </a:lnTo>
                  <a:lnTo>
                    <a:pt x="35" y="33"/>
                  </a:lnTo>
                  <a:lnTo>
                    <a:pt x="34" y="34"/>
                  </a:lnTo>
                  <a:lnTo>
                    <a:pt x="45" y="38"/>
                  </a:lnTo>
                  <a:lnTo>
                    <a:pt x="53" y="38"/>
                  </a:lnTo>
                  <a:lnTo>
                    <a:pt x="64" y="39"/>
                  </a:lnTo>
                  <a:lnTo>
                    <a:pt x="75" y="39"/>
                  </a:lnTo>
                  <a:lnTo>
                    <a:pt x="80" y="3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6" name="Freeform 355"/>
            <p:cNvSpPr>
              <a:spLocks/>
            </p:cNvSpPr>
            <p:nvPr/>
          </p:nvSpPr>
          <p:spPr bwMode="auto">
            <a:xfrm>
              <a:off x="4140" y="1250"/>
              <a:ext cx="102" cy="24"/>
            </a:xfrm>
            <a:custGeom>
              <a:avLst/>
              <a:gdLst/>
              <a:ahLst/>
              <a:cxnLst>
                <a:cxn ang="0">
                  <a:pos x="94" y="9"/>
                </a:cxn>
                <a:cxn ang="0">
                  <a:pos x="35" y="0"/>
                </a:cxn>
                <a:cxn ang="0">
                  <a:pos x="42" y="2"/>
                </a:cxn>
                <a:cxn ang="0">
                  <a:pos x="35" y="2"/>
                </a:cxn>
                <a:cxn ang="0">
                  <a:pos x="41" y="6"/>
                </a:cxn>
                <a:cxn ang="0">
                  <a:pos x="12" y="1"/>
                </a:cxn>
                <a:cxn ang="0">
                  <a:pos x="1" y="4"/>
                </a:cxn>
                <a:cxn ang="0">
                  <a:pos x="0" y="6"/>
                </a:cxn>
                <a:cxn ang="0">
                  <a:pos x="6" y="9"/>
                </a:cxn>
                <a:cxn ang="0">
                  <a:pos x="10" y="12"/>
                </a:cxn>
                <a:cxn ang="0">
                  <a:pos x="46" y="21"/>
                </a:cxn>
                <a:cxn ang="0">
                  <a:pos x="47" y="18"/>
                </a:cxn>
                <a:cxn ang="0">
                  <a:pos x="76" y="16"/>
                </a:cxn>
                <a:cxn ang="0">
                  <a:pos x="89" y="16"/>
                </a:cxn>
                <a:cxn ang="0">
                  <a:pos x="83" y="15"/>
                </a:cxn>
                <a:cxn ang="0">
                  <a:pos x="93" y="13"/>
                </a:cxn>
                <a:cxn ang="0">
                  <a:pos x="94" y="9"/>
                </a:cxn>
              </a:cxnLst>
              <a:rect l="0" t="0" r="r" b="b"/>
              <a:pathLst>
                <a:path w="94" h="21">
                  <a:moveTo>
                    <a:pt x="94" y="9"/>
                  </a:moveTo>
                  <a:lnTo>
                    <a:pt x="35" y="0"/>
                  </a:lnTo>
                  <a:lnTo>
                    <a:pt x="42" y="2"/>
                  </a:lnTo>
                  <a:lnTo>
                    <a:pt x="35" y="2"/>
                  </a:lnTo>
                  <a:lnTo>
                    <a:pt x="41" y="6"/>
                  </a:lnTo>
                  <a:lnTo>
                    <a:pt x="12" y="1"/>
                  </a:lnTo>
                  <a:lnTo>
                    <a:pt x="1" y="4"/>
                  </a:lnTo>
                  <a:lnTo>
                    <a:pt x="0" y="6"/>
                  </a:lnTo>
                  <a:lnTo>
                    <a:pt x="6" y="9"/>
                  </a:lnTo>
                  <a:lnTo>
                    <a:pt x="10" y="12"/>
                  </a:lnTo>
                  <a:lnTo>
                    <a:pt x="46" y="21"/>
                  </a:lnTo>
                  <a:lnTo>
                    <a:pt x="47" y="18"/>
                  </a:lnTo>
                  <a:lnTo>
                    <a:pt x="76" y="16"/>
                  </a:lnTo>
                  <a:lnTo>
                    <a:pt x="89" y="16"/>
                  </a:lnTo>
                  <a:lnTo>
                    <a:pt x="83" y="15"/>
                  </a:lnTo>
                  <a:lnTo>
                    <a:pt x="93" y="13"/>
                  </a:lnTo>
                  <a:lnTo>
                    <a:pt x="94"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7" name="Freeform 356"/>
            <p:cNvSpPr>
              <a:spLocks/>
            </p:cNvSpPr>
            <p:nvPr/>
          </p:nvSpPr>
          <p:spPr bwMode="auto">
            <a:xfrm>
              <a:off x="3562" y="1192"/>
              <a:ext cx="80" cy="18"/>
            </a:xfrm>
            <a:custGeom>
              <a:avLst/>
              <a:gdLst/>
              <a:ahLst/>
              <a:cxnLst>
                <a:cxn ang="0">
                  <a:pos x="61" y="5"/>
                </a:cxn>
                <a:cxn ang="0">
                  <a:pos x="43" y="2"/>
                </a:cxn>
                <a:cxn ang="0">
                  <a:pos x="36" y="4"/>
                </a:cxn>
                <a:cxn ang="0">
                  <a:pos x="30" y="0"/>
                </a:cxn>
                <a:cxn ang="0">
                  <a:pos x="3" y="2"/>
                </a:cxn>
                <a:cxn ang="0">
                  <a:pos x="0" y="8"/>
                </a:cxn>
                <a:cxn ang="0">
                  <a:pos x="9" y="8"/>
                </a:cxn>
                <a:cxn ang="0">
                  <a:pos x="24" y="14"/>
                </a:cxn>
                <a:cxn ang="0">
                  <a:pos x="72" y="17"/>
                </a:cxn>
                <a:cxn ang="0">
                  <a:pos x="67" y="12"/>
                </a:cxn>
                <a:cxn ang="0">
                  <a:pos x="61" y="5"/>
                </a:cxn>
              </a:cxnLst>
              <a:rect l="0" t="0" r="r" b="b"/>
              <a:pathLst>
                <a:path w="72" h="17">
                  <a:moveTo>
                    <a:pt x="61" y="5"/>
                  </a:moveTo>
                  <a:lnTo>
                    <a:pt x="43" y="2"/>
                  </a:lnTo>
                  <a:lnTo>
                    <a:pt x="36" y="4"/>
                  </a:lnTo>
                  <a:lnTo>
                    <a:pt x="30" y="0"/>
                  </a:lnTo>
                  <a:lnTo>
                    <a:pt x="3" y="2"/>
                  </a:lnTo>
                  <a:lnTo>
                    <a:pt x="0" y="8"/>
                  </a:lnTo>
                  <a:lnTo>
                    <a:pt x="9" y="8"/>
                  </a:lnTo>
                  <a:lnTo>
                    <a:pt x="24" y="14"/>
                  </a:lnTo>
                  <a:lnTo>
                    <a:pt x="72" y="17"/>
                  </a:lnTo>
                  <a:lnTo>
                    <a:pt x="67" y="12"/>
                  </a:lnTo>
                  <a:lnTo>
                    <a:pt x="61"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8" name="Freeform 357"/>
            <p:cNvSpPr>
              <a:spLocks/>
            </p:cNvSpPr>
            <p:nvPr/>
          </p:nvSpPr>
          <p:spPr bwMode="auto">
            <a:xfrm>
              <a:off x="3653" y="1203"/>
              <a:ext cx="60" cy="20"/>
            </a:xfrm>
            <a:custGeom>
              <a:avLst/>
              <a:gdLst/>
              <a:ahLst/>
              <a:cxnLst>
                <a:cxn ang="0">
                  <a:pos x="53" y="10"/>
                </a:cxn>
                <a:cxn ang="0">
                  <a:pos x="26" y="2"/>
                </a:cxn>
                <a:cxn ang="0">
                  <a:pos x="20" y="7"/>
                </a:cxn>
                <a:cxn ang="0">
                  <a:pos x="15" y="0"/>
                </a:cxn>
                <a:cxn ang="0">
                  <a:pos x="8" y="0"/>
                </a:cxn>
                <a:cxn ang="0">
                  <a:pos x="11" y="2"/>
                </a:cxn>
                <a:cxn ang="0">
                  <a:pos x="0" y="2"/>
                </a:cxn>
                <a:cxn ang="0">
                  <a:pos x="3" y="4"/>
                </a:cxn>
                <a:cxn ang="0">
                  <a:pos x="9" y="8"/>
                </a:cxn>
                <a:cxn ang="0">
                  <a:pos x="2" y="10"/>
                </a:cxn>
                <a:cxn ang="0">
                  <a:pos x="6" y="19"/>
                </a:cxn>
                <a:cxn ang="0">
                  <a:pos x="54" y="12"/>
                </a:cxn>
                <a:cxn ang="0">
                  <a:pos x="53" y="10"/>
                </a:cxn>
              </a:cxnLst>
              <a:rect l="0" t="0" r="r" b="b"/>
              <a:pathLst>
                <a:path w="54" h="19">
                  <a:moveTo>
                    <a:pt x="53" y="10"/>
                  </a:moveTo>
                  <a:lnTo>
                    <a:pt x="26" y="2"/>
                  </a:lnTo>
                  <a:lnTo>
                    <a:pt x="20" y="7"/>
                  </a:lnTo>
                  <a:lnTo>
                    <a:pt x="15" y="0"/>
                  </a:lnTo>
                  <a:lnTo>
                    <a:pt x="8" y="0"/>
                  </a:lnTo>
                  <a:lnTo>
                    <a:pt x="11" y="2"/>
                  </a:lnTo>
                  <a:lnTo>
                    <a:pt x="0" y="2"/>
                  </a:lnTo>
                  <a:lnTo>
                    <a:pt x="3" y="4"/>
                  </a:lnTo>
                  <a:lnTo>
                    <a:pt x="9" y="8"/>
                  </a:lnTo>
                  <a:lnTo>
                    <a:pt x="2" y="10"/>
                  </a:lnTo>
                  <a:lnTo>
                    <a:pt x="6" y="19"/>
                  </a:lnTo>
                  <a:lnTo>
                    <a:pt x="54" y="12"/>
                  </a:lnTo>
                  <a:lnTo>
                    <a:pt x="53"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59" name="Freeform 358"/>
            <p:cNvSpPr>
              <a:spLocks/>
            </p:cNvSpPr>
            <p:nvPr/>
          </p:nvSpPr>
          <p:spPr bwMode="auto">
            <a:xfrm>
              <a:off x="3529" y="1181"/>
              <a:ext cx="64" cy="11"/>
            </a:xfrm>
            <a:custGeom>
              <a:avLst/>
              <a:gdLst/>
              <a:ahLst/>
              <a:cxnLst>
                <a:cxn ang="0">
                  <a:pos x="56" y="5"/>
                </a:cxn>
                <a:cxn ang="0">
                  <a:pos x="31" y="0"/>
                </a:cxn>
                <a:cxn ang="0">
                  <a:pos x="2" y="3"/>
                </a:cxn>
                <a:cxn ang="0">
                  <a:pos x="9" y="4"/>
                </a:cxn>
                <a:cxn ang="0">
                  <a:pos x="8" y="7"/>
                </a:cxn>
                <a:cxn ang="0">
                  <a:pos x="0" y="9"/>
                </a:cxn>
                <a:cxn ang="0">
                  <a:pos x="17" y="9"/>
                </a:cxn>
                <a:cxn ang="0">
                  <a:pos x="12" y="11"/>
                </a:cxn>
                <a:cxn ang="0">
                  <a:pos x="56" y="10"/>
                </a:cxn>
                <a:cxn ang="0">
                  <a:pos x="50" y="7"/>
                </a:cxn>
                <a:cxn ang="0">
                  <a:pos x="56" y="5"/>
                </a:cxn>
              </a:cxnLst>
              <a:rect l="0" t="0" r="r" b="b"/>
              <a:pathLst>
                <a:path w="56" h="11">
                  <a:moveTo>
                    <a:pt x="56" y="5"/>
                  </a:moveTo>
                  <a:lnTo>
                    <a:pt x="31" y="0"/>
                  </a:lnTo>
                  <a:lnTo>
                    <a:pt x="2" y="3"/>
                  </a:lnTo>
                  <a:lnTo>
                    <a:pt x="9" y="4"/>
                  </a:lnTo>
                  <a:lnTo>
                    <a:pt x="8" y="7"/>
                  </a:lnTo>
                  <a:lnTo>
                    <a:pt x="0" y="9"/>
                  </a:lnTo>
                  <a:lnTo>
                    <a:pt x="17" y="9"/>
                  </a:lnTo>
                  <a:lnTo>
                    <a:pt x="12" y="11"/>
                  </a:lnTo>
                  <a:lnTo>
                    <a:pt x="56" y="10"/>
                  </a:lnTo>
                  <a:lnTo>
                    <a:pt x="50" y="7"/>
                  </a:lnTo>
                  <a:lnTo>
                    <a:pt x="56" y="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0" name="Freeform 359"/>
            <p:cNvSpPr>
              <a:spLocks/>
            </p:cNvSpPr>
            <p:nvPr/>
          </p:nvSpPr>
          <p:spPr bwMode="auto">
            <a:xfrm>
              <a:off x="4253" y="1259"/>
              <a:ext cx="67" cy="11"/>
            </a:xfrm>
            <a:custGeom>
              <a:avLst/>
              <a:gdLst/>
              <a:ahLst/>
              <a:cxnLst>
                <a:cxn ang="0">
                  <a:pos x="59" y="6"/>
                </a:cxn>
                <a:cxn ang="0">
                  <a:pos x="14" y="2"/>
                </a:cxn>
                <a:cxn ang="0">
                  <a:pos x="0" y="0"/>
                </a:cxn>
                <a:cxn ang="0">
                  <a:pos x="5" y="5"/>
                </a:cxn>
                <a:cxn ang="0">
                  <a:pos x="54" y="11"/>
                </a:cxn>
                <a:cxn ang="0">
                  <a:pos x="59" y="6"/>
                </a:cxn>
              </a:cxnLst>
              <a:rect l="0" t="0" r="r" b="b"/>
              <a:pathLst>
                <a:path w="59" h="11">
                  <a:moveTo>
                    <a:pt x="59" y="6"/>
                  </a:moveTo>
                  <a:lnTo>
                    <a:pt x="14" y="2"/>
                  </a:lnTo>
                  <a:lnTo>
                    <a:pt x="0" y="0"/>
                  </a:lnTo>
                  <a:lnTo>
                    <a:pt x="5" y="5"/>
                  </a:lnTo>
                  <a:lnTo>
                    <a:pt x="54" y="11"/>
                  </a:lnTo>
                  <a:lnTo>
                    <a:pt x="59"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1" name="Freeform 360"/>
            <p:cNvSpPr>
              <a:spLocks/>
            </p:cNvSpPr>
            <p:nvPr/>
          </p:nvSpPr>
          <p:spPr bwMode="auto">
            <a:xfrm>
              <a:off x="2831" y="1616"/>
              <a:ext cx="31" cy="14"/>
            </a:xfrm>
            <a:custGeom>
              <a:avLst/>
              <a:gdLst/>
              <a:ahLst/>
              <a:cxnLst>
                <a:cxn ang="0">
                  <a:pos x="8" y="0"/>
                </a:cxn>
                <a:cxn ang="0">
                  <a:pos x="7" y="3"/>
                </a:cxn>
                <a:cxn ang="0">
                  <a:pos x="0" y="2"/>
                </a:cxn>
                <a:cxn ang="0">
                  <a:pos x="0" y="3"/>
                </a:cxn>
                <a:cxn ang="0">
                  <a:pos x="1" y="5"/>
                </a:cxn>
                <a:cxn ang="0">
                  <a:pos x="2" y="5"/>
                </a:cxn>
                <a:cxn ang="0">
                  <a:pos x="0" y="6"/>
                </a:cxn>
                <a:cxn ang="0">
                  <a:pos x="0" y="8"/>
                </a:cxn>
                <a:cxn ang="0">
                  <a:pos x="6" y="9"/>
                </a:cxn>
                <a:cxn ang="0">
                  <a:pos x="29" y="11"/>
                </a:cxn>
                <a:cxn ang="0">
                  <a:pos x="29" y="3"/>
                </a:cxn>
                <a:cxn ang="0">
                  <a:pos x="17" y="2"/>
                </a:cxn>
                <a:cxn ang="0">
                  <a:pos x="8" y="0"/>
                </a:cxn>
              </a:cxnLst>
              <a:rect l="0" t="0" r="r" b="b"/>
              <a:pathLst>
                <a:path w="29" h="11">
                  <a:moveTo>
                    <a:pt x="8" y="0"/>
                  </a:moveTo>
                  <a:lnTo>
                    <a:pt x="7" y="3"/>
                  </a:lnTo>
                  <a:lnTo>
                    <a:pt x="0" y="2"/>
                  </a:lnTo>
                  <a:lnTo>
                    <a:pt x="0" y="3"/>
                  </a:lnTo>
                  <a:lnTo>
                    <a:pt x="1" y="5"/>
                  </a:lnTo>
                  <a:lnTo>
                    <a:pt x="2" y="5"/>
                  </a:lnTo>
                  <a:lnTo>
                    <a:pt x="0" y="6"/>
                  </a:lnTo>
                  <a:lnTo>
                    <a:pt x="0" y="8"/>
                  </a:lnTo>
                  <a:lnTo>
                    <a:pt x="6" y="9"/>
                  </a:lnTo>
                  <a:lnTo>
                    <a:pt x="29" y="11"/>
                  </a:lnTo>
                  <a:lnTo>
                    <a:pt x="29" y="3"/>
                  </a:lnTo>
                  <a:lnTo>
                    <a:pt x="17" y="2"/>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2" name="Freeform 361"/>
            <p:cNvSpPr>
              <a:spLocks/>
            </p:cNvSpPr>
            <p:nvPr/>
          </p:nvSpPr>
          <p:spPr bwMode="auto">
            <a:xfrm>
              <a:off x="4224" y="1285"/>
              <a:ext cx="51" cy="11"/>
            </a:xfrm>
            <a:custGeom>
              <a:avLst/>
              <a:gdLst/>
              <a:ahLst/>
              <a:cxnLst>
                <a:cxn ang="0">
                  <a:pos x="46" y="10"/>
                </a:cxn>
                <a:cxn ang="0">
                  <a:pos x="0" y="6"/>
                </a:cxn>
                <a:cxn ang="0">
                  <a:pos x="16" y="0"/>
                </a:cxn>
                <a:cxn ang="0">
                  <a:pos x="41" y="7"/>
                </a:cxn>
                <a:cxn ang="0">
                  <a:pos x="46" y="10"/>
                </a:cxn>
              </a:cxnLst>
              <a:rect l="0" t="0" r="r" b="b"/>
              <a:pathLst>
                <a:path w="46" h="10">
                  <a:moveTo>
                    <a:pt x="46" y="10"/>
                  </a:moveTo>
                  <a:lnTo>
                    <a:pt x="0" y="6"/>
                  </a:lnTo>
                  <a:lnTo>
                    <a:pt x="16" y="0"/>
                  </a:lnTo>
                  <a:lnTo>
                    <a:pt x="41" y="7"/>
                  </a:lnTo>
                  <a:lnTo>
                    <a:pt x="46"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3" name="Freeform 362"/>
            <p:cNvSpPr>
              <a:spLocks/>
            </p:cNvSpPr>
            <p:nvPr/>
          </p:nvSpPr>
          <p:spPr bwMode="auto">
            <a:xfrm>
              <a:off x="3149" y="1356"/>
              <a:ext cx="27" cy="14"/>
            </a:xfrm>
            <a:custGeom>
              <a:avLst/>
              <a:gdLst/>
              <a:ahLst/>
              <a:cxnLst>
                <a:cxn ang="0">
                  <a:pos x="24" y="6"/>
                </a:cxn>
                <a:cxn ang="0">
                  <a:pos x="6" y="12"/>
                </a:cxn>
                <a:cxn ang="0">
                  <a:pos x="0" y="4"/>
                </a:cxn>
                <a:cxn ang="0">
                  <a:pos x="6" y="0"/>
                </a:cxn>
                <a:cxn ang="0">
                  <a:pos x="24" y="6"/>
                </a:cxn>
              </a:cxnLst>
              <a:rect l="0" t="0" r="r" b="b"/>
              <a:pathLst>
                <a:path w="24" h="12">
                  <a:moveTo>
                    <a:pt x="24" y="6"/>
                  </a:moveTo>
                  <a:lnTo>
                    <a:pt x="6" y="12"/>
                  </a:lnTo>
                  <a:lnTo>
                    <a:pt x="0" y="4"/>
                  </a:lnTo>
                  <a:lnTo>
                    <a:pt x="6" y="0"/>
                  </a:lnTo>
                  <a:lnTo>
                    <a:pt x="24"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4" name="Freeform 363"/>
            <p:cNvSpPr>
              <a:spLocks/>
            </p:cNvSpPr>
            <p:nvPr/>
          </p:nvSpPr>
          <p:spPr bwMode="auto">
            <a:xfrm>
              <a:off x="280" y="1323"/>
              <a:ext cx="40" cy="9"/>
            </a:xfrm>
            <a:custGeom>
              <a:avLst/>
              <a:gdLst/>
              <a:ahLst/>
              <a:cxnLst>
                <a:cxn ang="0">
                  <a:pos x="33" y="6"/>
                </a:cxn>
                <a:cxn ang="0">
                  <a:pos x="0" y="8"/>
                </a:cxn>
                <a:cxn ang="0">
                  <a:pos x="18" y="0"/>
                </a:cxn>
                <a:cxn ang="0">
                  <a:pos x="35" y="3"/>
                </a:cxn>
                <a:cxn ang="0">
                  <a:pos x="33" y="6"/>
                </a:cxn>
              </a:cxnLst>
              <a:rect l="0" t="0" r="r" b="b"/>
              <a:pathLst>
                <a:path w="35" h="8">
                  <a:moveTo>
                    <a:pt x="33" y="6"/>
                  </a:moveTo>
                  <a:lnTo>
                    <a:pt x="0" y="8"/>
                  </a:lnTo>
                  <a:lnTo>
                    <a:pt x="18" y="0"/>
                  </a:lnTo>
                  <a:lnTo>
                    <a:pt x="35" y="3"/>
                  </a:lnTo>
                  <a:lnTo>
                    <a:pt x="33"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5" name="Freeform 364"/>
            <p:cNvSpPr>
              <a:spLocks/>
            </p:cNvSpPr>
            <p:nvPr/>
          </p:nvSpPr>
          <p:spPr bwMode="auto">
            <a:xfrm>
              <a:off x="3042" y="1183"/>
              <a:ext cx="49" cy="9"/>
            </a:xfrm>
            <a:custGeom>
              <a:avLst/>
              <a:gdLst/>
              <a:ahLst/>
              <a:cxnLst>
                <a:cxn ang="0">
                  <a:pos x="43" y="1"/>
                </a:cxn>
                <a:cxn ang="0">
                  <a:pos x="17" y="5"/>
                </a:cxn>
                <a:cxn ang="0">
                  <a:pos x="8" y="7"/>
                </a:cxn>
                <a:cxn ang="0">
                  <a:pos x="0" y="7"/>
                </a:cxn>
                <a:cxn ang="0">
                  <a:pos x="8" y="5"/>
                </a:cxn>
                <a:cxn ang="0">
                  <a:pos x="24" y="1"/>
                </a:cxn>
                <a:cxn ang="0">
                  <a:pos x="36" y="0"/>
                </a:cxn>
                <a:cxn ang="0">
                  <a:pos x="43" y="1"/>
                </a:cxn>
              </a:cxnLst>
              <a:rect l="0" t="0" r="r" b="b"/>
              <a:pathLst>
                <a:path w="43" h="7">
                  <a:moveTo>
                    <a:pt x="43" y="1"/>
                  </a:moveTo>
                  <a:lnTo>
                    <a:pt x="17" y="5"/>
                  </a:lnTo>
                  <a:lnTo>
                    <a:pt x="8" y="7"/>
                  </a:lnTo>
                  <a:lnTo>
                    <a:pt x="0" y="7"/>
                  </a:lnTo>
                  <a:lnTo>
                    <a:pt x="8" y="5"/>
                  </a:lnTo>
                  <a:lnTo>
                    <a:pt x="24" y="1"/>
                  </a:lnTo>
                  <a:lnTo>
                    <a:pt x="36" y="0"/>
                  </a:lnTo>
                  <a:lnTo>
                    <a:pt x="43"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6" name="Freeform 365"/>
            <p:cNvSpPr>
              <a:spLocks/>
            </p:cNvSpPr>
            <p:nvPr/>
          </p:nvSpPr>
          <p:spPr bwMode="auto">
            <a:xfrm>
              <a:off x="4860" y="1801"/>
              <a:ext cx="15" cy="20"/>
            </a:xfrm>
            <a:custGeom>
              <a:avLst/>
              <a:gdLst/>
              <a:ahLst/>
              <a:cxnLst>
                <a:cxn ang="0">
                  <a:pos x="15" y="0"/>
                </a:cxn>
                <a:cxn ang="0">
                  <a:pos x="3" y="5"/>
                </a:cxn>
                <a:cxn ang="0">
                  <a:pos x="0" y="18"/>
                </a:cxn>
                <a:cxn ang="0">
                  <a:pos x="6" y="11"/>
                </a:cxn>
                <a:cxn ang="0">
                  <a:pos x="12" y="3"/>
                </a:cxn>
                <a:cxn ang="0">
                  <a:pos x="15" y="0"/>
                </a:cxn>
              </a:cxnLst>
              <a:rect l="0" t="0" r="r" b="b"/>
              <a:pathLst>
                <a:path w="15" h="18">
                  <a:moveTo>
                    <a:pt x="15" y="0"/>
                  </a:moveTo>
                  <a:lnTo>
                    <a:pt x="3" y="5"/>
                  </a:lnTo>
                  <a:lnTo>
                    <a:pt x="0" y="18"/>
                  </a:lnTo>
                  <a:lnTo>
                    <a:pt x="6" y="11"/>
                  </a:lnTo>
                  <a:lnTo>
                    <a:pt x="12" y="3"/>
                  </a:lnTo>
                  <a:lnTo>
                    <a:pt x="1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7" name="Freeform 366"/>
            <p:cNvSpPr>
              <a:spLocks/>
            </p:cNvSpPr>
            <p:nvPr/>
          </p:nvSpPr>
          <p:spPr bwMode="auto">
            <a:xfrm>
              <a:off x="4762" y="1323"/>
              <a:ext cx="20" cy="11"/>
            </a:xfrm>
            <a:custGeom>
              <a:avLst/>
              <a:gdLst/>
              <a:ahLst/>
              <a:cxnLst>
                <a:cxn ang="0">
                  <a:pos x="3" y="0"/>
                </a:cxn>
                <a:cxn ang="0">
                  <a:pos x="0" y="6"/>
                </a:cxn>
                <a:cxn ang="0">
                  <a:pos x="9" y="10"/>
                </a:cxn>
                <a:cxn ang="0">
                  <a:pos x="17" y="9"/>
                </a:cxn>
                <a:cxn ang="0">
                  <a:pos x="3" y="0"/>
                </a:cxn>
              </a:cxnLst>
              <a:rect l="0" t="0" r="r" b="b"/>
              <a:pathLst>
                <a:path w="17" h="10">
                  <a:moveTo>
                    <a:pt x="3" y="0"/>
                  </a:moveTo>
                  <a:lnTo>
                    <a:pt x="0" y="6"/>
                  </a:lnTo>
                  <a:lnTo>
                    <a:pt x="9" y="10"/>
                  </a:lnTo>
                  <a:lnTo>
                    <a:pt x="17" y="9"/>
                  </a:lnTo>
                  <a:lnTo>
                    <a:pt x="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8" name="Freeform 367"/>
            <p:cNvSpPr>
              <a:spLocks/>
            </p:cNvSpPr>
            <p:nvPr/>
          </p:nvSpPr>
          <p:spPr bwMode="auto">
            <a:xfrm>
              <a:off x="3269" y="1341"/>
              <a:ext cx="31" cy="9"/>
            </a:xfrm>
            <a:custGeom>
              <a:avLst/>
              <a:gdLst/>
              <a:ahLst/>
              <a:cxnLst>
                <a:cxn ang="0">
                  <a:pos x="28" y="9"/>
                </a:cxn>
                <a:cxn ang="0">
                  <a:pos x="3" y="0"/>
                </a:cxn>
                <a:cxn ang="0">
                  <a:pos x="0" y="3"/>
                </a:cxn>
                <a:cxn ang="0">
                  <a:pos x="18" y="9"/>
                </a:cxn>
                <a:cxn ang="0">
                  <a:pos x="28" y="9"/>
                </a:cxn>
              </a:cxnLst>
              <a:rect l="0" t="0" r="r" b="b"/>
              <a:pathLst>
                <a:path w="28" h="9">
                  <a:moveTo>
                    <a:pt x="28" y="9"/>
                  </a:moveTo>
                  <a:lnTo>
                    <a:pt x="3" y="0"/>
                  </a:lnTo>
                  <a:lnTo>
                    <a:pt x="0" y="3"/>
                  </a:lnTo>
                  <a:lnTo>
                    <a:pt x="18" y="9"/>
                  </a:lnTo>
                  <a:lnTo>
                    <a:pt x="28" y="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69" name="Freeform 368"/>
            <p:cNvSpPr>
              <a:spLocks/>
            </p:cNvSpPr>
            <p:nvPr/>
          </p:nvSpPr>
          <p:spPr bwMode="auto">
            <a:xfrm>
              <a:off x="2847" y="1550"/>
              <a:ext cx="17" cy="9"/>
            </a:xfrm>
            <a:custGeom>
              <a:avLst/>
              <a:gdLst/>
              <a:ahLst/>
              <a:cxnLst>
                <a:cxn ang="0">
                  <a:pos x="16" y="1"/>
                </a:cxn>
                <a:cxn ang="0">
                  <a:pos x="2" y="7"/>
                </a:cxn>
                <a:cxn ang="0">
                  <a:pos x="0" y="1"/>
                </a:cxn>
                <a:cxn ang="0">
                  <a:pos x="14" y="0"/>
                </a:cxn>
                <a:cxn ang="0">
                  <a:pos x="16" y="1"/>
                </a:cxn>
              </a:cxnLst>
              <a:rect l="0" t="0" r="r" b="b"/>
              <a:pathLst>
                <a:path w="16" h="7">
                  <a:moveTo>
                    <a:pt x="16" y="1"/>
                  </a:moveTo>
                  <a:lnTo>
                    <a:pt x="2" y="7"/>
                  </a:lnTo>
                  <a:lnTo>
                    <a:pt x="0" y="1"/>
                  </a:lnTo>
                  <a:lnTo>
                    <a:pt x="14" y="0"/>
                  </a:lnTo>
                  <a:lnTo>
                    <a:pt x="16"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0" name="Freeform 369"/>
            <p:cNvSpPr>
              <a:spLocks/>
            </p:cNvSpPr>
            <p:nvPr/>
          </p:nvSpPr>
          <p:spPr bwMode="auto">
            <a:xfrm>
              <a:off x="4860" y="1536"/>
              <a:ext cx="11" cy="14"/>
            </a:xfrm>
            <a:custGeom>
              <a:avLst/>
              <a:gdLst/>
              <a:ahLst/>
              <a:cxnLst>
                <a:cxn ang="0">
                  <a:pos x="11" y="3"/>
                </a:cxn>
                <a:cxn ang="0">
                  <a:pos x="5" y="11"/>
                </a:cxn>
                <a:cxn ang="0">
                  <a:pos x="0" y="5"/>
                </a:cxn>
                <a:cxn ang="0">
                  <a:pos x="5" y="0"/>
                </a:cxn>
                <a:cxn ang="0">
                  <a:pos x="11" y="3"/>
                </a:cxn>
              </a:cxnLst>
              <a:rect l="0" t="0" r="r" b="b"/>
              <a:pathLst>
                <a:path w="11" h="11">
                  <a:moveTo>
                    <a:pt x="11" y="3"/>
                  </a:moveTo>
                  <a:lnTo>
                    <a:pt x="5" y="11"/>
                  </a:lnTo>
                  <a:lnTo>
                    <a:pt x="0" y="5"/>
                  </a:lnTo>
                  <a:lnTo>
                    <a:pt x="5" y="0"/>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1" name="Freeform 370"/>
            <p:cNvSpPr>
              <a:spLocks/>
            </p:cNvSpPr>
            <p:nvPr/>
          </p:nvSpPr>
          <p:spPr bwMode="auto">
            <a:xfrm>
              <a:off x="4660" y="1350"/>
              <a:ext cx="22" cy="4"/>
            </a:xfrm>
            <a:custGeom>
              <a:avLst/>
              <a:gdLst/>
              <a:ahLst/>
              <a:cxnLst>
                <a:cxn ang="0">
                  <a:pos x="21" y="1"/>
                </a:cxn>
                <a:cxn ang="0">
                  <a:pos x="18" y="3"/>
                </a:cxn>
                <a:cxn ang="0">
                  <a:pos x="0" y="0"/>
                </a:cxn>
                <a:cxn ang="0">
                  <a:pos x="18" y="0"/>
                </a:cxn>
                <a:cxn ang="0">
                  <a:pos x="21" y="1"/>
                </a:cxn>
              </a:cxnLst>
              <a:rect l="0" t="0" r="r" b="b"/>
              <a:pathLst>
                <a:path w="21" h="3">
                  <a:moveTo>
                    <a:pt x="21" y="1"/>
                  </a:moveTo>
                  <a:lnTo>
                    <a:pt x="18" y="3"/>
                  </a:lnTo>
                  <a:lnTo>
                    <a:pt x="0" y="0"/>
                  </a:lnTo>
                  <a:lnTo>
                    <a:pt x="18" y="0"/>
                  </a:lnTo>
                  <a:lnTo>
                    <a:pt x="2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2" name="Freeform 371"/>
            <p:cNvSpPr>
              <a:spLocks/>
            </p:cNvSpPr>
            <p:nvPr/>
          </p:nvSpPr>
          <p:spPr bwMode="auto">
            <a:xfrm>
              <a:off x="3382" y="1292"/>
              <a:ext cx="20" cy="4"/>
            </a:xfrm>
            <a:custGeom>
              <a:avLst/>
              <a:gdLst/>
              <a:ahLst/>
              <a:cxnLst>
                <a:cxn ang="0">
                  <a:pos x="19" y="4"/>
                </a:cxn>
                <a:cxn ang="0">
                  <a:pos x="0" y="5"/>
                </a:cxn>
                <a:cxn ang="0">
                  <a:pos x="2" y="0"/>
                </a:cxn>
                <a:cxn ang="0">
                  <a:pos x="10" y="2"/>
                </a:cxn>
                <a:cxn ang="0">
                  <a:pos x="19" y="4"/>
                </a:cxn>
              </a:cxnLst>
              <a:rect l="0" t="0" r="r" b="b"/>
              <a:pathLst>
                <a:path w="19" h="5">
                  <a:moveTo>
                    <a:pt x="19" y="4"/>
                  </a:moveTo>
                  <a:lnTo>
                    <a:pt x="0" y="5"/>
                  </a:lnTo>
                  <a:lnTo>
                    <a:pt x="2" y="0"/>
                  </a:lnTo>
                  <a:lnTo>
                    <a:pt x="10" y="2"/>
                  </a:lnTo>
                  <a:lnTo>
                    <a:pt x="19"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3" name="Freeform 372"/>
            <p:cNvSpPr>
              <a:spLocks/>
            </p:cNvSpPr>
            <p:nvPr/>
          </p:nvSpPr>
          <p:spPr bwMode="auto">
            <a:xfrm>
              <a:off x="3173" y="1183"/>
              <a:ext cx="34" cy="5"/>
            </a:xfrm>
            <a:custGeom>
              <a:avLst/>
              <a:gdLst/>
              <a:ahLst/>
              <a:cxnLst>
                <a:cxn ang="0">
                  <a:pos x="29" y="0"/>
                </a:cxn>
                <a:cxn ang="0">
                  <a:pos x="0" y="1"/>
                </a:cxn>
                <a:cxn ang="0">
                  <a:pos x="16" y="3"/>
                </a:cxn>
                <a:cxn ang="0">
                  <a:pos x="29" y="0"/>
                </a:cxn>
              </a:cxnLst>
              <a:rect l="0" t="0" r="r" b="b"/>
              <a:pathLst>
                <a:path w="29" h="3">
                  <a:moveTo>
                    <a:pt x="29" y="0"/>
                  </a:moveTo>
                  <a:lnTo>
                    <a:pt x="0" y="1"/>
                  </a:lnTo>
                  <a:lnTo>
                    <a:pt x="16" y="3"/>
                  </a:lnTo>
                  <a:lnTo>
                    <a:pt x="2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4" name="Freeform 373"/>
            <p:cNvSpPr>
              <a:spLocks/>
            </p:cNvSpPr>
            <p:nvPr/>
          </p:nvSpPr>
          <p:spPr bwMode="auto">
            <a:xfrm>
              <a:off x="3207" y="1181"/>
              <a:ext cx="31" cy="2"/>
            </a:xfrm>
            <a:custGeom>
              <a:avLst/>
              <a:gdLst/>
              <a:ahLst/>
              <a:cxnLst>
                <a:cxn ang="0">
                  <a:pos x="28" y="3"/>
                </a:cxn>
                <a:cxn ang="0">
                  <a:pos x="0" y="4"/>
                </a:cxn>
                <a:cxn ang="0">
                  <a:pos x="23" y="0"/>
                </a:cxn>
                <a:cxn ang="0">
                  <a:pos x="28" y="3"/>
                </a:cxn>
              </a:cxnLst>
              <a:rect l="0" t="0" r="r" b="b"/>
              <a:pathLst>
                <a:path w="28" h="4">
                  <a:moveTo>
                    <a:pt x="28" y="3"/>
                  </a:moveTo>
                  <a:lnTo>
                    <a:pt x="0" y="4"/>
                  </a:lnTo>
                  <a:lnTo>
                    <a:pt x="23" y="0"/>
                  </a:lnTo>
                  <a:lnTo>
                    <a:pt x="28"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5" name="Freeform 374"/>
            <p:cNvSpPr>
              <a:spLocks/>
            </p:cNvSpPr>
            <p:nvPr/>
          </p:nvSpPr>
          <p:spPr bwMode="auto">
            <a:xfrm>
              <a:off x="3867" y="1276"/>
              <a:ext cx="22" cy="5"/>
            </a:xfrm>
            <a:custGeom>
              <a:avLst/>
              <a:gdLst/>
              <a:ahLst/>
              <a:cxnLst>
                <a:cxn ang="0">
                  <a:pos x="19" y="0"/>
                </a:cxn>
                <a:cxn ang="0">
                  <a:pos x="0" y="1"/>
                </a:cxn>
                <a:cxn ang="0">
                  <a:pos x="21" y="3"/>
                </a:cxn>
                <a:cxn ang="0">
                  <a:pos x="19" y="0"/>
                </a:cxn>
              </a:cxnLst>
              <a:rect l="0" t="0" r="r" b="b"/>
              <a:pathLst>
                <a:path w="21" h="3">
                  <a:moveTo>
                    <a:pt x="19" y="0"/>
                  </a:moveTo>
                  <a:lnTo>
                    <a:pt x="0" y="1"/>
                  </a:lnTo>
                  <a:lnTo>
                    <a:pt x="21" y="3"/>
                  </a:lnTo>
                  <a:lnTo>
                    <a:pt x="1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6" name="Freeform 375"/>
            <p:cNvSpPr>
              <a:spLocks/>
            </p:cNvSpPr>
            <p:nvPr/>
          </p:nvSpPr>
          <p:spPr bwMode="auto">
            <a:xfrm>
              <a:off x="4904" y="1699"/>
              <a:ext cx="5" cy="11"/>
            </a:xfrm>
            <a:custGeom>
              <a:avLst/>
              <a:gdLst/>
              <a:ahLst/>
              <a:cxnLst>
                <a:cxn ang="0">
                  <a:pos x="5" y="1"/>
                </a:cxn>
                <a:cxn ang="0">
                  <a:pos x="1" y="11"/>
                </a:cxn>
                <a:cxn ang="0">
                  <a:pos x="0" y="0"/>
                </a:cxn>
                <a:cxn ang="0">
                  <a:pos x="5" y="1"/>
                </a:cxn>
              </a:cxnLst>
              <a:rect l="0" t="0" r="r" b="b"/>
              <a:pathLst>
                <a:path w="5" h="11">
                  <a:moveTo>
                    <a:pt x="5" y="1"/>
                  </a:moveTo>
                  <a:lnTo>
                    <a:pt x="1" y="11"/>
                  </a:lnTo>
                  <a:lnTo>
                    <a:pt x="0" y="0"/>
                  </a:lnTo>
                  <a:lnTo>
                    <a:pt x="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7" name="Freeform 376"/>
            <p:cNvSpPr>
              <a:spLocks/>
            </p:cNvSpPr>
            <p:nvPr/>
          </p:nvSpPr>
          <p:spPr bwMode="auto">
            <a:xfrm>
              <a:off x="4846" y="1821"/>
              <a:ext cx="7" cy="11"/>
            </a:xfrm>
            <a:custGeom>
              <a:avLst/>
              <a:gdLst/>
              <a:ahLst/>
              <a:cxnLst>
                <a:cxn ang="0">
                  <a:pos x="6" y="0"/>
                </a:cxn>
                <a:cxn ang="0">
                  <a:pos x="0" y="11"/>
                </a:cxn>
                <a:cxn ang="0">
                  <a:pos x="0" y="3"/>
                </a:cxn>
                <a:cxn ang="0">
                  <a:pos x="6" y="0"/>
                </a:cxn>
              </a:cxnLst>
              <a:rect l="0" t="0" r="r" b="b"/>
              <a:pathLst>
                <a:path w="6" h="11">
                  <a:moveTo>
                    <a:pt x="6" y="0"/>
                  </a:moveTo>
                  <a:lnTo>
                    <a:pt x="0" y="11"/>
                  </a:lnTo>
                  <a:lnTo>
                    <a:pt x="0" y="3"/>
                  </a:lnTo>
                  <a:lnTo>
                    <a:pt x="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8" name="Freeform 377"/>
            <p:cNvSpPr>
              <a:spLocks/>
            </p:cNvSpPr>
            <p:nvPr/>
          </p:nvSpPr>
          <p:spPr bwMode="auto">
            <a:xfrm>
              <a:off x="4213" y="1281"/>
              <a:ext cx="9" cy="4"/>
            </a:xfrm>
            <a:custGeom>
              <a:avLst/>
              <a:gdLst/>
              <a:ahLst/>
              <a:cxnLst>
                <a:cxn ang="0">
                  <a:pos x="10" y="0"/>
                </a:cxn>
                <a:cxn ang="0">
                  <a:pos x="0" y="0"/>
                </a:cxn>
                <a:cxn ang="0">
                  <a:pos x="10" y="5"/>
                </a:cxn>
                <a:cxn ang="0">
                  <a:pos x="10" y="0"/>
                </a:cxn>
              </a:cxnLst>
              <a:rect l="0" t="0" r="r" b="b"/>
              <a:pathLst>
                <a:path w="10" h="5">
                  <a:moveTo>
                    <a:pt x="10" y="0"/>
                  </a:moveTo>
                  <a:lnTo>
                    <a:pt x="0" y="0"/>
                  </a:lnTo>
                  <a:lnTo>
                    <a:pt x="10" y="5"/>
                  </a:lnTo>
                  <a:lnTo>
                    <a:pt x="1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79" name="Freeform 378"/>
            <p:cNvSpPr>
              <a:spLocks/>
            </p:cNvSpPr>
            <p:nvPr/>
          </p:nvSpPr>
          <p:spPr bwMode="auto">
            <a:xfrm>
              <a:off x="3029" y="1185"/>
              <a:ext cx="31" cy="3"/>
            </a:xfrm>
            <a:custGeom>
              <a:avLst/>
              <a:gdLst/>
              <a:ahLst/>
              <a:cxnLst>
                <a:cxn ang="0">
                  <a:pos x="27" y="0"/>
                </a:cxn>
                <a:cxn ang="0">
                  <a:pos x="0" y="1"/>
                </a:cxn>
                <a:cxn ang="0">
                  <a:pos x="6" y="0"/>
                </a:cxn>
                <a:cxn ang="0">
                  <a:pos x="27" y="0"/>
                </a:cxn>
              </a:cxnLst>
              <a:rect l="0" t="0" r="r" b="b"/>
              <a:pathLst>
                <a:path w="27" h="1">
                  <a:moveTo>
                    <a:pt x="27" y="0"/>
                  </a:moveTo>
                  <a:lnTo>
                    <a:pt x="0" y="1"/>
                  </a:lnTo>
                  <a:lnTo>
                    <a:pt x="6" y="0"/>
                  </a:lnTo>
                  <a:lnTo>
                    <a:pt x="27"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0" name="Freeform 379"/>
            <p:cNvSpPr>
              <a:spLocks/>
            </p:cNvSpPr>
            <p:nvPr/>
          </p:nvSpPr>
          <p:spPr bwMode="auto">
            <a:xfrm>
              <a:off x="3480" y="1308"/>
              <a:ext cx="13" cy="2"/>
            </a:xfrm>
            <a:custGeom>
              <a:avLst/>
              <a:gdLst/>
              <a:ahLst/>
              <a:cxnLst>
                <a:cxn ang="0">
                  <a:pos x="13" y="0"/>
                </a:cxn>
                <a:cxn ang="0">
                  <a:pos x="1" y="3"/>
                </a:cxn>
                <a:cxn ang="0">
                  <a:pos x="0" y="0"/>
                </a:cxn>
                <a:cxn ang="0">
                  <a:pos x="13" y="0"/>
                </a:cxn>
              </a:cxnLst>
              <a:rect l="0" t="0" r="r" b="b"/>
              <a:pathLst>
                <a:path w="13" h="3">
                  <a:moveTo>
                    <a:pt x="13" y="0"/>
                  </a:moveTo>
                  <a:lnTo>
                    <a:pt x="1" y="3"/>
                  </a:lnTo>
                  <a:lnTo>
                    <a:pt x="0" y="0"/>
                  </a:lnTo>
                  <a:lnTo>
                    <a:pt x="1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1" name="Freeform 380"/>
            <p:cNvSpPr>
              <a:spLocks/>
            </p:cNvSpPr>
            <p:nvPr/>
          </p:nvSpPr>
          <p:spPr bwMode="auto">
            <a:xfrm>
              <a:off x="3156" y="1190"/>
              <a:ext cx="22" cy="2"/>
            </a:xfrm>
            <a:custGeom>
              <a:avLst/>
              <a:gdLst/>
              <a:ahLst/>
              <a:cxnLst>
                <a:cxn ang="0">
                  <a:pos x="20" y="0"/>
                </a:cxn>
                <a:cxn ang="0">
                  <a:pos x="0" y="0"/>
                </a:cxn>
                <a:cxn ang="0">
                  <a:pos x="9" y="2"/>
                </a:cxn>
                <a:cxn ang="0">
                  <a:pos x="20" y="0"/>
                </a:cxn>
              </a:cxnLst>
              <a:rect l="0" t="0" r="r" b="b"/>
              <a:pathLst>
                <a:path w="20" h="2">
                  <a:moveTo>
                    <a:pt x="20" y="0"/>
                  </a:moveTo>
                  <a:lnTo>
                    <a:pt x="0" y="0"/>
                  </a:lnTo>
                  <a:lnTo>
                    <a:pt x="9" y="2"/>
                  </a:lnTo>
                  <a:lnTo>
                    <a:pt x="2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2" name="Freeform 381"/>
            <p:cNvSpPr>
              <a:spLocks/>
            </p:cNvSpPr>
            <p:nvPr/>
          </p:nvSpPr>
          <p:spPr bwMode="auto">
            <a:xfrm>
              <a:off x="4966" y="1610"/>
              <a:ext cx="25" cy="13"/>
            </a:xfrm>
            <a:custGeom>
              <a:avLst/>
              <a:gdLst/>
              <a:ahLst/>
              <a:cxnLst>
                <a:cxn ang="0">
                  <a:pos x="23" y="12"/>
                </a:cxn>
                <a:cxn ang="0">
                  <a:pos x="0" y="0"/>
                </a:cxn>
                <a:cxn ang="0">
                  <a:pos x="19" y="8"/>
                </a:cxn>
                <a:cxn ang="0">
                  <a:pos x="23" y="12"/>
                </a:cxn>
              </a:cxnLst>
              <a:rect l="0" t="0" r="r" b="b"/>
              <a:pathLst>
                <a:path w="23" h="12">
                  <a:moveTo>
                    <a:pt x="23" y="12"/>
                  </a:moveTo>
                  <a:lnTo>
                    <a:pt x="0" y="0"/>
                  </a:lnTo>
                  <a:lnTo>
                    <a:pt x="19" y="8"/>
                  </a:lnTo>
                  <a:lnTo>
                    <a:pt x="23"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3" name="Freeform 382"/>
            <p:cNvSpPr>
              <a:spLocks/>
            </p:cNvSpPr>
            <p:nvPr/>
          </p:nvSpPr>
          <p:spPr bwMode="auto">
            <a:xfrm>
              <a:off x="4120" y="1254"/>
              <a:ext cx="13" cy="7"/>
            </a:xfrm>
            <a:custGeom>
              <a:avLst/>
              <a:gdLst/>
              <a:ahLst/>
              <a:cxnLst>
                <a:cxn ang="0">
                  <a:pos x="11" y="4"/>
                </a:cxn>
                <a:cxn ang="0">
                  <a:pos x="0" y="0"/>
                </a:cxn>
                <a:cxn ang="0">
                  <a:pos x="12" y="6"/>
                </a:cxn>
                <a:cxn ang="0">
                  <a:pos x="11" y="4"/>
                </a:cxn>
              </a:cxnLst>
              <a:rect l="0" t="0" r="r" b="b"/>
              <a:pathLst>
                <a:path w="12" h="6">
                  <a:moveTo>
                    <a:pt x="11" y="4"/>
                  </a:moveTo>
                  <a:lnTo>
                    <a:pt x="0" y="0"/>
                  </a:lnTo>
                  <a:lnTo>
                    <a:pt x="12" y="6"/>
                  </a:lnTo>
                  <a:lnTo>
                    <a:pt x="11"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4" name="Freeform 383"/>
            <p:cNvSpPr>
              <a:spLocks/>
            </p:cNvSpPr>
            <p:nvPr/>
          </p:nvSpPr>
          <p:spPr bwMode="auto">
            <a:xfrm>
              <a:off x="2847" y="1543"/>
              <a:ext cx="13" cy="2"/>
            </a:xfrm>
            <a:custGeom>
              <a:avLst/>
              <a:gdLst/>
              <a:ahLst/>
              <a:cxnLst>
                <a:cxn ang="0">
                  <a:pos x="11" y="1"/>
                </a:cxn>
                <a:cxn ang="0">
                  <a:pos x="0" y="1"/>
                </a:cxn>
                <a:cxn ang="0">
                  <a:pos x="4" y="0"/>
                </a:cxn>
                <a:cxn ang="0">
                  <a:pos x="11" y="1"/>
                </a:cxn>
              </a:cxnLst>
              <a:rect l="0" t="0" r="r" b="b"/>
              <a:pathLst>
                <a:path w="11" h="1">
                  <a:moveTo>
                    <a:pt x="11" y="1"/>
                  </a:moveTo>
                  <a:lnTo>
                    <a:pt x="0" y="1"/>
                  </a:lnTo>
                  <a:lnTo>
                    <a:pt x="4" y="0"/>
                  </a:lnTo>
                  <a:lnTo>
                    <a:pt x="11"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5" name="Rectangle 384"/>
            <p:cNvSpPr>
              <a:spLocks noChangeArrowheads="1"/>
            </p:cNvSpPr>
            <p:nvPr/>
          </p:nvSpPr>
          <p:spPr bwMode="auto">
            <a:xfrm>
              <a:off x="2729" y="1830"/>
              <a:ext cx="0" cy="0"/>
            </a:xfrm>
            <a:prstGeom prst="rect">
              <a:avLst/>
            </a:prstGeom>
            <a:grpFill/>
            <a:ln w="3175">
              <a:solidFill>
                <a:srgbClr val="EBF2F9"/>
              </a:solidFill>
              <a:miter lim="800000"/>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US" sz="1869" dirty="0">
                <a:solidFill>
                  <a:prstClr val="black"/>
                </a:solidFill>
              </a:endParaRPr>
            </a:p>
          </p:txBody>
        </p:sp>
        <p:sp>
          <p:nvSpPr>
            <p:cNvPr id="386" name="Freeform 385"/>
            <p:cNvSpPr>
              <a:spLocks/>
            </p:cNvSpPr>
            <p:nvPr/>
          </p:nvSpPr>
          <p:spPr bwMode="auto">
            <a:xfrm>
              <a:off x="2787" y="1721"/>
              <a:ext cx="91" cy="33"/>
            </a:xfrm>
            <a:custGeom>
              <a:avLst/>
              <a:gdLst/>
              <a:ahLst/>
              <a:cxnLst>
                <a:cxn ang="0">
                  <a:pos x="30" y="0"/>
                </a:cxn>
                <a:cxn ang="0">
                  <a:pos x="30" y="1"/>
                </a:cxn>
                <a:cxn ang="0">
                  <a:pos x="26" y="5"/>
                </a:cxn>
                <a:cxn ang="0">
                  <a:pos x="22" y="7"/>
                </a:cxn>
                <a:cxn ang="0">
                  <a:pos x="22" y="9"/>
                </a:cxn>
                <a:cxn ang="0">
                  <a:pos x="17" y="13"/>
                </a:cxn>
                <a:cxn ang="0">
                  <a:pos x="10" y="15"/>
                </a:cxn>
                <a:cxn ang="0">
                  <a:pos x="5" y="15"/>
                </a:cxn>
                <a:cxn ang="0">
                  <a:pos x="0" y="15"/>
                </a:cxn>
                <a:cxn ang="0">
                  <a:pos x="10" y="28"/>
                </a:cxn>
                <a:cxn ang="0">
                  <a:pos x="14" y="29"/>
                </a:cxn>
                <a:cxn ang="0">
                  <a:pos x="32" y="30"/>
                </a:cxn>
                <a:cxn ang="0">
                  <a:pos x="54" y="19"/>
                </a:cxn>
                <a:cxn ang="0">
                  <a:pos x="78" y="21"/>
                </a:cxn>
                <a:cxn ang="0">
                  <a:pos x="82" y="9"/>
                </a:cxn>
                <a:cxn ang="0">
                  <a:pos x="60" y="4"/>
                </a:cxn>
                <a:cxn ang="0">
                  <a:pos x="48" y="5"/>
                </a:cxn>
                <a:cxn ang="0">
                  <a:pos x="46" y="1"/>
                </a:cxn>
                <a:cxn ang="0">
                  <a:pos x="30" y="0"/>
                </a:cxn>
              </a:cxnLst>
              <a:rect l="0" t="0" r="r" b="b"/>
              <a:pathLst>
                <a:path w="82" h="30">
                  <a:moveTo>
                    <a:pt x="30" y="0"/>
                  </a:moveTo>
                  <a:lnTo>
                    <a:pt x="30" y="1"/>
                  </a:lnTo>
                  <a:lnTo>
                    <a:pt x="26" y="5"/>
                  </a:lnTo>
                  <a:lnTo>
                    <a:pt x="22" y="7"/>
                  </a:lnTo>
                  <a:lnTo>
                    <a:pt x="22" y="9"/>
                  </a:lnTo>
                  <a:lnTo>
                    <a:pt x="17" y="13"/>
                  </a:lnTo>
                  <a:lnTo>
                    <a:pt x="10" y="15"/>
                  </a:lnTo>
                  <a:lnTo>
                    <a:pt x="5" y="15"/>
                  </a:lnTo>
                  <a:lnTo>
                    <a:pt x="0" y="15"/>
                  </a:lnTo>
                  <a:lnTo>
                    <a:pt x="10" y="28"/>
                  </a:lnTo>
                  <a:lnTo>
                    <a:pt x="14" y="29"/>
                  </a:lnTo>
                  <a:lnTo>
                    <a:pt x="32" y="30"/>
                  </a:lnTo>
                  <a:lnTo>
                    <a:pt x="54" y="19"/>
                  </a:lnTo>
                  <a:lnTo>
                    <a:pt x="78" y="21"/>
                  </a:lnTo>
                  <a:lnTo>
                    <a:pt x="82" y="9"/>
                  </a:lnTo>
                  <a:lnTo>
                    <a:pt x="60" y="4"/>
                  </a:lnTo>
                  <a:lnTo>
                    <a:pt x="48" y="5"/>
                  </a:lnTo>
                  <a:lnTo>
                    <a:pt x="46" y="1"/>
                  </a:lnTo>
                  <a:lnTo>
                    <a:pt x="30"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7" name="Freeform 386"/>
            <p:cNvSpPr>
              <a:spLocks/>
            </p:cNvSpPr>
            <p:nvPr/>
          </p:nvSpPr>
          <p:spPr bwMode="auto">
            <a:xfrm>
              <a:off x="2742" y="1772"/>
              <a:ext cx="47" cy="29"/>
            </a:xfrm>
            <a:custGeom>
              <a:avLst/>
              <a:gdLst/>
              <a:ahLst/>
              <a:cxnLst>
                <a:cxn ang="0">
                  <a:pos x="7" y="25"/>
                </a:cxn>
                <a:cxn ang="0">
                  <a:pos x="13" y="25"/>
                </a:cxn>
                <a:cxn ang="0">
                  <a:pos x="15" y="22"/>
                </a:cxn>
                <a:cxn ang="0">
                  <a:pos x="18" y="24"/>
                </a:cxn>
                <a:cxn ang="0">
                  <a:pos x="19" y="23"/>
                </a:cxn>
                <a:cxn ang="0">
                  <a:pos x="23" y="25"/>
                </a:cxn>
                <a:cxn ang="0">
                  <a:pos x="26" y="25"/>
                </a:cxn>
                <a:cxn ang="0">
                  <a:pos x="25" y="22"/>
                </a:cxn>
                <a:cxn ang="0">
                  <a:pos x="25" y="20"/>
                </a:cxn>
                <a:cxn ang="0">
                  <a:pos x="30" y="18"/>
                </a:cxn>
                <a:cxn ang="0">
                  <a:pos x="32" y="18"/>
                </a:cxn>
                <a:cxn ang="0">
                  <a:pos x="30" y="16"/>
                </a:cxn>
                <a:cxn ang="0">
                  <a:pos x="30" y="14"/>
                </a:cxn>
                <a:cxn ang="0">
                  <a:pos x="29" y="11"/>
                </a:cxn>
                <a:cxn ang="0">
                  <a:pos x="33" y="10"/>
                </a:cxn>
                <a:cxn ang="0">
                  <a:pos x="35" y="8"/>
                </a:cxn>
                <a:cxn ang="0">
                  <a:pos x="39" y="8"/>
                </a:cxn>
                <a:cxn ang="0">
                  <a:pos x="39" y="7"/>
                </a:cxn>
                <a:cxn ang="0">
                  <a:pos x="41" y="6"/>
                </a:cxn>
                <a:cxn ang="0">
                  <a:pos x="42" y="5"/>
                </a:cxn>
                <a:cxn ang="0">
                  <a:pos x="37" y="2"/>
                </a:cxn>
                <a:cxn ang="0">
                  <a:pos x="36" y="0"/>
                </a:cxn>
                <a:cxn ang="0">
                  <a:pos x="8" y="7"/>
                </a:cxn>
                <a:cxn ang="0">
                  <a:pos x="2" y="6"/>
                </a:cxn>
                <a:cxn ang="0">
                  <a:pos x="0" y="12"/>
                </a:cxn>
                <a:cxn ang="0">
                  <a:pos x="3" y="23"/>
                </a:cxn>
                <a:cxn ang="0">
                  <a:pos x="7" y="25"/>
                </a:cxn>
              </a:cxnLst>
              <a:rect l="0" t="0" r="r" b="b"/>
              <a:pathLst>
                <a:path w="42" h="25">
                  <a:moveTo>
                    <a:pt x="7" y="25"/>
                  </a:moveTo>
                  <a:lnTo>
                    <a:pt x="13" y="25"/>
                  </a:lnTo>
                  <a:lnTo>
                    <a:pt x="15" y="22"/>
                  </a:lnTo>
                  <a:lnTo>
                    <a:pt x="18" y="24"/>
                  </a:lnTo>
                  <a:lnTo>
                    <a:pt x="19" y="23"/>
                  </a:lnTo>
                  <a:lnTo>
                    <a:pt x="23" y="25"/>
                  </a:lnTo>
                  <a:lnTo>
                    <a:pt x="26" y="25"/>
                  </a:lnTo>
                  <a:lnTo>
                    <a:pt x="25" y="22"/>
                  </a:lnTo>
                  <a:lnTo>
                    <a:pt x="25" y="20"/>
                  </a:lnTo>
                  <a:lnTo>
                    <a:pt x="30" y="18"/>
                  </a:lnTo>
                  <a:lnTo>
                    <a:pt x="32" y="18"/>
                  </a:lnTo>
                  <a:lnTo>
                    <a:pt x="30" y="16"/>
                  </a:lnTo>
                  <a:lnTo>
                    <a:pt x="30" y="14"/>
                  </a:lnTo>
                  <a:lnTo>
                    <a:pt x="29" y="11"/>
                  </a:lnTo>
                  <a:lnTo>
                    <a:pt x="33" y="10"/>
                  </a:lnTo>
                  <a:lnTo>
                    <a:pt x="35" y="8"/>
                  </a:lnTo>
                  <a:lnTo>
                    <a:pt x="39" y="8"/>
                  </a:lnTo>
                  <a:lnTo>
                    <a:pt x="39" y="7"/>
                  </a:lnTo>
                  <a:lnTo>
                    <a:pt x="41" y="6"/>
                  </a:lnTo>
                  <a:lnTo>
                    <a:pt x="42" y="5"/>
                  </a:lnTo>
                  <a:lnTo>
                    <a:pt x="37" y="2"/>
                  </a:lnTo>
                  <a:lnTo>
                    <a:pt x="36" y="0"/>
                  </a:lnTo>
                  <a:lnTo>
                    <a:pt x="8" y="7"/>
                  </a:lnTo>
                  <a:lnTo>
                    <a:pt x="2" y="6"/>
                  </a:lnTo>
                  <a:lnTo>
                    <a:pt x="0" y="12"/>
                  </a:lnTo>
                  <a:lnTo>
                    <a:pt x="3" y="23"/>
                  </a:lnTo>
                  <a:lnTo>
                    <a:pt x="7" y="2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8" name="Freeform 387"/>
            <p:cNvSpPr>
              <a:spLocks/>
            </p:cNvSpPr>
            <p:nvPr/>
          </p:nvSpPr>
          <p:spPr bwMode="auto">
            <a:xfrm>
              <a:off x="2691" y="1363"/>
              <a:ext cx="162" cy="247"/>
            </a:xfrm>
            <a:custGeom>
              <a:avLst/>
              <a:gdLst/>
              <a:ahLst/>
              <a:cxnLst>
                <a:cxn ang="0">
                  <a:pos x="101" y="85"/>
                </a:cxn>
                <a:cxn ang="0">
                  <a:pos x="84" y="95"/>
                </a:cxn>
                <a:cxn ang="0">
                  <a:pos x="74" y="103"/>
                </a:cxn>
                <a:cxn ang="0">
                  <a:pos x="71" y="115"/>
                </a:cxn>
                <a:cxn ang="0">
                  <a:pos x="90" y="139"/>
                </a:cxn>
                <a:cxn ang="0">
                  <a:pos x="83" y="153"/>
                </a:cxn>
                <a:cxn ang="0">
                  <a:pos x="79" y="151"/>
                </a:cxn>
                <a:cxn ang="0">
                  <a:pos x="91" y="155"/>
                </a:cxn>
                <a:cxn ang="0">
                  <a:pos x="82" y="158"/>
                </a:cxn>
                <a:cxn ang="0">
                  <a:pos x="67" y="165"/>
                </a:cxn>
                <a:cxn ang="0">
                  <a:pos x="71" y="170"/>
                </a:cxn>
                <a:cxn ang="0">
                  <a:pos x="72" y="181"/>
                </a:cxn>
                <a:cxn ang="0">
                  <a:pos x="68" y="193"/>
                </a:cxn>
                <a:cxn ang="0">
                  <a:pos x="44" y="211"/>
                </a:cxn>
                <a:cxn ang="0">
                  <a:pos x="28" y="219"/>
                </a:cxn>
                <a:cxn ang="0">
                  <a:pos x="20" y="195"/>
                </a:cxn>
                <a:cxn ang="0">
                  <a:pos x="8" y="173"/>
                </a:cxn>
                <a:cxn ang="0">
                  <a:pos x="4" y="171"/>
                </a:cxn>
                <a:cxn ang="0">
                  <a:pos x="2" y="161"/>
                </a:cxn>
                <a:cxn ang="0">
                  <a:pos x="12" y="131"/>
                </a:cxn>
                <a:cxn ang="0">
                  <a:pos x="17" y="121"/>
                </a:cxn>
                <a:cxn ang="0">
                  <a:pos x="7" y="99"/>
                </a:cxn>
                <a:cxn ang="0">
                  <a:pos x="17" y="77"/>
                </a:cxn>
                <a:cxn ang="0">
                  <a:pos x="22" y="69"/>
                </a:cxn>
                <a:cxn ang="0">
                  <a:pos x="29" y="45"/>
                </a:cxn>
                <a:cxn ang="0">
                  <a:pos x="46" y="33"/>
                </a:cxn>
                <a:cxn ang="0">
                  <a:pos x="67" y="13"/>
                </a:cxn>
                <a:cxn ang="0">
                  <a:pos x="89" y="8"/>
                </a:cxn>
                <a:cxn ang="0">
                  <a:pos x="94" y="0"/>
                </a:cxn>
                <a:cxn ang="0">
                  <a:pos x="139" y="35"/>
                </a:cxn>
                <a:cxn ang="0">
                  <a:pos x="128" y="49"/>
                </a:cxn>
                <a:cxn ang="0">
                  <a:pos x="122" y="54"/>
                </a:cxn>
                <a:cxn ang="0">
                  <a:pos x="114" y="57"/>
                </a:cxn>
                <a:cxn ang="0">
                  <a:pos x="115" y="73"/>
                </a:cxn>
              </a:cxnLst>
              <a:rect l="0" t="0" r="r" b="b"/>
              <a:pathLst>
                <a:path w="145" h="221">
                  <a:moveTo>
                    <a:pt x="115" y="73"/>
                  </a:moveTo>
                  <a:lnTo>
                    <a:pt x="101" y="85"/>
                  </a:lnTo>
                  <a:lnTo>
                    <a:pt x="90" y="91"/>
                  </a:lnTo>
                  <a:lnTo>
                    <a:pt x="84" y="95"/>
                  </a:lnTo>
                  <a:lnTo>
                    <a:pt x="77" y="96"/>
                  </a:lnTo>
                  <a:lnTo>
                    <a:pt x="74" y="103"/>
                  </a:lnTo>
                  <a:lnTo>
                    <a:pt x="72" y="105"/>
                  </a:lnTo>
                  <a:lnTo>
                    <a:pt x="71" y="115"/>
                  </a:lnTo>
                  <a:lnTo>
                    <a:pt x="76" y="133"/>
                  </a:lnTo>
                  <a:lnTo>
                    <a:pt x="90" y="139"/>
                  </a:lnTo>
                  <a:lnTo>
                    <a:pt x="96" y="146"/>
                  </a:lnTo>
                  <a:lnTo>
                    <a:pt x="83" y="153"/>
                  </a:lnTo>
                  <a:lnTo>
                    <a:pt x="78" y="149"/>
                  </a:lnTo>
                  <a:lnTo>
                    <a:pt x="79" y="151"/>
                  </a:lnTo>
                  <a:lnTo>
                    <a:pt x="62" y="152"/>
                  </a:lnTo>
                  <a:lnTo>
                    <a:pt x="91" y="155"/>
                  </a:lnTo>
                  <a:lnTo>
                    <a:pt x="83" y="161"/>
                  </a:lnTo>
                  <a:lnTo>
                    <a:pt x="82" y="158"/>
                  </a:lnTo>
                  <a:lnTo>
                    <a:pt x="73" y="167"/>
                  </a:lnTo>
                  <a:lnTo>
                    <a:pt x="67" y="165"/>
                  </a:lnTo>
                  <a:lnTo>
                    <a:pt x="72" y="169"/>
                  </a:lnTo>
                  <a:lnTo>
                    <a:pt x="71" y="170"/>
                  </a:lnTo>
                  <a:lnTo>
                    <a:pt x="70" y="176"/>
                  </a:lnTo>
                  <a:lnTo>
                    <a:pt x="72" y="181"/>
                  </a:lnTo>
                  <a:lnTo>
                    <a:pt x="71" y="180"/>
                  </a:lnTo>
                  <a:lnTo>
                    <a:pt x="68" y="193"/>
                  </a:lnTo>
                  <a:lnTo>
                    <a:pt x="66" y="206"/>
                  </a:lnTo>
                  <a:lnTo>
                    <a:pt x="44" y="211"/>
                  </a:lnTo>
                  <a:lnTo>
                    <a:pt x="42" y="221"/>
                  </a:lnTo>
                  <a:lnTo>
                    <a:pt x="28" y="219"/>
                  </a:lnTo>
                  <a:lnTo>
                    <a:pt x="23" y="206"/>
                  </a:lnTo>
                  <a:lnTo>
                    <a:pt x="20" y="195"/>
                  </a:lnTo>
                  <a:lnTo>
                    <a:pt x="7" y="177"/>
                  </a:lnTo>
                  <a:lnTo>
                    <a:pt x="8" y="173"/>
                  </a:lnTo>
                  <a:lnTo>
                    <a:pt x="5" y="171"/>
                  </a:lnTo>
                  <a:lnTo>
                    <a:pt x="4" y="171"/>
                  </a:lnTo>
                  <a:lnTo>
                    <a:pt x="0" y="162"/>
                  </a:lnTo>
                  <a:lnTo>
                    <a:pt x="2" y="161"/>
                  </a:lnTo>
                  <a:lnTo>
                    <a:pt x="10" y="145"/>
                  </a:lnTo>
                  <a:lnTo>
                    <a:pt x="12" y="131"/>
                  </a:lnTo>
                  <a:lnTo>
                    <a:pt x="12" y="126"/>
                  </a:lnTo>
                  <a:lnTo>
                    <a:pt x="17" y="121"/>
                  </a:lnTo>
                  <a:lnTo>
                    <a:pt x="7" y="115"/>
                  </a:lnTo>
                  <a:lnTo>
                    <a:pt x="7" y="99"/>
                  </a:lnTo>
                  <a:lnTo>
                    <a:pt x="6" y="84"/>
                  </a:lnTo>
                  <a:lnTo>
                    <a:pt x="17" y="77"/>
                  </a:lnTo>
                  <a:lnTo>
                    <a:pt x="28" y="75"/>
                  </a:lnTo>
                  <a:lnTo>
                    <a:pt x="22" y="69"/>
                  </a:lnTo>
                  <a:lnTo>
                    <a:pt x="31" y="49"/>
                  </a:lnTo>
                  <a:lnTo>
                    <a:pt x="29" y="45"/>
                  </a:lnTo>
                  <a:lnTo>
                    <a:pt x="40" y="43"/>
                  </a:lnTo>
                  <a:lnTo>
                    <a:pt x="46" y="33"/>
                  </a:lnTo>
                  <a:lnTo>
                    <a:pt x="52" y="18"/>
                  </a:lnTo>
                  <a:lnTo>
                    <a:pt x="67" y="13"/>
                  </a:lnTo>
                  <a:lnTo>
                    <a:pt x="68" y="8"/>
                  </a:lnTo>
                  <a:lnTo>
                    <a:pt x="89" y="8"/>
                  </a:lnTo>
                  <a:lnTo>
                    <a:pt x="88" y="0"/>
                  </a:lnTo>
                  <a:lnTo>
                    <a:pt x="94" y="0"/>
                  </a:lnTo>
                  <a:lnTo>
                    <a:pt x="127" y="14"/>
                  </a:lnTo>
                  <a:lnTo>
                    <a:pt x="139" y="35"/>
                  </a:lnTo>
                  <a:lnTo>
                    <a:pt x="145" y="50"/>
                  </a:lnTo>
                  <a:lnTo>
                    <a:pt x="128" y="49"/>
                  </a:lnTo>
                  <a:lnTo>
                    <a:pt x="124" y="51"/>
                  </a:lnTo>
                  <a:lnTo>
                    <a:pt x="122" y="54"/>
                  </a:lnTo>
                  <a:lnTo>
                    <a:pt x="120" y="53"/>
                  </a:lnTo>
                  <a:lnTo>
                    <a:pt x="114" y="57"/>
                  </a:lnTo>
                  <a:lnTo>
                    <a:pt x="112" y="66"/>
                  </a:lnTo>
                  <a:lnTo>
                    <a:pt x="115" y="7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89" name="Freeform 388"/>
            <p:cNvSpPr>
              <a:spLocks/>
            </p:cNvSpPr>
            <p:nvPr/>
          </p:nvSpPr>
          <p:spPr bwMode="auto">
            <a:xfrm>
              <a:off x="2793" y="1563"/>
              <a:ext cx="9" cy="16"/>
            </a:xfrm>
            <a:custGeom>
              <a:avLst/>
              <a:gdLst/>
              <a:ahLst/>
              <a:cxnLst>
                <a:cxn ang="0">
                  <a:pos x="8" y="0"/>
                </a:cxn>
                <a:cxn ang="0">
                  <a:pos x="8" y="3"/>
                </a:cxn>
                <a:cxn ang="0">
                  <a:pos x="4" y="12"/>
                </a:cxn>
                <a:cxn ang="0">
                  <a:pos x="3" y="13"/>
                </a:cxn>
                <a:cxn ang="0">
                  <a:pos x="0" y="7"/>
                </a:cxn>
                <a:cxn ang="0">
                  <a:pos x="8" y="0"/>
                </a:cxn>
              </a:cxnLst>
              <a:rect l="0" t="0" r="r" b="b"/>
              <a:pathLst>
                <a:path w="8" h="13">
                  <a:moveTo>
                    <a:pt x="8" y="0"/>
                  </a:moveTo>
                  <a:lnTo>
                    <a:pt x="8" y="3"/>
                  </a:lnTo>
                  <a:lnTo>
                    <a:pt x="4" y="12"/>
                  </a:lnTo>
                  <a:lnTo>
                    <a:pt x="3" y="13"/>
                  </a:lnTo>
                  <a:lnTo>
                    <a:pt x="0" y="7"/>
                  </a:lnTo>
                  <a:lnTo>
                    <a:pt x="8"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0" name="Freeform 389"/>
            <p:cNvSpPr>
              <a:spLocks/>
            </p:cNvSpPr>
            <p:nvPr/>
          </p:nvSpPr>
          <p:spPr bwMode="auto">
            <a:xfrm>
              <a:off x="2627" y="1756"/>
              <a:ext cx="69" cy="34"/>
            </a:xfrm>
            <a:custGeom>
              <a:avLst/>
              <a:gdLst/>
              <a:ahLst/>
              <a:cxnLst>
                <a:cxn ang="0">
                  <a:pos x="58" y="18"/>
                </a:cxn>
                <a:cxn ang="0">
                  <a:pos x="56" y="23"/>
                </a:cxn>
                <a:cxn ang="0">
                  <a:pos x="45" y="23"/>
                </a:cxn>
                <a:cxn ang="0">
                  <a:pos x="40" y="30"/>
                </a:cxn>
                <a:cxn ang="0">
                  <a:pos x="30" y="23"/>
                </a:cxn>
                <a:cxn ang="0">
                  <a:pos x="22" y="29"/>
                </a:cxn>
                <a:cxn ang="0">
                  <a:pos x="14" y="30"/>
                </a:cxn>
                <a:cxn ang="0">
                  <a:pos x="5" y="20"/>
                </a:cxn>
                <a:cxn ang="0">
                  <a:pos x="0" y="24"/>
                </a:cxn>
                <a:cxn ang="0">
                  <a:pos x="12" y="6"/>
                </a:cxn>
                <a:cxn ang="0">
                  <a:pos x="16" y="3"/>
                </a:cxn>
                <a:cxn ang="0">
                  <a:pos x="21" y="1"/>
                </a:cxn>
                <a:cxn ang="0">
                  <a:pos x="34" y="0"/>
                </a:cxn>
                <a:cxn ang="0">
                  <a:pos x="48" y="2"/>
                </a:cxn>
                <a:cxn ang="0">
                  <a:pos x="47" y="6"/>
                </a:cxn>
                <a:cxn ang="0">
                  <a:pos x="47" y="8"/>
                </a:cxn>
                <a:cxn ang="0">
                  <a:pos x="47" y="9"/>
                </a:cxn>
                <a:cxn ang="0">
                  <a:pos x="50" y="9"/>
                </a:cxn>
                <a:cxn ang="0">
                  <a:pos x="62" y="13"/>
                </a:cxn>
                <a:cxn ang="0">
                  <a:pos x="62" y="14"/>
                </a:cxn>
                <a:cxn ang="0">
                  <a:pos x="58" y="18"/>
                </a:cxn>
              </a:cxnLst>
              <a:rect l="0" t="0" r="r" b="b"/>
              <a:pathLst>
                <a:path w="62" h="30">
                  <a:moveTo>
                    <a:pt x="58" y="18"/>
                  </a:moveTo>
                  <a:lnTo>
                    <a:pt x="56" y="23"/>
                  </a:lnTo>
                  <a:lnTo>
                    <a:pt x="45" y="23"/>
                  </a:lnTo>
                  <a:lnTo>
                    <a:pt x="40" y="30"/>
                  </a:lnTo>
                  <a:lnTo>
                    <a:pt x="30" y="23"/>
                  </a:lnTo>
                  <a:lnTo>
                    <a:pt x="22" y="29"/>
                  </a:lnTo>
                  <a:lnTo>
                    <a:pt x="14" y="30"/>
                  </a:lnTo>
                  <a:lnTo>
                    <a:pt x="5" y="20"/>
                  </a:lnTo>
                  <a:lnTo>
                    <a:pt x="0" y="24"/>
                  </a:lnTo>
                  <a:lnTo>
                    <a:pt x="12" y="6"/>
                  </a:lnTo>
                  <a:lnTo>
                    <a:pt x="16" y="3"/>
                  </a:lnTo>
                  <a:lnTo>
                    <a:pt x="21" y="1"/>
                  </a:lnTo>
                  <a:lnTo>
                    <a:pt x="34" y="0"/>
                  </a:lnTo>
                  <a:lnTo>
                    <a:pt x="48" y="2"/>
                  </a:lnTo>
                  <a:lnTo>
                    <a:pt x="47" y="6"/>
                  </a:lnTo>
                  <a:lnTo>
                    <a:pt x="47" y="8"/>
                  </a:lnTo>
                  <a:lnTo>
                    <a:pt x="47" y="9"/>
                  </a:lnTo>
                  <a:lnTo>
                    <a:pt x="50" y="9"/>
                  </a:lnTo>
                  <a:lnTo>
                    <a:pt x="62" y="13"/>
                  </a:lnTo>
                  <a:lnTo>
                    <a:pt x="62" y="14"/>
                  </a:lnTo>
                  <a:lnTo>
                    <a:pt x="58"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1" name="Freeform 390"/>
            <p:cNvSpPr>
              <a:spLocks/>
            </p:cNvSpPr>
            <p:nvPr/>
          </p:nvSpPr>
          <p:spPr bwMode="auto">
            <a:xfrm>
              <a:off x="2873" y="1663"/>
              <a:ext cx="285" cy="158"/>
            </a:xfrm>
            <a:custGeom>
              <a:avLst/>
              <a:gdLst/>
              <a:ahLst/>
              <a:cxnLst>
                <a:cxn ang="0">
                  <a:pos x="135" y="0"/>
                </a:cxn>
                <a:cxn ang="0">
                  <a:pos x="124" y="3"/>
                </a:cxn>
                <a:cxn ang="0">
                  <a:pos x="107" y="12"/>
                </a:cxn>
                <a:cxn ang="0">
                  <a:pos x="108" y="19"/>
                </a:cxn>
                <a:cxn ang="0">
                  <a:pos x="84" y="14"/>
                </a:cxn>
                <a:cxn ang="0">
                  <a:pos x="60" y="9"/>
                </a:cxn>
                <a:cxn ang="0">
                  <a:pos x="38" y="9"/>
                </a:cxn>
                <a:cxn ang="0">
                  <a:pos x="14" y="9"/>
                </a:cxn>
                <a:cxn ang="0">
                  <a:pos x="21" y="28"/>
                </a:cxn>
                <a:cxn ang="0">
                  <a:pos x="20" y="37"/>
                </a:cxn>
                <a:cxn ang="0">
                  <a:pos x="6" y="55"/>
                </a:cxn>
                <a:cxn ang="0">
                  <a:pos x="4" y="60"/>
                </a:cxn>
                <a:cxn ang="0">
                  <a:pos x="0" y="72"/>
                </a:cxn>
                <a:cxn ang="0">
                  <a:pos x="11" y="80"/>
                </a:cxn>
                <a:cxn ang="0">
                  <a:pos x="12" y="79"/>
                </a:cxn>
                <a:cxn ang="0">
                  <a:pos x="39" y="81"/>
                </a:cxn>
                <a:cxn ang="0">
                  <a:pos x="63" y="74"/>
                </a:cxn>
                <a:cxn ang="0">
                  <a:pos x="75" y="64"/>
                </a:cxn>
                <a:cxn ang="0">
                  <a:pos x="80" y="66"/>
                </a:cxn>
                <a:cxn ang="0">
                  <a:pos x="90" y="76"/>
                </a:cxn>
                <a:cxn ang="0">
                  <a:pos x="101" y="87"/>
                </a:cxn>
                <a:cxn ang="0">
                  <a:pos x="113" y="97"/>
                </a:cxn>
                <a:cxn ang="0">
                  <a:pos x="124" y="108"/>
                </a:cxn>
                <a:cxn ang="0">
                  <a:pos x="136" y="100"/>
                </a:cxn>
                <a:cxn ang="0">
                  <a:pos x="140" y="103"/>
                </a:cxn>
                <a:cxn ang="0">
                  <a:pos x="138" y="94"/>
                </a:cxn>
                <a:cxn ang="0">
                  <a:pos x="141" y="100"/>
                </a:cxn>
                <a:cxn ang="0">
                  <a:pos x="152" y="103"/>
                </a:cxn>
                <a:cxn ang="0">
                  <a:pos x="137" y="104"/>
                </a:cxn>
                <a:cxn ang="0">
                  <a:pos x="143" y="108"/>
                </a:cxn>
                <a:cxn ang="0">
                  <a:pos x="155" y="111"/>
                </a:cxn>
                <a:cxn ang="0">
                  <a:pos x="167" y="114"/>
                </a:cxn>
                <a:cxn ang="0">
                  <a:pos x="153" y="123"/>
                </a:cxn>
                <a:cxn ang="0">
                  <a:pos x="164" y="128"/>
                </a:cxn>
                <a:cxn ang="0">
                  <a:pos x="170" y="134"/>
                </a:cxn>
                <a:cxn ang="0">
                  <a:pos x="172" y="141"/>
                </a:cxn>
                <a:cxn ang="0">
                  <a:pos x="192" y="133"/>
                </a:cxn>
                <a:cxn ang="0">
                  <a:pos x="202" y="132"/>
                </a:cxn>
                <a:cxn ang="0">
                  <a:pos x="210" y="126"/>
                </a:cxn>
                <a:cxn ang="0">
                  <a:pos x="198" y="126"/>
                </a:cxn>
                <a:cxn ang="0">
                  <a:pos x="185" y="115"/>
                </a:cxn>
                <a:cxn ang="0">
                  <a:pos x="189" y="106"/>
                </a:cxn>
                <a:cxn ang="0">
                  <a:pos x="186" y="111"/>
                </a:cxn>
                <a:cxn ang="0">
                  <a:pos x="191" y="108"/>
                </a:cxn>
                <a:cxn ang="0">
                  <a:pos x="210" y="100"/>
                </a:cxn>
                <a:cxn ang="0">
                  <a:pos x="232" y="92"/>
                </a:cxn>
                <a:cxn ang="0">
                  <a:pos x="240" y="91"/>
                </a:cxn>
                <a:cxn ang="0">
                  <a:pos x="245" y="81"/>
                </a:cxn>
                <a:cxn ang="0">
                  <a:pos x="256" y="75"/>
                </a:cxn>
                <a:cxn ang="0">
                  <a:pos x="248" y="51"/>
                </a:cxn>
                <a:cxn ang="0">
                  <a:pos x="226" y="44"/>
                </a:cxn>
                <a:cxn ang="0">
                  <a:pos x="206" y="38"/>
                </a:cxn>
                <a:cxn ang="0">
                  <a:pos x="196" y="39"/>
                </a:cxn>
                <a:cxn ang="0">
                  <a:pos x="178" y="24"/>
                </a:cxn>
                <a:cxn ang="0">
                  <a:pos x="160" y="8"/>
                </a:cxn>
                <a:cxn ang="0">
                  <a:pos x="158" y="2"/>
                </a:cxn>
                <a:cxn ang="0">
                  <a:pos x="135" y="0"/>
                </a:cxn>
              </a:cxnLst>
              <a:rect l="0" t="0" r="r" b="b"/>
              <a:pathLst>
                <a:path w="256" h="141">
                  <a:moveTo>
                    <a:pt x="135" y="0"/>
                  </a:moveTo>
                  <a:lnTo>
                    <a:pt x="124" y="3"/>
                  </a:lnTo>
                  <a:lnTo>
                    <a:pt x="107" y="12"/>
                  </a:lnTo>
                  <a:lnTo>
                    <a:pt x="108" y="19"/>
                  </a:lnTo>
                  <a:lnTo>
                    <a:pt x="84" y="14"/>
                  </a:lnTo>
                  <a:lnTo>
                    <a:pt x="60" y="9"/>
                  </a:lnTo>
                  <a:lnTo>
                    <a:pt x="38" y="9"/>
                  </a:lnTo>
                  <a:lnTo>
                    <a:pt x="14" y="9"/>
                  </a:lnTo>
                  <a:lnTo>
                    <a:pt x="21" y="28"/>
                  </a:lnTo>
                  <a:lnTo>
                    <a:pt x="20" y="37"/>
                  </a:lnTo>
                  <a:lnTo>
                    <a:pt x="6" y="55"/>
                  </a:lnTo>
                  <a:lnTo>
                    <a:pt x="4" y="60"/>
                  </a:lnTo>
                  <a:lnTo>
                    <a:pt x="0" y="72"/>
                  </a:lnTo>
                  <a:lnTo>
                    <a:pt x="11" y="80"/>
                  </a:lnTo>
                  <a:lnTo>
                    <a:pt x="12" y="79"/>
                  </a:lnTo>
                  <a:lnTo>
                    <a:pt x="39" y="81"/>
                  </a:lnTo>
                  <a:lnTo>
                    <a:pt x="63" y="74"/>
                  </a:lnTo>
                  <a:lnTo>
                    <a:pt x="75" y="64"/>
                  </a:lnTo>
                  <a:lnTo>
                    <a:pt x="80" y="66"/>
                  </a:lnTo>
                  <a:lnTo>
                    <a:pt x="90" y="76"/>
                  </a:lnTo>
                  <a:lnTo>
                    <a:pt x="101" y="87"/>
                  </a:lnTo>
                  <a:lnTo>
                    <a:pt x="113" y="97"/>
                  </a:lnTo>
                  <a:lnTo>
                    <a:pt x="124" y="108"/>
                  </a:lnTo>
                  <a:lnTo>
                    <a:pt x="136" y="100"/>
                  </a:lnTo>
                  <a:lnTo>
                    <a:pt x="140" y="103"/>
                  </a:lnTo>
                  <a:lnTo>
                    <a:pt x="138" y="94"/>
                  </a:lnTo>
                  <a:lnTo>
                    <a:pt x="141" y="100"/>
                  </a:lnTo>
                  <a:lnTo>
                    <a:pt x="152" y="103"/>
                  </a:lnTo>
                  <a:lnTo>
                    <a:pt x="137" y="104"/>
                  </a:lnTo>
                  <a:lnTo>
                    <a:pt x="143" y="108"/>
                  </a:lnTo>
                  <a:lnTo>
                    <a:pt x="155" y="111"/>
                  </a:lnTo>
                  <a:lnTo>
                    <a:pt x="167" y="114"/>
                  </a:lnTo>
                  <a:lnTo>
                    <a:pt x="153" y="123"/>
                  </a:lnTo>
                  <a:lnTo>
                    <a:pt x="164" y="128"/>
                  </a:lnTo>
                  <a:lnTo>
                    <a:pt x="170" y="134"/>
                  </a:lnTo>
                  <a:lnTo>
                    <a:pt x="172" y="141"/>
                  </a:lnTo>
                  <a:lnTo>
                    <a:pt x="192" y="133"/>
                  </a:lnTo>
                  <a:lnTo>
                    <a:pt x="202" y="132"/>
                  </a:lnTo>
                  <a:lnTo>
                    <a:pt x="210" y="126"/>
                  </a:lnTo>
                  <a:lnTo>
                    <a:pt x="198" y="126"/>
                  </a:lnTo>
                  <a:lnTo>
                    <a:pt x="185" y="115"/>
                  </a:lnTo>
                  <a:lnTo>
                    <a:pt x="189" y="106"/>
                  </a:lnTo>
                  <a:lnTo>
                    <a:pt x="186" y="111"/>
                  </a:lnTo>
                  <a:lnTo>
                    <a:pt x="191" y="108"/>
                  </a:lnTo>
                  <a:lnTo>
                    <a:pt x="210" y="100"/>
                  </a:lnTo>
                  <a:lnTo>
                    <a:pt x="232" y="92"/>
                  </a:lnTo>
                  <a:lnTo>
                    <a:pt x="240" y="91"/>
                  </a:lnTo>
                  <a:lnTo>
                    <a:pt x="245" y="81"/>
                  </a:lnTo>
                  <a:lnTo>
                    <a:pt x="256" y="75"/>
                  </a:lnTo>
                  <a:lnTo>
                    <a:pt x="248" y="51"/>
                  </a:lnTo>
                  <a:lnTo>
                    <a:pt x="226" y="44"/>
                  </a:lnTo>
                  <a:lnTo>
                    <a:pt x="206" y="38"/>
                  </a:lnTo>
                  <a:lnTo>
                    <a:pt x="196" y="39"/>
                  </a:lnTo>
                  <a:lnTo>
                    <a:pt x="178" y="24"/>
                  </a:lnTo>
                  <a:lnTo>
                    <a:pt x="160" y="8"/>
                  </a:lnTo>
                  <a:lnTo>
                    <a:pt x="158" y="2"/>
                  </a:lnTo>
                  <a:lnTo>
                    <a:pt x="135"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2" name="Freeform 391"/>
            <p:cNvSpPr>
              <a:spLocks/>
            </p:cNvSpPr>
            <p:nvPr/>
          </p:nvSpPr>
          <p:spPr bwMode="auto">
            <a:xfrm>
              <a:off x="2827" y="1788"/>
              <a:ext cx="69" cy="82"/>
            </a:xfrm>
            <a:custGeom>
              <a:avLst/>
              <a:gdLst/>
              <a:ahLst/>
              <a:cxnLst>
                <a:cxn ang="0">
                  <a:pos x="11" y="16"/>
                </a:cxn>
                <a:cxn ang="0">
                  <a:pos x="11" y="17"/>
                </a:cxn>
                <a:cxn ang="0">
                  <a:pos x="7" y="18"/>
                </a:cxn>
                <a:cxn ang="0">
                  <a:pos x="6" y="22"/>
                </a:cxn>
                <a:cxn ang="0">
                  <a:pos x="10" y="22"/>
                </a:cxn>
                <a:cxn ang="0">
                  <a:pos x="11" y="24"/>
                </a:cxn>
                <a:cxn ang="0">
                  <a:pos x="10" y="27"/>
                </a:cxn>
                <a:cxn ang="0">
                  <a:pos x="7" y="30"/>
                </a:cxn>
                <a:cxn ang="0">
                  <a:pos x="7" y="31"/>
                </a:cxn>
                <a:cxn ang="0">
                  <a:pos x="10" y="34"/>
                </a:cxn>
                <a:cxn ang="0">
                  <a:pos x="16" y="37"/>
                </a:cxn>
                <a:cxn ang="0">
                  <a:pos x="11" y="40"/>
                </a:cxn>
                <a:cxn ang="0">
                  <a:pos x="15" y="42"/>
                </a:cxn>
                <a:cxn ang="0">
                  <a:pos x="15" y="46"/>
                </a:cxn>
                <a:cxn ang="0">
                  <a:pos x="6" y="47"/>
                </a:cxn>
                <a:cxn ang="0">
                  <a:pos x="10" y="51"/>
                </a:cxn>
                <a:cxn ang="0">
                  <a:pos x="9" y="52"/>
                </a:cxn>
                <a:cxn ang="0">
                  <a:pos x="6" y="51"/>
                </a:cxn>
                <a:cxn ang="0">
                  <a:pos x="3" y="55"/>
                </a:cxn>
                <a:cxn ang="0">
                  <a:pos x="0" y="57"/>
                </a:cxn>
                <a:cxn ang="0">
                  <a:pos x="4" y="61"/>
                </a:cxn>
                <a:cxn ang="0">
                  <a:pos x="0" y="63"/>
                </a:cxn>
                <a:cxn ang="0">
                  <a:pos x="0" y="64"/>
                </a:cxn>
                <a:cxn ang="0">
                  <a:pos x="0" y="66"/>
                </a:cxn>
                <a:cxn ang="0">
                  <a:pos x="10" y="71"/>
                </a:cxn>
                <a:cxn ang="0">
                  <a:pos x="16" y="76"/>
                </a:cxn>
                <a:cxn ang="0">
                  <a:pos x="18" y="64"/>
                </a:cxn>
                <a:cxn ang="0">
                  <a:pos x="27" y="66"/>
                </a:cxn>
                <a:cxn ang="0">
                  <a:pos x="31" y="76"/>
                </a:cxn>
                <a:cxn ang="0">
                  <a:pos x="34" y="75"/>
                </a:cxn>
                <a:cxn ang="0">
                  <a:pos x="34" y="72"/>
                </a:cxn>
                <a:cxn ang="0">
                  <a:pos x="39" y="71"/>
                </a:cxn>
                <a:cxn ang="0">
                  <a:pos x="42" y="72"/>
                </a:cxn>
                <a:cxn ang="0">
                  <a:pos x="45" y="69"/>
                </a:cxn>
                <a:cxn ang="0">
                  <a:pos x="47" y="70"/>
                </a:cxn>
                <a:cxn ang="0">
                  <a:pos x="49" y="70"/>
                </a:cxn>
                <a:cxn ang="0">
                  <a:pos x="52" y="69"/>
                </a:cxn>
                <a:cxn ang="0">
                  <a:pos x="57" y="67"/>
                </a:cxn>
                <a:cxn ang="0">
                  <a:pos x="60" y="71"/>
                </a:cxn>
                <a:cxn ang="0">
                  <a:pos x="63" y="70"/>
                </a:cxn>
                <a:cxn ang="0">
                  <a:pos x="58" y="64"/>
                </a:cxn>
                <a:cxn ang="0">
                  <a:pos x="64" y="54"/>
                </a:cxn>
                <a:cxn ang="0">
                  <a:pos x="58" y="45"/>
                </a:cxn>
                <a:cxn ang="0">
                  <a:pos x="59" y="34"/>
                </a:cxn>
                <a:cxn ang="0">
                  <a:pos x="58" y="28"/>
                </a:cxn>
                <a:cxn ang="0">
                  <a:pos x="53" y="27"/>
                </a:cxn>
                <a:cxn ang="0">
                  <a:pos x="48" y="25"/>
                </a:cxn>
                <a:cxn ang="0">
                  <a:pos x="42" y="22"/>
                </a:cxn>
                <a:cxn ang="0">
                  <a:pos x="22" y="0"/>
                </a:cxn>
                <a:cxn ang="0">
                  <a:pos x="1" y="5"/>
                </a:cxn>
                <a:cxn ang="0">
                  <a:pos x="5" y="11"/>
                </a:cxn>
                <a:cxn ang="0">
                  <a:pos x="6" y="11"/>
                </a:cxn>
                <a:cxn ang="0">
                  <a:pos x="5" y="13"/>
                </a:cxn>
                <a:cxn ang="0">
                  <a:pos x="6" y="15"/>
                </a:cxn>
                <a:cxn ang="0">
                  <a:pos x="11" y="16"/>
                </a:cxn>
              </a:cxnLst>
              <a:rect l="0" t="0" r="r" b="b"/>
              <a:pathLst>
                <a:path w="64" h="76">
                  <a:moveTo>
                    <a:pt x="11" y="16"/>
                  </a:moveTo>
                  <a:lnTo>
                    <a:pt x="11" y="17"/>
                  </a:lnTo>
                  <a:lnTo>
                    <a:pt x="7" y="18"/>
                  </a:lnTo>
                  <a:lnTo>
                    <a:pt x="6" y="22"/>
                  </a:lnTo>
                  <a:lnTo>
                    <a:pt x="10" y="22"/>
                  </a:lnTo>
                  <a:lnTo>
                    <a:pt x="11" y="24"/>
                  </a:lnTo>
                  <a:lnTo>
                    <a:pt x="10" y="27"/>
                  </a:lnTo>
                  <a:lnTo>
                    <a:pt x="7" y="30"/>
                  </a:lnTo>
                  <a:lnTo>
                    <a:pt x="7" y="31"/>
                  </a:lnTo>
                  <a:lnTo>
                    <a:pt x="10" y="34"/>
                  </a:lnTo>
                  <a:lnTo>
                    <a:pt x="16" y="37"/>
                  </a:lnTo>
                  <a:lnTo>
                    <a:pt x="11" y="40"/>
                  </a:lnTo>
                  <a:lnTo>
                    <a:pt x="15" y="42"/>
                  </a:lnTo>
                  <a:lnTo>
                    <a:pt x="15" y="46"/>
                  </a:lnTo>
                  <a:lnTo>
                    <a:pt x="6" y="47"/>
                  </a:lnTo>
                  <a:lnTo>
                    <a:pt x="10" y="51"/>
                  </a:lnTo>
                  <a:lnTo>
                    <a:pt x="9" y="52"/>
                  </a:lnTo>
                  <a:lnTo>
                    <a:pt x="6" y="51"/>
                  </a:lnTo>
                  <a:lnTo>
                    <a:pt x="3" y="55"/>
                  </a:lnTo>
                  <a:lnTo>
                    <a:pt x="0" y="57"/>
                  </a:lnTo>
                  <a:lnTo>
                    <a:pt x="4" y="61"/>
                  </a:lnTo>
                  <a:lnTo>
                    <a:pt x="0" y="63"/>
                  </a:lnTo>
                  <a:lnTo>
                    <a:pt x="0" y="64"/>
                  </a:lnTo>
                  <a:lnTo>
                    <a:pt x="0" y="66"/>
                  </a:lnTo>
                  <a:lnTo>
                    <a:pt x="10" y="71"/>
                  </a:lnTo>
                  <a:lnTo>
                    <a:pt x="16" y="76"/>
                  </a:lnTo>
                  <a:lnTo>
                    <a:pt x="18" y="64"/>
                  </a:lnTo>
                  <a:lnTo>
                    <a:pt x="27" y="66"/>
                  </a:lnTo>
                  <a:lnTo>
                    <a:pt x="31" y="76"/>
                  </a:lnTo>
                  <a:lnTo>
                    <a:pt x="34" y="75"/>
                  </a:lnTo>
                  <a:lnTo>
                    <a:pt x="34" y="72"/>
                  </a:lnTo>
                  <a:lnTo>
                    <a:pt x="39" y="71"/>
                  </a:lnTo>
                  <a:lnTo>
                    <a:pt x="42" y="72"/>
                  </a:lnTo>
                  <a:lnTo>
                    <a:pt x="45" y="69"/>
                  </a:lnTo>
                  <a:lnTo>
                    <a:pt x="47" y="70"/>
                  </a:lnTo>
                  <a:lnTo>
                    <a:pt x="49" y="70"/>
                  </a:lnTo>
                  <a:lnTo>
                    <a:pt x="52" y="69"/>
                  </a:lnTo>
                  <a:lnTo>
                    <a:pt x="57" y="67"/>
                  </a:lnTo>
                  <a:lnTo>
                    <a:pt x="60" y="71"/>
                  </a:lnTo>
                  <a:lnTo>
                    <a:pt x="63" y="70"/>
                  </a:lnTo>
                  <a:lnTo>
                    <a:pt x="58" y="64"/>
                  </a:lnTo>
                  <a:lnTo>
                    <a:pt x="64" y="54"/>
                  </a:lnTo>
                  <a:lnTo>
                    <a:pt x="58" y="45"/>
                  </a:lnTo>
                  <a:lnTo>
                    <a:pt x="59" y="34"/>
                  </a:lnTo>
                  <a:lnTo>
                    <a:pt x="58" y="28"/>
                  </a:lnTo>
                  <a:lnTo>
                    <a:pt x="53" y="27"/>
                  </a:lnTo>
                  <a:lnTo>
                    <a:pt x="48" y="25"/>
                  </a:lnTo>
                  <a:lnTo>
                    <a:pt x="42" y="22"/>
                  </a:lnTo>
                  <a:lnTo>
                    <a:pt x="22" y="0"/>
                  </a:lnTo>
                  <a:lnTo>
                    <a:pt x="1" y="5"/>
                  </a:lnTo>
                  <a:lnTo>
                    <a:pt x="5" y="11"/>
                  </a:lnTo>
                  <a:lnTo>
                    <a:pt x="6" y="11"/>
                  </a:lnTo>
                  <a:lnTo>
                    <a:pt x="5" y="13"/>
                  </a:lnTo>
                  <a:lnTo>
                    <a:pt x="6" y="15"/>
                  </a:lnTo>
                  <a:lnTo>
                    <a:pt x="11" y="1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3" name="Freeform 392"/>
            <p:cNvSpPr>
              <a:spLocks/>
            </p:cNvSpPr>
            <p:nvPr/>
          </p:nvSpPr>
          <p:spPr bwMode="auto">
            <a:xfrm>
              <a:off x="554" y="1316"/>
              <a:ext cx="1144" cy="558"/>
            </a:xfrm>
            <a:custGeom>
              <a:avLst/>
              <a:gdLst/>
              <a:ahLst/>
              <a:cxnLst>
                <a:cxn ang="0">
                  <a:pos x="793" y="84"/>
                </a:cxn>
                <a:cxn ang="0">
                  <a:pos x="839" y="34"/>
                </a:cxn>
                <a:cxn ang="0">
                  <a:pos x="756" y="56"/>
                </a:cxn>
                <a:cxn ang="0">
                  <a:pos x="723" y="32"/>
                </a:cxn>
                <a:cxn ang="0">
                  <a:pos x="721" y="2"/>
                </a:cxn>
                <a:cxn ang="0">
                  <a:pos x="709" y="38"/>
                </a:cxn>
                <a:cxn ang="0">
                  <a:pos x="655" y="75"/>
                </a:cxn>
                <a:cxn ang="0">
                  <a:pos x="666" y="55"/>
                </a:cxn>
                <a:cxn ang="0">
                  <a:pos x="627" y="63"/>
                </a:cxn>
                <a:cxn ang="0">
                  <a:pos x="544" y="52"/>
                </a:cxn>
                <a:cxn ang="0">
                  <a:pos x="509" y="64"/>
                </a:cxn>
                <a:cxn ang="0">
                  <a:pos x="437" y="45"/>
                </a:cxn>
                <a:cxn ang="0">
                  <a:pos x="346" y="36"/>
                </a:cxn>
                <a:cxn ang="0">
                  <a:pos x="288" y="28"/>
                </a:cxn>
                <a:cxn ang="0">
                  <a:pos x="124" y="69"/>
                </a:cxn>
                <a:cxn ang="0">
                  <a:pos x="22" y="188"/>
                </a:cxn>
                <a:cxn ang="0">
                  <a:pos x="72" y="254"/>
                </a:cxn>
                <a:cxn ang="0">
                  <a:pos x="47" y="277"/>
                </a:cxn>
                <a:cxn ang="0">
                  <a:pos x="61" y="298"/>
                </a:cxn>
                <a:cxn ang="0">
                  <a:pos x="63" y="321"/>
                </a:cxn>
                <a:cxn ang="0">
                  <a:pos x="37" y="337"/>
                </a:cxn>
                <a:cxn ang="0">
                  <a:pos x="59" y="344"/>
                </a:cxn>
                <a:cxn ang="0">
                  <a:pos x="70" y="358"/>
                </a:cxn>
                <a:cxn ang="0">
                  <a:pos x="75" y="370"/>
                </a:cxn>
                <a:cxn ang="0">
                  <a:pos x="271" y="373"/>
                </a:cxn>
                <a:cxn ang="0">
                  <a:pos x="468" y="367"/>
                </a:cxn>
                <a:cxn ang="0">
                  <a:pos x="582" y="409"/>
                </a:cxn>
                <a:cxn ang="0">
                  <a:pos x="579" y="495"/>
                </a:cxn>
                <a:cxn ang="0">
                  <a:pos x="695" y="457"/>
                </a:cxn>
                <a:cxn ang="0">
                  <a:pos x="820" y="403"/>
                </a:cxn>
                <a:cxn ang="0">
                  <a:pos x="868" y="428"/>
                </a:cxn>
                <a:cxn ang="0">
                  <a:pos x="841" y="451"/>
                </a:cxn>
                <a:cxn ang="0">
                  <a:pos x="913" y="439"/>
                </a:cxn>
                <a:cxn ang="0">
                  <a:pos x="865" y="408"/>
                </a:cxn>
                <a:cxn ang="0">
                  <a:pos x="891" y="378"/>
                </a:cxn>
                <a:cxn ang="0">
                  <a:pos x="809" y="388"/>
                </a:cxn>
                <a:cxn ang="0">
                  <a:pos x="978" y="337"/>
                </a:cxn>
                <a:cxn ang="0">
                  <a:pos x="1031" y="297"/>
                </a:cxn>
                <a:cxn ang="0">
                  <a:pos x="976" y="295"/>
                </a:cxn>
                <a:cxn ang="0">
                  <a:pos x="987" y="272"/>
                </a:cxn>
                <a:cxn ang="0">
                  <a:pos x="981" y="260"/>
                </a:cxn>
                <a:cxn ang="0">
                  <a:pos x="966" y="238"/>
                </a:cxn>
                <a:cxn ang="0">
                  <a:pos x="966" y="218"/>
                </a:cxn>
                <a:cxn ang="0">
                  <a:pos x="965" y="188"/>
                </a:cxn>
                <a:cxn ang="0">
                  <a:pos x="942" y="201"/>
                </a:cxn>
                <a:cxn ang="0">
                  <a:pos x="899" y="219"/>
                </a:cxn>
                <a:cxn ang="0">
                  <a:pos x="893" y="194"/>
                </a:cxn>
                <a:cxn ang="0">
                  <a:pos x="883" y="160"/>
                </a:cxn>
                <a:cxn ang="0">
                  <a:pos x="810" y="163"/>
                </a:cxn>
                <a:cxn ang="0">
                  <a:pos x="772" y="254"/>
                </a:cxn>
                <a:cxn ang="0">
                  <a:pos x="702" y="327"/>
                </a:cxn>
                <a:cxn ang="0">
                  <a:pos x="682" y="284"/>
                </a:cxn>
                <a:cxn ang="0">
                  <a:pos x="599" y="231"/>
                </a:cxn>
                <a:cxn ang="0">
                  <a:pos x="570" y="201"/>
                </a:cxn>
                <a:cxn ang="0">
                  <a:pos x="647" y="140"/>
                </a:cxn>
                <a:cxn ang="0">
                  <a:pos x="685" y="122"/>
                </a:cxn>
                <a:cxn ang="0">
                  <a:pos x="723" y="96"/>
                </a:cxn>
              </a:cxnLst>
              <a:rect l="0" t="0" r="r" b="b"/>
              <a:pathLst>
                <a:path w="1031" h="502">
                  <a:moveTo>
                    <a:pt x="759" y="87"/>
                  </a:moveTo>
                  <a:lnTo>
                    <a:pt x="753" y="81"/>
                  </a:lnTo>
                  <a:lnTo>
                    <a:pt x="769" y="82"/>
                  </a:lnTo>
                  <a:lnTo>
                    <a:pt x="777" y="86"/>
                  </a:lnTo>
                  <a:lnTo>
                    <a:pt x="785" y="85"/>
                  </a:lnTo>
                  <a:lnTo>
                    <a:pt x="779" y="76"/>
                  </a:lnTo>
                  <a:lnTo>
                    <a:pt x="785" y="78"/>
                  </a:lnTo>
                  <a:lnTo>
                    <a:pt x="789" y="79"/>
                  </a:lnTo>
                  <a:lnTo>
                    <a:pt x="793" y="84"/>
                  </a:lnTo>
                  <a:lnTo>
                    <a:pt x="822" y="73"/>
                  </a:lnTo>
                  <a:lnTo>
                    <a:pt x="827" y="66"/>
                  </a:lnTo>
                  <a:lnTo>
                    <a:pt x="826" y="57"/>
                  </a:lnTo>
                  <a:lnTo>
                    <a:pt x="827" y="52"/>
                  </a:lnTo>
                  <a:lnTo>
                    <a:pt x="841" y="48"/>
                  </a:lnTo>
                  <a:lnTo>
                    <a:pt x="833" y="45"/>
                  </a:lnTo>
                  <a:lnTo>
                    <a:pt x="845" y="40"/>
                  </a:lnTo>
                  <a:lnTo>
                    <a:pt x="826" y="36"/>
                  </a:lnTo>
                  <a:lnTo>
                    <a:pt x="839" y="34"/>
                  </a:lnTo>
                  <a:lnTo>
                    <a:pt x="804" y="33"/>
                  </a:lnTo>
                  <a:lnTo>
                    <a:pt x="801" y="42"/>
                  </a:lnTo>
                  <a:lnTo>
                    <a:pt x="802" y="45"/>
                  </a:lnTo>
                  <a:lnTo>
                    <a:pt x="801" y="48"/>
                  </a:lnTo>
                  <a:lnTo>
                    <a:pt x="790" y="48"/>
                  </a:lnTo>
                  <a:lnTo>
                    <a:pt x="763" y="69"/>
                  </a:lnTo>
                  <a:lnTo>
                    <a:pt x="754" y="70"/>
                  </a:lnTo>
                  <a:lnTo>
                    <a:pt x="751" y="58"/>
                  </a:lnTo>
                  <a:lnTo>
                    <a:pt x="756" y="56"/>
                  </a:lnTo>
                  <a:lnTo>
                    <a:pt x="763" y="45"/>
                  </a:lnTo>
                  <a:lnTo>
                    <a:pt x="753" y="40"/>
                  </a:lnTo>
                  <a:lnTo>
                    <a:pt x="731" y="56"/>
                  </a:lnTo>
                  <a:lnTo>
                    <a:pt x="737" y="43"/>
                  </a:lnTo>
                  <a:lnTo>
                    <a:pt x="732" y="39"/>
                  </a:lnTo>
                  <a:lnTo>
                    <a:pt x="744" y="37"/>
                  </a:lnTo>
                  <a:lnTo>
                    <a:pt x="737" y="34"/>
                  </a:lnTo>
                  <a:lnTo>
                    <a:pt x="724" y="33"/>
                  </a:lnTo>
                  <a:lnTo>
                    <a:pt x="723" y="32"/>
                  </a:lnTo>
                  <a:lnTo>
                    <a:pt x="732" y="27"/>
                  </a:lnTo>
                  <a:lnTo>
                    <a:pt x="732" y="25"/>
                  </a:lnTo>
                  <a:lnTo>
                    <a:pt x="738" y="25"/>
                  </a:lnTo>
                  <a:lnTo>
                    <a:pt x="733" y="16"/>
                  </a:lnTo>
                  <a:lnTo>
                    <a:pt x="738" y="7"/>
                  </a:lnTo>
                  <a:lnTo>
                    <a:pt x="731" y="2"/>
                  </a:lnTo>
                  <a:lnTo>
                    <a:pt x="726" y="2"/>
                  </a:lnTo>
                  <a:lnTo>
                    <a:pt x="730" y="0"/>
                  </a:lnTo>
                  <a:lnTo>
                    <a:pt x="721" y="2"/>
                  </a:lnTo>
                  <a:lnTo>
                    <a:pt x="726" y="2"/>
                  </a:lnTo>
                  <a:lnTo>
                    <a:pt x="708" y="6"/>
                  </a:lnTo>
                  <a:lnTo>
                    <a:pt x="711" y="9"/>
                  </a:lnTo>
                  <a:lnTo>
                    <a:pt x="699" y="9"/>
                  </a:lnTo>
                  <a:lnTo>
                    <a:pt x="694" y="19"/>
                  </a:lnTo>
                  <a:lnTo>
                    <a:pt x="696" y="20"/>
                  </a:lnTo>
                  <a:lnTo>
                    <a:pt x="688" y="22"/>
                  </a:lnTo>
                  <a:lnTo>
                    <a:pt x="683" y="31"/>
                  </a:lnTo>
                  <a:lnTo>
                    <a:pt x="709" y="38"/>
                  </a:lnTo>
                  <a:lnTo>
                    <a:pt x="701" y="40"/>
                  </a:lnTo>
                  <a:lnTo>
                    <a:pt x="702" y="38"/>
                  </a:lnTo>
                  <a:lnTo>
                    <a:pt x="696" y="42"/>
                  </a:lnTo>
                  <a:lnTo>
                    <a:pt x="689" y="48"/>
                  </a:lnTo>
                  <a:lnTo>
                    <a:pt x="701" y="44"/>
                  </a:lnTo>
                  <a:lnTo>
                    <a:pt x="695" y="50"/>
                  </a:lnTo>
                  <a:lnTo>
                    <a:pt x="671" y="58"/>
                  </a:lnTo>
                  <a:lnTo>
                    <a:pt x="661" y="69"/>
                  </a:lnTo>
                  <a:lnTo>
                    <a:pt x="655" y="75"/>
                  </a:lnTo>
                  <a:lnTo>
                    <a:pt x="647" y="75"/>
                  </a:lnTo>
                  <a:lnTo>
                    <a:pt x="648" y="79"/>
                  </a:lnTo>
                  <a:lnTo>
                    <a:pt x="647" y="75"/>
                  </a:lnTo>
                  <a:lnTo>
                    <a:pt x="648" y="75"/>
                  </a:lnTo>
                  <a:lnTo>
                    <a:pt x="657" y="74"/>
                  </a:lnTo>
                  <a:lnTo>
                    <a:pt x="653" y="72"/>
                  </a:lnTo>
                  <a:lnTo>
                    <a:pt x="657" y="68"/>
                  </a:lnTo>
                  <a:lnTo>
                    <a:pt x="651" y="69"/>
                  </a:lnTo>
                  <a:lnTo>
                    <a:pt x="666" y="55"/>
                  </a:lnTo>
                  <a:lnTo>
                    <a:pt x="655" y="57"/>
                  </a:lnTo>
                  <a:lnTo>
                    <a:pt x="658" y="55"/>
                  </a:lnTo>
                  <a:lnTo>
                    <a:pt x="645" y="52"/>
                  </a:lnTo>
                  <a:lnTo>
                    <a:pt x="635" y="56"/>
                  </a:lnTo>
                  <a:lnTo>
                    <a:pt x="637" y="61"/>
                  </a:lnTo>
                  <a:lnTo>
                    <a:pt x="646" y="62"/>
                  </a:lnTo>
                  <a:lnTo>
                    <a:pt x="634" y="63"/>
                  </a:lnTo>
                  <a:lnTo>
                    <a:pt x="630" y="58"/>
                  </a:lnTo>
                  <a:lnTo>
                    <a:pt x="627" y="63"/>
                  </a:lnTo>
                  <a:lnTo>
                    <a:pt x="603" y="62"/>
                  </a:lnTo>
                  <a:lnTo>
                    <a:pt x="580" y="62"/>
                  </a:lnTo>
                  <a:lnTo>
                    <a:pt x="573" y="58"/>
                  </a:lnTo>
                  <a:lnTo>
                    <a:pt x="563" y="57"/>
                  </a:lnTo>
                  <a:lnTo>
                    <a:pt x="559" y="51"/>
                  </a:lnTo>
                  <a:lnTo>
                    <a:pt x="556" y="45"/>
                  </a:lnTo>
                  <a:lnTo>
                    <a:pt x="519" y="54"/>
                  </a:lnTo>
                  <a:lnTo>
                    <a:pt x="526" y="56"/>
                  </a:lnTo>
                  <a:lnTo>
                    <a:pt x="544" y="52"/>
                  </a:lnTo>
                  <a:lnTo>
                    <a:pt x="556" y="51"/>
                  </a:lnTo>
                  <a:lnTo>
                    <a:pt x="533" y="58"/>
                  </a:lnTo>
                  <a:lnTo>
                    <a:pt x="522" y="60"/>
                  </a:lnTo>
                  <a:lnTo>
                    <a:pt x="515" y="78"/>
                  </a:lnTo>
                  <a:lnTo>
                    <a:pt x="510" y="74"/>
                  </a:lnTo>
                  <a:lnTo>
                    <a:pt x="508" y="85"/>
                  </a:lnTo>
                  <a:lnTo>
                    <a:pt x="503" y="73"/>
                  </a:lnTo>
                  <a:lnTo>
                    <a:pt x="511" y="73"/>
                  </a:lnTo>
                  <a:lnTo>
                    <a:pt x="509" y="64"/>
                  </a:lnTo>
                  <a:lnTo>
                    <a:pt x="502" y="68"/>
                  </a:lnTo>
                  <a:lnTo>
                    <a:pt x="502" y="63"/>
                  </a:lnTo>
                  <a:lnTo>
                    <a:pt x="493" y="60"/>
                  </a:lnTo>
                  <a:lnTo>
                    <a:pt x="449" y="64"/>
                  </a:lnTo>
                  <a:lnTo>
                    <a:pt x="432" y="60"/>
                  </a:lnTo>
                  <a:lnTo>
                    <a:pt x="450" y="55"/>
                  </a:lnTo>
                  <a:lnTo>
                    <a:pt x="456" y="54"/>
                  </a:lnTo>
                  <a:lnTo>
                    <a:pt x="444" y="44"/>
                  </a:lnTo>
                  <a:lnTo>
                    <a:pt x="437" y="45"/>
                  </a:lnTo>
                  <a:lnTo>
                    <a:pt x="406" y="38"/>
                  </a:lnTo>
                  <a:lnTo>
                    <a:pt x="377" y="31"/>
                  </a:lnTo>
                  <a:lnTo>
                    <a:pt x="360" y="38"/>
                  </a:lnTo>
                  <a:lnTo>
                    <a:pt x="354" y="37"/>
                  </a:lnTo>
                  <a:lnTo>
                    <a:pt x="359" y="33"/>
                  </a:lnTo>
                  <a:lnTo>
                    <a:pt x="363" y="26"/>
                  </a:lnTo>
                  <a:lnTo>
                    <a:pt x="358" y="28"/>
                  </a:lnTo>
                  <a:lnTo>
                    <a:pt x="353" y="33"/>
                  </a:lnTo>
                  <a:lnTo>
                    <a:pt x="346" y="36"/>
                  </a:lnTo>
                  <a:lnTo>
                    <a:pt x="340" y="39"/>
                  </a:lnTo>
                  <a:lnTo>
                    <a:pt x="335" y="28"/>
                  </a:lnTo>
                  <a:lnTo>
                    <a:pt x="330" y="21"/>
                  </a:lnTo>
                  <a:lnTo>
                    <a:pt x="331" y="25"/>
                  </a:lnTo>
                  <a:lnTo>
                    <a:pt x="306" y="33"/>
                  </a:lnTo>
                  <a:lnTo>
                    <a:pt x="307" y="31"/>
                  </a:lnTo>
                  <a:lnTo>
                    <a:pt x="281" y="34"/>
                  </a:lnTo>
                  <a:lnTo>
                    <a:pt x="307" y="26"/>
                  </a:lnTo>
                  <a:lnTo>
                    <a:pt x="288" y="28"/>
                  </a:lnTo>
                  <a:lnTo>
                    <a:pt x="259" y="36"/>
                  </a:lnTo>
                  <a:lnTo>
                    <a:pt x="229" y="44"/>
                  </a:lnTo>
                  <a:lnTo>
                    <a:pt x="226" y="48"/>
                  </a:lnTo>
                  <a:lnTo>
                    <a:pt x="216" y="46"/>
                  </a:lnTo>
                  <a:lnTo>
                    <a:pt x="214" y="49"/>
                  </a:lnTo>
                  <a:lnTo>
                    <a:pt x="190" y="42"/>
                  </a:lnTo>
                  <a:lnTo>
                    <a:pt x="167" y="33"/>
                  </a:lnTo>
                  <a:lnTo>
                    <a:pt x="145" y="51"/>
                  </a:lnTo>
                  <a:lnTo>
                    <a:pt x="124" y="69"/>
                  </a:lnTo>
                  <a:lnTo>
                    <a:pt x="102" y="87"/>
                  </a:lnTo>
                  <a:lnTo>
                    <a:pt x="81" y="105"/>
                  </a:lnTo>
                  <a:lnTo>
                    <a:pt x="61" y="124"/>
                  </a:lnTo>
                  <a:lnTo>
                    <a:pt x="41" y="144"/>
                  </a:lnTo>
                  <a:lnTo>
                    <a:pt x="21" y="163"/>
                  </a:lnTo>
                  <a:lnTo>
                    <a:pt x="0" y="181"/>
                  </a:lnTo>
                  <a:lnTo>
                    <a:pt x="25" y="181"/>
                  </a:lnTo>
                  <a:lnTo>
                    <a:pt x="19" y="184"/>
                  </a:lnTo>
                  <a:lnTo>
                    <a:pt x="22" y="188"/>
                  </a:lnTo>
                  <a:lnTo>
                    <a:pt x="22" y="205"/>
                  </a:lnTo>
                  <a:lnTo>
                    <a:pt x="34" y="200"/>
                  </a:lnTo>
                  <a:lnTo>
                    <a:pt x="43" y="195"/>
                  </a:lnTo>
                  <a:lnTo>
                    <a:pt x="61" y="189"/>
                  </a:lnTo>
                  <a:lnTo>
                    <a:pt x="66" y="207"/>
                  </a:lnTo>
                  <a:lnTo>
                    <a:pt x="63" y="223"/>
                  </a:lnTo>
                  <a:lnTo>
                    <a:pt x="59" y="238"/>
                  </a:lnTo>
                  <a:lnTo>
                    <a:pt x="66" y="247"/>
                  </a:lnTo>
                  <a:lnTo>
                    <a:pt x="72" y="254"/>
                  </a:lnTo>
                  <a:lnTo>
                    <a:pt x="58" y="270"/>
                  </a:lnTo>
                  <a:lnTo>
                    <a:pt x="71" y="259"/>
                  </a:lnTo>
                  <a:lnTo>
                    <a:pt x="71" y="262"/>
                  </a:lnTo>
                  <a:lnTo>
                    <a:pt x="59" y="270"/>
                  </a:lnTo>
                  <a:lnTo>
                    <a:pt x="61" y="270"/>
                  </a:lnTo>
                  <a:lnTo>
                    <a:pt x="54" y="276"/>
                  </a:lnTo>
                  <a:lnTo>
                    <a:pt x="49" y="276"/>
                  </a:lnTo>
                  <a:lnTo>
                    <a:pt x="49" y="282"/>
                  </a:lnTo>
                  <a:lnTo>
                    <a:pt x="47" y="277"/>
                  </a:lnTo>
                  <a:lnTo>
                    <a:pt x="46" y="284"/>
                  </a:lnTo>
                  <a:lnTo>
                    <a:pt x="53" y="284"/>
                  </a:lnTo>
                  <a:lnTo>
                    <a:pt x="48" y="284"/>
                  </a:lnTo>
                  <a:lnTo>
                    <a:pt x="48" y="288"/>
                  </a:lnTo>
                  <a:lnTo>
                    <a:pt x="45" y="285"/>
                  </a:lnTo>
                  <a:lnTo>
                    <a:pt x="47" y="297"/>
                  </a:lnTo>
                  <a:lnTo>
                    <a:pt x="65" y="286"/>
                  </a:lnTo>
                  <a:lnTo>
                    <a:pt x="58" y="296"/>
                  </a:lnTo>
                  <a:lnTo>
                    <a:pt x="61" y="298"/>
                  </a:lnTo>
                  <a:lnTo>
                    <a:pt x="54" y="296"/>
                  </a:lnTo>
                  <a:lnTo>
                    <a:pt x="52" y="307"/>
                  </a:lnTo>
                  <a:lnTo>
                    <a:pt x="55" y="306"/>
                  </a:lnTo>
                  <a:lnTo>
                    <a:pt x="45" y="316"/>
                  </a:lnTo>
                  <a:lnTo>
                    <a:pt x="51" y="313"/>
                  </a:lnTo>
                  <a:lnTo>
                    <a:pt x="49" y="318"/>
                  </a:lnTo>
                  <a:lnTo>
                    <a:pt x="70" y="307"/>
                  </a:lnTo>
                  <a:lnTo>
                    <a:pt x="64" y="315"/>
                  </a:lnTo>
                  <a:lnTo>
                    <a:pt x="63" y="321"/>
                  </a:lnTo>
                  <a:lnTo>
                    <a:pt x="60" y="315"/>
                  </a:lnTo>
                  <a:lnTo>
                    <a:pt x="45" y="325"/>
                  </a:lnTo>
                  <a:lnTo>
                    <a:pt x="45" y="328"/>
                  </a:lnTo>
                  <a:lnTo>
                    <a:pt x="49" y="326"/>
                  </a:lnTo>
                  <a:lnTo>
                    <a:pt x="59" y="327"/>
                  </a:lnTo>
                  <a:lnTo>
                    <a:pt x="43" y="331"/>
                  </a:lnTo>
                  <a:lnTo>
                    <a:pt x="40" y="332"/>
                  </a:lnTo>
                  <a:lnTo>
                    <a:pt x="46" y="333"/>
                  </a:lnTo>
                  <a:lnTo>
                    <a:pt x="37" y="337"/>
                  </a:lnTo>
                  <a:lnTo>
                    <a:pt x="48" y="340"/>
                  </a:lnTo>
                  <a:lnTo>
                    <a:pt x="52" y="338"/>
                  </a:lnTo>
                  <a:lnTo>
                    <a:pt x="55" y="339"/>
                  </a:lnTo>
                  <a:lnTo>
                    <a:pt x="51" y="342"/>
                  </a:lnTo>
                  <a:lnTo>
                    <a:pt x="57" y="342"/>
                  </a:lnTo>
                  <a:lnTo>
                    <a:pt x="52" y="344"/>
                  </a:lnTo>
                  <a:lnTo>
                    <a:pt x="64" y="340"/>
                  </a:lnTo>
                  <a:lnTo>
                    <a:pt x="66" y="338"/>
                  </a:lnTo>
                  <a:lnTo>
                    <a:pt x="59" y="344"/>
                  </a:lnTo>
                  <a:lnTo>
                    <a:pt x="53" y="344"/>
                  </a:lnTo>
                  <a:lnTo>
                    <a:pt x="52" y="348"/>
                  </a:lnTo>
                  <a:lnTo>
                    <a:pt x="61" y="344"/>
                  </a:lnTo>
                  <a:lnTo>
                    <a:pt x="61" y="348"/>
                  </a:lnTo>
                  <a:lnTo>
                    <a:pt x="71" y="342"/>
                  </a:lnTo>
                  <a:lnTo>
                    <a:pt x="66" y="350"/>
                  </a:lnTo>
                  <a:lnTo>
                    <a:pt x="76" y="346"/>
                  </a:lnTo>
                  <a:lnTo>
                    <a:pt x="63" y="355"/>
                  </a:lnTo>
                  <a:lnTo>
                    <a:pt x="70" y="358"/>
                  </a:lnTo>
                  <a:lnTo>
                    <a:pt x="77" y="351"/>
                  </a:lnTo>
                  <a:lnTo>
                    <a:pt x="72" y="362"/>
                  </a:lnTo>
                  <a:lnTo>
                    <a:pt x="75" y="362"/>
                  </a:lnTo>
                  <a:lnTo>
                    <a:pt x="69" y="362"/>
                  </a:lnTo>
                  <a:lnTo>
                    <a:pt x="75" y="364"/>
                  </a:lnTo>
                  <a:lnTo>
                    <a:pt x="81" y="362"/>
                  </a:lnTo>
                  <a:lnTo>
                    <a:pt x="76" y="367"/>
                  </a:lnTo>
                  <a:lnTo>
                    <a:pt x="81" y="368"/>
                  </a:lnTo>
                  <a:lnTo>
                    <a:pt x="75" y="370"/>
                  </a:lnTo>
                  <a:lnTo>
                    <a:pt x="79" y="373"/>
                  </a:lnTo>
                  <a:lnTo>
                    <a:pt x="103" y="373"/>
                  </a:lnTo>
                  <a:lnTo>
                    <a:pt x="127" y="373"/>
                  </a:lnTo>
                  <a:lnTo>
                    <a:pt x="151" y="373"/>
                  </a:lnTo>
                  <a:lnTo>
                    <a:pt x="175" y="373"/>
                  </a:lnTo>
                  <a:lnTo>
                    <a:pt x="199" y="373"/>
                  </a:lnTo>
                  <a:lnTo>
                    <a:pt x="223" y="373"/>
                  </a:lnTo>
                  <a:lnTo>
                    <a:pt x="247" y="373"/>
                  </a:lnTo>
                  <a:lnTo>
                    <a:pt x="271" y="373"/>
                  </a:lnTo>
                  <a:lnTo>
                    <a:pt x="295" y="373"/>
                  </a:lnTo>
                  <a:lnTo>
                    <a:pt x="319" y="373"/>
                  </a:lnTo>
                  <a:lnTo>
                    <a:pt x="342" y="373"/>
                  </a:lnTo>
                  <a:lnTo>
                    <a:pt x="366" y="373"/>
                  </a:lnTo>
                  <a:lnTo>
                    <a:pt x="390" y="373"/>
                  </a:lnTo>
                  <a:lnTo>
                    <a:pt x="414" y="373"/>
                  </a:lnTo>
                  <a:lnTo>
                    <a:pt x="438" y="373"/>
                  </a:lnTo>
                  <a:lnTo>
                    <a:pt x="462" y="373"/>
                  </a:lnTo>
                  <a:lnTo>
                    <a:pt x="468" y="367"/>
                  </a:lnTo>
                  <a:lnTo>
                    <a:pt x="467" y="376"/>
                  </a:lnTo>
                  <a:lnTo>
                    <a:pt x="483" y="380"/>
                  </a:lnTo>
                  <a:lnTo>
                    <a:pt x="503" y="388"/>
                  </a:lnTo>
                  <a:lnTo>
                    <a:pt x="515" y="386"/>
                  </a:lnTo>
                  <a:lnTo>
                    <a:pt x="527" y="391"/>
                  </a:lnTo>
                  <a:lnTo>
                    <a:pt x="546" y="386"/>
                  </a:lnTo>
                  <a:lnTo>
                    <a:pt x="558" y="394"/>
                  </a:lnTo>
                  <a:lnTo>
                    <a:pt x="570" y="402"/>
                  </a:lnTo>
                  <a:lnTo>
                    <a:pt x="582" y="409"/>
                  </a:lnTo>
                  <a:lnTo>
                    <a:pt x="594" y="417"/>
                  </a:lnTo>
                  <a:lnTo>
                    <a:pt x="595" y="424"/>
                  </a:lnTo>
                  <a:lnTo>
                    <a:pt x="600" y="423"/>
                  </a:lnTo>
                  <a:lnTo>
                    <a:pt x="599" y="428"/>
                  </a:lnTo>
                  <a:lnTo>
                    <a:pt x="610" y="436"/>
                  </a:lnTo>
                  <a:lnTo>
                    <a:pt x="606" y="452"/>
                  </a:lnTo>
                  <a:lnTo>
                    <a:pt x="604" y="469"/>
                  </a:lnTo>
                  <a:lnTo>
                    <a:pt x="597" y="478"/>
                  </a:lnTo>
                  <a:lnTo>
                    <a:pt x="579" y="495"/>
                  </a:lnTo>
                  <a:lnTo>
                    <a:pt x="583" y="502"/>
                  </a:lnTo>
                  <a:lnTo>
                    <a:pt x="599" y="496"/>
                  </a:lnTo>
                  <a:lnTo>
                    <a:pt x="613" y="492"/>
                  </a:lnTo>
                  <a:lnTo>
                    <a:pt x="629" y="487"/>
                  </a:lnTo>
                  <a:lnTo>
                    <a:pt x="645" y="482"/>
                  </a:lnTo>
                  <a:lnTo>
                    <a:pt x="646" y="470"/>
                  </a:lnTo>
                  <a:lnTo>
                    <a:pt x="663" y="469"/>
                  </a:lnTo>
                  <a:lnTo>
                    <a:pt x="681" y="468"/>
                  </a:lnTo>
                  <a:lnTo>
                    <a:pt x="695" y="457"/>
                  </a:lnTo>
                  <a:lnTo>
                    <a:pt x="709" y="446"/>
                  </a:lnTo>
                  <a:lnTo>
                    <a:pt x="737" y="445"/>
                  </a:lnTo>
                  <a:lnTo>
                    <a:pt x="765" y="442"/>
                  </a:lnTo>
                  <a:lnTo>
                    <a:pt x="774" y="436"/>
                  </a:lnTo>
                  <a:lnTo>
                    <a:pt x="787" y="426"/>
                  </a:lnTo>
                  <a:lnTo>
                    <a:pt x="799" y="412"/>
                  </a:lnTo>
                  <a:lnTo>
                    <a:pt x="813" y="400"/>
                  </a:lnTo>
                  <a:lnTo>
                    <a:pt x="814" y="403"/>
                  </a:lnTo>
                  <a:lnTo>
                    <a:pt x="820" y="403"/>
                  </a:lnTo>
                  <a:lnTo>
                    <a:pt x="829" y="406"/>
                  </a:lnTo>
                  <a:lnTo>
                    <a:pt x="823" y="428"/>
                  </a:lnTo>
                  <a:lnTo>
                    <a:pt x="827" y="440"/>
                  </a:lnTo>
                  <a:lnTo>
                    <a:pt x="831" y="442"/>
                  </a:lnTo>
                  <a:lnTo>
                    <a:pt x="844" y="436"/>
                  </a:lnTo>
                  <a:lnTo>
                    <a:pt x="843" y="438"/>
                  </a:lnTo>
                  <a:lnTo>
                    <a:pt x="863" y="432"/>
                  </a:lnTo>
                  <a:lnTo>
                    <a:pt x="867" y="424"/>
                  </a:lnTo>
                  <a:lnTo>
                    <a:pt x="868" y="428"/>
                  </a:lnTo>
                  <a:lnTo>
                    <a:pt x="871" y="428"/>
                  </a:lnTo>
                  <a:lnTo>
                    <a:pt x="861" y="435"/>
                  </a:lnTo>
                  <a:lnTo>
                    <a:pt x="882" y="436"/>
                  </a:lnTo>
                  <a:lnTo>
                    <a:pt x="869" y="441"/>
                  </a:lnTo>
                  <a:lnTo>
                    <a:pt x="868" y="438"/>
                  </a:lnTo>
                  <a:lnTo>
                    <a:pt x="846" y="448"/>
                  </a:lnTo>
                  <a:lnTo>
                    <a:pt x="850" y="447"/>
                  </a:lnTo>
                  <a:lnTo>
                    <a:pt x="837" y="453"/>
                  </a:lnTo>
                  <a:lnTo>
                    <a:pt x="841" y="451"/>
                  </a:lnTo>
                  <a:lnTo>
                    <a:pt x="834" y="459"/>
                  </a:lnTo>
                  <a:lnTo>
                    <a:pt x="839" y="469"/>
                  </a:lnTo>
                  <a:lnTo>
                    <a:pt x="847" y="466"/>
                  </a:lnTo>
                  <a:lnTo>
                    <a:pt x="868" y="450"/>
                  </a:lnTo>
                  <a:lnTo>
                    <a:pt x="870" y="452"/>
                  </a:lnTo>
                  <a:lnTo>
                    <a:pt x="875" y="450"/>
                  </a:lnTo>
                  <a:lnTo>
                    <a:pt x="877" y="451"/>
                  </a:lnTo>
                  <a:lnTo>
                    <a:pt x="895" y="445"/>
                  </a:lnTo>
                  <a:lnTo>
                    <a:pt x="913" y="439"/>
                  </a:lnTo>
                  <a:lnTo>
                    <a:pt x="909" y="436"/>
                  </a:lnTo>
                  <a:lnTo>
                    <a:pt x="913" y="435"/>
                  </a:lnTo>
                  <a:lnTo>
                    <a:pt x="906" y="428"/>
                  </a:lnTo>
                  <a:lnTo>
                    <a:pt x="900" y="430"/>
                  </a:lnTo>
                  <a:lnTo>
                    <a:pt x="888" y="429"/>
                  </a:lnTo>
                  <a:lnTo>
                    <a:pt x="879" y="424"/>
                  </a:lnTo>
                  <a:lnTo>
                    <a:pt x="871" y="422"/>
                  </a:lnTo>
                  <a:lnTo>
                    <a:pt x="871" y="409"/>
                  </a:lnTo>
                  <a:lnTo>
                    <a:pt x="865" y="408"/>
                  </a:lnTo>
                  <a:lnTo>
                    <a:pt x="876" y="396"/>
                  </a:lnTo>
                  <a:lnTo>
                    <a:pt x="864" y="397"/>
                  </a:lnTo>
                  <a:lnTo>
                    <a:pt x="863" y="393"/>
                  </a:lnTo>
                  <a:lnTo>
                    <a:pt x="850" y="391"/>
                  </a:lnTo>
                  <a:lnTo>
                    <a:pt x="853" y="390"/>
                  </a:lnTo>
                  <a:lnTo>
                    <a:pt x="868" y="390"/>
                  </a:lnTo>
                  <a:lnTo>
                    <a:pt x="886" y="384"/>
                  </a:lnTo>
                  <a:lnTo>
                    <a:pt x="887" y="378"/>
                  </a:lnTo>
                  <a:lnTo>
                    <a:pt x="891" y="378"/>
                  </a:lnTo>
                  <a:lnTo>
                    <a:pt x="889" y="374"/>
                  </a:lnTo>
                  <a:lnTo>
                    <a:pt x="874" y="368"/>
                  </a:lnTo>
                  <a:lnTo>
                    <a:pt x="853" y="374"/>
                  </a:lnTo>
                  <a:lnTo>
                    <a:pt x="833" y="380"/>
                  </a:lnTo>
                  <a:lnTo>
                    <a:pt x="819" y="390"/>
                  </a:lnTo>
                  <a:lnTo>
                    <a:pt x="803" y="399"/>
                  </a:lnTo>
                  <a:lnTo>
                    <a:pt x="781" y="411"/>
                  </a:lnTo>
                  <a:lnTo>
                    <a:pt x="796" y="399"/>
                  </a:lnTo>
                  <a:lnTo>
                    <a:pt x="809" y="388"/>
                  </a:lnTo>
                  <a:lnTo>
                    <a:pt x="793" y="382"/>
                  </a:lnTo>
                  <a:lnTo>
                    <a:pt x="808" y="388"/>
                  </a:lnTo>
                  <a:lnTo>
                    <a:pt x="828" y="374"/>
                  </a:lnTo>
                  <a:lnTo>
                    <a:pt x="850" y="367"/>
                  </a:lnTo>
                  <a:lnTo>
                    <a:pt x="865" y="352"/>
                  </a:lnTo>
                  <a:lnTo>
                    <a:pt x="895" y="352"/>
                  </a:lnTo>
                  <a:lnTo>
                    <a:pt x="925" y="351"/>
                  </a:lnTo>
                  <a:lnTo>
                    <a:pt x="953" y="351"/>
                  </a:lnTo>
                  <a:lnTo>
                    <a:pt x="978" y="337"/>
                  </a:lnTo>
                  <a:lnTo>
                    <a:pt x="1002" y="331"/>
                  </a:lnTo>
                  <a:lnTo>
                    <a:pt x="1029" y="318"/>
                  </a:lnTo>
                  <a:lnTo>
                    <a:pt x="1021" y="314"/>
                  </a:lnTo>
                  <a:lnTo>
                    <a:pt x="1029" y="313"/>
                  </a:lnTo>
                  <a:lnTo>
                    <a:pt x="1019" y="310"/>
                  </a:lnTo>
                  <a:lnTo>
                    <a:pt x="1026" y="309"/>
                  </a:lnTo>
                  <a:lnTo>
                    <a:pt x="1026" y="307"/>
                  </a:lnTo>
                  <a:lnTo>
                    <a:pt x="1029" y="302"/>
                  </a:lnTo>
                  <a:lnTo>
                    <a:pt x="1031" y="297"/>
                  </a:lnTo>
                  <a:lnTo>
                    <a:pt x="1021" y="292"/>
                  </a:lnTo>
                  <a:lnTo>
                    <a:pt x="1023" y="291"/>
                  </a:lnTo>
                  <a:lnTo>
                    <a:pt x="1013" y="294"/>
                  </a:lnTo>
                  <a:lnTo>
                    <a:pt x="1015" y="284"/>
                  </a:lnTo>
                  <a:lnTo>
                    <a:pt x="1003" y="285"/>
                  </a:lnTo>
                  <a:lnTo>
                    <a:pt x="1009" y="285"/>
                  </a:lnTo>
                  <a:lnTo>
                    <a:pt x="988" y="292"/>
                  </a:lnTo>
                  <a:lnTo>
                    <a:pt x="970" y="298"/>
                  </a:lnTo>
                  <a:lnTo>
                    <a:pt x="976" y="295"/>
                  </a:lnTo>
                  <a:lnTo>
                    <a:pt x="969" y="291"/>
                  </a:lnTo>
                  <a:lnTo>
                    <a:pt x="978" y="292"/>
                  </a:lnTo>
                  <a:lnTo>
                    <a:pt x="1003" y="283"/>
                  </a:lnTo>
                  <a:lnTo>
                    <a:pt x="987" y="286"/>
                  </a:lnTo>
                  <a:lnTo>
                    <a:pt x="1018" y="277"/>
                  </a:lnTo>
                  <a:lnTo>
                    <a:pt x="999" y="270"/>
                  </a:lnTo>
                  <a:lnTo>
                    <a:pt x="994" y="270"/>
                  </a:lnTo>
                  <a:lnTo>
                    <a:pt x="999" y="266"/>
                  </a:lnTo>
                  <a:lnTo>
                    <a:pt x="987" y="272"/>
                  </a:lnTo>
                  <a:lnTo>
                    <a:pt x="993" y="267"/>
                  </a:lnTo>
                  <a:lnTo>
                    <a:pt x="991" y="266"/>
                  </a:lnTo>
                  <a:lnTo>
                    <a:pt x="984" y="268"/>
                  </a:lnTo>
                  <a:lnTo>
                    <a:pt x="987" y="265"/>
                  </a:lnTo>
                  <a:lnTo>
                    <a:pt x="978" y="268"/>
                  </a:lnTo>
                  <a:lnTo>
                    <a:pt x="982" y="266"/>
                  </a:lnTo>
                  <a:lnTo>
                    <a:pt x="984" y="262"/>
                  </a:lnTo>
                  <a:lnTo>
                    <a:pt x="985" y="256"/>
                  </a:lnTo>
                  <a:lnTo>
                    <a:pt x="981" y="260"/>
                  </a:lnTo>
                  <a:lnTo>
                    <a:pt x="982" y="258"/>
                  </a:lnTo>
                  <a:lnTo>
                    <a:pt x="976" y="250"/>
                  </a:lnTo>
                  <a:lnTo>
                    <a:pt x="967" y="248"/>
                  </a:lnTo>
                  <a:lnTo>
                    <a:pt x="975" y="248"/>
                  </a:lnTo>
                  <a:lnTo>
                    <a:pt x="970" y="244"/>
                  </a:lnTo>
                  <a:lnTo>
                    <a:pt x="973" y="243"/>
                  </a:lnTo>
                  <a:lnTo>
                    <a:pt x="969" y="242"/>
                  </a:lnTo>
                  <a:lnTo>
                    <a:pt x="972" y="242"/>
                  </a:lnTo>
                  <a:lnTo>
                    <a:pt x="966" y="238"/>
                  </a:lnTo>
                  <a:lnTo>
                    <a:pt x="969" y="238"/>
                  </a:lnTo>
                  <a:lnTo>
                    <a:pt x="973" y="241"/>
                  </a:lnTo>
                  <a:lnTo>
                    <a:pt x="983" y="235"/>
                  </a:lnTo>
                  <a:lnTo>
                    <a:pt x="978" y="230"/>
                  </a:lnTo>
                  <a:lnTo>
                    <a:pt x="975" y="228"/>
                  </a:lnTo>
                  <a:lnTo>
                    <a:pt x="979" y="223"/>
                  </a:lnTo>
                  <a:lnTo>
                    <a:pt x="975" y="219"/>
                  </a:lnTo>
                  <a:lnTo>
                    <a:pt x="973" y="217"/>
                  </a:lnTo>
                  <a:lnTo>
                    <a:pt x="966" y="218"/>
                  </a:lnTo>
                  <a:lnTo>
                    <a:pt x="976" y="214"/>
                  </a:lnTo>
                  <a:lnTo>
                    <a:pt x="975" y="211"/>
                  </a:lnTo>
                  <a:lnTo>
                    <a:pt x="963" y="214"/>
                  </a:lnTo>
                  <a:lnTo>
                    <a:pt x="976" y="206"/>
                  </a:lnTo>
                  <a:lnTo>
                    <a:pt x="971" y="202"/>
                  </a:lnTo>
                  <a:lnTo>
                    <a:pt x="966" y="202"/>
                  </a:lnTo>
                  <a:lnTo>
                    <a:pt x="971" y="198"/>
                  </a:lnTo>
                  <a:lnTo>
                    <a:pt x="969" y="195"/>
                  </a:lnTo>
                  <a:lnTo>
                    <a:pt x="965" y="188"/>
                  </a:lnTo>
                  <a:lnTo>
                    <a:pt x="965" y="184"/>
                  </a:lnTo>
                  <a:lnTo>
                    <a:pt x="960" y="186"/>
                  </a:lnTo>
                  <a:lnTo>
                    <a:pt x="964" y="182"/>
                  </a:lnTo>
                  <a:lnTo>
                    <a:pt x="955" y="186"/>
                  </a:lnTo>
                  <a:lnTo>
                    <a:pt x="955" y="190"/>
                  </a:lnTo>
                  <a:lnTo>
                    <a:pt x="948" y="190"/>
                  </a:lnTo>
                  <a:lnTo>
                    <a:pt x="952" y="195"/>
                  </a:lnTo>
                  <a:lnTo>
                    <a:pt x="947" y="198"/>
                  </a:lnTo>
                  <a:lnTo>
                    <a:pt x="942" y="201"/>
                  </a:lnTo>
                  <a:lnTo>
                    <a:pt x="935" y="208"/>
                  </a:lnTo>
                  <a:lnTo>
                    <a:pt x="933" y="213"/>
                  </a:lnTo>
                  <a:lnTo>
                    <a:pt x="930" y="206"/>
                  </a:lnTo>
                  <a:lnTo>
                    <a:pt x="917" y="213"/>
                  </a:lnTo>
                  <a:lnTo>
                    <a:pt x="907" y="220"/>
                  </a:lnTo>
                  <a:lnTo>
                    <a:pt x="909" y="214"/>
                  </a:lnTo>
                  <a:lnTo>
                    <a:pt x="904" y="217"/>
                  </a:lnTo>
                  <a:lnTo>
                    <a:pt x="906" y="211"/>
                  </a:lnTo>
                  <a:lnTo>
                    <a:pt x="899" y="219"/>
                  </a:lnTo>
                  <a:lnTo>
                    <a:pt x="885" y="223"/>
                  </a:lnTo>
                  <a:lnTo>
                    <a:pt x="904" y="214"/>
                  </a:lnTo>
                  <a:lnTo>
                    <a:pt x="901" y="204"/>
                  </a:lnTo>
                  <a:lnTo>
                    <a:pt x="885" y="207"/>
                  </a:lnTo>
                  <a:lnTo>
                    <a:pt x="881" y="207"/>
                  </a:lnTo>
                  <a:lnTo>
                    <a:pt x="887" y="204"/>
                  </a:lnTo>
                  <a:lnTo>
                    <a:pt x="892" y="205"/>
                  </a:lnTo>
                  <a:lnTo>
                    <a:pt x="897" y="196"/>
                  </a:lnTo>
                  <a:lnTo>
                    <a:pt x="893" y="194"/>
                  </a:lnTo>
                  <a:lnTo>
                    <a:pt x="898" y="187"/>
                  </a:lnTo>
                  <a:lnTo>
                    <a:pt x="882" y="184"/>
                  </a:lnTo>
                  <a:lnTo>
                    <a:pt x="901" y="183"/>
                  </a:lnTo>
                  <a:lnTo>
                    <a:pt x="904" y="175"/>
                  </a:lnTo>
                  <a:lnTo>
                    <a:pt x="906" y="171"/>
                  </a:lnTo>
                  <a:lnTo>
                    <a:pt x="901" y="171"/>
                  </a:lnTo>
                  <a:lnTo>
                    <a:pt x="883" y="164"/>
                  </a:lnTo>
                  <a:lnTo>
                    <a:pt x="888" y="159"/>
                  </a:lnTo>
                  <a:lnTo>
                    <a:pt x="883" y="160"/>
                  </a:lnTo>
                  <a:lnTo>
                    <a:pt x="879" y="154"/>
                  </a:lnTo>
                  <a:lnTo>
                    <a:pt x="880" y="152"/>
                  </a:lnTo>
                  <a:lnTo>
                    <a:pt x="868" y="146"/>
                  </a:lnTo>
                  <a:lnTo>
                    <a:pt x="853" y="151"/>
                  </a:lnTo>
                  <a:lnTo>
                    <a:pt x="839" y="151"/>
                  </a:lnTo>
                  <a:lnTo>
                    <a:pt x="844" y="150"/>
                  </a:lnTo>
                  <a:lnTo>
                    <a:pt x="820" y="146"/>
                  </a:lnTo>
                  <a:lnTo>
                    <a:pt x="809" y="158"/>
                  </a:lnTo>
                  <a:lnTo>
                    <a:pt x="810" y="163"/>
                  </a:lnTo>
                  <a:lnTo>
                    <a:pt x="802" y="174"/>
                  </a:lnTo>
                  <a:lnTo>
                    <a:pt x="805" y="174"/>
                  </a:lnTo>
                  <a:lnTo>
                    <a:pt x="802" y="186"/>
                  </a:lnTo>
                  <a:lnTo>
                    <a:pt x="796" y="192"/>
                  </a:lnTo>
                  <a:lnTo>
                    <a:pt x="793" y="193"/>
                  </a:lnTo>
                  <a:lnTo>
                    <a:pt x="773" y="210"/>
                  </a:lnTo>
                  <a:lnTo>
                    <a:pt x="787" y="225"/>
                  </a:lnTo>
                  <a:lnTo>
                    <a:pt x="779" y="240"/>
                  </a:lnTo>
                  <a:lnTo>
                    <a:pt x="772" y="254"/>
                  </a:lnTo>
                  <a:lnTo>
                    <a:pt x="753" y="264"/>
                  </a:lnTo>
                  <a:lnTo>
                    <a:pt x="733" y="272"/>
                  </a:lnTo>
                  <a:lnTo>
                    <a:pt x="724" y="276"/>
                  </a:lnTo>
                  <a:lnTo>
                    <a:pt x="725" y="288"/>
                  </a:lnTo>
                  <a:lnTo>
                    <a:pt x="720" y="312"/>
                  </a:lnTo>
                  <a:lnTo>
                    <a:pt x="713" y="321"/>
                  </a:lnTo>
                  <a:lnTo>
                    <a:pt x="708" y="330"/>
                  </a:lnTo>
                  <a:lnTo>
                    <a:pt x="705" y="333"/>
                  </a:lnTo>
                  <a:lnTo>
                    <a:pt x="702" y="327"/>
                  </a:lnTo>
                  <a:lnTo>
                    <a:pt x="693" y="338"/>
                  </a:lnTo>
                  <a:lnTo>
                    <a:pt x="695" y="343"/>
                  </a:lnTo>
                  <a:lnTo>
                    <a:pt x="685" y="332"/>
                  </a:lnTo>
                  <a:lnTo>
                    <a:pt x="675" y="338"/>
                  </a:lnTo>
                  <a:lnTo>
                    <a:pt x="685" y="330"/>
                  </a:lnTo>
                  <a:lnTo>
                    <a:pt x="675" y="318"/>
                  </a:lnTo>
                  <a:lnTo>
                    <a:pt x="677" y="313"/>
                  </a:lnTo>
                  <a:lnTo>
                    <a:pt x="676" y="301"/>
                  </a:lnTo>
                  <a:lnTo>
                    <a:pt x="682" y="284"/>
                  </a:lnTo>
                  <a:lnTo>
                    <a:pt x="689" y="267"/>
                  </a:lnTo>
                  <a:lnTo>
                    <a:pt x="672" y="266"/>
                  </a:lnTo>
                  <a:lnTo>
                    <a:pt x="655" y="266"/>
                  </a:lnTo>
                  <a:lnTo>
                    <a:pt x="651" y="268"/>
                  </a:lnTo>
                  <a:lnTo>
                    <a:pt x="657" y="264"/>
                  </a:lnTo>
                  <a:lnTo>
                    <a:pt x="645" y="258"/>
                  </a:lnTo>
                  <a:lnTo>
                    <a:pt x="631" y="252"/>
                  </a:lnTo>
                  <a:lnTo>
                    <a:pt x="617" y="237"/>
                  </a:lnTo>
                  <a:lnTo>
                    <a:pt x="599" y="231"/>
                  </a:lnTo>
                  <a:lnTo>
                    <a:pt x="576" y="237"/>
                  </a:lnTo>
                  <a:lnTo>
                    <a:pt x="577" y="236"/>
                  </a:lnTo>
                  <a:lnTo>
                    <a:pt x="574" y="237"/>
                  </a:lnTo>
                  <a:lnTo>
                    <a:pt x="585" y="217"/>
                  </a:lnTo>
                  <a:lnTo>
                    <a:pt x="583" y="207"/>
                  </a:lnTo>
                  <a:lnTo>
                    <a:pt x="571" y="210"/>
                  </a:lnTo>
                  <a:lnTo>
                    <a:pt x="567" y="216"/>
                  </a:lnTo>
                  <a:lnTo>
                    <a:pt x="571" y="207"/>
                  </a:lnTo>
                  <a:lnTo>
                    <a:pt x="570" y="201"/>
                  </a:lnTo>
                  <a:lnTo>
                    <a:pt x="588" y="177"/>
                  </a:lnTo>
                  <a:lnTo>
                    <a:pt x="616" y="159"/>
                  </a:lnTo>
                  <a:lnTo>
                    <a:pt x="617" y="154"/>
                  </a:lnTo>
                  <a:lnTo>
                    <a:pt x="630" y="150"/>
                  </a:lnTo>
                  <a:lnTo>
                    <a:pt x="628" y="148"/>
                  </a:lnTo>
                  <a:lnTo>
                    <a:pt x="633" y="150"/>
                  </a:lnTo>
                  <a:lnTo>
                    <a:pt x="639" y="145"/>
                  </a:lnTo>
                  <a:lnTo>
                    <a:pt x="646" y="144"/>
                  </a:lnTo>
                  <a:lnTo>
                    <a:pt x="647" y="140"/>
                  </a:lnTo>
                  <a:lnTo>
                    <a:pt x="667" y="136"/>
                  </a:lnTo>
                  <a:lnTo>
                    <a:pt x="669" y="132"/>
                  </a:lnTo>
                  <a:lnTo>
                    <a:pt x="654" y="128"/>
                  </a:lnTo>
                  <a:lnTo>
                    <a:pt x="657" y="127"/>
                  </a:lnTo>
                  <a:lnTo>
                    <a:pt x="642" y="124"/>
                  </a:lnTo>
                  <a:lnTo>
                    <a:pt x="642" y="120"/>
                  </a:lnTo>
                  <a:lnTo>
                    <a:pt x="660" y="123"/>
                  </a:lnTo>
                  <a:lnTo>
                    <a:pt x="679" y="127"/>
                  </a:lnTo>
                  <a:lnTo>
                    <a:pt x="685" y="122"/>
                  </a:lnTo>
                  <a:lnTo>
                    <a:pt x="689" y="120"/>
                  </a:lnTo>
                  <a:lnTo>
                    <a:pt x="696" y="122"/>
                  </a:lnTo>
                  <a:lnTo>
                    <a:pt x="696" y="118"/>
                  </a:lnTo>
                  <a:lnTo>
                    <a:pt x="703" y="121"/>
                  </a:lnTo>
                  <a:lnTo>
                    <a:pt x="731" y="106"/>
                  </a:lnTo>
                  <a:lnTo>
                    <a:pt x="735" y="102"/>
                  </a:lnTo>
                  <a:lnTo>
                    <a:pt x="709" y="98"/>
                  </a:lnTo>
                  <a:lnTo>
                    <a:pt x="694" y="91"/>
                  </a:lnTo>
                  <a:lnTo>
                    <a:pt x="723" y="96"/>
                  </a:lnTo>
                  <a:lnTo>
                    <a:pt x="731" y="100"/>
                  </a:lnTo>
                  <a:lnTo>
                    <a:pt x="759" y="8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4" name="Freeform 393"/>
            <p:cNvSpPr>
              <a:spLocks/>
            </p:cNvSpPr>
            <p:nvPr/>
          </p:nvSpPr>
          <p:spPr bwMode="auto">
            <a:xfrm>
              <a:off x="1414" y="1288"/>
              <a:ext cx="313" cy="202"/>
            </a:xfrm>
            <a:custGeom>
              <a:avLst/>
              <a:gdLst/>
              <a:ahLst/>
              <a:cxnLst>
                <a:cxn ang="0">
                  <a:pos x="205" y="41"/>
                </a:cxn>
                <a:cxn ang="0">
                  <a:pos x="195" y="33"/>
                </a:cxn>
                <a:cxn ang="0">
                  <a:pos x="183" y="33"/>
                </a:cxn>
                <a:cxn ang="0">
                  <a:pos x="163" y="39"/>
                </a:cxn>
                <a:cxn ang="0">
                  <a:pos x="168" y="27"/>
                </a:cxn>
                <a:cxn ang="0">
                  <a:pos x="177" y="22"/>
                </a:cxn>
                <a:cxn ang="0">
                  <a:pos x="133" y="23"/>
                </a:cxn>
                <a:cxn ang="0">
                  <a:pos x="130" y="25"/>
                </a:cxn>
                <a:cxn ang="0">
                  <a:pos x="120" y="23"/>
                </a:cxn>
                <a:cxn ang="0">
                  <a:pos x="109" y="22"/>
                </a:cxn>
                <a:cxn ang="0">
                  <a:pos x="94" y="6"/>
                </a:cxn>
                <a:cxn ang="0">
                  <a:pos x="75" y="12"/>
                </a:cxn>
                <a:cxn ang="0">
                  <a:pos x="69" y="21"/>
                </a:cxn>
                <a:cxn ang="0">
                  <a:pos x="61" y="34"/>
                </a:cxn>
                <a:cxn ang="0">
                  <a:pos x="47" y="27"/>
                </a:cxn>
                <a:cxn ang="0">
                  <a:pos x="24" y="15"/>
                </a:cxn>
                <a:cxn ang="0">
                  <a:pos x="5" y="48"/>
                </a:cxn>
                <a:cxn ang="0">
                  <a:pos x="31" y="55"/>
                </a:cxn>
                <a:cxn ang="0">
                  <a:pos x="76" y="53"/>
                </a:cxn>
                <a:cxn ang="0">
                  <a:pos x="115" y="51"/>
                </a:cxn>
                <a:cxn ang="0">
                  <a:pos x="126" y="61"/>
                </a:cxn>
                <a:cxn ang="0">
                  <a:pos x="123" y="76"/>
                </a:cxn>
                <a:cxn ang="0">
                  <a:pos x="153" y="75"/>
                </a:cxn>
                <a:cxn ang="0">
                  <a:pos x="144" y="106"/>
                </a:cxn>
                <a:cxn ang="0">
                  <a:pos x="178" y="114"/>
                </a:cxn>
                <a:cxn ang="0">
                  <a:pos x="137" y="108"/>
                </a:cxn>
                <a:cxn ang="0">
                  <a:pos x="99" y="133"/>
                </a:cxn>
                <a:cxn ang="0">
                  <a:pos x="61" y="139"/>
                </a:cxn>
                <a:cxn ang="0">
                  <a:pos x="103" y="139"/>
                </a:cxn>
                <a:cxn ang="0">
                  <a:pos x="117" y="138"/>
                </a:cxn>
                <a:cxn ang="0">
                  <a:pos x="127" y="154"/>
                </a:cxn>
                <a:cxn ang="0">
                  <a:pos x="148" y="169"/>
                </a:cxn>
                <a:cxn ang="0">
                  <a:pos x="175" y="163"/>
                </a:cxn>
                <a:cxn ang="0">
                  <a:pos x="189" y="163"/>
                </a:cxn>
                <a:cxn ang="0">
                  <a:pos x="205" y="171"/>
                </a:cxn>
                <a:cxn ang="0">
                  <a:pos x="215" y="157"/>
                </a:cxn>
                <a:cxn ang="0">
                  <a:pos x="214" y="144"/>
                </a:cxn>
                <a:cxn ang="0">
                  <a:pos x="208" y="136"/>
                </a:cxn>
                <a:cxn ang="0">
                  <a:pos x="201" y="131"/>
                </a:cxn>
                <a:cxn ang="0">
                  <a:pos x="196" y="120"/>
                </a:cxn>
                <a:cxn ang="0">
                  <a:pos x="205" y="115"/>
                </a:cxn>
                <a:cxn ang="0">
                  <a:pos x="215" y="109"/>
                </a:cxn>
                <a:cxn ang="0">
                  <a:pos x="243" y="112"/>
                </a:cxn>
                <a:cxn ang="0">
                  <a:pos x="226" y="126"/>
                </a:cxn>
                <a:cxn ang="0">
                  <a:pos x="237" y="131"/>
                </a:cxn>
                <a:cxn ang="0">
                  <a:pos x="250" y="118"/>
                </a:cxn>
                <a:cxn ang="0">
                  <a:pos x="259" y="117"/>
                </a:cxn>
                <a:cxn ang="0">
                  <a:pos x="276" y="111"/>
                </a:cxn>
                <a:cxn ang="0">
                  <a:pos x="273" y="102"/>
                </a:cxn>
                <a:cxn ang="0">
                  <a:pos x="257" y="106"/>
                </a:cxn>
                <a:cxn ang="0">
                  <a:pos x="246" y="100"/>
                </a:cxn>
                <a:cxn ang="0">
                  <a:pos x="246" y="96"/>
                </a:cxn>
                <a:cxn ang="0">
                  <a:pos x="246" y="90"/>
                </a:cxn>
                <a:cxn ang="0">
                  <a:pos x="235" y="89"/>
                </a:cxn>
                <a:cxn ang="0">
                  <a:pos x="229" y="84"/>
                </a:cxn>
                <a:cxn ang="0">
                  <a:pos x="210" y="76"/>
                </a:cxn>
                <a:cxn ang="0">
                  <a:pos x="219" y="72"/>
                </a:cxn>
                <a:cxn ang="0">
                  <a:pos x="214" y="67"/>
                </a:cxn>
                <a:cxn ang="0">
                  <a:pos x="221" y="61"/>
                </a:cxn>
                <a:cxn ang="0">
                  <a:pos x="215" y="58"/>
                </a:cxn>
                <a:cxn ang="0">
                  <a:pos x="234" y="47"/>
                </a:cxn>
                <a:cxn ang="0">
                  <a:pos x="202" y="48"/>
                </a:cxn>
              </a:cxnLst>
              <a:rect l="0" t="0" r="r" b="b"/>
              <a:pathLst>
                <a:path w="282" h="183">
                  <a:moveTo>
                    <a:pt x="197" y="48"/>
                  </a:moveTo>
                  <a:lnTo>
                    <a:pt x="193" y="48"/>
                  </a:lnTo>
                  <a:lnTo>
                    <a:pt x="213" y="42"/>
                  </a:lnTo>
                  <a:lnTo>
                    <a:pt x="205" y="41"/>
                  </a:lnTo>
                  <a:lnTo>
                    <a:pt x="190" y="45"/>
                  </a:lnTo>
                  <a:lnTo>
                    <a:pt x="199" y="39"/>
                  </a:lnTo>
                  <a:lnTo>
                    <a:pt x="209" y="37"/>
                  </a:lnTo>
                  <a:lnTo>
                    <a:pt x="195" y="33"/>
                  </a:lnTo>
                  <a:lnTo>
                    <a:pt x="183" y="40"/>
                  </a:lnTo>
                  <a:lnTo>
                    <a:pt x="184" y="36"/>
                  </a:lnTo>
                  <a:lnTo>
                    <a:pt x="178" y="40"/>
                  </a:lnTo>
                  <a:lnTo>
                    <a:pt x="183" y="33"/>
                  </a:lnTo>
                  <a:lnTo>
                    <a:pt x="177" y="36"/>
                  </a:lnTo>
                  <a:lnTo>
                    <a:pt x="183" y="30"/>
                  </a:lnTo>
                  <a:lnTo>
                    <a:pt x="180" y="31"/>
                  </a:lnTo>
                  <a:lnTo>
                    <a:pt x="163" y="39"/>
                  </a:lnTo>
                  <a:lnTo>
                    <a:pt x="171" y="33"/>
                  </a:lnTo>
                  <a:lnTo>
                    <a:pt x="166" y="33"/>
                  </a:lnTo>
                  <a:lnTo>
                    <a:pt x="183" y="27"/>
                  </a:lnTo>
                  <a:lnTo>
                    <a:pt x="168" y="27"/>
                  </a:lnTo>
                  <a:lnTo>
                    <a:pt x="162" y="30"/>
                  </a:lnTo>
                  <a:lnTo>
                    <a:pt x="168" y="24"/>
                  </a:lnTo>
                  <a:lnTo>
                    <a:pt x="157" y="29"/>
                  </a:lnTo>
                  <a:lnTo>
                    <a:pt x="177" y="22"/>
                  </a:lnTo>
                  <a:lnTo>
                    <a:pt x="169" y="18"/>
                  </a:lnTo>
                  <a:lnTo>
                    <a:pt x="142" y="18"/>
                  </a:lnTo>
                  <a:lnTo>
                    <a:pt x="150" y="23"/>
                  </a:lnTo>
                  <a:lnTo>
                    <a:pt x="133" y="23"/>
                  </a:lnTo>
                  <a:lnTo>
                    <a:pt x="138" y="29"/>
                  </a:lnTo>
                  <a:lnTo>
                    <a:pt x="130" y="27"/>
                  </a:lnTo>
                  <a:lnTo>
                    <a:pt x="131" y="28"/>
                  </a:lnTo>
                  <a:lnTo>
                    <a:pt x="130" y="25"/>
                  </a:lnTo>
                  <a:lnTo>
                    <a:pt x="130" y="21"/>
                  </a:lnTo>
                  <a:lnTo>
                    <a:pt x="126" y="22"/>
                  </a:lnTo>
                  <a:lnTo>
                    <a:pt x="120" y="22"/>
                  </a:lnTo>
                  <a:lnTo>
                    <a:pt x="120" y="23"/>
                  </a:lnTo>
                  <a:lnTo>
                    <a:pt x="115" y="23"/>
                  </a:lnTo>
                  <a:lnTo>
                    <a:pt x="109" y="25"/>
                  </a:lnTo>
                  <a:lnTo>
                    <a:pt x="113" y="19"/>
                  </a:lnTo>
                  <a:lnTo>
                    <a:pt x="109" y="22"/>
                  </a:lnTo>
                  <a:lnTo>
                    <a:pt x="124" y="15"/>
                  </a:lnTo>
                  <a:lnTo>
                    <a:pt x="121" y="1"/>
                  </a:lnTo>
                  <a:lnTo>
                    <a:pt x="91" y="4"/>
                  </a:lnTo>
                  <a:lnTo>
                    <a:pt x="94" y="6"/>
                  </a:lnTo>
                  <a:lnTo>
                    <a:pt x="83" y="7"/>
                  </a:lnTo>
                  <a:lnTo>
                    <a:pt x="76" y="9"/>
                  </a:lnTo>
                  <a:lnTo>
                    <a:pt x="88" y="11"/>
                  </a:lnTo>
                  <a:lnTo>
                    <a:pt x="75" y="12"/>
                  </a:lnTo>
                  <a:lnTo>
                    <a:pt x="83" y="16"/>
                  </a:lnTo>
                  <a:lnTo>
                    <a:pt x="66" y="13"/>
                  </a:lnTo>
                  <a:lnTo>
                    <a:pt x="65" y="21"/>
                  </a:lnTo>
                  <a:lnTo>
                    <a:pt x="69" y="21"/>
                  </a:lnTo>
                  <a:lnTo>
                    <a:pt x="71" y="27"/>
                  </a:lnTo>
                  <a:lnTo>
                    <a:pt x="58" y="24"/>
                  </a:lnTo>
                  <a:lnTo>
                    <a:pt x="55" y="28"/>
                  </a:lnTo>
                  <a:lnTo>
                    <a:pt x="61" y="34"/>
                  </a:lnTo>
                  <a:lnTo>
                    <a:pt x="52" y="40"/>
                  </a:lnTo>
                  <a:lnTo>
                    <a:pt x="35" y="40"/>
                  </a:lnTo>
                  <a:lnTo>
                    <a:pt x="57" y="35"/>
                  </a:lnTo>
                  <a:lnTo>
                    <a:pt x="47" y="27"/>
                  </a:lnTo>
                  <a:lnTo>
                    <a:pt x="66" y="9"/>
                  </a:lnTo>
                  <a:lnTo>
                    <a:pt x="84" y="0"/>
                  </a:lnTo>
                  <a:lnTo>
                    <a:pt x="46" y="4"/>
                  </a:lnTo>
                  <a:lnTo>
                    <a:pt x="24" y="15"/>
                  </a:lnTo>
                  <a:lnTo>
                    <a:pt x="0" y="35"/>
                  </a:lnTo>
                  <a:lnTo>
                    <a:pt x="25" y="41"/>
                  </a:lnTo>
                  <a:lnTo>
                    <a:pt x="3" y="41"/>
                  </a:lnTo>
                  <a:lnTo>
                    <a:pt x="5" y="48"/>
                  </a:lnTo>
                  <a:lnTo>
                    <a:pt x="19" y="51"/>
                  </a:lnTo>
                  <a:lnTo>
                    <a:pt x="21" y="51"/>
                  </a:lnTo>
                  <a:lnTo>
                    <a:pt x="25" y="49"/>
                  </a:lnTo>
                  <a:lnTo>
                    <a:pt x="31" y="55"/>
                  </a:lnTo>
                  <a:lnTo>
                    <a:pt x="75" y="57"/>
                  </a:lnTo>
                  <a:lnTo>
                    <a:pt x="64" y="51"/>
                  </a:lnTo>
                  <a:lnTo>
                    <a:pt x="84" y="59"/>
                  </a:lnTo>
                  <a:lnTo>
                    <a:pt x="76" y="53"/>
                  </a:lnTo>
                  <a:lnTo>
                    <a:pt x="109" y="57"/>
                  </a:lnTo>
                  <a:lnTo>
                    <a:pt x="107" y="49"/>
                  </a:lnTo>
                  <a:lnTo>
                    <a:pt x="115" y="46"/>
                  </a:lnTo>
                  <a:lnTo>
                    <a:pt x="115" y="51"/>
                  </a:lnTo>
                  <a:lnTo>
                    <a:pt x="124" y="53"/>
                  </a:lnTo>
                  <a:lnTo>
                    <a:pt x="120" y="58"/>
                  </a:lnTo>
                  <a:lnTo>
                    <a:pt x="130" y="59"/>
                  </a:lnTo>
                  <a:lnTo>
                    <a:pt x="126" y="61"/>
                  </a:lnTo>
                  <a:lnTo>
                    <a:pt x="132" y="60"/>
                  </a:lnTo>
                  <a:lnTo>
                    <a:pt x="135" y="70"/>
                  </a:lnTo>
                  <a:lnTo>
                    <a:pt x="124" y="72"/>
                  </a:lnTo>
                  <a:lnTo>
                    <a:pt x="123" y="76"/>
                  </a:lnTo>
                  <a:lnTo>
                    <a:pt x="137" y="71"/>
                  </a:lnTo>
                  <a:lnTo>
                    <a:pt x="143" y="72"/>
                  </a:lnTo>
                  <a:lnTo>
                    <a:pt x="149" y="78"/>
                  </a:lnTo>
                  <a:lnTo>
                    <a:pt x="153" y="75"/>
                  </a:lnTo>
                  <a:lnTo>
                    <a:pt x="150" y="82"/>
                  </a:lnTo>
                  <a:lnTo>
                    <a:pt x="157" y="83"/>
                  </a:lnTo>
                  <a:lnTo>
                    <a:pt x="155" y="100"/>
                  </a:lnTo>
                  <a:lnTo>
                    <a:pt x="144" y="106"/>
                  </a:lnTo>
                  <a:lnTo>
                    <a:pt x="162" y="107"/>
                  </a:lnTo>
                  <a:lnTo>
                    <a:pt x="171" y="101"/>
                  </a:lnTo>
                  <a:lnTo>
                    <a:pt x="183" y="109"/>
                  </a:lnTo>
                  <a:lnTo>
                    <a:pt x="178" y="114"/>
                  </a:lnTo>
                  <a:lnTo>
                    <a:pt x="165" y="114"/>
                  </a:lnTo>
                  <a:lnTo>
                    <a:pt x="159" y="115"/>
                  </a:lnTo>
                  <a:lnTo>
                    <a:pt x="162" y="109"/>
                  </a:lnTo>
                  <a:lnTo>
                    <a:pt x="137" y="108"/>
                  </a:lnTo>
                  <a:lnTo>
                    <a:pt x="120" y="115"/>
                  </a:lnTo>
                  <a:lnTo>
                    <a:pt x="124" y="124"/>
                  </a:lnTo>
                  <a:lnTo>
                    <a:pt x="96" y="130"/>
                  </a:lnTo>
                  <a:lnTo>
                    <a:pt x="99" y="133"/>
                  </a:lnTo>
                  <a:lnTo>
                    <a:pt x="96" y="136"/>
                  </a:lnTo>
                  <a:lnTo>
                    <a:pt x="96" y="129"/>
                  </a:lnTo>
                  <a:lnTo>
                    <a:pt x="76" y="127"/>
                  </a:lnTo>
                  <a:lnTo>
                    <a:pt x="61" y="139"/>
                  </a:lnTo>
                  <a:lnTo>
                    <a:pt x="76" y="144"/>
                  </a:lnTo>
                  <a:lnTo>
                    <a:pt x="90" y="142"/>
                  </a:lnTo>
                  <a:lnTo>
                    <a:pt x="93" y="139"/>
                  </a:lnTo>
                  <a:lnTo>
                    <a:pt x="103" y="139"/>
                  </a:lnTo>
                  <a:lnTo>
                    <a:pt x="106" y="133"/>
                  </a:lnTo>
                  <a:lnTo>
                    <a:pt x="109" y="138"/>
                  </a:lnTo>
                  <a:lnTo>
                    <a:pt x="109" y="143"/>
                  </a:lnTo>
                  <a:lnTo>
                    <a:pt x="117" y="138"/>
                  </a:lnTo>
                  <a:lnTo>
                    <a:pt x="121" y="139"/>
                  </a:lnTo>
                  <a:lnTo>
                    <a:pt x="119" y="145"/>
                  </a:lnTo>
                  <a:lnTo>
                    <a:pt x="126" y="150"/>
                  </a:lnTo>
                  <a:lnTo>
                    <a:pt x="127" y="154"/>
                  </a:lnTo>
                  <a:lnTo>
                    <a:pt x="136" y="155"/>
                  </a:lnTo>
                  <a:lnTo>
                    <a:pt x="127" y="159"/>
                  </a:lnTo>
                  <a:lnTo>
                    <a:pt x="133" y="163"/>
                  </a:lnTo>
                  <a:lnTo>
                    <a:pt x="148" y="169"/>
                  </a:lnTo>
                  <a:lnTo>
                    <a:pt x="167" y="177"/>
                  </a:lnTo>
                  <a:lnTo>
                    <a:pt x="186" y="183"/>
                  </a:lnTo>
                  <a:lnTo>
                    <a:pt x="186" y="175"/>
                  </a:lnTo>
                  <a:lnTo>
                    <a:pt x="175" y="163"/>
                  </a:lnTo>
                  <a:lnTo>
                    <a:pt x="165" y="153"/>
                  </a:lnTo>
                  <a:lnTo>
                    <a:pt x="178" y="159"/>
                  </a:lnTo>
                  <a:lnTo>
                    <a:pt x="180" y="154"/>
                  </a:lnTo>
                  <a:lnTo>
                    <a:pt x="189" y="163"/>
                  </a:lnTo>
                  <a:lnTo>
                    <a:pt x="190" y="161"/>
                  </a:lnTo>
                  <a:lnTo>
                    <a:pt x="195" y="165"/>
                  </a:lnTo>
                  <a:lnTo>
                    <a:pt x="203" y="168"/>
                  </a:lnTo>
                  <a:lnTo>
                    <a:pt x="205" y="171"/>
                  </a:lnTo>
                  <a:lnTo>
                    <a:pt x="207" y="166"/>
                  </a:lnTo>
                  <a:lnTo>
                    <a:pt x="210" y="165"/>
                  </a:lnTo>
                  <a:lnTo>
                    <a:pt x="213" y="154"/>
                  </a:lnTo>
                  <a:lnTo>
                    <a:pt x="215" y="157"/>
                  </a:lnTo>
                  <a:lnTo>
                    <a:pt x="217" y="153"/>
                  </a:lnTo>
                  <a:lnTo>
                    <a:pt x="219" y="148"/>
                  </a:lnTo>
                  <a:lnTo>
                    <a:pt x="215" y="147"/>
                  </a:lnTo>
                  <a:lnTo>
                    <a:pt x="214" y="144"/>
                  </a:lnTo>
                  <a:lnTo>
                    <a:pt x="215" y="141"/>
                  </a:lnTo>
                  <a:lnTo>
                    <a:pt x="214" y="138"/>
                  </a:lnTo>
                  <a:lnTo>
                    <a:pt x="210" y="137"/>
                  </a:lnTo>
                  <a:lnTo>
                    <a:pt x="208" y="136"/>
                  </a:lnTo>
                  <a:lnTo>
                    <a:pt x="204" y="132"/>
                  </a:lnTo>
                  <a:lnTo>
                    <a:pt x="202" y="133"/>
                  </a:lnTo>
                  <a:lnTo>
                    <a:pt x="204" y="130"/>
                  </a:lnTo>
                  <a:lnTo>
                    <a:pt x="201" y="131"/>
                  </a:lnTo>
                  <a:lnTo>
                    <a:pt x="202" y="126"/>
                  </a:lnTo>
                  <a:lnTo>
                    <a:pt x="202" y="123"/>
                  </a:lnTo>
                  <a:lnTo>
                    <a:pt x="193" y="123"/>
                  </a:lnTo>
                  <a:lnTo>
                    <a:pt x="196" y="120"/>
                  </a:lnTo>
                  <a:lnTo>
                    <a:pt x="195" y="117"/>
                  </a:lnTo>
                  <a:lnTo>
                    <a:pt x="192" y="112"/>
                  </a:lnTo>
                  <a:lnTo>
                    <a:pt x="202" y="119"/>
                  </a:lnTo>
                  <a:lnTo>
                    <a:pt x="205" y="115"/>
                  </a:lnTo>
                  <a:lnTo>
                    <a:pt x="204" y="111"/>
                  </a:lnTo>
                  <a:lnTo>
                    <a:pt x="210" y="109"/>
                  </a:lnTo>
                  <a:lnTo>
                    <a:pt x="209" y="108"/>
                  </a:lnTo>
                  <a:lnTo>
                    <a:pt x="215" y="109"/>
                  </a:lnTo>
                  <a:lnTo>
                    <a:pt x="226" y="114"/>
                  </a:lnTo>
                  <a:lnTo>
                    <a:pt x="229" y="112"/>
                  </a:lnTo>
                  <a:lnTo>
                    <a:pt x="221" y="118"/>
                  </a:lnTo>
                  <a:lnTo>
                    <a:pt x="243" y="112"/>
                  </a:lnTo>
                  <a:lnTo>
                    <a:pt x="233" y="117"/>
                  </a:lnTo>
                  <a:lnTo>
                    <a:pt x="223" y="123"/>
                  </a:lnTo>
                  <a:lnTo>
                    <a:pt x="227" y="123"/>
                  </a:lnTo>
                  <a:lnTo>
                    <a:pt x="226" y="126"/>
                  </a:lnTo>
                  <a:lnTo>
                    <a:pt x="232" y="126"/>
                  </a:lnTo>
                  <a:lnTo>
                    <a:pt x="229" y="131"/>
                  </a:lnTo>
                  <a:lnTo>
                    <a:pt x="233" y="127"/>
                  </a:lnTo>
                  <a:lnTo>
                    <a:pt x="237" y="131"/>
                  </a:lnTo>
                  <a:lnTo>
                    <a:pt x="244" y="132"/>
                  </a:lnTo>
                  <a:lnTo>
                    <a:pt x="244" y="125"/>
                  </a:lnTo>
                  <a:lnTo>
                    <a:pt x="245" y="124"/>
                  </a:lnTo>
                  <a:lnTo>
                    <a:pt x="250" y="118"/>
                  </a:lnTo>
                  <a:lnTo>
                    <a:pt x="255" y="123"/>
                  </a:lnTo>
                  <a:lnTo>
                    <a:pt x="257" y="119"/>
                  </a:lnTo>
                  <a:lnTo>
                    <a:pt x="263" y="118"/>
                  </a:lnTo>
                  <a:lnTo>
                    <a:pt x="259" y="117"/>
                  </a:lnTo>
                  <a:lnTo>
                    <a:pt x="268" y="115"/>
                  </a:lnTo>
                  <a:lnTo>
                    <a:pt x="262" y="113"/>
                  </a:lnTo>
                  <a:lnTo>
                    <a:pt x="268" y="111"/>
                  </a:lnTo>
                  <a:lnTo>
                    <a:pt x="276" y="111"/>
                  </a:lnTo>
                  <a:lnTo>
                    <a:pt x="276" y="109"/>
                  </a:lnTo>
                  <a:lnTo>
                    <a:pt x="275" y="107"/>
                  </a:lnTo>
                  <a:lnTo>
                    <a:pt x="282" y="107"/>
                  </a:lnTo>
                  <a:lnTo>
                    <a:pt x="273" y="102"/>
                  </a:lnTo>
                  <a:lnTo>
                    <a:pt x="269" y="105"/>
                  </a:lnTo>
                  <a:lnTo>
                    <a:pt x="265" y="105"/>
                  </a:lnTo>
                  <a:lnTo>
                    <a:pt x="265" y="102"/>
                  </a:lnTo>
                  <a:lnTo>
                    <a:pt x="257" y="106"/>
                  </a:lnTo>
                  <a:lnTo>
                    <a:pt x="256" y="105"/>
                  </a:lnTo>
                  <a:lnTo>
                    <a:pt x="263" y="97"/>
                  </a:lnTo>
                  <a:lnTo>
                    <a:pt x="258" y="100"/>
                  </a:lnTo>
                  <a:lnTo>
                    <a:pt x="246" y="100"/>
                  </a:lnTo>
                  <a:lnTo>
                    <a:pt x="255" y="97"/>
                  </a:lnTo>
                  <a:lnTo>
                    <a:pt x="245" y="99"/>
                  </a:lnTo>
                  <a:lnTo>
                    <a:pt x="252" y="97"/>
                  </a:lnTo>
                  <a:lnTo>
                    <a:pt x="246" y="96"/>
                  </a:lnTo>
                  <a:lnTo>
                    <a:pt x="256" y="94"/>
                  </a:lnTo>
                  <a:lnTo>
                    <a:pt x="256" y="93"/>
                  </a:lnTo>
                  <a:lnTo>
                    <a:pt x="249" y="90"/>
                  </a:lnTo>
                  <a:lnTo>
                    <a:pt x="246" y="90"/>
                  </a:lnTo>
                  <a:lnTo>
                    <a:pt x="250" y="85"/>
                  </a:lnTo>
                  <a:lnTo>
                    <a:pt x="243" y="90"/>
                  </a:lnTo>
                  <a:lnTo>
                    <a:pt x="240" y="87"/>
                  </a:lnTo>
                  <a:lnTo>
                    <a:pt x="235" y="89"/>
                  </a:lnTo>
                  <a:lnTo>
                    <a:pt x="238" y="85"/>
                  </a:lnTo>
                  <a:lnTo>
                    <a:pt x="231" y="89"/>
                  </a:lnTo>
                  <a:lnTo>
                    <a:pt x="235" y="84"/>
                  </a:lnTo>
                  <a:lnTo>
                    <a:pt x="229" y="84"/>
                  </a:lnTo>
                  <a:lnTo>
                    <a:pt x="225" y="82"/>
                  </a:lnTo>
                  <a:lnTo>
                    <a:pt x="219" y="82"/>
                  </a:lnTo>
                  <a:lnTo>
                    <a:pt x="228" y="79"/>
                  </a:lnTo>
                  <a:lnTo>
                    <a:pt x="210" y="76"/>
                  </a:lnTo>
                  <a:lnTo>
                    <a:pt x="220" y="76"/>
                  </a:lnTo>
                  <a:lnTo>
                    <a:pt x="210" y="73"/>
                  </a:lnTo>
                  <a:lnTo>
                    <a:pt x="223" y="75"/>
                  </a:lnTo>
                  <a:lnTo>
                    <a:pt x="219" y="72"/>
                  </a:lnTo>
                  <a:lnTo>
                    <a:pt x="227" y="71"/>
                  </a:lnTo>
                  <a:lnTo>
                    <a:pt x="214" y="70"/>
                  </a:lnTo>
                  <a:lnTo>
                    <a:pt x="219" y="67"/>
                  </a:lnTo>
                  <a:lnTo>
                    <a:pt x="214" y="67"/>
                  </a:lnTo>
                  <a:lnTo>
                    <a:pt x="223" y="66"/>
                  </a:lnTo>
                  <a:lnTo>
                    <a:pt x="215" y="65"/>
                  </a:lnTo>
                  <a:lnTo>
                    <a:pt x="240" y="67"/>
                  </a:lnTo>
                  <a:lnTo>
                    <a:pt x="221" y="61"/>
                  </a:lnTo>
                  <a:lnTo>
                    <a:pt x="207" y="61"/>
                  </a:lnTo>
                  <a:lnTo>
                    <a:pt x="239" y="59"/>
                  </a:lnTo>
                  <a:lnTo>
                    <a:pt x="233" y="51"/>
                  </a:lnTo>
                  <a:lnTo>
                    <a:pt x="215" y="58"/>
                  </a:lnTo>
                  <a:lnTo>
                    <a:pt x="205" y="60"/>
                  </a:lnTo>
                  <a:lnTo>
                    <a:pt x="226" y="52"/>
                  </a:lnTo>
                  <a:lnTo>
                    <a:pt x="207" y="55"/>
                  </a:lnTo>
                  <a:lnTo>
                    <a:pt x="234" y="47"/>
                  </a:lnTo>
                  <a:lnTo>
                    <a:pt x="219" y="45"/>
                  </a:lnTo>
                  <a:lnTo>
                    <a:pt x="213" y="46"/>
                  </a:lnTo>
                  <a:lnTo>
                    <a:pt x="220" y="42"/>
                  </a:lnTo>
                  <a:lnTo>
                    <a:pt x="202" y="48"/>
                  </a:lnTo>
                  <a:lnTo>
                    <a:pt x="192" y="55"/>
                  </a:lnTo>
                  <a:lnTo>
                    <a:pt x="197" y="4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5" name="Freeform 394"/>
            <p:cNvSpPr>
              <a:spLocks/>
            </p:cNvSpPr>
            <p:nvPr/>
          </p:nvSpPr>
          <p:spPr bwMode="auto">
            <a:xfrm>
              <a:off x="1505" y="1159"/>
              <a:ext cx="382" cy="86"/>
            </a:xfrm>
            <a:custGeom>
              <a:avLst/>
              <a:gdLst/>
              <a:ahLst/>
              <a:cxnLst>
                <a:cxn ang="0">
                  <a:pos x="85" y="56"/>
                </a:cxn>
                <a:cxn ang="0">
                  <a:pos x="64" y="65"/>
                </a:cxn>
                <a:cxn ang="0">
                  <a:pos x="52" y="59"/>
                </a:cxn>
                <a:cxn ang="0">
                  <a:pos x="62" y="55"/>
                </a:cxn>
                <a:cxn ang="0">
                  <a:pos x="42" y="52"/>
                </a:cxn>
                <a:cxn ang="0">
                  <a:pos x="95" y="46"/>
                </a:cxn>
                <a:cxn ang="0">
                  <a:pos x="71" y="30"/>
                </a:cxn>
                <a:cxn ang="0">
                  <a:pos x="103" y="29"/>
                </a:cxn>
                <a:cxn ang="0">
                  <a:pos x="116" y="35"/>
                </a:cxn>
                <a:cxn ang="0">
                  <a:pos x="108" y="28"/>
                </a:cxn>
                <a:cxn ang="0">
                  <a:pos x="157" y="22"/>
                </a:cxn>
                <a:cxn ang="0">
                  <a:pos x="182" y="16"/>
                </a:cxn>
                <a:cxn ang="0">
                  <a:pos x="131" y="20"/>
                </a:cxn>
                <a:cxn ang="0">
                  <a:pos x="78" y="24"/>
                </a:cxn>
                <a:cxn ang="0">
                  <a:pos x="124" y="19"/>
                </a:cxn>
                <a:cxn ang="0">
                  <a:pos x="71" y="25"/>
                </a:cxn>
                <a:cxn ang="0">
                  <a:pos x="55" y="22"/>
                </a:cxn>
                <a:cxn ang="0">
                  <a:pos x="104" y="18"/>
                </a:cxn>
                <a:cxn ang="0">
                  <a:pos x="52" y="18"/>
                </a:cxn>
                <a:cxn ang="0">
                  <a:pos x="84" y="16"/>
                </a:cxn>
                <a:cxn ang="0">
                  <a:pos x="43" y="13"/>
                </a:cxn>
                <a:cxn ang="0">
                  <a:pos x="97" y="8"/>
                </a:cxn>
                <a:cxn ang="0">
                  <a:pos x="164" y="12"/>
                </a:cxn>
                <a:cxn ang="0">
                  <a:pos x="156" y="1"/>
                </a:cxn>
                <a:cxn ang="0">
                  <a:pos x="210" y="4"/>
                </a:cxn>
                <a:cxn ang="0">
                  <a:pos x="198" y="0"/>
                </a:cxn>
                <a:cxn ang="0">
                  <a:pos x="270" y="4"/>
                </a:cxn>
                <a:cxn ang="0">
                  <a:pos x="344" y="7"/>
                </a:cxn>
                <a:cxn ang="0">
                  <a:pos x="295" y="13"/>
                </a:cxn>
                <a:cxn ang="0">
                  <a:pos x="246" y="19"/>
                </a:cxn>
                <a:cxn ang="0">
                  <a:pos x="304" y="16"/>
                </a:cxn>
                <a:cxn ang="0">
                  <a:pos x="251" y="25"/>
                </a:cxn>
                <a:cxn ang="0">
                  <a:pos x="198" y="35"/>
                </a:cxn>
                <a:cxn ang="0">
                  <a:pos x="149" y="40"/>
                </a:cxn>
                <a:cxn ang="0">
                  <a:pos x="176" y="44"/>
                </a:cxn>
                <a:cxn ang="0">
                  <a:pos x="138" y="47"/>
                </a:cxn>
                <a:cxn ang="0">
                  <a:pos x="169" y="49"/>
                </a:cxn>
                <a:cxn ang="0">
                  <a:pos x="126" y="59"/>
                </a:cxn>
                <a:cxn ang="0">
                  <a:pos x="122" y="65"/>
                </a:cxn>
                <a:cxn ang="0">
                  <a:pos x="86" y="67"/>
                </a:cxn>
                <a:cxn ang="0">
                  <a:pos x="115" y="76"/>
                </a:cxn>
                <a:cxn ang="0">
                  <a:pos x="79" y="78"/>
                </a:cxn>
                <a:cxn ang="0">
                  <a:pos x="40" y="78"/>
                </a:cxn>
                <a:cxn ang="0">
                  <a:pos x="0" y="77"/>
                </a:cxn>
                <a:cxn ang="0">
                  <a:pos x="28" y="67"/>
                </a:cxn>
                <a:cxn ang="0">
                  <a:pos x="22" y="61"/>
                </a:cxn>
                <a:cxn ang="0">
                  <a:pos x="64" y="66"/>
                </a:cxn>
                <a:cxn ang="0">
                  <a:pos x="85" y="56"/>
                </a:cxn>
              </a:cxnLst>
              <a:rect l="0" t="0" r="r" b="b"/>
              <a:pathLst>
                <a:path w="344" h="78">
                  <a:moveTo>
                    <a:pt x="85" y="56"/>
                  </a:moveTo>
                  <a:lnTo>
                    <a:pt x="64" y="65"/>
                  </a:lnTo>
                  <a:lnTo>
                    <a:pt x="52" y="59"/>
                  </a:lnTo>
                  <a:lnTo>
                    <a:pt x="62" y="55"/>
                  </a:lnTo>
                  <a:lnTo>
                    <a:pt x="42" y="52"/>
                  </a:lnTo>
                  <a:lnTo>
                    <a:pt x="95" y="46"/>
                  </a:lnTo>
                  <a:lnTo>
                    <a:pt x="71" y="30"/>
                  </a:lnTo>
                  <a:lnTo>
                    <a:pt x="103" y="29"/>
                  </a:lnTo>
                  <a:lnTo>
                    <a:pt x="116" y="35"/>
                  </a:lnTo>
                  <a:lnTo>
                    <a:pt x="108" y="28"/>
                  </a:lnTo>
                  <a:lnTo>
                    <a:pt x="157" y="22"/>
                  </a:lnTo>
                  <a:lnTo>
                    <a:pt x="182" y="16"/>
                  </a:lnTo>
                  <a:lnTo>
                    <a:pt x="131" y="20"/>
                  </a:lnTo>
                  <a:lnTo>
                    <a:pt x="78" y="24"/>
                  </a:lnTo>
                  <a:lnTo>
                    <a:pt x="124" y="19"/>
                  </a:lnTo>
                  <a:lnTo>
                    <a:pt x="71" y="25"/>
                  </a:lnTo>
                  <a:lnTo>
                    <a:pt x="55" y="22"/>
                  </a:lnTo>
                  <a:lnTo>
                    <a:pt x="104" y="18"/>
                  </a:lnTo>
                  <a:lnTo>
                    <a:pt x="52" y="18"/>
                  </a:lnTo>
                  <a:lnTo>
                    <a:pt x="84" y="16"/>
                  </a:lnTo>
                  <a:lnTo>
                    <a:pt x="43" y="13"/>
                  </a:lnTo>
                  <a:lnTo>
                    <a:pt x="97" y="8"/>
                  </a:lnTo>
                  <a:lnTo>
                    <a:pt x="164" y="12"/>
                  </a:lnTo>
                  <a:lnTo>
                    <a:pt x="156" y="1"/>
                  </a:lnTo>
                  <a:lnTo>
                    <a:pt x="210" y="4"/>
                  </a:lnTo>
                  <a:lnTo>
                    <a:pt x="198" y="0"/>
                  </a:lnTo>
                  <a:lnTo>
                    <a:pt x="270" y="4"/>
                  </a:lnTo>
                  <a:lnTo>
                    <a:pt x="344" y="7"/>
                  </a:lnTo>
                  <a:lnTo>
                    <a:pt x="295" y="13"/>
                  </a:lnTo>
                  <a:lnTo>
                    <a:pt x="246" y="19"/>
                  </a:lnTo>
                  <a:lnTo>
                    <a:pt x="304" y="16"/>
                  </a:lnTo>
                  <a:lnTo>
                    <a:pt x="251" y="25"/>
                  </a:lnTo>
                  <a:lnTo>
                    <a:pt x="198" y="35"/>
                  </a:lnTo>
                  <a:lnTo>
                    <a:pt x="149" y="40"/>
                  </a:lnTo>
                  <a:lnTo>
                    <a:pt x="176" y="44"/>
                  </a:lnTo>
                  <a:lnTo>
                    <a:pt x="138" y="47"/>
                  </a:lnTo>
                  <a:lnTo>
                    <a:pt x="169" y="49"/>
                  </a:lnTo>
                  <a:lnTo>
                    <a:pt x="126" y="59"/>
                  </a:lnTo>
                  <a:lnTo>
                    <a:pt x="122" y="65"/>
                  </a:lnTo>
                  <a:lnTo>
                    <a:pt x="86" y="67"/>
                  </a:lnTo>
                  <a:lnTo>
                    <a:pt x="115" y="76"/>
                  </a:lnTo>
                  <a:lnTo>
                    <a:pt x="79" y="78"/>
                  </a:lnTo>
                  <a:lnTo>
                    <a:pt x="40" y="78"/>
                  </a:lnTo>
                  <a:lnTo>
                    <a:pt x="0" y="77"/>
                  </a:lnTo>
                  <a:lnTo>
                    <a:pt x="28" y="67"/>
                  </a:lnTo>
                  <a:lnTo>
                    <a:pt x="22" y="61"/>
                  </a:lnTo>
                  <a:lnTo>
                    <a:pt x="64" y="66"/>
                  </a:lnTo>
                  <a:lnTo>
                    <a:pt x="85" y="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6" name="Freeform 395"/>
            <p:cNvSpPr>
              <a:spLocks/>
            </p:cNvSpPr>
            <p:nvPr/>
          </p:nvSpPr>
          <p:spPr bwMode="auto">
            <a:xfrm>
              <a:off x="1043" y="1294"/>
              <a:ext cx="213" cy="80"/>
            </a:xfrm>
            <a:custGeom>
              <a:avLst/>
              <a:gdLst/>
              <a:ahLst/>
              <a:cxnLst>
                <a:cxn ang="0">
                  <a:pos x="125" y="65"/>
                </a:cxn>
                <a:cxn ang="0">
                  <a:pos x="117" y="60"/>
                </a:cxn>
                <a:cxn ang="0">
                  <a:pos x="114" y="59"/>
                </a:cxn>
                <a:cxn ang="0">
                  <a:pos x="93" y="66"/>
                </a:cxn>
                <a:cxn ang="0">
                  <a:pos x="61" y="69"/>
                </a:cxn>
                <a:cxn ang="0">
                  <a:pos x="29" y="72"/>
                </a:cxn>
                <a:cxn ang="0">
                  <a:pos x="30" y="64"/>
                </a:cxn>
                <a:cxn ang="0">
                  <a:pos x="0" y="55"/>
                </a:cxn>
                <a:cxn ang="0">
                  <a:pos x="6" y="47"/>
                </a:cxn>
                <a:cxn ang="0">
                  <a:pos x="39" y="46"/>
                </a:cxn>
                <a:cxn ang="0">
                  <a:pos x="73" y="45"/>
                </a:cxn>
                <a:cxn ang="0">
                  <a:pos x="42" y="40"/>
                </a:cxn>
                <a:cxn ang="0">
                  <a:pos x="9" y="39"/>
                </a:cxn>
                <a:cxn ang="0">
                  <a:pos x="6" y="35"/>
                </a:cxn>
                <a:cxn ang="0">
                  <a:pos x="48" y="27"/>
                </a:cxn>
                <a:cxn ang="0">
                  <a:pos x="17" y="28"/>
                </a:cxn>
                <a:cxn ang="0">
                  <a:pos x="25" y="25"/>
                </a:cxn>
                <a:cxn ang="0">
                  <a:pos x="11" y="25"/>
                </a:cxn>
                <a:cxn ang="0">
                  <a:pos x="32" y="16"/>
                </a:cxn>
                <a:cxn ang="0">
                  <a:pos x="30" y="13"/>
                </a:cxn>
                <a:cxn ang="0">
                  <a:pos x="60" y="6"/>
                </a:cxn>
                <a:cxn ang="0">
                  <a:pos x="89" y="0"/>
                </a:cxn>
                <a:cxn ang="0">
                  <a:pos x="91" y="4"/>
                </a:cxn>
                <a:cxn ang="0">
                  <a:pos x="78" y="11"/>
                </a:cxn>
                <a:cxn ang="0">
                  <a:pos x="89" y="10"/>
                </a:cxn>
                <a:cxn ang="0">
                  <a:pos x="99" y="5"/>
                </a:cxn>
                <a:cxn ang="0">
                  <a:pos x="111" y="12"/>
                </a:cxn>
                <a:cxn ang="0">
                  <a:pos x="104" y="16"/>
                </a:cxn>
                <a:cxn ang="0">
                  <a:pos x="109" y="15"/>
                </a:cxn>
                <a:cxn ang="0">
                  <a:pos x="125" y="13"/>
                </a:cxn>
                <a:cxn ang="0">
                  <a:pos x="126" y="10"/>
                </a:cxn>
                <a:cxn ang="0">
                  <a:pos x="128" y="5"/>
                </a:cxn>
                <a:cxn ang="0">
                  <a:pos x="140" y="12"/>
                </a:cxn>
                <a:cxn ang="0">
                  <a:pos x="133" y="25"/>
                </a:cxn>
                <a:cxn ang="0">
                  <a:pos x="145" y="21"/>
                </a:cxn>
                <a:cxn ang="0">
                  <a:pos x="156" y="3"/>
                </a:cxn>
                <a:cxn ang="0">
                  <a:pos x="175" y="3"/>
                </a:cxn>
                <a:cxn ang="0">
                  <a:pos x="177" y="12"/>
                </a:cxn>
                <a:cxn ang="0">
                  <a:pos x="167" y="31"/>
                </a:cxn>
                <a:cxn ang="0">
                  <a:pos x="168" y="41"/>
                </a:cxn>
                <a:cxn ang="0">
                  <a:pos x="171" y="41"/>
                </a:cxn>
                <a:cxn ang="0">
                  <a:pos x="191" y="47"/>
                </a:cxn>
                <a:cxn ang="0">
                  <a:pos x="188" y="51"/>
                </a:cxn>
                <a:cxn ang="0">
                  <a:pos x="180" y="54"/>
                </a:cxn>
                <a:cxn ang="0">
                  <a:pos x="181" y="51"/>
                </a:cxn>
                <a:cxn ang="0">
                  <a:pos x="174" y="53"/>
                </a:cxn>
                <a:cxn ang="0">
                  <a:pos x="169" y="53"/>
                </a:cxn>
                <a:cxn ang="0">
                  <a:pos x="161" y="57"/>
                </a:cxn>
                <a:cxn ang="0">
                  <a:pos x="156" y="57"/>
                </a:cxn>
                <a:cxn ang="0">
                  <a:pos x="151" y="63"/>
                </a:cxn>
                <a:cxn ang="0">
                  <a:pos x="169" y="58"/>
                </a:cxn>
                <a:cxn ang="0">
                  <a:pos x="167" y="60"/>
                </a:cxn>
                <a:cxn ang="0">
                  <a:pos x="161" y="65"/>
                </a:cxn>
                <a:cxn ang="0">
                  <a:pos x="125" y="65"/>
                </a:cxn>
              </a:cxnLst>
              <a:rect l="0" t="0" r="r" b="b"/>
              <a:pathLst>
                <a:path w="191" h="72">
                  <a:moveTo>
                    <a:pt x="125" y="65"/>
                  </a:moveTo>
                  <a:lnTo>
                    <a:pt x="117" y="60"/>
                  </a:lnTo>
                  <a:lnTo>
                    <a:pt x="114" y="59"/>
                  </a:lnTo>
                  <a:lnTo>
                    <a:pt x="93" y="66"/>
                  </a:lnTo>
                  <a:lnTo>
                    <a:pt x="61" y="69"/>
                  </a:lnTo>
                  <a:lnTo>
                    <a:pt x="29" y="72"/>
                  </a:lnTo>
                  <a:lnTo>
                    <a:pt x="30" y="64"/>
                  </a:lnTo>
                  <a:lnTo>
                    <a:pt x="0" y="55"/>
                  </a:lnTo>
                  <a:lnTo>
                    <a:pt x="6" y="47"/>
                  </a:lnTo>
                  <a:lnTo>
                    <a:pt x="39" y="46"/>
                  </a:lnTo>
                  <a:lnTo>
                    <a:pt x="73" y="45"/>
                  </a:lnTo>
                  <a:lnTo>
                    <a:pt x="42" y="40"/>
                  </a:lnTo>
                  <a:lnTo>
                    <a:pt x="9" y="39"/>
                  </a:lnTo>
                  <a:lnTo>
                    <a:pt x="6" y="35"/>
                  </a:lnTo>
                  <a:lnTo>
                    <a:pt x="48" y="27"/>
                  </a:lnTo>
                  <a:lnTo>
                    <a:pt x="17" y="28"/>
                  </a:lnTo>
                  <a:lnTo>
                    <a:pt x="25" y="25"/>
                  </a:lnTo>
                  <a:lnTo>
                    <a:pt x="11" y="25"/>
                  </a:lnTo>
                  <a:lnTo>
                    <a:pt x="32" y="16"/>
                  </a:lnTo>
                  <a:lnTo>
                    <a:pt x="30" y="13"/>
                  </a:lnTo>
                  <a:lnTo>
                    <a:pt x="60" y="6"/>
                  </a:lnTo>
                  <a:lnTo>
                    <a:pt x="89" y="0"/>
                  </a:lnTo>
                  <a:lnTo>
                    <a:pt x="91" y="4"/>
                  </a:lnTo>
                  <a:lnTo>
                    <a:pt x="78" y="11"/>
                  </a:lnTo>
                  <a:lnTo>
                    <a:pt x="89" y="10"/>
                  </a:lnTo>
                  <a:lnTo>
                    <a:pt x="99" y="5"/>
                  </a:lnTo>
                  <a:lnTo>
                    <a:pt x="111" y="12"/>
                  </a:lnTo>
                  <a:lnTo>
                    <a:pt x="104" y="16"/>
                  </a:lnTo>
                  <a:lnTo>
                    <a:pt x="109" y="15"/>
                  </a:lnTo>
                  <a:lnTo>
                    <a:pt x="125" y="13"/>
                  </a:lnTo>
                  <a:lnTo>
                    <a:pt x="126" y="10"/>
                  </a:lnTo>
                  <a:lnTo>
                    <a:pt x="128" y="5"/>
                  </a:lnTo>
                  <a:lnTo>
                    <a:pt x="140" y="12"/>
                  </a:lnTo>
                  <a:lnTo>
                    <a:pt x="133" y="25"/>
                  </a:lnTo>
                  <a:lnTo>
                    <a:pt x="145" y="21"/>
                  </a:lnTo>
                  <a:lnTo>
                    <a:pt x="156" y="3"/>
                  </a:lnTo>
                  <a:lnTo>
                    <a:pt x="175" y="3"/>
                  </a:lnTo>
                  <a:lnTo>
                    <a:pt x="177" y="12"/>
                  </a:lnTo>
                  <a:lnTo>
                    <a:pt x="167" y="31"/>
                  </a:lnTo>
                  <a:lnTo>
                    <a:pt x="168" y="41"/>
                  </a:lnTo>
                  <a:lnTo>
                    <a:pt x="171" y="41"/>
                  </a:lnTo>
                  <a:lnTo>
                    <a:pt x="191" y="47"/>
                  </a:lnTo>
                  <a:lnTo>
                    <a:pt x="188" y="51"/>
                  </a:lnTo>
                  <a:lnTo>
                    <a:pt x="180" y="54"/>
                  </a:lnTo>
                  <a:lnTo>
                    <a:pt x="181" y="51"/>
                  </a:lnTo>
                  <a:lnTo>
                    <a:pt x="174" y="53"/>
                  </a:lnTo>
                  <a:lnTo>
                    <a:pt x="169" y="53"/>
                  </a:lnTo>
                  <a:lnTo>
                    <a:pt x="161" y="57"/>
                  </a:lnTo>
                  <a:lnTo>
                    <a:pt x="156" y="57"/>
                  </a:lnTo>
                  <a:lnTo>
                    <a:pt x="151" y="63"/>
                  </a:lnTo>
                  <a:lnTo>
                    <a:pt x="169" y="58"/>
                  </a:lnTo>
                  <a:lnTo>
                    <a:pt x="167" y="60"/>
                  </a:lnTo>
                  <a:lnTo>
                    <a:pt x="161" y="65"/>
                  </a:lnTo>
                  <a:lnTo>
                    <a:pt x="125" y="6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7" name="Freeform 396"/>
            <p:cNvSpPr>
              <a:spLocks/>
            </p:cNvSpPr>
            <p:nvPr/>
          </p:nvSpPr>
          <p:spPr bwMode="auto">
            <a:xfrm>
              <a:off x="980" y="1276"/>
              <a:ext cx="156" cy="54"/>
            </a:xfrm>
            <a:custGeom>
              <a:avLst/>
              <a:gdLst/>
              <a:ahLst/>
              <a:cxnLst>
                <a:cxn ang="0">
                  <a:pos x="64" y="33"/>
                </a:cxn>
                <a:cxn ang="0">
                  <a:pos x="42" y="44"/>
                </a:cxn>
                <a:cxn ang="0">
                  <a:pos x="11" y="49"/>
                </a:cxn>
                <a:cxn ang="0">
                  <a:pos x="6" y="38"/>
                </a:cxn>
                <a:cxn ang="0">
                  <a:pos x="0" y="33"/>
                </a:cxn>
                <a:cxn ang="0">
                  <a:pos x="21" y="25"/>
                </a:cxn>
                <a:cxn ang="0">
                  <a:pos x="28" y="20"/>
                </a:cxn>
                <a:cxn ang="0">
                  <a:pos x="52" y="9"/>
                </a:cxn>
                <a:cxn ang="0">
                  <a:pos x="51" y="2"/>
                </a:cxn>
                <a:cxn ang="0">
                  <a:pos x="94" y="0"/>
                </a:cxn>
                <a:cxn ang="0">
                  <a:pos x="104" y="3"/>
                </a:cxn>
                <a:cxn ang="0">
                  <a:pos x="107" y="6"/>
                </a:cxn>
                <a:cxn ang="0">
                  <a:pos x="129" y="3"/>
                </a:cxn>
                <a:cxn ang="0">
                  <a:pos x="140" y="14"/>
                </a:cxn>
                <a:cxn ang="0">
                  <a:pos x="108" y="21"/>
                </a:cxn>
                <a:cxn ang="0">
                  <a:pos x="77" y="28"/>
                </a:cxn>
                <a:cxn ang="0">
                  <a:pos x="64" y="33"/>
                </a:cxn>
              </a:cxnLst>
              <a:rect l="0" t="0" r="r" b="b"/>
              <a:pathLst>
                <a:path w="140" h="49">
                  <a:moveTo>
                    <a:pt x="64" y="33"/>
                  </a:moveTo>
                  <a:lnTo>
                    <a:pt x="42" y="44"/>
                  </a:lnTo>
                  <a:lnTo>
                    <a:pt x="11" y="49"/>
                  </a:lnTo>
                  <a:lnTo>
                    <a:pt x="6" y="38"/>
                  </a:lnTo>
                  <a:lnTo>
                    <a:pt x="0" y="33"/>
                  </a:lnTo>
                  <a:lnTo>
                    <a:pt x="21" y="25"/>
                  </a:lnTo>
                  <a:lnTo>
                    <a:pt x="28" y="20"/>
                  </a:lnTo>
                  <a:lnTo>
                    <a:pt x="52" y="9"/>
                  </a:lnTo>
                  <a:lnTo>
                    <a:pt x="51" y="2"/>
                  </a:lnTo>
                  <a:lnTo>
                    <a:pt x="94" y="0"/>
                  </a:lnTo>
                  <a:lnTo>
                    <a:pt x="104" y="3"/>
                  </a:lnTo>
                  <a:lnTo>
                    <a:pt x="107" y="6"/>
                  </a:lnTo>
                  <a:lnTo>
                    <a:pt x="129" y="3"/>
                  </a:lnTo>
                  <a:lnTo>
                    <a:pt x="140" y="14"/>
                  </a:lnTo>
                  <a:lnTo>
                    <a:pt x="108" y="21"/>
                  </a:lnTo>
                  <a:lnTo>
                    <a:pt x="77" y="28"/>
                  </a:lnTo>
                  <a:lnTo>
                    <a:pt x="64" y="3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8" name="Freeform 397"/>
            <p:cNvSpPr>
              <a:spLocks/>
            </p:cNvSpPr>
            <p:nvPr/>
          </p:nvSpPr>
          <p:spPr bwMode="auto">
            <a:xfrm>
              <a:off x="1611" y="1683"/>
              <a:ext cx="103" cy="93"/>
            </a:xfrm>
            <a:custGeom>
              <a:avLst/>
              <a:gdLst/>
              <a:ahLst/>
              <a:cxnLst>
                <a:cxn ang="0">
                  <a:pos x="47" y="67"/>
                </a:cxn>
                <a:cxn ang="0">
                  <a:pos x="48" y="64"/>
                </a:cxn>
                <a:cxn ang="0">
                  <a:pos x="22" y="68"/>
                </a:cxn>
                <a:cxn ang="0">
                  <a:pos x="0" y="66"/>
                </a:cxn>
                <a:cxn ang="0">
                  <a:pos x="5" y="58"/>
                </a:cxn>
                <a:cxn ang="0">
                  <a:pos x="16" y="51"/>
                </a:cxn>
                <a:cxn ang="0">
                  <a:pos x="5" y="51"/>
                </a:cxn>
                <a:cxn ang="0">
                  <a:pos x="10" y="49"/>
                </a:cxn>
                <a:cxn ang="0">
                  <a:pos x="23" y="42"/>
                </a:cxn>
                <a:cxn ang="0">
                  <a:pos x="24" y="43"/>
                </a:cxn>
                <a:cxn ang="0">
                  <a:pos x="26" y="39"/>
                </a:cxn>
                <a:cxn ang="0">
                  <a:pos x="23" y="36"/>
                </a:cxn>
                <a:cxn ang="0">
                  <a:pos x="29" y="33"/>
                </a:cxn>
                <a:cxn ang="0">
                  <a:pos x="43" y="14"/>
                </a:cxn>
                <a:cxn ang="0">
                  <a:pos x="60" y="1"/>
                </a:cxn>
                <a:cxn ang="0">
                  <a:pos x="67" y="0"/>
                </a:cxn>
                <a:cxn ang="0">
                  <a:pos x="73" y="0"/>
                </a:cxn>
                <a:cxn ang="0">
                  <a:pos x="64" y="4"/>
                </a:cxn>
                <a:cxn ang="0">
                  <a:pos x="66" y="7"/>
                </a:cxn>
                <a:cxn ang="0">
                  <a:pos x="60" y="13"/>
                </a:cxn>
                <a:cxn ang="0">
                  <a:pos x="43" y="33"/>
                </a:cxn>
                <a:cxn ang="0">
                  <a:pos x="56" y="24"/>
                </a:cxn>
                <a:cxn ang="0">
                  <a:pos x="54" y="27"/>
                </a:cxn>
                <a:cxn ang="0">
                  <a:pos x="64" y="26"/>
                </a:cxn>
                <a:cxn ang="0">
                  <a:pos x="55" y="31"/>
                </a:cxn>
                <a:cxn ang="0">
                  <a:pos x="55" y="34"/>
                </a:cxn>
                <a:cxn ang="0">
                  <a:pos x="65" y="37"/>
                </a:cxn>
                <a:cxn ang="0">
                  <a:pos x="62" y="40"/>
                </a:cxn>
                <a:cxn ang="0">
                  <a:pos x="76" y="34"/>
                </a:cxn>
                <a:cxn ang="0">
                  <a:pos x="74" y="38"/>
                </a:cxn>
                <a:cxn ang="0">
                  <a:pos x="88" y="37"/>
                </a:cxn>
                <a:cxn ang="0">
                  <a:pos x="78" y="46"/>
                </a:cxn>
                <a:cxn ang="0">
                  <a:pos x="80" y="50"/>
                </a:cxn>
                <a:cxn ang="0">
                  <a:pos x="76" y="54"/>
                </a:cxn>
                <a:cxn ang="0">
                  <a:pos x="92" y="50"/>
                </a:cxn>
                <a:cxn ang="0">
                  <a:pos x="77" y="60"/>
                </a:cxn>
                <a:cxn ang="0">
                  <a:pos x="78" y="62"/>
                </a:cxn>
                <a:cxn ang="0">
                  <a:pos x="77" y="62"/>
                </a:cxn>
                <a:cxn ang="0">
                  <a:pos x="77" y="68"/>
                </a:cxn>
                <a:cxn ang="0">
                  <a:pos x="91" y="57"/>
                </a:cxn>
                <a:cxn ang="0">
                  <a:pos x="84" y="68"/>
                </a:cxn>
                <a:cxn ang="0">
                  <a:pos x="91" y="64"/>
                </a:cxn>
                <a:cxn ang="0">
                  <a:pos x="92" y="69"/>
                </a:cxn>
                <a:cxn ang="0">
                  <a:pos x="80" y="85"/>
                </a:cxn>
                <a:cxn ang="0">
                  <a:pos x="74" y="82"/>
                </a:cxn>
                <a:cxn ang="0">
                  <a:pos x="74" y="76"/>
                </a:cxn>
                <a:cxn ang="0">
                  <a:pos x="67" y="80"/>
                </a:cxn>
                <a:cxn ang="0">
                  <a:pos x="74" y="68"/>
                </a:cxn>
                <a:cxn ang="0">
                  <a:pos x="71" y="63"/>
                </a:cxn>
                <a:cxn ang="0">
                  <a:pos x="64" y="72"/>
                </a:cxn>
                <a:cxn ang="0">
                  <a:pos x="67" y="68"/>
                </a:cxn>
                <a:cxn ang="0">
                  <a:pos x="44" y="81"/>
                </a:cxn>
                <a:cxn ang="0">
                  <a:pos x="44" y="76"/>
                </a:cxn>
                <a:cxn ang="0">
                  <a:pos x="62" y="67"/>
                </a:cxn>
                <a:cxn ang="0">
                  <a:pos x="58" y="68"/>
                </a:cxn>
                <a:cxn ang="0">
                  <a:pos x="61" y="64"/>
                </a:cxn>
                <a:cxn ang="0">
                  <a:pos x="54" y="67"/>
                </a:cxn>
                <a:cxn ang="0">
                  <a:pos x="48" y="70"/>
                </a:cxn>
                <a:cxn ang="0">
                  <a:pos x="42" y="69"/>
                </a:cxn>
                <a:cxn ang="0">
                  <a:pos x="47" y="67"/>
                </a:cxn>
              </a:cxnLst>
              <a:rect l="0" t="0" r="r" b="b"/>
              <a:pathLst>
                <a:path w="92" h="85">
                  <a:moveTo>
                    <a:pt x="47" y="67"/>
                  </a:moveTo>
                  <a:lnTo>
                    <a:pt x="48" y="64"/>
                  </a:lnTo>
                  <a:lnTo>
                    <a:pt x="22" y="68"/>
                  </a:lnTo>
                  <a:lnTo>
                    <a:pt x="0" y="66"/>
                  </a:lnTo>
                  <a:lnTo>
                    <a:pt x="5" y="58"/>
                  </a:lnTo>
                  <a:lnTo>
                    <a:pt x="16" y="51"/>
                  </a:lnTo>
                  <a:lnTo>
                    <a:pt x="5" y="51"/>
                  </a:lnTo>
                  <a:lnTo>
                    <a:pt x="10" y="49"/>
                  </a:lnTo>
                  <a:lnTo>
                    <a:pt x="23" y="42"/>
                  </a:lnTo>
                  <a:lnTo>
                    <a:pt x="24" y="43"/>
                  </a:lnTo>
                  <a:lnTo>
                    <a:pt x="26" y="39"/>
                  </a:lnTo>
                  <a:lnTo>
                    <a:pt x="23" y="36"/>
                  </a:lnTo>
                  <a:lnTo>
                    <a:pt x="29" y="33"/>
                  </a:lnTo>
                  <a:lnTo>
                    <a:pt x="43" y="14"/>
                  </a:lnTo>
                  <a:lnTo>
                    <a:pt x="60" y="1"/>
                  </a:lnTo>
                  <a:lnTo>
                    <a:pt x="67" y="0"/>
                  </a:lnTo>
                  <a:lnTo>
                    <a:pt x="73" y="0"/>
                  </a:lnTo>
                  <a:lnTo>
                    <a:pt x="64" y="4"/>
                  </a:lnTo>
                  <a:lnTo>
                    <a:pt x="66" y="7"/>
                  </a:lnTo>
                  <a:lnTo>
                    <a:pt x="60" y="13"/>
                  </a:lnTo>
                  <a:lnTo>
                    <a:pt x="43" y="33"/>
                  </a:lnTo>
                  <a:lnTo>
                    <a:pt x="56" y="24"/>
                  </a:lnTo>
                  <a:lnTo>
                    <a:pt x="54" y="27"/>
                  </a:lnTo>
                  <a:lnTo>
                    <a:pt x="64" y="26"/>
                  </a:lnTo>
                  <a:lnTo>
                    <a:pt x="55" y="31"/>
                  </a:lnTo>
                  <a:lnTo>
                    <a:pt x="55" y="34"/>
                  </a:lnTo>
                  <a:lnTo>
                    <a:pt x="65" y="37"/>
                  </a:lnTo>
                  <a:lnTo>
                    <a:pt x="62" y="40"/>
                  </a:lnTo>
                  <a:lnTo>
                    <a:pt x="76" y="34"/>
                  </a:lnTo>
                  <a:lnTo>
                    <a:pt x="74" y="38"/>
                  </a:lnTo>
                  <a:lnTo>
                    <a:pt x="88" y="37"/>
                  </a:lnTo>
                  <a:lnTo>
                    <a:pt x="78" y="46"/>
                  </a:lnTo>
                  <a:lnTo>
                    <a:pt x="80" y="50"/>
                  </a:lnTo>
                  <a:lnTo>
                    <a:pt x="76" y="54"/>
                  </a:lnTo>
                  <a:lnTo>
                    <a:pt x="92" y="50"/>
                  </a:lnTo>
                  <a:lnTo>
                    <a:pt x="77" y="60"/>
                  </a:lnTo>
                  <a:lnTo>
                    <a:pt x="78" y="62"/>
                  </a:lnTo>
                  <a:lnTo>
                    <a:pt x="77" y="62"/>
                  </a:lnTo>
                  <a:lnTo>
                    <a:pt x="77" y="68"/>
                  </a:lnTo>
                  <a:lnTo>
                    <a:pt x="91" y="57"/>
                  </a:lnTo>
                  <a:lnTo>
                    <a:pt x="84" y="68"/>
                  </a:lnTo>
                  <a:lnTo>
                    <a:pt x="91" y="64"/>
                  </a:lnTo>
                  <a:lnTo>
                    <a:pt x="92" y="69"/>
                  </a:lnTo>
                  <a:lnTo>
                    <a:pt x="80" y="85"/>
                  </a:lnTo>
                  <a:lnTo>
                    <a:pt x="74" y="82"/>
                  </a:lnTo>
                  <a:lnTo>
                    <a:pt x="74" y="76"/>
                  </a:lnTo>
                  <a:lnTo>
                    <a:pt x="67" y="80"/>
                  </a:lnTo>
                  <a:lnTo>
                    <a:pt x="74" y="68"/>
                  </a:lnTo>
                  <a:lnTo>
                    <a:pt x="71" y="63"/>
                  </a:lnTo>
                  <a:lnTo>
                    <a:pt x="64" y="72"/>
                  </a:lnTo>
                  <a:lnTo>
                    <a:pt x="67" y="68"/>
                  </a:lnTo>
                  <a:lnTo>
                    <a:pt x="44" y="81"/>
                  </a:lnTo>
                  <a:lnTo>
                    <a:pt x="44" y="76"/>
                  </a:lnTo>
                  <a:lnTo>
                    <a:pt x="62" y="67"/>
                  </a:lnTo>
                  <a:lnTo>
                    <a:pt x="58" y="68"/>
                  </a:lnTo>
                  <a:lnTo>
                    <a:pt x="61" y="64"/>
                  </a:lnTo>
                  <a:lnTo>
                    <a:pt x="54" y="67"/>
                  </a:lnTo>
                  <a:lnTo>
                    <a:pt x="48" y="70"/>
                  </a:lnTo>
                  <a:lnTo>
                    <a:pt x="42" y="69"/>
                  </a:lnTo>
                  <a:lnTo>
                    <a:pt x="47" y="6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399" name="Freeform 398"/>
            <p:cNvSpPr>
              <a:spLocks/>
            </p:cNvSpPr>
            <p:nvPr/>
          </p:nvSpPr>
          <p:spPr bwMode="auto">
            <a:xfrm>
              <a:off x="1414" y="1241"/>
              <a:ext cx="180" cy="31"/>
            </a:xfrm>
            <a:custGeom>
              <a:avLst/>
              <a:gdLst/>
              <a:ahLst/>
              <a:cxnLst>
                <a:cxn ang="0">
                  <a:pos x="65" y="15"/>
                </a:cxn>
                <a:cxn ang="0">
                  <a:pos x="48" y="9"/>
                </a:cxn>
                <a:cxn ang="0">
                  <a:pos x="72" y="9"/>
                </a:cxn>
                <a:cxn ang="0">
                  <a:pos x="29" y="6"/>
                </a:cxn>
                <a:cxn ang="0">
                  <a:pos x="37" y="0"/>
                </a:cxn>
                <a:cxn ang="0">
                  <a:pos x="0" y="1"/>
                </a:cxn>
                <a:cxn ang="0">
                  <a:pos x="34" y="6"/>
                </a:cxn>
                <a:cxn ang="0">
                  <a:pos x="28" y="17"/>
                </a:cxn>
                <a:cxn ang="0">
                  <a:pos x="22" y="29"/>
                </a:cxn>
                <a:cxn ang="0">
                  <a:pos x="57" y="28"/>
                </a:cxn>
                <a:cxn ang="0">
                  <a:pos x="90" y="28"/>
                </a:cxn>
                <a:cxn ang="0">
                  <a:pos x="125" y="27"/>
                </a:cxn>
                <a:cxn ang="0">
                  <a:pos x="159" y="27"/>
                </a:cxn>
                <a:cxn ang="0">
                  <a:pos x="163" y="19"/>
                </a:cxn>
                <a:cxn ang="0">
                  <a:pos x="137" y="13"/>
                </a:cxn>
                <a:cxn ang="0">
                  <a:pos x="101" y="15"/>
                </a:cxn>
                <a:cxn ang="0">
                  <a:pos x="65" y="15"/>
                </a:cxn>
              </a:cxnLst>
              <a:rect l="0" t="0" r="r" b="b"/>
              <a:pathLst>
                <a:path w="163" h="29">
                  <a:moveTo>
                    <a:pt x="65" y="15"/>
                  </a:moveTo>
                  <a:lnTo>
                    <a:pt x="48" y="9"/>
                  </a:lnTo>
                  <a:lnTo>
                    <a:pt x="72" y="9"/>
                  </a:lnTo>
                  <a:lnTo>
                    <a:pt x="29" y="6"/>
                  </a:lnTo>
                  <a:lnTo>
                    <a:pt x="37" y="0"/>
                  </a:lnTo>
                  <a:lnTo>
                    <a:pt x="0" y="1"/>
                  </a:lnTo>
                  <a:lnTo>
                    <a:pt x="34" y="6"/>
                  </a:lnTo>
                  <a:lnTo>
                    <a:pt x="28" y="17"/>
                  </a:lnTo>
                  <a:lnTo>
                    <a:pt x="22" y="29"/>
                  </a:lnTo>
                  <a:lnTo>
                    <a:pt x="57" y="28"/>
                  </a:lnTo>
                  <a:lnTo>
                    <a:pt x="90" y="28"/>
                  </a:lnTo>
                  <a:lnTo>
                    <a:pt x="125" y="27"/>
                  </a:lnTo>
                  <a:lnTo>
                    <a:pt x="159" y="27"/>
                  </a:lnTo>
                  <a:lnTo>
                    <a:pt x="163" y="19"/>
                  </a:lnTo>
                  <a:lnTo>
                    <a:pt x="137" y="13"/>
                  </a:lnTo>
                  <a:lnTo>
                    <a:pt x="101" y="15"/>
                  </a:lnTo>
                  <a:lnTo>
                    <a:pt x="65" y="1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0" name="Freeform 399"/>
            <p:cNvSpPr>
              <a:spLocks/>
            </p:cNvSpPr>
            <p:nvPr/>
          </p:nvSpPr>
          <p:spPr bwMode="auto">
            <a:xfrm>
              <a:off x="1476" y="1181"/>
              <a:ext cx="113" cy="40"/>
            </a:xfrm>
            <a:custGeom>
              <a:avLst/>
              <a:gdLst/>
              <a:ahLst/>
              <a:cxnLst>
                <a:cxn ang="0">
                  <a:pos x="21" y="11"/>
                </a:cxn>
                <a:cxn ang="0">
                  <a:pos x="13" y="6"/>
                </a:cxn>
                <a:cxn ang="0">
                  <a:pos x="48" y="0"/>
                </a:cxn>
                <a:cxn ang="0">
                  <a:pos x="92" y="9"/>
                </a:cxn>
                <a:cxn ang="0">
                  <a:pos x="81" y="18"/>
                </a:cxn>
                <a:cxn ang="0">
                  <a:pos x="103" y="22"/>
                </a:cxn>
                <a:cxn ang="0">
                  <a:pos x="66" y="29"/>
                </a:cxn>
                <a:cxn ang="0">
                  <a:pos x="49" y="36"/>
                </a:cxn>
                <a:cxn ang="0">
                  <a:pos x="43" y="31"/>
                </a:cxn>
                <a:cxn ang="0">
                  <a:pos x="42" y="36"/>
                </a:cxn>
                <a:cxn ang="0">
                  <a:pos x="6" y="27"/>
                </a:cxn>
                <a:cxn ang="0">
                  <a:pos x="48" y="22"/>
                </a:cxn>
                <a:cxn ang="0">
                  <a:pos x="0" y="17"/>
                </a:cxn>
                <a:cxn ang="0">
                  <a:pos x="21" y="11"/>
                </a:cxn>
              </a:cxnLst>
              <a:rect l="0" t="0" r="r" b="b"/>
              <a:pathLst>
                <a:path w="103" h="36">
                  <a:moveTo>
                    <a:pt x="21" y="11"/>
                  </a:moveTo>
                  <a:lnTo>
                    <a:pt x="13" y="6"/>
                  </a:lnTo>
                  <a:lnTo>
                    <a:pt x="48" y="0"/>
                  </a:lnTo>
                  <a:lnTo>
                    <a:pt x="92" y="9"/>
                  </a:lnTo>
                  <a:lnTo>
                    <a:pt x="81" y="18"/>
                  </a:lnTo>
                  <a:lnTo>
                    <a:pt x="103" y="22"/>
                  </a:lnTo>
                  <a:lnTo>
                    <a:pt x="66" y="29"/>
                  </a:lnTo>
                  <a:lnTo>
                    <a:pt x="49" y="36"/>
                  </a:lnTo>
                  <a:lnTo>
                    <a:pt x="43" y="31"/>
                  </a:lnTo>
                  <a:lnTo>
                    <a:pt x="42" y="36"/>
                  </a:lnTo>
                  <a:lnTo>
                    <a:pt x="6" y="27"/>
                  </a:lnTo>
                  <a:lnTo>
                    <a:pt x="48" y="22"/>
                  </a:lnTo>
                  <a:lnTo>
                    <a:pt x="0" y="17"/>
                  </a:lnTo>
                  <a:lnTo>
                    <a:pt x="21"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1" name="Freeform 400"/>
            <p:cNvSpPr>
              <a:spLocks/>
            </p:cNvSpPr>
            <p:nvPr/>
          </p:nvSpPr>
          <p:spPr bwMode="auto">
            <a:xfrm>
              <a:off x="1142" y="1241"/>
              <a:ext cx="154" cy="35"/>
            </a:xfrm>
            <a:custGeom>
              <a:avLst/>
              <a:gdLst/>
              <a:ahLst/>
              <a:cxnLst>
                <a:cxn ang="0">
                  <a:pos x="37" y="34"/>
                </a:cxn>
                <a:cxn ang="0">
                  <a:pos x="22" y="29"/>
                </a:cxn>
                <a:cxn ang="0">
                  <a:pos x="68" y="22"/>
                </a:cxn>
                <a:cxn ang="0">
                  <a:pos x="33" y="21"/>
                </a:cxn>
                <a:cxn ang="0">
                  <a:pos x="0" y="21"/>
                </a:cxn>
                <a:cxn ang="0">
                  <a:pos x="32" y="16"/>
                </a:cxn>
                <a:cxn ang="0">
                  <a:pos x="18" y="15"/>
                </a:cxn>
                <a:cxn ang="0">
                  <a:pos x="39" y="12"/>
                </a:cxn>
                <a:cxn ang="0">
                  <a:pos x="30" y="9"/>
                </a:cxn>
                <a:cxn ang="0">
                  <a:pos x="69" y="11"/>
                </a:cxn>
                <a:cxn ang="0">
                  <a:pos x="96" y="18"/>
                </a:cxn>
                <a:cxn ang="0">
                  <a:pos x="97" y="6"/>
                </a:cxn>
                <a:cxn ang="0">
                  <a:pos x="121" y="0"/>
                </a:cxn>
                <a:cxn ang="0">
                  <a:pos x="112" y="15"/>
                </a:cxn>
                <a:cxn ang="0">
                  <a:pos x="139" y="13"/>
                </a:cxn>
                <a:cxn ang="0">
                  <a:pos x="117" y="24"/>
                </a:cxn>
                <a:cxn ang="0">
                  <a:pos x="100" y="23"/>
                </a:cxn>
                <a:cxn ang="0">
                  <a:pos x="69" y="28"/>
                </a:cxn>
                <a:cxn ang="0">
                  <a:pos x="37" y="34"/>
                </a:cxn>
              </a:cxnLst>
              <a:rect l="0" t="0" r="r" b="b"/>
              <a:pathLst>
                <a:path w="139" h="34">
                  <a:moveTo>
                    <a:pt x="37" y="34"/>
                  </a:moveTo>
                  <a:lnTo>
                    <a:pt x="22" y="29"/>
                  </a:lnTo>
                  <a:lnTo>
                    <a:pt x="68" y="22"/>
                  </a:lnTo>
                  <a:lnTo>
                    <a:pt x="33" y="21"/>
                  </a:lnTo>
                  <a:lnTo>
                    <a:pt x="0" y="21"/>
                  </a:lnTo>
                  <a:lnTo>
                    <a:pt x="32" y="16"/>
                  </a:lnTo>
                  <a:lnTo>
                    <a:pt x="18" y="15"/>
                  </a:lnTo>
                  <a:lnTo>
                    <a:pt x="39" y="12"/>
                  </a:lnTo>
                  <a:lnTo>
                    <a:pt x="30" y="9"/>
                  </a:lnTo>
                  <a:lnTo>
                    <a:pt x="69" y="11"/>
                  </a:lnTo>
                  <a:lnTo>
                    <a:pt x="96" y="18"/>
                  </a:lnTo>
                  <a:lnTo>
                    <a:pt x="97" y="6"/>
                  </a:lnTo>
                  <a:lnTo>
                    <a:pt x="121" y="0"/>
                  </a:lnTo>
                  <a:lnTo>
                    <a:pt x="112" y="15"/>
                  </a:lnTo>
                  <a:lnTo>
                    <a:pt x="139" y="13"/>
                  </a:lnTo>
                  <a:lnTo>
                    <a:pt x="117" y="24"/>
                  </a:lnTo>
                  <a:lnTo>
                    <a:pt x="100" y="23"/>
                  </a:lnTo>
                  <a:lnTo>
                    <a:pt x="69" y="28"/>
                  </a:lnTo>
                  <a:lnTo>
                    <a:pt x="37"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2" name="Freeform 401"/>
            <p:cNvSpPr>
              <a:spLocks/>
            </p:cNvSpPr>
            <p:nvPr/>
          </p:nvSpPr>
          <p:spPr bwMode="auto">
            <a:xfrm>
              <a:off x="1347" y="1419"/>
              <a:ext cx="95" cy="49"/>
            </a:xfrm>
            <a:custGeom>
              <a:avLst/>
              <a:gdLst/>
              <a:ahLst/>
              <a:cxnLst>
                <a:cxn ang="0">
                  <a:pos x="62" y="32"/>
                </a:cxn>
                <a:cxn ang="0">
                  <a:pos x="53" y="30"/>
                </a:cxn>
                <a:cxn ang="0">
                  <a:pos x="54" y="28"/>
                </a:cxn>
                <a:cxn ang="0">
                  <a:pos x="47" y="30"/>
                </a:cxn>
                <a:cxn ang="0">
                  <a:pos x="18" y="43"/>
                </a:cxn>
                <a:cxn ang="0">
                  <a:pos x="18" y="35"/>
                </a:cxn>
                <a:cxn ang="0">
                  <a:pos x="0" y="35"/>
                </a:cxn>
                <a:cxn ang="0">
                  <a:pos x="18" y="26"/>
                </a:cxn>
                <a:cxn ang="0">
                  <a:pos x="29" y="13"/>
                </a:cxn>
                <a:cxn ang="0">
                  <a:pos x="41" y="0"/>
                </a:cxn>
                <a:cxn ang="0">
                  <a:pos x="48" y="4"/>
                </a:cxn>
                <a:cxn ang="0">
                  <a:pos x="46" y="10"/>
                </a:cxn>
                <a:cxn ang="0">
                  <a:pos x="53" y="7"/>
                </a:cxn>
                <a:cxn ang="0">
                  <a:pos x="76" y="22"/>
                </a:cxn>
                <a:cxn ang="0">
                  <a:pos x="68" y="30"/>
                </a:cxn>
                <a:cxn ang="0">
                  <a:pos x="86" y="30"/>
                </a:cxn>
                <a:cxn ang="0">
                  <a:pos x="87" y="34"/>
                </a:cxn>
                <a:cxn ang="0">
                  <a:pos x="72" y="38"/>
                </a:cxn>
                <a:cxn ang="0">
                  <a:pos x="62" y="32"/>
                </a:cxn>
              </a:cxnLst>
              <a:rect l="0" t="0" r="r" b="b"/>
              <a:pathLst>
                <a:path w="87" h="43">
                  <a:moveTo>
                    <a:pt x="62" y="32"/>
                  </a:moveTo>
                  <a:lnTo>
                    <a:pt x="53" y="30"/>
                  </a:lnTo>
                  <a:lnTo>
                    <a:pt x="54" y="28"/>
                  </a:lnTo>
                  <a:lnTo>
                    <a:pt x="47" y="30"/>
                  </a:lnTo>
                  <a:lnTo>
                    <a:pt x="18" y="43"/>
                  </a:lnTo>
                  <a:lnTo>
                    <a:pt x="18" y="35"/>
                  </a:lnTo>
                  <a:lnTo>
                    <a:pt x="0" y="35"/>
                  </a:lnTo>
                  <a:lnTo>
                    <a:pt x="18" y="26"/>
                  </a:lnTo>
                  <a:lnTo>
                    <a:pt x="29" y="13"/>
                  </a:lnTo>
                  <a:lnTo>
                    <a:pt x="41" y="0"/>
                  </a:lnTo>
                  <a:lnTo>
                    <a:pt x="48" y="4"/>
                  </a:lnTo>
                  <a:lnTo>
                    <a:pt x="46" y="10"/>
                  </a:lnTo>
                  <a:lnTo>
                    <a:pt x="53" y="7"/>
                  </a:lnTo>
                  <a:lnTo>
                    <a:pt x="76" y="22"/>
                  </a:lnTo>
                  <a:lnTo>
                    <a:pt x="68" y="30"/>
                  </a:lnTo>
                  <a:lnTo>
                    <a:pt x="86" y="30"/>
                  </a:lnTo>
                  <a:lnTo>
                    <a:pt x="87" y="34"/>
                  </a:lnTo>
                  <a:lnTo>
                    <a:pt x="72" y="38"/>
                  </a:lnTo>
                  <a:lnTo>
                    <a:pt x="62" y="3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3" name="Freeform 402"/>
            <p:cNvSpPr>
              <a:spLocks/>
            </p:cNvSpPr>
            <p:nvPr/>
          </p:nvSpPr>
          <p:spPr bwMode="auto">
            <a:xfrm>
              <a:off x="1276" y="1288"/>
              <a:ext cx="84" cy="35"/>
            </a:xfrm>
            <a:custGeom>
              <a:avLst/>
              <a:gdLst/>
              <a:ahLst/>
              <a:cxnLst>
                <a:cxn ang="0">
                  <a:pos x="76" y="0"/>
                </a:cxn>
                <a:cxn ang="0">
                  <a:pos x="32" y="0"/>
                </a:cxn>
                <a:cxn ang="0">
                  <a:pos x="37" y="8"/>
                </a:cxn>
                <a:cxn ang="0">
                  <a:pos x="27" y="14"/>
                </a:cxn>
                <a:cxn ang="0">
                  <a:pos x="0" y="14"/>
                </a:cxn>
                <a:cxn ang="0">
                  <a:pos x="15" y="23"/>
                </a:cxn>
                <a:cxn ang="0">
                  <a:pos x="32" y="33"/>
                </a:cxn>
                <a:cxn ang="0">
                  <a:pos x="36" y="28"/>
                </a:cxn>
                <a:cxn ang="0">
                  <a:pos x="56" y="27"/>
                </a:cxn>
                <a:cxn ang="0">
                  <a:pos x="66" y="14"/>
                </a:cxn>
                <a:cxn ang="0">
                  <a:pos x="76" y="0"/>
                </a:cxn>
              </a:cxnLst>
              <a:rect l="0" t="0" r="r" b="b"/>
              <a:pathLst>
                <a:path w="76" h="33">
                  <a:moveTo>
                    <a:pt x="76" y="0"/>
                  </a:moveTo>
                  <a:lnTo>
                    <a:pt x="32" y="0"/>
                  </a:lnTo>
                  <a:lnTo>
                    <a:pt x="37" y="8"/>
                  </a:lnTo>
                  <a:lnTo>
                    <a:pt x="27" y="14"/>
                  </a:lnTo>
                  <a:lnTo>
                    <a:pt x="0" y="14"/>
                  </a:lnTo>
                  <a:lnTo>
                    <a:pt x="15" y="23"/>
                  </a:lnTo>
                  <a:lnTo>
                    <a:pt x="32" y="33"/>
                  </a:lnTo>
                  <a:lnTo>
                    <a:pt x="36" y="28"/>
                  </a:lnTo>
                  <a:lnTo>
                    <a:pt x="56" y="27"/>
                  </a:lnTo>
                  <a:lnTo>
                    <a:pt x="66" y="14"/>
                  </a:lnTo>
                  <a:lnTo>
                    <a:pt x="76"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4" name="Freeform 403"/>
            <p:cNvSpPr>
              <a:spLocks/>
            </p:cNvSpPr>
            <p:nvPr/>
          </p:nvSpPr>
          <p:spPr bwMode="auto">
            <a:xfrm>
              <a:off x="1356" y="1281"/>
              <a:ext cx="89" cy="35"/>
            </a:xfrm>
            <a:custGeom>
              <a:avLst/>
              <a:gdLst/>
              <a:ahLst/>
              <a:cxnLst>
                <a:cxn ang="0">
                  <a:pos x="49" y="18"/>
                </a:cxn>
                <a:cxn ang="0">
                  <a:pos x="22" y="20"/>
                </a:cxn>
                <a:cxn ang="0">
                  <a:pos x="26" y="23"/>
                </a:cxn>
                <a:cxn ang="0">
                  <a:pos x="14" y="30"/>
                </a:cxn>
                <a:cxn ang="0">
                  <a:pos x="0" y="32"/>
                </a:cxn>
                <a:cxn ang="0">
                  <a:pos x="2" y="29"/>
                </a:cxn>
                <a:cxn ang="0">
                  <a:pos x="16" y="9"/>
                </a:cxn>
                <a:cxn ang="0">
                  <a:pos x="26" y="8"/>
                </a:cxn>
                <a:cxn ang="0">
                  <a:pos x="25" y="4"/>
                </a:cxn>
                <a:cxn ang="0">
                  <a:pos x="34" y="0"/>
                </a:cxn>
                <a:cxn ang="0">
                  <a:pos x="80" y="4"/>
                </a:cxn>
                <a:cxn ang="0">
                  <a:pos x="68" y="9"/>
                </a:cxn>
                <a:cxn ang="0">
                  <a:pos x="49" y="18"/>
                </a:cxn>
              </a:cxnLst>
              <a:rect l="0" t="0" r="r" b="b"/>
              <a:pathLst>
                <a:path w="80" h="32">
                  <a:moveTo>
                    <a:pt x="49" y="18"/>
                  </a:moveTo>
                  <a:lnTo>
                    <a:pt x="22" y="20"/>
                  </a:lnTo>
                  <a:lnTo>
                    <a:pt x="26" y="23"/>
                  </a:lnTo>
                  <a:lnTo>
                    <a:pt x="14" y="30"/>
                  </a:lnTo>
                  <a:lnTo>
                    <a:pt x="0" y="32"/>
                  </a:lnTo>
                  <a:lnTo>
                    <a:pt x="2" y="29"/>
                  </a:lnTo>
                  <a:lnTo>
                    <a:pt x="16" y="9"/>
                  </a:lnTo>
                  <a:lnTo>
                    <a:pt x="26" y="8"/>
                  </a:lnTo>
                  <a:lnTo>
                    <a:pt x="25" y="4"/>
                  </a:lnTo>
                  <a:lnTo>
                    <a:pt x="34" y="0"/>
                  </a:lnTo>
                  <a:lnTo>
                    <a:pt x="80" y="4"/>
                  </a:lnTo>
                  <a:lnTo>
                    <a:pt x="68" y="9"/>
                  </a:lnTo>
                  <a:lnTo>
                    <a:pt x="49" y="18"/>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5" name="Freeform 404"/>
            <p:cNvSpPr>
              <a:spLocks/>
            </p:cNvSpPr>
            <p:nvPr/>
          </p:nvSpPr>
          <p:spPr bwMode="auto">
            <a:xfrm>
              <a:off x="578" y="1696"/>
              <a:ext cx="49" cy="47"/>
            </a:xfrm>
            <a:custGeom>
              <a:avLst/>
              <a:gdLst/>
              <a:ahLst/>
              <a:cxnLst>
                <a:cxn ang="0">
                  <a:pos x="30" y="27"/>
                </a:cxn>
                <a:cxn ang="0">
                  <a:pos x="28" y="30"/>
                </a:cxn>
                <a:cxn ang="0">
                  <a:pos x="16" y="29"/>
                </a:cxn>
                <a:cxn ang="0">
                  <a:pos x="19" y="26"/>
                </a:cxn>
                <a:cxn ang="0">
                  <a:pos x="14" y="25"/>
                </a:cxn>
                <a:cxn ang="0">
                  <a:pos x="8" y="23"/>
                </a:cxn>
                <a:cxn ang="0">
                  <a:pos x="18" y="19"/>
                </a:cxn>
                <a:cxn ang="0">
                  <a:pos x="8" y="15"/>
                </a:cxn>
                <a:cxn ang="0">
                  <a:pos x="8" y="12"/>
                </a:cxn>
                <a:cxn ang="0">
                  <a:pos x="2" y="11"/>
                </a:cxn>
                <a:cxn ang="0">
                  <a:pos x="1" y="8"/>
                </a:cxn>
                <a:cxn ang="0">
                  <a:pos x="8" y="3"/>
                </a:cxn>
                <a:cxn ang="0">
                  <a:pos x="5" y="5"/>
                </a:cxn>
                <a:cxn ang="0">
                  <a:pos x="0" y="0"/>
                </a:cxn>
                <a:cxn ang="0">
                  <a:pos x="14" y="2"/>
                </a:cxn>
                <a:cxn ang="0">
                  <a:pos x="30" y="6"/>
                </a:cxn>
                <a:cxn ang="0">
                  <a:pos x="34" y="14"/>
                </a:cxn>
                <a:cxn ang="0">
                  <a:pos x="41" y="25"/>
                </a:cxn>
                <a:cxn ang="0">
                  <a:pos x="42" y="37"/>
                </a:cxn>
                <a:cxn ang="0">
                  <a:pos x="43" y="41"/>
                </a:cxn>
                <a:cxn ang="0">
                  <a:pos x="22" y="35"/>
                </a:cxn>
                <a:cxn ang="0">
                  <a:pos x="30" y="27"/>
                </a:cxn>
              </a:cxnLst>
              <a:rect l="0" t="0" r="r" b="b"/>
              <a:pathLst>
                <a:path w="43" h="41">
                  <a:moveTo>
                    <a:pt x="30" y="27"/>
                  </a:moveTo>
                  <a:lnTo>
                    <a:pt x="28" y="30"/>
                  </a:lnTo>
                  <a:lnTo>
                    <a:pt x="16" y="29"/>
                  </a:lnTo>
                  <a:lnTo>
                    <a:pt x="19" y="26"/>
                  </a:lnTo>
                  <a:lnTo>
                    <a:pt x="14" y="25"/>
                  </a:lnTo>
                  <a:lnTo>
                    <a:pt x="8" y="23"/>
                  </a:lnTo>
                  <a:lnTo>
                    <a:pt x="18" y="19"/>
                  </a:lnTo>
                  <a:lnTo>
                    <a:pt x="8" y="15"/>
                  </a:lnTo>
                  <a:lnTo>
                    <a:pt x="8" y="12"/>
                  </a:lnTo>
                  <a:lnTo>
                    <a:pt x="2" y="11"/>
                  </a:lnTo>
                  <a:lnTo>
                    <a:pt x="1" y="8"/>
                  </a:lnTo>
                  <a:lnTo>
                    <a:pt x="8" y="3"/>
                  </a:lnTo>
                  <a:lnTo>
                    <a:pt x="5" y="5"/>
                  </a:lnTo>
                  <a:lnTo>
                    <a:pt x="0" y="0"/>
                  </a:lnTo>
                  <a:lnTo>
                    <a:pt x="14" y="2"/>
                  </a:lnTo>
                  <a:lnTo>
                    <a:pt x="30" y="6"/>
                  </a:lnTo>
                  <a:lnTo>
                    <a:pt x="34" y="14"/>
                  </a:lnTo>
                  <a:lnTo>
                    <a:pt x="41" y="25"/>
                  </a:lnTo>
                  <a:lnTo>
                    <a:pt x="42" y="37"/>
                  </a:lnTo>
                  <a:lnTo>
                    <a:pt x="43" y="41"/>
                  </a:lnTo>
                  <a:lnTo>
                    <a:pt x="22" y="35"/>
                  </a:lnTo>
                  <a:lnTo>
                    <a:pt x="30" y="2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6" name="Freeform 405"/>
            <p:cNvSpPr>
              <a:spLocks/>
            </p:cNvSpPr>
            <p:nvPr/>
          </p:nvSpPr>
          <p:spPr bwMode="auto">
            <a:xfrm>
              <a:off x="1100" y="1230"/>
              <a:ext cx="111" cy="24"/>
            </a:xfrm>
            <a:custGeom>
              <a:avLst/>
              <a:gdLst/>
              <a:ahLst/>
              <a:cxnLst>
                <a:cxn ang="0">
                  <a:pos x="60" y="12"/>
                </a:cxn>
                <a:cxn ang="0">
                  <a:pos x="63" y="9"/>
                </a:cxn>
                <a:cxn ang="0">
                  <a:pos x="49" y="13"/>
                </a:cxn>
                <a:cxn ang="0">
                  <a:pos x="39" y="17"/>
                </a:cxn>
                <a:cxn ang="0">
                  <a:pos x="36" y="15"/>
                </a:cxn>
                <a:cxn ang="0">
                  <a:pos x="29" y="20"/>
                </a:cxn>
                <a:cxn ang="0">
                  <a:pos x="19" y="21"/>
                </a:cxn>
                <a:cxn ang="0">
                  <a:pos x="19" y="18"/>
                </a:cxn>
                <a:cxn ang="0">
                  <a:pos x="11" y="20"/>
                </a:cxn>
                <a:cxn ang="0">
                  <a:pos x="0" y="19"/>
                </a:cxn>
                <a:cxn ang="0">
                  <a:pos x="6" y="15"/>
                </a:cxn>
                <a:cxn ang="0">
                  <a:pos x="43" y="7"/>
                </a:cxn>
                <a:cxn ang="0">
                  <a:pos x="69" y="1"/>
                </a:cxn>
                <a:cxn ang="0">
                  <a:pos x="85" y="0"/>
                </a:cxn>
                <a:cxn ang="0">
                  <a:pos x="101" y="2"/>
                </a:cxn>
                <a:cxn ang="0">
                  <a:pos x="87" y="6"/>
                </a:cxn>
                <a:cxn ang="0">
                  <a:pos x="89" y="7"/>
                </a:cxn>
                <a:cxn ang="0">
                  <a:pos x="85" y="8"/>
                </a:cxn>
                <a:cxn ang="0">
                  <a:pos x="69" y="12"/>
                </a:cxn>
                <a:cxn ang="0">
                  <a:pos x="60" y="17"/>
                </a:cxn>
                <a:cxn ang="0">
                  <a:pos x="60" y="12"/>
                </a:cxn>
              </a:cxnLst>
              <a:rect l="0" t="0" r="r" b="b"/>
              <a:pathLst>
                <a:path w="101" h="21">
                  <a:moveTo>
                    <a:pt x="60" y="12"/>
                  </a:moveTo>
                  <a:lnTo>
                    <a:pt x="63" y="9"/>
                  </a:lnTo>
                  <a:lnTo>
                    <a:pt x="49" y="13"/>
                  </a:lnTo>
                  <a:lnTo>
                    <a:pt x="39" y="17"/>
                  </a:lnTo>
                  <a:lnTo>
                    <a:pt x="36" y="15"/>
                  </a:lnTo>
                  <a:lnTo>
                    <a:pt x="29" y="20"/>
                  </a:lnTo>
                  <a:lnTo>
                    <a:pt x="19" y="21"/>
                  </a:lnTo>
                  <a:lnTo>
                    <a:pt x="19" y="18"/>
                  </a:lnTo>
                  <a:lnTo>
                    <a:pt x="11" y="20"/>
                  </a:lnTo>
                  <a:lnTo>
                    <a:pt x="0" y="19"/>
                  </a:lnTo>
                  <a:lnTo>
                    <a:pt x="6" y="15"/>
                  </a:lnTo>
                  <a:lnTo>
                    <a:pt x="43" y="7"/>
                  </a:lnTo>
                  <a:lnTo>
                    <a:pt x="69" y="1"/>
                  </a:lnTo>
                  <a:lnTo>
                    <a:pt x="85" y="0"/>
                  </a:lnTo>
                  <a:lnTo>
                    <a:pt x="101" y="2"/>
                  </a:lnTo>
                  <a:lnTo>
                    <a:pt x="87" y="6"/>
                  </a:lnTo>
                  <a:lnTo>
                    <a:pt x="89" y="7"/>
                  </a:lnTo>
                  <a:lnTo>
                    <a:pt x="85" y="8"/>
                  </a:lnTo>
                  <a:lnTo>
                    <a:pt x="69" y="12"/>
                  </a:lnTo>
                  <a:lnTo>
                    <a:pt x="60" y="17"/>
                  </a:lnTo>
                  <a:lnTo>
                    <a:pt x="60"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7" name="Freeform 406"/>
            <p:cNvSpPr>
              <a:spLocks/>
            </p:cNvSpPr>
            <p:nvPr/>
          </p:nvSpPr>
          <p:spPr bwMode="auto">
            <a:xfrm>
              <a:off x="1327" y="1243"/>
              <a:ext cx="67" cy="25"/>
            </a:xfrm>
            <a:custGeom>
              <a:avLst/>
              <a:gdLst/>
              <a:ahLst/>
              <a:cxnLst>
                <a:cxn ang="0">
                  <a:pos x="29" y="7"/>
                </a:cxn>
                <a:cxn ang="0">
                  <a:pos x="19" y="4"/>
                </a:cxn>
                <a:cxn ang="0">
                  <a:pos x="23" y="6"/>
                </a:cxn>
                <a:cxn ang="0">
                  <a:pos x="16" y="7"/>
                </a:cxn>
                <a:cxn ang="0">
                  <a:pos x="16" y="9"/>
                </a:cxn>
                <a:cxn ang="0">
                  <a:pos x="15" y="10"/>
                </a:cxn>
                <a:cxn ang="0">
                  <a:pos x="0" y="13"/>
                </a:cxn>
                <a:cxn ang="0">
                  <a:pos x="40" y="13"/>
                </a:cxn>
                <a:cxn ang="0">
                  <a:pos x="16" y="18"/>
                </a:cxn>
                <a:cxn ang="0">
                  <a:pos x="15" y="19"/>
                </a:cxn>
                <a:cxn ang="0">
                  <a:pos x="39" y="21"/>
                </a:cxn>
                <a:cxn ang="0">
                  <a:pos x="41" y="19"/>
                </a:cxn>
                <a:cxn ang="0">
                  <a:pos x="45" y="16"/>
                </a:cxn>
                <a:cxn ang="0">
                  <a:pos x="53" y="16"/>
                </a:cxn>
                <a:cxn ang="0">
                  <a:pos x="55" y="13"/>
                </a:cxn>
                <a:cxn ang="0">
                  <a:pos x="51" y="12"/>
                </a:cxn>
                <a:cxn ang="0">
                  <a:pos x="61" y="4"/>
                </a:cxn>
                <a:cxn ang="0">
                  <a:pos x="59" y="0"/>
                </a:cxn>
                <a:cxn ang="0">
                  <a:pos x="49" y="2"/>
                </a:cxn>
                <a:cxn ang="0">
                  <a:pos x="31" y="2"/>
                </a:cxn>
                <a:cxn ang="0">
                  <a:pos x="39" y="7"/>
                </a:cxn>
                <a:cxn ang="0">
                  <a:pos x="33" y="8"/>
                </a:cxn>
                <a:cxn ang="0">
                  <a:pos x="29" y="7"/>
                </a:cxn>
              </a:cxnLst>
              <a:rect l="0" t="0" r="r" b="b"/>
              <a:pathLst>
                <a:path w="61" h="21">
                  <a:moveTo>
                    <a:pt x="29" y="7"/>
                  </a:moveTo>
                  <a:lnTo>
                    <a:pt x="19" y="4"/>
                  </a:lnTo>
                  <a:lnTo>
                    <a:pt x="23" y="6"/>
                  </a:lnTo>
                  <a:lnTo>
                    <a:pt x="16" y="7"/>
                  </a:lnTo>
                  <a:lnTo>
                    <a:pt x="16" y="9"/>
                  </a:lnTo>
                  <a:lnTo>
                    <a:pt x="15" y="10"/>
                  </a:lnTo>
                  <a:lnTo>
                    <a:pt x="0" y="13"/>
                  </a:lnTo>
                  <a:lnTo>
                    <a:pt x="40" y="13"/>
                  </a:lnTo>
                  <a:lnTo>
                    <a:pt x="16" y="18"/>
                  </a:lnTo>
                  <a:lnTo>
                    <a:pt x="15" y="19"/>
                  </a:lnTo>
                  <a:lnTo>
                    <a:pt x="39" y="21"/>
                  </a:lnTo>
                  <a:lnTo>
                    <a:pt x="41" y="19"/>
                  </a:lnTo>
                  <a:lnTo>
                    <a:pt x="45" y="16"/>
                  </a:lnTo>
                  <a:lnTo>
                    <a:pt x="53" y="16"/>
                  </a:lnTo>
                  <a:lnTo>
                    <a:pt x="55" y="13"/>
                  </a:lnTo>
                  <a:lnTo>
                    <a:pt x="51" y="12"/>
                  </a:lnTo>
                  <a:lnTo>
                    <a:pt x="61" y="4"/>
                  </a:lnTo>
                  <a:lnTo>
                    <a:pt x="59" y="0"/>
                  </a:lnTo>
                  <a:lnTo>
                    <a:pt x="49" y="2"/>
                  </a:lnTo>
                  <a:lnTo>
                    <a:pt x="31" y="2"/>
                  </a:lnTo>
                  <a:lnTo>
                    <a:pt x="39" y="7"/>
                  </a:lnTo>
                  <a:lnTo>
                    <a:pt x="33" y="8"/>
                  </a:lnTo>
                  <a:lnTo>
                    <a:pt x="29"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8" name="Freeform 407"/>
            <p:cNvSpPr>
              <a:spLocks/>
            </p:cNvSpPr>
            <p:nvPr/>
          </p:nvSpPr>
          <p:spPr bwMode="auto">
            <a:xfrm>
              <a:off x="1351" y="1205"/>
              <a:ext cx="63" cy="23"/>
            </a:xfrm>
            <a:custGeom>
              <a:avLst/>
              <a:gdLst/>
              <a:ahLst/>
              <a:cxnLst>
                <a:cxn ang="0">
                  <a:pos x="35" y="4"/>
                </a:cxn>
                <a:cxn ang="0">
                  <a:pos x="36" y="2"/>
                </a:cxn>
                <a:cxn ang="0">
                  <a:pos x="49" y="4"/>
                </a:cxn>
                <a:cxn ang="0">
                  <a:pos x="54" y="5"/>
                </a:cxn>
                <a:cxn ang="0">
                  <a:pos x="52" y="10"/>
                </a:cxn>
                <a:cxn ang="0">
                  <a:pos x="55" y="16"/>
                </a:cxn>
                <a:cxn ang="0">
                  <a:pos x="41" y="19"/>
                </a:cxn>
                <a:cxn ang="0">
                  <a:pos x="26" y="12"/>
                </a:cxn>
                <a:cxn ang="0">
                  <a:pos x="0" y="11"/>
                </a:cxn>
                <a:cxn ang="0">
                  <a:pos x="6" y="8"/>
                </a:cxn>
                <a:cxn ang="0">
                  <a:pos x="19" y="7"/>
                </a:cxn>
                <a:cxn ang="0">
                  <a:pos x="18" y="4"/>
                </a:cxn>
                <a:cxn ang="0">
                  <a:pos x="10" y="4"/>
                </a:cxn>
                <a:cxn ang="0">
                  <a:pos x="6" y="0"/>
                </a:cxn>
                <a:cxn ang="0">
                  <a:pos x="35" y="0"/>
                </a:cxn>
                <a:cxn ang="0">
                  <a:pos x="35" y="4"/>
                </a:cxn>
              </a:cxnLst>
              <a:rect l="0" t="0" r="r" b="b"/>
              <a:pathLst>
                <a:path w="55" h="19">
                  <a:moveTo>
                    <a:pt x="35" y="4"/>
                  </a:moveTo>
                  <a:lnTo>
                    <a:pt x="36" y="2"/>
                  </a:lnTo>
                  <a:lnTo>
                    <a:pt x="49" y="4"/>
                  </a:lnTo>
                  <a:lnTo>
                    <a:pt x="54" y="5"/>
                  </a:lnTo>
                  <a:lnTo>
                    <a:pt x="52" y="10"/>
                  </a:lnTo>
                  <a:lnTo>
                    <a:pt x="55" y="16"/>
                  </a:lnTo>
                  <a:lnTo>
                    <a:pt x="41" y="19"/>
                  </a:lnTo>
                  <a:lnTo>
                    <a:pt x="26" y="12"/>
                  </a:lnTo>
                  <a:lnTo>
                    <a:pt x="0" y="11"/>
                  </a:lnTo>
                  <a:lnTo>
                    <a:pt x="6" y="8"/>
                  </a:lnTo>
                  <a:lnTo>
                    <a:pt x="19" y="7"/>
                  </a:lnTo>
                  <a:lnTo>
                    <a:pt x="18" y="4"/>
                  </a:lnTo>
                  <a:lnTo>
                    <a:pt x="10" y="4"/>
                  </a:lnTo>
                  <a:lnTo>
                    <a:pt x="6" y="0"/>
                  </a:lnTo>
                  <a:lnTo>
                    <a:pt x="35" y="0"/>
                  </a:lnTo>
                  <a:lnTo>
                    <a:pt x="35"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09" name="Freeform 408"/>
            <p:cNvSpPr>
              <a:spLocks/>
            </p:cNvSpPr>
            <p:nvPr/>
          </p:nvSpPr>
          <p:spPr bwMode="auto">
            <a:xfrm>
              <a:off x="1256" y="1350"/>
              <a:ext cx="53" cy="24"/>
            </a:xfrm>
            <a:custGeom>
              <a:avLst/>
              <a:gdLst/>
              <a:ahLst/>
              <a:cxnLst>
                <a:cxn ang="0">
                  <a:pos x="42" y="12"/>
                </a:cxn>
                <a:cxn ang="0">
                  <a:pos x="43" y="9"/>
                </a:cxn>
                <a:cxn ang="0">
                  <a:pos x="30" y="0"/>
                </a:cxn>
                <a:cxn ang="0">
                  <a:pos x="22" y="6"/>
                </a:cxn>
                <a:cxn ang="0">
                  <a:pos x="21" y="4"/>
                </a:cxn>
                <a:cxn ang="0">
                  <a:pos x="18" y="9"/>
                </a:cxn>
                <a:cxn ang="0">
                  <a:pos x="0" y="14"/>
                </a:cxn>
                <a:cxn ang="0">
                  <a:pos x="28" y="22"/>
                </a:cxn>
                <a:cxn ang="0">
                  <a:pos x="49" y="16"/>
                </a:cxn>
                <a:cxn ang="0">
                  <a:pos x="43" y="16"/>
                </a:cxn>
                <a:cxn ang="0">
                  <a:pos x="42" y="12"/>
                </a:cxn>
              </a:cxnLst>
              <a:rect l="0" t="0" r="r" b="b"/>
              <a:pathLst>
                <a:path w="49" h="22">
                  <a:moveTo>
                    <a:pt x="42" y="12"/>
                  </a:moveTo>
                  <a:lnTo>
                    <a:pt x="43" y="9"/>
                  </a:lnTo>
                  <a:lnTo>
                    <a:pt x="30" y="0"/>
                  </a:lnTo>
                  <a:lnTo>
                    <a:pt x="22" y="6"/>
                  </a:lnTo>
                  <a:lnTo>
                    <a:pt x="21" y="4"/>
                  </a:lnTo>
                  <a:lnTo>
                    <a:pt x="18" y="9"/>
                  </a:lnTo>
                  <a:lnTo>
                    <a:pt x="0" y="14"/>
                  </a:lnTo>
                  <a:lnTo>
                    <a:pt x="28" y="22"/>
                  </a:lnTo>
                  <a:lnTo>
                    <a:pt x="49" y="16"/>
                  </a:lnTo>
                  <a:lnTo>
                    <a:pt x="43" y="16"/>
                  </a:lnTo>
                  <a:lnTo>
                    <a:pt x="42"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0" name="Freeform 409"/>
            <p:cNvSpPr>
              <a:spLocks/>
            </p:cNvSpPr>
            <p:nvPr/>
          </p:nvSpPr>
          <p:spPr bwMode="auto">
            <a:xfrm>
              <a:off x="1549" y="1290"/>
              <a:ext cx="53" cy="13"/>
            </a:xfrm>
            <a:custGeom>
              <a:avLst/>
              <a:gdLst/>
              <a:ahLst/>
              <a:cxnLst>
                <a:cxn ang="0">
                  <a:pos x="33" y="0"/>
                </a:cxn>
                <a:cxn ang="0">
                  <a:pos x="2" y="0"/>
                </a:cxn>
                <a:cxn ang="0">
                  <a:pos x="0" y="4"/>
                </a:cxn>
                <a:cxn ang="0">
                  <a:pos x="5" y="8"/>
                </a:cxn>
                <a:cxn ang="0">
                  <a:pos x="9" y="13"/>
                </a:cxn>
                <a:cxn ang="0">
                  <a:pos x="48" y="10"/>
                </a:cxn>
                <a:cxn ang="0">
                  <a:pos x="33" y="0"/>
                </a:cxn>
              </a:cxnLst>
              <a:rect l="0" t="0" r="r" b="b"/>
              <a:pathLst>
                <a:path w="48" h="13">
                  <a:moveTo>
                    <a:pt x="33" y="0"/>
                  </a:moveTo>
                  <a:lnTo>
                    <a:pt x="2" y="0"/>
                  </a:lnTo>
                  <a:lnTo>
                    <a:pt x="0" y="4"/>
                  </a:lnTo>
                  <a:lnTo>
                    <a:pt x="5" y="8"/>
                  </a:lnTo>
                  <a:lnTo>
                    <a:pt x="9" y="13"/>
                  </a:lnTo>
                  <a:lnTo>
                    <a:pt x="48" y="10"/>
                  </a:lnTo>
                  <a:lnTo>
                    <a:pt x="33"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1" name="Freeform 410"/>
            <p:cNvSpPr>
              <a:spLocks/>
            </p:cNvSpPr>
            <p:nvPr/>
          </p:nvSpPr>
          <p:spPr bwMode="auto">
            <a:xfrm>
              <a:off x="1527" y="1376"/>
              <a:ext cx="33" cy="20"/>
            </a:xfrm>
            <a:custGeom>
              <a:avLst/>
              <a:gdLst/>
              <a:ahLst/>
              <a:cxnLst>
                <a:cxn ang="0">
                  <a:pos x="27" y="11"/>
                </a:cxn>
                <a:cxn ang="0">
                  <a:pos x="4" y="17"/>
                </a:cxn>
                <a:cxn ang="0">
                  <a:pos x="0" y="8"/>
                </a:cxn>
                <a:cxn ang="0">
                  <a:pos x="19" y="0"/>
                </a:cxn>
                <a:cxn ang="0">
                  <a:pos x="30" y="3"/>
                </a:cxn>
                <a:cxn ang="0">
                  <a:pos x="27" y="11"/>
                </a:cxn>
              </a:cxnLst>
              <a:rect l="0" t="0" r="r" b="b"/>
              <a:pathLst>
                <a:path w="30" h="17">
                  <a:moveTo>
                    <a:pt x="27" y="11"/>
                  </a:moveTo>
                  <a:lnTo>
                    <a:pt x="4" y="17"/>
                  </a:lnTo>
                  <a:lnTo>
                    <a:pt x="0" y="8"/>
                  </a:lnTo>
                  <a:lnTo>
                    <a:pt x="19" y="0"/>
                  </a:lnTo>
                  <a:lnTo>
                    <a:pt x="30" y="3"/>
                  </a:lnTo>
                  <a:lnTo>
                    <a:pt x="27"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2" name="Freeform 411"/>
            <p:cNvSpPr>
              <a:spLocks/>
            </p:cNvSpPr>
            <p:nvPr/>
          </p:nvSpPr>
          <p:spPr bwMode="auto">
            <a:xfrm>
              <a:off x="1427" y="1212"/>
              <a:ext cx="38" cy="16"/>
            </a:xfrm>
            <a:custGeom>
              <a:avLst/>
              <a:gdLst/>
              <a:ahLst/>
              <a:cxnLst>
                <a:cxn ang="0">
                  <a:pos x="0" y="6"/>
                </a:cxn>
                <a:cxn ang="0">
                  <a:pos x="4" y="0"/>
                </a:cxn>
                <a:cxn ang="0">
                  <a:pos x="34" y="5"/>
                </a:cxn>
                <a:cxn ang="0">
                  <a:pos x="29" y="8"/>
                </a:cxn>
                <a:cxn ang="0">
                  <a:pos x="4" y="13"/>
                </a:cxn>
                <a:cxn ang="0">
                  <a:pos x="0" y="8"/>
                </a:cxn>
                <a:cxn ang="0">
                  <a:pos x="0" y="6"/>
                </a:cxn>
              </a:cxnLst>
              <a:rect l="0" t="0" r="r" b="b"/>
              <a:pathLst>
                <a:path w="34" h="13">
                  <a:moveTo>
                    <a:pt x="0" y="6"/>
                  </a:moveTo>
                  <a:lnTo>
                    <a:pt x="4" y="0"/>
                  </a:lnTo>
                  <a:lnTo>
                    <a:pt x="34" y="5"/>
                  </a:lnTo>
                  <a:lnTo>
                    <a:pt x="29" y="8"/>
                  </a:lnTo>
                  <a:lnTo>
                    <a:pt x="4" y="13"/>
                  </a:lnTo>
                  <a:lnTo>
                    <a:pt x="0" y="8"/>
                  </a:lnTo>
                  <a:lnTo>
                    <a:pt x="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3" name="Freeform 412"/>
            <p:cNvSpPr>
              <a:spLocks/>
            </p:cNvSpPr>
            <p:nvPr/>
          </p:nvSpPr>
          <p:spPr bwMode="auto">
            <a:xfrm>
              <a:off x="1385" y="1259"/>
              <a:ext cx="37" cy="11"/>
            </a:xfrm>
            <a:custGeom>
              <a:avLst/>
              <a:gdLst/>
              <a:ahLst/>
              <a:cxnLst>
                <a:cxn ang="0">
                  <a:pos x="10" y="11"/>
                </a:cxn>
                <a:cxn ang="0">
                  <a:pos x="0" y="8"/>
                </a:cxn>
                <a:cxn ang="0">
                  <a:pos x="26" y="0"/>
                </a:cxn>
                <a:cxn ang="0">
                  <a:pos x="35" y="7"/>
                </a:cxn>
                <a:cxn ang="0">
                  <a:pos x="31" y="11"/>
                </a:cxn>
                <a:cxn ang="0">
                  <a:pos x="10" y="11"/>
                </a:cxn>
              </a:cxnLst>
              <a:rect l="0" t="0" r="r" b="b"/>
              <a:pathLst>
                <a:path w="35" h="11">
                  <a:moveTo>
                    <a:pt x="10" y="11"/>
                  </a:moveTo>
                  <a:lnTo>
                    <a:pt x="0" y="8"/>
                  </a:lnTo>
                  <a:lnTo>
                    <a:pt x="26" y="0"/>
                  </a:lnTo>
                  <a:lnTo>
                    <a:pt x="35" y="7"/>
                  </a:lnTo>
                  <a:lnTo>
                    <a:pt x="31" y="11"/>
                  </a:lnTo>
                  <a:lnTo>
                    <a:pt x="10" y="1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4" name="Freeform 413"/>
            <p:cNvSpPr>
              <a:spLocks/>
            </p:cNvSpPr>
            <p:nvPr/>
          </p:nvSpPr>
          <p:spPr bwMode="auto">
            <a:xfrm>
              <a:off x="1236" y="1288"/>
              <a:ext cx="31" cy="13"/>
            </a:xfrm>
            <a:custGeom>
              <a:avLst/>
              <a:gdLst/>
              <a:ahLst/>
              <a:cxnLst>
                <a:cxn ang="0">
                  <a:pos x="8" y="12"/>
                </a:cxn>
                <a:cxn ang="0">
                  <a:pos x="0" y="4"/>
                </a:cxn>
                <a:cxn ang="0">
                  <a:pos x="24" y="0"/>
                </a:cxn>
                <a:cxn ang="0">
                  <a:pos x="28" y="3"/>
                </a:cxn>
                <a:cxn ang="0">
                  <a:pos x="8" y="12"/>
                </a:cxn>
              </a:cxnLst>
              <a:rect l="0" t="0" r="r" b="b"/>
              <a:pathLst>
                <a:path w="28" h="12">
                  <a:moveTo>
                    <a:pt x="8" y="12"/>
                  </a:moveTo>
                  <a:lnTo>
                    <a:pt x="0" y="4"/>
                  </a:lnTo>
                  <a:lnTo>
                    <a:pt x="24" y="0"/>
                  </a:lnTo>
                  <a:lnTo>
                    <a:pt x="28" y="3"/>
                  </a:lnTo>
                  <a:lnTo>
                    <a:pt x="8" y="1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5" name="Freeform 414"/>
            <p:cNvSpPr>
              <a:spLocks/>
            </p:cNvSpPr>
            <p:nvPr/>
          </p:nvSpPr>
          <p:spPr bwMode="auto">
            <a:xfrm>
              <a:off x="1711" y="1152"/>
              <a:ext cx="691" cy="371"/>
            </a:xfrm>
            <a:custGeom>
              <a:avLst/>
              <a:gdLst/>
              <a:ahLst/>
              <a:cxnLst>
                <a:cxn ang="0">
                  <a:pos x="106" y="264"/>
                </a:cxn>
                <a:cxn ang="0">
                  <a:pos x="126" y="259"/>
                </a:cxn>
                <a:cxn ang="0">
                  <a:pos x="110" y="276"/>
                </a:cxn>
                <a:cxn ang="0">
                  <a:pos x="119" y="287"/>
                </a:cxn>
                <a:cxn ang="0">
                  <a:pos x="126" y="304"/>
                </a:cxn>
                <a:cxn ang="0">
                  <a:pos x="131" y="311"/>
                </a:cxn>
                <a:cxn ang="0">
                  <a:pos x="140" y="320"/>
                </a:cxn>
                <a:cxn ang="0">
                  <a:pos x="162" y="324"/>
                </a:cxn>
                <a:cxn ang="0">
                  <a:pos x="170" y="334"/>
                </a:cxn>
                <a:cxn ang="0">
                  <a:pos x="197" y="324"/>
                </a:cxn>
                <a:cxn ang="0">
                  <a:pos x="202" y="314"/>
                </a:cxn>
                <a:cxn ang="0">
                  <a:pos x="214" y="300"/>
                </a:cxn>
                <a:cxn ang="0">
                  <a:pos x="223" y="282"/>
                </a:cxn>
                <a:cxn ang="0">
                  <a:pos x="234" y="272"/>
                </a:cxn>
                <a:cxn ang="0">
                  <a:pos x="257" y="246"/>
                </a:cxn>
                <a:cxn ang="0">
                  <a:pos x="288" y="239"/>
                </a:cxn>
                <a:cxn ang="0">
                  <a:pos x="343" y="217"/>
                </a:cxn>
                <a:cxn ang="0">
                  <a:pos x="394" y="204"/>
                </a:cxn>
                <a:cxn ang="0">
                  <a:pos x="482" y="175"/>
                </a:cxn>
                <a:cxn ang="0">
                  <a:pos x="424" y="162"/>
                </a:cxn>
                <a:cxn ang="0">
                  <a:pos x="424" y="146"/>
                </a:cxn>
                <a:cxn ang="0">
                  <a:pos x="492" y="168"/>
                </a:cxn>
                <a:cxn ang="0">
                  <a:pos x="486" y="148"/>
                </a:cxn>
                <a:cxn ang="0">
                  <a:pos x="440" y="136"/>
                </a:cxn>
                <a:cxn ang="0">
                  <a:pos x="460" y="127"/>
                </a:cxn>
                <a:cxn ang="0">
                  <a:pos x="499" y="128"/>
                </a:cxn>
                <a:cxn ang="0">
                  <a:pos x="532" y="113"/>
                </a:cxn>
                <a:cxn ang="0">
                  <a:pos x="505" y="95"/>
                </a:cxn>
                <a:cxn ang="0">
                  <a:pos x="509" y="85"/>
                </a:cxn>
                <a:cxn ang="0">
                  <a:pos x="544" y="68"/>
                </a:cxn>
                <a:cxn ang="0">
                  <a:pos x="540" y="48"/>
                </a:cxn>
                <a:cxn ang="0">
                  <a:pos x="580" y="31"/>
                </a:cxn>
                <a:cxn ang="0">
                  <a:pos x="545" y="22"/>
                </a:cxn>
                <a:cxn ang="0">
                  <a:pos x="479" y="23"/>
                </a:cxn>
                <a:cxn ang="0">
                  <a:pos x="503" y="7"/>
                </a:cxn>
                <a:cxn ang="0">
                  <a:pos x="383" y="4"/>
                </a:cxn>
                <a:cxn ang="0">
                  <a:pos x="342" y="7"/>
                </a:cxn>
                <a:cxn ang="0">
                  <a:pos x="314" y="16"/>
                </a:cxn>
                <a:cxn ang="0">
                  <a:pos x="221" y="20"/>
                </a:cxn>
                <a:cxn ang="0">
                  <a:pos x="148" y="24"/>
                </a:cxn>
                <a:cxn ang="0">
                  <a:pos x="95" y="41"/>
                </a:cxn>
                <a:cxn ang="0">
                  <a:pos x="19" y="68"/>
                </a:cxn>
                <a:cxn ang="0">
                  <a:pos x="38" y="74"/>
                </a:cxn>
                <a:cxn ang="0">
                  <a:pos x="42" y="89"/>
                </a:cxn>
                <a:cxn ang="0">
                  <a:pos x="132" y="109"/>
                </a:cxn>
                <a:cxn ang="0">
                  <a:pos x="136" y="132"/>
                </a:cxn>
                <a:cxn ang="0">
                  <a:pos x="136" y="152"/>
                </a:cxn>
                <a:cxn ang="0">
                  <a:pos x="160" y="155"/>
                </a:cxn>
                <a:cxn ang="0">
                  <a:pos x="162" y="164"/>
                </a:cxn>
                <a:cxn ang="0">
                  <a:pos x="158" y="184"/>
                </a:cxn>
                <a:cxn ang="0">
                  <a:pos x="152" y="194"/>
                </a:cxn>
                <a:cxn ang="0">
                  <a:pos x="125" y="204"/>
                </a:cxn>
                <a:cxn ang="0">
                  <a:pos x="137" y="210"/>
                </a:cxn>
                <a:cxn ang="0">
                  <a:pos x="126" y="211"/>
                </a:cxn>
                <a:cxn ang="0">
                  <a:pos x="119" y="223"/>
                </a:cxn>
                <a:cxn ang="0">
                  <a:pos x="124" y="228"/>
                </a:cxn>
                <a:cxn ang="0">
                  <a:pos x="104" y="241"/>
                </a:cxn>
              </a:cxnLst>
              <a:rect l="0" t="0" r="r" b="b"/>
              <a:pathLst>
                <a:path w="622" h="334">
                  <a:moveTo>
                    <a:pt x="131" y="242"/>
                  </a:moveTo>
                  <a:lnTo>
                    <a:pt x="115" y="246"/>
                  </a:lnTo>
                  <a:lnTo>
                    <a:pt x="109" y="251"/>
                  </a:lnTo>
                  <a:lnTo>
                    <a:pt x="108" y="254"/>
                  </a:lnTo>
                  <a:lnTo>
                    <a:pt x="119" y="253"/>
                  </a:lnTo>
                  <a:lnTo>
                    <a:pt x="113" y="256"/>
                  </a:lnTo>
                  <a:lnTo>
                    <a:pt x="106" y="264"/>
                  </a:lnTo>
                  <a:lnTo>
                    <a:pt x="115" y="262"/>
                  </a:lnTo>
                  <a:lnTo>
                    <a:pt x="122" y="258"/>
                  </a:lnTo>
                  <a:lnTo>
                    <a:pt x="125" y="250"/>
                  </a:lnTo>
                  <a:lnTo>
                    <a:pt x="127" y="254"/>
                  </a:lnTo>
                  <a:lnTo>
                    <a:pt x="132" y="256"/>
                  </a:lnTo>
                  <a:lnTo>
                    <a:pt x="134" y="263"/>
                  </a:lnTo>
                  <a:lnTo>
                    <a:pt x="126" y="259"/>
                  </a:lnTo>
                  <a:lnTo>
                    <a:pt x="127" y="263"/>
                  </a:lnTo>
                  <a:lnTo>
                    <a:pt x="113" y="266"/>
                  </a:lnTo>
                  <a:lnTo>
                    <a:pt x="125" y="265"/>
                  </a:lnTo>
                  <a:lnTo>
                    <a:pt x="128" y="265"/>
                  </a:lnTo>
                  <a:lnTo>
                    <a:pt x="109" y="269"/>
                  </a:lnTo>
                  <a:lnTo>
                    <a:pt x="115" y="271"/>
                  </a:lnTo>
                  <a:lnTo>
                    <a:pt x="110" y="276"/>
                  </a:lnTo>
                  <a:lnTo>
                    <a:pt x="116" y="275"/>
                  </a:lnTo>
                  <a:lnTo>
                    <a:pt x="113" y="277"/>
                  </a:lnTo>
                  <a:lnTo>
                    <a:pt x="112" y="278"/>
                  </a:lnTo>
                  <a:lnTo>
                    <a:pt x="119" y="280"/>
                  </a:lnTo>
                  <a:lnTo>
                    <a:pt x="112" y="281"/>
                  </a:lnTo>
                  <a:lnTo>
                    <a:pt x="120" y="283"/>
                  </a:lnTo>
                  <a:lnTo>
                    <a:pt x="119" y="287"/>
                  </a:lnTo>
                  <a:lnTo>
                    <a:pt x="124" y="286"/>
                  </a:lnTo>
                  <a:lnTo>
                    <a:pt x="120" y="289"/>
                  </a:lnTo>
                  <a:lnTo>
                    <a:pt x="118" y="292"/>
                  </a:lnTo>
                  <a:lnTo>
                    <a:pt x="124" y="298"/>
                  </a:lnTo>
                  <a:lnTo>
                    <a:pt x="122" y="300"/>
                  </a:lnTo>
                  <a:lnTo>
                    <a:pt x="128" y="300"/>
                  </a:lnTo>
                  <a:lnTo>
                    <a:pt x="126" y="304"/>
                  </a:lnTo>
                  <a:lnTo>
                    <a:pt x="130" y="302"/>
                  </a:lnTo>
                  <a:lnTo>
                    <a:pt x="128" y="306"/>
                  </a:lnTo>
                  <a:lnTo>
                    <a:pt x="131" y="307"/>
                  </a:lnTo>
                  <a:lnTo>
                    <a:pt x="126" y="308"/>
                  </a:lnTo>
                  <a:lnTo>
                    <a:pt x="132" y="308"/>
                  </a:lnTo>
                  <a:lnTo>
                    <a:pt x="130" y="311"/>
                  </a:lnTo>
                  <a:lnTo>
                    <a:pt x="131" y="311"/>
                  </a:lnTo>
                  <a:lnTo>
                    <a:pt x="130" y="314"/>
                  </a:lnTo>
                  <a:lnTo>
                    <a:pt x="136" y="313"/>
                  </a:lnTo>
                  <a:lnTo>
                    <a:pt x="137" y="317"/>
                  </a:lnTo>
                  <a:lnTo>
                    <a:pt x="134" y="318"/>
                  </a:lnTo>
                  <a:lnTo>
                    <a:pt x="136" y="318"/>
                  </a:lnTo>
                  <a:lnTo>
                    <a:pt x="136" y="319"/>
                  </a:lnTo>
                  <a:lnTo>
                    <a:pt x="140" y="320"/>
                  </a:lnTo>
                  <a:lnTo>
                    <a:pt x="149" y="319"/>
                  </a:lnTo>
                  <a:lnTo>
                    <a:pt x="163" y="314"/>
                  </a:lnTo>
                  <a:lnTo>
                    <a:pt x="163" y="317"/>
                  </a:lnTo>
                  <a:lnTo>
                    <a:pt x="169" y="314"/>
                  </a:lnTo>
                  <a:lnTo>
                    <a:pt x="161" y="320"/>
                  </a:lnTo>
                  <a:lnTo>
                    <a:pt x="167" y="319"/>
                  </a:lnTo>
                  <a:lnTo>
                    <a:pt x="162" y="324"/>
                  </a:lnTo>
                  <a:lnTo>
                    <a:pt x="169" y="323"/>
                  </a:lnTo>
                  <a:lnTo>
                    <a:pt x="168" y="325"/>
                  </a:lnTo>
                  <a:lnTo>
                    <a:pt x="173" y="324"/>
                  </a:lnTo>
                  <a:lnTo>
                    <a:pt x="168" y="330"/>
                  </a:lnTo>
                  <a:lnTo>
                    <a:pt x="175" y="326"/>
                  </a:lnTo>
                  <a:lnTo>
                    <a:pt x="168" y="331"/>
                  </a:lnTo>
                  <a:lnTo>
                    <a:pt x="170" y="334"/>
                  </a:lnTo>
                  <a:lnTo>
                    <a:pt x="181" y="329"/>
                  </a:lnTo>
                  <a:lnTo>
                    <a:pt x="191" y="332"/>
                  </a:lnTo>
                  <a:lnTo>
                    <a:pt x="192" y="330"/>
                  </a:lnTo>
                  <a:lnTo>
                    <a:pt x="190" y="328"/>
                  </a:lnTo>
                  <a:lnTo>
                    <a:pt x="181" y="324"/>
                  </a:lnTo>
                  <a:lnTo>
                    <a:pt x="194" y="325"/>
                  </a:lnTo>
                  <a:lnTo>
                    <a:pt x="197" y="324"/>
                  </a:lnTo>
                  <a:lnTo>
                    <a:pt x="194" y="322"/>
                  </a:lnTo>
                  <a:lnTo>
                    <a:pt x="196" y="320"/>
                  </a:lnTo>
                  <a:lnTo>
                    <a:pt x="194" y="319"/>
                  </a:lnTo>
                  <a:lnTo>
                    <a:pt x="202" y="319"/>
                  </a:lnTo>
                  <a:lnTo>
                    <a:pt x="194" y="317"/>
                  </a:lnTo>
                  <a:lnTo>
                    <a:pt x="202" y="317"/>
                  </a:lnTo>
                  <a:lnTo>
                    <a:pt x="202" y="314"/>
                  </a:lnTo>
                  <a:lnTo>
                    <a:pt x="202" y="313"/>
                  </a:lnTo>
                  <a:lnTo>
                    <a:pt x="205" y="312"/>
                  </a:lnTo>
                  <a:lnTo>
                    <a:pt x="203" y="310"/>
                  </a:lnTo>
                  <a:lnTo>
                    <a:pt x="209" y="308"/>
                  </a:lnTo>
                  <a:lnTo>
                    <a:pt x="208" y="306"/>
                  </a:lnTo>
                  <a:lnTo>
                    <a:pt x="212" y="301"/>
                  </a:lnTo>
                  <a:lnTo>
                    <a:pt x="214" y="300"/>
                  </a:lnTo>
                  <a:lnTo>
                    <a:pt x="210" y="295"/>
                  </a:lnTo>
                  <a:lnTo>
                    <a:pt x="212" y="295"/>
                  </a:lnTo>
                  <a:lnTo>
                    <a:pt x="208" y="290"/>
                  </a:lnTo>
                  <a:lnTo>
                    <a:pt x="217" y="287"/>
                  </a:lnTo>
                  <a:lnTo>
                    <a:pt x="226" y="286"/>
                  </a:lnTo>
                  <a:lnTo>
                    <a:pt x="223" y="284"/>
                  </a:lnTo>
                  <a:lnTo>
                    <a:pt x="223" y="282"/>
                  </a:lnTo>
                  <a:lnTo>
                    <a:pt x="228" y="282"/>
                  </a:lnTo>
                  <a:lnTo>
                    <a:pt x="229" y="278"/>
                  </a:lnTo>
                  <a:lnTo>
                    <a:pt x="233" y="280"/>
                  </a:lnTo>
                  <a:lnTo>
                    <a:pt x="230" y="278"/>
                  </a:lnTo>
                  <a:lnTo>
                    <a:pt x="234" y="277"/>
                  </a:lnTo>
                  <a:lnTo>
                    <a:pt x="239" y="275"/>
                  </a:lnTo>
                  <a:lnTo>
                    <a:pt x="234" y="272"/>
                  </a:lnTo>
                  <a:lnTo>
                    <a:pt x="244" y="272"/>
                  </a:lnTo>
                  <a:lnTo>
                    <a:pt x="241" y="266"/>
                  </a:lnTo>
                  <a:lnTo>
                    <a:pt x="234" y="264"/>
                  </a:lnTo>
                  <a:lnTo>
                    <a:pt x="246" y="262"/>
                  </a:lnTo>
                  <a:lnTo>
                    <a:pt x="246" y="252"/>
                  </a:lnTo>
                  <a:lnTo>
                    <a:pt x="258" y="251"/>
                  </a:lnTo>
                  <a:lnTo>
                    <a:pt x="257" y="246"/>
                  </a:lnTo>
                  <a:lnTo>
                    <a:pt x="265" y="245"/>
                  </a:lnTo>
                  <a:lnTo>
                    <a:pt x="270" y="244"/>
                  </a:lnTo>
                  <a:lnTo>
                    <a:pt x="283" y="241"/>
                  </a:lnTo>
                  <a:lnTo>
                    <a:pt x="281" y="240"/>
                  </a:lnTo>
                  <a:lnTo>
                    <a:pt x="289" y="233"/>
                  </a:lnTo>
                  <a:lnTo>
                    <a:pt x="295" y="234"/>
                  </a:lnTo>
                  <a:lnTo>
                    <a:pt x="288" y="239"/>
                  </a:lnTo>
                  <a:lnTo>
                    <a:pt x="295" y="240"/>
                  </a:lnTo>
                  <a:lnTo>
                    <a:pt x="313" y="235"/>
                  </a:lnTo>
                  <a:lnTo>
                    <a:pt x="314" y="232"/>
                  </a:lnTo>
                  <a:lnTo>
                    <a:pt x="319" y="233"/>
                  </a:lnTo>
                  <a:lnTo>
                    <a:pt x="330" y="229"/>
                  </a:lnTo>
                  <a:lnTo>
                    <a:pt x="332" y="227"/>
                  </a:lnTo>
                  <a:lnTo>
                    <a:pt x="343" y="217"/>
                  </a:lnTo>
                  <a:lnTo>
                    <a:pt x="361" y="209"/>
                  </a:lnTo>
                  <a:lnTo>
                    <a:pt x="361" y="204"/>
                  </a:lnTo>
                  <a:lnTo>
                    <a:pt x="364" y="199"/>
                  </a:lnTo>
                  <a:lnTo>
                    <a:pt x="377" y="206"/>
                  </a:lnTo>
                  <a:lnTo>
                    <a:pt x="384" y="204"/>
                  </a:lnTo>
                  <a:lnTo>
                    <a:pt x="390" y="203"/>
                  </a:lnTo>
                  <a:lnTo>
                    <a:pt x="394" y="204"/>
                  </a:lnTo>
                  <a:lnTo>
                    <a:pt x="419" y="198"/>
                  </a:lnTo>
                  <a:lnTo>
                    <a:pt x="444" y="192"/>
                  </a:lnTo>
                  <a:lnTo>
                    <a:pt x="452" y="188"/>
                  </a:lnTo>
                  <a:lnTo>
                    <a:pt x="462" y="184"/>
                  </a:lnTo>
                  <a:lnTo>
                    <a:pt x="467" y="181"/>
                  </a:lnTo>
                  <a:lnTo>
                    <a:pt x="474" y="178"/>
                  </a:lnTo>
                  <a:lnTo>
                    <a:pt x="482" y="175"/>
                  </a:lnTo>
                  <a:lnTo>
                    <a:pt x="448" y="172"/>
                  </a:lnTo>
                  <a:lnTo>
                    <a:pt x="419" y="176"/>
                  </a:lnTo>
                  <a:lnTo>
                    <a:pt x="418" y="174"/>
                  </a:lnTo>
                  <a:lnTo>
                    <a:pt x="438" y="169"/>
                  </a:lnTo>
                  <a:lnTo>
                    <a:pt x="409" y="169"/>
                  </a:lnTo>
                  <a:lnTo>
                    <a:pt x="424" y="163"/>
                  </a:lnTo>
                  <a:lnTo>
                    <a:pt x="424" y="162"/>
                  </a:lnTo>
                  <a:lnTo>
                    <a:pt x="425" y="161"/>
                  </a:lnTo>
                  <a:lnTo>
                    <a:pt x="451" y="160"/>
                  </a:lnTo>
                  <a:lnTo>
                    <a:pt x="450" y="155"/>
                  </a:lnTo>
                  <a:lnTo>
                    <a:pt x="449" y="155"/>
                  </a:lnTo>
                  <a:lnTo>
                    <a:pt x="426" y="154"/>
                  </a:lnTo>
                  <a:lnTo>
                    <a:pt x="433" y="151"/>
                  </a:lnTo>
                  <a:lnTo>
                    <a:pt x="424" y="146"/>
                  </a:lnTo>
                  <a:lnTo>
                    <a:pt x="446" y="154"/>
                  </a:lnTo>
                  <a:lnTo>
                    <a:pt x="466" y="161"/>
                  </a:lnTo>
                  <a:lnTo>
                    <a:pt x="473" y="170"/>
                  </a:lnTo>
                  <a:lnTo>
                    <a:pt x="482" y="168"/>
                  </a:lnTo>
                  <a:lnTo>
                    <a:pt x="485" y="164"/>
                  </a:lnTo>
                  <a:lnTo>
                    <a:pt x="486" y="169"/>
                  </a:lnTo>
                  <a:lnTo>
                    <a:pt x="492" y="168"/>
                  </a:lnTo>
                  <a:lnTo>
                    <a:pt x="492" y="162"/>
                  </a:lnTo>
                  <a:lnTo>
                    <a:pt x="493" y="155"/>
                  </a:lnTo>
                  <a:lnTo>
                    <a:pt x="486" y="156"/>
                  </a:lnTo>
                  <a:lnTo>
                    <a:pt x="490" y="152"/>
                  </a:lnTo>
                  <a:lnTo>
                    <a:pt x="485" y="152"/>
                  </a:lnTo>
                  <a:lnTo>
                    <a:pt x="482" y="151"/>
                  </a:lnTo>
                  <a:lnTo>
                    <a:pt x="486" y="148"/>
                  </a:lnTo>
                  <a:lnTo>
                    <a:pt x="460" y="142"/>
                  </a:lnTo>
                  <a:lnTo>
                    <a:pt x="456" y="144"/>
                  </a:lnTo>
                  <a:lnTo>
                    <a:pt x="456" y="140"/>
                  </a:lnTo>
                  <a:lnTo>
                    <a:pt x="466" y="138"/>
                  </a:lnTo>
                  <a:lnTo>
                    <a:pt x="450" y="137"/>
                  </a:lnTo>
                  <a:lnTo>
                    <a:pt x="443" y="137"/>
                  </a:lnTo>
                  <a:lnTo>
                    <a:pt x="440" y="136"/>
                  </a:lnTo>
                  <a:lnTo>
                    <a:pt x="463" y="132"/>
                  </a:lnTo>
                  <a:lnTo>
                    <a:pt x="439" y="131"/>
                  </a:lnTo>
                  <a:lnTo>
                    <a:pt x="438" y="133"/>
                  </a:lnTo>
                  <a:lnTo>
                    <a:pt x="438" y="131"/>
                  </a:lnTo>
                  <a:lnTo>
                    <a:pt x="445" y="128"/>
                  </a:lnTo>
                  <a:lnTo>
                    <a:pt x="443" y="126"/>
                  </a:lnTo>
                  <a:lnTo>
                    <a:pt x="460" y="127"/>
                  </a:lnTo>
                  <a:lnTo>
                    <a:pt x="466" y="124"/>
                  </a:lnTo>
                  <a:lnTo>
                    <a:pt x="463" y="121"/>
                  </a:lnTo>
                  <a:lnTo>
                    <a:pt x="472" y="124"/>
                  </a:lnTo>
                  <a:lnTo>
                    <a:pt x="482" y="122"/>
                  </a:lnTo>
                  <a:lnTo>
                    <a:pt x="491" y="125"/>
                  </a:lnTo>
                  <a:lnTo>
                    <a:pt x="478" y="124"/>
                  </a:lnTo>
                  <a:lnTo>
                    <a:pt x="499" y="128"/>
                  </a:lnTo>
                  <a:lnTo>
                    <a:pt x="516" y="124"/>
                  </a:lnTo>
                  <a:lnTo>
                    <a:pt x="517" y="120"/>
                  </a:lnTo>
                  <a:lnTo>
                    <a:pt x="502" y="120"/>
                  </a:lnTo>
                  <a:lnTo>
                    <a:pt x="500" y="121"/>
                  </a:lnTo>
                  <a:lnTo>
                    <a:pt x="497" y="115"/>
                  </a:lnTo>
                  <a:lnTo>
                    <a:pt x="503" y="110"/>
                  </a:lnTo>
                  <a:lnTo>
                    <a:pt x="532" y="113"/>
                  </a:lnTo>
                  <a:lnTo>
                    <a:pt x="529" y="108"/>
                  </a:lnTo>
                  <a:lnTo>
                    <a:pt x="517" y="108"/>
                  </a:lnTo>
                  <a:lnTo>
                    <a:pt x="515" y="103"/>
                  </a:lnTo>
                  <a:lnTo>
                    <a:pt x="504" y="103"/>
                  </a:lnTo>
                  <a:lnTo>
                    <a:pt x="516" y="101"/>
                  </a:lnTo>
                  <a:lnTo>
                    <a:pt x="504" y="97"/>
                  </a:lnTo>
                  <a:lnTo>
                    <a:pt x="505" y="95"/>
                  </a:lnTo>
                  <a:lnTo>
                    <a:pt x="530" y="101"/>
                  </a:lnTo>
                  <a:lnTo>
                    <a:pt x="529" y="91"/>
                  </a:lnTo>
                  <a:lnTo>
                    <a:pt x="510" y="91"/>
                  </a:lnTo>
                  <a:lnTo>
                    <a:pt x="532" y="89"/>
                  </a:lnTo>
                  <a:lnTo>
                    <a:pt x="520" y="88"/>
                  </a:lnTo>
                  <a:lnTo>
                    <a:pt x="512" y="85"/>
                  </a:lnTo>
                  <a:lnTo>
                    <a:pt x="509" y="85"/>
                  </a:lnTo>
                  <a:lnTo>
                    <a:pt x="503" y="80"/>
                  </a:lnTo>
                  <a:lnTo>
                    <a:pt x="520" y="79"/>
                  </a:lnTo>
                  <a:lnTo>
                    <a:pt x="550" y="79"/>
                  </a:lnTo>
                  <a:lnTo>
                    <a:pt x="548" y="72"/>
                  </a:lnTo>
                  <a:lnTo>
                    <a:pt x="532" y="72"/>
                  </a:lnTo>
                  <a:lnTo>
                    <a:pt x="524" y="68"/>
                  </a:lnTo>
                  <a:lnTo>
                    <a:pt x="544" y="68"/>
                  </a:lnTo>
                  <a:lnTo>
                    <a:pt x="523" y="65"/>
                  </a:lnTo>
                  <a:lnTo>
                    <a:pt x="518" y="68"/>
                  </a:lnTo>
                  <a:lnTo>
                    <a:pt x="515" y="66"/>
                  </a:lnTo>
                  <a:lnTo>
                    <a:pt x="523" y="55"/>
                  </a:lnTo>
                  <a:lnTo>
                    <a:pt x="539" y="52"/>
                  </a:lnTo>
                  <a:lnTo>
                    <a:pt x="546" y="47"/>
                  </a:lnTo>
                  <a:lnTo>
                    <a:pt x="540" y="48"/>
                  </a:lnTo>
                  <a:lnTo>
                    <a:pt x="548" y="41"/>
                  </a:lnTo>
                  <a:lnTo>
                    <a:pt x="560" y="40"/>
                  </a:lnTo>
                  <a:lnTo>
                    <a:pt x="562" y="36"/>
                  </a:lnTo>
                  <a:lnTo>
                    <a:pt x="539" y="40"/>
                  </a:lnTo>
                  <a:lnTo>
                    <a:pt x="535" y="37"/>
                  </a:lnTo>
                  <a:lnTo>
                    <a:pt x="557" y="35"/>
                  </a:lnTo>
                  <a:lnTo>
                    <a:pt x="580" y="31"/>
                  </a:lnTo>
                  <a:lnTo>
                    <a:pt x="538" y="31"/>
                  </a:lnTo>
                  <a:lnTo>
                    <a:pt x="596" y="28"/>
                  </a:lnTo>
                  <a:lnTo>
                    <a:pt x="594" y="25"/>
                  </a:lnTo>
                  <a:lnTo>
                    <a:pt x="622" y="20"/>
                  </a:lnTo>
                  <a:lnTo>
                    <a:pt x="586" y="17"/>
                  </a:lnTo>
                  <a:lnTo>
                    <a:pt x="566" y="20"/>
                  </a:lnTo>
                  <a:lnTo>
                    <a:pt x="545" y="22"/>
                  </a:lnTo>
                  <a:lnTo>
                    <a:pt x="544" y="20"/>
                  </a:lnTo>
                  <a:lnTo>
                    <a:pt x="504" y="31"/>
                  </a:lnTo>
                  <a:lnTo>
                    <a:pt x="518" y="24"/>
                  </a:lnTo>
                  <a:lnTo>
                    <a:pt x="528" y="17"/>
                  </a:lnTo>
                  <a:lnTo>
                    <a:pt x="512" y="16"/>
                  </a:lnTo>
                  <a:lnTo>
                    <a:pt x="508" y="18"/>
                  </a:lnTo>
                  <a:lnTo>
                    <a:pt x="479" y="23"/>
                  </a:lnTo>
                  <a:lnTo>
                    <a:pt x="493" y="19"/>
                  </a:lnTo>
                  <a:lnTo>
                    <a:pt x="497" y="16"/>
                  </a:lnTo>
                  <a:lnTo>
                    <a:pt x="428" y="19"/>
                  </a:lnTo>
                  <a:lnTo>
                    <a:pt x="449" y="14"/>
                  </a:lnTo>
                  <a:lnTo>
                    <a:pt x="488" y="14"/>
                  </a:lnTo>
                  <a:lnTo>
                    <a:pt x="535" y="11"/>
                  </a:lnTo>
                  <a:lnTo>
                    <a:pt x="503" y="7"/>
                  </a:lnTo>
                  <a:lnTo>
                    <a:pt x="504" y="5"/>
                  </a:lnTo>
                  <a:lnTo>
                    <a:pt x="410" y="6"/>
                  </a:lnTo>
                  <a:lnTo>
                    <a:pt x="422" y="6"/>
                  </a:lnTo>
                  <a:lnTo>
                    <a:pt x="494" y="4"/>
                  </a:lnTo>
                  <a:lnTo>
                    <a:pt x="466" y="0"/>
                  </a:lnTo>
                  <a:lnTo>
                    <a:pt x="377" y="1"/>
                  </a:lnTo>
                  <a:lnTo>
                    <a:pt x="383" y="4"/>
                  </a:lnTo>
                  <a:lnTo>
                    <a:pt x="376" y="5"/>
                  </a:lnTo>
                  <a:lnTo>
                    <a:pt x="373" y="6"/>
                  </a:lnTo>
                  <a:lnTo>
                    <a:pt x="350" y="5"/>
                  </a:lnTo>
                  <a:lnTo>
                    <a:pt x="319" y="4"/>
                  </a:lnTo>
                  <a:lnTo>
                    <a:pt x="324" y="6"/>
                  </a:lnTo>
                  <a:lnTo>
                    <a:pt x="301" y="5"/>
                  </a:lnTo>
                  <a:lnTo>
                    <a:pt x="342" y="7"/>
                  </a:lnTo>
                  <a:lnTo>
                    <a:pt x="361" y="11"/>
                  </a:lnTo>
                  <a:lnTo>
                    <a:pt x="343" y="8"/>
                  </a:lnTo>
                  <a:lnTo>
                    <a:pt x="343" y="10"/>
                  </a:lnTo>
                  <a:lnTo>
                    <a:pt x="314" y="8"/>
                  </a:lnTo>
                  <a:lnTo>
                    <a:pt x="326" y="13"/>
                  </a:lnTo>
                  <a:lnTo>
                    <a:pt x="317" y="13"/>
                  </a:lnTo>
                  <a:lnTo>
                    <a:pt x="314" y="16"/>
                  </a:lnTo>
                  <a:lnTo>
                    <a:pt x="314" y="18"/>
                  </a:lnTo>
                  <a:lnTo>
                    <a:pt x="262" y="11"/>
                  </a:lnTo>
                  <a:lnTo>
                    <a:pt x="258" y="17"/>
                  </a:lnTo>
                  <a:lnTo>
                    <a:pt x="258" y="19"/>
                  </a:lnTo>
                  <a:lnTo>
                    <a:pt x="235" y="16"/>
                  </a:lnTo>
                  <a:lnTo>
                    <a:pt x="224" y="20"/>
                  </a:lnTo>
                  <a:lnTo>
                    <a:pt x="221" y="20"/>
                  </a:lnTo>
                  <a:lnTo>
                    <a:pt x="224" y="13"/>
                  </a:lnTo>
                  <a:lnTo>
                    <a:pt x="173" y="16"/>
                  </a:lnTo>
                  <a:lnTo>
                    <a:pt x="188" y="22"/>
                  </a:lnTo>
                  <a:lnTo>
                    <a:pt x="175" y="19"/>
                  </a:lnTo>
                  <a:lnTo>
                    <a:pt x="151" y="18"/>
                  </a:lnTo>
                  <a:lnTo>
                    <a:pt x="151" y="20"/>
                  </a:lnTo>
                  <a:lnTo>
                    <a:pt x="148" y="24"/>
                  </a:lnTo>
                  <a:lnTo>
                    <a:pt x="128" y="24"/>
                  </a:lnTo>
                  <a:lnTo>
                    <a:pt x="126" y="28"/>
                  </a:lnTo>
                  <a:lnTo>
                    <a:pt x="124" y="25"/>
                  </a:lnTo>
                  <a:lnTo>
                    <a:pt x="74" y="35"/>
                  </a:lnTo>
                  <a:lnTo>
                    <a:pt x="106" y="36"/>
                  </a:lnTo>
                  <a:lnTo>
                    <a:pt x="97" y="37"/>
                  </a:lnTo>
                  <a:lnTo>
                    <a:pt x="95" y="41"/>
                  </a:lnTo>
                  <a:lnTo>
                    <a:pt x="84" y="47"/>
                  </a:lnTo>
                  <a:lnTo>
                    <a:pt x="46" y="52"/>
                  </a:lnTo>
                  <a:lnTo>
                    <a:pt x="5" y="58"/>
                  </a:lnTo>
                  <a:lnTo>
                    <a:pt x="1" y="60"/>
                  </a:lnTo>
                  <a:lnTo>
                    <a:pt x="1" y="64"/>
                  </a:lnTo>
                  <a:lnTo>
                    <a:pt x="23" y="66"/>
                  </a:lnTo>
                  <a:lnTo>
                    <a:pt x="19" y="68"/>
                  </a:lnTo>
                  <a:lnTo>
                    <a:pt x="18" y="70"/>
                  </a:lnTo>
                  <a:lnTo>
                    <a:pt x="34" y="71"/>
                  </a:lnTo>
                  <a:lnTo>
                    <a:pt x="56" y="68"/>
                  </a:lnTo>
                  <a:lnTo>
                    <a:pt x="53" y="73"/>
                  </a:lnTo>
                  <a:lnTo>
                    <a:pt x="26" y="73"/>
                  </a:lnTo>
                  <a:lnTo>
                    <a:pt x="47" y="76"/>
                  </a:lnTo>
                  <a:lnTo>
                    <a:pt x="38" y="74"/>
                  </a:lnTo>
                  <a:lnTo>
                    <a:pt x="0" y="77"/>
                  </a:lnTo>
                  <a:lnTo>
                    <a:pt x="13" y="78"/>
                  </a:lnTo>
                  <a:lnTo>
                    <a:pt x="24" y="82"/>
                  </a:lnTo>
                  <a:lnTo>
                    <a:pt x="12" y="85"/>
                  </a:lnTo>
                  <a:lnTo>
                    <a:pt x="38" y="91"/>
                  </a:lnTo>
                  <a:lnTo>
                    <a:pt x="35" y="89"/>
                  </a:lnTo>
                  <a:lnTo>
                    <a:pt x="42" y="89"/>
                  </a:lnTo>
                  <a:lnTo>
                    <a:pt x="48" y="89"/>
                  </a:lnTo>
                  <a:lnTo>
                    <a:pt x="66" y="86"/>
                  </a:lnTo>
                  <a:lnTo>
                    <a:pt x="74" y="86"/>
                  </a:lnTo>
                  <a:lnTo>
                    <a:pt x="121" y="95"/>
                  </a:lnTo>
                  <a:lnTo>
                    <a:pt x="118" y="100"/>
                  </a:lnTo>
                  <a:lnTo>
                    <a:pt x="128" y="106"/>
                  </a:lnTo>
                  <a:lnTo>
                    <a:pt x="132" y="109"/>
                  </a:lnTo>
                  <a:lnTo>
                    <a:pt x="128" y="113"/>
                  </a:lnTo>
                  <a:lnTo>
                    <a:pt x="124" y="115"/>
                  </a:lnTo>
                  <a:lnTo>
                    <a:pt x="132" y="115"/>
                  </a:lnTo>
                  <a:lnTo>
                    <a:pt x="132" y="121"/>
                  </a:lnTo>
                  <a:lnTo>
                    <a:pt x="133" y="126"/>
                  </a:lnTo>
                  <a:lnTo>
                    <a:pt x="132" y="130"/>
                  </a:lnTo>
                  <a:lnTo>
                    <a:pt x="136" y="132"/>
                  </a:lnTo>
                  <a:lnTo>
                    <a:pt x="133" y="139"/>
                  </a:lnTo>
                  <a:lnTo>
                    <a:pt x="127" y="142"/>
                  </a:lnTo>
                  <a:lnTo>
                    <a:pt x="124" y="146"/>
                  </a:lnTo>
                  <a:lnTo>
                    <a:pt x="131" y="146"/>
                  </a:lnTo>
                  <a:lnTo>
                    <a:pt x="116" y="151"/>
                  </a:lnTo>
                  <a:lnTo>
                    <a:pt x="122" y="156"/>
                  </a:lnTo>
                  <a:lnTo>
                    <a:pt x="136" y="152"/>
                  </a:lnTo>
                  <a:lnTo>
                    <a:pt x="143" y="142"/>
                  </a:lnTo>
                  <a:lnTo>
                    <a:pt x="144" y="150"/>
                  </a:lnTo>
                  <a:lnTo>
                    <a:pt x="151" y="148"/>
                  </a:lnTo>
                  <a:lnTo>
                    <a:pt x="149" y="150"/>
                  </a:lnTo>
                  <a:lnTo>
                    <a:pt x="160" y="152"/>
                  </a:lnTo>
                  <a:lnTo>
                    <a:pt x="149" y="155"/>
                  </a:lnTo>
                  <a:lnTo>
                    <a:pt x="160" y="155"/>
                  </a:lnTo>
                  <a:lnTo>
                    <a:pt x="151" y="158"/>
                  </a:lnTo>
                  <a:lnTo>
                    <a:pt x="157" y="157"/>
                  </a:lnTo>
                  <a:lnTo>
                    <a:pt x="154" y="158"/>
                  </a:lnTo>
                  <a:lnTo>
                    <a:pt x="162" y="162"/>
                  </a:lnTo>
                  <a:lnTo>
                    <a:pt x="155" y="161"/>
                  </a:lnTo>
                  <a:lnTo>
                    <a:pt x="163" y="164"/>
                  </a:lnTo>
                  <a:lnTo>
                    <a:pt x="162" y="164"/>
                  </a:lnTo>
                  <a:lnTo>
                    <a:pt x="162" y="168"/>
                  </a:lnTo>
                  <a:lnTo>
                    <a:pt x="163" y="170"/>
                  </a:lnTo>
                  <a:lnTo>
                    <a:pt x="127" y="164"/>
                  </a:lnTo>
                  <a:lnTo>
                    <a:pt x="125" y="169"/>
                  </a:lnTo>
                  <a:lnTo>
                    <a:pt x="163" y="178"/>
                  </a:lnTo>
                  <a:lnTo>
                    <a:pt x="157" y="181"/>
                  </a:lnTo>
                  <a:lnTo>
                    <a:pt x="158" y="184"/>
                  </a:lnTo>
                  <a:lnTo>
                    <a:pt x="154" y="186"/>
                  </a:lnTo>
                  <a:lnTo>
                    <a:pt x="156" y="188"/>
                  </a:lnTo>
                  <a:lnTo>
                    <a:pt x="160" y="190"/>
                  </a:lnTo>
                  <a:lnTo>
                    <a:pt x="160" y="192"/>
                  </a:lnTo>
                  <a:lnTo>
                    <a:pt x="154" y="190"/>
                  </a:lnTo>
                  <a:lnTo>
                    <a:pt x="148" y="193"/>
                  </a:lnTo>
                  <a:lnTo>
                    <a:pt x="152" y="194"/>
                  </a:lnTo>
                  <a:lnTo>
                    <a:pt x="122" y="202"/>
                  </a:lnTo>
                  <a:lnTo>
                    <a:pt x="125" y="204"/>
                  </a:lnTo>
                  <a:lnTo>
                    <a:pt x="143" y="202"/>
                  </a:lnTo>
                  <a:lnTo>
                    <a:pt x="149" y="199"/>
                  </a:lnTo>
                  <a:lnTo>
                    <a:pt x="144" y="204"/>
                  </a:lnTo>
                  <a:lnTo>
                    <a:pt x="149" y="208"/>
                  </a:lnTo>
                  <a:lnTo>
                    <a:pt x="125" y="204"/>
                  </a:lnTo>
                  <a:lnTo>
                    <a:pt x="120" y="204"/>
                  </a:lnTo>
                  <a:lnTo>
                    <a:pt x="130" y="208"/>
                  </a:lnTo>
                  <a:lnTo>
                    <a:pt x="118" y="206"/>
                  </a:lnTo>
                  <a:lnTo>
                    <a:pt x="109" y="212"/>
                  </a:lnTo>
                  <a:lnTo>
                    <a:pt x="132" y="209"/>
                  </a:lnTo>
                  <a:lnTo>
                    <a:pt x="130" y="209"/>
                  </a:lnTo>
                  <a:lnTo>
                    <a:pt x="137" y="210"/>
                  </a:lnTo>
                  <a:lnTo>
                    <a:pt x="143" y="209"/>
                  </a:lnTo>
                  <a:lnTo>
                    <a:pt x="148" y="209"/>
                  </a:lnTo>
                  <a:lnTo>
                    <a:pt x="142" y="211"/>
                  </a:lnTo>
                  <a:lnTo>
                    <a:pt x="150" y="211"/>
                  </a:lnTo>
                  <a:lnTo>
                    <a:pt x="145" y="212"/>
                  </a:lnTo>
                  <a:lnTo>
                    <a:pt x="148" y="215"/>
                  </a:lnTo>
                  <a:lnTo>
                    <a:pt x="126" y="211"/>
                  </a:lnTo>
                  <a:lnTo>
                    <a:pt x="106" y="217"/>
                  </a:lnTo>
                  <a:lnTo>
                    <a:pt x="133" y="217"/>
                  </a:lnTo>
                  <a:lnTo>
                    <a:pt x="140" y="220"/>
                  </a:lnTo>
                  <a:lnTo>
                    <a:pt x="133" y="218"/>
                  </a:lnTo>
                  <a:lnTo>
                    <a:pt x="104" y="220"/>
                  </a:lnTo>
                  <a:lnTo>
                    <a:pt x="108" y="222"/>
                  </a:lnTo>
                  <a:lnTo>
                    <a:pt x="119" y="223"/>
                  </a:lnTo>
                  <a:lnTo>
                    <a:pt x="113" y="226"/>
                  </a:lnTo>
                  <a:lnTo>
                    <a:pt x="112" y="227"/>
                  </a:lnTo>
                  <a:lnTo>
                    <a:pt x="108" y="227"/>
                  </a:lnTo>
                  <a:lnTo>
                    <a:pt x="115" y="229"/>
                  </a:lnTo>
                  <a:lnTo>
                    <a:pt x="104" y="230"/>
                  </a:lnTo>
                  <a:lnTo>
                    <a:pt x="102" y="234"/>
                  </a:lnTo>
                  <a:lnTo>
                    <a:pt x="124" y="228"/>
                  </a:lnTo>
                  <a:lnTo>
                    <a:pt x="145" y="222"/>
                  </a:lnTo>
                  <a:lnTo>
                    <a:pt x="139" y="224"/>
                  </a:lnTo>
                  <a:lnTo>
                    <a:pt x="102" y="238"/>
                  </a:lnTo>
                  <a:lnTo>
                    <a:pt x="107" y="238"/>
                  </a:lnTo>
                  <a:lnTo>
                    <a:pt x="102" y="239"/>
                  </a:lnTo>
                  <a:lnTo>
                    <a:pt x="121" y="236"/>
                  </a:lnTo>
                  <a:lnTo>
                    <a:pt x="104" y="241"/>
                  </a:lnTo>
                  <a:lnTo>
                    <a:pt x="106" y="244"/>
                  </a:lnTo>
                  <a:lnTo>
                    <a:pt x="108" y="245"/>
                  </a:lnTo>
                  <a:lnTo>
                    <a:pt x="116" y="245"/>
                  </a:lnTo>
                  <a:lnTo>
                    <a:pt x="131" y="24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6" name="Freeform 415"/>
            <p:cNvSpPr>
              <a:spLocks/>
            </p:cNvSpPr>
            <p:nvPr/>
          </p:nvSpPr>
          <p:spPr bwMode="auto">
            <a:xfrm>
              <a:off x="1838" y="1343"/>
              <a:ext cx="35" cy="18"/>
            </a:xfrm>
            <a:custGeom>
              <a:avLst/>
              <a:gdLst/>
              <a:ahLst/>
              <a:cxnLst>
                <a:cxn ang="0">
                  <a:pos x="31" y="10"/>
                </a:cxn>
                <a:cxn ang="0">
                  <a:pos x="7" y="0"/>
                </a:cxn>
                <a:cxn ang="0">
                  <a:pos x="0" y="4"/>
                </a:cxn>
                <a:cxn ang="0">
                  <a:pos x="1" y="4"/>
                </a:cxn>
                <a:cxn ang="0">
                  <a:pos x="0" y="8"/>
                </a:cxn>
                <a:cxn ang="0">
                  <a:pos x="2" y="10"/>
                </a:cxn>
                <a:cxn ang="0">
                  <a:pos x="8" y="13"/>
                </a:cxn>
                <a:cxn ang="0">
                  <a:pos x="5" y="15"/>
                </a:cxn>
                <a:cxn ang="0">
                  <a:pos x="31" y="10"/>
                </a:cxn>
              </a:cxnLst>
              <a:rect l="0" t="0" r="r" b="b"/>
              <a:pathLst>
                <a:path w="31" h="15">
                  <a:moveTo>
                    <a:pt x="31" y="10"/>
                  </a:moveTo>
                  <a:lnTo>
                    <a:pt x="7" y="0"/>
                  </a:lnTo>
                  <a:lnTo>
                    <a:pt x="0" y="4"/>
                  </a:lnTo>
                  <a:lnTo>
                    <a:pt x="1" y="4"/>
                  </a:lnTo>
                  <a:lnTo>
                    <a:pt x="0" y="8"/>
                  </a:lnTo>
                  <a:lnTo>
                    <a:pt x="2" y="10"/>
                  </a:lnTo>
                  <a:lnTo>
                    <a:pt x="8" y="13"/>
                  </a:lnTo>
                  <a:lnTo>
                    <a:pt x="5" y="15"/>
                  </a:lnTo>
                  <a:lnTo>
                    <a:pt x="31"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7" name="Freeform 416"/>
            <p:cNvSpPr>
              <a:spLocks/>
            </p:cNvSpPr>
            <p:nvPr/>
          </p:nvSpPr>
          <p:spPr bwMode="auto">
            <a:xfrm>
              <a:off x="2207" y="1408"/>
              <a:ext cx="142" cy="53"/>
            </a:xfrm>
            <a:custGeom>
              <a:avLst/>
              <a:gdLst/>
              <a:ahLst/>
              <a:cxnLst>
                <a:cxn ang="0">
                  <a:pos x="99" y="0"/>
                </a:cxn>
                <a:cxn ang="0">
                  <a:pos x="96" y="4"/>
                </a:cxn>
                <a:cxn ang="0">
                  <a:pos x="86" y="8"/>
                </a:cxn>
                <a:cxn ang="0">
                  <a:pos x="77" y="5"/>
                </a:cxn>
                <a:cxn ang="0">
                  <a:pos x="76" y="12"/>
                </a:cxn>
                <a:cxn ang="0">
                  <a:pos x="75" y="10"/>
                </a:cxn>
                <a:cxn ang="0">
                  <a:pos x="64" y="6"/>
                </a:cxn>
                <a:cxn ang="0">
                  <a:pos x="60" y="10"/>
                </a:cxn>
                <a:cxn ang="0">
                  <a:pos x="53" y="6"/>
                </a:cxn>
                <a:cxn ang="0">
                  <a:pos x="46" y="15"/>
                </a:cxn>
                <a:cxn ang="0">
                  <a:pos x="39" y="18"/>
                </a:cxn>
                <a:cxn ang="0">
                  <a:pos x="34" y="14"/>
                </a:cxn>
                <a:cxn ang="0">
                  <a:pos x="38" y="10"/>
                </a:cxn>
                <a:cxn ang="0">
                  <a:pos x="21" y="0"/>
                </a:cxn>
                <a:cxn ang="0">
                  <a:pos x="23" y="4"/>
                </a:cxn>
                <a:cxn ang="0">
                  <a:pos x="26" y="10"/>
                </a:cxn>
                <a:cxn ang="0">
                  <a:pos x="16" y="5"/>
                </a:cxn>
                <a:cxn ang="0">
                  <a:pos x="12" y="8"/>
                </a:cxn>
                <a:cxn ang="0">
                  <a:pos x="12" y="10"/>
                </a:cxn>
                <a:cxn ang="0">
                  <a:pos x="15" y="11"/>
                </a:cxn>
                <a:cxn ang="0">
                  <a:pos x="14" y="11"/>
                </a:cxn>
                <a:cxn ang="0">
                  <a:pos x="4" y="11"/>
                </a:cxn>
                <a:cxn ang="0">
                  <a:pos x="8" y="14"/>
                </a:cxn>
                <a:cxn ang="0">
                  <a:pos x="0" y="15"/>
                </a:cxn>
                <a:cxn ang="0">
                  <a:pos x="28" y="16"/>
                </a:cxn>
                <a:cxn ang="0">
                  <a:pos x="23" y="20"/>
                </a:cxn>
                <a:cxn ang="0">
                  <a:pos x="27" y="22"/>
                </a:cxn>
                <a:cxn ang="0">
                  <a:pos x="3" y="24"/>
                </a:cxn>
                <a:cxn ang="0">
                  <a:pos x="22" y="29"/>
                </a:cxn>
                <a:cxn ang="0">
                  <a:pos x="28" y="30"/>
                </a:cxn>
                <a:cxn ang="0">
                  <a:pos x="24" y="33"/>
                </a:cxn>
                <a:cxn ang="0">
                  <a:pos x="28" y="33"/>
                </a:cxn>
                <a:cxn ang="0">
                  <a:pos x="26" y="35"/>
                </a:cxn>
                <a:cxn ang="0">
                  <a:pos x="15" y="40"/>
                </a:cxn>
                <a:cxn ang="0">
                  <a:pos x="24" y="42"/>
                </a:cxn>
                <a:cxn ang="0">
                  <a:pos x="41" y="44"/>
                </a:cxn>
                <a:cxn ang="0">
                  <a:pos x="69" y="48"/>
                </a:cxn>
                <a:cxn ang="0">
                  <a:pos x="88" y="41"/>
                </a:cxn>
                <a:cxn ang="0">
                  <a:pos x="107" y="35"/>
                </a:cxn>
                <a:cxn ang="0">
                  <a:pos x="119" y="28"/>
                </a:cxn>
                <a:cxn ang="0">
                  <a:pos x="125" y="24"/>
                </a:cxn>
                <a:cxn ang="0">
                  <a:pos x="129" y="23"/>
                </a:cxn>
                <a:cxn ang="0">
                  <a:pos x="123" y="21"/>
                </a:cxn>
                <a:cxn ang="0">
                  <a:pos x="129" y="18"/>
                </a:cxn>
                <a:cxn ang="0">
                  <a:pos x="129" y="16"/>
                </a:cxn>
                <a:cxn ang="0">
                  <a:pos x="118" y="16"/>
                </a:cxn>
                <a:cxn ang="0">
                  <a:pos x="120" y="14"/>
                </a:cxn>
                <a:cxn ang="0">
                  <a:pos x="114" y="12"/>
                </a:cxn>
                <a:cxn ang="0">
                  <a:pos x="114" y="8"/>
                </a:cxn>
                <a:cxn ang="0">
                  <a:pos x="119" y="2"/>
                </a:cxn>
                <a:cxn ang="0">
                  <a:pos x="110" y="4"/>
                </a:cxn>
                <a:cxn ang="0">
                  <a:pos x="99" y="0"/>
                </a:cxn>
              </a:cxnLst>
              <a:rect l="0" t="0" r="r" b="b"/>
              <a:pathLst>
                <a:path w="129" h="48">
                  <a:moveTo>
                    <a:pt x="99" y="0"/>
                  </a:moveTo>
                  <a:lnTo>
                    <a:pt x="96" y="4"/>
                  </a:lnTo>
                  <a:lnTo>
                    <a:pt x="86" y="8"/>
                  </a:lnTo>
                  <a:lnTo>
                    <a:pt x="77" y="5"/>
                  </a:lnTo>
                  <a:lnTo>
                    <a:pt x="76" y="12"/>
                  </a:lnTo>
                  <a:lnTo>
                    <a:pt x="75" y="10"/>
                  </a:lnTo>
                  <a:lnTo>
                    <a:pt x="64" y="6"/>
                  </a:lnTo>
                  <a:lnTo>
                    <a:pt x="60" y="10"/>
                  </a:lnTo>
                  <a:lnTo>
                    <a:pt x="53" y="6"/>
                  </a:lnTo>
                  <a:lnTo>
                    <a:pt x="46" y="15"/>
                  </a:lnTo>
                  <a:lnTo>
                    <a:pt x="39" y="18"/>
                  </a:lnTo>
                  <a:lnTo>
                    <a:pt x="34" y="14"/>
                  </a:lnTo>
                  <a:lnTo>
                    <a:pt x="38" y="10"/>
                  </a:lnTo>
                  <a:lnTo>
                    <a:pt x="21" y="0"/>
                  </a:lnTo>
                  <a:lnTo>
                    <a:pt x="23" y="4"/>
                  </a:lnTo>
                  <a:lnTo>
                    <a:pt x="26" y="10"/>
                  </a:lnTo>
                  <a:lnTo>
                    <a:pt x="16" y="5"/>
                  </a:lnTo>
                  <a:lnTo>
                    <a:pt x="12" y="8"/>
                  </a:lnTo>
                  <a:lnTo>
                    <a:pt x="12" y="10"/>
                  </a:lnTo>
                  <a:lnTo>
                    <a:pt x="15" y="11"/>
                  </a:lnTo>
                  <a:lnTo>
                    <a:pt x="14" y="11"/>
                  </a:lnTo>
                  <a:lnTo>
                    <a:pt x="4" y="11"/>
                  </a:lnTo>
                  <a:lnTo>
                    <a:pt x="8" y="14"/>
                  </a:lnTo>
                  <a:lnTo>
                    <a:pt x="0" y="15"/>
                  </a:lnTo>
                  <a:lnTo>
                    <a:pt x="28" y="16"/>
                  </a:lnTo>
                  <a:lnTo>
                    <a:pt x="23" y="20"/>
                  </a:lnTo>
                  <a:lnTo>
                    <a:pt x="27" y="22"/>
                  </a:lnTo>
                  <a:lnTo>
                    <a:pt x="3" y="24"/>
                  </a:lnTo>
                  <a:lnTo>
                    <a:pt x="22" y="29"/>
                  </a:lnTo>
                  <a:lnTo>
                    <a:pt x="28" y="30"/>
                  </a:lnTo>
                  <a:lnTo>
                    <a:pt x="24" y="33"/>
                  </a:lnTo>
                  <a:lnTo>
                    <a:pt x="28" y="33"/>
                  </a:lnTo>
                  <a:lnTo>
                    <a:pt x="26" y="35"/>
                  </a:lnTo>
                  <a:lnTo>
                    <a:pt x="15" y="40"/>
                  </a:lnTo>
                  <a:lnTo>
                    <a:pt x="24" y="42"/>
                  </a:lnTo>
                  <a:lnTo>
                    <a:pt x="41" y="44"/>
                  </a:lnTo>
                  <a:lnTo>
                    <a:pt x="69" y="48"/>
                  </a:lnTo>
                  <a:lnTo>
                    <a:pt x="88" y="41"/>
                  </a:lnTo>
                  <a:lnTo>
                    <a:pt x="107" y="35"/>
                  </a:lnTo>
                  <a:lnTo>
                    <a:pt x="119" y="28"/>
                  </a:lnTo>
                  <a:lnTo>
                    <a:pt x="125" y="24"/>
                  </a:lnTo>
                  <a:lnTo>
                    <a:pt x="129" y="23"/>
                  </a:lnTo>
                  <a:lnTo>
                    <a:pt x="123" y="21"/>
                  </a:lnTo>
                  <a:lnTo>
                    <a:pt x="129" y="18"/>
                  </a:lnTo>
                  <a:lnTo>
                    <a:pt x="129" y="16"/>
                  </a:lnTo>
                  <a:lnTo>
                    <a:pt x="118" y="16"/>
                  </a:lnTo>
                  <a:lnTo>
                    <a:pt x="120" y="14"/>
                  </a:lnTo>
                  <a:lnTo>
                    <a:pt x="114" y="12"/>
                  </a:lnTo>
                  <a:lnTo>
                    <a:pt x="114" y="8"/>
                  </a:lnTo>
                  <a:lnTo>
                    <a:pt x="119" y="2"/>
                  </a:lnTo>
                  <a:lnTo>
                    <a:pt x="110" y="4"/>
                  </a:lnTo>
                  <a:lnTo>
                    <a:pt x="99"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8" name="Freeform 417"/>
            <p:cNvSpPr>
              <a:spLocks/>
            </p:cNvSpPr>
            <p:nvPr/>
          </p:nvSpPr>
          <p:spPr bwMode="auto">
            <a:xfrm>
              <a:off x="2376" y="1610"/>
              <a:ext cx="62" cy="71"/>
            </a:xfrm>
            <a:custGeom>
              <a:avLst/>
              <a:gdLst/>
              <a:ahLst/>
              <a:cxnLst>
                <a:cxn ang="0">
                  <a:pos x="55" y="47"/>
                </a:cxn>
                <a:cxn ang="0">
                  <a:pos x="55" y="33"/>
                </a:cxn>
                <a:cxn ang="0">
                  <a:pos x="55" y="20"/>
                </a:cxn>
                <a:cxn ang="0">
                  <a:pos x="48" y="17"/>
                </a:cxn>
                <a:cxn ang="0">
                  <a:pos x="44" y="18"/>
                </a:cxn>
                <a:cxn ang="0">
                  <a:pos x="33" y="15"/>
                </a:cxn>
                <a:cxn ang="0">
                  <a:pos x="43" y="3"/>
                </a:cxn>
                <a:cxn ang="0">
                  <a:pos x="45" y="0"/>
                </a:cxn>
                <a:cxn ang="0">
                  <a:pos x="39" y="2"/>
                </a:cxn>
                <a:cxn ang="0">
                  <a:pos x="35" y="2"/>
                </a:cxn>
                <a:cxn ang="0">
                  <a:pos x="24" y="8"/>
                </a:cxn>
                <a:cxn ang="0">
                  <a:pos x="29" y="11"/>
                </a:cxn>
                <a:cxn ang="0">
                  <a:pos x="24" y="17"/>
                </a:cxn>
                <a:cxn ang="0">
                  <a:pos x="7" y="18"/>
                </a:cxn>
                <a:cxn ang="0">
                  <a:pos x="8" y="24"/>
                </a:cxn>
                <a:cxn ang="0">
                  <a:pos x="2" y="30"/>
                </a:cxn>
                <a:cxn ang="0">
                  <a:pos x="18" y="35"/>
                </a:cxn>
                <a:cxn ang="0">
                  <a:pos x="7" y="45"/>
                </a:cxn>
                <a:cxn ang="0">
                  <a:pos x="18" y="43"/>
                </a:cxn>
                <a:cxn ang="0">
                  <a:pos x="6" y="49"/>
                </a:cxn>
                <a:cxn ang="0">
                  <a:pos x="0" y="53"/>
                </a:cxn>
                <a:cxn ang="0">
                  <a:pos x="3" y="54"/>
                </a:cxn>
                <a:cxn ang="0">
                  <a:pos x="0" y="57"/>
                </a:cxn>
                <a:cxn ang="0">
                  <a:pos x="6" y="60"/>
                </a:cxn>
                <a:cxn ang="0">
                  <a:pos x="3" y="61"/>
                </a:cxn>
                <a:cxn ang="0">
                  <a:pos x="8" y="61"/>
                </a:cxn>
                <a:cxn ang="0">
                  <a:pos x="8" y="63"/>
                </a:cxn>
                <a:cxn ang="0">
                  <a:pos x="23" y="62"/>
                </a:cxn>
                <a:cxn ang="0">
                  <a:pos x="36" y="55"/>
                </a:cxn>
                <a:cxn ang="0">
                  <a:pos x="50" y="54"/>
                </a:cxn>
                <a:cxn ang="0">
                  <a:pos x="55" y="47"/>
                </a:cxn>
              </a:cxnLst>
              <a:rect l="0" t="0" r="r" b="b"/>
              <a:pathLst>
                <a:path w="55" h="63">
                  <a:moveTo>
                    <a:pt x="55" y="47"/>
                  </a:moveTo>
                  <a:lnTo>
                    <a:pt x="55" y="33"/>
                  </a:lnTo>
                  <a:lnTo>
                    <a:pt x="55" y="20"/>
                  </a:lnTo>
                  <a:lnTo>
                    <a:pt x="48" y="17"/>
                  </a:lnTo>
                  <a:lnTo>
                    <a:pt x="44" y="18"/>
                  </a:lnTo>
                  <a:lnTo>
                    <a:pt x="33" y="15"/>
                  </a:lnTo>
                  <a:lnTo>
                    <a:pt x="43" y="3"/>
                  </a:lnTo>
                  <a:lnTo>
                    <a:pt x="45" y="0"/>
                  </a:lnTo>
                  <a:lnTo>
                    <a:pt x="39" y="2"/>
                  </a:lnTo>
                  <a:lnTo>
                    <a:pt x="35" y="2"/>
                  </a:lnTo>
                  <a:lnTo>
                    <a:pt x="24" y="8"/>
                  </a:lnTo>
                  <a:lnTo>
                    <a:pt x="29" y="11"/>
                  </a:lnTo>
                  <a:lnTo>
                    <a:pt x="24" y="17"/>
                  </a:lnTo>
                  <a:lnTo>
                    <a:pt x="7" y="18"/>
                  </a:lnTo>
                  <a:lnTo>
                    <a:pt x="8" y="24"/>
                  </a:lnTo>
                  <a:lnTo>
                    <a:pt x="2" y="30"/>
                  </a:lnTo>
                  <a:lnTo>
                    <a:pt x="18" y="35"/>
                  </a:lnTo>
                  <a:lnTo>
                    <a:pt x="7" y="45"/>
                  </a:lnTo>
                  <a:lnTo>
                    <a:pt x="18" y="43"/>
                  </a:lnTo>
                  <a:lnTo>
                    <a:pt x="6" y="49"/>
                  </a:lnTo>
                  <a:lnTo>
                    <a:pt x="0" y="53"/>
                  </a:lnTo>
                  <a:lnTo>
                    <a:pt x="3" y="54"/>
                  </a:lnTo>
                  <a:lnTo>
                    <a:pt x="0" y="57"/>
                  </a:lnTo>
                  <a:lnTo>
                    <a:pt x="6" y="60"/>
                  </a:lnTo>
                  <a:lnTo>
                    <a:pt x="3" y="61"/>
                  </a:lnTo>
                  <a:lnTo>
                    <a:pt x="8" y="61"/>
                  </a:lnTo>
                  <a:lnTo>
                    <a:pt x="8" y="63"/>
                  </a:lnTo>
                  <a:lnTo>
                    <a:pt x="23" y="62"/>
                  </a:lnTo>
                  <a:lnTo>
                    <a:pt x="36" y="55"/>
                  </a:lnTo>
                  <a:lnTo>
                    <a:pt x="50" y="54"/>
                  </a:lnTo>
                  <a:lnTo>
                    <a:pt x="55" y="4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19" name="Freeform 418"/>
            <p:cNvSpPr>
              <a:spLocks/>
            </p:cNvSpPr>
            <p:nvPr/>
          </p:nvSpPr>
          <p:spPr bwMode="auto">
            <a:xfrm>
              <a:off x="2445" y="1550"/>
              <a:ext cx="113" cy="160"/>
            </a:xfrm>
            <a:custGeom>
              <a:avLst/>
              <a:gdLst/>
              <a:ahLst/>
              <a:cxnLst>
                <a:cxn ang="0">
                  <a:pos x="8" y="43"/>
                </a:cxn>
                <a:cxn ang="0">
                  <a:pos x="16" y="44"/>
                </a:cxn>
                <a:cxn ang="0">
                  <a:pos x="12" y="57"/>
                </a:cxn>
                <a:cxn ang="0">
                  <a:pos x="20" y="63"/>
                </a:cxn>
                <a:cxn ang="0">
                  <a:pos x="31" y="66"/>
                </a:cxn>
                <a:cxn ang="0">
                  <a:pos x="38" y="87"/>
                </a:cxn>
                <a:cxn ang="0">
                  <a:pos x="16" y="96"/>
                </a:cxn>
                <a:cxn ang="0">
                  <a:pos x="23" y="102"/>
                </a:cxn>
                <a:cxn ang="0">
                  <a:pos x="8" y="115"/>
                </a:cxn>
                <a:cxn ang="0">
                  <a:pos x="29" y="121"/>
                </a:cxn>
                <a:cxn ang="0">
                  <a:pos x="38" y="122"/>
                </a:cxn>
                <a:cxn ang="0">
                  <a:pos x="13" y="134"/>
                </a:cxn>
                <a:cxn ang="0">
                  <a:pos x="5" y="144"/>
                </a:cxn>
                <a:cxn ang="0">
                  <a:pos x="25" y="141"/>
                </a:cxn>
                <a:cxn ang="0">
                  <a:pos x="42" y="134"/>
                </a:cxn>
                <a:cxn ang="0">
                  <a:pos x="82" y="133"/>
                </a:cxn>
                <a:cxn ang="0">
                  <a:pos x="85" y="120"/>
                </a:cxn>
                <a:cxn ang="0">
                  <a:pos x="102" y="103"/>
                </a:cxn>
                <a:cxn ang="0">
                  <a:pos x="82" y="97"/>
                </a:cxn>
                <a:cxn ang="0">
                  <a:pos x="72" y="82"/>
                </a:cxn>
                <a:cxn ang="0">
                  <a:pos x="76" y="76"/>
                </a:cxn>
                <a:cxn ang="0">
                  <a:pos x="50" y="45"/>
                </a:cxn>
                <a:cxn ang="0">
                  <a:pos x="43" y="39"/>
                </a:cxn>
                <a:cxn ang="0">
                  <a:pos x="41" y="36"/>
                </a:cxn>
                <a:cxn ang="0">
                  <a:pos x="29" y="16"/>
                </a:cxn>
                <a:cxn ang="0">
                  <a:pos x="28" y="13"/>
                </a:cxn>
                <a:cxn ang="0">
                  <a:pos x="17" y="0"/>
                </a:cxn>
                <a:cxn ang="0">
                  <a:pos x="11" y="10"/>
                </a:cxn>
                <a:cxn ang="0">
                  <a:pos x="5" y="18"/>
                </a:cxn>
                <a:cxn ang="0">
                  <a:pos x="5" y="22"/>
                </a:cxn>
                <a:cxn ang="0">
                  <a:pos x="2" y="32"/>
                </a:cxn>
                <a:cxn ang="0">
                  <a:pos x="10" y="31"/>
                </a:cxn>
                <a:cxn ang="0">
                  <a:pos x="1" y="55"/>
                </a:cxn>
              </a:cxnLst>
              <a:rect l="0" t="0" r="r" b="b"/>
              <a:pathLst>
                <a:path w="102" h="144">
                  <a:moveTo>
                    <a:pt x="1" y="55"/>
                  </a:moveTo>
                  <a:lnTo>
                    <a:pt x="8" y="43"/>
                  </a:lnTo>
                  <a:lnTo>
                    <a:pt x="13" y="43"/>
                  </a:lnTo>
                  <a:lnTo>
                    <a:pt x="16" y="44"/>
                  </a:lnTo>
                  <a:lnTo>
                    <a:pt x="14" y="49"/>
                  </a:lnTo>
                  <a:lnTo>
                    <a:pt x="12" y="57"/>
                  </a:lnTo>
                  <a:lnTo>
                    <a:pt x="13" y="66"/>
                  </a:lnTo>
                  <a:lnTo>
                    <a:pt x="20" y="63"/>
                  </a:lnTo>
                  <a:lnTo>
                    <a:pt x="35" y="60"/>
                  </a:lnTo>
                  <a:lnTo>
                    <a:pt x="31" y="66"/>
                  </a:lnTo>
                  <a:lnTo>
                    <a:pt x="37" y="73"/>
                  </a:lnTo>
                  <a:lnTo>
                    <a:pt x="38" y="87"/>
                  </a:lnTo>
                  <a:lnTo>
                    <a:pt x="34" y="88"/>
                  </a:lnTo>
                  <a:lnTo>
                    <a:pt x="16" y="96"/>
                  </a:lnTo>
                  <a:lnTo>
                    <a:pt x="19" y="96"/>
                  </a:lnTo>
                  <a:lnTo>
                    <a:pt x="23" y="102"/>
                  </a:lnTo>
                  <a:lnTo>
                    <a:pt x="11" y="111"/>
                  </a:lnTo>
                  <a:lnTo>
                    <a:pt x="8" y="115"/>
                  </a:lnTo>
                  <a:lnTo>
                    <a:pt x="23" y="117"/>
                  </a:lnTo>
                  <a:lnTo>
                    <a:pt x="29" y="121"/>
                  </a:lnTo>
                  <a:lnTo>
                    <a:pt x="44" y="116"/>
                  </a:lnTo>
                  <a:lnTo>
                    <a:pt x="38" y="122"/>
                  </a:lnTo>
                  <a:lnTo>
                    <a:pt x="26" y="124"/>
                  </a:lnTo>
                  <a:lnTo>
                    <a:pt x="13" y="134"/>
                  </a:lnTo>
                  <a:lnTo>
                    <a:pt x="0" y="142"/>
                  </a:lnTo>
                  <a:lnTo>
                    <a:pt x="5" y="144"/>
                  </a:lnTo>
                  <a:lnTo>
                    <a:pt x="8" y="144"/>
                  </a:lnTo>
                  <a:lnTo>
                    <a:pt x="25" y="141"/>
                  </a:lnTo>
                  <a:lnTo>
                    <a:pt x="30" y="136"/>
                  </a:lnTo>
                  <a:lnTo>
                    <a:pt x="42" y="134"/>
                  </a:lnTo>
                  <a:lnTo>
                    <a:pt x="58" y="133"/>
                  </a:lnTo>
                  <a:lnTo>
                    <a:pt x="82" y="133"/>
                  </a:lnTo>
                  <a:lnTo>
                    <a:pt x="97" y="123"/>
                  </a:lnTo>
                  <a:lnTo>
                    <a:pt x="85" y="120"/>
                  </a:lnTo>
                  <a:lnTo>
                    <a:pt x="90" y="116"/>
                  </a:lnTo>
                  <a:lnTo>
                    <a:pt x="102" y="103"/>
                  </a:lnTo>
                  <a:lnTo>
                    <a:pt x="97" y="97"/>
                  </a:lnTo>
                  <a:lnTo>
                    <a:pt x="82" y="97"/>
                  </a:lnTo>
                  <a:lnTo>
                    <a:pt x="83" y="92"/>
                  </a:lnTo>
                  <a:lnTo>
                    <a:pt x="72" y="82"/>
                  </a:lnTo>
                  <a:lnTo>
                    <a:pt x="77" y="84"/>
                  </a:lnTo>
                  <a:lnTo>
                    <a:pt x="76" y="76"/>
                  </a:lnTo>
                  <a:lnTo>
                    <a:pt x="65" y="67"/>
                  </a:lnTo>
                  <a:lnTo>
                    <a:pt x="50" y="45"/>
                  </a:lnTo>
                  <a:lnTo>
                    <a:pt x="32" y="43"/>
                  </a:lnTo>
                  <a:lnTo>
                    <a:pt x="43" y="39"/>
                  </a:lnTo>
                  <a:lnTo>
                    <a:pt x="36" y="37"/>
                  </a:lnTo>
                  <a:lnTo>
                    <a:pt x="41" y="36"/>
                  </a:lnTo>
                  <a:lnTo>
                    <a:pt x="55" y="16"/>
                  </a:lnTo>
                  <a:lnTo>
                    <a:pt x="29" y="16"/>
                  </a:lnTo>
                  <a:lnTo>
                    <a:pt x="23" y="15"/>
                  </a:lnTo>
                  <a:lnTo>
                    <a:pt x="28" y="13"/>
                  </a:lnTo>
                  <a:lnTo>
                    <a:pt x="38" y="1"/>
                  </a:lnTo>
                  <a:lnTo>
                    <a:pt x="17" y="0"/>
                  </a:lnTo>
                  <a:lnTo>
                    <a:pt x="12" y="4"/>
                  </a:lnTo>
                  <a:lnTo>
                    <a:pt x="11" y="10"/>
                  </a:lnTo>
                  <a:lnTo>
                    <a:pt x="6" y="12"/>
                  </a:lnTo>
                  <a:lnTo>
                    <a:pt x="5" y="18"/>
                  </a:lnTo>
                  <a:lnTo>
                    <a:pt x="5" y="20"/>
                  </a:lnTo>
                  <a:lnTo>
                    <a:pt x="5" y="22"/>
                  </a:lnTo>
                  <a:lnTo>
                    <a:pt x="0" y="30"/>
                  </a:lnTo>
                  <a:lnTo>
                    <a:pt x="2" y="32"/>
                  </a:lnTo>
                  <a:lnTo>
                    <a:pt x="0" y="33"/>
                  </a:lnTo>
                  <a:lnTo>
                    <a:pt x="10" y="31"/>
                  </a:lnTo>
                  <a:lnTo>
                    <a:pt x="8" y="32"/>
                  </a:lnTo>
                  <a:lnTo>
                    <a:pt x="1" y="55"/>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0" name="Freeform 419"/>
            <p:cNvSpPr>
              <a:spLocks/>
            </p:cNvSpPr>
            <p:nvPr/>
          </p:nvSpPr>
          <p:spPr bwMode="auto">
            <a:xfrm>
              <a:off x="2413" y="1612"/>
              <a:ext cx="36" cy="22"/>
            </a:xfrm>
            <a:custGeom>
              <a:avLst/>
              <a:gdLst/>
              <a:ahLst/>
              <a:cxnLst>
                <a:cxn ang="0">
                  <a:pos x="32" y="13"/>
                </a:cxn>
                <a:cxn ang="0">
                  <a:pos x="29" y="10"/>
                </a:cxn>
                <a:cxn ang="0">
                  <a:pos x="21" y="0"/>
                </a:cxn>
                <a:cxn ang="0">
                  <a:pos x="10" y="2"/>
                </a:cxn>
                <a:cxn ang="0">
                  <a:pos x="0" y="14"/>
                </a:cxn>
                <a:cxn ang="0">
                  <a:pos x="11" y="17"/>
                </a:cxn>
                <a:cxn ang="0">
                  <a:pos x="15" y="16"/>
                </a:cxn>
                <a:cxn ang="0">
                  <a:pos x="22" y="19"/>
                </a:cxn>
                <a:cxn ang="0">
                  <a:pos x="32" y="13"/>
                </a:cxn>
              </a:cxnLst>
              <a:rect l="0" t="0" r="r" b="b"/>
              <a:pathLst>
                <a:path w="32" h="19">
                  <a:moveTo>
                    <a:pt x="32" y="13"/>
                  </a:moveTo>
                  <a:lnTo>
                    <a:pt x="29" y="10"/>
                  </a:lnTo>
                  <a:lnTo>
                    <a:pt x="21" y="0"/>
                  </a:lnTo>
                  <a:lnTo>
                    <a:pt x="10" y="2"/>
                  </a:lnTo>
                  <a:lnTo>
                    <a:pt x="0" y="14"/>
                  </a:lnTo>
                  <a:lnTo>
                    <a:pt x="11" y="17"/>
                  </a:lnTo>
                  <a:lnTo>
                    <a:pt x="15" y="16"/>
                  </a:lnTo>
                  <a:lnTo>
                    <a:pt x="22" y="19"/>
                  </a:lnTo>
                  <a:lnTo>
                    <a:pt x="32" y="1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1" name="Freeform 420"/>
            <p:cNvSpPr>
              <a:spLocks/>
            </p:cNvSpPr>
            <p:nvPr/>
          </p:nvSpPr>
          <p:spPr bwMode="auto">
            <a:xfrm>
              <a:off x="2436" y="1568"/>
              <a:ext cx="13" cy="8"/>
            </a:xfrm>
            <a:custGeom>
              <a:avLst/>
              <a:gdLst/>
              <a:ahLst/>
              <a:cxnLst>
                <a:cxn ang="0">
                  <a:pos x="7" y="2"/>
                </a:cxn>
                <a:cxn ang="0">
                  <a:pos x="3" y="0"/>
                </a:cxn>
                <a:cxn ang="0">
                  <a:pos x="0" y="4"/>
                </a:cxn>
                <a:cxn ang="0">
                  <a:pos x="10" y="9"/>
                </a:cxn>
                <a:cxn ang="0">
                  <a:pos x="13" y="6"/>
                </a:cxn>
                <a:cxn ang="0">
                  <a:pos x="7" y="2"/>
                </a:cxn>
              </a:cxnLst>
              <a:rect l="0" t="0" r="r" b="b"/>
              <a:pathLst>
                <a:path w="13" h="9">
                  <a:moveTo>
                    <a:pt x="7" y="2"/>
                  </a:moveTo>
                  <a:lnTo>
                    <a:pt x="3" y="0"/>
                  </a:lnTo>
                  <a:lnTo>
                    <a:pt x="0" y="4"/>
                  </a:lnTo>
                  <a:lnTo>
                    <a:pt x="10" y="9"/>
                  </a:lnTo>
                  <a:lnTo>
                    <a:pt x="13" y="6"/>
                  </a:lnTo>
                  <a:lnTo>
                    <a:pt x="7"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2" name="Freeform 421"/>
            <p:cNvSpPr>
              <a:spLocks/>
            </p:cNvSpPr>
            <p:nvPr/>
          </p:nvSpPr>
          <p:spPr bwMode="auto">
            <a:xfrm>
              <a:off x="2431" y="1554"/>
              <a:ext cx="11" cy="9"/>
            </a:xfrm>
            <a:custGeom>
              <a:avLst/>
              <a:gdLst/>
              <a:ahLst/>
              <a:cxnLst>
                <a:cxn ang="0">
                  <a:pos x="11" y="3"/>
                </a:cxn>
                <a:cxn ang="0">
                  <a:pos x="11" y="0"/>
                </a:cxn>
                <a:cxn ang="0">
                  <a:pos x="2" y="4"/>
                </a:cxn>
                <a:cxn ang="0">
                  <a:pos x="0" y="9"/>
                </a:cxn>
                <a:cxn ang="0">
                  <a:pos x="11" y="3"/>
                </a:cxn>
              </a:cxnLst>
              <a:rect l="0" t="0" r="r" b="b"/>
              <a:pathLst>
                <a:path w="11" h="9">
                  <a:moveTo>
                    <a:pt x="11" y="3"/>
                  </a:moveTo>
                  <a:lnTo>
                    <a:pt x="11" y="0"/>
                  </a:lnTo>
                  <a:lnTo>
                    <a:pt x="2" y="4"/>
                  </a:lnTo>
                  <a:lnTo>
                    <a:pt x="0" y="9"/>
                  </a:lnTo>
                  <a:lnTo>
                    <a:pt x="11"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3" name="Freeform 422"/>
            <p:cNvSpPr>
              <a:spLocks/>
            </p:cNvSpPr>
            <p:nvPr/>
          </p:nvSpPr>
          <p:spPr bwMode="auto">
            <a:xfrm>
              <a:off x="2511" y="1514"/>
              <a:ext cx="5" cy="9"/>
            </a:xfrm>
            <a:custGeom>
              <a:avLst/>
              <a:gdLst/>
              <a:ahLst/>
              <a:cxnLst>
                <a:cxn ang="0">
                  <a:pos x="1" y="0"/>
                </a:cxn>
                <a:cxn ang="0">
                  <a:pos x="1" y="3"/>
                </a:cxn>
                <a:cxn ang="0">
                  <a:pos x="0" y="5"/>
                </a:cxn>
                <a:cxn ang="0">
                  <a:pos x="1" y="8"/>
                </a:cxn>
                <a:cxn ang="0">
                  <a:pos x="5" y="0"/>
                </a:cxn>
                <a:cxn ang="0">
                  <a:pos x="1" y="0"/>
                </a:cxn>
              </a:cxnLst>
              <a:rect l="0" t="0" r="r" b="b"/>
              <a:pathLst>
                <a:path w="5" h="8">
                  <a:moveTo>
                    <a:pt x="1" y="0"/>
                  </a:moveTo>
                  <a:lnTo>
                    <a:pt x="1" y="3"/>
                  </a:lnTo>
                  <a:lnTo>
                    <a:pt x="0" y="5"/>
                  </a:lnTo>
                  <a:lnTo>
                    <a:pt x="1" y="8"/>
                  </a:lnTo>
                  <a:lnTo>
                    <a:pt x="5" y="0"/>
                  </a:lnTo>
                  <a:lnTo>
                    <a:pt x="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4" name="Freeform 423"/>
            <p:cNvSpPr>
              <a:spLocks/>
            </p:cNvSpPr>
            <p:nvPr/>
          </p:nvSpPr>
          <p:spPr bwMode="auto">
            <a:xfrm>
              <a:off x="2442" y="1588"/>
              <a:ext cx="7" cy="4"/>
            </a:xfrm>
            <a:custGeom>
              <a:avLst/>
              <a:gdLst/>
              <a:ahLst/>
              <a:cxnLst>
                <a:cxn ang="0">
                  <a:pos x="0" y="4"/>
                </a:cxn>
                <a:cxn ang="0">
                  <a:pos x="7" y="2"/>
                </a:cxn>
                <a:cxn ang="0">
                  <a:pos x="0" y="0"/>
                </a:cxn>
                <a:cxn ang="0">
                  <a:pos x="0" y="4"/>
                </a:cxn>
              </a:cxnLst>
              <a:rect l="0" t="0" r="r" b="b"/>
              <a:pathLst>
                <a:path w="7" h="4">
                  <a:moveTo>
                    <a:pt x="0" y="4"/>
                  </a:moveTo>
                  <a:lnTo>
                    <a:pt x="7" y="2"/>
                  </a:lnTo>
                  <a:lnTo>
                    <a:pt x="0" y="0"/>
                  </a:lnTo>
                  <a:lnTo>
                    <a:pt x="0"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5" name="Freeform 424"/>
            <p:cNvSpPr>
              <a:spLocks/>
            </p:cNvSpPr>
            <p:nvPr/>
          </p:nvSpPr>
          <p:spPr bwMode="auto">
            <a:xfrm>
              <a:off x="2465" y="1648"/>
              <a:ext cx="4" cy="2"/>
            </a:xfrm>
            <a:custGeom>
              <a:avLst/>
              <a:gdLst/>
              <a:ahLst/>
              <a:cxnLst>
                <a:cxn ang="0">
                  <a:pos x="5" y="3"/>
                </a:cxn>
                <a:cxn ang="0">
                  <a:pos x="1" y="0"/>
                </a:cxn>
                <a:cxn ang="0">
                  <a:pos x="0" y="4"/>
                </a:cxn>
                <a:cxn ang="0">
                  <a:pos x="5" y="3"/>
                </a:cxn>
              </a:cxnLst>
              <a:rect l="0" t="0" r="r" b="b"/>
              <a:pathLst>
                <a:path w="5" h="4">
                  <a:moveTo>
                    <a:pt x="5" y="3"/>
                  </a:moveTo>
                  <a:lnTo>
                    <a:pt x="1" y="0"/>
                  </a:lnTo>
                  <a:lnTo>
                    <a:pt x="0" y="4"/>
                  </a:lnTo>
                  <a:lnTo>
                    <a:pt x="5" y="3"/>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6" name="Freeform 425"/>
            <p:cNvSpPr>
              <a:spLocks/>
            </p:cNvSpPr>
            <p:nvPr/>
          </p:nvSpPr>
          <p:spPr bwMode="auto">
            <a:xfrm>
              <a:off x="2556" y="1856"/>
              <a:ext cx="4" cy="3"/>
            </a:xfrm>
            <a:custGeom>
              <a:avLst/>
              <a:gdLst/>
              <a:ahLst/>
              <a:cxnLst>
                <a:cxn ang="0">
                  <a:pos x="4" y="0"/>
                </a:cxn>
                <a:cxn ang="0">
                  <a:pos x="0" y="0"/>
                </a:cxn>
                <a:cxn ang="0">
                  <a:pos x="0" y="1"/>
                </a:cxn>
                <a:cxn ang="0">
                  <a:pos x="3" y="2"/>
                </a:cxn>
                <a:cxn ang="0">
                  <a:pos x="4" y="0"/>
                </a:cxn>
              </a:cxnLst>
              <a:rect l="0" t="0" r="r" b="b"/>
              <a:pathLst>
                <a:path w="4" h="2">
                  <a:moveTo>
                    <a:pt x="4" y="0"/>
                  </a:moveTo>
                  <a:lnTo>
                    <a:pt x="0" y="0"/>
                  </a:lnTo>
                  <a:lnTo>
                    <a:pt x="0" y="1"/>
                  </a:lnTo>
                  <a:lnTo>
                    <a:pt x="3" y="2"/>
                  </a:lnTo>
                  <a:lnTo>
                    <a:pt x="4"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7" name="Freeform 426"/>
            <p:cNvSpPr>
              <a:spLocks/>
            </p:cNvSpPr>
            <p:nvPr/>
          </p:nvSpPr>
          <p:spPr bwMode="auto">
            <a:xfrm>
              <a:off x="1442" y="2059"/>
              <a:ext cx="5" cy="2"/>
            </a:xfrm>
            <a:custGeom>
              <a:avLst/>
              <a:gdLst/>
              <a:ahLst/>
              <a:cxnLst>
                <a:cxn ang="0">
                  <a:pos x="2" y="0"/>
                </a:cxn>
                <a:cxn ang="0">
                  <a:pos x="1" y="1"/>
                </a:cxn>
                <a:cxn ang="0">
                  <a:pos x="1" y="2"/>
                </a:cxn>
                <a:cxn ang="0">
                  <a:pos x="0" y="2"/>
                </a:cxn>
                <a:cxn ang="0">
                  <a:pos x="1" y="2"/>
                </a:cxn>
                <a:cxn ang="0">
                  <a:pos x="2" y="1"/>
                </a:cxn>
                <a:cxn ang="0">
                  <a:pos x="2" y="0"/>
                </a:cxn>
              </a:cxnLst>
              <a:rect l="0" t="0" r="r" b="b"/>
              <a:pathLst>
                <a:path w="2" h="2">
                  <a:moveTo>
                    <a:pt x="2" y="0"/>
                  </a:moveTo>
                  <a:lnTo>
                    <a:pt x="1" y="1"/>
                  </a:lnTo>
                  <a:lnTo>
                    <a:pt x="1" y="2"/>
                  </a:lnTo>
                  <a:lnTo>
                    <a:pt x="0" y="2"/>
                  </a:lnTo>
                  <a:lnTo>
                    <a:pt x="1" y="2"/>
                  </a:lnTo>
                  <a:lnTo>
                    <a:pt x="2" y="1"/>
                  </a:lnTo>
                  <a:lnTo>
                    <a:pt x="2"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8" name="Freeform 427"/>
            <p:cNvSpPr>
              <a:spLocks/>
            </p:cNvSpPr>
            <p:nvPr/>
          </p:nvSpPr>
          <p:spPr bwMode="auto">
            <a:xfrm>
              <a:off x="2376" y="1867"/>
              <a:ext cx="53" cy="100"/>
            </a:xfrm>
            <a:custGeom>
              <a:avLst/>
              <a:gdLst/>
              <a:ahLst/>
              <a:cxnLst>
                <a:cxn ang="0">
                  <a:pos x="21" y="0"/>
                </a:cxn>
                <a:cxn ang="0">
                  <a:pos x="13" y="0"/>
                </a:cxn>
                <a:cxn ang="0">
                  <a:pos x="13" y="22"/>
                </a:cxn>
                <a:cxn ang="0">
                  <a:pos x="8" y="34"/>
                </a:cxn>
                <a:cxn ang="0">
                  <a:pos x="2" y="47"/>
                </a:cxn>
                <a:cxn ang="0">
                  <a:pos x="0" y="59"/>
                </a:cxn>
                <a:cxn ang="0">
                  <a:pos x="7" y="63"/>
                </a:cxn>
                <a:cxn ang="0">
                  <a:pos x="9" y="64"/>
                </a:cxn>
                <a:cxn ang="0">
                  <a:pos x="8" y="89"/>
                </a:cxn>
                <a:cxn ang="0">
                  <a:pos x="30" y="87"/>
                </a:cxn>
                <a:cxn ang="0">
                  <a:pos x="29" y="82"/>
                </a:cxn>
                <a:cxn ang="0">
                  <a:pos x="35" y="71"/>
                </a:cxn>
                <a:cxn ang="0">
                  <a:pos x="33" y="66"/>
                </a:cxn>
                <a:cxn ang="0">
                  <a:pos x="35" y="57"/>
                </a:cxn>
                <a:cxn ang="0">
                  <a:pos x="29" y="42"/>
                </a:cxn>
                <a:cxn ang="0">
                  <a:pos x="35" y="41"/>
                </a:cxn>
                <a:cxn ang="0">
                  <a:pos x="39" y="20"/>
                </a:cxn>
                <a:cxn ang="0">
                  <a:pos x="48" y="11"/>
                </a:cxn>
                <a:cxn ang="0">
                  <a:pos x="45" y="3"/>
                </a:cxn>
                <a:cxn ang="0">
                  <a:pos x="26" y="2"/>
                </a:cxn>
                <a:cxn ang="0">
                  <a:pos x="21" y="0"/>
                </a:cxn>
              </a:cxnLst>
              <a:rect l="0" t="0" r="r" b="b"/>
              <a:pathLst>
                <a:path w="48" h="89">
                  <a:moveTo>
                    <a:pt x="21" y="0"/>
                  </a:moveTo>
                  <a:lnTo>
                    <a:pt x="13" y="0"/>
                  </a:lnTo>
                  <a:lnTo>
                    <a:pt x="13" y="22"/>
                  </a:lnTo>
                  <a:lnTo>
                    <a:pt x="8" y="34"/>
                  </a:lnTo>
                  <a:lnTo>
                    <a:pt x="2" y="47"/>
                  </a:lnTo>
                  <a:lnTo>
                    <a:pt x="0" y="59"/>
                  </a:lnTo>
                  <a:lnTo>
                    <a:pt x="7" y="63"/>
                  </a:lnTo>
                  <a:lnTo>
                    <a:pt x="9" y="64"/>
                  </a:lnTo>
                  <a:lnTo>
                    <a:pt x="8" y="89"/>
                  </a:lnTo>
                  <a:lnTo>
                    <a:pt x="30" y="87"/>
                  </a:lnTo>
                  <a:lnTo>
                    <a:pt x="29" y="82"/>
                  </a:lnTo>
                  <a:lnTo>
                    <a:pt x="35" y="71"/>
                  </a:lnTo>
                  <a:lnTo>
                    <a:pt x="33" y="66"/>
                  </a:lnTo>
                  <a:lnTo>
                    <a:pt x="35" y="57"/>
                  </a:lnTo>
                  <a:lnTo>
                    <a:pt x="29" y="42"/>
                  </a:lnTo>
                  <a:lnTo>
                    <a:pt x="35" y="41"/>
                  </a:lnTo>
                  <a:lnTo>
                    <a:pt x="39" y="20"/>
                  </a:lnTo>
                  <a:lnTo>
                    <a:pt x="48" y="11"/>
                  </a:lnTo>
                  <a:lnTo>
                    <a:pt x="45" y="3"/>
                  </a:lnTo>
                  <a:lnTo>
                    <a:pt x="26" y="2"/>
                  </a:lnTo>
                  <a:lnTo>
                    <a:pt x="21" y="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29" name="Freeform 428"/>
            <p:cNvSpPr>
              <a:spLocks/>
            </p:cNvSpPr>
            <p:nvPr/>
          </p:nvSpPr>
          <p:spPr bwMode="auto">
            <a:xfrm>
              <a:off x="2387" y="1834"/>
              <a:ext cx="195" cy="149"/>
            </a:xfrm>
            <a:custGeom>
              <a:avLst/>
              <a:gdLst/>
              <a:ahLst/>
              <a:cxnLst>
                <a:cxn ang="0">
                  <a:pos x="36" y="34"/>
                </a:cxn>
                <a:cxn ang="0">
                  <a:pos x="17" y="33"/>
                </a:cxn>
                <a:cxn ang="0">
                  <a:pos x="12" y="31"/>
                </a:cxn>
                <a:cxn ang="0">
                  <a:pos x="4" y="31"/>
                </a:cxn>
                <a:cxn ang="0">
                  <a:pos x="3" y="27"/>
                </a:cxn>
                <a:cxn ang="0">
                  <a:pos x="2" y="23"/>
                </a:cxn>
                <a:cxn ang="0">
                  <a:pos x="2" y="21"/>
                </a:cxn>
                <a:cxn ang="0">
                  <a:pos x="0" y="17"/>
                </a:cxn>
                <a:cxn ang="0">
                  <a:pos x="0" y="10"/>
                </a:cxn>
                <a:cxn ang="0">
                  <a:pos x="22" y="0"/>
                </a:cxn>
                <a:cxn ang="0">
                  <a:pos x="40" y="3"/>
                </a:cxn>
                <a:cxn ang="0">
                  <a:pos x="56" y="4"/>
                </a:cxn>
                <a:cxn ang="0">
                  <a:pos x="72" y="5"/>
                </a:cxn>
                <a:cxn ang="0">
                  <a:pos x="88" y="5"/>
                </a:cxn>
                <a:cxn ang="0">
                  <a:pos x="105" y="6"/>
                </a:cxn>
                <a:cxn ang="0">
                  <a:pos x="112" y="12"/>
                </a:cxn>
                <a:cxn ang="0">
                  <a:pos x="152" y="21"/>
                </a:cxn>
                <a:cxn ang="0">
                  <a:pos x="152" y="22"/>
                </a:cxn>
                <a:cxn ang="0">
                  <a:pos x="155" y="23"/>
                </a:cxn>
                <a:cxn ang="0">
                  <a:pos x="177" y="23"/>
                </a:cxn>
                <a:cxn ang="0">
                  <a:pos x="173" y="36"/>
                </a:cxn>
                <a:cxn ang="0">
                  <a:pos x="158" y="45"/>
                </a:cxn>
                <a:cxn ang="0">
                  <a:pos x="142" y="53"/>
                </a:cxn>
                <a:cxn ang="0">
                  <a:pos x="134" y="65"/>
                </a:cxn>
                <a:cxn ang="0">
                  <a:pos x="125" y="78"/>
                </a:cxn>
                <a:cxn ang="0">
                  <a:pos x="131" y="91"/>
                </a:cxn>
                <a:cxn ang="0">
                  <a:pos x="119" y="106"/>
                </a:cxn>
                <a:cxn ang="0">
                  <a:pos x="116" y="111"/>
                </a:cxn>
                <a:cxn ang="0">
                  <a:pos x="104" y="117"/>
                </a:cxn>
                <a:cxn ang="0">
                  <a:pos x="96" y="124"/>
                </a:cxn>
                <a:cxn ang="0">
                  <a:pos x="80" y="126"/>
                </a:cxn>
                <a:cxn ang="0">
                  <a:pos x="62" y="129"/>
                </a:cxn>
                <a:cxn ang="0">
                  <a:pos x="51" y="136"/>
                </a:cxn>
                <a:cxn ang="0">
                  <a:pos x="50" y="136"/>
                </a:cxn>
                <a:cxn ang="0">
                  <a:pos x="40" y="135"/>
                </a:cxn>
                <a:cxn ang="0">
                  <a:pos x="36" y="123"/>
                </a:cxn>
                <a:cxn ang="0">
                  <a:pos x="26" y="117"/>
                </a:cxn>
                <a:cxn ang="0">
                  <a:pos x="21" y="118"/>
                </a:cxn>
                <a:cxn ang="0">
                  <a:pos x="20" y="113"/>
                </a:cxn>
                <a:cxn ang="0">
                  <a:pos x="26" y="102"/>
                </a:cxn>
                <a:cxn ang="0">
                  <a:pos x="24" y="97"/>
                </a:cxn>
                <a:cxn ang="0">
                  <a:pos x="26" y="88"/>
                </a:cxn>
                <a:cxn ang="0">
                  <a:pos x="20" y="73"/>
                </a:cxn>
                <a:cxn ang="0">
                  <a:pos x="26" y="72"/>
                </a:cxn>
                <a:cxn ang="0">
                  <a:pos x="30" y="51"/>
                </a:cxn>
                <a:cxn ang="0">
                  <a:pos x="39" y="42"/>
                </a:cxn>
                <a:cxn ang="0">
                  <a:pos x="36" y="34"/>
                </a:cxn>
              </a:cxnLst>
              <a:rect l="0" t="0" r="r" b="b"/>
              <a:pathLst>
                <a:path w="177" h="136">
                  <a:moveTo>
                    <a:pt x="36" y="34"/>
                  </a:moveTo>
                  <a:lnTo>
                    <a:pt x="17" y="33"/>
                  </a:lnTo>
                  <a:lnTo>
                    <a:pt x="12" y="31"/>
                  </a:lnTo>
                  <a:lnTo>
                    <a:pt x="4" y="31"/>
                  </a:lnTo>
                  <a:lnTo>
                    <a:pt x="3" y="27"/>
                  </a:lnTo>
                  <a:lnTo>
                    <a:pt x="2" y="23"/>
                  </a:lnTo>
                  <a:lnTo>
                    <a:pt x="2" y="21"/>
                  </a:lnTo>
                  <a:lnTo>
                    <a:pt x="0" y="17"/>
                  </a:lnTo>
                  <a:lnTo>
                    <a:pt x="0" y="10"/>
                  </a:lnTo>
                  <a:lnTo>
                    <a:pt x="22" y="0"/>
                  </a:lnTo>
                  <a:lnTo>
                    <a:pt x="40" y="3"/>
                  </a:lnTo>
                  <a:lnTo>
                    <a:pt x="56" y="4"/>
                  </a:lnTo>
                  <a:lnTo>
                    <a:pt x="72" y="5"/>
                  </a:lnTo>
                  <a:lnTo>
                    <a:pt x="88" y="5"/>
                  </a:lnTo>
                  <a:lnTo>
                    <a:pt x="105" y="6"/>
                  </a:lnTo>
                  <a:lnTo>
                    <a:pt x="112" y="12"/>
                  </a:lnTo>
                  <a:lnTo>
                    <a:pt x="152" y="21"/>
                  </a:lnTo>
                  <a:lnTo>
                    <a:pt x="152" y="22"/>
                  </a:lnTo>
                  <a:lnTo>
                    <a:pt x="155" y="23"/>
                  </a:lnTo>
                  <a:lnTo>
                    <a:pt x="177" y="23"/>
                  </a:lnTo>
                  <a:lnTo>
                    <a:pt x="173" y="36"/>
                  </a:lnTo>
                  <a:lnTo>
                    <a:pt x="158" y="45"/>
                  </a:lnTo>
                  <a:lnTo>
                    <a:pt x="142" y="53"/>
                  </a:lnTo>
                  <a:lnTo>
                    <a:pt x="134" y="65"/>
                  </a:lnTo>
                  <a:lnTo>
                    <a:pt x="125" y="78"/>
                  </a:lnTo>
                  <a:lnTo>
                    <a:pt x="131" y="91"/>
                  </a:lnTo>
                  <a:lnTo>
                    <a:pt x="119" y="106"/>
                  </a:lnTo>
                  <a:lnTo>
                    <a:pt x="116" y="111"/>
                  </a:lnTo>
                  <a:lnTo>
                    <a:pt x="104" y="117"/>
                  </a:lnTo>
                  <a:lnTo>
                    <a:pt x="96" y="124"/>
                  </a:lnTo>
                  <a:lnTo>
                    <a:pt x="80" y="126"/>
                  </a:lnTo>
                  <a:lnTo>
                    <a:pt x="62" y="129"/>
                  </a:lnTo>
                  <a:lnTo>
                    <a:pt x="51" y="136"/>
                  </a:lnTo>
                  <a:lnTo>
                    <a:pt x="50" y="136"/>
                  </a:lnTo>
                  <a:lnTo>
                    <a:pt x="40" y="135"/>
                  </a:lnTo>
                  <a:lnTo>
                    <a:pt x="36" y="123"/>
                  </a:lnTo>
                  <a:lnTo>
                    <a:pt x="26" y="117"/>
                  </a:lnTo>
                  <a:lnTo>
                    <a:pt x="21" y="118"/>
                  </a:lnTo>
                  <a:lnTo>
                    <a:pt x="20" y="113"/>
                  </a:lnTo>
                  <a:lnTo>
                    <a:pt x="26" y="102"/>
                  </a:lnTo>
                  <a:lnTo>
                    <a:pt x="24" y="97"/>
                  </a:lnTo>
                  <a:lnTo>
                    <a:pt x="26" y="88"/>
                  </a:lnTo>
                  <a:lnTo>
                    <a:pt x="20" y="73"/>
                  </a:lnTo>
                  <a:lnTo>
                    <a:pt x="26" y="72"/>
                  </a:lnTo>
                  <a:lnTo>
                    <a:pt x="30" y="51"/>
                  </a:lnTo>
                  <a:lnTo>
                    <a:pt x="39" y="42"/>
                  </a:lnTo>
                  <a:lnTo>
                    <a:pt x="36" y="3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0" name="Freeform 429"/>
            <p:cNvSpPr>
              <a:spLocks/>
            </p:cNvSpPr>
            <p:nvPr/>
          </p:nvSpPr>
          <p:spPr bwMode="auto">
            <a:xfrm>
              <a:off x="2571" y="1910"/>
              <a:ext cx="18" cy="11"/>
            </a:xfrm>
            <a:custGeom>
              <a:avLst/>
              <a:gdLst/>
              <a:ahLst/>
              <a:cxnLst>
                <a:cxn ang="0">
                  <a:pos x="16" y="2"/>
                </a:cxn>
                <a:cxn ang="0">
                  <a:pos x="7" y="8"/>
                </a:cxn>
                <a:cxn ang="0">
                  <a:pos x="0" y="2"/>
                </a:cxn>
                <a:cxn ang="0">
                  <a:pos x="10" y="0"/>
                </a:cxn>
                <a:cxn ang="0">
                  <a:pos x="16" y="2"/>
                </a:cxn>
              </a:cxnLst>
              <a:rect l="0" t="0" r="r" b="b"/>
              <a:pathLst>
                <a:path w="16" h="8">
                  <a:moveTo>
                    <a:pt x="16" y="2"/>
                  </a:moveTo>
                  <a:lnTo>
                    <a:pt x="7" y="8"/>
                  </a:lnTo>
                  <a:lnTo>
                    <a:pt x="0" y="2"/>
                  </a:lnTo>
                  <a:lnTo>
                    <a:pt x="10" y="0"/>
                  </a:lnTo>
                  <a:lnTo>
                    <a:pt x="16" y="2"/>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1" name="Freeform 430"/>
            <p:cNvSpPr>
              <a:spLocks/>
            </p:cNvSpPr>
            <p:nvPr/>
          </p:nvSpPr>
          <p:spPr bwMode="auto">
            <a:xfrm>
              <a:off x="514" y="1723"/>
              <a:ext cx="960" cy="480"/>
            </a:xfrm>
            <a:custGeom>
              <a:avLst/>
              <a:gdLst/>
              <a:ahLst/>
              <a:cxnLst>
                <a:cxn ang="0">
                  <a:pos x="855" y="36"/>
                </a:cxn>
                <a:cxn ang="0">
                  <a:pos x="809" y="69"/>
                </a:cxn>
                <a:cxn ang="0">
                  <a:pos x="716" y="101"/>
                </a:cxn>
                <a:cxn ang="0">
                  <a:pos x="648" y="125"/>
                </a:cxn>
                <a:cxn ang="0">
                  <a:pos x="639" y="102"/>
                </a:cxn>
                <a:cxn ang="0">
                  <a:pos x="630" y="57"/>
                </a:cxn>
                <a:cxn ang="0">
                  <a:pos x="581" y="19"/>
                </a:cxn>
                <a:cxn ang="0">
                  <a:pos x="502" y="9"/>
                </a:cxn>
                <a:cxn ang="0">
                  <a:pos x="425" y="6"/>
                </a:cxn>
                <a:cxn ang="0">
                  <a:pos x="306" y="6"/>
                </a:cxn>
                <a:cxn ang="0">
                  <a:pos x="186" y="6"/>
                </a:cxn>
                <a:cxn ang="0">
                  <a:pos x="102" y="35"/>
                </a:cxn>
                <a:cxn ang="0">
                  <a:pos x="93" y="35"/>
                </a:cxn>
                <a:cxn ang="0">
                  <a:pos x="76" y="41"/>
                </a:cxn>
                <a:cxn ang="0">
                  <a:pos x="66" y="54"/>
                </a:cxn>
                <a:cxn ang="0">
                  <a:pos x="27" y="111"/>
                </a:cxn>
                <a:cxn ang="0">
                  <a:pos x="0" y="176"/>
                </a:cxn>
                <a:cxn ang="0">
                  <a:pos x="10" y="200"/>
                </a:cxn>
                <a:cxn ang="0">
                  <a:pos x="10" y="219"/>
                </a:cxn>
                <a:cxn ang="0">
                  <a:pos x="17" y="264"/>
                </a:cxn>
                <a:cxn ang="0">
                  <a:pos x="86" y="296"/>
                </a:cxn>
                <a:cxn ang="0">
                  <a:pos x="154" y="320"/>
                </a:cxn>
                <a:cxn ang="0">
                  <a:pos x="222" y="348"/>
                </a:cxn>
                <a:cxn ang="0">
                  <a:pos x="280" y="367"/>
                </a:cxn>
                <a:cxn ang="0">
                  <a:pos x="320" y="396"/>
                </a:cxn>
                <a:cxn ang="0">
                  <a:pos x="328" y="380"/>
                </a:cxn>
                <a:cxn ang="0">
                  <a:pos x="345" y="372"/>
                </a:cxn>
                <a:cxn ang="0">
                  <a:pos x="374" y="353"/>
                </a:cxn>
                <a:cxn ang="0">
                  <a:pos x="412" y="350"/>
                </a:cxn>
                <a:cxn ang="0">
                  <a:pos x="441" y="351"/>
                </a:cxn>
                <a:cxn ang="0">
                  <a:pos x="454" y="345"/>
                </a:cxn>
                <a:cxn ang="0">
                  <a:pos x="476" y="338"/>
                </a:cxn>
                <a:cxn ang="0">
                  <a:pos x="490" y="338"/>
                </a:cxn>
                <a:cxn ang="0">
                  <a:pos x="515" y="344"/>
                </a:cxn>
                <a:cxn ang="0">
                  <a:pos x="552" y="366"/>
                </a:cxn>
                <a:cxn ang="0">
                  <a:pos x="550" y="392"/>
                </a:cxn>
                <a:cxn ang="0">
                  <a:pos x="557" y="408"/>
                </a:cxn>
                <a:cxn ang="0">
                  <a:pos x="586" y="399"/>
                </a:cxn>
                <a:cxn ang="0">
                  <a:pos x="581" y="354"/>
                </a:cxn>
                <a:cxn ang="0">
                  <a:pos x="591" y="311"/>
                </a:cxn>
                <a:cxn ang="0">
                  <a:pos x="624" y="285"/>
                </a:cxn>
                <a:cxn ang="0">
                  <a:pos x="664" y="252"/>
                </a:cxn>
                <a:cxn ang="0">
                  <a:pos x="687" y="237"/>
                </a:cxn>
                <a:cxn ang="0">
                  <a:pos x="681" y="235"/>
                </a:cxn>
                <a:cxn ang="0">
                  <a:pos x="686" y="219"/>
                </a:cxn>
                <a:cxn ang="0">
                  <a:pos x="687" y="213"/>
                </a:cxn>
                <a:cxn ang="0">
                  <a:pos x="684" y="186"/>
                </a:cxn>
                <a:cxn ang="0">
                  <a:pos x="694" y="179"/>
                </a:cxn>
                <a:cxn ang="0">
                  <a:pos x="699" y="197"/>
                </a:cxn>
                <a:cxn ang="0">
                  <a:pos x="710" y="193"/>
                </a:cxn>
                <a:cxn ang="0">
                  <a:pos x="714" y="183"/>
                </a:cxn>
                <a:cxn ang="0">
                  <a:pos x="741" y="150"/>
                </a:cxn>
                <a:cxn ang="0">
                  <a:pos x="784" y="135"/>
                </a:cxn>
                <a:cxn ang="0">
                  <a:pos x="803" y="133"/>
                </a:cxn>
                <a:cxn ang="0">
                  <a:pos x="819" y="96"/>
                </a:cxn>
                <a:cxn ang="0">
                  <a:pos x="845" y="87"/>
                </a:cxn>
              </a:cxnLst>
              <a:rect l="0" t="0" r="r" b="b"/>
              <a:pathLst>
                <a:path w="864" h="431">
                  <a:moveTo>
                    <a:pt x="863" y="79"/>
                  </a:moveTo>
                  <a:lnTo>
                    <a:pt x="862" y="73"/>
                  </a:lnTo>
                  <a:lnTo>
                    <a:pt x="858" y="61"/>
                  </a:lnTo>
                  <a:lnTo>
                    <a:pt x="864" y="39"/>
                  </a:lnTo>
                  <a:lnTo>
                    <a:pt x="855" y="36"/>
                  </a:lnTo>
                  <a:lnTo>
                    <a:pt x="849" y="36"/>
                  </a:lnTo>
                  <a:lnTo>
                    <a:pt x="848" y="33"/>
                  </a:lnTo>
                  <a:lnTo>
                    <a:pt x="834" y="45"/>
                  </a:lnTo>
                  <a:lnTo>
                    <a:pt x="822" y="59"/>
                  </a:lnTo>
                  <a:lnTo>
                    <a:pt x="809" y="69"/>
                  </a:lnTo>
                  <a:lnTo>
                    <a:pt x="800" y="75"/>
                  </a:lnTo>
                  <a:lnTo>
                    <a:pt x="772" y="78"/>
                  </a:lnTo>
                  <a:lnTo>
                    <a:pt x="744" y="79"/>
                  </a:lnTo>
                  <a:lnTo>
                    <a:pt x="730" y="90"/>
                  </a:lnTo>
                  <a:lnTo>
                    <a:pt x="716" y="101"/>
                  </a:lnTo>
                  <a:lnTo>
                    <a:pt x="698" y="102"/>
                  </a:lnTo>
                  <a:lnTo>
                    <a:pt x="681" y="103"/>
                  </a:lnTo>
                  <a:lnTo>
                    <a:pt x="680" y="115"/>
                  </a:lnTo>
                  <a:lnTo>
                    <a:pt x="664" y="120"/>
                  </a:lnTo>
                  <a:lnTo>
                    <a:pt x="648" y="125"/>
                  </a:lnTo>
                  <a:lnTo>
                    <a:pt x="634" y="129"/>
                  </a:lnTo>
                  <a:lnTo>
                    <a:pt x="618" y="135"/>
                  </a:lnTo>
                  <a:lnTo>
                    <a:pt x="614" y="128"/>
                  </a:lnTo>
                  <a:lnTo>
                    <a:pt x="632" y="111"/>
                  </a:lnTo>
                  <a:lnTo>
                    <a:pt x="639" y="102"/>
                  </a:lnTo>
                  <a:lnTo>
                    <a:pt x="641" y="85"/>
                  </a:lnTo>
                  <a:lnTo>
                    <a:pt x="645" y="69"/>
                  </a:lnTo>
                  <a:lnTo>
                    <a:pt x="634" y="61"/>
                  </a:lnTo>
                  <a:lnTo>
                    <a:pt x="635" y="56"/>
                  </a:lnTo>
                  <a:lnTo>
                    <a:pt x="630" y="57"/>
                  </a:lnTo>
                  <a:lnTo>
                    <a:pt x="629" y="50"/>
                  </a:lnTo>
                  <a:lnTo>
                    <a:pt x="617" y="42"/>
                  </a:lnTo>
                  <a:lnTo>
                    <a:pt x="605" y="35"/>
                  </a:lnTo>
                  <a:lnTo>
                    <a:pt x="593" y="27"/>
                  </a:lnTo>
                  <a:lnTo>
                    <a:pt x="581" y="19"/>
                  </a:lnTo>
                  <a:lnTo>
                    <a:pt x="562" y="24"/>
                  </a:lnTo>
                  <a:lnTo>
                    <a:pt x="550" y="19"/>
                  </a:lnTo>
                  <a:lnTo>
                    <a:pt x="538" y="21"/>
                  </a:lnTo>
                  <a:lnTo>
                    <a:pt x="518" y="13"/>
                  </a:lnTo>
                  <a:lnTo>
                    <a:pt x="502" y="9"/>
                  </a:lnTo>
                  <a:lnTo>
                    <a:pt x="503" y="0"/>
                  </a:lnTo>
                  <a:lnTo>
                    <a:pt x="497" y="6"/>
                  </a:lnTo>
                  <a:lnTo>
                    <a:pt x="473" y="6"/>
                  </a:lnTo>
                  <a:lnTo>
                    <a:pt x="449" y="6"/>
                  </a:lnTo>
                  <a:lnTo>
                    <a:pt x="425" y="6"/>
                  </a:lnTo>
                  <a:lnTo>
                    <a:pt x="401" y="6"/>
                  </a:lnTo>
                  <a:lnTo>
                    <a:pt x="377" y="6"/>
                  </a:lnTo>
                  <a:lnTo>
                    <a:pt x="354" y="6"/>
                  </a:lnTo>
                  <a:lnTo>
                    <a:pt x="330" y="6"/>
                  </a:lnTo>
                  <a:lnTo>
                    <a:pt x="306" y="6"/>
                  </a:lnTo>
                  <a:lnTo>
                    <a:pt x="282" y="6"/>
                  </a:lnTo>
                  <a:lnTo>
                    <a:pt x="258" y="6"/>
                  </a:lnTo>
                  <a:lnTo>
                    <a:pt x="234" y="6"/>
                  </a:lnTo>
                  <a:lnTo>
                    <a:pt x="210" y="6"/>
                  </a:lnTo>
                  <a:lnTo>
                    <a:pt x="186" y="6"/>
                  </a:lnTo>
                  <a:lnTo>
                    <a:pt x="162" y="6"/>
                  </a:lnTo>
                  <a:lnTo>
                    <a:pt x="138" y="6"/>
                  </a:lnTo>
                  <a:lnTo>
                    <a:pt x="114" y="6"/>
                  </a:lnTo>
                  <a:lnTo>
                    <a:pt x="110" y="20"/>
                  </a:lnTo>
                  <a:lnTo>
                    <a:pt x="102" y="35"/>
                  </a:lnTo>
                  <a:lnTo>
                    <a:pt x="92" y="39"/>
                  </a:lnTo>
                  <a:lnTo>
                    <a:pt x="94" y="36"/>
                  </a:lnTo>
                  <a:lnTo>
                    <a:pt x="95" y="38"/>
                  </a:lnTo>
                  <a:lnTo>
                    <a:pt x="106" y="25"/>
                  </a:lnTo>
                  <a:lnTo>
                    <a:pt x="93" y="35"/>
                  </a:lnTo>
                  <a:lnTo>
                    <a:pt x="92" y="35"/>
                  </a:lnTo>
                  <a:lnTo>
                    <a:pt x="100" y="27"/>
                  </a:lnTo>
                  <a:lnTo>
                    <a:pt x="105" y="21"/>
                  </a:lnTo>
                  <a:lnTo>
                    <a:pt x="83" y="17"/>
                  </a:lnTo>
                  <a:lnTo>
                    <a:pt x="76" y="41"/>
                  </a:lnTo>
                  <a:lnTo>
                    <a:pt x="74" y="43"/>
                  </a:lnTo>
                  <a:lnTo>
                    <a:pt x="72" y="47"/>
                  </a:lnTo>
                  <a:lnTo>
                    <a:pt x="71" y="49"/>
                  </a:lnTo>
                  <a:lnTo>
                    <a:pt x="70" y="47"/>
                  </a:lnTo>
                  <a:lnTo>
                    <a:pt x="66" y="54"/>
                  </a:lnTo>
                  <a:lnTo>
                    <a:pt x="76" y="56"/>
                  </a:lnTo>
                  <a:lnTo>
                    <a:pt x="69" y="56"/>
                  </a:lnTo>
                  <a:lnTo>
                    <a:pt x="62" y="65"/>
                  </a:lnTo>
                  <a:lnTo>
                    <a:pt x="44" y="87"/>
                  </a:lnTo>
                  <a:lnTo>
                    <a:pt x="27" y="111"/>
                  </a:lnTo>
                  <a:lnTo>
                    <a:pt x="22" y="126"/>
                  </a:lnTo>
                  <a:lnTo>
                    <a:pt x="17" y="140"/>
                  </a:lnTo>
                  <a:lnTo>
                    <a:pt x="2" y="157"/>
                  </a:lnTo>
                  <a:lnTo>
                    <a:pt x="3" y="163"/>
                  </a:lnTo>
                  <a:lnTo>
                    <a:pt x="0" y="176"/>
                  </a:lnTo>
                  <a:lnTo>
                    <a:pt x="3" y="188"/>
                  </a:lnTo>
                  <a:lnTo>
                    <a:pt x="5" y="199"/>
                  </a:lnTo>
                  <a:lnTo>
                    <a:pt x="4" y="197"/>
                  </a:lnTo>
                  <a:lnTo>
                    <a:pt x="3" y="200"/>
                  </a:lnTo>
                  <a:lnTo>
                    <a:pt x="10" y="200"/>
                  </a:lnTo>
                  <a:lnTo>
                    <a:pt x="14" y="200"/>
                  </a:lnTo>
                  <a:lnTo>
                    <a:pt x="11" y="210"/>
                  </a:lnTo>
                  <a:lnTo>
                    <a:pt x="8" y="207"/>
                  </a:lnTo>
                  <a:lnTo>
                    <a:pt x="5" y="210"/>
                  </a:lnTo>
                  <a:lnTo>
                    <a:pt x="10" y="219"/>
                  </a:lnTo>
                  <a:lnTo>
                    <a:pt x="5" y="227"/>
                  </a:lnTo>
                  <a:lnTo>
                    <a:pt x="9" y="236"/>
                  </a:lnTo>
                  <a:lnTo>
                    <a:pt x="12" y="247"/>
                  </a:lnTo>
                  <a:lnTo>
                    <a:pt x="9" y="263"/>
                  </a:lnTo>
                  <a:lnTo>
                    <a:pt x="17" y="264"/>
                  </a:lnTo>
                  <a:lnTo>
                    <a:pt x="33" y="272"/>
                  </a:lnTo>
                  <a:lnTo>
                    <a:pt x="48" y="284"/>
                  </a:lnTo>
                  <a:lnTo>
                    <a:pt x="48" y="299"/>
                  </a:lnTo>
                  <a:lnTo>
                    <a:pt x="66" y="297"/>
                  </a:lnTo>
                  <a:lnTo>
                    <a:pt x="86" y="296"/>
                  </a:lnTo>
                  <a:lnTo>
                    <a:pt x="96" y="302"/>
                  </a:lnTo>
                  <a:lnTo>
                    <a:pt x="108" y="308"/>
                  </a:lnTo>
                  <a:lnTo>
                    <a:pt x="120" y="314"/>
                  </a:lnTo>
                  <a:lnTo>
                    <a:pt x="132" y="320"/>
                  </a:lnTo>
                  <a:lnTo>
                    <a:pt x="154" y="320"/>
                  </a:lnTo>
                  <a:lnTo>
                    <a:pt x="176" y="320"/>
                  </a:lnTo>
                  <a:lnTo>
                    <a:pt x="179" y="312"/>
                  </a:lnTo>
                  <a:lnTo>
                    <a:pt x="204" y="312"/>
                  </a:lnTo>
                  <a:lnTo>
                    <a:pt x="218" y="330"/>
                  </a:lnTo>
                  <a:lnTo>
                    <a:pt x="222" y="348"/>
                  </a:lnTo>
                  <a:lnTo>
                    <a:pt x="231" y="355"/>
                  </a:lnTo>
                  <a:lnTo>
                    <a:pt x="240" y="362"/>
                  </a:lnTo>
                  <a:lnTo>
                    <a:pt x="251" y="349"/>
                  </a:lnTo>
                  <a:lnTo>
                    <a:pt x="273" y="351"/>
                  </a:lnTo>
                  <a:lnTo>
                    <a:pt x="280" y="367"/>
                  </a:lnTo>
                  <a:lnTo>
                    <a:pt x="286" y="384"/>
                  </a:lnTo>
                  <a:lnTo>
                    <a:pt x="292" y="405"/>
                  </a:lnTo>
                  <a:lnTo>
                    <a:pt x="302" y="414"/>
                  </a:lnTo>
                  <a:lnTo>
                    <a:pt x="321" y="416"/>
                  </a:lnTo>
                  <a:lnTo>
                    <a:pt x="320" y="396"/>
                  </a:lnTo>
                  <a:lnTo>
                    <a:pt x="318" y="393"/>
                  </a:lnTo>
                  <a:lnTo>
                    <a:pt x="317" y="390"/>
                  </a:lnTo>
                  <a:lnTo>
                    <a:pt x="322" y="392"/>
                  </a:lnTo>
                  <a:lnTo>
                    <a:pt x="324" y="383"/>
                  </a:lnTo>
                  <a:lnTo>
                    <a:pt x="328" y="380"/>
                  </a:lnTo>
                  <a:lnTo>
                    <a:pt x="336" y="374"/>
                  </a:lnTo>
                  <a:lnTo>
                    <a:pt x="341" y="371"/>
                  </a:lnTo>
                  <a:lnTo>
                    <a:pt x="341" y="368"/>
                  </a:lnTo>
                  <a:lnTo>
                    <a:pt x="348" y="368"/>
                  </a:lnTo>
                  <a:lnTo>
                    <a:pt x="345" y="372"/>
                  </a:lnTo>
                  <a:lnTo>
                    <a:pt x="353" y="367"/>
                  </a:lnTo>
                  <a:lnTo>
                    <a:pt x="350" y="367"/>
                  </a:lnTo>
                  <a:lnTo>
                    <a:pt x="368" y="355"/>
                  </a:lnTo>
                  <a:lnTo>
                    <a:pt x="370" y="350"/>
                  </a:lnTo>
                  <a:lnTo>
                    <a:pt x="374" y="353"/>
                  </a:lnTo>
                  <a:lnTo>
                    <a:pt x="372" y="354"/>
                  </a:lnTo>
                  <a:lnTo>
                    <a:pt x="384" y="347"/>
                  </a:lnTo>
                  <a:lnTo>
                    <a:pt x="387" y="347"/>
                  </a:lnTo>
                  <a:lnTo>
                    <a:pt x="399" y="349"/>
                  </a:lnTo>
                  <a:lnTo>
                    <a:pt x="412" y="350"/>
                  </a:lnTo>
                  <a:lnTo>
                    <a:pt x="419" y="349"/>
                  </a:lnTo>
                  <a:lnTo>
                    <a:pt x="424" y="355"/>
                  </a:lnTo>
                  <a:lnTo>
                    <a:pt x="434" y="357"/>
                  </a:lnTo>
                  <a:lnTo>
                    <a:pt x="442" y="359"/>
                  </a:lnTo>
                  <a:lnTo>
                    <a:pt x="441" y="351"/>
                  </a:lnTo>
                  <a:lnTo>
                    <a:pt x="453" y="360"/>
                  </a:lnTo>
                  <a:lnTo>
                    <a:pt x="450" y="363"/>
                  </a:lnTo>
                  <a:lnTo>
                    <a:pt x="455" y="357"/>
                  </a:lnTo>
                  <a:lnTo>
                    <a:pt x="449" y="349"/>
                  </a:lnTo>
                  <a:lnTo>
                    <a:pt x="454" y="345"/>
                  </a:lnTo>
                  <a:lnTo>
                    <a:pt x="452" y="344"/>
                  </a:lnTo>
                  <a:lnTo>
                    <a:pt x="450" y="343"/>
                  </a:lnTo>
                  <a:lnTo>
                    <a:pt x="440" y="341"/>
                  </a:lnTo>
                  <a:lnTo>
                    <a:pt x="450" y="341"/>
                  </a:lnTo>
                  <a:lnTo>
                    <a:pt x="476" y="338"/>
                  </a:lnTo>
                  <a:lnTo>
                    <a:pt x="479" y="331"/>
                  </a:lnTo>
                  <a:lnTo>
                    <a:pt x="478" y="339"/>
                  </a:lnTo>
                  <a:lnTo>
                    <a:pt x="485" y="338"/>
                  </a:lnTo>
                  <a:lnTo>
                    <a:pt x="494" y="336"/>
                  </a:lnTo>
                  <a:lnTo>
                    <a:pt x="490" y="338"/>
                  </a:lnTo>
                  <a:lnTo>
                    <a:pt x="504" y="337"/>
                  </a:lnTo>
                  <a:lnTo>
                    <a:pt x="501" y="337"/>
                  </a:lnTo>
                  <a:lnTo>
                    <a:pt x="509" y="339"/>
                  </a:lnTo>
                  <a:lnTo>
                    <a:pt x="513" y="339"/>
                  </a:lnTo>
                  <a:lnTo>
                    <a:pt x="515" y="344"/>
                  </a:lnTo>
                  <a:lnTo>
                    <a:pt x="512" y="342"/>
                  </a:lnTo>
                  <a:lnTo>
                    <a:pt x="515" y="350"/>
                  </a:lnTo>
                  <a:lnTo>
                    <a:pt x="537" y="343"/>
                  </a:lnTo>
                  <a:lnTo>
                    <a:pt x="545" y="354"/>
                  </a:lnTo>
                  <a:lnTo>
                    <a:pt x="552" y="366"/>
                  </a:lnTo>
                  <a:lnTo>
                    <a:pt x="549" y="386"/>
                  </a:lnTo>
                  <a:lnTo>
                    <a:pt x="548" y="383"/>
                  </a:lnTo>
                  <a:lnTo>
                    <a:pt x="549" y="386"/>
                  </a:lnTo>
                  <a:lnTo>
                    <a:pt x="552" y="381"/>
                  </a:lnTo>
                  <a:lnTo>
                    <a:pt x="550" y="392"/>
                  </a:lnTo>
                  <a:lnTo>
                    <a:pt x="554" y="399"/>
                  </a:lnTo>
                  <a:lnTo>
                    <a:pt x="556" y="401"/>
                  </a:lnTo>
                  <a:lnTo>
                    <a:pt x="556" y="407"/>
                  </a:lnTo>
                  <a:lnTo>
                    <a:pt x="560" y="403"/>
                  </a:lnTo>
                  <a:lnTo>
                    <a:pt x="557" y="408"/>
                  </a:lnTo>
                  <a:lnTo>
                    <a:pt x="560" y="417"/>
                  </a:lnTo>
                  <a:lnTo>
                    <a:pt x="567" y="431"/>
                  </a:lnTo>
                  <a:lnTo>
                    <a:pt x="576" y="428"/>
                  </a:lnTo>
                  <a:lnTo>
                    <a:pt x="581" y="414"/>
                  </a:lnTo>
                  <a:lnTo>
                    <a:pt x="586" y="399"/>
                  </a:lnTo>
                  <a:lnTo>
                    <a:pt x="584" y="384"/>
                  </a:lnTo>
                  <a:lnTo>
                    <a:pt x="581" y="368"/>
                  </a:lnTo>
                  <a:lnTo>
                    <a:pt x="584" y="383"/>
                  </a:lnTo>
                  <a:lnTo>
                    <a:pt x="582" y="368"/>
                  </a:lnTo>
                  <a:lnTo>
                    <a:pt x="581" y="354"/>
                  </a:lnTo>
                  <a:lnTo>
                    <a:pt x="580" y="339"/>
                  </a:lnTo>
                  <a:lnTo>
                    <a:pt x="579" y="325"/>
                  </a:lnTo>
                  <a:lnTo>
                    <a:pt x="584" y="321"/>
                  </a:lnTo>
                  <a:lnTo>
                    <a:pt x="585" y="319"/>
                  </a:lnTo>
                  <a:lnTo>
                    <a:pt x="591" y="311"/>
                  </a:lnTo>
                  <a:lnTo>
                    <a:pt x="596" y="302"/>
                  </a:lnTo>
                  <a:lnTo>
                    <a:pt x="597" y="301"/>
                  </a:lnTo>
                  <a:lnTo>
                    <a:pt x="602" y="300"/>
                  </a:lnTo>
                  <a:lnTo>
                    <a:pt x="622" y="285"/>
                  </a:lnTo>
                  <a:lnTo>
                    <a:pt x="624" y="285"/>
                  </a:lnTo>
                  <a:lnTo>
                    <a:pt x="640" y="275"/>
                  </a:lnTo>
                  <a:lnTo>
                    <a:pt x="646" y="272"/>
                  </a:lnTo>
                  <a:lnTo>
                    <a:pt x="657" y="261"/>
                  </a:lnTo>
                  <a:lnTo>
                    <a:pt x="675" y="255"/>
                  </a:lnTo>
                  <a:lnTo>
                    <a:pt x="664" y="252"/>
                  </a:lnTo>
                  <a:lnTo>
                    <a:pt x="671" y="253"/>
                  </a:lnTo>
                  <a:lnTo>
                    <a:pt x="674" y="249"/>
                  </a:lnTo>
                  <a:lnTo>
                    <a:pt x="666" y="245"/>
                  </a:lnTo>
                  <a:lnTo>
                    <a:pt x="682" y="246"/>
                  </a:lnTo>
                  <a:lnTo>
                    <a:pt x="687" y="237"/>
                  </a:lnTo>
                  <a:lnTo>
                    <a:pt x="683" y="240"/>
                  </a:lnTo>
                  <a:lnTo>
                    <a:pt x="678" y="236"/>
                  </a:lnTo>
                  <a:lnTo>
                    <a:pt x="674" y="234"/>
                  </a:lnTo>
                  <a:lnTo>
                    <a:pt x="675" y="234"/>
                  </a:lnTo>
                  <a:lnTo>
                    <a:pt x="681" y="235"/>
                  </a:lnTo>
                  <a:lnTo>
                    <a:pt x="686" y="234"/>
                  </a:lnTo>
                  <a:lnTo>
                    <a:pt x="688" y="235"/>
                  </a:lnTo>
                  <a:lnTo>
                    <a:pt x="689" y="224"/>
                  </a:lnTo>
                  <a:lnTo>
                    <a:pt x="690" y="240"/>
                  </a:lnTo>
                  <a:lnTo>
                    <a:pt x="686" y="219"/>
                  </a:lnTo>
                  <a:lnTo>
                    <a:pt x="680" y="218"/>
                  </a:lnTo>
                  <a:lnTo>
                    <a:pt x="675" y="212"/>
                  </a:lnTo>
                  <a:lnTo>
                    <a:pt x="686" y="217"/>
                  </a:lnTo>
                  <a:lnTo>
                    <a:pt x="681" y="209"/>
                  </a:lnTo>
                  <a:lnTo>
                    <a:pt x="687" y="213"/>
                  </a:lnTo>
                  <a:lnTo>
                    <a:pt x="680" y="199"/>
                  </a:lnTo>
                  <a:lnTo>
                    <a:pt x="689" y="205"/>
                  </a:lnTo>
                  <a:lnTo>
                    <a:pt x="682" y="193"/>
                  </a:lnTo>
                  <a:lnTo>
                    <a:pt x="677" y="193"/>
                  </a:lnTo>
                  <a:lnTo>
                    <a:pt x="684" y="186"/>
                  </a:lnTo>
                  <a:lnTo>
                    <a:pt x="682" y="193"/>
                  </a:lnTo>
                  <a:lnTo>
                    <a:pt x="690" y="198"/>
                  </a:lnTo>
                  <a:lnTo>
                    <a:pt x="688" y="188"/>
                  </a:lnTo>
                  <a:lnTo>
                    <a:pt x="692" y="194"/>
                  </a:lnTo>
                  <a:lnTo>
                    <a:pt x="694" y="179"/>
                  </a:lnTo>
                  <a:lnTo>
                    <a:pt x="704" y="175"/>
                  </a:lnTo>
                  <a:lnTo>
                    <a:pt x="698" y="185"/>
                  </a:lnTo>
                  <a:lnTo>
                    <a:pt x="695" y="189"/>
                  </a:lnTo>
                  <a:lnTo>
                    <a:pt x="694" y="194"/>
                  </a:lnTo>
                  <a:lnTo>
                    <a:pt x="699" y="197"/>
                  </a:lnTo>
                  <a:lnTo>
                    <a:pt x="696" y="201"/>
                  </a:lnTo>
                  <a:lnTo>
                    <a:pt x="698" y="205"/>
                  </a:lnTo>
                  <a:lnTo>
                    <a:pt x="694" y="207"/>
                  </a:lnTo>
                  <a:lnTo>
                    <a:pt x="690" y="213"/>
                  </a:lnTo>
                  <a:lnTo>
                    <a:pt x="710" y="193"/>
                  </a:lnTo>
                  <a:lnTo>
                    <a:pt x="708" y="175"/>
                  </a:lnTo>
                  <a:lnTo>
                    <a:pt x="717" y="167"/>
                  </a:lnTo>
                  <a:lnTo>
                    <a:pt x="710" y="171"/>
                  </a:lnTo>
                  <a:lnTo>
                    <a:pt x="716" y="179"/>
                  </a:lnTo>
                  <a:lnTo>
                    <a:pt x="714" y="183"/>
                  </a:lnTo>
                  <a:lnTo>
                    <a:pt x="732" y="167"/>
                  </a:lnTo>
                  <a:lnTo>
                    <a:pt x="732" y="169"/>
                  </a:lnTo>
                  <a:lnTo>
                    <a:pt x="735" y="157"/>
                  </a:lnTo>
                  <a:lnTo>
                    <a:pt x="742" y="144"/>
                  </a:lnTo>
                  <a:lnTo>
                    <a:pt x="741" y="150"/>
                  </a:lnTo>
                  <a:lnTo>
                    <a:pt x="746" y="147"/>
                  </a:lnTo>
                  <a:lnTo>
                    <a:pt x="762" y="144"/>
                  </a:lnTo>
                  <a:lnTo>
                    <a:pt x="778" y="140"/>
                  </a:lnTo>
                  <a:lnTo>
                    <a:pt x="782" y="135"/>
                  </a:lnTo>
                  <a:lnTo>
                    <a:pt x="784" y="135"/>
                  </a:lnTo>
                  <a:lnTo>
                    <a:pt x="790" y="139"/>
                  </a:lnTo>
                  <a:lnTo>
                    <a:pt x="794" y="140"/>
                  </a:lnTo>
                  <a:lnTo>
                    <a:pt x="803" y="135"/>
                  </a:lnTo>
                  <a:lnTo>
                    <a:pt x="802" y="128"/>
                  </a:lnTo>
                  <a:lnTo>
                    <a:pt x="803" y="133"/>
                  </a:lnTo>
                  <a:lnTo>
                    <a:pt x="795" y="129"/>
                  </a:lnTo>
                  <a:lnTo>
                    <a:pt x="796" y="120"/>
                  </a:lnTo>
                  <a:lnTo>
                    <a:pt x="797" y="116"/>
                  </a:lnTo>
                  <a:lnTo>
                    <a:pt x="814" y="98"/>
                  </a:lnTo>
                  <a:lnTo>
                    <a:pt x="819" y="96"/>
                  </a:lnTo>
                  <a:lnTo>
                    <a:pt x="821" y="97"/>
                  </a:lnTo>
                  <a:lnTo>
                    <a:pt x="834" y="85"/>
                  </a:lnTo>
                  <a:lnTo>
                    <a:pt x="834" y="86"/>
                  </a:lnTo>
                  <a:lnTo>
                    <a:pt x="838" y="86"/>
                  </a:lnTo>
                  <a:lnTo>
                    <a:pt x="845" y="87"/>
                  </a:lnTo>
                  <a:lnTo>
                    <a:pt x="863" y="79"/>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2" name="Freeform 431"/>
            <p:cNvSpPr>
              <a:spLocks/>
            </p:cNvSpPr>
            <p:nvPr/>
          </p:nvSpPr>
          <p:spPr bwMode="auto">
            <a:xfrm>
              <a:off x="127" y="1328"/>
              <a:ext cx="611" cy="293"/>
            </a:xfrm>
            <a:custGeom>
              <a:avLst/>
              <a:gdLst/>
              <a:ahLst/>
              <a:cxnLst>
                <a:cxn ang="0">
                  <a:pos x="442" y="229"/>
                </a:cxn>
                <a:cxn ang="0">
                  <a:pos x="426" y="186"/>
                </a:cxn>
                <a:cxn ang="0">
                  <a:pos x="402" y="175"/>
                </a:cxn>
                <a:cxn ang="0">
                  <a:pos x="424" y="135"/>
                </a:cxn>
                <a:cxn ang="0">
                  <a:pos x="507" y="60"/>
                </a:cxn>
                <a:cxn ang="0">
                  <a:pos x="500" y="16"/>
                </a:cxn>
                <a:cxn ang="0">
                  <a:pos x="429" y="6"/>
                </a:cxn>
                <a:cxn ang="0">
                  <a:pos x="413" y="1"/>
                </a:cxn>
                <a:cxn ang="0">
                  <a:pos x="356" y="10"/>
                </a:cxn>
                <a:cxn ang="0">
                  <a:pos x="324" y="16"/>
                </a:cxn>
                <a:cxn ang="0">
                  <a:pos x="230" y="45"/>
                </a:cxn>
                <a:cxn ang="0">
                  <a:pos x="250" y="72"/>
                </a:cxn>
                <a:cxn ang="0">
                  <a:pos x="242" y="76"/>
                </a:cxn>
                <a:cxn ang="0">
                  <a:pos x="222" y="72"/>
                </a:cxn>
                <a:cxn ang="0">
                  <a:pos x="155" y="94"/>
                </a:cxn>
                <a:cxn ang="0">
                  <a:pos x="220" y="97"/>
                </a:cxn>
                <a:cxn ang="0">
                  <a:pos x="180" y="121"/>
                </a:cxn>
                <a:cxn ang="0">
                  <a:pos x="129" y="135"/>
                </a:cxn>
                <a:cxn ang="0">
                  <a:pos x="96" y="148"/>
                </a:cxn>
                <a:cxn ang="0">
                  <a:pos x="108" y="151"/>
                </a:cxn>
                <a:cxn ang="0">
                  <a:pos x="105" y="163"/>
                </a:cxn>
                <a:cxn ang="0">
                  <a:pos x="81" y="169"/>
                </a:cxn>
                <a:cxn ang="0">
                  <a:pos x="110" y="177"/>
                </a:cxn>
                <a:cxn ang="0">
                  <a:pos x="88" y="199"/>
                </a:cxn>
                <a:cxn ang="0">
                  <a:pos x="137" y="193"/>
                </a:cxn>
                <a:cxn ang="0">
                  <a:pos x="159" y="193"/>
                </a:cxn>
                <a:cxn ang="0">
                  <a:pos x="124" y="217"/>
                </a:cxn>
                <a:cxn ang="0">
                  <a:pos x="57" y="246"/>
                </a:cxn>
                <a:cxn ang="0">
                  <a:pos x="38" y="246"/>
                </a:cxn>
                <a:cxn ang="0">
                  <a:pos x="14" y="258"/>
                </a:cxn>
                <a:cxn ang="0">
                  <a:pos x="34" y="252"/>
                </a:cxn>
                <a:cxn ang="0">
                  <a:pos x="81" y="244"/>
                </a:cxn>
                <a:cxn ang="0">
                  <a:pos x="168" y="210"/>
                </a:cxn>
                <a:cxn ang="0">
                  <a:pos x="228" y="179"/>
                </a:cxn>
                <a:cxn ang="0">
                  <a:pos x="297" y="153"/>
                </a:cxn>
                <a:cxn ang="0">
                  <a:pos x="258" y="166"/>
                </a:cxn>
                <a:cxn ang="0">
                  <a:pos x="238" y="190"/>
                </a:cxn>
                <a:cxn ang="0">
                  <a:pos x="261" y="183"/>
                </a:cxn>
                <a:cxn ang="0">
                  <a:pos x="280" y="178"/>
                </a:cxn>
                <a:cxn ang="0">
                  <a:pos x="294" y="165"/>
                </a:cxn>
                <a:cxn ang="0">
                  <a:pos x="312" y="161"/>
                </a:cxn>
                <a:cxn ang="0">
                  <a:pos x="324" y="163"/>
                </a:cxn>
                <a:cxn ang="0">
                  <a:pos x="323" y="169"/>
                </a:cxn>
                <a:cxn ang="0">
                  <a:pos x="340" y="174"/>
                </a:cxn>
                <a:cxn ang="0">
                  <a:pos x="393" y="178"/>
                </a:cxn>
                <a:cxn ang="0">
                  <a:pos x="389" y="184"/>
                </a:cxn>
                <a:cxn ang="0">
                  <a:pos x="411" y="195"/>
                </a:cxn>
                <a:cxn ang="0">
                  <a:pos x="420" y="201"/>
                </a:cxn>
                <a:cxn ang="0">
                  <a:pos x="434" y="199"/>
                </a:cxn>
                <a:cxn ang="0">
                  <a:pos x="436" y="211"/>
                </a:cxn>
                <a:cxn ang="0">
                  <a:pos x="435" y="215"/>
                </a:cxn>
                <a:cxn ang="0">
                  <a:pos x="435" y="232"/>
                </a:cxn>
                <a:cxn ang="0">
                  <a:pos x="428" y="249"/>
                </a:cxn>
                <a:cxn ang="0">
                  <a:pos x="441" y="255"/>
                </a:cxn>
              </a:cxnLst>
              <a:rect l="0" t="0" r="r" b="b"/>
              <a:pathLst>
                <a:path w="550" h="264">
                  <a:moveTo>
                    <a:pt x="447" y="256"/>
                  </a:moveTo>
                  <a:lnTo>
                    <a:pt x="455" y="245"/>
                  </a:lnTo>
                  <a:lnTo>
                    <a:pt x="449" y="238"/>
                  </a:lnTo>
                  <a:lnTo>
                    <a:pt x="442" y="229"/>
                  </a:lnTo>
                  <a:lnTo>
                    <a:pt x="446" y="214"/>
                  </a:lnTo>
                  <a:lnTo>
                    <a:pt x="449" y="198"/>
                  </a:lnTo>
                  <a:lnTo>
                    <a:pt x="444" y="180"/>
                  </a:lnTo>
                  <a:lnTo>
                    <a:pt x="426" y="186"/>
                  </a:lnTo>
                  <a:lnTo>
                    <a:pt x="417" y="191"/>
                  </a:lnTo>
                  <a:lnTo>
                    <a:pt x="405" y="196"/>
                  </a:lnTo>
                  <a:lnTo>
                    <a:pt x="405" y="179"/>
                  </a:lnTo>
                  <a:lnTo>
                    <a:pt x="402" y="175"/>
                  </a:lnTo>
                  <a:lnTo>
                    <a:pt x="408" y="172"/>
                  </a:lnTo>
                  <a:lnTo>
                    <a:pt x="383" y="172"/>
                  </a:lnTo>
                  <a:lnTo>
                    <a:pt x="404" y="154"/>
                  </a:lnTo>
                  <a:lnTo>
                    <a:pt x="424" y="135"/>
                  </a:lnTo>
                  <a:lnTo>
                    <a:pt x="444" y="115"/>
                  </a:lnTo>
                  <a:lnTo>
                    <a:pt x="464" y="96"/>
                  </a:lnTo>
                  <a:lnTo>
                    <a:pt x="485" y="78"/>
                  </a:lnTo>
                  <a:lnTo>
                    <a:pt x="507" y="60"/>
                  </a:lnTo>
                  <a:lnTo>
                    <a:pt x="528" y="42"/>
                  </a:lnTo>
                  <a:lnTo>
                    <a:pt x="550" y="24"/>
                  </a:lnTo>
                  <a:lnTo>
                    <a:pt x="524" y="18"/>
                  </a:lnTo>
                  <a:lnTo>
                    <a:pt x="500" y="16"/>
                  </a:lnTo>
                  <a:lnTo>
                    <a:pt x="474" y="13"/>
                  </a:lnTo>
                  <a:lnTo>
                    <a:pt x="443" y="11"/>
                  </a:lnTo>
                  <a:lnTo>
                    <a:pt x="441" y="9"/>
                  </a:lnTo>
                  <a:lnTo>
                    <a:pt x="429" y="6"/>
                  </a:lnTo>
                  <a:lnTo>
                    <a:pt x="422" y="6"/>
                  </a:lnTo>
                  <a:lnTo>
                    <a:pt x="418" y="4"/>
                  </a:lnTo>
                  <a:lnTo>
                    <a:pt x="406" y="6"/>
                  </a:lnTo>
                  <a:lnTo>
                    <a:pt x="413" y="1"/>
                  </a:lnTo>
                  <a:lnTo>
                    <a:pt x="406" y="0"/>
                  </a:lnTo>
                  <a:lnTo>
                    <a:pt x="372" y="7"/>
                  </a:lnTo>
                  <a:lnTo>
                    <a:pt x="366" y="7"/>
                  </a:lnTo>
                  <a:lnTo>
                    <a:pt x="356" y="10"/>
                  </a:lnTo>
                  <a:lnTo>
                    <a:pt x="354" y="12"/>
                  </a:lnTo>
                  <a:lnTo>
                    <a:pt x="347" y="16"/>
                  </a:lnTo>
                  <a:lnTo>
                    <a:pt x="352" y="11"/>
                  </a:lnTo>
                  <a:lnTo>
                    <a:pt x="324" y="16"/>
                  </a:lnTo>
                  <a:lnTo>
                    <a:pt x="296" y="25"/>
                  </a:lnTo>
                  <a:lnTo>
                    <a:pt x="268" y="36"/>
                  </a:lnTo>
                  <a:lnTo>
                    <a:pt x="244" y="36"/>
                  </a:lnTo>
                  <a:lnTo>
                    <a:pt x="230" y="45"/>
                  </a:lnTo>
                  <a:lnTo>
                    <a:pt x="240" y="60"/>
                  </a:lnTo>
                  <a:lnTo>
                    <a:pt x="236" y="64"/>
                  </a:lnTo>
                  <a:lnTo>
                    <a:pt x="255" y="66"/>
                  </a:lnTo>
                  <a:lnTo>
                    <a:pt x="250" y="72"/>
                  </a:lnTo>
                  <a:lnTo>
                    <a:pt x="264" y="73"/>
                  </a:lnTo>
                  <a:lnTo>
                    <a:pt x="245" y="72"/>
                  </a:lnTo>
                  <a:lnTo>
                    <a:pt x="244" y="67"/>
                  </a:lnTo>
                  <a:lnTo>
                    <a:pt x="242" y="76"/>
                  </a:lnTo>
                  <a:lnTo>
                    <a:pt x="246" y="79"/>
                  </a:lnTo>
                  <a:lnTo>
                    <a:pt x="238" y="79"/>
                  </a:lnTo>
                  <a:lnTo>
                    <a:pt x="210" y="78"/>
                  </a:lnTo>
                  <a:lnTo>
                    <a:pt x="222" y="72"/>
                  </a:lnTo>
                  <a:lnTo>
                    <a:pt x="191" y="77"/>
                  </a:lnTo>
                  <a:lnTo>
                    <a:pt x="152" y="88"/>
                  </a:lnTo>
                  <a:lnTo>
                    <a:pt x="165" y="93"/>
                  </a:lnTo>
                  <a:lnTo>
                    <a:pt x="155" y="94"/>
                  </a:lnTo>
                  <a:lnTo>
                    <a:pt x="153" y="103"/>
                  </a:lnTo>
                  <a:lnTo>
                    <a:pt x="186" y="103"/>
                  </a:lnTo>
                  <a:lnTo>
                    <a:pt x="191" y="106"/>
                  </a:lnTo>
                  <a:lnTo>
                    <a:pt x="220" y="97"/>
                  </a:lnTo>
                  <a:lnTo>
                    <a:pt x="214" y="105"/>
                  </a:lnTo>
                  <a:lnTo>
                    <a:pt x="208" y="106"/>
                  </a:lnTo>
                  <a:lnTo>
                    <a:pt x="202" y="115"/>
                  </a:lnTo>
                  <a:lnTo>
                    <a:pt x="180" y="121"/>
                  </a:lnTo>
                  <a:lnTo>
                    <a:pt x="149" y="129"/>
                  </a:lnTo>
                  <a:lnTo>
                    <a:pt x="155" y="125"/>
                  </a:lnTo>
                  <a:lnTo>
                    <a:pt x="143" y="127"/>
                  </a:lnTo>
                  <a:lnTo>
                    <a:pt x="129" y="135"/>
                  </a:lnTo>
                  <a:lnTo>
                    <a:pt x="131" y="135"/>
                  </a:lnTo>
                  <a:lnTo>
                    <a:pt x="125" y="137"/>
                  </a:lnTo>
                  <a:lnTo>
                    <a:pt x="104" y="147"/>
                  </a:lnTo>
                  <a:lnTo>
                    <a:pt x="96" y="148"/>
                  </a:lnTo>
                  <a:lnTo>
                    <a:pt x="99" y="150"/>
                  </a:lnTo>
                  <a:lnTo>
                    <a:pt x="90" y="153"/>
                  </a:lnTo>
                  <a:lnTo>
                    <a:pt x="93" y="157"/>
                  </a:lnTo>
                  <a:lnTo>
                    <a:pt x="108" y="151"/>
                  </a:lnTo>
                  <a:lnTo>
                    <a:pt x="94" y="159"/>
                  </a:lnTo>
                  <a:lnTo>
                    <a:pt x="95" y="161"/>
                  </a:lnTo>
                  <a:lnTo>
                    <a:pt x="110" y="162"/>
                  </a:lnTo>
                  <a:lnTo>
                    <a:pt x="105" y="163"/>
                  </a:lnTo>
                  <a:lnTo>
                    <a:pt x="107" y="166"/>
                  </a:lnTo>
                  <a:lnTo>
                    <a:pt x="98" y="166"/>
                  </a:lnTo>
                  <a:lnTo>
                    <a:pt x="92" y="163"/>
                  </a:lnTo>
                  <a:lnTo>
                    <a:pt x="81" y="169"/>
                  </a:lnTo>
                  <a:lnTo>
                    <a:pt x="87" y="180"/>
                  </a:lnTo>
                  <a:lnTo>
                    <a:pt x="110" y="174"/>
                  </a:lnTo>
                  <a:lnTo>
                    <a:pt x="124" y="167"/>
                  </a:lnTo>
                  <a:lnTo>
                    <a:pt x="110" y="177"/>
                  </a:lnTo>
                  <a:lnTo>
                    <a:pt x="100" y="187"/>
                  </a:lnTo>
                  <a:lnTo>
                    <a:pt x="96" y="192"/>
                  </a:lnTo>
                  <a:lnTo>
                    <a:pt x="96" y="193"/>
                  </a:lnTo>
                  <a:lnTo>
                    <a:pt x="88" y="199"/>
                  </a:lnTo>
                  <a:lnTo>
                    <a:pt x="114" y="195"/>
                  </a:lnTo>
                  <a:lnTo>
                    <a:pt x="122" y="196"/>
                  </a:lnTo>
                  <a:lnTo>
                    <a:pt x="122" y="204"/>
                  </a:lnTo>
                  <a:lnTo>
                    <a:pt x="137" y="193"/>
                  </a:lnTo>
                  <a:lnTo>
                    <a:pt x="142" y="193"/>
                  </a:lnTo>
                  <a:lnTo>
                    <a:pt x="132" y="197"/>
                  </a:lnTo>
                  <a:lnTo>
                    <a:pt x="135" y="201"/>
                  </a:lnTo>
                  <a:lnTo>
                    <a:pt x="159" y="193"/>
                  </a:lnTo>
                  <a:lnTo>
                    <a:pt x="136" y="207"/>
                  </a:lnTo>
                  <a:lnTo>
                    <a:pt x="140" y="207"/>
                  </a:lnTo>
                  <a:lnTo>
                    <a:pt x="137" y="207"/>
                  </a:lnTo>
                  <a:lnTo>
                    <a:pt x="124" y="217"/>
                  </a:lnTo>
                  <a:lnTo>
                    <a:pt x="117" y="219"/>
                  </a:lnTo>
                  <a:lnTo>
                    <a:pt x="95" y="231"/>
                  </a:lnTo>
                  <a:lnTo>
                    <a:pt x="60" y="241"/>
                  </a:lnTo>
                  <a:lnTo>
                    <a:pt x="57" y="246"/>
                  </a:lnTo>
                  <a:lnTo>
                    <a:pt x="51" y="246"/>
                  </a:lnTo>
                  <a:lnTo>
                    <a:pt x="48" y="249"/>
                  </a:lnTo>
                  <a:lnTo>
                    <a:pt x="48" y="246"/>
                  </a:lnTo>
                  <a:lnTo>
                    <a:pt x="38" y="246"/>
                  </a:lnTo>
                  <a:lnTo>
                    <a:pt x="0" y="262"/>
                  </a:lnTo>
                  <a:lnTo>
                    <a:pt x="3" y="261"/>
                  </a:lnTo>
                  <a:lnTo>
                    <a:pt x="5" y="262"/>
                  </a:lnTo>
                  <a:lnTo>
                    <a:pt x="14" y="258"/>
                  </a:lnTo>
                  <a:lnTo>
                    <a:pt x="15" y="259"/>
                  </a:lnTo>
                  <a:lnTo>
                    <a:pt x="32" y="252"/>
                  </a:lnTo>
                  <a:lnTo>
                    <a:pt x="39" y="252"/>
                  </a:lnTo>
                  <a:lnTo>
                    <a:pt x="34" y="252"/>
                  </a:lnTo>
                  <a:lnTo>
                    <a:pt x="51" y="250"/>
                  </a:lnTo>
                  <a:lnTo>
                    <a:pt x="62" y="249"/>
                  </a:lnTo>
                  <a:lnTo>
                    <a:pt x="65" y="247"/>
                  </a:lnTo>
                  <a:lnTo>
                    <a:pt x="81" y="244"/>
                  </a:lnTo>
                  <a:lnTo>
                    <a:pt x="86" y="243"/>
                  </a:lnTo>
                  <a:lnTo>
                    <a:pt x="89" y="239"/>
                  </a:lnTo>
                  <a:lnTo>
                    <a:pt x="131" y="223"/>
                  </a:lnTo>
                  <a:lnTo>
                    <a:pt x="168" y="210"/>
                  </a:lnTo>
                  <a:lnTo>
                    <a:pt x="201" y="196"/>
                  </a:lnTo>
                  <a:lnTo>
                    <a:pt x="194" y="192"/>
                  </a:lnTo>
                  <a:lnTo>
                    <a:pt x="222" y="180"/>
                  </a:lnTo>
                  <a:lnTo>
                    <a:pt x="228" y="179"/>
                  </a:lnTo>
                  <a:lnTo>
                    <a:pt x="232" y="173"/>
                  </a:lnTo>
                  <a:lnTo>
                    <a:pt x="256" y="163"/>
                  </a:lnTo>
                  <a:lnTo>
                    <a:pt x="280" y="156"/>
                  </a:lnTo>
                  <a:lnTo>
                    <a:pt x="297" y="153"/>
                  </a:lnTo>
                  <a:lnTo>
                    <a:pt x="286" y="157"/>
                  </a:lnTo>
                  <a:lnTo>
                    <a:pt x="290" y="162"/>
                  </a:lnTo>
                  <a:lnTo>
                    <a:pt x="284" y="161"/>
                  </a:lnTo>
                  <a:lnTo>
                    <a:pt x="258" y="166"/>
                  </a:lnTo>
                  <a:lnTo>
                    <a:pt x="236" y="183"/>
                  </a:lnTo>
                  <a:lnTo>
                    <a:pt x="248" y="180"/>
                  </a:lnTo>
                  <a:lnTo>
                    <a:pt x="230" y="187"/>
                  </a:lnTo>
                  <a:lnTo>
                    <a:pt x="238" y="190"/>
                  </a:lnTo>
                  <a:lnTo>
                    <a:pt x="256" y="181"/>
                  </a:lnTo>
                  <a:lnTo>
                    <a:pt x="251" y="185"/>
                  </a:lnTo>
                  <a:lnTo>
                    <a:pt x="257" y="183"/>
                  </a:lnTo>
                  <a:lnTo>
                    <a:pt x="261" y="183"/>
                  </a:lnTo>
                  <a:lnTo>
                    <a:pt x="263" y="179"/>
                  </a:lnTo>
                  <a:lnTo>
                    <a:pt x="264" y="181"/>
                  </a:lnTo>
                  <a:lnTo>
                    <a:pt x="272" y="177"/>
                  </a:lnTo>
                  <a:lnTo>
                    <a:pt x="280" y="178"/>
                  </a:lnTo>
                  <a:lnTo>
                    <a:pt x="296" y="171"/>
                  </a:lnTo>
                  <a:lnTo>
                    <a:pt x="293" y="169"/>
                  </a:lnTo>
                  <a:lnTo>
                    <a:pt x="298" y="167"/>
                  </a:lnTo>
                  <a:lnTo>
                    <a:pt x="294" y="165"/>
                  </a:lnTo>
                  <a:lnTo>
                    <a:pt x="303" y="162"/>
                  </a:lnTo>
                  <a:lnTo>
                    <a:pt x="316" y="156"/>
                  </a:lnTo>
                  <a:lnTo>
                    <a:pt x="305" y="162"/>
                  </a:lnTo>
                  <a:lnTo>
                    <a:pt x="312" y="161"/>
                  </a:lnTo>
                  <a:lnTo>
                    <a:pt x="311" y="162"/>
                  </a:lnTo>
                  <a:lnTo>
                    <a:pt x="330" y="159"/>
                  </a:lnTo>
                  <a:lnTo>
                    <a:pt x="326" y="160"/>
                  </a:lnTo>
                  <a:lnTo>
                    <a:pt x="324" y="163"/>
                  </a:lnTo>
                  <a:lnTo>
                    <a:pt x="321" y="165"/>
                  </a:lnTo>
                  <a:lnTo>
                    <a:pt x="327" y="165"/>
                  </a:lnTo>
                  <a:lnTo>
                    <a:pt x="328" y="166"/>
                  </a:lnTo>
                  <a:lnTo>
                    <a:pt x="323" y="169"/>
                  </a:lnTo>
                  <a:lnTo>
                    <a:pt x="328" y="172"/>
                  </a:lnTo>
                  <a:lnTo>
                    <a:pt x="341" y="167"/>
                  </a:lnTo>
                  <a:lnTo>
                    <a:pt x="336" y="171"/>
                  </a:lnTo>
                  <a:lnTo>
                    <a:pt x="340" y="174"/>
                  </a:lnTo>
                  <a:lnTo>
                    <a:pt x="357" y="175"/>
                  </a:lnTo>
                  <a:lnTo>
                    <a:pt x="375" y="177"/>
                  </a:lnTo>
                  <a:lnTo>
                    <a:pt x="375" y="181"/>
                  </a:lnTo>
                  <a:lnTo>
                    <a:pt x="393" y="178"/>
                  </a:lnTo>
                  <a:lnTo>
                    <a:pt x="400" y="180"/>
                  </a:lnTo>
                  <a:lnTo>
                    <a:pt x="394" y="183"/>
                  </a:lnTo>
                  <a:lnTo>
                    <a:pt x="398" y="178"/>
                  </a:lnTo>
                  <a:lnTo>
                    <a:pt x="389" y="184"/>
                  </a:lnTo>
                  <a:lnTo>
                    <a:pt x="398" y="195"/>
                  </a:lnTo>
                  <a:lnTo>
                    <a:pt x="407" y="205"/>
                  </a:lnTo>
                  <a:lnTo>
                    <a:pt x="413" y="205"/>
                  </a:lnTo>
                  <a:lnTo>
                    <a:pt x="411" y="195"/>
                  </a:lnTo>
                  <a:lnTo>
                    <a:pt x="417" y="197"/>
                  </a:lnTo>
                  <a:lnTo>
                    <a:pt x="423" y="195"/>
                  </a:lnTo>
                  <a:lnTo>
                    <a:pt x="424" y="196"/>
                  </a:lnTo>
                  <a:lnTo>
                    <a:pt x="420" y="201"/>
                  </a:lnTo>
                  <a:lnTo>
                    <a:pt x="420" y="203"/>
                  </a:lnTo>
                  <a:lnTo>
                    <a:pt x="422" y="207"/>
                  </a:lnTo>
                  <a:lnTo>
                    <a:pt x="436" y="190"/>
                  </a:lnTo>
                  <a:lnTo>
                    <a:pt x="434" y="199"/>
                  </a:lnTo>
                  <a:lnTo>
                    <a:pt x="436" y="207"/>
                  </a:lnTo>
                  <a:lnTo>
                    <a:pt x="440" y="205"/>
                  </a:lnTo>
                  <a:lnTo>
                    <a:pt x="441" y="209"/>
                  </a:lnTo>
                  <a:lnTo>
                    <a:pt x="436" y="211"/>
                  </a:lnTo>
                  <a:lnTo>
                    <a:pt x="444" y="213"/>
                  </a:lnTo>
                  <a:lnTo>
                    <a:pt x="440" y="213"/>
                  </a:lnTo>
                  <a:lnTo>
                    <a:pt x="440" y="217"/>
                  </a:lnTo>
                  <a:lnTo>
                    <a:pt x="435" y="215"/>
                  </a:lnTo>
                  <a:lnTo>
                    <a:pt x="436" y="221"/>
                  </a:lnTo>
                  <a:lnTo>
                    <a:pt x="431" y="222"/>
                  </a:lnTo>
                  <a:lnTo>
                    <a:pt x="432" y="225"/>
                  </a:lnTo>
                  <a:lnTo>
                    <a:pt x="435" y="232"/>
                  </a:lnTo>
                  <a:lnTo>
                    <a:pt x="441" y="240"/>
                  </a:lnTo>
                  <a:lnTo>
                    <a:pt x="435" y="240"/>
                  </a:lnTo>
                  <a:lnTo>
                    <a:pt x="422" y="251"/>
                  </a:lnTo>
                  <a:lnTo>
                    <a:pt x="428" y="249"/>
                  </a:lnTo>
                  <a:lnTo>
                    <a:pt x="446" y="243"/>
                  </a:lnTo>
                  <a:lnTo>
                    <a:pt x="435" y="256"/>
                  </a:lnTo>
                  <a:lnTo>
                    <a:pt x="430" y="257"/>
                  </a:lnTo>
                  <a:lnTo>
                    <a:pt x="441" y="255"/>
                  </a:lnTo>
                  <a:lnTo>
                    <a:pt x="434" y="259"/>
                  </a:lnTo>
                  <a:lnTo>
                    <a:pt x="430" y="264"/>
                  </a:lnTo>
                  <a:lnTo>
                    <a:pt x="447" y="25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3" name="Freeform 432"/>
            <p:cNvSpPr>
              <a:spLocks/>
            </p:cNvSpPr>
            <p:nvPr/>
          </p:nvSpPr>
          <p:spPr bwMode="auto">
            <a:xfrm>
              <a:off x="300" y="1561"/>
              <a:ext cx="43" cy="22"/>
            </a:xfrm>
            <a:custGeom>
              <a:avLst/>
              <a:gdLst/>
              <a:ahLst/>
              <a:cxnLst>
                <a:cxn ang="0">
                  <a:pos x="40" y="6"/>
                </a:cxn>
                <a:cxn ang="0">
                  <a:pos x="36" y="5"/>
                </a:cxn>
                <a:cxn ang="0">
                  <a:pos x="37" y="3"/>
                </a:cxn>
                <a:cxn ang="0">
                  <a:pos x="35" y="3"/>
                </a:cxn>
                <a:cxn ang="0">
                  <a:pos x="31" y="0"/>
                </a:cxn>
                <a:cxn ang="0">
                  <a:pos x="29" y="4"/>
                </a:cxn>
                <a:cxn ang="0">
                  <a:pos x="24" y="4"/>
                </a:cxn>
                <a:cxn ang="0">
                  <a:pos x="18" y="5"/>
                </a:cxn>
                <a:cxn ang="0">
                  <a:pos x="13" y="12"/>
                </a:cxn>
                <a:cxn ang="0">
                  <a:pos x="12" y="6"/>
                </a:cxn>
                <a:cxn ang="0">
                  <a:pos x="1" y="12"/>
                </a:cxn>
                <a:cxn ang="0">
                  <a:pos x="1" y="18"/>
                </a:cxn>
                <a:cxn ang="0">
                  <a:pos x="3" y="16"/>
                </a:cxn>
                <a:cxn ang="0">
                  <a:pos x="7" y="16"/>
                </a:cxn>
                <a:cxn ang="0">
                  <a:pos x="0" y="22"/>
                </a:cxn>
                <a:cxn ang="0">
                  <a:pos x="9" y="16"/>
                </a:cxn>
                <a:cxn ang="0">
                  <a:pos x="25" y="11"/>
                </a:cxn>
                <a:cxn ang="0">
                  <a:pos x="28" y="10"/>
                </a:cxn>
                <a:cxn ang="0">
                  <a:pos x="40" y="6"/>
                </a:cxn>
              </a:cxnLst>
              <a:rect l="0" t="0" r="r" b="b"/>
              <a:pathLst>
                <a:path w="40" h="22">
                  <a:moveTo>
                    <a:pt x="40" y="6"/>
                  </a:moveTo>
                  <a:lnTo>
                    <a:pt x="36" y="5"/>
                  </a:lnTo>
                  <a:lnTo>
                    <a:pt x="37" y="3"/>
                  </a:lnTo>
                  <a:lnTo>
                    <a:pt x="35" y="3"/>
                  </a:lnTo>
                  <a:lnTo>
                    <a:pt x="31" y="0"/>
                  </a:lnTo>
                  <a:lnTo>
                    <a:pt x="29" y="4"/>
                  </a:lnTo>
                  <a:lnTo>
                    <a:pt x="24" y="4"/>
                  </a:lnTo>
                  <a:lnTo>
                    <a:pt x="18" y="5"/>
                  </a:lnTo>
                  <a:lnTo>
                    <a:pt x="13" y="12"/>
                  </a:lnTo>
                  <a:lnTo>
                    <a:pt x="12" y="6"/>
                  </a:lnTo>
                  <a:lnTo>
                    <a:pt x="1" y="12"/>
                  </a:lnTo>
                  <a:lnTo>
                    <a:pt x="1" y="18"/>
                  </a:lnTo>
                  <a:lnTo>
                    <a:pt x="3" y="16"/>
                  </a:lnTo>
                  <a:lnTo>
                    <a:pt x="7" y="16"/>
                  </a:lnTo>
                  <a:lnTo>
                    <a:pt x="0" y="22"/>
                  </a:lnTo>
                  <a:lnTo>
                    <a:pt x="9" y="16"/>
                  </a:lnTo>
                  <a:lnTo>
                    <a:pt x="25" y="11"/>
                  </a:lnTo>
                  <a:lnTo>
                    <a:pt x="28" y="10"/>
                  </a:lnTo>
                  <a:lnTo>
                    <a:pt x="40"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4" name="Freeform 433"/>
            <p:cNvSpPr>
              <a:spLocks/>
            </p:cNvSpPr>
            <p:nvPr/>
          </p:nvSpPr>
          <p:spPr bwMode="auto">
            <a:xfrm>
              <a:off x="196" y="1456"/>
              <a:ext cx="38" cy="14"/>
            </a:xfrm>
            <a:custGeom>
              <a:avLst/>
              <a:gdLst/>
              <a:ahLst/>
              <a:cxnLst>
                <a:cxn ang="0">
                  <a:pos x="33" y="6"/>
                </a:cxn>
                <a:cxn ang="0">
                  <a:pos x="16" y="11"/>
                </a:cxn>
                <a:cxn ang="0">
                  <a:pos x="10" y="3"/>
                </a:cxn>
                <a:cxn ang="0">
                  <a:pos x="13" y="7"/>
                </a:cxn>
                <a:cxn ang="0">
                  <a:pos x="0" y="6"/>
                </a:cxn>
                <a:cxn ang="0">
                  <a:pos x="4" y="0"/>
                </a:cxn>
                <a:cxn ang="0">
                  <a:pos x="18" y="0"/>
                </a:cxn>
                <a:cxn ang="0">
                  <a:pos x="33" y="6"/>
                </a:cxn>
              </a:cxnLst>
              <a:rect l="0" t="0" r="r" b="b"/>
              <a:pathLst>
                <a:path w="33" h="11">
                  <a:moveTo>
                    <a:pt x="33" y="6"/>
                  </a:moveTo>
                  <a:lnTo>
                    <a:pt x="16" y="11"/>
                  </a:lnTo>
                  <a:lnTo>
                    <a:pt x="10" y="3"/>
                  </a:lnTo>
                  <a:lnTo>
                    <a:pt x="13" y="7"/>
                  </a:lnTo>
                  <a:lnTo>
                    <a:pt x="0" y="6"/>
                  </a:lnTo>
                  <a:lnTo>
                    <a:pt x="4" y="0"/>
                  </a:lnTo>
                  <a:lnTo>
                    <a:pt x="18" y="0"/>
                  </a:lnTo>
                  <a:lnTo>
                    <a:pt x="33"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5" name="Freeform 434"/>
            <p:cNvSpPr>
              <a:spLocks/>
            </p:cNvSpPr>
            <p:nvPr/>
          </p:nvSpPr>
          <p:spPr bwMode="auto">
            <a:xfrm>
              <a:off x="576" y="1590"/>
              <a:ext cx="18" cy="33"/>
            </a:xfrm>
            <a:custGeom>
              <a:avLst/>
              <a:gdLst/>
              <a:ahLst/>
              <a:cxnLst>
                <a:cxn ang="0">
                  <a:pos x="9" y="26"/>
                </a:cxn>
                <a:cxn ang="0">
                  <a:pos x="7" y="29"/>
                </a:cxn>
                <a:cxn ang="0">
                  <a:pos x="6" y="21"/>
                </a:cxn>
                <a:cxn ang="0">
                  <a:pos x="0" y="18"/>
                </a:cxn>
                <a:cxn ang="0">
                  <a:pos x="6" y="17"/>
                </a:cxn>
                <a:cxn ang="0">
                  <a:pos x="9" y="12"/>
                </a:cxn>
                <a:cxn ang="0">
                  <a:pos x="3" y="13"/>
                </a:cxn>
                <a:cxn ang="0">
                  <a:pos x="10" y="8"/>
                </a:cxn>
                <a:cxn ang="0">
                  <a:pos x="9" y="2"/>
                </a:cxn>
                <a:cxn ang="0">
                  <a:pos x="14" y="0"/>
                </a:cxn>
                <a:cxn ang="0">
                  <a:pos x="16" y="14"/>
                </a:cxn>
                <a:cxn ang="0">
                  <a:pos x="14" y="12"/>
                </a:cxn>
                <a:cxn ang="0">
                  <a:pos x="13" y="15"/>
                </a:cxn>
                <a:cxn ang="0">
                  <a:pos x="9" y="26"/>
                </a:cxn>
              </a:cxnLst>
              <a:rect l="0" t="0" r="r" b="b"/>
              <a:pathLst>
                <a:path w="16" h="29">
                  <a:moveTo>
                    <a:pt x="9" y="26"/>
                  </a:moveTo>
                  <a:lnTo>
                    <a:pt x="7" y="29"/>
                  </a:lnTo>
                  <a:lnTo>
                    <a:pt x="6" y="21"/>
                  </a:lnTo>
                  <a:lnTo>
                    <a:pt x="0" y="18"/>
                  </a:lnTo>
                  <a:lnTo>
                    <a:pt x="6" y="17"/>
                  </a:lnTo>
                  <a:lnTo>
                    <a:pt x="9" y="12"/>
                  </a:lnTo>
                  <a:lnTo>
                    <a:pt x="3" y="13"/>
                  </a:lnTo>
                  <a:lnTo>
                    <a:pt x="10" y="8"/>
                  </a:lnTo>
                  <a:lnTo>
                    <a:pt x="9" y="2"/>
                  </a:lnTo>
                  <a:lnTo>
                    <a:pt x="14" y="0"/>
                  </a:lnTo>
                  <a:lnTo>
                    <a:pt x="16" y="14"/>
                  </a:lnTo>
                  <a:lnTo>
                    <a:pt x="14" y="12"/>
                  </a:lnTo>
                  <a:lnTo>
                    <a:pt x="13" y="15"/>
                  </a:lnTo>
                  <a:lnTo>
                    <a:pt x="9" y="2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6" name="Freeform 435"/>
            <p:cNvSpPr>
              <a:spLocks/>
            </p:cNvSpPr>
            <p:nvPr/>
          </p:nvSpPr>
          <p:spPr bwMode="auto">
            <a:xfrm>
              <a:off x="587" y="1556"/>
              <a:ext cx="20" cy="23"/>
            </a:xfrm>
            <a:custGeom>
              <a:avLst/>
              <a:gdLst/>
              <a:ahLst/>
              <a:cxnLst>
                <a:cxn ang="0">
                  <a:pos x="17" y="10"/>
                </a:cxn>
                <a:cxn ang="0">
                  <a:pos x="12" y="12"/>
                </a:cxn>
                <a:cxn ang="0">
                  <a:pos x="0" y="20"/>
                </a:cxn>
                <a:cxn ang="0">
                  <a:pos x="3" y="15"/>
                </a:cxn>
                <a:cxn ang="0">
                  <a:pos x="14" y="0"/>
                </a:cxn>
                <a:cxn ang="0">
                  <a:pos x="18" y="1"/>
                </a:cxn>
                <a:cxn ang="0">
                  <a:pos x="17" y="10"/>
                </a:cxn>
              </a:cxnLst>
              <a:rect l="0" t="0" r="r" b="b"/>
              <a:pathLst>
                <a:path w="18" h="20">
                  <a:moveTo>
                    <a:pt x="17" y="10"/>
                  </a:moveTo>
                  <a:lnTo>
                    <a:pt x="12" y="12"/>
                  </a:lnTo>
                  <a:lnTo>
                    <a:pt x="0" y="20"/>
                  </a:lnTo>
                  <a:lnTo>
                    <a:pt x="3" y="15"/>
                  </a:lnTo>
                  <a:lnTo>
                    <a:pt x="14" y="0"/>
                  </a:lnTo>
                  <a:lnTo>
                    <a:pt x="18" y="1"/>
                  </a:lnTo>
                  <a:lnTo>
                    <a:pt x="17" y="10"/>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7" name="Freeform 436"/>
            <p:cNvSpPr>
              <a:spLocks/>
            </p:cNvSpPr>
            <p:nvPr/>
          </p:nvSpPr>
          <p:spPr bwMode="auto">
            <a:xfrm>
              <a:off x="96" y="1616"/>
              <a:ext cx="29" cy="9"/>
            </a:xfrm>
            <a:custGeom>
              <a:avLst/>
              <a:gdLst/>
              <a:ahLst/>
              <a:cxnLst>
                <a:cxn ang="0">
                  <a:pos x="26" y="6"/>
                </a:cxn>
                <a:cxn ang="0">
                  <a:pos x="21" y="0"/>
                </a:cxn>
                <a:cxn ang="0">
                  <a:pos x="0" y="7"/>
                </a:cxn>
                <a:cxn ang="0">
                  <a:pos x="6" y="8"/>
                </a:cxn>
                <a:cxn ang="0">
                  <a:pos x="26" y="6"/>
                </a:cxn>
              </a:cxnLst>
              <a:rect l="0" t="0" r="r" b="b"/>
              <a:pathLst>
                <a:path w="26" h="8">
                  <a:moveTo>
                    <a:pt x="26" y="6"/>
                  </a:moveTo>
                  <a:lnTo>
                    <a:pt x="21" y="0"/>
                  </a:lnTo>
                  <a:lnTo>
                    <a:pt x="0" y="7"/>
                  </a:lnTo>
                  <a:lnTo>
                    <a:pt x="6" y="8"/>
                  </a:lnTo>
                  <a:lnTo>
                    <a:pt x="26" y="6"/>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8" name="Freeform 437"/>
            <p:cNvSpPr>
              <a:spLocks/>
            </p:cNvSpPr>
            <p:nvPr/>
          </p:nvSpPr>
          <p:spPr bwMode="auto">
            <a:xfrm>
              <a:off x="180" y="1516"/>
              <a:ext cx="20" cy="9"/>
            </a:xfrm>
            <a:custGeom>
              <a:avLst/>
              <a:gdLst/>
              <a:ahLst/>
              <a:cxnLst>
                <a:cxn ang="0">
                  <a:pos x="19" y="7"/>
                </a:cxn>
                <a:cxn ang="0">
                  <a:pos x="12" y="8"/>
                </a:cxn>
                <a:cxn ang="0">
                  <a:pos x="0" y="4"/>
                </a:cxn>
                <a:cxn ang="0">
                  <a:pos x="19" y="0"/>
                </a:cxn>
                <a:cxn ang="0">
                  <a:pos x="19" y="7"/>
                </a:cxn>
              </a:cxnLst>
              <a:rect l="0" t="0" r="r" b="b"/>
              <a:pathLst>
                <a:path w="19" h="8">
                  <a:moveTo>
                    <a:pt x="19" y="7"/>
                  </a:moveTo>
                  <a:lnTo>
                    <a:pt x="12" y="8"/>
                  </a:lnTo>
                  <a:lnTo>
                    <a:pt x="0" y="4"/>
                  </a:lnTo>
                  <a:lnTo>
                    <a:pt x="19" y="0"/>
                  </a:lnTo>
                  <a:lnTo>
                    <a:pt x="19"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39" name="Freeform 438"/>
            <p:cNvSpPr>
              <a:spLocks/>
            </p:cNvSpPr>
            <p:nvPr/>
          </p:nvSpPr>
          <p:spPr bwMode="auto">
            <a:xfrm>
              <a:off x="574" y="1554"/>
              <a:ext cx="20" cy="16"/>
            </a:xfrm>
            <a:custGeom>
              <a:avLst/>
              <a:gdLst/>
              <a:ahLst/>
              <a:cxnLst>
                <a:cxn ang="0">
                  <a:pos x="15" y="14"/>
                </a:cxn>
                <a:cxn ang="0">
                  <a:pos x="12" y="10"/>
                </a:cxn>
                <a:cxn ang="0">
                  <a:pos x="9" y="5"/>
                </a:cxn>
                <a:cxn ang="0">
                  <a:pos x="18" y="9"/>
                </a:cxn>
                <a:cxn ang="0">
                  <a:pos x="17" y="6"/>
                </a:cxn>
                <a:cxn ang="0">
                  <a:pos x="12" y="5"/>
                </a:cxn>
                <a:cxn ang="0">
                  <a:pos x="15" y="0"/>
                </a:cxn>
                <a:cxn ang="0">
                  <a:pos x="6" y="4"/>
                </a:cxn>
                <a:cxn ang="0">
                  <a:pos x="5" y="8"/>
                </a:cxn>
                <a:cxn ang="0">
                  <a:pos x="0" y="9"/>
                </a:cxn>
                <a:cxn ang="0">
                  <a:pos x="4" y="15"/>
                </a:cxn>
                <a:cxn ang="0">
                  <a:pos x="6" y="9"/>
                </a:cxn>
                <a:cxn ang="0">
                  <a:pos x="15" y="14"/>
                </a:cxn>
              </a:cxnLst>
              <a:rect l="0" t="0" r="r" b="b"/>
              <a:pathLst>
                <a:path w="18" h="15">
                  <a:moveTo>
                    <a:pt x="15" y="14"/>
                  </a:moveTo>
                  <a:lnTo>
                    <a:pt x="12" y="10"/>
                  </a:lnTo>
                  <a:lnTo>
                    <a:pt x="9" y="5"/>
                  </a:lnTo>
                  <a:lnTo>
                    <a:pt x="18" y="9"/>
                  </a:lnTo>
                  <a:lnTo>
                    <a:pt x="17" y="6"/>
                  </a:lnTo>
                  <a:lnTo>
                    <a:pt x="12" y="5"/>
                  </a:lnTo>
                  <a:lnTo>
                    <a:pt x="15" y="0"/>
                  </a:lnTo>
                  <a:lnTo>
                    <a:pt x="6" y="4"/>
                  </a:lnTo>
                  <a:lnTo>
                    <a:pt x="5" y="8"/>
                  </a:lnTo>
                  <a:lnTo>
                    <a:pt x="0" y="9"/>
                  </a:lnTo>
                  <a:lnTo>
                    <a:pt x="4" y="15"/>
                  </a:lnTo>
                  <a:lnTo>
                    <a:pt x="6" y="9"/>
                  </a:lnTo>
                  <a:lnTo>
                    <a:pt x="15" y="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0" name="Freeform 439"/>
            <p:cNvSpPr>
              <a:spLocks/>
            </p:cNvSpPr>
            <p:nvPr/>
          </p:nvSpPr>
          <p:spPr bwMode="auto">
            <a:xfrm>
              <a:off x="571" y="1570"/>
              <a:ext cx="14" cy="24"/>
            </a:xfrm>
            <a:custGeom>
              <a:avLst/>
              <a:gdLst/>
              <a:ahLst/>
              <a:cxnLst>
                <a:cxn ang="0">
                  <a:pos x="0" y="21"/>
                </a:cxn>
                <a:cxn ang="0">
                  <a:pos x="12" y="0"/>
                </a:cxn>
                <a:cxn ang="0">
                  <a:pos x="4" y="4"/>
                </a:cxn>
                <a:cxn ang="0">
                  <a:pos x="0" y="21"/>
                </a:cxn>
              </a:cxnLst>
              <a:rect l="0" t="0" r="r" b="b"/>
              <a:pathLst>
                <a:path w="12" h="21">
                  <a:moveTo>
                    <a:pt x="0" y="21"/>
                  </a:moveTo>
                  <a:lnTo>
                    <a:pt x="12" y="0"/>
                  </a:lnTo>
                  <a:lnTo>
                    <a:pt x="4" y="4"/>
                  </a:lnTo>
                  <a:lnTo>
                    <a:pt x="0" y="2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1" name="Freeform 440"/>
            <p:cNvSpPr>
              <a:spLocks/>
            </p:cNvSpPr>
            <p:nvPr/>
          </p:nvSpPr>
          <p:spPr bwMode="auto">
            <a:xfrm>
              <a:off x="591" y="1576"/>
              <a:ext cx="14" cy="14"/>
            </a:xfrm>
            <a:custGeom>
              <a:avLst/>
              <a:gdLst/>
              <a:ahLst/>
              <a:cxnLst>
                <a:cxn ang="0">
                  <a:pos x="11" y="7"/>
                </a:cxn>
                <a:cxn ang="0">
                  <a:pos x="12" y="5"/>
                </a:cxn>
                <a:cxn ang="0">
                  <a:pos x="5" y="0"/>
                </a:cxn>
                <a:cxn ang="0">
                  <a:pos x="0" y="8"/>
                </a:cxn>
                <a:cxn ang="0">
                  <a:pos x="5" y="11"/>
                </a:cxn>
                <a:cxn ang="0">
                  <a:pos x="7" y="6"/>
                </a:cxn>
                <a:cxn ang="0">
                  <a:pos x="11" y="7"/>
                </a:cxn>
              </a:cxnLst>
              <a:rect l="0" t="0" r="r" b="b"/>
              <a:pathLst>
                <a:path w="12" h="11">
                  <a:moveTo>
                    <a:pt x="11" y="7"/>
                  </a:moveTo>
                  <a:lnTo>
                    <a:pt x="12" y="5"/>
                  </a:lnTo>
                  <a:lnTo>
                    <a:pt x="5" y="0"/>
                  </a:lnTo>
                  <a:lnTo>
                    <a:pt x="0" y="8"/>
                  </a:lnTo>
                  <a:lnTo>
                    <a:pt x="5" y="11"/>
                  </a:lnTo>
                  <a:lnTo>
                    <a:pt x="7" y="6"/>
                  </a:lnTo>
                  <a:lnTo>
                    <a:pt x="11" y="7"/>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2" name="Freeform 441"/>
            <p:cNvSpPr>
              <a:spLocks/>
            </p:cNvSpPr>
            <p:nvPr/>
          </p:nvSpPr>
          <p:spPr bwMode="auto">
            <a:xfrm>
              <a:off x="578" y="1581"/>
              <a:ext cx="13" cy="13"/>
            </a:xfrm>
            <a:custGeom>
              <a:avLst/>
              <a:gdLst/>
              <a:ahLst/>
              <a:cxnLst>
                <a:cxn ang="0">
                  <a:pos x="12" y="4"/>
                </a:cxn>
                <a:cxn ang="0">
                  <a:pos x="0" y="12"/>
                </a:cxn>
                <a:cxn ang="0">
                  <a:pos x="6" y="0"/>
                </a:cxn>
                <a:cxn ang="0">
                  <a:pos x="12" y="4"/>
                </a:cxn>
              </a:cxnLst>
              <a:rect l="0" t="0" r="r" b="b"/>
              <a:pathLst>
                <a:path w="12" h="12">
                  <a:moveTo>
                    <a:pt x="12" y="4"/>
                  </a:moveTo>
                  <a:lnTo>
                    <a:pt x="0" y="12"/>
                  </a:lnTo>
                  <a:lnTo>
                    <a:pt x="6" y="0"/>
                  </a:lnTo>
                  <a:lnTo>
                    <a:pt x="12" y="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3" name="Freeform 442"/>
            <p:cNvSpPr>
              <a:spLocks/>
            </p:cNvSpPr>
            <p:nvPr/>
          </p:nvSpPr>
          <p:spPr bwMode="auto">
            <a:xfrm>
              <a:off x="1334" y="1885"/>
              <a:ext cx="37" cy="9"/>
            </a:xfrm>
            <a:custGeom>
              <a:avLst/>
              <a:gdLst/>
              <a:ahLst/>
              <a:cxnLst>
                <a:cxn ang="0">
                  <a:pos x="35" y="1"/>
                </a:cxn>
                <a:cxn ang="0">
                  <a:pos x="25" y="4"/>
                </a:cxn>
                <a:cxn ang="0">
                  <a:pos x="27" y="0"/>
                </a:cxn>
                <a:cxn ang="0">
                  <a:pos x="0" y="8"/>
                </a:cxn>
                <a:cxn ang="0">
                  <a:pos x="17" y="5"/>
                </a:cxn>
                <a:cxn ang="0">
                  <a:pos x="35" y="1"/>
                </a:cxn>
              </a:cxnLst>
              <a:rect l="0" t="0" r="r" b="b"/>
              <a:pathLst>
                <a:path w="35" h="8">
                  <a:moveTo>
                    <a:pt x="35" y="1"/>
                  </a:moveTo>
                  <a:lnTo>
                    <a:pt x="25" y="4"/>
                  </a:lnTo>
                  <a:lnTo>
                    <a:pt x="27" y="0"/>
                  </a:lnTo>
                  <a:lnTo>
                    <a:pt x="0" y="8"/>
                  </a:lnTo>
                  <a:lnTo>
                    <a:pt x="17" y="5"/>
                  </a:lnTo>
                  <a:lnTo>
                    <a:pt x="35" y="1"/>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sp>
          <p:nvSpPr>
            <p:cNvPr id="444" name="Freeform 443"/>
            <p:cNvSpPr>
              <a:spLocks/>
            </p:cNvSpPr>
            <p:nvPr/>
          </p:nvSpPr>
          <p:spPr bwMode="auto">
            <a:xfrm>
              <a:off x="2236" y="2154"/>
              <a:ext cx="146" cy="136"/>
            </a:xfrm>
            <a:custGeom>
              <a:avLst/>
              <a:gdLst/>
              <a:ahLst/>
              <a:cxnLst>
                <a:cxn ang="0">
                  <a:pos x="2" y="114"/>
                </a:cxn>
                <a:cxn ang="0">
                  <a:pos x="0" y="124"/>
                </a:cxn>
                <a:cxn ang="0">
                  <a:pos x="0" y="114"/>
                </a:cxn>
                <a:cxn ang="0">
                  <a:pos x="11" y="91"/>
                </a:cxn>
                <a:cxn ang="0">
                  <a:pos x="21" y="70"/>
                </a:cxn>
                <a:cxn ang="0">
                  <a:pos x="18" y="72"/>
                </a:cxn>
                <a:cxn ang="0">
                  <a:pos x="31" y="58"/>
                </a:cxn>
                <a:cxn ang="0">
                  <a:pos x="36" y="43"/>
                </a:cxn>
                <a:cxn ang="0">
                  <a:pos x="42" y="30"/>
                </a:cxn>
                <a:cxn ang="0">
                  <a:pos x="54" y="18"/>
                </a:cxn>
                <a:cxn ang="0">
                  <a:pos x="63" y="0"/>
                </a:cxn>
                <a:cxn ang="0">
                  <a:pos x="80" y="0"/>
                </a:cxn>
                <a:cxn ang="0">
                  <a:pos x="98" y="0"/>
                </a:cxn>
                <a:cxn ang="0">
                  <a:pos x="115" y="0"/>
                </a:cxn>
                <a:cxn ang="0">
                  <a:pos x="132" y="0"/>
                </a:cxn>
                <a:cxn ang="0">
                  <a:pos x="132" y="7"/>
                </a:cxn>
                <a:cxn ang="0">
                  <a:pos x="132" y="30"/>
                </a:cxn>
                <a:cxn ang="0">
                  <a:pos x="119" y="30"/>
                </a:cxn>
                <a:cxn ang="0">
                  <a:pos x="107" y="30"/>
                </a:cxn>
                <a:cxn ang="0">
                  <a:pos x="93" y="30"/>
                </a:cxn>
                <a:cxn ang="0">
                  <a:pos x="80" y="30"/>
                </a:cxn>
                <a:cxn ang="0">
                  <a:pos x="80" y="53"/>
                </a:cxn>
                <a:cxn ang="0">
                  <a:pos x="79" y="76"/>
                </a:cxn>
                <a:cxn ang="0">
                  <a:pos x="63" y="84"/>
                </a:cxn>
                <a:cxn ang="0">
                  <a:pos x="63" y="99"/>
                </a:cxn>
                <a:cxn ang="0">
                  <a:pos x="63" y="114"/>
                </a:cxn>
                <a:cxn ang="0">
                  <a:pos x="48" y="114"/>
                </a:cxn>
                <a:cxn ang="0">
                  <a:pos x="32" y="114"/>
                </a:cxn>
                <a:cxn ang="0">
                  <a:pos x="17" y="114"/>
                </a:cxn>
                <a:cxn ang="0">
                  <a:pos x="2" y="114"/>
                </a:cxn>
              </a:cxnLst>
              <a:rect l="0" t="0" r="r" b="b"/>
              <a:pathLst>
                <a:path w="132" h="124">
                  <a:moveTo>
                    <a:pt x="2" y="114"/>
                  </a:moveTo>
                  <a:lnTo>
                    <a:pt x="0" y="124"/>
                  </a:lnTo>
                  <a:lnTo>
                    <a:pt x="0" y="114"/>
                  </a:lnTo>
                  <a:lnTo>
                    <a:pt x="11" y="91"/>
                  </a:lnTo>
                  <a:lnTo>
                    <a:pt x="21" y="70"/>
                  </a:lnTo>
                  <a:lnTo>
                    <a:pt x="18" y="72"/>
                  </a:lnTo>
                  <a:lnTo>
                    <a:pt x="31" y="58"/>
                  </a:lnTo>
                  <a:lnTo>
                    <a:pt x="36" y="43"/>
                  </a:lnTo>
                  <a:lnTo>
                    <a:pt x="42" y="30"/>
                  </a:lnTo>
                  <a:lnTo>
                    <a:pt x="54" y="18"/>
                  </a:lnTo>
                  <a:lnTo>
                    <a:pt x="63" y="0"/>
                  </a:lnTo>
                  <a:lnTo>
                    <a:pt x="80" y="0"/>
                  </a:lnTo>
                  <a:lnTo>
                    <a:pt x="98" y="0"/>
                  </a:lnTo>
                  <a:lnTo>
                    <a:pt x="115" y="0"/>
                  </a:lnTo>
                  <a:lnTo>
                    <a:pt x="132" y="0"/>
                  </a:lnTo>
                  <a:lnTo>
                    <a:pt x="132" y="7"/>
                  </a:lnTo>
                  <a:lnTo>
                    <a:pt x="132" y="30"/>
                  </a:lnTo>
                  <a:lnTo>
                    <a:pt x="119" y="30"/>
                  </a:lnTo>
                  <a:lnTo>
                    <a:pt x="107" y="30"/>
                  </a:lnTo>
                  <a:lnTo>
                    <a:pt x="93" y="30"/>
                  </a:lnTo>
                  <a:lnTo>
                    <a:pt x="80" y="30"/>
                  </a:lnTo>
                  <a:lnTo>
                    <a:pt x="80" y="53"/>
                  </a:lnTo>
                  <a:lnTo>
                    <a:pt x="79" y="76"/>
                  </a:lnTo>
                  <a:lnTo>
                    <a:pt x="63" y="84"/>
                  </a:lnTo>
                  <a:lnTo>
                    <a:pt x="63" y="99"/>
                  </a:lnTo>
                  <a:lnTo>
                    <a:pt x="63" y="114"/>
                  </a:lnTo>
                  <a:lnTo>
                    <a:pt x="48" y="114"/>
                  </a:lnTo>
                  <a:lnTo>
                    <a:pt x="32" y="114"/>
                  </a:lnTo>
                  <a:lnTo>
                    <a:pt x="17" y="114"/>
                  </a:lnTo>
                  <a:lnTo>
                    <a:pt x="2" y="114"/>
                  </a:lnTo>
                  <a:close/>
                </a:path>
              </a:pathLst>
            </a:custGeom>
            <a:grpFill/>
            <a:ln w="3175" cmpd="sng">
              <a:solidFill>
                <a:srgbClr val="EBF2F9"/>
              </a:solidFill>
              <a:prstDash val="solid"/>
              <a:round/>
              <a:headEnd/>
              <a:tailEnd/>
            </a:ln>
            <a:effectLst/>
          </p:spPr>
          <p:txBody>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endParaRPr lang="en-GB" sz="1869" dirty="0">
                <a:solidFill>
                  <a:prstClr val="black"/>
                </a:solidFill>
              </a:endParaRPr>
            </a:p>
          </p:txBody>
        </p:sp>
      </p:grpSp>
      <p:sp>
        <p:nvSpPr>
          <p:cNvPr id="445" name="TextBox 599"/>
          <p:cNvSpPr txBox="1"/>
          <p:nvPr/>
        </p:nvSpPr>
        <p:spPr>
          <a:xfrm>
            <a:off x="7495627" y="3948025"/>
            <a:ext cx="4222761" cy="2113259"/>
          </a:xfrm>
          <a:prstGeom prst="roundRect">
            <a:avLst/>
          </a:prstGeom>
          <a:noFill/>
          <a:ln w="28575">
            <a:solidFill>
              <a:schemeClr val="accent1"/>
            </a:solidFill>
            <a:prstDash val="dashDot"/>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endParaRPr lang="en-GB" sz="1869" dirty="0">
              <a:solidFill>
                <a:prstClr val="black"/>
              </a:solidFill>
            </a:endParaRPr>
          </a:p>
        </p:txBody>
      </p:sp>
      <p:grpSp>
        <p:nvGrpSpPr>
          <p:cNvPr id="446" name="Group 445"/>
          <p:cNvGrpSpPr/>
          <p:nvPr/>
        </p:nvGrpSpPr>
        <p:grpSpPr>
          <a:xfrm>
            <a:off x="381805" y="1763278"/>
            <a:ext cx="3779722" cy="4065458"/>
            <a:chOff x="458769" y="1327309"/>
            <a:chExt cx="3847119" cy="4137950"/>
          </a:xfrm>
        </p:grpSpPr>
        <p:sp>
          <p:nvSpPr>
            <p:cNvPr id="447" name="Freeform 446"/>
            <p:cNvSpPr/>
            <p:nvPr/>
          </p:nvSpPr>
          <p:spPr>
            <a:xfrm rot="21365595" flipH="1" flipV="1">
              <a:off x="1361005" y="2521249"/>
              <a:ext cx="1883228" cy="608646"/>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48" name="Freeform 447"/>
            <p:cNvSpPr/>
            <p:nvPr/>
          </p:nvSpPr>
          <p:spPr>
            <a:xfrm rot="21287480" flipH="1" flipV="1">
              <a:off x="1322362" y="4080518"/>
              <a:ext cx="1970135" cy="334088"/>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grpSp>
          <p:nvGrpSpPr>
            <p:cNvPr id="449" name="Group 448"/>
            <p:cNvGrpSpPr/>
            <p:nvPr/>
          </p:nvGrpSpPr>
          <p:grpSpPr>
            <a:xfrm rot="10800000" flipH="1">
              <a:off x="458769" y="1327309"/>
              <a:ext cx="3847119" cy="4137950"/>
              <a:chOff x="3474598" y="1219201"/>
              <a:chExt cx="3702490" cy="4807347"/>
            </a:xfrm>
          </p:grpSpPr>
          <p:sp>
            <p:nvSpPr>
              <p:cNvPr id="450" name="Freeform 449"/>
              <p:cNvSpPr/>
              <p:nvPr/>
            </p:nvSpPr>
            <p:spPr>
              <a:xfrm>
                <a:off x="3494041" y="4040150"/>
                <a:ext cx="886981" cy="484968"/>
              </a:xfrm>
              <a:custGeom>
                <a:avLst/>
                <a:gdLst>
                  <a:gd name="connsiteX0" fmla="*/ 6350 w 822325"/>
                  <a:gd name="connsiteY0" fmla="*/ 0 h 428625"/>
                  <a:gd name="connsiteX1" fmla="*/ 0 w 822325"/>
                  <a:gd name="connsiteY1" fmla="*/ 320675 h 428625"/>
                  <a:gd name="connsiteX2" fmla="*/ 815975 w 822325"/>
                  <a:gd name="connsiteY2" fmla="*/ 428625 h 428625"/>
                  <a:gd name="connsiteX3" fmla="*/ 822325 w 822325"/>
                  <a:gd name="connsiteY3" fmla="*/ 34925 h 428625"/>
                  <a:gd name="connsiteX4" fmla="*/ 6350 w 822325"/>
                  <a:gd name="connsiteY4" fmla="*/ 0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325" h="428625">
                    <a:moveTo>
                      <a:pt x="6350" y="0"/>
                    </a:moveTo>
                    <a:lnTo>
                      <a:pt x="0" y="320675"/>
                    </a:lnTo>
                    <a:lnTo>
                      <a:pt x="815975" y="428625"/>
                    </a:lnTo>
                    <a:lnTo>
                      <a:pt x="822325" y="34925"/>
                    </a:lnTo>
                    <a:lnTo>
                      <a:pt x="635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1" name="Freeform 450"/>
              <p:cNvSpPr/>
              <p:nvPr/>
            </p:nvSpPr>
            <p:spPr>
              <a:xfrm>
                <a:off x="3483565" y="2413795"/>
                <a:ext cx="873329" cy="516731"/>
              </a:xfrm>
              <a:custGeom>
                <a:avLst/>
                <a:gdLst>
                  <a:gd name="connsiteX0" fmla="*/ 0 w 819150"/>
                  <a:gd name="connsiteY0" fmla="*/ 523875 h 523875"/>
                  <a:gd name="connsiteX1" fmla="*/ 806450 w 819150"/>
                  <a:gd name="connsiteY1" fmla="*/ 339725 h 523875"/>
                  <a:gd name="connsiteX2" fmla="*/ 819150 w 819150"/>
                  <a:gd name="connsiteY2" fmla="*/ 0 h 523875"/>
                  <a:gd name="connsiteX3" fmla="*/ 6350 w 819150"/>
                  <a:gd name="connsiteY3" fmla="*/ 241300 h 523875"/>
                  <a:gd name="connsiteX4" fmla="*/ 0 w 819150"/>
                  <a:gd name="connsiteY4" fmla="*/ 523875 h 523875"/>
                  <a:gd name="connsiteX0" fmla="*/ 0 w 812006"/>
                  <a:gd name="connsiteY0" fmla="*/ 516731 h 516731"/>
                  <a:gd name="connsiteX1" fmla="*/ 806450 w 812006"/>
                  <a:gd name="connsiteY1" fmla="*/ 332581 h 516731"/>
                  <a:gd name="connsiteX2" fmla="*/ 812006 w 812006"/>
                  <a:gd name="connsiteY2" fmla="*/ 0 h 516731"/>
                  <a:gd name="connsiteX3" fmla="*/ 6350 w 812006"/>
                  <a:gd name="connsiteY3" fmla="*/ 234156 h 516731"/>
                  <a:gd name="connsiteX4" fmla="*/ 0 w 812006"/>
                  <a:gd name="connsiteY4" fmla="*/ 516731 h 516731"/>
                  <a:gd name="connsiteX0" fmla="*/ 0 w 813594"/>
                  <a:gd name="connsiteY0" fmla="*/ 516731 h 516731"/>
                  <a:gd name="connsiteX1" fmla="*/ 813594 w 813594"/>
                  <a:gd name="connsiteY1" fmla="*/ 330199 h 516731"/>
                  <a:gd name="connsiteX2" fmla="*/ 812006 w 813594"/>
                  <a:gd name="connsiteY2" fmla="*/ 0 h 516731"/>
                  <a:gd name="connsiteX3" fmla="*/ 6350 w 813594"/>
                  <a:gd name="connsiteY3" fmla="*/ 234156 h 516731"/>
                  <a:gd name="connsiteX4" fmla="*/ 0 w 813594"/>
                  <a:gd name="connsiteY4" fmla="*/ 516731 h 51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94" h="516731">
                    <a:moveTo>
                      <a:pt x="0" y="516731"/>
                    </a:moveTo>
                    <a:lnTo>
                      <a:pt x="813594" y="330199"/>
                    </a:lnTo>
                    <a:cubicBezTo>
                      <a:pt x="813065" y="220133"/>
                      <a:pt x="812535" y="110066"/>
                      <a:pt x="812006" y="0"/>
                    </a:cubicBezTo>
                    <a:lnTo>
                      <a:pt x="6350" y="234156"/>
                    </a:lnTo>
                    <a:cubicBezTo>
                      <a:pt x="5292" y="331523"/>
                      <a:pt x="4233" y="428889"/>
                      <a:pt x="0" y="5167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2" name="Freeform 451"/>
              <p:cNvSpPr/>
              <p:nvPr/>
            </p:nvSpPr>
            <p:spPr>
              <a:xfrm>
                <a:off x="4310063" y="2743200"/>
                <a:ext cx="2376487" cy="1376386"/>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354137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2368550"/>
                  <a:gd name="connsiteY0" fmla="*/ 0 h 1354137"/>
                  <a:gd name="connsiteX1" fmla="*/ 0 w 2368550"/>
                  <a:gd name="connsiteY1" fmla="*/ 1354137 h 1354137"/>
                  <a:gd name="connsiteX2" fmla="*/ 2368550 w 2368550"/>
                  <a:gd name="connsiteY2" fmla="*/ 1320800 h 1354137"/>
                  <a:gd name="connsiteX3" fmla="*/ 1816100 w 2368550"/>
                  <a:gd name="connsiteY3" fmla="*/ 469900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8550" h="1354137">
                    <a:moveTo>
                      <a:pt x="6350" y="0"/>
                    </a:moveTo>
                    <a:cubicBezTo>
                      <a:pt x="4233" y="389467"/>
                      <a:pt x="2117" y="964670"/>
                      <a:pt x="0" y="1354137"/>
                    </a:cubicBezTo>
                    <a:lnTo>
                      <a:pt x="2368550" y="1320800"/>
                    </a:lnTo>
                    <a:lnTo>
                      <a:pt x="2354262" y="379412"/>
                    </a:lnTo>
                    <a:cubicBezTo>
                      <a:pt x="2345266" y="281780"/>
                      <a:pt x="2331508" y="203993"/>
                      <a:pt x="2193925" y="169862"/>
                    </a:cubicBezTo>
                    <a:lnTo>
                      <a:pt x="6350" y="0"/>
                    </a:lnTo>
                    <a:close/>
                  </a:path>
                </a:pathLst>
              </a:custGeom>
              <a:solidFill>
                <a:schemeClr val="accent1">
                  <a:lumMod val="20000"/>
                  <a:lumOff val="8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3" name="Freeform 452"/>
              <p:cNvSpPr/>
              <p:nvPr/>
            </p:nvSpPr>
            <p:spPr>
              <a:xfrm>
                <a:off x="4322764" y="4356465"/>
                <a:ext cx="2854324" cy="1670050"/>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354137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2368550"/>
                  <a:gd name="connsiteY0" fmla="*/ 0 h 1354137"/>
                  <a:gd name="connsiteX1" fmla="*/ 0 w 2368550"/>
                  <a:gd name="connsiteY1" fmla="*/ 1354137 h 1354137"/>
                  <a:gd name="connsiteX2" fmla="*/ 2368550 w 2368550"/>
                  <a:gd name="connsiteY2" fmla="*/ 1320800 h 1354137"/>
                  <a:gd name="connsiteX3" fmla="*/ 1816100 w 2368550"/>
                  <a:gd name="connsiteY3" fmla="*/ 469900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1689100 w 2368550"/>
                  <a:gd name="connsiteY4" fmla="*/ 317500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6350 w 2368550"/>
                  <a:gd name="connsiteY0" fmla="*/ 0 h 1354137"/>
                  <a:gd name="connsiteX1" fmla="*/ 0 w 2368550"/>
                  <a:gd name="connsiteY1" fmla="*/ 1354137 h 1354137"/>
                  <a:gd name="connsiteX2" fmla="*/ 2368550 w 2368550"/>
                  <a:gd name="connsiteY2" fmla="*/ 1320800 h 1354137"/>
                  <a:gd name="connsiteX3" fmla="*/ 2354262 w 2368550"/>
                  <a:gd name="connsiteY3" fmla="*/ 379412 h 1354137"/>
                  <a:gd name="connsiteX4" fmla="*/ 2193925 w 2368550"/>
                  <a:gd name="connsiteY4" fmla="*/ 169862 h 1354137"/>
                  <a:gd name="connsiteX5" fmla="*/ 6350 w 2368550"/>
                  <a:gd name="connsiteY5" fmla="*/ 0 h 1354137"/>
                  <a:gd name="connsiteX0" fmla="*/ 11112 w 2373312"/>
                  <a:gd name="connsiteY0" fmla="*/ 0 h 1520824"/>
                  <a:gd name="connsiteX1" fmla="*/ 0 w 2373312"/>
                  <a:gd name="connsiteY1" fmla="*/ 1520824 h 1520824"/>
                  <a:gd name="connsiteX2" fmla="*/ 2373312 w 2373312"/>
                  <a:gd name="connsiteY2" fmla="*/ 1320800 h 1520824"/>
                  <a:gd name="connsiteX3" fmla="*/ 2359024 w 2373312"/>
                  <a:gd name="connsiteY3" fmla="*/ 379412 h 1520824"/>
                  <a:gd name="connsiteX4" fmla="*/ 2198687 w 2373312"/>
                  <a:gd name="connsiteY4" fmla="*/ 169862 h 1520824"/>
                  <a:gd name="connsiteX5" fmla="*/ 11112 w 2373312"/>
                  <a:gd name="connsiteY5" fmla="*/ 0 h 1520824"/>
                  <a:gd name="connsiteX0" fmla="*/ 1587 w 2363787"/>
                  <a:gd name="connsiteY0" fmla="*/ 0 h 1516062"/>
                  <a:gd name="connsiteX1" fmla="*/ 0 w 2363787"/>
                  <a:gd name="connsiteY1" fmla="*/ 1516062 h 1516062"/>
                  <a:gd name="connsiteX2" fmla="*/ 2363787 w 2363787"/>
                  <a:gd name="connsiteY2" fmla="*/ 1320800 h 1516062"/>
                  <a:gd name="connsiteX3" fmla="*/ 2349499 w 2363787"/>
                  <a:gd name="connsiteY3" fmla="*/ 379412 h 1516062"/>
                  <a:gd name="connsiteX4" fmla="*/ 2189162 w 2363787"/>
                  <a:gd name="connsiteY4" fmla="*/ 169862 h 1516062"/>
                  <a:gd name="connsiteX5" fmla="*/ 1587 w 2363787"/>
                  <a:gd name="connsiteY5" fmla="*/ 0 h 1516062"/>
                  <a:gd name="connsiteX0" fmla="*/ 1587 w 2844799"/>
                  <a:gd name="connsiteY0" fmla="*/ 0 h 1516062"/>
                  <a:gd name="connsiteX1" fmla="*/ 0 w 2844799"/>
                  <a:gd name="connsiteY1" fmla="*/ 1516062 h 1516062"/>
                  <a:gd name="connsiteX2" fmla="*/ 2844799 w 2844799"/>
                  <a:gd name="connsiteY2" fmla="*/ 1063625 h 1516062"/>
                  <a:gd name="connsiteX3" fmla="*/ 2349499 w 2844799"/>
                  <a:gd name="connsiteY3" fmla="*/ 379412 h 1516062"/>
                  <a:gd name="connsiteX4" fmla="*/ 2189162 w 2844799"/>
                  <a:gd name="connsiteY4" fmla="*/ 169862 h 1516062"/>
                  <a:gd name="connsiteX5" fmla="*/ 1587 w 2844799"/>
                  <a:gd name="connsiteY5" fmla="*/ 0 h 1516062"/>
                  <a:gd name="connsiteX0" fmla="*/ 1587 w 2844799"/>
                  <a:gd name="connsiteY0" fmla="*/ 153988 h 1670050"/>
                  <a:gd name="connsiteX1" fmla="*/ 0 w 2844799"/>
                  <a:gd name="connsiteY1" fmla="*/ 1670050 h 1670050"/>
                  <a:gd name="connsiteX2" fmla="*/ 2844799 w 2844799"/>
                  <a:gd name="connsiteY2" fmla="*/ 1217613 h 1670050"/>
                  <a:gd name="connsiteX3" fmla="*/ 2349499 w 2844799"/>
                  <a:gd name="connsiteY3" fmla="*/ 533400 h 1670050"/>
                  <a:gd name="connsiteX4" fmla="*/ 2651124 w 2844799"/>
                  <a:gd name="connsiteY4" fmla="*/ 0 h 1670050"/>
                  <a:gd name="connsiteX5" fmla="*/ 1587 w 2844799"/>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4799 w 2854324"/>
                  <a:gd name="connsiteY2" fmla="*/ 1217613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53988 h 1670050"/>
                  <a:gd name="connsiteX1" fmla="*/ 0 w 2854324"/>
                  <a:gd name="connsiteY1" fmla="*/ 1670050 h 1670050"/>
                  <a:gd name="connsiteX2" fmla="*/ 2849561 w 2854324"/>
                  <a:gd name="connsiteY2" fmla="*/ 1208088 h 1670050"/>
                  <a:gd name="connsiteX3" fmla="*/ 2854324 w 2854324"/>
                  <a:gd name="connsiteY3" fmla="*/ 304800 h 1670050"/>
                  <a:gd name="connsiteX4" fmla="*/ 2651124 w 2854324"/>
                  <a:gd name="connsiteY4" fmla="*/ 0 h 1670050"/>
                  <a:gd name="connsiteX5" fmla="*/ 1587 w 2854324"/>
                  <a:gd name="connsiteY5" fmla="*/ 153988 h 1670050"/>
                  <a:gd name="connsiteX0" fmla="*/ 1587 w 2854324"/>
                  <a:gd name="connsiteY0" fmla="*/ 149226 h 1670050"/>
                  <a:gd name="connsiteX1" fmla="*/ 0 w 2854324"/>
                  <a:gd name="connsiteY1" fmla="*/ 1670050 h 1670050"/>
                  <a:gd name="connsiteX2" fmla="*/ 2849561 w 2854324"/>
                  <a:gd name="connsiteY2" fmla="*/ 1208088 h 1670050"/>
                  <a:gd name="connsiteX3" fmla="*/ 2854324 w 2854324"/>
                  <a:gd name="connsiteY3" fmla="*/ 304800 h 1670050"/>
                  <a:gd name="connsiteX4" fmla="*/ 2651124 w 2854324"/>
                  <a:gd name="connsiteY4" fmla="*/ 0 h 1670050"/>
                  <a:gd name="connsiteX5" fmla="*/ 1587 w 2854324"/>
                  <a:gd name="connsiteY5" fmla="*/ 149226 h 167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4324" h="1670050">
                    <a:moveTo>
                      <a:pt x="1587" y="149226"/>
                    </a:moveTo>
                    <a:cubicBezTo>
                      <a:pt x="-530" y="538693"/>
                      <a:pt x="2117" y="1280583"/>
                      <a:pt x="0" y="1670050"/>
                    </a:cubicBezTo>
                    <a:lnTo>
                      <a:pt x="2849561" y="1208088"/>
                    </a:lnTo>
                    <a:cubicBezTo>
                      <a:pt x="2851149" y="906992"/>
                      <a:pt x="2852736" y="605896"/>
                      <a:pt x="2854324" y="304800"/>
                    </a:cubicBezTo>
                    <a:cubicBezTo>
                      <a:pt x="2850090" y="159543"/>
                      <a:pt x="2826807" y="29368"/>
                      <a:pt x="2651124" y="0"/>
                    </a:cubicBezTo>
                    <a:lnTo>
                      <a:pt x="1587" y="149226"/>
                    </a:lnTo>
                    <a:close/>
                  </a:path>
                </a:pathLst>
              </a:custGeom>
              <a:solidFill>
                <a:schemeClr val="accent1">
                  <a:lumMod val="20000"/>
                  <a:lumOff val="8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4" name="Freeform 453"/>
              <p:cNvSpPr/>
              <p:nvPr/>
            </p:nvSpPr>
            <p:spPr>
              <a:xfrm>
                <a:off x="4318000" y="1219201"/>
                <a:ext cx="1889449" cy="1379224"/>
              </a:xfrm>
              <a:custGeom>
                <a:avLst/>
                <a:gdLst>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 name="connsiteX0" fmla="*/ 6350 w 1816100"/>
                  <a:gd name="connsiteY0" fmla="*/ 0 h 1358900"/>
                  <a:gd name="connsiteX1" fmla="*/ 0 w 1816100"/>
                  <a:gd name="connsiteY1" fmla="*/ 1168400 h 1358900"/>
                  <a:gd name="connsiteX2" fmla="*/ 1816100 w 1816100"/>
                  <a:gd name="connsiteY2" fmla="*/ 1358900 h 1358900"/>
                  <a:gd name="connsiteX3" fmla="*/ 1816100 w 1816100"/>
                  <a:gd name="connsiteY3" fmla="*/ 469900 h 1358900"/>
                  <a:gd name="connsiteX4" fmla="*/ 1689100 w 1816100"/>
                  <a:gd name="connsiteY4" fmla="*/ 317500 h 1358900"/>
                  <a:gd name="connsiteX5" fmla="*/ 6350 w 1816100"/>
                  <a:gd name="connsiteY5" fmla="*/ 0 h 135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16100" h="1358900">
                    <a:moveTo>
                      <a:pt x="6350" y="0"/>
                    </a:moveTo>
                    <a:cubicBezTo>
                      <a:pt x="4233" y="389467"/>
                      <a:pt x="2117" y="778933"/>
                      <a:pt x="0" y="1168400"/>
                    </a:cubicBezTo>
                    <a:lnTo>
                      <a:pt x="1816100" y="1358900"/>
                    </a:lnTo>
                    <a:lnTo>
                      <a:pt x="1816100" y="469900"/>
                    </a:lnTo>
                    <a:cubicBezTo>
                      <a:pt x="1797579" y="378618"/>
                      <a:pt x="1750483" y="342106"/>
                      <a:pt x="1689100" y="317500"/>
                    </a:cubicBezTo>
                    <a:lnTo>
                      <a:pt x="6350" y="0"/>
                    </a:lnTo>
                    <a:close/>
                  </a:path>
                </a:pathLst>
              </a:custGeom>
              <a:solidFill>
                <a:schemeClr val="accent1">
                  <a:lumMod val="20000"/>
                  <a:lumOff val="8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5" name="Parallelogram 4"/>
              <p:cNvSpPr/>
              <p:nvPr/>
            </p:nvSpPr>
            <p:spPr>
              <a:xfrm>
                <a:off x="3474598" y="1222375"/>
                <a:ext cx="851609" cy="1461294"/>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4616 w 851468"/>
                  <a:gd name="connsiteY0" fmla="*/ 1422234 h 1422234"/>
                  <a:gd name="connsiteX1" fmla="*/ 0 w 851468"/>
                  <a:gd name="connsiteY1" fmla="*/ 463091 h 1422234"/>
                  <a:gd name="connsiteX2" fmla="*/ 851339 w 851468"/>
                  <a:gd name="connsiteY2" fmla="*/ 0 h 1422234"/>
                  <a:gd name="connsiteX3" fmla="*/ 841668 w 851468"/>
                  <a:gd name="connsiteY3" fmla="*/ 1174584 h 1422234"/>
                  <a:gd name="connsiteX4" fmla="*/ 4616 w 851468"/>
                  <a:gd name="connsiteY4" fmla="*/ 1422234 h 1422234"/>
                  <a:gd name="connsiteX0" fmla="*/ 4616 w 851767"/>
                  <a:gd name="connsiteY0" fmla="*/ 1422234 h 1422234"/>
                  <a:gd name="connsiteX1" fmla="*/ 0 w 851767"/>
                  <a:gd name="connsiteY1" fmla="*/ 463091 h 1422234"/>
                  <a:gd name="connsiteX2" fmla="*/ 851339 w 851767"/>
                  <a:gd name="connsiteY2" fmla="*/ 0 h 1422234"/>
                  <a:gd name="connsiteX3" fmla="*/ 851193 w 851767"/>
                  <a:gd name="connsiteY3" fmla="*/ 1160641 h 1422234"/>
                  <a:gd name="connsiteX4" fmla="*/ 4616 w 851767"/>
                  <a:gd name="connsiteY4" fmla="*/ 1422234 h 1422234"/>
                  <a:gd name="connsiteX0" fmla="*/ 4616 w 851609"/>
                  <a:gd name="connsiteY0" fmla="*/ 1422234 h 1422234"/>
                  <a:gd name="connsiteX1" fmla="*/ 0 w 851609"/>
                  <a:gd name="connsiteY1" fmla="*/ 463091 h 1422234"/>
                  <a:gd name="connsiteX2" fmla="*/ 851339 w 851609"/>
                  <a:gd name="connsiteY2" fmla="*/ 0 h 1422234"/>
                  <a:gd name="connsiteX3" fmla="*/ 848812 w 851609"/>
                  <a:gd name="connsiteY3" fmla="*/ 1169937 h 1422234"/>
                  <a:gd name="connsiteX4" fmla="*/ 4616 w 851609"/>
                  <a:gd name="connsiteY4" fmla="*/ 1422234 h 1422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609" h="1422234">
                    <a:moveTo>
                      <a:pt x="4616" y="1422234"/>
                    </a:moveTo>
                    <a:cubicBezTo>
                      <a:pt x="3077" y="1102520"/>
                      <a:pt x="1539" y="782805"/>
                      <a:pt x="0" y="463091"/>
                    </a:cubicBezTo>
                    <a:lnTo>
                      <a:pt x="851339" y="0"/>
                    </a:lnTo>
                    <a:cubicBezTo>
                      <a:pt x="852878" y="385331"/>
                      <a:pt x="847273" y="784606"/>
                      <a:pt x="848812" y="1169937"/>
                    </a:cubicBezTo>
                    <a:lnTo>
                      <a:pt x="4616" y="1422234"/>
                    </a:lnTo>
                    <a:close/>
                  </a:path>
                </a:pathLst>
              </a:custGeom>
              <a:solidFill>
                <a:schemeClr val="accent1">
                  <a:lumMod val="40000"/>
                  <a:lumOff val="6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6" name="Parallelogram 4"/>
              <p:cNvSpPr/>
              <p:nvPr/>
            </p:nvSpPr>
            <p:spPr>
              <a:xfrm>
                <a:off x="3486583" y="4382399"/>
                <a:ext cx="842465" cy="1644149"/>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155993 h 1403643"/>
                  <a:gd name="connsiteX4" fmla="*/ 252 w 837304"/>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384593 h 1403643"/>
                  <a:gd name="connsiteX4" fmla="*/ 252 w 837304"/>
                  <a:gd name="connsiteY4" fmla="*/ 1403643 h 1403643"/>
                  <a:gd name="connsiteX0" fmla="*/ 252 w 837304"/>
                  <a:gd name="connsiteY0" fmla="*/ 1304583 h 1384593"/>
                  <a:gd name="connsiteX1" fmla="*/ 3256 w 837304"/>
                  <a:gd name="connsiteY1" fmla="*/ 193040 h 1384593"/>
                  <a:gd name="connsiteX2" fmla="*/ 832688 w 837304"/>
                  <a:gd name="connsiteY2" fmla="*/ 0 h 1384593"/>
                  <a:gd name="connsiteX3" fmla="*/ 837304 w 837304"/>
                  <a:gd name="connsiteY3" fmla="*/ 1384593 h 1384593"/>
                  <a:gd name="connsiteX4" fmla="*/ 252 w 837304"/>
                  <a:gd name="connsiteY4" fmla="*/ 1304583 h 138459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44924"/>
                  <a:gd name="connsiteY0" fmla="*/ 1304583 h 1338873"/>
                  <a:gd name="connsiteX1" fmla="*/ 3256 w 844924"/>
                  <a:gd name="connsiteY1" fmla="*/ 193040 h 1338873"/>
                  <a:gd name="connsiteX2" fmla="*/ 832688 w 844924"/>
                  <a:gd name="connsiteY2" fmla="*/ 0 h 1338873"/>
                  <a:gd name="connsiteX3" fmla="*/ 844924 w 844924"/>
                  <a:gd name="connsiteY3" fmla="*/ 1338873 h 1338873"/>
                  <a:gd name="connsiteX4" fmla="*/ 252 w 844924"/>
                  <a:gd name="connsiteY4" fmla="*/ 1304583 h 133887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28172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28172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1223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12236 w 829683"/>
                  <a:gd name="connsiteY4" fmla="*/ 1296963 h 1354113"/>
                  <a:gd name="connsiteX0" fmla="*/ 461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296963 h 1354113"/>
                  <a:gd name="connsiteX0" fmla="*/ 73196 w 829683"/>
                  <a:gd name="connsiteY0" fmla="*/ 1350303 h 1354113"/>
                  <a:gd name="connsiteX1" fmla="*/ 0 w 829683"/>
                  <a:gd name="connsiteY1" fmla="*/ 193040 h 1354113"/>
                  <a:gd name="connsiteX2" fmla="*/ 829432 w 829683"/>
                  <a:gd name="connsiteY2" fmla="*/ 0 h 1354113"/>
                  <a:gd name="connsiteX3" fmla="*/ 826428 w 829683"/>
                  <a:gd name="connsiteY3" fmla="*/ 1354113 h 1354113"/>
                  <a:gd name="connsiteX4" fmla="*/ 73196 w 829683"/>
                  <a:gd name="connsiteY4" fmla="*/ 1350303 h 1354113"/>
                  <a:gd name="connsiteX0" fmla="*/ 4616 w 829683"/>
                  <a:gd name="connsiteY0" fmla="*/ 131982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319823 h 1354113"/>
                  <a:gd name="connsiteX0" fmla="*/ 121 w 825188"/>
                  <a:gd name="connsiteY0" fmla="*/ 1319823 h 1354113"/>
                  <a:gd name="connsiteX1" fmla="*/ 10745 w 825188"/>
                  <a:gd name="connsiteY1" fmla="*/ 78740 h 1354113"/>
                  <a:gd name="connsiteX2" fmla="*/ 824937 w 825188"/>
                  <a:gd name="connsiteY2" fmla="*/ 0 h 1354113"/>
                  <a:gd name="connsiteX3" fmla="*/ 821933 w 825188"/>
                  <a:gd name="connsiteY3" fmla="*/ 1354113 h 1354113"/>
                  <a:gd name="connsiteX4" fmla="*/ 121 w 825188"/>
                  <a:gd name="connsiteY4" fmla="*/ 1319823 h 1354113"/>
                  <a:gd name="connsiteX0" fmla="*/ 121 w 825188"/>
                  <a:gd name="connsiteY0" fmla="*/ 1241083 h 1275373"/>
                  <a:gd name="connsiteX1" fmla="*/ 10745 w 825188"/>
                  <a:gd name="connsiteY1" fmla="*/ 0 h 1275373"/>
                  <a:gd name="connsiteX2" fmla="*/ 824937 w 825188"/>
                  <a:gd name="connsiteY2" fmla="*/ 104140 h 1275373"/>
                  <a:gd name="connsiteX3" fmla="*/ 821933 w 825188"/>
                  <a:gd name="connsiteY3" fmla="*/ 1275373 h 1275373"/>
                  <a:gd name="connsiteX4" fmla="*/ 121 w 825188"/>
                  <a:gd name="connsiteY4" fmla="*/ 1241083 h 1275373"/>
                  <a:gd name="connsiteX0" fmla="*/ 121 w 825188"/>
                  <a:gd name="connsiteY0" fmla="*/ 1241083 h 1641133"/>
                  <a:gd name="connsiteX1" fmla="*/ 10745 w 825188"/>
                  <a:gd name="connsiteY1" fmla="*/ 0 h 1641133"/>
                  <a:gd name="connsiteX2" fmla="*/ 824937 w 825188"/>
                  <a:gd name="connsiteY2" fmla="*/ 104140 h 1641133"/>
                  <a:gd name="connsiteX3" fmla="*/ 821933 w 825188"/>
                  <a:gd name="connsiteY3" fmla="*/ 1641133 h 1641133"/>
                  <a:gd name="connsiteX4" fmla="*/ 121 w 825188"/>
                  <a:gd name="connsiteY4" fmla="*/ 1241083 h 1641133"/>
                  <a:gd name="connsiteX0" fmla="*/ 121 w 825188"/>
                  <a:gd name="connsiteY0" fmla="*/ 1225843 h 1641133"/>
                  <a:gd name="connsiteX1" fmla="*/ 10745 w 825188"/>
                  <a:gd name="connsiteY1" fmla="*/ 0 h 1641133"/>
                  <a:gd name="connsiteX2" fmla="*/ 824937 w 825188"/>
                  <a:gd name="connsiteY2" fmla="*/ 104140 h 1641133"/>
                  <a:gd name="connsiteX3" fmla="*/ 821933 w 825188"/>
                  <a:gd name="connsiteY3" fmla="*/ 1641133 h 1641133"/>
                  <a:gd name="connsiteX4" fmla="*/ 121 w 825188"/>
                  <a:gd name="connsiteY4" fmla="*/ 1225843 h 1641133"/>
                  <a:gd name="connsiteX0" fmla="*/ 251 w 825318"/>
                  <a:gd name="connsiteY0" fmla="*/ 1210603 h 1625893"/>
                  <a:gd name="connsiteX1" fmla="*/ 3255 w 825318"/>
                  <a:gd name="connsiteY1" fmla="*/ 0 h 1625893"/>
                  <a:gd name="connsiteX2" fmla="*/ 825067 w 825318"/>
                  <a:gd name="connsiteY2" fmla="*/ 88900 h 1625893"/>
                  <a:gd name="connsiteX3" fmla="*/ 822063 w 825318"/>
                  <a:gd name="connsiteY3" fmla="*/ 1625893 h 1625893"/>
                  <a:gd name="connsiteX4" fmla="*/ 251 w 825318"/>
                  <a:gd name="connsiteY4" fmla="*/ 1210603 h 1625893"/>
                  <a:gd name="connsiteX0" fmla="*/ 251 w 825318"/>
                  <a:gd name="connsiteY0" fmla="*/ 1245528 h 1660818"/>
                  <a:gd name="connsiteX1" fmla="*/ 3255 w 825318"/>
                  <a:gd name="connsiteY1" fmla="*/ 0 h 1660818"/>
                  <a:gd name="connsiteX2" fmla="*/ 825067 w 825318"/>
                  <a:gd name="connsiteY2" fmla="*/ 123825 h 1660818"/>
                  <a:gd name="connsiteX3" fmla="*/ 822063 w 825318"/>
                  <a:gd name="connsiteY3" fmla="*/ 1660818 h 1660818"/>
                  <a:gd name="connsiteX4" fmla="*/ 251 w 825318"/>
                  <a:gd name="connsiteY4" fmla="*/ 1245528 h 1660818"/>
                  <a:gd name="connsiteX0" fmla="*/ 251 w 825255"/>
                  <a:gd name="connsiteY0" fmla="*/ 1245528 h 1644149"/>
                  <a:gd name="connsiteX1" fmla="*/ 3255 w 825255"/>
                  <a:gd name="connsiteY1" fmla="*/ 0 h 1644149"/>
                  <a:gd name="connsiteX2" fmla="*/ 825067 w 825255"/>
                  <a:gd name="connsiteY2" fmla="*/ 123825 h 1644149"/>
                  <a:gd name="connsiteX3" fmla="*/ 819731 w 825255"/>
                  <a:gd name="connsiteY3" fmla="*/ 1644149 h 1644149"/>
                  <a:gd name="connsiteX4" fmla="*/ 251 w 825255"/>
                  <a:gd name="connsiteY4" fmla="*/ 1245528 h 164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55" h="1644149">
                    <a:moveTo>
                      <a:pt x="251" y="1245528"/>
                    </a:moveTo>
                    <a:cubicBezTo>
                      <a:pt x="-1288" y="925814"/>
                      <a:pt x="4794" y="319714"/>
                      <a:pt x="3255" y="0"/>
                    </a:cubicBezTo>
                    <a:lnTo>
                      <a:pt x="825067" y="123825"/>
                    </a:lnTo>
                    <a:cubicBezTo>
                      <a:pt x="826606" y="509156"/>
                      <a:pt x="818192" y="1258818"/>
                      <a:pt x="819731" y="1644149"/>
                    </a:cubicBezTo>
                    <a:lnTo>
                      <a:pt x="251" y="1245528"/>
                    </a:lnTo>
                    <a:close/>
                  </a:path>
                </a:pathLst>
              </a:custGeom>
              <a:solidFill>
                <a:schemeClr val="accent1">
                  <a:lumMod val="40000"/>
                  <a:lumOff val="60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7" name="Parallelogram 4"/>
              <p:cNvSpPr/>
              <p:nvPr/>
            </p:nvSpPr>
            <p:spPr>
              <a:xfrm>
                <a:off x="3485393" y="2745581"/>
                <a:ext cx="836575" cy="1373982"/>
              </a:xfrm>
              <a:custGeom>
                <a:avLst/>
                <a:gdLst>
                  <a:gd name="connsiteX0" fmla="*/ 0 w 1022936"/>
                  <a:gd name="connsiteY0" fmla="*/ 1429043 h 1429043"/>
                  <a:gd name="connsiteX1" fmla="*/ 255734 w 1022936"/>
                  <a:gd name="connsiteY1" fmla="*/ 0 h 1429043"/>
                  <a:gd name="connsiteX2" fmla="*/ 1022936 w 1022936"/>
                  <a:gd name="connsiteY2" fmla="*/ 0 h 1429043"/>
                  <a:gd name="connsiteX3" fmla="*/ 767202 w 1022936"/>
                  <a:gd name="connsiteY3" fmla="*/ 1429043 h 1429043"/>
                  <a:gd name="connsiteX4" fmla="*/ 0 w 1022936"/>
                  <a:gd name="connsiteY4" fmla="*/ 1429043 h 1429043"/>
                  <a:gd name="connsiteX0" fmla="*/ 0 w 1022936"/>
                  <a:gd name="connsiteY0" fmla="*/ 1429043 h 1429043"/>
                  <a:gd name="connsiteX1" fmla="*/ 255734 w 1022936"/>
                  <a:gd name="connsiteY1" fmla="*/ 0 h 1429043"/>
                  <a:gd name="connsiteX2" fmla="*/ 1022936 w 1022936"/>
                  <a:gd name="connsiteY2" fmla="*/ 0 h 1429043"/>
                  <a:gd name="connsiteX3" fmla="*/ 843402 w 1022936"/>
                  <a:gd name="connsiteY3" fmla="*/ 1181393 h 1429043"/>
                  <a:gd name="connsiteX4" fmla="*/ 0 w 1022936"/>
                  <a:gd name="connsiteY4" fmla="*/ 1429043 h 1429043"/>
                  <a:gd name="connsiteX0" fmla="*/ 0 w 843402"/>
                  <a:gd name="connsiteY0" fmla="*/ 1429043 h 1429043"/>
                  <a:gd name="connsiteX1" fmla="*/ 255734 w 843402"/>
                  <a:gd name="connsiteY1" fmla="*/ 0 h 1429043"/>
                  <a:gd name="connsiteX2" fmla="*/ 838786 w 843402"/>
                  <a:gd name="connsiteY2" fmla="*/ 25400 h 1429043"/>
                  <a:gd name="connsiteX3" fmla="*/ 843402 w 843402"/>
                  <a:gd name="connsiteY3" fmla="*/ 1181393 h 1429043"/>
                  <a:gd name="connsiteX4" fmla="*/ 0 w 843402"/>
                  <a:gd name="connsiteY4" fmla="*/ 1429043 h 1429043"/>
                  <a:gd name="connsiteX0" fmla="*/ 0 w 843402"/>
                  <a:gd name="connsiteY0" fmla="*/ 1403643 h 1403643"/>
                  <a:gd name="connsiteX1" fmla="*/ 1734 w 843402"/>
                  <a:gd name="connsiteY1" fmla="*/ 444500 h 1403643"/>
                  <a:gd name="connsiteX2" fmla="*/ 838786 w 843402"/>
                  <a:gd name="connsiteY2" fmla="*/ 0 h 1403643"/>
                  <a:gd name="connsiteX3" fmla="*/ 843402 w 843402"/>
                  <a:gd name="connsiteY3" fmla="*/ 1155993 h 1403643"/>
                  <a:gd name="connsiteX4" fmla="*/ 0 w 843402"/>
                  <a:gd name="connsiteY4" fmla="*/ 1403643 h 1403643"/>
                  <a:gd name="connsiteX0" fmla="*/ 1096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10966 w 841668"/>
                  <a:gd name="connsiteY4" fmla="*/ 1403643 h 1403643"/>
                  <a:gd name="connsiteX0" fmla="*/ 4616 w 841668"/>
                  <a:gd name="connsiteY0" fmla="*/ 1403643 h 1403643"/>
                  <a:gd name="connsiteX1" fmla="*/ 0 w 841668"/>
                  <a:gd name="connsiteY1" fmla="*/ 444500 h 1403643"/>
                  <a:gd name="connsiteX2" fmla="*/ 837052 w 841668"/>
                  <a:gd name="connsiteY2" fmla="*/ 0 h 1403643"/>
                  <a:gd name="connsiteX3" fmla="*/ 841668 w 841668"/>
                  <a:gd name="connsiteY3" fmla="*/ 1155993 h 1403643"/>
                  <a:gd name="connsiteX4" fmla="*/ 4616 w 841668"/>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155993 h 1403643"/>
                  <a:gd name="connsiteX4" fmla="*/ 252 w 837304"/>
                  <a:gd name="connsiteY4" fmla="*/ 1403643 h 1403643"/>
                  <a:gd name="connsiteX0" fmla="*/ 252 w 837304"/>
                  <a:gd name="connsiteY0" fmla="*/ 1403643 h 1403643"/>
                  <a:gd name="connsiteX1" fmla="*/ 3256 w 837304"/>
                  <a:gd name="connsiteY1" fmla="*/ 193040 h 1403643"/>
                  <a:gd name="connsiteX2" fmla="*/ 832688 w 837304"/>
                  <a:gd name="connsiteY2" fmla="*/ 0 h 1403643"/>
                  <a:gd name="connsiteX3" fmla="*/ 837304 w 837304"/>
                  <a:gd name="connsiteY3" fmla="*/ 1384593 h 1403643"/>
                  <a:gd name="connsiteX4" fmla="*/ 252 w 837304"/>
                  <a:gd name="connsiteY4" fmla="*/ 1403643 h 1403643"/>
                  <a:gd name="connsiteX0" fmla="*/ 252 w 837304"/>
                  <a:gd name="connsiteY0" fmla="*/ 1304583 h 1384593"/>
                  <a:gd name="connsiteX1" fmla="*/ 3256 w 837304"/>
                  <a:gd name="connsiteY1" fmla="*/ 193040 h 1384593"/>
                  <a:gd name="connsiteX2" fmla="*/ 832688 w 837304"/>
                  <a:gd name="connsiteY2" fmla="*/ 0 h 1384593"/>
                  <a:gd name="connsiteX3" fmla="*/ 837304 w 837304"/>
                  <a:gd name="connsiteY3" fmla="*/ 1384593 h 1384593"/>
                  <a:gd name="connsiteX4" fmla="*/ 252 w 837304"/>
                  <a:gd name="connsiteY4" fmla="*/ 1304583 h 138459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44924"/>
                  <a:gd name="connsiteY0" fmla="*/ 1304583 h 1338873"/>
                  <a:gd name="connsiteX1" fmla="*/ 3256 w 844924"/>
                  <a:gd name="connsiteY1" fmla="*/ 193040 h 1338873"/>
                  <a:gd name="connsiteX2" fmla="*/ 832688 w 844924"/>
                  <a:gd name="connsiteY2" fmla="*/ 0 h 1338873"/>
                  <a:gd name="connsiteX3" fmla="*/ 844924 w 844924"/>
                  <a:gd name="connsiteY3" fmla="*/ 1338873 h 1338873"/>
                  <a:gd name="connsiteX4" fmla="*/ 252 w 844924"/>
                  <a:gd name="connsiteY4" fmla="*/ 1304583 h 1338873"/>
                  <a:gd name="connsiteX0" fmla="*/ 252 w 832808"/>
                  <a:gd name="connsiteY0" fmla="*/ 1304583 h 1354113"/>
                  <a:gd name="connsiteX1" fmla="*/ 3256 w 832808"/>
                  <a:gd name="connsiteY1" fmla="*/ 193040 h 1354113"/>
                  <a:gd name="connsiteX2" fmla="*/ 832688 w 832808"/>
                  <a:gd name="connsiteY2" fmla="*/ 0 h 1354113"/>
                  <a:gd name="connsiteX3" fmla="*/ 822064 w 832808"/>
                  <a:gd name="connsiteY3" fmla="*/ 1354113 h 1354113"/>
                  <a:gd name="connsiteX4" fmla="*/ 252 w 832808"/>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28172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28172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252 w 832939"/>
                  <a:gd name="connsiteY0" fmla="*/ 1304583 h 1354113"/>
                  <a:gd name="connsiteX1" fmla="*/ 3256 w 832939"/>
                  <a:gd name="connsiteY1" fmla="*/ 193040 h 1354113"/>
                  <a:gd name="connsiteX2" fmla="*/ 832688 w 832939"/>
                  <a:gd name="connsiteY2" fmla="*/ 0 h 1354113"/>
                  <a:gd name="connsiteX3" fmla="*/ 829684 w 832939"/>
                  <a:gd name="connsiteY3" fmla="*/ 1354113 h 1354113"/>
                  <a:gd name="connsiteX4" fmla="*/ 252 w 832939"/>
                  <a:gd name="connsiteY4" fmla="*/ 1304583 h 1354113"/>
                  <a:gd name="connsiteX0" fmla="*/ 1223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12236 w 829683"/>
                  <a:gd name="connsiteY4" fmla="*/ 1296963 h 1354113"/>
                  <a:gd name="connsiteX0" fmla="*/ 4616 w 829683"/>
                  <a:gd name="connsiteY0" fmla="*/ 1296963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296963 h 1354113"/>
                  <a:gd name="connsiteX0" fmla="*/ 4616 w 829683"/>
                  <a:gd name="connsiteY0" fmla="*/ 1319188 h 1354113"/>
                  <a:gd name="connsiteX1" fmla="*/ 0 w 829683"/>
                  <a:gd name="connsiteY1" fmla="*/ 193040 h 1354113"/>
                  <a:gd name="connsiteX2" fmla="*/ 829432 w 829683"/>
                  <a:gd name="connsiteY2" fmla="*/ 0 h 1354113"/>
                  <a:gd name="connsiteX3" fmla="*/ 826428 w 829683"/>
                  <a:gd name="connsiteY3" fmla="*/ 1354113 h 1354113"/>
                  <a:gd name="connsiteX4" fmla="*/ 4616 w 829683"/>
                  <a:gd name="connsiteY4" fmla="*/ 1319188 h 1354113"/>
                  <a:gd name="connsiteX0" fmla="*/ 1441 w 826508"/>
                  <a:gd name="connsiteY0" fmla="*/ 1319188 h 1354113"/>
                  <a:gd name="connsiteX1" fmla="*/ 0 w 826508"/>
                  <a:gd name="connsiteY1" fmla="*/ 196215 h 1354113"/>
                  <a:gd name="connsiteX2" fmla="*/ 826257 w 826508"/>
                  <a:gd name="connsiteY2" fmla="*/ 0 h 1354113"/>
                  <a:gd name="connsiteX3" fmla="*/ 823253 w 826508"/>
                  <a:gd name="connsiteY3" fmla="*/ 1354113 h 1354113"/>
                  <a:gd name="connsiteX4" fmla="*/ 1441 w 826508"/>
                  <a:gd name="connsiteY4" fmla="*/ 1319188 h 1354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08" h="1354113">
                    <a:moveTo>
                      <a:pt x="1441" y="1319188"/>
                    </a:moveTo>
                    <a:cubicBezTo>
                      <a:pt x="-98" y="999474"/>
                      <a:pt x="1539" y="515929"/>
                      <a:pt x="0" y="196215"/>
                    </a:cubicBezTo>
                    <a:lnTo>
                      <a:pt x="826257" y="0"/>
                    </a:lnTo>
                    <a:cubicBezTo>
                      <a:pt x="827796" y="385331"/>
                      <a:pt x="821714" y="968782"/>
                      <a:pt x="823253" y="1354113"/>
                    </a:cubicBezTo>
                    <a:lnTo>
                      <a:pt x="1441" y="1319188"/>
                    </a:lnTo>
                    <a:close/>
                  </a:path>
                </a:pathLst>
              </a:custGeom>
              <a:solidFill>
                <a:schemeClr val="accent1">
                  <a:lumMod val="40000"/>
                  <a:lumOff val="6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58" name="Down Arrow 457"/>
              <p:cNvSpPr/>
              <p:nvPr/>
            </p:nvSpPr>
            <p:spPr>
              <a:xfrm rot="10635248" flipV="1">
                <a:off x="3513231" y="2021116"/>
                <a:ext cx="269982" cy="375120"/>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pic>
            <p:nvPicPr>
              <p:cNvPr id="459" name="Picture 458"/>
              <p:cNvPicPr>
                <a:picLocks noChangeAspect="1"/>
              </p:cNvPicPr>
              <p:nvPr/>
            </p:nvPicPr>
            <p:blipFill>
              <a:blip r:embed="rId2" cstate="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10800000">
                <a:off x="5656110" y="1876644"/>
                <a:ext cx="566776" cy="566777"/>
              </a:xfrm>
              <a:prstGeom prst="rect">
                <a:avLst/>
              </a:prstGeom>
            </p:spPr>
          </p:pic>
          <p:pic>
            <p:nvPicPr>
              <p:cNvPr id="460" name="Picture 459"/>
              <p:cNvPicPr>
                <a:picLocks noChangeAspect="1"/>
              </p:cNvPicPr>
              <p:nvPr/>
            </p:nvPicPr>
            <p:blipFill>
              <a:blip r:embed="rId3" cstate="print">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5905013" y="3112482"/>
                <a:ext cx="685800" cy="685800"/>
              </a:xfrm>
              <a:prstGeom prst="rect">
                <a:avLst/>
              </a:prstGeom>
            </p:spPr>
          </p:pic>
          <p:pic>
            <p:nvPicPr>
              <p:cNvPr id="461" name="Picture 460"/>
              <p:cNvPicPr>
                <a:picLocks noChangeAspect="1"/>
              </p:cNvPicPr>
              <p:nvPr/>
            </p:nvPicPr>
            <p:blipFill>
              <a:blip r:embed="rId4" cstate="print">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rot="10800000" flipH="1">
                <a:off x="6328896" y="4715851"/>
                <a:ext cx="703089" cy="703089"/>
              </a:xfrm>
              <a:prstGeom prst="rect">
                <a:avLst/>
              </a:prstGeom>
            </p:spPr>
          </p:pic>
          <p:sp>
            <p:nvSpPr>
              <p:cNvPr id="462" name="Down Arrow 461"/>
              <p:cNvSpPr/>
              <p:nvPr/>
            </p:nvSpPr>
            <p:spPr>
              <a:xfrm>
                <a:off x="3533774" y="3627089"/>
                <a:ext cx="211701" cy="413058"/>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sp>
            <p:nvSpPr>
              <p:cNvPr id="463" name="Down Arrow 462"/>
              <p:cNvSpPr/>
              <p:nvPr/>
            </p:nvSpPr>
            <p:spPr>
              <a:xfrm>
                <a:off x="3533775" y="5114189"/>
                <a:ext cx="243131" cy="418271"/>
              </a:xfrm>
              <a:prstGeom prst="downArrow">
                <a:avLst/>
              </a:prstGeom>
              <a:solidFill>
                <a:schemeClr val="tx1">
                  <a:lumMod val="75000"/>
                  <a:lumOff val="25000"/>
                </a:schemeClr>
              </a:solidFill>
              <a:ln>
                <a:noFill/>
              </a:ln>
              <a:effectLst>
                <a:outerShdw blurRad="50800" dist="38100" algn="l" rotWithShape="0">
                  <a:prstClr val="black">
                    <a:alpha val="40000"/>
                  </a:prstClr>
                </a:outerShdw>
              </a:effectLst>
              <a:scene3d>
                <a:camera prst="isometricOffAxis1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white"/>
                  </a:solidFill>
                </a:endParaRPr>
              </a:p>
            </p:txBody>
          </p:sp>
        </p:grpSp>
      </p:grpSp>
      <p:sp>
        <p:nvSpPr>
          <p:cNvPr id="464" name="TextBox 127"/>
          <p:cNvSpPr txBox="1"/>
          <p:nvPr/>
        </p:nvSpPr>
        <p:spPr>
          <a:xfrm>
            <a:off x="467605" y="2544751"/>
            <a:ext cx="716566" cy="332623"/>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2034F</a:t>
            </a:r>
          </a:p>
        </p:txBody>
      </p:sp>
      <p:sp>
        <p:nvSpPr>
          <p:cNvPr id="465" name="TextBox 128"/>
          <p:cNvSpPr txBox="1"/>
          <p:nvPr/>
        </p:nvSpPr>
        <p:spPr>
          <a:xfrm>
            <a:off x="152400" y="1131579"/>
            <a:ext cx="5791200" cy="502920"/>
          </a:xfrm>
          <a:prstGeom prst="rect">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pPr algn="ctr"/>
            <a:r>
              <a:rPr lang="en-GB" sz="1376" b="1" dirty="0">
                <a:solidFill>
                  <a:prstClr val="black"/>
                </a:solidFill>
              </a:rPr>
              <a:t>Middle East and Africa WXYZ Market Value (US$ </a:t>
            </a:r>
            <a:r>
              <a:rPr lang="en-GB" sz="1376" b="1" dirty="0" err="1">
                <a:solidFill>
                  <a:prstClr val="black"/>
                </a:solidFill>
              </a:rPr>
              <a:t>Mn</a:t>
            </a:r>
            <a:r>
              <a:rPr lang="en-GB" sz="1376" b="1" dirty="0">
                <a:solidFill>
                  <a:prstClr val="black"/>
                </a:solidFill>
              </a:rPr>
              <a:t>)</a:t>
            </a:r>
          </a:p>
        </p:txBody>
      </p:sp>
      <p:sp>
        <p:nvSpPr>
          <p:cNvPr id="466" name="TextBox 129"/>
          <p:cNvSpPr txBox="1"/>
          <p:nvPr/>
        </p:nvSpPr>
        <p:spPr>
          <a:xfrm>
            <a:off x="467605" y="3945797"/>
            <a:ext cx="716566" cy="334259"/>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2029F</a:t>
            </a:r>
          </a:p>
        </p:txBody>
      </p:sp>
      <p:sp>
        <p:nvSpPr>
          <p:cNvPr id="467" name="TextBox 130"/>
          <p:cNvSpPr txBox="1"/>
          <p:nvPr/>
        </p:nvSpPr>
        <p:spPr>
          <a:xfrm>
            <a:off x="467605" y="5165028"/>
            <a:ext cx="716566" cy="332623"/>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US" sz="1572" b="1" dirty="0">
                <a:solidFill>
                  <a:prstClr val="black"/>
                </a:solidFill>
              </a:rPr>
              <a:t>2024E</a:t>
            </a:r>
          </a:p>
        </p:txBody>
      </p:sp>
      <p:sp>
        <p:nvSpPr>
          <p:cNvPr id="468" name="TextBox 131"/>
          <p:cNvSpPr txBox="1"/>
          <p:nvPr/>
        </p:nvSpPr>
        <p:spPr>
          <a:xfrm>
            <a:off x="1269734" y="2205145"/>
            <a:ext cx="1593183"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solidFill>
                <a:prstClr val="black"/>
              </a:solidFill>
            </a:endParaRPr>
          </a:p>
          <a:p>
            <a:pPr algn="ctr"/>
            <a:r>
              <a:rPr lang="en-US" sz="1800" b="1" dirty="0" err="1">
                <a:solidFill>
                  <a:prstClr val="black"/>
                </a:solidFill>
              </a:rPr>
              <a:t>Mn</a:t>
            </a:r>
            <a:endParaRPr lang="en-US" sz="1800" b="1" dirty="0">
              <a:solidFill>
                <a:prstClr val="black"/>
              </a:solidFill>
            </a:endParaRPr>
          </a:p>
        </p:txBody>
      </p:sp>
      <p:sp>
        <p:nvSpPr>
          <p:cNvPr id="469" name="TextBox 132"/>
          <p:cNvSpPr txBox="1"/>
          <p:nvPr/>
        </p:nvSpPr>
        <p:spPr>
          <a:xfrm>
            <a:off x="1269734" y="3667727"/>
            <a:ext cx="1368961"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p>
          <a:p>
            <a:pPr algn="ctr"/>
            <a:r>
              <a:rPr lang="en-US" sz="1800" b="1" dirty="0" err="1">
                <a:solidFill>
                  <a:prstClr val="black"/>
                </a:solidFill>
              </a:rPr>
              <a:t>Mn</a:t>
            </a:r>
            <a:endParaRPr lang="en-US" sz="1800" b="1" dirty="0">
              <a:solidFill>
                <a:prstClr val="black"/>
              </a:solidFill>
            </a:endParaRPr>
          </a:p>
        </p:txBody>
      </p:sp>
      <p:sp>
        <p:nvSpPr>
          <p:cNvPr id="470" name="TextBox 133"/>
          <p:cNvSpPr txBox="1"/>
          <p:nvPr/>
        </p:nvSpPr>
        <p:spPr>
          <a:xfrm>
            <a:off x="1269734" y="4940208"/>
            <a:ext cx="1368961" cy="662041"/>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800" b="1" dirty="0">
                <a:solidFill>
                  <a:prstClr val="black"/>
                </a:solidFill>
              </a:rPr>
              <a:t>US$ </a:t>
            </a:r>
            <a:r>
              <a:rPr lang="en-IN" sz="1800" b="1" dirty="0"/>
              <a:t>xx</a:t>
            </a:r>
            <a:endParaRPr lang="en-US" sz="1800" b="1" dirty="0"/>
          </a:p>
          <a:p>
            <a:pPr algn="ctr"/>
            <a:r>
              <a:rPr lang="en-US" sz="1800" b="1" dirty="0" err="1">
                <a:solidFill>
                  <a:prstClr val="black"/>
                </a:solidFill>
              </a:rPr>
              <a:t>Mn</a:t>
            </a:r>
            <a:endParaRPr lang="en-US" sz="1800" b="1" dirty="0">
              <a:solidFill>
                <a:prstClr val="black"/>
              </a:solidFill>
            </a:endParaRPr>
          </a:p>
        </p:txBody>
      </p:sp>
      <p:cxnSp>
        <p:nvCxnSpPr>
          <p:cNvPr id="471" name="Straight Connector 470"/>
          <p:cNvCxnSpPr/>
          <p:nvPr/>
        </p:nvCxnSpPr>
        <p:spPr>
          <a:xfrm>
            <a:off x="3485260" y="4612987"/>
            <a:ext cx="0" cy="1284684"/>
          </a:xfrm>
          <a:prstGeom prst="line">
            <a:avLst/>
          </a:prstGeom>
          <a:ln w="28575">
            <a:solidFill>
              <a:srgbClr val="A6A6A6"/>
            </a:solidFill>
          </a:ln>
        </p:spPr>
        <p:style>
          <a:lnRef idx="1">
            <a:schemeClr val="accent1"/>
          </a:lnRef>
          <a:fillRef idx="0">
            <a:schemeClr val="accent1"/>
          </a:fillRef>
          <a:effectRef idx="0">
            <a:schemeClr val="accent1"/>
          </a:effectRef>
          <a:fontRef idx="minor">
            <a:schemeClr val="tx1"/>
          </a:fontRef>
        </p:style>
      </p:cxnSp>
      <p:sp>
        <p:nvSpPr>
          <p:cNvPr id="472" name="Chevron 471"/>
          <p:cNvSpPr/>
          <p:nvPr/>
        </p:nvSpPr>
        <p:spPr>
          <a:xfrm>
            <a:off x="3389976" y="5190091"/>
            <a:ext cx="190568" cy="145196"/>
          </a:xfrm>
          <a:prstGeom prst="chevron">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sz="1869" dirty="0">
              <a:solidFill>
                <a:prstClr val="black"/>
              </a:solidFill>
            </a:endParaRPr>
          </a:p>
        </p:txBody>
      </p:sp>
      <p:sp>
        <p:nvSpPr>
          <p:cNvPr id="473" name="TextBox 142"/>
          <p:cNvSpPr txBox="1"/>
          <p:nvPr/>
        </p:nvSpPr>
        <p:spPr>
          <a:xfrm>
            <a:off x="4195599" y="4864062"/>
            <a:ext cx="2768961" cy="1309461"/>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751" b="1" dirty="0">
                <a:solidFill>
                  <a:prstClr val="black"/>
                </a:solidFill>
              </a:rPr>
              <a:t>US$ </a:t>
            </a:r>
            <a:r>
              <a:rPr lang="en-US" sz="2800" b="1" dirty="0"/>
              <a:t>xx</a:t>
            </a:r>
          </a:p>
          <a:p>
            <a:pPr algn="ctr"/>
            <a:r>
              <a:rPr lang="en-US" sz="2751" b="1" dirty="0" err="1">
                <a:solidFill>
                  <a:prstClr val="black"/>
                </a:solidFill>
              </a:rPr>
              <a:t>Mn</a:t>
            </a:r>
            <a:endParaRPr lang="en-US" sz="2751" b="1" dirty="0">
              <a:solidFill>
                <a:prstClr val="black"/>
              </a:solidFill>
            </a:endParaRPr>
          </a:p>
          <a:p>
            <a:pPr algn="ctr"/>
            <a:r>
              <a:rPr lang="en-US" sz="1179" b="1" dirty="0">
                <a:solidFill>
                  <a:prstClr val="black"/>
                </a:solidFill>
              </a:rPr>
              <a:t>Incremental $ Opportunity</a:t>
            </a:r>
          </a:p>
          <a:p>
            <a:pPr algn="ctr"/>
            <a:r>
              <a:rPr lang="en-US" sz="1179" b="1" dirty="0">
                <a:solidFill>
                  <a:prstClr val="black"/>
                </a:solidFill>
              </a:rPr>
              <a:t>2023 - 2033</a:t>
            </a:r>
          </a:p>
        </p:txBody>
      </p:sp>
      <p:sp>
        <p:nvSpPr>
          <p:cNvPr id="474" name="TextBox 292"/>
          <p:cNvSpPr txBox="1"/>
          <p:nvPr/>
        </p:nvSpPr>
        <p:spPr>
          <a:xfrm>
            <a:off x="7228567" y="3995932"/>
            <a:ext cx="55868" cy="2144824"/>
          </a:xfrm>
          <a:prstGeom prst="rect">
            <a:avLst/>
          </a:prstGeom>
          <a:solidFill>
            <a:schemeClr val="accent1"/>
          </a:solidFill>
          <a:effectLst/>
        </p:spPr>
        <p:style>
          <a:lnRef idx="0">
            <a:schemeClr val="accent2"/>
          </a:lnRef>
          <a:fillRef idx="3">
            <a:schemeClr val="accent2"/>
          </a:fillRef>
          <a:effectRef idx="3">
            <a:schemeClr val="accent2"/>
          </a:effectRef>
          <a:fontRef idx="minor">
            <a:schemeClr val="lt1"/>
          </a:fontRef>
        </p:style>
        <p:txBody>
          <a:bodyPr wrap="square" rtlCol="0" anchor="ctr">
            <a:noAutofit/>
          </a:bodyP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GB" sz="982" b="1" dirty="0">
              <a:solidFill>
                <a:sysClr val="windowText" lastClr="000000"/>
              </a:solidFill>
            </a:endParaRPr>
          </a:p>
        </p:txBody>
      </p:sp>
      <p:sp>
        <p:nvSpPr>
          <p:cNvPr id="475" name="TextBox 145"/>
          <p:cNvSpPr txBox="1"/>
          <p:nvPr/>
        </p:nvSpPr>
        <p:spPr>
          <a:xfrm>
            <a:off x="4593421" y="3713072"/>
            <a:ext cx="1291742" cy="947695"/>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3200" b="1" dirty="0"/>
              <a:t>XX</a:t>
            </a:r>
            <a:endParaRPr lang="en-US" sz="3144" b="1" dirty="0">
              <a:solidFill>
                <a:prstClr val="black"/>
              </a:solidFill>
            </a:endParaRPr>
          </a:p>
          <a:p>
            <a:pPr algn="ctr"/>
            <a:r>
              <a:rPr lang="en-US" sz="1179" b="1" dirty="0">
                <a:solidFill>
                  <a:prstClr val="black"/>
                </a:solidFill>
              </a:rPr>
              <a:t>Growth</a:t>
            </a:r>
          </a:p>
          <a:p>
            <a:pPr algn="ctr"/>
            <a:r>
              <a:rPr lang="en-US" sz="1179" b="1" dirty="0">
                <a:solidFill>
                  <a:prstClr val="black"/>
                </a:solidFill>
              </a:rPr>
              <a:t>2023 - 2033</a:t>
            </a:r>
          </a:p>
        </p:txBody>
      </p:sp>
      <p:sp>
        <p:nvSpPr>
          <p:cNvPr id="476" name="TextBox 146"/>
          <p:cNvSpPr txBox="1"/>
          <p:nvPr/>
        </p:nvSpPr>
        <p:spPr>
          <a:xfrm>
            <a:off x="7628974" y="5360012"/>
            <a:ext cx="2768961" cy="400110"/>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IN" sz="2000" b="1" dirty="0"/>
              <a:t>Xx </a:t>
            </a:r>
            <a:r>
              <a:rPr lang="en-US" sz="1572" b="1" dirty="0">
                <a:solidFill>
                  <a:prstClr val="black"/>
                </a:solidFill>
              </a:rPr>
              <a:t>(2034F)</a:t>
            </a:r>
          </a:p>
        </p:txBody>
      </p:sp>
      <p:sp>
        <p:nvSpPr>
          <p:cNvPr id="477" name="TextBox 147"/>
          <p:cNvSpPr txBox="1"/>
          <p:nvPr/>
        </p:nvSpPr>
        <p:spPr>
          <a:xfrm>
            <a:off x="7631502" y="4869943"/>
            <a:ext cx="2288398" cy="400110"/>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r>
              <a:rPr lang="en-IN" sz="2000" b="1" dirty="0"/>
              <a:t>Xx </a:t>
            </a:r>
            <a:r>
              <a:rPr lang="en-US" sz="1572" b="1" dirty="0">
                <a:solidFill>
                  <a:prstClr val="black"/>
                </a:solidFill>
              </a:rPr>
              <a:t>(2024E)</a:t>
            </a:r>
          </a:p>
        </p:txBody>
      </p:sp>
      <p:sp>
        <p:nvSpPr>
          <p:cNvPr id="478" name="TextBox 151"/>
          <p:cNvSpPr txBox="1"/>
          <p:nvPr/>
        </p:nvSpPr>
        <p:spPr>
          <a:xfrm>
            <a:off x="7763358" y="4088829"/>
            <a:ext cx="3699179" cy="334259"/>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GB" sz="1572" b="1" dirty="0">
                <a:solidFill>
                  <a:prstClr val="black"/>
                </a:solidFill>
              </a:rPr>
              <a:t>WXYZ Market </a:t>
            </a:r>
            <a:r>
              <a:rPr lang="en-US" sz="1572" b="1" dirty="0">
                <a:solidFill>
                  <a:prstClr val="black"/>
                </a:solidFill>
              </a:rPr>
              <a:t>Volume (Tons)</a:t>
            </a:r>
          </a:p>
        </p:txBody>
      </p:sp>
      <p:pic>
        <p:nvPicPr>
          <p:cNvPr id="479" name="Picture 478"/>
          <p:cNvPicPr>
            <a:picLocks noChangeAspect="1"/>
          </p:cNvPicPr>
          <p:nvPr/>
        </p:nvPicPr>
        <p:blipFill>
          <a:blip r:embed="rId4"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5790291" y="3885195"/>
            <a:ext cx="573333" cy="581624"/>
          </a:xfrm>
          <a:prstGeom prst="rect">
            <a:avLst/>
          </a:prstGeom>
        </p:spPr>
      </p:pic>
      <p:grpSp>
        <p:nvGrpSpPr>
          <p:cNvPr id="480" name="Group 479"/>
          <p:cNvGrpSpPr/>
          <p:nvPr/>
        </p:nvGrpSpPr>
        <p:grpSpPr>
          <a:xfrm>
            <a:off x="10255825" y="4603620"/>
            <a:ext cx="1005448" cy="1132827"/>
            <a:chOff x="6615292" y="2096313"/>
            <a:chExt cx="1023376" cy="1153027"/>
          </a:xfrm>
        </p:grpSpPr>
        <p:sp>
          <p:nvSpPr>
            <p:cNvPr id="481" name="TextBox 594"/>
            <p:cNvSpPr txBox="1"/>
            <p:nvPr/>
          </p:nvSpPr>
          <p:spPr>
            <a:xfrm>
              <a:off x="6615292" y="2330852"/>
              <a:ext cx="959125" cy="407244"/>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000" b="1" spc="-147" dirty="0">
                  <a:solidFill>
                    <a:srgbClr val="2A5F8F">
                      <a:lumMod val="50000"/>
                    </a:srgbClr>
                  </a:solidFill>
                  <a:cs typeface="FrankRuehl" panose="020E0503060101010101" pitchFamily="34" charset="-79"/>
                </a:rPr>
                <a:t>CAGR </a:t>
              </a:r>
            </a:p>
          </p:txBody>
        </p:sp>
        <p:sp>
          <p:nvSpPr>
            <p:cNvPr id="482" name="TextBox 595"/>
            <p:cNvSpPr txBox="1"/>
            <p:nvPr/>
          </p:nvSpPr>
          <p:spPr>
            <a:xfrm>
              <a:off x="6667912" y="2716790"/>
              <a:ext cx="970756" cy="532550"/>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800" b="1" dirty="0">
                  <a:solidFill>
                    <a:srgbClr val="2A5F8F">
                      <a:lumMod val="50000"/>
                    </a:srgbClr>
                  </a:solidFill>
                  <a:latin typeface="Agency FB" panose="020B0503020202020204" pitchFamily="34" charset="0"/>
                </a:rPr>
                <a:t>xx%</a:t>
              </a:r>
            </a:p>
          </p:txBody>
        </p:sp>
        <p:sp>
          <p:nvSpPr>
            <p:cNvPr id="483" name="TextBox 596"/>
            <p:cNvSpPr txBox="1"/>
            <p:nvPr/>
          </p:nvSpPr>
          <p:spPr>
            <a:xfrm>
              <a:off x="6732162" y="2096313"/>
              <a:ext cx="858124" cy="212931"/>
            </a:xfrm>
            <a:prstGeom prst="rect">
              <a:avLst/>
            </a:prstGeom>
            <a:noFill/>
          </p:spPr>
          <p:txBody>
            <a:bodyPr wrap="square" lIns="0" tIns="0" rIns="0" bIns="0" rtlCol="0">
              <a:no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defTabSz="898398">
                <a:defRPr/>
              </a:pPr>
              <a:r>
                <a:rPr lang="en-GB" sz="1800" b="1" kern="0" dirty="0">
                  <a:solidFill>
                    <a:srgbClr val="2A5F8F">
                      <a:lumMod val="50000"/>
                    </a:srgbClr>
                  </a:solidFill>
                </a:rPr>
                <a:t>Volume</a:t>
              </a:r>
            </a:p>
          </p:txBody>
        </p:sp>
      </p:grpSp>
      <p:grpSp>
        <p:nvGrpSpPr>
          <p:cNvPr id="484" name="Group 483"/>
          <p:cNvGrpSpPr/>
          <p:nvPr/>
        </p:nvGrpSpPr>
        <p:grpSpPr>
          <a:xfrm>
            <a:off x="10896939" y="1965146"/>
            <a:ext cx="1295061" cy="1132827"/>
            <a:chOff x="6615292" y="2096313"/>
            <a:chExt cx="1023376" cy="1153027"/>
          </a:xfrm>
        </p:grpSpPr>
        <p:sp>
          <p:nvSpPr>
            <p:cNvPr id="485" name="TextBox 604"/>
            <p:cNvSpPr txBox="1"/>
            <p:nvPr/>
          </p:nvSpPr>
          <p:spPr>
            <a:xfrm>
              <a:off x="6615292" y="2330852"/>
              <a:ext cx="959125" cy="407245"/>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000" b="1" spc="-147" dirty="0">
                  <a:solidFill>
                    <a:srgbClr val="2A5F8F">
                      <a:lumMod val="50000"/>
                    </a:srgbClr>
                  </a:solidFill>
                  <a:cs typeface="FrankRuehl" panose="020E0503060101010101" pitchFamily="34" charset="-79"/>
                </a:rPr>
                <a:t>CAGR </a:t>
              </a:r>
            </a:p>
          </p:txBody>
        </p:sp>
        <p:sp>
          <p:nvSpPr>
            <p:cNvPr id="486" name="TextBox 605"/>
            <p:cNvSpPr txBox="1"/>
            <p:nvPr/>
          </p:nvSpPr>
          <p:spPr>
            <a:xfrm>
              <a:off x="6667912" y="2716790"/>
              <a:ext cx="970756" cy="532550"/>
            </a:xfrm>
            <a:prstGeom prst="rect">
              <a:avLst/>
            </a:prstGeom>
            <a:noFill/>
            <a:effectLst/>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2800" b="1" dirty="0">
                  <a:solidFill>
                    <a:srgbClr val="2A5F8F">
                      <a:lumMod val="50000"/>
                    </a:srgbClr>
                  </a:solidFill>
                  <a:latin typeface="Agency FB" panose="020B0503020202020204" pitchFamily="34" charset="0"/>
                </a:rPr>
                <a:t>xx%</a:t>
              </a:r>
            </a:p>
          </p:txBody>
        </p:sp>
        <p:sp>
          <p:nvSpPr>
            <p:cNvPr id="487" name="TextBox 606"/>
            <p:cNvSpPr txBox="1"/>
            <p:nvPr/>
          </p:nvSpPr>
          <p:spPr>
            <a:xfrm>
              <a:off x="6732162" y="2096313"/>
              <a:ext cx="725385" cy="248712"/>
            </a:xfrm>
            <a:prstGeom prst="rect">
              <a:avLst/>
            </a:prstGeom>
            <a:noFill/>
          </p:spPr>
          <p:txBody>
            <a:bodyPr wrap="square" lIns="0" tIns="0" rIns="0" bIns="0" rtlCol="0">
              <a:no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defTabSz="898398">
                <a:defRPr/>
              </a:pPr>
              <a:r>
                <a:rPr lang="en-GB" sz="1800" b="1" kern="0" dirty="0">
                  <a:solidFill>
                    <a:srgbClr val="2A5F8F">
                      <a:lumMod val="50000"/>
                    </a:srgbClr>
                  </a:solidFill>
                </a:rPr>
                <a:t>Value</a:t>
              </a:r>
            </a:p>
          </p:txBody>
        </p:sp>
      </p:grpSp>
      <p:sp>
        <p:nvSpPr>
          <p:cNvPr id="488" name="TextBox 597"/>
          <p:cNvSpPr txBox="1"/>
          <p:nvPr/>
        </p:nvSpPr>
        <p:spPr>
          <a:xfrm>
            <a:off x="6248400" y="1131672"/>
            <a:ext cx="5791200" cy="502920"/>
          </a:xfrm>
          <a:prstGeom prst="rect">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vert="horz" lIns="89838" tIns="89838" rIns="89838" bIns="89838" rtlCol="0" anchor="ctr">
            <a:noAutofit/>
          </a:bodyPr>
          <a:lstStyle>
            <a:defPPr>
              <a:defRPr lang="en-US"/>
            </a:defPPr>
            <a:lvl1pPr marL="0" algn="l" defTabSz="966517" rtl="0" eaLnBrk="1" latinLnBrk="0" hangingPunct="1">
              <a:defRPr sz="1902" kern="1200">
                <a:solidFill>
                  <a:schemeClr val="dk1"/>
                </a:solidFill>
                <a:latin typeface="+mn-lt"/>
                <a:ea typeface="+mn-ea"/>
                <a:cs typeface="+mn-cs"/>
              </a:defRPr>
            </a:lvl1pPr>
            <a:lvl2pPr marL="483259" algn="l" defTabSz="966517" rtl="0" eaLnBrk="1" latinLnBrk="0" hangingPunct="1">
              <a:defRPr sz="1902" kern="1200">
                <a:solidFill>
                  <a:schemeClr val="dk1"/>
                </a:solidFill>
                <a:latin typeface="+mn-lt"/>
                <a:ea typeface="+mn-ea"/>
                <a:cs typeface="+mn-cs"/>
              </a:defRPr>
            </a:lvl2pPr>
            <a:lvl3pPr marL="966517" algn="l" defTabSz="966517" rtl="0" eaLnBrk="1" latinLnBrk="0" hangingPunct="1">
              <a:defRPr sz="1902" kern="1200">
                <a:solidFill>
                  <a:schemeClr val="dk1"/>
                </a:solidFill>
                <a:latin typeface="+mn-lt"/>
                <a:ea typeface="+mn-ea"/>
                <a:cs typeface="+mn-cs"/>
              </a:defRPr>
            </a:lvl3pPr>
            <a:lvl4pPr marL="1449775" algn="l" defTabSz="966517" rtl="0" eaLnBrk="1" latinLnBrk="0" hangingPunct="1">
              <a:defRPr sz="1902" kern="1200">
                <a:solidFill>
                  <a:schemeClr val="dk1"/>
                </a:solidFill>
                <a:latin typeface="+mn-lt"/>
                <a:ea typeface="+mn-ea"/>
                <a:cs typeface="+mn-cs"/>
              </a:defRPr>
            </a:lvl4pPr>
            <a:lvl5pPr marL="1933034" algn="l" defTabSz="966517" rtl="0" eaLnBrk="1" latinLnBrk="0" hangingPunct="1">
              <a:defRPr sz="1902" kern="1200">
                <a:solidFill>
                  <a:schemeClr val="dk1"/>
                </a:solidFill>
                <a:latin typeface="+mn-lt"/>
                <a:ea typeface="+mn-ea"/>
                <a:cs typeface="+mn-cs"/>
              </a:defRPr>
            </a:lvl5pPr>
            <a:lvl6pPr marL="2416292" algn="l" defTabSz="966517" rtl="0" eaLnBrk="1" latinLnBrk="0" hangingPunct="1">
              <a:defRPr sz="1902" kern="1200">
                <a:solidFill>
                  <a:schemeClr val="dk1"/>
                </a:solidFill>
                <a:latin typeface="+mn-lt"/>
                <a:ea typeface="+mn-ea"/>
                <a:cs typeface="+mn-cs"/>
              </a:defRPr>
            </a:lvl6pPr>
            <a:lvl7pPr marL="2899551" algn="l" defTabSz="966517" rtl="0" eaLnBrk="1" latinLnBrk="0" hangingPunct="1">
              <a:defRPr sz="1902" kern="1200">
                <a:solidFill>
                  <a:schemeClr val="dk1"/>
                </a:solidFill>
                <a:latin typeface="+mn-lt"/>
                <a:ea typeface="+mn-ea"/>
                <a:cs typeface="+mn-cs"/>
              </a:defRPr>
            </a:lvl7pPr>
            <a:lvl8pPr marL="3382810" algn="l" defTabSz="966517" rtl="0" eaLnBrk="1" latinLnBrk="0" hangingPunct="1">
              <a:defRPr sz="1902" kern="1200">
                <a:solidFill>
                  <a:schemeClr val="dk1"/>
                </a:solidFill>
                <a:latin typeface="+mn-lt"/>
                <a:ea typeface="+mn-ea"/>
                <a:cs typeface="+mn-cs"/>
              </a:defRPr>
            </a:lvl8pPr>
            <a:lvl9pPr marL="3866068" algn="l" defTabSz="966517" rtl="0" eaLnBrk="1" latinLnBrk="0" hangingPunct="1">
              <a:defRPr sz="1902" kern="1200">
                <a:solidFill>
                  <a:schemeClr val="dk1"/>
                </a:solidFill>
                <a:latin typeface="+mn-lt"/>
                <a:ea typeface="+mn-ea"/>
                <a:cs typeface="+mn-cs"/>
              </a:defRPr>
            </a:lvl9pPr>
          </a:lstStyle>
          <a:p>
            <a:pPr algn="ctr"/>
            <a:r>
              <a:rPr lang="en-GB" sz="1376" b="1" dirty="0">
                <a:solidFill>
                  <a:prstClr val="black"/>
                </a:solidFill>
              </a:rPr>
              <a:t>Middle East and Africa WXYZ Market Incremental $ Opportunity, 2019 and 2023-2034</a:t>
            </a:r>
          </a:p>
        </p:txBody>
      </p:sp>
      <p:cxnSp>
        <p:nvCxnSpPr>
          <p:cNvPr id="489" name="Straight Connector 488"/>
          <p:cNvCxnSpPr/>
          <p:nvPr/>
        </p:nvCxnSpPr>
        <p:spPr>
          <a:xfrm>
            <a:off x="7714740" y="5300649"/>
            <a:ext cx="1848801" cy="0"/>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491" name="Content Placeholder 13"/>
          <p:cNvGraphicFramePr>
            <a:graphicFrameLocks/>
          </p:cNvGraphicFramePr>
          <p:nvPr/>
        </p:nvGraphicFramePr>
        <p:xfrm>
          <a:off x="6512366" y="1694610"/>
          <a:ext cx="4585089" cy="1920875"/>
        </p:xfrm>
        <a:graphic>
          <a:graphicData uri="http://schemas.openxmlformats.org/drawingml/2006/chart">
            <c:chart xmlns:c="http://schemas.openxmlformats.org/drawingml/2006/chart" xmlns:r="http://schemas.openxmlformats.org/officeDocument/2006/relationships" r:id="rId5"/>
          </a:graphicData>
        </a:graphic>
      </p:graphicFrame>
      <p:sp>
        <p:nvSpPr>
          <p:cNvPr id="493" name="TextBox 492"/>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238</a:t>
            </a:fld>
            <a:endParaRPr lang="en-GB" dirty="0"/>
          </a:p>
        </p:txBody>
      </p:sp>
    </p:spTree>
    <p:extLst>
      <p:ext uri="{BB962C8B-B14F-4D97-AF65-F5344CB8AC3E}">
        <p14:creationId xmlns:p14="http://schemas.microsoft.com/office/powerpoint/2010/main" val="1923752379"/>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Middle East and Africa WXYZ Market Analysis By Country</a:t>
            </a:r>
          </a:p>
        </p:txBody>
      </p:sp>
      <p:sp>
        <p:nvSpPr>
          <p:cNvPr id="7" name="Text Placeholder 6"/>
          <p:cNvSpPr>
            <a:spLocks noGrp="1"/>
          </p:cNvSpPr>
          <p:nvPr>
            <p:ph type="body" idx="12"/>
          </p:nvPr>
        </p:nvSpPr>
        <p:spPr/>
        <p:txBody>
          <a:bodyPr/>
          <a:lstStyle/>
          <a:p>
            <a:r>
              <a:rPr lang="en-US" sz="1100" dirty="0"/>
              <a:t>Figure XX: Middle East and Africa WXYZ Market Share and BPS Analysis By Country, 2024 &amp; 2034</a:t>
            </a:r>
          </a:p>
        </p:txBody>
      </p:sp>
      <p:sp>
        <p:nvSpPr>
          <p:cNvPr id="9" name="Text Placeholder 8"/>
          <p:cNvSpPr>
            <a:spLocks noGrp="1"/>
          </p:cNvSpPr>
          <p:nvPr>
            <p:ph type="body" idx="14"/>
          </p:nvPr>
        </p:nvSpPr>
        <p:spPr/>
        <p:txBody>
          <a:bodyPr/>
          <a:lstStyle/>
          <a:p>
            <a:r>
              <a:rPr lang="en-US" sz="1100" dirty="0"/>
              <a:t>Figure XX: Middle East and Africa WXYZ Market Y-o-Y Growth Projections By Country, 2024 – 2034</a:t>
            </a:r>
          </a:p>
        </p:txBody>
      </p:sp>
      <p:sp>
        <p:nvSpPr>
          <p:cNvPr id="11" name="Text Placeholder 10"/>
          <p:cNvSpPr>
            <a:spLocks noGrp="1"/>
          </p:cNvSpPr>
          <p:nvPr>
            <p:ph type="body" idx="16"/>
          </p:nvPr>
        </p:nvSpPr>
        <p:spPr/>
        <p:txBody>
          <a:bodyPr/>
          <a:lstStyle/>
          <a:p>
            <a:r>
              <a:rPr lang="en-US" dirty="0"/>
              <a:t>Figure XX: Middle East and Africa WXYZ Market Attractiveness Analysis By Country, 2024 – 2034</a:t>
            </a:r>
          </a:p>
        </p:txBody>
      </p:sp>
      <p:sp>
        <p:nvSpPr>
          <p:cNvPr id="13" name="TextBox 1"/>
          <p:cNvSpPr txBox="1"/>
          <p:nvPr/>
        </p:nvSpPr>
        <p:spPr>
          <a:xfrm>
            <a:off x="706481" y="1651506"/>
            <a:ext cx="71013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XX </a:t>
            </a:r>
            <a:r>
              <a:rPr lang="en-US" sz="1200" b="1" dirty="0" err="1"/>
              <a:t>Mn</a:t>
            </a:r>
            <a:endParaRPr lang="en-US" sz="1200" b="1" dirty="0"/>
          </a:p>
        </p:txBody>
      </p:sp>
      <p:sp>
        <p:nvSpPr>
          <p:cNvPr id="14" name="TextBox 9"/>
          <p:cNvSpPr txBox="1"/>
          <p:nvPr/>
        </p:nvSpPr>
        <p:spPr>
          <a:xfrm>
            <a:off x="2459853" y="1662633"/>
            <a:ext cx="710131" cy="184666"/>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b="1" dirty="0"/>
              <a:t>US$ XX </a:t>
            </a:r>
            <a:r>
              <a:rPr lang="en-US" sz="1200" b="1" dirty="0" err="1"/>
              <a:t>Mn</a:t>
            </a:r>
            <a:endParaRPr lang="en-US" sz="1200" b="1" dirty="0"/>
          </a:p>
        </p:txBody>
      </p:sp>
      <p:sp>
        <p:nvSpPr>
          <p:cNvPr id="12" name="TextBox 1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6" name="Content Placeholder 14"/>
          <p:cNvGraphicFramePr>
            <a:graphicFrameLocks noGrp="1"/>
          </p:cNvGraphicFramePr>
          <p:nvPr>
            <p:ph idx="1"/>
            <p:extLst>
              <p:ext uri="{D42A27DB-BD31-4B8C-83A1-F6EECF244321}">
                <p14:modId xmlns:p14="http://schemas.microsoft.com/office/powerpoint/2010/main" val="1460580608"/>
              </p:ext>
            </p:extLst>
          </p:nvPr>
        </p:nvGraphicFramePr>
        <p:xfrm>
          <a:off x="152400" y="1612900"/>
          <a:ext cx="3768725" cy="459422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7" name="Content Placeholder 17"/>
          <p:cNvGraphicFramePr>
            <a:graphicFrameLocks noGrp="1"/>
          </p:cNvGraphicFramePr>
          <p:nvPr>
            <p:ph idx="13"/>
            <p:extLst>
              <p:ext uri="{D42A27DB-BD31-4B8C-83A1-F6EECF244321}">
                <p14:modId xmlns:p14="http://schemas.microsoft.com/office/powerpoint/2010/main" val="3080288079"/>
              </p:ext>
            </p:extLst>
          </p:nvPr>
        </p:nvGraphicFramePr>
        <p:xfrm>
          <a:off x="4213225" y="1612900"/>
          <a:ext cx="3768725" cy="459422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ontent Placeholder 19"/>
          <p:cNvGraphicFramePr>
            <a:graphicFrameLocks noGrp="1"/>
          </p:cNvGraphicFramePr>
          <p:nvPr>
            <p:ph idx="15"/>
            <p:extLst>
              <p:ext uri="{D42A27DB-BD31-4B8C-83A1-F6EECF244321}">
                <p14:modId xmlns:p14="http://schemas.microsoft.com/office/powerpoint/2010/main" val="3806770776"/>
              </p:ext>
            </p:extLst>
          </p:nvPr>
        </p:nvGraphicFramePr>
        <p:xfrm>
          <a:off x="8274050" y="1612900"/>
          <a:ext cx="3768725" cy="4594225"/>
        </p:xfrm>
        <a:graphic>
          <a:graphicData uri="http://schemas.openxmlformats.org/drawingml/2006/chart">
            <c:chart xmlns:c="http://schemas.openxmlformats.org/drawingml/2006/chart" xmlns:r="http://schemas.openxmlformats.org/officeDocument/2006/relationships" r:id="rId4"/>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239</a:t>
            </a:fld>
            <a:endParaRPr lang="en-GB" dirty="0"/>
          </a:p>
        </p:txBody>
      </p:sp>
    </p:spTree>
    <p:extLst>
      <p:ext uri="{BB962C8B-B14F-4D97-AF65-F5344CB8AC3E}">
        <p14:creationId xmlns:p14="http://schemas.microsoft.com/office/powerpoint/2010/main" val="2775140467"/>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Middle East and Africa WXYZ Market Analysis By Country</a:t>
            </a:r>
          </a:p>
        </p:txBody>
      </p:sp>
      <p:sp>
        <p:nvSpPr>
          <p:cNvPr id="6" name="Text Placeholder 5"/>
          <p:cNvSpPr>
            <a:spLocks noGrp="1"/>
          </p:cNvSpPr>
          <p:nvPr>
            <p:ph type="body" idx="12"/>
          </p:nvPr>
        </p:nvSpPr>
        <p:spPr/>
        <p:txBody>
          <a:bodyPr/>
          <a:lstStyle/>
          <a:p>
            <a:r>
              <a:rPr lang="en-US" sz="1400" dirty="0"/>
              <a:t>Table 25: Middle East and Africa WXYZ Market Size (US$ </a:t>
            </a:r>
            <a:r>
              <a:rPr lang="en-US" sz="1400" dirty="0" err="1"/>
              <a:t>Mn</a:t>
            </a:r>
            <a:r>
              <a:rPr lang="en-US" sz="1400" dirty="0"/>
              <a:t>) and Volume (Tons) Analysis and Forecast By Country, 2019 – 2034</a:t>
            </a:r>
          </a:p>
        </p:txBody>
      </p:sp>
      <p:graphicFrame>
        <p:nvGraphicFramePr>
          <p:cNvPr id="7" name="Content Placeholder 9"/>
          <p:cNvGraphicFramePr>
            <a:graphicFrameLocks/>
          </p:cNvGraphicFramePr>
          <p:nvPr>
            <p:extLst>
              <p:ext uri="{D42A27DB-BD31-4B8C-83A1-F6EECF244321}">
                <p14:modId xmlns:p14="http://schemas.microsoft.com/office/powerpoint/2010/main" val="977605175"/>
              </p:ext>
            </p:extLst>
          </p:nvPr>
        </p:nvGraphicFramePr>
        <p:xfrm>
          <a:off x="152399" y="1663964"/>
          <a:ext cx="11887207" cy="4357003"/>
        </p:xfrm>
        <a:graphic>
          <a:graphicData uri="http://schemas.openxmlformats.org/drawingml/2006/table">
            <a:tbl>
              <a:tblPr firstRow="1" bandRow="1">
                <a:tableStyleId>{5C22544A-7EE6-4342-B048-85BDC9FD1C3A}</a:tableStyleId>
              </a:tblPr>
              <a:tblGrid>
                <a:gridCol w="897220">
                  <a:extLst>
                    <a:ext uri="{9D8B030D-6E8A-4147-A177-3AD203B41FA5}">
                      <a16:colId xmlns:a16="http://schemas.microsoft.com/office/drawing/2014/main" val="20000"/>
                    </a:ext>
                  </a:extLst>
                </a:gridCol>
                <a:gridCol w="360618">
                  <a:extLst>
                    <a:ext uri="{9D8B030D-6E8A-4147-A177-3AD203B41FA5}">
                      <a16:colId xmlns:a16="http://schemas.microsoft.com/office/drawing/2014/main" val="20018"/>
                    </a:ext>
                  </a:extLst>
                </a:gridCol>
                <a:gridCol w="625257">
                  <a:extLst>
                    <a:ext uri="{9D8B030D-6E8A-4147-A177-3AD203B41FA5}">
                      <a16:colId xmlns:a16="http://schemas.microsoft.com/office/drawing/2014/main" val="20001"/>
                    </a:ext>
                  </a:extLst>
                </a:gridCol>
                <a:gridCol w="625257">
                  <a:extLst>
                    <a:ext uri="{9D8B030D-6E8A-4147-A177-3AD203B41FA5}">
                      <a16:colId xmlns:a16="http://schemas.microsoft.com/office/drawing/2014/main" val="20002"/>
                    </a:ext>
                  </a:extLst>
                </a:gridCol>
                <a:gridCol w="625257">
                  <a:extLst>
                    <a:ext uri="{9D8B030D-6E8A-4147-A177-3AD203B41FA5}">
                      <a16:colId xmlns:a16="http://schemas.microsoft.com/office/drawing/2014/main" val="20003"/>
                    </a:ext>
                  </a:extLst>
                </a:gridCol>
                <a:gridCol w="625257">
                  <a:extLst>
                    <a:ext uri="{9D8B030D-6E8A-4147-A177-3AD203B41FA5}">
                      <a16:colId xmlns:a16="http://schemas.microsoft.com/office/drawing/2014/main" val="20004"/>
                    </a:ext>
                  </a:extLst>
                </a:gridCol>
                <a:gridCol w="625257">
                  <a:extLst>
                    <a:ext uri="{9D8B030D-6E8A-4147-A177-3AD203B41FA5}">
                      <a16:colId xmlns:a16="http://schemas.microsoft.com/office/drawing/2014/main" val="20005"/>
                    </a:ext>
                  </a:extLst>
                </a:gridCol>
                <a:gridCol w="625257">
                  <a:extLst>
                    <a:ext uri="{9D8B030D-6E8A-4147-A177-3AD203B41FA5}">
                      <a16:colId xmlns:a16="http://schemas.microsoft.com/office/drawing/2014/main" val="20006"/>
                    </a:ext>
                  </a:extLst>
                </a:gridCol>
                <a:gridCol w="625257">
                  <a:extLst>
                    <a:ext uri="{9D8B030D-6E8A-4147-A177-3AD203B41FA5}">
                      <a16:colId xmlns:a16="http://schemas.microsoft.com/office/drawing/2014/main" val="20007"/>
                    </a:ext>
                  </a:extLst>
                </a:gridCol>
                <a:gridCol w="625257">
                  <a:extLst>
                    <a:ext uri="{9D8B030D-6E8A-4147-A177-3AD203B41FA5}">
                      <a16:colId xmlns:a16="http://schemas.microsoft.com/office/drawing/2014/main" val="20008"/>
                    </a:ext>
                  </a:extLst>
                </a:gridCol>
                <a:gridCol w="625257">
                  <a:extLst>
                    <a:ext uri="{9D8B030D-6E8A-4147-A177-3AD203B41FA5}">
                      <a16:colId xmlns:a16="http://schemas.microsoft.com/office/drawing/2014/main" val="20009"/>
                    </a:ext>
                  </a:extLst>
                </a:gridCol>
                <a:gridCol w="625257">
                  <a:extLst>
                    <a:ext uri="{9D8B030D-6E8A-4147-A177-3AD203B41FA5}">
                      <a16:colId xmlns:a16="http://schemas.microsoft.com/office/drawing/2014/main" val="20010"/>
                    </a:ext>
                  </a:extLst>
                </a:gridCol>
                <a:gridCol w="625257">
                  <a:extLst>
                    <a:ext uri="{9D8B030D-6E8A-4147-A177-3AD203B41FA5}">
                      <a16:colId xmlns:a16="http://schemas.microsoft.com/office/drawing/2014/main" val="20011"/>
                    </a:ext>
                  </a:extLst>
                </a:gridCol>
                <a:gridCol w="625257">
                  <a:extLst>
                    <a:ext uri="{9D8B030D-6E8A-4147-A177-3AD203B41FA5}">
                      <a16:colId xmlns:a16="http://schemas.microsoft.com/office/drawing/2014/main" val="20012"/>
                    </a:ext>
                  </a:extLst>
                </a:gridCol>
                <a:gridCol w="625257">
                  <a:extLst>
                    <a:ext uri="{9D8B030D-6E8A-4147-A177-3AD203B41FA5}">
                      <a16:colId xmlns:a16="http://schemas.microsoft.com/office/drawing/2014/main" val="20013"/>
                    </a:ext>
                  </a:extLst>
                </a:gridCol>
                <a:gridCol w="625257">
                  <a:extLst>
                    <a:ext uri="{9D8B030D-6E8A-4147-A177-3AD203B41FA5}">
                      <a16:colId xmlns:a16="http://schemas.microsoft.com/office/drawing/2014/main" val="20014"/>
                    </a:ext>
                  </a:extLst>
                </a:gridCol>
                <a:gridCol w="625257">
                  <a:extLst>
                    <a:ext uri="{9D8B030D-6E8A-4147-A177-3AD203B41FA5}">
                      <a16:colId xmlns:a16="http://schemas.microsoft.com/office/drawing/2014/main" val="20015"/>
                    </a:ext>
                  </a:extLst>
                </a:gridCol>
                <a:gridCol w="625257">
                  <a:extLst>
                    <a:ext uri="{9D8B030D-6E8A-4147-A177-3AD203B41FA5}">
                      <a16:colId xmlns:a16="http://schemas.microsoft.com/office/drawing/2014/main" val="20016"/>
                    </a:ext>
                  </a:extLst>
                </a:gridCol>
                <a:gridCol w="625257">
                  <a:extLst>
                    <a:ext uri="{9D8B030D-6E8A-4147-A177-3AD203B41FA5}">
                      <a16:colId xmlns:a16="http://schemas.microsoft.com/office/drawing/2014/main" val="20017"/>
                    </a:ext>
                  </a:extLst>
                </a:gridCol>
              </a:tblGrid>
              <a:tr h="842247">
                <a:tc gridSpan="2">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dirty="0"/>
                        <a:t>Country</a:t>
                      </a:r>
                      <a:endParaRPr lang="en-US" sz="1100" b="1" i="0" baseline="0" dirty="0">
                        <a:solidFill>
                          <a:schemeClr val="tx1"/>
                        </a:solidFill>
                        <a:latin typeface="+mn-lt"/>
                      </a:endParaRPr>
                    </a:p>
                  </a:txBody>
                  <a:tcPr marR="0" marT="0" marB="0" anchor="ctr"/>
                </a:tc>
                <a:tc hMerge="1">
                  <a:txBody>
                    <a:bodyPr/>
                    <a:lstStyle/>
                    <a:p>
                      <a:pPr algn="ctr"/>
                      <a:endParaRPr lang="en-US" sz="10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2019A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2020A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2021A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2022A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2023A</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2024E</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2025F</a:t>
                      </a:r>
                      <a:endParaRPr lang="en-US" sz="1100" i="0" baseline="0" dirty="0">
                        <a:solidFill>
                          <a:schemeClr val="tx1"/>
                        </a:solidFill>
                        <a:latin typeface="+mn-lt"/>
                      </a:endParaRP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2026F</a:t>
                      </a:r>
                      <a:endParaRPr lang="en-US" sz="1100" i="0" baseline="0" dirty="0">
                        <a:solidFill>
                          <a:schemeClr val="tx1"/>
                        </a:solidFill>
                        <a:latin typeface="+mn-lt"/>
                      </a:endParaRPr>
                    </a:p>
                  </a:txBody>
                  <a:tcPr marL="0" marR="0" marT="0" marB="0" anchor="ctr"/>
                </a:tc>
                <a:tc>
                  <a:txBody>
                    <a:bodyPr/>
                    <a:lstStyle/>
                    <a:p>
                      <a:pPr algn="ctr"/>
                      <a:r>
                        <a:rPr lang="en-US" sz="1100" i="0" baseline="0" dirty="0">
                          <a:solidFill>
                            <a:schemeClr val="bg1"/>
                          </a:solidFill>
                          <a:latin typeface="+mn-lt"/>
                        </a:rPr>
                        <a:t>2027F</a:t>
                      </a:r>
                    </a:p>
                  </a:txBody>
                  <a:tcPr marL="0" marR="0" marT="0" marB="0" anchor="ctr"/>
                </a:tc>
                <a:tc>
                  <a:txBody>
                    <a:bodyPr/>
                    <a:lstStyle/>
                    <a:p>
                      <a:pPr algn="ctr"/>
                      <a:r>
                        <a:rPr lang="en-US" sz="1100" i="0" baseline="0" dirty="0">
                          <a:solidFill>
                            <a:schemeClr val="bg1"/>
                          </a:solidFill>
                          <a:latin typeface="+mn-lt"/>
                        </a:rPr>
                        <a:t>2028F</a:t>
                      </a:r>
                    </a:p>
                  </a:txBody>
                  <a:tcPr marL="0" marR="0" marT="0" marB="0" anchor="ctr"/>
                </a:tc>
                <a:tc>
                  <a:txBody>
                    <a:bodyPr/>
                    <a:lstStyle/>
                    <a:p>
                      <a:pPr algn="ctr"/>
                      <a:r>
                        <a:rPr lang="en-US" sz="1100" i="0" baseline="0" dirty="0">
                          <a:solidFill>
                            <a:schemeClr val="bg1"/>
                          </a:solidFill>
                          <a:latin typeface="+mn-lt"/>
                        </a:rPr>
                        <a:t>2029F</a:t>
                      </a:r>
                    </a:p>
                  </a:txBody>
                  <a:tcPr marL="0" marR="0" marT="0" marB="0" anchor="ctr"/>
                </a:tc>
                <a:tc>
                  <a:txBody>
                    <a:bodyPr/>
                    <a:lstStyle/>
                    <a:p>
                      <a:pPr algn="ctr"/>
                      <a:r>
                        <a:rPr lang="en-US" sz="1100" i="0" baseline="0" dirty="0">
                          <a:solidFill>
                            <a:schemeClr val="bg1"/>
                          </a:solidFill>
                          <a:latin typeface="+mn-lt"/>
                        </a:rPr>
                        <a:t>2030F</a:t>
                      </a:r>
                    </a:p>
                  </a:txBody>
                  <a:tcPr marL="0" marR="0" marT="0" marB="0" anchor="ctr"/>
                </a:tc>
                <a:tc>
                  <a:txBody>
                    <a:bodyPr/>
                    <a:lstStyle/>
                    <a:p>
                      <a:pPr algn="ctr"/>
                      <a:r>
                        <a:rPr lang="en-US" sz="1100" i="0" baseline="0" dirty="0">
                          <a:solidFill>
                            <a:schemeClr val="bg1"/>
                          </a:solidFill>
                          <a:latin typeface="+mn-lt"/>
                        </a:rPr>
                        <a:t>2031F</a:t>
                      </a:r>
                    </a:p>
                  </a:txBody>
                  <a:tcPr marL="0" marR="0" marT="0" marB="0" anchor="ctr"/>
                </a:tc>
                <a:tc>
                  <a:txBody>
                    <a:bodyPr/>
                    <a:lstStyle/>
                    <a:p>
                      <a:pPr algn="ctr"/>
                      <a:r>
                        <a:rPr lang="en-US" sz="1100" i="0" baseline="0" dirty="0">
                          <a:solidFill>
                            <a:schemeClr val="bg1"/>
                          </a:solidFill>
                          <a:latin typeface="+mn-lt"/>
                        </a:rPr>
                        <a:t>2032F</a:t>
                      </a:r>
                    </a:p>
                  </a:txBody>
                  <a:tcPr marL="0" marR="0" marT="0" marB="0" anchor="ctr"/>
                </a:tc>
                <a:tc>
                  <a:txBody>
                    <a:bodyPr/>
                    <a:lstStyle/>
                    <a:p>
                      <a:pPr algn="ctr"/>
                      <a:r>
                        <a:rPr lang="en-US" sz="1100" i="0" baseline="0" dirty="0">
                          <a:solidFill>
                            <a:schemeClr val="bg1"/>
                          </a:solidFill>
                          <a:latin typeface="+mn-lt"/>
                        </a:rPr>
                        <a:t>2033F</a:t>
                      </a:r>
                    </a:p>
                  </a:txBody>
                  <a:tcPr marL="0" marR="0" marT="0" marB="0" anchor="ctr"/>
                </a:tc>
                <a:tc>
                  <a:txBody>
                    <a:bodyPr/>
                    <a:lstStyle/>
                    <a:p>
                      <a:pPr algn="ctr"/>
                      <a:r>
                        <a:rPr lang="en-US" sz="1100" i="0" baseline="0" dirty="0">
                          <a:solidFill>
                            <a:schemeClr val="bg1"/>
                          </a:solidFill>
                          <a:latin typeface="+mn-lt"/>
                        </a:rPr>
                        <a:t>2034F</a:t>
                      </a:r>
                    </a:p>
                  </a:txBody>
                  <a:tcPr marL="0" marR="0" marT="0" marB="0" anchor="ctr"/>
                </a:tc>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algn="ctr"/>
                      <a:r>
                        <a:rPr lang="en-US" sz="1100" i="0" baseline="0" dirty="0"/>
                        <a:t>CAGR </a:t>
                      </a:r>
                      <a:br>
                        <a:rPr lang="en-US" sz="1100" i="0" baseline="0" dirty="0"/>
                      </a:br>
                      <a:r>
                        <a:rPr lang="en-US" sz="1100" i="0" baseline="0" dirty="0"/>
                        <a:t>(2024–34)</a:t>
                      </a:r>
                      <a:endParaRPr lang="en-US" sz="1100" i="0" baseline="0" dirty="0">
                        <a:solidFill>
                          <a:schemeClr val="tx1"/>
                        </a:solidFill>
                        <a:latin typeface="+mn-lt"/>
                      </a:endParaRPr>
                    </a:p>
                  </a:txBody>
                  <a:tcPr anchor="ctr"/>
                </a:tc>
                <a:extLst>
                  <a:ext uri="{0D108BD9-81ED-4DB2-BD59-A6C34878D82A}">
                    <a16:rowId xmlns:a16="http://schemas.microsoft.com/office/drawing/2014/main" val="10000"/>
                  </a:ext>
                </a:extLst>
              </a:tr>
              <a:tr h="25105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algn="l" defTabSz="914400" rtl="0" eaLnBrk="1" latinLnBrk="0" hangingPunct="1"/>
                      <a:r>
                        <a:rPr lang="en-US" sz="1100" b="1" i="0" kern="1200" baseline="0" dirty="0">
                          <a:solidFill>
                            <a:prstClr val="black"/>
                          </a:solidFill>
                          <a:latin typeface="Calibri" panose="020F0502020204030204"/>
                          <a:ea typeface="Malgun Gothic" panose="020B0503020000020004" pitchFamily="34" charset="-127"/>
                          <a:cs typeface=""/>
                        </a:rPr>
                        <a:t>KSA</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1"/>
                  </a:ext>
                </a:extLst>
              </a:tr>
              <a:tr h="251054">
                <a:tc vMerge="1">
                  <a:txBody>
                    <a:bodyPr/>
                    <a:lstStyle/>
                    <a:p>
                      <a:endParaRPr lang="en-US" dirty="0"/>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6"/>
                  </a:ext>
                </a:extLst>
              </a:tr>
              <a:tr h="251054">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100" b="1" i="0" kern="1200" baseline="0" dirty="0">
                          <a:solidFill>
                            <a:prstClr val="black"/>
                          </a:solidFill>
                          <a:latin typeface="Calibri" panose="020F0502020204030204"/>
                          <a:ea typeface="Malgun Gothic" panose="020B0503020000020004" pitchFamily="34" charset="-127"/>
                          <a:cs typeface=""/>
                        </a:rPr>
                        <a:t>Other GCC Countries</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3"/>
                  </a:ext>
                </a:extLst>
              </a:tr>
              <a:tr h="251054">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4"/>
                  </a:ext>
                </a:extLst>
              </a:tr>
              <a:tr h="251054">
                <a:tc rowSpan="2">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algn="l" defTabSz="914400" rtl="0" eaLnBrk="1" latinLnBrk="0" hangingPunct="1"/>
                      <a:r>
                        <a:rPr lang="en-US" sz="1100" b="1" i="0" kern="1200" baseline="0" dirty="0" err="1">
                          <a:solidFill>
                            <a:prstClr val="black"/>
                          </a:solidFill>
                          <a:latin typeface="Calibri" panose="020F0502020204030204"/>
                          <a:ea typeface="Malgun Gothic" panose="020B0503020000020004" pitchFamily="34" charset="-127"/>
                          <a:cs typeface=""/>
                        </a:rPr>
                        <a:t>Türkiye</a:t>
                      </a:r>
                      <a:endParaRPr lang="en-US" sz="1100" b="1" i="0" kern="1200" baseline="0" dirty="0">
                        <a:solidFill>
                          <a:prstClr val="black"/>
                        </a:solidFill>
                        <a:latin typeface="Calibri" panose="020F0502020204030204"/>
                        <a:ea typeface="Malgun Gothic" panose="020B0503020000020004" pitchFamily="34" charset="-127"/>
                        <a:cs typeface=""/>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2"/>
                  </a:ext>
                </a:extLst>
              </a:tr>
              <a:tr h="251054">
                <a:tc vMerge="1">
                  <a:txBody>
                    <a:bodyPr/>
                    <a:lstStyle/>
                    <a:p>
                      <a:endParaRPr lang="en-US"/>
                    </a:p>
                  </a:txBody>
                  <a:tcP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4"/>
                  </a:ext>
                </a:extLst>
              </a:tr>
              <a:tr h="251054">
                <a:tc rowSpan="2">
                  <a:txBody>
                    <a:bodyPr/>
                    <a:lstStyle/>
                    <a:p>
                      <a:pPr algn="l"/>
                      <a:r>
                        <a:rPr lang="en-US" sz="1100" b="1" i="0" kern="1200" baseline="0" dirty="0">
                          <a:solidFill>
                            <a:prstClr val="black"/>
                          </a:solidFill>
                          <a:latin typeface="+mn-lt"/>
                          <a:ea typeface="Malgun Gothic" panose="020B0503020000020004" pitchFamily="34" charset="-127"/>
                          <a:cs typeface=""/>
                        </a:rPr>
                        <a:t>South Africa</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7"/>
                  </a:ext>
                </a:extLst>
              </a:tr>
              <a:tr h="25105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8"/>
                  </a:ext>
                </a:extLst>
              </a:tr>
              <a:tr h="251054">
                <a:tc rowSpan="2">
                  <a:txBody>
                    <a:bodyPr/>
                    <a:lstStyle/>
                    <a:p>
                      <a:pPr algn="l"/>
                      <a:r>
                        <a:rPr lang="en-US" sz="1100" b="1" i="0" baseline="0" dirty="0">
                          <a:latin typeface="+mn-lt"/>
                        </a:rPr>
                        <a:t>Other African Union</a:t>
                      </a: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5"/>
                  </a:ext>
                </a:extLst>
              </a:tr>
              <a:tr h="251054">
                <a:tc vMerge="1">
                  <a:txBody>
                    <a:bodyPr/>
                    <a:lstStyle/>
                    <a:p>
                      <a:pPr algn="l"/>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6"/>
                  </a:ext>
                </a:extLst>
              </a:tr>
              <a:tr h="251054">
                <a:tc rowSpan="2">
                  <a:txBody>
                    <a:bodyPr/>
                    <a:lstStyle/>
                    <a:p>
                      <a:pPr algn="l"/>
                      <a:r>
                        <a:rPr lang="en-IN" sz="1100" b="1" i="0" baseline="0" dirty="0">
                          <a:latin typeface="+mn-lt"/>
                        </a:rPr>
                        <a:t>Rest of MEA</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9"/>
                  </a:ext>
                </a:extLst>
              </a:tr>
              <a:tr h="25105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0"/>
                  </a:ext>
                </a:extLst>
              </a:tr>
              <a:tr h="251054">
                <a:tc rowSpan="2">
                  <a:txBody>
                    <a:bodyPr/>
                    <a:lstStyle/>
                    <a:p>
                      <a:pPr algn="l"/>
                      <a:r>
                        <a:rPr lang="en-IN" sz="1100" b="1" i="0" baseline="0" dirty="0">
                          <a:latin typeface="+mn-lt"/>
                        </a:rPr>
                        <a:t>Total</a:t>
                      </a:r>
                      <a:endParaRPr lang="en-US" sz="11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Vol</a:t>
                      </a: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1"/>
                  </a:ext>
                </a:extLst>
              </a:tr>
              <a:tr h="251054">
                <a:tc vMerge="1">
                  <a:txBody>
                    <a:bodyPr/>
                    <a:lstStyle/>
                    <a:p>
                      <a:pPr algn="l"/>
                      <a:endParaRPr lang="en-US" sz="1000" b="1" i="0" baseline="0" dirty="0">
                        <a:latin typeface="+mn-lt"/>
                      </a:endParaRPr>
                    </a:p>
                  </a:txBody>
                  <a:tcPr marR="0" marT="0" marB="0" anchor="ctr"/>
                </a:tc>
                <a:tc>
                  <a:txBody>
                    <a:bodyPr/>
                    <a:lstStyle/>
                    <a:p>
                      <a:pPr algn="ctr" fontAlgn="ctr"/>
                      <a:r>
                        <a:rPr lang="en-US" sz="1100" b="1" i="0" u="none" strike="noStrike" dirty="0">
                          <a:solidFill>
                            <a:srgbClr val="000000"/>
                          </a:solidFill>
                          <a:effectLst/>
                          <a:latin typeface="Calibri" panose="020F0502020204030204" pitchFamily="34" charset="0"/>
                        </a:rPr>
                        <a:t>Val</a:t>
                      </a: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0" i="0" u="none" strike="noStrike" dirty="0">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a:solidFill>
                            <a:schemeClr val="bg1">
                              <a:lumMod val="50000"/>
                            </a:schemeClr>
                          </a:solidFill>
                          <a:effectLst/>
                          <a:latin typeface="Calibri" panose="020F0502020204030204" pitchFamily="34" charset="0"/>
                        </a:rPr>
                        <a:t>XX</a:t>
                      </a:r>
                      <a:endParaRPr lang="en-US" sz="1100" b="0" i="0" u="none" strike="noStrike">
                        <a:solidFill>
                          <a:srgbClr val="000000"/>
                        </a:solidFill>
                        <a:effectLst/>
                        <a:latin typeface="Calibri" panose="020F0502020204030204" pitchFamily="34" charset="0"/>
                      </a:endParaRPr>
                    </a:p>
                  </a:txBody>
                  <a:tcPr marL="9525" marR="9525" marT="9525" marB="0" anchor="ctr"/>
                </a:tc>
                <a:tc>
                  <a:txBody>
                    <a:bodyPr/>
                    <a:lstStyle/>
                    <a:p>
                      <a:pPr algn="ctr" fontAlgn="ctr"/>
                      <a:r>
                        <a:rPr lang="en-IN" sz="1100" b="0" i="0" u="none" strike="noStrike" dirty="0">
                          <a:solidFill>
                            <a:schemeClr val="bg1">
                              <a:lumMod val="50000"/>
                            </a:schemeClr>
                          </a:solidFill>
                          <a:effectLst/>
                          <a:latin typeface="Calibri" panose="020F0502020204030204" pitchFamily="34" charset="0"/>
                        </a:rPr>
                        <a:t>XX</a:t>
                      </a:r>
                      <a:endParaRPr lang="en-US" sz="1100" b="1" i="0" u="none" strike="noStrike"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13"/>
                  </a:ext>
                </a:extLst>
              </a:tr>
            </a:tbl>
          </a:graphicData>
        </a:graphic>
      </p:graphicFrame>
      <p:sp>
        <p:nvSpPr>
          <p:cNvPr id="8" name="TextBox 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240</a:t>
            </a:fld>
            <a:endParaRPr lang="en-GB" dirty="0"/>
          </a:p>
        </p:txBody>
      </p:sp>
    </p:spTree>
    <p:extLst>
      <p:ext uri="{BB962C8B-B14F-4D97-AF65-F5344CB8AC3E}">
        <p14:creationId xmlns:p14="http://schemas.microsoft.com/office/powerpoint/2010/main" val="3141645987"/>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Middle East and Africa WXYZ Market Absolute $ Opportunity Analysis By Country</a:t>
            </a:r>
            <a:endParaRPr lang="en-IN" dirty="0"/>
          </a:p>
        </p:txBody>
      </p:sp>
      <p:sp>
        <p:nvSpPr>
          <p:cNvPr id="5" name="Text Placeholder 4"/>
          <p:cNvSpPr>
            <a:spLocks noGrp="1"/>
          </p:cNvSpPr>
          <p:nvPr>
            <p:ph type="body" idx="12"/>
          </p:nvPr>
        </p:nvSpPr>
        <p:spPr>
          <a:noFill/>
        </p:spPr>
        <p:txBody>
          <a:bodyPr anchor="ctr"/>
          <a:lstStyle/>
          <a:p>
            <a:r>
              <a:rPr lang="en-US" dirty="0"/>
              <a:t>FIG: Middle East and Africa Incremental $ Opportunity By Country, 2024-2034</a:t>
            </a:r>
          </a:p>
        </p:txBody>
      </p:sp>
      <p:sp>
        <p:nvSpPr>
          <p:cNvPr id="6" name="Text Placeholder 5"/>
          <p:cNvSpPr>
            <a:spLocks noGrp="1"/>
          </p:cNvSpPr>
          <p:nvPr>
            <p:ph type="body" idx="14"/>
          </p:nvPr>
        </p:nvSpPr>
        <p:spPr>
          <a:noFill/>
        </p:spPr>
        <p:txBody>
          <a:bodyPr vert="horz" lIns="91440" tIns="91440" rIns="91440" bIns="91440" rtlCol="0" anchor="ctr">
            <a:noAutofit/>
          </a:bodyPr>
          <a:lstStyle/>
          <a:p>
            <a:pPr algn="ctr"/>
            <a:r>
              <a:rPr lang="en-US" dirty="0"/>
              <a:t>Key Takeaways</a:t>
            </a:r>
          </a:p>
        </p:txBody>
      </p:sp>
      <p:pic>
        <p:nvPicPr>
          <p:cNvPr id="3" name="Picture 2"/>
          <p:cNvPicPr>
            <a:picLocks noChangeAspect="1"/>
          </p:cNvPicPr>
          <p:nvPr/>
        </p:nvPicPr>
        <p:blipFill>
          <a:blip r:embed="rId2"/>
          <a:stretch>
            <a:fillRect/>
          </a:stretch>
        </p:blipFill>
        <p:spPr>
          <a:xfrm>
            <a:off x="6277857" y="1612797"/>
            <a:ext cx="5761743" cy="4399280"/>
          </a:xfrm>
          <a:prstGeom prst="rect">
            <a:avLst/>
          </a:prstGeom>
        </p:spPr>
      </p:pic>
      <p:sp>
        <p:nvSpPr>
          <p:cNvPr id="12" name="TextBox 11"/>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0" name="Content Placeholder 13"/>
          <p:cNvGraphicFramePr>
            <a:graphicFrameLocks noGrp="1"/>
          </p:cNvGraphicFramePr>
          <p:nvPr>
            <p:ph idx="1"/>
            <p:extLst>
              <p:ext uri="{D42A27DB-BD31-4B8C-83A1-F6EECF244321}">
                <p14:modId xmlns:p14="http://schemas.microsoft.com/office/powerpoint/2010/main" val="1981580664"/>
              </p:ext>
            </p:extLst>
          </p:nvPr>
        </p:nvGraphicFramePr>
        <p:xfrm>
          <a:off x="152400" y="1612900"/>
          <a:ext cx="5764213" cy="4594225"/>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241</a:t>
            </a:fld>
            <a:endParaRPr lang="en-GB" dirty="0"/>
          </a:p>
        </p:txBody>
      </p:sp>
    </p:spTree>
    <p:extLst>
      <p:ext uri="{BB962C8B-B14F-4D97-AF65-F5344CB8AC3E}">
        <p14:creationId xmlns:p14="http://schemas.microsoft.com/office/powerpoint/2010/main" val="2332695417"/>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20</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20</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Country-wise WXYZ Market Analysis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242</a:t>
            </a:r>
          </a:p>
        </p:txBody>
      </p:sp>
    </p:spTree>
    <p:extLst>
      <p:ext uri="{BB962C8B-B14F-4D97-AF65-F5344CB8AC3E}">
        <p14:creationId xmlns:p14="http://schemas.microsoft.com/office/powerpoint/2010/main" val="3772671315"/>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dirty="0"/>
              <a:t>Country Wise WXYZ Market: Introduction </a:t>
            </a:r>
          </a:p>
        </p:txBody>
      </p:sp>
      <p:graphicFrame>
        <p:nvGraphicFramePr>
          <p:cNvPr id="6" name="Table 5"/>
          <p:cNvGraphicFramePr>
            <a:graphicFrameLocks noGrp="1"/>
          </p:cNvGraphicFramePr>
          <p:nvPr>
            <p:extLst>
              <p:ext uri="{D42A27DB-BD31-4B8C-83A1-F6EECF244321}">
                <p14:modId xmlns:p14="http://schemas.microsoft.com/office/powerpoint/2010/main" val="2814950199"/>
              </p:ext>
            </p:extLst>
          </p:nvPr>
        </p:nvGraphicFramePr>
        <p:xfrm>
          <a:off x="173525" y="1099124"/>
          <a:ext cx="11809803" cy="5017474"/>
        </p:xfrm>
        <a:graphic>
          <a:graphicData uri="http://schemas.openxmlformats.org/drawingml/2006/table">
            <a:tbl>
              <a:tblPr firstRow="1" bandRow="1">
                <a:tableStyleId>{5C22544A-7EE6-4342-B048-85BDC9FD1C3A}</a:tableStyleId>
              </a:tblPr>
              <a:tblGrid>
                <a:gridCol w="4246883">
                  <a:extLst>
                    <a:ext uri="{9D8B030D-6E8A-4147-A177-3AD203B41FA5}">
                      <a16:colId xmlns:a16="http://schemas.microsoft.com/office/drawing/2014/main" val="3368990992"/>
                    </a:ext>
                  </a:extLst>
                </a:gridCol>
                <a:gridCol w="1993442">
                  <a:extLst>
                    <a:ext uri="{9D8B030D-6E8A-4147-A177-3AD203B41FA5}">
                      <a16:colId xmlns:a16="http://schemas.microsoft.com/office/drawing/2014/main" val="4046254108"/>
                    </a:ext>
                  </a:extLst>
                </a:gridCol>
                <a:gridCol w="1993442">
                  <a:extLst>
                    <a:ext uri="{9D8B030D-6E8A-4147-A177-3AD203B41FA5}">
                      <a16:colId xmlns:a16="http://schemas.microsoft.com/office/drawing/2014/main" val="448476292"/>
                    </a:ext>
                  </a:extLst>
                </a:gridCol>
                <a:gridCol w="1788018">
                  <a:extLst>
                    <a:ext uri="{9D8B030D-6E8A-4147-A177-3AD203B41FA5}">
                      <a16:colId xmlns:a16="http://schemas.microsoft.com/office/drawing/2014/main" val="41008629"/>
                    </a:ext>
                  </a:extLst>
                </a:gridCol>
                <a:gridCol w="1788018">
                  <a:extLst>
                    <a:ext uri="{9D8B030D-6E8A-4147-A177-3AD203B41FA5}">
                      <a16:colId xmlns:a16="http://schemas.microsoft.com/office/drawing/2014/main" val="2324068943"/>
                    </a:ext>
                  </a:extLst>
                </a:gridCol>
              </a:tblGrid>
              <a:tr h="305399">
                <a:tc>
                  <a:txBody>
                    <a:bodyPr/>
                    <a:lstStyle/>
                    <a:p>
                      <a:r>
                        <a:rPr lang="en-IN" sz="1000" dirty="0"/>
                        <a:t>Country</a:t>
                      </a:r>
                    </a:p>
                  </a:txBody>
                  <a:tcPr marR="0" marT="0" marB="0" anchor="ctr"/>
                </a:tc>
                <a:tc>
                  <a:txBody>
                    <a:bodyPr/>
                    <a:lstStyle/>
                    <a:p>
                      <a:pPr algn="ctr"/>
                      <a:r>
                        <a:rPr lang="en-IN" sz="1000" dirty="0"/>
                        <a:t>2024E</a:t>
                      </a:r>
                    </a:p>
                  </a:txBody>
                  <a:tcPr marL="0" marR="0" marT="0" marB="0" anchor="ctr"/>
                </a:tc>
                <a:tc>
                  <a:txBody>
                    <a:bodyPr/>
                    <a:lstStyle/>
                    <a:p>
                      <a:pPr algn="ctr"/>
                      <a:r>
                        <a:rPr lang="en-IN" sz="1000" dirty="0"/>
                        <a:t>2034F</a:t>
                      </a:r>
                    </a:p>
                  </a:txBody>
                  <a:tcPr marL="0" marR="0" marT="0" marB="0" anchor="ctr"/>
                </a:tc>
                <a:tc>
                  <a:txBody>
                    <a:bodyPr/>
                    <a:lstStyle/>
                    <a:p>
                      <a:pPr marL="0" algn="ctr" defTabSz="914391" rtl="0" eaLnBrk="1" fontAlgn="ctr" latinLnBrk="0" hangingPunct="1"/>
                      <a:r>
                        <a:rPr lang="en-US" sz="1000" b="1" kern="1200" dirty="0">
                          <a:solidFill>
                            <a:schemeClr val="lt1"/>
                          </a:solidFill>
                          <a:latin typeface="+mn-lt"/>
                          <a:ea typeface="+mn-ea"/>
                          <a:cs typeface="+mn-cs"/>
                        </a:rPr>
                        <a:t>Absolute $ Opportunity</a:t>
                      </a:r>
                    </a:p>
                  </a:txBody>
                  <a:tcPr marL="9525" marR="9525" marT="9525" marB="0" anchor="ctr"/>
                </a:tc>
                <a:tc>
                  <a:txBody>
                    <a:bodyPr/>
                    <a:lstStyle/>
                    <a:p>
                      <a:pPr algn="ctr"/>
                      <a:r>
                        <a:rPr lang="en-IN" sz="1000" dirty="0"/>
                        <a:t>CAGR (24–34)</a:t>
                      </a:r>
                    </a:p>
                  </a:txBody>
                  <a:tcPr marL="0" marR="0" marT="0" marB="0" anchor="ctr"/>
                </a:tc>
                <a:extLst>
                  <a:ext uri="{0D108BD9-81ED-4DB2-BD59-A6C34878D82A}">
                    <a16:rowId xmlns:a16="http://schemas.microsoft.com/office/drawing/2014/main" val="1033346290"/>
                  </a:ext>
                </a:extLst>
              </a:tr>
              <a:tr h="176291">
                <a:tc>
                  <a:txBody>
                    <a:bodyPr/>
                    <a:lstStyle/>
                    <a:p>
                      <a:r>
                        <a:rPr lang="en-IN" sz="1000" b="1" dirty="0"/>
                        <a:t>U.S.</a:t>
                      </a:r>
                    </a:p>
                  </a:txBody>
                  <a:tcPr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lang="en-IN" sz="1000" dirty="0"/>
                        <a:t>%</a:t>
                      </a:r>
                    </a:p>
                  </a:txBody>
                  <a:tcPr marL="0" marR="0" marT="0" marB="0" anchor="ctr"/>
                </a:tc>
                <a:extLst>
                  <a:ext uri="{0D108BD9-81ED-4DB2-BD59-A6C34878D82A}">
                    <a16:rowId xmlns:a16="http://schemas.microsoft.com/office/drawing/2014/main" val="493263270"/>
                  </a:ext>
                </a:extLst>
              </a:tr>
              <a:tr h="176291">
                <a:tc>
                  <a:txBody>
                    <a:bodyPr/>
                    <a:lstStyle/>
                    <a:p>
                      <a:r>
                        <a:rPr lang="en-IN" sz="1000" b="1" dirty="0"/>
                        <a:t>Canada</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2881651876"/>
                  </a:ext>
                </a:extLst>
              </a:tr>
              <a:tr h="176291">
                <a:tc>
                  <a:txBody>
                    <a:bodyPr/>
                    <a:lstStyle/>
                    <a:p>
                      <a:pPr marL="0" marR="0" lvl="0" indent="0" algn="l" defTabSz="914391" rtl="0" eaLnBrk="1" fontAlgn="auto" latinLnBrk="0" hangingPunct="1">
                        <a:lnSpc>
                          <a:spcPct val="100000"/>
                        </a:lnSpc>
                        <a:spcBef>
                          <a:spcPts val="0"/>
                        </a:spcBef>
                        <a:spcAft>
                          <a:spcPts val="0"/>
                        </a:spcAft>
                        <a:buClrTx/>
                        <a:buSzTx/>
                        <a:buFontTx/>
                        <a:buNone/>
                        <a:tabLst/>
                        <a:defRPr/>
                      </a:pPr>
                      <a:r>
                        <a:rPr lang="en-IN" sz="1000" b="1" dirty="0"/>
                        <a:t>Mexico</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2781840194"/>
                  </a:ext>
                </a:extLst>
              </a:tr>
              <a:tr h="176291">
                <a:tc>
                  <a:txBody>
                    <a:bodyPr/>
                    <a:lstStyle/>
                    <a:p>
                      <a:r>
                        <a:rPr lang="en-IN" sz="1000" b="1" dirty="0"/>
                        <a:t>Brazil</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913257992"/>
                  </a:ext>
                </a:extLst>
              </a:tr>
              <a:tr h="176291">
                <a:tc>
                  <a:txBody>
                    <a:bodyPr/>
                    <a:lstStyle/>
                    <a:p>
                      <a:r>
                        <a:rPr lang="en-IN" sz="1000" b="1" dirty="0"/>
                        <a:t>Chile</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1263828269"/>
                  </a:ext>
                </a:extLst>
              </a:tr>
              <a:tr h="176291">
                <a:tc>
                  <a:txBody>
                    <a:bodyPr/>
                    <a:lstStyle/>
                    <a:p>
                      <a:r>
                        <a:rPr lang="en-IN" sz="1000" b="1" dirty="0"/>
                        <a:t>Germany</a:t>
                      </a:r>
                    </a:p>
                  </a:txBody>
                  <a:tcPr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3649576442"/>
                  </a:ext>
                </a:extLst>
              </a:tr>
              <a:tr h="176291">
                <a:tc>
                  <a:txBody>
                    <a:bodyPr/>
                    <a:lstStyle/>
                    <a:p>
                      <a:r>
                        <a:rPr lang="en-IN" sz="1000" b="1" dirty="0"/>
                        <a:t>Italy</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1293921257"/>
                  </a:ext>
                </a:extLst>
              </a:tr>
              <a:tr h="176291">
                <a:tc>
                  <a:txBody>
                    <a:bodyPr/>
                    <a:lstStyle/>
                    <a:p>
                      <a:r>
                        <a:rPr lang="en-IN" sz="1000" b="1" dirty="0"/>
                        <a:t>France</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129728523"/>
                  </a:ext>
                </a:extLst>
              </a:tr>
              <a:tr h="176291">
                <a:tc>
                  <a:txBody>
                    <a:bodyPr/>
                    <a:lstStyle/>
                    <a:p>
                      <a:r>
                        <a:rPr lang="en-IN" sz="1000" b="1" dirty="0"/>
                        <a:t>U.K.</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4148965617"/>
                  </a:ext>
                </a:extLst>
              </a:tr>
              <a:tr h="176291">
                <a:tc>
                  <a:txBody>
                    <a:bodyPr/>
                    <a:lstStyle/>
                    <a:p>
                      <a:r>
                        <a:rPr lang="en-IN" sz="1000" b="1" dirty="0"/>
                        <a:t>Spain</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4028117253"/>
                  </a:ext>
                </a:extLst>
              </a:tr>
              <a:tr h="176291">
                <a:tc>
                  <a:txBody>
                    <a:bodyPr/>
                    <a:lstStyle/>
                    <a:p>
                      <a:r>
                        <a:rPr lang="en-IN" sz="1000" b="1" dirty="0"/>
                        <a:t>BENELUX</a:t>
                      </a:r>
                    </a:p>
                  </a:txBody>
                  <a:tcPr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4079420305"/>
                  </a:ext>
                </a:extLst>
              </a:tr>
              <a:tr h="176291">
                <a:tc>
                  <a:txBody>
                    <a:bodyPr/>
                    <a:lstStyle/>
                    <a:p>
                      <a:r>
                        <a:rPr lang="en-IN" sz="1000" b="1" dirty="0"/>
                        <a:t>Nordics</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3254633235"/>
                  </a:ext>
                </a:extLst>
              </a:tr>
              <a:tr h="176291">
                <a:tc>
                  <a:txBody>
                    <a:bodyPr/>
                    <a:lstStyle/>
                    <a:p>
                      <a:r>
                        <a:rPr lang="en-IN" sz="1000" b="1" dirty="0"/>
                        <a:t>Russia</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1582340407"/>
                  </a:ext>
                </a:extLst>
              </a:tr>
              <a:tr h="176291">
                <a:tc>
                  <a:txBody>
                    <a:bodyPr/>
                    <a:lstStyle/>
                    <a:p>
                      <a:r>
                        <a:rPr lang="en-IN" sz="1000" b="1" dirty="0"/>
                        <a:t>Poland</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1365434393"/>
                  </a:ext>
                </a:extLst>
              </a:tr>
              <a:tr h="176291">
                <a:tc>
                  <a:txBody>
                    <a:bodyPr/>
                    <a:lstStyle/>
                    <a:p>
                      <a:r>
                        <a:rPr lang="en-IN" sz="1000" b="1" dirty="0"/>
                        <a:t>Hungary</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3964148832"/>
                  </a:ext>
                </a:extLst>
              </a:tr>
              <a:tr h="176291">
                <a:tc>
                  <a:txBody>
                    <a:bodyPr/>
                    <a:lstStyle/>
                    <a:p>
                      <a:r>
                        <a:rPr lang="en-IN" sz="1000" b="1" dirty="0"/>
                        <a:t>Balkan &amp; Baltics</a:t>
                      </a:r>
                    </a:p>
                  </a:txBody>
                  <a:tcPr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3178660319"/>
                  </a:ext>
                </a:extLst>
              </a:tr>
              <a:tr h="176291">
                <a:tc>
                  <a:txBody>
                    <a:bodyPr/>
                    <a:lstStyle/>
                    <a:p>
                      <a:r>
                        <a:rPr lang="en-IN" sz="1000" b="1" dirty="0"/>
                        <a:t>China</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4268134844"/>
                  </a:ext>
                </a:extLst>
              </a:tr>
              <a:tr h="176291">
                <a:tc>
                  <a:txBody>
                    <a:bodyPr/>
                    <a:lstStyle/>
                    <a:p>
                      <a:r>
                        <a:rPr lang="en-IN" sz="1000" b="1" dirty="0"/>
                        <a:t>Japan</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3147379531"/>
                  </a:ext>
                </a:extLst>
              </a:tr>
              <a:tr h="176291">
                <a:tc>
                  <a:txBody>
                    <a:bodyPr/>
                    <a:lstStyle/>
                    <a:p>
                      <a:r>
                        <a:rPr lang="en-IN" sz="1000" b="1" dirty="0"/>
                        <a:t>South Korea</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1798370529"/>
                  </a:ext>
                </a:extLst>
              </a:tr>
              <a:tr h="148601">
                <a:tc>
                  <a:txBody>
                    <a:bodyPr/>
                    <a:lstStyle/>
                    <a:p>
                      <a:r>
                        <a:rPr lang="en-IN" sz="1000" b="1" dirty="0"/>
                        <a:t>India</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1023819029"/>
                  </a:ext>
                </a:extLst>
              </a:tr>
              <a:tr h="148601">
                <a:tc>
                  <a:txBody>
                    <a:bodyPr/>
                    <a:lstStyle/>
                    <a:p>
                      <a:r>
                        <a:rPr lang="en-IN" sz="1000" b="1" dirty="0"/>
                        <a:t>Australia &amp; New Zealand</a:t>
                      </a:r>
                    </a:p>
                  </a:txBody>
                  <a:tcPr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2939286280"/>
                  </a:ext>
                </a:extLst>
              </a:tr>
              <a:tr h="176291">
                <a:tc>
                  <a:txBody>
                    <a:bodyPr/>
                    <a:lstStyle/>
                    <a:p>
                      <a:r>
                        <a:rPr lang="en-IN" sz="1000" b="1" dirty="0"/>
                        <a:t>ASEAN</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2705733231"/>
                  </a:ext>
                </a:extLst>
              </a:tr>
              <a:tr h="176291">
                <a:tc>
                  <a:txBody>
                    <a:bodyPr/>
                    <a:lstStyle/>
                    <a:p>
                      <a:r>
                        <a:rPr lang="en-IN" sz="1000" b="1" dirty="0"/>
                        <a:t>KSA</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4049511850"/>
                  </a:ext>
                </a:extLst>
              </a:tr>
              <a:tr h="176291">
                <a:tc>
                  <a:txBody>
                    <a:bodyPr/>
                    <a:lstStyle/>
                    <a:p>
                      <a:r>
                        <a:rPr lang="en-IN" sz="1000" b="1" dirty="0"/>
                        <a:t>Other GCC</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405215675"/>
                  </a:ext>
                </a:extLst>
              </a:tr>
              <a:tr h="176291">
                <a:tc>
                  <a:txBody>
                    <a:bodyPr/>
                    <a:lstStyle/>
                    <a:p>
                      <a:r>
                        <a:rPr lang="en-IN" sz="1000" b="1" dirty="0" err="1"/>
                        <a:t>Türkiye</a:t>
                      </a:r>
                      <a:endParaRPr lang="en-IN" sz="1000" b="1" dirty="0"/>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971059705"/>
                  </a:ext>
                </a:extLst>
              </a:tr>
              <a:tr h="176291">
                <a:tc>
                  <a:txBody>
                    <a:bodyPr/>
                    <a:lstStyle/>
                    <a:p>
                      <a:r>
                        <a:rPr lang="en-IN" sz="1000" b="1" dirty="0"/>
                        <a:t>South Africa</a:t>
                      </a:r>
                    </a:p>
                  </a:txBody>
                  <a:tcPr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3629848451"/>
                  </a:ext>
                </a:extLst>
              </a:tr>
              <a:tr h="176291">
                <a:tc>
                  <a:txBody>
                    <a:bodyPr/>
                    <a:lstStyle/>
                    <a:p>
                      <a:r>
                        <a:rPr lang="en-IN" sz="1000" b="1" dirty="0"/>
                        <a:t>Other African Union</a:t>
                      </a:r>
                    </a:p>
                  </a:txBody>
                  <a:tcPr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lang="en-IN" sz="1000" dirty="0"/>
                    </a:p>
                  </a:txBody>
                  <a:tcPr marL="0" marR="0" marT="0" marB="0" anchor="ctr"/>
                </a:tc>
                <a:extLst>
                  <a:ext uri="{0D108BD9-81ED-4DB2-BD59-A6C34878D82A}">
                    <a16:rowId xmlns:a16="http://schemas.microsoft.com/office/drawing/2014/main" val="2269110633"/>
                  </a:ext>
                </a:extLst>
              </a:tr>
            </a:tbl>
          </a:graphicData>
        </a:graphic>
      </p:graphicFrame>
      <p:sp>
        <p:nvSpPr>
          <p:cNvPr id="7" name="TextBox 6"/>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4" name="Slide Number Placeholder 3"/>
          <p:cNvSpPr>
            <a:spLocks noGrp="1"/>
          </p:cNvSpPr>
          <p:nvPr>
            <p:ph type="sldNum" sz="quarter" idx="4"/>
          </p:nvPr>
        </p:nvSpPr>
        <p:spPr/>
        <p:txBody>
          <a:bodyPr/>
          <a:lstStyle/>
          <a:p>
            <a:fld id="{4B17068C-EB94-40A3-A5F2-664CDD77FDAC}" type="slidenum">
              <a:rPr lang="en-GB" smtClean="0"/>
              <a:pPr/>
              <a:t>243</a:t>
            </a:fld>
            <a:endParaRPr lang="en-GB" dirty="0"/>
          </a:p>
        </p:txBody>
      </p:sp>
    </p:spTree>
    <p:extLst>
      <p:ext uri="{BB962C8B-B14F-4D97-AF65-F5344CB8AC3E}">
        <p14:creationId xmlns:p14="http://schemas.microsoft.com/office/powerpoint/2010/main" val="3078816818"/>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dirty="0"/>
              <a:t>North America Country-wise WXYZ Market Size (US$ </a:t>
            </a:r>
            <a:r>
              <a:rPr lang="en-US" dirty="0" err="1"/>
              <a:t>Mn</a:t>
            </a:r>
            <a:r>
              <a:rPr lang="en-US" dirty="0"/>
              <a:t>), 2024 and 2034</a:t>
            </a:r>
            <a:r>
              <a:rPr lang="en-IN" dirty="0"/>
              <a:t> (1/7)</a:t>
            </a:r>
            <a:endParaRPr lang="en-US" dirty="0"/>
          </a:p>
        </p:txBody>
      </p:sp>
      <p:sp>
        <p:nvSpPr>
          <p:cNvPr id="17" name="TextBox 16"/>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3" name="Table 2"/>
          <p:cNvGraphicFramePr>
            <a:graphicFrameLocks noGrp="1"/>
          </p:cNvGraphicFramePr>
          <p:nvPr>
            <p:extLst>
              <p:ext uri="{D42A27DB-BD31-4B8C-83A1-F6EECF244321}">
                <p14:modId xmlns:p14="http://schemas.microsoft.com/office/powerpoint/2010/main" val="1791759331"/>
              </p:ext>
            </p:extLst>
          </p:nvPr>
        </p:nvGraphicFramePr>
        <p:xfrm>
          <a:off x="134000" y="1090383"/>
          <a:ext cx="11905602" cy="5053873"/>
        </p:xfrm>
        <a:graphic>
          <a:graphicData uri="http://schemas.openxmlformats.org/drawingml/2006/table">
            <a:tbl>
              <a:tblPr firstRow="1" bandRow="1">
                <a:tableStyleId>{5C22544A-7EE6-4342-B048-85BDC9FD1C3A}</a:tableStyleId>
              </a:tblPr>
              <a:tblGrid>
                <a:gridCol w="3045660">
                  <a:extLst>
                    <a:ext uri="{9D8B030D-6E8A-4147-A177-3AD203B41FA5}">
                      <a16:colId xmlns:a16="http://schemas.microsoft.com/office/drawing/2014/main" val="2222231777"/>
                    </a:ext>
                  </a:extLst>
                </a:gridCol>
                <a:gridCol w="1476657">
                  <a:extLst>
                    <a:ext uri="{9D8B030D-6E8A-4147-A177-3AD203B41FA5}">
                      <a16:colId xmlns:a16="http://schemas.microsoft.com/office/drawing/2014/main" val="4186392816"/>
                    </a:ext>
                  </a:extLst>
                </a:gridCol>
                <a:gridCol w="1476657">
                  <a:extLst>
                    <a:ext uri="{9D8B030D-6E8A-4147-A177-3AD203B41FA5}">
                      <a16:colId xmlns:a16="http://schemas.microsoft.com/office/drawing/2014/main" val="1720682628"/>
                    </a:ext>
                  </a:extLst>
                </a:gridCol>
                <a:gridCol w="1476657">
                  <a:extLst>
                    <a:ext uri="{9D8B030D-6E8A-4147-A177-3AD203B41FA5}">
                      <a16:colId xmlns:a16="http://schemas.microsoft.com/office/drawing/2014/main" val="44557383"/>
                    </a:ext>
                  </a:extLst>
                </a:gridCol>
                <a:gridCol w="1476657">
                  <a:extLst>
                    <a:ext uri="{9D8B030D-6E8A-4147-A177-3AD203B41FA5}">
                      <a16:colId xmlns:a16="http://schemas.microsoft.com/office/drawing/2014/main" val="344161621"/>
                    </a:ext>
                  </a:extLst>
                </a:gridCol>
                <a:gridCol w="1476657">
                  <a:extLst>
                    <a:ext uri="{9D8B030D-6E8A-4147-A177-3AD203B41FA5}">
                      <a16:colId xmlns:a16="http://schemas.microsoft.com/office/drawing/2014/main" val="1086447286"/>
                    </a:ext>
                  </a:extLst>
                </a:gridCol>
                <a:gridCol w="1476657">
                  <a:extLst>
                    <a:ext uri="{9D8B030D-6E8A-4147-A177-3AD203B41FA5}">
                      <a16:colId xmlns:a16="http://schemas.microsoft.com/office/drawing/2014/main" val="3168125921"/>
                    </a:ext>
                  </a:extLst>
                </a:gridCol>
              </a:tblGrid>
              <a:tr h="264567">
                <a:tc>
                  <a:txBody>
                    <a:bodyPr/>
                    <a:lstStyle/>
                    <a:p>
                      <a:pPr marL="0" algn="l" defTabSz="914391" rtl="0" eaLnBrk="1" fontAlgn="ctr" latinLnBrk="0" hangingPunct="1"/>
                      <a:endParaRPr lang="en-IN" sz="12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U.S.</a:t>
                      </a: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Canada</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Mexico</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extLst>
                  <a:ext uri="{0D108BD9-81ED-4DB2-BD59-A6C34878D82A}">
                    <a16:rowId xmlns:a16="http://schemas.microsoft.com/office/drawing/2014/main" val="293977139"/>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CategoryA</a:t>
                      </a:r>
                      <a:endParaRPr lang="en-IN" sz="1200" u="none" strike="noStrike" kern="1200" dirty="0">
                        <a:solidFill>
                          <a:schemeClr val="bg1"/>
                        </a:solidFill>
                        <a:effectLst/>
                        <a:latin typeface="+mn-lt"/>
                        <a:ea typeface="+mn-ea"/>
                        <a:cs typeface="+mn-cs"/>
                      </a:endParaRPr>
                    </a:p>
                  </a:txBody>
                  <a:tcPr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3927799519"/>
                  </a:ext>
                </a:extLst>
              </a:tr>
              <a:tr h="185506">
                <a:tc>
                  <a:txBody>
                    <a:bodyPr/>
                    <a:lstStyle/>
                    <a:p>
                      <a:pPr algn="ctr" fontAlgn="ctr"/>
                      <a:r>
                        <a:rPr lang="en-IN" sz="1100" u="none" strike="noStrike" dirty="0">
                          <a:effectLst/>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09263494"/>
                  </a:ext>
                </a:extLst>
              </a:tr>
              <a:tr h="170866">
                <a:tc>
                  <a:txBody>
                    <a:bodyPr/>
                    <a:lstStyle/>
                    <a:p>
                      <a:pPr algn="ctr" fontAlgn="ctr"/>
                      <a:r>
                        <a:rPr lang="en-IN" sz="1100" u="none" strike="noStrike" dirty="0">
                          <a:effectLst/>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1996776414"/>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CategoryB</a:t>
                      </a:r>
                      <a:endParaRPr lang="en-IN" sz="1200" u="none" strike="noStrike" kern="1200" dirty="0">
                        <a:solidFill>
                          <a:schemeClr val="bg1"/>
                        </a:solidFill>
                        <a:effectLst/>
                        <a:latin typeface="+mn-lt"/>
                        <a:ea typeface="+mn-ea"/>
                        <a:cs typeface="+mn-cs"/>
                      </a:endParaRPr>
                    </a:p>
                  </a:txBody>
                  <a:tcPr marL="9525" marR="9525" marT="9525"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105015857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957402620"/>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242372702"/>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455769883"/>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9101000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410030643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3981031952"/>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CategoryC</a:t>
                      </a:r>
                      <a:endParaRPr lang="en-IN" sz="1200" u="none" strike="noStrike" kern="1200" dirty="0">
                        <a:solidFill>
                          <a:schemeClr val="bg1"/>
                        </a:solidFill>
                        <a:effectLst/>
                        <a:latin typeface="+mn-lt"/>
                        <a:ea typeface="+mn-ea"/>
                        <a:cs typeface="+mn-cs"/>
                      </a:endParaRPr>
                    </a:p>
                  </a:txBody>
                  <a:tcPr marL="9525" marR="9525" marT="9525"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2778005502"/>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8581785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412377524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262143951"/>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CategoryD</a:t>
                      </a:r>
                      <a:endParaRPr lang="en-IN" sz="1200" u="none" strike="noStrike" kern="1200" dirty="0">
                        <a:solidFill>
                          <a:schemeClr val="bg1"/>
                        </a:solidFill>
                        <a:effectLst/>
                        <a:latin typeface="+mn-lt"/>
                        <a:ea typeface="+mn-ea"/>
                        <a:cs typeface="+mn-cs"/>
                      </a:endParaRPr>
                    </a:p>
                  </a:txBody>
                  <a:tcPr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210623656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37923991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3434832020"/>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71431154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64172123"/>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94689353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106682958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401960168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09006649"/>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870920831"/>
                  </a:ext>
                </a:extLst>
              </a:tr>
            </a:tbl>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244</a:t>
            </a:fld>
            <a:endParaRPr lang="en-GB" dirty="0"/>
          </a:p>
        </p:txBody>
      </p:sp>
    </p:spTree>
    <p:extLst>
      <p:ext uri="{BB962C8B-B14F-4D97-AF65-F5344CB8AC3E}">
        <p14:creationId xmlns:p14="http://schemas.microsoft.com/office/powerpoint/2010/main" val="3275060013"/>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dirty="0"/>
              <a:t>Latin America Country-wise WXYZ Market Size (US$ </a:t>
            </a:r>
            <a:r>
              <a:rPr lang="en-US" dirty="0" err="1"/>
              <a:t>Mn</a:t>
            </a:r>
            <a:r>
              <a:rPr lang="en-US" dirty="0"/>
              <a:t>), 2024 and 2034</a:t>
            </a:r>
            <a:r>
              <a:rPr lang="en-IN" dirty="0"/>
              <a:t> (2/7)</a:t>
            </a:r>
            <a:endParaRPr lang="en-US" dirty="0"/>
          </a:p>
        </p:txBody>
      </p:sp>
      <p:sp>
        <p:nvSpPr>
          <p:cNvPr id="17" name="TextBox 16"/>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3" name="Table 2"/>
          <p:cNvGraphicFramePr>
            <a:graphicFrameLocks noGrp="1"/>
          </p:cNvGraphicFramePr>
          <p:nvPr/>
        </p:nvGraphicFramePr>
        <p:xfrm>
          <a:off x="134000" y="1090383"/>
          <a:ext cx="11905599" cy="5053873"/>
        </p:xfrm>
        <a:graphic>
          <a:graphicData uri="http://schemas.openxmlformats.org/drawingml/2006/table">
            <a:tbl>
              <a:tblPr firstRow="1" bandRow="1">
                <a:tableStyleId>{5C22544A-7EE6-4342-B048-85BDC9FD1C3A}</a:tableStyleId>
              </a:tblPr>
              <a:tblGrid>
                <a:gridCol w="4050407">
                  <a:extLst>
                    <a:ext uri="{9D8B030D-6E8A-4147-A177-3AD203B41FA5}">
                      <a16:colId xmlns:a16="http://schemas.microsoft.com/office/drawing/2014/main" val="2222231777"/>
                    </a:ext>
                  </a:extLst>
                </a:gridCol>
                <a:gridCol w="1963798">
                  <a:extLst>
                    <a:ext uri="{9D8B030D-6E8A-4147-A177-3AD203B41FA5}">
                      <a16:colId xmlns:a16="http://schemas.microsoft.com/office/drawing/2014/main" val="4186392816"/>
                    </a:ext>
                  </a:extLst>
                </a:gridCol>
                <a:gridCol w="1963798">
                  <a:extLst>
                    <a:ext uri="{9D8B030D-6E8A-4147-A177-3AD203B41FA5}">
                      <a16:colId xmlns:a16="http://schemas.microsoft.com/office/drawing/2014/main" val="1720682628"/>
                    </a:ext>
                  </a:extLst>
                </a:gridCol>
                <a:gridCol w="1963798">
                  <a:extLst>
                    <a:ext uri="{9D8B030D-6E8A-4147-A177-3AD203B41FA5}">
                      <a16:colId xmlns:a16="http://schemas.microsoft.com/office/drawing/2014/main" val="44557383"/>
                    </a:ext>
                  </a:extLst>
                </a:gridCol>
                <a:gridCol w="1963798">
                  <a:extLst>
                    <a:ext uri="{9D8B030D-6E8A-4147-A177-3AD203B41FA5}">
                      <a16:colId xmlns:a16="http://schemas.microsoft.com/office/drawing/2014/main" val="344161621"/>
                    </a:ext>
                  </a:extLst>
                </a:gridCol>
              </a:tblGrid>
              <a:tr h="264567">
                <a:tc>
                  <a:txBody>
                    <a:bodyPr/>
                    <a:lstStyle/>
                    <a:p>
                      <a:pPr marL="0" algn="l" defTabSz="914391" rtl="0" eaLnBrk="1" fontAlgn="ctr" latinLnBrk="0" hangingPunct="1"/>
                      <a:endParaRPr lang="en-IN" sz="12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Brazil</a:t>
                      </a: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Chile</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extLst>
                  <a:ext uri="{0D108BD9-81ED-4DB2-BD59-A6C34878D82A}">
                    <a16:rowId xmlns:a16="http://schemas.microsoft.com/office/drawing/2014/main" val="293977139"/>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CategoryA</a:t>
                      </a:r>
                      <a:endParaRPr lang="en-IN" sz="1200" u="none" strike="noStrike" kern="1200" dirty="0">
                        <a:solidFill>
                          <a:schemeClr val="bg1"/>
                        </a:solidFill>
                        <a:effectLst/>
                        <a:latin typeface="+mn-lt"/>
                        <a:ea typeface="+mn-ea"/>
                        <a:cs typeface="+mn-cs"/>
                      </a:endParaRPr>
                    </a:p>
                  </a:txBody>
                  <a:tcPr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3927799519"/>
                  </a:ext>
                </a:extLst>
              </a:tr>
              <a:tr h="185506">
                <a:tc>
                  <a:txBody>
                    <a:bodyPr/>
                    <a:lstStyle/>
                    <a:p>
                      <a:pPr algn="ctr" fontAlgn="ctr"/>
                      <a:r>
                        <a:rPr lang="en-IN" sz="1100" u="none" strike="noStrike" dirty="0">
                          <a:effectLst/>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09263494"/>
                  </a:ext>
                </a:extLst>
              </a:tr>
              <a:tr h="170866">
                <a:tc>
                  <a:txBody>
                    <a:bodyPr/>
                    <a:lstStyle/>
                    <a:p>
                      <a:pPr algn="ctr" fontAlgn="ctr"/>
                      <a:r>
                        <a:rPr lang="en-IN" sz="1100" u="none" strike="noStrike" dirty="0">
                          <a:effectLst/>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1996776414"/>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CategoryB</a:t>
                      </a:r>
                      <a:endParaRPr lang="en-IN" sz="1200" u="none" strike="noStrike" kern="1200" dirty="0">
                        <a:solidFill>
                          <a:schemeClr val="bg1"/>
                        </a:solidFill>
                        <a:effectLst/>
                        <a:latin typeface="+mn-lt"/>
                        <a:ea typeface="+mn-ea"/>
                        <a:cs typeface="+mn-cs"/>
                      </a:endParaRPr>
                    </a:p>
                  </a:txBody>
                  <a:tcPr marL="9525" marR="9525" marT="9525"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105015857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957402620"/>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242372702"/>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455769883"/>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9101000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410030643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3981031952"/>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CategoryC</a:t>
                      </a:r>
                      <a:endParaRPr lang="en-IN" sz="1200" u="none" strike="noStrike" kern="1200" dirty="0">
                        <a:solidFill>
                          <a:schemeClr val="bg1"/>
                        </a:solidFill>
                        <a:effectLst/>
                        <a:latin typeface="+mn-lt"/>
                        <a:ea typeface="+mn-ea"/>
                        <a:cs typeface="+mn-cs"/>
                      </a:endParaRPr>
                    </a:p>
                  </a:txBody>
                  <a:tcPr marL="9525" marR="9525" marT="9525"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2778005502"/>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8581785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412377524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262143951"/>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CategoryD</a:t>
                      </a:r>
                      <a:endParaRPr lang="en-IN" sz="1200" u="none" strike="noStrike" kern="1200" dirty="0">
                        <a:solidFill>
                          <a:schemeClr val="bg1"/>
                        </a:solidFill>
                        <a:effectLst/>
                        <a:latin typeface="+mn-lt"/>
                        <a:ea typeface="+mn-ea"/>
                        <a:cs typeface="+mn-cs"/>
                      </a:endParaRPr>
                    </a:p>
                  </a:txBody>
                  <a:tcPr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210623656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37923991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3434832020"/>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71431154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64172123"/>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94689353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106682958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401960168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09006649"/>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870920831"/>
                  </a:ext>
                </a:extLst>
              </a:tr>
            </a:tbl>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245</a:t>
            </a:fld>
            <a:endParaRPr lang="en-GB" dirty="0"/>
          </a:p>
        </p:txBody>
      </p:sp>
    </p:spTree>
    <p:extLst>
      <p:ext uri="{BB962C8B-B14F-4D97-AF65-F5344CB8AC3E}">
        <p14:creationId xmlns:p14="http://schemas.microsoft.com/office/powerpoint/2010/main" val="1302242103"/>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dirty="0"/>
              <a:t>Western Europe Country-wise WXYZ Market Size (US$ </a:t>
            </a:r>
            <a:r>
              <a:rPr lang="en-US" dirty="0" err="1"/>
              <a:t>Mn</a:t>
            </a:r>
            <a:r>
              <a:rPr lang="en-US" dirty="0"/>
              <a:t>), 2024 and 2034</a:t>
            </a:r>
            <a:r>
              <a:rPr lang="en-IN" dirty="0"/>
              <a:t> (3/7)</a:t>
            </a:r>
            <a:endParaRPr lang="en-US" dirty="0"/>
          </a:p>
        </p:txBody>
      </p:sp>
      <p:sp>
        <p:nvSpPr>
          <p:cNvPr id="17" name="TextBox 16"/>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6" name="Table 5"/>
          <p:cNvGraphicFramePr>
            <a:graphicFrameLocks noGrp="1"/>
          </p:cNvGraphicFramePr>
          <p:nvPr/>
        </p:nvGraphicFramePr>
        <p:xfrm>
          <a:off x="134000" y="1090383"/>
          <a:ext cx="11905601" cy="5053873"/>
        </p:xfrm>
        <a:graphic>
          <a:graphicData uri="http://schemas.openxmlformats.org/drawingml/2006/table">
            <a:tbl>
              <a:tblPr firstRow="1" bandRow="1">
                <a:tableStyleId>{5C22544A-7EE6-4342-B048-85BDC9FD1C3A}</a:tableStyleId>
              </a:tblPr>
              <a:tblGrid>
                <a:gridCol w="1528759">
                  <a:extLst>
                    <a:ext uri="{9D8B030D-6E8A-4147-A177-3AD203B41FA5}">
                      <a16:colId xmlns:a16="http://schemas.microsoft.com/office/drawing/2014/main" val="2222231777"/>
                    </a:ext>
                  </a:extLst>
                </a:gridCol>
                <a:gridCol w="741203">
                  <a:extLst>
                    <a:ext uri="{9D8B030D-6E8A-4147-A177-3AD203B41FA5}">
                      <a16:colId xmlns:a16="http://schemas.microsoft.com/office/drawing/2014/main" val="4186392816"/>
                    </a:ext>
                  </a:extLst>
                </a:gridCol>
                <a:gridCol w="741203">
                  <a:extLst>
                    <a:ext uri="{9D8B030D-6E8A-4147-A177-3AD203B41FA5}">
                      <a16:colId xmlns:a16="http://schemas.microsoft.com/office/drawing/2014/main" val="1720682628"/>
                    </a:ext>
                  </a:extLst>
                </a:gridCol>
                <a:gridCol w="741203">
                  <a:extLst>
                    <a:ext uri="{9D8B030D-6E8A-4147-A177-3AD203B41FA5}">
                      <a16:colId xmlns:a16="http://schemas.microsoft.com/office/drawing/2014/main" val="3741465050"/>
                    </a:ext>
                  </a:extLst>
                </a:gridCol>
                <a:gridCol w="741203">
                  <a:extLst>
                    <a:ext uri="{9D8B030D-6E8A-4147-A177-3AD203B41FA5}">
                      <a16:colId xmlns:a16="http://schemas.microsoft.com/office/drawing/2014/main" val="1682527837"/>
                    </a:ext>
                  </a:extLst>
                </a:gridCol>
                <a:gridCol w="741203">
                  <a:extLst>
                    <a:ext uri="{9D8B030D-6E8A-4147-A177-3AD203B41FA5}">
                      <a16:colId xmlns:a16="http://schemas.microsoft.com/office/drawing/2014/main" val="1392100709"/>
                    </a:ext>
                  </a:extLst>
                </a:gridCol>
                <a:gridCol w="741203">
                  <a:extLst>
                    <a:ext uri="{9D8B030D-6E8A-4147-A177-3AD203B41FA5}">
                      <a16:colId xmlns:a16="http://schemas.microsoft.com/office/drawing/2014/main" val="2923837541"/>
                    </a:ext>
                  </a:extLst>
                </a:gridCol>
                <a:gridCol w="741203">
                  <a:extLst>
                    <a:ext uri="{9D8B030D-6E8A-4147-A177-3AD203B41FA5}">
                      <a16:colId xmlns:a16="http://schemas.microsoft.com/office/drawing/2014/main" val="2186165379"/>
                    </a:ext>
                  </a:extLst>
                </a:gridCol>
                <a:gridCol w="741203">
                  <a:extLst>
                    <a:ext uri="{9D8B030D-6E8A-4147-A177-3AD203B41FA5}">
                      <a16:colId xmlns:a16="http://schemas.microsoft.com/office/drawing/2014/main" val="689966615"/>
                    </a:ext>
                  </a:extLst>
                </a:gridCol>
                <a:gridCol w="741203">
                  <a:extLst>
                    <a:ext uri="{9D8B030D-6E8A-4147-A177-3AD203B41FA5}">
                      <a16:colId xmlns:a16="http://schemas.microsoft.com/office/drawing/2014/main" val="44557383"/>
                    </a:ext>
                  </a:extLst>
                </a:gridCol>
                <a:gridCol w="741203">
                  <a:extLst>
                    <a:ext uri="{9D8B030D-6E8A-4147-A177-3AD203B41FA5}">
                      <a16:colId xmlns:a16="http://schemas.microsoft.com/office/drawing/2014/main" val="344161621"/>
                    </a:ext>
                  </a:extLst>
                </a:gridCol>
                <a:gridCol w="741203">
                  <a:extLst>
                    <a:ext uri="{9D8B030D-6E8A-4147-A177-3AD203B41FA5}">
                      <a16:colId xmlns:a16="http://schemas.microsoft.com/office/drawing/2014/main" val="3197891694"/>
                    </a:ext>
                  </a:extLst>
                </a:gridCol>
                <a:gridCol w="741203">
                  <a:extLst>
                    <a:ext uri="{9D8B030D-6E8A-4147-A177-3AD203B41FA5}">
                      <a16:colId xmlns:a16="http://schemas.microsoft.com/office/drawing/2014/main" val="1657780427"/>
                    </a:ext>
                  </a:extLst>
                </a:gridCol>
                <a:gridCol w="741203">
                  <a:extLst>
                    <a:ext uri="{9D8B030D-6E8A-4147-A177-3AD203B41FA5}">
                      <a16:colId xmlns:a16="http://schemas.microsoft.com/office/drawing/2014/main" val="1086447286"/>
                    </a:ext>
                  </a:extLst>
                </a:gridCol>
                <a:gridCol w="741203">
                  <a:extLst>
                    <a:ext uri="{9D8B030D-6E8A-4147-A177-3AD203B41FA5}">
                      <a16:colId xmlns:a16="http://schemas.microsoft.com/office/drawing/2014/main" val="3168125921"/>
                    </a:ext>
                  </a:extLst>
                </a:gridCol>
              </a:tblGrid>
              <a:tr h="264567">
                <a:tc>
                  <a:txBody>
                    <a:bodyPr/>
                    <a:lstStyle/>
                    <a:p>
                      <a:pPr marL="0" algn="l" defTabSz="914391" rtl="0" eaLnBrk="1" fontAlgn="ctr" latinLnBrk="0" hangingPunct="1"/>
                      <a:endParaRPr lang="en-IN" sz="12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algn="ctr" rtl="0" fontAlgn="ctr"/>
                      <a:r>
                        <a:rPr lang="en-IN" sz="1100" u="none" strike="noStrike" dirty="0">
                          <a:effectLst/>
                        </a:rPr>
                        <a:t>Germany</a:t>
                      </a:r>
                      <a:endParaRPr lang="en-IN" sz="1100" b="1" i="0" u="none" strike="noStrike" dirty="0">
                        <a:solidFill>
                          <a:srgbClr val="FFFFFF"/>
                        </a:solidFill>
                        <a:effectLst/>
                        <a:latin typeface="Calibri" panose="020F0502020204030204" pitchFamily="34" charset="0"/>
                      </a:endParaRPr>
                    </a:p>
                  </a:txBody>
                  <a:tcPr marL="8512" marR="8512" marT="8512" marB="0" anchor="ctr"/>
                </a:tc>
                <a:tc hMerge="1">
                  <a:txBody>
                    <a:bodyPr/>
                    <a:lstStyle/>
                    <a:p>
                      <a:endParaRPr lang="en-IN"/>
                    </a:p>
                  </a:txBody>
                  <a:tcPr/>
                </a:tc>
                <a:tc gridSpan="2">
                  <a:txBody>
                    <a:bodyPr/>
                    <a:lstStyle/>
                    <a:p>
                      <a:pPr marL="0" algn="ctr" defTabSz="914391" rtl="0" eaLnBrk="1" fontAlgn="ctr" latinLnBrk="0" hangingPunct="1"/>
                      <a:r>
                        <a:rPr lang="en-US" sz="1200" u="none" strike="noStrike" kern="1200" dirty="0">
                          <a:effectLst/>
                        </a:rPr>
                        <a:t>Italy</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France</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U.K.</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Spain</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BENELUX</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Nordics</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extLst>
                  <a:ext uri="{0D108BD9-81ED-4DB2-BD59-A6C34878D82A}">
                    <a16:rowId xmlns:a16="http://schemas.microsoft.com/office/drawing/2014/main" val="293977139"/>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CategoryA</a:t>
                      </a:r>
                      <a:endParaRPr lang="en-IN" sz="1200" u="none" strike="noStrike" kern="1200" dirty="0">
                        <a:solidFill>
                          <a:schemeClr val="bg1"/>
                        </a:solidFill>
                        <a:effectLst/>
                        <a:latin typeface="+mn-lt"/>
                        <a:ea typeface="+mn-ea"/>
                        <a:cs typeface="+mn-cs"/>
                      </a:endParaRPr>
                    </a:p>
                  </a:txBody>
                  <a:tcPr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3927799519"/>
                  </a:ext>
                </a:extLst>
              </a:tr>
              <a:tr h="185506">
                <a:tc>
                  <a:txBody>
                    <a:bodyPr/>
                    <a:lstStyle/>
                    <a:p>
                      <a:pPr algn="ctr" fontAlgn="ctr"/>
                      <a:r>
                        <a:rPr lang="en-IN" sz="1100" u="none" strike="noStrike" dirty="0">
                          <a:effectLst/>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09263494"/>
                  </a:ext>
                </a:extLst>
              </a:tr>
              <a:tr h="170866">
                <a:tc>
                  <a:txBody>
                    <a:bodyPr/>
                    <a:lstStyle/>
                    <a:p>
                      <a:pPr algn="ctr" fontAlgn="ctr"/>
                      <a:r>
                        <a:rPr lang="en-IN" sz="1100" u="none" strike="noStrike" dirty="0">
                          <a:effectLst/>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1996776414"/>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CategoryB</a:t>
                      </a:r>
                      <a:endParaRPr lang="en-IN" sz="1200" u="none" strike="noStrike" kern="1200" dirty="0">
                        <a:solidFill>
                          <a:schemeClr val="bg1"/>
                        </a:solidFill>
                        <a:effectLst/>
                        <a:latin typeface="+mn-lt"/>
                        <a:ea typeface="+mn-ea"/>
                        <a:cs typeface="+mn-cs"/>
                      </a:endParaRPr>
                    </a:p>
                  </a:txBody>
                  <a:tcPr marL="9525" marR="9525" marT="9525"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105015857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957402620"/>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242372702"/>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455769883"/>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9101000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410030643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3981031952"/>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CategoryC</a:t>
                      </a:r>
                      <a:endParaRPr lang="en-IN" sz="1200" u="none" strike="noStrike" kern="1200" dirty="0">
                        <a:solidFill>
                          <a:schemeClr val="bg1"/>
                        </a:solidFill>
                        <a:effectLst/>
                        <a:latin typeface="+mn-lt"/>
                        <a:ea typeface="+mn-ea"/>
                        <a:cs typeface="+mn-cs"/>
                      </a:endParaRPr>
                    </a:p>
                  </a:txBody>
                  <a:tcPr marL="9525" marR="9525" marT="9525"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2778005502"/>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8581785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412377524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262143951"/>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CategoryD</a:t>
                      </a:r>
                      <a:endParaRPr lang="en-IN" sz="1200" u="none" strike="noStrike" kern="1200" dirty="0">
                        <a:solidFill>
                          <a:schemeClr val="bg1"/>
                        </a:solidFill>
                        <a:effectLst/>
                        <a:latin typeface="+mn-lt"/>
                        <a:ea typeface="+mn-ea"/>
                        <a:cs typeface="+mn-cs"/>
                      </a:endParaRPr>
                    </a:p>
                  </a:txBody>
                  <a:tcPr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210623656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37923991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3434832020"/>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71431154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64172123"/>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94689353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106682958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401960168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09006649"/>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870920831"/>
                  </a:ext>
                </a:extLst>
              </a:tr>
            </a:tbl>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246</a:t>
            </a:fld>
            <a:endParaRPr lang="en-GB" dirty="0"/>
          </a:p>
        </p:txBody>
      </p:sp>
    </p:spTree>
    <p:extLst>
      <p:ext uri="{BB962C8B-B14F-4D97-AF65-F5344CB8AC3E}">
        <p14:creationId xmlns:p14="http://schemas.microsoft.com/office/powerpoint/2010/main" val="3459027148"/>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dirty="0"/>
              <a:t>Eastern Europe Country-wise WXYZ Market Size (US$ </a:t>
            </a:r>
            <a:r>
              <a:rPr lang="en-US" dirty="0" err="1"/>
              <a:t>Mn</a:t>
            </a:r>
            <a:r>
              <a:rPr lang="en-US" dirty="0"/>
              <a:t>), 2024 and 2034</a:t>
            </a:r>
            <a:r>
              <a:rPr lang="en-IN" dirty="0"/>
              <a:t> (4/7)</a:t>
            </a:r>
            <a:endParaRPr lang="en-US" dirty="0"/>
          </a:p>
        </p:txBody>
      </p:sp>
      <p:sp>
        <p:nvSpPr>
          <p:cNvPr id="17" name="TextBox 16"/>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6" name="Table 5"/>
          <p:cNvGraphicFramePr>
            <a:graphicFrameLocks noGrp="1"/>
          </p:cNvGraphicFramePr>
          <p:nvPr/>
        </p:nvGraphicFramePr>
        <p:xfrm>
          <a:off x="134000" y="1090383"/>
          <a:ext cx="11905602" cy="5053873"/>
        </p:xfrm>
        <a:graphic>
          <a:graphicData uri="http://schemas.openxmlformats.org/drawingml/2006/table">
            <a:tbl>
              <a:tblPr firstRow="1" bandRow="1">
                <a:tableStyleId>{5C22544A-7EE6-4342-B048-85BDC9FD1C3A}</a:tableStyleId>
              </a:tblPr>
              <a:tblGrid>
                <a:gridCol w="2440314">
                  <a:extLst>
                    <a:ext uri="{9D8B030D-6E8A-4147-A177-3AD203B41FA5}">
                      <a16:colId xmlns:a16="http://schemas.microsoft.com/office/drawing/2014/main" val="2222231777"/>
                    </a:ext>
                  </a:extLst>
                </a:gridCol>
                <a:gridCol w="1183161">
                  <a:extLst>
                    <a:ext uri="{9D8B030D-6E8A-4147-A177-3AD203B41FA5}">
                      <a16:colId xmlns:a16="http://schemas.microsoft.com/office/drawing/2014/main" val="4186392816"/>
                    </a:ext>
                  </a:extLst>
                </a:gridCol>
                <a:gridCol w="1183161">
                  <a:extLst>
                    <a:ext uri="{9D8B030D-6E8A-4147-A177-3AD203B41FA5}">
                      <a16:colId xmlns:a16="http://schemas.microsoft.com/office/drawing/2014/main" val="1720682628"/>
                    </a:ext>
                  </a:extLst>
                </a:gridCol>
                <a:gridCol w="1183161">
                  <a:extLst>
                    <a:ext uri="{9D8B030D-6E8A-4147-A177-3AD203B41FA5}">
                      <a16:colId xmlns:a16="http://schemas.microsoft.com/office/drawing/2014/main" val="44557383"/>
                    </a:ext>
                  </a:extLst>
                </a:gridCol>
                <a:gridCol w="1183161">
                  <a:extLst>
                    <a:ext uri="{9D8B030D-6E8A-4147-A177-3AD203B41FA5}">
                      <a16:colId xmlns:a16="http://schemas.microsoft.com/office/drawing/2014/main" val="344161621"/>
                    </a:ext>
                  </a:extLst>
                </a:gridCol>
                <a:gridCol w="1183161">
                  <a:extLst>
                    <a:ext uri="{9D8B030D-6E8A-4147-A177-3AD203B41FA5}">
                      <a16:colId xmlns:a16="http://schemas.microsoft.com/office/drawing/2014/main" val="3197891694"/>
                    </a:ext>
                  </a:extLst>
                </a:gridCol>
                <a:gridCol w="1183161">
                  <a:extLst>
                    <a:ext uri="{9D8B030D-6E8A-4147-A177-3AD203B41FA5}">
                      <a16:colId xmlns:a16="http://schemas.microsoft.com/office/drawing/2014/main" val="1657780427"/>
                    </a:ext>
                  </a:extLst>
                </a:gridCol>
                <a:gridCol w="1183161">
                  <a:extLst>
                    <a:ext uri="{9D8B030D-6E8A-4147-A177-3AD203B41FA5}">
                      <a16:colId xmlns:a16="http://schemas.microsoft.com/office/drawing/2014/main" val="1086447286"/>
                    </a:ext>
                  </a:extLst>
                </a:gridCol>
                <a:gridCol w="1183161">
                  <a:extLst>
                    <a:ext uri="{9D8B030D-6E8A-4147-A177-3AD203B41FA5}">
                      <a16:colId xmlns:a16="http://schemas.microsoft.com/office/drawing/2014/main" val="3168125921"/>
                    </a:ext>
                  </a:extLst>
                </a:gridCol>
              </a:tblGrid>
              <a:tr h="264567">
                <a:tc>
                  <a:txBody>
                    <a:bodyPr/>
                    <a:lstStyle/>
                    <a:p>
                      <a:pPr marL="0" algn="l" defTabSz="914391" rtl="0" eaLnBrk="1" fontAlgn="ctr" latinLnBrk="0" hangingPunct="1"/>
                      <a:endParaRPr lang="en-IN" sz="12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Russia</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Poland</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Hungary</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Balkan &amp; Baltics</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extLst>
                  <a:ext uri="{0D108BD9-81ED-4DB2-BD59-A6C34878D82A}">
                    <a16:rowId xmlns:a16="http://schemas.microsoft.com/office/drawing/2014/main" val="293977139"/>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CategoryA</a:t>
                      </a:r>
                      <a:endParaRPr lang="en-IN" sz="1200" u="none" strike="noStrike" kern="1200" dirty="0">
                        <a:solidFill>
                          <a:schemeClr val="bg1"/>
                        </a:solidFill>
                        <a:effectLst/>
                        <a:latin typeface="+mn-lt"/>
                        <a:ea typeface="+mn-ea"/>
                        <a:cs typeface="+mn-cs"/>
                      </a:endParaRPr>
                    </a:p>
                  </a:txBody>
                  <a:tcPr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3927799519"/>
                  </a:ext>
                </a:extLst>
              </a:tr>
              <a:tr h="185506">
                <a:tc>
                  <a:txBody>
                    <a:bodyPr/>
                    <a:lstStyle/>
                    <a:p>
                      <a:pPr algn="ctr" fontAlgn="ctr"/>
                      <a:r>
                        <a:rPr lang="en-IN" sz="1100" u="none" strike="noStrike" dirty="0">
                          <a:effectLst/>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09263494"/>
                  </a:ext>
                </a:extLst>
              </a:tr>
              <a:tr h="170866">
                <a:tc>
                  <a:txBody>
                    <a:bodyPr/>
                    <a:lstStyle/>
                    <a:p>
                      <a:pPr algn="ctr" fontAlgn="ctr"/>
                      <a:r>
                        <a:rPr lang="en-IN" sz="1100" u="none" strike="noStrike" dirty="0">
                          <a:effectLst/>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1996776414"/>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CategoryB</a:t>
                      </a:r>
                      <a:endParaRPr lang="en-IN" sz="1200" u="none" strike="noStrike" kern="1200" dirty="0">
                        <a:solidFill>
                          <a:schemeClr val="bg1"/>
                        </a:solidFill>
                        <a:effectLst/>
                        <a:latin typeface="+mn-lt"/>
                        <a:ea typeface="+mn-ea"/>
                        <a:cs typeface="+mn-cs"/>
                      </a:endParaRPr>
                    </a:p>
                  </a:txBody>
                  <a:tcPr marL="9525" marR="9525" marT="9525"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105015857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957402620"/>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242372702"/>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455769883"/>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9101000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410030643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3981031952"/>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CategoryC</a:t>
                      </a:r>
                      <a:endParaRPr lang="en-IN" sz="1200" u="none" strike="noStrike" kern="1200" dirty="0">
                        <a:solidFill>
                          <a:schemeClr val="bg1"/>
                        </a:solidFill>
                        <a:effectLst/>
                        <a:latin typeface="+mn-lt"/>
                        <a:ea typeface="+mn-ea"/>
                        <a:cs typeface="+mn-cs"/>
                      </a:endParaRPr>
                    </a:p>
                  </a:txBody>
                  <a:tcPr marL="9525" marR="9525" marT="9525"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2778005502"/>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8581785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412377524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262143951"/>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CategoryD</a:t>
                      </a:r>
                      <a:endParaRPr lang="en-IN" sz="1200" u="none" strike="noStrike" kern="1200" dirty="0">
                        <a:solidFill>
                          <a:schemeClr val="bg1"/>
                        </a:solidFill>
                        <a:effectLst/>
                        <a:latin typeface="+mn-lt"/>
                        <a:ea typeface="+mn-ea"/>
                        <a:cs typeface="+mn-cs"/>
                      </a:endParaRPr>
                    </a:p>
                  </a:txBody>
                  <a:tcPr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210623656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37923991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3434832020"/>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71431154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64172123"/>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94689353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106682958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401960168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09006649"/>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870920831"/>
                  </a:ext>
                </a:extLst>
              </a:tr>
            </a:tbl>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247</a:t>
            </a:fld>
            <a:endParaRPr lang="en-GB" dirty="0"/>
          </a:p>
        </p:txBody>
      </p:sp>
    </p:spTree>
    <p:extLst>
      <p:ext uri="{BB962C8B-B14F-4D97-AF65-F5344CB8AC3E}">
        <p14:creationId xmlns:p14="http://schemas.microsoft.com/office/powerpoint/2010/main" val="1652038705"/>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dirty="0"/>
              <a:t>East Asia Country-wise WXYZ Market Size (US$ </a:t>
            </a:r>
            <a:r>
              <a:rPr lang="en-US" dirty="0" err="1"/>
              <a:t>Mn</a:t>
            </a:r>
            <a:r>
              <a:rPr lang="en-US" dirty="0"/>
              <a:t>), 2024 and 2034</a:t>
            </a:r>
            <a:r>
              <a:rPr lang="en-IN" dirty="0"/>
              <a:t> (5/7)</a:t>
            </a:r>
            <a:endParaRPr lang="en-US" dirty="0"/>
          </a:p>
        </p:txBody>
      </p:sp>
      <p:sp>
        <p:nvSpPr>
          <p:cNvPr id="17" name="TextBox 16"/>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3" name="Table 2"/>
          <p:cNvGraphicFramePr>
            <a:graphicFrameLocks noGrp="1"/>
          </p:cNvGraphicFramePr>
          <p:nvPr/>
        </p:nvGraphicFramePr>
        <p:xfrm>
          <a:off x="134000" y="1090383"/>
          <a:ext cx="11905602" cy="5053873"/>
        </p:xfrm>
        <a:graphic>
          <a:graphicData uri="http://schemas.openxmlformats.org/drawingml/2006/table">
            <a:tbl>
              <a:tblPr firstRow="1" bandRow="1">
                <a:tableStyleId>{5C22544A-7EE6-4342-B048-85BDC9FD1C3A}</a:tableStyleId>
              </a:tblPr>
              <a:tblGrid>
                <a:gridCol w="3045660">
                  <a:extLst>
                    <a:ext uri="{9D8B030D-6E8A-4147-A177-3AD203B41FA5}">
                      <a16:colId xmlns:a16="http://schemas.microsoft.com/office/drawing/2014/main" val="2222231777"/>
                    </a:ext>
                  </a:extLst>
                </a:gridCol>
                <a:gridCol w="1476657">
                  <a:extLst>
                    <a:ext uri="{9D8B030D-6E8A-4147-A177-3AD203B41FA5}">
                      <a16:colId xmlns:a16="http://schemas.microsoft.com/office/drawing/2014/main" val="4186392816"/>
                    </a:ext>
                  </a:extLst>
                </a:gridCol>
                <a:gridCol w="1476657">
                  <a:extLst>
                    <a:ext uri="{9D8B030D-6E8A-4147-A177-3AD203B41FA5}">
                      <a16:colId xmlns:a16="http://schemas.microsoft.com/office/drawing/2014/main" val="1720682628"/>
                    </a:ext>
                  </a:extLst>
                </a:gridCol>
                <a:gridCol w="1476657">
                  <a:extLst>
                    <a:ext uri="{9D8B030D-6E8A-4147-A177-3AD203B41FA5}">
                      <a16:colId xmlns:a16="http://schemas.microsoft.com/office/drawing/2014/main" val="44557383"/>
                    </a:ext>
                  </a:extLst>
                </a:gridCol>
                <a:gridCol w="1476657">
                  <a:extLst>
                    <a:ext uri="{9D8B030D-6E8A-4147-A177-3AD203B41FA5}">
                      <a16:colId xmlns:a16="http://schemas.microsoft.com/office/drawing/2014/main" val="344161621"/>
                    </a:ext>
                  </a:extLst>
                </a:gridCol>
                <a:gridCol w="1476657">
                  <a:extLst>
                    <a:ext uri="{9D8B030D-6E8A-4147-A177-3AD203B41FA5}">
                      <a16:colId xmlns:a16="http://schemas.microsoft.com/office/drawing/2014/main" val="1086447286"/>
                    </a:ext>
                  </a:extLst>
                </a:gridCol>
                <a:gridCol w="1476657">
                  <a:extLst>
                    <a:ext uri="{9D8B030D-6E8A-4147-A177-3AD203B41FA5}">
                      <a16:colId xmlns:a16="http://schemas.microsoft.com/office/drawing/2014/main" val="3168125921"/>
                    </a:ext>
                  </a:extLst>
                </a:gridCol>
              </a:tblGrid>
              <a:tr h="264567">
                <a:tc>
                  <a:txBody>
                    <a:bodyPr/>
                    <a:lstStyle/>
                    <a:p>
                      <a:pPr marL="0" algn="l" defTabSz="914391" rtl="0" eaLnBrk="1" fontAlgn="ctr" latinLnBrk="0" hangingPunct="1"/>
                      <a:endParaRPr lang="en-IN" sz="12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China</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Japan</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South Korea</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extLst>
                  <a:ext uri="{0D108BD9-81ED-4DB2-BD59-A6C34878D82A}">
                    <a16:rowId xmlns:a16="http://schemas.microsoft.com/office/drawing/2014/main" val="293977139"/>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CategoryA</a:t>
                      </a:r>
                      <a:endParaRPr lang="en-IN" sz="1200" u="none" strike="noStrike" kern="1200" dirty="0">
                        <a:solidFill>
                          <a:schemeClr val="bg1"/>
                        </a:solidFill>
                        <a:effectLst/>
                        <a:latin typeface="+mn-lt"/>
                        <a:ea typeface="+mn-ea"/>
                        <a:cs typeface="+mn-cs"/>
                      </a:endParaRPr>
                    </a:p>
                  </a:txBody>
                  <a:tcPr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3927799519"/>
                  </a:ext>
                </a:extLst>
              </a:tr>
              <a:tr h="185506">
                <a:tc>
                  <a:txBody>
                    <a:bodyPr/>
                    <a:lstStyle/>
                    <a:p>
                      <a:pPr algn="ctr" fontAlgn="ctr"/>
                      <a:r>
                        <a:rPr lang="en-IN" sz="1100" u="none" strike="noStrike" dirty="0">
                          <a:effectLst/>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09263494"/>
                  </a:ext>
                </a:extLst>
              </a:tr>
              <a:tr h="170866">
                <a:tc>
                  <a:txBody>
                    <a:bodyPr/>
                    <a:lstStyle/>
                    <a:p>
                      <a:pPr algn="ctr" fontAlgn="ctr"/>
                      <a:r>
                        <a:rPr lang="en-IN" sz="1100" u="none" strike="noStrike" dirty="0">
                          <a:effectLst/>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1996776414"/>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CategoryB</a:t>
                      </a:r>
                      <a:endParaRPr lang="en-IN" sz="1200" u="none" strike="noStrike" kern="1200" dirty="0">
                        <a:solidFill>
                          <a:schemeClr val="bg1"/>
                        </a:solidFill>
                        <a:effectLst/>
                        <a:latin typeface="+mn-lt"/>
                        <a:ea typeface="+mn-ea"/>
                        <a:cs typeface="+mn-cs"/>
                      </a:endParaRPr>
                    </a:p>
                  </a:txBody>
                  <a:tcPr marL="9525" marR="9525" marT="9525"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105015857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957402620"/>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242372702"/>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455769883"/>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9101000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410030643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3981031952"/>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CategoryC</a:t>
                      </a:r>
                      <a:endParaRPr lang="en-IN" sz="1200" u="none" strike="noStrike" kern="1200" dirty="0">
                        <a:solidFill>
                          <a:schemeClr val="bg1"/>
                        </a:solidFill>
                        <a:effectLst/>
                        <a:latin typeface="+mn-lt"/>
                        <a:ea typeface="+mn-ea"/>
                        <a:cs typeface="+mn-cs"/>
                      </a:endParaRPr>
                    </a:p>
                  </a:txBody>
                  <a:tcPr marL="9525" marR="9525" marT="9525"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2778005502"/>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8581785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412377524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262143951"/>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CategoryD</a:t>
                      </a:r>
                      <a:endParaRPr lang="en-IN" sz="1200" u="none" strike="noStrike" kern="1200" dirty="0">
                        <a:solidFill>
                          <a:schemeClr val="bg1"/>
                        </a:solidFill>
                        <a:effectLst/>
                        <a:latin typeface="+mn-lt"/>
                        <a:ea typeface="+mn-ea"/>
                        <a:cs typeface="+mn-cs"/>
                      </a:endParaRPr>
                    </a:p>
                  </a:txBody>
                  <a:tcPr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210623656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37923991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3434832020"/>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71431154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64172123"/>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94689353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106682958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401960168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09006649"/>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870920831"/>
                  </a:ext>
                </a:extLst>
              </a:tr>
            </a:tbl>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248</a:t>
            </a:fld>
            <a:endParaRPr lang="en-GB" dirty="0"/>
          </a:p>
        </p:txBody>
      </p:sp>
    </p:spTree>
    <p:extLst>
      <p:ext uri="{BB962C8B-B14F-4D97-AF65-F5344CB8AC3E}">
        <p14:creationId xmlns:p14="http://schemas.microsoft.com/office/powerpoint/2010/main" val="3395976013"/>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dirty="0"/>
              <a:t>South Asia Pacific Country-wise WXYZ Market Size (US$ </a:t>
            </a:r>
            <a:r>
              <a:rPr lang="en-US" dirty="0" err="1"/>
              <a:t>Mn</a:t>
            </a:r>
            <a:r>
              <a:rPr lang="en-US" dirty="0"/>
              <a:t>), 2024 and 2034</a:t>
            </a:r>
            <a:r>
              <a:rPr lang="en-IN" dirty="0"/>
              <a:t> (6/7)</a:t>
            </a:r>
            <a:endParaRPr lang="en-US" dirty="0"/>
          </a:p>
        </p:txBody>
      </p:sp>
      <p:sp>
        <p:nvSpPr>
          <p:cNvPr id="17" name="TextBox 16"/>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3" name="Table 2"/>
          <p:cNvGraphicFramePr>
            <a:graphicFrameLocks noGrp="1"/>
          </p:cNvGraphicFramePr>
          <p:nvPr/>
        </p:nvGraphicFramePr>
        <p:xfrm>
          <a:off x="134000" y="1090383"/>
          <a:ext cx="11905602" cy="5053873"/>
        </p:xfrm>
        <a:graphic>
          <a:graphicData uri="http://schemas.openxmlformats.org/drawingml/2006/table">
            <a:tbl>
              <a:tblPr firstRow="1" bandRow="1">
                <a:tableStyleId>{5C22544A-7EE6-4342-B048-85BDC9FD1C3A}</a:tableStyleId>
              </a:tblPr>
              <a:tblGrid>
                <a:gridCol w="3045660">
                  <a:extLst>
                    <a:ext uri="{9D8B030D-6E8A-4147-A177-3AD203B41FA5}">
                      <a16:colId xmlns:a16="http://schemas.microsoft.com/office/drawing/2014/main" val="2222231777"/>
                    </a:ext>
                  </a:extLst>
                </a:gridCol>
                <a:gridCol w="1476657">
                  <a:extLst>
                    <a:ext uri="{9D8B030D-6E8A-4147-A177-3AD203B41FA5}">
                      <a16:colId xmlns:a16="http://schemas.microsoft.com/office/drawing/2014/main" val="4186392816"/>
                    </a:ext>
                  </a:extLst>
                </a:gridCol>
                <a:gridCol w="1476657">
                  <a:extLst>
                    <a:ext uri="{9D8B030D-6E8A-4147-A177-3AD203B41FA5}">
                      <a16:colId xmlns:a16="http://schemas.microsoft.com/office/drawing/2014/main" val="1720682628"/>
                    </a:ext>
                  </a:extLst>
                </a:gridCol>
                <a:gridCol w="1476657">
                  <a:extLst>
                    <a:ext uri="{9D8B030D-6E8A-4147-A177-3AD203B41FA5}">
                      <a16:colId xmlns:a16="http://schemas.microsoft.com/office/drawing/2014/main" val="44557383"/>
                    </a:ext>
                  </a:extLst>
                </a:gridCol>
                <a:gridCol w="1476657">
                  <a:extLst>
                    <a:ext uri="{9D8B030D-6E8A-4147-A177-3AD203B41FA5}">
                      <a16:colId xmlns:a16="http://schemas.microsoft.com/office/drawing/2014/main" val="344161621"/>
                    </a:ext>
                  </a:extLst>
                </a:gridCol>
                <a:gridCol w="1476657">
                  <a:extLst>
                    <a:ext uri="{9D8B030D-6E8A-4147-A177-3AD203B41FA5}">
                      <a16:colId xmlns:a16="http://schemas.microsoft.com/office/drawing/2014/main" val="1086447286"/>
                    </a:ext>
                  </a:extLst>
                </a:gridCol>
                <a:gridCol w="1476657">
                  <a:extLst>
                    <a:ext uri="{9D8B030D-6E8A-4147-A177-3AD203B41FA5}">
                      <a16:colId xmlns:a16="http://schemas.microsoft.com/office/drawing/2014/main" val="3168125921"/>
                    </a:ext>
                  </a:extLst>
                </a:gridCol>
              </a:tblGrid>
              <a:tr h="264567">
                <a:tc>
                  <a:txBody>
                    <a:bodyPr/>
                    <a:lstStyle/>
                    <a:p>
                      <a:pPr marL="0" algn="l" defTabSz="914391" rtl="0" eaLnBrk="1" fontAlgn="ctr" latinLnBrk="0" hangingPunct="1"/>
                      <a:endParaRPr lang="en-IN" sz="12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India</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ASEAN</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ANZ</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extLst>
                  <a:ext uri="{0D108BD9-81ED-4DB2-BD59-A6C34878D82A}">
                    <a16:rowId xmlns:a16="http://schemas.microsoft.com/office/drawing/2014/main" val="293977139"/>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CategoryA</a:t>
                      </a:r>
                      <a:endParaRPr lang="en-IN" sz="1200" u="none" strike="noStrike" kern="1200" dirty="0">
                        <a:solidFill>
                          <a:schemeClr val="bg1"/>
                        </a:solidFill>
                        <a:effectLst/>
                        <a:latin typeface="+mn-lt"/>
                        <a:ea typeface="+mn-ea"/>
                        <a:cs typeface="+mn-cs"/>
                      </a:endParaRPr>
                    </a:p>
                  </a:txBody>
                  <a:tcPr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3927799519"/>
                  </a:ext>
                </a:extLst>
              </a:tr>
              <a:tr h="185506">
                <a:tc>
                  <a:txBody>
                    <a:bodyPr/>
                    <a:lstStyle/>
                    <a:p>
                      <a:pPr algn="ctr" fontAlgn="ctr"/>
                      <a:r>
                        <a:rPr lang="en-IN" sz="1100" u="none" strike="noStrike" dirty="0">
                          <a:effectLst/>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09263494"/>
                  </a:ext>
                </a:extLst>
              </a:tr>
              <a:tr h="170866">
                <a:tc>
                  <a:txBody>
                    <a:bodyPr/>
                    <a:lstStyle/>
                    <a:p>
                      <a:pPr algn="ctr" fontAlgn="ctr"/>
                      <a:r>
                        <a:rPr lang="en-IN" sz="1100" u="none" strike="noStrike" dirty="0">
                          <a:effectLst/>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1996776414"/>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CategoryB</a:t>
                      </a:r>
                      <a:endParaRPr lang="en-IN" sz="1200" u="none" strike="noStrike" kern="1200" dirty="0">
                        <a:solidFill>
                          <a:schemeClr val="bg1"/>
                        </a:solidFill>
                        <a:effectLst/>
                        <a:latin typeface="+mn-lt"/>
                        <a:ea typeface="+mn-ea"/>
                        <a:cs typeface="+mn-cs"/>
                      </a:endParaRPr>
                    </a:p>
                  </a:txBody>
                  <a:tcPr marL="9525" marR="9525" marT="9525"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105015857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957402620"/>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242372702"/>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455769883"/>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9101000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410030643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3981031952"/>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CategoryC</a:t>
                      </a:r>
                      <a:endParaRPr lang="en-IN" sz="1200" u="none" strike="noStrike" kern="1200" dirty="0">
                        <a:solidFill>
                          <a:schemeClr val="bg1"/>
                        </a:solidFill>
                        <a:effectLst/>
                        <a:latin typeface="+mn-lt"/>
                        <a:ea typeface="+mn-ea"/>
                        <a:cs typeface="+mn-cs"/>
                      </a:endParaRPr>
                    </a:p>
                  </a:txBody>
                  <a:tcPr marL="9525" marR="9525" marT="9525"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2778005502"/>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8581785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412377524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262143951"/>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CategoryD</a:t>
                      </a:r>
                      <a:endParaRPr lang="en-IN" sz="1200" u="none" strike="noStrike" kern="1200" dirty="0">
                        <a:solidFill>
                          <a:schemeClr val="bg1"/>
                        </a:solidFill>
                        <a:effectLst/>
                        <a:latin typeface="+mn-lt"/>
                        <a:ea typeface="+mn-ea"/>
                        <a:cs typeface="+mn-cs"/>
                      </a:endParaRPr>
                    </a:p>
                  </a:txBody>
                  <a:tcPr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210623656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37923991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3434832020"/>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71431154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64172123"/>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94689353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106682958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401960168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09006649"/>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870920831"/>
                  </a:ext>
                </a:extLst>
              </a:tr>
            </a:tbl>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249</a:t>
            </a:fld>
            <a:endParaRPr lang="en-GB" dirty="0"/>
          </a:p>
        </p:txBody>
      </p:sp>
    </p:spTree>
    <p:extLst>
      <p:ext uri="{BB962C8B-B14F-4D97-AF65-F5344CB8AC3E}">
        <p14:creationId xmlns:p14="http://schemas.microsoft.com/office/powerpoint/2010/main" val="3883353949"/>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dirty="0"/>
              <a:t>Middle East and Africa Country-wise WXYZ Market Size (US$ </a:t>
            </a:r>
            <a:r>
              <a:rPr lang="en-US" dirty="0" err="1"/>
              <a:t>Mn</a:t>
            </a:r>
            <a:r>
              <a:rPr lang="en-US" dirty="0"/>
              <a:t>), 2024 and 2034</a:t>
            </a:r>
            <a:r>
              <a:rPr lang="en-IN" dirty="0"/>
              <a:t> (7/7)</a:t>
            </a:r>
            <a:endParaRPr lang="en-US" dirty="0"/>
          </a:p>
        </p:txBody>
      </p:sp>
      <p:sp>
        <p:nvSpPr>
          <p:cNvPr id="17" name="TextBox 16"/>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6" name="Table 5"/>
          <p:cNvGraphicFramePr>
            <a:graphicFrameLocks noGrp="1"/>
          </p:cNvGraphicFramePr>
          <p:nvPr/>
        </p:nvGraphicFramePr>
        <p:xfrm>
          <a:off x="134000" y="1090383"/>
          <a:ext cx="11905604" cy="5053873"/>
        </p:xfrm>
        <a:graphic>
          <a:graphicData uri="http://schemas.openxmlformats.org/drawingml/2006/table">
            <a:tbl>
              <a:tblPr firstRow="1" bandRow="1">
                <a:tableStyleId>{5C22544A-7EE6-4342-B048-85BDC9FD1C3A}</a:tableStyleId>
              </a:tblPr>
              <a:tblGrid>
                <a:gridCol w="2035704">
                  <a:extLst>
                    <a:ext uri="{9D8B030D-6E8A-4147-A177-3AD203B41FA5}">
                      <a16:colId xmlns:a16="http://schemas.microsoft.com/office/drawing/2014/main" val="2222231777"/>
                    </a:ext>
                  </a:extLst>
                </a:gridCol>
                <a:gridCol w="986990">
                  <a:extLst>
                    <a:ext uri="{9D8B030D-6E8A-4147-A177-3AD203B41FA5}">
                      <a16:colId xmlns:a16="http://schemas.microsoft.com/office/drawing/2014/main" val="4186392816"/>
                    </a:ext>
                  </a:extLst>
                </a:gridCol>
                <a:gridCol w="986990">
                  <a:extLst>
                    <a:ext uri="{9D8B030D-6E8A-4147-A177-3AD203B41FA5}">
                      <a16:colId xmlns:a16="http://schemas.microsoft.com/office/drawing/2014/main" val="1720682628"/>
                    </a:ext>
                  </a:extLst>
                </a:gridCol>
                <a:gridCol w="986990">
                  <a:extLst>
                    <a:ext uri="{9D8B030D-6E8A-4147-A177-3AD203B41FA5}">
                      <a16:colId xmlns:a16="http://schemas.microsoft.com/office/drawing/2014/main" val="1045622702"/>
                    </a:ext>
                  </a:extLst>
                </a:gridCol>
                <a:gridCol w="986990">
                  <a:extLst>
                    <a:ext uri="{9D8B030D-6E8A-4147-A177-3AD203B41FA5}">
                      <a16:colId xmlns:a16="http://schemas.microsoft.com/office/drawing/2014/main" val="803801211"/>
                    </a:ext>
                  </a:extLst>
                </a:gridCol>
                <a:gridCol w="986990">
                  <a:extLst>
                    <a:ext uri="{9D8B030D-6E8A-4147-A177-3AD203B41FA5}">
                      <a16:colId xmlns:a16="http://schemas.microsoft.com/office/drawing/2014/main" val="44557383"/>
                    </a:ext>
                  </a:extLst>
                </a:gridCol>
                <a:gridCol w="986990">
                  <a:extLst>
                    <a:ext uri="{9D8B030D-6E8A-4147-A177-3AD203B41FA5}">
                      <a16:colId xmlns:a16="http://schemas.microsoft.com/office/drawing/2014/main" val="344161621"/>
                    </a:ext>
                  </a:extLst>
                </a:gridCol>
                <a:gridCol w="986990">
                  <a:extLst>
                    <a:ext uri="{9D8B030D-6E8A-4147-A177-3AD203B41FA5}">
                      <a16:colId xmlns:a16="http://schemas.microsoft.com/office/drawing/2014/main" val="3197891694"/>
                    </a:ext>
                  </a:extLst>
                </a:gridCol>
                <a:gridCol w="986990">
                  <a:extLst>
                    <a:ext uri="{9D8B030D-6E8A-4147-A177-3AD203B41FA5}">
                      <a16:colId xmlns:a16="http://schemas.microsoft.com/office/drawing/2014/main" val="1657780427"/>
                    </a:ext>
                  </a:extLst>
                </a:gridCol>
                <a:gridCol w="986990">
                  <a:extLst>
                    <a:ext uri="{9D8B030D-6E8A-4147-A177-3AD203B41FA5}">
                      <a16:colId xmlns:a16="http://schemas.microsoft.com/office/drawing/2014/main" val="1086447286"/>
                    </a:ext>
                  </a:extLst>
                </a:gridCol>
                <a:gridCol w="986990">
                  <a:extLst>
                    <a:ext uri="{9D8B030D-6E8A-4147-A177-3AD203B41FA5}">
                      <a16:colId xmlns:a16="http://schemas.microsoft.com/office/drawing/2014/main" val="3168125921"/>
                    </a:ext>
                  </a:extLst>
                </a:gridCol>
              </a:tblGrid>
              <a:tr h="264567">
                <a:tc>
                  <a:txBody>
                    <a:bodyPr/>
                    <a:lstStyle/>
                    <a:p>
                      <a:pPr marL="0" algn="l" defTabSz="914391" rtl="0" eaLnBrk="1" fontAlgn="ctr" latinLnBrk="0" hangingPunct="1"/>
                      <a:endParaRPr lang="en-IN" sz="12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KSA</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Other GCC</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Turkiye</a:t>
                      </a: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South Africa</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tc gridSpan="2">
                  <a:txBody>
                    <a:bodyPr/>
                    <a:lstStyle/>
                    <a:p>
                      <a:pPr marL="0" algn="ctr" defTabSz="914391" rtl="0" eaLnBrk="1" fontAlgn="ctr" latinLnBrk="0" hangingPunct="1"/>
                      <a:r>
                        <a:rPr lang="en-US" sz="1200" u="none" strike="noStrike" kern="1200" dirty="0">
                          <a:effectLst/>
                        </a:rPr>
                        <a:t>Other Africa Union</a:t>
                      </a:r>
                      <a:endParaRPr lang="en-IN" sz="1200" b="0" i="0" u="none" strike="noStrike" kern="1200" dirty="0">
                        <a:solidFill>
                          <a:srgbClr val="000000"/>
                        </a:solidFill>
                        <a:effectLst/>
                        <a:latin typeface="Calibri" panose="020F0502020204030204" pitchFamily="34" charset="0"/>
                        <a:ea typeface="+mn-ea"/>
                        <a:cs typeface="+mn-cs"/>
                      </a:endParaRPr>
                    </a:p>
                  </a:txBody>
                  <a:tcPr anchor="ctr"/>
                </a:tc>
                <a:tc hMerge="1">
                  <a:txBody>
                    <a:bodyPr/>
                    <a:lstStyle/>
                    <a:p>
                      <a:pPr marL="0" algn="l" defTabSz="914391" rtl="0" eaLnBrk="1" fontAlgn="ctr"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a:tc>
                <a:extLst>
                  <a:ext uri="{0D108BD9-81ED-4DB2-BD59-A6C34878D82A}">
                    <a16:rowId xmlns:a16="http://schemas.microsoft.com/office/drawing/2014/main" val="293977139"/>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CategoryA</a:t>
                      </a:r>
                      <a:endParaRPr lang="en-IN" sz="1200" u="none" strike="noStrike" kern="1200" dirty="0">
                        <a:solidFill>
                          <a:schemeClr val="bg1"/>
                        </a:solidFill>
                        <a:effectLst/>
                        <a:latin typeface="+mn-lt"/>
                        <a:ea typeface="+mn-ea"/>
                        <a:cs typeface="+mn-cs"/>
                      </a:endParaRPr>
                    </a:p>
                  </a:txBody>
                  <a:tcPr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3927799519"/>
                  </a:ext>
                </a:extLst>
              </a:tr>
              <a:tr h="185506">
                <a:tc>
                  <a:txBody>
                    <a:bodyPr/>
                    <a:lstStyle/>
                    <a:p>
                      <a:pPr algn="ctr" fontAlgn="ctr"/>
                      <a:r>
                        <a:rPr lang="en-IN" sz="1100" u="none" strike="noStrike" dirty="0">
                          <a:effectLst/>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09263494"/>
                  </a:ext>
                </a:extLst>
              </a:tr>
              <a:tr h="170866">
                <a:tc>
                  <a:txBody>
                    <a:bodyPr/>
                    <a:lstStyle/>
                    <a:p>
                      <a:pPr algn="ctr" fontAlgn="ctr"/>
                      <a:r>
                        <a:rPr lang="en-IN" sz="1100" u="none" strike="noStrike" dirty="0">
                          <a:effectLst/>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1996776414"/>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CategoryB</a:t>
                      </a:r>
                      <a:endParaRPr lang="en-IN" sz="1200" u="none" strike="noStrike" kern="1200" dirty="0">
                        <a:solidFill>
                          <a:schemeClr val="bg1"/>
                        </a:solidFill>
                        <a:effectLst/>
                        <a:latin typeface="+mn-lt"/>
                        <a:ea typeface="+mn-ea"/>
                        <a:cs typeface="+mn-cs"/>
                      </a:endParaRPr>
                    </a:p>
                  </a:txBody>
                  <a:tcPr marL="9525" marR="9525" marT="9525"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105015857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957402620"/>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242372702"/>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455769883"/>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9101000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410030643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3981031952"/>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CategoryC</a:t>
                      </a:r>
                      <a:endParaRPr lang="en-IN" sz="1200" u="none" strike="noStrike" kern="1200" dirty="0">
                        <a:solidFill>
                          <a:schemeClr val="bg1"/>
                        </a:solidFill>
                        <a:effectLst/>
                        <a:latin typeface="+mn-lt"/>
                        <a:ea typeface="+mn-ea"/>
                        <a:cs typeface="+mn-cs"/>
                      </a:endParaRPr>
                    </a:p>
                  </a:txBody>
                  <a:tcPr marL="9525" marR="9525" marT="9525"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2778005502"/>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8581785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412377524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262143951"/>
                  </a:ext>
                </a:extLst>
              </a:tr>
              <a:tr h="264567">
                <a:tc>
                  <a:txBody>
                    <a:bodyPr/>
                    <a:lstStyle/>
                    <a:p>
                      <a:pPr marL="0" marR="0" lvl="0" indent="0" algn="ctr" defTabSz="914391" rtl="0" eaLnBrk="1" fontAlgn="ctr" latinLnBrk="0" hangingPunct="1">
                        <a:lnSpc>
                          <a:spcPct val="100000"/>
                        </a:lnSpc>
                        <a:spcBef>
                          <a:spcPts val="0"/>
                        </a:spcBef>
                        <a:spcAft>
                          <a:spcPts val="0"/>
                        </a:spcAft>
                        <a:buClrTx/>
                        <a:buSzTx/>
                        <a:buFontTx/>
                        <a:buNone/>
                        <a:tabLst/>
                        <a:defRPr/>
                      </a:pPr>
                      <a:r>
                        <a:rPr lang="en-US" sz="1200" u="none" strike="noStrike" kern="1200" dirty="0" err="1">
                          <a:solidFill>
                            <a:schemeClr val="bg1"/>
                          </a:solidFill>
                          <a:effectLst/>
                          <a:latin typeface="+mn-lt"/>
                          <a:ea typeface="+mn-ea"/>
                          <a:cs typeface="+mn-cs"/>
                        </a:rPr>
                        <a:t>CategoryD</a:t>
                      </a:r>
                      <a:endParaRPr lang="en-IN" sz="1200" u="none" strike="noStrike" kern="1200" dirty="0">
                        <a:solidFill>
                          <a:schemeClr val="bg1"/>
                        </a:solidFill>
                        <a:effectLst/>
                        <a:latin typeface="+mn-lt"/>
                        <a:ea typeface="+mn-ea"/>
                        <a:cs typeface="+mn-cs"/>
                      </a:endParaRPr>
                    </a:p>
                  </a:txBody>
                  <a:tcPr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2024E</a:t>
                      </a:r>
                    </a:p>
                  </a:txBody>
                  <a:tcPr marL="8512" marR="8512" marT="8512" marB="0" anchor="ctr">
                    <a:solidFill>
                      <a:schemeClr val="accent1"/>
                    </a:solidFill>
                  </a:tcPr>
                </a:tc>
                <a:tc>
                  <a:txBody>
                    <a:bodyPr/>
                    <a:lstStyle/>
                    <a:p>
                      <a:pPr marL="0" algn="ctr" defTabSz="914391" rtl="0" eaLnBrk="1" fontAlgn="ctr" latinLnBrk="0" hangingPunct="1"/>
                      <a:r>
                        <a:rPr lang="en-IN" sz="1100" b="1" u="none" strike="noStrike" kern="1200" dirty="0">
                          <a:solidFill>
                            <a:schemeClr val="lt1"/>
                          </a:solidFill>
                          <a:effectLst/>
                          <a:latin typeface="+mn-lt"/>
                          <a:ea typeface="+mn-ea"/>
                          <a:cs typeface="+mn-cs"/>
                        </a:rPr>
                        <a:t>2034F</a:t>
                      </a:r>
                    </a:p>
                  </a:txBody>
                  <a:tcPr marL="8512" marR="8512" marT="8512" marB="0" anchor="ctr">
                    <a:solidFill>
                      <a:schemeClr val="accent1"/>
                    </a:solidFill>
                  </a:tcPr>
                </a:tc>
                <a:extLst>
                  <a:ext uri="{0D108BD9-81ED-4DB2-BD59-A6C34878D82A}">
                    <a16:rowId xmlns:a16="http://schemas.microsoft.com/office/drawing/2014/main" val="210623656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37923991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3434832020"/>
                  </a:ext>
                </a:extLst>
              </a:tr>
              <a:tr h="185506">
                <a:tc>
                  <a:txBody>
                    <a:bodyPr/>
                    <a:lstStyle/>
                    <a:p>
                      <a:pPr algn="ctr" fontAlgn="ctr"/>
                      <a:r>
                        <a:rPr kumimoji="0" lang="en-IN" sz="1100" b="0" i="0" u="none" strike="noStrike" kern="1200" cap="none" spc="0" normalizeH="0" baseline="0" noProof="0">
                          <a:ln>
                            <a:noFill/>
                          </a:ln>
                          <a:solidFill>
                            <a:prstClr val="black"/>
                          </a:solidFill>
                          <a:effectLst/>
                          <a:uLnTx/>
                          <a:uFillTx/>
                          <a:latin typeface="Calibri" panose="020F0502020204030204"/>
                          <a:ea typeface="+mn-ea"/>
                          <a:cs typeface="+mn-cs"/>
                        </a:rPr>
                        <a:t>Segment</a:t>
                      </a:r>
                      <a:endParaRPr lang="en-IN" sz="1100" b="1" i="0" u="none" strike="noStrike">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171431154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64172123"/>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946893536"/>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1066829585"/>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4019601682"/>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tc>
                  <a:txBody>
                    <a:bodyPr/>
                    <a:lstStyle/>
                    <a:p>
                      <a:pPr algn="ctr"/>
                      <a:r>
                        <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rPr>
                        <a:t>US$ </a:t>
                      </a:r>
                      <a:r>
                        <a:rPr kumimoji="0" lang="en-IN" sz="1000" b="0" i="0" u="none" strike="noStrike" kern="1200" cap="none" spc="0" normalizeH="0" baseline="0" noProof="0" dirty="0" err="1">
                          <a:ln>
                            <a:noFill/>
                          </a:ln>
                          <a:solidFill>
                            <a:prstClr val="black"/>
                          </a:solidFill>
                          <a:effectLst/>
                          <a:uLnTx/>
                          <a:uFillTx/>
                          <a:latin typeface="Calibri" panose="020F0502020204030204"/>
                          <a:ea typeface="+mn-ea"/>
                          <a:cs typeface="+mn-cs"/>
                        </a:rPr>
                        <a:t>Mn</a:t>
                      </a:r>
                      <a:endParaRPr lang="en-IN" sz="1000" dirty="0"/>
                    </a:p>
                  </a:txBody>
                  <a:tcPr marL="0" marR="0" marT="0" marB="0" anchor="ctr"/>
                </a:tc>
                <a:extLst>
                  <a:ext uri="{0D108BD9-81ED-4DB2-BD59-A6C34878D82A}">
                    <a16:rowId xmlns:a16="http://schemas.microsoft.com/office/drawing/2014/main" val="2809006649"/>
                  </a:ext>
                </a:extLst>
              </a:tr>
              <a:tr h="185506">
                <a:tc>
                  <a:txBody>
                    <a:bodyPr/>
                    <a:lstStyle/>
                    <a:p>
                      <a:pPr algn="ctr" fontAlgn="ctr"/>
                      <a:r>
                        <a:rPr kumimoji="0" lang="en-IN" sz="1100" b="0" i="0" u="none" strike="noStrike" kern="1200" cap="none" spc="0" normalizeH="0" baseline="0" noProof="0" dirty="0">
                          <a:ln>
                            <a:noFill/>
                          </a:ln>
                          <a:solidFill>
                            <a:prstClr val="black"/>
                          </a:solidFill>
                          <a:effectLst/>
                          <a:uLnTx/>
                          <a:uFillTx/>
                          <a:latin typeface="Calibri" panose="020F0502020204030204"/>
                          <a:ea typeface="+mn-ea"/>
                          <a:cs typeface="+mn-cs"/>
                        </a:rPr>
                        <a:t>Segment</a:t>
                      </a:r>
                      <a:endParaRPr lang="en-IN" sz="1100" b="1" i="0" u="none" strike="noStrike" dirty="0">
                        <a:solidFill>
                          <a:srgbClr val="000000"/>
                        </a:solidFill>
                        <a:effectLst/>
                        <a:latin typeface="Calibri" panose="020F0502020204030204" pitchFamily="34" charset="0"/>
                      </a:endParaRPr>
                    </a:p>
                  </a:txBody>
                  <a:tcPr marL="9525" marR="9525" marT="9525"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tc>
                  <a:txBody>
                    <a:bodyPr/>
                    <a:lstStyle/>
                    <a:p>
                      <a:pPr algn="ctr"/>
                      <a:r>
                        <a:rPr lang="en-IN" sz="1000" dirty="0"/>
                        <a:t>US$ </a:t>
                      </a:r>
                      <a:r>
                        <a:rPr lang="en-IN" sz="1000" dirty="0" err="1"/>
                        <a:t>Mn</a:t>
                      </a:r>
                      <a:endParaRPr lang="en-IN" sz="1000" dirty="0"/>
                    </a:p>
                  </a:txBody>
                  <a:tcPr marL="0" marR="0" marT="0" marB="0" anchor="ctr"/>
                </a:tc>
                <a:extLst>
                  <a:ext uri="{0D108BD9-81ED-4DB2-BD59-A6C34878D82A}">
                    <a16:rowId xmlns:a16="http://schemas.microsoft.com/office/drawing/2014/main" val="3870920831"/>
                  </a:ext>
                </a:extLst>
              </a:tr>
            </a:tbl>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250</a:t>
            </a:fld>
            <a:endParaRPr lang="en-GB" dirty="0"/>
          </a:p>
        </p:txBody>
      </p:sp>
    </p:spTree>
    <p:extLst>
      <p:ext uri="{BB962C8B-B14F-4D97-AF65-F5344CB8AC3E}">
        <p14:creationId xmlns:p14="http://schemas.microsoft.com/office/powerpoint/2010/main" val="91454906"/>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18</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18</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Market Structure Analysis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251</a:t>
            </a:r>
          </a:p>
        </p:txBody>
      </p:sp>
    </p:spTree>
    <p:extLst>
      <p:ext uri="{BB962C8B-B14F-4D97-AF65-F5344CB8AC3E}">
        <p14:creationId xmlns:p14="http://schemas.microsoft.com/office/powerpoint/2010/main" val="1176437545"/>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Market Concentration Analysis</a:t>
            </a:r>
            <a:endParaRPr lang="en-US" dirty="0"/>
          </a:p>
        </p:txBody>
      </p:sp>
      <p:sp>
        <p:nvSpPr>
          <p:cNvPr id="15" name="Slide Number Placeholder 14"/>
          <p:cNvSpPr>
            <a:spLocks noGrp="1"/>
          </p:cNvSpPr>
          <p:nvPr>
            <p:ph type="sldNum" sz="quarter" idx="4"/>
          </p:nvPr>
        </p:nvSpPr>
        <p:spPr/>
        <p:txBody>
          <a:bodyPr/>
          <a:lstStyle/>
          <a:p>
            <a:fld id="{4B17068C-EB94-40A3-A5F2-664CDD77FDAC}" type="slidenum">
              <a:rPr lang="en-GB" smtClean="0"/>
              <a:pPr/>
              <a:t>252</a:t>
            </a:fld>
            <a:endParaRPr lang="en-GB" dirty="0"/>
          </a:p>
        </p:txBody>
      </p:sp>
      <p:grpSp>
        <p:nvGrpSpPr>
          <p:cNvPr id="4" name="Group 3"/>
          <p:cNvGrpSpPr/>
          <p:nvPr/>
        </p:nvGrpSpPr>
        <p:grpSpPr>
          <a:xfrm>
            <a:off x="1185347" y="1108712"/>
            <a:ext cx="9862562" cy="5145151"/>
            <a:chOff x="887372" y="1381221"/>
            <a:chExt cx="8304766" cy="4216499"/>
          </a:xfrm>
        </p:grpSpPr>
        <p:sp>
          <p:nvSpPr>
            <p:cNvPr id="5" name="Arc 4"/>
            <p:cNvSpPr>
              <a:spLocks/>
            </p:cNvSpPr>
            <p:nvPr/>
          </p:nvSpPr>
          <p:spPr bwMode="auto">
            <a:xfrm rot="16200000" flipV="1">
              <a:off x="3049873" y="-617683"/>
              <a:ext cx="3990318" cy="7988126"/>
            </a:xfrm>
            <a:custGeom>
              <a:avLst/>
              <a:gdLst>
                <a:gd name="G0" fmla="+- 125 0 0"/>
                <a:gd name="G1" fmla="+- 21600 0 0"/>
                <a:gd name="G2" fmla="+- 21600 0 0"/>
                <a:gd name="T0" fmla="*/ 125 w 21725"/>
                <a:gd name="T1" fmla="*/ 0 h 43200"/>
                <a:gd name="T2" fmla="*/ 0 w 21725"/>
                <a:gd name="T3" fmla="*/ 43200 h 43200"/>
                <a:gd name="T4" fmla="*/ 125 w 21725"/>
                <a:gd name="T5" fmla="*/ 21600 h 43200"/>
              </a:gdLst>
              <a:ahLst/>
              <a:cxnLst>
                <a:cxn ang="0">
                  <a:pos x="T0" y="T1"/>
                </a:cxn>
                <a:cxn ang="0">
                  <a:pos x="T2" y="T3"/>
                </a:cxn>
                <a:cxn ang="0">
                  <a:pos x="T4" y="T5"/>
                </a:cxn>
              </a:cxnLst>
              <a:rect l="0" t="0" r="r" b="b"/>
              <a:pathLst>
                <a:path w="21725" h="43200" fill="none" extrusionOk="0">
                  <a:moveTo>
                    <a:pt x="124" y="0"/>
                  </a:moveTo>
                  <a:cubicBezTo>
                    <a:pt x="12054" y="0"/>
                    <a:pt x="21725" y="9670"/>
                    <a:pt x="21725" y="21600"/>
                  </a:cubicBezTo>
                  <a:cubicBezTo>
                    <a:pt x="21725" y="33529"/>
                    <a:pt x="12054" y="43200"/>
                    <a:pt x="125" y="43200"/>
                  </a:cubicBezTo>
                  <a:cubicBezTo>
                    <a:pt x="83" y="43200"/>
                    <a:pt x="41" y="43199"/>
                    <a:pt x="0" y="43199"/>
                  </a:cubicBezTo>
                </a:path>
                <a:path w="21725" h="43200" stroke="0" extrusionOk="0">
                  <a:moveTo>
                    <a:pt x="124" y="0"/>
                  </a:moveTo>
                  <a:cubicBezTo>
                    <a:pt x="12054" y="0"/>
                    <a:pt x="21725" y="9670"/>
                    <a:pt x="21725" y="21600"/>
                  </a:cubicBezTo>
                  <a:cubicBezTo>
                    <a:pt x="21725" y="33529"/>
                    <a:pt x="12054" y="43200"/>
                    <a:pt x="125" y="43200"/>
                  </a:cubicBezTo>
                  <a:cubicBezTo>
                    <a:pt x="83" y="43200"/>
                    <a:pt x="41" y="43199"/>
                    <a:pt x="0" y="43199"/>
                  </a:cubicBezTo>
                  <a:lnTo>
                    <a:pt x="125" y="21600"/>
                  </a:lnTo>
                  <a:close/>
                </a:path>
              </a:pathLst>
            </a:custGeom>
            <a:solidFill>
              <a:schemeClr val="accent1">
                <a:lumMod val="20000"/>
                <a:lumOff val="80000"/>
              </a:schemeClr>
            </a:solidFill>
            <a:ln w="12700">
              <a:solidFill>
                <a:schemeClr val="bg1"/>
              </a:solidFill>
              <a:round/>
              <a:headEnd/>
              <a:tailEnd/>
            </a:ln>
            <a:effectLst/>
          </p:spPr>
          <p:txBody>
            <a:bodyPr wrap="none" anchor="ctr"/>
            <a:lstStyle/>
            <a:p>
              <a:pPr defTabSz="949603"/>
              <a:endParaRPr lang="en-US" sz="1869" dirty="0">
                <a:solidFill>
                  <a:srgbClr val="FF0000"/>
                </a:solidFill>
              </a:endParaRPr>
            </a:p>
          </p:txBody>
        </p:sp>
        <p:sp>
          <p:nvSpPr>
            <p:cNvPr id="6" name="Text Box 6"/>
            <p:cNvSpPr txBox="1">
              <a:spLocks noChangeArrowheads="1"/>
            </p:cNvSpPr>
            <p:nvPr/>
          </p:nvSpPr>
          <p:spPr bwMode="auto">
            <a:xfrm>
              <a:off x="1115820" y="5413024"/>
              <a:ext cx="1000163" cy="184696"/>
            </a:xfrm>
            <a:prstGeom prst="rect">
              <a:avLst/>
            </a:prstGeom>
            <a:noFill/>
            <a:ln w="12700">
              <a:noFill/>
              <a:miter lim="800000"/>
              <a:headEnd/>
              <a:tailEnd/>
            </a:ln>
            <a:effectLst/>
          </p:spPr>
          <p:txBody>
            <a:bodyPr wrap="none" lIns="0" tIns="0" rIns="0" bIns="0">
              <a:spAutoFit/>
            </a:bodyPr>
            <a:lstStyle/>
            <a:p>
              <a:pPr algn="ctr" defTabSz="949603" eaLnBrk="0" hangingPunct="0">
                <a:spcBef>
                  <a:spcPts val="197"/>
                </a:spcBef>
                <a:spcAft>
                  <a:spcPts val="197"/>
                </a:spcAft>
              </a:pPr>
              <a:r>
                <a:rPr lang="de-DE" sz="1179" b="1" dirty="0">
                  <a:ea typeface="ＭＳ Ｐゴシック" pitchFamily="34" charset="-128"/>
                </a:rPr>
                <a:t>Market Leaders</a:t>
              </a:r>
            </a:p>
          </p:txBody>
        </p:sp>
        <p:sp>
          <p:nvSpPr>
            <p:cNvPr id="7" name="Arc 12"/>
            <p:cNvSpPr>
              <a:spLocks/>
            </p:cNvSpPr>
            <p:nvPr/>
          </p:nvSpPr>
          <p:spPr bwMode="auto">
            <a:xfrm rot="16200000" flipV="1">
              <a:off x="3618493" y="1052719"/>
              <a:ext cx="2854836" cy="5750536"/>
            </a:xfrm>
            <a:custGeom>
              <a:avLst/>
              <a:gdLst>
                <a:gd name="G0" fmla="+- 0 0 0"/>
                <a:gd name="G1" fmla="+- 21600 0 0"/>
                <a:gd name="G2" fmla="+- 21600 0 0"/>
                <a:gd name="T0" fmla="*/ 0 w 21600"/>
                <a:gd name="T1" fmla="*/ 0 h 43200"/>
                <a:gd name="T2" fmla="*/ 46 w 21600"/>
                <a:gd name="T3" fmla="*/ 43200 h 43200"/>
                <a:gd name="T4" fmla="*/ 0 w 21600"/>
                <a:gd name="T5" fmla="*/ 21600 h 43200"/>
              </a:gdLst>
              <a:ahLst/>
              <a:cxnLst>
                <a:cxn ang="0">
                  <a:pos x="T0" y="T1"/>
                </a:cxn>
                <a:cxn ang="0">
                  <a:pos x="T2" y="T3"/>
                </a:cxn>
                <a:cxn ang="0">
                  <a:pos x="T4" y="T5"/>
                </a:cxn>
              </a:cxnLst>
              <a:rect l="0" t="0" r="r" b="b"/>
              <a:pathLst>
                <a:path w="21600" h="43200" fill="none" extrusionOk="0">
                  <a:moveTo>
                    <a:pt x="-1" y="0"/>
                  </a:moveTo>
                  <a:cubicBezTo>
                    <a:pt x="11929" y="0"/>
                    <a:pt x="21600" y="9670"/>
                    <a:pt x="21600" y="21600"/>
                  </a:cubicBezTo>
                  <a:cubicBezTo>
                    <a:pt x="21600" y="33511"/>
                    <a:pt x="11957" y="43174"/>
                    <a:pt x="45" y="43199"/>
                  </a:cubicBezTo>
                </a:path>
                <a:path w="21600" h="43200" stroke="0" extrusionOk="0">
                  <a:moveTo>
                    <a:pt x="-1" y="0"/>
                  </a:moveTo>
                  <a:cubicBezTo>
                    <a:pt x="11929" y="0"/>
                    <a:pt x="21600" y="9670"/>
                    <a:pt x="21600" y="21600"/>
                  </a:cubicBezTo>
                  <a:cubicBezTo>
                    <a:pt x="21600" y="33511"/>
                    <a:pt x="11957" y="43174"/>
                    <a:pt x="45" y="43199"/>
                  </a:cubicBezTo>
                  <a:lnTo>
                    <a:pt x="0" y="21600"/>
                  </a:lnTo>
                  <a:close/>
                </a:path>
              </a:pathLst>
            </a:custGeom>
            <a:solidFill>
              <a:schemeClr val="accent1">
                <a:lumMod val="40000"/>
                <a:lumOff val="60000"/>
              </a:schemeClr>
            </a:solidFill>
            <a:ln w="12700">
              <a:solidFill>
                <a:schemeClr val="bg1"/>
              </a:solidFill>
              <a:round/>
              <a:headEnd/>
              <a:tailEnd/>
            </a:ln>
            <a:effectLst/>
          </p:spPr>
          <p:txBody>
            <a:bodyPr wrap="none" anchor="ctr"/>
            <a:lstStyle/>
            <a:p>
              <a:pPr defTabSz="949603"/>
              <a:endParaRPr lang="en-US" sz="1869" dirty="0">
                <a:solidFill>
                  <a:srgbClr val="FF0000"/>
                </a:solidFill>
              </a:endParaRPr>
            </a:p>
          </p:txBody>
        </p:sp>
        <p:sp>
          <p:nvSpPr>
            <p:cNvPr id="43" name="Arc 12"/>
            <p:cNvSpPr>
              <a:spLocks/>
            </p:cNvSpPr>
            <p:nvPr/>
          </p:nvSpPr>
          <p:spPr bwMode="auto">
            <a:xfrm rot="16200000" flipV="1">
              <a:off x="4264920" y="2864127"/>
              <a:ext cx="1625422" cy="3274110"/>
            </a:xfrm>
            <a:custGeom>
              <a:avLst/>
              <a:gdLst>
                <a:gd name="G0" fmla="+- 0 0 0"/>
                <a:gd name="G1" fmla="+- 21600 0 0"/>
                <a:gd name="G2" fmla="+- 21600 0 0"/>
                <a:gd name="T0" fmla="*/ 0 w 21600"/>
                <a:gd name="T1" fmla="*/ 0 h 43200"/>
                <a:gd name="T2" fmla="*/ 46 w 21600"/>
                <a:gd name="T3" fmla="*/ 43200 h 43200"/>
                <a:gd name="T4" fmla="*/ 0 w 21600"/>
                <a:gd name="T5" fmla="*/ 21600 h 43200"/>
              </a:gdLst>
              <a:ahLst/>
              <a:cxnLst>
                <a:cxn ang="0">
                  <a:pos x="T0" y="T1"/>
                </a:cxn>
                <a:cxn ang="0">
                  <a:pos x="T2" y="T3"/>
                </a:cxn>
                <a:cxn ang="0">
                  <a:pos x="T4" y="T5"/>
                </a:cxn>
              </a:cxnLst>
              <a:rect l="0" t="0" r="r" b="b"/>
              <a:pathLst>
                <a:path w="21600" h="43200" fill="none" extrusionOk="0">
                  <a:moveTo>
                    <a:pt x="-1" y="0"/>
                  </a:moveTo>
                  <a:cubicBezTo>
                    <a:pt x="11929" y="0"/>
                    <a:pt x="21600" y="9670"/>
                    <a:pt x="21600" y="21600"/>
                  </a:cubicBezTo>
                  <a:cubicBezTo>
                    <a:pt x="21600" y="33511"/>
                    <a:pt x="11957" y="43174"/>
                    <a:pt x="45" y="43199"/>
                  </a:cubicBezTo>
                </a:path>
                <a:path w="21600" h="43200" stroke="0" extrusionOk="0">
                  <a:moveTo>
                    <a:pt x="-1" y="0"/>
                  </a:moveTo>
                  <a:cubicBezTo>
                    <a:pt x="11929" y="0"/>
                    <a:pt x="21600" y="9670"/>
                    <a:pt x="21600" y="21600"/>
                  </a:cubicBezTo>
                  <a:cubicBezTo>
                    <a:pt x="21600" y="33511"/>
                    <a:pt x="11957" y="43174"/>
                    <a:pt x="45" y="43199"/>
                  </a:cubicBezTo>
                  <a:lnTo>
                    <a:pt x="0" y="21600"/>
                  </a:lnTo>
                  <a:close/>
                </a:path>
              </a:pathLst>
            </a:custGeom>
            <a:solidFill>
              <a:srgbClr val="488BC8"/>
            </a:solidFill>
            <a:ln w="12700">
              <a:solidFill>
                <a:schemeClr val="bg1"/>
              </a:solidFill>
              <a:round/>
              <a:headEnd/>
              <a:tailEnd/>
            </a:ln>
            <a:effectLst/>
          </p:spPr>
          <p:txBody>
            <a:bodyPr wrap="none" anchor="ctr"/>
            <a:lstStyle/>
            <a:p>
              <a:pPr defTabSz="949603"/>
              <a:endParaRPr lang="en-US" sz="1869" dirty="0">
                <a:solidFill>
                  <a:srgbClr val="FF0000"/>
                </a:solidFill>
              </a:endParaRPr>
            </a:p>
          </p:txBody>
        </p:sp>
        <p:sp>
          <p:nvSpPr>
            <p:cNvPr id="8" name="Line 14"/>
            <p:cNvSpPr>
              <a:spLocks noChangeShapeType="1"/>
            </p:cNvSpPr>
            <p:nvPr/>
          </p:nvSpPr>
          <p:spPr bwMode="auto">
            <a:xfrm>
              <a:off x="887372" y="5254764"/>
              <a:ext cx="8304766" cy="0"/>
            </a:xfrm>
            <a:prstGeom prst="line">
              <a:avLst/>
            </a:prstGeom>
            <a:noFill/>
            <a:ln w="12700">
              <a:solidFill>
                <a:schemeClr val="bg1"/>
              </a:solidFill>
              <a:round/>
              <a:headEnd/>
              <a:tailEnd/>
            </a:ln>
            <a:effectLst/>
          </p:spPr>
          <p:txBody>
            <a:bodyPr wrap="none" anchor="ctr"/>
            <a:lstStyle/>
            <a:p>
              <a:pPr defTabSz="949603"/>
              <a:endParaRPr lang="en-US" sz="1869" dirty="0">
                <a:solidFill>
                  <a:srgbClr val="FF0000"/>
                </a:solidFill>
              </a:endParaRPr>
            </a:p>
          </p:txBody>
        </p:sp>
        <p:sp>
          <p:nvSpPr>
            <p:cNvPr id="9" name="Oval 8"/>
            <p:cNvSpPr>
              <a:spLocks noChangeArrowheads="1"/>
            </p:cNvSpPr>
            <p:nvPr/>
          </p:nvSpPr>
          <p:spPr bwMode="auto">
            <a:xfrm>
              <a:off x="4970270" y="5184084"/>
              <a:ext cx="135452" cy="133676"/>
            </a:xfrm>
            <a:prstGeom prst="ellipse">
              <a:avLst/>
            </a:prstGeom>
            <a:solidFill>
              <a:schemeClr val="bg1"/>
            </a:solidFill>
            <a:ln w="12700">
              <a:solidFill>
                <a:schemeClr val="accent1"/>
              </a:solidFill>
              <a:round/>
              <a:headEnd/>
              <a:tailEnd/>
            </a:ln>
            <a:effectLst/>
          </p:spPr>
          <p:txBody>
            <a:bodyPr wrap="none" anchor="ctr"/>
            <a:lstStyle/>
            <a:p>
              <a:pPr defTabSz="949603"/>
              <a:endParaRPr lang="en-US" sz="1869" dirty="0">
                <a:solidFill>
                  <a:srgbClr val="FF0000"/>
                </a:solidFill>
              </a:endParaRPr>
            </a:p>
          </p:txBody>
        </p:sp>
        <p:sp>
          <p:nvSpPr>
            <p:cNvPr id="10" name="Text Box 6"/>
            <p:cNvSpPr txBox="1">
              <a:spLocks noChangeArrowheads="1"/>
            </p:cNvSpPr>
            <p:nvPr/>
          </p:nvSpPr>
          <p:spPr bwMode="auto">
            <a:xfrm>
              <a:off x="2531437" y="5413024"/>
              <a:ext cx="616707" cy="184666"/>
            </a:xfrm>
            <a:prstGeom prst="rect">
              <a:avLst/>
            </a:prstGeom>
            <a:noFill/>
            <a:ln w="12700">
              <a:noFill/>
              <a:miter lim="800000"/>
              <a:headEnd/>
              <a:tailEnd/>
            </a:ln>
            <a:effectLst/>
          </p:spPr>
          <p:txBody>
            <a:bodyPr wrap="none" lIns="0" tIns="0" rIns="0" bIns="0">
              <a:spAutoFit/>
            </a:bodyPr>
            <a:lstStyle/>
            <a:p>
              <a:pPr algn="ctr" defTabSz="949603" eaLnBrk="0" hangingPunct="0">
                <a:spcBef>
                  <a:spcPts val="197"/>
                </a:spcBef>
                <a:spcAft>
                  <a:spcPts val="197"/>
                </a:spcAft>
              </a:pPr>
              <a:r>
                <a:rPr lang="de-DE" sz="1179" b="1" dirty="0">
                  <a:ea typeface="ＭＳ Ｐゴシック" pitchFamily="34" charset="-128"/>
                </a:rPr>
                <a:t>Followers</a:t>
              </a:r>
            </a:p>
          </p:txBody>
        </p:sp>
        <p:sp>
          <p:nvSpPr>
            <p:cNvPr id="11" name="Text Box 6"/>
            <p:cNvSpPr txBox="1">
              <a:spLocks noChangeArrowheads="1"/>
            </p:cNvSpPr>
            <p:nvPr/>
          </p:nvSpPr>
          <p:spPr bwMode="auto">
            <a:xfrm>
              <a:off x="4738487" y="5413024"/>
              <a:ext cx="618372" cy="184696"/>
            </a:xfrm>
            <a:prstGeom prst="rect">
              <a:avLst/>
            </a:prstGeom>
            <a:noFill/>
            <a:ln w="12700">
              <a:noFill/>
              <a:miter lim="800000"/>
              <a:headEnd/>
              <a:tailEnd/>
            </a:ln>
            <a:effectLst/>
          </p:spPr>
          <p:txBody>
            <a:bodyPr wrap="none" lIns="0" tIns="0" rIns="0" bIns="0">
              <a:spAutoFit/>
            </a:bodyPr>
            <a:lstStyle/>
            <a:p>
              <a:pPr algn="ctr" defTabSz="949603" eaLnBrk="0" hangingPunct="0">
                <a:spcBef>
                  <a:spcPts val="197"/>
                </a:spcBef>
                <a:spcAft>
                  <a:spcPts val="197"/>
                </a:spcAft>
              </a:pPr>
              <a:r>
                <a:rPr lang="de-DE" sz="1179" b="1" dirty="0">
                  <a:ea typeface="ＭＳ Ｐゴシック" pitchFamily="34" charset="-128"/>
                </a:rPr>
                <a:t>Sluggards</a:t>
              </a:r>
            </a:p>
          </p:txBody>
        </p:sp>
        <p:sp>
          <p:nvSpPr>
            <p:cNvPr id="12" name="Text Box 6"/>
            <p:cNvSpPr txBox="1">
              <a:spLocks noChangeArrowheads="1"/>
            </p:cNvSpPr>
            <p:nvPr/>
          </p:nvSpPr>
          <p:spPr bwMode="auto">
            <a:xfrm>
              <a:off x="6948693" y="5413024"/>
              <a:ext cx="616707" cy="184666"/>
            </a:xfrm>
            <a:prstGeom prst="rect">
              <a:avLst/>
            </a:prstGeom>
            <a:noFill/>
            <a:ln w="12700">
              <a:noFill/>
              <a:miter lim="800000"/>
              <a:headEnd/>
              <a:tailEnd/>
            </a:ln>
            <a:effectLst/>
          </p:spPr>
          <p:txBody>
            <a:bodyPr wrap="none" lIns="0" tIns="0" rIns="0" bIns="0">
              <a:spAutoFit/>
            </a:bodyPr>
            <a:lstStyle/>
            <a:p>
              <a:pPr algn="ctr" defTabSz="949603" eaLnBrk="0" hangingPunct="0">
                <a:spcBef>
                  <a:spcPts val="197"/>
                </a:spcBef>
                <a:spcAft>
                  <a:spcPts val="197"/>
                </a:spcAft>
              </a:pPr>
              <a:r>
                <a:rPr lang="de-DE" sz="1179" b="1" dirty="0">
                  <a:ea typeface="ＭＳ Ｐゴシック" pitchFamily="34" charset="-128"/>
                </a:rPr>
                <a:t>Followers</a:t>
              </a:r>
            </a:p>
          </p:txBody>
        </p:sp>
        <p:sp>
          <p:nvSpPr>
            <p:cNvPr id="13" name="Text Box 6"/>
            <p:cNvSpPr txBox="1">
              <a:spLocks noChangeArrowheads="1"/>
            </p:cNvSpPr>
            <p:nvPr/>
          </p:nvSpPr>
          <p:spPr bwMode="auto">
            <a:xfrm>
              <a:off x="8008989" y="5413024"/>
              <a:ext cx="1000163" cy="184696"/>
            </a:xfrm>
            <a:prstGeom prst="rect">
              <a:avLst/>
            </a:prstGeom>
            <a:noFill/>
            <a:ln w="12700">
              <a:noFill/>
              <a:miter lim="800000"/>
              <a:headEnd/>
              <a:tailEnd/>
            </a:ln>
            <a:effectLst/>
          </p:spPr>
          <p:txBody>
            <a:bodyPr wrap="none" lIns="0" tIns="0" rIns="0" bIns="0">
              <a:spAutoFit/>
            </a:bodyPr>
            <a:lstStyle/>
            <a:p>
              <a:pPr algn="ctr" defTabSz="949603" eaLnBrk="0" hangingPunct="0">
                <a:spcBef>
                  <a:spcPts val="197"/>
                </a:spcBef>
                <a:spcAft>
                  <a:spcPts val="197"/>
                </a:spcAft>
              </a:pPr>
              <a:r>
                <a:rPr lang="de-DE" sz="1179" b="1" dirty="0">
                  <a:ea typeface="ＭＳ Ｐゴシック" pitchFamily="34" charset="-128"/>
                </a:rPr>
                <a:t>Market Leaders</a:t>
              </a:r>
            </a:p>
          </p:txBody>
        </p:sp>
      </p:grpSp>
      <p:sp>
        <p:nvSpPr>
          <p:cNvPr id="22" name="Oval 21"/>
          <p:cNvSpPr/>
          <p:nvPr/>
        </p:nvSpPr>
        <p:spPr>
          <a:xfrm>
            <a:off x="6041207" y="1715264"/>
            <a:ext cx="261579" cy="261579"/>
          </a:xfrm>
          <a:prstGeom prst="ellipse">
            <a:avLst/>
          </a:prstGeom>
          <a:solidFill>
            <a:srgbClr val="00B050"/>
          </a:solidFill>
          <a:ln>
            <a:noFill/>
          </a:ln>
          <a:scene3d>
            <a:camera prst="orthographicFront"/>
            <a:lightRig rig="threePt" dir="t"/>
          </a:scene3d>
          <a:sp3d>
            <a:bevelT w="127000" h="127000"/>
            <a:bevelB w="127000" h="127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768" dirty="0">
              <a:solidFill>
                <a:srgbClr val="FF0000"/>
              </a:solidFill>
            </a:endParaRPr>
          </a:p>
        </p:txBody>
      </p:sp>
      <p:sp>
        <p:nvSpPr>
          <p:cNvPr id="23" name="Oval 22"/>
          <p:cNvSpPr/>
          <p:nvPr/>
        </p:nvSpPr>
        <p:spPr>
          <a:xfrm>
            <a:off x="3324162" y="4643408"/>
            <a:ext cx="216180" cy="216180"/>
          </a:xfrm>
          <a:prstGeom prst="ellipse">
            <a:avLst/>
          </a:prstGeom>
          <a:solidFill>
            <a:srgbClr val="FFC000"/>
          </a:solidFill>
          <a:ln>
            <a:noFill/>
          </a:ln>
          <a:scene3d>
            <a:camera prst="orthographicFront"/>
            <a:lightRig rig="threePt" dir="t"/>
          </a:scene3d>
          <a:sp3d>
            <a:bevelT w="119380" h="119380"/>
            <a:bevelB w="119380" h="11938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768" dirty="0">
              <a:solidFill>
                <a:srgbClr val="FF0000"/>
              </a:solidFill>
            </a:endParaRPr>
          </a:p>
        </p:txBody>
      </p:sp>
      <p:sp>
        <p:nvSpPr>
          <p:cNvPr id="26" name="Oval 25"/>
          <p:cNvSpPr/>
          <p:nvPr/>
        </p:nvSpPr>
        <p:spPr>
          <a:xfrm>
            <a:off x="8437803" y="4408716"/>
            <a:ext cx="216180" cy="216180"/>
          </a:xfrm>
          <a:prstGeom prst="ellipse">
            <a:avLst/>
          </a:prstGeom>
          <a:solidFill>
            <a:srgbClr val="FFC000"/>
          </a:solidFill>
          <a:ln>
            <a:noFill/>
          </a:ln>
          <a:scene3d>
            <a:camera prst="orthographicFront"/>
            <a:lightRig rig="threePt" dir="t"/>
          </a:scene3d>
          <a:sp3d>
            <a:bevelT w="119380" h="119380"/>
            <a:bevelB w="119380" h="11938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768" dirty="0">
              <a:solidFill>
                <a:srgbClr val="FF0000"/>
              </a:solidFill>
            </a:endParaRPr>
          </a:p>
        </p:txBody>
      </p:sp>
      <p:sp>
        <p:nvSpPr>
          <p:cNvPr id="29" name="Oval 28"/>
          <p:cNvSpPr/>
          <p:nvPr/>
        </p:nvSpPr>
        <p:spPr>
          <a:xfrm>
            <a:off x="4830906" y="5140277"/>
            <a:ext cx="216180" cy="216180"/>
          </a:xfrm>
          <a:prstGeom prst="ellipse">
            <a:avLst/>
          </a:prstGeom>
          <a:solidFill>
            <a:srgbClr val="E5494D"/>
          </a:solidFill>
          <a:ln>
            <a:noFill/>
          </a:ln>
          <a:scene3d>
            <a:camera prst="orthographicFront"/>
            <a:lightRig rig="threePt" dir="t"/>
          </a:scene3d>
          <a:sp3d>
            <a:bevelT w="119380" h="119380"/>
            <a:bevelB w="119380" h="11938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768" dirty="0">
              <a:solidFill>
                <a:srgbClr val="FF0000"/>
              </a:solidFill>
            </a:endParaRPr>
          </a:p>
        </p:txBody>
      </p:sp>
      <p:sp>
        <p:nvSpPr>
          <p:cNvPr id="33" name="Oval 32"/>
          <p:cNvSpPr/>
          <p:nvPr/>
        </p:nvSpPr>
        <p:spPr>
          <a:xfrm>
            <a:off x="6909046" y="5125562"/>
            <a:ext cx="216180" cy="200792"/>
          </a:xfrm>
          <a:prstGeom prst="ellipse">
            <a:avLst/>
          </a:prstGeom>
          <a:solidFill>
            <a:srgbClr val="E5494D"/>
          </a:solidFill>
          <a:ln>
            <a:noFill/>
          </a:ln>
          <a:scene3d>
            <a:camera prst="orthographicFront"/>
            <a:lightRig rig="threePt" dir="t"/>
          </a:scene3d>
          <a:sp3d>
            <a:bevelT w="119380" h="119380"/>
            <a:bevelB w="119380" h="11938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768" dirty="0">
              <a:solidFill>
                <a:srgbClr val="FF0000"/>
              </a:solidFill>
            </a:endParaRPr>
          </a:p>
        </p:txBody>
      </p:sp>
      <p:sp>
        <p:nvSpPr>
          <p:cNvPr id="35" name="Oval 34"/>
          <p:cNvSpPr/>
          <p:nvPr/>
        </p:nvSpPr>
        <p:spPr>
          <a:xfrm>
            <a:off x="6008648" y="4472914"/>
            <a:ext cx="216180" cy="216180"/>
          </a:xfrm>
          <a:prstGeom prst="ellipse">
            <a:avLst/>
          </a:prstGeom>
          <a:solidFill>
            <a:srgbClr val="E5494D"/>
          </a:solidFill>
          <a:ln>
            <a:noFill/>
          </a:ln>
          <a:scene3d>
            <a:camera prst="orthographicFront"/>
            <a:lightRig rig="threePt" dir="t"/>
          </a:scene3d>
          <a:sp3d>
            <a:bevelT w="119380" h="119380"/>
            <a:bevelB w="119380" h="11938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768" dirty="0">
              <a:solidFill>
                <a:srgbClr val="FF0000"/>
              </a:solidFill>
            </a:endParaRPr>
          </a:p>
        </p:txBody>
      </p:sp>
      <p:sp>
        <p:nvSpPr>
          <p:cNvPr id="39" name="Oval 38"/>
          <p:cNvSpPr/>
          <p:nvPr/>
        </p:nvSpPr>
        <p:spPr>
          <a:xfrm>
            <a:off x="9744052" y="3474882"/>
            <a:ext cx="261579" cy="261579"/>
          </a:xfrm>
          <a:prstGeom prst="ellipse">
            <a:avLst/>
          </a:prstGeom>
          <a:solidFill>
            <a:srgbClr val="00B050"/>
          </a:solidFill>
          <a:ln>
            <a:noFill/>
          </a:ln>
          <a:scene3d>
            <a:camera prst="orthographicFront"/>
            <a:lightRig rig="threePt" dir="t"/>
          </a:scene3d>
          <a:sp3d>
            <a:bevelT w="127000" h="127000"/>
            <a:bevelB w="127000" h="127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768" dirty="0">
              <a:solidFill>
                <a:srgbClr val="FF0000"/>
              </a:solidFill>
            </a:endParaRPr>
          </a:p>
        </p:txBody>
      </p:sp>
      <p:sp>
        <p:nvSpPr>
          <p:cNvPr id="14" name="TextBox 13"/>
          <p:cNvSpPr txBox="1"/>
          <p:nvPr/>
        </p:nvSpPr>
        <p:spPr>
          <a:xfrm>
            <a:off x="4613369" y="2119775"/>
            <a:ext cx="3117256" cy="292388"/>
          </a:xfrm>
          <a:prstGeom prst="rect">
            <a:avLst/>
          </a:prstGeom>
          <a:noFill/>
        </p:spPr>
        <p:txBody>
          <a:bodyPr wrap="square" rtlCol="0">
            <a:spAutoFit/>
          </a:bodyPr>
          <a:lstStyle/>
          <a:p>
            <a:pPr algn="ctr"/>
            <a:r>
              <a:rPr lang="en-US" sz="1300" b="1" dirty="0" err="1"/>
              <a:t>CompanyA</a:t>
            </a:r>
            <a:endParaRPr lang="en-US" sz="1300" b="1" dirty="0"/>
          </a:p>
        </p:txBody>
      </p:sp>
      <p:sp>
        <p:nvSpPr>
          <p:cNvPr id="24" name="TextBox 23"/>
          <p:cNvSpPr txBox="1"/>
          <p:nvPr/>
        </p:nvSpPr>
        <p:spPr>
          <a:xfrm>
            <a:off x="8858017" y="3838360"/>
            <a:ext cx="2211166" cy="292388"/>
          </a:xfrm>
          <a:prstGeom prst="rect">
            <a:avLst/>
          </a:prstGeom>
          <a:noFill/>
        </p:spPr>
        <p:txBody>
          <a:bodyPr wrap="square" rtlCol="0">
            <a:spAutoFit/>
          </a:bodyPr>
          <a:lstStyle/>
          <a:p>
            <a:pPr algn="ctr" fontAlgn="b"/>
            <a:r>
              <a:rPr lang="en-IN" sz="1300" b="1" dirty="0" err="1">
                <a:solidFill>
                  <a:srgbClr val="000000"/>
                </a:solidFill>
                <a:latin typeface="Calibri" panose="020F0502020204030204" pitchFamily="34" charset="0"/>
              </a:rPr>
              <a:t>CompanyB</a:t>
            </a:r>
            <a:endParaRPr lang="en-IN" sz="1300" b="1" dirty="0">
              <a:solidFill>
                <a:srgbClr val="000000"/>
              </a:solidFill>
              <a:latin typeface="Calibri" panose="020F0502020204030204" pitchFamily="34" charset="0"/>
            </a:endParaRPr>
          </a:p>
        </p:txBody>
      </p:sp>
      <p:sp>
        <p:nvSpPr>
          <p:cNvPr id="25" name="TextBox 24"/>
          <p:cNvSpPr txBox="1"/>
          <p:nvPr/>
        </p:nvSpPr>
        <p:spPr>
          <a:xfrm>
            <a:off x="1693489" y="5097573"/>
            <a:ext cx="1602456" cy="292388"/>
          </a:xfrm>
          <a:prstGeom prst="rect">
            <a:avLst/>
          </a:prstGeom>
          <a:noFill/>
        </p:spPr>
        <p:txBody>
          <a:bodyPr wrap="square" rtlCol="0">
            <a:spAutoFit/>
          </a:bodyPr>
          <a:lstStyle/>
          <a:p>
            <a:r>
              <a:rPr lang="en-IN" sz="1300" b="1" dirty="0" err="1"/>
              <a:t>CompanyD</a:t>
            </a:r>
            <a:endParaRPr lang="en-IN" sz="1300" b="1" dirty="0"/>
          </a:p>
        </p:txBody>
      </p:sp>
      <p:sp>
        <p:nvSpPr>
          <p:cNvPr id="27" name="TextBox 26"/>
          <p:cNvSpPr txBox="1"/>
          <p:nvPr/>
        </p:nvSpPr>
        <p:spPr>
          <a:xfrm>
            <a:off x="7834559" y="4627922"/>
            <a:ext cx="1698919" cy="292388"/>
          </a:xfrm>
          <a:prstGeom prst="rect">
            <a:avLst/>
          </a:prstGeom>
          <a:noFill/>
        </p:spPr>
        <p:txBody>
          <a:bodyPr wrap="square" rtlCol="0">
            <a:spAutoFit/>
          </a:bodyPr>
          <a:lstStyle/>
          <a:p>
            <a:pPr algn="ctr"/>
            <a:r>
              <a:rPr lang="en-US" sz="1300" b="1" dirty="0" err="1"/>
              <a:t>CompanyF</a:t>
            </a:r>
            <a:endParaRPr lang="en-US" sz="1300" b="1" dirty="0"/>
          </a:p>
        </p:txBody>
      </p:sp>
      <p:sp>
        <p:nvSpPr>
          <p:cNvPr id="28" name="TextBox 27"/>
          <p:cNvSpPr txBox="1"/>
          <p:nvPr/>
        </p:nvSpPr>
        <p:spPr>
          <a:xfrm>
            <a:off x="2889865" y="4962870"/>
            <a:ext cx="1608978" cy="292388"/>
          </a:xfrm>
          <a:prstGeom prst="rect">
            <a:avLst/>
          </a:prstGeom>
          <a:noFill/>
        </p:spPr>
        <p:txBody>
          <a:bodyPr wrap="square" rtlCol="0">
            <a:spAutoFit/>
          </a:bodyPr>
          <a:lstStyle/>
          <a:p>
            <a:r>
              <a:rPr lang="en-US" sz="1300" b="1" dirty="0" err="1"/>
              <a:t>CompanyG</a:t>
            </a:r>
            <a:endParaRPr lang="en-US" sz="1300" b="1" dirty="0"/>
          </a:p>
        </p:txBody>
      </p:sp>
      <p:sp>
        <p:nvSpPr>
          <p:cNvPr id="30" name="TextBox 29"/>
          <p:cNvSpPr txBox="1"/>
          <p:nvPr/>
        </p:nvSpPr>
        <p:spPr>
          <a:xfrm>
            <a:off x="6131877" y="5367112"/>
            <a:ext cx="1921427" cy="292388"/>
          </a:xfrm>
          <a:prstGeom prst="rect">
            <a:avLst/>
          </a:prstGeom>
          <a:noFill/>
        </p:spPr>
        <p:txBody>
          <a:bodyPr wrap="square" rtlCol="0">
            <a:spAutoFit/>
          </a:bodyPr>
          <a:lstStyle/>
          <a:p>
            <a:pPr algn="ctr"/>
            <a:r>
              <a:rPr lang="en-US" sz="1300" b="1" dirty="0" err="1"/>
              <a:t>CompanyI</a:t>
            </a:r>
            <a:endParaRPr lang="en-US" sz="1300" b="1" dirty="0"/>
          </a:p>
        </p:txBody>
      </p:sp>
      <p:sp>
        <p:nvSpPr>
          <p:cNvPr id="31" name="TextBox 30"/>
          <p:cNvSpPr txBox="1"/>
          <p:nvPr/>
        </p:nvSpPr>
        <p:spPr>
          <a:xfrm>
            <a:off x="4294402" y="5389961"/>
            <a:ext cx="1299758" cy="292388"/>
          </a:xfrm>
          <a:prstGeom prst="rect">
            <a:avLst/>
          </a:prstGeom>
          <a:noFill/>
        </p:spPr>
        <p:txBody>
          <a:bodyPr wrap="square" rtlCol="0">
            <a:spAutoFit/>
          </a:bodyPr>
          <a:lstStyle/>
          <a:p>
            <a:pPr algn="ctr"/>
            <a:r>
              <a:rPr lang="en-US" sz="1300" b="1" dirty="0" err="1"/>
              <a:t>CompanyJ</a:t>
            </a:r>
            <a:endParaRPr lang="en-US" sz="1300" b="1" dirty="0"/>
          </a:p>
        </p:txBody>
      </p:sp>
      <p:sp>
        <p:nvSpPr>
          <p:cNvPr id="34" name="Oval 33"/>
          <p:cNvSpPr/>
          <p:nvPr/>
        </p:nvSpPr>
        <p:spPr>
          <a:xfrm>
            <a:off x="2945617" y="2862608"/>
            <a:ext cx="261579" cy="261579"/>
          </a:xfrm>
          <a:prstGeom prst="ellipse">
            <a:avLst/>
          </a:prstGeom>
          <a:solidFill>
            <a:srgbClr val="00B050"/>
          </a:solidFill>
          <a:ln>
            <a:noFill/>
          </a:ln>
          <a:scene3d>
            <a:camera prst="orthographicFront"/>
            <a:lightRig rig="threePt" dir="t"/>
          </a:scene3d>
          <a:sp3d>
            <a:bevelT w="127000" h="127000"/>
            <a:bevelB w="127000" h="127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768" dirty="0">
              <a:solidFill>
                <a:srgbClr val="FF0000"/>
              </a:solidFill>
            </a:endParaRPr>
          </a:p>
        </p:txBody>
      </p:sp>
      <p:sp>
        <p:nvSpPr>
          <p:cNvPr id="36" name="TextBox 35"/>
          <p:cNvSpPr txBox="1"/>
          <p:nvPr/>
        </p:nvSpPr>
        <p:spPr>
          <a:xfrm>
            <a:off x="2026206" y="3147555"/>
            <a:ext cx="2211166" cy="292388"/>
          </a:xfrm>
          <a:prstGeom prst="rect">
            <a:avLst/>
          </a:prstGeom>
          <a:noFill/>
        </p:spPr>
        <p:txBody>
          <a:bodyPr wrap="square" rtlCol="0">
            <a:spAutoFit/>
          </a:bodyPr>
          <a:lstStyle/>
          <a:p>
            <a:pPr algn="ctr" fontAlgn="b"/>
            <a:r>
              <a:rPr lang="en-IN" sz="1300" b="1" dirty="0" err="1">
                <a:solidFill>
                  <a:srgbClr val="000000"/>
                </a:solidFill>
                <a:latin typeface="Calibri" panose="020F0502020204030204" pitchFamily="34" charset="0"/>
              </a:rPr>
              <a:t>CompanyC</a:t>
            </a:r>
            <a:endParaRPr lang="en-IN" sz="1300" b="1" dirty="0">
              <a:solidFill>
                <a:srgbClr val="000000"/>
              </a:solidFill>
              <a:latin typeface="Calibri" panose="020F0502020204030204" pitchFamily="34" charset="0"/>
            </a:endParaRPr>
          </a:p>
        </p:txBody>
      </p:sp>
      <p:sp>
        <p:nvSpPr>
          <p:cNvPr id="37" name="Oval 36"/>
          <p:cNvSpPr/>
          <p:nvPr/>
        </p:nvSpPr>
        <p:spPr>
          <a:xfrm>
            <a:off x="6008538" y="3331579"/>
            <a:ext cx="216180" cy="216180"/>
          </a:xfrm>
          <a:prstGeom prst="ellipse">
            <a:avLst/>
          </a:prstGeom>
          <a:solidFill>
            <a:srgbClr val="FFC000"/>
          </a:solidFill>
          <a:ln>
            <a:noFill/>
          </a:ln>
          <a:scene3d>
            <a:camera prst="orthographicFront"/>
            <a:lightRig rig="threePt" dir="t"/>
          </a:scene3d>
          <a:sp3d>
            <a:bevelT w="119380" h="119380"/>
            <a:bevelB w="119380" h="11938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768" dirty="0">
              <a:solidFill>
                <a:srgbClr val="FF0000"/>
              </a:solidFill>
            </a:endParaRPr>
          </a:p>
        </p:txBody>
      </p:sp>
      <p:sp>
        <p:nvSpPr>
          <p:cNvPr id="38" name="TextBox 37"/>
          <p:cNvSpPr txBox="1"/>
          <p:nvPr/>
        </p:nvSpPr>
        <p:spPr>
          <a:xfrm>
            <a:off x="5205047" y="3588517"/>
            <a:ext cx="1927116" cy="292388"/>
          </a:xfrm>
          <a:prstGeom prst="rect">
            <a:avLst/>
          </a:prstGeom>
          <a:noFill/>
        </p:spPr>
        <p:txBody>
          <a:bodyPr wrap="square" rtlCol="0">
            <a:spAutoFit/>
          </a:bodyPr>
          <a:lstStyle/>
          <a:p>
            <a:pPr algn="ctr"/>
            <a:r>
              <a:rPr lang="en-IN" sz="1300" b="1" dirty="0" err="1"/>
              <a:t>CompanyE</a:t>
            </a:r>
            <a:endParaRPr lang="en-IN" sz="1300" b="1" dirty="0"/>
          </a:p>
        </p:txBody>
      </p:sp>
      <p:sp>
        <p:nvSpPr>
          <p:cNvPr id="41" name="Oval 40"/>
          <p:cNvSpPr/>
          <p:nvPr/>
        </p:nvSpPr>
        <p:spPr>
          <a:xfrm>
            <a:off x="2054554" y="4590693"/>
            <a:ext cx="261579" cy="261579"/>
          </a:xfrm>
          <a:prstGeom prst="ellipse">
            <a:avLst/>
          </a:prstGeom>
          <a:solidFill>
            <a:srgbClr val="00B050"/>
          </a:solidFill>
          <a:ln>
            <a:noFill/>
          </a:ln>
          <a:scene3d>
            <a:camera prst="orthographicFront"/>
            <a:lightRig rig="threePt" dir="t"/>
          </a:scene3d>
          <a:sp3d>
            <a:bevelT w="127000" h="127000"/>
            <a:bevelB w="127000" h="127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768" dirty="0">
              <a:solidFill>
                <a:srgbClr val="FF0000"/>
              </a:solidFill>
            </a:endParaRPr>
          </a:p>
        </p:txBody>
      </p:sp>
      <p:sp>
        <p:nvSpPr>
          <p:cNvPr id="42" name="TextBox 41"/>
          <p:cNvSpPr txBox="1"/>
          <p:nvPr/>
        </p:nvSpPr>
        <p:spPr>
          <a:xfrm>
            <a:off x="5645610" y="4706078"/>
            <a:ext cx="1608978" cy="292388"/>
          </a:xfrm>
          <a:prstGeom prst="rect">
            <a:avLst/>
          </a:prstGeom>
          <a:noFill/>
        </p:spPr>
        <p:txBody>
          <a:bodyPr wrap="square" rtlCol="0">
            <a:spAutoFit/>
          </a:bodyPr>
          <a:lstStyle/>
          <a:p>
            <a:r>
              <a:rPr lang="en-US" sz="1300" b="1" dirty="0" err="1"/>
              <a:t>CompanyH</a:t>
            </a:r>
            <a:endParaRPr lang="en-US" sz="1300" b="1" dirty="0"/>
          </a:p>
        </p:txBody>
      </p:sp>
      <p:sp>
        <p:nvSpPr>
          <p:cNvPr id="44" name="TextBox 43"/>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Tree>
    <p:extLst>
      <p:ext uri="{BB962C8B-B14F-4D97-AF65-F5344CB8AC3E}">
        <p14:creationId xmlns:p14="http://schemas.microsoft.com/office/powerpoint/2010/main" val="2201550656"/>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a:t>WXYZ Market Concentration by Top Players (2023)</a:t>
            </a:r>
            <a:endParaRPr lang="en-US" dirty="0"/>
          </a:p>
        </p:txBody>
      </p:sp>
      <p:sp>
        <p:nvSpPr>
          <p:cNvPr id="2" name="Slide Number Placeholder 1"/>
          <p:cNvSpPr>
            <a:spLocks noGrp="1"/>
          </p:cNvSpPr>
          <p:nvPr>
            <p:ph type="sldNum" sz="quarter" idx="4"/>
          </p:nvPr>
        </p:nvSpPr>
        <p:spPr/>
        <p:txBody>
          <a:bodyPr/>
          <a:lstStyle/>
          <a:p>
            <a:fld id="{4B17068C-EB94-40A3-A5F2-664CDD77FDAC}" type="slidenum">
              <a:rPr lang="en-GB" smtClean="0"/>
              <a:pPr/>
              <a:t>253</a:t>
            </a:fld>
            <a:endParaRPr lang="en-GB" dirty="0"/>
          </a:p>
        </p:txBody>
      </p:sp>
      <p:graphicFrame>
        <p:nvGraphicFramePr>
          <p:cNvPr id="6" name="Content Placeholder 12"/>
          <p:cNvGraphicFramePr>
            <a:graphicFrameLocks/>
          </p:cNvGraphicFramePr>
          <p:nvPr>
            <p:extLst>
              <p:ext uri="{D42A27DB-BD31-4B8C-83A1-F6EECF244321}">
                <p14:modId xmlns:p14="http://schemas.microsoft.com/office/powerpoint/2010/main" val="2677208246"/>
              </p:ext>
            </p:extLst>
          </p:nvPr>
        </p:nvGraphicFramePr>
        <p:xfrm>
          <a:off x="591671" y="883920"/>
          <a:ext cx="7583510" cy="503386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Table 6"/>
          <p:cNvGraphicFramePr>
            <a:graphicFrameLocks noGrp="1"/>
          </p:cNvGraphicFramePr>
          <p:nvPr>
            <p:extLst>
              <p:ext uri="{D42A27DB-BD31-4B8C-83A1-F6EECF244321}">
                <p14:modId xmlns:p14="http://schemas.microsoft.com/office/powerpoint/2010/main" val="3115295041"/>
              </p:ext>
            </p:extLst>
          </p:nvPr>
        </p:nvGraphicFramePr>
        <p:xfrm>
          <a:off x="6325485" y="1589565"/>
          <a:ext cx="3860121" cy="3348191"/>
        </p:xfrm>
        <a:graphic>
          <a:graphicData uri="http://schemas.openxmlformats.org/drawingml/2006/table">
            <a:tbl>
              <a:tblPr firstRow="1" bandRow="1">
                <a:tableStyleId>{B301B821-A1FF-4177-AEE7-76D212191A09}</a:tableStyleId>
              </a:tblPr>
              <a:tblGrid>
                <a:gridCol w="3860121">
                  <a:extLst>
                    <a:ext uri="{9D8B030D-6E8A-4147-A177-3AD203B41FA5}">
                      <a16:colId xmlns:a16="http://schemas.microsoft.com/office/drawing/2014/main" val="20000"/>
                    </a:ext>
                  </a:extLst>
                </a:gridCol>
              </a:tblGrid>
              <a:tr h="361329">
                <a:tc>
                  <a:txBody>
                    <a:bodyPr/>
                    <a:lstStyle/>
                    <a:p>
                      <a:pPr algn="ctr"/>
                      <a:r>
                        <a:rPr lang="en-US" sz="1400" dirty="0"/>
                        <a:t>List of</a:t>
                      </a:r>
                      <a:r>
                        <a:rPr lang="en-US" sz="1400" baseline="0" dirty="0"/>
                        <a:t> Key Manufacturers</a:t>
                      </a:r>
                      <a:endParaRPr lang="en-US" sz="1400" b="1" dirty="0"/>
                    </a:p>
                  </a:txBody>
                  <a:tcPr anchor="ctr"/>
                </a:tc>
                <a:extLst>
                  <a:ext uri="{0D108BD9-81ED-4DB2-BD59-A6C34878D82A}">
                    <a16:rowId xmlns:a16="http://schemas.microsoft.com/office/drawing/2014/main" val="10000"/>
                  </a:ext>
                </a:extLst>
              </a:tr>
              <a:tr h="329192">
                <a:tc>
                  <a:txBody>
                    <a:bodyPr/>
                    <a:lstStyle/>
                    <a:p>
                      <a:pPr algn="ctr" rtl="0" fontAlgn="ctr"/>
                      <a:r>
                        <a:rPr lang="en-IN" sz="1300" b="0" i="0" u="none" strike="noStrike" dirty="0" err="1">
                          <a:solidFill>
                            <a:srgbClr val="000000"/>
                          </a:solidFill>
                          <a:effectLst/>
                          <a:latin typeface="Calibri" panose="020F0502020204030204" pitchFamily="34" charset="0"/>
                        </a:rPr>
                        <a:t>CompanyA</a:t>
                      </a:r>
                      <a:endParaRPr lang="en-IN" sz="1300" b="0" i="0" u="none" strike="noStrike" dirty="0">
                        <a:solidFill>
                          <a:srgbClr val="000000"/>
                        </a:solidFill>
                        <a:effectLst/>
                        <a:latin typeface="Calibri" panose="020F0502020204030204" pitchFamily="34" charset="0"/>
                      </a:endParaRPr>
                    </a:p>
                  </a:txBody>
                  <a:tcPr marL="171450" marR="9525" marT="9525" marB="0" anchor="ctr"/>
                </a:tc>
                <a:extLst>
                  <a:ext uri="{0D108BD9-81ED-4DB2-BD59-A6C34878D82A}">
                    <a16:rowId xmlns:a16="http://schemas.microsoft.com/office/drawing/2014/main" val="10001"/>
                  </a:ext>
                </a:extLst>
              </a:tr>
              <a:tr h="329192">
                <a:tc>
                  <a:txBody>
                    <a:bodyPr/>
                    <a:lstStyle/>
                    <a:p>
                      <a:pPr algn="ctr" rtl="0" fontAlgn="ctr"/>
                      <a:r>
                        <a:rPr lang="en-IN" sz="1300" b="0" i="0" u="none" strike="noStrike">
                          <a:solidFill>
                            <a:srgbClr val="000000"/>
                          </a:solidFill>
                          <a:effectLst/>
                          <a:latin typeface="Calibri" panose="020F0502020204030204" pitchFamily="34" charset="0"/>
                        </a:rPr>
                        <a:t>CompanyB</a:t>
                      </a:r>
                    </a:p>
                  </a:txBody>
                  <a:tcPr marL="171450" marR="9525" marT="9525" marB="0" anchor="ctr"/>
                </a:tc>
                <a:extLst>
                  <a:ext uri="{0D108BD9-81ED-4DB2-BD59-A6C34878D82A}">
                    <a16:rowId xmlns:a16="http://schemas.microsoft.com/office/drawing/2014/main" val="1421175385"/>
                  </a:ext>
                </a:extLst>
              </a:tr>
              <a:tr h="329192">
                <a:tc>
                  <a:txBody>
                    <a:bodyPr/>
                    <a:lstStyle/>
                    <a:p>
                      <a:pPr algn="ctr" rtl="0" fontAlgn="ctr"/>
                      <a:r>
                        <a:rPr lang="en-IN" sz="1300" b="0" i="0" u="none" strike="noStrike">
                          <a:solidFill>
                            <a:srgbClr val="000000"/>
                          </a:solidFill>
                          <a:effectLst/>
                          <a:latin typeface="Calibri" panose="020F0502020204030204" pitchFamily="34" charset="0"/>
                        </a:rPr>
                        <a:t>CompanyC</a:t>
                      </a:r>
                    </a:p>
                  </a:txBody>
                  <a:tcPr marL="171450" marR="9525" marT="9525" marB="0" anchor="ctr"/>
                </a:tc>
                <a:extLst>
                  <a:ext uri="{0D108BD9-81ED-4DB2-BD59-A6C34878D82A}">
                    <a16:rowId xmlns:a16="http://schemas.microsoft.com/office/drawing/2014/main" val="3322611100"/>
                  </a:ext>
                </a:extLst>
              </a:tr>
              <a:tr h="329192">
                <a:tc>
                  <a:txBody>
                    <a:bodyPr/>
                    <a:lstStyle/>
                    <a:p>
                      <a:pPr algn="ctr" rtl="0" fontAlgn="ctr"/>
                      <a:r>
                        <a:rPr lang="en-IN" sz="1300" b="0" i="0" u="none" strike="noStrike">
                          <a:solidFill>
                            <a:srgbClr val="000000"/>
                          </a:solidFill>
                          <a:effectLst/>
                          <a:latin typeface="Calibri" panose="020F0502020204030204" pitchFamily="34" charset="0"/>
                        </a:rPr>
                        <a:t>CompanyD</a:t>
                      </a:r>
                    </a:p>
                  </a:txBody>
                  <a:tcPr marL="171450" marR="9525" marT="9525" marB="0" anchor="ctr"/>
                </a:tc>
                <a:extLst>
                  <a:ext uri="{0D108BD9-81ED-4DB2-BD59-A6C34878D82A}">
                    <a16:rowId xmlns:a16="http://schemas.microsoft.com/office/drawing/2014/main" val="1374163246"/>
                  </a:ext>
                </a:extLst>
              </a:tr>
              <a:tr h="329192">
                <a:tc>
                  <a:txBody>
                    <a:bodyPr/>
                    <a:lstStyle/>
                    <a:p>
                      <a:pPr algn="ctr" rtl="0" fontAlgn="ctr"/>
                      <a:r>
                        <a:rPr lang="en-IN" sz="1300" b="0" i="0" u="none" strike="noStrike">
                          <a:solidFill>
                            <a:srgbClr val="000000"/>
                          </a:solidFill>
                          <a:effectLst/>
                          <a:latin typeface="Calibri" panose="020F0502020204030204" pitchFamily="34" charset="0"/>
                        </a:rPr>
                        <a:t>CompanyE</a:t>
                      </a:r>
                    </a:p>
                  </a:txBody>
                  <a:tcPr marL="171450" marR="9525" marT="9525" marB="0" anchor="ctr"/>
                </a:tc>
                <a:extLst>
                  <a:ext uri="{0D108BD9-81ED-4DB2-BD59-A6C34878D82A}">
                    <a16:rowId xmlns:a16="http://schemas.microsoft.com/office/drawing/2014/main" val="10002"/>
                  </a:ext>
                </a:extLst>
              </a:tr>
              <a:tr h="353326">
                <a:tc>
                  <a:txBody>
                    <a:bodyPr/>
                    <a:lstStyle/>
                    <a:p>
                      <a:pPr algn="ctr" rtl="0" fontAlgn="ctr"/>
                      <a:r>
                        <a:rPr lang="en-IN" sz="1300" b="0" i="0" u="none" strike="noStrike" dirty="0" err="1">
                          <a:solidFill>
                            <a:srgbClr val="000000"/>
                          </a:solidFill>
                          <a:effectLst/>
                          <a:latin typeface="Calibri" panose="020F0502020204030204" pitchFamily="34" charset="0"/>
                        </a:rPr>
                        <a:t>CompanyF</a:t>
                      </a:r>
                      <a:endParaRPr lang="en-IN" sz="1300" b="0" i="0" u="none" strike="noStrike" dirty="0">
                        <a:solidFill>
                          <a:srgbClr val="000000"/>
                        </a:solidFill>
                        <a:effectLst/>
                        <a:latin typeface="Calibri" panose="020F0502020204030204" pitchFamily="34" charset="0"/>
                      </a:endParaRPr>
                    </a:p>
                  </a:txBody>
                  <a:tcPr marL="171450" marR="9525" marT="9525" marB="0" anchor="ctr"/>
                </a:tc>
                <a:extLst>
                  <a:ext uri="{0D108BD9-81ED-4DB2-BD59-A6C34878D82A}">
                    <a16:rowId xmlns:a16="http://schemas.microsoft.com/office/drawing/2014/main" val="10003"/>
                  </a:ext>
                </a:extLst>
              </a:tr>
              <a:tr h="329192">
                <a:tc>
                  <a:txBody>
                    <a:bodyPr/>
                    <a:lstStyle/>
                    <a:p>
                      <a:pPr algn="ctr" rtl="0" fontAlgn="ctr"/>
                      <a:r>
                        <a:rPr lang="en-IN" sz="1300" b="0" i="0" u="none" strike="noStrike" dirty="0" err="1">
                          <a:solidFill>
                            <a:srgbClr val="000000"/>
                          </a:solidFill>
                          <a:effectLst/>
                          <a:latin typeface="Calibri" panose="020F0502020204030204" pitchFamily="34" charset="0"/>
                        </a:rPr>
                        <a:t>CompanyG</a:t>
                      </a:r>
                      <a:endParaRPr lang="en-IN" sz="1300" b="0" i="0" u="none" strike="noStrike" dirty="0">
                        <a:solidFill>
                          <a:srgbClr val="000000"/>
                        </a:solidFill>
                        <a:effectLst/>
                        <a:latin typeface="Calibri" panose="020F0502020204030204" pitchFamily="34" charset="0"/>
                      </a:endParaRPr>
                    </a:p>
                  </a:txBody>
                  <a:tcPr marL="171450" marR="9525" marT="9525" marB="0" anchor="ctr"/>
                </a:tc>
                <a:extLst>
                  <a:ext uri="{0D108BD9-81ED-4DB2-BD59-A6C34878D82A}">
                    <a16:rowId xmlns:a16="http://schemas.microsoft.com/office/drawing/2014/main" val="10004"/>
                  </a:ext>
                </a:extLst>
              </a:tr>
              <a:tr h="329192">
                <a:tc>
                  <a:txBody>
                    <a:bodyPr/>
                    <a:lstStyle/>
                    <a:p>
                      <a:pPr algn="ctr" rtl="0" fontAlgn="ctr"/>
                      <a:r>
                        <a:rPr lang="en-IN" sz="1300" b="0" i="0" u="none" strike="noStrike" dirty="0" err="1">
                          <a:solidFill>
                            <a:srgbClr val="000000"/>
                          </a:solidFill>
                          <a:effectLst/>
                          <a:latin typeface="Calibri" panose="020F0502020204030204" pitchFamily="34" charset="0"/>
                        </a:rPr>
                        <a:t>CompanyH</a:t>
                      </a:r>
                      <a:endParaRPr lang="en-IN" sz="1300" b="0" i="0" u="none" strike="noStrike" dirty="0">
                        <a:solidFill>
                          <a:srgbClr val="000000"/>
                        </a:solidFill>
                        <a:effectLst/>
                        <a:latin typeface="Calibri" panose="020F0502020204030204" pitchFamily="34" charset="0"/>
                      </a:endParaRPr>
                    </a:p>
                  </a:txBody>
                  <a:tcPr marL="171450" marR="9525" marT="9525" marB="0" anchor="ctr"/>
                </a:tc>
                <a:extLst>
                  <a:ext uri="{0D108BD9-81ED-4DB2-BD59-A6C34878D82A}">
                    <a16:rowId xmlns:a16="http://schemas.microsoft.com/office/drawing/2014/main" val="10005"/>
                  </a:ext>
                </a:extLst>
              </a:tr>
              <a:tr h="329192">
                <a:tc>
                  <a:txBody>
                    <a:bodyPr/>
                    <a:lstStyle/>
                    <a:p>
                      <a:pPr algn="ctr" rtl="0" fontAlgn="ctr"/>
                      <a:r>
                        <a:rPr lang="en-IN" sz="1300" b="0" i="0" u="none" strike="noStrike" dirty="0" err="1">
                          <a:solidFill>
                            <a:srgbClr val="000000"/>
                          </a:solidFill>
                          <a:effectLst/>
                          <a:latin typeface="Calibri" panose="020F0502020204030204" pitchFamily="34" charset="0"/>
                        </a:rPr>
                        <a:t>CompanyI</a:t>
                      </a:r>
                      <a:endParaRPr lang="en-IN" sz="1300" b="0" i="0" u="none" strike="noStrike" dirty="0">
                        <a:solidFill>
                          <a:srgbClr val="000000"/>
                        </a:solidFill>
                        <a:effectLst/>
                        <a:latin typeface="Calibri" panose="020F0502020204030204" pitchFamily="34" charset="0"/>
                      </a:endParaRPr>
                    </a:p>
                  </a:txBody>
                  <a:tcPr marL="171450" marR="9525" marT="9525" marB="0" anchor="ctr"/>
                </a:tc>
                <a:extLst>
                  <a:ext uri="{0D108BD9-81ED-4DB2-BD59-A6C34878D82A}">
                    <a16:rowId xmlns:a16="http://schemas.microsoft.com/office/drawing/2014/main" val="10006"/>
                  </a:ext>
                </a:extLst>
              </a:tr>
            </a:tbl>
          </a:graphicData>
        </a:graphic>
      </p:graphicFrame>
      <p:sp>
        <p:nvSpPr>
          <p:cNvPr id="8" name="Rounded Rectangle 7"/>
          <p:cNvSpPr/>
          <p:nvPr/>
        </p:nvSpPr>
        <p:spPr>
          <a:xfrm>
            <a:off x="6217910" y="5057721"/>
            <a:ext cx="4630314" cy="1099457"/>
          </a:xfrm>
          <a:prstGeom prst="roundRect">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1600" dirty="0">
                <a:solidFill>
                  <a:schemeClr val="tx1"/>
                </a:solidFill>
              </a:rPr>
              <a:t>In the WXYZ Market, around a ~xx% market share is carried by the top key players, and these players play a significant role in the growth of overall market.</a:t>
            </a:r>
          </a:p>
        </p:txBody>
      </p:sp>
      <p:sp>
        <p:nvSpPr>
          <p:cNvPr id="9" name="Rectangle 8"/>
          <p:cNvSpPr/>
          <p:nvPr/>
        </p:nvSpPr>
        <p:spPr>
          <a:xfrm>
            <a:off x="5353121" y="2537552"/>
            <a:ext cx="864789" cy="1243410"/>
          </a:xfrm>
          <a:prstGeom prst="rect">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tx1"/>
                </a:solidFill>
              </a:rPr>
              <a:t>Market Size: ~US$ xx</a:t>
            </a:r>
          </a:p>
          <a:p>
            <a:pPr algn="ctr"/>
            <a:r>
              <a:rPr lang="en-US" sz="1400" b="1" dirty="0" err="1">
                <a:solidFill>
                  <a:schemeClr val="tx1"/>
                </a:solidFill>
              </a:rPr>
              <a:t>Mn</a:t>
            </a:r>
            <a:endParaRPr lang="en-US" sz="1400" b="1" dirty="0">
              <a:solidFill>
                <a:schemeClr val="tx1"/>
              </a:solidFill>
            </a:endParaRPr>
          </a:p>
        </p:txBody>
      </p:sp>
      <p:sp>
        <p:nvSpPr>
          <p:cNvPr id="11" name="TextBox 10"/>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Tree>
    <p:extLst>
      <p:ext uri="{BB962C8B-B14F-4D97-AF65-F5344CB8AC3E}">
        <p14:creationId xmlns:p14="http://schemas.microsoft.com/office/powerpoint/2010/main" val="1090955402"/>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IN" dirty="0"/>
              <a:t>WXYZ Value Share Analysis By Companies (2023)</a:t>
            </a:r>
            <a:endParaRPr lang="en-US" dirty="0"/>
          </a:p>
        </p:txBody>
      </p:sp>
      <p:sp>
        <p:nvSpPr>
          <p:cNvPr id="6" name="Text Placeholder 5"/>
          <p:cNvSpPr>
            <a:spLocks noGrp="1"/>
          </p:cNvSpPr>
          <p:nvPr>
            <p:ph type="body" idx="12"/>
          </p:nvPr>
        </p:nvSpPr>
        <p:spPr/>
        <p:txBody>
          <a:bodyPr/>
          <a:lstStyle/>
          <a:p>
            <a:r>
              <a:rPr lang="en-IN" dirty="0"/>
              <a:t>WXYZ Market Value Share Analysis By Key Companies, 2023</a:t>
            </a:r>
          </a:p>
        </p:txBody>
      </p:sp>
      <p:sp>
        <p:nvSpPr>
          <p:cNvPr id="7" name="Content Placeholder 6"/>
          <p:cNvSpPr>
            <a:spLocks noGrp="1"/>
          </p:cNvSpPr>
          <p:nvPr>
            <p:ph idx="13"/>
          </p:nvPr>
        </p:nvSpPr>
        <p:spPr/>
        <p:txBody>
          <a:bodyPr/>
          <a:lstStyle/>
          <a:p>
            <a:pPr>
              <a:lnSpc>
                <a:spcPct val="120000"/>
              </a:lnSpc>
              <a:spcBef>
                <a:spcPts val="393"/>
              </a:spcBef>
              <a:spcAft>
                <a:spcPts val="393"/>
              </a:spcAft>
            </a:pPr>
            <a:r>
              <a:rPr lang="en-US" sz="1400" b="1" dirty="0"/>
              <a:t>The graph besides projects the WXYZ Market share held by the leading players of the market that are actively involved in the WXYZ </a:t>
            </a:r>
            <a:r>
              <a:rPr lang="en-IN" sz="1400" b="1" dirty="0"/>
              <a:t>Market.</a:t>
            </a:r>
            <a:endParaRPr lang="en-IN" sz="1400" b="1" dirty="0">
              <a:solidFill>
                <a:srgbClr val="FF0000"/>
              </a:solidFill>
            </a:endParaRPr>
          </a:p>
          <a:p>
            <a:pPr lvl="1">
              <a:lnSpc>
                <a:spcPct val="120000"/>
              </a:lnSpc>
              <a:spcBef>
                <a:spcPts val="393"/>
              </a:spcBef>
              <a:spcAft>
                <a:spcPts val="393"/>
              </a:spcAft>
            </a:pPr>
            <a:r>
              <a:rPr lang="en-US" sz="1300" i="1" dirty="0"/>
              <a:t>The  WXYZ Market is a consolidated market with a small number of players holding majority of shares in the market. Key market participants </a:t>
            </a:r>
            <a:r>
              <a:rPr lang="en-GB" sz="1300" i="1" dirty="0"/>
              <a:t>accounts for about xx percentage of the WXYZ </a:t>
            </a:r>
            <a:r>
              <a:rPr lang="en-US" sz="1300" i="1" dirty="0"/>
              <a:t>Market </a:t>
            </a:r>
            <a:r>
              <a:rPr lang="en-GB" sz="1300" i="1" dirty="0"/>
              <a:t>share.</a:t>
            </a:r>
          </a:p>
          <a:p>
            <a:pPr lvl="1">
              <a:lnSpc>
                <a:spcPct val="120000"/>
              </a:lnSpc>
              <a:spcBef>
                <a:spcPts val="393"/>
              </a:spcBef>
              <a:spcAft>
                <a:spcPts val="393"/>
              </a:spcAft>
            </a:pPr>
            <a:r>
              <a:rPr lang="en-IN" sz="1300" i="1" dirty="0"/>
              <a:t>Majority of the market is captured by key players. Among key players are </a:t>
            </a:r>
            <a:r>
              <a:rPr lang="en-US" sz="1300" i="1" dirty="0"/>
              <a:t>Company1, Company2, Company3, Company4, Company5, Company6, Company7, Company8, </a:t>
            </a:r>
            <a:r>
              <a:rPr lang="en-IN" sz="1300" i="1" dirty="0"/>
              <a:t>and few others hold dominating shares in the market.</a:t>
            </a:r>
          </a:p>
          <a:p>
            <a:pPr lvl="1">
              <a:lnSpc>
                <a:spcPct val="120000"/>
              </a:lnSpc>
              <a:spcBef>
                <a:spcPts val="393"/>
              </a:spcBef>
              <a:spcAft>
                <a:spcPts val="393"/>
              </a:spcAft>
            </a:pPr>
            <a:r>
              <a:rPr lang="en-IN" sz="1300" i="1" dirty="0"/>
              <a:t>Moreover, key players are also investing fair amount of capital in exploration of new application areas of WXYZ Market.</a:t>
            </a:r>
            <a:endParaRPr lang="en-US" sz="1300" i="1" dirty="0"/>
          </a:p>
        </p:txBody>
      </p:sp>
      <p:sp>
        <p:nvSpPr>
          <p:cNvPr id="8" name="Text Placeholder 7"/>
          <p:cNvSpPr>
            <a:spLocks noGrp="1"/>
          </p:cNvSpPr>
          <p:nvPr>
            <p:ph type="body" idx="14"/>
          </p:nvPr>
        </p:nvSpPr>
        <p:spPr/>
        <p:txBody>
          <a:bodyPr/>
          <a:lstStyle/>
          <a:p>
            <a:r>
              <a:rPr lang="en-IN" dirty="0"/>
              <a:t>Key Takeaways</a:t>
            </a:r>
          </a:p>
        </p:txBody>
      </p:sp>
      <p:graphicFrame>
        <p:nvGraphicFramePr>
          <p:cNvPr id="9" name="Content Placeholder 11"/>
          <p:cNvGraphicFramePr>
            <a:graphicFrameLocks noGrp="1"/>
          </p:cNvGraphicFramePr>
          <p:nvPr>
            <p:ph idx="1"/>
            <p:extLst>
              <p:ext uri="{D42A27DB-BD31-4B8C-83A1-F6EECF244321}">
                <p14:modId xmlns:p14="http://schemas.microsoft.com/office/powerpoint/2010/main" val="463043788"/>
              </p:ext>
            </p:extLst>
          </p:nvPr>
        </p:nvGraphicFramePr>
        <p:xfrm>
          <a:off x="261256" y="1612901"/>
          <a:ext cx="5654635" cy="4594225"/>
        </p:xfrm>
        <a:graphic>
          <a:graphicData uri="http://schemas.openxmlformats.org/drawingml/2006/chart">
            <c:chart xmlns:c="http://schemas.openxmlformats.org/drawingml/2006/chart" xmlns:r="http://schemas.openxmlformats.org/officeDocument/2006/relationships" r:id="rId2"/>
          </a:graphicData>
        </a:graphic>
      </p:graphicFrame>
      <p:sp>
        <p:nvSpPr>
          <p:cNvPr id="11" name="TextBox 10"/>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254</a:t>
            </a:fld>
            <a:endParaRPr lang="en-GB" dirty="0"/>
          </a:p>
        </p:txBody>
      </p:sp>
    </p:spTree>
    <p:extLst>
      <p:ext uri="{BB962C8B-B14F-4D97-AF65-F5344CB8AC3E}">
        <p14:creationId xmlns:p14="http://schemas.microsoft.com/office/powerpoint/2010/main" val="1552966701"/>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6611902" y="2094252"/>
            <a:ext cx="5273497" cy="3639627"/>
          </a:xfrm>
          <a:prstGeom prst="rect">
            <a:avLst/>
          </a:prstGeom>
        </p:spPr>
      </p:pic>
      <p:sp>
        <p:nvSpPr>
          <p:cNvPr id="6" name="Title 5"/>
          <p:cNvSpPr>
            <a:spLocks noGrp="1"/>
          </p:cNvSpPr>
          <p:nvPr>
            <p:ph type="title"/>
          </p:nvPr>
        </p:nvSpPr>
        <p:spPr/>
        <p:txBody>
          <a:bodyPr/>
          <a:lstStyle/>
          <a:p>
            <a:r>
              <a:rPr lang="en-IN" sz="2000" dirty="0"/>
              <a:t>WXYZ Market: Tier Structure Analysis</a:t>
            </a:r>
            <a:endParaRPr lang="en-US" dirty="0"/>
          </a:p>
        </p:txBody>
      </p:sp>
      <p:graphicFrame>
        <p:nvGraphicFramePr>
          <p:cNvPr id="7" name="Chart 6"/>
          <p:cNvGraphicFramePr/>
          <p:nvPr/>
        </p:nvGraphicFramePr>
        <p:xfrm>
          <a:off x="391887" y="1185555"/>
          <a:ext cx="6207170" cy="4663283"/>
        </p:xfrm>
        <a:graphic>
          <a:graphicData uri="http://schemas.openxmlformats.org/drawingml/2006/chart">
            <c:chart xmlns:c="http://schemas.openxmlformats.org/drawingml/2006/chart" xmlns:r="http://schemas.openxmlformats.org/officeDocument/2006/relationships" r:id="rId4"/>
          </a:graphicData>
        </a:graphic>
      </p:graphicFrame>
      <p:sp>
        <p:nvSpPr>
          <p:cNvPr id="8" name="Rectangle 7"/>
          <p:cNvSpPr/>
          <p:nvPr/>
        </p:nvSpPr>
        <p:spPr>
          <a:xfrm>
            <a:off x="774700" y="1185555"/>
            <a:ext cx="2753181" cy="4655702"/>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2600" dirty="0"/>
              <a:t>WXYZ Market Size By Tier Level</a:t>
            </a:r>
          </a:p>
          <a:p>
            <a:pPr algn="ctr"/>
            <a:endParaRPr lang="en-IN" sz="2600" dirty="0"/>
          </a:p>
          <a:p>
            <a:pPr algn="ctr"/>
            <a:r>
              <a:rPr lang="en-IN" sz="2600" b="1" dirty="0"/>
              <a:t>US$ </a:t>
            </a:r>
            <a:endParaRPr lang="en-US" sz="2800" b="1" dirty="0"/>
          </a:p>
          <a:p>
            <a:pPr algn="ctr"/>
            <a:r>
              <a:rPr lang="en-US" sz="2800" b="1" dirty="0"/>
              <a:t>xx </a:t>
            </a:r>
          </a:p>
          <a:p>
            <a:pPr algn="ctr"/>
            <a:r>
              <a:rPr lang="en-IN" sz="2600" b="1" dirty="0" err="1"/>
              <a:t>Mn</a:t>
            </a:r>
            <a:endParaRPr lang="en-IN" sz="2600" dirty="0"/>
          </a:p>
          <a:p>
            <a:pPr algn="ctr"/>
            <a:r>
              <a:rPr lang="en-IN" sz="2600" dirty="0"/>
              <a:t>(2023)</a:t>
            </a:r>
          </a:p>
        </p:txBody>
      </p:sp>
      <p:sp>
        <p:nvSpPr>
          <p:cNvPr id="9" name="TextBox 8"/>
          <p:cNvSpPr txBox="1"/>
          <p:nvPr/>
        </p:nvSpPr>
        <p:spPr>
          <a:xfrm>
            <a:off x="4525346" y="2189000"/>
            <a:ext cx="1081454" cy="646331"/>
          </a:xfrm>
          <a:prstGeom prst="rect">
            <a:avLst/>
          </a:prstGeom>
          <a:noFill/>
        </p:spPr>
        <p:txBody>
          <a:bodyPr wrap="square" rtlCol="0">
            <a:spAutoFit/>
          </a:bodyPr>
          <a:lstStyle/>
          <a:p>
            <a:pPr algn="ctr"/>
            <a:r>
              <a:rPr lang="en-IN" sz="1200" b="1" dirty="0">
                <a:solidFill>
                  <a:schemeClr val="bg1"/>
                </a:solidFill>
              </a:rPr>
              <a:t>Tier I Companies</a:t>
            </a:r>
          </a:p>
          <a:p>
            <a:pPr algn="ctr"/>
            <a:r>
              <a:rPr lang="en-IN" sz="1200" b="1" dirty="0">
                <a:solidFill>
                  <a:schemeClr val="bg1"/>
                </a:solidFill>
              </a:rPr>
              <a:t>xx%</a:t>
            </a:r>
          </a:p>
        </p:txBody>
      </p:sp>
      <p:sp>
        <p:nvSpPr>
          <p:cNvPr id="10" name="TextBox 9"/>
          <p:cNvSpPr txBox="1"/>
          <p:nvPr/>
        </p:nvSpPr>
        <p:spPr>
          <a:xfrm>
            <a:off x="3527881" y="4875551"/>
            <a:ext cx="1081454" cy="646331"/>
          </a:xfrm>
          <a:prstGeom prst="rect">
            <a:avLst/>
          </a:prstGeom>
          <a:noFill/>
        </p:spPr>
        <p:txBody>
          <a:bodyPr wrap="square" rtlCol="0">
            <a:spAutoFit/>
          </a:bodyPr>
          <a:lstStyle/>
          <a:p>
            <a:pPr algn="ctr"/>
            <a:r>
              <a:rPr lang="en-IN" sz="1200" b="1" dirty="0">
                <a:solidFill>
                  <a:schemeClr val="bg1"/>
                </a:solidFill>
              </a:rPr>
              <a:t>Tier II Companies</a:t>
            </a:r>
          </a:p>
          <a:p>
            <a:pPr algn="ctr"/>
            <a:r>
              <a:rPr lang="en-IN" sz="1200" b="1" dirty="0">
                <a:solidFill>
                  <a:schemeClr val="bg1"/>
                </a:solidFill>
              </a:rPr>
              <a:t>Xx%</a:t>
            </a:r>
          </a:p>
        </p:txBody>
      </p:sp>
      <p:grpSp>
        <p:nvGrpSpPr>
          <p:cNvPr id="12" name="Group 11"/>
          <p:cNvGrpSpPr/>
          <p:nvPr/>
        </p:nvGrpSpPr>
        <p:grpSpPr>
          <a:xfrm rot="5400000">
            <a:off x="8375766" y="-185256"/>
            <a:ext cx="837853" cy="3624973"/>
            <a:chOff x="1731963" y="1990725"/>
            <a:chExt cx="525462" cy="1524000"/>
          </a:xfrm>
        </p:grpSpPr>
        <p:sp>
          <p:nvSpPr>
            <p:cNvPr id="13" name="Freeform 12"/>
            <p:cNvSpPr/>
            <p:nvPr/>
          </p:nvSpPr>
          <p:spPr>
            <a:xfrm rot="5400000">
              <a:off x="1247775" y="2505075"/>
              <a:ext cx="1524000" cy="495300"/>
            </a:xfrm>
            <a:custGeom>
              <a:avLst/>
              <a:gdLst>
                <a:gd name="connsiteX0" fmla="*/ 0 w 1524000"/>
                <a:gd name="connsiteY0" fmla="*/ 428624 h 495300"/>
                <a:gd name="connsiteX1" fmla="*/ 0 w 1524000"/>
                <a:gd name="connsiteY1" fmla="*/ 161926 h 495300"/>
                <a:gd name="connsiteX2" fmla="*/ 66676 w 1524000"/>
                <a:gd name="connsiteY2" fmla="*/ 95250 h 495300"/>
                <a:gd name="connsiteX3" fmla="*/ 230456 w 1524000"/>
                <a:gd name="connsiteY3" fmla="*/ 95250 h 495300"/>
                <a:gd name="connsiteX4" fmla="*/ 285701 w 1524000"/>
                <a:gd name="connsiteY4" fmla="*/ 0 h 495300"/>
                <a:gd name="connsiteX5" fmla="*/ 340946 w 1524000"/>
                <a:gd name="connsiteY5" fmla="*/ 95250 h 495300"/>
                <a:gd name="connsiteX6" fmla="*/ 1457324 w 1524000"/>
                <a:gd name="connsiteY6" fmla="*/ 95250 h 495300"/>
                <a:gd name="connsiteX7" fmla="*/ 1524000 w 1524000"/>
                <a:gd name="connsiteY7" fmla="*/ 161926 h 495300"/>
                <a:gd name="connsiteX8" fmla="*/ 1524000 w 1524000"/>
                <a:gd name="connsiteY8" fmla="*/ 428624 h 495300"/>
                <a:gd name="connsiteX9" fmla="*/ 1457324 w 1524000"/>
                <a:gd name="connsiteY9" fmla="*/ 495300 h 495300"/>
                <a:gd name="connsiteX10" fmla="*/ 66676 w 1524000"/>
                <a:gd name="connsiteY10" fmla="*/ 495300 h 495300"/>
                <a:gd name="connsiteX11" fmla="*/ 0 w 1524000"/>
                <a:gd name="connsiteY11" fmla="*/ 428624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24000" h="495300">
                  <a:moveTo>
                    <a:pt x="0" y="428624"/>
                  </a:moveTo>
                  <a:lnTo>
                    <a:pt x="0" y="161926"/>
                  </a:lnTo>
                  <a:cubicBezTo>
                    <a:pt x="0" y="125102"/>
                    <a:pt x="29852" y="95250"/>
                    <a:pt x="66676" y="95250"/>
                  </a:cubicBezTo>
                  <a:lnTo>
                    <a:pt x="230456" y="95250"/>
                  </a:lnTo>
                  <a:lnTo>
                    <a:pt x="285701" y="0"/>
                  </a:lnTo>
                  <a:lnTo>
                    <a:pt x="340946" y="95250"/>
                  </a:lnTo>
                  <a:lnTo>
                    <a:pt x="1457324" y="95250"/>
                  </a:lnTo>
                  <a:cubicBezTo>
                    <a:pt x="1494148" y="95250"/>
                    <a:pt x="1524000" y="125102"/>
                    <a:pt x="1524000" y="161926"/>
                  </a:cubicBezTo>
                  <a:lnTo>
                    <a:pt x="1524000" y="428624"/>
                  </a:lnTo>
                  <a:cubicBezTo>
                    <a:pt x="1524000" y="465448"/>
                    <a:pt x="1494148" y="495300"/>
                    <a:pt x="1457324" y="495300"/>
                  </a:cubicBezTo>
                  <a:lnTo>
                    <a:pt x="66676" y="495300"/>
                  </a:lnTo>
                  <a:cubicBezTo>
                    <a:pt x="29852" y="495300"/>
                    <a:pt x="0" y="465448"/>
                    <a:pt x="0" y="428624"/>
                  </a:cubicBezTo>
                  <a:close/>
                </a:path>
              </a:pathLst>
            </a:custGeom>
            <a:solidFill>
              <a:srgbClr val="2A5F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reeform 13"/>
            <p:cNvSpPr/>
            <p:nvPr/>
          </p:nvSpPr>
          <p:spPr>
            <a:xfrm rot="5400000">
              <a:off x="1397772" y="2402894"/>
              <a:ext cx="881107" cy="212725"/>
            </a:xfrm>
            <a:custGeom>
              <a:avLst/>
              <a:gdLst>
                <a:gd name="connsiteX0" fmla="*/ 0 w 881107"/>
                <a:gd name="connsiteY0" fmla="*/ 212725 h 212725"/>
                <a:gd name="connsiteX1" fmla="*/ 33147 w 881107"/>
                <a:gd name="connsiteY1" fmla="*/ 49213 h 212725"/>
                <a:gd name="connsiteX2" fmla="*/ 33147 w 881107"/>
                <a:gd name="connsiteY2" fmla="*/ 35455 h 212725"/>
                <a:gd name="connsiteX3" fmla="*/ 68602 w 881107"/>
                <a:gd name="connsiteY3" fmla="*/ 0 h 212725"/>
                <a:gd name="connsiteX4" fmla="*/ 813668 w 881107"/>
                <a:gd name="connsiteY4" fmla="*/ 0 h 212725"/>
                <a:gd name="connsiteX5" fmla="*/ 849123 w 881107"/>
                <a:gd name="connsiteY5" fmla="*/ 35455 h 212725"/>
                <a:gd name="connsiteX6" fmla="*/ 849123 w 881107"/>
                <a:gd name="connsiteY6" fmla="*/ 54950 h 212725"/>
                <a:gd name="connsiteX7" fmla="*/ 881107 w 881107"/>
                <a:gd name="connsiteY7" fmla="*/ 212725 h 212725"/>
                <a:gd name="connsiteX8" fmla="*/ 814813 w 881107"/>
                <a:gd name="connsiteY8" fmla="*/ 212725 h 212725"/>
                <a:gd name="connsiteX9" fmla="*/ 814918 w 881107"/>
                <a:gd name="connsiteY9" fmla="*/ 212207 h 212725"/>
                <a:gd name="connsiteX10" fmla="*/ 813668 w 881107"/>
                <a:gd name="connsiteY10" fmla="*/ 212725 h 212725"/>
                <a:gd name="connsiteX11" fmla="*/ 68602 w 881107"/>
                <a:gd name="connsiteY11" fmla="*/ 212725 h 212725"/>
                <a:gd name="connsiteX12" fmla="*/ 66082 w 881107"/>
                <a:gd name="connsiteY12" fmla="*/ 211681 h 212725"/>
                <a:gd name="connsiteX13" fmla="*/ 66294 w 881107"/>
                <a:gd name="connsiteY13" fmla="*/ 212725 h 212725"/>
                <a:gd name="connsiteX0" fmla="*/ 0 w 881107"/>
                <a:gd name="connsiteY0" fmla="*/ 212725 h 224494"/>
                <a:gd name="connsiteX1" fmla="*/ 33147 w 881107"/>
                <a:gd name="connsiteY1" fmla="*/ 49213 h 224494"/>
                <a:gd name="connsiteX2" fmla="*/ 33147 w 881107"/>
                <a:gd name="connsiteY2" fmla="*/ 35455 h 224494"/>
                <a:gd name="connsiteX3" fmla="*/ 68602 w 881107"/>
                <a:gd name="connsiteY3" fmla="*/ 0 h 224494"/>
                <a:gd name="connsiteX4" fmla="*/ 813668 w 881107"/>
                <a:gd name="connsiteY4" fmla="*/ 0 h 224494"/>
                <a:gd name="connsiteX5" fmla="*/ 849123 w 881107"/>
                <a:gd name="connsiteY5" fmla="*/ 35455 h 224494"/>
                <a:gd name="connsiteX6" fmla="*/ 849123 w 881107"/>
                <a:gd name="connsiteY6" fmla="*/ 54950 h 224494"/>
                <a:gd name="connsiteX7" fmla="*/ 881107 w 881107"/>
                <a:gd name="connsiteY7" fmla="*/ 212725 h 224494"/>
                <a:gd name="connsiteX8" fmla="*/ 814813 w 881107"/>
                <a:gd name="connsiteY8" fmla="*/ 212725 h 224494"/>
                <a:gd name="connsiteX9" fmla="*/ 814918 w 881107"/>
                <a:gd name="connsiteY9" fmla="*/ 212207 h 224494"/>
                <a:gd name="connsiteX10" fmla="*/ 813668 w 881107"/>
                <a:gd name="connsiteY10" fmla="*/ 212725 h 224494"/>
                <a:gd name="connsiteX11" fmla="*/ 68602 w 881107"/>
                <a:gd name="connsiteY11" fmla="*/ 212725 h 224494"/>
                <a:gd name="connsiteX12" fmla="*/ 66082 w 881107"/>
                <a:gd name="connsiteY12" fmla="*/ 211681 h 224494"/>
                <a:gd name="connsiteX13" fmla="*/ 0 w 881107"/>
                <a:gd name="connsiteY13" fmla="*/ 212725 h 224494"/>
                <a:gd name="connsiteX0" fmla="*/ 0 w 881107"/>
                <a:gd name="connsiteY0" fmla="*/ 212725 h 212725"/>
                <a:gd name="connsiteX1" fmla="*/ 33147 w 881107"/>
                <a:gd name="connsiteY1" fmla="*/ 49213 h 212725"/>
                <a:gd name="connsiteX2" fmla="*/ 33147 w 881107"/>
                <a:gd name="connsiteY2" fmla="*/ 35455 h 212725"/>
                <a:gd name="connsiteX3" fmla="*/ 68602 w 881107"/>
                <a:gd name="connsiteY3" fmla="*/ 0 h 212725"/>
                <a:gd name="connsiteX4" fmla="*/ 813668 w 881107"/>
                <a:gd name="connsiteY4" fmla="*/ 0 h 212725"/>
                <a:gd name="connsiteX5" fmla="*/ 849123 w 881107"/>
                <a:gd name="connsiteY5" fmla="*/ 35455 h 212725"/>
                <a:gd name="connsiteX6" fmla="*/ 849123 w 881107"/>
                <a:gd name="connsiteY6" fmla="*/ 54950 h 212725"/>
                <a:gd name="connsiteX7" fmla="*/ 881107 w 881107"/>
                <a:gd name="connsiteY7" fmla="*/ 212725 h 212725"/>
                <a:gd name="connsiteX8" fmla="*/ 814813 w 881107"/>
                <a:gd name="connsiteY8" fmla="*/ 212725 h 212725"/>
                <a:gd name="connsiteX9" fmla="*/ 814918 w 881107"/>
                <a:gd name="connsiteY9" fmla="*/ 212207 h 212725"/>
                <a:gd name="connsiteX10" fmla="*/ 813668 w 881107"/>
                <a:gd name="connsiteY10" fmla="*/ 212725 h 212725"/>
                <a:gd name="connsiteX11" fmla="*/ 68602 w 881107"/>
                <a:gd name="connsiteY11" fmla="*/ 212725 h 212725"/>
                <a:gd name="connsiteX12" fmla="*/ 0 w 881107"/>
                <a:gd name="connsiteY12" fmla="*/ 212725 h 212725"/>
                <a:gd name="connsiteX0" fmla="*/ 0 w 881107"/>
                <a:gd name="connsiteY0" fmla="*/ 212725 h 212725"/>
                <a:gd name="connsiteX1" fmla="*/ 33147 w 881107"/>
                <a:gd name="connsiteY1" fmla="*/ 49213 h 212725"/>
                <a:gd name="connsiteX2" fmla="*/ 33147 w 881107"/>
                <a:gd name="connsiteY2" fmla="*/ 35455 h 212725"/>
                <a:gd name="connsiteX3" fmla="*/ 68602 w 881107"/>
                <a:gd name="connsiteY3" fmla="*/ 0 h 212725"/>
                <a:gd name="connsiteX4" fmla="*/ 813668 w 881107"/>
                <a:gd name="connsiteY4" fmla="*/ 0 h 212725"/>
                <a:gd name="connsiteX5" fmla="*/ 849123 w 881107"/>
                <a:gd name="connsiteY5" fmla="*/ 35455 h 212725"/>
                <a:gd name="connsiteX6" fmla="*/ 849123 w 881107"/>
                <a:gd name="connsiteY6" fmla="*/ 54950 h 212725"/>
                <a:gd name="connsiteX7" fmla="*/ 881107 w 881107"/>
                <a:gd name="connsiteY7" fmla="*/ 212725 h 212725"/>
                <a:gd name="connsiteX8" fmla="*/ 814813 w 881107"/>
                <a:gd name="connsiteY8" fmla="*/ 212725 h 212725"/>
                <a:gd name="connsiteX9" fmla="*/ 814918 w 881107"/>
                <a:gd name="connsiteY9" fmla="*/ 212207 h 212725"/>
                <a:gd name="connsiteX10" fmla="*/ 813668 w 881107"/>
                <a:gd name="connsiteY10" fmla="*/ 212725 h 212725"/>
                <a:gd name="connsiteX11" fmla="*/ 0 w 881107"/>
                <a:gd name="connsiteY11" fmla="*/ 212725 h 212725"/>
                <a:gd name="connsiteX0" fmla="*/ 0 w 881107"/>
                <a:gd name="connsiteY0" fmla="*/ 212725 h 212725"/>
                <a:gd name="connsiteX1" fmla="*/ 33147 w 881107"/>
                <a:gd name="connsiteY1" fmla="*/ 49213 h 212725"/>
                <a:gd name="connsiteX2" fmla="*/ 33147 w 881107"/>
                <a:gd name="connsiteY2" fmla="*/ 35455 h 212725"/>
                <a:gd name="connsiteX3" fmla="*/ 68602 w 881107"/>
                <a:gd name="connsiteY3" fmla="*/ 0 h 212725"/>
                <a:gd name="connsiteX4" fmla="*/ 813668 w 881107"/>
                <a:gd name="connsiteY4" fmla="*/ 0 h 212725"/>
                <a:gd name="connsiteX5" fmla="*/ 849123 w 881107"/>
                <a:gd name="connsiteY5" fmla="*/ 35455 h 212725"/>
                <a:gd name="connsiteX6" fmla="*/ 849123 w 881107"/>
                <a:gd name="connsiteY6" fmla="*/ 54950 h 212725"/>
                <a:gd name="connsiteX7" fmla="*/ 881107 w 881107"/>
                <a:gd name="connsiteY7" fmla="*/ 212725 h 212725"/>
                <a:gd name="connsiteX8" fmla="*/ 814813 w 881107"/>
                <a:gd name="connsiteY8" fmla="*/ 212725 h 212725"/>
                <a:gd name="connsiteX9" fmla="*/ 814918 w 881107"/>
                <a:gd name="connsiteY9" fmla="*/ 212207 h 212725"/>
                <a:gd name="connsiteX10" fmla="*/ 0 w 881107"/>
                <a:gd name="connsiteY10" fmla="*/ 212725 h 212725"/>
                <a:gd name="connsiteX0" fmla="*/ 0 w 881107"/>
                <a:gd name="connsiteY0" fmla="*/ 212725 h 212725"/>
                <a:gd name="connsiteX1" fmla="*/ 33147 w 881107"/>
                <a:gd name="connsiteY1" fmla="*/ 49213 h 212725"/>
                <a:gd name="connsiteX2" fmla="*/ 33147 w 881107"/>
                <a:gd name="connsiteY2" fmla="*/ 35455 h 212725"/>
                <a:gd name="connsiteX3" fmla="*/ 68602 w 881107"/>
                <a:gd name="connsiteY3" fmla="*/ 0 h 212725"/>
                <a:gd name="connsiteX4" fmla="*/ 813668 w 881107"/>
                <a:gd name="connsiteY4" fmla="*/ 0 h 212725"/>
                <a:gd name="connsiteX5" fmla="*/ 849123 w 881107"/>
                <a:gd name="connsiteY5" fmla="*/ 35455 h 212725"/>
                <a:gd name="connsiteX6" fmla="*/ 849123 w 881107"/>
                <a:gd name="connsiteY6" fmla="*/ 54950 h 212725"/>
                <a:gd name="connsiteX7" fmla="*/ 881107 w 881107"/>
                <a:gd name="connsiteY7" fmla="*/ 212725 h 212725"/>
                <a:gd name="connsiteX8" fmla="*/ 814813 w 881107"/>
                <a:gd name="connsiteY8" fmla="*/ 212725 h 212725"/>
                <a:gd name="connsiteX9" fmla="*/ 0 w 881107"/>
                <a:gd name="connsiteY9" fmla="*/ 212725 h 212725"/>
                <a:gd name="connsiteX0" fmla="*/ 0 w 881107"/>
                <a:gd name="connsiteY0" fmla="*/ 212725 h 212725"/>
                <a:gd name="connsiteX1" fmla="*/ 33147 w 881107"/>
                <a:gd name="connsiteY1" fmla="*/ 49213 h 212725"/>
                <a:gd name="connsiteX2" fmla="*/ 33147 w 881107"/>
                <a:gd name="connsiteY2" fmla="*/ 35455 h 212725"/>
                <a:gd name="connsiteX3" fmla="*/ 68602 w 881107"/>
                <a:gd name="connsiteY3" fmla="*/ 0 h 212725"/>
                <a:gd name="connsiteX4" fmla="*/ 813668 w 881107"/>
                <a:gd name="connsiteY4" fmla="*/ 0 h 212725"/>
                <a:gd name="connsiteX5" fmla="*/ 849123 w 881107"/>
                <a:gd name="connsiteY5" fmla="*/ 35455 h 212725"/>
                <a:gd name="connsiteX6" fmla="*/ 849123 w 881107"/>
                <a:gd name="connsiteY6" fmla="*/ 54950 h 212725"/>
                <a:gd name="connsiteX7" fmla="*/ 881107 w 881107"/>
                <a:gd name="connsiteY7" fmla="*/ 212725 h 212725"/>
                <a:gd name="connsiteX8" fmla="*/ 0 w 881107"/>
                <a:gd name="connsiteY8" fmla="*/ 212725 h 21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107" h="212725">
                  <a:moveTo>
                    <a:pt x="0" y="212725"/>
                  </a:moveTo>
                  <a:lnTo>
                    <a:pt x="33147" y="49213"/>
                  </a:lnTo>
                  <a:lnTo>
                    <a:pt x="33147" y="35455"/>
                  </a:lnTo>
                  <a:cubicBezTo>
                    <a:pt x="33147" y="15874"/>
                    <a:pt x="49021" y="0"/>
                    <a:pt x="68602" y="0"/>
                  </a:cubicBezTo>
                  <a:lnTo>
                    <a:pt x="813668" y="0"/>
                  </a:lnTo>
                  <a:cubicBezTo>
                    <a:pt x="833249" y="0"/>
                    <a:pt x="849123" y="15874"/>
                    <a:pt x="849123" y="35455"/>
                  </a:cubicBezTo>
                  <a:lnTo>
                    <a:pt x="849123" y="54950"/>
                  </a:lnTo>
                  <a:lnTo>
                    <a:pt x="881107" y="212725"/>
                  </a:lnTo>
                  <a:lnTo>
                    <a:pt x="0" y="212725"/>
                  </a:lnTo>
                  <a:close/>
                </a:path>
              </a:pathLst>
            </a:custGeom>
            <a:solidFill>
              <a:schemeClr val="bg1"/>
            </a:solidFill>
            <a:ln>
              <a:noFill/>
            </a:ln>
            <a:effectLst>
              <a:outerShdw blurRad="50800" dist="38100" algn="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20"/>
          <p:cNvSpPr txBox="1"/>
          <p:nvPr/>
        </p:nvSpPr>
        <p:spPr>
          <a:xfrm>
            <a:off x="9180270" y="1185556"/>
            <a:ext cx="765026" cy="380322"/>
          </a:xfrm>
          <a:prstGeom prst="rect">
            <a:avLst/>
          </a:prstGeom>
          <a:noFill/>
          <a:effectLst/>
        </p:spPr>
        <p:txBody>
          <a:bodyPr wrap="none" rtlCol="0" anchor="ctr">
            <a:spAutoFit/>
          </a:bodyPr>
          <a:lstStyle/>
          <a:p>
            <a:pPr algn="ctr"/>
            <a:r>
              <a:rPr lang="en-US" sz="1400" b="1" dirty="0">
                <a:solidFill>
                  <a:schemeClr val="tx1">
                    <a:lumMod val="65000"/>
                    <a:lumOff val="35000"/>
                  </a:schemeClr>
                </a:solidFill>
              </a:rPr>
              <a:t>Tier-I</a:t>
            </a:r>
          </a:p>
        </p:txBody>
      </p:sp>
      <p:grpSp>
        <p:nvGrpSpPr>
          <p:cNvPr id="15" name="Group 14"/>
          <p:cNvGrpSpPr/>
          <p:nvPr/>
        </p:nvGrpSpPr>
        <p:grpSpPr>
          <a:xfrm rot="5400000">
            <a:off x="8412419" y="2258968"/>
            <a:ext cx="764549" cy="3624973"/>
            <a:chOff x="1731963" y="1990725"/>
            <a:chExt cx="525462" cy="1524000"/>
          </a:xfrm>
        </p:grpSpPr>
        <p:sp>
          <p:nvSpPr>
            <p:cNvPr id="16" name="Freeform 15"/>
            <p:cNvSpPr/>
            <p:nvPr/>
          </p:nvSpPr>
          <p:spPr>
            <a:xfrm rot="5400000">
              <a:off x="1247775" y="2505075"/>
              <a:ext cx="1524000" cy="495300"/>
            </a:xfrm>
            <a:custGeom>
              <a:avLst/>
              <a:gdLst>
                <a:gd name="connsiteX0" fmla="*/ 0 w 1524000"/>
                <a:gd name="connsiteY0" fmla="*/ 428624 h 495300"/>
                <a:gd name="connsiteX1" fmla="*/ 0 w 1524000"/>
                <a:gd name="connsiteY1" fmla="*/ 161926 h 495300"/>
                <a:gd name="connsiteX2" fmla="*/ 66676 w 1524000"/>
                <a:gd name="connsiteY2" fmla="*/ 95250 h 495300"/>
                <a:gd name="connsiteX3" fmla="*/ 230456 w 1524000"/>
                <a:gd name="connsiteY3" fmla="*/ 95250 h 495300"/>
                <a:gd name="connsiteX4" fmla="*/ 285701 w 1524000"/>
                <a:gd name="connsiteY4" fmla="*/ 0 h 495300"/>
                <a:gd name="connsiteX5" fmla="*/ 340946 w 1524000"/>
                <a:gd name="connsiteY5" fmla="*/ 95250 h 495300"/>
                <a:gd name="connsiteX6" fmla="*/ 1457324 w 1524000"/>
                <a:gd name="connsiteY6" fmla="*/ 95250 h 495300"/>
                <a:gd name="connsiteX7" fmla="*/ 1524000 w 1524000"/>
                <a:gd name="connsiteY7" fmla="*/ 161926 h 495300"/>
                <a:gd name="connsiteX8" fmla="*/ 1524000 w 1524000"/>
                <a:gd name="connsiteY8" fmla="*/ 428624 h 495300"/>
                <a:gd name="connsiteX9" fmla="*/ 1457324 w 1524000"/>
                <a:gd name="connsiteY9" fmla="*/ 495300 h 495300"/>
                <a:gd name="connsiteX10" fmla="*/ 66676 w 1524000"/>
                <a:gd name="connsiteY10" fmla="*/ 495300 h 495300"/>
                <a:gd name="connsiteX11" fmla="*/ 0 w 1524000"/>
                <a:gd name="connsiteY11" fmla="*/ 428624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24000" h="495300">
                  <a:moveTo>
                    <a:pt x="0" y="428624"/>
                  </a:moveTo>
                  <a:lnTo>
                    <a:pt x="0" y="161926"/>
                  </a:lnTo>
                  <a:cubicBezTo>
                    <a:pt x="0" y="125102"/>
                    <a:pt x="29852" y="95250"/>
                    <a:pt x="66676" y="95250"/>
                  </a:cubicBezTo>
                  <a:lnTo>
                    <a:pt x="230456" y="95250"/>
                  </a:lnTo>
                  <a:lnTo>
                    <a:pt x="285701" y="0"/>
                  </a:lnTo>
                  <a:lnTo>
                    <a:pt x="340946" y="95250"/>
                  </a:lnTo>
                  <a:lnTo>
                    <a:pt x="1457324" y="95250"/>
                  </a:lnTo>
                  <a:cubicBezTo>
                    <a:pt x="1494148" y="95250"/>
                    <a:pt x="1524000" y="125102"/>
                    <a:pt x="1524000" y="161926"/>
                  </a:cubicBezTo>
                  <a:lnTo>
                    <a:pt x="1524000" y="428624"/>
                  </a:lnTo>
                  <a:cubicBezTo>
                    <a:pt x="1524000" y="465448"/>
                    <a:pt x="1494148" y="495300"/>
                    <a:pt x="1457324" y="495300"/>
                  </a:cubicBezTo>
                  <a:lnTo>
                    <a:pt x="66676" y="495300"/>
                  </a:lnTo>
                  <a:cubicBezTo>
                    <a:pt x="29852" y="495300"/>
                    <a:pt x="0" y="465448"/>
                    <a:pt x="0" y="428624"/>
                  </a:cubicBezTo>
                  <a:close/>
                </a:path>
              </a:pathLst>
            </a:custGeom>
            <a:solidFill>
              <a:srgbClr val="8E14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reeform 16"/>
            <p:cNvSpPr/>
            <p:nvPr/>
          </p:nvSpPr>
          <p:spPr>
            <a:xfrm rot="5400000">
              <a:off x="1397772" y="2402894"/>
              <a:ext cx="881107" cy="212725"/>
            </a:xfrm>
            <a:custGeom>
              <a:avLst/>
              <a:gdLst>
                <a:gd name="connsiteX0" fmla="*/ 0 w 881107"/>
                <a:gd name="connsiteY0" fmla="*/ 212725 h 212725"/>
                <a:gd name="connsiteX1" fmla="*/ 33147 w 881107"/>
                <a:gd name="connsiteY1" fmla="*/ 49213 h 212725"/>
                <a:gd name="connsiteX2" fmla="*/ 33147 w 881107"/>
                <a:gd name="connsiteY2" fmla="*/ 35455 h 212725"/>
                <a:gd name="connsiteX3" fmla="*/ 68602 w 881107"/>
                <a:gd name="connsiteY3" fmla="*/ 0 h 212725"/>
                <a:gd name="connsiteX4" fmla="*/ 813668 w 881107"/>
                <a:gd name="connsiteY4" fmla="*/ 0 h 212725"/>
                <a:gd name="connsiteX5" fmla="*/ 849123 w 881107"/>
                <a:gd name="connsiteY5" fmla="*/ 35455 h 212725"/>
                <a:gd name="connsiteX6" fmla="*/ 849123 w 881107"/>
                <a:gd name="connsiteY6" fmla="*/ 54950 h 212725"/>
                <a:gd name="connsiteX7" fmla="*/ 881107 w 881107"/>
                <a:gd name="connsiteY7" fmla="*/ 212725 h 212725"/>
                <a:gd name="connsiteX8" fmla="*/ 814813 w 881107"/>
                <a:gd name="connsiteY8" fmla="*/ 212725 h 212725"/>
                <a:gd name="connsiteX9" fmla="*/ 814918 w 881107"/>
                <a:gd name="connsiteY9" fmla="*/ 212207 h 212725"/>
                <a:gd name="connsiteX10" fmla="*/ 813668 w 881107"/>
                <a:gd name="connsiteY10" fmla="*/ 212725 h 212725"/>
                <a:gd name="connsiteX11" fmla="*/ 68602 w 881107"/>
                <a:gd name="connsiteY11" fmla="*/ 212725 h 212725"/>
                <a:gd name="connsiteX12" fmla="*/ 66082 w 881107"/>
                <a:gd name="connsiteY12" fmla="*/ 211681 h 212725"/>
                <a:gd name="connsiteX13" fmla="*/ 66294 w 881107"/>
                <a:gd name="connsiteY13" fmla="*/ 212725 h 212725"/>
                <a:gd name="connsiteX0" fmla="*/ 0 w 881107"/>
                <a:gd name="connsiteY0" fmla="*/ 212725 h 224494"/>
                <a:gd name="connsiteX1" fmla="*/ 33147 w 881107"/>
                <a:gd name="connsiteY1" fmla="*/ 49213 h 224494"/>
                <a:gd name="connsiteX2" fmla="*/ 33147 w 881107"/>
                <a:gd name="connsiteY2" fmla="*/ 35455 h 224494"/>
                <a:gd name="connsiteX3" fmla="*/ 68602 w 881107"/>
                <a:gd name="connsiteY3" fmla="*/ 0 h 224494"/>
                <a:gd name="connsiteX4" fmla="*/ 813668 w 881107"/>
                <a:gd name="connsiteY4" fmla="*/ 0 h 224494"/>
                <a:gd name="connsiteX5" fmla="*/ 849123 w 881107"/>
                <a:gd name="connsiteY5" fmla="*/ 35455 h 224494"/>
                <a:gd name="connsiteX6" fmla="*/ 849123 w 881107"/>
                <a:gd name="connsiteY6" fmla="*/ 54950 h 224494"/>
                <a:gd name="connsiteX7" fmla="*/ 881107 w 881107"/>
                <a:gd name="connsiteY7" fmla="*/ 212725 h 224494"/>
                <a:gd name="connsiteX8" fmla="*/ 814813 w 881107"/>
                <a:gd name="connsiteY8" fmla="*/ 212725 h 224494"/>
                <a:gd name="connsiteX9" fmla="*/ 814918 w 881107"/>
                <a:gd name="connsiteY9" fmla="*/ 212207 h 224494"/>
                <a:gd name="connsiteX10" fmla="*/ 813668 w 881107"/>
                <a:gd name="connsiteY10" fmla="*/ 212725 h 224494"/>
                <a:gd name="connsiteX11" fmla="*/ 68602 w 881107"/>
                <a:gd name="connsiteY11" fmla="*/ 212725 h 224494"/>
                <a:gd name="connsiteX12" fmla="*/ 66082 w 881107"/>
                <a:gd name="connsiteY12" fmla="*/ 211681 h 224494"/>
                <a:gd name="connsiteX13" fmla="*/ 0 w 881107"/>
                <a:gd name="connsiteY13" fmla="*/ 212725 h 224494"/>
                <a:gd name="connsiteX0" fmla="*/ 0 w 881107"/>
                <a:gd name="connsiteY0" fmla="*/ 212725 h 212725"/>
                <a:gd name="connsiteX1" fmla="*/ 33147 w 881107"/>
                <a:gd name="connsiteY1" fmla="*/ 49213 h 212725"/>
                <a:gd name="connsiteX2" fmla="*/ 33147 w 881107"/>
                <a:gd name="connsiteY2" fmla="*/ 35455 h 212725"/>
                <a:gd name="connsiteX3" fmla="*/ 68602 w 881107"/>
                <a:gd name="connsiteY3" fmla="*/ 0 h 212725"/>
                <a:gd name="connsiteX4" fmla="*/ 813668 w 881107"/>
                <a:gd name="connsiteY4" fmla="*/ 0 h 212725"/>
                <a:gd name="connsiteX5" fmla="*/ 849123 w 881107"/>
                <a:gd name="connsiteY5" fmla="*/ 35455 h 212725"/>
                <a:gd name="connsiteX6" fmla="*/ 849123 w 881107"/>
                <a:gd name="connsiteY6" fmla="*/ 54950 h 212725"/>
                <a:gd name="connsiteX7" fmla="*/ 881107 w 881107"/>
                <a:gd name="connsiteY7" fmla="*/ 212725 h 212725"/>
                <a:gd name="connsiteX8" fmla="*/ 814813 w 881107"/>
                <a:gd name="connsiteY8" fmla="*/ 212725 h 212725"/>
                <a:gd name="connsiteX9" fmla="*/ 814918 w 881107"/>
                <a:gd name="connsiteY9" fmla="*/ 212207 h 212725"/>
                <a:gd name="connsiteX10" fmla="*/ 813668 w 881107"/>
                <a:gd name="connsiteY10" fmla="*/ 212725 h 212725"/>
                <a:gd name="connsiteX11" fmla="*/ 68602 w 881107"/>
                <a:gd name="connsiteY11" fmla="*/ 212725 h 212725"/>
                <a:gd name="connsiteX12" fmla="*/ 0 w 881107"/>
                <a:gd name="connsiteY12" fmla="*/ 212725 h 212725"/>
                <a:gd name="connsiteX0" fmla="*/ 0 w 881107"/>
                <a:gd name="connsiteY0" fmla="*/ 212725 h 212725"/>
                <a:gd name="connsiteX1" fmla="*/ 33147 w 881107"/>
                <a:gd name="connsiteY1" fmla="*/ 49213 h 212725"/>
                <a:gd name="connsiteX2" fmla="*/ 33147 w 881107"/>
                <a:gd name="connsiteY2" fmla="*/ 35455 h 212725"/>
                <a:gd name="connsiteX3" fmla="*/ 68602 w 881107"/>
                <a:gd name="connsiteY3" fmla="*/ 0 h 212725"/>
                <a:gd name="connsiteX4" fmla="*/ 813668 w 881107"/>
                <a:gd name="connsiteY4" fmla="*/ 0 h 212725"/>
                <a:gd name="connsiteX5" fmla="*/ 849123 w 881107"/>
                <a:gd name="connsiteY5" fmla="*/ 35455 h 212725"/>
                <a:gd name="connsiteX6" fmla="*/ 849123 w 881107"/>
                <a:gd name="connsiteY6" fmla="*/ 54950 h 212725"/>
                <a:gd name="connsiteX7" fmla="*/ 881107 w 881107"/>
                <a:gd name="connsiteY7" fmla="*/ 212725 h 212725"/>
                <a:gd name="connsiteX8" fmla="*/ 814813 w 881107"/>
                <a:gd name="connsiteY8" fmla="*/ 212725 h 212725"/>
                <a:gd name="connsiteX9" fmla="*/ 814918 w 881107"/>
                <a:gd name="connsiteY9" fmla="*/ 212207 h 212725"/>
                <a:gd name="connsiteX10" fmla="*/ 813668 w 881107"/>
                <a:gd name="connsiteY10" fmla="*/ 212725 h 212725"/>
                <a:gd name="connsiteX11" fmla="*/ 0 w 881107"/>
                <a:gd name="connsiteY11" fmla="*/ 212725 h 212725"/>
                <a:gd name="connsiteX0" fmla="*/ 0 w 881107"/>
                <a:gd name="connsiteY0" fmla="*/ 212725 h 212725"/>
                <a:gd name="connsiteX1" fmla="*/ 33147 w 881107"/>
                <a:gd name="connsiteY1" fmla="*/ 49213 h 212725"/>
                <a:gd name="connsiteX2" fmla="*/ 33147 w 881107"/>
                <a:gd name="connsiteY2" fmla="*/ 35455 h 212725"/>
                <a:gd name="connsiteX3" fmla="*/ 68602 w 881107"/>
                <a:gd name="connsiteY3" fmla="*/ 0 h 212725"/>
                <a:gd name="connsiteX4" fmla="*/ 813668 w 881107"/>
                <a:gd name="connsiteY4" fmla="*/ 0 h 212725"/>
                <a:gd name="connsiteX5" fmla="*/ 849123 w 881107"/>
                <a:gd name="connsiteY5" fmla="*/ 35455 h 212725"/>
                <a:gd name="connsiteX6" fmla="*/ 849123 w 881107"/>
                <a:gd name="connsiteY6" fmla="*/ 54950 h 212725"/>
                <a:gd name="connsiteX7" fmla="*/ 881107 w 881107"/>
                <a:gd name="connsiteY7" fmla="*/ 212725 h 212725"/>
                <a:gd name="connsiteX8" fmla="*/ 814813 w 881107"/>
                <a:gd name="connsiteY8" fmla="*/ 212725 h 212725"/>
                <a:gd name="connsiteX9" fmla="*/ 814918 w 881107"/>
                <a:gd name="connsiteY9" fmla="*/ 212207 h 212725"/>
                <a:gd name="connsiteX10" fmla="*/ 0 w 881107"/>
                <a:gd name="connsiteY10" fmla="*/ 212725 h 212725"/>
                <a:gd name="connsiteX0" fmla="*/ 0 w 881107"/>
                <a:gd name="connsiteY0" fmla="*/ 212725 h 212725"/>
                <a:gd name="connsiteX1" fmla="*/ 33147 w 881107"/>
                <a:gd name="connsiteY1" fmla="*/ 49213 h 212725"/>
                <a:gd name="connsiteX2" fmla="*/ 33147 w 881107"/>
                <a:gd name="connsiteY2" fmla="*/ 35455 h 212725"/>
                <a:gd name="connsiteX3" fmla="*/ 68602 w 881107"/>
                <a:gd name="connsiteY3" fmla="*/ 0 h 212725"/>
                <a:gd name="connsiteX4" fmla="*/ 813668 w 881107"/>
                <a:gd name="connsiteY4" fmla="*/ 0 h 212725"/>
                <a:gd name="connsiteX5" fmla="*/ 849123 w 881107"/>
                <a:gd name="connsiteY5" fmla="*/ 35455 h 212725"/>
                <a:gd name="connsiteX6" fmla="*/ 849123 w 881107"/>
                <a:gd name="connsiteY6" fmla="*/ 54950 h 212725"/>
                <a:gd name="connsiteX7" fmla="*/ 881107 w 881107"/>
                <a:gd name="connsiteY7" fmla="*/ 212725 h 212725"/>
                <a:gd name="connsiteX8" fmla="*/ 814813 w 881107"/>
                <a:gd name="connsiteY8" fmla="*/ 212725 h 212725"/>
                <a:gd name="connsiteX9" fmla="*/ 0 w 881107"/>
                <a:gd name="connsiteY9" fmla="*/ 212725 h 212725"/>
                <a:gd name="connsiteX0" fmla="*/ 0 w 881107"/>
                <a:gd name="connsiteY0" fmla="*/ 212725 h 212725"/>
                <a:gd name="connsiteX1" fmla="*/ 33147 w 881107"/>
                <a:gd name="connsiteY1" fmla="*/ 49213 h 212725"/>
                <a:gd name="connsiteX2" fmla="*/ 33147 w 881107"/>
                <a:gd name="connsiteY2" fmla="*/ 35455 h 212725"/>
                <a:gd name="connsiteX3" fmla="*/ 68602 w 881107"/>
                <a:gd name="connsiteY3" fmla="*/ 0 h 212725"/>
                <a:gd name="connsiteX4" fmla="*/ 813668 w 881107"/>
                <a:gd name="connsiteY4" fmla="*/ 0 h 212725"/>
                <a:gd name="connsiteX5" fmla="*/ 849123 w 881107"/>
                <a:gd name="connsiteY5" fmla="*/ 35455 h 212725"/>
                <a:gd name="connsiteX6" fmla="*/ 849123 w 881107"/>
                <a:gd name="connsiteY6" fmla="*/ 54950 h 212725"/>
                <a:gd name="connsiteX7" fmla="*/ 881107 w 881107"/>
                <a:gd name="connsiteY7" fmla="*/ 212725 h 212725"/>
                <a:gd name="connsiteX8" fmla="*/ 0 w 881107"/>
                <a:gd name="connsiteY8" fmla="*/ 212725 h 21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107" h="212725">
                  <a:moveTo>
                    <a:pt x="0" y="212725"/>
                  </a:moveTo>
                  <a:lnTo>
                    <a:pt x="33147" y="49213"/>
                  </a:lnTo>
                  <a:lnTo>
                    <a:pt x="33147" y="35455"/>
                  </a:lnTo>
                  <a:cubicBezTo>
                    <a:pt x="33147" y="15874"/>
                    <a:pt x="49021" y="0"/>
                    <a:pt x="68602" y="0"/>
                  </a:cubicBezTo>
                  <a:lnTo>
                    <a:pt x="813668" y="0"/>
                  </a:lnTo>
                  <a:cubicBezTo>
                    <a:pt x="833249" y="0"/>
                    <a:pt x="849123" y="15874"/>
                    <a:pt x="849123" y="35455"/>
                  </a:cubicBezTo>
                  <a:lnTo>
                    <a:pt x="849123" y="54950"/>
                  </a:lnTo>
                  <a:lnTo>
                    <a:pt x="881107" y="212725"/>
                  </a:lnTo>
                  <a:lnTo>
                    <a:pt x="0" y="212725"/>
                  </a:lnTo>
                  <a:close/>
                </a:path>
              </a:pathLst>
            </a:custGeom>
            <a:solidFill>
              <a:schemeClr val="bg1"/>
            </a:solidFill>
            <a:ln>
              <a:noFill/>
            </a:ln>
            <a:effectLst>
              <a:outerShdw blurRad="50800" dist="38100" algn="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2" name="TextBox 21"/>
          <p:cNvSpPr txBox="1"/>
          <p:nvPr/>
        </p:nvSpPr>
        <p:spPr>
          <a:xfrm>
            <a:off x="9180270" y="3661871"/>
            <a:ext cx="829098" cy="347755"/>
          </a:xfrm>
          <a:prstGeom prst="rect">
            <a:avLst/>
          </a:prstGeom>
          <a:noFill/>
          <a:effectLst/>
        </p:spPr>
        <p:txBody>
          <a:bodyPr wrap="none" rtlCol="0" anchor="ctr">
            <a:spAutoFit/>
          </a:bodyPr>
          <a:lstStyle/>
          <a:p>
            <a:pPr algn="ctr"/>
            <a:r>
              <a:rPr lang="en-US" sz="1400" b="1" dirty="0">
                <a:solidFill>
                  <a:schemeClr val="tx1">
                    <a:lumMod val="65000"/>
                    <a:lumOff val="35000"/>
                  </a:schemeClr>
                </a:solidFill>
              </a:rPr>
              <a:t>Tier-II</a:t>
            </a:r>
          </a:p>
        </p:txBody>
      </p:sp>
      <p:sp>
        <p:nvSpPr>
          <p:cNvPr id="28" name="TextBox 27"/>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 name="Slide Number Placeholder 1"/>
          <p:cNvSpPr>
            <a:spLocks noGrp="1"/>
          </p:cNvSpPr>
          <p:nvPr>
            <p:ph type="sldNum" sz="quarter" idx="4"/>
          </p:nvPr>
        </p:nvSpPr>
        <p:spPr/>
        <p:txBody>
          <a:bodyPr/>
          <a:lstStyle/>
          <a:p>
            <a:fld id="{4B17068C-EB94-40A3-A5F2-664CDD77FDAC}" type="slidenum">
              <a:rPr lang="en-GB" smtClean="0"/>
              <a:pPr/>
              <a:t>255</a:t>
            </a:fld>
            <a:endParaRPr lang="en-GB" dirty="0"/>
          </a:p>
        </p:txBody>
      </p:sp>
    </p:spTree>
    <p:extLst>
      <p:ext uri="{BB962C8B-B14F-4D97-AF65-F5344CB8AC3E}">
        <p14:creationId xmlns:p14="http://schemas.microsoft.com/office/powerpoint/2010/main" val="1328812147"/>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dirty="0"/>
              <a:t>Key Players Product Mapping</a:t>
            </a:r>
            <a:endParaRPr lang="en-US" dirty="0"/>
          </a:p>
        </p:txBody>
      </p:sp>
      <p:graphicFrame>
        <p:nvGraphicFramePr>
          <p:cNvPr id="4" name="Table 3"/>
          <p:cNvGraphicFramePr>
            <a:graphicFrameLocks noGrp="1"/>
          </p:cNvGraphicFramePr>
          <p:nvPr>
            <p:extLst>
              <p:ext uri="{D42A27DB-BD31-4B8C-83A1-F6EECF244321}">
                <p14:modId xmlns:p14="http://schemas.microsoft.com/office/powerpoint/2010/main" val="1053611953"/>
              </p:ext>
            </p:extLst>
          </p:nvPr>
        </p:nvGraphicFramePr>
        <p:xfrm>
          <a:off x="152400" y="1169900"/>
          <a:ext cx="11819996" cy="4822941"/>
        </p:xfrm>
        <a:graphic>
          <a:graphicData uri="http://schemas.openxmlformats.org/drawingml/2006/table">
            <a:tbl>
              <a:tblPr firstRow="1" bandRow="1">
                <a:tableStyleId>{5C22544A-7EE6-4342-B048-85BDC9FD1C3A}</a:tableStyleId>
              </a:tblPr>
              <a:tblGrid>
                <a:gridCol w="1875754">
                  <a:extLst>
                    <a:ext uri="{9D8B030D-6E8A-4147-A177-3AD203B41FA5}">
                      <a16:colId xmlns:a16="http://schemas.microsoft.com/office/drawing/2014/main" val="20000"/>
                    </a:ext>
                  </a:extLst>
                </a:gridCol>
                <a:gridCol w="904022">
                  <a:extLst>
                    <a:ext uri="{9D8B030D-6E8A-4147-A177-3AD203B41FA5}">
                      <a16:colId xmlns:a16="http://schemas.microsoft.com/office/drawing/2014/main" val="20001"/>
                    </a:ext>
                  </a:extLst>
                </a:gridCol>
                <a:gridCol w="904022">
                  <a:extLst>
                    <a:ext uri="{9D8B030D-6E8A-4147-A177-3AD203B41FA5}">
                      <a16:colId xmlns:a16="http://schemas.microsoft.com/office/drawing/2014/main" val="1629305863"/>
                    </a:ext>
                  </a:extLst>
                </a:gridCol>
                <a:gridCol w="904022">
                  <a:extLst>
                    <a:ext uri="{9D8B030D-6E8A-4147-A177-3AD203B41FA5}">
                      <a16:colId xmlns:a16="http://schemas.microsoft.com/office/drawing/2014/main" val="2378945332"/>
                    </a:ext>
                  </a:extLst>
                </a:gridCol>
                <a:gridCol w="904022">
                  <a:extLst>
                    <a:ext uri="{9D8B030D-6E8A-4147-A177-3AD203B41FA5}">
                      <a16:colId xmlns:a16="http://schemas.microsoft.com/office/drawing/2014/main" val="878194221"/>
                    </a:ext>
                  </a:extLst>
                </a:gridCol>
                <a:gridCol w="904022">
                  <a:extLst>
                    <a:ext uri="{9D8B030D-6E8A-4147-A177-3AD203B41FA5}">
                      <a16:colId xmlns:a16="http://schemas.microsoft.com/office/drawing/2014/main" val="4061362530"/>
                    </a:ext>
                  </a:extLst>
                </a:gridCol>
                <a:gridCol w="904022">
                  <a:extLst>
                    <a:ext uri="{9D8B030D-6E8A-4147-A177-3AD203B41FA5}">
                      <a16:colId xmlns:a16="http://schemas.microsoft.com/office/drawing/2014/main" val="2124986802"/>
                    </a:ext>
                  </a:extLst>
                </a:gridCol>
                <a:gridCol w="904022">
                  <a:extLst>
                    <a:ext uri="{9D8B030D-6E8A-4147-A177-3AD203B41FA5}">
                      <a16:colId xmlns:a16="http://schemas.microsoft.com/office/drawing/2014/main" val="3026863401"/>
                    </a:ext>
                  </a:extLst>
                </a:gridCol>
                <a:gridCol w="904022">
                  <a:extLst>
                    <a:ext uri="{9D8B030D-6E8A-4147-A177-3AD203B41FA5}">
                      <a16:colId xmlns:a16="http://schemas.microsoft.com/office/drawing/2014/main" val="3120726153"/>
                    </a:ext>
                  </a:extLst>
                </a:gridCol>
                <a:gridCol w="904022">
                  <a:extLst>
                    <a:ext uri="{9D8B030D-6E8A-4147-A177-3AD203B41FA5}">
                      <a16:colId xmlns:a16="http://schemas.microsoft.com/office/drawing/2014/main" val="3718607713"/>
                    </a:ext>
                  </a:extLst>
                </a:gridCol>
                <a:gridCol w="904022">
                  <a:extLst>
                    <a:ext uri="{9D8B030D-6E8A-4147-A177-3AD203B41FA5}">
                      <a16:colId xmlns:a16="http://schemas.microsoft.com/office/drawing/2014/main" val="20007"/>
                    </a:ext>
                  </a:extLst>
                </a:gridCol>
                <a:gridCol w="904022">
                  <a:extLst>
                    <a:ext uri="{9D8B030D-6E8A-4147-A177-3AD203B41FA5}">
                      <a16:colId xmlns:a16="http://schemas.microsoft.com/office/drawing/2014/main" val="20002"/>
                    </a:ext>
                  </a:extLst>
                </a:gridCol>
              </a:tblGrid>
              <a:tr h="583031">
                <a:tc>
                  <a:txBody>
                    <a:bodyPr/>
                    <a:lstStyle/>
                    <a:p>
                      <a:pPr algn="ctr"/>
                      <a:r>
                        <a:rPr lang="en-IN" sz="1200" dirty="0">
                          <a:solidFill>
                            <a:schemeClr val="bg1"/>
                          </a:solidFill>
                        </a:rPr>
                        <a:t>Company</a:t>
                      </a:r>
                      <a:r>
                        <a:rPr lang="en-IN" sz="1200" baseline="0" dirty="0">
                          <a:solidFill>
                            <a:schemeClr val="bg1"/>
                          </a:solidFill>
                        </a:rPr>
                        <a:t> Name</a:t>
                      </a:r>
                      <a:endParaRPr lang="en-US" sz="1200" dirty="0">
                        <a:solidFill>
                          <a:schemeClr val="bg1"/>
                        </a:solidFill>
                      </a:endParaRPr>
                    </a:p>
                  </a:txBody>
                  <a:tcPr anchor="ctr"/>
                </a:tc>
                <a:tc>
                  <a:txBody>
                    <a:bodyPr/>
                    <a:lstStyle/>
                    <a:p>
                      <a:pPr marL="0" algn="ctr" defTabSz="914391" rtl="0" eaLnBrk="1" fontAlgn="ctr" latinLnBrk="0" hangingPunct="1"/>
                      <a:r>
                        <a:rPr lang="en-IN" sz="1200" b="1" kern="1200" dirty="0">
                          <a:solidFill>
                            <a:schemeClr val="bg1"/>
                          </a:solidFill>
                          <a:latin typeface="+mn-lt"/>
                          <a:ea typeface="+mn-ea"/>
                          <a:cs typeface="+mn-cs"/>
                        </a:rPr>
                        <a:t>Categorya1</a:t>
                      </a:r>
                    </a:p>
                  </a:txBody>
                  <a:tcPr marL="9525" marR="9525" marT="9525" marB="0" anchor="ctr"/>
                </a:tc>
                <a:tc>
                  <a:txBody>
                    <a:bodyPr/>
                    <a:lstStyle/>
                    <a:p>
                      <a:pPr marL="0" algn="ctr" defTabSz="914391" rtl="0" eaLnBrk="1" fontAlgn="ctr" latinLnBrk="0" hangingPunct="1"/>
                      <a:r>
                        <a:rPr lang="en-IN" sz="1200" b="1" kern="1200" dirty="0">
                          <a:solidFill>
                            <a:schemeClr val="bg1"/>
                          </a:solidFill>
                          <a:latin typeface="+mn-lt"/>
                          <a:ea typeface="+mn-ea"/>
                          <a:cs typeface="+mn-cs"/>
                        </a:rPr>
                        <a:t>Categorya2</a:t>
                      </a:r>
                    </a:p>
                  </a:txBody>
                  <a:tcPr marL="9525" marR="9525" marT="9525" marB="0" anchor="ctr"/>
                </a:tc>
                <a:tc>
                  <a:txBody>
                    <a:bodyPr/>
                    <a:lstStyle/>
                    <a:p>
                      <a:pPr marL="0" algn="ctr" defTabSz="914391" rtl="0" eaLnBrk="1" fontAlgn="ctr" latinLnBrk="0" hangingPunct="1"/>
                      <a:r>
                        <a:rPr lang="en-IN" sz="1200" b="1" kern="1200" dirty="0">
                          <a:solidFill>
                            <a:schemeClr val="bg1"/>
                          </a:solidFill>
                          <a:latin typeface="+mn-lt"/>
                          <a:ea typeface="+mn-ea"/>
                          <a:cs typeface="+mn-cs"/>
                        </a:rPr>
                        <a:t>Categorya3</a:t>
                      </a:r>
                    </a:p>
                  </a:txBody>
                  <a:tcPr marL="9525" marR="9525" marT="9525" marB="0" anchor="ctr"/>
                </a:tc>
                <a:tc>
                  <a:txBody>
                    <a:bodyPr/>
                    <a:lstStyle/>
                    <a:p>
                      <a:pPr marL="0" algn="ctr" defTabSz="914391" rtl="0" eaLnBrk="1" fontAlgn="ctr" latinLnBrk="0" hangingPunct="1"/>
                      <a:r>
                        <a:rPr lang="en-IN" sz="1200" b="1" kern="1200" dirty="0">
                          <a:solidFill>
                            <a:schemeClr val="bg1"/>
                          </a:solidFill>
                          <a:latin typeface="+mn-lt"/>
                          <a:ea typeface="+mn-ea"/>
                          <a:cs typeface="+mn-cs"/>
                        </a:rPr>
                        <a:t>Categorya4</a:t>
                      </a:r>
                    </a:p>
                  </a:txBody>
                  <a:tcPr marL="9525" marR="9525" marT="9525" marB="0" anchor="ctr"/>
                </a:tc>
                <a:tc>
                  <a:txBody>
                    <a:bodyPr/>
                    <a:lstStyle/>
                    <a:p>
                      <a:pPr marL="0" algn="ctr" defTabSz="914391" rtl="0" eaLnBrk="1" fontAlgn="ctr" latinLnBrk="0" hangingPunct="1"/>
                      <a:r>
                        <a:rPr lang="en-IN" sz="1200" b="1" kern="1200" dirty="0">
                          <a:solidFill>
                            <a:schemeClr val="bg1"/>
                          </a:solidFill>
                          <a:latin typeface="+mn-lt"/>
                          <a:ea typeface="+mn-ea"/>
                          <a:cs typeface="+mn-cs"/>
                        </a:rPr>
                        <a:t>Categorya5</a:t>
                      </a:r>
                    </a:p>
                  </a:txBody>
                  <a:tcPr marL="9525" marR="9525" marT="9525" marB="0" anchor="ctr"/>
                </a:tc>
                <a:tc>
                  <a:txBody>
                    <a:bodyPr/>
                    <a:lstStyle/>
                    <a:p>
                      <a:pPr marL="0" algn="ctr" defTabSz="914391" rtl="0" eaLnBrk="1" fontAlgn="ctr" latinLnBrk="0" hangingPunct="1"/>
                      <a:r>
                        <a:rPr lang="en-IN" sz="1200" b="1" kern="1200" dirty="0">
                          <a:solidFill>
                            <a:schemeClr val="bg1"/>
                          </a:solidFill>
                          <a:latin typeface="+mn-lt"/>
                          <a:ea typeface="+mn-ea"/>
                          <a:cs typeface="+mn-cs"/>
                        </a:rPr>
                        <a:t>Categorya6</a:t>
                      </a:r>
                    </a:p>
                  </a:txBody>
                  <a:tcPr marL="9525" marR="9525" marT="9525" marB="0" anchor="ctr"/>
                </a:tc>
                <a:tc>
                  <a:txBody>
                    <a:bodyPr/>
                    <a:lstStyle/>
                    <a:p>
                      <a:pPr marL="0" algn="ctr" defTabSz="914391" rtl="0" eaLnBrk="1" fontAlgn="ctr" latinLnBrk="0" hangingPunct="1"/>
                      <a:r>
                        <a:rPr lang="en-IN" sz="1200" b="1" kern="1200" dirty="0">
                          <a:solidFill>
                            <a:schemeClr val="bg1"/>
                          </a:solidFill>
                          <a:latin typeface="+mn-lt"/>
                          <a:ea typeface="+mn-ea"/>
                          <a:cs typeface="+mn-cs"/>
                        </a:rPr>
                        <a:t>Categorya7</a:t>
                      </a:r>
                    </a:p>
                  </a:txBody>
                  <a:tcPr marL="9525" marR="9525" marT="9525" marB="0" anchor="ctr"/>
                </a:tc>
                <a:tc>
                  <a:txBody>
                    <a:bodyPr/>
                    <a:lstStyle/>
                    <a:p>
                      <a:pPr marL="0" algn="ctr" defTabSz="914391" rtl="0" eaLnBrk="1" fontAlgn="ctr" latinLnBrk="0" hangingPunct="1"/>
                      <a:r>
                        <a:rPr lang="en-IN" sz="1200" b="1" kern="1200" dirty="0">
                          <a:solidFill>
                            <a:schemeClr val="bg1"/>
                          </a:solidFill>
                          <a:latin typeface="+mn-lt"/>
                          <a:ea typeface="+mn-ea"/>
                          <a:cs typeface="+mn-cs"/>
                        </a:rPr>
                        <a:t>Categorya8</a:t>
                      </a:r>
                    </a:p>
                  </a:txBody>
                  <a:tcPr marL="9525" marR="9525" marT="9525" marB="0" anchor="ctr"/>
                </a:tc>
                <a:tc>
                  <a:txBody>
                    <a:bodyPr/>
                    <a:lstStyle/>
                    <a:p>
                      <a:pPr marL="0" algn="ctr" defTabSz="914391" rtl="0" eaLnBrk="1" fontAlgn="ctr" latinLnBrk="0" hangingPunct="1"/>
                      <a:r>
                        <a:rPr lang="en-IN" sz="1200" b="1" kern="1200" dirty="0">
                          <a:solidFill>
                            <a:schemeClr val="bg1"/>
                          </a:solidFill>
                          <a:latin typeface="+mn-lt"/>
                          <a:ea typeface="+mn-ea"/>
                          <a:cs typeface="+mn-cs"/>
                        </a:rPr>
                        <a:t>Categorya9</a:t>
                      </a:r>
                    </a:p>
                  </a:txBody>
                  <a:tcPr marL="9525" marR="9525" marT="9525" marB="0" anchor="ctr"/>
                </a:tc>
                <a:tc>
                  <a:txBody>
                    <a:bodyPr/>
                    <a:lstStyle/>
                    <a:p>
                      <a:pPr marL="0" algn="ctr" defTabSz="914391" rtl="0" eaLnBrk="1" fontAlgn="ctr" latinLnBrk="0" hangingPunct="1"/>
                      <a:r>
                        <a:rPr lang="en-IN" sz="1200" b="1" kern="1200" dirty="0">
                          <a:solidFill>
                            <a:schemeClr val="bg1"/>
                          </a:solidFill>
                          <a:latin typeface="+mn-lt"/>
                          <a:ea typeface="+mn-ea"/>
                          <a:cs typeface="+mn-cs"/>
                        </a:rPr>
                        <a:t>Categorya10</a:t>
                      </a:r>
                    </a:p>
                  </a:txBody>
                  <a:tcPr marL="9525" marR="9525" marT="9525" marB="0" anchor="ctr"/>
                </a:tc>
                <a:tc>
                  <a:txBody>
                    <a:bodyPr/>
                    <a:lstStyle/>
                    <a:p>
                      <a:pPr marL="0" algn="ctr" defTabSz="914391" rtl="0" eaLnBrk="1" fontAlgn="ctr" latinLnBrk="0" hangingPunct="1"/>
                      <a:r>
                        <a:rPr lang="en-IN" sz="1200" b="1" kern="1200" dirty="0">
                          <a:solidFill>
                            <a:schemeClr val="bg1"/>
                          </a:solidFill>
                          <a:latin typeface="+mn-lt"/>
                          <a:ea typeface="+mn-ea"/>
                          <a:cs typeface="+mn-cs"/>
                        </a:rPr>
                        <a:t>Categorya11</a:t>
                      </a:r>
                    </a:p>
                  </a:txBody>
                  <a:tcPr marL="9525" marR="9525" marT="9525" marB="0" anchor="ctr"/>
                </a:tc>
                <a:extLst>
                  <a:ext uri="{0D108BD9-81ED-4DB2-BD59-A6C34878D82A}">
                    <a16:rowId xmlns:a16="http://schemas.microsoft.com/office/drawing/2014/main" val="10000"/>
                  </a:ext>
                </a:extLst>
              </a:tr>
              <a:tr h="423991">
                <a:tc>
                  <a:txBody>
                    <a:bodyPr/>
                    <a:lstStyle/>
                    <a:p>
                      <a:pPr algn="l" rtl="0" fontAlgn="ctr"/>
                      <a:r>
                        <a:rPr lang="en-IN" sz="1300" b="0" i="0" u="none" strike="noStrike" dirty="0" err="1">
                          <a:solidFill>
                            <a:srgbClr val="000000"/>
                          </a:solidFill>
                          <a:effectLst/>
                          <a:latin typeface="Calibri" panose="020F0502020204030204" pitchFamily="34" charset="0"/>
                        </a:rPr>
                        <a:t>CompanyA</a:t>
                      </a:r>
                      <a:endParaRPr lang="en-IN" sz="1300" b="0" i="0" u="none" strike="noStrike" dirty="0">
                        <a:solidFill>
                          <a:srgbClr val="000000"/>
                        </a:solidFill>
                        <a:effectLst/>
                        <a:latin typeface="Calibri" panose="020F0502020204030204" pitchFamily="34" charset="0"/>
                      </a:endParaRPr>
                    </a:p>
                  </a:txBody>
                  <a:tcPr marL="171450" marR="9525" marT="9525" marB="0" anchor="ct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rgbClr val="00B050"/>
                    </a:solidFill>
                  </a:tcP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chemeClr val="accent2">
                        <a:lumMod val="60000"/>
                        <a:lumOff val="40000"/>
                      </a:schemeClr>
                    </a:solidFill>
                  </a:tcPr>
                </a:tc>
                <a:extLst>
                  <a:ext uri="{0D108BD9-81ED-4DB2-BD59-A6C34878D82A}">
                    <a16:rowId xmlns:a16="http://schemas.microsoft.com/office/drawing/2014/main" val="10001"/>
                  </a:ext>
                </a:extLst>
              </a:tr>
              <a:tr h="423991">
                <a:tc>
                  <a:txBody>
                    <a:bodyPr/>
                    <a:lstStyle/>
                    <a:p>
                      <a:pPr algn="l" rtl="0" fontAlgn="ctr"/>
                      <a:r>
                        <a:rPr lang="en-IN" sz="1300" b="0" i="0" u="none" strike="noStrike" dirty="0" err="1">
                          <a:solidFill>
                            <a:srgbClr val="000000"/>
                          </a:solidFill>
                          <a:effectLst/>
                          <a:latin typeface="Calibri" panose="020F0502020204030204" pitchFamily="34" charset="0"/>
                        </a:rPr>
                        <a:t>CompanyB</a:t>
                      </a:r>
                      <a:endParaRPr lang="en-IN" sz="1300" b="0" i="0" u="none" strike="noStrike" dirty="0">
                        <a:solidFill>
                          <a:srgbClr val="000000"/>
                        </a:solidFill>
                        <a:effectLst/>
                        <a:latin typeface="Calibri" panose="020F0502020204030204" pitchFamily="34" charset="0"/>
                      </a:endParaRPr>
                    </a:p>
                  </a:txBody>
                  <a:tcPr marL="171450" marR="9525" marT="9525" marB="0" anchor="ct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extLst>
                  <a:ext uri="{0D108BD9-81ED-4DB2-BD59-A6C34878D82A}">
                    <a16:rowId xmlns:a16="http://schemas.microsoft.com/office/drawing/2014/main" val="460100800"/>
                  </a:ext>
                </a:extLst>
              </a:tr>
              <a:tr h="423991">
                <a:tc>
                  <a:txBody>
                    <a:bodyPr/>
                    <a:lstStyle/>
                    <a:p>
                      <a:pPr algn="l" rtl="0" fontAlgn="ctr"/>
                      <a:r>
                        <a:rPr lang="en-IN" sz="1300" b="0" i="0" u="none" strike="noStrike" dirty="0" err="1">
                          <a:solidFill>
                            <a:srgbClr val="000000"/>
                          </a:solidFill>
                          <a:effectLst/>
                          <a:latin typeface="Calibri" panose="020F0502020204030204" pitchFamily="34" charset="0"/>
                        </a:rPr>
                        <a:t>CompanyC</a:t>
                      </a:r>
                      <a:endParaRPr lang="en-IN" sz="1300" b="0" i="0" u="none" strike="noStrike" dirty="0">
                        <a:solidFill>
                          <a:srgbClr val="000000"/>
                        </a:solidFill>
                        <a:effectLst/>
                        <a:latin typeface="Calibri" panose="020F0502020204030204" pitchFamily="34" charset="0"/>
                      </a:endParaRPr>
                    </a:p>
                  </a:txBody>
                  <a:tcPr marL="171450" marR="9525" marT="9525" marB="0" anchor="ct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marL="0" algn="l" defTabSz="914391" rtl="0" eaLnBrk="1" fontAlgn="b"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marL="9525" marR="9525" marT="9525" marB="0" anchor="b">
                    <a:solidFill>
                      <a:srgbClr val="00B050"/>
                    </a:solidFill>
                  </a:tcPr>
                </a:tc>
                <a:tc>
                  <a:txBody>
                    <a:bodyPr/>
                    <a:lstStyle/>
                    <a:p>
                      <a:pPr marL="0" algn="l" defTabSz="914391" rtl="0" eaLnBrk="1" fontAlgn="b"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marL="9525" marR="9525" marT="9525" marB="0" anchor="b">
                    <a:solidFill>
                      <a:srgbClr val="00B050"/>
                    </a:solidFill>
                  </a:tcPr>
                </a:tc>
                <a:tc>
                  <a:txBody>
                    <a:bodyPr/>
                    <a:lstStyle/>
                    <a:p>
                      <a:pPr marL="0" algn="l" defTabSz="914391" rtl="0" eaLnBrk="1" fontAlgn="b"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marL="9525" marR="9525" marT="9525" marB="0" anchor="b">
                    <a:solidFill>
                      <a:srgbClr val="00B050"/>
                    </a:solidFill>
                  </a:tcPr>
                </a:tc>
                <a:tc>
                  <a:txBody>
                    <a:bodyPr/>
                    <a:lstStyle/>
                    <a:p>
                      <a:pPr marL="0" algn="l" defTabSz="914391" rtl="0" eaLnBrk="1" fontAlgn="b"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marL="9525" marR="9525" marT="9525" marB="0" anchor="b">
                    <a:solidFill>
                      <a:srgbClr val="00B050"/>
                    </a:solidFill>
                  </a:tcPr>
                </a:tc>
                <a:tc>
                  <a:txBody>
                    <a:bodyPr/>
                    <a:lstStyle/>
                    <a:p>
                      <a:pPr marL="0" algn="l" defTabSz="914391" rtl="0" eaLnBrk="1" fontAlgn="b"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marL="9525" marR="9525" marT="9525" marB="0" anchor="b">
                    <a:solidFill>
                      <a:srgbClr val="00B050"/>
                    </a:solidFill>
                  </a:tcPr>
                </a:tc>
                <a:tc>
                  <a:txBody>
                    <a:bodyPr/>
                    <a:lstStyle/>
                    <a:p>
                      <a:pPr marL="0" algn="l" defTabSz="914391" rtl="0" eaLnBrk="1" fontAlgn="b" latinLnBrk="0" hangingPunct="1"/>
                      <a:endParaRPr lang="en-IN" sz="1100" b="0" i="0" u="none" strike="noStrike" kern="1200" dirty="0">
                        <a:solidFill>
                          <a:srgbClr val="000000"/>
                        </a:solidFill>
                        <a:effectLst/>
                        <a:latin typeface="Calibri" panose="020F0502020204030204" pitchFamily="34" charset="0"/>
                        <a:ea typeface="+mn-ea"/>
                        <a:cs typeface="+mn-cs"/>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extLst>
                  <a:ext uri="{0D108BD9-81ED-4DB2-BD59-A6C34878D82A}">
                    <a16:rowId xmlns:a16="http://schemas.microsoft.com/office/drawing/2014/main" val="1942029053"/>
                  </a:ext>
                </a:extLst>
              </a:tr>
              <a:tr h="423991">
                <a:tc>
                  <a:txBody>
                    <a:bodyPr/>
                    <a:lstStyle/>
                    <a:p>
                      <a:pPr algn="l" rtl="0" fontAlgn="ctr"/>
                      <a:r>
                        <a:rPr lang="en-IN" sz="1300" b="0" i="0" u="none" strike="noStrike" dirty="0" err="1">
                          <a:solidFill>
                            <a:srgbClr val="000000"/>
                          </a:solidFill>
                          <a:effectLst/>
                          <a:latin typeface="Calibri" panose="020F0502020204030204" pitchFamily="34" charset="0"/>
                        </a:rPr>
                        <a:t>CompanyD</a:t>
                      </a:r>
                      <a:endParaRPr lang="en-IN" sz="1300" b="0" i="0" u="none" strike="noStrike" dirty="0">
                        <a:solidFill>
                          <a:srgbClr val="000000"/>
                        </a:solidFill>
                        <a:effectLst/>
                        <a:latin typeface="Calibri" panose="020F0502020204030204" pitchFamily="34" charset="0"/>
                      </a:endParaRPr>
                    </a:p>
                  </a:txBody>
                  <a:tcPr marL="171450" marR="9525" marT="9525" marB="0" anchor="ct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extLst>
                  <a:ext uri="{0D108BD9-81ED-4DB2-BD59-A6C34878D82A}">
                    <a16:rowId xmlns:a16="http://schemas.microsoft.com/office/drawing/2014/main" val="2703046085"/>
                  </a:ext>
                </a:extLst>
              </a:tr>
              <a:tr h="423991">
                <a:tc>
                  <a:txBody>
                    <a:bodyPr/>
                    <a:lstStyle/>
                    <a:p>
                      <a:pPr algn="l" rtl="0" fontAlgn="ctr"/>
                      <a:r>
                        <a:rPr lang="en-IN" sz="1300" b="0" i="0" u="none" strike="noStrike" dirty="0" err="1">
                          <a:solidFill>
                            <a:srgbClr val="000000"/>
                          </a:solidFill>
                          <a:effectLst/>
                          <a:latin typeface="Calibri" panose="020F0502020204030204" pitchFamily="34" charset="0"/>
                        </a:rPr>
                        <a:t>CompanyE</a:t>
                      </a:r>
                      <a:endParaRPr lang="en-IN" sz="1300" b="0" i="0" u="none" strike="noStrike" dirty="0">
                        <a:solidFill>
                          <a:srgbClr val="000000"/>
                        </a:solidFill>
                        <a:effectLst/>
                        <a:latin typeface="Calibri" panose="020F0502020204030204" pitchFamily="34" charset="0"/>
                      </a:endParaRPr>
                    </a:p>
                  </a:txBody>
                  <a:tcPr marL="171450" marR="9525" marT="9525" marB="0" anchor="ct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extLst>
                  <a:ext uri="{0D108BD9-81ED-4DB2-BD59-A6C34878D82A}">
                    <a16:rowId xmlns:a16="http://schemas.microsoft.com/office/drawing/2014/main" val="198382109"/>
                  </a:ext>
                </a:extLst>
              </a:tr>
              <a:tr h="423991">
                <a:tc>
                  <a:txBody>
                    <a:bodyPr/>
                    <a:lstStyle/>
                    <a:p>
                      <a:pPr marL="0" algn="l" defTabSz="914391" rtl="0" eaLnBrk="1" fontAlgn="ctr" latinLnBrk="0" hangingPunct="1"/>
                      <a:r>
                        <a:rPr lang="en-IN" sz="1300" b="0" i="0" u="none" strike="noStrike" kern="1200" dirty="0" err="1">
                          <a:solidFill>
                            <a:srgbClr val="000000"/>
                          </a:solidFill>
                          <a:effectLst/>
                          <a:latin typeface="Calibri" panose="020F0502020204030204" pitchFamily="34" charset="0"/>
                          <a:ea typeface="+mn-ea"/>
                          <a:cs typeface="+mn-cs"/>
                        </a:rPr>
                        <a:t>CompanyF</a:t>
                      </a:r>
                      <a:endParaRPr lang="en-IN" sz="1300" b="0" i="0" u="none" strike="noStrike" kern="1200" dirty="0">
                        <a:solidFill>
                          <a:srgbClr val="000000"/>
                        </a:solidFill>
                        <a:effectLst/>
                        <a:latin typeface="Calibri" panose="020F0502020204030204" pitchFamily="34" charset="0"/>
                        <a:ea typeface="+mn-ea"/>
                        <a:cs typeface="+mn-cs"/>
                      </a:endParaRPr>
                    </a:p>
                  </a:txBody>
                  <a:tcPr marL="171450" marR="9525" marT="9525" marB="0" anchor="ct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extLst>
                  <a:ext uri="{0D108BD9-81ED-4DB2-BD59-A6C34878D82A}">
                    <a16:rowId xmlns:a16="http://schemas.microsoft.com/office/drawing/2014/main" val="3938631913"/>
                  </a:ext>
                </a:extLst>
              </a:tr>
              <a:tr h="423991">
                <a:tc>
                  <a:txBody>
                    <a:bodyPr/>
                    <a:lstStyle/>
                    <a:p>
                      <a:pPr marL="0" algn="l" defTabSz="914391" rtl="0" eaLnBrk="1" fontAlgn="ctr" latinLnBrk="0" hangingPunct="1"/>
                      <a:r>
                        <a:rPr lang="en-IN" sz="1300" b="0" i="0" u="none" strike="noStrike" kern="1200" dirty="0" err="1">
                          <a:solidFill>
                            <a:srgbClr val="000000"/>
                          </a:solidFill>
                          <a:effectLst/>
                          <a:latin typeface="Calibri" panose="020F0502020204030204" pitchFamily="34" charset="0"/>
                          <a:ea typeface="+mn-ea"/>
                          <a:cs typeface="+mn-cs"/>
                        </a:rPr>
                        <a:t>CompanyG</a:t>
                      </a:r>
                      <a:endParaRPr lang="en-IN" sz="1300" b="0" i="0" u="none" strike="noStrike" kern="1200" dirty="0">
                        <a:solidFill>
                          <a:srgbClr val="000000"/>
                        </a:solidFill>
                        <a:effectLst/>
                        <a:latin typeface="Calibri" panose="020F0502020204030204" pitchFamily="34" charset="0"/>
                        <a:ea typeface="+mn-ea"/>
                        <a:cs typeface="+mn-cs"/>
                      </a:endParaRPr>
                    </a:p>
                  </a:txBody>
                  <a:tcPr marL="171450" marR="9525" marT="9525" marB="0" anchor="ct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kern="1200" dirty="0">
                        <a:solidFill>
                          <a:srgbClr val="000000"/>
                        </a:solidFill>
                        <a:effectLst/>
                        <a:latin typeface="Calibri" panose="020F0502020204030204" pitchFamily="34" charset="0"/>
                        <a:ea typeface="+mn-ea"/>
                        <a:cs typeface="+mn-cs"/>
                      </a:endParaRPr>
                    </a:p>
                  </a:txBody>
                  <a:tcPr marL="9525" marR="9525" marT="9525" marB="0" anchor="b">
                    <a:solidFill>
                      <a:srgbClr val="00B050"/>
                    </a:solidFill>
                  </a:tcPr>
                </a:tc>
                <a:tc>
                  <a:txBody>
                    <a:bodyPr/>
                    <a:lstStyle/>
                    <a:p>
                      <a:pPr algn="l" fontAlgn="b"/>
                      <a:endParaRPr lang="en-IN" sz="1100" b="0" i="0" u="none" strike="noStrike" kern="1200" dirty="0">
                        <a:solidFill>
                          <a:srgbClr val="000000"/>
                        </a:solidFill>
                        <a:effectLst/>
                        <a:latin typeface="Calibri" panose="020F0502020204030204" pitchFamily="34" charset="0"/>
                        <a:ea typeface="+mn-ea"/>
                        <a:cs typeface="+mn-cs"/>
                      </a:endParaRPr>
                    </a:p>
                  </a:txBody>
                  <a:tcPr marL="9525" marR="9525" marT="9525" marB="0" anchor="b">
                    <a:solidFill>
                      <a:srgbClr val="00B050"/>
                    </a:solidFill>
                  </a:tcPr>
                </a:tc>
                <a:tc>
                  <a:txBody>
                    <a:bodyPr/>
                    <a:lstStyle/>
                    <a:p>
                      <a:pPr algn="l" fontAlgn="b"/>
                      <a:endParaRPr lang="en-IN" sz="1100" b="0" i="0" u="none" strike="noStrike" kern="1200" dirty="0">
                        <a:solidFill>
                          <a:srgbClr val="000000"/>
                        </a:solidFill>
                        <a:effectLst/>
                        <a:latin typeface="Calibri" panose="020F0502020204030204" pitchFamily="34" charset="0"/>
                        <a:ea typeface="+mn-ea"/>
                        <a:cs typeface="+mn-cs"/>
                      </a:endParaRPr>
                    </a:p>
                  </a:txBody>
                  <a:tcPr marL="9525" marR="9525" marT="9525" marB="0" anchor="b">
                    <a:solidFill>
                      <a:srgbClr val="00B050"/>
                    </a:solidFill>
                  </a:tcPr>
                </a:tc>
                <a:tc>
                  <a:txBody>
                    <a:bodyPr/>
                    <a:lstStyle/>
                    <a:p>
                      <a:pPr algn="l" fontAlgn="b"/>
                      <a:endParaRPr lang="en-IN" sz="1100" b="0" i="0" u="none" strike="noStrike" kern="1200" dirty="0">
                        <a:solidFill>
                          <a:srgbClr val="000000"/>
                        </a:solidFill>
                        <a:effectLst/>
                        <a:latin typeface="Calibri" panose="020F0502020204030204" pitchFamily="34" charset="0"/>
                        <a:ea typeface="+mn-ea"/>
                        <a:cs typeface="+mn-cs"/>
                      </a:endParaRPr>
                    </a:p>
                  </a:txBody>
                  <a:tcPr marL="9525" marR="9525" marT="9525" marB="0" anchor="b">
                    <a:solidFill>
                      <a:schemeClr val="accent2">
                        <a:lumMod val="60000"/>
                        <a:lumOff val="40000"/>
                      </a:schemeClr>
                    </a:solidFill>
                  </a:tcPr>
                </a:tc>
                <a:extLst>
                  <a:ext uri="{0D108BD9-81ED-4DB2-BD59-A6C34878D82A}">
                    <a16:rowId xmlns:a16="http://schemas.microsoft.com/office/drawing/2014/main" val="1786822963"/>
                  </a:ext>
                </a:extLst>
              </a:tr>
              <a:tr h="423991">
                <a:tc>
                  <a:txBody>
                    <a:bodyPr/>
                    <a:lstStyle/>
                    <a:p>
                      <a:pPr marL="0" algn="l" defTabSz="914391" rtl="0" eaLnBrk="1" fontAlgn="ctr" latinLnBrk="0" hangingPunct="1"/>
                      <a:r>
                        <a:rPr lang="en-IN" sz="1300" b="0" i="0" u="none" strike="noStrike" kern="1200" dirty="0" err="1">
                          <a:solidFill>
                            <a:srgbClr val="000000"/>
                          </a:solidFill>
                          <a:effectLst/>
                          <a:latin typeface="Calibri" panose="020F0502020204030204" pitchFamily="34" charset="0"/>
                          <a:ea typeface="+mn-ea"/>
                          <a:cs typeface="+mn-cs"/>
                        </a:rPr>
                        <a:t>CompanyH</a:t>
                      </a:r>
                      <a:endParaRPr lang="en-IN" sz="1300" b="0" i="0" u="none" strike="noStrike" kern="1200" dirty="0">
                        <a:solidFill>
                          <a:srgbClr val="000000"/>
                        </a:solidFill>
                        <a:effectLst/>
                        <a:latin typeface="Calibri" panose="020F0502020204030204" pitchFamily="34" charset="0"/>
                        <a:ea typeface="+mn-ea"/>
                        <a:cs typeface="+mn-cs"/>
                      </a:endParaRPr>
                    </a:p>
                  </a:txBody>
                  <a:tcPr marL="171450" marR="9525" marT="9525" marB="0" anchor="ct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extLst>
                  <a:ext uri="{0D108BD9-81ED-4DB2-BD59-A6C34878D82A}">
                    <a16:rowId xmlns:a16="http://schemas.microsoft.com/office/drawing/2014/main" val="952182854"/>
                  </a:ext>
                </a:extLst>
              </a:tr>
              <a:tr h="423991">
                <a:tc>
                  <a:txBody>
                    <a:bodyPr/>
                    <a:lstStyle/>
                    <a:p>
                      <a:pPr marL="0" algn="l" defTabSz="914391" rtl="0" eaLnBrk="1" fontAlgn="ctr" latinLnBrk="0" hangingPunct="1"/>
                      <a:r>
                        <a:rPr lang="en-IN" sz="1300" b="0" i="0" u="none" strike="noStrike" kern="1200" dirty="0" err="1">
                          <a:solidFill>
                            <a:srgbClr val="000000"/>
                          </a:solidFill>
                          <a:effectLst/>
                          <a:latin typeface="Calibri" panose="020F0502020204030204" pitchFamily="34" charset="0"/>
                          <a:ea typeface="+mn-ea"/>
                          <a:cs typeface="+mn-cs"/>
                        </a:rPr>
                        <a:t>CompanyI</a:t>
                      </a:r>
                      <a:endParaRPr lang="en-IN" sz="1300" b="0" i="0" u="none" strike="noStrike" kern="1200" dirty="0">
                        <a:solidFill>
                          <a:srgbClr val="000000"/>
                        </a:solidFill>
                        <a:effectLst/>
                        <a:latin typeface="Calibri" panose="020F0502020204030204" pitchFamily="34" charset="0"/>
                        <a:ea typeface="+mn-ea"/>
                        <a:cs typeface="+mn-cs"/>
                      </a:endParaRPr>
                    </a:p>
                  </a:txBody>
                  <a:tcPr marL="171450" marR="9525" marT="9525" marB="0" anchor="ct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chemeClr val="accent2">
                        <a:lumMod val="60000"/>
                        <a:lumOff val="40000"/>
                      </a:schemeClr>
                    </a:solidFill>
                  </a:tcP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chemeClr val="accent2">
                        <a:lumMod val="60000"/>
                        <a:lumOff val="40000"/>
                      </a:schemeClr>
                    </a:solidFill>
                  </a:tcPr>
                </a:tc>
                <a:extLst>
                  <a:ext uri="{0D108BD9-81ED-4DB2-BD59-A6C34878D82A}">
                    <a16:rowId xmlns:a16="http://schemas.microsoft.com/office/drawing/2014/main" val="10003"/>
                  </a:ext>
                </a:extLst>
              </a:tr>
              <a:tr h="423991">
                <a:tc>
                  <a:txBody>
                    <a:bodyPr/>
                    <a:lstStyle/>
                    <a:p>
                      <a:pPr marL="0" algn="l" defTabSz="914391" rtl="0" eaLnBrk="1" fontAlgn="ctr" latinLnBrk="0" hangingPunct="1"/>
                      <a:r>
                        <a:rPr lang="en-IN" sz="1300" b="0" i="0" u="none" strike="noStrike" kern="1200" dirty="0" err="1">
                          <a:solidFill>
                            <a:srgbClr val="000000"/>
                          </a:solidFill>
                          <a:effectLst/>
                          <a:latin typeface="Calibri" panose="020F0502020204030204" pitchFamily="34" charset="0"/>
                          <a:ea typeface="+mn-ea"/>
                          <a:cs typeface="+mn-cs"/>
                        </a:rPr>
                        <a:t>CompanyJ</a:t>
                      </a:r>
                      <a:endParaRPr lang="en-IN" sz="1300" b="0" i="0" u="none" strike="noStrike" kern="1200" dirty="0">
                        <a:solidFill>
                          <a:srgbClr val="000000"/>
                        </a:solidFill>
                        <a:effectLst/>
                        <a:latin typeface="Calibri" panose="020F0502020204030204" pitchFamily="34" charset="0"/>
                        <a:ea typeface="+mn-ea"/>
                        <a:cs typeface="+mn-cs"/>
                      </a:endParaRPr>
                    </a:p>
                  </a:txBody>
                  <a:tcPr marL="171450" marR="9525" marT="9525" marB="0" anchor="ct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rgbClr val="00B050"/>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endParaRPr lang="en-IN" sz="1100" b="0" i="0" u="none" strike="noStrike" dirty="0">
                        <a:solidFill>
                          <a:srgbClr val="000000"/>
                        </a:solidFill>
                        <a:effectLst/>
                        <a:latin typeface="Calibri" panose="020F0502020204030204" pitchFamily="34" charset="0"/>
                      </a:endParaRPr>
                    </a:p>
                  </a:txBody>
                  <a:tcPr marL="9525" marR="9525" marT="9525" marB="0" anchor="b">
                    <a:solidFill>
                      <a:schemeClr val="accent2">
                        <a:lumMod val="60000"/>
                        <a:lumOff val="40000"/>
                      </a:schemeClr>
                    </a:solidFill>
                  </a:tcP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chemeClr val="accent2">
                        <a:lumMod val="60000"/>
                        <a:lumOff val="40000"/>
                      </a:schemeClr>
                    </a:solidFill>
                  </a:tcPr>
                </a:tc>
                <a:tc>
                  <a:txBody>
                    <a:bodyPr/>
                    <a:lstStyle/>
                    <a:p>
                      <a:pPr algn="l" fontAlgn="b"/>
                      <a:r>
                        <a:rPr lang="en-IN" sz="1100" b="0" i="0" u="none" strike="noStrike" dirty="0">
                          <a:solidFill>
                            <a:srgbClr val="000000"/>
                          </a:solidFill>
                          <a:effectLst/>
                          <a:latin typeface="Calibri" panose="020F0502020204030204" pitchFamily="34" charset="0"/>
                        </a:rPr>
                        <a:t> </a:t>
                      </a:r>
                    </a:p>
                  </a:txBody>
                  <a:tcPr marL="9525" marR="9525" marT="9525" marB="0" anchor="b">
                    <a:solidFill>
                      <a:schemeClr val="accent2">
                        <a:lumMod val="60000"/>
                        <a:lumOff val="40000"/>
                      </a:schemeClr>
                    </a:solidFill>
                  </a:tcPr>
                </a:tc>
                <a:extLst>
                  <a:ext uri="{0D108BD9-81ED-4DB2-BD59-A6C34878D82A}">
                    <a16:rowId xmlns:a16="http://schemas.microsoft.com/office/drawing/2014/main" val="10004"/>
                  </a:ext>
                </a:extLst>
              </a:tr>
            </a:tbl>
          </a:graphicData>
        </a:graphic>
      </p:graphicFrame>
      <p:grpSp>
        <p:nvGrpSpPr>
          <p:cNvPr id="6" name="Group 5"/>
          <p:cNvGrpSpPr/>
          <p:nvPr/>
        </p:nvGrpSpPr>
        <p:grpSpPr>
          <a:xfrm>
            <a:off x="9660036" y="6085162"/>
            <a:ext cx="2132822" cy="246221"/>
            <a:chOff x="6663448" y="6089887"/>
            <a:chExt cx="2132822" cy="246221"/>
          </a:xfrm>
        </p:grpSpPr>
        <p:sp>
          <p:nvSpPr>
            <p:cNvPr id="7" name="Oval 6"/>
            <p:cNvSpPr/>
            <p:nvPr/>
          </p:nvSpPr>
          <p:spPr>
            <a:xfrm flipV="1">
              <a:off x="6663448" y="6089887"/>
              <a:ext cx="208382" cy="20838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6871830" y="6089887"/>
              <a:ext cx="726705" cy="246221"/>
            </a:xfrm>
            <a:prstGeom prst="rect">
              <a:avLst/>
            </a:prstGeom>
            <a:noFill/>
          </p:spPr>
          <p:txBody>
            <a:bodyPr wrap="square" rtlCol="0">
              <a:spAutoFit/>
            </a:bodyPr>
            <a:lstStyle/>
            <a:p>
              <a:r>
                <a:rPr lang="en-IN" sz="1000" dirty="0"/>
                <a:t>Available</a:t>
              </a:r>
              <a:endParaRPr lang="en-US" sz="1000" dirty="0"/>
            </a:p>
          </p:txBody>
        </p:sp>
        <p:sp>
          <p:nvSpPr>
            <p:cNvPr id="9" name="Oval 8"/>
            <p:cNvSpPr/>
            <p:nvPr/>
          </p:nvSpPr>
          <p:spPr>
            <a:xfrm flipV="1">
              <a:off x="7598535" y="6089887"/>
              <a:ext cx="208382" cy="208382"/>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7806917" y="6089887"/>
              <a:ext cx="989353" cy="246221"/>
            </a:xfrm>
            <a:prstGeom prst="rect">
              <a:avLst/>
            </a:prstGeom>
            <a:noFill/>
          </p:spPr>
          <p:txBody>
            <a:bodyPr wrap="square" rtlCol="0">
              <a:spAutoFit/>
            </a:bodyPr>
            <a:lstStyle/>
            <a:p>
              <a:r>
                <a:rPr lang="en-IN" sz="1000" dirty="0"/>
                <a:t>Not Available</a:t>
              </a:r>
              <a:endParaRPr lang="en-US" sz="1000" dirty="0"/>
            </a:p>
          </p:txBody>
        </p:sp>
      </p:grpSp>
      <p:sp>
        <p:nvSpPr>
          <p:cNvPr id="11" name="TextBox 10"/>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5" name="Slide Number Placeholder 4"/>
          <p:cNvSpPr>
            <a:spLocks noGrp="1"/>
          </p:cNvSpPr>
          <p:nvPr>
            <p:ph type="sldNum" sz="quarter" idx="4"/>
          </p:nvPr>
        </p:nvSpPr>
        <p:spPr/>
        <p:txBody>
          <a:bodyPr/>
          <a:lstStyle/>
          <a:p>
            <a:fld id="{4B17068C-EB94-40A3-A5F2-664CDD77FDAC}" type="slidenum">
              <a:rPr lang="en-GB" smtClean="0"/>
              <a:pPr/>
              <a:t>256</a:t>
            </a:fld>
            <a:endParaRPr lang="en-GB" dirty="0"/>
          </a:p>
        </p:txBody>
      </p:sp>
    </p:spTree>
    <p:extLst>
      <p:ext uri="{BB962C8B-B14F-4D97-AF65-F5344CB8AC3E}">
        <p14:creationId xmlns:p14="http://schemas.microsoft.com/office/powerpoint/2010/main" val="344281548"/>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dirty="0"/>
              <a:t>Key Players Brand Mapping</a:t>
            </a:r>
          </a:p>
        </p:txBody>
      </p:sp>
      <p:graphicFrame>
        <p:nvGraphicFramePr>
          <p:cNvPr id="6" name="Table 5"/>
          <p:cNvGraphicFramePr>
            <a:graphicFrameLocks noGrp="1"/>
          </p:cNvGraphicFramePr>
          <p:nvPr>
            <p:extLst>
              <p:ext uri="{D42A27DB-BD31-4B8C-83A1-F6EECF244321}">
                <p14:modId xmlns:p14="http://schemas.microsoft.com/office/powerpoint/2010/main" val="1423115144"/>
              </p:ext>
            </p:extLst>
          </p:nvPr>
        </p:nvGraphicFramePr>
        <p:xfrm>
          <a:off x="173525" y="1099124"/>
          <a:ext cx="11866076" cy="4992189"/>
        </p:xfrm>
        <a:graphic>
          <a:graphicData uri="http://schemas.openxmlformats.org/drawingml/2006/table">
            <a:tbl>
              <a:tblPr firstRow="1" bandRow="1">
                <a:tableStyleId>{5C22544A-7EE6-4342-B048-85BDC9FD1C3A}</a:tableStyleId>
              </a:tblPr>
              <a:tblGrid>
                <a:gridCol w="1908493">
                  <a:extLst>
                    <a:ext uri="{9D8B030D-6E8A-4147-A177-3AD203B41FA5}">
                      <a16:colId xmlns:a16="http://schemas.microsoft.com/office/drawing/2014/main" val="3368990992"/>
                    </a:ext>
                  </a:extLst>
                </a:gridCol>
                <a:gridCol w="2686930">
                  <a:extLst>
                    <a:ext uri="{9D8B030D-6E8A-4147-A177-3AD203B41FA5}">
                      <a16:colId xmlns:a16="http://schemas.microsoft.com/office/drawing/2014/main" val="4046254108"/>
                    </a:ext>
                  </a:extLst>
                </a:gridCol>
                <a:gridCol w="7270653">
                  <a:extLst>
                    <a:ext uri="{9D8B030D-6E8A-4147-A177-3AD203B41FA5}">
                      <a16:colId xmlns:a16="http://schemas.microsoft.com/office/drawing/2014/main" val="448476292"/>
                    </a:ext>
                  </a:extLst>
                </a:gridCol>
              </a:tblGrid>
              <a:tr h="487709">
                <a:tc>
                  <a:txBody>
                    <a:bodyPr/>
                    <a:lstStyle/>
                    <a:p>
                      <a:r>
                        <a:rPr lang="en-IN" sz="1200" dirty="0">
                          <a:latin typeface="+mn-lt"/>
                        </a:rPr>
                        <a:t>Company Name</a:t>
                      </a:r>
                    </a:p>
                  </a:txBody>
                  <a:tcPr marR="0" marT="0" marB="0" anchor="ctr"/>
                </a:tc>
                <a:tc>
                  <a:txBody>
                    <a:bodyPr/>
                    <a:lstStyle/>
                    <a:p>
                      <a:pPr algn="ctr"/>
                      <a:r>
                        <a:rPr lang="en-IN" sz="1200" dirty="0">
                          <a:latin typeface="+mn-lt"/>
                        </a:rPr>
                        <a:t>Brand</a:t>
                      </a:r>
                    </a:p>
                  </a:txBody>
                  <a:tcPr marL="0" marR="0" marT="0" marB="0" anchor="ctr"/>
                </a:tc>
                <a:tc>
                  <a:txBody>
                    <a:bodyPr/>
                    <a:lstStyle/>
                    <a:p>
                      <a:pPr algn="ctr"/>
                      <a:r>
                        <a:rPr lang="en-IN" sz="1200" dirty="0">
                          <a:latin typeface="+mn-lt"/>
                        </a:rPr>
                        <a:t>Description</a:t>
                      </a:r>
                    </a:p>
                  </a:txBody>
                  <a:tcPr marL="0" marR="0" marT="0" marB="0" anchor="ctr"/>
                </a:tc>
                <a:extLst>
                  <a:ext uri="{0D108BD9-81ED-4DB2-BD59-A6C34878D82A}">
                    <a16:rowId xmlns:a16="http://schemas.microsoft.com/office/drawing/2014/main" val="1033346290"/>
                  </a:ext>
                </a:extLst>
              </a:tr>
              <a:tr h="281530">
                <a:tc>
                  <a:txBody>
                    <a:bodyPr/>
                    <a:lstStyle/>
                    <a:p>
                      <a:pPr algn="l" rtl="0" fontAlgn="ctr"/>
                      <a:r>
                        <a:rPr lang="en-IN" sz="1100" b="0" i="0" u="none" strike="noStrike" dirty="0" err="1">
                          <a:solidFill>
                            <a:srgbClr val="000000"/>
                          </a:solidFill>
                          <a:effectLst/>
                          <a:latin typeface="+mn-lt"/>
                        </a:rPr>
                        <a:t>CompanyA</a:t>
                      </a:r>
                      <a:endParaRPr lang="en-IN" sz="1100" b="0" i="0" u="none" strike="noStrike" dirty="0">
                        <a:solidFill>
                          <a:srgbClr val="000000"/>
                        </a:solidFill>
                        <a:effectLst/>
                        <a:latin typeface="+mn-lt"/>
                      </a:endParaRP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marL="0" marR="0" lvl="0" indent="0" algn="ctr" defTabSz="914391" rtl="0" eaLnBrk="1" fontAlgn="auto"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dirty="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493263270"/>
                  </a:ext>
                </a:extLst>
              </a:tr>
              <a:tr h="281530">
                <a:tc>
                  <a:txBody>
                    <a:bodyPr/>
                    <a:lstStyle/>
                    <a:p>
                      <a:pPr algn="l" rtl="0" fontAlgn="ctr"/>
                      <a:r>
                        <a:rPr lang="en-IN" sz="1100" b="0" i="0" u="none" strike="noStrike">
                          <a:solidFill>
                            <a:srgbClr val="000000"/>
                          </a:solidFill>
                          <a:effectLst/>
                          <a:latin typeface="+mn-lt"/>
                        </a:rPr>
                        <a:t>CompanyB</a:t>
                      </a: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2881651876"/>
                  </a:ext>
                </a:extLst>
              </a:tr>
              <a:tr h="281530">
                <a:tc>
                  <a:txBody>
                    <a:bodyPr/>
                    <a:lstStyle/>
                    <a:p>
                      <a:pPr algn="l" rtl="0" fontAlgn="ctr"/>
                      <a:r>
                        <a:rPr lang="en-IN" sz="1100" b="0" i="0" u="none" strike="noStrike">
                          <a:solidFill>
                            <a:srgbClr val="000000"/>
                          </a:solidFill>
                          <a:effectLst/>
                          <a:latin typeface="+mn-lt"/>
                        </a:rPr>
                        <a:t>CompanyC</a:t>
                      </a: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2781840194"/>
                  </a:ext>
                </a:extLst>
              </a:tr>
              <a:tr h="281530">
                <a:tc>
                  <a:txBody>
                    <a:bodyPr/>
                    <a:lstStyle/>
                    <a:p>
                      <a:pPr algn="l" rtl="0" fontAlgn="ctr"/>
                      <a:r>
                        <a:rPr lang="en-IN" sz="1100" b="0" i="0" u="none" strike="noStrike">
                          <a:solidFill>
                            <a:srgbClr val="000000"/>
                          </a:solidFill>
                          <a:effectLst/>
                          <a:latin typeface="+mn-lt"/>
                        </a:rPr>
                        <a:t>CompanyD</a:t>
                      </a: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913257992"/>
                  </a:ext>
                </a:extLst>
              </a:tr>
              <a:tr h="281530">
                <a:tc>
                  <a:txBody>
                    <a:bodyPr/>
                    <a:lstStyle/>
                    <a:p>
                      <a:pPr algn="l" rtl="0" fontAlgn="ctr"/>
                      <a:r>
                        <a:rPr lang="en-IN" sz="1100" b="0" i="0" u="none" strike="noStrike">
                          <a:solidFill>
                            <a:srgbClr val="000000"/>
                          </a:solidFill>
                          <a:effectLst/>
                          <a:latin typeface="+mn-lt"/>
                        </a:rPr>
                        <a:t>CompanyE</a:t>
                      </a:r>
                    </a:p>
                  </a:txBody>
                  <a:tcPr marL="171450" marR="9525" marT="9525" marB="0" anchor="ctr"/>
                </a:tc>
                <a:tc>
                  <a:txBody>
                    <a:bodyPr/>
                    <a:lstStyle/>
                    <a:p>
                      <a:pPr algn="ctr"/>
                      <a:r>
                        <a:rPr kumimoji="0" lang="en-IN" sz="1100" b="0" i="0" u="none" strike="noStrike" kern="1200" cap="none" spc="0" normalizeH="0" baseline="0" noProof="0" dirty="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dirty="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1263828269"/>
                  </a:ext>
                </a:extLst>
              </a:tr>
              <a:tr h="281530">
                <a:tc>
                  <a:txBody>
                    <a:bodyPr/>
                    <a:lstStyle/>
                    <a:p>
                      <a:pPr algn="l" rtl="0" fontAlgn="ctr"/>
                      <a:r>
                        <a:rPr lang="en-IN" sz="1100" b="0" i="0" u="none" strike="noStrike" dirty="0" err="1">
                          <a:solidFill>
                            <a:srgbClr val="000000"/>
                          </a:solidFill>
                          <a:effectLst/>
                          <a:latin typeface="+mn-lt"/>
                        </a:rPr>
                        <a:t>CompanyF</a:t>
                      </a:r>
                      <a:endParaRPr lang="en-IN" sz="1100" b="0" i="0" u="none" strike="noStrike" dirty="0">
                        <a:solidFill>
                          <a:srgbClr val="000000"/>
                        </a:solidFill>
                        <a:effectLst/>
                        <a:latin typeface="+mn-lt"/>
                      </a:endParaRP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dirty="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3649576442"/>
                  </a:ext>
                </a:extLst>
              </a:tr>
              <a:tr h="281530">
                <a:tc>
                  <a:txBody>
                    <a:bodyPr/>
                    <a:lstStyle/>
                    <a:p>
                      <a:pPr algn="l" rtl="0" fontAlgn="ctr"/>
                      <a:r>
                        <a:rPr lang="en-IN" sz="1100" b="0" i="0" u="none" strike="noStrike" dirty="0" err="1">
                          <a:solidFill>
                            <a:srgbClr val="000000"/>
                          </a:solidFill>
                          <a:effectLst/>
                          <a:latin typeface="+mn-lt"/>
                        </a:rPr>
                        <a:t>CompanyG</a:t>
                      </a:r>
                      <a:endParaRPr lang="en-IN" sz="1100" b="0" i="0" u="none" strike="noStrike" dirty="0">
                        <a:solidFill>
                          <a:srgbClr val="000000"/>
                        </a:solidFill>
                        <a:effectLst/>
                        <a:latin typeface="+mn-lt"/>
                      </a:endParaRP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1293921257"/>
                  </a:ext>
                </a:extLst>
              </a:tr>
              <a:tr h="281530">
                <a:tc>
                  <a:txBody>
                    <a:bodyPr/>
                    <a:lstStyle/>
                    <a:p>
                      <a:pPr algn="l" rtl="0" fontAlgn="ctr"/>
                      <a:r>
                        <a:rPr lang="en-IN" sz="1100" b="0" i="0" u="none" strike="noStrike" dirty="0" err="1">
                          <a:solidFill>
                            <a:srgbClr val="000000"/>
                          </a:solidFill>
                          <a:effectLst/>
                          <a:latin typeface="+mn-lt"/>
                        </a:rPr>
                        <a:t>CompanyH</a:t>
                      </a:r>
                      <a:endParaRPr lang="en-IN" sz="1100" b="0" i="0" u="none" strike="noStrike" dirty="0">
                        <a:solidFill>
                          <a:srgbClr val="000000"/>
                        </a:solidFill>
                        <a:effectLst/>
                        <a:latin typeface="+mn-lt"/>
                      </a:endParaRP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129728523"/>
                  </a:ext>
                </a:extLst>
              </a:tr>
              <a:tr h="281530">
                <a:tc>
                  <a:txBody>
                    <a:bodyPr/>
                    <a:lstStyle/>
                    <a:p>
                      <a:pPr algn="l" rtl="0" fontAlgn="ctr"/>
                      <a:r>
                        <a:rPr lang="en-IN" sz="1100" b="0" i="0" u="none" strike="noStrike">
                          <a:solidFill>
                            <a:srgbClr val="000000"/>
                          </a:solidFill>
                          <a:effectLst/>
                          <a:latin typeface="+mn-lt"/>
                        </a:rPr>
                        <a:t>CompanyI</a:t>
                      </a: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4148965617"/>
                  </a:ext>
                </a:extLst>
              </a:tr>
              <a:tr h="281530">
                <a:tc>
                  <a:txBody>
                    <a:bodyPr/>
                    <a:lstStyle/>
                    <a:p>
                      <a:pPr algn="l" rtl="0" fontAlgn="ctr"/>
                      <a:r>
                        <a:rPr lang="en-IN" sz="1100" b="0" i="0" u="none" strike="noStrike" dirty="0" err="1">
                          <a:solidFill>
                            <a:srgbClr val="000000"/>
                          </a:solidFill>
                          <a:effectLst/>
                          <a:latin typeface="+mn-lt"/>
                        </a:rPr>
                        <a:t>CompanyJ</a:t>
                      </a:r>
                      <a:endParaRPr lang="en-IN" sz="1100" b="0" i="0" u="none" strike="noStrike" dirty="0">
                        <a:solidFill>
                          <a:srgbClr val="000000"/>
                        </a:solidFill>
                        <a:effectLst/>
                        <a:latin typeface="+mn-lt"/>
                      </a:endParaRP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4028117253"/>
                  </a:ext>
                </a:extLst>
              </a:tr>
              <a:tr h="281530">
                <a:tc>
                  <a:txBody>
                    <a:bodyPr/>
                    <a:lstStyle/>
                    <a:p>
                      <a:pPr algn="l" rtl="0" fontAlgn="ctr"/>
                      <a:r>
                        <a:rPr lang="en-IN" sz="1100" b="0" i="0" u="none" strike="noStrike" dirty="0" err="1">
                          <a:solidFill>
                            <a:srgbClr val="000000"/>
                          </a:solidFill>
                          <a:effectLst/>
                          <a:latin typeface="+mn-lt"/>
                        </a:rPr>
                        <a:t>CompanyK</a:t>
                      </a:r>
                      <a:endParaRPr lang="en-IN" sz="1100" b="0" i="0" u="none" strike="noStrike" dirty="0">
                        <a:solidFill>
                          <a:srgbClr val="000000"/>
                        </a:solidFill>
                        <a:effectLst/>
                        <a:latin typeface="+mn-lt"/>
                      </a:endParaRP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4079420305"/>
                  </a:ext>
                </a:extLst>
              </a:tr>
              <a:tr h="281530">
                <a:tc>
                  <a:txBody>
                    <a:bodyPr/>
                    <a:lstStyle/>
                    <a:p>
                      <a:pPr algn="l" rtl="0" fontAlgn="ctr"/>
                      <a:r>
                        <a:rPr lang="en-IN" sz="1100" b="0" i="0" u="none" strike="noStrike" dirty="0" err="1">
                          <a:solidFill>
                            <a:srgbClr val="000000"/>
                          </a:solidFill>
                          <a:effectLst/>
                          <a:latin typeface="+mn-lt"/>
                        </a:rPr>
                        <a:t>CompanyL</a:t>
                      </a:r>
                      <a:endParaRPr lang="en-IN" sz="1100" b="0" i="0" u="none" strike="noStrike" dirty="0">
                        <a:solidFill>
                          <a:srgbClr val="000000"/>
                        </a:solidFill>
                        <a:effectLst/>
                        <a:latin typeface="+mn-lt"/>
                      </a:endParaRP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3254633235"/>
                  </a:ext>
                </a:extLst>
              </a:tr>
              <a:tr h="281530">
                <a:tc>
                  <a:txBody>
                    <a:bodyPr/>
                    <a:lstStyle/>
                    <a:p>
                      <a:pPr algn="l" rtl="0" fontAlgn="ctr"/>
                      <a:r>
                        <a:rPr lang="en-IN" sz="1100" b="0" i="0" u="none" strike="noStrike" dirty="0" err="1">
                          <a:solidFill>
                            <a:srgbClr val="000000"/>
                          </a:solidFill>
                          <a:effectLst/>
                          <a:latin typeface="+mn-lt"/>
                        </a:rPr>
                        <a:t>CompanyM</a:t>
                      </a:r>
                      <a:endParaRPr lang="en-IN" sz="1100" b="0" i="0" u="none" strike="noStrike" dirty="0">
                        <a:solidFill>
                          <a:srgbClr val="000000"/>
                        </a:solidFill>
                        <a:effectLst/>
                        <a:latin typeface="+mn-lt"/>
                      </a:endParaRP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1582340407"/>
                  </a:ext>
                </a:extLst>
              </a:tr>
              <a:tr h="281530">
                <a:tc>
                  <a:txBody>
                    <a:bodyPr/>
                    <a:lstStyle/>
                    <a:p>
                      <a:pPr algn="l" rtl="0" fontAlgn="ctr"/>
                      <a:r>
                        <a:rPr lang="en-IN" sz="1100" b="0" i="0" u="none" strike="noStrike" dirty="0" err="1">
                          <a:solidFill>
                            <a:srgbClr val="000000"/>
                          </a:solidFill>
                          <a:effectLst/>
                          <a:latin typeface="+mn-lt"/>
                        </a:rPr>
                        <a:t>CompanyN</a:t>
                      </a:r>
                      <a:endParaRPr lang="en-IN" sz="1100" b="0" i="0" u="none" strike="noStrike" dirty="0">
                        <a:solidFill>
                          <a:srgbClr val="000000"/>
                        </a:solidFill>
                        <a:effectLst/>
                        <a:latin typeface="+mn-lt"/>
                      </a:endParaRP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1365434393"/>
                  </a:ext>
                </a:extLst>
              </a:tr>
              <a:tr h="281530">
                <a:tc>
                  <a:txBody>
                    <a:bodyPr/>
                    <a:lstStyle/>
                    <a:p>
                      <a:pPr algn="l" rtl="0" fontAlgn="ctr"/>
                      <a:r>
                        <a:rPr lang="en-IN" sz="1100" b="0" i="0" u="none" strike="noStrike" dirty="0" err="1">
                          <a:solidFill>
                            <a:srgbClr val="000000"/>
                          </a:solidFill>
                          <a:effectLst/>
                          <a:latin typeface="+mn-lt"/>
                        </a:rPr>
                        <a:t>CompanyO</a:t>
                      </a:r>
                      <a:endParaRPr lang="en-IN" sz="1100" b="0" i="0" u="none" strike="noStrike" dirty="0">
                        <a:solidFill>
                          <a:srgbClr val="000000"/>
                        </a:solidFill>
                        <a:effectLst/>
                        <a:latin typeface="+mn-lt"/>
                      </a:endParaRP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3964148832"/>
                  </a:ext>
                </a:extLst>
              </a:tr>
              <a:tr h="281530">
                <a:tc>
                  <a:txBody>
                    <a:bodyPr/>
                    <a:lstStyle/>
                    <a:p>
                      <a:pPr algn="l" rtl="0" fontAlgn="ctr"/>
                      <a:r>
                        <a:rPr lang="en-IN" sz="1100" b="0" i="0" u="none" strike="noStrike" dirty="0" err="1">
                          <a:solidFill>
                            <a:srgbClr val="000000"/>
                          </a:solidFill>
                          <a:effectLst/>
                          <a:latin typeface="+mn-lt"/>
                        </a:rPr>
                        <a:t>CompanyP</a:t>
                      </a:r>
                      <a:endParaRPr lang="en-IN" sz="1100" b="0" i="0" u="none" strike="noStrike" dirty="0">
                        <a:solidFill>
                          <a:srgbClr val="000000"/>
                        </a:solidFill>
                        <a:effectLst/>
                        <a:latin typeface="+mn-lt"/>
                      </a:endParaRPr>
                    </a:p>
                  </a:txBody>
                  <a:tcPr marL="171450" marR="9525" marT="9525" marB="0" anchor="ctr"/>
                </a:tc>
                <a:tc>
                  <a:txBody>
                    <a:bodyPr/>
                    <a:lstStyle/>
                    <a:p>
                      <a:pPr algn="ctr"/>
                      <a:r>
                        <a:rPr kumimoji="0" lang="en-IN" sz="1100" b="0" i="0" u="none" strike="noStrike" kern="1200" cap="none" spc="0" normalizeH="0" baseline="0" noProof="0">
                          <a:ln>
                            <a:noFill/>
                          </a:ln>
                          <a:solidFill>
                            <a:prstClr val="black"/>
                          </a:solidFill>
                          <a:effectLst/>
                          <a:uLnTx/>
                          <a:uFillTx/>
                          <a:latin typeface="+mn-lt"/>
                          <a:ea typeface="+mn-ea"/>
                          <a:cs typeface="+mn-cs"/>
                        </a:rPr>
                        <a:t>XXXXX</a:t>
                      </a:r>
                      <a:endParaRPr lang="en-IN" sz="1100" dirty="0">
                        <a:latin typeface="+mn-lt"/>
                      </a:endParaRPr>
                    </a:p>
                  </a:txBody>
                  <a:tcPr marL="0" marR="0" marT="0" marB="0" anchor="ctr"/>
                </a:tc>
                <a:tc>
                  <a:txBody>
                    <a:bodyPr/>
                    <a:lstStyle/>
                    <a:p>
                      <a:pPr algn="ctr"/>
                      <a:r>
                        <a:rPr kumimoji="0" lang="en-IN" sz="1100" b="0" i="0" u="none" strike="noStrike" kern="1200" cap="none" spc="0" normalizeH="0" baseline="0" noProof="0" dirty="0">
                          <a:ln>
                            <a:noFill/>
                          </a:ln>
                          <a:solidFill>
                            <a:prstClr val="black"/>
                          </a:solidFill>
                          <a:effectLst/>
                          <a:uLnTx/>
                          <a:uFillTx/>
                          <a:latin typeface="+mn-lt"/>
                          <a:ea typeface="+mn-ea"/>
                          <a:cs typeface="+mn-cs"/>
                        </a:rPr>
                        <a:t>XXXXXXXXXX</a:t>
                      </a:r>
                      <a:endParaRPr lang="en-IN" sz="1100" dirty="0">
                        <a:latin typeface="+mn-lt"/>
                      </a:endParaRPr>
                    </a:p>
                  </a:txBody>
                  <a:tcPr marL="0" marR="0" marT="0" marB="0" anchor="ctr"/>
                </a:tc>
                <a:extLst>
                  <a:ext uri="{0D108BD9-81ED-4DB2-BD59-A6C34878D82A}">
                    <a16:rowId xmlns:a16="http://schemas.microsoft.com/office/drawing/2014/main" val="3178660319"/>
                  </a:ext>
                </a:extLst>
              </a:tr>
            </a:tbl>
          </a:graphicData>
        </a:graphic>
      </p:graphicFrame>
      <p:sp>
        <p:nvSpPr>
          <p:cNvPr id="7" name="TextBox 6"/>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4" name="Slide Number Placeholder 3"/>
          <p:cNvSpPr>
            <a:spLocks noGrp="1"/>
          </p:cNvSpPr>
          <p:nvPr>
            <p:ph type="sldNum" sz="quarter" idx="4"/>
          </p:nvPr>
        </p:nvSpPr>
        <p:spPr/>
        <p:txBody>
          <a:bodyPr/>
          <a:lstStyle/>
          <a:p>
            <a:fld id="{4B17068C-EB94-40A3-A5F2-664CDD77FDAC}" type="slidenum">
              <a:rPr lang="en-GB" smtClean="0"/>
              <a:pPr/>
              <a:t>257</a:t>
            </a:fld>
            <a:endParaRPr lang="en-GB" dirty="0"/>
          </a:p>
        </p:txBody>
      </p:sp>
    </p:spTree>
    <p:extLst>
      <p:ext uri="{BB962C8B-B14F-4D97-AF65-F5344CB8AC3E}">
        <p14:creationId xmlns:p14="http://schemas.microsoft.com/office/powerpoint/2010/main" val="3592663183"/>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dirty="0"/>
              <a:t>Competition Developments – Summary of Findings</a:t>
            </a:r>
          </a:p>
        </p:txBody>
      </p:sp>
      <p:sp>
        <p:nvSpPr>
          <p:cNvPr id="34" name="TextBox 25"/>
          <p:cNvSpPr txBox="1"/>
          <p:nvPr/>
        </p:nvSpPr>
        <p:spPr>
          <a:xfrm>
            <a:off x="1192530" y="6151069"/>
            <a:ext cx="880049" cy="138499"/>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900" dirty="0"/>
              <a:t>Source: TMR, 2020</a:t>
            </a:r>
            <a:endParaRPr lang="en-GB" sz="900" dirty="0"/>
          </a:p>
        </p:txBody>
      </p:sp>
      <p:grpSp>
        <p:nvGrpSpPr>
          <p:cNvPr id="65" name="Group 64"/>
          <p:cNvGrpSpPr/>
          <p:nvPr/>
        </p:nvGrpSpPr>
        <p:grpSpPr>
          <a:xfrm>
            <a:off x="253218" y="1215197"/>
            <a:ext cx="11786381" cy="5151228"/>
            <a:chOff x="1305391" y="1201487"/>
            <a:chExt cx="9963988" cy="5151228"/>
          </a:xfrm>
        </p:grpSpPr>
        <p:sp>
          <p:nvSpPr>
            <p:cNvPr id="35" name="Rectangle 34"/>
            <p:cNvSpPr/>
            <p:nvPr/>
          </p:nvSpPr>
          <p:spPr>
            <a:xfrm>
              <a:off x="1526268" y="1201487"/>
              <a:ext cx="9743111" cy="5151228"/>
            </a:xfrm>
            <a:prstGeom prst="rect">
              <a:avLst/>
            </a:prstGeom>
            <a:solidFill>
              <a:schemeClr val="bg1"/>
            </a:solidFill>
            <a:ln w="19050">
              <a:noFill/>
              <a:miter lim="800000"/>
              <a:headEnd/>
              <a:tailEnd/>
            </a:ln>
            <a:effectLst>
              <a:outerShdw blurRad="50800" dist="38100" dir="2700000" algn="tl" rotWithShape="0">
                <a:prstClr val="black">
                  <a:alpha val="40000"/>
                </a:prstClr>
              </a:outerShdw>
            </a:effectLst>
          </p:spPr>
          <p:txBody>
            <a:bodyPr wrap="none" lIns="93287" tIns="46644" rIns="93287" bIns="46644" anchor="ctr"/>
            <a:lstStyle/>
            <a:p>
              <a:endParaRPr lang="en-GB" sz="1100" dirty="0">
                <a:solidFill>
                  <a:srgbClr val="000000"/>
                </a:solidFill>
              </a:endParaRPr>
            </a:p>
          </p:txBody>
        </p:sp>
        <p:grpSp>
          <p:nvGrpSpPr>
            <p:cNvPr id="36" name="Group 35"/>
            <p:cNvGrpSpPr>
              <a:grpSpLocks/>
            </p:cNvGrpSpPr>
            <p:nvPr/>
          </p:nvGrpSpPr>
          <p:grpSpPr>
            <a:xfrm>
              <a:off x="2795791" y="1271011"/>
              <a:ext cx="3505588" cy="187857"/>
              <a:chOff x="1447800" y="1921812"/>
              <a:chExt cx="4305300" cy="189052"/>
            </a:xfrm>
          </p:grpSpPr>
          <p:sp>
            <p:nvSpPr>
              <p:cNvPr id="37" name="!RnmA-00709"/>
              <p:cNvSpPr txBox="1"/>
              <p:nvPr/>
            </p:nvSpPr>
            <p:spPr>
              <a:xfrm>
                <a:off x="1447800" y="1921812"/>
                <a:ext cx="4305300" cy="189052"/>
              </a:xfrm>
              <a:prstGeom prst="leftRightArrow">
                <a:avLst>
                  <a:gd name="adj1" fmla="val 100000"/>
                  <a:gd name="adj2" fmla="val 0"/>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18400" numCol="1" anchor="b" anchorCtr="0" compatLnSpc="1">
                <a:prstTxWarp prst="textNoShape">
                  <a:avLst/>
                </a:prstTxWarp>
                <a:spAutoFit/>
              </a:bodyPr>
              <a:lstStyle>
                <a:lvl1pPr marL="0" lvl="0" indent="0" defTabSz="895350" eaLnBrk="1" hangingPunct="1">
                  <a:buClr>
                    <a:schemeClr val="tx2"/>
                  </a:buClr>
                  <a:defRPr baseline="0">
                    <a:latin typeface="+mn-lt"/>
                  </a:defRPr>
                </a:lvl1pPr>
                <a:lvl2pPr marL="193675" lvl="1" indent="-192088" defTabSz="895350" eaLnBrk="1" hangingPunct="1">
                  <a:buClr>
                    <a:schemeClr val="tx2"/>
                  </a:buClr>
                  <a:buSzPct val="125000"/>
                  <a:buFont typeface="Arial" charset="0"/>
                  <a:buChar char="▪"/>
                  <a:defRPr baseline="0">
                    <a:latin typeface="+mn-lt"/>
                  </a:defRPr>
                </a:lvl2pPr>
                <a:lvl3pPr marL="457200" lvl="2" indent="-261938" defTabSz="895350" eaLnBrk="1" hangingPunct="1">
                  <a:buClr>
                    <a:schemeClr val="tx2"/>
                  </a:buClr>
                  <a:buSzPct val="120000"/>
                  <a:buFont typeface="Arial" charset="0"/>
                  <a:buChar char="–"/>
                  <a:defRPr baseline="0">
                    <a:latin typeface="+mn-lt"/>
                  </a:defRPr>
                </a:lvl3pPr>
                <a:lvl4pPr marL="614363" lvl="3" indent="-155575" defTabSz="895350" eaLnBrk="1" hangingPunct="1">
                  <a:buClr>
                    <a:schemeClr val="tx2"/>
                  </a:buClr>
                  <a:buSzPct val="120000"/>
                  <a:buFont typeface="Arial" charset="0"/>
                  <a:buChar char="▫"/>
                  <a:defRPr baseline="0">
                    <a:latin typeface="+mn-lt"/>
                  </a:defRPr>
                </a:lvl4pPr>
                <a:lvl5pPr marL="749808" lvl="4" indent="-130175" defTabSz="895350" eaLnBrk="1" hangingPunct="1">
                  <a:buClr>
                    <a:schemeClr val="tx2"/>
                  </a:buClr>
                  <a:buSzPct val="89000"/>
                  <a:buFont typeface="Arial" charset="0"/>
                  <a:buChar char="-"/>
                  <a:defRPr baseline="0">
                    <a:latin typeface="+mn-lt"/>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algn="ctr"/>
                <a:r>
                  <a:rPr lang="en-US" sz="1100" b="1" dirty="0">
                    <a:solidFill>
                      <a:schemeClr val="accent5">
                        <a:lumMod val="75000"/>
                      </a:schemeClr>
                    </a:solidFill>
                  </a:rPr>
                  <a:t>What We Found</a:t>
                </a:r>
              </a:p>
            </p:txBody>
          </p:sp>
          <p:cxnSp>
            <p:nvCxnSpPr>
              <p:cNvPr id="38" name="Straight Arrow Connector 37"/>
              <p:cNvCxnSpPr>
                <a:stCxn id="37" idx="4"/>
                <a:endCxn id="37" idx="6"/>
              </p:cNvCxnSpPr>
              <p:nvPr/>
            </p:nvCxnSpPr>
            <p:spPr>
              <a:xfrm>
                <a:off x="1447800" y="2110864"/>
                <a:ext cx="4305300" cy="0"/>
              </a:xfrm>
              <a:prstGeom prst="straightConnector1">
                <a:avLst/>
              </a:prstGeom>
              <a:ln w="19050" cmpd="sng">
                <a:solidFill>
                  <a:schemeClr val="hlink"/>
                </a:solidFill>
              </a:ln>
            </p:spPr>
            <p:style>
              <a:lnRef idx="1">
                <a:schemeClr val="accent1"/>
              </a:lnRef>
              <a:fillRef idx="0">
                <a:schemeClr val="accent1"/>
              </a:fillRef>
              <a:effectRef idx="0">
                <a:schemeClr val="accent1"/>
              </a:effectRef>
              <a:fontRef idx="minor">
                <a:schemeClr val="tx1"/>
              </a:fontRef>
            </p:style>
          </p:cxnSp>
        </p:grpSp>
        <p:grpSp>
          <p:nvGrpSpPr>
            <p:cNvPr id="39" name="Group 38"/>
            <p:cNvGrpSpPr>
              <a:grpSpLocks/>
            </p:cNvGrpSpPr>
            <p:nvPr/>
          </p:nvGrpSpPr>
          <p:grpSpPr>
            <a:xfrm>
              <a:off x="6548183" y="1271011"/>
              <a:ext cx="2312587" cy="187857"/>
              <a:chOff x="1447800" y="1921810"/>
              <a:chExt cx="4305301" cy="189052"/>
            </a:xfrm>
          </p:grpSpPr>
          <p:sp>
            <p:nvSpPr>
              <p:cNvPr id="40" name="!RnmA-00709"/>
              <p:cNvSpPr txBox="1"/>
              <p:nvPr/>
            </p:nvSpPr>
            <p:spPr>
              <a:xfrm>
                <a:off x="1447800" y="1921810"/>
                <a:ext cx="4305301" cy="189052"/>
              </a:xfrm>
              <a:prstGeom prst="leftRightArrow">
                <a:avLst>
                  <a:gd name="adj1" fmla="val 100000"/>
                  <a:gd name="adj2" fmla="val 0"/>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18400" numCol="1" anchor="b" anchorCtr="0" compatLnSpc="1">
                <a:prstTxWarp prst="textNoShape">
                  <a:avLst/>
                </a:prstTxWarp>
                <a:spAutoFit/>
              </a:bodyPr>
              <a:lstStyle>
                <a:lvl1pPr marL="0" lvl="0" indent="0" defTabSz="895350" eaLnBrk="1" hangingPunct="1">
                  <a:buClr>
                    <a:schemeClr val="tx2"/>
                  </a:buClr>
                  <a:defRPr baseline="0">
                    <a:latin typeface="+mn-lt"/>
                  </a:defRPr>
                </a:lvl1pPr>
                <a:lvl2pPr marL="193675" lvl="1" indent="-192088" defTabSz="895350" eaLnBrk="1" hangingPunct="1">
                  <a:buClr>
                    <a:schemeClr val="tx2"/>
                  </a:buClr>
                  <a:buSzPct val="125000"/>
                  <a:buFont typeface="Arial" charset="0"/>
                  <a:buChar char="▪"/>
                  <a:defRPr baseline="0">
                    <a:latin typeface="+mn-lt"/>
                  </a:defRPr>
                </a:lvl2pPr>
                <a:lvl3pPr marL="457200" lvl="2" indent="-261938" defTabSz="895350" eaLnBrk="1" hangingPunct="1">
                  <a:buClr>
                    <a:schemeClr val="tx2"/>
                  </a:buClr>
                  <a:buSzPct val="120000"/>
                  <a:buFont typeface="Arial" charset="0"/>
                  <a:buChar char="–"/>
                  <a:defRPr baseline="0">
                    <a:latin typeface="+mn-lt"/>
                  </a:defRPr>
                </a:lvl3pPr>
                <a:lvl4pPr marL="614363" lvl="3" indent="-155575" defTabSz="895350" eaLnBrk="1" hangingPunct="1">
                  <a:buClr>
                    <a:schemeClr val="tx2"/>
                  </a:buClr>
                  <a:buSzPct val="120000"/>
                  <a:buFont typeface="Arial" charset="0"/>
                  <a:buChar char="▫"/>
                  <a:defRPr baseline="0">
                    <a:latin typeface="+mn-lt"/>
                  </a:defRPr>
                </a:lvl4pPr>
                <a:lvl5pPr marL="749808" lvl="4" indent="-130175" defTabSz="895350" eaLnBrk="1" hangingPunct="1">
                  <a:buClr>
                    <a:schemeClr val="tx2"/>
                  </a:buClr>
                  <a:buSzPct val="89000"/>
                  <a:buFont typeface="Arial" charset="0"/>
                  <a:buChar char="-"/>
                  <a:defRPr baseline="0">
                    <a:latin typeface="+mn-lt"/>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algn="ctr"/>
                <a:r>
                  <a:rPr lang="en-US" sz="1100" b="1" dirty="0">
                    <a:solidFill>
                      <a:schemeClr val="accent5">
                        <a:lumMod val="75000"/>
                      </a:schemeClr>
                    </a:solidFill>
                  </a:rPr>
                  <a:t>What The Industry Is Doing</a:t>
                </a:r>
              </a:p>
            </p:txBody>
          </p:sp>
          <p:cxnSp>
            <p:nvCxnSpPr>
              <p:cNvPr id="41" name="Straight Arrow Connector 40"/>
              <p:cNvCxnSpPr>
                <a:stCxn id="40" idx="4"/>
                <a:endCxn id="40" idx="6"/>
              </p:cNvCxnSpPr>
              <p:nvPr/>
            </p:nvCxnSpPr>
            <p:spPr>
              <a:xfrm>
                <a:off x="1447800" y="2110862"/>
                <a:ext cx="4305301" cy="0"/>
              </a:xfrm>
              <a:prstGeom prst="straightConnector1">
                <a:avLst/>
              </a:prstGeom>
              <a:ln w="19050" cmpd="sng">
                <a:solidFill>
                  <a:schemeClr val="hlink"/>
                </a:solidFill>
              </a:ln>
            </p:spPr>
            <p:style>
              <a:lnRef idx="1">
                <a:schemeClr val="accent1"/>
              </a:lnRef>
              <a:fillRef idx="0">
                <a:schemeClr val="accent1"/>
              </a:fillRef>
              <a:effectRef idx="0">
                <a:schemeClr val="accent1"/>
              </a:effectRef>
              <a:fontRef idx="minor">
                <a:schemeClr val="tx1"/>
              </a:fontRef>
            </p:style>
          </p:cxnSp>
        </p:grpSp>
        <p:cxnSp>
          <p:nvCxnSpPr>
            <p:cNvPr id="44" name="Straight Connector 43"/>
            <p:cNvCxnSpPr>
              <a:cxnSpLocks/>
            </p:cNvCxnSpPr>
            <p:nvPr/>
          </p:nvCxnSpPr>
          <p:spPr>
            <a:xfrm>
              <a:off x="1350394" y="3101240"/>
              <a:ext cx="9511836" cy="0"/>
            </a:xfrm>
            <a:prstGeom prst="line">
              <a:avLst/>
            </a:prstGeom>
            <a:ln w="19050" cmpd="sng">
              <a:solidFill>
                <a:srgbClr val="808080"/>
              </a:solidFill>
              <a:prstDash val="sysDot"/>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a:cxnSpLocks/>
            </p:cNvCxnSpPr>
            <p:nvPr/>
          </p:nvCxnSpPr>
          <p:spPr>
            <a:xfrm>
              <a:off x="1350394" y="4645810"/>
              <a:ext cx="9511836" cy="0"/>
            </a:xfrm>
            <a:prstGeom prst="line">
              <a:avLst/>
            </a:prstGeom>
            <a:ln w="19050" cmpd="sng">
              <a:solidFill>
                <a:srgbClr val="808080"/>
              </a:solidFill>
              <a:prstDash val="sysDot"/>
            </a:ln>
          </p:spPr>
          <p:style>
            <a:lnRef idx="1">
              <a:schemeClr val="accent1"/>
            </a:lnRef>
            <a:fillRef idx="0">
              <a:schemeClr val="accent1"/>
            </a:fillRef>
            <a:effectRef idx="0">
              <a:schemeClr val="accent1"/>
            </a:effectRef>
            <a:fontRef idx="minor">
              <a:schemeClr val="tx1"/>
            </a:fontRef>
          </p:style>
        </p:cxnSp>
        <p:sp>
          <p:nvSpPr>
            <p:cNvPr id="48" name="Bracket"/>
            <p:cNvSpPr>
              <a:spLocks/>
            </p:cNvSpPr>
            <p:nvPr>
              <p:custDataLst>
                <p:tags r:id="rId1"/>
              </p:custDataLst>
            </p:nvPr>
          </p:nvSpPr>
          <p:spPr bwMode="auto">
            <a:xfrm>
              <a:off x="6294950" y="1622389"/>
              <a:ext cx="205747" cy="1323579"/>
            </a:xfrm>
            <a:custGeom>
              <a:avLst/>
              <a:gdLst>
                <a:gd name="T0" fmla="*/ 0 w 115"/>
                <a:gd name="T1" fmla="*/ 0 h 1152"/>
                <a:gd name="T2" fmla="*/ 65 w 115"/>
                <a:gd name="T3" fmla="*/ 0 h 1152"/>
                <a:gd name="T4" fmla="*/ 65 w 115"/>
                <a:gd name="T5" fmla="*/ 528 h 1152"/>
                <a:gd name="T6" fmla="*/ 115 w 115"/>
                <a:gd name="T7" fmla="*/ 576 h 1152"/>
                <a:gd name="T8" fmla="*/ 65 w 115"/>
                <a:gd name="T9" fmla="*/ 624 h 1152"/>
                <a:gd name="T10" fmla="*/ 65 w 115"/>
                <a:gd name="T11" fmla="*/ 1152 h 1152"/>
                <a:gd name="T12" fmla="*/ 0 w 115"/>
                <a:gd name="T13" fmla="*/ 1152 h 1152"/>
              </a:gdLst>
              <a:ahLst/>
              <a:cxnLst>
                <a:cxn ang="0">
                  <a:pos x="T0" y="T1"/>
                </a:cxn>
                <a:cxn ang="0">
                  <a:pos x="T2" y="T3"/>
                </a:cxn>
                <a:cxn ang="0">
                  <a:pos x="T4" y="T5"/>
                </a:cxn>
                <a:cxn ang="0">
                  <a:pos x="T6" y="T7"/>
                </a:cxn>
                <a:cxn ang="0">
                  <a:pos x="T8" y="T9"/>
                </a:cxn>
                <a:cxn ang="0">
                  <a:pos x="T10" y="T11"/>
                </a:cxn>
                <a:cxn ang="0">
                  <a:pos x="T12" y="T13"/>
                </a:cxn>
              </a:cxnLst>
              <a:rect l="0" t="0" r="r" b="b"/>
              <a:pathLst>
                <a:path w="115" h="1152">
                  <a:moveTo>
                    <a:pt x="0" y="0"/>
                  </a:moveTo>
                  <a:lnTo>
                    <a:pt x="65" y="0"/>
                  </a:lnTo>
                  <a:lnTo>
                    <a:pt x="65" y="528"/>
                  </a:lnTo>
                  <a:lnTo>
                    <a:pt x="115" y="576"/>
                  </a:lnTo>
                  <a:lnTo>
                    <a:pt x="65" y="624"/>
                  </a:lnTo>
                  <a:lnTo>
                    <a:pt x="65" y="1152"/>
                  </a:lnTo>
                  <a:lnTo>
                    <a:pt x="0" y="1152"/>
                  </a:lnTo>
                </a:path>
              </a:pathLst>
            </a:custGeom>
            <a:noFill/>
            <a:ln w="19050">
              <a:solidFill>
                <a:srgbClr val="1F476B"/>
              </a:solidFill>
              <a:round/>
              <a:headEnd/>
              <a:tailEnd/>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Lst>
          </p:spPr>
          <p:txBody>
            <a:bodyPr wrap="none" anchor="ctr">
              <a:noAutofit/>
            </a:bodyPr>
            <a:lstStyle/>
            <a:p>
              <a:endParaRPr lang="en-US" sz="1100" dirty="0"/>
            </a:p>
          </p:txBody>
        </p:sp>
        <p:sp>
          <p:nvSpPr>
            <p:cNvPr id="49" name="Bracket"/>
            <p:cNvSpPr>
              <a:spLocks/>
            </p:cNvSpPr>
            <p:nvPr>
              <p:custDataLst>
                <p:tags r:id="rId2"/>
              </p:custDataLst>
            </p:nvPr>
          </p:nvSpPr>
          <p:spPr bwMode="auto">
            <a:xfrm>
              <a:off x="6294950" y="3207807"/>
              <a:ext cx="205747" cy="1395125"/>
            </a:xfrm>
            <a:custGeom>
              <a:avLst/>
              <a:gdLst>
                <a:gd name="T0" fmla="*/ 0 w 115"/>
                <a:gd name="T1" fmla="*/ 0 h 1152"/>
                <a:gd name="T2" fmla="*/ 65 w 115"/>
                <a:gd name="T3" fmla="*/ 0 h 1152"/>
                <a:gd name="T4" fmla="*/ 65 w 115"/>
                <a:gd name="T5" fmla="*/ 528 h 1152"/>
                <a:gd name="T6" fmla="*/ 115 w 115"/>
                <a:gd name="T7" fmla="*/ 576 h 1152"/>
                <a:gd name="T8" fmla="*/ 65 w 115"/>
                <a:gd name="T9" fmla="*/ 624 h 1152"/>
                <a:gd name="T10" fmla="*/ 65 w 115"/>
                <a:gd name="T11" fmla="*/ 1152 h 1152"/>
                <a:gd name="T12" fmla="*/ 0 w 115"/>
                <a:gd name="T13" fmla="*/ 1152 h 1152"/>
              </a:gdLst>
              <a:ahLst/>
              <a:cxnLst>
                <a:cxn ang="0">
                  <a:pos x="T0" y="T1"/>
                </a:cxn>
                <a:cxn ang="0">
                  <a:pos x="T2" y="T3"/>
                </a:cxn>
                <a:cxn ang="0">
                  <a:pos x="T4" y="T5"/>
                </a:cxn>
                <a:cxn ang="0">
                  <a:pos x="T6" y="T7"/>
                </a:cxn>
                <a:cxn ang="0">
                  <a:pos x="T8" y="T9"/>
                </a:cxn>
                <a:cxn ang="0">
                  <a:pos x="T10" y="T11"/>
                </a:cxn>
                <a:cxn ang="0">
                  <a:pos x="T12" y="T13"/>
                </a:cxn>
              </a:cxnLst>
              <a:rect l="0" t="0" r="r" b="b"/>
              <a:pathLst>
                <a:path w="115" h="1152">
                  <a:moveTo>
                    <a:pt x="0" y="0"/>
                  </a:moveTo>
                  <a:lnTo>
                    <a:pt x="65" y="0"/>
                  </a:lnTo>
                  <a:lnTo>
                    <a:pt x="65" y="528"/>
                  </a:lnTo>
                  <a:lnTo>
                    <a:pt x="115" y="576"/>
                  </a:lnTo>
                  <a:lnTo>
                    <a:pt x="65" y="624"/>
                  </a:lnTo>
                  <a:lnTo>
                    <a:pt x="65" y="1152"/>
                  </a:lnTo>
                  <a:lnTo>
                    <a:pt x="0" y="1152"/>
                  </a:lnTo>
                </a:path>
              </a:pathLst>
            </a:custGeom>
            <a:noFill/>
            <a:ln w="19050">
              <a:solidFill>
                <a:srgbClr val="1F476B"/>
              </a:solidFill>
              <a:round/>
              <a:headEnd/>
              <a:tailEnd/>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Lst>
          </p:spPr>
          <p:txBody>
            <a:bodyPr wrap="none" anchor="ctr">
              <a:noAutofit/>
            </a:bodyPr>
            <a:lstStyle/>
            <a:p>
              <a:endParaRPr lang="en-US" sz="1100" dirty="0"/>
            </a:p>
          </p:txBody>
        </p:sp>
        <p:sp>
          <p:nvSpPr>
            <p:cNvPr id="50" name="Bracket"/>
            <p:cNvSpPr>
              <a:spLocks/>
            </p:cNvSpPr>
            <p:nvPr>
              <p:custDataLst>
                <p:tags r:id="rId3"/>
              </p:custDataLst>
            </p:nvPr>
          </p:nvSpPr>
          <p:spPr bwMode="auto">
            <a:xfrm>
              <a:off x="6294950" y="4760561"/>
              <a:ext cx="205747" cy="1395125"/>
            </a:xfrm>
            <a:custGeom>
              <a:avLst/>
              <a:gdLst>
                <a:gd name="T0" fmla="*/ 0 w 115"/>
                <a:gd name="T1" fmla="*/ 0 h 1152"/>
                <a:gd name="T2" fmla="*/ 65 w 115"/>
                <a:gd name="T3" fmla="*/ 0 h 1152"/>
                <a:gd name="T4" fmla="*/ 65 w 115"/>
                <a:gd name="T5" fmla="*/ 528 h 1152"/>
                <a:gd name="T6" fmla="*/ 115 w 115"/>
                <a:gd name="T7" fmla="*/ 576 h 1152"/>
                <a:gd name="T8" fmla="*/ 65 w 115"/>
                <a:gd name="T9" fmla="*/ 624 h 1152"/>
                <a:gd name="T10" fmla="*/ 65 w 115"/>
                <a:gd name="T11" fmla="*/ 1152 h 1152"/>
                <a:gd name="T12" fmla="*/ 0 w 115"/>
                <a:gd name="T13" fmla="*/ 1152 h 1152"/>
              </a:gdLst>
              <a:ahLst/>
              <a:cxnLst>
                <a:cxn ang="0">
                  <a:pos x="T0" y="T1"/>
                </a:cxn>
                <a:cxn ang="0">
                  <a:pos x="T2" y="T3"/>
                </a:cxn>
                <a:cxn ang="0">
                  <a:pos x="T4" y="T5"/>
                </a:cxn>
                <a:cxn ang="0">
                  <a:pos x="T6" y="T7"/>
                </a:cxn>
                <a:cxn ang="0">
                  <a:pos x="T8" y="T9"/>
                </a:cxn>
                <a:cxn ang="0">
                  <a:pos x="T10" y="T11"/>
                </a:cxn>
                <a:cxn ang="0">
                  <a:pos x="T12" y="T13"/>
                </a:cxn>
              </a:cxnLst>
              <a:rect l="0" t="0" r="r" b="b"/>
              <a:pathLst>
                <a:path w="115" h="1152">
                  <a:moveTo>
                    <a:pt x="0" y="0"/>
                  </a:moveTo>
                  <a:lnTo>
                    <a:pt x="65" y="0"/>
                  </a:lnTo>
                  <a:lnTo>
                    <a:pt x="65" y="528"/>
                  </a:lnTo>
                  <a:lnTo>
                    <a:pt x="115" y="576"/>
                  </a:lnTo>
                  <a:lnTo>
                    <a:pt x="65" y="624"/>
                  </a:lnTo>
                  <a:lnTo>
                    <a:pt x="65" y="1152"/>
                  </a:lnTo>
                  <a:lnTo>
                    <a:pt x="0" y="1152"/>
                  </a:lnTo>
                </a:path>
              </a:pathLst>
            </a:custGeom>
            <a:noFill/>
            <a:ln w="19050">
              <a:solidFill>
                <a:srgbClr val="1F476B"/>
              </a:solidFill>
              <a:round/>
              <a:headEnd/>
              <a:tailEnd/>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Lst>
          </p:spPr>
          <p:txBody>
            <a:bodyPr wrap="none" anchor="ctr">
              <a:noAutofit/>
            </a:bodyPr>
            <a:lstStyle/>
            <a:p>
              <a:endParaRPr lang="en-US" sz="1100" dirty="0"/>
            </a:p>
          </p:txBody>
        </p:sp>
        <p:grpSp>
          <p:nvGrpSpPr>
            <p:cNvPr id="51" name="Group 50"/>
            <p:cNvGrpSpPr>
              <a:grpSpLocks/>
            </p:cNvGrpSpPr>
            <p:nvPr/>
          </p:nvGrpSpPr>
          <p:grpSpPr>
            <a:xfrm>
              <a:off x="8974605" y="1271013"/>
              <a:ext cx="1931651" cy="195528"/>
              <a:chOff x="1447800" y="1921811"/>
              <a:chExt cx="4305300" cy="196772"/>
            </a:xfrm>
          </p:grpSpPr>
          <p:sp>
            <p:nvSpPr>
              <p:cNvPr id="52" name="!RnmA-00709"/>
              <p:cNvSpPr txBox="1"/>
              <p:nvPr/>
            </p:nvSpPr>
            <p:spPr>
              <a:xfrm>
                <a:off x="1447800" y="1921811"/>
                <a:ext cx="4305300" cy="189052"/>
              </a:xfrm>
              <a:prstGeom prst="leftRightArrow">
                <a:avLst>
                  <a:gd name="adj1" fmla="val 100000"/>
                  <a:gd name="adj2" fmla="val 0"/>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18400" numCol="1" anchor="b" anchorCtr="0" compatLnSpc="1">
                <a:prstTxWarp prst="textNoShape">
                  <a:avLst/>
                </a:prstTxWarp>
                <a:spAutoFit/>
              </a:bodyPr>
              <a:lstStyle>
                <a:lvl1pPr marL="0" lvl="0" indent="0" defTabSz="895350" eaLnBrk="1" hangingPunct="1">
                  <a:buClr>
                    <a:schemeClr val="tx2"/>
                  </a:buClr>
                  <a:defRPr baseline="0">
                    <a:latin typeface="+mn-lt"/>
                  </a:defRPr>
                </a:lvl1pPr>
                <a:lvl2pPr marL="193675" lvl="1" indent="-192088" defTabSz="895350" eaLnBrk="1" hangingPunct="1">
                  <a:buClr>
                    <a:schemeClr val="tx2"/>
                  </a:buClr>
                  <a:buSzPct val="125000"/>
                  <a:buFont typeface="Arial" charset="0"/>
                  <a:buChar char="▪"/>
                  <a:defRPr baseline="0">
                    <a:latin typeface="+mn-lt"/>
                  </a:defRPr>
                </a:lvl2pPr>
                <a:lvl3pPr marL="457200" lvl="2" indent="-261938" defTabSz="895350" eaLnBrk="1" hangingPunct="1">
                  <a:buClr>
                    <a:schemeClr val="tx2"/>
                  </a:buClr>
                  <a:buSzPct val="120000"/>
                  <a:buFont typeface="Arial" charset="0"/>
                  <a:buChar char="–"/>
                  <a:defRPr baseline="0">
                    <a:latin typeface="+mn-lt"/>
                  </a:defRPr>
                </a:lvl3pPr>
                <a:lvl4pPr marL="614363" lvl="3" indent="-155575" defTabSz="895350" eaLnBrk="1" hangingPunct="1">
                  <a:buClr>
                    <a:schemeClr val="tx2"/>
                  </a:buClr>
                  <a:buSzPct val="120000"/>
                  <a:buFont typeface="Arial" charset="0"/>
                  <a:buChar char="▫"/>
                  <a:defRPr baseline="0">
                    <a:latin typeface="+mn-lt"/>
                  </a:defRPr>
                </a:lvl4pPr>
                <a:lvl5pPr marL="749808" lvl="4" indent="-130175" defTabSz="895350" eaLnBrk="1" hangingPunct="1">
                  <a:buClr>
                    <a:schemeClr val="tx2"/>
                  </a:buClr>
                  <a:buSzPct val="89000"/>
                  <a:buFont typeface="Arial" charset="0"/>
                  <a:buChar char="-"/>
                  <a:defRPr baseline="0">
                    <a:latin typeface="+mn-lt"/>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algn="ctr"/>
                <a:r>
                  <a:rPr lang="en-US" sz="1100" b="1" dirty="0">
                    <a:solidFill>
                      <a:schemeClr val="accent5">
                        <a:lumMod val="75000"/>
                      </a:schemeClr>
                    </a:solidFill>
                  </a:rPr>
                  <a:t>Future Course of Action</a:t>
                </a:r>
              </a:p>
            </p:txBody>
          </p:sp>
          <p:cxnSp>
            <p:nvCxnSpPr>
              <p:cNvPr id="53" name="Straight Arrow Connector 52"/>
              <p:cNvCxnSpPr/>
              <p:nvPr/>
            </p:nvCxnSpPr>
            <p:spPr>
              <a:xfrm>
                <a:off x="1447800" y="2118583"/>
                <a:ext cx="4305300" cy="0"/>
              </a:xfrm>
              <a:prstGeom prst="straightConnector1">
                <a:avLst/>
              </a:prstGeom>
              <a:ln w="19050" cmpd="sng">
                <a:solidFill>
                  <a:schemeClr val="hlink"/>
                </a:solidFill>
              </a:ln>
            </p:spPr>
            <p:style>
              <a:lnRef idx="1">
                <a:schemeClr val="accent1"/>
              </a:lnRef>
              <a:fillRef idx="0">
                <a:schemeClr val="accent1"/>
              </a:fillRef>
              <a:effectRef idx="0">
                <a:schemeClr val="accent1"/>
              </a:effectRef>
              <a:fontRef idx="minor">
                <a:schemeClr val="tx1"/>
              </a:fontRef>
            </p:style>
          </p:cxnSp>
        </p:grpSp>
        <p:sp>
          <p:nvSpPr>
            <p:cNvPr id="56" name="Rectangle 1"/>
            <p:cNvSpPr txBox="1"/>
            <p:nvPr>
              <p:custDataLst>
                <p:tags r:id="rId4"/>
              </p:custDataLst>
            </p:nvPr>
          </p:nvSpPr>
          <p:spPr>
            <a:xfrm>
              <a:off x="1332663" y="1610901"/>
              <a:ext cx="1379437" cy="1430897"/>
            </a:xfrm>
            <a:prstGeom prst="rect">
              <a:avLst/>
            </a:prstGeom>
            <a:solidFill>
              <a:schemeClr val="accent1">
                <a:lumMod val="75000"/>
              </a:schemeClr>
            </a:solidFill>
            <a:ln w="9525">
              <a:noFill/>
              <a:miter lim="800000"/>
              <a:headEnd/>
              <a:tailEnd/>
            </a:ln>
            <a:effectLst/>
          </p:spPr>
          <p:txBody>
            <a:bodyPr vert="horz" wrap="square" lIns="77748" tIns="77748" rIns="77748" bIns="77748" numCol="1" anchor="ctr" anchorCtr="0" compatLnSpc="1">
              <a:prstTxWarp prst="textNoShape">
                <a:avLst/>
              </a:prstTxWarp>
              <a:noAutofit/>
            </a:bodyPr>
            <a:lstStyle>
              <a:lvl1pPr marL="0" lvl="0" indent="0" defTabSz="895350" eaLnBrk="1" hangingPunct="1">
                <a:buClr>
                  <a:schemeClr val="tx2"/>
                </a:buClr>
                <a:defRPr baseline="0">
                  <a:latin typeface="+mn-lt"/>
                </a:defRPr>
              </a:lvl1pPr>
              <a:lvl2pPr marL="193675" lvl="1" indent="-192088" defTabSz="895350" eaLnBrk="1" hangingPunct="1">
                <a:buClr>
                  <a:schemeClr val="tx2"/>
                </a:buClr>
                <a:buSzPct val="125000"/>
                <a:buFont typeface="Arial" charset="0"/>
                <a:buChar char="▪"/>
                <a:defRPr baseline="0">
                  <a:latin typeface="+mn-lt"/>
                </a:defRPr>
              </a:lvl2pPr>
              <a:lvl3pPr marL="457200" lvl="2" indent="-261938" defTabSz="895350" eaLnBrk="1" hangingPunct="1">
                <a:buClr>
                  <a:schemeClr val="tx2"/>
                </a:buClr>
                <a:buSzPct val="120000"/>
                <a:buFont typeface="Arial" charset="0"/>
                <a:buChar char="–"/>
                <a:defRPr baseline="0">
                  <a:latin typeface="+mn-lt"/>
                </a:defRPr>
              </a:lvl3pPr>
              <a:lvl4pPr marL="614363" lvl="3" indent="-155575" defTabSz="895350" eaLnBrk="1" hangingPunct="1">
                <a:buClr>
                  <a:schemeClr val="tx2"/>
                </a:buClr>
                <a:buSzPct val="120000"/>
                <a:buFont typeface="Arial" charset="0"/>
                <a:buChar char="▫"/>
                <a:defRPr baseline="0">
                  <a:latin typeface="+mn-lt"/>
                </a:defRPr>
              </a:lvl4pPr>
              <a:lvl5pPr marL="749808" lvl="4" indent="-130175" defTabSz="895350" eaLnBrk="1" hangingPunct="1">
                <a:buClr>
                  <a:schemeClr val="tx2"/>
                </a:buClr>
                <a:buSzPct val="89000"/>
                <a:buFont typeface="Arial" charset="0"/>
                <a:buChar char="-"/>
                <a:defRPr baseline="0">
                  <a:latin typeface="+mn-lt"/>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algn="ctr"/>
              <a:r>
                <a:rPr lang="en-US" sz="1100" b="1" dirty="0">
                  <a:solidFill>
                    <a:schemeClr val="bg1"/>
                  </a:solidFill>
                </a:rPr>
                <a:t>Focus on Below-the-line Activity</a:t>
              </a:r>
            </a:p>
          </p:txBody>
        </p:sp>
        <p:sp>
          <p:nvSpPr>
            <p:cNvPr id="57" name="Rectangle 1"/>
            <p:cNvSpPr txBox="1"/>
            <p:nvPr>
              <p:custDataLst>
                <p:tags r:id="rId5"/>
              </p:custDataLst>
            </p:nvPr>
          </p:nvSpPr>
          <p:spPr>
            <a:xfrm>
              <a:off x="1332663" y="3168089"/>
              <a:ext cx="1379437" cy="1430897"/>
            </a:xfrm>
            <a:prstGeom prst="rect">
              <a:avLst/>
            </a:prstGeom>
            <a:solidFill>
              <a:schemeClr val="accent1">
                <a:lumMod val="75000"/>
              </a:schemeClr>
            </a:solidFill>
            <a:ln w="9525">
              <a:noFill/>
              <a:miter lim="800000"/>
              <a:headEnd/>
              <a:tailEnd/>
            </a:ln>
            <a:effectLst/>
          </p:spPr>
          <p:txBody>
            <a:bodyPr vert="horz" wrap="square" lIns="77748" tIns="77748" rIns="77748" bIns="77748" numCol="1" anchor="ctr" anchorCtr="0" compatLnSpc="1">
              <a:prstTxWarp prst="textNoShape">
                <a:avLst/>
              </a:prstTxWarp>
              <a:noAutofit/>
            </a:bodyPr>
            <a:lstStyle>
              <a:lvl1pPr marL="0" lvl="0" indent="0" defTabSz="895350" eaLnBrk="1" hangingPunct="1">
                <a:buClr>
                  <a:schemeClr val="tx2"/>
                </a:buClr>
                <a:defRPr baseline="0">
                  <a:latin typeface="+mn-lt"/>
                </a:defRPr>
              </a:lvl1pPr>
              <a:lvl2pPr marL="193675" lvl="1" indent="-192088" defTabSz="895350" eaLnBrk="1" hangingPunct="1">
                <a:buClr>
                  <a:schemeClr val="tx2"/>
                </a:buClr>
                <a:buSzPct val="125000"/>
                <a:buFont typeface="Arial" charset="0"/>
                <a:buChar char="▪"/>
                <a:defRPr baseline="0">
                  <a:latin typeface="+mn-lt"/>
                </a:defRPr>
              </a:lvl2pPr>
              <a:lvl3pPr marL="457200" lvl="2" indent="-261938" defTabSz="895350" eaLnBrk="1" hangingPunct="1">
                <a:buClr>
                  <a:schemeClr val="tx2"/>
                </a:buClr>
                <a:buSzPct val="120000"/>
                <a:buFont typeface="Arial" charset="0"/>
                <a:buChar char="–"/>
                <a:defRPr baseline="0">
                  <a:latin typeface="+mn-lt"/>
                </a:defRPr>
              </a:lvl3pPr>
              <a:lvl4pPr marL="614363" lvl="3" indent="-155575" defTabSz="895350" eaLnBrk="1" hangingPunct="1">
                <a:buClr>
                  <a:schemeClr val="tx2"/>
                </a:buClr>
                <a:buSzPct val="120000"/>
                <a:buFont typeface="Arial" charset="0"/>
                <a:buChar char="▫"/>
                <a:defRPr baseline="0">
                  <a:latin typeface="+mn-lt"/>
                </a:defRPr>
              </a:lvl4pPr>
              <a:lvl5pPr marL="749808" lvl="4" indent="-130175" defTabSz="895350" eaLnBrk="1" hangingPunct="1">
                <a:buClr>
                  <a:schemeClr val="tx2"/>
                </a:buClr>
                <a:buSzPct val="89000"/>
                <a:buFont typeface="Arial" charset="0"/>
                <a:buChar char="-"/>
                <a:defRPr baseline="0">
                  <a:latin typeface="+mn-lt"/>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algn="ctr"/>
              <a:r>
                <a:rPr lang="en-GB" sz="1100" b="1" dirty="0">
                  <a:solidFill>
                    <a:schemeClr val="bg1"/>
                  </a:solidFill>
                </a:rPr>
                <a:t>Developing Diverse and Differentiated Product Range </a:t>
              </a:r>
            </a:p>
          </p:txBody>
        </p:sp>
        <p:sp>
          <p:nvSpPr>
            <p:cNvPr id="58" name="Rectangle 1"/>
            <p:cNvSpPr txBox="1"/>
            <p:nvPr>
              <p:custDataLst>
                <p:tags r:id="rId6"/>
              </p:custDataLst>
            </p:nvPr>
          </p:nvSpPr>
          <p:spPr>
            <a:xfrm>
              <a:off x="1331580" y="4772034"/>
              <a:ext cx="1379437" cy="1378212"/>
            </a:xfrm>
            <a:prstGeom prst="rect">
              <a:avLst/>
            </a:prstGeom>
            <a:solidFill>
              <a:schemeClr val="accent1">
                <a:lumMod val="75000"/>
              </a:schemeClr>
            </a:solidFill>
            <a:ln w="9525">
              <a:noFill/>
              <a:miter lim="800000"/>
              <a:headEnd/>
              <a:tailEnd/>
            </a:ln>
            <a:effectLst/>
          </p:spPr>
          <p:txBody>
            <a:bodyPr vert="horz" wrap="square" lIns="77748" tIns="77748" rIns="77748" bIns="77748" numCol="1" anchor="ctr" anchorCtr="0" compatLnSpc="1">
              <a:prstTxWarp prst="textNoShape">
                <a:avLst/>
              </a:prstTxWarp>
              <a:noAutofit/>
            </a:bodyPr>
            <a:lstStyle>
              <a:lvl1pPr marL="0" lvl="0" indent="0" defTabSz="895350" eaLnBrk="1" hangingPunct="1">
                <a:buClr>
                  <a:schemeClr val="tx2"/>
                </a:buClr>
                <a:defRPr baseline="0">
                  <a:latin typeface="+mn-lt"/>
                </a:defRPr>
              </a:lvl1pPr>
              <a:lvl2pPr marL="193675" lvl="1" indent="-192088" defTabSz="895350" eaLnBrk="1" hangingPunct="1">
                <a:buClr>
                  <a:schemeClr val="tx2"/>
                </a:buClr>
                <a:buSzPct val="125000"/>
                <a:buFont typeface="Arial" charset="0"/>
                <a:buChar char="▪"/>
                <a:defRPr baseline="0">
                  <a:latin typeface="+mn-lt"/>
                </a:defRPr>
              </a:lvl2pPr>
              <a:lvl3pPr marL="457200" lvl="2" indent="-261938" defTabSz="895350" eaLnBrk="1" hangingPunct="1">
                <a:buClr>
                  <a:schemeClr val="tx2"/>
                </a:buClr>
                <a:buSzPct val="120000"/>
                <a:buFont typeface="Arial" charset="0"/>
                <a:buChar char="–"/>
                <a:defRPr baseline="0">
                  <a:latin typeface="+mn-lt"/>
                </a:defRPr>
              </a:lvl3pPr>
              <a:lvl4pPr marL="614363" lvl="3" indent="-155575" defTabSz="895350" eaLnBrk="1" hangingPunct="1">
                <a:buClr>
                  <a:schemeClr val="tx2"/>
                </a:buClr>
                <a:buSzPct val="120000"/>
                <a:buFont typeface="Arial" charset="0"/>
                <a:buChar char="▫"/>
                <a:defRPr baseline="0">
                  <a:latin typeface="+mn-lt"/>
                </a:defRPr>
              </a:lvl4pPr>
              <a:lvl5pPr marL="749808" lvl="4" indent="-130175" defTabSz="895350" eaLnBrk="1" hangingPunct="1">
                <a:buClr>
                  <a:schemeClr val="tx2"/>
                </a:buClr>
                <a:buSzPct val="89000"/>
                <a:buFont typeface="Arial" charset="0"/>
                <a:buChar char="-"/>
                <a:defRPr baseline="0">
                  <a:latin typeface="+mn-lt"/>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algn="ctr"/>
              <a:r>
                <a:rPr lang="en-US" sz="1100" b="1" dirty="0">
                  <a:solidFill>
                    <a:schemeClr val="bg1"/>
                  </a:solidFill>
                </a:rPr>
                <a:t>Signing </a:t>
              </a:r>
              <a:r>
                <a:rPr lang="en-US" sz="1100" b="1">
                  <a:solidFill>
                    <a:schemeClr val="bg1"/>
                  </a:solidFill>
                </a:rPr>
                <a:t>Long-term Agreements</a:t>
              </a:r>
              <a:endParaRPr lang="en-US" sz="1100" b="1" dirty="0">
                <a:solidFill>
                  <a:schemeClr val="bg1"/>
                </a:solidFill>
              </a:endParaRPr>
            </a:p>
          </p:txBody>
        </p:sp>
        <p:grpSp>
          <p:nvGrpSpPr>
            <p:cNvPr id="59" name="Group 58"/>
            <p:cNvGrpSpPr>
              <a:grpSpLocks/>
            </p:cNvGrpSpPr>
            <p:nvPr/>
          </p:nvGrpSpPr>
          <p:grpSpPr>
            <a:xfrm>
              <a:off x="1305391" y="1271011"/>
              <a:ext cx="1379437" cy="187857"/>
              <a:chOff x="1447800" y="1915350"/>
              <a:chExt cx="4305300" cy="189052"/>
            </a:xfrm>
          </p:grpSpPr>
          <p:sp>
            <p:nvSpPr>
              <p:cNvPr id="60" name="!RnmA-00709"/>
              <p:cNvSpPr txBox="1"/>
              <p:nvPr/>
            </p:nvSpPr>
            <p:spPr>
              <a:xfrm>
                <a:off x="1447800" y="1915350"/>
                <a:ext cx="4305300" cy="189052"/>
              </a:xfrm>
              <a:prstGeom prst="leftRightArrow">
                <a:avLst>
                  <a:gd name="adj1" fmla="val 100000"/>
                  <a:gd name="adj2" fmla="val 0"/>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18400" numCol="1" anchor="b" anchorCtr="0" compatLnSpc="1">
                <a:prstTxWarp prst="textNoShape">
                  <a:avLst/>
                </a:prstTxWarp>
                <a:spAutoFit/>
              </a:bodyPr>
              <a:lstStyle>
                <a:lvl1pPr marL="0" lvl="0" indent="0" defTabSz="895350" eaLnBrk="1" hangingPunct="1">
                  <a:buClr>
                    <a:schemeClr val="tx2"/>
                  </a:buClr>
                  <a:defRPr baseline="0">
                    <a:latin typeface="+mn-lt"/>
                  </a:defRPr>
                </a:lvl1pPr>
                <a:lvl2pPr marL="193675" lvl="1" indent="-192088" defTabSz="895350" eaLnBrk="1" hangingPunct="1">
                  <a:buClr>
                    <a:schemeClr val="tx2"/>
                  </a:buClr>
                  <a:buSzPct val="125000"/>
                  <a:buFont typeface="Arial" charset="0"/>
                  <a:buChar char="▪"/>
                  <a:defRPr baseline="0">
                    <a:latin typeface="+mn-lt"/>
                  </a:defRPr>
                </a:lvl2pPr>
                <a:lvl3pPr marL="457200" lvl="2" indent="-261938" defTabSz="895350" eaLnBrk="1" hangingPunct="1">
                  <a:buClr>
                    <a:schemeClr val="tx2"/>
                  </a:buClr>
                  <a:buSzPct val="120000"/>
                  <a:buFont typeface="Arial" charset="0"/>
                  <a:buChar char="–"/>
                  <a:defRPr baseline="0">
                    <a:latin typeface="+mn-lt"/>
                  </a:defRPr>
                </a:lvl3pPr>
                <a:lvl4pPr marL="614363" lvl="3" indent="-155575" defTabSz="895350" eaLnBrk="1" hangingPunct="1">
                  <a:buClr>
                    <a:schemeClr val="tx2"/>
                  </a:buClr>
                  <a:buSzPct val="120000"/>
                  <a:buFont typeface="Arial" charset="0"/>
                  <a:buChar char="▫"/>
                  <a:defRPr baseline="0">
                    <a:latin typeface="+mn-lt"/>
                  </a:defRPr>
                </a:lvl4pPr>
                <a:lvl5pPr marL="749808" lvl="4" indent="-130175" defTabSz="895350" eaLnBrk="1" hangingPunct="1">
                  <a:buClr>
                    <a:schemeClr val="tx2"/>
                  </a:buClr>
                  <a:buSzPct val="89000"/>
                  <a:buFont typeface="Arial" charset="0"/>
                  <a:buChar char="-"/>
                  <a:defRPr baseline="0">
                    <a:latin typeface="+mn-lt"/>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algn="ctr"/>
                <a:r>
                  <a:rPr lang="en-US" sz="1100" b="1" dirty="0">
                    <a:solidFill>
                      <a:schemeClr val="accent5">
                        <a:lumMod val="75000"/>
                      </a:schemeClr>
                    </a:solidFill>
                  </a:rPr>
                  <a:t>Action Points</a:t>
                </a:r>
              </a:p>
            </p:txBody>
          </p:sp>
          <p:cxnSp>
            <p:nvCxnSpPr>
              <p:cNvPr id="61" name="Straight Arrow Connector 60"/>
              <p:cNvCxnSpPr>
                <a:stCxn id="60" idx="4"/>
                <a:endCxn id="60" idx="6"/>
              </p:cNvCxnSpPr>
              <p:nvPr/>
            </p:nvCxnSpPr>
            <p:spPr>
              <a:xfrm>
                <a:off x="1447800" y="2104402"/>
                <a:ext cx="4305300" cy="0"/>
              </a:xfrm>
              <a:prstGeom prst="straightConnector1">
                <a:avLst/>
              </a:prstGeom>
              <a:ln w="19050" cmpd="sng">
                <a:solidFill>
                  <a:schemeClr val="hlink"/>
                </a:solidFill>
              </a:ln>
            </p:spPr>
            <p:style>
              <a:lnRef idx="1">
                <a:schemeClr val="accent1"/>
              </a:lnRef>
              <a:fillRef idx="0">
                <a:schemeClr val="accent1"/>
              </a:fillRef>
              <a:effectRef idx="0">
                <a:schemeClr val="accent1"/>
              </a:effectRef>
              <a:fontRef idx="minor">
                <a:schemeClr val="tx1"/>
              </a:fontRef>
            </p:style>
          </p:cxnSp>
        </p:grpSp>
      </p:grpSp>
      <p:pic>
        <p:nvPicPr>
          <p:cNvPr id="4" name="Picture 3"/>
          <p:cNvPicPr>
            <a:picLocks noChangeAspect="1"/>
          </p:cNvPicPr>
          <p:nvPr/>
        </p:nvPicPr>
        <p:blipFill>
          <a:blip r:embed="rId8">
            <a:extLst>
              <a:ext uri="{BEBA8EAE-BF5A-486C-A8C5-ECC9F3942E4B}">
                <a14:imgProps xmlns:a14="http://schemas.microsoft.com/office/drawing/2010/main">
                  <a14:imgLayer r:embed="rId9">
                    <a14:imgEffect>
                      <a14:artisticBlur/>
                    </a14:imgEffect>
                  </a14:imgLayer>
                </a14:imgProps>
              </a:ext>
            </a:extLst>
          </a:blip>
          <a:stretch>
            <a:fillRect/>
          </a:stretch>
        </p:blipFill>
        <p:spPr>
          <a:xfrm>
            <a:off x="2105998" y="1545692"/>
            <a:ext cx="9742252" cy="4755292"/>
          </a:xfrm>
          <a:prstGeom prst="rect">
            <a:avLst/>
          </a:prstGeom>
        </p:spPr>
      </p:pic>
      <p:sp>
        <p:nvSpPr>
          <p:cNvPr id="5" name="Slide Number Placeholder 4"/>
          <p:cNvSpPr>
            <a:spLocks noGrp="1"/>
          </p:cNvSpPr>
          <p:nvPr>
            <p:ph type="sldNum" sz="quarter" idx="4"/>
          </p:nvPr>
        </p:nvSpPr>
        <p:spPr/>
        <p:txBody>
          <a:bodyPr/>
          <a:lstStyle/>
          <a:p>
            <a:fld id="{4B17068C-EB94-40A3-A5F2-664CDD77FDAC}" type="slidenum">
              <a:rPr lang="en-GB" smtClean="0"/>
              <a:pPr/>
              <a:t>258</a:t>
            </a:fld>
            <a:endParaRPr lang="en-GB" dirty="0"/>
          </a:p>
        </p:txBody>
      </p:sp>
    </p:spTree>
    <p:extLst>
      <p:ext uri="{BB962C8B-B14F-4D97-AF65-F5344CB8AC3E}">
        <p14:creationId xmlns:p14="http://schemas.microsoft.com/office/powerpoint/2010/main" val="2696887461"/>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19</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19</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Competition Analysis</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259</a:t>
            </a:r>
          </a:p>
        </p:txBody>
      </p:sp>
    </p:spTree>
    <p:extLst>
      <p:ext uri="{BB962C8B-B14F-4D97-AF65-F5344CB8AC3E}">
        <p14:creationId xmlns:p14="http://schemas.microsoft.com/office/powerpoint/2010/main" val="1260830407"/>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19</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19</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Competition Dashboard</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260</a:t>
            </a:r>
          </a:p>
        </p:txBody>
      </p:sp>
    </p:spTree>
    <p:extLst>
      <p:ext uri="{BB962C8B-B14F-4D97-AF65-F5344CB8AC3E}">
        <p14:creationId xmlns:p14="http://schemas.microsoft.com/office/powerpoint/2010/main" val="1483227264"/>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Competition Dashboard</a:t>
            </a:r>
          </a:p>
        </p:txBody>
      </p:sp>
      <p:sp>
        <p:nvSpPr>
          <p:cNvPr id="13" name="Rounded Rectangle 12"/>
          <p:cNvSpPr/>
          <p:nvPr/>
        </p:nvSpPr>
        <p:spPr>
          <a:xfrm>
            <a:off x="257869" y="5540008"/>
            <a:ext cx="6402389" cy="548640"/>
          </a:xfrm>
          <a:prstGeom prst="round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tx1"/>
              </a:solidFill>
            </a:endParaRPr>
          </a:p>
        </p:txBody>
      </p:sp>
      <p:grpSp>
        <p:nvGrpSpPr>
          <p:cNvPr id="46" name="Group 45"/>
          <p:cNvGrpSpPr/>
          <p:nvPr/>
        </p:nvGrpSpPr>
        <p:grpSpPr>
          <a:xfrm>
            <a:off x="7614952" y="5526267"/>
            <a:ext cx="4162824" cy="548640"/>
            <a:chOff x="7778751" y="5574584"/>
            <a:chExt cx="3172797" cy="548640"/>
          </a:xfrm>
        </p:grpSpPr>
        <p:grpSp>
          <p:nvGrpSpPr>
            <p:cNvPr id="5" name="Group 4"/>
            <p:cNvGrpSpPr/>
            <p:nvPr/>
          </p:nvGrpSpPr>
          <p:grpSpPr>
            <a:xfrm>
              <a:off x="7962931" y="5630566"/>
              <a:ext cx="2875798" cy="138499"/>
              <a:chOff x="5334658" y="5870521"/>
              <a:chExt cx="2875798" cy="138499"/>
            </a:xfrm>
          </p:grpSpPr>
          <p:sp>
            <p:nvSpPr>
              <p:cNvPr id="6" name="Oval 5"/>
              <p:cNvSpPr/>
              <p:nvPr/>
            </p:nvSpPr>
            <p:spPr>
              <a:xfrm>
                <a:off x="5334658" y="5894050"/>
                <a:ext cx="91440" cy="91440"/>
              </a:xfrm>
              <a:prstGeom prst="ellipse">
                <a:avLst/>
              </a:prstGeom>
              <a:solidFill>
                <a:srgbClr val="70AD4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7" name="TextBox 6"/>
              <p:cNvSpPr txBox="1"/>
              <p:nvPr/>
            </p:nvSpPr>
            <p:spPr>
              <a:xfrm>
                <a:off x="5494067" y="5870521"/>
                <a:ext cx="732553" cy="138499"/>
              </a:xfrm>
              <a:prstGeom prst="rect">
                <a:avLst/>
              </a:prstGeom>
              <a:noFill/>
            </p:spPr>
            <p:txBody>
              <a:bodyPr wrap="square" lIns="0" tIns="0" rIns="0" bIns="0" rtlCol="0">
                <a:spAutoFit/>
              </a:bodyPr>
              <a:lstStyle/>
              <a:p>
                <a:r>
                  <a:rPr lang="en-IN" sz="900" dirty="0"/>
                  <a:t>High Prospects</a:t>
                </a:r>
              </a:p>
            </p:txBody>
          </p:sp>
          <p:sp>
            <p:nvSpPr>
              <p:cNvPr id="8" name="Oval 7"/>
              <p:cNvSpPr/>
              <p:nvPr/>
            </p:nvSpPr>
            <p:spPr>
              <a:xfrm>
                <a:off x="6220758" y="5894050"/>
                <a:ext cx="91440" cy="91440"/>
              </a:xfrm>
              <a:prstGeom prst="ellipse">
                <a:avLst/>
              </a:prstGeom>
              <a:solidFill>
                <a:srgbClr val="F3BE0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9" name="TextBox 8"/>
              <p:cNvSpPr txBox="1"/>
              <p:nvPr/>
            </p:nvSpPr>
            <p:spPr>
              <a:xfrm>
                <a:off x="6386028" y="5870521"/>
                <a:ext cx="1015259" cy="138499"/>
              </a:xfrm>
              <a:prstGeom prst="rect">
                <a:avLst/>
              </a:prstGeom>
              <a:noFill/>
            </p:spPr>
            <p:txBody>
              <a:bodyPr wrap="square" lIns="0" tIns="0" rIns="0" bIns="0" rtlCol="0">
                <a:spAutoFit/>
              </a:bodyPr>
              <a:lstStyle/>
              <a:p>
                <a:r>
                  <a:rPr lang="en-IN" sz="900" dirty="0"/>
                  <a:t>Moderate Prospects</a:t>
                </a:r>
              </a:p>
            </p:txBody>
          </p:sp>
          <p:sp>
            <p:nvSpPr>
              <p:cNvPr id="10" name="Oval 9"/>
              <p:cNvSpPr/>
              <p:nvPr/>
            </p:nvSpPr>
            <p:spPr>
              <a:xfrm>
                <a:off x="7384307" y="5894050"/>
                <a:ext cx="91440" cy="91440"/>
              </a:xfrm>
              <a:prstGeom prst="ellipse">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11" name="TextBox 10"/>
              <p:cNvSpPr txBox="1"/>
              <p:nvPr/>
            </p:nvSpPr>
            <p:spPr>
              <a:xfrm>
                <a:off x="7538797" y="5870521"/>
                <a:ext cx="671659" cy="138499"/>
              </a:xfrm>
              <a:prstGeom prst="rect">
                <a:avLst/>
              </a:prstGeom>
              <a:noFill/>
            </p:spPr>
            <p:txBody>
              <a:bodyPr wrap="none" lIns="0" tIns="0" rIns="0" bIns="0" rtlCol="0">
                <a:spAutoFit/>
              </a:bodyPr>
              <a:lstStyle/>
              <a:p>
                <a:r>
                  <a:rPr lang="en-IN" sz="900" dirty="0"/>
                  <a:t>Low Prospects</a:t>
                </a:r>
              </a:p>
            </p:txBody>
          </p:sp>
        </p:grpSp>
        <p:sp>
          <p:nvSpPr>
            <p:cNvPr id="12" name="Rounded Rectangle 11"/>
            <p:cNvSpPr/>
            <p:nvPr/>
          </p:nvSpPr>
          <p:spPr>
            <a:xfrm>
              <a:off x="7778751" y="5574584"/>
              <a:ext cx="3172797" cy="548640"/>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13"/>
            <p:cNvGrpSpPr/>
            <p:nvPr/>
          </p:nvGrpSpPr>
          <p:grpSpPr>
            <a:xfrm>
              <a:off x="7953339" y="5866429"/>
              <a:ext cx="946408" cy="182880"/>
              <a:chOff x="6886539" y="6006845"/>
              <a:chExt cx="946408" cy="182880"/>
            </a:xfrm>
          </p:grpSpPr>
          <p:sp>
            <p:nvSpPr>
              <p:cNvPr id="15" name="5-Point Star 14"/>
              <p:cNvSpPr/>
              <p:nvPr/>
            </p:nvSpPr>
            <p:spPr>
              <a:xfrm>
                <a:off x="6886539" y="6007765"/>
                <a:ext cx="183665" cy="181041"/>
              </a:xfrm>
              <a:prstGeom prst="star5">
                <a:avLst>
                  <a:gd name="adj" fmla="val 24073"/>
                  <a:gd name="hf" fmla="val 105146"/>
                  <a:gd name="vf" fmla="val 110557"/>
                </a:avLst>
              </a:prstGeom>
              <a:solidFill>
                <a:sysClr val="window" lastClr="FFFFFF">
                  <a:lumMod val="95000"/>
                </a:sysClr>
              </a:solidFill>
              <a:ln w="12700" cap="flat" cmpd="sng" algn="ctr">
                <a:solidFill>
                  <a:schemeClr val="bg1">
                    <a:lumMod val="50000"/>
                  </a:schemeClr>
                </a:solidFill>
                <a:prstDash val="solid"/>
                <a:miter lim="800000"/>
              </a:ln>
              <a:effectLst/>
            </p:spPr>
            <p:txBody>
              <a:bodyPr rtlCol="0" anchor="ctr"/>
              <a:lstStyle/>
              <a:p>
                <a:pPr algn="ctr" defTabSz="914400">
                  <a:defRPr/>
                </a:pPr>
                <a:endParaRPr lang="en-US" sz="1800" kern="0" dirty="0">
                  <a:solidFill>
                    <a:prstClr val="white"/>
                  </a:solidFill>
                  <a:latin typeface="Calibri" panose="020F0502020204030204"/>
                </a:endParaRPr>
              </a:p>
            </p:txBody>
          </p:sp>
          <p:sp>
            <p:nvSpPr>
              <p:cNvPr id="16" name="5-Point Star 15"/>
              <p:cNvSpPr/>
              <p:nvPr/>
            </p:nvSpPr>
            <p:spPr>
              <a:xfrm>
                <a:off x="7377164" y="6006845"/>
                <a:ext cx="182880" cy="182880"/>
              </a:xfrm>
              <a:prstGeom prst="star5">
                <a:avLst>
                  <a:gd name="adj" fmla="val 24073"/>
                  <a:gd name="hf" fmla="val 105146"/>
                  <a:gd name="vf" fmla="val 110557"/>
                </a:avLst>
              </a:prstGeom>
              <a:gradFill flip="none" rotWithShape="1">
                <a:gsLst>
                  <a:gs pos="0">
                    <a:srgbClr val="E8C100"/>
                  </a:gs>
                  <a:gs pos="100000">
                    <a:srgbClr val="FFFF00"/>
                  </a:gs>
                </a:gsLst>
                <a:lin ang="18900000" scaled="1"/>
                <a:tileRect/>
              </a:gradFill>
              <a:ln w="12700" cap="flat" cmpd="sng" algn="ctr">
                <a:solidFill>
                  <a:srgbClr val="ED7D31"/>
                </a:solidFill>
                <a:prstDash val="solid"/>
                <a:miter lim="800000"/>
              </a:ln>
              <a:effectLst/>
            </p:spPr>
            <p:txBody>
              <a:bodyPr rtlCol="0" anchor="ctr"/>
              <a:lstStyle/>
              <a:p>
                <a:pPr algn="ctr" defTabSz="914400">
                  <a:defRPr/>
                </a:pPr>
                <a:endParaRPr lang="en-US" sz="1800" kern="0" dirty="0">
                  <a:solidFill>
                    <a:prstClr val="white"/>
                  </a:solidFill>
                  <a:latin typeface="Calibri" panose="020F0502020204030204"/>
                </a:endParaRPr>
              </a:p>
            </p:txBody>
          </p:sp>
          <p:sp>
            <p:nvSpPr>
              <p:cNvPr id="17" name="TextBox 16"/>
              <p:cNvSpPr txBox="1"/>
              <p:nvPr/>
            </p:nvSpPr>
            <p:spPr>
              <a:xfrm>
                <a:off x="7128305" y="6029036"/>
                <a:ext cx="190758" cy="138499"/>
              </a:xfrm>
              <a:prstGeom prst="rect">
                <a:avLst/>
              </a:prstGeom>
              <a:noFill/>
            </p:spPr>
            <p:txBody>
              <a:bodyPr wrap="none" lIns="0" tIns="0" rIns="0" bIns="0" rtlCol="0">
                <a:spAutoFit/>
              </a:bodyPr>
              <a:lstStyle/>
              <a:p>
                <a:r>
                  <a:rPr lang="en-US" sz="900" dirty="0"/>
                  <a:t>Low</a:t>
                </a:r>
              </a:p>
            </p:txBody>
          </p:sp>
          <p:sp>
            <p:nvSpPr>
              <p:cNvPr id="18" name="TextBox 17"/>
              <p:cNvSpPr txBox="1"/>
              <p:nvPr/>
            </p:nvSpPr>
            <p:spPr>
              <a:xfrm>
                <a:off x="7618145" y="6029036"/>
                <a:ext cx="214802" cy="138499"/>
              </a:xfrm>
              <a:prstGeom prst="rect">
                <a:avLst/>
              </a:prstGeom>
              <a:noFill/>
            </p:spPr>
            <p:txBody>
              <a:bodyPr wrap="none" lIns="0" tIns="0" rIns="0" bIns="0" rtlCol="0">
                <a:spAutoFit/>
              </a:bodyPr>
              <a:lstStyle/>
              <a:p>
                <a:r>
                  <a:rPr lang="en-US" sz="900" dirty="0"/>
                  <a:t>High</a:t>
                </a:r>
              </a:p>
            </p:txBody>
          </p:sp>
        </p:grpSp>
        <p:sp>
          <p:nvSpPr>
            <p:cNvPr id="19" name="Rounded Rectangle 18"/>
            <p:cNvSpPr/>
            <p:nvPr/>
          </p:nvSpPr>
          <p:spPr>
            <a:xfrm>
              <a:off x="9476285" y="5876933"/>
              <a:ext cx="1353640" cy="145691"/>
            </a:xfrm>
            <a:prstGeom prst="roundRect">
              <a:avLst/>
            </a:prstGeom>
            <a:gradFill flip="none" rotWithShape="1">
              <a:gsLst>
                <a:gs pos="20000">
                  <a:srgbClr val="70AD47"/>
                </a:gs>
                <a:gs pos="50000">
                  <a:srgbClr val="FFC000"/>
                </a:gs>
                <a:gs pos="79000">
                  <a:srgbClr val="ED7D31"/>
                </a:gs>
              </a:gsLst>
              <a:lin ang="10800000" scaled="1"/>
              <a:tileRect/>
            </a:gradFill>
            <a:ln w="12700" cap="flat" cmpd="sng" algn="ctr">
              <a:noFill/>
              <a:prstDash val="solid"/>
              <a:miter lim="800000"/>
            </a:ln>
            <a:effectLst/>
          </p:spPr>
          <p:txBody>
            <a:bodyPr rtlCol="0" anchor="ctr"/>
            <a:lstStyle/>
            <a:p>
              <a:pPr algn="ctr" defTabSz="914400">
                <a:defRPr/>
              </a:pPr>
              <a:endParaRPr lang="en-IN" sz="1800" kern="0" dirty="0">
                <a:solidFill>
                  <a:prstClr val="white"/>
                </a:solidFill>
                <a:latin typeface="Calibri" panose="020F0502020204030204"/>
              </a:endParaRPr>
            </a:p>
          </p:txBody>
        </p:sp>
        <p:sp>
          <p:nvSpPr>
            <p:cNvPr id="20" name="TextBox 19"/>
            <p:cNvSpPr txBox="1"/>
            <p:nvPr/>
          </p:nvSpPr>
          <p:spPr>
            <a:xfrm>
              <a:off x="9516125" y="5880529"/>
              <a:ext cx="197170" cy="138499"/>
            </a:xfrm>
            <a:prstGeom prst="rect">
              <a:avLst/>
            </a:prstGeom>
            <a:noFill/>
          </p:spPr>
          <p:txBody>
            <a:bodyPr wrap="none" lIns="0" tIns="0" rIns="0" bIns="0" rtlCol="0">
              <a:spAutoFit/>
            </a:bodyPr>
            <a:lstStyle/>
            <a:p>
              <a:r>
                <a:rPr lang="en-US" sz="900" b="1" dirty="0"/>
                <a:t>Low</a:t>
              </a:r>
            </a:p>
          </p:txBody>
        </p:sp>
        <p:sp>
          <p:nvSpPr>
            <p:cNvPr id="21" name="TextBox 20"/>
            <p:cNvSpPr txBox="1"/>
            <p:nvPr/>
          </p:nvSpPr>
          <p:spPr>
            <a:xfrm>
              <a:off x="10541116" y="5880529"/>
              <a:ext cx="218008" cy="138499"/>
            </a:xfrm>
            <a:prstGeom prst="rect">
              <a:avLst/>
            </a:prstGeom>
            <a:noFill/>
          </p:spPr>
          <p:txBody>
            <a:bodyPr wrap="none" lIns="0" tIns="0" rIns="0" bIns="0" rtlCol="0">
              <a:spAutoFit/>
            </a:bodyPr>
            <a:lstStyle/>
            <a:p>
              <a:r>
                <a:rPr lang="en-US" sz="900" b="1" dirty="0"/>
                <a:t>High</a:t>
              </a:r>
            </a:p>
          </p:txBody>
        </p:sp>
        <p:cxnSp>
          <p:nvCxnSpPr>
            <p:cNvPr id="22" name="Straight Connector 21"/>
            <p:cNvCxnSpPr/>
            <p:nvPr/>
          </p:nvCxnSpPr>
          <p:spPr>
            <a:xfrm>
              <a:off x="7810106" y="5815884"/>
              <a:ext cx="3080144"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9201162" y="5815885"/>
              <a:ext cx="0" cy="250825"/>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pSp>
      <p:grpSp>
        <p:nvGrpSpPr>
          <p:cNvPr id="45" name="Group 44"/>
          <p:cNvGrpSpPr/>
          <p:nvPr/>
        </p:nvGrpSpPr>
        <p:grpSpPr>
          <a:xfrm>
            <a:off x="416095" y="5585601"/>
            <a:ext cx="1052937" cy="503186"/>
            <a:chOff x="1309090" y="5606387"/>
            <a:chExt cx="1052937" cy="503186"/>
          </a:xfrm>
        </p:grpSpPr>
        <p:sp>
          <p:nvSpPr>
            <p:cNvPr id="24" name="Oval 23"/>
            <p:cNvSpPr/>
            <p:nvPr/>
          </p:nvSpPr>
          <p:spPr>
            <a:xfrm>
              <a:off x="1309090" y="5629915"/>
              <a:ext cx="91440" cy="91440"/>
            </a:xfrm>
            <a:prstGeom prst="ellipse">
              <a:avLst/>
            </a:prstGeom>
            <a:solidFill>
              <a:srgbClr val="4031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25" name="TextBox 24"/>
            <p:cNvSpPr txBox="1"/>
            <p:nvPr/>
          </p:nvSpPr>
          <p:spPr>
            <a:xfrm>
              <a:off x="1429550" y="5606387"/>
              <a:ext cx="732553" cy="138499"/>
            </a:xfrm>
            <a:prstGeom prst="rect">
              <a:avLst/>
            </a:prstGeom>
            <a:noFill/>
          </p:spPr>
          <p:txBody>
            <a:bodyPr wrap="square" lIns="0" tIns="0" rIns="0" bIns="0" rtlCol="0">
              <a:spAutoFit/>
            </a:bodyPr>
            <a:lstStyle/>
            <a:p>
              <a:r>
                <a:rPr lang="en-IN" sz="900" dirty="0"/>
                <a:t>Asia Pacific</a:t>
              </a:r>
            </a:p>
          </p:txBody>
        </p:sp>
        <p:sp>
          <p:nvSpPr>
            <p:cNvPr id="26" name="Oval 25"/>
            <p:cNvSpPr/>
            <p:nvPr/>
          </p:nvSpPr>
          <p:spPr>
            <a:xfrm>
              <a:off x="1309090" y="5734544"/>
              <a:ext cx="91440" cy="91440"/>
            </a:xfrm>
            <a:prstGeom prst="ellipse">
              <a:avLst/>
            </a:prstGeom>
            <a:solidFill>
              <a:srgbClr val="9E7E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27" name="TextBox 26"/>
            <p:cNvSpPr txBox="1"/>
            <p:nvPr/>
          </p:nvSpPr>
          <p:spPr>
            <a:xfrm>
              <a:off x="1429550" y="5711016"/>
              <a:ext cx="732553" cy="138499"/>
            </a:xfrm>
            <a:prstGeom prst="rect">
              <a:avLst/>
            </a:prstGeom>
            <a:noFill/>
          </p:spPr>
          <p:txBody>
            <a:bodyPr wrap="square" lIns="0" tIns="0" rIns="0" bIns="0" rtlCol="0">
              <a:spAutoFit/>
            </a:bodyPr>
            <a:lstStyle/>
            <a:p>
              <a:r>
                <a:rPr lang="en-IN" sz="900" dirty="0"/>
                <a:t>Americas</a:t>
              </a:r>
            </a:p>
          </p:txBody>
        </p:sp>
        <p:sp>
          <p:nvSpPr>
            <p:cNvPr id="28" name="Oval 27"/>
            <p:cNvSpPr/>
            <p:nvPr/>
          </p:nvSpPr>
          <p:spPr>
            <a:xfrm>
              <a:off x="1309090" y="5864573"/>
              <a:ext cx="91440" cy="91440"/>
            </a:xfrm>
            <a:prstGeom prst="ellipse">
              <a:avLst/>
            </a:prstGeom>
            <a:solidFill>
              <a:srgbClr val="8E14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29" name="TextBox 28"/>
            <p:cNvSpPr txBox="1"/>
            <p:nvPr/>
          </p:nvSpPr>
          <p:spPr>
            <a:xfrm>
              <a:off x="1429550" y="5841045"/>
              <a:ext cx="732553" cy="138499"/>
            </a:xfrm>
            <a:prstGeom prst="rect">
              <a:avLst/>
            </a:prstGeom>
            <a:noFill/>
          </p:spPr>
          <p:txBody>
            <a:bodyPr wrap="square" lIns="0" tIns="0" rIns="0" bIns="0" rtlCol="0">
              <a:spAutoFit/>
            </a:bodyPr>
            <a:lstStyle/>
            <a:p>
              <a:r>
                <a:rPr lang="en-IN" sz="900" dirty="0"/>
                <a:t>Europe</a:t>
              </a:r>
            </a:p>
          </p:txBody>
        </p:sp>
        <p:sp>
          <p:nvSpPr>
            <p:cNvPr id="30" name="Oval 29"/>
            <p:cNvSpPr/>
            <p:nvPr/>
          </p:nvSpPr>
          <p:spPr>
            <a:xfrm>
              <a:off x="1309090" y="5994602"/>
              <a:ext cx="91440" cy="91440"/>
            </a:xfrm>
            <a:prstGeom prst="ellipse">
              <a:avLst/>
            </a:prstGeom>
            <a:solidFill>
              <a:srgbClr val="2A5F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31" name="TextBox 30"/>
            <p:cNvSpPr txBox="1"/>
            <p:nvPr/>
          </p:nvSpPr>
          <p:spPr>
            <a:xfrm>
              <a:off x="1429549" y="5971074"/>
              <a:ext cx="932478" cy="138499"/>
            </a:xfrm>
            <a:prstGeom prst="rect">
              <a:avLst/>
            </a:prstGeom>
            <a:noFill/>
          </p:spPr>
          <p:txBody>
            <a:bodyPr wrap="square" lIns="0" tIns="0" rIns="0" bIns="0" rtlCol="0">
              <a:spAutoFit/>
            </a:bodyPr>
            <a:lstStyle/>
            <a:p>
              <a:r>
                <a:rPr lang="en-IN" sz="900" dirty="0"/>
                <a:t>Rest of the World</a:t>
              </a:r>
            </a:p>
          </p:txBody>
        </p:sp>
      </p:grpSp>
      <p:cxnSp>
        <p:nvCxnSpPr>
          <p:cNvPr id="32" name="Straight Connector 31"/>
          <p:cNvCxnSpPr/>
          <p:nvPr/>
        </p:nvCxnSpPr>
        <p:spPr>
          <a:xfrm>
            <a:off x="1521284" y="5551306"/>
            <a:ext cx="0" cy="54864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1469032" y="5555571"/>
            <a:ext cx="5019341" cy="507831"/>
          </a:xfrm>
          <a:prstGeom prst="rect">
            <a:avLst/>
          </a:prstGeom>
          <a:noFill/>
        </p:spPr>
        <p:txBody>
          <a:bodyPr wrap="square" rtlCol="0">
            <a:spAutoFit/>
          </a:bodyPr>
          <a:lstStyle/>
          <a:p>
            <a:r>
              <a:rPr lang="en-IN" sz="900" b="1" dirty="0"/>
              <a:t>Aq</a:t>
            </a:r>
            <a:r>
              <a:rPr lang="en-IN" sz="900" dirty="0"/>
              <a:t>: Acquisition | </a:t>
            </a:r>
            <a:r>
              <a:rPr lang="en-IN" sz="900" b="1" dirty="0"/>
              <a:t>Ex</a:t>
            </a:r>
            <a:r>
              <a:rPr lang="en-IN" sz="900" dirty="0"/>
              <a:t>: Expansion | </a:t>
            </a:r>
            <a:r>
              <a:rPr lang="en-IN" sz="900" b="1" dirty="0"/>
              <a:t>NL</a:t>
            </a:r>
            <a:r>
              <a:rPr lang="en-IN" sz="900" dirty="0"/>
              <a:t>: New Product Launch | </a:t>
            </a:r>
            <a:r>
              <a:rPr lang="en-IN" sz="900" b="1" dirty="0"/>
              <a:t>P</a:t>
            </a:r>
            <a:r>
              <a:rPr lang="en-IN" sz="900" dirty="0"/>
              <a:t>: Partnership | </a:t>
            </a:r>
            <a:r>
              <a:rPr lang="en-IN" sz="900" b="1" dirty="0"/>
              <a:t>CL</a:t>
            </a:r>
            <a:r>
              <a:rPr lang="en-IN" sz="900" dirty="0"/>
              <a:t>: Collaboration</a:t>
            </a:r>
          </a:p>
          <a:p>
            <a:r>
              <a:rPr lang="en-IN" sz="900" b="1" dirty="0"/>
              <a:t>C</a:t>
            </a:r>
            <a:r>
              <a:rPr lang="en-IN" sz="900" dirty="0"/>
              <a:t>: Cost Leadership | </a:t>
            </a:r>
            <a:r>
              <a:rPr lang="en-IN" sz="900" b="1" dirty="0"/>
              <a:t>B</a:t>
            </a:r>
            <a:r>
              <a:rPr lang="en-IN" sz="900" dirty="0"/>
              <a:t>: Brand Awareness | </a:t>
            </a:r>
            <a:r>
              <a:rPr lang="en-IN" sz="900" b="1" dirty="0"/>
              <a:t>S</a:t>
            </a:r>
            <a:r>
              <a:rPr lang="en-IN" sz="900" dirty="0"/>
              <a:t>: Supply capability | </a:t>
            </a:r>
            <a:r>
              <a:rPr lang="en-IN" sz="900" b="1" dirty="0"/>
              <a:t>E</a:t>
            </a:r>
            <a:r>
              <a:rPr lang="en-IN" sz="900" dirty="0"/>
              <a:t>: Product Expertise | </a:t>
            </a:r>
            <a:r>
              <a:rPr lang="en-IN" sz="900" b="1" dirty="0"/>
              <a:t>R</a:t>
            </a:r>
            <a:r>
              <a:rPr lang="en-IN" sz="900" dirty="0"/>
              <a:t>: Channel Reach</a:t>
            </a:r>
          </a:p>
          <a:p>
            <a:r>
              <a:rPr lang="en-IN" sz="900" b="1" dirty="0"/>
              <a:t>H</a:t>
            </a:r>
            <a:r>
              <a:rPr lang="en-IN" sz="900" dirty="0"/>
              <a:t>: Historical Performance | </a:t>
            </a:r>
            <a:r>
              <a:rPr lang="en-IN" sz="900" b="1" dirty="0"/>
              <a:t>F</a:t>
            </a:r>
            <a:r>
              <a:rPr lang="en-IN" sz="900" dirty="0"/>
              <a:t>: Future Performance | </a:t>
            </a:r>
            <a:r>
              <a:rPr lang="en-IN" sz="900" b="1" dirty="0"/>
              <a:t>*</a:t>
            </a:r>
            <a:r>
              <a:rPr lang="en-IN" sz="900" dirty="0"/>
              <a:t>: Estimated Revenue for Unlisted Companies </a:t>
            </a:r>
          </a:p>
        </p:txBody>
      </p:sp>
      <p:sp>
        <p:nvSpPr>
          <p:cNvPr id="215" name="Pentagon 214"/>
          <p:cNvSpPr/>
          <p:nvPr/>
        </p:nvSpPr>
        <p:spPr>
          <a:xfrm>
            <a:off x="152711" y="1159469"/>
            <a:ext cx="1414177" cy="730199"/>
          </a:xfrm>
          <a:prstGeom prst="homePlate">
            <a:avLst>
              <a:gd name="adj" fmla="val 25986"/>
            </a:avLst>
          </a:prstGeom>
          <a:solidFill>
            <a:schemeClr val="bg2">
              <a:lumMod val="50000"/>
            </a:schemeClr>
          </a:solidFill>
          <a:ln w="12700" cap="flat" cmpd="sng" algn="ctr">
            <a:noFill/>
            <a:prstDash val="solid"/>
            <a:miter lim="800000"/>
          </a:ln>
          <a:effectLst/>
        </p:spPr>
        <p:txBody>
          <a:bodyPr lIns="44577" rIns="44577" rtlCol="0" anchor="ctr"/>
          <a:lstStyle/>
          <a:p>
            <a:pPr algn="ctr">
              <a:defRPr/>
            </a:pPr>
            <a:r>
              <a:rPr lang="en-IN" sz="1073" b="1" kern="0" dirty="0">
                <a:solidFill>
                  <a:schemeClr val="bg1"/>
                </a:solidFill>
                <a:latin typeface="Calibri" panose="020F0502020204030204"/>
              </a:rPr>
              <a:t>Key Players</a:t>
            </a:r>
          </a:p>
        </p:txBody>
      </p:sp>
      <p:sp>
        <p:nvSpPr>
          <p:cNvPr id="216" name="Pentagon 215"/>
          <p:cNvSpPr/>
          <p:nvPr/>
        </p:nvSpPr>
        <p:spPr>
          <a:xfrm>
            <a:off x="152711" y="1968524"/>
            <a:ext cx="1414177" cy="514364"/>
          </a:xfrm>
          <a:prstGeom prst="homePlate">
            <a:avLst>
              <a:gd name="adj" fmla="val 25986"/>
            </a:avLst>
          </a:prstGeom>
          <a:solidFill>
            <a:schemeClr val="accent1">
              <a:lumMod val="40000"/>
              <a:lumOff val="60000"/>
            </a:schemeClr>
          </a:solidFill>
          <a:ln w="12700" cap="flat" cmpd="sng" algn="ctr">
            <a:noFill/>
            <a:prstDash val="solid"/>
            <a:miter lim="800000"/>
          </a:ln>
          <a:effectLst>
            <a:outerShdw blurRad="25400" dist="25400" algn="l" rotWithShape="0">
              <a:prstClr val="black">
                <a:alpha val="50000"/>
              </a:prstClr>
            </a:outerShdw>
          </a:effectLst>
        </p:spPr>
        <p:txBody>
          <a:bodyPr lIns="44577" rIns="44577" rtlCol="0" anchor="ctr"/>
          <a:lstStyle/>
          <a:p>
            <a:pPr algn="ctr">
              <a:defRPr/>
            </a:pPr>
            <a:r>
              <a:rPr lang="en-IN" sz="1024" b="1" kern="0" dirty="0">
                <a:latin typeface="Calibri" panose="020F0502020204030204"/>
              </a:rPr>
              <a:t>Total Revenue*</a:t>
            </a:r>
          </a:p>
        </p:txBody>
      </p:sp>
      <p:sp>
        <p:nvSpPr>
          <p:cNvPr id="217" name="Pentagon 216"/>
          <p:cNvSpPr/>
          <p:nvPr/>
        </p:nvSpPr>
        <p:spPr>
          <a:xfrm>
            <a:off x="152399" y="2561744"/>
            <a:ext cx="1414800" cy="514800"/>
          </a:xfrm>
          <a:prstGeom prst="homePlate">
            <a:avLst>
              <a:gd name="adj" fmla="val 25986"/>
            </a:avLst>
          </a:prstGeom>
          <a:solidFill>
            <a:schemeClr val="accent1">
              <a:lumMod val="40000"/>
              <a:lumOff val="60000"/>
            </a:schemeClr>
          </a:solidFill>
          <a:ln w="12700" cap="flat" cmpd="sng" algn="ctr">
            <a:noFill/>
            <a:prstDash val="solid"/>
            <a:miter lim="800000"/>
          </a:ln>
          <a:effectLst>
            <a:outerShdw blurRad="25400" dist="25400" algn="l" rotWithShape="0">
              <a:prstClr val="black">
                <a:alpha val="50000"/>
              </a:prstClr>
            </a:outerShdw>
          </a:effectLst>
        </p:spPr>
        <p:txBody>
          <a:bodyPr lIns="44577" rIns="44577" rtlCol="0" anchor="ctr"/>
          <a:lstStyle/>
          <a:p>
            <a:pPr algn="ctr">
              <a:defRPr/>
            </a:pPr>
            <a:r>
              <a:rPr lang="en-IN" sz="1024" b="1" kern="0" dirty="0">
                <a:latin typeface="Calibri" panose="020F0502020204030204"/>
              </a:rPr>
              <a:t>Est. Market Share</a:t>
            </a:r>
          </a:p>
        </p:txBody>
      </p:sp>
      <p:sp>
        <p:nvSpPr>
          <p:cNvPr id="219" name="Pentagon 218"/>
          <p:cNvSpPr/>
          <p:nvPr/>
        </p:nvSpPr>
        <p:spPr>
          <a:xfrm>
            <a:off x="152399" y="3155400"/>
            <a:ext cx="1414800" cy="514800"/>
          </a:xfrm>
          <a:prstGeom prst="homePlate">
            <a:avLst>
              <a:gd name="adj" fmla="val 25986"/>
            </a:avLst>
          </a:prstGeom>
          <a:solidFill>
            <a:schemeClr val="accent6">
              <a:lumMod val="40000"/>
              <a:lumOff val="60000"/>
            </a:schemeClr>
          </a:solidFill>
          <a:ln w="12700" cap="flat" cmpd="sng" algn="ctr">
            <a:noFill/>
            <a:prstDash val="solid"/>
            <a:miter lim="800000"/>
          </a:ln>
          <a:effectLst>
            <a:outerShdw blurRad="25400" dist="25400" algn="l" rotWithShape="0">
              <a:prstClr val="black">
                <a:alpha val="50000"/>
              </a:prstClr>
            </a:outerShdw>
          </a:effectLst>
        </p:spPr>
        <p:txBody>
          <a:bodyPr lIns="44577" rIns="44577" rtlCol="0" anchor="ctr"/>
          <a:lstStyle/>
          <a:p>
            <a:pPr algn="ctr">
              <a:defRPr/>
            </a:pPr>
            <a:r>
              <a:rPr lang="en-IN" sz="1024" b="1" kern="0" dirty="0"/>
              <a:t>Portfolio Strength</a:t>
            </a:r>
          </a:p>
        </p:txBody>
      </p:sp>
      <p:sp>
        <p:nvSpPr>
          <p:cNvPr id="220" name="Pentagon 219"/>
          <p:cNvSpPr/>
          <p:nvPr/>
        </p:nvSpPr>
        <p:spPr>
          <a:xfrm>
            <a:off x="152399" y="3749056"/>
            <a:ext cx="1414800" cy="514800"/>
          </a:xfrm>
          <a:prstGeom prst="homePlate">
            <a:avLst>
              <a:gd name="adj" fmla="val 25986"/>
            </a:avLst>
          </a:prstGeom>
          <a:solidFill>
            <a:schemeClr val="accent1">
              <a:lumMod val="40000"/>
              <a:lumOff val="60000"/>
            </a:schemeClr>
          </a:solidFill>
          <a:ln w="12700" cap="flat" cmpd="sng" algn="ctr">
            <a:noFill/>
            <a:prstDash val="solid"/>
            <a:miter lim="800000"/>
          </a:ln>
          <a:effectLst>
            <a:outerShdw blurRad="25400" dist="25400" algn="l" rotWithShape="0">
              <a:prstClr val="black">
                <a:alpha val="50000"/>
              </a:prstClr>
            </a:outerShdw>
          </a:effectLst>
        </p:spPr>
        <p:txBody>
          <a:bodyPr lIns="44577" rIns="44577" rtlCol="0" anchor="ctr"/>
          <a:lstStyle/>
          <a:p>
            <a:pPr algn="ctr">
              <a:defRPr/>
            </a:pPr>
            <a:r>
              <a:rPr lang="en-IN" sz="1024" b="1" kern="0" dirty="0">
                <a:latin typeface="Calibri" panose="020F0502020204030204"/>
              </a:rPr>
              <a:t>Maturity in Market</a:t>
            </a:r>
          </a:p>
        </p:txBody>
      </p:sp>
      <p:sp>
        <p:nvSpPr>
          <p:cNvPr id="221" name="Pentagon 220"/>
          <p:cNvSpPr/>
          <p:nvPr/>
        </p:nvSpPr>
        <p:spPr>
          <a:xfrm>
            <a:off x="152399" y="4342712"/>
            <a:ext cx="1414800" cy="514800"/>
          </a:xfrm>
          <a:prstGeom prst="homePlate">
            <a:avLst>
              <a:gd name="adj" fmla="val 25986"/>
            </a:avLst>
          </a:prstGeom>
          <a:solidFill>
            <a:schemeClr val="accent6">
              <a:lumMod val="40000"/>
              <a:lumOff val="60000"/>
            </a:schemeClr>
          </a:solidFill>
          <a:ln w="12700" cap="flat" cmpd="sng" algn="ctr">
            <a:noFill/>
            <a:prstDash val="solid"/>
            <a:miter lim="800000"/>
          </a:ln>
          <a:effectLst>
            <a:outerShdw blurRad="25400" dist="25400" algn="l" rotWithShape="0">
              <a:prstClr val="black">
                <a:alpha val="50000"/>
              </a:prstClr>
            </a:outerShdw>
          </a:effectLst>
        </p:spPr>
        <p:txBody>
          <a:bodyPr lIns="44577" rIns="44577" rtlCol="0" anchor="ctr"/>
          <a:lstStyle/>
          <a:p>
            <a:pPr algn="ctr">
              <a:defRPr/>
            </a:pPr>
            <a:r>
              <a:rPr lang="en-IN" sz="1024" b="1" kern="0" dirty="0">
                <a:latin typeface="Calibri" panose="020F0502020204030204"/>
              </a:rPr>
              <a:t>Historical &amp; Future Growth Outlook</a:t>
            </a:r>
          </a:p>
        </p:txBody>
      </p:sp>
      <p:sp>
        <p:nvSpPr>
          <p:cNvPr id="222" name="Pentagon 221"/>
          <p:cNvSpPr/>
          <p:nvPr/>
        </p:nvSpPr>
        <p:spPr>
          <a:xfrm>
            <a:off x="152399" y="4936367"/>
            <a:ext cx="1414800" cy="514800"/>
          </a:xfrm>
          <a:prstGeom prst="homePlate">
            <a:avLst>
              <a:gd name="adj" fmla="val 25986"/>
            </a:avLst>
          </a:prstGeom>
          <a:solidFill>
            <a:schemeClr val="accent1">
              <a:lumMod val="40000"/>
              <a:lumOff val="60000"/>
            </a:schemeClr>
          </a:solidFill>
          <a:ln w="12700" cap="flat" cmpd="sng" algn="ctr">
            <a:noFill/>
            <a:prstDash val="solid"/>
            <a:miter lim="800000"/>
          </a:ln>
          <a:effectLst>
            <a:outerShdw blurRad="25400" dist="25400" algn="l" rotWithShape="0">
              <a:prstClr val="black">
                <a:alpha val="50000"/>
              </a:prstClr>
            </a:outerShdw>
          </a:effectLst>
        </p:spPr>
        <p:txBody>
          <a:bodyPr lIns="44577" rIns="44577" rtlCol="0" anchor="ctr"/>
          <a:lstStyle/>
          <a:p>
            <a:pPr algn="ctr">
              <a:defRPr/>
            </a:pPr>
            <a:r>
              <a:rPr lang="en-IN" sz="1024" b="1" kern="0" dirty="0">
                <a:latin typeface="Calibri" panose="020F0502020204030204"/>
              </a:rPr>
              <a:t>Analyst Views</a:t>
            </a:r>
          </a:p>
        </p:txBody>
      </p:sp>
      <p:sp>
        <p:nvSpPr>
          <p:cNvPr id="224" name="Rectangle 223"/>
          <p:cNvSpPr/>
          <p:nvPr/>
        </p:nvSpPr>
        <p:spPr>
          <a:xfrm>
            <a:off x="1626202" y="1126586"/>
            <a:ext cx="1019362" cy="538982"/>
          </a:xfrm>
          <a:prstGeom prst="rect">
            <a:avLst/>
          </a:prstGeom>
          <a:solidFill>
            <a:schemeClr val="accent1">
              <a:lumMod val="40000"/>
              <a:lumOff val="60000"/>
            </a:schemeClr>
          </a:solidFill>
          <a:ln w="12700" cap="flat" cmpd="sng" algn="ctr">
            <a:noFill/>
            <a:prstDash val="solid"/>
            <a:miter lim="800000"/>
          </a:ln>
          <a:effectLst>
            <a:outerShdw blurRad="50800" dist="38100" dir="5400000" algn="t" rotWithShape="0">
              <a:prstClr val="black">
                <a:alpha val="40000"/>
              </a:prstClr>
            </a:outerShdw>
          </a:effectLst>
        </p:spPr>
        <p:txBody>
          <a:bodyPr lIns="44577" rIns="44577" rtlCol="0" anchor="ctr"/>
          <a:lstStyle/>
          <a:p>
            <a:pPr lvl="0" algn="ctr">
              <a:defRPr/>
            </a:pPr>
            <a:endParaRPr lang="en-IN" sz="975" b="1" kern="0" dirty="0"/>
          </a:p>
        </p:txBody>
      </p:sp>
      <p:sp>
        <p:nvSpPr>
          <p:cNvPr id="233" name="TextBox 232"/>
          <p:cNvSpPr txBox="1"/>
          <p:nvPr/>
        </p:nvSpPr>
        <p:spPr>
          <a:xfrm>
            <a:off x="1626529" y="2082711"/>
            <a:ext cx="1144077" cy="253916"/>
          </a:xfrm>
          <a:prstGeom prst="rect">
            <a:avLst/>
          </a:prstGeom>
          <a:noFill/>
        </p:spPr>
        <p:txBody>
          <a:bodyPr wrap="square" rtlCol="0" anchor="ctr">
            <a:spAutoFit/>
          </a:bodyPr>
          <a:lstStyle/>
          <a:p>
            <a:pPr lvl="0" algn="ctr">
              <a:defRPr/>
            </a:pPr>
            <a:r>
              <a:rPr lang="en-IN" sz="1050" b="1" kern="0" dirty="0"/>
              <a:t>US$ </a:t>
            </a:r>
            <a:r>
              <a:rPr lang="en-US" sz="1050" b="1" dirty="0"/>
              <a:t>xx </a:t>
            </a:r>
            <a:r>
              <a:rPr lang="en-US" sz="1050" dirty="0"/>
              <a:t> </a:t>
            </a:r>
            <a:r>
              <a:rPr lang="en-IN" sz="1050" b="1" kern="0" dirty="0" err="1"/>
              <a:t>Mn</a:t>
            </a:r>
            <a:endParaRPr lang="en-IN" sz="1050" b="1" kern="0" dirty="0"/>
          </a:p>
        </p:txBody>
      </p:sp>
      <p:grpSp>
        <p:nvGrpSpPr>
          <p:cNvPr id="241" name="Group 240"/>
          <p:cNvGrpSpPr/>
          <p:nvPr/>
        </p:nvGrpSpPr>
        <p:grpSpPr>
          <a:xfrm>
            <a:off x="1918510" y="3303758"/>
            <a:ext cx="677809" cy="183301"/>
            <a:chOff x="1227285" y="4219068"/>
            <a:chExt cx="684835" cy="218526"/>
          </a:xfrm>
        </p:grpSpPr>
        <p:sp>
          <p:nvSpPr>
            <p:cNvPr id="242" name="Rounded Rectangle 241"/>
            <p:cNvSpPr/>
            <p:nvPr/>
          </p:nvSpPr>
          <p:spPr>
            <a:xfrm>
              <a:off x="1227285"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243" name="Isosceles Triangle 242"/>
            <p:cNvSpPr/>
            <p:nvPr/>
          </p:nvSpPr>
          <p:spPr>
            <a:xfrm>
              <a:off x="1684347" y="4327866"/>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265" name="Group 264"/>
          <p:cNvGrpSpPr/>
          <p:nvPr/>
        </p:nvGrpSpPr>
        <p:grpSpPr>
          <a:xfrm>
            <a:off x="1852188" y="2644487"/>
            <a:ext cx="793026" cy="287298"/>
            <a:chOff x="1344364" y="2348329"/>
            <a:chExt cx="768801" cy="347472"/>
          </a:xfrm>
        </p:grpSpPr>
        <p:graphicFrame>
          <p:nvGraphicFramePr>
            <p:cNvPr id="266" name="Chart 265"/>
            <p:cNvGraphicFramePr/>
            <p:nvPr/>
          </p:nvGraphicFramePr>
          <p:xfrm>
            <a:off x="1344364" y="2348329"/>
            <a:ext cx="362437" cy="347472"/>
          </p:xfrm>
          <a:graphic>
            <a:graphicData uri="http://schemas.openxmlformats.org/drawingml/2006/chart">
              <c:chart xmlns:c="http://schemas.openxmlformats.org/drawingml/2006/chart" xmlns:r="http://schemas.openxmlformats.org/officeDocument/2006/relationships" r:id="rId2"/>
            </a:graphicData>
          </a:graphic>
        </p:graphicFrame>
        <p:sp>
          <p:nvSpPr>
            <p:cNvPr id="267" name="TextBox 266"/>
            <p:cNvSpPr txBox="1"/>
            <p:nvPr/>
          </p:nvSpPr>
          <p:spPr>
            <a:xfrm>
              <a:off x="1650000" y="2443371"/>
              <a:ext cx="463165" cy="124180"/>
            </a:xfrm>
            <a:prstGeom prst="rect">
              <a:avLst/>
            </a:prstGeom>
            <a:noFill/>
          </p:spPr>
          <p:txBody>
            <a:bodyPr wrap="square" lIns="0" tIns="0" rIns="0" bIns="0" rtlCol="0">
              <a:spAutoFit/>
            </a:bodyPr>
            <a:lstStyle/>
            <a:p>
              <a:pPr algn="ctr">
                <a:defRPr/>
              </a:pPr>
              <a:r>
                <a:rPr lang="en-IN" sz="878" b="1" kern="0" dirty="0"/>
                <a:t>~xx%</a:t>
              </a:r>
            </a:p>
          </p:txBody>
        </p:sp>
      </p:grpSp>
      <p:grpSp>
        <p:nvGrpSpPr>
          <p:cNvPr id="34" name="Group 33"/>
          <p:cNvGrpSpPr/>
          <p:nvPr/>
        </p:nvGrpSpPr>
        <p:grpSpPr>
          <a:xfrm>
            <a:off x="1998104" y="4348616"/>
            <a:ext cx="539535" cy="249215"/>
            <a:chOff x="2926414" y="4139668"/>
            <a:chExt cx="621139" cy="327924"/>
          </a:xfrm>
        </p:grpSpPr>
        <p:sp>
          <p:nvSpPr>
            <p:cNvPr id="290" name="Right Arrow 289"/>
            <p:cNvSpPr/>
            <p:nvPr/>
          </p:nvSpPr>
          <p:spPr>
            <a:xfrm>
              <a:off x="2926414" y="4174672"/>
              <a:ext cx="302780" cy="257917"/>
            </a:xfrm>
            <a:prstGeom prst="rightArrow">
              <a:avLst/>
            </a:prstGeom>
            <a:solidFill>
              <a:srgbClr val="00B050"/>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H</a:t>
              </a:r>
            </a:p>
          </p:txBody>
        </p:sp>
        <p:sp>
          <p:nvSpPr>
            <p:cNvPr id="291" name="Right Arrow 290"/>
            <p:cNvSpPr/>
            <p:nvPr/>
          </p:nvSpPr>
          <p:spPr>
            <a:xfrm>
              <a:off x="3244773" y="4174672"/>
              <a:ext cx="302780" cy="257917"/>
            </a:xfrm>
            <a:prstGeom prst="rightArrow">
              <a:avLst/>
            </a:prstGeom>
            <a:solidFill>
              <a:srgbClr val="6CA755"/>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F</a:t>
              </a:r>
            </a:p>
          </p:txBody>
        </p:sp>
        <p:cxnSp>
          <p:nvCxnSpPr>
            <p:cNvPr id="292" name="Straight Connector 291"/>
            <p:cNvCxnSpPr/>
            <p:nvPr/>
          </p:nvCxnSpPr>
          <p:spPr>
            <a:xfrm>
              <a:off x="3236984" y="4139668"/>
              <a:ext cx="0" cy="327924"/>
            </a:xfrm>
            <a:prstGeom prst="line">
              <a:avLst/>
            </a:prstGeom>
            <a:noFill/>
            <a:ln w="6350" cap="flat" cmpd="sng" algn="ctr">
              <a:solidFill>
                <a:srgbClr val="5B9BD5"/>
              </a:solidFill>
              <a:prstDash val="dash"/>
              <a:miter lim="800000"/>
            </a:ln>
            <a:effectLst/>
          </p:spPr>
        </p:cxnSp>
      </p:grpSp>
      <p:sp>
        <p:nvSpPr>
          <p:cNvPr id="329" name="Rectangle 328"/>
          <p:cNvSpPr/>
          <p:nvPr/>
        </p:nvSpPr>
        <p:spPr>
          <a:xfrm>
            <a:off x="1514301" y="1295577"/>
            <a:ext cx="1185621" cy="307777"/>
          </a:xfrm>
          <a:prstGeom prst="rect">
            <a:avLst/>
          </a:prstGeom>
        </p:spPr>
        <p:txBody>
          <a:bodyPr wrap="square" anchor="ctr">
            <a:spAutoFit/>
          </a:bodyPr>
          <a:lstStyle/>
          <a:p>
            <a:pPr algn="ctr" fontAlgn="b"/>
            <a:r>
              <a:rPr lang="en-IN" sz="1400" b="1" dirty="0" err="1"/>
              <a:t>CompanyA</a:t>
            </a:r>
            <a:endParaRPr lang="en-IN" sz="1400" b="1" dirty="0"/>
          </a:p>
        </p:txBody>
      </p:sp>
      <p:grpSp>
        <p:nvGrpSpPr>
          <p:cNvPr id="43" name="Group 42"/>
          <p:cNvGrpSpPr/>
          <p:nvPr/>
        </p:nvGrpSpPr>
        <p:grpSpPr>
          <a:xfrm>
            <a:off x="1966418" y="4957776"/>
            <a:ext cx="594581" cy="312830"/>
            <a:chOff x="1749216" y="4920163"/>
            <a:chExt cx="684511" cy="411630"/>
          </a:xfrm>
        </p:grpSpPr>
        <p:sp>
          <p:nvSpPr>
            <p:cNvPr id="344" name="Oval 343"/>
            <p:cNvSpPr/>
            <p:nvPr/>
          </p:nvSpPr>
          <p:spPr>
            <a:xfrm>
              <a:off x="1749216" y="4920163"/>
              <a:ext cx="213970" cy="213970"/>
            </a:xfrm>
            <a:prstGeom prst="ellipse">
              <a:avLst/>
            </a:prstGeom>
            <a:solidFill>
              <a:srgbClr val="6CA755"/>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E</a:t>
              </a:r>
            </a:p>
          </p:txBody>
        </p:sp>
        <p:sp>
          <p:nvSpPr>
            <p:cNvPr id="345" name="Oval 344"/>
            <p:cNvSpPr/>
            <p:nvPr/>
          </p:nvSpPr>
          <p:spPr>
            <a:xfrm>
              <a:off x="1984486" y="492016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B</a:t>
              </a:r>
            </a:p>
          </p:txBody>
        </p:sp>
        <p:sp>
          <p:nvSpPr>
            <p:cNvPr id="346" name="Oval 345"/>
            <p:cNvSpPr/>
            <p:nvPr/>
          </p:nvSpPr>
          <p:spPr>
            <a:xfrm>
              <a:off x="2219757" y="492016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S</a:t>
              </a:r>
            </a:p>
          </p:txBody>
        </p:sp>
        <p:sp>
          <p:nvSpPr>
            <p:cNvPr id="347" name="Oval 346"/>
            <p:cNvSpPr/>
            <p:nvPr/>
          </p:nvSpPr>
          <p:spPr>
            <a:xfrm>
              <a:off x="1866852" y="511782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R</a:t>
              </a:r>
            </a:p>
          </p:txBody>
        </p:sp>
        <p:sp>
          <p:nvSpPr>
            <p:cNvPr id="348" name="Oval 347"/>
            <p:cNvSpPr/>
            <p:nvPr/>
          </p:nvSpPr>
          <p:spPr>
            <a:xfrm>
              <a:off x="2102121" y="511782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C</a:t>
              </a:r>
            </a:p>
          </p:txBody>
        </p:sp>
      </p:grpSp>
      <p:grpSp>
        <p:nvGrpSpPr>
          <p:cNvPr id="339" name="Group 338"/>
          <p:cNvGrpSpPr/>
          <p:nvPr/>
        </p:nvGrpSpPr>
        <p:grpSpPr>
          <a:xfrm>
            <a:off x="1918507" y="3826187"/>
            <a:ext cx="677808" cy="183301"/>
            <a:chOff x="1227285" y="4219068"/>
            <a:chExt cx="684835" cy="218526"/>
          </a:xfrm>
        </p:grpSpPr>
        <p:sp>
          <p:nvSpPr>
            <p:cNvPr id="406" name="Rounded Rectangle 405"/>
            <p:cNvSpPr/>
            <p:nvPr/>
          </p:nvSpPr>
          <p:spPr>
            <a:xfrm>
              <a:off x="1227285"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407" name="Isosceles Triangle 406"/>
            <p:cNvSpPr/>
            <p:nvPr/>
          </p:nvSpPr>
          <p:spPr>
            <a:xfrm>
              <a:off x="1671193" y="4327866"/>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sp>
        <p:nvSpPr>
          <p:cNvPr id="225" name="Rectangle 224"/>
          <p:cNvSpPr/>
          <p:nvPr/>
        </p:nvSpPr>
        <p:spPr>
          <a:xfrm>
            <a:off x="2711819" y="1139554"/>
            <a:ext cx="1083814" cy="530683"/>
          </a:xfrm>
          <a:prstGeom prst="rect">
            <a:avLst/>
          </a:prstGeom>
          <a:solidFill>
            <a:schemeClr val="accent6">
              <a:lumMod val="40000"/>
              <a:lumOff val="60000"/>
            </a:schemeClr>
          </a:solidFill>
          <a:ln w="12700" cap="flat" cmpd="sng" algn="ctr">
            <a:noFill/>
            <a:prstDash val="solid"/>
            <a:miter lim="800000"/>
          </a:ln>
          <a:effectLst>
            <a:outerShdw blurRad="50800" dist="38100" dir="5400000" algn="t" rotWithShape="0">
              <a:prstClr val="black">
                <a:alpha val="40000"/>
              </a:prstClr>
            </a:outerShdw>
          </a:effectLst>
        </p:spPr>
        <p:txBody>
          <a:bodyPr lIns="44577" rIns="44577" rtlCol="0" anchor="ctr"/>
          <a:lstStyle/>
          <a:p>
            <a:pPr algn="ctr" fontAlgn="b"/>
            <a:endParaRPr lang="en-US" sz="975" b="1" dirty="0"/>
          </a:p>
        </p:txBody>
      </p:sp>
      <p:sp>
        <p:nvSpPr>
          <p:cNvPr id="235" name="TextBox 234"/>
          <p:cNvSpPr txBox="1"/>
          <p:nvPr/>
        </p:nvSpPr>
        <p:spPr>
          <a:xfrm>
            <a:off x="2674360" y="2082411"/>
            <a:ext cx="1352910" cy="253916"/>
          </a:xfrm>
          <a:prstGeom prst="rect">
            <a:avLst/>
          </a:prstGeom>
          <a:noFill/>
        </p:spPr>
        <p:txBody>
          <a:bodyPr wrap="square" rtlCol="0" anchor="ctr">
            <a:spAutoFit/>
          </a:bodyPr>
          <a:lstStyle/>
          <a:p>
            <a:pPr lvl="0" algn="ctr">
              <a:defRPr/>
            </a:pPr>
            <a:r>
              <a:rPr lang="en-IN" sz="1050" b="1" kern="0" dirty="0"/>
              <a:t>US$</a:t>
            </a:r>
            <a:r>
              <a:rPr lang="en-US" sz="1050" b="1" dirty="0"/>
              <a:t> xx</a:t>
            </a:r>
            <a:r>
              <a:rPr lang="en-US" sz="1050" dirty="0"/>
              <a:t> </a:t>
            </a:r>
            <a:r>
              <a:rPr lang="en-IN" sz="1050" b="1" kern="0" dirty="0" err="1"/>
              <a:t>Mn</a:t>
            </a:r>
            <a:endParaRPr lang="en-IN" sz="1050" b="1" kern="0" dirty="0"/>
          </a:p>
        </p:txBody>
      </p:sp>
      <p:grpSp>
        <p:nvGrpSpPr>
          <p:cNvPr id="244" name="Group 243"/>
          <p:cNvGrpSpPr/>
          <p:nvPr/>
        </p:nvGrpSpPr>
        <p:grpSpPr>
          <a:xfrm>
            <a:off x="3003856" y="3357616"/>
            <a:ext cx="728319" cy="235306"/>
            <a:chOff x="2113132" y="4219068"/>
            <a:chExt cx="684835" cy="213193"/>
          </a:xfrm>
        </p:grpSpPr>
        <p:sp>
          <p:nvSpPr>
            <p:cNvPr id="245" name="Rounded Rectangle 244"/>
            <p:cNvSpPr/>
            <p:nvPr/>
          </p:nvSpPr>
          <p:spPr>
            <a:xfrm>
              <a:off x="2113132"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246" name="Isosceles Triangle 245"/>
            <p:cNvSpPr/>
            <p:nvPr/>
          </p:nvSpPr>
          <p:spPr>
            <a:xfrm>
              <a:off x="2436853" y="4322533"/>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36" name="Group 35"/>
          <p:cNvGrpSpPr/>
          <p:nvPr/>
        </p:nvGrpSpPr>
        <p:grpSpPr>
          <a:xfrm>
            <a:off x="3083450" y="4417957"/>
            <a:ext cx="579740" cy="257917"/>
            <a:chOff x="4297574" y="4174672"/>
            <a:chExt cx="621139" cy="257917"/>
          </a:xfrm>
        </p:grpSpPr>
        <p:sp>
          <p:nvSpPr>
            <p:cNvPr id="295" name="Right Arrow 294"/>
            <p:cNvSpPr/>
            <p:nvPr/>
          </p:nvSpPr>
          <p:spPr>
            <a:xfrm>
              <a:off x="4297574" y="4174672"/>
              <a:ext cx="302780" cy="257917"/>
            </a:xfrm>
            <a:prstGeom prst="rightArrow">
              <a:avLst/>
            </a:prstGeom>
            <a:solidFill>
              <a:srgbClr val="00B050"/>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H</a:t>
              </a:r>
            </a:p>
          </p:txBody>
        </p:sp>
        <p:sp>
          <p:nvSpPr>
            <p:cNvPr id="296" name="Right Arrow 295"/>
            <p:cNvSpPr/>
            <p:nvPr/>
          </p:nvSpPr>
          <p:spPr>
            <a:xfrm>
              <a:off x="4615933" y="4174672"/>
              <a:ext cx="302780" cy="257917"/>
            </a:xfrm>
            <a:prstGeom prst="rightArrow">
              <a:avLst/>
            </a:prstGeom>
            <a:solidFill>
              <a:srgbClr val="6CA755"/>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F</a:t>
              </a:r>
            </a:p>
          </p:txBody>
        </p:sp>
      </p:grpSp>
      <p:cxnSp>
        <p:nvCxnSpPr>
          <p:cNvPr id="297" name="Straight Connector 296"/>
          <p:cNvCxnSpPr/>
          <p:nvPr/>
        </p:nvCxnSpPr>
        <p:spPr>
          <a:xfrm>
            <a:off x="3383370" y="4359689"/>
            <a:ext cx="0" cy="327924"/>
          </a:xfrm>
          <a:prstGeom prst="line">
            <a:avLst/>
          </a:prstGeom>
          <a:noFill/>
          <a:ln w="6350" cap="flat" cmpd="sng" algn="ctr">
            <a:solidFill>
              <a:srgbClr val="5B9BD5"/>
            </a:solidFill>
            <a:prstDash val="dash"/>
            <a:miter lim="800000"/>
          </a:ln>
          <a:effectLst/>
        </p:spPr>
      </p:cxnSp>
      <p:sp>
        <p:nvSpPr>
          <p:cNvPr id="330" name="Rectangle 329"/>
          <p:cNvSpPr/>
          <p:nvPr/>
        </p:nvSpPr>
        <p:spPr>
          <a:xfrm>
            <a:off x="2658747" y="1313134"/>
            <a:ext cx="1220941" cy="307777"/>
          </a:xfrm>
          <a:prstGeom prst="rect">
            <a:avLst/>
          </a:prstGeom>
        </p:spPr>
        <p:txBody>
          <a:bodyPr wrap="square">
            <a:spAutoFit/>
          </a:bodyPr>
          <a:lstStyle/>
          <a:p>
            <a:pPr algn="ctr" fontAlgn="b"/>
            <a:r>
              <a:rPr lang="en-IN" sz="1400" b="1" dirty="0" err="1"/>
              <a:t>CompanyB</a:t>
            </a:r>
            <a:endParaRPr lang="en-IN" sz="1400" b="1" dirty="0"/>
          </a:p>
        </p:txBody>
      </p:sp>
      <p:grpSp>
        <p:nvGrpSpPr>
          <p:cNvPr id="41" name="Group 40"/>
          <p:cNvGrpSpPr/>
          <p:nvPr/>
        </p:nvGrpSpPr>
        <p:grpSpPr>
          <a:xfrm>
            <a:off x="3051764" y="4970745"/>
            <a:ext cx="638889" cy="411630"/>
            <a:chOff x="2990526" y="4909713"/>
            <a:chExt cx="684511" cy="411630"/>
          </a:xfrm>
        </p:grpSpPr>
        <p:sp>
          <p:nvSpPr>
            <p:cNvPr id="349" name="Oval 348"/>
            <p:cNvSpPr/>
            <p:nvPr/>
          </p:nvSpPr>
          <p:spPr>
            <a:xfrm>
              <a:off x="2990526" y="4909713"/>
              <a:ext cx="213970" cy="213970"/>
            </a:xfrm>
            <a:prstGeom prst="ellipse">
              <a:avLst/>
            </a:prstGeom>
            <a:solidFill>
              <a:srgbClr val="6CA755"/>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R</a:t>
              </a:r>
            </a:p>
          </p:txBody>
        </p:sp>
        <p:sp>
          <p:nvSpPr>
            <p:cNvPr id="350" name="Oval 349"/>
            <p:cNvSpPr/>
            <p:nvPr/>
          </p:nvSpPr>
          <p:spPr>
            <a:xfrm>
              <a:off x="3225796" y="4909713"/>
              <a:ext cx="213970" cy="213970"/>
            </a:xfrm>
            <a:prstGeom prst="ellipse">
              <a:avLst/>
            </a:prstGeom>
            <a:solidFill>
              <a:srgbClr val="78AE42"/>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B</a:t>
              </a:r>
            </a:p>
          </p:txBody>
        </p:sp>
        <p:sp>
          <p:nvSpPr>
            <p:cNvPr id="351" name="Oval 350"/>
            <p:cNvSpPr/>
            <p:nvPr/>
          </p:nvSpPr>
          <p:spPr>
            <a:xfrm>
              <a:off x="3461067" y="490971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S</a:t>
              </a:r>
            </a:p>
          </p:txBody>
        </p:sp>
        <p:sp>
          <p:nvSpPr>
            <p:cNvPr id="352" name="Oval 351"/>
            <p:cNvSpPr/>
            <p:nvPr/>
          </p:nvSpPr>
          <p:spPr>
            <a:xfrm>
              <a:off x="3108162" y="510737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E</a:t>
              </a:r>
            </a:p>
          </p:txBody>
        </p:sp>
        <p:sp>
          <p:nvSpPr>
            <p:cNvPr id="353" name="Oval 352"/>
            <p:cNvSpPr/>
            <p:nvPr/>
          </p:nvSpPr>
          <p:spPr>
            <a:xfrm>
              <a:off x="3343431" y="5107373"/>
              <a:ext cx="213970" cy="213970"/>
            </a:xfrm>
            <a:prstGeom prst="ellipse">
              <a:avLst/>
            </a:prstGeom>
            <a:solidFill>
              <a:srgbClr val="B9B622"/>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C</a:t>
              </a:r>
            </a:p>
          </p:txBody>
        </p:sp>
      </p:grpSp>
      <p:grpSp>
        <p:nvGrpSpPr>
          <p:cNvPr id="408" name="Group 407"/>
          <p:cNvGrpSpPr/>
          <p:nvPr/>
        </p:nvGrpSpPr>
        <p:grpSpPr>
          <a:xfrm>
            <a:off x="3003856" y="3887791"/>
            <a:ext cx="728319" cy="235297"/>
            <a:chOff x="2113132" y="4219076"/>
            <a:chExt cx="684835" cy="213185"/>
          </a:xfrm>
        </p:grpSpPr>
        <p:sp>
          <p:nvSpPr>
            <p:cNvPr id="409" name="Rounded Rectangle 408"/>
            <p:cNvSpPr/>
            <p:nvPr/>
          </p:nvSpPr>
          <p:spPr>
            <a:xfrm>
              <a:off x="2113132" y="4219076"/>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410" name="Isosceles Triangle 409"/>
            <p:cNvSpPr/>
            <p:nvPr/>
          </p:nvSpPr>
          <p:spPr>
            <a:xfrm>
              <a:off x="2537388" y="4322533"/>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184" name="Group 183"/>
          <p:cNvGrpSpPr/>
          <p:nvPr/>
        </p:nvGrpSpPr>
        <p:grpSpPr>
          <a:xfrm>
            <a:off x="2937534" y="2684713"/>
            <a:ext cx="852121" cy="378034"/>
            <a:chOff x="1344364" y="2348329"/>
            <a:chExt cx="768801" cy="347472"/>
          </a:xfrm>
        </p:grpSpPr>
        <p:graphicFrame>
          <p:nvGraphicFramePr>
            <p:cNvPr id="185" name="Chart 184"/>
            <p:cNvGraphicFramePr/>
            <p:nvPr/>
          </p:nvGraphicFramePr>
          <p:xfrm>
            <a:off x="1344364" y="2348329"/>
            <a:ext cx="362437" cy="347472"/>
          </p:xfrm>
          <a:graphic>
            <a:graphicData uri="http://schemas.openxmlformats.org/drawingml/2006/chart">
              <c:chart xmlns:c="http://schemas.openxmlformats.org/drawingml/2006/chart" xmlns:r="http://schemas.openxmlformats.org/officeDocument/2006/relationships" r:id="rId3"/>
            </a:graphicData>
          </a:graphic>
        </p:graphicFrame>
        <p:sp>
          <p:nvSpPr>
            <p:cNvPr id="186" name="TextBox 185"/>
            <p:cNvSpPr txBox="1"/>
            <p:nvPr/>
          </p:nvSpPr>
          <p:spPr>
            <a:xfrm>
              <a:off x="1650000" y="2443371"/>
              <a:ext cx="463165" cy="124180"/>
            </a:xfrm>
            <a:prstGeom prst="rect">
              <a:avLst/>
            </a:prstGeom>
            <a:noFill/>
          </p:spPr>
          <p:txBody>
            <a:bodyPr wrap="square" lIns="0" tIns="0" rIns="0" bIns="0" rtlCol="0">
              <a:spAutoFit/>
            </a:bodyPr>
            <a:lstStyle/>
            <a:p>
              <a:pPr algn="ctr">
                <a:defRPr/>
              </a:pPr>
              <a:r>
                <a:rPr lang="en-IN" sz="878" b="1" kern="0" dirty="0"/>
                <a:t>~xx%</a:t>
              </a:r>
            </a:p>
          </p:txBody>
        </p:sp>
      </p:grpSp>
      <p:sp>
        <p:nvSpPr>
          <p:cNvPr id="187" name="TextBox 186"/>
          <p:cNvSpPr txBox="1"/>
          <p:nvPr/>
        </p:nvSpPr>
        <p:spPr>
          <a:xfrm>
            <a:off x="229798" y="6205752"/>
            <a:ext cx="2290692" cy="153888"/>
          </a:xfrm>
          <a:prstGeom prst="rect">
            <a:avLst/>
          </a:prstGeom>
          <a:noFill/>
        </p:spPr>
        <p:txBody>
          <a:bodyPr wrap="none" lIns="0" tIns="0" rIns="0" bIns="0" rtlCol="0">
            <a:spAutoFit/>
          </a:bodyPr>
          <a:lstStyle/>
          <a:p>
            <a:pPr defTabSz="966537"/>
            <a:r>
              <a:rPr lang="en-US" sz="1000" dirty="0"/>
              <a:t>Source: TMR Analysis, 2024, Annual Reports</a:t>
            </a:r>
          </a:p>
        </p:txBody>
      </p:sp>
      <p:sp>
        <p:nvSpPr>
          <p:cNvPr id="188" name="Rectangle 187"/>
          <p:cNvSpPr/>
          <p:nvPr/>
        </p:nvSpPr>
        <p:spPr>
          <a:xfrm>
            <a:off x="4587728" y="1131966"/>
            <a:ext cx="210314" cy="227435"/>
          </a:xfrm>
          <a:prstGeom prst="rect">
            <a:avLst/>
          </a:prstGeom>
        </p:spPr>
        <p:txBody>
          <a:bodyPr wrap="none">
            <a:spAutoFit/>
          </a:bodyPr>
          <a:lstStyle/>
          <a:p>
            <a:r>
              <a:rPr lang="en-US" sz="878" b="1" dirty="0"/>
              <a:t> </a:t>
            </a:r>
            <a:endParaRPr lang="en-IN" sz="878" b="1" dirty="0"/>
          </a:p>
        </p:txBody>
      </p:sp>
      <p:sp>
        <p:nvSpPr>
          <p:cNvPr id="189" name="Rectangle 188"/>
          <p:cNvSpPr/>
          <p:nvPr/>
        </p:nvSpPr>
        <p:spPr>
          <a:xfrm>
            <a:off x="3884840" y="1132003"/>
            <a:ext cx="1082715" cy="546807"/>
          </a:xfrm>
          <a:prstGeom prst="rect">
            <a:avLst/>
          </a:prstGeom>
          <a:solidFill>
            <a:srgbClr val="F1B889"/>
          </a:solidFill>
          <a:ln w="12700" cap="flat" cmpd="sng" algn="ctr">
            <a:noFill/>
            <a:prstDash val="solid"/>
            <a:miter lim="800000"/>
          </a:ln>
          <a:effectLst>
            <a:outerShdw blurRad="50800" dist="38100" dir="5400000" algn="t" rotWithShape="0">
              <a:prstClr val="black">
                <a:alpha val="40000"/>
              </a:prstClr>
            </a:outerShdw>
          </a:effectLst>
        </p:spPr>
        <p:txBody>
          <a:bodyPr lIns="44577" rIns="44577" rtlCol="0" anchor="ctr"/>
          <a:lstStyle/>
          <a:p>
            <a:pPr algn="ctr" fontAlgn="b"/>
            <a:endParaRPr lang="en-US" sz="975" b="1" dirty="0"/>
          </a:p>
        </p:txBody>
      </p:sp>
      <p:sp>
        <p:nvSpPr>
          <p:cNvPr id="190" name="TextBox 189"/>
          <p:cNvSpPr txBox="1"/>
          <p:nvPr/>
        </p:nvSpPr>
        <p:spPr>
          <a:xfrm>
            <a:off x="3856883" y="2072431"/>
            <a:ext cx="1239992" cy="246221"/>
          </a:xfrm>
          <a:prstGeom prst="rect">
            <a:avLst/>
          </a:prstGeom>
          <a:noFill/>
        </p:spPr>
        <p:txBody>
          <a:bodyPr wrap="square" rtlCol="0" anchor="ctr">
            <a:spAutoFit/>
          </a:bodyPr>
          <a:lstStyle/>
          <a:p>
            <a:pPr lvl="0" algn="ctr">
              <a:defRPr/>
            </a:pPr>
            <a:r>
              <a:rPr lang="en-IN" sz="1000" b="1" kern="0" dirty="0"/>
              <a:t>US$</a:t>
            </a:r>
            <a:r>
              <a:rPr lang="en-US" sz="1000" b="1" dirty="0"/>
              <a:t> xx </a:t>
            </a:r>
            <a:r>
              <a:rPr lang="en-US" sz="1000" dirty="0"/>
              <a:t> </a:t>
            </a:r>
            <a:r>
              <a:rPr lang="en-IN" sz="1000" b="1" kern="0" dirty="0" err="1"/>
              <a:t>Mn</a:t>
            </a:r>
            <a:endParaRPr lang="en-IN" sz="1000" b="1" kern="0" dirty="0"/>
          </a:p>
        </p:txBody>
      </p:sp>
      <p:grpSp>
        <p:nvGrpSpPr>
          <p:cNvPr id="191" name="Group 190"/>
          <p:cNvGrpSpPr/>
          <p:nvPr/>
        </p:nvGrpSpPr>
        <p:grpSpPr>
          <a:xfrm>
            <a:off x="4059226" y="3355625"/>
            <a:ext cx="780327" cy="217492"/>
            <a:chOff x="4770673" y="4219068"/>
            <a:chExt cx="684835" cy="197054"/>
          </a:xfrm>
        </p:grpSpPr>
        <p:sp>
          <p:nvSpPr>
            <p:cNvPr id="192" name="Rounded Rectangle 191"/>
            <p:cNvSpPr/>
            <p:nvPr/>
          </p:nvSpPr>
          <p:spPr>
            <a:xfrm>
              <a:off x="4770673"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193" name="Isosceles Triangle 192"/>
            <p:cNvSpPr/>
            <p:nvPr/>
          </p:nvSpPr>
          <p:spPr>
            <a:xfrm>
              <a:off x="5217488" y="4306394"/>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194" name="Group 193"/>
          <p:cNvGrpSpPr/>
          <p:nvPr/>
        </p:nvGrpSpPr>
        <p:grpSpPr>
          <a:xfrm>
            <a:off x="4138820" y="4386896"/>
            <a:ext cx="621139" cy="257917"/>
            <a:chOff x="7198493" y="4174672"/>
            <a:chExt cx="621139" cy="257917"/>
          </a:xfrm>
        </p:grpSpPr>
        <p:sp>
          <p:nvSpPr>
            <p:cNvPr id="195" name="Right Arrow 194"/>
            <p:cNvSpPr/>
            <p:nvPr/>
          </p:nvSpPr>
          <p:spPr>
            <a:xfrm>
              <a:off x="7198493" y="4174672"/>
              <a:ext cx="302780" cy="257917"/>
            </a:xfrm>
            <a:prstGeom prst="rightArrow">
              <a:avLst/>
            </a:prstGeom>
            <a:solidFill>
              <a:srgbClr val="00B050"/>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H</a:t>
              </a:r>
            </a:p>
          </p:txBody>
        </p:sp>
        <p:sp>
          <p:nvSpPr>
            <p:cNvPr id="196" name="Right Arrow 195"/>
            <p:cNvSpPr/>
            <p:nvPr/>
          </p:nvSpPr>
          <p:spPr>
            <a:xfrm>
              <a:off x="7516852" y="4174672"/>
              <a:ext cx="302780" cy="257917"/>
            </a:xfrm>
            <a:prstGeom prst="rightArrow">
              <a:avLst/>
            </a:prstGeom>
            <a:solidFill>
              <a:srgbClr val="6CA755"/>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F</a:t>
              </a:r>
            </a:p>
          </p:txBody>
        </p:sp>
      </p:grpSp>
      <p:cxnSp>
        <p:nvCxnSpPr>
          <p:cNvPr id="197" name="Straight Connector 196"/>
          <p:cNvCxnSpPr/>
          <p:nvPr/>
        </p:nvCxnSpPr>
        <p:spPr>
          <a:xfrm>
            <a:off x="4437330" y="4335894"/>
            <a:ext cx="0" cy="327924"/>
          </a:xfrm>
          <a:prstGeom prst="line">
            <a:avLst/>
          </a:prstGeom>
          <a:noFill/>
          <a:ln w="6350" cap="flat" cmpd="sng" algn="ctr">
            <a:solidFill>
              <a:srgbClr val="5B9BD5"/>
            </a:solidFill>
            <a:prstDash val="dash"/>
            <a:miter lim="800000"/>
          </a:ln>
          <a:effectLst/>
        </p:spPr>
      </p:cxnSp>
      <p:sp>
        <p:nvSpPr>
          <p:cNvPr id="198" name="Rectangle 197"/>
          <p:cNvSpPr/>
          <p:nvPr/>
        </p:nvSpPr>
        <p:spPr>
          <a:xfrm>
            <a:off x="3789655" y="1306574"/>
            <a:ext cx="1383177" cy="307777"/>
          </a:xfrm>
          <a:prstGeom prst="rect">
            <a:avLst/>
          </a:prstGeom>
        </p:spPr>
        <p:txBody>
          <a:bodyPr wrap="square" anchor="ctr">
            <a:spAutoFit/>
          </a:bodyPr>
          <a:lstStyle/>
          <a:p>
            <a:pPr algn="ctr" fontAlgn="b"/>
            <a:r>
              <a:rPr lang="en-US" sz="1400" b="1" dirty="0" err="1"/>
              <a:t>CompanyC</a:t>
            </a:r>
            <a:endParaRPr lang="en-US" sz="1400" b="1" dirty="0"/>
          </a:p>
        </p:txBody>
      </p:sp>
      <p:grpSp>
        <p:nvGrpSpPr>
          <p:cNvPr id="199" name="Group 198"/>
          <p:cNvGrpSpPr/>
          <p:nvPr/>
        </p:nvGrpSpPr>
        <p:grpSpPr>
          <a:xfrm>
            <a:off x="4107134" y="4946950"/>
            <a:ext cx="684511" cy="411630"/>
            <a:chOff x="5720122" y="4897173"/>
            <a:chExt cx="684511" cy="411630"/>
          </a:xfrm>
        </p:grpSpPr>
        <p:sp>
          <p:nvSpPr>
            <p:cNvPr id="200" name="Oval 199"/>
            <p:cNvSpPr/>
            <p:nvPr/>
          </p:nvSpPr>
          <p:spPr>
            <a:xfrm>
              <a:off x="5720122" y="4897173"/>
              <a:ext cx="213970" cy="213970"/>
            </a:xfrm>
            <a:prstGeom prst="ellipse">
              <a:avLst/>
            </a:prstGeom>
            <a:solidFill>
              <a:srgbClr val="94B135"/>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C</a:t>
              </a:r>
            </a:p>
          </p:txBody>
        </p:sp>
        <p:sp>
          <p:nvSpPr>
            <p:cNvPr id="201" name="Oval 200"/>
            <p:cNvSpPr/>
            <p:nvPr/>
          </p:nvSpPr>
          <p:spPr>
            <a:xfrm>
              <a:off x="5955392" y="4897173"/>
              <a:ext cx="213970" cy="213970"/>
            </a:xfrm>
            <a:prstGeom prst="ellipse">
              <a:avLst/>
            </a:prstGeom>
            <a:solidFill>
              <a:srgbClr val="A6B42B"/>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B</a:t>
              </a:r>
            </a:p>
          </p:txBody>
        </p:sp>
        <p:sp>
          <p:nvSpPr>
            <p:cNvPr id="202" name="Oval 201"/>
            <p:cNvSpPr/>
            <p:nvPr/>
          </p:nvSpPr>
          <p:spPr>
            <a:xfrm>
              <a:off x="6190663" y="489717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S</a:t>
              </a:r>
            </a:p>
          </p:txBody>
        </p:sp>
        <p:sp>
          <p:nvSpPr>
            <p:cNvPr id="203" name="Oval 202"/>
            <p:cNvSpPr/>
            <p:nvPr/>
          </p:nvSpPr>
          <p:spPr>
            <a:xfrm>
              <a:off x="5837758" y="5094833"/>
              <a:ext cx="213970" cy="213970"/>
            </a:xfrm>
            <a:prstGeom prst="ellipse">
              <a:avLst/>
            </a:prstGeom>
            <a:solidFill>
              <a:srgbClr val="7DAE40"/>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E</a:t>
              </a:r>
            </a:p>
          </p:txBody>
        </p:sp>
        <p:sp>
          <p:nvSpPr>
            <p:cNvPr id="204" name="Oval 203"/>
            <p:cNvSpPr/>
            <p:nvPr/>
          </p:nvSpPr>
          <p:spPr>
            <a:xfrm>
              <a:off x="6073027" y="509483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R</a:t>
              </a:r>
            </a:p>
          </p:txBody>
        </p:sp>
      </p:grpSp>
      <p:grpSp>
        <p:nvGrpSpPr>
          <p:cNvPr id="205" name="Group 204"/>
          <p:cNvGrpSpPr/>
          <p:nvPr/>
        </p:nvGrpSpPr>
        <p:grpSpPr>
          <a:xfrm>
            <a:off x="4059226" y="3875254"/>
            <a:ext cx="780327" cy="209505"/>
            <a:chOff x="4759370" y="4219068"/>
            <a:chExt cx="684835" cy="189818"/>
          </a:xfrm>
        </p:grpSpPr>
        <p:sp>
          <p:nvSpPr>
            <p:cNvPr id="206" name="Rounded Rectangle 205"/>
            <p:cNvSpPr/>
            <p:nvPr/>
          </p:nvSpPr>
          <p:spPr>
            <a:xfrm>
              <a:off x="4759370"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207" name="Isosceles Triangle 206"/>
            <p:cNvSpPr/>
            <p:nvPr/>
          </p:nvSpPr>
          <p:spPr>
            <a:xfrm>
              <a:off x="5279974" y="4299158"/>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208" name="Group 207"/>
          <p:cNvGrpSpPr/>
          <p:nvPr/>
        </p:nvGrpSpPr>
        <p:grpSpPr>
          <a:xfrm>
            <a:off x="4059766" y="2675454"/>
            <a:ext cx="729554" cy="378034"/>
            <a:chOff x="1344364" y="2348329"/>
            <a:chExt cx="640277" cy="347472"/>
          </a:xfrm>
        </p:grpSpPr>
        <p:graphicFrame>
          <p:nvGraphicFramePr>
            <p:cNvPr id="209" name="Chart 208"/>
            <p:cNvGraphicFramePr/>
            <p:nvPr/>
          </p:nvGraphicFramePr>
          <p:xfrm>
            <a:off x="1344364" y="2348329"/>
            <a:ext cx="362437" cy="347472"/>
          </p:xfrm>
          <a:graphic>
            <a:graphicData uri="http://schemas.openxmlformats.org/drawingml/2006/chart">
              <c:chart xmlns:c="http://schemas.openxmlformats.org/drawingml/2006/chart" xmlns:r="http://schemas.openxmlformats.org/officeDocument/2006/relationships" r:id="rId4"/>
            </a:graphicData>
          </a:graphic>
        </p:graphicFrame>
        <p:sp>
          <p:nvSpPr>
            <p:cNvPr id="210" name="TextBox 209"/>
            <p:cNvSpPr txBox="1"/>
            <p:nvPr/>
          </p:nvSpPr>
          <p:spPr>
            <a:xfrm>
              <a:off x="1773614" y="2443370"/>
              <a:ext cx="211027" cy="124180"/>
            </a:xfrm>
            <a:prstGeom prst="rect">
              <a:avLst/>
            </a:prstGeom>
            <a:noFill/>
          </p:spPr>
          <p:txBody>
            <a:bodyPr wrap="none" lIns="0" tIns="0" rIns="0" bIns="0" rtlCol="0">
              <a:spAutoFit/>
            </a:bodyPr>
            <a:lstStyle/>
            <a:p>
              <a:pPr algn="ctr">
                <a:defRPr/>
              </a:pPr>
              <a:r>
                <a:rPr lang="en-IN" sz="878" b="1" kern="0" dirty="0"/>
                <a:t>~xx%</a:t>
              </a:r>
            </a:p>
          </p:txBody>
        </p:sp>
      </p:grpSp>
      <p:sp>
        <p:nvSpPr>
          <p:cNvPr id="460" name="Rectangle 459"/>
          <p:cNvSpPr/>
          <p:nvPr/>
        </p:nvSpPr>
        <p:spPr>
          <a:xfrm>
            <a:off x="5057220" y="1136518"/>
            <a:ext cx="1019362" cy="538982"/>
          </a:xfrm>
          <a:prstGeom prst="rect">
            <a:avLst/>
          </a:prstGeom>
          <a:solidFill>
            <a:schemeClr val="accent1">
              <a:lumMod val="40000"/>
              <a:lumOff val="60000"/>
            </a:schemeClr>
          </a:solidFill>
          <a:ln w="12700" cap="flat" cmpd="sng" algn="ctr">
            <a:noFill/>
            <a:prstDash val="solid"/>
            <a:miter lim="800000"/>
          </a:ln>
          <a:effectLst>
            <a:outerShdw blurRad="50800" dist="38100" dir="5400000" algn="t" rotWithShape="0">
              <a:prstClr val="black">
                <a:alpha val="40000"/>
              </a:prstClr>
            </a:outerShdw>
          </a:effectLst>
        </p:spPr>
        <p:txBody>
          <a:bodyPr lIns="44577" rIns="44577" rtlCol="0" anchor="ctr"/>
          <a:lstStyle/>
          <a:p>
            <a:pPr lvl="0" algn="ctr">
              <a:defRPr/>
            </a:pPr>
            <a:endParaRPr lang="en-IN" sz="975" b="1" kern="0" dirty="0"/>
          </a:p>
        </p:txBody>
      </p:sp>
      <p:sp>
        <p:nvSpPr>
          <p:cNvPr id="461" name="TextBox 460"/>
          <p:cNvSpPr txBox="1"/>
          <p:nvPr/>
        </p:nvSpPr>
        <p:spPr>
          <a:xfrm>
            <a:off x="5057547" y="2092643"/>
            <a:ext cx="1144077" cy="253916"/>
          </a:xfrm>
          <a:prstGeom prst="rect">
            <a:avLst/>
          </a:prstGeom>
          <a:noFill/>
        </p:spPr>
        <p:txBody>
          <a:bodyPr wrap="square" rtlCol="0" anchor="ctr">
            <a:spAutoFit/>
          </a:bodyPr>
          <a:lstStyle/>
          <a:p>
            <a:pPr lvl="0" algn="ctr">
              <a:defRPr/>
            </a:pPr>
            <a:r>
              <a:rPr lang="en-IN" sz="1050" b="1" kern="0" dirty="0"/>
              <a:t>US$ </a:t>
            </a:r>
            <a:r>
              <a:rPr lang="en-US" sz="1050" b="1" dirty="0"/>
              <a:t>xx </a:t>
            </a:r>
            <a:r>
              <a:rPr lang="en-US" sz="1050" dirty="0"/>
              <a:t> </a:t>
            </a:r>
            <a:r>
              <a:rPr lang="en-IN" sz="1050" b="1" kern="0" dirty="0" err="1"/>
              <a:t>Mn</a:t>
            </a:r>
            <a:endParaRPr lang="en-IN" sz="1050" b="1" kern="0" dirty="0"/>
          </a:p>
        </p:txBody>
      </p:sp>
      <p:grpSp>
        <p:nvGrpSpPr>
          <p:cNvPr id="462" name="Group 461"/>
          <p:cNvGrpSpPr/>
          <p:nvPr/>
        </p:nvGrpSpPr>
        <p:grpSpPr>
          <a:xfrm>
            <a:off x="5349528" y="3313690"/>
            <a:ext cx="677809" cy="183301"/>
            <a:chOff x="1227285" y="4219068"/>
            <a:chExt cx="684835" cy="218526"/>
          </a:xfrm>
        </p:grpSpPr>
        <p:sp>
          <p:nvSpPr>
            <p:cNvPr id="463" name="Rounded Rectangle 462"/>
            <p:cNvSpPr/>
            <p:nvPr/>
          </p:nvSpPr>
          <p:spPr>
            <a:xfrm>
              <a:off x="1227285"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464" name="Isosceles Triangle 463"/>
            <p:cNvSpPr/>
            <p:nvPr/>
          </p:nvSpPr>
          <p:spPr>
            <a:xfrm>
              <a:off x="1684347" y="4327866"/>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465" name="Group 464"/>
          <p:cNvGrpSpPr/>
          <p:nvPr/>
        </p:nvGrpSpPr>
        <p:grpSpPr>
          <a:xfrm>
            <a:off x="5283206" y="2654419"/>
            <a:ext cx="793026" cy="287298"/>
            <a:chOff x="1344364" y="2348329"/>
            <a:chExt cx="768801" cy="347472"/>
          </a:xfrm>
        </p:grpSpPr>
        <p:graphicFrame>
          <p:nvGraphicFramePr>
            <p:cNvPr id="466" name="Chart 465"/>
            <p:cNvGraphicFramePr/>
            <p:nvPr/>
          </p:nvGraphicFramePr>
          <p:xfrm>
            <a:off x="1344364" y="2348329"/>
            <a:ext cx="362437" cy="347472"/>
          </p:xfrm>
          <a:graphic>
            <a:graphicData uri="http://schemas.openxmlformats.org/drawingml/2006/chart">
              <c:chart xmlns:c="http://schemas.openxmlformats.org/drawingml/2006/chart" xmlns:r="http://schemas.openxmlformats.org/officeDocument/2006/relationships" r:id="rId5"/>
            </a:graphicData>
          </a:graphic>
        </p:graphicFrame>
        <p:sp>
          <p:nvSpPr>
            <p:cNvPr id="467" name="TextBox 466"/>
            <p:cNvSpPr txBox="1"/>
            <p:nvPr/>
          </p:nvSpPr>
          <p:spPr>
            <a:xfrm>
              <a:off x="1650000" y="2443371"/>
              <a:ext cx="463165" cy="124180"/>
            </a:xfrm>
            <a:prstGeom prst="rect">
              <a:avLst/>
            </a:prstGeom>
            <a:noFill/>
          </p:spPr>
          <p:txBody>
            <a:bodyPr wrap="square" lIns="0" tIns="0" rIns="0" bIns="0" rtlCol="0">
              <a:spAutoFit/>
            </a:bodyPr>
            <a:lstStyle/>
            <a:p>
              <a:pPr algn="ctr">
                <a:defRPr/>
              </a:pPr>
              <a:r>
                <a:rPr lang="en-IN" sz="878" b="1" kern="0" dirty="0"/>
                <a:t>~xx%</a:t>
              </a:r>
            </a:p>
          </p:txBody>
        </p:sp>
      </p:grpSp>
      <p:grpSp>
        <p:nvGrpSpPr>
          <p:cNvPr id="468" name="Group 467"/>
          <p:cNvGrpSpPr/>
          <p:nvPr/>
        </p:nvGrpSpPr>
        <p:grpSpPr>
          <a:xfrm>
            <a:off x="5429122" y="4358548"/>
            <a:ext cx="539535" cy="249215"/>
            <a:chOff x="2926414" y="4139668"/>
            <a:chExt cx="621139" cy="327924"/>
          </a:xfrm>
        </p:grpSpPr>
        <p:sp>
          <p:nvSpPr>
            <p:cNvPr id="469" name="Right Arrow 468"/>
            <p:cNvSpPr/>
            <p:nvPr/>
          </p:nvSpPr>
          <p:spPr>
            <a:xfrm>
              <a:off x="2926414" y="4174672"/>
              <a:ext cx="302780" cy="257917"/>
            </a:xfrm>
            <a:prstGeom prst="rightArrow">
              <a:avLst/>
            </a:prstGeom>
            <a:solidFill>
              <a:srgbClr val="00B050"/>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H</a:t>
              </a:r>
            </a:p>
          </p:txBody>
        </p:sp>
        <p:sp>
          <p:nvSpPr>
            <p:cNvPr id="470" name="Right Arrow 469"/>
            <p:cNvSpPr/>
            <p:nvPr/>
          </p:nvSpPr>
          <p:spPr>
            <a:xfrm>
              <a:off x="3244773" y="4174672"/>
              <a:ext cx="302780" cy="257917"/>
            </a:xfrm>
            <a:prstGeom prst="rightArrow">
              <a:avLst/>
            </a:prstGeom>
            <a:solidFill>
              <a:srgbClr val="6CA755"/>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F</a:t>
              </a:r>
            </a:p>
          </p:txBody>
        </p:sp>
        <p:cxnSp>
          <p:nvCxnSpPr>
            <p:cNvPr id="471" name="Straight Connector 470"/>
            <p:cNvCxnSpPr/>
            <p:nvPr/>
          </p:nvCxnSpPr>
          <p:spPr>
            <a:xfrm>
              <a:off x="3236984" y="4139668"/>
              <a:ext cx="0" cy="327924"/>
            </a:xfrm>
            <a:prstGeom prst="line">
              <a:avLst/>
            </a:prstGeom>
            <a:noFill/>
            <a:ln w="6350" cap="flat" cmpd="sng" algn="ctr">
              <a:solidFill>
                <a:srgbClr val="5B9BD5"/>
              </a:solidFill>
              <a:prstDash val="dash"/>
              <a:miter lim="800000"/>
            </a:ln>
            <a:effectLst/>
          </p:spPr>
        </p:cxnSp>
      </p:grpSp>
      <p:sp>
        <p:nvSpPr>
          <p:cNvPr id="472" name="Rectangle 471"/>
          <p:cNvSpPr/>
          <p:nvPr/>
        </p:nvSpPr>
        <p:spPr>
          <a:xfrm>
            <a:off x="4945319" y="1305509"/>
            <a:ext cx="1185621" cy="307777"/>
          </a:xfrm>
          <a:prstGeom prst="rect">
            <a:avLst/>
          </a:prstGeom>
        </p:spPr>
        <p:txBody>
          <a:bodyPr wrap="square" anchor="ctr">
            <a:spAutoFit/>
          </a:bodyPr>
          <a:lstStyle/>
          <a:p>
            <a:pPr algn="ctr" fontAlgn="b"/>
            <a:r>
              <a:rPr lang="en-IN" sz="1400" b="1" dirty="0" err="1"/>
              <a:t>CompanyD</a:t>
            </a:r>
            <a:endParaRPr lang="en-IN" sz="1400" b="1" dirty="0"/>
          </a:p>
        </p:txBody>
      </p:sp>
      <p:grpSp>
        <p:nvGrpSpPr>
          <p:cNvPr id="473" name="Group 472"/>
          <p:cNvGrpSpPr/>
          <p:nvPr/>
        </p:nvGrpSpPr>
        <p:grpSpPr>
          <a:xfrm>
            <a:off x="5397436" y="4967708"/>
            <a:ext cx="594581" cy="312830"/>
            <a:chOff x="1749216" y="4920163"/>
            <a:chExt cx="684511" cy="411630"/>
          </a:xfrm>
        </p:grpSpPr>
        <p:sp>
          <p:nvSpPr>
            <p:cNvPr id="474" name="Oval 473"/>
            <p:cNvSpPr/>
            <p:nvPr/>
          </p:nvSpPr>
          <p:spPr>
            <a:xfrm>
              <a:off x="1749216" y="4920163"/>
              <a:ext cx="213970" cy="213970"/>
            </a:xfrm>
            <a:prstGeom prst="ellipse">
              <a:avLst/>
            </a:prstGeom>
            <a:solidFill>
              <a:srgbClr val="6CA755"/>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E</a:t>
              </a:r>
            </a:p>
          </p:txBody>
        </p:sp>
        <p:sp>
          <p:nvSpPr>
            <p:cNvPr id="475" name="Oval 474"/>
            <p:cNvSpPr/>
            <p:nvPr/>
          </p:nvSpPr>
          <p:spPr>
            <a:xfrm>
              <a:off x="1984486" y="492016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B</a:t>
              </a:r>
            </a:p>
          </p:txBody>
        </p:sp>
        <p:sp>
          <p:nvSpPr>
            <p:cNvPr id="476" name="Oval 475"/>
            <p:cNvSpPr/>
            <p:nvPr/>
          </p:nvSpPr>
          <p:spPr>
            <a:xfrm>
              <a:off x="2219757" y="492016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S</a:t>
              </a:r>
            </a:p>
          </p:txBody>
        </p:sp>
        <p:sp>
          <p:nvSpPr>
            <p:cNvPr id="477" name="Oval 476"/>
            <p:cNvSpPr/>
            <p:nvPr/>
          </p:nvSpPr>
          <p:spPr>
            <a:xfrm>
              <a:off x="1866852" y="511782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R</a:t>
              </a:r>
            </a:p>
          </p:txBody>
        </p:sp>
        <p:sp>
          <p:nvSpPr>
            <p:cNvPr id="478" name="Oval 477"/>
            <p:cNvSpPr/>
            <p:nvPr/>
          </p:nvSpPr>
          <p:spPr>
            <a:xfrm>
              <a:off x="2102121" y="511782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C</a:t>
              </a:r>
            </a:p>
          </p:txBody>
        </p:sp>
      </p:grpSp>
      <p:grpSp>
        <p:nvGrpSpPr>
          <p:cNvPr id="479" name="Group 478"/>
          <p:cNvGrpSpPr/>
          <p:nvPr/>
        </p:nvGrpSpPr>
        <p:grpSpPr>
          <a:xfrm>
            <a:off x="5349525" y="3836119"/>
            <a:ext cx="677808" cy="183301"/>
            <a:chOff x="1227285" y="4219068"/>
            <a:chExt cx="684835" cy="218526"/>
          </a:xfrm>
        </p:grpSpPr>
        <p:sp>
          <p:nvSpPr>
            <p:cNvPr id="480" name="Rounded Rectangle 479"/>
            <p:cNvSpPr/>
            <p:nvPr/>
          </p:nvSpPr>
          <p:spPr>
            <a:xfrm>
              <a:off x="1227285"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481" name="Isosceles Triangle 480"/>
            <p:cNvSpPr/>
            <p:nvPr/>
          </p:nvSpPr>
          <p:spPr>
            <a:xfrm>
              <a:off x="1671193" y="4327866"/>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sp>
        <p:nvSpPr>
          <p:cNvPr id="482" name="Rectangle 481"/>
          <p:cNvSpPr/>
          <p:nvPr/>
        </p:nvSpPr>
        <p:spPr>
          <a:xfrm>
            <a:off x="6142837" y="1149486"/>
            <a:ext cx="1083814" cy="530683"/>
          </a:xfrm>
          <a:prstGeom prst="rect">
            <a:avLst/>
          </a:prstGeom>
          <a:solidFill>
            <a:schemeClr val="accent6">
              <a:lumMod val="40000"/>
              <a:lumOff val="60000"/>
            </a:schemeClr>
          </a:solidFill>
          <a:ln w="12700" cap="flat" cmpd="sng" algn="ctr">
            <a:noFill/>
            <a:prstDash val="solid"/>
            <a:miter lim="800000"/>
          </a:ln>
          <a:effectLst>
            <a:outerShdw blurRad="50800" dist="38100" dir="5400000" algn="t" rotWithShape="0">
              <a:prstClr val="black">
                <a:alpha val="40000"/>
              </a:prstClr>
            </a:outerShdw>
          </a:effectLst>
        </p:spPr>
        <p:txBody>
          <a:bodyPr lIns="44577" rIns="44577" rtlCol="0" anchor="ctr"/>
          <a:lstStyle/>
          <a:p>
            <a:pPr algn="ctr" fontAlgn="b"/>
            <a:endParaRPr lang="en-US" sz="975" b="1" dirty="0"/>
          </a:p>
        </p:txBody>
      </p:sp>
      <p:sp>
        <p:nvSpPr>
          <p:cNvPr id="483" name="TextBox 482"/>
          <p:cNvSpPr txBox="1"/>
          <p:nvPr/>
        </p:nvSpPr>
        <p:spPr>
          <a:xfrm>
            <a:off x="6105378" y="2092343"/>
            <a:ext cx="1352910" cy="253916"/>
          </a:xfrm>
          <a:prstGeom prst="rect">
            <a:avLst/>
          </a:prstGeom>
          <a:noFill/>
        </p:spPr>
        <p:txBody>
          <a:bodyPr wrap="square" rtlCol="0" anchor="ctr">
            <a:spAutoFit/>
          </a:bodyPr>
          <a:lstStyle/>
          <a:p>
            <a:pPr lvl="0" algn="ctr">
              <a:defRPr/>
            </a:pPr>
            <a:r>
              <a:rPr lang="en-IN" sz="1050" b="1" kern="0" dirty="0"/>
              <a:t>US$</a:t>
            </a:r>
            <a:r>
              <a:rPr lang="en-US" sz="1050" b="1" dirty="0"/>
              <a:t> xx</a:t>
            </a:r>
            <a:r>
              <a:rPr lang="en-US" sz="1050" dirty="0"/>
              <a:t> </a:t>
            </a:r>
            <a:r>
              <a:rPr lang="en-IN" sz="1050" b="1" kern="0" dirty="0" err="1"/>
              <a:t>Mn</a:t>
            </a:r>
            <a:endParaRPr lang="en-IN" sz="1050" b="1" kern="0" dirty="0"/>
          </a:p>
        </p:txBody>
      </p:sp>
      <p:grpSp>
        <p:nvGrpSpPr>
          <p:cNvPr id="484" name="Group 483"/>
          <p:cNvGrpSpPr/>
          <p:nvPr/>
        </p:nvGrpSpPr>
        <p:grpSpPr>
          <a:xfrm>
            <a:off x="6434874" y="3367548"/>
            <a:ext cx="728319" cy="235306"/>
            <a:chOff x="2113132" y="4219068"/>
            <a:chExt cx="684835" cy="213193"/>
          </a:xfrm>
        </p:grpSpPr>
        <p:sp>
          <p:nvSpPr>
            <p:cNvPr id="485" name="Rounded Rectangle 484"/>
            <p:cNvSpPr/>
            <p:nvPr/>
          </p:nvSpPr>
          <p:spPr>
            <a:xfrm>
              <a:off x="2113132"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486" name="Isosceles Triangle 485"/>
            <p:cNvSpPr/>
            <p:nvPr/>
          </p:nvSpPr>
          <p:spPr>
            <a:xfrm>
              <a:off x="2436853" y="4322533"/>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487" name="Group 486"/>
          <p:cNvGrpSpPr/>
          <p:nvPr/>
        </p:nvGrpSpPr>
        <p:grpSpPr>
          <a:xfrm>
            <a:off x="6514468" y="4427889"/>
            <a:ext cx="579740" cy="257917"/>
            <a:chOff x="4297574" y="4174672"/>
            <a:chExt cx="621139" cy="257917"/>
          </a:xfrm>
        </p:grpSpPr>
        <p:sp>
          <p:nvSpPr>
            <p:cNvPr id="488" name="Right Arrow 487"/>
            <p:cNvSpPr/>
            <p:nvPr/>
          </p:nvSpPr>
          <p:spPr>
            <a:xfrm>
              <a:off x="4297574" y="4174672"/>
              <a:ext cx="302780" cy="257917"/>
            </a:xfrm>
            <a:prstGeom prst="rightArrow">
              <a:avLst/>
            </a:prstGeom>
            <a:solidFill>
              <a:srgbClr val="00B050"/>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H</a:t>
              </a:r>
            </a:p>
          </p:txBody>
        </p:sp>
        <p:sp>
          <p:nvSpPr>
            <p:cNvPr id="489" name="Right Arrow 488"/>
            <p:cNvSpPr/>
            <p:nvPr/>
          </p:nvSpPr>
          <p:spPr>
            <a:xfrm>
              <a:off x="4615933" y="4174672"/>
              <a:ext cx="302780" cy="257917"/>
            </a:xfrm>
            <a:prstGeom prst="rightArrow">
              <a:avLst/>
            </a:prstGeom>
            <a:solidFill>
              <a:srgbClr val="6CA755"/>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F</a:t>
              </a:r>
            </a:p>
          </p:txBody>
        </p:sp>
      </p:grpSp>
      <p:cxnSp>
        <p:nvCxnSpPr>
          <p:cNvPr id="490" name="Straight Connector 489"/>
          <p:cNvCxnSpPr/>
          <p:nvPr/>
        </p:nvCxnSpPr>
        <p:spPr>
          <a:xfrm>
            <a:off x="6814388" y="4369621"/>
            <a:ext cx="0" cy="327924"/>
          </a:xfrm>
          <a:prstGeom prst="line">
            <a:avLst/>
          </a:prstGeom>
          <a:noFill/>
          <a:ln w="6350" cap="flat" cmpd="sng" algn="ctr">
            <a:solidFill>
              <a:srgbClr val="5B9BD5"/>
            </a:solidFill>
            <a:prstDash val="dash"/>
            <a:miter lim="800000"/>
          </a:ln>
          <a:effectLst/>
        </p:spPr>
      </p:cxnSp>
      <p:sp>
        <p:nvSpPr>
          <p:cNvPr id="491" name="Rectangle 490"/>
          <p:cNvSpPr/>
          <p:nvPr/>
        </p:nvSpPr>
        <p:spPr>
          <a:xfrm>
            <a:off x="6089765" y="1323066"/>
            <a:ext cx="1220941" cy="307777"/>
          </a:xfrm>
          <a:prstGeom prst="rect">
            <a:avLst/>
          </a:prstGeom>
        </p:spPr>
        <p:txBody>
          <a:bodyPr wrap="square">
            <a:spAutoFit/>
          </a:bodyPr>
          <a:lstStyle/>
          <a:p>
            <a:pPr algn="ctr" fontAlgn="b"/>
            <a:r>
              <a:rPr lang="en-IN" sz="1400" b="1" dirty="0" err="1"/>
              <a:t>CompanyE</a:t>
            </a:r>
            <a:endParaRPr lang="en-IN" sz="1400" b="1" dirty="0"/>
          </a:p>
        </p:txBody>
      </p:sp>
      <p:grpSp>
        <p:nvGrpSpPr>
          <p:cNvPr id="492" name="Group 491"/>
          <p:cNvGrpSpPr/>
          <p:nvPr/>
        </p:nvGrpSpPr>
        <p:grpSpPr>
          <a:xfrm>
            <a:off x="6482782" y="4980677"/>
            <a:ext cx="638889" cy="411630"/>
            <a:chOff x="2990526" y="4909713"/>
            <a:chExt cx="684511" cy="411630"/>
          </a:xfrm>
        </p:grpSpPr>
        <p:sp>
          <p:nvSpPr>
            <p:cNvPr id="493" name="Oval 492"/>
            <p:cNvSpPr/>
            <p:nvPr/>
          </p:nvSpPr>
          <p:spPr>
            <a:xfrm>
              <a:off x="2990526" y="4909713"/>
              <a:ext cx="213970" cy="213970"/>
            </a:xfrm>
            <a:prstGeom prst="ellipse">
              <a:avLst/>
            </a:prstGeom>
            <a:solidFill>
              <a:srgbClr val="6CA755"/>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R</a:t>
              </a:r>
            </a:p>
          </p:txBody>
        </p:sp>
        <p:sp>
          <p:nvSpPr>
            <p:cNvPr id="494" name="Oval 493"/>
            <p:cNvSpPr/>
            <p:nvPr/>
          </p:nvSpPr>
          <p:spPr>
            <a:xfrm>
              <a:off x="3225796" y="4909713"/>
              <a:ext cx="213970" cy="213970"/>
            </a:xfrm>
            <a:prstGeom prst="ellipse">
              <a:avLst/>
            </a:prstGeom>
            <a:solidFill>
              <a:srgbClr val="78AE42"/>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B</a:t>
              </a:r>
            </a:p>
          </p:txBody>
        </p:sp>
        <p:sp>
          <p:nvSpPr>
            <p:cNvPr id="495" name="Oval 494"/>
            <p:cNvSpPr/>
            <p:nvPr/>
          </p:nvSpPr>
          <p:spPr>
            <a:xfrm>
              <a:off x="3461067" y="490971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S</a:t>
              </a:r>
            </a:p>
          </p:txBody>
        </p:sp>
        <p:sp>
          <p:nvSpPr>
            <p:cNvPr id="496" name="Oval 495"/>
            <p:cNvSpPr/>
            <p:nvPr/>
          </p:nvSpPr>
          <p:spPr>
            <a:xfrm>
              <a:off x="3108162" y="510737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E</a:t>
              </a:r>
            </a:p>
          </p:txBody>
        </p:sp>
        <p:sp>
          <p:nvSpPr>
            <p:cNvPr id="497" name="Oval 496"/>
            <p:cNvSpPr/>
            <p:nvPr/>
          </p:nvSpPr>
          <p:spPr>
            <a:xfrm>
              <a:off x="3343431" y="5107373"/>
              <a:ext cx="213970" cy="213970"/>
            </a:xfrm>
            <a:prstGeom prst="ellipse">
              <a:avLst/>
            </a:prstGeom>
            <a:solidFill>
              <a:srgbClr val="B9B622"/>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C</a:t>
              </a:r>
            </a:p>
          </p:txBody>
        </p:sp>
      </p:grpSp>
      <p:grpSp>
        <p:nvGrpSpPr>
          <p:cNvPr id="498" name="Group 497"/>
          <p:cNvGrpSpPr/>
          <p:nvPr/>
        </p:nvGrpSpPr>
        <p:grpSpPr>
          <a:xfrm>
            <a:off x="6434874" y="3897723"/>
            <a:ext cx="728319" cy="235297"/>
            <a:chOff x="2113132" y="4219076"/>
            <a:chExt cx="684835" cy="213185"/>
          </a:xfrm>
        </p:grpSpPr>
        <p:sp>
          <p:nvSpPr>
            <p:cNvPr id="499" name="Rounded Rectangle 498"/>
            <p:cNvSpPr/>
            <p:nvPr/>
          </p:nvSpPr>
          <p:spPr>
            <a:xfrm>
              <a:off x="2113132" y="4219076"/>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500" name="Isosceles Triangle 499"/>
            <p:cNvSpPr/>
            <p:nvPr/>
          </p:nvSpPr>
          <p:spPr>
            <a:xfrm>
              <a:off x="2537388" y="4322533"/>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501" name="Group 500"/>
          <p:cNvGrpSpPr/>
          <p:nvPr/>
        </p:nvGrpSpPr>
        <p:grpSpPr>
          <a:xfrm>
            <a:off x="6368552" y="2694645"/>
            <a:ext cx="852121" cy="378034"/>
            <a:chOff x="1344364" y="2348329"/>
            <a:chExt cx="768801" cy="347472"/>
          </a:xfrm>
        </p:grpSpPr>
        <p:graphicFrame>
          <p:nvGraphicFramePr>
            <p:cNvPr id="502" name="Chart 501"/>
            <p:cNvGraphicFramePr/>
            <p:nvPr/>
          </p:nvGraphicFramePr>
          <p:xfrm>
            <a:off x="1344364" y="2348329"/>
            <a:ext cx="362437" cy="347472"/>
          </p:xfrm>
          <a:graphic>
            <a:graphicData uri="http://schemas.openxmlformats.org/drawingml/2006/chart">
              <c:chart xmlns:c="http://schemas.openxmlformats.org/drawingml/2006/chart" xmlns:r="http://schemas.openxmlformats.org/officeDocument/2006/relationships" r:id="rId6"/>
            </a:graphicData>
          </a:graphic>
        </p:graphicFrame>
        <p:sp>
          <p:nvSpPr>
            <p:cNvPr id="503" name="TextBox 502"/>
            <p:cNvSpPr txBox="1"/>
            <p:nvPr/>
          </p:nvSpPr>
          <p:spPr>
            <a:xfrm>
              <a:off x="1650000" y="2443371"/>
              <a:ext cx="463165" cy="124180"/>
            </a:xfrm>
            <a:prstGeom prst="rect">
              <a:avLst/>
            </a:prstGeom>
            <a:noFill/>
          </p:spPr>
          <p:txBody>
            <a:bodyPr wrap="square" lIns="0" tIns="0" rIns="0" bIns="0" rtlCol="0">
              <a:spAutoFit/>
            </a:bodyPr>
            <a:lstStyle/>
            <a:p>
              <a:pPr algn="ctr">
                <a:defRPr/>
              </a:pPr>
              <a:r>
                <a:rPr lang="en-IN" sz="878" b="1" kern="0" dirty="0"/>
                <a:t>~xx%</a:t>
              </a:r>
            </a:p>
          </p:txBody>
        </p:sp>
      </p:grpSp>
      <p:sp>
        <p:nvSpPr>
          <p:cNvPr id="504" name="Rectangle 503"/>
          <p:cNvSpPr/>
          <p:nvPr/>
        </p:nvSpPr>
        <p:spPr>
          <a:xfrm>
            <a:off x="8018746" y="1141898"/>
            <a:ext cx="210314" cy="227435"/>
          </a:xfrm>
          <a:prstGeom prst="rect">
            <a:avLst/>
          </a:prstGeom>
        </p:spPr>
        <p:txBody>
          <a:bodyPr wrap="none">
            <a:spAutoFit/>
          </a:bodyPr>
          <a:lstStyle/>
          <a:p>
            <a:r>
              <a:rPr lang="en-US" sz="878" b="1" dirty="0"/>
              <a:t> </a:t>
            </a:r>
            <a:endParaRPr lang="en-IN" sz="878" b="1" dirty="0"/>
          </a:p>
        </p:txBody>
      </p:sp>
      <p:sp>
        <p:nvSpPr>
          <p:cNvPr id="505" name="Rectangle 504"/>
          <p:cNvSpPr/>
          <p:nvPr/>
        </p:nvSpPr>
        <p:spPr>
          <a:xfrm>
            <a:off x="7315858" y="1141935"/>
            <a:ext cx="1082715" cy="546807"/>
          </a:xfrm>
          <a:prstGeom prst="rect">
            <a:avLst/>
          </a:prstGeom>
          <a:solidFill>
            <a:srgbClr val="F1B889"/>
          </a:solidFill>
          <a:ln w="12700" cap="flat" cmpd="sng" algn="ctr">
            <a:noFill/>
            <a:prstDash val="solid"/>
            <a:miter lim="800000"/>
          </a:ln>
          <a:effectLst>
            <a:outerShdw blurRad="50800" dist="38100" dir="5400000" algn="t" rotWithShape="0">
              <a:prstClr val="black">
                <a:alpha val="40000"/>
              </a:prstClr>
            </a:outerShdw>
          </a:effectLst>
        </p:spPr>
        <p:txBody>
          <a:bodyPr lIns="44577" rIns="44577" rtlCol="0" anchor="ctr"/>
          <a:lstStyle/>
          <a:p>
            <a:pPr algn="ctr" fontAlgn="b"/>
            <a:endParaRPr lang="en-US" sz="975" b="1" dirty="0"/>
          </a:p>
        </p:txBody>
      </p:sp>
      <p:sp>
        <p:nvSpPr>
          <p:cNvPr id="506" name="TextBox 505"/>
          <p:cNvSpPr txBox="1"/>
          <p:nvPr/>
        </p:nvSpPr>
        <p:spPr>
          <a:xfrm>
            <a:off x="7287901" y="2082363"/>
            <a:ext cx="1239992" cy="246221"/>
          </a:xfrm>
          <a:prstGeom prst="rect">
            <a:avLst/>
          </a:prstGeom>
          <a:noFill/>
        </p:spPr>
        <p:txBody>
          <a:bodyPr wrap="square" rtlCol="0" anchor="ctr">
            <a:spAutoFit/>
          </a:bodyPr>
          <a:lstStyle/>
          <a:p>
            <a:pPr lvl="0" algn="ctr">
              <a:defRPr/>
            </a:pPr>
            <a:r>
              <a:rPr lang="en-IN" sz="1000" b="1" kern="0" dirty="0"/>
              <a:t>US$</a:t>
            </a:r>
            <a:r>
              <a:rPr lang="en-US" sz="1000" b="1" dirty="0"/>
              <a:t> xx </a:t>
            </a:r>
            <a:r>
              <a:rPr lang="en-US" sz="1000" dirty="0"/>
              <a:t> </a:t>
            </a:r>
            <a:r>
              <a:rPr lang="en-IN" sz="1000" b="1" kern="0" dirty="0" err="1"/>
              <a:t>Mn</a:t>
            </a:r>
            <a:endParaRPr lang="en-IN" sz="1000" b="1" kern="0" dirty="0"/>
          </a:p>
        </p:txBody>
      </p:sp>
      <p:grpSp>
        <p:nvGrpSpPr>
          <p:cNvPr id="507" name="Group 506"/>
          <p:cNvGrpSpPr/>
          <p:nvPr/>
        </p:nvGrpSpPr>
        <p:grpSpPr>
          <a:xfrm>
            <a:off x="7490244" y="3365557"/>
            <a:ext cx="780327" cy="217492"/>
            <a:chOff x="4770673" y="4219068"/>
            <a:chExt cx="684835" cy="197054"/>
          </a:xfrm>
        </p:grpSpPr>
        <p:sp>
          <p:nvSpPr>
            <p:cNvPr id="508" name="Rounded Rectangle 507"/>
            <p:cNvSpPr/>
            <p:nvPr/>
          </p:nvSpPr>
          <p:spPr>
            <a:xfrm>
              <a:off x="4770673"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509" name="Isosceles Triangle 508"/>
            <p:cNvSpPr/>
            <p:nvPr/>
          </p:nvSpPr>
          <p:spPr>
            <a:xfrm>
              <a:off x="5217488" y="4306394"/>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510" name="Group 509"/>
          <p:cNvGrpSpPr/>
          <p:nvPr/>
        </p:nvGrpSpPr>
        <p:grpSpPr>
          <a:xfrm>
            <a:off x="7569838" y="4396828"/>
            <a:ext cx="621139" cy="257917"/>
            <a:chOff x="7198493" y="4174672"/>
            <a:chExt cx="621139" cy="257917"/>
          </a:xfrm>
        </p:grpSpPr>
        <p:sp>
          <p:nvSpPr>
            <p:cNvPr id="511" name="Right Arrow 510"/>
            <p:cNvSpPr/>
            <p:nvPr/>
          </p:nvSpPr>
          <p:spPr>
            <a:xfrm>
              <a:off x="7198493" y="4174672"/>
              <a:ext cx="302780" cy="257917"/>
            </a:xfrm>
            <a:prstGeom prst="rightArrow">
              <a:avLst/>
            </a:prstGeom>
            <a:solidFill>
              <a:srgbClr val="00B050"/>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H</a:t>
              </a:r>
            </a:p>
          </p:txBody>
        </p:sp>
        <p:sp>
          <p:nvSpPr>
            <p:cNvPr id="512" name="Right Arrow 511"/>
            <p:cNvSpPr/>
            <p:nvPr/>
          </p:nvSpPr>
          <p:spPr>
            <a:xfrm>
              <a:off x="7516852" y="4174672"/>
              <a:ext cx="302780" cy="257917"/>
            </a:xfrm>
            <a:prstGeom prst="rightArrow">
              <a:avLst/>
            </a:prstGeom>
            <a:solidFill>
              <a:srgbClr val="6CA755"/>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F</a:t>
              </a:r>
            </a:p>
          </p:txBody>
        </p:sp>
      </p:grpSp>
      <p:cxnSp>
        <p:nvCxnSpPr>
          <p:cNvPr id="513" name="Straight Connector 512"/>
          <p:cNvCxnSpPr/>
          <p:nvPr/>
        </p:nvCxnSpPr>
        <p:spPr>
          <a:xfrm>
            <a:off x="7868348" y="4345826"/>
            <a:ext cx="0" cy="327924"/>
          </a:xfrm>
          <a:prstGeom prst="line">
            <a:avLst/>
          </a:prstGeom>
          <a:noFill/>
          <a:ln w="6350" cap="flat" cmpd="sng" algn="ctr">
            <a:solidFill>
              <a:srgbClr val="5B9BD5"/>
            </a:solidFill>
            <a:prstDash val="dash"/>
            <a:miter lim="800000"/>
          </a:ln>
          <a:effectLst/>
        </p:spPr>
      </p:cxnSp>
      <p:sp>
        <p:nvSpPr>
          <p:cNvPr id="514" name="Rectangle 513"/>
          <p:cNvSpPr/>
          <p:nvPr/>
        </p:nvSpPr>
        <p:spPr>
          <a:xfrm>
            <a:off x="7220673" y="1316506"/>
            <a:ext cx="1383177" cy="307777"/>
          </a:xfrm>
          <a:prstGeom prst="rect">
            <a:avLst/>
          </a:prstGeom>
        </p:spPr>
        <p:txBody>
          <a:bodyPr wrap="square" anchor="ctr">
            <a:spAutoFit/>
          </a:bodyPr>
          <a:lstStyle/>
          <a:p>
            <a:pPr algn="ctr" fontAlgn="b"/>
            <a:r>
              <a:rPr lang="en-US" sz="1400" b="1" dirty="0" err="1"/>
              <a:t>CompanyF</a:t>
            </a:r>
            <a:endParaRPr lang="en-US" sz="1400" b="1" dirty="0"/>
          </a:p>
        </p:txBody>
      </p:sp>
      <p:grpSp>
        <p:nvGrpSpPr>
          <p:cNvPr id="515" name="Group 514"/>
          <p:cNvGrpSpPr/>
          <p:nvPr/>
        </p:nvGrpSpPr>
        <p:grpSpPr>
          <a:xfrm>
            <a:off x="7538152" y="4956882"/>
            <a:ext cx="684511" cy="411630"/>
            <a:chOff x="5720122" y="4897173"/>
            <a:chExt cx="684511" cy="411630"/>
          </a:xfrm>
        </p:grpSpPr>
        <p:sp>
          <p:nvSpPr>
            <p:cNvPr id="516" name="Oval 515"/>
            <p:cNvSpPr/>
            <p:nvPr/>
          </p:nvSpPr>
          <p:spPr>
            <a:xfrm>
              <a:off x="5720122" y="4897173"/>
              <a:ext cx="213970" cy="213970"/>
            </a:xfrm>
            <a:prstGeom prst="ellipse">
              <a:avLst/>
            </a:prstGeom>
            <a:solidFill>
              <a:srgbClr val="94B135"/>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C</a:t>
              </a:r>
            </a:p>
          </p:txBody>
        </p:sp>
        <p:sp>
          <p:nvSpPr>
            <p:cNvPr id="517" name="Oval 516"/>
            <p:cNvSpPr/>
            <p:nvPr/>
          </p:nvSpPr>
          <p:spPr>
            <a:xfrm>
              <a:off x="5955392" y="4897173"/>
              <a:ext cx="213970" cy="213970"/>
            </a:xfrm>
            <a:prstGeom prst="ellipse">
              <a:avLst/>
            </a:prstGeom>
            <a:solidFill>
              <a:srgbClr val="A6B42B"/>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B</a:t>
              </a:r>
            </a:p>
          </p:txBody>
        </p:sp>
        <p:sp>
          <p:nvSpPr>
            <p:cNvPr id="518" name="Oval 517"/>
            <p:cNvSpPr/>
            <p:nvPr/>
          </p:nvSpPr>
          <p:spPr>
            <a:xfrm>
              <a:off x="6190663" y="489717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S</a:t>
              </a:r>
            </a:p>
          </p:txBody>
        </p:sp>
        <p:sp>
          <p:nvSpPr>
            <p:cNvPr id="519" name="Oval 518"/>
            <p:cNvSpPr/>
            <p:nvPr/>
          </p:nvSpPr>
          <p:spPr>
            <a:xfrm>
              <a:off x="5837758" y="5094833"/>
              <a:ext cx="213970" cy="213970"/>
            </a:xfrm>
            <a:prstGeom prst="ellipse">
              <a:avLst/>
            </a:prstGeom>
            <a:solidFill>
              <a:srgbClr val="7DAE40"/>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E</a:t>
              </a:r>
            </a:p>
          </p:txBody>
        </p:sp>
        <p:sp>
          <p:nvSpPr>
            <p:cNvPr id="520" name="Oval 519"/>
            <p:cNvSpPr/>
            <p:nvPr/>
          </p:nvSpPr>
          <p:spPr>
            <a:xfrm>
              <a:off x="6073027" y="509483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R</a:t>
              </a:r>
            </a:p>
          </p:txBody>
        </p:sp>
      </p:grpSp>
      <p:grpSp>
        <p:nvGrpSpPr>
          <p:cNvPr id="521" name="Group 520"/>
          <p:cNvGrpSpPr/>
          <p:nvPr/>
        </p:nvGrpSpPr>
        <p:grpSpPr>
          <a:xfrm>
            <a:off x="7490244" y="3885186"/>
            <a:ext cx="780327" cy="209505"/>
            <a:chOff x="4759370" y="4219068"/>
            <a:chExt cx="684835" cy="189818"/>
          </a:xfrm>
        </p:grpSpPr>
        <p:sp>
          <p:nvSpPr>
            <p:cNvPr id="522" name="Rounded Rectangle 521"/>
            <p:cNvSpPr/>
            <p:nvPr/>
          </p:nvSpPr>
          <p:spPr>
            <a:xfrm>
              <a:off x="4759370"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523" name="Isosceles Triangle 522"/>
            <p:cNvSpPr/>
            <p:nvPr/>
          </p:nvSpPr>
          <p:spPr>
            <a:xfrm>
              <a:off x="5279974" y="4299158"/>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524" name="Group 523"/>
          <p:cNvGrpSpPr/>
          <p:nvPr/>
        </p:nvGrpSpPr>
        <p:grpSpPr>
          <a:xfrm>
            <a:off x="7490784" y="2685386"/>
            <a:ext cx="729554" cy="378034"/>
            <a:chOff x="1344364" y="2348329"/>
            <a:chExt cx="640277" cy="347472"/>
          </a:xfrm>
        </p:grpSpPr>
        <p:graphicFrame>
          <p:nvGraphicFramePr>
            <p:cNvPr id="525" name="Chart 524"/>
            <p:cNvGraphicFramePr/>
            <p:nvPr/>
          </p:nvGraphicFramePr>
          <p:xfrm>
            <a:off x="1344364" y="2348329"/>
            <a:ext cx="362437" cy="347472"/>
          </p:xfrm>
          <a:graphic>
            <a:graphicData uri="http://schemas.openxmlformats.org/drawingml/2006/chart">
              <c:chart xmlns:c="http://schemas.openxmlformats.org/drawingml/2006/chart" xmlns:r="http://schemas.openxmlformats.org/officeDocument/2006/relationships" r:id="rId7"/>
            </a:graphicData>
          </a:graphic>
        </p:graphicFrame>
        <p:sp>
          <p:nvSpPr>
            <p:cNvPr id="526" name="TextBox 525"/>
            <p:cNvSpPr txBox="1"/>
            <p:nvPr/>
          </p:nvSpPr>
          <p:spPr>
            <a:xfrm>
              <a:off x="1773614" y="2443370"/>
              <a:ext cx="211027" cy="124180"/>
            </a:xfrm>
            <a:prstGeom prst="rect">
              <a:avLst/>
            </a:prstGeom>
            <a:noFill/>
          </p:spPr>
          <p:txBody>
            <a:bodyPr wrap="none" lIns="0" tIns="0" rIns="0" bIns="0" rtlCol="0">
              <a:spAutoFit/>
            </a:bodyPr>
            <a:lstStyle/>
            <a:p>
              <a:pPr algn="ctr">
                <a:defRPr/>
              </a:pPr>
              <a:r>
                <a:rPr lang="en-IN" sz="878" b="1" kern="0" dirty="0"/>
                <a:t>~xx%</a:t>
              </a:r>
            </a:p>
          </p:txBody>
        </p:sp>
      </p:grpSp>
      <p:sp>
        <p:nvSpPr>
          <p:cNvPr id="527" name="Rectangle 526"/>
          <p:cNvSpPr/>
          <p:nvPr/>
        </p:nvSpPr>
        <p:spPr>
          <a:xfrm>
            <a:off x="8472280" y="1145943"/>
            <a:ext cx="1019362" cy="538982"/>
          </a:xfrm>
          <a:prstGeom prst="rect">
            <a:avLst/>
          </a:prstGeom>
          <a:solidFill>
            <a:schemeClr val="accent1">
              <a:lumMod val="40000"/>
              <a:lumOff val="60000"/>
            </a:schemeClr>
          </a:solidFill>
          <a:ln w="12700" cap="flat" cmpd="sng" algn="ctr">
            <a:noFill/>
            <a:prstDash val="solid"/>
            <a:miter lim="800000"/>
          </a:ln>
          <a:effectLst>
            <a:outerShdw blurRad="50800" dist="38100" dir="5400000" algn="t" rotWithShape="0">
              <a:prstClr val="black">
                <a:alpha val="40000"/>
              </a:prstClr>
            </a:outerShdw>
          </a:effectLst>
        </p:spPr>
        <p:txBody>
          <a:bodyPr lIns="44577" rIns="44577" rtlCol="0" anchor="ctr"/>
          <a:lstStyle/>
          <a:p>
            <a:pPr lvl="0" algn="ctr">
              <a:defRPr/>
            </a:pPr>
            <a:endParaRPr lang="en-IN" sz="975" b="1" kern="0" dirty="0"/>
          </a:p>
        </p:txBody>
      </p:sp>
      <p:sp>
        <p:nvSpPr>
          <p:cNvPr id="528" name="TextBox 527"/>
          <p:cNvSpPr txBox="1"/>
          <p:nvPr/>
        </p:nvSpPr>
        <p:spPr>
          <a:xfrm>
            <a:off x="8472607" y="2102068"/>
            <a:ext cx="1144077" cy="253916"/>
          </a:xfrm>
          <a:prstGeom prst="rect">
            <a:avLst/>
          </a:prstGeom>
          <a:noFill/>
        </p:spPr>
        <p:txBody>
          <a:bodyPr wrap="square" rtlCol="0" anchor="ctr">
            <a:spAutoFit/>
          </a:bodyPr>
          <a:lstStyle/>
          <a:p>
            <a:pPr lvl="0" algn="ctr">
              <a:defRPr/>
            </a:pPr>
            <a:r>
              <a:rPr lang="en-IN" sz="1050" b="1" kern="0" dirty="0"/>
              <a:t>US$ </a:t>
            </a:r>
            <a:r>
              <a:rPr lang="en-US" sz="1050" b="1" dirty="0"/>
              <a:t>xx </a:t>
            </a:r>
            <a:r>
              <a:rPr lang="en-US" sz="1050" dirty="0"/>
              <a:t> </a:t>
            </a:r>
            <a:r>
              <a:rPr lang="en-IN" sz="1050" b="1" kern="0" dirty="0" err="1"/>
              <a:t>Mn</a:t>
            </a:r>
            <a:endParaRPr lang="en-IN" sz="1050" b="1" kern="0" dirty="0"/>
          </a:p>
        </p:txBody>
      </p:sp>
      <p:grpSp>
        <p:nvGrpSpPr>
          <p:cNvPr id="529" name="Group 528"/>
          <p:cNvGrpSpPr/>
          <p:nvPr/>
        </p:nvGrpSpPr>
        <p:grpSpPr>
          <a:xfrm>
            <a:off x="8764588" y="3323115"/>
            <a:ext cx="677809" cy="183301"/>
            <a:chOff x="1227285" y="4219068"/>
            <a:chExt cx="684835" cy="218526"/>
          </a:xfrm>
        </p:grpSpPr>
        <p:sp>
          <p:nvSpPr>
            <p:cNvPr id="530" name="Rounded Rectangle 529"/>
            <p:cNvSpPr/>
            <p:nvPr/>
          </p:nvSpPr>
          <p:spPr>
            <a:xfrm>
              <a:off x="1227285"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531" name="Isosceles Triangle 530"/>
            <p:cNvSpPr/>
            <p:nvPr/>
          </p:nvSpPr>
          <p:spPr>
            <a:xfrm>
              <a:off x="1684347" y="4327866"/>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532" name="Group 531"/>
          <p:cNvGrpSpPr/>
          <p:nvPr/>
        </p:nvGrpSpPr>
        <p:grpSpPr>
          <a:xfrm>
            <a:off x="8698266" y="2663844"/>
            <a:ext cx="793026" cy="287298"/>
            <a:chOff x="1344364" y="2348329"/>
            <a:chExt cx="768801" cy="347472"/>
          </a:xfrm>
        </p:grpSpPr>
        <p:graphicFrame>
          <p:nvGraphicFramePr>
            <p:cNvPr id="533" name="Chart 532"/>
            <p:cNvGraphicFramePr/>
            <p:nvPr/>
          </p:nvGraphicFramePr>
          <p:xfrm>
            <a:off x="1344364" y="2348329"/>
            <a:ext cx="362437" cy="347472"/>
          </p:xfrm>
          <a:graphic>
            <a:graphicData uri="http://schemas.openxmlformats.org/drawingml/2006/chart">
              <c:chart xmlns:c="http://schemas.openxmlformats.org/drawingml/2006/chart" xmlns:r="http://schemas.openxmlformats.org/officeDocument/2006/relationships" r:id="rId8"/>
            </a:graphicData>
          </a:graphic>
        </p:graphicFrame>
        <p:sp>
          <p:nvSpPr>
            <p:cNvPr id="534" name="TextBox 533"/>
            <p:cNvSpPr txBox="1"/>
            <p:nvPr/>
          </p:nvSpPr>
          <p:spPr>
            <a:xfrm>
              <a:off x="1650000" y="2443371"/>
              <a:ext cx="463165" cy="124180"/>
            </a:xfrm>
            <a:prstGeom prst="rect">
              <a:avLst/>
            </a:prstGeom>
            <a:noFill/>
          </p:spPr>
          <p:txBody>
            <a:bodyPr wrap="square" lIns="0" tIns="0" rIns="0" bIns="0" rtlCol="0">
              <a:spAutoFit/>
            </a:bodyPr>
            <a:lstStyle/>
            <a:p>
              <a:pPr algn="ctr">
                <a:defRPr/>
              </a:pPr>
              <a:r>
                <a:rPr lang="en-IN" sz="878" b="1" kern="0" dirty="0"/>
                <a:t>~xx%</a:t>
              </a:r>
            </a:p>
          </p:txBody>
        </p:sp>
      </p:grpSp>
      <p:grpSp>
        <p:nvGrpSpPr>
          <p:cNvPr id="535" name="Group 534"/>
          <p:cNvGrpSpPr/>
          <p:nvPr/>
        </p:nvGrpSpPr>
        <p:grpSpPr>
          <a:xfrm>
            <a:off x="8844182" y="4367973"/>
            <a:ext cx="539535" cy="249215"/>
            <a:chOff x="2926414" y="4139668"/>
            <a:chExt cx="621139" cy="327924"/>
          </a:xfrm>
        </p:grpSpPr>
        <p:sp>
          <p:nvSpPr>
            <p:cNvPr id="536" name="Right Arrow 535"/>
            <p:cNvSpPr/>
            <p:nvPr/>
          </p:nvSpPr>
          <p:spPr>
            <a:xfrm>
              <a:off x="2926414" y="4174672"/>
              <a:ext cx="302780" cy="257917"/>
            </a:xfrm>
            <a:prstGeom prst="rightArrow">
              <a:avLst/>
            </a:prstGeom>
            <a:solidFill>
              <a:srgbClr val="00B050"/>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H</a:t>
              </a:r>
            </a:p>
          </p:txBody>
        </p:sp>
        <p:sp>
          <p:nvSpPr>
            <p:cNvPr id="537" name="Right Arrow 536"/>
            <p:cNvSpPr/>
            <p:nvPr/>
          </p:nvSpPr>
          <p:spPr>
            <a:xfrm>
              <a:off x="3244773" y="4174672"/>
              <a:ext cx="302780" cy="257917"/>
            </a:xfrm>
            <a:prstGeom prst="rightArrow">
              <a:avLst/>
            </a:prstGeom>
            <a:solidFill>
              <a:srgbClr val="6CA755"/>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F</a:t>
              </a:r>
            </a:p>
          </p:txBody>
        </p:sp>
        <p:cxnSp>
          <p:nvCxnSpPr>
            <p:cNvPr id="538" name="Straight Connector 537"/>
            <p:cNvCxnSpPr/>
            <p:nvPr/>
          </p:nvCxnSpPr>
          <p:spPr>
            <a:xfrm>
              <a:off x="3236984" y="4139668"/>
              <a:ext cx="0" cy="327924"/>
            </a:xfrm>
            <a:prstGeom prst="line">
              <a:avLst/>
            </a:prstGeom>
            <a:noFill/>
            <a:ln w="6350" cap="flat" cmpd="sng" algn="ctr">
              <a:solidFill>
                <a:srgbClr val="5B9BD5"/>
              </a:solidFill>
              <a:prstDash val="dash"/>
              <a:miter lim="800000"/>
            </a:ln>
            <a:effectLst/>
          </p:spPr>
        </p:cxnSp>
      </p:grpSp>
      <p:sp>
        <p:nvSpPr>
          <p:cNvPr id="539" name="Rectangle 538"/>
          <p:cNvSpPr/>
          <p:nvPr/>
        </p:nvSpPr>
        <p:spPr>
          <a:xfrm>
            <a:off x="8360379" y="1314934"/>
            <a:ext cx="1185621" cy="307777"/>
          </a:xfrm>
          <a:prstGeom prst="rect">
            <a:avLst/>
          </a:prstGeom>
        </p:spPr>
        <p:txBody>
          <a:bodyPr wrap="square" anchor="ctr">
            <a:spAutoFit/>
          </a:bodyPr>
          <a:lstStyle/>
          <a:p>
            <a:pPr algn="ctr" fontAlgn="b"/>
            <a:r>
              <a:rPr lang="en-IN" sz="1400" b="1" dirty="0" err="1"/>
              <a:t>CompanyG</a:t>
            </a:r>
            <a:endParaRPr lang="en-IN" sz="1400" b="1" dirty="0"/>
          </a:p>
        </p:txBody>
      </p:sp>
      <p:grpSp>
        <p:nvGrpSpPr>
          <p:cNvPr id="540" name="Group 539"/>
          <p:cNvGrpSpPr/>
          <p:nvPr/>
        </p:nvGrpSpPr>
        <p:grpSpPr>
          <a:xfrm>
            <a:off x="8812496" y="4977133"/>
            <a:ext cx="594581" cy="312830"/>
            <a:chOff x="1749216" y="4920163"/>
            <a:chExt cx="684511" cy="411630"/>
          </a:xfrm>
        </p:grpSpPr>
        <p:sp>
          <p:nvSpPr>
            <p:cNvPr id="541" name="Oval 540"/>
            <p:cNvSpPr/>
            <p:nvPr/>
          </p:nvSpPr>
          <p:spPr>
            <a:xfrm>
              <a:off x="1749216" y="4920163"/>
              <a:ext cx="213970" cy="213970"/>
            </a:xfrm>
            <a:prstGeom prst="ellipse">
              <a:avLst/>
            </a:prstGeom>
            <a:solidFill>
              <a:srgbClr val="6CA755"/>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E</a:t>
              </a:r>
            </a:p>
          </p:txBody>
        </p:sp>
        <p:sp>
          <p:nvSpPr>
            <p:cNvPr id="542" name="Oval 541"/>
            <p:cNvSpPr/>
            <p:nvPr/>
          </p:nvSpPr>
          <p:spPr>
            <a:xfrm>
              <a:off x="1984486" y="492016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B</a:t>
              </a:r>
            </a:p>
          </p:txBody>
        </p:sp>
        <p:sp>
          <p:nvSpPr>
            <p:cNvPr id="543" name="Oval 542"/>
            <p:cNvSpPr/>
            <p:nvPr/>
          </p:nvSpPr>
          <p:spPr>
            <a:xfrm>
              <a:off x="2219757" y="492016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S</a:t>
              </a:r>
            </a:p>
          </p:txBody>
        </p:sp>
        <p:sp>
          <p:nvSpPr>
            <p:cNvPr id="544" name="Oval 543"/>
            <p:cNvSpPr/>
            <p:nvPr/>
          </p:nvSpPr>
          <p:spPr>
            <a:xfrm>
              <a:off x="1866852" y="511782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R</a:t>
              </a:r>
            </a:p>
          </p:txBody>
        </p:sp>
        <p:sp>
          <p:nvSpPr>
            <p:cNvPr id="545" name="Oval 544"/>
            <p:cNvSpPr/>
            <p:nvPr/>
          </p:nvSpPr>
          <p:spPr>
            <a:xfrm>
              <a:off x="2102121" y="511782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C</a:t>
              </a:r>
            </a:p>
          </p:txBody>
        </p:sp>
      </p:grpSp>
      <p:grpSp>
        <p:nvGrpSpPr>
          <p:cNvPr id="546" name="Group 545"/>
          <p:cNvGrpSpPr/>
          <p:nvPr/>
        </p:nvGrpSpPr>
        <p:grpSpPr>
          <a:xfrm>
            <a:off x="8764585" y="3845544"/>
            <a:ext cx="677808" cy="183301"/>
            <a:chOff x="1227285" y="4219068"/>
            <a:chExt cx="684835" cy="218526"/>
          </a:xfrm>
        </p:grpSpPr>
        <p:sp>
          <p:nvSpPr>
            <p:cNvPr id="547" name="Rounded Rectangle 546"/>
            <p:cNvSpPr/>
            <p:nvPr/>
          </p:nvSpPr>
          <p:spPr>
            <a:xfrm>
              <a:off x="1227285"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548" name="Isosceles Triangle 547"/>
            <p:cNvSpPr/>
            <p:nvPr/>
          </p:nvSpPr>
          <p:spPr>
            <a:xfrm>
              <a:off x="1671193" y="4327866"/>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sp>
        <p:nvSpPr>
          <p:cNvPr id="549" name="Rectangle 548"/>
          <p:cNvSpPr/>
          <p:nvPr/>
        </p:nvSpPr>
        <p:spPr>
          <a:xfrm>
            <a:off x="9557897" y="1158911"/>
            <a:ext cx="1083814" cy="530683"/>
          </a:xfrm>
          <a:prstGeom prst="rect">
            <a:avLst/>
          </a:prstGeom>
          <a:solidFill>
            <a:schemeClr val="accent6">
              <a:lumMod val="40000"/>
              <a:lumOff val="60000"/>
            </a:schemeClr>
          </a:solidFill>
          <a:ln w="12700" cap="flat" cmpd="sng" algn="ctr">
            <a:noFill/>
            <a:prstDash val="solid"/>
            <a:miter lim="800000"/>
          </a:ln>
          <a:effectLst>
            <a:outerShdw blurRad="50800" dist="38100" dir="5400000" algn="t" rotWithShape="0">
              <a:prstClr val="black">
                <a:alpha val="40000"/>
              </a:prstClr>
            </a:outerShdw>
          </a:effectLst>
        </p:spPr>
        <p:txBody>
          <a:bodyPr lIns="44577" rIns="44577" rtlCol="0" anchor="ctr"/>
          <a:lstStyle/>
          <a:p>
            <a:pPr algn="ctr" fontAlgn="b"/>
            <a:endParaRPr lang="en-US" sz="975" b="1" dirty="0"/>
          </a:p>
        </p:txBody>
      </p:sp>
      <p:sp>
        <p:nvSpPr>
          <p:cNvPr id="550" name="TextBox 549"/>
          <p:cNvSpPr txBox="1"/>
          <p:nvPr/>
        </p:nvSpPr>
        <p:spPr>
          <a:xfrm>
            <a:off x="9520438" y="2101768"/>
            <a:ext cx="1352910" cy="253916"/>
          </a:xfrm>
          <a:prstGeom prst="rect">
            <a:avLst/>
          </a:prstGeom>
          <a:noFill/>
        </p:spPr>
        <p:txBody>
          <a:bodyPr wrap="square" rtlCol="0" anchor="ctr">
            <a:spAutoFit/>
          </a:bodyPr>
          <a:lstStyle/>
          <a:p>
            <a:pPr lvl="0" algn="ctr">
              <a:defRPr/>
            </a:pPr>
            <a:r>
              <a:rPr lang="en-IN" sz="1050" b="1" kern="0" dirty="0"/>
              <a:t>US$</a:t>
            </a:r>
            <a:r>
              <a:rPr lang="en-US" sz="1050" b="1" dirty="0"/>
              <a:t> xx</a:t>
            </a:r>
            <a:r>
              <a:rPr lang="en-US" sz="1050" dirty="0"/>
              <a:t> </a:t>
            </a:r>
            <a:r>
              <a:rPr lang="en-IN" sz="1050" b="1" kern="0" dirty="0" err="1"/>
              <a:t>Mn</a:t>
            </a:r>
            <a:endParaRPr lang="en-IN" sz="1050" b="1" kern="0" dirty="0"/>
          </a:p>
        </p:txBody>
      </p:sp>
      <p:grpSp>
        <p:nvGrpSpPr>
          <p:cNvPr id="551" name="Group 550"/>
          <p:cNvGrpSpPr/>
          <p:nvPr/>
        </p:nvGrpSpPr>
        <p:grpSpPr>
          <a:xfrm>
            <a:off x="9849934" y="3376973"/>
            <a:ext cx="728319" cy="235306"/>
            <a:chOff x="2113132" y="4219068"/>
            <a:chExt cx="684835" cy="213193"/>
          </a:xfrm>
        </p:grpSpPr>
        <p:sp>
          <p:nvSpPr>
            <p:cNvPr id="552" name="Rounded Rectangle 551"/>
            <p:cNvSpPr/>
            <p:nvPr/>
          </p:nvSpPr>
          <p:spPr>
            <a:xfrm>
              <a:off x="2113132"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553" name="Isosceles Triangle 552"/>
            <p:cNvSpPr/>
            <p:nvPr/>
          </p:nvSpPr>
          <p:spPr>
            <a:xfrm>
              <a:off x="2436853" y="4322533"/>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554" name="Group 553"/>
          <p:cNvGrpSpPr/>
          <p:nvPr/>
        </p:nvGrpSpPr>
        <p:grpSpPr>
          <a:xfrm>
            <a:off x="9929528" y="4437314"/>
            <a:ext cx="579740" cy="257917"/>
            <a:chOff x="4297574" y="4174672"/>
            <a:chExt cx="621139" cy="257917"/>
          </a:xfrm>
        </p:grpSpPr>
        <p:sp>
          <p:nvSpPr>
            <p:cNvPr id="555" name="Right Arrow 554"/>
            <p:cNvSpPr/>
            <p:nvPr/>
          </p:nvSpPr>
          <p:spPr>
            <a:xfrm>
              <a:off x="4297574" y="4174672"/>
              <a:ext cx="302780" cy="257917"/>
            </a:xfrm>
            <a:prstGeom prst="rightArrow">
              <a:avLst/>
            </a:prstGeom>
            <a:solidFill>
              <a:srgbClr val="00B050"/>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H</a:t>
              </a:r>
            </a:p>
          </p:txBody>
        </p:sp>
        <p:sp>
          <p:nvSpPr>
            <p:cNvPr id="556" name="Right Arrow 555"/>
            <p:cNvSpPr/>
            <p:nvPr/>
          </p:nvSpPr>
          <p:spPr>
            <a:xfrm>
              <a:off x="4615933" y="4174672"/>
              <a:ext cx="302780" cy="257917"/>
            </a:xfrm>
            <a:prstGeom prst="rightArrow">
              <a:avLst/>
            </a:prstGeom>
            <a:solidFill>
              <a:srgbClr val="6CA755"/>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F</a:t>
              </a:r>
            </a:p>
          </p:txBody>
        </p:sp>
      </p:grpSp>
      <p:cxnSp>
        <p:nvCxnSpPr>
          <p:cNvPr id="557" name="Straight Connector 556"/>
          <p:cNvCxnSpPr/>
          <p:nvPr/>
        </p:nvCxnSpPr>
        <p:spPr>
          <a:xfrm>
            <a:off x="10229448" y="4379046"/>
            <a:ext cx="0" cy="327924"/>
          </a:xfrm>
          <a:prstGeom prst="line">
            <a:avLst/>
          </a:prstGeom>
          <a:noFill/>
          <a:ln w="6350" cap="flat" cmpd="sng" algn="ctr">
            <a:solidFill>
              <a:srgbClr val="5B9BD5"/>
            </a:solidFill>
            <a:prstDash val="dash"/>
            <a:miter lim="800000"/>
          </a:ln>
          <a:effectLst/>
        </p:spPr>
      </p:cxnSp>
      <p:sp>
        <p:nvSpPr>
          <p:cNvPr id="558" name="Rectangle 557"/>
          <p:cNvSpPr/>
          <p:nvPr/>
        </p:nvSpPr>
        <p:spPr>
          <a:xfrm>
            <a:off x="9504825" y="1332491"/>
            <a:ext cx="1220941" cy="307777"/>
          </a:xfrm>
          <a:prstGeom prst="rect">
            <a:avLst/>
          </a:prstGeom>
        </p:spPr>
        <p:txBody>
          <a:bodyPr wrap="square">
            <a:spAutoFit/>
          </a:bodyPr>
          <a:lstStyle/>
          <a:p>
            <a:pPr algn="ctr" fontAlgn="b"/>
            <a:r>
              <a:rPr lang="en-IN" sz="1400" b="1" dirty="0" err="1"/>
              <a:t>CompanyH</a:t>
            </a:r>
            <a:endParaRPr lang="en-IN" sz="1400" b="1" dirty="0"/>
          </a:p>
        </p:txBody>
      </p:sp>
      <p:grpSp>
        <p:nvGrpSpPr>
          <p:cNvPr id="559" name="Group 558"/>
          <p:cNvGrpSpPr/>
          <p:nvPr/>
        </p:nvGrpSpPr>
        <p:grpSpPr>
          <a:xfrm>
            <a:off x="9897842" y="4990102"/>
            <a:ext cx="638889" cy="411630"/>
            <a:chOff x="2990526" y="4909713"/>
            <a:chExt cx="684511" cy="411630"/>
          </a:xfrm>
        </p:grpSpPr>
        <p:sp>
          <p:nvSpPr>
            <p:cNvPr id="560" name="Oval 559"/>
            <p:cNvSpPr/>
            <p:nvPr/>
          </p:nvSpPr>
          <p:spPr>
            <a:xfrm>
              <a:off x="2990526" y="4909713"/>
              <a:ext cx="213970" cy="213970"/>
            </a:xfrm>
            <a:prstGeom prst="ellipse">
              <a:avLst/>
            </a:prstGeom>
            <a:solidFill>
              <a:srgbClr val="6CA755"/>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R</a:t>
              </a:r>
            </a:p>
          </p:txBody>
        </p:sp>
        <p:sp>
          <p:nvSpPr>
            <p:cNvPr id="561" name="Oval 560"/>
            <p:cNvSpPr/>
            <p:nvPr/>
          </p:nvSpPr>
          <p:spPr>
            <a:xfrm>
              <a:off x="3225796" y="4909713"/>
              <a:ext cx="213970" cy="213970"/>
            </a:xfrm>
            <a:prstGeom prst="ellipse">
              <a:avLst/>
            </a:prstGeom>
            <a:solidFill>
              <a:srgbClr val="78AE42"/>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B</a:t>
              </a:r>
            </a:p>
          </p:txBody>
        </p:sp>
        <p:sp>
          <p:nvSpPr>
            <p:cNvPr id="562" name="Oval 561"/>
            <p:cNvSpPr/>
            <p:nvPr/>
          </p:nvSpPr>
          <p:spPr>
            <a:xfrm>
              <a:off x="3461067" y="490971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S</a:t>
              </a:r>
            </a:p>
          </p:txBody>
        </p:sp>
        <p:sp>
          <p:nvSpPr>
            <p:cNvPr id="563" name="Oval 562"/>
            <p:cNvSpPr/>
            <p:nvPr/>
          </p:nvSpPr>
          <p:spPr>
            <a:xfrm>
              <a:off x="3108162" y="510737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E</a:t>
              </a:r>
            </a:p>
          </p:txBody>
        </p:sp>
        <p:sp>
          <p:nvSpPr>
            <p:cNvPr id="564" name="Oval 563"/>
            <p:cNvSpPr/>
            <p:nvPr/>
          </p:nvSpPr>
          <p:spPr>
            <a:xfrm>
              <a:off x="3343431" y="5107373"/>
              <a:ext cx="213970" cy="213970"/>
            </a:xfrm>
            <a:prstGeom prst="ellipse">
              <a:avLst/>
            </a:prstGeom>
            <a:solidFill>
              <a:srgbClr val="B9B622"/>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C</a:t>
              </a:r>
            </a:p>
          </p:txBody>
        </p:sp>
      </p:grpSp>
      <p:grpSp>
        <p:nvGrpSpPr>
          <p:cNvPr id="565" name="Group 564"/>
          <p:cNvGrpSpPr/>
          <p:nvPr/>
        </p:nvGrpSpPr>
        <p:grpSpPr>
          <a:xfrm>
            <a:off x="9849934" y="3907148"/>
            <a:ext cx="728319" cy="235297"/>
            <a:chOff x="2113132" y="4219076"/>
            <a:chExt cx="684835" cy="213185"/>
          </a:xfrm>
        </p:grpSpPr>
        <p:sp>
          <p:nvSpPr>
            <p:cNvPr id="566" name="Rounded Rectangle 565"/>
            <p:cNvSpPr/>
            <p:nvPr/>
          </p:nvSpPr>
          <p:spPr>
            <a:xfrm>
              <a:off x="2113132" y="4219076"/>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567" name="Isosceles Triangle 566"/>
            <p:cNvSpPr/>
            <p:nvPr/>
          </p:nvSpPr>
          <p:spPr>
            <a:xfrm>
              <a:off x="2537388" y="4322533"/>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568" name="Group 567"/>
          <p:cNvGrpSpPr/>
          <p:nvPr/>
        </p:nvGrpSpPr>
        <p:grpSpPr>
          <a:xfrm>
            <a:off x="9783612" y="2704070"/>
            <a:ext cx="852121" cy="378034"/>
            <a:chOff x="1344364" y="2348329"/>
            <a:chExt cx="768801" cy="347472"/>
          </a:xfrm>
        </p:grpSpPr>
        <p:graphicFrame>
          <p:nvGraphicFramePr>
            <p:cNvPr id="569" name="Chart 568"/>
            <p:cNvGraphicFramePr/>
            <p:nvPr/>
          </p:nvGraphicFramePr>
          <p:xfrm>
            <a:off x="1344364" y="2348329"/>
            <a:ext cx="362437" cy="347472"/>
          </p:xfrm>
          <a:graphic>
            <a:graphicData uri="http://schemas.openxmlformats.org/drawingml/2006/chart">
              <c:chart xmlns:c="http://schemas.openxmlformats.org/drawingml/2006/chart" xmlns:r="http://schemas.openxmlformats.org/officeDocument/2006/relationships" r:id="rId9"/>
            </a:graphicData>
          </a:graphic>
        </p:graphicFrame>
        <p:sp>
          <p:nvSpPr>
            <p:cNvPr id="570" name="TextBox 569"/>
            <p:cNvSpPr txBox="1"/>
            <p:nvPr/>
          </p:nvSpPr>
          <p:spPr>
            <a:xfrm>
              <a:off x="1650000" y="2443371"/>
              <a:ext cx="463165" cy="124180"/>
            </a:xfrm>
            <a:prstGeom prst="rect">
              <a:avLst/>
            </a:prstGeom>
            <a:noFill/>
          </p:spPr>
          <p:txBody>
            <a:bodyPr wrap="square" lIns="0" tIns="0" rIns="0" bIns="0" rtlCol="0">
              <a:spAutoFit/>
            </a:bodyPr>
            <a:lstStyle/>
            <a:p>
              <a:pPr algn="ctr">
                <a:defRPr/>
              </a:pPr>
              <a:r>
                <a:rPr lang="en-IN" sz="878" b="1" kern="0" dirty="0"/>
                <a:t>~xx%</a:t>
              </a:r>
            </a:p>
          </p:txBody>
        </p:sp>
      </p:grpSp>
      <p:sp>
        <p:nvSpPr>
          <p:cNvPr id="571" name="Rectangle 570"/>
          <p:cNvSpPr/>
          <p:nvPr/>
        </p:nvSpPr>
        <p:spPr>
          <a:xfrm>
            <a:off x="11433806" y="1151323"/>
            <a:ext cx="210314" cy="227435"/>
          </a:xfrm>
          <a:prstGeom prst="rect">
            <a:avLst/>
          </a:prstGeom>
        </p:spPr>
        <p:txBody>
          <a:bodyPr wrap="none">
            <a:spAutoFit/>
          </a:bodyPr>
          <a:lstStyle/>
          <a:p>
            <a:r>
              <a:rPr lang="en-US" sz="878" b="1" dirty="0"/>
              <a:t> </a:t>
            </a:r>
            <a:endParaRPr lang="en-IN" sz="878" b="1" dirty="0"/>
          </a:p>
        </p:txBody>
      </p:sp>
      <p:sp>
        <p:nvSpPr>
          <p:cNvPr id="572" name="Rectangle 571"/>
          <p:cNvSpPr/>
          <p:nvPr/>
        </p:nvSpPr>
        <p:spPr>
          <a:xfrm>
            <a:off x="10730918" y="1151360"/>
            <a:ext cx="1082715" cy="546807"/>
          </a:xfrm>
          <a:prstGeom prst="rect">
            <a:avLst/>
          </a:prstGeom>
          <a:solidFill>
            <a:srgbClr val="F1B889"/>
          </a:solidFill>
          <a:ln w="12700" cap="flat" cmpd="sng" algn="ctr">
            <a:noFill/>
            <a:prstDash val="solid"/>
            <a:miter lim="800000"/>
          </a:ln>
          <a:effectLst>
            <a:outerShdw blurRad="50800" dist="38100" dir="5400000" algn="t" rotWithShape="0">
              <a:prstClr val="black">
                <a:alpha val="40000"/>
              </a:prstClr>
            </a:outerShdw>
          </a:effectLst>
        </p:spPr>
        <p:txBody>
          <a:bodyPr lIns="44577" rIns="44577" rtlCol="0" anchor="ctr"/>
          <a:lstStyle/>
          <a:p>
            <a:pPr algn="ctr" fontAlgn="b"/>
            <a:endParaRPr lang="en-US" sz="975" b="1" dirty="0"/>
          </a:p>
        </p:txBody>
      </p:sp>
      <p:sp>
        <p:nvSpPr>
          <p:cNvPr id="573" name="TextBox 572"/>
          <p:cNvSpPr txBox="1"/>
          <p:nvPr/>
        </p:nvSpPr>
        <p:spPr>
          <a:xfrm>
            <a:off x="10702961" y="2091788"/>
            <a:ext cx="1239992" cy="246221"/>
          </a:xfrm>
          <a:prstGeom prst="rect">
            <a:avLst/>
          </a:prstGeom>
          <a:noFill/>
        </p:spPr>
        <p:txBody>
          <a:bodyPr wrap="square" rtlCol="0" anchor="ctr">
            <a:spAutoFit/>
          </a:bodyPr>
          <a:lstStyle/>
          <a:p>
            <a:pPr lvl="0" algn="ctr">
              <a:defRPr/>
            </a:pPr>
            <a:r>
              <a:rPr lang="en-IN" sz="1000" b="1" kern="0" dirty="0"/>
              <a:t>US$</a:t>
            </a:r>
            <a:r>
              <a:rPr lang="en-US" sz="1000" b="1" dirty="0"/>
              <a:t> xx </a:t>
            </a:r>
            <a:r>
              <a:rPr lang="en-US" sz="1000" dirty="0"/>
              <a:t> </a:t>
            </a:r>
            <a:r>
              <a:rPr lang="en-IN" sz="1000" b="1" kern="0" dirty="0" err="1"/>
              <a:t>Mn</a:t>
            </a:r>
            <a:endParaRPr lang="en-IN" sz="1000" b="1" kern="0" dirty="0"/>
          </a:p>
        </p:txBody>
      </p:sp>
      <p:grpSp>
        <p:nvGrpSpPr>
          <p:cNvPr id="574" name="Group 573"/>
          <p:cNvGrpSpPr/>
          <p:nvPr/>
        </p:nvGrpSpPr>
        <p:grpSpPr>
          <a:xfrm>
            <a:off x="10905304" y="3374982"/>
            <a:ext cx="780327" cy="217492"/>
            <a:chOff x="4770673" y="4219068"/>
            <a:chExt cx="684835" cy="197054"/>
          </a:xfrm>
        </p:grpSpPr>
        <p:sp>
          <p:nvSpPr>
            <p:cNvPr id="575" name="Rounded Rectangle 574"/>
            <p:cNvSpPr/>
            <p:nvPr/>
          </p:nvSpPr>
          <p:spPr>
            <a:xfrm>
              <a:off x="4770673"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576" name="Isosceles Triangle 575"/>
            <p:cNvSpPr/>
            <p:nvPr/>
          </p:nvSpPr>
          <p:spPr>
            <a:xfrm>
              <a:off x="5217488" y="4306394"/>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577" name="Group 576"/>
          <p:cNvGrpSpPr/>
          <p:nvPr/>
        </p:nvGrpSpPr>
        <p:grpSpPr>
          <a:xfrm>
            <a:off x="10984898" y="4406253"/>
            <a:ext cx="621139" cy="257917"/>
            <a:chOff x="7198493" y="4174672"/>
            <a:chExt cx="621139" cy="257917"/>
          </a:xfrm>
        </p:grpSpPr>
        <p:sp>
          <p:nvSpPr>
            <p:cNvPr id="578" name="Right Arrow 577"/>
            <p:cNvSpPr/>
            <p:nvPr/>
          </p:nvSpPr>
          <p:spPr>
            <a:xfrm>
              <a:off x="7198493" y="4174672"/>
              <a:ext cx="302780" cy="257917"/>
            </a:xfrm>
            <a:prstGeom prst="rightArrow">
              <a:avLst/>
            </a:prstGeom>
            <a:solidFill>
              <a:srgbClr val="00B050"/>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H</a:t>
              </a:r>
            </a:p>
          </p:txBody>
        </p:sp>
        <p:sp>
          <p:nvSpPr>
            <p:cNvPr id="579" name="Right Arrow 578"/>
            <p:cNvSpPr/>
            <p:nvPr/>
          </p:nvSpPr>
          <p:spPr>
            <a:xfrm>
              <a:off x="7516852" y="4174672"/>
              <a:ext cx="302780" cy="257917"/>
            </a:xfrm>
            <a:prstGeom prst="rightArrow">
              <a:avLst/>
            </a:prstGeom>
            <a:solidFill>
              <a:srgbClr val="6CA755"/>
            </a:solidFill>
            <a:ln w="12700" cap="flat" cmpd="sng" algn="ctr">
              <a:noFill/>
              <a:prstDash val="solid"/>
              <a:miter lim="800000"/>
            </a:ln>
            <a:effectLst/>
          </p:spPr>
          <p:txBody>
            <a:bodyPr rtlCol="0" anchor="ctr"/>
            <a:lstStyle/>
            <a:p>
              <a:pPr algn="r">
                <a:defRPr/>
              </a:pPr>
              <a:r>
                <a:rPr lang="en-IN" sz="878" kern="0" dirty="0">
                  <a:solidFill>
                    <a:prstClr val="black"/>
                  </a:solidFill>
                  <a:latin typeface="Calibri" panose="020F0502020204030204"/>
                </a:rPr>
                <a:t>F</a:t>
              </a:r>
            </a:p>
          </p:txBody>
        </p:sp>
      </p:grpSp>
      <p:cxnSp>
        <p:nvCxnSpPr>
          <p:cNvPr id="580" name="Straight Connector 579"/>
          <p:cNvCxnSpPr/>
          <p:nvPr/>
        </p:nvCxnSpPr>
        <p:spPr>
          <a:xfrm>
            <a:off x="11283408" y="4355251"/>
            <a:ext cx="0" cy="327924"/>
          </a:xfrm>
          <a:prstGeom prst="line">
            <a:avLst/>
          </a:prstGeom>
          <a:noFill/>
          <a:ln w="6350" cap="flat" cmpd="sng" algn="ctr">
            <a:solidFill>
              <a:srgbClr val="5B9BD5"/>
            </a:solidFill>
            <a:prstDash val="dash"/>
            <a:miter lim="800000"/>
          </a:ln>
          <a:effectLst/>
        </p:spPr>
      </p:cxnSp>
      <p:sp>
        <p:nvSpPr>
          <p:cNvPr id="581" name="Rectangle 580"/>
          <p:cNvSpPr/>
          <p:nvPr/>
        </p:nvSpPr>
        <p:spPr>
          <a:xfrm>
            <a:off x="10635733" y="1325931"/>
            <a:ext cx="1383177" cy="307777"/>
          </a:xfrm>
          <a:prstGeom prst="rect">
            <a:avLst/>
          </a:prstGeom>
        </p:spPr>
        <p:txBody>
          <a:bodyPr wrap="square" anchor="ctr">
            <a:spAutoFit/>
          </a:bodyPr>
          <a:lstStyle/>
          <a:p>
            <a:pPr algn="ctr" fontAlgn="b"/>
            <a:r>
              <a:rPr lang="en-US" sz="1400" b="1" dirty="0" err="1"/>
              <a:t>CompanyI</a:t>
            </a:r>
            <a:endParaRPr lang="en-US" sz="1400" b="1" dirty="0"/>
          </a:p>
        </p:txBody>
      </p:sp>
      <p:grpSp>
        <p:nvGrpSpPr>
          <p:cNvPr id="582" name="Group 581"/>
          <p:cNvGrpSpPr/>
          <p:nvPr/>
        </p:nvGrpSpPr>
        <p:grpSpPr>
          <a:xfrm>
            <a:off x="10953212" y="4966307"/>
            <a:ext cx="684511" cy="411630"/>
            <a:chOff x="5720122" y="4897173"/>
            <a:chExt cx="684511" cy="411630"/>
          </a:xfrm>
        </p:grpSpPr>
        <p:sp>
          <p:nvSpPr>
            <p:cNvPr id="583" name="Oval 582"/>
            <p:cNvSpPr/>
            <p:nvPr/>
          </p:nvSpPr>
          <p:spPr>
            <a:xfrm>
              <a:off x="5720122" y="4897173"/>
              <a:ext cx="213970" cy="213970"/>
            </a:xfrm>
            <a:prstGeom prst="ellipse">
              <a:avLst/>
            </a:prstGeom>
            <a:solidFill>
              <a:srgbClr val="94B135"/>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C</a:t>
              </a:r>
            </a:p>
          </p:txBody>
        </p:sp>
        <p:sp>
          <p:nvSpPr>
            <p:cNvPr id="584" name="Oval 583"/>
            <p:cNvSpPr/>
            <p:nvPr/>
          </p:nvSpPr>
          <p:spPr>
            <a:xfrm>
              <a:off x="5955392" y="4897173"/>
              <a:ext cx="213970" cy="213970"/>
            </a:xfrm>
            <a:prstGeom prst="ellipse">
              <a:avLst/>
            </a:prstGeom>
            <a:solidFill>
              <a:srgbClr val="A6B42B"/>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B</a:t>
              </a:r>
            </a:p>
          </p:txBody>
        </p:sp>
        <p:sp>
          <p:nvSpPr>
            <p:cNvPr id="585" name="Oval 584"/>
            <p:cNvSpPr/>
            <p:nvPr/>
          </p:nvSpPr>
          <p:spPr>
            <a:xfrm>
              <a:off x="6190663" y="489717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S</a:t>
              </a:r>
            </a:p>
          </p:txBody>
        </p:sp>
        <p:sp>
          <p:nvSpPr>
            <p:cNvPr id="586" name="Oval 585"/>
            <p:cNvSpPr/>
            <p:nvPr/>
          </p:nvSpPr>
          <p:spPr>
            <a:xfrm>
              <a:off x="5837758" y="5094833"/>
              <a:ext cx="213970" cy="213970"/>
            </a:xfrm>
            <a:prstGeom prst="ellipse">
              <a:avLst/>
            </a:prstGeom>
            <a:solidFill>
              <a:srgbClr val="7DAE40"/>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E</a:t>
              </a:r>
            </a:p>
          </p:txBody>
        </p:sp>
        <p:sp>
          <p:nvSpPr>
            <p:cNvPr id="587" name="Oval 586"/>
            <p:cNvSpPr/>
            <p:nvPr/>
          </p:nvSpPr>
          <p:spPr>
            <a:xfrm>
              <a:off x="6073027" y="5094833"/>
              <a:ext cx="213970" cy="213970"/>
            </a:xfrm>
            <a:prstGeom prst="ellipse">
              <a:avLst/>
            </a:prstGeom>
            <a:solidFill>
              <a:srgbClr val="70AD47"/>
            </a:solidFill>
            <a:ln w="6350" cap="flat" cmpd="sng" algn="ctr">
              <a:solidFill>
                <a:srgbClr val="5B9BD5">
                  <a:shade val="50000"/>
                </a:srgbClr>
              </a:solidFill>
              <a:prstDash val="sysDot"/>
              <a:miter lim="800000"/>
            </a:ln>
            <a:effectLst/>
          </p:spPr>
          <p:txBody>
            <a:bodyPr lIns="0" rIns="0" rtlCol="0" anchor="ctr"/>
            <a:lstStyle/>
            <a:p>
              <a:pPr algn="ctr">
                <a:defRPr/>
              </a:pPr>
              <a:r>
                <a:rPr lang="en-IN" sz="975" b="1" kern="0" dirty="0">
                  <a:solidFill>
                    <a:prstClr val="black"/>
                  </a:solidFill>
                  <a:latin typeface="Calibri" panose="020F0502020204030204"/>
                </a:rPr>
                <a:t>R</a:t>
              </a:r>
            </a:p>
          </p:txBody>
        </p:sp>
      </p:grpSp>
      <p:grpSp>
        <p:nvGrpSpPr>
          <p:cNvPr id="588" name="Group 587"/>
          <p:cNvGrpSpPr/>
          <p:nvPr/>
        </p:nvGrpSpPr>
        <p:grpSpPr>
          <a:xfrm>
            <a:off x="10905304" y="3894611"/>
            <a:ext cx="780327" cy="209505"/>
            <a:chOff x="4759370" y="4219068"/>
            <a:chExt cx="684835" cy="189818"/>
          </a:xfrm>
        </p:grpSpPr>
        <p:sp>
          <p:nvSpPr>
            <p:cNvPr id="589" name="Rounded Rectangle 588"/>
            <p:cNvSpPr/>
            <p:nvPr/>
          </p:nvSpPr>
          <p:spPr>
            <a:xfrm>
              <a:off x="4759370" y="4219068"/>
              <a:ext cx="684835" cy="145691"/>
            </a:xfrm>
            <a:prstGeom prst="roundRect">
              <a:avLst/>
            </a:prstGeom>
            <a:gradFill flip="none" rotWithShape="1">
              <a:gsLst>
                <a:gs pos="13000">
                  <a:srgbClr val="70AD47"/>
                </a:gs>
                <a:gs pos="56000">
                  <a:srgbClr val="FFC000"/>
                </a:gs>
                <a:gs pos="95000">
                  <a:srgbClr val="ED7D31"/>
                </a:gs>
              </a:gsLst>
              <a:lin ang="10800000" scaled="1"/>
              <a:tileRect/>
            </a:gra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sp>
          <p:nvSpPr>
            <p:cNvPr id="590" name="Isosceles Triangle 589"/>
            <p:cNvSpPr/>
            <p:nvPr/>
          </p:nvSpPr>
          <p:spPr>
            <a:xfrm>
              <a:off x="5279974" y="4299158"/>
              <a:ext cx="156002" cy="109728"/>
            </a:xfrm>
            <a:prstGeom prst="triangle">
              <a:avLst/>
            </a:prstGeom>
            <a:solidFill>
              <a:srgbClr val="44546A"/>
            </a:solidFill>
            <a:ln w="12700" cap="flat" cmpd="sng" algn="ctr">
              <a:noFill/>
              <a:prstDash val="solid"/>
              <a:miter lim="800000"/>
            </a:ln>
            <a:effectLst/>
          </p:spPr>
          <p:txBody>
            <a:bodyPr rtlCol="0" anchor="ctr"/>
            <a:lstStyle/>
            <a:p>
              <a:pPr algn="ctr">
                <a:defRPr/>
              </a:pPr>
              <a:endParaRPr lang="en-IN" sz="1755" kern="0" dirty="0">
                <a:solidFill>
                  <a:prstClr val="white"/>
                </a:solidFill>
                <a:latin typeface="Calibri" panose="020F0502020204030204"/>
              </a:endParaRPr>
            </a:p>
          </p:txBody>
        </p:sp>
      </p:grpSp>
      <p:grpSp>
        <p:nvGrpSpPr>
          <p:cNvPr id="591" name="Group 590"/>
          <p:cNvGrpSpPr/>
          <p:nvPr/>
        </p:nvGrpSpPr>
        <p:grpSpPr>
          <a:xfrm>
            <a:off x="10905844" y="2694811"/>
            <a:ext cx="729554" cy="378034"/>
            <a:chOff x="1344364" y="2348329"/>
            <a:chExt cx="640277" cy="347472"/>
          </a:xfrm>
        </p:grpSpPr>
        <p:graphicFrame>
          <p:nvGraphicFramePr>
            <p:cNvPr id="592" name="Chart 591"/>
            <p:cNvGraphicFramePr/>
            <p:nvPr/>
          </p:nvGraphicFramePr>
          <p:xfrm>
            <a:off x="1344364" y="2348329"/>
            <a:ext cx="362437" cy="347472"/>
          </p:xfrm>
          <a:graphic>
            <a:graphicData uri="http://schemas.openxmlformats.org/drawingml/2006/chart">
              <c:chart xmlns:c="http://schemas.openxmlformats.org/drawingml/2006/chart" xmlns:r="http://schemas.openxmlformats.org/officeDocument/2006/relationships" r:id="rId10"/>
            </a:graphicData>
          </a:graphic>
        </p:graphicFrame>
        <p:sp>
          <p:nvSpPr>
            <p:cNvPr id="593" name="TextBox 592"/>
            <p:cNvSpPr txBox="1"/>
            <p:nvPr/>
          </p:nvSpPr>
          <p:spPr>
            <a:xfrm>
              <a:off x="1773614" y="2443370"/>
              <a:ext cx="211027" cy="124180"/>
            </a:xfrm>
            <a:prstGeom prst="rect">
              <a:avLst/>
            </a:prstGeom>
            <a:noFill/>
          </p:spPr>
          <p:txBody>
            <a:bodyPr wrap="none" lIns="0" tIns="0" rIns="0" bIns="0" rtlCol="0">
              <a:spAutoFit/>
            </a:bodyPr>
            <a:lstStyle/>
            <a:p>
              <a:pPr algn="ctr">
                <a:defRPr/>
              </a:pPr>
              <a:r>
                <a:rPr lang="en-IN" sz="878" b="1" kern="0" dirty="0"/>
                <a:t>~xx%</a:t>
              </a:r>
            </a:p>
          </p:txBody>
        </p:sp>
      </p:grpSp>
      <p:sp>
        <p:nvSpPr>
          <p:cNvPr id="4" name="Slide Number Placeholder 3"/>
          <p:cNvSpPr>
            <a:spLocks noGrp="1"/>
          </p:cNvSpPr>
          <p:nvPr>
            <p:ph type="sldNum" sz="quarter" idx="4"/>
          </p:nvPr>
        </p:nvSpPr>
        <p:spPr/>
        <p:txBody>
          <a:bodyPr/>
          <a:lstStyle/>
          <a:p>
            <a:fld id="{4B17068C-EB94-40A3-A5F2-664CDD77FDAC}" type="slidenum">
              <a:rPr lang="en-GB" smtClean="0"/>
              <a:pPr/>
              <a:t>261</a:t>
            </a:fld>
            <a:endParaRPr lang="en-GB" dirty="0"/>
          </a:p>
        </p:txBody>
      </p:sp>
    </p:spTree>
    <p:extLst>
      <p:ext uri="{BB962C8B-B14F-4D97-AF65-F5344CB8AC3E}">
        <p14:creationId xmlns:p14="http://schemas.microsoft.com/office/powerpoint/2010/main" val="1961237760"/>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CompanyA</a:t>
            </a:r>
            <a:r>
              <a:rPr lang="en-US" dirty="0"/>
              <a:t>: Company Overview (1/3)</a:t>
            </a:r>
          </a:p>
        </p:txBody>
      </p:sp>
      <p:sp>
        <p:nvSpPr>
          <p:cNvPr id="187" name="TextBox 186"/>
          <p:cNvSpPr txBox="1"/>
          <p:nvPr/>
        </p:nvSpPr>
        <p:spPr>
          <a:xfrm>
            <a:off x="229798" y="6205752"/>
            <a:ext cx="2290692" cy="153888"/>
          </a:xfrm>
          <a:prstGeom prst="rect">
            <a:avLst/>
          </a:prstGeom>
          <a:noFill/>
        </p:spPr>
        <p:txBody>
          <a:bodyPr wrap="none" lIns="0" tIns="0" rIns="0" bIns="0" rtlCol="0">
            <a:spAutoFit/>
          </a:bodyPr>
          <a:lstStyle/>
          <a:p>
            <a:pPr defTabSz="966537"/>
            <a:r>
              <a:rPr lang="en-US" sz="1000" dirty="0"/>
              <a:t>Source: TMR Analysis, 2024, Annual Reports</a:t>
            </a:r>
          </a:p>
        </p:txBody>
      </p:sp>
      <p:sp>
        <p:nvSpPr>
          <p:cNvPr id="4" name="Slide Number Placeholder 3"/>
          <p:cNvSpPr>
            <a:spLocks noGrp="1"/>
          </p:cNvSpPr>
          <p:nvPr>
            <p:ph type="sldNum" sz="quarter" idx="4"/>
          </p:nvPr>
        </p:nvSpPr>
        <p:spPr/>
        <p:txBody>
          <a:bodyPr/>
          <a:lstStyle/>
          <a:p>
            <a:fld id="{4B17068C-EB94-40A3-A5F2-664CDD77FDAC}" type="slidenum">
              <a:rPr lang="en-GB" smtClean="0"/>
              <a:pPr/>
              <a:t>262</a:t>
            </a:fld>
            <a:endParaRPr lang="en-GB" dirty="0"/>
          </a:p>
        </p:txBody>
      </p:sp>
      <p:grpSp>
        <p:nvGrpSpPr>
          <p:cNvPr id="247" name="Group 246"/>
          <p:cNvGrpSpPr/>
          <p:nvPr/>
        </p:nvGrpSpPr>
        <p:grpSpPr>
          <a:xfrm>
            <a:off x="5406750" y="1165303"/>
            <a:ext cx="6382800" cy="388163"/>
            <a:chOff x="125729" y="1143000"/>
            <a:chExt cx="9751499" cy="682613"/>
          </a:xfrm>
        </p:grpSpPr>
        <p:sp>
          <p:nvSpPr>
            <p:cNvPr id="248" name="Rectangle 247"/>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249" name="Group 248"/>
            <p:cNvGrpSpPr/>
            <p:nvPr/>
          </p:nvGrpSpPr>
          <p:grpSpPr>
            <a:xfrm>
              <a:off x="125729" y="1175980"/>
              <a:ext cx="9751499" cy="649633"/>
              <a:chOff x="564272" y="1142093"/>
              <a:chExt cx="9751499" cy="1227620"/>
            </a:xfrm>
          </p:grpSpPr>
          <p:sp>
            <p:nvSpPr>
              <p:cNvPr id="251" name="Isosceles Triangle 250"/>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252" name="Isosceles Triangle 251"/>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253" name="Isosceles Triangle 252"/>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254" name="Rectangle 253"/>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250" name="Rectangle 249"/>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255" name="Group 254"/>
          <p:cNvGrpSpPr/>
          <p:nvPr/>
        </p:nvGrpSpPr>
        <p:grpSpPr>
          <a:xfrm>
            <a:off x="5406750" y="3486252"/>
            <a:ext cx="6382800" cy="388163"/>
            <a:chOff x="125729" y="1143000"/>
            <a:chExt cx="9751499" cy="682613"/>
          </a:xfrm>
        </p:grpSpPr>
        <p:sp>
          <p:nvSpPr>
            <p:cNvPr id="256" name="Rectangle 255"/>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257" name="Group 256"/>
            <p:cNvGrpSpPr/>
            <p:nvPr/>
          </p:nvGrpSpPr>
          <p:grpSpPr>
            <a:xfrm>
              <a:off x="125729" y="1175980"/>
              <a:ext cx="9751499" cy="649633"/>
              <a:chOff x="564272" y="1142093"/>
              <a:chExt cx="9751499" cy="1227620"/>
            </a:xfrm>
          </p:grpSpPr>
          <p:sp>
            <p:nvSpPr>
              <p:cNvPr id="259" name="Isosceles Triangle 25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260" name="Isosceles Triangle 25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261" name="Isosceles Triangle 260"/>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262" name="Rectangle 261"/>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258" name="Rectangle 257"/>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263" name="Group 262"/>
          <p:cNvGrpSpPr/>
          <p:nvPr/>
        </p:nvGrpSpPr>
        <p:grpSpPr>
          <a:xfrm>
            <a:off x="152400" y="1362989"/>
            <a:ext cx="4920611" cy="4533901"/>
            <a:chOff x="1186215" y="1362989"/>
            <a:chExt cx="3983038" cy="4533901"/>
          </a:xfrm>
        </p:grpSpPr>
        <p:sp>
          <p:nvSpPr>
            <p:cNvPr id="264"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68"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69"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70"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71"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72"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73"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74"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75"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7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7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7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7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80"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81"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82"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83"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84"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85"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86"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87"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88"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89"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93"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94"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98"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99"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300"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301" name="TextBox 300"/>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302" name="TextBox 301"/>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303" name="TextBox 302"/>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304" name="TextBox 303"/>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305" name="TextBox 304"/>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306" name="Isosceles Triangle 305"/>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307" name="TextBox 306"/>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308" name="Picture 307"/>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309" name="Picture 308"/>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Tree>
    <p:extLst>
      <p:ext uri="{BB962C8B-B14F-4D97-AF65-F5344CB8AC3E}">
        <p14:creationId xmlns:p14="http://schemas.microsoft.com/office/powerpoint/2010/main" val="1377203076"/>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Table 23"/>
          <p:cNvGraphicFramePr>
            <a:graphicFrameLocks noGrp="1"/>
          </p:cNvGraphicFramePr>
          <p:nvPr>
            <p:extLst>
              <p:ext uri="{D42A27DB-BD31-4B8C-83A1-F6EECF244321}">
                <p14:modId xmlns:p14="http://schemas.microsoft.com/office/powerpoint/2010/main" val="1516924802"/>
              </p:ext>
            </p:extLst>
          </p:nvPr>
        </p:nvGraphicFramePr>
        <p:xfrm>
          <a:off x="4740371" y="1615278"/>
          <a:ext cx="7182279" cy="2219933"/>
        </p:xfrm>
        <a:graphic>
          <a:graphicData uri="http://schemas.openxmlformats.org/drawingml/2006/table">
            <a:tbl>
              <a:tblPr firstRow="1" bandRow="1">
                <a:tableStyleId>{D27102A9-8310-4765-A935-A1911B00CA55}</a:tableStyleId>
              </a:tblPr>
              <a:tblGrid>
                <a:gridCol w="2622103">
                  <a:extLst>
                    <a:ext uri="{9D8B030D-6E8A-4147-A177-3AD203B41FA5}">
                      <a16:colId xmlns:a16="http://schemas.microsoft.com/office/drawing/2014/main" val="20000"/>
                    </a:ext>
                  </a:extLst>
                </a:gridCol>
                <a:gridCol w="1140044">
                  <a:extLst>
                    <a:ext uri="{9D8B030D-6E8A-4147-A177-3AD203B41FA5}">
                      <a16:colId xmlns:a16="http://schemas.microsoft.com/office/drawing/2014/main" val="20001"/>
                    </a:ext>
                  </a:extLst>
                </a:gridCol>
                <a:gridCol w="1140044">
                  <a:extLst>
                    <a:ext uri="{9D8B030D-6E8A-4147-A177-3AD203B41FA5}">
                      <a16:colId xmlns:a16="http://schemas.microsoft.com/office/drawing/2014/main" val="20002"/>
                    </a:ext>
                  </a:extLst>
                </a:gridCol>
                <a:gridCol w="1140044">
                  <a:extLst>
                    <a:ext uri="{9D8B030D-6E8A-4147-A177-3AD203B41FA5}">
                      <a16:colId xmlns:a16="http://schemas.microsoft.com/office/drawing/2014/main" val="20003"/>
                    </a:ext>
                  </a:extLst>
                </a:gridCol>
                <a:gridCol w="1140044">
                  <a:extLst>
                    <a:ext uri="{9D8B030D-6E8A-4147-A177-3AD203B41FA5}">
                      <a16:colId xmlns:a16="http://schemas.microsoft.com/office/drawing/2014/main" val="20004"/>
                    </a:ext>
                  </a:extLst>
                </a:gridCol>
              </a:tblGrid>
              <a:tr h="540679">
                <a:tc>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050" kern="1200" dirty="0">
                          <a:solidFill>
                            <a:schemeClr val="tx1"/>
                          </a:solidFill>
                        </a:rPr>
                        <a:t>Financial</a:t>
                      </a:r>
                      <a:r>
                        <a:rPr lang="en-US" sz="1050" kern="1200" baseline="0" dirty="0">
                          <a:solidFill>
                            <a:schemeClr val="tx1"/>
                          </a:solidFill>
                        </a:rPr>
                        <a:t> Indicators </a:t>
                      </a:r>
                      <a:endParaRPr lang="en-US" sz="1050" b="1" i="0" kern="1200" dirty="0">
                        <a:solidFill>
                          <a:schemeClr val="tx1"/>
                        </a:solidFill>
                        <a:latin typeface="+mn-lt"/>
                        <a:ea typeface="+mn-ea"/>
                        <a:cs typeface="Times New Roman" pitchFamily="18" charset="0"/>
                      </a:endParaRPr>
                    </a:p>
                  </a:txBody>
                  <a:tcPr marL="84406" marR="84406" anchor="ct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ts val="1000"/>
                        </a:lnSpc>
                      </a:pPr>
                      <a:r>
                        <a:rPr lang="en-US" sz="1000" dirty="0">
                          <a:solidFill>
                            <a:schemeClr val="tx1"/>
                          </a:solidFill>
                        </a:rPr>
                        <a:t>March</a:t>
                      </a:r>
                      <a:endParaRPr lang="en-US" sz="1000" baseline="0" dirty="0">
                        <a:solidFill>
                          <a:schemeClr val="tx1"/>
                        </a:solidFill>
                      </a:endParaRPr>
                    </a:p>
                    <a:p>
                      <a:pPr algn="ctr">
                        <a:lnSpc>
                          <a:spcPts val="1000"/>
                        </a:lnSpc>
                      </a:pPr>
                      <a:r>
                        <a:rPr lang="en-US" sz="1000" dirty="0">
                          <a:solidFill>
                            <a:schemeClr val="tx1"/>
                          </a:solidFill>
                        </a:rPr>
                        <a:t>2019</a:t>
                      </a:r>
                      <a:endParaRPr lang="en-US" sz="1000" b="1" kern="1200" dirty="0">
                        <a:solidFill>
                          <a:schemeClr val="tx1"/>
                        </a:solidFill>
                        <a:latin typeface="Calibri" panose="020F0502020204030204"/>
                        <a:ea typeface="+mn-ea"/>
                        <a:cs typeface="Times New Roman" pitchFamily="18" charset="0"/>
                      </a:endParaRPr>
                    </a:p>
                  </a:txBody>
                  <a:tcPr marL="84406" marR="84406" anchor="ct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ts val="1000"/>
                        </a:lnSpc>
                      </a:pPr>
                      <a:r>
                        <a:rPr lang="en-US" sz="1000" dirty="0">
                          <a:solidFill>
                            <a:schemeClr val="tx1"/>
                          </a:solidFill>
                        </a:rPr>
                        <a:t>March</a:t>
                      </a:r>
                    </a:p>
                    <a:p>
                      <a:pPr algn="ctr">
                        <a:lnSpc>
                          <a:spcPts val="1000"/>
                        </a:lnSpc>
                      </a:pPr>
                      <a:r>
                        <a:rPr lang="en-US" sz="1000" dirty="0">
                          <a:solidFill>
                            <a:schemeClr val="tx1"/>
                          </a:solidFill>
                        </a:rPr>
                        <a:t>2020</a:t>
                      </a:r>
                      <a:endParaRPr lang="en-US" sz="1000" b="1" kern="1200" dirty="0">
                        <a:solidFill>
                          <a:schemeClr val="tx1"/>
                        </a:solidFill>
                        <a:latin typeface="Calibri" panose="020F0502020204030204"/>
                        <a:ea typeface="+mn-ea"/>
                        <a:cs typeface="Times New Roman" pitchFamily="18" charset="0"/>
                      </a:endParaRPr>
                    </a:p>
                  </a:txBody>
                  <a:tcPr marL="84406" marR="84406" anchor="ct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ts val="1000"/>
                        </a:lnSpc>
                      </a:pPr>
                      <a:r>
                        <a:rPr lang="en-US" sz="1000" dirty="0">
                          <a:solidFill>
                            <a:schemeClr val="tx1"/>
                          </a:solidFill>
                        </a:rPr>
                        <a:t>March</a:t>
                      </a:r>
                    </a:p>
                    <a:p>
                      <a:pPr algn="ctr">
                        <a:lnSpc>
                          <a:spcPts val="1000"/>
                        </a:lnSpc>
                      </a:pPr>
                      <a:r>
                        <a:rPr lang="en-US" sz="1000" dirty="0">
                          <a:solidFill>
                            <a:schemeClr val="tx1"/>
                          </a:solidFill>
                        </a:rPr>
                        <a:t>2021</a:t>
                      </a:r>
                      <a:endParaRPr lang="en-US" sz="1000" b="1" kern="1200" dirty="0">
                        <a:solidFill>
                          <a:schemeClr val="tx1"/>
                        </a:solidFill>
                        <a:latin typeface="Calibri" panose="020F0502020204030204"/>
                        <a:ea typeface="+mn-ea"/>
                        <a:cs typeface="Times New Roman" pitchFamily="18" charset="0"/>
                      </a:endParaRPr>
                    </a:p>
                  </a:txBody>
                  <a:tcPr marL="84406" marR="84406" anchor="ct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ts val="1000"/>
                        </a:lnSpc>
                      </a:pPr>
                      <a:r>
                        <a:rPr lang="en-US" sz="1000" dirty="0">
                          <a:solidFill>
                            <a:schemeClr val="tx1"/>
                          </a:solidFill>
                        </a:rPr>
                        <a:t>March</a:t>
                      </a:r>
                    </a:p>
                    <a:p>
                      <a:pPr algn="ctr">
                        <a:lnSpc>
                          <a:spcPts val="1000"/>
                        </a:lnSpc>
                      </a:pPr>
                      <a:r>
                        <a:rPr lang="en-US" sz="1000" dirty="0">
                          <a:solidFill>
                            <a:schemeClr val="tx1"/>
                          </a:solidFill>
                        </a:rPr>
                        <a:t>2022</a:t>
                      </a:r>
                      <a:endParaRPr lang="en-US" sz="1000" b="1" kern="1200" dirty="0">
                        <a:solidFill>
                          <a:schemeClr val="tx1"/>
                        </a:solidFill>
                        <a:latin typeface="Calibri" panose="020F0502020204030204"/>
                        <a:ea typeface="+mn-ea"/>
                        <a:cs typeface="Times New Roman" pitchFamily="18" charset="0"/>
                      </a:endParaRPr>
                    </a:p>
                  </a:txBody>
                  <a:tcPr marL="84406" marR="84406" anchor="ctr"/>
                </a:tc>
                <a:extLst>
                  <a:ext uri="{0D108BD9-81ED-4DB2-BD59-A6C34878D82A}">
                    <a16:rowId xmlns:a16="http://schemas.microsoft.com/office/drawing/2014/main" val="10000"/>
                  </a:ext>
                </a:extLst>
              </a:tr>
              <a:tr h="319110">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l" defTabSz="914400" rtl="0" eaLnBrk="1" fontAlgn="auto" latinLnBrk="0" hangingPunct="1">
                        <a:lnSpc>
                          <a:spcPts val="1000"/>
                        </a:lnSpc>
                        <a:spcBef>
                          <a:spcPts val="0"/>
                        </a:spcBef>
                        <a:spcAft>
                          <a:spcPts val="0"/>
                        </a:spcAft>
                        <a:buClrTx/>
                        <a:buSzTx/>
                        <a:buFontTx/>
                        <a:buNone/>
                        <a:tabLst/>
                        <a:defRPr/>
                      </a:pPr>
                      <a:r>
                        <a:rPr lang="en-GB" sz="1000" dirty="0"/>
                        <a:t>Revenue (US$ </a:t>
                      </a:r>
                      <a:r>
                        <a:rPr lang="en-GB" sz="1000" dirty="0" err="1"/>
                        <a:t>Mn</a:t>
                      </a:r>
                      <a:r>
                        <a:rPr lang="en-GB" sz="1000" dirty="0"/>
                        <a:t>)</a:t>
                      </a:r>
                      <a:endParaRPr lang="en-US" sz="1000" dirty="0">
                        <a:latin typeface="+mn-lt"/>
                        <a:cs typeface="Times New Roman" pitchFamily="18" charset="0"/>
                      </a:endParaRPr>
                    </a:p>
                  </a:txBody>
                  <a:tcPr marL="84406" marR="84406" anchor="ctr"/>
                </a:tc>
                <a:tc>
                  <a:txBody>
                    <a:bodyPr/>
                    <a:lstStyle/>
                    <a:p>
                      <a:pPr algn="ctr" fontAlgn="b"/>
                      <a:r>
                        <a:rPr lang="en-IN" sz="1100" b="0" i="0" u="none" strike="noStrike" dirty="0">
                          <a:solidFill>
                            <a:srgbClr val="000000"/>
                          </a:solidFill>
                          <a:effectLst/>
                          <a:latin typeface="Calibri" panose="020F0502020204030204" pitchFamily="34" charset="0"/>
                        </a:rPr>
                        <a:t>xx </a:t>
                      </a: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extLst>
                  <a:ext uri="{0D108BD9-81ED-4DB2-BD59-A6C34878D82A}">
                    <a16:rowId xmlns:a16="http://schemas.microsoft.com/office/drawing/2014/main" val="10001"/>
                  </a:ext>
                </a:extLst>
              </a:tr>
              <a:tr h="319110">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l" defTabSz="914400" rtl="0" eaLnBrk="1" fontAlgn="auto" latinLnBrk="0" hangingPunct="1">
                        <a:lnSpc>
                          <a:spcPts val="1000"/>
                        </a:lnSpc>
                        <a:spcBef>
                          <a:spcPts val="0"/>
                        </a:spcBef>
                        <a:spcAft>
                          <a:spcPts val="0"/>
                        </a:spcAft>
                        <a:buClrTx/>
                        <a:buSzTx/>
                        <a:buFontTx/>
                        <a:buNone/>
                        <a:tabLst/>
                        <a:defRPr/>
                      </a:pPr>
                      <a:r>
                        <a:rPr lang="en-GB" sz="1000" dirty="0"/>
                        <a:t>Operating Income (US$ </a:t>
                      </a:r>
                      <a:r>
                        <a:rPr lang="en-GB" sz="1000" dirty="0" err="1"/>
                        <a:t>Mn</a:t>
                      </a:r>
                      <a:r>
                        <a:rPr lang="en-GB" sz="1000" dirty="0"/>
                        <a:t>)</a:t>
                      </a:r>
                      <a:endParaRPr lang="en-US" sz="1000" dirty="0">
                        <a:latin typeface="+mn-lt"/>
                        <a:cs typeface="Times New Roman" pitchFamily="18" charset="0"/>
                      </a:endParaRPr>
                    </a:p>
                  </a:txBody>
                  <a:tcPr marL="84406" marR="84406"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xx </a:t>
                      </a:r>
                    </a:p>
                  </a:txBody>
                  <a:tcPr marL="9525" marR="9525" marT="9525" marB="0" anchor="ctr"/>
                </a:tc>
                <a:extLst>
                  <a:ext uri="{0D108BD9-81ED-4DB2-BD59-A6C34878D82A}">
                    <a16:rowId xmlns:a16="http://schemas.microsoft.com/office/drawing/2014/main" val="10009"/>
                  </a:ext>
                </a:extLst>
              </a:tr>
              <a:tr h="319110">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l" defTabSz="914400" rtl="0" eaLnBrk="1" fontAlgn="auto" latinLnBrk="0" hangingPunct="1">
                        <a:lnSpc>
                          <a:spcPts val="1000"/>
                        </a:lnSpc>
                        <a:spcBef>
                          <a:spcPts val="0"/>
                        </a:spcBef>
                        <a:spcAft>
                          <a:spcPts val="0"/>
                        </a:spcAft>
                        <a:buClrTx/>
                        <a:buSzTx/>
                        <a:buFontTx/>
                        <a:buNone/>
                        <a:tabLst/>
                        <a:defRPr/>
                      </a:pPr>
                      <a:r>
                        <a:rPr lang="en-GB" sz="1000" dirty="0"/>
                        <a:t>Net Income (US$ </a:t>
                      </a:r>
                      <a:r>
                        <a:rPr lang="en-GB" sz="1000" dirty="0" err="1"/>
                        <a:t>Mn</a:t>
                      </a:r>
                      <a:r>
                        <a:rPr lang="en-GB" sz="1000" dirty="0"/>
                        <a:t>)</a:t>
                      </a:r>
                      <a:endParaRPr lang="en-US" sz="1000" dirty="0">
                        <a:latin typeface="+mn-lt"/>
                        <a:cs typeface="Times New Roman" pitchFamily="18" charset="0"/>
                      </a:endParaRPr>
                    </a:p>
                  </a:txBody>
                  <a:tcPr marL="84406" marR="84406"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extLst>
                  <a:ext uri="{0D108BD9-81ED-4DB2-BD59-A6C34878D82A}">
                    <a16:rowId xmlns:a16="http://schemas.microsoft.com/office/drawing/2014/main" val="10002"/>
                  </a:ext>
                </a:extLst>
              </a:tr>
              <a:tr h="360962">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l" defTabSz="914400" rtl="0" eaLnBrk="1" fontAlgn="auto" latinLnBrk="0" hangingPunct="1">
                        <a:lnSpc>
                          <a:spcPts val="1000"/>
                        </a:lnSpc>
                        <a:spcBef>
                          <a:spcPts val="0"/>
                        </a:spcBef>
                        <a:spcAft>
                          <a:spcPts val="0"/>
                        </a:spcAft>
                        <a:buClrTx/>
                        <a:buSzTx/>
                        <a:buFontTx/>
                        <a:buNone/>
                        <a:tabLst/>
                        <a:defRPr/>
                      </a:pPr>
                      <a:r>
                        <a:rPr lang="en-GB" sz="1000" dirty="0"/>
                        <a:t>Operating Margin %</a:t>
                      </a:r>
                      <a:endParaRPr lang="en-US" sz="1000" dirty="0">
                        <a:latin typeface="+mn-lt"/>
                        <a:cs typeface="Times New Roman" pitchFamily="18" charset="0"/>
                      </a:endParaRPr>
                    </a:p>
                  </a:txBody>
                  <a:tcPr marL="84406" marR="84406"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xx </a:t>
                      </a: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extLst>
                  <a:ext uri="{0D108BD9-81ED-4DB2-BD59-A6C34878D82A}">
                    <a16:rowId xmlns:a16="http://schemas.microsoft.com/office/drawing/2014/main" val="10003"/>
                  </a:ext>
                </a:extLst>
              </a:tr>
              <a:tr h="360962">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l" defTabSz="914400" rtl="0" eaLnBrk="1" fontAlgn="auto" latinLnBrk="0" hangingPunct="1">
                        <a:lnSpc>
                          <a:spcPts val="1000"/>
                        </a:lnSpc>
                        <a:spcBef>
                          <a:spcPts val="0"/>
                        </a:spcBef>
                        <a:spcAft>
                          <a:spcPts val="0"/>
                        </a:spcAft>
                        <a:buClrTx/>
                        <a:buSzTx/>
                        <a:buFontTx/>
                        <a:buNone/>
                        <a:tabLst/>
                        <a:defRPr/>
                      </a:pPr>
                      <a:r>
                        <a:rPr lang="en-GB" sz="1000" dirty="0"/>
                        <a:t>Net Margin</a:t>
                      </a:r>
                      <a:r>
                        <a:rPr lang="en-GB" sz="1000" baseline="0" dirty="0"/>
                        <a:t> %</a:t>
                      </a:r>
                      <a:endParaRPr lang="en-US" sz="1000" dirty="0">
                        <a:latin typeface="+mn-lt"/>
                        <a:cs typeface="Times New Roman" pitchFamily="18" charset="0"/>
                      </a:endParaRPr>
                    </a:p>
                  </a:txBody>
                  <a:tcPr marL="84406" marR="84406"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xx </a:t>
                      </a:r>
                      <a:endPar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9525" marR="9525" marT="9525" marB="0" anchor="ctr"/>
                </a:tc>
                <a:tc>
                  <a:txBody>
                    <a:bodyPr/>
                    <a:lstStyle/>
                    <a:p>
                      <a:pPr marL="0" marR="0" lvl="0" indent="0" algn="ctr" defTabSz="914391" rtl="0" eaLnBrk="1" fontAlgn="b"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xx </a:t>
                      </a:r>
                    </a:p>
                  </a:txBody>
                  <a:tcPr marL="9525" marR="9525" marT="9525" marB="0" anchor="ctr"/>
                </a:tc>
                <a:extLst>
                  <a:ext uri="{0D108BD9-81ED-4DB2-BD59-A6C34878D82A}">
                    <a16:rowId xmlns:a16="http://schemas.microsoft.com/office/drawing/2014/main" val="10006"/>
                  </a:ext>
                </a:extLst>
              </a:tr>
            </a:tbl>
          </a:graphicData>
        </a:graphic>
      </p:graphicFrame>
      <p:graphicFrame>
        <p:nvGraphicFramePr>
          <p:cNvPr id="25" name="Chart 24"/>
          <p:cNvGraphicFramePr/>
          <p:nvPr/>
        </p:nvGraphicFramePr>
        <p:xfrm>
          <a:off x="4788794" y="4508824"/>
          <a:ext cx="3371576" cy="166542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6" name="Chart 25"/>
          <p:cNvGraphicFramePr/>
          <p:nvPr/>
        </p:nvGraphicFramePr>
        <p:xfrm>
          <a:off x="8502651" y="4477870"/>
          <a:ext cx="3420000" cy="1664208"/>
        </p:xfrm>
        <a:graphic>
          <a:graphicData uri="http://schemas.openxmlformats.org/drawingml/2006/chart">
            <c:chart xmlns:c="http://schemas.openxmlformats.org/drawingml/2006/chart" xmlns:r="http://schemas.openxmlformats.org/officeDocument/2006/relationships" r:id="rId3"/>
          </a:graphicData>
        </a:graphic>
      </p:graphicFrame>
      <p:sp>
        <p:nvSpPr>
          <p:cNvPr id="4" name="Title 3"/>
          <p:cNvSpPr>
            <a:spLocks noGrp="1"/>
          </p:cNvSpPr>
          <p:nvPr>
            <p:ph type="title"/>
          </p:nvPr>
        </p:nvSpPr>
        <p:spPr/>
        <p:txBody>
          <a:bodyPr/>
          <a:lstStyle/>
          <a:p>
            <a:r>
              <a:rPr lang="en-US" sz="2000" dirty="0" err="1"/>
              <a:t>CompanyA</a:t>
            </a:r>
            <a:r>
              <a:rPr lang="en-US" sz="2000" dirty="0"/>
              <a:t>: Financials (2/3)</a:t>
            </a:r>
          </a:p>
        </p:txBody>
      </p:sp>
      <p:sp>
        <p:nvSpPr>
          <p:cNvPr id="31" name="Rounded Rectangle 30"/>
          <p:cNvSpPr/>
          <p:nvPr/>
        </p:nvSpPr>
        <p:spPr>
          <a:xfrm>
            <a:off x="4740370" y="1139341"/>
            <a:ext cx="7182281" cy="405141"/>
          </a:xfrm>
          <a:prstGeom prst="roundRect">
            <a:avLst/>
          </a:prstGeom>
          <a:gradFill flip="none" rotWithShape="1">
            <a:gsLst>
              <a:gs pos="0">
                <a:schemeClr val="accent1">
                  <a:lumMod val="75000"/>
                  <a:shade val="30000"/>
                  <a:satMod val="115000"/>
                </a:schemeClr>
              </a:gs>
              <a:gs pos="55000">
                <a:schemeClr val="accent1">
                  <a:lumMod val="75000"/>
                  <a:shade val="67500"/>
                  <a:satMod val="115000"/>
                </a:schemeClr>
              </a:gs>
              <a:gs pos="100000">
                <a:schemeClr val="accent1">
                  <a:lumMod val="73000"/>
                  <a:lumOff val="27000"/>
                </a:schemeClr>
              </a:gs>
            </a:gsLst>
            <a:lin ang="0" scaled="1"/>
            <a:tileRect/>
          </a:gradFill>
          <a:ln>
            <a:noFill/>
          </a:ln>
          <a:effectLst>
            <a:outerShdw blurRad="50800" dist="38100" dir="2700000" algn="tl" rotWithShape="0">
              <a:prstClr val="black">
                <a:alpha val="40000"/>
              </a:prstClr>
            </a:outerShdw>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r>
              <a:rPr lang="en-US" sz="1200" b="1" dirty="0">
                <a:solidFill>
                  <a:prstClr val="white"/>
                </a:solidFill>
                <a:latin typeface="Calibri" panose="020F0502020204030204"/>
              </a:rPr>
              <a:t>Key Financials</a:t>
            </a:r>
          </a:p>
        </p:txBody>
      </p:sp>
      <p:sp>
        <p:nvSpPr>
          <p:cNvPr id="32" name="Rounded Rectangle 31"/>
          <p:cNvSpPr/>
          <p:nvPr/>
        </p:nvSpPr>
        <p:spPr>
          <a:xfrm>
            <a:off x="4740370" y="4063517"/>
            <a:ext cx="3420000" cy="405141"/>
          </a:xfrm>
          <a:prstGeom prst="roundRect">
            <a:avLst/>
          </a:prstGeom>
          <a:gradFill flip="none" rotWithShape="1">
            <a:gsLst>
              <a:gs pos="0">
                <a:schemeClr val="accent1">
                  <a:lumMod val="75000"/>
                  <a:shade val="30000"/>
                  <a:satMod val="115000"/>
                </a:schemeClr>
              </a:gs>
              <a:gs pos="55000">
                <a:schemeClr val="accent1">
                  <a:lumMod val="75000"/>
                  <a:shade val="67500"/>
                  <a:satMod val="115000"/>
                </a:schemeClr>
              </a:gs>
              <a:gs pos="100000">
                <a:schemeClr val="accent1">
                  <a:lumMod val="73000"/>
                  <a:lumOff val="27000"/>
                </a:schemeClr>
              </a:gs>
            </a:gsLst>
            <a:lin ang="0" scaled="1"/>
            <a:tileRect/>
          </a:gradFill>
          <a:ln>
            <a:noFill/>
          </a:ln>
          <a:effectLst>
            <a:outerShdw blurRad="50800" dist="38100" dir="2700000" algn="tl" rotWithShape="0">
              <a:prstClr val="black">
                <a:alpha val="40000"/>
              </a:prstClr>
            </a:outerShdw>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r>
              <a:rPr lang="en-US" sz="1200" b="1" dirty="0">
                <a:solidFill>
                  <a:prstClr val="white"/>
                </a:solidFill>
                <a:latin typeface="Calibri" panose="020F0502020204030204"/>
              </a:rPr>
              <a:t>Revenue &amp; Y-o-Y Growth, 2019 – 2022</a:t>
            </a:r>
          </a:p>
        </p:txBody>
      </p:sp>
      <p:sp>
        <p:nvSpPr>
          <p:cNvPr id="33" name="Rounded Rectangle 32"/>
          <p:cNvSpPr/>
          <p:nvPr/>
        </p:nvSpPr>
        <p:spPr>
          <a:xfrm>
            <a:off x="8502651" y="4063517"/>
            <a:ext cx="3420000" cy="405141"/>
          </a:xfrm>
          <a:prstGeom prst="roundRect">
            <a:avLst/>
          </a:prstGeom>
          <a:gradFill flip="none" rotWithShape="1">
            <a:gsLst>
              <a:gs pos="0">
                <a:schemeClr val="accent1">
                  <a:lumMod val="75000"/>
                  <a:shade val="30000"/>
                  <a:satMod val="115000"/>
                </a:schemeClr>
              </a:gs>
              <a:gs pos="55000">
                <a:schemeClr val="accent1">
                  <a:lumMod val="75000"/>
                  <a:shade val="67500"/>
                  <a:satMod val="115000"/>
                </a:schemeClr>
              </a:gs>
              <a:gs pos="100000">
                <a:schemeClr val="accent1">
                  <a:lumMod val="73000"/>
                  <a:lumOff val="27000"/>
                </a:schemeClr>
              </a:gs>
            </a:gsLst>
            <a:lin ang="0" scaled="1"/>
            <a:tileRect/>
          </a:gradFill>
          <a:ln>
            <a:noFill/>
          </a:ln>
          <a:effectLst>
            <a:outerShdw blurRad="50800" dist="38100" dir="2700000" algn="tl" rotWithShape="0">
              <a:prstClr val="black">
                <a:alpha val="40000"/>
              </a:prstClr>
            </a:outerShdw>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r>
              <a:rPr lang="en-US" sz="1200" b="1" dirty="0">
                <a:solidFill>
                  <a:prstClr val="white"/>
                </a:solidFill>
                <a:latin typeface="Calibri" panose="020F0502020204030204"/>
              </a:rPr>
              <a:t>Operating &amp; Net Margins (%), 2019 – 2022</a:t>
            </a:r>
          </a:p>
        </p:txBody>
      </p:sp>
      <p:grpSp>
        <p:nvGrpSpPr>
          <p:cNvPr id="2" name="Group 1"/>
          <p:cNvGrpSpPr/>
          <p:nvPr/>
        </p:nvGrpSpPr>
        <p:grpSpPr>
          <a:xfrm>
            <a:off x="152400" y="1139340"/>
            <a:ext cx="4096800" cy="4889320"/>
            <a:chOff x="1284650" y="1139340"/>
            <a:chExt cx="3281430" cy="4889320"/>
          </a:xfrm>
        </p:grpSpPr>
        <p:graphicFrame>
          <p:nvGraphicFramePr>
            <p:cNvPr id="11" name="Chart 10"/>
            <p:cNvGraphicFramePr/>
            <p:nvPr/>
          </p:nvGraphicFramePr>
          <p:xfrm>
            <a:off x="1389155" y="1637662"/>
            <a:ext cx="3059454" cy="1955965"/>
          </p:xfrm>
          <a:graphic>
            <a:graphicData uri="http://schemas.openxmlformats.org/drawingml/2006/chart">
              <c:chart xmlns:c="http://schemas.openxmlformats.org/drawingml/2006/chart" xmlns:r="http://schemas.openxmlformats.org/officeDocument/2006/relationships" r:id="rId4"/>
            </a:graphicData>
          </a:graphic>
        </p:graphicFrame>
        <p:sp>
          <p:nvSpPr>
            <p:cNvPr id="17" name="Rounded Rectangle 16"/>
            <p:cNvSpPr/>
            <p:nvPr/>
          </p:nvSpPr>
          <p:spPr>
            <a:xfrm>
              <a:off x="1284650" y="1139340"/>
              <a:ext cx="3281430" cy="4889320"/>
            </a:xfrm>
            <a:prstGeom prst="roundRect">
              <a:avLst>
                <a:gd name="adj" fmla="val 8560"/>
              </a:avLst>
            </a:prstGeom>
            <a:noFill/>
            <a:ln w="9525">
              <a:solidFill>
                <a:schemeClr val="bg2">
                  <a:lumMod val="7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pic>
          <p:nvPicPr>
            <p:cNvPr id="21" name="Picture 20"/>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2132823" y="2331426"/>
              <a:ext cx="525935" cy="471624"/>
            </a:xfrm>
            <a:prstGeom prst="rect">
              <a:avLst/>
            </a:prstGeom>
          </p:spPr>
        </p:pic>
        <p:sp>
          <p:nvSpPr>
            <p:cNvPr id="19" name="Rounded Rectangle 18"/>
            <p:cNvSpPr/>
            <p:nvPr/>
          </p:nvSpPr>
          <p:spPr>
            <a:xfrm>
              <a:off x="1389155" y="1232521"/>
              <a:ext cx="3085581" cy="405141"/>
            </a:xfrm>
            <a:prstGeom prst="roundRect">
              <a:avLst/>
            </a:prstGeom>
            <a:gradFill flip="none" rotWithShape="1">
              <a:gsLst>
                <a:gs pos="0">
                  <a:schemeClr val="accent1">
                    <a:lumMod val="75000"/>
                    <a:shade val="30000"/>
                    <a:satMod val="115000"/>
                  </a:schemeClr>
                </a:gs>
                <a:gs pos="55000">
                  <a:schemeClr val="accent1">
                    <a:lumMod val="75000"/>
                    <a:shade val="67500"/>
                    <a:satMod val="115000"/>
                  </a:schemeClr>
                </a:gs>
                <a:gs pos="100000">
                  <a:schemeClr val="accent1">
                    <a:lumMod val="73000"/>
                    <a:lumOff val="27000"/>
                  </a:schemeClr>
                </a:gs>
              </a:gsLst>
              <a:lin ang="0" scaled="1"/>
              <a:tileRect/>
            </a:gradFill>
            <a:ln>
              <a:noFill/>
            </a:ln>
            <a:effectLst>
              <a:outerShdw blurRad="50800" dist="38100" dir="2700000" algn="tl" rotWithShape="0">
                <a:prstClr val="black">
                  <a:alpha val="40000"/>
                </a:prstClr>
              </a:outerShdw>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1200" b="1" dirty="0">
                  <a:solidFill>
                    <a:prstClr val="white"/>
                  </a:solidFill>
                  <a:latin typeface="Calibri" panose="020F0502020204030204"/>
                </a:rPr>
                <a:t>Revenue Split by Business Segment, 2022</a:t>
              </a:r>
            </a:p>
          </p:txBody>
        </p:sp>
        <p:sp>
          <p:nvSpPr>
            <p:cNvPr id="16" name="Rounded Rectangle 15"/>
            <p:cNvSpPr/>
            <p:nvPr/>
          </p:nvSpPr>
          <p:spPr>
            <a:xfrm>
              <a:off x="1363028" y="3593628"/>
              <a:ext cx="3085581" cy="405141"/>
            </a:xfrm>
            <a:prstGeom prst="roundRect">
              <a:avLst/>
            </a:prstGeom>
            <a:gradFill flip="none" rotWithShape="1">
              <a:gsLst>
                <a:gs pos="0">
                  <a:schemeClr val="accent1">
                    <a:lumMod val="75000"/>
                    <a:shade val="30000"/>
                    <a:satMod val="115000"/>
                  </a:schemeClr>
                </a:gs>
                <a:gs pos="55000">
                  <a:schemeClr val="accent1">
                    <a:lumMod val="75000"/>
                    <a:shade val="67500"/>
                    <a:satMod val="115000"/>
                  </a:schemeClr>
                </a:gs>
                <a:gs pos="100000">
                  <a:schemeClr val="accent1">
                    <a:lumMod val="73000"/>
                    <a:lumOff val="27000"/>
                  </a:schemeClr>
                </a:gs>
              </a:gsLst>
              <a:lin ang="0" scaled="1"/>
              <a:tileRect/>
            </a:gradFill>
            <a:ln>
              <a:noFill/>
            </a:ln>
            <a:effectLst>
              <a:outerShdw blurRad="50800" dist="38100" dir="2700000" algn="tl" rotWithShape="0">
                <a:prstClr val="black">
                  <a:alpha val="40000"/>
                </a:prstClr>
              </a:outerShdw>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1200" b="1" dirty="0">
                  <a:solidFill>
                    <a:prstClr val="white"/>
                  </a:solidFill>
                  <a:latin typeface="Calibri" panose="020F0502020204030204"/>
                </a:rPr>
                <a:t>Revenue Split by Region Segment, 2022</a:t>
              </a:r>
            </a:p>
          </p:txBody>
        </p:sp>
        <p:pic>
          <p:nvPicPr>
            <p:cNvPr id="22" name="Picture 21"/>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2132823" y="4633788"/>
              <a:ext cx="525935" cy="471624"/>
            </a:xfrm>
            <a:prstGeom prst="rect">
              <a:avLst/>
            </a:prstGeom>
          </p:spPr>
        </p:pic>
        <p:graphicFrame>
          <p:nvGraphicFramePr>
            <p:cNvPr id="20" name="Chart 19"/>
            <p:cNvGraphicFramePr/>
            <p:nvPr/>
          </p:nvGraphicFramePr>
          <p:xfrm>
            <a:off x="1389155" y="3998768"/>
            <a:ext cx="3085581" cy="1859154"/>
          </p:xfrm>
          <a:graphic>
            <a:graphicData uri="http://schemas.openxmlformats.org/drawingml/2006/chart">
              <c:chart xmlns:c="http://schemas.openxmlformats.org/drawingml/2006/chart" xmlns:r="http://schemas.openxmlformats.org/officeDocument/2006/relationships" r:id="rId6"/>
            </a:graphicData>
          </a:graphic>
        </p:graphicFrame>
      </p:grpSp>
      <p:sp>
        <p:nvSpPr>
          <p:cNvPr id="27" name="TextBox 26"/>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sp>
        <p:nvSpPr>
          <p:cNvPr id="5" name="Slide Number Placeholder 4"/>
          <p:cNvSpPr>
            <a:spLocks noGrp="1"/>
          </p:cNvSpPr>
          <p:nvPr>
            <p:ph type="sldNum" sz="quarter" idx="4"/>
          </p:nvPr>
        </p:nvSpPr>
        <p:spPr/>
        <p:txBody>
          <a:bodyPr/>
          <a:lstStyle/>
          <a:p>
            <a:fld id="{4B17068C-EB94-40A3-A5F2-664CDD77FDAC}" type="slidenum">
              <a:rPr lang="en-GB" smtClean="0"/>
              <a:pPr/>
              <a:t>263</a:t>
            </a:fld>
            <a:endParaRPr lang="en-GB" dirty="0"/>
          </a:p>
        </p:txBody>
      </p:sp>
    </p:spTree>
    <p:extLst>
      <p:ext uri="{BB962C8B-B14F-4D97-AF65-F5344CB8AC3E}">
        <p14:creationId xmlns:p14="http://schemas.microsoft.com/office/powerpoint/2010/main" val="3400078117"/>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CompanyA</a:t>
            </a:r>
            <a:r>
              <a:rPr lang="en-US" sz="2000" dirty="0"/>
              <a:t>: SWOT and Strategy Analysis (3/3)</a:t>
            </a:r>
          </a:p>
        </p:txBody>
      </p:sp>
      <p:grpSp>
        <p:nvGrpSpPr>
          <p:cNvPr id="54" name="Group 53"/>
          <p:cNvGrpSpPr/>
          <p:nvPr/>
        </p:nvGrpSpPr>
        <p:grpSpPr>
          <a:xfrm>
            <a:off x="152400" y="1206896"/>
            <a:ext cx="5310403" cy="4850543"/>
            <a:chOff x="114299" y="1371599"/>
            <a:chExt cx="4343402" cy="4850543"/>
          </a:xfrm>
        </p:grpSpPr>
        <p:grpSp>
          <p:nvGrpSpPr>
            <p:cNvPr id="55" name="Group 54"/>
            <p:cNvGrpSpPr/>
            <p:nvPr/>
          </p:nvGrpSpPr>
          <p:grpSpPr>
            <a:xfrm rot="16200000">
              <a:off x="-1824978" y="3310876"/>
              <a:ext cx="4850543" cy="971990"/>
              <a:chOff x="429656" y="2806634"/>
              <a:chExt cx="8561944" cy="2054291"/>
            </a:xfrm>
          </p:grpSpPr>
          <p:sp>
            <p:nvSpPr>
              <p:cNvPr id="72" name="Rectangle 71"/>
              <p:cNvSpPr/>
              <p:nvPr/>
            </p:nvSpPr>
            <p:spPr>
              <a:xfrm>
                <a:off x="429656" y="3036095"/>
                <a:ext cx="8561943" cy="16192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73" name="Isosceles Triangle 11"/>
              <p:cNvSpPr/>
              <p:nvPr/>
            </p:nvSpPr>
            <p:spPr>
              <a:xfrm>
                <a:off x="429657" y="2806634"/>
                <a:ext cx="322986" cy="236536"/>
              </a:xfrm>
              <a:custGeom>
                <a:avLst/>
                <a:gdLst>
                  <a:gd name="connsiteX0" fmla="*/ 0 w 322986"/>
                  <a:gd name="connsiteY0" fmla="*/ 250823 h 250823"/>
                  <a:gd name="connsiteX1" fmla="*/ 161493 w 322986"/>
                  <a:gd name="connsiteY1" fmla="*/ 0 h 250823"/>
                  <a:gd name="connsiteX2" fmla="*/ 322986 w 322986"/>
                  <a:gd name="connsiteY2" fmla="*/ 250823 h 250823"/>
                  <a:gd name="connsiteX3" fmla="*/ 0 w 322986"/>
                  <a:gd name="connsiteY3" fmla="*/ 250823 h 250823"/>
                  <a:gd name="connsiteX0" fmla="*/ 0 w 322986"/>
                  <a:gd name="connsiteY0" fmla="*/ 236536 h 236536"/>
                  <a:gd name="connsiteX1" fmla="*/ 244837 w 322986"/>
                  <a:gd name="connsiteY1" fmla="*/ 0 h 236536"/>
                  <a:gd name="connsiteX2" fmla="*/ 322986 w 322986"/>
                  <a:gd name="connsiteY2" fmla="*/ 236536 h 236536"/>
                  <a:gd name="connsiteX3" fmla="*/ 0 w 322986"/>
                  <a:gd name="connsiteY3" fmla="*/ 236536 h 236536"/>
                </a:gdLst>
                <a:ahLst/>
                <a:cxnLst>
                  <a:cxn ang="0">
                    <a:pos x="connsiteX0" y="connsiteY0"/>
                  </a:cxn>
                  <a:cxn ang="0">
                    <a:pos x="connsiteX1" y="connsiteY1"/>
                  </a:cxn>
                  <a:cxn ang="0">
                    <a:pos x="connsiteX2" y="connsiteY2"/>
                  </a:cxn>
                  <a:cxn ang="0">
                    <a:pos x="connsiteX3" y="connsiteY3"/>
                  </a:cxn>
                </a:cxnLst>
                <a:rect l="l" t="t" r="r" b="b"/>
                <a:pathLst>
                  <a:path w="322986" h="236536">
                    <a:moveTo>
                      <a:pt x="0" y="236536"/>
                    </a:moveTo>
                    <a:lnTo>
                      <a:pt x="244837" y="0"/>
                    </a:lnTo>
                    <a:lnTo>
                      <a:pt x="322986" y="236536"/>
                    </a:lnTo>
                    <a:lnTo>
                      <a:pt x="0" y="236536"/>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74" name="Parallelogram 73"/>
              <p:cNvSpPr/>
              <p:nvPr/>
            </p:nvSpPr>
            <p:spPr>
              <a:xfrm flipV="1">
                <a:off x="669131" y="2811327"/>
                <a:ext cx="2269191" cy="2049598"/>
              </a:xfrm>
              <a:prstGeom prst="parallelogram">
                <a:avLst>
                  <a:gd name="adj" fmla="val 34384"/>
                </a:avLst>
              </a:prstGeom>
              <a:solidFill>
                <a:srgbClr val="00818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75" name="Isosceles Triangle 11"/>
              <p:cNvSpPr/>
              <p:nvPr/>
            </p:nvSpPr>
            <p:spPr>
              <a:xfrm>
                <a:off x="2447416" y="2806634"/>
                <a:ext cx="322986" cy="236536"/>
              </a:xfrm>
              <a:custGeom>
                <a:avLst/>
                <a:gdLst>
                  <a:gd name="connsiteX0" fmla="*/ 0 w 322986"/>
                  <a:gd name="connsiteY0" fmla="*/ 250823 h 250823"/>
                  <a:gd name="connsiteX1" fmla="*/ 161493 w 322986"/>
                  <a:gd name="connsiteY1" fmla="*/ 0 h 250823"/>
                  <a:gd name="connsiteX2" fmla="*/ 322986 w 322986"/>
                  <a:gd name="connsiteY2" fmla="*/ 250823 h 250823"/>
                  <a:gd name="connsiteX3" fmla="*/ 0 w 322986"/>
                  <a:gd name="connsiteY3" fmla="*/ 250823 h 250823"/>
                  <a:gd name="connsiteX0" fmla="*/ 0 w 322986"/>
                  <a:gd name="connsiteY0" fmla="*/ 236536 h 236536"/>
                  <a:gd name="connsiteX1" fmla="*/ 244837 w 322986"/>
                  <a:gd name="connsiteY1" fmla="*/ 0 h 236536"/>
                  <a:gd name="connsiteX2" fmla="*/ 322986 w 322986"/>
                  <a:gd name="connsiteY2" fmla="*/ 236536 h 236536"/>
                  <a:gd name="connsiteX3" fmla="*/ 0 w 322986"/>
                  <a:gd name="connsiteY3" fmla="*/ 236536 h 236536"/>
                </a:gdLst>
                <a:ahLst/>
                <a:cxnLst>
                  <a:cxn ang="0">
                    <a:pos x="connsiteX0" y="connsiteY0"/>
                  </a:cxn>
                  <a:cxn ang="0">
                    <a:pos x="connsiteX1" y="connsiteY1"/>
                  </a:cxn>
                  <a:cxn ang="0">
                    <a:pos x="connsiteX2" y="connsiteY2"/>
                  </a:cxn>
                  <a:cxn ang="0">
                    <a:pos x="connsiteX3" y="connsiteY3"/>
                  </a:cxn>
                </a:cxnLst>
                <a:rect l="l" t="t" r="r" b="b"/>
                <a:pathLst>
                  <a:path w="322986" h="236536">
                    <a:moveTo>
                      <a:pt x="0" y="236536"/>
                    </a:moveTo>
                    <a:lnTo>
                      <a:pt x="244837" y="0"/>
                    </a:lnTo>
                    <a:lnTo>
                      <a:pt x="322986" y="236536"/>
                    </a:lnTo>
                    <a:lnTo>
                      <a:pt x="0" y="236536"/>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76" name="Parallelogram 75"/>
              <p:cNvSpPr/>
              <p:nvPr/>
            </p:nvSpPr>
            <p:spPr>
              <a:xfrm flipV="1">
                <a:off x="2686890" y="2811327"/>
                <a:ext cx="2269191" cy="2049598"/>
              </a:xfrm>
              <a:prstGeom prst="parallelogram">
                <a:avLst>
                  <a:gd name="adj" fmla="val 34384"/>
                </a:avLst>
              </a:prstGeom>
              <a:solidFill>
                <a:srgbClr val="2D48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77" name="Isosceles Triangle 11"/>
              <p:cNvSpPr/>
              <p:nvPr/>
            </p:nvSpPr>
            <p:spPr>
              <a:xfrm>
                <a:off x="4465175" y="2806634"/>
                <a:ext cx="322986" cy="236536"/>
              </a:xfrm>
              <a:custGeom>
                <a:avLst/>
                <a:gdLst>
                  <a:gd name="connsiteX0" fmla="*/ 0 w 322986"/>
                  <a:gd name="connsiteY0" fmla="*/ 250823 h 250823"/>
                  <a:gd name="connsiteX1" fmla="*/ 161493 w 322986"/>
                  <a:gd name="connsiteY1" fmla="*/ 0 h 250823"/>
                  <a:gd name="connsiteX2" fmla="*/ 322986 w 322986"/>
                  <a:gd name="connsiteY2" fmla="*/ 250823 h 250823"/>
                  <a:gd name="connsiteX3" fmla="*/ 0 w 322986"/>
                  <a:gd name="connsiteY3" fmla="*/ 250823 h 250823"/>
                  <a:gd name="connsiteX0" fmla="*/ 0 w 322986"/>
                  <a:gd name="connsiteY0" fmla="*/ 236536 h 236536"/>
                  <a:gd name="connsiteX1" fmla="*/ 244837 w 322986"/>
                  <a:gd name="connsiteY1" fmla="*/ 0 h 236536"/>
                  <a:gd name="connsiteX2" fmla="*/ 322986 w 322986"/>
                  <a:gd name="connsiteY2" fmla="*/ 236536 h 236536"/>
                  <a:gd name="connsiteX3" fmla="*/ 0 w 322986"/>
                  <a:gd name="connsiteY3" fmla="*/ 236536 h 236536"/>
                </a:gdLst>
                <a:ahLst/>
                <a:cxnLst>
                  <a:cxn ang="0">
                    <a:pos x="connsiteX0" y="connsiteY0"/>
                  </a:cxn>
                  <a:cxn ang="0">
                    <a:pos x="connsiteX1" y="connsiteY1"/>
                  </a:cxn>
                  <a:cxn ang="0">
                    <a:pos x="connsiteX2" y="connsiteY2"/>
                  </a:cxn>
                  <a:cxn ang="0">
                    <a:pos x="connsiteX3" y="connsiteY3"/>
                  </a:cxn>
                </a:cxnLst>
                <a:rect l="l" t="t" r="r" b="b"/>
                <a:pathLst>
                  <a:path w="322986" h="236536">
                    <a:moveTo>
                      <a:pt x="0" y="236536"/>
                    </a:moveTo>
                    <a:lnTo>
                      <a:pt x="244837" y="0"/>
                    </a:lnTo>
                    <a:lnTo>
                      <a:pt x="322986" y="236536"/>
                    </a:lnTo>
                    <a:lnTo>
                      <a:pt x="0" y="236536"/>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78" name="Parallelogram 77"/>
              <p:cNvSpPr/>
              <p:nvPr/>
            </p:nvSpPr>
            <p:spPr>
              <a:xfrm flipV="1">
                <a:off x="4704649" y="2811327"/>
                <a:ext cx="2269191" cy="2049598"/>
              </a:xfrm>
              <a:prstGeom prst="parallelogram">
                <a:avLst>
                  <a:gd name="adj" fmla="val 34384"/>
                </a:avLst>
              </a:prstGeom>
              <a:solidFill>
                <a:srgbClr val="00818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79" name="Isosceles Triangle 11"/>
              <p:cNvSpPr/>
              <p:nvPr/>
            </p:nvSpPr>
            <p:spPr>
              <a:xfrm>
                <a:off x="6482935" y="2806634"/>
                <a:ext cx="322986" cy="236536"/>
              </a:xfrm>
              <a:custGeom>
                <a:avLst/>
                <a:gdLst>
                  <a:gd name="connsiteX0" fmla="*/ 0 w 322986"/>
                  <a:gd name="connsiteY0" fmla="*/ 250823 h 250823"/>
                  <a:gd name="connsiteX1" fmla="*/ 161493 w 322986"/>
                  <a:gd name="connsiteY1" fmla="*/ 0 h 250823"/>
                  <a:gd name="connsiteX2" fmla="*/ 322986 w 322986"/>
                  <a:gd name="connsiteY2" fmla="*/ 250823 h 250823"/>
                  <a:gd name="connsiteX3" fmla="*/ 0 w 322986"/>
                  <a:gd name="connsiteY3" fmla="*/ 250823 h 250823"/>
                  <a:gd name="connsiteX0" fmla="*/ 0 w 322986"/>
                  <a:gd name="connsiteY0" fmla="*/ 236536 h 236536"/>
                  <a:gd name="connsiteX1" fmla="*/ 244837 w 322986"/>
                  <a:gd name="connsiteY1" fmla="*/ 0 h 236536"/>
                  <a:gd name="connsiteX2" fmla="*/ 322986 w 322986"/>
                  <a:gd name="connsiteY2" fmla="*/ 236536 h 236536"/>
                  <a:gd name="connsiteX3" fmla="*/ 0 w 322986"/>
                  <a:gd name="connsiteY3" fmla="*/ 236536 h 236536"/>
                </a:gdLst>
                <a:ahLst/>
                <a:cxnLst>
                  <a:cxn ang="0">
                    <a:pos x="connsiteX0" y="connsiteY0"/>
                  </a:cxn>
                  <a:cxn ang="0">
                    <a:pos x="connsiteX1" y="connsiteY1"/>
                  </a:cxn>
                  <a:cxn ang="0">
                    <a:pos x="connsiteX2" y="connsiteY2"/>
                  </a:cxn>
                  <a:cxn ang="0">
                    <a:pos x="connsiteX3" y="connsiteY3"/>
                  </a:cxn>
                </a:cxnLst>
                <a:rect l="l" t="t" r="r" b="b"/>
                <a:pathLst>
                  <a:path w="322986" h="236536">
                    <a:moveTo>
                      <a:pt x="0" y="236536"/>
                    </a:moveTo>
                    <a:lnTo>
                      <a:pt x="244837" y="0"/>
                    </a:lnTo>
                    <a:lnTo>
                      <a:pt x="322986" y="236536"/>
                    </a:lnTo>
                    <a:lnTo>
                      <a:pt x="0" y="236536"/>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80" name="Parallelogram 79"/>
              <p:cNvSpPr/>
              <p:nvPr/>
            </p:nvSpPr>
            <p:spPr>
              <a:xfrm flipV="1">
                <a:off x="6722409" y="2811327"/>
                <a:ext cx="2269191" cy="2049598"/>
              </a:xfrm>
              <a:prstGeom prst="parallelogram">
                <a:avLst>
                  <a:gd name="adj" fmla="val 34384"/>
                </a:avLst>
              </a:prstGeom>
              <a:solidFill>
                <a:srgbClr val="2D48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grpSp>
        <p:sp>
          <p:nvSpPr>
            <p:cNvPr id="56" name="Round Same Side Corner Rectangle 55"/>
            <p:cNvSpPr/>
            <p:nvPr/>
          </p:nvSpPr>
          <p:spPr>
            <a:xfrm rot="5400000">
              <a:off x="2360646" y="512786"/>
              <a:ext cx="1003290" cy="3190817"/>
            </a:xfrm>
            <a:prstGeom prst="round2SameRect">
              <a:avLst/>
            </a:prstGeom>
            <a:solidFill>
              <a:srgbClr val="2D48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57" name="Round Same Side Corner Rectangle 56"/>
            <p:cNvSpPr/>
            <p:nvPr/>
          </p:nvSpPr>
          <p:spPr>
            <a:xfrm rot="5400000">
              <a:off x="2403749" y="1608811"/>
              <a:ext cx="917087" cy="3190817"/>
            </a:xfrm>
            <a:prstGeom prst="round2SameRect">
              <a:avLst/>
            </a:prstGeom>
            <a:solidFill>
              <a:srgbClr val="00818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58" name="Round Same Side Corner Rectangle 57"/>
            <p:cNvSpPr/>
            <p:nvPr/>
          </p:nvSpPr>
          <p:spPr>
            <a:xfrm rot="5400000">
              <a:off x="2403749" y="2726775"/>
              <a:ext cx="917087" cy="3190817"/>
            </a:xfrm>
            <a:prstGeom prst="round2SameRect">
              <a:avLst/>
            </a:prstGeom>
            <a:solidFill>
              <a:srgbClr val="2D48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59" name="Round Same Side Corner Rectangle 58"/>
            <p:cNvSpPr/>
            <p:nvPr/>
          </p:nvSpPr>
          <p:spPr>
            <a:xfrm rot="5400000">
              <a:off x="2403749" y="3907765"/>
              <a:ext cx="917087" cy="3190817"/>
            </a:xfrm>
            <a:prstGeom prst="round2SameRect">
              <a:avLst/>
            </a:prstGeom>
            <a:solidFill>
              <a:srgbClr val="00818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60" name="TextBox 59"/>
            <p:cNvSpPr txBox="1"/>
            <p:nvPr/>
          </p:nvSpPr>
          <p:spPr>
            <a:xfrm>
              <a:off x="323179" y="1616210"/>
              <a:ext cx="363882" cy="923330"/>
            </a:xfrm>
            <a:prstGeom prst="rect">
              <a:avLst/>
            </a:prstGeom>
            <a:noFill/>
          </p:spPr>
          <p:txBody>
            <a:bodyPr wrap="none" lIns="0" tIns="0" rIns="0" bIns="0" rtlCol="0">
              <a:spAutoFit/>
            </a:bodyPr>
            <a:lstStyle/>
            <a:p>
              <a:r>
                <a:rPr lang="en-US" sz="6000" b="1" dirty="0">
                  <a:solidFill>
                    <a:prstClr val="white"/>
                  </a:solidFill>
                  <a:latin typeface="Calibri" panose="020F0502020204030204"/>
                </a:rPr>
                <a:t>S</a:t>
              </a:r>
              <a:endParaRPr lang="en-IN" sz="2800" b="1" dirty="0">
                <a:solidFill>
                  <a:prstClr val="white"/>
                </a:solidFill>
                <a:latin typeface="Calibri" panose="020F0502020204030204"/>
              </a:endParaRPr>
            </a:p>
          </p:txBody>
        </p:sp>
        <p:sp>
          <p:nvSpPr>
            <p:cNvPr id="61" name="Parallelogram 60"/>
            <p:cNvSpPr/>
            <p:nvPr/>
          </p:nvSpPr>
          <p:spPr>
            <a:xfrm rot="5400000">
              <a:off x="584692" y="1873197"/>
              <a:ext cx="1183788" cy="180595"/>
            </a:xfrm>
            <a:prstGeom prst="parallelogram">
              <a:avLst>
                <a:gd name="adj" fmla="val 125211"/>
              </a:avLst>
            </a:prstGeom>
            <a:solidFill>
              <a:schemeClr val="accent6">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62" name="Parallelogram 61"/>
            <p:cNvSpPr/>
            <p:nvPr/>
          </p:nvSpPr>
          <p:spPr>
            <a:xfrm rot="5400000">
              <a:off x="584692" y="3011440"/>
              <a:ext cx="1183788" cy="180595"/>
            </a:xfrm>
            <a:prstGeom prst="parallelogram">
              <a:avLst>
                <a:gd name="adj" fmla="val 125211"/>
              </a:avLst>
            </a:prstGeom>
            <a:solidFill>
              <a:schemeClr val="accent6">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63" name="Parallelogram 62"/>
            <p:cNvSpPr/>
            <p:nvPr/>
          </p:nvSpPr>
          <p:spPr>
            <a:xfrm rot="5400000">
              <a:off x="584692" y="4140145"/>
              <a:ext cx="1183788" cy="180595"/>
            </a:xfrm>
            <a:prstGeom prst="parallelogram">
              <a:avLst>
                <a:gd name="adj" fmla="val 125211"/>
              </a:avLst>
            </a:prstGeom>
            <a:solidFill>
              <a:schemeClr val="accent6">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64" name="Parallelogram 63"/>
            <p:cNvSpPr/>
            <p:nvPr/>
          </p:nvSpPr>
          <p:spPr>
            <a:xfrm rot="5400000">
              <a:off x="584692" y="5297513"/>
              <a:ext cx="1183788" cy="180595"/>
            </a:xfrm>
            <a:prstGeom prst="parallelogram">
              <a:avLst>
                <a:gd name="adj" fmla="val 125211"/>
              </a:avLst>
            </a:prstGeom>
            <a:solidFill>
              <a:schemeClr val="accent6">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solidFill>
                  <a:prstClr val="white"/>
                </a:solidFill>
                <a:latin typeface="Calibri" panose="020F0502020204030204"/>
              </a:endParaRPr>
            </a:p>
          </p:txBody>
        </p:sp>
        <p:sp>
          <p:nvSpPr>
            <p:cNvPr id="65" name="TextBox 64"/>
            <p:cNvSpPr txBox="1"/>
            <p:nvPr/>
          </p:nvSpPr>
          <p:spPr>
            <a:xfrm>
              <a:off x="264936" y="2730658"/>
              <a:ext cx="697307" cy="923330"/>
            </a:xfrm>
            <a:prstGeom prst="rect">
              <a:avLst/>
            </a:prstGeom>
            <a:noFill/>
          </p:spPr>
          <p:txBody>
            <a:bodyPr wrap="none" lIns="0" tIns="0" rIns="0" bIns="0" rtlCol="0">
              <a:spAutoFit/>
            </a:bodyPr>
            <a:lstStyle/>
            <a:p>
              <a:r>
                <a:rPr lang="en-US" sz="6000" b="1" dirty="0">
                  <a:solidFill>
                    <a:prstClr val="white"/>
                  </a:solidFill>
                  <a:latin typeface="Calibri" panose="020F0502020204030204"/>
                </a:rPr>
                <a:t>W</a:t>
              </a:r>
              <a:endParaRPr lang="en-IN" sz="2800" b="1" dirty="0">
                <a:solidFill>
                  <a:prstClr val="white"/>
                </a:solidFill>
                <a:latin typeface="Calibri" panose="020F0502020204030204"/>
              </a:endParaRPr>
            </a:p>
          </p:txBody>
        </p:sp>
        <p:sp>
          <p:nvSpPr>
            <p:cNvPr id="66" name="TextBox 65"/>
            <p:cNvSpPr txBox="1"/>
            <p:nvPr/>
          </p:nvSpPr>
          <p:spPr>
            <a:xfrm>
              <a:off x="224327" y="3845106"/>
              <a:ext cx="520976" cy="923330"/>
            </a:xfrm>
            <a:prstGeom prst="rect">
              <a:avLst/>
            </a:prstGeom>
            <a:noFill/>
          </p:spPr>
          <p:txBody>
            <a:bodyPr wrap="none" lIns="0" tIns="0" rIns="0" bIns="0" rtlCol="0">
              <a:spAutoFit/>
            </a:bodyPr>
            <a:lstStyle/>
            <a:p>
              <a:r>
                <a:rPr lang="en-US" sz="6000" b="1" dirty="0">
                  <a:solidFill>
                    <a:prstClr val="white"/>
                  </a:solidFill>
                  <a:latin typeface="Calibri" panose="020F0502020204030204"/>
                </a:rPr>
                <a:t>O</a:t>
              </a:r>
              <a:endParaRPr lang="en-IN" sz="2800" b="1" dirty="0">
                <a:solidFill>
                  <a:prstClr val="white"/>
                </a:solidFill>
                <a:latin typeface="Calibri" panose="020F0502020204030204"/>
              </a:endParaRPr>
            </a:p>
          </p:txBody>
        </p:sp>
        <p:sp>
          <p:nvSpPr>
            <p:cNvPr id="67" name="TextBox 66"/>
            <p:cNvSpPr txBox="1"/>
            <p:nvPr/>
          </p:nvSpPr>
          <p:spPr>
            <a:xfrm>
              <a:off x="264936" y="4959554"/>
              <a:ext cx="381515" cy="923330"/>
            </a:xfrm>
            <a:prstGeom prst="rect">
              <a:avLst/>
            </a:prstGeom>
            <a:noFill/>
          </p:spPr>
          <p:txBody>
            <a:bodyPr wrap="none" lIns="0" tIns="0" rIns="0" bIns="0" rtlCol="0">
              <a:spAutoFit/>
            </a:bodyPr>
            <a:lstStyle/>
            <a:p>
              <a:r>
                <a:rPr lang="en-US" sz="6000" b="1" dirty="0">
                  <a:solidFill>
                    <a:prstClr val="white"/>
                  </a:solidFill>
                  <a:latin typeface="Calibri" panose="020F0502020204030204"/>
                </a:rPr>
                <a:t>T</a:t>
              </a:r>
              <a:endParaRPr lang="en-IN" sz="2800" b="1" dirty="0">
                <a:solidFill>
                  <a:prstClr val="white"/>
                </a:solidFill>
                <a:latin typeface="Calibri" panose="020F0502020204030204"/>
              </a:endParaRPr>
            </a:p>
          </p:txBody>
        </p:sp>
      </p:grpSp>
      <p:grpSp>
        <p:nvGrpSpPr>
          <p:cNvPr id="125" name="Group 124"/>
          <p:cNvGrpSpPr/>
          <p:nvPr/>
        </p:nvGrpSpPr>
        <p:grpSpPr>
          <a:xfrm>
            <a:off x="6139505" y="2255835"/>
            <a:ext cx="661565" cy="536614"/>
            <a:chOff x="5584826" y="2636838"/>
            <a:chExt cx="820738" cy="819150"/>
          </a:xfrm>
          <a:solidFill>
            <a:schemeClr val="bg2">
              <a:lumMod val="50000"/>
            </a:schemeClr>
          </a:solidFill>
        </p:grpSpPr>
        <p:sp>
          <p:nvSpPr>
            <p:cNvPr id="126" name="Freeform 31"/>
            <p:cNvSpPr>
              <a:spLocks noEditPoints="1"/>
            </p:cNvSpPr>
            <p:nvPr/>
          </p:nvSpPr>
          <p:spPr bwMode="auto">
            <a:xfrm>
              <a:off x="5995988" y="2827338"/>
              <a:ext cx="217488" cy="222250"/>
            </a:xfrm>
            <a:custGeom>
              <a:avLst/>
              <a:gdLst>
                <a:gd name="T0" fmla="*/ 68 w 137"/>
                <a:gd name="T1" fmla="*/ 140 h 140"/>
                <a:gd name="T2" fmla="*/ 42 w 137"/>
                <a:gd name="T3" fmla="*/ 133 h 140"/>
                <a:gd name="T4" fmla="*/ 19 w 137"/>
                <a:gd name="T5" fmla="*/ 119 h 140"/>
                <a:gd name="T6" fmla="*/ 11 w 137"/>
                <a:gd name="T7" fmla="*/ 108 h 140"/>
                <a:gd name="T8" fmla="*/ 1 w 137"/>
                <a:gd name="T9" fmla="*/ 83 h 140"/>
                <a:gd name="T10" fmla="*/ 0 w 137"/>
                <a:gd name="T11" fmla="*/ 70 h 140"/>
                <a:gd name="T12" fmla="*/ 4 w 137"/>
                <a:gd name="T13" fmla="*/ 43 h 140"/>
                <a:gd name="T14" fmla="*/ 19 w 137"/>
                <a:gd name="T15" fmla="*/ 21 h 140"/>
                <a:gd name="T16" fmla="*/ 30 w 137"/>
                <a:gd name="T17" fmla="*/ 11 h 140"/>
                <a:gd name="T18" fmla="*/ 55 w 137"/>
                <a:gd name="T19" fmla="*/ 2 h 140"/>
                <a:gd name="T20" fmla="*/ 68 w 137"/>
                <a:gd name="T21" fmla="*/ 0 h 140"/>
                <a:gd name="T22" fmla="*/ 95 w 137"/>
                <a:gd name="T23" fmla="*/ 5 h 140"/>
                <a:gd name="T24" fmla="*/ 117 w 137"/>
                <a:gd name="T25" fmla="*/ 21 h 140"/>
                <a:gd name="T26" fmla="*/ 126 w 137"/>
                <a:gd name="T27" fmla="*/ 32 h 140"/>
                <a:gd name="T28" fmla="*/ 136 w 137"/>
                <a:gd name="T29" fmla="*/ 56 h 140"/>
                <a:gd name="T30" fmla="*/ 137 w 137"/>
                <a:gd name="T31" fmla="*/ 70 h 140"/>
                <a:gd name="T32" fmla="*/ 133 w 137"/>
                <a:gd name="T33" fmla="*/ 97 h 140"/>
                <a:gd name="T34" fmla="*/ 117 w 137"/>
                <a:gd name="T35" fmla="*/ 119 h 140"/>
                <a:gd name="T36" fmla="*/ 107 w 137"/>
                <a:gd name="T37" fmla="*/ 127 h 140"/>
                <a:gd name="T38" fmla="*/ 82 w 137"/>
                <a:gd name="T39" fmla="*/ 138 h 140"/>
                <a:gd name="T40" fmla="*/ 68 w 137"/>
                <a:gd name="T41" fmla="*/ 140 h 140"/>
                <a:gd name="T42" fmla="*/ 68 w 137"/>
                <a:gd name="T43" fmla="*/ 29 h 140"/>
                <a:gd name="T44" fmla="*/ 52 w 137"/>
                <a:gd name="T45" fmla="*/ 32 h 140"/>
                <a:gd name="T46" fmla="*/ 39 w 137"/>
                <a:gd name="T47" fmla="*/ 40 h 140"/>
                <a:gd name="T48" fmla="*/ 33 w 137"/>
                <a:gd name="T49" fmla="*/ 46 h 140"/>
                <a:gd name="T50" fmla="*/ 28 w 137"/>
                <a:gd name="T51" fmla="*/ 62 h 140"/>
                <a:gd name="T52" fmla="*/ 28 w 137"/>
                <a:gd name="T53" fmla="*/ 78 h 140"/>
                <a:gd name="T54" fmla="*/ 33 w 137"/>
                <a:gd name="T55" fmla="*/ 92 h 140"/>
                <a:gd name="T56" fmla="*/ 39 w 137"/>
                <a:gd name="T57" fmla="*/ 98 h 140"/>
                <a:gd name="T58" fmla="*/ 52 w 137"/>
                <a:gd name="T59" fmla="*/ 108 h 140"/>
                <a:gd name="T60" fmla="*/ 68 w 137"/>
                <a:gd name="T61" fmla="*/ 111 h 140"/>
                <a:gd name="T62" fmla="*/ 77 w 137"/>
                <a:gd name="T63" fmla="*/ 111 h 140"/>
                <a:gd name="T64" fmla="*/ 92 w 137"/>
                <a:gd name="T65" fmla="*/ 105 h 140"/>
                <a:gd name="T66" fmla="*/ 98 w 137"/>
                <a:gd name="T67" fmla="*/ 98 h 140"/>
                <a:gd name="T68" fmla="*/ 107 w 137"/>
                <a:gd name="T69" fmla="*/ 86 h 140"/>
                <a:gd name="T70" fmla="*/ 111 w 137"/>
                <a:gd name="T71" fmla="*/ 70 h 140"/>
                <a:gd name="T72" fmla="*/ 107 w 137"/>
                <a:gd name="T73" fmla="*/ 54 h 140"/>
                <a:gd name="T74" fmla="*/ 98 w 137"/>
                <a:gd name="T75" fmla="*/ 40 h 140"/>
                <a:gd name="T76" fmla="*/ 92 w 137"/>
                <a:gd name="T77" fmla="*/ 35 h 140"/>
                <a:gd name="T78" fmla="*/ 77 w 137"/>
                <a:gd name="T79" fmla="*/ 29 h 140"/>
                <a:gd name="T80" fmla="*/ 68 w 137"/>
                <a:gd name="T81" fmla="*/ 2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7" h="140">
                  <a:moveTo>
                    <a:pt x="68" y="140"/>
                  </a:moveTo>
                  <a:lnTo>
                    <a:pt x="68" y="140"/>
                  </a:lnTo>
                  <a:lnTo>
                    <a:pt x="55" y="138"/>
                  </a:lnTo>
                  <a:lnTo>
                    <a:pt x="42" y="133"/>
                  </a:lnTo>
                  <a:lnTo>
                    <a:pt x="30" y="127"/>
                  </a:lnTo>
                  <a:lnTo>
                    <a:pt x="19" y="119"/>
                  </a:lnTo>
                  <a:lnTo>
                    <a:pt x="19" y="119"/>
                  </a:lnTo>
                  <a:lnTo>
                    <a:pt x="11" y="108"/>
                  </a:lnTo>
                  <a:lnTo>
                    <a:pt x="4" y="97"/>
                  </a:lnTo>
                  <a:lnTo>
                    <a:pt x="1" y="83"/>
                  </a:lnTo>
                  <a:lnTo>
                    <a:pt x="0" y="70"/>
                  </a:lnTo>
                  <a:lnTo>
                    <a:pt x="0" y="70"/>
                  </a:lnTo>
                  <a:lnTo>
                    <a:pt x="1" y="56"/>
                  </a:lnTo>
                  <a:lnTo>
                    <a:pt x="4" y="43"/>
                  </a:lnTo>
                  <a:lnTo>
                    <a:pt x="11" y="32"/>
                  </a:lnTo>
                  <a:lnTo>
                    <a:pt x="19" y="21"/>
                  </a:lnTo>
                  <a:lnTo>
                    <a:pt x="19" y="21"/>
                  </a:lnTo>
                  <a:lnTo>
                    <a:pt x="30" y="11"/>
                  </a:lnTo>
                  <a:lnTo>
                    <a:pt x="42" y="5"/>
                  </a:lnTo>
                  <a:lnTo>
                    <a:pt x="55" y="2"/>
                  </a:lnTo>
                  <a:lnTo>
                    <a:pt x="68" y="0"/>
                  </a:lnTo>
                  <a:lnTo>
                    <a:pt x="68" y="0"/>
                  </a:lnTo>
                  <a:lnTo>
                    <a:pt x="82" y="2"/>
                  </a:lnTo>
                  <a:lnTo>
                    <a:pt x="95" y="5"/>
                  </a:lnTo>
                  <a:lnTo>
                    <a:pt x="107" y="11"/>
                  </a:lnTo>
                  <a:lnTo>
                    <a:pt x="117" y="21"/>
                  </a:lnTo>
                  <a:lnTo>
                    <a:pt x="117" y="21"/>
                  </a:lnTo>
                  <a:lnTo>
                    <a:pt x="126" y="32"/>
                  </a:lnTo>
                  <a:lnTo>
                    <a:pt x="133" y="43"/>
                  </a:lnTo>
                  <a:lnTo>
                    <a:pt x="136" y="56"/>
                  </a:lnTo>
                  <a:lnTo>
                    <a:pt x="137" y="70"/>
                  </a:lnTo>
                  <a:lnTo>
                    <a:pt x="137" y="70"/>
                  </a:lnTo>
                  <a:lnTo>
                    <a:pt x="136" y="83"/>
                  </a:lnTo>
                  <a:lnTo>
                    <a:pt x="133" y="97"/>
                  </a:lnTo>
                  <a:lnTo>
                    <a:pt x="126" y="108"/>
                  </a:lnTo>
                  <a:lnTo>
                    <a:pt x="117" y="119"/>
                  </a:lnTo>
                  <a:lnTo>
                    <a:pt x="117" y="119"/>
                  </a:lnTo>
                  <a:lnTo>
                    <a:pt x="107" y="127"/>
                  </a:lnTo>
                  <a:lnTo>
                    <a:pt x="95" y="133"/>
                  </a:lnTo>
                  <a:lnTo>
                    <a:pt x="82" y="138"/>
                  </a:lnTo>
                  <a:lnTo>
                    <a:pt x="68" y="140"/>
                  </a:lnTo>
                  <a:lnTo>
                    <a:pt x="68" y="140"/>
                  </a:lnTo>
                  <a:close/>
                  <a:moveTo>
                    <a:pt x="68" y="29"/>
                  </a:moveTo>
                  <a:lnTo>
                    <a:pt x="68" y="29"/>
                  </a:lnTo>
                  <a:lnTo>
                    <a:pt x="60" y="29"/>
                  </a:lnTo>
                  <a:lnTo>
                    <a:pt x="52" y="32"/>
                  </a:lnTo>
                  <a:lnTo>
                    <a:pt x="46" y="35"/>
                  </a:lnTo>
                  <a:lnTo>
                    <a:pt x="39" y="40"/>
                  </a:lnTo>
                  <a:lnTo>
                    <a:pt x="39" y="40"/>
                  </a:lnTo>
                  <a:lnTo>
                    <a:pt x="33" y="46"/>
                  </a:lnTo>
                  <a:lnTo>
                    <a:pt x="30" y="54"/>
                  </a:lnTo>
                  <a:lnTo>
                    <a:pt x="28" y="62"/>
                  </a:lnTo>
                  <a:lnTo>
                    <a:pt x="27" y="70"/>
                  </a:lnTo>
                  <a:lnTo>
                    <a:pt x="28" y="78"/>
                  </a:lnTo>
                  <a:lnTo>
                    <a:pt x="30" y="86"/>
                  </a:lnTo>
                  <a:lnTo>
                    <a:pt x="33" y="92"/>
                  </a:lnTo>
                  <a:lnTo>
                    <a:pt x="39" y="98"/>
                  </a:lnTo>
                  <a:lnTo>
                    <a:pt x="39" y="98"/>
                  </a:lnTo>
                  <a:lnTo>
                    <a:pt x="46" y="105"/>
                  </a:lnTo>
                  <a:lnTo>
                    <a:pt x="52" y="108"/>
                  </a:lnTo>
                  <a:lnTo>
                    <a:pt x="60" y="111"/>
                  </a:lnTo>
                  <a:lnTo>
                    <a:pt x="68" y="111"/>
                  </a:lnTo>
                  <a:lnTo>
                    <a:pt x="68" y="111"/>
                  </a:lnTo>
                  <a:lnTo>
                    <a:pt x="77" y="111"/>
                  </a:lnTo>
                  <a:lnTo>
                    <a:pt x="84" y="108"/>
                  </a:lnTo>
                  <a:lnTo>
                    <a:pt x="92" y="105"/>
                  </a:lnTo>
                  <a:lnTo>
                    <a:pt x="98" y="98"/>
                  </a:lnTo>
                  <a:lnTo>
                    <a:pt x="98" y="98"/>
                  </a:lnTo>
                  <a:lnTo>
                    <a:pt x="103" y="92"/>
                  </a:lnTo>
                  <a:lnTo>
                    <a:pt x="107" y="86"/>
                  </a:lnTo>
                  <a:lnTo>
                    <a:pt x="109" y="78"/>
                  </a:lnTo>
                  <a:lnTo>
                    <a:pt x="111" y="70"/>
                  </a:lnTo>
                  <a:lnTo>
                    <a:pt x="109" y="62"/>
                  </a:lnTo>
                  <a:lnTo>
                    <a:pt x="107" y="54"/>
                  </a:lnTo>
                  <a:lnTo>
                    <a:pt x="103" y="46"/>
                  </a:lnTo>
                  <a:lnTo>
                    <a:pt x="98" y="40"/>
                  </a:lnTo>
                  <a:lnTo>
                    <a:pt x="98" y="40"/>
                  </a:lnTo>
                  <a:lnTo>
                    <a:pt x="92" y="35"/>
                  </a:lnTo>
                  <a:lnTo>
                    <a:pt x="84" y="32"/>
                  </a:lnTo>
                  <a:lnTo>
                    <a:pt x="77" y="29"/>
                  </a:lnTo>
                  <a:lnTo>
                    <a:pt x="68" y="29"/>
                  </a:lnTo>
                  <a:lnTo>
                    <a:pt x="68"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32"/>
            <p:cNvSpPr>
              <a:spLocks/>
            </p:cNvSpPr>
            <p:nvPr/>
          </p:nvSpPr>
          <p:spPr bwMode="auto">
            <a:xfrm>
              <a:off x="5584826" y="2808288"/>
              <a:ext cx="355600" cy="212725"/>
            </a:xfrm>
            <a:custGeom>
              <a:avLst/>
              <a:gdLst>
                <a:gd name="T0" fmla="*/ 15 w 224"/>
                <a:gd name="T1" fmla="*/ 134 h 134"/>
                <a:gd name="T2" fmla="*/ 4 w 224"/>
                <a:gd name="T3" fmla="*/ 129 h 134"/>
                <a:gd name="T4" fmla="*/ 2 w 224"/>
                <a:gd name="T5" fmla="*/ 126 h 134"/>
                <a:gd name="T6" fmla="*/ 0 w 224"/>
                <a:gd name="T7" fmla="*/ 118 h 134"/>
                <a:gd name="T8" fmla="*/ 2 w 224"/>
                <a:gd name="T9" fmla="*/ 114 h 134"/>
                <a:gd name="T10" fmla="*/ 18 w 224"/>
                <a:gd name="T11" fmla="*/ 91 h 134"/>
                <a:gd name="T12" fmla="*/ 54 w 224"/>
                <a:gd name="T13" fmla="*/ 52 h 134"/>
                <a:gd name="T14" fmla="*/ 99 w 224"/>
                <a:gd name="T15" fmla="*/ 23 h 134"/>
                <a:gd name="T16" fmla="*/ 143 w 224"/>
                <a:gd name="T17" fmla="*/ 4 h 134"/>
                <a:gd name="T18" fmla="*/ 162 w 224"/>
                <a:gd name="T19" fmla="*/ 1 h 134"/>
                <a:gd name="T20" fmla="*/ 197 w 224"/>
                <a:gd name="T21" fmla="*/ 1 h 134"/>
                <a:gd name="T22" fmla="*/ 214 w 224"/>
                <a:gd name="T23" fmla="*/ 9 h 134"/>
                <a:gd name="T24" fmla="*/ 219 w 224"/>
                <a:gd name="T25" fmla="*/ 14 h 134"/>
                <a:gd name="T26" fmla="*/ 224 w 224"/>
                <a:gd name="T27" fmla="*/ 23 h 134"/>
                <a:gd name="T28" fmla="*/ 219 w 224"/>
                <a:gd name="T29" fmla="*/ 33 h 134"/>
                <a:gd name="T30" fmla="*/ 216 w 224"/>
                <a:gd name="T31" fmla="*/ 36 h 134"/>
                <a:gd name="T32" fmla="*/ 205 w 224"/>
                <a:gd name="T33" fmla="*/ 36 h 134"/>
                <a:gd name="T34" fmla="*/ 200 w 224"/>
                <a:gd name="T35" fmla="*/ 33 h 134"/>
                <a:gd name="T36" fmla="*/ 189 w 224"/>
                <a:gd name="T37" fmla="*/ 28 h 134"/>
                <a:gd name="T38" fmla="*/ 167 w 224"/>
                <a:gd name="T39" fmla="*/ 28 h 134"/>
                <a:gd name="T40" fmla="*/ 153 w 224"/>
                <a:gd name="T41" fmla="*/ 31 h 134"/>
                <a:gd name="T42" fmla="*/ 122 w 224"/>
                <a:gd name="T43" fmla="*/ 42 h 134"/>
                <a:gd name="T44" fmla="*/ 91 w 224"/>
                <a:gd name="T45" fmla="*/ 58 h 134"/>
                <a:gd name="T46" fmla="*/ 62 w 224"/>
                <a:gd name="T47" fmla="*/ 82 h 134"/>
                <a:gd name="T48" fmla="*/ 48 w 224"/>
                <a:gd name="T49" fmla="*/ 96 h 134"/>
                <a:gd name="T50" fmla="*/ 84 w 224"/>
                <a:gd name="T51" fmla="*/ 88 h 134"/>
                <a:gd name="T52" fmla="*/ 113 w 224"/>
                <a:gd name="T53" fmla="*/ 87 h 134"/>
                <a:gd name="T54" fmla="*/ 135 w 224"/>
                <a:gd name="T55" fmla="*/ 91 h 134"/>
                <a:gd name="T56" fmla="*/ 151 w 224"/>
                <a:gd name="T57" fmla="*/ 101 h 134"/>
                <a:gd name="T58" fmla="*/ 154 w 224"/>
                <a:gd name="T59" fmla="*/ 106 h 134"/>
                <a:gd name="T60" fmla="*/ 154 w 224"/>
                <a:gd name="T61" fmla="*/ 117 h 134"/>
                <a:gd name="T62" fmla="*/ 151 w 224"/>
                <a:gd name="T63" fmla="*/ 122 h 134"/>
                <a:gd name="T64" fmla="*/ 141 w 224"/>
                <a:gd name="T65" fmla="*/ 125 h 134"/>
                <a:gd name="T66" fmla="*/ 132 w 224"/>
                <a:gd name="T67" fmla="*/ 122 h 134"/>
                <a:gd name="T68" fmla="*/ 126 w 224"/>
                <a:gd name="T69" fmla="*/ 117 h 134"/>
                <a:gd name="T70" fmla="*/ 107 w 224"/>
                <a:gd name="T71" fmla="*/ 114 h 134"/>
                <a:gd name="T72" fmla="*/ 78 w 224"/>
                <a:gd name="T73" fmla="*/ 117 h 134"/>
                <a:gd name="T74" fmla="*/ 18 w 224"/>
                <a:gd name="T75" fmla="*/ 134 h 134"/>
                <a:gd name="T76" fmla="*/ 15 w 224"/>
                <a:gd name="T7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4" h="134">
                  <a:moveTo>
                    <a:pt x="15" y="134"/>
                  </a:moveTo>
                  <a:lnTo>
                    <a:pt x="15" y="134"/>
                  </a:lnTo>
                  <a:lnTo>
                    <a:pt x="8" y="133"/>
                  </a:lnTo>
                  <a:lnTo>
                    <a:pt x="4" y="129"/>
                  </a:lnTo>
                  <a:lnTo>
                    <a:pt x="4" y="129"/>
                  </a:lnTo>
                  <a:lnTo>
                    <a:pt x="2" y="126"/>
                  </a:lnTo>
                  <a:lnTo>
                    <a:pt x="0" y="122"/>
                  </a:lnTo>
                  <a:lnTo>
                    <a:pt x="0" y="118"/>
                  </a:lnTo>
                  <a:lnTo>
                    <a:pt x="2" y="114"/>
                  </a:lnTo>
                  <a:lnTo>
                    <a:pt x="2" y="114"/>
                  </a:lnTo>
                  <a:lnTo>
                    <a:pt x="10" y="103"/>
                  </a:lnTo>
                  <a:lnTo>
                    <a:pt x="18" y="91"/>
                  </a:lnTo>
                  <a:lnTo>
                    <a:pt x="35" y="69"/>
                  </a:lnTo>
                  <a:lnTo>
                    <a:pt x="54" y="52"/>
                  </a:lnTo>
                  <a:lnTo>
                    <a:pt x="76" y="36"/>
                  </a:lnTo>
                  <a:lnTo>
                    <a:pt x="99" y="23"/>
                  </a:lnTo>
                  <a:lnTo>
                    <a:pt x="121" y="12"/>
                  </a:lnTo>
                  <a:lnTo>
                    <a:pt x="143" y="4"/>
                  </a:lnTo>
                  <a:lnTo>
                    <a:pt x="162" y="1"/>
                  </a:lnTo>
                  <a:lnTo>
                    <a:pt x="162" y="1"/>
                  </a:lnTo>
                  <a:lnTo>
                    <a:pt x="181" y="0"/>
                  </a:lnTo>
                  <a:lnTo>
                    <a:pt x="197" y="1"/>
                  </a:lnTo>
                  <a:lnTo>
                    <a:pt x="210" y="6"/>
                  </a:lnTo>
                  <a:lnTo>
                    <a:pt x="214" y="9"/>
                  </a:lnTo>
                  <a:lnTo>
                    <a:pt x="219" y="14"/>
                  </a:lnTo>
                  <a:lnTo>
                    <a:pt x="219" y="14"/>
                  </a:lnTo>
                  <a:lnTo>
                    <a:pt x="222" y="17"/>
                  </a:lnTo>
                  <a:lnTo>
                    <a:pt x="224" y="23"/>
                  </a:lnTo>
                  <a:lnTo>
                    <a:pt x="222" y="28"/>
                  </a:lnTo>
                  <a:lnTo>
                    <a:pt x="219" y="33"/>
                  </a:lnTo>
                  <a:lnTo>
                    <a:pt x="219" y="33"/>
                  </a:lnTo>
                  <a:lnTo>
                    <a:pt x="216" y="36"/>
                  </a:lnTo>
                  <a:lnTo>
                    <a:pt x="210" y="36"/>
                  </a:lnTo>
                  <a:lnTo>
                    <a:pt x="205" y="36"/>
                  </a:lnTo>
                  <a:lnTo>
                    <a:pt x="200" y="33"/>
                  </a:lnTo>
                  <a:lnTo>
                    <a:pt x="200" y="33"/>
                  </a:lnTo>
                  <a:lnTo>
                    <a:pt x="195" y="30"/>
                  </a:lnTo>
                  <a:lnTo>
                    <a:pt x="189" y="28"/>
                  </a:lnTo>
                  <a:lnTo>
                    <a:pt x="179" y="27"/>
                  </a:lnTo>
                  <a:lnTo>
                    <a:pt x="167" y="28"/>
                  </a:lnTo>
                  <a:lnTo>
                    <a:pt x="167" y="28"/>
                  </a:lnTo>
                  <a:lnTo>
                    <a:pt x="153" y="31"/>
                  </a:lnTo>
                  <a:lnTo>
                    <a:pt x="137" y="36"/>
                  </a:lnTo>
                  <a:lnTo>
                    <a:pt x="122" y="42"/>
                  </a:lnTo>
                  <a:lnTo>
                    <a:pt x="107" y="49"/>
                  </a:lnTo>
                  <a:lnTo>
                    <a:pt x="91" y="58"/>
                  </a:lnTo>
                  <a:lnTo>
                    <a:pt x="76" y="69"/>
                  </a:lnTo>
                  <a:lnTo>
                    <a:pt x="62" y="82"/>
                  </a:lnTo>
                  <a:lnTo>
                    <a:pt x="48" y="96"/>
                  </a:lnTo>
                  <a:lnTo>
                    <a:pt x="48" y="96"/>
                  </a:lnTo>
                  <a:lnTo>
                    <a:pt x="67" y="91"/>
                  </a:lnTo>
                  <a:lnTo>
                    <a:pt x="84" y="88"/>
                  </a:lnTo>
                  <a:lnTo>
                    <a:pt x="100" y="87"/>
                  </a:lnTo>
                  <a:lnTo>
                    <a:pt x="113" y="87"/>
                  </a:lnTo>
                  <a:lnTo>
                    <a:pt x="126" y="88"/>
                  </a:lnTo>
                  <a:lnTo>
                    <a:pt x="135" y="91"/>
                  </a:lnTo>
                  <a:lnTo>
                    <a:pt x="145" y="95"/>
                  </a:lnTo>
                  <a:lnTo>
                    <a:pt x="151" y="101"/>
                  </a:lnTo>
                  <a:lnTo>
                    <a:pt x="151" y="101"/>
                  </a:lnTo>
                  <a:lnTo>
                    <a:pt x="154" y="106"/>
                  </a:lnTo>
                  <a:lnTo>
                    <a:pt x="156" y="110"/>
                  </a:lnTo>
                  <a:lnTo>
                    <a:pt x="154" y="117"/>
                  </a:lnTo>
                  <a:lnTo>
                    <a:pt x="151" y="122"/>
                  </a:lnTo>
                  <a:lnTo>
                    <a:pt x="151" y="122"/>
                  </a:lnTo>
                  <a:lnTo>
                    <a:pt x="146" y="123"/>
                  </a:lnTo>
                  <a:lnTo>
                    <a:pt x="141" y="125"/>
                  </a:lnTo>
                  <a:lnTo>
                    <a:pt x="137" y="123"/>
                  </a:lnTo>
                  <a:lnTo>
                    <a:pt x="132" y="122"/>
                  </a:lnTo>
                  <a:lnTo>
                    <a:pt x="132" y="122"/>
                  </a:lnTo>
                  <a:lnTo>
                    <a:pt x="126" y="117"/>
                  </a:lnTo>
                  <a:lnTo>
                    <a:pt x="118" y="115"/>
                  </a:lnTo>
                  <a:lnTo>
                    <a:pt x="107" y="114"/>
                  </a:lnTo>
                  <a:lnTo>
                    <a:pt x="94" y="115"/>
                  </a:lnTo>
                  <a:lnTo>
                    <a:pt x="78" y="117"/>
                  </a:lnTo>
                  <a:lnTo>
                    <a:pt x="61" y="122"/>
                  </a:lnTo>
                  <a:lnTo>
                    <a:pt x="18" y="134"/>
                  </a:lnTo>
                  <a:lnTo>
                    <a:pt x="18" y="134"/>
                  </a:lnTo>
                  <a:lnTo>
                    <a:pt x="15" y="134"/>
                  </a:lnTo>
                  <a:lnTo>
                    <a:pt x="15" y="1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33"/>
            <p:cNvSpPr>
              <a:spLocks/>
            </p:cNvSpPr>
            <p:nvPr/>
          </p:nvSpPr>
          <p:spPr bwMode="auto">
            <a:xfrm>
              <a:off x="6019801" y="3101975"/>
              <a:ext cx="214313" cy="354013"/>
            </a:xfrm>
            <a:custGeom>
              <a:avLst/>
              <a:gdLst>
                <a:gd name="T0" fmla="*/ 15 w 135"/>
                <a:gd name="T1" fmla="*/ 223 h 223"/>
                <a:gd name="T2" fmla="*/ 5 w 135"/>
                <a:gd name="T3" fmla="*/ 220 h 223"/>
                <a:gd name="T4" fmla="*/ 2 w 135"/>
                <a:gd name="T5" fmla="*/ 217 h 223"/>
                <a:gd name="T6" fmla="*/ 0 w 135"/>
                <a:gd name="T7" fmla="*/ 209 h 223"/>
                <a:gd name="T8" fmla="*/ 0 w 135"/>
                <a:gd name="T9" fmla="*/ 206 h 223"/>
                <a:gd name="T10" fmla="*/ 18 w 135"/>
                <a:gd name="T11" fmla="*/ 146 h 223"/>
                <a:gd name="T12" fmla="*/ 21 w 135"/>
                <a:gd name="T13" fmla="*/ 117 h 223"/>
                <a:gd name="T14" fmla="*/ 18 w 135"/>
                <a:gd name="T15" fmla="*/ 98 h 223"/>
                <a:gd name="T16" fmla="*/ 15 w 135"/>
                <a:gd name="T17" fmla="*/ 92 h 223"/>
                <a:gd name="T18" fmla="*/ 10 w 135"/>
                <a:gd name="T19" fmla="*/ 82 h 223"/>
                <a:gd name="T20" fmla="*/ 15 w 135"/>
                <a:gd name="T21" fmla="*/ 73 h 223"/>
                <a:gd name="T22" fmla="*/ 19 w 135"/>
                <a:gd name="T23" fmla="*/ 70 h 223"/>
                <a:gd name="T24" fmla="*/ 29 w 135"/>
                <a:gd name="T25" fmla="*/ 70 h 223"/>
                <a:gd name="T26" fmla="*/ 34 w 135"/>
                <a:gd name="T27" fmla="*/ 73 h 223"/>
                <a:gd name="T28" fmla="*/ 43 w 135"/>
                <a:gd name="T29" fmla="*/ 89 h 223"/>
                <a:gd name="T30" fmla="*/ 48 w 135"/>
                <a:gd name="T31" fmla="*/ 111 h 223"/>
                <a:gd name="T32" fmla="*/ 46 w 135"/>
                <a:gd name="T33" fmla="*/ 139 h 223"/>
                <a:gd name="T34" fmla="*/ 38 w 135"/>
                <a:gd name="T35" fmla="*/ 176 h 223"/>
                <a:gd name="T36" fmla="*/ 53 w 135"/>
                <a:gd name="T37" fmla="*/ 162 h 223"/>
                <a:gd name="T38" fmla="*/ 77 w 135"/>
                <a:gd name="T39" fmla="*/ 133 h 223"/>
                <a:gd name="T40" fmla="*/ 94 w 135"/>
                <a:gd name="T41" fmla="*/ 101 h 223"/>
                <a:gd name="T42" fmla="*/ 103 w 135"/>
                <a:gd name="T43" fmla="*/ 71 h 223"/>
                <a:gd name="T44" fmla="*/ 107 w 135"/>
                <a:gd name="T45" fmla="*/ 57 h 223"/>
                <a:gd name="T46" fmla="*/ 107 w 135"/>
                <a:gd name="T47" fmla="*/ 35 h 223"/>
                <a:gd name="T48" fmla="*/ 102 w 135"/>
                <a:gd name="T49" fmla="*/ 24 h 223"/>
                <a:gd name="T50" fmla="*/ 99 w 135"/>
                <a:gd name="T51" fmla="*/ 19 h 223"/>
                <a:gd name="T52" fmla="*/ 99 w 135"/>
                <a:gd name="T53" fmla="*/ 9 h 223"/>
                <a:gd name="T54" fmla="*/ 102 w 135"/>
                <a:gd name="T55" fmla="*/ 5 h 223"/>
                <a:gd name="T56" fmla="*/ 111 w 135"/>
                <a:gd name="T57" fmla="*/ 0 h 223"/>
                <a:gd name="T58" fmla="*/ 122 w 135"/>
                <a:gd name="T59" fmla="*/ 5 h 223"/>
                <a:gd name="T60" fmla="*/ 126 w 135"/>
                <a:gd name="T61" fmla="*/ 9 h 223"/>
                <a:gd name="T62" fmla="*/ 134 w 135"/>
                <a:gd name="T63" fmla="*/ 27 h 223"/>
                <a:gd name="T64" fmla="*/ 135 w 135"/>
                <a:gd name="T65" fmla="*/ 62 h 223"/>
                <a:gd name="T66" fmla="*/ 130 w 135"/>
                <a:gd name="T67" fmla="*/ 82 h 223"/>
                <a:gd name="T68" fmla="*/ 113 w 135"/>
                <a:gd name="T69" fmla="*/ 125 h 223"/>
                <a:gd name="T70" fmla="*/ 83 w 135"/>
                <a:gd name="T71" fmla="*/ 169 h 223"/>
                <a:gd name="T72" fmla="*/ 45 w 135"/>
                <a:gd name="T73" fmla="*/ 207 h 223"/>
                <a:gd name="T74" fmla="*/ 21 w 135"/>
                <a:gd name="T75" fmla="*/ 222 h 223"/>
                <a:gd name="T76" fmla="*/ 15 w 135"/>
                <a:gd name="T7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5" h="223">
                  <a:moveTo>
                    <a:pt x="15" y="223"/>
                  </a:moveTo>
                  <a:lnTo>
                    <a:pt x="15" y="223"/>
                  </a:lnTo>
                  <a:lnTo>
                    <a:pt x="10" y="223"/>
                  </a:lnTo>
                  <a:lnTo>
                    <a:pt x="5" y="220"/>
                  </a:lnTo>
                  <a:lnTo>
                    <a:pt x="5" y="220"/>
                  </a:lnTo>
                  <a:lnTo>
                    <a:pt x="2" y="217"/>
                  </a:lnTo>
                  <a:lnTo>
                    <a:pt x="0" y="214"/>
                  </a:lnTo>
                  <a:lnTo>
                    <a:pt x="0" y="209"/>
                  </a:lnTo>
                  <a:lnTo>
                    <a:pt x="0" y="206"/>
                  </a:lnTo>
                  <a:lnTo>
                    <a:pt x="0" y="206"/>
                  </a:lnTo>
                  <a:lnTo>
                    <a:pt x="13" y="163"/>
                  </a:lnTo>
                  <a:lnTo>
                    <a:pt x="18" y="146"/>
                  </a:lnTo>
                  <a:lnTo>
                    <a:pt x="19" y="130"/>
                  </a:lnTo>
                  <a:lnTo>
                    <a:pt x="21" y="117"/>
                  </a:lnTo>
                  <a:lnTo>
                    <a:pt x="19" y="106"/>
                  </a:lnTo>
                  <a:lnTo>
                    <a:pt x="18" y="98"/>
                  </a:lnTo>
                  <a:lnTo>
                    <a:pt x="15" y="92"/>
                  </a:lnTo>
                  <a:lnTo>
                    <a:pt x="15" y="92"/>
                  </a:lnTo>
                  <a:lnTo>
                    <a:pt x="12" y="89"/>
                  </a:lnTo>
                  <a:lnTo>
                    <a:pt x="10" y="82"/>
                  </a:lnTo>
                  <a:lnTo>
                    <a:pt x="12" y="78"/>
                  </a:lnTo>
                  <a:lnTo>
                    <a:pt x="15" y="73"/>
                  </a:lnTo>
                  <a:lnTo>
                    <a:pt x="15" y="73"/>
                  </a:lnTo>
                  <a:lnTo>
                    <a:pt x="19" y="70"/>
                  </a:lnTo>
                  <a:lnTo>
                    <a:pt x="24" y="68"/>
                  </a:lnTo>
                  <a:lnTo>
                    <a:pt x="29" y="70"/>
                  </a:lnTo>
                  <a:lnTo>
                    <a:pt x="34" y="73"/>
                  </a:lnTo>
                  <a:lnTo>
                    <a:pt x="34" y="73"/>
                  </a:lnTo>
                  <a:lnTo>
                    <a:pt x="40" y="81"/>
                  </a:lnTo>
                  <a:lnTo>
                    <a:pt x="43" y="89"/>
                  </a:lnTo>
                  <a:lnTo>
                    <a:pt x="46" y="98"/>
                  </a:lnTo>
                  <a:lnTo>
                    <a:pt x="48" y="111"/>
                  </a:lnTo>
                  <a:lnTo>
                    <a:pt x="48" y="123"/>
                  </a:lnTo>
                  <a:lnTo>
                    <a:pt x="46" y="139"/>
                  </a:lnTo>
                  <a:lnTo>
                    <a:pt x="43" y="157"/>
                  </a:lnTo>
                  <a:lnTo>
                    <a:pt x="38" y="176"/>
                  </a:lnTo>
                  <a:lnTo>
                    <a:pt x="38" y="176"/>
                  </a:lnTo>
                  <a:lnTo>
                    <a:pt x="53" y="162"/>
                  </a:lnTo>
                  <a:lnTo>
                    <a:pt x="65" y="147"/>
                  </a:lnTo>
                  <a:lnTo>
                    <a:pt x="77" y="133"/>
                  </a:lnTo>
                  <a:lnTo>
                    <a:pt x="86" y="117"/>
                  </a:lnTo>
                  <a:lnTo>
                    <a:pt x="94" y="101"/>
                  </a:lnTo>
                  <a:lnTo>
                    <a:pt x="100" y="87"/>
                  </a:lnTo>
                  <a:lnTo>
                    <a:pt x="103" y="71"/>
                  </a:lnTo>
                  <a:lnTo>
                    <a:pt x="107" y="57"/>
                  </a:lnTo>
                  <a:lnTo>
                    <a:pt x="107" y="57"/>
                  </a:lnTo>
                  <a:lnTo>
                    <a:pt x="108" y="44"/>
                  </a:lnTo>
                  <a:lnTo>
                    <a:pt x="107" y="35"/>
                  </a:lnTo>
                  <a:lnTo>
                    <a:pt x="105" y="28"/>
                  </a:lnTo>
                  <a:lnTo>
                    <a:pt x="102" y="24"/>
                  </a:lnTo>
                  <a:lnTo>
                    <a:pt x="102" y="24"/>
                  </a:lnTo>
                  <a:lnTo>
                    <a:pt x="99" y="19"/>
                  </a:lnTo>
                  <a:lnTo>
                    <a:pt x="99" y="14"/>
                  </a:lnTo>
                  <a:lnTo>
                    <a:pt x="99" y="9"/>
                  </a:lnTo>
                  <a:lnTo>
                    <a:pt x="102" y="5"/>
                  </a:lnTo>
                  <a:lnTo>
                    <a:pt x="102" y="5"/>
                  </a:lnTo>
                  <a:lnTo>
                    <a:pt x="107" y="2"/>
                  </a:lnTo>
                  <a:lnTo>
                    <a:pt x="111" y="0"/>
                  </a:lnTo>
                  <a:lnTo>
                    <a:pt x="118" y="2"/>
                  </a:lnTo>
                  <a:lnTo>
                    <a:pt x="122" y="5"/>
                  </a:lnTo>
                  <a:lnTo>
                    <a:pt x="122" y="5"/>
                  </a:lnTo>
                  <a:lnTo>
                    <a:pt x="126" y="9"/>
                  </a:lnTo>
                  <a:lnTo>
                    <a:pt x="129" y="14"/>
                  </a:lnTo>
                  <a:lnTo>
                    <a:pt x="134" y="27"/>
                  </a:lnTo>
                  <a:lnTo>
                    <a:pt x="135" y="43"/>
                  </a:lnTo>
                  <a:lnTo>
                    <a:pt x="135" y="62"/>
                  </a:lnTo>
                  <a:lnTo>
                    <a:pt x="135" y="62"/>
                  </a:lnTo>
                  <a:lnTo>
                    <a:pt x="130" y="82"/>
                  </a:lnTo>
                  <a:lnTo>
                    <a:pt x="122" y="103"/>
                  </a:lnTo>
                  <a:lnTo>
                    <a:pt x="113" y="125"/>
                  </a:lnTo>
                  <a:lnTo>
                    <a:pt x="99" y="147"/>
                  </a:lnTo>
                  <a:lnTo>
                    <a:pt x="83" y="169"/>
                  </a:lnTo>
                  <a:lnTo>
                    <a:pt x="65" y="188"/>
                  </a:lnTo>
                  <a:lnTo>
                    <a:pt x="45" y="207"/>
                  </a:lnTo>
                  <a:lnTo>
                    <a:pt x="32" y="215"/>
                  </a:lnTo>
                  <a:lnTo>
                    <a:pt x="21" y="222"/>
                  </a:lnTo>
                  <a:lnTo>
                    <a:pt x="21" y="222"/>
                  </a:lnTo>
                  <a:lnTo>
                    <a:pt x="15" y="223"/>
                  </a:lnTo>
                  <a:lnTo>
                    <a:pt x="15" y="2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34"/>
            <p:cNvSpPr>
              <a:spLocks/>
            </p:cNvSpPr>
            <p:nvPr/>
          </p:nvSpPr>
          <p:spPr bwMode="auto">
            <a:xfrm>
              <a:off x="6088063" y="2689225"/>
              <a:ext cx="266700" cy="263525"/>
            </a:xfrm>
            <a:custGeom>
              <a:avLst/>
              <a:gdLst>
                <a:gd name="T0" fmla="*/ 154 w 168"/>
                <a:gd name="T1" fmla="*/ 166 h 166"/>
                <a:gd name="T2" fmla="*/ 154 w 168"/>
                <a:gd name="T3" fmla="*/ 166 h 166"/>
                <a:gd name="T4" fmla="*/ 149 w 168"/>
                <a:gd name="T5" fmla="*/ 166 h 166"/>
                <a:gd name="T6" fmla="*/ 146 w 168"/>
                <a:gd name="T7" fmla="*/ 165 h 166"/>
                <a:gd name="T8" fmla="*/ 143 w 168"/>
                <a:gd name="T9" fmla="*/ 162 h 166"/>
                <a:gd name="T10" fmla="*/ 141 w 168"/>
                <a:gd name="T11" fmla="*/ 157 h 166"/>
                <a:gd name="T12" fmla="*/ 141 w 168"/>
                <a:gd name="T13" fmla="*/ 157 h 166"/>
                <a:gd name="T14" fmla="*/ 132 w 168"/>
                <a:gd name="T15" fmla="*/ 138 h 166"/>
                <a:gd name="T16" fmla="*/ 121 w 168"/>
                <a:gd name="T17" fmla="*/ 117 h 166"/>
                <a:gd name="T18" fmla="*/ 106 w 168"/>
                <a:gd name="T19" fmla="*/ 97 h 166"/>
                <a:gd name="T20" fmla="*/ 89 w 168"/>
                <a:gd name="T21" fmla="*/ 78 h 166"/>
                <a:gd name="T22" fmla="*/ 89 w 168"/>
                <a:gd name="T23" fmla="*/ 78 h 166"/>
                <a:gd name="T24" fmla="*/ 70 w 168"/>
                <a:gd name="T25" fmla="*/ 60 h 166"/>
                <a:gd name="T26" fmla="*/ 49 w 168"/>
                <a:gd name="T27" fmla="*/ 46 h 166"/>
                <a:gd name="T28" fmla="*/ 29 w 168"/>
                <a:gd name="T29" fmla="*/ 35 h 166"/>
                <a:gd name="T30" fmla="*/ 10 w 168"/>
                <a:gd name="T31" fmla="*/ 27 h 166"/>
                <a:gd name="T32" fmla="*/ 10 w 168"/>
                <a:gd name="T33" fmla="*/ 27 h 166"/>
                <a:gd name="T34" fmla="*/ 5 w 168"/>
                <a:gd name="T35" fmla="*/ 24 h 166"/>
                <a:gd name="T36" fmla="*/ 2 w 168"/>
                <a:gd name="T37" fmla="*/ 19 h 166"/>
                <a:gd name="T38" fmla="*/ 0 w 168"/>
                <a:gd name="T39" fmla="*/ 14 h 166"/>
                <a:gd name="T40" fmla="*/ 0 w 168"/>
                <a:gd name="T41" fmla="*/ 10 h 166"/>
                <a:gd name="T42" fmla="*/ 0 w 168"/>
                <a:gd name="T43" fmla="*/ 10 h 166"/>
                <a:gd name="T44" fmla="*/ 3 w 168"/>
                <a:gd name="T45" fmla="*/ 5 h 166"/>
                <a:gd name="T46" fmla="*/ 7 w 168"/>
                <a:gd name="T47" fmla="*/ 2 h 166"/>
                <a:gd name="T48" fmla="*/ 13 w 168"/>
                <a:gd name="T49" fmla="*/ 0 h 166"/>
                <a:gd name="T50" fmla="*/ 18 w 168"/>
                <a:gd name="T51" fmla="*/ 0 h 166"/>
                <a:gd name="T52" fmla="*/ 18 w 168"/>
                <a:gd name="T53" fmla="*/ 0 h 166"/>
                <a:gd name="T54" fmla="*/ 41 w 168"/>
                <a:gd name="T55" fmla="*/ 10 h 166"/>
                <a:gd name="T56" fmla="*/ 64 w 168"/>
                <a:gd name="T57" fmla="*/ 22 h 166"/>
                <a:gd name="T58" fmla="*/ 86 w 168"/>
                <a:gd name="T59" fmla="*/ 40 h 166"/>
                <a:gd name="T60" fmla="*/ 108 w 168"/>
                <a:gd name="T61" fmla="*/ 59 h 166"/>
                <a:gd name="T62" fmla="*/ 108 w 168"/>
                <a:gd name="T63" fmla="*/ 59 h 166"/>
                <a:gd name="T64" fmla="*/ 129 w 168"/>
                <a:gd name="T65" fmla="*/ 81 h 166"/>
                <a:gd name="T66" fmla="*/ 144 w 168"/>
                <a:gd name="T67" fmla="*/ 103 h 166"/>
                <a:gd name="T68" fmla="*/ 157 w 168"/>
                <a:gd name="T69" fmla="*/ 127 h 166"/>
                <a:gd name="T70" fmla="*/ 167 w 168"/>
                <a:gd name="T71" fmla="*/ 149 h 166"/>
                <a:gd name="T72" fmla="*/ 167 w 168"/>
                <a:gd name="T73" fmla="*/ 149 h 166"/>
                <a:gd name="T74" fmla="*/ 168 w 168"/>
                <a:gd name="T75" fmla="*/ 155 h 166"/>
                <a:gd name="T76" fmla="*/ 167 w 168"/>
                <a:gd name="T77" fmla="*/ 160 h 166"/>
                <a:gd name="T78" fmla="*/ 163 w 168"/>
                <a:gd name="T79" fmla="*/ 163 h 166"/>
                <a:gd name="T80" fmla="*/ 159 w 168"/>
                <a:gd name="T81" fmla="*/ 166 h 166"/>
                <a:gd name="T82" fmla="*/ 159 w 168"/>
                <a:gd name="T83" fmla="*/ 166 h 166"/>
                <a:gd name="T84" fmla="*/ 154 w 168"/>
                <a:gd name="T85" fmla="*/ 166 h 166"/>
                <a:gd name="T86" fmla="*/ 154 w 168"/>
                <a:gd name="T8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8" h="166">
                  <a:moveTo>
                    <a:pt x="154" y="166"/>
                  </a:moveTo>
                  <a:lnTo>
                    <a:pt x="154" y="166"/>
                  </a:lnTo>
                  <a:lnTo>
                    <a:pt x="149" y="166"/>
                  </a:lnTo>
                  <a:lnTo>
                    <a:pt x="146" y="165"/>
                  </a:lnTo>
                  <a:lnTo>
                    <a:pt x="143" y="162"/>
                  </a:lnTo>
                  <a:lnTo>
                    <a:pt x="141" y="157"/>
                  </a:lnTo>
                  <a:lnTo>
                    <a:pt x="141" y="157"/>
                  </a:lnTo>
                  <a:lnTo>
                    <a:pt x="132" y="138"/>
                  </a:lnTo>
                  <a:lnTo>
                    <a:pt x="121" y="117"/>
                  </a:lnTo>
                  <a:lnTo>
                    <a:pt x="106" y="97"/>
                  </a:lnTo>
                  <a:lnTo>
                    <a:pt x="89" y="78"/>
                  </a:lnTo>
                  <a:lnTo>
                    <a:pt x="89" y="78"/>
                  </a:lnTo>
                  <a:lnTo>
                    <a:pt x="70" y="60"/>
                  </a:lnTo>
                  <a:lnTo>
                    <a:pt x="49" y="46"/>
                  </a:lnTo>
                  <a:lnTo>
                    <a:pt x="29" y="35"/>
                  </a:lnTo>
                  <a:lnTo>
                    <a:pt x="10" y="27"/>
                  </a:lnTo>
                  <a:lnTo>
                    <a:pt x="10" y="27"/>
                  </a:lnTo>
                  <a:lnTo>
                    <a:pt x="5" y="24"/>
                  </a:lnTo>
                  <a:lnTo>
                    <a:pt x="2" y="19"/>
                  </a:lnTo>
                  <a:lnTo>
                    <a:pt x="0" y="14"/>
                  </a:lnTo>
                  <a:lnTo>
                    <a:pt x="0" y="10"/>
                  </a:lnTo>
                  <a:lnTo>
                    <a:pt x="0" y="10"/>
                  </a:lnTo>
                  <a:lnTo>
                    <a:pt x="3" y="5"/>
                  </a:lnTo>
                  <a:lnTo>
                    <a:pt x="7" y="2"/>
                  </a:lnTo>
                  <a:lnTo>
                    <a:pt x="13" y="0"/>
                  </a:lnTo>
                  <a:lnTo>
                    <a:pt x="18" y="0"/>
                  </a:lnTo>
                  <a:lnTo>
                    <a:pt x="18" y="0"/>
                  </a:lnTo>
                  <a:lnTo>
                    <a:pt x="41" y="10"/>
                  </a:lnTo>
                  <a:lnTo>
                    <a:pt x="64" y="22"/>
                  </a:lnTo>
                  <a:lnTo>
                    <a:pt x="86" y="40"/>
                  </a:lnTo>
                  <a:lnTo>
                    <a:pt x="108" y="59"/>
                  </a:lnTo>
                  <a:lnTo>
                    <a:pt x="108" y="59"/>
                  </a:lnTo>
                  <a:lnTo>
                    <a:pt x="129" y="81"/>
                  </a:lnTo>
                  <a:lnTo>
                    <a:pt x="144" y="103"/>
                  </a:lnTo>
                  <a:lnTo>
                    <a:pt x="157" y="127"/>
                  </a:lnTo>
                  <a:lnTo>
                    <a:pt x="167" y="149"/>
                  </a:lnTo>
                  <a:lnTo>
                    <a:pt x="167" y="149"/>
                  </a:lnTo>
                  <a:lnTo>
                    <a:pt x="168" y="155"/>
                  </a:lnTo>
                  <a:lnTo>
                    <a:pt x="167" y="160"/>
                  </a:lnTo>
                  <a:lnTo>
                    <a:pt x="163" y="163"/>
                  </a:lnTo>
                  <a:lnTo>
                    <a:pt x="159" y="166"/>
                  </a:lnTo>
                  <a:lnTo>
                    <a:pt x="159" y="166"/>
                  </a:lnTo>
                  <a:lnTo>
                    <a:pt x="154" y="166"/>
                  </a:lnTo>
                  <a:lnTo>
                    <a:pt x="154" y="1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35"/>
            <p:cNvSpPr>
              <a:spLocks noEditPoints="1"/>
            </p:cNvSpPr>
            <p:nvPr/>
          </p:nvSpPr>
          <p:spPr bwMode="auto">
            <a:xfrm>
              <a:off x="5743576" y="2636838"/>
              <a:ext cx="661988" cy="660400"/>
            </a:xfrm>
            <a:custGeom>
              <a:avLst/>
              <a:gdLst>
                <a:gd name="T0" fmla="*/ 106 w 417"/>
                <a:gd name="T1" fmla="*/ 416 h 416"/>
                <a:gd name="T2" fmla="*/ 98 w 417"/>
                <a:gd name="T3" fmla="*/ 409 h 416"/>
                <a:gd name="T4" fmla="*/ 83 w 417"/>
                <a:gd name="T5" fmla="*/ 382 h 416"/>
                <a:gd name="T6" fmla="*/ 60 w 417"/>
                <a:gd name="T7" fmla="*/ 356 h 416"/>
                <a:gd name="T8" fmla="*/ 22 w 417"/>
                <a:gd name="T9" fmla="*/ 326 h 416"/>
                <a:gd name="T10" fmla="*/ 5 w 417"/>
                <a:gd name="T11" fmla="*/ 317 h 416"/>
                <a:gd name="T12" fmla="*/ 0 w 417"/>
                <a:gd name="T13" fmla="*/ 304 h 416"/>
                <a:gd name="T14" fmla="*/ 14 w 417"/>
                <a:gd name="T15" fmla="*/ 255 h 416"/>
                <a:gd name="T16" fmla="*/ 56 w 417"/>
                <a:gd name="T17" fmla="*/ 177 h 416"/>
                <a:gd name="T18" fmla="*/ 119 w 417"/>
                <a:gd name="T19" fmla="*/ 101 h 416"/>
                <a:gd name="T20" fmla="*/ 159 w 417"/>
                <a:gd name="T21" fmla="*/ 70 h 416"/>
                <a:gd name="T22" fmla="*/ 222 w 417"/>
                <a:gd name="T23" fmla="*/ 35 h 416"/>
                <a:gd name="T24" fmla="*/ 285 w 417"/>
                <a:gd name="T25" fmla="*/ 14 h 416"/>
                <a:gd name="T26" fmla="*/ 384 w 417"/>
                <a:gd name="T27" fmla="*/ 0 h 416"/>
                <a:gd name="T28" fmla="*/ 404 w 417"/>
                <a:gd name="T29" fmla="*/ 0 h 416"/>
                <a:gd name="T30" fmla="*/ 414 w 417"/>
                <a:gd name="T31" fmla="*/ 3 h 416"/>
                <a:gd name="T32" fmla="*/ 417 w 417"/>
                <a:gd name="T33" fmla="*/ 13 h 416"/>
                <a:gd name="T34" fmla="*/ 414 w 417"/>
                <a:gd name="T35" fmla="*/ 79 h 416"/>
                <a:gd name="T36" fmla="*/ 395 w 417"/>
                <a:gd name="T37" fmla="*/ 163 h 416"/>
                <a:gd name="T38" fmla="*/ 365 w 417"/>
                <a:gd name="T39" fmla="*/ 233 h 416"/>
                <a:gd name="T40" fmla="*/ 315 w 417"/>
                <a:gd name="T41" fmla="*/ 298 h 416"/>
                <a:gd name="T42" fmla="*/ 265 w 417"/>
                <a:gd name="T43" fmla="*/ 342 h 416"/>
                <a:gd name="T44" fmla="*/ 187 w 417"/>
                <a:gd name="T45" fmla="*/ 391 h 416"/>
                <a:gd name="T46" fmla="*/ 113 w 417"/>
                <a:gd name="T47" fmla="*/ 416 h 416"/>
                <a:gd name="T48" fmla="*/ 111 w 417"/>
                <a:gd name="T49" fmla="*/ 416 h 416"/>
                <a:gd name="T50" fmla="*/ 43 w 417"/>
                <a:gd name="T51" fmla="*/ 306 h 416"/>
                <a:gd name="T52" fmla="*/ 81 w 417"/>
                <a:gd name="T53" fmla="*/ 336 h 416"/>
                <a:gd name="T54" fmla="*/ 102 w 417"/>
                <a:gd name="T55" fmla="*/ 361 h 416"/>
                <a:gd name="T56" fmla="*/ 119 w 417"/>
                <a:gd name="T57" fmla="*/ 388 h 416"/>
                <a:gd name="T58" fmla="*/ 184 w 417"/>
                <a:gd name="T59" fmla="*/ 363 h 416"/>
                <a:gd name="T60" fmla="*/ 252 w 417"/>
                <a:gd name="T61" fmla="*/ 317 h 416"/>
                <a:gd name="T62" fmla="*/ 296 w 417"/>
                <a:gd name="T63" fmla="*/ 277 h 416"/>
                <a:gd name="T64" fmla="*/ 334 w 417"/>
                <a:gd name="T65" fmla="*/ 228 h 416"/>
                <a:gd name="T66" fmla="*/ 361 w 417"/>
                <a:gd name="T67" fmla="*/ 174 h 416"/>
                <a:gd name="T68" fmla="*/ 385 w 417"/>
                <a:gd name="T69" fmla="*/ 73 h 416"/>
                <a:gd name="T70" fmla="*/ 390 w 417"/>
                <a:gd name="T71" fmla="*/ 27 h 416"/>
                <a:gd name="T72" fmla="*/ 312 w 417"/>
                <a:gd name="T73" fmla="*/ 36 h 416"/>
                <a:gd name="T74" fmla="*/ 225 w 417"/>
                <a:gd name="T75" fmla="*/ 63 h 416"/>
                <a:gd name="T76" fmla="*/ 171 w 417"/>
                <a:gd name="T77" fmla="*/ 93 h 416"/>
                <a:gd name="T78" fmla="*/ 140 w 417"/>
                <a:gd name="T79" fmla="*/ 122 h 416"/>
                <a:gd name="T80" fmla="*/ 83 w 417"/>
                <a:gd name="T81" fmla="*/ 188 h 416"/>
                <a:gd name="T82" fmla="*/ 43 w 417"/>
                <a:gd name="T83" fmla="*/ 255 h 416"/>
                <a:gd name="T84" fmla="*/ 29 w 417"/>
                <a:gd name="T85" fmla="*/ 29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7" h="416">
                  <a:moveTo>
                    <a:pt x="111" y="416"/>
                  </a:moveTo>
                  <a:lnTo>
                    <a:pt x="111" y="416"/>
                  </a:lnTo>
                  <a:lnTo>
                    <a:pt x="106" y="416"/>
                  </a:lnTo>
                  <a:lnTo>
                    <a:pt x="103" y="415"/>
                  </a:lnTo>
                  <a:lnTo>
                    <a:pt x="100" y="412"/>
                  </a:lnTo>
                  <a:lnTo>
                    <a:pt x="98" y="409"/>
                  </a:lnTo>
                  <a:lnTo>
                    <a:pt x="98" y="409"/>
                  </a:lnTo>
                  <a:lnTo>
                    <a:pt x="92" y="396"/>
                  </a:lnTo>
                  <a:lnTo>
                    <a:pt x="83" y="382"/>
                  </a:lnTo>
                  <a:lnTo>
                    <a:pt x="73" y="369"/>
                  </a:lnTo>
                  <a:lnTo>
                    <a:pt x="60" y="356"/>
                  </a:lnTo>
                  <a:lnTo>
                    <a:pt x="60" y="356"/>
                  </a:lnTo>
                  <a:lnTo>
                    <a:pt x="48" y="345"/>
                  </a:lnTo>
                  <a:lnTo>
                    <a:pt x="35" y="334"/>
                  </a:lnTo>
                  <a:lnTo>
                    <a:pt x="22" y="326"/>
                  </a:lnTo>
                  <a:lnTo>
                    <a:pt x="8" y="318"/>
                  </a:lnTo>
                  <a:lnTo>
                    <a:pt x="8" y="318"/>
                  </a:lnTo>
                  <a:lnTo>
                    <a:pt x="5" y="317"/>
                  </a:lnTo>
                  <a:lnTo>
                    <a:pt x="2" y="314"/>
                  </a:lnTo>
                  <a:lnTo>
                    <a:pt x="0" y="309"/>
                  </a:lnTo>
                  <a:lnTo>
                    <a:pt x="0" y="304"/>
                  </a:lnTo>
                  <a:lnTo>
                    <a:pt x="0" y="304"/>
                  </a:lnTo>
                  <a:lnTo>
                    <a:pt x="5" y="280"/>
                  </a:lnTo>
                  <a:lnTo>
                    <a:pt x="14" y="255"/>
                  </a:lnTo>
                  <a:lnTo>
                    <a:pt x="26" y="230"/>
                  </a:lnTo>
                  <a:lnTo>
                    <a:pt x="40" y="204"/>
                  </a:lnTo>
                  <a:lnTo>
                    <a:pt x="56" y="177"/>
                  </a:lnTo>
                  <a:lnTo>
                    <a:pt x="75" y="152"/>
                  </a:lnTo>
                  <a:lnTo>
                    <a:pt x="97" y="127"/>
                  </a:lnTo>
                  <a:lnTo>
                    <a:pt x="119" y="101"/>
                  </a:lnTo>
                  <a:lnTo>
                    <a:pt x="119" y="101"/>
                  </a:lnTo>
                  <a:lnTo>
                    <a:pt x="138" y="84"/>
                  </a:lnTo>
                  <a:lnTo>
                    <a:pt x="159" y="70"/>
                  </a:lnTo>
                  <a:lnTo>
                    <a:pt x="179" y="55"/>
                  </a:lnTo>
                  <a:lnTo>
                    <a:pt x="200" y="44"/>
                  </a:lnTo>
                  <a:lnTo>
                    <a:pt x="222" y="35"/>
                  </a:lnTo>
                  <a:lnTo>
                    <a:pt x="243" y="27"/>
                  </a:lnTo>
                  <a:lnTo>
                    <a:pt x="265" y="20"/>
                  </a:lnTo>
                  <a:lnTo>
                    <a:pt x="285" y="14"/>
                  </a:lnTo>
                  <a:lnTo>
                    <a:pt x="323" y="6"/>
                  </a:lnTo>
                  <a:lnTo>
                    <a:pt x="357" y="1"/>
                  </a:lnTo>
                  <a:lnTo>
                    <a:pt x="384" y="0"/>
                  </a:lnTo>
                  <a:lnTo>
                    <a:pt x="399" y="0"/>
                  </a:lnTo>
                  <a:lnTo>
                    <a:pt x="399" y="0"/>
                  </a:lnTo>
                  <a:lnTo>
                    <a:pt x="404" y="0"/>
                  </a:lnTo>
                  <a:lnTo>
                    <a:pt x="404" y="0"/>
                  </a:lnTo>
                  <a:lnTo>
                    <a:pt x="409" y="1"/>
                  </a:lnTo>
                  <a:lnTo>
                    <a:pt x="414" y="3"/>
                  </a:lnTo>
                  <a:lnTo>
                    <a:pt x="417" y="8"/>
                  </a:lnTo>
                  <a:lnTo>
                    <a:pt x="417" y="13"/>
                  </a:lnTo>
                  <a:lnTo>
                    <a:pt x="417" y="13"/>
                  </a:lnTo>
                  <a:lnTo>
                    <a:pt x="417" y="24"/>
                  </a:lnTo>
                  <a:lnTo>
                    <a:pt x="417" y="46"/>
                  </a:lnTo>
                  <a:lnTo>
                    <a:pt x="414" y="79"/>
                  </a:lnTo>
                  <a:lnTo>
                    <a:pt x="406" y="119"/>
                  </a:lnTo>
                  <a:lnTo>
                    <a:pt x="401" y="141"/>
                  </a:lnTo>
                  <a:lnTo>
                    <a:pt x="395" y="163"/>
                  </a:lnTo>
                  <a:lnTo>
                    <a:pt x="387" y="187"/>
                  </a:lnTo>
                  <a:lnTo>
                    <a:pt x="376" y="209"/>
                  </a:lnTo>
                  <a:lnTo>
                    <a:pt x="365" y="233"/>
                  </a:lnTo>
                  <a:lnTo>
                    <a:pt x="350" y="255"/>
                  </a:lnTo>
                  <a:lnTo>
                    <a:pt x="334" y="277"/>
                  </a:lnTo>
                  <a:lnTo>
                    <a:pt x="315" y="298"/>
                  </a:lnTo>
                  <a:lnTo>
                    <a:pt x="315" y="298"/>
                  </a:lnTo>
                  <a:lnTo>
                    <a:pt x="290" y="320"/>
                  </a:lnTo>
                  <a:lnTo>
                    <a:pt x="265" y="342"/>
                  </a:lnTo>
                  <a:lnTo>
                    <a:pt x="239" y="361"/>
                  </a:lnTo>
                  <a:lnTo>
                    <a:pt x="214" y="377"/>
                  </a:lnTo>
                  <a:lnTo>
                    <a:pt x="187" y="391"/>
                  </a:lnTo>
                  <a:lnTo>
                    <a:pt x="162" y="402"/>
                  </a:lnTo>
                  <a:lnTo>
                    <a:pt x="136" y="412"/>
                  </a:lnTo>
                  <a:lnTo>
                    <a:pt x="113" y="416"/>
                  </a:lnTo>
                  <a:lnTo>
                    <a:pt x="113" y="416"/>
                  </a:lnTo>
                  <a:lnTo>
                    <a:pt x="111" y="416"/>
                  </a:lnTo>
                  <a:lnTo>
                    <a:pt x="111" y="416"/>
                  </a:lnTo>
                  <a:close/>
                  <a:moveTo>
                    <a:pt x="29" y="298"/>
                  </a:moveTo>
                  <a:lnTo>
                    <a:pt x="29" y="298"/>
                  </a:lnTo>
                  <a:lnTo>
                    <a:pt x="43" y="306"/>
                  </a:lnTo>
                  <a:lnTo>
                    <a:pt x="56" y="315"/>
                  </a:lnTo>
                  <a:lnTo>
                    <a:pt x="68" y="325"/>
                  </a:lnTo>
                  <a:lnTo>
                    <a:pt x="81" y="336"/>
                  </a:lnTo>
                  <a:lnTo>
                    <a:pt x="81" y="336"/>
                  </a:lnTo>
                  <a:lnTo>
                    <a:pt x="92" y="348"/>
                  </a:lnTo>
                  <a:lnTo>
                    <a:pt x="102" y="361"/>
                  </a:lnTo>
                  <a:lnTo>
                    <a:pt x="111" y="374"/>
                  </a:lnTo>
                  <a:lnTo>
                    <a:pt x="119" y="388"/>
                  </a:lnTo>
                  <a:lnTo>
                    <a:pt x="119" y="388"/>
                  </a:lnTo>
                  <a:lnTo>
                    <a:pt x="140" y="382"/>
                  </a:lnTo>
                  <a:lnTo>
                    <a:pt x="162" y="374"/>
                  </a:lnTo>
                  <a:lnTo>
                    <a:pt x="184" y="363"/>
                  </a:lnTo>
                  <a:lnTo>
                    <a:pt x="206" y="350"/>
                  </a:lnTo>
                  <a:lnTo>
                    <a:pt x="230" y="334"/>
                  </a:lnTo>
                  <a:lnTo>
                    <a:pt x="252" y="317"/>
                  </a:lnTo>
                  <a:lnTo>
                    <a:pt x="274" y="298"/>
                  </a:lnTo>
                  <a:lnTo>
                    <a:pt x="296" y="277"/>
                  </a:lnTo>
                  <a:lnTo>
                    <a:pt x="296" y="277"/>
                  </a:lnTo>
                  <a:lnTo>
                    <a:pt x="311" y="263"/>
                  </a:lnTo>
                  <a:lnTo>
                    <a:pt x="323" y="245"/>
                  </a:lnTo>
                  <a:lnTo>
                    <a:pt x="334" y="228"/>
                  </a:lnTo>
                  <a:lnTo>
                    <a:pt x="344" y="211"/>
                  </a:lnTo>
                  <a:lnTo>
                    <a:pt x="353" y="192"/>
                  </a:lnTo>
                  <a:lnTo>
                    <a:pt x="361" y="174"/>
                  </a:lnTo>
                  <a:lnTo>
                    <a:pt x="372" y="138"/>
                  </a:lnTo>
                  <a:lnTo>
                    <a:pt x="380" y="103"/>
                  </a:lnTo>
                  <a:lnTo>
                    <a:pt x="385" y="73"/>
                  </a:lnTo>
                  <a:lnTo>
                    <a:pt x="388" y="47"/>
                  </a:lnTo>
                  <a:lnTo>
                    <a:pt x="390" y="27"/>
                  </a:lnTo>
                  <a:lnTo>
                    <a:pt x="390" y="27"/>
                  </a:lnTo>
                  <a:lnTo>
                    <a:pt x="369" y="28"/>
                  </a:lnTo>
                  <a:lnTo>
                    <a:pt x="344" y="32"/>
                  </a:lnTo>
                  <a:lnTo>
                    <a:pt x="312" y="36"/>
                  </a:lnTo>
                  <a:lnTo>
                    <a:pt x="279" y="44"/>
                  </a:lnTo>
                  <a:lnTo>
                    <a:pt x="243" y="57"/>
                  </a:lnTo>
                  <a:lnTo>
                    <a:pt x="225" y="63"/>
                  </a:lnTo>
                  <a:lnTo>
                    <a:pt x="206" y="73"/>
                  </a:lnTo>
                  <a:lnTo>
                    <a:pt x="189" y="82"/>
                  </a:lnTo>
                  <a:lnTo>
                    <a:pt x="171" y="93"/>
                  </a:lnTo>
                  <a:lnTo>
                    <a:pt x="155" y="106"/>
                  </a:lnTo>
                  <a:lnTo>
                    <a:pt x="140" y="122"/>
                  </a:lnTo>
                  <a:lnTo>
                    <a:pt x="140" y="122"/>
                  </a:lnTo>
                  <a:lnTo>
                    <a:pt x="119" y="142"/>
                  </a:lnTo>
                  <a:lnTo>
                    <a:pt x="100" y="165"/>
                  </a:lnTo>
                  <a:lnTo>
                    <a:pt x="83" y="188"/>
                  </a:lnTo>
                  <a:lnTo>
                    <a:pt x="68" y="211"/>
                  </a:lnTo>
                  <a:lnTo>
                    <a:pt x="54" y="233"/>
                  </a:lnTo>
                  <a:lnTo>
                    <a:pt x="43" y="255"/>
                  </a:lnTo>
                  <a:lnTo>
                    <a:pt x="35" y="277"/>
                  </a:lnTo>
                  <a:lnTo>
                    <a:pt x="29" y="298"/>
                  </a:lnTo>
                  <a:lnTo>
                    <a:pt x="29" y="2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36"/>
            <p:cNvSpPr>
              <a:spLocks/>
            </p:cNvSpPr>
            <p:nvPr/>
          </p:nvSpPr>
          <p:spPr bwMode="auto">
            <a:xfrm>
              <a:off x="5694363" y="3209925"/>
              <a:ext cx="138113" cy="138113"/>
            </a:xfrm>
            <a:custGeom>
              <a:avLst/>
              <a:gdLst>
                <a:gd name="T0" fmla="*/ 14 w 87"/>
                <a:gd name="T1" fmla="*/ 87 h 87"/>
                <a:gd name="T2" fmla="*/ 14 w 87"/>
                <a:gd name="T3" fmla="*/ 87 h 87"/>
                <a:gd name="T4" fmla="*/ 9 w 87"/>
                <a:gd name="T5" fmla="*/ 86 h 87"/>
                <a:gd name="T6" fmla="*/ 4 w 87"/>
                <a:gd name="T7" fmla="*/ 82 h 87"/>
                <a:gd name="T8" fmla="*/ 4 w 87"/>
                <a:gd name="T9" fmla="*/ 82 h 87"/>
                <a:gd name="T10" fmla="*/ 1 w 87"/>
                <a:gd name="T11" fmla="*/ 79 h 87"/>
                <a:gd name="T12" fmla="*/ 0 w 87"/>
                <a:gd name="T13" fmla="*/ 73 h 87"/>
                <a:gd name="T14" fmla="*/ 1 w 87"/>
                <a:gd name="T15" fmla="*/ 68 h 87"/>
                <a:gd name="T16" fmla="*/ 4 w 87"/>
                <a:gd name="T17" fmla="*/ 63 h 87"/>
                <a:gd name="T18" fmla="*/ 63 w 87"/>
                <a:gd name="T19" fmla="*/ 5 h 87"/>
                <a:gd name="T20" fmla="*/ 63 w 87"/>
                <a:gd name="T21" fmla="*/ 5 h 87"/>
                <a:gd name="T22" fmla="*/ 68 w 87"/>
                <a:gd name="T23" fmla="*/ 2 h 87"/>
                <a:gd name="T24" fmla="*/ 72 w 87"/>
                <a:gd name="T25" fmla="*/ 0 h 87"/>
                <a:gd name="T26" fmla="*/ 77 w 87"/>
                <a:gd name="T27" fmla="*/ 2 h 87"/>
                <a:gd name="T28" fmla="*/ 82 w 87"/>
                <a:gd name="T29" fmla="*/ 5 h 87"/>
                <a:gd name="T30" fmla="*/ 82 w 87"/>
                <a:gd name="T31" fmla="*/ 5 h 87"/>
                <a:gd name="T32" fmla="*/ 85 w 87"/>
                <a:gd name="T33" fmla="*/ 10 h 87"/>
                <a:gd name="T34" fmla="*/ 87 w 87"/>
                <a:gd name="T35" fmla="*/ 14 h 87"/>
                <a:gd name="T36" fmla="*/ 85 w 87"/>
                <a:gd name="T37" fmla="*/ 21 h 87"/>
                <a:gd name="T38" fmla="*/ 82 w 87"/>
                <a:gd name="T39" fmla="*/ 24 h 87"/>
                <a:gd name="T40" fmla="*/ 23 w 87"/>
                <a:gd name="T41" fmla="*/ 82 h 87"/>
                <a:gd name="T42" fmla="*/ 23 w 87"/>
                <a:gd name="T43" fmla="*/ 82 h 87"/>
                <a:gd name="T44" fmla="*/ 19 w 87"/>
                <a:gd name="T45" fmla="*/ 86 h 87"/>
                <a:gd name="T46" fmla="*/ 14 w 87"/>
                <a:gd name="T47" fmla="*/ 87 h 87"/>
                <a:gd name="T48" fmla="*/ 14 w 87"/>
                <a:gd name="T4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 h="87">
                  <a:moveTo>
                    <a:pt x="14" y="87"/>
                  </a:moveTo>
                  <a:lnTo>
                    <a:pt x="14" y="87"/>
                  </a:lnTo>
                  <a:lnTo>
                    <a:pt x="9" y="86"/>
                  </a:lnTo>
                  <a:lnTo>
                    <a:pt x="4" y="82"/>
                  </a:lnTo>
                  <a:lnTo>
                    <a:pt x="4" y="82"/>
                  </a:lnTo>
                  <a:lnTo>
                    <a:pt x="1" y="79"/>
                  </a:lnTo>
                  <a:lnTo>
                    <a:pt x="0" y="73"/>
                  </a:lnTo>
                  <a:lnTo>
                    <a:pt x="1" y="68"/>
                  </a:lnTo>
                  <a:lnTo>
                    <a:pt x="4" y="63"/>
                  </a:lnTo>
                  <a:lnTo>
                    <a:pt x="63" y="5"/>
                  </a:lnTo>
                  <a:lnTo>
                    <a:pt x="63" y="5"/>
                  </a:lnTo>
                  <a:lnTo>
                    <a:pt x="68" y="2"/>
                  </a:lnTo>
                  <a:lnTo>
                    <a:pt x="72" y="0"/>
                  </a:lnTo>
                  <a:lnTo>
                    <a:pt x="77" y="2"/>
                  </a:lnTo>
                  <a:lnTo>
                    <a:pt x="82" y="5"/>
                  </a:lnTo>
                  <a:lnTo>
                    <a:pt x="82" y="5"/>
                  </a:lnTo>
                  <a:lnTo>
                    <a:pt x="85" y="10"/>
                  </a:lnTo>
                  <a:lnTo>
                    <a:pt x="87" y="14"/>
                  </a:lnTo>
                  <a:lnTo>
                    <a:pt x="85" y="21"/>
                  </a:lnTo>
                  <a:lnTo>
                    <a:pt x="82" y="24"/>
                  </a:lnTo>
                  <a:lnTo>
                    <a:pt x="23" y="82"/>
                  </a:lnTo>
                  <a:lnTo>
                    <a:pt x="23" y="82"/>
                  </a:lnTo>
                  <a:lnTo>
                    <a:pt x="19" y="86"/>
                  </a:lnTo>
                  <a:lnTo>
                    <a:pt x="14" y="87"/>
                  </a:lnTo>
                  <a:lnTo>
                    <a:pt x="14"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37"/>
            <p:cNvSpPr>
              <a:spLocks/>
            </p:cNvSpPr>
            <p:nvPr/>
          </p:nvSpPr>
          <p:spPr bwMode="auto">
            <a:xfrm>
              <a:off x="5694363" y="3165475"/>
              <a:ext cx="90488" cy="90488"/>
            </a:xfrm>
            <a:custGeom>
              <a:avLst/>
              <a:gdLst>
                <a:gd name="T0" fmla="*/ 14 w 57"/>
                <a:gd name="T1" fmla="*/ 57 h 57"/>
                <a:gd name="T2" fmla="*/ 14 w 57"/>
                <a:gd name="T3" fmla="*/ 57 h 57"/>
                <a:gd name="T4" fmla="*/ 9 w 57"/>
                <a:gd name="T5" fmla="*/ 55 h 57"/>
                <a:gd name="T6" fmla="*/ 4 w 57"/>
                <a:gd name="T7" fmla="*/ 52 h 57"/>
                <a:gd name="T8" fmla="*/ 4 w 57"/>
                <a:gd name="T9" fmla="*/ 52 h 57"/>
                <a:gd name="T10" fmla="*/ 1 w 57"/>
                <a:gd name="T11" fmla="*/ 49 h 57"/>
                <a:gd name="T12" fmla="*/ 0 w 57"/>
                <a:gd name="T13" fmla="*/ 42 h 57"/>
                <a:gd name="T14" fmla="*/ 1 w 57"/>
                <a:gd name="T15" fmla="*/ 38 h 57"/>
                <a:gd name="T16" fmla="*/ 4 w 57"/>
                <a:gd name="T17" fmla="*/ 33 h 57"/>
                <a:gd name="T18" fmla="*/ 33 w 57"/>
                <a:gd name="T19" fmla="*/ 3 h 57"/>
                <a:gd name="T20" fmla="*/ 33 w 57"/>
                <a:gd name="T21" fmla="*/ 3 h 57"/>
                <a:gd name="T22" fmla="*/ 38 w 57"/>
                <a:gd name="T23" fmla="*/ 1 h 57"/>
                <a:gd name="T24" fmla="*/ 42 w 57"/>
                <a:gd name="T25" fmla="*/ 0 h 57"/>
                <a:gd name="T26" fmla="*/ 49 w 57"/>
                <a:gd name="T27" fmla="*/ 1 h 57"/>
                <a:gd name="T28" fmla="*/ 53 w 57"/>
                <a:gd name="T29" fmla="*/ 3 h 57"/>
                <a:gd name="T30" fmla="*/ 53 w 57"/>
                <a:gd name="T31" fmla="*/ 3 h 57"/>
                <a:gd name="T32" fmla="*/ 57 w 57"/>
                <a:gd name="T33" fmla="*/ 7 h 57"/>
                <a:gd name="T34" fmla="*/ 57 w 57"/>
                <a:gd name="T35" fmla="*/ 14 h 57"/>
                <a:gd name="T36" fmla="*/ 57 w 57"/>
                <a:gd name="T37" fmla="*/ 19 h 57"/>
                <a:gd name="T38" fmla="*/ 53 w 57"/>
                <a:gd name="T39" fmla="*/ 23 h 57"/>
                <a:gd name="T40" fmla="*/ 23 w 57"/>
                <a:gd name="T41" fmla="*/ 52 h 57"/>
                <a:gd name="T42" fmla="*/ 23 w 57"/>
                <a:gd name="T43" fmla="*/ 52 h 57"/>
                <a:gd name="T44" fmla="*/ 19 w 57"/>
                <a:gd name="T45" fmla="*/ 55 h 57"/>
                <a:gd name="T46" fmla="*/ 14 w 57"/>
                <a:gd name="T47" fmla="*/ 57 h 57"/>
                <a:gd name="T48" fmla="*/ 14 w 57"/>
                <a:gd name="T49"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 h="57">
                  <a:moveTo>
                    <a:pt x="14" y="57"/>
                  </a:moveTo>
                  <a:lnTo>
                    <a:pt x="14" y="57"/>
                  </a:lnTo>
                  <a:lnTo>
                    <a:pt x="9" y="55"/>
                  </a:lnTo>
                  <a:lnTo>
                    <a:pt x="4" y="52"/>
                  </a:lnTo>
                  <a:lnTo>
                    <a:pt x="4" y="52"/>
                  </a:lnTo>
                  <a:lnTo>
                    <a:pt x="1" y="49"/>
                  </a:lnTo>
                  <a:lnTo>
                    <a:pt x="0" y="42"/>
                  </a:lnTo>
                  <a:lnTo>
                    <a:pt x="1" y="38"/>
                  </a:lnTo>
                  <a:lnTo>
                    <a:pt x="4" y="33"/>
                  </a:lnTo>
                  <a:lnTo>
                    <a:pt x="33" y="3"/>
                  </a:lnTo>
                  <a:lnTo>
                    <a:pt x="33" y="3"/>
                  </a:lnTo>
                  <a:lnTo>
                    <a:pt x="38" y="1"/>
                  </a:lnTo>
                  <a:lnTo>
                    <a:pt x="42" y="0"/>
                  </a:lnTo>
                  <a:lnTo>
                    <a:pt x="49" y="1"/>
                  </a:lnTo>
                  <a:lnTo>
                    <a:pt x="53" y="3"/>
                  </a:lnTo>
                  <a:lnTo>
                    <a:pt x="53" y="3"/>
                  </a:lnTo>
                  <a:lnTo>
                    <a:pt x="57" y="7"/>
                  </a:lnTo>
                  <a:lnTo>
                    <a:pt x="57" y="14"/>
                  </a:lnTo>
                  <a:lnTo>
                    <a:pt x="57" y="19"/>
                  </a:lnTo>
                  <a:lnTo>
                    <a:pt x="53" y="23"/>
                  </a:lnTo>
                  <a:lnTo>
                    <a:pt x="23" y="52"/>
                  </a:lnTo>
                  <a:lnTo>
                    <a:pt x="23" y="52"/>
                  </a:lnTo>
                  <a:lnTo>
                    <a:pt x="19" y="55"/>
                  </a:lnTo>
                  <a:lnTo>
                    <a:pt x="14" y="57"/>
                  </a:lnTo>
                  <a:lnTo>
                    <a:pt x="14"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8"/>
            <p:cNvSpPr>
              <a:spLocks/>
            </p:cNvSpPr>
            <p:nvPr/>
          </p:nvSpPr>
          <p:spPr bwMode="auto">
            <a:xfrm>
              <a:off x="5786438" y="3257550"/>
              <a:ext cx="90488" cy="90488"/>
            </a:xfrm>
            <a:custGeom>
              <a:avLst/>
              <a:gdLst>
                <a:gd name="T0" fmla="*/ 14 w 57"/>
                <a:gd name="T1" fmla="*/ 57 h 57"/>
                <a:gd name="T2" fmla="*/ 14 w 57"/>
                <a:gd name="T3" fmla="*/ 57 h 57"/>
                <a:gd name="T4" fmla="*/ 10 w 57"/>
                <a:gd name="T5" fmla="*/ 56 h 57"/>
                <a:gd name="T6" fmla="*/ 5 w 57"/>
                <a:gd name="T7" fmla="*/ 52 h 57"/>
                <a:gd name="T8" fmla="*/ 5 w 57"/>
                <a:gd name="T9" fmla="*/ 52 h 57"/>
                <a:gd name="T10" fmla="*/ 2 w 57"/>
                <a:gd name="T11" fmla="*/ 49 h 57"/>
                <a:gd name="T12" fmla="*/ 0 w 57"/>
                <a:gd name="T13" fmla="*/ 43 h 57"/>
                <a:gd name="T14" fmla="*/ 2 w 57"/>
                <a:gd name="T15" fmla="*/ 38 h 57"/>
                <a:gd name="T16" fmla="*/ 5 w 57"/>
                <a:gd name="T17" fmla="*/ 33 h 57"/>
                <a:gd name="T18" fmla="*/ 33 w 57"/>
                <a:gd name="T19" fmla="*/ 5 h 57"/>
                <a:gd name="T20" fmla="*/ 33 w 57"/>
                <a:gd name="T21" fmla="*/ 5 h 57"/>
                <a:gd name="T22" fmla="*/ 38 w 57"/>
                <a:gd name="T23" fmla="*/ 2 h 57"/>
                <a:gd name="T24" fmla="*/ 45 w 57"/>
                <a:gd name="T25" fmla="*/ 0 h 57"/>
                <a:gd name="T26" fmla="*/ 49 w 57"/>
                <a:gd name="T27" fmla="*/ 2 h 57"/>
                <a:gd name="T28" fmla="*/ 54 w 57"/>
                <a:gd name="T29" fmla="*/ 5 h 57"/>
                <a:gd name="T30" fmla="*/ 54 w 57"/>
                <a:gd name="T31" fmla="*/ 5 h 57"/>
                <a:gd name="T32" fmla="*/ 57 w 57"/>
                <a:gd name="T33" fmla="*/ 8 h 57"/>
                <a:gd name="T34" fmla="*/ 57 w 57"/>
                <a:gd name="T35" fmla="*/ 14 h 57"/>
                <a:gd name="T36" fmla="*/ 57 w 57"/>
                <a:gd name="T37" fmla="*/ 19 h 57"/>
                <a:gd name="T38" fmla="*/ 54 w 57"/>
                <a:gd name="T39" fmla="*/ 24 h 57"/>
                <a:gd name="T40" fmla="*/ 24 w 57"/>
                <a:gd name="T41" fmla="*/ 52 h 57"/>
                <a:gd name="T42" fmla="*/ 24 w 57"/>
                <a:gd name="T43" fmla="*/ 52 h 57"/>
                <a:gd name="T44" fmla="*/ 19 w 57"/>
                <a:gd name="T45" fmla="*/ 56 h 57"/>
                <a:gd name="T46" fmla="*/ 14 w 57"/>
                <a:gd name="T47" fmla="*/ 57 h 57"/>
                <a:gd name="T48" fmla="*/ 14 w 57"/>
                <a:gd name="T49"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 h="57">
                  <a:moveTo>
                    <a:pt x="14" y="57"/>
                  </a:moveTo>
                  <a:lnTo>
                    <a:pt x="14" y="57"/>
                  </a:lnTo>
                  <a:lnTo>
                    <a:pt x="10" y="56"/>
                  </a:lnTo>
                  <a:lnTo>
                    <a:pt x="5" y="52"/>
                  </a:lnTo>
                  <a:lnTo>
                    <a:pt x="5" y="52"/>
                  </a:lnTo>
                  <a:lnTo>
                    <a:pt x="2" y="49"/>
                  </a:lnTo>
                  <a:lnTo>
                    <a:pt x="0" y="43"/>
                  </a:lnTo>
                  <a:lnTo>
                    <a:pt x="2" y="38"/>
                  </a:lnTo>
                  <a:lnTo>
                    <a:pt x="5" y="33"/>
                  </a:lnTo>
                  <a:lnTo>
                    <a:pt x="33" y="5"/>
                  </a:lnTo>
                  <a:lnTo>
                    <a:pt x="33" y="5"/>
                  </a:lnTo>
                  <a:lnTo>
                    <a:pt x="38" y="2"/>
                  </a:lnTo>
                  <a:lnTo>
                    <a:pt x="45" y="0"/>
                  </a:lnTo>
                  <a:lnTo>
                    <a:pt x="49" y="2"/>
                  </a:lnTo>
                  <a:lnTo>
                    <a:pt x="54" y="5"/>
                  </a:lnTo>
                  <a:lnTo>
                    <a:pt x="54" y="5"/>
                  </a:lnTo>
                  <a:lnTo>
                    <a:pt x="57" y="8"/>
                  </a:lnTo>
                  <a:lnTo>
                    <a:pt x="57" y="14"/>
                  </a:lnTo>
                  <a:lnTo>
                    <a:pt x="57" y="19"/>
                  </a:lnTo>
                  <a:lnTo>
                    <a:pt x="54" y="24"/>
                  </a:lnTo>
                  <a:lnTo>
                    <a:pt x="24" y="52"/>
                  </a:lnTo>
                  <a:lnTo>
                    <a:pt x="24" y="52"/>
                  </a:lnTo>
                  <a:lnTo>
                    <a:pt x="19" y="56"/>
                  </a:lnTo>
                  <a:lnTo>
                    <a:pt x="14" y="57"/>
                  </a:lnTo>
                  <a:lnTo>
                    <a:pt x="14"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sp>
        <p:nvSpPr>
          <p:cNvPr id="146" name="Rounded Rectangle 145"/>
          <p:cNvSpPr/>
          <p:nvPr/>
        </p:nvSpPr>
        <p:spPr>
          <a:xfrm>
            <a:off x="5987582" y="1139341"/>
            <a:ext cx="5984816" cy="509717"/>
          </a:xfrm>
          <a:prstGeom prst="roundRect">
            <a:avLst/>
          </a:prstGeom>
          <a:gradFill flip="none" rotWithShape="1">
            <a:gsLst>
              <a:gs pos="0">
                <a:schemeClr val="accent1">
                  <a:lumMod val="75000"/>
                  <a:shade val="30000"/>
                  <a:satMod val="115000"/>
                </a:schemeClr>
              </a:gs>
              <a:gs pos="55000">
                <a:schemeClr val="accent1">
                  <a:lumMod val="75000"/>
                  <a:shade val="67500"/>
                  <a:satMod val="115000"/>
                </a:schemeClr>
              </a:gs>
              <a:gs pos="100000">
                <a:schemeClr val="accent1">
                  <a:lumMod val="73000"/>
                  <a:lumOff val="27000"/>
                </a:schemeClr>
              </a:gs>
            </a:gsLst>
            <a:lin ang="0" scaled="1"/>
            <a:tileRect/>
          </a:gradFill>
          <a:ln>
            <a:noFill/>
          </a:ln>
          <a:effectLst>
            <a:outerShdw blurRad="50800" dist="38100" dir="2700000" algn="tl" rotWithShape="0">
              <a:prstClr val="black">
                <a:alpha val="40000"/>
              </a:prstClr>
            </a:outerShdw>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prstClr val="white"/>
                </a:solidFill>
                <a:latin typeface="Calibri" panose="020F0502020204030204"/>
              </a:rPr>
              <a:t>Strategic Overview</a:t>
            </a:r>
          </a:p>
          <a:p>
            <a:pPr algn="ctr"/>
            <a:r>
              <a:rPr lang="en-US" sz="1200" b="1" spc="300" dirty="0">
                <a:solidFill>
                  <a:prstClr val="white"/>
                </a:solidFill>
                <a:latin typeface="Century Schoolbook" panose="02040604050505020304" pitchFamily="18" charset="0"/>
              </a:rPr>
              <a:t>Overall Strategy and Product Strategy</a:t>
            </a:r>
          </a:p>
        </p:txBody>
      </p:sp>
      <p:pic>
        <p:nvPicPr>
          <p:cNvPr id="4" name="Picture 3"/>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1529384" y="1471908"/>
            <a:ext cx="4041998" cy="4298053"/>
          </a:xfrm>
          <a:prstGeom prst="rect">
            <a:avLst/>
          </a:prstGeom>
        </p:spPr>
      </p:pic>
      <p:pic>
        <p:nvPicPr>
          <p:cNvPr id="5" name="Picture 4"/>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6964478" y="1787189"/>
            <a:ext cx="5023539" cy="1005927"/>
          </a:xfrm>
          <a:prstGeom prst="rect">
            <a:avLst/>
          </a:prstGeom>
        </p:spPr>
      </p:pic>
      <p:sp>
        <p:nvSpPr>
          <p:cNvPr id="45" name="TextBox 44"/>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sp>
        <p:nvSpPr>
          <p:cNvPr id="6" name="Slide Number Placeholder 5"/>
          <p:cNvSpPr>
            <a:spLocks noGrp="1"/>
          </p:cNvSpPr>
          <p:nvPr>
            <p:ph type="sldNum" sz="quarter" idx="4"/>
          </p:nvPr>
        </p:nvSpPr>
        <p:spPr/>
        <p:txBody>
          <a:bodyPr/>
          <a:lstStyle/>
          <a:p>
            <a:fld id="{4B17068C-EB94-40A3-A5F2-664CDD77FDAC}" type="slidenum">
              <a:rPr lang="en-GB" smtClean="0"/>
              <a:pPr/>
              <a:t>264</a:t>
            </a:fld>
            <a:endParaRPr lang="en-GB" dirty="0"/>
          </a:p>
        </p:txBody>
      </p:sp>
    </p:spTree>
    <p:extLst>
      <p:ext uri="{BB962C8B-B14F-4D97-AF65-F5344CB8AC3E}">
        <p14:creationId xmlns:p14="http://schemas.microsoft.com/office/powerpoint/2010/main" val="368503373"/>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CompanyB</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265</a:t>
            </a:fld>
            <a:endParaRPr lang="en-GB" dirty="0"/>
          </a:p>
        </p:txBody>
      </p:sp>
    </p:spTree>
    <p:extLst>
      <p:ext uri="{BB962C8B-B14F-4D97-AF65-F5344CB8AC3E}">
        <p14:creationId xmlns:p14="http://schemas.microsoft.com/office/powerpoint/2010/main" val="4023748139"/>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CompanyC</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266</a:t>
            </a:fld>
            <a:endParaRPr lang="en-GB" dirty="0"/>
          </a:p>
        </p:txBody>
      </p:sp>
    </p:spTree>
    <p:extLst>
      <p:ext uri="{BB962C8B-B14F-4D97-AF65-F5344CB8AC3E}">
        <p14:creationId xmlns:p14="http://schemas.microsoft.com/office/powerpoint/2010/main" val="87881692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CompanyD</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267</a:t>
            </a:fld>
            <a:endParaRPr lang="en-GB" dirty="0"/>
          </a:p>
        </p:txBody>
      </p:sp>
    </p:spTree>
    <p:extLst>
      <p:ext uri="{BB962C8B-B14F-4D97-AF65-F5344CB8AC3E}">
        <p14:creationId xmlns:p14="http://schemas.microsoft.com/office/powerpoint/2010/main" val="2670606902"/>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CompanyE</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268</a:t>
            </a:fld>
            <a:endParaRPr lang="en-GB" dirty="0"/>
          </a:p>
        </p:txBody>
      </p:sp>
    </p:spTree>
    <p:extLst>
      <p:ext uri="{BB962C8B-B14F-4D97-AF65-F5344CB8AC3E}">
        <p14:creationId xmlns:p14="http://schemas.microsoft.com/office/powerpoint/2010/main" val="2687299870"/>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CompanyF</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269</a:t>
            </a:fld>
            <a:endParaRPr lang="en-GB" dirty="0"/>
          </a:p>
        </p:txBody>
      </p:sp>
    </p:spTree>
    <p:extLst>
      <p:ext uri="{BB962C8B-B14F-4D97-AF65-F5344CB8AC3E}">
        <p14:creationId xmlns:p14="http://schemas.microsoft.com/office/powerpoint/2010/main" val="3677625074"/>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CompanyG</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270</a:t>
            </a:fld>
            <a:endParaRPr lang="en-GB" dirty="0"/>
          </a:p>
        </p:txBody>
      </p:sp>
    </p:spTree>
    <p:extLst>
      <p:ext uri="{BB962C8B-B14F-4D97-AF65-F5344CB8AC3E}">
        <p14:creationId xmlns:p14="http://schemas.microsoft.com/office/powerpoint/2010/main" val="28560799"/>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CompanyH</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271</a:t>
            </a:fld>
            <a:endParaRPr lang="en-GB" dirty="0"/>
          </a:p>
        </p:txBody>
      </p:sp>
    </p:spTree>
    <p:extLst>
      <p:ext uri="{BB962C8B-B14F-4D97-AF65-F5344CB8AC3E}">
        <p14:creationId xmlns:p14="http://schemas.microsoft.com/office/powerpoint/2010/main" val="2675609755"/>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CompanyI</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272</a:t>
            </a:fld>
            <a:endParaRPr lang="en-GB" dirty="0"/>
          </a:p>
        </p:txBody>
      </p:sp>
    </p:spTree>
    <p:extLst>
      <p:ext uri="{BB962C8B-B14F-4D97-AF65-F5344CB8AC3E}">
        <p14:creationId xmlns:p14="http://schemas.microsoft.com/office/powerpoint/2010/main" val="1730075097"/>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CompanyJ</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273</a:t>
            </a:fld>
            <a:endParaRPr lang="en-GB" dirty="0"/>
          </a:p>
        </p:txBody>
      </p:sp>
    </p:spTree>
    <p:extLst>
      <p:ext uri="{BB962C8B-B14F-4D97-AF65-F5344CB8AC3E}">
        <p14:creationId xmlns:p14="http://schemas.microsoft.com/office/powerpoint/2010/main" val="693163728"/>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CompanyK</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274</a:t>
            </a:fld>
            <a:endParaRPr lang="en-GB" dirty="0"/>
          </a:p>
        </p:txBody>
      </p:sp>
    </p:spTree>
    <p:extLst>
      <p:ext uri="{BB962C8B-B14F-4D97-AF65-F5344CB8AC3E}">
        <p14:creationId xmlns:p14="http://schemas.microsoft.com/office/powerpoint/2010/main" val="2210133598"/>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CompanyL</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275</a:t>
            </a:fld>
            <a:endParaRPr lang="en-GB" dirty="0"/>
          </a:p>
        </p:txBody>
      </p:sp>
    </p:spTree>
    <p:extLst>
      <p:ext uri="{BB962C8B-B14F-4D97-AF65-F5344CB8AC3E}">
        <p14:creationId xmlns:p14="http://schemas.microsoft.com/office/powerpoint/2010/main" val="156687814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CompanyM</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276</a:t>
            </a:fld>
            <a:endParaRPr lang="en-GB" dirty="0"/>
          </a:p>
        </p:txBody>
      </p:sp>
    </p:spTree>
    <p:extLst>
      <p:ext uri="{BB962C8B-B14F-4D97-AF65-F5344CB8AC3E}">
        <p14:creationId xmlns:p14="http://schemas.microsoft.com/office/powerpoint/2010/main" val="330149260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CompanyN</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277</a:t>
            </a:fld>
            <a:endParaRPr lang="en-GB" dirty="0"/>
          </a:p>
        </p:txBody>
      </p:sp>
    </p:spTree>
    <p:extLst>
      <p:ext uri="{BB962C8B-B14F-4D97-AF65-F5344CB8AC3E}">
        <p14:creationId xmlns:p14="http://schemas.microsoft.com/office/powerpoint/2010/main" val="2039255754"/>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CompanyO</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278</a:t>
            </a:fld>
            <a:endParaRPr lang="en-GB" dirty="0"/>
          </a:p>
        </p:txBody>
      </p:sp>
    </p:spTree>
    <p:extLst>
      <p:ext uri="{BB962C8B-B14F-4D97-AF65-F5344CB8AC3E}">
        <p14:creationId xmlns:p14="http://schemas.microsoft.com/office/powerpoint/2010/main" val="1812284616"/>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CompanyP</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279</a:t>
            </a:fld>
            <a:endParaRPr lang="en-GB" dirty="0"/>
          </a:p>
        </p:txBody>
      </p:sp>
    </p:spTree>
    <p:extLst>
      <p:ext uri="{BB962C8B-B14F-4D97-AF65-F5344CB8AC3E}">
        <p14:creationId xmlns:p14="http://schemas.microsoft.com/office/powerpoint/2010/main" val="2344450972"/>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CompanyQ</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280</a:t>
            </a:fld>
            <a:endParaRPr lang="en-GB" dirty="0"/>
          </a:p>
        </p:txBody>
      </p:sp>
    </p:spTree>
    <p:extLst>
      <p:ext uri="{BB962C8B-B14F-4D97-AF65-F5344CB8AC3E}">
        <p14:creationId xmlns:p14="http://schemas.microsoft.com/office/powerpoint/2010/main" val="506156877"/>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CompanyR</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281</a:t>
            </a:fld>
            <a:endParaRPr lang="en-GB" dirty="0"/>
          </a:p>
        </p:txBody>
      </p:sp>
    </p:spTree>
    <p:extLst>
      <p:ext uri="{BB962C8B-B14F-4D97-AF65-F5344CB8AC3E}">
        <p14:creationId xmlns:p14="http://schemas.microsoft.com/office/powerpoint/2010/main" val="1603914839"/>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CompanyS</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282</a:t>
            </a:fld>
            <a:endParaRPr lang="en-GB" dirty="0"/>
          </a:p>
        </p:txBody>
      </p:sp>
    </p:spTree>
    <p:extLst>
      <p:ext uri="{BB962C8B-B14F-4D97-AF65-F5344CB8AC3E}">
        <p14:creationId xmlns:p14="http://schemas.microsoft.com/office/powerpoint/2010/main" val="1681633440"/>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2" algn="l" defTabSz="914391" rtl="0">
              <a:lnSpc>
                <a:spcPct val="90000"/>
              </a:lnSpc>
              <a:spcBef>
                <a:spcPct val="0"/>
              </a:spcBef>
            </a:pPr>
            <a:r>
              <a:rPr lang="en-US" b="1" dirty="0" err="1"/>
              <a:t>CompanyT</a:t>
            </a:r>
            <a:r>
              <a:rPr lang="en-US" b="1" dirty="0"/>
              <a:t>: Company Overview (1/3)</a:t>
            </a:r>
            <a:endParaRPr lang="en-US" sz="2000" b="1" dirty="0">
              <a:latin typeface="+mn-lt"/>
            </a:endParaRPr>
          </a:p>
        </p:txBody>
      </p:sp>
      <p:grpSp>
        <p:nvGrpSpPr>
          <p:cNvPr id="78" name="Group 77"/>
          <p:cNvGrpSpPr/>
          <p:nvPr/>
        </p:nvGrpSpPr>
        <p:grpSpPr>
          <a:xfrm>
            <a:off x="5406750" y="1165303"/>
            <a:ext cx="6382800" cy="388163"/>
            <a:chOff x="125729" y="1143000"/>
            <a:chExt cx="9751499" cy="682613"/>
          </a:xfrm>
        </p:grpSpPr>
        <p:sp>
          <p:nvSpPr>
            <p:cNvPr id="84" name="Rectangle 83"/>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85" name="Group 84"/>
            <p:cNvGrpSpPr/>
            <p:nvPr/>
          </p:nvGrpSpPr>
          <p:grpSpPr>
            <a:xfrm>
              <a:off x="125729" y="1175980"/>
              <a:ext cx="9751499" cy="649633"/>
              <a:chOff x="564272" y="1142093"/>
              <a:chExt cx="9751499" cy="1227620"/>
            </a:xfrm>
          </p:grpSpPr>
          <p:sp>
            <p:nvSpPr>
              <p:cNvPr id="87" name="Isosceles Triangle 86"/>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5" name="Isosceles Triangle 94"/>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7" name="Isosceles Triangle 96"/>
              <p:cNvSpPr/>
              <p:nvPr/>
            </p:nvSpPr>
            <p:spPr>
              <a:xfrm>
                <a:off x="1282521" y="1143000"/>
                <a:ext cx="1587500" cy="1226713"/>
              </a:xfrm>
              <a:prstGeom prst="triangle">
                <a:avLst/>
              </a:prstGeom>
              <a:solidFill>
                <a:srgbClr val="1F476B"/>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98" name="Rectangle 97"/>
              <p:cNvSpPr/>
              <p:nvPr/>
            </p:nvSpPr>
            <p:spPr>
              <a:xfrm>
                <a:off x="2464892" y="2146490"/>
                <a:ext cx="7850879" cy="223223"/>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86" name="Rectangle 85"/>
            <p:cNvSpPr/>
            <p:nvPr/>
          </p:nvSpPr>
          <p:spPr>
            <a:xfrm>
              <a:off x="4014640" y="1200431"/>
              <a:ext cx="2831761"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Company Overview</a:t>
              </a:r>
            </a:p>
          </p:txBody>
        </p:sp>
      </p:grpSp>
      <p:grpSp>
        <p:nvGrpSpPr>
          <p:cNvPr id="99" name="Group 98"/>
          <p:cNvGrpSpPr/>
          <p:nvPr/>
        </p:nvGrpSpPr>
        <p:grpSpPr>
          <a:xfrm>
            <a:off x="5406750" y="3486252"/>
            <a:ext cx="6382800" cy="388163"/>
            <a:chOff x="125729" y="1143000"/>
            <a:chExt cx="9751499" cy="682613"/>
          </a:xfrm>
        </p:grpSpPr>
        <p:sp>
          <p:nvSpPr>
            <p:cNvPr id="100" name="Rectangle 99"/>
            <p:cNvSpPr/>
            <p:nvPr/>
          </p:nvSpPr>
          <p:spPr>
            <a:xfrm>
              <a:off x="125729" y="1143000"/>
              <a:ext cx="9751499" cy="682613"/>
            </a:xfrm>
            <a:prstGeom prst="rect">
              <a:avLst/>
            </a:prstGeom>
            <a:solidFill>
              <a:srgbClr val="E4E8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nvGrpSpPr>
            <p:cNvPr id="104" name="Group 103"/>
            <p:cNvGrpSpPr/>
            <p:nvPr/>
          </p:nvGrpSpPr>
          <p:grpSpPr>
            <a:xfrm>
              <a:off x="125729" y="1175980"/>
              <a:ext cx="9751499" cy="649633"/>
              <a:chOff x="564272" y="1142093"/>
              <a:chExt cx="9751499" cy="1227620"/>
            </a:xfrm>
          </p:grpSpPr>
          <p:sp>
            <p:nvSpPr>
              <p:cNvPr id="109" name="Isosceles Triangle 108"/>
              <p:cNvSpPr/>
              <p:nvPr/>
            </p:nvSpPr>
            <p:spPr>
              <a:xfrm>
                <a:off x="564272" y="1821855"/>
                <a:ext cx="787400" cy="547858"/>
              </a:xfrm>
              <a:prstGeom prst="triangle">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0" name="Isosceles Triangle 109"/>
              <p:cNvSpPr/>
              <p:nvPr/>
            </p:nvSpPr>
            <p:spPr>
              <a:xfrm flipV="1">
                <a:off x="576493" y="1142093"/>
                <a:ext cx="1506127" cy="1227620"/>
              </a:xfrm>
              <a:prstGeom prst="triangle">
                <a:avLst/>
              </a:prstGeom>
              <a:solidFill>
                <a:srgbClr val="2A5F8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4" name="Isosceles Triangle 113"/>
              <p:cNvSpPr/>
              <p:nvPr/>
            </p:nvSpPr>
            <p:spPr>
              <a:xfrm>
                <a:off x="1282521" y="1143000"/>
                <a:ext cx="1587500" cy="1226713"/>
              </a:xfrm>
              <a:prstGeom prst="triangle">
                <a:avLst/>
              </a:prstGeom>
              <a:solidFill>
                <a:schemeClr val="accent1">
                  <a:lumMod val="75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15" name="Rectangle 114"/>
              <p:cNvSpPr/>
              <p:nvPr/>
            </p:nvSpPr>
            <p:spPr>
              <a:xfrm>
                <a:off x="2464891" y="2146491"/>
                <a:ext cx="7850880" cy="223222"/>
              </a:xfrm>
              <a:prstGeom prst="rect">
                <a:avLst/>
              </a:prstGeom>
              <a:solidFill>
                <a:srgbClr val="1F47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107" name="Rectangle 106"/>
            <p:cNvSpPr/>
            <p:nvPr/>
          </p:nvSpPr>
          <p:spPr>
            <a:xfrm>
              <a:off x="4014640" y="1219575"/>
              <a:ext cx="2715322" cy="432998"/>
            </a:xfrm>
            <a:prstGeom prst="rect">
              <a:avLst/>
            </a:prstGeom>
            <a:noFill/>
          </p:spPr>
          <p:txBody>
            <a:bodyPr wrap="none" lIns="0" tIns="0" rIns="0" bIns="0">
              <a:spAutoFit/>
            </a:bodyPr>
            <a:lstStyle/>
            <a:p>
              <a:pPr>
                <a:spcBef>
                  <a:spcPts val="300"/>
                </a:spcBef>
                <a:spcAft>
                  <a:spcPts val="300"/>
                </a:spcAft>
              </a:pPr>
              <a:r>
                <a:rPr lang="en-US" sz="1600" b="1" dirty="0">
                  <a:solidFill>
                    <a:prstClr val="black"/>
                  </a:solidFill>
                  <a:latin typeface="Calibri" panose="020F0502020204030204"/>
                </a:rPr>
                <a:t>Business Overview</a:t>
              </a:r>
            </a:p>
          </p:txBody>
        </p:sp>
      </p:grpSp>
      <p:grpSp>
        <p:nvGrpSpPr>
          <p:cNvPr id="5" name="Group 4"/>
          <p:cNvGrpSpPr/>
          <p:nvPr/>
        </p:nvGrpSpPr>
        <p:grpSpPr>
          <a:xfrm>
            <a:off x="152400" y="1362989"/>
            <a:ext cx="4920611" cy="4533901"/>
            <a:chOff x="1186215" y="1362989"/>
            <a:chExt cx="3983038" cy="4533901"/>
          </a:xfrm>
        </p:grpSpPr>
        <p:sp>
          <p:nvSpPr>
            <p:cNvPr id="70" name="Freeform 5"/>
            <p:cNvSpPr>
              <a:spLocks/>
            </p:cNvSpPr>
            <p:nvPr/>
          </p:nvSpPr>
          <p:spPr bwMode="auto">
            <a:xfrm>
              <a:off x="1186215" y="1362989"/>
              <a:ext cx="725488" cy="725488"/>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0 h 2740"/>
                <a:gd name="T10" fmla="*/ 127 w 2739"/>
                <a:gd name="T11" fmla="*/ 2711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1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5 h 2740"/>
                <a:gd name="T34" fmla="*/ 0 w 2739"/>
                <a:gd name="T35" fmla="*/ 232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0 h 2740"/>
                <a:gd name="T50" fmla="*/ 80 w 2739"/>
                <a:gd name="T51" fmla="*/ 63 h 2740"/>
                <a:gd name="T52" fmla="*/ 99 w 2739"/>
                <a:gd name="T53" fmla="*/ 48 h 2740"/>
                <a:gd name="T54" fmla="*/ 118 w 2739"/>
                <a:gd name="T55" fmla="*/ 35 h 2740"/>
                <a:gd name="T56" fmla="*/ 138 w 2739"/>
                <a:gd name="T57" fmla="*/ 25 h 2740"/>
                <a:gd name="T58" fmla="*/ 161 w 2739"/>
                <a:gd name="T59" fmla="*/ 15 h 2740"/>
                <a:gd name="T60" fmla="*/ 183 w 2739"/>
                <a:gd name="T61" fmla="*/ 7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6"/>
                  </a:lnTo>
                  <a:lnTo>
                    <a:pt x="195" y="2734"/>
                  </a:lnTo>
                  <a:lnTo>
                    <a:pt x="183" y="2732"/>
                  </a:lnTo>
                  <a:lnTo>
                    <a:pt x="171" y="2729"/>
                  </a:lnTo>
                  <a:lnTo>
                    <a:pt x="161" y="2725"/>
                  </a:lnTo>
                  <a:lnTo>
                    <a:pt x="149" y="2720"/>
                  </a:lnTo>
                  <a:lnTo>
                    <a:pt x="138" y="2716"/>
                  </a:lnTo>
                  <a:lnTo>
                    <a:pt x="127" y="2711"/>
                  </a:lnTo>
                  <a:lnTo>
                    <a:pt x="118" y="2704"/>
                  </a:lnTo>
                  <a:lnTo>
                    <a:pt x="108" y="2698"/>
                  </a:lnTo>
                  <a:lnTo>
                    <a:pt x="99" y="2691"/>
                  </a:lnTo>
                  <a:lnTo>
                    <a:pt x="89" y="2684"/>
                  </a:lnTo>
                  <a:lnTo>
                    <a:pt x="80" y="2676"/>
                  </a:lnTo>
                  <a:lnTo>
                    <a:pt x="72" y="2668"/>
                  </a:lnTo>
                  <a:lnTo>
                    <a:pt x="63" y="2659"/>
                  </a:lnTo>
                  <a:lnTo>
                    <a:pt x="56" y="2651"/>
                  </a:lnTo>
                  <a:lnTo>
                    <a:pt x="48" y="2641"/>
                  </a:lnTo>
                  <a:lnTo>
                    <a:pt x="42" y="2631"/>
                  </a:lnTo>
                  <a:lnTo>
                    <a:pt x="35" y="2622"/>
                  </a:lnTo>
                  <a:lnTo>
                    <a:pt x="30" y="2612"/>
                  </a:lnTo>
                  <a:lnTo>
                    <a:pt x="25" y="2601"/>
                  </a:lnTo>
                  <a:lnTo>
                    <a:pt x="19" y="2591"/>
                  </a:lnTo>
                  <a:lnTo>
                    <a:pt x="15" y="2579"/>
                  </a:lnTo>
                  <a:lnTo>
                    <a:pt x="11" y="2568"/>
                  </a:lnTo>
                  <a:lnTo>
                    <a:pt x="7" y="2556"/>
                  </a:lnTo>
                  <a:lnTo>
                    <a:pt x="5" y="2545"/>
                  </a:lnTo>
                  <a:lnTo>
                    <a:pt x="3" y="2533"/>
                  </a:lnTo>
                  <a:lnTo>
                    <a:pt x="1" y="2520"/>
                  </a:lnTo>
                  <a:lnTo>
                    <a:pt x="0" y="2508"/>
                  </a:lnTo>
                  <a:lnTo>
                    <a:pt x="0" y="2495"/>
                  </a:lnTo>
                  <a:lnTo>
                    <a:pt x="0" y="244"/>
                  </a:lnTo>
                  <a:lnTo>
                    <a:pt x="0" y="232"/>
                  </a:lnTo>
                  <a:lnTo>
                    <a:pt x="1" y="220"/>
                  </a:lnTo>
                  <a:lnTo>
                    <a:pt x="3" y="208"/>
                  </a:lnTo>
                  <a:lnTo>
                    <a:pt x="5" y="195"/>
                  </a:lnTo>
                  <a:lnTo>
                    <a:pt x="7" y="183"/>
                  </a:lnTo>
                  <a:lnTo>
                    <a:pt x="11" y="171"/>
                  </a:lnTo>
                  <a:lnTo>
                    <a:pt x="15" y="161"/>
                  </a:lnTo>
                  <a:lnTo>
                    <a:pt x="19" y="149"/>
                  </a:lnTo>
                  <a:lnTo>
                    <a:pt x="25" y="138"/>
                  </a:lnTo>
                  <a:lnTo>
                    <a:pt x="30" y="127"/>
                  </a:lnTo>
                  <a:lnTo>
                    <a:pt x="35" y="118"/>
                  </a:lnTo>
                  <a:lnTo>
                    <a:pt x="42" y="108"/>
                  </a:lnTo>
                  <a:lnTo>
                    <a:pt x="48" y="99"/>
                  </a:lnTo>
                  <a:lnTo>
                    <a:pt x="56" y="89"/>
                  </a:lnTo>
                  <a:lnTo>
                    <a:pt x="63" y="80"/>
                  </a:lnTo>
                  <a:lnTo>
                    <a:pt x="72" y="72"/>
                  </a:lnTo>
                  <a:lnTo>
                    <a:pt x="80" y="63"/>
                  </a:lnTo>
                  <a:lnTo>
                    <a:pt x="89" y="56"/>
                  </a:lnTo>
                  <a:lnTo>
                    <a:pt x="99" y="48"/>
                  </a:lnTo>
                  <a:lnTo>
                    <a:pt x="108" y="42"/>
                  </a:lnTo>
                  <a:lnTo>
                    <a:pt x="118" y="35"/>
                  </a:lnTo>
                  <a:lnTo>
                    <a:pt x="127" y="30"/>
                  </a:lnTo>
                  <a:lnTo>
                    <a:pt x="138" y="25"/>
                  </a:lnTo>
                  <a:lnTo>
                    <a:pt x="149" y="19"/>
                  </a:lnTo>
                  <a:lnTo>
                    <a:pt x="161" y="15"/>
                  </a:lnTo>
                  <a:lnTo>
                    <a:pt x="171" y="11"/>
                  </a:lnTo>
                  <a:lnTo>
                    <a:pt x="183" y="7"/>
                  </a:lnTo>
                  <a:lnTo>
                    <a:pt x="195" y="5"/>
                  </a:lnTo>
                  <a:lnTo>
                    <a:pt x="208" y="3"/>
                  </a:lnTo>
                  <a:lnTo>
                    <a:pt x="220" y="1"/>
                  </a:lnTo>
                  <a:lnTo>
                    <a:pt x="232" y="0"/>
                  </a:lnTo>
                  <a:lnTo>
                    <a:pt x="244" y="0"/>
                  </a:lnTo>
                  <a:lnTo>
                    <a:pt x="2739" y="0"/>
                  </a:lnTo>
                  <a:lnTo>
                    <a:pt x="2739" y="274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1" name="Freeform 6"/>
            <p:cNvSpPr>
              <a:spLocks/>
            </p:cNvSpPr>
            <p:nvPr/>
          </p:nvSpPr>
          <p:spPr bwMode="auto">
            <a:xfrm>
              <a:off x="1238605" y="1415379"/>
              <a:ext cx="620713" cy="620713"/>
            </a:xfrm>
            <a:custGeom>
              <a:avLst/>
              <a:gdLst>
                <a:gd name="T0" fmla="*/ 2342 w 2343"/>
                <a:gd name="T1" fmla="*/ 2124 h 2343"/>
                <a:gd name="T2" fmla="*/ 2336 w 2343"/>
                <a:gd name="T3" fmla="*/ 2160 h 2343"/>
                <a:gd name="T4" fmla="*/ 2324 w 2343"/>
                <a:gd name="T5" fmla="*/ 2195 h 2343"/>
                <a:gd name="T6" fmla="*/ 2308 w 2343"/>
                <a:gd name="T7" fmla="*/ 2227 h 2343"/>
                <a:gd name="T8" fmla="*/ 2287 w 2343"/>
                <a:gd name="T9" fmla="*/ 2255 h 2343"/>
                <a:gd name="T10" fmla="*/ 2264 w 2343"/>
                <a:gd name="T11" fmla="*/ 2280 h 2343"/>
                <a:gd name="T12" fmla="*/ 2236 w 2343"/>
                <a:gd name="T13" fmla="*/ 2302 h 2343"/>
                <a:gd name="T14" fmla="*/ 2205 w 2343"/>
                <a:gd name="T15" fmla="*/ 2320 h 2343"/>
                <a:gd name="T16" fmla="*/ 2172 w 2343"/>
                <a:gd name="T17" fmla="*/ 2333 h 2343"/>
                <a:gd name="T18" fmla="*/ 2136 w 2343"/>
                <a:gd name="T19" fmla="*/ 2341 h 2343"/>
                <a:gd name="T20" fmla="*/ 2099 w 2343"/>
                <a:gd name="T21" fmla="*/ 2343 h 2343"/>
                <a:gd name="T22" fmla="*/ 220 w 2343"/>
                <a:gd name="T23" fmla="*/ 2342 h 2343"/>
                <a:gd name="T24" fmla="*/ 183 w 2343"/>
                <a:gd name="T25" fmla="*/ 2336 h 2343"/>
                <a:gd name="T26" fmla="*/ 149 w 2343"/>
                <a:gd name="T27" fmla="*/ 2324 h 2343"/>
                <a:gd name="T28" fmla="*/ 118 w 2343"/>
                <a:gd name="T29" fmla="*/ 2308 h 2343"/>
                <a:gd name="T30" fmla="*/ 89 w 2343"/>
                <a:gd name="T31" fmla="*/ 2288 h 2343"/>
                <a:gd name="T32" fmla="*/ 63 w 2343"/>
                <a:gd name="T33" fmla="*/ 2264 h 2343"/>
                <a:gd name="T34" fmla="*/ 42 w 2343"/>
                <a:gd name="T35" fmla="*/ 2236 h 2343"/>
                <a:gd name="T36" fmla="*/ 24 w 2343"/>
                <a:gd name="T37" fmla="*/ 2205 h 2343"/>
                <a:gd name="T38" fmla="*/ 11 w 2343"/>
                <a:gd name="T39" fmla="*/ 2172 h 2343"/>
                <a:gd name="T40" fmla="*/ 2 w 2343"/>
                <a:gd name="T41" fmla="*/ 2137 h 2343"/>
                <a:gd name="T42" fmla="*/ 0 w 2343"/>
                <a:gd name="T43" fmla="*/ 2099 h 2343"/>
                <a:gd name="T44" fmla="*/ 1 w 2343"/>
                <a:gd name="T45" fmla="*/ 220 h 2343"/>
                <a:gd name="T46" fmla="*/ 8 w 2343"/>
                <a:gd name="T47" fmla="*/ 183 h 2343"/>
                <a:gd name="T48" fmla="*/ 19 w 2343"/>
                <a:gd name="T49" fmla="*/ 149 h 2343"/>
                <a:gd name="T50" fmla="*/ 35 w 2343"/>
                <a:gd name="T51" fmla="*/ 118 h 2343"/>
                <a:gd name="T52" fmla="*/ 56 w 2343"/>
                <a:gd name="T53" fmla="*/ 89 h 2343"/>
                <a:gd name="T54" fmla="*/ 79 w 2343"/>
                <a:gd name="T55" fmla="*/ 63 h 2343"/>
                <a:gd name="T56" fmla="*/ 107 w 2343"/>
                <a:gd name="T57" fmla="*/ 42 h 2343"/>
                <a:gd name="T58" fmla="*/ 138 w 2343"/>
                <a:gd name="T59" fmla="*/ 24 h 2343"/>
                <a:gd name="T60" fmla="*/ 171 w 2343"/>
                <a:gd name="T61" fmla="*/ 11 h 2343"/>
                <a:gd name="T62" fmla="*/ 207 w 2343"/>
                <a:gd name="T63" fmla="*/ 2 h 2343"/>
                <a:gd name="T64" fmla="*/ 244 w 2343"/>
                <a:gd name="T65" fmla="*/ 0 h 2343"/>
                <a:gd name="T66" fmla="*/ 2124 w 2343"/>
                <a:gd name="T67" fmla="*/ 1 h 2343"/>
                <a:gd name="T68" fmla="*/ 2160 w 2343"/>
                <a:gd name="T69" fmla="*/ 8 h 2343"/>
                <a:gd name="T70" fmla="*/ 2194 w 2343"/>
                <a:gd name="T71" fmla="*/ 19 h 2343"/>
                <a:gd name="T72" fmla="*/ 2225 w 2343"/>
                <a:gd name="T73" fmla="*/ 35 h 2343"/>
                <a:gd name="T74" fmla="*/ 2254 w 2343"/>
                <a:gd name="T75" fmla="*/ 56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7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4"/>
                  </a:lnTo>
                  <a:lnTo>
                    <a:pt x="2341" y="2137"/>
                  </a:lnTo>
                  <a:lnTo>
                    <a:pt x="2339" y="2149"/>
                  </a:lnTo>
                  <a:lnTo>
                    <a:pt x="2336" y="2160"/>
                  </a:lnTo>
                  <a:lnTo>
                    <a:pt x="2332" y="2172"/>
                  </a:lnTo>
                  <a:lnTo>
                    <a:pt x="2329" y="2184"/>
                  </a:lnTo>
                  <a:lnTo>
                    <a:pt x="2324" y="2195"/>
                  </a:lnTo>
                  <a:lnTo>
                    <a:pt x="2320" y="2205"/>
                  </a:lnTo>
                  <a:lnTo>
                    <a:pt x="2314" y="2216"/>
                  </a:lnTo>
                  <a:lnTo>
                    <a:pt x="2308" y="2227"/>
                  </a:lnTo>
                  <a:lnTo>
                    <a:pt x="2301" y="2236"/>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6"/>
                  </a:lnTo>
                  <a:lnTo>
                    <a:pt x="35" y="2227"/>
                  </a:lnTo>
                  <a:lnTo>
                    <a:pt x="29" y="2216"/>
                  </a:lnTo>
                  <a:lnTo>
                    <a:pt x="24" y="2205"/>
                  </a:lnTo>
                  <a:lnTo>
                    <a:pt x="19" y="2195"/>
                  </a:lnTo>
                  <a:lnTo>
                    <a:pt x="14" y="2184"/>
                  </a:lnTo>
                  <a:lnTo>
                    <a:pt x="11" y="2172"/>
                  </a:lnTo>
                  <a:lnTo>
                    <a:pt x="8" y="2160"/>
                  </a:lnTo>
                  <a:lnTo>
                    <a:pt x="4" y="2149"/>
                  </a:lnTo>
                  <a:lnTo>
                    <a:pt x="2" y="2137"/>
                  </a:lnTo>
                  <a:lnTo>
                    <a:pt x="1" y="2124"/>
                  </a:lnTo>
                  <a:lnTo>
                    <a:pt x="0" y="2112"/>
                  </a:lnTo>
                  <a:lnTo>
                    <a:pt x="0" y="2099"/>
                  </a:lnTo>
                  <a:lnTo>
                    <a:pt x="0" y="244"/>
                  </a:lnTo>
                  <a:lnTo>
                    <a:pt x="0" y="231"/>
                  </a:lnTo>
                  <a:lnTo>
                    <a:pt x="1" y="220"/>
                  </a:lnTo>
                  <a:lnTo>
                    <a:pt x="2" y="207"/>
                  </a:lnTo>
                  <a:lnTo>
                    <a:pt x="4" y="195"/>
                  </a:lnTo>
                  <a:lnTo>
                    <a:pt x="8" y="183"/>
                  </a:lnTo>
                  <a:lnTo>
                    <a:pt x="11" y="171"/>
                  </a:lnTo>
                  <a:lnTo>
                    <a:pt x="14" y="160"/>
                  </a:lnTo>
                  <a:lnTo>
                    <a:pt x="19" y="149"/>
                  </a:lnTo>
                  <a:lnTo>
                    <a:pt x="24" y="138"/>
                  </a:lnTo>
                  <a:lnTo>
                    <a:pt x="29" y="128"/>
                  </a:lnTo>
                  <a:lnTo>
                    <a:pt x="35" y="118"/>
                  </a:lnTo>
                  <a:lnTo>
                    <a:pt x="42" y="107"/>
                  </a:lnTo>
                  <a:lnTo>
                    <a:pt x="48" y="98"/>
                  </a:lnTo>
                  <a:lnTo>
                    <a:pt x="56" y="89"/>
                  </a:lnTo>
                  <a:lnTo>
                    <a:pt x="63" y="79"/>
                  </a:lnTo>
                  <a:lnTo>
                    <a:pt x="72" y="72"/>
                  </a:lnTo>
                  <a:lnTo>
                    <a:pt x="79" y="63"/>
                  </a:lnTo>
                  <a:lnTo>
                    <a:pt x="89" y="56"/>
                  </a:lnTo>
                  <a:lnTo>
                    <a:pt x="98" y="48"/>
                  </a:lnTo>
                  <a:lnTo>
                    <a:pt x="107" y="42"/>
                  </a:lnTo>
                  <a:lnTo>
                    <a:pt x="118" y="35"/>
                  </a:lnTo>
                  <a:lnTo>
                    <a:pt x="128" y="29"/>
                  </a:lnTo>
                  <a:lnTo>
                    <a:pt x="138" y="24"/>
                  </a:lnTo>
                  <a:lnTo>
                    <a:pt x="149" y="19"/>
                  </a:lnTo>
                  <a:lnTo>
                    <a:pt x="160" y="14"/>
                  </a:lnTo>
                  <a:lnTo>
                    <a:pt x="171" y="11"/>
                  </a:lnTo>
                  <a:lnTo>
                    <a:pt x="183" y="8"/>
                  </a:lnTo>
                  <a:lnTo>
                    <a:pt x="195" y="4"/>
                  </a:lnTo>
                  <a:lnTo>
                    <a:pt x="207" y="2"/>
                  </a:lnTo>
                  <a:lnTo>
                    <a:pt x="220" y="1"/>
                  </a:lnTo>
                  <a:lnTo>
                    <a:pt x="231" y="0"/>
                  </a:lnTo>
                  <a:lnTo>
                    <a:pt x="244" y="0"/>
                  </a:lnTo>
                  <a:lnTo>
                    <a:pt x="2099" y="0"/>
                  </a:lnTo>
                  <a:lnTo>
                    <a:pt x="2112" y="0"/>
                  </a:lnTo>
                  <a:lnTo>
                    <a:pt x="2124" y="1"/>
                  </a:lnTo>
                  <a:lnTo>
                    <a:pt x="2136" y="2"/>
                  </a:lnTo>
                  <a:lnTo>
                    <a:pt x="2148" y="4"/>
                  </a:lnTo>
                  <a:lnTo>
                    <a:pt x="2160" y="8"/>
                  </a:lnTo>
                  <a:lnTo>
                    <a:pt x="2172" y="11"/>
                  </a:lnTo>
                  <a:lnTo>
                    <a:pt x="2184" y="14"/>
                  </a:lnTo>
                  <a:lnTo>
                    <a:pt x="2194" y="19"/>
                  </a:lnTo>
                  <a:lnTo>
                    <a:pt x="2205" y="24"/>
                  </a:lnTo>
                  <a:lnTo>
                    <a:pt x="2216" y="29"/>
                  </a:lnTo>
                  <a:lnTo>
                    <a:pt x="2225" y="35"/>
                  </a:lnTo>
                  <a:lnTo>
                    <a:pt x="2236" y="42"/>
                  </a:lnTo>
                  <a:lnTo>
                    <a:pt x="2246" y="48"/>
                  </a:lnTo>
                  <a:lnTo>
                    <a:pt x="2254" y="56"/>
                  </a:lnTo>
                  <a:lnTo>
                    <a:pt x="2264" y="63"/>
                  </a:lnTo>
                  <a:lnTo>
                    <a:pt x="2272" y="72"/>
                  </a:lnTo>
                  <a:lnTo>
                    <a:pt x="2280" y="79"/>
                  </a:lnTo>
                  <a:lnTo>
                    <a:pt x="2287" y="89"/>
                  </a:lnTo>
                  <a:lnTo>
                    <a:pt x="2295" y="98"/>
                  </a:lnTo>
                  <a:lnTo>
                    <a:pt x="2301" y="107"/>
                  </a:lnTo>
                  <a:lnTo>
                    <a:pt x="2308" y="118"/>
                  </a:lnTo>
                  <a:lnTo>
                    <a:pt x="2314" y="128"/>
                  </a:lnTo>
                  <a:lnTo>
                    <a:pt x="2320" y="138"/>
                  </a:lnTo>
                  <a:lnTo>
                    <a:pt x="2324" y="149"/>
                  </a:lnTo>
                  <a:lnTo>
                    <a:pt x="2329" y="160"/>
                  </a:lnTo>
                  <a:lnTo>
                    <a:pt x="2332" y="171"/>
                  </a:lnTo>
                  <a:lnTo>
                    <a:pt x="2336" y="183"/>
                  </a:lnTo>
                  <a:lnTo>
                    <a:pt x="2339" y="195"/>
                  </a:lnTo>
                  <a:lnTo>
                    <a:pt x="2341" y="207"/>
                  </a:lnTo>
                  <a:lnTo>
                    <a:pt x="2342" y="220"/>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2" name="Freeform 7"/>
            <p:cNvSpPr>
              <a:spLocks/>
            </p:cNvSpPr>
            <p:nvPr/>
          </p:nvSpPr>
          <p:spPr bwMode="auto">
            <a:xfrm>
              <a:off x="2165703" y="1578889"/>
              <a:ext cx="3003550" cy="655638"/>
            </a:xfrm>
            <a:custGeom>
              <a:avLst/>
              <a:gdLst>
                <a:gd name="T0" fmla="*/ 10358 w 11351"/>
                <a:gd name="T1" fmla="*/ 2480 h 2480"/>
                <a:gd name="T2" fmla="*/ 0 w 11351"/>
                <a:gd name="T3" fmla="*/ 2480 h 2480"/>
                <a:gd name="T4" fmla="*/ 0 w 11351"/>
                <a:gd name="T5" fmla="*/ 0 h 2480"/>
                <a:gd name="T6" fmla="*/ 10358 w 11351"/>
                <a:gd name="T7" fmla="*/ 0 h 2480"/>
                <a:gd name="T8" fmla="*/ 11351 w 11351"/>
                <a:gd name="T9" fmla="*/ 1239 h 2480"/>
                <a:gd name="T10" fmla="*/ 10358 w 11351"/>
                <a:gd name="T11" fmla="*/ 2480 h 2480"/>
              </a:gdLst>
              <a:ahLst/>
              <a:cxnLst>
                <a:cxn ang="0">
                  <a:pos x="T0" y="T1"/>
                </a:cxn>
                <a:cxn ang="0">
                  <a:pos x="T2" y="T3"/>
                </a:cxn>
                <a:cxn ang="0">
                  <a:pos x="T4" y="T5"/>
                </a:cxn>
                <a:cxn ang="0">
                  <a:pos x="T6" y="T7"/>
                </a:cxn>
                <a:cxn ang="0">
                  <a:pos x="T8" y="T9"/>
                </a:cxn>
                <a:cxn ang="0">
                  <a:pos x="T10" y="T11"/>
                </a:cxn>
              </a:cxnLst>
              <a:rect l="0" t="0" r="r" b="b"/>
              <a:pathLst>
                <a:path w="11351" h="2480">
                  <a:moveTo>
                    <a:pt x="10358" y="2480"/>
                  </a:moveTo>
                  <a:lnTo>
                    <a:pt x="0" y="2480"/>
                  </a:lnTo>
                  <a:lnTo>
                    <a:pt x="0" y="0"/>
                  </a:lnTo>
                  <a:lnTo>
                    <a:pt x="10358" y="0"/>
                  </a:lnTo>
                  <a:lnTo>
                    <a:pt x="11351" y="1239"/>
                  </a:lnTo>
                  <a:lnTo>
                    <a:pt x="10358" y="2480"/>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3" name="Freeform 8"/>
            <p:cNvSpPr>
              <a:spLocks/>
            </p:cNvSpPr>
            <p:nvPr/>
          </p:nvSpPr>
          <p:spPr bwMode="auto">
            <a:xfrm>
              <a:off x="1186215" y="2315489"/>
              <a:ext cx="725488" cy="725488"/>
            </a:xfrm>
            <a:custGeom>
              <a:avLst/>
              <a:gdLst>
                <a:gd name="T0" fmla="*/ 244 w 2739"/>
                <a:gd name="T1" fmla="*/ 2740 h 2740"/>
                <a:gd name="T2" fmla="*/ 220 w 2739"/>
                <a:gd name="T3" fmla="*/ 2738 h 2740"/>
                <a:gd name="T4" fmla="*/ 195 w 2739"/>
                <a:gd name="T5" fmla="*/ 2735 h 2740"/>
                <a:gd name="T6" fmla="*/ 171 w 2739"/>
                <a:gd name="T7" fmla="*/ 2728 h 2740"/>
                <a:gd name="T8" fmla="*/ 149 w 2739"/>
                <a:gd name="T9" fmla="*/ 2721 h 2740"/>
                <a:gd name="T10" fmla="*/ 127 w 2739"/>
                <a:gd name="T11" fmla="*/ 2710 h 2740"/>
                <a:gd name="T12" fmla="*/ 108 w 2739"/>
                <a:gd name="T13" fmla="*/ 2698 h 2740"/>
                <a:gd name="T14" fmla="*/ 89 w 2739"/>
                <a:gd name="T15" fmla="*/ 2683 h 2740"/>
                <a:gd name="T16" fmla="*/ 72 w 2739"/>
                <a:gd name="T17" fmla="*/ 2668 h 2740"/>
                <a:gd name="T18" fmla="*/ 56 w 2739"/>
                <a:gd name="T19" fmla="*/ 2650 h 2740"/>
                <a:gd name="T20" fmla="*/ 42 w 2739"/>
                <a:gd name="T21" fmla="*/ 2632 h 2740"/>
                <a:gd name="T22" fmla="*/ 30 w 2739"/>
                <a:gd name="T23" fmla="*/ 2612 h 2740"/>
                <a:gd name="T24" fmla="*/ 19 w 2739"/>
                <a:gd name="T25" fmla="*/ 2590 h 2740"/>
                <a:gd name="T26" fmla="*/ 11 w 2739"/>
                <a:gd name="T27" fmla="*/ 2568 h 2740"/>
                <a:gd name="T28" fmla="*/ 5 w 2739"/>
                <a:gd name="T29" fmla="*/ 2544 h 2740"/>
                <a:gd name="T30" fmla="*/ 1 w 2739"/>
                <a:gd name="T31" fmla="*/ 2521 h 2740"/>
                <a:gd name="T32" fmla="*/ 0 w 2739"/>
                <a:gd name="T33" fmla="*/ 2495 h 2740"/>
                <a:gd name="T34" fmla="*/ 0 w 2739"/>
                <a:gd name="T35" fmla="*/ 232 h 2740"/>
                <a:gd name="T36" fmla="*/ 3 w 2739"/>
                <a:gd name="T37" fmla="*/ 207 h 2740"/>
                <a:gd name="T38" fmla="*/ 7 w 2739"/>
                <a:gd name="T39" fmla="*/ 184 h 2740"/>
                <a:gd name="T40" fmla="*/ 15 w 2739"/>
                <a:gd name="T41" fmla="*/ 160 h 2740"/>
                <a:gd name="T42" fmla="*/ 25 w 2739"/>
                <a:gd name="T43" fmla="*/ 139 h 2740"/>
                <a:gd name="T44" fmla="*/ 35 w 2739"/>
                <a:gd name="T45" fmla="*/ 117 h 2740"/>
                <a:gd name="T46" fmla="*/ 48 w 2739"/>
                <a:gd name="T47" fmla="*/ 98 h 2740"/>
                <a:gd name="T48" fmla="*/ 63 w 2739"/>
                <a:gd name="T49" fmla="*/ 80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1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39"/>
                  </a:lnTo>
                  <a:lnTo>
                    <a:pt x="220" y="2738"/>
                  </a:lnTo>
                  <a:lnTo>
                    <a:pt x="208" y="2737"/>
                  </a:lnTo>
                  <a:lnTo>
                    <a:pt x="195" y="2735"/>
                  </a:lnTo>
                  <a:lnTo>
                    <a:pt x="183" y="2732"/>
                  </a:lnTo>
                  <a:lnTo>
                    <a:pt x="171" y="2728"/>
                  </a:lnTo>
                  <a:lnTo>
                    <a:pt x="161" y="2725"/>
                  </a:lnTo>
                  <a:lnTo>
                    <a:pt x="149" y="2721"/>
                  </a:lnTo>
                  <a:lnTo>
                    <a:pt x="138" y="2716"/>
                  </a:lnTo>
                  <a:lnTo>
                    <a:pt x="127" y="2710"/>
                  </a:lnTo>
                  <a:lnTo>
                    <a:pt x="118" y="2705"/>
                  </a:lnTo>
                  <a:lnTo>
                    <a:pt x="108" y="2698"/>
                  </a:lnTo>
                  <a:lnTo>
                    <a:pt x="99" y="2691"/>
                  </a:lnTo>
                  <a:lnTo>
                    <a:pt x="89" y="2683"/>
                  </a:lnTo>
                  <a:lnTo>
                    <a:pt x="80" y="2676"/>
                  </a:lnTo>
                  <a:lnTo>
                    <a:pt x="72" y="2668"/>
                  </a:lnTo>
                  <a:lnTo>
                    <a:pt x="63" y="2660"/>
                  </a:lnTo>
                  <a:lnTo>
                    <a:pt x="56" y="2650"/>
                  </a:lnTo>
                  <a:lnTo>
                    <a:pt x="48" y="2642"/>
                  </a:lnTo>
                  <a:lnTo>
                    <a:pt x="42" y="2632"/>
                  </a:lnTo>
                  <a:lnTo>
                    <a:pt x="35" y="2622"/>
                  </a:lnTo>
                  <a:lnTo>
                    <a:pt x="30" y="2612"/>
                  </a:lnTo>
                  <a:lnTo>
                    <a:pt x="25" y="2601"/>
                  </a:lnTo>
                  <a:lnTo>
                    <a:pt x="19" y="2590"/>
                  </a:lnTo>
                  <a:lnTo>
                    <a:pt x="15" y="2580"/>
                  </a:lnTo>
                  <a:lnTo>
                    <a:pt x="11" y="2568"/>
                  </a:lnTo>
                  <a:lnTo>
                    <a:pt x="7" y="2556"/>
                  </a:lnTo>
                  <a:lnTo>
                    <a:pt x="5" y="2544"/>
                  </a:lnTo>
                  <a:lnTo>
                    <a:pt x="3" y="2532"/>
                  </a:lnTo>
                  <a:lnTo>
                    <a:pt x="1" y="2521"/>
                  </a:lnTo>
                  <a:lnTo>
                    <a:pt x="0" y="2508"/>
                  </a:lnTo>
                  <a:lnTo>
                    <a:pt x="0" y="2495"/>
                  </a:lnTo>
                  <a:lnTo>
                    <a:pt x="0" y="245"/>
                  </a:lnTo>
                  <a:lnTo>
                    <a:pt x="0" y="232"/>
                  </a:lnTo>
                  <a:lnTo>
                    <a:pt x="1" y="219"/>
                  </a:lnTo>
                  <a:lnTo>
                    <a:pt x="3" y="207"/>
                  </a:lnTo>
                  <a:lnTo>
                    <a:pt x="5" y="196"/>
                  </a:lnTo>
                  <a:lnTo>
                    <a:pt x="7" y="184"/>
                  </a:lnTo>
                  <a:lnTo>
                    <a:pt x="11" y="172"/>
                  </a:lnTo>
                  <a:lnTo>
                    <a:pt x="15" y="160"/>
                  </a:lnTo>
                  <a:lnTo>
                    <a:pt x="19" y="150"/>
                  </a:lnTo>
                  <a:lnTo>
                    <a:pt x="25" y="139"/>
                  </a:lnTo>
                  <a:lnTo>
                    <a:pt x="30" y="128"/>
                  </a:lnTo>
                  <a:lnTo>
                    <a:pt x="35" y="117"/>
                  </a:lnTo>
                  <a:lnTo>
                    <a:pt x="42" y="108"/>
                  </a:lnTo>
                  <a:lnTo>
                    <a:pt x="48" y="98"/>
                  </a:lnTo>
                  <a:lnTo>
                    <a:pt x="56" y="90"/>
                  </a:lnTo>
                  <a:lnTo>
                    <a:pt x="63" y="80"/>
                  </a:lnTo>
                  <a:lnTo>
                    <a:pt x="72" y="71"/>
                  </a:lnTo>
                  <a:lnTo>
                    <a:pt x="80" y="64"/>
                  </a:lnTo>
                  <a:lnTo>
                    <a:pt x="89" y="56"/>
                  </a:lnTo>
                  <a:lnTo>
                    <a:pt x="99" y="49"/>
                  </a:lnTo>
                  <a:lnTo>
                    <a:pt x="108" y="41"/>
                  </a:lnTo>
                  <a:lnTo>
                    <a:pt x="118" y="36"/>
                  </a:lnTo>
                  <a:lnTo>
                    <a:pt x="127" y="30"/>
                  </a:lnTo>
                  <a:lnTo>
                    <a:pt x="138" y="24"/>
                  </a:lnTo>
                  <a:lnTo>
                    <a:pt x="149" y="19"/>
                  </a:lnTo>
                  <a:lnTo>
                    <a:pt x="161" y="15"/>
                  </a:lnTo>
                  <a:lnTo>
                    <a:pt x="171" y="11"/>
                  </a:lnTo>
                  <a:lnTo>
                    <a:pt x="183" y="8"/>
                  </a:lnTo>
                  <a:lnTo>
                    <a:pt x="195" y="5"/>
                  </a:lnTo>
                  <a:lnTo>
                    <a:pt x="208" y="3"/>
                  </a:lnTo>
                  <a:lnTo>
                    <a:pt x="220" y="2"/>
                  </a:lnTo>
                  <a:lnTo>
                    <a:pt x="232" y="1"/>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5" name="Freeform 9"/>
            <p:cNvSpPr>
              <a:spLocks/>
            </p:cNvSpPr>
            <p:nvPr/>
          </p:nvSpPr>
          <p:spPr bwMode="auto">
            <a:xfrm>
              <a:off x="1238605" y="2367879"/>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2 h 2344"/>
                <a:gd name="T14" fmla="*/ 2205 w 2343"/>
                <a:gd name="T15" fmla="*/ 2319 h 2344"/>
                <a:gd name="T16" fmla="*/ 2172 w 2343"/>
                <a:gd name="T17" fmla="*/ 2333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8 h 2344"/>
                <a:gd name="T32" fmla="*/ 63 w 2343"/>
                <a:gd name="T33" fmla="*/ 2264 h 2344"/>
                <a:gd name="T34" fmla="*/ 42 w 2343"/>
                <a:gd name="T35" fmla="*/ 2236 h 2344"/>
                <a:gd name="T36" fmla="*/ 24 w 2343"/>
                <a:gd name="T37" fmla="*/ 2206 h 2344"/>
                <a:gd name="T38" fmla="*/ 11 w 2343"/>
                <a:gd name="T39" fmla="*/ 2173 h 2344"/>
                <a:gd name="T40" fmla="*/ 2 w 2343"/>
                <a:gd name="T41" fmla="*/ 2136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1 h 2344"/>
                <a:gd name="T58" fmla="*/ 138 w 2343"/>
                <a:gd name="T59" fmla="*/ 24 h 2344"/>
                <a:gd name="T60" fmla="*/ 171 w 2343"/>
                <a:gd name="T61" fmla="*/ 10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5 h 2344"/>
                <a:gd name="T76" fmla="*/ 2280 w 2343"/>
                <a:gd name="T77" fmla="*/ 80 h 2344"/>
                <a:gd name="T78" fmla="*/ 2301 w 2343"/>
                <a:gd name="T79" fmla="*/ 108 h 2344"/>
                <a:gd name="T80" fmla="*/ 2320 w 2343"/>
                <a:gd name="T81" fmla="*/ 138 h 2344"/>
                <a:gd name="T82" fmla="*/ 2332 w 2343"/>
                <a:gd name="T83" fmla="*/ 172 h 2344"/>
                <a:gd name="T84" fmla="*/ 2341 w 2343"/>
                <a:gd name="T85" fmla="*/ 207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6"/>
                  </a:lnTo>
                  <a:lnTo>
                    <a:pt x="2339" y="2149"/>
                  </a:lnTo>
                  <a:lnTo>
                    <a:pt x="2336" y="2161"/>
                  </a:lnTo>
                  <a:lnTo>
                    <a:pt x="2332" y="2173"/>
                  </a:lnTo>
                  <a:lnTo>
                    <a:pt x="2329" y="2183"/>
                  </a:lnTo>
                  <a:lnTo>
                    <a:pt x="2324" y="2194"/>
                  </a:lnTo>
                  <a:lnTo>
                    <a:pt x="2320" y="2206"/>
                  </a:lnTo>
                  <a:lnTo>
                    <a:pt x="2314" y="2216"/>
                  </a:lnTo>
                  <a:lnTo>
                    <a:pt x="2308" y="2226"/>
                  </a:lnTo>
                  <a:lnTo>
                    <a:pt x="2301" y="2236"/>
                  </a:lnTo>
                  <a:lnTo>
                    <a:pt x="2295" y="2246"/>
                  </a:lnTo>
                  <a:lnTo>
                    <a:pt x="2287" y="2255"/>
                  </a:lnTo>
                  <a:lnTo>
                    <a:pt x="2280" y="2264"/>
                  </a:lnTo>
                  <a:lnTo>
                    <a:pt x="2272" y="2272"/>
                  </a:lnTo>
                  <a:lnTo>
                    <a:pt x="2264" y="2281"/>
                  </a:lnTo>
                  <a:lnTo>
                    <a:pt x="2254" y="2288"/>
                  </a:lnTo>
                  <a:lnTo>
                    <a:pt x="2246" y="2296"/>
                  </a:lnTo>
                  <a:lnTo>
                    <a:pt x="2236" y="2302"/>
                  </a:lnTo>
                  <a:lnTo>
                    <a:pt x="2225" y="2309"/>
                  </a:lnTo>
                  <a:lnTo>
                    <a:pt x="2216" y="2314"/>
                  </a:lnTo>
                  <a:lnTo>
                    <a:pt x="2205" y="2319"/>
                  </a:lnTo>
                  <a:lnTo>
                    <a:pt x="2194" y="2325"/>
                  </a:lnTo>
                  <a:lnTo>
                    <a:pt x="2184" y="2329"/>
                  </a:lnTo>
                  <a:lnTo>
                    <a:pt x="2172" y="2333"/>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3"/>
                  </a:lnTo>
                  <a:lnTo>
                    <a:pt x="160" y="2329"/>
                  </a:lnTo>
                  <a:lnTo>
                    <a:pt x="149" y="2325"/>
                  </a:lnTo>
                  <a:lnTo>
                    <a:pt x="138" y="2319"/>
                  </a:lnTo>
                  <a:lnTo>
                    <a:pt x="128" y="2314"/>
                  </a:lnTo>
                  <a:lnTo>
                    <a:pt x="118" y="2309"/>
                  </a:lnTo>
                  <a:lnTo>
                    <a:pt x="107" y="2302"/>
                  </a:lnTo>
                  <a:lnTo>
                    <a:pt x="98" y="2296"/>
                  </a:lnTo>
                  <a:lnTo>
                    <a:pt x="89" y="2288"/>
                  </a:lnTo>
                  <a:lnTo>
                    <a:pt x="79" y="2281"/>
                  </a:lnTo>
                  <a:lnTo>
                    <a:pt x="72" y="2272"/>
                  </a:lnTo>
                  <a:lnTo>
                    <a:pt x="63" y="2264"/>
                  </a:lnTo>
                  <a:lnTo>
                    <a:pt x="56" y="2255"/>
                  </a:lnTo>
                  <a:lnTo>
                    <a:pt x="48" y="2246"/>
                  </a:lnTo>
                  <a:lnTo>
                    <a:pt x="42" y="2236"/>
                  </a:lnTo>
                  <a:lnTo>
                    <a:pt x="35" y="2226"/>
                  </a:lnTo>
                  <a:lnTo>
                    <a:pt x="29" y="2216"/>
                  </a:lnTo>
                  <a:lnTo>
                    <a:pt x="24" y="2206"/>
                  </a:lnTo>
                  <a:lnTo>
                    <a:pt x="19" y="2194"/>
                  </a:lnTo>
                  <a:lnTo>
                    <a:pt x="14" y="2183"/>
                  </a:lnTo>
                  <a:lnTo>
                    <a:pt x="11" y="2173"/>
                  </a:lnTo>
                  <a:lnTo>
                    <a:pt x="8" y="2161"/>
                  </a:lnTo>
                  <a:lnTo>
                    <a:pt x="4" y="2149"/>
                  </a:lnTo>
                  <a:lnTo>
                    <a:pt x="2" y="2136"/>
                  </a:lnTo>
                  <a:lnTo>
                    <a:pt x="1" y="2125"/>
                  </a:lnTo>
                  <a:lnTo>
                    <a:pt x="0" y="2112"/>
                  </a:lnTo>
                  <a:lnTo>
                    <a:pt x="0" y="2100"/>
                  </a:lnTo>
                  <a:lnTo>
                    <a:pt x="0" y="244"/>
                  </a:lnTo>
                  <a:lnTo>
                    <a:pt x="0" y="232"/>
                  </a:lnTo>
                  <a:lnTo>
                    <a:pt x="1" y="219"/>
                  </a:lnTo>
                  <a:lnTo>
                    <a:pt x="2" y="207"/>
                  </a:lnTo>
                  <a:lnTo>
                    <a:pt x="4" y="195"/>
                  </a:lnTo>
                  <a:lnTo>
                    <a:pt x="8" y="183"/>
                  </a:lnTo>
                  <a:lnTo>
                    <a:pt x="11" y="172"/>
                  </a:lnTo>
                  <a:lnTo>
                    <a:pt x="14" y="160"/>
                  </a:lnTo>
                  <a:lnTo>
                    <a:pt x="19" y="150"/>
                  </a:lnTo>
                  <a:lnTo>
                    <a:pt x="24" y="138"/>
                  </a:lnTo>
                  <a:lnTo>
                    <a:pt x="29" y="128"/>
                  </a:lnTo>
                  <a:lnTo>
                    <a:pt x="35" y="118"/>
                  </a:lnTo>
                  <a:lnTo>
                    <a:pt x="42" y="108"/>
                  </a:lnTo>
                  <a:lnTo>
                    <a:pt x="48" y="98"/>
                  </a:lnTo>
                  <a:lnTo>
                    <a:pt x="56" y="89"/>
                  </a:lnTo>
                  <a:lnTo>
                    <a:pt x="63" y="80"/>
                  </a:lnTo>
                  <a:lnTo>
                    <a:pt x="72" y="71"/>
                  </a:lnTo>
                  <a:lnTo>
                    <a:pt x="79" y="63"/>
                  </a:lnTo>
                  <a:lnTo>
                    <a:pt x="89" y="55"/>
                  </a:lnTo>
                  <a:lnTo>
                    <a:pt x="98" y="48"/>
                  </a:lnTo>
                  <a:lnTo>
                    <a:pt x="107" y="41"/>
                  </a:lnTo>
                  <a:lnTo>
                    <a:pt x="118" y="35"/>
                  </a:lnTo>
                  <a:lnTo>
                    <a:pt x="128" y="30"/>
                  </a:lnTo>
                  <a:lnTo>
                    <a:pt x="138" y="24"/>
                  </a:lnTo>
                  <a:lnTo>
                    <a:pt x="149" y="19"/>
                  </a:lnTo>
                  <a:lnTo>
                    <a:pt x="160" y="15"/>
                  </a:lnTo>
                  <a:lnTo>
                    <a:pt x="171" y="10"/>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0"/>
                  </a:lnTo>
                  <a:lnTo>
                    <a:pt x="2184" y="15"/>
                  </a:lnTo>
                  <a:lnTo>
                    <a:pt x="2194" y="19"/>
                  </a:lnTo>
                  <a:lnTo>
                    <a:pt x="2205" y="24"/>
                  </a:lnTo>
                  <a:lnTo>
                    <a:pt x="2216" y="30"/>
                  </a:lnTo>
                  <a:lnTo>
                    <a:pt x="2225" y="35"/>
                  </a:lnTo>
                  <a:lnTo>
                    <a:pt x="2236" y="41"/>
                  </a:lnTo>
                  <a:lnTo>
                    <a:pt x="2246" y="48"/>
                  </a:lnTo>
                  <a:lnTo>
                    <a:pt x="2254" y="55"/>
                  </a:lnTo>
                  <a:lnTo>
                    <a:pt x="2264" y="63"/>
                  </a:lnTo>
                  <a:lnTo>
                    <a:pt x="2272" y="71"/>
                  </a:lnTo>
                  <a:lnTo>
                    <a:pt x="2280" y="80"/>
                  </a:lnTo>
                  <a:lnTo>
                    <a:pt x="2287" y="89"/>
                  </a:lnTo>
                  <a:lnTo>
                    <a:pt x="2295" y="98"/>
                  </a:lnTo>
                  <a:lnTo>
                    <a:pt x="2301" y="108"/>
                  </a:lnTo>
                  <a:lnTo>
                    <a:pt x="2308" y="118"/>
                  </a:lnTo>
                  <a:lnTo>
                    <a:pt x="2314" y="128"/>
                  </a:lnTo>
                  <a:lnTo>
                    <a:pt x="2320" y="138"/>
                  </a:lnTo>
                  <a:lnTo>
                    <a:pt x="2324" y="150"/>
                  </a:lnTo>
                  <a:lnTo>
                    <a:pt x="2329" y="160"/>
                  </a:lnTo>
                  <a:lnTo>
                    <a:pt x="2332" y="172"/>
                  </a:lnTo>
                  <a:lnTo>
                    <a:pt x="2336" y="183"/>
                  </a:lnTo>
                  <a:lnTo>
                    <a:pt x="2339" y="195"/>
                  </a:lnTo>
                  <a:lnTo>
                    <a:pt x="2341" y="207"/>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06" name="Freeform 10"/>
            <p:cNvSpPr>
              <a:spLocks/>
            </p:cNvSpPr>
            <p:nvPr/>
          </p:nvSpPr>
          <p:spPr bwMode="auto">
            <a:xfrm>
              <a:off x="2165703" y="2440902"/>
              <a:ext cx="3003550" cy="655638"/>
            </a:xfrm>
            <a:custGeom>
              <a:avLst/>
              <a:gdLst>
                <a:gd name="T0" fmla="*/ 11351 w 11351"/>
                <a:gd name="T1" fmla="*/ 2479 h 2479"/>
                <a:gd name="T2" fmla="*/ 0 w 11351"/>
                <a:gd name="T3" fmla="*/ 2479 h 2479"/>
                <a:gd name="T4" fmla="*/ 0 w 11351"/>
                <a:gd name="T5" fmla="*/ 0 h 2479"/>
                <a:gd name="T6" fmla="*/ 11351 w 11351"/>
                <a:gd name="T7" fmla="*/ 0 h 2479"/>
                <a:gd name="T8" fmla="*/ 10365 w 11351"/>
                <a:gd name="T9" fmla="*/ 1240 h 2479"/>
                <a:gd name="T10" fmla="*/ 11351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1351" y="2479"/>
                  </a:moveTo>
                  <a:lnTo>
                    <a:pt x="0" y="2479"/>
                  </a:lnTo>
                  <a:lnTo>
                    <a:pt x="0" y="0"/>
                  </a:lnTo>
                  <a:lnTo>
                    <a:pt x="11351" y="0"/>
                  </a:lnTo>
                  <a:lnTo>
                    <a:pt x="10365" y="1240"/>
                  </a:lnTo>
                  <a:lnTo>
                    <a:pt x="11351"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1" name="Freeform 11"/>
            <p:cNvSpPr>
              <a:spLocks/>
            </p:cNvSpPr>
            <p:nvPr/>
          </p:nvSpPr>
          <p:spPr bwMode="auto">
            <a:xfrm>
              <a:off x="1186215" y="3267989"/>
              <a:ext cx="725488" cy="723900"/>
            </a:xfrm>
            <a:custGeom>
              <a:avLst/>
              <a:gdLst>
                <a:gd name="T0" fmla="*/ 244 w 2739"/>
                <a:gd name="T1" fmla="*/ 2740 h 2740"/>
                <a:gd name="T2" fmla="*/ 220 w 2739"/>
                <a:gd name="T3" fmla="*/ 2739 h 2740"/>
                <a:gd name="T4" fmla="*/ 195 w 2739"/>
                <a:gd name="T5" fmla="*/ 2734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2 h 2740"/>
                <a:gd name="T24" fmla="*/ 19 w 2739"/>
                <a:gd name="T25" fmla="*/ 2591 h 2740"/>
                <a:gd name="T26" fmla="*/ 11 w 2739"/>
                <a:gd name="T27" fmla="*/ 2568 h 2740"/>
                <a:gd name="T28" fmla="*/ 5 w 2739"/>
                <a:gd name="T29" fmla="*/ 2545 h 2740"/>
                <a:gd name="T30" fmla="*/ 1 w 2739"/>
                <a:gd name="T31" fmla="*/ 2520 h 2740"/>
                <a:gd name="T32" fmla="*/ 0 w 2739"/>
                <a:gd name="T33" fmla="*/ 2496 h 2740"/>
                <a:gd name="T34" fmla="*/ 0 w 2739"/>
                <a:gd name="T35" fmla="*/ 233 h 2740"/>
                <a:gd name="T36" fmla="*/ 3 w 2739"/>
                <a:gd name="T37" fmla="*/ 208 h 2740"/>
                <a:gd name="T38" fmla="*/ 7 w 2739"/>
                <a:gd name="T39" fmla="*/ 183 h 2740"/>
                <a:gd name="T40" fmla="*/ 15 w 2739"/>
                <a:gd name="T41" fmla="*/ 161 h 2740"/>
                <a:gd name="T42" fmla="*/ 25 w 2739"/>
                <a:gd name="T43" fmla="*/ 138 h 2740"/>
                <a:gd name="T44" fmla="*/ 35 w 2739"/>
                <a:gd name="T45" fmla="*/ 118 h 2740"/>
                <a:gd name="T46" fmla="*/ 48 w 2739"/>
                <a:gd name="T47" fmla="*/ 99 h 2740"/>
                <a:gd name="T48" fmla="*/ 63 w 2739"/>
                <a:gd name="T49" fmla="*/ 81 h 2740"/>
                <a:gd name="T50" fmla="*/ 80 w 2739"/>
                <a:gd name="T51" fmla="*/ 63 h 2740"/>
                <a:gd name="T52" fmla="*/ 99 w 2739"/>
                <a:gd name="T53" fmla="*/ 48 h 2740"/>
                <a:gd name="T54" fmla="*/ 118 w 2739"/>
                <a:gd name="T55" fmla="*/ 36 h 2740"/>
                <a:gd name="T56" fmla="*/ 138 w 2739"/>
                <a:gd name="T57" fmla="*/ 24 h 2740"/>
                <a:gd name="T58" fmla="*/ 161 w 2739"/>
                <a:gd name="T59" fmla="*/ 15 h 2740"/>
                <a:gd name="T60" fmla="*/ 183 w 2739"/>
                <a:gd name="T61" fmla="*/ 8 h 2740"/>
                <a:gd name="T62" fmla="*/ 208 w 2739"/>
                <a:gd name="T63" fmla="*/ 3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4"/>
                  </a:lnTo>
                  <a:lnTo>
                    <a:pt x="183" y="2732"/>
                  </a:lnTo>
                  <a:lnTo>
                    <a:pt x="171" y="2729"/>
                  </a:lnTo>
                  <a:lnTo>
                    <a:pt x="161" y="2725"/>
                  </a:lnTo>
                  <a:lnTo>
                    <a:pt x="149" y="2721"/>
                  </a:lnTo>
                  <a:lnTo>
                    <a:pt x="138" y="2716"/>
                  </a:lnTo>
                  <a:lnTo>
                    <a:pt x="127" y="2710"/>
                  </a:lnTo>
                  <a:lnTo>
                    <a:pt x="118" y="2704"/>
                  </a:lnTo>
                  <a:lnTo>
                    <a:pt x="108" y="2698"/>
                  </a:lnTo>
                  <a:lnTo>
                    <a:pt x="99" y="2692"/>
                  </a:lnTo>
                  <a:lnTo>
                    <a:pt x="89" y="2684"/>
                  </a:lnTo>
                  <a:lnTo>
                    <a:pt x="80" y="2677"/>
                  </a:lnTo>
                  <a:lnTo>
                    <a:pt x="72" y="2668"/>
                  </a:lnTo>
                  <a:lnTo>
                    <a:pt x="63" y="2659"/>
                  </a:lnTo>
                  <a:lnTo>
                    <a:pt x="56" y="2651"/>
                  </a:lnTo>
                  <a:lnTo>
                    <a:pt x="48" y="2641"/>
                  </a:lnTo>
                  <a:lnTo>
                    <a:pt x="42" y="2632"/>
                  </a:lnTo>
                  <a:lnTo>
                    <a:pt x="35" y="2622"/>
                  </a:lnTo>
                  <a:lnTo>
                    <a:pt x="30" y="2612"/>
                  </a:lnTo>
                  <a:lnTo>
                    <a:pt x="25" y="2602"/>
                  </a:lnTo>
                  <a:lnTo>
                    <a:pt x="19" y="2591"/>
                  </a:lnTo>
                  <a:lnTo>
                    <a:pt x="15" y="2579"/>
                  </a:lnTo>
                  <a:lnTo>
                    <a:pt x="11" y="2568"/>
                  </a:lnTo>
                  <a:lnTo>
                    <a:pt x="7" y="2557"/>
                  </a:lnTo>
                  <a:lnTo>
                    <a:pt x="5" y="2545"/>
                  </a:lnTo>
                  <a:lnTo>
                    <a:pt x="3" y="2533"/>
                  </a:lnTo>
                  <a:lnTo>
                    <a:pt x="1" y="2520"/>
                  </a:lnTo>
                  <a:lnTo>
                    <a:pt x="0" y="2508"/>
                  </a:lnTo>
                  <a:lnTo>
                    <a:pt x="0" y="2496"/>
                  </a:lnTo>
                  <a:lnTo>
                    <a:pt x="0" y="244"/>
                  </a:lnTo>
                  <a:lnTo>
                    <a:pt x="0" y="233"/>
                  </a:lnTo>
                  <a:lnTo>
                    <a:pt x="1" y="220"/>
                  </a:lnTo>
                  <a:lnTo>
                    <a:pt x="3" y="208"/>
                  </a:lnTo>
                  <a:lnTo>
                    <a:pt x="5" y="195"/>
                  </a:lnTo>
                  <a:lnTo>
                    <a:pt x="7" y="183"/>
                  </a:lnTo>
                  <a:lnTo>
                    <a:pt x="11" y="172"/>
                  </a:lnTo>
                  <a:lnTo>
                    <a:pt x="15" y="161"/>
                  </a:lnTo>
                  <a:lnTo>
                    <a:pt x="19" y="149"/>
                  </a:lnTo>
                  <a:lnTo>
                    <a:pt x="25" y="138"/>
                  </a:lnTo>
                  <a:lnTo>
                    <a:pt x="30" y="128"/>
                  </a:lnTo>
                  <a:lnTo>
                    <a:pt x="35" y="118"/>
                  </a:lnTo>
                  <a:lnTo>
                    <a:pt x="42" y="108"/>
                  </a:lnTo>
                  <a:lnTo>
                    <a:pt x="48" y="99"/>
                  </a:lnTo>
                  <a:lnTo>
                    <a:pt x="56" y="89"/>
                  </a:lnTo>
                  <a:lnTo>
                    <a:pt x="63" y="81"/>
                  </a:lnTo>
                  <a:lnTo>
                    <a:pt x="72" y="72"/>
                  </a:lnTo>
                  <a:lnTo>
                    <a:pt x="80" y="63"/>
                  </a:lnTo>
                  <a:lnTo>
                    <a:pt x="89" y="56"/>
                  </a:lnTo>
                  <a:lnTo>
                    <a:pt x="99" y="48"/>
                  </a:lnTo>
                  <a:lnTo>
                    <a:pt x="108" y="42"/>
                  </a:lnTo>
                  <a:lnTo>
                    <a:pt x="118" y="36"/>
                  </a:lnTo>
                  <a:lnTo>
                    <a:pt x="127" y="30"/>
                  </a:lnTo>
                  <a:lnTo>
                    <a:pt x="138" y="24"/>
                  </a:lnTo>
                  <a:lnTo>
                    <a:pt x="149" y="19"/>
                  </a:lnTo>
                  <a:lnTo>
                    <a:pt x="161" y="15"/>
                  </a:lnTo>
                  <a:lnTo>
                    <a:pt x="171" y="11"/>
                  </a:lnTo>
                  <a:lnTo>
                    <a:pt x="183" y="8"/>
                  </a:lnTo>
                  <a:lnTo>
                    <a:pt x="195" y="6"/>
                  </a:lnTo>
                  <a:lnTo>
                    <a:pt x="208" y="3"/>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2" name="Freeform 12"/>
            <p:cNvSpPr>
              <a:spLocks/>
            </p:cNvSpPr>
            <p:nvPr/>
          </p:nvSpPr>
          <p:spPr bwMode="auto">
            <a:xfrm>
              <a:off x="1238605" y="3320379"/>
              <a:ext cx="620713" cy="619125"/>
            </a:xfrm>
            <a:custGeom>
              <a:avLst/>
              <a:gdLst>
                <a:gd name="T0" fmla="*/ 2342 w 2343"/>
                <a:gd name="T1" fmla="*/ 2124 h 2344"/>
                <a:gd name="T2" fmla="*/ 2336 w 2343"/>
                <a:gd name="T3" fmla="*/ 2161 h 2344"/>
                <a:gd name="T4" fmla="*/ 2324 w 2343"/>
                <a:gd name="T5" fmla="*/ 2195 h 2344"/>
                <a:gd name="T6" fmla="*/ 2308 w 2343"/>
                <a:gd name="T7" fmla="*/ 2226 h 2344"/>
                <a:gd name="T8" fmla="*/ 2287 w 2343"/>
                <a:gd name="T9" fmla="*/ 2255 h 2344"/>
                <a:gd name="T10" fmla="*/ 2264 w 2343"/>
                <a:gd name="T11" fmla="*/ 2280 h 2344"/>
                <a:gd name="T12" fmla="*/ 2236 w 2343"/>
                <a:gd name="T13" fmla="*/ 2302 h 2344"/>
                <a:gd name="T14" fmla="*/ 2205 w 2343"/>
                <a:gd name="T15" fmla="*/ 2320 h 2344"/>
                <a:gd name="T16" fmla="*/ 2172 w 2343"/>
                <a:gd name="T17" fmla="*/ 2333 h 2344"/>
                <a:gd name="T18" fmla="*/ 2136 w 2343"/>
                <a:gd name="T19" fmla="*/ 2342 h 2344"/>
                <a:gd name="T20" fmla="*/ 2099 w 2343"/>
                <a:gd name="T21" fmla="*/ 2344 h 2344"/>
                <a:gd name="T22" fmla="*/ 220 w 2343"/>
                <a:gd name="T23" fmla="*/ 2343 h 2344"/>
                <a:gd name="T24" fmla="*/ 183 w 2343"/>
                <a:gd name="T25" fmla="*/ 2336 h 2344"/>
                <a:gd name="T26" fmla="*/ 149 w 2343"/>
                <a:gd name="T27" fmla="*/ 2324 h 2344"/>
                <a:gd name="T28" fmla="*/ 118 w 2343"/>
                <a:gd name="T29" fmla="*/ 2308 h 2344"/>
                <a:gd name="T30" fmla="*/ 89 w 2343"/>
                <a:gd name="T31" fmla="*/ 2288 h 2344"/>
                <a:gd name="T32" fmla="*/ 63 w 2343"/>
                <a:gd name="T33" fmla="*/ 2264 h 2344"/>
                <a:gd name="T34" fmla="*/ 42 w 2343"/>
                <a:gd name="T35" fmla="*/ 2237 h 2344"/>
                <a:gd name="T36" fmla="*/ 24 w 2343"/>
                <a:gd name="T37" fmla="*/ 2206 h 2344"/>
                <a:gd name="T38" fmla="*/ 11 w 2343"/>
                <a:gd name="T39" fmla="*/ 2172 h 2344"/>
                <a:gd name="T40" fmla="*/ 2 w 2343"/>
                <a:gd name="T41" fmla="*/ 2137 h 2344"/>
                <a:gd name="T42" fmla="*/ 0 w 2343"/>
                <a:gd name="T43" fmla="*/ 2099 h 2344"/>
                <a:gd name="T44" fmla="*/ 1 w 2343"/>
                <a:gd name="T45" fmla="*/ 220 h 2344"/>
                <a:gd name="T46" fmla="*/ 8 w 2343"/>
                <a:gd name="T47" fmla="*/ 183 h 2344"/>
                <a:gd name="T48" fmla="*/ 19 w 2343"/>
                <a:gd name="T49" fmla="*/ 149 h 2344"/>
                <a:gd name="T50" fmla="*/ 35 w 2343"/>
                <a:gd name="T51" fmla="*/ 118 h 2344"/>
                <a:gd name="T52" fmla="*/ 56 w 2343"/>
                <a:gd name="T53" fmla="*/ 89 h 2344"/>
                <a:gd name="T54" fmla="*/ 79 w 2343"/>
                <a:gd name="T55" fmla="*/ 64 h 2344"/>
                <a:gd name="T56" fmla="*/ 107 w 2343"/>
                <a:gd name="T57" fmla="*/ 42 h 2344"/>
                <a:gd name="T58" fmla="*/ 138 w 2343"/>
                <a:gd name="T59" fmla="*/ 24 h 2344"/>
                <a:gd name="T60" fmla="*/ 171 w 2343"/>
                <a:gd name="T61" fmla="*/ 11 h 2344"/>
                <a:gd name="T62" fmla="*/ 207 w 2343"/>
                <a:gd name="T63" fmla="*/ 2 h 2344"/>
                <a:gd name="T64" fmla="*/ 244 w 2343"/>
                <a:gd name="T65" fmla="*/ 0 h 2344"/>
                <a:gd name="T66" fmla="*/ 2124 w 2343"/>
                <a:gd name="T67" fmla="*/ 1 h 2344"/>
                <a:gd name="T68" fmla="*/ 2160 w 2343"/>
                <a:gd name="T69" fmla="*/ 8 h 2344"/>
                <a:gd name="T70" fmla="*/ 2194 w 2343"/>
                <a:gd name="T71" fmla="*/ 20 h 2344"/>
                <a:gd name="T72" fmla="*/ 2225 w 2343"/>
                <a:gd name="T73" fmla="*/ 36 h 2344"/>
                <a:gd name="T74" fmla="*/ 2254 w 2343"/>
                <a:gd name="T75" fmla="*/ 56 h 2344"/>
                <a:gd name="T76" fmla="*/ 2280 w 2343"/>
                <a:gd name="T77" fmla="*/ 80 h 2344"/>
                <a:gd name="T78" fmla="*/ 2301 w 2343"/>
                <a:gd name="T79" fmla="*/ 107 h 2344"/>
                <a:gd name="T80" fmla="*/ 2320 w 2343"/>
                <a:gd name="T81" fmla="*/ 138 h 2344"/>
                <a:gd name="T82" fmla="*/ 2332 w 2343"/>
                <a:gd name="T83" fmla="*/ 172 h 2344"/>
                <a:gd name="T84" fmla="*/ 2341 w 2343"/>
                <a:gd name="T85" fmla="*/ 207 h 2344"/>
                <a:gd name="T86" fmla="*/ 2343 w 2343"/>
                <a:gd name="T87" fmla="*/ 245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099"/>
                  </a:moveTo>
                  <a:lnTo>
                    <a:pt x="2343" y="2112"/>
                  </a:lnTo>
                  <a:lnTo>
                    <a:pt x="2342" y="2124"/>
                  </a:lnTo>
                  <a:lnTo>
                    <a:pt x="2341" y="2137"/>
                  </a:lnTo>
                  <a:lnTo>
                    <a:pt x="2339" y="2149"/>
                  </a:lnTo>
                  <a:lnTo>
                    <a:pt x="2336" y="2161"/>
                  </a:lnTo>
                  <a:lnTo>
                    <a:pt x="2332" y="2172"/>
                  </a:lnTo>
                  <a:lnTo>
                    <a:pt x="2329" y="2184"/>
                  </a:lnTo>
                  <a:lnTo>
                    <a:pt x="2324" y="2195"/>
                  </a:lnTo>
                  <a:lnTo>
                    <a:pt x="2320" y="2206"/>
                  </a:lnTo>
                  <a:lnTo>
                    <a:pt x="2314" y="2216"/>
                  </a:lnTo>
                  <a:lnTo>
                    <a:pt x="2308" y="2226"/>
                  </a:lnTo>
                  <a:lnTo>
                    <a:pt x="2301" y="2237"/>
                  </a:lnTo>
                  <a:lnTo>
                    <a:pt x="2295" y="2246"/>
                  </a:lnTo>
                  <a:lnTo>
                    <a:pt x="2287" y="2255"/>
                  </a:lnTo>
                  <a:lnTo>
                    <a:pt x="2280" y="2264"/>
                  </a:lnTo>
                  <a:lnTo>
                    <a:pt x="2272" y="2273"/>
                  </a:lnTo>
                  <a:lnTo>
                    <a:pt x="2264" y="2280"/>
                  </a:lnTo>
                  <a:lnTo>
                    <a:pt x="2254" y="2288"/>
                  </a:lnTo>
                  <a:lnTo>
                    <a:pt x="2246" y="2295"/>
                  </a:lnTo>
                  <a:lnTo>
                    <a:pt x="2236" y="2302"/>
                  </a:lnTo>
                  <a:lnTo>
                    <a:pt x="2225" y="2308"/>
                  </a:lnTo>
                  <a:lnTo>
                    <a:pt x="2216" y="2315"/>
                  </a:lnTo>
                  <a:lnTo>
                    <a:pt x="2205" y="2320"/>
                  </a:lnTo>
                  <a:lnTo>
                    <a:pt x="2194" y="2324"/>
                  </a:lnTo>
                  <a:lnTo>
                    <a:pt x="2184" y="2330"/>
                  </a:lnTo>
                  <a:lnTo>
                    <a:pt x="2172" y="2333"/>
                  </a:lnTo>
                  <a:lnTo>
                    <a:pt x="2160" y="2336"/>
                  </a:lnTo>
                  <a:lnTo>
                    <a:pt x="2148" y="2339"/>
                  </a:lnTo>
                  <a:lnTo>
                    <a:pt x="2136" y="2342"/>
                  </a:lnTo>
                  <a:lnTo>
                    <a:pt x="2124" y="2343"/>
                  </a:lnTo>
                  <a:lnTo>
                    <a:pt x="2112" y="2344"/>
                  </a:lnTo>
                  <a:lnTo>
                    <a:pt x="2099" y="2344"/>
                  </a:lnTo>
                  <a:lnTo>
                    <a:pt x="244" y="2344"/>
                  </a:lnTo>
                  <a:lnTo>
                    <a:pt x="231" y="2344"/>
                  </a:lnTo>
                  <a:lnTo>
                    <a:pt x="220" y="2343"/>
                  </a:lnTo>
                  <a:lnTo>
                    <a:pt x="207" y="2342"/>
                  </a:lnTo>
                  <a:lnTo>
                    <a:pt x="195" y="2339"/>
                  </a:lnTo>
                  <a:lnTo>
                    <a:pt x="183" y="2336"/>
                  </a:lnTo>
                  <a:lnTo>
                    <a:pt x="171" y="2333"/>
                  </a:lnTo>
                  <a:lnTo>
                    <a:pt x="160" y="2330"/>
                  </a:lnTo>
                  <a:lnTo>
                    <a:pt x="149" y="2324"/>
                  </a:lnTo>
                  <a:lnTo>
                    <a:pt x="138" y="2320"/>
                  </a:lnTo>
                  <a:lnTo>
                    <a:pt x="128" y="2315"/>
                  </a:lnTo>
                  <a:lnTo>
                    <a:pt x="118" y="2308"/>
                  </a:lnTo>
                  <a:lnTo>
                    <a:pt x="107" y="2302"/>
                  </a:lnTo>
                  <a:lnTo>
                    <a:pt x="98" y="2295"/>
                  </a:lnTo>
                  <a:lnTo>
                    <a:pt x="89" y="2288"/>
                  </a:lnTo>
                  <a:lnTo>
                    <a:pt x="79" y="2280"/>
                  </a:lnTo>
                  <a:lnTo>
                    <a:pt x="72" y="2273"/>
                  </a:lnTo>
                  <a:lnTo>
                    <a:pt x="63" y="2264"/>
                  </a:lnTo>
                  <a:lnTo>
                    <a:pt x="56" y="2255"/>
                  </a:lnTo>
                  <a:lnTo>
                    <a:pt x="48" y="2246"/>
                  </a:lnTo>
                  <a:lnTo>
                    <a:pt x="42" y="2237"/>
                  </a:lnTo>
                  <a:lnTo>
                    <a:pt x="35" y="2226"/>
                  </a:lnTo>
                  <a:lnTo>
                    <a:pt x="29" y="2216"/>
                  </a:lnTo>
                  <a:lnTo>
                    <a:pt x="24" y="2206"/>
                  </a:lnTo>
                  <a:lnTo>
                    <a:pt x="19" y="2195"/>
                  </a:lnTo>
                  <a:lnTo>
                    <a:pt x="14" y="2184"/>
                  </a:lnTo>
                  <a:lnTo>
                    <a:pt x="11" y="2172"/>
                  </a:lnTo>
                  <a:lnTo>
                    <a:pt x="8" y="2161"/>
                  </a:lnTo>
                  <a:lnTo>
                    <a:pt x="4" y="2149"/>
                  </a:lnTo>
                  <a:lnTo>
                    <a:pt x="2" y="2137"/>
                  </a:lnTo>
                  <a:lnTo>
                    <a:pt x="1" y="2124"/>
                  </a:lnTo>
                  <a:lnTo>
                    <a:pt x="0" y="2112"/>
                  </a:lnTo>
                  <a:lnTo>
                    <a:pt x="0" y="2099"/>
                  </a:lnTo>
                  <a:lnTo>
                    <a:pt x="0" y="245"/>
                  </a:lnTo>
                  <a:lnTo>
                    <a:pt x="0" y="232"/>
                  </a:lnTo>
                  <a:lnTo>
                    <a:pt x="1" y="220"/>
                  </a:lnTo>
                  <a:lnTo>
                    <a:pt x="2" y="207"/>
                  </a:lnTo>
                  <a:lnTo>
                    <a:pt x="4" y="195"/>
                  </a:lnTo>
                  <a:lnTo>
                    <a:pt x="8" y="183"/>
                  </a:lnTo>
                  <a:lnTo>
                    <a:pt x="11" y="172"/>
                  </a:lnTo>
                  <a:lnTo>
                    <a:pt x="14" y="160"/>
                  </a:lnTo>
                  <a:lnTo>
                    <a:pt x="19" y="149"/>
                  </a:lnTo>
                  <a:lnTo>
                    <a:pt x="24" y="138"/>
                  </a:lnTo>
                  <a:lnTo>
                    <a:pt x="29" y="128"/>
                  </a:lnTo>
                  <a:lnTo>
                    <a:pt x="35" y="118"/>
                  </a:lnTo>
                  <a:lnTo>
                    <a:pt x="42" y="107"/>
                  </a:lnTo>
                  <a:lnTo>
                    <a:pt x="48" y="98"/>
                  </a:lnTo>
                  <a:lnTo>
                    <a:pt x="56" y="89"/>
                  </a:lnTo>
                  <a:lnTo>
                    <a:pt x="63" y="80"/>
                  </a:lnTo>
                  <a:lnTo>
                    <a:pt x="72" y="71"/>
                  </a:lnTo>
                  <a:lnTo>
                    <a:pt x="79" y="64"/>
                  </a:lnTo>
                  <a:lnTo>
                    <a:pt x="89" y="56"/>
                  </a:lnTo>
                  <a:lnTo>
                    <a:pt x="98" y="49"/>
                  </a:lnTo>
                  <a:lnTo>
                    <a:pt x="107" y="42"/>
                  </a:lnTo>
                  <a:lnTo>
                    <a:pt x="118" y="36"/>
                  </a:lnTo>
                  <a:lnTo>
                    <a:pt x="128" y="29"/>
                  </a:lnTo>
                  <a:lnTo>
                    <a:pt x="138" y="24"/>
                  </a:lnTo>
                  <a:lnTo>
                    <a:pt x="149" y="20"/>
                  </a:lnTo>
                  <a:lnTo>
                    <a:pt x="160" y="14"/>
                  </a:lnTo>
                  <a:lnTo>
                    <a:pt x="171" y="11"/>
                  </a:lnTo>
                  <a:lnTo>
                    <a:pt x="183" y="8"/>
                  </a:lnTo>
                  <a:lnTo>
                    <a:pt x="195" y="5"/>
                  </a:lnTo>
                  <a:lnTo>
                    <a:pt x="207" y="2"/>
                  </a:lnTo>
                  <a:lnTo>
                    <a:pt x="220" y="1"/>
                  </a:lnTo>
                  <a:lnTo>
                    <a:pt x="231" y="0"/>
                  </a:lnTo>
                  <a:lnTo>
                    <a:pt x="244" y="0"/>
                  </a:lnTo>
                  <a:lnTo>
                    <a:pt x="2099" y="0"/>
                  </a:lnTo>
                  <a:lnTo>
                    <a:pt x="2112" y="0"/>
                  </a:lnTo>
                  <a:lnTo>
                    <a:pt x="2124" y="1"/>
                  </a:lnTo>
                  <a:lnTo>
                    <a:pt x="2136" y="2"/>
                  </a:lnTo>
                  <a:lnTo>
                    <a:pt x="2148" y="5"/>
                  </a:lnTo>
                  <a:lnTo>
                    <a:pt x="2160" y="8"/>
                  </a:lnTo>
                  <a:lnTo>
                    <a:pt x="2172" y="11"/>
                  </a:lnTo>
                  <a:lnTo>
                    <a:pt x="2184" y="14"/>
                  </a:lnTo>
                  <a:lnTo>
                    <a:pt x="2194" y="20"/>
                  </a:lnTo>
                  <a:lnTo>
                    <a:pt x="2205" y="24"/>
                  </a:lnTo>
                  <a:lnTo>
                    <a:pt x="2216" y="29"/>
                  </a:lnTo>
                  <a:lnTo>
                    <a:pt x="2225" y="36"/>
                  </a:lnTo>
                  <a:lnTo>
                    <a:pt x="2236" y="42"/>
                  </a:lnTo>
                  <a:lnTo>
                    <a:pt x="2246" y="49"/>
                  </a:lnTo>
                  <a:lnTo>
                    <a:pt x="2254" y="56"/>
                  </a:lnTo>
                  <a:lnTo>
                    <a:pt x="2264" y="64"/>
                  </a:lnTo>
                  <a:lnTo>
                    <a:pt x="2272" y="71"/>
                  </a:lnTo>
                  <a:lnTo>
                    <a:pt x="2280" y="80"/>
                  </a:lnTo>
                  <a:lnTo>
                    <a:pt x="2287" y="89"/>
                  </a:lnTo>
                  <a:lnTo>
                    <a:pt x="2295" y="98"/>
                  </a:lnTo>
                  <a:lnTo>
                    <a:pt x="2301" y="107"/>
                  </a:lnTo>
                  <a:lnTo>
                    <a:pt x="2308" y="118"/>
                  </a:lnTo>
                  <a:lnTo>
                    <a:pt x="2314" y="128"/>
                  </a:lnTo>
                  <a:lnTo>
                    <a:pt x="2320" y="138"/>
                  </a:lnTo>
                  <a:lnTo>
                    <a:pt x="2324" y="149"/>
                  </a:lnTo>
                  <a:lnTo>
                    <a:pt x="2329" y="160"/>
                  </a:lnTo>
                  <a:lnTo>
                    <a:pt x="2332" y="172"/>
                  </a:lnTo>
                  <a:lnTo>
                    <a:pt x="2336" y="183"/>
                  </a:lnTo>
                  <a:lnTo>
                    <a:pt x="2339" y="195"/>
                  </a:lnTo>
                  <a:lnTo>
                    <a:pt x="2341" y="207"/>
                  </a:lnTo>
                  <a:lnTo>
                    <a:pt x="2342" y="220"/>
                  </a:lnTo>
                  <a:lnTo>
                    <a:pt x="2343" y="232"/>
                  </a:lnTo>
                  <a:lnTo>
                    <a:pt x="2343" y="245"/>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3" name="Freeform 13"/>
            <p:cNvSpPr>
              <a:spLocks/>
            </p:cNvSpPr>
            <p:nvPr/>
          </p:nvSpPr>
          <p:spPr bwMode="auto">
            <a:xfrm>
              <a:off x="2165703" y="3301329"/>
              <a:ext cx="3003550" cy="657225"/>
            </a:xfrm>
            <a:custGeom>
              <a:avLst/>
              <a:gdLst>
                <a:gd name="T0" fmla="*/ 0 w 11351"/>
                <a:gd name="T1" fmla="*/ 2479 h 2480"/>
                <a:gd name="T2" fmla="*/ 10358 w 11351"/>
                <a:gd name="T3" fmla="*/ 1 h 2480"/>
                <a:gd name="T4" fmla="*/ 10401 w 11351"/>
                <a:gd name="T5" fmla="*/ 0 h 2480"/>
                <a:gd name="T6" fmla="*/ 10450 w 11351"/>
                <a:gd name="T7" fmla="*/ 2 h 2480"/>
                <a:gd name="T8" fmla="*/ 10514 w 11351"/>
                <a:gd name="T9" fmla="*/ 9 h 2480"/>
                <a:gd name="T10" fmla="*/ 10589 w 11351"/>
                <a:gd name="T11" fmla="*/ 23 h 2480"/>
                <a:gd name="T12" fmla="*/ 10672 w 11351"/>
                <a:gd name="T13" fmla="*/ 46 h 2480"/>
                <a:gd name="T14" fmla="*/ 10762 w 11351"/>
                <a:gd name="T15" fmla="*/ 80 h 2480"/>
                <a:gd name="T16" fmla="*/ 10855 w 11351"/>
                <a:gd name="T17" fmla="*/ 127 h 2480"/>
                <a:gd name="T18" fmla="*/ 10947 w 11351"/>
                <a:gd name="T19" fmla="*/ 189 h 2480"/>
                <a:gd name="T20" fmla="*/ 11037 w 11351"/>
                <a:gd name="T21" fmla="*/ 270 h 2480"/>
                <a:gd name="T22" fmla="*/ 11121 w 11351"/>
                <a:gd name="T23" fmla="*/ 370 h 2480"/>
                <a:gd name="T24" fmla="*/ 11196 w 11351"/>
                <a:gd name="T25" fmla="*/ 491 h 2480"/>
                <a:gd name="T26" fmla="*/ 11259 w 11351"/>
                <a:gd name="T27" fmla="*/ 637 h 2480"/>
                <a:gd name="T28" fmla="*/ 11308 w 11351"/>
                <a:gd name="T29" fmla="*/ 809 h 2480"/>
                <a:gd name="T30" fmla="*/ 11340 w 11351"/>
                <a:gd name="T31" fmla="*/ 1010 h 2480"/>
                <a:gd name="T32" fmla="*/ 11351 w 11351"/>
                <a:gd name="T33" fmla="*/ 1240 h 2480"/>
                <a:gd name="T34" fmla="*/ 11340 w 11351"/>
                <a:gd name="T35" fmla="*/ 1470 h 2480"/>
                <a:gd name="T36" fmla="*/ 11308 w 11351"/>
                <a:gd name="T37" fmla="*/ 1671 h 2480"/>
                <a:gd name="T38" fmla="*/ 11259 w 11351"/>
                <a:gd name="T39" fmla="*/ 1843 h 2480"/>
                <a:gd name="T40" fmla="*/ 11196 w 11351"/>
                <a:gd name="T41" fmla="*/ 1989 h 2480"/>
                <a:gd name="T42" fmla="*/ 11121 w 11351"/>
                <a:gd name="T43" fmla="*/ 2110 h 2480"/>
                <a:gd name="T44" fmla="*/ 11037 w 11351"/>
                <a:gd name="T45" fmla="*/ 2210 h 2480"/>
                <a:gd name="T46" fmla="*/ 10947 w 11351"/>
                <a:gd name="T47" fmla="*/ 2291 h 2480"/>
                <a:gd name="T48" fmla="*/ 10855 w 11351"/>
                <a:gd name="T49" fmla="*/ 2353 h 2480"/>
                <a:gd name="T50" fmla="*/ 10762 w 11351"/>
                <a:gd name="T51" fmla="*/ 2400 h 2480"/>
                <a:gd name="T52" fmla="*/ 10672 w 11351"/>
                <a:gd name="T53" fmla="*/ 2434 h 2480"/>
                <a:gd name="T54" fmla="*/ 10589 w 11351"/>
                <a:gd name="T55" fmla="*/ 2457 h 2480"/>
                <a:gd name="T56" fmla="*/ 10514 w 11351"/>
                <a:gd name="T57" fmla="*/ 2471 h 2480"/>
                <a:gd name="T58" fmla="*/ 10450 w 11351"/>
                <a:gd name="T59" fmla="*/ 2478 h 2480"/>
                <a:gd name="T60" fmla="*/ 10401 w 11351"/>
                <a:gd name="T61" fmla="*/ 2480 h 2480"/>
                <a:gd name="T62" fmla="*/ 10358 w 11351"/>
                <a:gd name="T63" fmla="*/ 2479 h 2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51" h="2480">
                  <a:moveTo>
                    <a:pt x="10358" y="2479"/>
                  </a:moveTo>
                  <a:lnTo>
                    <a:pt x="0" y="2479"/>
                  </a:lnTo>
                  <a:lnTo>
                    <a:pt x="0" y="1"/>
                  </a:lnTo>
                  <a:lnTo>
                    <a:pt x="10358" y="1"/>
                  </a:lnTo>
                  <a:lnTo>
                    <a:pt x="10369" y="0"/>
                  </a:lnTo>
                  <a:lnTo>
                    <a:pt x="10401" y="0"/>
                  </a:lnTo>
                  <a:lnTo>
                    <a:pt x="10424" y="1"/>
                  </a:lnTo>
                  <a:lnTo>
                    <a:pt x="10450" y="2"/>
                  </a:lnTo>
                  <a:lnTo>
                    <a:pt x="10480" y="5"/>
                  </a:lnTo>
                  <a:lnTo>
                    <a:pt x="10514" y="9"/>
                  </a:lnTo>
                  <a:lnTo>
                    <a:pt x="10550" y="16"/>
                  </a:lnTo>
                  <a:lnTo>
                    <a:pt x="10589" y="23"/>
                  </a:lnTo>
                  <a:lnTo>
                    <a:pt x="10629" y="33"/>
                  </a:lnTo>
                  <a:lnTo>
                    <a:pt x="10672" y="46"/>
                  </a:lnTo>
                  <a:lnTo>
                    <a:pt x="10717" y="62"/>
                  </a:lnTo>
                  <a:lnTo>
                    <a:pt x="10762" y="80"/>
                  </a:lnTo>
                  <a:lnTo>
                    <a:pt x="10808" y="102"/>
                  </a:lnTo>
                  <a:lnTo>
                    <a:pt x="10855" y="127"/>
                  </a:lnTo>
                  <a:lnTo>
                    <a:pt x="10901" y="156"/>
                  </a:lnTo>
                  <a:lnTo>
                    <a:pt x="10947" y="189"/>
                  </a:lnTo>
                  <a:lnTo>
                    <a:pt x="10992" y="228"/>
                  </a:lnTo>
                  <a:lnTo>
                    <a:pt x="11037" y="270"/>
                  </a:lnTo>
                  <a:lnTo>
                    <a:pt x="11080" y="318"/>
                  </a:lnTo>
                  <a:lnTo>
                    <a:pt x="11121" y="370"/>
                  </a:lnTo>
                  <a:lnTo>
                    <a:pt x="11159" y="428"/>
                  </a:lnTo>
                  <a:lnTo>
                    <a:pt x="11196" y="491"/>
                  </a:lnTo>
                  <a:lnTo>
                    <a:pt x="11229" y="561"/>
                  </a:lnTo>
                  <a:lnTo>
                    <a:pt x="11259" y="637"/>
                  </a:lnTo>
                  <a:lnTo>
                    <a:pt x="11286" y="719"/>
                  </a:lnTo>
                  <a:lnTo>
                    <a:pt x="11308" y="809"/>
                  </a:lnTo>
                  <a:lnTo>
                    <a:pt x="11326" y="906"/>
                  </a:lnTo>
                  <a:lnTo>
                    <a:pt x="11340" y="1010"/>
                  </a:lnTo>
                  <a:lnTo>
                    <a:pt x="11348" y="1121"/>
                  </a:lnTo>
                  <a:lnTo>
                    <a:pt x="11351" y="1240"/>
                  </a:lnTo>
                  <a:lnTo>
                    <a:pt x="11348" y="1359"/>
                  </a:lnTo>
                  <a:lnTo>
                    <a:pt x="11340" y="1470"/>
                  </a:lnTo>
                  <a:lnTo>
                    <a:pt x="11326" y="1574"/>
                  </a:lnTo>
                  <a:lnTo>
                    <a:pt x="11308" y="1671"/>
                  </a:lnTo>
                  <a:lnTo>
                    <a:pt x="11286" y="1761"/>
                  </a:lnTo>
                  <a:lnTo>
                    <a:pt x="11259" y="1843"/>
                  </a:lnTo>
                  <a:lnTo>
                    <a:pt x="11229" y="1919"/>
                  </a:lnTo>
                  <a:lnTo>
                    <a:pt x="11196" y="1989"/>
                  </a:lnTo>
                  <a:lnTo>
                    <a:pt x="11159" y="2052"/>
                  </a:lnTo>
                  <a:lnTo>
                    <a:pt x="11121" y="2110"/>
                  </a:lnTo>
                  <a:lnTo>
                    <a:pt x="11080" y="2162"/>
                  </a:lnTo>
                  <a:lnTo>
                    <a:pt x="11037" y="2210"/>
                  </a:lnTo>
                  <a:lnTo>
                    <a:pt x="10992" y="2252"/>
                  </a:lnTo>
                  <a:lnTo>
                    <a:pt x="10947" y="2291"/>
                  </a:lnTo>
                  <a:lnTo>
                    <a:pt x="10901" y="2324"/>
                  </a:lnTo>
                  <a:lnTo>
                    <a:pt x="10855" y="2353"/>
                  </a:lnTo>
                  <a:lnTo>
                    <a:pt x="10808" y="2378"/>
                  </a:lnTo>
                  <a:lnTo>
                    <a:pt x="10762" y="2400"/>
                  </a:lnTo>
                  <a:lnTo>
                    <a:pt x="10717" y="2418"/>
                  </a:lnTo>
                  <a:lnTo>
                    <a:pt x="10672" y="2434"/>
                  </a:lnTo>
                  <a:lnTo>
                    <a:pt x="10629" y="2447"/>
                  </a:lnTo>
                  <a:lnTo>
                    <a:pt x="10589" y="2457"/>
                  </a:lnTo>
                  <a:lnTo>
                    <a:pt x="10550" y="2464"/>
                  </a:lnTo>
                  <a:lnTo>
                    <a:pt x="10514" y="2471"/>
                  </a:lnTo>
                  <a:lnTo>
                    <a:pt x="10480" y="2475"/>
                  </a:lnTo>
                  <a:lnTo>
                    <a:pt x="10450" y="2478"/>
                  </a:lnTo>
                  <a:lnTo>
                    <a:pt x="10424" y="2479"/>
                  </a:lnTo>
                  <a:lnTo>
                    <a:pt x="10401" y="2480"/>
                  </a:lnTo>
                  <a:lnTo>
                    <a:pt x="10369" y="248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6" name="Freeform 14"/>
            <p:cNvSpPr>
              <a:spLocks/>
            </p:cNvSpPr>
            <p:nvPr/>
          </p:nvSpPr>
          <p:spPr bwMode="auto">
            <a:xfrm>
              <a:off x="1186215" y="4218902"/>
              <a:ext cx="725488" cy="725488"/>
            </a:xfrm>
            <a:custGeom>
              <a:avLst/>
              <a:gdLst>
                <a:gd name="T0" fmla="*/ 244 w 2739"/>
                <a:gd name="T1" fmla="*/ 2739 h 2739"/>
                <a:gd name="T2" fmla="*/ 220 w 2739"/>
                <a:gd name="T3" fmla="*/ 2738 h 2739"/>
                <a:gd name="T4" fmla="*/ 195 w 2739"/>
                <a:gd name="T5" fmla="*/ 2735 h 2739"/>
                <a:gd name="T6" fmla="*/ 171 w 2739"/>
                <a:gd name="T7" fmla="*/ 2729 h 2739"/>
                <a:gd name="T8" fmla="*/ 149 w 2739"/>
                <a:gd name="T9" fmla="*/ 2721 h 2739"/>
                <a:gd name="T10" fmla="*/ 127 w 2739"/>
                <a:gd name="T11" fmla="*/ 2710 h 2739"/>
                <a:gd name="T12" fmla="*/ 108 w 2739"/>
                <a:gd name="T13" fmla="*/ 2699 h 2739"/>
                <a:gd name="T14" fmla="*/ 89 w 2739"/>
                <a:gd name="T15" fmla="*/ 2684 h 2739"/>
                <a:gd name="T16" fmla="*/ 72 w 2739"/>
                <a:gd name="T17" fmla="*/ 2669 h 2739"/>
                <a:gd name="T18" fmla="*/ 56 w 2739"/>
                <a:gd name="T19" fmla="*/ 2650 h 2739"/>
                <a:gd name="T20" fmla="*/ 42 w 2739"/>
                <a:gd name="T21" fmla="*/ 2632 h 2739"/>
                <a:gd name="T22" fmla="*/ 30 w 2739"/>
                <a:gd name="T23" fmla="*/ 2612 h 2739"/>
                <a:gd name="T24" fmla="*/ 19 w 2739"/>
                <a:gd name="T25" fmla="*/ 2591 h 2739"/>
                <a:gd name="T26" fmla="*/ 11 w 2739"/>
                <a:gd name="T27" fmla="*/ 2568 h 2739"/>
                <a:gd name="T28" fmla="*/ 5 w 2739"/>
                <a:gd name="T29" fmla="*/ 2544 h 2739"/>
                <a:gd name="T30" fmla="*/ 1 w 2739"/>
                <a:gd name="T31" fmla="*/ 2521 h 2739"/>
                <a:gd name="T32" fmla="*/ 0 w 2739"/>
                <a:gd name="T33" fmla="*/ 2495 h 2739"/>
                <a:gd name="T34" fmla="*/ 0 w 2739"/>
                <a:gd name="T35" fmla="*/ 232 h 2739"/>
                <a:gd name="T36" fmla="*/ 3 w 2739"/>
                <a:gd name="T37" fmla="*/ 208 h 2739"/>
                <a:gd name="T38" fmla="*/ 7 w 2739"/>
                <a:gd name="T39" fmla="*/ 184 h 2739"/>
                <a:gd name="T40" fmla="*/ 15 w 2739"/>
                <a:gd name="T41" fmla="*/ 160 h 2739"/>
                <a:gd name="T42" fmla="*/ 25 w 2739"/>
                <a:gd name="T43" fmla="*/ 139 h 2739"/>
                <a:gd name="T44" fmla="*/ 35 w 2739"/>
                <a:gd name="T45" fmla="*/ 118 h 2739"/>
                <a:gd name="T46" fmla="*/ 48 w 2739"/>
                <a:gd name="T47" fmla="*/ 98 h 2739"/>
                <a:gd name="T48" fmla="*/ 63 w 2739"/>
                <a:gd name="T49" fmla="*/ 80 h 2739"/>
                <a:gd name="T50" fmla="*/ 80 w 2739"/>
                <a:gd name="T51" fmla="*/ 64 h 2739"/>
                <a:gd name="T52" fmla="*/ 99 w 2739"/>
                <a:gd name="T53" fmla="*/ 49 h 2739"/>
                <a:gd name="T54" fmla="*/ 118 w 2739"/>
                <a:gd name="T55" fmla="*/ 35 h 2739"/>
                <a:gd name="T56" fmla="*/ 138 w 2739"/>
                <a:gd name="T57" fmla="*/ 24 h 2739"/>
                <a:gd name="T58" fmla="*/ 161 w 2739"/>
                <a:gd name="T59" fmla="*/ 15 h 2739"/>
                <a:gd name="T60" fmla="*/ 183 w 2739"/>
                <a:gd name="T61" fmla="*/ 8 h 2739"/>
                <a:gd name="T62" fmla="*/ 208 w 2739"/>
                <a:gd name="T63" fmla="*/ 3 h 2739"/>
                <a:gd name="T64" fmla="*/ 232 w 2739"/>
                <a:gd name="T65" fmla="*/ 1 h 2739"/>
                <a:gd name="T66" fmla="*/ 2739 w 2739"/>
                <a:gd name="T67" fmla="*/ 0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39">
                  <a:moveTo>
                    <a:pt x="2739" y="2739"/>
                  </a:moveTo>
                  <a:lnTo>
                    <a:pt x="244" y="2739"/>
                  </a:lnTo>
                  <a:lnTo>
                    <a:pt x="232" y="2739"/>
                  </a:lnTo>
                  <a:lnTo>
                    <a:pt x="220" y="2738"/>
                  </a:lnTo>
                  <a:lnTo>
                    <a:pt x="208" y="2737"/>
                  </a:lnTo>
                  <a:lnTo>
                    <a:pt x="195" y="2735"/>
                  </a:lnTo>
                  <a:lnTo>
                    <a:pt x="183" y="2732"/>
                  </a:lnTo>
                  <a:lnTo>
                    <a:pt x="171" y="2729"/>
                  </a:lnTo>
                  <a:lnTo>
                    <a:pt x="161" y="2725"/>
                  </a:lnTo>
                  <a:lnTo>
                    <a:pt x="149" y="2721"/>
                  </a:lnTo>
                  <a:lnTo>
                    <a:pt x="138" y="2716"/>
                  </a:lnTo>
                  <a:lnTo>
                    <a:pt x="127" y="2710"/>
                  </a:lnTo>
                  <a:lnTo>
                    <a:pt x="118" y="2704"/>
                  </a:lnTo>
                  <a:lnTo>
                    <a:pt x="108" y="2699"/>
                  </a:lnTo>
                  <a:lnTo>
                    <a:pt x="99" y="2691"/>
                  </a:lnTo>
                  <a:lnTo>
                    <a:pt x="89" y="2684"/>
                  </a:lnTo>
                  <a:lnTo>
                    <a:pt x="80" y="2676"/>
                  </a:lnTo>
                  <a:lnTo>
                    <a:pt x="72" y="2669"/>
                  </a:lnTo>
                  <a:lnTo>
                    <a:pt x="63" y="2660"/>
                  </a:lnTo>
                  <a:lnTo>
                    <a:pt x="56" y="2650"/>
                  </a:lnTo>
                  <a:lnTo>
                    <a:pt x="48" y="2642"/>
                  </a:lnTo>
                  <a:lnTo>
                    <a:pt x="42" y="2632"/>
                  </a:lnTo>
                  <a:lnTo>
                    <a:pt x="35" y="2623"/>
                  </a:lnTo>
                  <a:lnTo>
                    <a:pt x="30" y="2612"/>
                  </a:lnTo>
                  <a:lnTo>
                    <a:pt x="25" y="2601"/>
                  </a:lnTo>
                  <a:lnTo>
                    <a:pt x="19" y="2591"/>
                  </a:lnTo>
                  <a:lnTo>
                    <a:pt x="15" y="2580"/>
                  </a:lnTo>
                  <a:lnTo>
                    <a:pt x="11" y="2568"/>
                  </a:lnTo>
                  <a:lnTo>
                    <a:pt x="7" y="2556"/>
                  </a:lnTo>
                  <a:lnTo>
                    <a:pt x="5" y="2544"/>
                  </a:lnTo>
                  <a:lnTo>
                    <a:pt x="3" y="2533"/>
                  </a:lnTo>
                  <a:lnTo>
                    <a:pt x="1" y="2521"/>
                  </a:lnTo>
                  <a:lnTo>
                    <a:pt x="0" y="2508"/>
                  </a:lnTo>
                  <a:lnTo>
                    <a:pt x="0" y="2495"/>
                  </a:lnTo>
                  <a:lnTo>
                    <a:pt x="0" y="245"/>
                  </a:lnTo>
                  <a:lnTo>
                    <a:pt x="0" y="232"/>
                  </a:lnTo>
                  <a:lnTo>
                    <a:pt x="1" y="219"/>
                  </a:lnTo>
                  <a:lnTo>
                    <a:pt x="3" y="208"/>
                  </a:lnTo>
                  <a:lnTo>
                    <a:pt x="5" y="196"/>
                  </a:lnTo>
                  <a:lnTo>
                    <a:pt x="7" y="184"/>
                  </a:lnTo>
                  <a:lnTo>
                    <a:pt x="11" y="172"/>
                  </a:lnTo>
                  <a:lnTo>
                    <a:pt x="15" y="160"/>
                  </a:lnTo>
                  <a:lnTo>
                    <a:pt x="19" y="150"/>
                  </a:lnTo>
                  <a:lnTo>
                    <a:pt x="25" y="139"/>
                  </a:lnTo>
                  <a:lnTo>
                    <a:pt x="30" y="128"/>
                  </a:lnTo>
                  <a:lnTo>
                    <a:pt x="35" y="118"/>
                  </a:lnTo>
                  <a:lnTo>
                    <a:pt x="42" y="108"/>
                  </a:lnTo>
                  <a:lnTo>
                    <a:pt x="48" y="98"/>
                  </a:lnTo>
                  <a:lnTo>
                    <a:pt x="56" y="90"/>
                  </a:lnTo>
                  <a:lnTo>
                    <a:pt x="63" y="80"/>
                  </a:lnTo>
                  <a:lnTo>
                    <a:pt x="72" y="72"/>
                  </a:lnTo>
                  <a:lnTo>
                    <a:pt x="80" y="64"/>
                  </a:lnTo>
                  <a:lnTo>
                    <a:pt x="89" y="57"/>
                  </a:lnTo>
                  <a:lnTo>
                    <a:pt x="99" y="49"/>
                  </a:lnTo>
                  <a:lnTo>
                    <a:pt x="108" y="42"/>
                  </a:lnTo>
                  <a:lnTo>
                    <a:pt x="118" y="35"/>
                  </a:lnTo>
                  <a:lnTo>
                    <a:pt x="127" y="30"/>
                  </a:lnTo>
                  <a:lnTo>
                    <a:pt x="138" y="24"/>
                  </a:lnTo>
                  <a:lnTo>
                    <a:pt x="149" y="19"/>
                  </a:lnTo>
                  <a:lnTo>
                    <a:pt x="161" y="15"/>
                  </a:lnTo>
                  <a:lnTo>
                    <a:pt x="171" y="12"/>
                  </a:lnTo>
                  <a:lnTo>
                    <a:pt x="183" y="8"/>
                  </a:lnTo>
                  <a:lnTo>
                    <a:pt x="195" y="5"/>
                  </a:lnTo>
                  <a:lnTo>
                    <a:pt x="208" y="3"/>
                  </a:lnTo>
                  <a:lnTo>
                    <a:pt x="220" y="2"/>
                  </a:lnTo>
                  <a:lnTo>
                    <a:pt x="232" y="1"/>
                  </a:lnTo>
                  <a:lnTo>
                    <a:pt x="244" y="0"/>
                  </a:lnTo>
                  <a:lnTo>
                    <a:pt x="2739" y="0"/>
                  </a:lnTo>
                  <a:lnTo>
                    <a:pt x="2739" y="273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7" name="Freeform 15"/>
            <p:cNvSpPr>
              <a:spLocks/>
            </p:cNvSpPr>
            <p:nvPr/>
          </p:nvSpPr>
          <p:spPr bwMode="auto">
            <a:xfrm>
              <a:off x="1238605" y="4271291"/>
              <a:ext cx="620713" cy="620713"/>
            </a:xfrm>
            <a:custGeom>
              <a:avLst/>
              <a:gdLst>
                <a:gd name="T0" fmla="*/ 2342 w 2343"/>
                <a:gd name="T1" fmla="*/ 2125 h 2344"/>
                <a:gd name="T2" fmla="*/ 2336 w 2343"/>
                <a:gd name="T3" fmla="*/ 2161 h 2344"/>
                <a:gd name="T4" fmla="*/ 2324 w 2343"/>
                <a:gd name="T5" fmla="*/ 2194 h 2344"/>
                <a:gd name="T6" fmla="*/ 2308 w 2343"/>
                <a:gd name="T7" fmla="*/ 2226 h 2344"/>
                <a:gd name="T8" fmla="*/ 2287 w 2343"/>
                <a:gd name="T9" fmla="*/ 2255 h 2344"/>
                <a:gd name="T10" fmla="*/ 2264 w 2343"/>
                <a:gd name="T11" fmla="*/ 2281 h 2344"/>
                <a:gd name="T12" fmla="*/ 2236 w 2343"/>
                <a:gd name="T13" fmla="*/ 2303 h 2344"/>
                <a:gd name="T14" fmla="*/ 2205 w 2343"/>
                <a:gd name="T15" fmla="*/ 2320 h 2344"/>
                <a:gd name="T16" fmla="*/ 2172 w 2343"/>
                <a:gd name="T17" fmla="*/ 2334 h 2344"/>
                <a:gd name="T18" fmla="*/ 2136 w 2343"/>
                <a:gd name="T19" fmla="*/ 2341 h 2344"/>
                <a:gd name="T20" fmla="*/ 2099 w 2343"/>
                <a:gd name="T21" fmla="*/ 2344 h 2344"/>
                <a:gd name="T22" fmla="*/ 220 w 2343"/>
                <a:gd name="T23" fmla="*/ 2343 h 2344"/>
                <a:gd name="T24" fmla="*/ 183 w 2343"/>
                <a:gd name="T25" fmla="*/ 2337 h 2344"/>
                <a:gd name="T26" fmla="*/ 149 w 2343"/>
                <a:gd name="T27" fmla="*/ 2325 h 2344"/>
                <a:gd name="T28" fmla="*/ 118 w 2343"/>
                <a:gd name="T29" fmla="*/ 2309 h 2344"/>
                <a:gd name="T30" fmla="*/ 89 w 2343"/>
                <a:gd name="T31" fmla="*/ 2289 h 2344"/>
                <a:gd name="T32" fmla="*/ 63 w 2343"/>
                <a:gd name="T33" fmla="*/ 2264 h 2344"/>
                <a:gd name="T34" fmla="*/ 42 w 2343"/>
                <a:gd name="T35" fmla="*/ 2236 h 2344"/>
                <a:gd name="T36" fmla="*/ 24 w 2343"/>
                <a:gd name="T37" fmla="*/ 2206 h 2344"/>
                <a:gd name="T38" fmla="*/ 11 w 2343"/>
                <a:gd name="T39" fmla="*/ 2172 h 2344"/>
                <a:gd name="T40" fmla="*/ 2 w 2343"/>
                <a:gd name="T41" fmla="*/ 2137 h 2344"/>
                <a:gd name="T42" fmla="*/ 0 w 2343"/>
                <a:gd name="T43" fmla="*/ 2100 h 2344"/>
                <a:gd name="T44" fmla="*/ 1 w 2343"/>
                <a:gd name="T45" fmla="*/ 219 h 2344"/>
                <a:gd name="T46" fmla="*/ 8 w 2343"/>
                <a:gd name="T47" fmla="*/ 183 h 2344"/>
                <a:gd name="T48" fmla="*/ 19 w 2343"/>
                <a:gd name="T49" fmla="*/ 150 h 2344"/>
                <a:gd name="T50" fmla="*/ 35 w 2343"/>
                <a:gd name="T51" fmla="*/ 118 h 2344"/>
                <a:gd name="T52" fmla="*/ 56 w 2343"/>
                <a:gd name="T53" fmla="*/ 89 h 2344"/>
                <a:gd name="T54" fmla="*/ 79 w 2343"/>
                <a:gd name="T55" fmla="*/ 63 h 2344"/>
                <a:gd name="T56" fmla="*/ 107 w 2343"/>
                <a:gd name="T57" fmla="*/ 42 h 2344"/>
                <a:gd name="T58" fmla="*/ 138 w 2343"/>
                <a:gd name="T59" fmla="*/ 25 h 2344"/>
                <a:gd name="T60" fmla="*/ 171 w 2343"/>
                <a:gd name="T61" fmla="*/ 11 h 2344"/>
                <a:gd name="T62" fmla="*/ 207 w 2343"/>
                <a:gd name="T63" fmla="*/ 3 h 2344"/>
                <a:gd name="T64" fmla="*/ 244 w 2343"/>
                <a:gd name="T65" fmla="*/ 0 h 2344"/>
                <a:gd name="T66" fmla="*/ 2124 w 2343"/>
                <a:gd name="T67" fmla="*/ 1 h 2344"/>
                <a:gd name="T68" fmla="*/ 2160 w 2343"/>
                <a:gd name="T69" fmla="*/ 7 h 2344"/>
                <a:gd name="T70" fmla="*/ 2194 w 2343"/>
                <a:gd name="T71" fmla="*/ 19 h 2344"/>
                <a:gd name="T72" fmla="*/ 2225 w 2343"/>
                <a:gd name="T73" fmla="*/ 35 h 2344"/>
                <a:gd name="T74" fmla="*/ 2254 w 2343"/>
                <a:gd name="T75" fmla="*/ 56 h 2344"/>
                <a:gd name="T76" fmla="*/ 2280 w 2343"/>
                <a:gd name="T77" fmla="*/ 80 h 2344"/>
                <a:gd name="T78" fmla="*/ 2301 w 2343"/>
                <a:gd name="T79" fmla="*/ 108 h 2344"/>
                <a:gd name="T80" fmla="*/ 2320 w 2343"/>
                <a:gd name="T81" fmla="*/ 138 h 2344"/>
                <a:gd name="T82" fmla="*/ 2332 w 2343"/>
                <a:gd name="T83" fmla="*/ 171 h 2344"/>
                <a:gd name="T84" fmla="*/ 2341 w 2343"/>
                <a:gd name="T85" fmla="*/ 208 h 2344"/>
                <a:gd name="T86" fmla="*/ 2343 w 2343"/>
                <a:gd name="T87" fmla="*/ 244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4">
                  <a:moveTo>
                    <a:pt x="2343" y="2100"/>
                  </a:moveTo>
                  <a:lnTo>
                    <a:pt x="2343" y="2112"/>
                  </a:lnTo>
                  <a:lnTo>
                    <a:pt x="2342" y="2125"/>
                  </a:lnTo>
                  <a:lnTo>
                    <a:pt x="2341" y="2137"/>
                  </a:lnTo>
                  <a:lnTo>
                    <a:pt x="2339" y="2149"/>
                  </a:lnTo>
                  <a:lnTo>
                    <a:pt x="2336" y="2161"/>
                  </a:lnTo>
                  <a:lnTo>
                    <a:pt x="2332" y="2172"/>
                  </a:lnTo>
                  <a:lnTo>
                    <a:pt x="2329" y="2184"/>
                  </a:lnTo>
                  <a:lnTo>
                    <a:pt x="2324" y="2194"/>
                  </a:lnTo>
                  <a:lnTo>
                    <a:pt x="2320" y="2206"/>
                  </a:lnTo>
                  <a:lnTo>
                    <a:pt x="2314" y="2216"/>
                  </a:lnTo>
                  <a:lnTo>
                    <a:pt x="2308" y="2226"/>
                  </a:lnTo>
                  <a:lnTo>
                    <a:pt x="2301" y="2236"/>
                  </a:lnTo>
                  <a:lnTo>
                    <a:pt x="2295" y="2246"/>
                  </a:lnTo>
                  <a:lnTo>
                    <a:pt x="2287" y="2255"/>
                  </a:lnTo>
                  <a:lnTo>
                    <a:pt x="2280" y="2264"/>
                  </a:lnTo>
                  <a:lnTo>
                    <a:pt x="2272" y="2273"/>
                  </a:lnTo>
                  <a:lnTo>
                    <a:pt x="2264" y="2281"/>
                  </a:lnTo>
                  <a:lnTo>
                    <a:pt x="2254" y="2289"/>
                  </a:lnTo>
                  <a:lnTo>
                    <a:pt x="2246" y="2296"/>
                  </a:lnTo>
                  <a:lnTo>
                    <a:pt x="2236" y="2303"/>
                  </a:lnTo>
                  <a:lnTo>
                    <a:pt x="2225" y="2309"/>
                  </a:lnTo>
                  <a:lnTo>
                    <a:pt x="2216" y="2314"/>
                  </a:lnTo>
                  <a:lnTo>
                    <a:pt x="2205" y="2320"/>
                  </a:lnTo>
                  <a:lnTo>
                    <a:pt x="2194" y="2325"/>
                  </a:lnTo>
                  <a:lnTo>
                    <a:pt x="2184" y="2329"/>
                  </a:lnTo>
                  <a:lnTo>
                    <a:pt x="2172" y="2334"/>
                  </a:lnTo>
                  <a:lnTo>
                    <a:pt x="2160" y="2337"/>
                  </a:lnTo>
                  <a:lnTo>
                    <a:pt x="2148" y="2339"/>
                  </a:lnTo>
                  <a:lnTo>
                    <a:pt x="2136" y="2341"/>
                  </a:lnTo>
                  <a:lnTo>
                    <a:pt x="2124" y="2343"/>
                  </a:lnTo>
                  <a:lnTo>
                    <a:pt x="2112" y="2344"/>
                  </a:lnTo>
                  <a:lnTo>
                    <a:pt x="2099" y="2344"/>
                  </a:lnTo>
                  <a:lnTo>
                    <a:pt x="244" y="2344"/>
                  </a:lnTo>
                  <a:lnTo>
                    <a:pt x="231" y="2344"/>
                  </a:lnTo>
                  <a:lnTo>
                    <a:pt x="220" y="2343"/>
                  </a:lnTo>
                  <a:lnTo>
                    <a:pt x="207" y="2341"/>
                  </a:lnTo>
                  <a:lnTo>
                    <a:pt x="195" y="2339"/>
                  </a:lnTo>
                  <a:lnTo>
                    <a:pt x="183" y="2337"/>
                  </a:lnTo>
                  <a:lnTo>
                    <a:pt x="171" y="2334"/>
                  </a:lnTo>
                  <a:lnTo>
                    <a:pt x="160" y="2329"/>
                  </a:lnTo>
                  <a:lnTo>
                    <a:pt x="149" y="2325"/>
                  </a:lnTo>
                  <a:lnTo>
                    <a:pt x="138" y="2320"/>
                  </a:lnTo>
                  <a:lnTo>
                    <a:pt x="128" y="2314"/>
                  </a:lnTo>
                  <a:lnTo>
                    <a:pt x="118" y="2309"/>
                  </a:lnTo>
                  <a:lnTo>
                    <a:pt x="107" y="2303"/>
                  </a:lnTo>
                  <a:lnTo>
                    <a:pt x="98" y="2296"/>
                  </a:lnTo>
                  <a:lnTo>
                    <a:pt x="89" y="2289"/>
                  </a:lnTo>
                  <a:lnTo>
                    <a:pt x="79" y="2281"/>
                  </a:lnTo>
                  <a:lnTo>
                    <a:pt x="72" y="2273"/>
                  </a:lnTo>
                  <a:lnTo>
                    <a:pt x="63" y="2264"/>
                  </a:lnTo>
                  <a:lnTo>
                    <a:pt x="56" y="2255"/>
                  </a:lnTo>
                  <a:lnTo>
                    <a:pt x="48" y="2246"/>
                  </a:lnTo>
                  <a:lnTo>
                    <a:pt x="42" y="2236"/>
                  </a:lnTo>
                  <a:lnTo>
                    <a:pt x="35" y="2226"/>
                  </a:lnTo>
                  <a:lnTo>
                    <a:pt x="29" y="2216"/>
                  </a:lnTo>
                  <a:lnTo>
                    <a:pt x="24" y="2206"/>
                  </a:lnTo>
                  <a:lnTo>
                    <a:pt x="19" y="2194"/>
                  </a:lnTo>
                  <a:lnTo>
                    <a:pt x="14" y="2184"/>
                  </a:lnTo>
                  <a:lnTo>
                    <a:pt x="11" y="2172"/>
                  </a:lnTo>
                  <a:lnTo>
                    <a:pt x="8" y="2161"/>
                  </a:lnTo>
                  <a:lnTo>
                    <a:pt x="4" y="2149"/>
                  </a:lnTo>
                  <a:lnTo>
                    <a:pt x="2" y="2137"/>
                  </a:lnTo>
                  <a:lnTo>
                    <a:pt x="1" y="2125"/>
                  </a:lnTo>
                  <a:lnTo>
                    <a:pt x="0" y="2112"/>
                  </a:lnTo>
                  <a:lnTo>
                    <a:pt x="0" y="2100"/>
                  </a:lnTo>
                  <a:lnTo>
                    <a:pt x="0" y="244"/>
                  </a:lnTo>
                  <a:lnTo>
                    <a:pt x="0" y="232"/>
                  </a:lnTo>
                  <a:lnTo>
                    <a:pt x="1" y="219"/>
                  </a:lnTo>
                  <a:lnTo>
                    <a:pt x="2" y="208"/>
                  </a:lnTo>
                  <a:lnTo>
                    <a:pt x="4" y="195"/>
                  </a:lnTo>
                  <a:lnTo>
                    <a:pt x="8" y="183"/>
                  </a:lnTo>
                  <a:lnTo>
                    <a:pt x="11" y="171"/>
                  </a:lnTo>
                  <a:lnTo>
                    <a:pt x="14" y="161"/>
                  </a:lnTo>
                  <a:lnTo>
                    <a:pt x="19" y="150"/>
                  </a:lnTo>
                  <a:lnTo>
                    <a:pt x="24" y="138"/>
                  </a:lnTo>
                  <a:lnTo>
                    <a:pt x="29" y="128"/>
                  </a:lnTo>
                  <a:lnTo>
                    <a:pt x="35" y="118"/>
                  </a:lnTo>
                  <a:lnTo>
                    <a:pt x="42" y="108"/>
                  </a:lnTo>
                  <a:lnTo>
                    <a:pt x="48" y="98"/>
                  </a:lnTo>
                  <a:lnTo>
                    <a:pt x="56" y="89"/>
                  </a:lnTo>
                  <a:lnTo>
                    <a:pt x="63" y="80"/>
                  </a:lnTo>
                  <a:lnTo>
                    <a:pt x="72" y="72"/>
                  </a:lnTo>
                  <a:lnTo>
                    <a:pt x="79" y="63"/>
                  </a:lnTo>
                  <a:lnTo>
                    <a:pt x="89" y="56"/>
                  </a:lnTo>
                  <a:lnTo>
                    <a:pt x="98" y="48"/>
                  </a:lnTo>
                  <a:lnTo>
                    <a:pt x="107" y="42"/>
                  </a:lnTo>
                  <a:lnTo>
                    <a:pt x="118" y="35"/>
                  </a:lnTo>
                  <a:lnTo>
                    <a:pt x="128" y="30"/>
                  </a:lnTo>
                  <a:lnTo>
                    <a:pt x="138" y="25"/>
                  </a:lnTo>
                  <a:lnTo>
                    <a:pt x="149" y="19"/>
                  </a:lnTo>
                  <a:lnTo>
                    <a:pt x="160" y="15"/>
                  </a:lnTo>
                  <a:lnTo>
                    <a:pt x="171" y="11"/>
                  </a:lnTo>
                  <a:lnTo>
                    <a:pt x="183" y="7"/>
                  </a:lnTo>
                  <a:lnTo>
                    <a:pt x="195" y="5"/>
                  </a:lnTo>
                  <a:lnTo>
                    <a:pt x="207" y="3"/>
                  </a:lnTo>
                  <a:lnTo>
                    <a:pt x="220" y="1"/>
                  </a:lnTo>
                  <a:lnTo>
                    <a:pt x="231" y="0"/>
                  </a:lnTo>
                  <a:lnTo>
                    <a:pt x="244" y="0"/>
                  </a:lnTo>
                  <a:lnTo>
                    <a:pt x="2099" y="0"/>
                  </a:lnTo>
                  <a:lnTo>
                    <a:pt x="2112" y="0"/>
                  </a:lnTo>
                  <a:lnTo>
                    <a:pt x="2124" y="1"/>
                  </a:lnTo>
                  <a:lnTo>
                    <a:pt x="2136" y="3"/>
                  </a:lnTo>
                  <a:lnTo>
                    <a:pt x="2148" y="5"/>
                  </a:lnTo>
                  <a:lnTo>
                    <a:pt x="2160" y="7"/>
                  </a:lnTo>
                  <a:lnTo>
                    <a:pt x="2172" y="11"/>
                  </a:lnTo>
                  <a:lnTo>
                    <a:pt x="2184" y="15"/>
                  </a:lnTo>
                  <a:lnTo>
                    <a:pt x="2194" y="19"/>
                  </a:lnTo>
                  <a:lnTo>
                    <a:pt x="2205" y="25"/>
                  </a:lnTo>
                  <a:lnTo>
                    <a:pt x="2216" y="30"/>
                  </a:lnTo>
                  <a:lnTo>
                    <a:pt x="2225" y="35"/>
                  </a:lnTo>
                  <a:lnTo>
                    <a:pt x="2236" y="42"/>
                  </a:lnTo>
                  <a:lnTo>
                    <a:pt x="2246" y="48"/>
                  </a:lnTo>
                  <a:lnTo>
                    <a:pt x="2254" y="56"/>
                  </a:lnTo>
                  <a:lnTo>
                    <a:pt x="2264" y="63"/>
                  </a:lnTo>
                  <a:lnTo>
                    <a:pt x="2272" y="72"/>
                  </a:lnTo>
                  <a:lnTo>
                    <a:pt x="2280" y="80"/>
                  </a:lnTo>
                  <a:lnTo>
                    <a:pt x="2287" y="89"/>
                  </a:lnTo>
                  <a:lnTo>
                    <a:pt x="2295" y="98"/>
                  </a:lnTo>
                  <a:lnTo>
                    <a:pt x="2301" y="108"/>
                  </a:lnTo>
                  <a:lnTo>
                    <a:pt x="2308" y="118"/>
                  </a:lnTo>
                  <a:lnTo>
                    <a:pt x="2314" y="128"/>
                  </a:lnTo>
                  <a:lnTo>
                    <a:pt x="2320" y="138"/>
                  </a:lnTo>
                  <a:lnTo>
                    <a:pt x="2324" y="150"/>
                  </a:lnTo>
                  <a:lnTo>
                    <a:pt x="2329" y="161"/>
                  </a:lnTo>
                  <a:lnTo>
                    <a:pt x="2332" y="171"/>
                  </a:lnTo>
                  <a:lnTo>
                    <a:pt x="2336" y="183"/>
                  </a:lnTo>
                  <a:lnTo>
                    <a:pt x="2339" y="195"/>
                  </a:lnTo>
                  <a:lnTo>
                    <a:pt x="2341" y="208"/>
                  </a:lnTo>
                  <a:lnTo>
                    <a:pt x="2342" y="219"/>
                  </a:lnTo>
                  <a:lnTo>
                    <a:pt x="2343" y="232"/>
                  </a:lnTo>
                  <a:lnTo>
                    <a:pt x="2343" y="244"/>
                  </a:lnTo>
                  <a:lnTo>
                    <a:pt x="2343" y="21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8" name="Freeform 16"/>
            <p:cNvSpPr>
              <a:spLocks/>
            </p:cNvSpPr>
            <p:nvPr/>
          </p:nvSpPr>
          <p:spPr bwMode="auto">
            <a:xfrm>
              <a:off x="2165703" y="4163339"/>
              <a:ext cx="3003550" cy="655638"/>
            </a:xfrm>
            <a:custGeom>
              <a:avLst/>
              <a:gdLst>
                <a:gd name="T0" fmla="*/ 11351 w 11351"/>
                <a:gd name="T1" fmla="*/ 2476 h 2476"/>
                <a:gd name="T2" fmla="*/ 0 w 11351"/>
                <a:gd name="T3" fmla="*/ 2476 h 2476"/>
                <a:gd name="T4" fmla="*/ 0 w 11351"/>
                <a:gd name="T5" fmla="*/ 0 h 2476"/>
                <a:gd name="T6" fmla="*/ 11351 w 11351"/>
                <a:gd name="T7" fmla="*/ 0 h 2476"/>
                <a:gd name="T8" fmla="*/ 10782 w 11351"/>
                <a:gd name="T9" fmla="*/ 528 h 2476"/>
                <a:gd name="T10" fmla="*/ 11351 w 11351"/>
                <a:gd name="T11" fmla="*/ 1238 h 2476"/>
                <a:gd name="T12" fmla="*/ 10834 w 11351"/>
                <a:gd name="T13" fmla="*/ 1884 h 2476"/>
                <a:gd name="T14" fmla="*/ 11351 w 11351"/>
                <a:gd name="T15" fmla="*/ 2476 h 2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51" h="2476">
                  <a:moveTo>
                    <a:pt x="11351" y="2476"/>
                  </a:moveTo>
                  <a:lnTo>
                    <a:pt x="0" y="2476"/>
                  </a:lnTo>
                  <a:lnTo>
                    <a:pt x="0" y="0"/>
                  </a:lnTo>
                  <a:lnTo>
                    <a:pt x="11351" y="0"/>
                  </a:lnTo>
                  <a:lnTo>
                    <a:pt x="10782" y="528"/>
                  </a:lnTo>
                  <a:lnTo>
                    <a:pt x="11351" y="1238"/>
                  </a:lnTo>
                  <a:lnTo>
                    <a:pt x="10834" y="1884"/>
                  </a:lnTo>
                  <a:lnTo>
                    <a:pt x="11351" y="2476"/>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9" name="Freeform 17"/>
            <p:cNvSpPr>
              <a:spLocks/>
            </p:cNvSpPr>
            <p:nvPr/>
          </p:nvSpPr>
          <p:spPr bwMode="auto">
            <a:xfrm>
              <a:off x="1186215" y="5171402"/>
              <a:ext cx="725488" cy="725488"/>
            </a:xfrm>
            <a:custGeom>
              <a:avLst/>
              <a:gdLst>
                <a:gd name="T0" fmla="*/ 244 w 2739"/>
                <a:gd name="T1" fmla="*/ 2740 h 2740"/>
                <a:gd name="T2" fmla="*/ 220 w 2739"/>
                <a:gd name="T3" fmla="*/ 2739 h 2740"/>
                <a:gd name="T4" fmla="*/ 195 w 2739"/>
                <a:gd name="T5" fmla="*/ 2735 h 2740"/>
                <a:gd name="T6" fmla="*/ 171 w 2739"/>
                <a:gd name="T7" fmla="*/ 2729 h 2740"/>
                <a:gd name="T8" fmla="*/ 149 w 2739"/>
                <a:gd name="T9" fmla="*/ 2721 h 2740"/>
                <a:gd name="T10" fmla="*/ 127 w 2739"/>
                <a:gd name="T11" fmla="*/ 2710 h 2740"/>
                <a:gd name="T12" fmla="*/ 108 w 2739"/>
                <a:gd name="T13" fmla="*/ 2698 h 2740"/>
                <a:gd name="T14" fmla="*/ 89 w 2739"/>
                <a:gd name="T15" fmla="*/ 2684 h 2740"/>
                <a:gd name="T16" fmla="*/ 72 w 2739"/>
                <a:gd name="T17" fmla="*/ 2668 h 2740"/>
                <a:gd name="T18" fmla="*/ 56 w 2739"/>
                <a:gd name="T19" fmla="*/ 2651 h 2740"/>
                <a:gd name="T20" fmla="*/ 42 w 2739"/>
                <a:gd name="T21" fmla="*/ 2632 h 2740"/>
                <a:gd name="T22" fmla="*/ 30 w 2739"/>
                <a:gd name="T23" fmla="*/ 2613 h 2740"/>
                <a:gd name="T24" fmla="*/ 19 w 2739"/>
                <a:gd name="T25" fmla="*/ 2591 h 2740"/>
                <a:gd name="T26" fmla="*/ 11 w 2739"/>
                <a:gd name="T27" fmla="*/ 2569 h 2740"/>
                <a:gd name="T28" fmla="*/ 5 w 2739"/>
                <a:gd name="T29" fmla="*/ 2545 h 2740"/>
                <a:gd name="T30" fmla="*/ 1 w 2739"/>
                <a:gd name="T31" fmla="*/ 2520 h 2740"/>
                <a:gd name="T32" fmla="*/ 0 w 2739"/>
                <a:gd name="T33" fmla="*/ 2496 h 2740"/>
                <a:gd name="T34" fmla="*/ 0 w 2739"/>
                <a:gd name="T35" fmla="*/ 232 h 2740"/>
                <a:gd name="T36" fmla="*/ 3 w 2739"/>
                <a:gd name="T37" fmla="*/ 207 h 2740"/>
                <a:gd name="T38" fmla="*/ 7 w 2739"/>
                <a:gd name="T39" fmla="*/ 184 h 2740"/>
                <a:gd name="T40" fmla="*/ 15 w 2739"/>
                <a:gd name="T41" fmla="*/ 161 h 2740"/>
                <a:gd name="T42" fmla="*/ 25 w 2739"/>
                <a:gd name="T43" fmla="*/ 139 h 2740"/>
                <a:gd name="T44" fmla="*/ 35 w 2739"/>
                <a:gd name="T45" fmla="*/ 118 h 2740"/>
                <a:gd name="T46" fmla="*/ 48 w 2739"/>
                <a:gd name="T47" fmla="*/ 99 h 2740"/>
                <a:gd name="T48" fmla="*/ 63 w 2739"/>
                <a:gd name="T49" fmla="*/ 81 h 2740"/>
                <a:gd name="T50" fmla="*/ 80 w 2739"/>
                <a:gd name="T51" fmla="*/ 64 h 2740"/>
                <a:gd name="T52" fmla="*/ 99 w 2739"/>
                <a:gd name="T53" fmla="*/ 49 h 2740"/>
                <a:gd name="T54" fmla="*/ 118 w 2739"/>
                <a:gd name="T55" fmla="*/ 36 h 2740"/>
                <a:gd name="T56" fmla="*/ 138 w 2739"/>
                <a:gd name="T57" fmla="*/ 24 h 2740"/>
                <a:gd name="T58" fmla="*/ 161 w 2739"/>
                <a:gd name="T59" fmla="*/ 15 h 2740"/>
                <a:gd name="T60" fmla="*/ 183 w 2739"/>
                <a:gd name="T61" fmla="*/ 8 h 2740"/>
                <a:gd name="T62" fmla="*/ 208 w 2739"/>
                <a:gd name="T63" fmla="*/ 4 h 2740"/>
                <a:gd name="T64" fmla="*/ 232 w 2739"/>
                <a:gd name="T65" fmla="*/ 0 h 2740"/>
                <a:gd name="T66" fmla="*/ 2739 w 2739"/>
                <a:gd name="T67" fmla="*/ 0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39" h="2740">
                  <a:moveTo>
                    <a:pt x="2739" y="2740"/>
                  </a:moveTo>
                  <a:lnTo>
                    <a:pt x="244" y="2740"/>
                  </a:lnTo>
                  <a:lnTo>
                    <a:pt x="232" y="2740"/>
                  </a:lnTo>
                  <a:lnTo>
                    <a:pt x="220" y="2739"/>
                  </a:lnTo>
                  <a:lnTo>
                    <a:pt x="208" y="2737"/>
                  </a:lnTo>
                  <a:lnTo>
                    <a:pt x="195" y="2735"/>
                  </a:lnTo>
                  <a:lnTo>
                    <a:pt x="183" y="2733"/>
                  </a:lnTo>
                  <a:lnTo>
                    <a:pt x="171" y="2729"/>
                  </a:lnTo>
                  <a:lnTo>
                    <a:pt x="161" y="2725"/>
                  </a:lnTo>
                  <a:lnTo>
                    <a:pt x="149" y="2721"/>
                  </a:lnTo>
                  <a:lnTo>
                    <a:pt x="138" y="2715"/>
                  </a:lnTo>
                  <a:lnTo>
                    <a:pt x="127" y="2710"/>
                  </a:lnTo>
                  <a:lnTo>
                    <a:pt x="118" y="2705"/>
                  </a:lnTo>
                  <a:lnTo>
                    <a:pt x="108" y="2698"/>
                  </a:lnTo>
                  <a:lnTo>
                    <a:pt x="99" y="2692"/>
                  </a:lnTo>
                  <a:lnTo>
                    <a:pt x="89" y="2684"/>
                  </a:lnTo>
                  <a:lnTo>
                    <a:pt x="80" y="2677"/>
                  </a:lnTo>
                  <a:lnTo>
                    <a:pt x="72" y="2668"/>
                  </a:lnTo>
                  <a:lnTo>
                    <a:pt x="63" y="2660"/>
                  </a:lnTo>
                  <a:lnTo>
                    <a:pt x="56" y="2651"/>
                  </a:lnTo>
                  <a:lnTo>
                    <a:pt x="48" y="2641"/>
                  </a:lnTo>
                  <a:lnTo>
                    <a:pt x="42" y="2632"/>
                  </a:lnTo>
                  <a:lnTo>
                    <a:pt x="35" y="2622"/>
                  </a:lnTo>
                  <a:lnTo>
                    <a:pt x="30" y="2613"/>
                  </a:lnTo>
                  <a:lnTo>
                    <a:pt x="25" y="2602"/>
                  </a:lnTo>
                  <a:lnTo>
                    <a:pt x="19" y="2591"/>
                  </a:lnTo>
                  <a:lnTo>
                    <a:pt x="15" y="2579"/>
                  </a:lnTo>
                  <a:lnTo>
                    <a:pt x="11" y="2569"/>
                  </a:lnTo>
                  <a:lnTo>
                    <a:pt x="7" y="2557"/>
                  </a:lnTo>
                  <a:lnTo>
                    <a:pt x="5" y="2545"/>
                  </a:lnTo>
                  <a:lnTo>
                    <a:pt x="3" y="2532"/>
                  </a:lnTo>
                  <a:lnTo>
                    <a:pt x="1" y="2520"/>
                  </a:lnTo>
                  <a:lnTo>
                    <a:pt x="0" y="2508"/>
                  </a:lnTo>
                  <a:lnTo>
                    <a:pt x="0" y="2496"/>
                  </a:lnTo>
                  <a:lnTo>
                    <a:pt x="0" y="245"/>
                  </a:lnTo>
                  <a:lnTo>
                    <a:pt x="0" y="232"/>
                  </a:lnTo>
                  <a:lnTo>
                    <a:pt x="1" y="220"/>
                  </a:lnTo>
                  <a:lnTo>
                    <a:pt x="3" y="207"/>
                  </a:lnTo>
                  <a:lnTo>
                    <a:pt x="5" y="195"/>
                  </a:lnTo>
                  <a:lnTo>
                    <a:pt x="7" y="184"/>
                  </a:lnTo>
                  <a:lnTo>
                    <a:pt x="11" y="172"/>
                  </a:lnTo>
                  <a:lnTo>
                    <a:pt x="15" y="161"/>
                  </a:lnTo>
                  <a:lnTo>
                    <a:pt x="19" y="149"/>
                  </a:lnTo>
                  <a:lnTo>
                    <a:pt x="25" y="139"/>
                  </a:lnTo>
                  <a:lnTo>
                    <a:pt x="30" y="128"/>
                  </a:lnTo>
                  <a:lnTo>
                    <a:pt x="35" y="118"/>
                  </a:lnTo>
                  <a:lnTo>
                    <a:pt x="42" y="109"/>
                  </a:lnTo>
                  <a:lnTo>
                    <a:pt x="48" y="99"/>
                  </a:lnTo>
                  <a:lnTo>
                    <a:pt x="56" y="89"/>
                  </a:lnTo>
                  <a:lnTo>
                    <a:pt x="63" y="81"/>
                  </a:lnTo>
                  <a:lnTo>
                    <a:pt x="72" y="72"/>
                  </a:lnTo>
                  <a:lnTo>
                    <a:pt x="80" y="64"/>
                  </a:lnTo>
                  <a:lnTo>
                    <a:pt x="89" y="56"/>
                  </a:lnTo>
                  <a:lnTo>
                    <a:pt x="99" y="49"/>
                  </a:lnTo>
                  <a:lnTo>
                    <a:pt x="108" y="42"/>
                  </a:lnTo>
                  <a:lnTo>
                    <a:pt x="118" y="36"/>
                  </a:lnTo>
                  <a:lnTo>
                    <a:pt x="127" y="29"/>
                  </a:lnTo>
                  <a:lnTo>
                    <a:pt x="138" y="24"/>
                  </a:lnTo>
                  <a:lnTo>
                    <a:pt x="149" y="20"/>
                  </a:lnTo>
                  <a:lnTo>
                    <a:pt x="161" y="15"/>
                  </a:lnTo>
                  <a:lnTo>
                    <a:pt x="171" y="11"/>
                  </a:lnTo>
                  <a:lnTo>
                    <a:pt x="183" y="8"/>
                  </a:lnTo>
                  <a:lnTo>
                    <a:pt x="195" y="6"/>
                  </a:lnTo>
                  <a:lnTo>
                    <a:pt x="208" y="4"/>
                  </a:lnTo>
                  <a:lnTo>
                    <a:pt x="220" y="1"/>
                  </a:lnTo>
                  <a:lnTo>
                    <a:pt x="232" y="0"/>
                  </a:lnTo>
                  <a:lnTo>
                    <a:pt x="244" y="0"/>
                  </a:lnTo>
                  <a:lnTo>
                    <a:pt x="2739" y="0"/>
                  </a:lnTo>
                  <a:lnTo>
                    <a:pt x="2739" y="274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1" name="Freeform 18"/>
            <p:cNvSpPr>
              <a:spLocks/>
            </p:cNvSpPr>
            <p:nvPr/>
          </p:nvSpPr>
          <p:spPr bwMode="auto">
            <a:xfrm>
              <a:off x="1238605" y="5223791"/>
              <a:ext cx="620713" cy="620713"/>
            </a:xfrm>
            <a:custGeom>
              <a:avLst/>
              <a:gdLst>
                <a:gd name="T0" fmla="*/ 2342 w 2343"/>
                <a:gd name="T1" fmla="*/ 2123 h 2343"/>
                <a:gd name="T2" fmla="*/ 2336 w 2343"/>
                <a:gd name="T3" fmla="*/ 2160 h 2343"/>
                <a:gd name="T4" fmla="*/ 2324 w 2343"/>
                <a:gd name="T5" fmla="*/ 2194 h 2343"/>
                <a:gd name="T6" fmla="*/ 2308 w 2343"/>
                <a:gd name="T7" fmla="*/ 2225 h 2343"/>
                <a:gd name="T8" fmla="*/ 2287 w 2343"/>
                <a:gd name="T9" fmla="*/ 2254 h 2343"/>
                <a:gd name="T10" fmla="*/ 2264 w 2343"/>
                <a:gd name="T11" fmla="*/ 2280 h 2343"/>
                <a:gd name="T12" fmla="*/ 2236 w 2343"/>
                <a:gd name="T13" fmla="*/ 2301 h 2343"/>
                <a:gd name="T14" fmla="*/ 2205 w 2343"/>
                <a:gd name="T15" fmla="*/ 2319 h 2343"/>
                <a:gd name="T16" fmla="*/ 2172 w 2343"/>
                <a:gd name="T17" fmla="*/ 2332 h 2343"/>
                <a:gd name="T18" fmla="*/ 2136 w 2343"/>
                <a:gd name="T19" fmla="*/ 2341 h 2343"/>
                <a:gd name="T20" fmla="*/ 2099 w 2343"/>
                <a:gd name="T21" fmla="*/ 2343 h 2343"/>
                <a:gd name="T22" fmla="*/ 220 w 2343"/>
                <a:gd name="T23" fmla="*/ 2342 h 2343"/>
                <a:gd name="T24" fmla="*/ 183 w 2343"/>
                <a:gd name="T25" fmla="*/ 2335 h 2343"/>
                <a:gd name="T26" fmla="*/ 149 w 2343"/>
                <a:gd name="T27" fmla="*/ 2324 h 2343"/>
                <a:gd name="T28" fmla="*/ 118 w 2343"/>
                <a:gd name="T29" fmla="*/ 2308 h 2343"/>
                <a:gd name="T30" fmla="*/ 89 w 2343"/>
                <a:gd name="T31" fmla="*/ 2287 h 2343"/>
                <a:gd name="T32" fmla="*/ 63 w 2343"/>
                <a:gd name="T33" fmla="*/ 2264 h 2343"/>
                <a:gd name="T34" fmla="*/ 42 w 2343"/>
                <a:gd name="T35" fmla="*/ 2236 h 2343"/>
                <a:gd name="T36" fmla="*/ 24 w 2343"/>
                <a:gd name="T37" fmla="*/ 2205 h 2343"/>
                <a:gd name="T38" fmla="*/ 11 w 2343"/>
                <a:gd name="T39" fmla="*/ 2172 h 2343"/>
                <a:gd name="T40" fmla="*/ 2 w 2343"/>
                <a:gd name="T41" fmla="*/ 2136 h 2343"/>
                <a:gd name="T42" fmla="*/ 0 w 2343"/>
                <a:gd name="T43" fmla="*/ 2099 h 2343"/>
                <a:gd name="T44" fmla="*/ 1 w 2343"/>
                <a:gd name="T45" fmla="*/ 219 h 2343"/>
                <a:gd name="T46" fmla="*/ 8 w 2343"/>
                <a:gd name="T47" fmla="*/ 183 h 2343"/>
                <a:gd name="T48" fmla="*/ 19 w 2343"/>
                <a:gd name="T49" fmla="*/ 148 h 2343"/>
                <a:gd name="T50" fmla="*/ 35 w 2343"/>
                <a:gd name="T51" fmla="*/ 117 h 2343"/>
                <a:gd name="T52" fmla="*/ 56 w 2343"/>
                <a:gd name="T53" fmla="*/ 88 h 2343"/>
                <a:gd name="T54" fmla="*/ 79 w 2343"/>
                <a:gd name="T55" fmla="*/ 63 h 2343"/>
                <a:gd name="T56" fmla="*/ 107 w 2343"/>
                <a:gd name="T57" fmla="*/ 41 h 2343"/>
                <a:gd name="T58" fmla="*/ 138 w 2343"/>
                <a:gd name="T59" fmla="*/ 23 h 2343"/>
                <a:gd name="T60" fmla="*/ 171 w 2343"/>
                <a:gd name="T61" fmla="*/ 10 h 2343"/>
                <a:gd name="T62" fmla="*/ 207 w 2343"/>
                <a:gd name="T63" fmla="*/ 2 h 2343"/>
                <a:gd name="T64" fmla="*/ 244 w 2343"/>
                <a:gd name="T65" fmla="*/ 0 h 2343"/>
                <a:gd name="T66" fmla="*/ 2124 w 2343"/>
                <a:gd name="T67" fmla="*/ 1 h 2343"/>
                <a:gd name="T68" fmla="*/ 2160 w 2343"/>
                <a:gd name="T69" fmla="*/ 7 h 2343"/>
                <a:gd name="T70" fmla="*/ 2194 w 2343"/>
                <a:gd name="T71" fmla="*/ 19 h 2343"/>
                <a:gd name="T72" fmla="*/ 2225 w 2343"/>
                <a:gd name="T73" fmla="*/ 35 h 2343"/>
                <a:gd name="T74" fmla="*/ 2254 w 2343"/>
                <a:gd name="T75" fmla="*/ 55 h 2343"/>
                <a:gd name="T76" fmla="*/ 2280 w 2343"/>
                <a:gd name="T77" fmla="*/ 79 h 2343"/>
                <a:gd name="T78" fmla="*/ 2301 w 2343"/>
                <a:gd name="T79" fmla="*/ 107 h 2343"/>
                <a:gd name="T80" fmla="*/ 2320 w 2343"/>
                <a:gd name="T81" fmla="*/ 138 h 2343"/>
                <a:gd name="T82" fmla="*/ 2332 w 2343"/>
                <a:gd name="T83" fmla="*/ 171 h 2343"/>
                <a:gd name="T84" fmla="*/ 2341 w 2343"/>
                <a:gd name="T85" fmla="*/ 206 h 2343"/>
                <a:gd name="T86" fmla="*/ 2343 w 2343"/>
                <a:gd name="T87" fmla="*/ 24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3" h="2343">
                  <a:moveTo>
                    <a:pt x="2343" y="2099"/>
                  </a:moveTo>
                  <a:lnTo>
                    <a:pt x="2343" y="2112"/>
                  </a:lnTo>
                  <a:lnTo>
                    <a:pt x="2342" y="2123"/>
                  </a:lnTo>
                  <a:lnTo>
                    <a:pt x="2341" y="2136"/>
                  </a:lnTo>
                  <a:lnTo>
                    <a:pt x="2339" y="2148"/>
                  </a:lnTo>
                  <a:lnTo>
                    <a:pt x="2336" y="2160"/>
                  </a:lnTo>
                  <a:lnTo>
                    <a:pt x="2332" y="2172"/>
                  </a:lnTo>
                  <a:lnTo>
                    <a:pt x="2329" y="2183"/>
                  </a:lnTo>
                  <a:lnTo>
                    <a:pt x="2324" y="2194"/>
                  </a:lnTo>
                  <a:lnTo>
                    <a:pt x="2320" y="2205"/>
                  </a:lnTo>
                  <a:lnTo>
                    <a:pt x="2314" y="2215"/>
                  </a:lnTo>
                  <a:lnTo>
                    <a:pt x="2308" y="2225"/>
                  </a:lnTo>
                  <a:lnTo>
                    <a:pt x="2301" y="2236"/>
                  </a:lnTo>
                  <a:lnTo>
                    <a:pt x="2295" y="2245"/>
                  </a:lnTo>
                  <a:lnTo>
                    <a:pt x="2287" y="2254"/>
                  </a:lnTo>
                  <a:lnTo>
                    <a:pt x="2280" y="2264"/>
                  </a:lnTo>
                  <a:lnTo>
                    <a:pt x="2272" y="2271"/>
                  </a:lnTo>
                  <a:lnTo>
                    <a:pt x="2264" y="2280"/>
                  </a:lnTo>
                  <a:lnTo>
                    <a:pt x="2254" y="2287"/>
                  </a:lnTo>
                  <a:lnTo>
                    <a:pt x="2246" y="2295"/>
                  </a:lnTo>
                  <a:lnTo>
                    <a:pt x="2236" y="2301"/>
                  </a:lnTo>
                  <a:lnTo>
                    <a:pt x="2225" y="2308"/>
                  </a:lnTo>
                  <a:lnTo>
                    <a:pt x="2216" y="2314"/>
                  </a:lnTo>
                  <a:lnTo>
                    <a:pt x="2205" y="2319"/>
                  </a:lnTo>
                  <a:lnTo>
                    <a:pt x="2194" y="2324"/>
                  </a:lnTo>
                  <a:lnTo>
                    <a:pt x="2184" y="2329"/>
                  </a:lnTo>
                  <a:lnTo>
                    <a:pt x="2172" y="2332"/>
                  </a:lnTo>
                  <a:lnTo>
                    <a:pt x="2160" y="2335"/>
                  </a:lnTo>
                  <a:lnTo>
                    <a:pt x="2148" y="2339"/>
                  </a:lnTo>
                  <a:lnTo>
                    <a:pt x="2136" y="2341"/>
                  </a:lnTo>
                  <a:lnTo>
                    <a:pt x="2124" y="2342"/>
                  </a:lnTo>
                  <a:lnTo>
                    <a:pt x="2112" y="2343"/>
                  </a:lnTo>
                  <a:lnTo>
                    <a:pt x="2099" y="2343"/>
                  </a:lnTo>
                  <a:lnTo>
                    <a:pt x="244" y="2343"/>
                  </a:lnTo>
                  <a:lnTo>
                    <a:pt x="231" y="2343"/>
                  </a:lnTo>
                  <a:lnTo>
                    <a:pt x="220" y="2342"/>
                  </a:lnTo>
                  <a:lnTo>
                    <a:pt x="207" y="2341"/>
                  </a:lnTo>
                  <a:lnTo>
                    <a:pt x="195" y="2339"/>
                  </a:lnTo>
                  <a:lnTo>
                    <a:pt x="183" y="2335"/>
                  </a:lnTo>
                  <a:lnTo>
                    <a:pt x="171" y="2332"/>
                  </a:lnTo>
                  <a:lnTo>
                    <a:pt x="160" y="2329"/>
                  </a:lnTo>
                  <a:lnTo>
                    <a:pt x="149" y="2324"/>
                  </a:lnTo>
                  <a:lnTo>
                    <a:pt x="138" y="2319"/>
                  </a:lnTo>
                  <a:lnTo>
                    <a:pt x="128" y="2314"/>
                  </a:lnTo>
                  <a:lnTo>
                    <a:pt x="118" y="2308"/>
                  </a:lnTo>
                  <a:lnTo>
                    <a:pt x="107" y="2301"/>
                  </a:lnTo>
                  <a:lnTo>
                    <a:pt x="98" y="2295"/>
                  </a:lnTo>
                  <a:lnTo>
                    <a:pt x="89" y="2287"/>
                  </a:lnTo>
                  <a:lnTo>
                    <a:pt x="79" y="2280"/>
                  </a:lnTo>
                  <a:lnTo>
                    <a:pt x="72" y="2271"/>
                  </a:lnTo>
                  <a:lnTo>
                    <a:pt x="63" y="2264"/>
                  </a:lnTo>
                  <a:lnTo>
                    <a:pt x="56" y="2254"/>
                  </a:lnTo>
                  <a:lnTo>
                    <a:pt x="48" y="2245"/>
                  </a:lnTo>
                  <a:lnTo>
                    <a:pt x="42" y="2236"/>
                  </a:lnTo>
                  <a:lnTo>
                    <a:pt x="35" y="2225"/>
                  </a:lnTo>
                  <a:lnTo>
                    <a:pt x="29" y="2215"/>
                  </a:lnTo>
                  <a:lnTo>
                    <a:pt x="24" y="2205"/>
                  </a:lnTo>
                  <a:lnTo>
                    <a:pt x="19" y="2194"/>
                  </a:lnTo>
                  <a:lnTo>
                    <a:pt x="14" y="2183"/>
                  </a:lnTo>
                  <a:lnTo>
                    <a:pt x="11" y="2172"/>
                  </a:lnTo>
                  <a:lnTo>
                    <a:pt x="8" y="2160"/>
                  </a:lnTo>
                  <a:lnTo>
                    <a:pt x="4" y="2148"/>
                  </a:lnTo>
                  <a:lnTo>
                    <a:pt x="2" y="2136"/>
                  </a:lnTo>
                  <a:lnTo>
                    <a:pt x="1" y="2123"/>
                  </a:lnTo>
                  <a:lnTo>
                    <a:pt x="0" y="2112"/>
                  </a:lnTo>
                  <a:lnTo>
                    <a:pt x="0" y="2099"/>
                  </a:lnTo>
                  <a:lnTo>
                    <a:pt x="0" y="244"/>
                  </a:lnTo>
                  <a:lnTo>
                    <a:pt x="0" y="231"/>
                  </a:lnTo>
                  <a:lnTo>
                    <a:pt x="1" y="219"/>
                  </a:lnTo>
                  <a:lnTo>
                    <a:pt x="2" y="206"/>
                  </a:lnTo>
                  <a:lnTo>
                    <a:pt x="4" y="194"/>
                  </a:lnTo>
                  <a:lnTo>
                    <a:pt x="8" y="183"/>
                  </a:lnTo>
                  <a:lnTo>
                    <a:pt x="11" y="171"/>
                  </a:lnTo>
                  <a:lnTo>
                    <a:pt x="14" y="159"/>
                  </a:lnTo>
                  <a:lnTo>
                    <a:pt x="19" y="148"/>
                  </a:lnTo>
                  <a:lnTo>
                    <a:pt x="24" y="138"/>
                  </a:lnTo>
                  <a:lnTo>
                    <a:pt x="29" y="127"/>
                  </a:lnTo>
                  <a:lnTo>
                    <a:pt x="35" y="117"/>
                  </a:lnTo>
                  <a:lnTo>
                    <a:pt x="42" y="107"/>
                  </a:lnTo>
                  <a:lnTo>
                    <a:pt x="48" y="97"/>
                  </a:lnTo>
                  <a:lnTo>
                    <a:pt x="56" y="88"/>
                  </a:lnTo>
                  <a:lnTo>
                    <a:pt x="63" y="79"/>
                  </a:lnTo>
                  <a:lnTo>
                    <a:pt x="72" y="70"/>
                  </a:lnTo>
                  <a:lnTo>
                    <a:pt x="79" y="63"/>
                  </a:lnTo>
                  <a:lnTo>
                    <a:pt x="89" y="55"/>
                  </a:lnTo>
                  <a:lnTo>
                    <a:pt x="98" y="48"/>
                  </a:lnTo>
                  <a:lnTo>
                    <a:pt x="107" y="41"/>
                  </a:lnTo>
                  <a:lnTo>
                    <a:pt x="118" y="35"/>
                  </a:lnTo>
                  <a:lnTo>
                    <a:pt x="128" y="28"/>
                  </a:lnTo>
                  <a:lnTo>
                    <a:pt x="138" y="23"/>
                  </a:lnTo>
                  <a:lnTo>
                    <a:pt x="149" y="19"/>
                  </a:lnTo>
                  <a:lnTo>
                    <a:pt x="160" y="13"/>
                  </a:lnTo>
                  <a:lnTo>
                    <a:pt x="171" y="10"/>
                  </a:lnTo>
                  <a:lnTo>
                    <a:pt x="183" y="7"/>
                  </a:lnTo>
                  <a:lnTo>
                    <a:pt x="195" y="4"/>
                  </a:lnTo>
                  <a:lnTo>
                    <a:pt x="207" y="2"/>
                  </a:lnTo>
                  <a:lnTo>
                    <a:pt x="220" y="1"/>
                  </a:lnTo>
                  <a:lnTo>
                    <a:pt x="231" y="0"/>
                  </a:lnTo>
                  <a:lnTo>
                    <a:pt x="244" y="0"/>
                  </a:lnTo>
                  <a:lnTo>
                    <a:pt x="2099" y="0"/>
                  </a:lnTo>
                  <a:lnTo>
                    <a:pt x="2112" y="0"/>
                  </a:lnTo>
                  <a:lnTo>
                    <a:pt x="2124" y="1"/>
                  </a:lnTo>
                  <a:lnTo>
                    <a:pt x="2136" y="2"/>
                  </a:lnTo>
                  <a:lnTo>
                    <a:pt x="2148" y="4"/>
                  </a:lnTo>
                  <a:lnTo>
                    <a:pt x="2160" y="7"/>
                  </a:lnTo>
                  <a:lnTo>
                    <a:pt x="2172" y="10"/>
                  </a:lnTo>
                  <a:lnTo>
                    <a:pt x="2184" y="13"/>
                  </a:lnTo>
                  <a:lnTo>
                    <a:pt x="2194" y="19"/>
                  </a:lnTo>
                  <a:lnTo>
                    <a:pt x="2205" y="23"/>
                  </a:lnTo>
                  <a:lnTo>
                    <a:pt x="2216" y="28"/>
                  </a:lnTo>
                  <a:lnTo>
                    <a:pt x="2225" y="35"/>
                  </a:lnTo>
                  <a:lnTo>
                    <a:pt x="2236" y="41"/>
                  </a:lnTo>
                  <a:lnTo>
                    <a:pt x="2246" y="48"/>
                  </a:lnTo>
                  <a:lnTo>
                    <a:pt x="2254" y="55"/>
                  </a:lnTo>
                  <a:lnTo>
                    <a:pt x="2264" y="63"/>
                  </a:lnTo>
                  <a:lnTo>
                    <a:pt x="2272" y="70"/>
                  </a:lnTo>
                  <a:lnTo>
                    <a:pt x="2280" y="79"/>
                  </a:lnTo>
                  <a:lnTo>
                    <a:pt x="2287" y="88"/>
                  </a:lnTo>
                  <a:lnTo>
                    <a:pt x="2295" y="97"/>
                  </a:lnTo>
                  <a:lnTo>
                    <a:pt x="2301" y="107"/>
                  </a:lnTo>
                  <a:lnTo>
                    <a:pt x="2308" y="117"/>
                  </a:lnTo>
                  <a:lnTo>
                    <a:pt x="2314" y="127"/>
                  </a:lnTo>
                  <a:lnTo>
                    <a:pt x="2320" y="138"/>
                  </a:lnTo>
                  <a:lnTo>
                    <a:pt x="2324" y="148"/>
                  </a:lnTo>
                  <a:lnTo>
                    <a:pt x="2329" y="159"/>
                  </a:lnTo>
                  <a:lnTo>
                    <a:pt x="2332" y="171"/>
                  </a:lnTo>
                  <a:lnTo>
                    <a:pt x="2336" y="183"/>
                  </a:lnTo>
                  <a:lnTo>
                    <a:pt x="2339" y="194"/>
                  </a:lnTo>
                  <a:lnTo>
                    <a:pt x="2341" y="206"/>
                  </a:lnTo>
                  <a:lnTo>
                    <a:pt x="2342" y="219"/>
                  </a:lnTo>
                  <a:lnTo>
                    <a:pt x="2343" y="231"/>
                  </a:lnTo>
                  <a:lnTo>
                    <a:pt x="2343" y="244"/>
                  </a:lnTo>
                  <a:lnTo>
                    <a:pt x="2343" y="20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2" name="Freeform 19"/>
            <p:cNvSpPr>
              <a:spLocks/>
            </p:cNvSpPr>
            <p:nvPr/>
          </p:nvSpPr>
          <p:spPr bwMode="auto">
            <a:xfrm>
              <a:off x="1911703" y="1362989"/>
              <a:ext cx="254000" cy="871538"/>
            </a:xfrm>
            <a:custGeom>
              <a:avLst/>
              <a:gdLst>
                <a:gd name="T0" fmla="*/ 904 w 964"/>
                <a:gd name="T1" fmla="*/ 3259 h 3295"/>
                <a:gd name="T2" fmla="*/ 783 w 964"/>
                <a:gd name="T3" fmla="*/ 3190 h 3295"/>
                <a:gd name="T4" fmla="*/ 663 w 964"/>
                <a:gd name="T5" fmla="*/ 3121 h 3295"/>
                <a:gd name="T6" fmla="*/ 542 w 964"/>
                <a:gd name="T7" fmla="*/ 3051 h 3295"/>
                <a:gd name="T8" fmla="*/ 422 w 964"/>
                <a:gd name="T9" fmla="*/ 2982 h 3295"/>
                <a:gd name="T10" fmla="*/ 301 w 964"/>
                <a:gd name="T11" fmla="*/ 2912 h 3295"/>
                <a:gd name="T12" fmla="*/ 181 w 964"/>
                <a:gd name="T13" fmla="*/ 2844 h 3295"/>
                <a:gd name="T14" fmla="*/ 60 w 964"/>
                <a:gd name="T15" fmla="*/ 2774 h 3295"/>
                <a:gd name="T16" fmla="*/ 0 w 964"/>
                <a:gd name="T17" fmla="*/ 2568 h 3295"/>
                <a:gd name="T18" fmla="*/ 0 w 964"/>
                <a:gd name="T19" fmla="*/ 2226 h 3295"/>
                <a:gd name="T20" fmla="*/ 0 w 964"/>
                <a:gd name="T21" fmla="*/ 1883 h 3295"/>
                <a:gd name="T22" fmla="*/ 0 w 964"/>
                <a:gd name="T23" fmla="*/ 1541 h 3295"/>
                <a:gd name="T24" fmla="*/ 0 w 964"/>
                <a:gd name="T25" fmla="*/ 1199 h 3295"/>
                <a:gd name="T26" fmla="*/ 0 w 964"/>
                <a:gd name="T27" fmla="*/ 856 h 3295"/>
                <a:gd name="T28" fmla="*/ 0 w 964"/>
                <a:gd name="T29" fmla="*/ 514 h 3295"/>
                <a:gd name="T30" fmla="*/ 0 w 964"/>
                <a:gd name="T31" fmla="*/ 172 h 3295"/>
                <a:gd name="T32" fmla="*/ 60 w 964"/>
                <a:gd name="T33" fmla="*/ 52 h 3295"/>
                <a:gd name="T34" fmla="*/ 181 w 964"/>
                <a:gd name="T35" fmla="*/ 153 h 3295"/>
                <a:gd name="T36" fmla="*/ 301 w 964"/>
                <a:gd name="T37" fmla="*/ 255 h 3295"/>
                <a:gd name="T38" fmla="*/ 422 w 964"/>
                <a:gd name="T39" fmla="*/ 357 h 3295"/>
                <a:gd name="T40" fmla="*/ 542 w 964"/>
                <a:gd name="T41" fmla="*/ 460 h 3295"/>
                <a:gd name="T42" fmla="*/ 663 w 964"/>
                <a:gd name="T43" fmla="*/ 561 h 3295"/>
                <a:gd name="T44" fmla="*/ 783 w 964"/>
                <a:gd name="T45" fmla="*/ 663 h 3295"/>
                <a:gd name="T46" fmla="*/ 904 w 964"/>
                <a:gd name="T47" fmla="*/ 765 h 3295"/>
                <a:gd name="T48" fmla="*/ 964 w 964"/>
                <a:gd name="T49" fmla="*/ 970 h 3295"/>
                <a:gd name="T50" fmla="*/ 964 w 964"/>
                <a:gd name="T51" fmla="*/ 1281 h 3295"/>
                <a:gd name="T52" fmla="*/ 964 w 964"/>
                <a:gd name="T53" fmla="*/ 1591 h 3295"/>
                <a:gd name="T54" fmla="*/ 964 w 964"/>
                <a:gd name="T55" fmla="*/ 1900 h 3295"/>
                <a:gd name="T56" fmla="*/ 964 w 964"/>
                <a:gd name="T57" fmla="*/ 2210 h 3295"/>
                <a:gd name="T58" fmla="*/ 964 w 964"/>
                <a:gd name="T59" fmla="*/ 2520 h 3295"/>
                <a:gd name="T60" fmla="*/ 964 w 964"/>
                <a:gd name="T61" fmla="*/ 2830 h 3295"/>
                <a:gd name="T62" fmla="*/ 964 w 964"/>
                <a:gd name="T63" fmla="*/ 3139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3295"/>
                  </a:moveTo>
                  <a:lnTo>
                    <a:pt x="904" y="3259"/>
                  </a:lnTo>
                  <a:lnTo>
                    <a:pt x="844" y="3225"/>
                  </a:lnTo>
                  <a:lnTo>
                    <a:pt x="783" y="3190"/>
                  </a:lnTo>
                  <a:lnTo>
                    <a:pt x="723" y="3155"/>
                  </a:lnTo>
                  <a:lnTo>
                    <a:pt x="663" y="3121"/>
                  </a:lnTo>
                  <a:lnTo>
                    <a:pt x="603" y="3086"/>
                  </a:lnTo>
                  <a:lnTo>
                    <a:pt x="542" y="3051"/>
                  </a:lnTo>
                  <a:lnTo>
                    <a:pt x="482" y="3017"/>
                  </a:lnTo>
                  <a:lnTo>
                    <a:pt x="422" y="2982"/>
                  </a:lnTo>
                  <a:lnTo>
                    <a:pt x="362" y="2948"/>
                  </a:lnTo>
                  <a:lnTo>
                    <a:pt x="301" y="2912"/>
                  </a:lnTo>
                  <a:lnTo>
                    <a:pt x="241" y="2878"/>
                  </a:lnTo>
                  <a:lnTo>
                    <a:pt x="181" y="2844"/>
                  </a:lnTo>
                  <a:lnTo>
                    <a:pt x="121" y="2808"/>
                  </a:lnTo>
                  <a:lnTo>
                    <a:pt x="60" y="2774"/>
                  </a:lnTo>
                  <a:lnTo>
                    <a:pt x="0" y="2740"/>
                  </a:lnTo>
                  <a:lnTo>
                    <a:pt x="0" y="2568"/>
                  </a:lnTo>
                  <a:lnTo>
                    <a:pt x="0" y="2397"/>
                  </a:lnTo>
                  <a:lnTo>
                    <a:pt x="0" y="2226"/>
                  </a:lnTo>
                  <a:lnTo>
                    <a:pt x="0" y="2054"/>
                  </a:lnTo>
                  <a:lnTo>
                    <a:pt x="0" y="1883"/>
                  </a:lnTo>
                  <a:lnTo>
                    <a:pt x="0" y="1712"/>
                  </a:lnTo>
                  <a:lnTo>
                    <a:pt x="0" y="1541"/>
                  </a:lnTo>
                  <a:lnTo>
                    <a:pt x="0" y="1370"/>
                  </a:lnTo>
                  <a:lnTo>
                    <a:pt x="0" y="1199"/>
                  </a:lnTo>
                  <a:lnTo>
                    <a:pt x="0" y="1027"/>
                  </a:lnTo>
                  <a:lnTo>
                    <a:pt x="0" y="856"/>
                  </a:lnTo>
                  <a:lnTo>
                    <a:pt x="0" y="685"/>
                  </a:lnTo>
                  <a:lnTo>
                    <a:pt x="0" y="514"/>
                  </a:lnTo>
                  <a:lnTo>
                    <a:pt x="0" y="343"/>
                  </a:lnTo>
                  <a:lnTo>
                    <a:pt x="0" y="172"/>
                  </a:lnTo>
                  <a:lnTo>
                    <a:pt x="0" y="0"/>
                  </a:lnTo>
                  <a:lnTo>
                    <a:pt x="60" y="52"/>
                  </a:lnTo>
                  <a:lnTo>
                    <a:pt x="121" y="102"/>
                  </a:lnTo>
                  <a:lnTo>
                    <a:pt x="181" y="153"/>
                  </a:lnTo>
                  <a:lnTo>
                    <a:pt x="241" y="205"/>
                  </a:lnTo>
                  <a:lnTo>
                    <a:pt x="301" y="255"/>
                  </a:lnTo>
                  <a:lnTo>
                    <a:pt x="362" y="306"/>
                  </a:lnTo>
                  <a:lnTo>
                    <a:pt x="422" y="357"/>
                  </a:lnTo>
                  <a:lnTo>
                    <a:pt x="482" y="408"/>
                  </a:lnTo>
                  <a:lnTo>
                    <a:pt x="542" y="460"/>
                  </a:lnTo>
                  <a:lnTo>
                    <a:pt x="603" y="510"/>
                  </a:lnTo>
                  <a:lnTo>
                    <a:pt x="663" y="561"/>
                  </a:lnTo>
                  <a:lnTo>
                    <a:pt x="723" y="612"/>
                  </a:lnTo>
                  <a:lnTo>
                    <a:pt x="783" y="663"/>
                  </a:lnTo>
                  <a:lnTo>
                    <a:pt x="844" y="714"/>
                  </a:lnTo>
                  <a:lnTo>
                    <a:pt x="904" y="765"/>
                  </a:lnTo>
                  <a:lnTo>
                    <a:pt x="964" y="816"/>
                  </a:lnTo>
                  <a:lnTo>
                    <a:pt x="964" y="970"/>
                  </a:lnTo>
                  <a:lnTo>
                    <a:pt x="964" y="1126"/>
                  </a:lnTo>
                  <a:lnTo>
                    <a:pt x="964" y="1281"/>
                  </a:lnTo>
                  <a:lnTo>
                    <a:pt x="964" y="1435"/>
                  </a:lnTo>
                  <a:lnTo>
                    <a:pt x="964" y="1591"/>
                  </a:lnTo>
                  <a:lnTo>
                    <a:pt x="964" y="1746"/>
                  </a:lnTo>
                  <a:lnTo>
                    <a:pt x="964" y="1900"/>
                  </a:lnTo>
                  <a:lnTo>
                    <a:pt x="964" y="2055"/>
                  </a:lnTo>
                  <a:lnTo>
                    <a:pt x="964" y="2210"/>
                  </a:lnTo>
                  <a:lnTo>
                    <a:pt x="964" y="2365"/>
                  </a:lnTo>
                  <a:lnTo>
                    <a:pt x="964" y="2520"/>
                  </a:lnTo>
                  <a:lnTo>
                    <a:pt x="964" y="2674"/>
                  </a:lnTo>
                  <a:lnTo>
                    <a:pt x="964" y="2830"/>
                  </a:lnTo>
                  <a:lnTo>
                    <a:pt x="964" y="2984"/>
                  </a:lnTo>
                  <a:lnTo>
                    <a:pt x="964" y="3139"/>
                  </a:lnTo>
                  <a:lnTo>
                    <a:pt x="964" y="3295"/>
                  </a:lnTo>
                  <a:close/>
                </a:path>
              </a:pathLst>
            </a:custGeom>
            <a:solidFill>
              <a:srgbClr val="1D3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3" name="Freeform 20"/>
            <p:cNvSpPr>
              <a:spLocks/>
            </p:cNvSpPr>
            <p:nvPr/>
          </p:nvSpPr>
          <p:spPr bwMode="auto">
            <a:xfrm>
              <a:off x="1911703" y="2315489"/>
              <a:ext cx="254000" cy="781050"/>
            </a:xfrm>
            <a:custGeom>
              <a:avLst/>
              <a:gdLst>
                <a:gd name="T0" fmla="*/ 904 w 964"/>
                <a:gd name="T1" fmla="*/ 2937 h 2950"/>
                <a:gd name="T2" fmla="*/ 783 w 964"/>
                <a:gd name="T3" fmla="*/ 2911 h 2950"/>
                <a:gd name="T4" fmla="*/ 663 w 964"/>
                <a:gd name="T5" fmla="*/ 2884 h 2950"/>
                <a:gd name="T6" fmla="*/ 542 w 964"/>
                <a:gd name="T7" fmla="*/ 2858 h 2950"/>
                <a:gd name="T8" fmla="*/ 422 w 964"/>
                <a:gd name="T9" fmla="*/ 2831 h 2950"/>
                <a:gd name="T10" fmla="*/ 301 w 964"/>
                <a:gd name="T11" fmla="*/ 2805 h 2950"/>
                <a:gd name="T12" fmla="*/ 181 w 964"/>
                <a:gd name="T13" fmla="*/ 2778 h 2950"/>
                <a:gd name="T14" fmla="*/ 60 w 964"/>
                <a:gd name="T15" fmla="*/ 2751 h 2950"/>
                <a:gd name="T16" fmla="*/ 0 w 964"/>
                <a:gd name="T17" fmla="*/ 2567 h 2950"/>
                <a:gd name="T18" fmla="*/ 0 w 964"/>
                <a:gd name="T19" fmla="*/ 2225 h 2950"/>
                <a:gd name="T20" fmla="*/ 0 w 964"/>
                <a:gd name="T21" fmla="*/ 1883 h 2950"/>
                <a:gd name="T22" fmla="*/ 0 w 964"/>
                <a:gd name="T23" fmla="*/ 1540 h 2950"/>
                <a:gd name="T24" fmla="*/ 0 w 964"/>
                <a:gd name="T25" fmla="*/ 1198 h 2950"/>
                <a:gd name="T26" fmla="*/ 0 w 964"/>
                <a:gd name="T27" fmla="*/ 855 h 2950"/>
                <a:gd name="T28" fmla="*/ 0 w 964"/>
                <a:gd name="T29" fmla="*/ 513 h 2950"/>
                <a:gd name="T30" fmla="*/ 0 w 964"/>
                <a:gd name="T31" fmla="*/ 171 h 2950"/>
                <a:gd name="T32" fmla="*/ 60 w 964"/>
                <a:gd name="T33" fmla="*/ 29 h 2950"/>
                <a:gd name="T34" fmla="*/ 181 w 964"/>
                <a:gd name="T35" fmla="*/ 89 h 2950"/>
                <a:gd name="T36" fmla="*/ 301 w 964"/>
                <a:gd name="T37" fmla="*/ 148 h 2950"/>
                <a:gd name="T38" fmla="*/ 422 w 964"/>
                <a:gd name="T39" fmla="*/ 206 h 2950"/>
                <a:gd name="T40" fmla="*/ 542 w 964"/>
                <a:gd name="T41" fmla="*/ 265 h 2950"/>
                <a:gd name="T42" fmla="*/ 663 w 964"/>
                <a:gd name="T43" fmla="*/ 324 h 2950"/>
                <a:gd name="T44" fmla="*/ 783 w 964"/>
                <a:gd name="T45" fmla="*/ 384 h 2950"/>
                <a:gd name="T46" fmla="*/ 904 w 964"/>
                <a:gd name="T47" fmla="*/ 443 h 2950"/>
                <a:gd name="T48" fmla="*/ 964 w 964"/>
                <a:gd name="T49" fmla="*/ 627 h 2950"/>
                <a:gd name="T50" fmla="*/ 964 w 964"/>
                <a:gd name="T51" fmla="*/ 937 h 2950"/>
                <a:gd name="T52" fmla="*/ 964 w 964"/>
                <a:gd name="T53" fmla="*/ 1247 h 2950"/>
                <a:gd name="T54" fmla="*/ 964 w 964"/>
                <a:gd name="T55" fmla="*/ 1557 h 2950"/>
                <a:gd name="T56" fmla="*/ 964 w 964"/>
                <a:gd name="T57" fmla="*/ 1866 h 2950"/>
                <a:gd name="T58" fmla="*/ 964 w 964"/>
                <a:gd name="T59" fmla="*/ 2176 h 2950"/>
                <a:gd name="T60" fmla="*/ 964 w 964"/>
                <a:gd name="T61" fmla="*/ 2485 h 2950"/>
                <a:gd name="T62" fmla="*/ 964 w 964"/>
                <a:gd name="T63" fmla="*/ 2796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950"/>
                  </a:moveTo>
                  <a:lnTo>
                    <a:pt x="904" y="2937"/>
                  </a:lnTo>
                  <a:lnTo>
                    <a:pt x="844" y="2925"/>
                  </a:lnTo>
                  <a:lnTo>
                    <a:pt x="783" y="2911"/>
                  </a:lnTo>
                  <a:lnTo>
                    <a:pt x="723" y="2898"/>
                  </a:lnTo>
                  <a:lnTo>
                    <a:pt x="663" y="2884"/>
                  </a:lnTo>
                  <a:lnTo>
                    <a:pt x="603" y="2871"/>
                  </a:lnTo>
                  <a:lnTo>
                    <a:pt x="542" y="2858"/>
                  </a:lnTo>
                  <a:lnTo>
                    <a:pt x="482" y="2844"/>
                  </a:lnTo>
                  <a:lnTo>
                    <a:pt x="422" y="2831"/>
                  </a:lnTo>
                  <a:lnTo>
                    <a:pt x="362" y="2818"/>
                  </a:lnTo>
                  <a:lnTo>
                    <a:pt x="301" y="2805"/>
                  </a:lnTo>
                  <a:lnTo>
                    <a:pt x="241" y="2792"/>
                  </a:lnTo>
                  <a:lnTo>
                    <a:pt x="181" y="2778"/>
                  </a:lnTo>
                  <a:lnTo>
                    <a:pt x="121" y="2765"/>
                  </a:lnTo>
                  <a:lnTo>
                    <a:pt x="60" y="2751"/>
                  </a:lnTo>
                  <a:lnTo>
                    <a:pt x="0" y="2738"/>
                  </a:lnTo>
                  <a:lnTo>
                    <a:pt x="0" y="2567"/>
                  </a:lnTo>
                  <a:lnTo>
                    <a:pt x="0" y="2396"/>
                  </a:lnTo>
                  <a:lnTo>
                    <a:pt x="0" y="2225"/>
                  </a:lnTo>
                  <a:lnTo>
                    <a:pt x="0" y="2054"/>
                  </a:lnTo>
                  <a:lnTo>
                    <a:pt x="0" y="1883"/>
                  </a:lnTo>
                  <a:lnTo>
                    <a:pt x="0" y="1711"/>
                  </a:lnTo>
                  <a:lnTo>
                    <a:pt x="0" y="1540"/>
                  </a:lnTo>
                  <a:lnTo>
                    <a:pt x="0" y="1368"/>
                  </a:lnTo>
                  <a:lnTo>
                    <a:pt x="0" y="1198"/>
                  </a:lnTo>
                  <a:lnTo>
                    <a:pt x="0" y="1027"/>
                  </a:lnTo>
                  <a:lnTo>
                    <a:pt x="0" y="855"/>
                  </a:lnTo>
                  <a:lnTo>
                    <a:pt x="0" y="684"/>
                  </a:lnTo>
                  <a:lnTo>
                    <a:pt x="0" y="513"/>
                  </a:lnTo>
                  <a:lnTo>
                    <a:pt x="0" y="341"/>
                  </a:lnTo>
                  <a:lnTo>
                    <a:pt x="0" y="171"/>
                  </a:lnTo>
                  <a:lnTo>
                    <a:pt x="0" y="0"/>
                  </a:lnTo>
                  <a:lnTo>
                    <a:pt x="60" y="29"/>
                  </a:lnTo>
                  <a:lnTo>
                    <a:pt x="121" y="59"/>
                  </a:lnTo>
                  <a:lnTo>
                    <a:pt x="181" y="89"/>
                  </a:lnTo>
                  <a:lnTo>
                    <a:pt x="241" y="118"/>
                  </a:lnTo>
                  <a:lnTo>
                    <a:pt x="301" y="148"/>
                  </a:lnTo>
                  <a:lnTo>
                    <a:pt x="362" y="176"/>
                  </a:lnTo>
                  <a:lnTo>
                    <a:pt x="422" y="206"/>
                  </a:lnTo>
                  <a:lnTo>
                    <a:pt x="482" y="236"/>
                  </a:lnTo>
                  <a:lnTo>
                    <a:pt x="542" y="265"/>
                  </a:lnTo>
                  <a:lnTo>
                    <a:pt x="603" y="295"/>
                  </a:lnTo>
                  <a:lnTo>
                    <a:pt x="663" y="324"/>
                  </a:lnTo>
                  <a:lnTo>
                    <a:pt x="723" y="354"/>
                  </a:lnTo>
                  <a:lnTo>
                    <a:pt x="783" y="384"/>
                  </a:lnTo>
                  <a:lnTo>
                    <a:pt x="844" y="413"/>
                  </a:lnTo>
                  <a:lnTo>
                    <a:pt x="904" y="443"/>
                  </a:lnTo>
                  <a:lnTo>
                    <a:pt x="964" y="472"/>
                  </a:lnTo>
                  <a:lnTo>
                    <a:pt x="964" y="627"/>
                  </a:lnTo>
                  <a:lnTo>
                    <a:pt x="964" y="783"/>
                  </a:lnTo>
                  <a:lnTo>
                    <a:pt x="964" y="937"/>
                  </a:lnTo>
                  <a:lnTo>
                    <a:pt x="964" y="1092"/>
                  </a:lnTo>
                  <a:lnTo>
                    <a:pt x="964" y="1247"/>
                  </a:lnTo>
                  <a:lnTo>
                    <a:pt x="964" y="1402"/>
                  </a:lnTo>
                  <a:lnTo>
                    <a:pt x="964" y="1557"/>
                  </a:lnTo>
                  <a:lnTo>
                    <a:pt x="964" y="1711"/>
                  </a:lnTo>
                  <a:lnTo>
                    <a:pt x="964" y="1866"/>
                  </a:lnTo>
                  <a:lnTo>
                    <a:pt x="964" y="2022"/>
                  </a:lnTo>
                  <a:lnTo>
                    <a:pt x="964" y="2176"/>
                  </a:lnTo>
                  <a:lnTo>
                    <a:pt x="964" y="2331"/>
                  </a:lnTo>
                  <a:lnTo>
                    <a:pt x="964" y="2485"/>
                  </a:lnTo>
                  <a:lnTo>
                    <a:pt x="964" y="2641"/>
                  </a:lnTo>
                  <a:lnTo>
                    <a:pt x="964" y="2796"/>
                  </a:lnTo>
                  <a:lnTo>
                    <a:pt x="964" y="2950"/>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4" name="Freeform 21"/>
            <p:cNvSpPr>
              <a:spLocks/>
            </p:cNvSpPr>
            <p:nvPr/>
          </p:nvSpPr>
          <p:spPr bwMode="auto">
            <a:xfrm>
              <a:off x="1911703" y="3267989"/>
              <a:ext cx="254000" cy="723900"/>
            </a:xfrm>
            <a:custGeom>
              <a:avLst/>
              <a:gdLst>
                <a:gd name="T0" fmla="*/ 904 w 964"/>
                <a:gd name="T1" fmla="*/ 2618 h 2740"/>
                <a:gd name="T2" fmla="*/ 783 w 964"/>
                <a:gd name="T3" fmla="*/ 2634 h 2740"/>
                <a:gd name="T4" fmla="*/ 663 w 964"/>
                <a:gd name="T5" fmla="*/ 2650 h 2740"/>
                <a:gd name="T6" fmla="*/ 542 w 964"/>
                <a:gd name="T7" fmla="*/ 2666 h 2740"/>
                <a:gd name="T8" fmla="*/ 422 w 964"/>
                <a:gd name="T9" fmla="*/ 2682 h 2740"/>
                <a:gd name="T10" fmla="*/ 301 w 964"/>
                <a:gd name="T11" fmla="*/ 2699 h 2740"/>
                <a:gd name="T12" fmla="*/ 181 w 964"/>
                <a:gd name="T13" fmla="*/ 2715 h 2740"/>
                <a:gd name="T14" fmla="*/ 60 w 964"/>
                <a:gd name="T15" fmla="*/ 2731 h 2740"/>
                <a:gd name="T16" fmla="*/ 0 w 964"/>
                <a:gd name="T17" fmla="*/ 2568 h 2740"/>
                <a:gd name="T18" fmla="*/ 0 w 964"/>
                <a:gd name="T19" fmla="*/ 2226 h 2740"/>
                <a:gd name="T20" fmla="*/ 0 w 964"/>
                <a:gd name="T21" fmla="*/ 1883 h 2740"/>
                <a:gd name="T22" fmla="*/ 0 w 964"/>
                <a:gd name="T23" fmla="*/ 1541 h 2740"/>
                <a:gd name="T24" fmla="*/ 0 w 964"/>
                <a:gd name="T25" fmla="*/ 1199 h 2740"/>
                <a:gd name="T26" fmla="*/ 0 w 964"/>
                <a:gd name="T27" fmla="*/ 856 h 2740"/>
                <a:gd name="T28" fmla="*/ 0 w 964"/>
                <a:gd name="T29" fmla="*/ 514 h 2740"/>
                <a:gd name="T30" fmla="*/ 0 w 964"/>
                <a:gd name="T31" fmla="*/ 172 h 2740"/>
                <a:gd name="T32" fmla="*/ 60 w 964"/>
                <a:gd name="T33" fmla="*/ 9 h 2740"/>
                <a:gd name="T34" fmla="*/ 181 w 964"/>
                <a:gd name="T35" fmla="*/ 25 h 2740"/>
                <a:gd name="T36" fmla="*/ 301 w 964"/>
                <a:gd name="T37" fmla="*/ 41 h 2740"/>
                <a:gd name="T38" fmla="*/ 422 w 964"/>
                <a:gd name="T39" fmla="*/ 58 h 2740"/>
                <a:gd name="T40" fmla="*/ 542 w 964"/>
                <a:gd name="T41" fmla="*/ 74 h 2740"/>
                <a:gd name="T42" fmla="*/ 663 w 964"/>
                <a:gd name="T43" fmla="*/ 90 h 2740"/>
                <a:gd name="T44" fmla="*/ 783 w 964"/>
                <a:gd name="T45" fmla="*/ 106 h 2740"/>
                <a:gd name="T46" fmla="*/ 904 w 964"/>
                <a:gd name="T47" fmla="*/ 122 h 2740"/>
                <a:gd name="T48" fmla="*/ 964 w 964"/>
                <a:gd name="T49" fmla="*/ 286 h 2740"/>
                <a:gd name="T50" fmla="*/ 964 w 964"/>
                <a:gd name="T51" fmla="*/ 596 h 2740"/>
                <a:gd name="T52" fmla="*/ 964 w 964"/>
                <a:gd name="T53" fmla="*/ 905 h 2740"/>
                <a:gd name="T54" fmla="*/ 964 w 964"/>
                <a:gd name="T55" fmla="*/ 1215 h 2740"/>
                <a:gd name="T56" fmla="*/ 964 w 964"/>
                <a:gd name="T57" fmla="*/ 1525 h 2740"/>
                <a:gd name="T58" fmla="*/ 964 w 964"/>
                <a:gd name="T59" fmla="*/ 1835 h 2740"/>
                <a:gd name="T60" fmla="*/ 964 w 964"/>
                <a:gd name="T61" fmla="*/ 2144 h 2740"/>
                <a:gd name="T62" fmla="*/ 964 w 964"/>
                <a:gd name="T63" fmla="*/ 2454 h 2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740">
                  <a:moveTo>
                    <a:pt x="964" y="2609"/>
                  </a:moveTo>
                  <a:lnTo>
                    <a:pt x="904" y="2618"/>
                  </a:lnTo>
                  <a:lnTo>
                    <a:pt x="844" y="2625"/>
                  </a:lnTo>
                  <a:lnTo>
                    <a:pt x="783" y="2634"/>
                  </a:lnTo>
                  <a:lnTo>
                    <a:pt x="723" y="2641"/>
                  </a:lnTo>
                  <a:lnTo>
                    <a:pt x="663" y="2650"/>
                  </a:lnTo>
                  <a:lnTo>
                    <a:pt x="603" y="2658"/>
                  </a:lnTo>
                  <a:lnTo>
                    <a:pt x="542" y="2666"/>
                  </a:lnTo>
                  <a:lnTo>
                    <a:pt x="482" y="2674"/>
                  </a:lnTo>
                  <a:lnTo>
                    <a:pt x="422" y="2682"/>
                  </a:lnTo>
                  <a:lnTo>
                    <a:pt x="362" y="2691"/>
                  </a:lnTo>
                  <a:lnTo>
                    <a:pt x="301" y="2699"/>
                  </a:lnTo>
                  <a:lnTo>
                    <a:pt x="241" y="2707"/>
                  </a:lnTo>
                  <a:lnTo>
                    <a:pt x="181" y="2715"/>
                  </a:lnTo>
                  <a:lnTo>
                    <a:pt x="121" y="2723"/>
                  </a:lnTo>
                  <a:lnTo>
                    <a:pt x="60" y="2731"/>
                  </a:lnTo>
                  <a:lnTo>
                    <a:pt x="0" y="2740"/>
                  </a:lnTo>
                  <a:lnTo>
                    <a:pt x="0" y="2568"/>
                  </a:lnTo>
                  <a:lnTo>
                    <a:pt x="0" y="2397"/>
                  </a:lnTo>
                  <a:lnTo>
                    <a:pt x="0" y="2226"/>
                  </a:lnTo>
                  <a:lnTo>
                    <a:pt x="0" y="2054"/>
                  </a:lnTo>
                  <a:lnTo>
                    <a:pt x="0" y="1883"/>
                  </a:lnTo>
                  <a:lnTo>
                    <a:pt x="0" y="1713"/>
                  </a:lnTo>
                  <a:lnTo>
                    <a:pt x="0" y="1541"/>
                  </a:lnTo>
                  <a:lnTo>
                    <a:pt x="0" y="1370"/>
                  </a:lnTo>
                  <a:lnTo>
                    <a:pt x="0" y="1199"/>
                  </a:lnTo>
                  <a:lnTo>
                    <a:pt x="0" y="1027"/>
                  </a:lnTo>
                  <a:lnTo>
                    <a:pt x="0" y="856"/>
                  </a:lnTo>
                  <a:lnTo>
                    <a:pt x="0" y="686"/>
                  </a:lnTo>
                  <a:lnTo>
                    <a:pt x="0" y="514"/>
                  </a:lnTo>
                  <a:lnTo>
                    <a:pt x="0" y="343"/>
                  </a:lnTo>
                  <a:lnTo>
                    <a:pt x="0" y="172"/>
                  </a:lnTo>
                  <a:lnTo>
                    <a:pt x="0" y="0"/>
                  </a:lnTo>
                  <a:lnTo>
                    <a:pt x="60" y="9"/>
                  </a:lnTo>
                  <a:lnTo>
                    <a:pt x="121" y="17"/>
                  </a:lnTo>
                  <a:lnTo>
                    <a:pt x="181" y="25"/>
                  </a:lnTo>
                  <a:lnTo>
                    <a:pt x="241" y="33"/>
                  </a:lnTo>
                  <a:lnTo>
                    <a:pt x="301" y="41"/>
                  </a:lnTo>
                  <a:lnTo>
                    <a:pt x="362" y="49"/>
                  </a:lnTo>
                  <a:lnTo>
                    <a:pt x="422" y="58"/>
                  </a:lnTo>
                  <a:lnTo>
                    <a:pt x="482" y="66"/>
                  </a:lnTo>
                  <a:lnTo>
                    <a:pt x="542" y="74"/>
                  </a:lnTo>
                  <a:lnTo>
                    <a:pt x="603" y="82"/>
                  </a:lnTo>
                  <a:lnTo>
                    <a:pt x="663" y="90"/>
                  </a:lnTo>
                  <a:lnTo>
                    <a:pt x="723" y="99"/>
                  </a:lnTo>
                  <a:lnTo>
                    <a:pt x="783" y="106"/>
                  </a:lnTo>
                  <a:lnTo>
                    <a:pt x="844" y="115"/>
                  </a:lnTo>
                  <a:lnTo>
                    <a:pt x="904" y="122"/>
                  </a:lnTo>
                  <a:lnTo>
                    <a:pt x="964" y="131"/>
                  </a:lnTo>
                  <a:lnTo>
                    <a:pt x="964" y="286"/>
                  </a:lnTo>
                  <a:lnTo>
                    <a:pt x="964" y="440"/>
                  </a:lnTo>
                  <a:lnTo>
                    <a:pt x="964" y="596"/>
                  </a:lnTo>
                  <a:lnTo>
                    <a:pt x="964" y="751"/>
                  </a:lnTo>
                  <a:lnTo>
                    <a:pt x="964" y="905"/>
                  </a:lnTo>
                  <a:lnTo>
                    <a:pt x="964" y="1060"/>
                  </a:lnTo>
                  <a:lnTo>
                    <a:pt x="964" y="1215"/>
                  </a:lnTo>
                  <a:lnTo>
                    <a:pt x="964" y="1370"/>
                  </a:lnTo>
                  <a:lnTo>
                    <a:pt x="964" y="1525"/>
                  </a:lnTo>
                  <a:lnTo>
                    <a:pt x="964" y="1680"/>
                  </a:lnTo>
                  <a:lnTo>
                    <a:pt x="964" y="1835"/>
                  </a:lnTo>
                  <a:lnTo>
                    <a:pt x="964" y="1989"/>
                  </a:lnTo>
                  <a:lnTo>
                    <a:pt x="964" y="2144"/>
                  </a:lnTo>
                  <a:lnTo>
                    <a:pt x="964" y="2300"/>
                  </a:lnTo>
                  <a:lnTo>
                    <a:pt x="964" y="2454"/>
                  </a:lnTo>
                  <a:lnTo>
                    <a:pt x="964" y="260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5" name="Freeform 22"/>
            <p:cNvSpPr>
              <a:spLocks/>
            </p:cNvSpPr>
            <p:nvPr/>
          </p:nvSpPr>
          <p:spPr bwMode="auto">
            <a:xfrm>
              <a:off x="1911703" y="4163339"/>
              <a:ext cx="254000" cy="781050"/>
            </a:xfrm>
            <a:custGeom>
              <a:avLst/>
              <a:gdLst>
                <a:gd name="T0" fmla="*/ 904 w 964"/>
                <a:gd name="T1" fmla="*/ 2507 h 2950"/>
                <a:gd name="T2" fmla="*/ 783 w 964"/>
                <a:gd name="T3" fmla="*/ 2566 h 2950"/>
                <a:gd name="T4" fmla="*/ 663 w 964"/>
                <a:gd name="T5" fmla="*/ 2626 h 2950"/>
                <a:gd name="T6" fmla="*/ 542 w 964"/>
                <a:gd name="T7" fmla="*/ 2685 h 2950"/>
                <a:gd name="T8" fmla="*/ 422 w 964"/>
                <a:gd name="T9" fmla="*/ 2744 h 2950"/>
                <a:gd name="T10" fmla="*/ 301 w 964"/>
                <a:gd name="T11" fmla="*/ 2803 h 2950"/>
                <a:gd name="T12" fmla="*/ 181 w 964"/>
                <a:gd name="T13" fmla="*/ 2861 h 2950"/>
                <a:gd name="T14" fmla="*/ 60 w 964"/>
                <a:gd name="T15" fmla="*/ 2921 h 2950"/>
                <a:gd name="T16" fmla="*/ 0 w 964"/>
                <a:gd name="T17" fmla="*/ 2779 h 2950"/>
                <a:gd name="T18" fmla="*/ 0 w 964"/>
                <a:gd name="T19" fmla="*/ 2437 h 2950"/>
                <a:gd name="T20" fmla="*/ 0 w 964"/>
                <a:gd name="T21" fmla="*/ 2095 h 2950"/>
                <a:gd name="T22" fmla="*/ 0 w 964"/>
                <a:gd name="T23" fmla="*/ 1752 h 2950"/>
                <a:gd name="T24" fmla="*/ 0 w 964"/>
                <a:gd name="T25" fmla="*/ 1410 h 2950"/>
                <a:gd name="T26" fmla="*/ 0 w 964"/>
                <a:gd name="T27" fmla="*/ 1067 h 2950"/>
                <a:gd name="T28" fmla="*/ 0 w 964"/>
                <a:gd name="T29" fmla="*/ 725 h 2950"/>
                <a:gd name="T30" fmla="*/ 0 w 964"/>
                <a:gd name="T31" fmla="*/ 383 h 2950"/>
                <a:gd name="T32" fmla="*/ 60 w 964"/>
                <a:gd name="T33" fmla="*/ 199 h 2950"/>
                <a:gd name="T34" fmla="*/ 181 w 964"/>
                <a:gd name="T35" fmla="*/ 172 h 2950"/>
                <a:gd name="T36" fmla="*/ 301 w 964"/>
                <a:gd name="T37" fmla="*/ 145 h 2950"/>
                <a:gd name="T38" fmla="*/ 422 w 964"/>
                <a:gd name="T39" fmla="*/ 119 h 2950"/>
                <a:gd name="T40" fmla="*/ 542 w 964"/>
                <a:gd name="T41" fmla="*/ 92 h 2950"/>
                <a:gd name="T42" fmla="*/ 663 w 964"/>
                <a:gd name="T43" fmla="*/ 66 h 2950"/>
                <a:gd name="T44" fmla="*/ 783 w 964"/>
                <a:gd name="T45" fmla="*/ 39 h 2950"/>
                <a:gd name="T46" fmla="*/ 904 w 964"/>
                <a:gd name="T47" fmla="*/ 13 h 2950"/>
                <a:gd name="T48" fmla="*/ 964 w 964"/>
                <a:gd name="T49" fmla="*/ 154 h 2950"/>
                <a:gd name="T50" fmla="*/ 964 w 964"/>
                <a:gd name="T51" fmla="*/ 465 h 2950"/>
                <a:gd name="T52" fmla="*/ 964 w 964"/>
                <a:gd name="T53" fmla="*/ 774 h 2950"/>
                <a:gd name="T54" fmla="*/ 964 w 964"/>
                <a:gd name="T55" fmla="*/ 1084 h 2950"/>
                <a:gd name="T56" fmla="*/ 964 w 964"/>
                <a:gd name="T57" fmla="*/ 1393 h 2950"/>
                <a:gd name="T58" fmla="*/ 964 w 964"/>
                <a:gd name="T59" fmla="*/ 1703 h 2950"/>
                <a:gd name="T60" fmla="*/ 964 w 964"/>
                <a:gd name="T61" fmla="*/ 2013 h 2950"/>
                <a:gd name="T62" fmla="*/ 964 w 964"/>
                <a:gd name="T63" fmla="*/ 2323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2950">
                  <a:moveTo>
                    <a:pt x="964" y="2478"/>
                  </a:moveTo>
                  <a:lnTo>
                    <a:pt x="904" y="2507"/>
                  </a:lnTo>
                  <a:lnTo>
                    <a:pt x="844" y="2537"/>
                  </a:lnTo>
                  <a:lnTo>
                    <a:pt x="783" y="2566"/>
                  </a:lnTo>
                  <a:lnTo>
                    <a:pt x="723" y="2596"/>
                  </a:lnTo>
                  <a:lnTo>
                    <a:pt x="663" y="2626"/>
                  </a:lnTo>
                  <a:lnTo>
                    <a:pt x="603" y="2655"/>
                  </a:lnTo>
                  <a:lnTo>
                    <a:pt x="542" y="2685"/>
                  </a:lnTo>
                  <a:lnTo>
                    <a:pt x="482" y="2714"/>
                  </a:lnTo>
                  <a:lnTo>
                    <a:pt x="422" y="2744"/>
                  </a:lnTo>
                  <a:lnTo>
                    <a:pt x="362" y="2774"/>
                  </a:lnTo>
                  <a:lnTo>
                    <a:pt x="301" y="2803"/>
                  </a:lnTo>
                  <a:lnTo>
                    <a:pt x="241" y="2832"/>
                  </a:lnTo>
                  <a:lnTo>
                    <a:pt x="181" y="2861"/>
                  </a:lnTo>
                  <a:lnTo>
                    <a:pt x="121" y="2891"/>
                  </a:lnTo>
                  <a:lnTo>
                    <a:pt x="60" y="2921"/>
                  </a:lnTo>
                  <a:lnTo>
                    <a:pt x="0" y="2950"/>
                  </a:lnTo>
                  <a:lnTo>
                    <a:pt x="0" y="2779"/>
                  </a:lnTo>
                  <a:lnTo>
                    <a:pt x="0" y="2609"/>
                  </a:lnTo>
                  <a:lnTo>
                    <a:pt x="0" y="2437"/>
                  </a:lnTo>
                  <a:lnTo>
                    <a:pt x="0" y="2266"/>
                  </a:lnTo>
                  <a:lnTo>
                    <a:pt x="0" y="2095"/>
                  </a:lnTo>
                  <a:lnTo>
                    <a:pt x="0" y="1923"/>
                  </a:lnTo>
                  <a:lnTo>
                    <a:pt x="0" y="1752"/>
                  </a:lnTo>
                  <a:lnTo>
                    <a:pt x="0" y="1582"/>
                  </a:lnTo>
                  <a:lnTo>
                    <a:pt x="0" y="1410"/>
                  </a:lnTo>
                  <a:lnTo>
                    <a:pt x="0" y="1239"/>
                  </a:lnTo>
                  <a:lnTo>
                    <a:pt x="0" y="1067"/>
                  </a:lnTo>
                  <a:lnTo>
                    <a:pt x="0" y="896"/>
                  </a:lnTo>
                  <a:lnTo>
                    <a:pt x="0" y="725"/>
                  </a:lnTo>
                  <a:lnTo>
                    <a:pt x="0" y="554"/>
                  </a:lnTo>
                  <a:lnTo>
                    <a:pt x="0" y="383"/>
                  </a:lnTo>
                  <a:lnTo>
                    <a:pt x="0" y="212"/>
                  </a:lnTo>
                  <a:lnTo>
                    <a:pt x="60" y="199"/>
                  </a:lnTo>
                  <a:lnTo>
                    <a:pt x="121" y="185"/>
                  </a:lnTo>
                  <a:lnTo>
                    <a:pt x="181" y="172"/>
                  </a:lnTo>
                  <a:lnTo>
                    <a:pt x="241" y="158"/>
                  </a:lnTo>
                  <a:lnTo>
                    <a:pt x="301" y="145"/>
                  </a:lnTo>
                  <a:lnTo>
                    <a:pt x="362" y="132"/>
                  </a:lnTo>
                  <a:lnTo>
                    <a:pt x="422" y="119"/>
                  </a:lnTo>
                  <a:lnTo>
                    <a:pt x="482" y="106"/>
                  </a:lnTo>
                  <a:lnTo>
                    <a:pt x="542" y="92"/>
                  </a:lnTo>
                  <a:lnTo>
                    <a:pt x="603" y="79"/>
                  </a:lnTo>
                  <a:lnTo>
                    <a:pt x="663" y="66"/>
                  </a:lnTo>
                  <a:lnTo>
                    <a:pt x="723" y="52"/>
                  </a:lnTo>
                  <a:lnTo>
                    <a:pt x="783" y="39"/>
                  </a:lnTo>
                  <a:lnTo>
                    <a:pt x="844" y="25"/>
                  </a:lnTo>
                  <a:lnTo>
                    <a:pt x="904" y="13"/>
                  </a:lnTo>
                  <a:lnTo>
                    <a:pt x="964" y="0"/>
                  </a:lnTo>
                  <a:lnTo>
                    <a:pt x="964" y="154"/>
                  </a:lnTo>
                  <a:lnTo>
                    <a:pt x="964" y="309"/>
                  </a:lnTo>
                  <a:lnTo>
                    <a:pt x="964" y="465"/>
                  </a:lnTo>
                  <a:lnTo>
                    <a:pt x="964" y="619"/>
                  </a:lnTo>
                  <a:lnTo>
                    <a:pt x="964" y="774"/>
                  </a:lnTo>
                  <a:lnTo>
                    <a:pt x="964" y="928"/>
                  </a:lnTo>
                  <a:lnTo>
                    <a:pt x="964" y="1084"/>
                  </a:lnTo>
                  <a:lnTo>
                    <a:pt x="964" y="1239"/>
                  </a:lnTo>
                  <a:lnTo>
                    <a:pt x="964" y="1393"/>
                  </a:lnTo>
                  <a:lnTo>
                    <a:pt x="964" y="1548"/>
                  </a:lnTo>
                  <a:lnTo>
                    <a:pt x="964" y="1703"/>
                  </a:lnTo>
                  <a:lnTo>
                    <a:pt x="964" y="1858"/>
                  </a:lnTo>
                  <a:lnTo>
                    <a:pt x="964" y="2013"/>
                  </a:lnTo>
                  <a:lnTo>
                    <a:pt x="964" y="2167"/>
                  </a:lnTo>
                  <a:lnTo>
                    <a:pt x="964" y="2323"/>
                  </a:lnTo>
                  <a:lnTo>
                    <a:pt x="964" y="2478"/>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6" name="Freeform 23"/>
            <p:cNvSpPr>
              <a:spLocks/>
            </p:cNvSpPr>
            <p:nvPr/>
          </p:nvSpPr>
          <p:spPr bwMode="auto">
            <a:xfrm>
              <a:off x="1911703" y="5025352"/>
              <a:ext cx="254000" cy="871538"/>
            </a:xfrm>
            <a:custGeom>
              <a:avLst/>
              <a:gdLst>
                <a:gd name="T0" fmla="*/ 904 w 964"/>
                <a:gd name="T1" fmla="*/ 2530 h 3295"/>
                <a:gd name="T2" fmla="*/ 783 w 964"/>
                <a:gd name="T3" fmla="*/ 2632 h 3295"/>
                <a:gd name="T4" fmla="*/ 663 w 964"/>
                <a:gd name="T5" fmla="*/ 2734 h 3295"/>
                <a:gd name="T6" fmla="*/ 542 w 964"/>
                <a:gd name="T7" fmla="*/ 2835 h 3295"/>
                <a:gd name="T8" fmla="*/ 422 w 964"/>
                <a:gd name="T9" fmla="*/ 2938 h 3295"/>
                <a:gd name="T10" fmla="*/ 301 w 964"/>
                <a:gd name="T11" fmla="*/ 3040 h 3295"/>
                <a:gd name="T12" fmla="*/ 181 w 964"/>
                <a:gd name="T13" fmla="*/ 3142 h 3295"/>
                <a:gd name="T14" fmla="*/ 60 w 964"/>
                <a:gd name="T15" fmla="*/ 3243 h 3295"/>
                <a:gd name="T16" fmla="*/ 0 w 964"/>
                <a:gd name="T17" fmla="*/ 3123 h 3295"/>
                <a:gd name="T18" fmla="*/ 0 w 964"/>
                <a:gd name="T19" fmla="*/ 2781 h 3295"/>
                <a:gd name="T20" fmla="*/ 0 w 964"/>
                <a:gd name="T21" fmla="*/ 2439 h 3295"/>
                <a:gd name="T22" fmla="*/ 0 w 964"/>
                <a:gd name="T23" fmla="*/ 2096 h 3295"/>
                <a:gd name="T24" fmla="*/ 0 w 964"/>
                <a:gd name="T25" fmla="*/ 1754 h 3295"/>
                <a:gd name="T26" fmla="*/ 0 w 964"/>
                <a:gd name="T27" fmla="*/ 1412 h 3295"/>
                <a:gd name="T28" fmla="*/ 0 w 964"/>
                <a:gd name="T29" fmla="*/ 1069 h 3295"/>
                <a:gd name="T30" fmla="*/ 0 w 964"/>
                <a:gd name="T31" fmla="*/ 727 h 3295"/>
                <a:gd name="T32" fmla="*/ 60 w 964"/>
                <a:gd name="T33" fmla="*/ 521 h 3295"/>
                <a:gd name="T34" fmla="*/ 181 w 964"/>
                <a:gd name="T35" fmla="*/ 451 h 3295"/>
                <a:gd name="T36" fmla="*/ 301 w 964"/>
                <a:gd name="T37" fmla="*/ 383 h 3295"/>
                <a:gd name="T38" fmla="*/ 422 w 964"/>
                <a:gd name="T39" fmla="*/ 313 h 3295"/>
                <a:gd name="T40" fmla="*/ 542 w 964"/>
                <a:gd name="T41" fmla="*/ 244 h 3295"/>
                <a:gd name="T42" fmla="*/ 663 w 964"/>
                <a:gd name="T43" fmla="*/ 174 h 3295"/>
                <a:gd name="T44" fmla="*/ 783 w 964"/>
                <a:gd name="T45" fmla="*/ 105 h 3295"/>
                <a:gd name="T46" fmla="*/ 904 w 964"/>
                <a:gd name="T47" fmla="*/ 36 h 3295"/>
                <a:gd name="T48" fmla="*/ 964 w 964"/>
                <a:gd name="T49" fmla="*/ 156 h 3295"/>
                <a:gd name="T50" fmla="*/ 964 w 964"/>
                <a:gd name="T51" fmla="*/ 465 h 3295"/>
                <a:gd name="T52" fmla="*/ 964 w 964"/>
                <a:gd name="T53" fmla="*/ 775 h 3295"/>
                <a:gd name="T54" fmla="*/ 964 w 964"/>
                <a:gd name="T55" fmla="*/ 1085 h 3295"/>
                <a:gd name="T56" fmla="*/ 964 w 964"/>
                <a:gd name="T57" fmla="*/ 1395 h 3295"/>
                <a:gd name="T58" fmla="*/ 964 w 964"/>
                <a:gd name="T59" fmla="*/ 1704 h 3295"/>
                <a:gd name="T60" fmla="*/ 964 w 964"/>
                <a:gd name="T61" fmla="*/ 2014 h 3295"/>
                <a:gd name="T62" fmla="*/ 964 w 964"/>
                <a:gd name="T63" fmla="*/ 2325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4" h="3295">
                  <a:moveTo>
                    <a:pt x="964" y="2479"/>
                  </a:moveTo>
                  <a:lnTo>
                    <a:pt x="904" y="2530"/>
                  </a:lnTo>
                  <a:lnTo>
                    <a:pt x="844" y="2581"/>
                  </a:lnTo>
                  <a:lnTo>
                    <a:pt x="783" y="2632"/>
                  </a:lnTo>
                  <a:lnTo>
                    <a:pt x="723" y="2683"/>
                  </a:lnTo>
                  <a:lnTo>
                    <a:pt x="663" y="2734"/>
                  </a:lnTo>
                  <a:lnTo>
                    <a:pt x="603" y="2785"/>
                  </a:lnTo>
                  <a:lnTo>
                    <a:pt x="542" y="2835"/>
                  </a:lnTo>
                  <a:lnTo>
                    <a:pt x="482" y="2887"/>
                  </a:lnTo>
                  <a:lnTo>
                    <a:pt x="422" y="2938"/>
                  </a:lnTo>
                  <a:lnTo>
                    <a:pt x="362" y="2989"/>
                  </a:lnTo>
                  <a:lnTo>
                    <a:pt x="301" y="3040"/>
                  </a:lnTo>
                  <a:lnTo>
                    <a:pt x="241" y="3090"/>
                  </a:lnTo>
                  <a:lnTo>
                    <a:pt x="181" y="3142"/>
                  </a:lnTo>
                  <a:lnTo>
                    <a:pt x="121" y="3193"/>
                  </a:lnTo>
                  <a:lnTo>
                    <a:pt x="60" y="3243"/>
                  </a:lnTo>
                  <a:lnTo>
                    <a:pt x="0" y="3295"/>
                  </a:lnTo>
                  <a:lnTo>
                    <a:pt x="0" y="3123"/>
                  </a:lnTo>
                  <a:lnTo>
                    <a:pt x="0" y="2952"/>
                  </a:lnTo>
                  <a:lnTo>
                    <a:pt x="0" y="2781"/>
                  </a:lnTo>
                  <a:lnTo>
                    <a:pt x="0" y="2610"/>
                  </a:lnTo>
                  <a:lnTo>
                    <a:pt x="0" y="2439"/>
                  </a:lnTo>
                  <a:lnTo>
                    <a:pt x="0" y="2268"/>
                  </a:lnTo>
                  <a:lnTo>
                    <a:pt x="0" y="2096"/>
                  </a:lnTo>
                  <a:lnTo>
                    <a:pt x="0" y="1925"/>
                  </a:lnTo>
                  <a:lnTo>
                    <a:pt x="0" y="1754"/>
                  </a:lnTo>
                  <a:lnTo>
                    <a:pt x="0" y="1583"/>
                  </a:lnTo>
                  <a:lnTo>
                    <a:pt x="0" y="1412"/>
                  </a:lnTo>
                  <a:lnTo>
                    <a:pt x="0" y="1241"/>
                  </a:lnTo>
                  <a:lnTo>
                    <a:pt x="0" y="1069"/>
                  </a:lnTo>
                  <a:lnTo>
                    <a:pt x="0" y="898"/>
                  </a:lnTo>
                  <a:lnTo>
                    <a:pt x="0" y="727"/>
                  </a:lnTo>
                  <a:lnTo>
                    <a:pt x="0" y="556"/>
                  </a:lnTo>
                  <a:lnTo>
                    <a:pt x="60" y="521"/>
                  </a:lnTo>
                  <a:lnTo>
                    <a:pt x="121" y="487"/>
                  </a:lnTo>
                  <a:lnTo>
                    <a:pt x="181" y="451"/>
                  </a:lnTo>
                  <a:lnTo>
                    <a:pt x="241" y="417"/>
                  </a:lnTo>
                  <a:lnTo>
                    <a:pt x="301" y="383"/>
                  </a:lnTo>
                  <a:lnTo>
                    <a:pt x="362" y="347"/>
                  </a:lnTo>
                  <a:lnTo>
                    <a:pt x="422" y="313"/>
                  </a:lnTo>
                  <a:lnTo>
                    <a:pt x="482" y="278"/>
                  </a:lnTo>
                  <a:lnTo>
                    <a:pt x="542" y="244"/>
                  </a:lnTo>
                  <a:lnTo>
                    <a:pt x="603" y="209"/>
                  </a:lnTo>
                  <a:lnTo>
                    <a:pt x="663" y="174"/>
                  </a:lnTo>
                  <a:lnTo>
                    <a:pt x="723" y="140"/>
                  </a:lnTo>
                  <a:lnTo>
                    <a:pt x="783" y="105"/>
                  </a:lnTo>
                  <a:lnTo>
                    <a:pt x="844" y="70"/>
                  </a:lnTo>
                  <a:lnTo>
                    <a:pt x="904" y="36"/>
                  </a:lnTo>
                  <a:lnTo>
                    <a:pt x="964" y="0"/>
                  </a:lnTo>
                  <a:lnTo>
                    <a:pt x="964" y="156"/>
                  </a:lnTo>
                  <a:lnTo>
                    <a:pt x="964" y="311"/>
                  </a:lnTo>
                  <a:lnTo>
                    <a:pt x="964" y="465"/>
                  </a:lnTo>
                  <a:lnTo>
                    <a:pt x="964" y="621"/>
                  </a:lnTo>
                  <a:lnTo>
                    <a:pt x="964" y="775"/>
                  </a:lnTo>
                  <a:lnTo>
                    <a:pt x="964" y="930"/>
                  </a:lnTo>
                  <a:lnTo>
                    <a:pt x="964" y="1085"/>
                  </a:lnTo>
                  <a:lnTo>
                    <a:pt x="964" y="1240"/>
                  </a:lnTo>
                  <a:lnTo>
                    <a:pt x="964" y="1395"/>
                  </a:lnTo>
                  <a:lnTo>
                    <a:pt x="964" y="1550"/>
                  </a:lnTo>
                  <a:lnTo>
                    <a:pt x="964" y="1704"/>
                  </a:lnTo>
                  <a:lnTo>
                    <a:pt x="964" y="1860"/>
                  </a:lnTo>
                  <a:lnTo>
                    <a:pt x="964" y="2014"/>
                  </a:lnTo>
                  <a:lnTo>
                    <a:pt x="964" y="2169"/>
                  </a:lnTo>
                  <a:lnTo>
                    <a:pt x="964" y="2325"/>
                  </a:lnTo>
                  <a:lnTo>
                    <a:pt x="964"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7" name="Freeform 24"/>
            <p:cNvSpPr>
              <a:spLocks/>
            </p:cNvSpPr>
            <p:nvPr/>
          </p:nvSpPr>
          <p:spPr bwMode="auto">
            <a:xfrm>
              <a:off x="2165703" y="5025352"/>
              <a:ext cx="3003550" cy="655638"/>
            </a:xfrm>
            <a:custGeom>
              <a:avLst/>
              <a:gdLst>
                <a:gd name="T0" fmla="*/ 10358 w 11351"/>
                <a:gd name="T1" fmla="*/ 2479 h 2479"/>
                <a:gd name="T2" fmla="*/ 0 w 11351"/>
                <a:gd name="T3" fmla="*/ 2479 h 2479"/>
                <a:gd name="T4" fmla="*/ 0 w 11351"/>
                <a:gd name="T5" fmla="*/ 0 h 2479"/>
                <a:gd name="T6" fmla="*/ 10358 w 11351"/>
                <a:gd name="T7" fmla="*/ 0 h 2479"/>
                <a:gd name="T8" fmla="*/ 11351 w 11351"/>
                <a:gd name="T9" fmla="*/ 1240 h 2479"/>
                <a:gd name="T10" fmla="*/ 10358 w 11351"/>
                <a:gd name="T11" fmla="*/ 2479 h 2479"/>
              </a:gdLst>
              <a:ahLst/>
              <a:cxnLst>
                <a:cxn ang="0">
                  <a:pos x="T0" y="T1"/>
                </a:cxn>
                <a:cxn ang="0">
                  <a:pos x="T2" y="T3"/>
                </a:cxn>
                <a:cxn ang="0">
                  <a:pos x="T4" y="T5"/>
                </a:cxn>
                <a:cxn ang="0">
                  <a:pos x="T6" y="T7"/>
                </a:cxn>
                <a:cxn ang="0">
                  <a:pos x="T8" y="T9"/>
                </a:cxn>
                <a:cxn ang="0">
                  <a:pos x="T10" y="T11"/>
                </a:cxn>
              </a:cxnLst>
              <a:rect l="0" t="0" r="r" b="b"/>
              <a:pathLst>
                <a:path w="11351" h="2479">
                  <a:moveTo>
                    <a:pt x="10358" y="2479"/>
                  </a:moveTo>
                  <a:lnTo>
                    <a:pt x="0" y="2479"/>
                  </a:lnTo>
                  <a:lnTo>
                    <a:pt x="0" y="0"/>
                  </a:lnTo>
                  <a:lnTo>
                    <a:pt x="10358" y="0"/>
                  </a:lnTo>
                  <a:lnTo>
                    <a:pt x="11351" y="1240"/>
                  </a:lnTo>
                  <a:lnTo>
                    <a:pt x="10358" y="2479"/>
                  </a:lnTo>
                  <a:close/>
                </a:path>
              </a:pathLst>
            </a:custGeom>
            <a:solidFill>
              <a:srgbClr val="26527E"/>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8" name="Freeform 25"/>
            <p:cNvSpPr>
              <a:spLocks noEditPoints="1"/>
            </p:cNvSpPr>
            <p:nvPr/>
          </p:nvSpPr>
          <p:spPr bwMode="auto">
            <a:xfrm>
              <a:off x="1384655" y="3385464"/>
              <a:ext cx="328613" cy="488950"/>
            </a:xfrm>
            <a:custGeom>
              <a:avLst/>
              <a:gdLst>
                <a:gd name="T0" fmla="*/ 1213 w 1240"/>
                <a:gd name="T1" fmla="*/ 438 h 1850"/>
                <a:gd name="T2" fmla="*/ 1118 w 1240"/>
                <a:gd name="T3" fmla="*/ 250 h 1850"/>
                <a:gd name="T4" fmla="*/ 968 w 1240"/>
                <a:gd name="T5" fmla="*/ 107 h 1850"/>
                <a:gd name="T6" fmla="*/ 776 w 1240"/>
                <a:gd name="T7" fmla="*/ 20 h 1850"/>
                <a:gd name="T8" fmla="*/ 558 w 1240"/>
                <a:gd name="T9" fmla="*/ 3 h 1850"/>
                <a:gd name="T10" fmla="*/ 352 w 1240"/>
                <a:gd name="T11" fmla="*/ 61 h 1850"/>
                <a:gd name="T12" fmla="*/ 183 w 1240"/>
                <a:gd name="T13" fmla="*/ 181 h 1850"/>
                <a:gd name="T14" fmla="*/ 62 w 1240"/>
                <a:gd name="T15" fmla="*/ 350 h 1850"/>
                <a:gd name="T16" fmla="*/ 3 w 1240"/>
                <a:gd name="T17" fmla="*/ 556 h 1850"/>
                <a:gd name="T18" fmla="*/ 12 w 1240"/>
                <a:gd name="T19" fmla="*/ 747 h 1850"/>
                <a:gd name="T20" fmla="*/ 75 w 1240"/>
                <a:gd name="T21" fmla="*/ 915 h 1850"/>
                <a:gd name="T22" fmla="*/ 198 w 1240"/>
                <a:gd name="T23" fmla="*/ 1092 h 1850"/>
                <a:gd name="T24" fmla="*/ 299 w 1240"/>
                <a:gd name="T25" fmla="*/ 1632 h 1850"/>
                <a:gd name="T26" fmla="*/ 318 w 1240"/>
                <a:gd name="T27" fmla="*/ 1670 h 1850"/>
                <a:gd name="T28" fmla="*/ 355 w 1240"/>
                <a:gd name="T29" fmla="*/ 1688 h 1850"/>
                <a:gd name="T30" fmla="*/ 442 w 1240"/>
                <a:gd name="T31" fmla="*/ 1770 h 1850"/>
                <a:gd name="T32" fmla="*/ 500 w 1240"/>
                <a:gd name="T33" fmla="*/ 1834 h 1850"/>
                <a:gd name="T34" fmla="*/ 684 w 1240"/>
                <a:gd name="T35" fmla="*/ 1849 h 1850"/>
                <a:gd name="T36" fmla="*/ 764 w 1240"/>
                <a:gd name="T37" fmla="*/ 1812 h 1850"/>
                <a:gd name="T38" fmla="*/ 802 w 1240"/>
                <a:gd name="T39" fmla="*/ 1733 h 1850"/>
                <a:gd name="T40" fmla="*/ 897 w 1240"/>
                <a:gd name="T41" fmla="*/ 1684 h 1850"/>
                <a:gd name="T42" fmla="*/ 928 w 1240"/>
                <a:gd name="T43" fmla="*/ 1658 h 1850"/>
                <a:gd name="T44" fmla="*/ 956 w 1240"/>
                <a:gd name="T45" fmla="*/ 1218 h 1850"/>
                <a:gd name="T46" fmla="*/ 1106 w 1240"/>
                <a:gd name="T47" fmla="*/ 1004 h 1850"/>
                <a:gd name="T48" fmla="*/ 1197 w 1240"/>
                <a:gd name="T49" fmla="*/ 848 h 1850"/>
                <a:gd name="T50" fmla="*/ 1237 w 1240"/>
                <a:gd name="T51" fmla="*/ 674 h 1850"/>
                <a:gd name="T52" fmla="*/ 571 w 1240"/>
                <a:gd name="T53" fmla="*/ 741 h 1850"/>
                <a:gd name="T54" fmla="*/ 611 w 1240"/>
                <a:gd name="T55" fmla="*/ 734 h 1850"/>
                <a:gd name="T56" fmla="*/ 736 w 1240"/>
                <a:gd name="T57" fmla="*/ 743 h 1850"/>
                <a:gd name="T58" fmla="*/ 708 w 1240"/>
                <a:gd name="T59" fmla="*/ 1170 h 1850"/>
                <a:gd name="T60" fmla="*/ 424 w 1240"/>
                <a:gd name="T61" fmla="*/ 1564 h 1850"/>
                <a:gd name="T62" fmla="*/ 923 w 1240"/>
                <a:gd name="T63" fmla="*/ 658 h 1850"/>
                <a:gd name="T64" fmla="*/ 897 w 1240"/>
                <a:gd name="T65" fmla="*/ 606 h 1850"/>
                <a:gd name="T66" fmla="*/ 839 w 1240"/>
                <a:gd name="T67" fmla="*/ 621 h 1850"/>
                <a:gd name="T68" fmla="*/ 704 w 1240"/>
                <a:gd name="T69" fmla="*/ 568 h 1850"/>
                <a:gd name="T70" fmla="*/ 584 w 1240"/>
                <a:gd name="T71" fmla="*/ 669 h 1850"/>
                <a:gd name="T72" fmla="*/ 484 w 1240"/>
                <a:gd name="T73" fmla="*/ 592 h 1850"/>
                <a:gd name="T74" fmla="*/ 394 w 1240"/>
                <a:gd name="T75" fmla="*/ 612 h 1850"/>
                <a:gd name="T76" fmla="*/ 335 w 1240"/>
                <a:gd name="T77" fmla="*/ 609 h 1850"/>
                <a:gd name="T78" fmla="*/ 432 w 1240"/>
                <a:gd name="T79" fmla="*/ 1169 h 1850"/>
                <a:gd name="T80" fmla="*/ 274 w 1240"/>
                <a:gd name="T81" fmla="*/ 984 h 1850"/>
                <a:gd name="T82" fmla="*/ 174 w 1240"/>
                <a:gd name="T83" fmla="*/ 837 h 1850"/>
                <a:gd name="T84" fmla="*/ 130 w 1240"/>
                <a:gd name="T85" fmla="*/ 701 h 1850"/>
                <a:gd name="T86" fmla="*/ 129 w 1240"/>
                <a:gd name="T87" fmla="*/ 544 h 1850"/>
                <a:gd name="T88" fmla="*/ 184 w 1240"/>
                <a:gd name="T89" fmla="*/ 383 h 1850"/>
                <a:gd name="T90" fmla="*/ 288 w 1240"/>
                <a:gd name="T91" fmla="*/ 252 h 1850"/>
                <a:gd name="T92" fmla="*/ 428 w 1240"/>
                <a:gd name="T93" fmla="*/ 162 h 1850"/>
                <a:gd name="T94" fmla="*/ 595 w 1240"/>
                <a:gd name="T95" fmla="*/ 125 h 1850"/>
                <a:gd name="T96" fmla="*/ 768 w 1240"/>
                <a:gd name="T97" fmla="*/ 146 h 1850"/>
                <a:gd name="T98" fmla="*/ 917 w 1240"/>
                <a:gd name="T99" fmla="*/ 223 h 1850"/>
                <a:gd name="T100" fmla="*/ 1032 w 1240"/>
                <a:gd name="T101" fmla="*/ 345 h 1850"/>
                <a:gd name="T102" fmla="*/ 1100 w 1240"/>
                <a:gd name="T103" fmla="*/ 498 h 1850"/>
                <a:gd name="T104" fmla="*/ 1114 w 1240"/>
                <a:gd name="T105" fmla="*/ 663 h 1850"/>
                <a:gd name="T106" fmla="*/ 1081 w 1240"/>
                <a:gd name="T107" fmla="*/ 803 h 1850"/>
                <a:gd name="T108" fmla="*/ 1008 w 1240"/>
                <a:gd name="T109" fmla="*/ 927 h 1850"/>
                <a:gd name="T110" fmla="*/ 858 w 1240"/>
                <a:gd name="T111" fmla="*/ 1139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0" h="1850">
                  <a:moveTo>
                    <a:pt x="1240" y="622"/>
                  </a:moveTo>
                  <a:lnTo>
                    <a:pt x="1240" y="590"/>
                  </a:lnTo>
                  <a:lnTo>
                    <a:pt x="1236" y="559"/>
                  </a:lnTo>
                  <a:lnTo>
                    <a:pt x="1233" y="528"/>
                  </a:lnTo>
                  <a:lnTo>
                    <a:pt x="1228" y="497"/>
                  </a:lnTo>
                  <a:lnTo>
                    <a:pt x="1220" y="467"/>
                  </a:lnTo>
                  <a:lnTo>
                    <a:pt x="1213" y="438"/>
                  </a:lnTo>
                  <a:lnTo>
                    <a:pt x="1202" y="409"/>
                  </a:lnTo>
                  <a:lnTo>
                    <a:pt x="1191" y="380"/>
                  </a:lnTo>
                  <a:lnTo>
                    <a:pt x="1180" y="353"/>
                  </a:lnTo>
                  <a:lnTo>
                    <a:pt x="1166" y="326"/>
                  </a:lnTo>
                  <a:lnTo>
                    <a:pt x="1151" y="300"/>
                  </a:lnTo>
                  <a:lnTo>
                    <a:pt x="1135" y="275"/>
                  </a:lnTo>
                  <a:lnTo>
                    <a:pt x="1118" y="250"/>
                  </a:lnTo>
                  <a:lnTo>
                    <a:pt x="1099" y="227"/>
                  </a:lnTo>
                  <a:lnTo>
                    <a:pt x="1080" y="204"/>
                  </a:lnTo>
                  <a:lnTo>
                    <a:pt x="1059" y="183"/>
                  </a:lnTo>
                  <a:lnTo>
                    <a:pt x="1037" y="162"/>
                  </a:lnTo>
                  <a:lnTo>
                    <a:pt x="1015" y="142"/>
                  </a:lnTo>
                  <a:lnTo>
                    <a:pt x="991" y="124"/>
                  </a:lnTo>
                  <a:lnTo>
                    <a:pt x="968" y="107"/>
                  </a:lnTo>
                  <a:lnTo>
                    <a:pt x="942" y="91"/>
                  </a:lnTo>
                  <a:lnTo>
                    <a:pt x="916" y="76"/>
                  </a:lnTo>
                  <a:lnTo>
                    <a:pt x="889" y="62"/>
                  </a:lnTo>
                  <a:lnTo>
                    <a:pt x="863" y="49"/>
                  </a:lnTo>
                  <a:lnTo>
                    <a:pt x="834" y="38"/>
                  </a:lnTo>
                  <a:lnTo>
                    <a:pt x="805" y="29"/>
                  </a:lnTo>
                  <a:lnTo>
                    <a:pt x="776" y="20"/>
                  </a:lnTo>
                  <a:lnTo>
                    <a:pt x="746" y="13"/>
                  </a:lnTo>
                  <a:lnTo>
                    <a:pt x="716" y="7"/>
                  </a:lnTo>
                  <a:lnTo>
                    <a:pt x="685" y="3"/>
                  </a:lnTo>
                  <a:lnTo>
                    <a:pt x="653" y="1"/>
                  </a:lnTo>
                  <a:lnTo>
                    <a:pt x="621" y="0"/>
                  </a:lnTo>
                  <a:lnTo>
                    <a:pt x="590" y="1"/>
                  </a:lnTo>
                  <a:lnTo>
                    <a:pt x="558" y="3"/>
                  </a:lnTo>
                  <a:lnTo>
                    <a:pt x="526" y="7"/>
                  </a:lnTo>
                  <a:lnTo>
                    <a:pt x="496" y="13"/>
                  </a:lnTo>
                  <a:lnTo>
                    <a:pt x="466" y="19"/>
                  </a:lnTo>
                  <a:lnTo>
                    <a:pt x="437" y="28"/>
                  </a:lnTo>
                  <a:lnTo>
                    <a:pt x="408" y="37"/>
                  </a:lnTo>
                  <a:lnTo>
                    <a:pt x="380" y="48"/>
                  </a:lnTo>
                  <a:lnTo>
                    <a:pt x="352" y="61"/>
                  </a:lnTo>
                  <a:lnTo>
                    <a:pt x="325" y="74"/>
                  </a:lnTo>
                  <a:lnTo>
                    <a:pt x="299" y="89"/>
                  </a:lnTo>
                  <a:lnTo>
                    <a:pt x="275" y="105"/>
                  </a:lnTo>
                  <a:lnTo>
                    <a:pt x="250" y="123"/>
                  </a:lnTo>
                  <a:lnTo>
                    <a:pt x="227" y="141"/>
                  </a:lnTo>
                  <a:lnTo>
                    <a:pt x="204" y="160"/>
                  </a:lnTo>
                  <a:lnTo>
                    <a:pt x="183" y="181"/>
                  </a:lnTo>
                  <a:lnTo>
                    <a:pt x="161" y="202"/>
                  </a:lnTo>
                  <a:lnTo>
                    <a:pt x="142" y="225"/>
                  </a:lnTo>
                  <a:lnTo>
                    <a:pt x="124" y="248"/>
                  </a:lnTo>
                  <a:lnTo>
                    <a:pt x="107" y="273"/>
                  </a:lnTo>
                  <a:lnTo>
                    <a:pt x="91" y="297"/>
                  </a:lnTo>
                  <a:lnTo>
                    <a:pt x="76" y="323"/>
                  </a:lnTo>
                  <a:lnTo>
                    <a:pt x="62" y="350"/>
                  </a:lnTo>
                  <a:lnTo>
                    <a:pt x="49" y="378"/>
                  </a:lnTo>
                  <a:lnTo>
                    <a:pt x="38" y="406"/>
                  </a:lnTo>
                  <a:lnTo>
                    <a:pt x="27" y="434"/>
                  </a:lnTo>
                  <a:lnTo>
                    <a:pt x="19" y="463"/>
                  </a:lnTo>
                  <a:lnTo>
                    <a:pt x="12" y="493"/>
                  </a:lnTo>
                  <a:lnTo>
                    <a:pt x="7" y="524"/>
                  </a:lnTo>
                  <a:lnTo>
                    <a:pt x="3" y="556"/>
                  </a:lnTo>
                  <a:lnTo>
                    <a:pt x="1" y="587"/>
                  </a:lnTo>
                  <a:lnTo>
                    <a:pt x="0" y="619"/>
                  </a:lnTo>
                  <a:lnTo>
                    <a:pt x="0" y="644"/>
                  </a:lnTo>
                  <a:lnTo>
                    <a:pt x="2" y="671"/>
                  </a:lnTo>
                  <a:lnTo>
                    <a:pt x="4" y="697"/>
                  </a:lnTo>
                  <a:lnTo>
                    <a:pt x="8" y="723"/>
                  </a:lnTo>
                  <a:lnTo>
                    <a:pt x="12" y="747"/>
                  </a:lnTo>
                  <a:lnTo>
                    <a:pt x="18" y="772"/>
                  </a:lnTo>
                  <a:lnTo>
                    <a:pt x="25" y="796"/>
                  </a:lnTo>
                  <a:lnTo>
                    <a:pt x="33" y="821"/>
                  </a:lnTo>
                  <a:lnTo>
                    <a:pt x="41" y="846"/>
                  </a:lnTo>
                  <a:lnTo>
                    <a:pt x="51" y="869"/>
                  </a:lnTo>
                  <a:lnTo>
                    <a:pt x="62" y="892"/>
                  </a:lnTo>
                  <a:lnTo>
                    <a:pt x="75" y="915"/>
                  </a:lnTo>
                  <a:lnTo>
                    <a:pt x="86" y="937"/>
                  </a:lnTo>
                  <a:lnTo>
                    <a:pt x="100" y="959"/>
                  </a:lnTo>
                  <a:lnTo>
                    <a:pt x="115" y="981"/>
                  </a:lnTo>
                  <a:lnTo>
                    <a:pt x="131" y="1002"/>
                  </a:lnTo>
                  <a:lnTo>
                    <a:pt x="154" y="1031"/>
                  </a:lnTo>
                  <a:lnTo>
                    <a:pt x="176" y="1061"/>
                  </a:lnTo>
                  <a:lnTo>
                    <a:pt x="198" y="1092"/>
                  </a:lnTo>
                  <a:lnTo>
                    <a:pt x="220" y="1122"/>
                  </a:lnTo>
                  <a:lnTo>
                    <a:pt x="241" y="1154"/>
                  </a:lnTo>
                  <a:lnTo>
                    <a:pt x="261" y="1185"/>
                  </a:lnTo>
                  <a:lnTo>
                    <a:pt x="281" y="1217"/>
                  </a:lnTo>
                  <a:lnTo>
                    <a:pt x="301" y="1248"/>
                  </a:lnTo>
                  <a:lnTo>
                    <a:pt x="299" y="1625"/>
                  </a:lnTo>
                  <a:lnTo>
                    <a:pt x="299" y="1632"/>
                  </a:lnTo>
                  <a:lnTo>
                    <a:pt x="301" y="1638"/>
                  </a:lnTo>
                  <a:lnTo>
                    <a:pt x="302" y="1645"/>
                  </a:lnTo>
                  <a:lnTo>
                    <a:pt x="304" y="1650"/>
                  </a:lnTo>
                  <a:lnTo>
                    <a:pt x="307" y="1655"/>
                  </a:lnTo>
                  <a:lnTo>
                    <a:pt x="310" y="1661"/>
                  </a:lnTo>
                  <a:lnTo>
                    <a:pt x="313" y="1665"/>
                  </a:lnTo>
                  <a:lnTo>
                    <a:pt x="318" y="1670"/>
                  </a:lnTo>
                  <a:lnTo>
                    <a:pt x="322" y="1674"/>
                  </a:lnTo>
                  <a:lnTo>
                    <a:pt x="326" y="1678"/>
                  </a:lnTo>
                  <a:lnTo>
                    <a:pt x="332" y="1681"/>
                  </a:lnTo>
                  <a:lnTo>
                    <a:pt x="337" y="1683"/>
                  </a:lnTo>
                  <a:lnTo>
                    <a:pt x="342" y="1685"/>
                  </a:lnTo>
                  <a:lnTo>
                    <a:pt x="349" y="1686"/>
                  </a:lnTo>
                  <a:lnTo>
                    <a:pt x="355" y="1688"/>
                  </a:lnTo>
                  <a:lnTo>
                    <a:pt x="362" y="1689"/>
                  </a:lnTo>
                  <a:lnTo>
                    <a:pt x="431" y="1689"/>
                  </a:lnTo>
                  <a:lnTo>
                    <a:pt x="431" y="1719"/>
                  </a:lnTo>
                  <a:lnTo>
                    <a:pt x="432" y="1731"/>
                  </a:lnTo>
                  <a:lnTo>
                    <a:pt x="434" y="1745"/>
                  </a:lnTo>
                  <a:lnTo>
                    <a:pt x="438" y="1757"/>
                  </a:lnTo>
                  <a:lnTo>
                    <a:pt x="442" y="1770"/>
                  </a:lnTo>
                  <a:lnTo>
                    <a:pt x="447" y="1781"/>
                  </a:lnTo>
                  <a:lnTo>
                    <a:pt x="454" y="1791"/>
                  </a:lnTo>
                  <a:lnTo>
                    <a:pt x="461" y="1802"/>
                  </a:lnTo>
                  <a:lnTo>
                    <a:pt x="470" y="1812"/>
                  </a:lnTo>
                  <a:lnTo>
                    <a:pt x="479" y="1819"/>
                  </a:lnTo>
                  <a:lnTo>
                    <a:pt x="489" y="1828"/>
                  </a:lnTo>
                  <a:lnTo>
                    <a:pt x="500" y="1834"/>
                  </a:lnTo>
                  <a:lnTo>
                    <a:pt x="511" y="1840"/>
                  </a:lnTo>
                  <a:lnTo>
                    <a:pt x="523" y="1844"/>
                  </a:lnTo>
                  <a:lnTo>
                    <a:pt x="536" y="1847"/>
                  </a:lnTo>
                  <a:lnTo>
                    <a:pt x="549" y="1849"/>
                  </a:lnTo>
                  <a:lnTo>
                    <a:pt x="563" y="1850"/>
                  </a:lnTo>
                  <a:lnTo>
                    <a:pt x="671" y="1850"/>
                  </a:lnTo>
                  <a:lnTo>
                    <a:pt x="684" y="1849"/>
                  </a:lnTo>
                  <a:lnTo>
                    <a:pt x="698" y="1847"/>
                  </a:lnTo>
                  <a:lnTo>
                    <a:pt x="710" y="1844"/>
                  </a:lnTo>
                  <a:lnTo>
                    <a:pt x="722" y="1840"/>
                  </a:lnTo>
                  <a:lnTo>
                    <a:pt x="733" y="1834"/>
                  </a:lnTo>
                  <a:lnTo>
                    <a:pt x="744" y="1828"/>
                  </a:lnTo>
                  <a:lnTo>
                    <a:pt x="755" y="1820"/>
                  </a:lnTo>
                  <a:lnTo>
                    <a:pt x="764" y="1812"/>
                  </a:lnTo>
                  <a:lnTo>
                    <a:pt x="772" y="1803"/>
                  </a:lnTo>
                  <a:lnTo>
                    <a:pt x="780" y="1793"/>
                  </a:lnTo>
                  <a:lnTo>
                    <a:pt x="787" y="1782"/>
                  </a:lnTo>
                  <a:lnTo>
                    <a:pt x="792" y="1770"/>
                  </a:lnTo>
                  <a:lnTo>
                    <a:pt x="796" y="1758"/>
                  </a:lnTo>
                  <a:lnTo>
                    <a:pt x="800" y="1745"/>
                  </a:lnTo>
                  <a:lnTo>
                    <a:pt x="802" y="1733"/>
                  </a:lnTo>
                  <a:lnTo>
                    <a:pt x="803" y="1720"/>
                  </a:lnTo>
                  <a:lnTo>
                    <a:pt x="803" y="1690"/>
                  </a:lnTo>
                  <a:lnTo>
                    <a:pt x="872" y="1690"/>
                  </a:lnTo>
                  <a:lnTo>
                    <a:pt x="879" y="1690"/>
                  </a:lnTo>
                  <a:lnTo>
                    <a:pt x="885" y="1689"/>
                  </a:lnTo>
                  <a:lnTo>
                    <a:pt x="892" y="1686"/>
                  </a:lnTo>
                  <a:lnTo>
                    <a:pt x="897" y="1684"/>
                  </a:lnTo>
                  <a:lnTo>
                    <a:pt x="902" y="1682"/>
                  </a:lnTo>
                  <a:lnTo>
                    <a:pt x="908" y="1679"/>
                  </a:lnTo>
                  <a:lnTo>
                    <a:pt x="912" y="1676"/>
                  </a:lnTo>
                  <a:lnTo>
                    <a:pt x="917" y="1671"/>
                  </a:lnTo>
                  <a:lnTo>
                    <a:pt x="921" y="1667"/>
                  </a:lnTo>
                  <a:lnTo>
                    <a:pt x="925" y="1662"/>
                  </a:lnTo>
                  <a:lnTo>
                    <a:pt x="928" y="1658"/>
                  </a:lnTo>
                  <a:lnTo>
                    <a:pt x="930" y="1652"/>
                  </a:lnTo>
                  <a:lnTo>
                    <a:pt x="932" y="1646"/>
                  </a:lnTo>
                  <a:lnTo>
                    <a:pt x="933" y="1640"/>
                  </a:lnTo>
                  <a:lnTo>
                    <a:pt x="934" y="1634"/>
                  </a:lnTo>
                  <a:lnTo>
                    <a:pt x="936" y="1628"/>
                  </a:lnTo>
                  <a:lnTo>
                    <a:pt x="937" y="1251"/>
                  </a:lnTo>
                  <a:lnTo>
                    <a:pt x="956" y="1218"/>
                  </a:lnTo>
                  <a:lnTo>
                    <a:pt x="975" y="1187"/>
                  </a:lnTo>
                  <a:lnTo>
                    <a:pt x="995" y="1156"/>
                  </a:lnTo>
                  <a:lnTo>
                    <a:pt x="1017" y="1125"/>
                  </a:lnTo>
                  <a:lnTo>
                    <a:pt x="1038" y="1094"/>
                  </a:lnTo>
                  <a:lnTo>
                    <a:pt x="1061" y="1064"/>
                  </a:lnTo>
                  <a:lnTo>
                    <a:pt x="1083" y="1033"/>
                  </a:lnTo>
                  <a:lnTo>
                    <a:pt x="1106" y="1004"/>
                  </a:lnTo>
                  <a:lnTo>
                    <a:pt x="1122" y="983"/>
                  </a:lnTo>
                  <a:lnTo>
                    <a:pt x="1137" y="961"/>
                  </a:lnTo>
                  <a:lnTo>
                    <a:pt x="1151" y="940"/>
                  </a:lnTo>
                  <a:lnTo>
                    <a:pt x="1164" y="918"/>
                  </a:lnTo>
                  <a:lnTo>
                    <a:pt x="1175" y="895"/>
                  </a:lnTo>
                  <a:lnTo>
                    <a:pt x="1187" y="871"/>
                  </a:lnTo>
                  <a:lnTo>
                    <a:pt x="1197" y="848"/>
                  </a:lnTo>
                  <a:lnTo>
                    <a:pt x="1205" y="824"/>
                  </a:lnTo>
                  <a:lnTo>
                    <a:pt x="1214" y="800"/>
                  </a:lnTo>
                  <a:lnTo>
                    <a:pt x="1220" y="775"/>
                  </a:lnTo>
                  <a:lnTo>
                    <a:pt x="1227" y="750"/>
                  </a:lnTo>
                  <a:lnTo>
                    <a:pt x="1231" y="725"/>
                  </a:lnTo>
                  <a:lnTo>
                    <a:pt x="1235" y="700"/>
                  </a:lnTo>
                  <a:lnTo>
                    <a:pt x="1237" y="674"/>
                  </a:lnTo>
                  <a:lnTo>
                    <a:pt x="1240" y="648"/>
                  </a:lnTo>
                  <a:lnTo>
                    <a:pt x="1240" y="622"/>
                  </a:lnTo>
                  <a:close/>
                  <a:moveTo>
                    <a:pt x="529" y="1169"/>
                  </a:moveTo>
                  <a:lnTo>
                    <a:pt x="422" y="701"/>
                  </a:lnTo>
                  <a:lnTo>
                    <a:pt x="487" y="662"/>
                  </a:lnTo>
                  <a:lnTo>
                    <a:pt x="566" y="737"/>
                  </a:lnTo>
                  <a:lnTo>
                    <a:pt x="571" y="741"/>
                  </a:lnTo>
                  <a:lnTo>
                    <a:pt x="577" y="743"/>
                  </a:lnTo>
                  <a:lnTo>
                    <a:pt x="583" y="745"/>
                  </a:lnTo>
                  <a:lnTo>
                    <a:pt x="590" y="745"/>
                  </a:lnTo>
                  <a:lnTo>
                    <a:pt x="596" y="744"/>
                  </a:lnTo>
                  <a:lnTo>
                    <a:pt x="601" y="742"/>
                  </a:lnTo>
                  <a:lnTo>
                    <a:pt x="607" y="739"/>
                  </a:lnTo>
                  <a:lnTo>
                    <a:pt x="611" y="734"/>
                  </a:lnTo>
                  <a:lnTo>
                    <a:pt x="681" y="650"/>
                  </a:lnTo>
                  <a:lnTo>
                    <a:pt x="720" y="729"/>
                  </a:lnTo>
                  <a:lnTo>
                    <a:pt x="722" y="732"/>
                  </a:lnTo>
                  <a:lnTo>
                    <a:pt x="726" y="735"/>
                  </a:lnTo>
                  <a:lnTo>
                    <a:pt x="729" y="739"/>
                  </a:lnTo>
                  <a:lnTo>
                    <a:pt x="732" y="741"/>
                  </a:lnTo>
                  <a:lnTo>
                    <a:pt x="736" y="743"/>
                  </a:lnTo>
                  <a:lnTo>
                    <a:pt x="740" y="744"/>
                  </a:lnTo>
                  <a:lnTo>
                    <a:pt x="744" y="745"/>
                  </a:lnTo>
                  <a:lnTo>
                    <a:pt x="748" y="746"/>
                  </a:lnTo>
                  <a:lnTo>
                    <a:pt x="755" y="745"/>
                  </a:lnTo>
                  <a:lnTo>
                    <a:pt x="760" y="743"/>
                  </a:lnTo>
                  <a:lnTo>
                    <a:pt x="812" y="722"/>
                  </a:lnTo>
                  <a:lnTo>
                    <a:pt x="708" y="1170"/>
                  </a:lnTo>
                  <a:lnTo>
                    <a:pt x="529" y="1169"/>
                  </a:lnTo>
                  <a:close/>
                  <a:moveTo>
                    <a:pt x="811" y="1294"/>
                  </a:moveTo>
                  <a:lnTo>
                    <a:pt x="811" y="1398"/>
                  </a:lnTo>
                  <a:lnTo>
                    <a:pt x="424" y="1397"/>
                  </a:lnTo>
                  <a:lnTo>
                    <a:pt x="425" y="1293"/>
                  </a:lnTo>
                  <a:lnTo>
                    <a:pt x="811" y="1294"/>
                  </a:lnTo>
                  <a:close/>
                  <a:moveTo>
                    <a:pt x="424" y="1564"/>
                  </a:moveTo>
                  <a:lnTo>
                    <a:pt x="424" y="1459"/>
                  </a:lnTo>
                  <a:lnTo>
                    <a:pt x="811" y="1461"/>
                  </a:lnTo>
                  <a:lnTo>
                    <a:pt x="811" y="1565"/>
                  </a:lnTo>
                  <a:lnTo>
                    <a:pt x="424" y="1564"/>
                  </a:lnTo>
                  <a:close/>
                  <a:moveTo>
                    <a:pt x="839" y="1170"/>
                  </a:moveTo>
                  <a:lnTo>
                    <a:pt x="804" y="1170"/>
                  </a:lnTo>
                  <a:lnTo>
                    <a:pt x="923" y="658"/>
                  </a:lnTo>
                  <a:lnTo>
                    <a:pt x="924" y="649"/>
                  </a:lnTo>
                  <a:lnTo>
                    <a:pt x="923" y="640"/>
                  </a:lnTo>
                  <a:lnTo>
                    <a:pt x="921" y="632"/>
                  </a:lnTo>
                  <a:lnTo>
                    <a:pt x="917" y="623"/>
                  </a:lnTo>
                  <a:lnTo>
                    <a:pt x="911" y="615"/>
                  </a:lnTo>
                  <a:lnTo>
                    <a:pt x="904" y="610"/>
                  </a:lnTo>
                  <a:lnTo>
                    <a:pt x="897" y="606"/>
                  </a:lnTo>
                  <a:lnTo>
                    <a:pt x="887" y="603"/>
                  </a:lnTo>
                  <a:lnTo>
                    <a:pt x="879" y="602"/>
                  </a:lnTo>
                  <a:lnTo>
                    <a:pt x="869" y="602"/>
                  </a:lnTo>
                  <a:lnTo>
                    <a:pt x="861" y="604"/>
                  </a:lnTo>
                  <a:lnTo>
                    <a:pt x="853" y="608"/>
                  </a:lnTo>
                  <a:lnTo>
                    <a:pt x="846" y="613"/>
                  </a:lnTo>
                  <a:lnTo>
                    <a:pt x="839" y="621"/>
                  </a:lnTo>
                  <a:lnTo>
                    <a:pt x="835" y="628"/>
                  </a:lnTo>
                  <a:lnTo>
                    <a:pt x="832" y="637"/>
                  </a:lnTo>
                  <a:lnTo>
                    <a:pt x="830" y="648"/>
                  </a:lnTo>
                  <a:lnTo>
                    <a:pt x="763" y="675"/>
                  </a:lnTo>
                  <a:lnTo>
                    <a:pt x="715" y="580"/>
                  </a:lnTo>
                  <a:lnTo>
                    <a:pt x="711" y="574"/>
                  </a:lnTo>
                  <a:lnTo>
                    <a:pt x="704" y="568"/>
                  </a:lnTo>
                  <a:lnTo>
                    <a:pt x="698" y="565"/>
                  </a:lnTo>
                  <a:lnTo>
                    <a:pt x="690" y="563"/>
                  </a:lnTo>
                  <a:lnTo>
                    <a:pt x="683" y="563"/>
                  </a:lnTo>
                  <a:lnTo>
                    <a:pt x="675" y="565"/>
                  </a:lnTo>
                  <a:lnTo>
                    <a:pt x="669" y="568"/>
                  </a:lnTo>
                  <a:lnTo>
                    <a:pt x="662" y="574"/>
                  </a:lnTo>
                  <a:lnTo>
                    <a:pt x="584" y="669"/>
                  </a:lnTo>
                  <a:lnTo>
                    <a:pt x="513" y="600"/>
                  </a:lnTo>
                  <a:lnTo>
                    <a:pt x="508" y="597"/>
                  </a:lnTo>
                  <a:lnTo>
                    <a:pt x="504" y="594"/>
                  </a:lnTo>
                  <a:lnTo>
                    <a:pt x="499" y="593"/>
                  </a:lnTo>
                  <a:lnTo>
                    <a:pt x="494" y="592"/>
                  </a:lnTo>
                  <a:lnTo>
                    <a:pt x="489" y="592"/>
                  </a:lnTo>
                  <a:lnTo>
                    <a:pt x="484" y="592"/>
                  </a:lnTo>
                  <a:lnTo>
                    <a:pt x="479" y="594"/>
                  </a:lnTo>
                  <a:lnTo>
                    <a:pt x="475" y="596"/>
                  </a:lnTo>
                  <a:lnTo>
                    <a:pt x="408" y="637"/>
                  </a:lnTo>
                  <a:lnTo>
                    <a:pt x="408" y="636"/>
                  </a:lnTo>
                  <a:lnTo>
                    <a:pt x="404" y="627"/>
                  </a:lnTo>
                  <a:lnTo>
                    <a:pt x="400" y="620"/>
                  </a:lnTo>
                  <a:lnTo>
                    <a:pt x="394" y="612"/>
                  </a:lnTo>
                  <a:lnTo>
                    <a:pt x="387" y="607"/>
                  </a:lnTo>
                  <a:lnTo>
                    <a:pt x="379" y="603"/>
                  </a:lnTo>
                  <a:lnTo>
                    <a:pt x="370" y="600"/>
                  </a:lnTo>
                  <a:lnTo>
                    <a:pt x="360" y="599"/>
                  </a:lnTo>
                  <a:lnTo>
                    <a:pt x="352" y="600"/>
                  </a:lnTo>
                  <a:lnTo>
                    <a:pt x="342" y="604"/>
                  </a:lnTo>
                  <a:lnTo>
                    <a:pt x="335" y="609"/>
                  </a:lnTo>
                  <a:lnTo>
                    <a:pt x="328" y="614"/>
                  </a:lnTo>
                  <a:lnTo>
                    <a:pt x="322" y="622"/>
                  </a:lnTo>
                  <a:lnTo>
                    <a:pt x="319" y="629"/>
                  </a:lnTo>
                  <a:lnTo>
                    <a:pt x="315" y="638"/>
                  </a:lnTo>
                  <a:lnTo>
                    <a:pt x="315" y="648"/>
                  </a:lnTo>
                  <a:lnTo>
                    <a:pt x="317" y="657"/>
                  </a:lnTo>
                  <a:lnTo>
                    <a:pt x="432" y="1169"/>
                  </a:lnTo>
                  <a:lnTo>
                    <a:pt x="398" y="1169"/>
                  </a:lnTo>
                  <a:lnTo>
                    <a:pt x="379" y="1138"/>
                  </a:lnTo>
                  <a:lnTo>
                    <a:pt x="358" y="1107"/>
                  </a:lnTo>
                  <a:lnTo>
                    <a:pt x="338" y="1076"/>
                  </a:lnTo>
                  <a:lnTo>
                    <a:pt x="317" y="1045"/>
                  </a:lnTo>
                  <a:lnTo>
                    <a:pt x="295" y="1014"/>
                  </a:lnTo>
                  <a:lnTo>
                    <a:pt x="274" y="984"/>
                  </a:lnTo>
                  <a:lnTo>
                    <a:pt x="251" y="954"/>
                  </a:lnTo>
                  <a:lnTo>
                    <a:pt x="229" y="925"/>
                  </a:lnTo>
                  <a:lnTo>
                    <a:pt x="216" y="908"/>
                  </a:lnTo>
                  <a:lnTo>
                    <a:pt x="204" y="891"/>
                  </a:lnTo>
                  <a:lnTo>
                    <a:pt x="193" y="874"/>
                  </a:lnTo>
                  <a:lnTo>
                    <a:pt x="184" y="855"/>
                  </a:lnTo>
                  <a:lnTo>
                    <a:pt x="174" y="837"/>
                  </a:lnTo>
                  <a:lnTo>
                    <a:pt x="166" y="819"/>
                  </a:lnTo>
                  <a:lnTo>
                    <a:pt x="157" y="800"/>
                  </a:lnTo>
                  <a:lnTo>
                    <a:pt x="151" y="780"/>
                  </a:lnTo>
                  <a:lnTo>
                    <a:pt x="144" y="761"/>
                  </a:lnTo>
                  <a:lnTo>
                    <a:pt x="139" y="742"/>
                  </a:lnTo>
                  <a:lnTo>
                    <a:pt x="133" y="722"/>
                  </a:lnTo>
                  <a:lnTo>
                    <a:pt x="130" y="701"/>
                  </a:lnTo>
                  <a:lnTo>
                    <a:pt x="127" y="681"/>
                  </a:lnTo>
                  <a:lnTo>
                    <a:pt x="125" y="660"/>
                  </a:lnTo>
                  <a:lnTo>
                    <a:pt x="124" y="640"/>
                  </a:lnTo>
                  <a:lnTo>
                    <a:pt x="124" y="619"/>
                  </a:lnTo>
                  <a:lnTo>
                    <a:pt x="124" y="593"/>
                  </a:lnTo>
                  <a:lnTo>
                    <a:pt x="126" y="568"/>
                  </a:lnTo>
                  <a:lnTo>
                    <a:pt x="129" y="544"/>
                  </a:lnTo>
                  <a:lnTo>
                    <a:pt x="133" y="519"/>
                  </a:lnTo>
                  <a:lnTo>
                    <a:pt x="140" y="496"/>
                  </a:lnTo>
                  <a:lnTo>
                    <a:pt x="146" y="472"/>
                  </a:lnTo>
                  <a:lnTo>
                    <a:pt x="154" y="448"/>
                  </a:lnTo>
                  <a:lnTo>
                    <a:pt x="163" y="426"/>
                  </a:lnTo>
                  <a:lnTo>
                    <a:pt x="173" y="404"/>
                  </a:lnTo>
                  <a:lnTo>
                    <a:pt x="184" y="383"/>
                  </a:lnTo>
                  <a:lnTo>
                    <a:pt x="197" y="362"/>
                  </a:lnTo>
                  <a:lnTo>
                    <a:pt x="209" y="342"/>
                  </a:lnTo>
                  <a:lnTo>
                    <a:pt x="223" y="322"/>
                  </a:lnTo>
                  <a:lnTo>
                    <a:pt x="237" y="304"/>
                  </a:lnTo>
                  <a:lnTo>
                    <a:pt x="253" y="286"/>
                  </a:lnTo>
                  <a:lnTo>
                    <a:pt x="269" y="268"/>
                  </a:lnTo>
                  <a:lnTo>
                    <a:pt x="288" y="252"/>
                  </a:lnTo>
                  <a:lnTo>
                    <a:pt x="305" y="236"/>
                  </a:lnTo>
                  <a:lnTo>
                    <a:pt x="324" y="222"/>
                  </a:lnTo>
                  <a:lnTo>
                    <a:pt x="343" y="209"/>
                  </a:lnTo>
                  <a:lnTo>
                    <a:pt x="364" y="196"/>
                  </a:lnTo>
                  <a:lnTo>
                    <a:pt x="384" y="184"/>
                  </a:lnTo>
                  <a:lnTo>
                    <a:pt x="405" y="172"/>
                  </a:lnTo>
                  <a:lnTo>
                    <a:pt x="428" y="162"/>
                  </a:lnTo>
                  <a:lnTo>
                    <a:pt x="450" y="154"/>
                  </a:lnTo>
                  <a:lnTo>
                    <a:pt x="474" y="146"/>
                  </a:lnTo>
                  <a:lnTo>
                    <a:pt x="498" y="139"/>
                  </a:lnTo>
                  <a:lnTo>
                    <a:pt x="521" y="134"/>
                  </a:lnTo>
                  <a:lnTo>
                    <a:pt x="546" y="129"/>
                  </a:lnTo>
                  <a:lnTo>
                    <a:pt x="570" y="126"/>
                  </a:lnTo>
                  <a:lnTo>
                    <a:pt x="595" y="125"/>
                  </a:lnTo>
                  <a:lnTo>
                    <a:pt x="621" y="124"/>
                  </a:lnTo>
                  <a:lnTo>
                    <a:pt x="646" y="125"/>
                  </a:lnTo>
                  <a:lnTo>
                    <a:pt x="671" y="127"/>
                  </a:lnTo>
                  <a:lnTo>
                    <a:pt x="697" y="130"/>
                  </a:lnTo>
                  <a:lnTo>
                    <a:pt x="720" y="135"/>
                  </a:lnTo>
                  <a:lnTo>
                    <a:pt x="745" y="140"/>
                  </a:lnTo>
                  <a:lnTo>
                    <a:pt x="768" y="146"/>
                  </a:lnTo>
                  <a:lnTo>
                    <a:pt x="791" y="155"/>
                  </a:lnTo>
                  <a:lnTo>
                    <a:pt x="813" y="164"/>
                  </a:lnTo>
                  <a:lnTo>
                    <a:pt x="836" y="173"/>
                  </a:lnTo>
                  <a:lnTo>
                    <a:pt x="857" y="185"/>
                  </a:lnTo>
                  <a:lnTo>
                    <a:pt x="878" y="197"/>
                  </a:lnTo>
                  <a:lnTo>
                    <a:pt x="898" y="210"/>
                  </a:lnTo>
                  <a:lnTo>
                    <a:pt x="917" y="223"/>
                  </a:lnTo>
                  <a:lnTo>
                    <a:pt x="936" y="238"/>
                  </a:lnTo>
                  <a:lnTo>
                    <a:pt x="954" y="253"/>
                  </a:lnTo>
                  <a:lnTo>
                    <a:pt x="971" y="271"/>
                  </a:lnTo>
                  <a:lnTo>
                    <a:pt x="988" y="288"/>
                  </a:lnTo>
                  <a:lnTo>
                    <a:pt x="1003" y="306"/>
                  </a:lnTo>
                  <a:lnTo>
                    <a:pt x="1018" y="324"/>
                  </a:lnTo>
                  <a:lnTo>
                    <a:pt x="1032" y="345"/>
                  </a:lnTo>
                  <a:lnTo>
                    <a:pt x="1045" y="364"/>
                  </a:lnTo>
                  <a:lnTo>
                    <a:pt x="1057" y="385"/>
                  </a:lnTo>
                  <a:lnTo>
                    <a:pt x="1067" y="407"/>
                  </a:lnTo>
                  <a:lnTo>
                    <a:pt x="1077" y="428"/>
                  </a:lnTo>
                  <a:lnTo>
                    <a:pt x="1085" y="451"/>
                  </a:lnTo>
                  <a:lnTo>
                    <a:pt x="1094" y="474"/>
                  </a:lnTo>
                  <a:lnTo>
                    <a:pt x="1100" y="498"/>
                  </a:lnTo>
                  <a:lnTo>
                    <a:pt x="1106" y="521"/>
                  </a:lnTo>
                  <a:lnTo>
                    <a:pt x="1110" y="546"/>
                  </a:lnTo>
                  <a:lnTo>
                    <a:pt x="1113" y="570"/>
                  </a:lnTo>
                  <a:lnTo>
                    <a:pt x="1115" y="596"/>
                  </a:lnTo>
                  <a:lnTo>
                    <a:pt x="1115" y="622"/>
                  </a:lnTo>
                  <a:lnTo>
                    <a:pt x="1115" y="642"/>
                  </a:lnTo>
                  <a:lnTo>
                    <a:pt x="1114" y="663"/>
                  </a:lnTo>
                  <a:lnTo>
                    <a:pt x="1111" y="684"/>
                  </a:lnTo>
                  <a:lnTo>
                    <a:pt x="1109" y="704"/>
                  </a:lnTo>
                  <a:lnTo>
                    <a:pt x="1105" y="725"/>
                  </a:lnTo>
                  <a:lnTo>
                    <a:pt x="1100" y="744"/>
                  </a:lnTo>
                  <a:lnTo>
                    <a:pt x="1095" y="764"/>
                  </a:lnTo>
                  <a:lnTo>
                    <a:pt x="1089" y="784"/>
                  </a:lnTo>
                  <a:lnTo>
                    <a:pt x="1081" y="803"/>
                  </a:lnTo>
                  <a:lnTo>
                    <a:pt x="1074" y="821"/>
                  </a:lnTo>
                  <a:lnTo>
                    <a:pt x="1064" y="839"/>
                  </a:lnTo>
                  <a:lnTo>
                    <a:pt x="1054" y="858"/>
                  </a:lnTo>
                  <a:lnTo>
                    <a:pt x="1045" y="876"/>
                  </a:lnTo>
                  <a:lnTo>
                    <a:pt x="1033" y="893"/>
                  </a:lnTo>
                  <a:lnTo>
                    <a:pt x="1021" y="910"/>
                  </a:lnTo>
                  <a:lnTo>
                    <a:pt x="1008" y="927"/>
                  </a:lnTo>
                  <a:lnTo>
                    <a:pt x="986" y="956"/>
                  </a:lnTo>
                  <a:lnTo>
                    <a:pt x="963" y="986"/>
                  </a:lnTo>
                  <a:lnTo>
                    <a:pt x="942" y="1016"/>
                  </a:lnTo>
                  <a:lnTo>
                    <a:pt x="921" y="1046"/>
                  </a:lnTo>
                  <a:lnTo>
                    <a:pt x="899" y="1077"/>
                  </a:lnTo>
                  <a:lnTo>
                    <a:pt x="879" y="1108"/>
                  </a:lnTo>
                  <a:lnTo>
                    <a:pt x="858" y="1139"/>
                  </a:lnTo>
                  <a:lnTo>
                    <a:pt x="839" y="1170"/>
                  </a:lnTo>
                  <a:close/>
                </a:path>
              </a:pathLst>
            </a:custGeom>
            <a:solidFill>
              <a:srgbClr val="B8D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29" name="Freeform 26"/>
            <p:cNvSpPr>
              <a:spLocks noEditPoints="1"/>
            </p:cNvSpPr>
            <p:nvPr/>
          </p:nvSpPr>
          <p:spPr bwMode="auto">
            <a:xfrm>
              <a:off x="1395765" y="5380952"/>
              <a:ext cx="306388" cy="306388"/>
            </a:xfrm>
            <a:custGeom>
              <a:avLst/>
              <a:gdLst>
                <a:gd name="T0" fmla="*/ 703 w 1161"/>
                <a:gd name="T1" fmla="*/ 74 h 1159"/>
                <a:gd name="T2" fmla="*/ 603 w 1161"/>
                <a:gd name="T3" fmla="*/ 25 h 1159"/>
                <a:gd name="T4" fmla="*/ 496 w 1161"/>
                <a:gd name="T5" fmla="*/ 2 h 1159"/>
                <a:gd name="T6" fmla="*/ 387 w 1161"/>
                <a:gd name="T7" fmla="*/ 5 h 1159"/>
                <a:gd name="T8" fmla="*/ 282 w 1161"/>
                <a:gd name="T9" fmla="*/ 34 h 1159"/>
                <a:gd name="T10" fmla="*/ 184 w 1161"/>
                <a:gd name="T11" fmla="*/ 89 h 1159"/>
                <a:gd name="T12" fmla="*/ 101 w 1161"/>
                <a:gd name="T13" fmla="*/ 168 h 1159"/>
                <a:gd name="T14" fmla="*/ 42 w 1161"/>
                <a:gd name="T15" fmla="*/ 263 h 1159"/>
                <a:gd name="T16" fmla="*/ 8 w 1161"/>
                <a:gd name="T17" fmla="*/ 368 h 1159"/>
                <a:gd name="T18" fmla="*/ 0 w 1161"/>
                <a:gd name="T19" fmla="*/ 476 h 1159"/>
                <a:gd name="T20" fmla="*/ 19 w 1161"/>
                <a:gd name="T21" fmla="*/ 585 h 1159"/>
                <a:gd name="T22" fmla="*/ 63 w 1161"/>
                <a:gd name="T23" fmla="*/ 685 h 1159"/>
                <a:gd name="T24" fmla="*/ 133 w 1161"/>
                <a:gd name="T25" fmla="*/ 775 h 1159"/>
                <a:gd name="T26" fmla="*/ 213 w 1161"/>
                <a:gd name="T27" fmla="*/ 838 h 1159"/>
                <a:gd name="T28" fmla="*/ 302 w 1161"/>
                <a:gd name="T29" fmla="*/ 881 h 1159"/>
                <a:gd name="T30" fmla="*/ 398 w 1161"/>
                <a:gd name="T31" fmla="*/ 904 h 1159"/>
                <a:gd name="T32" fmla="*/ 494 w 1161"/>
                <a:gd name="T33" fmla="*/ 905 h 1159"/>
                <a:gd name="T34" fmla="*/ 589 w 1161"/>
                <a:gd name="T35" fmla="*/ 887 h 1159"/>
                <a:gd name="T36" fmla="*/ 679 w 1161"/>
                <a:gd name="T37" fmla="*/ 847 h 1159"/>
                <a:gd name="T38" fmla="*/ 731 w 1161"/>
                <a:gd name="T39" fmla="*/ 863 h 1159"/>
                <a:gd name="T40" fmla="*/ 1021 w 1161"/>
                <a:gd name="T41" fmla="*/ 1148 h 1159"/>
                <a:gd name="T42" fmla="*/ 1066 w 1161"/>
                <a:gd name="T43" fmla="*/ 1159 h 1159"/>
                <a:gd name="T44" fmla="*/ 1110 w 1161"/>
                <a:gd name="T45" fmla="*/ 1147 h 1159"/>
                <a:gd name="T46" fmla="*/ 1146 w 1161"/>
                <a:gd name="T47" fmla="*/ 1115 h 1159"/>
                <a:gd name="T48" fmla="*/ 1161 w 1161"/>
                <a:gd name="T49" fmla="*/ 1071 h 1159"/>
                <a:gd name="T50" fmla="*/ 1155 w 1161"/>
                <a:gd name="T51" fmla="*/ 1026 h 1159"/>
                <a:gd name="T52" fmla="*/ 875 w 1161"/>
                <a:gd name="T53" fmla="*/ 738 h 1159"/>
                <a:gd name="T54" fmla="*/ 838 w 1161"/>
                <a:gd name="T55" fmla="*/ 695 h 1159"/>
                <a:gd name="T56" fmla="*/ 880 w 1161"/>
                <a:gd name="T57" fmla="*/ 606 h 1159"/>
                <a:gd name="T58" fmla="*/ 903 w 1161"/>
                <a:gd name="T59" fmla="*/ 511 h 1159"/>
                <a:gd name="T60" fmla="*/ 905 w 1161"/>
                <a:gd name="T61" fmla="*/ 414 h 1159"/>
                <a:gd name="T62" fmla="*/ 887 w 1161"/>
                <a:gd name="T63" fmla="*/ 319 h 1159"/>
                <a:gd name="T64" fmla="*/ 847 w 1161"/>
                <a:gd name="T65" fmla="*/ 229 h 1159"/>
                <a:gd name="T66" fmla="*/ 788 w 1161"/>
                <a:gd name="T67" fmla="*/ 147 h 1159"/>
                <a:gd name="T68" fmla="*/ 655 w 1161"/>
                <a:gd name="T69" fmla="*/ 726 h 1159"/>
                <a:gd name="T70" fmla="*/ 582 w 1161"/>
                <a:gd name="T71" fmla="*/ 768 h 1159"/>
                <a:gd name="T72" fmla="*/ 504 w 1161"/>
                <a:gd name="T73" fmla="*/ 789 h 1159"/>
                <a:gd name="T74" fmla="*/ 422 w 1161"/>
                <a:gd name="T75" fmla="*/ 791 h 1159"/>
                <a:gd name="T76" fmla="*/ 342 w 1161"/>
                <a:gd name="T77" fmla="*/ 774 h 1159"/>
                <a:gd name="T78" fmla="*/ 268 w 1161"/>
                <a:gd name="T79" fmla="*/ 737 h 1159"/>
                <a:gd name="T80" fmla="*/ 203 w 1161"/>
                <a:gd name="T81" fmla="*/ 681 h 1159"/>
                <a:gd name="T82" fmla="*/ 154 w 1161"/>
                <a:gd name="T83" fmla="*/ 612 h 1159"/>
                <a:gd name="T84" fmla="*/ 126 w 1161"/>
                <a:gd name="T85" fmla="*/ 535 h 1159"/>
                <a:gd name="T86" fmla="*/ 115 w 1161"/>
                <a:gd name="T87" fmla="*/ 455 h 1159"/>
                <a:gd name="T88" fmla="*/ 124 w 1161"/>
                <a:gd name="T89" fmla="*/ 374 h 1159"/>
                <a:gd name="T90" fmla="*/ 153 w 1161"/>
                <a:gd name="T91" fmla="*/ 296 h 1159"/>
                <a:gd name="T92" fmla="*/ 202 w 1161"/>
                <a:gd name="T93" fmla="*/ 227 h 1159"/>
                <a:gd name="T94" fmla="*/ 267 w 1161"/>
                <a:gd name="T95" fmla="*/ 171 h 1159"/>
                <a:gd name="T96" fmla="*/ 341 w 1161"/>
                <a:gd name="T97" fmla="*/ 135 h 1159"/>
                <a:gd name="T98" fmla="*/ 420 w 1161"/>
                <a:gd name="T99" fmla="*/ 117 h 1159"/>
                <a:gd name="T100" fmla="*/ 501 w 1161"/>
                <a:gd name="T101" fmla="*/ 119 h 1159"/>
                <a:gd name="T102" fmla="*/ 581 w 1161"/>
                <a:gd name="T103" fmla="*/ 139 h 1159"/>
                <a:gd name="T104" fmla="*/ 653 w 1161"/>
                <a:gd name="T105" fmla="*/ 180 h 1159"/>
                <a:gd name="T106" fmla="*/ 716 w 1161"/>
                <a:gd name="T107" fmla="*/ 239 h 1159"/>
                <a:gd name="T108" fmla="*/ 761 w 1161"/>
                <a:gd name="T109" fmla="*/ 310 h 1159"/>
                <a:gd name="T110" fmla="*/ 786 w 1161"/>
                <a:gd name="T111" fmla="*/ 389 h 1159"/>
                <a:gd name="T112" fmla="*/ 792 w 1161"/>
                <a:gd name="T113" fmla="*/ 469 h 1159"/>
                <a:gd name="T114" fmla="*/ 779 w 1161"/>
                <a:gd name="T115" fmla="*/ 549 h 1159"/>
                <a:gd name="T116" fmla="*/ 746 w 1161"/>
                <a:gd name="T117" fmla="*/ 625 h 1159"/>
                <a:gd name="T118" fmla="*/ 694 w 1161"/>
                <a:gd name="T119" fmla="*/ 69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1" h="1159">
                  <a:moveTo>
                    <a:pt x="773" y="132"/>
                  </a:moveTo>
                  <a:lnTo>
                    <a:pt x="757" y="115"/>
                  </a:lnTo>
                  <a:lnTo>
                    <a:pt x="739" y="100"/>
                  </a:lnTo>
                  <a:lnTo>
                    <a:pt x="721" y="87"/>
                  </a:lnTo>
                  <a:lnTo>
                    <a:pt x="703" y="74"/>
                  </a:lnTo>
                  <a:lnTo>
                    <a:pt x="683" y="62"/>
                  </a:lnTo>
                  <a:lnTo>
                    <a:pt x="664" y="51"/>
                  </a:lnTo>
                  <a:lnTo>
                    <a:pt x="644" y="42"/>
                  </a:lnTo>
                  <a:lnTo>
                    <a:pt x="623" y="33"/>
                  </a:lnTo>
                  <a:lnTo>
                    <a:pt x="603" y="25"/>
                  </a:lnTo>
                  <a:lnTo>
                    <a:pt x="582" y="18"/>
                  </a:lnTo>
                  <a:lnTo>
                    <a:pt x="560" y="13"/>
                  </a:lnTo>
                  <a:lnTo>
                    <a:pt x="539" y="8"/>
                  </a:lnTo>
                  <a:lnTo>
                    <a:pt x="517" y="4"/>
                  </a:lnTo>
                  <a:lnTo>
                    <a:pt x="496" y="2"/>
                  </a:lnTo>
                  <a:lnTo>
                    <a:pt x="475" y="1"/>
                  </a:lnTo>
                  <a:lnTo>
                    <a:pt x="452" y="0"/>
                  </a:lnTo>
                  <a:lnTo>
                    <a:pt x="431" y="1"/>
                  </a:lnTo>
                  <a:lnTo>
                    <a:pt x="409" y="2"/>
                  </a:lnTo>
                  <a:lnTo>
                    <a:pt x="387" y="5"/>
                  </a:lnTo>
                  <a:lnTo>
                    <a:pt x="365" y="8"/>
                  </a:lnTo>
                  <a:lnTo>
                    <a:pt x="344" y="14"/>
                  </a:lnTo>
                  <a:lnTo>
                    <a:pt x="324" y="19"/>
                  </a:lnTo>
                  <a:lnTo>
                    <a:pt x="302" y="25"/>
                  </a:lnTo>
                  <a:lnTo>
                    <a:pt x="282" y="34"/>
                  </a:lnTo>
                  <a:lnTo>
                    <a:pt x="262" y="43"/>
                  </a:lnTo>
                  <a:lnTo>
                    <a:pt x="241" y="52"/>
                  </a:lnTo>
                  <a:lnTo>
                    <a:pt x="222" y="63"/>
                  </a:lnTo>
                  <a:lnTo>
                    <a:pt x="203" y="76"/>
                  </a:lnTo>
                  <a:lnTo>
                    <a:pt x="184" y="89"/>
                  </a:lnTo>
                  <a:lnTo>
                    <a:pt x="166" y="103"/>
                  </a:lnTo>
                  <a:lnTo>
                    <a:pt x="149" y="118"/>
                  </a:lnTo>
                  <a:lnTo>
                    <a:pt x="132" y="134"/>
                  </a:lnTo>
                  <a:lnTo>
                    <a:pt x="116" y="151"/>
                  </a:lnTo>
                  <a:lnTo>
                    <a:pt x="101" y="168"/>
                  </a:lnTo>
                  <a:lnTo>
                    <a:pt x="87" y="186"/>
                  </a:lnTo>
                  <a:lnTo>
                    <a:pt x="74" y="204"/>
                  </a:lnTo>
                  <a:lnTo>
                    <a:pt x="62" y="224"/>
                  </a:lnTo>
                  <a:lnTo>
                    <a:pt x="52" y="244"/>
                  </a:lnTo>
                  <a:lnTo>
                    <a:pt x="42" y="263"/>
                  </a:lnTo>
                  <a:lnTo>
                    <a:pt x="32" y="284"/>
                  </a:lnTo>
                  <a:lnTo>
                    <a:pt x="25" y="305"/>
                  </a:lnTo>
                  <a:lnTo>
                    <a:pt x="18" y="325"/>
                  </a:lnTo>
                  <a:lnTo>
                    <a:pt x="13" y="347"/>
                  </a:lnTo>
                  <a:lnTo>
                    <a:pt x="8" y="368"/>
                  </a:lnTo>
                  <a:lnTo>
                    <a:pt x="4" y="390"/>
                  </a:lnTo>
                  <a:lnTo>
                    <a:pt x="2" y="411"/>
                  </a:lnTo>
                  <a:lnTo>
                    <a:pt x="0" y="434"/>
                  </a:lnTo>
                  <a:lnTo>
                    <a:pt x="0" y="455"/>
                  </a:lnTo>
                  <a:lnTo>
                    <a:pt x="0" y="476"/>
                  </a:lnTo>
                  <a:lnTo>
                    <a:pt x="2" y="499"/>
                  </a:lnTo>
                  <a:lnTo>
                    <a:pt x="4" y="520"/>
                  </a:lnTo>
                  <a:lnTo>
                    <a:pt x="9" y="542"/>
                  </a:lnTo>
                  <a:lnTo>
                    <a:pt x="13" y="563"/>
                  </a:lnTo>
                  <a:lnTo>
                    <a:pt x="19" y="585"/>
                  </a:lnTo>
                  <a:lnTo>
                    <a:pt x="26" y="605"/>
                  </a:lnTo>
                  <a:lnTo>
                    <a:pt x="33" y="625"/>
                  </a:lnTo>
                  <a:lnTo>
                    <a:pt x="43" y="646"/>
                  </a:lnTo>
                  <a:lnTo>
                    <a:pt x="53" y="666"/>
                  </a:lnTo>
                  <a:lnTo>
                    <a:pt x="63" y="685"/>
                  </a:lnTo>
                  <a:lnTo>
                    <a:pt x="75" y="704"/>
                  </a:lnTo>
                  <a:lnTo>
                    <a:pt x="88" y="723"/>
                  </a:lnTo>
                  <a:lnTo>
                    <a:pt x="102" y="741"/>
                  </a:lnTo>
                  <a:lnTo>
                    <a:pt x="117" y="758"/>
                  </a:lnTo>
                  <a:lnTo>
                    <a:pt x="133" y="775"/>
                  </a:lnTo>
                  <a:lnTo>
                    <a:pt x="149" y="790"/>
                  </a:lnTo>
                  <a:lnTo>
                    <a:pt x="164" y="803"/>
                  </a:lnTo>
                  <a:lnTo>
                    <a:pt x="180" y="816"/>
                  </a:lnTo>
                  <a:lnTo>
                    <a:pt x="196" y="828"/>
                  </a:lnTo>
                  <a:lnTo>
                    <a:pt x="213" y="838"/>
                  </a:lnTo>
                  <a:lnTo>
                    <a:pt x="230" y="849"/>
                  </a:lnTo>
                  <a:lnTo>
                    <a:pt x="248" y="859"/>
                  </a:lnTo>
                  <a:lnTo>
                    <a:pt x="266" y="867"/>
                  </a:lnTo>
                  <a:lnTo>
                    <a:pt x="284" y="875"/>
                  </a:lnTo>
                  <a:lnTo>
                    <a:pt x="302" y="881"/>
                  </a:lnTo>
                  <a:lnTo>
                    <a:pt x="321" y="888"/>
                  </a:lnTo>
                  <a:lnTo>
                    <a:pt x="340" y="893"/>
                  </a:lnTo>
                  <a:lnTo>
                    <a:pt x="359" y="897"/>
                  </a:lnTo>
                  <a:lnTo>
                    <a:pt x="378" y="900"/>
                  </a:lnTo>
                  <a:lnTo>
                    <a:pt x="398" y="904"/>
                  </a:lnTo>
                  <a:lnTo>
                    <a:pt x="417" y="906"/>
                  </a:lnTo>
                  <a:lnTo>
                    <a:pt x="436" y="907"/>
                  </a:lnTo>
                  <a:lnTo>
                    <a:pt x="455" y="907"/>
                  </a:lnTo>
                  <a:lnTo>
                    <a:pt x="475" y="907"/>
                  </a:lnTo>
                  <a:lnTo>
                    <a:pt x="494" y="905"/>
                  </a:lnTo>
                  <a:lnTo>
                    <a:pt x="513" y="903"/>
                  </a:lnTo>
                  <a:lnTo>
                    <a:pt x="532" y="900"/>
                  </a:lnTo>
                  <a:lnTo>
                    <a:pt x="552" y="896"/>
                  </a:lnTo>
                  <a:lnTo>
                    <a:pt x="571" y="892"/>
                  </a:lnTo>
                  <a:lnTo>
                    <a:pt x="589" y="887"/>
                  </a:lnTo>
                  <a:lnTo>
                    <a:pt x="607" y="880"/>
                  </a:lnTo>
                  <a:lnTo>
                    <a:pt x="627" y="873"/>
                  </a:lnTo>
                  <a:lnTo>
                    <a:pt x="644" y="865"/>
                  </a:lnTo>
                  <a:lnTo>
                    <a:pt x="662" y="857"/>
                  </a:lnTo>
                  <a:lnTo>
                    <a:pt x="679" y="847"/>
                  </a:lnTo>
                  <a:lnTo>
                    <a:pt x="696" y="836"/>
                  </a:lnTo>
                  <a:lnTo>
                    <a:pt x="713" y="826"/>
                  </a:lnTo>
                  <a:lnTo>
                    <a:pt x="717" y="838"/>
                  </a:lnTo>
                  <a:lnTo>
                    <a:pt x="723" y="851"/>
                  </a:lnTo>
                  <a:lnTo>
                    <a:pt x="731" y="863"/>
                  </a:lnTo>
                  <a:lnTo>
                    <a:pt x="739" y="874"/>
                  </a:lnTo>
                  <a:lnTo>
                    <a:pt x="997" y="1131"/>
                  </a:lnTo>
                  <a:lnTo>
                    <a:pt x="1005" y="1137"/>
                  </a:lnTo>
                  <a:lnTo>
                    <a:pt x="1013" y="1143"/>
                  </a:lnTo>
                  <a:lnTo>
                    <a:pt x="1021" y="1148"/>
                  </a:lnTo>
                  <a:lnTo>
                    <a:pt x="1029" y="1151"/>
                  </a:lnTo>
                  <a:lnTo>
                    <a:pt x="1038" y="1154"/>
                  </a:lnTo>
                  <a:lnTo>
                    <a:pt x="1048" y="1156"/>
                  </a:lnTo>
                  <a:lnTo>
                    <a:pt x="1056" y="1158"/>
                  </a:lnTo>
                  <a:lnTo>
                    <a:pt x="1066" y="1159"/>
                  </a:lnTo>
                  <a:lnTo>
                    <a:pt x="1074" y="1158"/>
                  </a:lnTo>
                  <a:lnTo>
                    <a:pt x="1084" y="1156"/>
                  </a:lnTo>
                  <a:lnTo>
                    <a:pt x="1092" y="1154"/>
                  </a:lnTo>
                  <a:lnTo>
                    <a:pt x="1102" y="1151"/>
                  </a:lnTo>
                  <a:lnTo>
                    <a:pt x="1110" y="1147"/>
                  </a:lnTo>
                  <a:lnTo>
                    <a:pt x="1118" y="1143"/>
                  </a:lnTo>
                  <a:lnTo>
                    <a:pt x="1126" y="1136"/>
                  </a:lnTo>
                  <a:lnTo>
                    <a:pt x="1133" y="1130"/>
                  </a:lnTo>
                  <a:lnTo>
                    <a:pt x="1140" y="1122"/>
                  </a:lnTo>
                  <a:lnTo>
                    <a:pt x="1146" y="1115"/>
                  </a:lnTo>
                  <a:lnTo>
                    <a:pt x="1150" y="1107"/>
                  </a:lnTo>
                  <a:lnTo>
                    <a:pt x="1155" y="1099"/>
                  </a:lnTo>
                  <a:lnTo>
                    <a:pt x="1158" y="1089"/>
                  </a:lnTo>
                  <a:lnTo>
                    <a:pt x="1160" y="1080"/>
                  </a:lnTo>
                  <a:lnTo>
                    <a:pt x="1161" y="1071"/>
                  </a:lnTo>
                  <a:lnTo>
                    <a:pt x="1161" y="1062"/>
                  </a:lnTo>
                  <a:lnTo>
                    <a:pt x="1161" y="1053"/>
                  </a:lnTo>
                  <a:lnTo>
                    <a:pt x="1160" y="1044"/>
                  </a:lnTo>
                  <a:lnTo>
                    <a:pt x="1157" y="1034"/>
                  </a:lnTo>
                  <a:lnTo>
                    <a:pt x="1155" y="1026"/>
                  </a:lnTo>
                  <a:lnTo>
                    <a:pt x="1150" y="1017"/>
                  </a:lnTo>
                  <a:lnTo>
                    <a:pt x="1145" y="1010"/>
                  </a:lnTo>
                  <a:lnTo>
                    <a:pt x="1140" y="1001"/>
                  </a:lnTo>
                  <a:lnTo>
                    <a:pt x="1133" y="995"/>
                  </a:lnTo>
                  <a:lnTo>
                    <a:pt x="875" y="738"/>
                  </a:lnTo>
                  <a:lnTo>
                    <a:pt x="864" y="728"/>
                  </a:lnTo>
                  <a:lnTo>
                    <a:pt x="852" y="721"/>
                  </a:lnTo>
                  <a:lnTo>
                    <a:pt x="840" y="715"/>
                  </a:lnTo>
                  <a:lnTo>
                    <a:pt x="827" y="712"/>
                  </a:lnTo>
                  <a:lnTo>
                    <a:pt x="838" y="695"/>
                  </a:lnTo>
                  <a:lnTo>
                    <a:pt x="848" y="678"/>
                  </a:lnTo>
                  <a:lnTo>
                    <a:pt x="857" y="661"/>
                  </a:lnTo>
                  <a:lnTo>
                    <a:pt x="865" y="642"/>
                  </a:lnTo>
                  <a:lnTo>
                    <a:pt x="874" y="624"/>
                  </a:lnTo>
                  <a:lnTo>
                    <a:pt x="880" y="606"/>
                  </a:lnTo>
                  <a:lnTo>
                    <a:pt x="887" y="587"/>
                  </a:lnTo>
                  <a:lnTo>
                    <a:pt x="892" y="568"/>
                  </a:lnTo>
                  <a:lnTo>
                    <a:pt x="897" y="549"/>
                  </a:lnTo>
                  <a:lnTo>
                    <a:pt x="901" y="530"/>
                  </a:lnTo>
                  <a:lnTo>
                    <a:pt x="903" y="511"/>
                  </a:lnTo>
                  <a:lnTo>
                    <a:pt x="905" y="491"/>
                  </a:lnTo>
                  <a:lnTo>
                    <a:pt x="906" y="472"/>
                  </a:lnTo>
                  <a:lnTo>
                    <a:pt x="907" y="453"/>
                  </a:lnTo>
                  <a:lnTo>
                    <a:pt x="906" y="434"/>
                  </a:lnTo>
                  <a:lnTo>
                    <a:pt x="905" y="414"/>
                  </a:lnTo>
                  <a:lnTo>
                    <a:pt x="903" y="395"/>
                  </a:lnTo>
                  <a:lnTo>
                    <a:pt x="901" y="376"/>
                  </a:lnTo>
                  <a:lnTo>
                    <a:pt x="897" y="356"/>
                  </a:lnTo>
                  <a:lnTo>
                    <a:pt x="892" y="337"/>
                  </a:lnTo>
                  <a:lnTo>
                    <a:pt x="887" y="319"/>
                  </a:lnTo>
                  <a:lnTo>
                    <a:pt x="880" y="301"/>
                  </a:lnTo>
                  <a:lnTo>
                    <a:pt x="874" y="281"/>
                  </a:lnTo>
                  <a:lnTo>
                    <a:pt x="865" y="264"/>
                  </a:lnTo>
                  <a:lnTo>
                    <a:pt x="857" y="246"/>
                  </a:lnTo>
                  <a:lnTo>
                    <a:pt x="847" y="229"/>
                  </a:lnTo>
                  <a:lnTo>
                    <a:pt x="838" y="212"/>
                  </a:lnTo>
                  <a:lnTo>
                    <a:pt x="827" y="195"/>
                  </a:lnTo>
                  <a:lnTo>
                    <a:pt x="814" y="179"/>
                  </a:lnTo>
                  <a:lnTo>
                    <a:pt x="801" y="163"/>
                  </a:lnTo>
                  <a:lnTo>
                    <a:pt x="788" y="147"/>
                  </a:lnTo>
                  <a:lnTo>
                    <a:pt x="773" y="132"/>
                  </a:lnTo>
                  <a:close/>
                  <a:moveTo>
                    <a:pt x="694" y="693"/>
                  </a:moveTo>
                  <a:lnTo>
                    <a:pt x="681" y="704"/>
                  </a:lnTo>
                  <a:lnTo>
                    <a:pt x="668" y="716"/>
                  </a:lnTo>
                  <a:lnTo>
                    <a:pt x="655" y="726"/>
                  </a:lnTo>
                  <a:lnTo>
                    <a:pt x="641" y="737"/>
                  </a:lnTo>
                  <a:lnTo>
                    <a:pt x="627" y="745"/>
                  </a:lnTo>
                  <a:lnTo>
                    <a:pt x="612" y="754"/>
                  </a:lnTo>
                  <a:lnTo>
                    <a:pt x="597" y="760"/>
                  </a:lnTo>
                  <a:lnTo>
                    <a:pt x="582" y="768"/>
                  </a:lnTo>
                  <a:lnTo>
                    <a:pt x="567" y="773"/>
                  </a:lnTo>
                  <a:lnTo>
                    <a:pt x="551" y="778"/>
                  </a:lnTo>
                  <a:lnTo>
                    <a:pt x="536" y="783"/>
                  </a:lnTo>
                  <a:lnTo>
                    <a:pt x="520" y="786"/>
                  </a:lnTo>
                  <a:lnTo>
                    <a:pt x="504" y="789"/>
                  </a:lnTo>
                  <a:lnTo>
                    <a:pt x="487" y="790"/>
                  </a:lnTo>
                  <a:lnTo>
                    <a:pt x="470" y="792"/>
                  </a:lnTo>
                  <a:lnTo>
                    <a:pt x="454" y="792"/>
                  </a:lnTo>
                  <a:lnTo>
                    <a:pt x="438" y="792"/>
                  </a:lnTo>
                  <a:lnTo>
                    <a:pt x="422" y="791"/>
                  </a:lnTo>
                  <a:lnTo>
                    <a:pt x="406" y="789"/>
                  </a:lnTo>
                  <a:lnTo>
                    <a:pt x="390" y="786"/>
                  </a:lnTo>
                  <a:lnTo>
                    <a:pt x="374" y="783"/>
                  </a:lnTo>
                  <a:lnTo>
                    <a:pt x="358" y="778"/>
                  </a:lnTo>
                  <a:lnTo>
                    <a:pt x="342" y="774"/>
                  </a:lnTo>
                  <a:lnTo>
                    <a:pt x="327" y="768"/>
                  </a:lnTo>
                  <a:lnTo>
                    <a:pt x="312" y="761"/>
                  </a:lnTo>
                  <a:lnTo>
                    <a:pt x="297" y="754"/>
                  </a:lnTo>
                  <a:lnTo>
                    <a:pt x="282" y="746"/>
                  </a:lnTo>
                  <a:lnTo>
                    <a:pt x="268" y="737"/>
                  </a:lnTo>
                  <a:lnTo>
                    <a:pt x="254" y="727"/>
                  </a:lnTo>
                  <a:lnTo>
                    <a:pt x="240" y="717"/>
                  </a:lnTo>
                  <a:lnTo>
                    <a:pt x="227" y="706"/>
                  </a:lnTo>
                  <a:lnTo>
                    <a:pt x="214" y="694"/>
                  </a:lnTo>
                  <a:lnTo>
                    <a:pt x="203" y="681"/>
                  </a:lnTo>
                  <a:lnTo>
                    <a:pt x="192" y="668"/>
                  </a:lnTo>
                  <a:lnTo>
                    <a:pt x="181" y="655"/>
                  </a:lnTo>
                  <a:lnTo>
                    <a:pt x="172" y="641"/>
                  </a:lnTo>
                  <a:lnTo>
                    <a:pt x="162" y="626"/>
                  </a:lnTo>
                  <a:lnTo>
                    <a:pt x="154" y="612"/>
                  </a:lnTo>
                  <a:lnTo>
                    <a:pt x="147" y="597"/>
                  </a:lnTo>
                  <a:lnTo>
                    <a:pt x="140" y="582"/>
                  </a:lnTo>
                  <a:lnTo>
                    <a:pt x="134" y="566"/>
                  </a:lnTo>
                  <a:lnTo>
                    <a:pt x="130" y="551"/>
                  </a:lnTo>
                  <a:lnTo>
                    <a:pt x="126" y="535"/>
                  </a:lnTo>
                  <a:lnTo>
                    <a:pt x="121" y="519"/>
                  </a:lnTo>
                  <a:lnTo>
                    <a:pt x="119" y="503"/>
                  </a:lnTo>
                  <a:lnTo>
                    <a:pt x="117" y="487"/>
                  </a:lnTo>
                  <a:lnTo>
                    <a:pt x="116" y="471"/>
                  </a:lnTo>
                  <a:lnTo>
                    <a:pt x="115" y="455"/>
                  </a:lnTo>
                  <a:lnTo>
                    <a:pt x="116" y="438"/>
                  </a:lnTo>
                  <a:lnTo>
                    <a:pt x="117" y="422"/>
                  </a:lnTo>
                  <a:lnTo>
                    <a:pt x="118" y="406"/>
                  </a:lnTo>
                  <a:lnTo>
                    <a:pt x="121" y="390"/>
                  </a:lnTo>
                  <a:lnTo>
                    <a:pt x="124" y="374"/>
                  </a:lnTo>
                  <a:lnTo>
                    <a:pt x="129" y="357"/>
                  </a:lnTo>
                  <a:lnTo>
                    <a:pt x="134" y="343"/>
                  </a:lnTo>
                  <a:lnTo>
                    <a:pt x="139" y="326"/>
                  </a:lnTo>
                  <a:lnTo>
                    <a:pt x="146" y="311"/>
                  </a:lnTo>
                  <a:lnTo>
                    <a:pt x="153" y="296"/>
                  </a:lnTo>
                  <a:lnTo>
                    <a:pt x="162" y="283"/>
                  </a:lnTo>
                  <a:lnTo>
                    <a:pt x="170" y="268"/>
                  </a:lnTo>
                  <a:lnTo>
                    <a:pt x="180" y="254"/>
                  </a:lnTo>
                  <a:lnTo>
                    <a:pt x="191" y="241"/>
                  </a:lnTo>
                  <a:lnTo>
                    <a:pt x="202" y="227"/>
                  </a:lnTo>
                  <a:lnTo>
                    <a:pt x="213" y="215"/>
                  </a:lnTo>
                  <a:lnTo>
                    <a:pt x="226" y="202"/>
                  </a:lnTo>
                  <a:lnTo>
                    <a:pt x="239" y="191"/>
                  </a:lnTo>
                  <a:lnTo>
                    <a:pt x="253" y="181"/>
                  </a:lnTo>
                  <a:lnTo>
                    <a:pt x="267" y="171"/>
                  </a:lnTo>
                  <a:lnTo>
                    <a:pt x="281" y="163"/>
                  </a:lnTo>
                  <a:lnTo>
                    <a:pt x="296" y="154"/>
                  </a:lnTo>
                  <a:lnTo>
                    <a:pt x="310" y="147"/>
                  </a:lnTo>
                  <a:lnTo>
                    <a:pt x="326" y="140"/>
                  </a:lnTo>
                  <a:lnTo>
                    <a:pt x="341" y="135"/>
                  </a:lnTo>
                  <a:lnTo>
                    <a:pt x="357" y="129"/>
                  </a:lnTo>
                  <a:lnTo>
                    <a:pt x="372" y="125"/>
                  </a:lnTo>
                  <a:lnTo>
                    <a:pt x="388" y="122"/>
                  </a:lnTo>
                  <a:lnTo>
                    <a:pt x="404" y="119"/>
                  </a:lnTo>
                  <a:lnTo>
                    <a:pt x="420" y="117"/>
                  </a:lnTo>
                  <a:lnTo>
                    <a:pt x="436" y="115"/>
                  </a:lnTo>
                  <a:lnTo>
                    <a:pt x="453" y="115"/>
                  </a:lnTo>
                  <a:lnTo>
                    <a:pt x="469" y="115"/>
                  </a:lnTo>
                  <a:lnTo>
                    <a:pt x="485" y="117"/>
                  </a:lnTo>
                  <a:lnTo>
                    <a:pt x="501" y="119"/>
                  </a:lnTo>
                  <a:lnTo>
                    <a:pt x="517" y="121"/>
                  </a:lnTo>
                  <a:lnTo>
                    <a:pt x="533" y="124"/>
                  </a:lnTo>
                  <a:lnTo>
                    <a:pt x="550" y="128"/>
                  </a:lnTo>
                  <a:lnTo>
                    <a:pt x="565" y="134"/>
                  </a:lnTo>
                  <a:lnTo>
                    <a:pt x="581" y="139"/>
                  </a:lnTo>
                  <a:lnTo>
                    <a:pt x="596" y="145"/>
                  </a:lnTo>
                  <a:lnTo>
                    <a:pt x="611" y="153"/>
                  </a:lnTo>
                  <a:lnTo>
                    <a:pt x="625" y="162"/>
                  </a:lnTo>
                  <a:lnTo>
                    <a:pt x="640" y="170"/>
                  </a:lnTo>
                  <a:lnTo>
                    <a:pt x="653" y="180"/>
                  </a:lnTo>
                  <a:lnTo>
                    <a:pt x="666" y="190"/>
                  </a:lnTo>
                  <a:lnTo>
                    <a:pt x="680" y="201"/>
                  </a:lnTo>
                  <a:lnTo>
                    <a:pt x="692" y="213"/>
                  </a:lnTo>
                  <a:lnTo>
                    <a:pt x="705" y="226"/>
                  </a:lnTo>
                  <a:lnTo>
                    <a:pt x="716" y="239"/>
                  </a:lnTo>
                  <a:lnTo>
                    <a:pt x="726" y="253"/>
                  </a:lnTo>
                  <a:lnTo>
                    <a:pt x="736" y="266"/>
                  </a:lnTo>
                  <a:lnTo>
                    <a:pt x="744" y="280"/>
                  </a:lnTo>
                  <a:lnTo>
                    <a:pt x="753" y="295"/>
                  </a:lnTo>
                  <a:lnTo>
                    <a:pt x="761" y="310"/>
                  </a:lnTo>
                  <a:lnTo>
                    <a:pt x="767" y="325"/>
                  </a:lnTo>
                  <a:lnTo>
                    <a:pt x="773" y="340"/>
                  </a:lnTo>
                  <a:lnTo>
                    <a:pt x="778" y="356"/>
                  </a:lnTo>
                  <a:lnTo>
                    <a:pt x="782" y="372"/>
                  </a:lnTo>
                  <a:lnTo>
                    <a:pt x="786" y="389"/>
                  </a:lnTo>
                  <a:lnTo>
                    <a:pt x="788" y="405"/>
                  </a:lnTo>
                  <a:lnTo>
                    <a:pt x="791" y="421"/>
                  </a:lnTo>
                  <a:lnTo>
                    <a:pt x="792" y="437"/>
                  </a:lnTo>
                  <a:lnTo>
                    <a:pt x="793" y="453"/>
                  </a:lnTo>
                  <a:lnTo>
                    <a:pt x="792" y="469"/>
                  </a:lnTo>
                  <a:lnTo>
                    <a:pt x="791" y="485"/>
                  </a:lnTo>
                  <a:lnTo>
                    <a:pt x="788" y="501"/>
                  </a:lnTo>
                  <a:lnTo>
                    <a:pt x="786" y="517"/>
                  </a:lnTo>
                  <a:lnTo>
                    <a:pt x="783" y="533"/>
                  </a:lnTo>
                  <a:lnTo>
                    <a:pt x="779" y="549"/>
                  </a:lnTo>
                  <a:lnTo>
                    <a:pt x="773" y="565"/>
                  </a:lnTo>
                  <a:lnTo>
                    <a:pt x="768" y="580"/>
                  </a:lnTo>
                  <a:lnTo>
                    <a:pt x="762" y="595"/>
                  </a:lnTo>
                  <a:lnTo>
                    <a:pt x="754" y="610"/>
                  </a:lnTo>
                  <a:lnTo>
                    <a:pt x="746" y="625"/>
                  </a:lnTo>
                  <a:lnTo>
                    <a:pt x="737" y="639"/>
                  </a:lnTo>
                  <a:lnTo>
                    <a:pt x="727" y="653"/>
                  </a:lnTo>
                  <a:lnTo>
                    <a:pt x="717" y="667"/>
                  </a:lnTo>
                  <a:lnTo>
                    <a:pt x="706" y="680"/>
                  </a:lnTo>
                  <a:lnTo>
                    <a:pt x="694" y="693"/>
                  </a:lnTo>
                  <a:close/>
                </a:path>
              </a:pathLst>
            </a:custGeom>
            <a:solidFill>
              <a:srgbClr val="F29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0" name="Freeform 27"/>
            <p:cNvSpPr>
              <a:spLocks/>
            </p:cNvSpPr>
            <p:nvPr/>
          </p:nvSpPr>
          <p:spPr bwMode="auto">
            <a:xfrm>
              <a:off x="1392590" y="2552029"/>
              <a:ext cx="311150" cy="290513"/>
            </a:xfrm>
            <a:custGeom>
              <a:avLst/>
              <a:gdLst>
                <a:gd name="T0" fmla="*/ 999 w 1178"/>
                <a:gd name="T1" fmla="*/ 89 h 1101"/>
                <a:gd name="T2" fmla="*/ 886 w 1178"/>
                <a:gd name="T3" fmla="*/ 4 h 1101"/>
                <a:gd name="T4" fmla="*/ 856 w 1178"/>
                <a:gd name="T5" fmla="*/ 2 h 1101"/>
                <a:gd name="T6" fmla="*/ 832 w 1178"/>
                <a:gd name="T7" fmla="*/ 18 h 1101"/>
                <a:gd name="T8" fmla="*/ 822 w 1178"/>
                <a:gd name="T9" fmla="*/ 47 h 1101"/>
                <a:gd name="T10" fmla="*/ 826 w 1178"/>
                <a:gd name="T11" fmla="*/ 164 h 1101"/>
                <a:gd name="T12" fmla="*/ 858 w 1178"/>
                <a:gd name="T13" fmla="*/ 196 h 1101"/>
                <a:gd name="T14" fmla="*/ 938 w 1178"/>
                <a:gd name="T15" fmla="*/ 286 h 1101"/>
                <a:gd name="T16" fmla="*/ 987 w 1178"/>
                <a:gd name="T17" fmla="*/ 393 h 1101"/>
                <a:gd name="T18" fmla="*/ 1005 w 1178"/>
                <a:gd name="T19" fmla="*/ 512 h 1101"/>
                <a:gd name="T20" fmla="*/ 991 w 1178"/>
                <a:gd name="T21" fmla="*/ 616 h 1101"/>
                <a:gd name="T22" fmla="*/ 955 w 1178"/>
                <a:gd name="T23" fmla="*/ 710 h 1101"/>
                <a:gd name="T24" fmla="*/ 897 w 1178"/>
                <a:gd name="T25" fmla="*/ 791 h 1101"/>
                <a:gd name="T26" fmla="*/ 821 w 1178"/>
                <a:gd name="T27" fmla="*/ 857 h 1101"/>
                <a:gd name="T28" fmla="*/ 732 w 1178"/>
                <a:gd name="T29" fmla="*/ 903 h 1101"/>
                <a:gd name="T30" fmla="*/ 631 w 1178"/>
                <a:gd name="T31" fmla="*/ 925 h 1101"/>
                <a:gd name="T32" fmla="*/ 525 w 1178"/>
                <a:gd name="T33" fmla="*/ 923 h 1101"/>
                <a:gd name="T34" fmla="*/ 427 w 1178"/>
                <a:gd name="T35" fmla="*/ 895 h 1101"/>
                <a:gd name="T36" fmla="*/ 340 w 1178"/>
                <a:gd name="T37" fmla="*/ 845 h 1101"/>
                <a:gd name="T38" fmla="*/ 267 w 1178"/>
                <a:gd name="T39" fmla="*/ 776 h 1101"/>
                <a:gd name="T40" fmla="*/ 214 w 1178"/>
                <a:gd name="T41" fmla="*/ 692 h 1101"/>
                <a:gd name="T42" fmla="*/ 181 w 1178"/>
                <a:gd name="T43" fmla="*/ 595 h 1101"/>
                <a:gd name="T44" fmla="*/ 173 w 1178"/>
                <a:gd name="T45" fmla="*/ 487 h 1101"/>
                <a:gd name="T46" fmla="*/ 198 w 1178"/>
                <a:gd name="T47" fmla="*/ 370 h 1101"/>
                <a:gd name="T48" fmla="*/ 253 w 1178"/>
                <a:gd name="T49" fmla="*/ 266 h 1101"/>
                <a:gd name="T50" fmla="*/ 337 w 1178"/>
                <a:gd name="T51" fmla="*/ 180 h 1101"/>
                <a:gd name="T52" fmla="*/ 353 w 1178"/>
                <a:gd name="T53" fmla="*/ 158 h 1101"/>
                <a:gd name="T54" fmla="*/ 355 w 1178"/>
                <a:gd name="T55" fmla="*/ 41 h 1101"/>
                <a:gd name="T56" fmla="*/ 342 w 1178"/>
                <a:gd name="T57" fmla="*/ 14 h 1101"/>
                <a:gd name="T58" fmla="*/ 314 w 1178"/>
                <a:gd name="T59" fmla="*/ 0 h 1101"/>
                <a:gd name="T60" fmla="*/ 286 w 1178"/>
                <a:gd name="T61" fmla="*/ 6 h 1101"/>
                <a:gd name="T62" fmla="*/ 155 w 1178"/>
                <a:gd name="T63" fmla="*/ 113 h 1101"/>
                <a:gd name="T64" fmla="*/ 71 w 1178"/>
                <a:gd name="T65" fmla="*/ 229 h 1101"/>
                <a:gd name="T66" fmla="*/ 30 w 1178"/>
                <a:gd name="T67" fmla="*/ 326 h 1101"/>
                <a:gd name="T68" fmla="*/ 6 w 1178"/>
                <a:gd name="T69" fmla="*/ 427 h 1101"/>
                <a:gd name="T70" fmla="*/ 1 w 1178"/>
                <a:gd name="T71" fmla="*/ 541 h 1101"/>
                <a:gd name="T72" fmla="*/ 25 w 1178"/>
                <a:gd name="T73" fmla="*/ 683 h 1101"/>
                <a:gd name="T74" fmla="*/ 83 w 1178"/>
                <a:gd name="T75" fmla="*/ 814 h 1101"/>
                <a:gd name="T76" fmla="*/ 172 w 1178"/>
                <a:gd name="T77" fmla="*/ 928 h 1101"/>
                <a:gd name="T78" fmla="*/ 287 w 1178"/>
                <a:gd name="T79" fmla="*/ 1017 h 1101"/>
                <a:gd name="T80" fmla="*/ 417 w 1178"/>
                <a:gd name="T81" fmla="*/ 1075 h 1101"/>
                <a:gd name="T82" fmla="*/ 560 w 1178"/>
                <a:gd name="T83" fmla="*/ 1100 h 1101"/>
                <a:gd name="T84" fmla="*/ 704 w 1178"/>
                <a:gd name="T85" fmla="*/ 1089 h 1101"/>
                <a:gd name="T86" fmla="*/ 840 w 1178"/>
                <a:gd name="T87" fmla="*/ 1044 h 1101"/>
                <a:gd name="T88" fmla="*/ 961 w 1178"/>
                <a:gd name="T89" fmla="*/ 967 h 1101"/>
                <a:gd name="T90" fmla="*/ 1062 w 1178"/>
                <a:gd name="T91" fmla="*/ 862 h 1101"/>
                <a:gd name="T92" fmla="*/ 1133 w 1178"/>
                <a:gd name="T93" fmla="*/ 737 h 1101"/>
                <a:gd name="T94" fmla="*/ 1171 w 1178"/>
                <a:gd name="T95" fmla="*/ 599 h 1101"/>
                <a:gd name="T96" fmla="*/ 1177 w 1178"/>
                <a:gd name="T97" fmla="*/ 469 h 1101"/>
                <a:gd name="T98" fmla="*/ 1159 w 1178"/>
                <a:gd name="T99" fmla="*/ 365 h 1101"/>
                <a:gd name="T100" fmla="*/ 1124 w 1178"/>
                <a:gd name="T101" fmla="*/ 26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8" h="1101">
                  <a:moveTo>
                    <a:pt x="1084" y="193"/>
                  </a:moveTo>
                  <a:lnTo>
                    <a:pt x="1065" y="165"/>
                  </a:lnTo>
                  <a:lnTo>
                    <a:pt x="1045" y="138"/>
                  </a:lnTo>
                  <a:lnTo>
                    <a:pt x="1022" y="113"/>
                  </a:lnTo>
                  <a:lnTo>
                    <a:pt x="999" y="89"/>
                  </a:lnTo>
                  <a:lnTo>
                    <a:pt x="974" y="66"/>
                  </a:lnTo>
                  <a:lnTo>
                    <a:pt x="947" y="45"/>
                  </a:lnTo>
                  <a:lnTo>
                    <a:pt x="921" y="25"/>
                  </a:lnTo>
                  <a:lnTo>
                    <a:pt x="892" y="6"/>
                  </a:lnTo>
                  <a:lnTo>
                    <a:pt x="886" y="4"/>
                  </a:lnTo>
                  <a:lnTo>
                    <a:pt x="881" y="2"/>
                  </a:lnTo>
                  <a:lnTo>
                    <a:pt x="875" y="1"/>
                  </a:lnTo>
                  <a:lnTo>
                    <a:pt x="869" y="0"/>
                  </a:lnTo>
                  <a:lnTo>
                    <a:pt x="863" y="0"/>
                  </a:lnTo>
                  <a:lnTo>
                    <a:pt x="856" y="2"/>
                  </a:lnTo>
                  <a:lnTo>
                    <a:pt x="851" y="3"/>
                  </a:lnTo>
                  <a:lnTo>
                    <a:pt x="846" y="6"/>
                  </a:lnTo>
                  <a:lnTo>
                    <a:pt x="840" y="10"/>
                  </a:lnTo>
                  <a:lnTo>
                    <a:pt x="835" y="14"/>
                  </a:lnTo>
                  <a:lnTo>
                    <a:pt x="832" y="18"/>
                  </a:lnTo>
                  <a:lnTo>
                    <a:pt x="827" y="23"/>
                  </a:lnTo>
                  <a:lnTo>
                    <a:pt x="825" y="29"/>
                  </a:lnTo>
                  <a:lnTo>
                    <a:pt x="823" y="34"/>
                  </a:lnTo>
                  <a:lnTo>
                    <a:pt x="822" y="41"/>
                  </a:lnTo>
                  <a:lnTo>
                    <a:pt x="822" y="47"/>
                  </a:lnTo>
                  <a:lnTo>
                    <a:pt x="822" y="143"/>
                  </a:lnTo>
                  <a:lnTo>
                    <a:pt x="822" y="149"/>
                  </a:lnTo>
                  <a:lnTo>
                    <a:pt x="823" y="154"/>
                  </a:lnTo>
                  <a:lnTo>
                    <a:pt x="824" y="158"/>
                  </a:lnTo>
                  <a:lnTo>
                    <a:pt x="826" y="164"/>
                  </a:lnTo>
                  <a:lnTo>
                    <a:pt x="828" y="168"/>
                  </a:lnTo>
                  <a:lnTo>
                    <a:pt x="832" y="172"/>
                  </a:lnTo>
                  <a:lnTo>
                    <a:pt x="836" y="177"/>
                  </a:lnTo>
                  <a:lnTo>
                    <a:pt x="840" y="180"/>
                  </a:lnTo>
                  <a:lnTo>
                    <a:pt x="858" y="196"/>
                  </a:lnTo>
                  <a:lnTo>
                    <a:pt x="877" y="212"/>
                  </a:lnTo>
                  <a:lnTo>
                    <a:pt x="894" y="229"/>
                  </a:lnTo>
                  <a:lnTo>
                    <a:pt x="909" y="247"/>
                  </a:lnTo>
                  <a:lnTo>
                    <a:pt x="924" y="266"/>
                  </a:lnTo>
                  <a:lnTo>
                    <a:pt x="938" y="286"/>
                  </a:lnTo>
                  <a:lnTo>
                    <a:pt x="949" y="306"/>
                  </a:lnTo>
                  <a:lnTo>
                    <a:pt x="961" y="327"/>
                  </a:lnTo>
                  <a:lnTo>
                    <a:pt x="971" y="349"/>
                  </a:lnTo>
                  <a:lnTo>
                    <a:pt x="979" y="370"/>
                  </a:lnTo>
                  <a:lnTo>
                    <a:pt x="987" y="393"/>
                  </a:lnTo>
                  <a:lnTo>
                    <a:pt x="993" y="417"/>
                  </a:lnTo>
                  <a:lnTo>
                    <a:pt x="999" y="440"/>
                  </a:lnTo>
                  <a:lnTo>
                    <a:pt x="1002" y="464"/>
                  </a:lnTo>
                  <a:lnTo>
                    <a:pt x="1004" y="487"/>
                  </a:lnTo>
                  <a:lnTo>
                    <a:pt x="1005" y="512"/>
                  </a:lnTo>
                  <a:lnTo>
                    <a:pt x="1004" y="533"/>
                  </a:lnTo>
                  <a:lnTo>
                    <a:pt x="1003" y="554"/>
                  </a:lnTo>
                  <a:lnTo>
                    <a:pt x="1000" y="575"/>
                  </a:lnTo>
                  <a:lnTo>
                    <a:pt x="997" y="595"/>
                  </a:lnTo>
                  <a:lnTo>
                    <a:pt x="991" y="616"/>
                  </a:lnTo>
                  <a:lnTo>
                    <a:pt x="986" y="635"/>
                  </a:lnTo>
                  <a:lnTo>
                    <a:pt x="979" y="654"/>
                  </a:lnTo>
                  <a:lnTo>
                    <a:pt x="972" y="674"/>
                  </a:lnTo>
                  <a:lnTo>
                    <a:pt x="963" y="692"/>
                  </a:lnTo>
                  <a:lnTo>
                    <a:pt x="955" y="710"/>
                  </a:lnTo>
                  <a:lnTo>
                    <a:pt x="944" y="727"/>
                  </a:lnTo>
                  <a:lnTo>
                    <a:pt x="933" y="744"/>
                  </a:lnTo>
                  <a:lnTo>
                    <a:pt x="922" y="760"/>
                  </a:lnTo>
                  <a:lnTo>
                    <a:pt x="910" y="776"/>
                  </a:lnTo>
                  <a:lnTo>
                    <a:pt x="897" y="791"/>
                  </a:lnTo>
                  <a:lnTo>
                    <a:pt x="883" y="805"/>
                  </a:lnTo>
                  <a:lnTo>
                    <a:pt x="868" y="819"/>
                  </a:lnTo>
                  <a:lnTo>
                    <a:pt x="853" y="832"/>
                  </a:lnTo>
                  <a:lnTo>
                    <a:pt x="837" y="845"/>
                  </a:lnTo>
                  <a:lnTo>
                    <a:pt x="821" y="857"/>
                  </a:lnTo>
                  <a:lnTo>
                    <a:pt x="804" y="867"/>
                  </a:lnTo>
                  <a:lnTo>
                    <a:pt x="787" y="877"/>
                  </a:lnTo>
                  <a:lnTo>
                    <a:pt x="769" y="887"/>
                  </a:lnTo>
                  <a:lnTo>
                    <a:pt x="750" y="895"/>
                  </a:lnTo>
                  <a:lnTo>
                    <a:pt x="732" y="903"/>
                  </a:lnTo>
                  <a:lnTo>
                    <a:pt x="712" y="909"/>
                  </a:lnTo>
                  <a:lnTo>
                    <a:pt x="692" y="915"/>
                  </a:lnTo>
                  <a:lnTo>
                    <a:pt x="672" y="919"/>
                  </a:lnTo>
                  <a:lnTo>
                    <a:pt x="652" y="923"/>
                  </a:lnTo>
                  <a:lnTo>
                    <a:pt x="631" y="925"/>
                  </a:lnTo>
                  <a:lnTo>
                    <a:pt x="610" y="927"/>
                  </a:lnTo>
                  <a:lnTo>
                    <a:pt x="589" y="927"/>
                  </a:lnTo>
                  <a:lnTo>
                    <a:pt x="567" y="927"/>
                  </a:lnTo>
                  <a:lnTo>
                    <a:pt x="546" y="925"/>
                  </a:lnTo>
                  <a:lnTo>
                    <a:pt x="525" y="923"/>
                  </a:lnTo>
                  <a:lnTo>
                    <a:pt x="505" y="919"/>
                  </a:lnTo>
                  <a:lnTo>
                    <a:pt x="485" y="915"/>
                  </a:lnTo>
                  <a:lnTo>
                    <a:pt x="465" y="909"/>
                  </a:lnTo>
                  <a:lnTo>
                    <a:pt x="446" y="903"/>
                  </a:lnTo>
                  <a:lnTo>
                    <a:pt x="427" y="895"/>
                  </a:lnTo>
                  <a:lnTo>
                    <a:pt x="409" y="887"/>
                  </a:lnTo>
                  <a:lnTo>
                    <a:pt x="391" y="877"/>
                  </a:lnTo>
                  <a:lnTo>
                    <a:pt x="373" y="867"/>
                  </a:lnTo>
                  <a:lnTo>
                    <a:pt x="356" y="857"/>
                  </a:lnTo>
                  <a:lnTo>
                    <a:pt x="340" y="845"/>
                  </a:lnTo>
                  <a:lnTo>
                    <a:pt x="324" y="832"/>
                  </a:lnTo>
                  <a:lnTo>
                    <a:pt x="309" y="819"/>
                  </a:lnTo>
                  <a:lnTo>
                    <a:pt x="294" y="805"/>
                  </a:lnTo>
                  <a:lnTo>
                    <a:pt x="281" y="791"/>
                  </a:lnTo>
                  <a:lnTo>
                    <a:pt x="267" y="776"/>
                  </a:lnTo>
                  <a:lnTo>
                    <a:pt x="256" y="760"/>
                  </a:lnTo>
                  <a:lnTo>
                    <a:pt x="244" y="744"/>
                  </a:lnTo>
                  <a:lnTo>
                    <a:pt x="233" y="727"/>
                  </a:lnTo>
                  <a:lnTo>
                    <a:pt x="223" y="710"/>
                  </a:lnTo>
                  <a:lnTo>
                    <a:pt x="214" y="692"/>
                  </a:lnTo>
                  <a:lnTo>
                    <a:pt x="205" y="674"/>
                  </a:lnTo>
                  <a:lnTo>
                    <a:pt x="198" y="654"/>
                  </a:lnTo>
                  <a:lnTo>
                    <a:pt x="191" y="635"/>
                  </a:lnTo>
                  <a:lnTo>
                    <a:pt x="186" y="616"/>
                  </a:lnTo>
                  <a:lnTo>
                    <a:pt x="181" y="595"/>
                  </a:lnTo>
                  <a:lnTo>
                    <a:pt x="177" y="575"/>
                  </a:lnTo>
                  <a:lnTo>
                    <a:pt x="175" y="554"/>
                  </a:lnTo>
                  <a:lnTo>
                    <a:pt x="173" y="533"/>
                  </a:lnTo>
                  <a:lnTo>
                    <a:pt x="173" y="512"/>
                  </a:lnTo>
                  <a:lnTo>
                    <a:pt x="173" y="487"/>
                  </a:lnTo>
                  <a:lnTo>
                    <a:pt x="175" y="464"/>
                  </a:lnTo>
                  <a:lnTo>
                    <a:pt x="178" y="440"/>
                  </a:lnTo>
                  <a:lnTo>
                    <a:pt x="184" y="417"/>
                  </a:lnTo>
                  <a:lnTo>
                    <a:pt x="190" y="393"/>
                  </a:lnTo>
                  <a:lnTo>
                    <a:pt x="198" y="370"/>
                  </a:lnTo>
                  <a:lnTo>
                    <a:pt x="206" y="349"/>
                  </a:lnTo>
                  <a:lnTo>
                    <a:pt x="216" y="327"/>
                  </a:lnTo>
                  <a:lnTo>
                    <a:pt x="228" y="306"/>
                  </a:lnTo>
                  <a:lnTo>
                    <a:pt x="240" y="286"/>
                  </a:lnTo>
                  <a:lnTo>
                    <a:pt x="253" y="266"/>
                  </a:lnTo>
                  <a:lnTo>
                    <a:pt x="268" y="247"/>
                  </a:lnTo>
                  <a:lnTo>
                    <a:pt x="283" y="229"/>
                  </a:lnTo>
                  <a:lnTo>
                    <a:pt x="301" y="212"/>
                  </a:lnTo>
                  <a:lnTo>
                    <a:pt x="319" y="196"/>
                  </a:lnTo>
                  <a:lnTo>
                    <a:pt x="337" y="180"/>
                  </a:lnTo>
                  <a:lnTo>
                    <a:pt x="341" y="177"/>
                  </a:lnTo>
                  <a:lnTo>
                    <a:pt x="346" y="172"/>
                  </a:lnTo>
                  <a:lnTo>
                    <a:pt x="349" y="168"/>
                  </a:lnTo>
                  <a:lnTo>
                    <a:pt x="351" y="164"/>
                  </a:lnTo>
                  <a:lnTo>
                    <a:pt x="353" y="158"/>
                  </a:lnTo>
                  <a:lnTo>
                    <a:pt x="354" y="154"/>
                  </a:lnTo>
                  <a:lnTo>
                    <a:pt x="355" y="149"/>
                  </a:lnTo>
                  <a:lnTo>
                    <a:pt x="356" y="143"/>
                  </a:lnTo>
                  <a:lnTo>
                    <a:pt x="356" y="47"/>
                  </a:lnTo>
                  <a:lnTo>
                    <a:pt x="355" y="41"/>
                  </a:lnTo>
                  <a:lnTo>
                    <a:pt x="354" y="34"/>
                  </a:lnTo>
                  <a:lnTo>
                    <a:pt x="352" y="29"/>
                  </a:lnTo>
                  <a:lnTo>
                    <a:pt x="350" y="23"/>
                  </a:lnTo>
                  <a:lnTo>
                    <a:pt x="346" y="18"/>
                  </a:lnTo>
                  <a:lnTo>
                    <a:pt x="342" y="14"/>
                  </a:lnTo>
                  <a:lnTo>
                    <a:pt x="337" y="10"/>
                  </a:lnTo>
                  <a:lnTo>
                    <a:pt x="332" y="6"/>
                  </a:lnTo>
                  <a:lnTo>
                    <a:pt x="326" y="3"/>
                  </a:lnTo>
                  <a:lnTo>
                    <a:pt x="321" y="2"/>
                  </a:lnTo>
                  <a:lnTo>
                    <a:pt x="314" y="0"/>
                  </a:lnTo>
                  <a:lnTo>
                    <a:pt x="309" y="0"/>
                  </a:lnTo>
                  <a:lnTo>
                    <a:pt x="303" y="1"/>
                  </a:lnTo>
                  <a:lnTo>
                    <a:pt x="296" y="2"/>
                  </a:lnTo>
                  <a:lnTo>
                    <a:pt x="291" y="4"/>
                  </a:lnTo>
                  <a:lnTo>
                    <a:pt x="286" y="6"/>
                  </a:lnTo>
                  <a:lnTo>
                    <a:pt x="257" y="25"/>
                  </a:lnTo>
                  <a:lnTo>
                    <a:pt x="230" y="45"/>
                  </a:lnTo>
                  <a:lnTo>
                    <a:pt x="203" y="66"/>
                  </a:lnTo>
                  <a:lnTo>
                    <a:pt x="178" y="89"/>
                  </a:lnTo>
                  <a:lnTo>
                    <a:pt x="155" y="113"/>
                  </a:lnTo>
                  <a:lnTo>
                    <a:pt x="134" y="138"/>
                  </a:lnTo>
                  <a:lnTo>
                    <a:pt x="112" y="165"/>
                  </a:lnTo>
                  <a:lnTo>
                    <a:pt x="93" y="193"/>
                  </a:lnTo>
                  <a:lnTo>
                    <a:pt x="82" y="211"/>
                  </a:lnTo>
                  <a:lnTo>
                    <a:pt x="71" y="229"/>
                  </a:lnTo>
                  <a:lnTo>
                    <a:pt x="62" y="247"/>
                  </a:lnTo>
                  <a:lnTo>
                    <a:pt x="53" y="267"/>
                  </a:lnTo>
                  <a:lnTo>
                    <a:pt x="45" y="286"/>
                  </a:lnTo>
                  <a:lnTo>
                    <a:pt x="37" y="305"/>
                  </a:lnTo>
                  <a:lnTo>
                    <a:pt x="30" y="326"/>
                  </a:lnTo>
                  <a:lnTo>
                    <a:pt x="23" y="345"/>
                  </a:lnTo>
                  <a:lnTo>
                    <a:pt x="18" y="365"/>
                  </a:lnTo>
                  <a:lnTo>
                    <a:pt x="14" y="385"/>
                  </a:lnTo>
                  <a:lnTo>
                    <a:pt x="9" y="407"/>
                  </a:lnTo>
                  <a:lnTo>
                    <a:pt x="6" y="427"/>
                  </a:lnTo>
                  <a:lnTo>
                    <a:pt x="3" y="449"/>
                  </a:lnTo>
                  <a:lnTo>
                    <a:pt x="1" y="469"/>
                  </a:lnTo>
                  <a:lnTo>
                    <a:pt x="0" y="490"/>
                  </a:lnTo>
                  <a:lnTo>
                    <a:pt x="0" y="512"/>
                  </a:lnTo>
                  <a:lnTo>
                    <a:pt x="1" y="541"/>
                  </a:lnTo>
                  <a:lnTo>
                    <a:pt x="3" y="570"/>
                  </a:lnTo>
                  <a:lnTo>
                    <a:pt x="6" y="599"/>
                  </a:lnTo>
                  <a:lnTo>
                    <a:pt x="11" y="628"/>
                  </a:lnTo>
                  <a:lnTo>
                    <a:pt x="17" y="655"/>
                  </a:lnTo>
                  <a:lnTo>
                    <a:pt x="25" y="683"/>
                  </a:lnTo>
                  <a:lnTo>
                    <a:pt x="34" y="710"/>
                  </a:lnTo>
                  <a:lnTo>
                    <a:pt x="45" y="737"/>
                  </a:lnTo>
                  <a:lnTo>
                    <a:pt x="55" y="764"/>
                  </a:lnTo>
                  <a:lnTo>
                    <a:pt x="68" y="789"/>
                  </a:lnTo>
                  <a:lnTo>
                    <a:pt x="83" y="814"/>
                  </a:lnTo>
                  <a:lnTo>
                    <a:pt x="98" y="839"/>
                  </a:lnTo>
                  <a:lnTo>
                    <a:pt x="115" y="862"/>
                  </a:lnTo>
                  <a:lnTo>
                    <a:pt x="132" y="885"/>
                  </a:lnTo>
                  <a:lnTo>
                    <a:pt x="152" y="907"/>
                  </a:lnTo>
                  <a:lnTo>
                    <a:pt x="172" y="928"/>
                  </a:lnTo>
                  <a:lnTo>
                    <a:pt x="193" y="949"/>
                  </a:lnTo>
                  <a:lnTo>
                    <a:pt x="216" y="967"/>
                  </a:lnTo>
                  <a:lnTo>
                    <a:pt x="238" y="985"/>
                  </a:lnTo>
                  <a:lnTo>
                    <a:pt x="262" y="1002"/>
                  </a:lnTo>
                  <a:lnTo>
                    <a:pt x="287" y="1017"/>
                  </a:lnTo>
                  <a:lnTo>
                    <a:pt x="311" y="1031"/>
                  </a:lnTo>
                  <a:lnTo>
                    <a:pt x="337" y="1044"/>
                  </a:lnTo>
                  <a:lnTo>
                    <a:pt x="363" y="1056"/>
                  </a:lnTo>
                  <a:lnTo>
                    <a:pt x="389" y="1067"/>
                  </a:lnTo>
                  <a:lnTo>
                    <a:pt x="417" y="1075"/>
                  </a:lnTo>
                  <a:lnTo>
                    <a:pt x="445" y="1083"/>
                  </a:lnTo>
                  <a:lnTo>
                    <a:pt x="473" y="1089"/>
                  </a:lnTo>
                  <a:lnTo>
                    <a:pt x="501" y="1094"/>
                  </a:lnTo>
                  <a:lnTo>
                    <a:pt x="530" y="1098"/>
                  </a:lnTo>
                  <a:lnTo>
                    <a:pt x="560" y="1100"/>
                  </a:lnTo>
                  <a:lnTo>
                    <a:pt x="589" y="1101"/>
                  </a:lnTo>
                  <a:lnTo>
                    <a:pt x="618" y="1100"/>
                  </a:lnTo>
                  <a:lnTo>
                    <a:pt x="648" y="1098"/>
                  </a:lnTo>
                  <a:lnTo>
                    <a:pt x="676" y="1094"/>
                  </a:lnTo>
                  <a:lnTo>
                    <a:pt x="704" y="1089"/>
                  </a:lnTo>
                  <a:lnTo>
                    <a:pt x="732" y="1083"/>
                  </a:lnTo>
                  <a:lnTo>
                    <a:pt x="760" y="1075"/>
                  </a:lnTo>
                  <a:lnTo>
                    <a:pt x="788" y="1067"/>
                  </a:lnTo>
                  <a:lnTo>
                    <a:pt x="815" y="1056"/>
                  </a:lnTo>
                  <a:lnTo>
                    <a:pt x="840" y="1044"/>
                  </a:lnTo>
                  <a:lnTo>
                    <a:pt x="866" y="1031"/>
                  </a:lnTo>
                  <a:lnTo>
                    <a:pt x="891" y="1017"/>
                  </a:lnTo>
                  <a:lnTo>
                    <a:pt x="915" y="1002"/>
                  </a:lnTo>
                  <a:lnTo>
                    <a:pt x="939" y="985"/>
                  </a:lnTo>
                  <a:lnTo>
                    <a:pt x="961" y="967"/>
                  </a:lnTo>
                  <a:lnTo>
                    <a:pt x="984" y="949"/>
                  </a:lnTo>
                  <a:lnTo>
                    <a:pt x="1005" y="928"/>
                  </a:lnTo>
                  <a:lnTo>
                    <a:pt x="1026" y="907"/>
                  </a:lnTo>
                  <a:lnTo>
                    <a:pt x="1045" y="885"/>
                  </a:lnTo>
                  <a:lnTo>
                    <a:pt x="1062" y="862"/>
                  </a:lnTo>
                  <a:lnTo>
                    <a:pt x="1079" y="839"/>
                  </a:lnTo>
                  <a:lnTo>
                    <a:pt x="1094" y="814"/>
                  </a:lnTo>
                  <a:lnTo>
                    <a:pt x="1109" y="789"/>
                  </a:lnTo>
                  <a:lnTo>
                    <a:pt x="1122" y="764"/>
                  </a:lnTo>
                  <a:lnTo>
                    <a:pt x="1133" y="737"/>
                  </a:lnTo>
                  <a:lnTo>
                    <a:pt x="1143" y="710"/>
                  </a:lnTo>
                  <a:lnTo>
                    <a:pt x="1153" y="683"/>
                  </a:lnTo>
                  <a:lnTo>
                    <a:pt x="1160" y="655"/>
                  </a:lnTo>
                  <a:lnTo>
                    <a:pt x="1167" y="628"/>
                  </a:lnTo>
                  <a:lnTo>
                    <a:pt x="1171" y="599"/>
                  </a:lnTo>
                  <a:lnTo>
                    <a:pt x="1174" y="570"/>
                  </a:lnTo>
                  <a:lnTo>
                    <a:pt x="1177" y="541"/>
                  </a:lnTo>
                  <a:lnTo>
                    <a:pt x="1178" y="512"/>
                  </a:lnTo>
                  <a:lnTo>
                    <a:pt x="1178" y="490"/>
                  </a:lnTo>
                  <a:lnTo>
                    <a:pt x="1177" y="469"/>
                  </a:lnTo>
                  <a:lnTo>
                    <a:pt x="1174" y="449"/>
                  </a:lnTo>
                  <a:lnTo>
                    <a:pt x="1171" y="427"/>
                  </a:lnTo>
                  <a:lnTo>
                    <a:pt x="1168" y="407"/>
                  </a:lnTo>
                  <a:lnTo>
                    <a:pt x="1164" y="385"/>
                  </a:lnTo>
                  <a:lnTo>
                    <a:pt x="1159" y="365"/>
                  </a:lnTo>
                  <a:lnTo>
                    <a:pt x="1154" y="345"/>
                  </a:lnTo>
                  <a:lnTo>
                    <a:pt x="1148" y="326"/>
                  </a:lnTo>
                  <a:lnTo>
                    <a:pt x="1140" y="305"/>
                  </a:lnTo>
                  <a:lnTo>
                    <a:pt x="1133" y="286"/>
                  </a:lnTo>
                  <a:lnTo>
                    <a:pt x="1124" y="267"/>
                  </a:lnTo>
                  <a:lnTo>
                    <a:pt x="1115" y="247"/>
                  </a:lnTo>
                  <a:lnTo>
                    <a:pt x="1106" y="229"/>
                  </a:lnTo>
                  <a:lnTo>
                    <a:pt x="1095" y="211"/>
                  </a:lnTo>
                  <a:lnTo>
                    <a:pt x="1084" y="193"/>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1" name="Freeform 28"/>
            <p:cNvSpPr>
              <a:spLocks/>
            </p:cNvSpPr>
            <p:nvPr/>
          </p:nvSpPr>
          <p:spPr bwMode="auto">
            <a:xfrm>
              <a:off x="1522765" y="2512341"/>
              <a:ext cx="52388" cy="188913"/>
            </a:xfrm>
            <a:custGeom>
              <a:avLst/>
              <a:gdLst>
                <a:gd name="T0" fmla="*/ 44 w 197"/>
                <a:gd name="T1" fmla="*/ 715 h 715"/>
                <a:gd name="T2" fmla="*/ 153 w 197"/>
                <a:gd name="T3" fmla="*/ 715 h 715"/>
                <a:gd name="T4" fmla="*/ 162 w 197"/>
                <a:gd name="T5" fmla="*/ 714 h 715"/>
                <a:gd name="T6" fmla="*/ 170 w 197"/>
                <a:gd name="T7" fmla="*/ 712 h 715"/>
                <a:gd name="T8" fmla="*/ 178 w 197"/>
                <a:gd name="T9" fmla="*/ 708 h 715"/>
                <a:gd name="T10" fmla="*/ 184 w 197"/>
                <a:gd name="T11" fmla="*/ 702 h 715"/>
                <a:gd name="T12" fmla="*/ 190 w 197"/>
                <a:gd name="T13" fmla="*/ 696 h 715"/>
                <a:gd name="T14" fmla="*/ 193 w 197"/>
                <a:gd name="T15" fmla="*/ 689 h 715"/>
                <a:gd name="T16" fmla="*/ 196 w 197"/>
                <a:gd name="T17" fmla="*/ 681 h 715"/>
                <a:gd name="T18" fmla="*/ 197 w 197"/>
                <a:gd name="T19" fmla="*/ 671 h 715"/>
                <a:gd name="T20" fmla="*/ 197 w 197"/>
                <a:gd name="T21" fmla="*/ 44 h 715"/>
                <a:gd name="T22" fmla="*/ 196 w 197"/>
                <a:gd name="T23" fmla="*/ 35 h 715"/>
                <a:gd name="T24" fmla="*/ 193 w 197"/>
                <a:gd name="T25" fmla="*/ 27 h 715"/>
                <a:gd name="T26" fmla="*/ 190 w 197"/>
                <a:gd name="T27" fmla="*/ 19 h 715"/>
                <a:gd name="T28" fmla="*/ 184 w 197"/>
                <a:gd name="T29" fmla="*/ 13 h 715"/>
                <a:gd name="T30" fmla="*/ 178 w 197"/>
                <a:gd name="T31" fmla="*/ 7 h 715"/>
                <a:gd name="T32" fmla="*/ 170 w 197"/>
                <a:gd name="T33" fmla="*/ 3 h 715"/>
                <a:gd name="T34" fmla="*/ 162 w 197"/>
                <a:gd name="T35" fmla="*/ 1 h 715"/>
                <a:gd name="T36" fmla="*/ 153 w 197"/>
                <a:gd name="T37" fmla="*/ 0 h 715"/>
                <a:gd name="T38" fmla="*/ 44 w 197"/>
                <a:gd name="T39" fmla="*/ 0 h 715"/>
                <a:gd name="T40" fmla="*/ 35 w 197"/>
                <a:gd name="T41" fmla="*/ 1 h 715"/>
                <a:gd name="T42" fmla="*/ 27 w 197"/>
                <a:gd name="T43" fmla="*/ 3 h 715"/>
                <a:gd name="T44" fmla="*/ 19 w 197"/>
                <a:gd name="T45" fmla="*/ 7 h 715"/>
                <a:gd name="T46" fmla="*/ 13 w 197"/>
                <a:gd name="T47" fmla="*/ 13 h 715"/>
                <a:gd name="T48" fmla="*/ 8 w 197"/>
                <a:gd name="T49" fmla="*/ 19 h 715"/>
                <a:gd name="T50" fmla="*/ 4 w 197"/>
                <a:gd name="T51" fmla="*/ 27 h 715"/>
                <a:gd name="T52" fmla="*/ 1 w 197"/>
                <a:gd name="T53" fmla="*/ 35 h 715"/>
                <a:gd name="T54" fmla="*/ 0 w 197"/>
                <a:gd name="T55" fmla="*/ 44 h 715"/>
                <a:gd name="T56" fmla="*/ 0 w 197"/>
                <a:gd name="T57" fmla="*/ 671 h 715"/>
                <a:gd name="T58" fmla="*/ 1 w 197"/>
                <a:gd name="T59" fmla="*/ 681 h 715"/>
                <a:gd name="T60" fmla="*/ 4 w 197"/>
                <a:gd name="T61" fmla="*/ 689 h 715"/>
                <a:gd name="T62" fmla="*/ 8 w 197"/>
                <a:gd name="T63" fmla="*/ 696 h 715"/>
                <a:gd name="T64" fmla="*/ 13 w 197"/>
                <a:gd name="T65" fmla="*/ 702 h 715"/>
                <a:gd name="T66" fmla="*/ 19 w 197"/>
                <a:gd name="T67" fmla="*/ 708 h 715"/>
                <a:gd name="T68" fmla="*/ 27 w 197"/>
                <a:gd name="T69" fmla="*/ 712 h 715"/>
                <a:gd name="T70" fmla="*/ 35 w 197"/>
                <a:gd name="T71" fmla="*/ 714 h 715"/>
                <a:gd name="T72" fmla="*/ 44 w 197"/>
                <a:gd name="T73" fmla="*/ 71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7" h="715">
                  <a:moveTo>
                    <a:pt x="44" y="715"/>
                  </a:moveTo>
                  <a:lnTo>
                    <a:pt x="153" y="715"/>
                  </a:lnTo>
                  <a:lnTo>
                    <a:pt x="162" y="714"/>
                  </a:lnTo>
                  <a:lnTo>
                    <a:pt x="170" y="712"/>
                  </a:lnTo>
                  <a:lnTo>
                    <a:pt x="178" y="708"/>
                  </a:lnTo>
                  <a:lnTo>
                    <a:pt x="184" y="702"/>
                  </a:lnTo>
                  <a:lnTo>
                    <a:pt x="190" y="696"/>
                  </a:lnTo>
                  <a:lnTo>
                    <a:pt x="193" y="689"/>
                  </a:lnTo>
                  <a:lnTo>
                    <a:pt x="196" y="681"/>
                  </a:lnTo>
                  <a:lnTo>
                    <a:pt x="197" y="671"/>
                  </a:lnTo>
                  <a:lnTo>
                    <a:pt x="197" y="44"/>
                  </a:lnTo>
                  <a:lnTo>
                    <a:pt x="196" y="35"/>
                  </a:lnTo>
                  <a:lnTo>
                    <a:pt x="193" y="27"/>
                  </a:lnTo>
                  <a:lnTo>
                    <a:pt x="190" y="19"/>
                  </a:lnTo>
                  <a:lnTo>
                    <a:pt x="184" y="13"/>
                  </a:lnTo>
                  <a:lnTo>
                    <a:pt x="178" y="7"/>
                  </a:lnTo>
                  <a:lnTo>
                    <a:pt x="170" y="3"/>
                  </a:lnTo>
                  <a:lnTo>
                    <a:pt x="162" y="1"/>
                  </a:lnTo>
                  <a:lnTo>
                    <a:pt x="153" y="0"/>
                  </a:lnTo>
                  <a:lnTo>
                    <a:pt x="44" y="0"/>
                  </a:lnTo>
                  <a:lnTo>
                    <a:pt x="35" y="1"/>
                  </a:lnTo>
                  <a:lnTo>
                    <a:pt x="27" y="3"/>
                  </a:lnTo>
                  <a:lnTo>
                    <a:pt x="19" y="7"/>
                  </a:lnTo>
                  <a:lnTo>
                    <a:pt x="13" y="13"/>
                  </a:lnTo>
                  <a:lnTo>
                    <a:pt x="8" y="19"/>
                  </a:lnTo>
                  <a:lnTo>
                    <a:pt x="4" y="27"/>
                  </a:lnTo>
                  <a:lnTo>
                    <a:pt x="1" y="35"/>
                  </a:lnTo>
                  <a:lnTo>
                    <a:pt x="0" y="44"/>
                  </a:lnTo>
                  <a:lnTo>
                    <a:pt x="0" y="671"/>
                  </a:lnTo>
                  <a:lnTo>
                    <a:pt x="1" y="681"/>
                  </a:lnTo>
                  <a:lnTo>
                    <a:pt x="4" y="689"/>
                  </a:lnTo>
                  <a:lnTo>
                    <a:pt x="8" y="696"/>
                  </a:lnTo>
                  <a:lnTo>
                    <a:pt x="13" y="702"/>
                  </a:lnTo>
                  <a:lnTo>
                    <a:pt x="19" y="708"/>
                  </a:lnTo>
                  <a:lnTo>
                    <a:pt x="27" y="712"/>
                  </a:lnTo>
                  <a:lnTo>
                    <a:pt x="35" y="714"/>
                  </a:lnTo>
                  <a:lnTo>
                    <a:pt x="44" y="715"/>
                  </a:lnTo>
                  <a:close/>
                </a:path>
              </a:pathLst>
            </a:custGeom>
            <a:solidFill>
              <a:srgbClr val="3DC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2" name="Freeform 29"/>
            <p:cNvSpPr>
              <a:spLocks noEditPoints="1"/>
            </p:cNvSpPr>
            <p:nvPr/>
          </p:nvSpPr>
          <p:spPr bwMode="auto">
            <a:xfrm>
              <a:off x="1395765" y="4468139"/>
              <a:ext cx="304800" cy="228600"/>
            </a:xfrm>
            <a:custGeom>
              <a:avLst/>
              <a:gdLst>
                <a:gd name="T0" fmla="*/ 1153 w 1153"/>
                <a:gd name="T1" fmla="*/ 729 h 864"/>
                <a:gd name="T2" fmla="*/ 1150 w 1153"/>
                <a:gd name="T3" fmla="*/ 748 h 864"/>
                <a:gd name="T4" fmla="*/ 1145 w 1153"/>
                <a:gd name="T5" fmla="*/ 766 h 864"/>
                <a:gd name="T6" fmla="*/ 1139 w 1153"/>
                <a:gd name="T7" fmla="*/ 782 h 864"/>
                <a:gd name="T8" fmla="*/ 770 w 1153"/>
                <a:gd name="T9" fmla="*/ 382 h 864"/>
                <a:gd name="T10" fmla="*/ 1136 w 1153"/>
                <a:gd name="T11" fmla="*/ 76 h 864"/>
                <a:gd name="T12" fmla="*/ 1144 w 1153"/>
                <a:gd name="T13" fmla="*/ 94 h 864"/>
                <a:gd name="T14" fmla="*/ 1150 w 1153"/>
                <a:gd name="T15" fmla="*/ 113 h 864"/>
                <a:gd name="T16" fmla="*/ 1153 w 1153"/>
                <a:gd name="T17" fmla="*/ 134 h 864"/>
                <a:gd name="T18" fmla="*/ 1153 w 1153"/>
                <a:gd name="T19" fmla="*/ 721 h 864"/>
                <a:gd name="T20" fmla="*/ 1078 w 1153"/>
                <a:gd name="T21" fmla="*/ 18 h 864"/>
                <a:gd name="T22" fmla="*/ 1045 w 1153"/>
                <a:gd name="T23" fmla="*/ 4 h 864"/>
                <a:gd name="T24" fmla="*/ 1027 w 1153"/>
                <a:gd name="T25" fmla="*/ 1 h 864"/>
                <a:gd name="T26" fmla="*/ 1009 w 1153"/>
                <a:gd name="T27" fmla="*/ 0 h 864"/>
                <a:gd name="T28" fmla="*/ 135 w 1153"/>
                <a:gd name="T29" fmla="*/ 0 h 864"/>
                <a:gd name="T30" fmla="*/ 117 w 1153"/>
                <a:gd name="T31" fmla="*/ 3 h 864"/>
                <a:gd name="T32" fmla="*/ 92 w 1153"/>
                <a:gd name="T33" fmla="*/ 11 h 864"/>
                <a:gd name="T34" fmla="*/ 577 w 1153"/>
                <a:gd name="T35" fmla="*/ 456 h 864"/>
                <a:gd name="T36" fmla="*/ 600 w 1153"/>
                <a:gd name="T37" fmla="*/ 531 h 864"/>
                <a:gd name="T38" fmla="*/ 589 w 1153"/>
                <a:gd name="T39" fmla="*/ 538 h 864"/>
                <a:gd name="T40" fmla="*/ 577 w 1153"/>
                <a:gd name="T41" fmla="*/ 540 h 864"/>
                <a:gd name="T42" fmla="*/ 564 w 1153"/>
                <a:gd name="T43" fmla="*/ 538 h 864"/>
                <a:gd name="T44" fmla="*/ 553 w 1153"/>
                <a:gd name="T45" fmla="*/ 531 h 864"/>
                <a:gd name="T46" fmla="*/ 69 w 1153"/>
                <a:gd name="T47" fmla="*/ 842 h 864"/>
                <a:gd name="T48" fmla="*/ 86 w 1153"/>
                <a:gd name="T49" fmla="*/ 851 h 864"/>
                <a:gd name="T50" fmla="*/ 104 w 1153"/>
                <a:gd name="T51" fmla="*/ 859 h 864"/>
                <a:gd name="T52" fmla="*/ 124 w 1153"/>
                <a:gd name="T53" fmla="*/ 863 h 864"/>
                <a:gd name="T54" fmla="*/ 145 w 1153"/>
                <a:gd name="T55" fmla="*/ 864 h 864"/>
                <a:gd name="T56" fmla="*/ 1019 w 1153"/>
                <a:gd name="T57" fmla="*/ 864 h 864"/>
                <a:gd name="T58" fmla="*/ 1039 w 1153"/>
                <a:gd name="T59" fmla="*/ 861 h 864"/>
                <a:gd name="T60" fmla="*/ 1058 w 1153"/>
                <a:gd name="T61" fmla="*/ 856 h 864"/>
                <a:gd name="T62" fmla="*/ 1077 w 1153"/>
                <a:gd name="T63" fmla="*/ 847 h 864"/>
                <a:gd name="T64" fmla="*/ 716 w 1153"/>
                <a:gd name="T65" fmla="*/ 429 h 864"/>
                <a:gd name="T66" fmla="*/ 18 w 1153"/>
                <a:gd name="T67" fmla="*/ 76 h 864"/>
                <a:gd name="T68" fmla="*/ 10 w 1153"/>
                <a:gd name="T69" fmla="*/ 94 h 864"/>
                <a:gd name="T70" fmla="*/ 4 w 1153"/>
                <a:gd name="T71" fmla="*/ 113 h 864"/>
                <a:gd name="T72" fmla="*/ 0 w 1153"/>
                <a:gd name="T73" fmla="*/ 134 h 864"/>
                <a:gd name="T74" fmla="*/ 0 w 1153"/>
                <a:gd name="T75" fmla="*/ 721 h 864"/>
                <a:gd name="T76" fmla="*/ 2 w 1153"/>
                <a:gd name="T77" fmla="*/ 739 h 864"/>
                <a:gd name="T78" fmla="*/ 6 w 1153"/>
                <a:gd name="T79" fmla="*/ 757 h 864"/>
                <a:gd name="T80" fmla="*/ 19 w 1153"/>
                <a:gd name="T81" fmla="*/ 789 h 864"/>
                <a:gd name="T82" fmla="*/ 23 w 1153"/>
                <a:gd name="T83" fmla="*/ 6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3" h="864">
                  <a:moveTo>
                    <a:pt x="1153" y="721"/>
                  </a:moveTo>
                  <a:lnTo>
                    <a:pt x="1153" y="729"/>
                  </a:lnTo>
                  <a:lnTo>
                    <a:pt x="1152" y="739"/>
                  </a:lnTo>
                  <a:lnTo>
                    <a:pt x="1150" y="748"/>
                  </a:lnTo>
                  <a:lnTo>
                    <a:pt x="1147" y="757"/>
                  </a:lnTo>
                  <a:lnTo>
                    <a:pt x="1145" y="766"/>
                  </a:lnTo>
                  <a:lnTo>
                    <a:pt x="1142" y="773"/>
                  </a:lnTo>
                  <a:lnTo>
                    <a:pt x="1139" y="782"/>
                  </a:lnTo>
                  <a:lnTo>
                    <a:pt x="1135" y="789"/>
                  </a:lnTo>
                  <a:lnTo>
                    <a:pt x="770" y="382"/>
                  </a:lnTo>
                  <a:lnTo>
                    <a:pt x="1130" y="67"/>
                  </a:lnTo>
                  <a:lnTo>
                    <a:pt x="1136" y="76"/>
                  </a:lnTo>
                  <a:lnTo>
                    <a:pt x="1140" y="85"/>
                  </a:lnTo>
                  <a:lnTo>
                    <a:pt x="1144" y="94"/>
                  </a:lnTo>
                  <a:lnTo>
                    <a:pt x="1147" y="104"/>
                  </a:lnTo>
                  <a:lnTo>
                    <a:pt x="1150" y="113"/>
                  </a:lnTo>
                  <a:lnTo>
                    <a:pt x="1152" y="123"/>
                  </a:lnTo>
                  <a:lnTo>
                    <a:pt x="1153" y="134"/>
                  </a:lnTo>
                  <a:lnTo>
                    <a:pt x="1153" y="143"/>
                  </a:lnTo>
                  <a:lnTo>
                    <a:pt x="1153" y="721"/>
                  </a:lnTo>
                  <a:close/>
                  <a:moveTo>
                    <a:pt x="577" y="456"/>
                  </a:moveTo>
                  <a:lnTo>
                    <a:pt x="1078" y="18"/>
                  </a:lnTo>
                  <a:lnTo>
                    <a:pt x="1062" y="11"/>
                  </a:lnTo>
                  <a:lnTo>
                    <a:pt x="1045" y="4"/>
                  </a:lnTo>
                  <a:lnTo>
                    <a:pt x="1036" y="3"/>
                  </a:lnTo>
                  <a:lnTo>
                    <a:pt x="1027" y="1"/>
                  </a:lnTo>
                  <a:lnTo>
                    <a:pt x="1018" y="0"/>
                  </a:lnTo>
                  <a:lnTo>
                    <a:pt x="1009" y="0"/>
                  </a:lnTo>
                  <a:lnTo>
                    <a:pt x="145" y="0"/>
                  </a:lnTo>
                  <a:lnTo>
                    <a:pt x="135" y="0"/>
                  </a:lnTo>
                  <a:lnTo>
                    <a:pt x="126" y="1"/>
                  </a:lnTo>
                  <a:lnTo>
                    <a:pt x="117" y="3"/>
                  </a:lnTo>
                  <a:lnTo>
                    <a:pt x="109" y="4"/>
                  </a:lnTo>
                  <a:lnTo>
                    <a:pt x="92" y="11"/>
                  </a:lnTo>
                  <a:lnTo>
                    <a:pt x="75" y="18"/>
                  </a:lnTo>
                  <a:lnTo>
                    <a:pt x="577" y="456"/>
                  </a:lnTo>
                  <a:close/>
                  <a:moveTo>
                    <a:pt x="716" y="429"/>
                  </a:moveTo>
                  <a:lnTo>
                    <a:pt x="600" y="531"/>
                  </a:lnTo>
                  <a:lnTo>
                    <a:pt x="595" y="535"/>
                  </a:lnTo>
                  <a:lnTo>
                    <a:pt x="589" y="538"/>
                  </a:lnTo>
                  <a:lnTo>
                    <a:pt x="583" y="540"/>
                  </a:lnTo>
                  <a:lnTo>
                    <a:pt x="577" y="540"/>
                  </a:lnTo>
                  <a:lnTo>
                    <a:pt x="570" y="540"/>
                  </a:lnTo>
                  <a:lnTo>
                    <a:pt x="564" y="538"/>
                  </a:lnTo>
                  <a:lnTo>
                    <a:pt x="558" y="535"/>
                  </a:lnTo>
                  <a:lnTo>
                    <a:pt x="553" y="531"/>
                  </a:lnTo>
                  <a:lnTo>
                    <a:pt x="437" y="429"/>
                  </a:lnTo>
                  <a:lnTo>
                    <a:pt x="69" y="842"/>
                  </a:lnTo>
                  <a:lnTo>
                    <a:pt x="77" y="847"/>
                  </a:lnTo>
                  <a:lnTo>
                    <a:pt x="86" y="851"/>
                  </a:lnTo>
                  <a:lnTo>
                    <a:pt x="95" y="856"/>
                  </a:lnTo>
                  <a:lnTo>
                    <a:pt x="104" y="859"/>
                  </a:lnTo>
                  <a:lnTo>
                    <a:pt x="114" y="861"/>
                  </a:lnTo>
                  <a:lnTo>
                    <a:pt x="124" y="863"/>
                  </a:lnTo>
                  <a:lnTo>
                    <a:pt x="134" y="864"/>
                  </a:lnTo>
                  <a:lnTo>
                    <a:pt x="145" y="864"/>
                  </a:lnTo>
                  <a:lnTo>
                    <a:pt x="1009" y="864"/>
                  </a:lnTo>
                  <a:lnTo>
                    <a:pt x="1019" y="864"/>
                  </a:lnTo>
                  <a:lnTo>
                    <a:pt x="1030" y="863"/>
                  </a:lnTo>
                  <a:lnTo>
                    <a:pt x="1039" y="861"/>
                  </a:lnTo>
                  <a:lnTo>
                    <a:pt x="1049" y="859"/>
                  </a:lnTo>
                  <a:lnTo>
                    <a:pt x="1058" y="856"/>
                  </a:lnTo>
                  <a:lnTo>
                    <a:pt x="1067" y="851"/>
                  </a:lnTo>
                  <a:lnTo>
                    <a:pt x="1077" y="847"/>
                  </a:lnTo>
                  <a:lnTo>
                    <a:pt x="1084" y="842"/>
                  </a:lnTo>
                  <a:lnTo>
                    <a:pt x="716" y="429"/>
                  </a:lnTo>
                  <a:close/>
                  <a:moveTo>
                    <a:pt x="23" y="67"/>
                  </a:moveTo>
                  <a:lnTo>
                    <a:pt x="18" y="76"/>
                  </a:lnTo>
                  <a:lnTo>
                    <a:pt x="13" y="85"/>
                  </a:lnTo>
                  <a:lnTo>
                    <a:pt x="10" y="94"/>
                  </a:lnTo>
                  <a:lnTo>
                    <a:pt x="7" y="104"/>
                  </a:lnTo>
                  <a:lnTo>
                    <a:pt x="4" y="113"/>
                  </a:lnTo>
                  <a:lnTo>
                    <a:pt x="2" y="123"/>
                  </a:lnTo>
                  <a:lnTo>
                    <a:pt x="0" y="134"/>
                  </a:lnTo>
                  <a:lnTo>
                    <a:pt x="0" y="143"/>
                  </a:lnTo>
                  <a:lnTo>
                    <a:pt x="0" y="721"/>
                  </a:lnTo>
                  <a:lnTo>
                    <a:pt x="0" y="729"/>
                  </a:lnTo>
                  <a:lnTo>
                    <a:pt x="2" y="739"/>
                  </a:lnTo>
                  <a:lnTo>
                    <a:pt x="4" y="748"/>
                  </a:lnTo>
                  <a:lnTo>
                    <a:pt x="6" y="757"/>
                  </a:lnTo>
                  <a:lnTo>
                    <a:pt x="11" y="773"/>
                  </a:lnTo>
                  <a:lnTo>
                    <a:pt x="19" y="789"/>
                  </a:lnTo>
                  <a:lnTo>
                    <a:pt x="383" y="382"/>
                  </a:lnTo>
                  <a:lnTo>
                    <a:pt x="23" y="67"/>
                  </a:lnTo>
                  <a:close/>
                </a:path>
              </a:pathLst>
            </a:custGeom>
            <a:solidFill>
              <a:srgbClr val="DFC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3" name="Freeform 30"/>
            <p:cNvSpPr>
              <a:spLocks noEditPoints="1"/>
            </p:cNvSpPr>
            <p:nvPr/>
          </p:nvSpPr>
          <p:spPr bwMode="auto">
            <a:xfrm>
              <a:off x="1354490" y="1532852"/>
              <a:ext cx="230188" cy="230188"/>
            </a:xfrm>
            <a:custGeom>
              <a:avLst/>
              <a:gdLst>
                <a:gd name="T0" fmla="*/ 119 w 872"/>
                <a:gd name="T1" fmla="*/ 589 h 871"/>
                <a:gd name="T2" fmla="*/ 82 w 872"/>
                <a:gd name="T3" fmla="*/ 669 h 871"/>
                <a:gd name="T4" fmla="*/ 85 w 872"/>
                <a:gd name="T5" fmla="*/ 697 h 871"/>
                <a:gd name="T6" fmla="*/ 165 w 872"/>
                <a:gd name="T7" fmla="*/ 780 h 871"/>
                <a:gd name="T8" fmla="*/ 193 w 872"/>
                <a:gd name="T9" fmla="*/ 787 h 871"/>
                <a:gd name="T10" fmla="*/ 261 w 872"/>
                <a:gd name="T11" fmla="*/ 741 h 871"/>
                <a:gd name="T12" fmla="*/ 339 w 872"/>
                <a:gd name="T13" fmla="*/ 774 h 871"/>
                <a:gd name="T14" fmla="*/ 355 w 872"/>
                <a:gd name="T15" fmla="*/ 856 h 871"/>
                <a:gd name="T16" fmla="*/ 379 w 872"/>
                <a:gd name="T17" fmla="*/ 871 h 871"/>
                <a:gd name="T18" fmla="*/ 496 w 872"/>
                <a:gd name="T19" fmla="*/ 869 h 871"/>
                <a:gd name="T20" fmla="*/ 516 w 872"/>
                <a:gd name="T21" fmla="*/ 850 h 871"/>
                <a:gd name="T22" fmla="*/ 549 w 872"/>
                <a:gd name="T23" fmla="*/ 770 h 871"/>
                <a:gd name="T24" fmla="*/ 660 w 872"/>
                <a:gd name="T25" fmla="*/ 779 h 871"/>
                <a:gd name="T26" fmla="*/ 686 w 872"/>
                <a:gd name="T27" fmla="*/ 788 h 871"/>
                <a:gd name="T28" fmla="*/ 712 w 872"/>
                <a:gd name="T29" fmla="*/ 776 h 871"/>
                <a:gd name="T30" fmla="*/ 789 w 872"/>
                <a:gd name="T31" fmla="*/ 690 h 871"/>
                <a:gd name="T32" fmla="*/ 786 w 872"/>
                <a:gd name="T33" fmla="*/ 662 h 871"/>
                <a:gd name="T34" fmla="*/ 766 w 872"/>
                <a:gd name="T35" fmla="*/ 569 h 871"/>
                <a:gd name="T36" fmla="*/ 844 w 872"/>
                <a:gd name="T37" fmla="*/ 519 h 871"/>
                <a:gd name="T38" fmla="*/ 866 w 872"/>
                <a:gd name="T39" fmla="*/ 501 h 871"/>
                <a:gd name="T40" fmla="*/ 872 w 872"/>
                <a:gd name="T41" fmla="*/ 386 h 871"/>
                <a:gd name="T42" fmla="*/ 862 w 872"/>
                <a:gd name="T43" fmla="*/ 359 h 871"/>
                <a:gd name="T44" fmla="*/ 836 w 872"/>
                <a:gd name="T45" fmla="*/ 347 h 871"/>
                <a:gd name="T46" fmla="*/ 758 w 872"/>
                <a:gd name="T47" fmla="*/ 277 h 871"/>
                <a:gd name="T48" fmla="*/ 789 w 872"/>
                <a:gd name="T49" fmla="*/ 202 h 871"/>
                <a:gd name="T50" fmla="*/ 787 w 872"/>
                <a:gd name="T51" fmla="*/ 173 h 871"/>
                <a:gd name="T52" fmla="*/ 707 w 872"/>
                <a:gd name="T53" fmla="*/ 91 h 871"/>
                <a:gd name="T54" fmla="*/ 680 w 872"/>
                <a:gd name="T55" fmla="*/ 83 h 871"/>
                <a:gd name="T56" fmla="*/ 618 w 872"/>
                <a:gd name="T57" fmla="*/ 125 h 871"/>
                <a:gd name="T58" fmla="*/ 531 w 872"/>
                <a:gd name="T59" fmla="*/ 88 h 871"/>
                <a:gd name="T60" fmla="*/ 516 w 872"/>
                <a:gd name="T61" fmla="*/ 15 h 871"/>
                <a:gd name="T62" fmla="*/ 493 w 872"/>
                <a:gd name="T63" fmla="*/ 0 h 871"/>
                <a:gd name="T64" fmla="*/ 376 w 872"/>
                <a:gd name="T65" fmla="*/ 2 h 871"/>
                <a:gd name="T66" fmla="*/ 355 w 872"/>
                <a:gd name="T67" fmla="*/ 21 h 871"/>
                <a:gd name="T68" fmla="*/ 321 w 872"/>
                <a:gd name="T69" fmla="*/ 96 h 871"/>
                <a:gd name="T70" fmla="*/ 212 w 872"/>
                <a:gd name="T71" fmla="*/ 92 h 871"/>
                <a:gd name="T72" fmla="*/ 185 w 872"/>
                <a:gd name="T73" fmla="*/ 83 h 871"/>
                <a:gd name="T74" fmla="*/ 159 w 872"/>
                <a:gd name="T75" fmla="*/ 95 h 871"/>
                <a:gd name="T76" fmla="*/ 82 w 872"/>
                <a:gd name="T77" fmla="*/ 181 h 871"/>
                <a:gd name="T78" fmla="*/ 86 w 872"/>
                <a:gd name="T79" fmla="*/ 208 h 871"/>
                <a:gd name="T80" fmla="*/ 107 w 872"/>
                <a:gd name="T81" fmla="*/ 302 h 871"/>
                <a:gd name="T82" fmla="*/ 28 w 872"/>
                <a:gd name="T83" fmla="*/ 352 h 871"/>
                <a:gd name="T84" fmla="*/ 5 w 872"/>
                <a:gd name="T85" fmla="*/ 369 h 871"/>
                <a:gd name="T86" fmla="*/ 0 w 872"/>
                <a:gd name="T87" fmla="*/ 485 h 871"/>
                <a:gd name="T88" fmla="*/ 10 w 872"/>
                <a:gd name="T89" fmla="*/ 510 h 871"/>
                <a:gd name="T90" fmla="*/ 35 w 872"/>
                <a:gd name="T91" fmla="*/ 524 h 871"/>
                <a:gd name="T92" fmla="*/ 469 w 872"/>
                <a:gd name="T93" fmla="*/ 279 h 871"/>
                <a:gd name="T94" fmla="*/ 525 w 872"/>
                <a:gd name="T95" fmla="*/ 303 h 871"/>
                <a:gd name="T96" fmla="*/ 567 w 872"/>
                <a:gd name="T97" fmla="*/ 344 h 871"/>
                <a:gd name="T98" fmla="*/ 591 w 872"/>
                <a:gd name="T99" fmla="*/ 400 h 871"/>
                <a:gd name="T100" fmla="*/ 591 w 872"/>
                <a:gd name="T101" fmla="*/ 463 h 871"/>
                <a:gd name="T102" fmla="*/ 567 w 872"/>
                <a:gd name="T103" fmla="*/ 519 h 871"/>
                <a:gd name="T104" fmla="*/ 525 w 872"/>
                <a:gd name="T105" fmla="*/ 561 h 871"/>
                <a:gd name="T106" fmla="*/ 469 w 872"/>
                <a:gd name="T107" fmla="*/ 584 h 871"/>
                <a:gd name="T108" fmla="*/ 407 w 872"/>
                <a:gd name="T109" fmla="*/ 584 h 871"/>
                <a:gd name="T110" fmla="*/ 351 w 872"/>
                <a:gd name="T111" fmla="*/ 561 h 871"/>
                <a:gd name="T112" fmla="*/ 308 w 872"/>
                <a:gd name="T113" fmla="*/ 519 h 871"/>
                <a:gd name="T114" fmla="*/ 285 w 872"/>
                <a:gd name="T115" fmla="*/ 463 h 871"/>
                <a:gd name="T116" fmla="*/ 285 w 872"/>
                <a:gd name="T117" fmla="*/ 400 h 871"/>
                <a:gd name="T118" fmla="*/ 308 w 872"/>
                <a:gd name="T119" fmla="*/ 344 h 871"/>
                <a:gd name="T120" fmla="*/ 351 w 872"/>
                <a:gd name="T121" fmla="*/ 303 h 871"/>
                <a:gd name="T122" fmla="*/ 407 w 872"/>
                <a:gd name="T123" fmla="*/ 2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2" h="871">
                  <a:moveTo>
                    <a:pt x="96" y="531"/>
                  </a:moveTo>
                  <a:lnTo>
                    <a:pt x="103" y="551"/>
                  </a:lnTo>
                  <a:lnTo>
                    <a:pt x="110" y="570"/>
                  </a:lnTo>
                  <a:lnTo>
                    <a:pt x="119" y="589"/>
                  </a:lnTo>
                  <a:lnTo>
                    <a:pt x="128" y="607"/>
                  </a:lnTo>
                  <a:lnTo>
                    <a:pt x="90" y="656"/>
                  </a:lnTo>
                  <a:lnTo>
                    <a:pt x="86" y="662"/>
                  </a:lnTo>
                  <a:lnTo>
                    <a:pt x="82" y="669"/>
                  </a:lnTo>
                  <a:lnTo>
                    <a:pt x="81" y="676"/>
                  </a:lnTo>
                  <a:lnTo>
                    <a:pt x="81" y="683"/>
                  </a:lnTo>
                  <a:lnTo>
                    <a:pt x="82" y="690"/>
                  </a:lnTo>
                  <a:lnTo>
                    <a:pt x="85" y="697"/>
                  </a:lnTo>
                  <a:lnTo>
                    <a:pt x="88" y="703"/>
                  </a:lnTo>
                  <a:lnTo>
                    <a:pt x="93" y="710"/>
                  </a:lnTo>
                  <a:lnTo>
                    <a:pt x="159" y="776"/>
                  </a:lnTo>
                  <a:lnTo>
                    <a:pt x="165" y="780"/>
                  </a:lnTo>
                  <a:lnTo>
                    <a:pt x="171" y="785"/>
                  </a:lnTo>
                  <a:lnTo>
                    <a:pt x="178" y="787"/>
                  </a:lnTo>
                  <a:lnTo>
                    <a:pt x="185" y="788"/>
                  </a:lnTo>
                  <a:lnTo>
                    <a:pt x="193" y="787"/>
                  </a:lnTo>
                  <a:lnTo>
                    <a:pt x="199" y="786"/>
                  </a:lnTo>
                  <a:lnTo>
                    <a:pt x="206" y="782"/>
                  </a:lnTo>
                  <a:lnTo>
                    <a:pt x="212" y="779"/>
                  </a:lnTo>
                  <a:lnTo>
                    <a:pt x="261" y="741"/>
                  </a:lnTo>
                  <a:lnTo>
                    <a:pt x="279" y="750"/>
                  </a:lnTo>
                  <a:lnTo>
                    <a:pt x="300" y="760"/>
                  </a:lnTo>
                  <a:lnTo>
                    <a:pt x="319" y="767"/>
                  </a:lnTo>
                  <a:lnTo>
                    <a:pt x="339" y="774"/>
                  </a:lnTo>
                  <a:lnTo>
                    <a:pt x="347" y="836"/>
                  </a:lnTo>
                  <a:lnTo>
                    <a:pt x="349" y="843"/>
                  </a:lnTo>
                  <a:lnTo>
                    <a:pt x="351" y="850"/>
                  </a:lnTo>
                  <a:lnTo>
                    <a:pt x="355" y="856"/>
                  </a:lnTo>
                  <a:lnTo>
                    <a:pt x="361" y="862"/>
                  </a:lnTo>
                  <a:lnTo>
                    <a:pt x="366" y="866"/>
                  </a:lnTo>
                  <a:lnTo>
                    <a:pt x="373" y="869"/>
                  </a:lnTo>
                  <a:lnTo>
                    <a:pt x="379" y="871"/>
                  </a:lnTo>
                  <a:lnTo>
                    <a:pt x="387" y="871"/>
                  </a:lnTo>
                  <a:lnTo>
                    <a:pt x="481" y="871"/>
                  </a:lnTo>
                  <a:lnTo>
                    <a:pt x="488" y="871"/>
                  </a:lnTo>
                  <a:lnTo>
                    <a:pt x="496" y="869"/>
                  </a:lnTo>
                  <a:lnTo>
                    <a:pt x="502" y="866"/>
                  </a:lnTo>
                  <a:lnTo>
                    <a:pt x="508" y="862"/>
                  </a:lnTo>
                  <a:lnTo>
                    <a:pt x="513" y="856"/>
                  </a:lnTo>
                  <a:lnTo>
                    <a:pt x="516" y="850"/>
                  </a:lnTo>
                  <a:lnTo>
                    <a:pt x="519" y="843"/>
                  </a:lnTo>
                  <a:lnTo>
                    <a:pt x="520" y="836"/>
                  </a:lnTo>
                  <a:lnTo>
                    <a:pt x="528" y="776"/>
                  </a:lnTo>
                  <a:lnTo>
                    <a:pt x="549" y="770"/>
                  </a:lnTo>
                  <a:lnTo>
                    <a:pt x="571" y="762"/>
                  </a:lnTo>
                  <a:lnTo>
                    <a:pt x="592" y="752"/>
                  </a:lnTo>
                  <a:lnTo>
                    <a:pt x="612" y="742"/>
                  </a:lnTo>
                  <a:lnTo>
                    <a:pt x="660" y="779"/>
                  </a:lnTo>
                  <a:lnTo>
                    <a:pt x="666" y="784"/>
                  </a:lnTo>
                  <a:lnTo>
                    <a:pt x="672" y="786"/>
                  </a:lnTo>
                  <a:lnTo>
                    <a:pt x="680" y="788"/>
                  </a:lnTo>
                  <a:lnTo>
                    <a:pt x="686" y="788"/>
                  </a:lnTo>
                  <a:lnTo>
                    <a:pt x="694" y="787"/>
                  </a:lnTo>
                  <a:lnTo>
                    <a:pt x="700" y="785"/>
                  </a:lnTo>
                  <a:lnTo>
                    <a:pt x="707" y="780"/>
                  </a:lnTo>
                  <a:lnTo>
                    <a:pt x="712" y="776"/>
                  </a:lnTo>
                  <a:lnTo>
                    <a:pt x="780" y="710"/>
                  </a:lnTo>
                  <a:lnTo>
                    <a:pt x="784" y="703"/>
                  </a:lnTo>
                  <a:lnTo>
                    <a:pt x="787" y="697"/>
                  </a:lnTo>
                  <a:lnTo>
                    <a:pt x="789" y="690"/>
                  </a:lnTo>
                  <a:lnTo>
                    <a:pt x="790" y="683"/>
                  </a:lnTo>
                  <a:lnTo>
                    <a:pt x="790" y="676"/>
                  </a:lnTo>
                  <a:lnTo>
                    <a:pt x="789" y="669"/>
                  </a:lnTo>
                  <a:lnTo>
                    <a:pt x="786" y="662"/>
                  </a:lnTo>
                  <a:lnTo>
                    <a:pt x="782" y="656"/>
                  </a:lnTo>
                  <a:lnTo>
                    <a:pt x="745" y="610"/>
                  </a:lnTo>
                  <a:lnTo>
                    <a:pt x="756" y="590"/>
                  </a:lnTo>
                  <a:lnTo>
                    <a:pt x="766" y="569"/>
                  </a:lnTo>
                  <a:lnTo>
                    <a:pt x="774" y="548"/>
                  </a:lnTo>
                  <a:lnTo>
                    <a:pt x="781" y="526"/>
                  </a:lnTo>
                  <a:lnTo>
                    <a:pt x="836" y="520"/>
                  </a:lnTo>
                  <a:lnTo>
                    <a:pt x="844" y="519"/>
                  </a:lnTo>
                  <a:lnTo>
                    <a:pt x="851" y="516"/>
                  </a:lnTo>
                  <a:lnTo>
                    <a:pt x="857" y="511"/>
                  </a:lnTo>
                  <a:lnTo>
                    <a:pt x="862" y="507"/>
                  </a:lnTo>
                  <a:lnTo>
                    <a:pt x="866" y="501"/>
                  </a:lnTo>
                  <a:lnTo>
                    <a:pt x="869" y="494"/>
                  </a:lnTo>
                  <a:lnTo>
                    <a:pt x="872" y="488"/>
                  </a:lnTo>
                  <a:lnTo>
                    <a:pt x="872" y="480"/>
                  </a:lnTo>
                  <a:lnTo>
                    <a:pt x="872" y="386"/>
                  </a:lnTo>
                  <a:lnTo>
                    <a:pt x="872" y="379"/>
                  </a:lnTo>
                  <a:lnTo>
                    <a:pt x="869" y="372"/>
                  </a:lnTo>
                  <a:lnTo>
                    <a:pt x="866" y="366"/>
                  </a:lnTo>
                  <a:lnTo>
                    <a:pt x="862" y="359"/>
                  </a:lnTo>
                  <a:lnTo>
                    <a:pt x="857" y="355"/>
                  </a:lnTo>
                  <a:lnTo>
                    <a:pt x="851" y="351"/>
                  </a:lnTo>
                  <a:lnTo>
                    <a:pt x="844" y="348"/>
                  </a:lnTo>
                  <a:lnTo>
                    <a:pt x="836" y="347"/>
                  </a:lnTo>
                  <a:lnTo>
                    <a:pt x="782" y="340"/>
                  </a:lnTo>
                  <a:lnTo>
                    <a:pt x="775" y="319"/>
                  </a:lnTo>
                  <a:lnTo>
                    <a:pt x="767" y="297"/>
                  </a:lnTo>
                  <a:lnTo>
                    <a:pt x="758" y="277"/>
                  </a:lnTo>
                  <a:lnTo>
                    <a:pt x="747" y="258"/>
                  </a:lnTo>
                  <a:lnTo>
                    <a:pt x="782" y="215"/>
                  </a:lnTo>
                  <a:lnTo>
                    <a:pt x="786" y="208"/>
                  </a:lnTo>
                  <a:lnTo>
                    <a:pt x="789" y="202"/>
                  </a:lnTo>
                  <a:lnTo>
                    <a:pt x="790" y="194"/>
                  </a:lnTo>
                  <a:lnTo>
                    <a:pt x="790" y="187"/>
                  </a:lnTo>
                  <a:lnTo>
                    <a:pt x="789" y="181"/>
                  </a:lnTo>
                  <a:lnTo>
                    <a:pt x="787" y="173"/>
                  </a:lnTo>
                  <a:lnTo>
                    <a:pt x="784" y="168"/>
                  </a:lnTo>
                  <a:lnTo>
                    <a:pt x="778" y="161"/>
                  </a:lnTo>
                  <a:lnTo>
                    <a:pt x="712" y="95"/>
                  </a:lnTo>
                  <a:lnTo>
                    <a:pt x="707" y="91"/>
                  </a:lnTo>
                  <a:lnTo>
                    <a:pt x="700" y="86"/>
                  </a:lnTo>
                  <a:lnTo>
                    <a:pt x="694" y="84"/>
                  </a:lnTo>
                  <a:lnTo>
                    <a:pt x="686" y="83"/>
                  </a:lnTo>
                  <a:lnTo>
                    <a:pt x="680" y="83"/>
                  </a:lnTo>
                  <a:lnTo>
                    <a:pt x="672" y="85"/>
                  </a:lnTo>
                  <a:lnTo>
                    <a:pt x="666" y="87"/>
                  </a:lnTo>
                  <a:lnTo>
                    <a:pt x="660" y="92"/>
                  </a:lnTo>
                  <a:lnTo>
                    <a:pt x="618" y="125"/>
                  </a:lnTo>
                  <a:lnTo>
                    <a:pt x="596" y="114"/>
                  </a:lnTo>
                  <a:lnTo>
                    <a:pt x="575" y="104"/>
                  </a:lnTo>
                  <a:lnTo>
                    <a:pt x="554" y="96"/>
                  </a:lnTo>
                  <a:lnTo>
                    <a:pt x="531" y="88"/>
                  </a:lnTo>
                  <a:lnTo>
                    <a:pt x="525" y="35"/>
                  </a:lnTo>
                  <a:lnTo>
                    <a:pt x="523" y="27"/>
                  </a:lnTo>
                  <a:lnTo>
                    <a:pt x="520" y="21"/>
                  </a:lnTo>
                  <a:lnTo>
                    <a:pt x="516" y="15"/>
                  </a:lnTo>
                  <a:lnTo>
                    <a:pt x="512" y="9"/>
                  </a:lnTo>
                  <a:lnTo>
                    <a:pt x="505" y="5"/>
                  </a:lnTo>
                  <a:lnTo>
                    <a:pt x="499" y="2"/>
                  </a:lnTo>
                  <a:lnTo>
                    <a:pt x="493" y="0"/>
                  </a:lnTo>
                  <a:lnTo>
                    <a:pt x="485" y="0"/>
                  </a:lnTo>
                  <a:lnTo>
                    <a:pt x="391" y="0"/>
                  </a:lnTo>
                  <a:lnTo>
                    <a:pt x="383" y="0"/>
                  </a:lnTo>
                  <a:lnTo>
                    <a:pt x="376" y="2"/>
                  </a:lnTo>
                  <a:lnTo>
                    <a:pt x="369" y="5"/>
                  </a:lnTo>
                  <a:lnTo>
                    <a:pt x="364" y="9"/>
                  </a:lnTo>
                  <a:lnTo>
                    <a:pt x="360" y="15"/>
                  </a:lnTo>
                  <a:lnTo>
                    <a:pt x="355" y="21"/>
                  </a:lnTo>
                  <a:lnTo>
                    <a:pt x="352" y="27"/>
                  </a:lnTo>
                  <a:lnTo>
                    <a:pt x="351" y="35"/>
                  </a:lnTo>
                  <a:lnTo>
                    <a:pt x="345" y="88"/>
                  </a:lnTo>
                  <a:lnTo>
                    <a:pt x="321" y="96"/>
                  </a:lnTo>
                  <a:lnTo>
                    <a:pt x="299" y="104"/>
                  </a:lnTo>
                  <a:lnTo>
                    <a:pt x="277" y="114"/>
                  </a:lnTo>
                  <a:lnTo>
                    <a:pt x="256" y="126"/>
                  </a:lnTo>
                  <a:lnTo>
                    <a:pt x="212" y="92"/>
                  </a:lnTo>
                  <a:lnTo>
                    <a:pt x="206" y="87"/>
                  </a:lnTo>
                  <a:lnTo>
                    <a:pt x="199" y="85"/>
                  </a:lnTo>
                  <a:lnTo>
                    <a:pt x="193" y="83"/>
                  </a:lnTo>
                  <a:lnTo>
                    <a:pt x="185" y="83"/>
                  </a:lnTo>
                  <a:lnTo>
                    <a:pt x="178" y="84"/>
                  </a:lnTo>
                  <a:lnTo>
                    <a:pt x="171" y="86"/>
                  </a:lnTo>
                  <a:lnTo>
                    <a:pt x="165" y="91"/>
                  </a:lnTo>
                  <a:lnTo>
                    <a:pt x="159" y="95"/>
                  </a:lnTo>
                  <a:lnTo>
                    <a:pt x="93" y="161"/>
                  </a:lnTo>
                  <a:lnTo>
                    <a:pt x="88" y="168"/>
                  </a:lnTo>
                  <a:lnTo>
                    <a:pt x="85" y="174"/>
                  </a:lnTo>
                  <a:lnTo>
                    <a:pt x="82" y="181"/>
                  </a:lnTo>
                  <a:lnTo>
                    <a:pt x="81" y="188"/>
                  </a:lnTo>
                  <a:lnTo>
                    <a:pt x="81" y="194"/>
                  </a:lnTo>
                  <a:lnTo>
                    <a:pt x="82" y="202"/>
                  </a:lnTo>
                  <a:lnTo>
                    <a:pt x="86" y="208"/>
                  </a:lnTo>
                  <a:lnTo>
                    <a:pt x="90" y="215"/>
                  </a:lnTo>
                  <a:lnTo>
                    <a:pt x="126" y="261"/>
                  </a:lnTo>
                  <a:lnTo>
                    <a:pt x="116" y="280"/>
                  </a:lnTo>
                  <a:lnTo>
                    <a:pt x="107" y="302"/>
                  </a:lnTo>
                  <a:lnTo>
                    <a:pt x="100" y="322"/>
                  </a:lnTo>
                  <a:lnTo>
                    <a:pt x="93" y="343"/>
                  </a:lnTo>
                  <a:lnTo>
                    <a:pt x="35" y="351"/>
                  </a:lnTo>
                  <a:lnTo>
                    <a:pt x="28" y="352"/>
                  </a:lnTo>
                  <a:lnTo>
                    <a:pt x="21" y="355"/>
                  </a:lnTo>
                  <a:lnTo>
                    <a:pt x="15" y="358"/>
                  </a:lnTo>
                  <a:lnTo>
                    <a:pt x="10" y="364"/>
                  </a:lnTo>
                  <a:lnTo>
                    <a:pt x="5" y="369"/>
                  </a:lnTo>
                  <a:lnTo>
                    <a:pt x="2" y="375"/>
                  </a:lnTo>
                  <a:lnTo>
                    <a:pt x="0" y="383"/>
                  </a:lnTo>
                  <a:lnTo>
                    <a:pt x="0" y="390"/>
                  </a:lnTo>
                  <a:lnTo>
                    <a:pt x="0" y="485"/>
                  </a:lnTo>
                  <a:lnTo>
                    <a:pt x="0" y="492"/>
                  </a:lnTo>
                  <a:lnTo>
                    <a:pt x="2" y="499"/>
                  </a:lnTo>
                  <a:lnTo>
                    <a:pt x="5" y="505"/>
                  </a:lnTo>
                  <a:lnTo>
                    <a:pt x="10" y="510"/>
                  </a:lnTo>
                  <a:lnTo>
                    <a:pt x="15" y="516"/>
                  </a:lnTo>
                  <a:lnTo>
                    <a:pt x="21" y="520"/>
                  </a:lnTo>
                  <a:lnTo>
                    <a:pt x="28" y="522"/>
                  </a:lnTo>
                  <a:lnTo>
                    <a:pt x="35" y="524"/>
                  </a:lnTo>
                  <a:lnTo>
                    <a:pt x="96" y="531"/>
                  </a:lnTo>
                  <a:close/>
                  <a:moveTo>
                    <a:pt x="438" y="276"/>
                  </a:moveTo>
                  <a:lnTo>
                    <a:pt x="454" y="277"/>
                  </a:lnTo>
                  <a:lnTo>
                    <a:pt x="469" y="279"/>
                  </a:lnTo>
                  <a:lnTo>
                    <a:pt x="484" y="283"/>
                  </a:lnTo>
                  <a:lnTo>
                    <a:pt x="499" y="289"/>
                  </a:lnTo>
                  <a:lnTo>
                    <a:pt x="512" y="295"/>
                  </a:lnTo>
                  <a:lnTo>
                    <a:pt x="525" y="303"/>
                  </a:lnTo>
                  <a:lnTo>
                    <a:pt x="536" y="311"/>
                  </a:lnTo>
                  <a:lnTo>
                    <a:pt x="548" y="322"/>
                  </a:lnTo>
                  <a:lnTo>
                    <a:pt x="558" y="333"/>
                  </a:lnTo>
                  <a:lnTo>
                    <a:pt x="567" y="344"/>
                  </a:lnTo>
                  <a:lnTo>
                    <a:pt x="575" y="357"/>
                  </a:lnTo>
                  <a:lnTo>
                    <a:pt x="581" y="371"/>
                  </a:lnTo>
                  <a:lnTo>
                    <a:pt x="587" y="386"/>
                  </a:lnTo>
                  <a:lnTo>
                    <a:pt x="591" y="400"/>
                  </a:lnTo>
                  <a:lnTo>
                    <a:pt x="593" y="416"/>
                  </a:lnTo>
                  <a:lnTo>
                    <a:pt x="593" y="432"/>
                  </a:lnTo>
                  <a:lnTo>
                    <a:pt x="593" y="448"/>
                  </a:lnTo>
                  <a:lnTo>
                    <a:pt x="591" y="463"/>
                  </a:lnTo>
                  <a:lnTo>
                    <a:pt x="587" y="478"/>
                  </a:lnTo>
                  <a:lnTo>
                    <a:pt x="581" y="492"/>
                  </a:lnTo>
                  <a:lnTo>
                    <a:pt x="575" y="506"/>
                  </a:lnTo>
                  <a:lnTo>
                    <a:pt x="567" y="519"/>
                  </a:lnTo>
                  <a:lnTo>
                    <a:pt x="558" y="531"/>
                  </a:lnTo>
                  <a:lnTo>
                    <a:pt x="548" y="543"/>
                  </a:lnTo>
                  <a:lnTo>
                    <a:pt x="536" y="552"/>
                  </a:lnTo>
                  <a:lnTo>
                    <a:pt x="525" y="561"/>
                  </a:lnTo>
                  <a:lnTo>
                    <a:pt x="512" y="569"/>
                  </a:lnTo>
                  <a:lnTo>
                    <a:pt x="499" y="576"/>
                  </a:lnTo>
                  <a:lnTo>
                    <a:pt x="484" y="581"/>
                  </a:lnTo>
                  <a:lnTo>
                    <a:pt x="469" y="584"/>
                  </a:lnTo>
                  <a:lnTo>
                    <a:pt x="454" y="588"/>
                  </a:lnTo>
                  <a:lnTo>
                    <a:pt x="438" y="588"/>
                  </a:lnTo>
                  <a:lnTo>
                    <a:pt x="422" y="588"/>
                  </a:lnTo>
                  <a:lnTo>
                    <a:pt x="407" y="584"/>
                  </a:lnTo>
                  <a:lnTo>
                    <a:pt x="392" y="581"/>
                  </a:lnTo>
                  <a:lnTo>
                    <a:pt x="377" y="576"/>
                  </a:lnTo>
                  <a:lnTo>
                    <a:pt x="364" y="569"/>
                  </a:lnTo>
                  <a:lnTo>
                    <a:pt x="351" y="561"/>
                  </a:lnTo>
                  <a:lnTo>
                    <a:pt x="338" y="552"/>
                  </a:lnTo>
                  <a:lnTo>
                    <a:pt x="328" y="543"/>
                  </a:lnTo>
                  <a:lnTo>
                    <a:pt x="318" y="531"/>
                  </a:lnTo>
                  <a:lnTo>
                    <a:pt x="308" y="519"/>
                  </a:lnTo>
                  <a:lnTo>
                    <a:pt x="301" y="506"/>
                  </a:lnTo>
                  <a:lnTo>
                    <a:pt x="294" y="492"/>
                  </a:lnTo>
                  <a:lnTo>
                    <a:pt x="289" y="478"/>
                  </a:lnTo>
                  <a:lnTo>
                    <a:pt x="285" y="463"/>
                  </a:lnTo>
                  <a:lnTo>
                    <a:pt x="283" y="448"/>
                  </a:lnTo>
                  <a:lnTo>
                    <a:pt x="282" y="432"/>
                  </a:lnTo>
                  <a:lnTo>
                    <a:pt x="283" y="416"/>
                  </a:lnTo>
                  <a:lnTo>
                    <a:pt x="285" y="400"/>
                  </a:lnTo>
                  <a:lnTo>
                    <a:pt x="289" y="386"/>
                  </a:lnTo>
                  <a:lnTo>
                    <a:pt x="294" y="371"/>
                  </a:lnTo>
                  <a:lnTo>
                    <a:pt x="301" y="357"/>
                  </a:lnTo>
                  <a:lnTo>
                    <a:pt x="308" y="344"/>
                  </a:lnTo>
                  <a:lnTo>
                    <a:pt x="318" y="333"/>
                  </a:lnTo>
                  <a:lnTo>
                    <a:pt x="328" y="322"/>
                  </a:lnTo>
                  <a:lnTo>
                    <a:pt x="338" y="311"/>
                  </a:lnTo>
                  <a:lnTo>
                    <a:pt x="351" y="303"/>
                  </a:lnTo>
                  <a:lnTo>
                    <a:pt x="364" y="295"/>
                  </a:lnTo>
                  <a:lnTo>
                    <a:pt x="377" y="289"/>
                  </a:lnTo>
                  <a:lnTo>
                    <a:pt x="392" y="283"/>
                  </a:lnTo>
                  <a:lnTo>
                    <a:pt x="407" y="279"/>
                  </a:lnTo>
                  <a:lnTo>
                    <a:pt x="422" y="277"/>
                  </a:lnTo>
                  <a:lnTo>
                    <a:pt x="438" y="276"/>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4" name="Freeform 31"/>
            <p:cNvSpPr>
              <a:spLocks noEditPoints="1"/>
            </p:cNvSpPr>
            <p:nvPr/>
          </p:nvSpPr>
          <p:spPr bwMode="auto">
            <a:xfrm>
              <a:off x="1552928" y="1650327"/>
              <a:ext cx="190500" cy="190500"/>
            </a:xfrm>
            <a:custGeom>
              <a:avLst/>
              <a:gdLst>
                <a:gd name="T0" fmla="*/ 552 w 716"/>
                <a:gd name="T1" fmla="*/ 59 h 719"/>
                <a:gd name="T2" fmla="*/ 525 w 716"/>
                <a:gd name="T3" fmla="*/ 60 h 719"/>
                <a:gd name="T4" fmla="*/ 468 w 716"/>
                <a:gd name="T5" fmla="*/ 86 h 719"/>
                <a:gd name="T6" fmla="*/ 405 w 716"/>
                <a:gd name="T7" fmla="*/ 32 h 719"/>
                <a:gd name="T8" fmla="*/ 390 w 716"/>
                <a:gd name="T9" fmla="*/ 9 h 719"/>
                <a:gd name="T10" fmla="*/ 362 w 716"/>
                <a:gd name="T11" fmla="*/ 0 h 719"/>
                <a:gd name="T12" fmla="*/ 277 w 716"/>
                <a:gd name="T13" fmla="*/ 13 h 719"/>
                <a:gd name="T14" fmla="*/ 262 w 716"/>
                <a:gd name="T15" fmla="*/ 37 h 719"/>
                <a:gd name="T16" fmla="*/ 224 w 716"/>
                <a:gd name="T17" fmla="*/ 99 h 719"/>
                <a:gd name="T18" fmla="*/ 151 w 716"/>
                <a:gd name="T19" fmla="*/ 94 h 719"/>
                <a:gd name="T20" fmla="*/ 123 w 716"/>
                <a:gd name="T21" fmla="*/ 93 h 719"/>
                <a:gd name="T22" fmla="*/ 63 w 716"/>
                <a:gd name="T23" fmla="*/ 155 h 719"/>
                <a:gd name="T24" fmla="*/ 53 w 716"/>
                <a:gd name="T25" fmla="*/ 181 h 719"/>
                <a:gd name="T26" fmla="*/ 64 w 716"/>
                <a:gd name="T27" fmla="*/ 207 h 719"/>
                <a:gd name="T28" fmla="*/ 76 w 716"/>
                <a:gd name="T29" fmla="*/ 290 h 719"/>
                <a:gd name="T30" fmla="*/ 18 w 716"/>
                <a:gd name="T31" fmla="*/ 321 h 719"/>
                <a:gd name="T32" fmla="*/ 1 w 716"/>
                <a:gd name="T33" fmla="*/ 344 h 719"/>
                <a:gd name="T34" fmla="*/ 6 w 716"/>
                <a:gd name="T35" fmla="*/ 431 h 719"/>
                <a:gd name="T36" fmla="*/ 22 w 716"/>
                <a:gd name="T37" fmla="*/ 453 h 719"/>
                <a:gd name="T38" fmla="*/ 88 w 716"/>
                <a:gd name="T39" fmla="*/ 461 h 719"/>
                <a:gd name="T40" fmla="*/ 119 w 716"/>
                <a:gd name="T41" fmla="*/ 521 h 719"/>
                <a:gd name="T42" fmla="*/ 88 w 716"/>
                <a:gd name="T43" fmla="*/ 578 h 719"/>
                <a:gd name="T44" fmla="*/ 96 w 716"/>
                <a:gd name="T45" fmla="*/ 605 h 719"/>
                <a:gd name="T46" fmla="*/ 164 w 716"/>
                <a:gd name="T47" fmla="*/ 660 h 719"/>
                <a:gd name="T48" fmla="*/ 192 w 716"/>
                <a:gd name="T49" fmla="*/ 659 h 719"/>
                <a:gd name="T50" fmla="*/ 253 w 716"/>
                <a:gd name="T51" fmla="*/ 628 h 719"/>
                <a:gd name="T52" fmla="*/ 312 w 716"/>
                <a:gd name="T53" fmla="*/ 687 h 719"/>
                <a:gd name="T54" fmla="*/ 327 w 716"/>
                <a:gd name="T55" fmla="*/ 710 h 719"/>
                <a:gd name="T56" fmla="*/ 354 w 716"/>
                <a:gd name="T57" fmla="*/ 719 h 719"/>
                <a:gd name="T58" fmla="*/ 439 w 716"/>
                <a:gd name="T59" fmla="*/ 706 h 719"/>
                <a:gd name="T60" fmla="*/ 454 w 716"/>
                <a:gd name="T61" fmla="*/ 682 h 719"/>
                <a:gd name="T62" fmla="*/ 491 w 716"/>
                <a:gd name="T63" fmla="*/ 617 h 719"/>
                <a:gd name="T64" fmla="*/ 565 w 716"/>
                <a:gd name="T65" fmla="*/ 625 h 719"/>
                <a:gd name="T66" fmla="*/ 593 w 716"/>
                <a:gd name="T67" fmla="*/ 626 h 719"/>
                <a:gd name="T68" fmla="*/ 653 w 716"/>
                <a:gd name="T69" fmla="*/ 565 h 719"/>
                <a:gd name="T70" fmla="*/ 663 w 716"/>
                <a:gd name="T71" fmla="*/ 538 h 719"/>
                <a:gd name="T72" fmla="*/ 652 w 716"/>
                <a:gd name="T73" fmla="*/ 512 h 719"/>
                <a:gd name="T74" fmla="*/ 641 w 716"/>
                <a:gd name="T75" fmla="*/ 429 h 719"/>
                <a:gd name="T76" fmla="*/ 698 w 716"/>
                <a:gd name="T77" fmla="*/ 397 h 719"/>
                <a:gd name="T78" fmla="*/ 715 w 716"/>
                <a:gd name="T79" fmla="*/ 375 h 719"/>
                <a:gd name="T80" fmla="*/ 710 w 716"/>
                <a:gd name="T81" fmla="*/ 288 h 719"/>
                <a:gd name="T82" fmla="*/ 694 w 716"/>
                <a:gd name="T83" fmla="*/ 266 h 719"/>
                <a:gd name="T84" fmla="*/ 634 w 716"/>
                <a:gd name="T85" fmla="*/ 258 h 719"/>
                <a:gd name="T86" fmla="*/ 601 w 716"/>
                <a:gd name="T87" fmla="*/ 193 h 719"/>
                <a:gd name="T88" fmla="*/ 628 w 716"/>
                <a:gd name="T89" fmla="*/ 140 h 719"/>
                <a:gd name="T90" fmla="*/ 620 w 716"/>
                <a:gd name="T91" fmla="*/ 114 h 719"/>
                <a:gd name="T92" fmla="*/ 345 w 716"/>
                <a:gd name="T93" fmla="*/ 483 h 719"/>
                <a:gd name="T94" fmla="*/ 298 w 716"/>
                <a:gd name="T95" fmla="*/ 468 h 719"/>
                <a:gd name="T96" fmla="*/ 260 w 716"/>
                <a:gd name="T97" fmla="*/ 436 h 719"/>
                <a:gd name="T98" fmla="*/ 238 w 716"/>
                <a:gd name="T99" fmla="*/ 392 h 719"/>
                <a:gd name="T100" fmla="*/ 232 w 716"/>
                <a:gd name="T101" fmla="*/ 342 h 719"/>
                <a:gd name="T102" fmla="*/ 248 w 716"/>
                <a:gd name="T103" fmla="*/ 295 h 719"/>
                <a:gd name="T104" fmla="*/ 279 w 716"/>
                <a:gd name="T105" fmla="*/ 257 h 719"/>
                <a:gd name="T106" fmla="*/ 323 w 716"/>
                <a:gd name="T107" fmla="*/ 234 h 719"/>
                <a:gd name="T108" fmla="*/ 375 w 716"/>
                <a:gd name="T109" fmla="*/ 229 h 719"/>
                <a:gd name="T110" fmla="*/ 422 w 716"/>
                <a:gd name="T111" fmla="*/ 245 h 719"/>
                <a:gd name="T112" fmla="*/ 459 w 716"/>
                <a:gd name="T113" fmla="*/ 276 h 719"/>
                <a:gd name="T114" fmla="*/ 482 w 716"/>
                <a:gd name="T115" fmla="*/ 320 h 719"/>
                <a:gd name="T116" fmla="*/ 486 w 716"/>
                <a:gd name="T117" fmla="*/ 372 h 719"/>
                <a:gd name="T118" fmla="*/ 471 w 716"/>
                <a:gd name="T119" fmla="*/ 419 h 719"/>
                <a:gd name="T120" fmla="*/ 439 w 716"/>
                <a:gd name="T121" fmla="*/ 456 h 719"/>
                <a:gd name="T122" fmla="*/ 396 w 716"/>
                <a:gd name="T123" fmla="*/ 47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6" h="719">
                  <a:moveTo>
                    <a:pt x="615" y="108"/>
                  </a:moveTo>
                  <a:lnTo>
                    <a:pt x="565" y="67"/>
                  </a:lnTo>
                  <a:lnTo>
                    <a:pt x="559" y="62"/>
                  </a:lnTo>
                  <a:lnTo>
                    <a:pt x="552" y="59"/>
                  </a:lnTo>
                  <a:lnTo>
                    <a:pt x="546" y="58"/>
                  </a:lnTo>
                  <a:lnTo>
                    <a:pt x="539" y="57"/>
                  </a:lnTo>
                  <a:lnTo>
                    <a:pt x="532" y="58"/>
                  </a:lnTo>
                  <a:lnTo>
                    <a:pt x="525" y="60"/>
                  </a:lnTo>
                  <a:lnTo>
                    <a:pt x="518" y="63"/>
                  </a:lnTo>
                  <a:lnTo>
                    <a:pt x="513" y="68"/>
                  </a:lnTo>
                  <a:lnTo>
                    <a:pt x="485" y="93"/>
                  </a:lnTo>
                  <a:lnTo>
                    <a:pt x="468" y="86"/>
                  </a:lnTo>
                  <a:lnTo>
                    <a:pt x="450" y="79"/>
                  </a:lnTo>
                  <a:lnTo>
                    <a:pt x="430" y="74"/>
                  </a:lnTo>
                  <a:lnTo>
                    <a:pt x="412" y="70"/>
                  </a:lnTo>
                  <a:lnTo>
                    <a:pt x="405" y="32"/>
                  </a:lnTo>
                  <a:lnTo>
                    <a:pt x="403" y="25"/>
                  </a:lnTo>
                  <a:lnTo>
                    <a:pt x="398" y="18"/>
                  </a:lnTo>
                  <a:lnTo>
                    <a:pt x="394" y="13"/>
                  </a:lnTo>
                  <a:lnTo>
                    <a:pt x="390" y="9"/>
                  </a:lnTo>
                  <a:lnTo>
                    <a:pt x="383" y="4"/>
                  </a:lnTo>
                  <a:lnTo>
                    <a:pt x="377" y="2"/>
                  </a:lnTo>
                  <a:lnTo>
                    <a:pt x="369" y="0"/>
                  </a:lnTo>
                  <a:lnTo>
                    <a:pt x="362" y="0"/>
                  </a:lnTo>
                  <a:lnTo>
                    <a:pt x="298" y="5"/>
                  </a:lnTo>
                  <a:lnTo>
                    <a:pt x="290" y="8"/>
                  </a:lnTo>
                  <a:lnTo>
                    <a:pt x="284" y="10"/>
                  </a:lnTo>
                  <a:lnTo>
                    <a:pt x="277" y="13"/>
                  </a:lnTo>
                  <a:lnTo>
                    <a:pt x="272" y="18"/>
                  </a:lnTo>
                  <a:lnTo>
                    <a:pt x="268" y="24"/>
                  </a:lnTo>
                  <a:lnTo>
                    <a:pt x="264" y="30"/>
                  </a:lnTo>
                  <a:lnTo>
                    <a:pt x="262" y="37"/>
                  </a:lnTo>
                  <a:lnTo>
                    <a:pt x="261" y="44"/>
                  </a:lnTo>
                  <a:lnTo>
                    <a:pt x="260" y="83"/>
                  </a:lnTo>
                  <a:lnTo>
                    <a:pt x="242" y="90"/>
                  </a:lnTo>
                  <a:lnTo>
                    <a:pt x="224" y="99"/>
                  </a:lnTo>
                  <a:lnTo>
                    <a:pt x="207" y="108"/>
                  </a:lnTo>
                  <a:lnTo>
                    <a:pt x="189" y="119"/>
                  </a:lnTo>
                  <a:lnTo>
                    <a:pt x="157" y="98"/>
                  </a:lnTo>
                  <a:lnTo>
                    <a:pt x="151" y="94"/>
                  </a:lnTo>
                  <a:lnTo>
                    <a:pt x="143" y="92"/>
                  </a:lnTo>
                  <a:lnTo>
                    <a:pt x="137" y="91"/>
                  </a:lnTo>
                  <a:lnTo>
                    <a:pt x="129" y="91"/>
                  </a:lnTo>
                  <a:lnTo>
                    <a:pt x="123" y="93"/>
                  </a:lnTo>
                  <a:lnTo>
                    <a:pt x="117" y="95"/>
                  </a:lnTo>
                  <a:lnTo>
                    <a:pt x="110" y="100"/>
                  </a:lnTo>
                  <a:lnTo>
                    <a:pt x="105" y="105"/>
                  </a:lnTo>
                  <a:lnTo>
                    <a:pt x="63" y="155"/>
                  </a:lnTo>
                  <a:lnTo>
                    <a:pt x="59" y="161"/>
                  </a:lnTo>
                  <a:lnTo>
                    <a:pt x="56" y="167"/>
                  </a:lnTo>
                  <a:lnTo>
                    <a:pt x="55" y="175"/>
                  </a:lnTo>
                  <a:lnTo>
                    <a:pt x="53" y="181"/>
                  </a:lnTo>
                  <a:lnTo>
                    <a:pt x="55" y="189"/>
                  </a:lnTo>
                  <a:lnTo>
                    <a:pt x="57" y="195"/>
                  </a:lnTo>
                  <a:lnTo>
                    <a:pt x="60" y="201"/>
                  </a:lnTo>
                  <a:lnTo>
                    <a:pt x="64" y="207"/>
                  </a:lnTo>
                  <a:lnTo>
                    <a:pt x="93" y="238"/>
                  </a:lnTo>
                  <a:lnTo>
                    <a:pt x="87" y="255"/>
                  </a:lnTo>
                  <a:lnTo>
                    <a:pt x="80" y="272"/>
                  </a:lnTo>
                  <a:lnTo>
                    <a:pt x="76" y="290"/>
                  </a:lnTo>
                  <a:lnTo>
                    <a:pt x="72" y="309"/>
                  </a:lnTo>
                  <a:lnTo>
                    <a:pt x="31" y="316"/>
                  </a:lnTo>
                  <a:lnTo>
                    <a:pt x="25" y="318"/>
                  </a:lnTo>
                  <a:lnTo>
                    <a:pt x="18" y="321"/>
                  </a:lnTo>
                  <a:lnTo>
                    <a:pt x="12" y="327"/>
                  </a:lnTo>
                  <a:lnTo>
                    <a:pt x="7" y="331"/>
                  </a:lnTo>
                  <a:lnTo>
                    <a:pt x="3" y="338"/>
                  </a:lnTo>
                  <a:lnTo>
                    <a:pt x="1" y="344"/>
                  </a:lnTo>
                  <a:lnTo>
                    <a:pt x="0" y="351"/>
                  </a:lnTo>
                  <a:lnTo>
                    <a:pt x="0" y="359"/>
                  </a:lnTo>
                  <a:lnTo>
                    <a:pt x="5" y="423"/>
                  </a:lnTo>
                  <a:lnTo>
                    <a:pt x="6" y="431"/>
                  </a:lnTo>
                  <a:lnTo>
                    <a:pt x="8" y="437"/>
                  </a:lnTo>
                  <a:lnTo>
                    <a:pt x="13" y="444"/>
                  </a:lnTo>
                  <a:lnTo>
                    <a:pt x="17" y="449"/>
                  </a:lnTo>
                  <a:lnTo>
                    <a:pt x="22" y="453"/>
                  </a:lnTo>
                  <a:lnTo>
                    <a:pt x="29" y="456"/>
                  </a:lnTo>
                  <a:lnTo>
                    <a:pt x="35" y="459"/>
                  </a:lnTo>
                  <a:lnTo>
                    <a:pt x="43" y="460"/>
                  </a:lnTo>
                  <a:lnTo>
                    <a:pt x="88" y="461"/>
                  </a:lnTo>
                  <a:lnTo>
                    <a:pt x="94" y="477"/>
                  </a:lnTo>
                  <a:lnTo>
                    <a:pt x="102" y="492"/>
                  </a:lnTo>
                  <a:lnTo>
                    <a:pt x="110" y="507"/>
                  </a:lnTo>
                  <a:lnTo>
                    <a:pt x="119" y="521"/>
                  </a:lnTo>
                  <a:lnTo>
                    <a:pt x="94" y="558"/>
                  </a:lnTo>
                  <a:lnTo>
                    <a:pt x="91" y="565"/>
                  </a:lnTo>
                  <a:lnTo>
                    <a:pt x="89" y="572"/>
                  </a:lnTo>
                  <a:lnTo>
                    <a:pt x="88" y="578"/>
                  </a:lnTo>
                  <a:lnTo>
                    <a:pt x="88" y="586"/>
                  </a:lnTo>
                  <a:lnTo>
                    <a:pt x="90" y="592"/>
                  </a:lnTo>
                  <a:lnTo>
                    <a:pt x="92" y="599"/>
                  </a:lnTo>
                  <a:lnTo>
                    <a:pt x="96" y="605"/>
                  </a:lnTo>
                  <a:lnTo>
                    <a:pt x="102" y="611"/>
                  </a:lnTo>
                  <a:lnTo>
                    <a:pt x="151" y="652"/>
                  </a:lnTo>
                  <a:lnTo>
                    <a:pt x="157" y="657"/>
                  </a:lnTo>
                  <a:lnTo>
                    <a:pt x="164" y="660"/>
                  </a:lnTo>
                  <a:lnTo>
                    <a:pt x="171" y="661"/>
                  </a:lnTo>
                  <a:lnTo>
                    <a:pt x="178" y="662"/>
                  </a:lnTo>
                  <a:lnTo>
                    <a:pt x="185" y="661"/>
                  </a:lnTo>
                  <a:lnTo>
                    <a:pt x="192" y="659"/>
                  </a:lnTo>
                  <a:lnTo>
                    <a:pt x="198" y="656"/>
                  </a:lnTo>
                  <a:lnTo>
                    <a:pt x="203" y="651"/>
                  </a:lnTo>
                  <a:lnTo>
                    <a:pt x="237" y="620"/>
                  </a:lnTo>
                  <a:lnTo>
                    <a:pt x="253" y="628"/>
                  </a:lnTo>
                  <a:lnTo>
                    <a:pt x="269" y="633"/>
                  </a:lnTo>
                  <a:lnTo>
                    <a:pt x="286" y="638"/>
                  </a:lnTo>
                  <a:lnTo>
                    <a:pt x="303" y="643"/>
                  </a:lnTo>
                  <a:lnTo>
                    <a:pt x="312" y="687"/>
                  </a:lnTo>
                  <a:lnTo>
                    <a:pt x="314" y="694"/>
                  </a:lnTo>
                  <a:lnTo>
                    <a:pt x="318" y="701"/>
                  </a:lnTo>
                  <a:lnTo>
                    <a:pt x="322" y="706"/>
                  </a:lnTo>
                  <a:lnTo>
                    <a:pt x="327" y="710"/>
                  </a:lnTo>
                  <a:lnTo>
                    <a:pt x="333" y="714"/>
                  </a:lnTo>
                  <a:lnTo>
                    <a:pt x="339" y="717"/>
                  </a:lnTo>
                  <a:lnTo>
                    <a:pt x="347" y="719"/>
                  </a:lnTo>
                  <a:lnTo>
                    <a:pt x="354" y="719"/>
                  </a:lnTo>
                  <a:lnTo>
                    <a:pt x="419" y="713"/>
                  </a:lnTo>
                  <a:lnTo>
                    <a:pt x="426" y="711"/>
                  </a:lnTo>
                  <a:lnTo>
                    <a:pt x="433" y="709"/>
                  </a:lnTo>
                  <a:lnTo>
                    <a:pt x="439" y="706"/>
                  </a:lnTo>
                  <a:lnTo>
                    <a:pt x="444" y="701"/>
                  </a:lnTo>
                  <a:lnTo>
                    <a:pt x="449" y="695"/>
                  </a:lnTo>
                  <a:lnTo>
                    <a:pt x="452" y="689"/>
                  </a:lnTo>
                  <a:lnTo>
                    <a:pt x="454" y="682"/>
                  </a:lnTo>
                  <a:lnTo>
                    <a:pt x="455" y="675"/>
                  </a:lnTo>
                  <a:lnTo>
                    <a:pt x="456" y="631"/>
                  </a:lnTo>
                  <a:lnTo>
                    <a:pt x="474" y="625"/>
                  </a:lnTo>
                  <a:lnTo>
                    <a:pt x="491" y="617"/>
                  </a:lnTo>
                  <a:lnTo>
                    <a:pt x="507" y="607"/>
                  </a:lnTo>
                  <a:lnTo>
                    <a:pt x="524" y="598"/>
                  </a:lnTo>
                  <a:lnTo>
                    <a:pt x="559" y="621"/>
                  </a:lnTo>
                  <a:lnTo>
                    <a:pt x="565" y="625"/>
                  </a:lnTo>
                  <a:lnTo>
                    <a:pt x="573" y="627"/>
                  </a:lnTo>
                  <a:lnTo>
                    <a:pt x="579" y="628"/>
                  </a:lnTo>
                  <a:lnTo>
                    <a:pt x="587" y="628"/>
                  </a:lnTo>
                  <a:lnTo>
                    <a:pt x="593" y="626"/>
                  </a:lnTo>
                  <a:lnTo>
                    <a:pt x="600" y="623"/>
                  </a:lnTo>
                  <a:lnTo>
                    <a:pt x="606" y="619"/>
                  </a:lnTo>
                  <a:lnTo>
                    <a:pt x="611" y="614"/>
                  </a:lnTo>
                  <a:lnTo>
                    <a:pt x="653" y="565"/>
                  </a:lnTo>
                  <a:lnTo>
                    <a:pt x="657" y="558"/>
                  </a:lnTo>
                  <a:lnTo>
                    <a:pt x="661" y="552"/>
                  </a:lnTo>
                  <a:lnTo>
                    <a:pt x="662" y="544"/>
                  </a:lnTo>
                  <a:lnTo>
                    <a:pt x="663" y="538"/>
                  </a:lnTo>
                  <a:lnTo>
                    <a:pt x="662" y="530"/>
                  </a:lnTo>
                  <a:lnTo>
                    <a:pt x="660" y="524"/>
                  </a:lnTo>
                  <a:lnTo>
                    <a:pt x="656" y="517"/>
                  </a:lnTo>
                  <a:lnTo>
                    <a:pt x="652" y="512"/>
                  </a:lnTo>
                  <a:lnTo>
                    <a:pt x="623" y="481"/>
                  </a:lnTo>
                  <a:lnTo>
                    <a:pt x="631" y="464"/>
                  </a:lnTo>
                  <a:lnTo>
                    <a:pt x="636" y="447"/>
                  </a:lnTo>
                  <a:lnTo>
                    <a:pt x="641" y="429"/>
                  </a:lnTo>
                  <a:lnTo>
                    <a:pt x="646" y="410"/>
                  </a:lnTo>
                  <a:lnTo>
                    <a:pt x="685" y="403"/>
                  </a:lnTo>
                  <a:lnTo>
                    <a:pt x="692" y="401"/>
                  </a:lnTo>
                  <a:lnTo>
                    <a:pt x="698" y="397"/>
                  </a:lnTo>
                  <a:lnTo>
                    <a:pt x="705" y="393"/>
                  </a:lnTo>
                  <a:lnTo>
                    <a:pt x="709" y="388"/>
                  </a:lnTo>
                  <a:lnTo>
                    <a:pt x="712" y="381"/>
                  </a:lnTo>
                  <a:lnTo>
                    <a:pt x="715" y="375"/>
                  </a:lnTo>
                  <a:lnTo>
                    <a:pt x="716" y="367"/>
                  </a:lnTo>
                  <a:lnTo>
                    <a:pt x="716" y="360"/>
                  </a:lnTo>
                  <a:lnTo>
                    <a:pt x="711" y="296"/>
                  </a:lnTo>
                  <a:lnTo>
                    <a:pt x="710" y="288"/>
                  </a:lnTo>
                  <a:lnTo>
                    <a:pt x="707" y="282"/>
                  </a:lnTo>
                  <a:lnTo>
                    <a:pt x="703" y="275"/>
                  </a:lnTo>
                  <a:lnTo>
                    <a:pt x="699" y="270"/>
                  </a:lnTo>
                  <a:lnTo>
                    <a:pt x="694" y="266"/>
                  </a:lnTo>
                  <a:lnTo>
                    <a:pt x="687" y="263"/>
                  </a:lnTo>
                  <a:lnTo>
                    <a:pt x="680" y="260"/>
                  </a:lnTo>
                  <a:lnTo>
                    <a:pt x="673" y="259"/>
                  </a:lnTo>
                  <a:lnTo>
                    <a:pt x="634" y="258"/>
                  </a:lnTo>
                  <a:lnTo>
                    <a:pt x="626" y="241"/>
                  </a:lnTo>
                  <a:lnTo>
                    <a:pt x="619" y="224"/>
                  </a:lnTo>
                  <a:lnTo>
                    <a:pt x="610" y="209"/>
                  </a:lnTo>
                  <a:lnTo>
                    <a:pt x="601" y="193"/>
                  </a:lnTo>
                  <a:lnTo>
                    <a:pt x="622" y="161"/>
                  </a:lnTo>
                  <a:lnTo>
                    <a:pt x="625" y="154"/>
                  </a:lnTo>
                  <a:lnTo>
                    <a:pt x="627" y="147"/>
                  </a:lnTo>
                  <a:lnTo>
                    <a:pt x="628" y="140"/>
                  </a:lnTo>
                  <a:lnTo>
                    <a:pt x="628" y="133"/>
                  </a:lnTo>
                  <a:lnTo>
                    <a:pt x="626" y="127"/>
                  </a:lnTo>
                  <a:lnTo>
                    <a:pt x="624" y="120"/>
                  </a:lnTo>
                  <a:lnTo>
                    <a:pt x="620" y="114"/>
                  </a:lnTo>
                  <a:lnTo>
                    <a:pt x="615" y="108"/>
                  </a:lnTo>
                  <a:close/>
                  <a:moveTo>
                    <a:pt x="370" y="483"/>
                  </a:moveTo>
                  <a:lnTo>
                    <a:pt x="358" y="484"/>
                  </a:lnTo>
                  <a:lnTo>
                    <a:pt x="345" y="483"/>
                  </a:lnTo>
                  <a:lnTo>
                    <a:pt x="332" y="481"/>
                  </a:lnTo>
                  <a:lnTo>
                    <a:pt x="320" y="478"/>
                  </a:lnTo>
                  <a:lnTo>
                    <a:pt x="308" y="474"/>
                  </a:lnTo>
                  <a:lnTo>
                    <a:pt x="298" y="468"/>
                  </a:lnTo>
                  <a:lnTo>
                    <a:pt x="287" y="462"/>
                  </a:lnTo>
                  <a:lnTo>
                    <a:pt x="277" y="454"/>
                  </a:lnTo>
                  <a:lnTo>
                    <a:pt x="269" y="446"/>
                  </a:lnTo>
                  <a:lnTo>
                    <a:pt x="260" y="436"/>
                  </a:lnTo>
                  <a:lnTo>
                    <a:pt x="253" y="426"/>
                  </a:lnTo>
                  <a:lnTo>
                    <a:pt x="246" y="416"/>
                  </a:lnTo>
                  <a:lnTo>
                    <a:pt x="241" y="405"/>
                  </a:lnTo>
                  <a:lnTo>
                    <a:pt x="238" y="392"/>
                  </a:lnTo>
                  <a:lnTo>
                    <a:pt x="234" y="380"/>
                  </a:lnTo>
                  <a:lnTo>
                    <a:pt x="232" y="367"/>
                  </a:lnTo>
                  <a:lnTo>
                    <a:pt x="232" y="355"/>
                  </a:lnTo>
                  <a:lnTo>
                    <a:pt x="232" y="342"/>
                  </a:lnTo>
                  <a:lnTo>
                    <a:pt x="234" y="329"/>
                  </a:lnTo>
                  <a:lnTo>
                    <a:pt x="239" y="317"/>
                  </a:lnTo>
                  <a:lnTo>
                    <a:pt x="243" y="305"/>
                  </a:lnTo>
                  <a:lnTo>
                    <a:pt x="248" y="295"/>
                  </a:lnTo>
                  <a:lnTo>
                    <a:pt x="255" y="284"/>
                  </a:lnTo>
                  <a:lnTo>
                    <a:pt x="262" y="274"/>
                  </a:lnTo>
                  <a:lnTo>
                    <a:pt x="271" y="265"/>
                  </a:lnTo>
                  <a:lnTo>
                    <a:pt x="279" y="257"/>
                  </a:lnTo>
                  <a:lnTo>
                    <a:pt x="289" y="250"/>
                  </a:lnTo>
                  <a:lnTo>
                    <a:pt x="300" y="243"/>
                  </a:lnTo>
                  <a:lnTo>
                    <a:pt x="312" y="238"/>
                  </a:lnTo>
                  <a:lnTo>
                    <a:pt x="323" y="234"/>
                  </a:lnTo>
                  <a:lnTo>
                    <a:pt x="336" y="231"/>
                  </a:lnTo>
                  <a:lnTo>
                    <a:pt x="349" y="229"/>
                  </a:lnTo>
                  <a:lnTo>
                    <a:pt x="362" y="229"/>
                  </a:lnTo>
                  <a:lnTo>
                    <a:pt x="375" y="229"/>
                  </a:lnTo>
                  <a:lnTo>
                    <a:pt x="388" y="231"/>
                  </a:lnTo>
                  <a:lnTo>
                    <a:pt x="399" y="235"/>
                  </a:lnTo>
                  <a:lnTo>
                    <a:pt x="411" y="240"/>
                  </a:lnTo>
                  <a:lnTo>
                    <a:pt x="422" y="245"/>
                  </a:lnTo>
                  <a:lnTo>
                    <a:pt x="433" y="252"/>
                  </a:lnTo>
                  <a:lnTo>
                    <a:pt x="442" y="259"/>
                  </a:lnTo>
                  <a:lnTo>
                    <a:pt x="451" y="268"/>
                  </a:lnTo>
                  <a:lnTo>
                    <a:pt x="459" y="276"/>
                  </a:lnTo>
                  <a:lnTo>
                    <a:pt x="466" y="286"/>
                  </a:lnTo>
                  <a:lnTo>
                    <a:pt x="472" y="297"/>
                  </a:lnTo>
                  <a:lnTo>
                    <a:pt x="477" y="309"/>
                  </a:lnTo>
                  <a:lnTo>
                    <a:pt x="482" y="320"/>
                  </a:lnTo>
                  <a:lnTo>
                    <a:pt x="485" y="333"/>
                  </a:lnTo>
                  <a:lnTo>
                    <a:pt x="487" y="346"/>
                  </a:lnTo>
                  <a:lnTo>
                    <a:pt x="487" y="359"/>
                  </a:lnTo>
                  <a:lnTo>
                    <a:pt x="486" y="372"/>
                  </a:lnTo>
                  <a:lnTo>
                    <a:pt x="484" y="384"/>
                  </a:lnTo>
                  <a:lnTo>
                    <a:pt x="481" y="396"/>
                  </a:lnTo>
                  <a:lnTo>
                    <a:pt x="476" y="407"/>
                  </a:lnTo>
                  <a:lnTo>
                    <a:pt x="471" y="419"/>
                  </a:lnTo>
                  <a:lnTo>
                    <a:pt x="465" y="429"/>
                  </a:lnTo>
                  <a:lnTo>
                    <a:pt x="457" y="439"/>
                  </a:lnTo>
                  <a:lnTo>
                    <a:pt x="449" y="448"/>
                  </a:lnTo>
                  <a:lnTo>
                    <a:pt x="439" y="456"/>
                  </a:lnTo>
                  <a:lnTo>
                    <a:pt x="429" y="463"/>
                  </a:lnTo>
                  <a:lnTo>
                    <a:pt x="419" y="469"/>
                  </a:lnTo>
                  <a:lnTo>
                    <a:pt x="408" y="475"/>
                  </a:lnTo>
                  <a:lnTo>
                    <a:pt x="396" y="479"/>
                  </a:lnTo>
                  <a:lnTo>
                    <a:pt x="383" y="482"/>
                  </a:lnTo>
                  <a:lnTo>
                    <a:pt x="370" y="483"/>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5" name="Freeform 32"/>
            <p:cNvSpPr>
              <a:spLocks noEditPoints="1"/>
            </p:cNvSpPr>
            <p:nvPr/>
          </p:nvSpPr>
          <p:spPr bwMode="auto">
            <a:xfrm>
              <a:off x="1430690" y="1764627"/>
              <a:ext cx="153988" cy="153988"/>
            </a:xfrm>
            <a:custGeom>
              <a:avLst/>
              <a:gdLst>
                <a:gd name="T0" fmla="*/ 15 w 581"/>
                <a:gd name="T1" fmla="*/ 237 h 581"/>
                <a:gd name="T2" fmla="*/ 1 w 581"/>
                <a:gd name="T3" fmla="*/ 261 h 581"/>
                <a:gd name="T4" fmla="*/ 2 w 581"/>
                <a:gd name="T5" fmla="*/ 322 h 581"/>
                <a:gd name="T6" fmla="*/ 20 w 581"/>
                <a:gd name="T7" fmla="*/ 343 h 581"/>
                <a:gd name="T8" fmla="*/ 67 w 581"/>
                <a:gd name="T9" fmla="*/ 365 h 581"/>
                <a:gd name="T10" fmla="*/ 65 w 581"/>
                <a:gd name="T11" fmla="*/ 426 h 581"/>
                <a:gd name="T12" fmla="*/ 57 w 581"/>
                <a:gd name="T13" fmla="*/ 453 h 581"/>
                <a:gd name="T14" fmla="*/ 67 w 581"/>
                <a:gd name="T15" fmla="*/ 478 h 581"/>
                <a:gd name="T16" fmla="*/ 115 w 581"/>
                <a:gd name="T17" fmla="*/ 518 h 581"/>
                <a:gd name="T18" fmla="*/ 141 w 581"/>
                <a:gd name="T19" fmla="*/ 515 h 581"/>
                <a:gd name="T20" fmla="*/ 197 w 581"/>
                <a:gd name="T21" fmla="*/ 505 h 581"/>
                <a:gd name="T22" fmla="*/ 228 w 581"/>
                <a:gd name="T23" fmla="*/ 553 h 581"/>
                <a:gd name="T24" fmla="*/ 245 w 581"/>
                <a:gd name="T25" fmla="*/ 575 h 581"/>
                <a:gd name="T26" fmla="*/ 306 w 581"/>
                <a:gd name="T27" fmla="*/ 581 h 581"/>
                <a:gd name="T28" fmla="*/ 332 w 581"/>
                <a:gd name="T29" fmla="*/ 571 h 581"/>
                <a:gd name="T30" fmla="*/ 346 w 581"/>
                <a:gd name="T31" fmla="*/ 547 h 581"/>
                <a:gd name="T32" fmla="*/ 392 w 581"/>
                <a:gd name="T33" fmla="*/ 503 h 581"/>
                <a:gd name="T34" fmla="*/ 441 w 581"/>
                <a:gd name="T35" fmla="*/ 521 h 581"/>
                <a:gd name="T36" fmla="*/ 468 w 581"/>
                <a:gd name="T37" fmla="*/ 520 h 581"/>
                <a:gd name="T38" fmla="*/ 514 w 581"/>
                <a:gd name="T39" fmla="*/ 478 h 581"/>
                <a:gd name="T40" fmla="*/ 520 w 581"/>
                <a:gd name="T41" fmla="*/ 451 h 581"/>
                <a:gd name="T42" fmla="*/ 496 w 581"/>
                <a:gd name="T43" fmla="*/ 410 h 581"/>
                <a:gd name="T44" fmla="*/ 519 w 581"/>
                <a:gd name="T45" fmla="*/ 354 h 581"/>
                <a:gd name="T46" fmla="*/ 565 w 581"/>
                <a:gd name="T47" fmla="*/ 343 h 581"/>
                <a:gd name="T48" fmla="*/ 580 w 581"/>
                <a:gd name="T49" fmla="*/ 320 h 581"/>
                <a:gd name="T50" fmla="*/ 579 w 581"/>
                <a:gd name="T51" fmla="*/ 259 h 581"/>
                <a:gd name="T52" fmla="*/ 561 w 581"/>
                <a:gd name="T53" fmla="*/ 237 h 581"/>
                <a:gd name="T54" fmla="*/ 517 w 581"/>
                <a:gd name="T55" fmla="*/ 215 h 581"/>
                <a:gd name="T56" fmla="*/ 516 w 581"/>
                <a:gd name="T57" fmla="*/ 155 h 581"/>
                <a:gd name="T58" fmla="*/ 525 w 581"/>
                <a:gd name="T59" fmla="*/ 128 h 581"/>
                <a:gd name="T60" fmla="*/ 514 w 581"/>
                <a:gd name="T61" fmla="*/ 102 h 581"/>
                <a:gd name="T62" fmla="*/ 467 w 581"/>
                <a:gd name="T63" fmla="*/ 63 h 581"/>
                <a:gd name="T64" fmla="*/ 440 w 581"/>
                <a:gd name="T65" fmla="*/ 66 h 581"/>
                <a:gd name="T66" fmla="*/ 387 w 581"/>
                <a:gd name="T67" fmla="*/ 70 h 581"/>
                <a:gd name="T68" fmla="*/ 353 w 581"/>
                <a:gd name="T69" fmla="*/ 27 h 581"/>
                <a:gd name="T70" fmla="*/ 336 w 581"/>
                <a:gd name="T71" fmla="*/ 6 h 581"/>
                <a:gd name="T72" fmla="*/ 275 w 581"/>
                <a:gd name="T73" fmla="*/ 0 h 581"/>
                <a:gd name="T74" fmla="*/ 250 w 581"/>
                <a:gd name="T75" fmla="*/ 9 h 581"/>
                <a:gd name="T76" fmla="*/ 236 w 581"/>
                <a:gd name="T77" fmla="*/ 34 h 581"/>
                <a:gd name="T78" fmla="*/ 187 w 581"/>
                <a:gd name="T79" fmla="*/ 75 h 581"/>
                <a:gd name="T80" fmla="*/ 140 w 581"/>
                <a:gd name="T81" fmla="*/ 60 h 581"/>
                <a:gd name="T82" fmla="*/ 114 w 581"/>
                <a:gd name="T83" fmla="*/ 61 h 581"/>
                <a:gd name="T84" fmla="*/ 67 w 581"/>
                <a:gd name="T85" fmla="*/ 102 h 581"/>
                <a:gd name="T86" fmla="*/ 61 w 581"/>
                <a:gd name="T87" fmla="*/ 129 h 581"/>
                <a:gd name="T88" fmla="*/ 86 w 581"/>
                <a:gd name="T89" fmla="*/ 171 h 581"/>
                <a:gd name="T90" fmla="*/ 63 w 581"/>
                <a:gd name="T91" fmla="*/ 227 h 581"/>
                <a:gd name="T92" fmla="*/ 314 w 581"/>
                <a:gd name="T93" fmla="*/ 187 h 581"/>
                <a:gd name="T94" fmla="*/ 351 w 581"/>
                <a:gd name="T95" fmla="*/ 203 h 581"/>
                <a:gd name="T96" fmla="*/ 379 w 581"/>
                <a:gd name="T97" fmla="*/ 231 h 581"/>
                <a:gd name="T98" fmla="*/ 394 w 581"/>
                <a:gd name="T99" fmla="*/ 268 h 581"/>
                <a:gd name="T100" fmla="*/ 393 w 581"/>
                <a:gd name="T101" fmla="*/ 310 h 581"/>
                <a:gd name="T102" fmla="*/ 377 w 581"/>
                <a:gd name="T103" fmla="*/ 348 h 581"/>
                <a:gd name="T104" fmla="*/ 349 w 581"/>
                <a:gd name="T105" fmla="*/ 374 h 581"/>
                <a:gd name="T106" fmla="*/ 312 w 581"/>
                <a:gd name="T107" fmla="*/ 390 h 581"/>
                <a:gd name="T108" fmla="*/ 270 w 581"/>
                <a:gd name="T109" fmla="*/ 389 h 581"/>
                <a:gd name="T110" fmla="*/ 232 w 581"/>
                <a:gd name="T111" fmla="*/ 373 h 581"/>
                <a:gd name="T112" fmla="*/ 206 w 581"/>
                <a:gd name="T113" fmla="*/ 345 h 581"/>
                <a:gd name="T114" fmla="*/ 190 w 581"/>
                <a:gd name="T115" fmla="*/ 308 h 581"/>
                <a:gd name="T116" fmla="*/ 191 w 581"/>
                <a:gd name="T117" fmla="*/ 266 h 581"/>
                <a:gd name="T118" fmla="*/ 207 w 581"/>
                <a:gd name="T119" fmla="*/ 229 h 581"/>
                <a:gd name="T120" fmla="*/ 235 w 581"/>
                <a:gd name="T121" fmla="*/ 201 h 581"/>
                <a:gd name="T122" fmla="*/ 272 w 581"/>
                <a:gd name="T123" fmla="*/ 18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1" h="581">
                  <a:moveTo>
                    <a:pt x="35" y="230"/>
                  </a:moveTo>
                  <a:lnTo>
                    <a:pt x="28" y="231"/>
                  </a:lnTo>
                  <a:lnTo>
                    <a:pt x="21" y="233"/>
                  </a:lnTo>
                  <a:lnTo>
                    <a:pt x="15" y="237"/>
                  </a:lnTo>
                  <a:lnTo>
                    <a:pt x="11" y="242"/>
                  </a:lnTo>
                  <a:lnTo>
                    <a:pt x="6" y="248"/>
                  </a:lnTo>
                  <a:lnTo>
                    <a:pt x="3" y="254"/>
                  </a:lnTo>
                  <a:lnTo>
                    <a:pt x="1" y="261"/>
                  </a:lnTo>
                  <a:lnTo>
                    <a:pt x="0" y="268"/>
                  </a:lnTo>
                  <a:lnTo>
                    <a:pt x="0" y="308"/>
                  </a:lnTo>
                  <a:lnTo>
                    <a:pt x="0" y="315"/>
                  </a:lnTo>
                  <a:lnTo>
                    <a:pt x="2" y="322"/>
                  </a:lnTo>
                  <a:lnTo>
                    <a:pt x="5" y="328"/>
                  </a:lnTo>
                  <a:lnTo>
                    <a:pt x="10" y="335"/>
                  </a:lnTo>
                  <a:lnTo>
                    <a:pt x="14" y="339"/>
                  </a:lnTo>
                  <a:lnTo>
                    <a:pt x="20" y="343"/>
                  </a:lnTo>
                  <a:lnTo>
                    <a:pt x="27" y="347"/>
                  </a:lnTo>
                  <a:lnTo>
                    <a:pt x="34" y="348"/>
                  </a:lnTo>
                  <a:lnTo>
                    <a:pt x="63" y="352"/>
                  </a:lnTo>
                  <a:lnTo>
                    <a:pt x="67" y="365"/>
                  </a:lnTo>
                  <a:lnTo>
                    <a:pt x="72" y="378"/>
                  </a:lnTo>
                  <a:lnTo>
                    <a:pt x="78" y="390"/>
                  </a:lnTo>
                  <a:lnTo>
                    <a:pt x="85" y="402"/>
                  </a:lnTo>
                  <a:lnTo>
                    <a:pt x="65" y="426"/>
                  </a:lnTo>
                  <a:lnTo>
                    <a:pt x="61" y="432"/>
                  </a:lnTo>
                  <a:lnTo>
                    <a:pt x="58" y="439"/>
                  </a:lnTo>
                  <a:lnTo>
                    <a:pt x="57" y="445"/>
                  </a:lnTo>
                  <a:lnTo>
                    <a:pt x="57" y="453"/>
                  </a:lnTo>
                  <a:lnTo>
                    <a:pt x="58" y="460"/>
                  </a:lnTo>
                  <a:lnTo>
                    <a:pt x="60" y="466"/>
                  </a:lnTo>
                  <a:lnTo>
                    <a:pt x="63" y="473"/>
                  </a:lnTo>
                  <a:lnTo>
                    <a:pt x="67" y="478"/>
                  </a:lnTo>
                  <a:lnTo>
                    <a:pt x="95" y="507"/>
                  </a:lnTo>
                  <a:lnTo>
                    <a:pt x="101" y="511"/>
                  </a:lnTo>
                  <a:lnTo>
                    <a:pt x="107" y="516"/>
                  </a:lnTo>
                  <a:lnTo>
                    <a:pt x="115" y="518"/>
                  </a:lnTo>
                  <a:lnTo>
                    <a:pt x="121" y="519"/>
                  </a:lnTo>
                  <a:lnTo>
                    <a:pt x="129" y="519"/>
                  </a:lnTo>
                  <a:lnTo>
                    <a:pt x="135" y="517"/>
                  </a:lnTo>
                  <a:lnTo>
                    <a:pt x="141" y="515"/>
                  </a:lnTo>
                  <a:lnTo>
                    <a:pt x="148" y="510"/>
                  </a:lnTo>
                  <a:lnTo>
                    <a:pt x="171" y="492"/>
                  </a:lnTo>
                  <a:lnTo>
                    <a:pt x="184" y="500"/>
                  </a:lnTo>
                  <a:lnTo>
                    <a:pt x="197" y="505"/>
                  </a:lnTo>
                  <a:lnTo>
                    <a:pt x="210" y="510"/>
                  </a:lnTo>
                  <a:lnTo>
                    <a:pt x="224" y="516"/>
                  </a:lnTo>
                  <a:lnTo>
                    <a:pt x="227" y="546"/>
                  </a:lnTo>
                  <a:lnTo>
                    <a:pt x="228" y="553"/>
                  </a:lnTo>
                  <a:lnTo>
                    <a:pt x="231" y="560"/>
                  </a:lnTo>
                  <a:lnTo>
                    <a:pt x="235" y="565"/>
                  </a:lnTo>
                  <a:lnTo>
                    <a:pt x="240" y="570"/>
                  </a:lnTo>
                  <a:lnTo>
                    <a:pt x="245" y="575"/>
                  </a:lnTo>
                  <a:lnTo>
                    <a:pt x="252" y="578"/>
                  </a:lnTo>
                  <a:lnTo>
                    <a:pt x="258" y="580"/>
                  </a:lnTo>
                  <a:lnTo>
                    <a:pt x="266" y="581"/>
                  </a:lnTo>
                  <a:lnTo>
                    <a:pt x="306" y="581"/>
                  </a:lnTo>
                  <a:lnTo>
                    <a:pt x="313" y="581"/>
                  </a:lnTo>
                  <a:lnTo>
                    <a:pt x="320" y="579"/>
                  </a:lnTo>
                  <a:lnTo>
                    <a:pt x="327" y="576"/>
                  </a:lnTo>
                  <a:lnTo>
                    <a:pt x="332" y="571"/>
                  </a:lnTo>
                  <a:lnTo>
                    <a:pt x="337" y="567"/>
                  </a:lnTo>
                  <a:lnTo>
                    <a:pt x="342" y="561"/>
                  </a:lnTo>
                  <a:lnTo>
                    <a:pt x="344" y="554"/>
                  </a:lnTo>
                  <a:lnTo>
                    <a:pt x="346" y="547"/>
                  </a:lnTo>
                  <a:lnTo>
                    <a:pt x="349" y="518"/>
                  </a:lnTo>
                  <a:lnTo>
                    <a:pt x="364" y="515"/>
                  </a:lnTo>
                  <a:lnTo>
                    <a:pt x="378" y="509"/>
                  </a:lnTo>
                  <a:lnTo>
                    <a:pt x="392" y="503"/>
                  </a:lnTo>
                  <a:lnTo>
                    <a:pt x="406" y="496"/>
                  </a:lnTo>
                  <a:lnTo>
                    <a:pt x="428" y="514"/>
                  </a:lnTo>
                  <a:lnTo>
                    <a:pt x="435" y="518"/>
                  </a:lnTo>
                  <a:lnTo>
                    <a:pt x="441" y="521"/>
                  </a:lnTo>
                  <a:lnTo>
                    <a:pt x="448" y="522"/>
                  </a:lnTo>
                  <a:lnTo>
                    <a:pt x="455" y="523"/>
                  </a:lnTo>
                  <a:lnTo>
                    <a:pt x="462" y="522"/>
                  </a:lnTo>
                  <a:lnTo>
                    <a:pt x="468" y="520"/>
                  </a:lnTo>
                  <a:lnTo>
                    <a:pt x="474" y="517"/>
                  </a:lnTo>
                  <a:lnTo>
                    <a:pt x="481" y="511"/>
                  </a:lnTo>
                  <a:lnTo>
                    <a:pt x="509" y="484"/>
                  </a:lnTo>
                  <a:lnTo>
                    <a:pt x="514" y="478"/>
                  </a:lnTo>
                  <a:lnTo>
                    <a:pt x="517" y="472"/>
                  </a:lnTo>
                  <a:lnTo>
                    <a:pt x="519" y="465"/>
                  </a:lnTo>
                  <a:lnTo>
                    <a:pt x="520" y="458"/>
                  </a:lnTo>
                  <a:lnTo>
                    <a:pt x="520" y="451"/>
                  </a:lnTo>
                  <a:lnTo>
                    <a:pt x="519" y="444"/>
                  </a:lnTo>
                  <a:lnTo>
                    <a:pt x="517" y="438"/>
                  </a:lnTo>
                  <a:lnTo>
                    <a:pt x="513" y="431"/>
                  </a:lnTo>
                  <a:lnTo>
                    <a:pt x="496" y="410"/>
                  </a:lnTo>
                  <a:lnTo>
                    <a:pt x="503" y="396"/>
                  </a:lnTo>
                  <a:lnTo>
                    <a:pt x="510" y="383"/>
                  </a:lnTo>
                  <a:lnTo>
                    <a:pt x="515" y="368"/>
                  </a:lnTo>
                  <a:lnTo>
                    <a:pt x="519" y="354"/>
                  </a:lnTo>
                  <a:lnTo>
                    <a:pt x="546" y="352"/>
                  </a:lnTo>
                  <a:lnTo>
                    <a:pt x="554" y="350"/>
                  </a:lnTo>
                  <a:lnTo>
                    <a:pt x="560" y="348"/>
                  </a:lnTo>
                  <a:lnTo>
                    <a:pt x="565" y="343"/>
                  </a:lnTo>
                  <a:lnTo>
                    <a:pt x="571" y="339"/>
                  </a:lnTo>
                  <a:lnTo>
                    <a:pt x="575" y="333"/>
                  </a:lnTo>
                  <a:lnTo>
                    <a:pt x="578" y="327"/>
                  </a:lnTo>
                  <a:lnTo>
                    <a:pt x="580" y="320"/>
                  </a:lnTo>
                  <a:lnTo>
                    <a:pt x="581" y="312"/>
                  </a:lnTo>
                  <a:lnTo>
                    <a:pt x="581" y="273"/>
                  </a:lnTo>
                  <a:lnTo>
                    <a:pt x="581" y="265"/>
                  </a:lnTo>
                  <a:lnTo>
                    <a:pt x="579" y="259"/>
                  </a:lnTo>
                  <a:lnTo>
                    <a:pt x="576" y="252"/>
                  </a:lnTo>
                  <a:lnTo>
                    <a:pt x="572" y="246"/>
                  </a:lnTo>
                  <a:lnTo>
                    <a:pt x="568" y="242"/>
                  </a:lnTo>
                  <a:lnTo>
                    <a:pt x="561" y="237"/>
                  </a:lnTo>
                  <a:lnTo>
                    <a:pt x="555" y="234"/>
                  </a:lnTo>
                  <a:lnTo>
                    <a:pt x="547" y="233"/>
                  </a:lnTo>
                  <a:lnTo>
                    <a:pt x="522" y="230"/>
                  </a:lnTo>
                  <a:lnTo>
                    <a:pt x="517" y="215"/>
                  </a:lnTo>
                  <a:lnTo>
                    <a:pt x="513" y="201"/>
                  </a:lnTo>
                  <a:lnTo>
                    <a:pt x="507" y="188"/>
                  </a:lnTo>
                  <a:lnTo>
                    <a:pt x="500" y="174"/>
                  </a:lnTo>
                  <a:lnTo>
                    <a:pt x="516" y="155"/>
                  </a:lnTo>
                  <a:lnTo>
                    <a:pt x="520" y="148"/>
                  </a:lnTo>
                  <a:lnTo>
                    <a:pt x="524" y="142"/>
                  </a:lnTo>
                  <a:lnTo>
                    <a:pt x="525" y="136"/>
                  </a:lnTo>
                  <a:lnTo>
                    <a:pt x="525" y="128"/>
                  </a:lnTo>
                  <a:lnTo>
                    <a:pt x="524" y="122"/>
                  </a:lnTo>
                  <a:lnTo>
                    <a:pt x="522" y="114"/>
                  </a:lnTo>
                  <a:lnTo>
                    <a:pt x="518" y="108"/>
                  </a:lnTo>
                  <a:lnTo>
                    <a:pt x="514" y="102"/>
                  </a:lnTo>
                  <a:lnTo>
                    <a:pt x="486" y="73"/>
                  </a:lnTo>
                  <a:lnTo>
                    <a:pt x="480" y="69"/>
                  </a:lnTo>
                  <a:lnTo>
                    <a:pt x="474" y="65"/>
                  </a:lnTo>
                  <a:lnTo>
                    <a:pt x="467" y="63"/>
                  </a:lnTo>
                  <a:lnTo>
                    <a:pt x="460" y="62"/>
                  </a:lnTo>
                  <a:lnTo>
                    <a:pt x="453" y="62"/>
                  </a:lnTo>
                  <a:lnTo>
                    <a:pt x="447" y="64"/>
                  </a:lnTo>
                  <a:lnTo>
                    <a:pt x="440" y="66"/>
                  </a:lnTo>
                  <a:lnTo>
                    <a:pt x="434" y="70"/>
                  </a:lnTo>
                  <a:lnTo>
                    <a:pt x="414" y="85"/>
                  </a:lnTo>
                  <a:lnTo>
                    <a:pt x="400" y="77"/>
                  </a:lnTo>
                  <a:lnTo>
                    <a:pt x="387" y="70"/>
                  </a:lnTo>
                  <a:lnTo>
                    <a:pt x="372" y="65"/>
                  </a:lnTo>
                  <a:lnTo>
                    <a:pt x="357" y="60"/>
                  </a:lnTo>
                  <a:lnTo>
                    <a:pt x="354" y="35"/>
                  </a:lnTo>
                  <a:lnTo>
                    <a:pt x="353" y="27"/>
                  </a:lnTo>
                  <a:lnTo>
                    <a:pt x="350" y="21"/>
                  </a:lnTo>
                  <a:lnTo>
                    <a:pt x="347" y="16"/>
                  </a:lnTo>
                  <a:lnTo>
                    <a:pt x="342" y="10"/>
                  </a:lnTo>
                  <a:lnTo>
                    <a:pt x="336" y="6"/>
                  </a:lnTo>
                  <a:lnTo>
                    <a:pt x="330" y="3"/>
                  </a:lnTo>
                  <a:lnTo>
                    <a:pt x="322" y="1"/>
                  </a:lnTo>
                  <a:lnTo>
                    <a:pt x="316" y="0"/>
                  </a:lnTo>
                  <a:lnTo>
                    <a:pt x="275" y="0"/>
                  </a:lnTo>
                  <a:lnTo>
                    <a:pt x="268" y="0"/>
                  </a:lnTo>
                  <a:lnTo>
                    <a:pt x="261" y="2"/>
                  </a:lnTo>
                  <a:lnTo>
                    <a:pt x="255" y="5"/>
                  </a:lnTo>
                  <a:lnTo>
                    <a:pt x="250" y="9"/>
                  </a:lnTo>
                  <a:lnTo>
                    <a:pt x="244" y="13"/>
                  </a:lnTo>
                  <a:lnTo>
                    <a:pt x="240" y="20"/>
                  </a:lnTo>
                  <a:lnTo>
                    <a:pt x="238" y="26"/>
                  </a:lnTo>
                  <a:lnTo>
                    <a:pt x="236" y="34"/>
                  </a:lnTo>
                  <a:lnTo>
                    <a:pt x="232" y="58"/>
                  </a:lnTo>
                  <a:lnTo>
                    <a:pt x="217" y="63"/>
                  </a:lnTo>
                  <a:lnTo>
                    <a:pt x="202" y="68"/>
                  </a:lnTo>
                  <a:lnTo>
                    <a:pt x="187" y="75"/>
                  </a:lnTo>
                  <a:lnTo>
                    <a:pt x="173" y="83"/>
                  </a:lnTo>
                  <a:lnTo>
                    <a:pt x="153" y="67"/>
                  </a:lnTo>
                  <a:lnTo>
                    <a:pt x="148" y="63"/>
                  </a:lnTo>
                  <a:lnTo>
                    <a:pt x="140" y="60"/>
                  </a:lnTo>
                  <a:lnTo>
                    <a:pt x="134" y="58"/>
                  </a:lnTo>
                  <a:lnTo>
                    <a:pt x="126" y="57"/>
                  </a:lnTo>
                  <a:lnTo>
                    <a:pt x="120" y="58"/>
                  </a:lnTo>
                  <a:lnTo>
                    <a:pt x="114" y="61"/>
                  </a:lnTo>
                  <a:lnTo>
                    <a:pt x="107" y="64"/>
                  </a:lnTo>
                  <a:lnTo>
                    <a:pt x="101" y="69"/>
                  </a:lnTo>
                  <a:lnTo>
                    <a:pt x="73" y="97"/>
                  </a:lnTo>
                  <a:lnTo>
                    <a:pt x="67" y="102"/>
                  </a:lnTo>
                  <a:lnTo>
                    <a:pt x="64" y="109"/>
                  </a:lnTo>
                  <a:lnTo>
                    <a:pt x="62" y="115"/>
                  </a:lnTo>
                  <a:lnTo>
                    <a:pt x="60" y="123"/>
                  </a:lnTo>
                  <a:lnTo>
                    <a:pt x="61" y="129"/>
                  </a:lnTo>
                  <a:lnTo>
                    <a:pt x="62" y="137"/>
                  </a:lnTo>
                  <a:lnTo>
                    <a:pt x="64" y="143"/>
                  </a:lnTo>
                  <a:lnTo>
                    <a:pt x="69" y="149"/>
                  </a:lnTo>
                  <a:lnTo>
                    <a:pt x="86" y="171"/>
                  </a:lnTo>
                  <a:lnTo>
                    <a:pt x="78" y="185"/>
                  </a:lnTo>
                  <a:lnTo>
                    <a:pt x="73" y="198"/>
                  </a:lnTo>
                  <a:lnTo>
                    <a:pt x="67" y="212"/>
                  </a:lnTo>
                  <a:lnTo>
                    <a:pt x="63" y="227"/>
                  </a:lnTo>
                  <a:lnTo>
                    <a:pt x="35" y="230"/>
                  </a:lnTo>
                  <a:close/>
                  <a:moveTo>
                    <a:pt x="293" y="184"/>
                  </a:moveTo>
                  <a:lnTo>
                    <a:pt x="304" y="185"/>
                  </a:lnTo>
                  <a:lnTo>
                    <a:pt x="314" y="187"/>
                  </a:lnTo>
                  <a:lnTo>
                    <a:pt x="324" y="189"/>
                  </a:lnTo>
                  <a:lnTo>
                    <a:pt x="333" y="192"/>
                  </a:lnTo>
                  <a:lnTo>
                    <a:pt x="343" y="198"/>
                  </a:lnTo>
                  <a:lnTo>
                    <a:pt x="351" y="203"/>
                  </a:lnTo>
                  <a:lnTo>
                    <a:pt x="359" y="208"/>
                  </a:lnTo>
                  <a:lnTo>
                    <a:pt x="366" y="216"/>
                  </a:lnTo>
                  <a:lnTo>
                    <a:pt x="373" y="223"/>
                  </a:lnTo>
                  <a:lnTo>
                    <a:pt x="379" y="231"/>
                  </a:lnTo>
                  <a:lnTo>
                    <a:pt x="384" y="239"/>
                  </a:lnTo>
                  <a:lnTo>
                    <a:pt x="389" y="249"/>
                  </a:lnTo>
                  <a:lnTo>
                    <a:pt x="392" y="259"/>
                  </a:lnTo>
                  <a:lnTo>
                    <a:pt x="394" y="268"/>
                  </a:lnTo>
                  <a:lnTo>
                    <a:pt x="395" y="279"/>
                  </a:lnTo>
                  <a:lnTo>
                    <a:pt x="396" y="290"/>
                  </a:lnTo>
                  <a:lnTo>
                    <a:pt x="395" y="299"/>
                  </a:lnTo>
                  <a:lnTo>
                    <a:pt x="393" y="310"/>
                  </a:lnTo>
                  <a:lnTo>
                    <a:pt x="391" y="320"/>
                  </a:lnTo>
                  <a:lnTo>
                    <a:pt x="388" y="329"/>
                  </a:lnTo>
                  <a:lnTo>
                    <a:pt x="382" y="339"/>
                  </a:lnTo>
                  <a:lnTo>
                    <a:pt x="377" y="348"/>
                  </a:lnTo>
                  <a:lnTo>
                    <a:pt x="372" y="355"/>
                  </a:lnTo>
                  <a:lnTo>
                    <a:pt x="364" y="363"/>
                  </a:lnTo>
                  <a:lnTo>
                    <a:pt x="357" y="369"/>
                  </a:lnTo>
                  <a:lnTo>
                    <a:pt x="349" y="374"/>
                  </a:lnTo>
                  <a:lnTo>
                    <a:pt x="341" y="380"/>
                  </a:lnTo>
                  <a:lnTo>
                    <a:pt x="331" y="384"/>
                  </a:lnTo>
                  <a:lnTo>
                    <a:pt x="321" y="387"/>
                  </a:lnTo>
                  <a:lnTo>
                    <a:pt x="312" y="390"/>
                  </a:lnTo>
                  <a:lnTo>
                    <a:pt x="301" y="392"/>
                  </a:lnTo>
                  <a:lnTo>
                    <a:pt x="290" y="392"/>
                  </a:lnTo>
                  <a:lnTo>
                    <a:pt x="281" y="392"/>
                  </a:lnTo>
                  <a:lnTo>
                    <a:pt x="270" y="389"/>
                  </a:lnTo>
                  <a:lnTo>
                    <a:pt x="260" y="387"/>
                  </a:lnTo>
                  <a:lnTo>
                    <a:pt x="251" y="383"/>
                  </a:lnTo>
                  <a:lnTo>
                    <a:pt x="241" y="379"/>
                  </a:lnTo>
                  <a:lnTo>
                    <a:pt x="232" y="373"/>
                  </a:lnTo>
                  <a:lnTo>
                    <a:pt x="225" y="368"/>
                  </a:lnTo>
                  <a:lnTo>
                    <a:pt x="217" y="360"/>
                  </a:lnTo>
                  <a:lnTo>
                    <a:pt x="211" y="353"/>
                  </a:lnTo>
                  <a:lnTo>
                    <a:pt x="206" y="345"/>
                  </a:lnTo>
                  <a:lnTo>
                    <a:pt x="200" y="337"/>
                  </a:lnTo>
                  <a:lnTo>
                    <a:pt x="196" y="327"/>
                  </a:lnTo>
                  <a:lnTo>
                    <a:pt x="193" y="318"/>
                  </a:lnTo>
                  <a:lnTo>
                    <a:pt x="190" y="308"/>
                  </a:lnTo>
                  <a:lnTo>
                    <a:pt x="188" y="297"/>
                  </a:lnTo>
                  <a:lnTo>
                    <a:pt x="188" y="287"/>
                  </a:lnTo>
                  <a:lnTo>
                    <a:pt x="188" y="276"/>
                  </a:lnTo>
                  <a:lnTo>
                    <a:pt x="191" y="266"/>
                  </a:lnTo>
                  <a:lnTo>
                    <a:pt x="193" y="256"/>
                  </a:lnTo>
                  <a:lnTo>
                    <a:pt x="197" y="247"/>
                  </a:lnTo>
                  <a:lnTo>
                    <a:pt x="201" y="237"/>
                  </a:lnTo>
                  <a:lnTo>
                    <a:pt x="207" y="229"/>
                  </a:lnTo>
                  <a:lnTo>
                    <a:pt x="213" y="221"/>
                  </a:lnTo>
                  <a:lnTo>
                    <a:pt x="220" y="214"/>
                  </a:lnTo>
                  <a:lnTo>
                    <a:pt x="227" y="207"/>
                  </a:lnTo>
                  <a:lnTo>
                    <a:pt x="235" y="201"/>
                  </a:lnTo>
                  <a:lnTo>
                    <a:pt x="243" y="197"/>
                  </a:lnTo>
                  <a:lnTo>
                    <a:pt x="253" y="192"/>
                  </a:lnTo>
                  <a:lnTo>
                    <a:pt x="262" y="188"/>
                  </a:lnTo>
                  <a:lnTo>
                    <a:pt x="272" y="186"/>
                  </a:lnTo>
                  <a:lnTo>
                    <a:pt x="283" y="185"/>
                  </a:lnTo>
                  <a:lnTo>
                    <a:pt x="293" y="184"/>
                  </a:lnTo>
                  <a:close/>
                </a:path>
              </a:pathLst>
            </a:custGeom>
            <a:solidFill>
              <a:srgbClr val="265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36" name="TextBox 135"/>
            <p:cNvSpPr txBox="1"/>
            <p:nvPr/>
          </p:nvSpPr>
          <p:spPr>
            <a:xfrm>
              <a:off x="2173642" y="1608876"/>
              <a:ext cx="1205025" cy="584775"/>
            </a:xfrm>
            <a:prstGeom prst="rect">
              <a:avLst/>
            </a:prstGeom>
            <a:noFill/>
          </p:spPr>
          <p:txBody>
            <a:bodyPr wrap="none" rtlCol="0" anchor="ctr">
              <a:spAutoFit/>
            </a:bodyPr>
            <a:lstStyle/>
            <a:p>
              <a:r>
                <a:rPr lang="en-US" sz="1800" b="1" dirty="0">
                  <a:solidFill>
                    <a:prstClr val="white"/>
                  </a:solidFill>
                  <a:latin typeface="Calibri" panose="020F0502020204030204"/>
                </a:rPr>
                <a:t>Headquarters</a:t>
              </a:r>
            </a:p>
            <a:p>
              <a:r>
                <a:rPr lang="en-US" sz="1400" i="1" dirty="0">
                  <a:solidFill>
                    <a:prstClr val="white"/>
                  </a:solidFill>
                </a:rPr>
                <a:t>xx</a:t>
              </a:r>
            </a:p>
          </p:txBody>
        </p:sp>
        <p:sp>
          <p:nvSpPr>
            <p:cNvPr id="137" name="TextBox 136"/>
            <p:cNvSpPr txBox="1"/>
            <p:nvPr/>
          </p:nvSpPr>
          <p:spPr>
            <a:xfrm>
              <a:off x="2246667" y="2483281"/>
              <a:ext cx="461571" cy="584775"/>
            </a:xfrm>
            <a:prstGeom prst="rect">
              <a:avLst/>
            </a:prstGeom>
            <a:noFill/>
          </p:spPr>
          <p:txBody>
            <a:bodyPr wrap="none" rtlCol="0" anchor="ctr">
              <a:spAutoFit/>
            </a:bodyPr>
            <a:lstStyle/>
            <a:p>
              <a:r>
                <a:rPr lang="en-US" sz="1800" b="1" dirty="0">
                  <a:solidFill>
                    <a:prstClr val="white"/>
                  </a:solidFill>
                  <a:latin typeface="Calibri" panose="020F0502020204030204"/>
                </a:rPr>
                <a:t>CEO</a:t>
              </a:r>
            </a:p>
            <a:p>
              <a:r>
                <a:rPr lang="en-US" sz="1400" i="1" dirty="0">
                  <a:solidFill>
                    <a:prstClr val="white"/>
                  </a:solidFill>
                </a:rPr>
                <a:t>xx</a:t>
              </a:r>
            </a:p>
          </p:txBody>
        </p:sp>
        <p:sp>
          <p:nvSpPr>
            <p:cNvPr id="138" name="TextBox 137"/>
            <p:cNvSpPr txBox="1"/>
            <p:nvPr/>
          </p:nvSpPr>
          <p:spPr>
            <a:xfrm>
              <a:off x="2246668" y="3345294"/>
              <a:ext cx="1948998"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Annual Revenue (2022)</a:t>
              </a:r>
            </a:p>
            <a:p>
              <a:r>
                <a:rPr lang="en-US" sz="1400" i="1" dirty="0">
                  <a:solidFill>
                    <a:prstClr val="white"/>
                  </a:solidFill>
                  <a:latin typeface="Calibri" panose="020F0502020204030204"/>
                </a:rPr>
                <a:t>US$ </a:t>
              </a:r>
              <a:r>
                <a:rPr lang="en-US" sz="1400" i="1" dirty="0">
                  <a:solidFill>
                    <a:prstClr val="white"/>
                  </a:solidFill>
                </a:rPr>
                <a:t>xx </a:t>
              </a:r>
              <a:r>
                <a:rPr lang="en-US" sz="1400" i="1" dirty="0" err="1">
                  <a:solidFill>
                    <a:prstClr val="white"/>
                  </a:solidFill>
                  <a:latin typeface="Calibri" panose="020F0502020204030204"/>
                </a:rPr>
                <a:t>Mn</a:t>
              </a:r>
              <a:endParaRPr lang="en-US" sz="1400" i="1" dirty="0">
                <a:solidFill>
                  <a:prstClr val="white"/>
                </a:solidFill>
                <a:latin typeface="Calibri" panose="020F0502020204030204"/>
              </a:endParaRPr>
            </a:p>
          </p:txBody>
        </p:sp>
        <p:sp>
          <p:nvSpPr>
            <p:cNvPr id="139" name="TextBox 138"/>
            <p:cNvSpPr txBox="1"/>
            <p:nvPr/>
          </p:nvSpPr>
          <p:spPr>
            <a:xfrm>
              <a:off x="2246667" y="4204329"/>
              <a:ext cx="2401485"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Number of Employees (2022)</a:t>
              </a:r>
            </a:p>
            <a:p>
              <a:r>
                <a:rPr lang="en-US" sz="1400" i="1" dirty="0">
                  <a:solidFill>
                    <a:prstClr val="white"/>
                  </a:solidFill>
                  <a:latin typeface="Calibri" panose="020F0502020204030204"/>
                </a:rPr>
                <a:t> </a:t>
              </a:r>
              <a:r>
                <a:rPr lang="en-US" sz="1400" i="1" dirty="0">
                  <a:solidFill>
                    <a:prstClr val="white"/>
                  </a:solidFill>
                </a:rPr>
                <a:t>~xx</a:t>
              </a:r>
              <a:endParaRPr lang="en-US" sz="1400" i="1" dirty="0">
                <a:solidFill>
                  <a:prstClr val="white"/>
                </a:solidFill>
                <a:latin typeface="Calibri" panose="020F0502020204030204"/>
              </a:endParaRPr>
            </a:p>
          </p:txBody>
        </p:sp>
        <p:sp>
          <p:nvSpPr>
            <p:cNvPr id="140" name="TextBox 139"/>
            <p:cNvSpPr txBox="1"/>
            <p:nvPr/>
          </p:nvSpPr>
          <p:spPr>
            <a:xfrm>
              <a:off x="2246668" y="5061976"/>
              <a:ext cx="1550593" cy="584775"/>
            </a:xfrm>
            <a:prstGeom prst="rect">
              <a:avLst/>
            </a:prstGeom>
            <a:solidFill>
              <a:srgbClr val="26527E"/>
            </a:solidFill>
          </p:spPr>
          <p:txBody>
            <a:bodyPr wrap="none" rtlCol="0" anchor="ctr">
              <a:spAutoFit/>
            </a:bodyPr>
            <a:lstStyle/>
            <a:p>
              <a:r>
                <a:rPr lang="en-US" sz="1800" b="1" dirty="0">
                  <a:solidFill>
                    <a:prstClr val="white"/>
                  </a:solidFill>
                  <a:latin typeface="Calibri" panose="020F0502020204030204"/>
                </a:rPr>
                <a:t>Company Website</a:t>
              </a:r>
            </a:p>
            <a:p>
              <a:r>
                <a:rPr lang="en-US" sz="1400" i="1" dirty="0">
                  <a:solidFill>
                    <a:prstClr val="white"/>
                  </a:solidFill>
                </a:rPr>
                <a:t>xx</a:t>
              </a:r>
            </a:p>
          </p:txBody>
        </p:sp>
        <p:sp>
          <p:nvSpPr>
            <p:cNvPr id="141" name="Isosceles Triangle 140"/>
            <p:cNvSpPr/>
            <p:nvPr/>
          </p:nvSpPr>
          <p:spPr>
            <a:xfrm rot="5400000">
              <a:off x="4732345" y="5240606"/>
              <a:ext cx="548640" cy="23045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grpSp>
      <p:sp>
        <p:nvSpPr>
          <p:cNvPr id="60" name="TextBox 59"/>
          <p:cNvSpPr txBox="1"/>
          <p:nvPr/>
        </p:nvSpPr>
        <p:spPr>
          <a:xfrm>
            <a:off x="229798" y="6205752"/>
            <a:ext cx="4009111" cy="153888"/>
          </a:xfrm>
          <a:prstGeom prst="rect">
            <a:avLst/>
          </a:prstGeom>
          <a:noFill/>
        </p:spPr>
        <p:txBody>
          <a:bodyPr wrap="none" lIns="0" tIns="0" rIns="0" bIns="0" rtlCol="0">
            <a:spAutoFit/>
          </a:bodyPr>
          <a:lstStyle/>
          <a:p>
            <a:pPr defTabSz="966537"/>
            <a:r>
              <a:rPr lang="en-US" sz="1000" dirty="0"/>
              <a:t>Source: TMR Analysis, 2024, </a:t>
            </a:r>
            <a:r>
              <a:rPr lang="en-US" sz="1000" kern="0" dirty="0">
                <a:solidFill>
                  <a:prstClr val="black"/>
                </a:solidFill>
              </a:rPr>
              <a:t>Annual Reports, Company Website, Morningstar</a:t>
            </a:r>
          </a:p>
        </p:txBody>
      </p:sp>
      <p:pic>
        <p:nvPicPr>
          <p:cNvPr id="7" name="Picture 6"/>
          <p:cNvPicPr>
            <a:picLocks noChangeAspect="1"/>
          </p:cNvPicPr>
          <p:nvPr/>
        </p:nvPicPr>
        <p:blipFill>
          <a:blip r:embed="rId2">
            <a:extLst>
              <a:ext uri="{BEBA8EAE-BF5A-486C-A8C5-ECC9F3942E4B}">
                <a14:imgProps xmlns:a14="http://schemas.microsoft.com/office/drawing/2010/main">
                  <a14:imgLayer r:embed="rId3">
                    <a14:imgEffect>
                      <a14:artisticBlur/>
                    </a14:imgEffect>
                  </a14:imgLayer>
                </a14:imgProps>
              </a:ext>
            </a:extLst>
          </a:blip>
          <a:stretch>
            <a:fillRect/>
          </a:stretch>
        </p:blipFill>
        <p:spPr>
          <a:xfrm>
            <a:off x="5406750" y="3957444"/>
            <a:ext cx="6389162" cy="2237426"/>
          </a:xfrm>
          <a:prstGeom prst="rect">
            <a:avLst/>
          </a:prstGeom>
        </p:spPr>
      </p:pic>
      <p:pic>
        <p:nvPicPr>
          <p:cNvPr id="8" name="Picture 7"/>
          <p:cNvPicPr>
            <a:picLocks noChangeAspect="1"/>
          </p:cNvPicPr>
          <p:nvPr/>
        </p:nvPicPr>
        <p:blipFill>
          <a:blip r:embed="rId4">
            <a:extLst>
              <a:ext uri="{BEBA8EAE-BF5A-486C-A8C5-ECC9F3942E4B}">
                <a14:imgProps xmlns:a14="http://schemas.microsoft.com/office/drawing/2010/main">
                  <a14:imgLayer r:embed="rId5">
                    <a14:imgEffect>
                      <a14:artisticBlur/>
                    </a14:imgEffect>
                  </a14:imgLayer>
                </a14:imgProps>
              </a:ext>
            </a:extLst>
          </a:blip>
          <a:stretch>
            <a:fillRect/>
          </a:stretch>
        </p:blipFill>
        <p:spPr>
          <a:xfrm>
            <a:off x="5406750" y="1601228"/>
            <a:ext cx="6383065" cy="1883827"/>
          </a:xfrm>
          <a:prstGeom prst="rect">
            <a:avLst/>
          </a:prstGeom>
        </p:spPr>
      </p:pic>
      <p:sp>
        <p:nvSpPr>
          <p:cNvPr id="4" name="Slide Number Placeholder 3"/>
          <p:cNvSpPr>
            <a:spLocks noGrp="1"/>
          </p:cNvSpPr>
          <p:nvPr>
            <p:ph type="sldNum" sz="quarter" idx="4"/>
          </p:nvPr>
        </p:nvSpPr>
        <p:spPr/>
        <p:txBody>
          <a:bodyPr/>
          <a:lstStyle/>
          <a:p>
            <a:fld id="{4B17068C-EB94-40A3-A5F2-664CDD77FDAC}" type="slidenum">
              <a:rPr lang="en-GB" smtClean="0"/>
              <a:pPr/>
              <a:t>283</a:t>
            </a:fld>
            <a:endParaRPr lang="en-GB" dirty="0"/>
          </a:p>
        </p:txBody>
      </p:sp>
    </p:spTree>
    <p:extLst>
      <p:ext uri="{BB962C8B-B14F-4D97-AF65-F5344CB8AC3E}">
        <p14:creationId xmlns:p14="http://schemas.microsoft.com/office/powerpoint/2010/main" val="3433540891"/>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23</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23</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Assumption &amp; Acronyms Used</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284</a:t>
            </a:r>
          </a:p>
        </p:txBody>
      </p:sp>
    </p:spTree>
    <p:extLst>
      <p:ext uri="{BB962C8B-B14F-4D97-AF65-F5344CB8AC3E}">
        <p14:creationId xmlns:p14="http://schemas.microsoft.com/office/powerpoint/2010/main" val="1298045424"/>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a:t>Assumptions &amp; Acronyms Used</a:t>
            </a:r>
          </a:p>
        </p:txBody>
      </p:sp>
      <p:sp>
        <p:nvSpPr>
          <p:cNvPr id="10" name="Text Placeholder 9"/>
          <p:cNvSpPr>
            <a:spLocks noGrp="1"/>
          </p:cNvSpPr>
          <p:nvPr>
            <p:ph type="body" idx="12"/>
          </p:nvPr>
        </p:nvSpPr>
        <p:spPr/>
        <p:txBody>
          <a:bodyPr/>
          <a:lstStyle/>
          <a:p>
            <a:r>
              <a:rPr lang="en-GB" dirty="0"/>
              <a:t>Assumptions</a:t>
            </a:r>
          </a:p>
        </p:txBody>
      </p:sp>
      <p:sp>
        <p:nvSpPr>
          <p:cNvPr id="12" name="Text Placeholder 11"/>
          <p:cNvSpPr>
            <a:spLocks noGrp="1"/>
          </p:cNvSpPr>
          <p:nvPr>
            <p:ph type="body" idx="14"/>
          </p:nvPr>
        </p:nvSpPr>
        <p:spPr/>
        <p:txBody>
          <a:bodyPr/>
          <a:lstStyle/>
          <a:p>
            <a:r>
              <a:rPr lang="en-GB" dirty="0"/>
              <a:t>Acronyms</a:t>
            </a:r>
          </a:p>
        </p:txBody>
      </p:sp>
      <p:sp>
        <p:nvSpPr>
          <p:cNvPr id="13" name="Content Placeholder 5"/>
          <p:cNvSpPr>
            <a:spLocks noGrp="1"/>
          </p:cNvSpPr>
          <p:nvPr>
            <p:ph idx="1"/>
          </p:nvPr>
        </p:nvSpPr>
        <p:spPr/>
        <p:txBody>
          <a:bodyPr/>
          <a:lstStyle/>
          <a:p>
            <a:pPr>
              <a:spcBef>
                <a:spcPts val="600"/>
              </a:spcBef>
              <a:spcAft>
                <a:spcPts val="600"/>
              </a:spcAft>
            </a:pPr>
            <a:r>
              <a:rPr lang="en-GB" sz="1100" b="1" dirty="0"/>
              <a:t>Market &amp; Forecast : </a:t>
            </a:r>
          </a:p>
          <a:p>
            <a:pPr lvl="1">
              <a:spcBef>
                <a:spcPts val="300"/>
              </a:spcBef>
              <a:spcAft>
                <a:spcPts val="300"/>
              </a:spcAft>
            </a:pPr>
            <a:r>
              <a:rPr lang="en-GB" dirty="0"/>
              <a:t>Report focusses on highlighting consumption of </a:t>
            </a:r>
            <a:r>
              <a:rPr lang="en-US" dirty="0"/>
              <a:t>WXYZ</a:t>
            </a:r>
            <a:r>
              <a:rPr lang="en-GB" dirty="0"/>
              <a:t> across the globe</a:t>
            </a:r>
          </a:p>
          <a:p>
            <a:pPr lvl="1">
              <a:spcBef>
                <a:spcPts val="300"/>
              </a:spcBef>
              <a:spcAft>
                <a:spcPts val="300"/>
              </a:spcAft>
            </a:pPr>
            <a:r>
              <a:rPr lang="en-GB" dirty="0"/>
              <a:t>Weighted Average Selling Price (ASP) has been considered to deduce market values</a:t>
            </a:r>
          </a:p>
          <a:p>
            <a:pPr lvl="1">
              <a:spcBef>
                <a:spcPts val="300"/>
              </a:spcBef>
              <a:spcAft>
                <a:spcPts val="300"/>
              </a:spcAft>
            </a:pPr>
            <a:r>
              <a:rPr lang="en-GB" dirty="0"/>
              <a:t>Top-down approach has been used to assess market numbers for each product category</a:t>
            </a:r>
          </a:p>
          <a:p>
            <a:pPr lvl="1">
              <a:spcBef>
                <a:spcPts val="300"/>
              </a:spcBef>
              <a:spcAft>
                <a:spcPts val="300"/>
              </a:spcAft>
            </a:pPr>
            <a:r>
              <a:rPr lang="en-GB" dirty="0"/>
              <a:t>Bottom-up approach has been used to counter validate the market estimations</a:t>
            </a:r>
          </a:p>
          <a:p>
            <a:pPr lvl="1">
              <a:spcBef>
                <a:spcPts val="300"/>
              </a:spcBef>
              <a:spcAft>
                <a:spcPts val="300"/>
              </a:spcAft>
            </a:pPr>
            <a:r>
              <a:rPr lang="en-GB" dirty="0"/>
              <a:t>Macro-economic indicators such as GDP, industrial production index have been considered while forecasting market numbers</a:t>
            </a:r>
          </a:p>
          <a:p>
            <a:pPr lvl="1">
              <a:spcBef>
                <a:spcPts val="300"/>
              </a:spcBef>
              <a:spcAft>
                <a:spcPts val="300"/>
              </a:spcAft>
            </a:pPr>
            <a:r>
              <a:rPr lang="en-GB" dirty="0"/>
              <a:t>All values for market size are in US$ (US Dollar) and volume is in (KT)</a:t>
            </a:r>
          </a:p>
          <a:p>
            <a:pPr>
              <a:spcBef>
                <a:spcPts val="600"/>
              </a:spcBef>
              <a:spcAft>
                <a:spcPts val="600"/>
              </a:spcAft>
            </a:pPr>
            <a:r>
              <a:rPr lang="en-GB" sz="1100" b="1" dirty="0"/>
              <a:t>Currency : All the indicated denominations are in US$ (US Dollar)</a:t>
            </a:r>
          </a:p>
          <a:p>
            <a:pPr>
              <a:spcBef>
                <a:spcPts val="600"/>
              </a:spcBef>
              <a:spcAft>
                <a:spcPts val="600"/>
              </a:spcAft>
            </a:pPr>
            <a:r>
              <a:rPr lang="en-GB" sz="1100" b="1" dirty="0"/>
              <a:t>Source : </a:t>
            </a:r>
          </a:p>
          <a:p>
            <a:pPr lvl="1">
              <a:spcBef>
                <a:spcPts val="300"/>
              </a:spcBef>
              <a:spcAft>
                <a:spcPts val="300"/>
              </a:spcAft>
            </a:pPr>
            <a:r>
              <a:rPr lang="en-GB" dirty="0"/>
              <a:t>World Bank, IMF, AIGA, IEA, EIGA,, IPCC, EPA, </a:t>
            </a:r>
            <a:r>
              <a:rPr lang="en-US" dirty="0"/>
              <a:t>BP Statistical Review of World Energy</a:t>
            </a:r>
            <a:endParaRPr lang="en-GB" dirty="0"/>
          </a:p>
          <a:p>
            <a:pPr lvl="1">
              <a:spcBef>
                <a:spcPts val="300"/>
              </a:spcBef>
              <a:spcAft>
                <a:spcPts val="300"/>
              </a:spcAft>
            </a:pPr>
            <a:r>
              <a:rPr lang="en-GB" dirty="0"/>
              <a:t>Company Annual Report, Investor Presentation &amp; Financial Reports</a:t>
            </a:r>
          </a:p>
          <a:p>
            <a:pPr lvl="1">
              <a:spcBef>
                <a:spcPts val="300"/>
              </a:spcBef>
              <a:spcAft>
                <a:spcPts val="300"/>
              </a:spcAft>
            </a:pPr>
            <a:r>
              <a:rPr lang="en-US" dirty="0"/>
              <a:t>Industry Magazines and </a:t>
            </a:r>
            <a:r>
              <a:rPr lang="en-GB" dirty="0"/>
              <a:t>Industry Associations Publications</a:t>
            </a:r>
          </a:p>
          <a:p>
            <a:pPr>
              <a:lnSpc>
                <a:spcPct val="100000"/>
              </a:lnSpc>
            </a:pPr>
            <a:endParaRPr lang="en-US" sz="1100" dirty="0"/>
          </a:p>
        </p:txBody>
      </p:sp>
      <p:sp>
        <p:nvSpPr>
          <p:cNvPr id="11" name="TextBox 10"/>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graphicFrame>
        <p:nvGraphicFramePr>
          <p:cNvPr id="15" name="Content Placeholder 8"/>
          <p:cNvGraphicFramePr>
            <a:graphicFrameLocks noGrp="1"/>
          </p:cNvGraphicFramePr>
          <p:nvPr>
            <p:ph idx="13"/>
            <p:extLst>
              <p:ext uri="{D42A27DB-BD31-4B8C-83A1-F6EECF244321}">
                <p14:modId xmlns:p14="http://schemas.microsoft.com/office/powerpoint/2010/main" val="835705485"/>
              </p:ext>
            </p:extLst>
          </p:nvPr>
        </p:nvGraphicFramePr>
        <p:xfrm>
          <a:off x="6248401" y="1749673"/>
          <a:ext cx="5791184" cy="4456075"/>
        </p:xfrm>
        <a:graphic>
          <a:graphicData uri="http://schemas.openxmlformats.org/drawingml/2006/table">
            <a:tbl>
              <a:tblPr bandRow="1">
                <a:tableStyleId>{3B4B98B0-60AC-42C2-AFA5-B58CD77FA1E5}</a:tableStyleId>
              </a:tblPr>
              <a:tblGrid>
                <a:gridCol w="1571253">
                  <a:extLst>
                    <a:ext uri="{9D8B030D-6E8A-4147-A177-3AD203B41FA5}">
                      <a16:colId xmlns:a16="http://schemas.microsoft.com/office/drawing/2014/main" val="20000"/>
                    </a:ext>
                  </a:extLst>
                </a:gridCol>
                <a:gridCol w="4219931">
                  <a:extLst>
                    <a:ext uri="{9D8B030D-6E8A-4147-A177-3AD203B41FA5}">
                      <a16:colId xmlns:a16="http://schemas.microsoft.com/office/drawing/2014/main" val="20001"/>
                    </a:ext>
                  </a:extLst>
                </a:gridCol>
              </a:tblGrid>
              <a:tr h="342775">
                <a:tc>
                  <a:txBody>
                    <a:bodyPr/>
                    <a:lstStyle/>
                    <a:p>
                      <a:r>
                        <a:rPr lang="en-US" sz="1200" b="1" dirty="0"/>
                        <a:t>CAGR</a:t>
                      </a:r>
                      <a:endParaRPr lang="en-US" sz="1200" b="1" dirty="0">
                        <a:solidFill>
                          <a:srgbClr val="002060"/>
                        </a:solidFill>
                      </a:endParaRPr>
                    </a:p>
                  </a:txBody>
                  <a:tcPr anchor="ctr"/>
                </a:tc>
                <a:tc>
                  <a:txBody>
                    <a:bodyPr/>
                    <a:lstStyle/>
                    <a:p>
                      <a:r>
                        <a:rPr lang="en-US" sz="1100" dirty="0"/>
                        <a:t>Compound Annual Growth Rate</a:t>
                      </a:r>
                      <a:endParaRPr lang="en-US" sz="1100" dirty="0">
                        <a:solidFill>
                          <a:srgbClr val="002060"/>
                        </a:solidFill>
                      </a:endParaRPr>
                    </a:p>
                  </a:txBody>
                  <a:tcPr anchor="ctr"/>
                </a:tc>
                <a:extLst>
                  <a:ext uri="{0D108BD9-81ED-4DB2-BD59-A6C34878D82A}">
                    <a16:rowId xmlns:a16="http://schemas.microsoft.com/office/drawing/2014/main" val="10000"/>
                  </a:ext>
                </a:extLst>
              </a:tr>
              <a:tr h="342775">
                <a:tc>
                  <a:txBody>
                    <a:bodyPr/>
                    <a:lstStyle/>
                    <a:p>
                      <a:r>
                        <a:rPr lang="en-US" sz="1200" b="1" dirty="0"/>
                        <a:t>Y-o-Y</a:t>
                      </a:r>
                      <a:endParaRPr lang="en-US" sz="1200" b="1" dirty="0">
                        <a:solidFill>
                          <a:srgbClr val="002060"/>
                        </a:solidFill>
                      </a:endParaRPr>
                    </a:p>
                  </a:txBody>
                  <a:tcPr anchor="ctr"/>
                </a:tc>
                <a:tc>
                  <a:txBody>
                    <a:bodyPr/>
                    <a:lstStyle/>
                    <a:p>
                      <a:r>
                        <a:rPr lang="en-US" sz="1100" dirty="0"/>
                        <a:t>Year-on-Year</a:t>
                      </a:r>
                      <a:endParaRPr lang="en-US" sz="1100" dirty="0">
                        <a:solidFill>
                          <a:srgbClr val="002060"/>
                        </a:solidFill>
                      </a:endParaRPr>
                    </a:p>
                  </a:txBody>
                  <a:tcPr anchor="ctr"/>
                </a:tc>
                <a:extLst>
                  <a:ext uri="{0D108BD9-81ED-4DB2-BD59-A6C34878D82A}">
                    <a16:rowId xmlns:a16="http://schemas.microsoft.com/office/drawing/2014/main" val="10001"/>
                  </a:ext>
                </a:extLst>
              </a:tr>
              <a:tr h="342775">
                <a:tc>
                  <a:txBody>
                    <a:bodyPr/>
                    <a:lstStyle/>
                    <a:p>
                      <a:r>
                        <a:rPr lang="en-US" sz="1200" b="1" dirty="0"/>
                        <a:t>BPS</a:t>
                      </a:r>
                      <a:endParaRPr lang="en-US" sz="1200" b="1" dirty="0">
                        <a:solidFill>
                          <a:srgbClr val="002060"/>
                        </a:solidFill>
                      </a:endParaRPr>
                    </a:p>
                  </a:txBody>
                  <a:tcPr anchor="ctr"/>
                </a:tc>
                <a:tc>
                  <a:txBody>
                    <a:bodyPr/>
                    <a:lstStyle/>
                    <a:p>
                      <a:r>
                        <a:rPr lang="en-US" sz="1100" dirty="0"/>
                        <a:t>Basis Points Share</a:t>
                      </a:r>
                      <a:endParaRPr lang="en-US" sz="1100" dirty="0">
                        <a:solidFill>
                          <a:srgbClr val="002060"/>
                        </a:solidFill>
                      </a:endParaRPr>
                    </a:p>
                  </a:txBody>
                  <a:tcPr anchor="ctr"/>
                </a:tc>
                <a:extLst>
                  <a:ext uri="{0D108BD9-81ED-4DB2-BD59-A6C34878D82A}">
                    <a16:rowId xmlns:a16="http://schemas.microsoft.com/office/drawing/2014/main" val="10002"/>
                  </a:ext>
                </a:extLst>
              </a:tr>
              <a:tr h="342775">
                <a:tc>
                  <a:txBody>
                    <a:bodyPr/>
                    <a:lstStyle/>
                    <a:p>
                      <a:r>
                        <a:rPr lang="en-US" sz="1200" b="1" dirty="0"/>
                        <a:t>KT</a:t>
                      </a:r>
                      <a:endParaRPr lang="en-US" sz="1200" b="1" dirty="0">
                        <a:solidFill>
                          <a:srgbClr val="002060"/>
                        </a:solidFill>
                      </a:endParaRPr>
                    </a:p>
                  </a:txBody>
                  <a:tcPr anchor="ctr"/>
                </a:tc>
                <a:tc>
                  <a:txBody>
                    <a:bodyPr/>
                    <a:lstStyle/>
                    <a:p>
                      <a:r>
                        <a:rPr lang="en-US" sz="1100" dirty="0"/>
                        <a:t>Kilo Tons</a:t>
                      </a:r>
                      <a:endParaRPr lang="en-US" sz="1100" dirty="0">
                        <a:solidFill>
                          <a:srgbClr val="002060"/>
                        </a:solidFill>
                      </a:endParaRPr>
                    </a:p>
                  </a:txBody>
                  <a:tcPr anchor="ctr"/>
                </a:tc>
                <a:extLst>
                  <a:ext uri="{0D108BD9-81ED-4DB2-BD59-A6C34878D82A}">
                    <a16:rowId xmlns:a16="http://schemas.microsoft.com/office/drawing/2014/main" val="10003"/>
                  </a:ext>
                </a:extLst>
              </a:tr>
              <a:tr h="342775">
                <a:tc>
                  <a:txBody>
                    <a:bodyPr/>
                    <a:lstStyle/>
                    <a:p>
                      <a:r>
                        <a:rPr lang="en-IN" sz="1200" b="1" dirty="0" err="1"/>
                        <a:t>Mn</a:t>
                      </a:r>
                      <a:endParaRPr lang="en-US" sz="1200" b="1" dirty="0">
                        <a:solidFill>
                          <a:schemeClr val="tx1"/>
                        </a:solidFill>
                      </a:endParaRPr>
                    </a:p>
                  </a:txBody>
                  <a:tcPr anchor="ctr"/>
                </a:tc>
                <a:tc>
                  <a:txBody>
                    <a:bodyPr/>
                    <a:lstStyle/>
                    <a:p>
                      <a:r>
                        <a:rPr lang="en-IN" sz="1100" dirty="0"/>
                        <a:t>Million</a:t>
                      </a:r>
                      <a:endParaRPr lang="en-US" sz="1100" dirty="0">
                        <a:solidFill>
                          <a:schemeClr val="tx1"/>
                        </a:solidFill>
                      </a:endParaRPr>
                    </a:p>
                  </a:txBody>
                  <a:tcPr anchor="ctr"/>
                </a:tc>
                <a:extLst>
                  <a:ext uri="{0D108BD9-81ED-4DB2-BD59-A6C34878D82A}">
                    <a16:rowId xmlns:a16="http://schemas.microsoft.com/office/drawing/2014/main" val="10005"/>
                  </a:ext>
                </a:extLst>
              </a:tr>
              <a:tr h="342775">
                <a:tc>
                  <a:txBody>
                    <a:bodyPr/>
                    <a:lstStyle/>
                    <a:p>
                      <a:r>
                        <a:rPr lang="en-IN" sz="1200" b="1" dirty="0" err="1"/>
                        <a:t>Bn</a:t>
                      </a:r>
                      <a:endParaRPr lang="en-US" sz="1200" b="1" dirty="0">
                        <a:solidFill>
                          <a:schemeClr val="tx1"/>
                        </a:solidFill>
                      </a:endParaRPr>
                    </a:p>
                  </a:txBody>
                  <a:tcPr anchor="ctr"/>
                </a:tc>
                <a:tc>
                  <a:txBody>
                    <a:bodyPr/>
                    <a:lstStyle/>
                    <a:p>
                      <a:r>
                        <a:rPr lang="en-IN" sz="1100" dirty="0"/>
                        <a:t>Billion</a:t>
                      </a:r>
                      <a:endParaRPr lang="en-US" sz="1100" dirty="0">
                        <a:solidFill>
                          <a:schemeClr val="tx1"/>
                        </a:solidFill>
                      </a:endParaRPr>
                    </a:p>
                  </a:txBody>
                  <a:tcPr anchor="ctr"/>
                </a:tc>
                <a:extLst>
                  <a:ext uri="{0D108BD9-81ED-4DB2-BD59-A6C34878D82A}">
                    <a16:rowId xmlns:a16="http://schemas.microsoft.com/office/drawing/2014/main" val="3230824185"/>
                  </a:ext>
                </a:extLst>
              </a:tr>
              <a:tr h="342775">
                <a:tc>
                  <a:txBody>
                    <a:bodyPr/>
                    <a:lstStyle/>
                    <a:p>
                      <a:r>
                        <a:rPr lang="en-US" sz="1200" b="1" dirty="0"/>
                        <a:t>U.K.</a:t>
                      </a:r>
                      <a:endParaRPr lang="en-US" sz="1200" b="1" dirty="0">
                        <a:solidFill>
                          <a:srgbClr val="002060"/>
                        </a:solidFill>
                      </a:endParaRPr>
                    </a:p>
                  </a:txBody>
                  <a:tcPr anchor="ctr"/>
                </a:tc>
                <a:tc>
                  <a:txBody>
                    <a:bodyPr/>
                    <a:lstStyle/>
                    <a:p>
                      <a:r>
                        <a:rPr lang="en-IN" sz="1100" dirty="0"/>
                        <a:t>United</a:t>
                      </a:r>
                      <a:r>
                        <a:rPr lang="en-IN" sz="1100" baseline="0" dirty="0"/>
                        <a:t> Kingdom</a:t>
                      </a:r>
                      <a:endParaRPr lang="en-US" sz="1100" dirty="0">
                        <a:solidFill>
                          <a:srgbClr val="002060"/>
                        </a:solidFill>
                      </a:endParaRPr>
                    </a:p>
                  </a:txBody>
                  <a:tcPr anchor="ctr"/>
                </a:tc>
                <a:extLst>
                  <a:ext uri="{0D108BD9-81ED-4DB2-BD59-A6C34878D82A}">
                    <a16:rowId xmlns:a16="http://schemas.microsoft.com/office/drawing/2014/main" val="10006"/>
                  </a:ext>
                </a:extLst>
              </a:tr>
              <a:tr h="342775">
                <a:tc>
                  <a:txBody>
                    <a:bodyPr/>
                    <a:lstStyle/>
                    <a:p>
                      <a:pPr marL="0" algn="l" defTabSz="914400" rtl="0" eaLnBrk="1" latinLnBrk="0" hangingPunct="1"/>
                      <a:r>
                        <a:rPr lang="en-US" sz="1200" b="1" kern="1200" dirty="0"/>
                        <a:t>SAP</a:t>
                      </a:r>
                      <a:endParaRPr lang="en-US" sz="1200" b="1" kern="1200" dirty="0">
                        <a:solidFill>
                          <a:schemeClr val="dk1"/>
                        </a:solidFill>
                        <a:latin typeface="+mn-lt"/>
                        <a:ea typeface="+mn-ea"/>
                        <a:cs typeface="+mn-cs"/>
                      </a:endParaRPr>
                    </a:p>
                  </a:txBody>
                  <a:tcPr anchor="ctr"/>
                </a:tc>
                <a:tc>
                  <a:txBody>
                    <a:bodyPr/>
                    <a:lstStyle/>
                    <a:p>
                      <a:pPr marL="0" algn="l" defTabSz="914400" rtl="0" eaLnBrk="1" latinLnBrk="0" hangingPunct="1"/>
                      <a:r>
                        <a:rPr lang="en-US" sz="1100" kern="1200" dirty="0"/>
                        <a:t>South Asia Pacific</a:t>
                      </a:r>
                      <a:endParaRPr lang="en-US" sz="1100" kern="1200" dirty="0">
                        <a:solidFill>
                          <a:schemeClr val="dk1"/>
                        </a:solidFill>
                        <a:latin typeface="+mn-lt"/>
                        <a:ea typeface="+mn-ea"/>
                        <a:cs typeface="+mn-cs"/>
                      </a:endParaRPr>
                    </a:p>
                  </a:txBody>
                  <a:tcPr anchor="ctr"/>
                </a:tc>
                <a:extLst>
                  <a:ext uri="{0D108BD9-81ED-4DB2-BD59-A6C34878D82A}">
                    <a16:rowId xmlns:a16="http://schemas.microsoft.com/office/drawing/2014/main" val="10007"/>
                  </a:ext>
                </a:extLst>
              </a:tr>
              <a:tr h="342775">
                <a:tc>
                  <a:txBody>
                    <a:bodyPr/>
                    <a:lstStyle/>
                    <a:p>
                      <a:r>
                        <a:rPr lang="en-US" sz="1200" b="1" dirty="0"/>
                        <a:t>U.S.</a:t>
                      </a:r>
                      <a:endParaRPr lang="en-US" sz="1200" b="1" dirty="0">
                        <a:solidFill>
                          <a:srgbClr val="002060"/>
                        </a:solidFill>
                      </a:endParaRPr>
                    </a:p>
                  </a:txBody>
                  <a:tcPr anchor="ctr"/>
                </a:tc>
                <a:tc>
                  <a:txBody>
                    <a:bodyPr/>
                    <a:lstStyle/>
                    <a:p>
                      <a:r>
                        <a:rPr lang="en-US" sz="1100" dirty="0"/>
                        <a:t>The United States</a:t>
                      </a:r>
                      <a:endParaRPr lang="en-US" sz="1100" dirty="0">
                        <a:solidFill>
                          <a:srgbClr val="002060"/>
                        </a:solidFill>
                      </a:endParaRPr>
                    </a:p>
                  </a:txBody>
                  <a:tcPr anchor="ctr"/>
                </a:tc>
                <a:extLst>
                  <a:ext uri="{0D108BD9-81ED-4DB2-BD59-A6C34878D82A}">
                    <a16:rowId xmlns:a16="http://schemas.microsoft.com/office/drawing/2014/main" val="10008"/>
                  </a:ext>
                </a:extLst>
              </a:tr>
              <a:tr h="342775">
                <a:tc>
                  <a:txBody>
                    <a:bodyPr/>
                    <a:lstStyle/>
                    <a:p>
                      <a:pPr marL="0" algn="l" defTabSz="914400" rtl="0" eaLnBrk="1" latinLnBrk="0" hangingPunct="1"/>
                      <a:r>
                        <a:rPr lang="en-US" sz="1200" b="1" kern="1200" dirty="0"/>
                        <a:t>NA</a:t>
                      </a:r>
                      <a:endParaRPr lang="en-US" sz="1200" b="1" kern="1200" dirty="0">
                        <a:solidFill>
                          <a:schemeClr val="dk1"/>
                        </a:solidFill>
                        <a:latin typeface="+mn-lt"/>
                        <a:ea typeface="+mn-ea"/>
                        <a:cs typeface="+mn-cs"/>
                      </a:endParaRPr>
                    </a:p>
                  </a:txBody>
                  <a:tcPr anchor="ctr"/>
                </a:tc>
                <a:tc>
                  <a:txBody>
                    <a:bodyPr/>
                    <a:lstStyle/>
                    <a:p>
                      <a:pPr marL="0" algn="l" defTabSz="914400" rtl="0" eaLnBrk="1" latinLnBrk="0" hangingPunct="1"/>
                      <a:r>
                        <a:rPr lang="en-US" sz="1100" kern="1200" dirty="0"/>
                        <a:t>North America</a:t>
                      </a:r>
                      <a:endParaRPr lang="en-US" sz="1100" kern="1200" dirty="0">
                        <a:solidFill>
                          <a:schemeClr val="dk1"/>
                        </a:solidFill>
                        <a:latin typeface="+mn-lt"/>
                        <a:ea typeface="+mn-ea"/>
                        <a:cs typeface="+mn-cs"/>
                      </a:endParaRPr>
                    </a:p>
                  </a:txBody>
                  <a:tcPr anchor="ctr"/>
                </a:tc>
                <a:extLst>
                  <a:ext uri="{0D108BD9-81ED-4DB2-BD59-A6C34878D82A}">
                    <a16:rowId xmlns:a16="http://schemas.microsoft.com/office/drawing/2014/main" val="10009"/>
                  </a:ext>
                </a:extLst>
              </a:tr>
              <a:tr h="342775">
                <a:tc>
                  <a:txBody>
                    <a:bodyPr/>
                    <a:lstStyle/>
                    <a:p>
                      <a:pPr marL="0" algn="l" defTabSz="914400" rtl="0" eaLnBrk="1" latinLnBrk="0" hangingPunct="1"/>
                      <a:r>
                        <a:rPr lang="en-US" sz="1200" b="1" kern="1200" dirty="0"/>
                        <a:t>KTPA</a:t>
                      </a:r>
                      <a:endParaRPr lang="en-US" sz="1200" b="1" kern="1200" dirty="0">
                        <a:solidFill>
                          <a:schemeClr val="dk1"/>
                        </a:solidFill>
                        <a:latin typeface="+mn-lt"/>
                        <a:ea typeface="+mn-ea"/>
                        <a:cs typeface="+mn-cs"/>
                      </a:endParaRPr>
                    </a:p>
                  </a:txBody>
                  <a:tcPr anchor="ctr"/>
                </a:tc>
                <a:tc>
                  <a:txBody>
                    <a:bodyPr/>
                    <a:lstStyle/>
                    <a:p>
                      <a:pPr marL="0" algn="l" defTabSz="914400" rtl="0" eaLnBrk="1" latinLnBrk="0" hangingPunct="1"/>
                      <a:r>
                        <a:rPr lang="en-US" sz="1100" kern="1200" dirty="0"/>
                        <a:t>Kilo</a:t>
                      </a:r>
                      <a:r>
                        <a:rPr lang="en-US" sz="1100" kern="1200" baseline="0" dirty="0"/>
                        <a:t> Tons Per Annum</a:t>
                      </a:r>
                      <a:endParaRPr lang="en-US" sz="1100" kern="1200" dirty="0">
                        <a:solidFill>
                          <a:schemeClr val="dk1"/>
                        </a:solidFill>
                        <a:latin typeface="+mn-lt"/>
                        <a:ea typeface="+mn-ea"/>
                        <a:cs typeface="+mn-cs"/>
                      </a:endParaRPr>
                    </a:p>
                  </a:txBody>
                  <a:tcPr anchor="ctr"/>
                </a:tc>
                <a:extLst>
                  <a:ext uri="{0D108BD9-81ED-4DB2-BD59-A6C34878D82A}">
                    <a16:rowId xmlns:a16="http://schemas.microsoft.com/office/drawing/2014/main" val="10010"/>
                  </a:ext>
                </a:extLst>
              </a:tr>
              <a:tr h="342775">
                <a:tc>
                  <a:txBody>
                    <a:bodyPr/>
                    <a:lstStyle/>
                    <a:p>
                      <a:r>
                        <a:rPr lang="en-US" sz="1200" b="1" dirty="0"/>
                        <a:t>MEA</a:t>
                      </a:r>
                      <a:endParaRPr lang="en-US" sz="1200" b="1" dirty="0">
                        <a:solidFill>
                          <a:srgbClr val="002060"/>
                        </a:solidFill>
                      </a:endParaRPr>
                    </a:p>
                  </a:txBody>
                  <a:tcPr anchor="ctr"/>
                </a:tc>
                <a:tc>
                  <a:txBody>
                    <a:bodyPr/>
                    <a:lstStyle/>
                    <a:p>
                      <a:r>
                        <a:rPr lang="en-US" sz="1100" dirty="0"/>
                        <a:t>Middle East &amp; Africa</a:t>
                      </a:r>
                      <a:endParaRPr lang="en-US" sz="1100" dirty="0">
                        <a:solidFill>
                          <a:srgbClr val="002060"/>
                        </a:solidFill>
                      </a:endParaRPr>
                    </a:p>
                  </a:txBody>
                  <a:tcPr anchor="ctr"/>
                </a:tc>
                <a:extLst>
                  <a:ext uri="{0D108BD9-81ED-4DB2-BD59-A6C34878D82A}">
                    <a16:rowId xmlns:a16="http://schemas.microsoft.com/office/drawing/2014/main" val="10011"/>
                  </a:ext>
                </a:extLst>
              </a:tr>
              <a:tr h="342775">
                <a:tc>
                  <a:txBody>
                    <a:bodyPr/>
                    <a:lstStyle/>
                    <a:p>
                      <a:r>
                        <a:rPr lang="en-US" sz="1200" b="1" dirty="0"/>
                        <a:t>APAC</a:t>
                      </a:r>
                      <a:endParaRPr lang="en-US" sz="1200" b="1" dirty="0">
                        <a:solidFill>
                          <a:srgbClr val="002060"/>
                        </a:solidFill>
                      </a:endParaRPr>
                    </a:p>
                  </a:txBody>
                  <a:tcPr anchor="ctr"/>
                </a:tc>
                <a:tc>
                  <a:txBody>
                    <a:bodyPr/>
                    <a:lstStyle/>
                    <a:p>
                      <a:r>
                        <a:rPr lang="en-US" sz="1100" dirty="0"/>
                        <a:t>Asia Pacific</a:t>
                      </a:r>
                      <a:endParaRPr lang="en-US" sz="1100" dirty="0">
                        <a:solidFill>
                          <a:srgbClr val="002060"/>
                        </a:solidFill>
                      </a:endParaRPr>
                    </a:p>
                  </a:txBody>
                  <a:tcPr anchor="ctr"/>
                </a:tc>
                <a:extLst>
                  <a:ext uri="{0D108BD9-81ED-4DB2-BD59-A6C34878D82A}">
                    <a16:rowId xmlns:a16="http://schemas.microsoft.com/office/drawing/2014/main" val="10012"/>
                  </a:ext>
                </a:extLst>
              </a:tr>
            </a:tbl>
          </a:graphicData>
        </a:graphic>
      </p:graphicFrame>
      <p:sp>
        <p:nvSpPr>
          <p:cNvPr id="2" name="Slide Number Placeholder 1"/>
          <p:cNvSpPr>
            <a:spLocks noGrp="1"/>
          </p:cNvSpPr>
          <p:nvPr>
            <p:ph type="sldNum" sz="quarter" idx="4"/>
          </p:nvPr>
        </p:nvSpPr>
        <p:spPr/>
        <p:txBody>
          <a:bodyPr/>
          <a:lstStyle/>
          <a:p>
            <a:fld id="{4B17068C-EB94-40A3-A5F2-664CDD77FDAC}" type="slidenum">
              <a:rPr lang="en-GB" smtClean="0"/>
              <a:pPr/>
              <a:t>285</a:t>
            </a:fld>
            <a:endParaRPr lang="en-GB" dirty="0"/>
          </a:p>
        </p:txBody>
      </p:sp>
    </p:spTree>
    <p:extLst>
      <p:ext uri="{BB962C8B-B14F-4D97-AF65-F5344CB8AC3E}">
        <p14:creationId xmlns:p14="http://schemas.microsoft.com/office/powerpoint/2010/main" val="1334776582"/>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5"/>
          <p:cNvSpPr>
            <a:spLocks noGrp="1"/>
          </p:cNvSpPr>
          <p:nvPr>
            <p:ph type="title"/>
          </p:nvPr>
        </p:nvSpPr>
        <p:spPr/>
        <p:txBody>
          <a:bodyPr/>
          <a:lstStyle/>
          <a:p>
            <a:r>
              <a:rPr lang="en-US" dirty="0"/>
              <a:t>Primary Research Overview (1/3) </a:t>
            </a:r>
          </a:p>
        </p:txBody>
      </p:sp>
      <p:sp>
        <p:nvSpPr>
          <p:cNvPr id="2" name="Slide Number Placeholder 1"/>
          <p:cNvSpPr>
            <a:spLocks noGrp="1"/>
          </p:cNvSpPr>
          <p:nvPr>
            <p:ph type="sldNum" sz="quarter" idx="4"/>
          </p:nvPr>
        </p:nvSpPr>
        <p:spPr/>
        <p:txBody>
          <a:bodyPr/>
          <a:lstStyle/>
          <a:p>
            <a:fld id="{4B17068C-EB94-40A3-A5F2-664CDD77FDAC}" type="slidenum">
              <a:rPr lang="en-GB" smtClean="0"/>
              <a:pPr/>
              <a:t>286</a:t>
            </a:fld>
            <a:endParaRPr lang="en-GB" dirty="0"/>
          </a:p>
        </p:txBody>
      </p:sp>
      <p:pic>
        <p:nvPicPr>
          <p:cNvPr id="10" name="Picture 9"/>
          <p:cNvPicPr>
            <a:picLocks noChangeAspect="1"/>
          </p:cNvPicPr>
          <p:nvPr/>
        </p:nvPicPr>
        <p:blipFill>
          <a:blip r:embed="rId2"/>
          <a:stretch>
            <a:fillRect/>
          </a:stretch>
        </p:blipFill>
        <p:spPr>
          <a:xfrm>
            <a:off x="5774682" y="2368049"/>
            <a:ext cx="5278581" cy="2692324"/>
          </a:xfrm>
          <a:prstGeom prst="rect">
            <a:avLst/>
          </a:prstGeom>
        </p:spPr>
      </p:pic>
      <p:sp>
        <p:nvSpPr>
          <p:cNvPr id="11" name="Rounded Rectangle 10"/>
          <p:cNvSpPr/>
          <p:nvPr/>
        </p:nvSpPr>
        <p:spPr>
          <a:xfrm>
            <a:off x="4447036" y="1947730"/>
            <a:ext cx="7592564" cy="3250776"/>
          </a:xfrm>
          <a:prstGeom prst="roundRect">
            <a:avLst/>
          </a:prstGeom>
          <a:noFill/>
          <a:ln w="19050">
            <a:solidFill>
              <a:schemeClr val="bg1">
                <a:lumMod val="85000"/>
              </a:schemeClr>
            </a:solidFill>
            <a:prstDash val="dash"/>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dirty="0">
              <a:solidFill>
                <a:prstClr val="black"/>
              </a:solidFill>
            </a:endParaRPr>
          </a:p>
        </p:txBody>
      </p:sp>
      <p:pic>
        <p:nvPicPr>
          <p:cNvPr id="12" name="Picture 1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469160" y="1208929"/>
            <a:ext cx="670172" cy="670172"/>
          </a:xfrm>
          <a:prstGeom prst="rect">
            <a:avLst/>
          </a:prstGeom>
        </p:spPr>
      </p:pic>
      <p:sp>
        <p:nvSpPr>
          <p:cNvPr id="13" name="TextBox 12"/>
          <p:cNvSpPr txBox="1"/>
          <p:nvPr/>
        </p:nvSpPr>
        <p:spPr>
          <a:xfrm>
            <a:off x="2825210" y="1142167"/>
            <a:ext cx="5837817" cy="707886"/>
          </a:xfrm>
          <a:prstGeom prst="rect">
            <a:avLst/>
          </a:prstGeom>
          <a:noFill/>
        </p:spPr>
        <p:txBody>
          <a:bodyPr wrap="none" rtlCol="0">
            <a:spAutoFit/>
          </a:bodyPr>
          <a:lstStyle/>
          <a:p>
            <a:pPr algn="ctr"/>
            <a:r>
              <a:rPr lang="en-US" sz="1600" b="1" dirty="0">
                <a:solidFill>
                  <a:srgbClr val="C18000"/>
                </a:solidFill>
              </a:rPr>
              <a:t>Over  </a:t>
            </a:r>
            <a:r>
              <a:rPr lang="en-US" sz="4000" b="1" dirty="0">
                <a:solidFill>
                  <a:srgbClr val="C18000"/>
                </a:solidFill>
              </a:rPr>
              <a:t>15+ </a:t>
            </a:r>
            <a:r>
              <a:rPr lang="en-US" sz="1600" b="1" dirty="0">
                <a:solidFill>
                  <a:srgbClr val="C18000"/>
                </a:solidFill>
              </a:rPr>
              <a:t>successful primary interviews across </a:t>
            </a:r>
            <a:r>
              <a:rPr lang="en-US" sz="2400" b="1" dirty="0">
                <a:solidFill>
                  <a:srgbClr val="C18000"/>
                </a:solidFill>
              </a:rPr>
              <a:t>5 </a:t>
            </a:r>
            <a:r>
              <a:rPr lang="en-US" sz="1600" b="1" dirty="0">
                <a:solidFill>
                  <a:srgbClr val="C18000"/>
                </a:solidFill>
              </a:rPr>
              <a:t>continents</a:t>
            </a:r>
          </a:p>
        </p:txBody>
      </p:sp>
      <p:sp>
        <p:nvSpPr>
          <p:cNvPr id="14" name="TextBox 13"/>
          <p:cNvSpPr txBox="1"/>
          <p:nvPr/>
        </p:nvSpPr>
        <p:spPr>
          <a:xfrm>
            <a:off x="7106914" y="2042689"/>
            <a:ext cx="2410691" cy="307777"/>
          </a:xfrm>
          <a:prstGeom prst="rect">
            <a:avLst/>
          </a:prstGeom>
          <a:noFill/>
        </p:spPr>
        <p:txBody>
          <a:bodyPr wrap="square" rtlCol="0">
            <a:spAutoFit/>
          </a:bodyPr>
          <a:lstStyle/>
          <a:p>
            <a:pPr algn="ctr"/>
            <a:r>
              <a:rPr lang="en-US" sz="1400" b="1" dirty="0">
                <a:solidFill>
                  <a:prstClr val="black"/>
                </a:solidFill>
                <a:latin typeface="Century Gothic" panose="020B0502020202020204" pitchFamily="34" charset="0"/>
              </a:rPr>
              <a:t>Interviews by Region</a:t>
            </a:r>
          </a:p>
        </p:txBody>
      </p:sp>
      <p:sp>
        <p:nvSpPr>
          <p:cNvPr id="15" name="TextBox 14"/>
          <p:cNvSpPr txBox="1"/>
          <p:nvPr/>
        </p:nvSpPr>
        <p:spPr>
          <a:xfrm>
            <a:off x="8227829" y="2858123"/>
            <a:ext cx="763029" cy="523220"/>
          </a:xfrm>
          <a:prstGeom prst="rect">
            <a:avLst/>
          </a:prstGeom>
          <a:noFill/>
        </p:spPr>
        <p:txBody>
          <a:bodyPr wrap="none" rtlCol="0">
            <a:spAutoFit/>
          </a:bodyPr>
          <a:lstStyle/>
          <a:p>
            <a:pPr algn="ctr"/>
            <a:r>
              <a:rPr lang="en-US" sz="1400" b="1" spc="-150" dirty="0">
                <a:solidFill>
                  <a:srgbClr val="C18000"/>
                </a:solidFill>
                <a:latin typeface="Arial Black" panose="020B0A04020102020204" pitchFamily="34" charset="0"/>
              </a:rPr>
              <a:t>Europe</a:t>
            </a:r>
          </a:p>
          <a:p>
            <a:pPr algn="ctr"/>
            <a:r>
              <a:rPr lang="en-US" sz="1400" b="1" spc="-150" dirty="0">
                <a:solidFill>
                  <a:srgbClr val="C18000"/>
                </a:solidFill>
                <a:latin typeface="Arial Black" panose="020B0A04020102020204" pitchFamily="34" charset="0"/>
              </a:rPr>
              <a:t>20%</a:t>
            </a:r>
            <a:endParaRPr lang="en-US" sz="700" spc="-150" dirty="0">
              <a:solidFill>
                <a:srgbClr val="C18000"/>
              </a:solidFill>
              <a:latin typeface="Calibri Light" panose="020F0302020204030204"/>
            </a:endParaRPr>
          </a:p>
        </p:txBody>
      </p:sp>
      <p:sp>
        <p:nvSpPr>
          <p:cNvPr id="16" name="Rounded Rectangle 15"/>
          <p:cNvSpPr/>
          <p:nvPr/>
        </p:nvSpPr>
        <p:spPr>
          <a:xfrm>
            <a:off x="152401" y="1947731"/>
            <a:ext cx="4187190" cy="3250775"/>
          </a:xfrm>
          <a:prstGeom prst="roundRect">
            <a:avLst/>
          </a:prstGeom>
          <a:ln w="19050">
            <a:solidFill>
              <a:schemeClr val="bg1">
                <a:lumMod val="85000"/>
              </a:schemeClr>
            </a:solidFill>
            <a:prstDash val="dash"/>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dirty="0">
              <a:solidFill>
                <a:prstClr val="black"/>
              </a:solidFill>
            </a:endParaRPr>
          </a:p>
        </p:txBody>
      </p:sp>
      <p:sp>
        <p:nvSpPr>
          <p:cNvPr id="17" name="TextBox 16"/>
          <p:cNvSpPr txBox="1"/>
          <p:nvPr/>
        </p:nvSpPr>
        <p:spPr>
          <a:xfrm>
            <a:off x="1040651" y="2042689"/>
            <a:ext cx="2410691" cy="523220"/>
          </a:xfrm>
          <a:prstGeom prst="rect">
            <a:avLst/>
          </a:prstGeom>
          <a:noFill/>
        </p:spPr>
        <p:txBody>
          <a:bodyPr wrap="square" rtlCol="0">
            <a:spAutoFit/>
          </a:bodyPr>
          <a:lstStyle/>
          <a:p>
            <a:pPr algn="ctr"/>
            <a:r>
              <a:rPr lang="en-US" sz="1400" b="1" dirty="0">
                <a:solidFill>
                  <a:prstClr val="black"/>
                </a:solidFill>
                <a:latin typeface="Century Gothic" panose="020B0502020202020204" pitchFamily="34" charset="0"/>
              </a:rPr>
              <a:t>Interviews by Category of Respondents</a:t>
            </a:r>
          </a:p>
        </p:txBody>
      </p:sp>
      <p:graphicFrame>
        <p:nvGraphicFramePr>
          <p:cNvPr id="18" name="Chart 17"/>
          <p:cNvGraphicFramePr/>
          <p:nvPr>
            <p:extLst>
              <p:ext uri="{D42A27DB-BD31-4B8C-83A1-F6EECF244321}">
                <p14:modId xmlns:p14="http://schemas.microsoft.com/office/powerpoint/2010/main" val="3537203820"/>
              </p:ext>
            </p:extLst>
          </p:nvPr>
        </p:nvGraphicFramePr>
        <p:xfrm>
          <a:off x="152400" y="2480644"/>
          <a:ext cx="4182207" cy="2618894"/>
        </p:xfrm>
        <a:graphic>
          <a:graphicData uri="http://schemas.openxmlformats.org/drawingml/2006/chart">
            <c:chart xmlns:c="http://schemas.openxmlformats.org/drawingml/2006/chart" xmlns:r="http://schemas.openxmlformats.org/officeDocument/2006/relationships" r:id="rId4"/>
          </a:graphicData>
        </a:graphic>
      </p:graphicFrame>
      <p:sp>
        <p:nvSpPr>
          <p:cNvPr id="19" name="TextBox 18"/>
          <p:cNvSpPr txBox="1"/>
          <p:nvPr/>
        </p:nvSpPr>
        <p:spPr>
          <a:xfrm>
            <a:off x="6568602" y="3452601"/>
            <a:ext cx="998992" cy="523220"/>
          </a:xfrm>
          <a:prstGeom prst="rect">
            <a:avLst/>
          </a:prstGeom>
          <a:noFill/>
        </p:spPr>
        <p:txBody>
          <a:bodyPr wrap="none" rtlCol="0">
            <a:spAutoFit/>
          </a:bodyPr>
          <a:lstStyle/>
          <a:p>
            <a:pPr algn="ctr"/>
            <a:r>
              <a:rPr lang="en-US" sz="1400" b="1" spc="-150" dirty="0">
                <a:solidFill>
                  <a:srgbClr val="C18000"/>
                </a:solidFill>
                <a:latin typeface="Arial Black" panose="020B0A04020102020204" pitchFamily="34" charset="0"/>
              </a:rPr>
              <a:t>Americas </a:t>
            </a:r>
          </a:p>
          <a:p>
            <a:pPr algn="ctr"/>
            <a:r>
              <a:rPr lang="en-US" sz="1400" b="1" spc="-150" dirty="0">
                <a:solidFill>
                  <a:srgbClr val="C18000"/>
                </a:solidFill>
                <a:latin typeface="Arial Black" panose="020B0A04020102020204" pitchFamily="34" charset="0"/>
              </a:rPr>
              <a:t>30%</a:t>
            </a:r>
            <a:endParaRPr lang="en-US" sz="700" spc="-150" dirty="0">
              <a:solidFill>
                <a:srgbClr val="C18000"/>
              </a:solidFill>
              <a:latin typeface="Calibri Light" panose="020F0302020204030204"/>
            </a:endParaRPr>
          </a:p>
        </p:txBody>
      </p:sp>
      <p:sp>
        <p:nvSpPr>
          <p:cNvPr id="21" name="Rounded Rectangle 20"/>
          <p:cNvSpPr/>
          <p:nvPr/>
        </p:nvSpPr>
        <p:spPr>
          <a:xfrm>
            <a:off x="152400" y="5363502"/>
            <a:ext cx="11887200" cy="833066"/>
          </a:xfrm>
          <a:prstGeom prst="roundRect">
            <a:avLst/>
          </a:prstGeom>
          <a:ln w="19050">
            <a:solidFill>
              <a:schemeClr val="bg1">
                <a:lumMod val="85000"/>
              </a:schemeClr>
            </a:solidFill>
            <a:prstDash val="dash"/>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b="1" dirty="0">
              <a:solidFill>
                <a:prstClr val="black"/>
              </a:solidFill>
            </a:endParaRPr>
          </a:p>
        </p:txBody>
      </p:sp>
      <p:sp>
        <p:nvSpPr>
          <p:cNvPr id="22" name="TextBox 21"/>
          <p:cNvSpPr txBox="1"/>
          <p:nvPr/>
        </p:nvSpPr>
        <p:spPr>
          <a:xfrm>
            <a:off x="374879" y="5527598"/>
            <a:ext cx="1761436" cy="523220"/>
          </a:xfrm>
          <a:prstGeom prst="rect">
            <a:avLst/>
          </a:prstGeom>
          <a:noFill/>
        </p:spPr>
        <p:txBody>
          <a:bodyPr wrap="square" rtlCol="0">
            <a:spAutoFit/>
          </a:bodyPr>
          <a:lstStyle/>
          <a:p>
            <a:r>
              <a:rPr lang="en-US" sz="1400" b="1" dirty="0">
                <a:solidFill>
                  <a:prstClr val="black"/>
                </a:solidFill>
                <a:latin typeface="Century Gothic" panose="020B0502020202020204" pitchFamily="34" charset="0"/>
              </a:rPr>
              <a:t>Designations Interviewed</a:t>
            </a:r>
          </a:p>
        </p:txBody>
      </p:sp>
      <p:sp>
        <p:nvSpPr>
          <p:cNvPr id="23" name="TextBox 22"/>
          <p:cNvSpPr txBox="1"/>
          <p:nvPr/>
        </p:nvSpPr>
        <p:spPr>
          <a:xfrm>
            <a:off x="2989386" y="5460241"/>
            <a:ext cx="2057596" cy="600164"/>
          </a:xfrm>
          <a:prstGeom prst="rect">
            <a:avLst/>
          </a:prstGeom>
          <a:noFill/>
        </p:spPr>
        <p:txBody>
          <a:bodyPr wrap="square" rtlCol="0">
            <a:spAutoFit/>
          </a:bodyPr>
          <a:lstStyle/>
          <a:p>
            <a:pPr marL="171450" indent="-171450">
              <a:buFont typeface="Wingdings" panose="05000000000000000000" pitchFamily="2" charset="2"/>
              <a:buChar char="q"/>
            </a:pPr>
            <a:r>
              <a:rPr lang="en-US" sz="1100" dirty="0">
                <a:solidFill>
                  <a:prstClr val="black"/>
                </a:solidFill>
              </a:rPr>
              <a:t>Director</a:t>
            </a:r>
          </a:p>
          <a:p>
            <a:pPr marL="171450" indent="-171450">
              <a:buFont typeface="Wingdings" panose="05000000000000000000" pitchFamily="2" charset="2"/>
              <a:buChar char="q"/>
            </a:pPr>
            <a:r>
              <a:rPr lang="en-US" sz="1100" dirty="0">
                <a:solidFill>
                  <a:prstClr val="black"/>
                </a:solidFill>
              </a:rPr>
              <a:t>Sales Head</a:t>
            </a:r>
          </a:p>
          <a:p>
            <a:pPr marL="171450" indent="-171450">
              <a:buFont typeface="Wingdings" panose="05000000000000000000" pitchFamily="2" charset="2"/>
              <a:buChar char="q"/>
            </a:pPr>
            <a:r>
              <a:rPr lang="en-US" sz="1100" dirty="0">
                <a:solidFill>
                  <a:prstClr val="black"/>
                </a:solidFill>
              </a:rPr>
              <a:t>Divisional Marketing Head</a:t>
            </a:r>
          </a:p>
        </p:txBody>
      </p:sp>
      <p:sp>
        <p:nvSpPr>
          <p:cNvPr id="24" name="Rectangle 23"/>
          <p:cNvSpPr/>
          <p:nvPr/>
        </p:nvSpPr>
        <p:spPr>
          <a:xfrm>
            <a:off x="9184015" y="5460241"/>
            <a:ext cx="2115730" cy="600164"/>
          </a:xfrm>
          <a:prstGeom prst="rect">
            <a:avLst/>
          </a:prstGeom>
          <a:noFill/>
        </p:spPr>
        <p:txBody>
          <a:bodyPr wrap="square" rtlCol="0">
            <a:spAutoFit/>
          </a:bodyPr>
          <a:lstStyle/>
          <a:p>
            <a:pPr marL="171450" indent="-171450">
              <a:buFont typeface="Wingdings" panose="05000000000000000000" pitchFamily="2" charset="2"/>
              <a:buChar char="q"/>
            </a:pPr>
            <a:r>
              <a:rPr lang="en-US" sz="1100" dirty="0">
                <a:solidFill>
                  <a:prstClr val="black"/>
                </a:solidFill>
              </a:rPr>
              <a:t>Technical Consultant</a:t>
            </a:r>
          </a:p>
          <a:p>
            <a:pPr marL="171450" indent="-171450">
              <a:buFont typeface="Wingdings" panose="05000000000000000000" pitchFamily="2" charset="2"/>
              <a:buChar char="q"/>
            </a:pPr>
            <a:r>
              <a:rPr lang="en-US" sz="1100" dirty="0">
                <a:solidFill>
                  <a:prstClr val="black"/>
                </a:solidFill>
              </a:rPr>
              <a:t>Product Manager</a:t>
            </a:r>
          </a:p>
          <a:p>
            <a:pPr marL="171450" indent="-171450">
              <a:buFont typeface="Wingdings" panose="05000000000000000000" pitchFamily="2" charset="2"/>
              <a:buChar char="q"/>
            </a:pPr>
            <a:r>
              <a:rPr lang="en-US" sz="1100" dirty="0">
                <a:solidFill>
                  <a:prstClr val="black"/>
                </a:solidFill>
              </a:rPr>
              <a:t>R&amp;D In-charge</a:t>
            </a:r>
          </a:p>
        </p:txBody>
      </p:sp>
      <p:sp>
        <p:nvSpPr>
          <p:cNvPr id="25" name="Rectangle 24"/>
          <p:cNvSpPr/>
          <p:nvPr/>
        </p:nvSpPr>
        <p:spPr>
          <a:xfrm>
            <a:off x="5509447" y="5460241"/>
            <a:ext cx="2336557" cy="600164"/>
          </a:xfrm>
          <a:prstGeom prst="rect">
            <a:avLst/>
          </a:prstGeom>
        </p:spPr>
        <p:txBody>
          <a:bodyPr wrap="square">
            <a:spAutoFit/>
          </a:bodyPr>
          <a:lstStyle/>
          <a:p>
            <a:pPr marL="171450" indent="-171450">
              <a:buFont typeface="Wingdings" panose="05000000000000000000" pitchFamily="2" charset="2"/>
              <a:buChar char="q"/>
            </a:pPr>
            <a:r>
              <a:rPr lang="en-US" sz="1100" dirty="0">
                <a:solidFill>
                  <a:prstClr val="black"/>
                </a:solidFill>
              </a:rPr>
              <a:t>Export Manager</a:t>
            </a:r>
          </a:p>
          <a:p>
            <a:pPr marL="171450" indent="-171450">
              <a:buFont typeface="Wingdings" panose="05000000000000000000" pitchFamily="2" charset="2"/>
              <a:buChar char="q"/>
            </a:pPr>
            <a:r>
              <a:rPr lang="en-US" sz="1100" dirty="0">
                <a:solidFill>
                  <a:prstClr val="black"/>
                </a:solidFill>
              </a:rPr>
              <a:t>Engineer</a:t>
            </a:r>
          </a:p>
          <a:p>
            <a:pPr marL="171450" indent="-171450">
              <a:buFont typeface="Wingdings" panose="05000000000000000000" pitchFamily="2" charset="2"/>
              <a:buChar char="q"/>
            </a:pPr>
            <a:r>
              <a:rPr lang="en-IN" sz="1100" dirty="0"/>
              <a:t>Technical Specialist</a:t>
            </a:r>
          </a:p>
        </p:txBody>
      </p:sp>
      <p:sp>
        <p:nvSpPr>
          <p:cNvPr id="26" name="Rectangle 25"/>
          <p:cNvSpPr/>
          <p:nvPr/>
        </p:nvSpPr>
        <p:spPr>
          <a:xfrm>
            <a:off x="9360508" y="3356153"/>
            <a:ext cx="1153391" cy="523220"/>
          </a:xfrm>
          <a:prstGeom prst="rect">
            <a:avLst/>
          </a:prstGeom>
        </p:spPr>
        <p:txBody>
          <a:bodyPr wrap="square">
            <a:spAutoFit/>
          </a:bodyPr>
          <a:lstStyle/>
          <a:p>
            <a:pPr algn="ctr"/>
            <a:r>
              <a:rPr lang="en-US" sz="1400" b="1" spc="-150" dirty="0">
                <a:solidFill>
                  <a:srgbClr val="C18000"/>
                </a:solidFill>
                <a:latin typeface="Arial Black" panose="020B0A04020102020204" pitchFamily="34" charset="0"/>
              </a:rPr>
              <a:t>Asia-Pacific</a:t>
            </a:r>
          </a:p>
          <a:p>
            <a:pPr algn="ctr"/>
            <a:r>
              <a:rPr lang="en-US" sz="1400" b="1" spc="-150" dirty="0">
                <a:solidFill>
                  <a:srgbClr val="C18000"/>
                </a:solidFill>
                <a:latin typeface="Arial Black" panose="020B0A04020102020204" pitchFamily="34" charset="0"/>
              </a:rPr>
              <a:t>50%</a:t>
            </a:r>
            <a:endParaRPr lang="en-US" sz="700" spc="-150" dirty="0">
              <a:solidFill>
                <a:srgbClr val="C18000"/>
              </a:solidFill>
              <a:latin typeface="Calibri Light" panose="020F0302020204030204"/>
            </a:endParaRPr>
          </a:p>
        </p:txBody>
      </p:sp>
      <p:sp>
        <p:nvSpPr>
          <p:cNvPr id="28" name="TextBox 27"/>
          <p:cNvSpPr txBox="1"/>
          <p:nvPr/>
        </p:nvSpPr>
        <p:spPr>
          <a:xfrm>
            <a:off x="150669" y="6205752"/>
            <a:ext cx="5948744" cy="153888"/>
          </a:xfrm>
          <a:prstGeom prst="rect">
            <a:avLst/>
          </a:prstGeom>
          <a:noFill/>
        </p:spPr>
        <p:txBody>
          <a:bodyPr wrap="none" lIns="0" tIns="0" rIns="0" bIns="0" rtlCol="0">
            <a:spAutoFit/>
          </a:bodyPr>
          <a:lstStyle/>
          <a:p>
            <a:pPr defTabSz="966537"/>
            <a:r>
              <a:rPr lang="en-US" sz="1000" dirty="0"/>
              <a:t>Source: TMR Analysis, 2024, Primary insights, Industry Experts, Consultants, Distributors, End Users, Manufacturers</a:t>
            </a:r>
          </a:p>
        </p:txBody>
      </p:sp>
    </p:spTree>
    <p:extLst>
      <p:ext uri="{BB962C8B-B14F-4D97-AF65-F5344CB8AC3E}">
        <p14:creationId xmlns:p14="http://schemas.microsoft.com/office/powerpoint/2010/main" val="2108184837"/>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4" name="Group 83"/>
          <p:cNvGrpSpPr/>
          <p:nvPr/>
        </p:nvGrpSpPr>
        <p:grpSpPr>
          <a:xfrm>
            <a:off x="6248400" y="1349745"/>
            <a:ext cx="5791200" cy="4419990"/>
            <a:chOff x="6248400" y="1349745"/>
            <a:chExt cx="5791200" cy="4419990"/>
          </a:xfrm>
        </p:grpSpPr>
        <p:sp>
          <p:nvSpPr>
            <p:cNvPr id="42" name="Rectangle 41"/>
            <p:cNvSpPr>
              <a:spLocks noChangeArrowheads="1"/>
            </p:cNvSpPr>
            <p:nvPr/>
          </p:nvSpPr>
          <p:spPr bwMode="auto">
            <a:xfrm flipH="1">
              <a:off x="6585691" y="1349745"/>
              <a:ext cx="4694840" cy="931350"/>
            </a:xfrm>
            <a:prstGeom prst="rect">
              <a:avLst/>
            </a:pr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p>
          </p:txBody>
        </p:sp>
        <p:sp>
          <p:nvSpPr>
            <p:cNvPr id="43" name="Freeform 42"/>
            <p:cNvSpPr>
              <a:spLocks/>
            </p:cNvSpPr>
            <p:nvPr/>
          </p:nvSpPr>
          <p:spPr bwMode="auto">
            <a:xfrm flipV="1">
              <a:off x="6248400" y="1487871"/>
              <a:ext cx="657120" cy="655097"/>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44" name="Freeform 43"/>
            <p:cNvSpPr>
              <a:spLocks/>
            </p:cNvSpPr>
            <p:nvPr/>
          </p:nvSpPr>
          <p:spPr bwMode="auto">
            <a:xfrm>
              <a:off x="6291805" y="1531141"/>
              <a:ext cx="570309" cy="568556"/>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solidFill>
              <a:schemeClr val="accent2">
                <a:lumMod val="60000"/>
                <a:lumOff val="40000"/>
              </a:schemeClr>
            </a:solidFill>
            <a:ln>
              <a:noFill/>
            </a:ln>
            <a:effectLst>
              <a:outerShdw blurRad="50800" dist="38100" dir="3060000" algn="tl" rotWithShape="0">
                <a:prstClr val="black">
                  <a:alpha val="2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45" name="TextBox 54"/>
            <p:cNvSpPr txBox="1"/>
            <p:nvPr/>
          </p:nvSpPr>
          <p:spPr>
            <a:xfrm>
              <a:off x="6333415" y="1579605"/>
              <a:ext cx="501686" cy="461665"/>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2400" b="1" dirty="0">
                  <a:latin typeface="Calibri" panose="020F0502020204030204"/>
                </a:rPr>
                <a:t>05</a:t>
              </a:r>
            </a:p>
          </p:txBody>
        </p:sp>
        <p:sp>
          <p:nvSpPr>
            <p:cNvPr id="47" name="Freeform 46"/>
            <p:cNvSpPr>
              <a:spLocks/>
            </p:cNvSpPr>
            <p:nvPr/>
          </p:nvSpPr>
          <p:spPr bwMode="auto">
            <a:xfrm flipH="1">
              <a:off x="11276930" y="1349745"/>
              <a:ext cx="762670" cy="931350"/>
            </a:xfrm>
            <a:custGeom>
              <a:avLst/>
              <a:gdLst>
                <a:gd name="T0" fmla="*/ 3380 w 3380"/>
                <a:gd name="T1" fmla="*/ 0 h 4128"/>
                <a:gd name="T2" fmla="*/ 1515 w 3380"/>
                <a:gd name="T3" fmla="*/ 4128 h 4128"/>
                <a:gd name="T4" fmla="*/ 1360 w 3380"/>
                <a:gd name="T5" fmla="*/ 4118 h 4128"/>
                <a:gd name="T6" fmla="*/ 1210 w 3380"/>
                <a:gd name="T7" fmla="*/ 4091 h 4128"/>
                <a:gd name="T8" fmla="*/ 1065 w 3380"/>
                <a:gd name="T9" fmla="*/ 4046 h 4128"/>
                <a:gd name="T10" fmla="*/ 926 w 3380"/>
                <a:gd name="T11" fmla="*/ 3984 h 4128"/>
                <a:gd name="T12" fmla="*/ 794 w 3380"/>
                <a:gd name="T13" fmla="*/ 3906 h 4128"/>
                <a:gd name="T14" fmla="*/ 669 w 3380"/>
                <a:gd name="T15" fmla="*/ 3815 h 4128"/>
                <a:gd name="T16" fmla="*/ 552 w 3380"/>
                <a:gd name="T17" fmla="*/ 3709 h 4128"/>
                <a:gd name="T18" fmla="*/ 445 w 3380"/>
                <a:gd name="T19" fmla="*/ 3591 h 4128"/>
                <a:gd name="T20" fmla="*/ 347 w 3380"/>
                <a:gd name="T21" fmla="*/ 3462 h 4128"/>
                <a:gd name="T22" fmla="*/ 259 w 3380"/>
                <a:gd name="T23" fmla="*/ 3321 h 4128"/>
                <a:gd name="T24" fmla="*/ 184 w 3380"/>
                <a:gd name="T25" fmla="*/ 3170 h 4128"/>
                <a:gd name="T26" fmla="*/ 119 w 3380"/>
                <a:gd name="T27" fmla="*/ 3011 h 4128"/>
                <a:gd name="T28" fmla="*/ 68 w 3380"/>
                <a:gd name="T29" fmla="*/ 2844 h 4128"/>
                <a:gd name="T30" fmla="*/ 31 w 3380"/>
                <a:gd name="T31" fmla="*/ 2669 h 4128"/>
                <a:gd name="T32" fmla="*/ 8 w 3380"/>
                <a:gd name="T33" fmla="*/ 2488 h 4128"/>
                <a:gd name="T34" fmla="*/ 0 w 3380"/>
                <a:gd name="T35" fmla="*/ 2302 h 4128"/>
                <a:gd name="T36" fmla="*/ 2 w 3380"/>
                <a:gd name="T37" fmla="*/ 1733 h 4128"/>
                <a:gd name="T38" fmla="*/ 18 w 3380"/>
                <a:gd name="T39" fmla="*/ 1549 h 4128"/>
                <a:gd name="T40" fmla="*/ 48 w 3380"/>
                <a:gd name="T41" fmla="*/ 1371 h 4128"/>
                <a:gd name="T42" fmla="*/ 92 w 3380"/>
                <a:gd name="T43" fmla="*/ 1199 h 4128"/>
                <a:gd name="T44" fmla="*/ 150 w 3380"/>
                <a:gd name="T45" fmla="*/ 1036 h 4128"/>
                <a:gd name="T46" fmla="*/ 220 w 3380"/>
                <a:gd name="T47" fmla="*/ 881 h 4128"/>
                <a:gd name="T48" fmla="*/ 302 w 3380"/>
                <a:gd name="T49" fmla="*/ 735 h 4128"/>
                <a:gd name="T50" fmla="*/ 395 w 3380"/>
                <a:gd name="T51" fmla="*/ 600 h 4128"/>
                <a:gd name="T52" fmla="*/ 498 w 3380"/>
                <a:gd name="T53" fmla="*/ 475 h 4128"/>
                <a:gd name="T54" fmla="*/ 610 w 3380"/>
                <a:gd name="T55" fmla="*/ 364 h 4128"/>
                <a:gd name="T56" fmla="*/ 730 w 3380"/>
                <a:gd name="T57" fmla="*/ 265 h 4128"/>
                <a:gd name="T58" fmla="*/ 859 w 3380"/>
                <a:gd name="T59" fmla="*/ 180 h 4128"/>
                <a:gd name="T60" fmla="*/ 995 w 3380"/>
                <a:gd name="T61" fmla="*/ 111 h 4128"/>
                <a:gd name="T62" fmla="*/ 1137 w 3380"/>
                <a:gd name="T63" fmla="*/ 58 h 4128"/>
                <a:gd name="T64" fmla="*/ 1284 w 3380"/>
                <a:gd name="T65" fmla="*/ 21 h 4128"/>
                <a:gd name="T66" fmla="*/ 1437 w 3380"/>
                <a:gd name="T67" fmla="*/ 2 h 4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80" h="4128">
                  <a:moveTo>
                    <a:pt x="1515" y="0"/>
                  </a:moveTo>
                  <a:lnTo>
                    <a:pt x="3380" y="0"/>
                  </a:lnTo>
                  <a:lnTo>
                    <a:pt x="3380" y="4128"/>
                  </a:lnTo>
                  <a:lnTo>
                    <a:pt x="1515" y="4128"/>
                  </a:lnTo>
                  <a:lnTo>
                    <a:pt x="1437" y="4126"/>
                  </a:lnTo>
                  <a:lnTo>
                    <a:pt x="1360" y="4118"/>
                  </a:lnTo>
                  <a:lnTo>
                    <a:pt x="1284" y="4107"/>
                  </a:lnTo>
                  <a:lnTo>
                    <a:pt x="1210" y="4091"/>
                  </a:lnTo>
                  <a:lnTo>
                    <a:pt x="1137" y="4070"/>
                  </a:lnTo>
                  <a:lnTo>
                    <a:pt x="1065" y="4046"/>
                  </a:lnTo>
                  <a:lnTo>
                    <a:pt x="995" y="4017"/>
                  </a:lnTo>
                  <a:lnTo>
                    <a:pt x="926" y="3984"/>
                  </a:lnTo>
                  <a:lnTo>
                    <a:pt x="859" y="3948"/>
                  </a:lnTo>
                  <a:lnTo>
                    <a:pt x="794" y="3906"/>
                  </a:lnTo>
                  <a:lnTo>
                    <a:pt x="730" y="3863"/>
                  </a:lnTo>
                  <a:lnTo>
                    <a:pt x="669" y="3815"/>
                  </a:lnTo>
                  <a:lnTo>
                    <a:pt x="610" y="3764"/>
                  </a:lnTo>
                  <a:lnTo>
                    <a:pt x="552" y="3709"/>
                  </a:lnTo>
                  <a:lnTo>
                    <a:pt x="498" y="3653"/>
                  </a:lnTo>
                  <a:lnTo>
                    <a:pt x="445" y="3591"/>
                  </a:lnTo>
                  <a:lnTo>
                    <a:pt x="395" y="3528"/>
                  </a:lnTo>
                  <a:lnTo>
                    <a:pt x="347" y="3462"/>
                  </a:lnTo>
                  <a:lnTo>
                    <a:pt x="302" y="3393"/>
                  </a:lnTo>
                  <a:lnTo>
                    <a:pt x="259" y="3321"/>
                  </a:lnTo>
                  <a:lnTo>
                    <a:pt x="220" y="3247"/>
                  </a:lnTo>
                  <a:lnTo>
                    <a:pt x="184" y="3170"/>
                  </a:lnTo>
                  <a:lnTo>
                    <a:pt x="150" y="3092"/>
                  </a:lnTo>
                  <a:lnTo>
                    <a:pt x="119" y="3011"/>
                  </a:lnTo>
                  <a:lnTo>
                    <a:pt x="92" y="2929"/>
                  </a:lnTo>
                  <a:lnTo>
                    <a:pt x="68" y="2844"/>
                  </a:lnTo>
                  <a:lnTo>
                    <a:pt x="48" y="2757"/>
                  </a:lnTo>
                  <a:lnTo>
                    <a:pt x="31" y="2669"/>
                  </a:lnTo>
                  <a:lnTo>
                    <a:pt x="18" y="2579"/>
                  </a:lnTo>
                  <a:lnTo>
                    <a:pt x="8" y="2488"/>
                  </a:lnTo>
                  <a:lnTo>
                    <a:pt x="2" y="2395"/>
                  </a:lnTo>
                  <a:lnTo>
                    <a:pt x="0" y="2302"/>
                  </a:lnTo>
                  <a:lnTo>
                    <a:pt x="0" y="1826"/>
                  </a:lnTo>
                  <a:lnTo>
                    <a:pt x="2" y="1733"/>
                  </a:lnTo>
                  <a:lnTo>
                    <a:pt x="8" y="1640"/>
                  </a:lnTo>
                  <a:lnTo>
                    <a:pt x="18" y="1549"/>
                  </a:lnTo>
                  <a:lnTo>
                    <a:pt x="31" y="1459"/>
                  </a:lnTo>
                  <a:lnTo>
                    <a:pt x="48" y="1371"/>
                  </a:lnTo>
                  <a:lnTo>
                    <a:pt x="68" y="1284"/>
                  </a:lnTo>
                  <a:lnTo>
                    <a:pt x="92" y="1199"/>
                  </a:lnTo>
                  <a:lnTo>
                    <a:pt x="119" y="1117"/>
                  </a:lnTo>
                  <a:lnTo>
                    <a:pt x="150" y="1036"/>
                  </a:lnTo>
                  <a:lnTo>
                    <a:pt x="184" y="958"/>
                  </a:lnTo>
                  <a:lnTo>
                    <a:pt x="220" y="881"/>
                  </a:lnTo>
                  <a:lnTo>
                    <a:pt x="259" y="807"/>
                  </a:lnTo>
                  <a:lnTo>
                    <a:pt x="302" y="735"/>
                  </a:lnTo>
                  <a:lnTo>
                    <a:pt x="347" y="666"/>
                  </a:lnTo>
                  <a:lnTo>
                    <a:pt x="395" y="600"/>
                  </a:lnTo>
                  <a:lnTo>
                    <a:pt x="445" y="537"/>
                  </a:lnTo>
                  <a:lnTo>
                    <a:pt x="498" y="475"/>
                  </a:lnTo>
                  <a:lnTo>
                    <a:pt x="552" y="419"/>
                  </a:lnTo>
                  <a:lnTo>
                    <a:pt x="610" y="364"/>
                  </a:lnTo>
                  <a:lnTo>
                    <a:pt x="669" y="313"/>
                  </a:lnTo>
                  <a:lnTo>
                    <a:pt x="730" y="265"/>
                  </a:lnTo>
                  <a:lnTo>
                    <a:pt x="794" y="222"/>
                  </a:lnTo>
                  <a:lnTo>
                    <a:pt x="859" y="180"/>
                  </a:lnTo>
                  <a:lnTo>
                    <a:pt x="926" y="144"/>
                  </a:lnTo>
                  <a:lnTo>
                    <a:pt x="995" y="111"/>
                  </a:lnTo>
                  <a:lnTo>
                    <a:pt x="1065" y="82"/>
                  </a:lnTo>
                  <a:lnTo>
                    <a:pt x="1137" y="58"/>
                  </a:lnTo>
                  <a:lnTo>
                    <a:pt x="1210" y="37"/>
                  </a:lnTo>
                  <a:lnTo>
                    <a:pt x="1284" y="21"/>
                  </a:lnTo>
                  <a:lnTo>
                    <a:pt x="1360" y="10"/>
                  </a:lnTo>
                  <a:lnTo>
                    <a:pt x="1437" y="2"/>
                  </a:lnTo>
                  <a:lnTo>
                    <a:pt x="1515" y="0"/>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grpSp>
          <p:nvGrpSpPr>
            <p:cNvPr id="48" name="Group 47"/>
            <p:cNvGrpSpPr/>
            <p:nvPr/>
          </p:nvGrpSpPr>
          <p:grpSpPr>
            <a:xfrm flipH="1">
              <a:off x="11393715" y="1586516"/>
              <a:ext cx="428315" cy="428017"/>
              <a:chOff x="3770313" y="3568700"/>
              <a:chExt cx="450850" cy="450851"/>
            </a:xfrm>
            <a:solidFill>
              <a:sysClr val="window" lastClr="FFFFFF"/>
            </a:solidFill>
          </p:grpSpPr>
          <p:sp>
            <p:nvSpPr>
              <p:cNvPr id="79" name="Freeform 78"/>
              <p:cNvSpPr>
                <a:spLocks/>
              </p:cNvSpPr>
              <p:nvPr/>
            </p:nvSpPr>
            <p:spPr bwMode="auto">
              <a:xfrm>
                <a:off x="3770313" y="3611563"/>
                <a:ext cx="409575" cy="407988"/>
              </a:xfrm>
              <a:custGeom>
                <a:avLst/>
                <a:gdLst>
                  <a:gd name="T0" fmla="*/ 773 w 1287"/>
                  <a:gd name="T1" fmla="*/ 1274 h 1287"/>
                  <a:gd name="T2" fmla="*/ 922 w 1287"/>
                  <a:gd name="T3" fmla="*/ 1224 h 1287"/>
                  <a:gd name="T4" fmla="*/ 1053 w 1287"/>
                  <a:gd name="T5" fmla="*/ 1140 h 1287"/>
                  <a:gd name="T6" fmla="*/ 1159 w 1287"/>
                  <a:gd name="T7" fmla="*/ 1028 h 1287"/>
                  <a:gd name="T8" fmla="*/ 1237 w 1287"/>
                  <a:gd name="T9" fmla="*/ 894 h 1287"/>
                  <a:gd name="T10" fmla="*/ 1279 w 1287"/>
                  <a:gd name="T11" fmla="*/ 742 h 1287"/>
                  <a:gd name="T12" fmla="*/ 1285 w 1287"/>
                  <a:gd name="T13" fmla="*/ 600 h 1287"/>
                  <a:gd name="T14" fmla="*/ 1263 w 1287"/>
                  <a:gd name="T15" fmla="*/ 479 h 1287"/>
                  <a:gd name="T16" fmla="*/ 1214 w 1287"/>
                  <a:gd name="T17" fmla="*/ 363 h 1287"/>
                  <a:gd name="T18" fmla="*/ 1161 w 1287"/>
                  <a:gd name="T19" fmla="*/ 300 h 1287"/>
                  <a:gd name="T20" fmla="*/ 1127 w 1287"/>
                  <a:gd name="T21" fmla="*/ 313 h 1287"/>
                  <a:gd name="T22" fmla="*/ 1062 w 1287"/>
                  <a:gd name="T23" fmla="*/ 422 h 1287"/>
                  <a:gd name="T24" fmla="*/ 1093 w 1287"/>
                  <a:gd name="T25" fmla="*/ 496 h 1287"/>
                  <a:gd name="T26" fmla="*/ 1112 w 1287"/>
                  <a:gd name="T27" fmla="*/ 577 h 1287"/>
                  <a:gd name="T28" fmla="*/ 1116 w 1287"/>
                  <a:gd name="T29" fmla="*/ 668 h 1287"/>
                  <a:gd name="T30" fmla="*/ 1095 w 1287"/>
                  <a:gd name="T31" fmla="*/ 784 h 1287"/>
                  <a:gd name="T32" fmla="*/ 1048 w 1287"/>
                  <a:gd name="T33" fmla="*/ 889 h 1287"/>
                  <a:gd name="T34" fmla="*/ 978 w 1287"/>
                  <a:gd name="T35" fmla="*/ 978 h 1287"/>
                  <a:gd name="T36" fmla="*/ 889 w 1287"/>
                  <a:gd name="T37" fmla="*/ 1049 h 1287"/>
                  <a:gd name="T38" fmla="*/ 784 w 1287"/>
                  <a:gd name="T39" fmla="*/ 1096 h 1287"/>
                  <a:gd name="T40" fmla="*/ 668 w 1287"/>
                  <a:gd name="T41" fmla="*/ 1116 h 1287"/>
                  <a:gd name="T42" fmla="*/ 548 w 1287"/>
                  <a:gd name="T43" fmla="*/ 1107 h 1287"/>
                  <a:gd name="T44" fmla="*/ 439 w 1287"/>
                  <a:gd name="T45" fmla="*/ 1070 h 1287"/>
                  <a:gd name="T46" fmla="*/ 342 w 1287"/>
                  <a:gd name="T47" fmla="*/ 1009 h 1287"/>
                  <a:gd name="T48" fmla="*/ 264 w 1287"/>
                  <a:gd name="T49" fmla="*/ 926 h 1287"/>
                  <a:gd name="T50" fmla="*/ 207 w 1287"/>
                  <a:gd name="T51" fmla="*/ 828 h 1287"/>
                  <a:gd name="T52" fmla="*/ 176 w 1287"/>
                  <a:gd name="T53" fmla="*/ 715 h 1287"/>
                  <a:gd name="T54" fmla="*/ 173 w 1287"/>
                  <a:gd name="T55" fmla="*/ 595 h 1287"/>
                  <a:gd name="T56" fmla="*/ 198 w 1287"/>
                  <a:gd name="T57" fmla="*/ 481 h 1287"/>
                  <a:gd name="T58" fmla="*/ 251 w 1287"/>
                  <a:gd name="T59" fmla="*/ 379 h 1287"/>
                  <a:gd name="T60" fmla="*/ 325 w 1287"/>
                  <a:gd name="T61" fmla="*/ 294 h 1287"/>
                  <a:gd name="T62" fmla="*/ 418 w 1287"/>
                  <a:gd name="T63" fmla="*/ 227 h 1287"/>
                  <a:gd name="T64" fmla="*/ 525 w 1287"/>
                  <a:gd name="T65" fmla="*/ 185 h 1287"/>
                  <a:gd name="T66" fmla="*/ 643 w 1287"/>
                  <a:gd name="T67" fmla="*/ 170 h 1287"/>
                  <a:gd name="T68" fmla="*/ 727 w 1287"/>
                  <a:gd name="T69" fmla="*/ 178 h 1287"/>
                  <a:gd name="T70" fmla="*/ 806 w 1287"/>
                  <a:gd name="T71" fmla="*/ 199 h 1287"/>
                  <a:gd name="T72" fmla="*/ 878 w 1287"/>
                  <a:gd name="T73" fmla="*/ 234 h 1287"/>
                  <a:gd name="T74" fmla="*/ 983 w 1287"/>
                  <a:gd name="T75" fmla="*/ 149 h 1287"/>
                  <a:gd name="T76" fmla="*/ 997 w 1287"/>
                  <a:gd name="T77" fmla="*/ 128 h 1287"/>
                  <a:gd name="T78" fmla="*/ 888 w 1287"/>
                  <a:gd name="T79" fmla="*/ 50 h 1287"/>
                  <a:gd name="T80" fmla="*/ 773 w 1287"/>
                  <a:gd name="T81" fmla="*/ 12 h 1287"/>
                  <a:gd name="T82" fmla="*/ 664 w 1287"/>
                  <a:gd name="T83" fmla="*/ 0 h 1287"/>
                  <a:gd name="T84" fmla="*/ 514 w 1287"/>
                  <a:gd name="T85" fmla="*/ 13 h 1287"/>
                  <a:gd name="T86" fmla="*/ 365 w 1287"/>
                  <a:gd name="T87" fmla="*/ 63 h 1287"/>
                  <a:gd name="T88" fmla="*/ 234 w 1287"/>
                  <a:gd name="T89" fmla="*/ 147 h 1287"/>
                  <a:gd name="T90" fmla="*/ 128 w 1287"/>
                  <a:gd name="T91" fmla="*/ 258 h 1287"/>
                  <a:gd name="T92" fmla="*/ 50 w 1287"/>
                  <a:gd name="T93" fmla="*/ 393 h 1287"/>
                  <a:gd name="T94" fmla="*/ 7 w 1287"/>
                  <a:gd name="T95" fmla="*/ 546 h 1287"/>
                  <a:gd name="T96" fmla="*/ 3 w 1287"/>
                  <a:gd name="T97" fmla="*/ 710 h 1287"/>
                  <a:gd name="T98" fmla="*/ 39 w 1287"/>
                  <a:gd name="T99" fmla="*/ 865 h 1287"/>
                  <a:gd name="T100" fmla="*/ 109 w 1287"/>
                  <a:gd name="T101" fmla="*/ 1004 h 1287"/>
                  <a:gd name="T102" fmla="*/ 210 w 1287"/>
                  <a:gd name="T103" fmla="*/ 1119 h 1287"/>
                  <a:gd name="T104" fmla="*/ 337 w 1287"/>
                  <a:gd name="T105" fmla="*/ 1210 h 1287"/>
                  <a:gd name="T106" fmla="*/ 483 w 1287"/>
                  <a:gd name="T107" fmla="*/ 1266 h 1287"/>
                  <a:gd name="T108" fmla="*/ 643 w 1287"/>
                  <a:gd name="T109"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87" h="1287">
                    <a:moveTo>
                      <a:pt x="643" y="1287"/>
                    </a:moveTo>
                    <a:lnTo>
                      <a:pt x="677" y="1287"/>
                    </a:lnTo>
                    <a:lnTo>
                      <a:pt x="709" y="1284"/>
                    </a:lnTo>
                    <a:lnTo>
                      <a:pt x="741" y="1279"/>
                    </a:lnTo>
                    <a:lnTo>
                      <a:pt x="773" y="1274"/>
                    </a:lnTo>
                    <a:lnTo>
                      <a:pt x="804" y="1266"/>
                    </a:lnTo>
                    <a:lnTo>
                      <a:pt x="834" y="1258"/>
                    </a:lnTo>
                    <a:lnTo>
                      <a:pt x="864" y="1248"/>
                    </a:lnTo>
                    <a:lnTo>
                      <a:pt x="893" y="1236"/>
                    </a:lnTo>
                    <a:lnTo>
                      <a:pt x="922" y="1224"/>
                    </a:lnTo>
                    <a:lnTo>
                      <a:pt x="950" y="1210"/>
                    </a:lnTo>
                    <a:lnTo>
                      <a:pt x="977" y="1195"/>
                    </a:lnTo>
                    <a:lnTo>
                      <a:pt x="1003" y="1177"/>
                    </a:lnTo>
                    <a:lnTo>
                      <a:pt x="1028" y="1159"/>
                    </a:lnTo>
                    <a:lnTo>
                      <a:pt x="1053" y="1140"/>
                    </a:lnTo>
                    <a:lnTo>
                      <a:pt x="1076" y="1119"/>
                    </a:lnTo>
                    <a:lnTo>
                      <a:pt x="1098" y="1099"/>
                    </a:lnTo>
                    <a:lnTo>
                      <a:pt x="1120" y="1077"/>
                    </a:lnTo>
                    <a:lnTo>
                      <a:pt x="1140" y="1053"/>
                    </a:lnTo>
                    <a:lnTo>
                      <a:pt x="1159" y="1028"/>
                    </a:lnTo>
                    <a:lnTo>
                      <a:pt x="1177" y="1004"/>
                    </a:lnTo>
                    <a:lnTo>
                      <a:pt x="1194" y="977"/>
                    </a:lnTo>
                    <a:lnTo>
                      <a:pt x="1210" y="950"/>
                    </a:lnTo>
                    <a:lnTo>
                      <a:pt x="1224" y="922"/>
                    </a:lnTo>
                    <a:lnTo>
                      <a:pt x="1237" y="894"/>
                    </a:lnTo>
                    <a:lnTo>
                      <a:pt x="1248" y="865"/>
                    </a:lnTo>
                    <a:lnTo>
                      <a:pt x="1258" y="835"/>
                    </a:lnTo>
                    <a:lnTo>
                      <a:pt x="1267" y="804"/>
                    </a:lnTo>
                    <a:lnTo>
                      <a:pt x="1274" y="773"/>
                    </a:lnTo>
                    <a:lnTo>
                      <a:pt x="1279" y="742"/>
                    </a:lnTo>
                    <a:lnTo>
                      <a:pt x="1284" y="710"/>
                    </a:lnTo>
                    <a:lnTo>
                      <a:pt x="1286" y="677"/>
                    </a:lnTo>
                    <a:lnTo>
                      <a:pt x="1287" y="643"/>
                    </a:lnTo>
                    <a:lnTo>
                      <a:pt x="1286" y="622"/>
                    </a:lnTo>
                    <a:lnTo>
                      <a:pt x="1285" y="600"/>
                    </a:lnTo>
                    <a:lnTo>
                      <a:pt x="1283" y="577"/>
                    </a:lnTo>
                    <a:lnTo>
                      <a:pt x="1279" y="553"/>
                    </a:lnTo>
                    <a:lnTo>
                      <a:pt x="1275" y="529"/>
                    </a:lnTo>
                    <a:lnTo>
                      <a:pt x="1270" y="504"/>
                    </a:lnTo>
                    <a:lnTo>
                      <a:pt x="1263" y="479"/>
                    </a:lnTo>
                    <a:lnTo>
                      <a:pt x="1256" y="455"/>
                    </a:lnTo>
                    <a:lnTo>
                      <a:pt x="1247" y="431"/>
                    </a:lnTo>
                    <a:lnTo>
                      <a:pt x="1237" y="407"/>
                    </a:lnTo>
                    <a:lnTo>
                      <a:pt x="1226" y="385"/>
                    </a:lnTo>
                    <a:lnTo>
                      <a:pt x="1214" y="363"/>
                    </a:lnTo>
                    <a:lnTo>
                      <a:pt x="1200" y="343"/>
                    </a:lnTo>
                    <a:lnTo>
                      <a:pt x="1186" y="325"/>
                    </a:lnTo>
                    <a:lnTo>
                      <a:pt x="1179" y="316"/>
                    </a:lnTo>
                    <a:lnTo>
                      <a:pt x="1170" y="308"/>
                    </a:lnTo>
                    <a:lnTo>
                      <a:pt x="1161" y="300"/>
                    </a:lnTo>
                    <a:lnTo>
                      <a:pt x="1153" y="293"/>
                    </a:lnTo>
                    <a:lnTo>
                      <a:pt x="1150" y="294"/>
                    </a:lnTo>
                    <a:lnTo>
                      <a:pt x="1144" y="298"/>
                    </a:lnTo>
                    <a:lnTo>
                      <a:pt x="1136" y="304"/>
                    </a:lnTo>
                    <a:lnTo>
                      <a:pt x="1127" y="313"/>
                    </a:lnTo>
                    <a:lnTo>
                      <a:pt x="1111" y="328"/>
                    </a:lnTo>
                    <a:lnTo>
                      <a:pt x="1105" y="335"/>
                    </a:lnTo>
                    <a:lnTo>
                      <a:pt x="1046" y="394"/>
                    </a:lnTo>
                    <a:lnTo>
                      <a:pt x="1054" y="408"/>
                    </a:lnTo>
                    <a:lnTo>
                      <a:pt x="1062" y="422"/>
                    </a:lnTo>
                    <a:lnTo>
                      <a:pt x="1069" y="436"/>
                    </a:lnTo>
                    <a:lnTo>
                      <a:pt x="1076" y="451"/>
                    </a:lnTo>
                    <a:lnTo>
                      <a:pt x="1082" y="466"/>
                    </a:lnTo>
                    <a:lnTo>
                      <a:pt x="1087" y="481"/>
                    </a:lnTo>
                    <a:lnTo>
                      <a:pt x="1093" y="496"/>
                    </a:lnTo>
                    <a:lnTo>
                      <a:pt x="1098" y="512"/>
                    </a:lnTo>
                    <a:lnTo>
                      <a:pt x="1103" y="527"/>
                    </a:lnTo>
                    <a:lnTo>
                      <a:pt x="1106" y="544"/>
                    </a:lnTo>
                    <a:lnTo>
                      <a:pt x="1109" y="560"/>
                    </a:lnTo>
                    <a:lnTo>
                      <a:pt x="1112" y="577"/>
                    </a:lnTo>
                    <a:lnTo>
                      <a:pt x="1114" y="593"/>
                    </a:lnTo>
                    <a:lnTo>
                      <a:pt x="1115" y="610"/>
                    </a:lnTo>
                    <a:lnTo>
                      <a:pt x="1116" y="626"/>
                    </a:lnTo>
                    <a:lnTo>
                      <a:pt x="1116" y="643"/>
                    </a:lnTo>
                    <a:lnTo>
                      <a:pt x="1116" y="668"/>
                    </a:lnTo>
                    <a:lnTo>
                      <a:pt x="1114" y="692"/>
                    </a:lnTo>
                    <a:lnTo>
                      <a:pt x="1111" y="715"/>
                    </a:lnTo>
                    <a:lnTo>
                      <a:pt x="1107" y="739"/>
                    </a:lnTo>
                    <a:lnTo>
                      <a:pt x="1101" y="761"/>
                    </a:lnTo>
                    <a:lnTo>
                      <a:pt x="1095" y="784"/>
                    </a:lnTo>
                    <a:lnTo>
                      <a:pt x="1087" y="806"/>
                    </a:lnTo>
                    <a:lnTo>
                      <a:pt x="1079" y="828"/>
                    </a:lnTo>
                    <a:lnTo>
                      <a:pt x="1070" y="848"/>
                    </a:lnTo>
                    <a:lnTo>
                      <a:pt x="1060" y="869"/>
                    </a:lnTo>
                    <a:lnTo>
                      <a:pt x="1048" y="889"/>
                    </a:lnTo>
                    <a:lnTo>
                      <a:pt x="1036" y="908"/>
                    </a:lnTo>
                    <a:lnTo>
                      <a:pt x="1023" y="926"/>
                    </a:lnTo>
                    <a:lnTo>
                      <a:pt x="1008" y="945"/>
                    </a:lnTo>
                    <a:lnTo>
                      <a:pt x="994" y="962"/>
                    </a:lnTo>
                    <a:lnTo>
                      <a:pt x="978" y="978"/>
                    </a:lnTo>
                    <a:lnTo>
                      <a:pt x="962" y="994"/>
                    </a:lnTo>
                    <a:lnTo>
                      <a:pt x="945" y="1009"/>
                    </a:lnTo>
                    <a:lnTo>
                      <a:pt x="927" y="1023"/>
                    </a:lnTo>
                    <a:lnTo>
                      <a:pt x="908" y="1036"/>
                    </a:lnTo>
                    <a:lnTo>
                      <a:pt x="889" y="1049"/>
                    </a:lnTo>
                    <a:lnTo>
                      <a:pt x="869" y="1059"/>
                    </a:lnTo>
                    <a:lnTo>
                      <a:pt x="848" y="1070"/>
                    </a:lnTo>
                    <a:lnTo>
                      <a:pt x="828" y="1080"/>
                    </a:lnTo>
                    <a:lnTo>
                      <a:pt x="806" y="1088"/>
                    </a:lnTo>
                    <a:lnTo>
                      <a:pt x="784" y="1096"/>
                    </a:lnTo>
                    <a:lnTo>
                      <a:pt x="761" y="1101"/>
                    </a:lnTo>
                    <a:lnTo>
                      <a:pt x="739" y="1107"/>
                    </a:lnTo>
                    <a:lnTo>
                      <a:pt x="715" y="1111"/>
                    </a:lnTo>
                    <a:lnTo>
                      <a:pt x="692" y="1114"/>
                    </a:lnTo>
                    <a:lnTo>
                      <a:pt x="668" y="1116"/>
                    </a:lnTo>
                    <a:lnTo>
                      <a:pt x="643" y="1116"/>
                    </a:lnTo>
                    <a:lnTo>
                      <a:pt x="619" y="1116"/>
                    </a:lnTo>
                    <a:lnTo>
                      <a:pt x="595" y="1114"/>
                    </a:lnTo>
                    <a:lnTo>
                      <a:pt x="572" y="1111"/>
                    </a:lnTo>
                    <a:lnTo>
                      <a:pt x="548" y="1107"/>
                    </a:lnTo>
                    <a:lnTo>
                      <a:pt x="525" y="1101"/>
                    </a:lnTo>
                    <a:lnTo>
                      <a:pt x="503" y="1096"/>
                    </a:lnTo>
                    <a:lnTo>
                      <a:pt x="480" y="1088"/>
                    </a:lnTo>
                    <a:lnTo>
                      <a:pt x="459" y="1080"/>
                    </a:lnTo>
                    <a:lnTo>
                      <a:pt x="439" y="1070"/>
                    </a:lnTo>
                    <a:lnTo>
                      <a:pt x="418" y="1059"/>
                    </a:lnTo>
                    <a:lnTo>
                      <a:pt x="398" y="1049"/>
                    </a:lnTo>
                    <a:lnTo>
                      <a:pt x="379" y="1036"/>
                    </a:lnTo>
                    <a:lnTo>
                      <a:pt x="360" y="1023"/>
                    </a:lnTo>
                    <a:lnTo>
                      <a:pt x="342" y="1009"/>
                    </a:lnTo>
                    <a:lnTo>
                      <a:pt x="325" y="994"/>
                    </a:lnTo>
                    <a:lnTo>
                      <a:pt x="309" y="978"/>
                    </a:lnTo>
                    <a:lnTo>
                      <a:pt x="293" y="962"/>
                    </a:lnTo>
                    <a:lnTo>
                      <a:pt x="279" y="945"/>
                    </a:lnTo>
                    <a:lnTo>
                      <a:pt x="264" y="926"/>
                    </a:lnTo>
                    <a:lnTo>
                      <a:pt x="251" y="908"/>
                    </a:lnTo>
                    <a:lnTo>
                      <a:pt x="239" y="889"/>
                    </a:lnTo>
                    <a:lnTo>
                      <a:pt x="227" y="869"/>
                    </a:lnTo>
                    <a:lnTo>
                      <a:pt x="217" y="848"/>
                    </a:lnTo>
                    <a:lnTo>
                      <a:pt x="207" y="828"/>
                    </a:lnTo>
                    <a:lnTo>
                      <a:pt x="198" y="806"/>
                    </a:lnTo>
                    <a:lnTo>
                      <a:pt x="192" y="784"/>
                    </a:lnTo>
                    <a:lnTo>
                      <a:pt x="186" y="761"/>
                    </a:lnTo>
                    <a:lnTo>
                      <a:pt x="180" y="739"/>
                    </a:lnTo>
                    <a:lnTo>
                      <a:pt x="176" y="715"/>
                    </a:lnTo>
                    <a:lnTo>
                      <a:pt x="173" y="692"/>
                    </a:lnTo>
                    <a:lnTo>
                      <a:pt x="170" y="668"/>
                    </a:lnTo>
                    <a:lnTo>
                      <a:pt x="170" y="643"/>
                    </a:lnTo>
                    <a:lnTo>
                      <a:pt x="170" y="620"/>
                    </a:lnTo>
                    <a:lnTo>
                      <a:pt x="173" y="595"/>
                    </a:lnTo>
                    <a:lnTo>
                      <a:pt x="176" y="571"/>
                    </a:lnTo>
                    <a:lnTo>
                      <a:pt x="180" y="548"/>
                    </a:lnTo>
                    <a:lnTo>
                      <a:pt x="186" y="525"/>
                    </a:lnTo>
                    <a:lnTo>
                      <a:pt x="192" y="503"/>
                    </a:lnTo>
                    <a:lnTo>
                      <a:pt x="198" y="481"/>
                    </a:lnTo>
                    <a:lnTo>
                      <a:pt x="207" y="460"/>
                    </a:lnTo>
                    <a:lnTo>
                      <a:pt x="217" y="438"/>
                    </a:lnTo>
                    <a:lnTo>
                      <a:pt x="227" y="418"/>
                    </a:lnTo>
                    <a:lnTo>
                      <a:pt x="239" y="399"/>
                    </a:lnTo>
                    <a:lnTo>
                      <a:pt x="251" y="379"/>
                    </a:lnTo>
                    <a:lnTo>
                      <a:pt x="264" y="360"/>
                    </a:lnTo>
                    <a:lnTo>
                      <a:pt x="278" y="343"/>
                    </a:lnTo>
                    <a:lnTo>
                      <a:pt x="293" y="326"/>
                    </a:lnTo>
                    <a:lnTo>
                      <a:pt x="309" y="309"/>
                    </a:lnTo>
                    <a:lnTo>
                      <a:pt x="325" y="294"/>
                    </a:lnTo>
                    <a:lnTo>
                      <a:pt x="342" y="279"/>
                    </a:lnTo>
                    <a:lnTo>
                      <a:pt x="360" y="265"/>
                    </a:lnTo>
                    <a:lnTo>
                      <a:pt x="379" y="251"/>
                    </a:lnTo>
                    <a:lnTo>
                      <a:pt x="398" y="239"/>
                    </a:lnTo>
                    <a:lnTo>
                      <a:pt x="418" y="227"/>
                    </a:lnTo>
                    <a:lnTo>
                      <a:pt x="439" y="218"/>
                    </a:lnTo>
                    <a:lnTo>
                      <a:pt x="459" y="208"/>
                    </a:lnTo>
                    <a:lnTo>
                      <a:pt x="480" y="199"/>
                    </a:lnTo>
                    <a:lnTo>
                      <a:pt x="503" y="192"/>
                    </a:lnTo>
                    <a:lnTo>
                      <a:pt x="525" y="185"/>
                    </a:lnTo>
                    <a:lnTo>
                      <a:pt x="548" y="180"/>
                    </a:lnTo>
                    <a:lnTo>
                      <a:pt x="572" y="176"/>
                    </a:lnTo>
                    <a:lnTo>
                      <a:pt x="595" y="172"/>
                    </a:lnTo>
                    <a:lnTo>
                      <a:pt x="619" y="171"/>
                    </a:lnTo>
                    <a:lnTo>
                      <a:pt x="643" y="170"/>
                    </a:lnTo>
                    <a:lnTo>
                      <a:pt x="661" y="170"/>
                    </a:lnTo>
                    <a:lnTo>
                      <a:pt x="678" y="171"/>
                    </a:lnTo>
                    <a:lnTo>
                      <a:pt x="694" y="174"/>
                    </a:lnTo>
                    <a:lnTo>
                      <a:pt x="711" y="176"/>
                    </a:lnTo>
                    <a:lnTo>
                      <a:pt x="727" y="178"/>
                    </a:lnTo>
                    <a:lnTo>
                      <a:pt x="743" y="181"/>
                    </a:lnTo>
                    <a:lnTo>
                      <a:pt x="759" y="184"/>
                    </a:lnTo>
                    <a:lnTo>
                      <a:pt x="775" y="189"/>
                    </a:lnTo>
                    <a:lnTo>
                      <a:pt x="790" y="194"/>
                    </a:lnTo>
                    <a:lnTo>
                      <a:pt x="806" y="199"/>
                    </a:lnTo>
                    <a:lnTo>
                      <a:pt x="822" y="205"/>
                    </a:lnTo>
                    <a:lnTo>
                      <a:pt x="835" y="211"/>
                    </a:lnTo>
                    <a:lnTo>
                      <a:pt x="850" y="219"/>
                    </a:lnTo>
                    <a:lnTo>
                      <a:pt x="864" y="225"/>
                    </a:lnTo>
                    <a:lnTo>
                      <a:pt x="878" y="234"/>
                    </a:lnTo>
                    <a:lnTo>
                      <a:pt x="892" y="241"/>
                    </a:lnTo>
                    <a:lnTo>
                      <a:pt x="946" y="189"/>
                    </a:lnTo>
                    <a:lnTo>
                      <a:pt x="954" y="179"/>
                    </a:lnTo>
                    <a:lnTo>
                      <a:pt x="974" y="160"/>
                    </a:lnTo>
                    <a:lnTo>
                      <a:pt x="983" y="149"/>
                    </a:lnTo>
                    <a:lnTo>
                      <a:pt x="991" y="139"/>
                    </a:lnTo>
                    <a:lnTo>
                      <a:pt x="994" y="136"/>
                    </a:lnTo>
                    <a:lnTo>
                      <a:pt x="996" y="132"/>
                    </a:lnTo>
                    <a:lnTo>
                      <a:pt x="997" y="130"/>
                    </a:lnTo>
                    <a:lnTo>
                      <a:pt x="997" y="128"/>
                    </a:lnTo>
                    <a:lnTo>
                      <a:pt x="976" y="109"/>
                    </a:lnTo>
                    <a:lnTo>
                      <a:pt x="954" y="91"/>
                    </a:lnTo>
                    <a:lnTo>
                      <a:pt x="932" y="76"/>
                    </a:lnTo>
                    <a:lnTo>
                      <a:pt x="911" y="62"/>
                    </a:lnTo>
                    <a:lnTo>
                      <a:pt x="888" y="50"/>
                    </a:lnTo>
                    <a:lnTo>
                      <a:pt x="864" y="39"/>
                    </a:lnTo>
                    <a:lnTo>
                      <a:pt x="842" y="31"/>
                    </a:lnTo>
                    <a:lnTo>
                      <a:pt x="818" y="23"/>
                    </a:lnTo>
                    <a:lnTo>
                      <a:pt x="796" y="17"/>
                    </a:lnTo>
                    <a:lnTo>
                      <a:pt x="773" y="12"/>
                    </a:lnTo>
                    <a:lnTo>
                      <a:pt x="751" y="7"/>
                    </a:lnTo>
                    <a:lnTo>
                      <a:pt x="728" y="5"/>
                    </a:lnTo>
                    <a:lnTo>
                      <a:pt x="706" y="2"/>
                    </a:lnTo>
                    <a:lnTo>
                      <a:pt x="684" y="1"/>
                    </a:lnTo>
                    <a:lnTo>
                      <a:pt x="664" y="0"/>
                    </a:lnTo>
                    <a:lnTo>
                      <a:pt x="643" y="0"/>
                    </a:lnTo>
                    <a:lnTo>
                      <a:pt x="610" y="1"/>
                    </a:lnTo>
                    <a:lnTo>
                      <a:pt x="577" y="3"/>
                    </a:lnTo>
                    <a:lnTo>
                      <a:pt x="545" y="7"/>
                    </a:lnTo>
                    <a:lnTo>
                      <a:pt x="514" y="13"/>
                    </a:lnTo>
                    <a:lnTo>
                      <a:pt x="483" y="20"/>
                    </a:lnTo>
                    <a:lnTo>
                      <a:pt x="451" y="29"/>
                    </a:lnTo>
                    <a:lnTo>
                      <a:pt x="421" y="39"/>
                    </a:lnTo>
                    <a:lnTo>
                      <a:pt x="393" y="50"/>
                    </a:lnTo>
                    <a:lnTo>
                      <a:pt x="365" y="63"/>
                    </a:lnTo>
                    <a:lnTo>
                      <a:pt x="337" y="78"/>
                    </a:lnTo>
                    <a:lnTo>
                      <a:pt x="310" y="93"/>
                    </a:lnTo>
                    <a:lnTo>
                      <a:pt x="283" y="110"/>
                    </a:lnTo>
                    <a:lnTo>
                      <a:pt x="258" y="127"/>
                    </a:lnTo>
                    <a:lnTo>
                      <a:pt x="234" y="147"/>
                    </a:lnTo>
                    <a:lnTo>
                      <a:pt x="210" y="167"/>
                    </a:lnTo>
                    <a:lnTo>
                      <a:pt x="189" y="189"/>
                    </a:lnTo>
                    <a:lnTo>
                      <a:pt x="167" y="211"/>
                    </a:lnTo>
                    <a:lnTo>
                      <a:pt x="147" y="234"/>
                    </a:lnTo>
                    <a:lnTo>
                      <a:pt x="128" y="258"/>
                    </a:lnTo>
                    <a:lnTo>
                      <a:pt x="109" y="284"/>
                    </a:lnTo>
                    <a:lnTo>
                      <a:pt x="93" y="310"/>
                    </a:lnTo>
                    <a:lnTo>
                      <a:pt x="77" y="337"/>
                    </a:lnTo>
                    <a:lnTo>
                      <a:pt x="63" y="364"/>
                    </a:lnTo>
                    <a:lnTo>
                      <a:pt x="50" y="393"/>
                    </a:lnTo>
                    <a:lnTo>
                      <a:pt x="39" y="422"/>
                    </a:lnTo>
                    <a:lnTo>
                      <a:pt x="29" y="452"/>
                    </a:lnTo>
                    <a:lnTo>
                      <a:pt x="20" y="482"/>
                    </a:lnTo>
                    <a:lnTo>
                      <a:pt x="13" y="514"/>
                    </a:lnTo>
                    <a:lnTo>
                      <a:pt x="7" y="546"/>
                    </a:lnTo>
                    <a:lnTo>
                      <a:pt x="3" y="578"/>
                    </a:lnTo>
                    <a:lnTo>
                      <a:pt x="0" y="610"/>
                    </a:lnTo>
                    <a:lnTo>
                      <a:pt x="0" y="643"/>
                    </a:lnTo>
                    <a:lnTo>
                      <a:pt x="0" y="677"/>
                    </a:lnTo>
                    <a:lnTo>
                      <a:pt x="3" y="710"/>
                    </a:lnTo>
                    <a:lnTo>
                      <a:pt x="7" y="742"/>
                    </a:lnTo>
                    <a:lnTo>
                      <a:pt x="13" y="773"/>
                    </a:lnTo>
                    <a:lnTo>
                      <a:pt x="20" y="804"/>
                    </a:lnTo>
                    <a:lnTo>
                      <a:pt x="29" y="835"/>
                    </a:lnTo>
                    <a:lnTo>
                      <a:pt x="39" y="865"/>
                    </a:lnTo>
                    <a:lnTo>
                      <a:pt x="50" y="894"/>
                    </a:lnTo>
                    <a:lnTo>
                      <a:pt x="63" y="922"/>
                    </a:lnTo>
                    <a:lnTo>
                      <a:pt x="77" y="950"/>
                    </a:lnTo>
                    <a:lnTo>
                      <a:pt x="93" y="977"/>
                    </a:lnTo>
                    <a:lnTo>
                      <a:pt x="109" y="1004"/>
                    </a:lnTo>
                    <a:lnTo>
                      <a:pt x="128" y="1028"/>
                    </a:lnTo>
                    <a:lnTo>
                      <a:pt x="147" y="1053"/>
                    </a:lnTo>
                    <a:lnTo>
                      <a:pt x="167" y="1077"/>
                    </a:lnTo>
                    <a:lnTo>
                      <a:pt x="189" y="1099"/>
                    </a:lnTo>
                    <a:lnTo>
                      <a:pt x="210" y="1119"/>
                    </a:lnTo>
                    <a:lnTo>
                      <a:pt x="234" y="1140"/>
                    </a:lnTo>
                    <a:lnTo>
                      <a:pt x="258" y="1159"/>
                    </a:lnTo>
                    <a:lnTo>
                      <a:pt x="283" y="1177"/>
                    </a:lnTo>
                    <a:lnTo>
                      <a:pt x="310" y="1195"/>
                    </a:lnTo>
                    <a:lnTo>
                      <a:pt x="337" y="1210"/>
                    </a:lnTo>
                    <a:lnTo>
                      <a:pt x="365" y="1224"/>
                    </a:lnTo>
                    <a:lnTo>
                      <a:pt x="393" y="1236"/>
                    </a:lnTo>
                    <a:lnTo>
                      <a:pt x="423" y="1248"/>
                    </a:lnTo>
                    <a:lnTo>
                      <a:pt x="451" y="1258"/>
                    </a:lnTo>
                    <a:lnTo>
                      <a:pt x="483" y="1266"/>
                    </a:lnTo>
                    <a:lnTo>
                      <a:pt x="514" y="1274"/>
                    </a:lnTo>
                    <a:lnTo>
                      <a:pt x="545" y="1279"/>
                    </a:lnTo>
                    <a:lnTo>
                      <a:pt x="577" y="1284"/>
                    </a:lnTo>
                    <a:lnTo>
                      <a:pt x="610" y="1287"/>
                    </a:lnTo>
                    <a:lnTo>
                      <a:pt x="643" y="12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80" name="Freeform 79"/>
              <p:cNvSpPr>
                <a:spLocks/>
              </p:cNvSpPr>
              <p:nvPr/>
            </p:nvSpPr>
            <p:spPr bwMode="auto">
              <a:xfrm>
                <a:off x="3875088" y="3714750"/>
                <a:ext cx="200025" cy="201613"/>
              </a:xfrm>
              <a:custGeom>
                <a:avLst/>
                <a:gdLst>
                  <a:gd name="T0" fmla="*/ 330 w 634"/>
                  <a:gd name="T1" fmla="*/ 151 h 634"/>
                  <a:gd name="T2" fmla="*/ 435 w 634"/>
                  <a:gd name="T3" fmla="*/ 22 h 634"/>
                  <a:gd name="T4" fmla="*/ 387 w 634"/>
                  <a:gd name="T5" fmla="*/ 7 h 634"/>
                  <a:gd name="T6" fmla="*/ 335 w 634"/>
                  <a:gd name="T7" fmla="*/ 0 h 634"/>
                  <a:gd name="T8" fmla="*/ 285 w 634"/>
                  <a:gd name="T9" fmla="*/ 1 h 634"/>
                  <a:gd name="T10" fmla="*/ 238 w 634"/>
                  <a:gd name="T11" fmla="*/ 10 h 634"/>
                  <a:gd name="T12" fmla="*/ 194 w 634"/>
                  <a:gd name="T13" fmla="*/ 25 h 634"/>
                  <a:gd name="T14" fmla="*/ 153 w 634"/>
                  <a:gd name="T15" fmla="*/ 45 h 634"/>
                  <a:gd name="T16" fmla="*/ 116 w 634"/>
                  <a:gd name="T17" fmla="*/ 72 h 634"/>
                  <a:gd name="T18" fmla="*/ 83 w 634"/>
                  <a:gd name="T19" fmla="*/ 103 h 634"/>
                  <a:gd name="T20" fmla="*/ 55 w 634"/>
                  <a:gd name="T21" fmla="*/ 139 h 634"/>
                  <a:gd name="T22" fmla="*/ 32 w 634"/>
                  <a:gd name="T23" fmla="*/ 179 h 634"/>
                  <a:gd name="T24" fmla="*/ 15 w 634"/>
                  <a:gd name="T25" fmla="*/ 222 h 634"/>
                  <a:gd name="T26" fmla="*/ 4 w 634"/>
                  <a:gd name="T27" fmla="*/ 268 h 634"/>
                  <a:gd name="T28" fmla="*/ 0 w 634"/>
                  <a:gd name="T29" fmla="*/ 316 h 634"/>
                  <a:gd name="T30" fmla="*/ 4 w 634"/>
                  <a:gd name="T31" fmla="*/ 365 h 634"/>
                  <a:gd name="T32" fmla="*/ 15 w 634"/>
                  <a:gd name="T33" fmla="*/ 411 h 634"/>
                  <a:gd name="T34" fmla="*/ 32 w 634"/>
                  <a:gd name="T35" fmla="*/ 454 h 634"/>
                  <a:gd name="T36" fmla="*/ 55 w 634"/>
                  <a:gd name="T37" fmla="*/ 493 h 634"/>
                  <a:gd name="T38" fmla="*/ 83 w 634"/>
                  <a:gd name="T39" fmla="*/ 530 h 634"/>
                  <a:gd name="T40" fmla="*/ 116 w 634"/>
                  <a:gd name="T41" fmla="*/ 561 h 634"/>
                  <a:gd name="T42" fmla="*/ 153 w 634"/>
                  <a:gd name="T43" fmla="*/ 588 h 634"/>
                  <a:gd name="T44" fmla="*/ 194 w 634"/>
                  <a:gd name="T45" fmla="*/ 608 h 634"/>
                  <a:gd name="T46" fmla="*/ 238 w 634"/>
                  <a:gd name="T47" fmla="*/ 623 h 634"/>
                  <a:gd name="T48" fmla="*/ 285 w 634"/>
                  <a:gd name="T49" fmla="*/ 632 h 634"/>
                  <a:gd name="T50" fmla="*/ 334 w 634"/>
                  <a:gd name="T51" fmla="*/ 633 h 634"/>
                  <a:gd name="T52" fmla="*/ 381 w 634"/>
                  <a:gd name="T53" fmla="*/ 627 h 634"/>
                  <a:gd name="T54" fmla="*/ 426 w 634"/>
                  <a:gd name="T55" fmla="*/ 614 h 634"/>
                  <a:gd name="T56" fmla="*/ 469 w 634"/>
                  <a:gd name="T57" fmla="*/ 595 h 634"/>
                  <a:gd name="T58" fmla="*/ 507 w 634"/>
                  <a:gd name="T59" fmla="*/ 570 h 634"/>
                  <a:gd name="T60" fmla="*/ 542 w 634"/>
                  <a:gd name="T61" fmla="*/ 540 h 634"/>
                  <a:gd name="T62" fmla="*/ 572 w 634"/>
                  <a:gd name="T63" fmla="*/ 506 h 634"/>
                  <a:gd name="T64" fmla="*/ 596 w 634"/>
                  <a:gd name="T65" fmla="*/ 468 h 634"/>
                  <a:gd name="T66" fmla="*/ 615 w 634"/>
                  <a:gd name="T67" fmla="*/ 426 h 634"/>
                  <a:gd name="T68" fmla="*/ 627 w 634"/>
                  <a:gd name="T69" fmla="*/ 381 h 634"/>
                  <a:gd name="T70" fmla="*/ 634 w 634"/>
                  <a:gd name="T71" fmla="*/ 332 h 634"/>
                  <a:gd name="T72" fmla="*/ 633 w 634"/>
                  <a:gd name="T73" fmla="*/ 281 h 634"/>
                  <a:gd name="T74" fmla="*/ 622 w 634"/>
                  <a:gd name="T75" fmla="*/ 230 h 634"/>
                  <a:gd name="T76" fmla="*/ 605 w 634"/>
                  <a:gd name="T77" fmla="*/ 182 h 634"/>
                  <a:gd name="T78" fmla="*/ 484 w 634"/>
                  <a:gd name="T79" fmla="*/ 310 h 634"/>
                  <a:gd name="T80" fmla="*/ 480 w 634"/>
                  <a:gd name="T81" fmla="*/ 350 h 634"/>
                  <a:gd name="T82" fmla="*/ 463 w 634"/>
                  <a:gd name="T83" fmla="*/ 396 h 634"/>
                  <a:gd name="T84" fmla="*/ 434 w 634"/>
                  <a:gd name="T85" fmla="*/ 434 h 634"/>
                  <a:gd name="T86" fmla="*/ 397 w 634"/>
                  <a:gd name="T87" fmla="*/ 463 h 634"/>
                  <a:gd name="T88" fmla="*/ 351 w 634"/>
                  <a:gd name="T89" fmla="*/ 479 h 634"/>
                  <a:gd name="T90" fmla="*/ 300 w 634"/>
                  <a:gd name="T91" fmla="*/ 481 h 634"/>
                  <a:gd name="T92" fmla="*/ 252 w 634"/>
                  <a:gd name="T93" fmla="*/ 470 h 634"/>
                  <a:gd name="T94" fmla="*/ 211 w 634"/>
                  <a:gd name="T95" fmla="*/ 445 h 634"/>
                  <a:gd name="T96" fmla="*/ 179 w 634"/>
                  <a:gd name="T97" fmla="*/ 410 h 634"/>
                  <a:gd name="T98" fmla="*/ 159 w 634"/>
                  <a:gd name="T99" fmla="*/ 366 h 634"/>
                  <a:gd name="T100" fmla="*/ 151 w 634"/>
                  <a:gd name="T101" fmla="*/ 316 h 634"/>
                  <a:gd name="T102" fmla="*/ 159 w 634"/>
                  <a:gd name="T103" fmla="*/ 267 h 634"/>
                  <a:gd name="T104" fmla="*/ 179 w 634"/>
                  <a:gd name="T105" fmla="*/ 224 h 634"/>
                  <a:gd name="T106" fmla="*/ 211 w 634"/>
                  <a:gd name="T107" fmla="*/ 189 h 634"/>
                  <a:gd name="T108" fmla="*/ 252 w 634"/>
                  <a:gd name="T109" fmla="*/ 163 h 634"/>
                  <a:gd name="T110" fmla="*/ 300 w 634"/>
                  <a:gd name="T111" fmla="*/ 151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4" h="634">
                    <a:moveTo>
                      <a:pt x="317" y="150"/>
                    </a:moveTo>
                    <a:lnTo>
                      <a:pt x="324" y="150"/>
                    </a:lnTo>
                    <a:lnTo>
                      <a:pt x="330" y="151"/>
                    </a:lnTo>
                    <a:lnTo>
                      <a:pt x="448" y="32"/>
                    </a:lnTo>
                    <a:lnTo>
                      <a:pt x="452" y="29"/>
                    </a:lnTo>
                    <a:lnTo>
                      <a:pt x="435" y="22"/>
                    </a:lnTo>
                    <a:lnTo>
                      <a:pt x="420" y="17"/>
                    </a:lnTo>
                    <a:lnTo>
                      <a:pt x="403" y="12"/>
                    </a:lnTo>
                    <a:lnTo>
                      <a:pt x="387" y="7"/>
                    </a:lnTo>
                    <a:lnTo>
                      <a:pt x="370" y="4"/>
                    </a:lnTo>
                    <a:lnTo>
                      <a:pt x="353" y="1"/>
                    </a:lnTo>
                    <a:lnTo>
                      <a:pt x="335" y="0"/>
                    </a:lnTo>
                    <a:lnTo>
                      <a:pt x="317" y="0"/>
                    </a:lnTo>
                    <a:lnTo>
                      <a:pt x="301" y="0"/>
                    </a:lnTo>
                    <a:lnTo>
                      <a:pt x="285" y="1"/>
                    </a:lnTo>
                    <a:lnTo>
                      <a:pt x="269" y="3"/>
                    </a:lnTo>
                    <a:lnTo>
                      <a:pt x="253" y="6"/>
                    </a:lnTo>
                    <a:lnTo>
                      <a:pt x="238" y="10"/>
                    </a:lnTo>
                    <a:lnTo>
                      <a:pt x="223" y="14"/>
                    </a:lnTo>
                    <a:lnTo>
                      <a:pt x="208" y="19"/>
                    </a:lnTo>
                    <a:lnTo>
                      <a:pt x="194" y="25"/>
                    </a:lnTo>
                    <a:lnTo>
                      <a:pt x="180" y="31"/>
                    </a:lnTo>
                    <a:lnTo>
                      <a:pt x="166" y="37"/>
                    </a:lnTo>
                    <a:lnTo>
                      <a:pt x="153" y="45"/>
                    </a:lnTo>
                    <a:lnTo>
                      <a:pt x="141" y="54"/>
                    </a:lnTo>
                    <a:lnTo>
                      <a:pt x="128" y="62"/>
                    </a:lnTo>
                    <a:lnTo>
                      <a:pt x="116" y="72"/>
                    </a:lnTo>
                    <a:lnTo>
                      <a:pt x="104" y="81"/>
                    </a:lnTo>
                    <a:lnTo>
                      <a:pt x="93" y="92"/>
                    </a:lnTo>
                    <a:lnTo>
                      <a:pt x="83" y="103"/>
                    </a:lnTo>
                    <a:lnTo>
                      <a:pt x="73" y="115"/>
                    </a:lnTo>
                    <a:lnTo>
                      <a:pt x="63" y="126"/>
                    </a:lnTo>
                    <a:lnTo>
                      <a:pt x="55" y="139"/>
                    </a:lnTo>
                    <a:lnTo>
                      <a:pt x="46" y="152"/>
                    </a:lnTo>
                    <a:lnTo>
                      <a:pt x="39" y="165"/>
                    </a:lnTo>
                    <a:lnTo>
                      <a:pt x="32" y="179"/>
                    </a:lnTo>
                    <a:lnTo>
                      <a:pt x="26" y="193"/>
                    </a:lnTo>
                    <a:lnTo>
                      <a:pt x="19" y="207"/>
                    </a:lnTo>
                    <a:lnTo>
                      <a:pt x="15" y="222"/>
                    </a:lnTo>
                    <a:lnTo>
                      <a:pt x="11" y="237"/>
                    </a:lnTo>
                    <a:lnTo>
                      <a:pt x="6" y="253"/>
                    </a:lnTo>
                    <a:lnTo>
                      <a:pt x="4" y="268"/>
                    </a:lnTo>
                    <a:lnTo>
                      <a:pt x="2" y="284"/>
                    </a:lnTo>
                    <a:lnTo>
                      <a:pt x="1" y="300"/>
                    </a:lnTo>
                    <a:lnTo>
                      <a:pt x="0" y="316"/>
                    </a:lnTo>
                    <a:lnTo>
                      <a:pt x="1" y="332"/>
                    </a:lnTo>
                    <a:lnTo>
                      <a:pt x="2" y="348"/>
                    </a:lnTo>
                    <a:lnTo>
                      <a:pt x="4" y="365"/>
                    </a:lnTo>
                    <a:lnTo>
                      <a:pt x="6" y="381"/>
                    </a:lnTo>
                    <a:lnTo>
                      <a:pt x="11" y="396"/>
                    </a:lnTo>
                    <a:lnTo>
                      <a:pt x="15" y="411"/>
                    </a:lnTo>
                    <a:lnTo>
                      <a:pt x="19" y="426"/>
                    </a:lnTo>
                    <a:lnTo>
                      <a:pt x="26" y="440"/>
                    </a:lnTo>
                    <a:lnTo>
                      <a:pt x="32" y="454"/>
                    </a:lnTo>
                    <a:lnTo>
                      <a:pt x="39" y="468"/>
                    </a:lnTo>
                    <a:lnTo>
                      <a:pt x="46" y="480"/>
                    </a:lnTo>
                    <a:lnTo>
                      <a:pt x="55" y="493"/>
                    </a:lnTo>
                    <a:lnTo>
                      <a:pt x="63" y="506"/>
                    </a:lnTo>
                    <a:lnTo>
                      <a:pt x="73" y="518"/>
                    </a:lnTo>
                    <a:lnTo>
                      <a:pt x="83" y="530"/>
                    </a:lnTo>
                    <a:lnTo>
                      <a:pt x="93" y="540"/>
                    </a:lnTo>
                    <a:lnTo>
                      <a:pt x="104" y="551"/>
                    </a:lnTo>
                    <a:lnTo>
                      <a:pt x="116" y="561"/>
                    </a:lnTo>
                    <a:lnTo>
                      <a:pt x="128" y="570"/>
                    </a:lnTo>
                    <a:lnTo>
                      <a:pt x="141" y="579"/>
                    </a:lnTo>
                    <a:lnTo>
                      <a:pt x="153" y="588"/>
                    </a:lnTo>
                    <a:lnTo>
                      <a:pt x="166" y="595"/>
                    </a:lnTo>
                    <a:lnTo>
                      <a:pt x="180" y="603"/>
                    </a:lnTo>
                    <a:lnTo>
                      <a:pt x="194" y="608"/>
                    </a:lnTo>
                    <a:lnTo>
                      <a:pt x="208" y="614"/>
                    </a:lnTo>
                    <a:lnTo>
                      <a:pt x="223" y="619"/>
                    </a:lnTo>
                    <a:lnTo>
                      <a:pt x="238" y="623"/>
                    </a:lnTo>
                    <a:lnTo>
                      <a:pt x="253" y="627"/>
                    </a:lnTo>
                    <a:lnTo>
                      <a:pt x="269" y="629"/>
                    </a:lnTo>
                    <a:lnTo>
                      <a:pt x="285" y="632"/>
                    </a:lnTo>
                    <a:lnTo>
                      <a:pt x="301" y="633"/>
                    </a:lnTo>
                    <a:lnTo>
                      <a:pt x="317" y="634"/>
                    </a:lnTo>
                    <a:lnTo>
                      <a:pt x="334" y="633"/>
                    </a:lnTo>
                    <a:lnTo>
                      <a:pt x="350" y="632"/>
                    </a:lnTo>
                    <a:lnTo>
                      <a:pt x="366" y="629"/>
                    </a:lnTo>
                    <a:lnTo>
                      <a:pt x="381" y="627"/>
                    </a:lnTo>
                    <a:lnTo>
                      <a:pt x="397" y="623"/>
                    </a:lnTo>
                    <a:lnTo>
                      <a:pt x="412" y="619"/>
                    </a:lnTo>
                    <a:lnTo>
                      <a:pt x="426" y="614"/>
                    </a:lnTo>
                    <a:lnTo>
                      <a:pt x="441" y="608"/>
                    </a:lnTo>
                    <a:lnTo>
                      <a:pt x="455" y="603"/>
                    </a:lnTo>
                    <a:lnTo>
                      <a:pt x="469" y="595"/>
                    </a:lnTo>
                    <a:lnTo>
                      <a:pt x="482" y="588"/>
                    </a:lnTo>
                    <a:lnTo>
                      <a:pt x="494" y="579"/>
                    </a:lnTo>
                    <a:lnTo>
                      <a:pt x="507" y="570"/>
                    </a:lnTo>
                    <a:lnTo>
                      <a:pt x="519" y="561"/>
                    </a:lnTo>
                    <a:lnTo>
                      <a:pt x="531" y="551"/>
                    </a:lnTo>
                    <a:lnTo>
                      <a:pt x="542" y="540"/>
                    </a:lnTo>
                    <a:lnTo>
                      <a:pt x="552" y="530"/>
                    </a:lnTo>
                    <a:lnTo>
                      <a:pt x="562" y="518"/>
                    </a:lnTo>
                    <a:lnTo>
                      <a:pt x="572" y="506"/>
                    </a:lnTo>
                    <a:lnTo>
                      <a:pt x="580" y="493"/>
                    </a:lnTo>
                    <a:lnTo>
                      <a:pt x="589" y="480"/>
                    </a:lnTo>
                    <a:lnTo>
                      <a:pt x="596" y="468"/>
                    </a:lnTo>
                    <a:lnTo>
                      <a:pt x="603" y="454"/>
                    </a:lnTo>
                    <a:lnTo>
                      <a:pt x="609" y="440"/>
                    </a:lnTo>
                    <a:lnTo>
                      <a:pt x="615" y="426"/>
                    </a:lnTo>
                    <a:lnTo>
                      <a:pt x="620" y="411"/>
                    </a:lnTo>
                    <a:lnTo>
                      <a:pt x="624" y="396"/>
                    </a:lnTo>
                    <a:lnTo>
                      <a:pt x="627" y="381"/>
                    </a:lnTo>
                    <a:lnTo>
                      <a:pt x="631" y="365"/>
                    </a:lnTo>
                    <a:lnTo>
                      <a:pt x="633" y="348"/>
                    </a:lnTo>
                    <a:lnTo>
                      <a:pt x="634" y="332"/>
                    </a:lnTo>
                    <a:lnTo>
                      <a:pt x="634" y="316"/>
                    </a:lnTo>
                    <a:lnTo>
                      <a:pt x="634" y="299"/>
                    </a:lnTo>
                    <a:lnTo>
                      <a:pt x="633" y="281"/>
                    </a:lnTo>
                    <a:lnTo>
                      <a:pt x="630" y="264"/>
                    </a:lnTo>
                    <a:lnTo>
                      <a:pt x="626" y="247"/>
                    </a:lnTo>
                    <a:lnTo>
                      <a:pt x="622" y="230"/>
                    </a:lnTo>
                    <a:lnTo>
                      <a:pt x="617" y="214"/>
                    </a:lnTo>
                    <a:lnTo>
                      <a:pt x="611" y="198"/>
                    </a:lnTo>
                    <a:lnTo>
                      <a:pt x="605" y="182"/>
                    </a:lnTo>
                    <a:lnTo>
                      <a:pt x="602" y="185"/>
                    </a:lnTo>
                    <a:lnTo>
                      <a:pt x="483" y="303"/>
                    </a:lnTo>
                    <a:lnTo>
                      <a:pt x="484" y="310"/>
                    </a:lnTo>
                    <a:lnTo>
                      <a:pt x="484" y="316"/>
                    </a:lnTo>
                    <a:lnTo>
                      <a:pt x="483" y="333"/>
                    </a:lnTo>
                    <a:lnTo>
                      <a:pt x="480" y="350"/>
                    </a:lnTo>
                    <a:lnTo>
                      <a:pt x="476" y="366"/>
                    </a:lnTo>
                    <a:lnTo>
                      <a:pt x="471" y="382"/>
                    </a:lnTo>
                    <a:lnTo>
                      <a:pt x="463" y="396"/>
                    </a:lnTo>
                    <a:lnTo>
                      <a:pt x="455" y="410"/>
                    </a:lnTo>
                    <a:lnTo>
                      <a:pt x="445" y="422"/>
                    </a:lnTo>
                    <a:lnTo>
                      <a:pt x="434" y="434"/>
                    </a:lnTo>
                    <a:lnTo>
                      <a:pt x="423" y="445"/>
                    </a:lnTo>
                    <a:lnTo>
                      <a:pt x="411" y="455"/>
                    </a:lnTo>
                    <a:lnTo>
                      <a:pt x="397" y="463"/>
                    </a:lnTo>
                    <a:lnTo>
                      <a:pt x="382" y="470"/>
                    </a:lnTo>
                    <a:lnTo>
                      <a:pt x="367" y="475"/>
                    </a:lnTo>
                    <a:lnTo>
                      <a:pt x="351" y="479"/>
                    </a:lnTo>
                    <a:lnTo>
                      <a:pt x="335" y="481"/>
                    </a:lnTo>
                    <a:lnTo>
                      <a:pt x="317" y="483"/>
                    </a:lnTo>
                    <a:lnTo>
                      <a:pt x="300" y="481"/>
                    </a:lnTo>
                    <a:lnTo>
                      <a:pt x="283" y="479"/>
                    </a:lnTo>
                    <a:lnTo>
                      <a:pt x="268" y="475"/>
                    </a:lnTo>
                    <a:lnTo>
                      <a:pt x="252" y="470"/>
                    </a:lnTo>
                    <a:lnTo>
                      <a:pt x="238" y="463"/>
                    </a:lnTo>
                    <a:lnTo>
                      <a:pt x="224" y="455"/>
                    </a:lnTo>
                    <a:lnTo>
                      <a:pt x="211" y="445"/>
                    </a:lnTo>
                    <a:lnTo>
                      <a:pt x="199" y="434"/>
                    </a:lnTo>
                    <a:lnTo>
                      <a:pt x="189" y="422"/>
                    </a:lnTo>
                    <a:lnTo>
                      <a:pt x="179" y="410"/>
                    </a:lnTo>
                    <a:lnTo>
                      <a:pt x="172" y="396"/>
                    </a:lnTo>
                    <a:lnTo>
                      <a:pt x="164" y="382"/>
                    </a:lnTo>
                    <a:lnTo>
                      <a:pt x="159" y="366"/>
                    </a:lnTo>
                    <a:lnTo>
                      <a:pt x="154" y="350"/>
                    </a:lnTo>
                    <a:lnTo>
                      <a:pt x="152" y="333"/>
                    </a:lnTo>
                    <a:lnTo>
                      <a:pt x="151" y="316"/>
                    </a:lnTo>
                    <a:lnTo>
                      <a:pt x="152" y="299"/>
                    </a:lnTo>
                    <a:lnTo>
                      <a:pt x="154" y="283"/>
                    </a:lnTo>
                    <a:lnTo>
                      <a:pt x="159" y="267"/>
                    </a:lnTo>
                    <a:lnTo>
                      <a:pt x="164" y="252"/>
                    </a:lnTo>
                    <a:lnTo>
                      <a:pt x="172" y="237"/>
                    </a:lnTo>
                    <a:lnTo>
                      <a:pt x="179" y="224"/>
                    </a:lnTo>
                    <a:lnTo>
                      <a:pt x="189" y="211"/>
                    </a:lnTo>
                    <a:lnTo>
                      <a:pt x="199" y="199"/>
                    </a:lnTo>
                    <a:lnTo>
                      <a:pt x="211" y="189"/>
                    </a:lnTo>
                    <a:lnTo>
                      <a:pt x="224" y="179"/>
                    </a:lnTo>
                    <a:lnTo>
                      <a:pt x="238" y="170"/>
                    </a:lnTo>
                    <a:lnTo>
                      <a:pt x="252" y="163"/>
                    </a:lnTo>
                    <a:lnTo>
                      <a:pt x="268" y="158"/>
                    </a:lnTo>
                    <a:lnTo>
                      <a:pt x="284" y="153"/>
                    </a:lnTo>
                    <a:lnTo>
                      <a:pt x="300" y="151"/>
                    </a:lnTo>
                    <a:lnTo>
                      <a:pt x="317" y="1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81" name="Freeform 80"/>
              <p:cNvSpPr>
                <a:spLocks/>
              </p:cNvSpPr>
              <p:nvPr/>
            </p:nvSpPr>
            <p:spPr bwMode="auto">
              <a:xfrm>
                <a:off x="3994150" y="3568700"/>
                <a:ext cx="227013" cy="227013"/>
              </a:xfrm>
              <a:custGeom>
                <a:avLst/>
                <a:gdLst>
                  <a:gd name="T0" fmla="*/ 638 w 712"/>
                  <a:gd name="T1" fmla="*/ 159 h 715"/>
                  <a:gd name="T2" fmla="*/ 647 w 712"/>
                  <a:gd name="T3" fmla="*/ 147 h 715"/>
                  <a:gd name="T4" fmla="*/ 651 w 712"/>
                  <a:gd name="T5" fmla="*/ 132 h 715"/>
                  <a:gd name="T6" fmla="*/ 647 w 712"/>
                  <a:gd name="T7" fmla="*/ 115 h 715"/>
                  <a:gd name="T8" fmla="*/ 638 w 712"/>
                  <a:gd name="T9" fmla="*/ 103 h 715"/>
                  <a:gd name="T10" fmla="*/ 608 w 712"/>
                  <a:gd name="T11" fmla="*/ 73 h 715"/>
                  <a:gd name="T12" fmla="*/ 593 w 712"/>
                  <a:gd name="T13" fmla="*/ 67 h 715"/>
                  <a:gd name="T14" fmla="*/ 578 w 712"/>
                  <a:gd name="T15" fmla="*/ 67 h 715"/>
                  <a:gd name="T16" fmla="*/ 563 w 712"/>
                  <a:gd name="T17" fmla="*/ 73 h 715"/>
                  <a:gd name="T18" fmla="*/ 517 w 712"/>
                  <a:gd name="T19" fmla="*/ 118 h 715"/>
                  <a:gd name="T20" fmla="*/ 507 w 712"/>
                  <a:gd name="T21" fmla="*/ 6 h 715"/>
                  <a:gd name="T22" fmla="*/ 500 w 712"/>
                  <a:gd name="T23" fmla="*/ 0 h 715"/>
                  <a:gd name="T24" fmla="*/ 490 w 712"/>
                  <a:gd name="T25" fmla="*/ 0 h 715"/>
                  <a:gd name="T26" fmla="*/ 329 w 712"/>
                  <a:gd name="T27" fmla="*/ 161 h 715"/>
                  <a:gd name="T28" fmla="*/ 319 w 712"/>
                  <a:gd name="T29" fmla="*/ 171 h 715"/>
                  <a:gd name="T30" fmla="*/ 313 w 712"/>
                  <a:gd name="T31" fmla="*/ 185 h 715"/>
                  <a:gd name="T32" fmla="*/ 310 w 712"/>
                  <a:gd name="T33" fmla="*/ 199 h 715"/>
                  <a:gd name="T34" fmla="*/ 308 w 712"/>
                  <a:gd name="T35" fmla="*/ 214 h 715"/>
                  <a:gd name="T36" fmla="*/ 317 w 712"/>
                  <a:gd name="T37" fmla="*/ 318 h 715"/>
                  <a:gd name="T38" fmla="*/ 157 w 712"/>
                  <a:gd name="T39" fmla="*/ 477 h 715"/>
                  <a:gd name="T40" fmla="*/ 56 w 712"/>
                  <a:gd name="T41" fmla="*/ 578 h 715"/>
                  <a:gd name="T42" fmla="*/ 9 w 712"/>
                  <a:gd name="T43" fmla="*/ 627 h 715"/>
                  <a:gd name="T44" fmla="*/ 4 w 712"/>
                  <a:gd name="T45" fmla="*/ 638 h 715"/>
                  <a:gd name="T46" fmla="*/ 0 w 712"/>
                  <a:gd name="T47" fmla="*/ 679 h 715"/>
                  <a:gd name="T48" fmla="*/ 2 w 712"/>
                  <a:gd name="T49" fmla="*/ 692 h 715"/>
                  <a:gd name="T50" fmla="*/ 9 w 712"/>
                  <a:gd name="T51" fmla="*/ 704 h 715"/>
                  <a:gd name="T52" fmla="*/ 20 w 712"/>
                  <a:gd name="T53" fmla="*/ 712 h 715"/>
                  <a:gd name="T54" fmla="*/ 34 w 712"/>
                  <a:gd name="T55" fmla="*/ 715 h 715"/>
                  <a:gd name="T56" fmla="*/ 73 w 712"/>
                  <a:gd name="T57" fmla="*/ 713 h 715"/>
                  <a:gd name="T58" fmla="*/ 84 w 712"/>
                  <a:gd name="T59" fmla="*/ 711 h 715"/>
                  <a:gd name="T60" fmla="*/ 95 w 712"/>
                  <a:gd name="T61" fmla="*/ 703 h 715"/>
                  <a:gd name="T62" fmla="*/ 493 w 712"/>
                  <a:gd name="T63" fmla="*/ 402 h 715"/>
                  <a:gd name="T64" fmla="*/ 499 w 712"/>
                  <a:gd name="T65" fmla="*/ 402 h 715"/>
                  <a:gd name="T66" fmla="*/ 509 w 712"/>
                  <a:gd name="T67" fmla="*/ 402 h 715"/>
                  <a:gd name="T68" fmla="*/ 522 w 712"/>
                  <a:gd name="T69" fmla="*/ 400 h 715"/>
                  <a:gd name="T70" fmla="*/ 535 w 712"/>
                  <a:gd name="T71" fmla="*/ 394 h 715"/>
                  <a:gd name="T72" fmla="*/ 546 w 712"/>
                  <a:gd name="T73" fmla="*/ 387 h 715"/>
                  <a:gd name="T74" fmla="*/ 707 w 712"/>
                  <a:gd name="T75" fmla="*/ 225 h 715"/>
                  <a:gd name="T76" fmla="*/ 711 w 712"/>
                  <a:gd name="T77" fmla="*/ 218 h 715"/>
                  <a:gd name="T78" fmla="*/ 711 w 712"/>
                  <a:gd name="T79" fmla="*/ 211 h 715"/>
                  <a:gd name="T80" fmla="*/ 706 w 712"/>
                  <a:gd name="T81" fmla="*/ 205 h 715"/>
                  <a:gd name="T82" fmla="*/ 699 w 712"/>
                  <a:gd name="T83" fmla="*/ 202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2" h="715">
                    <a:moveTo>
                      <a:pt x="603" y="195"/>
                    </a:moveTo>
                    <a:lnTo>
                      <a:pt x="638" y="159"/>
                    </a:lnTo>
                    <a:lnTo>
                      <a:pt x="643" y="153"/>
                    </a:lnTo>
                    <a:lnTo>
                      <a:pt x="647" y="147"/>
                    </a:lnTo>
                    <a:lnTo>
                      <a:pt x="650" y="139"/>
                    </a:lnTo>
                    <a:lnTo>
                      <a:pt x="651" y="132"/>
                    </a:lnTo>
                    <a:lnTo>
                      <a:pt x="650" y="123"/>
                    </a:lnTo>
                    <a:lnTo>
                      <a:pt x="647" y="115"/>
                    </a:lnTo>
                    <a:lnTo>
                      <a:pt x="643" y="109"/>
                    </a:lnTo>
                    <a:lnTo>
                      <a:pt x="638" y="103"/>
                    </a:lnTo>
                    <a:lnTo>
                      <a:pt x="614" y="78"/>
                    </a:lnTo>
                    <a:lnTo>
                      <a:pt x="608" y="73"/>
                    </a:lnTo>
                    <a:lnTo>
                      <a:pt x="600" y="69"/>
                    </a:lnTo>
                    <a:lnTo>
                      <a:pt x="593" y="67"/>
                    </a:lnTo>
                    <a:lnTo>
                      <a:pt x="585" y="66"/>
                    </a:lnTo>
                    <a:lnTo>
                      <a:pt x="578" y="67"/>
                    </a:lnTo>
                    <a:lnTo>
                      <a:pt x="570" y="69"/>
                    </a:lnTo>
                    <a:lnTo>
                      <a:pt x="563" y="73"/>
                    </a:lnTo>
                    <a:lnTo>
                      <a:pt x="556" y="78"/>
                    </a:lnTo>
                    <a:lnTo>
                      <a:pt x="517" y="118"/>
                    </a:lnTo>
                    <a:lnTo>
                      <a:pt x="509" y="11"/>
                    </a:lnTo>
                    <a:lnTo>
                      <a:pt x="507" y="6"/>
                    </a:lnTo>
                    <a:lnTo>
                      <a:pt x="504" y="3"/>
                    </a:lnTo>
                    <a:lnTo>
                      <a:pt x="500" y="0"/>
                    </a:lnTo>
                    <a:lnTo>
                      <a:pt x="495" y="0"/>
                    </a:lnTo>
                    <a:lnTo>
                      <a:pt x="490" y="0"/>
                    </a:lnTo>
                    <a:lnTo>
                      <a:pt x="485" y="3"/>
                    </a:lnTo>
                    <a:lnTo>
                      <a:pt x="329" y="161"/>
                    </a:lnTo>
                    <a:lnTo>
                      <a:pt x="323" y="166"/>
                    </a:lnTo>
                    <a:lnTo>
                      <a:pt x="319" y="171"/>
                    </a:lnTo>
                    <a:lnTo>
                      <a:pt x="316" y="178"/>
                    </a:lnTo>
                    <a:lnTo>
                      <a:pt x="313" y="185"/>
                    </a:lnTo>
                    <a:lnTo>
                      <a:pt x="311" y="192"/>
                    </a:lnTo>
                    <a:lnTo>
                      <a:pt x="310" y="199"/>
                    </a:lnTo>
                    <a:lnTo>
                      <a:pt x="308" y="207"/>
                    </a:lnTo>
                    <a:lnTo>
                      <a:pt x="308" y="214"/>
                    </a:lnTo>
                    <a:lnTo>
                      <a:pt x="308" y="220"/>
                    </a:lnTo>
                    <a:lnTo>
                      <a:pt x="317" y="318"/>
                    </a:lnTo>
                    <a:lnTo>
                      <a:pt x="260" y="375"/>
                    </a:lnTo>
                    <a:lnTo>
                      <a:pt x="157" y="477"/>
                    </a:lnTo>
                    <a:lnTo>
                      <a:pt x="155" y="479"/>
                    </a:lnTo>
                    <a:lnTo>
                      <a:pt x="56" y="578"/>
                    </a:lnTo>
                    <a:lnTo>
                      <a:pt x="12" y="623"/>
                    </a:lnTo>
                    <a:lnTo>
                      <a:pt x="9" y="627"/>
                    </a:lnTo>
                    <a:lnTo>
                      <a:pt x="6" y="632"/>
                    </a:lnTo>
                    <a:lnTo>
                      <a:pt x="4" y="638"/>
                    </a:lnTo>
                    <a:lnTo>
                      <a:pt x="3" y="643"/>
                    </a:lnTo>
                    <a:lnTo>
                      <a:pt x="0" y="679"/>
                    </a:lnTo>
                    <a:lnTo>
                      <a:pt x="1" y="685"/>
                    </a:lnTo>
                    <a:lnTo>
                      <a:pt x="2" y="692"/>
                    </a:lnTo>
                    <a:lnTo>
                      <a:pt x="5" y="699"/>
                    </a:lnTo>
                    <a:lnTo>
                      <a:pt x="9" y="704"/>
                    </a:lnTo>
                    <a:lnTo>
                      <a:pt x="15" y="709"/>
                    </a:lnTo>
                    <a:lnTo>
                      <a:pt x="20" y="712"/>
                    </a:lnTo>
                    <a:lnTo>
                      <a:pt x="26" y="714"/>
                    </a:lnTo>
                    <a:lnTo>
                      <a:pt x="34" y="715"/>
                    </a:lnTo>
                    <a:lnTo>
                      <a:pt x="36" y="715"/>
                    </a:lnTo>
                    <a:lnTo>
                      <a:pt x="73" y="713"/>
                    </a:lnTo>
                    <a:lnTo>
                      <a:pt x="79" y="713"/>
                    </a:lnTo>
                    <a:lnTo>
                      <a:pt x="84" y="711"/>
                    </a:lnTo>
                    <a:lnTo>
                      <a:pt x="90" y="708"/>
                    </a:lnTo>
                    <a:lnTo>
                      <a:pt x="95" y="703"/>
                    </a:lnTo>
                    <a:lnTo>
                      <a:pt x="403" y="395"/>
                    </a:lnTo>
                    <a:lnTo>
                      <a:pt x="493" y="402"/>
                    </a:lnTo>
                    <a:lnTo>
                      <a:pt x="497" y="402"/>
                    </a:lnTo>
                    <a:lnTo>
                      <a:pt x="499" y="402"/>
                    </a:lnTo>
                    <a:lnTo>
                      <a:pt x="502" y="402"/>
                    </a:lnTo>
                    <a:lnTo>
                      <a:pt x="509" y="402"/>
                    </a:lnTo>
                    <a:lnTo>
                      <a:pt x="515" y="401"/>
                    </a:lnTo>
                    <a:lnTo>
                      <a:pt x="522" y="400"/>
                    </a:lnTo>
                    <a:lnTo>
                      <a:pt x="528" y="396"/>
                    </a:lnTo>
                    <a:lnTo>
                      <a:pt x="535" y="394"/>
                    </a:lnTo>
                    <a:lnTo>
                      <a:pt x="540" y="391"/>
                    </a:lnTo>
                    <a:lnTo>
                      <a:pt x="546" y="387"/>
                    </a:lnTo>
                    <a:lnTo>
                      <a:pt x="551" y="383"/>
                    </a:lnTo>
                    <a:lnTo>
                      <a:pt x="707" y="225"/>
                    </a:lnTo>
                    <a:lnTo>
                      <a:pt x="710" y="222"/>
                    </a:lnTo>
                    <a:lnTo>
                      <a:pt x="711" y="218"/>
                    </a:lnTo>
                    <a:lnTo>
                      <a:pt x="712" y="214"/>
                    </a:lnTo>
                    <a:lnTo>
                      <a:pt x="711" y="211"/>
                    </a:lnTo>
                    <a:lnTo>
                      <a:pt x="709" y="208"/>
                    </a:lnTo>
                    <a:lnTo>
                      <a:pt x="706" y="205"/>
                    </a:lnTo>
                    <a:lnTo>
                      <a:pt x="703" y="203"/>
                    </a:lnTo>
                    <a:lnTo>
                      <a:pt x="699" y="202"/>
                    </a:lnTo>
                    <a:lnTo>
                      <a:pt x="603" y="1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grpSp>
        <p:sp>
          <p:nvSpPr>
            <p:cNvPr id="49" name="Rectangle 48"/>
            <p:cNvSpPr>
              <a:spLocks noChangeArrowheads="1"/>
            </p:cNvSpPr>
            <p:nvPr/>
          </p:nvSpPr>
          <p:spPr bwMode="auto">
            <a:xfrm flipH="1">
              <a:off x="6585691" y="2516591"/>
              <a:ext cx="4690872" cy="931350"/>
            </a:xfrm>
            <a:prstGeom prst="rect">
              <a:avLst/>
            </a:pr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50" name="Freeform 49"/>
            <p:cNvSpPr>
              <a:spLocks/>
            </p:cNvSpPr>
            <p:nvPr/>
          </p:nvSpPr>
          <p:spPr bwMode="auto">
            <a:xfrm flipV="1">
              <a:off x="6248400" y="2654717"/>
              <a:ext cx="657120" cy="655097"/>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51" name="Freeform 50"/>
            <p:cNvSpPr>
              <a:spLocks/>
            </p:cNvSpPr>
            <p:nvPr/>
          </p:nvSpPr>
          <p:spPr bwMode="auto">
            <a:xfrm>
              <a:off x="6291805" y="2697988"/>
              <a:ext cx="570309" cy="568556"/>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solidFill>
              <a:schemeClr val="accent1">
                <a:lumMod val="60000"/>
                <a:lumOff val="40000"/>
              </a:schemeClr>
            </a:solidFill>
            <a:ln>
              <a:noFill/>
            </a:ln>
            <a:effectLst>
              <a:outerShdw blurRad="50800" dist="38100" dir="3060000" algn="tl" rotWithShape="0">
                <a:prstClr val="black">
                  <a:alpha val="2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52" name="TextBox 88"/>
            <p:cNvSpPr txBox="1"/>
            <p:nvPr/>
          </p:nvSpPr>
          <p:spPr>
            <a:xfrm>
              <a:off x="6333415" y="2746451"/>
              <a:ext cx="501686" cy="461665"/>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2400" b="1" dirty="0">
                  <a:latin typeface="Calibri" panose="020F0502020204030204"/>
                </a:rPr>
                <a:t>06</a:t>
              </a:r>
            </a:p>
          </p:txBody>
        </p:sp>
        <p:sp>
          <p:nvSpPr>
            <p:cNvPr id="54" name="Freeform 53"/>
            <p:cNvSpPr>
              <a:spLocks/>
            </p:cNvSpPr>
            <p:nvPr/>
          </p:nvSpPr>
          <p:spPr bwMode="auto">
            <a:xfrm flipH="1">
              <a:off x="11276930" y="2516591"/>
              <a:ext cx="762670" cy="931350"/>
            </a:xfrm>
            <a:custGeom>
              <a:avLst/>
              <a:gdLst>
                <a:gd name="T0" fmla="*/ 3380 w 3380"/>
                <a:gd name="T1" fmla="*/ 0 h 4128"/>
                <a:gd name="T2" fmla="*/ 1515 w 3380"/>
                <a:gd name="T3" fmla="*/ 4128 h 4128"/>
                <a:gd name="T4" fmla="*/ 1360 w 3380"/>
                <a:gd name="T5" fmla="*/ 4118 h 4128"/>
                <a:gd name="T6" fmla="*/ 1210 w 3380"/>
                <a:gd name="T7" fmla="*/ 4091 h 4128"/>
                <a:gd name="T8" fmla="*/ 1065 w 3380"/>
                <a:gd name="T9" fmla="*/ 4046 h 4128"/>
                <a:gd name="T10" fmla="*/ 926 w 3380"/>
                <a:gd name="T11" fmla="*/ 3984 h 4128"/>
                <a:gd name="T12" fmla="*/ 794 w 3380"/>
                <a:gd name="T13" fmla="*/ 3906 h 4128"/>
                <a:gd name="T14" fmla="*/ 669 w 3380"/>
                <a:gd name="T15" fmla="*/ 3815 h 4128"/>
                <a:gd name="T16" fmla="*/ 552 w 3380"/>
                <a:gd name="T17" fmla="*/ 3709 h 4128"/>
                <a:gd name="T18" fmla="*/ 445 w 3380"/>
                <a:gd name="T19" fmla="*/ 3591 h 4128"/>
                <a:gd name="T20" fmla="*/ 347 w 3380"/>
                <a:gd name="T21" fmla="*/ 3462 h 4128"/>
                <a:gd name="T22" fmla="*/ 259 w 3380"/>
                <a:gd name="T23" fmla="*/ 3321 h 4128"/>
                <a:gd name="T24" fmla="*/ 184 w 3380"/>
                <a:gd name="T25" fmla="*/ 3170 h 4128"/>
                <a:gd name="T26" fmla="*/ 119 w 3380"/>
                <a:gd name="T27" fmla="*/ 3011 h 4128"/>
                <a:gd name="T28" fmla="*/ 68 w 3380"/>
                <a:gd name="T29" fmla="*/ 2844 h 4128"/>
                <a:gd name="T30" fmla="*/ 31 w 3380"/>
                <a:gd name="T31" fmla="*/ 2669 h 4128"/>
                <a:gd name="T32" fmla="*/ 8 w 3380"/>
                <a:gd name="T33" fmla="*/ 2488 h 4128"/>
                <a:gd name="T34" fmla="*/ 0 w 3380"/>
                <a:gd name="T35" fmla="*/ 2302 h 4128"/>
                <a:gd name="T36" fmla="*/ 2 w 3380"/>
                <a:gd name="T37" fmla="*/ 1733 h 4128"/>
                <a:gd name="T38" fmla="*/ 18 w 3380"/>
                <a:gd name="T39" fmla="*/ 1549 h 4128"/>
                <a:gd name="T40" fmla="*/ 48 w 3380"/>
                <a:gd name="T41" fmla="*/ 1371 h 4128"/>
                <a:gd name="T42" fmla="*/ 92 w 3380"/>
                <a:gd name="T43" fmla="*/ 1199 h 4128"/>
                <a:gd name="T44" fmla="*/ 150 w 3380"/>
                <a:gd name="T45" fmla="*/ 1036 h 4128"/>
                <a:gd name="T46" fmla="*/ 220 w 3380"/>
                <a:gd name="T47" fmla="*/ 881 h 4128"/>
                <a:gd name="T48" fmla="*/ 302 w 3380"/>
                <a:gd name="T49" fmla="*/ 735 h 4128"/>
                <a:gd name="T50" fmla="*/ 395 w 3380"/>
                <a:gd name="T51" fmla="*/ 600 h 4128"/>
                <a:gd name="T52" fmla="*/ 498 w 3380"/>
                <a:gd name="T53" fmla="*/ 475 h 4128"/>
                <a:gd name="T54" fmla="*/ 610 w 3380"/>
                <a:gd name="T55" fmla="*/ 364 h 4128"/>
                <a:gd name="T56" fmla="*/ 730 w 3380"/>
                <a:gd name="T57" fmla="*/ 265 h 4128"/>
                <a:gd name="T58" fmla="*/ 859 w 3380"/>
                <a:gd name="T59" fmla="*/ 180 h 4128"/>
                <a:gd name="T60" fmla="*/ 995 w 3380"/>
                <a:gd name="T61" fmla="*/ 111 h 4128"/>
                <a:gd name="T62" fmla="*/ 1137 w 3380"/>
                <a:gd name="T63" fmla="*/ 58 h 4128"/>
                <a:gd name="T64" fmla="*/ 1284 w 3380"/>
                <a:gd name="T65" fmla="*/ 21 h 4128"/>
                <a:gd name="T66" fmla="*/ 1437 w 3380"/>
                <a:gd name="T67" fmla="*/ 2 h 4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80" h="4128">
                  <a:moveTo>
                    <a:pt x="1515" y="0"/>
                  </a:moveTo>
                  <a:lnTo>
                    <a:pt x="3380" y="0"/>
                  </a:lnTo>
                  <a:lnTo>
                    <a:pt x="3380" y="4128"/>
                  </a:lnTo>
                  <a:lnTo>
                    <a:pt x="1515" y="4128"/>
                  </a:lnTo>
                  <a:lnTo>
                    <a:pt x="1437" y="4126"/>
                  </a:lnTo>
                  <a:lnTo>
                    <a:pt x="1360" y="4118"/>
                  </a:lnTo>
                  <a:lnTo>
                    <a:pt x="1284" y="4107"/>
                  </a:lnTo>
                  <a:lnTo>
                    <a:pt x="1210" y="4091"/>
                  </a:lnTo>
                  <a:lnTo>
                    <a:pt x="1137" y="4070"/>
                  </a:lnTo>
                  <a:lnTo>
                    <a:pt x="1065" y="4046"/>
                  </a:lnTo>
                  <a:lnTo>
                    <a:pt x="995" y="4017"/>
                  </a:lnTo>
                  <a:lnTo>
                    <a:pt x="926" y="3984"/>
                  </a:lnTo>
                  <a:lnTo>
                    <a:pt x="859" y="3948"/>
                  </a:lnTo>
                  <a:lnTo>
                    <a:pt x="794" y="3906"/>
                  </a:lnTo>
                  <a:lnTo>
                    <a:pt x="730" y="3863"/>
                  </a:lnTo>
                  <a:lnTo>
                    <a:pt x="669" y="3815"/>
                  </a:lnTo>
                  <a:lnTo>
                    <a:pt x="610" y="3764"/>
                  </a:lnTo>
                  <a:lnTo>
                    <a:pt x="552" y="3709"/>
                  </a:lnTo>
                  <a:lnTo>
                    <a:pt x="498" y="3653"/>
                  </a:lnTo>
                  <a:lnTo>
                    <a:pt x="445" y="3591"/>
                  </a:lnTo>
                  <a:lnTo>
                    <a:pt x="395" y="3528"/>
                  </a:lnTo>
                  <a:lnTo>
                    <a:pt x="347" y="3462"/>
                  </a:lnTo>
                  <a:lnTo>
                    <a:pt x="302" y="3393"/>
                  </a:lnTo>
                  <a:lnTo>
                    <a:pt x="259" y="3321"/>
                  </a:lnTo>
                  <a:lnTo>
                    <a:pt x="220" y="3247"/>
                  </a:lnTo>
                  <a:lnTo>
                    <a:pt x="184" y="3170"/>
                  </a:lnTo>
                  <a:lnTo>
                    <a:pt x="150" y="3092"/>
                  </a:lnTo>
                  <a:lnTo>
                    <a:pt x="119" y="3011"/>
                  </a:lnTo>
                  <a:lnTo>
                    <a:pt x="92" y="2929"/>
                  </a:lnTo>
                  <a:lnTo>
                    <a:pt x="68" y="2844"/>
                  </a:lnTo>
                  <a:lnTo>
                    <a:pt x="48" y="2757"/>
                  </a:lnTo>
                  <a:lnTo>
                    <a:pt x="31" y="2669"/>
                  </a:lnTo>
                  <a:lnTo>
                    <a:pt x="18" y="2579"/>
                  </a:lnTo>
                  <a:lnTo>
                    <a:pt x="8" y="2488"/>
                  </a:lnTo>
                  <a:lnTo>
                    <a:pt x="2" y="2395"/>
                  </a:lnTo>
                  <a:lnTo>
                    <a:pt x="0" y="2302"/>
                  </a:lnTo>
                  <a:lnTo>
                    <a:pt x="0" y="1826"/>
                  </a:lnTo>
                  <a:lnTo>
                    <a:pt x="2" y="1733"/>
                  </a:lnTo>
                  <a:lnTo>
                    <a:pt x="8" y="1640"/>
                  </a:lnTo>
                  <a:lnTo>
                    <a:pt x="18" y="1549"/>
                  </a:lnTo>
                  <a:lnTo>
                    <a:pt x="31" y="1459"/>
                  </a:lnTo>
                  <a:lnTo>
                    <a:pt x="48" y="1371"/>
                  </a:lnTo>
                  <a:lnTo>
                    <a:pt x="68" y="1284"/>
                  </a:lnTo>
                  <a:lnTo>
                    <a:pt x="92" y="1199"/>
                  </a:lnTo>
                  <a:lnTo>
                    <a:pt x="119" y="1117"/>
                  </a:lnTo>
                  <a:lnTo>
                    <a:pt x="150" y="1036"/>
                  </a:lnTo>
                  <a:lnTo>
                    <a:pt x="184" y="958"/>
                  </a:lnTo>
                  <a:lnTo>
                    <a:pt x="220" y="881"/>
                  </a:lnTo>
                  <a:lnTo>
                    <a:pt x="259" y="807"/>
                  </a:lnTo>
                  <a:lnTo>
                    <a:pt x="302" y="735"/>
                  </a:lnTo>
                  <a:lnTo>
                    <a:pt x="347" y="666"/>
                  </a:lnTo>
                  <a:lnTo>
                    <a:pt x="395" y="600"/>
                  </a:lnTo>
                  <a:lnTo>
                    <a:pt x="445" y="537"/>
                  </a:lnTo>
                  <a:lnTo>
                    <a:pt x="498" y="475"/>
                  </a:lnTo>
                  <a:lnTo>
                    <a:pt x="552" y="419"/>
                  </a:lnTo>
                  <a:lnTo>
                    <a:pt x="610" y="364"/>
                  </a:lnTo>
                  <a:lnTo>
                    <a:pt x="669" y="313"/>
                  </a:lnTo>
                  <a:lnTo>
                    <a:pt x="730" y="265"/>
                  </a:lnTo>
                  <a:lnTo>
                    <a:pt x="794" y="222"/>
                  </a:lnTo>
                  <a:lnTo>
                    <a:pt x="859" y="180"/>
                  </a:lnTo>
                  <a:lnTo>
                    <a:pt x="926" y="144"/>
                  </a:lnTo>
                  <a:lnTo>
                    <a:pt x="995" y="111"/>
                  </a:lnTo>
                  <a:lnTo>
                    <a:pt x="1065" y="82"/>
                  </a:lnTo>
                  <a:lnTo>
                    <a:pt x="1137" y="58"/>
                  </a:lnTo>
                  <a:lnTo>
                    <a:pt x="1210" y="37"/>
                  </a:lnTo>
                  <a:lnTo>
                    <a:pt x="1284" y="21"/>
                  </a:lnTo>
                  <a:lnTo>
                    <a:pt x="1360" y="10"/>
                  </a:lnTo>
                  <a:lnTo>
                    <a:pt x="1437" y="2"/>
                  </a:lnTo>
                  <a:lnTo>
                    <a:pt x="1515"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grpSp>
          <p:nvGrpSpPr>
            <p:cNvPr id="55" name="Group 54"/>
            <p:cNvGrpSpPr/>
            <p:nvPr/>
          </p:nvGrpSpPr>
          <p:grpSpPr>
            <a:xfrm flipH="1">
              <a:off x="11393715" y="2753362"/>
              <a:ext cx="428315" cy="428017"/>
              <a:chOff x="3770313" y="3568700"/>
              <a:chExt cx="450850" cy="450851"/>
            </a:xfrm>
            <a:solidFill>
              <a:sysClr val="window" lastClr="FFFFFF"/>
            </a:solidFill>
          </p:grpSpPr>
          <p:sp>
            <p:nvSpPr>
              <p:cNvPr id="76" name="Freeform 75"/>
              <p:cNvSpPr>
                <a:spLocks/>
              </p:cNvSpPr>
              <p:nvPr/>
            </p:nvSpPr>
            <p:spPr bwMode="auto">
              <a:xfrm>
                <a:off x="3770313" y="3611563"/>
                <a:ext cx="409575" cy="407988"/>
              </a:xfrm>
              <a:custGeom>
                <a:avLst/>
                <a:gdLst>
                  <a:gd name="T0" fmla="*/ 773 w 1287"/>
                  <a:gd name="T1" fmla="*/ 1274 h 1287"/>
                  <a:gd name="T2" fmla="*/ 922 w 1287"/>
                  <a:gd name="T3" fmla="*/ 1224 h 1287"/>
                  <a:gd name="T4" fmla="*/ 1053 w 1287"/>
                  <a:gd name="T5" fmla="*/ 1140 h 1287"/>
                  <a:gd name="T6" fmla="*/ 1159 w 1287"/>
                  <a:gd name="T7" fmla="*/ 1028 h 1287"/>
                  <a:gd name="T8" fmla="*/ 1237 w 1287"/>
                  <a:gd name="T9" fmla="*/ 894 h 1287"/>
                  <a:gd name="T10" fmla="*/ 1279 w 1287"/>
                  <a:gd name="T11" fmla="*/ 742 h 1287"/>
                  <a:gd name="T12" fmla="*/ 1285 w 1287"/>
                  <a:gd name="T13" fmla="*/ 600 h 1287"/>
                  <a:gd name="T14" fmla="*/ 1263 w 1287"/>
                  <a:gd name="T15" fmla="*/ 479 h 1287"/>
                  <a:gd name="T16" fmla="*/ 1214 w 1287"/>
                  <a:gd name="T17" fmla="*/ 363 h 1287"/>
                  <a:gd name="T18" fmla="*/ 1161 w 1287"/>
                  <a:gd name="T19" fmla="*/ 300 h 1287"/>
                  <a:gd name="T20" fmla="*/ 1127 w 1287"/>
                  <a:gd name="T21" fmla="*/ 313 h 1287"/>
                  <a:gd name="T22" fmla="*/ 1062 w 1287"/>
                  <a:gd name="T23" fmla="*/ 422 h 1287"/>
                  <a:gd name="T24" fmla="*/ 1093 w 1287"/>
                  <a:gd name="T25" fmla="*/ 496 h 1287"/>
                  <a:gd name="T26" fmla="*/ 1112 w 1287"/>
                  <a:gd name="T27" fmla="*/ 577 h 1287"/>
                  <a:gd name="T28" fmla="*/ 1116 w 1287"/>
                  <a:gd name="T29" fmla="*/ 668 h 1287"/>
                  <a:gd name="T30" fmla="*/ 1095 w 1287"/>
                  <a:gd name="T31" fmla="*/ 784 h 1287"/>
                  <a:gd name="T32" fmla="*/ 1048 w 1287"/>
                  <a:gd name="T33" fmla="*/ 889 h 1287"/>
                  <a:gd name="T34" fmla="*/ 978 w 1287"/>
                  <a:gd name="T35" fmla="*/ 978 h 1287"/>
                  <a:gd name="T36" fmla="*/ 889 w 1287"/>
                  <a:gd name="T37" fmla="*/ 1049 h 1287"/>
                  <a:gd name="T38" fmla="*/ 784 w 1287"/>
                  <a:gd name="T39" fmla="*/ 1096 h 1287"/>
                  <a:gd name="T40" fmla="*/ 668 w 1287"/>
                  <a:gd name="T41" fmla="*/ 1116 h 1287"/>
                  <a:gd name="T42" fmla="*/ 548 w 1287"/>
                  <a:gd name="T43" fmla="*/ 1107 h 1287"/>
                  <a:gd name="T44" fmla="*/ 439 w 1287"/>
                  <a:gd name="T45" fmla="*/ 1070 h 1287"/>
                  <a:gd name="T46" fmla="*/ 342 w 1287"/>
                  <a:gd name="T47" fmla="*/ 1009 h 1287"/>
                  <a:gd name="T48" fmla="*/ 264 w 1287"/>
                  <a:gd name="T49" fmla="*/ 926 h 1287"/>
                  <a:gd name="T50" fmla="*/ 207 w 1287"/>
                  <a:gd name="T51" fmla="*/ 828 h 1287"/>
                  <a:gd name="T52" fmla="*/ 176 w 1287"/>
                  <a:gd name="T53" fmla="*/ 715 h 1287"/>
                  <a:gd name="T54" fmla="*/ 173 w 1287"/>
                  <a:gd name="T55" fmla="*/ 595 h 1287"/>
                  <a:gd name="T56" fmla="*/ 198 w 1287"/>
                  <a:gd name="T57" fmla="*/ 481 h 1287"/>
                  <a:gd name="T58" fmla="*/ 251 w 1287"/>
                  <a:gd name="T59" fmla="*/ 379 h 1287"/>
                  <a:gd name="T60" fmla="*/ 325 w 1287"/>
                  <a:gd name="T61" fmla="*/ 294 h 1287"/>
                  <a:gd name="T62" fmla="*/ 418 w 1287"/>
                  <a:gd name="T63" fmla="*/ 227 h 1287"/>
                  <a:gd name="T64" fmla="*/ 525 w 1287"/>
                  <a:gd name="T65" fmla="*/ 185 h 1287"/>
                  <a:gd name="T66" fmla="*/ 643 w 1287"/>
                  <a:gd name="T67" fmla="*/ 170 h 1287"/>
                  <a:gd name="T68" fmla="*/ 727 w 1287"/>
                  <a:gd name="T69" fmla="*/ 178 h 1287"/>
                  <a:gd name="T70" fmla="*/ 806 w 1287"/>
                  <a:gd name="T71" fmla="*/ 199 h 1287"/>
                  <a:gd name="T72" fmla="*/ 878 w 1287"/>
                  <a:gd name="T73" fmla="*/ 234 h 1287"/>
                  <a:gd name="T74" fmla="*/ 983 w 1287"/>
                  <a:gd name="T75" fmla="*/ 149 h 1287"/>
                  <a:gd name="T76" fmla="*/ 997 w 1287"/>
                  <a:gd name="T77" fmla="*/ 128 h 1287"/>
                  <a:gd name="T78" fmla="*/ 888 w 1287"/>
                  <a:gd name="T79" fmla="*/ 50 h 1287"/>
                  <a:gd name="T80" fmla="*/ 773 w 1287"/>
                  <a:gd name="T81" fmla="*/ 12 h 1287"/>
                  <a:gd name="T82" fmla="*/ 664 w 1287"/>
                  <a:gd name="T83" fmla="*/ 0 h 1287"/>
                  <a:gd name="T84" fmla="*/ 514 w 1287"/>
                  <a:gd name="T85" fmla="*/ 13 h 1287"/>
                  <a:gd name="T86" fmla="*/ 365 w 1287"/>
                  <a:gd name="T87" fmla="*/ 63 h 1287"/>
                  <a:gd name="T88" fmla="*/ 234 w 1287"/>
                  <a:gd name="T89" fmla="*/ 147 h 1287"/>
                  <a:gd name="T90" fmla="*/ 128 w 1287"/>
                  <a:gd name="T91" fmla="*/ 258 h 1287"/>
                  <a:gd name="T92" fmla="*/ 50 w 1287"/>
                  <a:gd name="T93" fmla="*/ 393 h 1287"/>
                  <a:gd name="T94" fmla="*/ 7 w 1287"/>
                  <a:gd name="T95" fmla="*/ 546 h 1287"/>
                  <a:gd name="T96" fmla="*/ 3 w 1287"/>
                  <a:gd name="T97" fmla="*/ 710 h 1287"/>
                  <a:gd name="T98" fmla="*/ 39 w 1287"/>
                  <a:gd name="T99" fmla="*/ 865 h 1287"/>
                  <a:gd name="T100" fmla="*/ 109 w 1287"/>
                  <a:gd name="T101" fmla="*/ 1004 h 1287"/>
                  <a:gd name="T102" fmla="*/ 210 w 1287"/>
                  <a:gd name="T103" fmla="*/ 1119 h 1287"/>
                  <a:gd name="T104" fmla="*/ 337 w 1287"/>
                  <a:gd name="T105" fmla="*/ 1210 h 1287"/>
                  <a:gd name="T106" fmla="*/ 483 w 1287"/>
                  <a:gd name="T107" fmla="*/ 1266 h 1287"/>
                  <a:gd name="T108" fmla="*/ 643 w 1287"/>
                  <a:gd name="T109"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87" h="1287">
                    <a:moveTo>
                      <a:pt x="643" y="1287"/>
                    </a:moveTo>
                    <a:lnTo>
                      <a:pt x="677" y="1287"/>
                    </a:lnTo>
                    <a:lnTo>
                      <a:pt x="709" y="1284"/>
                    </a:lnTo>
                    <a:lnTo>
                      <a:pt x="741" y="1279"/>
                    </a:lnTo>
                    <a:lnTo>
                      <a:pt x="773" y="1274"/>
                    </a:lnTo>
                    <a:lnTo>
                      <a:pt x="804" y="1266"/>
                    </a:lnTo>
                    <a:lnTo>
                      <a:pt x="834" y="1258"/>
                    </a:lnTo>
                    <a:lnTo>
                      <a:pt x="864" y="1248"/>
                    </a:lnTo>
                    <a:lnTo>
                      <a:pt x="893" y="1236"/>
                    </a:lnTo>
                    <a:lnTo>
                      <a:pt x="922" y="1224"/>
                    </a:lnTo>
                    <a:lnTo>
                      <a:pt x="950" y="1210"/>
                    </a:lnTo>
                    <a:lnTo>
                      <a:pt x="977" y="1195"/>
                    </a:lnTo>
                    <a:lnTo>
                      <a:pt x="1003" y="1177"/>
                    </a:lnTo>
                    <a:lnTo>
                      <a:pt x="1028" y="1159"/>
                    </a:lnTo>
                    <a:lnTo>
                      <a:pt x="1053" y="1140"/>
                    </a:lnTo>
                    <a:lnTo>
                      <a:pt x="1076" y="1119"/>
                    </a:lnTo>
                    <a:lnTo>
                      <a:pt x="1098" y="1099"/>
                    </a:lnTo>
                    <a:lnTo>
                      <a:pt x="1120" y="1077"/>
                    </a:lnTo>
                    <a:lnTo>
                      <a:pt x="1140" y="1053"/>
                    </a:lnTo>
                    <a:lnTo>
                      <a:pt x="1159" y="1028"/>
                    </a:lnTo>
                    <a:lnTo>
                      <a:pt x="1177" y="1004"/>
                    </a:lnTo>
                    <a:lnTo>
                      <a:pt x="1194" y="977"/>
                    </a:lnTo>
                    <a:lnTo>
                      <a:pt x="1210" y="950"/>
                    </a:lnTo>
                    <a:lnTo>
                      <a:pt x="1224" y="922"/>
                    </a:lnTo>
                    <a:lnTo>
                      <a:pt x="1237" y="894"/>
                    </a:lnTo>
                    <a:lnTo>
                      <a:pt x="1248" y="865"/>
                    </a:lnTo>
                    <a:lnTo>
                      <a:pt x="1258" y="835"/>
                    </a:lnTo>
                    <a:lnTo>
                      <a:pt x="1267" y="804"/>
                    </a:lnTo>
                    <a:lnTo>
                      <a:pt x="1274" y="773"/>
                    </a:lnTo>
                    <a:lnTo>
                      <a:pt x="1279" y="742"/>
                    </a:lnTo>
                    <a:lnTo>
                      <a:pt x="1284" y="710"/>
                    </a:lnTo>
                    <a:lnTo>
                      <a:pt x="1286" y="677"/>
                    </a:lnTo>
                    <a:lnTo>
                      <a:pt x="1287" y="643"/>
                    </a:lnTo>
                    <a:lnTo>
                      <a:pt x="1286" y="622"/>
                    </a:lnTo>
                    <a:lnTo>
                      <a:pt x="1285" y="600"/>
                    </a:lnTo>
                    <a:lnTo>
                      <a:pt x="1283" y="577"/>
                    </a:lnTo>
                    <a:lnTo>
                      <a:pt x="1279" y="553"/>
                    </a:lnTo>
                    <a:lnTo>
                      <a:pt x="1275" y="529"/>
                    </a:lnTo>
                    <a:lnTo>
                      <a:pt x="1270" y="504"/>
                    </a:lnTo>
                    <a:lnTo>
                      <a:pt x="1263" y="479"/>
                    </a:lnTo>
                    <a:lnTo>
                      <a:pt x="1256" y="455"/>
                    </a:lnTo>
                    <a:lnTo>
                      <a:pt x="1247" y="431"/>
                    </a:lnTo>
                    <a:lnTo>
                      <a:pt x="1237" y="407"/>
                    </a:lnTo>
                    <a:lnTo>
                      <a:pt x="1226" y="385"/>
                    </a:lnTo>
                    <a:lnTo>
                      <a:pt x="1214" y="363"/>
                    </a:lnTo>
                    <a:lnTo>
                      <a:pt x="1200" y="343"/>
                    </a:lnTo>
                    <a:lnTo>
                      <a:pt x="1186" y="325"/>
                    </a:lnTo>
                    <a:lnTo>
                      <a:pt x="1179" y="316"/>
                    </a:lnTo>
                    <a:lnTo>
                      <a:pt x="1170" y="308"/>
                    </a:lnTo>
                    <a:lnTo>
                      <a:pt x="1161" y="300"/>
                    </a:lnTo>
                    <a:lnTo>
                      <a:pt x="1153" y="293"/>
                    </a:lnTo>
                    <a:lnTo>
                      <a:pt x="1150" y="294"/>
                    </a:lnTo>
                    <a:lnTo>
                      <a:pt x="1144" y="298"/>
                    </a:lnTo>
                    <a:lnTo>
                      <a:pt x="1136" y="304"/>
                    </a:lnTo>
                    <a:lnTo>
                      <a:pt x="1127" y="313"/>
                    </a:lnTo>
                    <a:lnTo>
                      <a:pt x="1111" y="328"/>
                    </a:lnTo>
                    <a:lnTo>
                      <a:pt x="1105" y="335"/>
                    </a:lnTo>
                    <a:lnTo>
                      <a:pt x="1046" y="394"/>
                    </a:lnTo>
                    <a:lnTo>
                      <a:pt x="1054" y="408"/>
                    </a:lnTo>
                    <a:lnTo>
                      <a:pt x="1062" y="422"/>
                    </a:lnTo>
                    <a:lnTo>
                      <a:pt x="1069" y="436"/>
                    </a:lnTo>
                    <a:lnTo>
                      <a:pt x="1076" y="451"/>
                    </a:lnTo>
                    <a:lnTo>
                      <a:pt x="1082" y="466"/>
                    </a:lnTo>
                    <a:lnTo>
                      <a:pt x="1087" y="481"/>
                    </a:lnTo>
                    <a:lnTo>
                      <a:pt x="1093" y="496"/>
                    </a:lnTo>
                    <a:lnTo>
                      <a:pt x="1098" y="512"/>
                    </a:lnTo>
                    <a:lnTo>
                      <a:pt x="1103" y="527"/>
                    </a:lnTo>
                    <a:lnTo>
                      <a:pt x="1106" y="544"/>
                    </a:lnTo>
                    <a:lnTo>
                      <a:pt x="1109" y="560"/>
                    </a:lnTo>
                    <a:lnTo>
                      <a:pt x="1112" y="577"/>
                    </a:lnTo>
                    <a:lnTo>
                      <a:pt x="1114" y="593"/>
                    </a:lnTo>
                    <a:lnTo>
                      <a:pt x="1115" y="610"/>
                    </a:lnTo>
                    <a:lnTo>
                      <a:pt x="1116" y="626"/>
                    </a:lnTo>
                    <a:lnTo>
                      <a:pt x="1116" y="643"/>
                    </a:lnTo>
                    <a:lnTo>
                      <a:pt x="1116" y="668"/>
                    </a:lnTo>
                    <a:lnTo>
                      <a:pt x="1114" y="692"/>
                    </a:lnTo>
                    <a:lnTo>
                      <a:pt x="1111" y="715"/>
                    </a:lnTo>
                    <a:lnTo>
                      <a:pt x="1107" y="739"/>
                    </a:lnTo>
                    <a:lnTo>
                      <a:pt x="1101" y="761"/>
                    </a:lnTo>
                    <a:lnTo>
                      <a:pt x="1095" y="784"/>
                    </a:lnTo>
                    <a:lnTo>
                      <a:pt x="1087" y="806"/>
                    </a:lnTo>
                    <a:lnTo>
                      <a:pt x="1079" y="828"/>
                    </a:lnTo>
                    <a:lnTo>
                      <a:pt x="1070" y="848"/>
                    </a:lnTo>
                    <a:lnTo>
                      <a:pt x="1060" y="869"/>
                    </a:lnTo>
                    <a:lnTo>
                      <a:pt x="1048" y="889"/>
                    </a:lnTo>
                    <a:lnTo>
                      <a:pt x="1036" y="908"/>
                    </a:lnTo>
                    <a:lnTo>
                      <a:pt x="1023" y="926"/>
                    </a:lnTo>
                    <a:lnTo>
                      <a:pt x="1008" y="945"/>
                    </a:lnTo>
                    <a:lnTo>
                      <a:pt x="994" y="962"/>
                    </a:lnTo>
                    <a:lnTo>
                      <a:pt x="978" y="978"/>
                    </a:lnTo>
                    <a:lnTo>
                      <a:pt x="962" y="994"/>
                    </a:lnTo>
                    <a:lnTo>
                      <a:pt x="945" y="1009"/>
                    </a:lnTo>
                    <a:lnTo>
                      <a:pt x="927" y="1023"/>
                    </a:lnTo>
                    <a:lnTo>
                      <a:pt x="908" y="1036"/>
                    </a:lnTo>
                    <a:lnTo>
                      <a:pt x="889" y="1049"/>
                    </a:lnTo>
                    <a:lnTo>
                      <a:pt x="869" y="1059"/>
                    </a:lnTo>
                    <a:lnTo>
                      <a:pt x="848" y="1070"/>
                    </a:lnTo>
                    <a:lnTo>
                      <a:pt x="828" y="1080"/>
                    </a:lnTo>
                    <a:lnTo>
                      <a:pt x="806" y="1088"/>
                    </a:lnTo>
                    <a:lnTo>
                      <a:pt x="784" y="1096"/>
                    </a:lnTo>
                    <a:lnTo>
                      <a:pt x="761" y="1101"/>
                    </a:lnTo>
                    <a:lnTo>
                      <a:pt x="739" y="1107"/>
                    </a:lnTo>
                    <a:lnTo>
                      <a:pt x="715" y="1111"/>
                    </a:lnTo>
                    <a:lnTo>
                      <a:pt x="692" y="1114"/>
                    </a:lnTo>
                    <a:lnTo>
                      <a:pt x="668" y="1116"/>
                    </a:lnTo>
                    <a:lnTo>
                      <a:pt x="643" y="1116"/>
                    </a:lnTo>
                    <a:lnTo>
                      <a:pt x="619" y="1116"/>
                    </a:lnTo>
                    <a:lnTo>
                      <a:pt x="595" y="1114"/>
                    </a:lnTo>
                    <a:lnTo>
                      <a:pt x="572" y="1111"/>
                    </a:lnTo>
                    <a:lnTo>
                      <a:pt x="548" y="1107"/>
                    </a:lnTo>
                    <a:lnTo>
                      <a:pt x="525" y="1101"/>
                    </a:lnTo>
                    <a:lnTo>
                      <a:pt x="503" y="1096"/>
                    </a:lnTo>
                    <a:lnTo>
                      <a:pt x="480" y="1088"/>
                    </a:lnTo>
                    <a:lnTo>
                      <a:pt x="459" y="1080"/>
                    </a:lnTo>
                    <a:lnTo>
                      <a:pt x="439" y="1070"/>
                    </a:lnTo>
                    <a:lnTo>
                      <a:pt x="418" y="1059"/>
                    </a:lnTo>
                    <a:lnTo>
                      <a:pt x="398" y="1049"/>
                    </a:lnTo>
                    <a:lnTo>
                      <a:pt x="379" y="1036"/>
                    </a:lnTo>
                    <a:lnTo>
                      <a:pt x="360" y="1023"/>
                    </a:lnTo>
                    <a:lnTo>
                      <a:pt x="342" y="1009"/>
                    </a:lnTo>
                    <a:lnTo>
                      <a:pt x="325" y="994"/>
                    </a:lnTo>
                    <a:lnTo>
                      <a:pt x="309" y="978"/>
                    </a:lnTo>
                    <a:lnTo>
                      <a:pt x="293" y="962"/>
                    </a:lnTo>
                    <a:lnTo>
                      <a:pt x="279" y="945"/>
                    </a:lnTo>
                    <a:lnTo>
                      <a:pt x="264" y="926"/>
                    </a:lnTo>
                    <a:lnTo>
                      <a:pt x="251" y="908"/>
                    </a:lnTo>
                    <a:lnTo>
                      <a:pt x="239" y="889"/>
                    </a:lnTo>
                    <a:lnTo>
                      <a:pt x="227" y="869"/>
                    </a:lnTo>
                    <a:lnTo>
                      <a:pt x="217" y="848"/>
                    </a:lnTo>
                    <a:lnTo>
                      <a:pt x="207" y="828"/>
                    </a:lnTo>
                    <a:lnTo>
                      <a:pt x="198" y="806"/>
                    </a:lnTo>
                    <a:lnTo>
                      <a:pt x="192" y="784"/>
                    </a:lnTo>
                    <a:lnTo>
                      <a:pt x="186" y="761"/>
                    </a:lnTo>
                    <a:lnTo>
                      <a:pt x="180" y="739"/>
                    </a:lnTo>
                    <a:lnTo>
                      <a:pt x="176" y="715"/>
                    </a:lnTo>
                    <a:lnTo>
                      <a:pt x="173" y="692"/>
                    </a:lnTo>
                    <a:lnTo>
                      <a:pt x="170" y="668"/>
                    </a:lnTo>
                    <a:lnTo>
                      <a:pt x="170" y="643"/>
                    </a:lnTo>
                    <a:lnTo>
                      <a:pt x="170" y="620"/>
                    </a:lnTo>
                    <a:lnTo>
                      <a:pt x="173" y="595"/>
                    </a:lnTo>
                    <a:lnTo>
                      <a:pt x="176" y="571"/>
                    </a:lnTo>
                    <a:lnTo>
                      <a:pt x="180" y="548"/>
                    </a:lnTo>
                    <a:lnTo>
                      <a:pt x="186" y="525"/>
                    </a:lnTo>
                    <a:lnTo>
                      <a:pt x="192" y="503"/>
                    </a:lnTo>
                    <a:lnTo>
                      <a:pt x="198" y="481"/>
                    </a:lnTo>
                    <a:lnTo>
                      <a:pt x="207" y="460"/>
                    </a:lnTo>
                    <a:lnTo>
                      <a:pt x="217" y="438"/>
                    </a:lnTo>
                    <a:lnTo>
                      <a:pt x="227" y="418"/>
                    </a:lnTo>
                    <a:lnTo>
                      <a:pt x="239" y="399"/>
                    </a:lnTo>
                    <a:lnTo>
                      <a:pt x="251" y="379"/>
                    </a:lnTo>
                    <a:lnTo>
                      <a:pt x="264" y="360"/>
                    </a:lnTo>
                    <a:lnTo>
                      <a:pt x="278" y="343"/>
                    </a:lnTo>
                    <a:lnTo>
                      <a:pt x="293" y="326"/>
                    </a:lnTo>
                    <a:lnTo>
                      <a:pt x="309" y="309"/>
                    </a:lnTo>
                    <a:lnTo>
                      <a:pt x="325" y="294"/>
                    </a:lnTo>
                    <a:lnTo>
                      <a:pt x="342" y="279"/>
                    </a:lnTo>
                    <a:lnTo>
                      <a:pt x="360" y="265"/>
                    </a:lnTo>
                    <a:lnTo>
                      <a:pt x="379" y="251"/>
                    </a:lnTo>
                    <a:lnTo>
                      <a:pt x="398" y="239"/>
                    </a:lnTo>
                    <a:lnTo>
                      <a:pt x="418" y="227"/>
                    </a:lnTo>
                    <a:lnTo>
                      <a:pt x="439" y="218"/>
                    </a:lnTo>
                    <a:lnTo>
                      <a:pt x="459" y="208"/>
                    </a:lnTo>
                    <a:lnTo>
                      <a:pt x="480" y="199"/>
                    </a:lnTo>
                    <a:lnTo>
                      <a:pt x="503" y="192"/>
                    </a:lnTo>
                    <a:lnTo>
                      <a:pt x="525" y="185"/>
                    </a:lnTo>
                    <a:lnTo>
                      <a:pt x="548" y="180"/>
                    </a:lnTo>
                    <a:lnTo>
                      <a:pt x="572" y="176"/>
                    </a:lnTo>
                    <a:lnTo>
                      <a:pt x="595" y="172"/>
                    </a:lnTo>
                    <a:lnTo>
                      <a:pt x="619" y="171"/>
                    </a:lnTo>
                    <a:lnTo>
                      <a:pt x="643" y="170"/>
                    </a:lnTo>
                    <a:lnTo>
                      <a:pt x="661" y="170"/>
                    </a:lnTo>
                    <a:lnTo>
                      <a:pt x="678" y="171"/>
                    </a:lnTo>
                    <a:lnTo>
                      <a:pt x="694" y="174"/>
                    </a:lnTo>
                    <a:lnTo>
                      <a:pt x="711" y="176"/>
                    </a:lnTo>
                    <a:lnTo>
                      <a:pt x="727" y="178"/>
                    </a:lnTo>
                    <a:lnTo>
                      <a:pt x="743" y="181"/>
                    </a:lnTo>
                    <a:lnTo>
                      <a:pt x="759" y="184"/>
                    </a:lnTo>
                    <a:lnTo>
                      <a:pt x="775" y="189"/>
                    </a:lnTo>
                    <a:lnTo>
                      <a:pt x="790" y="194"/>
                    </a:lnTo>
                    <a:lnTo>
                      <a:pt x="806" y="199"/>
                    </a:lnTo>
                    <a:lnTo>
                      <a:pt x="822" y="205"/>
                    </a:lnTo>
                    <a:lnTo>
                      <a:pt x="835" y="211"/>
                    </a:lnTo>
                    <a:lnTo>
                      <a:pt x="850" y="219"/>
                    </a:lnTo>
                    <a:lnTo>
                      <a:pt x="864" y="225"/>
                    </a:lnTo>
                    <a:lnTo>
                      <a:pt x="878" y="234"/>
                    </a:lnTo>
                    <a:lnTo>
                      <a:pt x="892" y="241"/>
                    </a:lnTo>
                    <a:lnTo>
                      <a:pt x="946" y="189"/>
                    </a:lnTo>
                    <a:lnTo>
                      <a:pt x="954" y="179"/>
                    </a:lnTo>
                    <a:lnTo>
                      <a:pt x="974" y="160"/>
                    </a:lnTo>
                    <a:lnTo>
                      <a:pt x="983" y="149"/>
                    </a:lnTo>
                    <a:lnTo>
                      <a:pt x="991" y="139"/>
                    </a:lnTo>
                    <a:lnTo>
                      <a:pt x="994" y="136"/>
                    </a:lnTo>
                    <a:lnTo>
                      <a:pt x="996" y="132"/>
                    </a:lnTo>
                    <a:lnTo>
                      <a:pt x="997" y="130"/>
                    </a:lnTo>
                    <a:lnTo>
                      <a:pt x="997" y="128"/>
                    </a:lnTo>
                    <a:lnTo>
                      <a:pt x="976" y="109"/>
                    </a:lnTo>
                    <a:lnTo>
                      <a:pt x="954" y="91"/>
                    </a:lnTo>
                    <a:lnTo>
                      <a:pt x="932" y="76"/>
                    </a:lnTo>
                    <a:lnTo>
                      <a:pt x="911" y="62"/>
                    </a:lnTo>
                    <a:lnTo>
                      <a:pt x="888" y="50"/>
                    </a:lnTo>
                    <a:lnTo>
                      <a:pt x="864" y="39"/>
                    </a:lnTo>
                    <a:lnTo>
                      <a:pt x="842" y="31"/>
                    </a:lnTo>
                    <a:lnTo>
                      <a:pt x="818" y="23"/>
                    </a:lnTo>
                    <a:lnTo>
                      <a:pt x="796" y="17"/>
                    </a:lnTo>
                    <a:lnTo>
                      <a:pt x="773" y="12"/>
                    </a:lnTo>
                    <a:lnTo>
                      <a:pt x="751" y="7"/>
                    </a:lnTo>
                    <a:lnTo>
                      <a:pt x="728" y="5"/>
                    </a:lnTo>
                    <a:lnTo>
                      <a:pt x="706" y="2"/>
                    </a:lnTo>
                    <a:lnTo>
                      <a:pt x="684" y="1"/>
                    </a:lnTo>
                    <a:lnTo>
                      <a:pt x="664" y="0"/>
                    </a:lnTo>
                    <a:lnTo>
                      <a:pt x="643" y="0"/>
                    </a:lnTo>
                    <a:lnTo>
                      <a:pt x="610" y="1"/>
                    </a:lnTo>
                    <a:lnTo>
                      <a:pt x="577" y="3"/>
                    </a:lnTo>
                    <a:lnTo>
                      <a:pt x="545" y="7"/>
                    </a:lnTo>
                    <a:lnTo>
                      <a:pt x="514" y="13"/>
                    </a:lnTo>
                    <a:lnTo>
                      <a:pt x="483" y="20"/>
                    </a:lnTo>
                    <a:lnTo>
                      <a:pt x="451" y="29"/>
                    </a:lnTo>
                    <a:lnTo>
                      <a:pt x="421" y="39"/>
                    </a:lnTo>
                    <a:lnTo>
                      <a:pt x="393" y="50"/>
                    </a:lnTo>
                    <a:lnTo>
                      <a:pt x="365" y="63"/>
                    </a:lnTo>
                    <a:lnTo>
                      <a:pt x="337" y="78"/>
                    </a:lnTo>
                    <a:lnTo>
                      <a:pt x="310" y="93"/>
                    </a:lnTo>
                    <a:lnTo>
                      <a:pt x="283" y="110"/>
                    </a:lnTo>
                    <a:lnTo>
                      <a:pt x="258" y="127"/>
                    </a:lnTo>
                    <a:lnTo>
                      <a:pt x="234" y="147"/>
                    </a:lnTo>
                    <a:lnTo>
                      <a:pt x="210" y="167"/>
                    </a:lnTo>
                    <a:lnTo>
                      <a:pt x="189" y="189"/>
                    </a:lnTo>
                    <a:lnTo>
                      <a:pt x="167" y="211"/>
                    </a:lnTo>
                    <a:lnTo>
                      <a:pt x="147" y="234"/>
                    </a:lnTo>
                    <a:lnTo>
                      <a:pt x="128" y="258"/>
                    </a:lnTo>
                    <a:lnTo>
                      <a:pt x="109" y="284"/>
                    </a:lnTo>
                    <a:lnTo>
                      <a:pt x="93" y="310"/>
                    </a:lnTo>
                    <a:lnTo>
                      <a:pt x="77" y="337"/>
                    </a:lnTo>
                    <a:lnTo>
                      <a:pt x="63" y="364"/>
                    </a:lnTo>
                    <a:lnTo>
                      <a:pt x="50" y="393"/>
                    </a:lnTo>
                    <a:lnTo>
                      <a:pt x="39" y="422"/>
                    </a:lnTo>
                    <a:lnTo>
                      <a:pt x="29" y="452"/>
                    </a:lnTo>
                    <a:lnTo>
                      <a:pt x="20" y="482"/>
                    </a:lnTo>
                    <a:lnTo>
                      <a:pt x="13" y="514"/>
                    </a:lnTo>
                    <a:lnTo>
                      <a:pt x="7" y="546"/>
                    </a:lnTo>
                    <a:lnTo>
                      <a:pt x="3" y="578"/>
                    </a:lnTo>
                    <a:lnTo>
                      <a:pt x="0" y="610"/>
                    </a:lnTo>
                    <a:lnTo>
                      <a:pt x="0" y="643"/>
                    </a:lnTo>
                    <a:lnTo>
                      <a:pt x="0" y="677"/>
                    </a:lnTo>
                    <a:lnTo>
                      <a:pt x="3" y="710"/>
                    </a:lnTo>
                    <a:lnTo>
                      <a:pt x="7" y="742"/>
                    </a:lnTo>
                    <a:lnTo>
                      <a:pt x="13" y="773"/>
                    </a:lnTo>
                    <a:lnTo>
                      <a:pt x="20" y="804"/>
                    </a:lnTo>
                    <a:lnTo>
                      <a:pt x="29" y="835"/>
                    </a:lnTo>
                    <a:lnTo>
                      <a:pt x="39" y="865"/>
                    </a:lnTo>
                    <a:lnTo>
                      <a:pt x="50" y="894"/>
                    </a:lnTo>
                    <a:lnTo>
                      <a:pt x="63" y="922"/>
                    </a:lnTo>
                    <a:lnTo>
                      <a:pt x="77" y="950"/>
                    </a:lnTo>
                    <a:lnTo>
                      <a:pt x="93" y="977"/>
                    </a:lnTo>
                    <a:lnTo>
                      <a:pt x="109" y="1004"/>
                    </a:lnTo>
                    <a:lnTo>
                      <a:pt x="128" y="1028"/>
                    </a:lnTo>
                    <a:lnTo>
                      <a:pt x="147" y="1053"/>
                    </a:lnTo>
                    <a:lnTo>
                      <a:pt x="167" y="1077"/>
                    </a:lnTo>
                    <a:lnTo>
                      <a:pt x="189" y="1099"/>
                    </a:lnTo>
                    <a:lnTo>
                      <a:pt x="210" y="1119"/>
                    </a:lnTo>
                    <a:lnTo>
                      <a:pt x="234" y="1140"/>
                    </a:lnTo>
                    <a:lnTo>
                      <a:pt x="258" y="1159"/>
                    </a:lnTo>
                    <a:lnTo>
                      <a:pt x="283" y="1177"/>
                    </a:lnTo>
                    <a:lnTo>
                      <a:pt x="310" y="1195"/>
                    </a:lnTo>
                    <a:lnTo>
                      <a:pt x="337" y="1210"/>
                    </a:lnTo>
                    <a:lnTo>
                      <a:pt x="365" y="1224"/>
                    </a:lnTo>
                    <a:lnTo>
                      <a:pt x="393" y="1236"/>
                    </a:lnTo>
                    <a:lnTo>
                      <a:pt x="423" y="1248"/>
                    </a:lnTo>
                    <a:lnTo>
                      <a:pt x="451" y="1258"/>
                    </a:lnTo>
                    <a:lnTo>
                      <a:pt x="483" y="1266"/>
                    </a:lnTo>
                    <a:lnTo>
                      <a:pt x="514" y="1274"/>
                    </a:lnTo>
                    <a:lnTo>
                      <a:pt x="545" y="1279"/>
                    </a:lnTo>
                    <a:lnTo>
                      <a:pt x="577" y="1284"/>
                    </a:lnTo>
                    <a:lnTo>
                      <a:pt x="610" y="1287"/>
                    </a:lnTo>
                    <a:lnTo>
                      <a:pt x="643" y="12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77" name="Freeform 76"/>
              <p:cNvSpPr>
                <a:spLocks/>
              </p:cNvSpPr>
              <p:nvPr/>
            </p:nvSpPr>
            <p:spPr bwMode="auto">
              <a:xfrm>
                <a:off x="3875088" y="3714750"/>
                <a:ext cx="200025" cy="201613"/>
              </a:xfrm>
              <a:custGeom>
                <a:avLst/>
                <a:gdLst>
                  <a:gd name="T0" fmla="*/ 330 w 634"/>
                  <a:gd name="T1" fmla="*/ 151 h 634"/>
                  <a:gd name="T2" fmla="*/ 435 w 634"/>
                  <a:gd name="T3" fmla="*/ 22 h 634"/>
                  <a:gd name="T4" fmla="*/ 387 w 634"/>
                  <a:gd name="T5" fmla="*/ 7 h 634"/>
                  <a:gd name="T6" fmla="*/ 335 w 634"/>
                  <a:gd name="T7" fmla="*/ 0 h 634"/>
                  <a:gd name="T8" fmla="*/ 285 w 634"/>
                  <a:gd name="T9" fmla="*/ 1 h 634"/>
                  <a:gd name="T10" fmla="*/ 238 w 634"/>
                  <a:gd name="T11" fmla="*/ 10 h 634"/>
                  <a:gd name="T12" fmla="*/ 194 w 634"/>
                  <a:gd name="T13" fmla="*/ 25 h 634"/>
                  <a:gd name="T14" fmla="*/ 153 w 634"/>
                  <a:gd name="T15" fmla="*/ 45 h 634"/>
                  <a:gd name="T16" fmla="*/ 116 w 634"/>
                  <a:gd name="T17" fmla="*/ 72 h 634"/>
                  <a:gd name="T18" fmla="*/ 83 w 634"/>
                  <a:gd name="T19" fmla="*/ 103 h 634"/>
                  <a:gd name="T20" fmla="*/ 55 w 634"/>
                  <a:gd name="T21" fmla="*/ 139 h 634"/>
                  <a:gd name="T22" fmla="*/ 32 w 634"/>
                  <a:gd name="T23" fmla="*/ 179 h 634"/>
                  <a:gd name="T24" fmla="*/ 15 w 634"/>
                  <a:gd name="T25" fmla="*/ 222 h 634"/>
                  <a:gd name="T26" fmla="*/ 4 w 634"/>
                  <a:gd name="T27" fmla="*/ 268 h 634"/>
                  <a:gd name="T28" fmla="*/ 0 w 634"/>
                  <a:gd name="T29" fmla="*/ 316 h 634"/>
                  <a:gd name="T30" fmla="*/ 4 w 634"/>
                  <a:gd name="T31" fmla="*/ 365 h 634"/>
                  <a:gd name="T32" fmla="*/ 15 w 634"/>
                  <a:gd name="T33" fmla="*/ 411 h 634"/>
                  <a:gd name="T34" fmla="*/ 32 w 634"/>
                  <a:gd name="T35" fmla="*/ 454 h 634"/>
                  <a:gd name="T36" fmla="*/ 55 w 634"/>
                  <a:gd name="T37" fmla="*/ 493 h 634"/>
                  <a:gd name="T38" fmla="*/ 83 w 634"/>
                  <a:gd name="T39" fmla="*/ 530 h 634"/>
                  <a:gd name="T40" fmla="*/ 116 w 634"/>
                  <a:gd name="T41" fmla="*/ 561 h 634"/>
                  <a:gd name="T42" fmla="*/ 153 w 634"/>
                  <a:gd name="T43" fmla="*/ 588 h 634"/>
                  <a:gd name="T44" fmla="*/ 194 w 634"/>
                  <a:gd name="T45" fmla="*/ 608 h 634"/>
                  <a:gd name="T46" fmla="*/ 238 w 634"/>
                  <a:gd name="T47" fmla="*/ 623 h 634"/>
                  <a:gd name="T48" fmla="*/ 285 w 634"/>
                  <a:gd name="T49" fmla="*/ 632 h 634"/>
                  <a:gd name="T50" fmla="*/ 334 w 634"/>
                  <a:gd name="T51" fmla="*/ 633 h 634"/>
                  <a:gd name="T52" fmla="*/ 381 w 634"/>
                  <a:gd name="T53" fmla="*/ 627 h 634"/>
                  <a:gd name="T54" fmla="*/ 426 w 634"/>
                  <a:gd name="T55" fmla="*/ 614 h 634"/>
                  <a:gd name="T56" fmla="*/ 469 w 634"/>
                  <a:gd name="T57" fmla="*/ 595 h 634"/>
                  <a:gd name="T58" fmla="*/ 507 w 634"/>
                  <a:gd name="T59" fmla="*/ 570 h 634"/>
                  <a:gd name="T60" fmla="*/ 542 w 634"/>
                  <a:gd name="T61" fmla="*/ 540 h 634"/>
                  <a:gd name="T62" fmla="*/ 572 w 634"/>
                  <a:gd name="T63" fmla="*/ 506 h 634"/>
                  <a:gd name="T64" fmla="*/ 596 w 634"/>
                  <a:gd name="T65" fmla="*/ 468 h 634"/>
                  <a:gd name="T66" fmla="*/ 615 w 634"/>
                  <a:gd name="T67" fmla="*/ 426 h 634"/>
                  <a:gd name="T68" fmla="*/ 627 w 634"/>
                  <a:gd name="T69" fmla="*/ 381 h 634"/>
                  <a:gd name="T70" fmla="*/ 634 w 634"/>
                  <a:gd name="T71" fmla="*/ 332 h 634"/>
                  <a:gd name="T72" fmla="*/ 633 w 634"/>
                  <a:gd name="T73" fmla="*/ 281 h 634"/>
                  <a:gd name="T74" fmla="*/ 622 w 634"/>
                  <a:gd name="T75" fmla="*/ 230 h 634"/>
                  <a:gd name="T76" fmla="*/ 605 w 634"/>
                  <a:gd name="T77" fmla="*/ 182 h 634"/>
                  <a:gd name="T78" fmla="*/ 484 w 634"/>
                  <a:gd name="T79" fmla="*/ 310 h 634"/>
                  <a:gd name="T80" fmla="*/ 480 w 634"/>
                  <a:gd name="T81" fmla="*/ 350 h 634"/>
                  <a:gd name="T82" fmla="*/ 463 w 634"/>
                  <a:gd name="T83" fmla="*/ 396 h 634"/>
                  <a:gd name="T84" fmla="*/ 434 w 634"/>
                  <a:gd name="T85" fmla="*/ 434 h 634"/>
                  <a:gd name="T86" fmla="*/ 397 w 634"/>
                  <a:gd name="T87" fmla="*/ 463 h 634"/>
                  <a:gd name="T88" fmla="*/ 351 w 634"/>
                  <a:gd name="T89" fmla="*/ 479 h 634"/>
                  <a:gd name="T90" fmla="*/ 300 w 634"/>
                  <a:gd name="T91" fmla="*/ 481 h 634"/>
                  <a:gd name="T92" fmla="*/ 252 w 634"/>
                  <a:gd name="T93" fmla="*/ 470 h 634"/>
                  <a:gd name="T94" fmla="*/ 211 w 634"/>
                  <a:gd name="T95" fmla="*/ 445 h 634"/>
                  <a:gd name="T96" fmla="*/ 179 w 634"/>
                  <a:gd name="T97" fmla="*/ 410 h 634"/>
                  <a:gd name="T98" fmla="*/ 159 w 634"/>
                  <a:gd name="T99" fmla="*/ 366 h 634"/>
                  <a:gd name="T100" fmla="*/ 151 w 634"/>
                  <a:gd name="T101" fmla="*/ 316 h 634"/>
                  <a:gd name="T102" fmla="*/ 159 w 634"/>
                  <a:gd name="T103" fmla="*/ 267 h 634"/>
                  <a:gd name="T104" fmla="*/ 179 w 634"/>
                  <a:gd name="T105" fmla="*/ 224 h 634"/>
                  <a:gd name="T106" fmla="*/ 211 w 634"/>
                  <a:gd name="T107" fmla="*/ 189 h 634"/>
                  <a:gd name="T108" fmla="*/ 252 w 634"/>
                  <a:gd name="T109" fmla="*/ 163 h 634"/>
                  <a:gd name="T110" fmla="*/ 300 w 634"/>
                  <a:gd name="T111" fmla="*/ 151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4" h="634">
                    <a:moveTo>
                      <a:pt x="317" y="150"/>
                    </a:moveTo>
                    <a:lnTo>
                      <a:pt x="324" y="150"/>
                    </a:lnTo>
                    <a:lnTo>
                      <a:pt x="330" y="151"/>
                    </a:lnTo>
                    <a:lnTo>
                      <a:pt x="448" y="32"/>
                    </a:lnTo>
                    <a:lnTo>
                      <a:pt x="452" y="29"/>
                    </a:lnTo>
                    <a:lnTo>
                      <a:pt x="435" y="22"/>
                    </a:lnTo>
                    <a:lnTo>
                      <a:pt x="420" y="17"/>
                    </a:lnTo>
                    <a:lnTo>
                      <a:pt x="403" y="12"/>
                    </a:lnTo>
                    <a:lnTo>
                      <a:pt x="387" y="7"/>
                    </a:lnTo>
                    <a:lnTo>
                      <a:pt x="370" y="4"/>
                    </a:lnTo>
                    <a:lnTo>
                      <a:pt x="353" y="1"/>
                    </a:lnTo>
                    <a:lnTo>
                      <a:pt x="335" y="0"/>
                    </a:lnTo>
                    <a:lnTo>
                      <a:pt x="317" y="0"/>
                    </a:lnTo>
                    <a:lnTo>
                      <a:pt x="301" y="0"/>
                    </a:lnTo>
                    <a:lnTo>
                      <a:pt x="285" y="1"/>
                    </a:lnTo>
                    <a:lnTo>
                      <a:pt x="269" y="3"/>
                    </a:lnTo>
                    <a:lnTo>
                      <a:pt x="253" y="6"/>
                    </a:lnTo>
                    <a:lnTo>
                      <a:pt x="238" y="10"/>
                    </a:lnTo>
                    <a:lnTo>
                      <a:pt x="223" y="14"/>
                    </a:lnTo>
                    <a:lnTo>
                      <a:pt x="208" y="19"/>
                    </a:lnTo>
                    <a:lnTo>
                      <a:pt x="194" y="25"/>
                    </a:lnTo>
                    <a:lnTo>
                      <a:pt x="180" y="31"/>
                    </a:lnTo>
                    <a:lnTo>
                      <a:pt x="166" y="37"/>
                    </a:lnTo>
                    <a:lnTo>
                      <a:pt x="153" y="45"/>
                    </a:lnTo>
                    <a:lnTo>
                      <a:pt x="141" y="54"/>
                    </a:lnTo>
                    <a:lnTo>
                      <a:pt x="128" y="62"/>
                    </a:lnTo>
                    <a:lnTo>
                      <a:pt x="116" y="72"/>
                    </a:lnTo>
                    <a:lnTo>
                      <a:pt x="104" y="81"/>
                    </a:lnTo>
                    <a:lnTo>
                      <a:pt x="93" y="92"/>
                    </a:lnTo>
                    <a:lnTo>
                      <a:pt x="83" y="103"/>
                    </a:lnTo>
                    <a:lnTo>
                      <a:pt x="73" y="115"/>
                    </a:lnTo>
                    <a:lnTo>
                      <a:pt x="63" y="126"/>
                    </a:lnTo>
                    <a:lnTo>
                      <a:pt x="55" y="139"/>
                    </a:lnTo>
                    <a:lnTo>
                      <a:pt x="46" y="152"/>
                    </a:lnTo>
                    <a:lnTo>
                      <a:pt x="39" y="165"/>
                    </a:lnTo>
                    <a:lnTo>
                      <a:pt x="32" y="179"/>
                    </a:lnTo>
                    <a:lnTo>
                      <a:pt x="26" y="193"/>
                    </a:lnTo>
                    <a:lnTo>
                      <a:pt x="19" y="207"/>
                    </a:lnTo>
                    <a:lnTo>
                      <a:pt x="15" y="222"/>
                    </a:lnTo>
                    <a:lnTo>
                      <a:pt x="11" y="237"/>
                    </a:lnTo>
                    <a:lnTo>
                      <a:pt x="6" y="253"/>
                    </a:lnTo>
                    <a:lnTo>
                      <a:pt x="4" y="268"/>
                    </a:lnTo>
                    <a:lnTo>
                      <a:pt x="2" y="284"/>
                    </a:lnTo>
                    <a:lnTo>
                      <a:pt x="1" y="300"/>
                    </a:lnTo>
                    <a:lnTo>
                      <a:pt x="0" y="316"/>
                    </a:lnTo>
                    <a:lnTo>
                      <a:pt x="1" y="332"/>
                    </a:lnTo>
                    <a:lnTo>
                      <a:pt x="2" y="348"/>
                    </a:lnTo>
                    <a:lnTo>
                      <a:pt x="4" y="365"/>
                    </a:lnTo>
                    <a:lnTo>
                      <a:pt x="6" y="381"/>
                    </a:lnTo>
                    <a:lnTo>
                      <a:pt x="11" y="396"/>
                    </a:lnTo>
                    <a:lnTo>
                      <a:pt x="15" y="411"/>
                    </a:lnTo>
                    <a:lnTo>
                      <a:pt x="19" y="426"/>
                    </a:lnTo>
                    <a:lnTo>
                      <a:pt x="26" y="440"/>
                    </a:lnTo>
                    <a:lnTo>
                      <a:pt x="32" y="454"/>
                    </a:lnTo>
                    <a:lnTo>
                      <a:pt x="39" y="468"/>
                    </a:lnTo>
                    <a:lnTo>
                      <a:pt x="46" y="480"/>
                    </a:lnTo>
                    <a:lnTo>
                      <a:pt x="55" y="493"/>
                    </a:lnTo>
                    <a:lnTo>
                      <a:pt x="63" y="506"/>
                    </a:lnTo>
                    <a:lnTo>
                      <a:pt x="73" y="518"/>
                    </a:lnTo>
                    <a:lnTo>
                      <a:pt x="83" y="530"/>
                    </a:lnTo>
                    <a:lnTo>
                      <a:pt x="93" y="540"/>
                    </a:lnTo>
                    <a:lnTo>
                      <a:pt x="104" y="551"/>
                    </a:lnTo>
                    <a:lnTo>
                      <a:pt x="116" y="561"/>
                    </a:lnTo>
                    <a:lnTo>
                      <a:pt x="128" y="570"/>
                    </a:lnTo>
                    <a:lnTo>
                      <a:pt x="141" y="579"/>
                    </a:lnTo>
                    <a:lnTo>
                      <a:pt x="153" y="588"/>
                    </a:lnTo>
                    <a:lnTo>
                      <a:pt x="166" y="595"/>
                    </a:lnTo>
                    <a:lnTo>
                      <a:pt x="180" y="603"/>
                    </a:lnTo>
                    <a:lnTo>
                      <a:pt x="194" y="608"/>
                    </a:lnTo>
                    <a:lnTo>
                      <a:pt x="208" y="614"/>
                    </a:lnTo>
                    <a:lnTo>
                      <a:pt x="223" y="619"/>
                    </a:lnTo>
                    <a:lnTo>
                      <a:pt x="238" y="623"/>
                    </a:lnTo>
                    <a:lnTo>
                      <a:pt x="253" y="627"/>
                    </a:lnTo>
                    <a:lnTo>
                      <a:pt x="269" y="629"/>
                    </a:lnTo>
                    <a:lnTo>
                      <a:pt x="285" y="632"/>
                    </a:lnTo>
                    <a:lnTo>
                      <a:pt x="301" y="633"/>
                    </a:lnTo>
                    <a:lnTo>
                      <a:pt x="317" y="634"/>
                    </a:lnTo>
                    <a:lnTo>
                      <a:pt x="334" y="633"/>
                    </a:lnTo>
                    <a:lnTo>
                      <a:pt x="350" y="632"/>
                    </a:lnTo>
                    <a:lnTo>
                      <a:pt x="366" y="629"/>
                    </a:lnTo>
                    <a:lnTo>
                      <a:pt x="381" y="627"/>
                    </a:lnTo>
                    <a:lnTo>
                      <a:pt x="397" y="623"/>
                    </a:lnTo>
                    <a:lnTo>
                      <a:pt x="412" y="619"/>
                    </a:lnTo>
                    <a:lnTo>
                      <a:pt x="426" y="614"/>
                    </a:lnTo>
                    <a:lnTo>
                      <a:pt x="441" y="608"/>
                    </a:lnTo>
                    <a:lnTo>
                      <a:pt x="455" y="603"/>
                    </a:lnTo>
                    <a:lnTo>
                      <a:pt x="469" y="595"/>
                    </a:lnTo>
                    <a:lnTo>
                      <a:pt x="482" y="588"/>
                    </a:lnTo>
                    <a:lnTo>
                      <a:pt x="494" y="579"/>
                    </a:lnTo>
                    <a:lnTo>
                      <a:pt x="507" y="570"/>
                    </a:lnTo>
                    <a:lnTo>
                      <a:pt x="519" y="561"/>
                    </a:lnTo>
                    <a:lnTo>
                      <a:pt x="531" y="551"/>
                    </a:lnTo>
                    <a:lnTo>
                      <a:pt x="542" y="540"/>
                    </a:lnTo>
                    <a:lnTo>
                      <a:pt x="552" y="530"/>
                    </a:lnTo>
                    <a:lnTo>
                      <a:pt x="562" y="518"/>
                    </a:lnTo>
                    <a:lnTo>
                      <a:pt x="572" y="506"/>
                    </a:lnTo>
                    <a:lnTo>
                      <a:pt x="580" y="493"/>
                    </a:lnTo>
                    <a:lnTo>
                      <a:pt x="589" y="480"/>
                    </a:lnTo>
                    <a:lnTo>
                      <a:pt x="596" y="468"/>
                    </a:lnTo>
                    <a:lnTo>
                      <a:pt x="603" y="454"/>
                    </a:lnTo>
                    <a:lnTo>
                      <a:pt x="609" y="440"/>
                    </a:lnTo>
                    <a:lnTo>
                      <a:pt x="615" y="426"/>
                    </a:lnTo>
                    <a:lnTo>
                      <a:pt x="620" y="411"/>
                    </a:lnTo>
                    <a:lnTo>
                      <a:pt x="624" y="396"/>
                    </a:lnTo>
                    <a:lnTo>
                      <a:pt x="627" y="381"/>
                    </a:lnTo>
                    <a:lnTo>
                      <a:pt x="631" y="365"/>
                    </a:lnTo>
                    <a:lnTo>
                      <a:pt x="633" y="348"/>
                    </a:lnTo>
                    <a:lnTo>
                      <a:pt x="634" y="332"/>
                    </a:lnTo>
                    <a:lnTo>
                      <a:pt x="634" y="316"/>
                    </a:lnTo>
                    <a:lnTo>
                      <a:pt x="634" y="299"/>
                    </a:lnTo>
                    <a:lnTo>
                      <a:pt x="633" y="281"/>
                    </a:lnTo>
                    <a:lnTo>
                      <a:pt x="630" y="264"/>
                    </a:lnTo>
                    <a:lnTo>
                      <a:pt x="626" y="247"/>
                    </a:lnTo>
                    <a:lnTo>
                      <a:pt x="622" y="230"/>
                    </a:lnTo>
                    <a:lnTo>
                      <a:pt x="617" y="214"/>
                    </a:lnTo>
                    <a:lnTo>
                      <a:pt x="611" y="198"/>
                    </a:lnTo>
                    <a:lnTo>
                      <a:pt x="605" y="182"/>
                    </a:lnTo>
                    <a:lnTo>
                      <a:pt x="602" y="185"/>
                    </a:lnTo>
                    <a:lnTo>
                      <a:pt x="483" y="303"/>
                    </a:lnTo>
                    <a:lnTo>
                      <a:pt x="484" y="310"/>
                    </a:lnTo>
                    <a:lnTo>
                      <a:pt x="484" y="316"/>
                    </a:lnTo>
                    <a:lnTo>
                      <a:pt x="483" y="333"/>
                    </a:lnTo>
                    <a:lnTo>
                      <a:pt x="480" y="350"/>
                    </a:lnTo>
                    <a:lnTo>
                      <a:pt x="476" y="366"/>
                    </a:lnTo>
                    <a:lnTo>
                      <a:pt x="471" y="382"/>
                    </a:lnTo>
                    <a:lnTo>
                      <a:pt x="463" y="396"/>
                    </a:lnTo>
                    <a:lnTo>
                      <a:pt x="455" y="410"/>
                    </a:lnTo>
                    <a:lnTo>
                      <a:pt x="445" y="422"/>
                    </a:lnTo>
                    <a:lnTo>
                      <a:pt x="434" y="434"/>
                    </a:lnTo>
                    <a:lnTo>
                      <a:pt x="423" y="445"/>
                    </a:lnTo>
                    <a:lnTo>
                      <a:pt x="411" y="455"/>
                    </a:lnTo>
                    <a:lnTo>
                      <a:pt x="397" y="463"/>
                    </a:lnTo>
                    <a:lnTo>
                      <a:pt x="382" y="470"/>
                    </a:lnTo>
                    <a:lnTo>
                      <a:pt x="367" y="475"/>
                    </a:lnTo>
                    <a:lnTo>
                      <a:pt x="351" y="479"/>
                    </a:lnTo>
                    <a:lnTo>
                      <a:pt x="335" y="481"/>
                    </a:lnTo>
                    <a:lnTo>
                      <a:pt x="317" y="483"/>
                    </a:lnTo>
                    <a:lnTo>
                      <a:pt x="300" y="481"/>
                    </a:lnTo>
                    <a:lnTo>
                      <a:pt x="283" y="479"/>
                    </a:lnTo>
                    <a:lnTo>
                      <a:pt x="268" y="475"/>
                    </a:lnTo>
                    <a:lnTo>
                      <a:pt x="252" y="470"/>
                    </a:lnTo>
                    <a:lnTo>
                      <a:pt x="238" y="463"/>
                    </a:lnTo>
                    <a:lnTo>
                      <a:pt x="224" y="455"/>
                    </a:lnTo>
                    <a:lnTo>
                      <a:pt x="211" y="445"/>
                    </a:lnTo>
                    <a:lnTo>
                      <a:pt x="199" y="434"/>
                    </a:lnTo>
                    <a:lnTo>
                      <a:pt x="189" y="422"/>
                    </a:lnTo>
                    <a:lnTo>
                      <a:pt x="179" y="410"/>
                    </a:lnTo>
                    <a:lnTo>
                      <a:pt x="172" y="396"/>
                    </a:lnTo>
                    <a:lnTo>
                      <a:pt x="164" y="382"/>
                    </a:lnTo>
                    <a:lnTo>
                      <a:pt x="159" y="366"/>
                    </a:lnTo>
                    <a:lnTo>
                      <a:pt x="154" y="350"/>
                    </a:lnTo>
                    <a:lnTo>
                      <a:pt x="152" y="333"/>
                    </a:lnTo>
                    <a:lnTo>
                      <a:pt x="151" y="316"/>
                    </a:lnTo>
                    <a:lnTo>
                      <a:pt x="152" y="299"/>
                    </a:lnTo>
                    <a:lnTo>
                      <a:pt x="154" y="283"/>
                    </a:lnTo>
                    <a:lnTo>
                      <a:pt x="159" y="267"/>
                    </a:lnTo>
                    <a:lnTo>
                      <a:pt x="164" y="252"/>
                    </a:lnTo>
                    <a:lnTo>
                      <a:pt x="172" y="237"/>
                    </a:lnTo>
                    <a:lnTo>
                      <a:pt x="179" y="224"/>
                    </a:lnTo>
                    <a:lnTo>
                      <a:pt x="189" y="211"/>
                    </a:lnTo>
                    <a:lnTo>
                      <a:pt x="199" y="199"/>
                    </a:lnTo>
                    <a:lnTo>
                      <a:pt x="211" y="189"/>
                    </a:lnTo>
                    <a:lnTo>
                      <a:pt x="224" y="179"/>
                    </a:lnTo>
                    <a:lnTo>
                      <a:pt x="238" y="170"/>
                    </a:lnTo>
                    <a:lnTo>
                      <a:pt x="252" y="163"/>
                    </a:lnTo>
                    <a:lnTo>
                      <a:pt x="268" y="158"/>
                    </a:lnTo>
                    <a:lnTo>
                      <a:pt x="284" y="153"/>
                    </a:lnTo>
                    <a:lnTo>
                      <a:pt x="300" y="151"/>
                    </a:lnTo>
                    <a:lnTo>
                      <a:pt x="317" y="1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78" name="Freeform 77"/>
              <p:cNvSpPr>
                <a:spLocks/>
              </p:cNvSpPr>
              <p:nvPr/>
            </p:nvSpPr>
            <p:spPr bwMode="auto">
              <a:xfrm>
                <a:off x="3994150" y="3568700"/>
                <a:ext cx="227013" cy="227013"/>
              </a:xfrm>
              <a:custGeom>
                <a:avLst/>
                <a:gdLst>
                  <a:gd name="T0" fmla="*/ 638 w 712"/>
                  <a:gd name="T1" fmla="*/ 159 h 715"/>
                  <a:gd name="T2" fmla="*/ 647 w 712"/>
                  <a:gd name="T3" fmla="*/ 147 h 715"/>
                  <a:gd name="T4" fmla="*/ 651 w 712"/>
                  <a:gd name="T5" fmla="*/ 132 h 715"/>
                  <a:gd name="T6" fmla="*/ 647 w 712"/>
                  <a:gd name="T7" fmla="*/ 115 h 715"/>
                  <a:gd name="T8" fmla="*/ 638 w 712"/>
                  <a:gd name="T9" fmla="*/ 103 h 715"/>
                  <a:gd name="T10" fmla="*/ 608 w 712"/>
                  <a:gd name="T11" fmla="*/ 73 h 715"/>
                  <a:gd name="T12" fmla="*/ 593 w 712"/>
                  <a:gd name="T13" fmla="*/ 67 h 715"/>
                  <a:gd name="T14" fmla="*/ 578 w 712"/>
                  <a:gd name="T15" fmla="*/ 67 h 715"/>
                  <a:gd name="T16" fmla="*/ 563 w 712"/>
                  <a:gd name="T17" fmla="*/ 73 h 715"/>
                  <a:gd name="T18" fmla="*/ 517 w 712"/>
                  <a:gd name="T19" fmla="*/ 118 h 715"/>
                  <a:gd name="T20" fmla="*/ 507 w 712"/>
                  <a:gd name="T21" fmla="*/ 6 h 715"/>
                  <a:gd name="T22" fmla="*/ 500 w 712"/>
                  <a:gd name="T23" fmla="*/ 0 h 715"/>
                  <a:gd name="T24" fmla="*/ 490 w 712"/>
                  <a:gd name="T25" fmla="*/ 0 h 715"/>
                  <a:gd name="T26" fmla="*/ 329 w 712"/>
                  <a:gd name="T27" fmla="*/ 161 h 715"/>
                  <a:gd name="T28" fmla="*/ 319 w 712"/>
                  <a:gd name="T29" fmla="*/ 171 h 715"/>
                  <a:gd name="T30" fmla="*/ 313 w 712"/>
                  <a:gd name="T31" fmla="*/ 185 h 715"/>
                  <a:gd name="T32" fmla="*/ 310 w 712"/>
                  <a:gd name="T33" fmla="*/ 199 h 715"/>
                  <a:gd name="T34" fmla="*/ 308 w 712"/>
                  <a:gd name="T35" fmla="*/ 214 h 715"/>
                  <a:gd name="T36" fmla="*/ 317 w 712"/>
                  <a:gd name="T37" fmla="*/ 318 h 715"/>
                  <a:gd name="T38" fmla="*/ 157 w 712"/>
                  <a:gd name="T39" fmla="*/ 477 h 715"/>
                  <a:gd name="T40" fmla="*/ 56 w 712"/>
                  <a:gd name="T41" fmla="*/ 578 h 715"/>
                  <a:gd name="T42" fmla="*/ 9 w 712"/>
                  <a:gd name="T43" fmla="*/ 627 h 715"/>
                  <a:gd name="T44" fmla="*/ 4 w 712"/>
                  <a:gd name="T45" fmla="*/ 638 h 715"/>
                  <a:gd name="T46" fmla="*/ 0 w 712"/>
                  <a:gd name="T47" fmla="*/ 679 h 715"/>
                  <a:gd name="T48" fmla="*/ 2 w 712"/>
                  <a:gd name="T49" fmla="*/ 692 h 715"/>
                  <a:gd name="T50" fmla="*/ 9 w 712"/>
                  <a:gd name="T51" fmla="*/ 704 h 715"/>
                  <a:gd name="T52" fmla="*/ 20 w 712"/>
                  <a:gd name="T53" fmla="*/ 712 h 715"/>
                  <a:gd name="T54" fmla="*/ 34 w 712"/>
                  <a:gd name="T55" fmla="*/ 715 h 715"/>
                  <a:gd name="T56" fmla="*/ 73 w 712"/>
                  <a:gd name="T57" fmla="*/ 713 h 715"/>
                  <a:gd name="T58" fmla="*/ 84 w 712"/>
                  <a:gd name="T59" fmla="*/ 711 h 715"/>
                  <a:gd name="T60" fmla="*/ 95 w 712"/>
                  <a:gd name="T61" fmla="*/ 703 h 715"/>
                  <a:gd name="T62" fmla="*/ 493 w 712"/>
                  <a:gd name="T63" fmla="*/ 402 h 715"/>
                  <a:gd name="T64" fmla="*/ 499 w 712"/>
                  <a:gd name="T65" fmla="*/ 402 h 715"/>
                  <a:gd name="T66" fmla="*/ 509 w 712"/>
                  <a:gd name="T67" fmla="*/ 402 h 715"/>
                  <a:gd name="T68" fmla="*/ 522 w 712"/>
                  <a:gd name="T69" fmla="*/ 400 h 715"/>
                  <a:gd name="T70" fmla="*/ 535 w 712"/>
                  <a:gd name="T71" fmla="*/ 394 h 715"/>
                  <a:gd name="T72" fmla="*/ 546 w 712"/>
                  <a:gd name="T73" fmla="*/ 387 h 715"/>
                  <a:gd name="T74" fmla="*/ 707 w 712"/>
                  <a:gd name="T75" fmla="*/ 225 h 715"/>
                  <a:gd name="T76" fmla="*/ 711 w 712"/>
                  <a:gd name="T77" fmla="*/ 218 h 715"/>
                  <a:gd name="T78" fmla="*/ 711 w 712"/>
                  <a:gd name="T79" fmla="*/ 211 h 715"/>
                  <a:gd name="T80" fmla="*/ 706 w 712"/>
                  <a:gd name="T81" fmla="*/ 205 h 715"/>
                  <a:gd name="T82" fmla="*/ 699 w 712"/>
                  <a:gd name="T83" fmla="*/ 202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2" h="715">
                    <a:moveTo>
                      <a:pt x="603" y="195"/>
                    </a:moveTo>
                    <a:lnTo>
                      <a:pt x="638" y="159"/>
                    </a:lnTo>
                    <a:lnTo>
                      <a:pt x="643" y="153"/>
                    </a:lnTo>
                    <a:lnTo>
                      <a:pt x="647" y="147"/>
                    </a:lnTo>
                    <a:lnTo>
                      <a:pt x="650" y="139"/>
                    </a:lnTo>
                    <a:lnTo>
                      <a:pt x="651" y="132"/>
                    </a:lnTo>
                    <a:lnTo>
                      <a:pt x="650" y="123"/>
                    </a:lnTo>
                    <a:lnTo>
                      <a:pt x="647" y="115"/>
                    </a:lnTo>
                    <a:lnTo>
                      <a:pt x="643" y="109"/>
                    </a:lnTo>
                    <a:lnTo>
                      <a:pt x="638" y="103"/>
                    </a:lnTo>
                    <a:lnTo>
                      <a:pt x="614" y="78"/>
                    </a:lnTo>
                    <a:lnTo>
                      <a:pt x="608" y="73"/>
                    </a:lnTo>
                    <a:lnTo>
                      <a:pt x="600" y="69"/>
                    </a:lnTo>
                    <a:lnTo>
                      <a:pt x="593" y="67"/>
                    </a:lnTo>
                    <a:lnTo>
                      <a:pt x="585" y="66"/>
                    </a:lnTo>
                    <a:lnTo>
                      <a:pt x="578" y="67"/>
                    </a:lnTo>
                    <a:lnTo>
                      <a:pt x="570" y="69"/>
                    </a:lnTo>
                    <a:lnTo>
                      <a:pt x="563" y="73"/>
                    </a:lnTo>
                    <a:lnTo>
                      <a:pt x="556" y="78"/>
                    </a:lnTo>
                    <a:lnTo>
                      <a:pt x="517" y="118"/>
                    </a:lnTo>
                    <a:lnTo>
                      <a:pt x="509" y="11"/>
                    </a:lnTo>
                    <a:lnTo>
                      <a:pt x="507" y="6"/>
                    </a:lnTo>
                    <a:lnTo>
                      <a:pt x="504" y="3"/>
                    </a:lnTo>
                    <a:lnTo>
                      <a:pt x="500" y="0"/>
                    </a:lnTo>
                    <a:lnTo>
                      <a:pt x="495" y="0"/>
                    </a:lnTo>
                    <a:lnTo>
                      <a:pt x="490" y="0"/>
                    </a:lnTo>
                    <a:lnTo>
                      <a:pt x="485" y="3"/>
                    </a:lnTo>
                    <a:lnTo>
                      <a:pt x="329" y="161"/>
                    </a:lnTo>
                    <a:lnTo>
                      <a:pt x="323" y="166"/>
                    </a:lnTo>
                    <a:lnTo>
                      <a:pt x="319" y="171"/>
                    </a:lnTo>
                    <a:lnTo>
                      <a:pt x="316" y="178"/>
                    </a:lnTo>
                    <a:lnTo>
                      <a:pt x="313" y="185"/>
                    </a:lnTo>
                    <a:lnTo>
                      <a:pt x="311" y="192"/>
                    </a:lnTo>
                    <a:lnTo>
                      <a:pt x="310" y="199"/>
                    </a:lnTo>
                    <a:lnTo>
                      <a:pt x="308" y="207"/>
                    </a:lnTo>
                    <a:lnTo>
                      <a:pt x="308" y="214"/>
                    </a:lnTo>
                    <a:lnTo>
                      <a:pt x="308" y="220"/>
                    </a:lnTo>
                    <a:lnTo>
                      <a:pt x="317" y="318"/>
                    </a:lnTo>
                    <a:lnTo>
                      <a:pt x="260" y="375"/>
                    </a:lnTo>
                    <a:lnTo>
                      <a:pt x="157" y="477"/>
                    </a:lnTo>
                    <a:lnTo>
                      <a:pt x="155" y="479"/>
                    </a:lnTo>
                    <a:lnTo>
                      <a:pt x="56" y="578"/>
                    </a:lnTo>
                    <a:lnTo>
                      <a:pt x="12" y="623"/>
                    </a:lnTo>
                    <a:lnTo>
                      <a:pt x="9" y="627"/>
                    </a:lnTo>
                    <a:lnTo>
                      <a:pt x="6" y="632"/>
                    </a:lnTo>
                    <a:lnTo>
                      <a:pt x="4" y="638"/>
                    </a:lnTo>
                    <a:lnTo>
                      <a:pt x="3" y="643"/>
                    </a:lnTo>
                    <a:lnTo>
                      <a:pt x="0" y="679"/>
                    </a:lnTo>
                    <a:lnTo>
                      <a:pt x="1" y="685"/>
                    </a:lnTo>
                    <a:lnTo>
                      <a:pt x="2" y="692"/>
                    </a:lnTo>
                    <a:lnTo>
                      <a:pt x="5" y="699"/>
                    </a:lnTo>
                    <a:lnTo>
                      <a:pt x="9" y="704"/>
                    </a:lnTo>
                    <a:lnTo>
                      <a:pt x="15" y="709"/>
                    </a:lnTo>
                    <a:lnTo>
                      <a:pt x="20" y="712"/>
                    </a:lnTo>
                    <a:lnTo>
                      <a:pt x="26" y="714"/>
                    </a:lnTo>
                    <a:lnTo>
                      <a:pt x="34" y="715"/>
                    </a:lnTo>
                    <a:lnTo>
                      <a:pt x="36" y="715"/>
                    </a:lnTo>
                    <a:lnTo>
                      <a:pt x="73" y="713"/>
                    </a:lnTo>
                    <a:lnTo>
                      <a:pt x="79" y="713"/>
                    </a:lnTo>
                    <a:lnTo>
                      <a:pt x="84" y="711"/>
                    </a:lnTo>
                    <a:lnTo>
                      <a:pt x="90" y="708"/>
                    </a:lnTo>
                    <a:lnTo>
                      <a:pt x="95" y="703"/>
                    </a:lnTo>
                    <a:lnTo>
                      <a:pt x="403" y="395"/>
                    </a:lnTo>
                    <a:lnTo>
                      <a:pt x="493" y="402"/>
                    </a:lnTo>
                    <a:lnTo>
                      <a:pt x="497" y="402"/>
                    </a:lnTo>
                    <a:lnTo>
                      <a:pt x="499" y="402"/>
                    </a:lnTo>
                    <a:lnTo>
                      <a:pt x="502" y="402"/>
                    </a:lnTo>
                    <a:lnTo>
                      <a:pt x="509" y="402"/>
                    </a:lnTo>
                    <a:lnTo>
                      <a:pt x="515" y="401"/>
                    </a:lnTo>
                    <a:lnTo>
                      <a:pt x="522" y="400"/>
                    </a:lnTo>
                    <a:lnTo>
                      <a:pt x="528" y="396"/>
                    </a:lnTo>
                    <a:lnTo>
                      <a:pt x="535" y="394"/>
                    </a:lnTo>
                    <a:lnTo>
                      <a:pt x="540" y="391"/>
                    </a:lnTo>
                    <a:lnTo>
                      <a:pt x="546" y="387"/>
                    </a:lnTo>
                    <a:lnTo>
                      <a:pt x="551" y="383"/>
                    </a:lnTo>
                    <a:lnTo>
                      <a:pt x="707" y="225"/>
                    </a:lnTo>
                    <a:lnTo>
                      <a:pt x="710" y="222"/>
                    </a:lnTo>
                    <a:lnTo>
                      <a:pt x="711" y="218"/>
                    </a:lnTo>
                    <a:lnTo>
                      <a:pt x="712" y="214"/>
                    </a:lnTo>
                    <a:lnTo>
                      <a:pt x="711" y="211"/>
                    </a:lnTo>
                    <a:lnTo>
                      <a:pt x="709" y="208"/>
                    </a:lnTo>
                    <a:lnTo>
                      <a:pt x="706" y="205"/>
                    </a:lnTo>
                    <a:lnTo>
                      <a:pt x="703" y="203"/>
                    </a:lnTo>
                    <a:lnTo>
                      <a:pt x="699" y="202"/>
                    </a:lnTo>
                    <a:lnTo>
                      <a:pt x="603" y="1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grpSp>
        <p:sp>
          <p:nvSpPr>
            <p:cNvPr id="56" name="Rectangle 55"/>
            <p:cNvSpPr>
              <a:spLocks noChangeArrowheads="1"/>
            </p:cNvSpPr>
            <p:nvPr/>
          </p:nvSpPr>
          <p:spPr bwMode="auto">
            <a:xfrm flipH="1">
              <a:off x="6585691" y="3683438"/>
              <a:ext cx="4694840" cy="931350"/>
            </a:xfrm>
            <a:prstGeom prst="rect">
              <a:avLst/>
            </a:pr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57" name="Freeform 56"/>
            <p:cNvSpPr>
              <a:spLocks/>
            </p:cNvSpPr>
            <p:nvPr/>
          </p:nvSpPr>
          <p:spPr bwMode="auto">
            <a:xfrm flipV="1">
              <a:off x="6248400" y="3821564"/>
              <a:ext cx="657120" cy="655097"/>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58" name="Freeform 57"/>
            <p:cNvSpPr>
              <a:spLocks/>
            </p:cNvSpPr>
            <p:nvPr/>
          </p:nvSpPr>
          <p:spPr bwMode="auto">
            <a:xfrm>
              <a:off x="6291805" y="3864834"/>
              <a:ext cx="570309" cy="568556"/>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solidFill>
              <a:schemeClr val="accent2">
                <a:lumMod val="60000"/>
                <a:lumOff val="40000"/>
              </a:schemeClr>
            </a:solidFill>
            <a:ln>
              <a:noFill/>
            </a:ln>
            <a:effectLst>
              <a:outerShdw blurRad="50800" dist="38100" dir="3060000" algn="tl" rotWithShape="0">
                <a:prstClr val="black">
                  <a:alpha val="2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59" name="TextBox 100"/>
            <p:cNvSpPr txBox="1"/>
            <p:nvPr/>
          </p:nvSpPr>
          <p:spPr>
            <a:xfrm>
              <a:off x="6333415" y="3913298"/>
              <a:ext cx="501686" cy="461665"/>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2400" b="1" dirty="0">
                  <a:latin typeface="Calibri" panose="020F0502020204030204"/>
                </a:rPr>
                <a:t>07</a:t>
              </a:r>
            </a:p>
          </p:txBody>
        </p:sp>
        <p:sp>
          <p:nvSpPr>
            <p:cNvPr id="61" name="Freeform 60"/>
            <p:cNvSpPr>
              <a:spLocks/>
            </p:cNvSpPr>
            <p:nvPr/>
          </p:nvSpPr>
          <p:spPr bwMode="auto">
            <a:xfrm flipH="1">
              <a:off x="11276930" y="3683438"/>
              <a:ext cx="762670" cy="931350"/>
            </a:xfrm>
            <a:custGeom>
              <a:avLst/>
              <a:gdLst>
                <a:gd name="T0" fmla="*/ 3380 w 3380"/>
                <a:gd name="T1" fmla="*/ 0 h 4128"/>
                <a:gd name="T2" fmla="*/ 1515 w 3380"/>
                <a:gd name="T3" fmla="*/ 4128 h 4128"/>
                <a:gd name="T4" fmla="*/ 1360 w 3380"/>
                <a:gd name="T5" fmla="*/ 4118 h 4128"/>
                <a:gd name="T6" fmla="*/ 1210 w 3380"/>
                <a:gd name="T7" fmla="*/ 4091 h 4128"/>
                <a:gd name="T8" fmla="*/ 1065 w 3380"/>
                <a:gd name="T9" fmla="*/ 4046 h 4128"/>
                <a:gd name="T10" fmla="*/ 926 w 3380"/>
                <a:gd name="T11" fmla="*/ 3984 h 4128"/>
                <a:gd name="T12" fmla="*/ 794 w 3380"/>
                <a:gd name="T13" fmla="*/ 3906 h 4128"/>
                <a:gd name="T14" fmla="*/ 669 w 3380"/>
                <a:gd name="T15" fmla="*/ 3815 h 4128"/>
                <a:gd name="T16" fmla="*/ 552 w 3380"/>
                <a:gd name="T17" fmla="*/ 3709 h 4128"/>
                <a:gd name="T18" fmla="*/ 445 w 3380"/>
                <a:gd name="T19" fmla="*/ 3591 h 4128"/>
                <a:gd name="T20" fmla="*/ 347 w 3380"/>
                <a:gd name="T21" fmla="*/ 3462 h 4128"/>
                <a:gd name="T22" fmla="*/ 259 w 3380"/>
                <a:gd name="T23" fmla="*/ 3321 h 4128"/>
                <a:gd name="T24" fmla="*/ 184 w 3380"/>
                <a:gd name="T25" fmla="*/ 3170 h 4128"/>
                <a:gd name="T26" fmla="*/ 119 w 3380"/>
                <a:gd name="T27" fmla="*/ 3011 h 4128"/>
                <a:gd name="T28" fmla="*/ 68 w 3380"/>
                <a:gd name="T29" fmla="*/ 2844 h 4128"/>
                <a:gd name="T30" fmla="*/ 31 w 3380"/>
                <a:gd name="T31" fmla="*/ 2669 h 4128"/>
                <a:gd name="T32" fmla="*/ 8 w 3380"/>
                <a:gd name="T33" fmla="*/ 2488 h 4128"/>
                <a:gd name="T34" fmla="*/ 0 w 3380"/>
                <a:gd name="T35" fmla="*/ 2302 h 4128"/>
                <a:gd name="T36" fmla="*/ 2 w 3380"/>
                <a:gd name="T37" fmla="*/ 1733 h 4128"/>
                <a:gd name="T38" fmla="*/ 18 w 3380"/>
                <a:gd name="T39" fmla="*/ 1549 h 4128"/>
                <a:gd name="T40" fmla="*/ 48 w 3380"/>
                <a:gd name="T41" fmla="*/ 1371 h 4128"/>
                <a:gd name="T42" fmla="*/ 92 w 3380"/>
                <a:gd name="T43" fmla="*/ 1199 h 4128"/>
                <a:gd name="T44" fmla="*/ 150 w 3380"/>
                <a:gd name="T45" fmla="*/ 1036 h 4128"/>
                <a:gd name="T46" fmla="*/ 220 w 3380"/>
                <a:gd name="T47" fmla="*/ 881 h 4128"/>
                <a:gd name="T48" fmla="*/ 302 w 3380"/>
                <a:gd name="T49" fmla="*/ 735 h 4128"/>
                <a:gd name="T50" fmla="*/ 395 w 3380"/>
                <a:gd name="T51" fmla="*/ 600 h 4128"/>
                <a:gd name="T52" fmla="*/ 498 w 3380"/>
                <a:gd name="T53" fmla="*/ 475 h 4128"/>
                <a:gd name="T54" fmla="*/ 610 w 3380"/>
                <a:gd name="T55" fmla="*/ 364 h 4128"/>
                <a:gd name="T56" fmla="*/ 730 w 3380"/>
                <a:gd name="T57" fmla="*/ 265 h 4128"/>
                <a:gd name="T58" fmla="*/ 859 w 3380"/>
                <a:gd name="T59" fmla="*/ 180 h 4128"/>
                <a:gd name="T60" fmla="*/ 995 w 3380"/>
                <a:gd name="T61" fmla="*/ 111 h 4128"/>
                <a:gd name="T62" fmla="*/ 1137 w 3380"/>
                <a:gd name="T63" fmla="*/ 58 h 4128"/>
                <a:gd name="T64" fmla="*/ 1284 w 3380"/>
                <a:gd name="T65" fmla="*/ 21 h 4128"/>
                <a:gd name="T66" fmla="*/ 1437 w 3380"/>
                <a:gd name="T67" fmla="*/ 2 h 4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80" h="4128">
                  <a:moveTo>
                    <a:pt x="1515" y="0"/>
                  </a:moveTo>
                  <a:lnTo>
                    <a:pt x="3380" y="0"/>
                  </a:lnTo>
                  <a:lnTo>
                    <a:pt x="3380" y="4128"/>
                  </a:lnTo>
                  <a:lnTo>
                    <a:pt x="1515" y="4128"/>
                  </a:lnTo>
                  <a:lnTo>
                    <a:pt x="1437" y="4126"/>
                  </a:lnTo>
                  <a:lnTo>
                    <a:pt x="1360" y="4118"/>
                  </a:lnTo>
                  <a:lnTo>
                    <a:pt x="1284" y="4107"/>
                  </a:lnTo>
                  <a:lnTo>
                    <a:pt x="1210" y="4091"/>
                  </a:lnTo>
                  <a:lnTo>
                    <a:pt x="1137" y="4070"/>
                  </a:lnTo>
                  <a:lnTo>
                    <a:pt x="1065" y="4046"/>
                  </a:lnTo>
                  <a:lnTo>
                    <a:pt x="995" y="4017"/>
                  </a:lnTo>
                  <a:lnTo>
                    <a:pt x="926" y="3984"/>
                  </a:lnTo>
                  <a:lnTo>
                    <a:pt x="859" y="3948"/>
                  </a:lnTo>
                  <a:lnTo>
                    <a:pt x="794" y="3906"/>
                  </a:lnTo>
                  <a:lnTo>
                    <a:pt x="730" y="3863"/>
                  </a:lnTo>
                  <a:lnTo>
                    <a:pt x="669" y="3815"/>
                  </a:lnTo>
                  <a:lnTo>
                    <a:pt x="610" y="3764"/>
                  </a:lnTo>
                  <a:lnTo>
                    <a:pt x="552" y="3709"/>
                  </a:lnTo>
                  <a:lnTo>
                    <a:pt x="498" y="3653"/>
                  </a:lnTo>
                  <a:lnTo>
                    <a:pt x="445" y="3591"/>
                  </a:lnTo>
                  <a:lnTo>
                    <a:pt x="395" y="3528"/>
                  </a:lnTo>
                  <a:lnTo>
                    <a:pt x="347" y="3462"/>
                  </a:lnTo>
                  <a:lnTo>
                    <a:pt x="302" y="3393"/>
                  </a:lnTo>
                  <a:lnTo>
                    <a:pt x="259" y="3321"/>
                  </a:lnTo>
                  <a:lnTo>
                    <a:pt x="220" y="3247"/>
                  </a:lnTo>
                  <a:lnTo>
                    <a:pt x="184" y="3170"/>
                  </a:lnTo>
                  <a:lnTo>
                    <a:pt x="150" y="3092"/>
                  </a:lnTo>
                  <a:lnTo>
                    <a:pt x="119" y="3011"/>
                  </a:lnTo>
                  <a:lnTo>
                    <a:pt x="92" y="2929"/>
                  </a:lnTo>
                  <a:lnTo>
                    <a:pt x="68" y="2844"/>
                  </a:lnTo>
                  <a:lnTo>
                    <a:pt x="48" y="2757"/>
                  </a:lnTo>
                  <a:lnTo>
                    <a:pt x="31" y="2669"/>
                  </a:lnTo>
                  <a:lnTo>
                    <a:pt x="18" y="2579"/>
                  </a:lnTo>
                  <a:lnTo>
                    <a:pt x="8" y="2488"/>
                  </a:lnTo>
                  <a:lnTo>
                    <a:pt x="2" y="2395"/>
                  </a:lnTo>
                  <a:lnTo>
                    <a:pt x="0" y="2302"/>
                  </a:lnTo>
                  <a:lnTo>
                    <a:pt x="0" y="1826"/>
                  </a:lnTo>
                  <a:lnTo>
                    <a:pt x="2" y="1733"/>
                  </a:lnTo>
                  <a:lnTo>
                    <a:pt x="8" y="1640"/>
                  </a:lnTo>
                  <a:lnTo>
                    <a:pt x="18" y="1549"/>
                  </a:lnTo>
                  <a:lnTo>
                    <a:pt x="31" y="1459"/>
                  </a:lnTo>
                  <a:lnTo>
                    <a:pt x="48" y="1371"/>
                  </a:lnTo>
                  <a:lnTo>
                    <a:pt x="68" y="1284"/>
                  </a:lnTo>
                  <a:lnTo>
                    <a:pt x="92" y="1199"/>
                  </a:lnTo>
                  <a:lnTo>
                    <a:pt x="119" y="1117"/>
                  </a:lnTo>
                  <a:lnTo>
                    <a:pt x="150" y="1036"/>
                  </a:lnTo>
                  <a:lnTo>
                    <a:pt x="184" y="958"/>
                  </a:lnTo>
                  <a:lnTo>
                    <a:pt x="220" y="881"/>
                  </a:lnTo>
                  <a:lnTo>
                    <a:pt x="259" y="807"/>
                  </a:lnTo>
                  <a:lnTo>
                    <a:pt x="302" y="735"/>
                  </a:lnTo>
                  <a:lnTo>
                    <a:pt x="347" y="666"/>
                  </a:lnTo>
                  <a:lnTo>
                    <a:pt x="395" y="600"/>
                  </a:lnTo>
                  <a:lnTo>
                    <a:pt x="445" y="537"/>
                  </a:lnTo>
                  <a:lnTo>
                    <a:pt x="498" y="475"/>
                  </a:lnTo>
                  <a:lnTo>
                    <a:pt x="552" y="419"/>
                  </a:lnTo>
                  <a:lnTo>
                    <a:pt x="610" y="364"/>
                  </a:lnTo>
                  <a:lnTo>
                    <a:pt x="669" y="313"/>
                  </a:lnTo>
                  <a:lnTo>
                    <a:pt x="730" y="265"/>
                  </a:lnTo>
                  <a:lnTo>
                    <a:pt x="794" y="222"/>
                  </a:lnTo>
                  <a:lnTo>
                    <a:pt x="859" y="180"/>
                  </a:lnTo>
                  <a:lnTo>
                    <a:pt x="926" y="144"/>
                  </a:lnTo>
                  <a:lnTo>
                    <a:pt x="995" y="111"/>
                  </a:lnTo>
                  <a:lnTo>
                    <a:pt x="1065" y="82"/>
                  </a:lnTo>
                  <a:lnTo>
                    <a:pt x="1137" y="58"/>
                  </a:lnTo>
                  <a:lnTo>
                    <a:pt x="1210" y="37"/>
                  </a:lnTo>
                  <a:lnTo>
                    <a:pt x="1284" y="21"/>
                  </a:lnTo>
                  <a:lnTo>
                    <a:pt x="1360" y="10"/>
                  </a:lnTo>
                  <a:lnTo>
                    <a:pt x="1437" y="2"/>
                  </a:lnTo>
                  <a:lnTo>
                    <a:pt x="1515" y="0"/>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grpSp>
          <p:nvGrpSpPr>
            <p:cNvPr id="62" name="Group 61"/>
            <p:cNvGrpSpPr/>
            <p:nvPr/>
          </p:nvGrpSpPr>
          <p:grpSpPr>
            <a:xfrm flipH="1">
              <a:off x="11393715" y="3920209"/>
              <a:ext cx="428315" cy="428017"/>
              <a:chOff x="3770313" y="3568700"/>
              <a:chExt cx="450850" cy="450851"/>
            </a:xfrm>
            <a:solidFill>
              <a:sysClr val="window" lastClr="FFFFFF"/>
            </a:solidFill>
          </p:grpSpPr>
          <p:sp>
            <p:nvSpPr>
              <p:cNvPr id="73" name="Freeform 72"/>
              <p:cNvSpPr>
                <a:spLocks/>
              </p:cNvSpPr>
              <p:nvPr/>
            </p:nvSpPr>
            <p:spPr bwMode="auto">
              <a:xfrm>
                <a:off x="3770313" y="3611563"/>
                <a:ext cx="409575" cy="407988"/>
              </a:xfrm>
              <a:custGeom>
                <a:avLst/>
                <a:gdLst>
                  <a:gd name="T0" fmla="*/ 773 w 1287"/>
                  <a:gd name="T1" fmla="*/ 1274 h 1287"/>
                  <a:gd name="T2" fmla="*/ 922 w 1287"/>
                  <a:gd name="T3" fmla="*/ 1224 h 1287"/>
                  <a:gd name="T4" fmla="*/ 1053 w 1287"/>
                  <a:gd name="T5" fmla="*/ 1140 h 1287"/>
                  <a:gd name="T6" fmla="*/ 1159 w 1287"/>
                  <a:gd name="T7" fmla="*/ 1028 h 1287"/>
                  <a:gd name="T8" fmla="*/ 1237 w 1287"/>
                  <a:gd name="T9" fmla="*/ 894 h 1287"/>
                  <a:gd name="T10" fmla="*/ 1279 w 1287"/>
                  <a:gd name="T11" fmla="*/ 742 h 1287"/>
                  <a:gd name="T12" fmla="*/ 1285 w 1287"/>
                  <a:gd name="T13" fmla="*/ 600 h 1287"/>
                  <a:gd name="T14" fmla="*/ 1263 w 1287"/>
                  <a:gd name="T15" fmla="*/ 479 h 1287"/>
                  <a:gd name="T16" fmla="*/ 1214 w 1287"/>
                  <a:gd name="T17" fmla="*/ 363 h 1287"/>
                  <a:gd name="T18" fmla="*/ 1161 w 1287"/>
                  <a:gd name="T19" fmla="*/ 300 h 1287"/>
                  <a:gd name="T20" fmla="*/ 1127 w 1287"/>
                  <a:gd name="T21" fmla="*/ 313 h 1287"/>
                  <a:gd name="T22" fmla="*/ 1062 w 1287"/>
                  <a:gd name="T23" fmla="*/ 422 h 1287"/>
                  <a:gd name="T24" fmla="*/ 1093 w 1287"/>
                  <a:gd name="T25" fmla="*/ 496 h 1287"/>
                  <a:gd name="T26" fmla="*/ 1112 w 1287"/>
                  <a:gd name="T27" fmla="*/ 577 h 1287"/>
                  <a:gd name="T28" fmla="*/ 1116 w 1287"/>
                  <a:gd name="T29" fmla="*/ 668 h 1287"/>
                  <a:gd name="T30" fmla="*/ 1095 w 1287"/>
                  <a:gd name="T31" fmla="*/ 784 h 1287"/>
                  <a:gd name="T32" fmla="*/ 1048 w 1287"/>
                  <a:gd name="T33" fmla="*/ 889 h 1287"/>
                  <a:gd name="T34" fmla="*/ 978 w 1287"/>
                  <a:gd name="T35" fmla="*/ 978 h 1287"/>
                  <a:gd name="T36" fmla="*/ 889 w 1287"/>
                  <a:gd name="T37" fmla="*/ 1049 h 1287"/>
                  <a:gd name="T38" fmla="*/ 784 w 1287"/>
                  <a:gd name="T39" fmla="*/ 1096 h 1287"/>
                  <a:gd name="T40" fmla="*/ 668 w 1287"/>
                  <a:gd name="T41" fmla="*/ 1116 h 1287"/>
                  <a:gd name="T42" fmla="*/ 548 w 1287"/>
                  <a:gd name="T43" fmla="*/ 1107 h 1287"/>
                  <a:gd name="T44" fmla="*/ 439 w 1287"/>
                  <a:gd name="T45" fmla="*/ 1070 h 1287"/>
                  <a:gd name="T46" fmla="*/ 342 w 1287"/>
                  <a:gd name="T47" fmla="*/ 1009 h 1287"/>
                  <a:gd name="T48" fmla="*/ 264 w 1287"/>
                  <a:gd name="T49" fmla="*/ 926 h 1287"/>
                  <a:gd name="T50" fmla="*/ 207 w 1287"/>
                  <a:gd name="T51" fmla="*/ 828 h 1287"/>
                  <a:gd name="T52" fmla="*/ 176 w 1287"/>
                  <a:gd name="T53" fmla="*/ 715 h 1287"/>
                  <a:gd name="T54" fmla="*/ 173 w 1287"/>
                  <a:gd name="T55" fmla="*/ 595 h 1287"/>
                  <a:gd name="T56" fmla="*/ 198 w 1287"/>
                  <a:gd name="T57" fmla="*/ 481 h 1287"/>
                  <a:gd name="T58" fmla="*/ 251 w 1287"/>
                  <a:gd name="T59" fmla="*/ 379 h 1287"/>
                  <a:gd name="T60" fmla="*/ 325 w 1287"/>
                  <a:gd name="T61" fmla="*/ 294 h 1287"/>
                  <a:gd name="T62" fmla="*/ 418 w 1287"/>
                  <a:gd name="T63" fmla="*/ 227 h 1287"/>
                  <a:gd name="T64" fmla="*/ 525 w 1287"/>
                  <a:gd name="T65" fmla="*/ 185 h 1287"/>
                  <a:gd name="T66" fmla="*/ 643 w 1287"/>
                  <a:gd name="T67" fmla="*/ 170 h 1287"/>
                  <a:gd name="T68" fmla="*/ 727 w 1287"/>
                  <a:gd name="T69" fmla="*/ 178 h 1287"/>
                  <a:gd name="T70" fmla="*/ 806 w 1287"/>
                  <a:gd name="T71" fmla="*/ 199 h 1287"/>
                  <a:gd name="T72" fmla="*/ 878 w 1287"/>
                  <a:gd name="T73" fmla="*/ 234 h 1287"/>
                  <a:gd name="T74" fmla="*/ 983 w 1287"/>
                  <a:gd name="T75" fmla="*/ 149 h 1287"/>
                  <a:gd name="T76" fmla="*/ 997 w 1287"/>
                  <a:gd name="T77" fmla="*/ 128 h 1287"/>
                  <a:gd name="T78" fmla="*/ 888 w 1287"/>
                  <a:gd name="T79" fmla="*/ 50 h 1287"/>
                  <a:gd name="T80" fmla="*/ 773 w 1287"/>
                  <a:gd name="T81" fmla="*/ 12 h 1287"/>
                  <a:gd name="T82" fmla="*/ 664 w 1287"/>
                  <a:gd name="T83" fmla="*/ 0 h 1287"/>
                  <a:gd name="T84" fmla="*/ 514 w 1287"/>
                  <a:gd name="T85" fmla="*/ 13 h 1287"/>
                  <a:gd name="T86" fmla="*/ 365 w 1287"/>
                  <a:gd name="T87" fmla="*/ 63 h 1287"/>
                  <a:gd name="T88" fmla="*/ 234 w 1287"/>
                  <a:gd name="T89" fmla="*/ 147 h 1287"/>
                  <a:gd name="T90" fmla="*/ 128 w 1287"/>
                  <a:gd name="T91" fmla="*/ 258 h 1287"/>
                  <a:gd name="T92" fmla="*/ 50 w 1287"/>
                  <a:gd name="T93" fmla="*/ 393 h 1287"/>
                  <a:gd name="T94" fmla="*/ 7 w 1287"/>
                  <a:gd name="T95" fmla="*/ 546 h 1287"/>
                  <a:gd name="T96" fmla="*/ 3 w 1287"/>
                  <a:gd name="T97" fmla="*/ 710 h 1287"/>
                  <a:gd name="T98" fmla="*/ 39 w 1287"/>
                  <a:gd name="T99" fmla="*/ 865 h 1287"/>
                  <a:gd name="T100" fmla="*/ 109 w 1287"/>
                  <a:gd name="T101" fmla="*/ 1004 h 1287"/>
                  <a:gd name="T102" fmla="*/ 210 w 1287"/>
                  <a:gd name="T103" fmla="*/ 1119 h 1287"/>
                  <a:gd name="T104" fmla="*/ 337 w 1287"/>
                  <a:gd name="T105" fmla="*/ 1210 h 1287"/>
                  <a:gd name="T106" fmla="*/ 483 w 1287"/>
                  <a:gd name="T107" fmla="*/ 1266 h 1287"/>
                  <a:gd name="T108" fmla="*/ 643 w 1287"/>
                  <a:gd name="T109"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87" h="1287">
                    <a:moveTo>
                      <a:pt x="643" y="1287"/>
                    </a:moveTo>
                    <a:lnTo>
                      <a:pt x="677" y="1287"/>
                    </a:lnTo>
                    <a:lnTo>
                      <a:pt x="709" y="1284"/>
                    </a:lnTo>
                    <a:lnTo>
                      <a:pt x="741" y="1279"/>
                    </a:lnTo>
                    <a:lnTo>
                      <a:pt x="773" y="1274"/>
                    </a:lnTo>
                    <a:lnTo>
                      <a:pt x="804" y="1266"/>
                    </a:lnTo>
                    <a:lnTo>
                      <a:pt x="834" y="1258"/>
                    </a:lnTo>
                    <a:lnTo>
                      <a:pt x="864" y="1248"/>
                    </a:lnTo>
                    <a:lnTo>
                      <a:pt x="893" y="1236"/>
                    </a:lnTo>
                    <a:lnTo>
                      <a:pt x="922" y="1224"/>
                    </a:lnTo>
                    <a:lnTo>
                      <a:pt x="950" y="1210"/>
                    </a:lnTo>
                    <a:lnTo>
                      <a:pt x="977" y="1195"/>
                    </a:lnTo>
                    <a:lnTo>
                      <a:pt x="1003" y="1177"/>
                    </a:lnTo>
                    <a:lnTo>
                      <a:pt x="1028" y="1159"/>
                    </a:lnTo>
                    <a:lnTo>
                      <a:pt x="1053" y="1140"/>
                    </a:lnTo>
                    <a:lnTo>
                      <a:pt x="1076" y="1119"/>
                    </a:lnTo>
                    <a:lnTo>
                      <a:pt x="1098" y="1099"/>
                    </a:lnTo>
                    <a:lnTo>
                      <a:pt x="1120" y="1077"/>
                    </a:lnTo>
                    <a:lnTo>
                      <a:pt x="1140" y="1053"/>
                    </a:lnTo>
                    <a:lnTo>
                      <a:pt x="1159" y="1028"/>
                    </a:lnTo>
                    <a:lnTo>
                      <a:pt x="1177" y="1004"/>
                    </a:lnTo>
                    <a:lnTo>
                      <a:pt x="1194" y="977"/>
                    </a:lnTo>
                    <a:lnTo>
                      <a:pt x="1210" y="950"/>
                    </a:lnTo>
                    <a:lnTo>
                      <a:pt x="1224" y="922"/>
                    </a:lnTo>
                    <a:lnTo>
                      <a:pt x="1237" y="894"/>
                    </a:lnTo>
                    <a:lnTo>
                      <a:pt x="1248" y="865"/>
                    </a:lnTo>
                    <a:lnTo>
                      <a:pt x="1258" y="835"/>
                    </a:lnTo>
                    <a:lnTo>
                      <a:pt x="1267" y="804"/>
                    </a:lnTo>
                    <a:lnTo>
                      <a:pt x="1274" y="773"/>
                    </a:lnTo>
                    <a:lnTo>
                      <a:pt x="1279" y="742"/>
                    </a:lnTo>
                    <a:lnTo>
                      <a:pt x="1284" y="710"/>
                    </a:lnTo>
                    <a:lnTo>
                      <a:pt x="1286" y="677"/>
                    </a:lnTo>
                    <a:lnTo>
                      <a:pt x="1287" y="643"/>
                    </a:lnTo>
                    <a:lnTo>
                      <a:pt x="1286" y="622"/>
                    </a:lnTo>
                    <a:lnTo>
                      <a:pt x="1285" y="600"/>
                    </a:lnTo>
                    <a:lnTo>
                      <a:pt x="1283" y="577"/>
                    </a:lnTo>
                    <a:lnTo>
                      <a:pt x="1279" y="553"/>
                    </a:lnTo>
                    <a:lnTo>
                      <a:pt x="1275" y="529"/>
                    </a:lnTo>
                    <a:lnTo>
                      <a:pt x="1270" y="504"/>
                    </a:lnTo>
                    <a:lnTo>
                      <a:pt x="1263" y="479"/>
                    </a:lnTo>
                    <a:lnTo>
                      <a:pt x="1256" y="455"/>
                    </a:lnTo>
                    <a:lnTo>
                      <a:pt x="1247" y="431"/>
                    </a:lnTo>
                    <a:lnTo>
                      <a:pt x="1237" y="407"/>
                    </a:lnTo>
                    <a:lnTo>
                      <a:pt x="1226" y="385"/>
                    </a:lnTo>
                    <a:lnTo>
                      <a:pt x="1214" y="363"/>
                    </a:lnTo>
                    <a:lnTo>
                      <a:pt x="1200" y="343"/>
                    </a:lnTo>
                    <a:lnTo>
                      <a:pt x="1186" y="325"/>
                    </a:lnTo>
                    <a:lnTo>
                      <a:pt x="1179" y="316"/>
                    </a:lnTo>
                    <a:lnTo>
                      <a:pt x="1170" y="308"/>
                    </a:lnTo>
                    <a:lnTo>
                      <a:pt x="1161" y="300"/>
                    </a:lnTo>
                    <a:lnTo>
                      <a:pt x="1153" y="293"/>
                    </a:lnTo>
                    <a:lnTo>
                      <a:pt x="1150" y="294"/>
                    </a:lnTo>
                    <a:lnTo>
                      <a:pt x="1144" y="298"/>
                    </a:lnTo>
                    <a:lnTo>
                      <a:pt x="1136" y="304"/>
                    </a:lnTo>
                    <a:lnTo>
                      <a:pt x="1127" y="313"/>
                    </a:lnTo>
                    <a:lnTo>
                      <a:pt x="1111" y="328"/>
                    </a:lnTo>
                    <a:lnTo>
                      <a:pt x="1105" y="335"/>
                    </a:lnTo>
                    <a:lnTo>
                      <a:pt x="1046" y="394"/>
                    </a:lnTo>
                    <a:lnTo>
                      <a:pt x="1054" y="408"/>
                    </a:lnTo>
                    <a:lnTo>
                      <a:pt x="1062" y="422"/>
                    </a:lnTo>
                    <a:lnTo>
                      <a:pt x="1069" y="436"/>
                    </a:lnTo>
                    <a:lnTo>
                      <a:pt x="1076" y="451"/>
                    </a:lnTo>
                    <a:lnTo>
                      <a:pt x="1082" y="466"/>
                    </a:lnTo>
                    <a:lnTo>
                      <a:pt x="1087" y="481"/>
                    </a:lnTo>
                    <a:lnTo>
                      <a:pt x="1093" y="496"/>
                    </a:lnTo>
                    <a:lnTo>
                      <a:pt x="1098" y="512"/>
                    </a:lnTo>
                    <a:lnTo>
                      <a:pt x="1103" y="527"/>
                    </a:lnTo>
                    <a:lnTo>
                      <a:pt x="1106" y="544"/>
                    </a:lnTo>
                    <a:lnTo>
                      <a:pt x="1109" y="560"/>
                    </a:lnTo>
                    <a:lnTo>
                      <a:pt x="1112" y="577"/>
                    </a:lnTo>
                    <a:lnTo>
                      <a:pt x="1114" y="593"/>
                    </a:lnTo>
                    <a:lnTo>
                      <a:pt x="1115" y="610"/>
                    </a:lnTo>
                    <a:lnTo>
                      <a:pt x="1116" y="626"/>
                    </a:lnTo>
                    <a:lnTo>
                      <a:pt x="1116" y="643"/>
                    </a:lnTo>
                    <a:lnTo>
                      <a:pt x="1116" y="668"/>
                    </a:lnTo>
                    <a:lnTo>
                      <a:pt x="1114" y="692"/>
                    </a:lnTo>
                    <a:lnTo>
                      <a:pt x="1111" y="715"/>
                    </a:lnTo>
                    <a:lnTo>
                      <a:pt x="1107" y="739"/>
                    </a:lnTo>
                    <a:lnTo>
                      <a:pt x="1101" y="761"/>
                    </a:lnTo>
                    <a:lnTo>
                      <a:pt x="1095" y="784"/>
                    </a:lnTo>
                    <a:lnTo>
                      <a:pt x="1087" y="806"/>
                    </a:lnTo>
                    <a:lnTo>
                      <a:pt x="1079" y="828"/>
                    </a:lnTo>
                    <a:lnTo>
                      <a:pt x="1070" y="848"/>
                    </a:lnTo>
                    <a:lnTo>
                      <a:pt x="1060" y="869"/>
                    </a:lnTo>
                    <a:lnTo>
                      <a:pt x="1048" y="889"/>
                    </a:lnTo>
                    <a:lnTo>
                      <a:pt x="1036" y="908"/>
                    </a:lnTo>
                    <a:lnTo>
                      <a:pt x="1023" y="926"/>
                    </a:lnTo>
                    <a:lnTo>
                      <a:pt x="1008" y="945"/>
                    </a:lnTo>
                    <a:lnTo>
                      <a:pt x="994" y="962"/>
                    </a:lnTo>
                    <a:lnTo>
                      <a:pt x="978" y="978"/>
                    </a:lnTo>
                    <a:lnTo>
                      <a:pt x="962" y="994"/>
                    </a:lnTo>
                    <a:lnTo>
                      <a:pt x="945" y="1009"/>
                    </a:lnTo>
                    <a:lnTo>
                      <a:pt x="927" y="1023"/>
                    </a:lnTo>
                    <a:lnTo>
                      <a:pt x="908" y="1036"/>
                    </a:lnTo>
                    <a:lnTo>
                      <a:pt x="889" y="1049"/>
                    </a:lnTo>
                    <a:lnTo>
                      <a:pt x="869" y="1059"/>
                    </a:lnTo>
                    <a:lnTo>
                      <a:pt x="848" y="1070"/>
                    </a:lnTo>
                    <a:lnTo>
                      <a:pt x="828" y="1080"/>
                    </a:lnTo>
                    <a:lnTo>
                      <a:pt x="806" y="1088"/>
                    </a:lnTo>
                    <a:lnTo>
                      <a:pt x="784" y="1096"/>
                    </a:lnTo>
                    <a:lnTo>
                      <a:pt x="761" y="1101"/>
                    </a:lnTo>
                    <a:lnTo>
                      <a:pt x="739" y="1107"/>
                    </a:lnTo>
                    <a:lnTo>
                      <a:pt x="715" y="1111"/>
                    </a:lnTo>
                    <a:lnTo>
                      <a:pt x="692" y="1114"/>
                    </a:lnTo>
                    <a:lnTo>
                      <a:pt x="668" y="1116"/>
                    </a:lnTo>
                    <a:lnTo>
                      <a:pt x="643" y="1116"/>
                    </a:lnTo>
                    <a:lnTo>
                      <a:pt x="619" y="1116"/>
                    </a:lnTo>
                    <a:lnTo>
                      <a:pt x="595" y="1114"/>
                    </a:lnTo>
                    <a:lnTo>
                      <a:pt x="572" y="1111"/>
                    </a:lnTo>
                    <a:lnTo>
                      <a:pt x="548" y="1107"/>
                    </a:lnTo>
                    <a:lnTo>
                      <a:pt x="525" y="1101"/>
                    </a:lnTo>
                    <a:lnTo>
                      <a:pt x="503" y="1096"/>
                    </a:lnTo>
                    <a:lnTo>
                      <a:pt x="480" y="1088"/>
                    </a:lnTo>
                    <a:lnTo>
                      <a:pt x="459" y="1080"/>
                    </a:lnTo>
                    <a:lnTo>
                      <a:pt x="439" y="1070"/>
                    </a:lnTo>
                    <a:lnTo>
                      <a:pt x="418" y="1059"/>
                    </a:lnTo>
                    <a:lnTo>
                      <a:pt x="398" y="1049"/>
                    </a:lnTo>
                    <a:lnTo>
                      <a:pt x="379" y="1036"/>
                    </a:lnTo>
                    <a:lnTo>
                      <a:pt x="360" y="1023"/>
                    </a:lnTo>
                    <a:lnTo>
                      <a:pt x="342" y="1009"/>
                    </a:lnTo>
                    <a:lnTo>
                      <a:pt x="325" y="994"/>
                    </a:lnTo>
                    <a:lnTo>
                      <a:pt x="309" y="978"/>
                    </a:lnTo>
                    <a:lnTo>
                      <a:pt x="293" y="962"/>
                    </a:lnTo>
                    <a:lnTo>
                      <a:pt x="279" y="945"/>
                    </a:lnTo>
                    <a:lnTo>
                      <a:pt x="264" y="926"/>
                    </a:lnTo>
                    <a:lnTo>
                      <a:pt x="251" y="908"/>
                    </a:lnTo>
                    <a:lnTo>
                      <a:pt x="239" y="889"/>
                    </a:lnTo>
                    <a:lnTo>
                      <a:pt x="227" y="869"/>
                    </a:lnTo>
                    <a:lnTo>
                      <a:pt x="217" y="848"/>
                    </a:lnTo>
                    <a:lnTo>
                      <a:pt x="207" y="828"/>
                    </a:lnTo>
                    <a:lnTo>
                      <a:pt x="198" y="806"/>
                    </a:lnTo>
                    <a:lnTo>
                      <a:pt x="192" y="784"/>
                    </a:lnTo>
                    <a:lnTo>
                      <a:pt x="186" y="761"/>
                    </a:lnTo>
                    <a:lnTo>
                      <a:pt x="180" y="739"/>
                    </a:lnTo>
                    <a:lnTo>
                      <a:pt x="176" y="715"/>
                    </a:lnTo>
                    <a:lnTo>
                      <a:pt x="173" y="692"/>
                    </a:lnTo>
                    <a:lnTo>
                      <a:pt x="170" y="668"/>
                    </a:lnTo>
                    <a:lnTo>
                      <a:pt x="170" y="643"/>
                    </a:lnTo>
                    <a:lnTo>
                      <a:pt x="170" y="620"/>
                    </a:lnTo>
                    <a:lnTo>
                      <a:pt x="173" y="595"/>
                    </a:lnTo>
                    <a:lnTo>
                      <a:pt x="176" y="571"/>
                    </a:lnTo>
                    <a:lnTo>
                      <a:pt x="180" y="548"/>
                    </a:lnTo>
                    <a:lnTo>
                      <a:pt x="186" y="525"/>
                    </a:lnTo>
                    <a:lnTo>
                      <a:pt x="192" y="503"/>
                    </a:lnTo>
                    <a:lnTo>
                      <a:pt x="198" y="481"/>
                    </a:lnTo>
                    <a:lnTo>
                      <a:pt x="207" y="460"/>
                    </a:lnTo>
                    <a:lnTo>
                      <a:pt x="217" y="438"/>
                    </a:lnTo>
                    <a:lnTo>
                      <a:pt x="227" y="418"/>
                    </a:lnTo>
                    <a:lnTo>
                      <a:pt x="239" y="399"/>
                    </a:lnTo>
                    <a:lnTo>
                      <a:pt x="251" y="379"/>
                    </a:lnTo>
                    <a:lnTo>
                      <a:pt x="264" y="360"/>
                    </a:lnTo>
                    <a:lnTo>
                      <a:pt x="278" y="343"/>
                    </a:lnTo>
                    <a:lnTo>
                      <a:pt x="293" y="326"/>
                    </a:lnTo>
                    <a:lnTo>
                      <a:pt x="309" y="309"/>
                    </a:lnTo>
                    <a:lnTo>
                      <a:pt x="325" y="294"/>
                    </a:lnTo>
                    <a:lnTo>
                      <a:pt x="342" y="279"/>
                    </a:lnTo>
                    <a:lnTo>
                      <a:pt x="360" y="265"/>
                    </a:lnTo>
                    <a:lnTo>
                      <a:pt x="379" y="251"/>
                    </a:lnTo>
                    <a:lnTo>
                      <a:pt x="398" y="239"/>
                    </a:lnTo>
                    <a:lnTo>
                      <a:pt x="418" y="227"/>
                    </a:lnTo>
                    <a:lnTo>
                      <a:pt x="439" y="218"/>
                    </a:lnTo>
                    <a:lnTo>
                      <a:pt x="459" y="208"/>
                    </a:lnTo>
                    <a:lnTo>
                      <a:pt x="480" y="199"/>
                    </a:lnTo>
                    <a:lnTo>
                      <a:pt x="503" y="192"/>
                    </a:lnTo>
                    <a:lnTo>
                      <a:pt x="525" y="185"/>
                    </a:lnTo>
                    <a:lnTo>
                      <a:pt x="548" y="180"/>
                    </a:lnTo>
                    <a:lnTo>
                      <a:pt x="572" y="176"/>
                    </a:lnTo>
                    <a:lnTo>
                      <a:pt x="595" y="172"/>
                    </a:lnTo>
                    <a:lnTo>
                      <a:pt x="619" y="171"/>
                    </a:lnTo>
                    <a:lnTo>
                      <a:pt x="643" y="170"/>
                    </a:lnTo>
                    <a:lnTo>
                      <a:pt x="661" y="170"/>
                    </a:lnTo>
                    <a:lnTo>
                      <a:pt x="678" y="171"/>
                    </a:lnTo>
                    <a:lnTo>
                      <a:pt x="694" y="174"/>
                    </a:lnTo>
                    <a:lnTo>
                      <a:pt x="711" y="176"/>
                    </a:lnTo>
                    <a:lnTo>
                      <a:pt x="727" y="178"/>
                    </a:lnTo>
                    <a:lnTo>
                      <a:pt x="743" y="181"/>
                    </a:lnTo>
                    <a:lnTo>
                      <a:pt x="759" y="184"/>
                    </a:lnTo>
                    <a:lnTo>
                      <a:pt x="775" y="189"/>
                    </a:lnTo>
                    <a:lnTo>
                      <a:pt x="790" y="194"/>
                    </a:lnTo>
                    <a:lnTo>
                      <a:pt x="806" y="199"/>
                    </a:lnTo>
                    <a:lnTo>
                      <a:pt x="822" y="205"/>
                    </a:lnTo>
                    <a:lnTo>
                      <a:pt x="835" y="211"/>
                    </a:lnTo>
                    <a:lnTo>
                      <a:pt x="850" y="219"/>
                    </a:lnTo>
                    <a:lnTo>
                      <a:pt x="864" y="225"/>
                    </a:lnTo>
                    <a:lnTo>
                      <a:pt x="878" y="234"/>
                    </a:lnTo>
                    <a:lnTo>
                      <a:pt x="892" y="241"/>
                    </a:lnTo>
                    <a:lnTo>
                      <a:pt x="946" y="189"/>
                    </a:lnTo>
                    <a:lnTo>
                      <a:pt x="954" y="179"/>
                    </a:lnTo>
                    <a:lnTo>
                      <a:pt x="974" y="160"/>
                    </a:lnTo>
                    <a:lnTo>
                      <a:pt x="983" y="149"/>
                    </a:lnTo>
                    <a:lnTo>
                      <a:pt x="991" y="139"/>
                    </a:lnTo>
                    <a:lnTo>
                      <a:pt x="994" y="136"/>
                    </a:lnTo>
                    <a:lnTo>
                      <a:pt x="996" y="132"/>
                    </a:lnTo>
                    <a:lnTo>
                      <a:pt x="997" y="130"/>
                    </a:lnTo>
                    <a:lnTo>
                      <a:pt x="997" y="128"/>
                    </a:lnTo>
                    <a:lnTo>
                      <a:pt x="976" y="109"/>
                    </a:lnTo>
                    <a:lnTo>
                      <a:pt x="954" y="91"/>
                    </a:lnTo>
                    <a:lnTo>
                      <a:pt x="932" y="76"/>
                    </a:lnTo>
                    <a:lnTo>
                      <a:pt x="911" y="62"/>
                    </a:lnTo>
                    <a:lnTo>
                      <a:pt x="888" y="50"/>
                    </a:lnTo>
                    <a:lnTo>
                      <a:pt x="864" y="39"/>
                    </a:lnTo>
                    <a:lnTo>
                      <a:pt x="842" y="31"/>
                    </a:lnTo>
                    <a:lnTo>
                      <a:pt x="818" y="23"/>
                    </a:lnTo>
                    <a:lnTo>
                      <a:pt x="796" y="17"/>
                    </a:lnTo>
                    <a:lnTo>
                      <a:pt x="773" y="12"/>
                    </a:lnTo>
                    <a:lnTo>
                      <a:pt x="751" y="7"/>
                    </a:lnTo>
                    <a:lnTo>
                      <a:pt x="728" y="5"/>
                    </a:lnTo>
                    <a:lnTo>
                      <a:pt x="706" y="2"/>
                    </a:lnTo>
                    <a:lnTo>
                      <a:pt x="684" y="1"/>
                    </a:lnTo>
                    <a:lnTo>
                      <a:pt x="664" y="0"/>
                    </a:lnTo>
                    <a:lnTo>
                      <a:pt x="643" y="0"/>
                    </a:lnTo>
                    <a:lnTo>
                      <a:pt x="610" y="1"/>
                    </a:lnTo>
                    <a:lnTo>
                      <a:pt x="577" y="3"/>
                    </a:lnTo>
                    <a:lnTo>
                      <a:pt x="545" y="7"/>
                    </a:lnTo>
                    <a:lnTo>
                      <a:pt x="514" y="13"/>
                    </a:lnTo>
                    <a:lnTo>
                      <a:pt x="483" y="20"/>
                    </a:lnTo>
                    <a:lnTo>
                      <a:pt x="451" y="29"/>
                    </a:lnTo>
                    <a:lnTo>
                      <a:pt x="421" y="39"/>
                    </a:lnTo>
                    <a:lnTo>
                      <a:pt x="393" y="50"/>
                    </a:lnTo>
                    <a:lnTo>
                      <a:pt x="365" y="63"/>
                    </a:lnTo>
                    <a:lnTo>
                      <a:pt x="337" y="78"/>
                    </a:lnTo>
                    <a:lnTo>
                      <a:pt x="310" y="93"/>
                    </a:lnTo>
                    <a:lnTo>
                      <a:pt x="283" y="110"/>
                    </a:lnTo>
                    <a:lnTo>
                      <a:pt x="258" y="127"/>
                    </a:lnTo>
                    <a:lnTo>
                      <a:pt x="234" y="147"/>
                    </a:lnTo>
                    <a:lnTo>
                      <a:pt x="210" y="167"/>
                    </a:lnTo>
                    <a:lnTo>
                      <a:pt x="189" y="189"/>
                    </a:lnTo>
                    <a:lnTo>
                      <a:pt x="167" y="211"/>
                    </a:lnTo>
                    <a:lnTo>
                      <a:pt x="147" y="234"/>
                    </a:lnTo>
                    <a:lnTo>
                      <a:pt x="128" y="258"/>
                    </a:lnTo>
                    <a:lnTo>
                      <a:pt x="109" y="284"/>
                    </a:lnTo>
                    <a:lnTo>
                      <a:pt x="93" y="310"/>
                    </a:lnTo>
                    <a:lnTo>
                      <a:pt x="77" y="337"/>
                    </a:lnTo>
                    <a:lnTo>
                      <a:pt x="63" y="364"/>
                    </a:lnTo>
                    <a:lnTo>
                      <a:pt x="50" y="393"/>
                    </a:lnTo>
                    <a:lnTo>
                      <a:pt x="39" y="422"/>
                    </a:lnTo>
                    <a:lnTo>
                      <a:pt x="29" y="452"/>
                    </a:lnTo>
                    <a:lnTo>
                      <a:pt x="20" y="482"/>
                    </a:lnTo>
                    <a:lnTo>
                      <a:pt x="13" y="514"/>
                    </a:lnTo>
                    <a:lnTo>
                      <a:pt x="7" y="546"/>
                    </a:lnTo>
                    <a:lnTo>
                      <a:pt x="3" y="578"/>
                    </a:lnTo>
                    <a:lnTo>
                      <a:pt x="0" y="610"/>
                    </a:lnTo>
                    <a:lnTo>
                      <a:pt x="0" y="643"/>
                    </a:lnTo>
                    <a:lnTo>
                      <a:pt x="0" y="677"/>
                    </a:lnTo>
                    <a:lnTo>
                      <a:pt x="3" y="710"/>
                    </a:lnTo>
                    <a:lnTo>
                      <a:pt x="7" y="742"/>
                    </a:lnTo>
                    <a:lnTo>
                      <a:pt x="13" y="773"/>
                    </a:lnTo>
                    <a:lnTo>
                      <a:pt x="20" y="804"/>
                    </a:lnTo>
                    <a:lnTo>
                      <a:pt x="29" y="835"/>
                    </a:lnTo>
                    <a:lnTo>
                      <a:pt x="39" y="865"/>
                    </a:lnTo>
                    <a:lnTo>
                      <a:pt x="50" y="894"/>
                    </a:lnTo>
                    <a:lnTo>
                      <a:pt x="63" y="922"/>
                    </a:lnTo>
                    <a:lnTo>
                      <a:pt x="77" y="950"/>
                    </a:lnTo>
                    <a:lnTo>
                      <a:pt x="93" y="977"/>
                    </a:lnTo>
                    <a:lnTo>
                      <a:pt x="109" y="1004"/>
                    </a:lnTo>
                    <a:lnTo>
                      <a:pt x="128" y="1028"/>
                    </a:lnTo>
                    <a:lnTo>
                      <a:pt x="147" y="1053"/>
                    </a:lnTo>
                    <a:lnTo>
                      <a:pt x="167" y="1077"/>
                    </a:lnTo>
                    <a:lnTo>
                      <a:pt x="189" y="1099"/>
                    </a:lnTo>
                    <a:lnTo>
                      <a:pt x="210" y="1119"/>
                    </a:lnTo>
                    <a:lnTo>
                      <a:pt x="234" y="1140"/>
                    </a:lnTo>
                    <a:lnTo>
                      <a:pt x="258" y="1159"/>
                    </a:lnTo>
                    <a:lnTo>
                      <a:pt x="283" y="1177"/>
                    </a:lnTo>
                    <a:lnTo>
                      <a:pt x="310" y="1195"/>
                    </a:lnTo>
                    <a:lnTo>
                      <a:pt x="337" y="1210"/>
                    </a:lnTo>
                    <a:lnTo>
                      <a:pt x="365" y="1224"/>
                    </a:lnTo>
                    <a:lnTo>
                      <a:pt x="393" y="1236"/>
                    </a:lnTo>
                    <a:lnTo>
                      <a:pt x="423" y="1248"/>
                    </a:lnTo>
                    <a:lnTo>
                      <a:pt x="451" y="1258"/>
                    </a:lnTo>
                    <a:lnTo>
                      <a:pt x="483" y="1266"/>
                    </a:lnTo>
                    <a:lnTo>
                      <a:pt x="514" y="1274"/>
                    </a:lnTo>
                    <a:lnTo>
                      <a:pt x="545" y="1279"/>
                    </a:lnTo>
                    <a:lnTo>
                      <a:pt x="577" y="1284"/>
                    </a:lnTo>
                    <a:lnTo>
                      <a:pt x="610" y="1287"/>
                    </a:lnTo>
                    <a:lnTo>
                      <a:pt x="643" y="12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74" name="Freeform 73"/>
              <p:cNvSpPr>
                <a:spLocks/>
              </p:cNvSpPr>
              <p:nvPr/>
            </p:nvSpPr>
            <p:spPr bwMode="auto">
              <a:xfrm>
                <a:off x="3875088" y="3714750"/>
                <a:ext cx="200025" cy="201613"/>
              </a:xfrm>
              <a:custGeom>
                <a:avLst/>
                <a:gdLst>
                  <a:gd name="T0" fmla="*/ 330 w 634"/>
                  <a:gd name="T1" fmla="*/ 151 h 634"/>
                  <a:gd name="T2" fmla="*/ 435 w 634"/>
                  <a:gd name="T3" fmla="*/ 22 h 634"/>
                  <a:gd name="T4" fmla="*/ 387 w 634"/>
                  <a:gd name="T5" fmla="*/ 7 h 634"/>
                  <a:gd name="T6" fmla="*/ 335 w 634"/>
                  <a:gd name="T7" fmla="*/ 0 h 634"/>
                  <a:gd name="T8" fmla="*/ 285 w 634"/>
                  <a:gd name="T9" fmla="*/ 1 h 634"/>
                  <a:gd name="T10" fmla="*/ 238 w 634"/>
                  <a:gd name="T11" fmla="*/ 10 h 634"/>
                  <a:gd name="T12" fmla="*/ 194 w 634"/>
                  <a:gd name="T13" fmla="*/ 25 h 634"/>
                  <a:gd name="T14" fmla="*/ 153 w 634"/>
                  <a:gd name="T15" fmla="*/ 45 h 634"/>
                  <a:gd name="T16" fmla="*/ 116 w 634"/>
                  <a:gd name="T17" fmla="*/ 72 h 634"/>
                  <a:gd name="T18" fmla="*/ 83 w 634"/>
                  <a:gd name="T19" fmla="*/ 103 h 634"/>
                  <a:gd name="T20" fmla="*/ 55 w 634"/>
                  <a:gd name="T21" fmla="*/ 139 h 634"/>
                  <a:gd name="T22" fmla="*/ 32 w 634"/>
                  <a:gd name="T23" fmla="*/ 179 h 634"/>
                  <a:gd name="T24" fmla="*/ 15 w 634"/>
                  <a:gd name="T25" fmla="*/ 222 h 634"/>
                  <a:gd name="T26" fmla="*/ 4 w 634"/>
                  <a:gd name="T27" fmla="*/ 268 h 634"/>
                  <a:gd name="T28" fmla="*/ 0 w 634"/>
                  <a:gd name="T29" fmla="*/ 316 h 634"/>
                  <a:gd name="T30" fmla="*/ 4 w 634"/>
                  <a:gd name="T31" fmla="*/ 365 h 634"/>
                  <a:gd name="T32" fmla="*/ 15 w 634"/>
                  <a:gd name="T33" fmla="*/ 411 h 634"/>
                  <a:gd name="T34" fmla="*/ 32 w 634"/>
                  <a:gd name="T35" fmla="*/ 454 h 634"/>
                  <a:gd name="T36" fmla="*/ 55 w 634"/>
                  <a:gd name="T37" fmla="*/ 493 h 634"/>
                  <a:gd name="T38" fmla="*/ 83 w 634"/>
                  <a:gd name="T39" fmla="*/ 530 h 634"/>
                  <a:gd name="T40" fmla="*/ 116 w 634"/>
                  <a:gd name="T41" fmla="*/ 561 h 634"/>
                  <a:gd name="T42" fmla="*/ 153 w 634"/>
                  <a:gd name="T43" fmla="*/ 588 h 634"/>
                  <a:gd name="T44" fmla="*/ 194 w 634"/>
                  <a:gd name="T45" fmla="*/ 608 h 634"/>
                  <a:gd name="T46" fmla="*/ 238 w 634"/>
                  <a:gd name="T47" fmla="*/ 623 h 634"/>
                  <a:gd name="T48" fmla="*/ 285 w 634"/>
                  <a:gd name="T49" fmla="*/ 632 h 634"/>
                  <a:gd name="T50" fmla="*/ 334 w 634"/>
                  <a:gd name="T51" fmla="*/ 633 h 634"/>
                  <a:gd name="T52" fmla="*/ 381 w 634"/>
                  <a:gd name="T53" fmla="*/ 627 h 634"/>
                  <a:gd name="T54" fmla="*/ 426 w 634"/>
                  <a:gd name="T55" fmla="*/ 614 h 634"/>
                  <a:gd name="T56" fmla="*/ 469 w 634"/>
                  <a:gd name="T57" fmla="*/ 595 h 634"/>
                  <a:gd name="T58" fmla="*/ 507 w 634"/>
                  <a:gd name="T59" fmla="*/ 570 h 634"/>
                  <a:gd name="T60" fmla="*/ 542 w 634"/>
                  <a:gd name="T61" fmla="*/ 540 h 634"/>
                  <a:gd name="T62" fmla="*/ 572 w 634"/>
                  <a:gd name="T63" fmla="*/ 506 h 634"/>
                  <a:gd name="T64" fmla="*/ 596 w 634"/>
                  <a:gd name="T65" fmla="*/ 468 h 634"/>
                  <a:gd name="T66" fmla="*/ 615 w 634"/>
                  <a:gd name="T67" fmla="*/ 426 h 634"/>
                  <a:gd name="T68" fmla="*/ 627 w 634"/>
                  <a:gd name="T69" fmla="*/ 381 h 634"/>
                  <a:gd name="T70" fmla="*/ 634 w 634"/>
                  <a:gd name="T71" fmla="*/ 332 h 634"/>
                  <a:gd name="T72" fmla="*/ 633 w 634"/>
                  <a:gd name="T73" fmla="*/ 281 h 634"/>
                  <a:gd name="T74" fmla="*/ 622 w 634"/>
                  <a:gd name="T75" fmla="*/ 230 h 634"/>
                  <a:gd name="T76" fmla="*/ 605 w 634"/>
                  <a:gd name="T77" fmla="*/ 182 h 634"/>
                  <a:gd name="T78" fmla="*/ 484 w 634"/>
                  <a:gd name="T79" fmla="*/ 310 h 634"/>
                  <a:gd name="T80" fmla="*/ 480 w 634"/>
                  <a:gd name="T81" fmla="*/ 350 h 634"/>
                  <a:gd name="T82" fmla="*/ 463 w 634"/>
                  <a:gd name="T83" fmla="*/ 396 h 634"/>
                  <a:gd name="T84" fmla="*/ 434 w 634"/>
                  <a:gd name="T85" fmla="*/ 434 h 634"/>
                  <a:gd name="T86" fmla="*/ 397 w 634"/>
                  <a:gd name="T87" fmla="*/ 463 h 634"/>
                  <a:gd name="T88" fmla="*/ 351 w 634"/>
                  <a:gd name="T89" fmla="*/ 479 h 634"/>
                  <a:gd name="T90" fmla="*/ 300 w 634"/>
                  <a:gd name="T91" fmla="*/ 481 h 634"/>
                  <a:gd name="T92" fmla="*/ 252 w 634"/>
                  <a:gd name="T93" fmla="*/ 470 h 634"/>
                  <a:gd name="T94" fmla="*/ 211 w 634"/>
                  <a:gd name="T95" fmla="*/ 445 h 634"/>
                  <a:gd name="T96" fmla="*/ 179 w 634"/>
                  <a:gd name="T97" fmla="*/ 410 h 634"/>
                  <a:gd name="T98" fmla="*/ 159 w 634"/>
                  <a:gd name="T99" fmla="*/ 366 h 634"/>
                  <a:gd name="T100" fmla="*/ 151 w 634"/>
                  <a:gd name="T101" fmla="*/ 316 h 634"/>
                  <a:gd name="T102" fmla="*/ 159 w 634"/>
                  <a:gd name="T103" fmla="*/ 267 h 634"/>
                  <a:gd name="T104" fmla="*/ 179 w 634"/>
                  <a:gd name="T105" fmla="*/ 224 h 634"/>
                  <a:gd name="T106" fmla="*/ 211 w 634"/>
                  <a:gd name="T107" fmla="*/ 189 h 634"/>
                  <a:gd name="T108" fmla="*/ 252 w 634"/>
                  <a:gd name="T109" fmla="*/ 163 h 634"/>
                  <a:gd name="T110" fmla="*/ 300 w 634"/>
                  <a:gd name="T111" fmla="*/ 151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4" h="634">
                    <a:moveTo>
                      <a:pt x="317" y="150"/>
                    </a:moveTo>
                    <a:lnTo>
                      <a:pt x="324" y="150"/>
                    </a:lnTo>
                    <a:lnTo>
                      <a:pt x="330" y="151"/>
                    </a:lnTo>
                    <a:lnTo>
                      <a:pt x="448" y="32"/>
                    </a:lnTo>
                    <a:lnTo>
                      <a:pt x="452" y="29"/>
                    </a:lnTo>
                    <a:lnTo>
                      <a:pt x="435" y="22"/>
                    </a:lnTo>
                    <a:lnTo>
                      <a:pt x="420" y="17"/>
                    </a:lnTo>
                    <a:lnTo>
                      <a:pt x="403" y="12"/>
                    </a:lnTo>
                    <a:lnTo>
                      <a:pt x="387" y="7"/>
                    </a:lnTo>
                    <a:lnTo>
                      <a:pt x="370" y="4"/>
                    </a:lnTo>
                    <a:lnTo>
                      <a:pt x="353" y="1"/>
                    </a:lnTo>
                    <a:lnTo>
                      <a:pt x="335" y="0"/>
                    </a:lnTo>
                    <a:lnTo>
                      <a:pt x="317" y="0"/>
                    </a:lnTo>
                    <a:lnTo>
                      <a:pt x="301" y="0"/>
                    </a:lnTo>
                    <a:lnTo>
                      <a:pt x="285" y="1"/>
                    </a:lnTo>
                    <a:lnTo>
                      <a:pt x="269" y="3"/>
                    </a:lnTo>
                    <a:lnTo>
                      <a:pt x="253" y="6"/>
                    </a:lnTo>
                    <a:lnTo>
                      <a:pt x="238" y="10"/>
                    </a:lnTo>
                    <a:lnTo>
                      <a:pt x="223" y="14"/>
                    </a:lnTo>
                    <a:lnTo>
                      <a:pt x="208" y="19"/>
                    </a:lnTo>
                    <a:lnTo>
                      <a:pt x="194" y="25"/>
                    </a:lnTo>
                    <a:lnTo>
                      <a:pt x="180" y="31"/>
                    </a:lnTo>
                    <a:lnTo>
                      <a:pt x="166" y="37"/>
                    </a:lnTo>
                    <a:lnTo>
                      <a:pt x="153" y="45"/>
                    </a:lnTo>
                    <a:lnTo>
                      <a:pt x="141" y="54"/>
                    </a:lnTo>
                    <a:lnTo>
                      <a:pt x="128" y="62"/>
                    </a:lnTo>
                    <a:lnTo>
                      <a:pt x="116" y="72"/>
                    </a:lnTo>
                    <a:lnTo>
                      <a:pt x="104" y="81"/>
                    </a:lnTo>
                    <a:lnTo>
                      <a:pt x="93" y="92"/>
                    </a:lnTo>
                    <a:lnTo>
                      <a:pt x="83" y="103"/>
                    </a:lnTo>
                    <a:lnTo>
                      <a:pt x="73" y="115"/>
                    </a:lnTo>
                    <a:lnTo>
                      <a:pt x="63" y="126"/>
                    </a:lnTo>
                    <a:lnTo>
                      <a:pt x="55" y="139"/>
                    </a:lnTo>
                    <a:lnTo>
                      <a:pt x="46" y="152"/>
                    </a:lnTo>
                    <a:lnTo>
                      <a:pt x="39" y="165"/>
                    </a:lnTo>
                    <a:lnTo>
                      <a:pt x="32" y="179"/>
                    </a:lnTo>
                    <a:lnTo>
                      <a:pt x="26" y="193"/>
                    </a:lnTo>
                    <a:lnTo>
                      <a:pt x="19" y="207"/>
                    </a:lnTo>
                    <a:lnTo>
                      <a:pt x="15" y="222"/>
                    </a:lnTo>
                    <a:lnTo>
                      <a:pt x="11" y="237"/>
                    </a:lnTo>
                    <a:lnTo>
                      <a:pt x="6" y="253"/>
                    </a:lnTo>
                    <a:lnTo>
                      <a:pt x="4" y="268"/>
                    </a:lnTo>
                    <a:lnTo>
                      <a:pt x="2" y="284"/>
                    </a:lnTo>
                    <a:lnTo>
                      <a:pt x="1" y="300"/>
                    </a:lnTo>
                    <a:lnTo>
                      <a:pt x="0" y="316"/>
                    </a:lnTo>
                    <a:lnTo>
                      <a:pt x="1" y="332"/>
                    </a:lnTo>
                    <a:lnTo>
                      <a:pt x="2" y="348"/>
                    </a:lnTo>
                    <a:lnTo>
                      <a:pt x="4" y="365"/>
                    </a:lnTo>
                    <a:lnTo>
                      <a:pt x="6" y="381"/>
                    </a:lnTo>
                    <a:lnTo>
                      <a:pt x="11" y="396"/>
                    </a:lnTo>
                    <a:lnTo>
                      <a:pt x="15" y="411"/>
                    </a:lnTo>
                    <a:lnTo>
                      <a:pt x="19" y="426"/>
                    </a:lnTo>
                    <a:lnTo>
                      <a:pt x="26" y="440"/>
                    </a:lnTo>
                    <a:lnTo>
                      <a:pt x="32" y="454"/>
                    </a:lnTo>
                    <a:lnTo>
                      <a:pt x="39" y="468"/>
                    </a:lnTo>
                    <a:lnTo>
                      <a:pt x="46" y="480"/>
                    </a:lnTo>
                    <a:lnTo>
                      <a:pt x="55" y="493"/>
                    </a:lnTo>
                    <a:lnTo>
                      <a:pt x="63" y="506"/>
                    </a:lnTo>
                    <a:lnTo>
                      <a:pt x="73" y="518"/>
                    </a:lnTo>
                    <a:lnTo>
                      <a:pt x="83" y="530"/>
                    </a:lnTo>
                    <a:lnTo>
                      <a:pt x="93" y="540"/>
                    </a:lnTo>
                    <a:lnTo>
                      <a:pt x="104" y="551"/>
                    </a:lnTo>
                    <a:lnTo>
                      <a:pt x="116" y="561"/>
                    </a:lnTo>
                    <a:lnTo>
                      <a:pt x="128" y="570"/>
                    </a:lnTo>
                    <a:lnTo>
                      <a:pt x="141" y="579"/>
                    </a:lnTo>
                    <a:lnTo>
                      <a:pt x="153" y="588"/>
                    </a:lnTo>
                    <a:lnTo>
                      <a:pt x="166" y="595"/>
                    </a:lnTo>
                    <a:lnTo>
                      <a:pt x="180" y="603"/>
                    </a:lnTo>
                    <a:lnTo>
                      <a:pt x="194" y="608"/>
                    </a:lnTo>
                    <a:lnTo>
                      <a:pt x="208" y="614"/>
                    </a:lnTo>
                    <a:lnTo>
                      <a:pt x="223" y="619"/>
                    </a:lnTo>
                    <a:lnTo>
                      <a:pt x="238" y="623"/>
                    </a:lnTo>
                    <a:lnTo>
                      <a:pt x="253" y="627"/>
                    </a:lnTo>
                    <a:lnTo>
                      <a:pt x="269" y="629"/>
                    </a:lnTo>
                    <a:lnTo>
                      <a:pt x="285" y="632"/>
                    </a:lnTo>
                    <a:lnTo>
                      <a:pt x="301" y="633"/>
                    </a:lnTo>
                    <a:lnTo>
                      <a:pt x="317" y="634"/>
                    </a:lnTo>
                    <a:lnTo>
                      <a:pt x="334" y="633"/>
                    </a:lnTo>
                    <a:lnTo>
                      <a:pt x="350" y="632"/>
                    </a:lnTo>
                    <a:lnTo>
                      <a:pt x="366" y="629"/>
                    </a:lnTo>
                    <a:lnTo>
                      <a:pt x="381" y="627"/>
                    </a:lnTo>
                    <a:lnTo>
                      <a:pt x="397" y="623"/>
                    </a:lnTo>
                    <a:lnTo>
                      <a:pt x="412" y="619"/>
                    </a:lnTo>
                    <a:lnTo>
                      <a:pt x="426" y="614"/>
                    </a:lnTo>
                    <a:lnTo>
                      <a:pt x="441" y="608"/>
                    </a:lnTo>
                    <a:lnTo>
                      <a:pt x="455" y="603"/>
                    </a:lnTo>
                    <a:lnTo>
                      <a:pt x="469" y="595"/>
                    </a:lnTo>
                    <a:lnTo>
                      <a:pt x="482" y="588"/>
                    </a:lnTo>
                    <a:lnTo>
                      <a:pt x="494" y="579"/>
                    </a:lnTo>
                    <a:lnTo>
                      <a:pt x="507" y="570"/>
                    </a:lnTo>
                    <a:lnTo>
                      <a:pt x="519" y="561"/>
                    </a:lnTo>
                    <a:lnTo>
                      <a:pt x="531" y="551"/>
                    </a:lnTo>
                    <a:lnTo>
                      <a:pt x="542" y="540"/>
                    </a:lnTo>
                    <a:lnTo>
                      <a:pt x="552" y="530"/>
                    </a:lnTo>
                    <a:lnTo>
                      <a:pt x="562" y="518"/>
                    </a:lnTo>
                    <a:lnTo>
                      <a:pt x="572" y="506"/>
                    </a:lnTo>
                    <a:lnTo>
                      <a:pt x="580" y="493"/>
                    </a:lnTo>
                    <a:lnTo>
                      <a:pt x="589" y="480"/>
                    </a:lnTo>
                    <a:lnTo>
                      <a:pt x="596" y="468"/>
                    </a:lnTo>
                    <a:lnTo>
                      <a:pt x="603" y="454"/>
                    </a:lnTo>
                    <a:lnTo>
                      <a:pt x="609" y="440"/>
                    </a:lnTo>
                    <a:lnTo>
                      <a:pt x="615" y="426"/>
                    </a:lnTo>
                    <a:lnTo>
                      <a:pt x="620" y="411"/>
                    </a:lnTo>
                    <a:lnTo>
                      <a:pt x="624" y="396"/>
                    </a:lnTo>
                    <a:lnTo>
                      <a:pt x="627" y="381"/>
                    </a:lnTo>
                    <a:lnTo>
                      <a:pt x="631" y="365"/>
                    </a:lnTo>
                    <a:lnTo>
                      <a:pt x="633" y="348"/>
                    </a:lnTo>
                    <a:lnTo>
                      <a:pt x="634" y="332"/>
                    </a:lnTo>
                    <a:lnTo>
                      <a:pt x="634" y="316"/>
                    </a:lnTo>
                    <a:lnTo>
                      <a:pt x="634" y="299"/>
                    </a:lnTo>
                    <a:lnTo>
                      <a:pt x="633" y="281"/>
                    </a:lnTo>
                    <a:lnTo>
                      <a:pt x="630" y="264"/>
                    </a:lnTo>
                    <a:lnTo>
                      <a:pt x="626" y="247"/>
                    </a:lnTo>
                    <a:lnTo>
                      <a:pt x="622" y="230"/>
                    </a:lnTo>
                    <a:lnTo>
                      <a:pt x="617" y="214"/>
                    </a:lnTo>
                    <a:lnTo>
                      <a:pt x="611" y="198"/>
                    </a:lnTo>
                    <a:lnTo>
                      <a:pt x="605" y="182"/>
                    </a:lnTo>
                    <a:lnTo>
                      <a:pt x="602" y="185"/>
                    </a:lnTo>
                    <a:lnTo>
                      <a:pt x="483" y="303"/>
                    </a:lnTo>
                    <a:lnTo>
                      <a:pt x="484" y="310"/>
                    </a:lnTo>
                    <a:lnTo>
                      <a:pt x="484" y="316"/>
                    </a:lnTo>
                    <a:lnTo>
                      <a:pt x="483" y="333"/>
                    </a:lnTo>
                    <a:lnTo>
                      <a:pt x="480" y="350"/>
                    </a:lnTo>
                    <a:lnTo>
                      <a:pt x="476" y="366"/>
                    </a:lnTo>
                    <a:lnTo>
                      <a:pt x="471" y="382"/>
                    </a:lnTo>
                    <a:lnTo>
                      <a:pt x="463" y="396"/>
                    </a:lnTo>
                    <a:lnTo>
                      <a:pt x="455" y="410"/>
                    </a:lnTo>
                    <a:lnTo>
                      <a:pt x="445" y="422"/>
                    </a:lnTo>
                    <a:lnTo>
                      <a:pt x="434" y="434"/>
                    </a:lnTo>
                    <a:lnTo>
                      <a:pt x="423" y="445"/>
                    </a:lnTo>
                    <a:lnTo>
                      <a:pt x="411" y="455"/>
                    </a:lnTo>
                    <a:lnTo>
                      <a:pt x="397" y="463"/>
                    </a:lnTo>
                    <a:lnTo>
                      <a:pt x="382" y="470"/>
                    </a:lnTo>
                    <a:lnTo>
                      <a:pt x="367" y="475"/>
                    </a:lnTo>
                    <a:lnTo>
                      <a:pt x="351" y="479"/>
                    </a:lnTo>
                    <a:lnTo>
                      <a:pt x="335" y="481"/>
                    </a:lnTo>
                    <a:lnTo>
                      <a:pt x="317" y="483"/>
                    </a:lnTo>
                    <a:lnTo>
                      <a:pt x="300" y="481"/>
                    </a:lnTo>
                    <a:lnTo>
                      <a:pt x="283" y="479"/>
                    </a:lnTo>
                    <a:lnTo>
                      <a:pt x="268" y="475"/>
                    </a:lnTo>
                    <a:lnTo>
                      <a:pt x="252" y="470"/>
                    </a:lnTo>
                    <a:lnTo>
                      <a:pt x="238" y="463"/>
                    </a:lnTo>
                    <a:lnTo>
                      <a:pt x="224" y="455"/>
                    </a:lnTo>
                    <a:lnTo>
                      <a:pt x="211" y="445"/>
                    </a:lnTo>
                    <a:lnTo>
                      <a:pt x="199" y="434"/>
                    </a:lnTo>
                    <a:lnTo>
                      <a:pt x="189" y="422"/>
                    </a:lnTo>
                    <a:lnTo>
                      <a:pt x="179" y="410"/>
                    </a:lnTo>
                    <a:lnTo>
                      <a:pt x="172" y="396"/>
                    </a:lnTo>
                    <a:lnTo>
                      <a:pt x="164" y="382"/>
                    </a:lnTo>
                    <a:lnTo>
                      <a:pt x="159" y="366"/>
                    </a:lnTo>
                    <a:lnTo>
                      <a:pt x="154" y="350"/>
                    </a:lnTo>
                    <a:lnTo>
                      <a:pt x="152" y="333"/>
                    </a:lnTo>
                    <a:lnTo>
                      <a:pt x="151" y="316"/>
                    </a:lnTo>
                    <a:lnTo>
                      <a:pt x="152" y="299"/>
                    </a:lnTo>
                    <a:lnTo>
                      <a:pt x="154" y="283"/>
                    </a:lnTo>
                    <a:lnTo>
                      <a:pt x="159" y="267"/>
                    </a:lnTo>
                    <a:lnTo>
                      <a:pt x="164" y="252"/>
                    </a:lnTo>
                    <a:lnTo>
                      <a:pt x="172" y="237"/>
                    </a:lnTo>
                    <a:lnTo>
                      <a:pt x="179" y="224"/>
                    </a:lnTo>
                    <a:lnTo>
                      <a:pt x="189" y="211"/>
                    </a:lnTo>
                    <a:lnTo>
                      <a:pt x="199" y="199"/>
                    </a:lnTo>
                    <a:lnTo>
                      <a:pt x="211" y="189"/>
                    </a:lnTo>
                    <a:lnTo>
                      <a:pt x="224" y="179"/>
                    </a:lnTo>
                    <a:lnTo>
                      <a:pt x="238" y="170"/>
                    </a:lnTo>
                    <a:lnTo>
                      <a:pt x="252" y="163"/>
                    </a:lnTo>
                    <a:lnTo>
                      <a:pt x="268" y="158"/>
                    </a:lnTo>
                    <a:lnTo>
                      <a:pt x="284" y="153"/>
                    </a:lnTo>
                    <a:lnTo>
                      <a:pt x="300" y="151"/>
                    </a:lnTo>
                    <a:lnTo>
                      <a:pt x="317" y="1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75" name="Freeform 74"/>
              <p:cNvSpPr>
                <a:spLocks/>
              </p:cNvSpPr>
              <p:nvPr/>
            </p:nvSpPr>
            <p:spPr bwMode="auto">
              <a:xfrm>
                <a:off x="3994150" y="3568700"/>
                <a:ext cx="227013" cy="227013"/>
              </a:xfrm>
              <a:custGeom>
                <a:avLst/>
                <a:gdLst>
                  <a:gd name="T0" fmla="*/ 638 w 712"/>
                  <a:gd name="T1" fmla="*/ 159 h 715"/>
                  <a:gd name="T2" fmla="*/ 647 w 712"/>
                  <a:gd name="T3" fmla="*/ 147 h 715"/>
                  <a:gd name="T4" fmla="*/ 651 w 712"/>
                  <a:gd name="T5" fmla="*/ 132 h 715"/>
                  <a:gd name="T6" fmla="*/ 647 w 712"/>
                  <a:gd name="T7" fmla="*/ 115 h 715"/>
                  <a:gd name="T8" fmla="*/ 638 w 712"/>
                  <a:gd name="T9" fmla="*/ 103 h 715"/>
                  <a:gd name="T10" fmla="*/ 608 w 712"/>
                  <a:gd name="T11" fmla="*/ 73 h 715"/>
                  <a:gd name="T12" fmla="*/ 593 w 712"/>
                  <a:gd name="T13" fmla="*/ 67 h 715"/>
                  <a:gd name="T14" fmla="*/ 578 w 712"/>
                  <a:gd name="T15" fmla="*/ 67 h 715"/>
                  <a:gd name="T16" fmla="*/ 563 w 712"/>
                  <a:gd name="T17" fmla="*/ 73 h 715"/>
                  <a:gd name="T18" fmla="*/ 517 w 712"/>
                  <a:gd name="T19" fmla="*/ 118 h 715"/>
                  <a:gd name="T20" fmla="*/ 507 w 712"/>
                  <a:gd name="T21" fmla="*/ 6 h 715"/>
                  <a:gd name="T22" fmla="*/ 500 w 712"/>
                  <a:gd name="T23" fmla="*/ 0 h 715"/>
                  <a:gd name="T24" fmla="*/ 490 w 712"/>
                  <a:gd name="T25" fmla="*/ 0 h 715"/>
                  <a:gd name="T26" fmla="*/ 329 w 712"/>
                  <a:gd name="T27" fmla="*/ 161 h 715"/>
                  <a:gd name="T28" fmla="*/ 319 w 712"/>
                  <a:gd name="T29" fmla="*/ 171 h 715"/>
                  <a:gd name="T30" fmla="*/ 313 w 712"/>
                  <a:gd name="T31" fmla="*/ 185 h 715"/>
                  <a:gd name="T32" fmla="*/ 310 w 712"/>
                  <a:gd name="T33" fmla="*/ 199 h 715"/>
                  <a:gd name="T34" fmla="*/ 308 w 712"/>
                  <a:gd name="T35" fmla="*/ 214 h 715"/>
                  <a:gd name="T36" fmla="*/ 317 w 712"/>
                  <a:gd name="T37" fmla="*/ 318 h 715"/>
                  <a:gd name="T38" fmla="*/ 157 w 712"/>
                  <a:gd name="T39" fmla="*/ 477 h 715"/>
                  <a:gd name="T40" fmla="*/ 56 w 712"/>
                  <a:gd name="T41" fmla="*/ 578 h 715"/>
                  <a:gd name="T42" fmla="*/ 9 w 712"/>
                  <a:gd name="T43" fmla="*/ 627 h 715"/>
                  <a:gd name="T44" fmla="*/ 4 w 712"/>
                  <a:gd name="T45" fmla="*/ 638 h 715"/>
                  <a:gd name="T46" fmla="*/ 0 w 712"/>
                  <a:gd name="T47" fmla="*/ 679 h 715"/>
                  <a:gd name="T48" fmla="*/ 2 w 712"/>
                  <a:gd name="T49" fmla="*/ 692 h 715"/>
                  <a:gd name="T50" fmla="*/ 9 w 712"/>
                  <a:gd name="T51" fmla="*/ 704 h 715"/>
                  <a:gd name="T52" fmla="*/ 20 w 712"/>
                  <a:gd name="T53" fmla="*/ 712 h 715"/>
                  <a:gd name="T54" fmla="*/ 34 w 712"/>
                  <a:gd name="T55" fmla="*/ 715 h 715"/>
                  <a:gd name="T56" fmla="*/ 73 w 712"/>
                  <a:gd name="T57" fmla="*/ 713 h 715"/>
                  <a:gd name="T58" fmla="*/ 84 w 712"/>
                  <a:gd name="T59" fmla="*/ 711 h 715"/>
                  <a:gd name="T60" fmla="*/ 95 w 712"/>
                  <a:gd name="T61" fmla="*/ 703 h 715"/>
                  <a:gd name="T62" fmla="*/ 493 w 712"/>
                  <a:gd name="T63" fmla="*/ 402 h 715"/>
                  <a:gd name="T64" fmla="*/ 499 w 712"/>
                  <a:gd name="T65" fmla="*/ 402 h 715"/>
                  <a:gd name="T66" fmla="*/ 509 w 712"/>
                  <a:gd name="T67" fmla="*/ 402 h 715"/>
                  <a:gd name="T68" fmla="*/ 522 w 712"/>
                  <a:gd name="T69" fmla="*/ 400 h 715"/>
                  <a:gd name="T70" fmla="*/ 535 w 712"/>
                  <a:gd name="T71" fmla="*/ 394 h 715"/>
                  <a:gd name="T72" fmla="*/ 546 w 712"/>
                  <a:gd name="T73" fmla="*/ 387 h 715"/>
                  <a:gd name="T74" fmla="*/ 707 w 712"/>
                  <a:gd name="T75" fmla="*/ 225 h 715"/>
                  <a:gd name="T76" fmla="*/ 711 w 712"/>
                  <a:gd name="T77" fmla="*/ 218 h 715"/>
                  <a:gd name="T78" fmla="*/ 711 w 712"/>
                  <a:gd name="T79" fmla="*/ 211 h 715"/>
                  <a:gd name="T80" fmla="*/ 706 w 712"/>
                  <a:gd name="T81" fmla="*/ 205 h 715"/>
                  <a:gd name="T82" fmla="*/ 699 w 712"/>
                  <a:gd name="T83" fmla="*/ 202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2" h="715">
                    <a:moveTo>
                      <a:pt x="603" y="195"/>
                    </a:moveTo>
                    <a:lnTo>
                      <a:pt x="638" y="159"/>
                    </a:lnTo>
                    <a:lnTo>
                      <a:pt x="643" y="153"/>
                    </a:lnTo>
                    <a:lnTo>
                      <a:pt x="647" y="147"/>
                    </a:lnTo>
                    <a:lnTo>
                      <a:pt x="650" y="139"/>
                    </a:lnTo>
                    <a:lnTo>
                      <a:pt x="651" y="132"/>
                    </a:lnTo>
                    <a:lnTo>
                      <a:pt x="650" y="123"/>
                    </a:lnTo>
                    <a:lnTo>
                      <a:pt x="647" y="115"/>
                    </a:lnTo>
                    <a:lnTo>
                      <a:pt x="643" y="109"/>
                    </a:lnTo>
                    <a:lnTo>
                      <a:pt x="638" y="103"/>
                    </a:lnTo>
                    <a:lnTo>
                      <a:pt x="614" y="78"/>
                    </a:lnTo>
                    <a:lnTo>
                      <a:pt x="608" y="73"/>
                    </a:lnTo>
                    <a:lnTo>
                      <a:pt x="600" y="69"/>
                    </a:lnTo>
                    <a:lnTo>
                      <a:pt x="593" y="67"/>
                    </a:lnTo>
                    <a:lnTo>
                      <a:pt x="585" y="66"/>
                    </a:lnTo>
                    <a:lnTo>
                      <a:pt x="578" y="67"/>
                    </a:lnTo>
                    <a:lnTo>
                      <a:pt x="570" y="69"/>
                    </a:lnTo>
                    <a:lnTo>
                      <a:pt x="563" y="73"/>
                    </a:lnTo>
                    <a:lnTo>
                      <a:pt x="556" y="78"/>
                    </a:lnTo>
                    <a:lnTo>
                      <a:pt x="517" y="118"/>
                    </a:lnTo>
                    <a:lnTo>
                      <a:pt x="509" y="11"/>
                    </a:lnTo>
                    <a:lnTo>
                      <a:pt x="507" y="6"/>
                    </a:lnTo>
                    <a:lnTo>
                      <a:pt x="504" y="3"/>
                    </a:lnTo>
                    <a:lnTo>
                      <a:pt x="500" y="0"/>
                    </a:lnTo>
                    <a:lnTo>
                      <a:pt x="495" y="0"/>
                    </a:lnTo>
                    <a:lnTo>
                      <a:pt x="490" y="0"/>
                    </a:lnTo>
                    <a:lnTo>
                      <a:pt x="485" y="3"/>
                    </a:lnTo>
                    <a:lnTo>
                      <a:pt x="329" y="161"/>
                    </a:lnTo>
                    <a:lnTo>
                      <a:pt x="323" y="166"/>
                    </a:lnTo>
                    <a:lnTo>
                      <a:pt x="319" y="171"/>
                    </a:lnTo>
                    <a:lnTo>
                      <a:pt x="316" y="178"/>
                    </a:lnTo>
                    <a:lnTo>
                      <a:pt x="313" y="185"/>
                    </a:lnTo>
                    <a:lnTo>
                      <a:pt x="311" y="192"/>
                    </a:lnTo>
                    <a:lnTo>
                      <a:pt x="310" y="199"/>
                    </a:lnTo>
                    <a:lnTo>
                      <a:pt x="308" y="207"/>
                    </a:lnTo>
                    <a:lnTo>
                      <a:pt x="308" y="214"/>
                    </a:lnTo>
                    <a:lnTo>
                      <a:pt x="308" y="220"/>
                    </a:lnTo>
                    <a:lnTo>
                      <a:pt x="317" y="318"/>
                    </a:lnTo>
                    <a:lnTo>
                      <a:pt x="260" y="375"/>
                    </a:lnTo>
                    <a:lnTo>
                      <a:pt x="157" y="477"/>
                    </a:lnTo>
                    <a:lnTo>
                      <a:pt x="155" y="479"/>
                    </a:lnTo>
                    <a:lnTo>
                      <a:pt x="56" y="578"/>
                    </a:lnTo>
                    <a:lnTo>
                      <a:pt x="12" y="623"/>
                    </a:lnTo>
                    <a:lnTo>
                      <a:pt x="9" y="627"/>
                    </a:lnTo>
                    <a:lnTo>
                      <a:pt x="6" y="632"/>
                    </a:lnTo>
                    <a:lnTo>
                      <a:pt x="4" y="638"/>
                    </a:lnTo>
                    <a:lnTo>
                      <a:pt x="3" y="643"/>
                    </a:lnTo>
                    <a:lnTo>
                      <a:pt x="0" y="679"/>
                    </a:lnTo>
                    <a:lnTo>
                      <a:pt x="1" y="685"/>
                    </a:lnTo>
                    <a:lnTo>
                      <a:pt x="2" y="692"/>
                    </a:lnTo>
                    <a:lnTo>
                      <a:pt x="5" y="699"/>
                    </a:lnTo>
                    <a:lnTo>
                      <a:pt x="9" y="704"/>
                    </a:lnTo>
                    <a:lnTo>
                      <a:pt x="15" y="709"/>
                    </a:lnTo>
                    <a:lnTo>
                      <a:pt x="20" y="712"/>
                    </a:lnTo>
                    <a:lnTo>
                      <a:pt x="26" y="714"/>
                    </a:lnTo>
                    <a:lnTo>
                      <a:pt x="34" y="715"/>
                    </a:lnTo>
                    <a:lnTo>
                      <a:pt x="36" y="715"/>
                    </a:lnTo>
                    <a:lnTo>
                      <a:pt x="73" y="713"/>
                    </a:lnTo>
                    <a:lnTo>
                      <a:pt x="79" y="713"/>
                    </a:lnTo>
                    <a:lnTo>
                      <a:pt x="84" y="711"/>
                    </a:lnTo>
                    <a:lnTo>
                      <a:pt x="90" y="708"/>
                    </a:lnTo>
                    <a:lnTo>
                      <a:pt x="95" y="703"/>
                    </a:lnTo>
                    <a:lnTo>
                      <a:pt x="403" y="395"/>
                    </a:lnTo>
                    <a:lnTo>
                      <a:pt x="493" y="402"/>
                    </a:lnTo>
                    <a:lnTo>
                      <a:pt x="497" y="402"/>
                    </a:lnTo>
                    <a:lnTo>
                      <a:pt x="499" y="402"/>
                    </a:lnTo>
                    <a:lnTo>
                      <a:pt x="502" y="402"/>
                    </a:lnTo>
                    <a:lnTo>
                      <a:pt x="509" y="402"/>
                    </a:lnTo>
                    <a:lnTo>
                      <a:pt x="515" y="401"/>
                    </a:lnTo>
                    <a:lnTo>
                      <a:pt x="522" y="400"/>
                    </a:lnTo>
                    <a:lnTo>
                      <a:pt x="528" y="396"/>
                    </a:lnTo>
                    <a:lnTo>
                      <a:pt x="535" y="394"/>
                    </a:lnTo>
                    <a:lnTo>
                      <a:pt x="540" y="391"/>
                    </a:lnTo>
                    <a:lnTo>
                      <a:pt x="546" y="387"/>
                    </a:lnTo>
                    <a:lnTo>
                      <a:pt x="551" y="383"/>
                    </a:lnTo>
                    <a:lnTo>
                      <a:pt x="707" y="225"/>
                    </a:lnTo>
                    <a:lnTo>
                      <a:pt x="710" y="222"/>
                    </a:lnTo>
                    <a:lnTo>
                      <a:pt x="711" y="218"/>
                    </a:lnTo>
                    <a:lnTo>
                      <a:pt x="712" y="214"/>
                    </a:lnTo>
                    <a:lnTo>
                      <a:pt x="711" y="211"/>
                    </a:lnTo>
                    <a:lnTo>
                      <a:pt x="709" y="208"/>
                    </a:lnTo>
                    <a:lnTo>
                      <a:pt x="706" y="205"/>
                    </a:lnTo>
                    <a:lnTo>
                      <a:pt x="703" y="203"/>
                    </a:lnTo>
                    <a:lnTo>
                      <a:pt x="699" y="202"/>
                    </a:lnTo>
                    <a:lnTo>
                      <a:pt x="603" y="1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grpSp>
        <p:sp>
          <p:nvSpPr>
            <p:cNvPr id="63" name="Rectangle 62"/>
            <p:cNvSpPr>
              <a:spLocks noChangeArrowheads="1"/>
            </p:cNvSpPr>
            <p:nvPr/>
          </p:nvSpPr>
          <p:spPr bwMode="auto">
            <a:xfrm flipH="1">
              <a:off x="6585691" y="4838385"/>
              <a:ext cx="4694840" cy="931350"/>
            </a:xfrm>
            <a:prstGeom prst="rect">
              <a:avLst/>
            </a:pr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64" name="Freeform 63"/>
            <p:cNvSpPr>
              <a:spLocks/>
            </p:cNvSpPr>
            <p:nvPr/>
          </p:nvSpPr>
          <p:spPr bwMode="auto">
            <a:xfrm flipV="1">
              <a:off x="6248400" y="4976511"/>
              <a:ext cx="657120" cy="655097"/>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65" name="Freeform 64"/>
            <p:cNvSpPr>
              <a:spLocks/>
            </p:cNvSpPr>
            <p:nvPr/>
          </p:nvSpPr>
          <p:spPr bwMode="auto">
            <a:xfrm>
              <a:off x="6291805" y="5019782"/>
              <a:ext cx="570309" cy="568556"/>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solidFill>
              <a:schemeClr val="accent1">
                <a:lumMod val="60000"/>
                <a:lumOff val="40000"/>
              </a:schemeClr>
            </a:solidFill>
            <a:ln>
              <a:noFill/>
            </a:ln>
            <a:effectLst>
              <a:outerShdw blurRad="50800" dist="38100" dir="3060000" algn="tl" rotWithShape="0">
                <a:prstClr val="black">
                  <a:alpha val="2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66" name="TextBox 100"/>
            <p:cNvSpPr txBox="1"/>
            <p:nvPr/>
          </p:nvSpPr>
          <p:spPr>
            <a:xfrm>
              <a:off x="6333415" y="5068245"/>
              <a:ext cx="501686" cy="461665"/>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2400" b="1" dirty="0">
                  <a:latin typeface="Calibri" panose="020F0502020204030204"/>
                </a:rPr>
                <a:t>08</a:t>
              </a:r>
            </a:p>
          </p:txBody>
        </p:sp>
        <p:sp>
          <p:nvSpPr>
            <p:cNvPr id="68" name="Freeform 67"/>
            <p:cNvSpPr>
              <a:spLocks/>
            </p:cNvSpPr>
            <p:nvPr/>
          </p:nvSpPr>
          <p:spPr bwMode="auto">
            <a:xfrm flipH="1">
              <a:off x="11276930" y="4838385"/>
              <a:ext cx="762670" cy="931350"/>
            </a:xfrm>
            <a:custGeom>
              <a:avLst/>
              <a:gdLst>
                <a:gd name="T0" fmla="*/ 3380 w 3380"/>
                <a:gd name="T1" fmla="*/ 0 h 4128"/>
                <a:gd name="T2" fmla="*/ 1515 w 3380"/>
                <a:gd name="T3" fmla="*/ 4128 h 4128"/>
                <a:gd name="T4" fmla="*/ 1360 w 3380"/>
                <a:gd name="T5" fmla="*/ 4118 h 4128"/>
                <a:gd name="T6" fmla="*/ 1210 w 3380"/>
                <a:gd name="T7" fmla="*/ 4091 h 4128"/>
                <a:gd name="T8" fmla="*/ 1065 w 3380"/>
                <a:gd name="T9" fmla="*/ 4046 h 4128"/>
                <a:gd name="T10" fmla="*/ 926 w 3380"/>
                <a:gd name="T11" fmla="*/ 3984 h 4128"/>
                <a:gd name="T12" fmla="*/ 794 w 3380"/>
                <a:gd name="T13" fmla="*/ 3906 h 4128"/>
                <a:gd name="T14" fmla="*/ 669 w 3380"/>
                <a:gd name="T15" fmla="*/ 3815 h 4128"/>
                <a:gd name="T16" fmla="*/ 552 w 3380"/>
                <a:gd name="T17" fmla="*/ 3709 h 4128"/>
                <a:gd name="T18" fmla="*/ 445 w 3380"/>
                <a:gd name="T19" fmla="*/ 3591 h 4128"/>
                <a:gd name="T20" fmla="*/ 347 w 3380"/>
                <a:gd name="T21" fmla="*/ 3462 h 4128"/>
                <a:gd name="T22" fmla="*/ 259 w 3380"/>
                <a:gd name="T23" fmla="*/ 3321 h 4128"/>
                <a:gd name="T24" fmla="*/ 184 w 3380"/>
                <a:gd name="T25" fmla="*/ 3170 h 4128"/>
                <a:gd name="T26" fmla="*/ 119 w 3380"/>
                <a:gd name="T27" fmla="*/ 3011 h 4128"/>
                <a:gd name="T28" fmla="*/ 68 w 3380"/>
                <a:gd name="T29" fmla="*/ 2844 h 4128"/>
                <a:gd name="T30" fmla="*/ 31 w 3380"/>
                <a:gd name="T31" fmla="*/ 2669 h 4128"/>
                <a:gd name="T32" fmla="*/ 8 w 3380"/>
                <a:gd name="T33" fmla="*/ 2488 h 4128"/>
                <a:gd name="T34" fmla="*/ 0 w 3380"/>
                <a:gd name="T35" fmla="*/ 2302 h 4128"/>
                <a:gd name="T36" fmla="*/ 2 w 3380"/>
                <a:gd name="T37" fmla="*/ 1733 h 4128"/>
                <a:gd name="T38" fmla="*/ 18 w 3380"/>
                <a:gd name="T39" fmla="*/ 1549 h 4128"/>
                <a:gd name="T40" fmla="*/ 48 w 3380"/>
                <a:gd name="T41" fmla="*/ 1371 h 4128"/>
                <a:gd name="T42" fmla="*/ 92 w 3380"/>
                <a:gd name="T43" fmla="*/ 1199 h 4128"/>
                <a:gd name="T44" fmla="*/ 150 w 3380"/>
                <a:gd name="T45" fmla="*/ 1036 h 4128"/>
                <a:gd name="T46" fmla="*/ 220 w 3380"/>
                <a:gd name="T47" fmla="*/ 881 h 4128"/>
                <a:gd name="T48" fmla="*/ 302 w 3380"/>
                <a:gd name="T49" fmla="*/ 735 h 4128"/>
                <a:gd name="T50" fmla="*/ 395 w 3380"/>
                <a:gd name="T51" fmla="*/ 600 h 4128"/>
                <a:gd name="T52" fmla="*/ 498 w 3380"/>
                <a:gd name="T53" fmla="*/ 475 h 4128"/>
                <a:gd name="T54" fmla="*/ 610 w 3380"/>
                <a:gd name="T55" fmla="*/ 364 h 4128"/>
                <a:gd name="T56" fmla="*/ 730 w 3380"/>
                <a:gd name="T57" fmla="*/ 265 h 4128"/>
                <a:gd name="T58" fmla="*/ 859 w 3380"/>
                <a:gd name="T59" fmla="*/ 180 h 4128"/>
                <a:gd name="T60" fmla="*/ 995 w 3380"/>
                <a:gd name="T61" fmla="*/ 111 h 4128"/>
                <a:gd name="T62" fmla="*/ 1137 w 3380"/>
                <a:gd name="T63" fmla="*/ 58 h 4128"/>
                <a:gd name="T64" fmla="*/ 1284 w 3380"/>
                <a:gd name="T65" fmla="*/ 21 h 4128"/>
                <a:gd name="T66" fmla="*/ 1437 w 3380"/>
                <a:gd name="T67" fmla="*/ 2 h 4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80" h="4128">
                  <a:moveTo>
                    <a:pt x="1515" y="0"/>
                  </a:moveTo>
                  <a:lnTo>
                    <a:pt x="3380" y="0"/>
                  </a:lnTo>
                  <a:lnTo>
                    <a:pt x="3380" y="4128"/>
                  </a:lnTo>
                  <a:lnTo>
                    <a:pt x="1515" y="4128"/>
                  </a:lnTo>
                  <a:lnTo>
                    <a:pt x="1437" y="4126"/>
                  </a:lnTo>
                  <a:lnTo>
                    <a:pt x="1360" y="4118"/>
                  </a:lnTo>
                  <a:lnTo>
                    <a:pt x="1284" y="4107"/>
                  </a:lnTo>
                  <a:lnTo>
                    <a:pt x="1210" y="4091"/>
                  </a:lnTo>
                  <a:lnTo>
                    <a:pt x="1137" y="4070"/>
                  </a:lnTo>
                  <a:lnTo>
                    <a:pt x="1065" y="4046"/>
                  </a:lnTo>
                  <a:lnTo>
                    <a:pt x="995" y="4017"/>
                  </a:lnTo>
                  <a:lnTo>
                    <a:pt x="926" y="3984"/>
                  </a:lnTo>
                  <a:lnTo>
                    <a:pt x="859" y="3948"/>
                  </a:lnTo>
                  <a:lnTo>
                    <a:pt x="794" y="3906"/>
                  </a:lnTo>
                  <a:lnTo>
                    <a:pt x="730" y="3863"/>
                  </a:lnTo>
                  <a:lnTo>
                    <a:pt x="669" y="3815"/>
                  </a:lnTo>
                  <a:lnTo>
                    <a:pt x="610" y="3764"/>
                  </a:lnTo>
                  <a:lnTo>
                    <a:pt x="552" y="3709"/>
                  </a:lnTo>
                  <a:lnTo>
                    <a:pt x="498" y="3653"/>
                  </a:lnTo>
                  <a:lnTo>
                    <a:pt x="445" y="3591"/>
                  </a:lnTo>
                  <a:lnTo>
                    <a:pt x="395" y="3528"/>
                  </a:lnTo>
                  <a:lnTo>
                    <a:pt x="347" y="3462"/>
                  </a:lnTo>
                  <a:lnTo>
                    <a:pt x="302" y="3393"/>
                  </a:lnTo>
                  <a:lnTo>
                    <a:pt x="259" y="3321"/>
                  </a:lnTo>
                  <a:lnTo>
                    <a:pt x="220" y="3247"/>
                  </a:lnTo>
                  <a:lnTo>
                    <a:pt x="184" y="3170"/>
                  </a:lnTo>
                  <a:lnTo>
                    <a:pt x="150" y="3092"/>
                  </a:lnTo>
                  <a:lnTo>
                    <a:pt x="119" y="3011"/>
                  </a:lnTo>
                  <a:lnTo>
                    <a:pt x="92" y="2929"/>
                  </a:lnTo>
                  <a:lnTo>
                    <a:pt x="68" y="2844"/>
                  </a:lnTo>
                  <a:lnTo>
                    <a:pt x="48" y="2757"/>
                  </a:lnTo>
                  <a:lnTo>
                    <a:pt x="31" y="2669"/>
                  </a:lnTo>
                  <a:lnTo>
                    <a:pt x="18" y="2579"/>
                  </a:lnTo>
                  <a:lnTo>
                    <a:pt x="8" y="2488"/>
                  </a:lnTo>
                  <a:lnTo>
                    <a:pt x="2" y="2395"/>
                  </a:lnTo>
                  <a:lnTo>
                    <a:pt x="0" y="2302"/>
                  </a:lnTo>
                  <a:lnTo>
                    <a:pt x="0" y="1826"/>
                  </a:lnTo>
                  <a:lnTo>
                    <a:pt x="2" y="1733"/>
                  </a:lnTo>
                  <a:lnTo>
                    <a:pt x="8" y="1640"/>
                  </a:lnTo>
                  <a:lnTo>
                    <a:pt x="18" y="1549"/>
                  </a:lnTo>
                  <a:lnTo>
                    <a:pt x="31" y="1459"/>
                  </a:lnTo>
                  <a:lnTo>
                    <a:pt x="48" y="1371"/>
                  </a:lnTo>
                  <a:lnTo>
                    <a:pt x="68" y="1284"/>
                  </a:lnTo>
                  <a:lnTo>
                    <a:pt x="92" y="1199"/>
                  </a:lnTo>
                  <a:lnTo>
                    <a:pt x="119" y="1117"/>
                  </a:lnTo>
                  <a:lnTo>
                    <a:pt x="150" y="1036"/>
                  </a:lnTo>
                  <a:lnTo>
                    <a:pt x="184" y="958"/>
                  </a:lnTo>
                  <a:lnTo>
                    <a:pt x="220" y="881"/>
                  </a:lnTo>
                  <a:lnTo>
                    <a:pt x="259" y="807"/>
                  </a:lnTo>
                  <a:lnTo>
                    <a:pt x="302" y="735"/>
                  </a:lnTo>
                  <a:lnTo>
                    <a:pt x="347" y="666"/>
                  </a:lnTo>
                  <a:lnTo>
                    <a:pt x="395" y="600"/>
                  </a:lnTo>
                  <a:lnTo>
                    <a:pt x="445" y="537"/>
                  </a:lnTo>
                  <a:lnTo>
                    <a:pt x="498" y="475"/>
                  </a:lnTo>
                  <a:lnTo>
                    <a:pt x="552" y="419"/>
                  </a:lnTo>
                  <a:lnTo>
                    <a:pt x="610" y="364"/>
                  </a:lnTo>
                  <a:lnTo>
                    <a:pt x="669" y="313"/>
                  </a:lnTo>
                  <a:lnTo>
                    <a:pt x="730" y="265"/>
                  </a:lnTo>
                  <a:lnTo>
                    <a:pt x="794" y="222"/>
                  </a:lnTo>
                  <a:lnTo>
                    <a:pt x="859" y="180"/>
                  </a:lnTo>
                  <a:lnTo>
                    <a:pt x="926" y="144"/>
                  </a:lnTo>
                  <a:lnTo>
                    <a:pt x="995" y="111"/>
                  </a:lnTo>
                  <a:lnTo>
                    <a:pt x="1065" y="82"/>
                  </a:lnTo>
                  <a:lnTo>
                    <a:pt x="1137" y="58"/>
                  </a:lnTo>
                  <a:lnTo>
                    <a:pt x="1210" y="37"/>
                  </a:lnTo>
                  <a:lnTo>
                    <a:pt x="1284" y="21"/>
                  </a:lnTo>
                  <a:lnTo>
                    <a:pt x="1360" y="10"/>
                  </a:lnTo>
                  <a:lnTo>
                    <a:pt x="1437" y="2"/>
                  </a:lnTo>
                  <a:lnTo>
                    <a:pt x="1515"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grpSp>
          <p:nvGrpSpPr>
            <p:cNvPr id="69" name="Group 68"/>
            <p:cNvGrpSpPr/>
            <p:nvPr/>
          </p:nvGrpSpPr>
          <p:grpSpPr>
            <a:xfrm flipH="1">
              <a:off x="11393715" y="5075156"/>
              <a:ext cx="428315" cy="428017"/>
              <a:chOff x="3770313" y="3568700"/>
              <a:chExt cx="450850" cy="450851"/>
            </a:xfrm>
            <a:solidFill>
              <a:sysClr val="window" lastClr="FFFFFF"/>
            </a:solidFill>
          </p:grpSpPr>
          <p:sp>
            <p:nvSpPr>
              <p:cNvPr id="70" name="Freeform 69"/>
              <p:cNvSpPr>
                <a:spLocks/>
              </p:cNvSpPr>
              <p:nvPr/>
            </p:nvSpPr>
            <p:spPr bwMode="auto">
              <a:xfrm>
                <a:off x="3770313" y="3611563"/>
                <a:ext cx="409575" cy="407988"/>
              </a:xfrm>
              <a:custGeom>
                <a:avLst/>
                <a:gdLst>
                  <a:gd name="T0" fmla="*/ 773 w 1287"/>
                  <a:gd name="T1" fmla="*/ 1274 h 1287"/>
                  <a:gd name="T2" fmla="*/ 922 w 1287"/>
                  <a:gd name="T3" fmla="*/ 1224 h 1287"/>
                  <a:gd name="T4" fmla="*/ 1053 w 1287"/>
                  <a:gd name="T5" fmla="*/ 1140 h 1287"/>
                  <a:gd name="T6" fmla="*/ 1159 w 1287"/>
                  <a:gd name="T7" fmla="*/ 1028 h 1287"/>
                  <a:gd name="T8" fmla="*/ 1237 w 1287"/>
                  <a:gd name="T9" fmla="*/ 894 h 1287"/>
                  <a:gd name="T10" fmla="*/ 1279 w 1287"/>
                  <a:gd name="T11" fmla="*/ 742 h 1287"/>
                  <a:gd name="T12" fmla="*/ 1285 w 1287"/>
                  <a:gd name="T13" fmla="*/ 600 h 1287"/>
                  <a:gd name="T14" fmla="*/ 1263 w 1287"/>
                  <a:gd name="T15" fmla="*/ 479 h 1287"/>
                  <a:gd name="T16" fmla="*/ 1214 w 1287"/>
                  <a:gd name="T17" fmla="*/ 363 h 1287"/>
                  <a:gd name="T18" fmla="*/ 1161 w 1287"/>
                  <a:gd name="T19" fmla="*/ 300 h 1287"/>
                  <a:gd name="T20" fmla="*/ 1127 w 1287"/>
                  <a:gd name="T21" fmla="*/ 313 h 1287"/>
                  <a:gd name="T22" fmla="*/ 1062 w 1287"/>
                  <a:gd name="T23" fmla="*/ 422 h 1287"/>
                  <a:gd name="T24" fmla="*/ 1093 w 1287"/>
                  <a:gd name="T25" fmla="*/ 496 h 1287"/>
                  <a:gd name="T26" fmla="*/ 1112 w 1287"/>
                  <a:gd name="T27" fmla="*/ 577 h 1287"/>
                  <a:gd name="T28" fmla="*/ 1116 w 1287"/>
                  <a:gd name="T29" fmla="*/ 668 h 1287"/>
                  <a:gd name="T30" fmla="*/ 1095 w 1287"/>
                  <a:gd name="T31" fmla="*/ 784 h 1287"/>
                  <a:gd name="T32" fmla="*/ 1048 w 1287"/>
                  <a:gd name="T33" fmla="*/ 889 h 1287"/>
                  <a:gd name="T34" fmla="*/ 978 w 1287"/>
                  <a:gd name="T35" fmla="*/ 978 h 1287"/>
                  <a:gd name="T36" fmla="*/ 889 w 1287"/>
                  <a:gd name="T37" fmla="*/ 1049 h 1287"/>
                  <a:gd name="T38" fmla="*/ 784 w 1287"/>
                  <a:gd name="T39" fmla="*/ 1096 h 1287"/>
                  <a:gd name="T40" fmla="*/ 668 w 1287"/>
                  <a:gd name="T41" fmla="*/ 1116 h 1287"/>
                  <a:gd name="T42" fmla="*/ 548 w 1287"/>
                  <a:gd name="T43" fmla="*/ 1107 h 1287"/>
                  <a:gd name="T44" fmla="*/ 439 w 1287"/>
                  <a:gd name="T45" fmla="*/ 1070 h 1287"/>
                  <a:gd name="T46" fmla="*/ 342 w 1287"/>
                  <a:gd name="T47" fmla="*/ 1009 h 1287"/>
                  <a:gd name="T48" fmla="*/ 264 w 1287"/>
                  <a:gd name="T49" fmla="*/ 926 h 1287"/>
                  <a:gd name="T50" fmla="*/ 207 w 1287"/>
                  <a:gd name="T51" fmla="*/ 828 h 1287"/>
                  <a:gd name="T52" fmla="*/ 176 w 1287"/>
                  <a:gd name="T53" fmla="*/ 715 h 1287"/>
                  <a:gd name="T54" fmla="*/ 173 w 1287"/>
                  <a:gd name="T55" fmla="*/ 595 h 1287"/>
                  <a:gd name="T56" fmla="*/ 198 w 1287"/>
                  <a:gd name="T57" fmla="*/ 481 h 1287"/>
                  <a:gd name="T58" fmla="*/ 251 w 1287"/>
                  <a:gd name="T59" fmla="*/ 379 h 1287"/>
                  <a:gd name="T60" fmla="*/ 325 w 1287"/>
                  <a:gd name="T61" fmla="*/ 294 h 1287"/>
                  <a:gd name="T62" fmla="*/ 418 w 1287"/>
                  <a:gd name="T63" fmla="*/ 227 h 1287"/>
                  <a:gd name="T64" fmla="*/ 525 w 1287"/>
                  <a:gd name="T65" fmla="*/ 185 h 1287"/>
                  <a:gd name="T66" fmla="*/ 643 w 1287"/>
                  <a:gd name="T67" fmla="*/ 170 h 1287"/>
                  <a:gd name="T68" fmla="*/ 727 w 1287"/>
                  <a:gd name="T69" fmla="*/ 178 h 1287"/>
                  <a:gd name="T70" fmla="*/ 806 w 1287"/>
                  <a:gd name="T71" fmla="*/ 199 h 1287"/>
                  <a:gd name="T72" fmla="*/ 878 w 1287"/>
                  <a:gd name="T73" fmla="*/ 234 h 1287"/>
                  <a:gd name="T74" fmla="*/ 983 w 1287"/>
                  <a:gd name="T75" fmla="*/ 149 h 1287"/>
                  <a:gd name="T76" fmla="*/ 997 w 1287"/>
                  <a:gd name="T77" fmla="*/ 128 h 1287"/>
                  <a:gd name="T78" fmla="*/ 888 w 1287"/>
                  <a:gd name="T79" fmla="*/ 50 h 1287"/>
                  <a:gd name="T80" fmla="*/ 773 w 1287"/>
                  <a:gd name="T81" fmla="*/ 12 h 1287"/>
                  <a:gd name="T82" fmla="*/ 664 w 1287"/>
                  <a:gd name="T83" fmla="*/ 0 h 1287"/>
                  <a:gd name="T84" fmla="*/ 514 w 1287"/>
                  <a:gd name="T85" fmla="*/ 13 h 1287"/>
                  <a:gd name="T86" fmla="*/ 365 w 1287"/>
                  <a:gd name="T87" fmla="*/ 63 h 1287"/>
                  <a:gd name="T88" fmla="*/ 234 w 1287"/>
                  <a:gd name="T89" fmla="*/ 147 h 1287"/>
                  <a:gd name="T90" fmla="*/ 128 w 1287"/>
                  <a:gd name="T91" fmla="*/ 258 h 1287"/>
                  <a:gd name="T92" fmla="*/ 50 w 1287"/>
                  <a:gd name="T93" fmla="*/ 393 h 1287"/>
                  <a:gd name="T94" fmla="*/ 7 w 1287"/>
                  <a:gd name="T95" fmla="*/ 546 h 1287"/>
                  <a:gd name="T96" fmla="*/ 3 w 1287"/>
                  <a:gd name="T97" fmla="*/ 710 h 1287"/>
                  <a:gd name="T98" fmla="*/ 39 w 1287"/>
                  <a:gd name="T99" fmla="*/ 865 h 1287"/>
                  <a:gd name="T100" fmla="*/ 109 w 1287"/>
                  <a:gd name="T101" fmla="*/ 1004 h 1287"/>
                  <a:gd name="T102" fmla="*/ 210 w 1287"/>
                  <a:gd name="T103" fmla="*/ 1119 h 1287"/>
                  <a:gd name="T104" fmla="*/ 337 w 1287"/>
                  <a:gd name="T105" fmla="*/ 1210 h 1287"/>
                  <a:gd name="T106" fmla="*/ 483 w 1287"/>
                  <a:gd name="T107" fmla="*/ 1266 h 1287"/>
                  <a:gd name="T108" fmla="*/ 643 w 1287"/>
                  <a:gd name="T109"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87" h="1287">
                    <a:moveTo>
                      <a:pt x="643" y="1287"/>
                    </a:moveTo>
                    <a:lnTo>
                      <a:pt x="677" y="1287"/>
                    </a:lnTo>
                    <a:lnTo>
                      <a:pt x="709" y="1284"/>
                    </a:lnTo>
                    <a:lnTo>
                      <a:pt x="741" y="1279"/>
                    </a:lnTo>
                    <a:lnTo>
                      <a:pt x="773" y="1274"/>
                    </a:lnTo>
                    <a:lnTo>
                      <a:pt x="804" y="1266"/>
                    </a:lnTo>
                    <a:lnTo>
                      <a:pt x="834" y="1258"/>
                    </a:lnTo>
                    <a:lnTo>
                      <a:pt x="864" y="1248"/>
                    </a:lnTo>
                    <a:lnTo>
                      <a:pt x="893" y="1236"/>
                    </a:lnTo>
                    <a:lnTo>
                      <a:pt x="922" y="1224"/>
                    </a:lnTo>
                    <a:lnTo>
                      <a:pt x="950" y="1210"/>
                    </a:lnTo>
                    <a:lnTo>
                      <a:pt x="977" y="1195"/>
                    </a:lnTo>
                    <a:lnTo>
                      <a:pt x="1003" y="1177"/>
                    </a:lnTo>
                    <a:lnTo>
                      <a:pt x="1028" y="1159"/>
                    </a:lnTo>
                    <a:lnTo>
                      <a:pt x="1053" y="1140"/>
                    </a:lnTo>
                    <a:lnTo>
                      <a:pt x="1076" y="1119"/>
                    </a:lnTo>
                    <a:lnTo>
                      <a:pt x="1098" y="1099"/>
                    </a:lnTo>
                    <a:lnTo>
                      <a:pt x="1120" y="1077"/>
                    </a:lnTo>
                    <a:lnTo>
                      <a:pt x="1140" y="1053"/>
                    </a:lnTo>
                    <a:lnTo>
                      <a:pt x="1159" y="1028"/>
                    </a:lnTo>
                    <a:lnTo>
                      <a:pt x="1177" y="1004"/>
                    </a:lnTo>
                    <a:lnTo>
                      <a:pt x="1194" y="977"/>
                    </a:lnTo>
                    <a:lnTo>
                      <a:pt x="1210" y="950"/>
                    </a:lnTo>
                    <a:lnTo>
                      <a:pt x="1224" y="922"/>
                    </a:lnTo>
                    <a:lnTo>
                      <a:pt x="1237" y="894"/>
                    </a:lnTo>
                    <a:lnTo>
                      <a:pt x="1248" y="865"/>
                    </a:lnTo>
                    <a:lnTo>
                      <a:pt x="1258" y="835"/>
                    </a:lnTo>
                    <a:lnTo>
                      <a:pt x="1267" y="804"/>
                    </a:lnTo>
                    <a:lnTo>
                      <a:pt x="1274" y="773"/>
                    </a:lnTo>
                    <a:lnTo>
                      <a:pt x="1279" y="742"/>
                    </a:lnTo>
                    <a:lnTo>
                      <a:pt x="1284" y="710"/>
                    </a:lnTo>
                    <a:lnTo>
                      <a:pt x="1286" y="677"/>
                    </a:lnTo>
                    <a:lnTo>
                      <a:pt x="1287" y="643"/>
                    </a:lnTo>
                    <a:lnTo>
                      <a:pt x="1286" y="622"/>
                    </a:lnTo>
                    <a:lnTo>
                      <a:pt x="1285" y="600"/>
                    </a:lnTo>
                    <a:lnTo>
                      <a:pt x="1283" y="577"/>
                    </a:lnTo>
                    <a:lnTo>
                      <a:pt x="1279" y="553"/>
                    </a:lnTo>
                    <a:lnTo>
                      <a:pt x="1275" y="529"/>
                    </a:lnTo>
                    <a:lnTo>
                      <a:pt x="1270" y="504"/>
                    </a:lnTo>
                    <a:lnTo>
                      <a:pt x="1263" y="479"/>
                    </a:lnTo>
                    <a:lnTo>
                      <a:pt x="1256" y="455"/>
                    </a:lnTo>
                    <a:lnTo>
                      <a:pt x="1247" y="431"/>
                    </a:lnTo>
                    <a:lnTo>
                      <a:pt x="1237" y="407"/>
                    </a:lnTo>
                    <a:lnTo>
                      <a:pt x="1226" y="385"/>
                    </a:lnTo>
                    <a:lnTo>
                      <a:pt x="1214" y="363"/>
                    </a:lnTo>
                    <a:lnTo>
                      <a:pt x="1200" y="343"/>
                    </a:lnTo>
                    <a:lnTo>
                      <a:pt x="1186" y="325"/>
                    </a:lnTo>
                    <a:lnTo>
                      <a:pt x="1179" y="316"/>
                    </a:lnTo>
                    <a:lnTo>
                      <a:pt x="1170" y="308"/>
                    </a:lnTo>
                    <a:lnTo>
                      <a:pt x="1161" y="300"/>
                    </a:lnTo>
                    <a:lnTo>
                      <a:pt x="1153" y="293"/>
                    </a:lnTo>
                    <a:lnTo>
                      <a:pt x="1150" y="294"/>
                    </a:lnTo>
                    <a:lnTo>
                      <a:pt x="1144" y="298"/>
                    </a:lnTo>
                    <a:lnTo>
                      <a:pt x="1136" y="304"/>
                    </a:lnTo>
                    <a:lnTo>
                      <a:pt x="1127" y="313"/>
                    </a:lnTo>
                    <a:lnTo>
                      <a:pt x="1111" y="328"/>
                    </a:lnTo>
                    <a:lnTo>
                      <a:pt x="1105" y="335"/>
                    </a:lnTo>
                    <a:lnTo>
                      <a:pt x="1046" y="394"/>
                    </a:lnTo>
                    <a:lnTo>
                      <a:pt x="1054" y="408"/>
                    </a:lnTo>
                    <a:lnTo>
                      <a:pt x="1062" y="422"/>
                    </a:lnTo>
                    <a:lnTo>
                      <a:pt x="1069" y="436"/>
                    </a:lnTo>
                    <a:lnTo>
                      <a:pt x="1076" y="451"/>
                    </a:lnTo>
                    <a:lnTo>
                      <a:pt x="1082" y="466"/>
                    </a:lnTo>
                    <a:lnTo>
                      <a:pt x="1087" y="481"/>
                    </a:lnTo>
                    <a:lnTo>
                      <a:pt x="1093" y="496"/>
                    </a:lnTo>
                    <a:lnTo>
                      <a:pt x="1098" y="512"/>
                    </a:lnTo>
                    <a:lnTo>
                      <a:pt x="1103" y="527"/>
                    </a:lnTo>
                    <a:lnTo>
                      <a:pt x="1106" y="544"/>
                    </a:lnTo>
                    <a:lnTo>
                      <a:pt x="1109" y="560"/>
                    </a:lnTo>
                    <a:lnTo>
                      <a:pt x="1112" y="577"/>
                    </a:lnTo>
                    <a:lnTo>
                      <a:pt x="1114" y="593"/>
                    </a:lnTo>
                    <a:lnTo>
                      <a:pt x="1115" y="610"/>
                    </a:lnTo>
                    <a:lnTo>
                      <a:pt x="1116" y="626"/>
                    </a:lnTo>
                    <a:lnTo>
                      <a:pt x="1116" y="643"/>
                    </a:lnTo>
                    <a:lnTo>
                      <a:pt x="1116" y="668"/>
                    </a:lnTo>
                    <a:lnTo>
                      <a:pt x="1114" y="692"/>
                    </a:lnTo>
                    <a:lnTo>
                      <a:pt x="1111" y="715"/>
                    </a:lnTo>
                    <a:lnTo>
                      <a:pt x="1107" y="739"/>
                    </a:lnTo>
                    <a:lnTo>
                      <a:pt x="1101" y="761"/>
                    </a:lnTo>
                    <a:lnTo>
                      <a:pt x="1095" y="784"/>
                    </a:lnTo>
                    <a:lnTo>
                      <a:pt x="1087" y="806"/>
                    </a:lnTo>
                    <a:lnTo>
                      <a:pt x="1079" y="828"/>
                    </a:lnTo>
                    <a:lnTo>
                      <a:pt x="1070" y="848"/>
                    </a:lnTo>
                    <a:lnTo>
                      <a:pt x="1060" y="869"/>
                    </a:lnTo>
                    <a:lnTo>
                      <a:pt x="1048" y="889"/>
                    </a:lnTo>
                    <a:lnTo>
                      <a:pt x="1036" y="908"/>
                    </a:lnTo>
                    <a:lnTo>
                      <a:pt x="1023" y="926"/>
                    </a:lnTo>
                    <a:lnTo>
                      <a:pt x="1008" y="945"/>
                    </a:lnTo>
                    <a:lnTo>
                      <a:pt x="994" y="962"/>
                    </a:lnTo>
                    <a:lnTo>
                      <a:pt x="978" y="978"/>
                    </a:lnTo>
                    <a:lnTo>
                      <a:pt x="962" y="994"/>
                    </a:lnTo>
                    <a:lnTo>
                      <a:pt x="945" y="1009"/>
                    </a:lnTo>
                    <a:lnTo>
                      <a:pt x="927" y="1023"/>
                    </a:lnTo>
                    <a:lnTo>
                      <a:pt x="908" y="1036"/>
                    </a:lnTo>
                    <a:lnTo>
                      <a:pt x="889" y="1049"/>
                    </a:lnTo>
                    <a:lnTo>
                      <a:pt x="869" y="1059"/>
                    </a:lnTo>
                    <a:lnTo>
                      <a:pt x="848" y="1070"/>
                    </a:lnTo>
                    <a:lnTo>
                      <a:pt x="828" y="1080"/>
                    </a:lnTo>
                    <a:lnTo>
                      <a:pt x="806" y="1088"/>
                    </a:lnTo>
                    <a:lnTo>
                      <a:pt x="784" y="1096"/>
                    </a:lnTo>
                    <a:lnTo>
                      <a:pt x="761" y="1101"/>
                    </a:lnTo>
                    <a:lnTo>
                      <a:pt x="739" y="1107"/>
                    </a:lnTo>
                    <a:lnTo>
                      <a:pt x="715" y="1111"/>
                    </a:lnTo>
                    <a:lnTo>
                      <a:pt x="692" y="1114"/>
                    </a:lnTo>
                    <a:lnTo>
                      <a:pt x="668" y="1116"/>
                    </a:lnTo>
                    <a:lnTo>
                      <a:pt x="643" y="1116"/>
                    </a:lnTo>
                    <a:lnTo>
                      <a:pt x="619" y="1116"/>
                    </a:lnTo>
                    <a:lnTo>
                      <a:pt x="595" y="1114"/>
                    </a:lnTo>
                    <a:lnTo>
                      <a:pt x="572" y="1111"/>
                    </a:lnTo>
                    <a:lnTo>
                      <a:pt x="548" y="1107"/>
                    </a:lnTo>
                    <a:lnTo>
                      <a:pt x="525" y="1101"/>
                    </a:lnTo>
                    <a:lnTo>
                      <a:pt x="503" y="1096"/>
                    </a:lnTo>
                    <a:lnTo>
                      <a:pt x="480" y="1088"/>
                    </a:lnTo>
                    <a:lnTo>
                      <a:pt x="459" y="1080"/>
                    </a:lnTo>
                    <a:lnTo>
                      <a:pt x="439" y="1070"/>
                    </a:lnTo>
                    <a:lnTo>
                      <a:pt x="418" y="1059"/>
                    </a:lnTo>
                    <a:lnTo>
                      <a:pt x="398" y="1049"/>
                    </a:lnTo>
                    <a:lnTo>
                      <a:pt x="379" y="1036"/>
                    </a:lnTo>
                    <a:lnTo>
                      <a:pt x="360" y="1023"/>
                    </a:lnTo>
                    <a:lnTo>
                      <a:pt x="342" y="1009"/>
                    </a:lnTo>
                    <a:lnTo>
                      <a:pt x="325" y="994"/>
                    </a:lnTo>
                    <a:lnTo>
                      <a:pt x="309" y="978"/>
                    </a:lnTo>
                    <a:lnTo>
                      <a:pt x="293" y="962"/>
                    </a:lnTo>
                    <a:lnTo>
                      <a:pt x="279" y="945"/>
                    </a:lnTo>
                    <a:lnTo>
                      <a:pt x="264" y="926"/>
                    </a:lnTo>
                    <a:lnTo>
                      <a:pt x="251" y="908"/>
                    </a:lnTo>
                    <a:lnTo>
                      <a:pt x="239" y="889"/>
                    </a:lnTo>
                    <a:lnTo>
                      <a:pt x="227" y="869"/>
                    </a:lnTo>
                    <a:lnTo>
                      <a:pt x="217" y="848"/>
                    </a:lnTo>
                    <a:lnTo>
                      <a:pt x="207" y="828"/>
                    </a:lnTo>
                    <a:lnTo>
                      <a:pt x="198" y="806"/>
                    </a:lnTo>
                    <a:lnTo>
                      <a:pt x="192" y="784"/>
                    </a:lnTo>
                    <a:lnTo>
                      <a:pt x="186" y="761"/>
                    </a:lnTo>
                    <a:lnTo>
                      <a:pt x="180" y="739"/>
                    </a:lnTo>
                    <a:lnTo>
                      <a:pt x="176" y="715"/>
                    </a:lnTo>
                    <a:lnTo>
                      <a:pt x="173" y="692"/>
                    </a:lnTo>
                    <a:lnTo>
                      <a:pt x="170" y="668"/>
                    </a:lnTo>
                    <a:lnTo>
                      <a:pt x="170" y="643"/>
                    </a:lnTo>
                    <a:lnTo>
                      <a:pt x="170" y="620"/>
                    </a:lnTo>
                    <a:lnTo>
                      <a:pt x="173" y="595"/>
                    </a:lnTo>
                    <a:lnTo>
                      <a:pt x="176" y="571"/>
                    </a:lnTo>
                    <a:lnTo>
                      <a:pt x="180" y="548"/>
                    </a:lnTo>
                    <a:lnTo>
                      <a:pt x="186" y="525"/>
                    </a:lnTo>
                    <a:lnTo>
                      <a:pt x="192" y="503"/>
                    </a:lnTo>
                    <a:lnTo>
                      <a:pt x="198" y="481"/>
                    </a:lnTo>
                    <a:lnTo>
                      <a:pt x="207" y="460"/>
                    </a:lnTo>
                    <a:lnTo>
                      <a:pt x="217" y="438"/>
                    </a:lnTo>
                    <a:lnTo>
                      <a:pt x="227" y="418"/>
                    </a:lnTo>
                    <a:lnTo>
                      <a:pt x="239" y="399"/>
                    </a:lnTo>
                    <a:lnTo>
                      <a:pt x="251" y="379"/>
                    </a:lnTo>
                    <a:lnTo>
                      <a:pt x="264" y="360"/>
                    </a:lnTo>
                    <a:lnTo>
                      <a:pt x="278" y="343"/>
                    </a:lnTo>
                    <a:lnTo>
                      <a:pt x="293" y="326"/>
                    </a:lnTo>
                    <a:lnTo>
                      <a:pt x="309" y="309"/>
                    </a:lnTo>
                    <a:lnTo>
                      <a:pt x="325" y="294"/>
                    </a:lnTo>
                    <a:lnTo>
                      <a:pt x="342" y="279"/>
                    </a:lnTo>
                    <a:lnTo>
                      <a:pt x="360" y="265"/>
                    </a:lnTo>
                    <a:lnTo>
                      <a:pt x="379" y="251"/>
                    </a:lnTo>
                    <a:lnTo>
                      <a:pt x="398" y="239"/>
                    </a:lnTo>
                    <a:lnTo>
                      <a:pt x="418" y="227"/>
                    </a:lnTo>
                    <a:lnTo>
                      <a:pt x="439" y="218"/>
                    </a:lnTo>
                    <a:lnTo>
                      <a:pt x="459" y="208"/>
                    </a:lnTo>
                    <a:lnTo>
                      <a:pt x="480" y="199"/>
                    </a:lnTo>
                    <a:lnTo>
                      <a:pt x="503" y="192"/>
                    </a:lnTo>
                    <a:lnTo>
                      <a:pt x="525" y="185"/>
                    </a:lnTo>
                    <a:lnTo>
                      <a:pt x="548" y="180"/>
                    </a:lnTo>
                    <a:lnTo>
                      <a:pt x="572" y="176"/>
                    </a:lnTo>
                    <a:lnTo>
                      <a:pt x="595" y="172"/>
                    </a:lnTo>
                    <a:lnTo>
                      <a:pt x="619" y="171"/>
                    </a:lnTo>
                    <a:lnTo>
                      <a:pt x="643" y="170"/>
                    </a:lnTo>
                    <a:lnTo>
                      <a:pt x="661" y="170"/>
                    </a:lnTo>
                    <a:lnTo>
                      <a:pt x="678" y="171"/>
                    </a:lnTo>
                    <a:lnTo>
                      <a:pt x="694" y="174"/>
                    </a:lnTo>
                    <a:lnTo>
                      <a:pt x="711" y="176"/>
                    </a:lnTo>
                    <a:lnTo>
                      <a:pt x="727" y="178"/>
                    </a:lnTo>
                    <a:lnTo>
                      <a:pt x="743" y="181"/>
                    </a:lnTo>
                    <a:lnTo>
                      <a:pt x="759" y="184"/>
                    </a:lnTo>
                    <a:lnTo>
                      <a:pt x="775" y="189"/>
                    </a:lnTo>
                    <a:lnTo>
                      <a:pt x="790" y="194"/>
                    </a:lnTo>
                    <a:lnTo>
                      <a:pt x="806" y="199"/>
                    </a:lnTo>
                    <a:lnTo>
                      <a:pt x="822" y="205"/>
                    </a:lnTo>
                    <a:lnTo>
                      <a:pt x="835" y="211"/>
                    </a:lnTo>
                    <a:lnTo>
                      <a:pt x="850" y="219"/>
                    </a:lnTo>
                    <a:lnTo>
                      <a:pt x="864" y="225"/>
                    </a:lnTo>
                    <a:lnTo>
                      <a:pt x="878" y="234"/>
                    </a:lnTo>
                    <a:lnTo>
                      <a:pt x="892" y="241"/>
                    </a:lnTo>
                    <a:lnTo>
                      <a:pt x="946" y="189"/>
                    </a:lnTo>
                    <a:lnTo>
                      <a:pt x="954" y="179"/>
                    </a:lnTo>
                    <a:lnTo>
                      <a:pt x="974" y="160"/>
                    </a:lnTo>
                    <a:lnTo>
                      <a:pt x="983" y="149"/>
                    </a:lnTo>
                    <a:lnTo>
                      <a:pt x="991" y="139"/>
                    </a:lnTo>
                    <a:lnTo>
                      <a:pt x="994" y="136"/>
                    </a:lnTo>
                    <a:lnTo>
                      <a:pt x="996" y="132"/>
                    </a:lnTo>
                    <a:lnTo>
                      <a:pt x="997" y="130"/>
                    </a:lnTo>
                    <a:lnTo>
                      <a:pt x="997" y="128"/>
                    </a:lnTo>
                    <a:lnTo>
                      <a:pt x="976" y="109"/>
                    </a:lnTo>
                    <a:lnTo>
                      <a:pt x="954" y="91"/>
                    </a:lnTo>
                    <a:lnTo>
                      <a:pt x="932" y="76"/>
                    </a:lnTo>
                    <a:lnTo>
                      <a:pt x="911" y="62"/>
                    </a:lnTo>
                    <a:lnTo>
                      <a:pt x="888" y="50"/>
                    </a:lnTo>
                    <a:lnTo>
                      <a:pt x="864" y="39"/>
                    </a:lnTo>
                    <a:lnTo>
                      <a:pt x="842" y="31"/>
                    </a:lnTo>
                    <a:lnTo>
                      <a:pt x="818" y="23"/>
                    </a:lnTo>
                    <a:lnTo>
                      <a:pt x="796" y="17"/>
                    </a:lnTo>
                    <a:lnTo>
                      <a:pt x="773" y="12"/>
                    </a:lnTo>
                    <a:lnTo>
                      <a:pt x="751" y="7"/>
                    </a:lnTo>
                    <a:lnTo>
                      <a:pt x="728" y="5"/>
                    </a:lnTo>
                    <a:lnTo>
                      <a:pt x="706" y="2"/>
                    </a:lnTo>
                    <a:lnTo>
                      <a:pt x="684" y="1"/>
                    </a:lnTo>
                    <a:lnTo>
                      <a:pt x="664" y="0"/>
                    </a:lnTo>
                    <a:lnTo>
                      <a:pt x="643" y="0"/>
                    </a:lnTo>
                    <a:lnTo>
                      <a:pt x="610" y="1"/>
                    </a:lnTo>
                    <a:lnTo>
                      <a:pt x="577" y="3"/>
                    </a:lnTo>
                    <a:lnTo>
                      <a:pt x="545" y="7"/>
                    </a:lnTo>
                    <a:lnTo>
                      <a:pt x="514" y="13"/>
                    </a:lnTo>
                    <a:lnTo>
                      <a:pt x="483" y="20"/>
                    </a:lnTo>
                    <a:lnTo>
                      <a:pt x="451" y="29"/>
                    </a:lnTo>
                    <a:lnTo>
                      <a:pt x="421" y="39"/>
                    </a:lnTo>
                    <a:lnTo>
                      <a:pt x="393" y="50"/>
                    </a:lnTo>
                    <a:lnTo>
                      <a:pt x="365" y="63"/>
                    </a:lnTo>
                    <a:lnTo>
                      <a:pt x="337" y="78"/>
                    </a:lnTo>
                    <a:lnTo>
                      <a:pt x="310" y="93"/>
                    </a:lnTo>
                    <a:lnTo>
                      <a:pt x="283" y="110"/>
                    </a:lnTo>
                    <a:lnTo>
                      <a:pt x="258" y="127"/>
                    </a:lnTo>
                    <a:lnTo>
                      <a:pt x="234" y="147"/>
                    </a:lnTo>
                    <a:lnTo>
                      <a:pt x="210" y="167"/>
                    </a:lnTo>
                    <a:lnTo>
                      <a:pt x="189" y="189"/>
                    </a:lnTo>
                    <a:lnTo>
                      <a:pt x="167" y="211"/>
                    </a:lnTo>
                    <a:lnTo>
                      <a:pt x="147" y="234"/>
                    </a:lnTo>
                    <a:lnTo>
                      <a:pt x="128" y="258"/>
                    </a:lnTo>
                    <a:lnTo>
                      <a:pt x="109" y="284"/>
                    </a:lnTo>
                    <a:lnTo>
                      <a:pt x="93" y="310"/>
                    </a:lnTo>
                    <a:lnTo>
                      <a:pt x="77" y="337"/>
                    </a:lnTo>
                    <a:lnTo>
                      <a:pt x="63" y="364"/>
                    </a:lnTo>
                    <a:lnTo>
                      <a:pt x="50" y="393"/>
                    </a:lnTo>
                    <a:lnTo>
                      <a:pt x="39" y="422"/>
                    </a:lnTo>
                    <a:lnTo>
                      <a:pt x="29" y="452"/>
                    </a:lnTo>
                    <a:lnTo>
                      <a:pt x="20" y="482"/>
                    </a:lnTo>
                    <a:lnTo>
                      <a:pt x="13" y="514"/>
                    </a:lnTo>
                    <a:lnTo>
                      <a:pt x="7" y="546"/>
                    </a:lnTo>
                    <a:lnTo>
                      <a:pt x="3" y="578"/>
                    </a:lnTo>
                    <a:lnTo>
                      <a:pt x="0" y="610"/>
                    </a:lnTo>
                    <a:lnTo>
                      <a:pt x="0" y="643"/>
                    </a:lnTo>
                    <a:lnTo>
                      <a:pt x="0" y="677"/>
                    </a:lnTo>
                    <a:lnTo>
                      <a:pt x="3" y="710"/>
                    </a:lnTo>
                    <a:lnTo>
                      <a:pt x="7" y="742"/>
                    </a:lnTo>
                    <a:lnTo>
                      <a:pt x="13" y="773"/>
                    </a:lnTo>
                    <a:lnTo>
                      <a:pt x="20" y="804"/>
                    </a:lnTo>
                    <a:lnTo>
                      <a:pt x="29" y="835"/>
                    </a:lnTo>
                    <a:lnTo>
                      <a:pt x="39" y="865"/>
                    </a:lnTo>
                    <a:lnTo>
                      <a:pt x="50" y="894"/>
                    </a:lnTo>
                    <a:lnTo>
                      <a:pt x="63" y="922"/>
                    </a:lnTo>
                    <a:lnTo>
                      <a:pt x="77" y="950"/>
                    </a:lnTo>
                    <a:lnTo>
                      <a:pt x="93" y="977"/>
                    </a:lnTo>
                    <a:lnTo>
                      <a:pt x="109" y="1004"/>
                    </a:lnTo>
                    <a:lnTo>
                      <a:pt x="128" y="1028"/>
                    </a:lnTo>
                    <a:lnTo>
                      <a:pt x="147" y="1053"/>
                    </a:lnTo>
                    <a:lnTo>
                      <a:pt x="167" y="1077"/>
                    </a:lnTo>
                    <a:lnTo>
                      <a:pt x="189" y="1099"/>
                    </a:lnTo>
                    <a:lnTo>
                      <a:pt x="210" y="1119"/>
                    </a:lnTo>
                    <a:lnTo>
                      <a:pt x="234" y="1140"/>
                    </a:lnTo>
                    <a:lnTo>
                      <a:pt x="258" y="1159"/>
                    </a:lnTo>
                    <a:lnTo>
                      <a:pt x="283" y="1177"/>
                    </a:lnTo>
                    <a:lnTo>
                      <a:pt x="310" y="1195"/>
                    </a:lnTo>
                    <a:lnTo>
                      <a:pt x="337" y="1210"/>
                    </a:lnTo>
                    <a:lnTo>
                      <a:pt x="365" y="1224"/>
                    </a:lnTo>
                    <a:lnTo>
                      <a:pt x="393" y="1236"/>
                    </a:lnTo>
                    <a:lnTo>
                      <a:pt x="423" y="1248"/>
                    </a:lnTo>
                    <a:lnTo>
                      <a:pt x="451" y="1258"/>
                    </a:lnTo>
                    <a:lnTo>
                      <a:pt x="483" y="1266"/>
                    </a:lnTo>
                    <a:lnTo>
                      <a:pt x="514" y="1274"/>
                    </a:lnTo>
                    <a:lnTo>
                      <a:pt x="545" y="1279"/>
                    </a:lnTo>
                    <a:lnTo>
                      <a:pt x="577" y="1284"/>
                    </a:lnTo>
                    <a:lnTo>
                      <a:pt x="610" y="1287"/>
                    </a:lnTo>
                    <a:lnTo>
                      <a:pt x="643" y="12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71" name="Freeform 70"/>
              <p:cNvSpPr>
                <a:spLocks/>
              </p:cNvSpPr>
              <p:nvPr/>
            </p:nvSpPr>
            <p:spPr bwMode="auto">
              <a:xfrm>
                <a:off x="3875088" y="3714750"/>
                <a:ext cx="200025" cy="201613"/>
              </a:xfrm>
              <a:custGeom>
                <a:avLst/>
                <a:gdLst>
                  <a:gd name="T0" fmla="*/ 330 w 634"/>
                  <a:gd name="T1" fmla="*/ 151 h 634"/>
                  <a:gd name="T2" fmla="*/ 435 w 634"/>
                  <a:gd name="T3" fmla="*/ 22 h 634"/>
                  <a:gd name="T4" fmla="*/ 387 w 634"/>
                  <a:gd name="T5" fmla="*/ 7 h 634"/>
                  <a:gd name="T6" fmla="*/ 335 w 634"/>
                  <a:gd name="T7" fmla="*/ 0 h 634"/>
                  <a:gd name="T8" fmla="*/ 285 w 634"/>
                  <a:gd name="T9" fmla="*/ 1 h 634"/>
                  <a:gd name="T10" fmla="*/ 238 w 634"/>
                  <a:gd name="T11" fmla="*/ 10 h 634"/>
                  <a:gd name="T12" fmla="*/ 194 w 634"/>
                  <a:gd name="T13" fmla="*/ 25 h 634"/>
                  <a:gd name="T14" fmla="*/ 153 w 634"/>
                  <a:gd name="T15" fmla="*/ 45 h 634"/>
                  <a:gd name="T16" fmla="*/ 116 w 634"/>
                  <a:gd name="T17" fmla="*/ 72 h 634"/>
                  <a:gd name="T18" fmla="*/ 83 w 634"/>
                  <a:gd name="T19" fmla="*/ 103 h 634"/>
                  <a:gd name="T20" fmla="*/ 55 w 634"/>
                  <a:gd name="T21" fmla="*/ 139 h 634"/>
                  <a:gd name="T22" fmla="*/ 32 w 634"/>
                  <a:gd name="T23" fmla="*/ 179 h 634"/>
                  <a:gd name="T24" fmla="*/ 15 w 634"/>
                  <a:gd name="T25" fmla="*/ 222 h 634"/>
                  <a:gd name="T26" fmla="*/ 4 w 634"/>
                  <a:gd name="T27" fmla="*/ 268 h 634"/>
                  <a:gd name="T28" fmla="*/ 0 w 634"/>
                  <a:gd name="T29" fmla="*/ 316 h 634"/>
                  <a:gd name="T30" fmla="*/ 4 w 634"/>
                  <a:gd name="T31" fmla="*/ 365 h 634"/>
                  <a:gd name="T32" fmla="*/ 15 w 634"/>
                  <a:gd name="T33" fmla="*/ 411 h 634"/>
                  <a:gd name="T34" fmla="*/ 32 w 634"/>
                  <a:gd name="T35" fmla="*/ 454 h 634"/>
                  <a:gd name="T36" fmla="*/ 55 w 634"/>
                  <a:gd name="T37" fmla="*/ 493 h 634"/>
                  <a:gd name="T38" fmla="*/ 83 w 634"/>
                  <a:gd name="T39" fmla="*/ 530 h 634"/>
                  <a:gd name="T40" fmla="*/ 116 w 634"/>
                  <a:gd name="T41" fmla="*/ 561 h 634"/>
                  <a:gd name="T42" fmla="*/ 153 w 634"/>
                  <a:gd name="T43" fmla="*/ 588 h 634"/>
                  <a:gd name="T44" fmla="*/ 194 w 634"/>
                  <a:gd name="T45" fmla="*/ 608 h 634"/>
                  <a:gd name="T46" fmla="*/ 238 w 634"/>
                  <a:gd name="T47" fmla="*/ 623 h 634"/>
                  <a:gd name="T48" fmla="*/ 285 w 634"/>
                  <a:gd name="T49" fmla="*/ 632 h 634"/>
                  <a:gd name="T50" fmla="*/ 334 w 634"/>
                  <a:gd name="T51" fmla="*/ 633 h 634"/>
                  <a:gd name="T52" fmla="*/ 381 w 634"/>
                  <a:gd name="T53" fmla="*/ 627 h 634"/>
                  <a:gd name="T54" fmla="*/ 426 w 634"/>
                  <a:gd name="T55" fmla="*/ 614 h 634"/>
                  <a:gd name="T56" fmla="*/ 469 w 634"/>
                  <a:gd name="T57" fmla="*/ 595 h 634"/>
                  <a:gd name="T58" fmla="*/ 507 w 634"/>
                  <a:gd name="T59" fmla="*/ 570 h 634"/>
                  <a:gd name="T60" fmla="*/ 542 w 634"/>
                  <a:gd name="T61" fmla="*/ 540 h 634"/>
                  <a:gd name="T62" fmla="*/ 572 w 634"/>
                  <a:gd name="T63" fmla="*/ 506 h 634"/>
                  <a:gd name="T64" fmla="*/ 596 w 634"/>
                  <a:gd name="T65" fmla="*/ 468 h 634"/>
                  <a:gd name="T66" fmla="*/ 615 w 634"/>
                  <a:gd name="T67" fmla="*/ 426 h 634"/>
                  <a:gd name="T68" fmla="*/ 627 w 634"/>
                  <a:gd name="T69" fmla="*/ 381 h 634"/>
                  <a:gd name="T70" fmla="*/ 634 w 634"/>
                  <a:gd name="T71" fmla="*/ 332 h 634"/>
                  <a:gd name="T72" fmla="*/ 633 w 634"/>
                  <a:gd name="T73" fmla="*/ 281 h 634"/>
                  <a:gd name="T74" fmla="*/ 622 w 634"/>
                  <a:gd name="T75" fmla="*/ 230 h 634"/>
                  <a:gd name="T76" fmla="*/ 605 w 634"/>
                  <a:gd name="T77" fmla="*/ 182 h 634"/>
                  <a:gd name="T78" fmla="*/ 484 w 634"/>
                  <a:gd name="T79" fmla="*/ 310 h 634"/>
                  <a:gd name="T80" fmla="*/ 480 w 634"/>
                  <a:gd name="T81" fmla="*/ 350 h 634"/>
                  <a:gd name="T82" fmla="*/ 463 w 634"/>
                  <a:gd name="T83" fmla="*/ 396 h 634"/>
                  <a:gd name="T84" fmla="*/ 434 w 634"/>
                  <a:gd name="T85" fmla="*/ 434 h 634"/>
                  <a:gd name="T86" fmla="*/ 397 w 634"/>
                  <a:gd name="T87" fmla="*/ 463 h 634"/>
                  <a:gd name="T88" fmla="*/ 351 w 634"/>
                  <a:gd name="T89" fmla="*/ 479 h 634"/>
                  <a:gd name="T90" fmla="*/ 300 w 634"/>
                  <a:gd name="T91" fmla="*/ 481 h 634"/>
                  <a:gd name="T92" fmla="*/ 252 w 634"/>
                  <a:gd name="T93" fmla="*/ 470 h 634"/>
                  <a:gd name="T94" fmla="*/ 211 w 634"/>
                  <a:gd name="T95" fmla="*/ 445 h 634"/>
                  <a:gd name="T96" fmla="*/ 179 w 634"/>
                  <a:gd name="T97" fmla="*/ 410 h 634"/>
                  <a:gd name="T98" fmla="*/ 159 w 634"/>
                  <a:gd name="T99" fmla="*/ 366 h 634"/>
                  <a:gd name="T100" fmla="*/ 151 w 634"/>
                  <a:gd name="T101" fmla="*/ 316 h 634"/>
                  <a:gd name="T102" fmla="*/ 159 w 634"/>
                  <a:gd name="T103" fmla="*/ 267 h 634"/>
                  <a:gd name="T104" fmla="*/ 179 w 634"/>
                  <a:gd name="T105" fmla="*/ 224 h 634"/>
                  <a:gd name="T106" fmla="*/ 211 w 634"/>
                  <a:gd name="T107" fmla="*/ 189 h 634"/>
                  <a:gd name="T108" fmla="*/ 252 w 634"/>
                  <a:gd name="T109" fmla="*/ 163 h 634"/>
                  <a:gd name="T110" fmla="*/ 300 w 634"/>
                  <a:gd name="T111" fmla="*/ 151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4" h="634">
                    <a:moveTo>
                      <a:pt x="317" y="150"/>
                    </a:moveTo>
                    <a:lnTo>
                      <a:pt x="324" y="150"/>
                    </a:lnTo>
                    <a:lnTo>
                      <a:pt x="330" y="151"/>
                    </a:lnTo>
                    <a:lnTo>
                      <a:pt x="448" y="32"/>
                    </a:lnTo>
                    <a:lnTo>
                      <a:pt x="452" y="29"/>
                    </a:lnTo>
                    <a:lnTo>
                      <a:pt x="435" y="22"/>
                    </a:lnTo>
                    <a:lnTo>
                      <a:pt x="420" y="17"/>
                    </a:lnTo>
                    <a:lnTo>
                      <a:pt x="403" y="12"/>
                    </a:lnTo>
                    <a:lnTo>
                      <a:pt x="387" y="7"/>
                    </a:lnTo>
                    <a:lnTo>
                      <a:pt x="370" y="4"/>
                    </a:lnTo>
                    <a:lnTo>
                      <a:pt x="353" y="1"/>
                    </a:lnTo>
                    <a:lnTo>
                      <a:pt x="335" y="0"/>
                    </a:lnTo>
                    <a:lnTo>
                      <a:pt x="317" y="0"/>
                    </a:lnTo>
                    <a:lnTo>
                      <a:pt x="301" y="0"/>
                    </a:lnTo>
                    <a:lnTo>
                      <a:pt x="285" y="1"/>
                    </a:lnTo>
                    <a:lnTo>
                      <a:pt x="269" y="3"/>
                    </a:lnTo>
                    <a:lnTo>
                      <a:pt x="253" y="6"/>
                    </a:lnTo>
                    <a:lnTo>
                      <a:pt x="238" y="10"/>
                    </a:lnTo>
                    <a:lnTo>
                      <a:pt x="223" y="14"/>
                    </a:lnTo>
                    <a:lnTo>
                      <a:pt x="208" y="19"/>
                    </a:lnTo>
                    <a:lnTo>
                      <a:pt x="194" y="25"/>
                    </a:lnTo>
                    <a:lnTo>
                      <a:pt x="180" y="31"/>
                    </a:lnTo>
                    <a:lnTo>
                      <a:pt x="166" y="37"/>
                    </a:lnTo>
                    <a:lnTo>
                      <a:pt x="153" y="45"/>
                    </a:lnTo>
                    <a:lnTo>
                      <a:pt x="141" y="54"/>
                    </a:lnTo>
                    <a:lnTo>
                      <a:pt x="128" y="62"/>
                    </a:lnTo>
                    <a:lnTo>
                      <a:pt x="116" y="72"/>
                    </a:lnTo>
                    <a:lnTo>
                      <a:pt x="104" y="81"/>
                    </a:lnTo>
                    <a:lnTo>
                      <a:pt x="93" y="92"/>
                    </a:lnTo>
                    <a:lnTo>
                      <a:pt x="83" y="103"/>
                    </a:lnTo>
                    <a:lnTo>
                      <a:pt x="73" y="115"/>
                    </a:lnTo>
                    <a:lnTo>
                      <a:pt x="63" y="126"/>
                    </a:lnTo>
                    <a:lnTo>
                      <a:pt x="55" y="139"/>
                    </a:lnTo>
                    <a:lnTo>
                      <a:pt x="46" y="152"/>
                    </a:lnTo>
                    <a:lnTo>
                      <a:pt x="39" y="165"/>
                    </a:lnTo>
                    <a:lnTo>
                      <a:pt x="32" y="179"/>
                    </a:lnTo>
                    <a:lnTo>
                      <a:pt x="26" y="193"/>
                    </a:lnTo>
                    <a:lnTo>
                      <a:pt x="19" y="207"/>
                    </a:lnTo>
                    <a:lnTo>
                      <a:pt x="15" y="222"/>
                    </a:lnTo>
                    <a:lnTo>
                      <a:pt x="11" y="237"/>
                    </a:lnTo>
                    <a:lnTo>
                      <a:pt x="6" y="253"/>
                    </a:lnTo>
                    <a:lnTo>
                      <a:pt x="4" y="268"/>
                    </a:lnTo>
                    <a:lnTo>
                      <a:pt x="2" y="284"/>
                    </a:lnTo>
                    <a:lnTo>
                      <a:pt x="1" y="300"/>
                    </a:lnTo>
                    <a:lnTo>
                      <a:pt x="0" y="316"/>
                    </a:lnTo>
                    <a:lnTo>
                      <a:pt x="1" y="332"/>
                    </a:lnTo>
                    <a:lnTo>
                      <a:pt x="2" y="348"/>
                    </a:lnTo>
                    <a:lnTo>
                      <a:pt x="4" y="365"/>
                    </a:lnTo>
                    <a:lnTo>
                      <a:pt x="6" y="381"/>
                    </a:lnTo>
                    <a:lnTo>
                      <a:pt x="11" y="396"/>
                    </a:lnTo>
                    <a:lnTo>
                      <a:pt x="15" y="411"/>
                    </a:lnTo>
                    <a:lnTo>
                      <a:pt x="19" y="426"/>
                    </a:lnTo>
                    <a:lnTo>
                      <a:pt x="26" y="440"/>
                    </a:lnTo>
                    <a:lnTo>
                      <a:pt x="32" y="454"/>
                    </a:lnTo>
                    <a:lnTo>
                      <a:pt x="39" y="468"/>
                    </a:lnTo>
                    <a:lnTo>
                      <a:pt x="46" y="480"/>
                    </a:lnTo>
                    <a:lnTo>
                      <a:pt x="55" y="493"/>
                    </a:lnTo>
                    <a:lnTo>
                      <a:pt x="63" y="506"/>
                    </a:lnTo>
                    <a:lnTo>
                      <a:pt x="73" y="518"/>
                    </a:lnTo>
                    <a:lnTo>
                      <a:pt x="83" y="530"/>
                    </a:lnTo>
                    <a:lnTo>
                      <a:pt x="93" y="540"/>
                    </a:lnTo>
                    <a:lnTo>
                      <a:pt x="104" y="551"/>
                    </a:lnTo>
                    <a:lnTo>
                      <a:pt x="116" y="561"/>
                    </a:lnTo>
                    <a:lnTo>
                      <a:pt x="128" y="570"/>
                    </a:lnTo>
                    <a:lnTo>
                      <a:pt x="141" y="579"/>
                    </a:lnTo>
                    <a:lnTo>
                      <a:pt x="153" y="588"/>
                    </a:lnTo>
                    <a:lnTo>
                      <a:pt x="166" y="595"/>
                    </a:lnTo>
                    <a:lnTo>
                      <a:pt x="180" y="603"/>
                    </a:lnTo>
                    <a:lnTo>
                      <a:pt x="194" y="608"/>
                    </a:lnTo>
                    <a:lnTo>
                      <a:pt x="208" y="614"/>
                    </a:lnTo>
                    <a:lnTo>
                      <a:pt x="223" y="619"/>
                    </a:lnTo>
                    <a:lnTo>
                      <a:pt x="238" y="623"/>
                    </a:lnTo>
                    <a:lnTo>
                      <a:pt x="253" y="627"/>
                    </a:lnTo>
                    <a:lnTo>
                      <a:pt x="269" y="629"/>
                    </a:lnTo>
                    <a:lnTo>
                      <a:pt x="285" y="632"/>
                    </a:lnTo>
                    <a:lnTo>
                      <a:pt x="301" y="633"/>
                    </a:lnTo>
                    <a:lnTo>
                      <a:pt x="317" y="634"/>
                    </a:lnTo>
                    <a:lnTo>
                      <a:pt x="334" y="633"/>
                    </a:lnTo>
                    <a:lnTo>
                      <a:pt x="350" y="632"/>
                    </a:lnTo>
                    <a:lnTo>
                      <a:pt x="366" y="629"/>
                    </a:lnTo>
                    <a:lnTo>
                      <a:pt x="381" y="627"/>
                    </a:lnTo>
                    <a:lnTo>
                      <a:pt x="397" y="623"/>
                    </a:lnTo>
                    <a:lnTo>
                      <a:pt x="412" y="619"/>
                    </a:lnTo>
                    <a:lnTo>
                      <a:pt x="426" y="614"/>
                    </a:lnTo>
                    <a:lnTo>
                      <a:pt x="441" y="608"/>
                    </a:lnTo>
                    <a:lnTo>
                      <a:pt x="455" y="603"/>
                    </a:lnTo>
                    <a:lnTo>
                      <a:pt x="469" y="595"/>
                    </a:lnTo>
                    <a:lnTo>
                      <a:pt x="482" y="588"/>
                    </a:lnTo>
                    <a:lnTo>
                      <a:pt x="494" y="579"/>
                    </a:lnTo>
                    <a:lnTo>
                      <a:pt x="507" y="570"/>
                    </a:lnTo>
                    <a:lnTo>
                      <a:pt x="519" y="561"/>
                    </a:lnTo>
                    <a:lnTo>
                      <a:pt x="531" y="551"/>
                    </a:lnTo>
                    <a:lnTo>
                      <a:pt x="542" y="540"/>
                    </a:lnTo>
                    <a:lnTo>
                      <a:pt x="552" y="530"/>
                    </a:lnTo>
                    <a:lnTo>
                      <a:pt x="562" y="518"/>
                    </a:lnTo>
                    <a:lnTo>
                      <a:pt x="572" y="506"/>
                    </a:lnTo>
                    <a:lnTo>
                      <a:pt x="580" y="493"/>
                    </a:lnTo>
                    <a:lnTo>
                      <a:pt x="589" y="480"/>
                    </a:lnTo>
                    <a:lnTo>
                      <a:pt x="596" y="468"/>
                    </a:lnTo>
                    <a:lnTo>
                      <a:pt x="603" y="454"/>
                    </a:lnTo>
                    <a:lnTo>
                      <a:pt x="609" y="440"/>
                    </a:lnTo>
                    <a:lnTo>
                      <a:pt x="615" y="426"/>
                    </a:lnTo>
                    <a:lnTo>
                      <a:pt x="620" y="411"/>
                    </a:lnTo>
                    <a:lnTo>
                      <a:pt x="624" y="396"/>
                    </a:lnTo>
                    <a:lnTo>
                      <a:pt x="627" y="381"/>
                    </a:lnTo>
                    <a:lnTo>
                      <a:pt x="631" y="365"/>
                    </a:lnTo>
                    <a:lnTo>
                      <a:pt x="633" y="348"/>
                    </a:lnTo>
                    <a:lnTo>
                      <a:pt x="634" y="332"/>
                    </a:lnTo>
                    <a:lnTo>
                      <a:pt x="634" y="316"/>
                    </a:lnTo>
                    <a:lnTo>
                      <a:pt x="634" y="299"/>
                    </a:lnTo>
                    <a:lnTo>
                      <a:pt x="633" y="281"/>
                    </a:lnTo>
                    <a:lnTo>
                      <a:pt x="630" y="264"/>
                    </a:lnTo>
                    <a:lnTo>
                      <a:pt x="626" y="247"/>
                    </a:lnTo>
                    <a:lnTo>
                      <a:pt x="622" y="230"/>
                    </a:lnTo>
                    <a:lnTo>
                      <a:pt x="617" y="214"/>
                    </a:lnTo>
                    <a:lnTo>
                      <a:pt x="611" y="198"/>
                    </a:lnTo>
                    <a:lnTo>
                      <a:pt x="605" y="182"/>
                    </a:lnTo>
                    <a:lnTo>
                      <a:pt x="602" y="185"/>
                    </a:lnTo>
                    <a:lnTo>
                      <a:pt x="483" y="303"/>
                    </a:lnTo>
                    <a:lnTo>
                      <a:pt x="484" y="310"/>
                    </a:lnTo>
                    <a:lnTo>
                      <a:pt x="484" y="316"/>
                    </a:lnTo>
                    <a:lnTo>
                      <a:pt x="483" y="333"/>
                    </a:lnTo>
                    <a:lnTo>
                      <a:pt x="480" y="350"/>
                    </a:lnTo>
                    <a:lnTo>
                      <a:pt x="476" y="366"/>
                    </a:lnTo>
                    <a:lnTo>
                      <a:pt x="471" y="382"/>
                    </a:lnTo>
                    <a:lnTo>
                      <a:pt x="463" y="396"/>
                    </a:lnTo>
                    <a:lnTo>
                      <a:pt x="455" y="410"/>
                    </a:lnTo>
                    <a:lnTo>
                      <a:pt x="445" y="422"/>
                    </a:lnTo>
                    <a:lnTo>
                      <a:pt x="434" y="434"/>
                    </a:lnTo>
                    <a:lnTo>
                      <a:pt x="423" y="445"/>
                    </a:lnTo>
                    <a:lnTo>
                      <a:pt x="411" y="455"/>
                    </a:lnTo>
                    <a:lnTo>
                      <a:pt x="397" y="463"/>
                    </a:lnTo>
                    <a:lnTo>
                      <a:pt x="382" y="470"/>
                    </a:lnTo>
                    <a:lnTo>
                      <a:pt x="367" y="475"/>
                    </a:lnTo>
                    <a:lnTo>
                      <a:pt x="351" y="479"/>
                    </a:lnTo>
                    <a:lnTo>
                      <a:pt x="335" y="481"/>
                    </a:lnTo>
                    <a:lnTo>
                      <a:pt x="317" y="483"/>
                    </a:lnTo>
                    <a:lnTo>
                      <a:pt x="300" y="481"/>
                    </a:lnTo>
                    <a:lnTo>
                      <a:pt x="283" y="479"/>
                    </a:lnTo>
                    <a:lnTo>
                      <a:pt x="268" y="475"/>
                    </a:lnTo>
                    <a:lnTo>
                      <a:pt x="252" y="470"/>
                    </a:lnTo>
                    <a:lnTo>
                      <a:pt x="238" y="463"/>
                    </a:lnTo>
                    <a:lnTo>
                      <a:pt x="224" y="455"/>
                    </a:lnTo>
                    <a:lnTo>
                      <a:pt x="211" y="445"/>
                    </a:lnTo>
                    <a:lnTo>
                      <a:pt x="199" y="434"/>
                    </a:lnTo>
                    <a:lnTo>
                      <a:pt x="189" y="422"/>
                    </a:lnTo>
                    <a:lnTo>
                      <a:pt x="179" y="410"/>
                    </a:lnTo>
                    <a:lnTo>
                      <a:pt x="172" y="396"/>
                    </a:lnTo>
                    <a:lnTo>
                      <a:pt x="164" y="382"/>
                    </a:lnTo>
                    <a:lnTo>
                      <a:pt x="159" y="366"/>
                    </a:lnTo>
                    <a:lnTo>
                      <a:pt x="154" y="350"/>
                    </a:lnTo>
                    <a:lnTo>
                      <a:pt x="152" y="333"/>
                    </a:lnTo>
                    <a:lnTo>
                      <a:pt x="151" y="316"/>
                    </a:lnTo>
                    <a:lnTo>
                      <a:pt x="152" y="299"/>
                    </a:lnTo>
                    <a:lnTo>
                      <a:pt x="154" y="283"/>
                    </a:lnTo>
                    <a:lnTo>
                      <a:pt x="159" y="267"/>
                    </a:lnTo>
                    <a:lnTo>
                      <a:pt x="164" y="252"/>
                    </a:lnTo>
                    <a:lnTo>
                      <a:pt x="172" y="237"/>
                    </a:lnTo>
                    <a:lnTo>
                      <a:pt x="179" y="224"/>
                    </a:lnTo>
                    <a:lnTo>
                      <a:pt x="189" y="211"/>
                    </a:lnTo>
                    <a:lnTo>
                      <a:pt x="199" y="199"/>
                    </a:lnTo>
                    <a:lnTo>
                      <a:pt x="211" y="189"/>
                    </a:lnTo>
                    <a:lnTo>
                      <a:pt x="224" y="179"/>
                    </a:lnTo>
                    <a:lnTo>
                      <a:pt x="238" y="170"/>
                    </a:lnTo>
                    <a:lnTo>
                      <a:pt x="252" y="163"/>
                    </a:lnTo>
                    <a:lnTo>
                      <a:pt x="268" y="158"/>
                    </a:lnTo>
                    <a:lnTo>
                      <a:pt x="284" y="153"/>
                    </a:lnTo>
                    <a:lnTo>
                      <a:pt x="300" y="151"/>
                    </a:lnTo>
                    <a:lnTo>
                      <a:pt x="317" y="1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72" name="Freeform 71"/>
              <p:cNvSpPr>
                <a:spLocks/>
              </p:cNvSpPr>
              <p:nvPr/>
            </p:nvSpPr>
            <p:spPr bwMode="auto">
              <a:xfrm>
                <a:off x="3994150" y="3568700"/>
                <a:ext cx="227013" cy="227013"/>
              </a:xfrm>
              <a:custGeom>
                <a:avLst/>
                <a:gdLst>
                  <a:gd name="T0" fmla="*/ 638 w 712"/>
                  <a:gd name="T1" fmla="*/ 159 h 715"/>
                  <a:gd name="T2" fmla="*/ 647 w 712"/>
                  <a:gd name="T3" fmla="*/ 147 h 715"/>
                  <a:gd name="T4" fmla="*/ 651 w 712"/>
                  <a:gd name="T5" fmla="*/ 132 h 715"/>
                  <a:gd name="T6" fmla="*/ 647 w 712"/>
                  <a:gd name="T7" fmla="*/ 115 h 715"/>
                  <a:gd name="T8" fmla="*/ 638 w 712"/>
                  <a:gd name="T9" fmla="*/ 103 h 715"/>
                  <a:gd name="T10" fmla="*/ 608 w 712"/>
                  <a:gd name="T11" fmla="*/ 73 h 715"/>
                  <a:gd name="T12" fmla="*/ 593 w 712"/>
                  <a:gd name="T13" fmla="*/ 67 h 715"/>
                  <a:gd name="T14" fmla="*/ 578 w 712"/>
                  <a:gd name="T15" fmla="*/ 67 h 715"/>
                  <a:gd name="T16" fmla="*/ 563 w 712"/>
                  <a:gd name="T17" fmla="*/ 73 h 715"/>
                  <a:gd name="T18" fmla="*/ 517 w 712"/>
                  <a:gd name="T19" fmla="*/ 118 h 715"/>
                  <a:gd name="T20" fmla="*/ 507 w 712"/>
                  <a:gd name="T21" fmla="*/ 6 h 715"/>
                  <a:gd name="T22" fmla="*/ 500 w 712"/>
                  <a:gd name="T23" fmla="*/ 0 h 715"/>
                  <a:gd name="T24" fmla="*/ 490 w 712"/>
                  <a:gd name="T25" fmla="*/ 0 h 715"/>
                  <a:gd name="T26" fmla="*/ 329 w 712"/>
                  <a:gd name="T27" fmla="*/ 161 h 715"/>
                  <a:gd name="T28" fmla="*/ 319 w 712"/>
                  <a:gd name="T29" fmla="*/ 171 h 715"/>
                  <a:gd name="T30" fmla="*/ 313 w 712"/>
                  <a:gd name="T31" fmla="*/ 185 h 715"/>
                  <a:gd name="T32" fmla="*/ 310 w 712"/>
                  <a:gd name="T33" fmla="*/ 199 h 715"/>
                  <a:gd name="T34" fmla="*/ 308 w 712"/>
                  <a:gd name="T35" fmla="*/ 214 h 715"/>
                  <a:gd name="T36" fmla="*/ 317 w 712"/>
                  <a:gd name="T37" fmla="*/ 318 h 715"/>
                  <a:gd name="T38" fmla="*/ 157 w 712"/>
                  <a:gd name="T39" fmla="*/ 477 h 715"/>
                  <a:gd name="T40" fmla="*/ 56 w 712"/>
                  <a:gd name="T41" fmla="*/ 578 h 715"/>
                  <a:gd name="T42" fmla="*/ 9 w 712"/>
                  <a:gd name="T43" fmla="*/ 627 h 715"/>
                  <a:gd name="T44" fmla="*/ 4 w 712"/>
                  <a:gd name="T45" fmla="*/ 638 h 715"/>
                  <a:gd name="T46" fmla="*/ 0 w 712"/>
                  <a:gd name="T47" fmla="*/ 679 h 715"/>
                  <a:gd name="T48" fmla="*/ 2 w 712"/>
                  <a:gd name="T49" fmla="*/ 692 h 715"/>
                  <a:gd name="T50" fmla="*/ 9 w 712"/>
                  <a:gd name="T51" fmla="*/ 704 h 715"/>
                  <a:gd name="T52" fmla="*/ 20 w 712"/>
                  <a:gd name="T53" fmla="*/ 712 h 715"/>
                  <a:gd name="T54" fmla="*/ 34 w 712"/>
                  <a:gd name="T55" fmla="*/ 715 h 715"/>
                  <a:gd name="T56" fmla="*/ 73 w 712"/>
                  <a:gd name="T57" fmla="*/ 713 h 715"/>
                  <a:gd name="T58" fmla="*/ 84 w 712"/>
                  <a:gd name="T59" fmla="*/ 711 h 715"/>
                  <a:gd name="T60" fmla="*/ 95 w 712"/>
                  <a:gd name="T61" fmla="*/ 703 h 715"/>
                  <a:gd name="T62" fmla="*/ 493 w 712"/>
                  <a:gd name="T63" fmla="*/ 402 h 715"/>
                  <a:gd name="T64" fmla="*/ 499 w 712"/>
                  <a:gd name="T65" fmla="*/ 402 h 715"/>
                  <a:gd name="T66" fmla="*/ 509 w 712"/>
                  <a:gd name="T67" fmla="*/ 402 h 715"/>
                  <a:gd name="T68" fmla="*/ 522 w 712"/>
                  <a:gd name="T69" fmla="*/ 400 h 715"/>
                  <a:gd name="T70" fmla="*/ 535 w 712"/>
                  <a:gd name="T71" fmla="*/ 394 h 715"/>
                  <a:gd name="T72" fmla="*/ 546 w 712"/>
                  <a:gd name="T73" fmla="*/ 387 h 715"/>
                  <a:gd name="T74" fmla="*/ 707 w 712"/>
                  <a:gd name="T75" fmla="*/ 225 h 715"/>
                  <a:gd name="T76" fmla="*/ 711 w 712"/>
                  <a:gd name="T77" fmla="*/ 218 h 715"/>
                  <a:gd name="T78" fmla="*/ 711 w 712"/>
                  <a:gd name="T79" fmla="*/ 211 h 715"/>
                  <a:gd name="T80" fmla="*/ 706 w 712"/>
                  <a:gd name="T81" fmla="*/ 205 h 715"/>
                  <a:gd name="T82" fmla="*/ 699 w 712"/>
                  <a:gd name="T83" fmla="*/ 202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2" h="715">
                    <a:moveTo>
                      <a:pt x="603" y="195"/>
                    </a:moveTo>
                    <a:lnTo>
                      <a:pt x="638" y="159"/>
                    </a:lnTo>
                    <a:lnTo>
                      <a:pt x="643" y="153"/>
                    </a:lnTo>
                    <a:lnTo>
                      <a:pt x="647" y="147"/>
                    </a:lnTo>
                    <a:lnTo>
                      <a:pt x="650" y="139"/>
                    </a:lnTo>
                    <a:lnTo>
                      <a:pt x="651" y="132"/>
                    </a:lnTo>
                    <a:lnTo>
                      <a:pt x="650" y="123"/>
                    </a:lnTo>
                    <a:lnTo>
                      <a:pt x="647" y="115"/>
                    </a:lnTo>
                    <a:lnTo>
                      <a:pt x="643" y="109"/>
                    </a:lnTo>
                    <a:lnTo>
                      <a:pt x="638" y="103"/>
                    </a:lnTo>
                    <a:lnTo>
                      <a:pt x="614" y="78"/>
                    </a:lnTo>
                    <a:lnTo>
                      <a:pt x="608" y="73"/>
                    </a:lnTo>
                    <a:lnTo>
                      <a:pt x="600" y="69"/>
                    </a:lnTo>
                    <a:lnTo>
                      <a:pt x="593" y="67"/>
                    </a:lnTo>
                    <a:lnTo>
                      <a:pt x="585" y="66"/>
                    </a:lnTo>
                    <a:lnTo>
                      <a:pt x="578" y="67"/>
                    </a:lnTo>
                    <a:lnTo>
                      <a:pt x="570" y="69"/>
                    </a:lnTo>
                    <a:lnTo>
                      <a:pt x="563" y="73"/>
                    </a:lnTo>
                    <a:lnTo>
                      <a:pt x="556" y="78"/>
                    </a:lnTo>
                    <a:lnTo>
                      <a:pt x="517" y="118"/>
                    </a:lnTo>
                    <a:lnTo>
                      <a:pt x="509" y="11"/>
                    </a:lnTo>
                    <a:lnTo>
                      <a:pt x="507" y="6"/>
                    </a:lnTo>
                    <a:lnTo>
                      <a:pt x="504" y="3"/>
                    </a:lnTo>
                    <a:lnTo>
                      <a:pt x="500" y="0"/>
                    </a:lnTo>
                    <a:lnTo>
                      <a:pt x="495" y="0"/>
                    </a:lnTo>
                    <a:lnTo>
                      <a:pt x="490" y="0"/>
                    </a:lnTo>
                    <a:lnTo>
                      <a:pt x="485" y="3"/>
                    </a:lnTo>
                    <a:lnTo>
                      <a:pt x="329" y="161"/>
                    </a:lnTo>
                    <a:lnTo>
                      <a:pt x="323" y="166"/>
                    </a:lnTo>
                    <a:lnTo>
                      <a:pt x="319" y="171"/>
                    </a:lnTo>
                    <a:lnTo>
                      <a:pt x="316" y="178"/>
                    </a:lnTo>
                    <a:lnTo>
                      <a:pt x="313" y="185"/>
                    </a:lnTo>
                    <a:lnTo>
                      <a:pt x="311" y="192"/>
                    </a:lnTo>
                    <a:lnTo>
                      <a:pt x="310" y="199"/>
                    </a:lnTo>
                    <a:lnTo>
                      <a:pt x="308" y="207"/>
                    </a:lnTo>
                    <a:lnTo>
                      <a:pt x="308" y="214"/>
                    </a:lnTo>
                    <a:lnTo>
                      <a:pt x="308" y="220"/>
                    </a:lnTo>
                    <a:lnTo>
                      <a:pt x="317" y="318"/>
                    </a:lnTo>
                    <a:lnTo>
                      <a:pt x="260" y="375"/>
                    </a:lnTo>
                    <a:lnTo>
                      <a:pt x="157" y="477"/>
                    </a:lnTo>
                    <a:lnTo>
                      <a:pt x="155" y="479"/>
                    </a:lnTo>
                    <a:lnTo>
                      <a:pt x="56" y="578"/>
                    </a:lnTo>
                    <a:lnTo>
                      <a:pt x="12" y="623"/>
                    </a:lnTo>
                    <a:lnTo>
                      <a:pt x="9" y="627"/>
                    </a:lnTo>
                    <a:lnTo>
                      <a:pt x="6" y="632"/>
                    </a:lnTo>
                    <a:lnTo>
                      <a:pt x="4" y="638"/>
                    </a:lnTo>
                    <a:lnTo>
                      <a:pt x="3" y="643"/>
                    </a:lnTo>
                    <a:lnTo>
                      <a:pt x="0" y="679"/>
                    </a:lnTo>
                    <a:lnTo>
                      <a:pt x="1" y="685"/>
                    </a:lnTo>
                    <a:lnTo>
                      <a:pt x="2" y="692"/>
                    </a:lnTo>
                    <a:lnTo>
                      <a:pt x="5" y="699"/>
                    </a:lnTo>
                    <a:lnTo>
                      <a:pt x="9" y="704"/>
                    </a:lnTo>
                    <a:lnTo>
                      <a:pt x="15" y="709"/>
                    </a:lnTo>
                    <a:lnTo>
                      <a:pt x="20" y="712"/>
                    </a:lnTo>
                    <a:lnTo>
                      <a:pt x="26" y="714"/>
                    </a:lnTo>
                    <a:lnTo>
                      <a:pt x="34" y="715"/>
                    </a:lnTo>
                    <a:lnTo>
                      <a:pt x="36" y="715"/>
                    </a:lnTo>
                    <a:lnTo>
                      <a:pt x="73" y="713"/>
                    </a:lnTo>
                    <a:lnTo>
                      <a:pt x="79" y="713"/>
                    </a:lnTo>
                    <a:lnTo>
                      <a:pt x="84" y="711"/>
                    </a:lnTo>
                    <a:lnTo>
                      <a:pt x="90" y="708"/>
                    </a:lnTo>
                    <a:lnTo>
                      <a:pt x="95" y="703"/>
                    </a:lnTo>
                    <a:lnTo>
                      <a:pt x="403" y="395"/>
                    </a:lnTo>
                    <a:lnTo>
                      <a:pt x="493" y="402"/>
                    </a:lnTo>
                    <a:lnTo>
                      <a:pt x="497" y="402"/>
                    </a:lnTo>
                    <a:lnTo>
                      <a:pt x="499" y="402"/>
                    </a:lnTo>
                    <a:lnTo>
                      <a:pt x="502" y="402"/>
                    </a:lnTo>
                    <a:lnTo>
                      <a:pt x="509" y="402"/>
                    </a:lnTo>
                    <a:lnTo>
                      <a:pt x="515" y="401"/>
                    </a:lnTo>
                    <a:lnTo>
                      <a:pt x="522" y="400"/>
                    </a:lnTo>
                    <a:lnTo>
                      <a:pt x="528" y="396"/>
                    </a:lnTo>
                    <a:lnTo>
                      <a:pt x="535" y="394"/>
                    </a:lnTo>
                    <a:lnTo>
                      <a:pt x="540" y="391"/>
                    </a:lnTo>
                    <a:lnTo>
                      <a:pt x="546" y="387"/>
                    </a:lnTo>
                    <a:lnTo>
                      <a:pt x="551" y="383"/>
                    </a:lnTo>
                    <a:lnTo>
                      <a:pt x="707" y="225"/>
                    </a:lnTo>
                    <a:lnTo>
                      <a:pt x="710" y="222"/>
                    </a:lnTo>
                    <a:lnTo>
                      <a:pt x="711" y="218"/>
                    </a:lnTo>
                    <a:lnTo>
                      <a:pt x="712" y="214"/>
                    </a:lnTo>
                    <a:lnTo>
                      <a:pt x="711" y="211"/>
                    </a:lnTo>
                    <a:lnTo>
                      <a:pt x="709" y="208"/>
                    </a:lnTo>
                    <a:lnTo>
                      <a:pt x="706" y="205"/>
                    </a:lnTo>
                    <a:lnTo>
                      <a:pt x="703" y="203"/>
                    </a:lnTo>
                    <a:lnTo>
                      <a:pt x="699" y="202"/>
                    </a:lnTo>
                    <a:lnTo>
                      <a:pt x="603" y="1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grpSp>
      </p:grpSp>
      <p:grpSp>
        <p:nvGrpSpPr>
          <p:cNvPr id="85" name="Group 84"/>
          <p:cNvGrpSpPr/>
          <p:nvPr/>
        </p:nvGrpSpPr>
        <p:grpSpPr>
          <a:xfrm>
            <a:off x="152400" y="1349745"/>
            <a:ext cx="5791200" cy="4419990"/>
            <a:chOff x="152400" y="1349745"/>
            <a:chExt cx="5791200" cy="4419990"/>
          </a:xfrm>
        </p:grpSpPr>
        <p:sp>
          <p:nvSpPr>
            <p:cNvPr id="5" name="Freeform 4"/>
            <p:cNvSpPr>
              <a:spLocks/>
            </p:cNvSpPr>
            <p:nvPr/>
          </p:nvSpPr>
          <p:spPr bwMode="auto">
            <a:xfrm>
              <a:off x="152400" y="1349745"/>
              <a:ext cx="762670" cy="931350"/>
            </a:xfrm>
            <a:custGeom>
              <a:avLst/>
              <a:gdLst>
                <a:gd name="T0" fmla="*/ 3380 w 3380"/>
                <a:gd name="T1" fmla="*/ 0 h 4128"/>
                <a:gd name="T2" fmla="*/ 1515 w 3380"/>
                <a:gd name="T3" fmla="*/ 4128 h 4128"/>
                <a:gd name="T4" fmla="*/ 1360 w 3380"/>
                <a:gd name="T5" fmla="*/ 4118 h 4128"/>
                <a:gd name="T6" fmla="*/ 1210 w 3380"/>
                <a:gd name="T7" fmla="*/ 4091 h 4128"/>
                <a:gd name="T8" fmla="val 14250971"/>
                <a:gd name="T9" fmla="*/ 4046 h 4128"/>
                <a:gd name="T10" fmla="*/ 926 w 3380"/>
                <a:gd name="T11" fmla="*/ 3984 h 4128"/>
                <a:gd name="T12" fmla="*/ 794 w 3380"/>
                <a:gd name="T13" fmla="*/ 3906 h 4128"/>
                <a:gd name="T14" fmla="*/ 669 w 3380"/>
                <a:gd name="T15" fmla="*/ 3815 h 4128"/>
                <a:gd name="T16" fmla="*/ 552 w 3380"/>
                <a:gd name="T17" fmla="*/ 3709 h 4128"/>
                <a:gd name="T18" fmla="*/ 445 w 3380"/>
                <a:gd name="T19" fmla="*/ 3591 h 4128"/>
                <a:gd name="T20" fmla="*/ 347 w 3380"/>
                <a:gd name="T21" fmla="*/ 3462 h 4128"/>
                <a:gd name="T22" fmla="*/ 259 w 3380"/>
                <a:gd name="T23" fmla="*/ 3321 h 4128"/>
                <a:gd name="T24" fmla="*/ 184 w 3380"/>
                <a:gd name="T25" fmla="*/ 3170 h 4128"/>
                <a:gd name="T26" fmla="*/ 119 w 3380"/>
                <a:gd name="T27" fmla="*/ 3011 h 4128"/>
                <a:gd name="T28" fmla="*/ 68 w 3380"/>
                <a:gd name="T29" fmla="*/ 2844 h 4128"/>
                <a:gd name="T30" fmla="*/ 31 w 3380"/>
                <a:gd name="T31" fmla="*/ 2669 h 4128"/>
                <a:gd name="T32" fmla="*/ 8 w 3380"/>
                <a:gd name="T33" fmla="*/ 2488 h 4128"/>
                <a:gd name="T34" fmla="*/ 0 w 3380"/>
                <a:gd name="T35" fmla="*/ 2302 h 4128"/>
                <a:gd name="T36" fmla="*/ 2 w 3380"/>
                <a:gd name="T37" fmla="*/ 1733 h 4128"/>
                <a:gd name="T38" fmla="*/ 18 w 3380"/>
                <a:gd name="T39" fmla="*/ 1549 h 4128"/>
                <a:gd name="T40" fmla="*/ 48 w 3380"/>
                <a:gd name="T41" fmla="*/ 1371 h 4128"/>
                <a:gd name="T42" fmla="*/ 92 w 3380"/>
                <a:gd name="T43" fmla="*/ 1199 h 4128"/>
                <a:gd name="T44" fmla="*/ 150 w 3380"/>
                <a:gd name="T45" fmla="*/ 1036 h 4128"/>
                <a:gd name="T46" fmla="*/ 220 w 3380"/>
                <a:gd name="T47" fmla="*/ 881 h 4128"/>
                <a:gd name="T48" fmla="*/ 302 w 3380"/>
                <a:gd name="T49" fmla="*/ 735 h 4128"/>
                <a:gd name="T50" fmla="*/ 395 w 3380"/>
                <a:gd name="T51" fmla="*/ 600 h 4128"/>
                <a:gd name="T52" fmla="*/ 498 w 3380"/>
                <a:gd name="T53" fmla="*/ 475 h 4128"/>
                <a:gd name="T54" fmla="*/ 610 w 3380"/>
                <a:gd name="T55" fmla="*/ 364 h 4128"/>
                <a:gd name="T56" fmla="*/ 730 w 3380"/>
                <a:gd name="T57" fmla="*/ 265 h 4128"/>
                <a:gd name="T58" fmla="*/ 859 w 3380"/>
                <a:gd name="T59" fmla="*/ 180 h 4128"/>
                <a:gd name="T60" fmla="*/ 995 w 3380"/>
                <a:gd name="T61" fmla="*/ 111 h 4128"/>
                <a:gd name="T62" fmla="*/ 1137 w 3380"/>
                <a:gd name="T63" fmla="*/ 58 h 4128"/>
                <a:gd name="T64" fmla="*/ 1284 w 3380"/>
                <a:gd name="T65" fmla="*/ 21 h 4128"/>
                <a:gd name="T66" fmla="*/ 1437 w 3380"/>
                <a:gd name="T67" fmla="*/ 2 h 4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80" h="4128">
                  <a:moveTo>
                    <a:pt x="1515" y="0"/>
                  </a:moveTo>
                  <a:lnTo>
                    <a:pt x="3380" y="0"/>
                  </a:lnTo>
                  <a:lnTo>
                    <a:pt x="3380" y="4128"/>
                  </a:lnTo>
                  <a:lnTo>
                    <a:pt x="1515" y="4128"/>
                  </a:lnTo>
                  <a:lnTo>
                    <a:pt x="1437" y="4126"/>
                  </a:lnTo>
                  <a:lnTo>
                    <a:pt x="1360" y="4118"/>
                  </a:lnTo>
                  <a:lnTo>
                    <a:pt x="1284" y="4107"/>
                  </a:lnTo>
                  <a:lnTo>
                    <a:pt x="1210" y="4091"/>
                  </a:lnTo>
                  <a:lnTo>
                    <a:pt x="1137" y="4070"/>
                  </a:lnTo>
                  <a:lnTo>
                    <a:pt x="1065" y="4046"/>
                  </a:lnTo>
                  <a:lnTo>
                    <a:pt x="995" y="4017"/>
                  </a:lnTo>
                  <a:lnTo>
                    <a:pt x="926" y="3984"/>
                  </a:lnTo>
                  <a:lnTo>
                    <a:pt x="859" y="3948"/>
                  </a:lnTo>
                  <a:lnTo>
                    <a:pt x="794" y="3906"/>
                  </a:lnTo>
                  <a:lnTo>
                    <a:pt x="730" y="3863"/>
                  </a:lnTo>
                  <a:lnTo>
                    <a:pt x="669" y="3815"/>
                  </a:lnTo>
                  <a:lnTo>
                    <a:pt x="610" y="3764"/>
                  </a:lnTo>
                  <a:lnTo>
                    <a:pt x="552" y="3709"/>
                  </a:lnTo>
                  <a:lnTo>
                    <a:pt x="498" y="3653"/>
                  </a:lnTo>
                  <a:lnTo>
                    <a:pt x="445" y="3591"/>
                  </a:lnTo>
                  <a:lnTo>
                    <a:pt x="395" y="3528"/>
                  </a:lnTo>
                  <a:lnTo>
                    <a:pt x="347" y="3462"/>
                  </a:lnTo>
                  <a:lnTo>
                    <a:pt x="302" y="3393"/>
                  </a:lnTo>
                  <a:lnTo>
                    <a:pt x="259" y="3321"/>
                  </a:lnTo>
                  <a:lnTo>
                    <a:pt x="220" y="3247"/>
                  </a:lnTo>
                  <a:lnTo>
                    <a:pt x="184" y="3170"/>
                  </a:lnTo>
                  <a:lnTo>
                    <a:pt x="150" y="3092"/>
                  </a:lnTo>
                  <a:lnTo>
                    <a:pt x="119" y="3011"/>
                  </a:lnTo>
                  <a:lnTo>
                    <a:pt x="92" y="2929"/>
                  </a:lnTo>
                  <a:lnTo>
                    <a:pt x="68" y="2844"/>
                  </a:lnTo>
                  <a:lnTo>
                    <a:pt x="48" y="2757"/>
                  </a:lnTo>
                  <a:lnTo>
                    <a:pt x="31" y="2669"/>
                  </a:lnTo>
                  <a:lnTo>
                    <a:pt x="18" y="2579"/>
                  </a:lnTo>
                  <a:lnTo>
                    <a:pt x="8" y="2488"/>
                  </a:lnTo>
                  <a:lnTo>
                    <a:pt x="2" y="2395"/>
                  </a:lnTo>
                  <a:lnTo>
                    <a:pt x="0" y="2302"/>
                  </a:lnTo>
                  <a:lnTo>
                    <a:pt x="0" y="1826"/>
                  </a:lnTo>
                  <a:lnTo>
                    <a:pt x="2" y="1733"/>
                  </a:lnTo>
                  <a:lnTo>
                    <a:pt x="8" y="1640"/>
                  </a:lnTo>
                  <a:lnTo>
                    <a:pt x="18" y="1549"/>
                  </a:lnTo>
                  <a:lnTo>
                    <a:pt x="31" y="1459"/>
                  </a:lnTo>
                  <a:lnTo>
                    <a:pt x="48" y="1371"/>
                  </a:lnTo>
                  <a:lnTo>
                    <a:pt x="68" y="1284"/>
                  </a:lnTo>
                  <a:lnTo>
                    <a:pt x="92" y="1199"/>
                  </a:lnTo>
                  <a:lnTo>
                    <a:pt x="119" y="1117"/>
                  </a:lnTo>
                  <a:lnTo>
                    <a:pt x="150" y="1036"/>
                  </a:lnTo>
                  <a:lnTo>
                    <a:pt x="184" y="958"/>
                  </a:lnTo>
                  <a:lnTo>
                    <a:pt x="220" y="881"/>
                  </a:lnTo>
                  <a:lnTo>
                    <a:pt x="259" y="807"/>
                  </a:lnTo>
                  <a:lnTo>
                    <a:pt x="302" y="735"/>
                  </a:lnTo>
                  <a:lnTo>
                    <a:pt x="347" y="666"/>
                  </a:lnTo>
                  <a:lnTo>
                    <a:pt x="395" y="600"/>
                  </a:lnTo>
                  <a:lnTo>
                    <a:pt x="445" y="537"/>
                  </a:lnTo>
                  <a:lnTo>
                    <a:pt x="498" y="475"/>
                  </a:lnTo>
                  <a:lnTo>
                    <a:pt x="552" y="419"/>
                  </a:lnTo>
                  <a:lnTo>
                    <a:pt x="610" y="364"/>
                  </a:lnTo>
                  <a:lnTo>
                    <a:pt x="669" y="313"/>
                  </a:lnTo>
                  <a:lnTo>
                    <a:pt x="730" y="265"/>
                  </a:lnTo>
                  <a:lnTo>
                    <a:pt x="794" y="222"/>
                  </a:lnTo>
                  <a:lnTo>
                    <a:pt x="859" y="180"/>
                  </a:lnTo>
                  <a:lnTo>
                    <a:pt x="926" y="144"/>
                  </a:lnTo>
                  <a:lnTo>
                    <a:pt x="995" y="111"/>
                  </a:lnTo>
                  <a:lnTo>
                    <a:pt x="1065" y="82"/>
                  </a:lnTo>
                  <a:lnTo>
                    <a:pt x="1137" y="58"/>
                  </a:lnTo>
                  <a:lnTo>
                    <a:pt x="1210" y="37"/>
                  </a:lnTo>
                  <a:lnTo>
                    <a:pt x="1284" y="21"/>
                  </a:lnTo>
                  <a:lnTo>
                    <a:pt x="1360" y="10"/>
                  </a:lnTo>
                  <a:lnTo>
                    <a:pt x="1437" y="2"/>
                  </a:lnTo>
                  <a:lnTo>
                    <a:pt x="1515"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6" name="Rectangle 5"/>
            <p:cNvSpPr>
              <a:spLocks noChangeArrowheads="1"/>
            </p:cNvSpPr>
            <p:nvPr/>
          </p:nvSpPr>
          <p:spPr bwMode="auto">
            <a:xfrm>
              <a:off x="915070" y="1349745"/>
              <a:ext cx="4690872" cy="931350"/>
            </a:xfrm>
            <a:prstGeom prst="rect">
              <a:avLst/>
            </a:pr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p>
          </p:txBody>
        </p:sp>
        <p:sp>
          <p:nvSpPr>
            <p:cNvPr id="7" name="Freeform 6"/>
            <p:cNvSpPr>
              <a:spLocks/>
            </p:cNvSpPr>
            <p:nvPr/>
          </p:nvSpPr>
          <p:spPr bwMode="auto">
            <a:xfrm flipV="1">
              <a:off x="5286480" y="1487871"/>
              <a:ext cx="657120" cy="655097"/>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8" name="Freeform 7"/>
            <p:cNvSpPr>
              <a:spLocks/>
            </p:cNvSpPr>
            <p:nvPr/>
          </p:nvSpPr>
          <p:spPr bwMode="auto">
            <a:xfrm>
              <a:off x="5329884" y="1531141"/>
              <a:ext cx="570309" cy="568556"/>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solidFill>
              <a:schemeClr val="accent1">
                <a:lumMod val="60000"/>
                <a:lumOff val="40000"/>
              </a:schemeClr>
            </a:solidFill>
            <a:ln>
              <a:noFill/>
            </a:ln>
            <a:effectLst>
              <a:outerShdw blurRad="50800" dist="38100" dir="3060000" algn="tl" rotWithShape="0">
                <a:prstClr val="black">
                  <a:alpha val="2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9" name="TextBox 20"/>
            <p:cNvSpPr txBox="1"/>
            <p:nvPr/>
          </p:nvSpPr>
          <p:spPr>
            <a:xfrm>
              <a:off x="5371494" y="1579605"/>
              <a:ext cx="501686" cy="461665"/>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2400" b="1" dirty="0">
                  <a:latin typeface="Calibri" panose="020F0502020204030204"/>
                </a:rPr>
                <a:t>01</a:t>
              </a:r>
            </a:p>
          </p:txBody>
        </p:sp>
        <p:sp>
          <p:nvSpPr>
            <p:cNvPr id="11" name="Freeform 10"/>
            <p:cNvSpPr>
              <a:spLocks/>
            </p:cNvSpPr>
            <p:nvPr/>
          </p:nvSpPr>
          <p:spPr bwMode="auto">
            <a:xfrm>
              <a:off x="369970" y="1627209"/>
              <a:ext cx="389103" cy="387325"/>
            </a:xfrm>
            <a:custGeom>
              <a:avLst/>
              <a:gdLst>
                <a:gd name="T0" fmla="*/ 773 w 1287"/>
                <a:gd name="T1" fmla="*/ 1274 h 1287"/>
                <a:gd name="T2" fmla="*/ 922 w 1287"/>
                <a:gd name="T3" fmla="*/ 1224 h 1287"/>
                <a:gd name="T4" fmla="*/ 1053 w 1287"/>
                <a:gd name="T5" fmla="*/ 1140 h 1287"/>
                <a:gd name="T6" fmla="*/ 1159 w 1287"/>
                <a:gd name="T7" fmla="*/ 1028 h 1287"/>
                <a:gd name="T8" fmla="*/ 1237 w 1287"/>
                <a:gd name="T9" fmla="*/ 894 h 1287"/>
                <a:gd name="T10" fmla="*/ 1279 w 1287"/>
                <a:gd name="T11" fmla="*/ 742 h 1287"/>
                <a:gd name="T12" fmla="*/ 1285 w 1287"/>
                <a:gd name="T13" fmla="*/ 600 h 1287"/>
                <a:gd name="T14" fmla="*/ 1263 w 1287"/>
                <a:gd name="T15" fmla="*/ 479 h 1287"/>
                <a:gd name="T16" fmla="*/ 1214 w 1287"/>
                <a:gd name="T17" fmla="*/ 363 h 1287"/>
                <a:gd name="T18" fmla="*/ 1161 w 1287"/>
                <a:gd name="T19" fmla="*/ 300 h 1287"/>
                <a:gd name="T20" fmla="*/ 1127 w 1287"/>
                <a:gd name="T21" fmla="*/ 313 h 1287"/>
                <a:gd name="T22" fmla="*/ 1062 w 1287"/>
                <a:gd name="T23" fmla="*/ 422 h 1287"/>
                <a:gd name="T24" fmla="*/ 1093 w 1287"/>
                <a:gd name="T25" fmla="*/ 496 h 1287"/>
                <a:gd name="T26" fmla="*/ 1112 w 1287"/>
                <a:gd name="T27" fmla="*/ 577 h 1287"/>
                <a:gd name="T28" fmla="*/ 1116 w 1287"/>
                <a:gd name="T29" fmla="*/ 668 h 1287"/>
                <a:gd name="T30" fmla="*/ 1095 w 1287"/>
                <a:gd name="T31" fmla="*/ 784 h 1287"/>
                <a:gd name="T32" fmla="*/ 1048 w 1287"/>
                <a:gd name="T33" fmla="*/ 889 h 1287"/>
                <a:gd name="T34" fmla="*/ 978 w 1287"/>
                <a:gd name="T35" fmla="*/ 978 h 1287"/>
                <a:gd name="T36" fmla="*/ 889 w 1287"/>
                <a:gd name="T37" fmla="*/ 1049 h 1287"/>
                <a:gd name="T38" fmla="*/ 784 w 1287"/>
                <a:gd name="T39" fmla="*/ 1096 h 1287"/>
                <a:gd name="T40" fmla="*/ 668 w 1287"/>
                <a:gd name="T41" fmla="*/ 1116 h 1287"/>
                <a:gd name="T42" fmla="*/ 548 w 1287"/>
                <a:gd name="T43" fmla="*/ 1107 h 1287"/>
                <a:gd name="T44" fmla="*/ 439 w 1287"/>
                <a:gd name="T45" fmla="*/ 1070 h 1287"/>
                <a:gd name="T46" fmla="*/ 342 w 1287"/>
                <a:gd name="T47" fmla="*/ 1009 h 1287"/>
                <a:gd name="T48" fmla="*/ 264 w 1287"/>
                <a:gd name="T49" fmla="*/ 926 h 1287"/>
                <a:gd name="T50" fmla="*/ 207 w 1287"/>
                <a:gd name="T51" fmla="*/ 828 h 1287"/>
                <a:gd name="T52" fmla="*/ 176 w 1287"/>
                <a:gd name="T53" fmla="*/ 715 h 1287"/>
                <a:gd name="T54" fmla="*/ 173 w 1287"/>
                <a:gd name="T55" fmla="*/ 595 h 1287"/>
                <a:gd name="T56" fmla="*/ 198 w 1287"/>
                <a:gd name="T57" fmla="*/ 481 h 1287"/>
                <a:gd name="T58" fmla="*/ 251 w 1287"/>
                <a:gd name="T59" fmla="*/ 379 h 1287"/>
                <a:gd name="T60" fmla="*/ 325 w 1287"/>
                <a:gd name="T61" fmla="*/ 294 h 1287"/>
                <a:gd name="T62" fmla="*/ 418 w 1287"/>
                <a:gd name="T63" fmla="*/ 227 h 1287"/>
                <a:gd name="T64" fmla="*/ 525 w 1287"/>
                <a:gd name="T65" fmla="*/ 185 h 1287"/>
                <a:gd name="T66" fmla="*/ 643 w 1287"/>
                <a:gd name="T67" fmla="*/ 170 h 1287"/>
                <a:gd name="T68" fmla="*/ 727 w 1287"/>
                <a:gd name="T69" fmla="*/ 178 h 1287"/>
                <a:gd name="T70" fmla="*/ 806 w 1287"/>
                <a:gd name="T71" fmla="*/ 199 h 1287"/>
                <a:gd name="T72" fmla="*/ 878 w 1287"/>
                <a:gd name="T73" fmla="*/ 234 h 1287"/>
                <a:gd name="T74" fmla="*/ 983 w 1287"/>
                <a:gd name="T75" fmla="*/ 149 h 1287"/>
                <a:gd name="T76" fmla="*/ 997 w 1287"/>
                <a:gd name="T77" fmla="*/ 128 h 1287"/>
                <a:gd name="T78" fmla="*/ 888 w 1287"/>
                <a:gd name="T79" fmla="*/ 50 h 1287"/>
                <a:gd name="T80" fmla="*/ 773 w 1287"/>
                <a:gd name="T81" fmla="*/ 12 h 1287"/>
                <a:gd name="T82" fmla="*/ 664 w 1287"/>
                <a:gd name="T83" fmla="*/ 0 h 1287"/>
                <a:gd name="T84" fmla="*/ 514 w 1287"/>
                <a:gd name="T85" fmla="*/ 13 h 1287"/>
                <a:gd name="T86" fmla="*/ 365 w 1287"/>
                <a:gd name="T87" fmla="*/ 63 h 1287"/>
                <a:gd name="T88" fmla="*/ 234 w 1287"/>
                <a:gd name="T89" fmla="*/ 147 h 1287"/>
                <a:gd name="T90" fmla="*/ 128 w 1287"/>
                <a:gd name="T91" fmla="*/ 258 h 1287"/>
                <a:gd name="T92" fmla="*/ 50 w 1287"/>
                <a:gd name="T93" fmla="*/ 393 h 1287"/>
                <a:gd name="T94" fmla="*/ 7 w 1287"/>
                <a:gd name="T95" fmla="*/ 546 h 1287"/>
                <a:gd name="T96" fmla="*/ 3 w 1287"/>
                <a:gd name="T97" fmla="*/ 710 h 1287"/>
                <a:gd name="T98" fmla="*/ 39 w 1287"/>
                <a:gd name="T99" fmla="*/ 865 h 1287"/>
                <a:gd name="T100" fmla="*/ 109 w 1287"/>
                <a:gd name="T101" fmla="*/ 1004 h 1287"/>
                <a:gd name="T102" fmla="*/ 210 w 1287"/>
                <a:gd name="T103" fmla="*/ 1119 h 1287"/>
                <a:gd name="T104" fmla="*/ 337 w 1287"/>
                <a:gd name="T105" fmla="*/ 1210 h 1287"/>
                <a:gd name="T106" fmla="*/ 483 w 1287"/>
                <a:gd name="T107" fmla="*/ 1266 h 1287"/>
                <a:gd name="T108" fmla="*/ 643 w 1287"/>
                <a:gd name="T109"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87" h="1287">
                  <a:moveTo>
                    <a:pt x="643" y="1287"/>
                  </a:moveTo>
                  <a:lnTo>
                    <a:pt x="677" y="1287"/>
                  </a:lnTo>
                  <a:lnTo>
                    <a:pt x="709" y="1284"/>
                  </a:lnTo>
                  <a:lnTo>
                    <a:pt x="741" y="1279"/>
                  </a:lnTo>
                  <a:lnTo>
                    <a:pt x="773" y="1274"/>
                  </a:lnTo>
                  <a:lnTo>
                    <a:pt x="804" y="1266"/>
                  </a:lnTo>
                  <a:lnTo>
                    <a:pt x="834" y="1258"/>
                  </a:lnTo>
                  <a:lnTo>
                    <a:pt x="864" y="1248"/>
                  </a:lnTo>
                  <a:lnTo>
                    <a:pt x="893" y="1236"/>
                  </a:lnTo>
                  <a:lnTo>
                    <a:pt x="922" y="1224"/>
                  </a:lnTo>
                  <a:lnTo>
                    <a:pt x="950" y="1210"/>
                  </a:lnTo>
                  <a:lnTo>
                    <a:pt x="977" y="1195"/>
                  </a:lnTo>
                  <a:lnTo>
                    <a:pt x="1003" y="1177"/>
                  </a:lnTo>
                  <a:lnTo>
                    <a:pt x="1028" y="1159"/>
                  </a:lnTo>
                  <a:lnTo>
                    <a:pt x="1053" y="1140"/>
                  </a:lnTo>
                  <a:lnTo>
                    <a:pt x="1076" y="1119"/>
                  </a:lnTo>
                  <a:lnTo>
                    <a:pt x="1098" y="1099"/>
                  </a:lnTo>
                  <a:lnTo>
                    <a:pt x="1120" y="1077"/>
                  </a:lnTo>
                  <a:lnTo>
                    <a:pt x="1140" y="1053"/>
                  </a:lnTo>
                  <a:lnTo>
                    <a:pt x="1159" y="1028"/>
                  </a:lnTo>
                  <a:lnTo>
                    <a:pt x="1177" y="1004"/>
                  </a:lnTo>
                  <a:lnTo>
                    <a:pt x="1194" y="977"/>
                  </a:lnTo>
                  <a:lnTo>
                    <a:pt x="1210" y="950"/>
                  </a:lnTo>
                  <a:lnTo>
                    <a:pt x="1224" y="922"/>
                  </a:lnTo>
                  <a:lnTo>
                    <a:pt x="1237" y="894"/>
                  </a:lnTo>
                  <a:lnTo>
                    <a:pt x="1248" y="865"/>
                  </a:lnTo>
                  <a:lnTo>
                    <a:pt x="1258" y="835"/>
                  </a:lnTo>
                  <a:lnTo>
                    <a:pt x="1267" y="804"/>
                  </a:lnTo>
                  <a:lnTo>
                    <a:pt x="1274" y="773"/>
                  </a:lnTo>
                  <a:lnTo>
                    <a:pt x="1279" y="742"/>
                  </a:lnTo>
                  <a:lnTo>
                    <a:pt x="1284" y="710"/>
                  </a:lnTo>
                  <a:lnTo>
                    <a:pt x="1286" y="677"/>
                  </a:lnTo>
                  <a:lnTo>
                    <a:pt x="1287" y="643"/>
                  </a:lnTo>
                  <a:lnTo>
                    <a:pt x="1286" y="622"/>
                  </a:lnTo>
                  <a:lnTo>
                    <a:pt x="1285" y="600"/>
                  </a:lnTo>
                  <a:lnTo>
                    <a:pt x="1283" y="577"/>
                  </a:lnTo>
                  <a:lnTo>
                    <a:pt x="1279" y="553"/>
                  </a:lnTo>
                  <a:lnTo>
                    <a:pt x="1275" y="529"/>
                  </a:lnTo>
                  <a:lnTo>
                    <a:pt x="1270" y="504"/>
                  </a:lnTo>
                  <a:lnTo>
                    <a:pt x="1263" y="479"/>
                  </a:lnTo>
                  <a:lnTo>
                    <a:pt x="1256" y="455"/>
                  </a:lnTo>
                  <a:lnTo>
                    <a:pt x="1247" y="431"/>
                  </a:lnTo>
                  <a:lnTo>
                    <a:pt x="1237" y="407"/>
                  </a:lnTo>
                  <a:lnTo>
                    <a:pt x="1226" y="385"/>
                  </a:lnTo>
                  <a:lnTo>
                    <a:pt x="1214" y="363"/>
                  </a:lnTo>
                  <a:lnTo>
                    <a:pt x="1200" y="343"/>
                  </a:lnTo>
                  <a:lnTo>
                    <a:pt x="1186" y="325"/>
                  </a:lnTo>
                  <a:lnTo>
                    <a:pt x="1179" y="316"/>
                  </a:lnTo>
                  <a:lnTo>
                    <a:pt x="1170" y="308"/>
                  </a:lnTo>
                  <a:lnTo>
                    <a:pt x="1161" y="300"/>
                  </a:lnTo>
                  <a:lnTo>
                    <a:pt x="1153" y="293"/>
                  </a:lnTo>
                  <a:lnTo>
                    <a:pt x="1150" y="294"/>
                  </a:lnTo>
                  <a:lnTo>
                    <a:pt x="1144" y="298"/>
                  </a:lnTo>
                  <a:lnTo>
                    <a:pt x="1136" y="304"/>
                  </a:lnTo>
                  <a:lnTo>
                    <a:pt x="1127" y="313"/>
                  </a:lnTo>
                  <a:lnTo>
                    <a:pt x="1111" y="328"/>
                  </a:lnTo>
                  <a:lnTo>
                    <a:pt x="1105" y="335"/>
                  </a:lnTo>
                  <a:lnTo>
                    <a:pt x="1046" y="394"/>
                  </a:lnTo>
                  <a:lnTo>
                    <a:pt x="1054" y="408"/>
                  </a:lnTo>
                  <a:lnTo>
                    <a:pt x="1062" y="422"/>
                  </a:lnTo>
                  <a:lnTo>
                    <a:pt x="1069" y="436"/>
                  </a:lnTo>
                  <a:lnTo>
                    <a:pt x="1076" y="451"/>
                  </a:lnTo>
                  <a:lnTo>
                    <a:pt x="1082" y="466"/>
                  </a:lnTo>
                  <a:lnTo>
                    <a:pt x="1087" y="481"/>
                  </a:lnTo>
                  <a:lnTo>
                    <a:pt x="1093" y="496"/>
                  </a:lnTo>
                  <a:lnTo>
                    <a:pt x="1098" y="512"/>
                  </a:lnTo>
                  <a:lnTo>
                    <a:pt x="1103" y="527"/>
                  </a:lnTo>
                  <a:lnTo>
                    <a:pt x="1106" y="544"/>
                  </a:lnTo>
                  <a:lnTo>
                    <a:pt x="1109" y="560"/>
                  </a:lnTo>
                  <a:lnTo>
                    <a:pt x="1112" y="577"/>
                  </a:lnTo>
                  <a:lnTo>
                    <a:pt x="1114" y="593"/>
                  </a:lnTo>
                  <a:lnTo>
                    <a:pt x="1115" y="610"/>
                  </a:lnTo>
                  <a:lnTo>
                    <a:pt x="1116" y="626"/>
                  </a:lnTo>
                  <a:lnTo>
                    <a:pt x="1116" y="643"/>
                  </a:lnTo>
                  <a:lnTo>
                    <a:pt x="1116" y="668"/>
                  </a:lnTo>
                  <a:lnTo>
                    <a:pt x="1114" y="692"/>
                  </a:lnTo>
                  <a:lnTo>
                    <a:pt x="1111" y="715"/>
                  </a:lnTo>
                  <a:lnTo>
                    <a:pt x="1107" y="739"/>
                  </a:lnTo>
                  <a:lnTo>
                    <a:pt x="1101" y="761"/>
                  </a:lnTo>
                  <a:lnTo>
                    <a:pt x="1095" y="784"/>
                  </a:lnTo>
                  <a:lnTo>
                    <a:pt x="1087" y="806"/>
                  </a:lnTo>
                  <a:lnTo>
                    <a:pt x="1079" y="828"/>
                  </a:lnTo>
                  <a:lnTo>
                    <a:pt x="1070" y="848"/>
                  </a:lnTo>
                  <a:lnTo>
                    <a:pt x="1060" y="869"/>
                  </a:lnTo>
                  <a:lnTo>
                    <a:pt x="1048" y="889"/>
                  </a:lnTo>
                  <a:lnTo>
                    <a:pt x="1036" y="908"/>
                  </a:lnTo>
                  <a:lnTo>
                    <a:pt x="1023" y="926"/>
                  </a:lnTo>
                  <a:lnTo>
                    <a:pt x="1008" y="945"/>
                  </a:lnTo>
                  <a:lnTo>
                    <a:pt x="994" y="962"/>
                  </a:lnTo>
                  <a:lnTo>
                    <a:pt x="978" y="978"/>
                  </a:lnTo>
                  <a:lnTo>
                    <a:pt x="962" y="994"/>
                  </a:lnTo>
                  <a:lnTo>
                    <a:pt x="945" y="1009"/>
                  </a:lnTo>
                  <a:lnTo>
                    <a:pt x="927" y="1023"/>
                  </a:lnTo>
                  <a:lnTo>
                    <a:pt x="908" y="1036"/>
                  </a:lnTo>
                  <a:lnTo>
                    <a:pt x="889" y="1049"/>
                  </a:lnTo>
                  <a:lnTo>
                    <a:pt x="869" y="1059"/>
                  </a:lnTo>
                  <a:lnTo>
                    <a:pt x="848" y="1070"/>
                  </a:lnTo>
                  <a:lnTo>
                    <a:pt x="828" y="1080"/>
                  </a:lnTo>
                  <a:lnTo>
                    <a:pt x="806" y="1088"/>
                  </a:lnTo>
                  <a:lnTo>
                    <a:pt x="784" y="1096"/>
                  </a:lnTo>
                  <a:lnTo>
                    <a:pt x="761" y="1101"/>
                  </a:lnTo>
                  <a:lnTo>
                    <a:pt x="739" y="1107"/>
                  </a:lnTo>
                  <a:lnTo>
                    <a:pt x="715" y="1111"/>
                  </a:lnTo>
                  <a:lnTo>
                    <a:pt x="692" y="1114"/>
                  </a:lnTo>
                  <a:lnTo>
                    <a:pt x="668" y="1116"/>
                  </a:lnTo>
                  <a:lnTo>
                    <a:pt x="643" y="1116"/>
                  </a:lnTo>
                  <a:lnTo>
                    <a:pt x="619" y="1116"/>
                  </a:lnTo>
                  <a:lnTo>
                    <a:pt x="595" y="1114"/>
                  </a:lnTo>
                  <a:lnTo>
                    <a:pt x="572" y="1111"/>
                  </a:lnTo>
                  <a:lnTo>
                    <a:pt x="548" y="1107"/>
                  </a:lnTo>
                  <a:lnTo>
                    <a:pt x="525" y="1101"/>
                  </a:lnTo>
                  <a:lnTo>
                    <a:pt x="503" y="1096"/>
                  </a:lnTo>
                  <a:lnTo>
                    <a:pt x="480" y="1088"/>
                  </a:lnTo>
                  <a:lnTo>
                    <a:pt x="459" y="1080"/>
                  </a:lnTo>
                  <a:lnTo>
                    <a:pt x="439" y="1070"/>
                  </a:lnTo>
                  <a:lnTo>
                    <a:pt x="418" y="1059"/>
                  </a:lnTo>
                  <a:lnTo>
                    <a:pt x="398" y="1049"/>
                  </a:lnTo>
                  <a:lnTo>
                    <a:pt x="379" y="1036"/>
                  </a:lnTo>
                  <a:lnTo>
                    <a:pt x="360" y="1023"/>
                  </a:lnTo>
                  <a:lnTo>
                    <a:pt x="342" y="1009"/>
                  </a:lnTo>
                  <a:lnTo>
                    <a:pt x="325" y="994"/>
                  </a:lnTo>
                  <a:lnTo>
                    <a:pt x="309" y="978"/>
                  </a:lnTo>
                  <a:lnTo>
                    <a:pt x="293" y="962"/>
                  </a:lnTo>
                  <a:lnTo>
                    <a:pt x="279" y="945"/>
                  </a:lnTo>
                  <a:lnTo>
                    <a:pt x="264" y="926"/>
                  </a:lnTo>
                  <a:lnTo>
                    <a:pt x="251" y="908"/>
                  </a:lnTo>
                  <a:lnTo>
                    <a:pt x="239" y="889"/>
                  </a:lnTo>
                  <a:lnTo>
                    <a:pt x="227" y="869"/>
                  </a:lnTo>
                  <a:lnTo>
                    <a:pt x="217" y="848"/>
                  </a:lnTo>
                  <a:lnTo>
                    <a:pt x="207" y="828"/>
                  </a:lnTo>
                  <a:lnTo>
                    <a:pt x="198" y="806"/>
                  </a:lnTo>
                  <a:lnTo>
                    <a:pt x="192" y="784"/>
                  </a:lnTo>
                  <a:lnTo>
                    <a:pt x="186" y="761"/>
                  </a:lnTo>
                  <a:lnTo>
                    <a:pt x="180" y="739"/>
                  </a:lnTo>
                  <a:lnTo>
                    <a:pt x="176" y="715"/>
                  </a:lnTo>
                  <a:lnTo>
                    <a:pt x="173" y="692"/>
                  </a:lnTo>
                  <a:lnTo>
                    <a:pt x="170" y="668"/>
                  </a:lnTo>
                  <a:lnTo>
                    <a:pt x="170" y="643"/>
                  </a:lnTo>
                  <a:lnTo>
                    <a:pt x="170" y="620"/>
                  </a:lnTo>
                  <a:lnTo>
                    <a:pt x="173" y="595"/>
                  </a:lnTo>
                  <a:lnTo>
                    <a:pt x="176" y="571"/>
                  </a:lnTo>
                  <a:lnTo>
                    <a:pt x="180" y="548"/>
                  </a:lnTo>
                  <a:lnTo>
                    <a:pt x="186" y="525"/>
                  </a:lnTo>
                  <a:lnTo>
                    <a:pt x="192" y="503"/>
                  </a:lnTo>
                  <a:lnTo>
                    <a:pt x="198" y="481"/>
                  </a:lnTo>
                  <a:lnTo>
                    <a:pt x="207" y="460"/>
                  </a:lnTo>
                  <a:lnTo>
                    <a:pt x="217" y="438"/>
                  </a:lnTo>
                  <a:lnTo>
                    <a:pt x="227" y="418"/>
                  </a:lnTo>
                  <a:lnTo>
                    <a:pt x="239" y="399"/>
                  </a:lnTo>
                  <a:lnTo>
                    <a:pt x="251" y="379"/>
                  </a:lnTo>
                  <a:lnTo>
                    <a:pt x="264" y="360"/>
                  </a:lnTo>
                  <a:lnTo>
                    <a:pt x="278" y="343"/>
                  </a:lnTo>
                  <a:lnTo>
                    <a:pt x="293" y="326"/>
                  </a:lnTo>
                  <a:lnTo>
                    <a:pt x="309" y="309"/>
                  </a:lnTo>
                  <a:lnTo>
                    <a:pt x="325" y="294"/>
                  </a:lnTo>
                  <a:lnTo>
                    <a:pt x="342" y="279"/>
                  </a:lnTo>
                  <a:lnTo>
                    <a:pt x="360" y="265"/>
                  </a:lnTo>
                  <a:lnTo>
                    <a:pt x="379" y="251"/>
                  </a:lnTo>
                  <a:lnTo>
                    <a:pt x="398" y="239"/>
                  </a:lnTo>
                  <a:lnTo>
                    <a:pt x="418" y="227"/>
                  </a:lnTo>
                  <a:lnTo>
                    <a:pt x="439" y="218"/>
                  </a:lnTo>
                  <a:lnTo>
                    <a:pt x="459" y="208"/>
                  </a:lnTo>
                  <a:lnTo>
                    <a:pt x="480" y="199"/>
                  </a:lnTo>
                  <a:lnTo>
                    <a:pt x="503" y="192"/>
                  </a:lnTo>
                  <a:lnTo>
                    <a:pt x="525" y="185"/>
                  </a:lnTo>
                  <a:lnTo>
                    <a:pt x="548" y="180"/>
                  </a:lnTo>
                  <a:lnTo>
                    <a:pt x="572" y="176"/>
                  </a:lnTo>
                  <a:lnTo>
                    <a:pt x="595" y="172"/>
                  </a:lnTo>
                  <a:lnTo>
                    <a:pt x="619" y="171"/>
                  </a:lnTo>
                  <a:lnTo>
                    <a:pt x="643" y="170"/>
                  </a:lnTo>
                  <a:lnTo>
                    <a:pt x="661" y="170"/>
                  </a:lnTo>
                  <a:lnTo>
                    <a:pt x="678" y="171"/>
                  </a:lnTo>
                  <a:lnTo>
                    <a:pt x="694" y="174"/>
                  </a:lnTo>
                  <a:lnTo>
                    <a:pt x="711" y="176"/>
                  </a:lnTo>
                  <a:lnTo>
                    <a:pt x="727" y="178"/>
                  </a:lnTo>
                  <a:lnTo>
                    <a:pt x="743" y="181"/>
                  </a:lnTo>
                  <a:lnTo>
                    <a:pt x="759" y="184"/>
                  </a:lnTo>
                  <a:lnTo>
                    <a:pt x="775" y="189"/>
                  </a:lnTo>
                  <a:lnTo>
                    <a:pt x="790" y="194"/>
                  </a:lnTo>
                  <a:lnTo>
                    <a:pt x="806" y="199"/>
                  </a:lnTo>
                  <a:lnTo>
                    <a:pt x="822" y="205"/>
                  </a:lnTo>
                  <a:lnTo>
                    <a:pt x="835" y="211"/>
                  </a:lnTo>
                  <a:lnTo>
                    <a:pt x="850" y="219"/>
                  </a:lnTo>
                  <a:lnTo>
                    <a:pt x="864" y="225"/>
                  </a:lnTo>
                  <a:lnTo>
                    <a:pt x="878" y="234"/>
                  </a:lnTo>
                  <a:lnTo>
                    <a:pt x="892" y="241"/>
                  </a:lnTo>
                  <a:lnTo>
                    <a:pt x="946" y="189"/>
                  </a:lnTo>
                  <a:lnTo>
                    <a:pt x="954" y="179"/>
                  </a:lnTo>
                  <a:lnTo>
                    <a:pt x="974" y="160"/>
                  </a:lnTo>
                  <a:lnTo>
                    <a:pt x="983" y="149"/>
                  </a:lnTo>
                  <a:lnTo>
                    <a:pt x="991" y="139"/>
                  </a:lnTo>
                  <a:lnTo>
                    <a:pt x="994" y="136"/>
                  </a:lnTo>
                  <a:lnTo>
                    <a:pt x="996" y="132"/>
                  </a:lnTo>
                  <a:lnTo>
                    <a:pt x="997" y="130"/>
                  </a:lnTo>
                  <a:lnTo>
                    <a:pt x="997" y="128"/>
                  </a:lnTo>
                  <a:lnTo>
                    <a:pt x="976" y="109"/>
                  </a:lnTo>
                  <a:lnTo>
                    <a:pt x="954" y="91"/>
                  </a:lnTo>
                  <a:lnTo>
                    <a:pt x="932" y="76"/>
                  </a:lnTo>
                  <a:lnTo>
                    <a:pt x="911" y="62"/>
                  </a:lnTo>
                  <a:lnTo>
                    <a:pt x="888" y="50"/>
                  </a:lnTo>
                  <a:lnTo>
                    <a:pt x="864" y="39"/>
                  </a:lnTo>
                  <a:lnTo>
                    <a:pt x="842" y="31"/>
                  </a:lnTo>
                  <a:lnTo>
                    <a:pt x="818" y="23"/>
                  </a:lnTo>
                  <a:lnTo>
                    <a:pt x="796" y="17"/>
                  </a:lnTo>
                  <a:lnTo>
                    <a:pt x="773" y="12"/>
                  </a:lnTo>
                  <a:lnTo>
                    <a:pt x="751" y="7"/>
                  </a:lnTo>
                  <a:lnTo>
                    <a:pt x="728" y="5"/>
                  </a:lnTo>
                  <a:lnTo>
                    <a:pt x="706" y="2"/>
                  </a:lnTo>
                  <a:lnTo>
                    <a:pt x="684" y="1"/>
                  </a:lnTo>
                  <a:lnTo>
                    <a:pt x="664" y="0"/>
                  </a:lnTo>
                  <a:lnTo>
                    <a:pt x="643" y="0"/>
                  </a:lnTo>
                  <a:lnTo>
                    <a:pt x="610" y="1"/>
                  </a:lnTo>
                  <a:lnTo>
                    <a:pt x="577" y="3"/>
                  </a:lnTo>
                  <a:lnTo>
                    <a:pt x="545" y="7"/>
                  </a:lnTo>
                  <a:lnTo>
                    <a:pt x="514" y="13"/>
                  </a:lnTo>
                  <a:lnTo>
                    <a:pt x="483" y="20"/>
                  </a:lnTo>
                  <a:lnTo>
                    <a:pt x="451" y="29"/>
                  </a:lnTo>
                  <a:lnTo>
                    <a:pt x="421" y="39"/>
                  </a:lnTo>
                  <a:lnTo>
                    <a:pt x="393" y="50"/>
                  </a:lnTo>
                  <a:lnTo>
                    <a:pt x="365" y="63"/>
                  </a:lnTo>
                  <a:lnTo>
                    <a:pt x="337" y="78"/>
                  </a:lnTo>
                  <a:lnTo>
                    <a:pt x="310" y="93"/>
                  </a:lnTo>
                  <a:lnTo>
                    <a:pt x="283" y="110"/>
                  </a:lnTo>
                  <a:lnTo>
                    <a:pt x="258" y="127"/>
                  </a:lnTo>
                  <a:lnTo>
                    <a:pt x="234" y="147"/>
                  </a:lnTo>
                  <a:lnTo>
                    <a:pt x="210" y="167"/>
                  </a:lnTo>
                  <a:lnTo>
                    <a:pt x="189" y="189"/>
                  </a:lnTo>
                  <a:lnTo>
                    <a:pt x="167" y="211"/>
                  </a:lnTo>
                  <a:lnTo>
                    <a:pt x="147" y="234"/>
                  </a:lnTo>
                  <a:lnTo>
                    <a:pt x="128" y="258"/>
                  </a:lnTo>
                  <a:lnTo>
                    <a:pt x="109" y="284"/>
                  </a:lnTo>
                  <a:lnTo>
                    <a:pt x="93" y="310"/>
                  </a:lnTo>
                  <a:lnTo>
                    <a:pt x="77" y="337"/>
                  </a:lnTo>
                  <a:lnTo>
                    <a:pt x="63" y="364"/>
                  </a:lnTo>
                  <a:lnTo>
                    <a:pt x="50" y="393"/>
                  </a:lnTo>
                  <a:lnTo>
                    <a:pt x="39" y="422"/>
                  </a:lnTo>
                  <a:lnTo>
                    <a:pt x="29" y="452"/>
                  </a:lnTo>
                  <a:lnTo>
                    <a:pt x="20" y="482"/>
                  </a:lnTo>
                  <a:lnTo>
                    <a:pt x="13" y="514"/>
                  </a:lnTo>
                  <a:lnTo>
                    <a:pt x="7" y="546"/>
                  </a:lnTo>
                  <a:lnTo>
                    <a:pt x="3" y="578"/>
                  </a:lnTo>
                  <a:lnTo>
                    <a:pt x="0" y="610"/>
                  </a:lnTo>
                  <a:lnTo>
                    <a:pt x="0" y="643"/>
                  </a:lnTo>
                  <a:lnTo>
                    <a:pt x="0" y="677"/>
                  </a:lnTo>
                  <a:lnTo>
                    <a:pt x="3" y="710"/>
                  </a:lnTo>
                  <a:lnTo>
                    <a:pt x="7" y="742"/>
                  </a:lnTo>
                  <a:lnTo>
                    <a:pt x="13" y="773"/>
                  </a:lnTo>
                  <a:lnTo>
                    <a:pt x="20" y="804"/>
                  </a:lnTo>
                  <a:lnTo>
                    <a:pt x="29" y="835"/>
                  </a:lnTo>
                  <a:lnTo>
                    <a:pt x="39" y="865"/>
                  </a:lnTo>
                  <a:lnTo>
                    <a:pt x="50" y="894"/>
                  </a:lnTo>
                  <a:lnTo>
                    <a:pt x="63" y="922"/>
                  </a:lnTo>
                  <a:lnTo>
                    <a:pt x="77" y="950"/>
                  </a:lnTo>
                  <a:lnTo>
                    <a:pt x="93" y="977"/>
                  </a:lnTo>
                  <a:lnTo>
                    <a:pt x="109" y="1004"/>
                  </a:lnTo>
                  <a:lnTo>
                    <a:pt x="128" y="1028"/>
                  </a:lnTo>
                  <a:lnTo>
                    <a:pt x="147" y="1053"/>
                  </a:lnTo>
                  <a:lnTo>
                    <a:pt x="167" y="1077"/>
                  </a:lnTo>
                  <a:lnTo>
                    <a:pt x="189" y="1099"/>
                  </a:lnTo>
                  <a:lnTo>
                    <a:pt x="210" y="1119"/>
                  </a:lnTo>
                  <a:lnTo>
                    <a:pt x="234" y="1140"/>
                  </a:lnTo>
                  <a:lnTo>
                    <a:pt x="258" y="1159"/>
                  </a:lnTo>
                  <a:lnTo>
                    <a:pt x="283" y="1177"/>
                  </a:lnTo>
                  <a:lnTo>
                    <a:pt x="310" y="1195"/>
                  </a:lnTo>
                  <a:lnTo>
                    <a:pt x="337" y="1210"/>
                  </a:lnTo>
                  <a:lnTo>
                    <a:pt x="365" y="1224"/>
                  </a:lnTo>
                  <a:lnTo>
                    <a:pt x="393" y="1236"/>
                  </a:lnTo>
                  <a:lnTo>
                    <a:pt x="423" y="1248"/>
                  </a:lnTo>
                  <a:lnTo>
                    <a:pt x="451" y="1258"/>
                  </a:lnTo>
                  <a:lnTo>
                    <a:pt x="483" y="1266"/>
                  </a:lnTo>
                  <a:lnTo>
                    <a:pt x="514" y="1274"/>
                  </a:lnTo>
                  <a:lnTo>
                    <a:pt x="545" y="1279"/>
                  </a:lnTo>
                  <a:lnTo>
                    <a:pt x="577" y="1284"/>
                  </a:lnTo>
                  <a:lnTo>
                    <a:pt x="610" y="1287"/>
                  </a:lnTo>
                  <a:lnTo>
                    <a:pt x="643" y="1287"/>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12" name="Freeform 11"/>
            <p:cNvSpPr>
              <a:spLocks/>
            </p:cNvSpPr>
            <p:nvPr/>
          </p:nvSpPr>
          <p:spPr bwMode="auto">
            <a:xfrm>
              <a:off x="469507" y="1725172"/>
              <a:ext cx="190027" cy="191402"/>
            </a:xfrm>
            <a:custGeom>
              <a:avLst/>
              <a:gdLst>
                <a:gd name="T0" fmla="*/ 330 w 634"/>
                <a:gd name="T1" fmla="*/ 151 h 634"/>
                <a:gd name="T2" fmla="*/ 435 w 634"/>
                <a:gd name="T3" fmla="*/ 22 h 634"/>
                <a:gd name="T4" fmla="*/ 387 w 634"/>
                <a:gd name="T5" fmla="*/ 7 h 634"/>
                <a:gd name="T6" fmla="*/ 335 w 634"/>
                <a:gd name="T7" fmla="*/ 0 h 634"/>
                <a:gd name="T8" fmla="*/ 285 w 634"/>
                <a:gd name="T9" fmla="*/ 1 h 634"/>
                <a:gd name="T10" fmla="*/ 238 w 634"/>
                <a:gd name="T11" fmla="*/ 10 h 634"/>
                <a:gd name="T12" fmla="*/ 194 w 634"/>
                <a:gd name="T13" fmla="*/ 25 h 634"/>
                <a:gd name="T14" fmla="*/ 153 w 634"/>
                <a:gd name="T15" fmla="*/ 45 h 634"/>
                <a:gd name="T16" fmla="*/ 116 w 634"/>
                <a:gd name="T17" fmla="*/ 72 h 634"/>
                <a:gd name="T18" fmla="*/ 83 w 634"/>
                <a:gd name="T19" fmla="*/ 103 h 634"/>
                <a:gd name="T20" fmla="*/ 55 w 634"/>
                <a:gd name="T21" fmla="*/ 139 h 634"/>
                <a:gd name="T22" fmla="*/ 32 w 634"/>
                <a:gd name="T23" fmla="*/ 179 h 634"/>
                <a:gd name="T24" fmla="*/ 15 w 634"/>
                <a:gd name="T25" fmla="*/ 222 h 634"/>
                <a:gd name="T26" fmla="*/ 4 w 634"/>
                <a:gd name="T27" fmla="*/ 268 h 634"/>
                <a:gd name="T28" fmla="*/ 0 w 634"/>
                <a:gd name="T29" fmla="*/ 316 h 634"/>
                <a:gd name="T30" fmla="*/ 4 w 634"/>
                <a:gd name="T31" fmla="*/ 365 h 634"/>
                <a:gd name="T32" fmla="*/ 15 w 634"/>
                <a:gd name="T33" fmla="*/ 411 h 634"/>
                <a:gd name="T34" fmla="*/ 32 w 634"/>
                <a:gd name="T35" fmla="*/ 454 h 634"/>
                <a:gd name="T36" fmla="*/ 55 w 634"/>
                <a:gd name="T37" fmla="*/ 493 h 634"/>
                <a:gd name="T38" fmla="*/ 83 w 634"/>
                <a:gd name="T39" fmla="*/ 530 h 634"/>
                <a:gd name="T40" fmla="*/ 116 w 634"/>
                <a:gd name="T41" fmla="*/ 561 h 634"/>
                <a:gd name="T42" fmla="*/ 153 w 634"/>
                <a:gd name="T43" fmla="*/ 588 h 634"/>
                <a:gd name="T44" fmla="*/ 194 w 634"/>
                <a:gd name="T45" fmla="*/ 608 h 634"/>
                <a:gd name="T46" fmla="*/ 238 w 634"/>
                <a:gd name="T47" fmla="*/ 623 h 634"/>
                <a:gd name="T48" fmla="*/ 285 w 634"/>
                <a:gd name="T49" fmla="*/ 632 h 634"/>
                <a:gd name="T50" fmla="*/ 334 w 634"/>
                <a:gd name="T51" fmla="*/ 633 h 634"/>
                <a:gd name="T52" fmla="*/ 381 w 634"/>
                <a:gd name="T53" fmla="*/ 627 h 634"/>
                <a:gd name="T54" fmla="*/ 426 w 634"/>
                <a:gd name="T55" fmla="*/ 614 h 634"/>
                <a:gd name="T56" fmla="*/ 469 w 634"/>
                <a:gd name="T57" fmla="*/ 595 h 634"/>
                <a:gd name="T58" fmla="*/ 507 w 634"/>
                <a:gd name="T59" fmla="*/ 570 h 634"/>
                <a:gd name="T60" fmla="*/ 542 w 634"/>
                <a:gd name="T61" fmla="*/ 540 h 634"/>
                <a:gd name="T62" fmla="*/ 572 w 634"/>
                <a:gd name="T63" fmla="*/ 506 h 634"/>
                <a:gd name="T64" fmla="*/ 596 w 634"/>
                <a:gd name="T65" fmla="*/ 468 h 634"/>
                <a:gd name="T66" fmla="*/ 615 w 634"/>
                <a:gd name="T67" fmla="*/ 426 h 634"/>
                <a:gd name="T68" fmla="*/ 627 w 634"/>
                <a:gd name="T69" fmla="*/ 381 h 634"/>
                <a:gd name="T70" fmla="*/ 634 w 634"/>
                <a:gd name="T71" fmla="*/ 332 h 634"/>
                <a:gd name="T72" fmla="*/ 633 w 634"/>
                <a:gd name="T73" fmla="*/ 281 h 634"/>
                <a:gd name="T74" fmla="*/ 622 w 634"/>
                <a:gd name="T75" fmla="*/ 230 h 634"/>
                <a:gd name="T76" fmla="*/ 605 w 634"/>
                <a:gd name="T77" fmla="*/ 182 h 634"/>
                <a:gd name="T78" fmla="*/ 484 w 634"/>
                <a:gd name="T79" fmla="*/ 310 h 634"/>
                <a:gd name="T80" fmla="*/ 480 w 634"/>
                <a:gd name="T81" fmla="*/ 350 h 634"/>
                <a:gd name="T82" fmla="*/ 463 w 634"/>
                <a:gd name="T83" fmla="*/ 396 h 634"/>
                <a:gd name="T84" fmla="*/ 434 w 634"/>
                <a:gd name="T85" fmla="*/ 434 h 634"/>
                <a:gd name="T86" fmla="*/ 397 w 634"/>
                <a:gd name="T87" fmla="*/ 463 h 634"/>
                <a:gd name="T88" fmla="*/ 351 w 634"/>
                <a:gd name="T89" fmla="*/ 479 h 634"/>
                <a:gd name="T90" fmla="*/ 300 w 634"/>
                <a:gd name="T91" fmla="*/ 481 h 634"/>
                <a:gd name="T92" fmla="*/ 252 w 634"/>
                <a:gd name="T93" fmla="*/ 470 h 634"/>
                <a:gd name="T94" fmla="*/ 211 w 634"/>
                <a:gd name="T95" fmla="*/ 445 h 634"/>
                <a:gd name="T96" fmla="*/ 179 w 634"/>
                <a:gd name="T97" fmla="*/ 410 h 634"/>
                <a:gd name="T98" fmla="*/ 159 w 634"/>
                <a:gd name="T99" fmla="*/ 366 h 634"/>
                <a:gd name="T100" fmla="*/ 151 w 634"/>
                <a:gd name="T101" fmla="*/ 316 h 634"/>
                <a:gd name="T102" fmla="*/ 159 w 634"/>
                <a:gd name="T103" fmla="*/ 267 h 634"/>
                <a:gd name="T104" fmla="*/ 179 w 634"/>
                <a:gd name="T105" fmla="*/ 224 h 634"/>
                <a:gd name="T106" fmla="*/ 211 w 634"/>
                <a:gd name="T107" fmla="*/ 189 h 634"/>
                <a:gd name="T108" fmla="*/ 252 w 634"/>
                <a:gd name="T109" fmla="*/ 163 h 634"/>
                <a:gd name="T110" fmla="*/ 300 w 634"/>
                <a:gd name="T111" fmla="*/ 151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4" h="634">
                  <a:moveTo>
                    <a:pt x="317" y="150"/>
                  </a:moveTo>
                  <a:lnTo>
                    <a:pt x="324" y="150"/>
                  </a:lnTo>
                  <a:lnTo>
                    <a:pt x="330" y="151"/>
                  </a:lnTo>
                  <a:lnTo>
                    <a:pt x="448" y="32"/>
                  </a:lnTo>
                  <a:lnTo>
                    <a:pt x="452" y="29"/>
                  </a:lnTo>
                  <a:lnTo>
                    <a:pt x="435" y="22"/>
                  </a:lnTo>
                  <a:lnTo>
                    <a:pt x="420" y="17"/>
                  </a:lnTo>
                  <a:lnTo>
                    <a:pt x="403" y="12"/>
                  </a:lnTo>
                  <a:lnTo>
                    <a:pt x="387" y="7"/>
                  </a:lnTo>
                  <a:lnTo>
                    <a:pt x="370" y="4"/>
                  </a:lnTo>
                  <a:lnTo>
                    <a:pt x="353" y="1"/>
                  </a:lnTo>
                  <a:lnTo>
                    <a:pt x="335" y="0"/>
                  </a:lnTo>
                  <a:lnTo>
                    <a:pt x="317" y="0"/>
                  </a:lnTo>
                  <a:lnTo>
                    <a:pt x="301" y="0"/>
                  </a:lnTo>
                  <a:lnTo>
                    <a:pt x="285" y="1"/>
                  </a:lnTo>
                  <a:lnTo>
                    <a:pt x="269" y="3"/>
                  </a:lnTo>
                  <a:lnTo>
                    <a:pt x="253" y="6"/>
                  </a:lnTo>
                  <a:lnTo>
                    <a:pt x="238" y="10"/>
                  </a:lnTo>
                  <a:lnTo>
                    <a:pt x="223" y="14"/>
                  </a:lnTo>
                  <a:lnTo>
                    <a:pt x="208" y="19"/>
                  </a:lnTo>
                  <a:lnTo>
                    <a:pt x="194" y="25"/>
                  </a:lnTo>
                  <a:lnTo>
                    <a:pt x="180" y="31"/>
                  </a:lnTo>
                  <a:lnTo>
                    <a:pt x="166" y="37"/>
                  </a:lnTo>
                  <a:lnTo>
                    <a:pt x="153" y="45"/>
                  </a:lnTo>
                  <a:lnTo>
                    <a:pt x="141" y="54"/>
                  </a:lnTo>
                  <a:lnTo>
                    <a:pt x="128" y="62"/>
                  </a:lnTo>
                  <a:lnTo>
                    <a:pt x="116" y="72"/>
                  </a:lnTo>
                  <a:lnTo>
                    <a:pt x="104" y="81"/>
                  </a:lnTo>
                  <a:lnTo>
                    <a:pt x="93" y="92"/>
                  </a:lnTo>
                  <a:lnTo>
                    <a:pt x="83" y="103"/>
                  </a:lnTo>
                  <a:lnTo>
                    <a:pt x="73" y="115"/>
                  </a:lnTo>
                  <a:lnTo>
                    <a:pt x="63" y="126"/>
                  </a:lnTo>
                  <a:lnTo>
                    <a:pt x="55" y="139"/>
                  </a:lnTo>
                  <a:lnTo>
                    <a:pt x="46" y="152"/>
                  </a:lnTo>
                  <a:lnTo>
                    <a:pt x="39" y="165"/>
                  </a:lnTo>
                  <a:lnTo>
                    <a:pt x="32" y="179"/>
                  </a:lnTo>
                  <a:lnTo>
                    <a:pt x="26" y="193"/>
                  </a:lnTo>
                  <a:lnTo>
                    <a:pt x="19" y="207"/>
                  </a:lnTo>
                  <a:lnTo>
                    <a:pt x="15" y="222"/>
                  </a:lnTo>
                  <a:lnTo>
                    <a:pt x="11" y="237"/>
                  </a:lnTo>
                  <a:lnTo>
                    <a:pt x="6" y="253"/>
                  </a:lnTo>
                  <a:lnTo>
                    <a:pt x="4" y="268"/>
                  </a:lnTo>
                  <a:lnTo>
                    <a:pt x="2" y="284"/>
                  </a:lnTo>
                  <a:lnTo>
                    <a:pt x="1" y="300"/>
                  </a:lnTo>
                  <a:lnTo>
                    <a:pt x="0" y="316"/>
                  </a:lnTo>
                  <a:lnTo>
                    <a:pt x="1" y="332"/>
                  </a:lnTo>
                  <a:lnTo>
                    <a:pt x="2" y="348"/>
                  </a:lnTo>
                  <a:lnTo>
                    <a:pt x="4" y="365"/>
                  </a:lnTo>
                  <a:lnTo>
                    <a:pt x="6" y="381"/>
                  </a:lnTo>
                  <a:lnTo>
                    <a:pt x="11" y="396"/>
                  </a:lnTo>
                  <a:lnTo>
                    <a:pt x="15" y="411"/>
                  </a:lnTo>
                  <a:lnTo>
                    <a:pt x="19" y="426"/>
                  </a:lnTo>
                  <a:lnTo>
                    <a:pt x="26" y="440"/>
                  </a:lnTo>
                  <a:lnTo>
                    <a:pt x="32" y="454"/>
                  </a:lnTo>
                  <a:lnTo>
                    <a:pt x="39" y="468"/>
                  </a:lnTo>
                  <a:lnTo>
                    <a:pt x="46" y="480"/>
                  </a:lnTo>
                  <a:lnTo>
                    <a:pt x="55" y="493"/>
                  </a:lnTo>
                  <a:lnTo>
                    <a:pt x="63" y="506"/>
                  </a:lnTo>
                  <a:lnTo>
                    <a:pt x="73" y="518"/>
                  </a:lnTo>
                  <a:lnTo>
                    <a:pt x="83" y="530"/>
                  </a:lnTo>
                  <a:lnTo>
                    <a:pt x="93" y="540"/>
                  </a:lnTo>
                  <a:lnTo>
                    <a:pt x="104" y="551"/>
                  </a:lnTo>
                  <a:lnTo>
                    <a:pt x="116" y="561"/>
                  </a:lnTo>
                  <a:lnTo>
                    <a:pt x="128" y="570"/>
                  </a:lnTo>
                  <a:lnTo>
                    <a:pt x="141" y="579"/>
                  </a:lnTo>
                  <a:lnTo>
                    <a:pt x="153" y="588"/>
                  </a:lnTo>
                  <a:lnTo>
                    <a:pt x="166" y="595"/>
                  </a:lnTo>
                  <a:lnTo>
                    <a:pt x="180" y="603"/>
                  </a:lnTo>
                  <a:lnTo>
                    <a:pt x="194" y="608"/>
                  </a:lnTo>
                  <a:lnTo>
                    <a:pt x="208" y="614"/>
                  </a:lnTo>
                  <a:lnTo>
                    <a:pt x="223" y="619"/>
                  </a:lnTo>
                  <a:lnTo>
                    <a:pt x="238" y="623"/>
                  </a:lnTo>
                  <a:lnTo>
                    <a:pt x="253" y="627"/>
                  </a:lnTo>
                  <a:lnTo>
                    <a:pt x="269" y="629"/>
                  </a:lnTo>
                  <a:lnTo>
                    <a:pt x="285" y="632"/>
                  </a:lnTo>
                  <a:lnTo>
                    <a:pt x="301" y="633"/>
                  </a:lnTo>
                  <a:lnTo>
                    <a:pt x="317" y="634"/>
                  </a:lnTo>
                  <a:lnTo>
                    <a:pt x="334" y="633"/>
                  </a:lnTo>
                  <a:lnTo>
                    <a:pt x="350" y="632"/>
                  </a:lnTo>
                  <a:lnTo>
                    <a:pt x="366" y="629"/>
                  </a:lnTo>
                  <a:lnTo>
                    <a:pt x="381" y="627"/>
                  </a:lnTo>
                  <a:lnTo>
                    <a:pt x="397" y="623"/>
                  </a:lnTo>
                  <a:lnTo>
                    <a:pt x="412" y="619"/>
                  </a:lnTo>
                  <a:lnTo>
                    <a:pt x="426" y="614"/>
                  </a:lnTo>
                  <a:lnTo>
                    <a:pt x="441" y="608"/>
                  </a:lnTo>
                  <a:lnTo>
                    <a:pt x="455" y="603"/>
                  </a:lnTo>
                  <a:lnTo>
                    <a:pt x="469" y="595"/>
                  </a:lnTo>
                  <a:lnTo>
                    <a:pt x="482" y="588"/>
                  </a:lnTo>
                  <a:lnTo>
                    <a:pt x="494" y="579"/>
                  </a:lnTo>
                  <a:lnTo>
                    <a:pt x="507" y="570"/>
                  </a:lnTo>
                  <a:lnTo>
                    <a:pt x="519" y="561"/>
                  </a:lnTo>
                  <a:lnTo>
                    <a:pt x="531" y="551"/>
                  </a:lnTo>
                  <a:lnTo>
                    <a:pt x="542" y="540"/>
                  </a:lnTo>
                  <a:lnTo>
                    <a:pt x="552" y="530"/>
                  </a:lnTo>
                  <a:lnTo>
                    <a:pt x="562" y="518"/>
                  </a:lnTo>
                  <a:lnTo>
                    <a:pt x="572" y="506"/>
                  </a:lnTo>
                  <a:lnTo>
                    <a:pt x="580" y="493"/>
                  </a:lnTo>
                  <a:lnTo>
                    <a:pt x="589" y="480"/>
                  </a:lnTo>
                  <a:lnTo>
                    <a:pt x="596" y="468"/>
                  </a:lnTo>
                  <a:lnTo>
                    <a:pt x="603" y="454"/>
                  </a:lnTo>
                  <a:lnTo>
                    <a:pt x="609" y="440"/>
                  </a:lnTo>
                  <a:lnTo>
                    <a:pt x="615" y="426"/>
                  </a:lnTo>
                  <a:lnTo>
                    <a:pt x="620" y="411"/>
                  </a:lnTo>
                  <a:lnTo>
                    <a:pt x="624" y="396"/>
                  </a:lnTo>
                  <a:lnTo>
                    <a:pt x="627" y="381"/>
                  </a:lnTo>
                  <a:lnTo>
                    <a:pt x="631" y="365"/>
                  </a:lnTo>
                  <a:lnTo>
                    <a:pt x="633" y="348"/>
                  </a:lnTo>
                  <a:lnTo>
                    <a:pt x="634" y="332"/>
                  </a:lnTo>
                  <a:lnTo>
                    <a:pt x="634" y="316"/>
                  </a:lnTo>
                  <a:lnTo>
                    <a:pt x="634" y="299"/>
                  </a:lnTo>
                  <a:lnTo>
                    <a:pt x="633" y="281"/>
                  </a:lnTo>
                  <a:lnTo>
                    <a:pt x="630" y="264"/>
                  </a:lnTo>
                  <a:lnTo>
                    <a:pt x="626" y="247"/>
                  </a:lnTo>
                  <a:lnTo>
                    <a:pt x="622" y="230"/>
                  </a:lnTo>
                  <a:lnTo>
                    <a:pt x="617" y="214"/>
                  </a:lnTo>
                  <a:lnTo>
                    <a:pt x="611" y="198"/>
                  </a:lnTo>
                  <a:lnTo>
                    <a:pt x="605" y="182"/>
                  </a:lnTo>
                  <a:lnTo>
                    <a:pt x="602" y="185"/>
                  </a:lnTo>
                  <a:lnTo>
                    <a:pt x="483" y="303"/>
                  </a:lnTo>
                  <a:lnTo>
                    <a:pt x="484" y="310"/>
                  </a:lnTo>
                  <a:lnTo>
                    <a:pt x="484" y="316"/>
                  </a:lnTo>
                  <a:lnTo>
                    <a:pt x="483" y="333"/>
                  </a:lnTo>
                  <a:lnTo>
                    <a:pt x="480" y="350"/>
                  </a:lnTo>
                  <a:lnTo>
                    <a:pt x="476" y="366"/>
                  </a:lnTo>
                  <a:lnTo>
                    <a:pt x="471" y="382"/>
                  </a:lnTo>
                  <a:lnTo>
                    <a:pt x="463" y="396"/>
                  </a:lnTo>
                  <a:lnTo>
                    <a:pt x="455" y="410"/>
                  </a:lnTo>
                  <a:lnTo>
                    <a:pt x="445" y="422"/>
                  </a:lnTo>
                  <a:lnTo>
                    <a:pt x="434" y="434"/>
                  </a:lnTo>
                  <a:lnTo>
                    <a:pt x="423" y="445"/>
                  </a:lnTo>
                  <a:lnTo>
                    <a:pt x="411" y="455"/>
                  </a:lnTo>
                  <a:lnTo>
                    <a:pt x="397" y="463"/>
                  </a:lnTo>
                  <a:lnTo>
                    <a:pt x="382" y="470"/>
                  </a:lnTo>
                  <a:lnTo>
                    <a:pt x="367" y="475"/>
                  </a:lnTo>
                  <a:lnTo>
                    <a:pt x="351" y="479"/>
                  </a:lnTo>
                  <a:lnTo>
                    <a:pt x="335" y="481"/>
                  </a:lnTo>
                  <a:lnTo>
                    <a:pt x="317" y="483"/>
                  </a:lnTo>
                  <a:lnTo>
                    <a:pt x="300" y="481"/>
                  </a:lnTo>
                  <a:lnTo>
                    <a:pt x="283" y="479"/>
                  </a:lnTo>
                  <a:lnTo>
                    <a:pt x="268" y="475"/>
                  </a:lnTo>
                  <a:lnTo>
                    <a:pt x="252" y="470"/>
                  </a:lnTo>
                  <a:lnTo>
                    <a:pt x="238" y="463"/>
                  </a:lnTo>
                  <a:lnTo>
                    <a:pt x="224" y="455"/>
                  </a:lnTo>
                  <a:lnTo>
                    <a:pt x="211" y="445"/>
                  </a:lnTo>
                  <a:lnTo>
                    <a:pt x="199" y="434"/>
                  </a:lnTo>
                  <a:lnTo>
                    <a:pt x="189" y="422"/>
                  </a:lnTo>
                  <a:lnTo>
                    <a:pt x="179" y="410"/>
                  </a:lnTo>
                  <a:lnTo>
                    <a:pt x="172" y="396"/>
                  </a:lnTo>
                  <a:lnTo>
                    <a:pt x="164" y="382"/>
                  </a:lnTo>
                  <a:lnTo>
                    <a:pt x="159" y="366"/>
                  </a:lnTo>
                  <a:lnTo>
                    <a:pt x="154" y="350"/>
                  </a:lnTo>
                  <a:lnTo>
                    <a:pt x="152" y="333"/>
                  </a:lnTo>
                  <a:lnTo>
                    <a:pt x="151" y="316"/>
                  </a:lnTo>
                  <a:lnTo>
                    <a:pt x="152" y="299"/>
                  </a:lnTo>
                  <a:lnTo>
                    <a:pt x="154" y="283"/>
                  </a:lnTo>
                  <a:lnTo>
                    <a:pt x="159" y="267"/>
                  </a:lnTo>
                  <a:lnTo>
                    <a:pt x="164" y="252"/>
                  </a:lnTo>
                  <a:lnTo>
                    <a:pt x="172" y="237"/>
                  </a:lnTo>
                  <a:lnTo>
                    <a:pt x="179" y="224"/>
                  </a:lnTo>
                  <a:lnTo>
                    <a:pt x="189" y="211"/>
                  </a:lnTo>
                  <a:lnTo>
                    <a:pt x="199" y="199"/>
                  </a:lnTo>
                  <a:lnTo>
                    <a:pt x="211" y="189"/>
                  </a:lnTo>
                  <a:lnTo>
                    <a:pt x="224" y="179"/>
                  </a:lnTo>
                  <a:lnTo>
                    <a:pt x="238" y="170"/>
                  </a:lnTo>
                  <a:lnTo>
                    <a:pt x="252" y="163"/>
                  </a:lnTo>
                  <a:lnTo>
                    <a:pt x="268" y="158"/>
                  </a:lnTo>
                  <a:lnTo>
                    <a:pt x="284" y="153"/>
                  </a:lnTo>
                  <a:lnTo>
                    <a:pt x="300" y="151"/>
                  </a:lnTo>
                  <a:lnTo>
                    <a:pt x="317" y="150"/>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13" name="Freeform 12"/>
            <p:cNvSpPr>
              <a:spLocks/>
            </p:cNvSpPr>
            <p:nvPr/>
          </p:nvSpPr>
          <p:spPr bwMode="auto">
            <a:xfrm>
              <a:off x="582618" y="1586516"/>
              <a:ext cx="215666" cy="215515"/>
            </a:xfrm>
            <a:custGeom>
              <a:avLst/>
              <a:gdLst>
                <a:gd name="T0" fmla="*/ 638 w 712"/>
                <a:gd name="T1" fmla="*/ 159 h 715"/>
                <a:gd name="T2" fmla="*/ 647 w 712"/>
                <a:gd name="T3" fmla="*/ 147 h 715"/>
                <a:gd name="T4" fmla="*/ 651 w 712"/>
                <a:gd name="T5" fmla="*/ 132 h 715"/>
                <a:gd name="T6" fmla="*/ 647 w 712"/>
                <a:gd name="T7" fmla="*/ 115 h 715"/>
                <a:gd name="T8" fmla="*/ 638 w 712"/>
                <a:gd name="T9" fmla="*/ 103 h 715"/>
                <a:gd name="T10" fmla="*/ 608 w 712"/>
                <a:gd name="T11" fmla="*/ 73 h 715"/>
                <a:gd name="T12" fmla="*/ 593 w 712"/>
                <a:gd name="T13" fmla="*/ 67 h 715"/>
                <a:gd name="T14" fmla="*/ 578 w 712"/>
                <a:gd name="T15" fmla="*/ 67 h 715"/>
                <a:gd name="T16" fmla="*/ 563 w 712"/>
                <a:gd name="T17" fmla="*/ 73 h 715"/>
                <a:gd name="T18" fmla="*/ 517 w 712"/>
                <a:gd name="T19" fmla="*/ 118 h 715"/>
                <a:gd name="T20" fmla="*/ 507 w 712"/>
                <a:gd name="T21" fmla="*/ 6 h 715"/>
                <a:gd name="T22" fmla="*/ 500 w 712"/>
                <a:gd name="T23" fmla="*/ 0 h 715"/>
                <a:gd name="T24" fmla="*/ 490 w 712"/>
                <a:gd name="T25" fmla="*/ 0 h 715"/>
                <a:gd name="T26" fmla="*/ 329 w 712"/>
                <a:gd name="T27" fmla="*/ 161 h 715"/>
                <a:gd name="T28" fmla="*/ 319 w 712"/>
                <a:gd name="T29" fmla="*/ 171 h 715"/>
                <a:gd name="T30" fmla="*/ 313 w 712"/>
                <a:gd name="T31" fmla="*/ 185 h 715"/>
                <a:gd name="T32" fmla="*/ 310 w 712"/>
                <a:gd name="T33" fmla="*/ 199 h 715"/>
                <a:gd name="T34" fmla="*/ 308 w 712"/>
                <a:gd name="T35" fmla="*/ 214 h 715"/>
                <a:gd name="T36" fmla="*/ 317 w 712"/>
                <a:gd name="T37" fmla="*/ 318 h 715"/>
                <a:gd name="T38" fmla="*/ 157 w 712"/>
                <a:gd name="T39" fmla="*/ 477 h 715"/>
                <a:gd name="T40" fmla="*/ 56 w 712"/>
                <a:gd name="T41" fmla="*/ 578 h 715"/>
                <a:gd name="T42" fmla="*/ 9 w 712"/>
                <a:gd name="T43" fmla="*/ 627 h 715"/>
                <a:gd name="T44" fmla="*/ 4 w 712"/>
                <a:gd name="T45" fmla="*/ 638 h 715"/>
                <a:gd name="T46" fmla="*/ 0 w 712"/>
                <a:gd name="T47" fmla="*/ 679 h 715"/>
                <a:gd name="T48" fmla="*/ 2 w 712"/>
                <a:gd name="T49" fmla="*/ 692 h 715"/>
                <a:gd name="T50" fmla="*/ 9 w 712"/>
                <a:gd name="T51" fmla="*/ 704 h 715"/>
                <a:gd name="T52" fmla="*/ 20 w 712"/>
                <a:gd name="T53" fmla="*/ 712 h 715"/>
                <a:gd name="T54" fmla="*/ 34 w 712"/>
                <a:gd name="T55" fmla="*/ 715 h 715"/>
                <a:gd name="T56" fmla="*/ 73 w 712"/>
                <a:gd name="T57" fmla="*/ 713 h 715"/>
                <a:gd name="T58" fmla="*/ 84 w 712"/>
                <a:gd name="T59" fmla="*/ 711 h 715"/>
                <a:gd name="T60" fmla="*/ 95 w 712"/>
                <a:gd name="T61" fmla="*/ 703 h 715"/>
                <a:gd name="T62" fmla="*/ 493 w 712"/>
                <a:gd name="T63" fmla="*/ 402 h 715"/>
                <a:gd name="T64" fmla="*/ 499 w 712"/>
                <a:gd name="T65" fmla="*/ 402 h 715"/>
                <a:gd name="T66" fmla="*/ 509 w 712"/>
                <a:gd name="T67" fmla="*/ 402 h 715"/>
                <a:gd name="T68" fmla="*/ 522 w 712"/>
                <a:gd name="T69" fmla="*/ 400 h 715"/>
                <a:gd name="T70" fmla="*/ 535 w 712"/>
                <a:gd name="T71" fmla="*/ 394 h 715"/>
                <a:gd name="T72" fmla="*/ 546 w 712"/>
                <a:gd name="T73" fmla="*/ 387 h 715"/>
                <a:gd name="T74" fmla="*/ 707 w 712"/>
                <a:gd name="T75" fmla="*/ 225 h 715"/>
                <a:gd name="T76" fmla="*/ 711 w 712"/>
                <a:gd name="T77" fmla="*/ 218 h 715"/>
                <a:gd name="T78" fmla="*/ 711 w 712"/>
                <a:gd name="T79" fmla="*/ 211 h 715"/>
                <a:gd name="T80" fmla="*/ 706 w 712"/>
                <a:gd name="T81" fmla="*/ 205 h 715"/>
                <a:gd name="T82" fmla="*/ 699 w 712"/>
                <a:gd name="T83" fmla="*/ 202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2" h="715">
                  <a:moveTo>
                    <a:pt x="603" y="195"/>
                  </a:moveTo>
                  <a:lnTo>
                    <a:pt x="638" y="159"/>
                  </a:lnTo>
                  <a:lnTo>
                    <a:pt x="643" y="153"/>
                  </a:lnTo>
                  <a:lnTo>
                    <a:pt x="647" y="147"/>
                  </a:lnTo>
                  <a:lnTo>
                    <a:pt x="650" y="139"/>
                  </a:lnTo>
                  <a:lnTo>
                    <a:pt x="651" y="132"/>
                  </a:lnTo>
                  <a:lnTo>
                    <a:pt x="650" y="123"/>
                  </a:lnTo>
                  <a:lnTo>
                    <a:pt x="647" y="115"/>
                  </a:lnTo>
                  <a:lnTo>
                    <a:pt x="643" y="109"/>
                  </a:lnTo>
                  <a:lnTo>
                    <a:pt x="638" y="103"/>
                  </a:lnTo>
                  <a:lnTo>
                    <a:pt x="614" y="78"/>
                  </a:lnTo>
                  <a:lnTo>
                    <a:pt x="608" y="73"/>
                  </a:lnTo>
                  <a:lnTo>
                    <a:pt x="600" y="69"/>
                  </a:lnTo>
                  <a:lnTo>
                    <a:pt x="593" y="67"/>
                  </a:lnTo>
                  <a:lnTo>
                    <a:pt x="585" y="66"/>
                  </a:lnTo>
                  <a:lnTo>
                    <a:pt x="578" y="67"/>
                  </a:lnTo>
                  <a:lnTo>
                    <a:pt x="570" y="69"/>
                  </a:lnTo>
                  <a:lnTo>
                    <a:pt x="563" y="73"/>
                  </a:lnTo>
                  <a:lnTo>
                    <a:pt x="556" y="78"/>
                  </a:lnTo>
                  <a:lnTo>
                    <a:pt x="517" y="118"/>
                  </a:lnTo>
                  <a:lnTo>
                    <a:pt x="509" y="11"/>
                  </a:lnTo>
                  <a:lnTo>
                    <a:pt x="507" y="6"/>
                  </a:lnTo>
                  <a:lnTo>
                    <a:pt x="504" y="3"/>
                  </a:lnTo>
                  <a:lnTo>
                    <a:pt x="500" y="0"/>
                  </a:lnTo>
                  <a:lnTo>
                    <a:pt x="495" y="0"/>
                  </a:lnTo>
                  <a:lnTo>
                    <a:pt x="490" y="0"/>
                  </a:lnTo>
                  <a:lnTo>
                    <a:pt x="485" y="3"/>
                  </a:lnTo>
                  <a:lnTo>
                    <a:pt x="329" y="161"/>
                  </a:lnTo>
                  <a:lnTo>
                    <a:pt x="323" y="166"/>
                  </a:lnTo>
                  <a:lnTo>
                    <a:pt x="319" y="171"/>
                  </a:lnTo>
                  <a:lnTo>
                    <a:pt x="316" y="178"/>
                  </a:lnTo>
                  <a:lnTo>
                    <a:pt x="313" y="185"/>
                  </a:lnTo>
                  <a:lnTo>
                    <a:pt x="311" y="192"/>
                  </a:lnTo>
                  <a:lnTo>
                    <a:pt x="310" y="199"/>
                  </a:lnTo>
                  <a:lnTo>
                    <a:pt x="308" y="207"/>
                  </a:lnTo>
                  <a:lnTo>
                    <a:pt x="308" y="214"/>
                  </a:lnTo>
                  <a:lnTo>
                    <a:pt x="308" y="220"/>
                  </a:lnTo>
                  <a:lnTo>
                    <a:pt x="317" y="318"/>
                  </a:lnTo>
                  <a:lnTo>
                    <a:pt x="260" y="375"/>
                  </a:lnTo>
                  <a:lnTo>
                    <a:pt x="157" y="477"/>
                  </a:lnTo>
                  <a:lnTo>
                    <a:pt x="155" y="479"/>
                  </a:lnTo>
                  <a:lnTo>
                    <a:pt x="56" y="578"/>
                  </a:lnTo>
                  <a:lnTo>
                    <a:pt x="12" y="623"/>
                  </a:lnTo>
                  <a:lnTo>
                    <a:pt x="9" y="627"/>
                  </a:lnTo>
                  <a:lnTo>
                    <a:pt x="6" y="632"/>
                  </a:lnTo>
                  <a:lnTo>
                    <a:pt x="4" y="638"/>
                  </a:lnTo>
                  <a:lnTo>
                    <a:pt x="3" y="643"/>
                  </a:lnTo>
                  <a:lnTo>
                    <a:pt x="0" y="679"/>
                  </a:lnTo>
                  <a:lnTo>
                    <a:pt x="1" y="685"/>
                  </a:lnTo>
                  <a:lnTo>
                    <a:pt x="2" y="692"/>
                  </a:lnTo>
                  <a:lnTo>
                    <a:pt x="5" y="699"/>
                  </a:lnTo>
                  <a:lnTo>
                    <a:pt x="9" y="704"/>
                  </a:lnTo>
                  <a:lnTo>
                    <a:pt x="15" y="709"/>
                  </a:lnTo>
                  <a:lnTo>
                    <a:pt x="20" y="712"/>
                  </a:lnTo>
                  <a:lnTo>
                    <a:pt x="26" y="714"/>
                  </a:lnTo>
                  <a:lnTo>
                    <a:pt x="34" y="715"/>
                  </a:lnTo>
                  <a:lnTo>
                    <a:pt x="36" y="715"/>
                  </a:lnTo>
                  <a:lnTo>
                    <a:pt x="73" y="713"/>
                  </a:lnTo>
                  <a:lnTo>
                    <a:pt x="79" y="713"/>
                  </a:lnTo>
                  <a:lnTo>
                    <a:pt x="84" y="711"/>
                  </a:lnTo>
                  <a:lnTo>
                    <a:pt x="90" y="708"/>
                  </a:lnTo>
                  <a:lnTo>
                    <a:pt x="95" y="703"/>
                  </a:lnTo>
                  <a:lnTo>
                    <a:pt x="403" y="395"/>
                  </a:lnTo>
                  <a:lnTo>
                    <a:pt x="493" y="402"/>
                  </a:lnTo>
                  <a:lnTo>
                    <a:pt x="497" y="402"/>
                  </a:lnTo>
                  <a:lnTo>
                    <a:pt x="499" y="402"/>
                  </a:lnTo>
                  <a:lnTo>
                    <a:pt x="502" y="402"/>
                  </a:lnTo>
                  <a:lnTo>
                    <a:pt x="509" y="402"/>
                  </a:lnTo>
                  <a:lnTo>
                    <a:pt x="515" y="401"/>
                  </a:lnTo>
                  <a:lnTo>
                    <a:pt x="522" y="400"/>
                  </a:lnTo>
                  <a:lnTo>
                    <a:pt x="528" y="396"/>
                  </a:lnTo>
                  <a:lnTo>
                    <a:pt x="535" y="394"/>
                  </a:lnTo>
                  <a:lnTo>
                    <a:pt x="540" y="391"/>
                  </a:lnTo>
                  <a:lnTo>
                    <a:pt x="546" y="387"/>
                  </a:lnTo>
                  <a:lnTo>
                    <a:pt x="551" y="383"/>
                  </a:lnTo>
                  <a:lnTo>
                    <a:pt x="707" y="225"/>
                  </a:lnTo>
                  <a:lnTo>
                    <a:pt x="710" y="222"/>
                  </a:lnTo>
                  <a:lnTo>
                    <a:pt x="711" y="218"/>
                  </a:lnTo>
                  <a:lnTo>
                    <a:pt x="712" y="214"/>
                  </a:lnTo>
                  <a:lnTo>
                    <a:pt x="711" y="211"/>
                  </a:lnTo>
                  <a:lnTo>
                    <a:pt x="709" y="208"/>
                  </a:lnTo>
                  <a:lnTo>
                    <a:pt x="706" y="205"/>
                  </a:lnTo>
                  <a:lnTo>
                    <a:pt x="703" y="203"/>
                  </a:lnTo>
                  <a:lnTo>
                    <a:pt x="699" y="202"/>
                  </a:lnTo>
                  <a:lnTo>
                    <a:pt x="603" y="195"/>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14" name="Freeform 13"/>
            <p:cNvSpPr>
              <a:spLocks/>
            </p:cNvSpPr>
            <p:nvPr/>
          </p:nvSpPr>
          <p:spPr bwMode="auto">
            <a:xfrm>
              <a:off x="152400" y="2516591"/>
              <a:ext cx="762670" cy="931350"/>
            </a:xfrm>
            <a:custGeom>
              <a:avLst/>
              <a:gdLst>
                <a:gd name="T0" fmla="*/ 3380 w 3380"/>
                <a:gd name="T1" fmla="*/ 0 h 4128"/>
                <a:gd name="T2" fmla="*/ 1515 w 3380"/>
                <a:gd name="T3" fmla="*/ 4128 h 4128"/>
                <a:gd name="T4" fmla="*/ 1360 w 3380"/>
                <a:gd name="T5" fmla="*/ 4118 h 4128"/>
                <a:gd name="T6" fmla="*/ 1210 w 3380"/>
                <a:gd name="T7" fmla="*/ 4091 h 4128"/>
                <a:gd name="T8" fmla="*/ 1065 w 3380"/>
                <a:gd name="T9" fmla="*/ 4046 h 4128"/>
                <a:gd name="T10" fmla="*/ 926 w 3380"/>
                <a:gd name="T11" fmla="*/ 3984 h 4128"/>
                <a:gd name="T12" fmla="*/ 794 w 3380"/>
                <a:gd name="T13" fmla="*/ 3906 h 4128"/>
                <a:gd name="T14" fmla="*/ 669 w 3380"/>
                <a:gd name="T15" fmla="*/ 3815 h 4128"/>
                <a:gd name="T16" fmla="*/ 552 w 3380"/>
                <a:gd name="T17" fmla="*/ 3709 h 4128"/>
                <a:gd name="T18" fmla="*/ 445 w 3380"/>
                <a:gd name="T19" fmla="*/ 3591 h 4128"/>
                <a:gd name="T20" fmla="*/ 347 w 3380"/>
                <a:gd name="T21" fmla="*/ 3462 h 4128"/>
                <a:gd name="T22" fmla="*/ 259 w 3380"/>
                <a:gd name="T23" fmla="*/ 3321 h 4128"/>
                <a:gd name="T24" fmla="*/ 184 w 3380"/>
                <a:gd name="T25" fmla="*/ 3170 h 4128"/>
                <a:gd name="T26" fmla="*/ 119 w 3380"/>
                <a:gd name="T27" fmla="*/ 3011 h 4128"/>
                <a:gd name="T28" fmla="*/ 68 w 3380"/>
                <a:gd name="T29" fmla="*/ 2844 h 4128"/>
                <a:gd name="T30" fmla="*/ 31 w 3380"/>
                <a:gd name="T31" fmla="*/ 2669 h 4128"/>
                <a:gd name="T32" fmla="*/ 8 w 3380"/>
                <a:gd name="T33" fmla="*/ 2488 h 4128"/>
                <a:gd name="T34" fmla="*/ 0 w 3380"/>
                <a:gd name="T35" fmla="*/ 2302 h 4128"/>
                <a:gd name="T36" fmla="*/ 2 w 3380"/>
                <a:gd name="T37" fmla="*/ 1733 h 4128"/>
                <a:gd name="T38" fmla="*/ 18 w 3380"/>
                <a:gd name="T39" fmla="*/ 1549 h 4128"/>
                <a:gd name="T40" fmla="*/ 48 w 3380"/>
                <a:gd name="T41" fmla="*/ 1371 h 4128"/>
                <a:gd name="T42" fmla="*/ 92 w 3380"/>
                <a:gd name="T43" fmla="*/ 1199 h 4128"/>
                <a:gd name="T44" fmla="*/ 150 w 3380"/>
                <a:gd name="T45" fmla="*/ 1036 h 4128"/>
                <a:gd name="T46" fmla="*/ 220 w 3380"/>
                <a:gd name="T47" fmla="*/ 881 h 4128"/>
                <a:gd name="T48" fmla="*/ 302 w 3380"/>
                <a:gd name="T49" fmla="*/ 735 h 4128"/>
                <a:gd name="T50" fmla="*/ 395 w 3380"/>
                <a:gd name="T51" fmla="*/ 600 h 4128"/>
                <a:gd name="T52" fmla="*/ 498 w 3380"/>
                <a:gd name="T53" fmla="*/ 475 h 4128"/>
                <a:gd name="T54" fmla="*/ 610 w 3380"/>
                <a:gd name="T55" fmla="*/ 364 h 4128"/>
                <a:gd name="T56" fmla="*/ 730 w 3380"/>
                <a:gd name="T57" fmla="*/ 265 h 4128"/>
                <a:gd name="T58" fmla="*/ 859 w 3380"/>
                <a:gd name="T59" fmla="*/ 180 h 4128"/>
                <a:gd name="T60" fmla="*/ 995 w 3380"/>
                <a:gd name="T61" fmla="*/ 111 h 4128"/>
                <a:gd name="T62" fmla="*/ 1137 w 3380"/>
                <a:gd name="T63" fmla="*/ 58 h 4128"/>
                <a:gd name="T64" fmla="*/ 1284 w 3380"/>
                <a:gd name="T65" fmla="*/ 21 h 4128"/>
                <a:gd name="T66" fmla="*/ 1437 w 3380"/>
                <a:gd name="T67" fmla="*/ 2 h 4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80" h="4128">
                  <a:moveTo>
                    <a:pt x="1515" y="0"/>
                  </a:moveTo>
                  <a:lnTo>
                    <a:pt x="3380" y="0"/>
                  </a:lnTo>
                  <a:lnTo>
                    <a:pt x="3380" y="4128"/>
                  </a:lnTo>
                  <a:lnTo>
                    <a:pt x="1515" y="4128"/>
                  </a:lnTo>
                  <a:lnTo>
                    <a:pt x="1437" y="4126"/>
                  </a:lnTo>
                  <a:lnTo>
                    <a:pt x="1360" y="4118"/>
                  </a:lnTo>
                  <a:lnTo>
                    <a:pt x="1284" y="4107"/>
                  </a:lnTo>
                  <a:lnTo>
                    <a:pt x="1210" y="4091"/>
                  </a:lnTo>
                  <a:lnTo>
                    <a:pt x="1137" y="4070"/>
                  </a:lnTo>
                  <a:lnTo>
                    <a:pt x="1065" y="4046"/>
                  </a:lnTo>
                  <a:lnTo>
                    <a:pt x="995" y="4017"/>
                  </a:lnTo>
                  <a:lnTo>
                    <a:pt x="926" y="3984"/>
                  </a:lnTo>
                  <a:lnTo>
                    <a:pt x="859" y="3948"/>
                  </a:lnTo>
                  <a:lnTo>
                    <a:pt x="794" y="3906"/>
                  </a:lnTo>
                  <a:lnTo>
                    <a:pt x="730" y="3863"/>
                  </a:lnTo>
                  <a:lnTo>
                    <a:pt x="669" y="3815"/>
                  </a:lnTo>
                  <a:lnTo>
                    <a:pt x="610" y="3764"/>
                  </a:lnTo>
                  <a:lnTo>
                    <a:pt x="552" y="3709"/>
                  </a:lnTo>
                  <a:lnTo>
                    <a:pt x="498" y="3653"/>
                  </a:lnTo>
                  <a:lnTo>
                    <a:pt x="445" y="3591"/>
                  </a:lnTo>
                  <a:lnTo>
                    <a:pt x="395" y="3528"/>
                  </a:lnTo>
                  <a:lnTo>
                    <a:pt x="347" y="3462"/>
                  </a:lnTo>
                  <a:lnTo>
                    <a:pt x="302" y="3393"/>
                  </a:lnTo>
                  <a:lnTo>
                    <a:pt x="259" y="3321"/>
                  </a:lnTo>
                  <a:lnTo>
                    <a:pt x="220" y="3247"/>
                  </a:lnTo>
                  <a:lnTo>
                    <a:pt x="184" y="3170"/>
                  </a:lnTo>
                  <a:lnTo>
                    <a:pt x="150" y="3092"/>
                  </a:lnTo>
                  <a:lnTo>
                    <a:pt x="119" y="3011"/>
                  </a:lnTo>
                  <a:lnTo>
                    <a:pt x="92" y="2929"/>
                  </a:lnTo>
                  <a:lnTo>
                    <a:pt x="68" y="2844"/>
                  </a:lnTo>
                  <a:lnTo>
                    <a:pt x="48" y="2757"/>
                  </a:lnTo>
                  <a:lnTo>
                    <a:pt x="31" y="2669"/>
                  </a:lnTo>
                  <a:lnTo>
                    <a:pt x="18" y="2579"/>
                  </a:lnTo>
                  <a:lnTo>
                    <a:pt x="8" y="2488"/>
                  </a:lnTo>
                  <a:lnTo>
                    <a:pt x="2" y="2395"/>
                  </a:lnTo>
                  <a:lnTo>
                    <a:pt x="0" y="2302"/>
                  </a:lnTo>
                  <a:lnTo>
                    <a:pt x="0" y="1826"/>
                  </a:lnTo>
                  <a:lnTo>
                    <a:pt x="2" y="1733"/>
                  </a:lnTo>
                  <a:lnTo>
                    <a:pt x="8" y="1640"/>
                  </a:lnTo>
                  <a:lnTo>
                    <a:pt x="18" y="1549"/>
                  </a:lnTo>
                  <a:lnTo>
                    <a:pt x="31" y="1459"/>
                  </a:lnTo>
                  <a:lnTo>
                    <a:pt x="48" y="1371"/>
                  </a:lnTo>
                  <a:lnTo>
                    <a:pt x="68" y="1284"/>
                  </a:lnTo>
                  <a:lnTo>
                    <a:pt x="92" y="1199"/>
                  </a:lnTo>
                  <a:lnTo>
                    <a:pt x="119" y="1117"/>
                  </a:lnTo>
                  <a:lnTo>
                    <a:pt x="150" y="1036"/>
                  </a:lnTo>
                  <a:lnTo>
                    <a:pt x="184" y="958"/>
                  </a:lnTo>
                  <a:lnTo>
                    <a:pt x="220" y="881"/>
                  </a:lnTo>
                  <a:lnTo>
                    <a:pt x="259" y="807"/>
                  </a:lnTo>
                  <a:lnTo>
                    <a:pt x="302" y="735"/>
                  </a:lnTo>
                  <a:lnTo>
                    <a:pt x="347" y="666"/>
                  </a:lnTo>
                  <a:lnTo>
                    <a:pt x="395" y="600"/>
                  </a:lnTo>
                  <a:lnTo>
                    <a:pt x="445" y="537"/>
                  </a:lnTo>
                  <a:lnTo>
                    <a:pt x="498" y="475"/>
                  </a:lnTo>
                  <a:lnTo>
                    <a:pt x="552" y="419"/>
                  </a:lnTo>
                  <a:lnTo>
                    <a:pt x="610" y="364"/>
                  </a:lnTo>
                  <a:lnTo>
                    <a:pt x="669" y="313"/>
                  </a:lnTo>
                  <a:lnTo>
                    <a:pt x="730" y="265"/>
                  </a:lnTo>
                  <a:lnTo>
                    <a:pt x="794" y="222"/>
                  </a:lnTo>
                  <a:lnTo>
                    <a:pt x="859" y="180"/>
                  </a:lnTo>
                  <a:lnTo>
                    <a:pt x="926" y="144"/>
                  </a:lnTo>
                  <a:lnTo>
                    <a:pt x="995" y="111"/>
                  </a:lnTo>
                  <a:lnTo>
                    <a:pt x="1065" y="82"/>
                  </a:lnTo>
                  <a:lnTo>
                    <a:pt x="1137" y="58"/>
                  </a:lnTo>
                  <a:lnTo>
                    <a:pt x="1210" y="37"/>
                  </a:lnTo>
                  <a:lnTo>
                    <a:pt x="1284" y="21"/>
                  </a:lnTo>
                  <a:lnTo>
                    <a:pt x="1360" y="10"/>
                  </a:lnTo>
                  <a:lnTo>
                    <a:pt x="1437" y="2"/>
                  </a:lnTo>
                  <a:lnTo>
                    <a:pt x="1515" y="0"/>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15" name="Rectangle 14"/>
            <p:cNvSpPr>
              <a:spLocks noChangeArrowheads="1"/>
            </p:cNvSpPr>
            <p:nvPr/>
          </p:nvSpPr>
          <p:spPr bwMode="auto">
            <a:xfrm>
              <a:off x="915070" y="2516591"/>
              <a:ext cx="4690872" cy="931350"/>
            </a:xfrm>
            <a:prstGeom prst="rect">
              <a:avLst/>
            </a:pr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16" name="Freeform 15"/>
            <p:cNvSpPr>
              <a:spLocks/>
            </p:cNvSpPr>
            <p:nvPr/>
          </p:nvSpPr>
          <p:spPr bwMode="auto">
            <a:xfrm flipV="1">
              <a:off x="5286480" y="2654717"/>
              <a:ext cx="657120" cy="655097"/>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17" name="Freeform 16"/>
            <p:cNvSpPr>
              <a:spLocks/>
            </p:cNvSpPr>
            <p:nvPr/>
          </p:nvSpPr>
          <p:spPr bwMode="auto">
            <a:xfrm>
              <a:off x="5329884" y="2697988"/>
              <a:ext cx="570309" cy="568556"/>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solidFill>
              <a:schemeClr val="accent2">
                <a:lumMod val="60000"/>
                <a:lumOff val="40000"/>
              </a:schemeClr>
            </a:solidFill>
            <a:ln>
              <a:noFill/>
            </a:ln>
            <a:effectLst>
              <a:outerShdw blurRad="50800" dist="38100" dir="3060000" algn="tl" rotWithShape="0">
                <a:prstClr val="black">
                  <a:alpha val="2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18" name="TextBox 32"/>
            <p:cNvSpPr txBox="1"/>
            <p:nvPr/>
          </p:nvSpPr>
          <p:spPr>
            <a:xfrm>
              <a:off x="5371494" y="2746451"/>
              <a:ext cx="501686" cy="461665"/>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2400" b="1" dirty="0">
                  <a:latin typeface="Calibri" panose="020F0502020204030204"/>
                </a:rPr>
                <a:t>02</a:t>
              </a:r>
            </a:p>
          </p:txBody>
        </p:sp>
        <p:sp>
          <p:nvSpPr>
            <p:cNvPr id="20" name="Freeform 19"/>
            <p:cNvSpPr>
              <a:spLocks/>
            </p:cNvSpPr>
            <p:nvPr/>
          </p:nvSpPr>
          <p:spPr bwMode="auto">
            <a:xfrm>
              <a:off x="369970" y="2794054"/>
              <a:ext cx="389103" cy="387325"/>
            </a:xfrm>
            <a:custGeom>
              <a:avLst/>
              <a:gdLst>
                <a:gd name="T0" fmla="*/ 773 w 1287"/>
                <a:gd name="T1" fmla="*/ 1274 h 1287"/>
                <a:gd name="T2" fmla="*/ 922 w 1287"/>
                <a:gd name="T3" fmla="*/ 1224 h 1287"/>
                <a:gd name="T4" fmla="*/ 1053 w 1287"/>
                <a:gd name="T5" fmla="*/ 1140 h 1287"/>
                <a:gd name="T6" fmla="*/ 1159 w 1287"/>
                <a:gd name="T7" fmla="*/ 1028 h 1287"/>
                <a:gd name="T8" fmla="*/ 1237 w 1287"/>
                <a:gd name="T9" fmla="*/ 894 h 1287"/>
                <a:gd name="T10" fmla="*/ 1279 w 1287"/>
                <a:gd name="T11" fmla="*/ 742 h 1287"/>
                <a:gd name="T12" fmla="*/ 1285 w 1287"/>
                <a:gd name="T13" fmla="*/ 600 h 1287"/>
                <a:gd name="T14" fmla="*/ 1263 w 1287"/>
                <a:gd name="T15" fmla="*/ 479 h 1287"/>
                <a:gd name="T16" fmla="*/ 1214 w 1287"/>
                <a:gd name="T17" fmla="*/ 363 h 1287"/>
                <a:gd name="T18" fmla="*/ 1161 w 1287"/>
                <a:gd name="T19" fmla="*/ 300 h 1287"/>
                <a:gd name="T20" fmla="*/ 1127 w 1287"/>
                <a:gd name="T21" fmla="*/ 313 h 1287"/>
                <a:gd name="T22" fmla="*/ 1062 w 1287"/>
                <a:gd name="T23" fmla="*/ 422 h 1287"/>
                <a:gd name="T24" fmla="*/ 1093 w 1287"/>
                <a:gd name="T25" fmla="*/ 496 h 1287"/>
                <a:gd name="T26" fmla="*/ 1112 w 1287"/>
                <a:gd name="T27" fmla="*/ 577 h 1287"/>
                <a:gd name="T28" fmla="*/ 1116 w 1287"/>
                <a:gd name="T29" fmla="*/ 668 h 1287"/>
                <a:gd name="T30" fmla="*/ 1095 w 1287"/>
                <a:gd name="T31" fmla="*/ 784 h 1287"/>
                <a:gd name="T32" fmla="*/ 1048 w 1287"/>
                <a:gd name="T33" fmla="*/ 889 h 1287"/>
                <a:gd name="T34" fmla="*/ 978 w 1287"/>
                <a:gd name="T35" fmla="*/ 978 h 1287"/>
                <a:gd name="T36" fmla="*/ 889 w 1287"/>
                <a:gd name="T37" fmla="*/ 1049 h 1287"/>
                <a:gd name="T38" fmla="*/ 784 w 1287"/>
                <a:gd name="T39" fmla="*/ 1096 h 1287"/>
                <a:gd name="T40" fmla="*/ 668 w 1287"/>
                <a:gd name="T41" fmla="*/ 1116 h 1287"/>
                <a:gd name="T42" fmla="*/ 548 w 1287"/>
                <a:gd name="T43" fmla="*/ 1107 h 1287"/>
                <a:gd name="T44" fmla="*/ 439 w 1287"/>
                <a:gd name="T45" fmla="*/ 1070 h 1287"/>
                <a:gd name="T46" fmla="*/ 342 w 1287"/>
                <a:gd name="T47" fmla="*/ 1009 h 1287"/>
                <a:gd name="T48" fmla="*/ 264 w 1287"/>
                <a:gd name="T49" fmla="*/ 926 h 1287"/>
                <a:gd name="T50" fmla="*/ 207 w 1287"/>
                <a:gd name="T51" fmla="*/ 828 h 1287"/>
                <a:gd name="T52" fmla="*/ 176 w 1287"/>
                <a:gd name="T53" fmla="*/ 715 h 1287"/>
                <a:gd name="T54" fmla="*/ 173 w 1287"/>
                <a:gd name="T55" fmla="*/ 595 h 1287"/>
                <a:gd name="T56" fmla="*/ 198 w 1287"/>
                <a:gd name="T57" fmla="*/ 481 h 1287"/>
                <a:gd name="T58" fmla="*/ 251 w 1287"/>
                <a:gd name="T59" fmla="*/ 379 h 1287"/>
                <a:gd name="T60" fmla="*/ 325 w 1287"/>
                <a:gd name="T61" fmla="*/ 294 h 1287"/>
                <a:gd name="T62" fmla="*/ 418 w 1287"/>
                <a:gd name="T63" fmla="*/ 227 h 1287"/>
                <a:gd name="T64" fmla="*/ 525 w 1287"/>
                <a:gd name="T65" fmla="*/ 185 h 1287"/>
                <a:gd name="T66" fmla="*/ 643 w 1287"/>
                <a:gd name="T67" fmla="*/ 170 h 1287"/>
                <a:gd name="T68" fmla="*/ 727 w 1287"/>
                <a:gd name="T69" fmla="*/ 178 h 1287"/>
                <a:gd name="T70" fmla="*/ 806 w 1287"/>
                <a:gd name="T71" fmla="*/ 199 h 1287"/>
                <a:gd name="T72" fmla="*/ 878 w 1287"/>
                <a:gd name="T73" fmla="*/ 234 h 1287"/>
                <a:gd name="T74" fmla="*/ 983 w 1287"/>
                <a:gd name="T75" fmla="*/ 149 h 1287"/>
                <a:gd name="T76" fmla="*/ 997 w 1287"/>
                <a:gd name="T77" fmla="*/ 128 h 1287"/>
                <a:gd name="T78" fmla="*/ 888 w 1287"/>
                <a:gd name="T79" fmla="*/ 50 h 1287"/>
                <a:gd name="T80" fmla="*/ 773 w 1287"/>
                <a:gd name="T81" fmla="*/ 12 h 1287"/>
                <a:gd name="T82" fmla="*/ 664 w 1287"/>
                <a:gd name="T83" fmla="*/ 0 h 1287"/>
                <a:gd name="T84" fmla="*/ 514 w 1287"/>
                <a:gd name="T85" fmla="*/ 13 h 1287"/>
                <a:gd name="T86" fmla="*/ 365 w 1287"/>
                <a:gd name="T87" fmla="*/ 63 h 1287"/>
                <a:gd name="T88" fmla="*/ 234 w 1287"/>
                <a:gd name="T89" fmla="*/ 147 h 1287"/>
                <a:gd name="T90" fmla="*/ 128 w 1287"/>
                <a:gd name="T91" fmla="*/ 258 h 1287"/>
                <a:gd name="T92" fmla="*/ 50 w 1287"/>
                <a:gd name="T93" fmla="*/ 393 h 1287"/>
                <a:gd name="T94" fmla="*/ 7 w 1287"/>
                <a:gd name="T95" fmla="*/ 546 h 1287"/>
                <a:gd name="T96" fmla="*/ 3 w 1287"/>
                <a:gd name="T97" fmla="*/ 710 h 1287"/>
                <a:gd name="T98" fmla="*/ 39 w 1287"/>
                <a:gd name="T99" fmla="*/ 865 h 1287"/>
                <a:gd name="T100" fmla="*/ 109 w 1287"/>
                <a:gd name="T101" fmla="*/ 1004 h 1287"/>
                <a:gd name="T102" fmla="*/ 210 w 1287"/>
                <a:gd name="T103" fmla="*/ 1119 h 1287"/>
                <a:gd name="T104" fmla="*/ 337 w 1287"/>
                <a:gd name="T105" fmla="*/ 1210 h 1287"/>
                <a:gd name="T106" fmla="*/ 483 w 1287"/>
                <a:gd name="T107" fmla="*/ 1266 h 1287"/>
                <a:gd name="T108" fmla="*/ 643 w 1287"/>
                <a:gd name="T109"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87" h="1287">
                  <a:moveTo>
                    <a:pt x="643" y="1287"/>
                  </a:moveTo>
                  <a:lnTo>
                    <a:pt x="677" y="1287"/>
                  </a:lnTo>
                  <a:lnTo>
                    <a:pt x="709" y="1284"/>
                  </a:lnTo>
                  <a:lnTo>
                    <a:pt x="741" y="1279"/>
                  </a:lnTo>
                  <a:lnTo>
                    <a:pt x="773" y="1274"/>
                  </a:lnTo>
                  <a:lnTo>
                    <a:pt x="804" y="1266"/>
                  </a:lnTo>
                  <a:lnTo>
                    <a:pt x="834" y="1258"/>
                  </a:lnTo>
                  <a:lnTo>
                    <a:pt x="864" y="1248"/>
                  </a:lnTo>
                  <a:lnTo>
                    <a:pt x="893" y="1236"/>
                  </a:lnTo>
                  <a:lnTo>
                    <a:pt x="922" y="1224"/>
                  </a:lnTo>
                  <a:lnTo>
                    <a:pt x="950" y="1210"/>
                  </a:lnTo>
                  <a:lnTo>
                    <a:pt x="977" y="1195"/>
                  </a:lnTo>
                  <a:lnTo>
                    <a:pt x="1003" y="1177"/>
                  </a:lnTo>
                  <a:lnTo>
                    <a:pt x="1028" y="1159"/>
                  </a:lnTo>
                  <a:lnTo>
                    <a:pt x="1053" y="1140"/>
                  </a:lnTo>
                  <a:lnTo>
                    <a:pt x="1076" y="1119"/>
                  </a:lnTo>
                  <a:lnTo>
                    <a:pt x="1098" y="1099"/>
                  </a:lnTo>
                  <a:lnTo>
                    <a:pt x="1120" y="1077"/>
                  </a:lnTo>
                  <a:lnTo>
                    <a:pt x="1140" y="1053"/>
                  </a:lnTo>
                  <a:lnTo>
                    <a:pt x="1159" y="1028"/>
                  </a:lnTo>
                  <a:lnTo>
                    <a:pt x="1177" y="1004"/>
                  </a:lnTo>
                  <a:lnTo>
                    <a:pt x="1194" y="977"/>
                  </a:lnTo>
                  <a:lnTo>
                    <a:pt x="1210" y="950"/>
                  </a:lnTo>
                  <a:lnTo>
                    <a:pt x="1224" y="922"/>
                  </a:lnTo>
                  <a:lnTo>
                    <a:pt x="1237" y="894"/>
                  </a:lnTo>
                  <a:lnTo>
                    <a:pt x="1248" y="865"/>
                  </a:lnTo>
                  <a:lnTo>
                    <a:pt x="1258" y="835"/>
                  </a:lnTo>
                  <a:lnTo>
                    <a:pt x="1267" y="804"/>
                  </a:lnTo>
                  <a:lnTo>
                    <a:pt x="1274" y="773"/>
                  </a:lnTo>
                  <a:lnTo>
                    <a:pt x="1279" y="742"/>
                  </a:lnTo>
                  <a:lnTo>
                    <a:pt x="1284" y="710"/>
                  </a:lnTo>
                  <a:lnTo>
                    <a:pt x="1286" y="677"/>
                  </a:lnTo>
                  <a:lnTo>
                    <a:pt x="1287" y="643"/>
                  </a:lnTo>
                  <a:lnTo>
                    <a:pt x="1286" y="622"/>
                  </a:lnTo>
                  <a:lnTo>
                    <a:pt x="1285" y="600"/>
                  </a:lnTo>
                  <a:lnTo>
                    <a:pt x="1283" y="577"/>
                  </a:lnTo>
                  <a:lnTo>
                    <a:pt x="1279" y="553"/>
                  </a:lnTo>
                  <a:lnTo>
                    <a:pt x="1275" y="529"/>
                  </a:lnTo>
                  <a:lnTo>
                    <a:pt x="1270" y="504"/>
                  </a:lnTo>
                  <a:lnTo>
                    <a:pt x="1263" y="479"/>
                  </a:lnTo>
                  <a:lnTo>
                    <a:pt x="1256" y="455"/>
                  </a:lnTo>
                  <a:lnTo>
                    <a:pt x="1247" y="431"/>
                  </a:lnTo>
                  <a:lnTo>
                    <a:pt x="1237" y="407"/>
                  </a:lnTo>
                  <a:lnTo>
                    <a:pt x="1226" y="385"/>
                  </a:lnTo>
                  <a:lnTo>
                    <a:pt x="1214" y="363"/>
                  </a:lnTo>
                  <a:lnTo>
                    <a:pt x="1200" y="343"/>
                  </a:lnTo>
                  <a:lnTo>
                    <a:pt x="1186" y="325"/>
                  </a:lnTo>
                  <a:lnTo>
                    <a:pt x="1179" y="316"/>
                  </a:lnTo>
                  <a:lnTo>
                    <a:pt x="1170" y="308"/>
                  </a:lnTo>
                  <a:lnTo>
                    <a:pt x="1161" y="300"/>
                  </a:lnTo>
                  <a:lnTo>
                    <a:pt x="1153" y="293"/>
                  </a:lnTo>
                  <a:lnTo>
                    <a:pt x="1150" y="294"/>
                  </a:lnTo>
                  <a:lnTo>
                    <a:pt x="1144" y="298"/>
                  </a:lnTo>
                  <a:lnTo>
                    <a:pt x="1136" y="304"/>
                  </a:lnTo>
                  <a:lnTo>
                    <a:pt x="1127" y="313"/>
                  </a:lnTo>
                  <a:lnTo>
                    <a:pt x="1111" y="328"/>
                  </a:lnTo>
                  <a:lnTo>
                    <a:pt x="1105" y="335"/>
                  </a:lnTo>
                  <a:lnTo>
                    <a:pt x="1046" y="394"/>
                  </a:lnTo>
                  <a:lnTo>
                    <a:pt x="1054" y="408"/>
                  </a:lnTo>
                  <a:lnTo>
                    <a:pt x="1062" y="422"/>
                  </a:lnTo>
                  <a:lnTo>
                    <a:pt x="1069" y="436"/>
                  </a:lnTo>
                  <a:lnTo>
                    <a:pt x="1076" y="451"/>
                  </a:lnTo>
                  <a:lnTo>
                    <a:pt x="1082" y="466"/>
                  </a:lnTo>
                  <a:lnTo>
                    <a:pt x="1087" y="481"/>
                  </a:lnTo>
                  <a:lnTo>
                    <a:pt x="1093" y="496"/>
                  </a:lnTo>
                  <a:lnTo>
                    <a:pt x="1098" y="512"/>
                  </a:lnTo>
                  <a:lnTo>
                    <a:pt x="1103" y="527"/>
                  </a:lnTo>
                  <a:lnTo>
                    <a:pt x="1106" y="544"/>
                  </a:lnTo>
                  <a:lnTo>
                    <a:pt x="1109" y="560"/>
                  </a:lnTo>
                  <a:lnTo>
                    <a:pt x="1112" y="577"/>
                  </a:lnTo>
                  <a:lnTo>
                    <a:pt x="1114" y="593"/>
                  </a:lnTo>
                  <a:lnTo>
                    <a:pt x="1115" y="610"/>
                  </a:lnTo>
                  <a:lnTo>
                    <a:pt x="1116" y="626"/>
                  </a:lnTo>
                  <a:lnTo>
                    <a:pt x="1116" y="643"/>
                  </a:lnTo>
                  <a:lnTo>
                    <a:pt x="1116" y="668"/>
                  </a:lnTo>
                  <a:lnTo>
                    <a:pt x="1114" y="692"/>
                  </a:lnTo>
                  <a:lnTo>
                    <a:pt x="1111" y="715"/>
                  </a:lnTo>
                  <a:lnTo>
                    <a:pt x="1107" y="739"/>
                  </a:lnTo>
                  <a:lnTo>
                    <a:pt x="1101" y="761"/>
                  </a:lnTo>
                  <a:lnTo>
                    <a:pt x="1095" y="784"/>
                  </a:lnTo>
                  <a:lnTo>
                    <a:pt x="1087" y="806"/>
                  </a:lnTo>
                  <a:lnTo>
                    <a:pt x="1079" y="828"/>
                  </a:lnTo>
                  <a:lnTo>
                    <a:pt x="1070" y="848"/>
                  </a:lnTo>
                  <a:lnTo>
                    <a:pt x="1060" y="869"/>
                  </a:lnTo>
                  <a:lnTo>
                    <a:pt x="1048" y="889"/>
                  </a:lnTo>
                  <a:lnTo>
                    <a:pt x="1036" y="908"/>
                  </a:lnTo>
                  <a:lnTo>
                    <a:pt x="1023" y="926"/>
                  </a:lnTo>
                  <a:lnTo>
                    <a:pt x="1008" y="945"/>
                  </a:lnTo>
                  <a:lnTo>
                    <a:pt x="994" y="962"/>
                  </a:lnTo>
                  <a:lnTo>
                    <a:pt x="978" y="978"/>
                  </a:lnTo>
                  <a:lnTo>
                    <a:pt x="962" y="994"/>
                  </a:lnTo>
                  <a:lnTo>
                    <a:pt x="945" y="1009"/>
                  </a:lnTo>
                  <a:lnTo>
                    <a:pt x="927" y="1023"/>
                  </a:lnTo>
                  <a:lnTo>
                    <a:pt x="908" y="1036"/>
                  </a:lnTo>
                  <a:lnTo>
                    <a:pt x="889" y="1049"/>
                  </a:lnTo>
                  <a:lnTo>
                    <a:pt x="869" y="1059"/>
                  </a:lnTo>
                  <a:lnTo>
                    <a:pt x="848" y="1070"/>
                  </a:lnTo>
                  <a:lnTo>
                    <a:pt x="828" y="1080"/>
                  </a:lnTo>
                  <a:lnTo>
                    <a:pt x="806" y="1088"/>
                  </a:lnTo>
                  <a:lnTo>
                    <a:pt x="784" y="1096"/>
                  </a:lnTo>
                  <a:lnTo>
                    <a:pt x="761" y="1101"/>
                  </a:lnTo>
                  <a:lnTo>
                    <a:pt x="739" y="1107"/>
                  </a:lnTo>
                  <a:lnTo>
                    <a:pt x="715" y="1111"/>
                  </a:lnTo>
                  <a:lnTo>
                    <a:pt x="692" y="1114"/>
                  </a:lnTo>
                  <a:lnTo>
                    <a:pt x="668" y="1116"/>
                  </a:lnTo>
                  <a:lnTo>
                    <a:pt x="643" y="1116"/>
                  </a:lnTo>
                  <a:lnTo>
                    <a:pt x="619" y="1116"/>
                  </a:lnTo>
                  <a:lnTo>
                    <a:pt x="595" y="1114"/>
                  </a:lnTo>
                  <a:lnTo>
                    <a:pt x="572" y="1111"/>
                  </a:lnTo>
                  <a:lnTo>
                    <a:pt x="548" y="1107"/>
                  </a:lnTo>
                  <a:lnTo>
                    <a:pt x="525" y="1101"/>
                  </a:lnTo>
                  <a:lnTo>
                    <a:pt x="503" y="1096"/>
                  </a:lnTo>
                  <a:lnTo>
                    <a:pt x="480" y="1088"/>
                  </a:lnTo>
                  <a:lnTo>
                    <a:pt x="459" y="1080"/>
                  </a:lnTo>
                  <a:lnTo>
                    <a:pt x="439" y="1070"/>
                  </a:lnTo>
                  <a:lnTo>
                    <a:pt x="418" y="1059"/>
                  </a:lnTo>
                  <a:lnTo>
                    <a:pt x="398" y="1049"/>
                  </a:lnTo>
                  <a:lnTo>
                    <a:pt x="379" y="1036"/>
                  </a:lnTo>
                  <a:lnTo>
                    <a:pt x="360" y="1023"/>
                  </a:lnTo>
                  <a:lnTo>
                    <a:pt x="342" y="1009"/>
                  </a:lnTo>
                  <a:lnTo>
                    <a:pt x="325" y="994"/>
                  </a:lnTo>
                  <a:lnTo>
                    <a:pt x="309" y="978"/>
                  </a:lnTo>
                  <a:lnTo>
                    <a:pt x="293" y="962"/>
                  </a:lnTo>
                  <a:lnTo>
                    <a:pt x="279" y="945"/>
                  </a:lnTo>
                  <a:lnTo>
                    <a:pt x="264" y="926"/>
                  </a:lnTo>
                  <a:lnTo>
                    <a:pt x="251" y="908"/>
                  </a:lnTo>
                  <a:lnTo>
                    <a:pt x="239" y="889"/>
                  </a:lnTo>
                  <a:lnTo>
                    <a:pt x="227" y="869"/>
                  </a:lnTo>
                  <a:lnTo>
                    <a:pt x="217" y="848"/>
                  </a:lnTo>
                  <a:lnTo>
                    <a:pt x="207" y="828"/>
                  </a:lnTo>
                  <a:lnTo>
                    <a:pt x="198" y="806"/>
                  </a:lnTo>
                  <a:lnTo>
                    <a:pt x="192" y="784"/>
                  </a:lnTo>
                  <a:lnTo>
                    <a:pt x="186" y="761"/>
                  </a:lnTo>
                  <a:lnTo>
                    <a:pt x="180" y="739"/>
                  </a:lnTo>
                  <a:lnTo>
                    <a:pt x="176" y="715"/>
                  </a:lnTo>
                  <a:lnTo>
                    <a:pt x="173" y="692"/>
                  </a:lnTo>
                  <a:lnTo>
                    <a:pt x="170" y="668"/>
                  </a:lnTo>
                  <a:lnTo>
                    <a:pt x="170" y="643"/>
                  </a:lnTo>
                  <a:lnTo>
                    <a:pt x="170" y="620"/>
                  </a:lnTo>
                  <a:lnTo>
                    <a:pt x="173" y="595"/>
                  </a:lnTo>
                  <a:lnTo>
                    <a:pt x="176" y="571"/>
                  </a:lnTo>
                  <a:lnTo>
                    <a:pt x="180" y="548"/>
                  </a:lnTo>
                  <a:lnTo>
                    <a:pt x="186" y="525"/>
                  </a:lnTo>
                  <a:lnTo>
                    <a:pt x="192" y="503"/>
                  </a:lnTo>
                  <a:lnTo>
                    <a:pt x="198" y="481"/>
                  </a:lnTo>
                  <a:lnTo>
                    <a:pt x="207" y="460"/>
                  </a:lnTo>
                  <a:lnTo>
                    <a:pt x="217" y="438"/>
                  </a:lnTo>
                  <a:lnTo>
                    <a:pt x="227" y="418"/>
                  </a:lnTo>
                  <a:lnTo>
                    <a:pt x="239" y="399"/>
                  </a:lnTo>
                  <a:lnTo>
                    <a:pt x="251" y="379"/>
                  </a:lnTo>
                  <a:lnTo>
                    <a:pt x="264" y="360"/>
                  </a:lnTo>
                  <a:lnTo>
                    <a:pt x="278" y="343"/>
                  </a:lnTo>
                  <a:lnTo>
                    <a:pt x="293" y="326"/>
                  </a:lnTo>
                  <a:lnTo>
                    <a:pt x="309" y="309"/>
                  </a:lnTo>
                  <a:lnTo>
                    <a:pt x="325" y="294"/>
                  </a:lnTo>
                  <a:lnTo>
                    <a:pt x="342" y="279"/>
                  </a:lnTo>
                  <a:lnTo>
                    <a:pt x="360" y="265"/>
                  </a:lnTo>
                  <a:lnTo>
                    <a:pt x="379" y="251"/>
                  </a:lnTo>
                  <a:lnTo>
                    <a:pt x="398" y="239"/>
                  </a:lnTo>
                  <a:lnTo>
                    <a:pt x="418" y="227"/>
                  </a:lnTo>
                  <a:lnTo>
                    <a:pt x="439" y="218"/>
                  </a:lnTo>
                  <a:lnTo>
                    <a:pt x="459" y="208"/>
                  </a:lnTo>
                  <a:lnTo>
                    <a:pt x="480" y="199"/>
                  </a:lnTo>
                  <a:lnTo>
                    <a:pt x="503" y="192"/>
                  </a:lnTo>
                  <a:lnTo>
                    <a:pt x="525" y="185"/>
                  </a:lnTo>
                  <a:lnTo>
                    <a:pt x="548" y="180"/>
                  </a:lnTo>
                  <a:lnTo>
                    <a:pt x="572" y="176"/>
                  </a:lnTo>
                  <a:lnTo>
                    <a:pt x="595" y="172"/>
                  </a:lnTo>
                  <a:lnTo>
                    <a:pt x="619" y="171"/>
                  </a:lnTo>
                  <a:lnTo>
                    <a:pt x="643" y="170"/>
                  </a:lnTo>
                  <a:lnTo>
                    <a:pt x="661" y="170"/>
                  </a:lnTo>
                  <a:lnTo>
                    <a:pt x="678" y="171"/>
                  </a:lnTo>
                  <a:lnTo>
                    <a:pt x="694" y="174"/>
                  </a:lnTo>
                  <a:lnTo>
                    <a:pt x="711" y="176"/>
                  </a:lnTo>
                  <a:lnTo>
                    <a:pt x="727" y="178"/>
                  </a:lnTo>
                  <a:lnTo>
                    <a:pt x="743" y="181"/>
                  </a:lnTo>
                  <a:lnTo>
                    <a:pt x="759" y="184"/>
                  </a:lnTo>
                  <a:lnTo>
                    <a:pt x="775" y="189"/>
                  </a:lnTo>
                  <a:lnTo>
                    <a:pt x="790" y="194"/>
                  </a:lnTo>
                  <a:lnTo>
                    <a:pt x="806" y="199"/>
                  </a:lnTo>
                  <a:lnTo>
                    <a:pt x="822" y="205"/>
                  </a:lnTo>
                  <a:lnTo>
                    <a:pt x="835" y="211"/>
                  </a:lnTo>
                  <a:lnTo>
                    <a:pt x="850" y="219"/>
                  </a:lnTo>
                  <a:lnTo>
                    <a:pt x="864" y="225"/>
                  </a:lnTo>
                  <a:lnTo>
                    <a:pt x="878" y="234"/>
                  </a:lnTo>
                  <a:lnTo>
                    <a:pt x="892" y="241"/>
                  </a:lnTo>
                  <a:lnTo>
                    <a:pt x="946" y="189"/>
                  </a:lnTo>
                  <a:lnTo>
                    <a:pt x="954" y="179"/>
                  </a:lnTo>
                  <a:lnTo>
                    <a:pt x="974" y="160"/>
                  </a:lnTo>
                  <a:lnTo>
                    <a:pt x="983" y="149"/>
                  </a:lnTo>
                  <a:lnTo>
                    <a:pt x="991" y="139"/>
                  </a:lnTo>
                  <a:lnTo>
                    <a:pt x="994" y="136"/>
                  </a:lnTo>
                  <a:lnTo>
                    <a:pt x="996" y="132"/>
                  </a:lnTo>
                  <a:lnTo>
                    <a:pt x="997" y="130"/>
                  </a:lnTo>
                  <a:lnTo>
                    <a:pt x="997" y="128"/>
                  </a:lnTo>
                  <a:lnTo>
                    <a:pt x="976" y="109"/>
                  </a:lnTo>
                  <a:lnTo>
                    <a:pt x="954" y="91"/>
                  </a:lnTo>
                  <a:lnTo>
                    <a:pt x="932" y="76"/>
                  </a:lnTo>
                  <a:lnTo>
                    <a:pt x="911" y="62"/>
                  </a:lnTo>
                  <a:lnTo>
                    <a:pt x="888" y="50"/>
                  </a:lnTo>
                  <a:lnTo>
                    <a:pt x="864" y="39"/>
                  </a:lnTo>
                  <a:lnTo>
                    <a:pt x="842" y="31"/>
                  </a:lnTo>
                  <a:lnTo>
                    <a:pt x="818" y="23"/>
                  </a:lnTo>
                  <a:lnTo>
                    <a:pt x="796" y="17"/>
                  </a:lnTo>
                  <a:lnTo>
                    <a:pt x="773" y="12"/>
                  </a:lnTo>
                  <a:lnTo>
                    <a:pt x="751" y="7"/>
                  </a:lnTo>
                  <a:lnTo>
                    <a:pt x="728" y="5"/>
                  </a:lnTo>
                  <a:lnTo>
                    <a:pt x="706" y="2"/>
                  </a:lnTo>
                  <a:lnTo>
                    <a:pt x="684" y="1"/>
                  </a:lnTo>
                  <a:lnTo>
                    <a:pt x="664" y="0"/>
                  </a:lnTo>
                  <a:lnTo>
                    <a:pt x="643" y="0"/>
                  </a:lnTo>
                  <a:lnTo>
                    <a:pt x="610" y="1"/>
                  </a:lnTo>
                  <a:lnTo>
                    <a:pt x="577" y="3"/>
                  </a:lnTo>
                  <a:lnTo>
                    <a:pt x="545" y="7"/>
                  </a:lnTo>
                  <a:lnTo>
                    <a:pt x="514" y="13"/>
                  </a:lnTo>
                  <a:lnTo>
                    <a:pt x="483" y="20"/>
                  </a:lnTo>
                  <a:lnTo>
                    <a:pt x="451" y="29"/>
                  </a:lnTo>
                  <a:lnTo>
                    <a:pt x="421" y="39"/>
                  </a:lnTo>
                  <a:lnTo>
                    <a:pt x="393" y="50"/>
                  </a:lnTo>
                  <a:lnTo>
                    <a:pt x="365" y="63"/>
                  </a:lnTo>
                  <a:lnTo>
                    <a:pt x="337" y="78"/>
                  </a:lnTo>
                  <a:lnTo>
                    <a:pt x="310" y="93"/>
                  </a:lnTo>
                  <a:lnTo>
                    <a:pt x="283" y="110"/>
                  </a:lnTo>
                  <a:lnTo>
                    <a:pt x="258" y="127"/>
                  </a:lnTo>
                  <a:lnTo>
                    <a:pt x="234" y="147"/>
                  </a:lnTo>
                  <a:lnTo>
                    <a:pt x="210" y="167"/>
                  </a:lnTo>
                  <a:lnTo>
                    <a:pt x="189" y="189"/>
                  </a:lnTo>
                  <a:lnTo>
                    <a:pt x="167" y="211"/>
                  </a:lnTo>
                  <a:lnTo>
                    <a:pt x="147" y="234"/>
                  </a:lnTo>
                  <a:lnTo>
                    <a:pt x="128" y="258"/>
                  </a:lnTo>
                  <a:lnTo>
                    <a:pt x="109" y="284"/>
                  </a:lnTo>
                  <a:lnTo>
                    <a:pt x="93" y="310"/>
                  </a:lnTo>
                  <a:lnTo>
                    <a:pt x="77" y="337"/>
                  </a:lnTo>
                  <a:lnTo>
                    <a:pt x="63" y="364"/>
                  </a:lnTo>
                  <a:lnTo>
                    <a:pt x="50" y="393"/>
                  </a:lnTo>
                  <a:lnTo>
                    <a:pt x="39" y="422"/>
                  </a:lnTo>
                  <a:lnTo>
                    <a:pt x="29" y="452"/>
                  </a:lnTo>
                  <a:lnTo>
                    <a:pt x="20" y="482"/>
                  </a:lnTo>
                  <a:lnTo>
                    <a:pt x="13" y="514"/>
                  </a:lnTo>
                  <a:lnTo>
                    <a:pt x="7" y="546"/>
                  </a:lnTo>
                  <a:lnTo>
                    <a:pt x="3" y="578"/>
                  </a:lnTo>
                  <a:lnTo>
                    <a:pt x="0" y="610"/>
                  </a:lnTo>
                  <a:lnTo>
                    <a:pt x="0" y="643"/>
                  </a:lnTo>
                  <a:lnTo>
                    <a:pt x="0" y="677"/>
                  </a:lnTo>
                  <a:lnTo>
                    <a:pt x="3" y="710"/>
                  </a:lnTo>
                  <a:lnTo>
                    <a:pt x="7" y="742"/>
                  </a:lnTo>
                  <a:lnTo>
                    <a:pt x="13" y="773"/>
                  </a:lnTo>
                  <a:lnTo>
                    <a:pt x="20" y="804"/>
                  </a:lnTo>
                  <a:lnTo>
                    <a:pt x="29" y="835"/>
                  </a:lnTo>
                  <a:lnTo>
                    <a:pt x="39" y="865"/>
                  </a:lnTo>
                  <a:lnTo>
                    <a:pt x="50" y="894"/>
                  </a:lnTo>
                  <a:lnTo>
                    <a:pt x="63" y="922"/>
                  </a:lnTo>
                  <a:lnTo>
                    <a:pt x="77" y="950"/>
                  </a:lnTo>
                  <a:lnTo>
                    <a:pt x="93" y="977"/>
                  </a:lnTo>
                  <a:lnTo>
                    <a:pt x="109" y="1004"/>
                  </a:lnTo>
                  <a:lnTo>
                    <a:pt x="128" y="1028"/>
                  </a:lnTo>
                  <a:lnTo>
                    <a:pt x="147" y="1053"/>
                  </a:lnTo>
                  <a:lnTo>
                    <a:pt x="167" y="1077"/>
                  </a:lnTo>
                  <a:lnTo>
                    <a:pt x="189" y="1099"/>
                  </a:lnTo>
                  <a:lnTo>
                    <a:pt x="210" y="1119"/>
                  </a:lnTo>
                  <a:lnTo>
                    <a:pt x="234" y="1140"/>
                  </a:lnTo>
                  <a:lnTo>
                    <a:pt x="258" y="1159"/>
                  </a:lnTo>
                  <a:lnTo>
                    <a:pt x="283" y="1177"/>
                  </a:lnTo>
                  <a:lnTo>
                    <a:pt x="310" y="1195"/>
                  </a:lnTo>
                  <a:lnTo>
                    <a:pt x="337" y="1210"/>
                  </a:lnTo>
                  <a:lnTo>
                    <a:pt x="365" y="1224"/>
                  </a:lnTo>
                  <a:lnTo>
                    <a:pt x="393" y="1236"/>
                  </a:lnTo>
                  <a:lnTo>
                    <a:pt x="423" y="1248"/>
                  </a:lnTo>
                  <a:lnTo>
                    <a:pt x="451" y="1258"/>
                  </a:lnTo>
                  <a:lnTo>
                    <a:pt x="483" y="1266"/>
                  </a:lnTo>
                  <a:lnTo>
                    <a:pt x="514" y="1274"/>
                  </a:lnTo>
                  <a:lnTo>
                    <a:pt x="545" y="1279"/>
                  </a:lnTo>
                  <a:lnTo>
                    <a:pt x="577" y="1284"/>
                  </a:lnTo>
                  <a:lnTo>
                    <a:pt x="610" y="1287"/>
                  </a:lnTo>
                  <a:lnTo>
                    <a:pt x="643" y="1287"/>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21" name="Freeform 20"/>
            <p:cNvSpPr>
              <a:spLocks/>
            </p:cNvSpPr>
            <p:nvPr/>
          </p:nvSpPr>
          <p:spPr bwMode="auto">
            <a:xfrm>
              <a:off x="469508" y="2892015"/>
              <a:ext cx="190027" cy="191402"/>
            </a:xfrm>
            <a:custGeom>
              <a:avLst/>
              <a:gdLst>
                <a:gd name="T0" fmla="*/ 330 w 634"/>
                <a:gd name="T1" fmla="*/ 151 h 634"/>
                <a:gd name="T2" fmla="*/ 435 w 634"/>
                <a:gd name="T3" fmla="*/ 22 h 634"/>
                <a:gd name="T4" fmla="*/ 387 w 634"/>
                <a:gd name="T5" fmla="*/ 7 h 634"/>
                <a:gd name="T6" fmla="*/ 335 w 634"/>
                <a:gd name="T7" fmla="*/ 0 h 634"/>
                <a:gd name="T8" fmla="*/ 285 w 634"/>
                <a:gd name="T9" fmla="*/ 1 h 634"/>
                <a:gd name="T10" fmla="*/ 238 w 634"/>
                <a:gd name="T11" fmla="*/ 10 h 634"/>
                <a:gd name="T12" fmla="*/ 194 w 634"/>
                <a:gd name="T13" fmla="*/ 25 h 634"/>
                <a:gd name="T14" fmla="*/ 153 w 634"/>
                <a:gd name="T15" fmla="*/ 45 h 634"/>
                <a:gd name="T16" fmla="*/ 116 w 634"/>
                <a:gd name="T17" fmla="*/ 72 h 634"/>
                <a:gd name="T18" fmla="*/ 83 w 634"/>
                <a:gd name="T19" fmla="*/ 103 h 634"/>
                <a:gd name="T20" fmla="*/ 55 w 634"/>
                <a:gd name="T21" fmla="*/ 139 h 634"/>
                <a:gd name="T22" fmla="*/ 32 w 634"/>
                <a:gd name="T23" fmla="*/ 179 h 634"/>
                <a:gd name="T24" fmla="*/ 15 w 634"/>
                <a:gd name="T25" fmla="*/ 222 h 634"/>
                <a:gd name="T26" fmla="*/ 4 w 634"/>
                <a:gd name="T27" fmla="*/ 268 h 634"/>
                <a:gd name="T28" fmla="*/ 0 w 634"/>
                <a:gd name="T29" fmla="*/ 316 h 634"/>
                <a:gd name="T30" fmla="*/ 4 w 634"/>
                <a:gd name="T31" fmla="*/ 365 h 634"/>
                <a:gd name="T32" fmla="*/ 15 w 634"/>
                <a:gd name="T33" fmla="*/ 411 h 634"/>
                <a:gd name="T34" fmla="*/ 32 w 634"/>
                <a:gd name="T35" fmla="*/ 454 h 634"/>
                <a:gd name="T36" fmla="*/ 55 w 634"/>
                <a:gd name="T37" fmla="*/ 493 h 634"/>
                <a:gd name="T38" fmla="*/ 83 w 634"/>
                <a:gd name="T39" fmla="*/ 530 h 634"/>
                <a:gd name="T40" fmla="*/ 116 w 634"/>
                <a:gd name="T41" fmla="*/ 561 h 634"/>
                <a:gd name="T42" fmla="*/ 153 w 634"/>
                <a:gd name="T43" fmla="*/ 588 h 634"/>
                <a:gd name="T44" fmla="*/ 194 w 634"/>
                <a:gd name="T45" fmla="*/ 608 h 634"/>
                <a:gd name="T46" fmla="*/ 238 w 634"/>
                <a:gd name="T47" fmla="*/ 623 h 634"/>
                <a:gd name="T48" fmla="*/ 285 w 634"/>
                <a:gd name="T49" fmla="*/ 632 h 634"/>
                <a:gd name="T50" fmla="*/ 334 w 634"/>
                <a:gd name="T51" fmla="*/ 633 h 634"/>
                <a:gd name="T52" fmla="*/ 381 w 634"/>
                <a:gd name="T53" fmla="*/ 627 h 634"/>
                <a:gd name="T54" fmla="*/ 426 w 634"/>
                <a:gd name="T55" fmla="*/ 614 h 634"/>
                <a:gd name="T56" fmla="*/ 469 w 634"/>
                <a:gd name="T57" fmla="*/ 595 h 634"/>
                <a:gd name="T58" fmla="*/ 507 w 634"/>
                <a:gd name="T59" fmla="*/ 570 h 634"/>
                <a:gd name="T60" fmla="*/ 542 w 634"/>
                <a:gd name="T61" fmla="*/ 540 h 634"/>
                <a:gd name="T62" fmla="*/ 572 w 634"/>
                <a:gd name="T63" fmla="*/ 506 h 634"/>
                <a:gd name="T64" fmla="*/ 596 w 634"/>
                <a:gd name="T65" fmla="*/ 468 h 634"/>
                <a:gd name="T66" fmla="*/ 615 w 634"/>
                <a:gd name="T67" fmla="*/ 426 h 634"/>
                <a:gd name="T68" fmla="*/ 627 w 634"/>
                <a:gd name="T69" fmla="*/ 381 h 634"/>
                <a:gd name="T70" fmla="*/ 634 w 634"/>
                <a:gd name="T71" fmla="*/ 332 h 634"/>
                <a:gd name="T72" fmla="*/ 633 w 634"/>
                <a:gd name="T73" fmla="*/ 281 h 634"/>
                <a:gd name="T74" fmla="*/ 622 w 634"/>
                <a:gd name="T75" fmla="*/ 230 h 634"/>
                <a:gd name="T76" fmla="*/ 605 w 634"/>
                <a:gd name="T77" fmla="*/ 182 h 634"/>
                <a:gd name="T78" fmla="*/ 484 w 634"/>
                <a:gd name="T79" fmla="*/ 310 h 634"/>
                <a:gd name="T80" fmla="*/ 480 w 634"/>
                <a:gd name="T81" fmla="*/ 350 h 634"/>
                <a:gd name="T82" fmla="*/ 463 w 634"/>
                <a:gd name="T83" fmla="*/ 396 h 634"/>
                <a:gd name="T84" fmla="*/ 434 w 634"/>
                <a:gd name="T85" fmla="*/ 434 h 634"/>
                <a:gd name="T86" fmla="*/ 397 w 634"/>
                <a:gd name="T87" fmla="*/ 463 h 634"/>
                <a:gd name="T88" fmla="*/ 351 w 634"/>
                <a:gd name="T89" fmla="*/ 479 h 634"/>
                <a:gd name="T90" fmla="*/ 300 w 634"/>
                <a:gd name="T91" fmla="*/ 481 h 634"/>
                <a:gd name="T92" fmla="*/ 252 w 634"/>
                <a:gd name="T93" fmla="*/ 470 h 634"/>
                <a:gd name="T94" fmla="*/ 211 w 634"/>
                <a:gd name="T95" fmla="*/ 445 h 634"/>
                <a:gd name="T96" fmla="*/ 179 w 634"/>
                <a:gd name="T97" fmla="*/ 410 h 634"/>
                <a:gd name="T98" fmla="*/ 159 w 634"/>
                <a:gd name="T99" fmla="*/ 366 h 634"/>
                <a:gd name="T100" fmla="*/ 151 w 634"/>
                <a:gd name="T101" fmla="*/ 316 h 634"/>
                <a:gd name="T102" fmla="*/ 159 w 634"/>
                <a:gd name="T103" fmla="*/ 267 h 634"/>
                <a:gd name="T104" fmla="*/ 179 w 634"/>
                <a:gd name="T105" fmla="*/ 224 h 634"/>
                <a:gd name="T106" fmla="*/ 211 w 634"/>
                <a:gd name="T107" fmla="*/ 189 h 634"/>
                <a:gd name="T108" fmla="*/ 252 w 634"/>
                <a:gd name="T109" fmla="*/ 163 h 634"/>
                <a:gd name="T110" fmla="*/ 300 w 634"/>
                <a:gd name="T111" fmla="*/ 151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4" h="634">
                  <a:moveTo>
                    <a:pt x="317" y="150"/>
                  </a:moveTo>
                  <a:lnTo>
                    <a:pt x="324" y="150"/>
                  </a:lnTo>
                  <a:lnTo>
                    <a:pt x="330" y="151"/>
                  </a:lnTo>
                  <a:lnTo>
                    <a:pt x="448" y="32"/>
                  </a:lnTo>
                  <a:lnTo>
                    <a:pt x="452" y="29"/>
                  </a:lnTo>
                  <a:lnTo>
                    <a:pt x="435" y="22"/>
                  </a:lnTo>
                  <a:lnTo>
                    <a:pt x="420" y="17"/>
                  </a:lnTo>
                  <a:lnTo>
                    <a:pt x="403" y="12"/>
                  </a:lnTo>
                  <a:lnTo>
                    <a:pt x="387" y="7"/>
                  </a:lnTo>
                  <a:lnTo>
                    <a:pt x="370" y="4"/>
                  </a:lnTo>
                  <a:lnTo>
                    <a:pt x="353" y="1"/>
                  </a:lnTo>
                  <a:lnTo>
                    <a:pt x="335" y="0"/>
                  </a:lnTo>
                  <a:lnTo>
                    <a:pt x="317" y="0"/>
                  </a:lnTo>
                  <a:lnTo>
                    <a:pt x="301" y="0"/>
                  </a:lnTo>
                  <a:lnTo>
                    <a:pt x="285" y="1"/>
                  </a:lnTo>
                  <a:lnTo>
                    <a:pt x="269" y="3"/>
                  </a:lnTo>
                  <a:lnTo>
                    <a:pt x="253" y="6"/>
                  </a:lnTo>
                  <a:lnTo>
                    <a:pt x="238" y="10"/>
                  </a:lnTo>
                  <a:lnTo>
                    <a:pt x="223" y="14"/>
                  </a:lnTo>
                  <a:lnTo>
                    <a:pt x="208" y="19"/>
                  </a:lnTo>
                  <a:lnTo>
                    <a:pt x="194" y="25"/>
                  </a:lnTo>
                  <a:lnTo>
                    <a:pt x="180" y="31"/>
                  </a:lnTo>
                  <a:lnTo>
                    <a:pt x="166" y="37"/>
                  </a:lnTo>
                  <a:lnTo>
                    <a:pt x="153" y="45"/>
                  </a:lnTo>
                  <a:lnTo>
                    <a:pt x="141" y="54"/>
                  </a:lnTo>
                  <a:lnTo>
                    <a:pt x="128" y="62"/>
                  </a:lnTo>
                  <a:lnTo>
                    <a:pt x="116" y="72"/>
                  </a:lnTo>
                  <a:lnTo>
                    <a:pt x="104" y="81"/>
                  </a:lnTo>
                  <a:lnTo>
                    <a:pt x="93" y="92"/>
                  </a:lnTo>
                  <a:lnTo>
                    <a:pt x="83" y="103"/>
                  </a:lnTo>
                  <a:lnTo>
                    <a:pt x="73" y="115"/>
                  </a:lnTo>
                  <a:lnTo>
                    <a:pt x="63" y="126"/>
                  </a:lnTo>
                  <a:lnTo>
                    <a:pt x="55" y="139"/>
                  </a:lnTo>
                  <a:lnTo>
                    <a:pt x="46" y="152"/>
                  </a:lnTo>
                  <a:lnTo>
                    <a:pt x="39" y="165"/>
                  </a:lnTo>
                  <a:lnTo>
                    <a:pt x="32" y="179"/>
                  </a:lnTo>
                  <a:lnTo>
                    <a:pt x="26" y="193"/>
                  </a:lnTo>
                  <a:lnTo>
                    <a:pt x="19" y="207"/>
                  </a:lnTo>
                  <a:lnTo>
                    <a:pt x="15" y="222"/>
                  </a:lnTo>
                  <a:lnTo>
                    <a:pt x="11" y="237"/>
                  </a:lnTo>
                  <a:lnTo>
                    <a:pt x="6" y="253"/>
                  </a:lnTo>
                  <a:lnTo>
                    <a:pt x="4" y="268"/>
                  </a:lnTo>
                  <a:lnTo>
                    <a:pt x="2" y="284"/>
                  </a:lnTo>
                  <a:lnTo>
                    <a:pt x="1" y="300"/>
                  </a:lnTo>
                  <a:lnTo>
                    <a:pt x="0" y="316"/>
                  </a:lnTo>
                  <a:lnTo>
                    <a:pt x="1" y="332"/>
                  </a:lnTo>
                  <a:lnTo>
                    <a:pt x="2" y="348"/>
                  </a:lnTo>
                  <a:lnTo>
                    <a:pt x="4" y="365"/>
                  </a:lnTo>
                  <a:lnTo>
                    <a:pt x="6" y="381"/>
                  </a:lnTo>
                  <a:lnTo>
                    <a:pt x="11" y="396"/>
                  </a:lnTo>
                  <a:lnTo>
                    <a:pt x="15" y="411"/>
                  </a:lnTo>
                  <a:lnTo>
                    <a:pt x="19" y="426"/>
                  </a:lnTo>
                  <a:lnTo>
                    <a:pt x="26" y="440"/>
                  </a:lnTo>
                  <a:lnTo>
                    <a:pt x="32" y="454"/>
                  </a:lnTo>
                  <a:lnTo>
                    <a:pt x="39" y="468"/>
                  </a:lnTo>
                  <a:lnTo>
                    <a:pt x="46" y="480"/>
                  </a:lnTo>
                  <a:lnTo>
                    <a:pt x="55" y="493"/>
                  </a:lnTo>
                  <a:lnTo>
                    <a:pt x="63" y="506"/>
                  </a:lnTo>
                  <a:lnTo>
                    <a:pt x="73" y="518"/>
                  </a:lnTo>
                  <a:lnTo>
                    <a:pt x="83" y="530"/>
                  </a:lnTo>
                  <a:lnTo>
                    <a:pt x="93" y="540"/>
                  </a:lnTo>
                  <a:lnTo>
                    <a:pt x="104" y="551"/>
                  </a:lnTo>
                  <a:lnTo>
                    <a:pt x="116" y="561"/>
                  </a:lnTo>
                  <a:lnTo>
                    <a:pt x="128" y="570"/>
                  </a:lnTo>
                  <a:lnTo>
                    <a:pt x="141" y="579"/>
                  </a:lnTo>
                  <a:lnTo>
                    <a:pt x="153" y="588"/>
                  </a:lnTo>
                  <a:lnTo>
                    <a:pt x="166" y="595"/>
                  </a:lnTo>
                  <a:lnTo>
                    <a:pt x="180" y="603"/>
                  </a:lnTo>
                  <a:lnTo>
                    <a:pt x="194" y="608"/>
                  </a:lnTo>
                  <a:lnTo>
                    <a:pt x="208" y="614"/>
                  </a:lnTo>
                  <a:lnTo>
                    <a:pt x="223" y="619"/>
                  </a:lnTo>
                  <a:lnTo>
                    <a:pt x="238" y="623"/>
                  </a:lnTo>
                  <a:lnTo>
                    <a:pt x="253" y="627"/>
                  </a:lnTo>
                  <a:lnTo>
                    <a:pt x="269" y="629"/>
                  </a:lnTo>
                  <a:lnTo>
                    <a:pt x="285" y="632"/>
                  </a:lnTo>
                  <a:lnTo>
                    <a:pt x="301" y="633"/>
                  </a:lnTo>
                  <a:lnTo>
                    <a:pt x="317" y="634"/>
                  </a:lnTo>
                  <a:lnTo>
                    <a:pt x="334" y="633"/>
                  </a:lnTo>
                  <a:lnTo>
                    <a:pt x="350" y="632"/>
                  </a:lnTo>
                  <a:lnTo>
                    <a:pt x="366" y="629"/>
                  </a:lnTo>
                  <a:lnTo>
                    <a:pt x="381" y="627"/>
                  </a:lnTo>
                  <a:lnTo>
                    <a:pt x="397" y="623"/>
                  </a:lnTo>
                  <a:lnTo>
                    <a:pt x="412" y="619"/>
                  </a:lnTo>
                  <a:lnTo>
                    <a:pt x="426" y="614"/>
                  </a:lnTo>
                  <a:lnTo>
                    <a:pt x="441" y="608"/>
                  </a:lnTo>
                  <a:lnTo>
                    <a:pt x="455" y="603"/>
                  </a:lnTo>
                  <a:lnTo>
                    <a:pt x="469" y="595"/>
                  </a:lnTo>
                  <a:lnTo>
                    <a:pt x="482" y="588"/>
                  </a:lnTo>
                  <a:lnTo>
                    <a:pt x="494" y="579"/>
                  </a:lnTo>
                  <a:lnTo>
                    <a:pt x="507" y="570"/>
                  </a:lnTo>
                  <a:lnTo>
                    <a:pt x="519" y="561"/>
                  </a:lnTo>
                  <a:lnTo>
                    <a:pt x="531" y="551"/>
                  </a:lnTo>
                  <a:lnTo>
                    <a:pt x="542" y="540"/>
                  </a:lnTo>
                  <a:lnTo>
                    <a:pt x="552" y="530"/>
                  </a:lnTo>
                  <a:lnTo>
                    <a:pt x="562" y="518"/>
                  </a:lnTo>
                  <a:lnTo>
                    <a:pt x="572" y="506"/>
                  </a:lnTo>
                  <a:lnTo>
                    <a:pt x="580" y="493"/>
                  </a:lnTo>
                  <a:lnTo>
                    <a:pt x="589" y="480"/>
                  </a:lnTo>
                  <a:lnTo>
                    <a:pt x="596" y="468"/>
                  </a:lnTo>
                  <a:lnTo>
                    <a:pt x="603" y="454"/>
                  </a:lnTo>
                  <a:lnTo>
                    <a:pt x="609" y="440"/>
                  </a:lnTo>
                  <a:lnTo>
                    <a:pt x="615" y="426"/>
                  </a:lnTo>
                  <a:lnTo>
                    <a:pt x="620" y="411"/>
                  </a:lnTo>
                  <a:lnTo>
                    <a:pt x="624" y="396"/>
                  </a:lnTo>
                  <a:lnTo>
                    <a:pt x="627" y="381"/>
                  </a:lnTo>
                  <a:lnTo>
                    <a:pt x="631" y="365"/>
                  </a:lnTo>
                  <a:lnTo>
                    <a:pt x="633" y="348"/>
                  </a:lnTo>
                  <a:lnTo>
                    <a:pt x="634" y="332"/>
                  </a:lnTo>
                  <a:lnTo>
                    <a:pt x="634" y="316"/>
                  </a:lnTo>
                  <a:lnTo>
                    <a:pt x="634" y="299"/>
                  </a:lnTo>
                  <a:lnTo>
                    <a:pt x="633" y="281"/>
                  </a:lnTo>
                  <a:lnTo>
                    <a:pt x="630" y="264"/>
                  </a:lnTo>
                  <a:lnTo>
                    <a:pt x="626" y="247"/>
                  </a:lnTo>
                  <a:lnTo>
                    <a:pt x="622" y="230"/>
                  </a:lnTo>
                  <a:lnTo>
                    <a:pt x="617" y="214"/>
                  </a:lnTo>
                  <a:lnTo>
                    <a:pt x="611" y="198"/>
                  </a:lnTo>
                  <a:lnTo>
                    <a:pt x="605" y="182"/>
                  </a:lnTo>
                  <a:lnTo>
                    <a:pt x="602" y="185"/>
                  </a:lnTo>
                  <a:lnTo>
                    <a:pt x="483" y="303"/>
                  </a:lnTo>
                  <a:lnTo>
                    <a:pt x="484" y="310"/>
                  </a:lnTo>
                  <a:lnTo>
                    <a:pt x="484" y="316"/>
                  </a:lnTo>
                  <a:lnTo>
                    <a:pt x="483" y="333"/>
                  </a:lnTo>
                  <a:lnTo>
                    <a:pt x="480" y="350"/>
                  </a:lnTo>
                  <a:lnTo>
                    <a:pt x="476" y="366"/>
                  </a:lnTo>
                  <a:lnTo>
                    <a:pt x="471" y="382"/>
                  </a:lnTo>
                  <a:lnTo>
                    <a:pt x="463" y="396"/>
                  </a:lnTo>
                  <a:lnTo>
                    <a:pt x="455" y="410"/>
                  </a:lnTo>
                  <a:lnTo>
                    <a:pt x="445" y="422"/>
                  </a:lnTo>
                  <a:lnTo>
                    <a:pt x="434" y="434"/>
                  </a:lnTo>
                  <a:lnTo>
                    <a:pt x="423" y="445"/>
                  </a:lnTo>
                  <a:lnTo>
                    <a:pt x="411" y="455"/>
                  </a:lnTo>
                  <a:lnTo>
                    <a:pt x="397" y="463"/>
                  </a:lnTo>
                  <a:lnTo>
                    <a:pt x="382" y="470"/>
                  </a:lnTo>
                  <a:lnTo>
                    <a:pt x="367" y="475"/>
                  </a:lnTo>
                  <a:lnTo>
                    <a:pt x="351" y="479"/>
                  </a:lnTo>
                  <a:lnTo>
                    <a:pt x="335" y="481"/>
                  </a:lnTo>
                  <a:lnTo>
                    <a:pt x="317" y="483"/>
                  </a:lnTo>
                  <a:lnTo>
                    <a:pt x="300" y="481"/>
                  </a:lnTo>
                  <a:lnTo>
                    <a:pt x="283" y="479"/>
                  </a:lnTo>
                  <a:lnTo>
                    <a:pt x="268" y="475"/>
                  </a:lnTo>
                  <a:lnTo>
                    <a:pt x="252" y="470"/>
                  </a:lnTo>
                  <a:lnTo>
                    <a:pt x="238" y="463"/>
                  </a:lnTo>
                  <a:lnTo>
                    <a:pt x="224" y="455"/>
                  </a:lnTo>
                  <a:lnTo>
                    <a:pt x="211" y="445"/>
                  </a:lnTo>
                  <a:lnTo>
                    <a:pt x="199" y="434"/>
                  </a:lnTo>
                  <a:lnTo>
                    <a:pt x="189" y="422"/>
                  </a:lnTo>
                  <a:lnTo>
                    <a:pt x="179" y="410"/>
                  </a:lnTo>
                  <a:lnTo>
                    <a:pt x="172" y="396"/>
                  </a:lnTo>
                  <a:lnTo>
                    <a:pt x="164" y="382"/>
                  </a:lnTo>
                  <a:lnTo>
                    <a:pt x="159" y="366"/>
                  </a:lnTo>
                  <a:lnTo>
                    <a:pt x="154" y="350"/>
                  </a:lnTo>
                  <a:lnTo>
                    <a:pt x="152" y="333"/>
                  </a:lnTo>
                  <a:lnTo>
                    <a:pt x="151" y="316"/>
                  </a:lnTo>
                  <a:lnTo>
                    <a:pt x="152" y="299"/>
                  </a:lnTo>
                  <a:lnTo>
                    <a:pt x="154" y="283"/>
                  </a:lnTo>
                  <a:lnTo>
                    <a:pt x="159" y="267"/>
                  </a:lnTo>
                  <a:lnTo>
                    <a:pt x="164" y="252"/>
                  </a:lnTo>
                  <a:lnTo>
                    <a:pt x="172" y="237"/>
                  </a:lnTo>
                  <a:lnTo>
                    <a:pt x="179" y="224"/>
                  </a:lnTo>
                  <a:lnTo>
                    <a:pt x="189" y="211"/>
                  </a:lnTo>
                  <a:lnTo>
                    <a:pt x="199" y="199"/>
                  </a:lnTo>
                  <a:lnTo>
                    <a:pt x="211" y="189"/>
                  </a:lnTo>
                  <a:lnTo>
                    <a:pt x="224" y="179"/>
                  </a:lnTo>
                  <a:lnTo>
                    <a:pt x="238" y="170"/>
                  </a:lnTo>
                  <a:lnTo>
                    <a:pt x="252" y="163"/>
                  </a:lnTo>
                  <a:lnTo>
                    <a:pt x="268" y="158"/>
                  </a:lnTo>
                  <a:lnTo>
                    <a:pt x="284" y="153"/>
                  </a:lnTo>
                  <a:lnTo>
                    <a:pt x="300" y="151"/>
                  </a:lnTo>
                  <a:lnTo>
                    <a:pt x="317" y="150"/>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22" name="Freeform 21"/>
            <p:cNvSpPr>
              <a:spLocks/>
            </p:cNvSpPr>
            <p:nvPr/>
          </p:nvSpPr>
          <p:spPr bwMode="auto">
            <a:xfrm>
              <a:off x="582619" y="2753362"/>
              <a:ext cx="215666" cy="215515"/>
            </a:xfrm>
            <a:custGeom>
              <a:avLst/>
              <a:gdLst>
                <a:gd name="T0" fmla="*/ 638 w 712"/>
                <a:gd name="T1" fmla="*/ 159 h 715"/>
                <a:gd name="T2" fmla="*/ 647 w 712"/>
                <a:gd name="T3" fmla="*/ 147 h 715"/>
                <a:gd name="T4" fmla="*/ 651 w 712"/>
                <a:gd name="T5" fmla="*/ 132 h 715"/>
                <a:gd name="T6" fmla="*/ 647 w 712"/>
                <a:gd name="T7" fmla="*/ 115 h 715"/>
                <a:gd name="T8" fmla="*/ 638 w 712"/>
                <a:gd name="T9" fmla="*/ 103 h 715"/>
                <a:gd name="T10" fmla="*/ 608 w 712"/>
                <a:gd name="T11" fmla="*/ 73 h 715"/>
                <a:gd name="T12" fmla="*/ 593 w 712"/>
                <a:gd name="T13" fmla="*/ 67 h 715"/>
                <a:gd name="T14" fmla="*/ 578 w 712"/>
                <a:gd name="T15" fmla="*/ 67 h 715"/>
                <a:gd name="T16" fmla="*/ 563 w 712"/>
                <a:gd name="T17" fmla="*/ 73 h 715"/>
                <a:gd name="T18" fmla="*/ 517 w 712"/>
                <a:gd name="T19" fmla="*/ 118 h 715"/>
                <a:gd name="T20" fmla="*/ 507 w 712"/>
                <a:gd name="T21" fmla="*/ 6 h 715"/>
                <a:gd name="T22" fmla="*/ 500 w 712"/>
                <a:gd name="T23" fmla="*/ 0 h 715"/>
                <a:gd name="T24" fmla="*/ 490 w 712"/>
                <a:gd name="T25" fmla="*/ 0 h 715"/>
                <a:gd name="T26" fmla="*/ 329 w 712"/>
                <a:gd name="T27" fmla="*/ 161 h 715"/>
                <a:gd name="T28" fmla="*/ 319 w 712"/>
                <a:gd name="T29" fmla="*/ 171 h 715"/>
                <a:gd name="T30" fmla="*/ 313 w 712"/>
                <a:gd name="T31" fmla="*/ 185 h 715"/>
                <a:gd name="T32" fmla="*/ 310 w 712"/>
                <a:gd name="T33" fmla="*/ 199 h 715"/>
                <a:gd name="T34" fmla="*/ 308 w 712"/>
                <a:gd name="T35" fmla="*/ 214 h 715"/>
                <a:gd name="T36" fmla="*/ 317 w 712"/>
                <a:gd name="T37" fmla="*/ 318 h 715"/>
                <a:gd name="T38" fmla="*/ 157 w 712"/>
                <a:gd name="T39" fmla="*/ 477 h 715"/>
                <a:gd name="T40" fmla="*/ 56 w 712"/>
                <a:gd name="T41" fmla="*/ 578 h 715"/>
                <a:gd name="T42" fmla="*/ 9 w 712"/>
                <a:gd name="T43" fmla="*/ 627 h 715"/>
                <a:gd name="T44" fmla="*/ 4 w 712"/>
                <a:gd name="T45" fmla="*/ 638 h 715"/>
                <a:gd name="T46" fmla="*/ 0 w 712"/>
                <a:gd name="T47" fmla="*/ 679 h 715"/>
                <a:gd name="T48" fmla="*/ 2 w 712"/>
                <a:gd name="T49" fmla="*/ 692 h 715"/>
                <a:gd name="T50" fmla="*/ 9 w 712"/>
                <a:gd name="T51" fmla="*/ 704 h 715"/>
                <a:gd name="T52" fmla="*/ 20 w 712"/>
                <a:gd name="T53" fmla="*/ 712 h 715"/>
                <a:gd name="T54" fmla="*/ 34 w 712"/>
                <a:gd name="T55" fmla="*/ 715 h 715"/>
                <a:gd name="T56" fmla="*/ 73 w 712"/>
                <a:gd name="T57" fmla="*/ 713 h 715"/>
                <a:gd name="T58" fmla="*/ 84 w 712"/>
                <a:gd name="T59" fmla="*/ 711 h 715"/>
                <a:gd name="T60" fmla="*/ 95 w 712"/>
                <a:gd name="T61" fmla="*/ 703 h 715"/>
                <a:gd name="T62" fmla="*/ 493 w 712"/>
                <a:gd name="T63" fmla="*/ 402 h 715"/>
                <a:gd name="T64" fmla="*/ 499 w 712"/>
                <a:gd name="T65" fmla="*/ 402 h 715"/>
                <a:gd name="T66" fmla="*/ 509 w 712"/>
                <a:gd name="T67" fmla="*/ 402 h 715"/>
                <a:gd name="T68" fmla="*/ 522 w 712"/>
                <a:gd name="T69" fmla="*/ 400 h 715"/>
                <a:gd name="T70" fmla="*/ 535 w 712"/>
                <a:gd name="T71" fmla="*/ 394 h 715"/>
                <a:gd name="T72" fmla="*/ 546 w 712"/>
                <a:gd name="T73" fmla="*/ 387 h 715"/>
                <a:gd name="T74" fmla="*/ 707 w 712"/>
                <a:gd name="T75" fmla="*/ 225 h 715"/>
                <a:gd name="T76" fmla="*/ 711 w 712"/>
                <a:gd name="T77" fmla="*/ 218 h 715"/>
                <a:gd name="T78" fmla="*/ 711 w 712"/>
                <a:gd name="T79" fmla="*/ 211 h 715"/>
                <a:gd name="T80" fmla="*/ 706 w 712"/>
                <a:gd name="T81" fmla="*/ 205 h 715"/>
                <a:gd name="T82" fmla="*/ 699 w 712"/>
                <a:gd name="T83" fmla="*/ 202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2" h="715">
                  <a:moveTo>
                    <a:pt x="603" y="195"/>
                  </a:moveTo>
                  <a:lnTo>
                    <a:pt x="638" y="159"/>
                  </a:lnTo>
                  <a:lnTo>
                    <a:pt x="643" y="153"/>
                  </a:lnTo>
                  <a:lnTo>
                    <a:pt x="647" y="147"/>
                  </a:lnTo>
                  <a:lnTo>
                    <a:pt x="650" y="139"/>
                  </a:lnTo>
                  <a:lnTo>
                    <a:pt x="651" y="132"/>
                  </a:lnTo>
                  <a:lnTo>
                    <a:pt x="650" y="123"/>
                  </a:lnTo>
                  <a:lnTo>
                    <a:pt x="647" y="115"/>
                  </a:lnTo>
                  <a:lnTo>
                    <a:pt x="643" y="109"/>
                  </a:lnTo>
                  <a:lnTo>
                    <a:pt x="638" y="103"/>
                  </a:lnTo>
                  <a:lnTo>
                    <a:pt x="614" y="78"/>
                  </a:lnTo>
                  <a:lnTo>
                    <a:pt x="608" y="73"/>
                  </a:lnTo>
                  <a:lnTo>
                    <a:pt x="600" y="69"/>
                  </a:lnTo>
                  <a:lnTo>
                    <a:pt x="593" y="67"/>
                  </a:lnTo>
                  <a:lnTo>
                    <a:pt x="585" y="66"/>
                  </a:lnTo>
                  <a:lnTo>
                    <a:pt x="578" y="67"/>
                  </a:lnTo>
                  <a:lnTo>
                    <a:pt x="570" y="69"/>
                  </a:lnTo>
                  <a:lnTo>
                    <a:pt x="563" y="73"/>
                  </a:lnTo>
                  <a:lnTo>
                    <a:pt x="556" y="78"/>
                  </a:lnTo>
                  <a:lnTo>
                    <a:pt x="517" y="118"/>
                  </a:lnTo>
                  <a:lnTo>
                    <a:pt x="509" y="11"/>
                  </a:lnTo>
                  <a:lnTo>
                    <a:pt x="507" y="6"/>
                  </a:lnTo>
                  <a:lnTo>
                    <a:pt x="504" y="3"/>
                  </a:lnTo>
                  <a:lnTo>
                    <a:pt x="500" y="0"/>
                  </a:lnTo>
                  <a:lnTo>
                    <a:pt x="495" y="0"/>
                  </a:lnTo>
                  <a:lnTo>
                    <a:pt x="490" y="0"/>
                  </a:lnTo>
                  <a:lnTo>
                    <a:pt x="485" y="3"/>
                  </a:lnTo>
                  <a:lnTo>
                    <a:pt x="329" y="161"/>
                  </a:lnTo>
                  <a:lnTo>
                    <a:pt x="323" y="166"/>
                  </a:lnTo>
                  <a:lnTo>
                    <a:pt x="319" y="171"/>
                  </a:lnTo>
                  <a:lnTo>
                    <a:pt x="316" y="178"/>
                  </a:lnTo>
                  <a:lnTo>
                    <a:pt x="313" y="185"/>
                  </a:lnTo>
                  <a:lnTo>
                    <a:pt x="311" y="192"/>
                  </a:lnTo>
                  <a:lnTo>
                    <a:pt x="310" y="199"/>
                  </a:lnTo>
                  <a:lnTo>
                    <a:pt x="308" y="207"/>
                  </a:lnTo>
                  <a:lnTo>
                    <a:pt x="308" y="214"/>
                  </a:lnTo>
                  <a:lnTo>
                    <a:pt x="308" y="220"/>
                  </a:lnTo>
                  <a:lnTo>
                    <a:pt x="317" y="318"/>
                  </a:lnTo>
                  <a:lnTo>
                    <a:pt x="260" y="375"/>
                  </a:lnTo>
                  <a:lnTo>
                    <a:pt x="157" y="477"/>
                  </a:lnTo>
                  <a:lnTo>
                    <a:pt x="155" y="479"/>
                  </a:lnTo>
                  <a:lnTo>
                    <a:pt x="56" y="578"/>
                  </a:lnTo>
                  <a:lnTo>
                    <a:pt x="12" y="623"/>
                  </a:lnTo>
                  <a:lnTo>
                    <a:pt x="9" y="627"/>
                  </a:lnTo>
                  <a:lnTo>
                    <a:pt x="6" y="632"/>
                  </a:lnTo>
                  <a:lnTo>
                    <a:pt x="4" y="638"/>
                  </a:lnTo>
                  <a:lnTo>
                    <a:pt x="3" y="643"/>
                  </a:lnTo>
                  <a:lnTo>
                    <a:pt x="0" y="679"/>
                  </a:lnTo>
                  <a:lnTo>
                    <a:pt x="1" y="685"/>
                  </a:lnTo>
                  <a:lnTo>
                    <a:pt x="2" y="692"/>
                  </a:lnTo>
                  <a:lnTo>
                    <a:pt x="5" y="699"/>
                  </a:lnTo>
                  <a:lnTo>
                    <a:pt x="9" y="704"/>
                  </a:lnTo>
                  <a:lnTo>
                    <a:pt x="15" y="709"/>
                  </a:lnTo>
                  <a:lnTo>
                    <a:pt x="20" y="712"/>
                  </a:lnTo>
                  <a:lnTo>
                    <a:pt x="26" y="714"/>
                  </a:lnTo>
                  <a:lnTo>
                    <a:pt x="34" y="715"/>
                  </a:lnTo>
                  <a:lnTo>
                    <a:pt x="36" y="715"/>
                  </a:lnTo>
                  <a:lnTo>
                    <a:pt x="73" y="713"/>
                  </a:lnTo>
                  <a:lnTo>
                    <a:pt x="79" y="713"/>
                  </a:lnTo>
                  <a:lnTo>
                    <a:pt x="84" y="711"/>
                  </a:lnTo>
                  <a:lnTo>
                    <a:pt x="90" y="708"/>
                  </a:lnTo>
                  <a:lnTo>
                    <a:pt x="95" y="703"/>
                  </a:lnTo>
                  <a:lnTo>
                    <a:pt x="403" y="395"/>
                  </a:lnTo>
                  <a:lnTo>
                    <a:pt x="493" y="402"/>
                  </a:lnTo>
                  <a:lnTo>
                    <a:pt x="497" y="402"/>
                  </a:lnTo>
                  <a:lnTo>
                    <a:pt x="499" y="402"/>
                  </a:lnTo>
                  <a:lnTo>
                    <a:pt x="502" y="402"/>
                  </a:lnTo>
                  <a:lnTo>
                    <a:pt x="509" y="402"/>
                  </a:lnTo>
                  <a:lnTo>
                    <a:pt x="515" y="401"/>
                  </a:lnTo>
                  <a:lnTo>
                    <a:pt x="522" y="400"/>
                  </a:lnTo>
                  <a:lnTo>
                    <a:pt x="528" y="396"/>
                  </a:lnTo>
                  <a:lnTo>
                    <a:pt x="535" y="394"/>
                  </a:lnTo>
                  <a:lnTo>
                    <a:pt x="540" y="391"/>
                  </a:lnTo>
                  <a:lnTo>
                    <a:pt x="546" y="387"/>
                  </a:lnTo>
                  <a:lnTo>
                    <a:pt x="551" y="383"/>
                  </a:lnTo>
                  <a:lnTo>
                    <a:pt x="707" y="225"/>
                  </a:lnTo>
                  <a:lnTo>
                    <a:pt x="710" y="222"/>
                  </a:lnTo>
                  <a:lnTo>
                    <a:pt x="711" y="218"/>
                  </a:lnTo>
                  <a:lnTo>
                    <a:pt x="712" y="214"/>
                  </a:lnTo>
                  <a:lnTo>
                    <a:pt x="711" y="211"/>
                  </a:lnTo>
                  <a:lnTo>
                    <a:pt x="709" y="208"/>
                  </a:lnTo>
                  <a:lnTo>
                    <a:pt x="706" y="205"/>
                  </a:lnTo>
                  <a:lnTo>
                    <a:pt x="703" y="203"/>
                  </a:lnTo>
                  <a:lnTo>
                    <a:pt x="699" y="202"/>
                  </a:lnTo>
                  <a:lnTo>
                    <a:pt x="603" y="195"/>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23" name="Freeform 22"/>
            <p:cNvSpPr>
              <a:spLocks/>
            </p:cNvSpPr>
            <p:nvPr/>
          </p:nvSpPr>
          <p:spPr bwMode="auto">
            <a:xfrm>
              <a:off x="152400" y="3683438"/>
              <a:ext cx="762670" cy="931350"/>
            </a:xfrm>
            <a:custGeom>
              <a:avLst/>
              <a:gdLst>
                <a:gd name="T0" fmla="*/ 3380 w 3380"/>
                <a:gd name="T1" fmla="*/ 0 h 4128"/>
                <a:gd name="T2" fmla="*/ 1515 w 3380"/>
                <a:gd name="T3" fmla="*/ 4128 h 4128"/>
                <a:gd name="T4" fmla="*/ 1360 w 3380"/>
                <a:gd name="T5" fmla="*/ 4118 h 4128"/>
                <a:gd name="T6" fmla="*/ 1210 w 3380"/>
                <a:gd name="T7" fmla="*/ 4091 h 4128"/>
                <a:gd name="T8" fmla="*/ 1065 w 3380"/>
                <a:gd name="T9" fmla="*/ 4046 h 4128"/>
                <a:gd name="T10" fmla="*/ 926 w 3380"/>
                <a:gd name="T11" fmla="*/ 3984 h 4128"/>
                <a:gd name="T12" fmla="*/ 794 w 3380"/>
                <a:gd name="T13" fmla="*/ 3906 h 4128"/>
                <a:gd name="T14" fmla="*/ 669 w 3380"/>
                <a:gd name="T15" fmla="*/ 3815 h 4128"/>
                <a:gd name="T16" fmla="*/ 552 w 3380"/>
                <a:gd name="T17" fmla="*/ 3709 h 4128"/>
                <a:gd name="T18" fmla="*/ 445 w 3380"/>
                <a:gd name="T19" fmla="*/ 3591 h 4128"/>
                <a:gd name="T20" fmla="*/ 347 w 3380"/>
                <a:gd name="T21" fmla="*/ 3462 h 4128"/>
                <a:gd name="T22" fmla="*/ 259 w 3380"/>
                <a:gd name="T23" fmla="*/ 3321 h 4128"/>
                <a:gd name="T24" fmla="*/ 184 w 3380"/>
                <a:gd name="T25" fmla="*/ 3170 h 4128"/>
                <a:gd name="T26" fmla="*/ 119 w 3380"/>
                <a:gd name="T27" fmla="*/ 3011 h 4128"/>
                <a:gd name="T28" fmla="*/ 68 w 3380"/>
                <a:gd name="T29" fmla="*/ 2844 h 4128"/>
                <a:gd name="T30" fmla="*/ 31 w 3380"/>
                <a:gd name="T31" fmla="*/ 2669 h 4128"/>
                <a:gd name="T32" fmla="*/ 8 w 3380"/>
                <a:gd name="T33" fmla="*/ 2488 h 4128"/>
                <a:gd name="T34" fmla="*/ 0 w 3380"/>
                <a:gd name="T35" fmla="*/ 2302 h 4128"/>
                <a:gd name="T36" fmla="*/ 2 w 3380"/>
                <a:gd name="T37" fmla="*/ 1733 h 4128"/>
                <a:gd name="T38" fmla="*/ 18 w 3380"/>
                <a:gd name="T39" fmla="*/ 1549 h 4128"/>
                <a:gd name="T40" fmla="*/ 48 w 3380"/>
                <a:gd name="T41" fmla="*/ 1371 h 4128"/>
                <a:gd name="T42" fmla="*/ 92 w 3380"/>
                <a:gd name="T43" fmla="*/ 1199 h 4128"/>
                <a:gd name="T44" fmla="*/ 150 w 3380"/>
                <a:gd name="T45" fmla="*/ 1036 h 4128"/>
                <a:gd name="T46" fmla="*/ 220 w 3380"/>
                <a:gd name="T47" fmla="*/ 881 h 4128"/>
                <a:gd name="T48" fmla="*/ 302 w 3380"/>
                <a:gd name="T49" fmla="*/ 735 h 4128"/>
                <a:gd name="T50" fmla="*/ 395 w 3380"/>
                <a:gd name="T51" fmla="*/ 600 h 4128"/>
                <a:gd name="T52" fmla="*/ 498 w 3380"/>
                <a:gd name="T53" fmla="*/ 475 h 4128"/>
                <a:gd name="T54" fmla="*/ 610 w 3380"/>
                <a:gd name="T55" fmla="*/ 364 h 4128"/>
                <a:gd name="T56" fmla="*/ 730 w 3380"/>
                <a:gd name="T57" fmla="*/ 265 h 4128"/>
                <a:gd name="T58" fmla="*/ 859 w 3380"/>
                <a:gd name="T59" fmla="*/ 180 h 4128"/>
                <a:gd name="T60" fmla="*/ 995 w 3380"/>
                <a:gd name="T61" fmla="*/ 111 h 4128"/>
                <a:gd name="T62" fmla="*/ 1137 w 3380"/>
                <a:gd name="T63" fmla="*/ 58 h 4128"/>
                <a:gd name="T64" fmla="*/ 1284 w 3380"/>
                <a:gd name="T65" fmla="*/ 21 h 4128"/>
                <a:gd name="T66" fmla="*/ 1437 w 3380"/>
                <a:gd name="T67" fmla="*/ 2 h 4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80" h="4128">
                  <a:moveTo>
                    <a:pt x="1515" y="0"/>
                  </a:moveTo>
                  <a:lnTo>
                    <a:pt x="3380" y="0"/>
                  </a:lnTo>
                  <a:lnTo>
                    <a:pt x="3380" y="4128"/>
                  </a:lnTo>
                  <a:lnTo>
                    <a:pt x="1515" y="4128"/>
                  </a:lnTo>
                  <a:lnTo>
                    <a:pt x="1437" y="4126"/>
                  </a:lnTo>
                  <a:lnTo>
                    <a:pt x="1360" y="4118"/>
                  </a:lnTo>
                  <a:lnTo>
                    <a:pt x="1284" y="4107"/>
                  </a:lnTo>
                  <a:lnTo>
                    <a:pt x="1210" y="4091"/>
                  </a:lnTo>
                  <a:lnTo>
                    <a:pt x="1137" y="4070"/>
                  </a:lnTo>
                  <a:lnTo>
                    <a:pt x="1065" y="4046"/>
                  </a:lnTo>
                  <a:lnTo>
                    <a:pt x="995" y="4017"/>
                  </a:lnTo>
                  <a:lnTo>
                    <a:pt x="926" y="3984"/>
                  </a:lnTo>
                  <a:lnTo>
                    <a:pt x="859" y="3948"/>
                  </a:lnTo>
                  <a:lnTo>
                    <a:pt x="794" y="3906"/>
                  </a:lnTo>
                  <a:lnTo>
                    <a:pt x="730" y="3863"/>
                  </a:lnTo>
                  <a:lnTo>
                    <a:pt x="669" y="3815"/>
                  </a:lnTo>
                  <a:lnTo>
                    <a:pt x="610" y="3764"/>
                  </a:lnTo>
                  <a:lnTo>
                    <a:pt x="552" y="3709"/>
                  </a:lnTo>
                  <a:lnTo>
                    <a:pt x="498" y="3653"/>
                  </a:lnTo>
                  <a:lnTo>
                    <a:pt x="445" y="3591"/>
                  </a:lnTo>
                  <a:lnTo>
                    <a:pt x="395" y="3528"/>
                  </a:lnTo>
                  <a:lnTo>
                    <a:pt x="347" y="3462"/>
                  </a:lnTo>
                  <a:lnTo>
                    <a:pt x="302" y="3393"/>
                  </a:lnTo>
                  <a:lnTo>
                    <a:pt x="259" y="3321"/>
                  </a:lnTo>
                  <a:lnTo>
                    <a:pt x="220" y="3247"/>
                  </a:lnTo>
                  <a:lnTo>
                    <a:pt x="184" y="3170"/>
                  </a:lnTo>
                  <a:lnTo>
                    <a:pt x="150" y="3092"/>
                  </a:lnTo>
                  <a:lnTo>
                    <a:pt x="119" y="3011"/>
                  </a:lnTo>
                  <a:lnTo>
                    <a:pt x="92" y="2929"/>
                  </a:lnTo>
                  <a:lnTo>
                    <a:pt x="68" y="2844"/>
                  </a:lnTo>
                  <a:lnTo>
                    <a:pt x="48" y="2757"/>
                  </a:lnTo>
                  <a:lnTo>
                    <a:pt x="31" y="2669"/>
                  </a:lnTo>
                  <a:lnTo>
                    <a:pt x="18" y="2579"/>
                  </a:lnTo>
                  <a:lnTo>
                    <a:pt x="8" y="2488"/>
                  </a:lnTo>
                  <a:lnTo>
                    <a:pt x="2" y="2395"/>
                  </a:lnTo>
                  <a:lnTo>
                    <a:pt x="0" y="2302"/>
                  </a:lnTo>
                  <a:lnTo>
                    <a:pt x="0" y="1826"/>
                  </a:lnTo>
                  <a:lnTo>
                    <a:pt x="2" y="1733"/>
                  </a:lnTo>
                  <a:lnTo>
                    <a:pt x="8" y="1640"/>
                  </a:lnTo>
                  <a:lnTo>
                    <a:pt x="18" y="1549"/>
                  </a:lnTo>
                  <a:lnTo>
                    <a:pt x="31" y="1459"/>
                  </a:lnTo>
                  <a:lnTo>
                    <a:pt x="48" y="1371"/>
                  </a:lnTo>
                  <a:lnTo>
                    <a:pt x="68" y="1284"/>
                  </a:lnTo>
                  <a:lnTo>
                    <a:pt x="92" y="1199"/>
                  </a:lnTo>
                  <a:lnTo>
                    <a:pt x="119" y="1117"/>
                  </a:lnTo>
                  <a:lnTo>
                    <a:pt x="150" y="1036"/>
                  </a:lnTo>
                  <a:lnTo>
                    <a:pt x="184" y="958"/>
                  </a:lnTo>
                  <a:lnTo>
                    <a:pt x="220" y="881"/>
                  </a:lnTo>
                  <a:lnTo>
                    <a:pt x="259" y="807"/>
                  </a:lnTo>
                  <a:lnTo>
                    <a:pt x="302" y="735"/>
                  </a:lnTo>
                  <a:lnTo>
                    <a:pt x="347" y="666"/>
                  </a:lnTo>
                  <a:lnTo>
                    <a:pt x="395" y="600"/>
                  </a:lnTo>
                  <a:lnTo>
                    <a:pt x="445" y="537"/>
                  </a:lnTo>
                  <a:lnTo>
                    <a:pt x="498" y="475"/>
                  </a:lnTo>
                  <a:lnTo>
                    <a:pt x="552" y="419"/>
                  </a:lnTo>
                  <a:lnTo>
                    <a:pt x="610" y="364"/>
                  </a:lnTo>
                  <a:lnTo>
                    <a:pt x="669" y="313"/>
                  </a:lnTo>
                  <a:lnTo>
                    <a:pt x="730" y="265"/>
                  </a:lnTo>
                  <a:lnTo>
                    <a:pt x="794" y="222"/>
                  </a:lnTo>
                  <a:lnTo>
                    <a:pt x="859" y="180"/>
                  </a:lnTo>
                  <a:lnTo>
                    <a:pt x="926" y="144"/>
                  </a:lnTo>
                  <a:lnTo>
                    <a:pt x="995" y="111"/>
                  </a:lnTo>
                  <a:lnTo>
                    <a:pt x="1065" y="82"/>
                  </a:lnTo>
                  <a:lnTo>
                    <a:pt x="1137" y="58"/>
                  </a:lnTo>
                  <a:lnTo>
                    <a:pt x="1210" y="37"/>
                  </a:lnTo>
                  <a:lnTo>
                    <a:pt x="1284" y="21"/>
                  </a:lnTo>
                  <a:lnTo>
                    <a:pt x="1360" y="10"/>
                  </a:lnTo>
                  <a:lnTo>
                    <a:pt x="1437" y="2"/>
                  </a:lnTo>
                  <a:lnTo>
                    <a:pt x="1515"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24" name="Rectangle 23"/>
            <p:cNvSpPr>
              <a:spLocks noChangeArrowheads="1"/>
            </p:cNvSpPr>
            <p:nvPr/>
          </p:nvSpPr>
          <p:spPr bwMode="auto">
            <a:xfrm>
              <a:off x="915070" y="3683438"/>
              <a:ext cx="4690872" cy="931350"/>
            </a:xfrm>
            <a:prstGeom prst="rect">
              <a:avLst/>
            </a:pr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25" name="Freeform 24"/>
            <p:cNvSpPr>
              <a:spLocks/>
            </p:cNvSpPr>
            <p:nvPr/>
          </p:nvSpPr>
          <p:spPr bwMode="auto">
            <a:xfrm flipV="1">
              <a:off x="5286480" y="3821564"/>
              <a:ext cx="657120" cy="655097"/>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26" name="Freeform 25"/>
            <p:cNvSpPr>
              <a:spLocks/>
            </p:cNvSpPr>
            <p:nvPr/>
          </p:nvSpPr>
          <p:spPr bwMode="auto">
            <a:xfrm>
              <a:off x="5329884" y="3864834"/>
              <a:ext cx="570309" cy="568556"/>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solidFill>
              <a:schemeClr val="accent1">
                <a:lumMod val="60000"/>
                <a:lumOff val="40000"/>
              </a:schemeClr>
            </a:solidFill>
            <a:ln>
              <a:noFill/>
            </a:ln>
            <a:effectLst>
              <a:outerShdw blurRad="50800" dist="38100" dir="3060000" algn="tl" rotWithShape="0">
                <a:prstClr val="black">
                  <a:alpha val="2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27" name="TextBox 43"/>
            <p:cNvSpPr txBox="1"/>
            <p:nvPr/>
          </p:nvSpPr>
          <p:spPr>
            <a:xfrm>
              <a:off x="5371494" y="3913298"/>
              <a:ext cx="501686" cy="461665"/>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2400" b="1" dirty="0">
                  <a:latin typeface="Calibri" panose="020F0502020204030204"/>
                </a:rPr>
                <a:t>03</a:t>
              </a:r>
            </a:p>
          </p:txBody>
        </p:sp>
        <p:sp>
          <p:nvSpPr>
            <p:cNvPr id="29" name="Freeform 28"/>
            <p:cNvSpPr>
              <a:spLocks/>
            </p:cNvSpPr>
            <p:nvPr/>
          </p:nvSpPr>
          <p:spPr bwMode="auto">
            <a:xfrm>
              <a:off x="369970" y="3960901"/>
              <a:ext cx="389103" cy="387325"/>
            </a:xfrm>
            <a:custGeom>
              <a:avLst/>
              <a:gdLst>
                <a:gd name="T0" fmla="*/ 773 w 1287"/>
                <a:gd name="T1" fmla="*/ 1274 h 1287"/>
                <a:gd name="T2" fmla="*/ 922 w 1287"/>
                <a:gd name="T3" fmla="*/ 1224 h 1287"/>
                <a:gd name="T4" fmla="*/ 1053 w 1287"/>
                <a:gd name="T5" fmla="*/ 1140 h 1287"/>
                <a:gd name="T6" fmla="*/ 1159 w 1287"/>
                <a:gd name="T7" fmla="*/ 1028 h 1287"/>
                <a:gd name="T8" fmla="*/ 1237 w 1287"/>
                <a:gd name="T9" fmla="*/ 894 h 1287"/>
                <a:gd name="T10" fmla="*/ 1279 w 1287"/>
                <a:gd name="T11" fmla="*/ 742 h 1287"/>
                <a:gd name="T12" fmla="*/ 1285 w 1287"/>
                <a:gd name="T13" fmla="*/ 600 h 1287"/>
                <a:gd name="T14" fmla="*/ 1263 w 1287"/>
                <a:gd name="T15" fmla="*/ 479 h 1287"/>
                <a:gd name="T16" fmla="*/ 1214 w 1287"/>
                <a:gd name="T17" fmla="*/ 363 h 1287"/>
                <a:gd name="T18" fmla="*/ 1161 w 1287"/>
                <a:gd name="T19" fmla="*/ 300 h 1287"/>
                <a:gd name="T20" fmla="*/ 1127 w 1287"/>
                <a:gd name="T21" fmla="*/ 313 h 1287"/>
                <a:gd name="T22" fmla="*/ 1062 w 1287"/>
                <a:gd name="T23" fmla="*/ 422 h 1287"/>
                <a:gd name="T24" fmla="*/ 1093 w 1287"/>
                <a:gd name="T25" fmla="*/ 496 h 1287"/>
                <a:gd name="T26" fmla="*/ 1112 w 1287"/>
                <a:gd name="T27" fmla="*/ 577 h 1287"/>
                <a:gd name="T28" fmla="*/ 1116 w 1287"/>
                <a:gd name="T29" fmla="*/ 668 h 1287"/>
                <a:gd name="T30" fmla="*/ 1095 w 1287"/>
                <a:gd name="T31" fmla="*/ 784 h 1287"/>
                <a:gd name="T32" fmla="*/ 1048 w 1287"/>
                <a:gd name="T33" fmla="*/ 889 h 1287"/>
                <a:gd name="T34" fmla="*/ 978 w 1287"/>
                <a:gd name="T35" fmla="*/ 978 h 1287"/>
                <a:gd name="T36" fmla="*/ 889 w 1287"/>
                <a:gd name="T37" fmla="*/ 1049 h 1287"/>
                <a:gd name="T38" fmla="*/ 784 w 1287"/>
                <a:gd name="T39" fmla="*/ 1096 h 1287"/>
                <a:gd name="T40" fmla="*/ 668 w 1287"/>
                <a:gd name="T41" fmla="*/ 1116 h 1287"/>
                <a:gd name="T42" fmla="*/ 548 w 1287"/>
                <a:gd name="T43" fmla="*/ 1107 h 1287"/>
                <a:gd name="T44" fmla="*/ 439 w 1287"/>
                <a:gd name="T45" fmla="*/ 1070 h 1287"/>
                <a:gd name="T46" fmla="*/ 342 w 1287"/>
                <a:gd name="T47" fmla="*/ 1009 h 1287"/>
                <a:gd name="T48" fmla="*/ 264 w 1287"/>
                <a:gd name="T49" fmla="*/ 926 h 1287"/>
                <a:gd name="T50" fmla="*/ 207 w 1287"/>
                <a:gd name="T51" fmla="*/ 828 h 1287"/>
                <a:gd name="T52" fmla="*/ 176 w 1287"/>
                <a:gd name="T53" fmla="*/ 715 h 1287"/>
                <a:gd name="T54" fmla="*/ 173 w 1287"/>
                <a:gd name="T55" fmla="*/ 595 h 1287"/>
                <a:gd name="T56" fmla="*/ 198 w 1287"/>
                <a:gd name="T57" fmla="*/ 481 h 1287"/>
                <a:gd name="T58" fmla="*/ 251 w 1287"/>
                <a:gd name="T59" fmla="*/ 379 h 1287"/>
                <a:gd name="T60" fmla="*/ 325 w 1287"/>
                <a:gd name="T61" fmla="*/ 294 h 1287"/>
                <a:gd name="T62" fmla="*/ 418 w 1287"/>
                <a:gd name="T63" fmla="*/ 227 h 1287"/>
                <a:gd name="T64" fmla="*/ 525 w 1287"/>
                <a:gd name="T65" fmla="*/ 185 h 1287"/>
                <a:gd name="T66" fmla="*/ 643 w 1287"/>
                <a:gd name="T67" fmla="*/ 170 h 1287"/>
                <a:gd name="T68" fmla="*/ 727 w 1287"/>
                <a:gd name="T69" fmla="*/ 178 h 1287"/>
                <a:gd name="T70" fmla="*/ 806 w 1287"/>
                <a:gd name="T71" fmla="*/ 199 h 1287"/>
                <a:gd name="T72" fmla="*/ 878 w 1287"/>
                <a:gd name="T73" fmla="*/ 234 h 1287"/>
                <a:gd name="T74" fmla="*/ 983 w 1287"/>
                <a:gd name="T75" fmla="*/ 149 h 1287"/>
                <a:gd name="T76" fmla="*/ 997 w 1287"/>
                <a:gd name="T77" fmla="*/ 128 h 1287"/>
                <a:gd name="T78" fmla="*/ 888 w 1287"/>
                <a:gd name="T79" fmla="*/ 50 h 1287"/>
                <a:gd name="T80" fmla="*/ 773 w 1287"/>
                <a:gd name="T81" fmla="*/ 12 h 1287"/>
                <a:gd name="T82" fmla="*/ 664 w 1287"/>
                <a:gd name="T83" fmla="*/ 0 h 1287"/>
                <a:gd name="T84" fmla="*/ 514 w 1287"/>
                <a:gd name="T85" fmla="*/ 13 h 1287"/>
                <a:gd name="T86" fmla="*/ 365 w 1287"/>
                <a:gd name="T87" fmla="*/ 63 h 1287"/>
                <a:gd name="T88" fmla="*/ 234 w 1287"/>
                <a:gd name="T89" fmla="*/ 147 h 1287"/>
                <a:gd name="T90" fmla="*/ 128 w 1287"/>
                <a:gd name="T91" fmla="*/ 258 h 1287"/>
                <a:gd name="T92" fmla="*/ 50 w 1287"/>
                <a:gd name="T93" fmla="*/ 393 h 1287"/>
                <a:gd name="T94" fmla="*/ 7 w 1287"/>
                <a:gd name="T95" fmla="*/ 546 h 1287"/>
                <a:gd name="T96" fmla="*/ 3 w 1287"/>
                <a:gd name="T97" fmla="*/ 710 h 1287"/>
                <a:gd name="T98" fmla="*/ 39 w 1287"/>
                <a:gd name="T99" fmla="*/ 865 h 1287"/>
                <a:gd name="T100" fmla="*/ 109 w 1287"/>
                <a:gd name="T101" fmla="*/ 1004 h 1287"/>
                <a:gd name="T102" fmla="*/ 210 w 1287"/>
                <a:gd name="T103" fmla="*/ 1119 h 1287"/>
                <a:gd name="T104" fmla="*/ 337 w 1287"/>
                <a:gd name="T105" fmla="*/ 1210 h 1287"/>
                <a:gd name="T106" fmla="*/ 483 w 1287"/>
                <a:gd name="T107" fmla="*/ 1266 h 1287"/>
                <a:gd name="T108" fmla="*/ 643 w 1287"/>
                <a:gd name="T109"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87" h="1287">
                  <a:moveTo>
                    <a:pt x="643" y="1287"/>
                  </a:moveTo>
                  <a:lnTo>
                    <a:pt x="677" y="1287"/>
                  </a:lnTo>
                  <a:lnTo>
                    <a:pt x="709" y="1284"/>
                  </a:lnTo>
                  <a:lnTo>
                    <a:pt x="741" y="1279"/>
                  </a:lnTo>
                  <a:lnTo>
                    <a:pt x="773" y="1274"/>
                  </a:lnTo>
                  <a:lnTo>
                    <a:pt x="804" y="1266"/>
                  </a:lnTo>
                  <a:lnTo>
                    <a:pt x="834" y="1258"/>
                  </a:lnTo>
                  <a:lnTo>
                    <a:pt x="864" y="1248"/>
                  </a:lnTo>
                  <a:lnTo>
                    <a:pt x="893" y="1236"/>
                  </a:lnTo>
                  <a:lnTo>
                    <a:pt x="922" y="1224"/>
                  </a:lnTo>
                  <a:lnTo>
                    <a:pt x="950" y="1210"/>
                  </a:lnTo>
                  <a:lnTo>
                    <a:pt x="977" y="1195"/>
                  </a:lnTo>
                  <a:lnTo>
                    <a:pt x="1003" y="1177"/>
                  </a:lnTo>
                  <a:lnTo>
                    <a:pt x="1028" y="1159"/>
                  </a:lnTo>
                  <a:lnTo>
                    <a:pt x="1053" y="1140"/>
                  </a:lnTo>
                  <a:lnTo>
                    <a:pt x="1076" y="1119"/>
                  </a:lnTo>
                  <a:lnTo>
                    <a:pt x="1098" y="1099"/>
                  </a:lnTo>
                  <a:lnTo>
                    <a:pt x="1120" y="1077"/>
                  </a:lnTo>
                  <a:lnTo>
                    <a:pt x="1140" y="1053"/>
                  </a:lnTo>
                  <a:lnTo>
                    <a:pt x="1159" y="1028"/>
                  </a:lnTo>
                  <a:lnTo>
                    <a:pt x="1177" y="1004"/>
                  </a:lnTo>
                  <a:lnTo>
                    <a:pt x="1194" y="977"/>
                  </a:lnTo>
                  <a:lnTo>
                    <a:pt x="1210" y="950"/>
                  </a:lnTo>
                  <a:lnTo>
                    <a:pt x="1224" y="922"/>
                  </a:lnTo>
                  <a:lnTo>
                    <a:pt x="1237" y="894"/>
                  </a:lnTo>
                  <a:lnTo>
                    <a:pt x="1248" y="865"/>
                  </a:lnTo>
                  <a:lnTo>
                    <a:pt x="1258" y="835"/>
                  </a:lnTo>
                  <a:lnTo>
                    <a:pt x="1267" y="804"/>
                  </a:lnTo>
                  <a:lnTo>
                    <a:pt x="1274" y="773"/>
                  </a:lnTo>
                  <a:lnTo>
                    <a:pt x="1279" y="742"/>
                  </a:lnTo>
                  <a:lnTo>
                    <a:pt x="1284" y="710"/>
                  </a:lnTo>
                  <a:lnTo>
                    <a:pt x="1286" y="677"/>
                  </a:lnTo>
                  <a:lnTo>
                    <a:pt x="1287" y="643"/>
                  </a:lnTo>
                  <a:lnTo>
                    <a:pt x="1286" y="622"/>
                  </a:lnTo>
                  <a:lnTo>
                    <a:pt x="1285" y="600"/>
                  </a:lnTo>
                  <a:lnTo>
                    <a:pt x="1283" y="577"/>
                  </a:lnTo>
                  <a:lnTo>
                    <a:pt x="1279" y="553"/>
                  </a:lnTo>
                  <a:lnTo>
                    <a:pt x="1275" y="529"/>
                  </a:lnTo>
                  <a:lnTo>
                    <a:pt x="1270" y="504"/>
                  </a:lnTo>
                  <a:lnTo>
                    <a:pt x="1263" y="479"/>
                  </a:lnTo>
                  <a:lnTo>
                    <a:pt x="1256" y="455"/>
                  </a:lnTo>
                  <a:lnTo>
                    <a:pt x="1247" y="431"/>
                  </a:lnTo>
                  <a:lnTo>
                    <a:pt x="1237" y="407"/>
                  </a:lnTo>
                  <a:lnTo>
                    <a:pt x="1226" y="385"/>
                  </a:lnTo>
                  <a:lnTo>
                    <a:pt x="1214" y="363"/>
                  </a:lnTo>
                  <a:lnTo>
                    <a:pt x="1200" y="343"/>
                  </a:lnTo>
                  <a:lnTo>
                    <a:pt x="1186" y="325"/>
                  </a:lnTo>
                  <a:lnTo>
                    <a:pt x="1179" y="316"/>
                  </a:lnTo>
                  <a:lnTo>
                    <a:pt x="1170" y="308"/>
                  </a:lnTo>
                  <a:lnTo>
                    <a:pt x="1161" y="300"/>
                  </a:lnTo>
                  <a:lnTo>
                    <a:pt x="1153" y="293"/>
                  </a:lnTo>
                  <a:lnTo>
                    <a:pt x="1150" y="294"/>
                  </a:lnTo>
                  <a:lnTo>
                    <a:pt x="1144" y="298"/>
                  </a:lnTo>
                  <a:lnTo>
                    <a:pt x="1136" y="304"/>
                  </a:lnTo>
                  <a:lnTo>
                    <a:pt x="1127" y="313"/>
                  </a:lnTo>
                  <a:lnTo>
                    <a:pt x="1111" y="328"/>
                  </a:lnTo>
                  <a:lnTo>
                    <a:pt x="1105" y="335"/>
                  </a:lnTo>
                  <a:lnTo>
                    <a:pt x="1046" y="394"/>
                  </a:lnTo>
                  <a:lnTo>
                    <a:pt x="1054" y="408"/>
                  </a:lnTo>
                  <a:lnTo>
                    <a:pt x="1062" y="422"/>
                  </a:lnTo>
                  <a:lnTo>
                    <a:pt x="1069" y="436"/>
                  </a:lnTo>
                  <a:lnTo>
                    <a:pt x="1076" y="451"/>
                  </a:lnTo>
                  <a:lnTo>
                    <a:pt x="1082" y="466"/>
                  </a:lnTo>
                  <a:lnTo>
                    <a:pt x="1087" y="481"/>
                  </a:lnTo>
                  <a:lnTo>
                    <a:pt x="1093" y="496"/>
                  </a:lnTo>
                  <a:lnTo>
                    <a:pt x="1098" y="512"/>
                  </a:lnTo>
                  <a:lnTo>
                    <a:pt x="1103" y="527"/>
                  </a:lnTo>
                  <a:lnTo>
                    <a:pt x="1106" y="544"/>
                  </a:lnTo>
                  <a:lnTo>
                    <a:pt x="1109" y="560"/>
                  </a:lnTo>
                  <a:lnTo>
                    <a:pt x="1112" y="577"/>
                  </a:lnTo>
                  <a:lnTo>
                    <a:pt x="1114" y="593"/>
                  </a:lnTo>
                  <a:lnTo>
                    <a:pt x="1115" y="610"/>
                  </a:lnTo>
                  <a:lnTo>
                    <a:pt x="1116" y="626"/>
                  </a:lnTo>
                  <a:lnTo>
                    <a:pt x="1116" y="643"/>
                  </a:lnTo>
                  <a:lnTo>
                    <a:pt x="1116" y="668"/>
                  </a:lnTo>
                  <a:lnTo>
                    <a:pt x="1114" y="692"/>
                  </a:lnTo>
                  <a:lnTo>
                    <a:pt x="1111" y="715"/>
                  </a:lnTo>
                  <a:lnTo>
                    <a:pt x="1107" y="739"/>
                  </a:lnTo>
                  <a:lnTo>
                    <a:pt x="1101" y="761"/>
                  </a:lnTo>
                  <a:lnTo>
                    <a:pt x="1095" y="784"/>
                  </a:lnTo>
                  <a:lnTo>
                    <a:pt x="1087" y="806"/>
                  </a:lnTo>
                  <a:lnTo>
                    <a:pt x="1079" y="828"/>
                  </a:lnTo>
                  <a:lnTo>
                    <a:pt x="1070" y="848"/>
                  </a:lnTo>
                  <a:lnTo>
                    <a:pt x="1060" y="869"/>
                  </a:lnTo>
                  <a:lnTo>
                    <a:pt x="1048" y="889"/>
                  </a:lnTo>
                  <a:lnTo>
                    <a:pt x="1036" y="908"/>
                  </a:lnTo>
                  <a:lnTo>
                    <a:pt x="1023" y="926"/>
                  </a:lnTo>
                  <a:lnTo>
                    <a:pt x="1008" y="945"/>
                  </a:lnTo>
                  <a:lnTo>
                    <a:pt x="994" y="962"/>
                  </a:lnTo>
                  <a:lnTo>
                    <a:pt x="978" y="978"/>
                  </a:lnTo>
                  <a:lnTo>
                    <a:pt x="962" y="994"/>
                  </a:lnTo>
                  <a:lnTo>
                    <a:pt x="945" y="1009"/>
                  </a:lnTo>
                  <a:lnTo>
                    <a:pt x="927" y="1023"/>
                  </a:lnTo>
                  <a:lnTo>
                    <a:pt x="908" y="1036"/>
                  </a:lnTo>
                  <a:lnTo>
                    <a:pt x="889" y="1049"/>
                  </a:lnTo>
                  <a:lnTo>
                    <a:pt x="869" y="1059"/>
                  </a:lnTo>
                  <a:lnTo>
                    <a:pt x="848" y="1070"/>
                  </a:lnTo>
                  <a:lnTo>
                    <a:pt x="828" y="1080"/>
                  </a:lnTo>
                  <a:lnTo>
                    <a:pt x="806" y="1088"/>
                  </a:lnTo>
                  <a:lnTo>
                    <a:pt x="784" y="1096"/>
                  </a:lnTo>
                  <a:lnTo>
                    <a:pt x="761" y="1101"/>
                  </a:lnTo>
                  <a:lnTo>
                    <a:pt x="739" y="1107"/>
                  </a:lnTo>
                  <a:lnTo>
                    <a:pt x="715" y="1111"/>
                  </a:lnTo>
                  <a:lnTo>
                    <a:pt x="692" y="1114"/>
                  </a:lnTo>
                  <a:lnTo>
                    <a:pt x="668" y="1116"/>
                  </a:lnTo>
                  <a:lnTo>
                    <a:pt x="643" y="1116"/>
                  </a:lnTo>
                  <a:lnTo>
                    <a:pt x="619" y="1116"/>
                  </a:lnTo>
                  <a:lnTo>
                    <a:pt x="595" y="1114"/>
                  </a:lnTo>
                  <a:lnTo>
                    <a:pt x="572" y="1111"/>
                  </a:lnTo>
                  <a:lnTo>
                    <a:pt x="548" y="1107"/>
                  </a:lnTo>
                  <a:lnTo>
                    <a:pt x="525" y="1101"/>
                  </a:lnTo>
                  <a:lnTo>
                    <a:pt x="503" y="1096"/>
                  </a:lnTo>
                  <a:lnTo>
                    <a:pt x="480" y="1088"/>
                  </a:lnTo>
                  <a:lnTo>
                    <a:pt x="459" y="1080"/>
                  </a:lnTo>
                  <a:lnTo>
                    <a:pt x="439" y="1070"/>
                  </a:lnTo>
                  <a:lnTo>
                    <a:pt x="418" y="1059"/>
                  </a:lnTo>
                  <a:lnTo>
                    <a:pt x="398" y="1049"/>
                  </a:lnTo>
                  <a:lnTo>
                    <a:pt x="379" y="1036"/>
                  </a:lnTo>
                  <a:lnTo>
                    <a:pt x="360" y="1023"/>
                  </a:lnTo>
                  <a:lnTo>
                    <a:pt x="342" y="1009"/>
                  </a:lnTo>
                  <a:lnTo>
                    <a:pt x="325" y="994"/>
                  </a:lnTo>
                  <a:lnTo>
                    <a:pt x="309" y="978"/>
                  </a:lnTo>
                  <a:lnTo>
                    <a:pt x="293" y="962"/>
                  </a:lnTo>
                  <a:lnTo>
                    <a:pt x="279" y="945"/>
                  </a:lnTo>
                  <a:lnTo>
                    <a:pt x="264" y="926"/>
                  </a:lnTo>
                  <a:lnTo>
                    <a:pt x="251" y="908"/>
                  </a:lnTo>
                  <a:lnTo>
                    <a:pt x="239" y="889"/>
                  </a:lnTo>
                  <a:lnTo>
                    <a:pt x="227" y="869"/>
                  </a:lnTo>
                  <a:lnTo>
                    <a:pt x="217" y="848"/>
                  </a:lnTo>
                  <a:lnTo>
                    <a:pt x="207" y="828"/>
                  </a:lnTo>
                  <a:lnTo>
                    <a:pt x="198" y="806"/>
                  </a:lnTo>
                  <a:lnTo>
                    <a:pt x="192" y="784"/>
                  </a:lnTo>
                  <a:lnTo>
                    <a:pt x="186" y="761"/>
                  </a:lnTo>
                  <a:lnTo>
                    <a:pt x="180" y="739"/>
                  </a:lnTo>
                  <a:lnTo>
                    <a:pt x="176" y="715"/>
                  </a:lnTo>
                  <a:lnTo>
                    <a:pt x="173" y="692"/>
                  </a:lnTo>
                  <a:lnTo>
                    <a:pt x="170" y="668"/>
                  </a:lnTo>
                  <a:lnTo>
                    <a:pt x="170" y="643"/>
                  </a:lnTo>
                  <a:lnTo>
                    <a:pt x="170" y="620"/>
                  </a:lnTo>
                  <a:lnTo>
                    <a:pt x="173" y="595"/>
                  </a:lnTo>
                  <a:lnTo>
                    <a:pt x="176" y="571"/>
                  </a:lnTo>
                  <a:lnTo>
                    <a:pt x="180" y="548"/>
                  </a:lnTo>
                  <a:lnTo>
                    <a:pt x="186" y="525"/>
                  </a:lnTo>
                  <a:lnTo>
                    <a:pt x="192" y="503"/>
                  </a:lnTo>
                  <a:lnTo>
                    <a:pt x="198" y="481"/>
                  </a:lnTo>
                  <a:lnTo>
                    <a:pt x="207" y="460"/>
                  </a:lnTo>
                  <a:lnTo>
                    <a:pt x="217" y="438"/>
                  </a:lnTo>
                  <a:lnTo>
                    <a:pt x="227" y="418"/>
                  </a:lnTo>
                  <a:lnTo>
                    <a:pt x="239" y="399"/>
                  </a:lnTo>
                  <a:lnTo>
                    <a:pt x="251" y="379"/>
                  </a:lnTo>
                  <a:lnTo>
                    <a:pt x="264" y="360"/>
                  </a:lnTo>
                  <a:lnTo>
                    <a:pt x="278" y="343"/>
                  </a:lnTo>
                  <a:lnTo>
                    <a:pt x="293" y="326"/>
                  </a:lnTo>
                  <a:lnTo>
                    <a:pt x="309" y="309"/>
                  </a:lnTo>
                  <a:lnTo>
                    <a:pt x="325" y="294"/>
                  </a:lnTo>
                  <a:lnTo>
                    <a:pt x="342" y="279"/>
                  </a:lnTo>
                  <a:lnTo>
                    <a:pt x="360" y="265"/>
                  </a:lnTo>
                  <a:lnTo>
                    <a:pt x="379" y="251"/>
                  </a:lnTo>
                  <a:lnTo>
                    <a:pt x="398" y="239"/>
                  </a:lnTo>
                  <a:lnTo>
                    <a:pt x="418" y="227"/>
                  </a:lnTo>
                  <a:lnTo>
                    <a:pt x="439" y="218"/>
                  </a:lnTo>
                  <a:lnTo>
                    <a:pt x="459" y="208"/>
                  </a:lnTo>
                  <a:lnTo>
                    <a:pt x="480" y="199"/>
                  </a:lnTo>
                  <a:lnTo>
                    <a:pt x="503" y="192"/>
                  </a:lnTo>
                  <a:lnTo>
                    <a:pt x="525" y="185"/>
                  </a:lnTo>
                  <a:lnTo>
                    <a:pt x="548" y="180"/>
                  </a:lnTo>
                  <a:lnTo>
                    <a:pt x="572" y="176"/>
                  </a:lnTo>
                  <a:lnTo>
                    <a:pt x="595" y="172"/>
                  </a:lnTo>
                  <a:lnTo>
                    <a:pt x="619" y="171"/>
                  </a:lnTo>
                  <a:lnTo>
                    <a:pt x="643" y="170"/>
                  </a:lnTo>
                  <a:lnTo>
                    <a:pt x="661" y="170"/>
                  </a:lnTo>
                  <a:lnTo>
                    <a:pt x="678" y="171"/>
                  </a:lnTo>
                  <a:lnTo>
                    <a:pt x="694" y="174"/>
                  </a:lnTo>
                  <a:lnTo>
                    <a:pt x="711" y="176"/>
                  </a:lnTo>
                  <a:lnTo>
                    <a:pt x="727" y="178"/>
                  </a:lnTo>
                  <a:lnTo>
                    <a:pt x="743" y="181"/>
                  </a:lnTo>
                  <a:lnTo>
                    <a:pt x="759" y="184"/>
                  </a:lnTo>
                  <a:lnTo>
                    <a:pt x="775" y="189"/>
                  </a:lnTo>
                  <a:lnTo>
                    <a:pt x="790" y="194"/>
                  </a:lnTo>
                  <a:lnTo>
                    <a:pt x="806" y="199"/>
                  </a:lnTo>
                  <a:lnTo>
                    <a:pt x="822" y="205"/>
                  </a:lnTo>
                  <a:lnTo>
                    <a:pt x="835" y="211"/>
                  </a:lnTo>
                  <a:lnTo>
                    <a:pt x="850" y="219"/>
                  </a:lnTo>
                  <a:lnTo>
                    <a:pt x="864" y="225"/>
                  </a:lnTo>
                  <a:lnTo>
                    <a:pt x="878" y="234"/>
                  </a:lnTo>
                  <a:lnTo>
                    <a:pt x="892" y="241"/>
                  </a:lnTo>
                  <a:lnTo>
                    <a:pt x="946" y="189"/>
                  </a:lnTo>
                  <a:lnTo>
                    <a:pt x="954" y="179"/>
                  </a:lnTo>
                  <a:lnTo>
                    <a:pt x="974" y="160"/>
                  </a:lnTo>
                  <a:lnTo>
                    <a:pt x="983" y="149"/>
                  </a:lnTo>
                  <a:lnTo>
                    <a:pt x="991" y="139"/>
                  </a:lnTo>
                  <a:lnTo>
                    <a:pt x="994" y="136"/>
                  </a:lnTo>
                  <a:lnTo>
                    <a:pt x="996" y="132"/>
                  </a:lnTo>
                  <a:lnTo>
                    <a:pt x="997" y="130"/>
                  </a:lnTo>
                  <a:lnTo>
                    <a:pt x="997" y="128"/>
                  </a:lnTo>
                  <a:lnTo>
                    <a:pt x="976" y="109"/>
                  </a:lnTo>
                  <a:lnTo>
                    <a:pt x="954" y="91"/>
                  </a:lnTo>
                  <a:lnTo>
                    <a:pt x="932" y="76"/>
                  </a:lnTo>
                  <a:lnTo>
                    <a:pt x="911" y="62"/>
                  </a:lnTo>
                  <a:lnTo>
                    <a:pt x="888" y="50"/>
                  </a:lnTo>
                  <a:lnTo>
                    <a:pt x="864" y="39"/>
                  </a:lnTo>
                  <a:lnTo>
                    <a:pt x="842" y="31"/>
                  </a:lnTo>
                  <a:lnTo>
                    <a:pt x="818" y="23"/>
                  </a:lnTo>
                  <a:lnTo>
                    <a:pt x="796" y="17"/>
                  </a:lnTo>
                  <a:lnTo>
                    <a:pt x="773" y="12"/>
                  </a:lnTo>
                  <a:lnTo>
                    <a:pt x="751" y="7"/>
                  </a:lnTo>
                  <a:lnTo>
                    <a:pt x="728" y="5"/>
                  </a:lnTo>
                  <a:lnTo>
                    <a:pt x="706" y="2"/>
                  </a:lnTo>
                  <a:lnTo>
                    <a:pt x="684" y="1"/>
                  </a:lnTo>
                  <a:lnTo>
                    <a:pt x="664" y="0"/>
                  </a:lnTo>
                  <a:lnTo>
                    <a:pt x="643" y="0"/>
                  </a:lnTo>
                  <a:lnTo>
                    <a:pt x="610" y="1"/>
                  </a:lnTo>
                  <a:lnTo>
                    <a:pt x="577" y="3"/>
                  </a:lnTo>
                  <a:lnTo>
                    <a:pt x="545" y="7"/>
                  </a:lnTo>
                  <a:lnTo>
                    <a:pt x="514" y="13"/>
                  </a:lnTo>
                  <a:lnTo>
                    <a:pt x="483" y="20"/>
                  </a:lnTo>
                  <a:lnTo>
                    <a:pt x="451" y="29"/>
                  </a:lnTo>
                  <a:lnTo>
                    <a:pt x="421" y="39"/>
                  </a:lnTo>
                  <a:lnTo>
                    <a:pt x="393" y="50"/>
                  </a:lnTo>
                  <a:lnTo>
                    <a:pt x="365" y="63"/>
                  </a:lnTo>
                  <a:lnTo>
                    <a:pt x="337" y="78"/>
                  </a:lnTo>
                  <a:lnTo>
                    <a:pt x="310" y="93"/>
                  </a:lnTo>
                  <a:lnTo>
                    <a:pt x="283" y="110"/>
                  </a:lnTo>
                  <a:lnTo>
                    <a:pt x="258" y="127"/>
                  </a:lnTo>
                  <a:lnTo>
                    <a:pt x="234" y="147"/>
                  </a:lnTo>
                  <a:lnTo>
                    <a:pt x="210" y="167"/>
                  </a:lnTo>
                  <a:lnTo>
                    <a:pt x="189" y="189"/>
                  </a:lnTo>
                  <a:lnTo>
                    <a:pt x="167" y="211"/>
                  </a:lnTo>
                  <a:lnTo>
                    <a:pt x="147" y="234"/>
                  </a:lnTo>
                  <a:lnTo>
                    <a:pt x="128" y="258"/>
                  </a:lnTo>
                  <a:lnTo>
                    <a:pt x="109" y="284"/>
                  </a:lnTo>
                  <a:lnTo>
                    <a:pt x="93" y="310"/>
                  </a:lnTo>
                  <a:lnTo>
                    <a:pt x="77" y="337"/>
                  </a:lnTo>
                  <a:lnTo>
                    <a:pt x="63" y="364"/>
                  </a:lnTo>
                  <a:lnTo>
                    <a:pt x="50" y="393"/>
                  </a:lnTo>
                  <a:lnTo>
                    <a:pt x="39" y="422"/>
                  </a:lnTo>
                  <a:lnTo>
                    <a:pt x="29" y="452"/>
                  </a:lnTo>
                  <a:lnTo>
                    <a:pt x="20" y="482"/>
                  </a:lnTo>
                  <a:lnTo>
                    <a:pt x="13" y="514"/>
                  </a:lnTo>
                  <a:lnTo>
                    <a:pt x="7" y="546"/>
                  </a:lnTo>
                  <a:lnTo>
                    <a:pt x="3" y="578"/>
                  </a:lnTo>
                  <a:lnTo>
                    <a:pt x="0" y="610"/>
                  </a:lnTo>
                  <a:lnTo>
                    <a:pt x="0" y="643"/>
                  </a:lnTo>
                  <a:lnTo>
                    <a:pt x="0" y="677"/>
                  </a:lnTo>
                  <a:lnTo>
                    <a:pt x="3" y="710"/>
                  </a:lnTo>
                  <a:lnTo>
                    <a:pt x="7" y="742"/>
                  </a:lnTo>
                  <a:lnTo>
                    <a:pt x="13" y="773"/>
                  </a:lnTo>
                  <a:lnTo>
                    <a:pt x="20" y="804"/>
                  </a:lnTo>
                  <a:lnTo>
                    <a:pt x="29" y="835"/>
                  </a:lnTo>
                  <a:lnTo>
                    <a:pt x="39" y="865"/>
                  </a:lnTo>
                  <a:lnTo>
                    <a:pt x="50" y="894"/>
                  </a:lnTo>
                  <a:lnTo>
                    <a:pt x="63" y="922"/>
                  </a:lnTo>
                  <a:lnTo>
                    <a:pt x="77" y="950"/>
                  </a:lnTo>
                  <a:lnTo>
                    <a:pt x="93" y="977"/>
                  </a:lnTo>
                  <a:lnTo>
                    <a:pt x="109" y="1004"/>
                  </a:lnTo>
                  <a:lnTo>
                    <a:pt x="128" y="1028"/>
                  </a:lnTo>
                  <a:lnTo>
                    <a:pt x="147" y="1053"/>
                  </a:lnTo>
                  <a:lnTo>
                    <a:pt x="167" y="1077"/>
                  </a:lnTo>
                  <a:lnTo>
                    <a:pt x="189" y="1099"/>
                  </a:lnTo>
                  <a:lnTo>
                    <a:pt x="210" y="1119"/>
                  </a:lnTo>
                  <a:lnTo>
                    <a:pt x="234" y="1140"/>
                  </a:lnTo>
                  <a:lnTo>
                    <a:pt x="258" y="1159"/>
                  </a:lnTo>
                  <a:lnTo>
                    <a:pt x="283" y="1177"/>
                  </a:lnTo>
                  <a:lnTo>
                    <a:pt x="310" y="1195"/>
                  </a:lnTo>
                  <a:lnTo>
                    <a:pt x="337" y="1210"/>
                  </a:lnTo>
                  <a:lnTo>
                    <a:pt x="365" y="1224"/>
                  </a:lnTo>
                  <a:lnTo>
                    <a:pt x="393" y="1236"/>
                  </a:lnTo>
                  <a:lnTo>
                    <a:pt x="423" y="1248"/>
                  </a:lnTo>
                  <a:lnTo>
                    <a:pt x="451" y="1258"/>
                  </a:lnTo>
                  <a:lnTo>
                    <a:pt x="483" y="1266"/>
                  </a:lnTo>
                  <a:lnTo>
                    <a:pt x="514" y="1274"/>
                  </a:lnTo>
                  <a:lnTo>
                    <a:pt x="545" y="1279"/>
                  </a:lnTo>
                  <a:lnTo>
                    <a:pt x="577" y="1284"/>
                  </a:lnTo>
                  <a:lnTo>
                    <a:pt x="610" y="1287"/>
                  </a:lnTo>
                  <a:lnTo>
                    <a:pt x="643" y="1287"/>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30" name="Freeform 29"/>
            <p:cNvSpPr>
              <a:spLocks/>
            </p:cNvSpPr>
            <p:nvPr/>
          </p:nvSpPr>
          <p:spPr bwMode="auto">
            <a:xfrm>
              <a:off x="469508" y="4058862"/>
              <a:ext cx="190027" cy="191402"/>
            </a:xfrm>
            <a:custGeom>
              <a:avLst/>
              <a:gdLst>
                <a:gd name="T0" fmla="*/ 330 w 634"/>
                <a:gd name="T1" fmla="*/ 151 h 634"/>
                <a:gd name="T2" fmla="*/ 435 w 634"/>
                <a:gd name="T3" fmla="*/ 22 h 634"/>
                <a:gd name="T4" fmla="*/ 387 w 634"/>
                <a:gd name="T5" fmla="*/ 7 h 634"/>
                <a:gd name="T6" fmla="*/ 335 w 634"/>
                <a:gd name="T7" fmla="*/ 0 h 634"/>
                <a:gd name="T8" fmla="*/ 285 w 634"/>
                <a:gd name="T9" fmla="*/ 1 h 634"/>
                <a:gd name="T10" fmla="*/ 238 w 634"/>
                <a:gd name="T11" fmla="*/ 10 h 634"/>
                <a:gd name="T12" fmla="*/ 194 w 634"/>
                <a:gd name="T13" fmla="*/ 25 h 634"/>
                <a:gd name="T14" fmla="*/ 153 w 634"/>
                <a:gd name="T15" fmla="*/ 45 h 634"/>
                <a:gd name="T16" fmla="*/ 116 w 634"/>
                <a:gd name="T17" fmla="*/ 72 h 634"/>
                <a:gd name="T18" fmla="*/ 83 w 634"/>
                <a:gd name="T19" fmla="*/ 103 h 634"/>
                <a:gd name="T20" fmla="*/ 55 w 634"/>
                <a:gd name="T21" fmla="*/ 139 h 634"/>
                <a:gd name="T22" fmla="*/ 32 w 634"/>
                <a:gd name="T23" fmla="*/ 179 h 634"/>
                <a:gd name="T24" fmla="*/ 15 w 634"/>
                <a:gd name="T25" fmla="*/ 222 h 634"/>
                <a:gd name="T26" fmla="*/ 4 w 634"/>
                <a:gd name="T27" fmla="*/ 268 h 634"/>
                <a:gd name="T28" fmla="*/ 0 w 634"/>
                <a:gd name="T29" fmla="*/ 316 h 634"/>
                <a:gd name="T30" fmla="*/ 4 w 634"/>
                <a:gd name="T31" fmla="*/ 365 h 634"/>
                <a:gd name="T32" fmla="*/ 15 w 634"/>
                <a:gd name="T33" fmla="*/ 411 h 634"/>
                <a:gd name="T34" fmla="*/ 32 w 634"/>
                <a:gd name="T35" fmla="*/ 454 h 634"/>
                <a:gd name="T36" fmla="*/ 55 w 634"/>
                <a:gd name="T37" fmla="*/ 493 h 634"/>
                <a:gd name="T38" fmla="*/ 83 w 634"/>
                <a:gd name="T39" fmla="*/ 530 h 634"/>
                <a:gd name="T40" fmla="*/ 116 w 634"/>
                <a:gd name="T41" fmla="*/ 561 h 634"/>
                <a:gd name="T42" fmla="*/ 153 w 634"/>
                <a:gd name="T43" fmla="*/ 588 h 634"/>
                <a:gd name="T44" fmla="*/ 194 w 634"/>
                <a:gd name="T45" fmla="*/ 608 h 634"/>
                <a:gd name="T46" fmla="*/ 238 w 634"/>
                <a:gd name="T47" fmla="*/ 623 h 634"/>
                <a:gd name="T48" fmla="*/ 285 w 634"/>
                <a:gd name="T49" fmla="*/ 632 h 634"/>
                <a:gd name="T50" fmla="*/ 334 w 634"/>
                <a:gd name="T51" fmla="*/ 633 h 634"/>
                <a:gd name="T52" fmla="*/ 381 w 634"/>
                <a:gd name="T53" fmla="*/ 627 h 634"/>
                <a:gd name="T54" fmla="*/ 426 w 634"/>
                <a:gd name="T55" fmla="*/ 614 h 634"/>
                <a:gd name="T56" fmla="*/ 469 w 634"/>
                <a:gd name="T57" fmla="*/ 595 h 634"/>
                <a:gd name="T58" fmla="*/ 507 w 634"/>
                <a:gd name="T59" fmla="*/ 570 h 634"/>
                <a:gd name="T60" fmla="*/ 542 w 634"/>
                <a:gd name="T61" fmla="*/ 540 h 634"/>
                <a:gd name="T62" fmla="*/ 572 w 634"/>
                <a:gd name="T63" fmla="*/ 506 h 634"/>
                <a:gd name="T64" fmla="*/ 596 w 634"/>
                <a:gd name="T65" fmla="*/ 468 h 634"/>
                <a:gd name="T66" fmla="*/ 615 w 634"/>
                <a:gd name="T67" fmla="*/ 426 h 634"/>
                <a:gd name="T68" fmla="*/ 627 w 634"/>
                <a:gd name="T69" fmla="*/ 381 h 634"/>
                <a:gd name="T70" fmla="*/ 634 w 634"/>
                <a:gd name="T71" fmla="*/ 332 h 634"/>
                <a:gd name="T72" fmla="*/ 633 w 634"/>
                <a:gd name="T73" fmla="*/ 281 h 634"/>
                <a:gd name="T74" fmla="*/ 622 w 634"/>
                <a:gd name="T75" fmla="*/ 230 h 634"/>
                <a:gd name="T76" fmla="*/ 605 w 634"/>
                <a:gd name="T77" fmla="*/ 182 h 634"/>
                <a:gd name="T78" fmla="*/ 484 w 634"/>
                <a:gd name="T79" fmla="*/ 310 h 634"/>
                <a:gd name="T80" fmla="*/ 480 w 634"/>
                <a:gd name="T81" fmla="*/ 350 h 634"/>
                <a:gd name="T82" fmla="*/ 463 w 634"/>
                <a:gd name="T83" fmla="*/ 396 h 634"/>
                <a:gd name="T84" fmla="*/ 434 w 634"/>
                <a:gd name="T85" fmla="*/ 434 h 634"/>
                <a:gd name="T86" fmla="*/ 397 w 634"/>
                <a:gd name="T87" fmla="*/ 463 h 634"/>
                <a:gd name="T88" fmla="*/ 351 w 634"/>
                <a:gd name="T89" fmla="*/ 479 h 634"/>
                <a:gd name="T90" fmla="*/ 300 w 634"/>
                <a:gd name="T91" fmla="*/ 481 h 634"/>
                <a:gd name="T92" fmla="*/ 252 w 634"/>
                <a:gd name="T93" fmla="*/ 470 h 634"/>
                <a:gd name="T94" fmla="*/ 211 w 634"/>
                <a:gd name="T95" fmla="*/ 445 h 634"/>
                <a:gd name="T96" fmla="*/ 179 w 634"/>
                <a:gd name="T97" fmla="*/ 410 h 634"/>
                <a:gd name="T98" fmla="*/ 159 w 634"/>
                <a:gd name="T99" fmla="*/ 366 h 634"/>
                <a:gd name="T100" fmla="*/ 151 w 634"/>
                <a:gd name="T101" fmla="*/ 316 h 634"/>
                <a:gd name="T102" fmla="*/ 159 w 634"/>
                <a:gd name="T103" fmla="*/ 267 h 634"/>
                <a:gd name="T104" fmla="*/ 179 w 634"/>
                <a:gd name="T105" fmla="*/ 224 h 634"/>
                <a:gd name="T106" fmla="*/ 211 w 634"/>
                <a:gd name="T107" fmla="*/ 189 h 634"/>
                <a:gd name="T108" fmla="*/ 252 w 634"/>
                <a:gd name="T109" fmla="*/ 163 h 634"/>
                <a:gd name="T110" fmla="*/ 300 w 634"/>
                <a:gd name="T111" fmla="*/ 151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4" h="634">
                  <a:moveTo>
                    <a:pt x="317" y="150"/>
                  </a:moveTo>
                  <a:lnTo>
                    <a:pt x="324" y="150"/>
                  </a:lnTo>
                  <a:lnTo>
                    <a:pt x="330" y="151"/>
                  </a:lnTo>
                  <a:lnTo>
                    <a:pt x="448" y="32"/>
                  </a:lnTo>
                  <a:lnTo>
                    <a:pt x="452" y="29"/>
                  </a:lnTo>
                  <a:lnTo>
                    <a:pt x="435" y="22"/>
                  </a:lnTo>
                  <a:lnTo>
                    <a:pt x="420" y="17"/>
                  </a:lnTo>
                  <a:lnTo>
                    <a:pt x="403" y="12"/>
                  </a:lnTo>
                  <a:lnTo>
                    <a:pt x="387" y="7"/>
                  </a:lnTo>
                  <a:lnTo>
                    <a:pt x="370" y="4"/>
                  </a:lnTo>
                  <a:lnTo>
                    <a:pt x="353" y="1"/>
                  </a:lnTo>
                  <a:lnTo>
                    <a:pt x="335" y="0"/>
                  </a:lnTo>
                  <a:lnTo>
                    <a:pt x="317" y="0"/>
                  </a:lnTo>
                  <a:lnTo>
                    <a:pt x="301" y="0"/>
                  </a:lnTo>
                  <a:lnTo>
                    <a:pt x="285" y="1"/>
                  </a:lnTo>
                  <a:lnTo>
                    <a:pt x="269" y="3"/>
                  </a:lnTo>
                  <a:lnTo>
                    <a:pt x="253" y="6"/>
                  </a:lnTo>
                  <a:lnTo>
                    <a:pt x="238" y="10"/>
                  </a:lnTo>
                  <a:lnTo>
                    <a:pt x="223" y="14"/>
                  </a:lnTo>
                  <a:lnTo>
                    <a:pt x="208" y="19"/>
                  </a:lnTo>
                  <a:lnTo>
                    <a:pt x="194" y="25"/>
                  </a:lnTo>
                  <a:lnTo>
                    <a:pt x="180" y="31"/>
                  </a:lnTo>
                  <a:lnTo>
                    <a:pt x="166" y="37"/>
                  </a:lnTo>
                  <a:lnTo>
                    <a:pt x="153" y="45"/>
                  </a:lnTo>
                  <a:lnTo>
                    <a:pt x="141" y="54"/>
                  </a:lnTo>
                  <a:lnTo>
                    <a:pt x="128" y="62"/>
                  </a:lnTo>
                  <a:lnTo>
                    <a:pt x="116" y="72"/>
                  </a:lnTo>
                  <a:lnTo>
                    <a:pt x="104" y="81"/>
                  </a:lnTo>
                  <a:lnTo>
                    <a:pt x="93" y="92"/>
                  </a:lnTo>
                  <a:lnTo>
                    <a:pt x="83" y="103"/>
                  </a:lnTo>
                  <a:lnTo>
                    <a:pt x="73" y="115"/>
                  </a:lnTo>
                  <a:lnTo>
                    <a:pt x="63" y="126"/>
                  </a:lnTo>
                  <a:lnTo>
                    <a:pt x="55" y="139"/>
                  </a:lnTo>
                  <a:lnTo>
                    <a:pt x="46" y="152"/>
                  </a:lnTo>
                  <a:lnTo>
                    <a:pt x="39" y="165"/>
                  </a:lnTo>
                  <a:lnTo>
                    <a:pt x="32" y="179"/>
                  </a:lnTo>
                  <a:lnTo>
                    <a:pt x="26" y="193"/>
                  </a:lnTo>
                  <a:lnTo>
                    <a:pt x="19" y="207"/>
                  </a:lnTo>
                  <a:lnTo>
                    <a:pt x="15" y="222"/>
                  </a:lnTo>
                  <a:lnTo>
                    <a:pt x="11" y="237"/>
                  </a:lnTo>
                  <a:lnTo>
                    <a:pt x="6" y="253"/>
                  </a:lnTo>
                  <a:lnTo>
                    <a:pt x="4" y="268"/>
                  </a:lnTo>
                  <a:lnTo>
                    <a:pt x="2" y="284"/>
                  </a:lnTo>
                  <a:lnTo>
                    <a:pt x="1" y="300"/>
                  </a:lnTo>
                  <a:lnTo>
                    <a:pt x="0" y="316"/>
                  </a:lnTo>
                  <a:lnTo>
                    <a:pt x="1" y="332"/>
                  </a:lnTo>
                  <a:lnTo>
                    <a:pt x="2" y="348"/>
                  </a:lnTo>
                  <a:lnTo>
                    <a:pt x="4" y="365"/>
                  </a:lnTo>
                  <a:lnTo>
                    <a:pt x="6" y="381"/>
                  </a:lnTo>
                  <a:lnTo>
                    <a:pt x="11" y="396"/>
                  </a:lnTo>
                  <a:lnTo>
                    <a:pt x="15" y="411"/>
                  </a:lnTo>
                  <a:lnTo>
                    <a:pt x="19" y="426"/>
                  </a:lnTo>
                  <a:lnTo>
                    <a:pt x="26" y="440"/>
                  </a:lnTo>
                  <a:lnTo>
                    <a:pt x="32" y="454"/>
                  </a:lnTo>
                  <a:lnTo>
                    <a:pt x="39" y="468"/>
                  </a:lnTo>
                  <a:lnTo>
                    <a:pt x="46" y="480"/>
                  </a:lnTo>
                  <a:lnTo>
                    <a:pt x="55" y="493"/>
                  </a:lnTo>
                  <a:lnTo>
                    <a:pt x="63" y="506"/>
                  </a:lnTo>
                  <a:lnTo>
                    <a:pt x="73" y="518"/>
                  </a:lnTo>
                  <a:lnTo>
                    <a:pt x="83" y="530"/>
                  </a:lnTo>
                  <a:lnTo>
                    <a:pt x="93" y="540"/>
                  </a:lnTo>
                  <a:lnTo>
                    <a:pt x="104" y="551"/>
                  </a:lnTo>
                  <a:lnTo>
                    <a:pt x="116" y="561"/>
                  </a:lnTo>
                  <a:lnTo>
                    <a:pt x="128" y="570"/>
                  </a:lnTo>
                  <a:lnTo>
                    <a:pt x="141" y="579"/>
                  </a:lnTo>
                  <a:lnTo>
                    <a:pt x="153" y="588"/>
                  </a:lnTo>
                  <a:lnTo>
                    <a:pt x="166" y="595"/>
                  </a:lnTo>
                  <a:lnTo>
                    <a:pt x="180" y="603"/>
                  </a:lnTo>
                  <a:lnTo>
                    <a:pt x="194" y="608"/>
                  </a:lnTo>
                  <a:lnTo>
                    <a:pt x="208" y="614"/>
                  </a:lnTo>
                  <a:lnTo>
                    <a:pt x="223" y="619"/>
                  </a:lnTo>
                  <a:lnTo>
                    <a:pt x="238" y="623"/>
                  </a:lnTo>
                  <a:lnTo>
                    <a:pt x="253" y="627"/>
                  </a:lnTo>
                  <a:lnTo>
                    <a:pt x="269" y="629"/>
                  </a:lnTo>
                  <a:lnTo>
                    <a:pt x="285" y="632"/>
                  </a:lnTo>
                  <a:lnTo>
                    <a:pt x="301" y="633"/>
                  </a:lnTo>
                  <a:lnTo>
                    <a:pt x="317" y="634"/>
                  </a:lnTo>
                  <a:lnTo>
                    <a:pt x="334" y="633"/>
                  </a:lnTo>
                  <a:lnTo>
                    <a:pt x="350" y="632"/>
                  </a:lnTo>
                  <a:lnTo>
                    <a:pt x="366" y="629"/>
                  </a:lnTo>
                  <a:lnTo>
                    <a:pt x="381" y="627"/>
                  </a:lnTo>
                  <a:lnTo>
                    <a:pt x="397" y="623"/>
                  </a:lnTo>
                  <a:lnTo>
                    <a:pt x="412" y="619"/>
                  </a:lnTo>
                  <a:lnTo>
                    <a:pt x="426" y="614"/>
                  </a:lnTo>
                  <a:lnTo>
                    <a:pt x="441" y="608"/>
                  </a:lnTo>
                  <a:lnTo>
                    <a:pt x="455" y="603"/>
                  </a:lnTo>
                  <a:lnTo>
                    <a:pt x="469" y="595"/>
                  </a:lnTo>
                  <a:lnTo>
                    <a:pt x="482" y="588"/>
                  </a:lnTo>
                  <a:lnTo>
                    <a:pt x="494" y="579"/>
                  </a:lnTo>
                  <a:lnTo>
                    <a:pt x="507" y="570"/>
                  </a:lnTo>
                  <a:lnTo>
                    <a:pt x="519" y="561"/>
                  </a:lnTo>
                  <a:lnTo>
                    <a:pt x="531" y="551"/>
                  </a:lnTo>
                  <a:lnTo>
                    <a:pt x="542" y="540"/>
                  </a:lnTo>
                  <a:lnTo>
                    <a:pt x="552" y="530"/>
                  </a:lnTo>
                  <a:lnTo>
                    <a:pt x="562" y="518"/>
                  </a:lnTo>
                  <a:lnTo>
                    <a:pt x="572" y="506"/>
                  </a:lnTo>
                  <a:lnTo>
                    <a:pt x="580" y="493"/>
                  </a:lnTo>
                  <a:lnTo>
                    <a:pt x="589" y="480"/>
                  </a:lnTo>
                  <a:lnTo>
                    <a:pt x="596" y="468"/>
                  </a:lnTo>
                  <a:lnTo>
                    <a:pt x="603" y="454"/>
                  </a:lnTo>
                  <a:lnTo>
                    <a:pt x="609" y="440"/>
                  </a:lnTo>
                  <a:lnTo>
                    <a:pt x="615" y="426"/>
                  </a:lnTo>
                  <a:lnTo>
                    <a:pt x="620" y="411"/>
                  </a:lnTo>
                  <a:lnTo>
                    <a:pt x="624" y="396"/>
                  </a:lnTo>
                  <a:lnTo>
                    <a:pt x="627" y="381"/>
                  </a:lnTo>
                  <a:lnTo>
                    <a:pt x="631" y="365"/>
                  </a:lnTo>
                  <a:lnTo>
                    <a:pt x="633" y="348"/>
                  </a:lnTo>
                  <a:lnTo>
                    <a:pt x="634" y="332"/>
                  </a:lnTo>
                  <a:lnTo>
                    <a:pt x="634" y="316"/>
                  </a:lnTo>
                  <a:lnTo>
                    <a:pt x="634" y="299"/>
                  </a:lnTo>
                  <a:lnTo>
                    <a:pt x="633" y="281"/>
                  </a:lnTo>
                  <a:lnTo>
                    <a:pt x="630" y="264"/>
                  </a:lnTo>
                  <a:lnTo>
                    <a:pt x="626" y="247"/>
                  </a:lnTo>
                  <a:lnTo>
                    <a:pt x="622" y="230"/>
                  </a:lnTo>
                  <a:lnTo>
                    <a:pt x="617" y="214"/>
                  </a:lnTo>
                  <a:lnTo>
                    <a:pt x="611" y="198"/>
                  </a:lnTo>
                  <a:lnTo>
                    <a:pt x="605" y="182"/>
                  </a:lnTo>
                  <a:lnTo>
                    <a:pt x="602" y="185"/>
                  </a:lnTo>
                  <a:lnTo>
                    <a:pt x="483" y="303"/>
                  </a:lnTo>
                  <a:lnTo>
                    <a:pt x="484" y="310"/>
                  </a:lnTo>
                  <a:lnTo>
                    <a:pt x="484" y="316"/>
                  </a:lnTo>
                  <a:lnTo>
                    <a:pt x="483" y="333"/>
                  </a:lnTo>
                  <a:lnTo>
                    <a:pt x="480" y="350"/>
                  </a:lnTo>
                  <a:lnTo>
                    <a:pt x="476" y="366"/>
                  </a:lnTo>
                  <a:lnTo>
                    <a:pt x="471" y="382"/>
                  </a:lnTo>
                  <a:lnTo>
                    <a:pt x="463" y="396"/>
                  </a:lnTo>
                  <a:lnTo>
                    <a:pt x="455" y="410"/>
                  </a:lnTo>
                  <a:lnTo>
                    <a:pt x="445" y="422"/>
                  </a:lnTo>
                  <a:lnTo>
                    <a:pt x="434" y="434"/>
                  </a:lnTo>
                  <a:lnTo>
                    <a:pt x="423" y="445"/>
                  </a:lnTo>
                  <a:lnTo>
                    <a:pt x="411" y="455"/>
                  </a:lnTo>
                  <a:lnTo>
                    <a:pt x="397" y="463"/>
                  </a:lnTo>
                  <a:lnTo>
                    <a:pt x="382" y="470"/>
                  </a:lnTo>
                  <a:lnTo>
                    <a:pt x="367" y="475"/>
                  </a:lnTo>
                  <a:lnTo>
                    <a:pt x="351" y="479"/>
                  </a:lnTo>
                  <a:lnTo>
                    <a:pt x="335" y="481"/>
                  </a:lnTo>
                  <a:lnTo>
                    <a:pt x="317" y="483"/>
                  </a:lnTo>
                  <a:lnTo>
                    <a:pt x="300" y="481"/>
                  </a:lnTo>
                  <a:lnTo>
                    <a:pt x="283" y="479"/>
                  </a:lnTo>
                  <a:lnTo>
                    <a:pt x="268" y="475"/>
                  </a:lnTo>
                  <a:lnTo>
                    <a:pt x="252" y="470"/>
                  </a:lnTo>
                  <a:lnTo>
                    <a:pt x="238" y="463"/>
                  </a:lnTo>
                  <a:lnTo>
                    <a:pt x="224" y="455"/>
                  </a:lnTo>
                  <a:lnTo>
                    <a:pt x="211" y="445"/>
                  </a:lnTo>
                  <a:lnTo>
                    <a:pt x="199" y="434"/>
                  </a:lnTo>
                  <a:lnTo>
                    <a:pt x="189" y="422"/>
                  </a:lnTo>
                  <a:lnTo>
                    <a:pt x="179" y="410"/>
                  </a:lnTo>
                  <a:lnTo>
                    <a:pt x="172" y="396"/>
                  </a:lnTo>
                  <a:lnTo>
                    <a:pt x="164" y="382"/>
                  </a:lnTo>
                  <a:lnTo>
                    <a:pt x="159" y="366"/>
                  </a:lnTo>
                  <a:lnTo>
                    <a:pt x="154" y="350"/>
                  </a:lnTo>
                  <a:lnTo>
                    <a:pt x="152" y="333"/>
                  </a:lnTo>
                  <a:lnTo>
                    <a:pt x="151" y="316"/>
                  </a:lnTo>
                  <a:lnTo>
                    <a:pt x="152" y="299"/>
                  </a:lnTo>
                  <a:lnTo>
                    <a:pt x="154" y="283"/>
                  </a:lnTo>
                  <a:lnTo>
                    <a:pt x="159" y="267"/>
                  </a:lnTo>
                  <a:lnTo>
                    <a:pt x="164" y="252"/>
                  </a:lnTo>
                  <a:lnTo>
                    <a:pt x="172" y="237"/>
                  </a:lnTo>
                  <a:lnTo>
                    <a:pt x="179" y="224"/>
                  </a:lnTo>
                  <a:lnTo>
                    <a:pt x="189" y="211"/>
                  </a:lnTo>
                  <a:lnTo>
                    <a:pt x="199" y="199"/>
                  </a:lnTo>
                  <a:lnTo>
                    <a:pt x="211" y="189"/>
                  </a:lnTo>
                  <a:lnTo>
                    <a:pt x="224" y="179"/>
                  </a:lnTo>
                  <a:lnTo>
                    <a:pt x="238" y="170"/>
                  </a:lnTo>
                  <a:lnTo>
                    <a:pt x="252" y="163"/>
                  </a:lnTo>
                  <a:lnTo>
                    <a:pt x="268" y="158"/>
                  </a:lnTo>
                  <a:lnTo>
                    <a:pt x="284" y="153"/>
                  </a:lnTo>
                  <a:lnTo>
                    <a:pt x="300" y="151"/>
                  </a:lnTo>
                  <a:lnTo>
                    <a:pt x="317" y="150"/>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31" name="Freeform 30"/>
            <p:cNvSpPr>
              <a:spLocks/>
            </p:cNvSpPr>
            <p:nvPr/>
          </p:nvSpPr>
          <p:spPr bwMode="auto">
            <a:xfrm>
              <a:off x="582619" y="3920209"/>
              <a:ext cx="215666" cy="215515"/>
            </a:xfrm>
            <a:custGeom>
              <a:avLst/>
              <a:gdLst>
                <a:gd name="T0" fmla="*/ 638 w 712"/>
                <a:gd name="T1" fmla="*/ 159 h 715"/>
                <a:gd name="T2" fmla="*/ 647 w 712"/>
                <a:gd name="T3" fmla="*/ 147 h 715"/>
                <a:gd name="T4" fmla="*/ 651 w 712"/>
                <a:gd name="T5" fmla="*/ 132 h 715"/>
                <a:gd name="T6" fmla="*/ 647 w 712"/>
                <a:gd name="T7" fmla="*/ 115 h 715"/>
                <a:gd name="T8" fmla="*/ 638 w 712"/>
                <a:gd name="T9" fmla="*/ 103 h 715"/>
                <a:gd name="T10" fmla="*/ 608 w 712"/>
                <a:gd name="T11" fmla="*/ 73 h 715"/>
                <a:gd name="T12" fmla="*/ 593 w 712"/>
                <a:gd name="T13" fmla="*/ 67 h 715"/>
                <a:gd name="T14" fmla="*/ 578 w 712"/>
                <a:gd name="T15" fmla="*/ 67 h 715"/>
                <a:gd name="T16" fmla="*/ 563 w 712"/>
                <a:gd name="T17" fmla="*/ 73 h 715"/>
                <a:gd name="T18" fmla="*/ 517 w 712"/>
                <a:gd name="T19" fmla="*/ 118 h 715"/>
                <a:gd name="T20" fmla="*/ 507 w 712"/>
                <a:gd name="T21" fmla="*/ 6 h 715"/>
                <a:gd name="T22" fmla="*/ 500 w 712"/>
                <a:gd name="T23" fmla="*/ 0 h 715"/>
                <a:gd name="T24" fmla="*/ 490 w 712"/>
                <a:gd name="T25" fmla="*/ 0 h 715"/>
                <a:gd name="T26" fmla="*/ 329 w 712"/>
                <a:gd name="T27" fmla="*/ 161 h 715"/>
                <a:gd name="T28" fmla="*/ 319 w 712"/>
                <a:gd name="T29" fmla="*/ 171 h 715"/>
                <a:gd name="T30" fmla="*/ 313 w 712"/>
                <a:gd name="T31" fmla="*/ 185 h 715"/>
                <a:gd name="T32" fmla="*/ 310 w 712"/>
                <a:gd name="T33" fmla="*/ 199 h 715"/>
                <a:gd name="T34" fmla="*/ 308 w 712"/>
                <a:gd name="T35" fmla="*/ 214 h 715"/>
                <a:gd name="T36" fmla="*/ 317 w 712"/>
                <a:gd name="T37" fmla="*/ 318 h 715"/>
                <a:gd name="T38" fmla="*/ 157 w 712"/>
                <a:gd name="T39" fmla="*/ 477 h 715"/>
                <a:gd name="T40" fmla="*/ 56 w 712"/>
                <a:gd name="T41" fmla="*/ 578 h 715"/>
                <a:gd name="T42" fmla="*/ 9 w 712"/>
                <a:gd name="T43" fmla="*/ 627 h 715"/>
                <a:gd name="T44" fmla="*/ 4 w 712"/>
                <a:gd name="T45" fmla="*/ 638 h 715"/>
                <a:gd name="T46" fmla="*/ 0 w 712"/>
                <a:gd name="T47" fmla="*/ 679 h 715"/>
                <a:gd name="T48" fmla="*/ 2 w 712"/>
                <a:gd name="T49" fmla="*/ 692 h 715"/>
                <a:gd name="T50" fmla="*/ 9 w 712"/>
                <a:gd name="T51" fmla="*/ 704 h 715"/>
                <a:gd name="T52" fmla="*/ 20 w 712"/>
                <a:gd name="T53" fmla="*/ 712 h 715"/>
                <a:gd name="T54" fmla="*/ 34 w 712"/>
                <a:gd name="T55" fmla="*/ 715 h 715"/>
                <a:gd name="T56" fmla="*/ 73 w 712"/>
                <a:gd name="T57" fmla="*/ 713 h 715"/>
                <a:gd name="T58" fmla="*/ 84 w 712"/>
                <a:gd name="T59" fmla="*/ 711 h 715"/>
                <a:gd name="T60" fmla="*/ 95 w 712"/>
                <a:gd name="T61" fmla="*/ 703 h 715"/>
                <a:gd name="T62" fmla="*/ 493 w 712"/>
                <a:gd name="T63" fmla="*/ 402 h 715"/>
                <a:gd name="T64" fmla="*/ 499 w 712"/>
                <a:gd name="T65" fmla="*/ 402 h 715"/>
                <a:gd name="T66" fmla="*/ 509 w 712"/>
                <a:gd name="T67" fmla="*/ 402 h 715"/>
                <a:gd name="T68" fmla="*/ 522 w 712"/>
                <a:gd name="T69" fmla="*/ 400 h 715"/>
                <a:gd name="T70" fmla="*/ 535 w 712"/>
                <a:gd name="T71" fmla="*/ 394 h 715"/>
                <a:gd name="T72" fmla="*/ 546 w 712"/>
                <a:gd name="T73" fmla="*/ 387 h 715"/>
                <a:gd name="T74" fmla="*/ 707 w 712"/>
                <a:gd name="T75" fmla="*/ 225 h 715"/>
                <a:gd name="T76" fmla="*/ 711 w 712"/>
                <a:gd name="T77" fmla="*/ 218 h 715"/>
                <a:gd name="T78" fmla="*/ 711 w 712"/>
                <a:gd name="T79" fmla="*/ 211 h 715"/>
                <a:gd name="T80" fmla="*/ 706 w 712"/>
                <a:gd name="T81" fmla="*/ 205 h 715"/>
                <a:gd name="T82" fmla="*/ 699 w 712"/>
                <a:gd name="T83" fmla="*/ 202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2" h="715">
                  <a:moveTo>
                    <a:pt x="603" y="195"/>
                  </a:moveTo>
                  <a:lnTo>
                    <a:pt x="638" y="159"/>
                  </a:lnTo>
                  <a:lnTo>
                    <a:pt x="643" y="153"/>
                  </a:lnTo>
                  <a:lnTo>
                    <a:pt x="647" y="147"/>
                  </a:lnTo>
                  <a:lnTo>
                    <a:pt x="650" y="139"/>
                  </a:lnTo>
                  <a:lnTo>
                    <a:pt x="651" y="132"/>
                  </a:lnTo>
                  <a:lnTo>
                    <a:pt x="650" y="123"/>
                  </a:lnTo>
                  <a:lnTo>
                    <a:pt x="647" y="115"/>
                  </a:lnTo>
                  <a:lnTo>
                    <a:pt x="643" y="109"/>
                  </a:lnTo>
                  <a:lnTo>
                    <a:pt x="638" y="103"/>
                  </a:lnTo>
                  <a:lnTo>
                    <a:pt x="614" y="78"/>
                  </a:lnTo>
                  <a:lnTo>
                    <a:pt x="608" y="73"/>
                  </a:lnTo>
                  <a:lnTo>
                    <a:pt x="600" y="69"/>
                  </a:lnTo>
                  <a:lnTo>
                    <a:pt x="593" y="67"/>
                  </a:lnTo>
                  <a:lnTo>
                    <a:pt x="585" y="66"/>
                  </a:lnTo>
                  <a:lnTo>
                    <a:pt x="578" y="67"/>
                  </a:lnTo>
                  <a:lnTo>
                    <a:pt x="570" y="69"/>
                  </a:lnTo>
                  <a:lnTo>
                    <a:pt x="563" y="73"/>
                  </a:lnTo>
                  <a:lnTo>
                    <a:pt x="556" y="78"/>
                  </a:lnTo>
                  <a:lnTo>
                    <a:pt x="517" y="118"/>
                  </a:lnTo>
                  <a:lnTo>
                    <a:pt x="509" y="11"/>
                  </a:lnTo>
                  <a:lnTo>
                    <a:pt x="507" y="6"/>
                  </a:lnTo>
                  <a:lnTo>
                    <a:pt x="504" y="3"/>
                  </a:lnTo>
                  <a:lnTo>
                    <a:pt x="500" y="0"/>
                  </a:lnTo>
                  <a:lnTo>
                    <a:pt x="495" y="0"/>
                  </a:lnTo>
                  <a:lnTo>
                    <a:pt x="490" y="0"/>
                  </a:lnTo>
                  <a:lnTo>
                    <a:pt x="485" y="3"/>
                  </a:lnTo>
                  <a:lnTo>
                    <a:pt x="329" y="161"/>
                  </a:lnTo>
                  <a:lnTo>
                    <a:pt x="323" y="166"/>
                  </a:lnTo>
                  <a:lnTo>
                    <a:pt x="319" y="171"/>
                  </a:lnTo>
                  <a:lnTo>
                    <a:pt x="316" y="178"/>
                  </a:lnTo>
                  <a:lnTo>
                    <a:pt x="313" y="185"/>
                  </a:lnTo>
                  <a:lnTo>
                    <a:pt x="311" y="192"/>
                  </a:lnTo>
                  <a:lnTo>
                    <a:pt x="310" y="199"/>
                  </a:lnTo>
                  <a:lnTo>
                    <a:pt x="308" y="207"/>
                  </a:lnTo>
                  <a:lnTo>
                    <a:pt x="308" y="214"/>
                  </a:lnTo>
                  <a:lnTo>
                    <a:pt x="308" y="220"/>
                  </a:lnTo>
                  <a:lnTo>
                    <a:pt x="317" y="318"/>
                  </a:lnTo>
                  <a:lnTo>
                    <a:pt x="260" y="375"/>
                  </a:lnTo>
                  <a:lnTo>
                    <a:pt x="157" y="477"/>
                  </a:lnTo>
                  <a:lnTo>
                    <a:pt x="155" y="479"/>
                  </a:lnTo>
                  <a:lnTo>
                    <a:pt x="56" y="578"/>
                  </a:lnTo>
                  <a:lnTo>
                    <a:pt x="12" y="623"/>
                  </a:lnTo>
                  <a:lnTo>
                    <a:pt x="9" y="627"/>
                  </a:lnTo>
                  <a:lnTo>
                    <a:pt x="6" y="632"/>
                  </a:lnTo>
                  <a:lnTo>
                    <a:pt x="4" y="638"/>
                  </a:lnTo>
                  <a:lnTo>
                    <a:pt x="3" y="643"/>
                  </a:lnTo>
                  <a:lnTo>
                    <a:pt x="0" y="679"/>
                  </a:lnTo>
                  <a:lnTo>
                    <a:pt x="1" y="685"/>
                  </a:lnTo>
                  <a:lnTo>
                    <a:pt x="2" y="692"/>
                  </a:lnTo>
                  <a:lnTo>
                    <a:pt x="5" y="699"/>
                  </a:lnTo>
                  <a:lnTo>
                    <a:pt x="9" y="704"/>
                  </a:lnTo>
                  <a:lnTo>
                    <a:pt x="15" y="709"/>
                  </a:lnTo>
                  <a:lnTo>
                    <a:pt x="20" y="712"/>
                  </a:lnTo>
                  <a:lnTo>
                    <a:pt x="26" y="714"/>
                  </a:lnTo>
                  <a:lnTo>
                    <a:pt x="34" y="715"/>
                  </a:lnTo>
                  <a:lnTo>
                    <a:pt x="36" y="715"/>
                  </a:lnTo>
                  <a:lnTo>
                    <a:pt x="73" y="713"/>
                  </a:lnTo>
                  <a:lnTo>
                    <a:pt x="79" y="713"/>
                  </a:lnTo>
                  <a:lnTo>
                    <a:pt x="84" y="711"/>
                  </a:lnTo>
                  <a:lnTo>
                    <a:pt x="90" y="708"/>
                  </a:lnTo>
                  <a:lnTo>
                    <a:pt x="95" y="703"/>
                  </a:lnTo>
                  <a:lnTo>
                    <a:pt x="403" y="395"/>
                  </a:lnTo>
                  <a:lnTo>
                    <a:pt x="493" y="402"/>
                  </a:lnTo>
                  <a:lnTo>
                    <a:pt x="497" y="402"/>
                  </a:lnTo>
                  <a:lnTo>
                    <a:pt x="499" y="402"/>
                  </a:lnTo>
                  <a:lnTo>
                    <a:pt x="502" y="402"/>
                  </a:lnTo>
                  <a:lnTo>
                    <a:pt x="509" y="402"/>
                  </a:lnTo>
                  <a:lnTo>
                    <a:pt x="515" y="401"/>
                  </a:lnTo>
                  <a:lnTo>
                    <a:pt x="522" y="400"/>
                  </a:lnTo>
                  <a:lnTo>
                    <a:pt x="528" y="396"/>
                  </a:lnTo>
                  <a:lnTo>
                    <a:pt x="535" y="394"/>
                  </a:lnTo>
                  <a:lnTo>
                    <a:pt x="540" y="391"/>
                  </a:lnTo>
                  <a:lnTo>
                    <a:pt x="546" y="387"/>
                  </a:lnTo>
                  <a:lnTo>
                    <a:pt x="551" y="383"/>
                  </a:lnTo>
                  <a:lnTo>
                    <a:pt x="707" y="225"/>
                  </a:lnTo>
                  <a:lnTo>
                    <a:pt x="710" y="222"/>
                  </a:lnTo>
                  <a:lnTo>
                    <a:pt x="711" y="218"/>
                  </a:lnTo>
                  <a:lnTo>
                    <a:pt x="712" y="214"/>
                  </a:lnTo>
                  <a:lnTo>
                    <a:pt x="711" y="211"/>
                  </a:lnTo>
                  <a:lnTo>
                    <a:pt x="709" y="208"/>
                  </a:lnTo>
                  <a:lnTo>
                    <a:pt x="706" y="205"/>
                  </a:lnTo>
                  <a:lnTo>
                    <a:pt x="703" y="203"/>
                  </a:lnTo>
                  <a:lnTo>
                    <a:pt x="699" y="202"/>
                  </a:lnTo>
                  <a:lnTo>
                    <a:pt x="603" y="195"/>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32" name="Freeform 31"/>
            <p:cNvSpPr>
              <a:spLocks/>
            </p:cNvSpPr>
            <p:nvPr/>
          </p:nvSpPr>
          <p:spPr bwMode="auto">
            <a:xfrm>
              <a:off x="152400" y="4838385"/>
              <a:ext cx="762670" cy="931350"/>
            </a:xfrm>
            <a:custGeom>
              <a:avLst/>
              <a:gdLst>
                <a:gd name="T0" fmla="*/ 3380 w 3380"/>
                <a:gd name="T1" fmla="*/ 0 h 4128"/>
                <a:gd name="T2" fmla="*/ 1515 w 3380"/>
                <a:gd name="T3" fmla="*/ 4128 h 4128"/>
                <a:gd name="T4" fmla="*/ 1360 w 3380"/>
                <a:gd name="T5" fmla="*/ 4118 h 4128"/>
                <a:gd name="T6" fmla="*/ 1210 w 3380"/>
                <a:gd name="T7" fmla="*/ 4091 h 4128"/>
                <a:gd name="T8" fmla="*/ 1065 w 3380"/>
                <a:gd name="T9" fmla="*/ 4046 h 4128"/>
                <a:gd name="T10" fmla="*/ 926 w 3380"/>
                <a:gd name="T11" fmla="*/ 3984 h 4128"/>
                <a:gd name="T12" fmla="*/ 794 w 3380"/>
                <a:gd name="T13" fmla="*/ 3906 h 4128"/>
                <a:gd name="T14" fmla="*/ 669 w 3380"/>
                <a:gd name="T15" fmla="*/ 3815 h 4128"/>
                <a:gd name="T16" fmla="*/ 552 w 3380"/>
                <a:gd name="T17" fmla="*/ 3709 h 4128"/>
                <a:gd name="T18" fmla="*/ 445 w 3380"/>
                <a:gd name="T19" fmla="*/ 3591 h 4128"/>
                <a:gd name="T20" fmla="*/ 347 w 3380"/>
                <a:gd name="T21" fmla="*/ 3462 h 4128"/>
                <a:gd name="T22" fmla="*/ 259 w 3380"/>
                <a:gd name="T23" fmla="*/ 3321 h 4128"/>
                <a:gd name="T24" fmla="*/ 184 w 3380"/>
                <a:gd name="T25" fmla="*/ 3170 h 4128"/>
                <a:gd name="T26" fmla="*/ 119 w 3380"/>
                <a:gd name="T27" fmla="*/ 3011 h 4128"/>
                <a:gd name="T28" fmla="*/ 68 w 3380"/>
                <a:gd name="T29" fmla="*/ 2844 h 4128"/>
                <a:gd name="T30" fmla="*/ 31 w 3380"/>
                <a:gd name="T31" fmla="*/ 2669 h 4128"/>
                <a:gd name="T32" fmla="*/ 8 w 3380"/>
                <a:gd name="T33" fmla="*/ 2488 h 4128"/>
                <a:gd name="T34" fmla="*/ 0 w 3380"/>
                <a:gd name="T35" fmla="*/ 2302 h 4128"/>
                <a:gd name="T36" fmla="*/ 2 w 3380"/>
                <a:gd name="T37" fmla="*/ 1733 h 4128"/>
                <a:gd name="T38" fmla="*/ 18 w 3380"/>
                <a:gd name="T39" fmla="*/ 1549 h 4128"/>
                <a:gd name="T40" fmla="*/ 48 w 3380"/>
                <a:gd name="T41" fmla="*/ 1371 h 4128"/>
                <a:gd name="T42" fmla="*/ 92 w 3380"/>
                <a:gd name="T43" fmla="*/ 1199 h 4128"/>
                <a:gd name="T44" fmla="*/ 150 w 3380"/>
                <a:gd name="T45" fmla="*/ 1036 h 4128"/>
                <a:gd name="T46" fmla="*/ 220 w 3380"/>
                <a:gd name="T47" fmla="*/ 881 h 4128"/>
                <a:gd name="T48" fmla="*/ 302 w 3380"/>
                <a:gd name="T49" fmla="*/ 735 h 4128"/>
                <a:gd name="T50" fmla="*/ 395 w 3380"/>
                <a:gd name="T51" fmla="*/ 600 h 4128"/>
                <a:gd name="T52" fmla="*/ 498 w 3380"/>
                <a:gd name="T53" fmla="*/ 475 h 4128"/>
                <a:gd name="T54" fmla="*/ 610 w 3380"/>
                <a:gd name="T55" fmla="*/ 364 h 4128"/>
                <a:gd name="T56" fmla="*/ 730 w 3380"/>
                <a:gd name="T57" fmla="*/ 265 h 4128"/>
                <a:gd name="T58" fmla="*/ 859 w 3380"/>
                <a:gd name="T59" fmla="*/ 180 h 4128"/>
                <a:gd name="T60" fmla="*/ 995 w 3380"/>
                <a:gd name="T61" fmla="*/ 111 h 4128"/>
                <a:gd name="T62" fmla="*/ 1137 w 3380"/>
                <a:gd name="T63" fmla="*/ 58 h 4128"/>
                <a:gd name="T64" fmla="*/ 1284 w 3380"/>
                <a:gd name="T65" fmla="*/ 21 h 4128"/>
                <a:gd name="T66" fmla="*/ 1437 w 3380"/>
                <a:gd name="T67" fmla="*/ 2 h 4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80" h="4128">
                  <a:moveTo>
                    <a:pt x="1515" y="0"/>
                  </a:moveTo>
                  <a:lnTo>
                    <a:pt x="3380" y="0"/>
                  </a:lnTo>
                  <a:lnTo>
                    <a:pt x="3380" y="4128"/>
                  </a:lnTo>
                  <a:lnTo>
                    <a:pt x="1515" y="4128"/>
                  </a:lnTo>
                  <a:lnTo>
                    <a:pt x="1437" y="4126"/>
                  </a:lnTo>
                  <a:lnTo>
                    <a:pt x="1360" y="4118"/>
                  </a:lnTo>
                  <a:lnTo>
                    <a:pt x="1284" y="4107"/>
                  </a:lnTo>
                  <a:lnTo>
                    <a:pt x="1210" y="4091"/>
                  </a:lnTo>
                  <a:lnTo>
                    <a:pt x="1137" y="4070"/>
                  </a:lnTo>
                  <a:lnTo>
                    <a:pt x="1065" y="4046"/>
                  </a:lnTo>
                  <a:lnTo>
                    <a:pt x="995" y="4017"/>
                  </a:lnTo>
                  <a:lnTo>
                    <a:pt x="926" y="3984"/>
                  </a:lnTo>
                  <a:lnTo>
                    <a:pt x="859" y="3948"/>
                  </a:lnTo>
                  <a:lnTo>
                    <a:pt x="794" y="3906"/>
                  </a:lnTo>
                  <a:lnTo>
                    <a:pt x="730" y="3863"/>
                  </a:lnTo>
                  <a:lnTo>
                    <a:pt x="669" y="3815"/>
                  </a:lnTo>
                  <a:lnTo>
                    <a:pt x="610" y="3764"/>
                  </a:lnTo>
                  <a:lnTo>
                    <a:pt x="552" y="3709"/>
                  </a:lnTo>
                  <a:lnTo>
                    <a:pt x="498" y="3653"/>
                  </a:lnTo>
                  <a:lnTo>
                    <a:pt x="445" y="3591"/>
                  </a:lnTo>
                  <a:lnTo>
                    <a:pt x="395" y="3528"/>
                  </a:lnTo>
                  <a:lnTo>
                    <a:pt x="347" y="3462"/>
                  </a:lnTo>
                  <a:lnTo>
                    <a:pt x="302" y="3393"/>
                  </a:lnTo>
                  <a:lnTo>
                    <a:pt x="259" y="3321"/>
                  </a:lnTo>
                  <a:lnTo>
                    <a:pt x="220" y="3247"/>
                  </a:lnTo>
                  <a:lnTo>
                    <a:pt x="184" y="3170"/>
                  </a:lnTo>
                  <a:lnTo>
                    <a:pt x="150" y="3092"/>
                  </a:lnTo>
                  <a:lnTo>
                    <a:pt x="119" y="3011"/>
                  </a:lnTo>
                  <a:lnTo>
                    <a:pt x="92" y="2929"/>
                  </a:lnTo>
                  <a:lnTo>
                    <a:pt x="68" y="2844"/>
                  </a:lnTo>
                  <a:lnTo>
                    <a:pt x="48" y="2757"/>
                  </a:lnTo>
                  <a:lnTo>
                    <a:pt x="31" y="2669"/>
                  </a:lnTo>
                  <a:lnTo>
                    <a:pt x="18" y="2579"/>
                  </a:lnTo>
                  <a:lnTo>
                    <a:pt x="8" y="2488"/>
                  </a:lnTo>
                  <a:lnTo>
                    <a:pt x="2" y="2395"/>
                  </a:lnTo>
                  <a:lnTo>
                    <a:pt x="0" y="2302"/>
                  </a:lnTo>
                  <a:lnTo>
                    <a:pt x="0" y="1826"/>
                  </a:lnTo>
                  <a:lnTo>
                    <a:pt x="2" y="1733"/>
                  </a:lnTo>
                  <a:lnTo>
                    <a:pt x="8" y="1640"/>
                  </a:lnTo>
                  <a:lnTo>
                    <a:pt x="18" y="1549"/>
                  </a:lnTo>
                  <a:lnTo>
                    <a:pt x="31" y="1459"/>
                  </a:lnTo>
                  <a:lnTo>
                    <a:pt x="48" y="1371"/>
                  </a:lnTo>
                  <a:lnTo>
                    <a:pt x="68" y="1284"/>
                  </a:lnTo>
                  <a:lnTo>
                    <a:pt x="92" y="1199"/>
                  </a:lnTo>
                  <a:lnTo>
                    <a:pt x="119" y="1117"/>
                  </a:lnTo>
                  <a:lnTo>
                    <a:pt x="150" y="1036"/>
                  </a:lnTo>
                  <a:lnTo>
                    <a:pt x="184" y="958"/>
                  </a:lnTo>
                  <a:lnTo>
                    <a:pt x="220" y="881"/>
                  </a:lnTo>
                  <a:lnTo>
                    <a:pt x="259" y="807"/>
                  </a:lnTo>
                  <a:lnTo>
                    <a:pt x="302" y="735"/>
                  </a:lnTo>
                  <a:lnTo>
                    <a:pt x="347" y="666"/>
                  </a:lnTo>
                  <a:lnTo>
                    <a:pt x="395" y="600"/>
                  </a:lnTo>
                  <a:lnTo>
                    <a:pt x="445" y="537"/>
                  </a:lnTo>
                  <a:lnTo>
                    <a:pt x="498" y="475"/>
                  </a:lnTo>
                  <a:lnTo>
                    <a:pt x="552" y="419"/>
                  </a:lnTo>
                  <a:lnTo>
                    <a:pt x="610" y="364"/>
                  </a:lnTo>
                  <a:lnTo>
                    <a:pt x="669" y="313"/>
                  </a:lnTo>
                  <a:lnTo>
                    <a:pt x="730" y="265"/>
                  </a:lnTo>
                  <a:lnTo>
                    <a:pt x="794" y="222"/>
                  </a:lnTo>
                  <a:lnTo>
                    <a:pt x="859" y="180"/>
                  </a:lnTo>
                  <a:lnTo>
                    <a:pt x="926" y="144"/>
                  </a:lnTo>
                  <a:lnTo>
                    <a:pt x="995" y="111"/>
                  </a:lnTo>
                  <a:lnTo>
                    <a:pt x="1065" y="82"/>
                  </a:lnTo>
                  <a:lnTo>
                    <a:pt x="1137" y="58"/>
                  </a:lnTo>
                  <a:lnTo>
                    <a:pt x="1210" y="37"/>
                  </a:lnTo>
                  <a:lnTo>
                    <a:pt x="1284" y="21"/>
                  </a:lnTo>
                  <a:lnTo>
                    <a:pt x="1360" y="10"/>
                  </a:lnTo>
                  <a:lnTo>
                    <a:pt x="1437" y="2"/>
                  </a:lnTo>
                  <a:lnTo>
                    <a:pt x="1515" y="0"/>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33" name="Rectangle 32"/>
            <p:cNvSpPr>
              <a:spLocks noChangeArrowheads="1"/>
            </p:cNvSpPr>
            <p:nvPr/>
          </p:nvSpPr>
          <p:spPr bwMode="auto">
            <a:xfrm>
              <a:off x="915070" y="4838385"/>
              <a:ext cx="4690872" cy="931350"/>
            </a:xfrm>
            <a:prstGeom prst="rect">
              <a:avLst/>
            </a:pr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34" name="Freeform 33"/>
            <p:cNvSpPr>
              <a:spLocks/>
            </p:cNvSpPr>
            <p:nvPr/>
          </p:nvSpPr>
          <p:spPr bwMode="auto">
            <a:xfrm flipV="1">
              <a:off x="5286480" y="4976511"/>
              <a:ext cx="657120" cy="655097"/>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gradFill flip="none" rotWithShape="1">
              <a:gsLst>
                <a:gs pos="0">
                  <a:sysClr val="window" lastClr="FFFFFF">
                    <a:lumMod val="85000"/>
                  </a:sysClr>
                </a:gs>
                <a:gs pos="70000">
                  <a:sysClr val="window" lastClr="FFFFFF">
                    <a:lumMod val="95000"/>
                  </a:sysClr>
                </a:gs>
              </a:gsLst>
              <a:lin ang="5400000" scaled="1"/>
              <a:tileRect/>
            </a:gradFill>
            <a:ln>
              <a:solidFill>
                <a:sysClr val="window" lastClr="FFFFFF">
                  <a:lumMod val="85000"/>
                </a:sysClr>
              </a:solidFill>
            </a:ln>
            <a:effectLst>
              <a:outerShdw blurRad="419100" dir="18900000" sy="23000" kx="-1200000" algn="bl" rotWithShape="0">
                <a:prstClr val="black">
                  <a:alpha val="1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35" name="Freeform 34"/>
            <p:cNvSpPr>
              <a:spLocks/>
            </p:cNvSpPr>
            <p:nvPr/>
          </p:nvSpPr>
          <p:spPr bwMode="auto">
            <a:xfrm>
              <a:off x="5329884" y="5019782"/>
              <a:ext cx="570309" cy="568556"/>
            </a:xfrm>
            <a:custGeom>
              <a:avLst/>
              <a:gdLst>
                <a:gd name="T0" fmla="*/ 1390 w 2523"/>
                <a:gd name="T1" fmla="*/ 6 h 2524"/>
                <a:gd name="T2" fmla="*/ 1577 w 2523"/>
                <a:gd name="T3" fmla="*/ 40 h 2524"/>
                <a:gd name="T4" fmla="*/ 1753 w 2523"/>
                <a:gd name="T5" fmla="*/ 99 h 2524"/>
                <a:gd name="T6" fmla="*/ 1915 w 2523"/>
                <a:gd name="T7" fmla="*/ 182 h 2524"/>
                <a:gd name="T8" fmla="*/ 2063 w 2523"/>
                <a:gd name="T9" fmla="*/ 288 h 2524"/>
                <a:gd name="T10" fmla="*/ 2196 w 2523"/>
                <a:gd name="T11" fmla="*/ 413 h 2524"/>
                <a:gd name="T12" fmla="*/ 2307 w 2523"/>
                <a:gd name="T13" fmla="*/ 557 h 2524"/>
                <a:gd name="T14" fmla="*/ 2398 w 2523"/>
                <a:gd name="T15" fmla="*/ 715 h 2524"/>
                <a:gd name="T16" fmla="*/ 2466 w 2523"/>
                <a:gd name="T17" fmla="*/ 886 h 2524"/>
                <a:gd name="T18" fmla="*/ 2509 w 2523"/>
                <a:gd name="T19" fmla="*/ 1070 h 2524"/>
                <a:gd name="T20" fmla="*/ 2523 w 2523"/>
                <a:gd name="T21" fmla="*/ 1263 h 2524"/>
                <a:gd name="T22" fmla="*/ 2509 w 2523"/>
                <a:gd name="T23" fmla="*/ 1454 h 2524"/>
                <a:gd name="T24" fmla="*/ 2466 w 2523"/>
                <a:gd name="T25" fmla="*/ 1638 h 2524"/>
                <a:gd name="T26" fmla="*/ 2398 w 2523"/>
                <a:gd name="T27" fmla="*/ 1809 h 2524"/>
                <a:gd name="T28" fmla="*/ 2307 w 2523"/>
                <a:gd name="T29" fmla="*/ 1967 h 2524"/>
                <a:gd name="T30" fmla="*/ 2196 w 2523"/>
                <a:gd name="T31" fmla="*/ 2111 h 2524"/>
                <a:gd name="T32" fmla="*/ 2063 w 2523"/>
                <a:gd name="T33" fmla="*/ 2236 h 2524"/>
                <a:gd name="T34" fmla="*/ 1915 w 2523"/>
                <a:gd name="T35" fmla="*/ 2342 h 2524"/>
                <a:gd name="T36" fmla="*/ 1753 w 2523"/>
                <a:gd name="T37" fmla="*/ 2425 h 2524"/>
                <a:gd name="T38" fmla="*/ 1577 w 2523"/>
                <a:gd name="T39" fmla="*/ 2484 h 2524"/>
                <a:gd name="T40" fmla="*/ 1390 w 2523"/>
                <a:gd name="T41" fmla="*/ 2518 h 2524"/>
                <a:gd name="T42" fmla="*/ 1196 w 2523"/>
                <a:gd name="T43" fmla="*/ 2522 h 2524"/>
                <a:gd name="T44" fmla="*/ 1007 w 2523"/>
                <a:gd name="T45" fmla="*/ 2499 h 2524"/>
                <a:gd name="T46" fmla="*/ 828 w 2523"/>
                <a:gd name="T47" fmla="*/ 2447 h 2524"/>
                <a:gd name="T48" fmla="*/ 660 w 2523"/>
                <a:gd name="T49" fmla="*/ 2372 h 2524"/>
                <a:gd name="T50" fmla="*/ 506 w 2523"/>
                <a:gd name="T51" fmla="*/ 2274 h 2524"/>
                <a:gd name="T52" fmla="*/ 369 w 2523"/>
                <a:gd name="T53" fmla="*/ 2155 h 2524"/>
                <a:gd name="T54" fmla="*/ 250 w 2523"/>
                <a:gd name="T55" fmla="*/ 2018 h 2524"/>
                <a:gd name="T56" fmla="*/ 152 w 2523"/>
                <a:gd name="T57" fmla="*/ 1864 h 2524"/>
                <a:gd name="T58" fmla="*/ 77 w 2523"/>
                <a:gd name="T59" fmla="*/ 1696 h 2524"/>
                <a:gd name="T60" fmla="*/ 25 w 2523"/>
                <a:gd name="T61" fmla="*/ 1516 h 2524"/>
                <a:gd name="T62" fmla="*/ 1 w 2523"/>
                <a:gd name="T63" fmla="*/ 1327 h 2524"/>
                <a:gd name="T64" fmla="*/ 7 w 2523"/>
                <a:gd name="T65" fmla="*/ 1133 h 2524"/>
                <a:gd name="T66" fmla="*/ 40 w 2523"/>
                <a:gd name="T67" fmla="*/ 946 h 2524"/>
                <a:gd name="T68" fmla="*/ 99 w 2523"/>
                <a:gd name="T69" fmla="*/ 770 h 2524"/>
                <a:gd name="T70" fmla="*/ 182 w 2523"/>
                <a:gd name="T71" fmla="*/ 608 h 2524"/>
                <a:gd name="T72" fmla="*/ 288 w 2523"/>
                <a:gd name="T73" fmla="*/ 460 h 2524"/>
                <a:gd name="T74" fmla="*/ 413 w 2523"/>
                <a:gd name="T75" fmla="*/ 327 h 2524"/>
                <a:gd name="T76" fmla="*/ 556 w 2523"/>
                <a:gd name="T77" fmla="*/ 216 h 2524"/>
                <a:gd name="T78" fmla="*/ 714 w 2523"/>
                <a:gd name="T79" fmla="*/ 124 h 2524"/>
                <a:gd name="T80" fmla="*/ 886 w 2523"/>
                <a:gd name="T81" fmla="*/ 57 h 2524"/>
                <a:gd name="T82" fmla="*/ 1069 w 2523"/>
                <a:gd name="T83" fmla="*/ 14 h 2524"/>
                <a:gd name="T84" fmla="*/ 1261 w 2523"/>
                <a:gd name="T85" fmla="*/ 0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3" h="2524">
                  <a:moveTo>
                    <a:pt x="1261" y="0"/>
                  </a:moveTo>
                  <a:lnTo>
                    <a:pt x="1327" y="2"/>
                  </a:lnTo>
                  <a:lnTo>
                    <a:pt x="1390" y="6"/>
                  </a:lnTo>
                  <a:lnTo>
                    <a:pt x="1453" y="14"/>
                  </a:lnTo>
                  <a:lnTo>
                    <a:pt x="1516" y="25"/>
                  </a:lnTo>
                  <a:lnTo>
                    <a:pt x="1577" y="40"/>
                  </a:lnTo>
                  <a:lnTo>
                    <a:pt x="1637" y="57"/>
                  </a:lnTo>
                  <a:lnTo>
                    <a:pt x="1695" y="77"/>
                  </a:lnTo>
                  <a:lnTo>
                    <a:pt x="1753" y="99"/>
                  </a:lnTo>
                  <a:lnTo>
                    <a:pt x="1808" y="124"/>
                  </a:lnTo>
                  <a:lnTo>
                    <a:pt x="1863" y="152"/>
                  </a:lnTo>
                  <a:lnTo>
                    <a:pt x="1915" y="182"/>
                  </a:lnTo>
                  <a:lnTo>
                    <a:pt x="1967" y="216"/>
                  </a:lnTo>
                  <a:lnTo>
                    <a:pt x="2017" y="250"/>
                  </a:lnTo>
                  <a:lnTo>
                    <a:pt x="2063" y="288"/>
                  </a:lnTo>
                  <a:lnTo>
                    <a:pt x="2110" y="327"/>
                  </a:lnTo>
                  <a:lnTo>
                    <a:pt x="2153" y="369"/>
                  </a:lnTo>
                  <a:lnTo>
                    <a:pt x="2196" y="413"/>
                  </a:lnTo>
                  <a:lnTo>
                    <a:pt x="2235" y="460"/>
                  </a:lnTo>
                  <a:lnTo>
                    <a:pt x="2273" y="506"/>
                  </a:lnTo>
                  <a:lnTo>
                    <a:pt x="2307" y="557"/>
                  </a:lnTo>
                  <a:lnTo>
                    <a:pt x="2340" y="608"/>
                  </a:lnTo>
                  <a:lnTo>
                    <a:pt x="2371" y="660"/>
                  </a:lnTo>
                  <a:lnTo>
                    <a:pt x="2398" y="715"/>
                  </a:lnTo>
                  <a:lnTo>
                    <a:pt x="2424" y="770"/>
                  </a:lnTo>
                  <a:lnTo>
                    <a:pt x="2446" y="828"/>
                  </a:lnTo>
                  <a:lnTo>
                    <a:pt x="2466" y="886"/>
                  </a:lnTo>
                  <a:lnTo>
                    <a:pt x="2483" y="946"/>
                  </a:lnTo>
                  <a:lnTo>
                    <a:pt x="2497" y="1008"/>
                  </a:lnTo>
                  <a:lnTo>
                    <a:pt x="2509" y="1070"/>
                  </a:lnTo>
                  <a:lnTo>
                    <a:pt x="2516" y="1133"/>
                  </a:lnTo>
                  <a:lnTo>
                    <a:pt x="2522" y="1197"/>
                  </a:lnTo>
                  <a:lnTo>
                    <a:pt x="2523" y="1263"/>
                  </a:lnTo>
                  <a:lnTo>
                    <a:pt x="2522" y="1327"/>
                  </a:lnTo>
                  <a:lnTo>
                    <a:pt x="2516" y="1391"/>
                  </a:lnTo>
                  <a:lnTo>
                    <a:pt x="2509" y="1454"/>
                  </a:lnTo>
                  <a:lnTo>
                    <a:pt x="2497" y="1516"/>
                  </a:lnTo>
                  <a:lnTo>
                    <a:pt x="2483" y="1578"/>
                  </a:lnTo>
                  <a:lnTo>
                    <a:pt x="2466" y="1638"/>
                  </a:lnTo>
                  <a:lnTo>
                    <a:pt x="2446" y="1696"/>
                  </a:lnTo>
                  <a:lnTo>
                    <a:pt x="2424" y="1754"/>
                  </a:lnTo>
                  <a:lnTo>
                    <a:pt x="2398" y="1809"/>
                  </a:lnTo>
                  <a:lnTo>
                    <a:pt x="2371" y="1864"/>
                  </a:lnTo>
                  <a:lnTo>
                    <a:pt x="2340" y="1916"/>
                  </a:lnTo>
                  <a:lnTo>
                    <a:pt x="2307" y="1967"/>
                  </a:lnTo>
                  <a:lnTo>
                    <a:pt x="2273" y="2018"/>
                  </a:lnTo>
                  <a:lnTo>
                    <a:pt x="2235" y="2064"/>
                  </a:lnTo>
                  <a:lnTo>
                    <a:pt x="2196" y="2111"/>
                  </a:lnTo>
                  <a:lnTo>
                    <a:pt x="2153" y="2155"/>
                  </a:lnTo>
                  <a:lnTo>
                    <a:pt x="2110" y="2197"/>
                  </a:lnTo>
                  <a:lnTo>
                    <a:pt x="2063" y="2236"/>
                  </a:lnTo>
                  <a:lnTo>
                    <a:pt x="2017" y="2274"/>
                  </a:lnTo>
                  <a:lnTo>
                    <a:pt x="1967" y="2308"/>
                  </a:lnTo>
                  <a:lnTo>
                    <a:pt x="1915" y="2342"/>
                  </a:lnTo>
                  <a:lnTo>
                    <a:pt x="1863" y="2372"/>
                  </a:lnTo>
                  <a:lnTo>
                    <a:pt x="1808" y="2400"/>
                  </a:lnTo>
                  <a:lnTo>
                    <a:pt x="1753" y="2425"/>
                  </a:lnTo>
                  <a:lnTo>
                    <a:pt x="1695" y="2447"/>
                  </a:lnTo>
                  <a:lnTo>
                    <a:pt x="1637" y="2467"/>
                  </a:lnTo>
                  <a:lnTo>
                    <a:pt x="1577" y="2484"/>
                  </a:lnTo>
                  <a:lnTo>
                    <a:pt x="1516" y="2499"/>
                  </a:lnTo>
                  <a:lnTo>
                    <a:pt x="1453" y="2510"/>
                  </a:lnTo>
                  <a:lnTo>
                    <a:pt x="1390" y="2518"/>
                  </a:lnTo>
                  <a:lnTo>
                    <a:pt x="1327" y="2522"/>
                  </a:lnTo>
                  <a:lnTo>
                    <a:pt x="1261" y="2524"/>
                  </a:lnTo>
                  <a:lnTo>
                    <a:pt x="1196" y="2522"/>
                  </a:lnTo>
                  <a:lnTo>
                    <a:pt x="1133" y="2518"/>
                  </a:lnTo>
                  <a:lnTo>
                    <a:pt x="1069" y="2510"/>
                  </a:lnTo>
                  <a:lnTo>
                    <a:pt x="1007" y="2499"/>
                  </a:lnTo>
                  <a:lnTo>
                    <a:pt x="946" y="2484"/>
                  </a:lnTo>
                  <a:lnTo>
                    <a:pt x="886" y="2467"/>
                  </a:lnTo>
                  <a:lnTo>
                    <a:pt x="828" y="2447"/>
                  </a:lnTo>
                  <a:lnTo>
                    <a:pt x="770" y="2425"/>
                  </a:lnTo>
                  <a:lnTo>
                    <a:pt x="714" y="2400"/>
                  </a:lnTo>
                  <a:lnTo>
                    <a:pt x="660" y="2372"/>
                  </a:lnTo>
                  <a:lnTo>
                    <a:pt x="608" y="2342"/>
                  </a:lnTo>
                  <a:lnTo>
                    <a:pt x="556" y="2308"/>
                  </a:lnTo>
                  <a:lnTo>
                    <a:pt x="506" y="2274"/>
                  </a:lnTo>
                  <a:lnTo>
                    <a:pt x="458" y="2236"/>
                  </a:lnTo>
                  <a:lnTo>
                    <a:pt x="413" y="2197"/>
                  </a:lnTo>
                  <a:lnTo>
                    <a:pt x="369" y="2155"/>
                  </a:lnTo>
                  <a:lnTo>
                    <a:pt x="327" y="2111"/>
                  </a:lnTo>
                  <a:lnTo>
                    <a:pt x="288" y="2064"/>
                  </a:lnTo>
                  <a:lnTo>
                    <a:pt x="250" y="2018"/>
                  </a:lnTo>
                  <a:lnTo>
                    <a:pt x="216" y="1967"/>
                  </a:lnTo>
                  <a:lnTo>
                    <a:pt x="182" y="1916"/>
                  </a:lnTo>
                  <a:lnTo>
                    <a:pt x="152" y="1864"/>
                  </a:lnTo>
                  <a:lnTo>
                    <a:pt x="124" y="1809"/>
                  </a:lnTo>
                  <a:lnTo>
                    <a:pt x="99" y="1754"/>
                  </a:lnTo>
                  <a:lnTo>
                    <a:pt x="77" y="1696"/>
                  </a:lnTo>
                  <a:lnTo>
                    <a:pt x="57" y="1638"/>
                  </a:lnTo>
                  <a:lnTo>
                    <a:pt x="40" y="1578"/>
                  </a:lnTo>
                  <a:lnTo>
                    <a:pt x="25" y="1516"/>
                  </a:lnTo>
                  <a:lnTo>
                    <a:pt x="14" y="1454"/>
                  </a:lnTo>
                  <a:lnTo>
                    <a:pt x="7" y="1391"/>
                  </a:lnTo>
                  <a:lnTo>
                    <a:pt x="1" y="1327"/>
                  </a:lnTo>
                  <a:lnTo>
                    <a:pt x="0" y="1263"/>
                  </a:lnTo>
                  <a:lnTo>
                    <a:pt x="1" y="1197"/>
                  </a:lnTo>
                  <a:lnTo>
                    <a:pt x="7" y="1133"/>
                  </a:lnTo>
                  <a:lnTo>
                    <a:pt x="14" y="1070"/>
                  </a:lnTo>
                  <a:lnTo>
                    <a:pt x="25" y="1008"/>
                  </a:lnTo>
                  <a:lnTo>
                    <a:pt x="40" y="946"/>
                  </a:lnTo>
                  <a:lnTo>
                    <a:pt x="57" y="886"/>
                  </a:lnTo>
                  <a:lnTo>
                    <a:pt x="77" y="828"/>
                  </a:lnTo>
                  <a:lnTo>
                    <a:pt x="99" y="770"/>
                  </a:lnTo>
                  <a:lnTo>
                    <a:pt x="124" y="715"/>
                  </a:lnTo>
                  <a:lnTo>
                    <a:pt x="152" y="660"/>
                  </a:lnTo>
                  <a:lnTo>
                    <a:pt x="182" y="608"/>
                  </a:lnTo>
                  <a:lnTo>
                    <a:pt x="216" y="557"/>
                  </a:lnTo>
                  <a:lnTo>
                    <a:pt x="250" y="506"/>
                  </a:lnTo>
                  <a:lnTo>
                    <a:pt x="288" y="460"/>
                  </a:lnTo>
                  <a:lnTo>
                    <a:pt x="327" y="413"/>
                  </a:lnTo>
                  <a:lnTo>
                    <a:pt x="369" y="369"/>
                  </a:lnTo>
                  <a:lnTo>
                    <a:pt x="413" y="327"/>
                  </a:lnTo>
                  <a:lnTo>
                    <a:pt x="458" y="288"/>
                  </a:lnTo>
                  <a:lnTo>
                    <a:pt x="506" y="250"/>
                  </a:lnTo>
                  <a:lnTo>
                    <a:pt x="556" y="216"/>
                  </a:lnTo>
                  <a:lnTo>
                    <a:pt x="608" y="182"/>
                  </a:lnTo>
                  <a:lnTo>
                    <a:pt x="660" y="152"/>
                  </a:lnTo>
                  <a:lnTo>
                    <a:pt x="714" y="124"/>
                  </a:lnTo>
                  <a:lnTo>
                    <a:pt x="770" y="99"/>
                  </a:lnTo>
                  <a:lnTo>
                    <a:pt x="828" y="77"/>
                  </a:lnTo>
                  <a:lnTo>
                    <a:pt x="886" y="57"/>
                  </a:lnTo>
                  <a:lnTo>
                    <a:pt x="946" y="40"/>
                  </a:lnTo>
                  <a:lnTo>
                    <a:pt x="1007" y="25"/>
                  </a:lnTo>
                  <a:lnTo>
                    <a:pt x="1069" y="14"/>
                  </a:lnTo>
                  <a:lnTo>
                    <a:pt x="1133" y="6"/>
                  </a:lnTo>
                  <a:lnTo>
                    <a:pt x="1196" y="2"/>
                  </a:lnTo>
                  <a:lnTo>
                    <a:pt x="1261" y="0"/>
                  </a:lnTo>
                  <a:close/>
                </a:path>
              </a:pathLst>
            </a:custGeom>
            <a:solidFill>
              <a:schemeClr val="accent2">
                <a:lumMod val="60000"/>
                <a:lumOff val="40000"/>
              </a:schemeClr>
            </a:solidFill>
            <a:ln>
              <a:noFill/>
            </a:ln>
            <a:effectLst>
              <a:outerShdw blurRad="50800" dist="38100" dir="3060000" algn="tl" rotWithShape="0">
                <a:prstClr val="black">
                  <a:alpha val="26000"/>
                </a:prstClr>
              </a:outerShdw>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36" name="TextBox 43"/>
            <p:cNvSpPr txBox="1"/>
            <p:nvPr/>
          </p:nvSpPr>
          <p:spPr>
            <a:xfrm>
              <a:off x="5371494" y="5068245"/>
              <a:ext cx="501686" cy="461665"/>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2400" b="1" dirty="0">
                  <a:latin typeface="Calibri" panose="020F0502020204030204"/>
                </a:rPr>
                <a:t>04</a:t>
              </a:r>
            </a:p>
          </p:txBody>
        </p:sp>
        <p:sp>
          <p:nvSpPr>
            <p:cNvPr id="38" name="Freeform 37"/>
            <p:cNvSpPr>
              <a:spLocks/>
            </p:cNvSpPr>
            <p:nvPr/>
          </p:nvSpPr>
          <p:spPr bwMode="auto">
            <a:xfrm>
              <a:off x="369970" y="5115848"/>
              <a:ext cx="389103" cy="387325"/>
            </a:xfrm>
            <a:custGeom>
              <a:avLst/>
              <a:gdLst>
                <a:gd name="T0" fmla="*/ 773 w 1287"/>
                <a:gd name="T1" fmla="*/ 1274 h 1287"/>
                <a:gd name="T2" fmla="*/ 922 w 1287"/>
                <a:gd name="T3" fmla="*/ 1224 h 1287"/>
                <a:gd name="T4" fmla="*/ 1053 w 1287"/>
                <a:gd name="T5" fmla="*/ 1140 h 1287"/>
                <a:gd name="T6" fmla="*/ 1159 w 1287"/>
                <a:gd name="T7" fmla="*/ 1028 h 1287"/>
                <a:gd name="T8" fmla="*/ 1237 w 1287"/>
                <a:gd name="T9" fmla="*/ 894 h 1287"/>
                <a:gd name="T10" fmla="*/ 1279 w 1287"/>
                <a:gd name="T11" fmla="*/ 742 h 1287"/>
                <a:gd name="T12" fmla="*/ 1285 w 1287"/>
                <a:gd name="T13" fmla="*/ 600 h 1287"/>
                <a:gd name="T14" fmla="*/ 1263 w 1287"/>
                <a:gd name="T15" fmla="*/ 479 h 1287"/>
                <a:gd name="T16" fmla="*/ 1214 w 1287"/>
                <a:gd name="T17" fmla="*/ 363 h 1287"/>
                <a:gd name="T18" fmla="*/ 1161 w 1287"/>
                <a:gd name="T19" fmla="*/ 300 h 1287"/>
                <a:gd name="T20" fmla="*/ 1127 w 1287"/>
                <a:gd name="T21" fmla="*/ 313 h 1287"/>
                <a:gd name="T22" fmla="*/ 1062 w 1287"/>
                <a:gd name="T23" fmla="*/ 422 h 1287"/>
                <a:gd name="T24" fmla="*/ 1093 w 1287"/>
                <a:gd name="T25" fmla="*/ 496 h 1287"/>
                <a:gd name="T26" fmla="*/ 1112 w 1287"/>
                <a:gd name="T27" fmla="*/ 577 h 1287"/>
                <a:gd name="T28" fmla="*/ 1116 w 1287"/>
                <a:gd name="T29" fmla="*/ 668 h 1287"/>
                <a:gd name="T30" fmla="*/ 1095 w 1287"/>
                <a:gd name="T31" fmla="*/ 784 h 1287"/>
                <a:gd name="T32" fmla="*/ 1048 w 1287"/>
                <a:gd name="T33" fmla="*/ 889 h 1287"/>
                <a:gd name="T34" fmla="*/ 978 w 1287"/>
                <a:gd name="T35" fmla="*/ 978 h 1287"/>
                <a:gd name="T36" fmla="*/ 889 w 1287"/>
                <a:gd name="T37" fmla="*/ 1049 h 1287"/>
                <a:gd name="T38" fmla="*/ 784 w 1287"/>
                <a:gd name="T39" fmla="*/ 1096 h 1287"/>
                <a:gd name="T40" fmla="*/ 668 w 1287"/>
                <a:gd name="T41" fmla="*/ 1116 h 1287"/>
                <a:gd name="T42" fmla="*/ 548 w 1287"/>
                <a:gd name="T43" fmla="*/ 1107 h 1287"/>
                <a:gd name="T44" fmla="*/ 439 w 1287"/>
                <a:gd name="T45" fmla="*/ 1070 h 1287"/>
                <a:gd name="T46" fmla="*/ 342 w 1287"/>
                <a:gd name="T47" fmla="*/ 1009 h 1287"/>
                <a:gd name="T48" fmla="*/ 264 w 1287"/>
                <a:gd name="T49" fmla="*/ 926 h 1287"/>
                <a:gd name="T50" fmla="*/ 207 w 1287"/>
                <a:gd name="T51" fmla="*/ 828 h 1287"/>
                <a:gd name="T52" fmla="*/ 176 w 1287"/>
                <a:gd name="T53" fmla="*/ 715 h 1287"/>
                <a:gd name="T54" fmla="*/ 173 w 1287"/>
                <a:gd name="T55" fmla="*/ 595 h 1287"/>
                <a:gd name="T56" fmla="*/ 198 w 1287"/>
                <a:gd name="T57" fmla="*/ 481 h 1287"/>
                <a:gd name="T58" fmla="*/ 251 w 1287"/>
                <a:gd name="T59" fmla="*/ 379 h 1287"/>
                <a:gd name="T60" fmla="*/ 325 w 1287"/>
                <a:gd name="T61" fmla="*/ 294 h 1287"/>
                <a:gd name="T62" fmla="*/ 418 w 1287"/>
                <a:gd name="T63" fmla="*/ 227 h 1287"/>
                <a:gd name="T64" fmla="*/ 525 w 1287"/>
                <a:gd name="T65" fmla="*/ 185 h 1287"/>
                <a:gd name="T66" fmla="*/ 643 w 1287"/>
                <a:gd name="T67" fmla="*/ 170 h 1287"/>
                <a:gd name="T68" fmla="*/ 727 w 1287"/>
                <a:gd name="T69" fmla="*/ 178 h 1287"/>
                <a:gd name="T70" fmla="*/ 806 w 1287"/>
                <a:gd name="T71" fmla="*/ 199 h 1287"/>
                <a:gd name="T72" fmla="*/ 878 w 1287"/>
                <a:gd name="T73" fmla="*/ 234 h 1287"/>
                <a:gd name="T74" fmla="*/ 983 w 1287"/>
                <a:gd name="T75" fmla="*/ 149 h 1287"/>
                <a:gd name="T76" fmla="*/ 997 w 1287"/>
                <a:gd name="T77" fmla="*/ 128 h 1287"/>
                <a:gd name="T78" fmla="*/ 888 w 1287"/>
                <a:gd name="T79" fmla="*/ 50 h 1287"/>
                <a:gd name="T80" fmla="*/ 773 w 1287"/>
                <a:gd name="T81" fmla="*/ 12 h 1287"/>
                <a:gd name="T82" fmla="*/ 664 w 1287"/>
                <a:gd name="T83" fmla="*/ 0 h 1287"/>
                <a:gd name="T84" fmla="*/ 514 w 1287"/>
                <a:gd name="T85" fmla="*/ 13 h 1287"/>
                <a:gd name="T86" fmla="*/ 365 w 1287"/>
                <a:gd name="T87" fmla="*/ 63 h 1287"/>
                <a:gd name="T88" fmla="*/ 234 w 1287"/>
                <a:gd name="T89" fmla="*/ 147 h 1287"/>
                <a:gd name="T90" fmla="*/ 128 w 1287"/>
                <a:gd name="T91" fmla="*/ 258 h 1287"/>
                <a:gd name="T92" fmla="*/ 50 w 1287"/>
                <a:gd name="T93" fmla="*/ 393 h 1287"/>
                <a:gd name="T94" fmla="*/ 7 w 1287"/>
                <a:gd name="T95" fmla="*/ 546 h 1287"/>
                <a:gd name="T96" fmla="*/ 3 w 1287"/>
                <a:gd name="T97" fmla="*/ 710 h 1287"/>
                <a:gd name="T98" fmla="*/ 39 w 1287"/>
                <a:gd name="T99" fmla="*/ 865 h 1287"/>
                <a:gd name="T100" fmla="*/ 109 w 1287"/>
                <a:gd name="T101" fmla="*/ 1004 h 1287"/>
                <a:gd name="T102" fmla="*/ 210 w 1287"/>
                <a:gd name="T103" fmla="*/ 1119 h 1287"/>
                <a:gd name="T104" fmla="*/ 337 w 1287"/>
                <a:gd name="T105" fmla="*/ 1210 h 1287"/>
                <a:gd name="T106" fmla="*/ 483 w 1287"/>
                <a:gd name="T107" fmla="*/ 1266 h 1287"/>
                <a:gd name="T108" fmla="*/ 643 w 1287"/>
                <a:gd name="T109"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87" h="1287">
                  <a:moveTo>
                    <a:pt x="643" y="1287"/>
                  </a:moveTo>
                  <a:lnTo>
                    <a:pt x="677" y="1287"/>
                  </a:lnTo>
                  <a:lnTo>
                    <a:pt x="709" y="1284"/>
                  </a:lnTo>
                  <a:lnTo>
                    <a:pt x="741" y="1279"/>
                  </a:lnTo>
                  <a:lnTo>
                    <a:pt x="773" y="1274"/>
                  </a:lnTo>
                  <a:lnTo>
                    <a:pt x="804" y="1266"/>
                  </a:lnTo>
                  <a:lnTo>
                    <a:pt x="834" y="1258"/>
                  </a:lnTo>
                  <a:lnTo>
                    <a:pt x="864" y="1248"/>
                  </a:lnTo>
                  <a:lnTo>
                    <a:pt x="893" y="1236"/>
                  </a:lnTo>
                  <a:lnTo>
                    <a:pt x="922" y="1224"/>
                  </a:lnTo>
                  <a:lnTo>
                    <a:pt x="950" y="1210"/>
                  </a:lnTo>
                  <a:lnTo>
                    <a:pt x="977" y="1195"/>
                  </a:lnTo>
                  <a:lnTo>
                    <a:pt x="1003" y="1177"/>
                  </a:lnTo>
                  <a:lnTo>
                    <a:pt x="1028" y="1159"/>
                  </a:lnTo>
                  <a:lnTo>
                    <a:pt x="1053" y="1140"/>
                  </a:lnTo>
                  <a:lnTo>
                    <a:pt x="1076" y="1119"/>
                  </a:lnTo>
                  <a:lnTo>
                    <a:pt x="1098" y="1099"/>
                  </a:lnTo>
                  <a:lnTo>
                    <a:pt x="1120" y="1077"/>
                  </a:lnTo>
                  <a:lnTo>
                    <a:pt x="1140" y="1053"/>
                  </a:lnTo>
                  <a:lnTo>
                    <a:pt x="1159" y="1028"/>
                  </a:lnTo>
                  <a:lnTo>
                    <a:pt x="1177" y="1004"/>
                  </a:lnTo>
                  <a:lnTo>
                    <a:pt x="1194" y="977"/>
                  </a:lnTo>
                  <a:lnTo>
                    <a:pt x="1210" y="950"/>
                  </a:lnTo>
                  <a:lnTo>
                    <a:pt x="1224" y="922"/>
                  </a:lnTo>
                  <a:lnTo>
                    <a:pt x="1237" y="894"/>
                  </a:lnTo>
                  <a:lnTo>
                    <a:pt x="1248" y="865"/>
                  </a:lnTo>
                  <a:lnTo>
                    <a:pt x="1258" y="835"/>
                  </a:lnTo>
                  <a:lnTo>
                    <a:pt x="1267" y="804"/>
                  </a:lnTo>
                  <a:lnTo>
                    <a:pt x="1274" y="773"/>
                  </a:lnTo>
                  <a:lnTo>
                    <a:pt x="1279" y="742"/>
                  </a:lnTo>
                  <a:lnTo>
                    <a:pt x="1284" y="710"/>
                  </a:lnTo>
                  <a:lnTo>
                    <a:pt x="1286" y="677"/>
                  </a:lnTo>
                  <a:lnTo>
                    <a:pt x="1287" y="643"/>
                  </a:lnTo>
                  <a:lnTo>
                    <a:pt x="1286" y="622"/>
                  </a:lnTo>
                  <a:lnTo>
                    <a:pt x="1285" y="600"/>
                  </a:lnTo>
                  <a:lnTo>
                    <a:pt x="1283" y="577"/>
                  </a:lnTo>
                  <a:lnTo>
                    <a:pt x="1279" y="553"/>
                  </a:lnTo>
                  <a:lnTo>
                    <a:pt x="1275" y="529"/>
                  </a:lnTo>
                  <a:lnTo>
                    <a:pt x="1270" y="504"/>
                  </a:lnTo>
                  <a:lnTo>
                    <a:pt x="1263" y="479"/>
                  </a:lnTo>
                  <a:lnTo>
                    <a:pt x="1256" y="455"/>
                  </a:lnTo>
                  <a:lnTo>
                    <a:pt x="1247" y="431"/>
                  </a:lnTo>
                  <a:lnTo>
                    <a:pt x="1237" y="407"/>
                  </a:lnTo>
                  <a:lnTo>
                    <a:pt x="1226" y="385"/>
                  </a:lnTo>
                  <a:lnTo>
                    <a:pt x="1214" y="363"/>
                  </a:lnTo>
                  <a:lnTo>
                    <a:pt x="1200" y="343"/>
                  </a:lnTo>
                  <a:lnTo>
                    <a:pt x="1186" y="325"/>
                  </a:lnTo>
                  <a:lnTo>
                    <a:pt x="1179" y="316"/>
                  </a:lnTo>
                  <a:lnTo>
                    <a:pt x="1170" y="308"/>
                  </a:lnTo>
                  <a:lnTo>
                    <a:pt x="1161" y="300"/>
                  </a:lnTo>
                  <a:lnTo>
                    <a:pt x="1153" y="293"/>
                  </a:lnTo>
                  <a:lnTo>
                    <a:pt x="1150" y="294"/>
                  </a:lnTo>
                  <a:lnTo>
                    <a:pt x="1144" y="298"/>
                  </a:lnTo>
                  <a:lnTo>
                    <a:pt x="1136" y="304"/>
                  </a:lnTo>
                  <a:lnTo>
                    <a:pt x="1127" y="313"/>
                  </a:lnTo>
                  <a:lnTo>
                    <a:pt x="1111" y="328"/>
                  </a:lnTo>
                  <a:lnTo>
                    <a:pt x="1105" y="335"/>
                  </a:lnTo>
                  <a:lnTo>
                    <a:pt x="1046" y="394"/>
                  </a:lnTo>
                  <a:lnTo>
                    <a:pt x="1054" y="408"/>
                  </a:lnTo>
                  <a:lnTo>
                    <a:pt x="1062" y="422"/>
                  </a:lnTo>
                  <a:lnTo>
                    <a:pt x="1069" y="436"/>
                  </a:lnTo>
                  <a:lnTo>
                    <a:pt x="1076" y="451"/>
                  </a:lnTo>
                  <a:lnTo>
                    <a:pt x="1082" y="466"/>
                  </a:lnTo>
                  <a:lnTo>
                    <a:pt x="1087" y="481"/>
                  </a:lnTo>
                  <a:lnTo>
                    <a:pt x="1093" y="496"/>
                  </a:lnTo>
                  <a:lnTo>
                    <a:pt x="1098" y="512"/>
                  </a:lnTo>
                  <a:lnTo>
                    <a:pt x="1103" y="527"/>
                  </a:lnTo>
                  <a:lnTo>
                    <a:pt x="1106" y="544"/>
                  </a:lnTo>
                  <a:lnTo>
                    <a:pt x="1109" y="560"/>
                  </a:lnTo>
                  <a:lnTo>
                    <a:pt x="1112" y="577"/>
                  </a:lnTo>
                  <a:lnTo>
                    <a:pt x="1114" y="593"/>
                  </a:lnTo>
                  <a:lnTo>
                    <a:pt x="1115" y="610"/>
                  </a:lnTo>
                  <a:lnTo>
                    <a:pt x="1116" y="626"/>
                  </a:lnTo>
                  <a:lnTo>
                    <a:pt x="1116" y="643"/>
                  </a:lnTo>
                  <a:lnTo>
                    <a:pt x="1116" y="668"/>
                  </a:lnTo>
                  <a:lnTo>
                    <a:pt x="1114" y="692"/>
                  </a:lnTo>
                  <a:lnTo>
                    <a:pt x="1111" y="715"/>
                  </a:lnTo>
                  <a:lnTo>
                    <a:pt x="1107" y="739"/>
                  </a:lnTo>
                  <a:lnTo>
                    <a:pt x="1101" y="761"/>
                  </a:lnTo>
                  <a:lnTo>
                    <a:pt x="1095" y="784"/>
                  </a:lnTo>
                  <a:lnTo>
                    <a:pt x="1087" y="806"/>
                  </a:lnTo>
                  <a:lnTo>
                    <a:pt x="1079" y="828"/>
                  </a:lnTo>
                  <a:lnTo>
                    <a:pt x="1070" y="848"/>
                  </a:lnTo>
                  <a:lnTo>
                    <a:pt x="1060" y="869"/>
                  </a:lnTo>
                  <a:lnTo>
                    <a:pt x="1048" y="889"/>
                  </a:lnTo>
                  <a:lnTo>
                    <a:pt x="1036" y="908"/>
                  </a:lnTo>
                  <a:lnTo>
                    <a:pt x="1023" y="926"/>
                  </a:lnTo>
                  <a:lnTo>
                    <a:pt x="1008" y="945"/>
                  </a:lnTo>
                  <a:lnTo>
                    <a:pt x="994" y="962"/>
                  </a:lnTo>
                  <a:lnTo>
                    <a:pt x="978" y="978"/>
                  </a:lnTo>
                  <a:lnTo>
                    <a:pt x="962" y="994"/>
                  </a:lnTo>
                  <a:lnTo>
                    <a:pt x="945" y="1009"/>
                  </a:lnTo>
                  <a:lnTo>
                    <a:pt x="927" y="1023"/>
                  </a:lnTo>
                  <a:lnTo>
                    <a:pt x="908" y="1036"/>
                  </a:lnTo>
                  <a:lnTo>
                    <a:pt x="889" y="1049"/>
                  </a:lnTo>
                  <a:lnTo>
                    <a:pt x="869" y="1059"/>
                  </a:lnTo>
                  <a:lnTo>
                    <a:pt x="848" y="1070"/>
                  </a:lnTo>
                  <a:lnTo>
                    <a:pt x="828" y="1080"/>
                  </a:lnTo>
                  <a:lnTo>
                    <a:pt x="806" y="1088"/>
                  </a:lnTo>
                  <a:lnTo>
                    <a:pt x="784" y="1096"/>
                  </a:lnTo>
                  <a:lnTo>
                    <a:pt x="761" y="1101"/>
                  </a:lnTo>
                  <a:lnTo>
                    <a:pt x="739" y="1107"/>
                  </a:lnTo>
                  <a:lnTo>
                    <a:pt x="715" y="1111"/>
                  </a:lnTo>
                  <a:lnTo>
                    <a:pt x="692" y="1114"/>
                  </a:lnTo>
                  <a:lnTo>
                    <a:pt x="668" y="1116"/>
                  </a:lnTo>
                  <a:lnTo>
                    <a:pt x="643" y="1116"/>
                  </a:lnTo>
                  <a:lnTo>
                    <a:pt x="619" y="1116"/>
                  </a:lnTo>
                  <a:lnTo>
                    <a:pt x="595" y="1114"/>
                  </a:lnTo>
                  <a:lnTo>
                    <a:pt x="572" y="1111"/>
                  </a:lnTo>
                  <a:lnTo>
                    <a:pt x="548" y="1107"/>
                  </a:lnTo>
                  <a:lnTo>
                    <a:pt x="525" y="1101"/>
                  </a:lnTo>
                  <a:lnTo>
                    <a:pt x="503" y="1096"/>
                  </a:lnTo>
                  <a:lnTo>
                    <a:pt x="480" y="1088"/>
                  </a:lnTo>
                  <a:lnTo>
                    <a:pt x="459" y="1080"/>
                  </a:lnTo>
                  <a:lnTo>
                    <a:pt x="439" y="1070"/>
                  </a:lnTo>
                  <a:lnTo>
                    <a:pt x="418" y="1059"/>
                  </a:lnTo>
                  <a:lnTo>
                    <a:pt x="398" y="1049"/>
                  </a:lnTo>
                  <a:lnTo>
                    <a:pt x="379" y="1036"/>
                  </a:lnTo>
                  <a:lnTo>
                    <a:pt x="360" y="1023"/>
                  </a:lnTo>
                  <a:lnTo>
                    <a:pt x="342" y="1009"/>
                  </a:lnTo>
                  <a:lnTo>
                    <a:pt x="325" y="994"/>
                  </a:lnTo>
                  <a:lnTo>
                    <a:pt x="309" y="978"/>
                  </a:lnTo>
                  <a:lnTo>
                    <a:pt x="293" y="962"/>
                  </a:lnTo>
                  <a:lnTo>
                    <a:pt x="279" y="945"/>
                  </a:lnTo>
                  <a:lnTo>
                    <a:pt x="264" y="926"/>
                  </a:lnTo>
                  <a:lnTo>
                    <a:pt x="251" y="908"/>
                  </a:lnTo>
                  <a:lnTo>
                    <a:pt x="239" y="889"/>
                  </a:lnTo>
                  <a:lnTo>
                    <a:pt x="227" y="869"/>
                  </a:lnTo>
                  <a:lnTo>
                    <a:pt x="217" y="848"/>
                  </a:lnTo>
                  <a:lnTo>
                    <a:pt x="207" y="828"/>
                  </a:lnTo>
                  <a:lnTo>
                    <a:pt x="198" y="806"/>
                  </a:lnTo>
                  <a:lnTo>
                    <a:pt x="192" y="784"/>
                  </a:lnTo>
                  <a:lnTo>
                    <a:pt x="186" y="761"/>
                  </a:lnTo>
                  <a:lnTo>
                    <a:pt x="180" y="739"/>
                  </a:lnTo>
                  <a:lnTo>
                    <a:pt x="176" y="715"/>
                  </a:lnTo>
                  <a:lnTo>
                    <a:pt x="173" y="692"/>
                  </a:lnTo>
                  <a:lnTo>
                    <a:pt x="170" y="668"/>
                  </a:lnTo>
                  <a:lnTo>
                    <a:pt x="170" y="643"/>
                  </a:lnTo>
                  <a:lnTo>
                    <a:pt x="170" y="620"/>
                  </a:lnTo>
                  <a:lnTo>
                    <a:pt x="173" y="595"/>
                  </a:lnTo>
                  <a:lnTo>
                    <a:pt x="176" y="571"/>
                  </a:lnTo>
                  <a:lnTo>
                    <a:pt x="180" y="548"/>
                  </a:lnTo>
                  <a:lnTo>
                    <a:pt x="186" y="525"/>
                  </a:lnTo>
                  <a:lnTo>
                    <a:pt x="192" y="503"/>
                  </a:lnTo>
                  <a:lnTo>
                    <a:pt x="198" y="481"/>
                  </a:lnTo>
                  <a:lnTo>
                    <a:pt x="207" y="460"/>
                  </a:lnTo>
                  <a:lnTo>
                    <a:pt x="217" y="438"/>
                  </a:lnTo>
                  <a:lnTo>
                    <a:pt x="227" y="418"/>
                  </a:lnTo>
                  <a:lnTo>
                    <a:pt x="239" y="399"/>
                  </a:lnTo>
                  <a:lnTo>
                    <a:pt x="251" y="379"/>
                  </a:lnTo>
                  <a:lnTo>
                    <a:pt x="264" y="360"/>
                  </a:lnTo>
                  <a:lnTo>
                    <a:pt x="278" y="343"/>
                  </a:lnTo>
                  <a:lnTo>
                    <a:pt x="293" y="326"/>
                  </a:lnTo>
                  <a:lnTo>
                    <a:pt x="309" y="309"/>
                  </a:lnTo>
                  <a:lnTo>
                    <a:pt x="325" y="294"/>
                  </a:lnTo>
                  <a:lnTo>
                    <a:pt x="342" y="279"/>
                  </a:lnTo>
                  <a:lnTo>
                    <a:pt x="360" y="265"/>
                  </a:lnTo>
                  <a:lnTo>
                    <a:pt x="379" y="251"/>
                  </a:lnTo>
                  <a:lnTo>
                    <a:pt x="398" y="239"/>
                  </a:lnTo>
                  <a:lnTo>
                    <a:pt x="418" y="227"/>
                  </a:lnTo>
                  <a:lnTo>
                    <a:pt x="439" y="218"/>
                  </a:lnTo>
                  <a:lnTo>
                    <a:pt x="459" y="208"/>
                  </a:lnTo>
                  <a:lnTo>
                    <a:pt x="480" y="199"/>
                  </a:lnTo>
                  <a:lnTo>
                    <a:pt x="503" y="192"/>
                  </a:lnTo>
                  <a:lnTo>
                    <a:pt x="525" y="185"/>
                  </a:lnTo>
                  <a:lnTo>
                    <a:pt x="548" y="180"/>
                  </a:lnTo>
                  <a:lnTo>
                    <a:pt x="572" y="176"/>
                  </a:lnTo>
                  <a:lnTo>
                    <a:pt x="595" y="172"/>
                  </a:lnTo>
                  <a:lnTo>
                    <a:pt x="619" y="171"/>
                  </a:lnTo>
                  <a:lnTo>
                    <a:pt x="643" y="170"/>
                  </a:lnTo>
                  <a:lnTo>
                    <a:pt x="661" y="170"/>
                  </a:lnTo>
                  <a:lnTo>
                    <a:pt x="678" y="171"/>
                  </a:lnTo>
                  <a:lnTo>
                    <a:pt x="694" y="174"/>
                  </a:lnTo>
                  <a:lnTo>
                    <a:pt x="711" y="176"/>
                  </a:lnTo>
                  <a:lnTo>
                    <a:pt x="727" y="178"/>
                  </a:lnTo>
                  <a:lnTo>
                    <a:pt x="743" y="181"/>
                  </a:lnTo>
                  <a:lnTo>
                    <a:pt x="759" y="184"/>
                  </a:lnTo>
                  <a:lnTo>
                    <a:pt x="775" y="189"/>
                  </a:lnTo>
                  <a:lnTo>
                    <a:pt x="790" y="194"/>
                  </a:lnTo>
                  <a:lnTo>
                    <a:pt x="806" y="199"/>
                  </a:lnTo>
                  <a:lnTo>
                    <a:pt x="822" y="205"/>
                  </a:lnTo>
                  <a:lnTo>
                    <a:pt x="835" y="211"/>
                  </a:lnTo>
                  <a:lnTo>
                    <a:pt x="850" y="219"/>
                  </a:lnTo>
                  <a:lnTo>
                    <a:pt x="864" y="225"/>
                  </a:lnTo>
                  <a:lnTo>
                    <a:pt x="878" y="234"/>
                  </a:lnTo>
                  <a:lnTo>
                    <a:pt x="892" y="241"/>
                  </a:lnTo>
                  <a:lnTo>
                    <a:pt x="946" y="189"/>
                  </a:lnTo>
                  <a:lnTo>
                    <a:pt x="954" y="179"/>
                  </a:lnTo>
                  <a:lnTo>
                    <a:pt x="974" y="160"/>
                  </a:lnTo>
                  <a:lnTo>
                    <a:pt x="983" y="149"/>
                  </a:lnTo>
                  <a:lnTo>
                    <a:pt x="991" y="139"/>
                  </a:lnTo>
                  <a:lnTo>
                    <a:pt x="994" y="136"/>
                  </a:lnTo>
                  <a:lnTo>
                    <a:pt x="996" y="132"/>
                  </a:lnTo>
                  <a:lnTo>
                    <a:pt x="997" y="130"/>
                  </a:lnTo>
                  <a:lnTo>
                    <a:pt x="997" y="128"/>
                  </a:lnTo>
                  <a:lnTo>
                    <a:pt x="976" y="109"/>
                  </a:lnTo>
                  <a:lnTo>
                    <a:pt x="954" y="91"/>
                  </a:lnTo>
                  <a:lnTo>
                    <a:pt x="932" y="76"/>
                  </a:lnTo>
                  <a:lnTo>
                    <a:pt x="911" y="62"/>
                  </a:lnTo>
                  <a:lnTo>
                    <a:pt x="888" y="50"/>
                  </a:lnTo>
                  <a:lnTo>
                    <a:pt x="864" y="39"/>
                  </a:lnTo>
                  <a:lnTo>
                    <a:pt x="842" y="31"/>
                  </a:lnTo>
                  <a:lnTo>
                    <a:pt x="818" y="23"/>
                  </a:lnTo>
                  <a:lnTo>
                    <a:pt x="796" y="17"/>
                  </a:lnTo>
                  <a:lnTo>
                    <a:pt x="773" y="12"/>
                  </a:lnTo>
                  <a:lnTo>
                    <a:pt x="751" y="7"/>
                  </a:lnTo>
                  <a:lnTo>
                    <a:pt x="728" y="5"/>
                  </a:lnTo>
                  <a:lnTo>
                    <a:pt x="706" y="2"/>
                  </a:lnTo>
                  <a:lnTo>
                    <a:pt x="684" y="1"/>
                  </a:lnTo>
                  <a:lnTo>
                    <a:pt x="664" y="0"/>
                  </a:lnTo>
                  <a:lnTo>
                    <a:pt x="643" y="0"/>
                  </a:lnTo>
                  <a:lnTo>
                    <a:pt x="610" y="1"/>
                  </a:lnTo>
                  <a:lnTo>
                    <a:pt x="577" y="3"/>
                  </a:lnTo>
                  <a:lnTo>
                    <a:pt x="545" y="7"/>
                  </a:lnTo>
                  <a:lnTo>
                    <a:pt x="514" y="13"/>
                  </a:lnTo>
                  <a:lnTo>
                    <a:pt x="483" y="20"/>
                  </a:lnTo>
                  <a:lnTo>
                    <a:pt x="451" y="29"/>
                  </a:lnTo>
                  <a:lnTo>
                    <a:pt x="421" y="39"/>
                  </a:lnTo>
                  <a:lnTo>
                    <a:pt x="393" y="50"/>
                  </a:lnTo>
                  <a:lnTo>
                    <a:pt x="365" y="63"/>
                  </a:lnTo>
                  <a:lnTo>
                    <a:pt x="337" y="78"/>
                  </a:lnTo>
                  <a:lnTo>
                    <a:pt x="310" y="93"/>
                  </a:lnTo>
                  <a:lnTo>
                    <a:pt x="283" y="110"/>
                  </a:lnTo>
                  <a:lnTo>
                    <a:pt x="258" y="127"/>
                  </a:lnTo>
                  <a:lnTo>
                    <a:pt x="234" y="147"/>
                  </a:lnTo>
                  <a:lnTo>
                    <a:pt x="210" y="167"/>
                  </a:lnTo>
                  <a:lnTo>
                    <a:pt x="189" y="189"/>
                  </a:lnTo>
                  <a:lnTo>
                    <a:pt x="167" y="211"/>
                  </a:lnTo>
                  <a:lnTo>
                    <a:pt x="147" y="234"/>
                  </a:lnTo>
                  <a:lnTo>
                    <a:pt x="128" y="258"/>
                  </a:lnTo>
                  <a:lnTo>
                    <a:pt x="109" y="284"/>
                  </a:lnTo>
                  <a:lnTo>
                    <a:pt x="93" y="310"/>
                  </a:lnTo>
                  <a:lnTo>
                    <a:pt x="77" y="337"/>
                  </a:lnTo>
                  <a:lnTo>
                    <a:pt x="63" y="364"/>
                  </a:lnTo>
                  <a:lnTo>
                    <a:pt x="50" y="393"/>
                  </a:lnTo>
                  <a:lnTo>
                    <a:pt x="39" y="422"/>
                  </a:lnTo>
                  <a:lnTo>
                    <a:pt x="29" y="452"/>
                  </a:lnTo>
                  <a:lnTo>
                    <a:pt x="20" y="482"/>
                  </a:lnTo>
                  <a:lnTo>
                    <a:pt x="13" y="514"/>
                  </a:lnTo>
                  <a:lnTo>
                    <a:pt x="7" y="546"/>
                  </a:lnTo>
                  <a:lnTo>
                    <a:pt x="3" y="578"/>
                  </a:lnTo>
                  <a:lnTo>
                    <a:pt x="0" y="610"/>
                  </a:lnTo>
                  <a:lnTo>
                    <a:pt x="0" y="643"/>
                  </a:lnTo>
                  <a:lnTo>
                    <a:pt x="0" y="677"/>
                  </a:lnTo>
                  <a:lnTo>
                    <a:pt x="3" y="710"/>
                  </a:lnTo>
                  <a:lnTo>
                    <a:pt x="7" y="742"/>
                  </a:lnTo>
                  <a:lnTo>
                    <a:pt x="13" y="773"/>
                  </a:lnTo>
                  <a:lnTo>
                    <a:pt x="20" y="804"/>
                  </a:lnTo>
                  <a:lnTo>
                    <a:pt x="29" y="835"/>
                  </a:lnTo>
                  <a:lnTo>
                    <a:pt x="39" y="865"/>
                  </a:lnTo>
                  <a:lnTo>
                    <a:pt x="50" y="894"/>
                  </a:lnTo>
                  <a:lnTo>
                    <a:pt x="63" y="922"/>
                  </a:lnTo>
                  <a:lnTo>
                    <a:pt x="77" y="950"/>
                  </a:lnTo>
                  <a:lnTo>
                    <a:pt x="93" y="977"/>
                  </a:lnTo>
                  <a:lnTo>
                    <a:pt x="109" y="1004"/>
                  </a:lnTo>
                  <a:lnTo>
                    <a:pt x="128" y="1028"/>
                  </a:lnTo>
                  <a:lnTo>
                    <a:pt x="147" y="1053"/>
                  </a:lnTo>
                  <a:lnTo>
                    <a:pt x="167" y="1077"/>
                  </a:lnTo>
                  <a:lnTo>
                    <a:pt x="189" y="1099"/>
                  </a:lnTo>
                  <a:lnTo>
                    <a:pt x="210" y="1119"/>
                  </a:lnTo>
                  <a:lnTo>
                    <a:pt x="234" y="1140"/>
                  </a:lnTo>
                  <a:lnTo>
                    <a:pt x="258" y="1159"/>
                  </a:lnTo>
                  <a:lnTo>
                    <a:pt x="283" y="1177"/>
                  </a:lnTo>
                  <a:lnTo>
                    <a:pt x="310" y="1195"/>
                  </a:lnTo>
                  <a:lnTo>
                    <a:pt x="337" y="1210"/>
                  </a:lnTo>
                  <a:lnTo>
                    <a:pt x="365" y="1224"/>
                  </a:lnTo>
                  <a:lnTo>
                    <a:pt x="393" y="1236"/>
                  </a:lnTo>
                  <a:lnTo>
                    <a:pt x="423" y="1248"/>
                  </a:lnTo>
                  <a:lnTo>
                    <a:pt x="451" y="1258"/>
                  </a:lnTo>
                  <a:lnTo>
                    <a:pt x="483" y="1266"/>
                  </a:lnTo>
                  <a:lnTo>
                    <a:pt x="514" y="1274"/>
                  </a:lnTo>
                  <a:lnTo>
                    <a:pt x="545" y="1279"/>
                  </a:lnTo>
                  <a:lnTo>
                    <a:pt x="577" y="1284"/>
                  </a:lnTo>
                  <a:lnTo>
                    <a:pt x="610" y="1287"/>
                  </a:lnTo>
                  <a:lnTo>
                    <a:pt x="643" y="1287"/>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39" name="Freeform 38"/>
            <p:cNvSpPr>
              <a:spLocks/>
            </p:cNvSpPr>
            <p:nvPr/>
          </p:nvSpPr>
          <p:spPr bwMode="auto">
            <a:xfrm>
              <a:off x="469508" y="5213809"/>
              <a:ext cx="190027" cy="191402"/>
            </a:xfrm>
            <a:custGeom>
              <a:avLst/>
              <a:gdLst>
                <a:gd name="T0" fmla="*/ 330 w 634"/>
                <a:gd name="T1" fmla="*/ 151 h 634"/>
                <a:gd name="T2" fmla="*/ 435 w 634"/>
                <a:gd name="T3" fmla="*/ 22 h 634"/>
                <a:gd name="T4" fmla="*/ 387 w 634"/>
                <a:gd name="T5" fmla="*/ 7 h 634"/>
                <a:gd name="T6" fmla="*/ 335 w 634"/>
                <a:gd name="T7" fmla="*/ 0 h 634"/>
                <a:gd name="T8" fmla="*/ 285 w 634"/>
                <a:gd name="T9" fmla="*/ 1 h 634"/>
                <a:gd name="T10" fmla="*/ 238 w 634"/>
                <a:gd name="T11" fmla="*/ 10 h 634"/>
                <a:gd name="T12" fmla="*/ 194 w 634"/>
                <a:gd name="T13" fmla="*/ 25 h 634"/>
                <a:gd name="T14" fmla="*/ 153 w 634"/>
                <a:gd name="T15" fmla="*/ 45 h 634"/>
                <a:gd name="T16" fmla="*/ 116 w 634"/>
                <a:gd name="T17" fmla="*/ 72 h 634"/>
                <a:gd name="T18" fmla="*/ 83 w 634"/>
                <a:gd name="T19" fmla="*/ 103 h 634"/>
                <a:gd name="T20" fmla="*/ 55 w 634"/>
                <a:gd name="T21" fmla="*/ 139 h 634"/>
                <a:gd name="T22" fmla="*/ 32 w 634"/>
                <a:gd name="T23" fmla="*/ 179 h 634"/>
                <a:gd name="T24" fmla="*/ 15 w 634"/>
                <a:gd name="T25" fmla="*/ 222 h 634"/>
                <a:gd name="T26" fmla="*/ 4 w 634"/>
                <a:gd name="T27" fmla="*/ 268 h 634"/>
                <a:gd name="T28" fmla="*/ 0 w 634"/>
                <a:gd name="T29" fmla="*/ 316 h 634"/>
                <a:gd name="T30" fmla="*/ 4 w 634"/>
                <a:gd name="T31" fmla="*/ 365 h 634"/>
                <a:gd name="T32" fmla="*/ 15 w 634"/>
                <a:gd name="T33" fmla="*/ 411 h 634"/>
                <a:gd name="T34" fmla="*/ 32 w 634"/>
                <a:gd name="T35" fmla="*/ 454 h 634"/>
                <a:gd name="T36" fmla="*/ 55 w 634"/>
                <a:gd name="T37" fmla="*/ 493 h 634"/>
                <a:gd name="T38" fmla="*/ 83 w 634"/>
                <a:gd name="T39" fmla="*/ 530 h 634"/>
                <a:gd name="T40" fmla="*/ 116 w 634"/>
                <a:gd name="T41" fmla="*/ 561 h 634"/>
                <a:gd name="T42" fmla="*/ 153 w 634"/>
                <a:gd name="T43" fmla="*/ 588 h 634"/>
                <a:gd name="T44" fmla="*/ 194 w 634"/>
                <a:gd name="T45" fmla="*/ 608 h 634"/>
                <a:gd name="T46" fmla="*/ 238 w 634"/>
                <a:gd name="T47" fmla="*/ 623 h 634"/>
                <a:gd name="T48" fmla="*/ 285 w 634"/>
                <a:gd name="T49" fmla="*/ 632 h 634"/>
                <a:gd name="T50" fmla="*/ 334 w 634"/>
                <a:gd name="T51" fmla="*/ 633 h 634"/>
                <a:gd name="T52" fmla="*/ 381 w 634"/>
                <a:gd name="T53" fmla="*/ 627 h 634"/>
                <a:gd name="T54" fmla="*/ 426 w 634"/>
                <a:gd name="T55" fmla="*/ 614 h 634"/>
                <a:gd name="T56" fmla="*/ 469 w 634"/>
                <a:gd name="T57" fmla="*/ 595 h 634"/>
                <a:gd name="T58" fmla="*/ 507 w 634"/>
                <a:gd name="T59" fmla="*/ 570 h 634"/>
                <a:gd name="T60" fmla="*/ 542 w 634"/>
                <a:gd name="T61" fmla="*/ 540 h 634"/>
                <a:gd name="T62" fmla="*/ 572 w 634"/>
                <a:gd name="T63" fmla="*/ 506 h 634"/>
                <a:gd name="T64" fmla="*/ 596 w 634"/>
                <a:gd name="T65" fmla="*/ 468 h 634"/>
                <a:gd name="T66" fmla="*/ 615 w 634"/>
                <a:gd name="T67" fmla="*/ 426 h 634"/>
                <a:gd name="T68" fmla="*/ 627 w 634"/>
                <a:gd name="T69" fmla="*/ 381 h 634"/>
                <a:gd name="T70" fmla="*/ 634 w 634"/>
                <a:gd name="T71" fmla="*/ 332 h 634"/>
                <a:gd name="T72" fmla="*/ 633 w 634"/>
                <a:gd name="T73" fmla="*/ 281 h 634"/>
                <a:gd name="T74" fmla="*/ 622 w 634"/>
                <a:gd name="T75" fmla="*/ 230 h 634"/>
                <a:gd name="T76" fmla="*/ 605 w 634"/>
                <a:gd name="T77" fmla="*/ 182 h 634"/>
                <a:gd name="T78" fmla="*/ 484 w 634"/>
                <a:gd name="T79" fmla="*/ 310 h 634"/>
                <a:gd name="T80" fmla="*/ 480 w 634"/>
                <a:gd name="T81" fmla="*/ 350 h 634"/>
                <a:gd name="T82" fmla="*/ 463 w 634"/>
                <a:gd name="T83" fmla="*/ 396 h 634"/>
                <a:gd name="T84" fmla="*/ 434 w 634"/>
                <a:gd name="T85" fmla="*/ 434 h 634"/>
                <a:gd name="T86" fmla="*/ 397 w 634"/>
                <a:gd name="T87" fmla="*/ 463 h 634"/>
                <a:gd name="T88" fmla="*/ 351 w 634"/>
                <a:gd name="T89" fmla="*/ 479 h 634"/>
                <a:gd name="T90" fmla="*/ 300 w 634"/>
                <a:gd name="T91" fmla="*/ 481 h 634"/>
                <a:gd name="T92" fmla="*/ 252 w 634"/>
                <a:gd name="T93" fmla="*/ 470 h 634"/>
                <a:gd name="T94" fmla="*/ 211 w 634"/>
                <a:gd name="T95" fmla="*/ 445 h 634"/>
                <a:gd name="T96" fmla="*/ 179 w 634"/>
                <a:gd name="T97" fmla="*/ 410 h 634"/>
                <a:gd name="T98" fmla="*/ 159 w 634"/>
                <a:gd name="T99" fmla="*/ 366 h 634"/>
                <a:gd name="T100" fmla="*/ 151 w 634"/>
                <a:gd name="T101" fmla="*/ 316 h 634"/>
                <a:gd name="T102" fmla="*/ 159 w 634"/>
                <a:gd name="T103" fmla="*/ 267 h 634"/>
                <a:gd name="T104" fmla="*/ 179 w 634"/>
                <a:gd name="T105" fmla="*/ 224 h 634"/>
                <a:gd name="T106" fmla="*/ 211 w 634"/>
                <a:gd name="T107" fmla="*/ 189 h 634"/>
                <a:gd name="T108" fmla="*/ 252 w 634"/>
                <a:gd name="T109" fmla="*/ 163 h 634"/>
                <a:gd name="T110" fmla="*/ 300 w 634"/>
                <a:gd name="T111" fmla="*/ 151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4" h="634">
                  <a:moveTo>
                    <a:pt x="317" y="150"/>
                  </a:moveTo>
                  <a:lnTo>
                    <a:pt x="324" y="150"/>
                  </a:lnTo>
                  <a:lnTo>
                    <a:pt x="330" y="151"/>
                  </a:lnTo>
                  <a:lnTo>
                    <a:pt x="448" y="32"/>
                  </a:lnTo>
                  <a:lnTo>
                    <a:pt x="452" y="29"/>
                  </a:lnTo>
                  <a:lnTo>
                    <a:pt x="435" y="22"/>
                  </a:lnTo>
                  <a:lnTo>
                    <a:pt x="420" y="17"/>
                  </a:lnTo>
                  <a:lnTo>
                    <a:pt x="403" y="12"/>
                  </a:lnTo>
                  <a:lnTo>
                    <a:pt x="387" y="7"/>
                  </a:lnTo>
                  <a:lnTo>
                    <a:pt x="370" y="4"/>
                  </a:lnTo>
                  <a:lnTo>
                    <a:pt x="353" y="1"/>
                  </a:lnTo>
                  <a:lnTo>
                    <a:pt x="335" y="0"/>
                  </a:lnTo>
                  <a:lnTo>
                    <a:pt x="317" y="0"/>
                  </a:lnTo>
                  <a:lnTo>
                    <a:pt x="301" y="0"/>
                  </a:lnTo>
                  <a:lnTo>
                    <a:pt x="285" y="1"/>
                  </a:lnTo>
                  <a:lnTo>
                    <a:pt x="269" y="3"/>
                  </a:lnTo>
                  <a:lnTo>
                    <a:pt x="253" y="6"/>
                  </a:lnTo>
                  <a:lnTo>
                    <a:pt x="238" y="10"/>
                  </a:lnTo>
                  <a:lnTo>
                    <a:pt x="223" y="14"/>
                  </a:lnTo>
                  <a:lnTo>
                    <a:pt x="208" y="19"/>
                  </a:lnTo>
                  <a:lnTo>
                    <a:pt x="194" y="25"/>
                  </a:lnTo>
                  <a:lnTo>
                    <a:pt x="180" y="31"/>
                  </a:lnTo>
                  <a:lnTo>
                    <a:pt x="166" y="37"/>
                  </a:lnTo>
                  <a:lnTo>
                    <a:pt x="153" y="45"/>
                  </a:lnTo>
                  <a:lnTo>
                    <a:pt x="141" y="54"/>
                  </a:lnTo>
                  <a:lnTo>
                    <a:pt x="128" y="62"/>
                  </a:lnTo>
                  <a:lnTo>
                    <a:pt x="116" y="72"/>
                  </a:lnTo>
                  <a:lnTo>
                    <a:pt x="104" y="81"/>
                  </a:lnTo>
                  <a:lnTo>
                    <a:pt x="93" y="92"/>
                  </a:lnTo>
                  <a:lnTo>
                    <a:pt x="83" y="103"/>
                  </a:lnTo>
                  <a:lnTo>
                    <a:pt x="73" y="115"/>
                  </a:lnTo>
                  <a:lnTo>
                    <a:pt x="63" y="126"/>
                  </a:lnTo>
                  <a:lnTo>
                    <a:pt x="55" y="139"/>
                  </a:lnTo>
                  <a:lnTo>
                    <a:pt x="46" y="152"/>
                  </a:lnTo>
                  <a:lnTo>
                    <a:pt x="39" y="165"/>
                  </a:lnTo>
                  <a:lnTo>
                    <a:pt x="32" y="179"/>
                  </a:lnTo>
                  <a:lnTo>
                    <a:pt x="26" y="193"/>
                  </a:lnTo>
                  <a:lnTo>
                    <a:pt x="19" y="207"/>
                  </a:lnTo>
                  <a:lnTo>
                    <a:pt x="15" y="222"/>
                  </a:lnTo>
                  <a:lnTo>
                    <a:pt x="11" y="237"/>
                  </a:lnTo>
                  <a:lnTo>
                    <a:pt x="6" y="253"/>
                  </a:lnTo>
                  <a:lnTo>
                    <a:pt x="4" y="268"/>
                  </a:lnTo>
                  <a:lnTo>
                    <a:pt x="2" y="284"/>
                  </a:lnTo>
                  <a:lnTo>
                    <a:pt x="1" y="300"/>
                  </a:lnTo>
                  <a:lnTo>
                    <a:pt x="0" y="316"/>
                  </a:lnTo>
                  <a:lnTo>
                    <a:pt x="1" y="332"/>
                  </a:lnTo>
                  <a:lnTo>
                    <a:pt x="2" y="348"/>
                  </a:lnTo>
                  <a:lnTo>
                    <a:pt x="4" y="365"/>
                  </a:lnTo>
                  <a:lnTo>
                    <a:pt x="6" y="381"/>
                  </a:lnTo>
                  <a:lnTo>
                    <a:pt x="11" y="396"/>
                  </a:lnTo>
                  <a:lnTo>
                    <a:pt x="15" y="411"/>
                  </a:lnTo>
                  <a:lnTo>
                    <a:pt x="19" y="426"/>
                  </a:lnTo>
                  <a:lnTo>
                    <a:pt x="26" y="440"/>
                  </a:lnTo>
                  <a:lnTo>
                    <a:pt x="32" y="454"/>
                  </a:lnTo>
                  <a:lnTo>
                    <a:pt x="39" y="468"/>
                  </a:lnTo>
                  <a:lnTo>
                    <a:pt x="46" y="480"/>
                  </a:lnTo>
                  <a:lnTo>
                    <a:pt x="55" y="493"/>
                  </a:lnTo>
                  <a:lnTo>
                    <a:pt x="63" y="506"/>
                  </a:lnTo>
                  <a:lnTo>
                    <a:pt x="73" y="518"/>
                  </a:lnTo>
                  <a:lnTo>
                    <a:pt x="83" y="530"/>
                  </a:lnTo>
                  <a:lnTo>
                    <a:pt x="93" y="540"/>
                  </a:lnTo>
                  <a:lnTo>
                    <a:pt x="104" y="551"/>
                  </a:lnTo>
                  <a:lnTo>
                    <a:pt x="116" y="561"/>
                  </a:lnTo>
                  <a:lnTo>
                    <a:pt x="128" y="570"/>
                  </a:lnTo>
                  <a:lnTo>
                    <a:pt x="141" y="579"/>
                  </a:lnTo>
                  <a:lnTo>
                    <a:pt x="153" y="588"/>
                  </a:lnTo>
                  <a:lnTo>
                    <a:pt x="166" y="595"/>
                  </a:lnTo>
                  <a:lnTo>
                    <a:pt x="180" y="603"/>
                  </a:lnTo>
                  <a:lnTo>
                    <a:pt x="194" y="608"/>
                  </a:lnTo>
                  <a:lnTo>
                    <a:pt x="208" y="614"/>
                  </a:lnTo>
                  <a:lnTo>
                    <a:pt x="223" y="619"/>
                  </a:lnTo>
                  <a:lnTo>
                    <a:pt x="238" y="623"/>
                  </a:lnTo>
                  <a:lnTo>
                    <a:pt x="253" y="627"/>
                  </a:lnTo>
                  <a:lnTo>
                    <a:pt x="269" y="629"/>
                  </a:lnTo>
                  <a:lnTo>
                    <a:pt x="285" y="632"/>
                  </a:lnTo>
                  <a:lnTo>
                    <a:pt x="301" y="633"/>
                  </a:lnTo>
                  <a:lnTo>
                    <a:pt x="317" y="634"/>
                  </a:lnTo>
                  <a:lnTo>
                    <a:pt x="334" y="633"/>
                  </a:lnTo>
                  <a:lnTo>
                    <a:pt x="350" y="632"/>
                  </a:lnTo>
                  <a:lnTo>
                    <a:pt x="366" y="629"/>
                  </a:lnTo>
                  <a:lnTo>
                    <a:pt x="381" y="627"/>
                  </a:lnTo>
                  <a:lnTo>
                    <a:pt x="397" y="623"/>
                  </a:lnTo>
                  <a:lnTo>
                    <a:pt x="412" y="619"/>
                  </a:lnTo>
                  <a:lnTo>
                    <a:pt x="426" y="614"/>
                  </a:lnTo>
                  <a:lnTo>
                    <a:pt x="441" y="608"/>
                  </a:lnTo>
                  <a:lnTo>
                    <a:pt x="455" y="603"/>
                  </a:lnTo>
                  <a:lnTo>
                    <a:pt x="469" y="595"/>
                  </a:lnTo>
                  <a:lnTo>
                    <a:pt x="482" y="588"/>
                  </a:lnTo>
                  <a:lnTo>
                    <a:pt x="494" y="579"/>
                  </a:lnTo>
                  <a:lnTo>
                    <a:pt x="507" y="570"/>
                  </a:lnTo>
                  <a:lnTo>
                    <a:pt x="519" y="561"/>
                  </a:lnTo>
                  <a:lnTo>
                    <a:pt x="531" y="551"/>
                  </a:lnTo>
                  <a:lnTo>
                    <a:pt x="542" y="540"/>
                  </a:lnTo>
                  <a:lnTo>
                    <a:pt x="552" y="530"/>
                  </a:lnTo>
                  <a:lnTo>
                    <a:pt x="562" y="518"/>
                  </a:lnTo>
                  <a:lnTo>
                    <a:pt x="572" y="506"/>
                  </a:lnTo>
                  <a:lnTo>
                    <a:pt x="580" y="493"/>
                  </a:lnTo>
                  <a:lnTo>
                    <a:pt x="589" y="480"/>
                  </a:lnTo>
                  <a:lnTo>
                    <a:pt x="596" y="468"/>
                  </a:lnTo>
                  <a:lnTo>
                    <a:pt x="603" y="454"/>
                  </a:lnTo>
                  <a:lnTo>
                    <a:pt x="609" y="440"/>
                  </a:lnTo>
                  <a:lnTo>
                    <a:pt x="615" y="426"/>
                  </a:lnTo>
                  <a:lnTo>
                    <a:pt x="620" y="411"/>
                  </a:lnTo>
                  <a:lnTo>
                    <a:pt x="624" y="396"/>
                  </a:lnTo>
                  <a:lnTo>
                    <a:pt x="627" y="381"/>
                  </a:lnTo>
                  <a:lnTo>
                    <a:pt x="631" y="365"/>
                  </a:lnTo>
                  <a:lnTo>
                    <a:pt x="633" y="348"/>
                  </a:lnTo>
                  <a:lnTo>
                    <a:pt x="634" y="332"/>
                  </a:lnTo>
                  <a:lnTo>
                    <a:pt x="634" y="316"/>
                  </a:lnTo>
                  <a:lnTo>
                    <a:pt x="634" y="299"/>
                  </a:lnTo>
                  <a:lnTo>
                    <a:pt x="633" y="281"/>
                  </a:lnTo>
                  <a:lnTo>
                    <a:pt x="630" y="264"/>
                  </a:lnTo>
                  <a:lnTo>
                    <a:pt x="626" y="247"/>
                  </a:lnTo>
                  <a:lnTo>
                    <a:pt x="622" y="230"/>
                  </a:lnTo>
                  <a:lnTo>
                    <a:pt x="617" y="214"/>
                  </a:lnTo>
                  <a:lnTo>
                    <a:pt x="611" y="198"/>
                  </a:lnTo>
                  <a:lnTo>
                    <a:pt x="605" y="182"/>
                  </a:lnTo>
                  <a:lnTo>
                    <a:pt x="602" y="185"/>
                  </a:lnTo>
                  <a:lnTo>
                    <a:pt x="483" y="303"/>
                  </a:lnTo>
                  <a:lnTo>
                    <a:pt x="484" y="310"/>
                  </a:lnTo>
                  <a:lnTo>
                    <a:pt x="484" y="316"/>
                  </a:lnTo>
                  <a:lnTo>
                    <a:pt x="483" y="333"/>
                  </a:lnTo>
                  <a:lnTo>
                    <a:pt x="480" y="350"/>
                  </a:lnTo>
                  <a:lnTo>
                    <a:pt x="476" y="366"/>
                  </a:lnTo>
                  <a:lnTo>
                    <a:pt x="471" y="382"/>
                  </a:lnTo>
                  <a:lnTo>
                    <a:pt x="463" y="396"/>
                  </a:lnTo>
                  <a:lnTo>
                    <a:pt x="455" y="410"/>
                  </a:lnTo>
                  <a:lnTo>
                    <a:pt x="445" y="422"/>
                  </a:lnTo>
                  <a:lnTo>
                    <a:pt x="434" y="434"/>
                  </a:lnTo>
                  <a:lnTo>
                    <a:pt x="423" y="445"/>
                  </a:lnTo>
                  <a:lnTo>
                    <a:pt x="411" y="455"/>
                  </a:lnTo>
                  <a:lnTo>
                    <a:pt x="397" y="463"/>
                  </a:lnTo>
                  <a:lnTo>
                    <a:pt x="382" y="470"/>
                  </a:lnTo>
                  <a:lnTo>
                    <a:pt x="367" y="475"/>
                  </a:lnTo>
                  <a:lnTo>
                    <a:pt x="351" y="479"/>
                  </a:lnTo>
                  <a:lnTo>
                    <a:pt x="335" y="481"/>
                  </a:lnTo>
                  <a:lnTo>
                    <a:pt x="317" y="483"/>
                  </a:lnTo>
                  <a:lnTo>
                    <a:pt x="300" y="481"/>
                  </a:lnTo>
                  <a:lnTo>
                    <a:pt x="283" y="479"/>
                  </a:lnTo>
                  <a:lnTo>
                    <a:pt x="268" y="475"/>
                  </a:lnTo>
                  <a:lnTo>
                    <a:pt x="252" y="470"/>
                  </a:lnTo>
                  <a:lnTo>
                    <a:pt x="238" y="463"/>
                  </a:lnTo>
                  <a:lnTo>
                    <a:pt x="224" y="455"/>
                  </a:lnTo>
                  <a:lnTo>
                    <a:pt x="211" y="445"/>
                  </a:lnTo>
                  <a:lnTo>
                    <a:pt x="199" y="434"/>
                  </a:lnTo>
                  <a:lnTo>
                    <a:pt x="189" y="422"/>
                  </a:lnTo>
                  <a:lnTo>
                    <a:pt x="179" y="410"/>
                  </a:lnTo>
                  <a:lnTo>
                    <a:pt x="172" y="396"/>
                  </a:lnTo>
                  <a:lnTo>
                    <a:pt x="164" y="382"/>
                  </a:lnTo>
                  <a:lnTo>
                    <a:pt x="159" y="366"/>
                  </a:lnTo>
                  <a:lnTo>
                    <a:pt x="154" y="350"/>
                  </a:lnTo>
                  <a:lnTo>
                    <a:pt x="152" y="333"/>
                  </a:lnTo>
                  <a:lnTo>
                    <a:pt x="151" y="316"/>
                  </a:lnTo>
                  <a:lnTo>
                    <a:pt x="152" y="299"/>
                  </a:lnTo>
                  <a:lnTo>
                    <a:pt x="154" y="283"/>
                  </a:lnTo>
                  <a:lnTo>
                    <a:pt x="159" y="267"/>
                  </a:lnTo>
                  <a:lnTo>
                    <a:pt x="164" y="252"/>
                  </a:lnTo>
                  <a:lnTo>
                    <a:pt x="172" y="237"/>
                  </a:lnTo>
                  <a:lnTo>
                    <a:pt x="179" y="224"/>
                  </a:lnTo>
                  <a:lnTo>
                    <a:pt x="189" y="211"/>
                  </a:lnTo>
                  <a:lnTo>
                    <a:pt x="199" y="199"/>
                  </a:lnTo>
                  <a:lnTo>
                    <a:pt x="211" y="189"/>
                  </a:lnTo>
                  <a:lnTo>
                    <a:pt x="224" y="179"/>
                  </a:lnTo>
                  <a:lnTo>
                    <a:pt x="238" y="170"/>
                  </a:lnTo>
                  <a:lnTo>
                    <a:pt x="252" y="163"/>
                  </a:lnTo>
                  <a:lnTo>
                    <a:pt x="268" y="158"/>
                  </a:lnTo>
                  <a:lnTo>
                    <a:pt x="284" y="153"/>
                  </a:lnTo>
                  <a:lnTo>
                    <a:pt x="300" y="151"/>
                  </a:lnTo>
                  <a:lnTo>
                    <a:pt x="317" y="150"/>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sp>
          <p:nvSpPr>
            <p:cNvPr id="40" name="Freeform 39"/>
            <p:cNvSpPr>
              <a:spLocks/>
            </p:cNvSpPr>
            <p:nvPr/>
          </p:nvSpPr>
          <p:spPr bwMode="auto">
            <a:xfrm>
              <a:off x="582619" y="5075156"/>
              <a:ext cx="215666" cy="215515"/>
            </a:xfrm>
            <a:custGeom>
              <a:avLst/>
              <a:gdLst>
                <a:gd name="T0" fmla="*/ 638 w 712"/>
                <a:gd name="T1" fmla="*/ 159 h 715"/>
                <a:gd name="T2" fmla="*/ 647 w 712"/>
                <a:gd name="T3" fmla="*/ 147 h 715"/>
                <a:gd name="T4" fmla="*/ 651 w 712"/>
                <a:gd name="T5" fmla="*/ 132 h 715"/>
                <a:gd name="T6" fmla="*/ 647 w 712"/>
                <a:gd name="T7" fmla="*/ 115 h 715"/>
                <a:gd name="T8" fmla="*/ 638 w 712"/>
                <a:gd name="T9" fmla="*/ 103 h 715"/>
                <a:gd name="T10" fmla="*/ 608 w 712"/>
                <a:gd name="T11" fmla="*/ 73 h 715"/>
                <a:gd name="T12" fmla="*/ 593 w 712"/>
                <a:gd name="T13" fmla="*/ 67 h 715"/>
                <a:gd name="T14" fmla="*/ 578 w 712"/>
                <a:gd name="T15" fmla="*/ 67 h 715"/>
                <a:gd name="T16" fmla="*/ 563 w 712"/>
                <a:gd name="T17" fmla="*/ 73 h 715"/>
                <a:gd name="T18" fmla="*/ 517 w 712"/>
                <a:gd name="T19" fmla="*/ 118 h 715"/>
                <a:gd name="T20" fmla="*/ 507 w 712"/>
                <a:gd name="T21" fmla="*/ 6 h 715"/>
                <a:gd name="T22" fmla="*/ 500 w 712"/>
                <a:gd name="T23" fmla="*/ 0 h 715"/>
                <a:gd name="T24" fmla="*/ 490 w 712"/>
                <a:gd name="T25" fmla="*/ 0 h 715"/>
                <a:gd name="T26" fmla="*/ 329 w 712"/>
                <a:gd name="T27" fmla="*/ 161 h 715"/>
                <a:gd name="T28" fmla="*/ 319 w 712"/>
                <a:gd name="T29" fmla="*/ 171 h 715"/>
                <a:gd name="T30" fmla="*/ 313 w 712"/>
                <a:gd name="T31" fmla="*/ 185 h 715"/>
                <a:gd name="T32" fmla="*/ 310 w 712"/>
                <a:gd name="T33" fmla="*/ 199 h 715"/>
                <a:gd name="T34" fmla="*/ 308 w 712"/>
                <a:gd name="T35" fmla="*/ 214 h 715"/>
                <a:gd name="T36" fmla="*/ 317 w 712"/>
                <a:gd name="T37" fmla="*/ 318 h 715"/>
                <a:gd name="T38" fmla="*/ 157 w 712"/>
                <a:gd name="T39" fmla="*/ 477 h 715"/>
                <a:gd name="T40" fmla="*/ 56 w 712"/>
                <a:gd name="T41" fmla="*/ 578 h 715"/>
                <a:gd name="T42" fmla="*/ 9 w 712"/>
                <a:gd name="T43" fmla="*/ 627 h 715"/>
                <a:gd name="T44" fmla="*/ 4 w 712"/>
                <a:gd name="T45" fmla="*/ 638 h 715"/>
                <a:gd name="T46" fmla="*/ 0 w 712"/>
                <a:gd name="T47" fmla="*/ 679 h 715"/>
                <a:gd name="T48" fmla="*/ 2 w 712"/>
                <a:gd name="T49" fmla="*/ 692 h 715"/>
                <a:gd name="T50" fmla="*/ 9 w 712"/>
                <a:gd name="T51" fmla="*/ 704 h 715"/>
                <a:gd name="T52" fmla="*/ 20 w 712"/>
                <a:gd name="T53" fmla="*/ 712 h 715"/>
                <a:gd name="T54" fmla="*/ 34 w 712"/>
                <a:gd name="T55" fmla="*/ 715 h 715"/>
                <a:gd name="T56" fmla="*/ 73 w 712"/>
                <a:gd name="T57" fmla="*/ 713 h 715"/>
                <a:gd name="T58" fmla="*/ 84 w 712"/>
                <a:gd name="T59" fmla="*/ 711 h 715"/>
                <a:gd name="T60" fmla="*/ 95 w 712"/>
                <a:gd name="T61" fmla="*/ 703 h 715"/>
                <a:gd name="T62" fmla="*/ 493 w 712"/>
                <a:gd name="T63" fmla="*/ 402 h 715"/>
                <a:gd name="T64" fmla="*/ 499 w 712"/>
                <a:gd name="T65" fmla="*/ 402 h 715"/>
                <a:gd name="T66" fmla="*/ 509 w 712"/>
                <a:gd name="T67" fmla="*/ 402 h 715"/>
                <a:gd name="T68" fmla="*/ 522 w 712"/>
                <a:gd name="T69" fmla="*/ 400 h 715"/>
                <a:gd name="T70" fmla="*/ 535 w 712"/>
                <a:gd name="T71" fmla="*/ 394 h 715"/>
                <a:gd name="T72" fmla="*/ 546 w 712"/>
                <a:gd name="T73" fmla="*/ 387 h 715"/>
                <a:gd name="T74" fmla="*/ 707 w 712"/>
                <a:gd name="T75" fmla="*/ 225 h 715"/>
                <a:gd name="T76" fmla="*/ 711 w 712"/>
                <a:gd name="T77" fmla="*/ 218 h 715"/>
                <a:gd name="T78" fmla="*/ 711 w 712"/>
                <a:gd name="T79" fmla="*/ 211 h 715"/>
                <a:gd name="T80" fmla="*/ 706 w 712"/>
                <a:gd name="T81" fmla="*/ 205 h 715"/>
                <a:gd name="T82" fmla="*/ 699 w 712"/>
                <a:gd name="T83" fmla="*/ 202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2" h="715">
                  <a:moveTo>
                    <a:pt x="603" y="195"/>
                  </a:moveTo>
                  <a:lnTo>
                    <a:pt x="638" y="159"/>
                  </a:lnTo>
                  <a:lnTo>
                    <a:pt x="643" y="153"/>
                  </a:lnTo>
                  <a:lnTo>
                    <a:pt x="647" y="147"/>
                  </a:lnTo>
                  <a:lnTo>
                    <a:pt x="650" y="139"/>
                  </a:lnTo>
                  <a:lnTo>
                    <a:pt x="651" y="132"/>
                  </a:lnTo>
                  <a:lnTo>
                    <a:pt x="650" y="123"/>
                  </a:lnTo>
                  <a:lnTo>
                    <a:pt x="647" y="115"/>
                  </a:lnTo>
                  <a:lnTo>
                    <a:pt x="643" y="109"/>
                  </a:lnTo>
                  <a:lnTo>
                    <a:pt x="638" y="103"/>
                  </a:lnTo>
                  <a:lnTo>
                    <a:pt x="614" y="78"/>
                  </a:lnTo>
                  <a:lnTo>
                    <a:pt x="608" y="73"/>
                  </a:lnTo>
                  <a:lnTo>
                    <a:pt x="600" y="69"/>
                  </a:lnTo>
                  <a:lnTo>
                    <a:pt x="593" y="67"/>
                  </a:lnTo>
                  <a:lnTo>
                    <a:pt x="585" y="66"/>
                  </a:lnTo>
                  <a:lnTo>
                    <a:pt x="578" y="67"/>
                  </a:lnTo>
                  <a:lnTo>
                    <a:pt x="570" y="69"/>
                  </a:lnTo>
                  <a:lnTo>
                    <a:pt x="563" y="73"/>
                  </a:lnTo>
                  <a:lnTo>
                    <a:pt x="556" y="78"/>
                  </a:lnTo>
                  <a:lnTo>
                    <a:pt x="517" y="118"/>
                  </a:lnTo>
                  <a:lnTo>
                    <a:pt x="509" y="11"/>
                  </a:lnTo>
                  <a:lnTo>
                    <a:pt x="507" y="6"/>
                  </a:lnTo>
                  <a:lnTo>
                    <a:pt x="504" y="3"/>
                  </a:lnTo>
                  <a:lnTo>
                    <a:pt x="500" y="0"/>
                  </a:lnTo>
                  <a:lnTo>
                    <a:pt x="495" y="0"/>
                  </a:lnTo>
                  <a:lnTo>
                    <a:pt x="490" y="0"/>
                  </a:lnTo>
                  <a:lnTo>
                    <a:pt x="485" y="3"/>
                  </a:lnTo>
                  <a:lnTo>
                    <a:pt x="329" y="161"/>
                  </a:lnTo>
                  <a:lnTo>
                    <a:pt x="323" y="166"/>
                  </a:lnTo>
                  <a:lnTo>
                    <a:pt x="319" y="171"/>
                  </a:lnTo>
                  <a:lnTo>
                    <a:pt x="316" y="178"/>
                  </a:lnTo>
                  <a:lnTo>
                    <a:pt x="313" y="185"/>
                  </a:lnTo>
                  <a:lnTo>
                    <a:pt x="311" y="192"/>
                  </a:lnTo>
                  <a:lnTo>
                    <a:pt x="310" y="199"/>
                  </a:lnTo>
                  <a:lnTo>
                    <a:pt x="308" y="207"/>
                  </a:lnTo>
                  <a:lnTo>
                    <a:pt x="308" y="214"/>
                  </a:lnTo>
                  <a:lnTo>
                    <a:pt x="308" y="220"/>
                  </a:lnTo>
                  <a:lnTo>
                    <a:pt x="317" y="318"/>
                  </a:lnTo>
                  <a:lnTo>
                    <a:pt x="260" y="375"/>
                  </a:lnTo>
                  <a:lnTo>
                    <a:pt x="157" y="477"/>
                  </a:lnTo>
                  <a:lnTo>
                    <a:pt x="155" y="479"/>
                  </a:lnTo>
                  <a:lnTo>
                    <a:pt x="56" y="578"/>
                  </a:lnTo>
                  <a:lnTo>
                    <a:pt x="12" y="623"/>
                  </a:lnTo>
                  <a:lnTo>
                    <a:pt x="9" y="627"/>
                  </a:lnTo>
                  <a:lnTo>
                    <a:pt x="6" y="632"/>
                  </a:lnTo>
                  <a:lnTo>
                    <a:pt x="4" y="638"/>
                  </a:lnTo>
                  <a:lnTo>
                    <a:pt x="3" y="643"/>
                  </a:lnTo>
                  <a:lnTo>
                    <a:pt x="0" y="679"/>
                  </a:lnTo>
                  <a:lnTo>
                    <a:pt x="1" y="685"/>
                  </a:lnTo>
                  <a:lnTo>
                    <a:pt x="2" y="692"/>
                  </a:lnTo>
                  <a:lnTo>
                    <a:pt x="5" y="699"/>
                  </a:lnTo>
                  <a:lnTo>
                    <a:pt x="9" y="704"/>
                  </a:lnTo>
                  <a:lnTo>
                    <a:pt x="15" y="709"/>
                  </a:lnTo>
                  <a:lnTo>
                    <a:pt x="20" y="712"/>
                  </a:lnTo>
                  <a:lnTo>
                    <a:pt x="26" y="714"/>
                  </a:lnTo>
                  <a:lnTo>
                    <a:pt x="34" y="715"/>
                  </a:lnTo>
                  <a:lnTo>
                    <a:pt x="36" y="715"/>
                  </a:lnTo>
                  <a:lnTo>
                    <a:pt x="73" y="713"/>
                  </a:lnTo>
                  <a:lnTo>
                    <a:pt x="79" y="713"/>
                  </a:lnTo>
                  <a:lnTo>
                    <a:pt x="84" y="711"/>
                  </a:lnTo>
                  <a:lnTo>
                    <a:pt x="90" y="708"/>
                  </a:lnTo>
                  <a:lnTo>
                    <a:pt x="95" y="703"/>
                  </a:lnTo>
                  <a:lnTo>
                    <a:pt x="403" y="395"/>
                  </a:lnTo>
                  <a:lnTo>
                    <a:pt x="493" y="402"/>
                  </a:lnTo>
                  <a:lnTo>
                    <a:pt x="497" y="402"/>
                  </a:lnTo>
                  <a:lnTo>
                    <a:pt x="499" y="402"/>
                  </a:lnTo>
                  <a:lnTo>
                    <a:pt x="502" y="402"/>
                  </a:lnTo>
                  <a:lnTo>
                    <a:pt x="509" y="402"/>
                  </a:lnTo>
                  <a:lnTo>
                    <a:pt x="515" y="401"/>
                  </a:lnTo>
                  <a:lnTo>
                    <a:pt x="522" y="400"/>
                  </a:lnTo>
                  <a:lnTo>
                    <a:pt x="528" y="396"/>
                  </a:lnTo>
                  <a:lnTo>
                    <a:pt x="535" y="394"/>
                  </a:lnTo>
                  <a:lnTo>
                    <a:pt x="540" y="391"/>
                  </a:lnTo>
                  <a:lnTo>
                    <a:pt x="546" y="387"/>
                  </a:lnTo>
                  <a:lnTo>
                    <a:pt x="551" y="383"/>
                  </a:lnTo>
                  <a:lnTo>
                    <a:pt x="707" y="225"/>
                  </a:lnTo>
                  <a:lnTo>
                    <a:pt x="710" y="222"/>
                  </a:lnTo>
                  <a:lnTo>
                    <a:pt x="711" y="218"/>
                  </a:lnTo>
                  <a:lnTo>
                    <a:pt x="712" y="214"/>
                  </a:lnTo>
                  <a:lnTo>
                    <a:pt x="711" y="211"/>
                  </a:lnTo>
                  <a:lnTo>
                    <a:pt x="709" y="208"/>
                  </a:lnTo>
                  <a:lnTo>
                    <a:pt x="706" y="205"/>
                  </a:lnTo>
                  <a:lnTo>
                    <a:pt x="703" y="203"/>
                  </a:lnTo>
                  <a:lnTo>
                    <a:pt x="699" y="202"/>
                  </a:lnTo>
                  <a:lnTo>
                    <a:pt x="603" y="195"/>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dirty="0">
                <a:latin typeface="Calibri" panose="020F0502020204030204"/>
              </a:endParaRPr>
            </a:p>
          </p:txBody>
        </p:sp>
      </p:grpSp>
      <p:sp>
        <p:nvSpPr>
          <p:cNvPr id="2" name="Title 1"/>
          <p:cNvSpPr>
            <a:spLocks noGrp="1"/>
          </p:cNvSpPr>
          <p:nvPr>
            <p:ph type="title"/>
          </p:nvPr>
        </p:nvSpPr>
        <p:spPr/>
        <p:txBody>
          <a:bodyPr/>
          <a:lstStyle/>
          <a:p>
            <a:r>
              <a:rPr lang="en-IN" dirty="0"/>
              <a:t>Questionnaire</a:t>
            </a:r>
            <a:endParaRPr lang="en-US" dirty="0"/>
          </a:p>
        </p:txBody>
      </p:sp>
      <p:sp>
        <p:nvSpPr>
          <p:cNvPr id="10" name="TextBox 21"/>
          <p:cNvSpPr txBox="1"/>
          <p:nvPr/>
        </p:nvSpPr>
        <p:spPr>
          <a:xfrm>
            <a:off x="955252" y="1637340"/>
            <a:ext cx="4114800" cy="461665"/>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r>
              <a:rPr lang="en-IN" sz="1200" dirty="0"/>
              <a:t>Which of the prominent market player has highest market share?</a:t>
            </a:r>
            <a:endParaRPr lang="en-US" sz="1200" dirty="0"/>
          </a:p>
        </p:txBody>
      </p:sp>
      <p:sp>
        <p:nvSpPr>
          <p:cNvPr id="19" name="TextBox 33"/>
          <p:cNvSpPr txBox="1"/>
          <p:nvPr/>
        </p:nvSpPr>
        <p:spPr>
          <a:xfrm>
            <a:off x="989056" y="2804186"/>
            <a:ext cx="4114800" cy="461665"/>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r>
              <a:rPr lang="en-US" sz="1200" dirty="0"/>
              <a:t>What is factors responsible for elevating the demand for the WXYZ ?</a:t>
            </a:r>
          </a:p>
        </p:txBody>
      </p:sp>
      <p:sp>
        <p:nvSpPr>
          <p:cNvPr id="28" name="TextBox 44"/>
          <p:cNvSpPr txBox="1"/>
          <p:nvPr/>
        </p:nvSpPr>
        <p:spPr>
          <a:xfrm>
            <a:off x="979155" y="3878700"/>
            <a:ext cx="4114800" cy="646331"/>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r>
              <a:rPr lang="en-US" sz="1200" dirty="0"/>
              <a:t>What challenges/constraints do manufacturing companies face in the regional market?</a:t>
            </a:r>
          </a:p>
        </p:txBody>
      </p:sp>
      <p:sp>
        <p:nvSpPr>
          <p:cNvPr id="37" name="TextBox 44"/>
          <p:cNvSpPr txBox="1"/>
          <p:nvPr/>
        </p:nvSpPr>
        <p:spPr>
          <a:xfrm>
            <a:off x="942728" y="5125980"/>
            <a:ext cx="4114800" cy="461665"/>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r>
              <a:rPr lang="en-IN" sz="1200" dirty="0"/>
              <a:t>What is the company’s strategy to increase the sales of </a:t>
            </a:r>
            <a:r>
              <a:rPr lang="en-US" sz="1200" dirty="0"/>
              <a:t>WXYZ</a:t>
            </a:r>
            <a:r>
              <a:rPr lang="en-IN" sz="1200" dirty="0"/>
              <a:t>?</a:t>
            </a:r>
            <a:endParaRPr lang="en-US" sz="1200" dirty="0"/>
          </a:p>
        </p:txBody>
      </p:sp>
      <p:sp>
        <p:nvSpPr>
          <p:cNvPr id="46" name="TextBox 55"/>
          <p:cNvSpPr txBox="1"/>
          <p:nvPr/>
        </p:nvSpPr>
        <p:spPr>
          <a:xfrm>
            <a:off x="6978899" y="1624135"/>
            <a:ext cx="4114800" cy="276999"/>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r>
              <a:rPr lang="en-IN" sz="1200" dirty="0"/>
              <a:t>What is growth outlook of </a:t>
            </a:r>
            <a:r>
              <a:rPr lang="en-US" sz="1200" dirty="0"/>
              <a:t>WXYZ</a:t>
            </a:r>
            <a:r>
              <a:rPr lang="en-IN" sz="1200" dirty="0"/>
              <a:t> across various industries?</a:t>
            </a:r>
            <a:endParaRPr lang="en-US" sz="1200" dirty="0"/>
          </a:p>
        </p:txBody>
      </p:sp>
      <p:sp>
        <p:nvSpPr>
          <p:cNvPr id="53" name="TextBox 89"/>
          <p:cNvSpPr txBox="1"/>
          <p:nvPr/>
        </p:nvSpPr>
        <p:spPr>
          <a:xfrm>
            <a:off x="6978899" y="2896193"/>
            <a:ext cx="4114800" cy="276999"/>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r>
              <a:rPr lang="en-IN" sz="1200" dirty="0"/>
              <a:t>Which Type of </a:t>
            </a:r>
            <a:r>
              <a:rPr lang="en-US" sz="1200" dirty="0"/>
              <a:t>WXYZ</a:t>
            </a:r>
            <a:r>
              <a:rPr lang="en-IN" sz="1200" dirty="0"/>
              <a:t> is mostly used in the market and Why?</a:t>
            </a:r>
            <a:endParaRPr lang="en-US" sz="1200" dirty="0"/>
          </a:p>
        </p:txBody>
      </p:sp>
      <p:sp>
        <p:nvSpPr>
          <p:cNvPr id="60" name="TextBox 101"/>
          <p:cNvSpPr txBox="1"/>
          <p:nvPr/>
        </p:nvSpPr>
        <p:spPr>
          <a:xfrm>
            <a:off x="6978898" y="4060860"/>
            <a:ext cx="4114800" cy="276999"/>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r>
              <a:rPr lang="en-IN" sz="1200" dirty="0"/>
              <a:t>What is the market outlook by region/country?</a:t>
            </a:r>
            <a:endParaRPr lang="en-US" sz="1200" dirty="0"/>
          </a:p>
        </p:txBody>
      </p:sp>
      <p:sp>
        <p:nvSpPr>
          <p:cNvPr id="67" name="TextBox 101"/>
          <p:cNvSpPr txBox="1"/>
          <p:nvPr/>
        </p:nvSpPr>
        <p:spPr>
          <a:xfrm>
            <a:off x="6978899" y="5205108"/>
            <a:ext cx="4114800" cy="276999"/>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r>
              <a:rPr lang="en-IN" sz="1200" dirty="0"/>
              <a:t>What is the impact of COVID-19 on your business?</a:t>
            </a:r>
            <a:endParaRPr lang="en-US" sz="1200" dirty="0"/>
          </a:p>
        </p:txBody>
      </p:sp>
      <p:sp>
        <p:nvSpPr>
          <p:cNvPr id="83" name="TextBox 82"/>
          <p:cNvSpPr txBox="1"/>
          <p:nvPr/>
        </p:nvSpPr>
        <p:spPr>
          <a:xfrm>
            <a:off x="229798" y="6205752"/>
            <a:ext cx="5948744" cy="153888"/>
          </a:xfrm>
          <a:prstGeom prst="rect">
            <a:avLst/>
          </a:prstGeom>
          <a:noFill/>
        </p:spPr>
        <p:txBody>
          <a:bodyPr wrap="none" lIns="0" tIns="0" rIns="0" bIns="0" rtlCol="0">
            <a:spAutoFit/>
          </a:bodyPr>
          <a:lstStyle/>
          <a:p>
            <a:pPr defTabSz="966537"/>
            <a:r>
              <a:rPr lang="en-US" sz="1000" dirty="0"/>
              <a:t>Source: TMR Analysis, 2024, Primary insights, Industry Experts, Consultants, Distributors, End Users, Manufacturers</a:t>
            </a:r>
          </a:p>
        </p:txBody>
      </p:sp>
      <p:sp>
        <p:nvSpPr>
          <p:cNvPr id="82" name="Slide Number Placeholder 81"/>
          <p:cNvSpPr>
            <a:spLocks noGrp="1"/>
          </p:cNvSpPr>
          <p:nvPr>
            <p:ph type="sldNum" sz="quarter" idx="4"/>
          </p:nvPr>
        </p:nvSpPr>
        <p:spPr/>
        <p:txBody>
          <a:bodyPr/>
          <a:lstStyle/>
          <a:p>
            <a:fld id="{4B17068C-EB94-40A3-A5F2-664CDD77FDAC}" type="slidenum">
              <a:rPr lang="en-GB" smtClean="0"/>
              <a:pPr/>
              <a:t>287</a:t>
            </a:fld>
            <a:endParaRPr lang="en-GB" dirty="0"/>
          </a:p>
        </p:txBody>
      </p:sp>
    </p:spTree>
    <p:extLst>
      <p:ext uri="{BB962C8B-B14F-4D97-AF65-F5344CB8AC3E}">
        <p14:creationId xmlns:p14="http://schemas.microsoft.com/office/powerpoint/2010/main" val="2405983280"/>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0" y="0"/>
            <a:ext cx="12192000" cy="10972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image.png"/>
          <p:cNvPicPr>
            <a:picLocks noChangeAspect="1"/>
          </p:cNvPicPr>
          <p:nvPr/>
        </p:nvPicPr>
        <p:blipFill>
          <a:blip r:embed="rId2"/>
          <a:stretch>
            <a:fillRect/>
          </a:stretch>
        </p:blipFill>
        <p:spPr>
          <a:xfrm>
            <a:off x="594360" y="457200"/>
            <a:ext cx="1463040" cy="1091474"/>
          </a:xfrm>
          <a:prstGeom prst="rect">
            <a:avLst/>
          </a:prstGeom>
        </p:spPr>
      </p:pic>
      <p:sp>
        <p:nvSpPr>
          <p:cNvPr id="5" name="Rounded Rectangle 4"/>
          <p:cNvSpPr/>
          <p:nvPr/>
        </p:nvSpPr>
        <p:spPr>
          <a:xfrm>
            <a:off x="658368" y="1417320"/>
            <a:ext cx="1143000" cy="384048"/>
          </a:xfrm>
          <a:prstGeom prst="roundRect">
            <a:avLst/>
          </a:prstGeom>
          <a:solidFill>
            <a:srgbClr val="ECF1F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868680" y="1517904"/>
            <a:ext cx="731520" cy="182880"/>
          </a:xfrm>
          <a:prstGeom prst="rect">
            <a:avLst/>
          </a:prstGeom>
          <a:noFill/>
        </p:spPr>
        <p:txBody>
          <a:bodyPr wrap="square" lIns="0" tIns="0" rIns="0" bIns="0">
            <a:spAutoFit/>
          </a:bodyPr>
          <a:lstStyle/>
          <a:p>
            <a:pPr algn="l"/>
            <a:r>
              <a:rPr sz="1000" b="1" i="0">
                <a:solidFill>
                  <a:srgbClr val="0E2A5C"/>
                </a:solidFill>
                <a:latin typeface="Calibri"/>
              </a:rPr>
              <a:t>SECTION</a:t>
            </a:r>
          </a:p>
        </p:txBody>
      </p:sp>
      <p:sp>
        <p:nvSpPr>
          <p:cNvPr id="7" name="TextBox 6"/>
          <p:cNvSpPr txBox="1"/>
          <p:nvPr/>
        </p:nvSpPr>
        <p:spPr>
          <a:xfrm>
            <a:off x="621792" y="1874519"/>
            <a:ext cx="1051560" cy="914400"/>
          </a:xfrm>
          <a:prstGeom prst="rect">
            <a:avLst/>
          </a:prstGeom>
          <a:noFill/>
        </p:spPr>
        <p:txBody>
          <a:bodyPr wrap="square" lIns="0" tIns="0" rIns="0" bIns="0">
            <a:spAutoFit/>
          </a:bodyPr>
          <a:lstStyle/>
          <a:p>
            <a:pPr algn="l"/>
            <a:r>
              <a:rPr sz="4200" b="1" i="0">
                <a:solidFill>
                  <a:srgbClr val="ECF1F7"/>
                </a:solidFill>
                <a:latin typeface="Calibri"/>
              </a:rPr>
              <a:t>24</a:t>
            </a:r>
          </a:p>
        </p:txBody>
      </p:sp>
      <p:sp>
        <p:nvSpPr>
          <p:cNvPr id="8" name="TextBox 7"/>
          <p:cNvSpPr txBox="1"/>
          <p:nvPr/>
        </p:nvSpPr>
        <p:spPr>
          <a:xfrm>
            <a:off x="1600200" y="1920240"/>
            <a:ext cx="1005840" cy="320040"/>
          </a:xfrm>
          <a:prstGeom prst="rect">
            <a:avLst/>
          </a:prstGeom>
          <a:noFill/>
        </p:spPr>
        <p:txBody>
          <a:bodyPr wrap="square" lIns="0" tIns="0" rIns="0" bIns="0">
            <a:spAutoFit/>
          </a:bodyPr>
          <a:lstStyle/>
          <a:p>
            <a:pPr algn="l"/>
            <a:r>
              <a:rPr sz="1500" b="1" i="0">
                <a:solidFill>
                  <a:srgbClr val="00ACAC"/>
                </a:solidFill>
                <a:latin typeface="Calibri"/>
              </a:rPr>
              <a:t>24</a:t>
            </a:r>
          </a:p>
        </p:txBody>
      </p:sp>
      <p:sp>
        <p:nvSpPr>
          <p:cNvPr id="9" name="TextBox 8"/>
          <p:cNvSpPr txBox="1"/>
          <p:nvPr/>
        </p:nvSpPr>
        <p:spPr>
          <a:xfrm>
            <a:off x="1600200" y="2240280"/>
            <a:ext cx="5486400" cy="1463040"/>
          </a:xfrm>
          <a:prstGeom prst="rect">
            <a:avLst/>
          </a:prstGeom>
          <a:noFill/>
        </p:spPr>
        <p:txBody>
          <a:bodyPr wrap="square" lIns="0" tIns="0" rIns="0" bIns="0">
            <a:spAutoFit/>
          </a:bodyPr>
          <a:lstStyle/>
          <a:p>
            <a:pPr algn="l"/>
            <a:r>
              <a:rPr sz="2300" b="1" i="0">
                <a:solidFill>
                  <a:srgbClr val="0E2A5C"/>
                </a:solidFill>
                <a:latin typeface="Calibri"/>
              </a:rPr>
              <a:t>Research Methodology</a:t>
            </a:r>
          </a:p>
        </p:txBody>
      </p:sp>
      <p:sp>
        <p:nvSpPr>
          <p:cNvPr id="10" name="TextBox 9"/>
          <p:cNvSpPr txBox="1"/>
          <p:nvPr/>
        </p:nvSpPr>
        <p:spPr>
          <a:xfrm>
            <a:off x="1600200" y="3840480"/>
            <a:ext cx="3200400" cy="365760"/>
          </a:xfrm>
          <a:prstGeom prst="rect">
            <a:avLst/>
          </a:prstGeom>
          <a:noFill/>
        </p:spPr>
        <p:txBody>
          <a:bodyPr wrap="square" lIns="0" tIns="0" rIns="0" bIns="0">
            <a:spAutoFit/>
          </a:bodyPr>
          <a:lstStyle/>
          <a:p>
            <a:pPr algn="l"/>
            <a:r>
              <a:rPr sz="1100" b="0" i="0">
                <a:solidFill>
                  <a:srgbClr val="586272"/>
                </a:solidFill>
                <a:latin typeface="Calibri"/>
              </a:rPr>
              <a:t>Global market intelligence  •  strategic insights</a:t>
            </a:r>
          </a:p>
        </p:txBody>
      </p:sp>
      <p:pic>
        <p:nvPicPr>
          <p:cNvPr id="11" name="Picture 10" descr="section_abstract.png"/>
          <p:cNvPicPr>
            <a:picLocks noChangeAspect="1"/>
          </p:cNvPicPr>
          <p:nvPr/>
        </p:nvPicPr>
        <p:blipFill>
          <a:blip r:embed="rId3"/>
          <a:stretch>
            <a:fillRect/>
          </a:stretch>
        </p:blipFill>
        <p:spPr>
          <a:xfrm>
            <a:off x="6995160" y="594360"/>
            <a:ext cx="4800600" cy="6309360"/>
          </a:xfrm>
          <a:prstGeom prst="rect">
            <a:avLst/>
          </a:prstGeom>
        </p:spPr>
      </p:pic>
      <p:sp>
        <p:nvSpPr>
          <p:cNvPr id="12" name="Rectangle 11"/>
          <p:cNvSpPr/>
          <p:nvPr/>
        </p:nvSpPr>
        <p:spPr>
          <a:xfrm>
            <a:off x="1600200" y="4892040"/>
            <a:ext cx="914400" cy="64008"/>
          </a:xfrm>
          <a:prstGeom prst="rect">
            <a:avLst/>
          </a:prstGeom>
          <a:solidFill>
            <a:srgbClr val="F4762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2596896" y="4892040"/>
            <a:ext cx="694944" cy="64008"/>
          </a:xfrm>
          <a:prstGeom prst="rect">
            <a:avLst/>
          </a:prstGeom>
          <a:solidFill>
            <a:srgbClr val="00ACA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0" y="6473952"/>
            <a:ext cx="12192000" cy="384048"/>
          </a:xfrm>
          <a:prstGeom prst="rect">
            <a:avLst/>
          </a:prstGeom>
          <a:solidFill>
            <a:srgbClr val="0E2A5C"/>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58368" y="6428232"/>
            <a:ext cx="3200400" cy="137160"/>
          </a:xfrm>
          <a:prstGeom prst="rect">
            <a:avLst/>
          </a:prstGeom>
          <a:noFill/>
        </p:spPr>
        <p:txBody>
          <a:bodyPr wrap="square" lIns="0" tIns="0" rIns="0" bIns="0">
            <a:spAutoFit/>
          </a:bodyPr>
          <a:lstStyle/>
          <a:p>
            <a:pPr algn="l"/>
            <a:r>
              <a:rPr sz="850" b="1" i="0">
                <a:solidFill>
                  <a:srgbClr val="FFFFFF"/>
                </a:solidFill>
                <a:latin typeface="Calibri"/>
              </a:rPr>
              <a:t>Transparency Market Research</a:t>
            </a:r>
          </a:p>
        </p:txBody>
      </p:sp>
      <p:sp>
        <p:nvSpPr>
          <p:cNvPr id="16" name="TextBox 15"/>
          <p:cNvSpPr txBox="1"/>
          <p:nvPr/>
        </p:nvSpPr>
        <p:spPr>
          <a:xfrm>
            <a:off x="10012680" y="6428232"/>
            <a:ext cx="1188720" cy="137160"/>
          </a:xfrm>
          <a:prstGeom prst="rect">
            <a:avLst/>
          </a:prstGeom>
          <a:noFill/>
        </p:spPr>
        <p:txBody>
          <a:bodyPr wrap="square" lIns="0" tIns="0" rIns="0" bIns="0">
            <a:spAutoFit/>
          </a:bodyPr>
          <a:lstStyle/>
          <a:p>
            <a:pPr algn="r"/>
            <a:r>
              <a:rPr sz="850" b="1" i="0">
                <a:solidFill>
                  <a:srgbClr val="FFFFFF"/>
                </a:solidFill>
                <a:latin typeface="Calibri"/>
              </a:rPr>
              <a:t>288</a:t>
            </a:r>
          </a:p>
        </p:txBody>
      </p:sp>
    </p:spTree>
    <p:extLst>
      <p:ext uri="{BB962C8B-B14F-4D97-AF65-F5344CB8AC3E}">
        <p14:creationId xmlns:p14="http://schemas.microsoft.com/office/powerpoint/2010/main" val="1305490720"/>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Research Methodology (1/3)</a:t>
            </a:r>
          </a:p>
        </p:txBody>
      </p:sp>
      <p:grpSp>
        <p:nvGrpSpPr>
          <p:cNvPr id="5" name="Group 4"/>
          <p:cNvGrpSpPr/>
          <p:nvPr/>
        </p:nvGrpSpPr>
        <p:grpSpPr>
          <a:xfrm>
            <a:off x="6248400" y="1212758"/>
            <a:ext cx="5791200" cy="774304"/>
            <a:chOff x="5488794" y="1861269"/>
            <a:chExt cx="2625378" cy="531243"/>
          </a:xfrm>
        </p:grpSpPr>
        <p:sp>
          <p:nvSpPr>
            <p:cNvPr id="21" name="_s1032"/>
            <p:cNvSpPr>
              <a:spLocks noChangeArrowheads="1" noTextEdit="1"/>
            </p:cNvSpPr>
            <p:nvPr/>
          </p:nvSpPr>
          <p:spPr bwMode="auto">
            <a:xfrm>
              <a:off x="7483906" y="1892155"/>
              <a:ext cx="630266" cy="500357"/>
            </a:xfrm>
            <a:prstGeom prst="ellipse">
              <a:avLst/>
            </a:prstGeom>
            <a:gradFill rotWithShape="1">
              <a:gsLst>
                <a:gs pos="0">
                  <a:srgbClr val="7DC7FF">
                    <a:satMod val="103000"/>
                    <a:lumMod val="102000"/>
                    <a:tint val="94000"/>
                  </a:srgbClr>
                </a:gs>
                <a:gs pos="50000">
                  <a:srgbClr val="7DC7FF">
                    <a:satMod val="110000"/>
                    <a:lumMod val="100000"/>
                    <a:shade val="100000"/>
                  </a:srgbClr>
                </a:gs>
                <a:gs pos="100000">
                  <a:srgbClr val="7DC7FF">
                    <a:lumMod val="99000"/>
                    <a:satMod val="120000"/>
                    <a:shade val="78000"/>
                  </a:srgbClr>
                </a:gs>
              </a:gsLst>
              <a:lin ang="5400000" scaled="0"/>
            </a:gradFill>
            <a:ln w="6350" cap="flat" cmpd="sng" algn="ctr">
              <a:solidFill>
                <a:sysClr val="window" lastClr="FFFFFF"/>
              </a:solidFill>
              <a:prstDash val="solid"/>
              <a:miter lim="800000"/>
              <a:headEnd/>
              <a:tailEnd/>
            </a:ln>
            <a:effectLst/>
          </p:spPr>
          <p:txBody>
            <a:bodyPr lIns="0" tIns="0" rIns="0" bIns="0" anchor="ctr"/>
            <a:lstStyle/>
            <a:p>
              <a:pPr>
                <a:defRPr/>
              </a:pPr>
              <a:endParaRPr lang="en-US" sz="2800" kern="0" dirty="0">
                <a:solidFill>
                  <a:prstClr val="white"/>
                </a:solidFill>
              </a:endParaRPr>
            </a:p>
          </p:txBody>
        </p:sp>
        <p:sp>
          <p:nvSpPr>
            <p:cNvPr id="22" name="_s1032"/>
            <p:cNvSpPr>
              <a:spLocks noChangeArrowheads="1" noTextEdit="1"/>
            </p:cNvSpPr>
            <p:nvPr/>
          </p:nvSpPr>
          <p:spPr bwMode="auto">
            <a:xfrm>
              <a:off x="6993845" y="1892155"/>
              <a:ext cx="630266" cy="500357"/>
            </a:xfrm>
            <a:prstGeom prst="ellipse">
              <a:avLst/>
            </a:prstGeom>
            <a:gradFill rotWithShape="1">
              <a:gsLst>
                <a:gs pos="0">
                  <a:srgbClr val="7DC7FF">
                    <a:satMod val="103000"/>
                    <a:lumMod val="102000"/>
                    <a:tint val="94000"/>
                  </a:srgbClr>
                </a:gs>
                <a:gs pos="50000">
                  <a:srgbClr val="7DC7FF">
                    <a:satMod val="110000"/>
                    <a:lumMod val="100000"/>
                    <a:shade val="100000"/>
                  </a:srgbClr>
                </a:gs>
                <a:gs pos="100000">
                  <a:srgbClr val="7DC7FF">
                    <a:lumMod val="99000"/>
                    <a:satMod val="120000"/>
                    <a:shade val="78000"/>
                  </a:srgbClr>
                </a:gs>
              </a:gsLst>
              <a:lin ang="5400000" scaled="0"/>
            </a:gradFill>
            <a:ln w="6350" cap="flat" cmpd="sng" algn="ctr">
              <a:solidFill>
                <a:sysClr val="window" lastClr="FFFFFF"/>
              </a:solidFill>
              <a:prstDash val="solid"/>
              <a:miter lim="800000"/>
              <a:headEnd/>
              <a:tailEnd/>
            </a:ln>
            <a:effectLst/>
          </p:spPr>
          <p:txBody>
            <a:bodyPr lIns="0" tIns="0" rIns="0" bIns="0" anchor="ctr"/>
            <a:lstStyle/>
            <a:p>
              <a:pPr>
                <a:defRPr/>
              </a:pPr>
              <a:endParaRPr lang="en-US" sz="2800" kern="0" dirty="0">
                <a:solidFill>
                  <a:prstClr val="white"/>
                </a:solidFill>
              </a:endParaRPr>
            </a:p>
          </p:txBody>
        </p:sp>
        <p:sp>
          <p:nvSpPr>
            <p:cNvPr id="23" name="_s1032"/>
            <p:cNvSpPr>
              <a:spLocks noChangeArrowheads="1" noTextEdit="1"/>
            </p:cNvSpPr>
            <p:nvPr/>
          </p:nvSpPr>
          <p:spPr bwMode="auto">
            <a:xfrm>
              <a:off x="6496577" y="1892155"/>
              <a:ext cx="630266" cy="500357"/>
            </a:xfrm>
            <a:prstGeom prst="ellipse">
              <a:avLst/>
            </a:prstGeom>
            <a:gradFill rotWithShape="1">
              <a:gsLst>
                <a:gs pos="0">
                  <a:srgbClr val="7DC7FF">
                    <a:satMod val="103000"/>
                    <a:lumMod val="102000"/>
                    <a:tint val="94000"/>
                  </a:srgbClr>
                </a:gs>
                <a:gs pos="50000">
                  <a:srgbClr val="7DC7FF">
                    <a:satMod val="110000"/>
                    <a:lumMod val="100000"/>
                    <a:shade val="100000"/>
                  </a:srgbClr>
                </a:gs>
                <a:gs pos="100000">
                  <a:srgbClr val="7DC7FF">
                    <a:lumMod val="99000"/>
                    <a:satMod val="120000"/>
                    <a:shade val="78000"/>
                  </a:srgbClr>
                </a:gs>
              </a:gsLst>
              <a:lin ang="5400000" scaled="0"/>
            </a:gradFill>
            <a:ln w="6350" cap="flat" cmpd="sng" algn="ctr">
              <a:solidFill>
                <a:sysClr val="window" lastClr="FFFFFF"/>
              </a:solidFill>
              <a:prstDash val="solid"/>
              <a:miter lim="800000"/>
              <a:headEnd/>
              <a:tailEnd/>
            </a:ln>
            <a:effectLst/>
          </p:spPr>
          <p:txBody>
            <a:bodyPr lIns="0" tIns="0" rIns="0" bIns="0" anchor="ctr"/>
            <a:lstStyle/>
            <a:p>
              <a:pPr>
                <a:defRPr/>
              </a:pPr>
              <a:endParaRPr lang="en-US" sz="2800" kern="0" dirty="0">
                <a:solidFill>
                  <a:prstClr val="white"/>
                </a:solidFill>
              </a:endParaRPr>
            </a:p>
          </p:txBody>
        </p:sp>
        <p:sp>
          <p:nvSpPr>
            <p:cNvPr id="24" name="_s1032"/>
            <p:cNvSpPr>
              <a:spLocks noChangeArrowheads="1" noTextEdit="1"/>
            </p:cNvSpPr>
            <p:nvPr/>
          </p:nvSpPr>
          <p:spPr bwMode="auto">
            <a:xfrm>
              <a:off x="5992039" y="1892155"/>
              <a:ext cx="630266" cy="500357"/>
            </a:xfrm>
            <a:prstGeom prst="ellipse">
              <a:avLst/>
            </a:prstGeom>
            <a:gradFill rotWithShape="1">
              <a:gsLst>
                <a:gs pos="0">
                  <a:srgbClr val="7DC7FF">
                    <a:satMod val="103000"/>
                    <a:lumMod val="102000"/>
                    <a:tint val="94000"/>
                  </a:srgbClr>
                </a:gs>
                <a:gs pos="50000">
                  <a:srgbClr val="7DC7FF">
                    <a:satMod val="110000"/>
                    <a:lumMod val="100000"/>
                    <a:shade val="100000"/>
                  </a:srgbClr>
                </a:gs>
                <a:gs pos="100000">
                  <a:srgbClr val="7DC7FF">
                    <a:lumMod val="99000"/>
                    <a:satMod val="120000"/>
                    <a:shade val="78000"/>
                  </a:srgbClr>
                </a:gs>
              </a:gsLst>
              <a:lin ang="5400000" scaled="0"/>
            </a:gradFill>
            <a:ln w="6350" cap="flat" cmpd="sng" algn="ctr">
              <a:solidFill>
                <a:sysClr val="window" lastClr="FFFFFF"/>
              </a:solidFill>
              <a:prstDash val="solid"/>
              <a:miter lim="800000"/>
              <a:headEnd/>
              <a:tailEnd/>
            </a:ln>
            <a:effectLst/>
          </p:spPr>
          <p:txBody>
            <a:bodyPr lIns="0" tIns="0" rIns="0" bIns="0" anchor="ctr"/>
            <a:lstStyle/>
            <a:p>
              <a:pPr>
                <a:defRPr/>
              </a:pPr>
              <a:endParaRPr lang="en-US" sz="2800" kern="0" dirty="0">
                <a:solidFill>
                  <a:prstClr val="white"/>
                </a:solidFill>
              </a:endParaRPr>
            </a:p>
          </p:txBody>
        </p:sp>
        <p:sp>
          <p:nvSpPr>
            <p:cNvPr id="25" name="_s1032"/>
            <p:cNvSpPr>
              <a:spLocks noChangeArrowheads="1" noTextEdit="1"/>
            </p:cNvSpPr>
            <p:nvPr/>
          </p:nvSpPr>
          <p:spPr bwMode="auto">
            <a:xfrm>
              <a:off x="5488794" y="1892155"/>
              <a:ext cx="630266" cy="500357"/>
            </a:xfrm>
            <a:prstGeom prst="ellipse">
              <a:avLst/>
            </a:prstGeom>
            <a:gradFill rotWithShape="1">
              <a:gsLst>
                <a:gs pos="0">
                  <a:srgbClr val="7DC7FF">
                    <a:satMod val="103000"/>
                    <a:lumMod val="102000"/>
                    <a:tint val="94000"/>
                  </a:srgbClr>
                </a:gs>
                <a:gs pos="50000">
                  <a:srgbClr val="7DC7FF">
                    <a:satMod val="110000"/>
                    <a:lumMod val="100000"/>
                    <a:shade val="100000"/>
                  </a:srgbClr>
                </a:gs>
                <a:gs pos="100000">
                  <a:srgbClr val="7DC7FF">
                    <a:lumMod val="99000"/>
                    <a:satMod val="120000"/>
                    <a:shade val="78000"/>
                  </a:srgbClr>
                </a:gs>
              </a:gsLst>
              <a:lin ang="5400000" scaled="0"/>
            </a:gradFill>
            <a:ln w="6350" cap="flat" cmpd="sng" algn="ctr">
              <a:solidFill>
                <a:sysClr val="window" lastClr="FFFFFF"/>
              </a:solidFill>
              <a:prstDash val="solid"/>
              <a:miter lim="800000"/>
              <a:headEnd/>
              <a:tailEnd/>
            </a:ln>
            <a:effectLst/>
          </p:spPr>
          <p:txBody>
            <a:bodyPr lIns="0" tIns="0" rIns="0" bIns="0" anchor="ctr"/>
            <a:lstStyle/>
            <a:p>
              <a:pPr>
                <a:defRPr/>
              </a:pPr>
              <a:endParaRPr lang="en-US" sz="2800" kern="0" dirty="0">
                <a:solidFill>
                  <a:prstClr val="white"/>
                </a:solidFill>
              </a:endParaRPr>
            </a:p>
          </p:txBody>
        </p:sp>
        <p:sp>
          <p:nvSpPr>
            <p:cNvPr id="26" name="Text Box 47"/>
            <p:cNvSpPr txBox="1">
              <a:spLocks noChangeArrowheads="1"/>
            </p:cNvSpPr>
            <p:nvPr/>
          </p:nvSpPr>
          <p:spPr bwMode="auto">
            <a:xfrm>
              <a:off x="5616858" y="1985992"/>
              <a:ext cx="349690" cy="295628"/>
            </a:xfrm>
            <a:prstGeom prst="rect">
              <a:avLst/>
            </a:prstGeom>
            <a:noFill/>
            <a:ln w="9525">
              <a:noFill/>
              <a:miter lim="800000"/>
              <a:headEnd/>
              <a:tailEnd/>
            </a:ln>
          </p:spPr>
          <p:txBody>
            <a:bodyPr wrap="none">
              <a:spAutoFit/>
            </a:bodyPr>
            <a:lstStyle/>
            <a:p>
              <a:pPr algn="ctr">
                <a:defRPr/>
              </a:pPr>
              <a:r>
                <a:rPr lang="en-US" sz="1100" b="1" kern="0" dirty="0">
                  <a:solidFill>
                    <a:sysClr val="windowText" lastClr="000000"/>
                  </a:solidFill>
                  <a:ea typeface="ＭＳ Ｐゴシック" charset="-128"/>
                </a:rPr>
                <a:t>Data </a:t>
              </a:r>
            </a:p>
            <a:p>
              <a:pPr algn="ctr">
                <a:defRPr/>
              </a:pPr>
              <a:r>
                <a:rPr lang="en-US" sz="1100" b="1" kern="0" dirty="0">
                  <a:solidFill>
                    <a:sysClr val="windowText" lastClr="000000"/>
                  </a:solidFill>
                  <a:ea typeface="ＭＳ Ｐゴシック" charset="-128"/>
                </a:rPr>
                <a:t>Collection</a:t>
              </a:r>
            </a:p>
          </p:txBody>
        </p:sp>
        <p:sp>
          <p:nvSpPr>
            <p:cNvPr id="27" name="Text Box 47"/>
            <p:cNvSpPr txBox="1">
              <a:spLocks noChangeArrowheads="1"/>
            </p:cNvSpPr>
            <p:nvPr/>
          </p:nvSpPr>
          <p:spPr bwMode="auto">
            <a:xfrm>
              <a:off x="6152420" y="1988795"/>
              <a:ext cx="361317" cy="295628"/>
            </a:xfrm>
            <a:prstGeom prst="rect">
              <a:avLst/>
            </a:prstGeom>
            <a:noFill/>
            <a:ln w="9525">
              <a:noFill/>
              <a:miter lim="800000"/>
              <a:headEnd/>
              <a:tailEnd/>
            </a:ln>
          </p:spPr>
          <p:txBody>
            <a:bodyPr wrap="none">
              <a:spAutoFit/>
            </a:bodyPr>
            <a:lstStyle/>
            <a:p>
              <a:pPr algn="ctr">
                <a:defRPr/>
              </a:pPr>
              <a:r>
                <a:rPr lang="en-US" sz="1100" b="1" kern="0" dirty="0">
                  <a:solidFill>
                    <a:sysClr val="windowText" lastClr="000000"/>
                  </a:solidFill>
                  <a:ea typeface="ＭＳ Ｐゴシック" charset="-128"/>
                </a:rPr>
                <a:t>Data Filter</a:t>
              </a:r>
            </a:p>
            <a:p>
              <a:pPr algn="ctr">
                <a:defRPr/>
              </a:pPr>
              <a:r>
                <a:rPr lang="en-US" sz="1100" b="1" kern="0" dirty="0">
                  <a:solidFill>
                    <a:sysClr val="windowText" lastClr="000000"/>
                  </a:solidFill>
                  <a:ea typeface="ＭＳ Ｐゴシック" charset="-128"/>
                </a:rPr>
                <a:t>&amp; Analysis</a:t>
              </a:r>
            </a:p>
          </p:txBody>
        </p:sp>
        <p:sp>
          <p:nvSpPr>
            <p:cNvPr id="28" name="Text Box 47"/>
            <p:cNvSpPr txBox="1">
              <a:spLocks noChangeArrowheads="1"/>
            </p:cNvSpPr>
            <p:nvPr/>
          </p:nvSpPr>
          <p:spPr bwMode="auto">
            <a:xfrm>
              <a:off x="6641801" y="1983157"/>
              <a:ext cx="392566" cy="295628"/>
            </a:xfrm>
            <a:prstGeom prst="rect">
              <a:avLst/>
            </a:prstGeom>
            <a:noFill/>
            <a:ln w="9525">
              <a:noFill/>
              <a:miter lim="800000"/>
              <a:headEnd/>
              <a:tailEnd/>
            </a:ln>
          </p:spPr>
          <p:txBody>
            <a:bodyPr wrap="none">
              <a:spAutoFit/>
            </a:bodyPr>
            <a:lstStyle/>
            <a:p>
              <a:pPr algn="ctr">
                <a:defRPr/>
              </a:pPr>
              <a:r>
                <a:rPr lang="en-US" sz="1100" b="1" kern="0" dirty="0">
                  <a:solidFill>
                    <a:sysClr val="windowText" lastClr="000000"/>
                  </a:solidFill>
                  <a:ea typeface="ＭＳ Ｐゴシック" charset="-128"/>
                </a:rPr>
                <a:t>Research &amp;</a:t>
              </a:r>
            </a:p>
            <a:p>
              <a:pPr algn="ctr">
                <a:defRPr/>
              </a:pPr>
              <a:r>
                <a:rPr lang="en-US" sz="1100" b="1" kern="0" dirty="0">
                  <a:solidFill>
                    <a:sysClr val="windowText" lastClr="000000"/>
                  </a:solidFill>
                  <a:ea typeface="ＭＳ Ｐゴシック" charset="-128"/>
                </a:rPr>
                <a:t>Intelligence</a:t>
              </a:r>
            </a:p>
          </p:txBody>
        </p:sp>
        <p:sp>
          <p:nvSpPr>
            <p:cNvPr id="29" name="Text Box 47"/>
            <p:cNvSpPr txBox="1">
              <a:spLocks noChangeArrowheads="1"/>
            </p:cNvSpPr>
            <p:nvPr/>
          </p:nvSpPr>
          <p:spPr bwMode="auto">
            <a:xfrm>
              <a:off x="7147440" y="1988794"/>
              <a:ext cx="369311" cy="295628"/>
            </a:xfrm>
            <a:prstGeom prst="rect">
              <a:avLst/>
            </a:prstGeom>
            <a:noFill/>
            <a:ln w="9525">
              <a:noFill/>
              <a:miter lim="800000"/>
              <a:headEnd/>
              <a:tailEnd/>
            </a:ln>
          </p:spPr>
          <p:txBody>
            <a:bodyPr wrap="none">
              <a:spAutoFit/>
            </a:bodyPr>
            <a:lstStyle/>
            <a:p>
              <a:pPr algn="ctr">
                <a:defRPr/>
              </a:pPr>
              <a:r>
                <a:rPr lang="en-US" sz="1100" b="1" kern="0" dirty="0">
                  <a:solidFill>
                    <a:sysClr val="windowText" lastClr="000000"/>
                  </a:solidFill>
                  <a:ea typeface="ＭＳ Ｐゴシック" charset="-128"/>
                </a:rPr>
                <a:t>Actionable</a:t>
              </a:r>
            </a:p>
            <a:p>
              <a:pPr algn="ctr">
                <a:defRPr/>
              </a:pPr>
              <a:r>
                <a:rPr lang="en-US" sz="1100" b="1" kern="0" dirty="0">
                  <a:solidFill>
                    <a:sysClr val="windowText" lastClr="000000"/>
                  </a:solidFill>
                  <a:ea typeface="ＭＳ Ｐゴシック" charset="-128"/>
                </a:rPr>
                <a:t>Insights</a:t>
              </a:r>
            </a:p>
          </p:txBody>
        </p:sp>
        <p:sp>
          <p:nvSpPr>
            <p:cNvPr id="30" name="Text Box 47"/>
            <p:cNvSpPr txBox="1">
              <a:spLocks noChangeArrowheads="1"/>
            </p:cNvSpPr>
            <p:nvPr/>
          </p:nvSpPr>
          <p:spPr bwMode="auto">
            <a:xfrm>
              <a:off x="7669794" y="1992391"/>
              <a:ext cx="311901" cy="295628"/>
            </a:xfrm>
            <a:prstGeom prst="rect">
              <a:avLst/>
            </a:prstGeom>
            <a:noFill/>
            <a:ln w="9525">
              <a:noFill/>
              <a:miter lim="800000"/>
              <a:headEnd/>
              <a:tailEnd/>
            </a:ln>
          </p:spPr>
          <p:txBody>
            <a:bodyPr wrap="none">
              <a:spAutoFit/>
            </a:bodyPr>
            <a:lstStyle/>
            <a:p>
              <a:pPr algn="ctr">
                <a:defRPr/>
              </a:pPr>
              <a:r>
                <a:rPr lang="en-US" sz="1100" b="1" kern="0" dirty="0">
                  <a:solidFill>
                    <a:sysClr val="windowText" lastClr="000000"/>
                  </a:solidFill>
                  <a:ea typeface="ＭＳ Ｐゴシック" charset="-128"/>
                </a:rPr>
                <a:t>Business</a:t>
              </a:r>
            </a:p>
            <a:p>
              <a:pPr algn="ctr">
                <a:defRPr/>
              </a:pPr>
              <a:r>
                <a:rPr lang="en-US" sz="1100" b="1" kern="0" dirty="0">
                  <a:solidFill>
                    <a:sysClr val="windowText" lastClr="000000"/>
                  </a:solidFill>
                  <a:ea typeface="ＭＳ Ｐゴシック" charset="-128"/>
                </a:rPr>
                <a:t>Solution</a:t>
              </a:r>
            </a:p>
          </p:txBody>
        </p:sp>
        <p:cxnSp>
          <p:nvCxnSpPr>
            <p:cNvPr id="31" name="Straight Arrow Connector 30"/>
            <p:cNvCxnSpPr/>
            <p:nvPr/>
          </p:nvCxnSpPr>
          <p:spPr>
            <a:xfrm>
              <a:off x="5488794" y="1861269"/>
              <a:ext cx="2570107" cy="965"/>
            </a:xfrm>
            <a:prstGeom prst="straightConnector1">
              <a:avLst/>
            </a:prstGeom>
            <a:noFill/>
            <a:ln w="38100" cap="flat" cmpd="sng" algn="ctr">
              <a:gradFill flip="none" rotWithShape="1">
                <a:gsLst>
                  <a:gs pos="0">
                    <a:srgbClr val="FFFFFF"/>
                  </a:gs>
                  <a:gs pos="63000">
                    <a:srgbClr val="C00000"/>
                  </a:gs>
                </a:gsLst>
                <a:lin ang="0" scaled="1"/>
                <a:tileRect/>
              </a:gradFill>
              <a:prstDash val="solid"/>
              <a:miter lim="800000"/>
              <a:headEnd w="lg" len="lg"/>
              <a:tailEnd type="stealth"/>
            </a:ln>
            <a:effectLst/>
          </p:spPr>
        </p:cxnSp>
      </p:grpSp>
      <p:sp>
        <p:nvSpPr>
          <p:cNvPr id="17" name="Rectangle 62"/>
          <p:cNvSpPr>
            <a:spLocks noChangeArrowheads="1"/>
          </p:cNvSpPr>
          <p:nvPr/>
        </p:nvSpPr>
        <p:spPr bwMode="gray">
          <a:xfrm>
            <a:off x="6318738" y="2159804"/>
            <a:ext cx="1893277" cy="761747"/>
          </a:xfrm>
          <a:prstGeom prst="rect">
            <a:avLst/>
          </a:prstGeom>
          <a:noFill/>
          <a:ln w="9525">
            <a:noFill/>
            <a:miter lim="800000"/>
            <a:headEnd/>
            <a:tailEnd/>
          </a:ln>
        </p:spPr>
        <p:txBody>
          <a:bodyPr wrap="square" lIns="0" tIns="0" rIns="0" bIns="0" anchor="ctr">
            <a:spAutoFit/>
          </a:bodyPr>
          <a:lstStyle/>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Identifying Key Opinion Leaders</a:t>
            </a:r>
          </a:p>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Questionnaire Form</a:t>
            </a:r>
          </a:p>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In-depth Interviews</a:t>
            </a:r>
          </a:p>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Coverage across Value Chain</a:t>
            </a:r>
            <a:endParaRPr lang="de-DE" sz="1000" b="1" kern="0" dirty="0">
              <a:solidFill>
                <a:sysClr val="windowText" lastClr="000000"/>
              </a:solidFill>
            </a:endParaRPr>
          </a:p>
        </p:txBody>
      </p:sp>
      <p:sp>
        <p:nvSpPr>
          <p:cNvPr id="18" name="Rectangle 62"/>
          <p:cNvSpPr>
            <a:spLocks noChangeArrowheads="1"/>
          </p:cNvSpPr>
          <p:nvPr/>
        </p:nvSpPr>
        <p:spPr bwMode="gray">
          <a:xfrm>
            <a:off x="6497515" y="3441458"/>
            <a:ext cx="1679331" cy="954107"/>
          </a:xfrm>
          <a:prstGeom prst="rect">
            <a:avLst/>
          </a:prstGeom>
          <a:noFill/>
          <a:ln w="9525">
            <a:noFill/>
            <a:miter lim="800000"/>
            <a:headEnd/>
            <a:tailEnd/>
          </a:ln>
        </p:spPr>
        <p:txBody>
          <a:bodyPr wrap="square" lIns="0" tIns="0" rIns="0" bIns="0" anchor="ctr">
            <a:spAutoFit/>
          </a:bodyPr>
          <a:lstStyle/>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Market Participants</a:t>
            </a:r>
          </a:p>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Key Strengths</a:t>
            </a:r>
          </a:p>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Product Portfolio</a:t>
            </a:r>
          </a:p>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Mapping as per Value Chain</a:t>
            </a:r>
          </a:p>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Key Focus Segments </a:t>
            </a:r>
            <a:endParaRPr lang="de-DE" sz="1000" b="1" kern="0" dirty="0">
              <a:solidFill>
                <a:sysClr val="windowText" lastClr="000000"/>
              </a:solidFill>
            </a:endParaRPr>
          </a:p>
        </p:txBody>
      </p:sp>
      <p:sp>
        <p:nvSpPr>
          <p:cNvPr id="19" name="Rectangle 62"/>
          <p:cNvSpPr>
            <a:spLocks noChangeArrowheads="1"/>
          </p:cNvSpPr>
          <p:nvPr/>
        </p:nvSpPr>
        <p:spPr bwMode="gray">
          <a:xfrm>
            <a:off x="10601685" y="2812763"/>
            <a:ext cx="1437915" cy="1146468"/>
          </a:xfrm>
          <a:prstGeom prst="rect">
            <a:avLst/>
          </a:prstGeom>
          <a:noFill/>
          <a:ln w="9525">
            <a:noFill/>
            <a:miter lim="800000"/>
            <a:headEnd/>
            <a:tailEnd/>
          </a:ln>
        </p:spPr>
        <p:txBody>
          <a:bodyPr wrap="square" lIns="0" tIns="0" rIns="0" bIns="0" anchor="ctr">
            <a:spAutoFit/>
          </a:bodyPr>
          <a:lstStyle/>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Key Industry Experts</a:t>
            </a:r>
          </a:p>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Channel Study</a:t>
            </a:r>
          </a:p>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Developments</a:t>
            </a:r>
          </a:p>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Market Dynamics</a:t>
            </a:r>
          </a:p>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Products</a:t>
            </a:r>
          </a:p>
          <a:p>
            <a:pPr marL="171450" indent="-171450">
              <a:lnSpc>
                <a:spcPct val="120000"/>
              </a:lnSpc>
              <a:spcBef>
                <a:spcPct val="5000"/>
              </a:spcBef>
              <a:buClr>
                <a:prstClr val="black"/>
              </a:buClr>
              <a:buFont typeface="Wingdings" panose="05000000000000000000" pitchFamily="2" charset="2"/>
              <a:buChar char="q"/>
              <a:defRPr/>
            </a:pPr>
            <a:r>
              <a:rPr lang="en-US" sz="1000" b="1" kern="0" dirty="0">
                <a:solidFill>
                  <a:sysClr val="windowText" lastClr="000000"/>
                </a:solidFill>
              </a:rPr>
              <a:t>Conclusions</a:t>
            </a:r>
            <a:endParaRPr lang="de-DE" sz="1000" b="1" kern="0" dirty="0">
              <a:solidFill>
                <a:sysClr val="windowText" lastClr="000000"/>
              </a:solidFill>
            </a:endParaRPr>
          </a:p>
        </p:txBody>
      </p:sp>
      <p:grpSp>
        <p:nvGrpSpPr>
          <p:cNvPr id="95" name="Group 94"/>
          <p:cNvGrpSpPr/>
          <p:nvPr/>
        </p:nvGrpSpPr>
        <p:grpSpPr>
          <a:xfrm>
            <a:off x="7640186" y="2056335"/>
            <a:ext cx="2986610" cy="2626415"/>
            <a:chOff x="7473132" y="2056335"/>
            <a:chExt cx="2986610" cy="2626415"/>
          </a:xfrm>
        </p:grpSpPr>
        <p:sp>
          <p:nvSpPr>
            <p:cNvPr id="6" name="AutoShape 46"/>
            <p:cNvSpPr>
              <a:spLocks noChangeArrowheads="1"/>
            </p:cNvSpPr>
            <p:nvPr/>
          </p:nvSpPr>
          <p:spPr bwMode="auto">
            <a:xfrm>
              <a:off x="7851241" y="2056335"/>
              <a:ext cx="2560319" cy="2560321"/>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6121" y="10800"/>
                  </a:moveTo>
                  <a:cubicBezTo>
                    <a:pt x="6121" y="13384"/>
                    <a:pt x="8216" y="15479"/>
                    <a:pt x="10800" y="15479"/>
                  </a:cubicBezTo>
                  <a:cubicBezTo>
                    <a:pt x="13384" y="15479"/>
                    <a:pt x="15479" y="13384"/>
                    <a:pt x="15479" y="10800"/>
                  </a:cubicBezTo>
                  <a:cubicBezTo>
                    <a:pt x="15479" y="8216"/>
                    <a:pt x="13384" y="6121"/>
                    <a:pt x="10800" y="6121"/>
                  </a:cubicBezTo>
                  <a:cubicBezTo>
                    <a:pt x="8216" y="6121"/>
                    <a:pt x="6121" y="8216"/>
                    <a:pt x="6121" y="10800"/>
                  </a:cubicBezTo>
                  <a:close/>
                </a:path>
              </a:pathLst>
            </a:custGeom>
            <a:solidFill>
              <a:srgbClr val="ABDBFF">
                <a:lumMod val="75000"/>
              </a:srgbClr>
            </a:solidFill>
            <a:ln>
              <a:noFill/>
              <a:headEnd/>
              <a:tailEnd/>
            </a:ln>
            <a:effectLst>
              <a:outerShdw blurRad="57150" dist="19050" dir="5400000" algn="ctr" rotWithShape="0">
                <a:srgbClr val="000000">
                  <a:alpha val="63000"/>
                </a:srgbClr>
              </a:outerShdw>
            </a:effectLst>
          </p:spPr>
          <p:txBody>
            <a:bodyPr wrap="none" anchor="ctr"/>
            <a:lstStyle/>
            <a:p>
              <a:pPr>
                <a:defRPr/>
              </a:pPr>
              <a:endParaRPr lang="en-US" sz="2000" kern="0" dirty="0">
                <a:solidFill>
                  <a:prstClr val="white"/>
                </a:solidFill>
              </a:endParaRPr>
            </a:p>
          </p:txBody>
        </p:sp>
        <p:sp>
          <p:nvSpPr>
            <p:cNvPr id="7" name="Rectangle 49"/>
            <p:cNvSpPr>
              <a:spLocks noChangeArrowheads="1"/>
            </p:cNvSpPr>
            <p:nvPr/>
          </p:nvSpPr>
          <p:spPr bwMode="auto">
            <a:xfrm>
              <a:off x="7473132" y="3336695"/>
              <a:ext cx="1658898" cy="27508"/>
            </a:xfrm>
            <a:prstGeom prst="rect">
              <a:avLst/>
            </a:prstGeom>
            <a:solidFill>
              <a:srgbClr val="C00000"/>
            </a:solidFill>
            <a:ln>
              <a:noFill/>
              <a:headEnd/>
              <a:tailEnd/>
            </a:ln>
            <a:effectLst>
              <a:outerShdw blurRad="57150" dist="19050" dir="5400000" algn="ctr" rotWithShape="0">
                <a:srgbClr val="000000">
                  <a:alpha val="63000"/>
                </a:srgbClr>
              </a:outerShdw>
            </a:effectLst>
          </p:spPr>
          <p:txBody>
            <a:bodyPr wrap="none" anchor="ctr"/>
            <a:lstStyle/>
            <a:p>
              <a:pPr>
                <a:lnSpc>
                  <a:spcPct val="85000"/>
                </a:lnSpc>
                <a:defRPr/>
              </a:pPr>
              <a:endParaRPr lang="en-US" sz="2400" b="1" kern="0" dirty="0">
                <a:solidFill>
                  <a:srgbClr val="ABE9FF"/>
                </a:solidFill>
              </a:endParaRPr>
            </a:p>
          </p:txBody>
        </p:sp>
        <p:sp>
          <p:nvSpPr>
            <p:cNvPr id="8" name="Rectangle 50"/>
            <p:cNvSpPr>
              <a:spLocks noChangeArrowheads="1"/>
            </p:cNvSpPr>
            <p:nvPr/>
          </p:nvSpPr>
          <p:spPr bwMode="auto">
            <a:xfrm rot="7200000">
              <a:off x="8880952" y="2748316"/>
              <a:ext cx="1371600" cy="34883"/>
            </a:xfrm>
            <a:prstGeom prst="rect">
              <a:avLst/>
            </a:prstGeom>
            <a:solidFill>
              <a:srgbClr val="C00000"/>
            </a:solidFill>
            <a:ln>
              <a:noFill/>
              <a:headEnd/>
              <a:tailEnd/>
            </a:ln>
            <a:effectLst>
              <a:outerShdw blurRad="57150" dist="19050" dir="5400000" algn="ctr" rotWithShape="0">
                <a:srgbClr val="000000">
                  <a:alpha val="63000"/>
                </a:srgbClr>
              </a:outerShdw>
            </a:effectLst>
          </p:spPr>
          <p:txBody>
            <a:bodyPr rot="10800000" vert="eaVert" wrap="none" anchor="ctr"/>
            <a:lstStyle/>
            <a:p>
              <a:pPr>
                <a:lnSpc>
                  <a:spcPct val="85000"/>
                </a:lnSpc>
                <a:defRPr/>
              </a:pPr>
              <a:endParaRPr lang="en-US" sz="2400" b="1" kern="0" dirty="0">
                <a:solidFill>
                  <a:srgbClr val="ABE9FF"/>
                </a:solidFill>
              </a:endParaRPr>
            </a:p>
          </p:txBody>
        </p:sp>
        <p:sp>
          <p:nvSpPr>
            <p:cNvPr id="9" name="Rectangle 51"/>
            <p:cNvSpPr>
              <a:spLocks noChangeArrowheads="1"/>
            </p:cNvSpPr>
            <p:nvPr/>
          </p:nvSpPr>
          <p:spPr bwMode="auto">
            <a:xfrm rot="14400000">
              <a:off x="8924291" y="3979508"/>
              <a:ext cx="1371600" cy="34883"/>
            </a:xfrm>
            <a:prstGeom prst="rect">
              <a:avLst/>
            </a:prstGeom>
            <a:solidFill>
              <a:srgbClr val="C00000"/>
            </a:solidFill>
            <a:ln>
              <a:noFill/>
              <a:headEnd/>
              <a:tailEnd/>
            </a:ln>
            <a:effectLst>
              <a:outerShdw blurRad="57150" dist="19050" dir="5400000" algn="ctr" rotWithShape="0">
                <a:srgbClr val="000000">
                  <a:alpha val="63000"/>
                </a:srgbClr>
              </a:outerShdw>
            </a:effectLst>
          </p:spPr>
          <p:txBody>
            <a:bodyPr vert="eaVert" wrap="none" anchor="ctr"/>
            <a:lstStyle/>
            <a:p>
              <a:pPr>
                <a:lnSpc>
                  <a:spcPct val="85000"/>
                </a:lnSpc>
                <a:defRPr/>
              </a:pPr>
              <a:endParaRPr lang="en-US" sz="2400" b="1" kern="0" dirty="0">
                <a:solidFill>
                  <a:srgbClr val="ABE9FF"/>
                </a:solidFill>
              </a:endParaRPr>
            </a:p>
          </p:txBody>
        </p:sp>
        <p:sp>
          <p:nvSpPr>
            <p:cNvPr id="10" name="Rectangle 9"/>
            <p:cNvSpPr/>
            <p:nvPr/>
          </p:nvSpPr>
          <p:spPr>
            <a:xfrm>
              <a:off x="8454252" y="2395943"/>
              <a:ext cx="248058" cy="182124"/>
            </a:xfrm>
            <a:prstGeom prst="rect">
              <a:avLst/>
            </a:prstGeom>
            <a:noFill/>
            <a:ln w="12700" cap="flat" cmpd="sng" algn="ctr">
              <a:noFill/>
              <a:prstDash val="solid"/>
              <a:miter lim="800000"/>
            </a:ln>
            <a:effectLst/>
          </p:spPr>
          <p:txBody>
            <a:bodyPr rtlCol="0" anchor="ctr"/>
            <a:lstStyle/>
            <a:p>
              <a:pPr algn="ctr">
                <a:defRPr/>
              </a:pPr>
              <a:r>
                <a:rPr lang="en-US" sz="1400" b="1" kern="0" dirty="0">
                  <a:solidFill>
                    <a:sysClr val="windowText" lastClr="000000"/>
                  </a:solidFill>
                </a:rPr>
                <a:t>A</a:t>
              </a:r>
            </a:p>
          </p:txBody>
        </p:sp>
        <p:sp>
          <p:nvSpPr>
            <p:cNvPr id="11" name="Rectangle 10"/>
            <p:cNvSpPr/>
            <p:nvPr/>
          </p:nvSpPr>
          <p:spPr>
            <a:xfrm>
              <a:off x="8465028" y="3730155"/>
              <a:ext cx="248058" cy="182124"/>
            </a:xfrm>
            <a:prstGeom prst="rect">
              <a:avLst/>
            </a:prstGeom>
            <a:noFill/>
            <a:ln w="12700" cap="flat" cmpd="sng" algn="ctr">
              <a:noFill/>
              <a:prstDash val="solid"/>
              <a:miter lim="800000"/>
            </a:ln>
            <a:effectLst/>
          </p:spPr>
          <p:txBody>
            <a:bodyPr rtlCol="0" anchor="ctr"/>
            <a:lstStyle/>
            <a:p>
              <a:pPr algn="ctr">
                <a:defRPr/>
              </a:pPr>
              <a:r>
                <a:rPr lang="en-US" sz="1400" b="1" kern="0" dirty="0">
                  <a:solidFill>
                    <a:sysClr val="windowText" lastClr="000000"/>
                  </a:solidFill>
                </a:rPr>
                <a:t>C</a:t>
              </a:r>
            </a:p>
          </p:txBody>
        </p:sp>
        <p:sp>
          <p:nvSpPr>
            <p:cNvPr id="12" name="Rectangle 11"/>
            <p:cNvSpPr/>
            <p:nvPr/>
          </p:nvSpPr>
          <p:spPr>
            <a:xfrm>
              <a:off x="9874241" y="3147092"/>
              <a:ext cx="248058" cy="182124"/>
            </a:xfrm>
            <a:prstGeom prst="rect">
              <a:avLst/>
            </a:prstGeom>
            <a:noFill/>
            <a:ln w="12700" cap="flat" cmpd="sng" algn="ctr">
              <a:noFill/>
              <a:prstDash val="solid"/>
              <a:miter lim="800000"/>
            </a:ln>
            <a:effectLst/>
          </p:spPr>
          <p:txBody>
            <a:bodyPr rtlCol="0" anchor="ctr"/>
            <a:lstStyle/>
            <a:p>
              <a:pPr algn="ctr">
                <a:defRPr/>
              </a:pPr>
              <a:r>
                <a:rPr lang="en-US" sz="1400" b="1" kern="0" dirty="0">
                  <a:solidFill>
                    <a:sysClr val="windowText" lastClr="000000"/>
                  </a:solidFill>
                </a:rPr>
                <a:t>B</a:t>
              </a:r>
            </a:p>
          </p:txBody>
        </p:sp>
        <p:sp>
          <p:nvSpPr>
            <p:cNvPr id="13" name="Text Box 106"/>
            <p:cNvSpPr txBox="1">
              <a:spLocks noChangeArrowheads="1"/>
            </p:cNvSpPr>
            <p:nvPr/>
          </p:nvSpPr>
          <p:spPr bwMode="auto">
            <a:xfrm>
              <a:off x="8104742" y="2541160"/>
              <a:ext cx="941850" cy="327578"/>
            </a:xfrm>
            <a:prstGeom prst="rect">
              <a:avLst/>
            </a:prstGeom>
            <a:noFill/>
            <a:ln w="12700" algn="ctr">
              <a:noFill/>
              <a:miter lim="800000"/>
              <a:headEnd/>
              <a:tailEnd type="none" w="lg" len="lg"/>
            </a:ln>
          </p:spPr>
          <p:txBody>
            <a:bodyPr>
              <a:spAutoFit/>
            </a:bodyPr>
            <a:lstStyle/>
            <a:p>
              <a:pPr algn="ctr">
                <a:lnSpc>
                  <a:spcPct val="85000"/>
                </a:lnSpc>
                <a:spcBef>
                  <a:spcPct val="50000"/>
                </a:spcBef>
                <a:defRPr/>
              </a:pPr>
              <a:r>
                <a:rPr lang="en-US" sz="900" b="1" kern="0" dirty="0">
                  <a:solidFill>
                    <a:sysClr val="windowText" lastClr="000000"/>
                  </a:solidFill>
                  <a:ea typeface="ＭＳ Ｐゴシック" charset="-128"/>
                </a:rPr>
                <a:t>Primary Research</a:t>
              </a:r>
              <a:endParaRPr lang="en-US" sz="1050" b="1" kern="0" dirty="0">
                <a:solidFill>
                  <a:sysClr val="windowText" lastClr="000000"/>
                </a:solidFill>
                <a:ea typeface="ＭＳ Ｐゴシック" charset="-128"/>
              </a:endParaRPr>
            </a:p>
          </p:txBody>
        </p:sp>
        <p:sp>
          <p:nvSpPr>
            <p:cNvPr id="14" name="Text Box 106"/>
            <p:cNvSpPr txBox="1">
              <a:spLocks noChangeArrowheads="1"/>
            </p:cNvSpPr>
            <p:nvPr/>
          </p:nvSpPr>
          <p:spPr bwMode="auto">
            <a:xfrm>
              <a:off x="8042090" y="3864588"/>
              <a:ext cx="1049157" cy="327782"/>
            </a:xfrm>
            <a:prstGeom prst="rect">
              <a:avLst/>
            </a:prstGeom>
            <a:noFill/>
            <a:ln w="12700" algn="ctr">
              <a:noFill/>
              <a:miter lim="800000"/>
              <a:headEnd/>
              <a:tailEnd type="none" w="lg" len="lg"/>
            </a:ln>
          </p:spPr>
          <p:txBody>
            <a:bodyPr wrap="square">
              <a:spAutoFit/>
            </a:bodyPr>
            <a:lstStyle/>
            <a:p>
              <a:pPr algn="ctr">
                <a:lnSpc>
                  <a:spcPct val="85000"/>
                </a:lnSpc>
                <a:spcBef>
                  <a:spcPct val="50000"/>
                </a:spcBef>
                <a:defRPr/>
              </a:pPr>
              <a:r>
                <a:rPr lang="en-US" sz="900" b="1" kern="0" dirty="0">
                  <a:solidFill>
                    <a:sysClr val="windowText" lastClr="000000"/>
                  </a:solidFill>
                  <a:ea typeface="ＭＳ Ｐゴシック" charset="-128"/>
                </a:rPr>
                <a:t>Company Analysis</a:t>
              </a:r>
            </a:p>
          </p:txBody>
        </p:sp>
        <p:sp>
          <p:nvSpPr>
            <p:cNvPr id="15" name="Text Box 106"/>
            <p:cNvSpPr txBox="1">
              <a:spLocks noChangeArrowheads="1"/>
            </p:cNvSpPr>
            <p:nvPr/>
          </p:nvSpPr>
          <p:spPr bwMode="auto">
            <a:xfrm>
              <a:off x="9606135" y="3325389"/>
              <a:ext cx="853607" cy="327782"/>
            </a:xfrm>
            <a:prstGeom prst="rect">
              <a:avLst/>
            </a:prstGeom>
            <a:noFill/>
            <a:ln w="12700" algn="ctr">
              <a:noFill/>
              <a:miter lim="800000"/>
              <a:headEnd/>
              <a:tailEnd type="none" w="lg" len="lg"/>
            </a:ln>
          </p:spPr>
          <p:txBody>
            <a:bodyPr wrap="square">
              <a:spAutoFit/>
            </a:bodyPr>
            <a:lstStyle/>
            <a:p>
              <a:pPr algn="ctr">
                <a:lnSpc>
                  <a:spcPct val="85000"/>
                </a:lnSpc>
                <a:spcBef>
                  <a:spcPct val="50000"/>
                </a:spcBef>
                <a:defRPr/>
              </a:pPr>
              <a:r>
                <a:rPr lang="en-US" sz="900" b="1" kern="0" dirty="0">
                  <a:solidFill>
                    <a:sysClr val="windowText" lastClr="000000"/>
                  </a:solidFill>
                  <a:ea typeface="ＭＳ Ｐゴシック" charset="-128"/>
                </a:rPr>
                <a:t>Desk Research</a:t>
              </a:r>
            </a:p>
          </p:txBody>
        </p:sp>
        <p:sp>
          <p:nvSpPr>
            <p:cNvPr id="16" name="Oval 47"/>
            <p:cNvSpPr>
              <a:spLocks noChangeArrowheads="1"/>
            </p:cNvSpPr>
            <p:nvPr/>
          </p:nvSpPr>
          <p:spPr bwMode="auto">
            <a:xfrm>
              <a:off x="8823670" y="3032956"/>
              <a:ext cx="615461" cy="607079"/>
            </a:xfrm>
            <a:prstGeom prst="ellipse">
              <a:avLst/>
            </a:prstGeom>
            <a:gradFill rotWithShape="1">
              <a:gsLst>
                <a:gs pos="0">
                  <a:srgbClr val="FFCBB3">
                    <a:satMod val="103000"/>
                    <a:lumMod val="102000"/>
                    <a:tint val="94000"/>
                  </a:srgbClr>
                </a:gs>
                <a:gs pos="50000">
                  <a:srgbClr val="FFCBB3">
                    <a:satMod val="110000"/>
                    <a:lumMod val="100000"/>
                    <a:shade val="100000"/>
                  </a:srgbClr>
                </a:gs>
                <a:gs pos="100000">
                  <a:srgbClr val="FFCBB3">
                    <a:lumMod val="99000"/>
                    <a:satMod val="120000"/>
                    <a:shade val="78000"/>
                  </a:srgbClr>
                </a:gs>
              </a:gsLst>
              <a:lin ang="5400000" scaled="0"/>
            </a:gradFill>
            <a:ln>
              <a:noFill/>
              <a:headEnd/>
              <a:tailEnd/>
            </a:ln>
            <a:effectLst>
              <a:outerShdw blurRad="57150" dist="19050" dir="5400000" algn="ctr" rotWithShape="0">
                <a:srgbClr val="000000">
                  <a:alpha val="63000"/>
                </a:srgbClr>
              </a:outerShdw>
            </a:effectLst>
          </p:spPr>
          <p:txBody>
            <a:bodyPr anchor="ctr"/>
            <a:lstStyle/>
            <a:p>
              <a:pPr algn="ctr" defTabSz="982663">
                <a:lnSpc>
                  <a:spcPct val="85000"/>
                </a:lnSpc>
                <a:defRPr/>
              </a:pPr>
              <a:endParaRPr lang="en-US" sz="1000" kern="0" dirty="0">
                <a:solidFill>
                  <a:srgbClr val="FFFFFF"/>
                </a:solidFill>
              </a:endParaRPr>
            </a:p>
          </p:txBody>
        </p:sp>
        <p:sp>
          <p:nvSpPr>
            <p:cNvPr id="20" name="Text Box 47"/>
            <p:cNvSpPr txBox="1">
              <a:spLocks noChangeArrowheads="1"/>
            </p:cNvSpPr>
            <p:nvPr/>
          </p:nvSpPr>
          <p:spPr bwMode="auto">
            <a:xfrm>
              <a:off x="8700453" y="3235578"/>
              <a:ext cx="888328" cy="246221"/>
            </a:xfrm>
            <a:prstGeom prst="rect">
              <a:avLst/>
            </a:prstGeom>
            <a:noFill/>
            <a:ln w="9525">
              <a:noFill/>
              <a:miter lim="800000"/>
              <a:headEnd/>
              <a:tailEnd/>
            </a:ln>
          </p:spPr>
          <p:txBody>
            <a:bodyPr wrap="none">
              <a:spAutoFit/>
            </a:bodyPr>
            <a:lstStyle/>
            <a:p>
              <a:pPr algn="ctr">
                <a:defRPr/>
              </a:pPr>
              <a:r>
                <a:rPr lang="en-US" sz="1000" b="1" kern="0" dirty="0">
                  <a:solidFill>
                    <a:sysClr val="windowText" lastClr="000000"/>
                  </a:solidFill>
                  <a:ea typeface="ＭＳ Ｐゴシック" charset="-128"/>
                </a:rPr>
                <a:t>SOLUTION</a:t>
              </a:r>
            </a:p>
          </p:txBody>
        </p:sp>
      </p:grpSp>
      <p:grpSp>
        <p:nvGrpSpPr>
          <p:cNvPr id="84" name="Group 83"/>
          <p:cNvGrpSpPr/>
          <p:nvPr/>
        </p:nvGrpSpPr>
        <p:grpSpPr>
          <a:xfrm>
            <a:off x="6248400" y="4758706"/>
            <a:ext cx="1645920" cy="1156295"/>
            <a:chOff x="6018470" y="4744105"/>
            <a:chExt cx="1692239" cy="1156295"/>
          </a:xfrm>
        </p:grpSpPr>
        <p:sp>
          <p:nvSpPr>
            <p:cNvPr id="32" name="TextBox 31"/>
            <p:cNvSpPr txBox="1"/>
            <p:nvPr/>
          </p:nvSpPr>
          <p:spPr>
            <a:xfrm>
              <a:off x="6018765" y="4744105"/>
              <a:ext cx="1691552" cy="253916"/>
            </a:xfrm>
            <a:prstGeom prst="rect">
              <a:avLst/>
            </a:prstGeom>
            <a:solidFill>
              <a:srgbClr val="ABDBFF">
                <a:lumMod val="50000"/>
              </a:srgbClr>
            </a:solidFill>
          </p:spPr>
          <p:txBody>
            <a:bodyPr wrap="square" rtlCol="0">
              <a:spAutoFit/>
            </a:bodyPr>
            <a:lstStyle/>
            <a:p>
              <a:pPr algn="ctr">
                <a:defRPr/>
              </a:pPr>
              <a:r>
                <a:rPr lang="en-GB" sz="1000" b="1" kern="0" dirty="0">
                  <a:solidFill>
                    <a:prstClr val="white"/>
                  </a:solidFill>
                </a:rPr>
                <a:t>Primary Research</a:t>
              </a:r>
              <a:r>
                <a:rPr lang="en-GB" sz="1000" kern="0" baseline="30000" dirty="0">
                  <a:solidFill>
                    <a:prstClr val="white"/>
                  </a:solidFill>
                </a:rPr>
                <a:t> </a:t>
              </a:r>
              <a:endParaRPr lang="en-GB" sz="1000" b="1" kern="0" dirty="0">
                <a:solidFill>
                  <a:srgbClr val="FF0000"/>
                </a:solidFill>
              </a:endParaRPr>
            </a:p>
          </p:txBody>
        </p:sp>
        <p:sp>
          <p:nvSpPr>
            <p:cNvPr id="33" name="TextBox 32"/>
            <p:cNvSpPr txBox="1"/>
            <p:nvPr/>
          </p:nvSpPr>
          <p:spPr>
            <a:xfrm>
              <a:off x="6018470" y="4952414"/>
              <a:ext cx="1692239" cy="947986"/>
            </a:xfrm>
            <a:prstGeom prst="rect">
              <a:avLst/>
            </a:prstGeom>
            <a:solidFill>
              <a:srgbClr val="7DC7FF">
                <a:lumMod val="20000"/>
                <a:lumOff val="80000"/>
              </a:srgbClr>
            </a:solidFill>
          </p:spPr>
          <p:txBody>
            <a:bodyPr wrap="square" rtlCol="0">
              <a:noAutofit/>
            </a:bodyPr>
            <a:lstStyle/>
            <a:p>
              <a:pPr marL="171450" indent="-171450">
                <a:lnSpc>
                  <a:spcPct val="120000"/>
                </a:lnSpc>
                <a:spcBef>
                  <a:spcPct val="5000"/>
                </a:spcBef>
                <a:buClr>
                  <a:prstClr val="black"/>
                </a:buClr>
                <a:buFont typeface="Wingdings" panose="05000000000000000000" pitchFamily="2" charset="2"/>
                <a:buChar char="q"/>
                <a:defRPr/>
              </a:pPr>
              <a:r>
                <a:rPr lang="en-GB" sz="900" b="1" kern="0" dirty="0">
                  <a:solidFill>
                    <a:sysClr val="windowText" lastClr="000000"/>
                  </a:solidFill>
                </a:rPr>
                <a:t>LinkedIn</a:t>
              </a:r>
            </a:p>
            <a:p>
              <a:pPr marL="171450" indent="-171450">
                <a:lnSpc>
                  <a:spcPct val="120000"/>
                </a:lnSpc>
                <a:spcBef>
                  <a:spcPct val="5000"/>
                </a:spcBef>
                <a:buClr>
                  <a:prstClr val="black"/>
                </a:buClr>
                <a:buFont typeface="Wingdings" panose="05000000000000000000" pitchFamily="2" charset="2"/>
                <a:buChar char="q"/>
                <a:defRPr/>
              </a:pPr>
              <a:r>
                <a:rPr lang="en-GB" sz="900" b="1" kern="0" dirty="0">
                  <a:solidFill>
                    <a:sysClr val="windowText" lastClr="000000"/>
                  </a:solidFill>
                </a:rPr>
                <a:t>ZoomInfo</a:t>
              </a:r>
            </a:p>
            <a:p>
              <a:pPr marL="171450" indent="-171450">
                <a:lnSpc>
                  <a:spcPct val="120000"/>
                </a:lnSpc>
                <a:spcBef>
                  <a:spcPct val="5000"/>
                </a:spcBef>
                <a:buClr>
                  <a:prstClr val="black"/>
                </a:buClr>
                <a:buFont typeface="Wingdings" panose="05000000000000000000" pitchFamily="2" charset="2"/>
                <a:buChar char="q"/>
                <a:defRPr/>
              </a:pPr>
              <a:r>
                <a:rPr lang="en-GB" sz="900" b="1" kern="0" dirty="0">
                  <a:solidFill>
                    <a:sysClr val="windowText" lastClr="000000"/>
                  </a:solidFill>
                </a:rPr>
                <a:t>Salesforce</a:t>
              </a:r>
            </a:p>
            <a:p>
              <a:pPr marL="171450" indent="-171450">
                <a:lnSpc>
                  <a:spcPct val="120000"/>
                </a:lnSpc>
                <a:spcBef>
                  <a:spcPct val="5000"/>
                </a:spcBef>
                <a:buClr>
                  <a:prstClr val="black"/>
                </a:buClr>
                <a:buFont typeface="Wingdings" panose="05000000000000000000" pitchFamily="2" charset="2"/>
                <a:buChar char="q"/>
                <a:defRPr/>
              </a:pPr>
              <a:r>
                <a:rPr lang="en-GB" sz="900" b="1" kern="0" dirty="0">
                  <a:solidFill>
                    <a:sysClr val="windowText" lastClr="000000"/>
                  </a:solidFill>
                </a:rPr>
                <a:t>Hoovers</a:t>
              </a:r>
            </a:p>
            <a:p>
              <a:pPr marL="171450" indent="-171450">
                <a:lnSpc>
                  <a:spcPct val="120000"/>
                </a:lnSpc>
                <a:spcBef>
                  <a:spcPct val="5000"/>
                </a:spcBef>
                <a:buClr>
                  <a:prstClr val="black"/>
                </a:buClr>
                <a:buFont typeface="Wingdings" panose="05000000000000000000" pitchFamily="2" charset="2"/>
                <a:buChar char="q"/>
                <a:defRPr/>
              </a:pPr>
              <a:r>
                <a:rPr lang="en-GB" sz="900" b="1" kern="0" dirty="0">
                  <a:solidFill>
                    <a:sysClr val="windowText" lastClr="000000"/>
                  </a:solidFill>
                </a:rPr>
                <a:t>OneSource</a:t>
              </a:r>
            </a:p>
          </p:txBody>
        </p:sp>
      </p:grpSp>
      <p:grpSp>
        <p:nvGrpSpPr>
          <p:cNvPr id="3" name="Group 2"/>
          <p:cNvGrpSpPr/>
          <p:nvPr/>
        </p:nvGrpSpPr>
        <p:grpSpPr>
          <a:xfrm>
            <a:off x="10393680" y="4756700"/>
            <a:ext cx="1645920" cy="1160307"/>
            <a:chOff x="10241896" y="4753212"/>
            <a:chExt cx="1691552" cy="1160307"/>
          </a:xfrm>
        </p:grpSpPr>
        <p:sp>
          <p:nvSpPr>
            <p:cNvPr id="34" name="TextBox 33"/>
            <p:cNvSpPr txBox="1"/>
            <p:nvPr/>
          </p:nvSpPr>
          <p:spPr>
            <a:xfrm>
              <a:off x="10241896" y="4753212"/>
              <a:ext cx="1691552" cy="253916"/>
            </a:xfrm>
            <a:prstGeom prst="rect">
              <a:avLst/>
            </a:prstGeom>
            <a:solidFill>
              <a:srgbClr val="ABDBFF">
                <a:lumMod val="50000"/>
              </a:srgbClr>
            </a:solidFill>
          </p:spPr>
          <p:txBody>
            <a:bodyPr wrap="square" rtlCol="0">
              <a:spAutoFit/>
            </a:bodyPr>
            <a:lstStyle/>
            <a:p>
              <a:pPr algn="ctr">
                <a:defRPr/>
              </a:pPr>
              <a:r>
                <a:rPr lang="en-GB" sz="1000" b="1" kern="0" dirty="0">
                  <a:solidFill>
                    <a:prstClr val="white"/>
                  </a:solidFill>
                </a:rPr>
                <a:t>Paid Publications</a:t>
              </a:r>
              <a:endParaRPr lang="en-GB" sz="1000" kern="0" baseline="30000" dirty="0">
                <a:solidFill>
                  <a:prstClr val="white"/>
                </a:solidFill>
              </a:endParaRPr>
            </a:p>
          </p:txBody>
        </p:sp>
        <p:sp>
          <p:nvSpPr>
            <p:cNvPr id="35" name="TextBox 34"/>
            <p:cNvSpPr txBox="1"/>
            <p:nvPr/>
          </p:nvSpPr>
          <p:spPr>
            <a:xfrm>
              <a:off x="10241896" y="4965533"/>
              <a:ext cx="1691552" cy="947986"/>
            </a:xfrm>
            <a:prstGeom prst="rect">
              <a:avLst/>
            </a:prstGeom>
            <a:solidFill>
              <a:srgbClr val="7DC7FF">
                <a:lumMod val="20000"/>
                <a:lumOff val="80000"/>
              </a:srgbClr>
            </a:solidFill>
          </p:spPr>
          <p:txBody>
            <a:bodyPr wrap="square" rtlCol="0">
              <a:noAutofit/>
            </a:bodyPr>
            <a:lstStyle/>
            <a:p>
              <a:pPr marL="171450" indent="-171450">
                <a:lnSpc>
                  <a:spcPct val="120000"/>
                </a:lnSpc>
                <a:spcBef>
                  <a:spcPct val="5000"/>
                </a:spcBef>
                <a:buClr>
                  <a:prstClr val="black"/>
                </a:buClr>
                <a:buFont typeface="Wingdings" panose="05000000000000000000" pitchFamily="2" charset="2"/>
                <a:buChar char="q"/>
                <a:defRPr/>
              </a:pPr>
              <a:r>
                <a:rPr lang="en-GB" sz="900" b="1" kern="0" dirty="0">
                  <a:solidFill>
                    <a:sysClr val="windowText" lastClr="000000"/>
                  </a:solidFill>
                </a:rPr>
                <a:t>Factiva</a:t>
              </a:r>
            </a:p>
            <a:p>
              <a:pPr marL="171450" indent="-171450">
                <a:lnSpc>
                  <a:spcPct val="120000"/>
                </a:lnSpc>
                <a:spcBef>
                  <a:spcPct val="5000"/>
                </a:spcBef>
                <a:buClr>
                  <a:prstClr val="black"/>
                </a:buClr>
                <a:buFont typeface="Wingdings" panose="05000000000000000000" pitchFamily="2" charset="2"/>
                <a:buChar char="q"/>
                <a:defRPr/>
              </a:pPr>
              <a:r>
                <a:rPr lang="en-GB" sz="900" b="1" kern="0" dirty="0">
                  <a:solidFill>
                    <a:sysClr val="windowText" lastClr="000000"/>
                  </a:solidFill>
                </a:rPr>
                <a:t>GBI</a:t>
              </a:r>
            </a:p>
            <a:p>
              <a:pPr marL="171450" indent="-171450">
                <a:lnSpc>
                  <a:spcPct val="120000"/>
                </a:lnSpc>
                <a:spcBef>
                  <a:spcPct val="5000"/>
                </a:spcBef>
                <a:buClr>
                  <a:prstClr val="black"/>
                </a:buClr>
                <a:buFont typeface="Wingdings" panose="05000000000000000000" pitchFamily="2" charset="2"/>
                <a:buChar char="q"/>
                <a:defRPr/>
              </a:pPr>
              <a:r>
                <a:rPr lang="en-GB" sz="900" b="1" kern="0" dirty="0">
                  <a:solidFill>
                    <a:sysClr val="windowText" lastClr="000000"/>
                  </a:solidFill>
                </a:rPr>
                <a:t>Genios</a:t>
              </a:r>
            </a:p>
            <a:p>
              <a:pPr marL="171450" indent="-171450">
                <a:lnSpc>
                  <a:spcPct val="120000"/>
                </a:lnSpc>
                <a:spcBef>
                  <a:spcPct val="5000"/>
                </a:spcBef>
                <a:buClr>
                  <a:prstClr val="black"/>
                </a:buClr>
                <a:buFont typeface="Wingdings" panose="05000000000000000000" pitchFamily="2" charset="2"/>
                <a:buChar char="q"/>
                <a:defRPr/>
              </a:pPr>
              <a:r>
                <a:rPr lang="en-GB" sz="900" b="1" kern="0" dirty="0" err="1">
                  <a:solidFill>
                    <a:sysClr val="windowText" lastClr="000000"/>
                  </a:solidFill>
                </a:rPr>
                <a:t>MeltWater</a:t>
              </a:r>
              <a:endParaRPr lang="en-GB" sz="900" b="1" kern="0" dirty="0">
                <a:solidFill>
                  <a:sysClr val="windowText" lastClr="000000"/>
                </a:solidFill>
              </a:endParaRPr>
            </a:p>
          </p:txBody>
        </p:sp>
      </p:grpSp>
      <p:grpSp>
        <p:nvGrpSpPr>
          <p:cNvPr id="83" name="Group 82"/>
          <p:cNvGrpSpPr/>
          <p:nvPr/>
        </p:nvGrpSpPr>
        <p:grpSpPr>
          <a:xfrm>
            <a:off x="8321040" y="4748829"/>
            <a:ext cx="1645920" cy="1176048"/>
            <a:chOff x="7720345" y="4736267"/>
            <a:chExt cx="1691552" cy="1176048"/>
          </a:xfrm>
        </p:grpSpPr>
        <p:sp>
          <p:nvSpPr>
            <p:cNvPr id="36" name="TextBox 35"/>
            <p:cNvSpPr txBox="1"/>
            <p:nvPr/>
          </p:nvSpPr>
          <p:spPr>
            <a:xfrm>
              <a:off x="7720345" y="4736267"/>
              <a:ext cx="1691552" cy="253916"/>
            </a:xfrm>
            <a:prstGeom prst="rect">
              <a:avLst/>
            </a:prstGeom>
            <a:solidFill>
              <a:srgbClr val="ABDBFF">
                <a:lumMod val="50000"/>
              </a:srgbClr>
            </a:solidFill>
          </p:spPr>
          <p:txBody>
            <a:bodyPr wrap="square" rtlCol="0">
              <a:spAutoFit/>
            </a:bodyPr>
            <a:lstStyle/>
            <a:p>
              <a:pPr algn="ctr">
                <a:defRPr/>
              </a:pPr>
              <a:r>
                <a:rPr lang="en-GB" sz="1000" b="1" kern="0" dirty="0">
                  <a:solidFill>
                    <a:prstClr val="white"/>
                  </a:solidFill>
                </a:rPr>
                <a:t>Secondary Research</a:t>
              </a:r>
              <a:r>
                <a:rPr lang="en-GB" sz="1000" kern="0" baseline="30000" dirty="0">
                  <a:solidFill>
                    <a:prstClr val="white"/>
                  </a:solidFill>
                </a:rPr>
                <a:t> </a:t>
              </a:r>
              <a:endParaRPr lang="en-GB" sz="1000" b="1" kern="0" dirty="0">
                <a:solidFill>
                  <a:prstClr val="white"/>
                </a:solidFill>
              </a:endParaRPr>
            </a:p>
          </p:txBody>
        </p:sp>
        <p:sp>
          <p:nvSpPr>
            <p:cNvPr id="37" name="TextBox 36"/>
            <p:cNvSpPr txBox="1"/>
            <p:nvPr/>
          </p:nvSpPr>
          <p:spPr>
            <a:xfrm>
              <a:off x="7720345" y="4964329"/>
              <a:ext cx="1691552" cy="947986"/>
            </a:xfrm>
            <a:prstGeom prst="rect">
              <a:avLst/>
            </a:prstGeom>
            <a:solidFill>
              <a:srgbClr val="7DC7FF">
                <a:lumMod val="20000"/>
                <a:lumOff val="80000"/>
              </a:srgbClr>
            </a:solidFill>
          </p:spPr>
          <p:txBody>
            <a:bodyPr wrap="square" rtlCol="0">
              <a:noAutofit/>
            </a:bodyPr>
            <a:lstStyle/>
            <a:p>
              <a:pPr marL="171450" indent="-171450">
                <a:lnSpc>
                  <a:spcPct val="120000"/>
                </a:lnSpc>
                <a:spcBef>
                  <a:spcPct val="5000"/>
                </a:spcBef>
                <a:buClr>
                  <a:prstClr val="black"/>
                </a:buClr>
                <a:buFont typeface="Wingdings" panose="05000000000000000000" pitchFamily="2" charset="2"/>
                <a:buChar char="q"/>
                <a:defRPr/>
              </a:pPr>
              <a:r>
                <a:rPr lang="en-GB" sz="900" b="1" kern="0" dirty="0">
                  <a:solidFill>
                    <a:sysClr val="windowText" lastClr="000000"/>
                  </a:solidFill>
                </a:rPr>
                <a:t>Company Websites</a:t>
              </a:r>
            </a:p>
            <a:p>
              <a:pPr marL="171450" indent="-171450">
                <a:lnSpc>
                  <a:spcPct val="120000"/>
                </a:lnSpc>
                <a:spcBef>
                  <a:spcPct val="5000"/>
                </a:spcBef>
                <a:buClr>
                  <a:prstClr val="black"/>
                </a:buClr>
                <a:buFont typeface="Wingdings" panose="05000000000000000000" pitchFamily="2" charset="2"/>
                <a:buChar char="q"/>
                <a:defRPr/>
              </a:pPr>
              <a:r>
                <a:rPr lang="en-GB" sz="900" b="1" kern="0" dirty="0">
                  <a:solidFill>
                    <a:sysClr val="windowText" lastClr="000000"/>
                  </a:solidFill>
                </a:rPr>
                <a:t>Company Annual Reports</a:t>
              </a:r>
            </a:p>
            <a:p>
              <a:pPr marL="171450" indent="-171450">
                <a:lnSpc>
                  <a:spcPct val="120000"/>
                </a:lnSpc>
                <a:spcBef>
                  <a:spcPct val="5000"/>
                </a:spcBef>
                <a:buClr>
                  <a:prstClr val="black"/>
                </a:buClr>
                <a:buFont typeface="Wingdings" panose="05000000000000000000" pitchFamily="2" charset="2"/>
                <a:buChar char="q"/>
                <a:defRPr/>
              </a:pPr>
              <a:r>
                <a:rPr lang="en-GB" sz="900" b="1" kern="0" dirty="0">
                  <a:solidFill>
                    <a:sysClr val="windowText" lastClr="000000"/>
                  </a:solidFill>
                </a:rPr>
                <a:t>White Papers</a:t>
              </a:r>
            </a:p>
            <a:p>
              <a:pPr marL="171450" indent="-171450">
                <a:lnSpc>
                  <a:spcPct val="120000"/>
                </a:lnSpc>
                <a:spcBef>
                  <a:spcPct val="5000"/>
                </a:spcBef>
                <a:buClr>
                  <a:prstClr val="black"/>
                </a:buClr>
                <a:buFont typeface="Wingdings" panose="05000000000000000000" pitchFamily="2" charset="2"/>
                <a:buChar char="q"/>
                <a:defRPr/>
              </a:pPr>
              <a:r>
                <a:rPr lang="en-GB" sz="900" b="1" kern="0" dirty="0">
                  <a:solidFill>
                    <a:sysClr val="windowText" lastClr="000000"/>
                  </a:solidFill>
                </a:rPr>
                <a:t>Financial Reports</a:t>
              </a:r>
            </a:p>
            <a:p>
              <a:pPr marL="171450" indent="-171450">
                <a:lnSpc>
                  <a:spcPct val="120000"/>
                </a:lnSpc>
                <a:spcBef>
                  <a:spcPct val="5000"/>
                </a:spcBef>
                <a:buClr>
                  <a:prstClr val="black"/>
                </a:buClr>
                <a:buFont typeface="Wingdings" panose="05000000000000000000" pitchFamily="2" charset="2"/>
                <a:buChar char="q"/>
                <a:defRPr/>
              </a:pPr>
              <a:r>
                <a:rPr lang="en-GB" sz="900" b="1" kern="0" dirty="0">
                  <a:solidFill>
                    <a:sysClr val="windowText" lastClr="000000"/>
                  </a:solidFill>
                </a:rPr>
                <a:t>NMMA</a:t>
              </a:r>
            </a:p>
          </p:txBody>
        </p:sp>
      </p:grpSp>
      <p:graphicFrame>
        <p:nvGraphicFramePr>
          <p:cNvPr id="39" name="Group 6"/>
          <p:cNvGraphicFramePr>
            <a:graphicFrameLocks/>
          </p:cNvGraphicFramePr>
          <p:nvPr>
            <p:extLst>
              <p:ext uri="{D42A27DB-BD31-4B8C-83A1-F6EECF244321}">
                <p14:modId xmlns:p14="http://schemas.microsoft.com/office/powerpoint/2010/main" val="1735776899"/>
              </p:ext>
            </p:extLst>
          </p:nvPr>
        </p:nvGraphicFramePr>
        <p:xfrm>
          <a:off x="152400" y="1132691"/>
          <a:ext cx="5791200" cy="5026777"/>
        </p:xfrm>
        <a:graphic>
          <a:graphicData uri="http://schemas.openxmlformats.org/drawingml/2006/table">
            <a:tbl>
              <a:tblPr firstRow="1" firstCol="1"/>
              <a:tblGrid>
                <a:gridCol w="2895600">
                  <a:extLst>
                    <a:ext uri="{9D8B030D-6E8A-4147-A177-3AD203B41FA5}">
                      <a16:colId xmlns:a16="http://schemas.microsoft.com/office/drawing/2014/main" val="20000"/>
                    </a:ext>
                  </a:extLst>
                </a:gridCol>
                <a:gridCol w="2895600">
                  <a:extLst>
                    <a:ext uri="{9D8B030D-6E8A-4147-A177-3AD203B41FA5}">
                      <a16:colId xmlns:a16="http://schemas.microsoft.com/office/drawing/2014/main" val="20001"/>
                    </a:ext>
                  </a:extLst>
                </a:gridCol>
              </a:tblGrid>
              <a:tr h="520237">
                <a:tc gridSpan="2">
                  <a:txBody>
                    <a:bodyPr/>
                    <a:lstStyle>
                      <a:lvl1pPr marL="0" algn="l" defTabSz="914400" rtl="0" eaLnBrk="1" latinLnBrk="0" hangingPunct="1">
                        <a:defRPr sz="1800" b="1" kern="1200">
                          <a:solidFill>
                            <a:schemeClr val="lt1"/>
                          </a:solidFill>
                          <a:latin typeface="Calibri" panose="020F0502020204030204"/>
                          <a:ea typeface=""/>
                          <a:cs typeface=""/>
                        </a:defRPr>
                      </a:lvl1pPr>
                      <a:lvl2pPr marL="457200" algn="l" defTabSz="914400" rtl="0" eaLnBrk="1" latinLnBrk="0" hangingPunct="1">
                        <a:defRPr sz="1800" b="1" kern="1200">
                          <a:solidFill>
                            <a:schemeClr val="lt1"/>
                          </a:solidFill>
                          <a:latin typeface="Calibri" panose="020F0502020204030204"/>
                          <a:ea typeface=""/>
                          <a:cs typeface=""/>
                        </a:defRPr>
                      </a:lvl2pPr>
                      <a:lvl3pPr marL="914400" algn="l" defTabSz="914400" rtl="0" eaLnBrk="1" latinLnBrk="0" hangingPunct="1">
                        <a:defRPr sz="1800" b="1" kern="1200">
                          <a:solidFill>
                            <a:schemeClr val="lt1"/>
                          </a:solidFill>
                          <a:latin typeface="Calibri" panose="020F0502020204030204"/>
                          <a:ea typeface=""/>
                          <a:cs typeface=""/>
                        </a:defRPr>
                      </a:lvl3pPr>
                      <a:lvl4pPr marL="1371600" algn="l" defTabSz="914400" rtl="0" eaLnBrk="1" latinLnBrk="0" hangingPunct="1">
                        <a:defRPr sz="1800" b="1" kern="1200">
                          <a:solidFill>
                            <a:schemeClr val="lt1"/>
                          </a:solidFill>
                          <a:latin typeface="Calibri" panose="020F0502020204030204"/>
                          <a:ea typeface=""/>
                          <a:cs typeface=""/>
                        </a:defRPr>
                      </a:lvl4pPr>
                      <a:lvl5pPr marL="1828800" algn="l" defTabSz="914400" rtl="0" eaLnBrk="1" latinLnBrk="0" hangingPunct="1">
                        <a:defRPr sz="1800" b="1" kern="1200">
                          <a:solidFill>
                            <a:schemeClr val="lt1"/>
                          </a:solidFill>
                          <a:latin typeface="Calibri" panose="020F0502020204030204"/>
                          <a:ea typeface=""/>
                          <a:cs typeface=""/>
                        </a:defRPr>
                      </a:lvl5pPr>
                      <a:lvl6pPr marL="2286000" algn="l" defTabSz="914400" rtl="0" eaLnBrk="1" latinLnBrk="0" hangingPunct="1">
                        <a:defRPr sz="1800" b="1" kern="1200">
                          <a:solidFill>
                            <a:schemeClr val="lt1"/>
                          </a:solidFill>
                          <a:latin typeface="Calibri" panose="020F0502020204030204"/>
                          <a:ea typeface=""/>
                          <a:cs typeface=""/>
                        </a:defRPr>
                      </a:lvl6pPr>
                      <a:lvl7pPr marL="2743200" algn="l" defTabSz="914400" rtl="0" eaLnBrk="1" latinLnBrk="0" hangingPunct="1">
                        <a:defRPr sz="1800" b="1" kern="1200">
                          <a:solidFill>
                            <a:schemeClr val="lt1"/>
                          </a:solidFill>
                          <a:latin typeface="Calibri" panose="020F0502020204030204"/>
                          <a:ea typeface=""/>
                          <a:cs typeface=""/>
                        </a:defRPr>
                      </a:lvl7pPr>
                      <a:lvl8pPr marL="3200400" algn="l" defTabSz="914400" rtl="0" eaLnBrk="1" latinLnBrk="0" hangingPunct="1">
                        <a:defRPr sz="1800" b="1" kern="1200">
                          <a:solidFill>
                            <a:schemeClr val="lt1"/>
                          </a:solidFill>
                          <a:latin typeface="Calibri" panose="020F0502020204030204"/>
                          <a:ea typeface=""/>
                          <a:cs typeface=""/>
                        </a:defRPr>
                      </a:lvl8pPr>
                      <a:lvl9pPr marL="3657600" algn="l" defTabSz="914400" rtl="0" eaLnBrk="1" latinLnBrk="0" hangingPunct="1">
                        <a:defRPr sz="1800" b="1" kern="1200">
                          <a:solidFill>
                            <a:schemeClr val="lt1"/>
                          </a:solidFill>
                          <a:latin typeface="Calibri" panose="020F0502020204030204"/>
                          <a:ea typeface=""/>
                          <a:cs typeface=""/>
                        </a:defRPr>
                      </a:lvl9pPr>
                    </a:lstStyle>
                    <a:p>
                      <a:pPr marL="0" marR="0" lvl="0" indent="0" algn="ctr" defTabSz="914400" rtl="0" eaLnBrk="1" fontAlgn="b"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latin typeface="Arial" charset="0"/>
                        </a:rPr>
                        <a:t>SYSTEMATIC RESEARCH APPROACH</a:t>
                      </a:r>
                    </a:p>
                  </a:txBody>
                  <a:tcPr anchor="ctr" horzOverflow="overflow">
                    <a:lnL w="6350" cap="flat" cmpd="sng" algn="ctr">
                      <a:solidFill>
                        <a:srgbClr val="0070C0"/>
                      </a:solidFill>
                      <a:prstDash val="solid"/>
                      <a:round/>
                      <a:headEnd type="none" w="med" len="med"/>
                      <a:tailEnd type="none" w="med" len="med"/>
                    </a:lnL>
                    <a:lnR w="6350" cap="flat" cmpd="sng" algn="ctr">
                      <a:solidFill>
                        <a:srgbClr val="0070C0"/>
                      </a:solidFill>
                      <a:prstDash val="solid"/>
                      <a:round/>
                      <a:headEnd type="none" w="med" len="med"/>
                      <a:tailEnd type="none" w="med" len="med"/>
                    </a:lnR>
                    <a:lnT w="6350" cap="flat" cmpd="sng" algn="ctr">
                      <a:solidFill>
                        <a:srgbClr val="0070C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7DC7FF">
                        <a:lumMod val="50000"/>
                      </a:srgbClr>
                    </a:solidFill>
                  </a:tcPr>
                </a:tc>
                <a:tc hMerge="1">
                  <a:txBody>
                    <a:bodyPr/>
                    <a:lstStyle/>
                    <a:p>
                      <a:pPr marL="0" marR="0" lvl="0" indent="0" algn="ctr" defTabSz="914400" rtl="0" eaLnBrk="1" fontAlgn="b" latinLnBrk="0" hangingPunct="1">
                        <a:lnSpc>
                          <a:spcPct val="100000"/>
                        </a:lnSpc>
                        <a:spcBef>
                          <a:spcPct val="0"/>
                        </a:spcBef>
                        <a:spcAft>
                          <a:spcPct val="0"/>
                        </a:spcAft>
                        <a:buClrTx/>
                        <a:buSzTx/>
                        <a:buFontTx/>
                        <a:buNone/>
                        <a:tabLst/>
                      </a:pPr>
                      <a:endParaRPr kumimoji="0" lang="en-US" sz="800" b="1" i="0" u="none" strike="noStrike" cap="none" normalizeH="0" baseline="0" dirty="0">
                        <a:ln>
                          <a:noFill/>
                        </a:ln>
                        <a:solidFill>
                          <a:schemeClr val="bg1"/>
                        </a:solidFill>
                        <a:effectLst/>
                        <a:latin typeface="Arial" charset="0"/>
                      </a:endParaRPr>
                    </a:p>
                  </a:txBody>
                  <a:tcPr anchor="ctr" horzOverflow="overflow"/>
                </a:tc>
                <a:extLst>
                  <a:ext uri="{0D108BD9-81ED-4DB2-BD59-A6C34878D82A}">
                    <a16:rowId xmlns:a16="http://schemas.microsoft.com/office/drawing/2014/main" val="10000"/>
                  </a:ext>
                </a:extLst>
              </a:tr>
              <a:tr h="698997">
                <a:tc>
                  <a:txBody>
                    <a:bodyPr/>
                    <a:lstStyle>
                      <a:lvl1pPr marL="0" algn="l" defTabSz="914400" rtl="0" eaLnBrk="1" latinLnBrk="0" hangingPunct="1">
                        <a:defRPr sz="1800" b="1" kern="1200">
                          <a:solidFill>
                            <a:schemeClr val="dk1"/>
                          </a:solidFill>
                          <a:latin typeface="Calibri" panose="020F0502020204030204"/>
                          <a:ea typeface=""/>
                          <a:cs typeface=""/>
                        </a:defRPr>
                      </a:lvl1pPr>
                      <a:lvl2pPr marL="457200" algn="l" defTabSz="914400" rtl="0" eaLnBrk="1" latinLnBrk="0" hangingPunct="1">
                        <a:defRPr sz="1800" b="1" kern="1200">
                          <a:solidFill>
                            <a:schemeClr val="dk1"/>
                          </a:solidFill>
                          <a:latin typeface="Calibri" panose="020F0502020204030204"/>
                          <a:ea typeface=""/>
                          <a:cs typeface=""/>
                        </a:defRPr>
                      </a:lvl2pPr>
                      <a:lvl3pPr marL="914400" algn="l" defTabSz="914400" rtl="0" eaLnBrk="1" latinLnBrk="0" hangingPunct="1">
                        <a:defRPr sz="1800" b="1" kern="1200">
                          <a:solidFill>
                            <a:schemeClr val="dk1"/>
                          </a:solidFill>
                          <a:latin typeface="Calibri" panose="020F0502020204030204"/>
                          <a:ea typeface=""/>
                          <a:cs typeface=""/>
                        </a:defRPr>
                      </a:lvl3pPr>
                      <a:lvl4pPr marL="1371600" algn="l" defTabSz="914400" rtl="0" eaLnBrk="1" latinLnBrk="0" hangingPunct="1">
                        <a:defRPr sz="1800" b="1" kern="1200">
                          <a:solidFill>
                            <a:schemeClr val="dk1"/>
                          </a:solidFill>
                          <a:latin typeface="Calibri" panose="020F0502020204030204"/>
                          <a:ea typeface=""/>
                          <a:cs typeface=""/>
                        </a:defRPr>
                      </a:lvl4pPr>
                      <a:lvl5pPr marL="1828800" algn="l" defTabSz="914400" rtl="0" eaLnBrk="1" latinLnBrk="0" hangingPunct="1">
                        <a:defRPr sz="1800" b="1" kern="1200">
                          <a:solidFill>
                            <a:schemeClr val="dk1"/>
                          </a:solidFill>
                          <a:latin typeface="Calibri" panose="020F0502020204030204"/>
                          <a:ea typeface=""/>
                          <a:cs typeface=""/>
                        </a:defRPr>
                      </a:lvl5pPr>
                      <a:lvl6pPr marL="2286000" algn="l" defTabSz="914400" rtl="0" eaLnBrk="1" latinLnBrk="0" hangingPunct="1">
                        <a:defRPr sz="1800" b="1" kern="1200">
                          <a:solidFill>
                            <a:schemeClr val="dk1"/>
                          </a:solidFill>
                          <a:latin typeface="Calibri" panose="020F0502020204030204"/>
                          <a:ea typeface=""/>
                          <a:cs typeface=""/>
                        </a:defRPr>
                      </a:lvl6pPr>
                      <a:lvl7pPr marL="2743200" algn="l" defTabSz="914400" rtl="0" eaLnBrk="1" latinLnBrk="0" hangingPunct="1">
                        <a:defRPr sz="1800" b="1" kern="1200">
                          <a:solidFill>
                            <a:schemeClr val="dk1"/>
                          </a:solidFill>
                          <a:latin typeface="Calibri" panose="020F0502020204030204"/>
                          <a:ea typeface=""/>
                          <a:cs typeface=""/>
                        </a:defRPr>
                      </a:lvl7pPr>
                      <a:lvl8pPr marL="3200400" algn="l" defTabSz="914400" rtl="0" eaLnBrk="1" latinLnBrk="0" hangingPunct="1">
                        <a:defRPr sz="1800" b="1" kern="1200">
                          <a:solidFill>
                            <a:schemeClr val="dk1"/>
                          </a:solidFill>
                          <a:latin typeface="Calibri" panose="020F0502020204030204"/>
                          <a:ea typeface=""/>
                          <a:cs typeface=""/>
                        </a:defRPr>
                      </a:lvl8pPr>
                      <a:lvl9pPr marL="3657600" algn="l" defTabSz="914400" rtl="0" eaLnBrk="1" latinLnBrk="0" hangingPunct="1">
                        <a:defRPr sz="1800" b="1" kern="1200">
                          <a:solidFill>
                            <a:schemeClr val="dk1"/>
                          </a:solidFill>
                          <a:latin typeface="Calibri" panose="020F0502020204030204"/>
                          <a:ea typeface=""/>
                          <a:cs typeface=""/>
                        </a:defRPr>
                      </a:lvl9pPr>
                    </a:lstStyle>
                    <a:p>
                      <a:pPr marL="0" marR="0" lvl="0" indent="0" algn="ctr" defTabSz="914400" rtl="0" eaLnBrk="0" fontAlgn="base" latinLnBrk="0" hangingPunct="0">
                        <a:lnSpc>
                          <a:spcPct val="100000"/>
                        </a:lnSpc>
                        <a:spcBef>
                          <a:spcPct val="0"/>
                        </a:spcBef>
                        <a:spcAft>
                          <a:spcPct val="50000"/>
                        </a:spcAft>
                        <a:buClr>
                          <a:schemeClr val="accent2"/>
                        </a:buClr>
                        <a:buSzTx/>
                        <a:buFont typeface="Wingdings" pitchFamily="2" charset="2"/>
                        <a:buNone/>
                        <a:tabLst/>
                      </a:pPr>
                      <a:endParaRPr kumimoji="0" lang="en-US" sz="700" b="1" i="0" u="none" strike="noStrike" cap="none" normalizeH="0" baseline="0" dirty="0">
                        <a:ln>
                          <a:solidFill>
                            <a:schemeClr val="tx1"/>
                          </a:solidFill>
                          <a:prstDash val="lgDash"/>
                        </a:ln>
                        <a:solidFill>
                          <a:schemeClr val="tx1"/>
                        </a:solidFill>
                        <a:effectLst/>
                        <a:latin typeface="Arial" charset="0"/>
                      </a:endParaRPr>
                    </a:p>
                  </a:txBody>
                  <a:tcPr anchor="ctr" horzOverflow="overflow">
                    <a:lnL w="6350" cap="flat" cmpd="sng" algn="ctr">
                      <a:solidFill>
                        <a:srgbClr val="0070C0"/>
                      </a:solidFill>
                      <a:prstDash val="solid"/>
                      <a:round/>
                      <a:headEnd type="none" w="med" len="med"/>
                      <a:tailEnd type="none" w="med" len="med"/>
                    </a:lnL>
                    <a:lnR>
                      <a:noFill/>
                    </a:lnR>
                    <a:lnT w="12700" cmpd="sng">
                      <a:noFill/>
                    </a:lnT>
                    <a:lnB w="9525" cap="flat" cmpd="sng" algn="ctr">
                      <a:solidFill>
                        <a:srgbClr val="0070C0"/>
                      </a:solidFill>
                      <a:prstDash val="dash"/>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marR="0" lvl="0" indent="0" algn="l" defTabSz="914400" rtl="0" eaLnBrk="0" fontAlgn="base" latinLnBrk="0" hangingPunct="0">
                        <a:lnSpc>
                          <a:spcPct val="100000"/>
                        </a:lnSpc>
                        <a:spcBef>
                          <a:spcPct val="0"/>
                        </a:spcBef>
                        <a:spcAft>
                          <a:spcPct val="50000"/>
                        </a:spcAft>
                        <a:buClr>
                          <a:schemeClr val="accent2"/>
                        </a:buClr>
                        <a:buSzTx/>
                        <a:buFont typeface="Wingdings" pitchFamily="2" charset="2"/>
                        <a:buNone/>
                        <a:tabLst/>
                      </a:pPr>
                      <a:r>
                        <a:rPr kumimoji="0" lang="en-US" sz="800" b="1" i="0" u="none" strike="noStrike" cap="none" normalizeH="0" baseline="0" dirty="0">
                          <a:ln>
                            <a:noFill/>
                          </a:ln>
                          <a:solidFill>
                            <a:srgbClr val="002060"/>
                          </a:solidFill>
                          <a:effectLst/>
                          <a:latin typeface="Arial" charset="0"/>
                        </a:rPr>
                        <a:t>In-depth secondary research is used to arrive at overall market size, top industry players, top products, industry associations, etc.</a:t>
                      </a:r>
                    </a:p>
                  </a:txBody>
                  <a:tcPr anchor="ctr" horzOverflow="overflow">
                    <a:lnL>
                      <a:noFill/>
                    </a:lnL>
                    <a:lnR w="6350" cap="flat" cmpd="sng" algn="ctr">
                      <a:solidFill>
                        <a:srgbClr val="0070C0"/>
                      </a:solidFill>
                      <a:prstDash val="solid"/>
                      <a:round/>
                      <a:headEnd type="none" w="med" len="med"/>
                      <a:tailEnd type="none" w="med" len="med"/>
                    </a:lnR>
                    <a:lnT w="12700" cmpd="sng">
                      <a:solidFill>
                        <a:srgbClr val="7DC7FF"/>
                      </a:solidFill>
                    </a:lnT>
                    <a:lnB w="9525" cap="flat" cmpd="sng" algn="ctr">
                      <a:solidFill>
                        <a:srgbClr val="0070C0"/>
                      </a:solidFill>
                      <a:prstDash val="dash"/>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0001"/>
                  </a:ext>
                </a:extLst>
              </a:tr>
              <a:tr h="630591">
                <a:tc>
                  <a:txBody>
                    <a:bodyPr/>
                    <a:lstStyle>
                      <a:lvl1pPr marL="0" algn="l" defTabSz="914400" rtl="0" eaLnBrk="1" latinLnBrk="0" hangingPunct="1">
                        <a:defRPr sz="1800" b="1" kern="1200">
                          <a:solidFill>
                            <a:schemeClr val="dk1"/>
                          </a:solidFill>
                          <a:latin typeface="Calibri" panose="020F0502020204030204"/>
                          <a:ea typeface=""/>
                          <a:cs typeface=""/>
                        </a:defRPr>
                      </a:lvl1pPr>
                      <a:lvl2pPr marL="457200" algn="l" defTabSz="914400" rtl="0" eaLnBrk="1" latinLnBrk="0" hangingPunct="1">
                        <a:defRPr sz="1800" b="1" kern="1200">
                          <a:solidFill>
                            <a:schemeClr val="dk1"/>
                          </a:solidFill>
                          <a:latin typeface="Calibri" panose="020F0502020204030204"/>
                          <a:ea typeface=""/>
                          <a:cs typeface=""/>
                        </a:defRPr>
                      </a:lvl2pPr>
                      <a:lvl3pPr marL="914400" algn="l" defTabSz="914400" rtl="0" eaLnBrk="1" latinLnBrk="0" hangingPunct="1">
                        <a:defRPr sz="1800" b="1" kern="1200">
                          <a:solidFill>
                            <a:schemeClr val="dk1"/>
                          </a:solidFill>
                          <a:latin typeface="Calibri" panose="020F0502020204030204"/>
                          <a:ea typeface=""/>
                          <a:cs typeface=""/>
                        </a:defRPr>
                      </a:lvl3pPr>
                      <a:lvl4pPr marL="1371600" algn="l" defTabSz="914400" rtl="0" eaLnBrk="1" latinLnBrk="0" hangingPunct="1">
                        <a:defRPr sz="1800" b="1" kern="1200">
                          <a:solidFill>
                            <a:schemeClr val="dk1"/>
                          </a:solidFill>
                          <a:latin typeface="Calibri" panose="020F0502020204030204"/>
                          <a:ea typeface=""/>
                          <a:cs typeface=""/>
                        </a:defRPr>
                      </a:lvl4pPr>
                      <a:lvl5pPr marL="1828800" algn="l" defTabSz="914400" rtl="0" eaLnBrk="1" latinLnBrk="0" hangingPunct="1">
                        <a:defRPr sz="1800" b="1" kern="1200">
                          <a:solidFill>
                            <a:schemeClr val="dk1"/>
                          </a:solidFill>
                          <a:latin typeface="Calibri" panose="020F0502020204030204"/>
                          <a:ea typeface=""/>
                          <a:cs typeface=""/>
                        </a:defRPr>
                      </a:lvl5pPr>
                      <a:lvl6pPr marL="2286000" algn="l" defTabSz="914400" rtl="0" eaLnBrk="1" latinLnBrk="0" hangingPunct="1">
                        <a:defRPr sz="1800" b="1" kern="1200">
                          <a:solidFill>
                            <a:schemeClr val="dk1"/>
                          </a:solidFill>
                          <a:latin typeface="Calibri" panose="020F0502020204030204"/>
                          <a:ea typeface=""/>
                          <a:cs typeface=""/>
                        </a:defRPr>
                      </a:lvl6pPr>
                      <a:lvl7pPr marL="2743200" algn="l" defTabSz="914400" rtl="0" eaLnBrk="1" latinLnBrk="0" hangingPunct="1">
                        <a:defRPr sz="1800" b="1" kern="1200">
                          <a:solidFill>
                            <a:schemeClr val="dk1"/>
                          </a:solidFill>
                          <a:latin typeface="Calibri" panose="020F0502020204030204"/>
                          <a:ea typeface=""/>
                          <a:cs typeface=""/>
                        </a:defRPr>
                      </a:lvl7pPr>
                      <a:lvl8pPr marL="3200400" algn="l" defTabSz="914400" rtl="0" eaLnBrk="1" latinLnBrk="0" hangingPunct="1">
                        <a:defRPr sz="1800" b="1" kern="1200">
                          <a:solidFill>
                            <a:schemeClr val="dk1"/>
                          </a:solidFill>
                          <a:latin typeface="Calibri" panose="020F0502020204030204"/>
                          <a:ea typeface=""/>
                          <a:cs typeface=""/>
                        </a:defRPr>
                      </a:lvl8pPr>
                      <a:lvl9pPr marL="3657600" algn="l" defTabSz="914400" rtl="0" eaLnBrk="1" latinLnBrk="0" hangingPunct="1">
                        <a:defRPr sz="1800" b="1" kern="1200">
                          <a:solidFill>
                            <a:schemeClr val="dk1"/>
                          </a:solidFill>
                          <a:latin typeface="Calibri" panose="020F0502020204030204"/>
                          <a:ea typeface=""/>
                          <a:cs typeface=""/>
                        </a:defRPr>
                      </a:lvl9pPr>
                    </a:lstStyle>
                    <a:p>
                      <a:pPr marL="0" marR="0" lvl="0" indent="0" algn="ctr" defTabSz="914400" rtl="0" eaLnBrk="0" fontAlgn="base" latinLnBrk="0" hangingPunct="0">
                        <a:lnSpc>
                          <a:spcPct val="100000"/>
                        </a:lnSpc>
                        <a:spcBef>
                          <a:spcPct val="0"/>
                        </a:spcBef>
                        <a:spcAft>
                          <a:spcPct val="50000"/>
                        </a:spcAft>
                        <a:buClr>
                          <a:schemeClr val="accent2"/>
                        </a:buClr>
                        <a:buSzTx/>
                        <a:buFont typeface="Wingdings" pitchFamily="2" charset="2"/>
                        <a:buNone/>
                        <a:tabLst/>
                      </a:pPr>
                      <a:endParaRPr kumimoji="0" lang="en-US" sz="700" b="1" i="0" u="none" strike="noStrike" cap="none" normalizeH="0" baseline="0" dirty="0">
                        <a:ln>
                          <a:solidFill>
                            <a:schemeClr val="tx1"/>
                          </a:solidFill>
                          <a:prstDash val="lgDash"/>
                        </a:ln>
                        <a:solidFill>
                          <a:schemeClr val="tx1"/>
                        </a:solidFill>
                        <a:effectLst/>
                        <a:latin typeface="Arial" charset="0"/>
                      </a:endParaRPr>
                    </a:p>
                  </a:txBody>
                  <a:tcPr anchor="ctr" horzOverflow="overflow">
                    <a:lnL w="6350" cap="flat" cmpd="sng" algn="ctr">
                      <a:solidFill>
                        <a:srgbClr val="0070C0"/>
                      </a:solidFill>
                      <a:prstDash val="solid"/>
                      <a:round/>
                      <a:headEnd type="none" w="med" len="med"/>
                      <a:tailEnd type="none" w="med" len="med"/>
                    </a:lnL>
                    <a:lnR>
                      <a:noFill/>
                    </a:lnR>
                    <a:lnT w="9525" cap="flat" cmpd="sng" algn="ctr">
                      <a:solidFill>
                        <a:srgbClr val="0070C0"/>
                      </a:solidFill>
                      <a:prstDash val="dash"/>
                      <a:round/>
                      <a:headEnd type="none" w="med" len="med"/>
                      <a:tailEnd type="none" w="med" len="med"/>
                    </a:lnT>
                    <a:lnB w="9525" cap="flat" cmpd="sng" algn="ctr">
                      <a:solidFill>
                        <a:srgbClr val="0070C0"/>
                      </a:solidFill>
                      <a:prstDash val="dash"/>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marR="0" lvl="0" indent="0" algn="l" defTabSz="914400" rtl="0" eaLnBrk="0" fontAlgn="base" latinLnBrk="0" hangingPunct="0">
                        <a:lnSpc>
                          <a:spcPct val="100000"/>
                        </a:lnSpc>
                        <a:spcBef>
                          <a:spcPct val="0"/>
                        </a:spcBef>
                        <a:spcAft>
                          <a:spcPct val="50000"/>
                        </a:spcAft>
                        <a:buClr>
                          <a:schemeClr val="accent2"/>
                        </a:buClr>
                        <a:buSzTx/>
                        <a:buFont typeface="Wingdings" pitchFamily="2" charset="2"/>
                        <a:buNone/>
                        <a:tabLst/>
                      </a:pPr>
                      <a:r>
                        <a:rPr kumimoji="0" lang="en-US" sz="800" b="1" i="0" u="none" strike="noStrike" cap="none" normalizeH="0" baseline="0" dirty="0">
                          <a:ln>
                            <a:noFill/>
                          </a:ln>
                          <a:solidFill>
                            <a:srgbClr val="002060"/>
                          </a:solidFill>
                          <a:effectLst/>
                          <a:latin typeface="Arial" charset="0"/>
                        </a:rPr>
                        <a:t>In order to conduct expert and industry interviews, TMR formulates a detailed discussion guide</a:t>
                      </a:r>
                    </a:p>
                  </a:txBody>
                  <a:tcPr anchor="ctr" horzOverflow="overflow">
                    <a:lnL>
                      <a:noFill/>
                    </a:lnL>
                    <a:lnR w="6350" cap="flat" cmpd="sng" algn="ctr">
                      <a:solidFill>
                        <a:srgbClr val="0070C0"/>
                      </a:solidFill>
                      <a:prstDash val="solid"/>
                      <a:round/>
                      <a:headEnd type="none" w="med" len="med"/>
                      <a:tailEnd type="none" w="med" len="med"/>
                    </a:lnR>
                    <a:lnT w="9525" cap="flat" cmpd="sng" algn="ctr">
                      <a:solidFill>
                        <a:srgbClr val="0070C0"/>
                      </a:solidFill>
                      <a:prstDash val="dash"/>
                      <a:round/>
                      <a:headEnd type="none" w="med" len="med"/>
                      <a:tailEnd type="none" w="med" len="med"/>
                    </a:lnT>
                    <a:lnB w="9525" cap="flat" cmpd="sng" algn="ctr">
                      <a:solidFill>
                        <a:srgbClr val="0070C0"/>
                      </a:solidFill>
                      <a:prstDash val="dash"/>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0002"/>
                  </a:ext>
                </a:extLst>
              </a:tr>
              <a:tr h="630591">
                <a:tc>
                  <a:txBody>
                    <a:bodyPr/>
                    <a:lstStyle>
                      <a:lvl1pPr marL="0" algn="l" defTabSz="914400" rtl="0" eaLnBrk="1" latinLnBrk="0" hangingPunct="1">
                        <a:defRPr sz="1800" b="1" kern="1200">
                          <a:solidFill>
                            <a:schemeClr val="dk1"/>
                          </a:solidFill>
                          <a:latin typeface="Calibri" panose="020F0502020204030204"/>
                          <a:ea typeface=""/>
                          <a:cs typeface=""/>
                        </a:defRPr>
                      </a:lvl1pPr>
                      <a:lvl2pPr marL="457200" algn="l" defTabSz="914400" rtl="0" eaLnBrk="1" latinLnBrk="0" hangingPunct="1">
                        <a:defRPr sz="1800" b="1" kern="1200">
                          <a:solidFill>
                            <a:schemeClr val="dk1"/>
                          </a:solidFill>
                          <a:latin typeface="Calibri" panose="020F0502020204030204"/>
                          <a:ea typeface=""/>
                          <a:cs typeface=""/>
                        </a:defRPr>
                      </a:lvl2pPr>
                      <a:lvl3pPr marL="914400" algn="l" defTabSz="914400" rtl="0" eaLnBrk="1" latinLnBrk="0" hangingPunct="1">
                        <a:defRPr sz="1800" b="1" kern="1200">
                          <a:solidFill>
                            <a:schemeClr val="dk1"/>
                          </a:solidFill>
                          <a:latin typeface="Calibri" panose="020F0502020204030204"/>
                          <a:ea typeface=""/>
                          <a:cs typeface=""/>
                        </a:defRPr>
                      </a:lvl3pPr>
                      <a:lvl4pPr marL="1371600" algn="l" defTabSz="914400" rtl="0" eaLnBrk="1" latinLnBrk="0" hangingPunct="1">
                        <a:defRPr sz="1800" b="1" kern="1200">
                          <a:solidFill>
                            <a:schemeClr val="dk1"/>
                          </a:solidFill>
                          <a:latin typeface="Calibri" panose="020F0502020204030204"/>
                          <a:ea typeface=""/>
                          <a:cs typeface=""/>
                        </a:defRPr>
                      </a:lvl4pPr>
                      <a:lvl5pPr marL="1828800" algn="l" defTabSz="914400" rtl="0" eaLnBrk="1" latinLnBrk="0" hangingPunct="1">
                        <a:defRPr sz="1800" b="1" kern="1200">
                          <a:solidFill>
                            <a:schemeClr val="dk1"/>
                          </a:solidFill>
                          <a:latin typeface="Calibri" panose="020F0502020204030204"/>
                          <a:ea typeface=""/>
                          <a:cs typeface=""/>
                        </a:defRPr>
                      </a:lvl5pPr>
                      <a:lvl6pPr marL="2286000" algn="l" defTabSz="914400" rtl="0" eaLnBrk="1" latinLnBrk="0" hangingPunct="1">
                        <a:defRPr sz="1800" b="1" kern="1200">
                          <a:solidFill>
                            <a:schemeClr val="dk1"/>
                          </a:solidFill>
                          <a:latin typeface="Calibri" panose="020F0502020204030204"/>
                          <a:ea typeface=""/>
                          <a:cs typeface=""/>
                        </a:defRPr>
                      </a:lvl6pPr>
                      <a:lvl7pPr marL="2743200" algn="l" defTabSz="914400" rtl="0" eaLnBrk="1" latinLnBrk="0" hangingPunct="1">
                        <a:defRPr sz="1800" b="1" kern="1200">
                          <a:solidFill>
                            <a:schemeClr val="dk1"/>
                          </a:solidFill>
                          <a:latin typeface="Calibri" panose="020F0502020204030204"/>
                          <a:ea typeface=""/>
                          <a:cs typeface=""/>
                        </a:defRPr>
                      </a:lvl7pPr>
                      <a:lvl8pPr marL="3200400" algn="l" defTabSz="914400" rtl="0" eaLnBrk="1" latinLnBrk="0" hangingPunct="1">
                        <a:defRPr sz="1800" b="1" kern="1200">
                          <a:solidFill>
                            <a:schemeClr val="dk1"/>
                          </a:solidFill>
                          <a:latin typeface="Calibri" panose="020F0502020204030204"/>
                          <a:ea typeface=""/>
                          <a:cs typeface=""/>
                        </a:defRPr>
                      </a:lvl8pPr>
                      <a:lvl9pPr marL="3657600" algn="l" defTabSz="914400" rtl="0" eaLnBrk="1" latinLnBrk="0" hangingPunct="1">
                        <a:defRPr sz="1800" b="1" kern="1200">
                          <a:solidFill>
                            <a:schemeClr val="dk1"/>
                          </a:solidFill>
                          <a:latin typeface="Calibri" panose="020F0502020204030204"/>
                          <a:ea typeface=""/>
                          <a:cs typeface=""/>
                        </a:defRPr>
                      </a:lvl9pPr>
                    </a:lstStyle>
                    <a:p>
                      <a:pPr marL="0" marR="0" lvl="0" indent="0" algn="ctr" defTabSz="914400" rtl="0" eaLnBrk="0" fontAlgn="base" latinLnBrk="0" hangingPunct="0">
                        <a:lnSpc>
                          <a:spcPct val="100000"/>
                        </a:lnSpc>
                        <a:spcBef>
                          <a:spcPct val="0"/>
                        </a:spcBef>
                        <a:spcAft>
                          <a:spcPct val="50000"/>
                        </a:spcAft>
                        <a:buClr>
                          <a:schemeClr val="accent2"/>
                        </a:buClr>
                        <a:buSzTx/>
                        <a:buFont typeface="Wingdings" pitchFamily="2" charset="2"/>
                        <a:buNone/>
                        <a:tabLst/>
                      </a:pPr>
                      <a:endParaRPr kumimoji="0" lang="en-US" sz="700" b="1" i="0" u="none" strike="noStrike" cap="none" normalizeH="0" baseline="0" dirty="0">
                        <a:ln>
                          <a:solidFill>
                            <a:schemeClr val="tx1"/>
                          </a:solidFill>
                          <a:prstDash val="lgDash"/>
                        </a:ln>
                        <a:solidFill>
                          <a:schemeClr val="tx1"/>
                        </a:solidFill>
                        <a:effectLst/>
                        <a:latin typeface="Arial" charset="0"/>
                      </a:endParaRPr>
                    </a:p>
                  </a:txBody>
                  <a:tcPr anchor="ctr" horzOverflow="overflow">
                    <a:lnL w="6350" cap="flat" cmpd="sng" algn="ctr">
                      <a:solidFill>
                        <a:srgbClr val="0070C0"/>
                      </a:solidFill>
                      <a:prstDash val="solid"/>
                      <a:round/>
                      <a:headEnd type="none" w="med" len="med"/>
                      <a:tailEnd type="none" w="med" len="med"/>
                    </a:lnL>
                    <a:lnR>
                      <a:noFill/>
                    </a:lnR>
                    <a:lnT w="9525" cap="flat" cmpd="sng" algn="ctr">
                      <a:solidFill>
                        <a:srgbClr val="0070C0"/>
                      </a:solidFill>
                      <a:prstDash val="dash"/>
                      <a:round/>
                      <a:headEnd type="none" w="med" len="med"/>
                      <a:tailEnd type="none" w="med" len="med"/>
                    </a:lnT>
                    <a:lnB w="9525" cap="flat" cmpd="sng" algn="ctr">
                      <a:solidFill>
                        <a:srgbClr val="0070C0"/>
                      </a:solidFill>
                      <a:prstDash val="dash"/>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marR="0" lvl="0" indent="0" algn="l" defTabSz="914400" rtl="0" eaLnBrk="0" fontAlgn="base" latinLnBrk="0" hangingPunct="0">
                        <a:lnSpc>
                          <a:spcPct val="100000"/>
                        </a:lnSpc>
                        <a:spcBef>
                          <a:spcPct val="0"/>
                        </a:spcBef>
                        <a:spcAft>
                          <a:spcPct val="50000"/>
                        </a:spcAft>
                        <a:buClr>
                          <a:schemeClr val="accent2"/>
                        </a:buClr>
                        <a:buSzTx/>
                        <a:buFont typeface="Wingdings" pitchFamily="2" charset="2"/>
                        <a:buNone/>
                        <a:tabLst/>
                      </a:pPr>
                      <a:r>
                        <a:rPr kumimoji="0" lang="en-US" sz="800" b="1" i="0" u="none" strike="noStrike" cap="none" normalizeH="0" baseline="0" dirty="0">
                          <a:ln>
                            <a:noFill/>
                          </a:ln>
                          <a:solidFill>
                            <a:srgbClr val="002060"/>
                          </a:solidFill>
                          <a:effectLst/>
                          <a:latin typeface="Arial" charset="0"/>
                        </a:rPr>
                        <a:t>List of industry players (manufacturers), distributors, retailers, industry experts is developed</a:t>
                      </a:r>
                    </a:p>
                  </a:txBody>
                  <a:tcPr anchor="ctr" horzOverflow="overflow">
                    <a:lnL>
                      <a:noFill/>
                    </a:lnL>
                    <a:lnR w="6350" cap="flat" cmpd="sng" algn="ctr">
                      <a:solidFill>
                        <a:srgbClr val="0070C0"/>
                      </a:solidFill>
                      <a:prstDash val="solid"/>
                      <a:round/>
                      <a:headEnd type="none" w="med" len="med"/>
                      <a:tailEnd type="none" w="med" len="med"/>
                    </a:lnR>
                    <a:lnT w="9525" cap="flat" cmpd="sng" algn="ctr">
                      <a:solidFill>
                        <a:srgbClr val="0070C0"/>
                      </a:solidFill>
                      <a:prstDash val="dash"/>
                      <a:round/>
                      <a:headEnd type="none" w="med" len="med"/>
                      <a:tailEnd type="none" w="med" len="med"/>
                    </a:lnT>
                    <a:lnB w="9525" cap="flat" cmpd="sng" algn="ctr">
                      <a:solidFill>
                        <a:srgbClr val="0070C0"/>
                      </a:solidFill>
                      <a:prstDash val="dash"/>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0003"/>
                  </a:ext>
                </a:extLst>
              </a:tr>
              <a:tr h="630591">
                <a:tc>
                  <a:txBody>
                    <a:bodyPr/>
                    <a:lstStyle>
                      <a:lvl1pPr marL="0" algn="l" defTabSz="914400" rtl="0" eaLnBrk="1" latinLnBrk="0" hangingPunct="1">
                        <a:defRPr sz="1800" b="1" kern="1200">
                          <a:solidFill>
                            <a:schemeClr val="dk1"/>
                          </a:solidFill>
                          <a:latin typeface="Calibri" panose="020F0502020204030204"/>
                          <a:ea typeface=""/>
                          <a:cs typeface=""/>
                        </a:defRPr>
                      </a:lvl1pPr>
                      <a:lvl2pPr marL="457200" algn="l" defTabSz="914400" rtl="0" eaLnBrk="1" latinLnBrk="0" hangingPunct="1">
                        <a:defRPr sz="1800" b="1" kern="1200">
                          <a:solidFill>
                            <a:schemeClr val="dk1"/>
                          </a:solidFill>
                          <a:latin typeface="Calibri" panose="020F0502020204030204"/>
                          <a:ea typeface=""/>
                          <a:cs typeface=""/>
                        </a:defRPr>
                      </a:lvl2pPr>
                      <a:lvl3pPr marL="914400" algn="l" defTabSz="914400" rtl="0" eaLnBrk="1" latinLnBrk="0" hangingPunct="1">
                        <a:defRPr sz="1800" b="1" kern="1200">
                          <a:solidFill>
                            <a:schemeClr val="dk1"/>
                          </a:solidFill>
                          <a:latin typeface="Calibri" panose="020F0502020204030204"/>
                          <a:ea typeface=""/>
                          <a:cs typeface=""/>
                        </a:defRPr>
                      </a:lvl3pPr>
                      <a:lvl4pPr marL="1371600" algn="l" defTabSz="914400" rtl="0" eaLnBrk="1" latinLnBrk="0" hangingPunct="1">
                        <a:defRPr sz="1800" b="1" kern="1200">
                          <a:solidFill>
                            <a:schemeClr val="dk1"/>
                          </a:solidFill>
                          <a:latin typeface="Calibri" panose="020F0502020204030204"/>
                          <a:ea typeface=""/>
                          <a:cs typeface=""/>
                        </a:defRPr>
                      </a:lvl4pPr>
                      <a:lvl5pPr marL="1828800" algn="l" defTabSz="914400" rtl="0" eaLnBrk="1" latinLnBrk="0" hangingPunct="1">
                        <a:defRPr sz="1800" b="1" kern="1200">
                          <a:solidFill>
                            <a:schemeClr val="dk1"/>
                          </a:solidFill>
                          <a:latin typeface="Calibri" panose="020F0502020204030204"/>
                          <a:ea typeface=""/>
                          <a:cs typeface=""/>
                        </a:defRPr>
                      </a:lvl5pPr>
                      <a:lvl6pPr marL="2286000" algn="l" defTabSz="914400" rtl="0" eaLnBrk="1" latinLnBrk="0" hangingPunct="1">
                        <a:defRPr sz="1800" b="1" kern="1200">
                          <a:solidFill>
                            <a:schemeClr val="dk1"/>
                          </a:solidFill>
                          <a:latin typeface="Calibri" panose="020F0502020204030204"/>
                          <a:ea typeface=""/>
                          <a:cs typeface=""/>
                        </a:defRPr>
                      </a:lvl6pPr>
                      <a:lvl7pPr marL="2743200" algn="l" defTabSz="914400" rtl="0" eaLnBrk="1" latinLnBrk="0" hangingPunct="1">
                        <a:defRPr sz="1800" b="1" kern="1200">
                          <a:solidFill>
                            <a:schemeClr val="dk1"/>
                          </a:solidFill>
                          <a:latin typeface="Calibri" panose="020F0502020204030204"/>
                          <a:ea typeface=""/>
                          <a:cs typeface=""/>
                        </a:defRPr>
                      </a:lvl7pPr>
                      <a:lvl8pPr marL="3200400" algn="l" defTabSz="914400" rtl="0" eaLnBrk="1" latinLnBrk="0" hangingPunct="1">
                        <a:defRPr sz="1800" b="1" kern="1200">
                          <a:solidFill>
                            <a:schemeClr val="dk1"/>
                          </a:solidFill>
                          <a:latin typeface="Calibri" panose="020F0502020204030204"/>
                          <a:ea typeface=""/>
                          <a:cs typeface=""/>
                        </a:defRPr>
                      </a:lvl8pPr>
                      <a:lvl9pPr marL="3657600" algn="l" defTabSz="914400" rtl="0" eaLnBrk="1" latinLnBrk="0" hangingPunct="1">
                        <a:defRPr sz="1800" b="1" kern="1200">
                          <a:solidFill>
                            <a:schemeClr val="dk1"/>
                          </a:solidFill>
                          <a:latin typeface="Calibri" panose="020F0502020204030204"/>
                          <a:ea typeface=""/>
                          <a:cs typeface=""/>
                        </a:defRPr>
                      </a:lvl9pPr>
                    </a:lstStyle>
                    <a:p>
                      <a:pPr marL="0" marR="0" lvl="0" indent="0" algn="ctr" defTabSz="914400" rtl="0" eaLnBrk="0" fontAlgn="base" latinLnBrk="0" hangingPunct="0">
                        <a:lnSpc>
                          <a:spcPct val="100000"/>
                        </a:lnSpc>
                        <a:spcBef>
                          <a:spcPct val="0"/>
                        </a:spcBef>
                        <a:spcAft>
                          <a:spcPct val="50000"/>
                        </a:spcAft>
                        <a:buClr>
                          <a:schemeClr val="accent2"/>
                        </a:buClr>
                        <a:buSzTx/>
                        <a:buFont typeface="Wingdings" pitchFamily="2" charset="2"/>
                        <a:buNone/>
                        <a:tabLst/>
                      </a:pPr>
                      <a:endParaRPr kumimoji="0" lang="en-US" sz="700" b="1" i="0" u="none" strike="noStrike" cap="none" normalizeH="0" baseline="0" dirty="0">
                        <a:ln>
                          <a:solidFill>
                            <a:schemeClr val="tx1"/>
                          </a:solidFill>
                          <a:prstDash val="lgDash"/>
                        </a:ln>
                        <a:solidFill>
                          <a:schemeClr val="tx1"/>
                        </a:solidFill>
                        <a:effectLst/>
                        <a:latin typeface="Arial" charset="0"/>
                      </a:endParaRPr>
                    </a:p>
                  </a:txBody>
                  <a:tcPr anchor="ctr" horzOverflow="overflow">
                    <a:lnL w="6350" cap="flat" cmpd="sng" algn="ctr">
                      <a:solidFill>
                        <a:srgbClr val="0070C0"/>
                      </a:solidFill>
                      <a:prstDash val="solid"/>
                      <a:round/>
                      <a:headEnd type="none" w="med" len="med"/>
                      <a:tailEnd type="none" w="med" len="med"/>
                    </a:lnL>
                    <a:lnR>
                      <a:noFill/>
                    </a:lnR>
                    <a:lnT w="9525" cap="flat" cmpd="sng" algn="ctr">
                      <a:solidFill>
                        <a:srgbClr val="0070C0"/>
                      </a:solidFill>
                      <a:prstDash val="dash"/>
                      <a:round/>
                      <a:headEnd type="none" w="med" len="med"/>
                      <a:tailEnd type="none" w="med" len="med"/>
                    </a:lnT>
                    <a:lnB w="9525" cap="flat" cmpd="sng" algn="ctr">
                      <a:solidFill>
                        <a:srgbClr val="0070C0"/>
                      </a:solidFill>
                      <a:prstDash val="dash"/>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marR="0" lvl="0" indent="0" algn="l" defTabSz="914400" rtl="0" eaLnBrk="0" fontAlgn="base" latinLnBrk="0" hangingPunct="0">
                        <a:lnSpc>
                          <a:spcPct val="100000"/>
                        </a:lnSpc>
                        <a:spcBef>
                          <a:spcPct val="0"/>
                        </a:spcBef>
                        <a:spcAft>
                          <a:spcPct val="50000"/>
                        </a:spcAft>
                        <a:buClr>
                          <a:schemeClr val="accent2"/>
                        </a:buClr>
                        <a:buSzTx/>
                        <a:buFont typeface="Wingdings" pitchFamily="2" charset="2"/>
                        <a:buNone/>
                        <a:tabLst/>
                      </a:pPr>
                      <a:r>
                        <a:rPr kumimoji="0" lang="en-US" sz="800" b="1" i="0" u="none" strike="noStrike" cap="none" normalizeH="0" baseline="0" dirty="0">
                          <a:ln>
                            <a:noFill/>
                          </a:ln>
                          <a:solidFill>
                            <a:srgbClr val="002060"/>
                          </a:solidFill>
                          <a:effectLst/>
                          <a:latin typeface="Arial" charset="0"/>
                        </a:rPr>
                        <a:t>TMR conducts interviews with industry experts, industry players and distributors</a:t>
                      </a:r>
                    </a:p>
                  </a:txBody>
                  <a:tcPr anchor="ctr" horzOverflow="overflow">
                    <a:lnL>
                      <a:noFill/>
                    </a:lnL>
                    <a:lnR w="6350" cap="flat" cmpd="sng" algn="ctr">
                      <a:solidFill>
                        <a:srgbClr val="0070C0"/>
                      </a:solidFill>
                      <a:prstDash val="solid"/>
                      <a:round/>
                      <a:headEnd type="none" w="med" len="med"/>
                      <a:tailEnd type="none" w="med" len="med"/>
                    </a:lnR>
                    <a:lnT w="9525" cap="flat" cmpd="sng" algn="ctr">
                      <a:solidFill>
                        <a:srgbClr val="0070C0"/>
                      </a:solidFill>
                      <a:prstDash val="dash"/>
                      <a:round/>
                      <a:headEnd type="none" w="med" len="med"/>
                      <a:tailEnd type="none" w="med" len="med"/>
                    </a:lnT>
                    <a:lnB w="9525" cap="flat" cmpd="sng" algn="ctr">
                      <a:solidFill>
                        <a:srgbClr val="0070C0"/>
                      </a:solidFill>
                      <a:prstDash val="dash"/>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0004"/>
                  </a:ext>
                </a:extLst>
              </a:tr>
              <a:tr h="698997">
                <a:tc>
                  <a:txBody>
                    <a:bodyPr/>
                    <a:lstStyle>
                      <a:lvl1pPr marL="0" algn="l" defTabSz="914400" rtl="0" eaLnBrk="1" latinLnBrk="0" hangingPunct="1">
                        <a:defRPr sz="1800" b="1" kern="1200">
                          <a:solidFill>
                            <a:schemeClr val="dk1"/>
                          </a:solidFill>
                          <a:latin typeface="Calibri" panose="020F0502020204030204"/>
                          <a:ea typeface=""/>
                          <a:cs typeface=""/>
                        </a:defRPr>
                      </a:lvl1pPr>
                      <a:lvl2pPr marL="457200" algn="l" defTabSz="914400" rtl="0" eaLnBrk="1" latinLnBrk="0" hangingPunct="1">
                        <a:defRPr sz="1800" b="1" kern="1200">
                          <a:solidFill>
                            <a:schemeClr val="dk1"/>
                          </a:solidFill>
                          <a:latin typeface="Calibri" panose="020F0502020204030204"/>
                          <a:ea typeface=""/>
                          <a:cs typeface=""/>
                        </a:defRPr>
                      </a:lvl2pPr>
                      <a:lvl3pPr marL="914400" algn="l" defTabSz="914400" rtl="0" eaLnBrk="1" latinLnBrk="0" hangingPunct="1">
                        <a:defRPr sz="1800" b="1" kern="1200">
                          <a:solidFill>
                            <a:schemeClr val="dk1"/>
                          </a:solidFill>
                          <a:latin typeface="Calibri" panose="020F0502020204030204"/>
                          <a:ea typeface=""/>
                          <a:cs typeface=""/>
                        </a:defRPr>
                      </a:lvl3pPr>
                      <a:lvl4pPr marL="1371600" algn="l" defTabSz="914400" rtl="0" eaLnBrk="1" latinLnBrk="0" hangingPunct="1">
                        <a:defRPr sz="1800" b="1" kern="1200">
                          <a:solidFill>
                            <a:schemeClr val="dk1"/>
                          </a:solidFill>
                          <a:latin typeface="Calibri" panose="020F0502020204030204"/>
                          <a:ea typeface=""/>
                          <a:cs typeface=""/>
                        </a:defRPr>
                      </a:lvl4pPr>
                      <a:lvl5pPr marL="1828800" algn="l" defTabSz="914400" rtl="0" eaLnBrk="1" latinLnBrk="0" hangingPunct="1">
                        <a:defRPr sz="1800" b="1" kern="1200">
                          <a:solidFill>
                            <a:schemeClr val="dk1"/>
                          </a:solidFill>
                          <a:latin typeface="Calibri" panose="020F0502020204030204"/>
                          <a:ea typeface=""/>
                          <a:cs typeface=""/>
                        </a:defRPr>
                      </a:lvl5pPr>
                      <a:lvl6pPr marL="2286000" algn="l" defTabSz="914400" rtl="0" eaLnBrk="1" latinLnBrk="0" hangingPunct="1">
                        <a:defRPr sz="1800" b="1" kern="1200">
                          <a:solidFill>
                            <a:schemeClr val="dk1"/>
                          </a:solidFill>
                          <a:latin typeface="Calibri" panose="020F0502020204030204"/>
                          <a:ea typeface=""/>
                          <a:cs typeface=""/>
                        </a:defRPr>
                      </a:lvl6pPr>
                      <a:lvl7pPr marL="2743200" algn="l" defTabSz="914400" rtl="0" eaLnBrk="1" latinLnBrk="0" hangingPunct="1">
                        <a:defRPr sz="1800" b="1" kern="1200">
                          <a:solidFill>
                            <a:schemeClr val="dk1"/>
                          </a:solidFill>
                          <a:latin typeface="Calibri" panose="020F0502020204030204"/>
                          <a:ea typeface=""/>
                          <a:cs typeface=""/>
                        </a:defRPr>
                      </a:lvl7pPr>
                      <a:lvl8pPr marL="3200400" algn="l" defTabSz="914400" rtl="0" eaLnBrk="1" latinLnBrk="0" hangingPunct="1">
                        <a:defRPr sz="1800" b="1" kern="1200">
                          <a:solidFill>
                            <a:schemeClr val="dk1"/>
                          </a:solidFill>
                          <a:latin typeface="Calibri" panose="020F0502020204030204"/>
                          <a:ea typeface=""/>
                          <a:cs typeface=""/>
                        </a:defRPr>
                      </a:lvl8pPr>
                      <a:lvl9pPr marL="3657600" algn="l" defTabSz="914400" rtl="0" eaLnBrk="1" latinLnBrk="0" hangingPunct="1">
                        <a:defRPr sz="1800" b="1" kern="1200">
                          <a:solidFill>
                            <a:schemeClr val="dk1"/>
                          </a:solidFill>
                          <a:latin typeface="Calibri" panose="020F0502020204030204"/>
                          <a:ea typeface=""/>
                          <a:cs typeface=""/>
                        </a:defRPr>
                      </a:lvl9pPr>
                    </a:lstStyle>
                    <a:p>
                      <a:pPr marL="0" marR="0" lvl="0" indent="0" algn="ctr" defTabSz="914400" rtl="0" eaLnBrk="0" fontAlgn="base" latinLnBrk="0" hangingPunct="0">
                        <a:lnSpc>
                          <a:spcPct val="100000"/>
                        </a:lnSpc>
                        <a:spcBef>
                          <a:spcPct val="0"/>
                        </a:spcBef>
                        <a:spcAft>
                          <a:spcPct val="50000"/>
                        </a:spcAft>
                        <a:buClr>
                          <a:schemeClr val="accent2"/>
                        </a:buClr>
                        <a:buSzTx/>
                        <a:buFont typeface="Wingdings" pitchFamily="2" charset="2"/>
                        <a:buNone/>
                        <a:tabLst/>
                      </a:pPr>
                      <a:endParaRPr kumimoji="0" lang="en-US" sz="700" b="1" i="0" u="none" strike="noStrike" cap="none" normalizeH="0" baseline="0" dirty="0">
                        <a:ln>
                          <a:solidFill>
                            <a:schemeClr val="tx1"/>
                          </a:solidFill>
                          <a:prstDash val="lgDash"/>
                        </a:ln>
                        <a:solidFill>
                          <a:schemeClr val="tx1"/>
                        </a:solidFill>
                        <a:effectLst/>
                        <a:latin typeface="Arial" charset="0"/>
                      </a:endParaRPr>
                    </a:p>
                  </a:txBody>
                  <a:tcPr anchor="ctr" horzOverflow="overflow">
                    <a:lnL w="6350" cap="flat" cmpd="sng" algn="ctr">
                      <a:solidFill>
                        <a:srgbClr val="0070C0"/>
                      </a:solidFill>
                      <a:prstDash val="solid"/>
                      <a:round/>
                      <a:headEnd type="none" w="med" len="med"/>
                      <a:tailEnd type="none" w="med" len="med"/>
                    </a:lnL>
                    <a:lnR>
                      <a:noFill/>
                    </a:lnR>
                    <a:lnT w="9525" cap="flat" cmpd="sng" algn="ctr">
                      <a:solidFill>
                        <a:srgbClr val="0070C0"/>
                      </a:solidFill>
                      <a:prstDash val="dash"/>
                      <a:round/>
                      <a:headEnd type="none" w="med" len="med"/>
                      <a:tailEnd type="none" w="med" len="med"/>
                    </a:lnT>
                    <a:lnB w="9525" cap="flat" cmpd="sng" algn="ctr">
                      <a:solidFill>
                        <a:srgbClr val="0070C0"/>
                      </a:solidFill>
                      <a:prstDash val="dash"/>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marR="0" lvl="0" indent="0" algn="l" defTabSz="914400" rtl="0" eaLnBrk="0" fontAlgn="base" latinLnBrk="0" hangingPunct="0">
                        <a:lnSpc>
                          <a:spcPct val="100000"/>
                        </a:lnSpc>
                        <a:spcBef>
                          <a:spcPct val="0"/>
                        </a:spcBef>
                        <a:spcAft>
                          <a:spcPct val="50000"/>
                        </a:spcAft>
                        <a:buClr>
                          <a:schemeClr val="accent2"/>
                        </a:buClr>
                        <a:buSzTx/>
                        <a:buFont typeface="Wingdings" pitchFamily="2" charset="2"/>
                        <a:buNone/>
                        <a:tabLst/>
                      </a:pPr>
                      <a:r>
                        <a:rPr kumimoji="0" lang="en-US" sz="800" b="1" i="0" u="none" strike="noStrike" cap="none" normalizeH="0" baseline="0" dirty="0">
                          <a:ln>
                            <a:noFill/>
                          </a:ln>
                          <a:solidFill>
                            <a:srgbClr val="002060"/>
                          </a:solidFill>
                          <a:effectLst/>
                          <a:latin typeface="Arial" charset="0"/>
                        </a:rPr>
                        <a:t>Data is validated by triangulation method, in which secondary, primary and TMR’s analysis contribute to the final data</a:t>
                      </a:r>
                    </a:p>
                  </a:txBody>
                  <a:tcPr anchor="ctr" horzOverflow="overflow">
                    <a:lnL>
                      <a:noFill/>
                    </a:lnL>
                    <a:lnR w="6350" cap="flat" cmpd="sng" algn="ctr">
                      <a:solidFill>
                        <a:srgbClr val="0070C0"/>
                      </a:solidFill>
                      <a:prstDash val="solid"/>
                      <a:round/>
                      <a:headEnd type="none" w="med" len="med"/>
                      <a:tailEnd type="none" w="med" len="med"/>
                    </a:lnR>
                    <a:lnT w="9525" cap="flat" cmpd="sng" algn="ctr">
                      <a:solidFill>
                        <a:srgbClr val="0070C0"/>
                      </a:solidFill>
                      <a:prstDash val="dash"/>
                      <a:round/>
                      <a:headEnd type="none" w="med" len="med"/>
                      <a:tailEnd type="none" w="med" len="med"/>
                    </a:lnT>
                    <a:lnB w="9525" cap="flat" cmpd="sng" algn="ctr">
                      <a:solidFill>
                        <a:srgbClr val="0070C0"/>
                      </a:solidFill>
                      <a:prstDash val="dash"/>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0005"/>
                  </a:ext>
                </a:extLst>
              </a:tr>
              <a:tr h="698997">
                <a:tc>
                  <a:txBody>
                    <a:bodyPr/>
                    <a:lstStyle>
                      <a:lvl1pPr marL="0" algn="l" defTabSz="914400" rtl="0" eaLnBrk="1" latinLnBrk="0" hangingPunct="1">
                        <a:defRPr sz="1800" b="1" kern="1200">
                          <a:solidFill>
                            <a:schemeClr val="dk1"/>
                          </a:solidFill>
                          <a:latin typeface="Calibri" panose="020F0502020204030204"/>
                          <a:ea typeface=""/>
                          <a:cs typeface=""/>
                        </a:defRPr>
                      </a:lvl1pPr>
                      <a:lvl2pPr marL="457200" algn="l" defTabSz="914400" rtl="0" eaLnBrk="1" latinLnBrk="0" hangingPunct="1">
                        <a:defRPr sz="1800" b="1" kern="1200">
                          <a:solidFill>
                            <a:schemeClr val="dk1"/>
                          </a:solidFill>
                          <a:latin typeface="Calibri" panose="020F0502020204030204"/>
                          <a:ea typeface=""/>
                          <a:cs typeface=""/>
                        </a:defRPr>
                      </a:lvl2pPr>
                      <a:lvl3pPr marL="914400" algn="l" defTabSz="914400" rtl="0" eaLnBrk="1" latinLnBrk="0" hangingPunct="1">
                        <a:defRPr sz="1800" b="1" kern="1200">
                          <a:solidFill>
                            <a:schemeClr val="dk1"/>
                          </a:solidFill>
                          <a:latin typeface="Calibri" panose="020F0502020204030204"/>
                          <a:ea typeface=""/>
                          <a:cs typeface=""/>
                        </a:defRPr>
                      </a:lvl3pPr>
                      <a:lvl4pPr marL="1371600" algn="l" defTabSz="914400" rtl="0" eaLnBrk="1" latinLnBrk="0" hangingPunct="1">
                        <a:defRPr sz="1800" b="1" kern="1200">
                          <a:solidFill>
                            <a:schemeClr val="dk1"/>
                          </a:solidFill>
                          <a:latin typeface="Calibri" panose="020F0502020204030204"/>
                          <a:ea typeface=""/>
                          <a:cs typeface=""/>
                        </a:defRPr>
                      </a:lvl4pPr>
                      <a:lvl5pPr marL="1828800" algn="l" defTabSz="914400" rtl="0" eaLnBrk="1" latinLnBrk="0" hangingPunct="1">
                        <a:defRPr sz="1800" b="1" kern="1200">
                          <a:solidFill>
                            <a:schemeClr val="dk1"/>
                          </a:solidFill>
                          <a:latin typeface="Calibri" panose="020F0502020204030204"/>
                          <a:ea typeface=""/>
                          <a:cs typeface=""/>
                        </a:defRPr>
                      </a:lvl5pPr>
                      <a:lvl6pPr marL="2286000" algn="l" defTabSz="914400" rtl="0" eaLnBrk="1" latinLnBrk="0" hangingPunct="1">
                        <a:defRPr sz="1800" b="1" kern="1200">
                          <a:solidFill>
                            <a:schemeClr val="dk1"/>
                          </a:solidFill>
                          <a:latin typeface="Calibri" panose="020F0502020204030204"/>
                          <a:ea typeface=""/>
                          <a:cs typeface=""/>
                        </a:defRPr>
                      </a:lvl6pPr>
                      <a:lvl7pPr marL="2743200" algn="l" defTabSz="914400" rtl="0" eaLnBrk="1" latinLnBrk="0" hangingPunct="1">
                        <a:defRPr sz="1800" b="1" kern="1200">
                          <a:solidFill>
                            <a:schemeClr val="dk1"/>
                          </a:solidFill>
                          <a:latin typeface="Calibri" panose="020F0502020204030204"/>
                          <a:ea typeface=""/>
                          <a:cs typeface=""/>
                        </a:defRPr>
                      </a:lvl7pPr>
                      <a:lvl8pPr marL="3200400" algn="l" defTabSz="914400" rtl="0" eaLnBrk="1" latinLnBrk="0" hangingPunct="1">
                        <a:defRPr sz="1800" b="1" kern="1200">
                          <a:solidFill>
                            <a:schemeClr val="dk1"/>
                          </a:solidFill>
                          <a:latin typeface="Calibri" panose="020F0502020204030204"/>
                          <a:ea typeface=""/>
                          <a:cs typeface=""/>
                        </a:defRPr>
                      </a:lvl8pPr>
                      <a:lvl9pPr marL="3657600" algn="l" defTabSz="914400" rtl="0" eaLnBrk="1" latinLnBrk="0" hangingPunct="1">
                        <a:defRPr sz="1800" b="1" kern="1200">
                          <a:solidFill>
                            <a:schemeClr val="dk1"/>
                          </a:solidFill>
                          <a:latin typeface="Calibri" panose="020F0502020204030204"/>
                          <a:ea typeface=""/>
                          <a:cs typeface=""/>
                        </a:defRPr>
                      </a:lvl9pPr>
                    </a:lstStyle>
                    <a:p>
                      <a:pPr marL="0" marR="0" lvl="0" indent="0" algn="ctr" defTabSz="914400" rtl="0" eaLnBrk="0" fontAlgn="base" latinLnBrk="0" hangingPunct="0">
                        <a:lnSpc>
                          <a:spcPct val="100000"/>
                        </a:lnSpc>
                        <a:spcBef>
                          <a:spcPct val="0"/>
                        </a:spcBef>
                        <a:spcAft>
                          <a:spcPct val="50000"/>
                        </a:spcAft>
                        <a:buClr>
                          <a:schemeClr val="accent2"/>
                        </a:buClr>
                        <a:buSzTx/>
                        <a:buFont typeface="Wingdings" pitchFamily="2" charset="2"/>
                        <a:buNone/>
                        <a:tabLst/>
                      </a:pPr>
                      <a:endParaRPr kumimoji="0" lang="en-US" sz="700" b="1" i="0" u="none" strike="noStrike" cap="none" normalizeH="0" baseline="0" dirty="0">
                        <a:ln>
                          <a:solidFill>
                            <a:schemeClr val="tx1"/>
                          </a:solidFill>
                          <a:prstDash val="lgDash"/>
                        </a:ln>
                        <a:solidFill>
                          <a:schemeClr val="tx1"/>
                        </a:solidFill>
                        <a:effectLst/>
                        <a:latin typeface="Arial" charset="0"/>
                      </a:endParaRPr>
                    </a:p>
                  </a:txBody>
                  <a:tcPr anchor="ctr" horzOverflow="overflow">
                    <a:lnL w="6350" cap="flat" cmpd="sng" algn="ctr">
                      <a:solidFill>
                        <a:srgbClr val="0070C0"/>
                      </a:solidFill>
                      <a:prstDash val="solid"/>
                      <a:round/>
                      <a:headEnd type="none" w="med" len="med"/>
                      <a:tailEnd type="none" w="med" len="med"/>
                    </a:lnL>
                    <a:lnR>
                      <a:noFill/>
                    </a:lnR>
                    <a:lnT w="9525" cap="flat" cmpd="sng" algn="ctr">
                      <a:solidFill>
                        <a:srgbClr val="0070C0"/>
                      </a:solidFill>
                      <a:prstDash val="dash"/>
                      <a:round/>
                      <a:headEnd type="none" w="med" len="med"/>
                      <a:tailEnd type="none" w="med" len="med"/>
                    </a:lnT>
                    <a:lnB w="9525" cap="flat" cmpd="sng" algn="ctr">
                      <a:solidFill>
                        <a:srgbClr val="0070C0"/>
                      </a:solidFill>
                      <a:prstDash val="dash"/>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marR="0" lvl="0" indent="0" algn="l" defTabSz="914400" rtl="0" eaLnBrk="0" fontAlgn="base" latinLnBrk="0" hangingPunct="0">
                        <a:lnSpc>
                          <a:spcPct val="100000"/>
                        </a:lnSpc>
                        <a:spcBef>
                          <a:spcPct val="0"/>
                        </a:spcBef>
                        <a:spcAft>
                          <a:spcPct val="50000"/>
                        </a:spcAft>
                        <a:buClr>
                          <a:schemeClr val="accent2"/>
                        </a:buClr>
                        <a:buSzTx/>
                        <a:buFont typeface="Wingdings" pitchFamily="2" charset="2"/>
                        <a:buNone/>
                        <a:tabLst/>
                      </a:pPr>
                      <a:r>
                        <a:rPr kumimoji="0" lang="en-US" sz="800" b="1" i="0" u="none" strike="noStrike" cap="none" normalizeH="0" baseline="0" dirty="0">
                          <a:ln>
                            <a:noFill/>
                          </a:ln>
                          <a:solidFill>
                            <a:srgbClr val="002060"/>
                          </a:solidFill>
                          <a:effectLst/>
                          <a:latin typeface="Arial" charset="0"/>
                        </a:rPr>
                        <a:t>The data is scrutinised using MS Excel to find qualitative and quantitative insights about the industry</a:t>
                      </a:r>
                    </a:p>
                  </a:txBody>
                  <a:tcPr anchor="ctr" horzOverflow="overflow">
                    <a:lnL>
                      <a:noFill/>
                    </a:lnL>
                    <a:lnR w="6350" cap="flat" cmpd="sng" algn="ctr">
                      <a:solidFill>
                        <a:srgbClr val="0070C0"/>
                      </a:solidFill>
                      <a:prstDash val="solid"/>
                      <a:round/>
                      <a:headEnd type="none" w="med" len="med"/>
                      <a:tailEnd type="none" w="med" len="med"/>
                    </a:lnR>
                    <a:lnT w="9525" cap="flat" cmpd="sng" algn="ctr">
                      <a:solidFill>
                        <a:srgbClr val="0070C0"/>
                      </a:solidFill>
                      <a:prstDash val="dash"/>
                      <a:round/>
                      <a:headEnd type="none" w="med" len="med"/>
                      <a:tailEnd type="none" w="med" len="med"/>
                    </a:lnT>
                    <a:lnB w="9525" cap="flat" cmpd="sng" algn="ctr">
                      <a:solidFill>
                        <a:srgbClr val="0070C0"/>
                      </a:solidFill>
                      <a:prstDash val="dash"/>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0006"/>
                  </a:ext>
                </a:extLst>
              </a:tr>
              <a:tr h="517776">
                <a:tc>
                  <a:txBody>
                    <a:bodyPr/>
                    <a:lstStyle>
                      <a:lvl1pPr marL="0" algn="l" defTabSz="914400" rtl="0" eaLnBrk="1" latinLnBrk="0" hangingPunct="1">
                        <a:defRPr sz="1800" b="1" kern="1200">
                          <a:solidFill>
                            <a:schemeClr val="dk1"/>
                          </a:solidFill>
                          <a:latin typeface="Calibri" panose="020F0502020204030204"/>
                          <a:ea typeface=""/>
                          <a:cs typeface=""/>
                        </a:defRPr>
                      </a:lvl1pPr>
                      <a:lvl2pPr marL="457200" algn="l" defTabSz="914400" rtl="0" eaLnBrk="1" latinLnBrk="0" hangingPunct="1">
                        <a:defRPr sz="1800" b="1" kern="1200">
                          <a:solidFill>
                            <a:schemeClr val="dk1"/>
                          </a:solidFill>
                          <a:latin typeface="Calibri" panose="020F0502020204030204"/>
                          <a:ea typeface=""/>
                          <a:cs typeface=""/>
                        </a:defRPr>
                      </a:lvl2pPr>
                      <a:lvl3pPr marL="914400" algn="l" defTabSz="914400" rtl="0" eaLnBrk="1" latinLnBrk="0" hangingPunct="1">
                        <a:defRPr sz="1800" b="1" kern="1200">
                          <a:solidFill>
                            <a:schemeClr val="dk1"/>
                          </a:solidFill>
                          <a:latin typeface="Calibri" panose="020F0502020204030204"/>
                          <a:ea typeface=""/>
                          <a:cs typeface=""/>
                        </a:defRPr>
                      </a:lvl3pPr>
                      <a:lvl4pPr marL="1371600" algn="l" defTabSz="914400" rtl="0" eaLnBrk="1" latinLnBrk="0" hangingPunct="1">
                        <a:defRPr sz="1800" b="1" kern="1200">
                          <a:solidFill>
                            <a:schemeClr val="dk1"/>
                          </a:solidFill>
                          <a:latin typeface="Calibri" panose="020F0502020204030204"/>
                          <a:ea typeface=""/>
                          <a:cs typeface=""/>
                        </a:defRPr>
                      </a:lvl4pPr>
                      <a:lvl5pPr marL="1828800" algn="l" defTabSz="914400" rtl="0" eaLnBrk="1" latinLnBrk="0" hangingPunct="1">
                        <a:defRPr sz="1800" b="1" kern="1200">
                          <a:solidFill>
                            <a:schemeClr val="dk1"/>
                          </a:solidFill>
                          <a:latin typeface="Calibri" panose="020F0502020204030204"/>
                          <a:ea typeface=""/>
                          <a:cs typeface=""/>
                        </a:defRPr>
                      </a:lvl5pPr>
                      <a:lvl6pPr marL="2286000" algn="l" defTabSz="914400" rtl="0" eaLnBrk="1" latinLnBrk="0" hangingPunct="1">
                        <a:defRPr sz="1800" b="1" kern="1200">
                          <a:solidFill>
                            <a:schemeClr val="dk1"/>
                          </a:solidFill>
                          <a:latin typeface="Calibri" panose="020F0502020204030204"/>
                          <a:ea typeface=""/>
                          <a:cs typeface=""/>
                        </a:defRPr>
                      </a:lvl6pPr>
                      <a:lvl7pPr marL="2743200" algn="l" defTabSz="914400" rtl="0" eaLnBrk="1" latinLnBrk="0" hangingPunct="1">
                        <a:defRPr sz="1800" b="1" kern="1200">
                          <a:solidFill>
                            <a:schemeClr val="dk1"/>
                          </a:solidFill>
                          <a:latin typeface="Calibri" panose="020F0502020204030204"/>
                          <a:ea typeface=""/>
                          <a:cs typeface=""/>
                        </a:defRPr>
                      </a:lvl7pPr>
                      <a:lvl8pPr marL="3200400" algn="l" defTabSz="914400" rtl="0" eaLnBrk="1" latinLnBrk="0" hangingPunct="1">
                        <a:defRPr sz="1800" b="1" kern="1200">
                          <a:solidFill>
                            <a:schemeClr val="dk1"/>
                          </a:solidFill>
                          <a:latin typeface="Calibri" panose="020F0502020204030204"/>
                          <a:ea typeface=""/>
                          <a:cs typeface=""/>
                        </a:defRPr>
                      </a:lvl8pPr>
                      <a:lvl9pPr marL="3657600" algn="l" defTabSz="914400" rtl="0" eaLnBrk="1" latinLnBrk="0" hangingPunct="1">
                        <a:defRPr sz="1800" b="1" kern="1200">
                          <a:solidFill>
                            <a:schemeClr val="dk1"/>
                          </a:solidFill>
                          <a:latin typeface="Calibri" panose="020F0502020204030204"/>
                          <a:ea typeface=""/>
                          <a:cs typeface=""/>
                        </a:defRPr>
                      </a:lvl9pPr>
                    </a:lstStyle>
                    <a:p>
                      <a:pPr marL="0" marR="0" lvl="0" indent="0" algn="ctr" defTabSz="914400" rtl="0" eaLnBrk="0" fontAlgn="base" latinLnBrk="0" hangingPunct="0">
                        <a:lnSpc>
                          <a:spcPct val="100000"/>
                        </a:lnSpc>
                        <a:spcBef>
                          <a:spcPct val="0"/>
                        </a:spcBef>
                        <a:spcAft>
                          <a:spcPct val="50000"/>
                        </a:spcAft>
                        <a:buClr>
                          <a:schemeClr val="accent2"/>
                        </a:buClr>
                        <a:buSzTx/>
                        <a:buFont typeface="Wingdings" pitchFamily="2" charset="2"/>
                        <a:buNone/>
                        <a:tabLst/>
                      </a:pPr>
                      <a:endParaRPr kumimoji="0" lang="en-US" sz="700" b="1" i="0" u="none" strike="noStrike" cap="none" normalizeH="0" baseline="0" dirty="0">
                        <a:ln>
                          <a:solidFill>
                            <a:schemeClr val="tx1"/>
                          </a:solidFill>
                          <a:prstDash val="lgDash"/>
                        </a:ln>
                        <a:solidFill>
                          <a:schemeClr val="tx1"/>
                        </a:solidFill>
                        <a:effectLst/>
                        <a:latin typeface="Arial" charset="0"/>
                      </a:endParaRPr>
                    </a:p>
                  </a:txBody>
                  <a:tcPr anchor="ctr" horzOverflow="overflow">
                    <a:lnL w="6350" cap="flat" cmpd="sng" algn="ctr">
                      <a:solidFill>
                        <a:srgbClr val="0070C0"/>
                      </a:solidFill>
                      <a:prstDash val="solid"/>
                      <a:round/>
                      <a:headEnd type="none" w="med" len="med"/>
                      <a:tailEnd type="none" w="med" len="med"/>
                    </a:lnL>
                    <a:lnR>
                      <a:noFill/>
                    </a:lnR>
                    <a:lnT w="9525" cap="flat" cmpd="sng" algn="ctr">
                      <a:solidFill>
                        <a:srgbClr val="0070C0"/>
                      </a:solidFill>
                      <a:prstDash val="dash"/>
                      <a:round/>
                      <a:headEnd type="none" w="med" len="med"/>
                      <a:tailEnd type="none" w="med" len="med"/>
                    </a:lnT>
                    <a:lnB w="6350" cap="flat" cmpd="sng" algn="ctr">
                      <a:solidFill>
                        <a:srgbClr val="0070C0"/>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0" hangingPunct="1">
                        <a:defRPr sz="1800" kern="1200">
                          <a:solidFill>
                            <a:schemeClr val="dk1"/>
                          </a:solidFill>
                          <a:latin typeface="Calibri" panose="020F0502020204030204"/>
                          <a:ea typeface=""/>
                          <a:cs typeface=""/>
                        </a:defRPr>
                      </a:lvl1pPr>
                      <a:lvl2pPr marL="457200" algn="l" defTabSz="914400" rtl="0" eaLnBrk="1" latinLnBrk="0" hangingPunct="1">
                        <a:defRPr sz="1800" kern="1200">
                          <a:solidFill>
                            <a:schemeClr val="dk1"/>
                          </a:solidFill>
                          <a:latin typeface="Calibri" panose="020F0502020204030204"/>
                          <a:ea typeface=""/>
                          <a:cs typeface=""/>
                        </a:defRPr>
                      </a:lvl2pPr>
                      <a:lvl3pPr marL="914400" algn="l" defTabSz="914400" rtl="0" eaLnBrk="1" latinLnBrk="0" hangingPunct="1">
                        <a:defRPr sz="1800" kern="1200">
                          <a:solidFill>
                            <a:schemeClr val="dk1"/>
                          </a:solidFill>
                          <a:latin typeface="Calibri" panose="020F0502020204030204"/>
                          <a:ea typeface=""/>
                          <a:cs typeface=""/>
                        </a:defRPr>
                      </a:lvl3pPr>
                      <a:lvl4pPr marL="1371600" algn="l" defTabSz="914400" rtl="0" eaLnBrk="1" latinLnBrk="0" hangingPunct="1">
                        <a:defRPr sz="1800" kern="1200">
                          <a:solidFill>
                            <a:schemeClr val="dk1"/>
                          </a:solidFill>
                          <a:latin typeface="Calibri" panose="020F0502020204030204"/>
                          <a:ea typeface=""/>
                          <a:cs typeface=""/>
                        </a:defRPr>
                      </a:lvl4pPr>
                      <a:lvl5pPr marL="1828800" algn="l" defTabSz="914400" rtl="0" eaLnBrk="1" latinLnBrk="0" hangingPunct="1">
                        <a:defRPr sz="1800" kern="1200">
                          <a:solidFill>
                            <a:schemeClr val="dk1"/>
                          </a:solidFill>
                          <a:latin typeface="Calibri" panose="020F0502020204030204"/>
                          <a:ea typeface=""/>
                          <a:cs typeface=""/>
                        </a:defRPr>
                      </a:lvl5pPr>
                      <a:lvl6pPr marL="2286000" algn="l" defTabSz="914400" rtl="0" eaLnBrk="1" latinLnBrk="0" hangingPunct="1">
                        <a:defRPr sz="1800" kern="1200">
                          <a:solidFill>
                            <a:schemeClr val="dk1"/>
                          </a:solidFill>
                          <a:latin typeface="Calibri" panose="020F0502020204030204"/>
                          <a:ea typeface=""/>
                          <a:cs typeface=""/>
                        </a:defRPr>
                      </a:lvl6pPr>
                      <a:lvl7pPr marL="2743200" algn="l" defTabSz="914400" rtl="0" eaLnBrk="1" latinLnBrk="0" hangingPunct="1">
                        <a:defRPr sz="1800" kern="1200">
                          <a:solidFill>
                            <a:schemeClr val="dk1"/>
                          </a:solidFill>
                          <a:latin typeface="Calibri" panose="020F0502020204030204"/>
                          <a:ea typeface=""/>
                          <a:cs typeface=""/>
                        </a:defRPr>
                      </a:lvl7pPr>
                      <a:lvl8pPr marL="3200400" algn="l" defTabSz="914400" rtl="0" eaLnBrk="1" latinLnBrk="0" hangingPunct="1">
                        <a:defRPr sz="1800" kern="1200">
                          <a:solidFill>
                            <a:schemeClr val="dk1"/>
                          </a:solidFill>
                          <a:latin typeface="Calibri" panose="020F0502020204030204"/>
                          <a:ea typeface=""/>
                          <a:cs typeface=""/>
                        </a:defRPr>
                      </a:lvl8pPr>
                      <a:lvl9pPr marL="3657600" algn="l" defTabSz="914400" rtl="0" eaLnBrk="1" latinLnBrk="0" hangingPunct="1">
                        <a:defRPr sz="1800" kern="1200">
                          <a:solidFill>
                            <a:schemeClr val="dk1"/>
                          </a:solidFill>
                          <a:latin typeface="Calibri" panose="020F0502020204030204"/>
                          <a:ea typeface=""/>
                          <a:cs typeface=""/>
                        </a:defRPr>
                      </a:lvl9pPr>
                    </a:lstStyle>
                    <a:p>
                      <a:pPr marL="0" marR="0" lvl="0" indent="0" algn="l" defTabSz="914400" rtl="0" eaLnBrk="0" fontAlgn="base" latinLnBrk="0" hangingPunct="0">
                        <a:lnSpc>
                          <a:spcPct val="100000"/>
                        </a:lnSpc>
                        <a:spcBef>
                          <a:spcPct val="0"/>
                        </a:spcBef>
                        <a:spcAft>
                          <a:spcPct val="50000"/>
                        </a:spcAft>
                        <a:buClr>
                          <a:schemeClr val="accent2"/>
                        </a:buClr>
                        <a:buSzTx/>
                        <a:buFont typeface="Wingdings" pitchFamily="2" charset="2"/>
                        <a:buNone/>
                        <a:tabLst/>
                      </a:pPr>
                      <a:r>
                        <a:rPr kumimoji="0" lang="en-US" sz="800" b="1" i="0" u="none" strike="noStrike" cap="none" normalizeH="0" baseline="0" dirty="0">
                          <a:ln>
                            <a:noFill/>
                          </a:ln>
                          <a:solidFill>
                            <a:srgbClr val="002060"/>
                          </a:solidFill>
                          <a:effectLst/>
                          <a:latin typeface="Arial" charset="0"/>
                        </a:rPr>
                        <a:t>TMR delivers industry insights and information in the required format (PDF)</a:t>
                      </a:r>
                    </a:p>
                  </a:txBody>
                  <a:tcPr anchor="ctr" horzOverflow="overflow">
                    <a:lnL>
                      <a:noFill/>
                    </a:lnL>
                    <a:lnR w="6350" cap="flat" cmpd="sng" algn="ctr">
                      <a:solidFill>
                        <a:srgbClr val="0070C0"/>
                      </a:solidFill>
                      <a:prstDash val="solid"/>
                      <a:round/>
                      <a:headEnd type="none" w="med" len="med"/>
                      <a:tailEnd type="none" w="med" len="med"/>
                    </a:lnR>
                    <a:lnT w="9525" cap="flat" cmpd="sng" algn="ctr">
                      <a:solidFill>
                        <a:srgbClr val="0070C0"/>
                      </a:solidFill>
                      <a:prstDash val="dash"/>
                      <a:round/>
                      <a:headEnd type="none" w="med" len="med"/>
                      <a:tailEnd type="none" w="med" len="med"/>
                    </a:lnT>
                    <a:lnB w="6350" cap="flat" cmpd="sng" algn="ctr">
                      <a:solidFill>
                        <a:srgbClr val="0070C0"/>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0007"/>
                  </a:ext>
                </a:extLst>
              </a:tr>
            </a:tbl>
          </a:graphicData>
        </a:graphic>
      </p:graphicFrame>
      <p:grpSp>
        <p:nvGrpSpPr>
          <p:cNvPr id="94" name="Group 93"/>
          <p:cNvGrpSpPr/>
          <p:nvPr/>
        </p:nvGrpSpPr>
        <p:grpSpPr>
          <a:xfrm>
            <a:off x="205152" y="1767769"/>
            <a:ext cx="2611436" cy="4311949"/>
            <a:chOff x="205152" y="1767769"/>
            <a:chExt cx="2611436" cy="4311949"/>
          </a:xfrm>
        </p:grpSpPr>
        <p:grpSp>
          <p:nvGrpSpPr>
            <p:cNvPr id="93" name="Group 92"/>
            <p:cNvGrpSpPr/>
            <p:nvPr/>
          </p:nvGrpSpPr>
          <p:grpSpPr>
            <a:xfrm>
              <a:off x="205152" y="1767769"/>
              <a:ext cx="2611436" cy="565262"/>
              <a:chOff x="152400" y="1767769"/>
              <a:chExt cx="2611436" cy="565262"/>
            </a:xfrm>
          </p:grpSpPr>
          <p:sp>
            <p:nvSpPr>
              <p:cNvPr id="40" name="AutoShape 57"/>
              <p:cNvSpPr>
                <a:spLocks noChangeArrowheads="1"/>
              </p:cNvSpPr>
              <p:nvPr/>
            </p:nvSpPr>
            <p:spPr bwMode="gray">
              <a:xfrm>
                <a:off x="152400" y="1847831"/>
                <a:ext cx="2534323" cy="395491"/>
              </a:xfrm>
              <a:custGeom>
                <a:avLst/>
                <a:gdLst>
                  <a:gd name="G0" fmla="+- 1414 0 0"/>
                  <a:gd name="G1" fmla="+- 21600 0 1414"/>
                  <a:gd name="G2" fmla="*/ 1414 1 2"/>
                  <a:gd name="G3" fmla="+- 21600 0 G2"/>
                  <a:gd name="G4" fmla="+/ 1414 21600 2"/>
                  <a:gd name="G5" fmla="+/ G1 0 2"/>
                  <a:gd name="G6" fmla="*/ 21600 21600 1414"/>
                  <a:gd name="G7" fmla="*/ G6 1 2"/>
                  <a:gd name="G8" fmla="+- 21600 0 G7"/>
                  <a:gd name="G9" fmla="*/ 21600 1 2"/>
                  <a:gd name="G10" fmla="+- 1414 0 G9"/>
                  <a:gd name="G11" fmla="?: G10 G8 0"/>
                  <a:gd name="G12" fmla="?: G10 G7 21600"/>
                  <a:gd name="T0" fmla="*/ 20893 w 21600"/>
                  <a:gd name="T1" fmla="*/ 10800 h 21600"/>
                  <a:gd name="T2" fmla="*/ 10800 w 21600"/>
                  <a:gd name="T3" fmla="*/ 21600 h 21600"/>
                  <a:gd name="T4" fmla="*/ 707 w 21600"/>
                  <a:gd name="T5" fmla="*/ 10800 h 21600"/>
                  <a:gd name="T6" fmla="*/ 10800 w 21600"/>
                  <a:gd name="T7" fmla="*/ 0 h 21600"/>
                  <a:gd name="T8" fmla="*/ 2507 w 21600"/>
                  <a:gd name="T9" fmla="*/ 2507 h 21600"/>
                  <a:gd name="T10" fmla="*/ 19093 w 21600"/>
                  <a:gd name="T11" fmla="*/ 19093 h 21600"/>
                </a:gdLst>
                <a:ahLst/>
                <a:cxnLst>
                  <a:cxn ang="0">
                    <a:pos x="T0" y="T1"/>
                  </a:cxn>
                  <a:cxn ang="0">
                    <a:pos x="T2" y="T3"/>
                  </a:cxn>
                  <a:cxn ang="0">
                    <a:pos x="T4" y="T5"/>
                  </a:cxn>
                  <a:cxn ang="0">
                    <a:pos x="T6" y="T7"/>
                  </a:cxn>
                </a:cxnLst>
                <a:rect l="T8" t="T9" r="T10" b="T11"/>
                <a:pathLst>
                  <a:path w="21600" h="21600">
                    <a:moveTo>
                      <a:pt x="0" y="0"/>
                    </a:moveTo>
                    <a:lnTo>
                      <a:pt x="1414" y="21600"/>
                    </a:lnTo>
                    <a:lnTo>
                      <a:pt x="20186" y="21600"/>
                    </a:lnTo>
                    <a:lnTo>
                      <a:pt x="21600" y="0"/>
                    </a:lnTo>
                    <a:close/>
                  </a:path>
                </a:pathLst>
              </a:custGeom>
              <a:solidFill>
                <a:srgbClr val="7DC7FF">
                  <a:lumMod val="50000"/>
                </a:srgbClr>
              </a:solidFill>
              <a:ln w="9525" algn="ctr">
                <a:noFill/>
                <a:miter lim="800000"/>
                <a:headEnd/>
                <a:tailEnd/>
              </a:ln>
              <a:effectLst/>
            </p:spPr>
            <p:txBody>
              <a:bodyPr vert="eaVert" wrap="none" lIns="85952" tIns="42977" rIns="85952" bIns="42977" anchor="ctr"/>
              <a:lstStyle/>
              <a:p>
                <a:pPr defTabSz="858838">
                  <a:spcAft>
                    <a:spcPct val="0"/>
                  </a:spcAft>
                  <a:defRPr/>
                </a:pPr>
                <a:endParaRPr lang="en-US" sz="800" kern="0" dirty="0">
                  <a:solidFill>
                    <a:prstClr val="white"/>
                  </a:solidFill>
                </a:endParaRPr>
              </a:p>
            </p:txBody>
          </p:sp>
          <p:sp>
            <p:nvSpPr>
              <p:cNvPr id="41" name="Oval 58"/>
              <p:cNvSpPr>
                <a:spLocks noChangeArrowheads="1"/>
              </p:cNvSpPr>
              <p:nvPr/>
            </p:nvSpPr>
            <p:spPr bwMode="gray">
              <a:xfrm rot="16200000">
                <a:off x="1324280" y="1144765"/>
                <a:ext cx="181347" cy="2195185"/>
              </a:xfrm>
              <a:prstGeom prst="ellipse">
                <a:avLst/>
              </a:prstGeom>
              <a:solidFill>
                <a:srgbClr val="7DC7FF">
                  <a:lumMod val="50000"/>
                </a:srgbClr>
              </a:solidFill>
              <a:ln w="9525" algn="ctr">
                <a:noFill/>
                <a:round/>
                <a:headEnd/>
                <a:tailEnd/>
              </a:ln>
              <a:effectLst/>
            </p:spPr>
            <p:txBody>
              <a:bodyPr vert="eaVert" wrap="none" lIns="85952" tIns="42977" rIns="85952" bIns="42977" anchor="ctr"/>
              <a:lstStyle/>
              <a:p>
                <a:pPr>
                  <a:defRPr/>
                </a:pPr>
                <a:endParaRPr lang="en-US" sz="800" kern="0" dirty="0">
                  <a:solidFill>
                    <a:prstClr val="white"/>
                  </a:solidFill>
                </a:endParaRPr>
              </a:p>
            </p:txBody>
          </p:sp>
          <p:sp>
            <p:nvSpPr>
              <p:cNvPr id="42" name="Oval 59"/>
              <p:cNvSpPr>
                <a:spLocks noChangeArrowheads="1"/>
              </p:cNvSpPr>
              <p:nvPr/>
            </p:nvSpPr>
            <p:spPr bwMode="gray">
              <a:xfrm rot="16200000">
                <a:off x="1343315" y="577776"/>
                <a:ext cx="154337" cy="2534323"/>
              </a:xfrm>
              <a:prstGeom prst="ellipse">
                <a:avLst/>
              </a:prstGeom>
              <a:solidFill>
                <a:srgbClr val="7DC7FF">
                  <a:lumMod val="50000"/>
                </a:srgbClr>
              </a:solidFill>
              <a:ln w="9525" algn="ctr">
                <a:solidFill>
                  <a:srgbClr val="7DC7FF"/>
                </a:solidFill>
                <a:round/>
                <a:headEnd/>
                <a:tailEnd/>
              </a:ln>
              <a:effectLst/>
            </p:spPr>
            <p:txBody>
              <a:bodyPr wrap="none" anchor="ctr"/>
              <a:lstStyle/>
              <a:p>
                <a:pPr>
                  <a:defRPr/>
                </a:pPr>
                <a:endParaRPr lang="en-US" sz="800" kern="0" dirty="0">
                  <a:solidFill>
                    <a:prstClr val="white"/>
                  </a:solidFill>
                </a:endParaRPr>
              </a:p>
            </p:txBody>
          </p:sp>
          <p:sp>
            <p:nvSpPr>
              <p:cNvPr id="49" name="Text Box 85"/>
              <p:cNvSpPr txBox="1">
                <a:spLocks noChangeArrowheads="1"/>
              </p:cNvSpPr>
              <p:nvPr/>
            </p:nvSpPr>
            <p:spPr bwMode="gray">
              <a:xfrm>
                <a:off x="301695" y="1956070"/>
                <a:ext cx="2235734" cy="138499"/>
              </a:xfrm>
              <a:prstGeom prst="rect">
                <a:avLst/>
              </a:prstGeom>
              <a:solidFill>
                <a:srgbClr val="7DC7FF">
                  <a:lumMod val="50000"/>
                </a:srgbClr>
              </a:solidFill>
              <a:ln w="9525">
                <a:noFill/>
                <a:miter lim="800000"/>
                <a:headEnd/>
                <a:tailEnd/>
              </a:ln>
              <a:effectLst/>
            </p:spPr>
            <p:txBody>
              <a:bodyPr lIns="0" tIns="0" rIns="0" bIns="0" anchor="ctr" anchorCtr="1">
                <a:spAutoFit/>
              </a:bodyPr>
              <a:lstStyle/>
              <a:p>
                <a:pPr defTabSz="1019175">
                  <a:spcBef>
                    <a:spcPct val="50000"/>
                  </a:spcBef>
                  <a:spcAft>
                    <a:spcPct val="0"/>
                  </a:spcAft>
                  <a:defRPr/>
                </a:pPr>
                <a:r>
                  <a:rPr lang="en-US" sz="900" b="1" kern="0" dirty="0">
                    <a:solidFill>
                      <a:prstClr val="white"/>
                    </a:solidFill>
                  </a:rPr>
                  <a:t>Market profiling</a:t>
                </a:r>
              </a:p>
            </p:txBody>
          </p:sp>
          <p:sp>
            <p:nvSpPr>
              <p:cNvPr id="56" name="Oval 55"/>
              <p:cNvSpPr/>
              <p:nvPr/>
            </p:nvSpPr>
            <p:spPr>
              <a:xfrm>
                <a:off x="2262674" y="1774038"/>
                <a:ext cx="501162" cy="444493"/>
              </a:xfrm>
              <a:prstGeom prst="ellipse">
                <a:avLst/>
              </a:prstGeom>
              <a:solidFill>
                <a:srgbClr val="FFCBB3">
                  <a:lumMod val="50000"/>
                </a:srgbClr>
              </a:solidFill>
              <a:ln w="6350" cap="flat" cmpd="sng" algn="ctr">
                <a:solidFill>
                  <a:srgbClr val="FFCBB3"/>
                </a:solidFill>
                <a:prstDash val="solid"/>
                <a:miter lim="800000"/>
              </a:ln>
              <a:effectLst/>
            </p:spPr>
            <p:txBody>
              <a:bodyPr rtlCol="0" anchor="ctr"/>
              <a:lstStyle/>
              <a:p>
                <a:pPr algn="ctr">
                  <a:defRPr/>
                </a:pPr>
                <a:r>
                  <a:rPr lang="en-US" sz="1100" b="1" kern="0" dirty="0">
                    <a:solidFill>
                      <a:prstClr val="white"/>
                    </a:solidFill>
                  </a:rPr>
                  <a:t>1</a:t>
                </a:r>
              </a:p>
            </p:txBody>
          </p:sp>
        </p:grpSp>
        <p:grpSp>
          <p:nvGrpSpPr>
            <p:cNvPr id="92" name="Group 91"/>
            <p:cNvGrpSpPr/>
            <p:nvPr/>
          </p:nvGrpSpPr>
          <p:grpSpPr>
            <a:xfrm>
              <a:off x="318521" y="2449530"/>
              <a:ext cx="2384699" cy="509533"/>
              <a:chOff x="277733" y="2449530"/>
              <a:chExt cx="2384699" cy="509533"/>
            </a:xfrm>
          </p:grpSpPr>
          <p:grpSp>
            <p:nvGrpSpPr>
              <p:cNvPr id="43" name="Group 60"/>
              <p:cNvGrpSpPr>
                <a:grpSpLocks/>
              </p:cNvGrpSpPr>
              <p:nvPr/>
            </p:nvGrpSpPr>
            <p:grpSpPr bwMode="auto">
              <a:xfrm>
                <a:off x="277733" y="2455536"/>
                <a:ext cx="2283655" cy="503527"/>
                <a:chOff x="847" y="1947"/>
                <a:chExt cx="1239" cy="261"/>
              </a:xfrm>
              <a:solidFill>
                <a:srgbClr val="7DC7FF">
                  <a:lumMod val="50000"/>
                </a:srgbClr>
              </a:solidFill>
            </p:grpSpPr>
            <p:sp>
              <p:nvSpPr>
                <p:cNvPr id="78" name="AutoShape 61"/>
                <p:cNvSpPr>
                  <a:spLocks noChangeArrowheads="1"/>
                </p:cNvSpPr>
                <p:nvPr/>
              </p:nvSpPr>
              <p:spPr bwMode="gray">
                <a:xfrm>
                  <a:off x="847" y="1988"/>
                  <a:ext cx="1239" cy="179"/>
                </a:xfrm>
                <a:custGeom>
                  <a:avLst/>
                  <a:gdLst>
                    <a:gd name="G0" fmla="+- 1414 0 0"/>
                    <a:gd name="G1" fmla="+- 21600 0 1414"/>
                    <a:gd name="G2" fmla="*/ 1414 1 2"/>
                    <a:gd name="G3" fmla="+- 21600 0 G2"/>
                    <a:gd name="G4" fmla="+/ 1414 21600 2"/>
                    <a:gd name="G5" fmla="+/ G1 0 2"/>
                    <a:gd name="G6" fmla="*/ 21600 21600 1414"/>
                    <a:gd name="G7" fmla="*/ G6 1 2"/>
                    <a:gd name="G8" fmla="+- 21600 0 G7"/>
                    <a:gd name="G9" fmla="*/ 21600 1 2"/>
                    <a:gd name="G10" fmla="+- 1414 0 G9"/>
                    <a:gd name="G11" fmla="?: G10 G8 0"/>
                    <a:gd name="G12" fmla="?: G10 G7 21600"/>
                    <a:gd name="T0" fmla="*/ 20893 w 21600"/>
                    <a:gd name="T1" fmla="*/ 10800 h 21600"/>
                    <a:gd name="T2" fmla="*/ 10800 w 21600"/>
                    <a:gd name="T3" fmla="*/ 21600 h 21600"/>
                    <a:gd name="T4" fmla="*/ 707 w 21600"/>
                    <a:gd name="T5" fmla="*/ 10800 h 21600"/>
                    <a:gd name="T6" fmla="*/ 10800 w 21600"/>
                    <a:gd name="T7" fmla="*/ 0 h 21600"/>
                    <a:gd name="T8" fmla="*/ 2507 w 21600"/>
                    <a:gd name="T9" fmla="*/ 2507 h 21600"/>
                    <a:gd name="T10" fmla="*/ 19093 w 21600"/>
                    <a:gd name="T11" fmla="*/ 19093 h 21600"/>
                  </a:gdLst>
                  <a:ahLst/>
                  <a:cxnLst>
                    <a:cxn ang="0">
                      <a:pos x="T0" y="T1"/>
                    </a:cxn>
                    <a:cxn ang="0">
                      <a:pos x="T2" y="T3"/>
                    </a:cxn>
                    <a:cxn ang="0">
                      <a:pos x="T4" y="T5"/>
                    </a:cxn>
                    <a:cxn ang="0">
                      <a:pos x="T6" y="T7"/>
                    </a:cxn>
                  </a:cxnLst>
                  <a:rect l="T8" t="T9" r="T10" b="T11"/>
                  <a:pathLst>
                    <a:path w="21600" h="21600">
                      <a:moveTo>
                        <a:pt x="0" y="0"/>
                      </a:moveTo>
                      <a:lnTo>
                        <a:pt x="1414" y="21600"/>
                      </a:lnTo>
                      <a:lnTo>
                        <a:pt x="20186" y="21600"/>
                      </a:lnTo>
                      <a:lnTo>
                        <a:pt x="21600" y="0"/>
                      </a:lnTo>
                      <a:close/>
                    </a:path>
                  </a:pathLst>
                </a:custGeom>
                <a:grpFill/>
                <a:ln w="9525" algn="ctr">
                  <a:noFill/>
                  <a:miter lim="800000"/>
                  <a:headEnd/>
                  <a:tailEnd/>
                </a:ln>
                <a:effectLst/>
              </p:spPr>
              <p:txBody>
                <a:bodyPr vert="eaVert" wrap="none" lIns="85952" tIns="42977" rIns="85952" bIns="42977" anchor="ctr"/>
                <a:lstStyle/>
                <a:p>
                  <a:pPr defTabSz="858838">
                    <a:spcAft>
                      <a:spcPct val="0"/>
                    </a:spcAft>
                    <a:defRPr/>
                  </a:pPr>
                  <a:endParaRPr lang="en-US" sz="800" kern="0" dirty="0">
                    <a:solidFill>
                      <a:prstClr val="white"/>
                    </a:solidFill>
                  </a:endParaRPr>
                </a:p>
              </p:txBody>
            </p:sp>
            <p:sp>
              <p:nvSpPr>
                <p:cNvPr id="79" name="Oval 62"/>
                <p:cNvSpPr>
                  <a:spLocks noChangeArrowheads="1"/>
                </p:cNvSpPr>
                <p:nvPr/>
              </p:nvSpPr>
              <p:spPr bwMode="gray">
                <a:xfrm rot="16200000">
                  <a:off x="1426" y="1632"/>
                  <a:ext cx="78" cy="1074"/>
                </a:xfrm>
                <a:prstGeom prst="ellipse">
                  <a:avLst/>
                </a:prstGeom>
                <a:grpFill/>
                <a:ln w="9525" algn="ctr">
                  <a:noFill/>
                  <a:round/>
                  <a:headEnd/>
                  <a:tailEnd/>
                </a:ln>
                <a:effectLst/>
              </p:spPr>
              <p:txBody>
                <a:bodyPr vert="eaVert" wrap="none" lIns="85952" tIns="42977" rIns="85952" bIns="42977" anchor="ctr"/>
                <a:lstStyle/>
                <a:p>
                  <a:pPr>
                    <a:defRPr/>
                  </a:pPr>
                  <a:endParaRPr lang="en-US" sz="800" kern="0" dirty="0">
                    <a:solidFill>
                      <a:prstClr val="white"/>
                    </a:solidFill>
                  </a:endParaRPr>
                </a:p>
              </p:txBody>
            </p:sp>
            <p:sp>
              <p:nvSpPr>
                <p:cNvPr id="80" name="Oval 63"/>
                <p:cNvSpPr>
                  <a:spLocks noChangeArrowheads="1"/>
                </p:cNvSpPr>
                <p:nvPr/>
              </p:nvSpPr>
              <p:spPr bwMode="gray">
                <a:xfrm rot="16200000">
                  <a:off x="1427" y="1367"/>
                  <a:ext cx="80" cy="1239"/>
                </a:xfrm>
                <a:prstGeom prst="ellipse">
                  <a:avLst/>
                </a:prstGeom>
                <a:grpFill/>
                <a:ln w="9525" algn="ctr">
                  <a:solidFill>
                    <a:srgbClr val="7DC7FF"/>
                  </a:solidFill>
                  <a:round/>
                  <a:headEnd/>
                  <a:tailEnd/>
                </a:ln>
                <a:effectLst/>
              </p:spPr>
              <p:txBody>
                <a:bodyPr wrap="none" anchor="ctr"/>
                <a:lstStyle/>
                <a:p>
                  <a:pPr>
                    <a:defRPr/>
                  </a:pPr>
                  <a:endParaRPr lang="en-US" sz="800" kern="0" dirty="0">
                    <a:solidFill>
                      <a:prstClr val="white"/>
                    </a:solidFill>
                  </a:endParaRPr>
                </a:p>
              </p:txBody>
            </p:sp>
          </p:grpSp>
          <p:sp>
            <p:nvSpPr>
              <p:cNvPr id="50" name="Text Box 86"/>
              <p:cNvSpPr txBox="1">
                <a:spLocks noChangeArrowheads="1"/>
              </p:cNvSpPr>
              <p:nvPr/>
            </p:nvSpPr>
            <p:spPr bwMode="gray">
              <a:xfrm>
                <a:off x="649126" y="2623996"/>
                <a:ext cx="1463386" cy="276999"/>
              </a:xfrm>
              <a:prstGeom prst="rect">
                <a:avLst/>
              </a:prstGeom>
              <a:solidFill>
                <a:srgbClr val="7DC7FF">
                  <a:lumMod val="50000"/>
                </a:srgbClr>
              </a:solidFill>
              <a:ln w="9525">
                <a:noFill/>
                <a:miter lim="800000"/>
                <a:headEnd/>
                <a:tailEnd/>
              </a:ln>
              <a:effectLst/>
            </p:spPr>
            <p:txBody>
              <a:bodyPr wrap="square" lIns="0" tIns="0" rIns="0" bIns="0" anchor="ctr" anchorCtr="1">
                <a:spAutoFit/>
              </a:bodyPr>
              <a:lstStyle/>
              <a:p>
                <a:pPr algn="ctr" defTabSz="1019175">
                  <a:spcBef>
                    <a:spcPct val="50000"/>
                  </a:spcBef>
                  <a:spcAft>
                    <a:spcPct val="0"/>
                  </a:spcAft>
                  <a:defRPr/>
                </a:pPr>
                <a:r>
                  <a:rPr lang="en-US" sz="900" b="1" kern="0" dirty="0">
                    <a:solidFill>
                      <a:prstClr val="white"/>
                    </a:solidFill>
                  </a:rPr>
                  <a:t>Formulating </a:t>
                </a:r>
                <a:br>
                  <a:rPr lang="en-US" sz="900" b="1" kern="0" dirty="0">
                    <a:solidFill>
                      <a:prstClr val="white"/>
                    </a:solidFill>
                  </a:rPr>
                </a:br>
                <a:r>
                  <a:rPr lang="en-US" sz="900" b="1" kern="0" dirty="0">
                    <a:solidFill>
                      <a:prstClr val="white"/>
                    </a:solidFill>
                  </a:rPr>
                  <a:t>discussion guide</a:t>
                </a:r>
              </a:p>
            </p:txBody>
          </p:sp>
          <p:sp>
            <p:nvSpPr>
              <p:cNvPr id="57" name="Oval 56"/>
              <p:cNvSpPr/>
              <p:nvPr/>
            </p:nvSpPr>
            <p:spPr>
              <a:xfrm>
                <a:off x="2161270" y="2449530"/>
                <a:ext cx="501162" cy="444493"/>
              </a:xfrm>
              <a:prstGeom prst="ellipse">
                <a:avLst/>
              </a:prstGeom>
              <a:solidFill>
                <a:srgbClr val="FFCBB3">
                  <a:lumMod val="50000"/>
                </a:srgbClr>
              </a:solidFill>
              <a:ln w="6350" cap="flat" cmpd="sng" algn="ctr">
                <a:solidFill>
                  <a:srgbClr val="FFCBB3"/>
                </a:solidFill>
                <a:prstDash val="solid"/>
                <a:miter lim="800000"/>
              </a:ln>
              <a:effectLst/>
            </p:spPr>
            <p:txBody>
              <a:bodyPr rtlCol="0" anchor="ctr"/>
              <a:lstStyle/>
              <a:p>
                <a:pPr algn="ctr">
                  <a:defRPr/>
                </a:pPr>
                <a:r>
                  <a:rPr lang="en-US" sz="1100" b="1" kern="0" dirty="0">
                    <a:solidFill>
                      <a:prstClr val="white"/>
                    </a:solidFill>
                  </a:rPr>
                  <a:t>2</a:t>
                </a:r>
              </a:p>
            </p:txBody>
          </p:sp>
        </p:grpSp>
        <p:grpSp>
          <p:nvGrpSpPr>
            <p:cNvPr id="91" name="Group 90"/>
            <p:cNvGrpSpPr/>
            <p:nvPr/>
          </p:nvGrpSpPr>
          <p:grpSpPr>
            <a:xfrm>
              <a:off x="422597" y="3050915"/>
              <a:ext cx="2176546" cy="500418"/>
              <a:chOff x="404910" y="3050915"/>
              <a:chExt cx="2176546" cy="500418"/>
            </a:xfrm>
          </p:grpSpPr>
          <p:grpSp>
            <p:nvGrpSpPr>
              <p:cNvPr id="44" name="Group 64"/>
              <p:cNvGrpSpPr>
                <a:grpSpLocks/>
              </p:cNvGrpSpPr>
              <p:nvPr/>
            </p:nvGrpSpPr>
            <p:grpSpPr bwMode="auto">
              <a:xfrm>
                <a:off x="404910" y="3051665"/>
                <a:ext cx="2029301" cy="499668"/>
                <a:chOff x="916" y="2256"/>
                <a:chExt cx="1101" cy="259"/>
              </a:xfrm>
              <a:solidFill>
                <a:srgbClr val="7DC7FF">
                  <a:lumMod val="50000"/>
                </a:srgbClr>
              </a:solidFill>
            </p:grpSpPr>
            <p:sp>
              <p:nvSpPr>
                <p:cNvPr id="75" name="AutoShape 65"/>
                <p:cNvSpPr>
                  <a:spLocks noChangeArrowheads="1"/>
                </p:cNvSpPr>
                <p:nvPr/>
              </p:nvSpPr>
              <p:spPr bwMode="gray">
                <a:xfrm>
                  <a:off x="916" y="2297"/>
                  <a:ext cx="1101" cy="179"/>
                </a:xfrm>
                <a:custGeom>
                  <a:avLst/>
                  <a:gdLst>
                    <a:gd name="G0" fmla="+- 1414 0 0"/>
                    <a:gd name="G1" fmla="+- 21600 0 1414"/>
                    <a:gd name="G2" fmla="*/ 1414 1 2"/>
                    <a:gd name="G3" fmla="+- 21600 0 G2"/>
                    <a:gd name="G4" fmla="+/ 1414 21600 2"/>
                    <a:gd name="G5" fmla="+/ G1 0 2"/>
                    <a:gd name="G6" fmla="*/ 21600 21600 1414"/>
                    <a:gd name="G7" fmla="*/ G6 1 2"/>
                    <a:gd name="G8" fmla="+- 21600 0 G7"/>
                    <a:gd name="G9" fmla="*/ 21600 1 2"/>
                    <a:gd name="G10" fmla="+- 1414 0 G9"/>
                    <a:gd name="G11" fmla="?: G10 G8 0"/>
                    <a:gd name="G12" fmla="?: G10 G7 21600"/>
                    <a:gd name="T0" fmla="*/ 20893 w 21600"/>
                    <a:gd name="T1" fmla="*/ 10800 h 21600"/>
                    <a:gd name="T2" fmla="*/ 10800 w 21600"/>
                    <a:gd name="T3" fmla="*/ 21600 h 21600"/>
                    <a:gd name="T4" fmla="*/ 707 w 21600"/>
                    <a:gd name="T5" fmla="*/ 10800 h 21600"/>
                    <a:gd name="T6" fmla="*/ 10800 w 21600"/>
                    <a:gd name="T7" fmla="*/ 0 h 21600"/>
                    <a:gd name="T8" fmla="*/ 2507 w 21600"/>
                    <a:gd name="T9" fmla="*/ 2507 h 21600"/>
                    <a:gd name="T10" fmla="*/ 19093 w 21600"/>
                    <a:gd name="T11" fmla="*/ 19093 h 21600"/>
                  </a:gdLst>
                  <a:ahLst/>
                  <a:cxnLst>
                    <a:cxn ang="0">
                      <a:pos x="T0" y="T1"/>
                    </a:cxn>
                    <a:cxn ang="0">
                      <a:pos x="T2" y="T3"/>
                    </a:cxn>
                    <a:cxn ang="0">
                      <a:pos x="T4" y="T5"/>
                    </a:cxn>
                    <a:cxn ang="0">
                      <a:pos x="T6" y="T7"/>
                    </a:cxn>
                  </a:cxnLst>
                  <a:rect l="T8" t="T9" r="T10" b="T11"/>
                  <a:pathLst>
                    <a:path w="21600" h="21600">
                      <a:moveTo>
                        <a:pt x="0" y="0"/>
                      </a:moveTo>
                      <a:lnTo>
                        <a:pt x="1414" y="21600"/>
                      </a:lnTo>
                      <a:lnTo>
                        <a:pt x="20186" y="21600"/>
                      </a:lnTo>
                      <a:lnTo>
                        <a:pt x="21600" y="0"/>
                      </a:lnTo>
                      <a:close/>
                    </a:path>
                  </a:pathLst>
                </a:custGeom>
                <a:grpFill/>
                <a:ln w="9525" algn="ctr">
                  <a:noFill/>
                  <a:miter lim="800000"/>
                  <a:headEnd/>
                  <a:tailEnd/>
                </a:ln>
                <a:effectLst/>
              </p:spPr>
              <p:txBody>
                <a:bodyPr vert="eaVert" wrap="none" lIns="85952" tIns="42977" rIns="85952" bIns="42977" anchor="ctr"/>
                <a:lstStyle/>
                <a:p>
                  <a:pPr defTabSz="858838">
                    <a:spcAft>
                      <a:spcPct val="0"/>
                    </a:spcAft>
                    <a:defRPr/>
                  </a:pPr>
                  <a:endParaRPr lang="en-US" sz="800" kern="0" dirty="0">
                    <a:solidFill>
                      <a:prstClr val="white"/>
                    </a:solidFill>
                  </a:endParaRPr>
                </a:p>
              </p:txBody>
            </p:sp>
            <p:sp>
              <p:nvSpPr>
                <p:cNvPr id="76" name="Oval 66"/>
                <p:cNvSpPr>
                  <a:spLocks noChangeArrowheads="1"/>
                </p:cNvSpPr>
                <p:nvPr/>
              </p:nvSpPr>
              <p:spPr bwMode="gray">
                <a:xfrm rot="16200000">
                  <a:off x="1430" y="1998"/>
                  <a:ext cx="78" cy="955"/>
                </a:xfrm>
                <a:prstGeom prst="ellipse">
                  <a:avLst/>
                </a:prstGeom>
                <a:grpFill/>
                <a:ln w="9525" algn="ctr">
                  <a:noFill/>
                  <a:round/>
                  <a:headEnd/>
                  <a:tailEnd/>
                </a:ln>
                <a:effectLst/>
              </p:spPr>
              <p:txBody>
                <a:bodyPr vert="eaVert" wrap="none" lIns="85952" tIns="42977" rIns="85952" bIns="42977" anchor="ctr"/>
                <a:lstStyle/>
                <a:p>
                  <a:pPr>
                    <a:defRPr/>
                  </a:pPr>
                  <a:endParaRPr lang="en-US" sz="800" kern="0" dirty="0">
                    <a:solidFill>
                      <a:prstClr val="white"/>
                    </a:solidFill>
                  </a:endParaRPr>
                </a:p>
              </p:txBody>
            </p:sp>
            <p:sp>
              <p:nvSpPr>
                <p:cNvPr id="77" name="Oval 67"/>
                <p:cNvSpPr>
                  <a:spLocks noChangeArrowheads="1"/>
                </p:cNvSpPr>
                <p:nvPr/>
              </p:nvSpPr>
              <p:spPr bwMode="gray">
                <a:xfrm rot="16200000">
                  <a:off x="1427" y="1745"/>
                  <a:ext cx="80" cy="1101"/>
                </a:xfrm>
                <a:prstGeom prst="ellipse">
                  <a:avLst/>
                </a:prstGeom>
                <a:grpFill/>
                <a:ln w="9525" algn="ctr">
                  <a:solidFill>
                    <a:srgbClr val="7DC7FF"/>
                  </a:solidFill>
                  <a:round/>
                  <a:headEnd/>
                  <a:tailEnd/>
                </a:ln>
                <a:effectLst/>
              </p:spPr>
              <p:txBody>
                <a:bodyPr wrap="none" anchor="ctr"/>
                <a:lstStyle/>
                <a:p>
                  <a:pPr>
                    <a:defRPr/>
                  </a:pPr>
                  <a:endParaRPr lang="en-US" sz="800" kern="0" dirty="0">
                    <a:solidFill>
                      <a:prstClr val="white"/>
                    </a:solidFill>
                  </a:endParaRPr>
                </a:p>
              </p:txBody>
            </p:sp>
          </p:grpSp>
          <p:sp>
            <p:nvSpPr>
              <p:cNvPr id="51" name="Text Box 87"/>
              <p:cNvSpPr txBox="1">
                <a:spLocks noChangeArrowheads="1"/>
              </p:cNvSpPr>
              <p:nvPr/>
            </p:nvSpPr>
            <p:spPr bwMode="gray">
              <a:xfrm>
                <a:off x="757872" y="3232258"/>
                <a:ext cx="1314162" cy="276999"/>
              </a:xfrm>
              <a:prstGeom prst="rect">
                <a:avLst/>
              </a:prstGeom>
              <a:solidFill>
                <a:srgbClr val="7DC7FF">
                  <a:lumMod val="50000"/>
                </a:srgbClr>
              </a:solidFill>
              <a:ln w="9525">
                <a:noFill/>
                <a:miter lim="800000"/>
                <a:headEnd/>
                <a:tailEnd/>
              </a:ln>
              <a:effectLst/>
            </p:spPr>
            <p:txBody>
              <a:bodyPr wrap="square" lIns="0" tIns="0" rIns="0" bIns="0" anchor="ctr" anchorCtr="1">
                <a:spAutoFit/>
              </a:bodyPr>
              <a:lstStyle/>
              <a:p>
                <a:pPr algn="ctr" defTabSz="1019175">
                  <a:spcBef>
                    <a:spcPct val="50000"/>
                  </a:spcBef>
                  <a:spcAft>
                    <a:spcPct val="0"/>
                  </a:spcAft>
                  <a:defRPr/>
                </a:pPr>
                <a:r>
                  <a:rPr lang="en-US" sz="900" b="1" kern="0" dirty="0">
                    <a:solidFill>
                      <a:prstClr val="white"/>
                    </a:solidFill>
                  </a:rPr>
                  <a:t>Developing list of respondents</a:t>
                </a:r>
              </a:p>
            </p:txBody>
          </p:sp>
          <p:sp>
            <p:nvSpPr>
              <p:cNvPr id="58" name="Oval 57"/>
              <p:cNvSpPr/>
              <p:nvPr/>
            </p:nvSpPr>
            <p:spPr>
              <a:xfrm>
                <a:off x="2080294" y="3050915"/>
                <a:ext cx="501162" cy="444493"/>
              </a:xfrm>
              <a:prstGeom prst="ellipse">
                <a:avLst/>
              </a:prstGeom>
              <a:solidFill>
                <a:srgbClr val="FFCBB3">
                  <a:lumMod val="50000"/>
                </a:srgbClr>
              </a:solidFill>
              <a:ln w="6350" cap="flat" cmpd="sng" algn="ctr">
                <a:solidFill>
                  <a:srgbClr val="FFCBB3"/>
                </a:solidFill>
                <a:prstDash val="solid"/>
                <a:miter lim="800000"/>
              </a:ln>
              <a:effectLst/>
            </p:spPr>
            <p:txBody>
              <a:bodyPr rtlCol="0" anchor="ctr"/>
              <a:lstStyle/>
              <a:p>
                <a:pPr algn="ctr">
                  <a:defRPr/>
                </a:pPr>
                <a:r>
                  <a:rPr lang="en-US" sz="1100" b="1" kern="0" dirty="0">
                    <a:solidFill>
                      <a:prstClr val="white"/>
                    </a:solidFill>
                  </a:rPr>
                  <a:t>3</a:t>
                </a:r>
              </a:p>
            </p:txBody>
          </p:sp>
        </p:grpSp>
        <p:grpSp>
          <p:nvGrpSpPr>
            <p:cNvPr id="90" name="Group 89"/>
            <p:cNvGrpSpPr/>
            <p:nvPr/>
          </p:nvGrpSpPr>
          <p:grpSpPr>
            <a:xfrm>
              <a:off x="534653" y="3674092"/>
              <a:ext cx="1952435" cy="502530"/>
              <a:chOff x="532087" y="3656508"/>
              <a:chExt cx="1952435" cy="502530"/>
            </a:xfrm>
          </p:grpSpPr>
          <p:grpSp>
            <p:nvGrpSpPr>
              <p:cNvPr id="45" name="Group 68"/>
              <p:cNvGrpSpPr>
                <a:grpSpLocks/>
              </p:cNvGrpSpPr>
              <p:nvPr/>
            </p:nvGrpSpPr>
            <p:grpSpPr bwMode="auto">
              <a:xfrm>
                <a:off x="532087" y="3659370"/>
                <a:ext cx="1774947" cy="499668"/>
                <a:chOff x="985" y="2571"/>
                <a:chExt cx="963" cy="259"/>
              </a:xfrm>
              <a:solidFill>
                <a:srgbClr val="7DC7FF">
                  <a:lumMod val="50000"/>
                </a:srgbClr>
              </a:solidFill>
            </p:grpSpPr>
            <p:sp>
              <p:nvSpPr>
                <p:cNvPr id="72" name="AutoShape 69"/>
                <p:cNvSpPr>
                  <a:spLocks noChangeArrowheads="1"/>
                </p:cNvSpPr>
                <p:nvPr/>
              </p:nvSpPr>
              <p:spPr bwMode="gray">
                <a:xfrm rot="21600000">
                  <a:off x="985" y="2612"/>
                  <a:ext cx="963" cy="179"/>
                </a:xfrm>
                <a:custGeom>
                  <a:avLst/>
                  <a:gdLst>
                    <a:gd name="G0" fmla="+- 1414 0 0"/>
                    <a:gd name="G1" fmla="+- 21600 0 1414"/>
                    <a:gd name="G2" fmla="*/ 1414 1 2"/>
                    <a:gd name="G3" fmla="+- 21600 0 G2"/>
                    <a:gd name="G4" fmla="+/ 1414 21600 2"/>
                    <a:gd name="G5" fmla="+/ G1 0 2"/>
                    <a:gd name="G6" fmla="*/ 21600 21600 1414"/>
                    <a:gd name="G7" fmla="*/ G6 1 2"/>
                    <a:gd name="G8" fmla="+- 21600 0 G7"/>
                    <a:gd name="G9" fmla="*/ 21600 1 2"/>
                    <a:gd name="G10" fmla="+- 1414 0 G9"/>
                    <a:gd name="G11" fmla="?: G10 G8 0"/>
                    <a:gd name="G12" fmla="?: G10 G7 21600"/>
                    <a:gd name="T0" fmla="*/ 20893 w 21600"/>
                    <a:gd name="T1" fmla="*/ 10800 h 21600"/>
                    <a:gd name="T2" fmla="*/ 10800 w 21600"/>
                    <a:gd name="T3" fmla="*/ 21600 h 21600"/>
                    <a:gd name="T4" fmla="*/ 707 w 21600"/>
                    <a:gd name="T5" fmla="*/ 10800 h 21600"/>
                    <a:gd name="T6" fmla="*/ 10800 w 21600"/>
                    <a:gd name="T7" fmla="*/ 0 h 21600"/>
                    <a:gd name="T8" fmla="*/ 2507 w 21600"/>
                    <a:gd name="T9" fmla="*/ 2507 h 21600"/>
                    <a:gd name="T10" fmla="*/ 19093 w 21600"/>
                    <a:gd name="T11" fmla="*/ 19093 h 21600"/>
                  </a:gdLst>
                  <a:ahLst/>
                  <a:cxnLst>
                    <a:cxn ang="0">
                      <a:pos x="T0" y="T1"/>
                    </a:cxn>
                    <a:cxn ang="0">
                      <a:pos x="T2" y="T3"/>
                    </a:cxn>
                    <a:cxn ang="0">
                      <a:pos x="T4" y="T5"/>
                    </a:cxn>
                    <a:cxn ang="0">
                      <a:pos x="T6" y="T7"/>
                    </a:cxn>
                  </a:cxnLst>
                  <a:rect l="T8" t="T9" r="T10" b="T11"/>
                  <a:pathLst>
                    <a:path w="21600" h="21600">
                      <a:moveTo>
                        <a:pt x="0" y="0"/>
                      </a:moveTo>
                      <a:lnTo>
                        <a:pt x="1414" y="21600"/>
                      </a:lnTo>
                      <a:lnTo>
                        <a:pt x="20186" y="21600"/>
                      </a:lnTo>
                      <a:lnTo>
                        <a:pt x="21600" y="0"/>
                      </a:lnTo>
                      <a:close/>
                    </a:path>
                  </a:pathLst>
                </a:custGeom>
                <a:grpFill/>
                <a:ln w="9525" algn="ctr">
                  <a:noFill/>
                  <a:miter lim="800000"/>
                  <a:headEnd/>
                  <a:tailEnd/>
                </a:ln>
                <a:effectLst/>
              </p:spPr>
              <p:txBody>
                <a:bodyPr vert="eaVert" wrap="none" lIns="85952" tIns="42977" rIns="85952" bIns="42977" anchor="ctr"/>
                <a:lstStyle/>
                <a:p>
                  <a:pPr defTabSz="858838">
                    <a:spcAft>
                      <a:spcPct val="0"/>
                    </a:spcAft>
                    <a:defRPr/>
                  </a:pPr>
                  <a:endParaRPr lang="en-US" sz="800" kern="0" dirty="0">
                    <a:solidFill>
                      <a:prstClr val="white"/>
                    </a:solidFill>
                  </a:endParaRPr>
                </a:p>
              </p:txBody>
            </p:sp>
            <p:sp>
              <p:nvSpPr>
                <p:cNvPr id="73" name="Oval 70"/>
                <p:cNvSpPr>
                  <a:spLocks noChangeArrowheads="1"/>
                </p:cNvSpPr>
                <p:nvPr/>
              </p:nvSpPr>
              <p:spPr bwMode="gray">
                <a:xfrm rot="-5400000">
                  <a:off x="1428" y="2372"/>
                  <a:ext cx="78" cy="837"/>
                </a:xfrm>
                <a:prstGeom prst="ellipse">
                  <a:avLst/>
                </a:prstGeom>
                <a:grpFill/>
                <a:ln w="9525" algn="ctr">
                  <a:noFill/>
                  <a:round/>
                  <a:headEnd/>
                  <a:tailEnd/>
                </a:ln>
                <a:effectLst/>
              </p:spPr>
              <p:txBody>
                <a:bodyPr vert="eaVert" wrap="none" lIns="85952" tIns="42977" rIns="85952" bIns="42977" anchor="ctr"/>
                <a:lstStyle/>
                <a:p>
                  <a:pPr>
                    <a:defRPr/>
                  </a:pPr>
                  <a:endParaRPr lang="en-US" sz="800" kern="0" dirty="0">
                    <a:solidFill>
                      <a:prstClr val="white"/>
                    </a:solidFill>
                  </a:endParaRPr>
                </a:p>
              </p:txBody>
            </p:sp>
            <p:sp>
              <p:nvSpPr>
                <p:cNvPr id="74" name="Oval 71"/>
                <p:cNvSpPr>
                  <a:spLocks noChangeArrowheads="1"/>
                </p:cNvSpPr>
                <p:nvPr/>
              </p:nvSpPr>
              <p:spPr bwMode="gray">
                <a:xfrm rot="-5400000">
                  <a:off x="1427" y="2129"/>
                  <a:ext cx="80" cy="963"/>
                </a:xfrm>
                <a:prstGeom prst="ellipse">
                  <a:avLst/>
                </a:prstGeom>
                <a:grpFill/>
                <a:ln w="9525" algn="ctr">
                  <a:solidFill>
                    <a:srgbClr val="7DC7FF"/>
                  </a:solidFill>
                  <a:round/>
                  <a:headEnd/>
                  <a:tailEnd/>
                </a:ln>
                <a:effectLst/>
              </p:spPr>
              <p:txBody>
                <a:bodyPr wrap="none" anchor="ctr"/>
                <a:lstStyle/>
                <a:p>
                  <a:pPr>
                    <a:defRPr/>
                  </a:pPr>
                  <a:endParaRPr lang="en-US" sz="800" kern="0" dirty="0">
                    <a:solidFill>
                      <a:prstClr val="white"/>
                    </a:solidFill>
                  </a:endParaRPr>
                </a:p>
              </p:txBody>
            </p:sp>
          </p:grpSp>
          <p:sp>
            <p:nvSpPr>
              <p:cNvPr id="54" name="Text Box 90"/>
              <p:cNvSpPr txBox="1">
                <a:spLocks noChangeArrowheads="1"/>
              </p:cNvSpPr>
              <p:nvPr/>
            </p:nvSpPr>
            <p:spPr bwMode="gray">
              <a:xfrm>
                <a:off x="981815" y="3850565"/>
                <a:ext cx="995429" cy="138499"/>
              </a:xfrm>
              <a:prstGeom prst="rect">
                <a:avLst/>
              </a:prstGeom>
              <a:solidFill>
                <a:srgbClr val="7DC7FF">
                  <a:lumMod val="50000"/>
                </a:srgbClr>
              </a:solidFill>
              <a:ln w="9525">
                <a:noFill/>
                <a:miter lim="800000"/>
                <a:headEnd/>
                <a:tailEnd/>
              </a:ln>
              <a:effectLst/>
            </p:spPr>
            <p:txBody>
              <a:bodyPr wrap="none" lIns="0" tIns="0" rIns="0" bIns="0" anchor="ctr" anchorCtr="1">
                <a:spAutoFit/>
              </a:bodyPr>
              <a:lstStyle/>
              <a:p>
                <a:pPr defTabSz="1019175">
                  <a:spcBef>
                    <a:spcPct val="50000"/>
                  </a:spcBef>
                  <a:spcAft>
                    <a:spcPct val="0"/>
                  </a:spcAft>
                  <a:defRPr/>
                </a:pPr>
                <a:r>
                  <a:rPr lang="en-US" sz="900" b="1" kern="0" dirty="0">
                    <a:solidFill>
                      <a:prstClr val="white"/>
                    </a:solidFill>
                  </a:rPr>
                  <a:t>Data collection</a:t>
                </a:r>
              </a:p>
            </p:txBody>
          </p:sp>
          <p:sp>
            <p:nvSpPr>
              <p:cNvPr id="59" name="Oval 58"/>
              <p:cNvSpPr/>
              <p:nvPr/>
            </p:nvSpPr>
            <p:spPr>
              <a:xfrm>
                <a:off x="1983360" y="3656508"/>
                <a:ext cx="501162" cy="444493"/>
              </a:xfrm>
              <a:prstGeom prst="ellipse">
                <a:avLst/>
              </a:prstGeom>
              <a:solidFill>
                <a:srgbClr val="FFCBB3">
                  <a:lumMod val="50000"/>
                </a:srgbClr>
              </a:solidFill>
              <a:ln w="6350" cap="flat" cmpd="sng" algn="ctr">
                <a:solidFill>
                  <a:srgbClr val="FFCBB3"/>
                </a:solidFill>
                <a:prstDash val="solid"/>
                <a:miter lim="800000"/>
              </a:ln>
              <a:effectLst/>
            </p:spPr>
            <p:txBody>
              <a:bodyPr rtlCol="0" anchor="ctr"/>
              <a:lstStyle/>
              <a:p>
                <a:pPr algn="ctr">
                  <a:defRPr/>
                </a:pPr>
                <a:r>
                  <a:rPr lang="en-US" sz="1100" b="1" kern="0" dirty="0">
                    <a:solidFill>
                      <a:prstClr val="white"/>
                    </a:solidFill>
                  </a:rPr>
                  <a:t>4</a:t>
                </a:r>
              </a:p>
            </p:txBody>
          </p:sp>
        </p:grpSp>
        <p:grpSp>
          <p:nvGrpSpPr>
            <p:cNvPr id="89" name="Group 88"/>
            <p:cNvGrpSpPr/>
            <p:nvPr/>
          </p:nvGrpSpPr>
          <p:grpSpPr>
            <a:xfrm>
              <a:off x="643355" y="4332035"/>
              <a:ext cx="1735030" cy="499668"/>
              <a:chOff x="659264" y="4305659"/>
              <a:chExt cx="1735030" cy="499668"/>
            </a:xfrm>
          </p:grpSpPr>
          <p:grpSp>
            <p:nvGrpSpPr>
              <p:cNvPr id="46" name="Group 72"/>
              <p:cNvGrpSpPr>
                <a:grpSpLocks/>
              </p:cNvGrpSpPr>
              <p:nvPr/>
            </p:nvGrpSpPr>
            <p:grpSpPr bwMode="auto">
              <a:xfrm>
                <a:off x="659264" y="4305659"/>
                <a:ext cx="1520594" cy="499668"/>
                <a:chOff x="1054" y="2906"/>
                <a:chExt cx="825" cy="259"/>
              </a:xfrm>
              <a:solidFill>
                <a:srgbClr val="7DC7FF">
                  <a:lumMod val="50000"/>
                </a:srgbClr>
              </a:solidFill>
            </p:grpSpPr>
            <p:sp>
              <p:nvSpPr>
                <p:cNvPr id="69" name="AutoShape 73"/>
                <p:cNvSpPr>
                  <a:spLocks noChangeArrowheads="1"/>
                </p:cNvSpPr>
                <p:nvPr/>
              </p:nvSpPr>
              <p:spPr bwMode="gray">
                <a:xfrm rot="21600000">
                  <a:off x="1054" y="2947"/>
                  <a:ext cx="825" cy="179"/>
                </a:xfrm>
                <a:custGeom>
                  <a:avLst/>
                  <a:gdLst>
                    <a:gd name="G0" fmla="+- 1414 0 0"/>
                    <a:gd name="G1" fmla="+- 21600 0 1414"/>
                    <a:gd name="G2" fmla="*/ 1414 1 2"/>
                    <a:gd name="G3" fmla="+- 21600 0 G2"/>
                    <a:gd name="G4" fmla="+/ 1414 21600 2"/>
                    <a:gd name="G5" fmla="+/ G1 0 2"/>
                    <a:gd name="G6" fmla="*/ 21600 21600 1414"/>
                    <a:gd name="G7" fmla="*/ G6 1 2"/>
                    <a:gd name="G8" fmla="+- 21600 0 G7"/>
                    <a:gd name="G9" fmla="*/ 21600 1 2"/>
                    <a:gd name="G10" fmla="+- 1414 0 G9"/>
                    <a:gd name="G11" fmla="?: G10 G8 0"/>
                    <a:gd name="G12" fmla="?: G10 G7 21600"/>
                    <a:gd name="T0" fmla="*/ 20893 w 21600"/>
                    <a:gd name="T1" fmla="*/ 10800 h 21600"/>
                    <a:gd name="T2" fmla="*/ 10800 w 21600"/>
                    <a:gd name="T3" fmla="*/ 21600 h 21600"/>
                    <a:gd name="T4" fmla="*/ 707 w 21600"/>
                    <a:gd name="T5" fmla="*/ 10800 h 21600"/>
                    <a:gd name="T6" fmla="*/ 10800 w 21600"/>
                    <a:gd name="T7" fmla="*/ 0 h 21600"/>
                    <a:gd name="T8" fmla="*/ 2507 w 21600"/>
                    <a:gd name="T9" fmla="*/ 2507 h 21600"/>
                    <a:gd name="T10" fmla="*/ 19093 w 21600"/>
                    <a:gd name="T11" fmla="*/ 19093 h 21600"/>
                  </a:gdLst>
                  <a:ahLst/>
                  <a:cxnLst>
                    <a:cxn ang="0">
                      <a:pos x="T0" y="T1"/>
                    </a:cxn>
                    <a:cxn ang="0">
                      <a:pos x="T2" y="T3"/>
                    </a:cxn>
                    <a:cxn ang="0">
                      <a:pos x="T4" y="T5"/>
                    </a:cxn>
                    <a:cxn ang="0">
                      <a:pos x="T6" y="T7"/>
                    </a:cxn>
                  </a:cxnLst>
                  <a:rect l="T8" t="T9" r="T10" b="T11"/>
                  <a:pathLst>
                    <a:path w="21600" h="21600">
                      <a:moveTo>
                        <a:pt x="0" y="0"/>
                      </a:moveTo>
                      <a:lnTo>
                        <a:pt x="1414" y="21600"/>
                      </a:lnTo>
                      <a:lnTo>
                        <a:pt x="20186" y="21600"/>
                      </a:lnTo>
                      <a:lnTo>
                        <a:pt x="21600" y="0"/>
                      </a:lnTo>
                      <a:close/>
                    </a:path>
                  </a:pathLst>
                </a:custGeom>
                <a:grpFill/>
                <a:ln w="9525" algn="ctr">
                  <a:noFill/>
                  <a:miter lim="800000"/>
                  <a:headEnd/>
                  <a:tailEnd/>
                </a:ln>
                <a:effectLst/>
              </p:spPr>
              <p:txBody>
                <a:bodyPr vert="eaVert" wrap="none" lIns="85952" tIns="42977" rIns="85952" bIns="42977" anchor="ctr"/>
                <a:lstStyle/>
                <a:p>
                  <a:pPr defTabSz="858838">
                    <a:spcAft>
                      <a:spcPct val="0"/>
                    </a:spcAft>
                    <a:defRPr/>
                  </a:pPr>
                  <a:endParaRPr lang="en-US" sz="800" kern="0" dirty="0">
                    <a:solidFill>
                      <a:prstClr val="white"/>
                    </a:solidFill>
                  </a:endParaRPr>
                </a:p>
              </p:txBody>
            </p:sp>
            <p:sp>
              <p:nvSpPr>
                <p:cNvPr id="70" name="Oval 69"/>
                <p:cNvSpPr>
                  <a:spLocks noChangeArrowheads="1"/>
                </p:cNvSpPr>
                <p:nvPr/>
              </p:nvSpPr>
              <p:spPr bwMode="gray">
                <a:xfrm rot="-5400000">
                  <a:off x="1428" y="2769"/>
                  <a:ext cx="78" cy="713"/>
                </a:xfrm>
                <a:prstGeom prst="ellipse">
                  <a:avLst/>
                </a:prstGeom>
                <a:grpFill/>
                <a:ln w="9525" algn="ctr">
                  <a:noFill/>
                  <a:round/>
                  <a:headEnd/>
                  <a:tailEnd/>
                </a:ln>
                <a:effectLst/>
              </p:spPr>
              <p:txBody>
                <a:bodyPr vert="eaVert" wrap="none" lIns="85952" tIns="42977" rIns="85952" bIns="42977" anchor="ctr"/>
                <a:lstStyle/>
                <a:p>
                  <a:pPr>
                    <a:defRPr/>
                  </a:pPr>
                  <a:endParaRPr lang="en-US" sz="800" kern="0" dirty="0">
                    <a:solidFill>
                      <a:prstClr val="white"/>
                    </a:solidFill>
                  </a:endParaRPr>
                </a:p>
              </p:txBody>
            </p:sp>
            <p:sp>
              <p:nvSpPr>
                <p:cNvPr id="71" name="Oval 70"/>
                <p:cNvSpPr>
                  <a:spLocks noChangeArrowheads="1"/>
                </p:cNvSpPr>
                <p:nvPr/>
              </p:nvSpPr>
              <p:spPr bwMode="gray">
                <a:xfrm rot="-5400000">
                  <a:off x="1427" y="2533"/>
                  <a:ext cx="80" cy="825"/>
                </a:xfrm>
                <a:prstGeom prst="ellipse">
                  <a:avLst/>
                </a:prstGeom>
                <a:grpFill/>
                <a:ln w="9525" algn="ctr">
                  <a:solidFill>
                    <a:srgbClr val="7DC7FF"/>
                  </a:solidFill>
                  <a:round/>
                  <a:headEnd/>
                  <a:tailEnd/>
                </a:ln>
                <a:effectLst/>
              </p:spPr>
              <p:txBody>
                <a:bodyPr wrap="none" anchor="ctr"/>
                <a:lstStyle/>
                <a:p>
                  <a:pPr>
                    <a:defRPr/>
                  </a:pPr>
                  <a:endParaRPr lang="en-US" sz="800" kern="0" dirty="0">
                    <a:solidFill>
                      <a:prstClr val="white"/>
                    </a:solidFill>
                  </a:endParaRPr>
                </a:p>
              </p:txBody>
            </p:sp>
          </p:grpSp>
          <p:sp>
            <p:nvSpPr>
              <p:cNvPr id="53" name="Text Box 89"/>
              <p:cNvSpPr txBox="1">
                <a:spLocks noChangeArrowheads="1"/>
              </p:cNvSpPr>
              <p:nvPr/>
            </p:nvSpPr>
            <p:spPr bwMode="gray">
              <a:xfrm>
                <a:off x="828083" y="4526511"/>
                <a:ext cx="1017551" cy="138499"/>
              </a:xfrm>
              <a:prstGeom prst="rect">
                <a:avLst/>
              </a:prstGeom>
              <a:solidFill>
                <a:srgbClr val="7DC7FF">
                  <a:lumMod val="50000"/>
                </a:srgbClr>
              </a:solidFill>
              <a:ln w="9525">
                <a:noFill/>
                <a:miter lim="800000"/>
                <a:headEnd/>
                <a:tailEnd/>
              </a:ln>
              <a:effectLst/>
            </p:spPr>
            <p:txBody>
              <a:bodyPr wrap="none" lIns="0" tIns="0" rIns="0" bIns="0" anchor="ctr" anchorCtr="1">
                <a:spAutoFit/>
              </a:bodyPr>
              <a:lstStyle/>
              <a:p>
                <a:pPr defTabSz="1019175">
                  <a:spcBef>
                    <a:spcPct val="50000"/>
                  </a:spcBef>
                  <a:spcAft>
                    <a:spcPct val="0"/>
                  </a:spcAft>
                  <a:defRPr/>
                </a:pPr>
                <a:r>
                  <a:rPr lang="en-US" sz="900" b="1" kern="0" dirty="0">
                    <a:solidFill>
                      <a:prstClr val="white"/>
                    </a:solidFill>
                  </a:rPr>
                  <a:t>Data validation</a:t>
                </a:r>
              </a:p>
            </p:txBody>
          </p:sp>
          <p:sp>
            <p:nvSpPr>
              <p:cNvPr id="60" name="Oval 59"/>
              <p:cNvSpPr/>
              <p:nvPr/>
            </p:nvSpPr>
            <p:spPr>
              <a:xfrm>
                <a:off x="1893132" y="4315230"/>
                <a:ext cx="501162" cy="444493"/>
              </a:xfrm>
              <a:prstGeom prst="ellipse">
                <a:avLst/>
              </a:prstGeom>
              <a:solidFill>
                <a:srgbClr val="FFCBB3">
                  <a:lumMod val="50000"/>
                </a:srgbClr>
              </a:solidFill>
              <a:ln w="6350" cap="flat" cmpd="sng" algn="ctr">
                <a:solidFill>
                  <a:srgbClr val="FFCBB3"/>
                </a:solidFill>
                <a:prstDash val="solid"/>
                <a:miter lim="800000"/>
              </a:ln>
              <a:effectLst/>
            </p:spPr>
            <p:txBody>
              <a:bodyPr rtlCol="0" anchor="ctr"/>
              <a:lstStyle/>
              <a:p>
                <a:pPr algn="ctr">
                  <a:defRPr/>
                </a:pPr>
                <a:r>
                  <a:rPr lang="en-US" sz="1100" b="1" kern="0" dirty="0">
                    <a:solidFill>
                      <a:prstClr val="white"/>
                    </a:solidFill>
                  </a:rPr>
                  <a:t>5</a:t>
                </a:r>
              </a:p>
            </p:txBody>
          </p:sp>
        </p:grpSp>
        <p:grpSp>
          <p:nvGrpSpPr>
            <p:cNvPr id="88" name="Group 87"/>
            <p:cNvGrpSpPr/>
            <p:nvPr/>
          </p:nvGrpSpPr>
          <p:grpSpPr>
            <a:xfrm>
              <a:off x="734805" y="5009635"/>
              <a:ext cx="1552131" cy="503527"/>
              <a:chOff x="786441" y="4948090"/>
              <a:chExt cx="1552131" cy="503527"/>
            </a:xfrm>
          </p:grpSpPr>
          <p:grpSp>
            <p:nvGrpSpPr>
              <p:cNvPr id="47" name="Group 76"/>
              <p:cNvGrpSpPr>
                <a:grpSpLocks/>
              </p:cNvGrpSpPr>
              <p:nvPr/>
            </p:nvGrpSpPr>
            <p:grpSpPr bwMode="auto">
              <a:xfrm>
                <a:off x="786441" y="4948090"/>
                <a:ext cx="1266240" cy="503527"/>
                <a:chOff x="352" y="943"/>
                <a:chExt cx="1736" cy="383"/>
              </a:xfrm>
              <a:solidFill>
                <a:srgbClr val="7DC7FF">
                  <a:lumMod val="50000"/>
                </a:srgbClr>
              </a:solidFill>
            </p:grpSpPr>
            <p:sp>
              <p:nvSpPr>
                <p:cNvPr id="66" name="AutoShape 77"/>
                <p:cNvSpPr>
                  <a:spLocks noChangeArrowheads="1"/>
                </p:cNvSpPr>
                <p:nvPr/>
              </p:nvSpPr>
              <p:spPr bwMode="gray">
                <a:xfrm rot="21600000">
                  <a:off x="352" y="1003"/>
                  <a:ext cx="1736" cy="266"/>
                </a:xfrm>
                <a:custGeom>
                  <a:avLst/>
                  <a:gdLst>
                    <a:gd name="G0" fmla="+- 1414 0 0"/>
                    <a:gd name="G1" fmla="+- 21600 0 1414"/>
                    <a:gd name="G2" fmla="*/ 1414 1 2"/>
                    <a:gd name="G3" fmla="+- 21600 0 G2"/>
                    <a:gd name="G4" fmla="+/ 1414 21600 2"/>
                    <a:gd name="G5" fmla="+/ G1 0 2"/>
                    <a:gd name="G6" fmla="*/ 21600 21600 1414"/>
                    <a:gd name="G7" fmla="*/ G6 1 2"/>
                    <a:gd name="G8" fmla="+- 21600 0 G7"/>
                    <a:gd name="G9" fmla="*/ 21600 1 2"/>
                    <a:gd name="G10" fmla="+- 1414 0 G9"/>
                    <a:gd name="G11" fmla="?: G10 G8 0"/>
                    <a:gd name="G12" fmla="?: G10 G7 21600"/>
                    <a:gd name="T0" fmla="*/ 20893 w 21600"/>
                    <a:gd name="T1" fmla="*/ 10800 h 21600"/>
                    <a:gd name="T2" fmla="*/ 10800 w 21600"/>
                    <a:gd name="T3" fmla="*/ 21600 h 21600"/>
                    <a:gd name="T4" fmla="*/ 707 w 21600"/>
                    <a:gd name="T5" fmla="*/ 10800 h 21600"/>
                    <a:gd name="T6" fmla="*/ 10800 w 21600"/>
                    <a:gd name="T7" fmla="*/ 0 h 21600"/>
                    <a:gd name="T8" fmla="*/ 2507 w 21600"/>
                    <a:gd name="T9" fmla="*/ 2507 h 21600"/>
                    <a:gd name="T10" fmla="*/ 19093 w 21600"/>
                    <a:gd name="T11" fmla="*/ 19093 h 21600"/>
                  </a:gdLst>
                  <a:ahLst/>
                  <a:cxnLst>
                    <a:cxn ang="0">
                      <a:pos x="T0" y="T1"/>
                    </a:cxn>
                    <a:cxn ang="0">
                      <a:pos x="T2" y="T3"/>
                    </a:cxn>
                    <a:cxn ang="0">
                      <a:pos x="T4" y="T5"/>
                    </a:cxn>
                    <a:cxn ang="0">
                      <a:pos x="T6" y="T7"/>
                    </a:cxn>
                  </a:cxnLst>
                  <a:rect l="T8" t="T9" r="T10" b="T11"/>
                  <a:pathLst>
                    <a:path w="21600" h="21600">
                      <a:moveTo>
                        <a:pt x="0" y="0"/>
                      </a:moveTo>
                      <a:lnTo>
                        <a:pt x="1414" y="21600"/>
                      </a:lnTo>
                      <a:lnTo>
                        <a:pt x="20186" y="21600"/>
                      </a:lnTo>
                      <a:lnTo>
                        <a:pt x="21600" y="0"/>
                      </a:lnTo>
                      <a:close/>
                    </a:path>
                  </a:pathLst>
                </a:custGeom>
                <a:grpFill/>
                <a:ln w="9525" algn="ctr">
                  <a:noFill/>
                  <a:miter lim="800000"/>
                  <a:headEnd/>
                  <a:tailEnd/>
                </a:ln>
                <a:effectLst/>
              </p:spPr>
              <p:txBody>
                <a:bodyPr vert="eaVert" wrap="none" lIns="85952" tIns="42977" rIns="85952" bIns="42977" anchor="ctr"/>
                <a:lstStyle/>
                <a:p>
                  <a:pPr defTabSz="858838">
                    <a:spcAft>
                      <a:spcPct val="0"/>
                    </a:spcAft>
                    <a:defRPr/>
                  </a:pPr>
                  <a:endParaRPr lang="en-US" sz="800" kern="0" dirty="0">
                    <a:solidFill>
                      <a:prstClr val="white"/>
                    </a:solidFill>
                  </a:endParaRPr>
                </a:p>
              </p:txBody>
            </p:sp>
            <p:sp>
              <p:nvSpPr>
                <p:cNvPr id="67" name="Oval 78"/>
                <p:cNvSpPr>
                  <a:spLocks noChangeArrowheads="1"/>
                </p:cNvSpPr>
                <p:nvPr/>
              </p:nvSpPr>
              <p:spPr bwMode="gray">
                <a:xfrm rot="-5400000">
                  <a:off x="1162" y="524"/>
                  <a:ext cx="116" cy="1488"/>
                </a:xfrm>
                <a:prstGeom prst="ellipse">
                  <a:avLst/>
                </a:prstGeom>
                <a:grpFill/>
                <a:ln w="9525" algn="ctr">
                  <a:noFill/>
                  <a:round/>
                  <a:headEnd/>
                  <a:tailEnd/>
                </a:ln>
                <a:effectLst/>
              </p:spPr>
              <p:txBody>
                <a:bodyPr vert="eaVert" wrap="none" lIns="85952" tIns="42977" rIns="85952" bIns="42977" anchor="ctr"/>
                <a:lstStyle/>
                <a:p>
                  <a:pPr>
                    <a:defRPr/>
                  </a:pPr>
                  <a:endParaRPr lang="en-US" sz="800" kern="0" dirty="0">
                    <a:solidFill>
                      <a:prstClr val="white"/>
                    </a:solidFill>
                  </a:endParaRPr>
                </a:p>
              </p:txBody>
            </p:sp>
            <p:sp>
              <p:nvSpPr>
                <p:cNvPr id="68" name="Oval 79"/>
                <p:cNvSpPr>
                  <a:spLocks noChangeArrowheads="1"/>
                </p:cNvSpPr>
                <p:nvPr/>
              </p:nvSpPr>
              <p:spPr bwMode="gray">
                <a:xfrm rot="-5400000">
                  <a:off x="1161" y="134"/>
                  <a:ext cx="118" cy="1736"/>
                </a:xfrm>
                <a:prstGeom prst="ellipse">
                  <a:avLst/>
                </a:prstGeom>
                <a:grpFill/>
                <a:ln w="9525" algn="ctr">
                  <a:solidFill>
                    <a:srgbClr val="7DC7FF"/>
                  </a:solidFill>
                  <a:round/>
                  <a:headEnd/>
                  <a:tailEnd/>
                </a:ln>
                <a:effectLst/>
              </p:spPr>
              <p:txBody>
                <a:bodyPr wrap="none" anchor="ctr"/>
                <a:lstStyle/>
                <a:p>
                  <a:pPr>
                    <a:defRPr/>
                  </a:pPr>
                  <a:endParaRPr lang="en-US" sz="800" kern="0" dirty="0">
                    <a:solidFill>
                      <a:prstClr val="white"/>
                    </a:solidFill>
                  </a:endParaRPr>
                </a:p>
              </p:txBody>
            </p:sp>
          </p:grpSp>
          <p:sp>
            <p:nvSpPr>
              <p:cNvPr id="52" name="Text Box 88"/>
              <p:cNvSpPr txBox="1">
                <a:spLocks noChangeArrowheads="1"/>
              </p:cNvSpPr>
              <p:nvPr/>
            </p:nvSpPr>
            <p:spPr bwMode="gray">
              <a:xfrm>
                <a:off x="973894" y="5170152"/>
                <a:ext cx="878192" cy="138499"/>
              </a:xfrm>
              <a:prstGeom prst="rect">
                <a:avLst/>
              </a:prstGeom>
              <a:solidFill>
                <a:srgbClr val="7DC7FF">
                  <a:lumMod val="50000"/>
                </a:srgbClr>
              </a:solidFill>
              <a:ln w="9525">
                <a:noFill/>
                <a:miter lim="800000"/>
                <a:headEnd/>
                <a:tailEnd/>
              </a:ln>
              <a:effectLst/>
            </p:spPr>
            <p:txBody>
              <a:bodyPr wrap="none" lIns="0" tIns="0" rIns="0" bIns="0" anchor="ctr" anchorCtr="1">
                <a:spAutoFit/>
              </a:bodyPr>
              <a:lstStyle/>
              <a:p>
                <a:pPr defTabSz="1019175">
                  <a:spcBef>
                    <a:spcPct val="50000"/>
                  </a:spcBef>
                  <a:spcAft>
                    <a:spcPct val="0"/>
                  </a:spcAft>
                  <a:defRPr/>
                </a:pPr>
                <a:r>
                  <a:rPr lang="en-US" sz="900" b="1" kern="0" dirty="0">
                    <a:solidFill>
                      <a:prstClr val="white"/>
                    </a:solidFill>
                  </a:rPr>
                  <a:t>Data analysis</a:t>
                </a:r>
              </a:p>
            </p:txBody>
          </p:sp>
          <p:sp>
            <p:nvSpPr>
              <p:cNvPr id="61" name="Oval 60"/>
              <p:cNvSpPr/>
              <p:nvPr/>
            </p:nvSpPr>
            <p:spPr>
              <a:xfrm>
                <a:off x="1837410" y="4982525"/>
                <a:ext cx="501162" cy="444492"/>
              </a:xfrm>
              <a:prstGeom prst="ellipse">
                <a:avLst/>
              </a:prstGeom>
              <a:solidFill>
                <a:srgbClr val="FFCBB3">
                  <a:lumMod val="50000"/>
                </a:srgbClr>
              </a:solidFill>
              <a:ln w="6350" cap="flat" cmpd="sng" algn="ctr">
                <a:solidFill>
                  <a:srgbClr val="FFCBB3"/>
                </a:solidFill>
                <a:prstDash val="solid"/>
                <a:miter lim="800000"/>
              </a:ln>
              <a:effectLst/>
            </p:spPr>
            <p:txBody>
              <a:bodyPr rtlCol="0" anchor="ctr"/>
              <a:lstStyle/>
              <a:p>
                <a:pPr algn="ctr">
                  <a:defRPr/>
                </a:pPr>
                <a:r>
                  <a:rPr lang="en-US" sz="1100" b="1" kern="0" dirty="0">
                    <a:solidFill>
                      <a:prstClr val="white"/>
                    </a:solidFill>
                  </a:rPr>
                  <a:t>6</a:t>
                </a:r>
              </a:p>
            </p:txBody>
          </p:sp>
        </p:grpSp>
        <p:grpSp>
          <p:nvGrpSpPr>
            <p:cNvPr id="87" name="Group 86"/>
            <p:cNvGrpSpPr/>
            <p:nvPr/>
          </p:nvGrpSpPr>
          <p:grpSpPr>
            <a:xfrm>
              <a:off x="847352" y="5662375"/>
              <a:ext cx="1327036" cy="417343"/>
              <a:chOff x="885971" y="5662375"/>
              <a:chExt cx="1327036" cy="417343"/>
            </a:xfrm>
          </p:grpSpPr>
          <p:grpSp>
            <p:nvGrpSpPr>
              <p:cNvPr id="48" name="Group 80"/>
              <p:cNvGrpSpPr>
                <a:grpSpLocks/>
              </p:cNvGrpSpPr>
              <p:nvPr/>
            </p:nvGrpSpPr>
            <p:grpSpPr bwMode="auto">
              <a:xfrm>
                <a:off x="885971" y="5712639"/>
                <a:ext cx="1002671" cy="367079"/>
                <a:chOff x="302" y="1017"/>
                <a:chExt cx="1736" cy="289"/>
              </a:xfrm>
              <a:solidFill>
                <a:srgbClr val="7DC7FF">
                  <a:lumMod val="50000"/>
                </a:srgbClr>
              </a:solidFill>
            </p:grpSpPr>
            <p:sp>
              <p:nvSpPr>
                <p:cNvPr id="63" name="AutoShape 81"/>
                <p:cNvSpPr>
                  <a:spLocks noChangeArrowheads="1"/>
                </p:cNvSpPr>
                <p:nvPr/>
              </p:nvSpPr>
              <p:spPr bwMode="gray">
                <a:xfrm>
                  <a:off x="302" y="1059"/>
                  <a:ext cx="1736" cy="188"/>
                </a:xfrm>
                <a:custGeom>
                  <a:avLst/>
                  <a:gdLst>
                    <a:gd name="G0" fmla="+- 1414 0 0"/>
                    <a:gd name="G1" fmla="+- 21600 0 1414"/>
                    <a:gd name="G2" fmla="*/ 1414 1 2"/>
                    <a:gd name="G3" fmla="+- 21600 0 G2"/>
                    <a:gd name="G4" fmla="+/ 1414 21600 2"/>
                    <a:gd name="G5" fmla="+/ G1 0 2"/>
                    <a:gd name="G6" fmla="*/ 21600 21600 1414"/>
                    <a:gd name="G7" fmla="*/ G6 1 2"/>
                    <a:gd name="G8" fmla="+- 21600 0 G7"/>
                    <a:gd name="G9" fmla="*/ 21600 1 2"/>
                    <a:gd name="G10" fmla="+- 1414 0 G9"/>
                    <a:gd name="G11" fmla="?: G10 G8 0"/>
                    <a:gd name="G12" fmla="?: G10 G7 21600"/>
                    <a:gd name="T0" fmla="*/ 20893 w 21600"/>
                    <a:gd name="T1" fmla="*/ 10800 h 21600"/>
                    <a:gd name="T2" fmla="*/ 10800 w 21600"/>
                    <a:gd name="T3" fmla="*/ 21600 h 21600"/>
                    <a:gd name="T4" fmla="*/ 707 w 21600"/>
                    <a:gd name="T5" fmla="*/ 10800 h 21600"/>
                    <a:gd name="T6" fmla="*/ 10800 w 21600"/>
                    <a:gd name="T7" fmla="*/ 0 h 21600"/>
                    <a:gd name="T8" fmla="*/ 2507 w 21600"/>
                    <a:gd name="T9" fmla="*/ 2507 h 21600"/>
                    <a:gd name="T10" fmla="*/ 19093 w 21600"/>
                    <a:gd name="T11" fmla="*/ 19093 h 21600"/>
                  </a:gdLst>
                  <a:ahLst/>
                  <a:cxnLst>
                    <a:cxn ang="0">
                      <a:pos x="T0" y="T1"/>
                    </a:cxn>
                    <a:cxn ang="0">
                      <a:pos x="T2" y="T3"/>
                    </a:cxn>
                    <a:cxn ang="0">
                      <a:pos x="T4" y="T5"/>
                    </a:cxn>
                    <a:cxn ang="0">
                      <a:pos x="T6" y="T7"/>
                    </a:cxn>
                  </a:cxnLst>
                  <a:rect l="T8" t="T9" r="T10" b="T11"/>
                  <a:pathLst>
                    <a:path w="21600" h="21600">
                      <a:moveTo>
                        <a:pt x="0" y="0"/>
                      </a:moveTo>
                      <a:lnTo>
                        <a:pt x="1414" y="21600"/>
                      </a:lnTo>
                      <a:lnTo>
                        <a:pt x="20186" y="21600"/>
                      </a:lnTo>
                      <a:lnTo>
                        <a:pt x="21600" y="0"/>
                      </a:lnTo>
                      <a:close/>
                    </a:path>
                  </a:pathLst>
                </a:custGeom>
                <a:grpFill/>
                <a:ln w="9525" algn="ctr">
                  <a:noFill/>
                  <a:miter lim="800000"/>
                  <a:headEnd/>
                  <a:tailEnd/>
                </a:ln>
                <a:effectLst/>
              </p:spPr>
              <p:txBody>
                <a:bodyPr vert="eaVert" wrap="none" lIns="85952" tIns="42977" rIns="85952" bIns="42977" anchor="ctr"/>
                <a:lstStyle/>
                <a:p>
                  <a:pPr defTabSz="858838">
                    <a:spcAft>
                      <a:spcPct val="0"/>
                    </a:spcAft>
                    <a:defRPr/>
                  </a:pPr>
                  <a:endParaRPr lang="en-US" sz="800" kern="0" dirty="0">
                    <a:solidFill>
                      <a:prstClr val="white"/>
                    </a:solidFill>
                  </a:endParaRPr>
                </a:p>
              </p:txBody>
            </p:sp>
            <p:sp>
              <p:nvSpPr>
                <p:cNvPr id="64" name="Oval 82"/>
                <p:cNvSpPr>
                  <a:spLocks noChangeArrowheads="1"/>
                </p:cNvSpPr>
                <p:nvPr/>
              </p:nvSpPr>
              <p:spPr bwMode="gray">
                <a:xfrm rot="16200000">
                  <a:off x="1112" y="503"/>
                  <a:ext cx="116" cy="1489"/>
                </a:xfrm>
                <a:prstGeom prst="ellipse">
                  <a:avLst/>
                </a:prstGeom>
                <a:grpFill/>
                <a:ln w="9525" algn="ctr">
                  <a:noFill/>
                  <a:round/>
                  <a:headEnd/>
                  <a:tailEnd/>
                </a:ln>
                <a:effectLst/>
              </p:spPr>
              <p:txBody>
                <a:bodyPr vert="eaVert" wrap="none" lIns="85952" tIns="42977" rIns="85952" bIns="42977" anchor="ctr"/>
                <a:lstStyle/>
                <a:p>
                  <a:pPr>
                    <a:defRPr/>
                  </a:pPr>
                  <a:endParaRPr lang="en-US" sz="800" kern="0" dirty="0">
                    <a:solidFill>
                      <a:prstClr val="white"/>
                    </a:solidFill>
                  </a:endParaRPr>
                </a:p>
              </p:txBody>
            </p:sp>
            <p:sp>
              <p:nvSpPr>
                <p:cNvPr id="65" name="Oval 83"/>
                <p:cNvSpPr>
                  <a:spLocks noChangeArrowheads="1"/>
                </p:cNvSpPr>
                <p:nvPr/>
              </p:nvSpPr>
              <p:spPr bwMode="gray">
                <a:xfrm rot="16200000">
                  <a:off x="1110" y="210"/>
                  <a:ext cx="95" cy="1710"/>
                </a:xfrm>
                <a:prstGeom prst="ellipse">
                  <a:avLst/>
                </a:prstGeom>
                <a:grpFill/>
                <a:ln w="9525" algn="ctr">
                  <a:solidFill>
                    <a:srgbClr val="7DC7FF"/>
                  </a:solidFill>
                  <a:round/>
                  <a:headEnd/>
                  <a:tailEnd/>
                </a:ln>
                <a:effectLst/>
              </p:spPr>
              <p:txBody>
                <a:bodyPr wrap="none" anchor="ctr"/>
                <a:lstStyle/>
                <a:p>
                  <a:pPr>
                    <a:defRPr/>
                  </a:pPr>
                  <a:endParaRPr lang="en-US" sz="800" kern="0" dirty="0">
                    <a:solidFill>
                      <a:prstClr val="white"/>
                    </a:solidFill>
                  </a:endParaRPr>
                </a:p>
              </p:txBody>
            </p:sp>
          </p:grpSp>
          <p:sp>
            <p:nvSpPr>
              <p:cNvPr id="55" name="Text Box 88"/>
              <p:cNvSpPr txBox="1">
                <a:spLocks noChangeArrowheads="1"/>
              </p:cNvSpPr>
              <p:nvPr/>
            </p:nvSpPr>
            <p:spPr bwMode="gray">
              <a:xfrm>
                <a:off x="1156848" y="5879024"/>
                <a:ext cx="513200" cy="138499"/>
              </a:xfrm>
              <a:prstGeom prst="rect">
                <a:avLst/>
              </a:prstGeom>
              <a:solidFill>
                <a:srgbClr val="7DC7FF">
                  <a:lumMod val="50000"/>
                </a:srgbClr>
              </a:solidFill>
              <a:ln w="9525">
                <a:noFill/>
                <a:miter lim="800000"/>
                <a:headEnd/>
                <a:tailEnd/>
              </a:ln>
              <a:effectLst/>
            </p:spPr>
            <p:txBody>
              <a:bodyPr wrap="none" lIns="0" tIns="0" rIns="0" bIns="0" anchor="ctr" anchorCtr="1">
                <a:spAutoFit/>
              </a:bodyPr>
              <a:lstStyle/>
              <a:p>
                <a:pPr defTabSz="1019175">
                  <a:spcBef>
                    <a:spcPct val="50000"/>
                  </a:spcBef>
                  <a:spcAft>
                    <a:spcPct val="0"/>
                  </a:spcAft>
                  <a:defRPr/>
                </a:pPr>
                <a:r>
                  <a:rPr lang="en-US" sz="900" b="1" kern="0" dirty="0">
                    <a:solidFill>
                      <a:prstClr val="white"/>
                    </a:solidFill>
                  </a:rPr>
                  <a:t>Insights</a:t>
                </a:r>
              </a:p>
            </p:txBody>
          </p:sp>
          <p:sp>
            <p:nvSpPr>
              <p:cNvPr id="62" name="Oval 61"/>
              <p:cNvSpPr/>
              <p:nvPr/>
            </p:nvSpPr>
            <p:spPr>
              <a:xfrm>
                <a:off x="1716807" y="5662375"/>
                <a:ext cx="496200" cy="410482"/>
              </a:xfrm>
              <a:prstGeom prst="ellipse">
                <a:avLst/>
              </a:prstGeom>
              <a:solidFill>
                <a:srgbClr val="FFCBB3">
                  <a:lumMod val="50000"/>
                </a:srgbClr>
              </a:solidFill>
              <a:ln w="6350" cap="flat" cmpd="sng" algn="ctr">
                <a:solidFill>
                  <a:srgbClr val="FFCBB3"/>
                </a:solidFill>
                <a:prstDash val="solid"/>
                <a:miter lim="800000"/>
              </a:ln>
              <a:effectLst/>
            </p:spPr>
            <p:txBody>
              <a:bodyPr rtlCol="0" anchor="ctr"/>
              <a:lstStyle/>
              <a:p>
                <a:pPr algn="ctr">
                  <a:defRPr/>
                </a:pPr>
                <a:r>
                  <a:rPr lang="en-US" sz="1100" b="1" kern="0" dirty="0">
                    <a:solidFill>
                      <a:prstClr val="white"/>
                    </a:solidFill>
                  </a:rPr>
                  <a:t>7</a:t>
                </a:r>
              </a:p>
            </p:txBody>
          </p:sp>
        </p:grpSp>
      </p:grpSp>
      <p:sp>
        <p:nvSpPr>
          <p:cNvPr id="86" name="TextBox 85"/>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4" name="Slide Number Placeholder 3"/>
          <p:cNvSpPr>
            <a:spLocks noGrp="1"/>
          </p:cNvSpPr>
          <p:nvPr>
            <p:ph type="sldNum" sz="quarter" idx="4"/>
          </p:nvPr>
        </p:nvSpPr>
        <p:spPr/>
        <p:txBody>
          <a:bodyPr/>
          <a:lstStyle/>
          <a:p>
            <a:fld id="{4B17068C-EB94-40A3-A5F2-664CDD77FDAC}" type="slidenum">
              <a:rPr lang="en-GB" smtClean="0"/>
              <a:pPr/>
              <a:t>289</a:t>
            </a:fld>
            <a:endParaRPr lang="en-GB" dirty="0"/>
          </a:p>
        </p:txBody>
      </p:sp>
    </p:spTree>
    <p:extLst>
      <p:ext uri="{BB962C8B-B14F-4D97-AF65-F5344CB8AC3E}">
        <p14:creationId xmlns:p14="http://schemas.microsoft.com/office/powerpoint/2010/main" val="141185454"/>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a:t>Research Methodology (2/3)</a:t>
            </a:r>
          </a:p>
        </p:txBody>
      </p:sp>
      <p:sp>
        <p:nvSpPr>
          <p:cNvPr id="4" name="Slide Number Placeholder 3"/>
          <p:cNvSpPr>
            <a:spLocks noGrp="1"/>
          </p:cNvSpPr>
          <p:nvPr>
            <p:ph type="sldNum" sz="quarter" idx="4"/>
          </p:nvPr>
        </p:nvSpPr>
        <p:spPr/>
        <p:txBody>
          <a:bodyPr/>
          <a:lstStyle/>
          <a:p>
            <a:fld id="{4B17068C-EB94-40A3-A5F2-664CDD77FDAC}" type="slidenum">
              <a:rPr lang="en-GB" smtClean="0"/>
              <a:pPr/>
              <a:t>290</a:t>
            </a:fld>
            <a:endParaRPr lang="en-GB" dirty="0"/>
          </a:p>
        </p:txBody>
      </p:sp>
      <p:grpSp>
        <p:nvGrpSpPr>
          <p:cNvPr id="7" name="Group 36"/>
          <p:cNvGrpSpPr/>
          <p:nvPr/>
        </p:nvGrpSpPr>
        <p:grpSpPr>
          <a:xfrm>
            <a:off x="3655337" y="1483747"/>
            <a:ext cx="4844900" cy="2863762"/>
            <a:chOff x="457200" y="1371600"/>
            <a:chExt cx="3657600" cy="3397360"/>
          </a:xfrm>
        </p:grpSpPr>
        <p:graphicFrame>
          <p:nvGraphicFramePr>
            <p:cNvPr id="46" name="Diagram 45"/>
            <p:cNvGraphicFramePr/>
            <p:nvPr/>
          </p:nvGraphicFramePr>
          <p:xfrm>
            <a:off x="457200" y="1371600"/>
            <a:ext cx="3657600" cy="32004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7" name="Rectangle 46"/>
            <p:cNvSpPr/>
            <p:nvPr/>
          </p:nvSpPr>
          <p:spPr>
            <a:xfrm>
              <a:off x="1930765" y="3944161"/>
              <a:ext cx="704150" cy="824799"/>
            </a:xfrm>
            <a:prstGeom prst="rect">
              <a:avLst/>
            </a:prstGeom>
            <a:solidFill>
              <a:schemeClr val="accent3">
                <a:lumMod val="20000"/>
                <a:lumOff val="80000"/>
              </a:schemeClr>
            </a:solidFill>
            <a:ln w="15875" cap="flat" cmpd="sng" algn="ctr">
              <a:solidFill>
                <a:sysClr val="window" lastClr="FFFFFF"/>
              </a:solidFill>
              <a:prstDash val="solid"/>
            </a:ln>
            <a:effectLst/>
          </p:spPr>
          <p:txBody>
            <a:bodyPr rtlCol="0" anchor="ctr"/>
            <a:lstStyle/>
            <a:p>
              <a:pPr algn="ctr" defTabSz="914400" fontAlgn="base">
                <a:spcBef>
                  <a:spcPct val="0"/>
                </a:spcBef>
                <a:spcAft>
                  <a:spcPct val="0"/>
                </a:spcAft>
                <a:defRPr/>
              </a:pPr>
              <a:endParaRPr lang="en-GB" sz="2800" kern="0" dirty="0">
                <a:solidFill>
                  <a:prstClr val="white"/>
                </a:solidFill>
                <a:latin typeface="Century Gothic"/>
              </a:endParaRPr>
            </a:p>
          </p:txBody>
        </p:sp>
      </p:grpSp>
      <p:sp>
        <p:nvSpPr>
          <p:cNvPr id="10" name="Rounded Rectangle 9"/>
          <p:cNvSpPr/>
          <p:nvPr/>
        </p:nvSpPr>
        <p:spPr>
          <a:xfrm>
            <a:off x="8155320" y="1895308"/>
            <a:ext cx="3813765" cy="1747294"/>
          </a:xfrm>
          <a:prstGeom prst="roundRect">
            <a:avLst>
              <a:gd name="adj" fmla="val 7509"/>
            </a:avLst>
          </a:prstGeom>
          <a:noFill/>
          <a:ln w="12700" cap="flat" cmpd="sng" algn="ctr">
            <a:solidFill>
              <a:schemeClr val="tx1"/>
            </a:solidFill>
            <a:prstDash val="dash"/>
            <a:miter lim="800000"/>
          </a:ln>
          <a:effectLst/>
        </p:spPr>
        <p:txBody>
          <a:bodyPr rtlCol="0" anchor="ctr"/>
          <a:lstStyle/>
          <a:p>
            <a:pPr algn="ctr" defTabSz="914400">
              <a:defRPr/>
            </a:pPr>
            <a:endParaRPr lang="en-US" sz="1800" kern="0" dirty="0">
              <a:solidFill>
                <a:prstClr val="white"/>
              </a:solidFill>
              <a:latin typeface="Calibri"/>
            </a:endParaRPr>
          </a:p>
        </p:txBody>
      </p:sp>
      <p:sp>
        <p:nvSpPr>
          <p:cNvPr id="11" name="TextBox 10"/>
          <p:cNvSpPr txBox="1"/>
          <p:nvPr/>
        </p:nvSpPr>
        <p:spPr>
          <a:xfrm>
            <a:off x="8732987" y="1899563"/>
            <a:ext cx="2658430" cy="307777"/>
          </a:xfrm>
          <a:prstGeom prst="rect">
            <a:avLst/>
          </a:prstGeom>
          <a:noFill/>
        </p:spPr>
        <p:txBody>
          <a:bodyPr wrap="square" rtlCol="0">
            <a:spAutoFit/>
          </a:bodyPr>
          <a:lstStyle/>
          <a:p>
            <a:pPr algn="ctr" defTabSz="914400">
              <a:defRPr/>
            </a:pPr>
            <a:r>
              <a:rPr lang="en-US" sz="1400" b="1" kern="0" dirty="0">
                <a:solidFill>
                  <a:schemeClr val="tx1">
                    <a:lumMod val="75000"/>
                    <a:lumOff val="25000"/>
                  </a:schemeClr>
                </a:solidFill>
              </a:rPr>
              <a:t>Secondary Research</a:t>
            </a:r>
          </a:p>
        </p:txBody>
      </p:sp>
      <p:sp>
        <p:nvSpPr>
          <p:cNvPr id="12" name="Rectangle 11"/>
          <p:cNvSpPr/>
          <p:nvPr/>
        </p:nvSpPr>
        <p:spPr>
          <a:xfrm>
            <a:off x="312368" y="2212083"/>
            <a:ext cx="1738799" cy="1314120"/>
          </a:xfrm>
          <a:prstGeom prst="rect">
            <a:avLst/>
          </a:prstGeom>
          <a:solidFill>
            <a:schemeClr val="accent3">
              <a:lumMod val="40000"/>
              <a:lumOff val="60000"/>
            </a:schemeClr>
          </a:solidFill>
          <a:ln w="19050" cap="flat" cmpd="sng" algn="ctr">
            <a:solidFill>
              <a:sysClr val="window" lastClr="FFFFFF"/>
            </a:solidFill>
            <a:prstDash val="solid"/>
            <a:miter lim="800000"/>
          </a:ln>
          <a:effectLst/>
        </p:spPr>
        <p:txBody>
          <a:bodyPr rtlCol="0" anchor="ctr"/>
          <a:lstStyle/>
          <a:p>
            <a:pPr algn="ctr" defTabSz="914400">
              <a:defRPr/>
            </a:pPr>
            <a:r>
              <a:rPr lang="en-US" sz="1100" b="1" kern="0" dirty="0">
                <a:latin typeface="Calibri"/>
              </a:rPr>
              <a:t>Conducting interviews with manufacturers, distributors for key market insights</a:t>
            </a:r>
          </a:p>
        </p:txBody>
      </p:sp>
      <p:sp>
        <p:nvSpPr>
          <p:cNvPr id="13" name="Rectangle 12"/>
          <p:cNvSpPr/>
          <p:nvPr/>
        </p:nvSpPr>
        <p:spPr>
          <a:xfrm>
            <a:off x="2178679" y="2212083"/>
            <a:ext cx="1657655" cy="1314118"/>
          </a:xfrm>
          <a:prstGeom prst="rect">
            <a:avLst/>
          </a:prstGeom>
          <a:solidFill>
            <a:schemeClr val="accent6">
              <a:lumMod val="60000"/>
              <a:lumOff val="40000"/>
            </a:schemeClr>
          </a:solidFill>
          <a:ln w="19050" cap="flat" cmpd="sng" algn="ctr">
            <a:solidFill>
              <a:sysClr val="window" lastClr="FFFFFF"/>
            </a:solidFill>
            <a:prstDash val="solid"/>
            <a:miter lim="800000"/>
          </a:ln>
          <a:effectLst/>
        </p:spPr>
        <p:txBody>
          <a:bodyPr rtlCol="0" anchor="ctr"/>
          <a:lstStyle/>
          <a:p>
            <a:pPr algn="ctr" defTabSz="914400">
              <a:defRPr/>
            </a:pPr>
            <a:r>
              <a:rPr lang="en-US" sz="1100" b="1" kern="0" dirty="0">
                <a:solidFill>
                  <a:prstClr val="white"/>
                </a:solidFill>
                <a:latin typeface="Calibri"/>
              </a:rPr>
              <a:t>Deducing market estimates at North America &amp; regional level and data correlation with the secondary research</a:t>
            </a:r>
          </a:p>
        </p:txBody>
      </p:sp>
      <p:sp>
        <p:nvSpPr>
          <p:cNvPr id="14" name="Rounded Rectangle 13"/>
          <p:cNvSpPr/>
          <p:nvPr/>
        </p:nvSpPr>
        <p:spPr>
          <a:xfrm>
            <a:off x="231225" y="1895307"/>
            <a:ext cx="3692050" cy="1747294"/>
          </a:xfrm>
          <a:prstGeom prst="roundRect">
            <a:avLst>
              <a:gd name="adj" fmla="val 5983"/>
            </a:avLst>
          </a:prstGeom>
          <a:noFill/>
          <a:ln w="12700" cap="flat" cmpd="sng" algn="ctr">
            <a:solidFill>
              <a:schemeClr val="tx1"/>
            </a:solidFill>
            <a:prstDash val="dash"/>
            <a:miter lim="800000"/>
          </a:ln>
          <a:effectLst/>
        </p:spPr>
        <p:txBody>
          <a:bodyPr rtlCol="0" anchor="ctr"/>
          <a:lstStyle/>
          <a:p>
            <a:pPr algn="ctr" defTabSz="914400">
              <a:defRPr/>
            </a:pPr>
            <a:endParaRPr lang="en-US" sz="1800" kern="0" dirty="0">
              <a:solidFill>
                <a:prstClr val="white"/>
              </a:solidFill>
              <a:latin typeface="Calibri"/>
            </a:endParaRPr>
          </a:p>
        </p:txBody>
      </p:sp>
      <p:sp>
        <p:nvSpPr>
          <p:cNvPr id="15" name="TextBox 14"/>
          <p:cNvSpPr txBox="1"/>
          <p:nvPr/>
        </p:nvSpPr>
        <p:spPr>
          <a:xfrm>
            <a:off x="748035" y="1895308"/>
            <a:ext cx="2658430" cy="307777"/>
          </a:xfrm>
          <a:prstGeom prst="rect">
            <a:avLst/>
          </a:prstGeom>
          <a:noFill/>
        </p:spPr>
        <p:txBody>
          <a:bodyPr wrap="square" rtlCol="0">
            <a:spAutoFit/>
          </a:bodyPr>
          <a:lstStyle/>
          <a:p>
            <a:pPr algn="ctr" defTabSz="914400">
              <a:defRPr/>
            </a:pPr>
            <a:r>
              <a:rPr lang="en-US" sz="1400" b="1" kern="0" dirty="0">
                <a:solidFill>
                  <a:schemeClr val="tx1">
                    <a:lumMod val="75000"/>
                    <a:lumOff val="25000"/>
                  </a:schemeClr>
                </a:solidFill>
              </a:rPr>
              <a:t>Primary Research</a:t>
            </a:r>
          </a:p>
        </p:txBody>
      </p:sp>
      <p:cxnSp>
        <p:nvCxnSpPr>
          <p:cNvPr id="16" name="Elbow Connector 15"/>
          <p:cNvCxnSpPr/>
          <p:nvPr/>
        </p:nvCxnSpPr>
        <p:spPr>
          <a:xfrm rot="5400000" flipH="1">
            <a:off x="8318126" y="1898523"/>
            <a:ext cx="1200409" cy="2287748"/>
          </a:xfrm>
          <a:prstGeom prst="bentConnector4">
            <a:avLst>
              <a:gd name="adj1" fmla="val -18329"/>
              <a:gd name="adj2" fmla="val 91676"/>
            </a:avLst>
          </a:prstGeom>
          <a:noFill/>
          <a:ln w="19050" cap="flat" cmpd="sng" algn="ctr">
            <a:solidFill>
              <a:schemeClr val="tx1"/>
            </a:solidFill>
            <a:prstDash val="solid"/>
            <a:miter lim="800000"/>
            <a:tailEnd type="triangle"/>
          </a:ln>
          <a:effectLst/>
        </p:spPr>
      </p:cxnSp>
      <p:cxnSp>
        <p:nvCxnSpPr>
          <p:cNvPr id="17" name="Elbow Connector 16"/>
          <p:cNvCxnSpPr/>
          <p:nvPr/>
        </p:nvCxnSpPr>
        <p:spPr>
          <a:xfrm rot="5400000" flipH="1" flipV="1">
            <a:off x="2783858" y="930834"/>
            <a:ext cx="257866" cy="1671081"/>
          </a:xfrm>
          <a:prstGeom prst="bentConnector2">
            <a:avLst/>
          </a:prstGeom>
          <a:noFill/>
          <a:ln w="19050" cap="flat" cmpd="sng" algn="ctr">
            <a:solidFill>
              <a:schemeClr val="tx1"/>
            </a:solidFill>
            <a:prstDash val="solid"/>
            <a:miter lim="800000"/>
            <a:tailEnd type="triangle"/>
          </a:ln>
          <a:effectLst/>
        </p:spPr>
      </p:cxnSp>
      <p:sp>
        <p:nvSpPr>
          <p:cNvPr id="18" name="TextBox 17"/>
          <p:cNvSpPr txBox="1"/>
          <p:nvPr/>
        </p:nvSpPr>
        <p:spPr>
          <a:xfrm>
            <a:off x="5198288" y="3155317"/>
            <a:ext cx="1720169" cy="707886"/>
          </a:xfrm>
          <a:prstGeom prst="rect">
            <a:avLst/>
          </a:prstGeom>
          <a:noFill/>
        </p:spPr>
        <p:txBody>
          <a:bodyPr wrap="square" rtlCol="0">
            <a:spAutoFit/>
          </a:bodyPr>
          <a:lstStyle/>
          <a:p>
            <a:pPr lvl="0" algn="ctr"/>
            <a:r>
              <a:rPr lang="en-GB" sz="1000" b="1" dirty="0">
                <a:latin typeface="Arial" pitchFamily="34" charset="0"/>
                <a:cs typeface="Arial" pitchFamily="34" charset="0"/>
              </a:rPr>
              <a:t>Analysis Benchmarking &amp; Data Validation</a:t>
            </a:r>
          </a:p>
          <a:p>
            <a:endParaRPr lang="en-GB" sz="1000" b="1" dirty="0"/>
          </a:p>
        </p:txBody>
      </p:sp>
      <p:sp>
        <p:nvSpPr>
          <p:cNvPr id="19" name="TextBox 18"/>
          <p:cNvSpPr txBox="1"/>
          <p:nvPr/>
        </p:nvSpPr>
        <p:spPr>
          <a:xfrm>
            <a:off x="3556556" y="3895970"/>
            <a:ext cx="2051358" cy="479602"/>
          </a:xfrm>
          <a:prstGeom prst="rect">
            <a:avLst/>
          </a:prstGeom>
          <a:noFill/>
        </p:spPr>
        <p:txBody>
          <a:bodyPr wrap="square" rtlCol="0">
            <a:noAutofit/>
          </a:bodyPr>
          <a:lstStyle/>
          <a:p>
            <a:pPr lvl="0"/>
            <a:r>
              <a:rPr lang="en-GB" sz="900" dirty="0">
                <a:latin typeface="Arial" pitchFamily="34" charset="0"/>
                <a:cs typeface="Arial" pitchFamily="34" charset="0"/>
              </a:rPr>
              <a:t>Data validation using the supply side and demand side analysis for target markets</a:t>
            </a:r>
          </a:p>
        </p:txBody>
      </p:sp>
      <p:sp>
        <p:nvSpPr>
          <p:cNvPr id="20" name="TextBox 19"/>
          <p:cNvSpPr txBox="1"/>
          <p:nvPr/>
        </p:nvSpPr>
        <p:spPr>
          <a:xfrm>
            <a:off x="6525962" y="3867741"/>
            <a:ext cx="2251554" cy="507831"/>
          </a:xfrm>
          <a:prstGeom prst="rect">
            <a:avLst/>
          </a:prstGeom>
          <a:noFill/>
        </p:spPr>
        <p:txBody>
          <a:bodyPr wrap="square" rtlCol="0">
            <a:spAutoFit/>
          </a:bodyPr>
          <a:lstStyle/>
          <a:p>
            <a:pPr lvl="0"/>
            <a:r>
              <a:rPr lang="en-GB" sz="900" dirty="0">
                <a:latin typeface="Arial" pitchFamily="34" charset="0"/>
                <a:cs typeface="Arial" pitchFamily="34" charset="0"/>
              </a:rPr>
              <a:t>Both bottom-up and top-down approach utilized to arrive at market numbers and validation</a:t>
            </a:r>
          </a:p>
        </p:txBody>
      </p:sp>
      <p:sp>
        <p:nvSpPr>
          <p:cNvPr id="21" name="Rectangle 20"/>
          <p:cNvSpPr/>
          <p:nvPr/>
        </p:nvSpPr>
        <p:spPr>
          <a:xfrm>
            <a:off x="152399" y="1404481"/>
            <a:ext cx="11887201" cy="4843926"/>
          </a:xfrm>
          <a:prstGeom prst="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 21"/>
          <p:cNvGrpSpPr/>
          <p:nvPr/>
        </p:nvGrpSpPr>
        <p:grpSpPr>
          <a:xfrm>
            <a:off x="263393" y="4020904"/>
            <a:ext cx="4041576" cy="2154167"/>
            <a:chOff x="2809358" y="3841922"/>
            <a:chExt cx="3320914" cy="2360787"/>
          </a:xfrm>
        </p:grpSpPr>
        <p:sp>
          <p:nvSpPr>
            <p:cNvPr id="28" name="Diamond 27"/>
            <p:cNvSpPr/>
            <p:nvPr/>
          </p:nvSpPr>
          <p:spPr>
            <a:xfrm>
              <a:off x="4188919" y="3841922"/>
              <a:ext cx="1634656" cy="1142301"/>
            </a:xfrm>
            <a:prstGeom prst="diamond">
              <a:avLst/>
            </a:prstGeom>
            <a:solidFill>
              <a:schemeClr val="bg1">
                <a:lumMod val="75000"/>
                <a:alpha val="71000"/>
              </a:schemeClr>
            </a:solidFill>
            <a:ln w="12700" cap="flat" cmpd="sng" algn="ctr">
              <a:noFill/>
              <a:prstDash val="solid"/>
              <a:miter lim="800000"/>
            </a:ln>
            <a:effectLst/>
          </p:spPr>
          <p:txBody>
            <a:bodyPr rtlCol="0" anchor="ctr"/>
            <a:lstStyle/>
            <a:p>
              <a:pPr algn="ctr">
                <a:defRPr/>
              </a:pPr>
              <a:r>
                <a:rPr lang="en-GB" sz="1200" b="1" kern="0" dirty="0">
                  <a:latin typeface="Calibri" panose="020F0502020204030204"/>
                </a:rPr>
                <a:t>Forecast </a:t>
              </a:r>
            </a:p>
            <a:p>
              <a:pPr algn="ctr">
                <a:defRPr/>
              </a:pPr>
              <a:r>
                <a:rPr lang="en-GB" sz="1200" b="1" kern="0" dirty="0">
                  <a:latin typeface="Calibri" panose="020F0502020204030204"/>
                </a:rPr>
                <a:t>Model</a:t>
              </a:r>
            </a:p>
          </p:txBody>
        </p:sp>
        <p:sp>
          <p:nvSpPr>
            <p:cNvPr id="29" name="Chevron 28"/>
            <p:cNvSpPr/>
            <p:nvPr/>
          </p:nvSpPr>
          <p:spPr>
            <a:xfrm>
              <a:off x="4847425" y="5252760"/>
              <a:ext cx="1282847" cy="623450"/>
            </a:xfrm>
            <a:prstGeom prst="chevron">
              <a:avLst>
                <a:gd name="adj" fmla="val 0"/>
              </a:avLst>
            </a:prstGeom>
            <a:solidFill>
              <a:schemeClr val="bg2">
                <a:lumMod val="50000"/>
              </a:schemeClr>
            </a:solidFill>
            <a:ln w="12700" cap="flat" cmpd="sng" algn="ctr">
              <a:noFill/>
              <a:prstDash val="solid"/>
              <a:miter lim="800000"/>
            </a:ln>
            <a:effectLst/>
          </p:spPr>
          <p:txBody>
            <a:bodyPr rtlCol="0" anchor="ctr"/>
            <a:lstStyle/>
            <a:p>
              <a:pPr algn="ctr">
                <a:defRPr/>
              </a:pPr>
              <a:r>
                <a:rPr lang="en-GB" sz="1400" b="1" kern="0" dirty="0">
                  <a:solidFill>
                    <a:prstClr val="white"/>
                  </a:solidFill>
                  <a:latin typeface="Calibri" panose="020F0502020204030204"/>
                </a:rPr>
                <a:t>Forecast </a:t>
              </a:r>
            </a:p>
            <a:p>
              <a:pPr algn="ctr">
                <a:defRPr/>
              </a:pPr>
              <a:r>
                <a:rPr lang="en-GB" sz="1400" b="1" kern="0" dirty="0">
                  <a:solidFill>
                    <a:prstClr val="white"/>
                  </a:solidFill>
                  <a:latin typeface="Calibri" panose="020F0502020204030204"/>
                </a:rPr>
                <a:t>Development</a:t>
              </a:r>
            </a:p>
          </p:txBody>
        </p:sp>
        <p:sp>
          <p:nvSpPr>
            <p:cNvPr id="30" name="Rounded Rectangle 29"/>
            <p:cNvSpPr/>
            <p:nvPr/>
          </p:nvSpPr>
          <p:spPr>
            <a:xfrm>
              <a:off x="2853090" y="5595943"/>
              <a:ext cx="1250513" cy="562504"/>
            </a:xfrm>
            <a:prstGeom prst="roundRect">
              <a:avLst>
                <a:gd name="adj" fmla="val 4786"/>
              </a:avLst>
            </a:prstGeom>
            <a:solidFill>
              <a:schemeClr val="accent1">
                <a:lumMod val="40000"/>
                <a:lumOff val="60000"/>
              </a:schemeClr>
            </a:solidFill>
            <a:ln w="12700" cap="flat" cmpd="sng" algn="ctr">
              <a:noFill/>
              <a:prstDash val="solid"/>
              <a:miter lim="800000"/>
            </a:ln>
            <a:effectLst/>
          </p:spPr>
          <p:txBody>
            <a:bodyPr rtlCol="0" anchor="ctr"/>
            <a:lstStyle/>
            <a:p>
              <a:pPr algn="ctr">
                <a:defRPr/>
              </a:pPr>
              <a:r>
                <a:rPr lang="en-GB" sz="1200" kern="0" dirty="0">
                  <a:solidFill>
                    <a:prstClr val="black"/>
                  </a:solidFill>
                  <a:latin typeface="Calibri" panose="020F0502020204030204"/>
                </a:rPr>
                <a:t>Respondents Panel and In-house Expertise</a:t>
              </a:r>
            </a:p>
          </p:txBody>
        </p:sp>
        <p:sp>
          <p:nvSpPr>
            <p:cNvPr id="31" name="Rounded Rectangle 30"/>
            <p:cNvSpPr/>
            <p:nvPr/>
          </p:nvSpPr>
          <p:spPr>
            <a:xfrm>
              <a:off x="2863869" y="4756088"/>
              <a:ext cx="1250513" cy="511367"/>
            </a:xfrm>
            <a:prstGeom prst="roundRect">
              <a:avLst>
                <a:gd name="adj" fmla="val 4786"/>
              </a:avLst>
            </a:prstGeom>
            <a:solidFill>
              <a:schemeClr val="accent1">
                <a:lumMod val="40000"/>
                <a:lumOff val="60000"/>
              </a:schemeClr>
            </a:solidFill>
            <a:ln w="12700" cap="flat" cmpd="sng" algn="ctr">
              <a:noFill/>
              <a:prstDash val="solid"/>
              <a:miter lim="800000"/>
            </a:ln>
            <a:effectLst/>
          </p:spPr>
          <p:txBody>
            <a:bodyPr rtlCol="0" anchor="ctr"/>
            <a:lstStyle/>
            <a:p>
              <a:pPr algn="ctr">
                <a:defRPr/>
              </a:pPr>
              <a:r>
                <a:rPr lang="en-GB" sz="1200" kern="0" dirty="0">
                  <a:solidFill>
                    <a:prstClr val="black"/>
                  </a:solidFill>
                  <a:latin typeface="Calibri" panose="020F0502020204030204"/>
                </a:rPr>
                <a:t>Statistical Checks &amp; Data Validation</a:t>
              </a:r>
            </a:p>
          </p:txBody>
        </p:sp>
        <p:sp>
          <p:nvSpPr>
            <p:cNvPr id="32" name="Rounded Rectangle 31"/>
            <p:cNvSpPr/>
            <p:nvPr/>
          </p:nvSpPr>
          <p:spPr>
            <a:xfrm>
              <a:off x="2809358" y="5549224"/>
              <a:ext cx="1325839" cy="653485"/>
            </a:xfrm>
            <a:prstGeom prst="roundRect">
              <a:avLst>
                <a:gd name="adj" fmla="val 6185"/>
              </a:avLst>
            </a:prstGeom>
            <a:noFill/>
            <a:ln w="12700" cap="flat" cmpd="sng" algn="ctr">
              <a:solidFill>
                <a:sysClr val="window" lastClr="FFFFFF">
                  <a:lumMod val="50000"/>
                </a:sysClr>
              </a:solidFill>
              <a:prstDash val="dash"/>
              <a:miter lim="800000"/>
            </a:ln>
            <a:effectLst/>
          </p:spPr>
          <p:txBody>
            <a:bodyPr rtlCol="0" anchor="ctr"/>
            <a:lstStyle/>
            <a:p>
              <a:pPr algn="ctr">
                <a:defRPr/>
              </a:pPr>
              <a:endParaRPr lang="en-GB" kern="0" dirty="0">
                <a:solidFill>
                  <a:prstClr val="white"/>
                </a:solidFill>
                <a:latin typeface="Calibri" panose="020F0502020204030204"/>
              </a:endParaRPr>
            </a:p>
          </p:txBody>
        </p:sp>
        <p:sp>
          <p:nvSpPr>
            <p:cNvPr id="33" name="Rounded Rectangle 32"/>
            <p:cNvSpPr/>
            <p:nvPr/>
          </p:nvSpPr>
          <p:spPr>
            <a:xfrm>
              <a:off x="2809358" y="4715933"/>
              <a:ext cx="1343832" cy="594077"/>
            </a:xfrm>
            <a:prstGeom prst="roundRect">
              <a:avLst>
                <a:gd name="adj" fmla="val 6185"/>
              </a:avLst>
            </a:prstGeom>
            <a:noFill/>
            <a:ln w="12700" cap="flat" cmpd="sng" algn="ctr">
              <a:solidFill>
                <a:sysClr val="window" lastClr="FFFFFF">
                  <a:lumMod val="50000"/>
                </a:sysClr>
              </a:solidFill>
              <a:prstDash val="dash"/>
              <a:miter lim="800000"/>
            </a:ln>
            <a:effectLst/>
          </p:spPr>
          <p:txBody>
            <a:bodyPr rtlCol="0" anchor="ctr"/>
            <a:lstStyle/>
            <a:p>
              <a:pPr algn="ctr">
                <a:defRPr/>
              </a:pPr>
              <a:endParaRPr lang="en-GB" kern="0" dirty="0">
                <a:solidFill>
                  <a:prstClr val="white"/>
                </a:solidFill>
                <a:latin typeface="Calibri" panose="020F0502020204030204"/>
              </a:endParaRPr>
            </a:p>
          </p:txBody>
        </p:sp>
        <p:sp>
          <p:nvSpPr>
            <p:cNvPr id="34" name="Diamond 33"/>
            <p:cNvSpPr/>
            <p:nvPr/>
          </p:nvSpPr>
          <p:spPr>
            <a:xfrm>
              <a:off x="4263221" y="3880706"/>
              <a:ext cx="1486051" cy="1038455"/>
            </a:xfrm>
            <a:prstGeom prst="diamond">
              <a:avLst/>
            </a:prstGeom>
            <a:noFill/>
            <a:ln w="19050" cap="flat" cmpd="sng" algn="ctr">
              <a:solidFill>
                <a:schemeClr val="bg1"/>
              </a:solidFill>
              <a:prstDash val="dash"/>
              <a:miter lim="800000"/>
            </a:ln>
            <a:effectLst/>
          </p:spPr>
          <p:txBody>
            <a:bodyPr rtlCol="0" anchor="ctr"/>
            <a:lstStyle/>
            <a:p>
              <a:pPr algn="ctr">
                <a:defRPr/>
              </a:pPr>
              <a:endParaRPr lang="en-GB" sz="1200" b="1" kern="0" dirty="0">
                <a:solidFill>
                  <a:prstClr val="black"/>
                </a:solidFill>
                <a:latin typeface="Calibri" panose="020F0502020204030204"/>
              </a:endParaRPr>
            </a:p>
          </p:txBody>
        </p:sp>
        <p:grpSp>
          <p:nvGrpSpPr>
            <p:cNvPr id="35" name="Group 34"/>
            <p:cNvGrpSpPr/>
            <p:nvPr/>
          </p:nvGrpSpPr>
          <p:grpSpPr>
            <a:xfrm>
              <a:off x="4215952" y="5221187"/>
              <a:ext cx="581886" cy="554182"/>
              <a:chOff x="7251516" y="4372518"/>
              <a:chExt cx="351407" cy="554182"/>
            </a:xfrm>
          </p:grpSpPr>
          <p:cxnSp>
            <p:nvCxnSpPr>
              <p:cNvPr id="41" name="Straight Arrow Connector 40"/>
              <p:cNvCxnSpPr/>
              <p:nvPr/>
            </p:nvCxnSpPr>
            <p:spPr>
              <a:xfrm>
                <a:off x="7251516" y="4372518"/>
                <a:ext cx="351407" cy="0"/>
              </a:xfrm>
              <a:prstGeom prst="straightConnector1">
                <a:avLst/>
              </a:prstGeom>
              <a:noFill/>
              <a:ln w="6350" cap="flat" cmpd="sng" algn="ctr">
                <a:solidFill>
                  <a:sysClr val="window" lastClr="FFFFFF">
                    <a:lumMod val="50000"/>
                  </a:sysClr>
                </a:solidFill>
                <a:prstDash val="solid"/>
                <a:miter lim="800000"/>
                <a:tailEnd type="triangle"/>
              </a:ln>
              <a:effectLst/>
            </p:spPr>
          </p:cxnSp>
          <p:cxnSp>
            <p:nvCxnSpPr>
              <p:cNvPr id="42" name="Straight Arrow Connector 41"/>
              <p:cNvCxnSpPr/>
              <p:nvPr/>
            </p:nvCxnSpPr>
            <p:spPr>
              <a:xfrm>
                <a:off x="7251516" y="4511063"/>
                <a:ext cx="351407" cy="0"/>
              </a:xfrm>
              <a:prstGeom prst="straightConnector1">
                <a:avLst/>
              </a:prstGeom>
              <a:noFill/>
              <a:ln w="6350" cap="flat" cmpd="sng" algn="ctr">
                <a:solidFill>
                  <a:sysClr val="window" lastClr="FFFFFF">
                    <a:lumMod val="50000"/>
                  </a:sysClr>
                </a:solidFill>
                <a:prstDash val="solid"/>
                <a:miter lim="800000"/>
                <a:tailEnd type="triangle"/>
              </a:ln>
              <a:effectLst/>
            </p:spPr>
          </p:cxnSp>
          <p:cxnSp>
            <p:nvCxnSpPr>
              <p:cNvPr id="43" name="Straight Arrow Connector 42"/>
              <p:cNvCxnSpPr/>
              <p:nvPr/>
            </p:nvCxnSpPr>
            <p:spPr>
              <a:xfrm>
                <a:off x="7251516" y="4649609"/>
                <a:ext cx="351407" cy="0"/>
              </a:xfrm>
              <a:prstGeom prst="straightConnector1">
                <a:avLst/>
              </a:prstGeom>
              <a:noFill/>
              <a:ln w="6350" cap="flat" cmpd="sng" algn="ctr">
                <a:solidFill>
                  <a:sysClr val="window" lastClr="FFFFFF">
                    <a:lumMod val="50000"/>
                  </a:sysClr>
                </a:solidFill>
                <a:prstDash val="solid"/>
                <a:miter lim="800000"/>
                <a:tailEnd type="triangle"/>
              </a:ln>
              <a:effectLst/>
            </p:spPr>
          </p:cxnSp>
          <p:cxnSp>
            <p:nvCxnSpPr>
              <p:cNvPr id="44" name="Straight Arrow Connector 43"/>
              <p:cNvCxnSpPr/>
              <p:nvPr/>
            </p:nvCxnSpPr>
            <p:spPr>
              <a:xfrm>
                <a:off x="7251516" y="4788154"/>
                <a:ext cx="351407" cy="0"/>
              </a:xfrm>
              <a:prstGeom prst="straightConnector1">
                <a:avLst/>
              </a:prstGeom>
              <a:noFill/>
              <a:ln w="6350" cap="flat" cmpd="sng" algn="ctr">
                <a:solidFill>
                  <a:sysClr val="window" lastClr="FFFFFF">
                    <a:lumMod val="50000"/>
                  </a:sysClr>
                </a:solidFill>
                <a:prstDash val="solid"/>
                <a:miter lim="800000"/>
                <a:tailEnd type="triangle"/>
              </a:ln>
              <a:effectLst/>
            </p:spPr>
          </p:cxnSp>
          <p:cxnSp>
            <p:nvCxnSpPr>
              <p:cNvPr id="45" name="Straight Arrow Connector 44"/>
              <p:cNvCxnSpPr/>
              <p:nvPr/>
            </p:nvCxnSpPr>
            <p:spPr>
              <a:xfrm>
                <a:off x="7251516" y="4926700"/>
                <a:ext cx="351407" cy="0"/>
              </a:xfrm>
              <a:prstGeom prst="straightConnector1">
                <a:avLst/>
              </a:prstGeom>
              <a:noFill/>
              <a:ln w="6350" cap="flat" cmpd="sng" algn="ctr">
                <a:solidFill>
                  <a:sysClr val="window" lastClr="FFFFFF">
                    <a:lumMod val="50000"/>
                  </a:sysClr>
                </a:solidFill>
                <a:prstDash val="solid"/>
                <a:miter lim="800000"/>
                <a:tailEnd type="triangle"/>
              </a:ln>
              <a:effectLst/>
            </p:spPr>
          </p:cxnSp>
        </p:grpSp>
        <p:grpSp>
          <p:nvGrpSpPr>
            <p:cNvPr id="36" name="Group 35"/>
            <p:cNvGrpSpPr/>
            <p:nvPr/>
          </p:nvGrpSpPr>
          <p:grpSpPr>
            <a:xfrm rot="5400000">
              <a:off x="4952932" y="4818516"/>
              <a:ext cx="221780" cy="415636"/>
              <a:chOff x="7251516" y="4372518"/>
              <a:chExt cx="351407" cy="415636"/>
            </a:xfrm>
          </p:grpSpPr>
          <p:cxnSp>
            <p:nvCxnSpPr>
              <p:cNvPr id="37" name="Straight Arrow Connector 36"/>
              <p:cNvCxnSpPr/>
              <p:nvPr/>
            </p:nvCxnSpPr>
            <p:spPr>
              <a:xfrm>
                <a:off x="7251516" y="4372518"/>
                <a:ext cx="351407" cy="0"/>
              </a:xfrm>
              <a:prstGeom prst="straightConnector1">
                <a:avLst/>
              </a:prstGeom>
              <a:noFill/>
              <a:ln w="6350" cap="flat" cmpd="sng" algn="ctr">
                <a:solidFill>
                  <a:sysClr val="window" lastClr="FFFFFF">
                    <a:lumMod val="50000"/>
                  </a:sysClr>
                </a:solidFill>
                <a:prstDash val="solid"/>
                <a:miter lim="800000"/>
                <a:tailEnd type="triangle"/>
              </a:ln>
              <a:effectLst/>
            </p:spPr>
          </p:cxnSp>
          <p:cxnSp>
            <p:nvCxnSpPr>
              <p:cNvPr id="38" name="Straight Arrow Connector 37"/>
              <p:cNvCxnSpPr/>
              <p:nvPr/>
            </p:nvCxnSpPr>
            <p:spPr>
              <a:xfrm>
                <a:off x="7251516" y="4511063"/>
                <a:ext cx="351407" cy="0"/>
              </a:xfrm>
              <a:prstGeom prst="straightConnector1">
                <a:avLst/>
              </a:prstGeom>
              <a:noFill/>
              <a:ln w="6350" cap="flat" cmpd="sng" algn="ctr">
                <a:solidFill>
                  <a:sysClr val="window" lastClr="FFFFFF">
                    <a:lumMod val="50000"/>
                  </a:sysClr>
                </a:solidFill>
                <a:prstDash val="solid"/>
                <a:miter lim="800000"/>
                <a:tailEnd type="triangle"/>
              </a:ln>
              <a:effectLst/>
            </p:spPr>
          </p:cxnSp>
          <p:cxnSp>
            <p:nvCxnSpPr>
              <p:cNvPr id="39" name="Straight Arrow Connector 38"/>
              <p:cNvCxnSpPr/>
              <p:nvPr/>
            </p:nvCxnSpPr>
            <p:spPr>
              <a:xfrm>
                <a:off x="7251516" y="4649609"/>
                <a:ext cx="351407" cy="0"/>
              </a:xfrm>
              <a:prstGeom prst="straightConnector1">
                <a:avLst/>
              </a:prstGeom>
              <a:noFill/>
              <a:ln w="6350" cap="flat" cmpd="sng" algn="ctr">
                <a:solidFill>
                  <a:sysClr val="window" lastClr="FFFFFF">
                    <a:lumMod val="50000"/>
                  </a:sysClr>
                </a:solidFill>
                <a:prstDash val="solid"/>
                <a:miter lim="800000"/>
                <a:tailEnd type="triangle"/>
              </a:ln>
              <a:effectLst/>
            </p:spPr>
          </p:cxnSp>
          <p:cxnSp>
            <p:nvCxnSpPr>
              <p:cNvPr id="40" name="Straight Arrow Connector 39"/>
              <p:cNvCxnSpPr/>
              <p:nvPr/>
            </p:nvCxnSpPr>
            <p:spPr>
              <a:xfrm>
                <a:off x="7251516" y="4788154"/>
                <a:ext cx="351407" cy="0"/>
              </a:xfrm>
              <a:prstGeom prst="straightConnector1">
                <a:avLst/>
              </a:prstGeom>
              <a:noFill/>
              <a:ln w="6350" cap="flat" cmpd="sng" algn="ctr">
                <a:solidFill>
                  <a:sysClr val="window" lastClr="FFFFFF">
                    <a:lumMod val="50000"/>
                  </a:sysClr>
                </a:solidFill>
                <a:prstDash val="solid"/>
                <a:miter lim="800000"/>
                <a:tailEnd type="triangle"/>
              </a:ln>
              <a:effectLst/>
            </p:spPr>
          </p:cxnSp>
        </p:grpSp>
      </p:grpSp>
      <p:sp>
        <p:nvSpPr>
          <p:cNvPr id="23" name="TextBox 22"/>
          <p:cNvSpPr txBox="1"/>
          <p:nvPr/>
        </p:nvSpPr>
        <p:spPr>
          <a:xfrm>
            <a:off x="4145235" y="4569976"/>
            <a:ext cx="2051358" cy="369332"/>
          </a:xfrm>
          <a:prstGeom prst="rect">
            <a:avLst/>
          </a:prstGeom>
          <a:noFill/>
        </p:spPr>
        <p:txBody>
          <a:bodyPr wrap="square" rtlCol="0">
            <a:spAutoFit/>
          </a:bodyPr>
          <a:lstStyle/>
          <a:p>
            <a:pPr lvl="0"/>
            <a:r>
              <a:rPr lang="en-GB" sz="900" dirty="0">
                <a:latin typeface="Arial" pitchFamily="34" charset="0"/>
                <a:cs typeface="Arial" pitchFamily="34" charset="0"/>
              </a:rPr>
              <a:t>Quantitative Market Data Analysis and Forecast</a:t>
            </a:r>
          </a:p>
        </p:txBody>
      </p:sp>
      <p:cxnSp>
        <p:nvCxnSpPr>
          <p:cNvPr id="24" name="Elbow Connector 23"/>
          <p:cNvCxnSpPr>
            <a:stCxn id="47" idx="2"/>
            <a:endCxn id="28" idx="3"/>
          </p:cNvCxnSpPr>
          <p:nvPr/>
        </p:nvCxnSpPr>
        <p:spPr>
          <a:xfrm rot="5400000">
            <a:off x="4905381" y="3373846"/>
            <a:ext cx="194558" cy="2141885"/>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 name="Rounded Rectangle 24"/>
          <p:cNvSpPr/>
          <p:nvPr/>
        </p:nvSpPr>
        <p:spPr>
          <a:xfrm>
            <a:off x="7600481" y="4506330"/>
            <a:ext cx="4221773" cy="1278802"/>
          </a:xfrm>
          <a:prstGeom prst="roundRect">
            <a:avLst>
              <a:gd name="adj" fmla="val 125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6" name="Elbow Connector 25"/>
          <p:cNvCxnSpPr>
            <a:stCxn id="47" idx="2"/>
            <a:endCxn id="25" idx="1"/>
          </p:cNvCxnSpPr>
          <p:nvPr/>
        </p:nvCxnSpPr>
        <p:spPr>
          <a:xfrm rot="16200000" flipH="1">
            <a:off x="6437930" y="3983180"/>
            <a:ext cx="798223" cy="1526879"/>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6152875" y="5146726"/>
            <a:ext cx="1883543" cy="230832"/>
          </a:xfrm>
          <a:prstGeom prst="rect">
            <a:avLst/>
          </a:prstGeom>
          <a:noFill/>
        </p:spPr>
        <p:txBody>
          <a:bodyPr wrap="square" rtlCol="0">
            <a:spAutoFit/>
          </a:bodyPr>
          <a:lstStyle/>
          <a:p>
            <a:pPr lvl="0"/>
            <a:r>
              <a:rPr lang="en-GB" sz="900" dirty="0">
                <a:latin typeface="Arial" pitchFamily="34" charset="0"/>
                <a:cs typeface="Arial" pitchFamily="34" charset="0"/>
              </a:rPr>
              <a:t>Qualitative Data Analysis</a:t>
            </a:r>
          </a:p>
        </p:txBody>
      </p:sp>
      <p:sp>
        <p:nvSpPr>
          <p:cNvPr id="48" name="Rounded Rectangle 47"/>
          <p:cNvSpPr/>
          <p:nvPr/>
        </p:nvSpPr>
        <p:spPr>
          <a:xfrm>
            <a:off x="7684741" y="4589736"/>
            <a:ext cx="4053253" cy="1111991"/>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TextBox 48"/>
          <p:cNvSpPr txBox="1"/>
          <p:nvPr/>
        </p:nvSpPr>
        <p:spPr>
          <a:xfrm>
            <a:off x="7723173" y="4730233"/>
            <a:ext cx="3976388" cy="830997"/>
          </a:xfrm>
          <a:prstGeom prst="rect">
            <a:avLst/>
          </a:prstGeom>
          <a:noFill/>
          <a:ln>
            <a:noFill/>
          </a:ln>
        </p:spPr>
        <p:txBody>
          <a:bodyPr wrap="square" rtlCol="0">
            <a:spAutoFit/>
          </a:bodyPr>
          <a:lstStyle/>
          <a:p>
            <a:pPr marL="285750" indent="-285750">
              <a:buFont typeface="Wingdings" panose="05000000000000000000" pitchFamily="2" charset="2"/>
              <a:buChar char="q"/>
            </a:pPr>
            <a:r>
              <a:rPr lang="en-US" sz="1200" dirty="0"/>
              <a:t>Finding and Filling the Gap Between the Expected and Reported Data </a:t>
            </a:r>
          </a:p>
          <a:p>
            <a:pPr marL="285750" indent="-285750">
              <a:buFont typeface="Wingdings" panose="05000000000000000000" pitchFamily="2" charset="2"/>
              <a:buChar char="q"/>
            </a:pPr>
            <a:r>
              <a:rPr lang="en-US" sz="1200" dirty="0"/>
              <a:t>Quality Check and Data Refining</a:t>
            </a:r>
          </a:p>
          <a:p>
            <a:pPr marL="285750" indent="-285750">
              <a:buFont typeface="Wingdings" panose="05000000000000000000" pitchFamily="2" charset="2"/>
              <a:buChar char="q"/>
            </a:pPr>
            <a:r>
              <a:rPr lang="en-US" sz="1200" dirty="0"/>
              <a:t>Final Data Reporting</a:t>
            </a:r>
          </a:p>
        </p:txBody>
      </p:sp>
      <p:sp>
        <p:nvSpPr>
          <p:cNvPr id="51" name="Rectangle 50"/>
          <p:cNvSpPr/>
          <p:nvPr/>
        </p:nvSpPr>
        <p:spPr>
          <a:xfrm>
            <a:off x="8263294" y="2201197"/>
            <a:ext cx="1737360" cy="1314120"/>
          </a:xfrm>
          <a:prstGeom prst="rect">
            <a:avLst/>
          </a:prstGeom>
          <a:solidFill>
            <a:schemeClr val="accent3">
              <a:lumMod val="40000"/>
              <a:lumOff val="60000"/>
            </a:schemeClr>
          </a:solidFill>
          <a:ln w="19050" cap="flat" cmpd="sng" algn="ctr">
            <a:solidFill>
              <a:sysClr val="window" lastClr="FFFFFF"/>
            </a:solidFill>
            <a:prstDash val="solid"/>
            <a:miter lim="800000"/>
          </a:ln>
          <a:effectLst/>
        </p:spPr>
        <p:txBody>
          <a:bodyPr rtlCol="0" anchor="ctr"/>
          <a:lstStyle/>
          <a:p>
            <a:pPr algn="ctr" defTabSz="914400">
              <a:defRPr/>
            </a:pPr>
            <a:r>
              <a:rPr lang="en-US" sz="1100" b="1" kern="0" dirty="0"/>
              <a:t>Secondary research to assess the market for target Product Types within the industry value chain</a:t>
            </a:r>
          </a:p>
        </p:txBody>
      </p:sp>
      <p:sp>
        <p:nvSpPr>
          <p:cNvPr id="52" name="Rectangle 51"/>
          <p:cNvSpPr/>
          <p:nvPr/>
        </p:nvSpPr>
        <p:spPr>
          <a:xfrm>
            <a:off x="10143901" y="2201197"/>
            <a:ext cx="1737360" cy="1314118"/>
          </a:xfrm>
          <a:prstGeom prst="rect">
            <a:avLst/>
          </a:prstGeom>
          <a:solidFill>
            <a:schemeClr val="accent6">
              <a:lumMod val="60000"/>
              <a:lumOff val="40000"/>
            </a:schemeClr>
          </a:solidFill>
          <a:ln w="19050" cap="flat" cmpd="sng" algn="ctr">
            <a:solidFill>
              <a:sysClr val="window" lastClr="FFFFFF"/>
            </a:solidFill>
            <a:prstDash val="solid"/>
            <a:miter lim="800000"/>
          </a:ln>
          <a:effectLst/>
        </p:spPr>
        <p:txBody>
          <a:bodyPr rtlCol="0" anchor="ctr"/>
          <a:lstStyle/>
          <a:p>
            <a:pPr algn="ctr" defTabSz="914400">
              <a:defRPr/>
            </a:pPr>
            <a:r>
              <a:rPr lang="en-US" sz="1100" b="1" kern="0" dirty="0">
                <a:solidFill>
                  <a:prstClr val="white"/>
                </a:solidFill>
              </a:rPr>
              <a:t>Collection of vital data points, trends &amp; market size for each Product Type in the North America and regional market</a:t>
            </a:r>
          </a:p>
        </p:txBody>
      </p:sp>
      <p:sp>
        <p:nvSpPr>
          <p:cNvPr id="2" name="Rectangle 1"/>
          <p:cNvSpPr/>
          <p:nvPr/>
        </p:nvSpPr>
        <p:spPr>
          <a:xfrm>
            <a:off x="5263529" y="1071858"/>
            <a:ext cx="1664943" cy="338554"/>
          </a:xfrm>
          <a:prstGeom prst="rect">
            <a:avLst/>
          </a:prstGeom>
          <a:noFill/>
        </p:spPr>
        <p:txBody>
          <a:bodyPr wrap="none" lIns="91440" tIns="45720" rIns="91440" bIns="45720">
            <a:spAutoFit/>
          </a:bodyPr>
          <a:lstStyle/>
          <a:p>
            <a:r>
              <a:rPr lang="en-US" sz="1600" b="1" dirty="0">
                <a:ln w="0"/>
                <a:solidFill>
                  <a:srgbClr val="0070C0"/>
                </a:solidFill>
              </a:rPr>
              <a:t>Overall Approach</a:t>
            </a:r>
          </a:p>
        </p:txBody>
      </p:sp>
      <p:sp>
        <p:nvSpPr>
          <p:cNvPr id="50" name="TextBox 49"/>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Tree>
    <p:extLst>
      <p:ext uri="{BB962C8B-B14F-4D97-AF65-F5344CB8AC3E}">
        <p14:creationId xmlns:p14="http://schemas.microsoft.com/office/powerpoint/2010/main" val="1431385499"/>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Research Methodology</a:t>
            </a:r>
            <a:endParaRPr lang="en-US" dirty="0"/>
          </a:p>
        </p:txBody>
      </p:sp>
      <p:sp>
        <p:nvSpPr>
          <p:cNvPr id="27" name="Slide Number Placeholder 26"/>
          <p:cNvSpPr>
            <a:spLocks noGrp="1"/>
          </p:cNvSpPr>
          <p:nvPr>
            <p:ph type="sldNum" sz="quarter" idx="4"/>
          </p:nvPr>
        </p:nvSpPr>
        <p:spPr/>
        <p:txBody>
          <a:bodyPr/>
          <a:lstStyle/>
          <a:p>
            <a:fld id="{4B17068C-EB94-40A3-A5F2-664CDD77FDAC}" type="slidenum">
              <a:rPr lang="en-GB" smtClean="0"/>
              <a:pPr/>
              <a:t>291</a:t>
            </a:fld>
            <a:endParaRPr lang="en-GB" dirty="0"/>
          </a:p>
        </p:txBody>
      </p:sp>
      <p:grpSp>
        <p:nvGrpSpPr>
          <p:cNvPr id="4" name="Group 3"/>
          <p:cNvGrpSpPr>
            <a:grpSpLocks/>
          </p:cNvGrpSpPr>
          <p:nvPr/>
        </p:nvGrpSpPr>
        <p:grpSpPr bwMode="auto">
          <a:xfrm>
            <a:off x="152400" y="1478483"/>
            <a:ext cx="11887200" cy="4699000"/>
            <a:chOff x="917" y="915"/>
            <a:chExt cx="3806" cy="2088"/>
          </a:xfrm>
        </p:grpSpPr>
        <p:sp>
          <p:nvSpPr>
            <p:cNvPr id="5" name="Freeform 4"/>
            <p:cNvSpPr>
              <a:spLocks/>
            </p:cNvSpPr>
            <p:nvPr/>
          </p:nvSpPr>
          <p:spPr bwMode="blackWhite">
            <a:xfrm>
              <a:off x="3319" y="915"/>
              <a:ext cx="1404" cy="2088"/>
            </a:xfrm>
            <a:custGeom>
              <a:avLst/>
              <a:gdLst>
                <a:gd name="T0" fmla="*/ 0 w 1576"/>
                <a:gd name="T1" fmla="*/ 224 h 2415"/>
                <a:gd name="T2" fmla="*/ 983 w 1576"/>
                <a:gd name="T3" fmla="*/ 224 h 2415"/>
                <a:gd name="T4" fmla="*/ 983 w 1576"/>
                <a:gd name="T5" fmla="*/ 0 h 2415"/>
                <a:gd name="T6" fmla="*/ 1575 w 1576"/>
                <a:gd name="T7" fmla="*/ 1191 h 2415"/>
                <a:gd name="T8" fmla="*/ 983 w 1576"/>
                <a:gd name="T9" fmla="*/ 2414 h 2415"/>
                <a:gd name="T10" fmla="*/ 983 w 1576"/>
                <a:gd name="T11" fmla="*/ 2222 h 2415"/>
                <a:gd name="T12" fmla="*/ 0 w 1576"/>
                <a:gd name="T13" fmla="*/ 2222 h 2415"/>
                <a:gd name="T14" fmla="*/ 0 60000 65536"/>
                <a:gd name="T15" fmla="*/ 0 60000 65536"/>
                <a:gd name="T16" fmla="*/ 0 60000 65536"/>
                <a:gd name="T17" fmla="*/ 0 60000 65536"/>
                <a:gd name="T18" fmla="*/ 0 60000 65536"/>
                <a:gd name="T19" fmla="*/ 0 60000 65536"/>
                <a:gd name="T20" fmla="*/ 0 60000 65536"/>
                <a:gd name="T21" fmla="*/ 0 w 1576"/>
                <a:gd name="T22" fmla="*/ 0 h 2415"/>
                <a:gd name="T23" fmla="*/ 1576 w 1576"/>
                <a:gd name="T24" fmla="*/ 2415 h 24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76" h="2415">
                  <a:moveTo>
                    <a:pt x="0" y="224"/>
                  </a:moveTo>
                  <a:lnTo>
                    <a:pt x="983" y="224"/>
                  </a:lnTo>
                  <a:lnTo>
                    <a:pt x="983" y="0"/>
                  </a:lnTo>
                  <a:lnTo>
                    <a:pt x="1575" y="1191"/>
                  </a:lnTo>
                  <a:lnTo>
                    <a:pt x="983" y="2414"/>
                  </a:lnTo>
                  <a:lnTo>
                    <a:pt x="983" y="2222"/>
                  </a:lnTo>
                  <a:lnTo>
                    <a:pt x="0" y="2222"/>
                  </a:lnTo>
                </a:path>
              </a:pathLst>
            </a:custGeom>
            <a:solidFill>
              <a:srgbClr val="FFFFFF"/>
            </a:solidFill>
            <a:ln w="12700" cap="rnd" cmpd="sng">
              <a:solidFill>
                <a:srgbClr val="000000"/>
              </a:solidFill>
              <a:prstDash val="solid"/>
              <a:round/>
              <a:headEnd type="none" w="sm" len="sm"/>
              <a:tailEnd type="none" w="sm" len="sm"/>
            </a:ln>
          </p:spPr>
          <p:txBody>
            <a:bodyPr/>
            <a:lstStyle/>
            <a:p>
              <a:pPr fontAlgn="base">
                <a:spcBef>
                  <a:spcPct val="0"/>
                </a:spcBef>
                <a:spcAft>
                  <a:spcPct val="0"/>
                </a:spcAft>
                <a:defRPr/>
              </a:pPr>
              <a:endParaRPr lang="en-GB" sz="1600" kern="0" dirty="0">
                <a:solidFill>
                  <a:srgbClr val="000000"/>
                </a:solidFill>
                <a:latin typeface="Arial" panose="020B0604020202020204" pitchFamily="34" charset="0"/>
                <a:ea typeface="-윤고딕130" pitchFamily="18" charset="-127"/>
              </a:endParaRPr>
            </a:p>
          </p:txBody>
        </p:sp>
        <p:sp>
          <p:nvSpPr>
            <p:cNvPr id="6" name="Freeform 5"/>
            <p:cNvSpPr>
              <a:spLocks/>
            </p:cNvSpPr>
            <p:nvPr/>
          </p:nvSpPr>
          <p:spPr bwMode="blackWhite">
            <a:xfrm>
              <a:off x="2613" y="1109"/>
              <a:ext cx="1127" cy="1728"/>
            </a:xfrm>
            <a:custGeom>
              <a:avLst/>
              <a:gdLst>
                <a:gd name="T0" fmla="*/ 0 w 1265"/>
                <a:gd name="T1" fmla="*/ 264 h 1999"/>
                <a:gd name="T2" fmla="*/ 792 w 1265"/>
                <a:gd name="T3" fmla="*/ 264 h 1999"/>
                <a:gd name="T4" fmla="*/ 792 w 1265"/>
                <a:gd name="T5" fmla="*/ 0 h 1999"/>
                <a:gd name="T6" fmla="*/ 1264 w 1265"/>
                <a:gd name="T7" fmla="*/ 983 h 1999"/>
                <a:gd name="T8" fmla="*/ 792 w 1265"/>
                <a:gd name="T9" fmla="*/ 1998 h 1999"/>
                <a:gd name="T10" fmla="*/ 792 w 1265"/>
                <a:gd name="T11" fmla="*/ 1766 h 1999"/>
                <a:gd name="T12" fmla="*/ 8 w 1265"/>
                <a:gd name="T13" fmla="*/ 1766 h 1999"/>
                <a:gd name="T14" fmla="*/ 0 60000 65536"/>
                <a:gd name="T15" fmla="*/ 0 60000 65536"/>
                <a:gd name="T16" fmla="*/ 0 60000 65536"/>
                <a:gd name="T17" fmla="*/ 0 60000 65536"/>
                <a:gd name="T18" fmla="*/ 0 60000 65536"/>
                <a:gd name="T19" fmla="*/ 0 60000 65536"/>
                <a:gd name="T20" fmla="*/ 0 60000 65536"/>
                <a:gd name="T21" fmla="*/ 0 w 1265"/>
                <a:gd name="T22" fmla="*/ 0 h 1999"/>
                <a:gd name="T23" fmla="*/ 1265 w 1265"/>
                <a:gd name="T24" fmla="*/ 1999 h 19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5" h="1999">
                  <a:moveTo>
                    <a:pt x="0" y="264"/>
                  </a:moveTo>
                  <a:lnTo>
                    <a:pt x="792" y="264"/>
                  </a:lnTo>
                  <a:lnTo>
                    <a:pt x="792" y="0"/>
                  </a:lnTo>
                  <a:lnTo>
                    <a:pt x="1264" y="983"/>
                  </a:lnTo>
                  <a:lnTo>
                    <a:pt x="792" y="1998"/>
                  </a:lnTo>
                  <a:lnTo>
                    <a:pt x="792" y="1766"/>
                  </a:lnTo>
                  <a:lnTo>
                    <a:pt x="8" y="1766"/>
                  </a:lnTo>
                </a:path>
              </a:pathLst>
            </a:custGeom>
            <a:solidFill>
              <a:srgbClr val="FFFFFF"/>
            </a:solidFill>
            <a:ln w="12700" cap="rnd" cmpd="sng">
              <a:solidFill>
                <a:srgbClr val="000000"/>
              </a:solidFill>
              <a:prstDash val="solid"/>
              <a:round/>
              <a:headEnd type="none" w="sm" len="sm"/>
              <a:tailEnd type="none" w="sm" len="sm"/>
            </a:ln>
          </p:spPr>
          <p:txBody>
            <a:bodyPr/>
            <a:lstStyle/>
            <a:p>
              <a:pPr fontAlgn="base">
                <a:spcBef>
                  <a:spcPct val="0"/>
                </a:spcBef>
                <a:spcAft>
                  <a:spcPct val="0"/>
                </a:spcAft>
                <a:defRPr/>
              </a:pPr>
              <a:endParaRPr lang="en-GB" sz="1600" kern="0" dirty="0">
                <a:solidFill>
                  <a:srgbClr val="000000"/>
                </a:solidFill>
                <a:latin typeface="Arial" panose="020B0604020202020204" pitchFamily="34" charset="0"/>
                <a:ea typeface="-윤고딕130" pitchFamily="18" charset="-127"/>
              </a:endParaRPr>
            </a:p>
          </p:txBody>
        </p:sp>
        <p:sp>
          <p:nvSpPr>
            <p:cNvPr id="7" name="Freeform 6"/>
            <p:cNvSpPr>
              <a:spLocks/>
            </p:cNvSpPr>
            <p:nvPr/>
          </p:nvSpPr>
          <p:spPr bwMode="blackWhite">
            <a:xfrm>
              <a:off x="2071" y="1337"/>
              <a:ext cx="871" cy="1299"/>
            </a:xfrm>
            <a:custGeom>
              <a:avLst/>
              <a:gdLst>
                <a:gd name="T0" fmla="*/ 0 w 977"/>
                <a:gd name="T1" fmla="*/ 263 h 1503"/>
                <a:gd name="T2" fmla="*/ 608 w 977"/>
                <a:gd name="T3" fmla="*/ 263 h 1503"/>
                <a:gd name="T4" fmla="*/ 608 w 977"/>
                <a:gd name="T5" fmla="*/ 0 h 1503"/>
                <a:gd name="T6" fmla="*/ 976 w 977"/>
                <a:gd name="T7" fmla="*/ 751 h 1503"/>
                <a:gd name="T8" fmla="*/ 608 w 977"/>
                <a:gd name="T9" fmla="*/ 1502 h 1503"/>
                <a:gd name="T10" fmla="*/ 608 w 977"/>
                <a:gd name="T11" fmla="*/ 1247 h 1503"/>
                <a:gd name="T12" fmla="*/ 0 w 977"/>
                <a:gd name="T13" fmla="*/ 1247 h 1503"/>
                <a:gd name="T14" fmla="*/ 0 60000 65536"/>
                <a:gd name="T15" fmla="*/ 0 60000 65536"/>
                <a:gd name="T16" fmla="*/ 0 60000 65536"/>
                <a:gd name="T17" fmla="*/ 0 60000 65536"/>
                <a:gd name="T18" fmla="*/ 0 60000 65536"/>
                <a:gd name="T19" fmla="*/ 0 60000 65536"/>
                <a:gd name="T20" fmla="*/ 0 60000 65536"/>
                <a:gd name="T21" fmla="*/ 0 w 977"/>
                <a:gd name="T22" fmla="*/ 0 h 1503"/>
                <a:gd name="T23" fmla="*/ 977 w 977"/>
                <a:gd name="T24" fmla="*/ 1503 h 15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77" h="1503">
                  <a:moveTo>
                    <a:pt x="0" y="263"/>
                  </a:moveTo>
                  <a:lnTo>
                    <a:pt x="608" y="263"/>
                  </a:lnTo>
                  <a:lnTo>
                    <a:pt x="608" y="0"/>
                  </a:lnTo>
                  <a:lnTo>
                    <a:pt x="976" y="751"/>
                  </a:lnTo>
                  <a:lnTo>
                    <a:pt x="608" y="1502"/>
                  </a:lnTo>
                  <a:lnTo>
                    <a:pt x="608" y="1247"/>
                  </a:lnTo>
                  <a:lnTo>
                    <a:pt x="0" y="1247"/>
                  </a:lnTo>
                </a:path>
              </a:pathLst>
            </a:custGeom>
            <a:solidFill>
              <a:srgbClr val="FFFFFF"/>
            </a:solidFill>
            <a:ln w="12700" cap="rnd" cmpd="sng">
              <a:solidFill>
                <a:srgbClr val="000000"/>
              </a:solidFill>
              <a:prstDash val="solid"/>
              <a:round/>
              <a:headEnd type="none" w="sm" len="sm"/>
              <a:tailEnd type="none" w="sm" len="sm"/>
            </a:ln>
          </p:spPr>
          <p:txBody>
            <a:bodyPr/>
            <a:lstStyle/>
            <a:p>
              <a:pPr fontAlgn="base">
                <a:spcBef>
                  <a:spcPct val="0"/>
                </a:spcBef>
                <a:spcAft>
                  <a:spcPct val="0"/>
                </a:spcAft>
                <a:defRPr/>
              </a:pPr>
              <a:endParaRPr lang="en-GB" sz="1600" kern="0" dirty="0">
                <a:solidFill>
                  <a:srgbClr val="000000"/>
                </a:solidFill>
                <a:latin typeface="Arial" panose="020B0604020202020204" pitchFamily="34" charset="0"/>
                <a:ea typeface="-윤고딕130" pitchFamily="18" charset="-127"/>
              </a:endParaRPr>
            </a:p>
          </p:txBody>
        </p:sp>
        <p:sp>
          <p:nvSpPr>
            <p:cNvPr id="8" name="Freeform 7"/>
            <p:cNvSpPr>
              <a:spLocks/>
            </p:cNvSpPr>
            <p:nvPr/>
          </p:nvSpPr>
          <p:spPr bwMode="blackWhite">
            <a:xfrm>
              <a:off x="924" y="1564"/>
              <a:ext cx="1362" cy="852"/>
            </a:xfrm>
            <a:custGeom>
              <a:avLst/>
              <a:gdLst>
                <a:gd name="T0" fmla="*/ 0 w 1528"/>
                <a:gd name="T1" fmla="*/ 208 h 985"/>
                <a:gd name="T2" fmla="*/ 1284 w 1528"/>
                <a:gd name="T3" fmla="*/ 208 h 985"/>
                <a:gd name="T4" fmla="*/ 1284 w 1528"/>
                <a:gd name="T5" fmla="*/ 0 h 985"/>
                <a:gd name="T6" fmla="*/ 1527 w 1528"/>
                <a:gd name="T7" fmla="*/ 472 h 985"/>
                <a:gd name="T8" fmla="*/ 1284 w 1528"/>
                <a:gd name="T9" fmla="*/ 984 h 985"/>
                <a:gd name="T10" fmla="*/ 1284 w 1528"/>
                <a:gd name="T11" fmla="*/ 752 h 985"/>
                <a:gd name="T12" fmla="*/ 0 w 1528"/>
                <a:gd name="T13" fmla="*/ 752 h 985"/>
                <a:gd name="T14" fmla="*/ 0 60000 65536"/>
                <a:gd name="T15" fmla="*/ 0 60000 65536"/>
                <a:gd name="T16" fmla="*/ 0 60000 65536"/>
                <a:gd name="T17" fmla="*/ 0 60000 65536"/>
                <a:gd name="T18" fmla="*/ 0 60000 65536"/>
                <a:gd name="T19" fmla="*/ 0 60000 65536"/>
                <a:gd name="T20" fmla="*/ 0 60000 65536"/>
                <a:gd name="T21" fmla="*/ 0 w 1528"/>
                <a:gd name="T22" fmla="*/ 0 h 985"/>
                <a:gd name="T23" fmla="*/ 1528 w 1528"/>
                <a:gd name="T24" fmla="*/ 985 h 9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28" h="985">
                  <a:moveTo>
                    <a:pt x="0" y="208"/>
                  </a:moveTo>
                  <a:lnTo>
                    <a:pt x="1284" y="208"/>
                  </a:lnTo>
                  <a:lnTo>
                    <a:pt x="1284" y="0"/>
                  </a:lnTo>
                  <a:lnTo>
                    <a:pt x="1527" y="472"/>
                  </a:lnTo>
                  <a:lnTo>
                    <a:pt x="1284" y="984"/>
                  </a:lnTo>
                  <a:lnTo>
                    <a:pt x="1284" y="752"/>
                  </a:lnTo>
                  <a:lnTo>
                    <a:pt x="0" y="752"/>
                  </a:lnTo>
                </a:path>
              </a:pathLst>
            </a:custGeom>
            <a:solidFill>
              <a:srgbClr val="FFFFFF"/>
            </a:solidFill>
            <a:ln w="12700" cap="rnd" cmpd="sng">
              <a:solidFill>
                <a:srgbClr val="000000"/>
              </a:solidFill>
              <a:prstDash val="solid"/>
              <a:round/>
              <a:headEnd type="none" w="sm" len="sm"/>
              <a:tailEnd type="none" w="sm" len="sm"/>
            </a:ln>
          </p:spPr>
          <p:txBody>
            <a:bodyPr/>
            <a:lstStyle/>
            <a:p>
              <a:pPr fontAlgn="base">
                <a:spcBef>
                  <a:spcPct val="0"/>
                </a:spcBef>
                <a:spcAft>
                  <a:spcPct val="0"/>
                </a:spcAft>
                <a:defRPr/>
              </a:pPr>
              <a:endParaRPr lang="en-GB" sz="1600" kern="0" dirty="0">
                <a:solidFill>
                  <a:srgbClr val="000000"/>
                </a:solidFill>
                <a:latin typeface="Arial" panose="020B0604020202020204" pitchFamily="34" charset="0"/>
                <a:ea typeface="-윤고딕130" pitchFamily="18" charset="-127"/>
              </a:endParaRPr>
            </a:p>
          </p:txBody>
        </p:sp>
        <p:sp>
          <p:nvSpPr>
            <p:cNvPr id="9" name="Line 8"/>
            <p:cNvSpPr>
              <a:spLocks noChangeShapeType="1"/>
            </p:cNvSpPr>
            <p:nvPr/>
          </p:nvSpPr>
          <p:spPr bwMode="blackWhite">
            <a:xfrm flipH="1">
              <a:off x="917" y="1102"/>
              <a:ext cx="2342"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defRPr/>
              </a:pPr>
              <a:endParaRPr lang="en-GB" sz="1600" kern="0" dirty="0">
                <a:solidFill>
                  <a:srgbClr val="000000"/>
                </a:solidFill>
                <a:latin typeface="Arial" panose="020B0604020202020204" pitchFamily="34" charset="0"/>
                <a:ea typeface="-윤고딕130" pitchFamily="18" charset="-127"/>
              </a:endParaRPr>
            </a:p>
          </p:txBody>
        </p:sp>
        <p:sp>
          <p:nvSpPr>
            <p:cNvPr id="10" name="Line 9"/>
            <p:cNvSpPr>
              <a:spLocks noChangeShapeType="1"/>
            </p:cNvSpPr>
            <p:nvPr/>
          </p:nvSpPr>
          <p:spPr bwMode="blackWhite">
            <a:xfrm flipH="1">
              <a:off x="917" y="1337"/>
              <a:ext cx="1639"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defRPr/>
              </a:pPr>
              <a:endParaRPr lang="en-GB" sz="1600" kern="0" dirty="0">
                <a:solidFill>
                  <a:srgbClr val="000000"/>
                </a:solidFill>
                <a:latin typeface="Arial" panose="020B0604020202020204" pitchFamily="34" charset="0"/>
                <a:ea typeface="-윤고딕130" pitchFamily="18" charset="-127"/>
              </a:endParaRPr>
            </a:p>
          </p:txBody>
        </p:sp>
        <p:sp>
          <p:nvSpPr>
            <p:cNvPr id="11" name="Line 10"/>
            <p:cNvSpPr>
              <a:spLocks noChangeShapeType="1"/>
            </p:cNvSpPr>
            <p:nvPr/>
          </p:nvSpPr>
          <p:spPr bwMode="blackWhite">
            <a:xfrm flipH="1">
              <a:off x="917" y="1564"/>
              <a:ext cx="1090"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defRPr/>
              </a:pPr>
              <a:endParaRPr lang="en-GB" sz="1600" kern="0" dirty="0">
                <a:solidFill>
                  <a:srgbClr val="000000"/>
                </a:solidFill>
                <a:latin typeface="Arial" panose="020B0604020202020204" pitchFamily="34" charset="0"/>
                <a:ea typeface="-윤고딕130" pitchFamily="18" charset="-127"/>
              </a:endParaRPr>
            </a:p>
          </p:txBody>
        </p:sp>
        <p:sp>
          <p:nvSpPr>
            <p:cNvPr id="12" name="Line 11"/>
            <p:cNvSpPr>
              <a:spLocks noChangeShapeType="1"/>
            </p:cNvSpPr>
            <p:nvPr/>
          </p:nvSpPr>
          <p:spPr bwMode="blackWhite">
            <a:xfrm flipH="1">
              <a:off x="917" y="2422"/>
              <a:ext cx="1090"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defRPr/>
              </a:pPr>
              <a:endParaRPr lang="en-GB" sz="1600" kern="0" dirty="0">
                <a:solidFill>
                  <a:srgbClr val="000000"/>
                </a:solidFill>
                <a:latin typeface="Arial" panose="020B0604020202020204" pitchFamily="34" charset="0"/>
                <a:ea typeface="-윤고딕130" pitchFamily="18" charset="-127"/>
              </a:endParaRPr>
            </a:p>
          </p:txBody>
        </p:sp>
        <p:sp>
          <p:nvSpPr>
            <p:cNvPr id="13" name="Line 12"/>
            <p:cNvSpPr>
              <a:spLocks noChangeShapeType="1"/>
            </p:cNvSpPr>
            <p:nvPr/>
          </p:nvSpPr>
          <p:spPr bwMode="blackWhite">
            <a:xfrm flipH="1">
              <a:off x="917" y="2629"/>
              <a:ext cx="1639"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defRPr/>
              </a:pPr>
              <a:endParaRPr lang="en-GB" sz="1600" kern="0" dirty="0">
                <a:solidFill>
                  <a:srgbClr val="000000"/>
                </a:solidFill>
                <a:latin typeface="Arial" panose="020B0604020202020204" pitchFamily="34" charset="0"/>
                <a:ea typeface="-윤고딕130" pitchFamily="18" charset="-127"/>
              </a:endParaRPr>
            </a:p>
          </p:txBody>
        </p:sp>
        <p:sp>
          <p:nvSpPr>
            <p:cNvPr id="14" name="Line 13"/>
            <p:cNvSpPr>
              <a:spLocks noChangeShapeType="1"/>
            </p:cNvSpPr>
            <p:nvPr/>
          </p:nvSpPr>
          <p:spPr bwMode="blackWhite">
            <a:xfrm flipH="1">
              <a:off x="917" y="2829"/>
              <a:ext cx="2342"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defRPr/>
              </a:pPr>
              <a:endParaRPr lang="en-GB" sz="1600" kern="0" dirty="0">
                <a:solidFill>
                  <a:srgbClr val="000000"/>
                </a:solidFill>
                <a:latin typeface="Arial" panose="020B0604020202020204" pitchFamily="34" charset="0"/>
                <a:ea typeface="-윤고딕130" pitchFamily="18" charset="-127"/>
              </a:endParaRPr>
            </a:p>
          </p:txBody>
        </p:sp>
      </p:grpSp>
      <p:sp>
        <p:nvSpPr>
          <p:cNvPr id="15" name="Rectangle 14"/>
          <p:cNvSpPr>
            <a:spLocks noChangeArrowheads="1"/>
          </p:cNvSpPr>
          <p:nvPr/>
        </p:nvSpPr>
        <p:spPr bwMode="auto">
          <a:xfrm>
            <a:off x="298778" y="3654652"/>
            <a:ext cx="2155376" cy="324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defTabSz="787400" eaLnBrk="0" hangingPunct="0">
              <a:defRPr sz="1600">
                <a:solidFill>
                  <a:schemeClr val="tx1"/>
                </a:solidFill>
                <a:latin typeface="Arial" panose="020B0604020202020204" pitchFamily="34" charset="0"/>
                <a:ea typeface="-윤고딕130" pitchFamily="18" charset="-127"/>
              </a:defRPr>
            </a:lvl1pPr>
            <a:lvl2pPr marL="742950" indent="-285750" defTabSz="787400" eaLnBrk="0" hangingPunct="0">
              <a:defRPr sz="1600">
                <a:solidFill>
                  <a:schemeClr val="tx1"/>
                </a:solidFill>
                <a:latin typeface="Arial" panose="020B0604020202020204" pitchFamily="34" charset="0"/>
                <a:ea typeface="-윤고딕130" pitchFamily="18" charset="-127"/>
              </a:defRPr>
            </a:lvl2pPr>
            <a:lvl3pPr marL="1143000" indent="-228600" defTabSz="787400" eaLnBrk="0" hangingPunct="0">
              <a:defRPr sz="1600">
                <a:solidFill>
                  <a:schemeClr val="tx1"/>
                </a:solidFill>
                <a:latin typeface="Arial" panose="020B0604020202020204" pitchFamily="34" charset="0"/>
                <a:ea typeface="-윤고딕130" pitchFamily="18" charset="-127"/>
              </a:defRPr>
            </a:lvl3pPr>
            <a:lvl4pPr marL="1600200" indent="-228600" defTabSz="787400" eaLnBrk="0" hangingPunct="0">
              <a:defRPr sz="1600">
                <a:solidFill>
                  <a:schemeClr val="tx1"/>
                </a:solidFill>
                <a:latin typeface="Arial" panose="020B0604020202020204" pitchFamily="34" charset="0"/>
                <a:ea typeface="-윤고딕130" pitchFamily="18" charset="-127"/>
              </a:defRPr>
            </a:lvl4pPr>
            <a:lvl5pPr marL="2057400" indent="-228600" defTabSz="787400" eaLnBrk="0" hangingPunct="0">
              <a:defRPr sz="1600">
                <a:solidFill>
                  <a:schemeClr val="tx1"/>
                </a:solidFill>
                <a:latin typeface="Arial" panose="020B0604020202020204" pitchFamily="34" charset="0"/>
                <a:ea typeface="-윤고딕130" pitchFamily="18" charset="-127"/>
              </a:defRPr>
            </a:lvl5pPr>
            <a:lvl6pPr marL="25146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6pPr>
            <a:lvl7pPr marL="29718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7pPr>
            <a:lvl8pPr marL="34290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8pPr>
            <a:lvl9pPr marL="38862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9pPr>
          </a:lstStyle>
          <a:p>
            <a:pPr eaLnBrk="1" fontAlgn="base" hangingPunct="1">
              <a:spcBef>
                <a:spcPct val="0"/>
              </a:spcBef>
              <a:spcAft>
                <a:spcPct val="0"/>
              </a:spcAft>
              <a:buSzPct val="120000"/>
              <a:defRPr/>
            </a:pPr>
            <a:r>
              <a:rPr lang="en-US" altLang="zh-CN" kern="0" dirty="0">
                <a:solidFill>
                  <a:srgbClr val="000000"/>
                </a:solidFill>
              </a:rPr>
              <a:t>Factor Analysis</a:t>
            </a:r>
          </a:p>
        </p:txBody>
      </p:sp>
      <p:sp>
        <p:nvSpPr>
          <p:cNvPr id="16" name="Rectangle 15"/>
          <p:cNvSpPr>
            <a:spLocks noChangeArrowheads="1"/>
          </p:cNvSpPr>
          <p:nvPr/>
        </p:nvSpPr>
        <p:spPr bwMode="auto">
          <a:xfrm>
            <a:off x="4570293" y="3549550"/>
            <a:ext cx="1051254" cy="568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defTabSz="787400" eaLnBrk="0" hangingPunct="0">
              <a:defRPr sz="1600">
                <a:solidFill>
                  <a:schemeClr val="tx1"/>
                </a:solidFill>
                <a:latin typeface="Arial" panose="020B0604020202020204" pitchFamily="34" charset="0"/>
                <a:ea typeface="-윤고딕130" pitchFamily="18" charset="-127"/>
              </a:defRPr>
            </a:lvl1pPr>
            <a:lvl2pPr marL="742950" indent="-285750" defTabSz="787400" eaLnBrk="0" hangingPunct="0">
              <a:defRPr sz="1600">
                <a:solidFill>
                  <a:schemeClr val="tx1"/>
                </a:solidFill>
                <a:latin typeface="Arial" panose="020B0604020202020204" pitchFamily="34" charset="0"/>
                <a:ea typeface="-윤고딕130" pitchFamily="18" charset="-127"/>
              </a:defRPr>
            </a:lvl2pPr>
            <a:lvl3pPr marL="1143000" indent="-228600" defTabSz="787400" eaLnBrk="0" hangingPunct="0">
              <a:defRPr sz="1600">
                <a:solidFill>
                  <a:schemeClr val="tx1"/>
                </a:solidFill>
                <a:latin typeface="Arial" panose="020B0604020202020204" pitchFamily="34" charset="0"/>
                <a:ea typeface="-윤고딕130" pitchFamily="18" charset="-127"/>
              </a:defRPr>
            </a:lvl3pPr>
            <a:lvl4pPr marL="1600200" indent="-228600" defTabSz="787400" eaLnBrk="0" hangingPunct="0">
              <a:defRPr sz="1600">
                <a:solidFill>
                  <a:schemeClr val="tx1"/>
                </a:solidFill>
                <a:latin typeface="Arial" panose="020B0604020202020204" pitchFamily="34" charset="0"/>
                <a:ea typeface="-윤고딕130" pitchFamily="18" charset="-127"/>
              </a:defRPr>
            </a:lvl4pPr>
            <a:lvl5pPr marL="2057400" indent="-228600" defTabSz="787400" eaLnBrk="0" hangingPunct="0">
              <a:defRPr sz="1600">
                <a:solidFill>
                  <a:schemeClr val="tx1"/>
                </a:solidFill>
                <a:latin typeface="Arial" panose="020B0604020202020204" pitchFamily="34" charset="0"/>
                <a:ea typeface="-윤고딕130" pitchFamily="18" charset="-127"/>
              </a:defRPr>
            </a:lvl5pPr>
            <a:lvl6pPr marL="25146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6pPr>
            <a:lvl7pPr marL="29718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7pPr>
            <a:lvl8pPr marL="34290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8pPr>
            <a:lvl9pPr marL="38862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9pPr>
          </a:lstStyle>
          <a:p>
            <a:pPr algn="ctr" eaLnBrk="1" fontAlgn="base" hangingPunct="1">
              <a:spcBef>
                <a:spcPct val="0"/>
              </a:spcBef>
              <a:spcAft>
                <a:spcPct val="0"/>
              </a:spcAft>
              <a:buSzPct val="120000"/>
              <a:defRPr/>
            </a:pPr>
            <a:r>
              <a:rPr lang="en-US" altLang="zh-CN" sz="1400" kern="0" dirty="0">
                <a:solidFill>
                  <a:srgbClr val="000000"/>
                </a:solidFill>
              </a:rPr>
              <a:t>Weightage Allocation</a:t>
            </a:r>
          </a:p>
        </p:txBody>
      </p:sp>
      <p:sp>
        <p:nvSpPr>
          <p:cNvPr id="17" name="Rectangle 16"/>
          <p:cNvSpPr>
            <a:spLocks noChangeArrowheads="1"/>
          </p:cNvSpPr>
          <p:nvPr/>
        </p:nvSpPr>
        <p:spPr bwMode="auto">
          <a:xfrm>
            <a:off x="9860299" y="3293198"/>
            <a:ext cx="1661266" cy="97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defTabSz="787400" eaLnBrk="0" hangingPunct="0">
              <a:defRPr sz="1600">
                <a:solidFill>
                  <a:schemeClr val="tx1"/>
                </a:solidFill>
                <a:latin typeface="Arial" panose="020B0604020202020204" pitchFamily="34" charset="0"/>
                <a:ea typeface="-윤고딕130" pitchFamily="18" charset="-127"/>
              </a:defRPr>
            </a:lvl1pPr>
            <a:lvl2pPr marL="742950" indent="-285750" defTabSz="787400" eaLnBrk="0" hangingPunct="0">
              <a:defRPr sz="1600">
                <a:solidFill>
                  <a:schemeClr val="tx1"/>
                </a:solidFill>
                <a:latin typeface="Arial" panose="020B0604020202020204" pitchFamily="34" charset="0"/>
                <a:ea typeface="-윤고딕130" pitchFamily="18" charset="-127"/>
              </a:defRPr>
            </a:lvl2pPr>
            <a:lvl3pPr marL="1143000" indent="-228600" defTabSz="787400" eaLnBrk="0" hangingPunct="0">
              <a:defRPr sz="1600">
                <a:solidFill>
                  <a:schemeClr val="tx1"/>
                </a:solidFill>
                <a:latin typeface="Arial" panose="020B0604020202020204" pitchFamily="34" charset="0"/>
                <a:ea typeface="-윤고딕130" pitchFamily="18" charset="-127"/>
              </a:defRPr>
            </a:lvl3pPr>
            <a:lvl4pPr marL="1600200" indent="-228600" defTabSz="787400" eaLnBrk="0" hangingPunct="0">
              <a:defRPr sz="1600">
                <a:solidFill>
                  <a:schemeClr val="tx1"/>
                </a:solidFill>
                <a:latin typeface="Arial" panose="020B0604020202020204" pitchFamily="34" charset="0"/>
                <a:ea typeface="-윤고딕130" pitchFamily="18" charset="-127"/>
              </a:defRPr>
            </a:lvl4pPr>
            <a:lvl5pPr marL="2057400" indent="-228600" defTabSz="787400" eaLnBrk="0" hangingPunct="0">
              <a:defRPr sz="1600">
                <a:solidFill>
                  <a:schemeClr val="tx1"/>
                </a:solidFill>
                <a:latin typeface="Arial" panose="020B0604020202020204" pitchFamily="34" charset="0"/>
                <a:ea typeface="-윤고딕130" pitchFamily="18" charset="-127"/>
              </a:defRPr>
            </a:lvl5pPr>
            <a:lvl6pPr marL="25146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6pPr>
            <a:lvl7pPr marL="29718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7pPr>
            <a:lvl8pPr marL="34290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8pPr>
            <a:lvl9pPr marL="38862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9pPr>
          </a:lstStyle>
          <a:p>
            <a:pPr eaLnBrk="1" fontAlgn="base" hangingPunct="1">
              <a:spcBef>
                <a:spcPct val="0"/>
              </a:spcBef>
              <a:spcAft>
                <a:spcPct val="0"/>
              </a:spcAft>
              <a:buSzPct val="120000"/>
              <a:defRPr/>
            </a:pPr>
            <a:r>
              <a:rPr lang="en-US" altLang="zh-CN" kern="0" dirty="0">
                <a:solidFill>
                  <a:srgbClr val="000000"/>
                </a:solidFill>
              </a:rPr>
              <a:t>Year on Year Growth Projections</a:t>
            </a:r>
          </a:p>
        </p:txBody>
      </p:sp>
      <p:sp>
        <p:nvSpPr>
          <p:cNvPr id="18" name="Rectangle 14"/>
          <p:cNvSpPr>
            <a:spLocks noChangeArrowheads="1"/>
          </p:cNvSpPr>
          <p:nvPr/>
        </p:nvSpPr>
        <p:spPr bwMode="auto">
          <a:xfrm>
            <a:off x="298778" y="1977088"/>
            <a:ext cx="2155376" cy="28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defTabSz="787400" eaLnBrk="0" hangingPunct="0">
              <a:defRPr sz="1600">
                <a:solidFill>
                  <a:schemeClr val="tx1"/>
                </a:solidFill>
                <a:latin typeface="Arial" panose="020B0604020202020204" pitchFamily="34" charset="0"/>
                <a:ea typeface="-윤고딕130" pitchFamily="18" charset="-127"/>
              </a:defRPr>
            </a:lvl1pPr>
            <a:lvl2pPr marL="742950" indent="-285750" defTabSz="787400" eaLnBrk="0" hangingPunct="0">
              <a:defRPr sz="1600">
                <a:solidFill>
                  <a:schemeClr val="tx1"/>
                </a:solidFill>
                <a:latin typeface="Arial" panose="020B0604020202020204" pitchFamily="34" charset="0"/>
                <a:ea typeface="-윤고딕130" pitchFamily="18" charset="-127"/>
              </a:defRPr>
            </a:lvl2pPr>
            <a:lvl3pPr marL="1143000" indent="-228600" defTabSz="787400" eaLnBrk="0" hangingPunct="0">
              <a:defRPr sz="1600">
                <a:solidFill>
                  <a:schemeClr val="tx1"/>
                </a:solidFill>
                <a:latin typeface="Arial" panose="020B0604020202020204" pitchFamily="34" charset="0"/>
                <a:ea typeface="-윤고딕130" pitchFamily="18" charset="-127"/>
              </a:defRPr>
            </a:lvl3pPr>
            <a:lvl4pPr marL="1600200" indent="-228600" defTabSz="787400" eaLnBrk="0" hangingPunct="0">
              <a:defRPr sz="1600">
                <a:solidFill>
                  <a:schemeClr val="tx1"/>
                </a:solidFill>
                <a:latin typeface="Arial" panose="020B0604020202020204" pitchFamily="34" charset="0"/>
                <a:ea typeface="-윤고딕130" pitchFamily="18" charset="-127"/>
              </a:defRPr>
            </a:lvl4pPr>
            <a:lvl5pPr marL="2057400" indent="-228600" defTabSz="787400" eaLnBrk="0" hangingPunct="0">
              <a:defRPr sz="1600">
                <a:solidFill>
                  <a:schemeClr val="tx1"/>
                </a:solidFill>
                <a:latin typeface="Arial" panose="020B0604020202020204" pitchFamily="34" charset="0"/>
                <a:ea typeface="-윤고딕130" pitchFamily="18" charset="-127"/>
              </a:defRPr>
            </a:lvl5pPr>
            <a:lvl6pPr marL="25146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6pPr>
            <a:lvl7pPr marL="29718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7pPr>
            <a:lvl8pPr marL="34290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8pPr>
            <a:lvl9pPr marL="38862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9pPr>
          </a:lstStyle>
          <a:p>
            <a:pPr eaLnBrk="1" fontAlgn="base" hangingPunct="1">
              <a:spcBef>
                <a:spcPct val="0"/>
              </a:spcBef>
              <a:spcAft>
                <a:spcPct val="0"/>
              </a:spcAft>
              <a:buSzPct val="120000"/>
              <a:defRPr/>
            </a:pPr>
            <a:r>
              <a:rPr lang="en-US" altLang="zh-CN" sz="1400" kern="0" dirty="0">
                <a:solidFill>
                  <a:srgbClr val="000000"/>
                </a:solidFill>
                <a:latin typeface="Calibri" panose="020F0502020204030204"/>
              </a:rPr>
              <a:t>Economic Factors</a:t>
            </a:r>
          </a:p>
        </p:txBody>
      </p:sp>
      <p:sp>
        <p:nvSpPr>
          <p:cNvPr id="19" name="Rectangle 14"/>
          <p:cNvSpPr>
            <a:spLocks noChangeArrowheads="1"/>
          </p:cNvSpPr>
          <p:nvPr/>
        </p:nvSpPr>
        <p:spPr bwMode="auto">
          <a:xfrm>
            <a:off x="298778" y="2480310"/>
            <a:ext cx="2155376" cy="28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defTabSz="787400" eaLnBrk="0" hangingPunct="0">
              <a:defRPr sz="1600">
                <a:solidFill>
                  <a:schemeClr val="tx1"/>
                </a:solidFill>
                <a:latin typeface="Arial" panose="020B0604020202020204" pitchFamily="34" charset="0"/>
                <a:ea typeface="-윤고딕130" pitchFamily="18" charset="-127"/>
              </a:defRPr>
            </a:lvl1pPr>
            <a:lvl2pPr marL="742950" indent="-285750" defTabSz="787400" eaLnBrk="0" hangingPunct="0">
              <a:defRPr sz="1600">
                <a:solidFill>
                  <a:schemeClr val="tx1"/>
                </a:solidFill>
                <a:latin typeface="Arial" panose="020B0604020202020204" pitchFamily="34" charset="0"/>
                <a:ea typeface="-윤고딕130" pitchFamily="18" charset="-127"/>
              </a:defRPr>
            </a:lvl2pPr>
            <a:lvl3pPr marL="1143000" indent="-228600" defTabSz="787400" eaLnBrk="0" hangingPunct="0">
              <a:defRPr sz="1600">
                <a:solidFill>
                  <a:schemeClr val="tx1"/>
                </a:solidFill>
                <a:latin typeface="Arial" panose="020B0604020202020204" pitchFamily="34" charset="0"/>
                <a:ea typeface="-윤고딕130" pitchFamily="18" charset="-127"/>
              </a:defRPr>
            </a:lvl3pPr>
            <a:lvl4pPr marL="1600200" indent="-228600" defTabSz="787400" eaLnBrk="0" hangingPunct="0">
              <a:defRPr sz="1600">
                <a:solidFill>
                  <a:schemeClr val="tx1"/>
                </a:solidFill>
                <a:latin typeface="Arial" panose="020B0604020202020204" pitchFamily="34" charset="0"/>
                <a:ea typeface="-윤고딕130" pitchFamily="18" charset="-127"/>
              </a:defRPr>
            </a:lvl4pPr>
            <a:lvl5pPr marL="2057400" indent="-228600" defTabSz="787400" eaLnBrk="0" hangingPunct="0">
              <a:defRPr sz="1600">
                <a:solidFill>
                  <a:schemeClr val="tx1"/>
                </a:solidFill>
                <a:latin typeface="Arial" panose="020B0604020202020204" pitchFamily="34" charset="0"/>
                <a:ea typeface="-윤고딕130" pitchFamily="18" charset="-127"/>
              </a:defRPr>
            </a:lvl5pPr>
            <a:lvl6pPr marL="25146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6pPr>
            <a:lvl7pPr marL="29718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7pPr>
            <a:lvl8pPr marL="34290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8pPr>
            <a:lvl9pPr marL="38862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9pPr>
          </a:lstStyle>
          <a:p>
            <a:pPr eaLnBrk="1" fontAlgn="base" hangingPunct="1">
              <a:spcBef>
                <a:spcPct val="0"/>
              </a:spcBef>
              <a:spcAft>
                <a:spcPct val="0"/>
              </a:spcAft>
              <a:buSzPct val="120000"/>
              <a:defRPr/>
            </a:pPr>
            <a:r>
              <a:rPr lang="en-US" altLang="zh-CN" sz="1400" kern="0" dirty="0">
                <a:solidFill>
                  <a:srgbClr val="000000"/>
                </a:solidFill>
                <a:latin typeface="Calibri" panose="020F0502020204030204"/>
              </a:rPr>
              <a:t>Supply Side Factors</a:t>
            </a:r>
          </a:p>
        </p:txBody>
      </p:sp>
      <p:sp>
        <p:nvSpPr>
          <p:cNvPr id="20" name="Rectangle 14"/>
          <p:cNvSpPr>
            <a:spLocks noChangeArrowheads="1"/>
          </p:cNvSpPr>
          <p:nvPr/>
        </p:nvSpPr>
        <p:spPr bwMode="auto">
          <a:xfrm>
            <a:off x="298778" y="4467700"/>
            <a:ext cx="2155376" cy="28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defTabSz="787400" eaLnBrk="0" hangingPunct="0">
              <a:defRPr sz="1600">
                <a:solidFill>
                  <a:schemeClr val="tx1"/>
                </a:solidFill>
                <a:latin typeface="Arial" panose="020B0604020202020204" pitchFamily="34" charset="0"/>
                <a:ea typeface="-윤고딕130" pitchFamily="18" charset="-127"/>
              </a:defRPr>
            </a:lvl1pPr>
            <a:lvl2pPr marL="742950" indent="-285750" defTabSz="787400" eaLnBrk="0" hangingPunct="0">
              <a:defRPr sz="1600">
                <a:solidFill>
                  <a:schemeClr val="tx1"/>
                </a:solidFill>
                <a:latin typeface="Arial" panose="020B0604020202020204" pitchFamily="34" charset="0"/>
                <a:ea typeface="-윤고딕130" pitchFamily="18" charset="-127"/>
              </a:defRPr>
            </a:lvl2pPr>
            <a:lvl3pPr marL="1143000" indent="-228600" defTabSz="787400" eaLnBrk="0" hangingPunct="0">
              <a:defRPr sz="1600">
                <a:solidFill>
                  <a:schemeClr val="tx1"/>
                </a:solidFill>
                <a:latin typeface="Arial" panose="020B0604020202020204" pitchFamily="34" charset="0"/>
                <a:ea typeface="-윤고딕130" pitchFamily="18" charset="-127"/>
              </a:defRPr>
            </a:lvl3pPr>
            <a:lvl4pPr marL="1600200" indent="-228600" defTabSz="787400" eaLnBrk="0" hangingPunct="0">
              <a:defRPr sz="1600">
                <a:solidFill>
                  <a:schemeClr val="tx1"/>
                </a:solidFill>
                <a:latin typeface="Arial" panose="020B0604020202020204" pitchFamily="34" charset="0"/>
                <a:ea typeface="-윤고딕130" pitchFamily="18" charset="-127"/>
              </a:defRPr>
            </a:lvl4pPr>
            <a:lvl5pPr marL="2057400" indent="-228600" defTabSz="787400" eaLnBrk="0" hangingPunct="0">
              <a:defRPr sz="1600">
                <a:solidFill>
                  <a:schemeClr val="tx1"/>
                </a:solidFill>
                <a:latin typeface="Arial" panose="020B0604020202020204" pitchFamily="34" charset="0"/>
                <a:ea typeface="-윤고딕130" pitchFamily="18" charset="-127"/>
              </a:defRPr>
            </a:lvl5pPr>
            <a:lvl6pPr marL="25146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6pPr>
            <a:lvl7pPr marL="29718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7pPr>
            <a:lvl8pPr marL="34290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8pPr>
            <a:lvl9pPr marL="38862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9pPr>
          </a:lstStyle>
          <a:p>
            <a:pPr eaLnBrk="1" fontAlgn="base" hangingPunct="1">
              <a:spcBef>
                <a:spcPct val="0"/>
              </a:spcBef>
              <a:spcAft>
                <a:spcPct val="0"/>
              </a:spcAft>
              <a:buSzPct val="120000"/>
              <a:defRPr/>
            </a:pPr>
            <a:r>
              <a:rPr lang="en-US" altLang="zh-CN" sz="1400" kern="0" dirty="0">
                <a:solidFill>
                  <a:srgbClr val="000000"/>
                </a:solidFill>
                <a:latin typeface="Calibri" panose="020F0502020204030204"/>
              </a:rPr>
              <a:t>Demand Side Factors</a:t>
            </a:r>
          </a:p>
        </p:txBody>
      </p:sp>
      <p:sp>
        <p:nvSpPr>
          <p:cNvPr id="21" name="Rectangle 14"/>
          <p:cNvSpPr>
            <a:spLocks noChangeArrowheads="1"/>
          </p:cNvSpPr>
          <p:nvPr/>
        </p:nvSpPr>
        <p:spPr bwMode="auto">
          <a:xfrm>
            <a:off x="298778" y="4917311"/>
            <a:ext cx="2155376" cy="28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defTabSz="787400" eaLnBrk="0" hangingPunct="0">
              <a:defRPr sz="1600">
                <a:solidFill>
                  <a:schemeClr val="tx1"/>
                </a:solidFill>
                <a:latin typeface="Arial" panose="020B0604020202020204" pitchFamily="34" charset="0"/>
                <a:ea typeface="-윤고딕130" pitchFamily="18" charset="-127"/>
              </a:defRPr>
            </a:lvl1pPr>
            <a:lvl2pPr marL="742950" indent="-285750" defTabSz="787400" eaLnBrk="0" hangingPunct="0">
              <a:defRPr sz="1600">
                <a:solidFill>
                  <a:schemeClr val="tx1"/>
                </a:solidFill>
                <a:latin typeface="Arial" panose="020B0604020202020204" pitchFamily="34" charset="0"/>
                <a:ea typeface="-윤고딕130" pitchFamily="18" charset="-127"/>
              </a:defRPr>
            </a:lvl2pPr>
            <a:lvl3pPr marL="1143000" indent="-228600" defTabSz="787400" eaLnBrk="0" hangingPunct="0">
              <a:defRPr sz="1600">
                <a:solidFill>
                  <a:schemeClr val="tx1"/>
                </a:solidFill>
                <a:latin typeface="Arial" panose="020B0604020202020204" pitchFamily="34" charset="0"/>
                <a:ea typeface="-윤고딕130" pitchFamily="18" charset="-127"/>
              </a:defRPr>
            </a:lvl3pPr>
            <a:lvl4pPr marL="1600200" indent="-228600" defTabSz="787400" eaLnBrk="0" hangingPunct="0">
              <a:defRPr sz="1600">
                <a:solidFill>
                  <a:schemeClr val="tx1"/>
                </a:solidFill>
                <a:latin typeface="Arial" panose="020B0604020202020204" pitchFamily="34" charset="0"/>
                <a:ea typeface="-윤고딕130" pitchFamily="18" charset="-127"/>
              </a:defRPr>
            </a:lvl4pPr>
            <a:lvl5pPr marL="2057400" indent="-228600" defTabSz="787400" eaLnBrk="0" hangingPunct="0">
              <a:defRPr sz="1600">
                <a:solidFill>
                  <a:schemeClr val="tx1"/>
                </a:solidFill>
                <a:latin typeface="Arial" panose="020B0604020202020204" pitchFamily="34" charset="0"/>
                <a:ea typeface="-윤고딕130" pitchFamily="18" charset="-127"/>
              </a:defRPr>
            </a:lvl5pPr>
            <a:lvl6pPr marL="25146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6pPr>
            <a:lvl7pPr marL="29718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7pPr>
            <a:lvl8pPr marL="34290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8pPr>
            <a:lvl9pPr marL="38862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9pPr>
          </a:lstStyle>
          <a:p>
            <a:pPr eaLnBrk="1" fontAlgn="base" hangingPunct="1">
              <a:spcBef>
                <a:spcPct val="0"/>
              </a:spcBef>
              <a:spcAft>
                <a:spcPct val="0"/>
              </a:spcAft>
              <a:buSzPct val="120000"/>
              <a:defRPr/>
            </a:pPr>
            <a:r>
              <a:rPr lang="en-US" altLang="zh-CN" sz="1400" kern="0" dirty="0">
                <a:solidFill>
                  <a:srgbClr val="000000"/>
                </a:solidFill>
                <a:latin typeface="Calibri" panose="020F0502020204030204"/>
              </a:rPr>
              <a:t>Base Factors</a:t>
            </a:r>
          </a:p>
        </p:txBody>
      </p:sp>
      <p:sp>
        <p:nvSpPr>
          <p:cNvPr id="22" name="Rectangle 14"/>
          <p:cNvSpPr>
            <a:spLocks noChangeArrowheads="1"/>
          </p:cNvSpPr>
          <p:nvPr/>
        </p:nvSpPr>
        <p:spPr bwMode="auto">
          <a:xfrm>
            <a:off x="298778" y="5366923"/>
            <a:ext cx="2155376" cy="28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defTabSz="787400" eaLnBrk="0" hangingPunct="0">
              <a:defRPr sz="1600">
                <a:solidFill>
                  <a:schemeClr val="tx1"/>
                </a:solidFill>
                <a:latin typeface="Arial" panose="020B0604020202020204" pitchFamily="34" charset="0"/>
                <a:ea typeface="-윤고딕130" pitchFamily="18" charset="-127"/>
              </a:defRPr>
            </a:lvl1pPr>
            <a:lvl2pPr marL="742950" indent="-285750" defTabSz="787400" eaLnBrk="0" hangingPunct="0">
              <a:defRPr sz="1600">
                <a:solidFill>
                  <a:schemeClr val="tx1"/>
                </a:solidFill>
                <a:latin typeface="Arial" panose="020B0604020202020204" pitchFamily="34" charset="0"/>
                <a:ea typeface="-윤고딕130" pitchFamily="18" charset="-127"/>
              </a:defRPr>
            </a:lvl2pPr>
            <a:lvl3pPr marL="1143000" indent="-228600" defTabSz="787400" eaLnBrk="0" hangingPunct="0">
              <a:defRPr sz="1600">
                <a:solidFill>
                  <a:schemeClr val="tx1"/>
                </a:solidFill>
                <a:latin typeface="Arial" panose="020B0604020202020204" pitchFamily="34" charset="0"/>
                <a:ea typeface="-윤고딕130" pitchFamily="18" charset="-127"/>
              </a:defRPr>
            </a:lvl3pPr>
            <a:lvl4pPr marL="1600200" indent="-228600" defTabSz="787400" eaLnBrk="0" hangingPunct="0">
              <a:defRPr sz="1600">
                <a:solidFill>
                  <a:schemeClr val="tx1"/>
                </a:solidFill>
                <a:latin typeface="Arial" panose="020B0604020202020204" pitchFamily="34" charset="0"/>
                <a:ea typeface="-윤고딕130" pitchFamily="18" charset="-127"/>
              </a:defRPr>
            </a:lvl4pPr>
            <a:lvl5pPr marL="2057400" indent="-228600" defTabSz="787400" eaLnBrk="0" hangingPunct="0">
              <a:defRPr sz="1600">
                <a:solidFill>
                  <a:schemeClr val="tx1"/>
                </a:solidFill>
                <a:latin typeface="Arial" panose="020B0604020202020204" pitchFamily="34" charset="0"/>
                <a:ea typeface="-윤고딕130" pitchFamily="18" charset="-127"/>
              </a:defRPr>
            </a:lvl5pPr>
            <a:lvl6pPr marL="25146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6pPr>
            <a:lvl7pPr marL="29718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7pPr>
            <a:lvl8pPr marL="34290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8pPr>
            <a:lvl9pPr marL="38862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9pPr>
          </a:lstStyle>
          <a:p>
            <a:pPr eaLnBrk="1" fontAlgn="base" hangingPunct="1">
              <a:spcBef>
                <a:spcPct val="0"/>
              </a:spcBef>
              <a:spcAft>
                <a:spcPct val="0"/>
              </a:spcAft>
              <a:buSzPct val="120000"/>
              <a:defRPr/>
            </a:pPr>
            <a:r>
              <a:rPr lang="en-US" altLang="zh-CN" sz="1400" kern="0" dirty="0">
                <a:solidFill>
                  <a:srgbClr val="000000"/>
                </a:solidFill>
                <a:latin typeface="Calibri" panose="020F0502020204030204"/>
              </a:rPr>
              <a:t>Qualitative Factors</a:t>
            </a:r>
          </a:p>
        </p:txBody>
      </p:sp>
      <p:sp>
        <p:nvSpPr>
          <p:cNvPr id="23" name="Rectangle 15"/>
          <p:cNvSpPr>
            <a:spLocks noChangeArrowheads="1"/>
          </p:cNvSpPr>
          <p:nvPr/>
        </p:nvSpPr>
        <p:spPr bwMode="auto">
          <a:xfrm>
            <a:off x="6324932" y="2668077"/>
            <a:ext cx="1274455" cy="568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defTabSz="787400" eaLnBrk="0" hangingPunct="0">
              <a:defRPr sz="1600">
                <a:solidFill>
                  <a:schemeClr val="tx1"/>
                </a:solidFill>
                <a:latin typeface="Arial" panose="020B0604020202020204" pitchFamily="34" charset="0"/>
                <a:ea typeface="-윤고딕130" pitchFamily="18" charset="-127"/>
              </a:defRPr>
            </a:lvl1pPr>
            <a:lvl2pPr marL="742950" indent="-285750" defTabSz="787400" eaLnBrk="0" hangingPunct="0">
              <a:defRPr sz="1600">
                <a:solidFill>
                  <a:schemeClr val="tx1"/>
                </a:solidFill>
                <a:latin typeface="Arial" panose="020B0604020202020204" pitchFamily="34" charset="0"/>
                <a:ea typeface="-윤고딕130" pitchFamily="18" charset="-127"/>
              </a:defRPr>
            </a:lvl2pPr>
            <a:lvl3pPr marL="1143000" indent="-228600" defTabSz="787400" eaLnBrk="0" hangingPunct="0">
              <a:defRPr sz="1600">
                <a:solidFill>
                  <a:schemeClr val="tx1"/>
                </a:solidFill>
                <a:latin typeface="Arial" panose="020B0604020202020204" pitchFamily="34" charset="0"/>
                <a:ea typeface="-윤고딕130" pitchFamily="18" charset="-127"/>
              </a:defRPr>
            </a:lvl3pPr>
            <a:lvl4pPr marL="1600200" indent="-228600" defTabSz="787400" eaLnBrk="0" hangingPunct="0">
              <a:defRPr sz="1600">
                <a:solidFill>
                  <a:schemeClr val="tx1"/>
                </a:solidFill>
                <a:latin typeface="Arial" panose="020B0604020202020204" pitchFamily="34" charset="0"/>
                <a:ea typeface="-윤고딕130" pitchFamily="18" charset="-127"/>
              </a:defRPr>
            </a:lvl4pPr>
            <a:lvl5pPr marL="2057400" indent="-228600" defTabSz="787400" eaLnBrk="0" hangingPunct="0">
              <a:defRPr sz="1600">
                <a:solidFill>
                  <a:schemeClr val="tx1"/>
                </a:solidFill>
                <a:latin typeface="Arial" panose="020B0604020202020204" pitchFamily="34" charset="0"/>
                <a:ea typeface="-윤고딕130" pitchFamily="18" charset="-127"/>
              </a:defRPr>
            </a:lvl5pPr>
            <a:lvl6pPr marL="25146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6pPr>
            <a:lvl7pPr marL="29718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7pPr>
            <a:lvl8pPr marL="34290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8pPr>
            <a:lvl9pPr marL="38862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9pPr>
          </a:lstStyle>
          <a:p>
            <a:pPr algn="ctr" eaLnBrk="1" fontAlgn="base" hangingPunct="1">
              <a:spcBef>
                <a:spcPct val="0"/>
              </a:spcBef>
              <a:spcAft>
                <a:spcPct val="0"/>
              </a:spcAft>
              <a:buSzPct val="120000"/>
              <a:defRPr/>
            </a:pPr>
            <a:r>
              <a:rPr lang="en-US" altLang="zh-CN" sz="1400" kern="0" dirty="0">
                <a:solidFill>
                  <a:srgbClr val="000000"/>
                </a:solidFill>
              </a:rPr>
              <a:t>Historical Performance</a:t>
            </a:r>
          </a:p>
        </p:txBody>
      </p:sp>
      <p:sp>
        <p:nvSpPr>
          <p:cNvPr id="24" name="Rectangle 15"/>
          <p:cNvSpPr>
            <a:spLocks noChangeArrowheads="1"/>
          </p:cNvSpPr>
          <p:nvPr/>
        </p:nvSpPr>
        <p:spPr bwMode="auto">
          <a:xfrm>
            <a:off x="7486337" y="3401460"/>
            <a:ext cx="1051254" cy="85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defTabSz="787400" eaLnBrk="0" hangingPunct="0">
              <a:defRPr sz="1600">
                <a:solidFill>
                  <a:schemeClr val="tx1"/>
                </a:solidFill>
                <a:latin typeface="Arial" panose="020B0604020202020204" pitchFamily="34" charset="0"/>
                <a:ea typeface="-윤고딕130" pitchFamily="18" charset="-127"/>
              </a:defRPr>
            </a:lvl1pPr>
            <a:lvl2pPr marL="742950" indent="-285750" defTabSz="787400" eaLnBrk="0" hangingPunct="0">
              <a:defRPr sz="1600">
                <a:solidFill>
                  <a:schemeClr val="tx1"/>
                </a:solidFill>
                <a:latin typeface="Arial" panose="020B0604020202020204" pitchFamily="34" charset="0"/>
                <a:ea typeface="-윤고딕130" pitchFamily="18" charset="-127"/>
              </a:defRPr>
            </a:lvl2pPr>
            <a:lvl3pPr marL="1143000" indent="-228600" defTabSz="787400" eaLnBrk="0" hangingPunct="0">
              <a:defRPr sz="1600">
                <a:solidFill>
                  <a:schemeClr val="tx1"/>
                </a:solidFill>
                <a:latin typeface="Arial" panose="020B0604020202020204" pitchFamily="34" charset="0"/>
                <a:ea typeface="-윤고딕130" pitchFamily="18" charset="-127"/>
              </a:defRPr>
            </a:lvl3pPr>
            <a:lvl4pPr marL="1600200" indent="-228600" defTabSz="787400" eaLnBrk="0" hangingPunct="0">
              <a:defRPr sz="1600">
                <a:solidFill>
                  <a:schemeClr val="tx1"/>
                </a:solidFill>
                <a:latin typeface="Arial" panose="020B0604020202020204" pitchFamily="34" charset="0"/>
                <a:ea typeface="-윤고딕130" pitchFamily="18" charset="-127"/>
              </a:defRPr>
            </a:lvl4pPr>
            <a:lvl5pPr marL="2057400" indent="-228600" defTabSz="787400" eaLnBrk="0" hangingPunct="0">
              <a:defRPr sz="1600">
                <a:solidFill>
                  <a:schemeClr val="tx1"/>
                </a:solidFill>
                <a:latin typeface="Arial" panose="020B0604020202020204" pitchFamily="34" charset="0"/>
                <a:ea typeface="-윤고딕130" pitchFamily="18" charset="-127"/>
              </a:defRPr>
            </a:lvl5pPr>
            <a:lvl6pPr marL="25146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6pPr>
            <a:lvl7pPr marL="29718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7pPr>
            <a:lvl8pPr marL="34290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8pPr>
            <a:lvl9pPr marL="38862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9pPr>
          </a:lstStyle>
          <a:p>
            <a:pPr algn="ctr" eaLnBrk="1" fontAlgn="base" hangingPunct="1">
              <a:spcBef>
                <a:spcPct val="0"/>
              </a:spcBef>
              <a:spcAft>
                <a:spcPct val="0"/>
              </a:spcAft>
              <a:buSzPct val="120000"/>
              <a:defRPr/>
            </a:pPr>
            <a:r>
              <a:rPr lang="en-US" altLang="zh-CN" sz="1400" kern="0" dirty="0">
                <a:solidFill>
                  <a:srgbClr val="000000"/>
                </a:solidFill>
              </a:rPr>
              <a:t>Statistical Checks &amp; Validation</a:t>
            </a:r>
          </a:p>
        </p:txBody>
      </p:sp>
      <p:sp>
        <p:nvSpPr>
          <p:cNvPr id="25" name="Rectangle 15"/>
          <p:cNvSpPr>
            <a:spLocks noChangeArrowheads="1"/>
          </p:cNvSpPr>
          <p:nvPr/>
        </p:nvSpPr>
        <p:spPr bwMode="auto">
          <a:xfrm>
            <a:off x="6414264" y="4383699"/>
            <a:ext cx="1051254" cy="568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defTabSz="787400" eaLnBrk="0" hangingPunct="0">
              <a:defRPr sz="1600">
                <a:solidFill>
                  <a:schemeClr val="tx1"/>
                </a:solidFill>
                <a:latin typeface="Arial" panose="020B0604020202020204" pitchFamily="34" charset="0"/>
                <a:ea typeface="-윤고딕130" pitchFamily="18" charset="-127"/>
              </a:defRPr>
            </a:lvl1pPr>
            <a:lvl2pPr marL="742950" indent="-285750" defTabSz="787400" eaLnBrk="0" hangingPunct="0">
              <a:defRPr sz="1600">
                <a:solidFill>
                  <a:schemeClr val="tx1"/>
                </a:solidFill>
                <a:latin typeface="Arial" panose="020B0604020202020204" pitchFamily="34" charset="0"/>
                <a:ea typeface="-윤고딕130" pitchFamily="18" charset="-127"/>
              </a:defRPr>
            </a:lvl2pPr>
            <a:lvl3pPr marL="1143000" indent="-228600" defTabSz="787400" eaLnBrk="0" hangingPunct="0">
              <a:defRPr sz="1600">
                <a:solidFill>
                  <a:schemeClr val="tx1"/>
                </a:solidFill>
                <a:latin typeface="Arial" panose="020B0604020202020204" pitchFamily="34" charset="0"/>
                <a:ea typeface="-윤고딕130" pitchFamily="18" charset="-127"/>
              </a:defRPr>
            </a:lvl3pPr>
            <a:lvl4pPr marL="1600200" indent="-228600" defTabSz="787400" eaLnBrk="0" hangingPunct="0">
              <a:defRPr sz="1600">
                <a:solidFill>
                  <a:schemeClr val="tx1"/>
                </a:solidFill>
                <a:latin typeface="Arial" panose="020B0604020202020204" pitchFamily="34" charset="0"/>
                <a:ea typeface="-윤고딕130" pitchFamily="18" charset="-127"/>
              </a:defRPr>
            </a:lvl4pPr>
            <a:lvl5pPr marL="2057400" indent="-228600" defTabSz="787400" eaLnBrk="0" hangingPunct="0">
              <a:defRPr sz="1600">
                <a:solidFill>
                  <a:schemeClr val="tx1"/>
                </a:solidFill>
                <a:latin typeface="Arial" panose="020B0604020202020204" pitchFamily="34" charset="0"/>
                <a:ea typeface="-윤고딕130" pitchFamily="18" charset="-127"/>
              </a:defRPr>
            </a:lvl5pPr>
            <a:lvl6pPr marL="25146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6pPr>
            <a:lvl7pPr marL="29718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7pPr>
            <a:lvl8pPr marL="34290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8pPr>
            <a:lvl9pPr marL="3886200" indent="-228600" defTabSz="787400" eaLnBrk="0" fontAlgn="base" hangingPunct="0">
              <a:spcBef>
                <a:spcPct val="0"/>
              </a:spcBef>
              <a:spcAft>
                <a:spcPct val="0"/>
              </a:spcAft>
              <a:defRPr sz="1600">
                <a:solidFill>
                  <a:schemeClr val="tx1"/>
                </a:solidFill>
                <a:latin typeface="Arial" panose="020B0604020202020204" pitchFamily="34" charset="0"/>
                <a:ea typeface="-윤고딕130" pitchFamily="18" charset="-127"/>
              </a:defRPr>
            </a:lvl9pPr>
          </a:lstStyle>
          <a:p>
            <a:pPr algn="ctr" eaLnBrk="1" fontAlgn="base" hangingPunct="1">
              <a:spcBef>
                <a:spcPct val="0"/>
              </a:spcBef>
              <a:spcAft>
                <a:spcPct val="0"/>
              </a:spcAft>
              <a:buSzPct val="120000"/>
              <a:defRPr/>
            </a:pPr>
            <a:r>
              <a:rPr lang="en-US" altLang="zh-CN" sz="1400" kern="0" dirty="0">
                <a:solidFill>
                  <a:srgbClr val="000000"/>
                </a:solidFill>
              </a:rPr>
              <a:t>Future Projections</a:t>
            </a:r>
          </a:p>
        </p:txBody>
      </p:sp>
      <p:sp>
        <p:nvSpPr>
          <p:cNvPr id="26" name="Rectangle 25"/>
          <p:cNvSpPr/>
          <p:nvPr/>
        </p:nvSpPr>
        <p:spPr>
          <a:xfrm>
            <a:off x="3204796" y="1151214"/>
            <a:ext cx="5782409" cy="400110"/>
          </a:xfrm>
          <a:prstGeom prst="rect">
            <a:avLst/>
          </a:prstGeom>
          <a:noFill/>
        </p:spPr>
        <p:txBody>
          <a:bodyPr wrap="square" lIns="91440" tIns="45720" rIns="91440" bIns="45720">
            <a:spAutoFit/>
          </a:bodyPr>
          <a:lstStyle/>
          <a:p>
            <a:pPr algn="ctr"/>
            <a:r>
              <a:rPr lang="en-US" sz="2000" b="1" dirty="0">
                <a:ln w="0"/>
                <a:solidFill>
                  <a:schemeClr val="accent4"/>
                </a:solidFill>
              </a:rPr>
              <a:t>Forecast Development</a:t>
            </a:r>
          </a:p>
        </p:txBody>
      </p:sp>
      <p:sp>
        <p:nvSpPr>
          <p:cNvPr id="29" name="TextBox 28"/>
          <p:cNvSpPr txBox="1"/>
          <p:nvPr/>
        </p:nvSpPr>
        <p:spPr>
          <a:xfrm>
            <a:off x="229798" y="6205752"/>
            <a:ext cx="1429879" cy="153888"/>
          </a:xfrm>
          <a:prstGeom prst="rect">
            <a:avLst/>
          </a:prstGeom>
          <a:noFill/>
        </p:spPr>
        <p:txBody>
          <a:bodyPr wrap="none" lIns="0" tIns="0" rIns="0" bIns="0" rtlCol="0">
            <a:spAutoFit/>
          </a:bodyPr>
          <a:lstStyle/>
          <a:p>
            <a:pPr defTabSz="966537"/>
            <a:r>
              <a:rPr lang="en-US" sz="1000" dirty="0"/>
              <a:t>Source: TMR Analysis, 2024</a:t>
            </a:r>
          </a:p>
        </p:txBody>
      </p:sp>
    </p:spTree>
    <p:extLst>
      <p:ext uri="{BB962C8B-B14F-4D97-AF65-F5344CB8AC3E}">
        <p14:creationId xmlns:p14="http://schemas.microsoft.com/office/powerpoint/2010/main" val="1233366254"/>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Isosceles Triangle 17"/>
          <p:cNvSpPr/>
          <p:nvPr/>
        </p:nvSpPr>
        <p:spPr>
          <a:xfrm rot="5400000">
            <a:off x="8801100" y="3798282"/>
            <a:ext cx="1178168" cy="1107830"/>
          </a:xfrm>
          <a:prstGeom prst="triangle">
            <a:avLst/>
          </a:prstGeom>
          <a:gradFill flip="none" rotWithShape="1">
            <a:gsLst>
              <a:gs pos="1000">
                <a:schemeClr val="bg1"/>
              </a:gs>
              <a:gs pos="61000">
                <a:schemeClr val="accent2">
                  <a:lumMod val="40000"/>
                  <a:lumOff val="60000"/>
                </a:schemeClr>
              </a:gs>
            </a:gsLst>
            <a:lin ang="16200000" scaled="1"/>
            <a:tileRect/>
          </a:gra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dirty="0"/>
          </a:p>
        </p:txBody>
      </p:sp>
      <p:sp>
        <p:nvSpPr>
          <p:cNvPr id="5" name="Freeform 4"/>
          <p:cNvSpPr/>
          <p:nvPr/>
        </p:nvSpPr>
        <p:spPr>
          <a:xfrm>
            <a:off x="5698494" y="3151569"/>
            <a:ext cx="1405691" cy="1737122"/>
          </a:xfrm>
          <a:custGeom>
            <a:avLst/>
            <a:gdLst>
              <a:gd name="connsiteX0" fmla="*/ 7620 w 617220"/>
              <a:gd name="connsiteY0" fmla="*/ 0 h 1363980"/>
              <a:gd name="connsiteX1" fmla="*/ 617220 w 617220"/>
              <a:gd name="connsiteY1" fmla="*/ 487680 h 1363980"/>
              <a:gd name="connsiteX2" fmla="*/ 609600 w 617220"/>
              <a:gd name="connsiteY2" fmla="*/ 1363980 h 1363980"/>
              <a:gd name="connsiteX3" fmla="*/ 0 w 617220"/>
              <a:gd name="connsiteY3" fmla="*/ 419100 h 1363980"/>
              <a:gd name="connsiteX4" fmla="*/ 7620 w 617220"/>
              <a:gd name="connsiteY4" fmla="*/ 0 h 1363980"/>
              <a:gd name="connsiteX0" fmla="*/ 0 w 609600"/>
              <a:gd name="connsiteY0" fmla="*/ 0 h 1363980"/>
              <a:gd name="connsiteX1" fmla="*/ 609600 w 609600"/>
              <a:gd name="connsiteY1" fmla="*/ 487680 h 1363980"/>
              <a:gd name="connsiteX2" fmla="*/ 601980 w 609600"/>
              <a:gd name="connsiteY2" fmla="*/ 1363980 h 1363980"/>
              <a:gd name="connsiteX3" fmla="*/ 9049 w 609600"/>
              <a:gd name="connsiteY3" fmla="*/ 416719 h 1363980"/>
              <a:gd name="connsiteX4" fmla="*/ 0 w 609600"/>
              <a:gd name="connsiteY4" fmla="*/ 0 h 1363980"/>
              <a:gd name="connsiteX0" fmla="*/ 0 w 602456"/>
              <a:gd name="connsiteY0" fmla="*/ 0 h 1373505"/>
              <a:gd name="connsiteX1" fmla="*/ 602456 w 602456"/>
              <a:gd name="connsiteY1" fmla="*/ 497205 h 1373505"/>
              <a:gd name="connsiteX2" fmla="*/ 594836 w 602456"/>
              <a:gd name="connsiteY2" fmla="*/ 1373505 h 1373505"/>
              <a:gd name="connsiteX3" fmla="*/ 1905 w 602456"/>
              <a:gd name="connsiteY3" fmla="*/ 426244 h 1373505"/>
              <a:gd name="connsiteX4" fmla="*/ 0 w 602456"/>
              <a:gd name="connsiteY4" fmla="*/ 0 h 1373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456" h="1373505">
                <a:moveTo>
                  <a:pt x="0" y="0"/>
                </a:moveTo>
                <a:lnTo>
                  <a:pt x="602456" y="497205"/>
                </a:lnTo>
                <a:lnTo>
                  <a:pt x="594836" y="1373505"/>
                </a:lnTo>
                <a:lnTo>
                  <a:pt x="1905" y="426244"/>
                </a:lnTo>
                <a:lnTo>
                  <a:pt x="0" y="0"/>
                </a:lnTo>
                <a:close/>
              </a:path>
            </a:pathLst>
          </a:custGeom>
          <a:gradFill flip="none" rotWithShape="1">
            <a:gsLst>
              <a:gs pos="0">
                <a:schemeClr val="bg1"/>
              </a:gs>
              <a:gs pos="100000">
                <a:schemeClr val="accent2">
                  <a:lumMod val="40000"/>
                  <a:lumOff val="60000"/>
                </a:schemeClr>
              </a:gs>
            </a:gsLst>
            <a:lin ang="10800000" scaled="1"/>
            <a:tileRect/>
          </a:gra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dirty="0"/>
          </a:p>
        </p:txBody>
      </p:sp>
      <p:sp>
        <p:nvSpPr>
          <p:cNvPr id="2" name="Title 1"/>
          <p:cNvSpPr>
            <a:spLocks noGrp="1"/>
          </p:cNvSpPr>
          <p:nvPr>
            <p:ph type="title"/>
          </p:nvPr>
        </p:nvSpPr>
        <p:spPr/>
        <p:txBody>
          <a:bodyPr/>
          <a:lstStyle/>
          <a:p>
            <a:r>
              <a:rPr lang="en-US" dirty="0"/>
              <a:t>Research Approach – Revenue Side Analysis</a:t>
            </a:r>
          </a:p>
        </p:txBody>
      </p:sp>
      <p:sp>
        <p:nvSpPr>
          <p:cNvPr id="6" name="Freeform 5"/>
          <p:cNvSpPr/>
          <p:nvPr/>
        </p:nvSpPr>
        <p:spPr>
          <a:xfrm>
            <a:off x="2365132" y="2199888"/>
            <a:ext cx="1539888" cy="2688804"/>
          </a:xfrm>
          <a:custGeom>
            <a:avLst/>
            <a:gdLst>
              <a:gd name="connsiteX0" fmla="*/ 0 w 594360"/>
              <a:gd name="connsiteY0" fmla="*/ 487680 h 2125980"/>
              <a:gd name="connsiteX1" fmla="*/ 594360 w 594360"/>
              <a:gd name="connsiteY1" fmla="*/ 2125980 h 2125980"/>
              <a:gd name="connsiteX2" fmla="*/ 586740 w 594360"/>
              <a:gd name="connsiteY2" fmla="*/ 304800 h 2125980"/>
              <a:gd name="connsiteX3" fmla="*/ 7620 w 594360"/>
              <a:gd name="connsiteY3" fmla="*/ 0 h 2125980"/>
              <a:gd name="connsiteX4" fmla="*/ 0 w 594360"/>
              <a:gd name="connsiteY4" fmla="*/ 487680 h 2125980"/>
              <a:gd name="connsiteX0" fmla="*/ 7620 w 586740"/>
              <a:gd name="connsiteY0" fmla="*/ 487680 h 2125980"/>
              <a:gd name="connsiteX1" fmla="*/ 586740 w 586740"/>
              <a:gd name="connsiteY1" fmla="*/ 2125980 h 2125980"/>
              <a:gd name="connsiteX2" fmla="*/ 579120 w 586740"/>
              <a:gd name="connsiteY2" fmla="*/ 304800 h 2125980"/>
              <a:gd name="connsiteX3" fmla="*/ 0 w 586740"/>
              <a:gd name="connsiteY3" fmla="*/ 0 h 2125980"/>
              <a:gd name="connsiteX4" fmla="*/ 7620 w 586740"/>
              <a:gd name="connsiteY4" fmla="*/ 487680 h 2125980"/>
              <a:gd name="connsiteX0" fmla="*/ 7620 w 586740"/>
              <a:gd name="connsiteY0" fmla="*/ 487680 h 2125980"/>
              <a:gd name="connsiteX1" fmla="*/ 586740 w 586740"/>
              <a:gd name="connsiteY1" fmla="*/ 2125980 h 2125980"/>
              <a:gd name="connsiteX2" fmla="*/ 579120 w 586740"/>
              <a:gd name="connsiteY2" fmla="*/ 304800 h 2125980"/>
              <a:gd name="connsiteX3" fmla="*/ 0 w 586740"/>
              <a:gd name="connsiteY3" fmla="*/ 0 h 2125980"/>
              <a:gd name="connsiteX4" fmla="*/ 7620 w 586740"/>
              <a:gd name="connsiteY4" fmla="*/ 487680 h 2125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740" h="2125980">
                <a:moveTo>
                  <a:pt x="7620" y="487680"/>
                </a:moveTo>
                <a:lnTo>
                  <a:pt x="586740" y="2125980"/>
                </a:lnTo>
                <a:lnTo>
                  <a:pt x="579120" y="304800"/>
                </a:lnTo>
                <a:lnTo>
                  <a:pt x="0" y="0"/>
                </a:lnTo>
                <a:lnTo>
                  <a:pt x="7620" y="487680"/>
                </a:lnTo>
                <a:close/>
              </a:path>
            </a:pathLst>
          </a:custGeom>
          <a:gradFill flip="none" rotWithShape="1">
            <a:gsLst>
              <a:gs pos="0">
                <a:schemeClr val="bg1"/>
              </a:gs>
              <a:gs pos="100000">
                <a:schemeClr val="accent2">
                  <a:lumMod val="40000"/>
                  <a:lumOff val="60000"/>
                </a:schemeClr>
              </a:gs>
            </a:gsLst>
            <a:lin ang="10800000" scaled="1"/>
            <a:tileRect/>
          </a:gra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endParaRPr lang="en-US" dirty="0"/>
          </a:p>
        </p:txBody>
      </p:sp>
      <p:grpSp>
        <p:nvGrpSpPr>
          <p:cNvPr id="28" name="Group 27"/>
          <p:cNvGrpSpPr/>
          <p:nvPr/>
        </p:nvGrpSpPr>
        <p:grpSpPr>
          <a:xfrm>
            <a:off x="277837" y="1517592"/>
            <a:ext cx="2417766" cy="3371816"/>
            <a:chOff x="277837" y="1517592"/>
            <a:chExt cx="2417766" cy="3371816"/>
          </a:xfrm>
        </p:grpSpPr>
        <p:sp>
          <p:nvSpPr>
            <p:cNvPr id="7" name="Rectangle 6"/>
            <p:cNvSpPr/>
            <p:nvPr/>
          </p:nvSpPr>
          <p:spPr>
            <a:xfrm>
              <a:off x="578855" y="2191371"/>
              <a:ext cx="1815733" cy="632782"/>
            </a:xfrm>
            <a:prstGeom prst="rect">
              <a:avLst/>
            </a:prstGeom>
            <a:solidFill>
              <a:schemeClr val="accent1">
                <a:lumMod val="20000"/>
                <a:lumOff val="80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r>
                <a:rPr lang="en-US" sz="1200" b="1" dirty="0">
                  <a:solidFill>
                    <a:schemeClr val="tx1"/>
                  </a:solidFill>
                </a:rPr>
                <a:t>Business Segment-1</a:t>
              </a:r>
            </a:p>
          </p:txBody>
        </p:sp>
        <p:sp>
          <p:nvSpPr>
            <p:cNvPr id="8" name="Rectangle 7"/>
            <p:cNvSpPr/>
            <p:nvPr/>
          </p:nvSpPr>
          <p:spPr>
            <a:xfrm>
              <a:off x="578855" y="2879790"/>
              <a:ext cx="1815733" cy="632782"/>
            </a:xfrm>
            <a:prstGeom prst="rect">
              <a:avLst/>
            </a:prstGeom>
            <a:solidFill>
              <a:schemeClr val="accent1">
                <a:lumMod val="20000"/>
                <a:lumOff val="80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r>
                <a:rPr lang="en-US" sz="1200" b="1" dirty="0">
                  <a:solidFill>
                    <a:schemeClr val="tx1"/>
                  </a:solidFill>
                </a:rPr>
                <a:t>Business Segment-2</a:t>
              </a:r>
            </a:p>
          </p:txBody>
        </p:sp>
        <p:sp>
          <p:nvSpPr>
            <p:cNvPr id="9" name="Rectangle 8"/>
            <p:cNvSpPr/>
            <p:nvPr/>
          </p:nvSpPr>
          <p:spPr>
            <a:xfrm>
              <a:off x="578855" y="3568209"/>
              <a:ext cx="1815733" cy="632782"/>
            </a:xfrm>
            <a:prstGeom prst="rect">
              <a:avLst/>
            </a:prstGeom>
            <a:solidFill>
              <a:schemeClr val="accent1">
                <a:lumMod val="20000"/>
                <a:lumOff val="80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r>
                <a:rPr lang="en-US" sz="1200" b="1" dirty="0">
                  <a:solidFill>
                    <a:schemeClr val="tx1"/>
                  </a:solidFill>
                </a:rPr>
                <a:t>Business Segment-3</a:t>
              </a:r>
            </a:p>
          </p:txBody>
        </p:sp>
        <p:sp>
          <p:nvSpPr>
            <p:cNvPr id="10" name="Rectangle 9"/>
            <p:cNvSpPr/>
            <p:nvPr/>
          </p:nvSpPr>
          <p:spPr>
            <a:xfrm>
              <a:off x="578855" y="4256626"/>
              <a:ext cx="1815733" cy="632782"/>
            </a:xfrm>
            <a:prstGeom prst="rect">
              <a:avLst/>
            </a:prstGeom>
            <a:solidFill>
              <a:schemeClr val="accent1">
                <a:lumMod val="20000"/>
                <a:lumOff val="80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r>
                <a:rPr lang="en-US" sz="1200" b="1" dirty="0">
                  <a:solidFill>
                    <a:schemeClr val="tx1"/>
                  </a:solidFill>
                </a:rPr>
                <a:t>Business Segment-4</a:t>
              </a:r>
            </a:p>
          </p:txBody>
        </p:sp>
        <p:sp>
          <p:nvSpPr>
            <p:cNvPr id="19" name="TextBox 23"/>
            <p:cNvSpPr txBox="1"/>
            <p:nvPr/>
          </p:nvSpPr>
          <p:spPr>
            <a:xfrm>
              <a:off x="277837" y="1517592"/>
              <a:ext cx="2417766" cy="646331"/>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200" b="1" dirty="0"/>
                <a:t>Company A </a:t>
              </a:r>
            </a:p>
            <a:p>
              <a:pPr algn="ctr"/>
              <a:r>
                <a:rPr lang="en-US" sz="1200" b="1" dirty="0"/>
                <a:t>Revenue from All Business Segments</a:t>
              </a:r>
            </a:p>
          </p:txBody>
        </p:sp>
      </p:grpSp>
      <p:grpSp>
        <p:nvGrpSpPr>
          <p:cNvPr id="31" name="Group 30"/>
          <p:cNvGrpSpPr/>
          <p:nvPr/>
        </p:nvGrpSpPr>
        <p:grpSpPr>
          <a:xfrm>
            <a:off x="3603757" y="1662710"/>
            <a:ext cx="2333223" cy="3226698"/>
            <a:chOff x="3638538" y="1662710"/>
            <a:chExt cx="2333223" cy="3226698"/>
          </a:xfrm>
        </p:grpSpPr>
        <p:sp>
          <p:nvSpPr>
            <p:cNvPr id="11" name="Rectangle 10"/>
            <p:cNvSpPr/>
            <p:nvPr/>
          </p:nvSpPr>
          <p:spPr>
            <a:xfrm>
              <a:off x="3897284" y="2565243"/>
              <a:ext cx="1815733" cy="545096"/>
            </a:xfrm>
            <a:prstGeom prst="rect">
              <a:avLst/>
            </a:prstGeom>
            <a:solidFill>
              <a:schemeClr val="accent4">
                <a:lumMod val="20000"/>
                <a:lumOff val="80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r>
                <a:rPr lang="en-US" sz="1200" b="1" dirty="0">
                  <a:solidFill>
                    <a:schemeClr val="tx1"/>
                  </a:solidFill>
                </a:rPr>
                <a:t>Product Segment-1</a:t>
              </a:r>
            </a:p>
          </p:txBody>
        </p:sp>
        <p:sp>
          <p:nvSpPr>
            <p:cNvPr id="12" name="Rectangle 11"/>
            <p:cNvSpPr/>
            <p:nvPr/>
          </p:nvSpPr>
          <p:spPr>
            <a:xfrm>
              <a:off x="3897284" y="3158266"/>
              <a:ext cx="1815733" cy="545096"/>
            </a:xfrm>
            <a:prstGeom prst="rect">
              <a:avLst/>
            </a:prstGeom>
            <a:solidFill>
              <a:schemeClr val="accent4">
                <a:lumMod val="20000"/>
                <a:lumOff val="80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r>
                <a:rPr lang="en-US" sz="1200" b="1" dirty="0">
                  <a:solidFill>
                    <a:schemeClr val="tx1"/>
                  </a:solidFill>
                </a:rPr>
                <a:t>Product Segment-2</a:t>
              </a:r>
            </a:p>
          </p:txBody>
        </p:sp>
        <p:sp>
          <p:nvSpPr>
            <p:cNvPr id="13" name="Rectangle 12"/>
            <p:cNvSpPr/>
            <p:nvPr/>
          </p:nvSpPr>
          <p:spPr>
            <a:xfrm>
              <a:off x="3897284" y="3751290"/>
              <a:ext cx="1815733" cy="545096"/>
            </a:xfrm>
            <a:prstGeom prst="rect">
              <a:avLst/>
            </a:prstGeom>
            <a:solidFill>
              <a:schemeClr val="accent4">
                <a:lumMod val="20000"/>
                <a:lumOff val="80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r>
                <a:rPr lang="en-US" sz="1200" b="1" dirty="0">
                  <a:solidFill>
                    <a:schemeClr val="tx1"/>
                  </a:solidFill>
                </a:rPr>
                <a:t>Product Segment-3</a:t>
              </a:r>
            </a:p>
          </p:txBody>
        </p:sp>
        <p:sp>
          <p:nvSpPr>
            <p:cNvPr id="14" name="Rectangle 13"/>
            <p:cNvSpPr/>
            <p:nvPr/>
          </p:nvSpPr>
          <p:spPr>
            <a:xfrm>
              <a:off x="3897284" y="4344312"/>
              <a:ext cx="1815733" cy="545096"/>
            </a:xfrm>
            <a:prstGeom prst="rect">
              <a:avLst/>
            </a:prstGeom>
            <a:solidFill>
              <a:schemeClr val="accent4">
                <a:lumMod val="20000"/>
                <a:lumOff val="80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r>
                <a:rPr lang="en-US" sz="1200" b="1" dirty="0">
                  <a:solidFill>
                    <a:schemeClr val="tx1"/>
                  </a:solidFill>
                </a:rPr>
                <a:t>Product Segment-4</a:t>
              </a:r>
            </a:p>
          </p:txBody>
        </p:sp>
        <p:sp>
          <p:nvSpPr>
            <p:cNvPr id="20" name="TextBox 24"/>
            <p:cNvSpPr txBox="1"/>
            <p:nvPr/>
          </p:nvSpPr>
          <p:spPr>
            <a:xfrm>
              <a:off x="3638538" y="1662710"/>
              <a:ext cx="2333223" cy="461665"/>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200" b="1" dirty="0"/>
                <a:t>Company A Revenue from Target Business Segments</a:t>
              </a:r>
            </a:p>
          </p:txBody>
        </p:sp>
      </p:grpSp>
      <p:grpSp>
        <p:nvGrpSpPr>
          <p:cNvPr id="30" name="Group 29"/>
          <p:cNvGrpSpPr/>
          <p:nvPr/>
        </p:nvGrpSpPr>
        <p:grpSpPr>
          <a:xfrm>
            <a:off x="6845134" y="2715572"/>
            <a:ext cx="2169108" cy="2173836"/>
            <a:chOff x="6454345" y="2715572"/>
            <a:chExt cx="2169108" cy="2173836"/>
          </a:xfrm>
        </p:grpSpPr>
        <p:sp>
          <p:nvSpPr>
            <p:cNvPr id="15" name="Rectangle 14"/>
            <p:cNvSpPr/>
            <p:nvPr/>
          </p:nvSpPr>
          <p:spPr>
            <a:xfrm>
              <a:off x="6635420" y="3751290"/>
              <a:ext cx="1815733" cy="545096"/>
            </a:xfrm>
            <a:prstGeom prst="rect">
              <a:avLst/>
            </a:prstGeom>
            <a:solidFill>
              <a:schemeClr val="accent6">
                <a:lumMod val="20000"/>
                <a:lumOff val="80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r>
                <a:rPr lang="en-US" sz="1200" b="1" dirty="0">
                  <a:solidFill>
                    <a:schemeClr val="tx1"/>
                  </a:solidFill>
                </a:rPr>
                <a:t> Target Product</a:t>
              </a:r>
            </a:p>
          </p:txBody>
        </p:sp>
        <p:sp>
          <p:nvSpPr>
            <p:cNvPr id="16" name="Rectangle 15"/>
            <p:cNvSpPr/>
            <p:nvPr/>
          </p:nvSpPr>
          <p:spPr>
            <a:xfrm>
              <a:off x="6635420" y="4344312"/>
              <a:ext cx="1815733" cy="545096"/>
            </a:xfrm>
            <a:prstGeom prst="rect">
              <a:avLst/>
            </a:prstGeom>
            <a:solidFill>
              <a:schemeClr val="accent6">
                <a:lumMod val="20000"/>
                <a:lumOff val="80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r>
                <a:rPr lang="en-US" sz="1200" b="1" dirty="0">
                  <a:solidFill>
                    <a:schemeClr val="tx1"/>
                  </a:solidFill>
                </a:rPr>
                <a:t> Others</a:t>
              </a:r>
            </a:p>
          </p:txBody>
        </p:sp>
        <p:sp>
          <p:nvSpPr>
            <p:cNvPr id="21" name="TextBox 25"/>
            <p:cNvSpPr txBox="1"/>
            <p:nvPr/>
          </p:nvSpPr>
          <p:spPr>
            <a:xfrm>
              <a:off x="6454345" y="2715572"/>
              <a:ext cx="2169108" cy="461665"/>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200" b="1" dirty="0"/>
                <a:t>Company A Revenue from Target Product Segments</a:t>
              </a:r>
            </a:p>
          </p:txBody>
        </p:sp>
      </p:grpSp>
      <p:grpSp>
        <p:nvGrpSpPr>
          <p:cNvPr id="29" name="Group 28"/>
          <p:cNvGrpSpPr/>
          <p:nvPr/>
        </p:nvGrpSpPr>
        <p:grpSpPr>
          <a:xfrm>
            <a:off x="9922396" y="3148097"/>
            <a:ext cx="2001730" cy="1679765"/>
            <a:chOff x="9922396" y="3209643"/>
            <a:chExt cx="2001730" cy="1679765"/>
          </a:xfrm>
        </p:grpSpPr>
        <p:sp>
          <p:nvSpPr>
            <p:cNvPr id="17" name="Rectangle 16"/>
            <p:cNvSpPr/>
            <p:nvPr/>
          </p:nvSpPr>
          <p:spPr>
            <a:xfrm>
              <a:off x="10015395" y="4066934"/>
              <a:ext cx="1815733" cy="822474"/>
            </a:xfrm>
            <a:prstGeom prst="rect">
              <a:avLst/>
            </a:prstGeom>
            <a:solidFill>
              <a:schemeClr val="bg1">
                <a:lumMod val="85000"/>
              </a:scheme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66517" rtl="0" eaLnBrk="1" latinLnBrk="0" hangingPunct="1">
                <a:defRPr sz="1902" kern="1200">
                  <a:solidFill>
                    <a:schemeClr val="lt1"/>
                  </a:solidFill>
                  <a:latin typeface="+mn-lt"/>
                  <a:ea typeface="+mn-ea"/>
                  <a:cs typeface="+mn-cs"/>
                </a:defRPr>
              </a:lvl1pPr>
              <a:lvl2pPr marL="483259" algn="l" defTabSz="966517" rtl="0" eaLnBrk="1" latinLnBrk="0" hangingPunct="1">
                <a:defRPr sz="1902" kern="1200">
                  <a:solidFill>
                    <a:schemeClr val="lt1"/>
                  </a:solidFill>
                  <a:latin typeface="+mn-lt"/>
                  <a:ea typeface="+mn-ea"/>
                  <a:cs typeface="+mn-cs"/>
                </a:defRPr>
              </a:lvl2pPr>
              <a:lvl3pPr marL="966517" algn="l" defTabSz="966517" rtl="0" eaLnBrk="1" latinLnBrk="0" hangingPunct="1">
                <a:defRPr sz="1902" kern="1200">
                  <a:solidFill>
                    <a:schemeClr val="lt1"/>
                  </a:solidFill>
                  <a:latin typeface="+mn-lt"/>
                  <a:ea typeface="+mn-ea"/>
                  <a:cs typeface="+mn-cs"/>
                </a:defRPr>
              </a:lvl3pPr>
              <a:lvl4pPr marL="1449775" algn="l" defTabSz="966517" rtl="0" eaLnBrk="1" latinLnBrk="0" hangingPunct="1">
                <a:defRPr sz="1902" kern="1200">
                  <a:solidFill>
                    <a:schemeClr val="lt1"/>
                  </a:solidFill>
                  <a:latin typeface="+mn-lt"/>
                  <a:ea typeface="+mn-ea"/>
                  <a:cs typeface="+mn-cs"/>
                </a:defRPr>
              </a:lvl4pPr>
              <a:lvl5pPr marL="1933034" algn="l" defTabSz="966517" rtl="0" eaLnBrk="1" latinLnBrk="0" hangingPunct="1">
                <a:defRPr sz="1902" kern="1200">
                  <a:solidFill>
                    <a:schemeClr val="lt1"/>
                  </a:solidFill>
                  <a:latin typeface="+mn-lt"/>
                  <a:ea typeface="+mn-ea"/>
                  <a:cs typeface="+mn-cs"/>
                </a:defRPr>
              </a:lvl5pPr>
              <a:lvl6pPr marL="2416292" algn="l" defTabSz="966517" rtl="0" eaLnBrk="1" latinLnBrk="0" hangingPunct="1">
                <a:defRPr sz="1902" kern="1200">
                  <a:solidFill>
                    <a:schemeClr val="lt1"/>
                  </a:solidFill>
                  <a:latin typeface="+mn-lt"/>
                  <a:ea typeface="+mn-ea"/>
                  <a:cs typeface="+mn-cs"/>
                </a:defRPr>
              </a:lvl6pPr>
              <a:lvl7pPr marL="2899551" algn="l" defTabSz="966517" rtl="0" eaLnBrk="1" latinLnBrk="0" hangingPunct="1">
                <a:defRPr sz="1902" kern="1200">
                  <a:solidFill>
                    <a:schemeClr val="lt1"/>
                  </a:solidFill>
                  <a:latin typeface="+mn-lt"/>
                  <a:ea typeface="+mn-ea"/>
                  <a:cs typeface="+mn-cs"/>
                </a:defRPr>
              </a:lvl7pPr>
              <a:lvl8pPr marL="3382810" algn="l" defTabSz="966517" rtl="0" eaLnBrk="1" latinLnBrk="0" hangingPunct="1">
                <a:defRPr sz="1902" kern="1200">
                  <a:solidFill>
                    <a:schemeClr val="lt1"/>
                  </a:solidFill>
                  <a:latin typeface="+mn-lt"/>
                  <a:ea typeface="+mn-ea"/>
                  <a:cs typeface="+mn-cs"/>
                </a:defRPr>
              </a:lvl8pPr>
              <a:lvl9pPr marL="3866068" algn="l" defTabSz="966517" rtl="0" eaLnBrk="1" latinLnBrk="0" hangingPunct="1">
                <a:defRPr sz="1902" kern="1200">
                  <a:solidFill>
                    <a:schemeClr val="lt1"/>
                  </a:solidFill>
                  <a:latin typeface="+mn-lt"/>
                  <a:ea typeface="+mn-ea"/>
                  <a:cs typeface="+mn-cs"/>
                </a:defRPr>
              </a:lvl9pPr>
            </a:lstStyle>
            <a:p>
              <a:pPr algn="ctr"/>
              <a:r>
                <a:rPr lang="en-US" sz="1200" b="1" dirty="0">
                  <a:solidFill>
                    <a:schemeClr val="tx1"/>
                  </a:solidFill>
                </a:rPr>
                <a:t> Target Product</a:t>
              </a:r>
            </a:p>
          </p:txBody>
        </p:sp>
        <p:sp>
          <p:nvSpPr>
            <p:cNvPr id="22" name="TextBox 26"/>
            <p:cNvSpPr txBox="1"/>
            <p:nvPr/>
          </p:nvSpPr>
          <p:spPr>
            <a:xfrm>
              <a:off x="9922396" y="3209643"/>
              <a:ext cx="2001730" cy="461665"/>
            </a:xfrm>
            <a:prstGeom prst="rect">
              <a:avLst/>
            </a:prstGeom>
            <a:noFill/>
          </p:spPr>
          <p:txBody>
            <a:bodyPr wrap="square" rtlCol="0">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algn="ctr"/>
              <a:r>
                <a:rPr lang="en-US" sz="1200" b="1" dirty="0"/>
                <a:t>Company A Revenue from Target Product</a:t>
              </a:r>
            </a:p>
          </p:txBody>
        </p:sp>
      </p:grpSp>
      <p:sp>
        <p:nvSpPr>
          <p:cNvPr id="23" name="TextBox 22"/>
          <p:cNvSpPr txBox="1"/>
          <p:nvPr/>
        </p:nvSpPr>
        <p:spPr>
          <a:xfrm>
            <a:off x="2542834" y="1120461"/>
            <a:ext cx="7315200" cy="385042"/>
          </a:xfrm>
          <a:prstGeom prst="rect">
            <a:avLst/>
          </a:prstGeom>
          <a:noFill/>
        </p:spPr>
        <p:txBody>
          <a:bodyPr wrap="square" rtlCol="0">
            <a:spAutoFit/>
          </a:bodyPr>
          <a:lstStyle/>
          <a:p>
            <a:pPr algn="ctr"/>
            <a:r>
              <a:rPr lang="en-US" b="1" u="sng" dirty="0">
                <a:latin typeface="Agency FB" panose="020B0503020202020204" pitchFamily="34" charset="0"/>
              </a:rPr>
              <a:t>Approach – Revenue Side</a:t>
            </a:r>
          </a:p>
        </p:txBody>
      </p:sp>
      <p:sp>
        <p:nvSpPr>
          <p:cNvPr id="24" name="Rounded Rectangle 23"/>
          <p:cNvSpPr/>
          <p:nvPr/>
        </p:nvSpPr>
        <p:spPr>
          <a:xfrm>
            <a:off x="152400" y="1143000"/>
            <a:ext cx="11887200" cy="5064126"/>
          </a:xfrm>
          <a:prstGeom prst="roundRect">
            <a:avLst>
              <a:gd name="adj" fmla="val 3452"/>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p:cNvSpPr/>
          <p:nvPr/>
        </p:nvSpPr>
        <p:spPr>
          <a:xfrm>
            <a:off x="172917" y="5296555"/>
            <a:ext cx="11810999" cy="800219"/>
          </a:xfrm>
          <a:prstGeom prst="rect">
            <a:avLst/>
          </a:prstGeom>
        </p:spPr>
        <p:txBody>
          <a:bodyPr wrap="square">
            <a:spAutoFit/>
          </a:bodyPr>
          <a:lstStyle>
            <a:defPPr>
              <a:defRPr lang="en-US"/>
            </a:defPPr>
            <a:lvl1pPr marL="0" algn="l" defTabSz="966517" rtl="0" eaLnBrk="1" latinLnBrk="0" hangingPunct="1">
              <a:defRPr sz="1902" kern="1200">
                <a:solidFill>
                  <a:schemeClr val="tx1"/>
                </a:solidFill>
                <a:latin typeface="+mn-lt"/>
                <a:ea typeface="+mn-ea"/>
                <a:cs typeface="+mn-cs"/>
              </a:defRPr>
            </a:lvl1pPr>
            <a:lvl2pPr marL="483259" algn="l" defTabSz="966517" rtl="0" eaLnBrk="1" latinLnBrk="0" hangingPunct="1">
              <a:defRPr sz="1902" kern="1200">
                <a:solidFill>
                  <a:schemeClr val="tx1"/>
                </a:solidFill>
                <a:latin typeface="+mn-lt"/>
                <a:ea typeface="+mn-ea"/>
                <a:cs typeface="+mn-cs"/>
              </a:defRPr>
            </a:lvl2pPr>
            <a:lvl3pPr marL="966517" algn="l" defTabSz="966517" rtl="0" eaLnBrk="1" latinLnBrk="0" hangingPunct="1">
              <a:defRPr sz="1902" kern="1200">
                <a:solidFill>
                  <a:schemeClr val="tx1"/>
                </a:solidFill>
                <a:latin typeface="+mn-lt"/>
                <a:ea typeface="+mn-ea"/>
                <a:cs typeface="+mn-cs"/>
              </a:defRPr>
            </a:lvl3pPr>
            <a:lvl4pPr marL="1449775" algn="l" defTabSz="966517" rtl="0" eaLnBrk="1" latinLnBrk="0" hangingPunct="1">
              <a:defRPr sz="1902" kern="1200">
                <a:solidFill>
                  <a:schemeClr val="tx1"/>
                </a:solidFill>
                <a:latin typeface="+mn-lt"/>
                <a:ea typeface="+mn-ea"/>
                <a:cs typeface="+mn-cs"/>
              </a:defRPr>
            </a:lvl4pPr>
            <a:lvl5pPr marL="1933034" algn="l" defTabSz="966517" rtl="0" eaLnBrk="1" latinLnBrk="0" hangingPunct="1">
              <a:defRPr sz="1902" kern="1200">
                <a:solidFill>
                  <a:schemeClr val="tx1"/>
                </a:solidFill>
                <a:latin typeface="+mn-lt"/>
                <a:ea typeface="+mn-ea"/>
                <a:cs typeface="+mn-cs"/>
              </a:defRPr>
            </a:lvl5pPr>
            <a:lvl6pPr marL="2416292" algn="l" defTabSz="966517" rtl="0" eaLnBrk="1" latinLnBrk="0" hangingPunct="1">
              <a:defRPr sz="1902" kern="1200">
                <a:solidFill>
                  <a:schemeClr val="tx1"/>
                </a:solidFill>
                <a:latin typeface="+mn-lt"/>
                <a:ea typeface="+mn-ea"/>
                <a:cs typeface="+mn-cs"/>
              </a:defRPr>
            </a:lvl6pPr>
            <a:lvl7pPr marL="2899551" algn="l" defTabSz="966517" rtl="0" eaLnBrk="1" latinLnBrk="0" hangingPunct="1">
              <a:defRPr sz="1902" kern="1200">
                <a:solidFill>
                  <a:schemeClr val="tx1"/>
                </a:solidFill>
                <a:latin typeface="+mn-lt"/>
                <a:ea typeface="+mn-ea"/>
                <a:cs typeface="+mn-cs"/>
              </a:defRPr>
            </a:lvl7pPr>
            <a:lvl8pPr marL="3382810" algn="l" defTabSz="966517" rtl="0" eaLnBrk="1" latinLnBrk="0" hangingPunct="1">
              <a:defRPr sz="1902" kern="1200">
                <a:solidFill>
                  <a:schemeClr val="tx1"/>
                </a:solidFill>
                <a:latin typeface="+mn-lt"/>
                <a:ea typeface="+mn-ea"/>
                <a:cs typeface="+mn-cs"/>
              </a:defRPr>
            </a:lvl8pPr>
            <a:lvl9pPr marL="3866068" algn="l" defTabSz="966517" rtl="0" eaLnBrk="1" latinLnBrk="0" hangingPunct="1">
              <a:defRPr sz="1902" kern="1200">
                <a:solidFill>
                  <a:schemeClr val="tx1"/>
                </a:solidFill>
                <a:latin typeface="+mn-lt"/>
                <a:ea typeface="+mn-ea"/>
                <a:cs typeface="+mn-cs"/>
              </a:defRPr>
            </a:lvl9pPr>
          </a:lstStyle>
          <a:p>
            <a:pPr marL="285750" indent="-285750" algn="just">
              <a:spcBef>
                <a:spcPts val="300"/>
              </a:spcBef>
              <a:spcAft>
                <a:spcPts val="300"/>
              </a:spcAft>
              <a:buFont typeface="Wingdings" panose="05000000000000000000" pitchFamily="2" charset="2"/>
              <a:buChar char="Ø"/>
            </a:pPr>
            <a:r>
              <a:rPr lang="en-US" sz="1200" dirty="0"/>
              <a:t>This methodology is used for finding the revenue of the key manufacturers from target product. TMR followed these steps for validating the data from supply side.</a:t>
            </a:r>
          </a:p>
          <a:p>
            <a:pPr marL="285750" indent="-285750" algn="just">
              <a:spcBef>
                <a:spcPts val="300"/>
              </a:spcBef>
              <a:spcAft>
                <a:spcPts val="300"/>
              </a:spcAft>
              <a:buFont typeface="Wingdings" panose="05000000000000000000" pitchFamily="2" charset="2"/>
              <a:buChar char="Ø"/>
            </a:pPr>
            <a:r>
              <a:rPr lang="en-US" sz="1200" dirty="0"/>
              <a:t>This market estimation is also discussed with the market/product expert for revalidating the data specific to each region.</a:t>
            </a:r>
          </a:p>
          <a:p>
            <a:pPr marL="285750" indent="-285750" algn="just">
              <a:spcBef>
                <a:spcPts val="300"/>
              </a:spcBef>
              <a:spcAft>
                <a:spcPts val="300"/>
              </a:spcAft>
              <a:buFont typeface="Wingdings" panose="05000000000000000000" pitchFamily="2" charset="2"/>
              <a:buChar char="Ø"/>
            </a:pPr>
            <a:r>
              <a:rPr lang="en-US" sz="1200" dirty="0"/>
              <a:t>This approach also helps to find the estimated Global market share of the company in the target market.</a:t>
            </a:r>
          </a:p>
        </p:txBody>
      </p:sp>
      <p:sp>
        <p:nvSpPr>
          <p:cNvPr id="26" name="TextBox 25"/>
          <p:cNvSpPr txBox="1"/>
          <p:nvPr/>
        </p:nvSpPr>
        <p:spPr>
          <a:xfrm>
            <a:off x="172019" y="6226701"/>
            <a:ext cx="1429879" cy="153888"/>
          </a:xfrm>
          <a:prstGeom prst="rect">
            <a:avLst/>
          </a:prstGeom>
          <a:noFill/>
        </p:spPr>
        <p:txBody>
          <a:bodyPr wrap="none" lIns="0" tIns="0" rIns="0" bIns="0" rtlCol="0">
            <a:spAutoFit/>
          </a:bodyPr>
          <a:lstStyle/>
          <a:p>
            <a:pPr defTabSz="966537"/>
            <a:r>
              <a:rPr lang="en-US" sz="1000" dirty="0"/>
              <a:t>Source: TMR Analysis, 2024</a:t>
            </a:r>
          </a:p>
        </p:txBody>
      </p:sp>
      <p:sp>
        <p:nvSpPr>
          <p:cNvPr id="27" name="Slide Number Placeholder 26"/>
          <p:cNvSpPr>
            <a:spLocks noGrp="1"/>
          </p:cNvSpPr>
          <p:nvPr>
            <p:ph type="sldNum" sz="quarter" idx="4"/>
          </p:nvPr>
        </p:nvSpPr>
        <p:spPr/>
        <p:txBody>
          <a:bodyPr/>
          <a:lstStyle/>
          <a:p>
            <a:fld id="{4B17068C-EB94-40A3-A5F2-664CDD77FDAC}" type="slidenum">
              <a:rPr lang="en-GB" smtClean="0"/>
              <a:pPr/>
              <a:t>292</a:t>
            </a:fld>
            <a:endParaRPr lang="en-GB" dirty="0"/>
          </a:p>
        </p:txBody>
      </p:sp>
    </p:spTree>
    <p:extLst>
      <p:ext uri="{BB962C8B-B14F-4D97-AF65-F5344CB8AC3E}">
        <p14:creationId xmlns:p14="http://schemas.microsoft.com/office/powerpoint/2010/main" val="4267531998"/>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Research Methodology</a:t>
            </a:r>
          </a:p>
        </p:txBody>
      </p:sp>
      <p:grpSp>
        <p:nvGrpSpPr>
          <p:cNvPr id="32" name="Group 31"/>
          <p:cNvGrpSpPr/>
          <p:nvPr/>
        </p:nvGrpSpPr>
        <p:grpSpPr>
          <a:xfrm>
            <a:off x="152399" y="1148637"/>
            <a:ext cx="3657600" cy="5058488"/>
            <a:chOff x="152399" y="1148637"/>
            <a:chExt cx="3657600" cy="5058488"/>
          </a:xfrm>
        </p:grpSpPr>
        <p:sp>
          <p:nvSpPr>
            <p:cNvPr id="6" name="TextBox 5"/>
            <p:cNvSpPr txBox="1"/>
            <p:nvPr/>
          </p:nvSpPr>
          <p:spPr>
            <a:xfrm>
              <a:off x="152399" y="1491880"/>
              <a:ext cx="3657600" cy="3116695"/>
            </a:xfrm>
            <a:prstGeom prst="rect">
              <a:avLst/>
            </a:prstGeom>
            <a:solidFill>
              <a:srgbClr val="FFF7F3"/>
            </a:solidFill>
          </p:spPr>
          <p:txBody>
            <a:bodyPr wrap="square" rtlCol="0" anchor="t">
              <a:noAutofit/>
            </a:bodyPr>
            <a:lstStyle/>
            <a:p>
              <a:pPr marL="182880" indent="-182880">
                <a:lnSpc>
                  <a:spcPct val="114000"/>
                </a:lnSpc>
                <a:spcBef>
                  <a:spcPts val="40"/>
                </a:spcBef>
                <a:spcAft>
                  <a:spcPts val="50"/>
                </a:spcAft>
                <a:buFont typeface="Wingdings" pitchFamily="2" charset="2"/>
                <a:buChar char="q"/>
                <a:defRPr/>
              </a:pPr>
              <a:r>
                <a:rPr lang="en-GB" sz="1100" kern="0" dirty="0">
                  <a:solidFill>
                    <a:prstClr val="black"/>
                  </a:solidFill>
                </a:rPr>
                <a:t>Global W</a:t>
              </a:r>
              <a:r>
                <a:rPr lang="en-US" sz="1100" kern="0" dirty="0">
                  <a:solidFill>
                    <a:prstClr val="black"/>
                  </a:solidFill>
                </a:rPr>
                <a:t>XYZ</a:t>
              </a:r>
              <a:r>
                <a:rPr lang="en-GB" sz="1100" kern="0" dirty="0">
                  <a:solidFill>
                    <a:prstClr val="black"/>
                  </a:solidFill>
                </a:rPr>
                <a:t> Market Size Forecast across the globe </a:t>
              </a:r>
            </a:p>
            <a:p>
              <a:pPr marL="182880" indent="-182880">
                <a:lnSpc>
                  <a:spcPct val="114000"/>
                </a:lnSpc>
                <a:spcBef>
                  <a:spcPts val="40"/>
                </a:spcBef>
                <a:spcAft>
                  <a:spcPts val="50"/>
                </a:spcAft>
                <a:buFont typeface="Wingdings" pitchFamily="2" charset="2"/>
                <a:buChar char="q"/>
                <a:defRPr/>
              </a:pPr>
              <a:r>
                <a:rPr lang="en-GB" sz="1100" kern="0" dirty="0">
                  <a:solidFill>
                    <a:prstClr val="black"/>
                  </a:solidFill>
                </a:rPr>
                <a:t>Global W</a:t>
              </a:r>
              <a:r>
                <a:rPr lang="en-US" sz="1100" kern="0" dirty="0">
                  <a:solidFill>
                    <a:prstClr val="black"/>
                  </a:solidFill>
                </a:rPr>
                <a:t>XYZ</a:t>
              </a:r>
              <a:r>
                <a:rPr lang="en-GB" sz="1100" kern="0" dirty="0">
                  <a:solidFill>
                    <a:prstClr val="black"/>
                  </a:solidFill>
                </a:rPr>
                <a:t> Market Share By Category-A</a:t>
              </a:r>
            </a:p>
            <a:p>
              <a:pPr marL="182880" indent="-182880">
                <a:lnSpc>
                  <a:spcPct val="114000"/>
                </a:lnSpc>
                <a:spcBef>
                  <a:spcPts val="40"/>
                </a:spcBef>
                <a:spcAft>
                  <a:spcPts val="50"/>
                </a:spcAft>
                <a:buFont typeface="Wingdings" pitchFamily="2" charset="2"/>
                <a:buChar char="q"/>
                <a:defRPr/>
              </a:pPr>
              <a:r>
                <a:rPr lang="en-GB" sz="1100" kern="0" dirty="0">
                  <a:solidFill>
                    <a:prstClr val="black"/>
                  </a:solidFill>
                </a:rPr>
                <a:t>Global W</a:t>
              </a:r>
              <a:r>
                <a:rPr lang="en-US" sz="1100" kern="0" dirty="0">
                  <a:solidFill>
                    <a:prstClr val="black"/>
                  </a:solidFill>
                </a:rPr>
                <a:t>XYZ</a:t>
              </a:r>
              <a:r>
                <a:rPr lang="en-GB" sz="1100" kern="0" dirty="0">
                  <a:solidFill>
                    <a:prstClr val="black"/>
                  </a:solidFill>
                </a:rPr>
                <a:t> Market Share by Category-B</a:t>
              </a:r>
            </a:p>
            <a:p>
              <a:pPr marL="182880" indent="-182880">
                <a:lnSpc>
                  <a:spcPct val="114000"/>
                </a:lnSpc>
                <a:spcBef>
                  <a:spcPts val="40"/>
                </a:spcBef>
                <a:spcAft>
                  <a:spcPts val="50"/>
                </a:spcAft>
                <a:buFont typeface="Wingdings" pitchFamily="2" charset="2"/>
                <a:buChar char="q"/>
                <a:defRPr/>
              </a:pPr>
              <a:r>
                <a:rPr lang="en-GB" sz="1100" kern="0" dirty="0">
                  <a:solidFill>
                    <a:prstClr val="black"/>
                  </a:solidFill>
                </a:rPr>
                <a:t>Global W</a:t>
              </a:r>
              <a:r>
                <a:rPr lang="en-US" sz="1100" kern="0" dirty="0">
                  <a:solidFill>
                    <a:prstClr val="black"/>
                  </a:solidFill>
                </a:rPr>
                <a:t>XYZ</a:t>
              </a:r>
              <a:r>
                <a:rPr lang="en-GB" sz="1100" kern="0" dirty="0">
                  <a:solidFill>
                    <a:prstClr val="black"/>
                  </a:solidFill>
                </a:rPr>
                <a:t> Market Share by Value</a:t>
              </a:r>
            </a:p>
            <a:p>
              <a:pPr marL="182880" indent="-182880">
                <a:lnSpc>
                  <a:spcPct val="114000"/>
                </a:lnSpc>
                <a:spcBef>
                  <a:spcPts val="40"/>
                </a:spcBef>
                <a:spcAft>
                  <a:spcPts val="50"/>
                </a:spcAft>
                <a:buFont typeface="Wingdings" pitchFamily="2" charset="2"/>
                <a:buChar char="q"/>
                <a:defRPr/>
              </a:pPr>
              <a:r>
                <a:rPr lang="en-GB" sz="1100" kern="0" dirty="0">
                  <a:solidFill>
                    <a:prstClr val="black"/>
                  </a:solidFill>
                </a:rPr>
                <a:t>Global W</a:t>
              </a:r>
              <a:r>
                <a:rPr lang="en-US" sz="1100" kern="0" dirty="0">
                  <a:solidFill>
                    <a:prstClr val="black"/>
                  </a:solidFill>
                </a:rPr>
                <a:t>XYZ</a:t>
              </a:r>
              <a:r>
                <a:rPr lang="en-GB" sz="1100" kern="0" dirty="0">
                  <a:solidFill>
                    <a:prstClr val="black"/>
                  </a:solidFill>
                </a:rPr>
                <a:t> Market Prospects Across Countries</a:t>
              </a:r>
            </a:p>
            <a:p>
              <a:pPr marL="182880" indent="-182880">
                <a:lnSpc>
                  <a:spcPct val="114000"/>
                </a:lnSpc>
                <a:buFont typeface="Wingdings" pitchFamily="2" charset="2"/>
                <a:buChar char="q"/>
                <a:defRPr/>
              </a:pPr>
              <a:r>
                <a:rPr lang="en-US" sz="1100" kern="0" dirty="0">
                  <a:solidFill>
                    <a:prstClr val="black"/>
                  </a:solidFill>
                </a:rPr>
                <a:t>Key Researches by Organizations and Industry Associations</a:t>
              </a:r>
            </a:p>
            <a:p>
              <a:pPr marL="182880" indent="-182880">
                <a:lnSpc>
                  <a:spcPct val="114000"/>
                </a:lnSpc>
                <a:buFont typeface="Wingdings" pitchFamily="2" charset="2"/>
                <a:buChar char="q"/>
                <a:defRPr/>
              </a:pPr>
              <a:r>
                <a:rPr lang="en-US" sz="1100" kern="0" dirty="0">
                  <a:solidFill>
                    <a:prstClr val="black"/>
                  </a:solidFill>
                </a:rPr>
                <a:t>Average Pricing Trend Based on </a:t>
              </a:r>
              <a:r>
                <a:rPr lang="en-GB" sz="1100" kern="0" dirty="0">
                  <a:solidFill>
                    <a:prstClr val="black"/>
                  </a:solidFill>
                </a:rPr>
                <a:t>Category-A</a:t>
              </a:r>
            </a:p>
            <a:p>
              <a:pPr marL="182880" indent="-182880">
                <a:lnSpc>
                  <a:spcPct val="114000"/>
                </a:lnSpc>
                <a:buFont typeface="Wingdings" pitchFamily="2" charset="2"/>
                <a:buChar char="q"/>
                <a:defRPr/>
              </a:pPr>
              <a:r>
                <a:rPr lang="en-US" sz="1100" kern="0" dirty="0">
                  <a:solidFill>
                    <a:prstClr val="black"/>
                  </a:solidFill>
                </a:rPr>
                <a:t>Key WXYZ</a:t>
              </a:r>
              <a:r>
                <a:rPr lang="en-GB" sz="1100" kern="0" dirty="0">
                  <a:solidFill>
                    <a:prstClr val="black"/>
                  </a:solidFill>
                </a:rPr>
                <a:t> Market </a:t>
              </a:r>
              <a:r>
                <a:rPr lang="en-US" sz="1100" kern="0" dirty="0">
                  <a:solidFill>
                    <a:prstClr val="black"/>
                  </a:solidFill>
                </a:rPr>
                <a:t>Manufacturers Products &amp; Service Portfolio</a:t>
              </a:r>
            </a:p>
            <a:p>
              <a:pPr marL="182880" indent="-182880">
                <a:lnSpc>
                  <a:spcPct val="114000"/>
                </a:lnSpc>
                <a:buFont typeface="Wingdings" pitchFamily="2" charset="2"/>
                <a:buChar char="q"/>
                <a:defRPr/>
              </a:pPr>
              <a:r>
                <a:rPr lang="en-US" sz="1100" kern="0" dirty="0">
                  <a:solidFill>
                    <a:prstClr val="black"/>
                  </a:solidFill>
                </a:rPr>
                <a:t>Established and Regional Players </a:t>
              </a:r>
            </a:p>
            <a:p>
              <a:pPr marL="182880" indent="-182880">
                <a:lnSpc>
                  <a:spcPct val="114000"/>
                </a:lnSpc>
                <a:buFont typeface="Wingdings" pitchFamily="2" charset="2"/>
                <a:buChar char="q"/>
                <a:defRPr/>
              </a:pPr>
              <a:r>
                <a:rPr lang="en-US" sz="1100" kern="0" dirty="0">
                  <a:solidFill>
                    <a:prstClr val="black"/>
                  </a:solidFill>
                </a:rPr>
                <a:t>Parent Industry Analysis</a:t>
              </a:r>
              <a:endParaRPr lang="en-GB" sz="1100" kern="0" dirty="0">
                <a:solidFill>
                  <a:prstClr val="black"/>
                </a:solidFill>
              </a:endParaRPr>
            </a:p>
          </p:txBody>
        </p:sp>
        <p:sp>
          <p:nvSpPr>
            <p:cNvPr id="7" name="Rectangle 6"/>
            <p:cNvSpPr/>
            <p:nvPr/>
          </p:nvSpPr>
          <p:spPr>
            <a:xfrm>
              <a:off x="152399" y="1148637"/>
              <a:ext cx="3657600" cy="347472"/>
            </a:xfrm>
            <a:prstGeom prst="rect">
              <a:avLst/>
            </a:prstGeom>
            <a:solidFill>
              <a:srgbClr val="FFCBB3">
                <a:lumMod val="50000"/>
              </a:srgbClr>
            </a:solidFill>
            <a:ln w="12700" cap="flat" cmpd="sng" algn="ctr">
              <a:noFill/>
              <a:prstDash val="solid"/>
              <a:miter lim="800000"/>
            </a:ln>
            <a:effectLst/>
          </p:spPr>
          <p:txBody>
            <a:bodyPr rtlCol="0" anchor="ctr"/>
            <a:lstStyle/>
            <a:p>
              <a:pPr algn="ctr">
                <a:defRPr/>
              </a:pPr>
              <a:r>
                <a:rPr lang="en-US" sz="1200" b="1" kern="0" dirty="0">
                  <a:solidFill>
                    <a:prstClr val="white"/>
                  </a:solidFill>
                </a:rPr>
                <a:t>Secondary Research</a:t>
              </a:r>
            </a:p>
          </p:txBody>
        </p:sp>
        <p:sp>
          <p:nvSpPr>
            <p:cNvPr id="8" name="Rectangle 7"/>
            <p:cNvSpPr/>
            <p:nvPr/>
          </p:nvSpPr>
          <p:spPr>
            <a:xfrm>
              <a:off x="152399" y="4612110"/>
              <a:ext cx="3657600" cy="347472"/>
            </a:xfrm>
            <a:prstGeom prst="rect">
              <a:avLst/>
            </a:prstGeom>
            <a:solidFill>
              <a:srgbClr val="FFCBB3">
                <a:lumMod val="50000"/>
              </a:srgbClr>
            </a:solidFill>
            <a:ln w="12700" cap="flat" cmpd="sng" algn="ctr">
              <a:noFill/>
              <a:prstDash val="solid"/>
              <a:miter lim="800000"/>
            </a:ln>
            <a:effectLst/>
          </p:spPr>
          <p:txBody>
            <a:bodyPr rtlCol="0" anchor="ctr"/>
            <a:lstStyle/>
            <a:p>
              <a:pPr algn="ctr">
                <a:defRPr/>
              </a:pPr>
              <a:r>
                <a:rPr lang="en-US" sz="1200" b="1" kern="0" dirty="0">
                  <a:solidFill>
                    <a:prstClr val="white"/>
                  </a:solidFill>
                </a:rPr>
                <a:t>Key Sources Referred</a:t>
              </a:r>
            </a:p>
          </p:txBody>
        </p:sp>
        <p:sp>
          <p:nvSpPr>
            <p:cNvPr id="9" name="TextBox 8"/>
            <p:cNvSpPr txBox="1"/>
            <p:nvPr/>
          </p:nvSpPr>
          <p:spPr>
            <a:xfrm>
              <a:off x="152399" y="4957447"/>
              <a:ext cx="3657600" cy="1249678"/>
            </a:xfrm>
            <a:prstGeom prst="rect">
              <a:avLst/>
            </a:prstGeom>
            <a:solidFill>
              <a:srgbClr val="FFF7F3"/>
            </a:solidFill>
          </p:spPr>
          <p:txBody>
            <a:bodyPr wrap="square" rtlCol="0" anchor="t">
              <a:noAutofit/>
            </a:bodyPr>
            <a:lstStyle/>
            <a:p>
              <a:pPr marL="182880" indent="-182880">
                <a:lnSpc>
                  <a:spcPct val="114000"/>
                </a:lnSpc>
                <a:buFont typeface="Wingdings" pitchFamily="2" charset="2"/>
                <a:buChar char="q"/>
                <a:defRPr/>
              </a:pPr>
              <a:r>
                <a:rPr lang="en-US" sz="1100" kern="0" dirty="0">
                  <a:solidFill>
                    <a:prstClr val="black"/>
                  </a:solidFill>
                </a:rPr>
                <a:t>Industry Association Publications</a:t>
              </a:r>
            </a:p>
            <a:p>
              <a:pPr marL="182880" indent="-182880">
                <a:lnSpc>
                  <a:spcPct val="114000"/>
                </a:lnSpc>
                <a:buFont typeface="Wingdings" pitchFamily="2" charset="2"/>
                <a:buChar char="q"/>
                <a:defRPr/>
              </a:pPr>
              <a:r>
                <a:rPr lang="en-US" sz="1100" kern="0" dirty="0">
                  <a:solidFill>
                    <a:prstClr val="black"/>
                  </a:solidFill>
                </a:rPr>
                <a:t>Annual Reports, Publications, Presentations of Companies and Associations</a:t>
              </a:r>
            </a:p>
          </p:txBody>
        </p:sp>
      </p:grpSp>
      <p:sp>
        <p:nvSpPr>
          <p:cNvPr id="10" name="TextBox 9"/>
          <p:cNvSpPr txBox="1"/>
          <p:nvPr/>
        </p:nvSpPr>
        <p:spPr>
          <a:xfrm>
            <a:off x="3886199" y="3120405"/>
            <a:ext cx="304800" cy="707886"/>
          </a:xfrm>
          <a:prstGeom prst="rect">
            <a:avLst/>
          </a:prstGeom>
          <a:noFill/>
        </p:spPr>
        <p:txBody>
          <a:bodyPr wrap="square" rtlCol="0">
            <a:spAutoFit/>
          </a:bodyPr>
          <a:lstStyle/>
          <a:p>
            <a:pPr algn="ctr">
              <a:defRPr/>
            </a:pPr>
            <a:r>
              <a:rPr lang="en-GB" sz="4000" b="1" kern="0" dirty="0">
                <a:solidFill>
                  <a:prstClr val="black"/>
                </a:solidFill>
              </a:rPr>
              <a:t>+</a:t>
            </a:r>
          </a:p>
        </p:txBody>
      </p:sp>
      <p:grpSp>
        <p:nvGrpSpPr>
          <p:cNvPr id="30" name="Group 29"/>
          <p:cNvGrpSpPr/>
          <p:nvPr/>
        </p:nvGrpSpPr>
        <p:grpSpPr>
          <a:xfrm>
            <a:off x="4267199" y="1148637"/>
            <a:ext cx="3657601" cy="5058488"/>
            <a:chOff x="4683740" y="1148637"/>
            <a:chExt cx="3657601" cy="5058488"/>
          </a:xfrm>
        </p:grpSpPr>
        <p:sp>
          <p:nvSpPr>
            <p:cNvPr id="11" name="Rectangle 10"/>
            <p:cNvSpPr/>
            <p:nvPr/>
          </p:nvSpPr>
          <p:spPr>
            <a:xfrm>
              <a:off x="4683741" y="1148637"/>
              <a:ext cx="3657600" cy="350924"/>
            </a:xfrm>
            <a:prstGeom prst="rect">
              <a:avLst/>
            </a:prstGeom>
            <a:solidFill>
              <a:srgbClr val="ABDBFF">
                <a:lumMod val="50000"/>
              </a:srgbClr>
            </a:solidFill>
            <a:ln w="12700" cap="flat" cmpd="sng" algn="ctr">
              <a:noFill/>
              <a:prstDash val="solid"/>
              <a:miter lim="800000"/>
            </a:ln>
            <a:effectLst/>
          </p:spPr>
          <p:txBody>
            <a:bodyPr rtlCol="0" anchor="ctr"/>
            <a:lstStyle/>
            <a:p>
              <a:pPr algn="ctr">
                <a:defRPr/>
              </a:pPr>
              <a:r>
                <a:rPr lang="en-US" sz="1200" b="1" kern="0" dirty="0">
                  <a:solidFill>
                    <a:prstClr val="white"/>
                  </a:solidFill>
                </a:rPr>
                <a:t>Primary Research</a:t>
              </a:r>
            </a:p>
          </p:txBody>
        </p:sp>
        <p:sp>
          <p:nvSpPr>
            <p:cNvPr id="12" name="TextBox 11"/>
            <p:cNvSpPr txBox="1"/>
            <p:nvPr/>
          </p:nvSpPr>
          <p:spPr>
            <a:xfrm>
              <a:off x="4683741" y="1491880"/>
              <a:ext cx="3657600" cy="3144127"/>
            </a:xfrm>
            <a:prstGeom prst="rect">
              <a:avLst/>
            </a:prstGeom>
            <a:solidFill>
              <a:srgbClr val="F3FBFB"/>
            </a:solidFill>
          </p:spPr>
          <p:txBody>
            <a:bodyPr wrap="square" rtlCol="0" anchor="t">
              <a:noAutofit/>
            </a:bodyPr>
            <a:lstStyle/>
            <a:p>
              <a:pPr marL="182880" indent="-182880">
                <a:lnSpc>
                  <a:spcPct val="114000"/>
                </a:lnSpc>
                <a:buFont typeface="Wingdings" pitchFamily="2" charset="2"/>
                <a:buChar char="q"/>
                <a:defRPr/>
              </a:pPr>
              <a:r>
                <a:rPr lang="en-US" sz="1100" kern="0" dirty="0">
                  <a:solidFill>
                    <a:prstClr val="black"/>
                  </a:solidFill>
                </a:rPr>
                <a:t>Present and Future Scenario</a:t>
              </a:r>
            </a:p>
            <a:p>
              <a:pPr marL="182880" indent="-182880">
                <a:lnSpc>
                  <a:spcPct val="114000"/>
                </a:lnSpc>
                <a:buFont typeface="Wingdings" pitchFamily="2" charset="2"/>
                <a:buChar char="q"/>
                <a:defRPr/>
              </a:pPr>
              <a:r>
                <a:rPr lang="en-US" sz="1100" kern="0" dirty="0">
                  <a:solidFill>
                    <a:prstClr val="black"/>
                  </a:solidFill>
                </a:rPr>
                <a:t>Major Drivers, Restraints, and Opportunities in </a:t>
              </a:r>
              <a:r>
                <a:rPr lang="en-GB" sz="1100" kern="0" dirty="0">
                  <a:solidFill>
                    <a:prstClr val="black"/>
                  </a:solidFill>
                </a:rPr>
                <a:t>Global W</a:t>
              </a:r>
              <a:r>
                <a:rPr lang="en-US" sz="1100" kern="0" dirty="0">
                  <a:solidFill>
                    <a:prstClr val="black"/>
                  </a:solidFill>
                </a:rPr>
                <a:t>XYZ</a:t>
              </a:r>
              <a:r>
                <a:rPr lang="en-GB" sz="1100" kern="0" dirty="0">
                  <a:solidFill>
                    <a:prstClr val="black"/>
                  </a:solidFill>
                </a:rPr>
                <a:t> Market</a:t>
              </a:r>
              <a:endParaRPr lang="en-US" sz="1100" kern="0" dirty="0">
                <a:solidFill>
                  <a:prstClr val="black"/>
                </a:solidFill>
              </a:endParaRPr>
            </a:p>
            <a:p>
              <a:pPr marL="182880" indent="-182880">
                <a:lnSpc>
                  <a:spcPct val="114000"/>
                </a:lnSpc>
                <a:buFont typeface="Wingdings" pitchFamily="2" charset="2"/>
                <a:buChar char="q"/>
                <a:defRPr/>
              </a:pPr>
              <a:r>
                <a:rPr lang="en-US" sz="1100" kern="0" dirty="0">
                  <a:solidFill>
                    <a:prstClr val="black"/>
                  </a:solidFill>
                </a:rPr>
                <a:t>Key Challenges Faced by Manufacturers and Customers</a:t>
              </a:r>
            </a:p>
            <a:p>
              <a:pPr marL="182880" indent="-182880">
                <a:lnSpc>
                  <a:spcPct val="114000"/>
                </a:lnSpc>
                <a:buFont typeface="Wingdings" pitchFamily="2" charset="2"/>
                <a:buChar char="q"/>
                <a:defRPr/>
              </a:pPr>
              <a:r>
                <a:rPr lang="en-US" sz="1100" kern="0" dirty="0">
                  <a:solidFill>
                    <a:prstClr val="black"/>
                  </a:solidFill>
                </a:rPr>
                <a:t>Key Winning Strategies Followed by WXYZ</a:t>
              </a:r>
              <a:r>
                <a:rPr lang="en-GB" sz="1100" kern="0" dirty="0">
                  <a:solidFill>
                    <a:prstClr val="black"/>
                  </a:solidFill>
                </a:rPr>
                <a:t> Market</a:t>
              </a:r>
              <a:r>
                <a:rPr lang="en-US" sz="1100" kern="0" dirty="0">
                  <a:solidFill>
                    <a:prstClr val="black"/>
                  </a:solidFill>
                </a:rPr>
                <a:t>Manufacturers</a:t>
              </a:r>
            </a:p>
            <a:p>
              <a:pPr marL="182880" indent="-182880">
                <a:lnSpc>
                  <a:spcPct val="114000"/>
                </a:lnSpc>
                <a:buFont typeface="Wingdings" pitchFamily="2" charset="2"/>
                <a:buChar char="q"/>
                <a:defRPr/>
              </a:pPr>
              <a:r>
                <a:rPr lang="en-US" sz="1100" kern="0" dirty="0">
                  <a:solidFill>
                    <a:prstClr val="black"/>
                  </a:solidFill>
                </a:rPr>
                <a:t>Market Segmentation Criterion</a:t>
              </a:r>
            </a:p>
            <a:p>
              <a:pPr marL="182880" indent="-182880">
                <a:lnSpc>
                  <a:spcPct val="114000"/>
                </a:lnSpc>
                <a:buFont typeface="Wingdings" pitchFamily="2" charset="2"/>
                <a:buChar char="q"/>
                <a:defRPr/>
              </a:pPr>
              <a:r>
                <a:rPr lang="en-US" sz="1100" kern="0" dirty="0">
                  <a:solidFill>
                    <a:prstClr val="black"/>
                  </a:solidFill>
                </a:rPr>
                <a:t>Average Cost of WXYZ</a:t>
              </a:r>
              <a:r>
                <a:rPr lang="en-GB" sz="1100" kern="0" dirty="0">
                  <a:solidFill>
                    <a:prstClr val="black"/>
                  </a:solidFill>
                </a:rPr>
                <a:t> Market</a:t>
              </a:r>
              <a:endParaRPr lang="en-US" sz="1100" kern="0" dirty="0">
                <a:solidFill>
                  <a:prstClr val="black"/>
                </a:solidFill>
              </a:endParaRPr>
            </a:p>
            <a:p>
              <a:pPr marL="182880" indent="-182880">
                <a:lnSpc>
                  <a:spcPct val="114000"/>
                </a:lnSpc>
                <a:buFont typeface="Wingdings" pitchFamily="2" charset="2"/>
                <a:buChar char="q"/>
                <a:defRPr/>
              </a:pPr>
              <a:r>
                <a:rPr lang="en-US" sz="1100" kern="0" dirty="0">
                  <a:solidFill>
                    <a:prstClr val="black"/>
                  </a:solidFill>
                </a:rPr>
                <a:t>Presence of Players from Unorganised Sector</a:t>
              </a:r>
            </a:p>
            <a:p>
              <a:pPr marL="182880" indent="-182880">
                <a:lnSpc>
                  <a:spcPct val="114000"/>
                </a:lnSpc>
                <a:buFont typeface="Wingdings" pitchFamily="2" charset="2"/>
                <a:buChar char="q"/>
                <a:defRPr/>
              </a:pPr>
              <a:r>
                <a:rPr lang="en-US" sz="1100" kern="0" dirty="0">
                  <a:solidFill>
                    <a:prstClr val="black"/>
                  </a:solidFill>
                </a:rPr>
                <a:t>Market Scenario in Developed and Developing Economies</a:t>
              </a:r>
            </a:p>
            <a:p>
              <a:pPr marL="182880" indent="-182880">
                <a:lnSpc>
                  <a:spcPct val="114000"/>
                </a:lnSpc>
                <a:buFont typeface="Wingdings" pitchFamily="2" charset="2"/>
                <a:buChar char="q"/>
                <a:defRPr/>
              </a:pPr>
              <a:r>
                <a:rPr lang="en-US" sz="1100" kern="0" dirty="0">
                  <a:solidFill>
                    <a:prstClr val="black"/>
                  </a:solidFill>
                </a:rPr>
                <a:t>Anticipated Growth Projections</a:t>
              </a:r>
            </a:p>
          </p:txBody>
        </p:sp>
        <p:sp>
          <p:nvSpPr>
            <p:cNvPr id="5" name="TextBox 4"/>
            <p:cNvSpPr txBox="1"/>
            <p:nvPr/>
          </p:nvSpPr>
          <p:spPr>
            <a:xfrm>
              <a:off x="4683740" y="4983823"/>
              <a:ext cx="3657600" cy="1223302"/>
            </a:xfrm>
            <a:prstGeom prst="rect">
              <a:avLst/>
            </a:prstGeom>
            <a:solidFill>
              <a:srgbClr val="F3FBFB"/>
            </a:solidFill>
          </p:spPr>
          <p:txBody>
            <a:bodyPr wrap="square" rtlCol="0" anchor="t">
              <a:noAutofit/>
            </a:bodyPr>
            <a:lstStyle/>
            <a:p>
              <a:pPr marL="182880" indent="-182880">
                <a:lnSpc>
                  <a:spcPct val="114000"/>
                </a:lnSpc>
                <a:buFont typeface="Wingdings" pitchFamily="2" charset="2"/>
                <a:buChar char="q"/>
                <a:defRPr/>
              </a:pPr>
              <a:r>
                <a:rPr lang="en-US" sz="1100" kern="0" dirty="0">
                  <a:solidFill>
                    <a:prstClr val="black"/>
                  </a:solidFill>
                </a:rPr>
                <a:t>Industry Experts</a:t>
              </a:r>
            </a:p>
            <a:p>
              <a:pPr marL="182880" indent="-182880">
                <a:lnSpc>
                  <a:spcPct val="114000"/>
                </a:lnSpc>
                <a:buFont typeface="Wingdings" pitchFamily="2" charset="2"/>
                <a:buChar char="q"/>
                <a:defRPr/>
              </a:pPr>
              <a:r>
                <a:rPr lang="en-GB" sz="1100" kern="0" dirty="0">
                  <a:solidFill>
                    <a:prstClr val="black"/>
                  </a:solidFill>
                </a:rPr>
                <a:t>Europe W</a:t>
              </a:r>
              <a:r>
                <a:rPr lang="en-US" sz="1100" kern="0" dirty="0">
                  <a:solidFill>
                    <a:prstClr val="black"/>
                  </a:solidFill>
                </a:rPr>
                <a:t>XYZ</a:t>
              </a:r>
              <a:r>
                <a:rPr lang="en-GB" sz="1100" kern="0" dirty="0">
                  <a:solidFill>
                    <a:prstClr val="black"/>
                  </a:solidFill>
                </a:rPr>
                <a:t> Market </a:t>
              </a:r>
              <a:r>
                <a:rPr lang="en-US" sz="1100" kern="0" dirty="0">
                  <a:solidFill>
                    <a:prstClr val="black"/>
                  </a:solidFill>
                </a:rPr>
                <a:t>Manufacturers</a:t>
              </a:r>
            </a:p>
            <a:p>
              <a:pPr marL="182880" indent="-182880">
                <a:lnSpc>
                  <a:spcPct val="114000"/>
                </a:lnSpc>
                <a:buFont typeface="Wingdings" pitchFamily="2" charset="2"/>
                <a:buChar char="q"/>
                <a:defRPr/>
              </a:pPr>
              <a:r>
                <a:rPr lang="en-US" sz="1100" kern="0" dirty="0">
                  <a:solidFill>
                    <a:prstClr val="black"/>
                  </a:solidFill>
                </a:rPr>
                <a:t>Association Members</a:t>
              </a:r>
            </a:p>
            <a:p>
              <a:pPr marL="182880" indent="-182880">
                <a:lnSpc>
                  <a:spcPct val="114000"/>
                </a:lnSpc>
                <a:buFont typeface="Wingdings" pitchFamily="2" charset="2"/>
                <a:buChar char="q"/>
                <a:defRPr/>
              </a:pPr>
              <a:r>
                <a:rPr lang="en-US" sz="1100" kern="0" dirty="0">
                  <a:solidFill>
                    <a:prstClr val="black"/>
                  </a:solidFill>
                </a:rPr>
                <a:t>WXYZ</a:t>
              </a:r>
              <a:r>
                <a:rPr lang="en-GB" sz="1100" kern="0" dirty="0">
                  <a:solidFill>
                    <a:prstClr val="black"/>
                  </a:solidFill>
                </a:rPr>
                <a:t> Market industry </a:t>
              </a:r>
              <a:r>
                <a:rPr lang="en-US" sz="1100" kern="0" dirty="0">
                  <a:solidFill>
                    <a:prstClr val="black"/>
                  </a:solidFill>
                </a:rPr>
                <a:t>Professionals</a:t>
              </a:r>
            </a:p>
          </p:txBody>
        </p:sp>
        <p:sp>
          <p:nvSpPr>
            <p:cNvPr id="13" name="Rectangle 12"/>
            <p:cNvSpPr/>
            <p:nvPr/>
          </p:nvSpPr>
          <p:spPr>
            <a:xfrm>
              <a:off x="4683740" y="4625963"/>
              <a:ext cx="3657600" cy="365760"/>
            </a:xfrm>
            <a:prstGeom prst="rect">
              <a:avLst/>
            </a:prstGeom>
            <a:solidFill>
              <a:srgbClr val="ABDBFF">
                <a:lumMod val="50000"/>
              </a:srgbClr>
            </a:solidFill>
            <a:ln w="12700" cap="flat" cmpd="sng" algn="ctr">
              <a:noFill/>
              <a:prstDash val="solid"/>
              <a:miter lim="800000"/>
            </a:ln>
            <a:effectLst/>
          </p:spPr>
          <p:txBody>
            <a:bodyPr rtlCol="0" anchor="ctr"/>
            <a:lstStyle/>
            <a:p>
              <a:pPr algn="ctr">
                <a:defRPr/>
              </a:pPr>
              <a:r>
                <a:rPr lang="en-US" sz="1200" b="1" kern="0" dirty="0">
                  <a:solidFill>
                    <a:prstClr val="white"/>
                  </a:solidFill>
                </a:rPr>
                <a:t>Key Sources</a:t>
              </a:r>
            </a:p>
          </p:txBody>
        </p:sp>
      </p:grpSp>
      <p:sp>
        <p:nvSpPr>
          <p:cNvPr id="14" name="TextBox 13"/>
          <p:cNvSpPr txBox="1"/>
          <p:nvPr/>
        </p:nvSpPr>
        <p:spPr>
          <a:xfrm>
            <a:off x="8001000" y="3120405"/>
            <a:ext cx="304800" cy="707886"/>
          </a:xfrm>
          <a:prstGeom prst="rect">
            <a:avLst/>
          </a:prstGeom>
          <a:noFill/>
        </p:spPr>
        <p:txBody>
          <a:bodyPr wrap="square" rtlCol="0">
            <a:spAutoFit/>
          </a:bodyPr>
          <a:lstStyle/>
          <a:p>
            <a:pPr algn="ctr">
              <a:defRPr/>
            </a:pPr>
            <a:r>
              <a:rPr lang="en-GB" sz="4000" b="1" kern="0" dirty="0">
                <a:solidFill>
                  <a:prstClr val="black"/>
                </a:solidFill>
              </a:rPr>
              <a:t>=</a:t>
            </a:r>
          </a:p>
        </p:txBody>
      </p:sp>
      <p:grpSp>
        <p:nvGrpSpPr>
          <p:cNvPr id="29" name="Group 28"/>
          <p:cNvGrpSpPr/>
          <p:nvPr/>
        </p:nvGrpSpPr>
        <p:grpSpPr>
          <a:xfrm>
            <a:off x="8381999" y="1148637"/>
            <a:ext cx="3657603" cy="5058488"/>
            <a:chOff x="8381999" y="1148637"/>
            <a:chExt cx="3657603" cy="5058488"/>
          </a:xfrm>
        </p:grpSpPr>
        <p:sp>
          <p:nvSpPr>
            <p:cNvPr id="15" name="Rectangle 14"/>
            <p:cNvSpPr/>
            <p:nvPr/>
          </p:nvSpPr>
          <p:spPr>
            <a:xfrm>
              <a:off x="8382002" y="1148637"/>
              <a:ext cx="3657600" cy="365760"/>
            </a:xfrm>
            <a:prstGeom prst="rect">
              <a:avLst/>
            </a:prstGeom>
            <a:solidFill>
              <a:srgbClr val="00B050"/>
            </a:solidFill>
            <a:ln w="12700" cap="flat" cmpd="sng" algn="ctr">
              <a:noFill/>
              <a:prstDash val="solid"/>
              <a:miter lim="800000"/>
            </a:ln>
            <a:effectLst/>
          </p:spPr>
          <p:txBody>
            <a:bodyPr rtlCol="0" anchor="ctr"/>
            <a:lstStyle/>
            <a:p>
              <a:pPr algn="ctr">
                <a:defRPr/>
              </a:pPr>
              <a:r>
                <a:rPr lang="en-US" sz="1200" b="1" kern="0" dirty="0">
                  <a:solidFill>
                    <a:prstClr val="white"/>
                  </a:solidFill>
                </a:rPr>
                <a:t>Data Analysis</a:t>
              </a:r>
            </a:p>
          </p:txBody>
        </p:sp>
        <p:sp>
          <p:nvSpPr>
            <p:cNvPr id="16" name="TextBox 15"/>
            <p:cNvSpPr txBox="1"/>
            <p:nvPr/>
          </p:nvSpPr>
          <p:spPr>
            <a:xfrm>
              <a:off x="8382001" y="1491881"/>
              <a:ext cx="3657600" cy="1132447"/>
            </a:xfrm>
            <a:prstGeom prst="rect">
              <a:avLst/>
            </a:prstGeom>
            <a:solidFill>
              <a:srgbClr val="F0F5E7"/>
            </a:solidFill>
          </p:spPr>
          <p:txBody>
            <a:bodyPr wrap="square" rtlCol="0" anchor="t">
              <a:noAutofit/>
            </a:bodyPr>
            <a:lstStyle/>
            <a:p>
              <a:pPr marL="182880" indent="-182880">
                <a:lnSpc>
                  <a:spcPct val="114000"/>
                </a:lnSpc>
                <a:buFont typeface="Wingdings" pitchFamily="2" charset="2"/>
                <a:buChar char="q"/>
                <a:defRPr/>
              </a:pPr>
              <a:r>
                <a:rPr lang="en-GB" sz="1100" kern="0" dirty="0">
                  <a:solidFill>
                    <a:prstClr val="black"/>
                  </a:solidFill>
                </a:rPr>
                <a:t>Global W</a:t>
              </a:r>
              <a:r>
                <a:rPr lang="en-US" sz="1100" kern="0" dirty="0">
                  <a:solidFill>
                    <a:prstClr val="black"/>
                  </a:solidFill>
                </a:rPr>
                <a:t>XYZ</a:t>
              </a:r>
              <a:r>
                <a:rPr lang="en-GB" sz="1100" kern="0" dirty="0">
                  <a:solidFill>
                    <a:prstClr val="black"/>
                  </a:solidFill>
                </a:rPr>
                <a:t> Market </a:t>
              </a:r>
              <a:r>
                <a:rPr lang="en-US" sz="1100" kern="0" dirty="0">
                  <a:solidFill>
                    <a:prstClr val="black"/>
                  </a:solidFill>
                </a:rPr>
                <a:t>Correlation </a:t>
              </a:r>
            </a:p>
            <a:p>
              <a:pPr marL="182880" indent="-182880">
                <a:lnSpc>
                  <a:spcPct val="114000"/>
                </a:lnSpc>
                <a:buFont typeface="Wingdings" pitchFamily="2" charset="2"/>
                <a:buChar char="q"/>
                <a:defRPr/>
              </a:pPr>
              <a:r>
                <a:rPr lang="en-US" sz="1100" kern="0" dirty="0">
                  <a:solidFill>
                    <a:prstClr val="black"/>
                  </a:solidFill>
                </a:rPr>
                <a:t>Macroeconomic factor analysis</a:t>
              </a:r>
            </a:p>
            <a:p>
              <a:pPr marL="182880" indent="-182880">
                <a:lnSpc>
                  <a:spcPct val="114000"/>
                </a:lnSpc>
                <a:buFont typeface="Wingdings" pitchFamily="2" charset="2"/>
                <a:buChar char="q"/>
                <a:defRPr/>
              </a:pPr>
              <a:r>
                <a:rPr lang="en-US" sz="1100" kern="0" dirty="0">
                  <a:solidFill>
                    <a:prstClr val="black"/>
                  </a:solidFill>
                </a:rPr>
                <a:t>Historical Trend Analysis</a:t>
              </a:r>
            </a:p>
            <a:p>
              <a:pPr marL="182880" indent="-182880">
                <a:lnSpc>
                  <a:spcPct val="114000"/>
                </a:lnSpc>
                <a:buFont typeface="Wingdings" pitchFamily="2" charset="2"/>
                <a:buChar char="q"/>
                <a:defRPr/>
              </a:pPr>
              <a:r>
                <a:rPr lang="en-US" sz="1100" kern="0" dirty="0">
                  <a:solidFill>
                    <a:prstClr val="black"/>
                  </a:solidFill>
                </a:rPr>
                <a:t>Statistical Analysis</a:t>
              </a:r>
            </a:p>
          </p:txBody>
        </p:sp>
        <p:sp>
          <p:nvSpPr>
            <p:cNvPr id="17" name="Rectangle 16"/>
            <p:cNvSpPr/>
            <p:nvPr/>
          </p:nvSpPr>
          <p:spPr>
            <a:xfrm>
              <a:off x="8381999" y="2625591"/>
              <a:ext cx="3657600" cy="365760"/>
            </a:xfrm>
            <a:prstGeom prst="rect">
              <a:avLst/>
            </a:prstGeom>
            <a:solidFill>
              <a:srgbClr val="00B050"/>
            </a:solidFill>
            <a:ln w="12700" cap="flat" cmpd="sng" algn="ctr">
              <a:noFill/>
              <a:prstDash val="solid"/>
              <a:miter lim="800000"/>
            </a:ln>
            <a:effectLst/>
          </p:spPr>
          <p:txBody>
            <a:bodyPr rtlCol="0" anchor="ctr"/>
            <a:lstStyle/>
            <a:p>
              <a:pPr algn="ctr">
                <a:defRPr/>
              </a:pPr>
              <a:r>
                <a:rPr lang="en-US" sz="1200" b="1" kern="0" dirty="0">
                  <a:solidFill>
                    <a:prstClr val="white"/>
                  </a:solidFill>
                </a:rPr>
                <a:t>Market Size</a:t>
              </a:r>
            </a:p>
          </p:txBody>
        </p:sp>
        <p:sp>
          <p:nvSpPr>
            <p:cNvPr id="18" name="TextBox 17"/>
            <p:cNvSpPr txBox="1"/>
            <p:nvPr/>
          </p:nvSpPr>
          <p:spPr>
            <a:xfrm>
              <a:off x="8382000" y="2971801"/>
              <a:ext cx="3657600" cy="1677798"/>
            </a:xfrm>
            <a:prstGeom prst="rect">
              <a:avLst/>
            </a:prstGeom>
            <a:solidFill>
              <a:srgbClr val="F0F5E7"/>
            </a:solidFill>
          </p:spPr>
          <p:txBody>
            <a:bodyPr wrap="square" rtlCol="0" anchor="t">
              <a:noAutofit/>
            </a:bodyPr>
            <a:lstStyle/>
            <a:p>
              <a:pPr marL="182880" indent="-182880">
                <a:lnSpc>
                  <a:spcPct val="114000"/>
                </a:lnSpc>
                <a:buFont typeface="Wingdings" pitchFamily="2" charset="2"/>
                <a:buChar char="q"/>
                <a:defRPr/>
              </a:pPr>
              <a:r>
                <a:rPr lang="en-US" sz="1100" kern="0" dirty="0">
                  <a:solidFill>
                    <a:prstClr val="black"/>
                  </a:solidFill>
                </a:rPr>
                <a:t>Market Value (US$ Mn) Estimation</a:t>
              </a:r>
            </a:p>
            <a:p>
              <a:pPr marL="182880" indent="-182880">
                <a:lnSpc>
                  <a:spcPct val="114000"/>
                </a:lnSpc>
                <a:buFont typeface="Wingdings" pitchFamily="2" charset="2"/>
                <a:buChar char="q"/>
                <a:defRPr/>
              </a:pPr>
              <a:r>
                <a:rPr lang="en-US" sz="1100" kern="0" dirty="0">
                  <a:solidFill>
                    <a:prstClr val="black"/>
                  </a:solidFill>
                </a:rPr>
                <a:t>Average Regional Prices By Solution  to Arrive at Revenue Estimate</a:t>
              </a:r>
            </a:p>
            <a:p>
              <a:pPr marL="182880" indent="-182880">
                <a:lnSpc>
                  <a:spcPct val="114000"/>
                </a:lnSpc>
                <a:buFont typeface="Wingdings" pitchFamily="2" charset="2"/>
                <a:buChar char="q"/>
                <a:defRPr/>
              </a:pPr>
              <a:r>
                <a:rPr lang="en-US" sz="1100" kern="0" dirty="0">
                  <a:solidFill>
                    <a:prstClr val="black"/>
                  </a:solidFill>
                </a:rPr>
                <a:t>Factor Analysis Made for Projections</a:t>
              </a:r>
            </a:p>
            <a:p>
              <a:pPr marL="182880" indent="-182880">
                <a:lnSpc>
                  <a:spcPct val="114000"/>
                </a:lnSpc>
                <a:buFont typeface="Wingdings" pitchFamily="2" charset="2"/>
                <a:buChar char="q"/>
                <a:defRPr/>
              </a:pPr>
              <a:r>
                <a:rPr lang="en-US" sz="1100" kern="0" dirty="0">
                  <a:solidFill>
                    <a:prstClr val="black"/>
                  </a:solidFill>
                </a:rPr>
                <a:t>CAGR and Y-o-Y Growth Used to Arrive at Market Projections</a:t>
              </a:r>
            </a:p>
          </p:txBody>
        </p:sp>
        <p:sp>
          <p:nvSpPr>
            <p:cNvPr id="19" name="Rectangle 18"/>
            <p:cNvSpPr/>
            <p:nvPr/>
          </p:nvSpPr>
          <p:spPr>
            <a:xfrm>
              <a:off x="8382001" y="4625963"/>
              <a:ext cx="3657600" cy="365760"/>
            </a:xfrm>
            <a:prstGeom prst="rect">
              <a:avLst/>
            </a:prstGeom>
            <a:solidFill>
              <a:srgbClr val="00B050"/>
            </a:solidFill>
            <a:ln w="12700" cap="flat" cmpd="sng" algn="ctr">
              <a:noFill/>
              <a:prstDash val="solid"/>
              <a:miter lim="800000"/>
            </a:ln>
            <a:effectLst/>
          </p:spPr>
          <p:txBody>
            <a:bodyPr rtlCol="0" anchor="ctr"/>
            <a:lstStyle/>
            <a:p>
              <a:pPr algn="ctr">
                <a:defRPr/>
              </a:pPr>
              <a:r>
                <a:rPr lang="en-US" sz="1200" b="1" kern="0" dirty="0">
                  <a:solidFill>
                    <a:prstClr val="white"/>
                  </a:solidFill>
                </a:rPr>
                <a:t>Data Reporting</a:t>
              </a:r>
            </a:p>
          </p:txBody>
        </p:sp>
        <p:sp>
          <p:nvSpPr>
            <p:cNvPr id="20" name="TextBox 19"/>
            <p:cNvSpPr txBox="1"/>
            <p:nvPr/>
          </p:nvSpPr>
          <p:spPr>
            <a:xfrm>
              <a:off x="8382000" y="4963589"/>
              <a:ext cx="3657600" cy="1243536"/>
            </a:xfrm>
            <a:prstGeom prst="rect">
              <a:avLst/>
            </a:prstGeom>
            <a:solidFill>
              <a:srgbClr val="F0F5E7"/>
            </a:solidFill>
          </p:spPr>
          <p:txBody>
            <a:bodyPr wrap="square" rtlCol="0" anchor="t">
              <a:noAutofit/>
            </a:bodyPr>
            <a:lstStyle/>
            <a:p>
              <a:pPr marL="182880" indent="-182880">
                <a:lnSpc>
                  <a:spcPct val="114000"/>
                </a:lnSpc>
                <a:buFont typeface="Wingdings" pitchFamily="2" charset="2"/>
                <a:buChar char="q"/>
                <a:defRPr/>
              </a:pPr>
              <a:r>
                <a:rPr lang="en-US" sz="1100" kern="0" dirty="0">
                  <a:solidFill>
                    <a:prstClr val="black"/>
                  </a:solidFill>
                </a:rPr>
                <a:t>Qualitative Data &amp; Facts</a:t>
              </a:r>
            </a:p>
            <a:p>
              <a:pPr marL="182880" indent="-182880">
                <a:lnSpc>
                  <a:spcPct val="114000"/>
                </a:lnSpc>
                <a:buFont typeface="Wingdings" pitchFamily="2" charset="2"/>
                <a:buChar char="q"/>
                <a:defRPr/>
              </a:pPr>
              <a:r>
                <a:rPr lang="en-US" sz="1100" kern="0" dirty="0">
                  <a:solidFill>
                    <a:prstClr val="black"/>
                  </a:solidFill>
                </a:rPr>
                <a:t>Quantitative Data</a:t>
              </a:r>
            </a:p>
            <a:p>
              <a:pPr marL="182880" indent="-182880">
                <a:lnSpc>
                  <a:spcPct val="114000"/>
                </a:lnSpc>
                <a:buFont typeface="Wingdings" pitchFamily="2" charset="2"/>
                <a:buChar char="q"/>
                <a:defRPr/>
              </a:pPr>
              <a:r>
                <a:rPr lang="en-US" sz="1100" kern="0" dirty="0">
                  <a:solidFill>
                    <a:prstClr val="black"/>
                  </a:solidFill>
                </a:rPr>
                <a:t>Market Dynamics</a:t>
              </a:r>
            </a:p>
          </p:txBody>
        </p:sp>
      </p:grpSp>
      <p:sp>
        <p:nvSpPr>
          <p:cNvPr id="23" name="TextBox 29"/>
          <p:cNvSpPr txBox="1"/>
          <p:nvPr/>
        </p:nvSpPr>
        <p:spPr>
          <a:xfrm>
            <a:off x="152400" y="6216269"/>
            <a:ext cx="1285608" cy="138499"/>
          </a:xfrm>
          <a:prstGeom prst="rect">
            <a:avLst/>
          </a:prstGeom>
          <a:noFill/>
        </p:spPr>
        <p:txBody>
          <a:bodyPr wrap="non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900" dirty="0">
                <a:solidFill>
                  <a:prstClr val="black"/>
                </a:solidFill>
              </a:rPr>
              <a:t>Source: TMR Analysis, 2026</a:t>
            </a:r>
          </a:p>
        </p:txBody>
      </p:sp>
      <p:sp>
        <p:nvSpPr>
          <p:cNvPr id="28" name="Slide Number Placeholder 27"/>
          <p:cNvSpPr>
            <a:spLocks noGrp="1"/>
          </p:cNvSpPr>
          <p:nvPr>
            <p:ph type="sldNum" sz="quarter" idx="4"/>
          </p:nvPr>
        </p:nvSpPr>
        <p:spPr/>
        <p:txBody>
          <a:bodyPr/>
          <a:lstStyle/>
          <a:p>
            <a:fld id="{4B17068C-EB94-40A3-A5F2-664CDD77FDAC}" type="slidenum">
              <a:rPr lang="en-GB" smtClean="0"/>
              <a:pPr/>
              <a:t>293</a:t>
            </a:fld>
            <a:endParaRPr lang="en-GB" dirty="0"/>
          </a:p>
        </p:txBody>
      </p:sp>
    </p:spTree>
    <p:extLst>
      <p:ext uri="{BB962C8B-B14F-4D97-AF65-F5344CB8AC3E}">
        <p14:creationId xmlns:p14="http://schemas.microsoft.com/office/powerpoint/2010/main" val="241882332"/>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 name="Picture 5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 y="-1"/>
            <a:ext cx="12188824" cy="6858001"/>
          </a:xfrm>
          <a:prstGeom prst="rect">
            <a:avLst/>
          </a:prstGeom>
        </p:spPr>
      </p:pic>
      <p:grpSp>
        <p:nvGrpSpPr>
          <p:cNvPr id="55" name="Group 54"/>
          <p:cNvGrpSpPr/>
          <p:nvPr/>
        </p:nvGrpSpPr>
        <p:grpSpPr>
          <a:xfrm>
            <a:off x="3791331" y="4349877"/>
            <a:ext cx="7897432" cy="1533454"/>
            <a:chOff x="3791331" y="4349877"/>
            <a:chExt cx="7897432" cy="1533454"/>
          </a:xfrm>
        </p:grpSpPr>
        <p:sp>
          <p:nvSpPr>
            <p:cNvPr id="56" name="TextBox 55"/>
            <p:cNvSpPr txBox="1"/>
            <p:nvPr/>
          </p:nvSpPr>
          <p:spPr>
            <a:xfrm>
              <a:off x="3791331" y="4349877"/>
              <a:ext cx="3739101" cy="307777"/>
            </a:xfrm>
            <a:prstGeom prst="rect">
              <a:avLst/>
            </a:prstGeom>
            <a:noFill/>
          </p:spPr>
          <p:txBody>
            <a:bodyPr wrap="none" rtlCol="0">
              <a:spAutoFit/>
            </a:bodyPr>
            <a:lstStyle/>
            <a:p>
              <a:r>
                <a:rPr lang="en-IN" sz="1400" dirty="0"/>
                <a:t>To know more about us, please visit our website:</a:t>
              </a:r>
            </a:p>
          </p:txBody>
        </p:sp>
        <p:sp>
          <p:nvSpPr>
            <p:cNvPr id="57" name="TextBox 56"/>
            <p:cNvSpPr txBox="1"/>
            <p:nvPr/>
          </p:nvSpPr>
          <p:spPr>
            <a:xfrm>
              <a:off x="3791331" y="4660773"/>
              <a:ext cx="3121496" cy="307777"/>
            </a:xfrm>
            <a:prstGeom prst="rect">
              <a:avLst/>
            </a:prstGeom>
            <a:noFill/>
          </p:spPr>
          <p:txBody>
            <a:bodyPr wrap="none" rtlCol="0">
              <a:spAutoFit/>
            </a:bodyPr>
            <a:lstStyle/>
            <a:p>
              <a:r>
                <a:rPr lang="en-IN" sz="1400" b="1" dirty="0"/>
                <a:t>www.transparencymarketresearch.com</a:t>
              </a:r>
            </a:p>
          </p:txBody>
        </p:sp>
        <p:sp>
          <p:nvSpPr>
            <p:cNvPr id="58" name="TextBox 57"/>
            <p:cNvSpPr txBox="1"/>
            <p:nvPr/>
          </p:nvSpPr>
          <p:spPr>
            <a:xfrm>
              <a:off x="3791331" y="5264658"/>
              <a:ext cx="3364767" cy="307777"/>
            </a:xfrm>
            <a:prstGeom prst="rect">
              <a:avLst/>
            </a:prstGeom>
            <a:noFill/>
          </p:spPr>
          <p:txBody>
            <a:bodyPr wrap="none" rtlCol="0">
              <a:spAutoFit/>
            </a:bodyPr>
            <a:lstStyle/>
            <a:p>
              <a:r>
                <a:rPr lang="en-IN" sz="1400" dirty="0"/>
                <a:t>For Sales queries or new topics email us on:</a:t>
              </a:r>
            </a:p>
          </p:txBody>
        </p:sp>
        <p:sp>
          <p:nvSpPr>
            <p:cNvPr id="60" name="TextBox 59"/>
            <p:cNvSpPr txBox="1"/>
            <p:nvPr/>
          </p:nvSpPr>
          <p:spPr>
            <a:xfrm>
              <a:off x="3791331" y="5575554"/>
              <a:ext cx="3097836" cy="307777"/>
            </a:xfrm>
            <a:prstGeom prst="rect">
              <a:avLst/>
            </a:prstGeom>
            <a:noFill/>
          </p:spPr>
          <p:txBody>
            <a:bodyPr wrap="none" rtlCol="0">
              <a:spAutoFit/>
            </a:bodyPr>
            <a:lstStyle/>
            <a:p>
              <a:r>
                <a:rPr lang="en-IN" sz="1400" b="1" dirty="0"/>
                <a:t>sales.transparencymarketresearch.com</a:t>
              </a:r>
            </a:p>
          </p:txBody>
        </p:sp>
        <p:sp>
          <p:nvSpPr>
            <p:cNvPr id="61" name="TextBox 60"/>
            <p:cNvSpPr txBox="1"/>
            <p:nvPr/>
          </p:nvSpPr>
          <p:spPr>
            <a:xfrm>
              <a:off x="9562732" y="4349877"/>
              <a:ext cx="2126031" cy="1384995"/>
            </a:xfrm>
            <a:prstGeom prst="rect">
              <a:avLst/>
            </a:prstGeom>
            <a:noFill/>
          </p:spPr>
          <p:txBody>
            <a:bodyPr wrap="none" rtlCol="0">
              <a:spAutoFit/>
            </a:bodyPr>
            <a:lstStyle/>
            <a:p>
              <a:pPr algn="r">
                <a:lnSpc>
                  <a:spcPct val="150000"/>
                </a:lnSpc>
              </a:pPr>
              <a:r>
                <a:rPr lang="en-IN" sz="1400" dirty="0"/>
                <a:t>For other Queries Contact:</a:t>
              </a:r>
            </a:p>
            <a:p>
              <a:pPr algn="r">
                <a:lnSpc>
                  <a:spcPct val="150000"/>
                </a:lnSpc>
              </a:pPr>
              <a:r>
                <a:rPr lang="en-IN" sz="1400" dirty="0"/>
                <a:t>90 State Street, Albany</a:t>
              </a:r>
            </a:p>
            <a:p>
              <a:pPr algn="r">
                <a:lnSpc>
                  <a:spcPct val="150000"/>
                </a:lnSpc>
              </a:pPr>
              <a:r>
                <a:rPr lang="en-IN" sz="1400" dirty="0"/>
                <a:t>NY – 12207, United States</a:t>
              </a:r>
            </a:p>
            <a:p>
              <a:pPr algn="r">
                <a:lnSpc>
                  <a:spcPct val="150000"/>
                </a:lnSpc>
              </a:pPr>
              <a:r>
                <a:rPr lang="en-IN" sz="1400" dirty="0"/>
                <a:t>Tel: +1-518-618-1030</a:t>
              </a:r>
            </a:p>
          </p:txBody>
        </p:sp>
      </p:grpSp>
      <p:pic>
        <p:nvPicPr>
          <p:cNvPr id="62" name="Picture 6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58750" y="123825"/>
            <a:ext cx="1492575" cy="1152525"/>
          </a:xfrm>
          <a:prstGeom prst="rect">
            <a:avLst/>
          </a:prstGeom>
        </p:spPr>
      </p:pic>
      <p:sp>
        <p:nvSpPr>
          <p:cNvPr id="72" name="TextBox 71"/>
          <p:cNvSpPr txBox="1"/>
          <p:nvPr/>
        </p:nvSpPr>
        <p:spPr>
          <a:xfrm>
            <a:off x="1431419" y="2409825"/>
            <a:ext cx="4964822" cy="1107996"/>
          </a:xfrm>
          <a:prstGeom prst="rect">
            <a:avLst/>
          </a:prstGeom>
          <a:noFill/>
        </p:spPr>
        <p:txBody>
          <a:bodyPr wrap="none" rtlCol="0">
            <a:spAutoFit/>
          </a:bodyPr>
          <a:lstStyle/>
          <a:p>
            <a:pPr algn="ctr"/>
            <a:r>
              <a:rPr lang="en-IN" sz="6600" dirty="0">
                <a:solidFill>
                  <a:srgbClr val="0070C0"/>
                </a:solidFill>
                <a:latin typeface="Aclonica" panose="02060503000000020004" pitchFamily="18" charset="0"/>
              </a:rPr>
              <a:t>Thank You</a:t>
            </a:r>
          </a:p>
        </p:txBody>
      </p:sp>
      <p:sp>
        <p:nvSpPr>
          <p:cNvPr id="69" name="Freeform 68"/>
          <p:cNvSpPr/>
          <p:nvPr userDrawn="1"/>
        </p:nvSpPr>
        <p:spPr bwMode="gray">
          <a:xfrm>
            <a:off x="152400" y="6386257"/>
            <a:ext cx="11887200" cy="0"/>
          </a:xfrm>
          <a:custGeom>
            <a:avLst/>
            <a:gdLst>
              <a:gd name="connsiteX0" fmla="*/ 12039600 w 12039600"/>
              <a:gd name="connsiteY0" fmla="*/ 0 h 0"/>
              <a:gd name="connsiteX1" fmla="*/ 0 w 12039600"/>
              <a:gd name="connsiteY1" fmla="*/ 0 h 0"/>
            </a:gdLst>
            <a:ahLst/>
            <a:cxnLst>
              <a:cxn ang="0">
                <a:pos x="connsiteX0" y="connsiteY0"/>
              </a:cxn>
              <a:cxn ang="0">
                <a:pos x="connsiteX1" y="connsiteY1"/>
              </a:cxn>
            </a:cxnLst>
            <a:rect l="l" t="t" r="r" b="b"/>
            <a:pathLst>
              <a:path w="12039600">
                <a:moveTo>
                  <a:pt x="12039600" y="0"/>
                </a:moveTo>
                <a:lnTo>
                  <a:pt x="0" y="0"/>
                </a:lnTo>
              </a:path>
            </a:pathLst>
          </a:custGeom>
          <a:no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GB" sz="1013"/>
          </a:p>
        </p:txBody>
      </p:sp>
      <p:sp>
        <p:nvSpPr>
          <p:cNvPr id="10" name="Slide Number Placeholder 9"/>
          <p:cNvSpPr>
            <a:spLocks noGrp="1"/>
          </p:cNvSpPr>
          <p:nvPr>
            <p:ph type="sldNum" sz="quarter" idx="4"/>
          </p:nvPr>
        </p:nvSpPr>
        <p:spPr/>
        <p:txBody>
          <a:bodyPr/>
          <a:lstStyle/>
          <a:p>
            <a:fld id="{4B17068C-EB94-40A3-A5F2-664CDD77FDAC}" type="slidenum">
              <a:rPr lang="en-GB" smtClean="0"/>
              <a:pPr/>
              <a:t>294</a:t>
            </a:fld>
            <a:endParaRPr lang="en-GB" dirty="0"/>
          </a:p>
        </p:txBody>
      </p:sp>
      <p:sp>
        <p:nvSpPr>
          <p:cNvPr id="74" name="Rectangle 73"/>
          <p:cNvSpPr/>
          <p:nvPr/>
        </p:nvSpPr>
        <p:spPr bwMode="gray">
          <a:xfrm>
            <a:off x="4409641" y="6503175"/>
            <a:ext cx="3372718" cy="169277"/>
          </a:xfrm>
          <a:prstGeom prst="rect">
            <a:avLst/>
          </a:prstGeom>
        </p:spPr>
        <p:txBody>
          <a:bodyPr wrap="none" lIns="0" tIns="0" rIns="0" bIns="0">
            <a:spAutoFit/>
          </a:bodyPr>
          <a:lstStyle/>
          <a:p>
            <a:pPr algn="ctr">
              <a:spcBef>
                <a:spcPts val="200"/>
              </a:spcBef>
              <a:spcAft>
                <a:spcPts val="200"/>
              </a:spcAft>
              <a:tabLst>
                <a:tab pos="931344" algn="l"/>
              </a:tabLst>
              <a:defRPr/>
            </a:pPr>
            <a:r>
              <a:rPr lang="en-US" sz="1100" dirty="0">
                <a:solidFill>
                  <a:schemeClr val="tx1"/>
                </a:solidFill>
                <a:ea typeface="ＭＳ Ｐゴシック" charset="0"/>
              </a:rPr>
              <a:t>©2026 Transparency Market Research, All Rights Reserved</a:t>
            </a:r>
            <a:endParaRPr lang="en-GB" sz="1100" dirty="0">
              <a:solidFill>
                <a:schemeClr val="tx1"/>
              </a:solidFill>
              <a:ea typeface="ＭＳ Ｐゴシック" charset="0"/>
            </a:endParaRPr>
          </a:p>
        </p:txBody>
      </p:sp>
    </p:spTree>
    <p:extLst>
      <p:ext uri="{BB962C8B-B14F-4D97-AF65-F5344CB8AC3E}">
        <p14:creationId xmlns:p14="http://schemas.microsoft.com/office/powerpoint/2010/main" val="4291448838"/>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NAME" val="Bracket"/>
</p:tagLst>
</file>

<file path=ppt/tags/tag2.xml><?xml version="1.0" encoding="utf-8"?>
<p:tagLst xmlns:a="http://schemas.openxmlformats.org/drawingml/2006/main" xmlns:r="http://schemas.openxmlformats.org/officeDocument/2006/relationships" xmlns:p="http://schemas.openxmlformats.org/presentationml/2006/main">
  <p:tag name="NAME" val="Bracket"/>
</p:tagLst>
</file>

<file path=ppt/tags/tag3.xml><?xml version="1.0" encoding="utf-8"?>
<p:tagLst xmlns:a="http://schemas.openxmlformats.org/drawingml/2006/main" xmlns:r="http://schemas.openxmlformats.org/officeDocument/2006/relationships" xmlns:p="http://schemas.openxmlformats.org/presentationml/2006/main">
  <p:tag name="NAME" val="Bracket"/>
</p:tagLst>
</file>

<file path=ppt/tags/tag4.xml><?xml version="1.0" encoding="utf-8"?>
<p:tagLst xmlns:a="http://schemas.openxmlformats.org/drawingml/2006/main" xmlns:r="http://schemas.openxmlformats.org/officeDocument/2006/relationships" xmlns:p="http://schemas.openxmlformats.org/presentationml/2006/main">
  <p:tag name="NAME" val="Rectangle"/>
</p:tagLst>
</file>

<file path=ppt/tags/tag5.xml><?xml version="1.0" encoding="utf-8"?>
<p:tagLst xmlns:a="http://schemas.openxmlformats.org/drawingml/2006/main" xmlns:r="http://schemas.openxmlformats.org/officeDocument/2006/relationships" xmlns:p="http://schemas.openxmlformats.org/presentationml/2006/main">
  <p:tag name="NAME" val="Rectangle"/>
</p:tagLst>
</file>

<file path=ppt/tags/tag6.xml><?xml version="1.0" encoding="utf-8"?>
<p:tagLst xmlns:a="http://schemas.openxmlformats.org/drawingml/2006/main" xmlns:r="http://schemas.openxmlformats.org/officeDocument/2006/relationships" xmlns:p="http://schemas.openxmlformats.org/presentationml/2006/main">
  <p:tag name="NAME" val="Rectangle"/>
</p:tagLst>
</file>

<file path=ppt/theme/theme1.xml><?xml version="1.0" encoding="utf-8"?>
<a:theme xmlns:a="http://schemas.openxmlformats.org/drawingml/2006/main" name="Office Theme">
  <a:themeElements>
    <a:clrScheme name="Custom 63">
      <a:dk1>
        <a:sysClr val="windowText" lastClr="000000"/>
      </a:dk1>
      <a:lt1>
        <a:sysClr val="window" lastClr="FFFFFF"/>
      </a:lt1>
      <a:dk2>
        <a:srgbClr val="000000"/>
      </a:dk2>
      <a:lt2>
        <a:srgbClr val="F8F8F8"/>
      </a:lt2>
      <a:accent1>
        <a:srgbClr val="2A5F8F"/>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04 Industrial Automation and Equipment (11-7.5)" id="{1C17778F-F60E-4B7A-AE35-70DFACFDF481}" vid="{D611546B-C9A6-49FA-8227-EDD08FC62C7D}"/>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Custom 7">
    <a:dk1>
      <a:sysClr val="windowText" lastClr="000000"/>
    </a:dk1>
    <a:lt1>
      <a:sysClr val="window" lastClr="FFFFFF"/>
    </a:lt1>
    <a:dk2>
      <a:srgbClr val="000000"/>
    </a:dk2>
    <a:lt2>
      <a:srgbClr val="F8F8F8"/>
    </a:lt2>
    <a:accent1>
      <a:srgbClr val="134883"/>
    </a:accent1>
    <a:accent2>
      <a:srgbClr val="51652D"/>
    </a:accent2>
    <a:accent3>
      <a:srgbClr val="E76F24"/>
    </a:accent3>
    <a:accent4>
      <a:srgbClr val="A13234"/>
    </a:accent4>
    <a:accent5>
      <a:srgbClr val="646464"/>
    </a:accent5>
    <a:accent6>
      <a:srgbClr val="5097E6"/>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8.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9.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0.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1.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2.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3.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4.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5.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6.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7.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8.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9.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0.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1.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2.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3.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4.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5.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6.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7.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8.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9.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0.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1.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2.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3.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4.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5.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6.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7.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8.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9.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0.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1.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2.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3.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4.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5.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6.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7.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8.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9.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0.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1.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2.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3.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4.xml><?xml version="1.0" encoding="utf-8"?>
<a:themeOverride xmlns:a="http://schemas.openxmlformats.org/drawingml/2006/main">
  <a:clrScheme name="Custom 1">
    <a:dk1>
      <a:sysClr val="windowText" lastClr="000000"/>
    </a:dk1>
    <a:lt1>
      <a:sysClr val="window" lastClr="FFFFFF"/>
    </a:lt1>
    <a:dk2>
      <a:srgbClr val="000000"/>
    </a:dk2>
    <a:lt2>
      <a:srgbClr val="F8F8F8"/>
    </a:lt2>
    <a:accent1>
      <a:srgbClr val="3D85C6"/>
    </a:accent1>
    <a:accent2>
      <a:srgbClr val="FFCD00"/>
    </a:accent2>
    <a:accent3>
      <a:srgbClr val="7A63AB"/>
    </a:accent3>
    <a:accent4>
      <a:srgbClr val="09BDDD"/>
    </a:accent4>
    <a:accent5>
      <a:srgbClr val="EA7926"/>
    </a:accent5>
    <a:accent6>
      <a:srgbClr val="B0BC25"/>
    </a:accent6>
    <a:hlink>
      <a:srgbClr val="5F5F5F"/>
    </a:hlink>
    <a:folHlink>
      <a:srgbClr val="919191"/>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5.xml><?xml version="1.0" encoding="utf-8"?>
<a:themeOverride xmlns:a="http://schemas.openxmlformats.org/drawingml/2006/main">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6.xml><?xml version="1.0" encoding="utf-8"?>
<a:themeOverride xmlns:a="http://schemas.openxmlformats.org/drawingml/2006/main">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7.xml><?xml version="1.0" encoding="utf-8"?>
<a:themeOverride xmlns:a="http://schemas.openxmlformats.org/drawingml/2006/main">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8.xml><?xml version="1.0" encoding="utf-8"?>
<a:themeOverride xmlns:a="http://schemas.openxmlformats.org/drawingml/2006/main">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9.xml><?xml version="1.0" encoding="utf-8"?>
<a:themeOverride xmlns:a="http://schemas.openxmlformats.org/drawingml/2006/main">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0.xml><?xml version="1.0" encoding="utf-8"?>
<a:themeOverride xmlns:a="http://schemas.openxmlformats.org/drawingml/2006/main">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1.xml><?xml version="1.0" encoding="utf-8"?>
<a:themeOverride xmlns:a="http://schemas.openxmlformats.org/drawingml/2006/main">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2.xml><?xml version="1.0" encoding="utf-8"?>
<a:themeOverride xmlns:a="http://schemas.openxmlformats.org/drawingml/2006/main">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3.xml><?xml version="1.0" encoding="utf-8"?>
<a:themeOverride xmlns:a="http://schemas.openxmlformats.org/drawingml/2006/main">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DB9541C8503913408DE0005F388027E8" ma:contentTypeVersion="13" ma:contentTypeDescription="Create a new document." ma:contentTypeScope="" ma:versionID="a16d9d3e5a4fb20b4e042d00905e08ab">
  <xsd:schema xmlns:xsd="http://www.w3.org/2001/XMLSchema" xmlns:xs="http://www.w3.org/2001/XMLSchema" xmlns:p="http://schemas.microsoft.com/office/2006/metadata/properties" xmlns:ns3="51c8d5d3-71e3-4ffb-aced-99ef4ffe00be" xmlns:ns4="ff7e6f24-fa79-45ca-9496-723ded77f31d" targetNamespace="http://schemas.microsoft.com/office/2006/metadata/properties" ma:root="true" ma:fieldsID="33b6862478cf180c9611984e2664f24c" ns3:_="" ns4:_="">
    <xsd:import namespace="51c8d5d3-71e3-4ffb-aced-99ef4ffe00be"/>
    <xsd:import namespace="ff7e6f24-fa79-45ca-9496-723ded77f31d"/>
    <xsd:element name="properties">
      <xsd:complexType>
        <xsd:sequence>
          <xsd:element name="documentManagement">
            <xsd:complexType>
              <xsd:all>
                <xsd:element ref="ns3:_activity" minOccurs="0"/>
                <xsd:element ref="ns4:SharedWithUsers" minOccurs="0"/>
                <xsd:element ref="ns4:SharedWithDetails" minOccurs="0"/>
                <xsd:element ref="ns4:SharingHintHash" minOccurs="0"/>
                <xsd:element ref="ns3:MediaServiceMetadata" minOccurs="0"/>
                <xsd:element ref="ns3:MediaServiceFastMetadata" minOccurs="0"/>
                <xsd:element ref="ns3:MediaServiceObjectDetectorVersions" minOccurs="0"/>
                <xsd:element ref="ns3:MediaServiceSystemTags" minOccurs="0"/>
                <xsd:element ref="ns3:MediaServiceOCR" minOccurs="0"/>
                <xsd:element ref="ns3:MediaServiceGenerationTime" minOccurs="0"/>
                <xsd:element ref="ns3:MediaServiceEventHashCode"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1c8d5d3-71e3-4ffb-aced-99ef4ffe00be" elementFormDefault="qualified">
    <xsd:import namespace="http://schemas.microsoft.com/office/2006/documentManagement/types"/>
    <xsd:import namespace="http://schemas.microsoft.com/office/infopath/2007/PartnerControls"/>
    <xsd:element name="_activity" ma:index="8" nillable="true" ma:displayName="_activity" ma:hidden="true" ma:internalName="_activity">
      <xsd:simpleType>
        <xsd:restriction base="dms:Note"/>
      </xsd:simpleType>
    </xsd:element>
    <xsd:element name="MediaServiceMetadata" ma:index="12" nillable="true" ma:displayName="MediaServiceMetadata" ma:hidden="true" ma:internalName="MediaServiceMetadata" ma:readOnly="true">
      <xsd:simpleType>
        <xsd:restriction base="dms:Note"/>
      </xsd:simpleType>
    </xsd:element>
    <xsd:element name="MediaServiceFastMetadata" ma:index="13" nillable="true" ma:displayName="MediaServiceFastMetadata" ma:hidden="true" ma:internalName="MediaServiceFastMetadata" ma:readOnly="true">
      <xsd:simpleType>
        <xsd:restriction base="dms:Note"/>
      </xsd:simpleType>
    </xsd:element>
    <xsd:element name="MediaServiceObjectDetectorVersions" ma:index="14" nillable="true" ma:displayName="MediaServiceObjectDetectorVersions" ma:hidden="true" ma:indexed="true" ma:internalName="MediaServiceObjectDetectorVersions" ma:readOnly="true">
      <xsd:simpleType>
        <xsd:restriction base="dms:Text"/>
      </xsd:simpleType>
    </xsd:element>
    <xsd:element name="MediaServiceSystemTags" ma:index="15" nillable="true" ma:displayName="MediaServiceSystemTags" ma:hidden="true" ma:internalName="MediaServiceSystemTags" ma:readOnly="true">
      <xsd:simpleType>
        <xsd:restriction base="dms:Note"/>
      </xsd:simpleType>
    </xsd:element>
    <xsd:element name="MediaServiceOCR" ma:index="16" nillable="true" ma:displayName="Extracted Text" ma:internalName="MediaServiceOCR" ma:readOnly="true">
      <xsd:simpleType>
        <xsd:restriction base="dms:Note">
          <xsd:maxLength value="255"/>
        </xsd:restriction>
      </xsd:simpleType>
    </xsd:element>
    <xsd:element name="MediaServiceGenerationTime" ma:index="17" nillable="true" ma:displayName="MediaServiceGenerationTime" ma:hidden="true" ma:internalName="MediaServiceGenerationTime" ma:readOnly="true">
      <xsd:simpleType>
        <xsd:restriction base="dms:Text"/>
      </xsd:simpleType>
    </xsd:element>
    <xsd:element name="MediaServiceEventHashCode" ma:index="18" nillable="true" ma:displayName="MediaServiceEventHashCode" ma:hidden="true" ma:internalName="MediaServiceEventHashCode" ma:readOnly="true">
      <xsd:simpleType>
        <xsd:restriction base="dms:Text"/>
      </xsd:simpleType>
    </xsd:element>
    <xsd:element name="MediaServiceSearchProperties" ma:index="19" nillable="true" ma:displayName="MediaServiceSearchProperties" ma:hidden="true" ma:internalName="MediaServiceSearchProperties" ma:readOnly="true">
      <xsd:simpleType>
        <xsd:restriction base="dms:Note"/>
      </xsd:simpleType>
    </xsd:element>
    <xsd:element name="MediaServiceDateTaken" ma:index="20" nillable="true" ma:displayName="MediaServiceDateTaken" ma:hidden="true" ma:indexed="true" ma:internalName="MediaServiceDateTake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ff7e6f24-fa79-45ca-9496-723ded77f31d" elementFormDefault="qualified">
    <xsd:import namespace="http://schemas.microsoft.com/office/2006/documentManagement/types"/>
    <xsd:import namespace="http://schemas.microsoft.com/office/infopath/2007/PartnerControls"/>
    <xsd:element name="SharedWithUsers" ma:index="9"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0" nillable="true" ma:displayName="Shared With Details" ma:internalName="SharedWithDetails" ma:readOnly="true">
      <xsd:simpleType>
        <xsd:restriction base="dms:Note">
          <xsd:maxLength value="255"/>
        </xsd:restriction>
      </xsd:simpleType>
    </xsd:element>
    <xsd:element name="SharingHintHash" ma:index="11" nillable="true" ma:displayName="Sharing Hint Hash" ma:hidden="true" ma:internalName="SharingHintHash"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_activity xmlns="51c8d5d3-71e3-4ffb-aced-99ef4ffe00be" xsi:nil="true"/>
  </documentManagement>
</p:properties>
</file>

<file path=customXml/itemProps1.xml><?xml version="1.0" encoding="utf-8"?>
<ds:datastoreItem xmlns:ds="http://schemas.openxmlformats.org/officeDocument/2006/customXml" ds:itemID="{9D45A0A3-B432-4755-A257-5D20933C7E2A}">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51c8d5d3-71e3-4ffb-aced-99ef4ffe00be"/>
    <ds:schemaRef ds:uri="ff7e6f24-fa79-45ca-9496-723ded77f31d"/>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222E9FD2-DF61-4916-BE9B-82DCF5DFAF27}">
  <ds:schemaRefs>
    <ds:schemaRef ds:uri="http://schemas.microsoft.com/sharepoint/v3/contenttype/forms"/>
  </ds:schemaRefs>
</ds:datastoreItem>
</file>

<file path=customXml/itemProps3.xml><?xml version="1.0" encoding="utf-8"?>
<ds:datastoreItem xmlns:ds="http://schemas.openxmlformats.org/officeDocument/2006/customXml" ds:itemID="{79A5C4A3-06F1-4434-AE35-528BDFF1C97C}">
  <ds:schemaRefs>
    <ds:schemaRef ds:uri="http://schemas.microsoft.com/office/2006/metadata/properties"/>
    <ds:schemaRef ds:uri="http://www.w3.org/XML/1998/namespace"/>
    <ds:schemaRef ds:uri="http://purl.org/dc/elements/1.1/"/>
    <ds:schemaRef ds:uri="http://purl.org/dc/dcmitype/"/>
    <ds:schemaRef ds:uri="http://purl.org/dc/terms/"/>
    <ds:schemaRef ds:uri="ff7e6f24-fa79-45ca-9496-723ded77f31d"/>
    <ds:schemaRef ds:uri="http://schemas.microsoft.com/office/2006/documentManagement/types"/>
    <ds:schemaRef ds:uri="http://schemas.microsoft.com/office/infopath/2007/PartnerControls"/>
    <ds:schemaRef ds:uri="http://schemas.openxmlformats.org/package/2006/metadata/core-properties"/>
    <ds:schemaRef ds:uri="51c8d5d3-71e3-4ffb-aced-99ef4ffe00be"/>
  </ds:schemaRefs>
</ds:datastoreItem>
</file>

<file path=docProps/app.xml><?xml version="1.0" encoding="utf-8"?>
<Properties xmlns="http://schemas.openxmlformats.org/officeDocument/2006/extended-properties" xmlns:vt="http://schemas.openxmlformats.org/officeDocument/2006/docPropsVTypes">
  <Template>#04 Industrial Automation and Equipment (11-7.5)</Template>
  <TotalTime>2457</TotalTime>
  <Words>41285</Words>
  <Application>Microsoft Office PowerPoint</Application>
  <PresentationFormat>Widescreen</PresentationFormat>
  <Paragraphs>17247</Paragraphs>
  <Slides>294</Slides>
  <Notes>56</Notes>
  <HiddenSlides>0</HiddenSlides>
  <MMClips>0</MMClips>
  <ScaleCrop>false</ScaleCrop>
  <HeadingPairs>
    <vt:vector size="6" baseType="variant">
      <vt:variant>
        <vt:lpstr>Fonts Used</vt:lpstr>
      </vt:variant>
      <vt:variant>
        <vt:i4>22</vt:i4>
      </vt:variant>
      <vt:variant>
        <vt:lpstr>Theme</vt:lpstr>
      </vt:variant>
      <vt:variant>
        <vt:i4>1</vt:i4>
      </vt:variant>
      <vt:variant>
        <vt:lpstr>Slide Titles</vt:lpstr>
      </vt:variant>
      <vt:variant>
        <vt:i4>294</vt:i4>
      </vt:variant>
    </vt:vector>
  </HeadingPairs>
  <TitlesOfParts>
    <vt:vector size="317" baseType="lpstr">
      <vt:lpstr>Malgun Gothic</vt:lpstr>
      <vt:lpstr>ＭＳ Ｐゴシック</vt:lpstr>
      <vt:lpstr>Aclonica</vt:lpstr>
      <vt:lpstr>Agency FB</vt:lpstr>
      <vt:lpstr>Aharoni</vt:lpstr>
      <vt:lpstr>Arial</vt:lpstr>
      <vt:lpstr>Arial Black</vt:lpstr>
      <vt:lpstr>Bookman Old Style</vt:lpstr>
      <vt:lpstr>Calibri</vt:lpstr>
      <vt:lpstr>Calibri Light</vt:lpstr>
      <vt:lpstr>Candara</vt:lpstr>
      <vt:lpstr>Candara Light</vt:lpstr>
      <vt:lpstr>Century Gothic</vt:lpstr>
      <vt:lpstr>Century Schoolbook</vt:lpstr>
      <vt:lpstr>Copperplate Gothic Light</vt:lpstr>
      <vt:lpstr>Courier New</vt:lpstr>
      <vt:lpstr>Franklin Gothic Book</vt:lpstr>
      <vt:lpstr>FrankRuehl</vt:lpstr>
      <vt:lpstr>Georgia</vt:lpstr>
      <vt:lpstr>Gill Sans MT</vt:lpstr>
      <vt:lpstr>Lao UI</vt:lpstr>
      <vt:lpstr>Wingdings</vt:lpstr>
      <vt:lpstr>Office Theme</vt:lpstr>
      <vt:lpstr>Target Market</vt:lpstr>
      <vt:lpstr>Table of Content (1/15)</vt:lpstr>
      <vt:lpstr>PowerPoint Presentation</vt:lpstr>
      <vt:lpstr>Executive Summary: Global Market Outlook (1/4)</vt:lpstr>
      <vt:lpstr>Executive Summary: Supply Side Trends (2/4)</vt:lpstr>
      <vt:lpstr>Executive Summary: Demand-Side Trends (3/4)</vt:lpstr>
      <vt:lpstr>Executive Summary: Analysis and Recommendation (4/4)</vt:lpstr>
      <vt:lpstr>Scenario Outlook</vt:lpstr>
      <vt:lpstr>PowerPoint Presentation</vt:lpstr>
      <vt:lpstr>Market Taxonomy – Segment Coverage </vt:lpstr>
      <vt:lpstr>Market Definition : WXYZ (1/4)</vt:lpstr>
      <vt:lpstr>Competition Coverage – List of Market Participants</vt:lpstr>
      <vt:lpstr>PowerPoint Presentation</vt:lpstr>
      <vt:lpstr>Market Dynamics : Trend (1/2)</vt:lpstr>
      <vt:lpstr>PowerPoint Presentation</vt:lpstr>
      <vt:lpstr>Key Success Factors </vt:lpstr>
      <vt:lpstr>Key Success Factors </vt:lpstr>
      <vt:lpstr>Key Success Factors</vt:lpstr>
      <vt:lpstr>PowerPoint Presentation</vt:lpstr>
      <vt:lpstr>Global WXYZ Volume Analysis</vt:lpstr>
      <vt:lpstr>PowerPoint Presentation</vt:lpstr>
      <vt:lpstr>Pricing Analysis, 2023A</vt:lpstr>
      <vt:lpstr>Pricing Analysis, 2023A</vt:lpstr>
      <vt:lpstr>Cost Teardown Analysis</vt:lpstr>
      <vt:lpstr>Product Type: Pricing Analysis, 2019-2034</vt:lpstr>
      <vt:lpstr>PowerPoint Presentation</vt:lpstr>
      <vt:lpstr>Global WXYZ Market Value Analysis</vt:lpstr>
      <vt:lpstr>PowerPoint Presentation</vt:lpstr>
      <vt:lpstr>PowerPoint Presentation</vt:lpstr>
      <vt:lpstr>Macro-Economic Factors: Global Economic Outlook</vt:lpstr>
      <vt:lpstr>Macro-Economic Factors: Real GDP Growth</vt:lpstr>
      <vt:lpstr>Macro-Economic Factors: Manufacturing Value Added by Key Countries</vt:lpstr>
      <vt:lpstr>Macro-Economic Factors: Industry Value Added By Key Countries China has remain a global hub in the manufacturing sector in the past years and is anticipated to dominate the global manufacturing sector in the coming years</vt:lpstr>
      <vt:lpstr>Macro-economic Factors: Global Population Overview Increased population will lead to a rise in the demand WXYZ products which is used in paint, construction, electronics industry.</vt:lpstr>
      <vt:lpstr>Macro-Economic Factors: Global Oil &amp; Gas Consumption Forecast Outlook</vt:lpstr>
      <vt:lpstr>Global Crude Oil Production and Demand Overview </vt:lpstr>
      <vt:lpstr>Macro-economic Factors: Global Fiber Production Overview </vt:lpstr>
      <vt:lpstr>Macro-economic Factors: Global Textile Production, by Country</vt:lpstr>
      <vt:lpstr>Macroeconomic Factors: Global Chemical Sales Overview</vt:lpstr>
      <vt:lpstr>Food and Beverages Industry Overview </vt:lpstr>
      <vt:lpstr>Macro-Economic Factors: Global Military Expenditure Outlook</vt:lpstr>
      <vt:lpstr>Global Agriculture Sector Outlook</vt:lpstr>
      <vt:lpstr>Global Automotive Industry Overview</vt:lpstr>
      <vt:lpstr>Macroeconomic Factor: Automotive Garages Outlook</vt:lpstr>
      <vt:lpstr>Electric Vehicle Projection</vt:lpstr>
      <vt:lpstr>Macroeconomic Factors </vt:lpstr>
      <vt:lpstr>Macroeconomic Factors: Automation Analysis</vt:lpstr>
      <vt:lpstr>Macro-Economic Factors: Manufacturing Outlook </vt:lpstr>
      <vt:lpstr>PowerPoint Presentation</vt:lpstr>
      <vt:lpstr>Forecast Factors: Relevance and Impact (1/2)</vt:lpstr>
      <vt:lpstr>Forecast Factors: Relevance and Impact (2/2)</vt:lpstr>
      <vt:lpstr>PowerPoint Presentation</vt:lpstr>
      <vt:lpstr>Global WXYZ Market: Value Chain Analysis</vt:lpstr>
      <vt:lpstr>Global WXYZ Market: Value Chain Analysis</vt:lpstr>
      <vt:lpstr>Global WXYZ Market: Value Chain Analysis</vt:lpstr>
      <vt:lpstr>Global WXYZ Market: Value Chain Analysis</vt:lpstr>
      <vt:lpstr>WXYZ Market : List of Raw Material Suppliers</vt:lpstr>
      <vt:lpstr>WXYZ Market : List of Manufacturers</vt:lpstr>
      <vt:lpstr>WXYZ Market : List of Distributors</vt:lpstr>
      <vt:lpstr>WXYZ Market: List of Probable End Users</vt:lpstr>
      <vt:lpstr>PowerPoint Presentation</vt:lpstr>
      <vt:lpstr>Global Economy – Pre and Post COVID-19</vt:lpstr>
      <vt:lpstr>Impact of COVID–19 Crisis on WXYZ Market </vt:lpstr>
      <vt:lpstr>COVID – 19 Impact By Region</vt:lpstr>
      <vt:lpstr>COVID – 19 Impact Assessment</vt:lpstr>
      <vt:lpstr>PowerPoint Presentation</vt:lpstr>
      <vt:lpstr>Market Dynamics – Driver, Restraint Analysis</vt:lpstr>
      <vt:lpstr>Market Dynamics : Driver (1/3)</vt:lpstr>
      <vt:lpstr>Market Dynamics : Restraint (1/2)</vt:lpstr>
      <vt:lpstr>Market Dynamics : Opportunity (1/2)</vt:lpstr>
      <vt:lpstr>PowerPoint Presentation</vt:lpstr>
      <vt:lpstr>Global Supply Demand Overview</vt:lpstr>
      <vt:lpstr>PowerPoint Presentation</vt:lpstr>
      <vt:lpstr>Regulatory Impact: WXYZ (1/4)</vt:lpstr>
      <vt:lpstr>PowerPoint Presentation</vt:lpstr>
      <vt:lpstr>Parent Market Overview</vt:lpstr>
      <vt:lpstr>PowerPoint Presentation</vt:lpstr>
      <vt:lpstr>Key Developments (1/2)</vt:lpstr>
      <vt:lpstr>PowerPoint Presentation</vt:lpstr>
      <vt:lpstr>Patent Overview (1/4)</vt:lpstr>
      <vt:lpstr>PowerPoint Presentation</vt:lpstr>
      <vt:lpstr>Porter’s Five Forces Analysis</vt:lpstr>
      <vt:lpstr>PEST Analysis – Political (1/4)</vt:lpstr>
      <vt:lpstr>PowerPoint Presentation</vt:lpstr>
      <vt:lpstr>WXYZ – Global import volume by key countries </vt:lpstr>
      <vt:lpstr>WXYZ – Global export volume by key countries </vt:lpstr>
      <vt:lpstr>Trade Scenario: Export Analysis (1/4)</vt:lpstr>
      <vt:lpstr>PowerPoint Presentation</vt:lpstr>
      <vt:lpstr>Production Process of WXYZ</vt:lpstr>
      <vt:lpstr>PowerPoint Presentation</vt:lpstr>
      <vt:lpstr>Global WXYZ Market: Introduction By Category-A</vt:lpstr>
      <vt:lpstr>Global WXYZ Market: Introduction By Category-A</vt:lpstr>
      <vt:lpstr>Global WXYZ Market: Introduction By Category-A</vt:lpstr>
      <vt:lpstr>Global WXYZ Market: Introduction By Category-A</vt:lpstr>
      <vt:lpstr>Global WXYZ Market: Introduction By Category-A</vt:lpstr>
      <vt:lpstr>Global WXYZ Market: Introduction By Category-A</vt:lpstr>
      <vt:lpstr>Global WXYZ Market: Introduction By Category-A</vt:lpstr>
      <vt:lpstr>Global WXYZ Market: Introduction By Category-A</vt:lpstr>
      <vt:lpstr>Global WXYZ Market: Introduction By Category-A</vt:lpstr>
      <vt:lpstr>Global WXYZ Market Analysis By Category-A</vt:lpstr>
      <vt:lpstr>Global WXYZ Market Analysis By Category-A</vt:lpstr>
      <vt:lpstr>Global WXYZ Market Analysis By Category-A</vt:lpstr>
      <vt:lpstr>Global WXYZ Market Analysis By Category-A</vt:lpstr>
      <vt:lpstr>Global WXYZ Market Absolute $ Opportunity By Category-A</vt:lpstr>
      <vt:lpstr>Global WXYZ Market Absolute $ Opportunity By Category-A</vt:lpstr>
      <vt:lpstr>Global WXYZ Market Absolute $ Opportunity By Category-A</vt:lpstr>
      <vt:lpstr>Global WXYZ Market Absolute $ Opportunity By Category-A</vt:lpstr>
      <vt:lpstr>PowerPoint Presentation</vt:lpstr>
      <vt:lpstr>Global WXYZ Market: Introduction By Category-B</vt:lpstr>
      <vt:lpstr>Global WXYZ Market: Introduction By Category-B</vt:lpstr>
      <vt:lpstr>Global WXYZ Market: Introduction By Category-B</vt:lpstr>
      <vt:lpstr>Global WXYZ Market: Introduction By Category-B</vt:lpstr>
      <vt:lpstr>Global WXYZ Market: Introduction By Category-B</vt:lpstr>
      <vt:lpstr>Global WXYZ Market: Introduction By Category-B</vt:lpstr>
      <vt:lpstr>Global WXYZ Market: Introduction By Category-B</vt:lpstr>
      <vt:lpstr>Global WXYZ Market: Introduction By Category-B</vt:lpstr>
      <vt:lpstr>Global WXYZ Market: Introduction By Category-B</vt:lpstr>
      <vt:lpstr>Global WXYZ Market Analysis By Category-B</vt:lpstr>
      <vt:lpstr>Global WXYZ Market Analysis By Category-B</vt:lpstr>
      <vt:lpstr>Global WXYZ Market Analysis By Category-B</vt:lpstr>
      <vt:lpstr>Global WXYZ Market Analysis By Category-B</vt:lpstr>
      <vt:lpstr>Global WXYZ Market Absolute $ Opportunity By Category-B</vt:lpstr>
      <vt:lpstr>Global WXYZ Market Absolute $ Opportunity By Category-B</vt:lpstr>
      <vt:lpstr>Global WXYZ Market Absolute $ Opportunity By Category-B</vt:lpstr>
      <vt:lpstr>Global WXYZ Market Absolute $ Opportunity By Category-B</vt:lpstr>
      <vt:lpstr>PowerPoint Presentation</vt:lpstr>
      <vt:lpstr>Global WXYZ Market: Introduction By Category-C</vt:lpstr>
      <vt:lpstr>Global WXYZ Market: Introduction By Category-C</vt:lpstr>
      <vt:lpstr>Global WXYZ Market: Introduction By Category-C</vt:lpstr>
      <vt:lpstr>Global WXYZ Market: Introduction By Category-C</vt:lpstr>
      <vt:lpstr>Global WXYZ Market: Introduction By Category-C</vt:lpstr>
      <vt:lpstr>Global WXYZ Market: Introduction By Category-C</vt:lpstr>
      <vt:lpstr>Global WXYZ Market: Introduction By Category-C</vt:lpstr>
      <vt:lpstr>Global WXYZ Market: Introduction By Category-C</vt:lpstr>
      <vt:lpstr>Global WXYZ Market: Introduction By Category-C</vt:lpstr>
      <vt:lpstr>Global WXYZ Market Analysis By Category-C</vt:lpstr>
      <vt:lpstr>Global WXYZ Market Analysis By Category-C</vt:lpstr>
      <vt:lpstr>Global WXYZ Market Analysis By Category-C</vt:lpstr>
      <vt:lpstr>Global WXYZ Market Analysis By Category-C</vt:lpstr>
      <vt:lpstr>Global WXYZ Market Absolute $ Opportunity By Category-C</vt:lpstr>
      <vt:lpstr>Global WXYZ Market Absolute $ Opportunity By Category-C</vt:lpstr>
      <vt:lpstr>Global WXYZ Market Absolute $ Opportunity By Category-C</vt:lpstr>
      <vt:lpstr>Global WXYZ Market Absolute $ Opportunity By Category-C</vt:lpstr>
      <vt:lpstr>PowerPoint Presentation</vt:lpstr>
      <vt:lpstr>Global WXYZ Market: Introduction By Category-D</vt:lpstr>
      <vt:lpstr>Global WXYZ Market: Introduction By Category-D</vt:lpstr>
      <vt:lpstr>Global WXYZ Market: Introduction By Category-D</vt:lpstr>
      <vt:lpstr>Global WXYZ Market: Introduction By Category-D</vt:lpstr>
      <vt:lpstr>Global WXYZ Market: Introduction By Category-D</vt:lpstr>
      <vt:lpstr>Global WXYZ Market: Introduction By Category-D</vt:lpstr>
      <vt:lpstr>Global WXYZ Market: Introduction By Category-D</vt:lpstr>
      <vt:lpstr>Global WXYZ Market: Introduction By Category-D</vt:lpstr>
      <vt:lpstr>Global WXYZ Market: Introduction By Category-D</vt:lpstr>
      <vt:lpstr>Global WXYZ Market Analysis By Category-D</vt:lpstr>
      <vt:lpstr>Global WXYZ Market Analysis By Category-D</vt:lpstr>
      <vt:lpstr>Global WXYZ Market Analysis By Category-D</vt:lpstr>
      <vt:lpstr>Global WXYZ Market Analysis By Category-D</vt:lpstr>
      <vt:lpstr>Global WXYZ Market Absolute $ Opportunity By Category-D</vt:lpstr>
      <vt:lpstr>Global WXYZ Market Absolute $ Opportunity By Category-D</vt:lpstr>
      <vt:lpstr>Global WXYZ Market Absolute $ Opportunity By Category-D</vt:lpstr>
      <vt:lpstr>Global WXYZ Market Absolute $ Opportunity By Category-D</vt:lpstr>
      <vt:lpstr>PowerPoint Presentation</vt:lpstr>
      <vt:lpstr>Global WXYZ Market: Introduction By Category-E</vt:lpstr>
      <vt:lpstr>Global WXYZ Market: Introduction By Category-E</vt:lpstr>
      <vt:lpstr>Global WXYZ Market: Introduction By Category-E</vt:lpstr>
      <vt:lpstr>Global WXYZ Market: Introduction By Category-E</vt:lpstr>
      <vt:lpstr>Global WXYZ Market: Introduction By Category-E</vt:lpstr>
      <vt:lpstr>Global WXYZ Market: Introduction By Category-E</vt:lpstr>
      <vt:lpstr>Global WXYZ Market: Introduction By Category-E</vt:lpstr>
      <vt:lpstr>Global WXYZ Market: Introduction By Category-E</vt:lpstr>
      <vt:lpstr>Global WXYZ Market: Introduction By Category-E</vt:lpstr>
      <vt:lpstr>Global WXYZ Market Analysis By Category-E</vt:lpstr>
      <vt:lpstr>Global WXYZ Market Analysis By Category-E</vt:lpstr>
      <vt:lpstr>Global WXYZ Market Analysis By Category-E</vt:lpstr>
      <vt:lpstr>Global WXYZ Market Analysis By Category-E</vt:lpstr>
      <vt:lpstr>Global WXYZ Market Absolute $ Opportunity By Category-E</vt:lpstr>
      <vt:lpstr>Global WXYZ Market Absolute $ Opportunity By Category-E</vt:lpstr>
      <vt:lpstr>Global WXYZ Market Absolute $ Opportunity By Category-E</vt:lpstr>
      <vt:lpstr>Global WXYZ Market Absolute $ Opportunity By Category-E</vt:lpstr>
      <vt:lpstr>PowerPoint Presentation</vt:lpstr>
      <vt:lpstr>Global WXYZ Market: Introduction By Category-F</vt:lpstr>
      <vt:lpstr>Global WXYZ Market: Introduction By Category-F</vt:lpstr>
      <vt:lpstr>Global WXYZ Market: Introduction By Category-F</vt:lpstr>
      <vt:lpstr>Global WXYZ Market: Introduction By Category-F</vt:lpstr>
      <vt:lpstr>Global WXYZ Market: Introduction By Category-F</vt:lpstr>
      <vt:lpstr>Global WXYZ Market: Introduction By Category-F</vt:lpstr>
      <vt:lpstr>Global WXYZ Market: Introduction By Category-F</vt:lpstr>
      <vt:lpstr>Global WXYZ Market: Introduction By Category-F</vt:lpstr>
      <vt:lpstr>Global WXYZ Market: Introduction By Category-F</vt:lpstr>
      <vt:lpstr>Global WXYZ Market Analysis By Category-F</vt:lpstr>
      <vt:lpstr>Global WXYZ Market Analysis By Category-F</vt:lpstr>
      <vt:lpstr>Global WXYZ Market Analysis By Category-F</vt:lpstr>
      <vt:lpstr>Global WXYZ Market Analysis By Category-F</vt:lpstr>
      <vt:lpstr>Global WXYZ Market Absolute $ Opportunity By Category-F</vt:lpstr>
      <vt:lpstr>Global WXYZ Market Absolute $ Opportunity By Category-F</vt:lpstr>
      <vt:lpstr>Global WXYZ Market Absolute $ Opportunity By Category-F</vt:lpstr>
      <vt:lpstr>Global WXYZ Market Absolute $ Opportunity By Category-F</vt:lpstr>
      <vt:lpstr>PowerPoint Presentation</vt:lpstr>
      <vt:lpstr>Global WXYZ Market: Introduction By Region</vt:lpstr>
      <vt:lpstr>Global WXYZ Market Analysis By Region</vt:lpstr>
      <vt:lpstr>Global WXYZ Market Analysis By Region</vt:lpstr>
      <vt:lpstr>Global WXYZ Market Analysis By Region</vt:lpstr>
      <vt:lpstr>Global WXYZ Market Absolute $ Opportunity By Region</vt:lpstr>
      <vt:lpstr>Global WXYZ Market Absolute $ Opportunity By Region</vt:lpstr>
      <vt:lpstr>Global WXYZ Market Absolute $ Opportunity By Region</vt:lpstr>
      <vt:lpstr>Global WXYZ Market Absolute $ Opportunity By Region</vt:lpstr>
      <vt:lpstr>PowerPoint Presentation</vt:lpstr>
      <vt:lpstr>Introduction</vt:lpstr>
      <vt:lpstr>North America WXYZ Market Analysis By Country</vt:lpstr>
      <vt:lpstr>North America WXYZ Market Analysis By Country</vt:lpstr>
      <vt:lpstr>North America WXYZ Market Absolute $ Opportunity Analysis By Country</vt:lpstr>
      <vt:lpstr>PowerPoint Presentation</vt:lpstr>
      <vt:lpstr>Introduction</vt:lpstr>
      <vt:lpstr>Latin America WXYZ Market Analysis By Country</vt:lpstr>
      <vt:lpstr>Latin America WXYZ Market Analysis By Country</vt:lpstr>
      <vt:lpstr>Latin America WXYZ Market Absolute $ Opportunity Analysis By Country</vt:lpstr>
      <vt:lpstr>PowerPoint Presentation</vt:lpstr>
      <vt:lpstr>Introduction</vt:lpstr>
      <vt:lpstr> East Asia WXYZ Market Analysis By Country</vt:lpstr>
      <vt:lpstr>East Asia WXYZ Market Analysis By Country</vt:lpstr>
      <vt:lpstr>East Asia WXYZ Market Absolute $ Opportunity Analysis By Country</vt:lpstr>
      <vt:lpstr>PowerPoint Presentation</vt:lpstr>
      <vt:lpstr>Introduction</vt:lpstr>
      <vt:lpstr> South Asia Pacific WXYZ Market Analysis By Country</vt:lpstr>
      <vt:lpstr>South Asia Pacific WXYZ Market Analysis By Country</vt:lpstr>
      <vt:lpstr>South Asia Pacific WXYZ Market Absolute $ Opportunity Analysis By Country</vt:lpstr>
      <vt:lpstr>PowerPoint Presentation</vt:lpstr>
      <vt:lpstr>Introduction</vt:lpstr>
      <vt:lpstr>Western Europe WXYZ Market Analysis By Country</vt:lpstr>
      <vt:lpstr>Western Europe WXYZ Market Analysis By Country</vt:lpstr>
      <vt:lpstr>Western Europe WXYZ Market Absolute $ Opportunity Analysis By Country</vt:lpstr>
      <vt:lpstr>PowerPoint Presentation</vt:lpstr>
      <vt:lpstr>Introduction</vt:lpstr>
      <vt:lpstr>Eastern Europe WXYZ Market Analysis By Country</vt:lpstr>
      <vt:lpstr>Eastern Europe WXYZ Market Analysis By Country</vt:lpstr>
      <vt:lpstr>Eastern Europe WXYZ Market Absolute $ Opportunity Analysis By Country</vt:lpstr>
      <vt:lpstr>PowerPoint Presentation</vt:lpstr>
      <vt:lpstr>Introduction</vt:lpstr>
      <vt:lpstr>Middle East and Africa WXYZ Market Analysis By Country</vt:lpstr>
      <vt:lpstr>Middle East and Africa WXYZ Market Analysis By Country</vt:lpstr>
      <vt:lpstr>Middle East and Africa WXYZ Market Absolute $ Opportunity Analysis By Country</vt:lpstr>
      <vt:lpstr>PowerPoint Presentation</vt:lpstr>
      <vt:lpstr>Country Wise WXYZ Market: Introduction </vt:lpstr>
      <vt:lpstr>North America Country-wise WXYZ Market Size (US$ Mn), 2024 and 2034 (1/7)</vt:lpstr>
      <vt:lpstr>Latin America Country-wise WXYZ Market Size (US$ Mn), 2024 and 2034 (2/7)</vt:lpstr>
      <vt:lpstr>Western Europe Country-wise WXYZ Market Size (US$ Mn), 2024 and 2034 (3/7)</vt:lpstr>
      <vt:lpstr>Eastern Europe Country-wise WXYZ Market Size (US$ Mn), 2024 and 2034 (4/7)</vt:lpstr>
      <vt:lpstr>East Asia Country-wise WXYZ Market Size (US$ Mn), 2024 and 2034 (5/7)</vt:lpstr>
      <vt:lpstr>South Asia Pacific Country-wise WXYZ Market Size (US$ Mn), 2024 and 2034 (6/7)</vt:lpstr>
      <vt:lpstr>Middle East and Africa Country-wise WXYZ Market Size (US$ Mn), 2024 and 2034 (7/7)</vt:lpstr>
      <vt:lpstr>PowerPoint Presentation</vt:lpstr>
      <vt:lpstr>Market Concentration Analysis</vt:lpstr>
      <vt:lpstr>WXYZ Market Concentration by Top Players (2023)</vt:lpstr>
      <vt:lpstr>WXYZ Value Share Analysis By Companies (2023)</vt:lpstr>
      <vt:lpstr>WXYZ Market: Tier Structure Analysis</vt:lpstr>
      <vt:lpstr>Key Players Product Mapping</vt:lpstr>
      <vt:lpstr>Key Players Brand Mapping</vt:lpstr>
      <vt:lpstr>Competition Developments – Summary of Findings</vt:lpstr>
      <vt:lpstr>PowerPoint Presentation</vt:lpstr>
      <vt:lpstr>PowerPoint Presentation</vt:lpstr>
      <vt:lpstr>Competition Dashboard</vt:lpstr>
      <vt:lpstr>CompanyA: Company Overview (1/3)</vt:lpstr>
      <vt:lpstr>CompanyA: Financials (2/3)</vt:lpstr>
      <vt:lpstr>CompanyA: SWOT and Strategy Analysis (3/3)</vt:lpstr>
      <vt:lpstr>CompanyB: Company Overview (1/3)</vt:lpstr>
      <vt:lpstr>CompanyC: Company Overview (1/3)</vt:lpstr>
      <vt:lpstr>CompanyD: Company Overview (1/3)</vt:lpstr>
      <vt:lpstr>CompanyE: Company Overview (1/3)</vt:lpstr>
      <vt:lpstr>CompanyF: Company Overview (1/3)</vt:lpstr>
      <vt:lpstr>CompanyG: Company Overview (1/3)</vt:lpstr>
      <vt:lpstr>CompanyH: Company Overview (1/3)</vt:lpstr>
      <vt:lpstr>CompanyI: Company Overview (1/3)</vt:lpstr>
      <vt:lpstr>CompanyJ: Company Overview (1/3)</vt:lpstr>
      <vt:lpstr>CompanyK: Company Overview (1/3)</vt:lpstr>
      <vt:lpstr>CompanyL: Company Overview (1/3)</vt:lpstr>
      <vt:lpstr>CompanyM: Company Overview (1/3)</vt:lpstr>
      <vt:lpstr>CompanyN: Company Overview (1/3)</vt:lpstr>
      <vt:lpstr>CompanyO: Company Overview (1/3)</vt:lpstr>
      <vt:lpstr>CompanyP: Company Overview (1/3)</vt:lpstr>
      <vt:lpstr>CompanyQ: Company Overview (1/3)</vt:lpstr>
      <vt:lpstr>CompanyR: Company Overview (1/3)</vt:lpstr>
      <vt:lpstr>CompanyS: Company Overview (1/3)</vt:lpstr>
      <vt:lpstr>CompanyT: Company Overview (1/3)</vt:lpstr>
      <vt:lpstr>PowerPoint Presentation</vt:lpstr>
      <vt:lpstr>Assumptions &amp; Acronyms Used</vt:lpstr>
      <vt:lpstr>Primary Research Overview (1/3) </vt:lpstr>
      <vt:lpstr>Questionnaire</vt:lpstr>
      <vt:lpstr>PowerPoint Presentation</vt:lpstr>
      <vt:lpstr>Research Methodology (1/3)</vt:lpstr>
      <vt:lpstr>Research Methodology (2/3)</vt:lpstr>
      <vt:lpstr>Research Methodology</vt:lpstr>
      <vt:lpstr>Research Approach – Revenue Side Analysis</vt:lpstr>
      <vt:lpstr>Research Methodology</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Industrial Automation and Equipment</dc:title>
  <dc:creator>Hiteshwar Gurung</dc:creator>
  <cp:lastModifiedBy>Dispatch</cp:lastModifiedBy>
  <cp:revision>691</cp:revision>
  <dcterms:created xsi:type="dcterms:W3CDTF">2022-05-23T08:22:43Z</dcterms:created>
  <dcterms:modified xsi:type="dcterms:W3CDTF">2026-10-14T08:47:41Z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0x010100DB9541C8503913408DE0005F388027E8</vt:lpwstr>
  </property>
</Properties>
</file>